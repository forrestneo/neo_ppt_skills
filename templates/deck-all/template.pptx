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 id="779" r:id="rId530"/>
    <p:sldId id="780" r:id="rId531"/>
    <p:sldId id="781" r:id="rId532"/>
    <p:sldId id="782" r:id="rId533"/>
    <p:sldId id="783" r:id="rId534"/>
    <p:sldId id="784" r:id="rId535"/>
    <p:sldId id="785" r:id="rId536"/>
    <p:sldId id="786" r:id="rId537"/>
    <p:sldId id="787" r:id="rId538"/>
    <p:sldId id="788" r:id="rId539"/>
    <p:sldId id="789" r:id="rId540"/>
    <p:sldId id="790" r:id="rId541"/>
    <p:sldId id="791" r:id="rId542"/>
    <p:sldId id="792" r:id="rId543"/>
    <p:sldId id="793" r:id="rId544"/>
    <p:sldId id="794" r:id="rId545"/>
    <p:sldId id="795" r:id="rId546"/>
    <p:sldId id="796" r:id="rId547"/>
    <p:sldId id="797" r:id="rId548"/>
    <p:sldId id="798" r:id="rId549"/>
    <p:sldId id="799" r:id="rId550"/>
    <p:sldId id="800" r:id="rId551"/>
    <p:sldId id="801" r:id="rId552"/>
    <p:sldId id="802" r:id="rId553"/>
    <p:sldId id="803" r:id="rId554"/>
    <p:sldId id="804" r:id="rId555"/>
    <p:sldId id="805" r:id="rId556"/>
    <p:sldId id="806" r:id="rId557"/>
    <p:sldId id="807" r:id="rId558"/>
    <p:sldId id="808" r:id="rId559"/>
    <p:sldId id="809" r:id="rId560"/>
    <p:sldId id="810" r:id="rId561"/>
    <p:sldId id="811" r:id="rId562"/>
    <p:sldId id="812" r:id="rId563"/>
    <p:sldId id="813" r:id="rId564"/>
    <p:sldId id="814" r:id="rId565"/>
    <p:sldId id="815" r:id="rId566"/>
    <p:sldId id="816" r:id="rId567"/>
    <p:sldId id="817" r:id="rId568"/>
    <p:sldId id="818" r:id="rId569"/>
    <p:sldId id="819" r:id="rId570"/>
    <p:sldId id="820" r:id="rId571"/>
    <p:sldId id="821" r:id="rId572"/>
    <p:sldId id="822" r:id="rId573"/>
    <p:sldId id="823" r:id="rId574"/>
    <p:sldId id="824" r:id="rId575"/>
    <p:sldId id="825" r:id="rId576"/>
    <p:sldId id="826" r:id="rId577"/>
    <p:sldId id="827" r:id="rId578"/>
    <p:sldId id="828" r:id="rId579"/>
    <p:sldId id="829" r:id="rId580"/>
    <p:sldId id="830" r:id="rId581"/>
    <p:sldId id="831" r:id="rId582"/>
    <p:sldId id="832" r:id="rId58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 Id="rId531" Type="http://schemas.openxmlformats.org/officeDocument/2006/relationships/slide" Target="slides/slide525.xml"/><Relationship Id="rId532" Type="http://schemas.openxmlformats.org/officeDocument/2006/relationships/slide" Target="slides/slide526.xml"/><Relationship Id="rId533" Type="http://schemas.openxmlformats.org/officeDocument/2006/relationships/slide" Target="slides/slide527.xml"/><Relationship Id="rId534" Type="http://schemas.openxmlformats.org/officeDocument/2006/relationships/slide" Target="slides/slide528.xml"/><Relationship Id="rId535" Type="http://schemas.openxmlformats.org/officeDocument/2006/relationships/slide" Target="slides/slide529.xml"/><Relationship Id="rId536" Type="http://schemas.openxmlformats.org/officeDocument/2006/relationships/slide" Target="slides/slide530.xml"/><Relationship Id="rId537" Type="http://schemas.openxmlformats.org/officeDocument/2006/relationships/slide" Target="slides/slide531.xml"/><Relationship Id="rId538" Type="http://schemas.openxmlformats.org/officeDocument/2006/relationships/slide" Target="slides/slide532.xml"/><Relationship Id="rId539" Type="http://schemas.openxmlformats.org/officeDocument/2006/relationships/slide" Target="slides/slide533.xml"/><Relationship Id="rId540" Type="http://schemas.openxmlformats.org/officeDocument/2006/relationships/slide" Target="slides/slide534.xml"/><Relationship Id="rId541" Type="http://schemas.openxmlformats.org/officeDocument/2006/relationships/slide" Target="slides/slide535.xml"/><Relationship Id="rId542" Type="http://schemas.openxmlformats.org/officeDocument/2006/relationships/slide" Target="slides/slide536.xml"/><Relationship Id="rId543" Type="http://schemas.openxmlformats.org/officeDocument/2006/relationships/slide" Target="slides/slide537.xml"/><Relationship Id="rId544" Type="http://schemas.openxmlformats.org/officeDocument/2006/relationships/slide" Target="slides/slide538.xml"/><Relationship Id="rId545" Type="http://schemas.openxmlformats.org/officeDocument/2006/relationships/slide" Target="slides/slide539.xml"/><Relationship Id="rId546" Type="http://schemas.openxmlformats.org/officeDocument/2006/relationships/slide" Target="slides/slide540.xml"/><Relationship Id="rId547" Type="http://schemas.openxmlformats.org/officeDocument/2006/relationships/slide" Target="slides/slide541.xml"/><Relationship Id="rId548" Type="http://schemas.openxmlformats.org/officeDocument/2006/relationships/slide" Target="slides/slide542.xml"/><Relationship Id="rId549" Type="http://schemas.openxmlformats.org/officeDocument/2006/relationships/slide" Target="slides/slide543.xml"/><Relationship Id="rId550" Type="http://schemas.openxmlformats.org/officeDocument/2006/relationships/slide" Target="slides/slide544.xml"/><Relationship Id="rId551" Type="http://schemas.openxmlformats.org/officeDocument/2006/relationships/slide" Target="slides/slide545.xml"/><Relationship Id="rId552" Type="http://schemas.openxmlformats.org/officeDocument/2006/relationships/slide" Target="slides/slide546.xml"/><Relationship Id="rId553" Type="http://schemas.openxmlformats.org/officeDocument/2006/relationships/slide" Target="slides/slide547.xml"/><Relationship Id="rId554" Type="http://schemas.openxmlformats.org/officeDocument/2006/relationships/slide" Target="slides/slide548.xml"/><Relationship Id="rId555" Type="http://schemas.openxmlformats.org/officeDocument/2006/relationships/slide" Target="slides/slide549.xml"/><Relationship Id="rId556" Type="http://schemas.openxmlformats.org/officeDocument/2006/relationships/slide" Target="slides/slide550.xml"/><Relationship Id="rId557" Type="http://schemas.openxmlformats.org/officeDocument/2006/relationships/slide" Target="slides/slide551.xml"/><Relationship Id="rId558" Type="http://schemas.openxmlformats.org/officeDocument/2006/relationships/slide" Target="slides/slide552.xml"/><Relationship Id="rId559" Type="http://schemas.openxmlformats.org/officeDocument/2006/relationships/slide" Target="slides/slide553.xml"/><Relationship Id="rId560" Type="http://schemas.openxmlformats.org/officeDocument/2006/relationships/slide" Target="slides/slide554.xml"/><Relationship Id="rId561" Type="http://schemas.openxmlformats.org/officeDocument/2006/relationships/slide" Target="slides/slide555.xml"/><Relationship Id="rId562" Type="http://schemas.openxmlformats.org/officeDocument/2006/relationships/slide" Target="slides/slide556.xml"/><Relationship Id="rId563" Type="http://schemas.openxmlformats.org/officeDocument/2006/relationships/slide" Target="slides/slide557.xml"/><Relationship Id="rId564" Type="http://schemas.openxmlformats.org/officeDocument/2006/relationships/slide" Target="slides/slide558.xml"/><Relationship Id="rId565" Type="http://schemas.openxmlformats.org/officeDocument/2006/relationships/slide" Target="slides/slide559.xml"/><Relationship Id="rId566" Type="http://schemas.openxmlformats.org/officeDocument/2006/relationships/slide" Target="slides/slide560.xml"/><Relationship Id="rId567" Type="http://schemas.openxmlformats.org/officeDocument/2006/relationships/slide" Target="slides/slide561.xml"/><Relationship Id="rId568" Type="http://schemas.openxmlformats.org/officeDocument/2006/relationships/slide" Target="slides/slide562.xml"/><Relationship Id="rId569" Type="http://schemas.openxmlformats.org/officeDocument/2006/relationships/slide" Target="slides/slide563.xml"/><Relationship Id="rId570" Type="http://schemas.openxmlformats.org/officeDocument/2006/relationships/slide" Target="slides/slide564.xml"/><Relationship Id="rId571" Type="http://schemas.openxmlformats.org/officeDocument/2006/relationships/slide" Target="slides/slide565.xml"/><Relationship Id="rId572" Type="http://schemas.openxmlformats.org/officeDocument/2006/relationships/slide" Target="slides/slide566.xml"/><Relationship Id="rId573" Type="http://schemas.openxmlformats.org/officeDocument/2006/relationships/slide" Target="slides/slide567.xml"/><Relationship Id="rId574" Type="http://schemas.openxmlformats.org/officeDocument/2006/relationships/slide" Target="slides/slide568.xml"/><Relationship Id="rId575" Type="http://schemas.openxmlformats.org/officeDocument/2006/relationships/slide" Target="slides/slide569.xml"/><Relationship Id="rId576" Type="http://schemas.openxmlformats.org/officeDocument/2006/relationships/slide" Target="slides/slide570.xml"/><Relationship Id="rId577" Type="http://schemas.openxmlformats.org/officeDocument/2006/relationships/slide" Target="slides/slide571.xml"/><Relationship Id="rId578" Type="http://schemas.openxmlformats.org/officeDocument/2006/relationships/slide" Target="slides/slide572.xml"/><Relationship Id="rId579" Type="http://schemas.openxmlformats.org/officeDocument/2006/relationships/slide" Target="slides/slide573.xml"/><Relationship Id="rId580" Type="http://schemas.openxmlformats.org/officeDocument/2006/relationships/slide" Target="slides/slide574.xml"/><Relationship Id="rId581" Type="http://schemas.openxmlformats.org/officeDocument/2006/relationships/slide" Target="slides/slide575.xml"/><Relationship Id="rId582" Type="http://schemas.openxmlformats.org/officeDocument/2006/relationships/slide" Target="slides/slide576.xml"/><Relationship Id="rId583" Type="http://schemas.openxmlformats.org/officeDocument/2006/relationships/slide" Target="slides/slide57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_0356fe0b1d5f660e.png"/><Relationship Id="rId3" Type="http://schemas.openxmlformats.org/officeDocument/2006/relationships/image" Target="../media/image_22454125d506ee1a.png"/><Relationship Id="rId4" Type="http://schemas.openxmlformats.org/officeDocument/2006/relationships/image" Target="../media/image_3b8d2ad6e6a35e6b.png"/><Relationship Id="rId5" Type="http://schemas.openxmlformats.org/officeDocument/2006/relationships/image" Target="../media/image_54e0bbc307d47729.png"/><Relationship Id="rId6" Type="http://schemas.openxmlformats.org/officeDocument/2006/relationships/image" Target="../media/image_228d870238810a2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_705b7f65a72a7f78.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_240277c3c4e43888.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_a1f3a166ce4ee495.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_ed68dbbbaa329329.png"/><Relationship Id="rId3" Type="http://schemas.openxmlformats.org/officeDocument/2006/relationships/image" Target="../media/image_43d148f203586c86.png"/><Relationship Id="rId4" Type="http://schemas.openxmlformats.org/officeDocument/2006/relationships/image" Target="../media/image_0dafa6a41fde761a.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tri-br"/>
          <p:cNvSpPr/>
          <p:nvPr/>
        </p:nvSpPr>
        <p:spPr>
          <a:xfrm>
            <a:off x="10572750" y="5334000"/>
            <a:ext cx="1619250" cy="1524000"/>
          </a:xfrm>
          <a:custGeom>
            <a:avLst/>
            <a:gdLst/>
            <a:ahLst/>
            <a:cxnLst/>
            <a:rect l="l" t="t" r="r" b="b"/>
            <a:pathLst>
              <a:path w="1619250" h="1524000">
                <a:moveTo>
                  <a:pt x="0" y="1524000"/>
                </a:moveTo>
                <a:lnTo>
                  <a:pt x="904875" y="0"/>
                </a:lnTo>
                <a:lnTo>
                  <a:pt x="1619250" y="1524000"/>
                </a:lnTo>
                <a:close/>
              </a:path>
            </a:pathLst>
          </a:custGeom>
          <a:solidFill>
            <a:srgbClr val="EAF1FB"/>
          </a:solidFill>
          <a:ln>
            <a:noFill/>
          </a:ln>
        </p:spPr>
      </p:sp>
      <p:sp>
        <p:nvSpPr>
          <p:cNvPr id="3" name="deco-tri-tr"/>
          <p:cNvSpPr/>
          <p:nvPr/>
        </p:nvSpPr>
        <p:spPr>
          <a:xfrm>
            <a:off x="10668000" y="2266950"/>
            <a:ext cx="666750" cy="590550"/>
          </a:xfrm>
          <a:custGeom>
            <a:avLst/>
            <a:gdLst/>
            <a:ahLst/>
            <a:cxnLst/>
            <a:rect l="l" t="t" r="r" b="b"/>
            <a:pathLst>
              <a:path w="666750" h="590550">
                <a:moveTo>
                  <a:pt x="0" y="590550"/>
                </a:moveTo>
                <a:lnTo>
                  <a:pt x="333375" y="0"/>
                </a:lnTo>
                <a:lnTo>
                  <a:pt x="666750" y="590550"/>
                </a:lnTo>
                <a:close/>
              </a:path>
            </a:pathLst>
          </a:custGeom>
          <a:solidFill>
            <a:srgbClr val="EAF1FB"/>
          </a:solidFill>
          <a:ln>
            <a:noFill/>
          </a:ln>
        </p:spPr>
      </p:sp>
      <p:sp>
        <p:nvSpPr>
          <p:cNvPr id="4" name="Line 4"/>
          <p:cNvSpPr/>
          <p:nvPr/>
        </p:nvSpPr>
        <p:spPr>
          <a:xfrm>
            <a:off x="10953750" y="1143000"/>
            <a:ext cx="9525" cy="4953000"/>
          </a:xfrm>
          <a:custGeom>
            <a:avLst/>
            <a:gdLst/>
            <a:ahLst/>
            <a:cxnLst/>
            <a:rect l="l" t="t" r="r" b="b"/>
            <a:pathLst>
              <a:path w="9525" h="4953000">
                <a:moveTo>
                  <a:pt x="0" y="0"/>
                </a:moveTo>
                <a:lnTo>
                  <a:pt x="0" y="4953000"/>
                </a:lnTo>
              </a:path>
            </a:pathLst>
          </a:custGeom>
          <a:noFill/>
          <a:ln w="9525">
            <a:solidFill>
              <a:srgbClr val="DCE6F8"/>
            </a:solidFill>
            <a:prstDash val="dash"/>
          </a:ln>
        </p:spPr>
      </p:sp>
      <p:grpSp>
        <p:nvGrpSpPr>
          <p:cNvPr id="29" name="deco-dots-tr"/>
          <p:cNvGrpSpPr/>
          <p:nvPr/>
        </p:nvGrpSpPr>
        <p:grpSpPr>
          <a:xfrm>
            <a:off x="10041255" y="1716405"/>
            <a:ext cx="701040" cy="434340"/>
            <a:chOff x="10041255" y="1716405"/>
            <a:chExt cx="701040" cy="434340"/>
          </a:xfrm>
        </p:grpSpPr>
        <p:sp>
          <p:nvSpPr>
            <p:cNvPr id="5" name="Ellipse 5"/>
            <p:cNvSpPr/>
            <p:nvPr/>
          </p:nvSpPr>
          <p:spPr>
            <a:xfrm>
              <a:off x="10041255" y="1716405"/>
              <a:ext cx="34290" cy="34290"/>
            </a:xfrm>
            <a:prstGeom prst="ellipse">
              <a:avLst/>
            </a:prstGeom>
            <a:solidFill>
              <a:srgbClr val="ECC1B8"/>
            </a:solidFill>
            <a:ln>
              <a:noFill/>
            </a:ln>
          </p:spPr>
        </p:sp>
        <p:sp>
          <p:nvSpPr>
            <p:cNvPr id="6" name="Ellipse 6"/>
            <p:cNvSpPr/>
            <p:nvPr/>
          </p:nvSpPr>
          <p:spPr>
            <a:xfrm>
              <a:off x="10174605" y="1716405"/>
              <a:ext cx="34290" cy="34290"/>
            </a:xfrm>
            <a:prstGeom prst="ellipse">
              <a:avLst/>
            </a:prstGeom>
            <a:solidFill>
              <a:srgbClr val="ECC1B8"/>
            </a:solidFill>
            <a:ln>
              <a:noFill/>
            </a:ln>
          </p:spPr>
        </p:sp>
        <p:sp>
          <p:nvSpPr>
            <p:cNvPr id="7" name="Ellipse 7"/>
            <p:cNvSpPr/>
            <p:nvPr/>
          </p:nvSpPr>
          <p:spPr>
            <a:xfrm>
              <a:off x="10307955" y="1716405"/>
              <a:ext cx="34290" cy="34290"/>
            </a:xfrm>
            <a:prstGeom prst="ellipse">
              <a:avLst/>
            </a:prstGeom>
            <a:solidFill>
              <a:srgbClr val="ECC1B8"/>
            </a:solidFill>
            <a:ln>
              <a:noFill/>
            </a:ln>
          </p:spPr>
        </p:sp>
        <p:sp>
          <p:nvSpPr>
            <p:cNvPr id="8" name="Ellipse 8"/>
            <p:cNvSpPr/>
            <p:nvPr/>
          </p:nvSpPr>
          <p:spPr>
            <a:xfrm>
              <a:off x="10441305" y="1716405"/>
              <a:ext cx="34290" cy="34290"/>
            </a:xfrm>
            <a:prstGeom prst="ellipse">
              <a:avLst/>
            </a:prstGeom>
            <a:solidFill>
              <a:srgbClr val="ECC1B8"/>
            </a:solidFill>
            <a:ln>
              <a:noFill/>
            </a:ln>
          </p:spPr>
        </p:sp>
        <p:sp>
          <p:nvSpPr>
            <p:cNvPr id="9" name="Ellipse 9"/>
            <p:cNvSpPr/>
            <p:nvPr/>
          </p:nvSpPr>
          <p:spPr>
            <a:xfrm>
              <a:off x="10574655" y="1716405"/>
              <a:ext cx="34290" cy="34290"/>
            </a:xfrm>
            <a:prstGeom prst="ellipse">
              <a:avLst/>
            </a:prstGeom>
            <a:solidFill>
              <a:srgbClr val="ECC1B8"/>
            </a:solidFill>
            <a:ln>
              <a:noFill/>
            </a:ln>
          </p:spPr>
        </p:sp>
        <p:sp>
          <p:nvSpPr>
            <p:cNvPr id="10" name="Ellipse 10"/>
            <p:cNvSpPr/>
            <p:nvPr/>
          </p:nvSpPr>
          <p:spPr>
            <a:xfrm>
              <a:off x="10708005" y="1716405"/>
              <a:ext cx="34290" cy="34290"/>
            </a:xfrm>
            <a:prstGeom prst="ellipse">
              <a:avLst/>
            </a:prstGeom>
            <a:solidFill>
              <a:srgbClr val="ECC1B8"/>
            </a:solidFill>
            <a:ln>
              <a:noFill/>
            </a:ln>
          </p:spPr>
        </p:sp>
        <p:sp>
          <p:nvSpPr>
            <p:cNvPr id="11" name="Ellipse 11"/>
            <p:cNvSpPr/>
            <p:nvPr/>
          </p:nvSpPr>
          <p:spPr>
            <a:xfrm>
              <a:off x="10041255" y="1849755"/>
              <a:ext cx="34290" cy="34290"/>
            </a:xfrm>
            <a:prstGeom prst="ellipse">
              <a:avLst/>
            </a:prstGeom>
            <a:solidFill>
              <a:srgbClr val="ECC1B8"/>
            </a:solidFill>
            <a:ln>
              <a:noFill/>
            </a:ln>
          </p:spPr>
        </p:sp>
        <p:sp>
          <p:nvSpPr>
            <p:cNvPr id="12" name="Ellipse 12"/>
            <p:cNvSpPr/>
            <p:nvPr/>
          </p:nvSpPr>
          <p:spPr>
            <a:xfrm>
              <a:off x="10174605" y="1849755"/>
              <a:ext cx="34290" cy="34290"/>
            </a:xfrm>
            <a:prstGeom prst="ellipse">
              <a:avLst/>
            </a:prstGeom>
            <a:solidFill>
              <a:srgbClr val="ECC1B8"/>
            </a:solidFill>
            <a:ln>
              <a:noFill/>
            </a:ln>
          </p:spPr>
        </p:sp>
        <p:sp>
          <p:nvSpPr>
            <p:cNvPr id="13" name="Ellipse 13"/>
            <p:cNvSpPr/>
            <p:nvPr/>
          </p:nvSpPr>
          <p:spPr>
            <a:xfrm>
              <a:off x="10307955" y="1849755"/>
              <a:ext cx="34290" cy="34290"/>
            </a:xfrm>
            <a:prstGeom prst="ellipse">
              <a:avLst/>
            </a:prstGeom>
            <a:solidFill>
              <a:srgbClr val="ECC1B8"/>
            </a:solidFill>
            <a:ln>
              <a:noFill/>
            </a:ln>
          </p:spPr>
        </p:sp>
        <p:sp>
          <p:nvSpPr>
            <p:cNvPr id="14" name="Ellipse 14"/>
            <p:cNvSpPr/>
            <p:nvPr/>
          </p:nvSpPr>
          <p:spPr>
            <a:xfrm>
              <a:off x="10441305" y="1849755"/>
              <a:ext cx="34290" cy="34290"/>
            </a:xfrm>
            <a:prstGeom prst="ellipse">
              <a:avLst/>
            </a:prstGeom>
            <a:solidFill>
              <a:srgbClr val="ECC1B8"/>
            </a:solidFill>
            <a:ln>
              <a:noFill/>
            </a:ln>
          </p:spPr>
        </p:sp>
        <p:sp>
          <p:nvSpPr>
            <p:cNvPr id="15" name="Ellipse 15"/>
            <p:cNvSpPr/>
            <p:nvPr/>
          </p:nvSpPr>
          <p:spPr>
            <a:xfrm>
              <a:off x="10574655" y="1849755"/>
              <a:ext cx="34290" cy="34290"/>
            </a:xfrm>
            <a:prstGeom prst="ellipse">
              <a:avLst/>
            </a:prstGeom>
            <a:solidFill>
              <a:srgbClr val="ECC1B8"/>
            </a:solidFill>
            <a:ln>
              <a:noFill/>
            </a:ln>
          </p:spPr>
        </p:sp>
        <p:sp>
          <p:nvSpPr>
            <p:cNvPr id="16" name="Ellipse 16"/>
            <p:cNvSpPr/>
            <p:nvPr/>
          </p:nvSpPr>
          <p:spPr>
            <a:xfrm>
              <a:off x="10708005" y="1849755"/>
              <a:ext cx="34290" cy="34290"/>
            </a:xfrm>
            <a:prstGeom prst="ellipse">
              <a:avLst/>
            </a:prstGeom>
            <a:solidFill>
              <a:srgbClr val="ECC1B8"/>
            </a:solidFill>
            <a:ln>
              <a:noFill/>
            </a:ln>
          </p:spPr>
        </p:sp>
        <p:sp>
          <p:nvSpPr>
            <p:cNvPr id="17" name="Ellipse 17"/>
            <p:cNvSpPr/>
            <p:nvPr/>
          </p:nvSpPr>
          <p:spPr>
            <a:xfrm>
              <a:off x="10041255" y="1983105"/>
              <a:ext cx="34290" cy="34290"/>
            </a:xfrm>
            <a:prstGeom prst="ellipse">
              <a:avLst/>
            </a:prstGeom>
            <a:solidFill>
              <a:srgbClr val="ECC1B8"/>
            </a:solidFill>
            <a:ln>
              <a:noFill/>
            </a:ln>
          </p:spPr>
        </p:sp>
        <p:sp>
          <p:nvSpPr>
            <p:cNvPr id="18" name="Ellipse 18"/>
            <p:cNvSpPr/>
            <p:nvPr/>
          </p:nvSpPr>
          <p:spPr>
            <a:xfrm>
              <a:off x="10174605" y="1983105"/>
              <a:ext cx="34290" cy="34290"/>
            </a:xfrm>
            <a:prstGeom prst="ellipse">
              <a:avLst/>
            </a:prstGeom>
            <a:solidFill>
              <a:srgbClr val="ECC1B8"/>
            </a:solidFill>
            <a:ln>
              <a:noFill/>
            </a:ln>
          </p:spPr>
        </p:sp>
        <p:sp>
          <p:nvSpPr>
            <p:cNvPr id="19" name="Ellipse 19"/>
            <p:cNvSpPr/>
            <p:nvPr/>
          </p:nvSpPr>
          <p:spPr>
            <a:xfrm>
              <a:off x="10307955" y="1983105"/>
              <a:ext cx="34290" cy="34290"/>
            </a:xfrm>
            <a:prstGeom prst="ellipse">
              <a:avLst/>
            </a:prstGeom>
            <a:solidFill>
              <a:srgbClr val="ECC1B8"/>
            </a:solidFill>
            <a:ln>
              <a:noFill/>
            </a:ln>
          </p:spPr>
        </p:sp>
        <p:sp>
          <p:nvSpPr>
            <p:cNvPr id="20" name="Ellipse 20"/>
            <p:cNvSpPr/>
            <p:nvPr/>
          </p:nvSpPr>
          <p:spPr>
            <a:xfrm>
              <a:off x="10441305" y="1983105"/>
              <a:ext cx="34290" cy="34290"/>
            </a:xfrm>
            <a:prstGeom prst="ellipse">
              <a:avLst/>
            </a:prstGeom>
            <a:solidFill>
              <a:srgbClr val="ECC1B8"/>
            </a:solidFill>
            <a:ln>
              <a:noFill/>
            </a:ln>
          </p:spPr>
        </p:sp>
        <p:sp>
          <p:nvSpPr>
            <p:cNvPr id="21" name="Ellipse 21"/>
            <p:cNvSpPr/>
            <p:nvPr/>
          </p:nvSpPr>
          <p:spPr>
            <a:xfrm>
              <a:off x="10574655" y="1983105"/>
              <a:ext cx="34290" cy="34290"/>
            </a:xfrm>
            <a:prstGeom prst="ellipse">
              <a:avLst/>
            </a:prstGeom>
            <a:solidFill>
              <a:srgbClr val="ECC1B8"/>
            </a:solidFill>
            <a:ln>
              <a:noFill/>
            </a:ln>
          </p:spPr>
        </p:sp>
        <p:sp>
          <p:nvSpPr>
            <p:cNvPr id="22" name="Ellipse 22"/>
            <p:cNvSpPr/>
            <p:nvPr/>
          </p:nvSpPr>
          <p:spPr>
            <a:xfrm>
              <a:off x="10708005" y="1983105"/>
              <a:ext cx="34290" cy="34290"/>
            </a:xfrm>
            <a:prstGeom prst="ellipse">
              <a:avLst/>
            </a:prstGeom>
            <a:solidFill>
              <a:srgbClr val="ECC1B8"/>
            </a:solidFill>
            <a:ln>
              <a:noFill/>
            </a:ln>
          </p:spPr>
        </p:sp>
        <p:sp>
          <p:nvSpPr>
            <p:cNvPr id="23" name="Ellipse 23"/>
            <p:cNvSpPr/>
            <p:nvPr/>
          </p:nvSpPr>
          <p:spPr>
            <a:xfrm>
              <a:off x="10041255" y="2116455"/>
              <a:ext cx="34290" cy="34290"/>
            </a:xfrm>
            <a:prstGeom prst="ellipse">
              <a:avLst/>
            </a:prstGeom>
            <a:solidFill>
              <a:srgbClr val="ECC1B8"/>
            </a:solidFill>
            <a:ln>
              <a:noFill/>
            </a:ln>
          </p:spPr>
        </p:sp>
        <p:sp>
          <p:nvSpPr>
            <p:cNvPr id="24" name="Ellipse 24"/>
            <p:cNvSpPr/>
            <p:nvPr/>
          </p:nvSpPr>
          <p:spPr>
            <a:xfrm>
              <a:off x="10174605" y="2116455"/>
              <a:ext cx="34290" cy="34290"/>
            </a:xfrm>
            <a:prstGeom prst="ellipse">
              <a:avLst/>
            </a:prstGeom>
            <a:solidFill>
              <a:srgbClr val="ECC1B8"/>
            </a:solidFill>
            <a:ln>
              <a:noFill/>
            </a:ln>
          </p:spPr>
        </p:sp>
        <p:sp>
          <p:nvSpPr>
            <p:cNvPr id="25" name="Ellipse 25"/>
            <p:cNvSpPr/>
            <p:nvPr/>
          </p:nvSpPr>
          <p:spPr>
            <a:xfrm>
              <a:off x="10307955" y="2116455"/>
              <a:ext cx="34290" cy="34290"/>
            </a:xfrm>
            <a:prstGeom prst="ellipse">
              <a:avLst/>
            </a:prstGeom>
            <a:solidFill>
              <a:srgbClr val="ECC1B8"/>
            </a:solidFill>
            <a:ln>
              <a:noFill/>
            </a:ln>
          </p:spPr>
        </p:sp>
        <p:sp>
          <p:nvSpPr>
            <p:cNvPr id="26" name="Ellipse 26"/>
            <p:cNvSpPr/>
            <p:nvPr/>
          </p:nvSpPr>
          <p:spPr>
            <a:xfrm>
              <a:off x="10441305" y="2116455"/>
              <a:ext cx="34290" cy="34290"/>
            </a:xfrm>
            <a:prstGeom prst="ellipse">
              <a:avLst/>
            </a:prstGeom>
            <a:solidFill>
              <a:srgbClr val="ECC1B8"/>
            </a:solidFill>
            <a:ln>
              <a:noFill/>
            </a:ln>
          </p:spPr>
        </p:sp>
        <p:sp>
          <p:nvSpPr>
            <p:cNvPr id="27" name="Ellipse 27"/>
            <p:cNvSpPr/>
            <p:nvPr/>
          </p:nvSpPr>
          <p:spPr>
            <a:xfrm>
              <a:off x="10574655" y="2116455"/>
              <a:ext cx="34290" cy="34290"/>
            </a:xfrm>
            <a:prstGeom prst="ellipse">
              <a:avLst/>
            </a:prstGeom>
            <a:solidFill>
              <a:srgbClr val="ECC1B8"/>
            </a:solidFill>
            <a:ln>
              <a:noFill/>
            </a:ln>
          </p:spPr>
        </p:sp>
        <p:sp>
          <p:nvSpPr>
            <p:cNvPr id="28" name="Ellipse 28"/>
            <p:cNvSpPr/>
            <p:nvPr/>
          </p:nvSpPr>
          <p:spPr>
            <a:xfrm>
              <a:off x="10708005" y="2116455"/>
              <a:ext cx="34290" cy="34290"/>
            </a:xfrm>
            <a:prstGeom prst="ellipse">
              <a:avLst/>
            </a:prstGeom>
            <a:solidFill>
              <a:srgbClr val="ECC1B8"/>
            </a:solidFill>
            <a:ln>
              <a:noFill/>
            </a:ln>
          </p:spPr>
        </p:sp>
      </p:grpSp>
      <p:grpSp>
        <p:nvGrpSpPr>
          <p:cNvPr id="48" name="deco-dots-bl"/>
          <p:cNvGrpSpPr/>
          <p:nvPr/>
        </p:nvGrpSpPr>
        <p:grpSpPr>
          <a:xfrm>
            <a:off x="8898255" y="5945505"/>
            <a:ext cx="701040" cy="300990"/>
            <a:chOff x="8898255" y="5945505"/>
            <a:chExt cx="701040" cy="300990"/>
          </a:xfrm>
        </p:grpSpPr>
        <p:sp>
          <p:nvSpPr>
            <p:cNvPr id="30" name="Ellipse 30"/>
            <p:cNvSpPr/>
            <p:nvPr/>
          </p:nvSpPr>
          <p:spPr>
            <a:xfrm>
              <a:off x="8898255" y="5945505"/>
              <a:ext cx="34290" cy="34290"/>
            </a:xfrm>
            <a:prstGeom prst="ellipse">
              <a:avLst/>
            </a:prstGeom>
            <a:solidFill>
              <a:srgbClr val="ECC1B8"/>
            </a:solidFill>
            <a:ln>
              <a:noFill/>
            </a:ln>
          </p:spPr>
        </p:sp>
        <p:sp>
          <p:nvSpPr>
            <p:cNvPr id="31" name="Ellipse 31"/>
            <p:cNvSpPr/>
            <p:nvPr/>
          </p:nvSpPr>
          <p:spPr>
            <a:xfrm>
              <a:off x="9031605" y="5945505"/>
              <a:ext cx="34290" cy="34290"/>
            </a:xfrm>
            <a:prstGeom prst="ellipse">
              <a:avLst/>
            </a:prstGeom>
            <a:solidFill>
              <a:srgbClr val="ECC1B8"/>
            </a:solidFill>
            <a:ln>
              <a:noFill/>
            </a:ln>
          </p:spPr>
        </p:sp>
        <p:sp>
          <p:nvSpPr>
            <p:cNvPr id="32" name="Ellipse 32"/>
            <p:cNvSpPr/>
            <p:nvPr/>
          </p:nvSpPr>
          <p:spPr>
            <a:xfrm>
              <a:off x="9164955" y="5945505"/>
              <a:ext cx="34290" cy="34290"/>
            </a:xfrm>
            <a:prstGeom prst="ellipse">
              <a:avLst/>
            </a:prstGeom>
            <a:solidFill>
              <a:srgbClr val="ECC1B8"/>
            </a:solidFill>
            <a:ln>
              <a:noFill/>
            </a:ln>
          </p:spPr>
        </p:sp>
        <p:sp>
          <p:nvSpPr>
            <p:cNvPr id="33" name="Ellipse 33"/>
            <p:cNvSpPr/>
            <p:nvPr/>
          </p:nvSpPr>
          <p:spPr>
            <a:xfrm>
              <a:off x="9298305" y="5945505"/>
              <a:ext cx="34290" cy="34290"/>
            </a:xfrm>
            <a:prstGeom prst="ellipse">
              <a:avLst/>
            </a:prstGeom>
            <a:solidFill>
              <a:srgbClr val="ECC1B8"/>
            </a:solidFill>
            <a:ln>
              <a:noFill/>
            </a:ln>
          </p:spPr>
        </p:sp>
        <p:sp>
          <p:nvSpPr>
            <p:cNvPr id="34" name="Ellipse 34"/>
            <p:cNvSpPr/>
            <p:nvPr/>
          </p:nvSpPr>
          <p:spPr>
            <a:xfrm>
              <a:off x="9431655" y="5945505"/>
              <a:ext cx="34290" cy="34290"/>
            </a:xfrm>
            <a:prstGeom prst="ellipse">
              <a:avLst/>
            </a:prstGeom>
            <a:solidFill>
              <a:srgbClr val="ECC1B8"/>
            </a:solidFill>
            <a:ln>
              <a:noFill/>
            </a:ln>
          </p:spPr>
        </p:sp>
        <p:sp>
          <p:nvSpPr>
            <p:cNvPr id="35" name="Ellipse 35"/>
            <p:cNvSpPr/>
            <p:nvPr/>
          </p:nvSpPr>
          <p:spPr>
            <a:xfrm>
              <a:off x="9565005" y="5945505"/>
              <a:ext cx="34290" cy="34290"/>
            </a:xfrm>
            <a:prstGeom prst="ellipse">
              <a:avLst/>
            </a:prstGeom>
            <a:solidFill>
              <a:srgbClr val="ECC1B8"/>
            </a:solidFill>
            <a:ln>
              <a:noFill/>
            </a:ln>
          </p:spPr>
        </p:sp>
        <p:sp>
          <p:nvSpPr>
            <p:cNvPr id="36" name="Ellipse 36"/>
            <p:cNvSpPr/>
            <p:nvPr/>
          </p:nvSpPr>
          <p:spPr>
            <a:xfrm>
              <a:off x="8898255" y="6078855"/>
              <a:ext cx="34290" cy="34290"/>
            </a:xfrm>
            <a:prstGeom prst="ellipse">
              <a:avLst/>
            </a:prstGeom>
            <a:solidFill>
              <a:srgbClr val="ECC1B8"/>
            </a:solidFill>
            <a:ln>
              <a:noFill/>
            </a:ln>
          </p:spPr>
        </p:sp>
        <p:sp>
          <p:nvSpPr>
            <p:cNvPr id="37" name="Ellipse 37"/>
            <p:cNvSpPr/>
            <p:nvPr/>
          </p:nvSpPr>
          <p:spPr>
            <a:xfrm>
              <a:off x="9031605" y="6078855"/>
              <a:ext cx="34290" cy="34290"/>
            </a:xfrm>
            <a:prstGeom prst="ellipse">
              <a:avLst/>
            </a:prstGeom>
            <a:solidFill>
              <a:srgbClr val="ECC1B8"/>
            </a:solidFill>
            <a:ln>
              <a:noFill/>
            </a:ln>
          </p:spPr>
        </p:sp>
        <p:sp>
          <p:nvSpPr>
            <p:cNvPr id="38" name="Ellipse 38"/>
            <p:cNvSpPr/>
            <p:nvPr/>
          </p:nvSpPr>
          <p:spPr>
            <a:xfrm>
              <a:off x="9164955" y="6078855"/>
              <a:ext cx="34290" cy="34290"/>
            </a:xfrm>
            <a:prstGeom prst="ellipse">
              <a:avLst/>
            </a:prstGeom>
            <a:solidFill>
              <a:srgbClr val="ECC1B8"/>
            </a:solidFill>
            <a:ln>
              <a:noFill/>
            </a:ln>
          </p:spPr>
        </p:sp>
        <p:sp>
          <p:nvSpPr>
            <p:cNvPr id="39" name="Ellipse 39"/>
            <p:cNvSpPr/>
            <p:nvPr/>
          </p:nvSpPr>
          <p:spPr>
            <a:xfrm>
              <a:off x="9298305" y="6078855"/>
              <a:ext cx="34290" cy="34290"/>
            </a:xfrm>
            <a:prstGeom prst="ellipse">
              <a:avLst/>
            </a:prstGeom>
            <a:solidFill>
              <a:srgbClr val="ECC1B8"/>
            </a:solidFill>
            <a:ln>
              <a:noFill/>
            </a:ln>
          </p:spPr>
        </p:sp>
        <p:sp>
          <p:nvSpPr>
            <p:cNvPr id="40" name="Ellipse 40"/>
            <p:cNvSpPr/>
            <p:nvPr/>
          </p:nvSpPr>
          <p:spPr>
            <a:xfrm>
              <a:off x="9431655" y="6078855"/>
              <a:ext cx="34290" cy="34290"/>
            </a:xfrm>
            <a:prstGeom prst="ellipse">
              <a:avLst/>
            </a:prstGeom>
            <a:solidFill>
              <a:srgbClr val="ECC1B8"/>
            </a:solidFill>
            <a:ln>
              <a:noFill/>
            </a:ln>
          </p:spPr>
        </p:sp>
        <p:sp>
          <p:nvSpPr>
            <p:cNvPr id="41" name="Ellipse 41"/>
            <p:cNvSpPr/>
            <p:nvPr/>
          </p:nvSpPr>
          <p:spPr>
            <a:xfrm>
              <a:off x="9565005" y="6078855"/>
              <a:ext cx="34290" cy="34290"/>
            </a:xfrm>
            <a:prstGeom prst="ellipse">
              <a:avLst/>
            </a:prstGeom>
            <a:solidFill>
              <a:srgbClr val="ECC1B8"/>
            </a:solidFill>
            <a:ln>
              <a:noFill/>
            </a:ln>
          </p:spPr>
        </p:sp>
        <p:sp>
          <p:nvSpPr>
            <p:cNvPr id="42" name="Ellipse 42"/>
            <p:cNvSpPr/>
            <p:nvPr/>
          </p:nvSpPr>
          <p:spPr>
            <a:xfrm>
              <a:off x="8898255" y="6212205"/>
              <a:ext cx="34290" cy="34290"/>
            </a:xfrm>
            <a:prstGeom prst="ellipse">
              <a:avLst/>
            </a:prstGeom>
            <a:solidFill>
              <a:srgbClr val="ECC1B8"/>
            </a:solidFill>
            <a:ln>
              <a:noFill/>
            </a:ln>
          </p:spPr>
        </p:sp>
        <p:sp>
          <p:nvSpPr>
            <p:cNvPr id="43" name="Ellipse 43"/>
            <p:cNvSpPr/>
            <p:nvPr/>
          </p:nvSpPr>
          <p:spPr>
            <a:xfrm>
              <a:off x="9031605" y="6212205"/>
              <a:ext cx="34290" cy="34290"/>
            </a:xfrm>
            <a:prstGeom prst="ellipse">
              <a:avLst/>
            </a:prstGeom>
            <a:solidFill>
              <a:srgbClr val="ECC1B8"/>
            </a:solidFill>
            <a:ln>
              <a:noFill/>
            </a:ln>
          </p:spPr>
        </p:sp>
        <p:sp>
          <p:nvSpPr>
            <p:cNvPr id="44" name="Ellipse 44"/>
            <p:cNvSpPr/>
            <p:nvPr/>
          </p:nvSpPr>
          <p:spPr>
            <a:xfrm>
              <a:off x="9164955" y="6212205"/>
              <a:ext cx="34290" cy="34290"/>
            </a:xfrm>
            <a:prstGeom prst="ellipse">
              <a:avLst/>
            </a:prstGeom>
            <a:solidFill>
              <a:srgbClr val="ECC1B8"/>
            </a:solidFill>
            <a:ln>
              <a:noFill/>
            </a:ln>
          </p:spPr>
        </p:sp>
        <p:sp>
          <p:nvSpPr>
            <p:cNvPr id="45" name="Ellipse 45"/>
            <p:cNvSpPr/>
            <p:nvPr/>
          </p:nvSpPr>
          <p:spPr>
            <a:xfrm>
              <a:off x="9298305" y="6212205"/>
              <a:ext cx="34290" cy="34290"/>
            </a:xfrm>
            <a:prstGeom prst="ellipse">
              <a:avLst/>
            </a:prstGeom>
            <a:solidFill>
              <a:srgbClr val="ECC1B8"/>
            </a:solidFill>
            <a:ln>
              <a:noFill/>
            </a:ln>
          </p:spPr>
        </p:sp>
        <p:sp>
          <p:nvSpPr>
            <p:cNvPr id="46" name="Ellipse 46"/>
            <p:cNvSpPr/>
            <p:nvPr/>
          </p:nvSpPr>
          <p:spPr>
            <a:xfrm>
              <a:off x="9431655" y="6212205"/>
              <a:ext cx="34290" cy="34290"/>
            </a:xfrm>
            <a:prstGeom prst="ellipse">
              <a:avLst/>
            </a:prstGeom>
            <a:solidFill>
              <a:srgbClr val="ECC1B8"/>
            </a:solidFill>
            <a:ln>
              <a:noFill/>
            </a:ln>
          </p:spPr>
        </p:sp>
        <p:sp>
          <p:nvSpPr>
            <p:cNvPr id="47" name="Ellipse 47"/>
            <p:cNvSpPr/>
            <p:nvPr/>
          </p:nvSpPr>
          <p:spPr>
            <a:xfrm>
              <a:off x="9565005" y="6212205"/>
              <a:ext cx="34290" cy="34290"/>
            </a:xfrm>
            <a:prstGeom prst="ellipse">
              <a:avLst/>
            </a:prstGeom>
            <a:solidFill>
              <a:srgbClr val="ECC1B8"/>
            </a:solidFill>
            <a:ln>
              <a:noFill/>
            </a:ln>
          </p:spPr>
        </p:sp>
      </p:grpSp>
      <p:sp>
        <p:nvSpPr>
          <p:cNvPr id="49" name="deco-line-1"/>
          <p:cNvSpPr/>
          <p:nvPr/>
        </p:nvSpPr>
        <p:spPr>
          <a:xfrm>
            <a:off x="4762500" y="3924300"/>
            <a:ext cx="4057650" cy="647700"/>
          </a:xfrm>
          <a:custGeom>
            <a:avLst/>
            <a:gdLst/>
            <a:ahLst/>
            <a:cxnLst/>
            <a:rect l="l" t="t" r="r" b="b"/>
            <a:pathLst>
              <a:path w="4057650" h="647700">
                <a:moveTo>
                  <a:pt x="0" y="647700"/>
                </a:moveTo>
                <a:cubicBezTo>
                  <a:pt x="1905000" y="647700"/>
                  <a:pt x="2190750" y="0"/>
                  <a:pt x="4057650" y="0"/>
                </a:cubicBezTo>
              </a:path>
            </a:pathLst>
          </a:custGeom>
          <a:noFill/>
          <a:ln w="28575">
            <a:solidFill>
              <a:srgbClr val="841600"/>
            </a:solidFill>
            <a:tailEnd type="triangle" w="lg" len="lg"/>
          </a:ln>
        </p:spPr>
      </p:sp>
      <p:sp>
        <p:nvSpPr>
          <p:cNvPr id="50" name="deco-line-2"/>
          <p:cNvSpPr/>
          <p:nvPr/>
        </p:nvSpPr>
        <p:spPr>
          <a:xfrm>
            <a:off x="4238625" y="4048125"/>
            <a:ext cx="4581525" cy="1143000"/>
          </a:xfrm>
          <a:custGeom>
            <a:avLst/>
            <a:gdLst/>
            <a:ahLst/>
            <a:cxnLst/>
            <a:rect l="l" t="t" r="r" b="b"/>
            <a:pathLst>
              <a:path w="4581525" h="1143000">
                <a:moveTo>
                  <a:pt x="0" y="1143000"/>
                </a:moveTo>
                <a:cubicBezTo>
                  <a:pt x="2333625" y="1143000"/>
                  <a:pt x="2619375" y="0"/>
                  <a:pt x="4581525" y="0"/>
                </a:cubicBezTo>
              </a:path>
            </a:pathLst>
          </a:custGeom>
          <a:noFill/>
          <a:ln w="23812">
            <a:solidFill>
              <a:srgbClr val="C9482E"/>
            </a:solidFill>
            <a:tailEnd type="triangle" w="lg" len="lg"/>
          </a:ln>
        </p:spPr>
      </p:sp>
      <p:sp>
        <p:nvSpPr>
          <p:cNvPr id="51" name="deco-line-3"/>
          <p:cNvSpPr/>
          <p:nvPr/>
        </p:nvSpPr>
        <p:spPr>
          <a:xfrm>
            <a:off x="3886200" y="4171950"/>
            <a:ext cx="4933950" cy="1638300"/>
          </a:xfrm>
          <a:custGeom>
            <a:avLst/>
            <a:gdLst/>
            <a:ahLst/>
            <a:cxnLst/>
            <a:rect l="l" t="t" r="r" b="b"/>
            <a:pathLst>
              <a:path w="4933950" h="1638300">
                <a:moveTo>
                  <a:pt x="0" y="1638300"/>
                </a:moveTo>
                <a:cubicBezTo>
                  <a:pt x="2590800" y="1638300"/>
                  <a:pt x="2971800" y="0"/>
                  <a:pt x="4933950" y="0"/>
                </a:cubicBezTo>
              </a:path>
            </a:pathLst>
          </a:custGeom>
          <a:noFill/>
          <a:ln w="23812">
            <a:solidFill>
              <a:srgbClr val="E3907F"/>
            </a:solidFill>
            <a:tailEnd type="triangle" w="lg" len="lg"/>
          </a:ln>
        </p:spPr>
      </p:sp>
      <p:sp>
        <p:nvSpPr>
          <p:cNvPr id="52" name="deco-line-4"/>
          <p:cNvSpPr/>
          <p:nvPr/>
        </p:nvSpPr>
        <p:spPr>
          <a:xfrm>
            <a:off x="5334000" y="4381500"/>
            <a:ext cx="2571750" cy="1047750"/>
          </a:xfrm>
          <a:custGeom>
            <a:avLst/>
            <a:gdLst/>
            <a:ahLst/>
            <a:cxnLst/>
            <a:rect l="l" t="t" r="r" b="b"/>
            <a:pathLst>
              <a:path w="2571750" h="1047750">
                <a:moveTo>
                  <a:pt x="0" y="1047750"/>
                </a:moveTo>
                <a:cubicBezTo>
                  <a:pt x="1333500" y="1047750"/>
                  <a:pt x="1714500" y="95250"/>
                  <a:pt x="2571750" y="0"/>
                </a:cubicBezTo>
              </a:path>
            </a:pathLst>
          </a:custGeom>
          <a:noFill/>
          <a:ln w="11430">
            <a:solidFill>
              <a:srgbClr val="ECC1B8"/>
            </a:solidFill>
            <a:custDash>
              <a:ds d="416667" sp="333333"/>
            </a:custDash>
          </a:ln>
        </p:spPr>
      </p:sp>
      <p:sp>
        <p:nvSpPr>
          <p:cNvPr id="53" name="deco-line-5"/>
          <p:cNvSpPr/>
          <p:nvPr/>
        </p:nvSpPr>
        <p:spPr>
          <a:xfrm>
            <a:off x="6096000" y="2857500"/>
            <a:ext cx="2381250" cy="904875"/>
          </a:xfrm>
          <a:custGeom>
            <a:avLst/>
            <a:gdLst/>
            <a:ahLst/>
            <a:cxnLst/>
            <a:rect l="l" t="t" r="r" b="b"/>
            <a:pathLst>
              <a:path w="2381250" h="904875">
                <a:moveTo>
                  <a:pt x="0" y="0"/>
                </a:moveTo>
                <a:cubicBezTo>
                  <a:pt x="1143000" y="0"/>
                  <a:pt x="1714500" y="762000"/>
                  <a:pt x="2381250" y="904875"/>
                </a:cubicBezTo>
              </a:path>
            </a:pathLst>
          </a:custGeom>
          <a:noFill/>
          <a:ln w="11430">
            <a:solidFill>
              <a:srgbClr val="DCE6F8"/>
            </a:solidFill>
          </a:ln>
        </p:spPr>
      </p:sp>
      <p:grpSp>
        <p:nvGrpSpPr>
          <p:cNvPr id="60" name="cover-title"/>
          <p:cNvGrpSpPr/>
          <p:nvPr/>
        </p:nvGrpSpPr>
        <p:grpSpPr>
          <a:xfrm>
            <a:off x="649224" y="1580198"/>
            <a:ext cx="5287857" cy="2735008"/>
            <a:chOff x="649224" y="1580198"/>
            <a:chExt cx="5287857" cy="2735008"/>
          </a:xfrm>
        </p:grpSpPr>
        <p:sp>
          <p:nvSpPr>
            <p:cNvPr id="54" name="TextBox 54"/>
            <p:cNvSpPr txBox="1"/>
            <p:nvPr/>
          </p:nvSpPr>
          <p:spPr>
            <a:xfrm>
              <a:off x="649224" y="1580198"/>
              <a:ext cx="5287857" cy="674751"/>
            </a:xfrm>
            <a:prstGeom prst="rect">
              <a:avLst/>
            </a:prstGeom>
            <a:noFill/>
            <a:ln>
              <a:noFill/>
            </a:ln>
          </p:spPr>
          <p:txBody>
            <a:bodyPr wrap="none" lIns="0" tIns="0" rIns="0" bIns="0" anchor="t" anchorCtr="0">
              <a:spAutoFit/>
            </a:bodyPr>
            <a:lstStyle/>
            <a:p>
              <a:pPr algn="l"/>
              <a:r>
                <a:rPr lang="zh-CN" sz="3450" b="1" dirty="0">
                  <a:solidFill>
                    <a:srgbClr val="841600"/>
                  </a:solidFill>
                  <a:latin typeface="+mn-lt"/>
                  <a:ea typeface="+mn-ea"/>
                  <a:cs typeface="+mn-cs"/>
                </a:rPr>
                <a:t xml:space="preserve">银行行长2026年下半年　</a:t>
              </a:r>
            </a:p>
          </p:txBody>
        </p:sp>
        <p:sp>
          <p:nvSpPr>
            <p:cNvPr id="55" name="TextBox 55"/>
            <p:cNvSpPr txBox="1"/>
            <p:nvPr/>
          </p:nvSpPr>
          <p:spPr>
            <a:xfrm>
              <a:off x="649224" y="2218372"/>
              <a:ext cx="5143881" cy="674751"/>
            </a:xfrm>
            <a:prstGeom prst="rect">
              <a:avLst/>
            </a:prstGeom>
            <a:noFill/>
            <a:ln>
              <a:noFill/>
            </a:ln>
          </p:spPr>
          <p:txBody>
            <a:bodyPr wrap="none" lIns="0" tIns="0" rIns="0" bIns="0" anchor="t" anchorCtr="0">
              <a:spAutoFit/>
            </a:bodyPr>
            <a:lstStyle/>
            <a:p>
              <a:pPr algn="l"/>
              <a:r>
                <a:rPr lang="zh-CN" sz="3450" b="1" dirty="0">
                  <a:solidFill>
                    <a:srgbClr val="841600"/>
                  </a:solidFill>
                  <a:latin typeface="+mn-lt"/>
                  <a:ea typeface="+mn-ea"/>
                  <a:cs typeface="+mn-cs"/>
                </a:rPr>
                <a:t>各部门重点任务推进计划</a:t>
              </a:r>
            </a:p>
          </p:txBody>
        </p:sp>
        <p:sp>
          <p:nvSpPr>
            <p:cNvPr id="56" name="TextBox 56"/>
            <p:cNvSpPr txBox="1"/>
            <p:nvPr/>
          </p:nvSpPr>
          <p:spPr>
            <a:xfrm>
              <a:off x="677037" y="2937986"/>
              <a:ext cx="4609091" cy="337376"/>
            </a:xfrm>
            <a:prstGeom prst="rect">
              <a:avLst/>
            </a:prstGeom>
            <a:noFill/>
            <a:ln>
              <a:noFill/>
            </a:ln>
          </p:spPr>
          <p:txBody>
            <a:bodyPr wrap="none" lIns="0" tIns="0" rIns="0" bIns="0" anchor="t" anchorCtr="0">
              <a:spAutoFit/>
            </a:bodyPr>
            <a:lstStyle/>
            <a:p>
              <a:pPr algn="l"/>
              <a:r>
                <a:rPr lang="zh-CN" sz="1720" b="1" dirty="0">
                  <a:solidFill>
                    <a:srgbClr val="C9482E"/>
                  </a:solidFill>
                  <a:latin typeface="+mn-lt"/>
                  <a:ea typeface="+mn-ea"/>
                  <a:cs typeface="+mn-cs"/>
                </a:rPr>
                <a:t>稳增长 · 调结构 · 控风险 · 提质效 · 强执行</a:t>
              </a:r>
            </a:p>
          </p:txBody>
        </p:sp>
        <p:sp>
          <p:nvSpPr>
            <p:cNvPr id="57" name="Rectangle 57"/>
            <p:cNvSpPr/>
            <p:nvPr/>
          </p:nvSpPr>
          <p:spPr>
            <a:xfrm>
              <a:off x="685800" y="3371850"/>
              <a:ext cx="914400" cy="28575"/>
            </a:xfrm>
            <a:prstGeom prst="rect">
              <a:avLst/>
            </a:prstGeom>
            <a:solidFill>
              <a:srgbClr val="841600"/>
            </a:solidFill>
            <a:ln>
              <a:noFill/>
            </a:ln>
          </p:spPr>
        </p:sp>
        <p:sp>
          <p:nvSpPr>
            <p:cNvPr id="58" name="TextBox 58"/>
            <p:cNvSpPr txBox="1"/>
            <p:nvPr/>
          </p:nvSpPr>
          <p:spPr>
            <a:xfrm>
              <a:off x="679704" y="3756660"/>
              <a:ext cx="1175309" cy="234696"/>
            </a:xfrm>
            <a:prstGeom prst="rect">
              <a:avLst/>
            </a:prstGeom>
            <a:noFill/>
            <a:ln>
              <a:noFill/>
            </a:ln>
          </p:spPr>
          <p:txBody>
            <a:bodyPr wrap="none" lIns="0" tIns="0" rIns="0" bIns="0" anchor="t" anchorCtr="0">
              <a:spAutoFit/>
            </a:bodyPr>
            <a:lstStyle/>
            <a:p>
              <a:pPr algn="l"/>
              <a:r>
                <a:rPr lang="zh-CN" sz="1200" dirty="0">
                  <a:solidFill>
                    <a:srgbClr val="473633"/>
                  </a:solidFill>
                  <a:latin typeface="+mn-lt"/>
                  <a:ea typeface="+mn-ea"/>
                  <a:cs typeface="+mn-cs"/>
                </a:rPr>
                <a:t xml:space="preserve">2026年下半年　</a:t>
              </a:r>
            </a:p>
          </p:txBody>
        </p:sp>
        <p:sp>
          <p:nvSpPr>
            <p:cNvPr id="59" name="TextBox 59"/>
            <p:cNvSpPr txBox="1"/>
            <p:nvPr/>
          </p:nvSpPr>
          <p:spPr>
            <a:xfrm>
              <a:off x="679704" y="4080510"/>
              <a:ext cx="1466088" cy="234696"/>
            </a:xfrm>
            <a:prstGeom prst="rect">
              <a:avLst/>
            </a:prstGeom>
            <a:noFill/>
            <a:ln>
              <a:noFill/>
            </a:ln>
          </p:spPr>
          <p:txBody>
            <a:bodyPr wrap="none" lIns="0" tIns="0" rIns="0" bIns="0" anchor="t" anchorCtr="0">
              <a:spAutoFit/>
            </a:bodyPr>
            <a:lstStyle/>
            <a:p>
              <a:pPr algn="l"/>
              <a:r>
                <a:rPr lang="zh-CN" sz="1200" dirty="0">
                  <a:solidFill>
                    <a:srgbClr val="473633"/>
                  </a:solidFill>
                  <a:latin typeface="+mn-lt"/>
                  <a:ea typeface="+mn-ea"/>
                  <a:cs typeface="+mn-cs"/>
                </a:rPr>
                <a:t>汇报人：行长办公室</a:t>
              </a:r>
            </a:p>
          </p:txBody>
        </p:sp>
      </p:grpSp>
      <p:grpSp>
        <p:nvGrpSpPr>
          <p:cNvPr id="78" name="cover-source-icons"/>
          <p:cNvGrpSpPr/>
          <p:nvPr/>
        </p:nvGrpSpPr>
        <p:grpSpPr>
          <a:xfrm>
            <a:off x="3429000" y="4343400"/>
            <a:ext cx="1333500" cy="1695450"/>
            <a:chOff x="3429000" y="4343400"/>
            <a:chExt cx="1333500" cy="1695450"/>
          </a:xfrm>
        </p:grpSpPr>
        <p:sp>
          <p:nvSpPr>
            <p:cNvPr id="61" name="Ellipse 61"/>
            <p:cNvSpPr/>
            <p:nvPr/>
          </p:nvSpPr>
          <p:spPr>
            <a:xfrm>
              <a:off x="4305300" y="4343400"/>
              <a:ext cx="457200" cy="457200"/>
            </a:xfrm>
            <a:prstGeom prst="ellipse">
              <a:avLst/>
            </a:prstGeom>
            <a:solidFill>
              <a:srgbClr val="841600"/>
            </a:solidFill>
            <a:ln>
              <a:noFill/>
            </a:ln>
          </p:spPr>
        </p:sp>
        <p:grpSp>
          <p:nvGrpSpPr>
            <p:cNvPr id="65" name="Group 65"/>
            <p:cNvGrpSpPr/>
            <p:nvPr/>
          </p:nvGrpSpPr>
          <p:grpSpPr>
            <a:xfrm>
              <a:off x="4451350" y="4479131"/>
              <a:ext cx="165099" cy="185737"/>
              <a:chOff x="4451350" y="4479131"/>
              <a:chExt cx="165099" cy="185737"/>
            </a:xfrm>
          </p:grpSpPr>
          <p:sp>
            <p:nvSpPr>
              <p:cNvPr id="62" name="Freeform 62"/>
              <p:cNvSpPr/>
              <p:nvPr/>
            </p:nvSpPr>
            <p:spPr>
              <a:xfrm>
                <a:off x="4451350" y="4479131"/>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FFFFFF"/>
                </a:solidFill>
              </a:ln>
            </p:spPr>
          </p:sp>
          <p:sp>
            <p:nvSpPr>
              <p:cNvPr id="63" name="Freeform 63"/>
              <p:cNvSpPr/>
              <p:nvPr/>
            </p:nvSpPr>
            <p:spPr>
              <a:xfrm>
                <a:off x="4451350" y="4510087"/>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sp>
            <p:nvSpPr>
              <p:cNvPr id="64" name="Freeform 64"/>
              <p:cNvSpPr/>
              <p:nvPr/>
            </p:nvSpPr>
            <p:spPr>
              <a:xfrm>
                <a:off x="4451350" y="4572000"/>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grpSp>
        <p:sp>
          <p:nvSpPr>
            <p:cNvPr id="66" name="Ellipse 66"/>
            <p:cNvSpPr/>
            <p:nvPr/>
          </p:nvSpPr>
          <p:spPr>
            <a:xfrm>
              <a:off x="3781425" y="4962525"/>
              <a:ext cx="457200" cy="457200"/>
            </a:xfrm>
            <a:prstGeom prst="ellipse">
              <a:avLst/>
            </a:prstGeom>
            <a:solidFill>
              <a:srgbClr val="C9482E"/>
            </a:solidFill>
            <a:ln>
              <a:noFill/>
            </a:ln>
          </p:spPr>
        </p:sp>
        <p:grpSp>
          <p:nvGrpSpPr>
            <p:cNvPr id="71" name="Group 71"/>
            <p:cNvGrpSpPr/>
            <p:nvPr/>
          </p:nvGrpSpPr>
          <p:grpSpPr>
            <a:xfrm>
              <a:off x="3917156" y="5098256"/>
              <a:ext cx="185737" cy="185738"/>
              <a:chOff x="3917156" y="5098256"/>
              <a:chExt cx="185737" cy="185738"/>
            </a:xfrm>
          </p:grpSpPr>
          <p:sp>
            <p:nvSpPr>
              <p:cNvPr id="67" name="Freeform 67"/>
              <p:cNvSpPr/>
              <p:nvPr/>
            </p:nvSpPr>
            <p:spPr>
              <a:xfrm>
                <a:off x="3937794" y="50982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68" name="Freeform 68"/>
              <p:cNvSpPr/>
              <p:nvPr/>
            </p:nvSpPr>
            <p:spPr>
              <a:xfrm>
                <a:off x="3917156" y="52220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69" name="Freeform 69"/>
              <p:cNvSpPr/>
              <p:nvPr/>
            </p:nvSpPr>
            <p:spPr>
              <a:xfrm>
                <a:off x="4051299" y="50995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70" name="Freeform 70"/>
              <p:cNvSpPr/>
              <p:nvPr/>
            </p:nvSpPr>
            <p:spPr>
              <a:xfrm>
                <a:off x="4071937" y="52236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72" name="Ellipse 72"/>
            <p:cNvSpPr/>
            <p:nvPr/>
          </p:nvSpPr>
          <p:spPr>
            <a:xfrm>
              <a:off x="3429000" y="5581650"/>
              <a:ext cx="457200" cy="457200"/>
            </a:xfrm>
            <a:prstGeom prst="ellipse">
              <a:avLst/>
            </a:prstGeom>
            <a:solidFill>
              <a:srgbClr val="E3907F"/>
            </a:solidFill>
            <a:ln>
              <a:noFill/>
            </a:ln>
          </p:spPr>
        </p:sp>
        <p:grpSp>
          <p:nvGrpSpPr>
            <p:cNvPr id="77" name="Group 77"/>
            <p:cNvGrpSpPr/>
            <p:nvPr/>
          </p:nvGrpSpPr>
          <p:grpSpPr>
            <a:xfrm>
              <a:off x="3564731" y="5727700"/>
              <a:ext cx="185737" cy="174624"/>
              <a:chOff x="3564731" y="5727700"/>
              <a:chExt cx="185737" cy="174624"/>
            </a:xfrm>
          </p:grpSpPr>
          <p:sp>
            <p:nvSpPr>
              <p:cNvPr id="73" name="Freeform 73"/>
              <p:cNvSpPr/>
              <p:nvPr/>
            </p:nvSpPr>
            <p:spPr>
              <a:xfrm>
                <a:off x="3564731" y="581025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FFFFFF"/>
                </a:solidFill>
              </a:ln>
            </p:spPr>
          </p:sp>
          <p:sp>
            <p:nvSpPr>
              <p:cNvPr id="74" name="Freeform 74"/>
              <p:cNvSpPr/>
              <p:nvPr/>
            </p:nvSpPr>
            <p:spPr>
              <a:xfrm>
                <a:off x="3688556" y="576897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FFFFFF"/>
                </a:solidFill>
              </a:ln>
            </p:spPr>
          </p:sp>
          <p:sp>
            <p:nvSpPr>
              <p:cNvPr id="75" name="Freeform 75"/>
              <p:cNvSpPr/>
              <p:nvPr/>
            </p:nvSpPr>
            <p:spPr>
              <a:xfrm>
                <a:off x="3626643" y="572770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FFFFFF"/>
                </a:solidFill>
              </a:ln>
            </p:spPr>
          </p:sp>
          <p:sp>
            <p:nvSpPr>
              <p:cNvPr id="76" name="Freeform 76"/>
              <p:cNvSpPr/>
              <p:nvPr/>
            </p:nvSpPr>
            <p:spPr>
              <a:xfrm>
                <a:off x="3575050" y="5892799"/>
                <a:ext cx="144462" cy="9525"/>
              </a:xfrm>
              <a:custGeom>
                <a:avLst/>
                <a:gdLst/>
                <a:ahLst/>
                <a:cxnLst/>
                <a:rect l="l" t="t" r="r" b="b"/>
                <a:pathLst>
                  <a:path w="144462" h="9525">
                    <a:moveTo>
                      <a:pt x="0" y="0"/>
                    </a:moveTo>
                    <a:lnTo>
                      <a:pt x="144462" y="0"/>
                    </a:lnTo>
                  </a:path>
                </a:pathLst>
              </a:custGeom>
              <a:noFill/>
              <a:ln w="20637">
                <a:solidFill>
                  <a:srgbClr val="FFFFFF"/>
                </a:solidFill>
              </a:ln>
            </p:spPr>
          </p:sp>
        </p:grpSp>
      </p:grpSp>
      <p:grpSp>
        <p:nvGrpSpPr>
          <p:cNvPr id="93" name="cover-compass"/>
          <p:cNvGrpSpPr/>
          <p:nvPr/>
        </p:nvGrpSpPr>
        <p:grpSpPr>
          <a:xfrm>
            <a:off x="7810500" y="2476500"/>
            <a:ext cx="3143250" cy="3143250"/>
            <a:chOff x="7810500" y="2476500"/>
            <a:chExt cx="3143250" cy="3143250"/>
          </a:xfrm>
        </p:grpSpPr>
        <p:sp>
          <p:nvSpPr>
            <p:cNvPr id="79" name="Ellipse 79"/>
            <p:cNvSpPr/>
            <p:nvPr/>
          </p:nvSpPr>
          <p:spPr>
            <a:xfrm>
              <a:off x="7810500" y="2476500"/>
              <a:ext cx="3143250" cy="3143250"/>
            </a:xfrm>
            <a:prstGeom prst="ellipse">
              <a:avLst/>
            </a:prstGeom>
            <a:noFill/>
            <a:ln w="9525">
              <a:solidFill>
                <a:srgbClr val="DCE6F8"/>
              </a:solidFill>
            </a:ln>
          </p:spPr>
        </p:sp>
        <p:sp>
          <p:nvSpPr>
            <p:cNvPr id="80" name="Ellipse 80"/>
            <p:cNvSpPr/>
            <p:nvPr/>
          </p:nvSpPr>
          <p:spPr>
            <a:xfrm>
              <a:off x="8143875" y="2809875"/>
              <a:ext cx="2476500" cy="2476500"/>
            </a:xfrm>
            <a:prstGeom prst="ellipse">
              <a:avLst/>
            </a:prstGeom>
            <a:noFill/>
            <a:ln w="9525">
              <a:solidFill>
                <a:srgbClr val="ECC1B8"/>
              </a:solidFill>
              <a:custDash>
                <a:ds d="600000" sp="500000"/>
              </a:custDash>
            </a:ln>
          </p:spPr>
        </p:sp>
        <p:sp>
          <p:nvSpPr>
            <p:cNvPr id="81" name="Ellipse 81"/>
            <p:cNvSpPr/>
            <p:nvPr/>
          </p:nvSpPr>
          <p:spPr>
            <a:xfrm>
              <a:off x="8477250" y="3143250"/>
              <a:ext cx="1809750" cy="1809750"/>
            </a:xfrm>
            <a:prstGeom prst="ellipse">
              <a:avLst/>
            </a:prstGeom>
            <a:noFill/>
            <a:ln w="11430">
              <a:solidFill>
                <a:srgbClr val="ECC1B8"/>
              </a:solidFill>
            </a:ln>
          </p:spPr>
        </p:sp>
        <p:sp>
          <p:nvSpPr>
            <p:cNvPr id="82" name="Ellipse 82"/>
            <p:cNvSpPr/>
            <p:nvPr/>
          </p:nvSpPr>
          <p:spPr>
            <a:xfrm>
              <a:off x="8810625" y="3476625"/>
              <a:ext cx="1143000" cy="1143000"/>
            </a:xfrm>
            <a:prstGeom prst="ellipse">
              <a:avLst/>
            </a:prstGeom>
            <a:noFill/>
            <a:ln w="14288">
              <a:solidFill>
                <a:srgbClr val="E3907F"/>
              </a:solidFill>
            </a:ln>
          </p:spPr>
        </p:sp>
        <p:sp>
          <p:nvSpPr>
            <p:cNvPr id="83" name="Line 83"/>
            <p:cNvSpPr/>
            <p:nvPr/>
          </p:nvSpPr>
          <p:spPr>
            <a:xfrm>
              <a:off x="9382125" y="2495550"/>
              <a:ext cx="9525" cy="3105150"/>
            </a:xfrm>
            <a:custGeom>
              <a:avLst/>
              <a:gdLst/>
              <a:ahLst/>
              <a:cxnLst/>
              <a:rect l="l" t="t" r="r" b="b"/>
              <a:pathLst>
                <a:path w="9525" h="3105150">
                  <a:moveTo>
                    <a:pt x="0" y="0"/>
                  </a:moveTo>
                  <a:lnTo>
                    <a:pt x="0" y="3105150"/>
                  </a:lnTo>
                </a:path>
              </a:pathLst>
            </a:custGeom>
            <a:noFill/>
            <a:ln w="9525">
              <a:solidFill>
                <a:srgbClr val="DCE6F8"/>
              </a:solidFill>
              <a:custDash>
                <a:ds d="300000" sp="400000"/>
              </a:custDash>
            </a:ln>
          </p:spPr>
        </p:sp>
        <p:sp>
          <p:nvSpPr>
            <p:cNvPr id="84" name="Line 84"/>
            <p:cNvSpPr/>
            <p:nvPr/>
          </p:nvSpPr>
          <p:spPr>
            <a:xfrm>
              <a:off x="7829550" y="4048125"/>
              <a:ext cx="3105150" cy="9525"/>
            </a:xfrm>
            <a:custGeom>
              <a:avLst/>
              <a:gdLst/>
              <a:ahLst/>
              <a:cxnLst/>
              <a:rect l="l" t="t" r="r" b="b"/>
              <a:pathLst>
                <a:path w="3105150" h="9525">
                  <a:moveTo>
                    <a:pt x="0" y="0"/>
                  </a:moveTo>
                  <a:lnTo>
                    <a:pt x="3105150" y="0"/>
                  </a:lnTo>
                </a:path>
              </a:pathLst>
            </a:custGeom>
            <a:noFill/>
            <a:ln w="9525">
              <a:solidFill>
                <a:srgbClr val="DCE6F8"/>
              </a:solidFill>
              <a:custDash>
                <a:ds d="300000" sp="400000"/>
              </a:custDash>
            </a:ln>
          </p:spPr>
        </p:sp>
        <p:sp>
          <p:nvSpPr>
            <p:cNvPr id="85" name="Ellipse 85"/>
            <p:cNvSpPr/>
            <p:nvPr/>
          </p:nvSpPr>
          <p:spPr>
            <a:xfrm>
              <a:off x="9039225" y="3705225"/>
              <a:ext cx="685800" cy="685800"/>
            </a:xfrm>
            <a:prstGeom prst="ellipse">
              <a:avLst/>
            </a:prstGeom>
            <a:solidFill>
              <a:srgbClr val="FFFFFF"/>
            </a:solidFill>
            <a:ln w="23812">
              <a:solidFill>
                <a:srgbClr val="841600"/>
              </a:solidFill>
            </a:ln>
          </p:spPr>
        </p:sp>
        <p:sp>
          <p:nvSpPr>
            <p:cNvPr id="86" name="Polygon 86"/>
            <p:cNvSpPr/>
            <p:nvPr/>
          </p:nvSpPr>
          <p:spPr>
            <a:xfrm>
              <a:off x="9382125" y="3638550"/>
              <a:ext cx="352425" cy="438150"/>
            </a:xfrm>
            <a:custGeom>
              <a:avLst/>
              <a:gdLst/>
              <a:ahLst/>
              <a:cxnLst/>
              <a:rect l="l" t="t" r="r" b="b"/>
              <a:pathLst>
                <a:path w="352425" h="438150">
                  <a:moveTo>
                    <a:pt x="0" y="409575"/>
                  </a:moveTo>
                  <a:lnTo>
                    <a:pt x="352425" y="0"/>
                  </a:lnTo>
                  <a:lnTo>
                    <a:pt x="142875" y="438150"/>
                  </a:lnTo>
                  <a:close/>
                </a:path>
              </a:pathLst>
            </a:custGeom>
            <a:solidFill>
              <a:srgbClr val="841600"/>
            </a:solidFill>
            <a:ln>
              <a:noFill/>
            </a:ln>
          </p:spPr>
        </p:sp>
        <p:sp>
          <p:nvSpPr>
            <p:cNvPr id="87" name="Polygon 87"/>
            <p:cNvSpPr/>
            <p:nvPr/>
          </p:nvSpPr>
          <p:spPr>
            <a:xfrm>
              <a:off x="9258300" y="4048125"/>
              <a:ext cx="266700" cy="257175"/>
            </a:xfrm>
            <a:custGeom>
              <a:avLst/>
              <a:gdLst/>
              <a:ahLst/>
              <a:cxnLst/>
              <a:rect l="l" t="t" r="r" b="b"/>
              <a:pathLst>
                <a:path w="266700" h="257175">
                  <a:moveTo>
                    <a:pt x="123825" y="0"/>
                  </a:moveTo>
                  <a:lnTo>
                    <a:pt x="266700" y="28575"/>
                  </a:lnTo>
                  <a:lnTo>
                    <a:pt x="0" y="257175"/>
                  </a:lnTo>
                  <a:close/>
                </a:path>
              </a:pathLst>
            </a:custGeom>
            <a:solidFill>
              <a:srgbClr val="C9482E"/>
            </a:solidFill>
            <a:ln>
              <a:noFill/>
            </a:ln>
          </p:spPr>
        </p:sp>
        <p:sp>
          <p:nvSpPr>
            <p:cNvPr id="88" name="Ellipse 88"/>
            <p:cNvSpPr/>
            <p:nvPr/>
          </p:nvSpPr>
          <p:spPr>
            <a:xfrm>
              <a:off x="9315450" y="3981450"/>
              <a:ext cx="133350" cy="133350"/>
            </a:xfrm>
            <a:prstGeom prst="ellipse">
              <a:avLst/>
            </a:prstGeom>
            <a:solidFill>
              <a:srgbClr val="841600"/>
            </a:solidFill>
            <a:ln>
              <a:noFill/>
            </a:ln>
          </p:spPr>
        </p:sp>
        <p:sp>
          <p:nvSpPr>
            <p:cNvPr id="89" name="Line 89"/>
            <p:cNvSpPr/>
            <p:nvPr/>
          </p:nvSpPr>
          <p:spPr>
            <a:xfrm>
              <a:off x="9382125" y="2495550"/>
              <a:ext cx="9525" cy="133350"/>
            </a:xfrm>
            <a:custGeom>
              <a:avLst/>
              <a:gdLst/>
              <a:ahLst/>
              <a:cxnLst/>
              <a:rect l="l" t="t" r="r" b="b"/>
              <a:pathLst>
                <a:path w="9525" h="133350">
                  <a:moveTo>
                    <a:pt x="0" y="0"/>
                  </a:moveTo>
                  <a:lnTo>
                    <a:pt x="0" y="133350"/>
                  </a:lnTo>
                </a:path>
              </a:pathLst>
            </a:custGeom>
            <a:noFill/>
            <a:ln w="19050">
              <a:solidFill>
                <a:srgbClr val="841600"/>
              </a:solidFill>
            </a:ln>
          </p:spPr>
        </p:sp>
        <p:sp>
          <p:nvSpPr>
            <p:cNvPr id="90" name="Line 90"/>
            <p:cNvSpPr/>
            <p:nvPr/>
          </p:nvSpPr>
          <p:spPr>
            <a:xfrm>
              <a:off x="9382125" y="5467350"/>
              <a:ext cx="9525" cy="133350"/>
            </a:xfrm>
            <a:custGeom>
              <a:avLst/>
              <a:gdLst/>
              <a:ahLst/>
              <a:cxnLst/>
              <a:rect l="l" t="t" r="r" b="b"/>
              <a:pathLst>
                <a:path w="9525" h="133350">
                  <a:moveTo>
                    <a:pt x="0" y="0"/>
                  </a:moveTo>
                  <a:lnTo>
                    <a:pt x="0" y="133350"/>
                  </a:lnTo>
                </a:path>
              </a:pathLst>
            </a:custGeom>
            <a:noFill/>
            <a:ln w="19050">
              <a:solidFill>
                <a:srgbClr val="841600"/>
              </a:solidFill>
            </a:ln>
          </p:spPr>
        </p:sp>
        <p:sp>
          <p:nvSpPr>
            <p:cNvPr id="91" name="Line 91"/>
            <p:cNvSpPr/>
            <p:nvPr/>
          </p:nvSpPr>
          <p:spPr>
            <a:xfrm>
              <a:off x="7829550" y="4048125"/>
              <a:ext cx="133350" cy="9525"/>
            </a:xfrm>
            <a:custGeom>
              <a:avLst/>
              <a:gdLst/>
              <a:ahLst/>
              <a:cxnLst/>
              <a:rect l="l" t="t" r="r" b="b"/>
              <a:pathLst>
                <a:path w="133350" h="9525">
                  <a:moveTo>
                    <a:pt x="0" y="0"/>
                  </a:moveTo>
                  <a:lnTo>
                    <a:pt x="133350" y="0"/>
                  </a:lnTo>
                </a:path>
              </a:pathLst>
            </a:custGeom>
            <a:noFill/>
            <a:ln w="19050">
              <a:solidFill>
                <a:srgbClr val="841600"/>
              </a:solidFill>
            </a:ln>
          </p:spPr>
        </p:sp>
        <p:sp>
          <p:nvSpPr>
            <p:cNvPr id="92" name="Line 92"/>
            <p:cNvSpPr/>
            <p:nvPr/>
          </p:nvSpPr>
          <p:spPr>
            <a:xfrm>
              <a:off x="10801350" y="4048125"/>
              <a:ext cx="133350" cy="9525"/>
            </a:xfrm>
            <a:custGeom>
              <a:avLst/>
              <a:gdLst/>
              <a:ahLst/>
              <a:cxnLst/>
              <a:rect l="l" t="t" r="r" b="b"/>
              <a:pathLst>
                <a:path w="133350" h="9525">
                  <a:moveTo>
                    <a:pt x="0" y="0"/>
                  </a:moveTo>
                  <a:lnTo>
                    <a:pt x="133350" y="0"/>
                  </a:lnTo>
                </a:path>
              </a:pathLst>
            </a:custGeom>
            <a:noFill/>
            <a:ln w="19050">
              <a:solidFill>
                <a:srgbClr val="841600"/>
              </a:solidFill>
            </a:ln>
          </p:spPr>
        </p:sp>
      </p:gr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01</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形势判断</a:t>
              </a:r>
              <a:r>
                <a:rPr lang="zh-CN" sz="1950" b="1" dirty="0">
                  <a:solidFill>
                    <a:srgbClr val="1A1A1A"/>
                  </a:solidFill>
                  <a:latin typeface="SimSun"/>
                  <a:ea typeface="SimSun"/>
                  <a:cs typeface="SimSun"/>
                </a:rPr>
                <a:t>｜下半年经营工作的核心是稳住基本盘、打开增长空间</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76" name="quad-map"/>
          <p:cNvGrpSpPr/>
          <p:nvPr/>
        </p:nvGrpSpPr>
        <p:grpSpPr>
          <a:xfrm>
            <a:off x="266700" y="704850"/>
            <a:ext cx="8782050" cy="4019550"/>
            <a:chOff x="266700" y="704850"/>
            <a:chExt cx="8782050" cy="4019550"/>
          </a:xfrm>
        </p:grpSpPr>
        <p:sp>
          <p:nvSpPr>
            <p:cNvPr id="7" name="Rectangle 7"/>
            <p:cNvSpPr/>
            <p:nvPr/>
          </p:nvSpPr>
          <p:spPr>
            <a:xfrm>
              <a:off x="266700" y="704850"/>
              <a:ext cx="4267200" cy="1962150"/>
            </a:xfrm>
            <a:prstGeom prst="roundRect">
              <a:avLst>
                <a:gd name="adj" fmla="val 4854"/>
              </a:avLst>
            </a:prstGeom>
            <a:solidFill>
              <a:srgbClr val="EFF5FD"/>
            </a:solidFill>
            <a:ln w="9525">
              <a:solidFill>
                <a:srgbClr val="D7E2F2"/>
              </a:solidFill>
            </a:ln>
          </p:spPr>
        </p:sp>
        <p:sp>
          <p:nvSpPr>
            <p:cNvPr id="8" name="Rectangle 8"/>
            <p:cNvSpPr/>
            <p:nvPr/>
          </p:nvSpPr>
          <p:spPr>
            <a:xfrm>
              <a:off x="4781550" y="704850"/>
              <a:ext cx="4267200" cy="1962150"/>
            </a:xfrm>
            <a:prstGeom prst="roundRect">
              <a:avLst>
                <a:gd name="adj" fmla="val 4854"/>
              </a:avLst>
            </a:prstGeom>
            <a:solidFill>
              <a:srgbClr val="EFF5FD"/>
            </a:solidFill>
            <a:ln w="9525">
              <a:solidFill>
                <a:srgbClr val="D7E2F2"/>
              </a:solidFill>
            </a:ln>
          </p:spPr>
        </p:sp>
        <p:sp>
          <p:nvSpPr>
            <p:cNvPr id="9" name="Rectangle 9"/>
            <p:cNvSpPr/>
            <p:nvPr/>
          </p:nvSpPr>
          <p:spPr>
            <a:xfrm>
              <a:off x="266700" y="2762250"/>
              <a:ext cx="4267200" cy="1962150"/>
            </a:xfrm>
            <a:prstGeom prst="roundRect">
              <a:avLst>
                <a:gd name="adj" fmla="val 4854"/>
              </a:avLst>
            </a:prstGeom>
            <a:solidFill>
              <a:srgbClr val="EFF5FD"/>
            </a:solidFill>
            <a:ln w="9525">
              <a:solidFill>
                <a:srgbClr val="D7E2F2"/>
              </a:solidFill>
            </a:ln>
          </p:spPr>
        </p:sp>
        <p:sp>
          <p:nvSpPr>
            <p:cNvPr id="10" name="Rectangle 10"/>
            <p:cNvSpPr/>
            <p:nvPr/>
          </p:nvSpPr>
          <p:spPr>
            <a:xfrm>
              <a:off x="4781550" y="2762250"/>
              <a:ext cx="4267200" cy="1962150"/>
            </a:xfrm>
            <a:prstGeom prst="roundRect">
              <a:avLst>
                <a:gd name="adj" fmla="val 4854"/>
              </a:avLst>
            </a:prstGeom>
            <a:solidFill>
              <a:srgbClr val="EFF5FD"/>
            </a:solidFill>
            <a:ln w="9525">
              <a:solidFill>
                <a:srgbClr val="D7E2F2"/>
              </a:solidFill>
            </a:ln>
          </p:spPr>
        </p:sp>
        <p:grpSp>
          <p:nvGrpSpPr>
            <p:cNvPr id="24" name="quad-macro"/>
            <p:cNvGrpSpPr/>
            <p:nvPr/>
          </p:nvGrpSpPr>
          <p:grpSpPr>
            <a:xfrm>
              <a:off x="533400" y="1016318"/>
              <a:ext cx="2406713" cy="939308"/>
              <a:chOff x="533400" y="1016318"/>
              <a:chExt cx="2406713" cy="939308"/>
            </a:xfrm>
          </p:grpSpPr>
          <p:sp>
            <p:nvSpPr>
              <p:cNvPr id="11" name="Ellipse 11"/>
              <p:cNvSpPr/>
              <p:nvPr/>
            </p:nvSpPr>
            <p:spPr>
              <a:xfrm>
                <a:off x="533400" y="1047750"/>
                <a:ext cx="762000" cy="762000"/>
              </a:xfrm>
              <a:prstGeom prst="ellipse">
                <a:avLst/>
              </a:prstGeom>
              <a:solidFill>
                <a:srgbClr val="FFFFFF"/>
              </a:solidFill>
              <a:ln w="19050">
                <a:solidFill>
                  <a:srgbClr val="ECC1B8"/>
                </a:solidFill>
              </a:ln>
            </p:spPr>
          </p:sp>
          <p:grpSp>
            <p:nvGrpSpPr>
              <p:cNvPr id="16" name="Group 16"/>
              <p:cNvGrpSpPr/>
              <p:nvPr/>
            </p:nvGrpSpPr>
            <p:grpSpPr>
              <a:xfrm>
                <a:off x="771525" y="1301750"/>
                <a:ext cx="285750" cy="263526"/>
                <a:chOff x="771525" y="1301750"/>
                <a:chExt cx="285750" cy="263526"/>
              </a:xfrm>
            </p:grpSpPr>
            <p:sp>
              <p:nvSpPr>
                <p:cNvPr id="12" name="Freeform 12"/>
                <p:cNvSpPr/>
                <p:nvPr/>
              </p:nvSpPr>
              <p:spPr>
                <a:xfrm>
                  <a:off x="771525" y="1428750"/>
                  <a:ext cx="95250" cy="127000"/>
                </a:xfrm>
                <a:custGeom>
                  <a:avLst/>
                  <a:gdLst/>
                  <a:ahLst/>
                  <a:cxnLst/>
                  <a:rect l="l" t="t" r="r" b="b"/>
                  <a:pathLst>
                    <a:path w="95250" h="127000">
                      <a:moveTo>
                        <a:pt x="0" y="15875"/>
                      </a:moveTo>
                      <a:cubicBezTo>
                        <a:pt x="0" y="7107"/>
                        <a:pt x="7107" y="0"/>
                        <a:pt x="15875" y="0"/>
                      </a:cubicBezTo>
                      <a:lnTo>
                        <a:pt x="79375" y="0"/>
                      </a:lnTo>
                      <a:cubicBezTo>
                        <a:pt x="88143" y="0"/>
                        <a:pt x="95250" y="7107"/>
                        <a:pt x="95250" y="15875"/>
                      </a:cubicBezTo>
                      <a:lnTo>
                        <a:pt x="95250" y="111125"/>
                      </a:lnTo>
                      <a:cubicBezTo>
                        <a:pt x="95250" y="119893"/>
                        <a:pt x="88143" y="127000"/>
                        <a:pt x="79375" y="127000"/>
                      </a:cubicBezTo>
                      <a:lnTo>
                        <a:pt x="15875" y="127000"/>
                      </a:lnTo>
                      <a:cubicBezTo>
                        <a:pt x="7107" y="127000"/>
                        <a:pt x="0" y="119893"/>
                        <a:pt x="0" y="111125"/>
                      </a:cubicBezTo>
                      <a:lnTo>
                        <a:pt x="0" y="15875"/>
                      </a:lnTo>
                    </a:path>
                  </a:pathLst>
                </a:custGeom>
                <a:noFill/>
                <a:ln w="23813">
                  <a:solidFill>
                    <a:srgbClr val="841600"/>
                  </a:solidFill>
                </a:ln>
              </p:spPr>
            </p:sp>
            <p:sp>
              <p:nvSpPr>
                <p:cNvPr id="13" name="Freeform 13"/>
                <p:cNvSpPr/>
                <p:nvPr/>
              </p:nvSpPr>
              <p:spPr>
                <a:xfrm>
                  <a:off x="962025" y="1365250"/>
                  <a:ext cx="95250" cy="190500"/>
                </a:xfrm>
                <a:custGeom>
                  <a:avLst/>
                  <a:gdLst/>
                  <a:ahLst/>
                  <a:cxnLst/>
                  <a:rect l="l" t="t" r="r" b="b"/>
                  <a:pathLst>
                    <a:path w="95250" h="190500">
                      <a:moveTo>
                        <a:pt x="0" y="15875"/>
                      </a:moveTo>
                      <a:cubicBezTo>
                        <a:pt x="0" y="7107"/>
                        <a:pt x="7107" y="0"/>
                        <a:pt x="15875" y="0"/>
                      </a:cubicBezTo>
                      <a:lnTo>
                        <a:pt x="79375" y="0"/>
                      </a:lnTo>
                      <a:cubicBezTo>
                        <a:pt x="88143" y="0"/>
                        <a:pt x="95250" y="7107"/>
                        <a:pt x="95250" y="15875"/>
                      </a:cubicBezTo>
                      <a:lnTo>
                        <a:pt x="95250" y="174625"/>
                      </a:lnTo>
                      <a:cubicBezTo>
                        <a:pt x="95250" y="183393"/>
                        <a:pt x="88143" y="190500"/>
                        <a:pt x="79375" y="190500"/>
                      </a:cubicBezTo>
                      <a:lnTo>
                        <a:pt x="15875" y="190500"/>
                      </a:lnTo>
                      <a:cubicBezTo>
                        <a:pt x="7107" y="190500"/>
                        <a:pt x="0" y="183393"/>
                        <a:pt x="0" y="174625"/>
                      </a:cubicBezTo>
                      <a:lnTo>
                        <a:pt x="0" y="15875"/>
                      </a:lnTo>
                    </a:path>
                  </a:pathLst>
                </a:custGeom>
                <a:noFill/>
                <a:ln w="23813">
                  <a:solidFill>
                    <a:srgbClr val="841600"/>
                  </a:solidFill>
                </a:ln>
              </p:spPr>
            </p:sp>
            <p:sp>
              <p:nvSpPr>
                <p:cNvPr id="14" name="Freeform 14"/>
                <p:cNvSpPr/>
                <p:nvPr/>
              </p:nvSpPr>
              <p:spPr>
                <a:xfrm>
                  <a:off x="866775" y="1301750"/>
                  <a:ext cx="95250" cy="254001"/>
                </a:xfrm>
                <a:custGeom>
                  <a:avLst/>
                  <a:gdLst/>
                  <a:ahLst/>
                  <a:cxnLst/>
                  <a:rect l="l" t="t" r="r" b="b"/>
                  <a:pathLst>
                    <a:path w="95250" h="254001">
                      <a:moveTo>
                        <a:pt x="0" y="15875"/>
                      </a:moveTo>
                      <a:cubicBezTo>
                        <a:pt x="0" y="7107"/>
                        <a:pt x="7107" y="0"/>
                        <a:pt x="15875" y="0"/>
                      </a:cubicBezTo>
                      <a:lnTo>
                        <a:pt x="79375" y="0"/>
                      </a:lnTo>
                      <a:cubicBezTo>
                        <a:pt x="88143" y="0"/>
                        <a:pt x="95250" y="7107"/>
                        <a:pt x="95250" y="15875"/>
                      </a:cubicBezTo>
                      <a:lnTo>
                        <a:pt x="95250" y="238125"/>
                      </a:lnTo>
                      <a:cubicBezTo>
                        <a:pt x="95250" y="246893"/>
                        <a:pt x="88143" y="254001"/>
                        <a:pt x="79375" y="254001"/>
                      </a:cubicBezTo>
                      <a:lnTo>
                        <a:pt x="15875" y="254001"/>
                      </a:lnTo>
                      <a:cubicBezTo>
                        <a:pt x="7107" y="254001"/>
                        <a:pt x="0" y="246893"/>
                        <a:pt x="0" y="238125"/>
                      </a:cubicBezTo>
                      <a:lnTo>
                        <a:pt x="0" y="15875"/>
                      </a:lnTo>
                    </a:path>
                  </a:pathLst>
                </a:custGeom>
                <a:noFill/>
                <a:ln w="23813">
                  <a:solidFill>
                    <a:srgbClr val="841600"/>
                  </a:solidFill>
                </a:ln>
              </p:spPr>
            </p:sp>
            <p:sp>
              <p:nvSpPr>
                <p:cNvPr id="15" name="Freeform 15"/>
                <p:cNvSpPr/>
                <p:nvPr/>
              </p:nvSpPr>
              <p:spPr>
                <a:xfrm>
                  <a:off x="787400" y="1555751"/>
                  <a:ext cx="222250" cy="9525"/>
                </a:xfrm>
                <a:custGeom>
                  <a:avLst/>
                  <a:gdLst/>
                  <a:ahLst/>
                  <a:cxnLst/>
                  <a:rect l="l" t="t" r="r" b="b"/>
                  <a:pathLst>
                    <a:path w="222250" h="9525">
                      <a:moveTo>
                        <a:pt x="0" y="0"/>
                      </a:moveTo>
                      <a:lnTo>
                        <a:pt x="222250" y="0"/>
                      </a:lnTo>
                    </a:path>
                  </a:pathLst>
                </a:custGeom>
                <a:noFill/>
                <a:ln w="23813">
                  <a:solidFill>
                    <a:srgbClr val="841600"/>
                  </a:solidFill>
                </a:ln>
              </p:spPr>
            </p:sp>
          </p:grpSp>
          <p:sp>
            <p:nvSpPr>
              <p:cNvPr id="17" name="Ellipse 17"/>
              <p:cNvSpPr/>
              <p:nvPr/>
            </p:nvSpPr>
            <p:spPr>
              <a:xfrm>
                <a:off x="1104900" y="1619250"/>
                <a:ext cx="190500" cy="190500"/>
              </a:xfrm>
              <a:prstGeom prst="ellipse">
                <a:avLst/>
              </a:prstGeom>
              <a:solidFill>
                <a:srgbClr val="9E331E"/>
              </a:solidFill>
              <a:ln>
                <a:noFill/>
              </a:ln>
            </p:spPr>
          </p:sp>
          <p:grpSp>
            <p:nvGrpSpPr>
              <p:cNvPr id="20" name="Group 20"/>
              <p:cNvGrpSpPr/>
              <p:nvPr/>
            </p:nvGrpSpPr>
            <p:grpSpPr>
              <a:xfrm>
                <a:off x="1150144" y="1686719"/>
                <a:ext cx="100012" cy="55562"/>
                <a:chOff x="1150144" y="1686719"/>
                <a:chExt cx="100012" cy="55562"/>
              </a:xfrm>
            </p:grpSpPr>
            <p:sp>
              <p:nvSpPr>
                <p:cNvPr id="18" name="Freeform 18"/>
                <p:cNvSpPr/>
                <p:nvPr/>
              </p:nvSpPr>
              <p:spPr>
                <a:xfrm>
                  <a:off x="1150144" y="1686719"/>
                  <a:ext cx="100012" cy="55562"/>
                </a:xfrm>
                <a:custGeom>
                  <a:avLst/>
                  <a:gdLst/>
                  <a:ahLst/>
                  <a:cxnLst/>
                  <a:rect l="l" t="t" r="r" b="b"/>
                  <a:pathLst>
                    <a:path w="100012" h="55562">
                      <a:moveTo>
                        <a:pt x="0" y="55562"/>
                      </a:moveTo>
                      <a:lnTo>
                        <a:pt x="33337" y="22225"/>
                      </a:lnTo>
                      <a:lnTo>
                        <a:pt x="55562" y="44450"/>
                      </a:lnTo>
                      <a:lnTo>
                        <a:pt x="100012" y="0"/>
                      </a:lnTo>
                    </a:path>
                  </a:pathLst>
                </a:custGeom>
                <a:noFill/>
                <a:ln w="16669">
                  <a:solidFill>
                    <a:srgbClr val="FFFFFF"/>
                  </a:solidFill>
                </a:ln>
              </p:spPr>
            </p:sp>
            <p:sp>
              <p:nvSpPr>
                <p:cNvPr id="19" name="Freeform 19"/>
                <p:cNvSpPr/>
                <p:nvPr/>
              </p:nvSpPr>
              <p:spPr>
                <a:xfrm>
                  <a:off x="1211262" y="1686719"/>
                  <a:ext cx="38894" cy="38894"/>
                </a:xfrm>
                <a:custGeom>
                  <a:avLst/>
                  <a:gdLst/>
                  <a:ahLst/>
                  <a:cxnLst/>
                  <a:rect l="l" t="t" r="r" b="b"/>
                  <a:pathLst>
                    <a:path w="38894" h="38894">
                      <a:moveTo>
                        <a:pt x="0" y="0"/>
                      </a:moveTo>
                      <a:lnTo>
                        <a:pt x="38894" y="0"/>
                      </a:lnTo>
                      <a:lnTo>
                        <a:pt x="38894" y="38894"/>
                      </a:lnTo>
                    </a:path>
                  </a:pathLst>
                </a:custGeom>
                <a:noFill/>
                <a:ln w="16669">
                  <a:solidFill>
                    <a:srgbClr val="FFFFFF"/>
                  </a:solidFill>
                </a:ln>
              </p:spPr>
            </p:sp>
          </p:grpSp>
          <p:sp>
            <p:nvSpPr>
              <p:cNvPr id="21" name="TextBox 21"/>
              <p:cNvSpPr txBox="1"/>
              <p:nvPr/>
            </p:nvSpPr>
            <p:spPr>
              <a:xfrm>
                <a:off x="1517142" y="1016318"/>
                <a:ext cx="740664" cy="264033"/>
              </a:xfrm>
              <a:prstGeom prst="rect">
                <a:avLst/>
              </a:prstGeom>
              <a:noFill/>
              <a:ln>
                <a:noFill/>
              </a:ln>
            </p:spPr>
            <p:txBody>
              <a:bodyPr wrap="none" lIns="0" tIns="0" rIns="0" bIns="0" anchor="t" anchorCtr="0">
                <a:spAutoFit/>
              </a:bodyPr>
              <a:lstStyle/>
              <a:p>
                <a:pPr algn="l"/>
                <a:r>
                  <a:rPr lang="zh-CN" sz="1350" b="1" dirty="0">
                    <a:solidFill>
                      <a:srgbClr val="841600"/>
                    </a:solidFill>
                    <a:latin typeface="+mn-lt"/>
                    <a:ea typeface="+mn-ea"/>
                    <a:cs typeface="+mn-cs"/>
                  </a:rPr>
                  <a:t>宏观环境</a:t>
                </a:r>
              </a:p>
            </p:txBody>
          </p:sp>
          <p:sp>
            <p:nvSpPr>
              <p:cNvPr id="22" name="Rectangle 22"/>
              <p:cNvSpPr/>
              <p:nvPr/>
            </p:nvSpPr>
            <p:spPr>
              <a:xfrm>
                <a:off x="1524000" y="1257300"/>
                <a:ext cx="457200" cy="28575"/>
              </a:xfrm>
              <a:prstGeom prst="rect">
                <a:avLst/>
              </a:prstGeom>
              <a:solidFill>
                <a:srgbClr val="C9482E"/>
              </a:solidFill>
              <a:ln>
                <a:noFill/>
              </a:ln>
            </p:spPr>
          </p:sp>
          <p:sp>
            <p:nvSpPr>
              <p:cNvPr id="23" name="TextBox 23"/>
              <p:cNvSpPr txBox="1"/>
              <p:nvPr/>
            </p:nvSpPr>
            <p:spPr>
              <a:xfrm>
                <a:off x="1518856" y="1509951"/>
                <a:ext cx="1421257" cy="445675"/>
              </a:xfrm>
              <a:prstGeom prst="rect">
                <a:avLst/>
              </a:prstGeom>
              <a:noFill/>
              <a:ln>
                <a:noFill/>
              </a:ln>
            </p:spPr>
            <p:txBody>
              <a:bodyPr wrap="none" lIns="0" tIns="0" rIns="0" bIns="0" anchor="t" anchorCtr="0">
                <a:spAutoFit/>
              </a:bodyPr>
              <a:lstStyle/>
              <a:p>
                <a:pPr algn="l">
                  <a:lnSpc>
                    <a:spcPts val="1950"/>
                  </a:lnSpc>
                </a:pPr>
                <a:r>
                  <a:rPr lang="zh-CN" sz="1010" dirty="0">
                    <a:solidFill>
                      <a:srgbClr val="473633"/>
                    </a:solidFill>
                    <a:latin typeface="+mn-lt"/>
                    <a:ea typeface="+mn-ea"/>
                    <a:cs typeface="+mn-cs"/>
                  </a:rPr>
                  <a:t>有效融资需求分化，</a:t>
                </a:r>
                <a:br/>
                <a:r>
                  <a:rPr lang="zh-CN" sz="1010" dirty="0">
                    <a:solidFill>
                      <a:srgbClr val="473633"/>
                    </a:solidFill>
                    <a:latin typeface="+mn-lt"/>
                    <a:ea typeface="+mn-ea"/>
                    <a:cs typeface="+mn-cs"/>
                  </a:rPr>
                  <a:t>重点领域仍有结构性机会</a:t>
                </a:r>
              </a:p>
            </p:txBody>
          </p:sp>
        </p:grpSp>
        <p:grpSp>
          <p:nvGrpSpPr>
            <p:cNvPr id="36" name="quad-industry"/>
            <p:cNvGrpSpPr/>
            <p:nvPr/>
          </p:nvGrpSpPr>
          <p:grpSpPr>
            <a:xfrm>
              <a:off x="5746242" y="1016318"/>
              <a:ext cx="3035808" cy="939308"/>
              <a:chOff x="5746242" y="1016318"/>
              <a:chExt cx="3035808" cy="939308"/>
            </a:xfrm>
          </p:grpSpPr>
          <p:sp>
            <p:nvSpPr>
              <p:cNvPr id="25" name="Ellipse 25"/>
              <p:cNvSpPr/>
              <p:nvPr/>
            </p:nvSpPr>
            <p:spPr>
              <a:xfrm>
                <a:off x="8020050" y="1047750"/>
                <a:ext cx="762000" cy="762000"/>
              </a:xfrm>
              <a:prstGeom prst="ellipse">
                <a:avLst/>
              </a:prstGeom>
              <a:solidFill>
                <a:srgbClr val="FFFFFF"/>
              </a:solidFill>
              <a:ln w="19050">
                <a:solidFill>
                  <a:srgbClr val="ECC1B8"/>
                </a:solidFill>
              </a:ln>
            </p:spPr>
          </p:sp>
          <p:grpSp>
            <p:nvGrpSpPr>
              <p:cNvPr id="30" name="Group 30"/>
              <p:cNvGrpSpPr/>
              <p:nvPr/>
            </p:nvGrpSpPr>
            <p:grpSpPr>
              <a:xfrm>
                <a:off x="8258175" y="1285875"/>
                <a:ext cx="285751" cy="285751"/>
                <a:chOff x="8258175" y="1285875"/>
                <a:chExt cx="285751" cy="285751"/>
              </a:xfrm>
            </p:grpSpPr>
            <p:sp>
              <p:nvSpPr>
                <p:cNvPr id="26" name="Freeform 26"/>
                <p:cNvSpPr/>
                <p:nvPr/>
              </p:nvSpPr>
              <p:spPr>
                <a:xfrm>
                  <a:off x="8289925" y="12858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3813">
                  <a:solidFill>
                    <a:srgbClr val="841600"/>
                  </a:solidFill>
                </a:ln>
              </p:spPr>
            </p:sp>
            <p:sp>
              <p:nvSpPr>
                <p:cNvPr id="27" name="Freeform 27"/>
                <p:cNvSpPr/>
                <p:nvPr/>
              </p:nvSpPr>
              <p:spPr>
                <a:xfrm>
                  <a:off x="8258175" y="1476375"/>
                  <a:ext cx="190500" cy="95250"/>
                </a:xfrm>
                <a:custGeom>
                  <a:avLst/>
                  <a:gdLst/>
                  <a:ahLst/>
                  <a:cxnLst/>
                  <a:rect l="l" t="t" r="r" b="b"/>
                  <a:pathLst>
                    <a:path w="190500" h="95250">
                      <a:moveTo>
                        <a:pt x="0" y="95250"/>
                      </a:moveTo>
                      <a:lnTo>
                        <a:pt x="0" y="63500"/>
                      </a:lnTo>
                      <a:cubicBezTo>
                        <a:pt x="0" y="28430"/>
                        <a:pt x="28430" y="0"/>
                        <a:pt x="63500" y="0"/>
                      </a:cubicBezTo>
                      <a:lnTo>
                        <a:pt x="127000" y="0"/>
                      </a:lnTo>
                      <a:cubicBezTo>
                        <a:pt x="162070" y="0"/>
                        <a:pt x="190500" y="28430"/>
                        <a:pt x="190500" y="63500"/>
                      </a:cubicBezTo>
                      <a:lnTo>
                        <a:pt x="190500" y="95250"/>
                      </a:lnTo>
                    </a:path>
                  </a:pathLst>
                </a:custGeom>
                <a:noFill/>
                <a:ln w="23813">
                  <a:solidFill>
                    <a:srgbClr val="841600"/>
                  </a:solidFill>
                </a:ln>
              </p:spPr>
            </p:sp>
            <p:sp>
              <p:nvSpPr>
                <p:cNvPr id="28" name="Freeform 28"/>
                <p:cNvSpPr/>
                <p:nvPr/>
              </p:nvSpPr>
              <p:spPr>
                <a:xfrm>
                  <a:off x="8464551" y="1287939"/>
                  <a:ext cx="47750" cy="123031"/>
                </a:xfrm>
                <a:custGeom>
                  <a:avLst/>
                  <a:gdLst/>
                  <a:ahLst/>
                  <a:cxnLst/>
                  <a:rect l="l" t="t" r="r" b="b"/>
                  <a:pathLst>
                    <a:path w="47750" h="123031">
                      <a:moveTo>
                        <a:pt x="0" y="0"/>
                      </a:moveTo>
                      <a:cubicBezTo>
                        <a:pt x="28097" y="7194"/>
                        <a:pt x="47750" y="32512"/>
                        <a:pt x="47750" y="61516"/>
                      </a:cubicBezTo>
                      <a:cubicBezTo>
                        <a:pt x="47750" y="90520"/>
                        <a:pt x="28097" y="115837"/>
                        <a:pt x="0" y="123031"/>
                      </a:cubicBezTo>
                    </a:path>
                  </a:pathLst>
                </a:custGeom>
                <a:noFill/>
                <a:ln w="23813">
                  <a:solidFill>
                    <a:srgbClr val="841600"/>
                  </a:solidFill>
                </a:ln>
              </p:spPr>
            </p:sp>
            <p:sp>
              <p:nvSpPr>
                <p:cNvPr id="29" name="Freeform 29"/>
                <p:cNvSpPr/>
                <p:nvPr/>
              </p:nvSpPr>
              <p:spPr>
                <a:xfrm>
                  <a:off x="8496301" y="1478757"/>
                  <a:ext cx="47625" cy="92869"/>
                </a:xfrm>
                <a:custGeom>
                  <a:avLst/>
                  <a:gdLst/>
                  <a:ahLst/>
                  <a:cxnLst/>
                  <a:rect l="l" t="t" r="r" b="b"/>
                  <a:pathLst>
                    <a:path w="47625" h="92869">
                      <a:moveTo>
                        <a:pt x="47625" y="92869"/>
                      </a:moveTo>
                      <a:lnTo>
                        <a:pt x="47625" y="61119"/>
                      </a:lnTo>
                      <a:cubicBezTo>
                        <a:pt x="47459" y="32299"/>
                        <a:pt x="27905" y="7205"/>
                        <a:pt x="0" y="0"/>
                      </a:cubicBezTo>
                    </a:path>
                  </a:pathLst>
                </a:custGeom>
                <a:noFill/>
                <a:ln w="23813">
                  <a:solidFill>
                    <a:srgbClr val="841600"/>
                  </a:solidFill>
                </a:ln>
              </p:spPr>
            </p:sp>
          </p:grpSp>
          <p:sp>
            <p:nvSpPr>
              <p:cNvPr id="31" name="Ellipse 31"/>
              <p:cNvSpPr/>
              <p:nvPr/>
            </p:nvSpPr>
            <p:spPr>
              <a:xfrm>
                <a:off x="8591550" y="1619250"/>
                <a:ext cx="190500" cy="190500"/>
              </a:xfrm>
              <a:prstGeom prst="ellipse">
                <a:avLst/>
              </a:prstGeom>
              <a:solidFill>
                <a:srgbClr val="ED4D31"/>
              </a:solidFill>
              <a:ln>
                <a:noFill/>
              </a:ln>
            </p:spPr>
          </p:sp>
          <p:sp>
            <p:nvSpPr>
              <p:cNvPr id="32" name="TextBox 32"/>
              <p:cNvSpPr txBox="1"/>
              <p:nvPr/>
            </p:nvSpPr>
            <p:spPr>
              <a:xfrm>
                <a:off x="8661068" y="1656874"/>
                <a:ext cx="51463"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a:t>
                </a:r>
              </a:p>
            </p:txBody>
          </p:sp>
          <p:sp>
            <p:nvSpPr>
              <p:cNvPr id="33" name="TextBox 33"/>
              <p:cNvSpPr txBox="1"/>
              <p:nvPr/>
            </p:nvSpPr>
            <p:spPr>
              <a:xfrm>
                <a:off x="5746242" y="1016318"/>
                <a:ext cx="740664" cy="264033"/>
              </a:xfrm>
              <a:prstGeom prst="rect">
                <a:avLst/>
              </a:prstGeom>
              <a:noFill/>
              <a:ln>
                <a:noFill/>
              </a:ln>
            </p:spPr>
            <p:txBody>
              <a:bodyPr wrap="none" lIns="0" tIns="0" rIns="0" bIns="0" anchor="t" anchorCtr="0">
                <a:spAutoFit/>
              </a:bodyPr>
              <a:lstStyle/>
              <a:p>
                <a:pPr algn="l"/>
                <a:r>
                  <a:rPr lang="zh-CN" sz="1350" b="1" dirty="0">
                    <a:solidFill>
                      <a:srgbClr val="841600"/>
                    </a:solidFill>
                    <a:latin typeface="+mn-lt"/>
                    <a:ea typeface="+mn-ea"/>
                    <a:cs typeface="+mn-cs"/>
                  </a:rPr>
                  <a:t>行业竞争</a:t>
                </a:r>
              </a:p>
            </p:txBody>
          </p:sp>
          <p:sp>
            <p:nvSpPr>
              <p:cNvPr id="34" name="Rectangle 34"/>
              <p:cNvSpPr/>
              <p:nvPr/>
            </p:nvSpPr>
            <p:spPr>
              <a:xfrm>
                <a:off x="5753100" y="1257300"/>
                <a:ext cx="457200" cy="28575"/>
              </a:xfrm>
              <a:prstGeom prst="rect">
                <a:avLst/>
              </a:prstGeom>
              <a:solidFill>
                <a:srgbClr val="C9482E"/>
              </a:solidFill>
              <a:ln>
                <a:noFill/>
              </a:ln>
            </p:spPr>
          </p:sp>
          <p:sp>
            <p:nvSpPr>
              <p:cNvPr id="35" name="TextBox 35"/>
              <p:cNvSpPr txBox="1"/>
              <p:nvPr/>
            </p:nvSpPr>
            <p:spPr>
              <a:xfrm>
                <a:off x="5747956" y="1509951"/>
                <a:ext cx="1292987" cy="445675"/>
              </a:xfrm>
              <a:prstGeom prst="rect">
                <a:avLst/>
              </a:prstGeom>
              <a:noFill/>
              <a:ln>
                <a:noFill/>
              </a:ln>
            </p:spPr>
            <p:txBody>
              <a:bodyPr wrap="none" lIns="0" tIns="0" rIns="0" bIns="0" anchor="t" anchorCtr="0">
                <a:spAutoFit/>
              </a:bodyPr>
              <a:lstStyle/>
              <a:p>
                <a:pPr algn="l">
                  <a:lnSpc>
                    <a:spcPts val="1950"/>
                  </a:lnSpc>
                </a:pPr>
                <a:r>
                  <a:rPr lang="zh-CN" sz="1010" dirty="0">
                    <a:solidFill>
                      <a:srgbClr val="473633"/>
                    </a:solidFill>
                    <a:latin typeface="+mn-lt"/>
                    <a:ea typeface="+mn-ea"/>
                    <a:cs typeface="+mn-cs"/>
                  </a:rPr>
                  <a:t>存款竞争加剧，</a:t>
                </a:r>
                <a:br/>
                <a:r>
                  <a:rPr lang="zh-CN" sz="1010" dirty="0">
                    <a:solidFill>
                      <a:srgbClr val="473633"/>
                    </a:solidFill>
                    <a:latin typeface="+mn-lt"/>
                    <a:ea typeface="+mn-ea"/>
                    <a:cs typeface="+mn-cs"/>
                  </a:rPr>
                  <a:t>资产价格和净息差承压</a:t>
                </a:r>
              </a:p>
            </p:txBody>
          </p:sp>
        </p:grpSp>
        <p:grpSp>
          <p:nvGrpSpPr>
            <p:cNvPr id="46" name="quad-regulation"/>
            <p:cNvGrpSpPr/>
            <p:nvPr/>
          </p:nvGrpSpPr>
          <p:grpSpPr>
            <a:xfrm>
              <a:off x="533400" y="3073718"/>
              <a:ext cx="2278443" cy="939308"/>
              <a:chOff x="533400" y="3073718"/>
              <a:chExt cx="2278443" cy="939308"/>
            </a:xfrm>
          </p:grpSpPr>
          <p:sp>
            <p:nvSpPr>
              <p:cNvPr id="37" name="Ellipse 37"/>
              <p:cNvSpPr/>
              <p:nvPr/>
            </p:nvSpPr>
            <p:spPr>
              <a:xfrm>
                <a:off x="533400" y="3105150"/>
                <a:ext cx="762000" cy="762000"/>
              </a:xfrm>
              <a:prstGeom prst="ellipse">
                <a:avLst/>
              </a:prstGeom>
              <a:solidFill>
                <a:srgbClr val="FFFFFF"/>
              </a:solidFill>
              <a:ln w="19050">
                <a:solidFill>
                  <a:srgbClr val="ECC1B8"/>
                </a:solidFill>
              </a:ln>
            </p:spPr>
          </p:sp>
          <p:grpSp>
            <p:nvGrpSpPr>
              <p:cNvPr id="40" name="Group 40"/>
              <p:cNvGrpSpPr/>
              <p:nvPr/>
            </p:nvGrpSpPr>
            <p:grpSpPr>
              <a:xfrm>
                <a:off x="750101" y="3343275"/>
                <a:ext cx="310011" cy="285751"/>
                <a:chOff x="750101" y="3343275"/>
                <a:chExt cx="310011" cy="285751"/>
              </a:xfrm>
            </p:grpSpPr>
            <p:sp>
              <p:nvSpPr>
                <p:cNvPr id="38" name="Freeform 38"/>
                <p:cNvSpPr/>
                <p:nvPr/>
              </p:nvSpPr>
              <p:spPr>
                <a:xfrm>
                  <a:off x="750101" y="3343275"/>
                  <a:ext cx="310011" cy="283306"/>
                </a:xfrm>
                <a:custGeom>
                  <a:avLst/>
                  <a:gdLst/>
                  <a:ahLst/>
                  <a:cxnLst/>
                  <a:rect l="l" t="t" r="r" b="b"/>
                  <a:pathLst>
                    <a:path w="310011" h="283306">
                      <a:moveTo>
                        <a:pt x="155727" y="283306"/>
                      </a:moveTo>
                      <a:cubicBezTo>
                        <a:pt x="56277" y="252479"/>
                        <a:pt x="0" y="147517"/>
                        <a:pt x="29362" y="47625"/>
                      </a:cubicBezTo>
                      <a:cubicBezTo>
                        <a:pt x="78821" y="49888"/>
                        <a:pt x="127218" y="32807"/>
                        <a:pt x="164299" y="0"/>
                      </a:cubicBezTo>
                      <a:cubicBezTo>
                        <a:pt x="201381" y="32807"/>
                        <a:pt x="249778" y="49888"/>
                        <a:pt x="299237" y="47625"/>
                      </a:cubicBezTo>
                      <a:cubicBezTo>
                        <a:pt x="310011" y="84282"/>
                        <a:pt x="309513" y="123332"/>
                        <a:pt x="297808" y="159703"/>
                      </a:cubicBezTo>
                    </a:path>
                  </a:pathLst>
                </a:custGeom>
                <a:noFill/>
                <a:ln w="23813">
                  <a:solidFill>
                    <a:srgbClr val="841600"/>
                  </a:solidFill>
                </a:ln>
              </p:spPr>
            </p:sp>
            <p:sp>
              <p:nvSpPr>
                <p:cNvPr id="39" name="Freeform 39"/>
                <p:cNvSpPr/>
                <p:nvPr/>
              </p:nvSpPr>
              <p:spPr>
                <a:xfrm>
                  <a:off x="962025" y="3565526"/>
                  <a:ext cx="95250" cy="63500"/>
                </a:xfrm>
                <a:custGeom>
                  <a:avLst/>
                  <a:gdLst/>
                  <a:ahLst/>
                  <a:cxnLst/>
                  <a:rect l="l" t="t" r="r" b="b"/>
                  <a:pathLst>
                    <a:path w="95250" h="63500">
                      <a:moveTo>
                        <a:pt x="0" y="31750"/>
                      </a:moveTo>
                      <a:lnTo>
                        <a:pt x="31750" y="63500"/>
                      </a:lnTo>
                      <a:lnTo>
                        <a:pt x="95250" y="0"/>
                      </a:lnTo>
                    </a:path>
                  </a:pathLst>
                </a:custGeom>
                <a:noFill/>
                <a:ln w="23813">
                  <a:solidFill>
                    <a:srgbClr val="841600"/>
                  </a:solidFill>
                </a:ln>
              </p:spPr>
            </p:sp>
          </p:grpSp>
          <p:sp>
            <p:nvSpPr>
              <p:cNvPr id="41" name="Ellipse 41"/>
              <p:cNvSpPr/>
              <p:nvPr/>
            </p:nvSpPr>
            <p:spPr>
              <a:xfrm>
                <a:off x="1104900" y="3676650"/>
                <a:ext cx="190500" cy="190500"/>
              </a:xfrm>
              <a:prstGeom prst="ellipse">
                <a:avLst/>
              </a:prstGeom>
              <a:solidFill>
                <a:srgbClr val="D94F38"/>
              </a:solidFill>
              <a:ln>
                <a:noFill/>
              </a:ln>
            </p:spPr>
          </p:sp>
          <p:sp>
            <p:nvSpPr>
              <p:cNvPr id="42" name="TextBox 42"/>
              <p:cNvSpPr txBox="1"/>
              <p:nvPr/>
            </p:nvSpPr>
            <p:spPr>
              <a:xfrm>
                <a:off x="1174418" y="3714274"/>
                <a:ext cx="51463"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a:t>
                </a:r>
              </a:p>
            </p:txBody>
          </p:sp>
          <p:sp>
            <p:nvSpPr>
              <p:cNvPr id="43" name="TextBox 43"/>
              <p:cNvSpPr txBox="1"/>
              <p:nvPr/>
            </p:nvSpPr>
            <p:spPr>
              <a:xfrm>
                <a:off x="1517142" y="3073718"/>
                <a:ext cx="740664" cy="264033"/>
              </a:xfrm>
              <a:prstGeom prst="rect">
                <a:avLst/>
              </a:prstGeom>
              <a:noFill/>
              <a:ln>
                <a:noFill/>
              </a:ln>
            </p:spPr>
            <p:txBody>
              <a:bodyPr wrap="none" lIns="0" tIns="0" rIns="0" bIns="0" anchor="t" anchorCtr="0">
                <a:spAutoFit/>
              </a:bodyPr>
              <a:lstStyle/>
              <a:p>
                <a:pPr algn="l"/>
                <a:r>
                  <a:rPr lang="zh-CN" sz="1350" b="1" dirty="0">
                    <a:solidFill>
                      <a:srgbClr val="841600"/>
                    </a:solidFill>
                    <a:latin typeface="+mn-lt"/>
                    <a:ea typeface="+mn-ea"/>
                    <a:cs typeface="+mn-cs"/>
                  </a:rPr>
                  <a:t>监管要求</a:t>
                </a:r>
              </a:p>
            </p:txBody>
          </p:sp>
          <p:sp>
            <p:nvSpPr>
              <p:cNvPr id="44" name="Rectangle 44"/>
              <p:cNvSpPr/>
              <p:nvPr/>
            </p:nvSpPr>
            <p:spPr>
              <a:xfrm>
                <a:off x="1524000" y="3314700"/>
                <a:ext cx="457200" cy="28575"/>
              </a:xfrm>
              <a:prstGeom prst="rect">
                <a:avLst/>
              </a:prstGeom>
              <a:solidFill>
                <a:srgbClr val="C9482E"/>
              </a:solidFill>
              <a:ln>
                <a:noFill/>
              </a:ln>
            </p:spPr>
          </p:sp>
          <p:sp>
            <p:nvSpPr>
              <p:cNvPr id="45" name="TextBox 45"/>
              <p:cNvSpPr txBox="1"/>
              <p:nvPr/>
            </p:nvSpPr>
            <p:spPr>
              <a:xfrm>
                <a:off x="1518856" y="3567351"/>
                <a:ext cx="1292987" cy="445675"/>
              </a:xfrm>
              <a:prstGeom prst="rect">
                <a:avLst/>
              </a:prstGeom>
              <a:noFill/>
              <a:ln>
                <a:noFill/>
              </a:ln>
            </p:spPr>
            <p:txBody>
              <a:bodyPr wrap="none" lIns="0" tIns="0" rIns="0" bIns="0" anchor="t" anchorCtr="0">
                <a:spAutoFit/>
              </a:bodyPr>
              <a:lstStyle/>
              <a:p>
                <a:pPr algn="l">
                  <a:lnSpc>
                    <a:spcPts val="1950"/>
                  </a:lnSpc>
                </a:pPr>
                <a:r>
                  <a:rPr lang="zh-CN" sz="1010" dirty="0">
                    <a:solidFill>
                      <a:srgbClr val="473633"/>
                    </a:solidFill>
                    <a:latin typeface="+mn-lt"/>
                    <a:ea typeface="+mn-ea"/>
                    <a:cs typeface="+mn-cs"/>
                  </a:rPr>
                  <a:t>资本、流动性、消保、</a:t>
                </a:r>
                <a:br/>
                <a:r>
                  <a:rPr lang="zh-CN" sz="1010" dirty="0">
                    <a:solidFill>
                      <a:srgbClr val="473633"/>
                    </a:solidFill>
                    <a:latin typeface="+mn-lt"/>
                    <a:ea typeface="+mn-ea"/>
                    <a:cs typeface="+mn-cs"/>
                  </a:rPr>
                  <a:t>数据质量约束增强</a:t>
                </a:r>
              </a:p>
            </p:txBody>
          </p:sp>
        </p:grpSp>
        <p:grpSp>
          <p:nvGrpSpPr>
            <p:cNvPr id="62" name="quad-self"/>
            <p:cNvGrpSpPr/>
            <p:nvPr/>
          </p:nvGrpSpPr>
          <p:grpSpPr>
            <a:xfrm>
              <a:off x="5746242" y="3073718"/>
              <a:ext cx="3035808" cy="939308"/>
              <a:chOff x="5746242" y="3073718"/>
              <a:chExt cx="3035808" cy="939308"/>
            </a:xfrm>
          </p:grpSpPr>
          <p:sp>
            <p:nvSpPr>
              <p:cNvPr id="47" name="Ellipse 47"/>
              <p:cNvSpPr/>
              <p:nvPr/>
            </p:nvSpPr>
            <p:spPr>
              <a:xfrm>
                <a:off x="8020050" y="3105150"/>
                <a:ext cx="762000" cy="762000"/>
              </a:xfrm>
              <a:prstGeom prst="ellipse">
                <a:avLst/>
              </a:prstGeom>
              <a:solidFill>
                <a:srgbClr val="FFFFFF"/>
              </a:solidFill>
              <a:ln w="19050">
                <a:solidFill>
                  <a:srgbClr val="ECC1B8"/>
                </a:solidFill>
              </a:ln>
            </p:spPr>
          </p:sp>
          <p:grpSp>
            <p:nvGrpSpPr>
              <p:cNvPr id="56" name="Group 56"/>
              <p:cNvGrpSpPr/>
              <p:nvPr/>
            </p:nvGrpSpPr>
            <p:grpSpPr>
              <a:xfrm>
                <a:off x="8258175" y="3343275"/>
                <a:ext cx="285751" cy="295276"/>
                <a:chOff x="8258175" y="3343275"/>
                <a:chExt cx="285751" cy="295276"/>
              </a:xfrm>
            </p:grpSpPr>
            <p:sp>
              <p:nvSpPr>
                <p:cNvPr id="48" name="Freeform 48"/>
                <p:cNvSpPr/>
                <p:nvPr/>
              </p:nvSpPr>
              <p:spPr>
                <a:xfrm>
                  <a:off x="8258175" y="3629026"/>
                  <a:ext cx="285751" cy="9525"/>
                </a:xfrm>
                <a:custGeom>
                  <a:avLst/>
                  <a:gdLst/>
                  <a:ahLst/>
                  <a:cxnLst/>
                  <a:rect l="l" t="t" r="r" b="b"/>
                  <a:pathLst>
                    <a:path w="285751" h="9525">
                      <a:moveTo>
                        <a:pt x="0" y="0"/>
                      </a:moveTo>
                      <a:lnTo>
                        <a:pt x="285751" y="0"/>
                      </a:lnTo>
                    </a:path>
                  </a:pathLst>
                </a:custGeom>
                <a:noFill/>
                <a:ln w="23813">
                  <a:solidFill>
                    <a:srgbClr val="841600"/>
                  </a:solidFill>
                </a:ln>
              </p:spPr>
            </p:sp>
            <p:sp>
              <p:nvSpPr>
                <p:cNvPr id="49" name="Freeform 49"/>
                <p:cNvSpPr/>
                <p:nvPr/>
              </p:nvSpPr>
              <p:spPr>
                <a:xfrm>
                  <a:off x="8258175" y="3454400"/>
                  <a:ext cx="285751" cy="9525"/>
                </a:xfrm>
                <a:custGeom>
                  <a:avLst/>
                  <a:gdLst/>
                  <a:ahLst/>
                  <a:cxnLst/>
                  <a:rect l="l" t="t" r="r" b="b"/>
                  <a:pathLst>
                    <a:path w="285751" h="9525">
                      <a:moveTo>
                        <a:pt x="0" y="0"/>
                      </a:moveTo>
                      <a:lnTo>
                        <a:pt x="285751" y="0"/>
                      </a:lnTo>
                    </a:path>
                  </a:pathLst>
                </a:custGeom>
                <a:noFill/>
                <a:ln w="23813">
                  <a:solidFill>
                    <a:srgbClr val="841600"/>
                  </a:solidFill>
                </a:ln>
              </p:spPr>
            </p:sp>
            <p:sp>
              <p:nvSpPr>
                <p:cNvPr id="50" name="Freeform 50"/>
                <p:cNvSpPr/>
                <p:nvPr/>
              </p:nvSpPr>
              <p:spPr>
                <a:xfrm>
                  <a:off x="8289925" y="3343275"/>
                  <a:ext cx="222250" cy="47625"/>
                </a:xfrm>
                <a:custGeom>
                  <a:avLst/>
                  <a:gdLst/>
                  <a:ahLst/>
                  <a:cxnLst/>
                  <a:rect l="l" t="t" r="r" b="b"/>
                  <a:pathLst>
                    <a:path w="222250" h="47625">
                      <a:moveTo>
                        <a:pt x="0" y="47625"/>
                      </a:moveTo>
                      <a:lnTo>
                        <a:pt x="111125" y="0"/>
                      </a:lnTo>
                      <a:lnTo>
                        <a:pt x="222250" y="47625"/>
                      </a:lnTo>
                    </a:path>
                  </a:pathLst>
                </a:custGeom>
                <a:noFill/>
                <a:ln w="23813">
                  <a:solidFill>
                    <a:srgbClr val="841600"/>
                  </a:solidFill>
                </a:ln>
              </p:spPr>
            </p:sp>
            <p:sp>
              <p:nvSpPr>
                <p:cNvPr id="51" name="Freeform 51"/>
                <p:cNvSpPr/>
                <p:nvPr/>
              </p:nvSpPr>
              <p:spPr>
                <a:xfrm>
                  <a:off x="8274050" y="3454400"/>
                  <a:ext cx="9525" cy="174625"/>
                </a:xfrm>
                <a:custGeom>
                  <a:avLst/>
                  <a:gdLst/>
                  <a:ahLst/>
                  <a:cxnLst/>
                  <a:rect l="l" t="t" r="r" b="b"/>
                  <a:pathLst>
                    <a:path w="9525" h="174625">
                      <a:moveTo>
                        <a:pt x="0" y="0"/>
                      </a:moveTo>
                      <a:lnTo>
                        <a:pt x="0" y="174625"/>
                      </a:lnTo>
                    </a:path>
                  </a:pathLst>
                </a:custGeom>
                <a:noFill/>
                <a:ln w="23813">
                  <a:solidFill>
                    <a:srgbClr val="841600"/>
                  </a:solidFill>
                </a:ln>
              </p:spPr>
            </p:sp>
            <p:sp>
              <p:nvSpPr>
                <p:cNvPr id="52" name="Freeform 52"/>
                <p:cNvSpPr/>
                <p:nvPr/>
              </p:nvSpPr>
              <p:spPr>
                <a:xfrm>
                  <a:off x="8528051" y="3454400"/>
                  <a:ext cx="9525" cy="174625"/>
                </a:xfrm>
                <a:custGeom>
                  <a:avLst/>
                  <a:gdLst/>
                  <a:ahLst/>
                  <a:cxnLst/>
                  <a:rect l="l" t="t" r="r" b="b"/>
                  <a:pathLst>
                    <a:path w="9525" h="174625">
                      <a:moveTo>
                        <a:pt x="0" y="0"/>
                      </a:moveTo>
                      <a:lnTo>
                        <a:pt x="0" y="174625"/>
                      </a:lnTo>
                    </a:path>
                  </a:pathLst>
                </a:custGeom>
                <a:noFill/>
                <a:ln w="23813">
                  <a:solidFill>
                    <a:srgbClr val="841600"/>
                  </a:solidFill>
                </a:ln>
              </p:spPr>
            </p:sp>
            <p:sp>
              <p:nvSpPr>
                <p:cNvPr id="53" name="Freeform 53"/>
                <p:cNvSpPr/>
                <p:nvPr/>
              </p:nvSpPr>
              <p:spPr>
                <a:xfrm>
                  <a:off x="8337550" y="3517900"/>
                  <a:ext cx="9525" cy="47625"/>
                </a:xfrm>
                <a:custGeom>
                  <a:avLst/>
                  <a:gdLst/>
                  <a:ahLst/>
                  <a:cxnLst/>
                  <a:rect l="l" t="t" r="r" b="b"/>
                  <a:pathLst>
                    <a:path w="9525" h="47625">
                      <a:moveTo>
                        <a:pt x="0" y="0"/>
                      </a:moveTo>
                      <a:lnTo>
                        <a:pt x="0" y="47625"/>
                      </a:lnTo>
                    </a:path>
                  </a:pathLst>
                </a:custGeom>
                <a:noFill/>
                <a:ln w="23813">
                  <a:solidFill>
                    <a:srgbClr val="841600"/>
                  </a:solidFill>
                </a:ln>
              </p:spPr>
            </p:sp>
            <p:sp>
              <p:nvSpPr>
                <p:cNvPr id="54" name="Freeform 54"/>
                <p:cNvSpPr/>
                <p:nvPr/>
              </p:nvSpPr>
              <p:spPr>
                <a:xfrm>
                  <a:off x="8401050" y="3517900"/>
                  <a:ext cx="9525" cy="47625"/>
                </a:xfrm>
                <a:custGeom>
                  <a:avLst/>
                  <a:gdLst/>
                  <a:ahLst/>
                  <a:cxnLst/>
                  <a:rect l="l" t="t" r="r" b="b"/>
                  <a:pathLst>
                    <a:path w="9525" h="47625">
                      <a:moveTo>
                        <a:pt x="0" y="0"/>
                      </a:moveTo>
                      <a:lnTo>
                        <a:pt x="0" y="47625"/>
                      </a:lnTo>
                    </a:path>
                  </a:pathLst>
                </a:custGeom>
                <a:noFill/>
                <a:ln w="23813">
                  <a:solidFill>
                    <a:srgbClr val="841600"/>
                  </a:solidFill>
                </a:ln>
              </p:spPr>
            </p:sp>
            <p:sp>
              <p:nvSpPr>
                <p:cNvPr id="55" name="Freeform 55"/>
                <p:cNvSpPr/>
                <p:nvPr/>
              </p:nvSpPr>
              <p:spPr>
                <a:xfrm>
                  <a:off x="8464551" y="3517900"/>
                  <a:ext cx="9525" cy="47625"/>
                </a:xfrm>
                <a:custGeom>
                  <a:avLst/>
                  <a:gdLst/>
                  <a:ahLst/>
                  <a:cxnLst/>
                  <a:rect l="l" t="t" r="r" b="b"/>
                  <a:pathLst>
                    <a:path w="9525" h="47625">
                      <a:moveTo>
                        <a:pt x="0" y="0"/>
                      </a:moveTo>
                      <a:lnTo>
                        <a:pt x="0" y="47625"/>
                      </a:lnTo>
                    </a:path>
                  </a:pathLst>
                </a:custGeom>
                <a:noFill/>
                <a:ln w="23813">
                  <a:solidFill>
                    <a:srgbClr val="841600"/>
                  </a:solidFill>
                </a:ln>
              </p:spPr>
            </p:sp>
          </p:grpSp>
          <p:sp>
            <p:nvSpPr>
              <p:cNvPr id="57" name="Ellipse 57"/>
              <p:cNvSpPr/>
              <p:nvPr/>
            </p:nvSpPr>
            <p:spPr>
              <a:xfrm>
                <a:off x="8591550" y="3676650"/>
                <a:ext cx="190500" cy="190500"/>
              </a:xfrm>
              <a:prstGeom prst="ellipse">
                <a:avLst/>
              </a:prstGeom>
              <a:solidFill>
                <a:srgbClr val="ED4D31"/>
              </a:solidFill>
              <a:ln>
                <a:noFill/>
              </a:ln>
            </p:spPr>
          </p:sp>
          <p:sp>
            <p:nvSpPr>
              <p:cNvPr id="58" name="TextBox 58"/>
              <p:cNvSpPr txBox="1"/>
              <p:nvPr/>
            </p:nvSpPr>
            <p:spPr>
              <a:xfrm>
                <a:off x="8661068" y="3714274"/>
                <a:ext cx="51463"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a:t>
                </a:r>
              </a:p>
            </p:txBody>
          </p:sp>
          <p:sp>
            <p:nvSpPr>
              <p:cNvPr id="59" name="TextBox 59"/>
              <p:cNvSpPr txBox="1"/>
              <p:nvPr/>
            </p:nvSpPr>
            <p:spPr>
              <a:xfrm>
                <a:off x="5746242" y="3073718"/>
                <a:ext cx="740664" cy="264033"/>
              </a:xfrm>
              <a:prstGeom prst="rect">
                <a:avLst/>
              </a:prstGeom>
              <a:noFill/>
              <a:ln>
                <a:noFill/>
              </a:ln>
            </p:spPr>
            <p:txBody>
              <a:bodyPr wrap="none" lIns="0" tIns="0" rIns="0" bIns="0" anchor="t" anchorCtr="0">
                <a:spAutoFit/>
              </a:bodyPr>
              <a:lstStyle/>
              <a:p>
                <a:pPr algn="l"/>
                <a:r>
                  <a:rPr lang="zh-CN" sz="1350" b="1" dirty="0">
                    <a:solidFill>
                      <a:srgbClr val="841600"/>
                    </a:solidFill>
                    <a:latin typeface="+mn-lt"/>
                    <a:ea typeface="+mn-ea"/>
                    <a:cs typeface="+mn-cs"/>
                  </a:rPr>
                  <a:t>自身经营</a:t>
                </a:r>
              </a:p>
            </p:txBody>
          </p:sp>
          <p:sp>
            <p:nvSpPr>
              <p:cNvPr id="60" name="Rectangle 60"/>
              <p:cNvSpPr/>
              <p:nvPr/>
            </p:nvSpPr>
            <p:spPr>
              <a:xfrm>
                <a:off x="5753100" y="3314700"/>
                <a:ext cx="457200" cy="28575"/>
              </a:xfrm>
              <a:prstGeom prst="rect">
                <a:avLst/>
              </a:prstGeom>
              <a:solidFill>
                <a:srgbClr val="C9482E"/>
              </a:solidFill>
              <a:ln>
                <a:noFill/>
              </a:ln>
            </p:spPr>
          </p:sp>
          <p:sp>
            <p:nvSpPr>
              <p:cNvPr id="61" name="TextBox 61"/>
              <p:cNvSpPr txBox="1"/>
              <p:nvPr/>
            </p:nvSpPr>
            <p:spPr>
              <a:xfrm>
                <a:off x="5747956" y="3567351"/>
                <a:ext cx="1421257" cy="445675"/>
              </a:xfrm>
              <a:prstGeom prst="rect">
                <a:avLst/>
              </a:prstGeom>
              <a:noFill/>
              <a:ln>
                <a:noFill/>
              </a:ln>
            </p:spPr>
            <p:txBody>
              <a:bodyPr wrap="none" lIns="0" tIns="0" rIns="0" bIns="0" anchor="t" anchorCtr="0">
                <a:spAutoFit/>
              </a:bodyPr>
              <a:lstStyle/>
              <a:p>
                <a:pPr algn="l">
                  <a:lnSpc>
                    <a:spcPts val="1950"/>
                  </a:lnSpc>
                </a:pPr>
                <a:r>
                  <a:rPr lang="zh-CN" sz="1010" dirty="0">
                    <a:solidFill>
                      <a:srgbClr val="473633"/>
                    </a:solidFill>
                    <a:latin typeface="+mn-lt"/>
                    <a:ea typeface="+mn-ea"/>
                    <a:cs typeface="+mn-cs"/>
                  </a:rPr>
                  <a:t>客户基础尚可，但中收、</a:t>
                </a:r>
                <a:br/>
                <a:r>
                  <a:rPr lang="zh-CN" sz="1010" dirty="0">
                    <a:solidFill>
                      <a:srgbClr val="473633"/>
                    </a:solidFill>
                    <a:latin typeface="+mn-lt"/>
                    <a:ea typeface="+mn-ea"/>
                    <a:cs typeface="+mn-cs"/>
                  </a:rPr>
                  <a:t>结构与协同效率需提升</a:t>
                </a:r>
              </a:p>
            </p:txBody>
          </p:sp>
        </p:grpSp>
        <p:grpSp>
          <p:nvGrpSpPr>
            <p:cNvPr id="75" name="quad-center"/>
            <p:cNvGrpSpPr/>
            <p:nvPr/>
          </p:nvGrpSpPr>
          <p:grpSpPr>
            <a:xfrm>
              <a:off x="3657600" y="1714500"/>
              <a:ext cx="2000250" cy="2000250"/>
              <a:chOff x="3657600" y="1714500"/>
              <a:chExt cx="2000250" cy="2000250"/>
            </a:xfrm>
          </p:grpSpPr>
          <p:sp>
            <p:nvSpPr>
              <p:cNvPr id="63" name="Polygon 63"/>
              <p:cNvSpPr/>
              <p:nvPr/>
            </p:nvSpPr>
            <p:spPr>
              <a:xfrm>
                <a:off x="3657600" y="2590800"/>
                <a:ext cx="209550" cy="247650"/>
              </a:xfrm>
              <a:custGeom>
                <a:avLst/>
                <a:gdLst/>
                <a:ahLst/>
                <a:cxnLst/>
                <a:rect l="l" t="t" r="r" b="b"/>
                <a:pathLst>
                  <a:path w="209550" h="247650">
                    <a:moveTo>
                      <a:pt x="209550" y="0"/>
                    </a:moveTo>
                    <a:lnTo>
                      <a:pt x="0" y="123825"/>
                    </a:lnTo>
                    <a:lnTo>
                      <a:pt x="209550" y="247650"/>
                    </a:lnTo>
                    <a:close/>
                  </a:path>
                </a:pathLst>
              </a:custGeom>
              <a:solidFill>
                <a:srgbClr val="841600"/>
              </a:solidFill>
              <a:ln>
                <a:noFill/>
              </a:ln>
            </p:spPr>
          </p:sp>
          <p:sp>
            <p:nvSpPr>
              <p:cNvPr id="64" name="Polygon 64"/>
              <p:cNvSpPr/>
              <p:nvPr/>
            </p:nvSpPr>
            <p:spPr>
              <a:xfrm>
                <a:off x="5448300" y="2590800"/>
                <a:ext cx="209550" cy="247650"/>
              </a:xfrm>
              <a:custGeom>
                <a:avLst/>
                <a:gdLst/>
                <a:ahLst/>
                <a:cxnLst/>
                <a:rect l="l" t="t" r="r" b="b"/>
                <a:pathLst>
                  <a:path w="209550" h="247650">
                    <a:moveTo>
                      <a:pt x="0" y="0"/>
                    </a:moveTo>
                    <a:lnTo>
                      <a:pt x="209550" y="123825"/>
                    </a:lnTo>
                    <a:lnTo>
                      <a:pt x="0" y="247650"/>
                    </a:lnTo>
                    <a:close/>
                  </a:path>
                </a:pathLst>
              </a:custGeom>
              <a:solidFill>
                <a:srgbClr val="841600"/>
              </a:solidFill>
              <a:ln>
                <a:noFill/>
              </a:ln>
            </p:spPr>
          </p:sp>
          <p:sp>
            <p:nvSpPr>
              <p:cNvPr id="65" name="Polygon 65"/>
              <p:cNvSpPr/>
              <p:nvPr/>
            </p:nvSpPr>
            <p:spPr>
              <a:xfrm>
                <a:off x="4533900" y="1714500"/>
                <a:ext cx="247650" cy="209550"/>
              </a:xfrm>
              <a:custGeom>
                <a:avLst/>
                <a:gdLst/>
                <a:ahLst/>
                <a:cxnLst/>
                <a:rect l="l" t="t" r="r" b="b"/>
                <a:pathLst>
                  <a:path w="247650" h="209550">
                    <a:moveTo>
                      <a:pt x="0" y="209550"/>
                    </a:moveTo>
                    <a:lnTo>
                      <a:pt x="123825" y="0"/>
                    </a:lnTo>
                    <a:lnTo>
                      <a:pt x="247650" y="209550"/>
                    </a:lnTo>
                    <a:close/>
                  </a:path>
                </a:pathLst>
              </a:custGeom>
              <a:solidFill>
                <a:srgbClr val="841600"/>
              </a:solidFill>
              <a:ln>
                <a:noFill/>
              </a:ln>
            </p:spPr>
          </p:sp>
          <p:sp>
            <p:nvSpPr>
              <p:cNvPr id="66" name="Polygon 66"/>
              <p:cNvSpPr/>
              <p:nvPr/>
            </p:nvSpPr>
            <p:spPr>
              <a:xfrm>
                <a:off x="4533900" y="3505200"/>
                <a:ext cx="247650" cy="209550"/>
              </a:xfrm>
              <a:custGeom>
                <a:avLst/>
                <a:gdLst/>
                <a:ahLst/>
                <a:cxnLst/>
                <a:rect l="l" t="t" r="r" b="b"/>
                <a:pathLst>
                  <a:path w="247650" h="209550">
                    <a:moveTo>
                      <a:pt x="0" y="0"/>
                    </a:moveTo>
                    <a:lnTo>
                      <a:pt x="123825" y="209550"/>
                    </a:lnTo>
                    <a:lnTo>
                      <a:pt x="247650" y="0"/>
                    </a:lnTo>
                    <a:close/>
                  </a:path>
                </a:pathLst>
              </a:custGeom>
              <a:solidFill>
                <a:srgbClr val="841600"/>
              </a:solidFill>
              <a:ln>
                <a:noFill/>
              </a:ln>
            </p:spPr>
          </p:sp>
          <p:sp>
            <p:nvSpPr>
              <p:cNvPr id="67" name="Ellipse 67"/>
              <p:cNvSpPr/>
              <p:nvPr/>
            </p:nvSpPr>
            <p:spPr>
              <a:xfrm>
                <a:off x="3857625" y="1914525"/>
                <a:ext cx="1600200" cy="1600200"/>
              </a:xfrm>
              <a:prstGeom prst="ellipse">
                <a:avLst/>
              </a:prstGeom>
              <a:solidFill>
                <a:srgbClr val="841600"/>
              </a:solidFill>
              <a:ln w="38100">
                <a:solidFill>
                  <a:srgbClr val="FFFFFF"/>
                </a:solidFill>
              </a:ln>
            </p:spPr>
          </p:sp>
          <p:sp>
            <p:nvSpPr>
              <p:cNvPr id="68" name="Ellipse 68"/>
              <p:cNvSpPr/>
              <p:nvPr/>
            </p:nvSpPr>
            <p:spPr>
              <a:xfrm>
                <a:off x="3952875" y="2009775"/>
                <a:ext cx="1409700" cy="1409700"/>
              </a:xfrm>
              <a:prstGeom prst="ellipse">
                <a:avLst/>
              </a:prstGeom>
              <a:noFill/>
              <a:ln w="9525">
                <a:solidFill>
                  <a:srgbClr val="D9705B"/>
                </a:solidFill>
                <a:custDash>
                  <a:ds d="300000" sp="300000"/>
                </a:custDash>
              </a:ln>
            </p:spPr>
          </p:sp>
          <p:grpSp>
            <p:nvGrpSpPr>
              <p:cNvPr id="72" name="Group 72"/>
              <p:cNvGrpSpPr/>
              <p:nvPr/>
            </p:nvGrpSpPr>
            <p:grpSpPr>
              <a:xfrm>
                <a:off x="4557713" y="2185988"/>
                <a:ext cx="200026" cy="200026"/>
                <a:chOff x="4557713" y="2185988"/>
                <a:chExt cx="200026" cy="200026"/>
              </a:xfrm>
            </p:grpSpPr>
            <p:sp>
              <p:nvSpPr>
                <p:cNvPr id="69" name="Freeform 69"/>
                <p:cNvSpPr/>
                <p:nvPr/>
              </p:nvSpPr>
              <p:spPr>
                <a:xfrm>
                  <a:off x="4646613" y="227488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FFFFFF"/>
                  </a:solidFill>
                </a:ln>
              </p:spPr>
            </p:sp>
            <p:sp>
              <p:nvSpPr>
                <p:cNvPr id="70" name="Freeform 70"/>
                <p:cNvSpPr/>
                <p:nvPr/>
              </p:nvSpPr>
              <p:spPr>
                <a:xfrm>
                  <a:off x="4602163" y="2230438"/>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22225">
                  <a:solidFill>
                    <a:srgbClr val="FFFFFF"/>
                  </a:solidFill>
                </a:ln>
              </p:spPr>
            </p:sp>
            <p:sp>
              <p:nvSpPr>
                <p:cNvPr id="71" name="Freeform 71"/>
                <p:cNvSpPr/>
                <p:nvPr/>
              </p:nvSpPr>
              <p:spPr>
                <a:xfrm>
                  <a:off x="4557713" y="21859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FFFFFF"/>
                  </a:solidFill>
                </a:ln>
              </p:spPr>
            </p:sp>
          </p:grpSp>
          <p:sp>
            <p:nvSpPr>
              <p:cNvPr id="73" name="TextBox 73"/>
              <p:cNvSpPr txBox="1"/>
              <p:nvPr/>
            </p:nvSpPr>
            <p:spPr>
              <a:xfrm>
                <a:off x="4014788" y="2635568"/>
                <a:ext cx="1285875"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下半年经营判断</a:t>
                </a:r>
              </a:p>
            </p:txBody>
          </p:sp>
          <p:sp>
            <p:nvSpPr>
              <p:cNvPr id="74" name="TextBox 74"/>
              <p:cNvSpPr txBox="1"/>
              <p:nvPr/>
            </p:nvSpPr>
            <p:spPr>
              <a:xfrm>
                <a:off x="3990632" y="2958941"/>
                <a:ext cx="1334186" cy="161925"/>
              </a:xfrm>
              <a:prstGeom prst="rect">
                <a:avLst/>
              </a:prstGeom>
              <a:noFill/>
              <a:ln>
                <a:noFill/>
              </a:ln>
            </p:spPr>
            <p:txBody>
              <a:bodyPr wrap="none" lIns="0" tIns="0" rIns="0" bIns="0" anchor="t" anchorCtr="0">
                <a:spAutoFit/>
              </a:bodyPr>
              <a:lstStyle/>
              <a:p>
                <a:pPr algn="ctr"/>
                <a:r>
                  <a:rPr lang="zh-CN" sz="820" dirty="0">
                    <a:solidFill>
                      <a:srgbClr val="DCE6F8"/>
                    </a:solidFill>
                    <a:latin typeface="+mn-lt"/>
                    <a:ea typeface="+mn-ea"/>
                    <a:cs typeface="+mn-cs"/>
                  </a:rPr>
                  <a:t>稳住基本盘｜打开增长空间</a:t>
                </a:r>
              </a:p>
            </p:txBody>
          </p:sp>
        </p:grpSp>
      </p:grpSp>
      <p:grpSp>
        <p:nvGrpSpPr>
          <p:cNvPr id="100" name="requirements-list"/>
          <p:cNvGrpSpPr/>
          <p:nvPr/>
        </p:nvGrpSpPr>
        <p:grpSpPr>
          <a:xfrm>
            <a:off x="9124950" y="704850"/>
            <a:ext cx="2800350" cy="4019550"/>
            <a:chOff x="9124950" y="704850"/>
            <a:chExt cx="2800350" cy="4019550"/>
          </a:xfrm>
        </p:grpSpPr>
        <p:sp>
          <p:nvSpPr>
            <p:cNvPr id="77" name="Rectangle 77"/>
            <p:cNvSpPr/>
            <p:nvPr/>
          </p:nvSpPr>
          <p:spPr>
            <a:xfrm>
              <a:off x="9124950" y="704850"/>
              <a:ext cx="2800350" cy="4019550"/>
            </a:xfrm>
            <a:prstGeom prst="roundRect">
              <a:avLst>
                <a:gd name="adj" fmla="val 3401"/>
              </a:avLst>
            </a:prstGeom>
            <a:solidFill>
              <a:srgbClr val="FFFFFF"/>
            </a:solidFill>
            <a:ln w="9525">
              <a:solidFill>
                <a:srgbClr val="D7E2F2"/>
              </a:solidFill>
            </a:ln>
          </p:spPr>
        </p:sp>
        <p:sp>
          <p:nvSpPr>
            <p:cNvPr id="78" name="Rectangle 78"/>
            <p:cNvSpPr/>
            <p:nvPr/>
          </p:nvSpPr>
          <p:spPr>
            <a:xfrm>
              <a:off x="9124950" y="704850"/>
              <a:ext cx="2800350" cy="419100"/>
            </a:xfrm>
            <a:prstGeom prst="roundRect">
              <a:avLst>
                <a:gd name="adj" fmla="val 22727"/>
              </a:avLst>
            </a:prstGeom>
            <a:solidFill>
              <a:srgbClr val="841600"/>
            </a:solidFill>
            <a:ln>
              <a:noFill/>
            </a:ln>
          </p:spPr>
        </p:sp>
        <p:sp>
          <p:nvSpPr>
            <p:cNvPr id="79" name="Rectangle 79"/>
            <p:cNvSpPr/>
            <p:nvPr/>
          </p:nvSpPr>
          <p:spPr>
            <a:xfrm>
              <a:off x="9124950" y="952500"/>
              <a:ext cx="2800350" cy="171450"/>
            </a:xfrm>
            <a:prstGeom prst="rect">
              <a:avLst/>
            </a:prstGeom>
            <a:solidFill>
              <a:srgbClr val="841600"/>
            </a:solidFill>
            <a:ln>
              <a:noFill/>
            </a:ln>
          </p:spPr>
        </p:sp>
        <p:sp>
          <p:nvSpPr>
            <p:cNvPr id="80" name="TextBox 80"/>
            <p:cNvSpPr txBox="1"/>
            <p:nvPr/>
          </p:nvSpPr>
          <p:spPr>
            <a:xfrm>
              <a:off x="10001707" y="843439"/>
              <a:ext cx="104683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四条管理要求</a:t>
              </a:r>
            </a:p>
          </p:txBody>
        </p:sp>
        <p:grpSp>
          <p:nvGrpSpPr>
            <p:cNvPr id="84" name="req-1"/>
            <p:cNvGrpSpPr/>
            <p:nvPr/>
          </p:nvGrpSpPr>
          <p:grpSpPr>
            <a:xfrm>
              <a:off x="9305925" y="1457325"/>
              <a:ext cx="1784223" cy="361950"/>
              <a:chOff x="9305925" y="1457325"/>
              <a:chExt cx="1784223" cy="361950"/>
            </a:xfrm>
          </p:grpSpPr>
          <p:sp>
            <p:nvSpPr>
              <p:cNvPr id="81" name="Ellipse 81"/>
              <p:cNvSpPr/>
              <p:nvPr/>
            </p:nvSpPr>
            <p:spPr>
              <a:xfrm>
                <a:off x="9305925" y="1457325"/>
                <a:ext cx="361950" cy="361950"/>
              </a:xfrm>
              <a:prstGeom prst="ellipse">
                <a:avLst/>
              </a:prstGeom>
              <a:solidFill>
                <a:srgbClr val="EFF5FD"/>
              </a:solidFill>
              <a:ln w="14288">
                <a:solidFill>
                  <a:srgbClr val="841600"/>
                </a:solidFill>
              </a:ln>
            </p:spPr>
          </p:sp>
          <p:sp>
            <p:nvSpPr>
              <p:cNvPr id="82" name="TextBox 82"/>
              <p:cNvSpPr txBox="1"/>
              <p:nvPr/>
            </p:nvSpPr>
            <p:spPr>
              <a:xfrm>
                <a:off x="9394113" y="1574006"/>
                <a:ext cx="185574"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01</a:t>
                </a:r>
              </a:p>
            </p:txBody>
          </p:sp>
          <p:sp>
            <p:nvSpPr>
              <p:cNvPr id="83" name="TextBox 83"/>
              <p:cNvSpPr txBox="1"/>
              <p:nvPr/>
            </p:nvSpPr>
            <p:spPr>
              <a:xfrm>
                <a:off x="9785604" y="1565910"/>
                <a:ext cx="130454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mn-lt"/>
                    <a:ea typeface="+mn-ea"/>
                    <a:cs typeface="+mn-cs"/>
                  </a:rPr>
                  <a:t>规模服从资本约束</a:t>
                </a:r>
              </a:p>
            </p:txBody>
          </p:sp>
        </p:grpSp>
        <p:sp>
          <p:nvSpPr>
            <p:cNvPr id="85" name="Line 85"/>
            <p:cNvSpPr/>
            <p:nvPr/>
          </p:nvSpPr>
          <p:spPr>
            <a:xfrm>
              <a:off x="9296400" y="2066925"/>
              <a:ext cx="2457450" cy="9525"/>
            </a:xfrm>
            <a:custGeom>
              <a:avLst/>
              <a:gdLst/>
              <a:ahLst/>
              <a:cxnLst/>
              <a:rect l="l" t="t" r="r" b="b"/>
              <a:pathLst>
                <a:path w="2457450" h="9525">
                  <a:moveTo>
                    <a:pt x="0" y="0"/>
                  </a:moveTo>
                  <a:lnTo>
                    <a:pt x="2457450" y="0"/>
                  </a:lnTo>
                </a:path>
              </a:pathLst>
            </a:custGeom>
            <a:noFill/>
            <a:ln w="9525">
              <a:solidFill>
                <a:srgbClr val="E5ECF6"/>
              </a:solidFill>
            </a:ln>
          </p:spPr>
        </p:sp>
        <p:grpSp>
          <p:nvGrpSpPr>
            <p:cNvPr id="89" name="req-2"/>
            <p:cNvGrpSpPr/>
            <p:nvPr/>
          </p:nvGrpSpPr>
          <p:grpSpPr>
            <a:xfrm>
              <a:off x="9305925" y="2314575"/>
              <a:ext cx="1784223" cy="361950"/>
              <a:chOff x="9305925" y="2314575"/>
              <a:chExt cx="1784223" cy="361950"/>
            </a:xfrm>
          </p:grpSpPr>
          <p:sp>
            <p:nvSpPr>
              <p:cNvPr id="86" name="Ellipse 86"/>
              <p:cNvSpPr/>
              <p:nvPr/>
            </p:nvSpPr>
            <p:spPr>
              <a:xfrm>
                <a:off x="9305925" y="2314575"/>
                <a:ext cx="361950" cy="361950"/>
              </a:xfrm>
              <a:prstGeom prst="ellipse">
                <a:avLst/>
              </a:prstGeom>
              <a:solidFill>
                <a:srgbClr val="EFF5FD"/>
              </a:solidFill>
              <a:ln w="14288">
                <a:solidFill>
                  <a:srgbClr val="841600"/>
                </a:solidFill>
              </a:ln>
            </p:spPr>
          </p:sp>
          <p:sp>
            <p:nvSpPr>
              <p:cNvPr id="87" name="TextBox 87"/>
              <p:cNvSpPr txBox="1"/>
              <p:nvPr/>
            </p:nvSpPr>
            <p:spPr>
              <a:xfrm>
                <a:off x="9394113" y="2431256"/>
                <a:ext cx="185574"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02</a:t>
                </a:r>
              </a:p>
            </p:txBody>
          </p:sp>
          <p:sp>
            <p:nvSpPr>
              <p:cNvPr id="88" name="TextBox 88"/>
              <p:cNvSpPr txBox="1"/>
              <p:nvPr/>
            </p:nvSpPr>
            <p:spPr>
              <a:xfrm>
                <a:off x="9785604" y="2423160"/>
                <a:ext cx="130454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mn-lt"/>
                    <a:ea typeface="+mn-ea"/>
                    <a:cs typeface="+mn-cs"/>
                  </a:rPr>
                  <a:t>结构聚焦客户价值</a:t>
                </a:r>
              </a:p>
            </p:txBody>
          </p:sp>
        </p:grpSp>
        <p:sp>
          <p:nvSpPr>
            <p:cNvPr id="90" name="Line 90"/>
            <p:cNvSpPr/>
            <p:nvPr/>
          </p:nvSpPr>
          <p:spPr>
            <a:xfrm>
              <a:off x="9296400" y="2924175"/>
              <a:ext cx="2457450" cy="9525"/>
            </a:xfrm>
            <a:custGeom>
              <a:avLst/>
              <a:gdLst/>
              <a:ahLst/>
              <a:cxnLst/>
              <a:rect l="l" t="t" r="r" b="b"/>
              <a:pathLst>
                <a:path w="2457450" h="9525">
                  <a:moveTo>
                    <a:pt x="0" y="0"/>
                  </a:moveTo>
                  <a:lnTo>
                    <a:pt x="2457450" y="0"/>
                  </a:lnTo>
                </a:path>
              </a:pathLst>
            </a:custGeom>
            <a:noFill/>
            <a:ln w="9525">
              <a:solidFill>
                <a:srgbClr val="E5ECF6"/>
              </a:solidFill>
            </a:ln>
          </p:spPr>
        </p:sp>
        <p:grpSp>
          <p:nvGrpSpPr>
            <p:cNvPr id="94" name="req-3"/>
            <p:cNvGrpSpPr/>
            <p:nvPr/>
          </p:nvGrpSpPr>
          <p:grpSpPr>
            <a:xfrm>
              <a:off x="9305925" y="3171825"/>
              <a:ext cx="1784223" cy="361950"/>
              <a:chOff x="9305925" y="3171825"/>
              <a:chExt cx="1784223" cy="361950"/>
            </a:xfrm>
          </p:grpSpPr>
          <p:sp>
            <p:nvSpPr>
              <p:cNvPr id="91" name="Ellipse 91"/>
              <p:cNvSpPr/>
              <p:nvPr/>
            </p:nvSpPr>
            <p:spPr>
              <a:xfrm>
                <a:off x="9305925" y="3171825"/>
                <a:ext cx="361950" cy="361950"/>
              </a:xfrm>
              <a:prstGeom prst="ellipse">
                <a:avLst/>
              </a:prstGeom>
              <a:solidFill>
                <a:srgbClr val="EFF5FD"/>
              </a:solidFill>
              <a:ln w="14288">
                <a:solidFill>
                  <a:srgbClr val="841600"/>
                </a:solidFill>
              </a:ln>
            </p:spPr>
          </p:sp>
          <p:sp>
            <p:nvSpPr>
              <p:cNvPr id="92" name="TextBox 92"/>
              <p:cNvSpPr txBox="1"/>
              <p:nvPr/>
            </p:nvSpPr>
            <p:spPr>
              <a:xfrm>
                <a:off x="9394113" y="3288506"/>
                <a:ext cx="185574"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03</a:t>
                </a:r>
              </a:p>
            </p:txBody>
          </p:sp>
          <p:sp>
            <p:nvSpPr>
              <p:cNvPr id="93" name="TextBox 93"/>
              <p:cNvSpPr txBox="1"/>
              <p:nvPr/>
            </p:nvSpPr>
            <p:spPr>
              <a:xfrm>
                <a:off x="9785604" y="3280410"/>
                <a:ext cx="130454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mn-lt"/>
                    <a:ea typeface="+mn-ea"/>
                    <a:cs typeface="+mn-cs"/>
                  </a:rPr>
                  <a:t>效益兼顾风险成本</a:t>
                </a:r>
              </a:p>
            </p:txBody>
          </p:sp>
        </p:grpSp>
        <p:sp>
          <p:nvSpPr>
            <p:cNvPr id="95" name="Line 95"/>
            <p:cNvSpPr/>
            <p:nvPr/>
          </p:nvSpPr>
          <p:spPr>
            <a:xfrm>
              <a:off x="9296400" y="3781425"/>
              <a:ext cx="2457450" cy="9525"/>
            </a:xfrm>
            <a:custGeom>
              <a:avLst/>
              <a:gdLst/>
              <a:ahLst/>
              <a:cxnLst/>
              <a:rect l="l" t="t" r="r" b="b"/>
              <a:pathLst>
                <a:path w="2457450" h="9525">
                  <a:moveTo>
                    <a:pt x="0" y="0"/>
                  </a:moveTo>
                  <a:lnTo>
                    <a:pt x="2457450" y="0"/>
                  </a:lnTo>
                </a:path>
              </a:pathLst>
            </a:custGeom>
            <a:noFill/>
            <a:ln w="9525">
              <a:solidFill>
                <a:srgbClr val="E5ECF6"/>
              </a:solidFill>
            </a:ln>
          </p:spPr>
        </p:sp>
        <p:grpSp>
          <p:nvGrpSpPr>
            <p:cNvPr id="99" name="req-4"/>
            <p:cNvGrpSpPr/>
            <p:nvPr/>
          </p:nvGrpSpPr>
          <p:grpSpPr>
            <a:xfrm>
              <a:off x="9305925" y="4029075"/>
              <a:ext cx="1784223" cy="361950"/>
              <a:chOff x="9305925" y="4029075"/>
              <a:chExt cx="1784223" cy="361950"/>
            </a:xfrm>
          </p:grpSpPr>
          <p:sp>
            <p:nvSpPr>
              <p:cNvPr id="96" name="Ellipse 96"/>
              <p:cNvSpPr/>
              <p:nvPr/>
            </p:nvSpPr>
            <p:spPr>
              <a:xfrm>
                <a:off x="9305925" y="4029075"/>
                <a:ext cx="361950" cy="361950"/>
              </a:xfrm>
              <a:prstGeom prst="ellipse">
                <a:avLst/>
              </a:prstGeom>
              <a:solidFill>
                <a:srgbClr val="EFF5FD"/>
              </a:solidFill>
              <a:ln w="14288">
                <a:solidFill>
                  <a:srgbClr val="841600"/>
                </a:solidFill>
              </a:ln>
            </p:spPr>
          </p:sp>
          <p:sp>
            <p:nvSpPr>
              <p:cNvPr id="97" name="TextBox 97"/>
              <p:cNvSpPr txBox="1"/>
              <p:nvPr/>
            </p:nvSpPr>
            <p:spPr>
              <a:xfrm>
                <a:off x="9394113" y="4145756"/>
                <a:ext cx="185574"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04</a:t>
                </a:r>
              </a:p>
            </p:txBody>
          </p:sp>
          <p:sp>
            <p:nvSpPr>
              <p:cNvPr id="98" name="TextBox 98"/>
              <p:cNvSpPr txBox="1"/>
              <p:nvPr/>
            </p:nvSpPr>
            <p:spPr>
              <a:xfrm>
                <a:off x="9785604" y="4137660"/>
                <a:ext cx="130454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mn-lt"/>
                    <a:ea typeface="+mn-ea"/>
                    <a:cs typeface="+mn-cs"/>
                  </a:rPr>
                  <a:t>协同依靠闭环督导</a:t>
                </a:r>
              </a:p>
            </p:txBody>
          </p:sp>
        </p:grpSp>
      </p:grpSp>
      <p:grpSp>
        <p:nvGrpSpPr>
          <p:cNvPr id="144" name="pressure-band"/>
          <p:cNvGrpSpPr/>
          <p:nvPr/>
        </p:nvGrpSpPr>
        <p:grpSpPr>
          <a:xfrm>
            <a:off x="266700" y="4781550"/>
            <a:ext cx="11658600" cy="800100"/>
            <a:chOff x="266700" y="4781550"/>
            <a:chExt cx="11658600" cy="800100"/>
          </a:xfrm>
        </p:grpSpPr>
        <p:sp>
          <p:nvSpPr>
            <p:cNvPr id="101" name="Rectangle 101"/>
            <p:cNvSpPr/>
            <p:nvPr/>
          </p:nvSpPr>
          <p:spPr>
            <a:xfrm>
              <a:off x="266700" y="5029200"/>
              <a:ext cx="1943100" cy="552450"/>
            </a:xfrm>
            <a:prstGeom prst="rect">
              <a:avLst/>
            </a:prstGeom>
            <a:solidFill>
              <a:srgbClr val="FDEBD7"/>
            </a:solidFill>
            <a:ln>
              <a:noFill/>
            </a:ln>
          </p:spPr>
        </p:sp>
        <p:sp>
          <p:nvSpPr>
            <p:cNvPr id="102" name="Rectangle 102"/>
            <p:cNvSpPr/>
            <p:nvPr/>
          </p:nvSpPr>
          <p:spPr>
            <a:xfrm>
              <a:off x="2209800" y="5029200"/>
              <a:ext cx="1943100" cy="552450"/>
            </a:xfrm>
            <a:prstGeom prst="rect">
              <a:avLst/>
            </a:prstGeom>
            <a:solidFill>
              <a:srgbClr val="FCCAC1"/>
            </a:solidFill>
            <a:ln>
              <a:noFill/>
            </a:ln>
          </p:spPr>
        </p:sp>
        <p:sp>
          <p:nvSpPr>
            <p:cNvPr id="103" name="Rectangle 103"/>
            <p:cNvSpPr/>
            <p:nvPr/>
          </p:nvSpPr>
          <p:spPr>
            <a:xfrm>
              <a:off x="4152900" y="5029200"/>
              <a:ext cx="1943100" cy="552450"/>
            </a:xfrm>
            <a:prstGeom prst="rect">
              <a:avLst/>
            </a:prstGeom>
            <a:solidFill>
              <a:srgbClr val="F9A99B"/>
            </a:solidFill>
            <a:ln>
              <a:noFill/>
            </a:ln>
          </p:spPr>
        </p:sp>
        <p:sp>
          <p:nvSpPr>
            <p:cNvPr id="104" name="Rectangle 104"/>
            <p:cNvSpPr/>
            <p:nvPr/>
          </p:nvSpPr>
          <p:spPr>
            <a:xfrm>
              <a:off x="6096000" y="5029200"/>
              <a:ext cx="1943100" cy="552450"/>
            </a:xfrm>
            <a:prstGeom prst="rect">
              <a:avLst/>
            </a:prstGeom>
            <a:solidFill>
              <a:srgbClr val="F5907F"/>
            </a:solidFill>
            <a:ln>
              <a:noFill/>
            </a:ln>
          </p:spPr>
        </p:sp>
        <p:sp>
          <p:nvSpPr>
            <p:cNvPr id="105" name="Rectangle 105"/>
            <p:cNvSpPr/>
            <p:nvPr/>
          </p:nvSpPr>
          <p:spPr>
            <a:xfrm>
              <a:off x="8039100" y="5029200"/>
              <a:ext cx="1943100" cy="552450"/>
            </a:xfrm>
            <a:prstGeom prst="rect">
              <a:avLst/>
            </a:prstGeom>
            <a:solidFill>
              <a:srgbClr val="F18674"/>
            </a:solidFill>
            <a:ln>
              <a:noFill/>
            </a:ln>
          </p:spPr>
        </p:sp>
        <p:sp>
          <p:nvSpPr>
            <p:cNvPr id="106" name="Rectangle 106"/>
            <p:cNvSpPr/>
            <p:nvPr/>
          </p:nvSpPr>
          <p:spPr>
            <a:xfrm>
              <a:off x="9982200" y="5029200"/>
              <a:ext cx="1943100" cy="552450"/>
            </a:xfrm>
            <a:prstGeom prst="rect">
              <a:avLst/>
            </a:prstGeom>
            <a:solidFill>
              <a:srgbClr val="EC7B68"/>
            </a:solidFill>
            <a:ln>
              <a:noFill/>
            </a:ln>
          </p:spPr>
        </p:sp>
        <p:sp>
          <p:nvSpPr>
            <p:cNvPr id="107" name="Rectangle 107"/>
            <p:cNvSpPr/>
            <p:nvPr/>
          </p:nvSpPr>
          <p:spPr>
            <a:xfrm>
              <a:off x="5391150" y="4781550"/>
              <a:ext cx="1409700" cy="247650"/>
            </a:xfrm>
            <a:prstGeom prst="roundRect">
              <a:avLst>
                <a:gd name="adj" fmla="val 50000"/>
              </a:avLst>
            </a:prstGeom>
            <a:solidFill>
              <a:srgbClr val="841600"/>
            </a:solidFill>
            <a:ln>
              <a:noFill/>
            </a:ln>
          </p:spPr>
        </p:sp>
        <p:sp>
          <p:nvSpPr>
            <p:cNvPr id="108" name="TextBox 108"/>
            <p:cNvSpPr txBox="1"/>
            <p:nvPr/>
          </p:nvSpPr>
          <p:spPr>
            <a:xfrm>
              <a:off x="5807964" y="48396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六项压力</a:t>
              </a:r>
            </a:p>
          </p:txBody>
        </p:sp>
        <p:grpSp>
          <p:nvGrpSpPr>
            <p:cNvPr id="117" name="Group 117"/>
            <p:cNvGrpSpPr/>
            <p:nvPr/>
          </p:nvGrpSpPr>
          <p:grpSpPr>
            <a:xfrm>
              <a:off x="507206" y="5212556"/>
              <a:ext cx="185737" cy="195262"/>
              <a:chOff x="507206" y="5212556"/>
              <a:chExt cx="185737" cy="195262"/>
            </a:xfrm>
          </p:grpSpPr>
          <p:sp>
            <p:nvSpPr>
              <p:cNvPr id="109" name="Freeform 109"/>
              <p:cNvSpPr/>
              <p:nvPr/>
            </p:nvSpPr>
            <p:spPr>
              <a:xfrm>
                <a:off x="507206" y="5398293"/>
                <a:ext cx="185737" cy="9525"/>
              </a:xfrm>
              <a:custGeom>
                <a:avLst/>
                <a:gdLst/>
                <a:ahLst/>
                <a:cxnLst/>
                <a:rect l="l" t="t" r="r" b="b"/>
                <a:pathLst>
                  <a:path w="185737" h="9525">
                    <a:moveTo>
                      <a:pt x="0" y="0"/>
                    </a:moveTo>
                    <a:lnTo>
                      <a:pt x="185737" y="0"/>
                    </a:lnTo>
                  </a:path>
                </a:pathLst>
              </a:custGeom>
              <a:noFill/>
              <a:ln w="20637">
                <a:solidFill>
                  <a:srgbClr val="D94329"/>
                </a:solidFill>
              </a:ln>
            </p:spPr>
          </p:sp>
          <p:sp>
            <p:nvSpPr>
              <p:cNvPr id="110" name="Freeform 110"/>
              <p:cNvSpPr/>
              <p:nvPr/>
            </p:nvSpPr>
            <p:spPr>
              <a:xfrm>
                <a:off x="507206" y="5284787"/>
                <a:ext cx="185737" cy="9525"/>
              </a:xfrm>
              <a:custGeom>
                <a:avLst/>
                <a:gdLst/>
                <a:ahLst/>
                <a:cxnLst/>
                <a:rect l="l" t="t" r="r" b="b"/>
                <a:pathLst>
                  <a:path w="185737" h="9525">
                    <a:moveTo>
                      <a:pt x="0" y="0"/>
                    </a:moveTo>
                    <a:lnTo>
                      <a:pt x="185737" y="0"/>
                    </a:lnTo>
                  </a:path>
                </a:pathLst>
              </a:custGeom>
              <a:noFill/>
              <a:ln w="20637">
                <a:solidFill>
                  <a:srgbClr val="D94329"/>
                </a:solidFill>
              </a:ln>
            </p:spPr>
          </p:sp>
          <p:sp>
            <p:nvSpPr>
              <p:cNvPr id="111" name="Freeform 111"/>
              <p:cNvSpPr/>
              <p:nvPr/>
            </p:nvSpPr>
            <p:spPr>
              <a:xfrm>
                <a:off x="527844" y="5212556"/>
                <a:ext cx="144462" cy="30956"/>
              </a:xfrm>
              <a:custGeom>
                <a:avLst/>
                <a:gdLst/>
                <a:ahLst/>
                <a:cxnLst/>
                <a:rect l="l" t="t" r="r" b="b"/>
                <a:pathLst>
                  <a:path w="144462" h="30956">
                    <a:moveTo>
                      <a:pt x="0" y="30956"/>
                    </a:moveTo>
                    <a:lnTo>
                      <a:pt x="72231" y="0"/>
                    </a:lnTo>
                    <a:lnTo>
                      <a:pt x="144462" y="30956"/>
                    </a:lnTo>
                  </a:path>
                </a:pathLst>
              </a:custGeom>
              <a:noFill/>
              <a:ln w="20637">
                <a:solidFill>
                  <a:srgbClr val="D94329"/>
                </a:solidFill>
              </a:ln>
            </p:spPr>
          </p:sp>
          <p:sp>
            <p:nvSpPr>
              <p:cNvPr id="112" name="Freeform 112"/>
              <p:cNvSpPr/>
              <p:nvPr/>
            </p:nvSpPr>
            <p:spPr>
              <a:xfrm>
                <a:off x="517525" y="5284787"/>
                <a:ext cx="9525" cy="113506"/>
              </a:xfrm>
              <a:custGeom>
                <a:avLst/>
                <a:gdLst/>
                <a:ahLst/>
                <a:cxnLst/>
                <a:rect l="l" t="t" r="r" b="b"/>
                <a:pathLst>
                  <a:path w="9525" h="113506">
                    <a:moveTo>
                      <a:pt x="0" y="0"/>
                    </a:moveTo>
                    <a:lnTo>
                      <a:pt x="0" y="113506"/>
                    </a:lnTo>
                  </a:path>
                </a:pathLst>
              </a:custGeom>
              <a:noFill/>
              <a:ln w="20637">
                <a:solidFill>
                  <a:srgbClr val="D94329"/>
                </a:solidFill>
              </a:ln>
            </p:spPr>
          </p:sp>
          <p:sp>
            <p:nvSpPr>
              <p:cNvPr id="113" name="Freeform 113"/>
              <p:cNvSpPr/>
              <p:nvPr/>
            </p:nvSpPr>
            <p:spPr>
              <a:xfrm>
                <a:off x="682624" y="5284787"/>
                <a:ext cx="9525" cy="113506"/>
              </a:xfrm>
              <a:custGeom>
                <a:avLst/>
                <a:gdLst/>
                <a:ahLst/>
                <a:cxnLst/>
                <a:rect l="l" t="t" r="r" b="b"/>
                <a:pathLst>
                  <a:path w="9525" h="113506">
                    <a:moveTo>
                      <a:pt x="0" y="0"/>
                    </a:moveTo>
                    <a:lnTo>
                      <a:pt x="0" y="113506"/>
                    </a:lnTo>
                  </a:path>
                </a:pathLst>
              </a:custGeom>
              <a:noFill/>
              <a:ln w="20637">
                <a:solidFill>
                  <a:srgbClr val="D94329"/>
                </a:solidFill>
              </a:ln>
            </p:spPr>
          </p:sp>
          <p:sp>
            <p:nvSpPr>
              <p:cNvPr id="114" name="Freeform 114"/>
              <p:cNvSpPr/>
              <p:nvPr/>
            </p:nvSpPr>
            <p:spPr>
              <a:xfrm>
                <a:off x="558800" y="5326062"/>
                <a:ext cx="9525" cy="30956"/>
              </a:xfrm>
              <a:custGeom>
                <a:avLst/>
                <a:gdLst/>
                <a:ahLst/>
                <a:cxnLst/>
                <a:rect l="l" t="t" r="r" b="b"/>
                <a:pathLst>
                  <a:path w="9525" h="30956">
                    <a:moveTo>
                      <a:pt x="0" y="0"/>
                    </a:moveTo>
                    <a:lnTo>
                      <a:pt x="0" y="30956"/>
                    </a:lnTo>
                  </a:path>
                </a:pathLst>
              </a:custGeom>
              <a:noFill/>
              <a:ln w="20637">
                <a:solidFill>
                  <a:srgbClr val="D94329"/>
                </a:solidFill>
              </a:ln>
            </p:spPr>
          </p:sp>
          <p:sp>
            <p:nvSpPr>
              <p:cNvPr id="115" name="Freeform 115"/>
              <p:cNvSpPr/>
              <p:nvPr/>
            </p:nvSpPr>
            <p:spPr>
              <a:xfrm>
                <a:off x="600075" y="5326062"/>
                <a:ext cx="9525" cy="30956"/>
              </a:xfrm>
              <a:custGeom>
                <a:avLst/>
                <a:gdLst/>
                <a:ahLst/>
                <a:cxnLst/>
                <a:rect l="l" t="t" r="r" b="b"/>
                <a:pathLst>
                  <a:path w="9525" h="30956">
                    <a:moveTo>
                      <a:pt x="0" y="0"/>
                    </a:moveTo>
                    <a:lnTo>
                      <a:pt x="0" y="30956"/>
                    </a:lnTo>
                  </a:path>
                </a:pathLst>
              </a:custGeom>
              <a:noFill/>
              <a:ln w="20637">
                <a:solidFill>
                  <a:srgbClr val="D94329"/>
                </a:solidFill>
              </a:ln>
            </p:spPr>
          </p:sp>
          <p:sp>
            <p:nvSpPr>
              <p:cNvPr id="116" name="Freeform 116"/>
              <p:cNvSpPr/>
              <p:nvPr/>
            </p:nvSpPr>
            <p:spPr>
              <a:xfrm>
                <a:off x="641349" y="5326062"/>
                <a:ext cx="9525" cy="30956"/>
              </a:xfrm>
              <a:custGeom>
                <a:avLst/>
                <a:gdLst/>
                <a:ahLst/>
                <a:cxnLst/>
                <a:rect l="l" t="t" r="r" b="b"/>
                <a:pathLst>
                  <a:path w="9525" h="30956">
                    <a:moveTo>
                      <a:pt x="0" y="0"/>
                    </a:moveTo>
                    <a:lnTo>
                      <a:pt x="0" y="30956"/>
                    </a:lnTo>
                  </a:path>
                </a:pathLst>
              </a:custGeom>
              <a:noFill/>
              <a:ln w="20637">
                <a:solidFill>
                  <a:srgbClr val="D94329"/>
                </a:solidFill>
              </a:ln>
            </p:spPr>
          </p:sp>
        </p:grpSp>
        <p:sp>
          <p:nvSpPr>
            <p:cNvPr id="118" name="TextBox 118"/>
            <p:cNvSpPr txBox="1"/>
            <p:nvPr/>
          </p:nvSpPr>
          <p:spPr>
            <a:xfrm>
              <a:off x="813435" y="5260181"/>
              <a:ext cx="614528" cy="220028"/>
            </a:xfrm>
            <a:prstGeom prst="rect">
              <a:avLst/>
            </a:prstGeom>
            <a:noFill/>
            <a:ln>
              <a:noFill/>
            </a:ln>
          </p:spPr>
          <p:txBody>
            <a:bodyPr wrap="none" lIns="0" tIns="0" rIns="0" bIns="0" anchor="t" anchorCtr="0">
              <a:spAutoFit/>
            </a:bodyPr>
            <a:lstStyle/>
            <a:p>
              <a:pPr algn="l"/>
              <a:r>
                <a:rPr lang="zh-CN" sz="1120" b="1" dirty="0">
                  <a:solidFill>
                    <a:srgbClr val="7A1E0E"/>
                  </a:solidFill>
                  <a:latin typeface="+mn-lt"/>
                  <a:ea typeface="+mn-ea"/>
                  <a:cs typeface="+mn-cs"/>
                </a:rPr>
                <a:t>融资分化</a:t>
              </a:r>
            </a:p>
          </p:txBody>
        </p:sp>
        <p:grpSp>
          <p:nvGrpSpPr>
            <p:cNvPr id="121" name="Group 121"/>
            <p:cNvGrpSpPr/>
            <p:nvPr/>
          </p:nvGrpSpPr>
          <p:grpSpPr>
            <a:xfrm>
              <a:off x="2460625" y="5243512"/>
              <a:ext cx="165099" cy="143669"/>
              <a:chOff x="2460625" y="5243512"/>
              <a:chExt cx="165099" cy="143669"/>
            </a:xfrm>
          </p:grpSpPr>
          <p:sp>
            <p:nvSpPr>
              <p:cNvPr id="119" name="Freeform 119"/>
              <p:cNvSpPr/>
              <p:nvPr/>
            </p:nvSpPr>
            <p:spPr>
              <a:xfrm>
                <a:off x="2460625" y="5377656"/>
                <a:ext cx="165099" cy="9525"/>
              </a:xfrm>
              <a:custGeom>
                <a:avLst/>
                <a:gdLst/>
                <a:ahLst/>
                <a:cxnLst/>
                <a:rect l="l" t="t" r="r" b="b"/>
                <a:pathLst>
                  <a:path w="165099" h="9525">
                    <a:moveTo>
                      <a:pt x="0" y="0"/>
                    </a:moveTo>
                    <a:lnTo>
                      <a:pt x="165099" y="0"/>
                    </a:lnTo>
                  </a:path>
                </a:pathLst>
              </a:custGeom>
              <a:noFill/>
              <a:ln w="20637">
                <a:solidFill>
                  <a:srgbClr val="D3432A"/>
                </a:solidFill>
              </a:ln>
            </p:spPr>
          </p:sp>
          <p:sp>
            <p:nvSpPr>
              <p:cNvPr id="120" name="Freeform 120"/>
              <p:cNvSpPr/>
              <p:nvPr/>
            </p:nvSpPr>
            <p:spPr>
              <a:xfrm>
                <a:off x="2460625" y="5243512"/>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20637">
                <a:solidFill>
                  <a:srgbClr val="D3432A"/>
                </a:solidFill>
              </a:ln>
            </p:spPr>
          </p:sp>
        </p:grpSp>
        <p:sp>
          <p:nvSpPr>
            <p:cNvPr id="122" name="TextBox 122"/>
            <p:cNvSpPr txBox="1"/>
            <p:nvPr/>
          </p:nvSpPr>
          <p:spPr>
            <a:xfrm>
              <a:off x="2756535" y="5260181"/>
              <a:ext cx="614528" cy="220028"/>
            </a:xfrm>
            <a:prstGeom prst="rect">
              <a:avLst/>
            </a:prstGeom>
            <a:noFill/>
            <a:ln>
              <a:noFill/>
            </a:ln>
          </p:spPr>
          <p:txBody>
            <a:bodyPr wrap="none" lIns="0" tIns="0" rIns="0" bIns="0" anchor="t" anchorCtr="0">
              <a:spAutoFit/>
            </a:bodyPr>
            <a:lstStyle/>
            <a:p>
              <a:pPr algn="l"/>
              <a:r>
                <a:rPr lang="zh-CN" sz="1120" b="1" dirty="0">
                  <a:solidFill>
                    <a:srgbClr val="7A1E0E"/>
                  </a:solidFill>
                  <a:latin typeface="+mn-lt"/>
                  <a:ea typeface="+mn-ea"/>
                  <a:cs typeface="+mn-cs"/>
                </a:rPr>
                <a:t>息差承压</a:t>
              </a:r>
            </a:p>
          </p:txBody>
        </p:sp>
        <p:grpSp>
          <p:nvGrpSpPr>
            <p:cNvPr id="129" name="Group 129"/>
            <p:cNvGrpSpPr/>
            <p:nvPr/>
          </p:nvGrpSpPr>
          <p:grpSpPr>
            <a:xfrm>
              <a:off x="4393406" y="5212556"/>
              <a:ext cx="185737" cy="185737"/>
              <a:chOff x="4393406" y="5212556"/>
              <a:chExt cx="185737" cy="185737"/>
            </a:xfrm>
          </p:grpSpPr>
          <p:sp>
            <p:nvSpPr>
              <p:cNvPr id="123" name="Freeform 123"/>
              <p:cNvSpPr/>
              <p:nvPr/>
            </p:nvSpPr>
            <p:spPr>
              <a:xfrm>
                <a:off x="4465637" y="52951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C422A"/>
                </a:solidFill>
              </a:ln>
            </p:spPr>
          </p:sp>
          <p:sp>
            <p:nvSpPr>
              <p:cNvPr id="124" name="Freeform 124"/>
              <p:cNvSpPr/>
              <p:nvPr/>
            </p:nvSpPr>
            <p:spPr>
              <a:xfrm>
                <a:off x="4445000" y="536733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CC422A"/>
                </a:solidFill>
              </a:ln>
            </p:spPr>
          </p:sp>
          <p:sp>
            <p:nvSpPr>
              <p:cNvPr id="125" name="Freeform 125"/>
              <p:cNvSpPr/>
              <p:nvPr/>
            </p:nvSpPr>
            <p:spPr>
              <a:xfrm>
                <a:off x="4517231" y="52125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C422A"/>
                </a:solidFill>
              </a:ln>
            </p:spPr>
          </p:sp>
          <p:sp>
            <p:nvSpPr>
              <p:cNvPr id="126" name="Freeform 126"/>
              <p:cNvSpPr/>
              <p:nvPr/>
            </p:nvSpPr>
            <p:spPr>
              <a:xfrm>
                <a:off x="4537868" y="528478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CC422A"/>
                </a:solidFill>
              </a:ln>
            </p:spPr>
          </p:sp>
          <p:sp>
            <p:nvSpPr>
              <p:cNvPr id="127" name="Freeform 127"/>
              <p:cNvSpPr/>
              <p:nvPr/>
            </p:nvSpPr>
            <p:spPr>
              <a:xfrm>
                <a:off x="4414044" y="52125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C422A"/>
                </a:solidFill>
              </a:ln>
            </p:spPr>
          </p:sp>
          <p:sp>
            <p:nvSpPr>
              <p:cNvPr id="128" name="Freeform 128"/>
              <p:cNvSpPr/>
              <p:nvPr/>
            </p:nvSpPr>
            <p:spPr>
              <a:xfrm>
                <a:off x="4393406" y="528478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CC422A"/>
                </a:solidFill>
              </a:ln>
            </p:spPr>
          </p:sp>
        </p:grpSp>
        <p:sp>
          <p:nvSpPr>
            <p:cNvPr id="130" name="TextBox 130"/>
            <p:cNvSpPr txBox="1"/>
            <p:nvPr/>
          </p:nvSpPr>
          <p:spPr>
            <a:xfrm>
              <a:off x="4699635" y="5260181"/>
              <a:ext cx="614528" cy="220028"/>
            </a:xfrm>
            <a:prstGeom prst="rect">
              <a:avLst/>
            </a:prstGeom>
            <a:noFill/>
            <a:ln>
              <a:noFill/>
            </a:ln>
          </p:spPr>
          <p:txBody>
            <a:bodyPr wrap="none" lIns="0" tIns="0" rIns="0" bIns="0" anchor="t" anchorCtr="0">
              <a:spAutoFit/>
            </a:bodyPr>
            <a:lstStyle/>
            <a:p>
              <a:pPr algn="l"/>
              <a:r>
                <a:rPr lang="zh-CN" sz="1120" b="1" dirty="0">
                  <a:solidFill>
                    <a:srgbClr val="7A1E0E"/>
                  </a:solidFill>
                  <a:latin typeface="+mn-lt"/>
                  <a:ea typeface="+mn-ea"/>
                  <a:cs typeface="+mn-cs"/>
                </a:rPr>
                <a:t>存款竞争</a:t>
              </a:r>
            </a:p>
          </p:txBody>
        </p:sp>
        <p:grpSp>
          <p:nvGrpSpPr>
            <p:cNvPr id="133" name="Group 133"/>
            <p:cNvGrpSpPr/>
            <p:nvPr/>
          </p:nvGrpSpPr>
          <p:grpSpPr>
            <a:xfrm>
              <a:off x="6332209" y="5212556"/>
              <a:ext cx="194331" cy="185737"/>
              <a:chOff x="6332209" y="5212556"/>
              <a:chExt cx="194331" cy="185737"/>
            </a:xfrm>
          </p:grpSpPr>
          <p:sp>
            <p:nvSpPr>
              <p:cNvPr id="131" name="Freeform 131"/>
              <p:cNvSpPr/>
              <p:nvPr/>
            </p:nvSpPr>
            <p:spPr>
              <a:xfrm>
                <a:off x="6332209" y="5212556"/>
                <a:ext cx="194331" cy="185737"/>
              </a:xfrm>
              <a:custGeom>
                <a:avLst/>
                <a:gdLst/>
                <a:ahLst/>
                <a:cxnLst/>
                <a:rect l="l" t="t" r="r" b="b"/>
                <a:pathLst>
                  <a:path w="194331" h="185737">
                    <a:moveTo>
                      <a:pt x="97166" y="0"/>
                    </a:moveTo>
                    <a:cubicBezTo>
                      <a:pt x="121268" y="21324"/>
                      <a:pt x="152726" y="32427"/>
                      <a:pt x="184875" y="30956"/>
                    </a:cubicBezTo>
                    <a:cubicBezTo>
                      <a:pt x="194331" y="63125"/>
                      <a:pt x="190338" y="97754"/>
                      <a:pt x="173807" y="126926"/>
                    </a:cubicBezTo>
                    <a:cubicBezTo>
                      <a:pt x="157276" y="156098"/>
                      <a:pt x="129622" y="177318"/>
                      <a:pt x="97166" y="185737"/>
                    </a:cubicBezTo>
                    <a:cubicBezTo>
                      <a:pt x="64710" y="177318"/>
                      <a:pt x="37055" y="156098"/>
                      <a:pt x="20524" y="126926"/>
                    </a:cubicBezTo>
                    <a:cubicBezTo>
                      <a:pt x="3994" y="97754"/>
                      <a:pt x="0" y="63125"/>
                      <a:pt x="9457" y="30956"/>
                    </a:cubicBezTo>
                    <a:cubicBezTo>
                      <a:pt x="41605" y="32427"/>
                      <a:pt x="73063" y="21324"/>
                      <a:pt x="97166" y="0"/>
                    </a:cubicBezTo>
                  </a:path>
                </a:pathLst>
              </a:custGeom>
              <a:noFill/>
              <a:ln w="20637">
                <a:solidFill>
                  <a:srgbClr val="C54029"/>
                </a:solidFill>
              </a:ln>
            </p:spPr>
          </p:sp>
          <p:sp>
            <p:nvSpPr>
              <p:cNvPr id="132" name="Freeform 132"/>
              <p:cNvSpPr/>
              <p:nvPr/>
            </p:nvSpPr>
            <p:spPr>
              <a:xfrm>
                <a:off x="6429375" y="5212556"/>
                <a:ext cx="9525" cy="185737"/>
              </a:xfrm>
              <a:custGeom>
                <a:avLst/>
                <a:gdLst/>
                <a:ahLst/>
                <a:cxnLst/>
                <a:rect l="l" t="t" r="r" b="b"/>
                <a:pathLst>
                  <a:path w="9525" h="185737">
                    <a:moveTo>
                      <a:pt x="0" y="0"/>
                    </a:moveTo>
                    <a:lnTo>
                      <a:pt x="0" y="185737"/>
                    </a:lnTo>
                  </a:path>
                </a:pathLst>
              </a:custGeom>
              <a:noFill/>
              <a:ln w="20637">
                <a:solidFill>
                  <a:srgbClr val="C54029"/>
                </a:solidFill>
              </a:ln>
            </p:spPr>
          </p:sp>
        </p:grpSp>
        <p:sp>
          <p:nvSpPr>
            <p:cNvPr id="134" name="TextBox 134"/>
            <p:cNvSpPr txBox="1"/>
            <p:nvPr/>
          </p:nvSpPr>
          <p:spPr>
            <a:xfrm>
              <a:off x="6642735" y="5260181"/>
              <a:ext cx="614528" cy="220028"/>
            </a:xfrm>
            <a:prstGeom prst="rect">
              <a:avLst/>
            </a:prstGeom>
            <a:noFill/>
            <a:ln>
              <a:noFill/>
            </a:ln>
          </p:spPr>
          <p:txBody>
            <a:bodyPr wrap="none" lIns="0" tIns="0" rIns="0" bIns="0" anchor="t" anchorCtr="0">
              <a:spAutoFit/>
            </a:bodyPr>
            <a:lstStyle/>
            <a:p>
              <a:pPr algn="l"/>
              <a:r>
                <a:rPr lang="zh-CN" sz="1120" b="1" dirty="0">
                  <a:solidFill>
                    <a:srgbClr val="7A1E0E"/>
                  </a:solidFill>
                  <a:latin typeface="+mn-lt"/>
                  <a:ea typeface="+mn-ea"/>
                  <a:cs typeface="+mn-cs"/>
                </a:rPr>
                <a:t>零售风险</a:t>
              </a:r>
            </a:p>
          </p:txBody>
        </p:sp>
        <p:grpSp>
          <p:nvGrpSpPr>
            <p:cNvPr id="138" name="Group 138"/>
            <p:cNvGrpSpPr/>
            <p:nvPr/>
          </p:nvGrpSpPr>
          <p:grpSpPr>
            <a:xfrm>
              <a:off x="8289925" y="5212556"/>
              <a:ext cx="165099" cy="185737"/>
              <a:chOff x="8289925" y="5212556"/>
              <a:chExt cx="165099" cy="185737"/>
            </a:xfrm>
          </p:grpSpPr>
          <p:sp>
            <p:nvSpPr>
              <p:cNvPr id="135" name="Freeform 135"/>
              <p:cNvSpPr/>
              <p:nvPr/>
            </p:nvSpPr>
            <p:spPr>
              <a:xfrm>
                <a:off x="8289925" y="521255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BF402A"/>
                </a:solidFill>
              </a:ln>
            </p:spPr>
          </p:sp>
          <p:sp>
            <p:nvSpPr>
              <p:cNvPr id="136" name="Freeform 136"/>
              <p:cNvSpPr/>
              <p:nvPr/>
            </p:nvSpPr>
            <p:spPr>
              <a:xfrm>
                <a:off x="8289925" y="524351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BF402A"/>
                </a:solidFill>
              </a:ln>
            </p:spPr>
          </p:sp>
          <p:sp>
            <p:nvSpPr>
              <p:cNvPr id="137" name="Freeform 137"/>
              <p:cNvSpPr/>
              <p:nvPr/>
            </p:nvSpPr>
            <p:spPr>
              <a:xfrm>
                <a:off x="8289925" y="530542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BF402A"/>
                </a:solidFill>
              </a:ln>
            </p:spPr>
          </p:sp>
        </p:grpSp>
        <p:sp>
          <p:nvSpPr>
            <p:cNvPr id="139" name="TextBox 139"/>
            <p:cNvSpPr txBox="1"/>
            <p:nvPr/>
          </p:nvSpPr>
          <p:spPr>
            <a:xfrm>
              <a:off x="8585835" y="5260181"/>
              <a:ext cx="614528" cy="220028"/>
            </a:xfrm>
            <a:prstGeom prst="rect">
              <a:avLst/>
            </a:prstGeom>
            <a:noFill/>
            <a:ln>
              <a:noFill/>
            </a:ln>
          </p:spPr>
          <p:txBody>
            <a:bodyPr wrap="none" lIns="0" tIns="0" rIns="0" bIns="0" anchor="t" anchorCtr="0">
              <a:spAutoFit/>
            </a:bodyPr>
            <a:lstStyle/>
            <a:p>
              <a:pPr algn="l"/>
              <a:r>
                <a:rPr lang="zh-CN" sz="1120" b="1" dirty="0">
                  <a:solidFill>
                    <a:srgbClr val="7A1E0E"/>
                  </a:solidFill>
                  <a:latin typeface="+mn-lt"/>
                  <a:ea typeface="+mn-ea"/>
                  <a:cs typeface="+mn-cs"/>
                </a:rPr>
                <a:t>中收压力</a:t>
              </a:r>
            </a:p>
          </p:txBody>
        </p:sp>
        <p:grpSp>
          <p:nvGrpSpPr>
            <p:cNvPr id="142" name="Group 142"/>
            <p:cNvGrpSpPr/>
            <p:nvPr/>
          </p:nvGrpSpPr>
          <p:grpSpPr>
            <a:xfrm>
              <a:off x="10218176" y="5208026"/>
              <a:ext cx="194797" cy="194797"/>
              <a:chOff x="10218176" y="5208026"/>
              <a:chExt cx="194797" cy="194797"/>
            </a:xfrm>
          </p:grpSpPr>
          <p:sp>
            <p:nvSpPr>
              <p:cNvPr id="140" name="Freeform 140"/>
              <p:cNvSpPr/>
              <p:nvPr/>
            </p:nvSpPr>
            <p:spPr>
              <a:xfrm>
                <a:off x="10218176" y="5208026"/>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B83E29"/>
                </a:solidFill>
              </a:ln>
            </p:spPr>
          </p:sp>
          <p:sp>
            <p:nvSpPr>
              <p:cNvPr id="141" name="Freeform 141"/>
              <p:cNvSpPr/>
              <p:nvPr/>
            </p:nvSpPr>
            <p:spPr>
              <a:xfrm>
                <a:off x="10284618" y="5274468"/>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B83E29"/>
                </a:solidFill>
              </a:ln>
            </p:spPr>
          </p:sp>
        </p:grpSp>
        <p:sp>
          <p:nvSpPr>
            <p:cNvPr id="143" name="TextBox 143"/>
            <p:cNvSpPr txBox="1"/>
            <p:nvPr/>
          </p:nvSpPr>
          <p:spPr>
            <a:xfrm>
              <a:off x="10528935" y="5260181"/>
              <a:ext cx="614528" cy="220028"/>
            </a:xfrm>
            <a:prstGeom prst="rect">
              <a:avLst/>
            </a:prstGeom>
            <a:noFill/>
            <a:ln>
              <a:noFill/>
            </a:ln>
          </p:spPr>
          <p:txBody>
            <a:bodyPr wrap="none" lIns="0" tIns="0" rIns="0" bIns="0" anchor="t" anchorCtr="0">
              <a:spAutoFit/>
            </a:bodyPr>
            <a:lstStyle/>
            <a:p>
              <a:pPr algn="l"/>
              <a:r>
                <a:rPr lang="zh-CN" sz="1120" b="1" dirty="0">
                  <a:solidFill>
                    <a:srgbClr val="7A1E0E"/>
                  </a:solidFill>
                  <a:latin typeface="+mn-lt"/>
                  <a:ea typeface="+mn-ea"/>
                  <a:cs typeface="+mn-cs"/>
                </a:rPr>
                <a:t>精细运营</a:t>
              </a:r>
            </a:p>
          </p:txBody>
        </p:sp>
      </p:grpSp>
      <p:grpSp>
        <p:nvGrpSpPr>
          <p:cNvPr id="152" name="mainline-band"/>
          <p:cNvGrpSpPr/>
          <p:nvPr/>
        </p:nvGrpSpPr>
        <p:grpSpPr>
          <a:xfrm>
            <a:off x="266700" y="5886450"/>
            <a:ext cx="11658600" cy="533400"/>
            <a:chOff x="266700" y="5886450"/>
            <a:chExt cx="11658600" cy="533400"/>
          </a:xfrm>
        </p:grpSpPr>
        <p:sp>
          <p:nvSpPr>
            <p:cNvPr id="145" name="Rectangle 145"/>
            <p:cNvSpPr/>
            <p:nvPr/>
          </p:nvSpPr>
          <p:spPr>
            <a:xfrm>
              <a:off x="266700" y="5886450"/>
              <a:ext cx="11658600" cy="533400"/>
            </a:xfrm>
            <a:prstGeom prst="roundRect">
              <a:avLst>
                <a:gd name="adj" fmla="val 17857"/>
              </a:avLst>
            </a:prstGeom>
            <a:solidFill>
              <a:srgbClr val="EFF5FD"/>
            </a:solidFill>
            <a:ln w="9525">
              <a:solidFill>
                <a:srgbClr val="D7E2F2"/>
              </a:solidFill>
            </a:ln>
          </p:spPr>
        </p:sp>
        <p:sp>
          <p:nvSpPr>
            <p:cNvPr id="146" name="Ellipse 146"/>
            <p:cNvSpPr/>
            <p:nvPr/>
          </p:nvSpPr>
          <p:spPr>
            <a:xfrm>
              <a:off x="3562350" y="5972175"/>
              <a:ext cx="361950" cy="361950"/>
            </a:xfrm>
            <a:prstGeom prst="ellipse">
              <a:avLst/>
            </a:prstGeom>
            <a:solidFill>
              <a:srgbClr val="841600"/>
            </a:solidFill>
            <a:ln>
              <a:noFill/>
            </a:ln>
          </p:spPr>
        </p:sp>
        <p:grpSp>
          <p:nvGrpSpPr>
            <p:cNvPr id="150" name="Group 150"/>
            <p:cNvGrpSpPr/>
            <p:nvPr/>
          </p:nvGrpSpPr>
          <p:grpSpPr>
            <a:xfrm>
              <a:off x="3664744" y="6074569"/>
              <a:ext cx="157163" cy="157163"/>
              <a:chOff x="3664744" y="6074569"/>
              <a:chExt cx="157163" cy="157163"/>
            </a:xfrm>
          </p:grpSpPr>
          <p:sp>
            <p:nvSpPr>
              <p:cNvPr id="147" name="Freeform 147"/>
              <p:cNvSpPr/>
              <p:nvPr/>
            </p:nvSpPr>
            <p:spPr>
              <a:xfrm>
                <a:off x="3734594" y="614441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148" name="Freeform 148"/>
              <p:cNvSpPr/>
              <p:nvPr/>
            </p:nvSpPr>
            <p:spPr>
              <a:xfrm>
                <a:off x="3699669" y="610949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149" name="Freeform 149"/>
              <p:cNvSpPr/>
              <p:nvPr/>
            </p:nvSpPr>
            <p:spPr>
              <a:xfrm>
                <a:off x="3664744" y="60745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151" name="TextBox 151"/>
            <p:cNvSpPr txBox="1"/>
            <p:nvPr/>
          </p:nvSpPr>
          <p:spPr>
            <a:xfrm>
              <a:off x="4040124" y="6059329"/>
              <a:ext cx="5120792" cy="308039"/>
            </a:xfrm>
            <a:prstGeom prst="rect">
              <a:avLst/>
            </a:prstGeom>
            <a:noFill/>
            <a:ln>
              <a:noFill/>
            </a:ln>
          </p:spPr>
          <p:txBody>
            <a:bodyPr wrap="none" lIns="0" tIns="0" rIns="0" bIns="0" anchor="t" anchorCtr="0">
              <a:spAutoFit/>
            </a:bodyPr>
            <a:lstStyle/>
            <a:p>
              <a:pPr algn="l"/>
              <a:r>
                <a:rPr lang="zh-CN" sz="1580" b="1" dirty="0">
                  <a:solidFill>
                    <a:srgbClr val="841600"/>
                  </a:solidFill>
                  <a:latin typeface="+mn-lt"/>
                  <a:ea typeface="+mn-ea"/>
                  <a:cs typeface="+mn-cs"/>
                </a:rPr>
                <a:t>经营主线：稳规模、优结构、提效益、控风险、增客户</a:t>
              </a:r>
            </a:p>
          </p:txBody>
        </p:sp>
      </p:gr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942594" y="151448"/>
              <a:ext cx="8063484"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总体目标</a:t>
              </a:r>
              <a:r>
                <a:rPr lang="zh-CN" sz="1950" b="1" dirty="0">
                  <a:solidFill>
                    <a:srgbClr val="1A1A1A"/>
                  </a:solidFill>
                  <a:latin typeface="SimSun"/>
                  <a:ea typeface="SimSun"/>
                  <a:cs typeface="SimSun"/>
                </a:rPr>
                <a:t>｜围绕规模、结构、效益、质量、客户五类目标组织经营</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8" name="page-subtitle"/>
          <p:cNvGrpSpPr/>
          <p:nvPr/>
        </p:nvGrpSpPr>
        <p:grpSpPr>
          <a:xfrm>
            <a:off x="947738" y="664845"/>
            <a:ext cx="4461739" cy="176212"/>
            <a:chOff x="947738" y="664845"/>
            <a:chExt cx="4461739" cy="176212"/>
          </a:xfrm>
        </p:grpSpPr>
        <p:sp>
          <p:nvSpPr>
            <p:cNvPr id="7" name="TextBox 7"/>
            <p:cNvSpPr txBox="1"/>
            <p:nvPr/>
          </p:nvSpPr>
          <p:spPr>
            <a:xfrm>
              <a:off x="947738" y="664845"/>
              <a:ext cx="4461739"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 xml:space="preserve">将年度任务分解到Q3、Q4，以五维指标协同推动规模增长、结构优化与质量稳定　</a:t>
              </a:r>
            </a:p>
          </p:txBody>
        </p:sp>
      </p:grpSp>
      <p:grpSp>
        <p:nvGrpSpPr>
          <p:cNvPr id="11" name="corner-tag"/>
          <p:cNvGrpSpPr/>
          <p:nvPr/>
        </p:nvGrpSpPr>
        <p:grpSpPr>
          <a:xfrm>
            <a:off x="10434638" y="608886"/>
            <a:ext cx="1457424" cy="254794"/>
            <a:chOff x="10434638" y="608886"/>
            <a:chExt cx="1457424" cy="254794"/>
          </a:xfrm>
        </p:grpSpPr>
        <p:sp>
          <p:nvSpPr>
            <p:cNvPr id="9" name="TextBox 9"/>
            <p:cNvSpPr txBox="1"/>
            <p:nvPr/>
          </p:nvSpPr>
          <p:spPr>
            <a:xfrm>
              <a:off x="10434638" y="608886"/>
              <a:ext cx="1109310" cy="140494"/>
            </a:xfrm>
            <a:prstGeom prst="rect">
              <a:avLst/>
            </a:prstGeom>
            <a:noFill/>
            <a:ln>
              <a:noFill/>
            </a:ln>
          </p:spPr>
          <p:txBody>
            <a:bodyPr wrap="none" lIns="0" tIns="0" rIns="0" bIns="0" anchor="t" anchorCtr="0">
              <a:spAutoFit/>
            </a:bodyPr>
            <a:lstStyle/>
            <a:p>
              <a:pPr algn="l"/>
              <a:r>
                <a:rPr lang="en-US" sz="710" dirty="0">
                  <a:solidFill>
                    <a:srgbClr val="987F7A"/>
                  </a:solidFill>
                  <a:latin typeface="Arial"/>
                  <a:ea typeface="Arial"/>
                  <a:cs typeface="Arial"/>
                </a:rPr>
                <a:t>OPERATING TARGETS</a:t>
              </a:r>
            </a:p>
          </p:txBody>
        </p:sp>
        <p:sp>
          <p:nvSpPr>
            <p:cNvPr id="10" name="TextBox 10"/>
            <p:cNvSpPr txBox="1"/>
            <p:nvPr/>
          </p:nvSpPr>
          <p:spPr>
            <a:xfrm>
              <a:off x="10434638" y="723186"/>
              <a:ext cx="1457424" cy="140494"/>
            </a:xfrm>
            <a:prstGeom prst="rect">
              <a:avLst/>
            </a:prstGeom>
            <a:noFill/>
            <a:ln>
              <a:noFill/>
            </a:ln>
          </p:spPr>
          <p:txBody>
            <a:bodyPr wrap="none" lIns="0" tIns="0" rIns="0" bIns="0" anchor="t" anchorCtr="0">
              <a:spAutoFit/>
            </a:bodyPr>
            <a:lstStyle/>
            <a:p>
              <a:pPr algn="l"/>
              <a:r>
                <a:rPr lang="en-US" sz="710" dirty="0">
                  <a:solidFill>
                    <a:srgbClr val="987F7A"/>
                  </a:solidFill>
                  <a:latin typeface="Arial"/>
                  <a:ea typeface="Arial"/>
                  <a:cs typeface="Arial"/>
                </a:rPr>
                <a:t>2026 H2 · PRESIDENT OFFICE</a:t>
              </a:r>
            </a:p>
          </p:txBody>
        </p:sp>
      </p:grpSp>
      <p:grpSp>
        <p:nvGrpSpPr>
          <p:cNvPr id="136" name="target-system"/>
          <p:cNvGrpSpPr/>
          <p:nvPr/>
        </p:nvGrpSpPr>
        <p:grpSpPr>
          <a:xfrm>
            <a:off x="266700" y="876300"/>
            <a:ext cx="7372350" cy="4476750"/>
            <a:chOff x="266700" y="876300"/>
            <a:chExt cx="7372350" cy="4476750"/>
          </a:xfrm>
        </p:grpSpPr>
        <p:sp>
          <p:nvSpPr>
            <p:cNvPr id="12" name="Rectangle 12"/>
            <p:cNvSpPr/>
            <p:nvPr/>
          </p:nvSpPr>
          <p:spPr>
            <a:xfrm>
              <a:off x="266700" y="876300"/>
              <a:ext cx="7372350" cy="4476750"/>
            </a:xfrm>
            <a:prstGeom prst="roundRect">
              <a:avLst>
                <a:gd name="adj" fmla="val 2128"/>
              </a:avLst>
            </a:prstGeom>
            <a:solidFill>
              <a:srgbClr val="FFFFFF"/>
            </a:solidFill>
            <a:ln w="9525">
              <a:solidFill>
                <a:srgbClr val="D7E2F2"/>
              </a:solidFill>
            </a:ln>
          </p:spPr>
        </p:sp>
        <p:sp>
          <p:nvSpPr>
            <p:cNvPr id="13" name="Rectangle 13"/>
            <p:cNvSpPr/>
            <p:nvPr/>
          </p:nvSpPr>
          <p:spPr>
            <a:xfrm>
              <a:off x="266700" y="876300"/>
              <a:ext cx="7372350" cy="400050"/>
            </a:xfrm>
            <a:prstGeom prst="roundRect">
              <a:avLst>
                <a:gd name="adj" fmla="val 23810"/>
              </a:avLst>
            </a:prstGeom>
            <a:solidFill>
              <a:srgbClr val="841600"/>
            </a:solidFill>
            <a:ln>
              <a:noFill/>
            </a:ln>
          </p:spPr>
        </p:sp>
        <p:sp>
          <p:nvSpPr>
            <p:cNvPr id="14" name="Rectangle 14"/>
            <p:cNvSpPr/>
            <p:nvPr/>
          </p:nvSpPr>
          <p:spPr>
            <a:xfrm>
              <a:off x="266700" y="1104900"/>
              <a:ext cx="7372350" cy="171450"/>
            </a:xfrm>
            <a:prstGeom prst="rect">
              <a:avLst/>
            </a:prstGeom>
            <a:solidFill>
              <a:srgbClr val="841600"/>
            </a:solidFill>
            <a:ln>
              <a:noFill/>
            </a:ln>
          </p:spPr>
        </p:sp>
        <p:sp>
          <p:nvSpPr>
            <p:cNvPr id="15" name="TextBox 15"/>
            <p:cNvSpPr txBox="1"/>
            <p:nvPr/>
          </p:nvSpPr>
          <p:spPr>
            <a:xfrm>
              <a:off x="2736557" y="1006792"/>
              <a:ext cx="2432635"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 xml:space="preserve">2026年下半年经营目标体系　</a:t>
              </a:r>
            </a:p>
          </p:txBody>
        </p:sp>
        <p:sp>
          <p:nvSpPr>
            <p:cNvPr id="16" name="Line 16"/>
            <p:cNvSpPr/>
            <p:nvPr/>
          </p:nvSpPr>
          <p:spPr>
            <a:xfrm>
              <a:off x="3952875" y="1276350"/>
              <a:ext cx="9525" cy="133350"/>
            </a:xfrm>
            <a:custGeom>
              <a:avLst/>
              <a:gdLst/>
              <a:ahLst/>
              <a:cxnLst/>
              <a:rect l="l" t="t" r="r" b="b"/>
              <a:pathLst>
                <a:path w="9525" h="133350">
                  <a:moveTo>
                    <a:pt x="0" y="0"/>
                  </a:moveTo>
                  <a:lnTo>
                    <a:pt x="0" y="133350"/>
                  </a:lnTo>
                </a:path>
              </a:pathLst>
            </a:custGeom>
            <a:noFill/>
            <a:ln w="14288">
              <a:solidFill>
                <a:srgbClr val="E3907F"/>
              </a:solidFill>
            </a:ln>
          </p:spPr>
        </p:sp>
        <p:sp>
          <p:nvSpPr>
            <p:cNvPr id="17" name="Line 17"/>
            <p:cNvSpPr/>
            <p:nvPr/>
          </p:nvSpPr>
          <p:spPr>
            <a:xfrm>
              <a:off x="1047750" y="1409700"/>
              <a:ext cx="5867400" cy="9525"/>
            </a:xfrm>
            <a:custGeom>
              <a:avLst/>
              <a:gdLst/>
              <a:ahLst/>
              <a:cxnLst/>
              <a:rect l="l" t="t" r="r" b="b"/>
              <a:pathLst>
                <a:path w="5867400" h="9525">
                  <a:moveTo>
                    <a:pt x="0" y="0"/>
                  </a:moveTo>
                  <a:lnTo>
                    <a:pt x="5867400" y="0"/>
                  </a:lnTo>
                </a:path>
              </a:pathLst>
            </a:custGeom>
            <a:noFill/>
            <a:ln w="14288">
              <a:solidFill>
                <a:srgbClr val="E3907F"/>
              </a:solidFill>
            </a:ln>
          </p:spPr>
        </p:sp>
        <p:sp>
          <p:nvSpPr>
            <p:cNvPr id="18" name="Line 18"/>
            <p:cNvSpPr/>
            <p:nvPr/>
          </p:nvSpPr>
          <p:spPr>
            <a:xfrm>
              <a:off x="1047750" y="1409700"/>
              <a:ext cx="9525" cy="133350"/>
            </a:xfrm>
            <a:custGeom>
              <a:avLst/>
              <a:gdLst/>
              <a:ahLst/>
              <a:cxnLst/>
              <a:rect l="l" t="t" r="r" b="b"/>
              <a:pathLst>
                <a:path w="9525" h="133350">
                  <a:moveTo>
                    <a:pt x="0" y="0"/>
                  </a:moveTo>
                  <a:lnTo>
                    <a:pt x="0" y="133350"/>
                  </a:lnTo>
                </a:path>
              </a:pathLst>
            </a:custGeom>
            <a:noFill/>
            <a:ln w="14288">
              <a:solidFill>
                <a:srgbClr val="E3907F"/>
              </a:solidFill>
            </a:ln>
          </p:spPr>
        </p:sp>
        <p:sp>
          <p:nvSpPr>
            <p:cNvPr id="19" name="Line 19"/>
            <p:cNvSpPr/>
            <p:nvPr/>
          </p:nvSpPr>
          <p:spPr>
            <a:xfrm>
              <a:off x="2514600" y="1409700"/>
              <a:ext cx="9525" cy="133350"/>
            </a:xfrm>
            <a:custGeom>
              <a:avLst/>
              <a:gdLst/>
              <a:ahLst/>
              <a:cxnLst/>
              <a:rect l="l" t="t" r="r" b="b"/>
              <a:pathLst>
                <a:path w="9525" h="133350">
                  <a:moveTo>
                    <a:pt x="0" y="0"/>
                  </a:moveTo>
                  <a:lnTo>
                    <a:pt x="0" y="133350"/>
                  </a:lnTo>
                </a:path>
              </a:pathLst>
            </a:custGeom>
            <a:noFill/>
            <a:ln w="14288">
              <a:solidFill>
                <a:srgbClr val="E3907F"/>
              </a:solidFill>
            </a:ln>
          </p:spPr>
        </p:sp>
        <p:sp>
          <p:nvSpPr>
            <p:cNvPr id="20" name="Line 20"/>
            <p:cNvSpPr/>
            <p:nvPr/>
          </p:nvSpPr>
          <p:spPr>
            <a:xfrm>
              <a:off x="3981450" y="1409700"/>
              <a:ext cx="9525" cy="133350"/>
            </a:xfrm>
            <a:custGeom>
              <a:avLst/>
              <a:gdLst/>
              <a:ahLst/>
              <a:cxnLst/>
              <a:rect l="l" t="t" r="r" b="b"/>
              <a:pathLst>
                <a:path w="9525" h="133350">
                  <a:moveTo>
                    <a:pt x="0" y="0"/>
                  </a:moveTo>
                  <a:lnTo>
                    <a:pt x="0" y="133350"/>
                  </a:lnTo>
                </a:path>
              </a:pathLst>
            </a:custGeom>
            <a:noFill/>
            <a:ln w="14288">
              <a:solidFill>
                <a:srgbClr val="E3907F"/>
              </a:solidFill>
            </a:ln>
          </p:spPr>
        </p:sp>
        <p:sp>
          <p:nvSpPr>
            <p:cNvPr id="21" name="Line 21"/>
            <p:cNvSpPr/>
            <p:nvPr/>
          </p:nvSpPr>
          <p:spPr>
            <a:xfrm>
              <a:off x="5448300" y="1409700"/>
              <a:ext cx="9525" cy="133350"/>
            </a:xfrm>
            <a:custGeom>
              <a:avLst/>
              <a:gdLst/>
              <a:ahLst/>
              <a:cxnLst/>
              <a:rect l="l" t="t" r="r" b="b"/>
              <a:pathLst>
                <a:path w="9525" h="133350">
                  <a:moveTo>
                    <a:pt x="0" y="0"/>
                  </a:moveTo>
                  <a:lnTo>
                    <a:pt x="0" y="133350"/>
                  </a:lnTo>
                </a:path>
              </a:pathLst>
            </a:custGeom>
            <a:noFill/>
            <a:ln w="14288">
              <a:solidFill>
                <a:srgbClr val="E3907F"/>
              </a:solidFill>
            </a:ln>
          </p:spPr>
        </p:sp>
        <p:sp>
          <p:nvSpPr>
            <p:cNvPr id="22" name="Line 22"/>
            <p:cNvSpPr/>
            <p:nvPr/>
          </p:nvSpPr>
          <p:spPr>
            <a:xfrm>
              <a:off x="6915150" y="1409700"/>
              <a:ext cx="9525" cy="133350"/>
            </a:xfrm>
            <a:custGeom>
              <a:avLst/>
              <a:gdLst/>
              <a:ahLst/>
              <a:cxnLst/>
              <a:rect l="l" t="t" r="r" b="b"/>
              <a:pathLst>
                <a:path w="9525" h="133350">
                  <a:moveTo>
                    <a:pt x="0" y="0"/>
                  </a:moveTo>
                  <a:lnTo>
                    <a:pt x="0" y="133350"/>
                  </a:lnTo>
                </a:path>
              </a:pathLst>
            </a:custGeom>
            <a:noFill/>
            <a:ln w="14288">
              <a:solidFill>
                <a:srgbClr val="E3907F"/>
              </a:solidFill>
            </a:ln>
          </p:spPr>
        </p:sp>
        <p:grpSp>
          <p:nvGrpSpPr>
            <p:cNvPr id="41" name="target-a"/>
            <p:cNvGrpSpPr/>
            <p:nvPr/>
          </p:nvGrpSpPr>
          <p:grpSpPr>
            <a:xfrm>
              <a:off x="361950" y="1543050"/>
              <a:ext cx="1371600" cy="3714750"/>
              <a:chOff x="361950" y="1543050"/>
              <a:chExt cx="1371600" cy="3714750"/>
            </a:xfrm>
          </p:grpSpPr>
          <p:sp>
            <p:nvSpPr>
              <p:cNvPr id="23" name="Rectangle 23"/>
              <p:cNvSpPr/>
              <p:nvPr/>
            </p:nvSpPr>
            <p:spPr>
              <a:xfrm>
                <a:off x="361950" y="1543050"/>
                <a:ext cx="1371600" cy="3714750"/>
              </a:xfrm>
              <a:prstGeom prst="roundRect">
                <a:avLst>
                  <a:gd name="adj" fmla="val 5556"/>
                </a:avLst>
              </a:prstGeom>
              <a:solidFill>
                <a:srgbClr val="EFF5FD"/>
              </a:solidFill>
              <a:ln w="9525">
                <a:solidFill>
                  <a:srgbClr val="D7E2F2"/>
                </a:solidFill>
              </a:ln>
            </p:spPr>
          </p:sp>
          <p:sp>
            <p:nvSpPr>
              <p:cNvPr id="24" name="Ellipse 24"/>
              <p:cNvSpPr/>
              <p:nvPr/>
            </p:nvSpPr>
            <p:spPr>
              <a:xfrm>
                <a:off x="447675" y="1647825"/>
                <a:ext cx="247650" cy="247650"/>
              </a:xfrm>
              <a:prstGeom prst="ellipse">
                <a:avLst/>
              </a:prstGeom>
              <a:solidFill>
                <a:srgbClr val="841600"/>
              </a:solidFill>
              <a:ln>
                <a:noFill/>
              </a:ln>
            </p:spPr>
          </p:sp>
          <p:sp>
            <p:nvSpPr>
              <p:cNvPr id="25" name="TextBox 25"/>
              <p:cNvSpPr txBox="1"/>
              <p:nvPr/>
            </p:nvSpPr>
            <p:spPr>
              <a:xfrm>
                <a:off x="526297" y="1714024"/>
                <a:ext cx="904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A</a:t>
                </a:r>
              </a:p>
            </p:txBody>
          </p:sp>
          <p:sp>
            <p:nvSpPr>
              <p:cNvPr id="26" name="TextBox 26"/>
              <p:cNvSpPr txBox="1"/>
              <p:nvPr/>
            </p:nvSpPr>
            <p:spPr>
              <a:xfrm>
                <a:off x="756285" y="1697831"/>
                <a:ext cx="614528"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规模增长</a:t>
                </a:r>
              </a:p>
            </p:txBody>
          </p:sp>
          <p:sp>
            <p:nvSpPr>
              <p:cNvPr id="27" name="TextBox 27"/>
              <p:cNvSpPr txBox="1"/>
              <p:nvPr/>
            </p:nvSpPr>
            <p:spPr>
              <a:xfrm>
                <a:off x="471488" y="2021443"/>
                <a:ext cx="472618"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存款日均</a:t>
                </a:r>
              </a:p>
            </p:txBody>
          </p:sp>
          <p:sp>
            <p:nvSpPr>
              <p:cNvPr id="28" name="TextBox 28"/>
              <p:cNvSpPr txBox="1"/>
              <p:nvPr/>
            </p:nvSpPr>
            <p:spPr>
              <a:xfrm>
                <a:off x="470535" y="2164556"/>
                <a:ext cx="748340"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1,280亿　</a:t>
                </a:r>
              </a:p>
            </p:txBody>
          </p:sp>
          <p:sp>
            <p:nvSpPr>
              <p:cNvPr id="29" name="TextBox 29"/>
              <p:cNvSpPr txBox="1"/>
              <p:nvPr/>
            </p:nvSpPr>
            <p:spPr>
              <a:xfrm>
                <a:off x="471488" y="2440543"/>
                <a:ext cx="472618"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贷款余额</a:t>
                </a:r>
              </a:p>
            </p:txBody>
          </p:sp>
          <p:sp>
            <p:nvSpPr>
              <p:cNvPr id="30" name="TextBox 30"/>
              <p:cNvSpPr txBox="1"/>
              <p:nvPr/>
            </p:nvSpPr>
            <p:spPr>
              <a:xfrm>
                <a:off x="470535" y="2583656"/>
                <a:ext cx="748340"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1,060亿　</a:t>
                </a:r>
              </a:p>
            </p:txBody>
          </p:sp>
          <p:sp>
            <p:nvSpPr>
              <p:cNvPr id="31" name="TextBox 31"/>
              <p:cNvSpPr txBox="1"/>
              <p:nvPr/>
            </p:nvSpPr>
            <p:spPr>
              <a:xfrm>
                <a:off x="471488" y="2859643"/>
                <a:ext cx="241071"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零售</a:t>
                </a:r>
              </a:p>
            </p:txBody>
          </p:sp>
          <p:sp>
            <p:nvSpPr>
              <p:cNvPr id="32" name="TextBox 32"/>
              <p:cNvSpPr txBox="1"/>
              <p:nvPr/>
            </p:nvSpPr>
            <p:spPr>
              <a:xfrm>
                <a:off x="719138" y="2859643"/>
                <a:ext cx="281359" cy="169069"/>
              </a:xfrm>
              <a:prstGeom prst="rect">
                <a:avLst/>
              </a:prstGeom>
              <a:noFill/>
              <a:ln>
                <a:noFill/>
              </a:ln>
            </p:spPr>
            <p:txBody>
              <a:bodyPr wrap="none" lIns="0" tIns="0" rIns="0" bIns="0" anchor="t" anchorCtr="0">
                <a:spAutoFit/>
              </a:bodyPr>
              <a:lstStyle/>
              <a:p>
                <a:pPr algn="l"/>
                <a:r>
                  <a:rPr lang="en-US" sz="860" dirty="0">
                    <a:solidFill>
                      <a:srgbClr val="7E605A"/>
                    </a:solidFill>
                    <a:latin typeface="Arial"/>
                    <a:ea typeface="Arial"/>
                    <a:cs typeface="Arial"/>
                  </a:rPr>
                  <a:t>AUM</a:t>
                </a:r>
              </a:p>
            </p:txBody>
          </p:sp>
          <p:sp>
            <p:nvSpPr>
              <p:cNvPr id="33" name="TextBox 33"/>
              <p:cNvSpPr txBox="1"/>
              <p:nvPr/>
            </p:nvSpPr>
            <p:spPr>
              <a:xfrm>
                <a:off x="470535" y="3002756"/>
                <a:ext cx="574195"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860亿　</a:t>
                </a:r>
              </a:p>
            </p:txBody>
          </p:sp>
          <p:sp>
            <p:nvSpPr>
              <p:cNvPr id="34" name="Freeform 34"/>
              <p:cNvSpPr/>
              <p:nvPr/>
            </p:nvSpPr>
            <p:spPr>
              <a:xfrm>
                <a:off x="495300" y="4238625"/>
                <a:ext cx="1104900" cy="866775"/>
              </a:xfrm>
              <a:custGeom>
                <a:avLst/>
                <a:gdLst/>
                <a:ahLst/>
                <a:cxnLst/>
                <a:rect l="l" t="t" r="r" b="b"/>
                <a:pathLst>
                  <a:path w="1104900" h="866775">
                    <a:moveTo>
                      <a:pt x="0" y="866775"/>
                    </a:moveTo>
                    <a:lnTo>
                      <a:pt x="0" y="714375"/>
                    </a:lnTo>
                    <a:lnTo>
                      <a:pt x="247650" y="523875"/>
                    </a:lnTo>
                    <a:lnTo>
                      <a:pt x="495300" y="600075"/>
                    </a:lnTo>
                    <a:lnTo>
                      <a:pt x="742950" y="314325"/>
                    </a:lnTo>
                    <a:lnTo>
                      <a:pt x="990600" y="95250"/>
                    </a:lnTo>
                    <a:lnTo>
                      <a:pt x="1104900" y="0"/>
                    </a:lnTo>
                    <a:lnTo>
                      <a:pt x="1104900" y="866775"/>
                    </a:lnTo>
                    <a:close/>
                  </a:path>
                </a:pathLst>
              </a:custGeom>
              <a:gradFill>
                <a:gsLst>
                  <a:gs pos="0">
                    <a:srgbClr val="E3907F">
                      <a:alpha val="55000"/>
                    </a:srgbClr>
                  </a:gs>
                  <a:gs pos="100000">
                    <a:srgbClr val="E3907F">
                      <a:alpha val="5000"/>
                    </a:srgbClr>
                  </a:gs>
                </a:gsLst>
                <a:lin ang="5400000" scaled="1"/>
              </a:gradFill>
              <a:ln>
                <a:noFill/>
              </a:ln>
            </p:spPr>
          </p:sp>
          <p:sp>
            <p:nvSpPr>
              <p:cNvPr id="35" name="Polyline 35"/>
              <p:cNvSpPr/>
              <p:nvPr/>
            </p:nvSpPr>
            <p:spPr>
              <a:xfrm>
                <a:off x="495300" y="4238625"/>
                <a:ext cx="1104900" cy="714375"/>
              </a:xfrm>
              <a:custGeom>
                <a:avLst/>
                <a:gdLst/>
                <a:ahLst/>
                <a:cxnLst/>
                <a:rect l="l" t="t" r="r" b="b"/>
                <a:pathLst>
                  <a:path w="1104900" h="714375">
                    <a:moveTo>
                      <a:pt x="0" y="714375"/>
                    </a:moveTo>
                    <a:lnTo>
                      <a:pt x="247650" y="523875"/>
                    </a:lnTo>
                    <a:lnTo>
                      <a:pt x="495300" y="600075"/>
                    </a:lnTo>
                    <a:lnTo>
                      <a:pt x="742950" y="314325"/>
                    </a:lnTo>
                    <a:lnTo>
                      <a:pt x="990600" y="95250"/>
                    </a:lnTo>
                    <a:lnTo>
                      <a:pt x="1104900" y="0"/>
                    </a:lnTo>
                  </a:path>
                </a:pathLst>
              </a:custGeom>
              <a:noFill/>
              <a:ln w="19050">
                <a:solidFill>
                  <a:srgbClr val="841600"/>
                </a:solidFill>
              </a:ln>
            </p:spPr>
          </p:sp>
          <p:sp>
            <p:nvSpPr>
              <p:cNvPr id="36" name="Ellipse 36"/>
              <p:cNvSpPr/>
              <p:nvPr/>
            </p:nvSpPr>
            <p:spPr>
              <a:xfrm>
                <a:off x="466725" y="4924425"/>
                <a:ext cx="57150" cy="57150"/>
              </a:xfrm>
              <a:prstGeom prst="ellipse">
                <a:avLst/>
              </a:prstGeom>
              <a:solidFill>
                <a:srgbClr val="841600"/>
              </a:solidFill>
              <a:ln>
                <a:noFill/>
              </a:ln>
            </p:spPr>
          </p:sp>
          <p:sp>
            <p:nvSpPr>
              <p:cNvPr id="37" name="Ellipse 37"/>
              <p:cNvSpPr/>
              <p:nvPr/>
            </p:nvSpPr>
            <p:spPr>
              <a:xfrm>
                <a:off x="714375" y="4733925"/>
                <a:ext cx="57150" cy="57150"/>
              </a:xfrm>
              <a:prstGeom prst="ellipse">
                <a:avLst/>
              </a:prstGeom>
              <a:solidFill>
                <a:srgbClr val="841600"/>
              </a:solidFill>
              <a:ln>
                <a:noFill/>
              </a:ln>
            </p:spPr>
          </p:sp>
          <p:sp>
            <p:nvSpPr>
              <p:cNvPr id="38" name="Ellipse 38"/>
              <p:cNvSpPr/>
              <p:nvPr/>
            </p:nvSpPr>
            <p:spPr>
              <a:xfrm>
                <a:off x="962025" y="4810125"/>
                <a:ext cx="57150" cy="57150"/>
              </a:xfrm>
              <a:prstGeom prst="ellipse">
                <a:avLst/>
              </a:prstGeom>
              <a:solidFill>
                <a:srgbClr val="841600"/>
              </a:solidFill>
              <a:ln>
                <a:noFill/>
              </a:ln>
            </p:spPr>
          </p:sp>
          <p:sp>
            <p:nvSpPr>
              <p:cNvPr id="39" name="Ellipse 39"/>
              <p:cNvSpPr/>
              <p:nvPr/>
            </p:nvSpPr>
            <p:spPr>
              <a:xfrm>
                <a:off x="1209675" y="4524375"/>
                <a:ext cx="57150" cy="57150"/>
              </a:xfrm>
              <a:prstGeom prst="ellipse">
                <a:avLst/>
              </a:prstGeom>
              <a:solidFill>
                <a:srgbClr val="841600"/>
              </a:solidFill>
              <a:ln>
                <a:noFill/>
              </a:ln>
            </p:spPr>
          </p:sp>
          <p:sp>
            <p:nvSpPr>
              <p:cNvPr id="40" name="Ellipse 40"/>
              <p:cNvSpPr/>
              <p:nvPr/>
            </p:nvSpPr>
            <p:spPr>
              <a:xfrm>
                <a:off x="1457325" y="4305300"/>
                <a:ext cx="57150" cy="57150"/>
              </a:xfrm>
              <a:prstGeom prst="ellipse">
                <a:avLst/>
              </a:prstGeom>
              <a:solidFill>
                <a:srgbClr val="841600"/>
              </a:solidFill>
              <a:ln>
                <a:noFill/>
              </a:ln>
            </p:spPr>
          </p:sp>
        </p:grpSp>
        <p:grpSp>
          <p:nvGrpSpPr>
            <p:cNvPr id="59" name="target-b"/>
            <p:cNvGrpSpPr/>
            <p:nvPr/>
          </p:nvGrpSpPr>
          <p:grpSpPr>
            <a:xfrm>
              <a:off x="1828800" y="1543050"/>
              <a:ext cx="1371600" cy="3714750"/>
              <a:chOff x="1828800" y="1543050"/>
              <a:chExt cx="1371600" cy="3714750"/>
            </a:xfrm>
          </p:grpSpPr>
          <p:sp>
            <p:nvSpPr>
              <p:cNvPr id="42" name="Rectangle 42"/>
              <p:cNvSpPr/>
              <p:nvPr/>
            </p:nvSpPr>
            <p:spPr>
              <a:xfrm>
                <a:off x="1828800" y="1543050"/>
                <a:ext cx="1371600" cy="3714750"/>
              </a:xfrm>
              <a:prstGeom prst="roundRect">
                <a:avLst>
                  <a:gd name="adj" fmla="val 5556"/>
                </a:avLst>
              </a:prstGeom>
              <a:solidFill>
                <a:srgbClr val="EFF5FD"/>
              </a:solidFill>
              <a:ln w="9525">
                <a:solidFill>
                  <a:srgbClr val="D7E2F2"/>
                </a:solidFill>
              </a:ln>
            </p:spPr>
          </p:sp>
          <p:sp>
            <p:nvSpPr>
              <p:cNvPr id="43" name="Ellipse 43"/>
              <p:cNvSpPr/>
              <p:nvPr/>
            </p:nvSpPr>
            <p:spPr>
              <a:xfrm>
                <a:off x="1914525" y="1647825"/>
                <a:ext cx="247650" cy="247650"/>
              </a:xfrm>
              <a:prstGeom prst="ellipse">
                <a:avLst/>
              </a:prstGeom>
              <a:solidFill>
                <a:srgbClr val="841600"/>
              </a:solidFill>
              <a:ln>
                <a:noFill/>
              </a:ln>
            </p:spPr>
          </p:sp>
          <p:sp>
            <p:nvSpPr>
              <p:cNvPr id="44" name="TextBox 44"/>
              <p:cNvSpPr txBox="1"/>
              <p:nvPr/>
            </p:nvSpPr>
            <p:spPr>
              <a:xfrm>
                <a:off x="1993147" y="1714024"/>
                <a:ext cx="904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B</a:t>
                </a:r>
              </a:p>
            </p:txBody>
          </p:sp>
          <p:sp>
            <p:nvSpPr>
              <p:cNvPr id="45" name="TextBox 45"/>
              <p:cNvSpPr txBox="1"/>
              <p:nvPr/>
            </p:nvSpPr>
            <p:spPr>
              <a:xfrm>
                <a:off x="2223135" y="1697831"/>
                <a:ext cx="614528"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结构优化</a:t>
                </a:r>
              </a:p>
            </p:txBody>
          </p:sp>
          <p:sp>
            <p:nvSpPr>
              <p:cNvPr id="46" name="TextBox 46"/>
              <p:cNvSpPr txBox="1"/>
              <p:nvPr/>
            </p:nvSpPr>
            <p:spPr>
              <a:xfrm>
                <a:off x="1938338" y="2021443"/>
                <a:ext cx="819937"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制造业贷款占比</a:t>
                </a:r>
              </a:p>
            </p:txBody>
          </p:sp>
          <p:sp>
            <p:nvSpPr>
              <p:cNvPr id="47" name="TextBox 47"/>
              <p:cNvSpPr txBox="1"/>
              <p:nvPr/>
            </p:nvSpPr>
            <p:spPr>
              <a:xfrm>
                <a:off x="1937385" y="2164556"/>
                <a:ext cx="542156"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≥18%　</a:t>
                </a:r>
              </a:p>
            </p:txBody>
          </p:sp>
          <p:sp>
            <p:nvSpPr>
              <p:cNvPr id="48" name="TextBox 48"/>
              <p:cNvSpPr txBox="1"/>
              <p:nvPr/>
            </p:nvSpPr>
            <p:spPr>
              <a:xfrm>
                <a:off x="1938338" y="2440543"/>
                <a:ext cx="704164"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绿色贷款增速</a:t>
                </a:r>
              </a:p>
            </p:txBody>
          </p:sp>
          <p:sp>
            <p:nvSpPr>
              <p:cNvPr id="49" name="TextBox 49"/>
              <p:cNvSpPr txBox="1"/>
              <p:nvPr/>
            </p:nvSpPr>
            <p:spPr>
              <a:xfrm>
                <a:off x="1937385" y="2583656"/>
                <a:ext cx="542156"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≥15%　</a:t>
                </a:r>
              </a:p>
            </p:txBody>
          </p:sp>
          <p:sp>
            <p:nvSpPr>
              <p:cNvPr id="50" name="TextBox 50"/>
              <p:cNvSpPr txBox="1"/>
              <p:nvPr/>
            </p:nvSpPr>
            <p:spPr>
              <a:xfrm>
                <a:off x="1938338" y="2859643"/>
                <a:ext cx="704164"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普惠贷款增量</a:t>
                </a:r>
              </a:p>
            </p:txBody>
          </p:sp>
          <p:sp>
            <p:nvSpPr>
              <p:cNvPr id="51" name="TextBox 51"/>
              <p:cNvSpPr txBox="1"/>
              <p:nvPr/>
            </p:nvSpPr>
            <p:spPr>
              <a:xfrm>
                <a:off x="1937385" y="3002756"/>
                <a:ext cx="487123"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32亿　</a:t>
                </a:r>
              </a:p>
            </p:txBody>
          </p:sp>
          <p:sp>
            <p:nvSpPr>
              <p:cNvPr id="52" name="Rectangle 52"/>
              <p:cNvSpPr/>
              <p:nvPr/>
            </p:nvSpPr>
            <p:spPr>
              <a:xfrm>
                <a:off x="1962150" y="4762500"/>
                <a:ext cx="152400" cy="342900"/>
              </a:xfrm>
              <a:prstGeom prst="rect">
                <a:avLst/>
              </a:prstGeom>
              <a:solidFill>
                <a:srgbClr val="ECC1B8"/>
              </a:solidFill>
              <a:ln>
                <a:noFill/>
              </a:ln>
            </p:spPr>
          </p:sp>
          <p:sp>
            <p:nvSpPr>
              <p:cNvPr id="53" name="Rectangle 53"/>
              <p:cNvSpPr/>
              <p:nvPr/>
            </p:nvSpPr>
            <p:spPr>
              <a:xfrm>
                <a:off x="2190750" y="4629150"/>
                <a:ext cx="152400" cy="476250"/>
              </a:xfrm>
              <a:prstGeom prst="rect">
                <a:avLst/>
              </a:prstGeom>
              <a:solidFill>
                <a:srgbClr val="E3907F"/>
              </a:solidFill>
              <a:ln>
                <a:noFill/>
              </a:ln>
            </p:spPr>
          </p:sp>
          <p:sp>
            <p:nvSpPr>
              <p:cNvPr id="54" name="Rectangle 54"/>
              <p:cNvSpPr/>
              <p:nvPr/>
            </p:nvSpPr>
            <p:spPr>
              <a:xfrm>
                <a:off x="2419350" y="4476750"/>
                <a:ext cx="152400" cy="628650"/>
              </a:xfrm>
              <a:prstGeom prst="rect">
                <a:avLst/>
              </a:prstGeom>
              <a:solidFill>
                <a:srgbClr val="D9705B"/>
              </a:solidFill>
              <a:ln>
                <a:noFill/>
              </a:ln>
            </p:spPr>
          </p:sp>
          <p:sp>
            <p:nvSpPr>
              <p:cNvPr id="55" name="Rectangle 55"/>
              <p:cNvSpPr/>
              <p:nvPr/>
            </p:nvSpPr>
            <p:spPr>
              <a:xfrm>
                <a:off x="2647950" y="4305300"/>
                <a:ext cx="152400" cy="800100"/>
              </a:xfrm>
              <a:prstGeom prst="rect">
                <a:avLst/>
              </a:prstGeom>
              <a:solidFill>
                <a:srgbClr val="C9482E"/>
              </a:solidFill>
              <a:ln>
                <a:noFill/>
              </a:ln>
            </p:spPr>
          </p:sp>
          <p:sp>
            <p:nvSpPr>
              <p:cNvPr id="56" name="Rectangle 56"/>
              <p:cNvSpPr/>
              <p:nvPr/>
            </p:nvSpPr>
            <p:spPr>
              <a:xfrm>
                <a:off x="2876550" y="4133850"/>
                <a:ext cx="152400" cy="971550"/>
              </a:xfrm>
              <a:prstGeom prst="rect">
                <a:avLst/>
              </a:prstGeom>
              <a:solidFill>
                <a:srgbClr val="841600"/>
              </a:solidFill>
              <a:ln>
                <a:noFill/>
              </a:ln>
            </p:spPr>
          </p:sp>
          <p:sp>
            <p:nvSpPr>
              <p:cNvPr id="57" name="Polyline 57"/>
              <p:cNvSpPr/>
              <p:nvPr/>
            </p:nvSpPr>
            <p:spPr>
              <a:xfrm>
                <a:off x="2038350" y="3962400"/>
                <a:ext cx="914400" cy="685800"/>
              </a:xfrm>
              <a:custGeom>
                <a:avLst/>
                <a:gdLst/>
                <a:ahLst/>
                <a:cxnLst/>
                <a:rect l="l" t="t" r="r" b="b"/>
                <a:pathLst>
                  <a:path w="914400" h="685800">
                    <a:moveTo>
                      <a:pt x="0" y="685800"/>
                    </a:moveTo>
                    <a:lnTo>
                      <a:pt x="228600" y="533400"/>
                    </a:lnTo>
                    <a:lnTo>
                      <a:pt x="457200" y="381000"/>
                    </a:lnTo>
                    <a:lnTo>
                      <a:pt x="685800" y="190500"/>
                    </a:lnTo>
                    <a:lnTo>
                      <a:pt x="914400" y="0"/>
                    </a:lnTo>
                  </a:path>
                </a:pathLst>
              </a:custGeom>
              <a:noFill/>
              <a:ln w="19050">
                <a:solidFill>
                  <a:srgbClr val="9E331E"/>
                </a:solidFill>
              </a:ln>
            </p:spPr>
          </p:sp>
          <p:sp>
            <p:nvSpPr>
              <p:cNvPr id="58" name="Polygon 58"/>
              <p:cNvSpPr/>
              <p:nvPr/>
            </p:nvSpPr>
            <p:spPr>
              <a:xfrm>
                <a:off x="2876550" y="3943350"/>
                <a:ext cx="76200" cy="95250"/>
              </a:xfrm>
              <a:custGeom>
                <a:avLst/>
                <a:gdLst/>
                <a:ahLst/>
                <a:cxnLst/>
                <a:rect l="l" t="t" r="r" b="b"/>
                <a:pathLst>
                  <a:path w="76200" h="95250">
                    <a:moveTo>
                      <a:pt x="76200" y="19050"/>
                    </a:moveTo>
                    <a:lnTo>
                      <a:pt x="0" y="0"/>
                    </a:lnTo>
                    <a:lnTo>
                      <a:pt x="38100" y="95250"/>
                    </a:lnTo>
                    <a:close/>
                  </a:path>
                </a:pathLst>
              </a:custGeom>
              <a:solidFill>
                <a:srgbClr val="9E331E"/>
              </a:solidFill>
              <a:ln>
                <a:noFill/>
              </a:ln>
            </p:spPr>
          </p:sp>
        </p:grpSp>
        <p:grpSp>
          <p:nvGrpSpPr>
            <p:cNvPr id="87" name="target-c"/>
            <p:cNvGrpSpPr/>
            <p:nvPr/>
          </p:nvGrpSpPr>
          <p:grpSpPr>
            <a:xfrm>
              <a:off x="3295650" y="1543050"/>
              <a:ext cx="1371600" cy="3714750"/>
              <a:chOff x="3295650" y="1543050"/>
              <a:chExt cx="1371600" cy="3714750"/>
            </a:xfrm>
          </p:grpSpPr>
          <p:sp>
            <p:nvSpPr>
              <p:cNvPr id="60" name="Rectangle 60"/>
              <p:cNvSpPr/>
              <p:nvPr/>
            </p:nvSpPr>
            <p:spPr>
              <a:xfrm>
                <a:off x="3295650" y="1543050"/>
                <a:ext cx="1371600" cy="3714750"/>
              </a:xfrm>
              <a:prstGeom prst="roundRect">
                <a:avLst>
                  <a:gd name="adj" fmla="val 5556"/>
                </a:avLst>
              </a:prstGeom>
              <a:solidFill>
                <a:srgbClr val="EFF5FD"/>
              </a:solidFill>
              <a:ln w="9525">
                <a:solidFill>
                  <a:srgbClr val="D7E2F2"/>
                </a:solidFill>
              </a:ln>
            </p:spPr>
          </p:sp>
          <p:sp>
            <p:nvSpPr>
              <p:cNvPr id="61" name="Ellipse 61"/>
              <p:cNvSpPr/>
              <p:nvPr/>
            </p:nvSpPr>
            <p:spPr>
              <a:xfrm>
                <a:off x="3381375" y="1647825"/>
                <a:ext cx="247650" cy="247650"/>
              </a:xfrm>
              <a:prstGeom prst="ellipse">
                <a:avLst/>
              </a:prstGeom>
              <a:solidFill>
                <a:srgbClr val="841600"/>
              </a:solidFill>
              <a:ln>
                <a:noFill/>
              </a:ln>
            </p:spPr>
          </p:sp>
          <p:sp>
            <p:nvSpPr>
              <p:cNvPr id="62" name="TextBox 62"/>
              <p:cNvSpPr txBox="1"/>
              <p:nvPr/>
            </p:nvSpPr>
            <p:spPr>
              <a:xfrm>
                <a:off x="3459997" y="1714024"/>
                <a:ext cx="904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a:t>
                </a:r>
              </a:p>
            </p:txBody>
          </p:sp>
          <p:sp>
            <p:nvSpPr>
              <p:cNvPr id="63" name="TextBox 63"/>
              <p:cNvSpPr txBox="1"/>
              <p:nvPr/>
            </p:nvSpPr>
            <p:spPr>
              <a:xfrm>
                <a:off x="3689985" y="1697831"/>
                <a:ext cx="614528"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效益提升</a:t>
                </a:r>
              </a:p>
            </p:txBody>
          </p:sp>
          <p:sp>
            <p:nvSpPr>
              <p:cNvPr id="64" name="TextBox 64"/>
              <p:cNvSpPr txBox="1"/>
              <p:nvPr/>
            </p:nvSpPr>
            <p:spPr>
              <a:xfrm>
                <a:off x="3405188" y="1983343"/>
                <a:ext cx="472618"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营业收入</a:t>
                </a:r>
              </a:p>
            </p:txBody>
          </p:sp>
          <p:sp>
            <p:nvSpPr>
              <p:cNvPr id="65" name="TextBox 65"/>
              <p:cNvSpPr txBox="1"/>
              <p:nvPr/>
            </p:nvSpPr>
            <p:spPr>
              <a:xfrm>
                <a:off x="3404235" y="2116931"/>
                <a:ext cx="661268"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38.6亿　</a:t>
                </a:r>
              </a:p>
            </p:txBody>
          </p:sp>
          <p:sp>
            <p:nvSpPr>
              <p:cNvPr id="66" name="TextBox 66"/>
              <p:cNvSpPr txBox="1"/>
              <p:nvPr/>
            </p:nvSpPr>
            <p:spPr>
              <a:xfrm>
                <a:off x="3405188" y="2364343"/>
                <a:ext cx="356845"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净利润</a:t>
                </a:r>
              </a:p>
            </p:txBody>
          </p:sp>
          <p:sp>
            <p:nvSpPr>
              <p:cNvPr id="67" name="TextBox 67"/>
              <p:cNvSpPr txBox="1"/>
              <p:nvPr/>
            </p:nvSpPr>
            <p:spPr>
              <a:xfrm>
                <a:off x="3404235" y="2497931"/>
                <a:ext cx="661268"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15.2亿　</a:t>
                </a:r>
              </a:p>
            </p:txBody>
          </p:sp>
          <p:sp>
            <p:nvSpPr>
              <p:cNvPr id="68" name="TextBox 68"/>
              <p:cNvSpPr txBox="1"/>
              <p:nvPr/>
            </p:nvSpPr>
            <p:spPr>
              <a:xfrm>
                <a:off x="3405188" y="2745343"/>
                <a:ext cx="356845"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净息差</a:t>
                </a:r>
              </a:p>
            </p:txBody>
          </p:sp>
          <p:sp>
            <p:nvSpPr>
              <p:cNvPr id="69" name="TextBox 69"/>
              <p:cNvSpPr txBox="1"/>
              <p:nvPr/>
            </p:nvSpPr>
            <p:spPr>
              <a:xfrm>
                <a:off x="3404235" y="2878931"/>
                <a:ext cx="716300"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≥1.72%　</a:t>
                </a:r>
              </a:p>
            </p:txBody>
          </p:sp>
          <p:sp>
            <p:nvSpPr>
              <p:cNvPr id="70" name="TextBox 70"/>
              <p:cNvSpPr txBox="1"/>
              <p:nvPr/>
            </p:nvSpPr>
            <p:spPr>
              <a:xfrm>
                <a:off x="3405188" y="3126343"/>
                <a:ext cx="472618"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中收增长</a:t>
                </a:r>
              </a:p>
            </p:txBody>
          </p:sp>
          <p:sp>
            <p:nvSpPr>
              <p:cNvPr id="71" name="TextBox 71"/>
              <p:cNvSpPr txBox="1"/>
              <p:nvPr/>
            </p:nvSpPr>
            <p:spPr>
              <a:xfrm>
                <a:off x="3404235" y="3259931"/>
                <a:ext cx="455084"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≥8%　</a:t>
                </a:r>
              </a:p>
            </p:txBody>
          </p:sp>
          <p:sp>
            <p:nvSpPr>
              <p:cNvPr id="72" name="Line 72"/>
              <p:cNvSpPr/>
              <p:nvPr/>
            </p:nvSpPr>
            <p:spPr>
              <a:xfrm>
                <a:off x="3390900" y="4972050"/>
                <a:ext cx="1200150" cy="9525"/>
              </a:xfrm>
              <a:custGeom>
                <a:avLst/>
                <a:gdLst/>
                <a:ahLst/>
                <a:cxnLst/>
                <a:rect l="l" t="t" r="r" b="b"/>
                <a:pathLst>
                  <a:path w="1200150" h="9525">
                    <a:moveTo>
                      <a:pt x="0" y="0"/>
                    </a:moveTo>
                    <a:lnTo>
                      <a:pt x="1200150" y="0"/>
                    </a:lnTo>
                  </a:path>
                </a:pathLst>
              </a:custGeom>
              <a:noFill/>
              <a:ln w="9525">
                <a:solidFill>
                  <a:srgbClr val="ECC1B8"/>
                </a:solidFill>
              </a:ln>
            </p:spPr>
          </p:sp>
          <p:sp>
            <p:nvSpPr>
              <p:cNvPr id="73" name="Rectangle 73"/>
              <p:cNvSpPr/>
              <p:nvPr/>
            </p:nvSpPr>
            <p:spPr>
              <a:xfrm>
                <a:off x="3429000" y="4400550"/>
                <a:ext cx="171450" cy="571500"/>
              </a:xfrm>
              <a:prstGeom prst="rect">
                <a:avLst/>
              </a:prstGeom>
              <a:solidFill>
                <a:srgbClr val="841600"/>
              </a:solidFill>
              <a:ln>
                <a:noFill/>
              </a:ln>
            </p:spPr>
          </p:sp>
          <p:sp>
            <p:nvSpPr>
              <p:cNvPr id="74" name="Rectangle 74"/>
              <p:cNvSpPr/>
              <p:nvPr/>
            </p:nvSpPr>
            <p:spPr>
              <a:xfrm>
                <a:off x="3657600" y="4248150"/>
                <a:ext cx="171450" cy="152400"/>
              </a:xfrm>
              <a:prstGeom prst="rect">
                <a:avLst/>
              </a:prstGeom>
              <a:solidFill>
                <a:srgbClr val="9E331E"/>
              </a:solidFill>
              <a:ln>
                <a:noFill/>
              </a:ln>
            </p:spPr>
          </p:sp>
          <p:sp>
            <p:nvSpPr>
              <p:cNvPr id="75" name="Rectangle 75"/>
              <p:cNvSpPr/>
              <p:nvPr/>
            </p:nvSpPr>
            <p:spPr>
              <a:xfrm>
                <a:off x="3886200" y="4133850"/>
                <a:ext cx="171450" cy="114300"/>
              </a:xfrm>
              <a:prstGeom prst="rect">
                <a:avLst/>
              </a:prstGeom>
              <a:solidFill>
                <a:srgbClr val="9E331E"/>
              </a:solidFill>
              <a:ln>
                <a:noFill/>
              </a:ln>
            </p:spPr>
          </p:sp>
          <p:sp>
            <p:nvSpPr>
              <p:cNvPr id="76" name="Rectangle 76"/>
              <p:cNvSpPr/>
              <p:nvPr/>
            </p:nvSpPr>
            <p:spPr>
              <a:xfrm>
                <a:off x="4114800" y="4133850"/>
                <a:ext cx="171450" cy="95250"/>
              </a:xfrm>
              <a:prstGeom prst="rect">
                <a:avLst/>
              </a:prstGeom>
              <a:solidFill>
                <a:srgbClr val="ED4D31"/>
              </a:solidFill>
              <a:ln>
                <a:noFill/>
              </a:ln>
            </p:spPr>
          </p:sp>
          <p:sp>
            <p:nvSpPr>
              <p:cNvPr id="77" name="Rectangle 77"/>
              <p:cNvSpPr/>
              <p:nvPr/>
            </p:nvSpPr>
            <p:spPr>
              <a:xfrm>
                <a:off x="4343400" y="4229100"/>
                <a:ext cx="171450" cy="742950"/>
              </a:xfrm>
              <a:prstGeom prst="rect">
                <a:avLst/>
              </a:prstGeom>
              <a:solidFill>
                <a:srgbClr val="841600"/>
              </a:solidFill>
              <a:ln>
                <a:noFill/>
              </a:ln>
            </p:spPr>
          </p:sp>
          <p:sp>
            <p:nvSpPr>
              <p:cNvPr id="78" name="Line 78"/>
              <p:cNvSpPr/>
              <p:nvPr/>
            </p:nvSpPr>
            <p:spPr>
              <a:xfrm>
                <a:off x="3600450" y="4400550"/>
                <a:ext cx="57150" cy="9525"/>
              </a:xfrm>
              <a:custGeom>
                <a:avLst/>
                <a:gdLst/>
                <a:ahLst/>
                <a:cxnLst/>
                <a:rect l="l" t="t" r="r" b="b"/>
                <a:pathLst>
                  <a:path w="57150" h="9525">
                    <a:moveTo>
                      <a:pt x="0" y="0"/>
                    </a:moveTo>
                    <a:lnTo>
                      <a:pt x="57150" y="0"/>
                    </a:lnTo>
                  </a:path>
                </a:pathLst>
              </a:custGeom>
              <a:noFill/>
              <a:ln w="9525">
                <a:solidFill>
                  <a:srgbClr val="987F7A"/>
                </a:solidFill>
                <a:prstDash val="sysDot"/>
              </a:ln>
            </p:spPr>
          </p:sp>
          <p:sp>
            <p:nvSpPr>
              <p:cNvPr id="79" name="Line 79"/>
              <p:cNvSpPr/>
              <p:nvPr/>
            </p:nvSpPr>
            <p:spPr>
              <a:xfrm>
                <a:off x="3829050" y="4248150"/>
                <a:ext cx="57150" cy="9525"/>
              </a:xfrm>
              <a:custGeom>
                <a:avLst/>
                <a:gdLst/>
                <a:ahLst/>
                <a:cxnLst/>
                <a:rect l="l" t="t" r="r" b="b"/>
                <a:pathLst>
                  <a:path w="57150" h="9525">
                    <a:moveTo>
                      <a:pt x="0" y="0"/>
                    </a:moveTo>
                    <a:lnTo>
                      <a:pt x="57150" y="0"/>
                    </a:lnTo>
                  </a:path>
                </a:pathLst>
              </a:custGeom>
              <a:noFill/>
              <a:ln w="9525">
                <a:solidFill>
                  <a:srgbClr val="987F7A"/>
                </a:solidFill>
                <a:prstDash val="sysDot"/>
              </a:ln>
            </p:spPr>
          </p:sp>
          <p:sp>
            <p:nvSpPr>
              <p:cNvPr id="80" name="Line 80"/>
              <p:cNvSpPr/>
              <p:nvPr/>
            </p:nvSpPr>
            <p:spPr>
              <a:xfrm>
                <a:off x="4057650" y="4133850"/>
                <a:ext cx="57150" cy="9525"/>
              </a:xfrm>
              <a:custGeom>
                <a:avLst/>
                <a:gdLst/>
                <a:ahLst/>
                <a:cxnLst/>
                <a:rect l="l" t="t" r="r" b="b"/>
                <a:pathLst>
                  <a:path w="57150" h="9525">
                    <a:moveTo>
                      <a:pt x="0" y="0"/>
                    </a:moveTo>
                    <a:lnTo>
                      <a:pt x="57150" y="0"/>
                    </a:lnTo>
                  </a:path>
                </a:pathLst>
              </a:custGeom>
              <a:noFill/>
              <a:ln w="9525">
                <a:solidFill>
                  <a:srgbClr val="987F7A"/>
                </a:solidFill>
                <a:prstDash val="sysDot"/>
              </a:ln>
            </p:spPr>
          </p:sp>
          <p:sp>
            <p:nvSpPr>
              <p:cNvPr id="81" name="Line 81"/>
              <p:cNvSpPr/>
              <p:nvPr/>
            </p:nvSpPr>
            <p:spPr>
              <a:xfrm>
                <a:off x="4286250" y="4229100"/>
                <a:ext cx="57150" cy="9525"/>
              </a:xfrm>
              <a:custGeom>
                <a:avLst/>
                <a:gdLst/>
                <a:ahLst/>
                <a:cxnLst/>
                <a:rect l="l" t="t" r="r" b="b"/>
                <a:pathLst>
                  <a:path w="57150" h="9525">
                    <a:moveTo>
                      <a:pt x="0" y="0"/>
                    </a:moveTo>
                    <a:lnTo>
                      <a:pt x="57150" y="0"/>
                    </a:lnTo>
                  </a:path>
                </a:pathLst>
              </a:custGeom>
              <a:noFill/>
              <a:ln w="9525">
                <a:solidFill>
                  <a:srgbClr val="987F7A"/>
                </a:solidFill>
                <a:prstDash val="sysDot"/>
              </a:ln>
            </p:spPr>
          </p:sp>
          <p:sp>
            <p:nvSpPr>
              <p:cNvPr id="82" name="TextBox 82"/>
              <p:cNvSpPr txBox="1"/>
              <p:nvPr/>
            </p:nvSpPr>
            <p:spPr>
              <a:xfrm>
                <a:off x="3429190" y="5021580"/>
                <a:ext cx="171069" cy="119062"/>
              </a:xfrm>
              <a:prstGeom prst="rect">
                <a:avLst/>
              </a:prstGeom>
              <a:noFill/>
              <a:ln>
                <a:noFill/>
              </a:ln>
            </p:spPr>
            <p:txBody>
              <a:bodyPr wrap="none" lIns="0" tIns="0" rIns="0" bIns="0" anchor="t" anchorCtr="0">
                <a:spAutoFit/>
              </a:bodyPr>
              <a:lstStyle/>
              <a:p>
                <a:pPr algn="ctr"/>
                <a:r>
                  <a:rPr lang="zh-CN" sz="600" dirty="0">
                    <a:solidFill>
                      <a:srgbClr val="7E605A"/>
                    </a:solidFill>
                    <a:latin typeface="+mn-lt"/>
                    <a:ea typeface="+mn-ea"/>
                    <a:cs typeface="+mn-cs"/>
                  </a:rPr>
                  <a:t>上年</a:t>
                </a:r>
              </a:p>
            </p:txBody>
          </p:sp>
          <p:sp>
            <p:nvSpPr>
              <p:cNvPr id="83" name="TextBox 83"/>
              <p:cNvSpPr txBox="1"/>
              <p:nvPr/>
            </p:nvSpPr>
            <p:spPr>
              <a:xfrm>
                <a:off x="3657790" y="5021580"/>
                <a:ext cx="171069" cy="119062"/>
              </a:xfrm>
              <a:prstGeom prst="rect">
                <a:avLst/>
              </a:prstGeom>
              <a:noFill/>
              <a:ln>
                <a:noFill/>
              </a:ln>
            </p:spPr>
            <p:txBody>
              <a:bodyPr wrap="none" lIns="0" tIns="0" rIns="0" bIns="0" anchor="t" anchorCtr="0">
                <a:spAutoFit/>
              </a:bodyPr>
              <a:lstStyle/>
              <a:p>
                <a:pPr algn="ctr"/>
                <a:r>
                  <a:rPr lang="zh-CN" sz="600" dirty="0">
                    <a:solidFill>
                      <a:srgbClr val="7E605A"/>
                    </a:solidFill>
                    <a:latin typeface="+mn-lt"/>
                    <a:ea typeface="+mn-ea"/>
                    <a:cs typeface="+mn-cs"/>
                  </a:rPr>
                  <a:t>净利</a:t>
                </a:r>
              </a:p>
            </p:txBody>
          </p:sp>
          <p:sp>
            <p:nvSpPr>
              <p:cNvPr id="84" name="TextBox 84"/>
              <p:cNvSpPr txBox="1"/>
              <p:nvPr/>
            </p:nvSpPr>
            <p:spPr>
              <a:xfrm>
                <a:off x="3886390" y="5021580"/>
                <a:ext cx="171069" cy="119062"/>
              </a:xfrm>
              <a:prstGeom prst="rect">
                <a:avLst/>
              </a:prstGeom>
              <a:noFill/>
              <a:ln>
                <a:noFill/>
              </a:ln>
            </p:spPr>
            <p:txBody>
              <a:bodyPr wrap="none" lIns="0" tIns="0" rIns="0" bIns="0" anchor="t" anchorCtr="0">
                <a:spAutoFit/>
              </a:bodyPr>
              <a:lstStyle/>
              <a:p>
                <a:pPr algn="ctr"/>
                <a:r>
                  <a:rPr lang="zh-CN" sz="600" dirty="0">
                    <a:solidFill>
                      <a:srgbClr val="7E605A"/>
                    </a:solidFill>
                    <a:latin typeface="+mn-lt"/>
                    <a:ea typeface="+mn-ea"/>
                    <a:cs typeface="+mn-cs"/>
                  </a:rPr>
                  <a:t>中收</a:t>
                </a:r>
              </a:p>
            </p:txBody>
          </p:sp>
          <p:sp>
            <p:nvSpPr>
              <p:cNvPr id="85" name="TextBox 85"/>
              <p:cNvSpPr txBox="1"/>
              <p:nvPr/>
            </p:nvSpPr>
            <p:spPr>
              <a:xfrm>
                <a:off x="4114990" y="5021580"/>
                <a:ext cx="171069" cy="119062"/>
              </a:xfrm>
              <a:prstGeom prst="rect">
                <a:avLst/>
              </a:prstGeom>
              <a:noFill/>
              <a:ln>
                <a:noFill/>
              </a:ln>
            </p:spPr>
            <p:txBody>
              <a:bodyPr wrap="none" lIns="0" tIns="0" rIns="0" bIns="0" anchor="t" anchorCtr="0">
                <a:spAutoFit/>
              </a:bodyPr>
              <a:lstStyle/>
              <a:p>
                <a:pPr algn="ctr"/>
                <a:r>
                  <a:rPr lang="zh-CN" sz="600" dirty="0">
                    <a:solidFill>
                      <a:srgbClr val="7E605A"/>
                    </a:solidFill>
                    <a:latin typeface="+mn-lt"/>
                    <a:ea typeface="+mn-ea"/>
                    <a:cs typeface="+mn-cs"/>
                  </a:rPr>
                  <a:t>其他</a:t>
                </a:r>
              </a:p>
            </p:txBody>
          </p:sp>
          <p:sp>
            <p:nvSpPr>
              <p:cNvPr id="86" name="TextBox 86"/>
              <p:cNvSpPr txBox="1"/>
              <p:nvPr/>
            </p:nvSpPr>
            <p:spPr>
              <a:xfrm>
                <a:off x="4343590" y="5021580"/>
                <a:ext cx="171069" cy="119062"/>
              </a:xfrm>
              <a:prstGeom prst="rect">
                <a:avLst/>
              </a:prstGeom>
              <a:noFill/>
              <a:ln>
                <a:noFill/>
              </a:ln>
            </p:spPr>
            <p:txBody>
              <a:bodyPr wrap="none" lIns="0" tIns="0" rIns="0" bIns="0" anchor="t" anchorCtr="0">
                <a:spAutoFit/>
              </a:bodyPr>
              <a:lstStyle/>
              <a:p>
                <a:pPr algn="ctr"/>
                <a:r>
                  <a:rPr lang="zh-CN" sz="600" dirty="0">
                    <a:solidFill>
                      <a:srgbClr val="7E605A"/>
                    </a:solidFill>
                    <a:latin typeface="+mn-lt"/>
                    <a:ea typeface="+mn-ea"/>
                    <a:cs typeface="+mn-cs"/>
                  </a:rPr>
                  <a:t>本年</a:t>
                </a:r>
              </a:p>
            </p:txBody>
          </p:sp>
        </p:grpSp>
        <p:grpSp>
          <p:nvGrpSpPr>
            <p:cNvPr id="106" name="target-d"/>
            <p:cNvGrpSpPr/>
            <p:nvPr/>
          </p:nvGrpSpPr>
          <p:grpSpPr>
            <a:xfrm>
              <a:off x="4762500" y="1543050"/>
              <a:ext cx="1371600" cy="3714750"/>
              <a:chOff x="4762500" y="1543050"/>
              <a:chExt cx="1371600" cy="3714750"/>
            </a:xfrm>
          </p:grpSpPr>
          <p:sp>
            <p:nvSpPr>
              <p:cNvPr id="88" name="Rectangle 88"/>
              <p:cNvSpPr/>
              <p:nvPr/>
            </p:nvSpPr>
            <p:spPr>
              <a:xfrm>
                <a:off x="4762500" y="1543050"/>
                <a:ext cx="1371600" cy="3714750"/>
              </a:xfrm>
              <a:prstGeom prst="roundRect">
                <a:avLst>
                  <a:gd name="adj" fmla="val 5556"/>
                </a:avLst>
              </a:prstGeom>
              <a:solidFill>
                <a:srgbClr val="EFF5FD"/>
              </a:solidFill>
              <a:ln w="9525">
                <a:solidFill>
                  <a:srgbClr val="D7E2F2"/>
                </a:solidFill>
              </a:ln>
            </p:spPr>
          </p:sp>
          <p:sp>
            <p:nvSpPr>
              <p:cNvPr id="89" name="Ellipse 89"/>
              <p:cNvSpPr/>
              <p:nvPr/>
            </p:nvSpPr>
            <p:spPr>
              <a:xfrm>
                <a:off x="4848225" y="1647825"/>
                <a:ext cx="247650" cy="247650"/>
              </a:xfrm>
              <a:prstGeom prst="ellipse">
                <a:avLst/>
              </a:prstGeom>
              <a:solidFill>
                <a:srgbClr val="841600"/>
              </a:solidFill>
              <a:ln>
                <a:noFill/>
              </a:ln>
            </p:spPr>
          </p:sp>
          <p:sp>
            <p:nvSpPr>
              <p:cNvPr id="90" name="TextBox 90"/>
              <p:cNvSpPr txBox="1"/>
              <p:nvPr/>
            </p:nvSpPr>
            <p:spPr>
              <a:xfrm>
                <a:off x="4926847" y="1714024"/>
                <a:ext cx="904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D</a:t>
                </a:r>
              </a:p>
            </p:txBody>
          </p:sp>
          <p:sp>
            <p:nvSpPr>
              <p:cNvPr id="91" name="TextBox 91"/>
              <p:cNvSpPr txBox="1"/>
              <p:nvPr/>
            </p:nvSpPr>
            <p:spPr>
              <a:xfrm>
                <a:off x="5156835" y="1697831"/>
                <a:ext cx="614528"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质量稳定</a:t>
                </a:r>
              </a:p>
            </p:txBody>
          </p:sp>
          <p:sp>
            <p:nvSpPr>
              <p:cNvPr id="92" name="TextBox 92"/>
              <p:cNvSpPr txBox="1"/>
              <p:nvPr/>
            </p:nvSpPr>
            <p:spPr>
              <a:xfrm>
                <a:off x="4872038" y="2021443"/>
                <a:ext cx="356845"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不良率</a:t>
                </a:r>
              </a:p>
            </p:txBody>
          </p:sp>
          <p:sp>
            <p:nvSpPr>
              <p:cNvPr id="93" name="TextBox 93"/>
              <p:cNvSpPr txBox="1"/>
              <p:nvPr/>
            </p:nvSpPr>
            <p:spPr>
              <a:xfrm>
                <a:off x="4871085" y="2164556"/>
                <a:ext cx="716300"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≤1.25%　</a:t>
                </a:r>
              </a:p>
            </p:txBody>
          </p:sp>
          <p:sp>
            <p:nvSpPr>
              <p:cNvPr id="94" name="TextBox 94"/>
              <p:cNvSpPr txBox="1"/>
              <p:nvPr/>
            </p:nvSpPr>
            <p:spPr>
              <a:xfrm>
                <a:off x="4872038" y="2440543"/>
                <a:ext cx="356845"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关注率</a:t>
                </a:r>
              </a:p>
            </p:txBody>
          </p:sp>
          <p:sp>
            <p:nvSpPr>
              <p:cNvPr id="95" name="TextBox 95"/>
              <p:cNvSpPr txBox="1"/>
              <p:nvPr/>
            </p:nvSpPr>
            <p:spPr>
              <a:xfrm>
                <a:off x="4871085" y="2583656"/>
                <a:ext cx="716300"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≤2.10%　</a:t>
                </a:r>
              </a:p>
            </p:txBody>
          </p:sp>
          <p:sp>
            <p:nvSpPr>
              <p:cNvPr id="96" name="TextBox 96"/>
              <p:cNvSpPr txBox="1"/>
              <p:nvPr/>
            </p:nvSpPr>
            <p:spPr>
              <a:xfrm>
                <a:off x="4872038" y="2859643"/>
                <a:ext cx="588391"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拨备覆盖率</a:t>
                </a:r>
              </a:p>
            </p:txBody>
          </p:sp>
          <p:sp>
            <p:nvSpPr>
              <p:cNvPr id="97" name="TextBox 97"/>
              <p:cNvSpPr txBox="1"/>
              <p:nvPr/>
            </p:nvSpPr>
            <p:spPr>
              <a:xfrm>
                <a:off x="4871085" y="3002756"/>
                <a:ext cx="629228"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≥185%　</a:t>
                </a:r>
              </a:p>
            </p:txBody>
          </p:sp>
          <p:sp>
            <p:nvSpPr>
              <p:cNvPr id="98" name="Freeform 98"/>
              <p:cNvSpPr/>
              <p:nvPr/>
            </p:nvSpPr>
            <p:spPr>
              <a:xfrm>
                <a:off x="5029183" y="4513802"/>
                <a:ext cx="209567" cy="362998"/>
              </a:xfrm>
              <a:custGeom>
                <a:avLst/>
                <a:gdLst/>
                <a:ahLst/>
                <a:cxnLst/>
                <a:rect l="l" t="t" r="r" b="b"/>
                <a:pathLst>
                  <a:path w="209567" h="362998">
                    <a:moveTo>
                      <a:pt x="17" y="362998"/>
                    </a:moveTo>
                    <a:cubicBezTo>
                      <a:pt x="0" y="213251"/>
                      <a:pt x="79882" y="74873"/>
                      <a:pt x="209567" y="0"/>
                    </a:cubicBezTo>
                  </a:path>
                </a:pathLst>
              </a:custGeom>
              <a:noFill/>
              <a:ln w="133350">
                <a:solidFill>
                  <a:srgbClr val="9E331E"/>
                </a:solidFill>
              </a:ln>
            </p:spPr>
          </p:sp>
          <p:sp>
            <p:nvSpPr>
              <p:cNvPr id="99" name="Freeform 99"/>
              <p:cNvSpPr/>
              <p:nvPr/>
            </p:nvSpPr>
            <p:spPr>
              <a:xfrm>
                <a:off x="5238750" y="4438937"/>
                <a:ext cx="419100" cy="74865"/>
              </a:xfrm>
              <a:custGeom>
                <a:avLst/>
                <a:gdLst/>
                <a:ahLst/>
                <a:cxnLst/>
                <a:rect l="l" t="t" r="r" b="b"/>
                <a:pathLst>
                  <a:path w="419100" h="74865">
                    <a:moveTo>
                      <a:pt x="0" y="74865"/>
                    </a:moveTo>
                    <a:cubicBezTo>
                      <a:pt x="129670" y="0"/>
                      <a:pt x="289430" y="0"/>
                      <a:pt x="419100" y="74865"/>
                    </a:cubicBezTo>
                  </a:path>
                </a:pathLst>
              </a:custGeom>
              <a:noFill/>
              <a:ln w="133350">
                <a:solidFill>
                  <a:srgbClr val="F04729"/>
                </a:solidFill>
              </a:ln>
            </p:spPr>
          </p:sp>
          <p:sp>
            <p:nvSpPr>
              <p:cNvPr id="100" name="Freeform 100"/>
              <p:cNvSpPr/>
              <p:nvPr/>
            </p:nvSpPr>
            <p:spPr>
              <a:xfrm>
                <a:off x="5657850" y="4513802"/>
                <a:ext cx="209567" cy="362998"/>
              </a:xfrm>
              <a:custGeom>
                <a:avLst/>
                <a:gdLst/>
                <a:ahLst/>
                <a:cxnLst/>
                <a:rect l="l" t="t" r="r" b="b"/>
                <a:pathLst>
                  <a:path w="209567" h="362998">
                    <a:moveTo>
                      <a:pt x="0" y="0"/>
                    </a:moveTo>
                    <a:cubicBezTo>
                      <a:pt x="129684" y="74873"/>
                      <a:pt x="209567" y="213251"/>
                      <a:pt x="209550" y="362998"/>
                    </a:cubicBezTo>
                  </a:path>
                </a:pathLst>
              </a:custGeom>
              <a:noFill/>
              <a:ln w="133350">
                <a:solidFill>
                  <a:srgbClr val="D94F38"/>
                </a:solidFill>
              </a:ln>
            </p:spPr>
          </p:sp>
          <p:sp>
            <p:nvSpPr>
              <p:cNvPr id="101" name="Line 101"/>
              <p:cNvSpPr/>
              <p:nvPr/>
            </p:nvSpPr>
            <p:spPr>
              <a:xfrm>
                <a:off x="5448300" y="4476750"/>
                <a:ext cx="95250" cy="400050"/>
              </a:xfrm>
              <a:custGeom>
                <a:avLst/>
                <a:gdLst/>
                <a:ahLst/>
                <a:cxnLst/>
                <a:rect l="l" t="t" r="r" b="b"/>
                <a:pathLst>
                  <a:path w="95250" h="400050">
                    <a:moveTo>
                      <a:pt x="0" y="400050"/>
                    </a:moveTo>
                    <a:lnTo>
                      <a:pt x="95250" y="0"/>
                    </a:lnTo>
                  </a:path>
                </a:pathLst>
              </a:custGeom>
              <a:noFill/>
              <a:ln w="23812">
                <a:solidFill>
                  <a:srgbClr val="1A1A1A"/>
                </a:solidFill>
              </a:ln>
            </p:spPr>
          </p:sp>
          <p:sp>
            <p:nvSpPr>
              <p:cNvPr id="102" name="Ellipse 102"/>
              <p:cNvSpPr/>
              <p:nvPr/>
            </p:nvSpPr>
            <p:spPr>
              <a:xfrm>
                <a:off x="5400675" y="4829175"/>
                <a:ext cx="95250" cy="95250"/>
              </a:xfrm>
              <a:prstGeom prst="ellipse">
                <a:avLst/>
              </a:prstGeom>
              <a:solidFill>
                <a:srgbClr val="1A1A1A"/>
              </a:solidFill>
              <a:ln>
                <a:noFill/>
              </a:ln>
            </p:spPr>
          </p:sp>
          <p:sp>
            <p:nvSpPr>
              <p:cNvPr id="103" name="TextBox 103"/>
              <p:cNvSpPr txBox="1"/>
              <p:nvPr/>
            </p:nvSpPr>
            <p:spPr>
              <a:xfrm>
                <a:off x="4929188" y="5002530"/>
                <a:ext cx="284150" cy="119062"/>
              </a:xfrm>
              <a:prstGeom prst="rect">
                <a:avLst/>
              </a:prstGeom>
              <a:noFill/>
              <a:ln>
                <a:noFill/>
              </a:ln>
            </p:spPr>
            <p:txBody>
              <a:bodyPr wrap="none" lIns="0" tIns="0" rIns="0" bIns="0" anchor="t" anchorCtr="0">
                <a:spAutoFit/>
              </a:bodyPr>
              <a:lstStyle/>
              <a:p>
                <a:pPr algn="l"/>
                <a:r>
                  <a:rPr lang="zh-CN" sz="600" dirty="0">
                    <a:solidFill>
                      <a:srgbClr val="7E605A"/>
                    </a:solidFill>
                    <a:latin typeface="+mn-lt"/>
                    <a:ea typeface="+mn-ea"/>
                    <a:cs typeface="+mn-cs"/>
                  </a:rPr>
                  <a:t xml:space="preserve">100%　</a:t>
                </a:r>
              </a:p>
            </p:txBody>
          </p:sp>
          <p:sp>
            <p:nvSpPr>
              <p:cNvPr id="104" name="TextBox 104"/>
              <p:cNvSpPr txBox="1"/>
              <p:nvPr/>
            </p:nvSpPr>
            <p:spPr>
              <a:xfrm>
                <a:off x="5683263" y="5002530"/>
                <a:ext cx="284150" cy="119062"/>
              </a:xfrm>
              <a:prstGeom prst="rect">
                <a:avLst/>
              </a:prstGeom>
              <a:noFill/>
              <a:ln>
                <a:noFill/>
              </a:ln>
            </p:spPr>
            <p:txBody>
              <a:bodyPr wrap="none" lIns="0" tIns="0" rIns="0" bIns="0" anchor="t" anchorCtr="0">
                <a:spAutoFit/>
              </a:bodyPr>
              <a:lstStyle/>
              <a:p>
                <a:pPr algn="r"/>
                <a:r>
                  <a:rPr lang="zh-CN" sz="600" dirty="0">
                    <a:solidFill>
                      <a:srgbClr val="7E605A"/>
                    </a:solidFill>
                    <a:latin typeface="+mn-lt"/>
                    <a:ea typeface="+mn-ea"/>
                    <a:cs typeface="+mn-cs"/>
                  </a:rPr>
                  <a:t xml:space="preserve">250%　</a:t>
                </a:r>
              </a:p>
            </p:txBody>
          </p:sp>
          <p:sp>
            <p:nvSpPr>
              <p:cNvPr id="105" name="TextBox 105"/>
              <p:cNvSpPr txBox="1"/>
              <p:nvPr/>
            </p:nvSpPr>
            <p:spPr>
              <a:xfrm>
                <a:off x="5306225" y="4240530"/>
                <a:ext cx="284150" cy="119062"/>
              </a:xfrm>
              <a:prstGeom prst="rect">
                <a:avLst/>
              </a:prstGeom>
              <a:noFill/>
              <a:ln>
                <a:noFill/>
              </a:ln>
            </p:spPr>
            <p:txBody>
              <a:bodyPr wrap="none" lIns="0" tIns="0" rIns="0" bIns="0" anchor="t" anchorCtr="0">
                <a:spAutoFit/>
              </a:bodyPr>
              <a:lstStyle/>
              <a:p>
                <a:pPr algn="ctr"/>
                <a:r>
                  <a:rPr lang="zh-CN" sz="600" dirty="0">
                    <a:solidFill>
                      <a:srgbClr val="7E605A"/>
                    </a:solidFill>
                    <a:latin typeface="+mn-lt"/>
                    <a:ea typeface="+mn-ea"/>
                    <a:cs typeface="+mn-cs"/>
                  </a:rPr>
                  <a:t xml:space="preserve">185%　</a:t>
                </a:r>
              </a:p>
            </p:txBody>
          </p:sp>
        </p:grpSp>
        <p:grpSp>
          <p:nvGrpSpPr>
            <p:cNvPr id="135" name="target-e"/>
            <p:cNvGrpSpPr/>
            <p:nvPr/>
          </p:nvGrpSpPr>
          <p:grpSpPr>
            <a:xfrm>
              <a:off x="6229350" y="1543050"/>
              <a:ext cx="1371600" cy="3714750"/>
              <a:chOff x="6229350" y="1543050"/>
              <a:chExt cx="1371600" cy="3714750"/>
            </a:xfrm>
          </p:grpSpPr>
          <p:sp>
            <p:nvSpPr>
              <p:cNvPr id="107" name="Rectangle 107"/>
              <p:cNvSpPr/>
              <p:nvPr/>
            </p:nvSpPr>
            <p:spPr>
              <a:xfrm>
                <a:off x="6229350" y="1543050"/>
                <a:ext cx="1371600" cy="3714750"/>
              </a:xfrm>
              <a:prstGeom prst="roundRect">
                <a:avLst>
                  <a:gd name="adj" fmla="val 5556"/>
                </a:avLst>
              </a:prstGeom>
              <a:solidFill>
                <a:srgbClr val="EFF5FD"/>
              </a:solidFill>
              <a:ln w="9525">
                <a:solidFill>
                  <a:srgbClr val="D7E2F2"/>
                </a:solidFill>
              </a:ln>
            </p:spPr>
          </p:sp>
          <p:sp>
            <p:nvSpPr>
              <p:cNvPr id="108" name="Ellipse 108"/>
              <p:cNvSpPr/>
              <p:nvPr/>
            </p:nvSpPr>
            <p:spPr>
              <a:xfrm>
                <a:off x="6315075" y="1647825"/>
                <a:ext cx="247650" cy="247650"/>
              </a:xfrm>
              <a:prstGeom prst="ellipse">
                <a:avLst/>
              </a:prstGeom>
              <a:solidFill>
                <a:srgbClr val="841600"/>
              </a:solidFill>
              <a:ln>
                <a:noFill/>
              </a:ln>
            </p:spPr>
          </p:sp>
          <p:sp>
            <p:nvSpPr>
              <p:cNvPr id="109" name="TextBox 109"/>
              <p:cNvSpPr txBox="1"/>
              <p:nvPr/>
            </p:nvSpPr>
            <p:spPr>
              <a:xfrm>
                <a:off x="6393697" y="1714024"/>
                <a:ext cx="904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E</a:t>
                </a:r>
              </a:p>
            </p:txBody>
          </p:sp>
          <p:sp>
            <p:nvSpPr>
              <p:cNvPr id="110" name="TextBox 110"/>
              <p:cNvSpPr txBox="1"/>
              <p:nvPr/>
            </p:nvSpPr>
            <p:spPr>
              <a:xfrm>
                <a:off x="6623685" y="1697831"/>
                <a:ext cx="614528"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客户增长</a:t>
                </a:r>
              </a:p>
            </p:txBody>
          </p:sp>
          <p:sp>
            <p:nvSpPr>
              <p:cNvPr id="111" name="TextBox 111"/>
              <p:cNvSpPr txBox="1"/>
              <p:nvPr/>
            </p:nvSpPr>
            <p:spPr>
              <a:xfrm>
                <a:off x="6338888" y="2021443"/>
                <a:ext cx="704164"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对公有效客户</a:t>
                </a:r>
              </a:p>
            </p:txBody>
          </p:sp>
          <p:sp>
            <p:nvSpPr>
              <p:cNvPr id="112" name="TextBox 112"/>
              <p:cNvSpPr txBox="1"/>
              <p:nvPr/>
            </p:nvSpPr>
            <p:spPr>
              <a:xfrm>
                <a:off x="6337935" y="2164556"/>
                <a:ext cx="835412"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+1,200户　</a:t>
                </a:r>
              </a:p>
            </p:txBody>
          </p:sp>
          <p:sp>
            <p:nvSpPr>
              <p:cNvPr id="113" name="TextBox 113"/>
              <p:cNvSpPr txBox="1"/>
              <p:nvPr/>
            </p:nvSpPr>
            <p:spPr>
              <a:xfrm>
                <a:off x="6338888" y="2440543"/>
                <a:ext cx="704164"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零售有效客户</a:t>
                </a:r>
              </a:p>
            </p:txBody>
          </p:sp>
          <p:sp>
            <p:nvSpPr>
              <p:cNvPr id="114" name="TextBox 114"/>
              <p:cNvSpPr txBox="1"/>
              <p:nvPr/>
            </p:nvSpPr>
            <p:spPr>
              <a:xfrm>
                <a:off x="6337935" y="2583656"/>
                <a:ext cx="637898"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+8万户　</a:t>
                </a:r>
              </a:p>
            </p:txBody>
          </p:sp>
          <p:sp>
            <p:nvSpPr>
              <p:cNvPr id="115" name="TextBox 115"/>
              <p:cNvSpPr txBox="1"/>
              <p:nvPr/>
            </p:nvSpPr>
            <p:spPr>
              <a:xfrm>
                <a:off x="6338888" y="2859643"/>
                <a:ext cx="472618"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财富客户</a:t>
                </a:r>
              </a:p>
            </p:txBody>
          </p:sp>
          <p:sp>
            <p:nvSpPr>
              <p:cNvPr id="116" name="TextBox 116"/>
              <p:cNvSpPr txBox="1"/>
              <p:nvPr/>
            </p:nvSpPr>
            <p:spPr>
              <a:xfrm>
                <a:off x="6337935" y="3002756"/>
                <a:ext cx="835412" cy="220028"/>
              </a:xfrm>
              <a:prstGeom prst="rect">
                <a:avLst/>
              </a:prstGeom>
              <a:noFill/>
              <a:ln>
                <a:noFill/>
              </a:ln>
            </p:spPr>
            <p:txBody>
              <a:bodyPr wrap="none" lIns="0" tIns="0" rIns="0" bIns="0" anchor="t" anchorCtr="0">
                <a:spAutoFit/>
              </a:bodyPr>
              <a:lstStyle/>
              <a:p>
                <a:pPr algn="l"/>
                <a:r>
                  <a:rPr lang="zh-CN" sz="1120" b="1" dirty="0">
                    <a:solidFill>
                      <a:srgbClr val="841600"/>
                    </a:solidFill>
                    <a:latin typeface="+mn-lt"/>
                    <a:ea typeface="+mn-ea"/>
                    <a:cs typeface="+mn-cs"/>
                  </a:rPr>
                  <a:t xml:space="preserve">+3,500户　</a:t>
                </a:r>
              </a:p>
            </p:txBody>
          </p:sp>
          <p:sp>
            <p:nvSpPr>
              <p:cNvPr id="117" name="Freeform 117"/>
              <p:cNvSpPr/>
              <p:nvPr/>
            </p:nvSpPr>
            <p:spPr>
              <a:xfrm rot="10800000">
                <a:off x="6438900" y="3848100"/>
                <a:ext cx="952500" cy="323850"/>
              </a:xfrm>
              <a:prstGeom prst="trapezoid">
                <a:avLst>
                  <a:gd name="adj" fmla="val 38235"/>
                </a:avLst>
              </a:prstGeom>
              <a:solidFill>
                <a:srgbClr val="841600"/>
              </a:solidFill>
              <a:ln>
                <a:noFill/>
              </a:ln>
            </p:spPr>
          </p:sp>
          <p:sp>
            <p:nvSpPr>
              <p:cNvPr id="118" name="Freeform 118"/>
              <p:cNvSpPr/>
              <p:nvPr/>
            </p:nvSpPr>
            <p:spPr>
              <a:xfrm rot="10800000">
                <a:off x="6562725" y="4210050"/>
                <a:ext cx="704850" cy="323850"/>
              </a:xfrm>
              <a:prstGeom prst="trapezoid">
                <a:avLst>
                  <a:gd name="adj" fmla="val 38235"/>
                </a:avLst>
              </a:prstGeom>
              <a:solidFill>
                <a:srgbClr val="C9482E"/>
              </a:solidFill>
              <a:ln>
                <a:noFill/>
              </a:ln>
            </p:spPr>
          </p:sp>
          <p:sp>
            <p:nvSpPr>
              <p:cNvPr id="119" name="Freeform 119"/>
              <p:cNvSpPr/>
              <p:nvPr/>
            </p:nvSpPr>
            <p:spPr>
              <a:xfrm rot="10800000">
                <a:off x="6686550" y="4572000"/>
                <a:ext cx="457200" cy="323850"/>
              </a:xfrm>
              <a:prstGeom prst="trapezoid">
                <a:avLst>
                  <a:gd name="adj" fmla="val 29412"/>
                </a:avLst>
              </a:prstGeom>
              <a:solidFill>
                <a:srgbClr val="E3907F"/>
              </a:solidFill>
              <a:ln>
                <a:noFill/>
              </a:ln>
            </p:spPr>
          </p:sp>
          <p:grpSp>
            <p:nvGrpSpPr>
              <p:cNvPr id="124" name="Group 124"/>
              <p:cNvGrpSpPr/>
              <p:nvPr/>
            </p:nvGrpSpPr>
            <p:grpSpPr>
              <a:xfrm>
                <a:off x="6843712" y="3938587"/>
                <a:ext cx="142875" cy="142875"/>
                <a:chOff x="6843712" y="3938587"/>
                <a:chExt cx="142875" cy="142875"/>
              </a:xfrm>
            </p:grpSpPr>
            <p:sp>
              <p:nvSpPr>
                <p:cNvPr id="120" name="Freeform 120"/>
                <p:cNvSpPr/>
                <p:nvPr/>
              </p:nvSpPr>
              <p:spPr>
                <a:xfrm>
                  <a:off x="6859587" y="39385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121" name="Freeform 121"/>
                <p:cNvSpPr/>
                <p:nvPr/>
              </p:nvSpPr>
              <p:spPr>
                <a:xfrm>
                  <a:off x="6843712" y="403383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122" name="Freeform 122"/>
                <p:cNvSpPr/>
                <p:nvPr/>
              </p:nvSpPr>
              <p:spPr>
                <a:xfrm>
                  <a:off x="6946900" y="3939619"/>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123" name="Freeform 123"/>
                <p:cNvSpPr/>
                <p:nvPr/>
              </p:nvSpPr>
              <p:spPr>
                <a:xfrm>
                  <a:off x="6962775" y="4035028"/>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grpSp>
            <p:nvGrpSpPr>
              <p:cNvPr id="131" name="Group 131"/>
              <p:cNvGrpSpPr/>
              <p:nvPr/>
            </p:nvGrpSpPr>
            <p:grpSpPr>
              <a:xfrm>
                <a:off x="6843712" y="4300537"/>
                <a:ext cx="142875" cy="142875"/>
                <a:chOff x="6843712" y="4300537"/>
                <a:chExt cx="142875" cy="142875"/>
              </a:xfrm>
            </p:grpSpPr>
            <p:sp>
              <p:nvSpPr>
                <p:cNvPr id="125" name="Freeform 125"/>
                <p:cNvSpPr/>
                <p:nvPr/>
              </p:nvSpPr>
              <p:spPr>
                <a:xfrm>
                  <a:off x="6899275" y="43640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26" name="Freeform 126"/>
                <p:cNvSpPr/>
                <p:nvPr/>
              </p:nvSpPr>
              <p:spPr>
                <a:xfrm>
                  <a:off x="6883400" y="4419600"/>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FFFFFF"/>
                  </a:solidFill>
                </a:ln>
              </p:spPr>
            </p:sp>
            <p:sp>
              <p:nvSpPr>
                <p:cNvPr id="127" name="Freeform 127"/>
                <p:cNvSpPr/>
                <p:nvPr/>
              </p:nvSpPr>
              <p:spPr>
                <a:xfrm>
                  <a:off x="6938962" y="43005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28" name="Freeform 128"/>
                <p:cNvSpPr/>
                <p:nvPr/>
              </p:nvSpPr>
              <p:spPr>
                <a:xfrm>
                  <a:off x="6954837" y="4356100"/>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FFFFFF"/>
                  </a:solidFill>
                </a:ln>
              </p:spPr>
            </p:sp>
            <p:sp>
              <p:nvSpPr>
                <p:cNvPr id="129" name="Freeform 129"/>
                <p:cNvSpPr/>
                <p:nvPr/>
              </p:nvSpPr>
              <p:spPr>
                <a:xfrm>
                  <a:off x="6859587" y="43005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30" name="Freeform 130"/>
                <p:cNvSpPr/>
                <p:nvPr/>
              </p:nvSpPr>
              <p:spPr>
                <a:xfrm>
                  <a:off x="6843712" y="4356100"/>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FFFFFF"/>
                  </a:solidFill>
                </a:ln>
              </p:spPr>
            </p:sp>
          </p:grpSp>
          <p:grpSp>
            <p:nvGrpSpPr>
              <p:cNvPr id="134" name="Group 134"/>
              <p:cNvGrpSpPr/>
              <p:nvPr/>
            </p:nvGrpSpPr>
            <p:grpSpPr>
              <a:xfrm>
                <a:off x="6858000" y="4689475"/>
                <a:ext cx="114300" cy="93409"/>
                <a:chOff x="6858000" y="4689475"/>
                <a:chExt cx="114300" cy="93409"/>
              </a:xfrm>
            </p:grpSpPr>
            <p:sp>
              <p:nvSpPr>
                <p:cNvPr id="132" name="Freeform 132"/>
                <p:cNvSpPr/>
                <p:nvPr/>
              </p:nvSpPr>
              <p:spPr>
                <a:xfrm>
                  <a:off x="6858000" y="4689475"/>
                  <a:ext cx="114300" cy="93409"/>
                </a:xfrm>
                <a:custGeom>
                  <a:avLst/>
                  <a:gdLst/>
                  <a:ahLst/>
                  <a:cxnLst/>
                  <a:rect l="l" t="t" r="r" b="b"/>
                  <a:pathLst>
                    <a:path w="114300" h="93409">
                      <a:moveTo>
                        <a:pt x="19050" y="0"/>
                      </a:moveTo>
                      <a:lnTo>
                        <a:pt x="95250" y="0"/>
                      </a:lnTo>
                      <a:lnTo>
                        <a:pt x="114300" y="31750"/>
                      </a:lnTo>
                      <a:lnTo>
                        <a:pt x="60325" y="92075"/>
                      </a:lnTo>
                      <a:cubicBezTo>
                        <a:pt x="59489" y="92928"/>
                        <a:pt x="58345" y="93409"/>
                        <a:pt x="57150" y="93409"/>
                      </a:cubicBezTo>
                      <a:cubicBezTo>
                        <a:pt x="55955" y="93409"/>
                        <a:pt x="54811" y="92928"/>
                        <a:pt x="53975" y="92075"/>
                      </a:cubicBezTo>
                      <a:lnTo>
                        <a:pt x="0" y="31750"/>
                      </a:lnTo>
                      <a:lnTo>
                        <a:pt x="19050" y="0"/>
                      </a:lnTo>
                    </a:path>
                  </a:pathLst>
                </a:custGeom>
                <a:noFill/>
                <a:ln w="12700">
                  <a:solidFill>
                    <a:srgbClr val="FFFFFF"/>
                  </a:solidFill>
                </a:ln>
              </p:spPr>
            </p:sp>
            <p:sp>
              <p:nvSpPr>
                <p:cNvPr id="133" name="Freeform 133"/>
                <p:cNvSpPr/>
                <p:nvPr/>
              </p:nvSpPr>
              <p:spPr>
                <a:xfrm>
                  <a:off x="6889750" y="4713605"/>
                  <a:ext cx="12700" cy="20320"/>
                </a:xfrm>
                <a:custGeom>
                  <a:avLst/>
                  <a:gdLst/>
                  <a:ahLst/>
                  <a:cxnLst/>
                  <a:rect l="l" t="t" r="r" b="b"/>
                  <a:pathLst>
                    <a:path w="12700" h="20320">
                      <a:moveTo>
                        <a:pt x="12700" y="20320"/>
                      </a:moveTo>
                      <a:lnTo>
                        <a:pt x="0" y="6350"/>
                      </a:lnTo>
                      <a:lnTo>
                        <a:pt x="3810" y="0"/>
                      </a:lnTo>
                    </a:path>
                  </a:pathLst>
                </a:custGeom>
                <a:noFill/>
                <a:ln w="12700">
                  <a:solidFill>
                    <a:srgbClr val="FFFFFF"/>
                  </a:solidFill>
                </a:ln>
              </p:spPr>
            </p:sp>
          </p:grpSp>
        </p:grpSp>
      </p:grpSp>
      <p:grpSp>
        <p:nvGrpSpPr>
          <p:cNvPr id="183" name="quarter-table"/>
          <p:cNvGrpSpPr/>
          <p:nvPr/>
        </p:nvGrpSpPr>
        <p:grpSpPr>
          <a:xfrm>
            <a:off x="7734300" y="876300"/>
            <a:ext cx="4191000" cy="4476750"/>
            <a:chOff x="7734300" y="876300"/>
            <a:chExt cx="4191000" cy="4476750"/>
          </a:xfrm>
        </p:grpSpPr>
        <p:sp>
          <p:nvSpPr>
            <p:cNvPr id="137" name="Rectangle 137"/>
            <p:cNvSpPr/>
            <p:nvPr/>
          </p:nvSpPr>
          <p:spPr>
            <a:xfrm>
              <a:off x="7734300" y="876300"/>
              <a:ext cx="4191000" cy="4476750"/>
            </a:xfrm>
            <a:prstGeom prst="roundRect">
              <a:avLst>
                <a:gd name="adj" fmla="val 2273"/>
              </a:avLst>
            </a:prstGeom>
            <a:solidFill>
              <a:srgbClr val="FFFFFF"/>
            </a:solidFill>
            <a:ln w="9525">
              <a:solidFill>
                <a:srgbClr val="D7E2F2"/>
              </a:solidFill>
            </a:ln>
          </p:spPr>
        </p:sp>
        <p:sp>
          <p:nvSpPr>
            <p:cNvPr id="138" name="Rectangle 138"/>
            <p:cNvSpPr/>
            <p:nvPr/>
          </p:nvSpPr>
          <p:spPr>
            <a:xfrm>
              <a:off x="7734300" y="876300"/>
              <a:ext cx="4191000" cy="400050"/>
            </a:xfrm>
            <a:prstGeom prst="roundRect">
              <a:avLst>
                <a:gd name="adj" fmla="val 23810"/>
              </a:avLst>
            </a:prstGeom>
            <a:solidFill>
              <a:srgbClr val="841600"/>
            </a:solidFill>
            <a:ln>
              <a:noFill/>
            </a:ln>
          </p:spPr>
        </p:sp>
        <p:sp>
          <p:nvSpPr>
            <p:cNvPr id="139" name="Rectangle 139"/>
            <p:cNvSpPr/>
            <p:nvPr/>
          </p:nvSpPr>
          <p:spPr>
            <a:xfrm>
              <a:off x="7734300" y="1104900"/>
              <a:ext cx="4191000" cy="171450"/>
            </a:xfrm>
            <a:prstGeom prst="rect">
              <a:avLst/>
            </a:prstGeom>
            <a:solidFill>
              <a:srgbClr val="841600"/>
            </a:solidFill>
            <a:ln>
              <a:noFill/>
            </a:ln>
          </p:spPr>
        </p:sp>
        <p:sp>
          <p:nvSpPr>
            <p:cNvPr id="140" name="TextBox 140"/>
            <p:cNvSpPr txBox="1"/>
            <p:nvPr/>
          </p:nvSpPr>
          <p:spPr>
            <a:xfrm>
              <a:off x="9034094" y="1014889"/>
              <a:ext cx="1591412"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 xml:space="preserve">Q3 / Q4任务分解　</a:t>
              </a:r>
            </a:p>
          </p:txBody>
        </p:sp>
        <p:sp>
          <p:nvSpPr>
            <p:cNvPr id="141" name="Rectangle 141"/>
            <p:cNvSpPr/>
            <p:nvPr/>
          </p:nvSpPr>
          <p:spPr>
            <a:xfrm>
              <a:off x="7734300" y="1276350"/>
              <a:ext cx="4191000" cy="304800"/>
            </a:xfrm>
            <a:prstGeom prst="rect">
              <a:avLst/>
            </a:prstGeom>
            <a:solidFill>
              <a:srgbClr val="EFF5FD"/>
            </a:solidFill>
            <a:ln>
              <a:noFill/>
            </a:ln>
          </p:spPr>
        </p:sp>
        <p:sp>
          <p:nvSpPr>
            <p:cNvPr id="142" name="TextBox 142"/>
            <p:cNvSpPr txBox="1"/>
            <p:nvPr/>
          </p:nvSpPr>
          <p:spPr>
            <a:xfrm>
              <a:off x="7862697" y="1380649"/>
              <a:ext cx="273761" cy="190690"/>
            </a:xfrm>
            <a:prstGeom prst="rect">
              <a:avLst/>
            </a:prstGeom>
            <a:noFill/>
            <a:ln>
              <a:noFill/>
            </a:ln>
          </p:spPr>
          <p:txBody>
            <a:bodyPr wrap="none" lIns="0" tIns="0" rIns="0" bIns="0" anchor="t" anchorCtr="0">
              <a:spAutoFit/>
            </a:bodyPr>
            <a:lstStyle/>
            <a:p>
              <a:pPr algn="l"/>
              <a:r>
                <a:rPr lang="zh-CN" sz="980" b="1" dirty="0">
                  <a:solidFill>
                    <a:srgbClr val="841600"/>
                  </a:solidFill>
                  <a:latin typeface="+mn-lt"/>
                  <a:ea typeface="+mn-ea"/>
                  <a:cs typeface="+mn-cs"/>
                </a:rPr>
                <a:t>指标</a:t>
              </a:r>
            </a:p>
          </p:txBody>
        </p:sp>
        <p:sp>
          <p:nvSpPr>
            <p:cNvPr id="143" name="TextBox 143"/>
            <p:cNvSpPr txBox="1"/>
            <p:nvPr/>
          </p:nvSpPr>
          <p:spPr>
            <a:xfrm>
              <a:off x="9406571" y="1380649"/>
              <a:ext cx="332108" cy="190690"/>
            </a:xfrm>
            <a:prstGeom prst="rect">
              <a:avLst/>
            </a:prstGeom>
            <a:noFill/>
            <a:ln>
              <a:noFill/>
            </a:ln>
          </p:spPr>
          <p:txBody>
            <a:bodyPr wrap="none" lIns="0" tIns="0" rIns="0" bIns="0" anchor="t" anchorCtr="0">
              <a:spAutoFit/>
            </a:bodyPr>
            <a:lstStyle/>
            <a:p>
              <a:pPr algn="ctr"/>
              <a:r>
                <a:rPr lang="zh-CN" sz="980" b="1" dirty="0">
                  <a:solidFill>
                    <a:srgbClr val="841600"/>
                  </a:solidFill>
                  <a:latin typeface="+mn-lt"/>
                  <a:ea typeface="+mn-ea"/>
                  <a:cs typeface="+mn-cs"/>
                </a:rPr>
                <a:t xml:space="preserve">Q3　</a:t>
              </a:r>
            </a:p>
          </p:txBody>
        </p:sp>
        <p:sp>
          <p:nvSpPr>
            <p:cNvPr id="144" name="TextBox 144"/>
            <p:cNvSpPr txBox="1"/>
            <p:nvPr/>
          </p:nvSpPr>
          <p:spPr>
            <a:xfrm>
              <a:off x="10263821" y="1380649"/>
              <a:ext cx="332108" cy="190690"/>
            </a:xfrm>
            <a:prstGeom prst="rect">
              <a:avLst/>
            </a:prstGeom>
            <a:noFill/>
            <a:ln>
              <a:noFill/>
            </a:ln>
          </p:spPr>
          <p:txBody>
            <a:bodyPr wrap="none" lIns="0" tIns="0" rIns="0" bIns="0" anchor="t" anchorCtr="0">
              <a:spAutoFit/>
            </a:bodyPr>
            <a:lstStyle/>
            <a:p>
              <a:pPr algn="ctr"/>
              <a:r>
                <a:rPr lang="zh-CN" sz="980" b="1" dirty="0">
                  <a:solidFill>
                    <a:srgbClr val="841600"/>
                  </a:solidFill>
                  <a:latin typeface="+mn-lt"/>
                  <a:ea typeface="+mn-ea"/>
                  <a:cs typeface="+mn-cs"/>
                </a:rPr>
                <a:t xml:space="preserve">Q4　</a:t>
              </a:r>
            </a:p>
          </p:txBody>
        </p:sp>
        <p:sp>
          <p:nvSpPr>
            <p:cNvPr id="145" name="TextBox 145"/>
            <p:cNvSpPr txBox="1"/>
            <p:nvPr/>
          </p:nvSpPr>
          <p:spPr>
            <a:xfrm>
              <a:off x="11255019" y="1380649"/>
              <a:ext cx="273761" cy="190690"/>
            </a:xfrm>
            <a:prstGeom prst="rect">
              <a:avLst/>
            </a:prstGeom>
            <a:noFill/>
            <a:ln>
              <a:noFill/>
            </a:ln>
          </p:spPr>
          <p:txBody>
            <a:bodyPr wrap="none" lIns="0" tIns="0" rIns="0" bIns="0" anchor="t" anchorCtr="0">
              <a:spAutoFit/>
            </a:bodyPr>
            <a:lstStyle/>
            <a:p>
              <a:pPr algn="ctr"/>
              <a:r>
                <a:rPr lang="zh-CN" sz="980" b="1" dirty="0">
                  <a:solidFill>
                    <a:srgbClr val="841600"/>
                  </a:solidFill>
                  <a:latin typeface="+mn-lt"/>
                  <a:ea typeface="+mn-ea"/>
                  <a:cs typeface="+mn-cs"/>
                </a:rPr>
                <a:t>状态</a:t>
              </a:r>
            </a:p>
          </p:txBody>
        </p:sp>
        <p:sp>
          <p:nvSpPr>
            <p:cNvPr id="146" name="Line 146"/>
            <p:cNvSpPr/>
            <p:nvPr/>
          </p:nvSpPr>
          <p:spPr>
            <a:xfrm>
              <a:off x="9144000" y="1276350"/>
              <a:ext cx="9525" cy="3924300"/>
            </a:xfrm>
            <a:custGeom>
              <a:avLst/>
              <a:gdLst/>
              <a:ahLst/>
              <a:cxnLst/>
              <a:rect l="l" t="t" r="r" b="b"/>
              <a:pathLst>
                <a:path w="9525" h="3924300">
                  <a:moveTo>
                    <a:pt x="0" y="0"/>
                  </a:moveTo>
                  <a:lnTo>
                    <a:pt x="0" y="3924300"/>
                  </a:lnTo>
                </a:path>
              </a:pathLst>
            </a:custGeom>
            <a:noFill/>
            <a:ln w="9525">
              <a:solidFill>
                <a:srgbClr val="E5ECF6"/>
              </a:solidFill>
            </a:ln>
          </p:spPr>
        </p:sp>
        <p:sp>
          <p:nvSpPr>
            <p:cNvPr id="147" name="Line 147"/>
            <p:cNvSpPr/>
            <p:nvPr/>
          </p:nvSpPr>
          <p:spPr>
            <a:xfrm>
              <a:off x="10001250" y="1276350"/>
              <a:ext cx="9525" cy="3924300"/>
            </a:xfrm>
            <a:custGeom>
              <a:avLst/>
              <a:gdLst/>
              <a:ahLst/>
              <a:cxnLst/>
              <a:rect l="l" t="t" r="r" b="b"/>
              <a:pathLst>
                <a:path w="9525" h="3924300">
                  <a:moveTo>
                    <a:pt x="0" y="0"/>
                  </a:moveTo>
                  <a:lnTo>
                    <a:pt x="0" y="3924300"/>
                  </a:lnTo>
                </a:path>
              </a:pathLst>
            </a:custGeom>
            <a:noFill/>
            <a:ln w="9525">
              <a:solidFill>
                <a:srgbClr val="E5ECF6"/>
              </a:solidFill>
            </a:ln>
          </p:spPr>
        </p:sp>
        <p:sp>
          <p:nvSpPr>
            <p:cNvPr id="148" name="Line 148"/>
            <p:cNvSpPr/>
            <p:nvPr/>
          </p:nvSpPr>
          <p:spPr>
            <a:xfrm>
              <a:off x="10858500" y="1276350"/>
              <a:ext cx="9525" cy="3924300"/>
            </a:xfrm>
            <a:custGeom>
              <a:avLst/>
              <a:gdLst/>
              <a:ahLst/>
              <a:cxnLst/>
              <a:rect l="l" t="t" r="r" b="b"/>
              <a:pathLst>
                <a:path w="9525" h="3924300">
                  <a:moveTo>
                    <a:pt x="0" y="0"/>
                  </a:moveTo>
                  <a:lnTo>
                    <a:pt x="0" y="3924300"/>
                  </a:lnTo>
                </a:path>
              </a:pathLst>
            </a:custGeom>
            <a:noFill/>
            <a:ln w="9525">
              <a:solidFill>
                <a:srgbClr val="E5ECF6"/>
              </a:solidFill>
            </a:ln>
          </p:spPr>
        </p:sp>
        <p:sp>
          <p:nvSpPr>
            <p:cNvPr id="149" name="Line 149"/>
            <p:cNvSpPr/>
            <p:nvPr/>
          </p:nvSpPr>
          <p:spPr>
            <a:xfrm>
              <a:off x="7734300" y="2305050"/>
              <a:ext cx="4191000" cy="9525"/>
            </a:xfrm>
            <a:custGeom>
              <a:avLst/>
              <a:gdLst/>
              <a:ahLst/>
              <a:cxnLst/>
              <a:rect l="l" t="t" r="r" b="b"/>
              <a:pathLst>
                <a:path w="4191000" h="9525">
                  <a:moveTo>
                    <a:pt x="0" y="0"/>
                  </a:moveTo>
                  <a:lnTo>
                    <a:pt x="4191000" y="0"/>
                  </a:lnTo>
                </a:path>
              </a:pathLst>
            </a:custGeom>
            <a:noFill/>
            <a:ln w="9525">
              <a:solidFill>
                <a:srgbClr val="E5ECF6"/>
              </a:solidFill>
            </a:ln>
          </p:spPr>
        </p:sp>
        <p:sp>
          <p:nvSpPr>
            <p:cNvPr id="150" name="Line 150"/>
            <p:cNvSpPr/>
            <p:nvPr/>
          </p:nvSpPr>
          <p:spPr>
            <a:xfrm>
              <a:off x="7734300" y="3028950"/>
              <a:ext cx="4191000" cy="9525"/>
            </a:xfrm>
            <a:custGeom>
              <a:avLst/>
              <a:gdLst/>
              <a:ahLst/>
              <a:cxnLst/>
              <a:rect l="l" t="t" r="r" b="b"/>
              <a:pathLst>
                <a:path w="4191000" h="9525">
                  <a:moveTo>
                    <a:pt x="0" y="0"/>
                  </a:moveTo>
                  <a:lnTo>
                    <a:pt x="4191000" y="0"/>
                  </a:lnTo>
                </a:path>
              </a:pathLst>
            </a:custGeom>
            <a:noFill/>
            <a:ln w="9525">
              <a:solidFill>
                <a:srgbClr val="E5ECF6"/>
              </a:solidFill>
            </a:ln>
          </p:spPr>
        </p:sp>
        <p:sp>
          <p:nvSpPr>
            <p:cNvPr id="151" name="Line 151"/>
            <p:cNvSpPr/>
            <p:nvPr/>
          </p:nvSpPr>
          <p:spPr>
            <a:xfrm>
              <a:off x="7734300" y="3752850"/>
              <a:ext cx="4191000" cy="9525"/>
            </a:xfrm>
            <a:custGeom>
              <a:avLst/>
              <a:gdLst/>
              <a:ahLst/>
              <a:cxnLst/>
              <a:rect l="l" t="t" r="r" b="b"/>
              <a:pathLst>
                <a:path w="4191000" h="9525">
                  <a:moveTo>
                    <a:pt x="0" y="0"/>
                  </a:moveTo>
                  <a:lnTo>
                    <a:pt x="4191000" y="0"/>
                  </a:lnTo>
                </a:path>
              </a:pathLst>
            </a:custGeom>
            <a:noFill/>
            <a:ln w="9525">
              <a:solidFill>
                <a:srgbClr val="E5ECF6"/>
              </a:solidFill>
            </a:ln>
          </p:spPr>
        </p:sp>
        <p:sp>
          <p:nvSpPr>
            <p:cNvPr id="152" name="Line 152"/>
            <p:cNvSpPr/>
            <p:nvPr/>
          </p:nvSpPr>
          <p:spPr>
            <a:xfrm>
              <a:off x="7734300" y="4476750"/>
              <a:ext cx="4191000" cy="9525"/>
            </a:xfrm>
            <a:custGeom>
              <a:avLst/>
              <a:gdLst/>
              <a:ahLst/>
              <a:cxnLst/>
              <a:rect l="l" t="t" r="r" b="b"/>
              <a:pathLst>
                <a:path w="4191000" h="9525">
                  <a:moveTo>
                    <a:pt x="0" y="0"/>
                  </a:moveTo>
                  <a:lnTo>
                    <a:pt x="4191000" y="0"/>
                  </a:lnTo>
                </a:path>
              </a:pathLst>
            </a:custGeom>
            <a:noFill/>
            <a:ln w="9525">
              <a:solidFill>
                <a:srgbClr val="E5ECF6"/>
              </a:solidFill>
            </a:ln>
          </p:spPr>
        </p:sp>
        <p:grpSp>
          <p:nvGrpSpPr>
            <p:cNvPr id="158" name="qrow-1"/>
            <p:cNvGrpSpPr/>
            <p:nvPr/>
          </p:nvGrpSpPr>
          <p:grpSpPr>
            <a:xfrm>
              <a:off x="7862316" y="1878806"/>
              <a:ext cx="3626942" cy="220028"/>
              <a:chOff x="7862316" y="1878806"/>
              <a:chExt cx="3626942" cy="220028"/>
            </a:xfrm>
          </p:grpSpPr>
          <p:sp>
            <p:nvSpPr>
              <p:cNvPr id="153" name="TextBox 153"/>
              <p:cNvSpPr txBox="1"/>
              <p:nvPr/>
            </p:nvSpPr>
            <p:spPr>
              <a:xfrm>
                <a:off x="7862316" y="1886902"/>
                <a:ext cx="858774"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存款日均增量</a:t>
                </a:r>
              </a:p>
            </p:txBody>
          </p:sp>
          <p:sp>
            <p:nvSpPr>
              <p:cNvPr id="154" name="TextBox 154"/>
              <p:cNvSpPr txBox="1"/>
              <p:nvPr/>
            </p:nvSpPr>
            <p:spPr>
              <a:xfrm>
                <a:off x="9285527" y="1878806"/>
                <a:ext cx="574195"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+42亿　</a:t>
                </a:r>
              </a:p>
            </p:txBody>
          </p:sp>
          <p:sp>
            <p:nvSpPr>
              <p:cNvPr id="155" name="TextBox 155"/>
              <p:cNvSpPr txBox="1"/>
              <p:nvPr/>
            </p:nvSpPr>
            <p:spPr>
              <a:xfrm>
                <a:off x="10142777" y="1878806"/>
                <a:ext cx="574195"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+58亿　</a:t>
                </a:r>
              </a:p>
            </p:txBody>
          </p:sp>
          <p:sp>
            <p:nvSpPr>
              <p:cNvPr id="156" name="Ellipse 156"/>
              <p:cNvSpPr/>
              <p:nvPr/>
            </p:nvSpPr>
            <p:spPr>
              <a:xfrm>
                <a:off x="11049000" y="1895475"/>
                <a:ext cx="114300" cy="114300"/>
              </a:xfrm>
              <a:prstGeom prst="ellipse">
                <a:avLst/>
              </a:prstGeom>
              <a:solidFill>
                <a:srgbClr val="9E331E"/>
              </a:solidFill>
              <a:ln>
                <a:noFill/>
              </a:ln>
            </p:spPr>
          </p:sp>
          <p:sp>
            <p:nvSpPr>
              <p:cNvPr id="157" name="TextBox 157"/>
              <p:cNvSpPr txBox="1"/>
              <p:nvPr/>
            </p:nvSpPr>
            <p:spPr>
              <a:xfrm>
                <a:off x="11215497" y="1894999"/>
                <a:ext cx="273761" cy="190690"/>
              </a:xfrm>
              <a:prstGeom prst="rect">
                <a:avLst/>
              </a:prstGeom>
              <a:noFill/>
              <a:ln>
                <a:noFill/>
              </a:ln>
            </p:spPr>
            <p:txBody>
              <a:bodyPr wrap="none" lIns="0" tIns="0" rIns="0" bIns="0" anchor="t" anchorCtr="0">
                <a:spAutoFit/>
              </a:bodyPr>
              <a:lstStyle/>
              <a:p>
                <a:pPr algn="l"/>
                <a:r>
                  <a:rPr lang="zh-CN" sz="980" dirty="0">
                    <a:solidFill>
                      <a:srgbClr val="1A1A1A"/>
                    </a:solidFill>
                    <a:latin typeface="+mn-lt"/>
                    <a:ea typeface="+mn-ea"/>
                    <a:cs typeface="+mn-cs"/>
                  </a:rPr>
                  <a:t>达成</a:t>
                </a:r>
              </a:p>
            </p:txBody>
          </p:sp>
        </p:grpSp>
        <p:grpSp>
          <p:nvGrpSpPr>
            <p:cNvPr id="164" name="qrow-2"/>
            <p:cNvGrpSpPr/>
            <p:nvPr/>
          </p:nvGrpSpPr>
          <p:grpSpPr>
            <a:xfrm>
              <a:off x="7862316" y="2602706"/>
              <a:ext cx="3626942" cy="220028"/>
              <a:chOff x="7862316" y="2602706"/>
              <a:chExt cx="3626942" cy="220028"/>
            </a:xfrm>
          </p:grpSpPr>
          <p:sp>
            <p:nvSpPr>
              <p:cNvPr id="159" name="TextBox 159"/>
              <p:cNvSpPr txBox="1"/>
              <p:nvPr/>
            </p:nvSpPr>
            <p:spPr>
              <a:xfrm>
                <a:off x="7862316" y="2610802"/>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贷款投放</a:t>
                </a:r>
              </a:p>
            </p:txBody>
          </p:sp>
          <p:sp>
            <p:nvSpPr>
              <p:cNvPr id="160" name="TextBox 160"/>
              <p:cNvSpPr txBox="1"/>
              <p:nvPr/>
            </p:nvSpPr>
            <p:spPr>
              <a:xfrm>
                <a:off x="9285527" y="2602706"/>
                <a:ext cx="574195"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+36亿　</a:t>
                </a:r>
              </a:p>
            </p:txBody>
          </p:sp>
          <p:sp>
            <p:nvSpPr>
              <p:cNvPr id="161" name="TextBox 161"/>
              <p:cNvSpPr txBox="1"/>
              <p:nvPr/>
            </p:nvSpPr>
            <p:spPr>
              <a:xfrm>
                <a:off x="10142777" y="2602706"/>
                <a:ext cx="574195"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+44亿　</a:t>
                </a:r>
              </a:p>
            </p:txBody>
          </p:sp>
          <p:sp>
            <p:nvSpPr>
              <p:cNvPr id="162" name="Ellipse 162"/>
              <p:cNvSpPr/>
              <p:nvPr/>
            </p:nvSpPr>
            <p:spPr>
              <a:xfrm>
                <a:off x="11049000" y="2619375"/>
                <a:ext cx="114300" cy="114300"/>
              </a:xfrm>
              <a:prstGeom prst="ellipse">
                <a:avLst/>
              </a:prstGeom>
              <a:solidFill>
                <a:srgbClr val="9E331E"/>
              </a:solidFill>
              <a:ln>
                <a:noFill/>
              </a:ln>
            </p:spPr>
          </p:sp>
          <p:sp>
            <p:nvSpPr>
              <p:cNvPr id="163" name="TextBox 163"/>
              <p:cNvSpPr txBox="1"/>
              <p:nvPr/>
            </p:nvSpPr>
            <p:spPr>
              <a:xfrm>
                <a:off x="11215497" y="2618899"/>
                <a:ext cx="273761" cy="190690"/>
              </a:xfrm>
              <a:prstGeom prst="rect">
                <a:avLst/>
              </a:prstGeom>
              <a:noFill/>
              <a:ln>
                <a:noFill/>
              </a:ln>
            </p:spPr>
            <p:txBody>
              <a:bodyPr wrap="none" lIns="0" tIns="0" rIns="0" bIns="0" anchor="t" anchorCtr="0">
                <a:spAutoFit/>
              </a:bodyPr>
              <a:lstStyle/>
              <a:p>
                <a:pPr algn="l"/>
                <a:r>
                  <a:rPr lang="zh-CN" sz="980" dirty="0">
                    <a:solidFill>
                      <a:srgbClr val="1A1A1A"/>
                    </a:solidFill>
                    <a:latin typeface="+mn-lt"/>
                    <a:ea typeface="+mn-ea"/>
                    <a:cs typeface="+mn-cs"/>
                  </a:rPr>
                  <a:t>达成</a:t>
                </a:r>
              </a:p>
            </p:txBody>
          </p:sp>
        </p:grpSp>
        <p:grpSp>
          <p:nvGrpSpPr>
            <p:cNvPr id="170" name="qrow-3"/>
            <p:cNvGrpSpPr/>
            <p:nvPr/>
          </p:nvGrpSpPr>
          <p:grpSpPr>
            <a:xfrm>
              <a:off x="7862316" y="3326606"/>
              <a:ext cx="3626942" cy="220028"/>
              <a:chOff x="7862316" y="3326606"/>
              <a:chExt cx="3626942" cy="220028"/>
            </a:xfrm>
          </p:grpSpPr>
          <p:sp>
            <p:nvSpPr>
              <p:cNvPr id="165" name="TextBox 165"/>
              <p:cNvSpPr txBox="1"/>
              <p:nvPr/>
            </p:nvSpPr>
            <p:spPr>
              <a:xfrm>
                <a:off x="7862316" y="3334702"/>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营业收入</a:t>
                </a:r>
              </a:p>
            </p:txBody>
          </p:sp>
          <p:sp>
            <p:nvSpPr>
              <p:cNvPr id="166" name="TextBox 166"/>
              <p:cNvSpPr txBox="1"/>
              <p:nvPr/>
            </p:nvSpPr>
            <p:spPr>
              <a:xfrm>
                <a:off x="9241991" y="3326606"/>
                <a:ext cx="661268"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18.2亿　</a:t>
                </a:r>
              </a:p>
            </p:txBody>
          </p:sp>
          <p:sp>
            <p:nvSpPr>
              <p:cNvPr id="167" name="TextBox 167"/>
              <p:cNvSpPr txBox="1"/>
              <p:nvPr/>
            </p:nvSpPr>
            <p:spPr>
              <a:xfrm>
                <a:off x="10099241" y="3326606"/>
                <a:ext cx="661268"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20.4亿　</a:t>
                </a:r>
              </a:p>
            </p:txBody>
          </p:sp>
          <p:sp>
            <p:nvSpPr>
              <p:cNvPr id="168" name="Ellipse 168"/>
              <p:cNvSpPr/>
              <p:nvPr/>
            </p:nvSpPr>
            <p:spPr>
              <a:xfrm>
                <a:off x="11049000" y="3343275"/>
                <a:ext cx="114300" cy="114300"/>
              </a:xfrm>
              <a:prstGeom prst="ellipse">
                <a:avLst/>
              </a:prstGeom>
              <a:solidFill>
                <a:srgbClr val="9E331E"/>
              </a:solidFill>
              <a:ln>
                <a:noFill/>
              </a:ln>
            </p:spPr>
          </p:sp>
          <p:sp>
            <p:nvSpPr>
              <p:cNvPr id="169" name="TextBox 169"/>
              <p:cNvSpPr txBox="1"/>
              <p:nvPr/>
            </p:nvSpPr>
            <p:spPr>
              <a:xfrm>
                <a:off x="11215497" y="3342799"/>
                <a:ext cx="273761" cy="190690"/>
              </a:xfrm>
              <a:prstGeom prst="rect">
                <a:avLst/>
              </a:prstGeom>
              <a:noFill/>
              <a:ln>
                <a:noFill/>
              </a:ln>
            </p:spPr>
            <p:txBody>
              <a:bodyPr wrap="none" lIns="0" tIns="0" rIns="0" bIns="0" anchor="t" anchorCtr="0">
                <a:spAutoFit/>
              </a:bodyPr>
              <a:lstStyle/>
              <a:p>
                <a:pPr algn="l"/>
                <a:r>
                  <a:rPr lang="zh-CN" sz="980" dirty="0">
                    <a:solidFill>
                      <a:srgbClr val="1A1A1A"/>
                    </a:solidFill>
                    <a:latin typeface="+mn-lt"/>
                    <a:ea typeface="+mn-ea"/>
                    <a:cs typeface="+mn-cs"/>
                  </a:rPr>
                  <a:t>达成</a:t>
                </a:r>
              </a:p>
            </p:txBody>
          </p:sp>
        </p:grpSp>
        <p:grpSp>
          <p:nvGrpSpPr>
            <p:cNvPr id="176" name="qrow-4"/>
            <p:cNvGrpSpPr/>
            <p:nvPr/>
          </p:nvGrpSpPr>
          <p:grpSpPr>
            <a:xfrm>
              <a:off x="7862316" y="4050506"/>
              <a:ext cx="3626942" cy="220028"/>
              <a:chOff x="7862316" y="4050506"/>
              <a:chExt cx="3626942" cy="220028"/>
            </a:xfrm>
          </p:grpSpPr>
          <p:sp>
            <p:nvSpPr>
              <p:cNvPr id="171" name="TextBox 171"/>
              <p:cNvSpPr txBox="1"/>
              <p:nvPr/>
            </p:nvSpPr>
            <p:spPr>
              <a:xfrm>
                <a:off x="7862316" y="4058602"/>
                <a:ext cx="29337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中收</a:t>
                </a:r>
              </a:p>
            </p:txBody>
          </p:sp>
          <p:sp>
            <p:nvSpPr>
              <p:cNvPr id="172" name="TextBox 172"/>
              <p:cNvSpPr txBox="1"/>
              <p:nvPr/>
            </p:nvSpPr>
            <p:spPr>
              <a:xfrm>
                <a:off x="9285527" y="4050506"/>
                <a:ext cx="574195"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4.1亿　</a:t>
                </a:r>
              </a:p>
            </p:txBody>
          </p:sp>
          <p:sp>
            <p:nvSpPr>
              <p:cNvPr id="173" name="TextBox 173"/>
              <p:cNvSpPr txBox="1"/>
              <p:nvPr/>
            </p:nvSpPr>
            <p:spPr>
              <a:xfrm>
                <a:off x="10142777" y="4050506"/>
                <a:ext cx="574195"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4.6亿　</a:t>
                </a:r>
              </a:p>
            </p:txBody>
          </p:sp>
          <p:sp>
            <p:nvSpPr>
              <p:cNvPr id="174" name="Ellipse 174"/>
              <p:cNvSpPr/>
              <p:nvPr/>
            </p:nvSpPr>
            <p:spPr>
              <a:xfrm>
                <a:off x="11049000" y="4067175"/>
                <a:ext cx="114300" cy="114300"/>
              </a:xfrm>
              <a:prstGeom prst="ellipse">
                <a:avLst/>
              </a:prstGeom>
              <a:solidFill>
                <a:srgbClr val="9E331E"/>
              </a:solidFill>
              <a:ln>
                <a:noFill/>
              </a:ln>
            </p:spPr>
          </p:sp>
          <p:sp>
            <p:nvSpPr>
              <p:cNvPr id="175" name="TextBox 175"/>
              <p:cNvSpPr txBox="1"/>
              <p:nvPr/>
            </p:nvSpPr>
            <p:spPr>
              <a:xfrm>
                <a:off x="11215497" y="4066699"/>
                <a:ext cx="273761" cy="190690"/>
              </a:xfrm>
              <a:prstGeom prst="rect">
                <a:avLst/>
              </a:prstGeom>
              <a:noFill/>
              <a:ln>
                <a:noFill/>
              </a:ln>
            </p:spPr>
            <p:txBody>
              <a:bodyPr wrap="none" lIns="0" tIns="0" rIns="0" bIns="0" anchor="t" anchorCtr="0">
                <a:spAutoFit/>
              </a:bodyPr>
              <a:lstStyle/>
              <a:p>
                <a:pPr algn="l"/>
                <a:r>
                  <a:rPr lang="zh-CN" sz="980" dirty="0">
                    <a:solidFill>
                      <a:srgbClr val="1A1A1A"/>
                    </a:solidFill>
                    <a:latin typeface="+mn-lt"/>
                    <a:ea typeface="+mn-ea"/>
                    <a:cs typeface="+mn-cs"/>
                  </a:rPr>
                  <a:t>达成</a:t>
                </a:r>
              </a:p>
            </p:txBody>
          </p:sp>
        </p:grpSp>
        <p:grpSp>
          <p:nvGrpSpPr>
            <p:cNvPr id="182" name="qrow-5"/>
            <p:cNvGrpSpPr/>
            <p:nvPr/>
          </p:nvGrpSpPr>
          <p:grpSpPr>
            <a:xfrm>
              <a:off x="7862316" y="4774406"/>
              <a:ext cx="3626942" cy="220028"/>
              <a:chOff x="7862316" y="4774406"/>
              <a:chExt cx="3626942" cy="220028"/>
            </a:xfrm>
          </p:grpSpPr>
          <p:sp>
            <p:nvSpPr>
              <p:cNvPr id="177" name="TextBox 177"/>
              <p:cNvSpPr txBox="1"/>
              <p:nvPr/>
            </p:nvSpPr>
            <p:spPr>
              <a:xfrm>
                <a:off x="7862316" y="4782502"/>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不良处置</a:t>
                </a:r>
              </a:p>
            </p:txBody>
          </p:sp>
          <p:sp>
            <p:nvSpPr>
              <p:cNvPr id="178" name="TextBox 178"/>
              <p:cNvSpPr txBox="1"/>
              <p:nvPr/>
            </p:nvSpPr>
            <p:spPr>
              <a:xfrm>
                <a:off x="9285527" y="4774406"/>
                <a:ext cx="574195"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3.2亿　</a:t>
                </a:r>
              </a:p>
            </p:txBody>
          </p:sp>
          <p:sp>
            <p:nvSpPr>
              <p:cNvPr id="179" name="TextBox 179"/>
              <p:cNvSpPr txBox="1"/>
              <p:nvPr/>
            </p:nvSpPr>
            <p:spPr>
              <a:xfrm>
                <a:off x="10142777" y="4774406"/>
                <a:ext cx="574195"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4.5亿　</a:t>
                </a:r>
              </a:p>
            </p:txBody>
          </p:sp>
          <p:sp>
            <p:nvSpPr>
              <p:cNvPr id="180" name="Ellipse 180"/>
              <p:cNvSpPr/>
              <p:nvPr/>
            </p:nvSpPr>
            <p:spPr>
              <a:xfrm>
                <a:off x="11049000" y="4791075"/>
                <a:ext cx="114300" cy="114300"/>
              </a:xfrm>
              <a:prstGeom prst="ellipse">
                <a:avLst/>
              </a:prstGeom>
              <a:solidFill>
                <a:srgbClr val="ED4D31"/>
              </a:solidFill>
              <a:ln>
                <a:noFill/>
              </a:ln>
            </p:spPr>
          </p:sp>
          <p:sp>
            <p:nvSpPr>
              <p:cNvPr id="181" name="TextBox 181"/>
              <p:cNvSpPr txBox="1"/>
              <p:nvPr/>
            </p:nvSpPr>
            <p:spPr>
              <a:xfrm>
                <a:off x="11215497" y="4790599"/>
                <a:ext cx="273761" cy="190690"/>
              </a:xfrm>
              <a:prstGeom prst="rect">
                <a:avLst/>
              </a:prstGeom>
              <a:noFill/>
              <a:ln>
                <a:noFill/>
              </a:ln>
            </p:spPr>
            <p:txBody>
              <a:bodyPr wrap="none" lIns="0" tIns="0" rIns="0" bIns="0" anchor="t" anchorCtr="0">
                <a:spAutoFit/>
              </a:bodyPr>
              <a:lstStyle/>
              <a:p>
                <a:pPr algn="l"/>
                <a:r>
                  <a:rPr lang="zh-CN" sz="980" dirty="0">
                    <a:solidFill>
                      <a:srgbClr val="1A1A1A"/>
                    </a:solidFill>
                    <a:latin typeface="+mn-lt"/>
                    <a:ea typeface="+mn-ea"/>
                    <a:cs typeface="+mn-cs"/>
                  </a:rPr>
                  <a:t>缺口</a:t>
                </a:r>
              </a:p>
            </p:txBody>
          </p:sp>
        </p:grpSp>
      </p:grpSp>
      <p:grpSp>
        <p:nvGrpSpPr>
          <p:cNvPr id="217" name="principles"/>
          <p:cNvGrpSpPr/>
          <p:nvPr/>
        </p:nvGrpSpPr>
        <p:grpSpPr>
          <a:xfrm>
            <a:off x="266700" y="5429250"/>
            <a:ext cx="11658600" cy="838200"/>
            <a:chOff x="266700" y="5429250"/>
            <a:chExt cx="11658600" cy="838200"/>
          </a:xfrm>
        </p:grpSpPr>
        <p:sp>
          <p:nvSpPr>
            <p:cNvPr id="184" name="Rectangle 184"/>
            <p:cNvSpPr/>
            <p:nvPr/>
          </p:nvSpPr>
          <p:spPr>
            <a:xfrm>
              <a:off x="266700" y="5429250"/>
              <a:ext cx="11658600" cy="838200"/>
            </a:xfrm>
            <a:prstGeom prst="roundRect">
              <a:avLst>
                <a:gd name="adj" fmla="val 9091"/>
              </a:avLst>
            </a:prstGeom>
            <a:solidFill>
              <a:srgbClr val="EFF5FD"/>
            </a:solidFill>
            <a:ln w="9525">
              <a:solidFill>
                <a:srgbClr val="D7E2F2"/>
              </a:solidFill>
            </a:ln>
          </p:spPr>
        </p:sp>
        <p:sp>
          <p:nvSpPr>
            <p:cNvPr id="185" name="Line 185"/>
            <p:cNvSpPr/>
            <p:nvPr/>
          </p:nvSpPr>
          <p:spPr>
            <a:xfrm>
              <a:off x="4152900" y="5581650"/>
              <a:ext cx="9525" cy="533400"/>
            </a:xfrm>
            <a:custGeom>
              <a:avLst/>
              <a:gdLst/>
              <a:ahLst/>
              <a:cxnLst/>
              <a:rect l="l" t="t" r="r" b="b"/>
              <a:pathLst>
                <a:path w="9525" h="533400">
                  <a:moveTo>
                    <a:pt x="0" y="0"/>
                  </a:moveTo>
                  <a:lnTo>
                    <a:pt x="0" y="533400"/>
                  </a:lnTo>
                </a:path>
              </a:pathLst>
            </a:custGeom>
            <a:noFill/>
            <a:ln w="9525">
              <a:solidFill>
                <a:srgbClr val="D7E2F2"/>
              </a:solidFill>
            </a:ln>
          </p:spPr>
        </p:sp>
        <p:sp>
          <p:nvSpPr>
            <p:cNvPr id="186" name="Line 186"/>
            <p:cNvSpPr/>
            <p:nvPr/>
          </p:nvSpPr>
          <p:spPr>
            <a:xfrm>
              <a:off x="8039100" y="5581650"/>
              <a:ext cx="9525" cy="533400"/>
            </a:xfrm>
            <a:custGeom>
              <a:avLst/>
              <a:gdLst/>
              <a:ahLst/>
              <a:cxnLst/>
              <a:rect l="l" t="t" r="r" b="b"/>
              <a:pathLst>
                <a:path w="9525" h="533400">
                  <a:moveTo>
                    <a:pt x="0" y="0"/>
                  </a:moveTo>
                  <a:lnTo>
                    <a:pt x="0" y="533400"/>
                  </a:lnTo>
                </a:path>
              </a:pathLst>
            </a:custGeom>
            <a:noFill/>
            <a:ln w="9525">
              <a:solidFill>
                <a:srgbClr val="D7E2F2"/>
              </a:solidFill>
            </a:ln>
          </p:spPr>
        </p:sp>
        <p:grpSp>
          <p:nvGrpSpPr>
            <p:cNvPr id="196" name="principle-1"/>
            <p:cNvGrpSpPr/>
            <p:nvPr/>
          </p:nvGrpSpPr>
          <p:grpSpPr>
            <a:xfrm>
              <a:off x="419100" y="5638800"/>
              <a:ext cx="2956382" cy="419100"/>
              <a:chOff x="419100" y="5638800"/>
              <a:chExt cx="2956382" cy="419100"/>
            </a:xfrm>
          </p:grpSpPr>
          <p:sp>
            <p:nvSpPr>
              <p:cNvPr id="187" name="Rectangle 187"/>
              <p:cNvSpPr/>
              <p:nvPr/>
            </p:nvSpPr>
            <p:spPr>
              <a:xfrm>
                <a:off x="419100" y="5638800"/>
                <a:ext cx="419100" cy="419100"/>
              </a:xfrm>
              <a:prstGeom prst="roundRect">
                <a:avLst>
                  <a:gd name="adj" fmla="val 13636"/>
                </a:avLst>
              </a:prstGeom>
              <a:solidFill>
                <a:srgbClr val="841600"/>
              </a:solidFill>
              <a:ln>
                <a:noFill/>
              </a:ln>
            </p:spPr>
          </p:sp>
          <p:sp>
            <p:nvSpPr>
              <p:cNvPr id="188" name="TextBox 188"/>
              <p:cNvSpPr txBox="1"/>
              <p:nvPr/>
            </p:nvSpPr>
            <p:spPr>
              <a:xfrm>
                <a:off x="522662" y="5767864"/>
                <a:ext cx="21197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01</a:t>
                </a:r>
              </a:p>
            </p:txBody>
          </p:sp>
          <p:grpSp>
            <p:nvGrpSpPr>
              <p:cNvPr id="194" name="Group 194"/>
              <p:cNvGrpSpPr/>
              <p:nvPr/>
            </p:nvGrpSpPr>
            <p:grpSpPr>
              <a:xfrm>
                <a:off x="995362" y="5719762"/>
                <a:ext cx="257175" cy="252413"/>
                <a:chOff x="995362" y="5719762"/>
                <a:chExt cx="257175" cy="252413"/>
              </a:xfrm>
            </p:grpSpPr>
            <p:sp>
              <p:nvSpPr>
                <p:cNvPr id="189" name="Freeform 189"/>
                <p:cNvSpPr/>
                <p:nvPr/>
              </p:nvSpPr>
              <p:spPr>
                <a:xfrm>
                  <a:off x="1052512" y="5962650"/>
                  <a:ext cx="142875" cy="9525"/>
                </a:xfrm>
                <a:custGeom>
                  <a:avLst/>
                  <a:gdLst/>
                  <a:ahLst/>
                  <a:cxnLst/>
                  <a:rect l="l" t="t" r="r" b="b"/>
                  <a:pathLst>
                    <a:path w="142875" h="9525">
                      <a:moveTo>
                        <a:pt x="0" y="0"/>
                      </a:moveTo>
                      <a:lnTo>
                        <a:pt x="142875" y="0"/>
                      </a:lnTo>
                    </a:path>
                  </a:pathLst>
                </a:custGeom>
                <a:noFill/>
                <a:ln w="21431">
                  <a:solidFill>
                    <a:srgbClr val="841600"/>
                  </a:solidFill>
                </a:ln>
              </p:spPr>
            </p:sp>
            <p:sp>
              <p:nvSpPr>
                <p:cNvPr id="190" name="Freeform 190"/>
                <p:cNvSpPr/>
                <p:nvPr/>
              </p:nvSpPr>
              <p:spPr>
                <a:xfrm>
                  <a:off x="1038225" y="5748338"/>
                  <a:ext cx="171450" cy="14288"/>
                </a:xfrm>
                <a:custGeom>
                  <a:avLst/>
                  <a:gdLst/>
                  <a:ahLst/>
                  <a:cxnLst/>
                  <a:rect l="l" t="t" r="r" b="b"/>
                  <a:pathLst>
                    <a:path w="171450" h="14288">
                      <a:moveTo>
                        <a:pt x="0" y="14288"/>
                      </a:moveTo>
                      <a:lnTo>
                        <a:pt x="85725" y="0"/>
                      </a:lnTo>
                      <a:lnTo>
                        <a:pt x="171450" y="14288"/>
                      </a:lnTo>
                    </a:path>
                  </a:pathLst>
                </a:custGeom>
                <a:noFill/>
                <a:ln w="21431">
                  <a:solidFill>
                    <a:srgbClr val="841600"/>
                  </a:solidFill>
                </a:ln>
              </p:spPr>
            </p:sp>
            <p:sp>
              <p:nvSpPr>
                <p:cNvPr id="191" name="Freeform 191"/>
                <p:cNvSpPr/>
                <p:nvPr/>
              </p:nvSpPr>
              <p:spPr>
                <a:xfrm>
                  <a:off x="1123950" y="5719762"/>
                  <a:ext cx="9525" cy="242888"/>
                </a:xfrm>
                <a:custGeom>
                  <a:avLst/>
                  <a:gdLst/>
                  <a:ahLst/>
                  <a:cxnLst/>
                  <a:rect l="l" t="t" r="r" b="b"/>
                  <a:pathLst>
                    <a:path w="9525" h="242888">
                      <a:moveTo>
                        <a:pt x="0" y="0"/>
                      </a:moveTo>
                      <a:lnTo>
                        <a:pt x="0" y="242888"/>
                      </a:lnTo>
                    </a:path>
                  </a:pathLst>
                </a:custGeom>
                <a:noFill/>
                <a:ln w="21431">
                  <a:solidFill>
                    <a:srgbClr val="841600"/>
                  </a:solidFill>
                </a:ln>
              </p:spPr>
            </p:sp>
            <p:sp>
              <p:nvSpPr>
                <p:cNvPr id="192" name="Freeform 192"/>
                <p:cNvSpPr/>
                <p:nvPr/>
              </p:nvSpPr>
              <p:spPr>
                <a:xfrm>
                  <a:off x="995362" y="5762625"/>
                  <a:ext cx="85725" cy="128588"/>
                </a:xfrm>
                <a:custGeom>
                  <a:avLst/>
                  <a:gdLst/>
                  <a:ahLst/>
                  <a:cxnLst/>
                  <a:rect l="l" t="t" r="r" b="b"/>
                  <a:pathLst>
                    <a:path w="85725" h="128588">
                      <a:moveTo>
                        <a:pt x="85725" y="85725"/>
                      </a:moveTo>
                      <a:lnTo>
                        <a:pt x="42862" y="0"/>
                      </a:lnTo>
                      <a:lnTo>
                        <a:pt x="0" y="85725"/>
                      </a:lnTo>
                      <a:cubicBezTo>
                        <a:pt x="0" y="109397"/>
                        <a:pt x="19190" y="128588"/>
                        <a:pt x="42862" y="128588"/>
                      </a:cubicBezTo>
                      <a:cubicBezTo>
                        <a:pt x="66535" y="128588"/>
                        <a:pt x="85725" y="109397"/>
                        <a:pt x="85725" y="85725"/>
                      </a:cubicBezTo>
                    </a:path>
                  </a:pathLst>
                </a:custGeom>
                <a:noFill/>
                <a:ln w="21431">
                  <a:solidFill>
                    <a:srgbClr val="841600"/>
                  </a:solidFill>
                </a:ln>
              </p:spPr>
            </p:sp>
            <p:sp>
              <p:nvSpPr>
                <p:cNvPr id="193" name="Freeform 193"/>
                <p:cNvSpPr/>
                <p:nvPr/>
              </p:nvSpPr>
              <p:spPr>
                <a:xfrm>
                  <a:off x="1166812" y="5762625"/>
                  <a:ext cx="85725" cy="128588"/>
                </a:xfrm>
                <a:custGeom>
                  <a:avLst/>
                  <a:gdLst/>
                  <a:ahLst/>
                  <a:cxnLst/>
                  <a:rect l="l" t="t" r="r" b="b"/>
                  <a:pathLst>
                    <a:path w="85725" h="128588">
                      <a:moveTo>
                        <a:pt x="85725" y="85725"/>
                      </a:moveTo>
                      <a:lnTo>
                        <a:pt x="42862" y="0"/>
                      </a:lnTo>
                      <a:lnTo>
                        <a:pt x="0" y="85725"/>
                      </a:lnTo>
                      <a:cubicBezTo>
                        <a:pt x="0" y="109397"/>
                        <a:pt x="19190" y="128588"/>
                        <a:pt x="42862" y="128588"/>
                      </a:cubicBezTo>
                      <a:cubicBezTo>
                        <a:pt x="66535" y="128588"/>
                        <a:pt x="85725" y="109397"/>
                        <a:pt x="85725" y="85725"/>
                      </a:cubicBezTo>
                    </a:path>
                  </a:pathLst>
                </a:custGeom>
                <a:noFill/>
                <a:ln w="21431">
                  <a:solidFill>
                    <a:srgbClr val="841600"/>
                  </a:solidFill>
                </a:ln>
              </p:spPr>
            </p:sp>
          </p:grpSp>
          <p:sp>
            <p:nvSpPr>
              <p:cNvPr id="195" name="TextBox 195"/>
              <p:cNvSpPr txBox="1"/>
              <p:nvPr/>
            </p:nvSpPr>
            <p:spPr>
              <a:xfrm>
                <a:off x="1403985" y="5784056"/>
                <a:ext cx="1971497"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规模不能脱离价格与资本约束</a:t>
                </a:r>
              </a:p>
            </p:txBody>
          </p:sp>
        </p:grpSp>
        <p:grpSp>
          <p:nvGrpSpPr>
            <p:cNvPr id="209" name="principle-2"/>
            <p:cNvGrpSpPr/>
            <p:nvPr/>
          </p:nvGrpSpPr>
          <p:grpSpPr>
            <a:xfrm>
              <a:off x="4305300" y="5638800"/>
              <a:ext cx="3408705" cy="419100"/>
              <a:chOff x="4305300" y="5638800"/>
              <a:chExt cx="3408705" cy="419100"/>
            </a:xfrm>
          </p:grpSpPr>
          <p:sp>
            <p:nvSpPr>
              <p:cNvPr id="197" name="Rectangle 197"/>
              <p:cNvSpPr/>
              <p:nvPr/>
            </p:nvSpPr>
            <p:spPr>
              <a:xfrm>
                <a:off x="4305300" y="5638800"/>
                <a:ext cx="419100" cy="419100"/>
              </a:xfrm>
              <a:prstGeom prst="roundRect">
                <a:avLst>
                  <a:gd name="adj" fmla="val 13636"/>
                </a:avLst>
              </a:prstGeom>
              <a:solidFill>
                <a:srgbClr val="841600"/>
              </a:solidFill>
              <a:ln>
                <a:noFill/>
              </a:ln>
            </p:spPr>
          </p:sp>
          <p:sp>
            <p:nvSpPr>
              <p:cNvPr id="198" name="TextBox 198"/>
              <p:cNvSpPr txBox="1"/>
              <p:nvPr/>
            </p:nvSpPr>
            <p:spPr>
              <a:xfrm>
                <a:off x="4408862" y="5767864"/>
                <a:ext cx="21197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02</a:t>
                </a:r>
              </a:p>
            </p:txBody>
          </p:sp>
          <p:grpSp>
            <p:nvGrpSpPr>
              <p:cNvPr id="207" name="Group 207"/>
              <p:cNvGrpSpPr/>
              <p:nvPr/>
            </p:nvGrpSpPr>
            <p:grpSpPr>
              <a:xfrm>
                <a:off x="4881562" y="5719762"/>
                <a:ext cx="257175" cy="266701"/>
                <a:chOff x="4881562" y="5719762"/>
                <a:chExt cx="257175" cy="266701"/>
              </a:xfrm>
            </p:grpSpPr>
            <p:sp>
              <p:nvSpPr>
                <p:cNvPr id="199" name="Freeform 199"/>
                <p:cNvSpPr/>
                <p:nvPr/>
              </p:nvSpPr>
              <p:spPr>
                <a:xfrm>
                  <a:off x="4881562" y="5976938"/>
                  <a:ext cx="257175" cy="9525"/>
                </a:xfrm>
                <a:custGeom>
                  <a:avLst/>
                  <a:gdLst/>
                  <a:ahLst/>
                  <a:cxnLst/>
                  <a:rect l="l" t="t" r="r" b="b"/>
                  <a:pathLst>
                    <a:path w="257175" h="9525">
                      <a:moveTo>
                        <a:pt x="0" y="0"/>
                      </a:moveTo>
                      <a:lnTo>
                        <a:pt x="257175" y="0"/>
                      </a:lnTo>
                    </a:path>
                  </a:pathLst>
                </a:custGeom>
                <a:noFill/>
                <a:ln w="21431">
                  <a:solidFill>
                    <a:srgbClr val="841600"/>
                  </a:solidFill>
                </a:ln>
              </p:spPr>
            </p:sp>
            <p:sp>
              <p:nvSpPr>
                <p:cNvPr id="200" name="Freeform 200"/>
                <p:cNvSpPr/>
                <p:nvPr/>
              </p:nvSpPr>
              <p:spPr>
                <a:xfrm>
                  <a:off x="4967288" y="5791200"/>
                  <a:ext cx="14288" cy="9525"/>
                </a:xfrm>
                <a:custGeom>
                  <a:avLst/>
                  <a:gdLst/>
                  <a:ahLst/>
                  <a:cxnLst/>
                  <a:rect l="l" t="t" r="r" b="b"/>
                  <a:pathLst>
                    <a:path w="14288" h="9525">
                      <a:moveTo>
                        <a:pt x="0" y="0"/>
                      </a:moveTo>
                      <a:lnTo>
                        <a:pt x="14288" y="0"/>
                      </a:lnTo>
                    </a:path>
                  </a:pathLst>
                </a:custGeom>
                <a:noFill/>
                <a:ln w="21431">
                  <a:solidFill>
                    <a:srgbClr val="841600"/>
                  </a:solidFill>
                </a:ln>
              </p:spPr>
            </p:sp>
            <p:sp>
              <p:nvSpPr>
                <p:cNvPr id="201" name="Freeform 201"/>
                <p:cNvSpPr/>
                <p:nvPr/>
              </p:nvSpPr>
              <p:spPr>
                <a:xfrm>
                  <a:off x="4967288" y="5848350"/>
                  <a:ext cx="14288" cy="9525"/>
                </a:xfrm>
                <a:custGeom>
                  <a:avLst/>
                  <a:gdLst/>
                  <a:ahLst/>
                  <a:cxnLst/>
                  <a:rect l="l" t="t" r="r" b="b"/>
                  <a:pathLst>
                    <a:path w="14288" h="9525">
                      <a:moveTo>
                        <a:pt x="0" y="0"/>
                      </a:moveTo>
                      <a:lnTo>
                        <a:pt x="14288" y="0"/>
                      </a:lnTo>
                    </a:path>
                  </a:pathLst>
                </a:custGeom>
                <a:noFill/>
                <a:ln w="21431">
                  <a:solidFill>
                    <a:srgbClr val="841600"/>
                  </a:solidFill>
                </a:ln>
              </p:spPr>
            </p:sp>
            <p:sp>
              <p:nvSpPr>
                <p:cNvPr id="202" name="Freeform 202"/>
                <p:cNvSpPr/>
                <p:nvPr/>
              </p:nvSpPr>
              <p:spPr>
                <a:xfrm>
                  <a:off x="4967288" y="5905500"/>
                  <a:ext cx="14288" cy="9525"/>
                </a:xfrm>
                <a:custGeom>
                  <a:avLst/>
                  <a:gdLst/>
                  <a:ahLst/>
                  <a:cxnLst/>
                  <a:rect l="l" t="t" r="r" b="b"/>
                  <a:pathLst>
                    <a:path w="14288" h="9525">
                      <a:moveTo>
                        <a:pt x="0" y="0"/>
                      </a:moveTo>
                      <a:lnTo>
                        <a:pt x="14288" y="0"/>
                      </a:lnTo>
                    </a:path>
                  </a:pathLst>
                </a:custGeom>
                <a:noFill/>
                <a:ln w="21431">
                  <a:solidFill>
                    <a:srgbClr val="841600"/>
                  </a:solidFill>
                </a:ln>
              </p:spPr>
            </p:sp>
            <p:sp>
              <p:nvSpPr>
                <p:cNvPr id="203" name="Freeform 203"/>
                <p:cNvSpPr/>
                <p:nvPr/>
              </p:nvSpPr>
              <p:spPr>
                <a:xfrm>
                  <a:off x="5038725" y="5791200"/>
                  <a:ext cx="14288" cy="9525"/>
                </a:xfrm>
                <a:custGeom>
                  <a:avLst/>
                  <a:gdLst/>
                  <a:ahLst/>
                  <a:cxnLst/>
                  <a:rect l="l" t="t" r="r" b="b"/>
                  <a:pathLst>
                    <a:path w="14288" h="9525">
                      <a:moveTo>
                        <a:pt x="0" y="0"/>
                      </a:moveTo>
                      <a:lnTo>
                        <a:pt x="14288" y="0"/>
                      </a:lnTo>
                    </a:path>
                  </a:pathLst>
                </a:custGeom>
                <a:noFill/>
                <a:ln w="21431">
                  <a:solidFill>
                    <a:srgbClr val="841600"/>
                  </a:solidFill>
                </a:ln>
              </p:spPr>
            </p:sp>
            <p:sp>
              <p:nvSpPr>
                <p:cNvPr id="204" name="Freeform 204"/>
                <p:cNvSpPr/>
                <p:nvPr/>
              </p:nvSpPr>
              <p:spPr>
                <a:xfrm>
                  <a:off x="5038725" y="5848350"/>
                  <a:ext cx="14288" cy="9525"/>
                </a:xfrm>
                <a:custGeom>
                  <a:avLst/>
                  <a:gdLst/>
                  <a:ahLst/>
                  <a:cxnLst/>
                  <a:rect l="l" t="t" r="r" b="b"/>
                  <a:pathLst>
                    <a:path w="14288" h="9525">
                      <a:moveTo>
                        <a:pt x="0" y="0"/>
                      </a:moveTo>
                      <a:lnTo>
                        <a:pt x="14288" y="0"/>
                      </a:lnTo>
                    </a:path>
                  </a:pathLst>
                </a:custGeom>
                <a:noFill/>
                <a:ln w="21431">
                  <a:solidFill>
                    <a:srgbClr val="841600"/>
                  </a:solidFill>
                </a:ln>
              </p:spPr>
            </p:sp>
            <p:sp>
              <p:nvSpPr>
                <p:cNvPr id="205" name="Freeform 205"/>
                <p:cNvSpPr/>
                <p:nvPr/>
              </p:nvSpPr>
              <p:spPr>
                <a:xfrm>
                  <a:off x="5038725" y="5905500"/>
                  <a:ext cx="14288" cy="9525"/>
                </a:xfrm>
                <a:custGeom>
                  <a:avLst/>
                  <a:gdLst/>
                  <a:ahLst/>
                  <a:cxnLst/>
                  <a:rect l="l" t="t" r="r" b="b"/>
                  <a:pathLst>
                    <a:path w="14288" h="9525">
                      <a:moveTo>
                        <a:pt x="0" y="0"/>
                      </a:moveTo>
                      <a:lnTo>
                        <a:pt x="14288" y="0"/>
                      </a:lnTo>
                    </a:path>
                  </a:pathLst>
                </a:custGeom>
                <a:noFill/>
                <a:ln w="21431">
                  <a:solidFill>
                    <a:srgbClr val="841600"/>
                  </a:solidFill>
                </a:ln>
              </p:spPr>
            </p:sp>
            <p:sp>
              <p:nvSpPr>
                <p:cNvPr id="206" name="Freeform 206"/>
                <p:cNvSpPr/>
                <p:nvPr/>
              </p:nvSpPr>
              <p:spPr>
                <a:xfrm>
                  <a:off x="4910138" y="5719762"/>
                  <a:ext cx="200025" cy="257175"/>
                </a:xfrm>
                <a:custGeom>
                  <a:avLst/>
                  <a:gdLst/>
                  <a:ahLst/>
                  <a:cxnLst/>
                  <a:rect l="l" t="t" r="r" b="b"/>
                  <a:pathLst>
                    <a:path w="200025" h="257175">
                      <a:moveTo>
                        <a:pt x="0" y="257175"/>
                      </a:moveTo>
                      <a:lnTo>
                        <a:pt x="0" y="28575"/>
                      </a:lnTo>
                      <a:cubicBezTo>
                        <a:pt x="0" y="12793"/>
                        <a:pt x="12793" y="0"/>
                        <a:pt x="28575" y="0"/>
                      </a:cubicBezTo>
                      <a:lnTo>
                        <a:pt x="171450" y="0"/>
                      </a:lnTo>
                      <a:cubicBezTo>
                        <a:pt x="187232" y="0"/>
                        <a:pt x="200025" y="12793"/>
                        <a:pt x="200025" y="28575"/>
                      </a:cubicBezTo>
                      <a:lnTo>
                        <a:pt x="200025" y="257175"/>
                      </a:lnTo>
                    </a:path>
                  </a:pathLst>
                </a:custGeom>
                <a:noFill/>
                <a:ln w="21431">
                  <a:solidFill>
                    <a:srgbClr val="841600"/>
                  </a:solidFill>
                </a:ln>
              </p:spPr>
            </p:sp>
          </p:grpSp>
          <p:sp>
            <p:nvSpPr>
              <p:cNvPr id="208" name="TextBox 208"/>
              <p:cNvSpPr txBox="1"/>
              <p:nvPr/>
            </p:nvSpPr>
            <p:spPr>
              <a:xfrm>
                <a:off x="5290185" y="5784056"/>
                <a:ext cx="2423820"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结构调整必须落到行业、产品与客户</a:t>
                </a:r>
              </a:p>
            </p:txBody>
          </p:sp>
        </p:grpSp>
        <p:grpSp>
          <p:nvGrpSpPr>
            <p:cNvPr id="216" name="principle-3"/>
            <p:cNvGrpSpPr/>
            <p:nvPr/>
          </p:nvGrpSpPr>
          <p:grpSpPr>
            <a:xfrm>
              <a:off x="8191500" y="5638800"/>
              <a:ext cx="3710254" cy="419100"/>
              <a:chOff x="8191500" y="5638800"/>
              <a:chExt cx="3710254" cy="419100"/>
            </a:xfrm>
          </p:grpSpPr>
          <p:sp>
            <p:nvSpPr>
              <p:cNvPr id="210" name="Rectangle 210"/>
              <p:cNvSpPr/>
              <p:nvPr/>
            </p:nvSpPr>
            <p:spPr>
              <a:xfrm>
                <a:off x="8191500" y="5638800"/>
                <a:ext cx="419100" cy="419100"/>
              </a:xfrm>
              <a:prstGeom prst="roundRect">
                <a:avLst>
                  <a:gd name="adj" fmla="val 13636"/>
                </a:avLst>
              </a:prstGeom>
              <a:solidFill>
                <a:srgbClr val="841600"/>
              </a:solidFill>
              <a:ln>
                <a:noFill/>
              </a:ln>
            </p:spPr>
          </p:sp>
          <p:sp>
            <p:nvSpPr>
              <p:cNvPr id="211" name="TextBox 211"/>
              <p:cNvSpPr txBox="1"/>
              <p:nvPr/>
            </p:nvSpPr>
            <p:spPr>
              <a:xfrm>
                <a:off x="8295062" y="5767864"/>
                <a:ext cx="21197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03</a:t>
                </a:r>
              </a:p>
            </p:txBody>
          </p:sp>
          <p:grpSp>
            <p:nvGrpSpPr>
              <p:cNvPr id="214" name="Group 214"/>
              <p:cNvGrpSpPr/>
              <p:nvPr/>
            </p:nvGrpSpPr>
            <p:grpSpPr>
              <a:xfrm>
                <a:off x="8782050" y="5762625"/>
                <a:ext cx="228600" cy="195262"/>
                <a:chOff x="8782050" y="5762625"/>
                <a:chExt cx="228600" cy="195262"/>
              </a:xfrm>
            </p:grpSpPr>
            <p:sp>
              <p:nvSpPr>
                <p:cNvPr id="212" name="Freeform 212"/>
                <p:cNvSpPr/>
                <p:nvPr/>
              </p:nvSpPr>
              <p:spPr>
                <a:xfrm>
                  <a:off x="8782050" y="5948362"/>
                  <a:ext cx="228600" cy="9525"/>
                </a:xfrm>
                <a:custGeom>
                  <a:avLst/>
                  <a:gdLst/>
                  <a:ahLst/>
                  <a:cxnLst/>
                  <a:rect l="l" t="t" r="r" b="b"/>
                  <a:pathLst>
                    <a:path w="228600" h="9525">
                      <a:moveTo>
                        <a:pt x="0" y="0"/>
                      </a:moveTo>
                      <a:lnTo>
                        <a:pt x="228600" y="0"/>
                      </a:lnTo>
                    </a:path>
                  </a:pathLst>
                </a:custGeom>
                <a:noFill/>
                <a:ln w="21431">
                  <a:solidFill>
                    <a:srgbClr val="841600"/>
                  </a:solidFill>
                </a:ln>
              </p:spPr>
            </p:sp>
            <p:sp>
              <p:nvSpPr>
                <p:cNvPr id="213" name="Freeform 213"/>
                <p:cNvSpPr/>
                <p:nvPr/>
              </p:nvSpPr>
              <p:spPr>
                <a:xfrm>
                  <a:off x="8782050" y="5762625"/>
                  <a:ext cx="228600" cy="128588"/>
                </a:xfrm>
                <a:custGeom>
                  <a:avLst/>
                  <a:gdLst/>
                  <a:ahLst/>
                  <a:cxnLst/>
                  <a:rect l="l" t="t" r="r" b="b"/>
                  <a:pathLst>
                    <a:path w="228600" h="128588">
                      <a:moveTo>
                        <a:pt x="0" y="128588"/>
                      </a:moveTo>
                      <a:lnTo>
                        <a:pt x="57150" y="42862"/>
                      </a:lnTo>
                      <a:lnTo>
                        <a:pt x="114300" y="71438"/>
                      </a:lnTo>
                      <a:lnTo>
                        <a:pt x="171450" y="0"/>
                      </a:lnTo>
                      <a:lnTo>
                        <a:pt x="228600" y="57150"/>
                      </a:lnTo>
                    </a:path>
                  </a:pathLst>
                </a:custGeom>
                <a:noFill/>
                <a:ln w="21431">
                  <a:solidFill>
                    <a:srgbClr val="841600"/>
                  </a:solidFill>
                </a:ln>
              </p:spPr>
            </p:sp>
          </p:grpSp>
          <p:sp>
            <p:nvSpPr>
              <p:cNvPr id="215" name="TextBox 215"/>
              <p:cNvSpPr txBox="1"/>
              <p:nvPr/>
            </p:nvSpPr>
            <p:spPr>
              <a:xfrm>
                <a:off x="9176385" y="5784056"/>
                <a:ext cx="2725369"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风险指标与经营目标同步监测、同步纠偏</a:t>
                </a:r>
              </a:p>
            </p:txBody>
          </p:sp>
        </p:grpSp>
      </p:grpSp>
      <p:grpSp>
        <p:nvGrpSpPr>
          <p:cNvPr id="219" name="footnote"/>
          <p:cNvGrpSpPr/>
          <p:nvPr/>
        </p:nvGrpSpPr>
        <p:grpSpPr>
          <a:xfrm>
            <a:off x="280988" y="6426041"/>
            <a:ext cx="4425061" cy="161925"/>
            <a:chOff x="280988" y="6426041"/>
            <a:chExt cx="4425061" cy="161925"/>
          </a:xfrm>
        </p:grpSpPr>
        <p:sp>
          <p:nvSpPr>
            <p:cNvPr id="218" name="TextBox 218"/>
            <p:cNvSpPr txBox="1"/>
            <p:nvPr/>
          </p:nvSpPr>
          <p:spPr>
            <a:xfrm>
              <a:off x="280988" y="6426041"/>
              <a:ext cx="4425061"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口径：存款采用日均与时点双口径；收入、利润按管理会计口径；目标数据为汇报示例值。</a:t>
              </a:r>
            </a:p>
          </p:txBody>
        </p:sp>
      </p:gr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03</a:t>
              </a:r>
            </a:p>
          </p:txBody>
        </p:sp>
        <p:sp>
          <p:nvSpPr>
            <p:cNvPr id="4" name="TextBox 4"/>
            <p:cNvSpPr txBox="1"/>
            <p:nvPr/>
          </p:nvSpPr>
          <p:spPr>
            <a:xfrm>
              <a:off x="942594" y="151448"/>
              <a:ext cx="6997004"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经营策略</a:t>
              </a:r>
              <a:r>
                <a:rPr lang="zh-CN" sz="1950" b="1" dirty="0">
                  <a:solidFill>
                    <a:srgbClr val="1A1A1A"/>
                  </a:solidFill>
                  <a:latin typeface="SimSun"/>
                  <a:ea typeface="SimSun"/>
                  <a:cs typeface="SimSun"/>
                </a:rPr>
                <a:t>｜以“一稳、两增、三优、四控”统领下半年工作</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57" name="strategy-stairs"/>
          <p:cNvGrpSpPr/>
          <p:nvPr/>
        </p:nvGrpSpPr>
        <p:grpSpPr>
          <a:xfrm>
            <a:off x="266700" y="952500"/>
            <a:ext cx="7067550" cy="4191000"/>
            <a:chOff x="266700" y="952500"/>
            <a:chExt cx="7067550" cy="4191000"/>
          </a:xfrm>
        </p:grpSpPr>
        <p:grpSp>
          <p:nvGrpSpPr>
            <p:cNvPr id="17" name="stair-4"/>
            <p:cNvGrpSpPr/>
            <p:nvPr/>
          </p:nvGrpSpPr>
          <p:grpSpPr>
            <a:xfrm>
              <a:off x="2266950" y="952500"/>
              <a:ext cx="5067300" cy="990600"/>
              <a:chOff x="2266950" y="952500"/>
              <a:chExt cx="5067300" cy="990600"/>
            </a:xfrm>
          </p:grpSpPr>
          <p:sp>
            <p:nvSpPr>
              <p:cNvPr id="7" name="Rectangle 7"/>
              <p:cNvSpPr/>
              <p:nvPr/>
            </p:nvSpPr>
            <p:spPr>
              <a:xfrm>
                <a:off x="2266950" y="952500"/>
                <a:ext cx="5067300" cy="990600"/>
              </a:xfrm>
              <a:prstGeom prst="roundRect">
                <a:avLst>
                  <a:gd name="adj" fmla="val 5769"/>
                </a:avLst>
              </a:prstGeom>
              <a:solidFill>
                <a:srgbClr val="F4F8FE"/>
              </a:solidFill>
              <a:ln w="9525">
                <a:solidFill>
                  <a:srgbClr val="D7E2F2"/>
                </a:solidFill>
              </a:ln>
            </p:spPr>
          </p:sp>
          <p:sp>
            <p:nvSpPr>
              <p:cNvPr id="8" name="Rectangle 8"/>
              <p:cNvSpPr/>
              <p:nvPr/>
            </p:nvSpPr>
            <p:spPr>
              <a:xfrm>
                <a:off x="2266950" y="952500"/>
                <a:ext cx="914400" cy="990600"/>
              </a:xfrm>
              <a:prstGeom prst="roundRect">
                <a:avLst>
                  <a:gd name="adj" fmla="val 6250"/>
                </a:avLst>
              </a:prstGeom>
              <a:solidFill>
                <a:srgbClr val="A43A24"/>
              </a:solidFill>
              <a:ln>
                <a:noFill/>
              </a:ln>
            </p:spPr>
          </p:sp>
          <p:sp>
            <p:nvSpPr>
              <p:cNvPr id="9" name="Rectangle 9"/>
              <p:cNvSpPr/>
              <p:nvPr/>
            </p:nvSpPr>
            <p:spPr>
              <a:xfrm>
                <a:off x="3105150" y="952500"/>
                <a:ext cx="76200" cy="990600"/>
              </a:xfrm>
              <a:prstGeom prst="rect">
                <a:avLst/>
              </a:prstGeom>
              <a:solidFill>
                <a:srgbClr val="A43A24"/>
              </a:solidFill>
              <a:ln>
                <a:noFill/>
              </a:ln>
            </p:spPr>
          </p:sp>
          <p:sp>
            <p:nvSpPr>
              <p:cNvPr id="10" name="TextBox 10"/>
              <p:cNvSpPr txBox="1"/>
              <p:nvPr/>
            </p:nvSpPr>
            <p:spPr>
              <a:xfrm>
                <a:off x="2565925" y="1211580"/>
                <a:ext cx="316451" cy="704088"/>
              </a:xfrm>
              <a:prstGeom prst="rect">
                <a:avLst/>
              </a:prstGeom>
              <a:noFill/>
              <a:ln>
                <a:noFill/>
              </a:ln>
            </p:spPr>
            <p:txBody>
              <a:bodyPr wrap="none" lIns="0" tIns="0" rIns="0" bIns="0" anchor="t" anchorCtr="0">
                <a:spAutoFit/>
              </a:bodyPr>
              <a:lstStyle/>
              <a:p>
                <a:pPr algn="ctr"/>
                <a:r>
                  <a:rPr lang="zh-CN" sz="3600" b="1" dirty="0">
                    <a:solidFill>
                      <a:srgbClr val="FFFFFF"/>
                    </a:solidFill>
                    <a:latin typeface="+mn-lt"/>
                    <a:ea typeface="+mn-ea"/>
                    <a:cs typeface="+mn-cs"/>
                  </a:rPr>
                  <a:t>4</a:t>
                </a:r>
              </a:p>
            </p:txBody>
          </p:sp>
          <p:sp>
            <p:nvSpPr>
              <p:cNvPr id="11" name="Ellipse 11"/>
              <p:cNvSpPr/>
              <p:nvPr/>
            </p:nvSpPr>
            <p:spPr>
              <a:xfrm>
                <a:off x="3314700" y="1200150"/>
                <a:ext cx="495300" cy="495300"/>
              </a:xfrm>
              <a:prstGeom prst="ellipse">
                <a:avLst/>
              </a:prstGeom>
              <a:solidFill>
                <a:srgbClr val="EFF5FD"/>
              </a:solidFill>
              <a:ln w="14288">
                <a:solidFill>
                  <a:srgbClr val="ECC1B8"/>
                </a:solidFill>
              </a:ln>
            </p:spPr>
          </p:sp>
          <p:grpSp>
            <p:nvGrpSpPr>
              <p:cNvPr id="14" name="Group 14"/>
              <p:cNvGrpSpPr/>
              <p:nvPr/>
            </p:nvGrpSpPr>
            <p:grpSpPr>
              <a:xfrm>
                <a:off x="3447341" y="1347788"/>
                <a:ext cx="217008" cy="200025"/>
                <a:chOff x="3447341" y="1347788"/>
                <a:chExt cx="217008" cy="200025"/>
              </a:xfrm>
            </p:grpSpPr>
            <p:sp>
              <p:nvSpPr>
                <p:cNvPr id="12" name="Freeform 12"/>
                <p:cNvSpPr/>
                <p:nvPr/>
              </p:nvSpPr>
              <p:spPr>
                <a:xfrm>
                  <a:off x="3447341" y="134778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6669">
                  <a:solidFill>
                    <a:srgbClr val="841600"/>
                  </a:solidFill>
                </a:ln>
              </p:spPr>
            </p:sp>
            <p:sp>
              <p:nvSpPr>
                <p:cNvPr id="13" name="Freeform 13"/>
                <p:cNvSpPr/>
                <p:nvPr/>
              </p:nvSpPr>
              <p:spPr>
                <a:xfrm>
                  <a:off x="3595688" y="1503363"/>
                  <a:ext cx="66675" cy="44450"/>
                </a:xfrm>
                <a:custGeom>
                  <a:avLst/>
                  <a:gdLst/>
                  <a:ahLst/>
                  <a:cxnLst/>
                  <a:rect l="l" t="t" r="r" b="b"/>
                  <a:pathLst>
                    <a:path w="66675" h="44450">
                      <a:moveTo>
                        <a:pt x="0" y="22225"/>
                      </a:moveTo>
                      <a:lnTo>
                        <a:pt x="22225" y="44450"/>
                      </a:lnTo>
                      <a:lnTo>
                        <a:pt x="66675" y="0"/>
                      </a:lnTo>
                    </a:path>
                  </a:pathLst>
                </a:custGeom>
                <a:noFill/>
                <a:ln w="16669">
                  <a:solidFill>
                    <a:srgbClr val="841600"/>
                  </a:solidFill>
                </a:ln>
              </p:spPr>
            </p:sp>
          </p:grpSp>
          <p:sp>
            <p:nvSpPr>
              <p:cNvPr id="15" name="TextBox 15"/>
              <p:cNvSpPr txBox="1"/>
              <p:nvPr/>
            </p:nvSpPr>
            <p:spPr>
              <a:xfrm>
                <a:off x="3954018" y="1212532"/>
                <a:ext cx="461010"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四控</a:t>
                </a:r>
              </a:p>
            </p:txBody>
          </p:sp>
          <p:sp>
            <p:nvSpPr>
              <p:cNvPr id="16" name="TextBox 16"/>
              <p:cNvSpPr txBox="1"/>
              <p:nvPr/>
            </p:nvSpPr>
            <p:spPr>
              <a:xfrm>
                <a:off x="3957447" y="1609249"/>
                <a:ext cx="2120748" cy="190690"/>
              </a:xfrm>
              <a:prstGeom prst="rect">
                <a:avLst/>
              </a:prstGeom>
              <a:noFill/>
              <a:ln>
                <a:noFill/>
              </a:ln>
            </p:spPr>
            <p:txBody>
              <a:bodyPr wrap="none" lIns="0" tIns="0" rIns="0" bIns="0" anchor="t" anchorCtr="0">
                <a:spAutoFit/>
              </a:bodyPr>
              <a:lstStyle/>
              <a:p>
                <a:pPr algn="l"/>
                <a:r>
                  <a:rPr lang="zh-CN" sz="980" dirty="0">
                    <a:solidFill>
                      <a:srgbClr val="473633"/>
                    </a:solidFill>
                    <a:latin typeface="+mn-lt"/>
                    <a:ea typeface="+mn-ea"/>
                    <a:cs typeface="+mn-cs"/>
                  </a:rPr>
                  <a:t>控制信用、流动性、操作与合规风险</a:t>
                </a:r>
              </a:p>
            </p:txBody>
          </p:sp>
        </p:grpSp>
        <p:grpSp>
          <p:nvGrpSpPr>
            <p:cNvPr id="28" name="stair-3"/>
            <p:cNvGrpSpPr/>
            <p:nvPr/>
          </p:nvGrpSpPr>
          <p:grpSpPr>
            <a:xfrm>
              <a:off x="1600200" y="2019300"/>
              <a:ext cx="5734050" cy="990600"/>
              <a:chOff x="1600200" y="2019300"/>
              <a:chExt cx="5734050" cy="990600"/>
            </a:xfrm>
          </p:grpSpPr>
          <p:sp>
            <p:nvSpPr>
              <p:cNvPr id="18" name="Rectangle 18"/>
              <p:cNvSpPr/>
              <p:nvPr/>
            </p:nvSpPr>
            <p:spPr>
              <a:xfrm>
                <a:off x="1600200" y="2019300"/>
                <a:ext cx="5734050" cy="990600"/>
              </a:xfrm>
              <a:prstGeom prst="roundRect">
                <a:avLst>
                  <a:gd name="adj" fmla="val 5769"/>
                </a:avLst>
              </a:prstGeom>
              <a:solidFill>
                <a:srgbClr val="F4F8FE"/>
              </a:solidFill>
              <a:ln w="9525">
                <a:solidFill>
                  <a:srgbClr val="D7E2F2"/>
                </a:solidFill>
              </a:ln>
            </p:spPr>
          </p:sp>
          <p:sp>
            <p:nvSpPr>
              <p:cNvPr id="19" name="Rectangle 19"/>
              <p:cNvSpPr/>
              <p:nvPr/>
            </p:nvSpPr>
            <p:spPr>
              <a:xfrm>
                <a:off x="1600200" y="2019300"/>
                <a:ext cx="914400" cy="990600"/>
              </a:xfrm>
              <a:prstGeom prst="roundRect">
                <a:avLst>
                  <a:gd name="adj" fmla="val 6250"/>
                </a:avLst>
              </a:prstGeom>
              <a:solidFill>
                <a:srgbClr val="99301A"/>
              </a:solidFill>
              <a:ln>
                <a:noFill/>
              </a:ln>
            </p:spPr>
          </p:sp>
          <p:sp>
            <p:nvSpPr>
              <p:cNvPr id="20" name="Rectangle 20"/>
              <p:cNvSpPr/>
              <p:nvPr/>
            </p:nvSpPr>
            <p:spPr>
              <a:xfrm>
                <a:off x="2438400" y="2019300"/>
                <a:ext cx="76200" cy="990600"/>
              </a:xfrm>
              <a:prstGeom prst="rect">
                <a:avLst/>
              </a:prstGeom>
              <a:solidFill>
                <a:srgbClr val="99301A"/>
              </a:solidFill>
              <a:ln>
                <a:noFill/>
              </a:ln>
            </p:spPr>
          </p:sp>
          <p:sp>
            <p:nvSpPr>
              <p:cNvPr id="21" name="TextBox 21"/>
              <p:cNvSpPr txBox="1"/>
              <p:nvPr/>
            </p:nvSpPr>
            <p:spPr>
              <a:xfrm>
                <a:off x="1899175" y="2278380"/>
                <a:ext cx="316451" cy="704088"/>
              </a:xfrm>
              <a:prstGeom prst="rect">
                <a:avLst/>
              </a:prstGeom>
              <a:noFill/>
              <a:ln>
                <a:noFill/>
              </a:ln>
            </p:spPr>
            <p:txBody>
              <a:bodyPr wrap="none" lIns="0" tIns="0" rIns="0" bIns="0" anchor="t" anchorCtr="0">
                <a:spAutoFit/>
              </a:bodyPr>
              <a:lstStyle/>
              <a:p>
                <a:pPr algn="ctr"/>
                <a:r>
                  <a:rPr lang="zh-CN" sz="3600" b="1" dirty="0">
                    <a:solidFill>
                      <a:srgbClr val="FFFFFF"/>
                    </a:solidFill>
                    <a:latin typeface="+mn-lt"/>
                    <a:ea typeface="+mn-ea"/>
                    <a:cs typeface="+mn-cs"/>
                  </a:rPr>
                  <a:t>3</a:t>
                </a:r>
              </a:p>
            </p:txBody>
          </p:sp>
          <p:sp>
            <p:nvSpPr>
              <p:cNvPr id="22" name="Ellipse 22"/>
              <p:cNvSpPr/>
              <p:nvPr/>
            </p:nvSpPr>
            <p:spPr>
              <a:xfrm>
                <a:off x="2647950" y="2266950"/>
                <a:ext cx="495300" cy="495300"/>
              </a:xfrm>
              <a:prstGeom prst="ellipse">
                <a:avLst/>
              </a:prstGeom>
              <a:solidFill>
                <a:srgbClr val="EFF5FD"/>
              </a:solidFill>
              <a:ln w="14288">
                <a:solidFill>
                  <a:srgbClr val="ECC1B8"/>
                </a:solidFill>
              </a:ln>
            </p:spPr>
          </p:sp>
          <p:grpSp>
            <p:nvGrpSpPr>
              <p:cNvPr id="25" name="Group 25"/>
              <p:cNvGrpSpPr/>
              <p:nvPr/>
            </p:nvGrpSpPr>
            <p:grpSpPr>
              <a:xfrm>
                <a:off x="2792490" y="2416498"/>
                <a:ext cx="200901" cy="201212"/>
                <a:chOff x="2792490" y="2416498"/>
                <a:chExt cx="200901" cy="201212"/>
              </a:xfrm>
            </p:grpSpPr>
            <p:sp>
              <p:nvSpPr>
                <p:cNvPr id="23" name="Freeform 23"/>
                <p:cNvSpPr/>
                <p:nvPr/>
              </p:nvSpPr>
              <p:spPr>
                <a:xfrm>
                  <a:off x="2792490" y="241649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14223" y="109214"/>
                      </a:lnTo>
                      <a:cubicBezTo>
                        <a:pt x="101948" y="109214"/>
                        <a:pt x="91998" y="99264"/>
                        <a:pt x="91998" y="86989"/>
                      </a:cubicBezTo>
                      <a:lnTo>
                        <a:pt x="91998" y="9202"/>
                      </a:lnTo>
                      <a:cubicBezTo>
                        <a:pt x="91719" y="6542"/>
                        <a:pt x="90387" y="4105"/>
                        <a:pt x="88299" y="2435"/>
                      </a:cubicBezTo>
                      <a:cubicBezTo>
                        <a:pt x="86211" y="765"/>
                        <a:pt x="83541" y="0"/>
                        <a:pt x="80885" y="312"/>
                      </a:cubicBezTo>
                    </a:path>
                  </a:pathLst>
                </a:custGeom>
                <a:noFill/>
                <a:ln w="16669">
                  <a:solidFill>
                    <a:srgbClr val="841600"/>
                  </a:solidFill>
                </a:ln>
              </p:spPr>
            </p:sp>
            <p:sp>
              <p:nvSpPr>
                <p:cNvPr id="24" name="Freeform 24"/>
                <p:cNvSpPr/>
                <p:nvPr/>
              </p:nvSpPr>
              <p:spPr>
                <a:xfrm>
                  <a:off x="2928938" y="2420144"/>
                  <a:ext cx="61119" cy="61119"/>
                </a:xfrm>
                <a:custGeom>
                  <a:avLst/>
                  <a:gdLst/>
                  <a:ahLst/>
                  <a:cxnLst/>
                  <a:rect l="l" t="t" r="r" b="b"/>
                  <a:pathLst>
                    <a:path w="61119" h="61119">
                      <a:moveTo>
                        <a:pt x="0" y="0"/>
                      </a:moveTo>
                      <a:cubicBezTo>
                        <a:pt x="28579" y="10063"/>
                        <a:pt x="51056" y="32540"/>
                        <a:pt x="61119" y="61119"/>
                      </a:cubicBezTo>
                      <a:lnTo>
                        <a:pt x="11113" y="61119"/>
                      </a:lnTo>
                      <a:cubicBezTo>
                        <a:pt x="4975" y="61119"/>
                        <a:pt x="0" y="56144"/>
                        <a:pt x="0" y="50006"/>
                      </a:cubicBezTo>
                      <a:lnTo>
                        <a:pt x="0" y="0"/>
                      </a:lnTo>
                    </a:path>
                  </a:pathLst>
                </a:custGeom>
                <a:noFill/>
                <a:ln w="16669">
                  <a:solidFill>
                    <a:srgbClr val="841600"/>
                  </a:solidFill>
                </a:ln>
              </p:spPr>
            </p:sp>
          </p:grpSp>
          <p:sp>
            <p:nvSpPr>
              <p:cNvPr id="26" name="TextBox 26"/>
              <p:cNvSpPr txBox="1"/>
              <p:nvPr/>
            </p:nvSpPr>
            <p:spPr>
              <a:xfrm>
                <a:off x="3287268" y="2279332"/>
                <a:ext cx="461010"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三优</a:t>
                </a:r>
              </a:p>
            </p:txBody>
          </p:sp>
          <p:sp>
            <p:nvSpPr>
              <p:cNvPr id="27" name="TextBox 27"/>
              <p:cNvSpPr txBox="1"/>
              <p:nvPr/>
            </p:nvSpPr>
            <p:spPr>
              <a:xfrm>
                <a:off x="3290697" y="2676049"/>
                <a:ext cx="2120748" cy="190690"/>
              </a:xfrm>
              <a:prstGeom prst="rect">
                <a:avLst/>
              </a:prstGeom>
              <a:noFill/>
              <a:ln>
                <a:noFill/>
              </a:ln>
            </p:spPr>
            <p:txBody>
              <a:bodyPr wrap="none" lIns="0" tIns="0" rIns="0" bIns="0" anchor="t" anchorCtr="0">
                <a:spAutoFit/>
              </a:bodyPr>
              <a:lstStyle/>
              <a:p>
                <a:pPr algn="l"/>
                <a:r>
                  <a:rPr lang="zh-CN" sz="980" dirty="0">
                    <a:solidFill>
                      <a:srgbClr val="473633"/>
                    </a:solidFill>
                    <a:latin typeface="+mn-lt"/>
                    <a:ea typeface="+mn-ea"/>
                    <a:cs typeface="+mn-cs"/>
                  </a:rPr>
                  <a:t>优化客户结构、资产结构、收入结构</a:t>
                </a:r>
              </a:p>
            </p:txBody>
          </p:sp>
        </p:grpSp>
        <p:grpSp>
          <p:nvGrpSpPr>
            <p:cNvPr id="39" name="stair-2"/>
            <p:cNvGrpSpPr/>
            <p:nvPr/>
          </p:nvGrpSpPr>
          <p:grpSpPr>
            <a:xfrm>
              <a:off x="933450" y="3086100"/>
              <a:ext cx="6400800" cy="990600"/>
              <a:chOff x="933450" y="3086100"/>
              <a:chExt cx="6400800" cy="990600"/>
            </a:xfrm>
          </p:grpSpPr>
          <p:sp>
            <p:nvSpPr>
              <p:cNvPr id="29" name="Rectangle 29"/>
              <p:cNvSpPr/>
              <p:nvPr/>
            </p:nvSpPr>
            <p:spPr>
              <a:xfrm>
                <a:off x="933450" y="3086100"/>
                <a:ext cx="6400800" cy="990600"/>
              </a:xfrm>
              <a:prstGeom prst="roundRect">
                <a:avLst>
                  <a:gd name="adj" fmla="val 5769"/>
                </a:avLst>
              </a:prstGeom>
              <a:solidFill>
                <a:srgbClr val="F4F8FE"/>
              </a:solidFill>
              <a:ln w="9525">
                <a:solidFill>
                  <a:srgbClr val="D7E2F2"/>
                </a:solidFill>
              </a:ln>
            </p:spPr>
          </p:sp>
          <p:sp>
            <p:nvSpPr>
              <p:cNvPr id="30" name="Rectangle 30"/>
              <p:cNvSpPr/>
              <p:nvPr/>
            </p:nvSpPr>
            <p:spPr>
              <a:xfrm>
                <a:off x="933450" y="3086100"/>
                <a:ext cx="914400" cy="990600"/>
              </a:xfrm>
              <a:prstGeom prst="roundRect">
                <a:avLst>
                  <a:gd name="adj" fmla="val 6250"/>
                </a:avLst>
              </a:prstGeom>
              <a:solidFill>
                <a:srgbClr val="8E230D"/>
              </a:solidFill>
              <a:ln>
                <a:noFill/>
              </a:ln>
            </p:spPr>
          </p:sp>
          <p:sp>
            <p:nvSpPr>
              <p:cNvPr id="31" name="Rectangle 31"/>
              <p:cNvSpPr/>
              <p:nvPr/>
            </p:nvSpPr>
            <p:spPr>
              <a:xfrm>
                <a:off x="1771650" y="3086100"/>
                <a:ext cx="76200" cy="990600"/>
              </a:xfrm>
              <a:prstGeom prst="rect">
                <a:avLst/>
              </a:prstGeom>
              <a:solidFill>
                <a:srgbClr val="8E230D"/>
              </a:solidFill>
              <a:ln>
                <a:noFill/>
              </a:ln>
            </p:spPr>
          </p:sp>
          <p:sp>
            <p:nvSpPr>
              <p:cNvPr id="32" name="TextBox 32"/>
              <p:cNvSpPr txBox="1"/>
              <p:nvPr/>
            </p:nvSpPr>
            <p:spPr>
              <a:xfrm>
                <a:off x="1232425" y="3345180"/>
                <a:ext cx="316451" cy="704088"/>
              </a:xfrm>
              <a:prstGeom prst="rect">
                <a:avLst/>
              </a:prstGeom>
              <a:noFill/>
              <a:ln>
                <a:noFill/>
              </a:ln>
            </p:spPr>
            <p:txBody>
              <a:bodyPr wrap="none" lIns="0" tIns="0" rIns="0" bIns="0" anchor="t" anchorCtr="0">
                <a:spAutoFit/>
              </a:bodyPr>
              <a:lstStyle/>
              <a:p>
                <a:pPr algn="ctr"/>
                <a:r>
                  <a:rPr lang="zh-CN" sz="3600" b="1" dirty="0">
                    <a:solidFill>
                      <a:srgbClr val="FFFFFF"/>
                    </a:solidFill>
                    <a:latin typeface="+mn-lt"/>
                    <a:ea typeface="+mn-ea"/>
                    <a:cs typeface="+mn-cs"/>
                  </a:rPr>
                  <a:t>2</a:t>
                </a:r>
              </a:p>
            </p:txBody>
          </p:sp>
          <p:sp>
            <p:nvSpPr>
              <p:cNvPr id="33" name="Ellipse 33"/>
              <p:cNvSpPr/>
              <p:nvPr/>
            </p:nvSpPr>
            <p:spPr>
              <a:xfrm>
                <a:off x="1981200" y="3333750"/>
                <a:ext cx="495300" cy="495300"/>
              </a:xfrm>
              <a:prstGeom prst="ellipse">
                <a:avLst/>
              </a:prstGeom>
              <a:solidFill>
                <a:srgbClr val="EFF5FD"/>
              </a:solidFill>
              <a:ln w="14288">
                <a:solidFill>
                  <a:srgbClr val="ECC1B8"/>
                </a:solidFill>
              </a:ln>
            </p:spPr>
          </p:sp>
          <p:grpSp>
            <p:nvGrpSpPr>
              <p:cNvPr id="36" name="Group 36"/>
              <p:cNvGrpSpPr/>
              <p:nvPr/>
            </p:nvGrpSpPr>
            <p:grpSpPr>
              <a:xfrm>
                <a:off x="2128838" y="3525838"/>
                <a:ext cx="200026" cy="111125"/>
                <a:chOff x="2128838" y="3525838"/>
                <a:chExt cx="200026" cy="111125"/>
              </a:xfrm>
            </p:grpSpPr>
            <p:sp>
              <p:nvSpPr>
                <p:cNvPr id="34" name="Freeform 34"/>
                <p:cNvSpPr/>
                <p:nvPr/>
              </p:nvSpPr>
              <p:spPr>
                <a:xfrm>
                  <a:off x="2128838" y="3525838"/>
                  <a:ext cx="200026" cy="111125"/>
                </a:xfrm>
                <a:custGeom>
                  <a:avLst/>
                  <a:gdLst/>
                  <a:ahLst/>
                  <a:cxnLst/>
                  <a:rect l="l" t="t" r="r" b="b"/>
                  <a:pathLst>
                    <a:path w="200026" h="111125">
                      <a:moveTo>
                        <a:pt x="0" y="111125"/>
                      </a:moveTo>
                      <a:lnTo>
                        <a:pt x="66675" y="44450"/>
                      </a:lnTo>
                      <a:lnTo>
                        <a:pt x="111125" y="88900"/>
                      </a:lnTo>
                      <a:lnTo>
                        <a:pt x="200026" y="0"/>
                      </a:lnTo>
                    </a:path>
                  </a:pathLst>
                </a:custGeom>
                <a:noFill/>
                <a:ln w="16669">
                  <a:solidFill>
                    <a:srgbClr val="841600"/>
                  </a:solidFill>
                </a:ln>
              </p:spPr>
            </p:sp>
            <p:sp>
              <p:nvSpPr>
                <p:cNvPr id="35" name="Freeform 35"/>
                <p:cNvSpPr/>
                <p:nvPr/>
              </p:nvSpPr>
              <p:spPr>
                <a:xfrm>
                  <a:off x="2251075" y="3525838"/>
                  <a:ext cx="77788" cy="77788"/>
                </a:xfrm>
                <a:custGeom>
                  <a:avLst/>
                  <a:gdLst/>
                  <a:ahLst/>
                  <a:cxnLst/>
                  <a:rect l="l" t="t" r="r" b="b"/>
                  <a:pathLst>
                    <a:path w="77788" h="77788">
                      <a:moveTo>
                        <a:pt x="0" y="0"/>
                      </a:moveTo>
                      <a:lnTo>
                        <a:pt x="77788" y="0"/>
                      </a:lnTo>
                      <a:lnTo>
                        <a:pt x="77788" y="77788"/>
                      </a:lnTo>
                    </a:path>
                  </a:pathLst>
                </a:custGeom>
                <a:noFill/>
                <a:ln w="16669">
                  <a:solidFill>
                    <a:srgbClr val="841600"/>
                  </a:solidFill>
                </a:ln>
              </p:spPr>
            </p:sp>
          </p:grpSp>
          <p:sp>
            <p:nvSpPr>
              <p:cNvPr id="37" name="TextBox 37"/>
              <p:cNvSpPr txBox="1"/>
              <p:nvPr/>
            </p:nvSpPr>
            <p:spPr>
              <a:xfrm>
                <a:off x="2620518" y="3346132"/>
                <a:ext cx="461010"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两增</a:t>
                </a:r>
              </a:p>
            </p:txBody>
          </p:sp>
          <p:sp>
            <p:nvSpPr>
              <p:cNvPr id="38" name="TextBox 38"/>
              <p:cNvSpPr txBox="1"/>
              <p:nvPr/>
            </p:nvSpPr>
            <p:spPr>
              <a:xfrm>
                <a:off x="2623947" y="3742849"/>
                <a:ext cx="1724965" cy="190690"/>
              </a:xfrm>
              <a:prstGeom prst="rect">
                <a:avLst/>
              </a:prstGeom>
              <a:noFill/>
              <a:ln>
                <a:noFill/>
              </a:ln>
            </p:spPr>
            <p:txBody>
              <a:bodyPr wrap="none" lIns="0" tIns="0" rIns="0" bIns="0" anchor="t" anchorCtr="0">
                <a:spAutoFit/>
              </a:bodyPr>
              <a:lstStyle/>
              <a:p>
                <a:pPr algn="l"/>
                <a:r>
                  <a:rPr lang="zh-CN" sz="980" dirty="0">
                    <a:solidFill>
                      <a:srgbClr val="473633"/>
                    </a:solidFill>
                    <a:latin typeface="+mn-lt"/>
                    <a:ea typeface="+mn-ea"/>
                    <a:cs typeface="+mn-cs"/>
                  </a:rPr>
                  <a:t>增有效信贷投放、增非息收入</a:t>
                </a:r>
              </a:p>
            </p:txBody>
          </p:sp>
        </p:grpSp>
        <p:grpSp>
          <p:nvGrpSpPr>
            <p:cNvPr id="56" name="stair-1"/>
            <p:cNvGrpSpPr/>
            <p:nvPr/>
          </p:nvGrpSpPr>
          <p:grpSpPr>
            <a:xfrm>
              <a:off x="266700" y="4152900"/>
              <a:ext cx="7067550" cy="990600"/>
              <a:chOff x="266700" y="4152900"/>
              <a:chExt cx="7067550" cy="990600"/>
            </a:xfrm>
          </p:grpSpPr>
          <p:sp>
            <p:nvSpPr>
              <p:cNvPr id="40" name="Rectangle 40"/>
              <p:cNvSpPr/>
              <p:nvPr/>
            </p:nvSpPr>
            <p:spPr>
              <a:xfrm>
                <a:off x="266700" y="4152900"/>
                <a:ext cx="7067550" cy="990600"/>
              </a:xfrm>
              <a:prstGeom prst="roundRect">
                <a:avLst>
                  <a:gd name="adj" fmla="val 5769"/>
                </a:avLst>
              </a:prstGeom>
              <a:solidFill>
                <a:srgbClr val="F4F8FE"/>
              </a:solidFill>
              <a:ln w="9525">
                <a:solidFill>
                  <a:srgbClr val="D7E2F2"/>
                </a:solidFill>
              </a:ln>
            </p:spPr>
          </p:sp>
          <p:sp>
            <p:nvSpPr>
              <p:cNvPr id="41" name="Rectangle 41"/>
              <p:cNvSpPr/>
              <p:nvPr/>
            </p:nvSpPr>
            <p:spPr>
              <a:xfrm>
                <a:off x="266700" y="4152900"/>
                <a:ext cx="914400" cy="990600"/>
              </a:xfrm>
              <a:prstGeom prst="roundRect">
                <a:avLst>
                  <a:gd name="adj" fmla="val 6250"/>
                </a:avLst>
              </a:prstGeom>
              <a:solidFill>
                <a:srgbClr val="841600"/>
              </a:solidFill>
              <a:ln>
                <a:noFill/>
              </a:ln>
            </p:spPr>
          </p:sp>
          <p:sp>
            <p:nvSpPr>
              <p:cNvPr id="42" name="Rectangle 42"/>
              <p:cNvSpPr/>
              <p:nvPr/>
            </p:nvSpPr>
            <p:spPr>
              <a:xfrm>
                <a:off x="1104900" y="4152900"/>
                <a:ext cx="76200" cy="990600"/>
              </a:xfrm>
              <a:prstGeom prst="rect">
                <a:avLst/>
              </a:prstGeom>
              <a:solidFill>
                <a:srgbClr val="841600"/>
              </a:solidFill>
              <a:ln>
                <a:noFill/>
              </a:ln>
            </p:spPr>
          </p:sp>
          <p:sp>
            <p:nvSpPr>
              <p:cNvPr id="43" name="TextBox 43"/>
              <p:cNvSpPr txBox="1"/>
              <p:nvPr/>
            </p:nvSpPr>
            <p:spPr>
              <a:xfrm>
                <a:off x="565675" y="4411980"/>
                <a:ext cx="316451" cy="704088"/>
              </a:xfrm>
              <a:prstGeom prst="rect">
                <a:avLst/>
              </a:prstGeom>
              <a:noFill/>
              <a:ln>
                <a:noFill/>
              </a:ln>
            </p:spPr>
            <p:txBody>
              <a:bodyPr wrap="none" lIns="0" tIns="0" rIns="0" bIns="0" anchor="t" anchorCtr="0">
                <a:spAutoFit/>
              </a:bodyPr>
              <a:lstStyle/>
              <a:p>
                <a:pPr algn="ctr"/>
                <a:r>
                  <a:rPr lang="zh-CN" sz="3600" b="1" dirty="0">
                    <a:solidFill>
                      <a:srgbClr val="FFFFFF"/>
                    </a:solidFill>
                    <a:latin typeface="+mn-lt"/>
                    <a:ea typeface="+mn-ea"/>
                    <a:cs typeface="+mn-cs"/>
                  </a:rPr>
                  <a:t>1</a:t>
                </a:r>
              </a:p>
            </p:txBody>
          </p:sp>
          <p:sp>
            <p:nvSpPr>
              <p:cNvPr id="44" name="Ellipse 44"/>
              <p:cNvSpPr/>
              <p:nvPr/>
            </p:nvSpPr>
            <p:spPr>
              <a:xfrm>
                <a:off x="1314450" y="4400550"/>
                <a:ext cx="495300" cy="495300"/>
              </a:xfrm>
              <a:prstGeom prst="ellipse">
                <a:avLst/>
              </a:prstGeom>
              <a:solidFill>
                <a:srgbClr val="EFF5FD"/>
              </a:solidFill>
              <a:ln w="14288">
                <a:solidFill>
                  <a:srgbClr val="ECC1B8"/>
                </a:solidFill>
              </a:ln>
            </p:spPr>
          </p:sp>
          <p:grpSp>
            <p:nvGrpSpPr>
              <p:cNvPr id="53" name="Group 53"/>
              <p:cNvGrpSpPr/>
              <p:nvPr/>
            </p:nvGrpSpPr>
            <p:grpSpPr>
              <a:xfrm>
                <a:off x="1462088" y="4548188"/>
                <a:ext cx="200026" cy="209550"/>
                <a:chOff x="1462088" y="4548188"/>
                <a:chExt cx="200026" cy="209550"/>
              </a:xfrm>
            </p:grpSpPr>
            <p:sp>
              <p:nvSpPr>
                <p:cNvPr id="45" name="Freeform 45"/>
                <p:cNvSpPr/>
                <p:nvPr/>
              </p:nvSpPr>
              <p:spPr>
                <a:xfrm>
                  <a:off x="1462088" y="4748213"/>
                  <a:ext cx="200026" cy="9525"/>
                </a:xfrm>
                <a:custGeom>
                  <a:avLst/>
                  <a:gdLst/>
                  <a:ahLst/>
                  <a:cxnLst/>
                  <a:rect l="l" t="t" r="r" b="b"/>
                  <a:pathLst>
                    <a:path w="200026" h="9525">
                      <a:moveTo>
                        <a:pt x="0" y="0"/>
                      </a:moveTo>
                      <a:lnTo>
                        <a:pt x="200026" y="0"/>
                      </a:lnTo>
                    </a:path>
                  </a:pathLst>
                </a:custGeom>
                <a:noFill/>
                <a:ln w="16669">
                  <a:solidFill>
                    <a:srgbClr val="841600"/>
                  </a:solidFill>
                </a:ln>
              </p:spPr>
            </p:sp>
            <p:sp>
              <p:nvSpPr>
                <p:cNvPr id="46" name="Freeform 46"/>
                <p:cNvSpPr/>
                <p:nvPr/>
              </p:nvSpPr>
              <p:spPr>
                <a:xfrm>
                  <a:off x="1462088" y="4625975"/>
                  <a:ext cx="200026" cy="9525"/>
                </a:xfrm>
                <a:custGeom>
                  <a:avLst/>
                  <a:gdLst/>
                  <a:ahLst/>
                  <a:cxnLst/>
                  <a:rect l="l" t="t" r="r" b="b"/>
                  <a:pathLst>
                    <a:path w="200026" h="9525">
                      <a:moveTo>
                        <a:pt x="0" y="0"/>
                      </a:moveTo>
                      <a:lnTo>
                        <a:pt x="200026" y="0"/>
                      </a:lnTo>
                    </a:path>
                  </a:pathLst>
                </a:custGeom>
                <a:noFill/>
                <a:ln w="16669">
                  <a:solidFill>
                    <a:srgbClr val="841600"/>
                  </a:solidFill>
                </a:ln>
              </p:spPr>
            </p:sp>
            <p:sp>
              <p:nvSpPr>
                <p:cNvPr id="47" name="Freeform 47"/>
                <p:cNvSpPr/>
                <p:nvPr/>
              </p:nvSpPr>
              <p:spPr>
                <a:xfrm>
                  <a:off x="1484313" y="4548188"/>
                  <a:ext cx="155575" cy="33338"/>
                </a:xfrm>
                <a:custGeom>
                  <a:avLst/>
                  <a:gdLst/>
                  <a:ahLst/>
                  <a:cxnLst/>
                  <a:rect l="l" t="t" r="r" b="b"/>
                  <a:pathLst>
                    <a:path w="155575" h="33338">
                      <a:moveTo>
                        <a:pt x="0" y="33338"/>
                      </a:moveTo>
                      <a:lnTo>
                        <a:pt x="77788" y="0"/>
                      </a:lnTo>
                      <a:lnTo>
                        <a:pt x="155575" y="33338"/>
                      </a:lnTo>
                    </a:path>
                  </a:pathLst>
                </a:custGeom>
                <a:noFill/>
                <a:ln w="16669">
                  <a:solidFill>
                    <a:srgbClr val="841600"/>
                  </a:solidFill>
                </a:ln>
              </p:spPr>
            </p:sp>
            <p:sp>
              <p:nvSpPr>
                <p:cNvPr id="48" name="Freeform 48"/>
                <p:cNvSpPr/>
                <p:nvPr/>
              </p:nvSpPr>
              <p:spPr>
                <a:xfrm>
                  <a:off x="1473200" y="4625975"/>
                  <a:ext cx="9525" cy="122238"/>
                </a:xfrm>
                <a:custGeom>
                  <a:avLst/>
                  <a:gdLst/>
                  <a:ahLst/>
                  <a:cxnLst/>
                  <a:rect l="l" t="t" r="r" b="b"/>
                  <a:pathLst>
                    <a:path w="9525" h="122238">
                      <a:moveTo>
                        <a:pt x="0" y="0"/>
                      </a:moveTo>
                      <a:lnTo>
                        <a:pt x="0" y="122238"/>
                      </a:lnTo>
                    </a:path>
                  </a:pathLst>
                </a:custGeom>
                <a:noFill/>
                <a:ln w="16669">
                  <a:solidFill>
                    <a:srgbClr val="841600"/>
                  </a:solidFill>
                </a:ln>
              </p:spPr>
            </p:sp>
            <p:sp>
              <p:nvSpPr>
                <p:cNvPr id="49" name="Freeform 49"/>
                <p:cNvSpPr/>
                <p:nvPr/>
              </p:nvSpPr>
              <p:spPr>
                <a:xfrm>
                  <a:off x="1651001" y="4625975"/>
                  <a:ext cx="9525" cy="122238"/>
                </a:xfrm>
                <a:custGeom>
                  <a:avLst/>
                  <a:gdLst/>
                  <a:ahLst/>
                  <a:cxnLst/>
                  <a:rect l="l" t="t" r="r" b="b"/>
                  <a:pathLst>
                    <a:path w="9525" h="122238">
                      <a:moveTo>
                        <a:pt x="0" y="0"/>
                      </a:moveTo>
                      <a:lnTo>
                        <a:pt x="0" y="122238"/>
                      </a:lnTo>
                    </a:path>
                  </a:pathLst>
                </a:custGeom>
                <a:noFill/>
                <a:ln w="16669">
                  <a:solidFill>
                    <a:srgbClr val="841600"/>
                  </a:solidFill>
                </a:ln>
              </p:spPr>
            </p:sp>
            <p:sp>
              <p:nvSpPr>
                <p:cNvPr id="50" name="Freeform 50"/>
                <p:cNvSpPr/>
                <p:nvPr/>
              </p:nvSpPr>
              <p:spPr>
                <a:xfrm>
                  <a:off x="1517650" y="4670425"/>
                  <a:ext cx="9525" cy="33338"/>
                </a:xfrm>
                <a:custGeom>
                  <a:avLst/>
                  <a:gdLst/>
                  <a:ahLst/>
                  <a:cxnLst/>
                  <a:rect l="l" t="t" r="r" b="b"/>
                  <a:pathLst>
                    <a:path w="9525" h="33338">
                      <a:moveTo>
                        <a:pt x="0" y="0"/>
                      </a:moveTo>
                      <a:lnTo>
                        <a:pt x="0" y="33338"/>
                      </a:lnTo>
                    </a:path>
                  </a:pathLst>
                </a:custGeom>
                <a:noFill/>
                <a:ln w="16669">
                  <a:solidFill>
                    <a:srgbClr val="841600"/>
                  </a:solidFill>
                </a:ln>
              </p:spPr>
            </p:sp>
            <p:sp>
              <p:nvSpPr>
                <p:cNvPr id="51" name="Freeform 51"/>
                <p:cNvSpPr/>
                <p:nvPr/>
              </p:nvSpPr>
              <p:spPr>
                <a:xfrm>
                  <a:off x="1562100" y="4670425"/>
                  <a:ext cx="9525" cy="33338"/>
                </a:xfrm>
                <a:custGeom>
                  <a:avLst/>
                  <a:gdLst/>
                  <a:ahLst/>
                  <a:cxnLst/>
                  <a:rect l="l" t="t" r="r" b="b"/>
                  <a:pathLst>
                    <a:path w="9525" h="33338">
                      <a:moveTo>
                        <a:pt x="0" y="0"/>
                      </a:moveTo>
                      <a:lnTo>
                        <a:pt x="0" y="33338"/>
                      </a:lnTo>
                    </a:path>
                  </a:pathLst>
                </a:custGeom>
                <a:noFill/>
                <a:ln w="16669">
                  <a:solidFill>
                    <a:srgbClr val="841600"/>
                  </a:solidFill>
                </a:ln>
              </p:spPr>
            </p:sp>
            <p:sp>
              <p:nvSpPr>
                <p:cNvPr id="52" name="Freeform 52"/>
                <p:cNvSpPr/>
                <p:nvPr/>
              </p:nvSpPr>
              <p:spPr>
                <a:xfrm>
                  <a:off x="1606551" y="4670425"/>
                  <a:ext cx="9525" cy="33338"/>
                </a:xfrm>
                <a:custGeom>
                  <a:avLst/>
                  <a:gdLst/>
                  <a:ahLst/>
                  <a:cxnLst/>
                  <a:rect l="l" t="t" r="r" b="b"/>
                  <a:pathLst>
                    <a:path w="9525" h="33338">
                      <a:moveTo>
                        <a:pt x="0" y="0"/>
                      </a:moveTo>
                      <a:lnTo>
                        <a:pt x="0" y="33338"/>
                      </a:lnTo>
                    </a:path>
                  </a:pathLst>
                </a:custGeom>
                <a:noFill/>
                <a:ln w="16669">
                  <a:solidFill>
                    <a:srgbClr val="841600"/>
                  </a:solidFill>
                </a:ln>
              </p:spPr>
            </p:sp>
          </p:grpSp>
          <p:sp>
            <p:nvSpPr>
              <p:cNvPr id="54" name="TextBox 54"/>
              <p:cNvSpPr txBox="1"/>
              <p:nvPr/>
            </p:nvSpPr>
            <p:spPr>
              <a:xfrm>
                <a:off x="1953768" y="4412932"/>
                <a:ext cx="461010"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一稳</a:t>
                </a:r>
              </a:p>
            </p:txBody>
          </p:sp>
          <p:sp>
            <p:nvSpPr>
              <p:cNvPr id="55" name="TextBox 55"/>
              <p:cNvSpPr txBox="1"/>
              <p:nvPr/>
            </p:nvSpPr>
            <p:spPr>
              <a:xfrm>
                <a:off x="1957197" y="4809649"/>
                <a:ext cx="1724965" cy="190690"/>
              </a:xfrm>
              <a:prstGeom prst="rect">
                <a:avLst/>
              </a:prstGeom>
              <a:noFill/>
              <a:ln>
                <a:noFill/>
              </a:ln>
            </p:spPr>
            <p:txBody>
              <a:bodyPr wrap="none" lIns="0" tIns="0" rIns="0" bIns="0" anchor="t" anchorCtr="0">
                <a:spAutoFit/>
              </a:bodyPr>
              <a:lstStyle/>
              <a:p>
                <a:pPr algn="l"/>
                <a:r>
                  <a:rPr lang="zh-CN" sz="980" dirty="0">
                    <a:solidFill>
                      <a:srgbClr val="473633"/>
                    </a:solidFill>
                    <a:latin typeface="+mn-lt"/>
                    <a:ea typeface="+mn-ea"/>
                    <a:cs typeface="+mn-cs"/>
                  </a:rPr>
                  <a:t>稳存款、稳客户、稳资产质量</a:t>
                </a:r>
              </a:p>
            </p:txBody>
          </p:sp>
        </p:grpSp>
      </p:grpSp>
      <p:grpSp>
        <p:nvGrpSpPr>
          <p:cNvPr id="125" name="six-mainlines"/>
          <p:cNvGrpSpPr/>
          <p:nvPr/>
        </p:nvGrpSpPr>
        <p:grpSpPr>
          <a:xfrm>
            <a:off x="7524750" y="952500"/>
            <a:ext cx="4400550" cy="4191000"/>
            <a:chOff x="7524750" y="952500"/>
            <a:chExt cx="4400550" cy="4191000"/>
          </a:xfrm>
        </p:grpSpPr>
        <p:sp>
          <p:nvSpPr>
            <p:cNvPr id="58" name="Rectangle 58"/>
            <p:cNvSpPr/>
            <p:nvPr/>
          </p:nvSpPr>
          <p:spPr>
            <a:xfrm>
              <a:off x="7524750" y="952500"/>
              <a:ext cx="4400550" cy="4191000"/>
            </a:xfrm>
            <a:prstGeom prst="roundRect">
              <a:avLst>
                <a:gd name="adj" fmla="val 2273"/>
              </a:avLst>
            </a:prstGeom>
            <a:solidFill>
              <a:srgbClr val="FFFFFF"/>
            </a:solidFill>
            <a:ln w="9525">
              <a:solidFill>
                <a:srgbClr val="D7E2F2"/>
              </a:solidFill>
            </a:ln>
          </p:spPr>
        </p:sp>
        <p:sp>
          <p:nvSpPr>
            <p:cNvPr id="59" name="Rectangle 59"/>
            <p:cNvSpPr/>
            <p:nvPr/>
          </p:nvSpPr>
          <p:spPr>
            <a:xfrm>
              <a:off x="7524750" y="952500"/>
              <a:ext cx="4400550" cy="381000"/>
            </a:xfrm>
            <a:prstGeom prst="roundRect">
              <a:avLst>
                <a:gd name="adj" fmla="val 25000"/>
              </a:avLst>
            </a:prstGeom>
            <a:solidFill>
              <a:srgbClr val="841600"/>
            </a:solidFill>
            <a:ln>
              <a:noFill/>
            </a:ln>
          </p:spPr>
        </p:sp>
        <p:sp>
          <p:nvSpPr>
            <p:cNvPr id="60" name="Rectangle 60"/>
            <p:cNvSpPr/>
            <p:nvPr/>
          </p:nvSpPr>
          <p:spPr>
            <a:xfrm>
              <a:off x="7524750" y="1162050"/>
              <a:ext cx="4400550" cy="171450"/>
            </a:xfrm>
            <a:prstGeom prst="rect">
              <a:avLst/>
            </a:prstGeom>
            <a:solidFill>
              <a:srgbClr val="841600"/>
            </a:solidFill>
            <a:ln>
              <a:noFill/>
            </a:ln>
          </p:spPr>
        </p:sp>
        <p:sp>
          <p:nvSpPr>
            <p:cNvPr id="61" name="TextBox 61"/>
            <p:cNvSpPr txBox="1"/>
            <p:nvPr/>
          </p:nvSpPr>
          <p:spPr>
            <a:xfrm>
              <a:off x="9201607" y="1072039"/>
              <a:ext cx="104683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六条经营主线</a:t>
              </a:r>
            </a:p>
          </p:txBody>
        </p:sp>
        <p:grpSp>
          <p:nvGrpSpPr>
            <p:cNvPr id="72" name="mainline-1"/>
            <p:cNvGrpSpPr/>
            <p:nvPr/>
          </p:nvGrpSpPr>
          <p:grpSpPr>
            <a:xfrm>
              <a:off x="7620000" y="1447800"/>
              <a:ext cx="2057400" cy="1104900"/>
              <a:chOff x="7620000" y="1447800"/>
              <a:chExt cx="2057400" cy="1104900"/>
            </a:xfrm>
          </p:grpSpPr>
          <p:sp>
            <p:nvSpPr>
              <p:cNvPr id="62" name="Rectangle 62"/>
              <p:cNvSpPr/>
              <p:nvPr/>
            </p:nvSpPr>
            <p:spPr>
              <a:xfrm>
                <a:off x="7620000" y="1447800"/>
                <a:ext cx="2057400" cy="1104900"/>
              </a:xfrm>
              <a:prstGeom prst="roundRect">
                <a:avLst>
                  <a:gd name="adj" fmla="val 6897"/>
                </a:avLst>
              </a:prstGeom>
              <a:solidFill>
                <a:srgbClr val="F4F8FE"/>
              </a:solidFill>
              <a:ln w="9525">
                <a:solidFill>
                  <a:srgbClr val="D7E2F2"/>
                </a:solidFill>
              </a:ln>
            </p:spPr>
          </p:sp>
          <p:sp>
            <p:nvSpPr>
              <p:cNvPr id="63" name="Ellipse 63"/>
              <p:cNvSpPr/>
              <p:nvPr/>
            </p:nvSpPr>
            <p:spPr>
              <a:xfrm>
                <a:off x="7715250" y="1847850"/>
                <a:ext cx="304800" cy="304800"/>
              </a:xfrm>
              <a:prstGeom prst="ellipse">
                <a:avLst/>
              </a:prstGeom>
              <a:solidFill>
                <a:srgbClr val="841600"/>
              </a:solidFill>
              <a:ln>
                <a:noFill/>
              </a:ln>
            </p:spPr>
          </p:sp>
          <p:sp>
            <p:nvSpPr>
              <p:cNvPr id="64" name="TextBox 64"/>
              <p:cNvSpPr txBox="1"/>
              <p:nvPr/>
            </p:nvSpPr>
            <p:spPr>
              <a:xfrm>
                <a:off x="7792919" y="19507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01</a:t>
                </a:r>
              </a:p>
            </p:txBody>
          </p:sp>
          <p:sp>
            <p:nvSpPr>
              <p:cNvPr id="65" name="Ellipse 65"/>
              <p:cNvSpPr/>
              <p:nvPr/>
            </p:nvSpPr>
            <p:spPr>
              <a:xfrm>
                <a:off x="8115300" y="1771650"/>
                <a:ext cx="457200" cy="457200"/>
              </a:xfrm>
              <a:prstGeom prst="ellipse">
                <a:avLst/>
              </a:prstGeom>
              <a:solidFill>
                <a:srgbClr val="EFF5FD"/>
              </a:solidFill>
              <a:ln w="14288">
                <a:solidFill>
                  <a:srgbClr val="ECC1B8"/>
                </a:solidFill>
              </a:ln>
            </p:spPr>
          </p:sp>
          <p:grpSp>
            <p:nvGrpSpPr>
              <p:cNvPr id="70" name="Group 70"/>
              <p:cNvGrpSpPr/>
              <p:nvPr/>
            </p:nvGrpSpPr>
            <p:grpSpPr>
              <a:xfrm>
                <a:off x="8251031" y="1907381"/>
                <a:ext cx="185737" cy="175418"/>
                <a:chOff x="8251031" y="1907381"/>
                <a:chExt cx="185737" cy="175418"/>
              </a:xfrm>
            </p:grpSpPr>
            <p:sp>
              <p:nvSpPr>
                <p:cNvPr id="66" name="Freeform 66"/>
                <p:cNvSpPr/>
                <p:nvPr/>
              </p:nvSpPr>
              <p:spPr>
                <a:xfrm>
                  <a:off x="8251031" y="1948656"/>
                  <a:ext cx="185737" cy="134143"/>
                </a:xfrm>
                <a:custGeom>
                  <a:avLst/>
                  <a:gdLst/>
                  <a:ahLst/>
                  <a:cxnLst/>
                  <a:rect l="l" t="t" r="r" b="b"/>
                  <a:pathLst>
                    <a:path w="185737" h="134143">
                      <a:moveTo>
                        <a:pt x="0" y="20637"/>
                      </a:moveTo>
                      <a:cubicBezTo>
                        <a:pt x="0" y="9240"/>
                        <a:pt x="9240" y="0"/>
                        <a:pt x="20637" y="0"/>
                      </a:cubicBezTo>
                      <a:lnTo>
                        <a:pt x="165099" y="0"/>
                      </a:lnTo>
                      <a:cubicBezTo>
                        <a:pt x="176497" y="0"/>
                        <a:pt x="185737" y="9240"/>
                        <a:pt x="185737" y="20637"/>
                      </a:cubicBezTo>
                      <a:lnTo>
                        <a:pt x="185737" y="113506"/>
                      </a:lnTo>
                      <a:cubicBezTo>
                        <a:pt x="185737" y="124904"/>
                        <a:pt x="176497" y="134143"/>
                        <a:pt x="165099" y="134143"/>
                      </a:cubicBezTo>
                      <a:lnTo>
                        <a:pt x="20637" y="134143"/>
                      </a:lnTo>
                      <a:cubicBezTo>
                        <a:pt x="9240" y="134143"/>
                        <a:pt x="0" y="124904"/>
                        <a:pt x="0" y="113506"/>
                      </a:cubicBezTo>
                      <a:lnTo>
                        <a:pt x="0" y="20637"/>
                      </a:lnTo>
                    </a:path>
                  </a:pathLst>
                </a:custGeom>
                <a:noFill/>
                <a:ln w="15478">
                  <a:solidFill>
                    <a:srgbClr val="841600"/>
                  </a:solidFill>
                </a:ln>
              </p:spPr>
            </p:sp>
            <p:sp>
              <p:nvSpPr>
                <p:cNvPr id="67" name="Freeform 67"/>
                <p:cNvSpPr/>
                <p:nvPr/>
              </p:nvSpPr>
              <p:spPr>
                <a:xfrm>
                  <a:off x="8302625" y="1907381"/>
                  <a:ext cx="82550" cy="41275"/>
                </a:xfrm>
                <a:custGeom>
                  <a:avLst/>
                  <a:gdLst/>
                  <a:ahLst/>
                  <a:cxnLst/>
                  <a:rect l="l" t="t" r="r" b="b"/>
                  <a:pathLst>
                    <a:path w="82550" h="41275">
                      <a:moveTo>
                        <a:pt x="0" y="41275"/>
                      </a:moveTo>
                      <a:lnTo>
                        <a:pt x="0" y="20637"/>
                      </a:lnTo>
                      <a:cubicBezTo>
                        <a:pt x="0" y="9240"/>
                        <a:pt x="9240" y="0"/>
                        <a:pt x="20637" y="0"/>
                      </a:cubicBezTo>
                      <a:lnTo>
                        <a:pt x="61912" y="0"/>
                      </a:lnTo>
                      <a:cubicBezTo>
                        <a:pt x="73310" y="0"/>
                        <a:pt x="82550" y="9240"/>
                        <a:pt x="82550" y="20637"/>
                      </a:cubicBezTo>
                      <a:lnTo>
                        <a:pt x="82550" y="41275"/>
                      </a:lnTo>
                    </a:path>
                  </a:pathLst>
                </a:custGeom>
                <a:noFill/>
                <a:ln w="15478">
                  <a:solidFill>
                    <a:srgbClr val="841600"/>
                  </a:solidFill>
                </a:ln>
              </p:spPr>
            </p:sp>
            <p:sp>
              <p:nvSpPr>
                <p:cNvPr id="68" name="Freeform 68"/>
                <p:cNvSpPr/>
                <p:nvPr/>
              </p:nvSpPr>
              <p:spPr>
                <a:xfrm>
                  <a:off x="8343900" y="2000250"/>
                  <a:ext cx="9525" cy="9525"/>
                </a:xfrm>
                <a:custGeom>
                  <a:avLst/>
                  <a:gdLst/>
                  <a:ahLst/>
                  <a:cxnLst/>
                  <a:rect l="l" t="t" r="r" b="b"/>
                  <a:pathLst>
                    <a:path w="9525" h="9525">
                      <a:moveTo>
                        <a:pt x="0" y="0"/>
                      </a:moveTo>
                      <a:lnTo>
                        <a:pt x="0" y="103"/>
                      </a:lnTo>
                    </a:path>
                  </a:pathLst>
                </a:custGeom>
                <a:noFill/>
                <a:ln w="15478">
                  <a:solidFill>
                    <a:srgbClr val="841600"/>
                  </a:solidFill>
                </a:ln>
              </p:spPr>
            </p:sp>
            <p:sp>
              <p:nvSpPr>
                <p:cNvPr id="69" name="Freeform 69"/>
                <p:cNvSpPr/>
                <p:nvPr/>
              </p:nvSpPr>
              <p:spPr>
                <a:xfrm>
                  <a:off x="8251031" y="2010568"/>
                  <a:ext cx="185737" cy="29435"/>
                </a:xfrm>
                <a:custGeom>
                  <a:avLst/>
                  <a:gdLst/>
                  <a:ahLst/>
                  <a:cxnLst/>
                  <a:rect l="l" t="t" r="r" b="b"/>
                  <a:pathLst>
                    <a:path w="185737" h="29435">
                      <a:moveTo>
                        <a:pt x="0" y="0"/>
                      </a:moveTo>
                      <a:cubicBezTo>
                        <a:pt x="58414" y="29435"/>
                        <a:pt x="127323" y="29435"/>
                        <a:pt x="185737" y="0"/>
                      </a:cubicBezTo>
                    </a:path>
                  </a:pathLst>
                </a:custGeom>
                <a:noFill/>
                <a:ln w="15478">
                  <a:solidFill>
                    <a:srgbClr val="841600"/>
                  </a:solidFill>
                </a:ln>
              </p:spPr>
            </p:sp>
          </p:grpSp>
          <p:sp>
            <p:nvSpPr>
              <p:cNvPr id="71" name="TextBox 71"/>
              <p:cNvSpPr txBox="1"/>
              <p:nvPr/>
            </p:nvSpPr>
            <p:spPr>
              <a:xfrm>
                <a:off x="8680323" y="1919764"/>
                <a:ext cx="702208"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公司做深</a:t>
                </a:r>
              </a:p>
            </p:txBody>
          </p:sp>
        </p:grpSp>
        <p:grpSp>
          <p:nvGrpSpPr>
            <p:cNvPr id="83" name="mainline-2"/>
            <p:cNvGrpSpPr/>
            <p:nvPr/>
          </p:nvGrpSpPr>
          <p:grpSpPr>
            <a:xfrm>
              <a:off x="9810750" y="1447800"/>
              <a:ext cx="2057400" cy="1104900"/>
              <a:chOff x="9810750" y="1447800"/>
              <a:chExt cx="2057400" cy="1104900"/>
            </a:xfrm>
          </p:grpSpPr>
          <p:sp>
            <p:nvSpPr>
              <p:cNvPr id="73" name="Rectangle 73"/>
              <p:cNvSpPr/>
              <p:nvPr/>
            </p:nvSpPr>
            <p:spPr>
              <a:xfrm>
                <a:off x="9810750" y="1447800"/>
                <a:ext cx="2057400" cy="1104900"/>
              </a:xfrm>
              <a:prstGeom prst="roundRect">
                <a:avLst>
                  <a:gd name="adj" fmla="val 6897"/>
                </a:avLst>
              </a:prstGeom>
              <a:solidFill>
                <a:srgbClr val="F4F8FE"/>
              </a:solidFill>
              <a:ln w="9525">
                <a:solidFill>
                  <a:srgbClr val="D7E2F2"/>
                </a:solidFill>
              </a:ln>
            </p:spPr>
          </p:sp>
          <p:sp>
            <p:nvSpPr>
              <p:cNvPr id="74" name="Ellipse 74"/>
              <p:cNvSpPr/>
              <p:nvPr/>
            </p:nvSpPr>
            <p:spPr>
              <a:xfrm>
                <a:off x="9906000" y="1847850"/>
                <a:ext cx="304800" cy="304800"/>
              </a:xfrm>
              <a:prstGeom prst="ellipse">
                <a:avLst/>
              </a:prstGeom>
              <a:solidFill>
                <a:srgbClr val="841600"/>
              </a:solidFill>
              <a:ln>
                <a:noFill/>
              </a:ln>
            </p:spPr>
          </p:sp>
          <p:sp>
            <p:nvSpPr>
              <p:cNvPr id="75" name="TextBox 75"/>
              <p:cNvSpPr txBox="1"/>
              <p:nvPr/>
            </p:nvSpPr>
            <p:spPr>
              <a:xfrm>
                <a:off x="9983669" y="19507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02</a:t>
                </a:r>
              </a:p>
            </p:txBody>
          </p:sp>
          <p:sp>
            <p:nvSpPr>
              <p:cNvPr id="76" name="Ellipse 76"/>
              <p:cNvSpPr/>
              <p:nvPr/>
            </p:nvSpPr>
            <p:spPr>
              <a:xfrm>
                <a:off x="10306050" y="1771650"/>
                <a:ext cx="457200" cy="457200"/>
              </a:xfrm>
              <a:prstGeom prst="ellipse">
                <a:avLst/>
              </a:prstGeom>
              <a:solidFill>
                <a:srgbClr val="EFF5FD"/>
              </a:solidFill>
              <a:ln w="14288">
                <a:solidFill>
                  <a:srgbClr val="ECC1B8"/>
                </a:solidFill>
              </a:ln>
            </p:spPr>
          </p:sp>
          <p:grpSp>
            <p:nvGrpSpPr>
              <p:cNvPr id="81" name="Group 81"/>
              <p:cNvGrpSpPr/>
              <p:nvPr/>
            </p:nvGrpSpPr>
            <p:grpSpPr>
              <a:xfrm>
                <a:off x="10441781" y="1907381"/>
                <a:ext cx="185737" cy="185738"/>
                <a:chOff x="10441781" y="1907381"/>
                <a:chExt cx="185737" cy="185738"/>
              </a:xfrm>
            </p:grpSpPr>
            <p:sp>
              <p:nvSpPr>
                <p:cNvPr id="77" name="Freeform 77"/>
                <p:cNvSpPr/>
                <p:nvPr/>
              </p:nvSpPr>
              <p:spPr>
                <a:xfrm>
                  <a:off x="10462419" y="19073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15478">
                  <a:solidFill>
                    <a:srgbClr val="841600"/>
                  </a:solidFill>
                </a:ln>
              </p:spPr>
            </p:sp>
            <p:sp>
              <p:nvSpPr>
                <p:cNvPr id="78" name="Freeform 78"/>
                <p:cNvSpPr/>
                <p:nvPr/>
              </p:nvSpPr>
              <p:spPr>
                <a:xfrm>
                  <a:off x="10441781" y="20312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15478">
                  <a:solidFill>
                    <a:srgbClr val="841600"/>
                  </a:solidFill>
                </a:ln>
              </p:spPr>
            </p:sp>
            <p:sp>
              <p:nvSpPr>
                <p:cNvPr id="79" name="Freeform 79"/>
                <p:cNvSpPr/>
                <p:nvPr/>
              </p:nvSpPr>
              <p:spPr>
                <a:xfrm>
                  <a:off x="10575924" y="19087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15478">
                  <a:solidFill>
                    <a:srgbClr val="841600"/>
                  </a:solidFill>
                </a:ln>
              </p:spPr>
            </p:sp>
            <p:sp>
              <p:nvSpPr>
                <p:cNvPr id="80" name="Freeform 80"/>
                <p:cNvSpPr/>
                <p:nvPr/>
              </p:nvSpPr>
              <p:spPr>
                <a:xfrm>
                  <a:off x="10596562" y="20327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15478">
                  <a:solidFill>
                    <a:srgbClr val="841600"/>
                  </a:solidFill>
                </a:ln>
              </p:spPr>
            </p:sp>
          </p:grpSp>
          <p:sp>
            <p:nvSpPr>
              <p:cNvPr id="82" name="TextBox 82"/>
              <p:cNvSpPr txBox="1"/>
              <p:nvPr/>
            </p:nvSpPr>
            <p:spPr>
              <a:xfrm>
                <a:off x="10871073" y="1919764"/>
                <a:ext cx="702208"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零售做活</a:t>
                </a:r>
              </a:p>
            </p:txBody>
          </p:sp>
        </p:grpSp>
        <p:grpSp>
          <p:nvGrpSpPr>
            <p:cNvPr id="96" name="mainline-3"/>
            <p:cNvGrpSpPr/>
            <p:nvPr/>
          </p:nvGrpSpPr>
          <p:grpSpPr>
            <a:xfrm>
              <a:off x="7620000" y="2667000"/>
              <a:ext cx="2057400" cy="1104900"/>
              <a:chOff x="7620000" y="2667000"/>
              <a:chExt cx="2057400" cy="1104900"/>
            </a:xfrm>
          </p:grpSpPr>
          <p:sp>
            <p:nvSpPr>
              <p:cNvPr id="84" name="Rectangle 84"/>
              <p:cNvSpPr/>
              <p:nvPr/>
            </p:nvSpPr>
            <p:spPr>
              <a:xfrm>
                <a:off x="7620000" y="2667000"/>
                <a:ext cx="2057400" cy="1104900"/>
              </a:xfrm>
              <a:prstGeom prst="roundRect">
                <a:avLst>
                  <a:gd name="adj" fmla="val 6897"/>
                </a:avLst>
              </a:prstGeom>
              <a:solidFill>
                <a:srgbClr val="F4F8FE"/>
              </a:solidFill>
              <a:ln w="9525">
                <a:solidFill>
                  <a:srgbClr val="D7E2F2"/>
                </a:solidFill>
              </a:ln>
            </p:spPr>
          </p:sp>
          <p:sp>
            <p:nvSpPr>
              <p:cNvPr id="85" name="Ellipse 85"/>
              <p:cNvSpPr/>
              <p:nvPr/>
            </p:nvSpPr>
            <p:spPr>
              <a:xfrm>
                <a:off x="7715250" y="3067050"/>
                <a:ext cx="304800" cy="304800"/>
              </a:xfrm>
              <a:prstGeom prst="ellipse">
                <a:avLst/>
              </a:prstGeom>
              <a:solidFill>
                <a:srgbClr val="841600"/>
              </a:solidFill>
              <a:ln>
                <a:noFill/>
              </a:ln>
            </p:spPr>
          </p:sp>
          <p:sp>
            <p:nvSpPr>
              <p:cNvPr id="86" name="TextBox 86"/>
              <p:cNvSpPr txBox="1"/>
              <p:nvPr/>
            </p:nvSpPr>
            <p:spPr>
              <a:xfrm>
                <a:off x="7792919" y="31699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03</a:t>
                </a:r>
              </a:p>
            </p:txBody>
          </p:sp>
          <p:sp>
            <p:nvSpPr>
              <p:cNvPr id="87" name="Ellipse 87"/>
              <p:cNvSpPr/>
              <p:nvPr/>
            </p:nvSpPr>
            <p:spPr>
              <a:xfrm>
                <a:off x="8115300" y="2990850"/>
                <a:ext cx="457200" cy="457200"/>
              </a:xfrm>
              <a:prstGeom prst="ellipse">
                <a:avLst/>
              </a:prstGeom>
              <a:solidFill>
                <a:srgbClr val="EFF5FD"/>
              </a:solidFill>
              <a:ln w="14288">
                <a:solidFill>
                  <a:srgbClr val="ECC1B8"/>
                </a:solidFill>
              </a:ln>
            </p:spPr>
          </p:sp>
          <p:grpSp>
            <p:nvGrpSpPr>
              <p:cNvPr id="94" name="Group 94"/>
              <p:cNvGrpSpPr/>
              <p:nvPr/>
            </p:nvGrpSpPr>
            <p:grpSpPr>
              <a:xfrm>
                <a:off x="8251031" y="3126581"/>
                <a:ext cx="185737" cy="185737"/>
                <a:chOff x="8251031" y="3126581"/>
                <a:chExt cx="185737" cy="185737"/>
              </a:xfrm>
            </p:grpSpPr>
            <p:sp>
              <p:nvSpPr>
                <p:cNvPr id="88" name="Freeform 88"/>
                <p:cNvSpPr/>
                <p:nvPr/>
              </p:nvSpPr>
              <p:spPr>
                <a:xfrm>
                  <a:off x="8323262" y="32091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841600"/>
                  </a:solidFill>
                </a:ln>
              </p:spPr>
            </p:sp>
            <p:sp>
              <p:nvSpPr>
                <p:cNvPr id="89" name="Freeform 89"/>
                <p:cNvSpPr/>
                <p:nvPr/>
              </p:nvSpPr>
              <p:spPr>
                <a:xfrm>
                  <a:off x="8302625" y="3281362"/>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15478">
                  <a:solidFill>
                    <a:srgbClr val="841600"/>
                  </a:solidFill>
                </a:ln>
              </p:spPr>
            </p:sp>
            <p:sp>
              <p:nvSpPr>
                <p:cNvPr id="90" name="Freeform 90"/>
                <p:cNvSpPr/>
                <p:nvPr/>
              </p:nvSpPr>
              <p:spPr>
                <a:xfrm>
                  <a:off x="8374856" y="312658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841600"/>
                  </a:solidFill>
                </a:ln>
              </p:spPr>
            </p:sp>
            <p:sp>
              <p:nvSpPr>
                <p:cNvPr id="91" name="Freeform 91"/>
                <p:cNvSpPr/>
                <p:nvPr/>
              </p:nvSpPr>
              <p:spPr>
                <a:xfrm>
                  <a:off x="8395493" y="3198812"/>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15478">
                  <a:solidFill>
                    <a:srgbClr val="841600"/>
                  </a:solidFill>
                </a:ln>
              </p:spPr>
            </p:sp>
            <p:sp>
              <p:nvSpPr>
                <p:cNvPr id="92" name="Freeform 92"/>
                <p:cNvSpPr/>
                <p:nvPr/>
              </p:nvSpPr>
              <p:spPr>
                <a:xfrm>
                  <a:off x="8271669" y="312658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841600"/>
                  </a:solidFill>
                </a:ln>
              </p:spPr>
            </p:sp>
            <p:sp>
              <p:nvSpPr>
                <p:cNvPr id="93" name="Freeform 93"/>
                <p:cNvSpPr/>
                <p:nvPr/>
              </p:nvSpPr>
              <p:spPr>
                <a:xfrm>
                  <a:off x="8251031" y="3198812"/>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15478">
                  <a:solidFill>
                    <a:srgbClr val="841600"/>
                  </a:solidFill>
                </a:ln>
              </p:spPr>
            </p:sp>
          </p:grpSp>
          <p:sp>
            <p:nvSpPr>
              <p:cNvPr id="95" name="TextBox 95"/>
              <p:cNvSpPr txBox="1"/>
              <p:nvPr/>
            </p:nvSpPr>
            <p:spPr>
              <a:xfrm>
                <a:off x="8680323" y="3138964"/>
                <a:ext cx="702208"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普惠做实</a:t>
                </a:r>
              </a:p>
            </p:txBody>
          </p:sp>
        </p:grpSp>
        <p:grpSp>
          <p:nvGrpSpPr>
            <p:cNvPr id="105" name="mainline-4"/>
            <p:cNvGrpSpPr/>
            <p:nvPr/>
          </p:nvGrpSpPr>
          <p:grpSpPr>
            <a:xfrm>
              <a:off x="9810750" y="2667000"/>
              <a:ext cx="2057400" cy="1104900"/>
              <a:chOff x="9810750" y="2667000"/>
              <a:chExt cx="2057400" cy="1104900"/>
            </a:xfrm>
          </p:grpSpPr>
          <p:sp>
            <p:nvSpPr>
              <p:cNvPr id="97" name="Rectangle 97"/>
              <p:cNvSpPr/>
              <p:nvPr/>
            </p:nvSpPr>
            <p:spPr>
              <a:xfrm>
                <a:off x="9810750" y="2667000"/>
                <a:ext cx="2057400" cy="1104900"/>
              </a:xfrm>
              <a:prstGeom prst="roundRect">
                <a:avLst>
                  <a:gd name="adj" fmla="val 6897"/>
                </a:avLst>
              </a:prstGeom>
              <a:solidFill>
                <a:srgbClr val="F4F8FE"/>
              </a:solidFill>
              <a:ln w="9525">
                <a:solidFill>
                  <a:srgbClr val="D7E2F2"/>
                </a:solidFill>
              </a:ln>
            </p:spPr>
          </p:sp>
          <p:sp>
            <p:nvSpPr>
              <p:cNvPr id="98" name="Ellipse 98"/>
              <p:cNvSpPr/>
              <p:nvPr/>
            </p:nvSpPr>
            <p:spPr>
              <a:xfrm>
                <a:off x="9906000" y="3067050"/>
                <a:ext cx="304800" cy="304800"/>
              </a:xfrm>
              <a:prstGeom prst="ellipse">
                <a:avLst/>
              </a:prstGeom>
              <a:solidFill>
                <a:srgbClr val="841600"/>
              </a:solidFill>
              <a:ln>
                <a:noFill/>
              </a:ln>
            </p:spPr>
          </p:sp>
          <p:sp>
            <p:nvSpPr>
              <p:cNvPr id="99" name="TextBox 99"/>
              <p:cNvSpPr txBox="1"/>
              <p:nvPr/>
            </p:nvSpPr>
            <p:spPr>
              <a:xfrm>
                <a:off x="9983669" y="31699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04</a:t>
                </a:r>
              </a:p>
            </p:txBody>
          </p:sp>
          <p:sp>
            <p:nvSpPr>
              <p:cNvPr id="100" name="Ellipse 100"/>
              <p:cNvSpPr/>
              <p:nvPr/>
            </p:nvSpPr>
            <p:spPr>
              <a:xfrm>
                <a:off x="10306050" y="2990850"/>
                <a:ext cx="457200" cy="457200"/>
              </a:xfrm>
              <a:prstGeom prst="ellipse">
                <a:avLst/>
              </a:prstGeom>
              <a:solidFill>
                <a:srgbClr val="EFF5FD"/>
              </a:solidFill>
              <a:ln w="14288">
                <a:solidFill>
                  <a:srgbClr val="ECC1B8"/>
                </a:solidFill>
              </a:ln>
            </p:spPr>
          </p:sp>
          <p:grpSp>
            <p:nvGrpSpPr>
              <p:cNvPr id="103" name="Group 103"/>
              <p:cNvGrpSpPr/>
              <p:nvPr/>
            </p:nvGrpSpPr>
            <p:grpSpPr>
              <a:xfrm>
                <a:off x="10452100" y="3157537"/>
                <a:ext cx="165099" cy="143669"/>
                <a:chOff x="10452100" y="3157537"/>
                <a:chExt cx="165099" cy="143669"/>
              </a:xfrm>
            </p:grpSpPr>
            <p:sp>
              <p:nvSpPr>
                <p:cNvPr id="101" name="Freeform 101"/>
                <p:cNvSpPr/>
                <p:nvPr/>
              </p:nvSpPr>
              <p:spPr>
                <a:xfrm>
                  <a:off x="10452100" y="3291681"/>
                  <a:ext cx="165099" cy="9525"/>
                </a:xfrm>
                <a:custGeom>
                  <a:avLst/>
                  <a:gdLst/>
                  <a:ahLst/>
                  <a:cxnLst/>
                  <a:rect l="l" t="t" r="r" b="b"/>
                  <a:pathLst>
                    <a:path w="165099" h="9525">
                      <a:moveTo>
                        <a:pt x="0" y="0"/>
                      </a:moveTo>
                      <a:lnTo>
                        <a:pt x="165099" y="0"/>
                      </a:lnTo>
                    </a:path>
                  </a:pathLst>
                </a:custGeom>
                <a:noFill/>
                <a:ln w="15478">
                  <a:solidFill>
                    <a:srgbClr val="841600"/>
                  </a:solidFill>
                </a:ln>
              </p:spPr>
            </p:sp>
            <p:sp>
              <p:nvSpPr>
                <p:cNvPr id="102" name="Freeform 102"/>
                <p:cNvSpPr/>
                <p:nvPr/>
              </p:nvSpPr>
              <p:spPr>
                <a:xfrm>
                  <a:off x="10452100" y="3157537"/>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15478">
                  <a:solidFill>
                    <a:srgbClr val="841600"/>
                  </a:solidFill>
                </a:ln>
              </p:spPr>
            </p:sp>
          </p:grpSp>
          <p:sp>
            <p:nvSpPr>
              <p:cNvPr id="104" name="TextBox 104"/>
              <p:cNvSpPr txBox="1"/>
              <p:nvPr/>
            </p:nvSpPr>
            <p:spPr>
              <a:xfrm>
                <a:off x="10871454" y="3147060"/>
                <a:ext cx="981456" cy="234696"/>
              </a:xfrm>
              <a:prstGeom prst="rect">
                <a:avLst/>
              </a:prstGeom>
              <a:noFill/>
              <a:ln>
                <a:noFill/>
              </a:ln>
            </p:spPr>
            <p:txBody>
              <a:bodyPr wrap="none" lIns="0" tIns="0" rIns="0" bIns="0" anchor="t" anchorCtr="0">
                <a:spAutoFit/>
              </a:bodyPr>
              <a:lstStyle/>
              <a:p>
                <a:pPr algn="l"/>
                <a:r>
                  <a:rPr lang="zh-CN" sz="1200" b="1" dirty="0">
                    <a:solidFill>
                      <a:srgbClr val="841600"/>
                    </a:solidFill>
                    <a:latin typeface="+mn-lt"/>
                    <a:ea typeface="+mn-ea"/>
                    <a:cs typeface="+mn-cs"/>
                  </a:rPr>
                  <a:t>金融市场做稳</a:t>
                </a:r>
              </a:p>
            </p:txBody>
          </p:sp>
        </p:grpSp>
        <p:grpSp>
          <p:nvGrpSpPr>
            <p:cNvPr id="115" name="mainline-5"/>
            <p:cNvGrpSpPr/>
            <p:nvPr/>
          </p:nvGrpSpPr>
          <p:grpSpPr>
            <a:xfrm>
              <a:off x="7620000" y="3886200"/>
              <a:ext cx="2057400" cy="1104900"/>
              <a:chOff x="7620000" y="3886200"/>
              <a:chExt cx="2057400" cy="1104900"/>
            </a:xfrm>
          </p:grpSpPr>
          <p:sp>
            <p:nvSpPr>
              <p:cNvPr id="106" name="Rectangle 106"/>
              <p:cNvSpPr/>
              <p:nvPr/>
            </p:nvSpPr>
            <p:spPr>
              <a:xfrm>
                <a:off x="7620000" y="3886200"/>
                <a:ext cx="2057400" cy="1104900"/>
              </a:xfrm>
              <a:prstGeom prst="roundRect">
                <a:avLst>
                  <a:gd name="adj" fmla="val 6897"/>
                </a:avLst>
              </a:prstGeom>
              <a:solidFill>
                <a:srgbClr val="F4F8FE"/>
              </a:solidFill>
              <a:ln w="9525">
                <a:solidFill>
                  <a:srgbClr val="D7E2F2"/>
                </a:solidFill>
              </a:ln>
            </p:spPr>
          </p:sp>
          <p:sp>
            <p:nvSpPr>
              <p:cNvPr id="107" name="Ellipse 107"/>
              <p:cNvSpPr/>
              <p:nvPr/>
            </p:nvSpPr>
            <p:spPr>
              <a:xfrm>
                <a:off x="7715250" y="4286250"/>
                <a:ext cx="304800" cy="304800"/>
              </a:xfrm>
              <a:prstGeom prst="ellipse">
                <a:avLst/>
              </a:prstGeom>
              <a:solidFill>
                <a:srgbClr val="841600"/>
              </a:solidFill>
              <a:ln>
                <a:noFill/>
              </a:ln>
            </p:spPr>
          </p:sp>
          <p:sp>
            <p:nvSpPr>
              <p:cNvPr id="108" name="TextBox 108"/>
              <p:cNvSpPr txBox="1"/>
              <p:nvPr/>
            </p:nvSpPr>
            <p:spPr>
              <a:xfrm>
                <a:off x="7792919" y="43891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05</a:t>
                </a:r>
              </a:p>
            </p:txBody>
          </p:sp>
          <p:sp>
            <p:nvSpPr>
              <p:cNvPr id="109" name="Ellipse 109"/>
              <p:cNvSpPr/>
              <p:nvPr/>
            </p:nvSpPr>
            <p:spPr>
              <a:xfrm>
                <a:off x="8115300" y="4210050"/>
                <a:ext cx="457200" cy="457200"/>
              </a:xfrm>
              <a:prstGeom prst="ellipse">
                <a:avLst/>
              </a:prstGeom>
              <a:solidFill>
                <a:srgbClr val="EFF5FD"/>
              </a:solidFill>
              <a:ln w="14288">
                <a:solidFill>
                  <a:srgbClr val="ECC1B8"/>
                </a:solidFill>
              </a:ln>
            </p:spPr>
          </p:sp>
          <p:grpSp>
            <p:nvGrpSpPr>
              <p:cNvPr id="113" name="Group 113"/>
              <p:cNvGrpSpPr/>
              <p:nvPr/>
            </p:nvGrpSpPr>
            <p:grpSpPr>
              <a:xfrm>
                <a:off x="8239834" y="4342353"/>
                <a:ext cx="208123" cy="178805"/>
                <a:chOff x="8239834" y="4342353"/>
                <a:chExt cx="208123" cy="178805"/>
              </a:xfrm>
            </p:grpSpPr>
            <p:sp>
              <p:nvSpPr>
                <p:cNvPr id="110" name="Freeform 110"/>
                <p:cNvSpPr/>
                <p:nvPr/>
              </p:nvSpPr>
              <p:spPr>
                <a:xfrm>
                  <a:off x="8343900" y="4407693"/>
                  <a:ext cx="9525" cy="41275"/>
                </a:xfrm>
                <a:custGeom>
                  <a:avLst/>
                  <a:gdLst/>
                  <a:ahLst/>
                  <a:cxnLst/>
                  <a:rect l="l" t="t" r="r" b="b"/>
                  <a:pathLst>
                    <a:path w="9525" h="41275">
                      <a:moveTo>
                        <a:pt x="0" y="0"/>
                      </a:moveTo>
                      <a:lnTo>
                        <a:pt x="0" y="41275"/>
                      </a:lnTo>
                    </a:path>
                  </a:pathLst>
                </a:custGeom>
                <a:noFill/>
                <a:ln w="15478">
                  <a:solidFill>
                    <a:srgbClr val="841600"/>
                  </a:solidFill>
                </a:ln>
              </p:spPr>
            </p:sp>
            <p:sp>
              <p:nvSpPr>
                <p:cNvPr id="111" name="Freeform 111"/>
                <p:cNvSpPr/>
                <p:nvPr/>
              </p:nvSpPr>
              <p:spPr>
                <a:xfrm>
                  <a:off x="8239834" y="4342353"/>
                  <a:ext cx="208123" cy="178805"/>
                </a:xfrm>
                <a:custGeom>
                  <a:avLst/>
                  <a:gdLst/>
                  <a:ahLst/>
                  <a:cxnLst/>
                  <a:rect l="l" t="t" r="r" b="b"/>
                  <a:pathLst>
                    <a:path w="208123" h="178805">
                      <a:moveTo>
                        <a:pt x="87174" y="9526"/>
                      </a:moveTo>
                      <a:lnTo>
                        <a:pt x="3530" y="149180"/>
                      </a:lnTo>
                      <a:cubicBezTo>
                        <a:pt x="21" y="155256"/>
                        <a:pt x="0" y="162738"/>
                        <a:pt x="3474" y="168834"/>
                      </a:cubicBezTo>
                      <a:cubicBezTo>
                        <a:pt x="6948" y="174931"/>
                        <a:pt x="13395" y="178726"/>
                        <a:pt x="20412" y="178805"/>
                      </a:cubicBezTo>
                      <a:lnTo>
                        <a:pt x="187719" y="178805"/>
                      </a:lnTo>
                      <a:cubicBezTo>
                        <a:pt x="194732" y="178724"/>
                        <a:pt x="201176" y="174930"/>
                        <a:pt x="204650" y="168837"/>
                      </a:cubicBezTo>
                      <a:cubicBezTo>
                        <a:pt x="208123" y="162744"/>
                        <a:pt x="208104" y="155266"/>
                        <a:pt x="204601" y="149190"/>
                      </a:cubicBezTo>
                      <a:lnTo>
                        <a:pt x="120957" y="9516"/>
                      </a:lnTo>
                      <a:cubicBezTo>
                        <a:pt x="117378" y="3609"/>
                        <a:pt x="110973" y="0"/>
                        <a:pt x="104065" y="0"/>
                      </a:cubicBezTo>
                      <a:cubicBezTo>
                        <a:pt x="97158" y="0"/>
                        <a:pt x="90753" y="3609"/>
                        <a:pt x="87174" y="9516"/>
                      </a:cubicBezTo>
                    </a:path>
                  </a:pathLst>
                </a:custGeom>
                <a:noFill/>
                <a:ln w="15478">
                  <a:solidFill>
                    <a:srgbClr val="841600"/>
                  </a:solidFill>
                </a:ln>
              </p:spPr>
            </p:sp>
            <p:sp>
              <p:nvSpPr>
                <p:cNvPr id="112" name="Freeform 112"/>
                <p:cNvSpPr/>
                <p:nvPr/>
              </p:nvSpPr>
              <p:spPr>
                <a:xfrm>
                  <a:off x="8343900" y="4479924"/>
                  <a:ext cx="9525" cy="9525"/>
                </a:xfrm>
                <a:custGeom>
                  <a:avLst/>
                  <a:gdLst/>
                  <a:ahLst/>
                  <a:cxnLst/>
                  <a:rect l="l" t="t" r="r" b="b"/>
                  <a:pathLst>
                    <a:path w="9525" h="9525">
                      <a:moveTo>
                        <a:pt x="0" y="0"/>
                      </a:moveTo>
                      <a:lnTo>
                        <a:pt x="103" y="0"/>
                      </a:lnTo>
                    </a:path>
                  </a:pathLst>
                </a:custGeom>
                <a:noFill/>
                <a:ln w="15478">
                  <a:solidFill>
                    <a:srgbClr val="841600"/>
                  </a:solidFill>
                </a:ln>
              </p:spPr>
            </p:sp>
          </p:grpSp>
          <p:sp>
            <p:nvSpPr>
              <p:cNvPr id="114" name="TextBox 114"/>
              <p:cNvSpPr txBox="1"/>
              <p:nvPr/>
            </p:nvSpPr>
            <p:spPr>
              <a:xfrm>
                <a:off x="8680323" y="4358164"/>
                <a:ext cx="702208"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风险做严</a:t>
                </a:r>
              </a:p>
            </p:txBody>
          </p:sp>
        </p:grpSp>
        <p:grpSp>
          <p:nvGrpSpPr>
            <p:cNvPr id="124" name="mainline-6"/>
            <p:cNvGrpSpPr/>
            <p:nvPr/>
          </p:nvGrpSpPr>
          <p:grpSpPr>
            <a:xfrm>
              <a:off x="9810750" y="3886200"/>
              <a:ext cx="2057400" cy="1104900"/>
              <a:chOff x="9810750" y="3886200"/>
              <a:chExt cx="2057400" cy="1104900"/>
            </a:xfrm>
          </p:grpSpPr>
          <p:sp>
            <p:nvSpPr>
              <p:cNvPr id="116" name="Rectangle 116"/>
              <p:cNvSpPr/>
              <p:nvPr/>
            </p:nvSpPr>
            <p:spPr>
              <a:xfrm>
                <a:off x="9810750" y="3886200"/>
                <a:ext cx="2057400" cy="1104900"/>
              </a:xfrm>
              <a:prstGeom prst="roundRect">
                <a:avLst>
                  <a:gd name="adj" fmla="val 6897"/>
                </a:avLst>
              </a:prstGeom>
              <a:solidFill>
                <a:srgbClr val="F4F8FE"/>
              </a:solidFill>
              <a:ln w="9525">
                <a:solidFill>
                  <a:srgbClr val="D7E2F2"/>
                </a:solidFill>
              </a:ln>
            </p:spPr>
          </p:sp>
          <p:sp>
            <p:nvSpPr>
              <p:cNvPr id="117" name="Ellipse 117"/>
              <p:cNvSpPr/>
              <p:nvPr/>
            </p:nvSpPr>
            <p:spPr>
              <a:xfrm>
                <a:off x="9906000" y="4286250"/>
                <a:ext cx="304800" cy="304800"/>
              </a:xfrm>
              <a:prstGeom prst="ellipse">
                <a:avLst/>
              </a:prstGeom>
              <a:solidFill>
                <a:srgbClr val="841600"/>
              </a:solidFill>
              <a:ln>
                <a:noFill/>
              </a:ln>
            </p:spPr>
          </p:sp>
          <p:sp>
            <p:nvSpPr>
              <p:cNvPr id="118" name="TextBox 118"/>
              <p:cNvSpPr txBox="1"/>
              <p:nvPr/>
            </p:nvSpPr>
            <p:spPr>
              <a:xfrm>
                <a:off x="9983669" y="43891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06</a:t>
                </a:r>
              </a:p>
            </p:txBody>
          </p:sp>
          <p:sp>
            <p:nvSpPr>
              <p:cNvPr id="119" name="Ellipse 119"/>
              <p:cNvSpPr/>
              <p:nvPr/>
            </p:nvSpPr>
            <p:spPr>
              <a:xfrm>
                <a:off x="10306050" y="4210050"/>
                <a:ext cx="457200" cy="457200"/>
              </a:xfrm>
              <a:prstGeom prst="ellipse">
                <a:avLst/>
              </a:prstGeom>
              <a:solidFill>
                <a:srgbClr val="EFF5FD"/>
              </a:solidFill>
              <a:ln w="14288">
                <a:solidFill>
                  <a:srgbClr val="ECC1B8"/>
                </a:solidFill>
              </a:ln>
            </p:spPr>
          </p:sp>
          <p:grpSp>
            <p:nvGrpSpPr>
              <p:cNvPr id="122" name="Group 122"/>
              <p:cNvGrpSpPr/>
              <p:nvPr/>
            </p:nvGrpSpPr>
            <p:grpSpPr>
              <a:xfrm>
                <a:off x="10437251" y="4341251"/>
                <a:ext cx="194797" cy="194797"/>
                <a:chOff x="10437251" y="4341251"/>
                <a:chExt cx="194797" cy="194797"/>
              </a:xfrm>
            </p:grpSpPr>
            <p:sp>
              <p:nvSpPr>
                <p:cNvPr id="120" name="Freeform 120"/>
                <p:cNvSpPr/>
                <p:nvPr/>
              </p:nvSpPr>
              <p:spPr>
                <a:xfrm>
                  <a:off x="10437251" y="4341251"/>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15478">
                  <a:solidFill>
                    <a:srgbClr val="841600"/>
                  </a:solidFill>
                </a:ln>
              </p:spPr>
            </p:sp>
            <p:sp>
              <p:nvSpPr>
                <p:cNvPr id="121" name="Freeform 121"/>
                <p:cNvSpPr/>
                <p:nvPr/>
              </p:nvSpPr>
              <p:spPr>
                <a:xfrm>
                  <a:off x="10503693" y="4407693"/>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15478">
                  <a:solidFill>
                    <a:srgbClr val="841600"/>
                  </a:solidFill>
                </a:ln>
              </p:spPr>
            </p:sp>
          </p:grpSp>
          <p:sp>
            <p:nvSpPr>
              <p:cNvPr id="123" name="TextBox 123"/>
              <p:cNvSpPr txBox="1"/>
              <p:nvPr/>
            </p:nvSpPr>
            <p:spPr>
              <a:xfrm>
                <a:off x="10871073" y="4358164"/>
                <a:ext cx="702208"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运营做精</a:t>
                </a:r>
              </a:p>
            </p:txBody>
          </p:sp>
        </p:grpSp>
      </p:grpSp>
      <p:grpSp>
        <p:nvGrpSpPr>
          <p:cNvPr id="154" name="bottom-principles"/>
          <p:cNvGrpSpPr/>
          <p:nvPr/>
        </p:nvGrpSpPr>
        <p:grpSpPr>
          <a:xfrm>
            <a:off x="266700" y="5334000"/>
            <a:ext cx="11658600" cy="952500"/>
            <a:chOff x="266700" y="5334000"/>
            <a:chExt cx="11658600" cy="952500"/>
          </a:xfrm>
        </p:grpSpPr>
        <p:sp>
          <p:nvSpPr>
            <p:cNvPr id="126" name="Rectangle 126"/>
            <p:cNvSpPr/>
            <p:nvPr/>
          </p:nvSpPr>
          <p:spPr>
            <a:xfrm>
              <a:off x="266700" y="5334000"/>
              <a:ext cx="11658600" cy="952500"/>
            </a:xfrm>
            <a:prstGeom prst="roundRect">
              <a:avLst>
                <a:gd name="adj" fmla="val 8000"/>
              </a:avLst>
            </a:prstGeom>
            <a:solidFill>
              <a:srgbClr val="EFF5FD"/>
            </a:solidFill>
            <a:ln w="9525">
              <a:solidFill>
                <a:srgbClr val="D7E2F2"/>
              </a:solidFill>
            </a:ln>
          </p:spPr>
        </p:sp>
        <p:sp>
          <p:nvSpPr>
            <p:cNvPr id="127" name="Line 127"/>
            <p:cNvSpPr/>
            <p:nvPr/>
          </p:nvSpPr>
          <p:spPr>
            <a:xfrm>
              <a:off x="4152900" y="5524500"/>
              <a:ext cx="9525" cy="571500"/>
            </a:xfrm>
            <a:custGeom>
              <a:avLst/>
              <a:gdLst/>
              <a:ahLst/>
              <a:cxnLst/>
              <a:rect l="l" t="t" r="r" b="b"/>
              <a:pathLst>
                <a:path w="9525" h="571500">
                  <a:moveTo>
                    <a:pt x="0" y="0"/>
                  </a:moveTo>
                  <a:lnTo>
                    <a:pt x="0" y="571500"/>
                  </a:lnTo>
                </a:path>
              </a:pathLst>
            </a:custGeom>
            <a:noFill/>
            <a:ln w="9525">
              <a:solidFill>
                <a:srgbClr val="D7E2F2"/>
              </a:solidFill>
            </a:ln>
          </p:spPr>
        </p:sp>
        <p:sp>
          <p:nvSpPr>
            <p:cNvPr id="128" name="Line 128"/>
            <p:cNvSpPr/>
            <p:nvPr/>
          </p:nvSpPr>
          <p:spPr>
            <a:xfrm>
              <a:off x="8039100" y="5524500"/>
              <a:ext cx="9525" cy="571500"/>
            </a:xfrm>
            <a:custGeom>
              <a:avLst/>
              <a:gdLst/>
              <a:ahLst/>
              <a:cxnLst/>
              <a:rect l="l" t="t" r="r" b="b"/>
              <a:pathLst>
                <a:path w="9525" h="571500">
                  <a:moveTo>
                    <a:pt x="0" y="0"/>
                  </a:moveTo>
                  <a:lnTo>
                    <a:pt x="0" y="571500"/>
                  </a:lnTo>
                </a:path>
              </a:pathLst>
            </a:custGeom>
            <a:noFill/>
            <a:ln w="9525">
              <a:solidFill>
                <a:srgbClr val="D7E2F2"/>
              </a:solidFill>
            </a:ln>
          </p:spPr>
        </p:sp>
        <p:grpSp>
          <p:nvGrpSpPr>
            <p:cNvPr id="138" name="bp-1"/>
            <p:cNvGrpSpPr/>
            <p:nvPr/>
          </p:nvGrpSpPr>
          <p:grpSpPr>
            <a:xfrm>
              <a:off x="476250" y="5581650"/>
              <a:ext cx="2622804" cy="457200"/>
              <a:chOff x="476250" y="5581650"/>
              <a:chExt cx="2622804" cy="457200"/>
            </a:xfrm>
          </p:grpSpPr>
          <p:sp>
            <p:nvSpPr>
              <p:cNvPr id="129" name="Rectangle 129"/>
              <p:cNvSpPr/>
              <p:nvPr/>
            </p:nvSpPr>
            <p:spPr>
              <a:xfrm>
                <a:off x="476250" y="5581650"/>
                <a:ext cx="457200" cy="457200"/>
              </a:xfrm>
              <a:prstGeom prst="roundRect">
                <a:avLst>
                  <a:gd name="adj" fmla="val 12500"/>
                </a:avLst>
              </a:prstGeom>
              <a:solidFill>
                <a:srgbClr val="841600"/>
              </a:solidFill>
              <a:ln>
                <a:noFill/>
              </a:ln>
            </p:spPr>
          </p:sp>
          <p:sp>
            <p:nvSpPr>
              <p:cNvPr id="130" name="TextBox 130"/>
              <p:cNvSpPr txBox="1"/>
              <p:nvPr/>
            </p:nvSpPr>
            <p:spPr>
              <a:xfrm>
                <a:off x="593039" y="5731192"/>
                <a:ext cx="223622"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01</a:t>
                </a:r>
              </a:p>
            </p:txBody>
          </p:sp>
          <p:grpSp>
            <p:nvGrpSpPr>
              <p:cNvPr id="136" name="Group 136"/>
              <p:cNvGrpSpPr/>
              <p:nvPr/>
            </p:nvGrpSpPr>
            <p:grpSpPr>
              <a:xfrm>
                <a:off x="1138237" y="5653087"/>
                <a:ext cx="314325" cy="306387"/>
                <a:chOff x="1138237" y="5653087"/>
                <a:chExt cx="314325" cy="306387"/>
              </a:xfrm>
            </p:grpSpPr>
            <p:sp>
              <p:nvSpPr>
                <p:cNvPr id="131" name="Freeform 131"/>
                <p:cNvSpPr/>
                <p:nvPr/>
              </p:nvSpPr>
              <p:spPr>
                <a:xfrm>
                  <a:off x="1208087" y="5949949"/>
                  <a:ext cx="174625" cy="9525"/>
                </a:xfrm>
                <a:custGeom>
                  <a:avLst/>
                  <a:gdLst/>
                  <a:ahLst/>
                  <a:cxnLst/>
                  <a:rect l="l" t="t" r="r" b="b"/>
                  <a:pathLst>
                    <a:path w="174625" h="9525">
                      <a:moveTo>
                        <a:pt x="0" y="0"/>
                      </a:moveTo>
                      <a:lnTo>
                        <a:pt x="174625" y="0"/>
                      </a:lnTo>
                    </a:path>
                  </a:pathLst>
                </a:custGeom>
                <a:noFill/>
                <a:ln w="26194">
                  <a:solidFill>
                    <a:srgbClr val="841600"/>
                  </a:solidFill>
                </a:ln>
              </p:spPr>
            </p:sp>
            <p:sp>
              <p:nvSpPr>
                <p:cNvPr id="132" name="Freeform 132"/>
                <p:cNvSpPr/>
                <p:nvPr/>
              </p:nvSpPr>
              <p:spPr>
                <a:xfrm>
                  <a:off x="1190625" y="5688012"/>
                  <a:ext cx="209550" cy="17462"/>
                </a:xfrm>
                <a:custGeom>
                  <a:avLst/>
                  <a:gdLst/>
                  <a:ahLst/>
                  <a:cxnLst/>
                  <a:rect l="l" t="t" r="r" b="b"/>
                  <a:pathLst>
                    <a:path w="209550" h="17462">
                      <a:moveTo>
                        <a:pt x="0" y="17462"/>
                      </a:moveTo>
                      <a:lnTo>
                        <a:pt x="104775" y="0"/>
                      </a:lnTo>
                      <a:lnTo>
                        <a:pt x="209550" y="17462"/>
                      </a:lnTo>
                    </a:path>
                  </a:pathLst>
                </a:custGeom>
                <a:noFill/>
                <a:ln w="26194">
                  <a:solidFill>
                    <a:srgbClr val="841600"/>
                  </a:solidFill>
                </a:ln>
              </p:spPr>
            </p:sp>
            <p:sp>
              <p:nvSpPr>
                <p:cNvPr id="133" name="Freeform 133"/>
                <p:cNvSpPr/>
                <p:nvPr/>
              </p:nvSpPr>
              <p:spPr>
                <a:xfrm>
                  <a:off x="1295400" y="5653087"/>
                  <a:ext cx="9525" cy="296862"/>
                </a:xfrm>
                <a:custGeom>
                  <a:avLst/>
                  <a:gdLst/>
                  <a:ahLst/>
                  <a:cxnLst/>
                  <a:rect l="l" t="t" r="r" b="b"/>
                  <a:pathLst>
                    <a:path w="9525" h="296862">
                      <a:moveTo>
                        <a:pt x="0" y="0"/>
                      </a:moveTo>
                      <a:lnTo>
                        <a:pt x="0" y="296862"/>
                      </a:lnTo>
                    </a:path>
                  </a:pathLst>
                </a:custGeom>
                <a:noFill/>
                <a:ln w="26194">
                  <a:solidFill>
                    <a:srgbClr val="841600"/>
                  </a:solidFill>
                </a:ln>
              </p:spPr>
            </p:sp>
            <p:sp>
              <p:nvSpPr>
                <p:cNvPr id="134" name="Freeform 134"/>
                <p:cNvSpPr/>
                <p:nvPr/>
              </p:nvSpPr>
              <p:spPr>
                <a:xfrm>
                  <a:off x="1138237" y="5705475"/>
                  <a:ext cx="104775" cy="157162"/>
                </a:xfrm>
                <a:custGeom>
                  <a:avLst/>
                  <a:gdLst/>
                  <a:ahLst/>
                  <a:cxnLst/>
                  <a:rect l="l" t="t" r="r" b="b"/>
                  <a:pathLst>
                    <a:path w="104775" h="157162">
                      <a:moveTo>
                        <a:pt x="104775" y="104775"/>
                      </a:moveTo>
                      <a:lnTo>
                        <a:pt x="52387" y="0"/>
                      </a:lnTo>
                      <a:lnTo>
                        <a:pt x="0" y="104775"/>
                      </a:lnTo>
                      <a:cubicBezTo>
                        <a:pt x="0" y="133708"/>
                        <a:pt x="23455" y="157162"/>
                        <a:pt x="52387" y="157162"/>
                      </a:cubicBezTo>
                      <a:cubicBezTo>
                        <a:pt x="81320" y="157162"/>
                        <a:pt x="104775" y="133708"/>
                        <a:pt x="104775" y="104775"/>
                      </a:cubicBezTo>
                    </a:path>
                  </a:pathLst>
                </a:custGeom>
                <a:noFill/>
                <a:ln w="26194">
                  <a:solidFill>
                    <a:srgbClr val="841600"/>
                  </a:solidFill>
                </a:ln>
              </p:spPr>
            </p:sp>
            <p:sp>
              <p:nvSpPr>
                <p:cNvPr id="135" name="Freeform 135"/>
                <p:cNvSpPr/>
                <p:nvPr/>
              </p:nvSpPr>
              <p:spPr>
                <a:xfrm>
                  <a:off x="1347787" y="5705475"/>
                  <a:ext cx="104775" cy="157162"/>
                </a:xfrm>
                <a:custGeom>
                  <a:avLst/>
                  <a:gdLst/>
                  <a:ahLst/>
                  <a:cxnLst/>
                  <a:rect l="l" t="t" r="r" b="b"/>
                  <a:pathLst>
                    <a:path w="104775" h="157162">
                      <a:moveTo>
                        <a:pt x="104775" y="104775"/>
                      </a:moveTo>
                      <a:lnTo>
                        <a:pt x="52387" y="0"/>
                      </a:lnTo>
                      <a:lnTo>
                        <a:pt x="0" y="104775"/>
                      </a:lnTo>
                      <a:cubicBezTo>
                        <a:pt x="0" y="133708"/>
                        <a:pt x="23455" y="157162"/>
                        <a:pt x="52387" y="157162"/>
                      </a:cubicBezTo>
                      <a:cubicBezTo>
                        <a:pt x="81320" y="157162"/>
                        <a:pt x="104775" y="133708"/>
                        <a:pt x="104775" y="104775"/>
                      </a:cubicBezTo>
                    </a:path>
                  </a:pathLst>
                </a:custGeom>
                <a:noFill/>
                <a:ln w="26194">
                  <a:solidFill>
                    <a:srgbClr val="841600"/>
                  </a:solidFill>
                </a:ln>
              </p:spPr>
            </p:sp>
          </p:grpSp>
          <p:sp>
            <p:nvSpPr>
              <p:cNvPr id="137" name="TextBox 137"/>
              <p:cNvSpPr txBox="1"/>
              <p:nvPr/>
            </p:nvSpPr>
            <p:spPr>
              <a:xfrm>
                <a:off x="1631442" y="5740718"/>
                <a:ext cx="1467612"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mn-lt"/>
                    <a:ea typeface="+mn-ea"/>
                    <a:cs typeface="+mn-cs"/>
                  </a:rPr>
                  <a:t>规模服从资本约束</a:t>
                </a:r>
              </a:p>
            </p:txBody>
          </p:sp>
        </p:grpSp>
        <p:grpSp>
          <p:nvGrpSpPr>
            <p:cNvPr id="146" name="bp-2"/>
            <p:cNvGrpSpPr/>
            <p:nvPr/>
          </p:nvGrpSpPr>
          <p:grpSpPr>
            <a:xfrm>
              <a:off x="4362450" y="5581650"/>
              <a:ext cx="2622804" cy="457200"/>
              <a:chOff x="4362450" y="5581650"/>
              <a:chExt cx="2622804" cy="457200"/>
            </a:xfrm>
          </p:grpSpPr>
          <p:sp>
            <p:nvSpPr>
              <p:cNvPr id="139" name="Rectangle 139"/>
              <p:cNvSpPr/>
              <p:nvPr/>
            </p:nvSpPr>
            <p:spPr>
              <a:xfrm>
                <a:off x="4362450" y="5581650"/>
                <a:ext cx="457200" cy="457200"/>
              </a:xfrm>
              <a:prstGeom prst="roundRect">
                <a:avLst>
                  <a:gd name="adj" fmla="val 12500"/>
                </a:avLst>
              </a:prstGeom>
              <a:solidFill>
                <a:srgbClr val="841600"/>
              </a:solidFill>
              <a:ln>
                <a:noFill/>
              </a:ln>
            </p:spPr>
          </p:sp>
          <p:sp>
            <p:nvSpPr>
              <p:cNvPr id="140" name="TextBox 140"/>
              <p:cNvSpPr txBox="1"/>
              <p:nvPr/>
            </p:nvSpPr>
            <p:spPr>
              <a:xfrm>
                <a:off x="4479239" y="5731192"/>
                <a:ext cx="223622"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02</a:t>
                </a:r>
              </a:p>
            </p:txBody>
          </p:sp>
          <p:grpSp>
            <p:nvGrpSpPr>
              <p:cNvPr id="144" name="Group 144"/>
              <p:cNvGrpSpPr/>
              <p:nvPr/>
            </p:nvGrpSpPr>
            <p:grpSpPr>
              <a:xfrm>
                <a:off x="5024437" y="5653087"/>
                <a:ext cx="314324" cy="314324"/>
                <a:chOff x="5024437" y="5653087"/>
                <a:chExt cx="314324" cy="314324"/>
              </a:xfrm>
            </p:grpSpPr>
            <p:sp>
              <p:nvSpPr>
                <p:cNvPr id="141" name="Freeform 141"/>
                <p:cNvSpPr/>
                <p:nvPr/>
              </p:nvSpPr>
              <p:spPr>
                <a:xfrm>
                  <a:off x="5164137" y="5792787"/>
                  <a:ext cx="34925" cy="34925"/>
                </a:xfrm>
                <a:custGeom>
                  <a:avLst/>
                  <a:gdLst/>
                  <a:ahLst/>
                  <a:cxnLst/>
                  <a:rect l="l" t="t" r="r" b="b"/>
                  <a:pathLst>
                    <a:path w="34925" h="34925">
                      <a:moveTo>
                        <a:pt x="0" y="17462"/>
                      </a:moveTo>
                      <a:cubicBezTo>
                        <a:pt x="0" y="27107"/>
                        <a:pt x="7818" y="34925"/>
                        <a:pt x="17462" y="34925"/>
                      </a:cubicBezTo>
                      <a:cubicBezTo>
                        <a:pt x="27107" y="34925"/>
                        <a:pt x="34925" y="27107"/>
                        <a:pt x="34925" y="17462"/>
                      </a:cubicBezTo>
                      <a:cubicBezTo>
                        <a:pt x="34925" y="7818"/>
                        <a:pt x="27107" y="0"/>
                        <a:pt x="17462" y="0"/>
                      </a:cubicBezTo>
                      <a:cubicBezTo>
                        <a:pt x="7818" y="0"/>
                        <a:pt x="0" y="7818"/>
                        <a:pt x="0" y="17462"/>
                      </a:cubicBezTo>
                    </a:path>
                  </a:pathLst>
                </a:custGeom>
                <a:noFill/>
                <a:ln w="26194">
                  <a:solidFill>
                    <a:srgbClr val="841600"/>
                  </a:solidFill>
                </a:ln>
              </p:spPr>
            </p:sp>
            <p:sp>
              <p:nvSpPr>
                <p:cNvPr id="142" name="Freeform 142"/>
                <p:cNvSpPr/>
                <p:nvPr/>
              </p:nvSpPr>
              <p:spPr>
                <a:xfrm>
                  <a:off x="5094287" y="5722937"/>
                  <a:ext cx="174625" cy="174625"/>
                </a:xfrm>
                <a:custGeom>
                  <a:avLst/>
                  <a:gdLst/>
                  <a:ahLst/>
                  <a:cxnLst/>
                  <a:rect l="l" t="t" r="r" b="b"/>
                  <a:pathLst>
                    <a:path w="174625" h="174625">
                      <a:moveTo>
                        <a:pt x="0" y="87312"/>
                      </a:moveTo>
                      <a:cubicBezTo>
                        <a:pt x="0" y="135534"/>
                        <a:pt x="39091" y="174625"/>
                        <a:pt x="87312" y="174625"/>
                      </a:cubicBezTo>
                      <a:cubicBezTo>
                        <a:pt x="135534" y="174625"/>
                        <a:pt x="174625" y="135534"/>
                        <a:pt x="174625" y="87312"/>
                      </a:cubicBezTo>
                      <a:cubicBezTo>
                        <a:pt x="174625" y="39091"/>
                        <a:pt x="135534" y="0"/>
                        <a:pt x="87312" y="0"/>
                      </a:cubicBezTo>
                      <a:cubicBezTo>
                        <a:pt x="39091" y="0"/>
                        <a:pt x="0" y="39091"/>
                        <a:pt x="0" y="87312"/>
                      </a:cubicBezTo>
                    </a:path>
                  </a:pathLst>
                </a:custGeom>
                <a:noFill/>
                <a:ln w="26194">
                  <a:solidFill>
                    <a:srgbClr val="841600"/>
                  </a:solidFill>
                </a:ln>
              </p:spPr>
            </p:sp>
            <p:sp>
              <p:nvSpPr>
                <p:cNvPr id="143" name="Freeform 143"/>
                <p:cNvSpPr/>
                <p:nvPr/>
              </p:nvSpPr>
              <p:spPr>
                <a:xfrm>
                  <a:off x="5024437" y="5653087"/>
                  <a:ext cx="314324" cy="314324"/>
                </a:xfrm>
                <a:custGeom>
                  <a:avLst/>
                  <a:gdLst/>
                  <a:ahLst/>
                  <a:cxnLst/>
                  <a:rect l="l" t="t" r="r" b="b"/>
                  <a:pathLst>
                    <a:path w="314324" h="314324">
                      <a:moveTo>
                        <a:pt x="0" y="157162"/>
                      </a:moveTo>
                      <a:cubicBezTo>
                        <a:pt x="0" y="243961"/>
                        <a:pt x="70364" y="314324"/>
                        <a:pt x="157162" y="314324"/>
                      </a:cubicBezTo>
                      <a:cubicBezTo>
                        <a:pt x="243961" y="314324"/>
                        <a:pt x="314324" y="243961"/>
                        <a:pt x="314324" y="157162"/>
                      </a:cubicBezTo>
                      <a:cubicBezTo>
                        <a:pt x="314324" y="70364"/>
                        <a:pt x="243961" y="0"/>
                        <a:pt x="157162" y="0"/>
                      </a:cubicBezTo>
                      <a:cubicBezTo>
                        <a:pt x="70364" y="0"/>
                        <a:pt x="0" y="70364"/>
                        <a:pt x="0" y="157162"/>
                      </a:cubicBezTo>
                    </a:path>
                  </a:pathLst>
                </a:custGeom>
                <a:noFill/>
                <a:ln w="26194">
                  <a:solidFill>
                    <a:srgbClr val="841600"/>
                  </a:solidFill>
                </a:ln>
              </p:spPr>
            </p:sp>
          </p:grpSp>
          <p:sp>
            <p:nvSpPr>
              <p:cNvPr id="145" name="TextBox 145"/>
              <p:cNvSpPr txBox="1"/>
              <p:nvPr/>
            </p:nvSpPr>
            <p:spPr>
              <a:xfrm>
                <a:off x="5517642" y="5740718"/>
                <a:ext cx="1467612"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mn-lt"/>
                    <a:ea typeface="+mn-ea"/>
                    <a:cs typeface="+mn-cs"/>
                  </a:rPr>
                  <a:t>结构服务客户价值</a:t>
                </a:r>
              </a:p>
            </p:txBody>
          </p:sp>
        </p:grpSp>
        <p:grpSp>
          <p:nvGrpSpPr>
            <p:cNvPr id="153" name="bp-3"/>
            <p:cNvGrpSpPr/>
            <p:nvPr/>
          </p:nvGrpSpPr>
          <p:grpSpPr>
            <a:xfrm>
              <a:off x="8248650" y="5581650"/>
              <a:ext cx="2622804" cy="457200"/>
              <a:chOff x="8248650" y="5581650"/>
              <a:chExt cx="2622804" cy="457200"/>
            </a:xfrm>
          </p:grpSpPr>
          <p:sp>
            <p:nvSpPr>
              <p:cNvPr id="147" name="Rectangle 147"/>
              <p:cNvSpPr/>
              <p:nvPr/>
            </p:nvSpPr>
            <p:spPr>
              <a:xfrm>
                <a:off x="8248650" y="5581650"/>
                <a:ext cx="457200" cy="457200"/>
              </a:xfrm>
              <a:prstGeom prst="roundRect">
                <a:avLst>
                  <a:gd name="adj" fmla="val 12500"/>
                </a:avLst>
              </a:prstGeom>
              <a:solidFill>
                <a:srgbClr val="841600"/>
              </a:solidFill>
              <a:ln>
                <a:noFill/>
              </a:ln>
            </p:spPr>
          </p:sp>
          <p:sp>
            <p:nvSpPr>
              <p:cNvPr id="148" name="TextBox 148"/>
              <p:cNvSpPr txBox="1"/>
              <p:nvPr/>
            </p:nvSpPr>
            <p:spPr>
              <a:xfrm>
                <a:off x="8365439" y="5731192"/>
                <a:ext cx="223622"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03</a:t>
                </a:r>
              </a:p>
            </p:txBody>
          </p:sp>
          <p:grpSp>
            <p:nvGrpSpPr>
              <p:cNvPr id="151" name="Group 151"/>
              <p:cNvGrpSpPr/>
              <p:nvPr/>
            </p:nvGrpSpPr>
            <p:grpSpPr>
              <a:xfrm>
                <a:off x="8887071" y="5653087"/>
                <a:ext cx="341011" cy="314325"/>
                <a:chOff x="8887071" y="5653087"/>
                <a:chExt cx="341011" cy="314325"/>
              </a:xfrm>
            </p:grpSpPr>
            <p:sp>
              <p:nvSpPr>
                <p:cNvPr id="149" name="Freeform 149"/>
                <p:cNvSpPr/>
                <p:nvPr/>
              </p:nvSpPr>
              <p:spPr>
                <a:xfrm>
                  <a:off x="8887071" y="5653087"/>
                  <a:ext cx="341011" cy="311635"/>
                </a:xfrm>
                <a:custGeom>
                  <a:avLst/>
                  <a:gdLst/>
                  <a:ahLst/>
                  <a:cxnLst/>
                  <a:rect l="l" t="t" r="r" b="b"/>
                  <a:pathLst>
                    <a:path w="341011" h="311635">
                      <a:moveTo>
                        <a:pt x="171299" y="311635"/>
                      </a:moveTo>
                      <a:cubicBezTo>
                        <a:pt x="61905" y="277725"/>
                        <a:pt x="0" y="162269"/>
                        <a:pt x="32298" y="52387"/>
                      </a:cubicBezTo>
                      <a:cubicBezTo>
                        <a:pt x="86703" y="54877"/>
                        <a:pt x="139939" y="36088"/>
                        <a:pt x="180729" y="0"/>
                      </a:cubicBezTo>
                      <a:cubicBezTo>
                        <a:pt x="221518" y="36088"/>
                        <a:pt x="274755" y="54877"/>
                        <a:pt x="329160" y="52387"/>
                      </a:cubicBezTo>
                      <a:cubicBezTo>
                        <a:pt x="341011" y="92710"/>
                        <a:pt x="340463" y="135665"/>
                        <a:pt x="327588" y="175672"/>
                      </a:cubicBezTo>
                    </a:path>
                  </a:pathLst>
                </a:custGeom>
                <a:noFill/>
                <a:ln w="26194">
                  <a:solidFill>
                    <a:srgbClr val="841600"/>
                  </a:solidFill>
                </a:ln>
              </p:spPr>
            </p:sp>
            <p:sp>
              <p:nvSpPr>
                <p:cNvPr id="150" name="Freeform 150"/>
                <p:cNvSpPr/>
                <p:nvPr/>
              </p:nvSpPr>
              <p:spPr>
                <a:xfrm>
                  <a:off x="9120187" y="5897562"/>
                  <a:ext cx="104775" cy="69850"/>
                </a:xfrm>
                <a:custGeom>
                  <a:avLst/>
                  <a:gdLst/>
                  <a:ahLst/>
                  <a:cxnLst/>
                  <a:rect l="l" t="t" r="r" b="b"/>
                  <a:pathLst>
                    <a:path w="104775" h="69850">
                      <a:moveTo>
                        <a:pt x="0" y="34925"/>
                      </a:moveTo>
                      <a:lnTo>
                        <a:pt x="34925" y="69850"/>
                      </a:lnTo>
                      <a:lnTo>
                        <a:pt x="104775" y="0"/>
                      </a:lnTo>
                    </a:path>
                  </a:pathLst>
                </a:custGeom>
                <a:noFill/>
                <a:ln w="26194">
                  <a:solidFill>
                    <a:srgbClr val="841600"/>
                  </a:solidFill>
                </a:ln>
              </p:spPr>
            </p:sp>
          </p:grpSp>
          <p:sp>
            <p:nvSpPr>
              <p:cNvPr id="152" name="TextBox 152"/>
              <p:cNvSpPr txBox="1"/>
              <p:nvPr/>
            </p:nvSpPr>
            <p:spPr>
              <a:xfrm>
                <a:off x="9403842" y="5740718"/>
                <a:ext cx="1467612"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mn-lt"/>
                    <a:ea typeface="+mn-ea"/>
                    <a:cs typeface="+mn-cs"/>
                  </a:rPr>
                  <a:t>增长守住风险底线</a:t>
                </a:r>
              </a:p>
            </p:txBody>
          </p:sp>
        </p:grpSp>
      </p:gr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04</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公司金融部</a:t>
              </a:r>
              <a:r>
                <a:rPr lang="zh-CN" sz="1950" b="1" dirty="0">
                  <a:solidFill>
                    <a:srgbClr val="1A1A1A"/>
                  </a:solidFill>
                  <a:latin typeface="SimSun"/>
                  <a:ea typeface="SimSun"/>
                  <a:cs typeface="SimSun"/>
                </a:rPr>
                <a:t>｜聚焦重点客户、重点行业和重点项目扩大有效投放</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44" name="key-clients"/>
          <p:cNvGrpSpPr/>
          <p:nvPr/>
        </p:nvGrpSpPr>
        <p:grpSpPr>
          <a:xfrm>
            <a:off x="266700" y="704850"/>
            <a:ext cx="3390900" cy="4495800"/>
            <a:chOff x="266700" y="704850"/>
            <a:chExt cx="3390900" cy="4495800"/>
          </a:xfrm>
        </p:grpSpPr>
        <p:sp>
          <p:nvSpPr>
            <p:cNvPr id="7" name="Rectangle 7"/>
            <p:cNvSpPr/>
            <p:nvPr/>
          </p:nvSpPr>
          <p:spPr>
            <a:xfrm>
              <a:off x="266700" y="704850"/>
              <a:ext cx="3390900" cy="4495800"/>
            </a:xfrm>
            <a:prstGeom prst="roundRect">
              <a:avLst>
                <a:gd name="adj" fmla="val 2809"/>
              </a:avLst>
            </a:prstGeom>
            <a:solidFill>
              <a:srgbClr val="FFFFFF"/>
            </a:solidFill>
            <a:ln w="9525">
              <a:solidFill>
                <a:srgbClr val="D7E2F2"/>
              </a:solidFill>
            </a:ln>
          </p:spPr>
        </p:sp>
        <p:sp>
          <p:nvSpPr>
            <p:cNvPr id="8" name="Rectangle 8"/>
            <p:cNvSpPr/>
            <p:nvPr/>
          </p:nvSpPr>
          <p:spPr>
            <a:xfrm>
              <a:off x="266700" y="704850"/>
              <a:ext cx="3390900" cy="400050"/>
            </a:xfrm>
            <a:prstGeom prst="roundRect">
              <a:avLst>
                <a:gd name="adj" fmla="val 23810"/>
              </a:avLst>
            </a:prstGeom>
            <a:solidFill>
              <a:srgbClr val="841600"/>
            </a:solidFill>
            <a:ln>
              <a:noFill/>
            </a:ln>
          </p:spPr>
        </p:sp>
        <p:sp>
          <p:nvSpPr>
            <p:cNvPr id="9" name="Rectangle 9"/>
            <p:cNvSpPr/>
            <p:nvPr/>
          </p:nvSpPr>
          <p:spPr>
            <a:xfrm>
              <a:off x="266700" y="933450"/>
              <a:ext cx="3390900" cy="171450"/>
            </a:xfrm>
            <a:prstGeom prst="rect">
              <a:avLst/>
            </a:prstGeom>
            <a:solidFill>
              <a:srgbClr val="841600"/>
            </a:solidFill>
            <a:ln>
              <a:noFill/>
            </a:ln>
          </p:spPr>
        </p:sp>
        <p:sp>
          <p:nvSpPr>
            <p:cNvPr id="10" name="TextBox 10"/>
            <p:cNvSpPr txBox="1"/>
            <p:nvPr/>
          </p:nvSpPr>
          <p:spPr>
            <a:xfrm>
              <a:off x="1180262" y="843439"/>
              <a:ext cx="156377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重点客户｜四类客群</a:t>
              </a:r>
            </a:p>
          </p:txBody>
        </p:sp>
        <p:grpSp>
          <p:nvGrpSpPr>
            <p:cNvPr id="22" name="client-1"/>
            <p:cNvGrpSpPr/>
            <p:nvPr/>
          </p:nvGrpSpPr>
          <p:grpSpPr>
            <a:xfrm>
              <a:off x="419100" y="1257300"/>
              <a:ext cx="1504950" cy="1866900"/>
              <a:chOff x="419100" y="1257300"/>
              <a:chExt cx="1504950" cy="1866900"/>
            </a:xfrm>
          </p:grpSpPr>
          <p:sp>
            <p:nvSpPr>
              <p:cNvPr id="11" name="Rectangle 11"/>
              <p:cNvSpPr/>
              <p:nvPr/>
            </p:nvSpPr>
            <p:spPr>
              <a:xfrm>
                <a:off x="419100" y="1257300"/>
                <a:ext cx="1504950" cy="1866900"/>
              </a:xfrm>
              <a:prstGeom prst="roundRect">
                <a:avLst>
                  <a:gd name="adj" fmla="val 5063"/>
                </a:avLst>
              </a:prstGeom>
              <a:solidFill>
                <a:srgbClr val="EFF5FD"/>
              </a:solidFill>
              <a:ln>
                <a:noFill/>
              </a:ln>
            </p:spPr>
          </p:sp>
          <p:grpSp>
            <p:nvGrpSpPr>
              <p:cNvPr id="20" name="Group 20"/>
              <p:cNvGrpSpPr/>
              <p:nvPr/>
            </p:nvGrpSpPr>
            <p:grpSpPr>
              <a:xfrm>
                <a:off x="985838" y="1585913"/>
                <a:ext cx="371476" cy="381000"/>
                <a:chOff x="985838" y="1585913"/>
                <a:chExt cx="371476" cy="381000"/>
              </a:xfrm>
            </p:grpSpPr>
            <p:sp>
              <p:nvSpPr>
                <p:cNvPr id="12" name="Freeform 12"/>
                <p:cNvSpPr/>
                <p:nvPr/>
              </p:nvSpPr>
              <p:spPr>
                <a:xfrm>
                  <a:off x="985838" y="1957388"/>
                  <a:ext cx="371476" cy="9525"/>
                </a:xfrm>
                <a:custGeom>
                  <a:avLst/>
                  <a:gdLst/>
                  <a:ahLst/>
                  <a:cxnLst/>
                  <a:rect l="l" t="t" r="r" b="b"/>
                  <a:pathLst>
                    <a:path w="371476" h="9525">
                      <a:moveTo>
                        <a:pt x="0" y="0"/>
                      </a:moveTo>
                      <a:lnTo>
                        <a:pt x="371476" y="0"/>
                      </a:lnTo>
                    </a:path>
                  </a:pathLst>
                </a:custGeom>
                <a:noFill/>
                <a:ln w="30956">
                  <a:solidFill>
                    <a:srgbClr val="841600"/>
                  </a:solidFill>
                </a:ln>
              </p:spPr>
            </p:sp>
            <p:sp>
              <p:nvSpPr>
                <p:cNvPr id="13" name="Freeform 13"/>
                <p:cNvSpPr/>
                <p:nvPr/>
              </p:nvSpPr>
              <p:spPr>
                <a:xfrm>
                  <a:off x="985838" y="1730375"/>
                  <a:ext cx="371476" cy="9525"/>
                </a:xfrm>
                <a:custGeom>
                  <a:avLst/>
                  <a:gdLst/>
                  <a:ahLst/>
                  <a:cxnLst/>
                  <a:rect l="l" t="t" r="r" b="b"/>
                  <a:pathLst>
                    <a:path w="371476" h="9525">
                      <a:moveTo>
                        <a:pt x="0" y="0"/>
                      </a:moveTo>
                      <a:lnTo>
                        <a:pt x="371476" y="0"/>
                      </a:lnTo>
                    </a:path>
                  </a:pathLst>
                </a:custGeom>
                <a:noFill/>
                <a:ln w="30956">
                  <a:solidFill>
                    <a:srgbClr val="841600"/>
                  </a:solidFill>
                </a:ln>
              </p:spPr>
            </p:sp>
            <p:sp>
              <p:nvSpPr>
                <p:cNvPr id="14" name="Freeform 14"/>
                <p:cNvSpPr/>
                <p:nvPr/>
              </p:nvSpPr>
              <p:spPr>
                <a:xfrm>
                  <a:off x="1027113" y="1585913"/>
                  <a:ext cx="288925" cy="61913"/>
                </a:xfrm>
                <a:custGeom>
                  <a:avLst/>
                  <a:gdLst/>
                  <a:ahLst/>
                  <a:cxnLst/>
                  <a:rect l="l" t="t" r="r" b="b"/>
                  <a:pathLst>
                    <a:path w="288925" h="61913">
                      <a:moveTo>
                        <a:pt x="0" y="61913"/>
                      </a:moveTo>
                      <a:lnTo>
                        <a:pt x="144463" y="0"/>
                      </a:lnTo>
                      <a:lnTo>
                        <a:pt x="288925" y="61913"/>
                      </a:lnTo>
                    </a:path>
                  </a:pathLst>
                </a:custGeom>
                <a:noFill/>
                <a:ln w="30956">
                  <a:solidFill>
                    <a:srgbClr val="841600"/>
                  </a:solidFill>
                </a:ln>
              </p:spPr>
            </p:sp>
            <p:sp>
              <p:nvSpPr>
                <p:cNvPr id="15" name="Freeform 15"/>
                <p:cNvSpPr/>
                <p:nvPr/>
              </p:nvSpPr>
              <p:spPr>
                <a:xfrm>
                  <a:off x="1006475" y="1730375"/>
                  <a:ext cx="9525" cy="227013"/>
                </a:xfrm>
                <a:custGeom>
                  <a:avLst/>
                  <a:gdLst/>
                  <a:ahLst/>
                  <a:cxnLst/>
                  <a:rect l="l" t="t" r="r" b="b"/>
                  <a:pathLst>
                    <a:path w="9525" h="227013">
                      <a:moveTo>
                        <a:pt x="0" y="0"/>
                      </a:moveTo>
                      <a:lnTo>
                        <a:pt x="0" y="227013"/>
                      </a:lnTo>
                    </a:path>
                  </a:pathLst>
                </a:custGeom>
                <a:noFill/>
                <a:ln w="30956">
                  <a:solidFill>
                    <a:srgbClr val="841600"/>
                  </a:solidFill>
                </a:ln>
              </p:spPr>
            </p:sp>
            <p:sp>
              <p:nvSpPr>
                <p:cNvPr id="16" name="Freeform 16"/>
                <p:cNvSpPr/>
                <p:nvPr/>
              </p:nvSpPr>
              <p:spPr>
                <a:xfrm>
                  <a:off x="1336676" y="1730375"/>
                  <a:ext cx="9525" cy="227013"/>
                </a:xfrm>
                <a:custGeom>
                  <a:avLst/>
                  <a:gdLst/>
                  <a:ahLst/>
                  <a:cxnLst/>
                  <a:rect l="l" t="t" r="r" b="b"/>
                  <a:pathLst>
                    <a:path w="9525" h="227013">
                      <a:moveTo>
                        <a:pt x="0" y="0"/>
                      </a:moveTo>
                      <a:lnTo>
                        <a:pt x="0" y="227013"/>
                      </a:lnTo>
                    </a:path>
                  </a:pathLst>
                </a:custGeom>
                <a:noFill/>
                <a:ln w="30956">
                  <a:solidFill>
                    <a:srgbClr val="841600"/>
                  </a:solidFill>
                </a:ln>
              </p:spPr>
            </p:sp>
            <p:sp>
              <p:nvSpPr>
                <p:cNvPr id="17" name="Freeform 17"/>
                <p:cNvSpPr/>
                <p:nvPr/>
              </p:nvSpPr>
              <p:spPr>
                <a:xfrm>
                  <a:off x="1089025" y="1812925"/>
                  <a:ext cx="9525" cy="61913"/>
                </a:xfrm>
                <a:custGeom>
                  <a:avLst/>
                  <a:gdLst/>
                  <a:ahLst/>
                  <a:cxnLst/>
                  <a:rect l="l" t="t" r="r" b="b"/>
                  <a:pathLst>
                    <a:path w="9525" h="61913">
                      <a:moveTo>
                        <a:pt x="0" y="0"/>
                      </a:moveTo>
                      <a:lnTo>
                        <a:pt x="0" y="61913"/>
                      </a:lnTo>
                    </a:path>
                  </a:pathLst>
                </a:custGeom>
                <a:noFill/>
                <a:ln w="30956">
                  <a:solidFill>
                    <a:srgbClr val="841600"/>
                  </a:solidFill>
                </a:ln>
              </p:spPr>
            </p:sp>
            <p:sp>
              <p:nvSpPr>
                <p:cNvPr id="18" name="Freeform 18"/>
                <p:cNvSpPr/>
                <p:nvPr/>
              </p:nvSpPr>
              <p:spPr>
                <a:xfrm>
                  <a:off x="1171575" y="1812925"/>
                  <a:ext cx="9525" cy="61913"/>
                </a:xfrm>
                <a:custGeom>
                  <a:avLst/>
                  <a:gdLst/>
                  <a:ahLst/>
                  <a:cxnLst/>
                  <a:rect l="l" t="t" r="r" b="b"/>
                  <a:pathLst>
                    <a:path w="9525" h="61913">
                      <a:moveTo>
                        <a:pt x="0" y="0"/>
                      </a:moveTo>
                      <a:lnTo>
                        <a:pt x="0" y="61913"/>
                      </a:lnTo>
                    </a:path>
                  </a:pathLst>
                </a:custGeom>
                <a:noFill/>
                <a:ln w="30956">
                  <a:solidFill>
                    <a:srgbClr val="841600"/>
                  </a:solidFill>
                </a:ln>
              </p:spPr>
            </p:sp>
            <p:sp>
              <p:nvSpPr>
                <p:cNvPr id="19" name="Freeform 19"/>
                <p:cNvSpPr/>
                <p:nvPr/>
              </p:nvSpPr>
              <p:spPr>
                <a:xfrm>
                  <a:off x="1254126" y="1812925"/>
                  <a:ext cx="9525" cy="61913"/>
                </a:xfrm>
                <a:custGeom>
                  <a:avLst/>
                  <a:gdLst/>
                  <a:ahLst/>
                  <a:cxnLst/>
                  <a:rect l="l" t="t" r="r" b="b"/>
                  <a:pathLst>
                    <a:path w="9525" h="61913">
                      <a:moveTo>
                        <a:pt x="0" y="0"/>
                      </a:moveTo>
                      <a:lnTo>
                        <a:pt x="0" y="61913"/>
                      </a:lnTo>
                    </a:path>
                  </a:pathLst>
                </a:custGeom>
                <a:noFill/>
                <a:ln w="30956">
                  <a:solidFill>
                    <a:srgbClr val="841600"/>
                  </a:solidFill>
                </a:ln>
              </p:spPr>
            </p:sp>
          </p:grpSp>
          <p:sp>
            <p:nvSpPr>
              <p:cNvPr id="21" name="TextBox 21"/>
              <p:cNvSpPr txBox="1"/>
              <p:nvPr/>
            </p:nvSpPr>
            <p:spPr>
              <a:xfrm>
                <a:off x="906628" y="2453164"/>
                <a:ext cx="529895" cy="249364"/>
              </a:xfrm>
              <a:prstGeom prst="rect">
                <a:avLst/>
              </a:prstGeom>
              <a:noFill/>
              <a:ln>
                <a:noFill/>
              </a:ln>
            </p:spPr>
            <p:txBody>
              <a:bodyPr wrap="none" lIns="0" tIns="0" rIns="0" bIns="0" anchor="t" anchorCtr="0">
                <a:spAutoFit/>
              </a:bodyPr>
              <a:lstStyle/>
              <a:p>
                <a:pPr algn="ctr"/>
                <a:r>
                  <a:rPr lang="zh-CN" sz="1280" b="1" dirty="0">
                    <a:solidFill>
                      <a:srgbClr val="1A1A1A"/>
                    </a:solidFill>
                    <a:latin typeface="+mn-lt"/>
                    <a:ea typeface="+mn-ea"/>
                    <a:cs typeface="+mn-cs"/>
                  </a:rPr>
                  <a:t>央国企</a:t>
                </a:r>
              </a:p>
            </p:txBody>
          </p:sp>
        </p:grpSp>
        <p:grpSp>
          <p:nvGrpSpPr>
            <p:cNvPr id="28" name="client-2"/>
            <p:cNvGrpSpPr/>
            <p:nvPr/>
          </p:nvGrpSpPr>
          <p:grpSpPr>
            <a:xfrm>
              <a:off x="2038350" y="1257300"/>
              <a:ext cx="1504950" cy="1866900"/>
              <a:chOff x="2038350" y="1257300"/>
              <a:chExt cx="1504950" cy="1866900"/>
            </a:xfrm>
          </p:grpSpPr>
          <p:sp>
            <p:nvSpPr>
              <p:cNvPr id="23" name="Rectangle 23"/>
              <p:cNvSpPr/>
              <p:nvPr/>
            </p:nvSpPr>
            <p:spPr>
              <a:xfrm>
                <a:off x="2038350" y="1257300"/>
                <a:ext cx="1504950" cy="1866900"/>
              </a:xfrm>
              <a:prstGeom prst="roundRect">
                <a:avLst>
                  <a:gd name="adj" fmla="val 5063"/>
                </a:avLst>
              </a:prstGeom>
              <a:solidFill>
                <a:srgbClr val="EFF5FD"/>
              </a:solidFill>
              <a:ln>
                <a:noFill/>
              </a:ln>
            </p:spPr>
          </p:sp>
          <p:grpSp>
            <p:nvGrpSpPr>
              <p:cNvPr id="26" name="Group 26"/>
              <p:cNvGrpSpPr/>
              <p:nvPr/>
            </p:nvGrpSpPr>
            <p:grpSpPr>
              <a:xfrm>
                <a:off x="2625725" y="1647825"/>
                <a:ext cx="330201" cy="277813"/>
                <a:chOff x="2625725" y="1647825"/>
                <a:chExt cx="330201" cy="277813"/>
              </a:xfrm>
            </p:grpSpPr>
            <p:sp>
              <p:nvSpPr>
                <p:cNvPr id="24" name="Freeform 24"/>
                <p:cNvSpPr/>
                <p:nvPr/>
              </p:nvSpPr>
              <p:spPr>
                <a:xfrm>
                  <a:off x="2625725" y="1916113"/>
                  <a:ext cx="330201" cy="9525"/>
                </a:xfrm>
                <a:custGeom>
                  <a:avLst/>
                  <a:gdLst/>
                  <a:ahLst/>
                  <a:cxnLst/>
                  <a:rect l="l" t="t" r="r" b="b"/>
                  <a:pathLst>
                    <a:path w="330201" h="9525">
                      <a:moveTo>
                        <a:pt x="0" y="0"/>
                      </a:moveTo>
                      <a:lnTo>
                        <a:pt x="330201" y="0"/>
                      </a:lnTo>
                    </a:path>
                  </a:pathLst>
                </a:custGeom>
                <a:noFill/>
                <a:ln w="30956">
                  <a:solidFill>
                    <a:srgbClr val="841600"/>
                  </a:solidFill>
                </a:ln>
              </p:spPr>
            </p:sp>
            <p:sp>
              <p:nvSpPr>
                <p:cNvPr id="25" name="Freeform 25"/>
                <p:cNvSpPr/>
                <p:nvPr/>
              </p:nvSpPr>
              <p:spPr>
                <a:xfrm>
                  <a:off x="2625725" y="1647825"/>
                  <a:ext cx="330201" cy="185738"/>
                </a:xfrm>
                <a:custGeom>
                  <a:avLst/>
                  <a:gdLst/>
                  <a:ahLst/>
                  <a:cxnLst/>
                  <a:rect l="l" t="t" r="r" b="b"/>
                  <a:pathLst>
                    <a:path w="330201" h="185738">
                      <a:moveTo>
                        <a:pt x="0" y="185738"/>
                      </a:moveTo>
                      <a:lnTo>
                        <a:pt x="82550" y="61913"/>
                      </a:lnTo>
                      <a:lnTo>
                        <a:pt x="165100" y="103188"/>
                      </a:lnTo>
                      <a:lnTo>
                        <a:pt x="247650" y="0"/>
                      </a:lnTo>
                      <a:lnTo>
                        <a:pt x="330201" y="82550"/>
                      </a:lnTo>
                    </a:path>
                  </a:pathLst>
                </a:custGeom>
                <a:noFill/>
                <a:ln w="30956">
                  <a:solidFill>
                    <a:srgbClr val="841600"/>
                  </a:solidFill>
                </a:ln>
              </p:spPr>
            </p:sp>
          </p:grpSp>
          <p:sp>
            <p:nvSpPr>
              <p:cNvPr id="27" name="TextBox 27"/>
              <p:cNvSpPr txBox="1"/>
              <p:nvPr/>
            </p:nvSpPr>
            <p:spPr>
              <a:xfrm>
                <a:off x="2439721" y="2453164"/>
                <a:ext cx="702208" cy="249364"/>
              </a:xfrm>
              <a:prstGeom prst="rect">
                <a:avLst/>
              </a:prstGeom>
              <a:noFill/>
              <a:ln>
                <a:noFill/>
              </a:ln>
            </p:spPr>
            <p:txBody>
              <a:bodyPr wrap="none" lIns="0" tIns="0" rIns="0" bIns="0" anchor="t" anchorCtr="0">
                <a:spAutoFit/>
              </a:bodyPr>
              <a:lstStyle/>
              <a:p>
                <a:pPr algn="ctr"/>
                <a:r>
                  <a:rPr lang="zh-CN" sz="1280" b="1" dirty="0">
                    <a:solidFill>
                      <a:srgbClr val="1A1A1A"/>
                    </a:solidFill>
                    <a:latin typeface="+mn-lt"/>
                    <a:ea typeface="+mn-ea"/>
                    <a:cs typeface="+mn-cs"/>
                  </a:rPr>
                  <a:t>上市公司</a:t>
                </a:r>
              </a:p>
            </p:txBody>
          </p:sp>
        </p:grpSp>
        <p:grpSp>
          <p:nvGrpSpPr>
            <p:cNvPr id="35" name="client-3"/>
            <p:cNvGrpSpPr/>
            <p:nvPr/>
          </p:nvGrpSpPr>
          <p:grpSpPr>
            <a:xfrm>
              <a:off x="419100" y="3238500"/>
              <a:ext cx="1504950" cy="1866900"/>
              <a:chOff x="419100" y="3238500"/>
              <a:chExt cx="1504950" cy="1866900"/>
            </a:xfrm>
          </p:grpSpPr>
          <p:sp>
            <p:nvSpPr>
              <p:cNvPr id="29" name="Rectangle 29"/>
              <p:cNvSpPr/>
              <p:nvPr/>
            </p:nvSpPr>
            <p:spPr>
              <a:xfrm>
                <a:off x="419100" y="3238500"/>
                <a:ext cx="1504950" cy="1866900"/>
              </a:xfrm>
              <a:prstGeom prst="roundRect">
                <a:avLst>
                  <a:gd name="adj" fmla="val 5063"/>
                </a:avLst>
              </a:prstGeom>
              <a:solidFill>
                <a:srgbClr val="EFF5FD"/>
              </a:solidFill>
              <a:ln>
                <a:noFill/>
              </a:ln>
            </p:spPr>
          </p:sp>
          <p:grpSp>
            <p:nvGrpSpPr>
              <p:cNvPr id="33" name="Group 33"/>
              <p:cNvGrpSpPr/>
              <p:nvPr/>
            </p:nvGrpSpPr>
            <p:grpSpPr>
              <a:xfrm>
                <a:off x="1006472" y="3577667"/>
                <a:ext cx="340256" cy="350324"/>
                <a:chOff x="1006472" y="3577667"/>
                <a:chExt cx="340256" cy="350324"/>
              </a:xfrm>
            </p:grpSpPr>
            <p:sp>
              <p:nvSpPr>
                <p:cNvPr id="30" name="Freeform 30"/>
                <p:cNvSpPr/>
                <p:nvPr/>
              </p:nvSpPr>
              <p:spPr>
                <a:xfrm>
                  <a:off x="1109663" y="3690938"/>
                  <a:ext cx="123825" cy="123825"/>
                </a:xfrm>
                <a:custGeom>
                  <a:avLst/>
                  <a:gdLst/>
                  <a:ahLst/>
                  <a:cxnLst/>
                  <a:rect l="l" t="t" r="r" b="b"/>
                  <a:pathLst>
                    <a:path w="123825" h="123825">
                      <a:moveTo>
                        <a:pt x="0" y="123825"/>
                      </a:moveTo>
                      <a:lnTo>
                        <a:pt x="123825" y="0"/>
                      </a:lnTo>
                    </a:path>
                  </a:pathLst>
                </a:custGeom>
                <a:noFill/>
                <a:ln w="30956">
                  <a:solidFill>
                    <a:srgbClr val="841600"/>
                  </a:solidFill>
                </a:ln>
              </p:spPr>
            </p:sp>
            <p:sp>
              <p:nvSpPr>
                <p:cNvPr id="31" name="Freeform 31"/>
                <p:cNvSpPr/>
                <p:nvPr/>
              </p:nvSpPr>
              <p:spPr>
                <a:xfrm>
                  <a:off x="1150938" y="3577667"/>
                  <a:ext cx="195790" cy="195821"/>
                </a:xfrm>
                <a:custGeom>
                  <a:avLst/>
                  <a:gdLst/>
                  <a:ahLst/>
                  <a:cxnLst/>
                  <a:rect l="l" t="t" r="r" b="b"/>
                  <a:pathLst>
                    <a:path w="195790" h="195821">
                      <a:moveTo>
                        <a:pt x="0" y="51359"/>
                      </a:moveTo>
                      <a:lnTo>
                        <a:pt x="9555" y="40297"/>
                      </a:lnTo>
                      <a:cubicBezTo>
                        <a:pt x="49858" y="0"/>
                        <a:pt x="115197" y="5"/>
                        <a:pt x="155493" y="40307"/>
                      </a:cubicBezTo>
                      <a:cubicBezTo>
                        <a:pt x="195790" y="80610"/>
                        <a:pt x="195786" y="145949"/>
                        <a:pt x="155483" y="186246"/>
                      </a:cubicBezTo>
                      <a:lnTo>
                        <a:pt x="144463" y="195821"/>
                      </a:lnTo>
                    </a:path>
                  </a:pathLst>
                </a:custGeom>
                <a:noFill/>
                <a:ln w="30956">
                  <a:solidFill>
                    <a:srgbClr val="841600"/>
                  </a:solidFill>
                </a:ln>
              </p:spPr>
            </p:sp>
            <p:sp>
              <p:nvSpPr>
                <p:cNvPr id="32" name="Freeform 32"/>
                <p:cNvSpPr/>
                <p:nvPr/>
              </p:nvSpPr>
              <p:spPr>
                <a:xfrm>
                  <a:off x="1006472" y="3732213"/>
                  <a:ext cx="185741" cy="195778"/>
                </a:xfrm>
                <a:custGeom>
                  <a:avLst/>
                  <a:gdLst/>
                  <a:ahLst/>
                  <a:cxnLst/>
                  <a:rect l="l" t="t" r="r" b="b"/>
                  <a:pathLst>
                    <a:path w="185741" h="195778">
                      <a:moveTo>
                        <a:pt x="185741" y="144463"/>
                      </a:moveTo>
                      <a:lnTo>
                        <a:pt x="177548" y="155483"/>
                      </a:lnTo>
                      <a:cubicBezTo>
                        <a:pt x="136799" y="195778"/>
                        <a:pt x="71212" y="195778"/>
                        <a:pt x="30464" y="155483"/>
                      </a:cubicBezTo>
                      <a:cubicBezTo>
                        <a:pt x="10970" y="136208"/>
                        <a:pt x="0" y="109934"/>
                        <a:pt x="0" y="82519"/>
                      </a:cubicBezTo>
                      <a:cubicBezTo>
                        <a:pt x="0" y="55105"/>
                        <a:pt x="10970" y="28830"/>
                        <a:pt x="30464" y="9555"/>
                      </a:cubicBezTo>
                      <a:lnTo>
                        <a:pt x="41278" y="0"/>
                      </a:lnTo>
                    </a:path>
                  </a:pathLst>
                </a:custGeom>
                <a:noFill/>
                <a:ln w="30956">
                  <a:solidFill>
                    <a:srgbClr val="841600"/>
                  </a:solidFill>
                </a:ln>
              </p:spPr>
            </p:sp>
          </p:grpSp>
          <p:sp>
            <p:nvSpPr>
              <p:cNvPr id="34" name="TextBox 34"/>
              <p:cNvSpPr txBox="1"/>
              <p:nvPr/>
            </p:nvSpPr>
            <p:spPr>
              <a:xfrm>
                <a:off x="562000" y="4434364"/>
                <a:ext cx="1219149" cy="249364"/>
              </a:xfrm>
              <a:prstGeom prst="rect">
                <a:avLst/>
              </a:prstGeom>
              <a:noFill/>
              <a:ln>
                <a:noFill/>
              </a:ln>
            </p:spPr>
            <p:txBody>
              <a:bodyPr wrap="none" lIns="0" tIns="0" rIns="0" bIns="0" anchor="t" anchorCtr="0">
                <a:spAutoFit/>
              </a:bodyPr>
              <a:lstStyle/>
              <a:p>
                <a:pPr algn="ctr"/>
                <a:r>
                  <a:rPr lang="zh-CN" sz="1280" b="1" dirty="0">
                    <a:solidFill>
                      <a:srgbClr val="1A1A1A"/>
                    </a:solidFill>
                    <a:latin typeface="+mn-lt"/>
                    <a:ea typeface="+mn-ea"/>
                    <a:cs typeface="+mn-cs"/>
                  </a:rPr>
                  <a:t>产业链核心企业</a:t>
                </a:r>
              </a:p>
            </p:txBody>
          </p:sp>
        </p:grpSp>
        <p:grpSp>
          <p:nvGrpSpPr>
            <p:cNvPr id="43" name="client-4"/>
            <p:cNvGrpSpPr/>
            <p:nvPr/>
          </p:nvGrpSpPr>
          <p:grpSpPr>
            <a:xfrm>
              <a:off x="2038350" y="3238500"/>
              <a:ext cx="1504950" cy="1866900"/>
              <a:chOff x="2038350" y="3238500"/>
              <a:chExt cx="1504950" cy="1866900"/>
            </a:xfrm>
          </p:grpSpPr>
          <p:sp>
            <p:nvSpPr>
              <p:cNvPr id="36" name="Rectangle 36"/>
              <p:cNvSpPr/>
              <p:nvPr/>
            </p:nvSpPr>
            <p:spPr>
              <a:xfrm>
                <a:off x="2038350" y="3238500"/>
                <a:ext cx="1504950" cy="1866900"/>
              </a:xfrm>
              <a:prstGeom prst="roundRect">
                <a:avLst>
                  <a:gd name="adj" fmla="val 5063"/>
                </a:avLst>
              </a:prstGeom>
              <a:solidFill>
                <a:srgbClr val="EFF5FD"/>
              </a:solidFill>
              <a:ln>
                <a:noFill/>
              </a:ln>
            </p:spPr>
          </p:sp>
          <p:grpSp>
            <p:nvGrpSpPr>
              <p:cNvPr id="41" name="Group 41"/>
              <p:cNvGrpSpPr/>
              <p:nvPr/>
            </p:nvGrpSpPr>
            <p:grpSpPr>
              <a:xfrm>
                <a:off x="2605088" y="3567113"/>
                <a:ext cx="371476" cy="350838"/>
                <a:chOff x="2605088" y="3567113"/>
                <a:chExt cx="371476" cy="350838"/>
              </a:xfrm>
            </p:grpSpPr>
            <p:sp>
              <p:nvSpPr>
                <p:cNvPr id="37" name="Freeform 37"/>
                <p:cNvSpPr/>
                <p:nvPr/>
              </p:nvSpPr>
              <p:spPr>
                <a:xfrm>
                  <a:off x="2605088" y="3649663"/>
                  <a:ext cx="371476" cy="268288"/>
                </a:xfrm>
                <a:custGeom>
                  <a:avLst/>
                  <a:gdLst/>
                  <a:ahLst/>
                  <a:cxnLst/>
                  <a:rect l="l" t="t" r="r" b="b"/>
                  <a:pathLst>
                    <a:path w="371476" h="268288">
                      <a:moveTo>
                        <a:pt x="0" y="41275"/>
                      </a:moveTo>
                      <a:cubicBezTo>
                        <a:pt x="0" y="18479"/>
                        <a:pt x="18479" y="0"/>
                        <a:pt x="41275" y="0"/>
                      </a:cubicBezTo>
                      <a:lnTo>
                        <a:pt x="330201" y="0"/>
                      </a:lnTo>
                      <a:cubicBezTo>
                        <a:pt x="352996" y="0"/>
                        <a:pt x="371476" y="18479"/>
                        <a:pt x="371476" y="41275"/>
                      </a:cubicBezTo>
                      <a:lnTo>
                        <a:pt x="371476" y="227013"/>
                      </a:lnTo>
                      <a:cubicBezTo>
                        <a:pt x="371476" y="249808"/>
                        <a:pt x="352996" y="268288"/>
                        <a:pt x="330201" y="268288"/>
                      </a:cubicBezTo>
                      <a:lnTo>
                        <a:pt x="41275" y="268288"/>
                      </a:lnTo>
                      <a:cubicBezTo>
                        <a:pt x="18479" y="268288"/>
                        <a:pt x="0" y="249808"/>
                        <a:pt x="0" y="227013"/>
                      </a:cubicBezTo>
                      <a:lnTo>
                        <a:pt x="0" y="41275"/>
                      </a:lnTo>
                    </a:path>
                  </a:pathLst>
                </a:custGeom>
                <a:noFill/>
                <a:ln w="30956">
                  <a:solidFill>
                    <a:srgbClr val="841600"/>
                  </a:solidFill>
                </a:ln>
              </p:spPr>
            </p:sp>
            <p:sp>
              <p:nvSpPr>
                <p:cNvPr id="38" name="Freeform 38"/>
                <p:cNvSpPr/>
                <p:nvPr/>
              </p:nvSpPr>
              <p:spPr>
                <a:xfrm>
                  <a:off x="2708275" y="3567113"/>
                  <a:ext cx="165100" cy="82550"/>
                </a:xfrm>
                <a:custGeom>
                  <a:avLst/>
                  <a:gdLst/>
                  <a:ahLst/>
                  <a:cxnLst/>
                  <a:rect l="l" t="t" r="r" b="b"/>
                  <a:pathLst>
                    <a:path w="165100" h="82550">
                      <a:moveTo>
                        <a:pt x="0" y="82550"/>
                      </a:moveTo>
                      <a:lnTo>
                        <a:pt x="0" y="41275"/>
                      </a:lnTo>
                      <a:cubicBezTo>
                        <a:pt x="0" y="18479"/>
                        <a:pt x="18479" y="0"/>
                        <a:pt x="41275" y="0"/>
                      </a:cubicBezTo>
                      <a:lnTo>
                        <a:pt x="123825" y="0"/>
                      </a:lnTo>
                      <a:cubicBezTo>
                        <a:pt x="146621" y="0"/>
                        <a:pt x="165100" y="18479"/>
                        <a:pt x="165100" y="41275"/>
                      </a:cubicBezTo>
                      <a:lnTo>
                        <a:pt x="165100" y="82550"/>
                      </a:lnTo>
                    </a:path>
                  </a:pathLst>
                </a:custGeom>
                <a:noFill/>
                <a:ln w="30956">
                  <a:solidFill>
                    <a:srgbClr val="841600"/>
                  </a:solidFill>
                </a:ln>
              </p:spPr>
            </p:sp>
            <p:sp>
              <p:nvSpPr>
                <p:cNvPr id="39" name="Freeform 39"/>
                <p:cNvSpPr/>
                <p:nvPr/>
              </p:nvSpPr>
              <p:spPr>
                <a:xfrm>
                  <a:off x="2790825" y="3752850"/>
                  <a:ext cx="9525" cy="9525"/>
                </a:xfrm>
                <a:custGeom>
                  <a:avLst/>
                  <a:gdLst/>
                  <a:ahLst/>
                  <a:cxnLst/>
                  <a:rect l="l" t="t" r="r" b="b"/>
                  <a:pathLst>
                    <a:path w="9525" h="9525">
                      <a:moveTo>
                        <a:pt x="0" y="0"/>
                      </a:moveTo>
                      <a:lnTo>
                        <a:pt x="0" y="206"/>
                      </a:lnTo>
                    </a:path>
                  </a:pathLst>
                </a:custGeom>
                <a:noFill/>
                <a:ln w="30956">
                  <a:solidFill>
                    <a:srgbClr val="841600"/>
                  </a:solidFill>
                </a:ln>
              </p:spPr>
            </p:sp>
            <p:sp>
              <p:nvSpPr>
                <p:cNvPr id="40" name="Freeform 40"/>
                <p:cNvSpPr/>
                <p:nvPr/>
              </p:nvSpPr>
              <p:spPr>
                <a:xfrm>
                  <a:off x="2605088" y="3773488"/>
                  <a:ext cx="371476" cy="58870"/>
                </a:xfrm>
                <a:custGeom>
                  <a:avLst/>
                  <a:gdLst/>
                  <a:ahLst/>
                  <a:cxnLst/>
                  <a:rect l="l" t="t" r="r" b="b"/>
                  <a:pathLst>
                    <a:path w="371476" h="58870">
                      <a:moveTo>
                        <a:pt x="0" y="0"/>
                      </a:moveTo>
                      <a:cubicBezTo>
                        <a:pt x="116828" y="58870"/>
                        <a:pt x="254648" y="58870"/>
                        <a:pt x="371476" y="0"/>
                      </a:cubicBezTo>
                    </a:path>
                  </a:pathLst>
                </a:custGeom>
                <a:noFill/>
                <a:ln w="30956">
                  <a:solidFill>
                    <a:srgbClr val="841600"/>
                  </a:solidFill>
                </a:ln>
              </p:spPr>
            </p:sp>
          </p:grpSp>
          <p:sp>
            <p:nvSpPr>
              <p:cNvPr id="42" name="TextBox 42"/>
              <p:cNvSpPr txBox="1"/>
              <p:nvPr/>
            </p:nvSpPr>
            <p:spPr>
              <a:xfrm>
                <a:off x="2439721" y="4434364"/>
                <a:ext cx="702208" cy="249364"/>
              </a:xfrm>
              <a:prstGeom prst="rect">
                <a:avLst/>
              </a:prstGeom>
              <a:noFill/>
              <a:ln>
                <a:noFill/>
              </a:ln>
            </p:spPr>
            <p:txBody>
              <a:bodyPr wrap="none" lIns="0" tIns="0" rIns="0" bIns="0" anchor="t" anchorCtr="0">
                <a:spAutoFit/>
              </a:bodyPr>
              <a:lstStyle/>
              <a:p>
                <a:pPr algn="ctr"/>
                <a:r>
                  <a:rPr lang="zh-CN" sz="1280" b="1" dirty="0">
                    <a:solidFill>
                      <a:srgbClr val="1A1A1A"/>
                    </a:solidFill>
                    <a:latin typeface="+mn-lt"/>
                    <a:ea typeface="+mn-ea"/>
                    <a:cs typeface="+mn-cs"/>
                  </a:rPr>
                  <a:t>优质民企</a:t>
                </a:r>
              </a:p>
            </p:txBody>
          </p:sp>
        </p:grpSp>
      </p:grpSp>
      <p:grpSp>
        <p:nvGrpSpPr>
          <p:cNvPr id="111" name="project-tracks"/>
          <p:cNvGrpSpPr/>
          <p:nvPr/>
        </p:nvGrpSpPr>
        <p:grpSpPr>
          <a:xfrm>
            <a:off x="3752850" y="704850"/>
            <a:ext cx="3638550" cy="4495800"/>
            <a:chOff x="3752850" y="704850"/>
            <a:chExt cx="3638550" cy="4495800"/>
          </a:xfrm>
        </p:grpSpPr>
        <p:sp>
          <p:nvSpPr>
            <p:cNvPr id="45" name="Freeform 45"/>
            <p:cNvSpPr/>
            <p:nvPr/>
          </p:nvSpPr>
          <p:spPr>
            <a:xfrm>
              <a:off x="3752850" y="2781300"/>
              <a:ext cx="266700" cy="323850"/>
            </a:xfrm>
            <a:prstGeom prst="rightArrow">
              <a:avLst>
                <a:gd name="adj1" fmla="val 45000"/>
                <a:gd name="adj2" fmla="val 55000"/>
              </a:avLst>
            </a:prstGeom>
            <a:solidFill>
              <a:srgbClr val="C9482E"/>
            </a:solidFill>
            <a:ln>
              <a:noFill/>
            </a:ln>
          </p:spPr>
        </p:sp>
        <p:sp>
          <p:nvSpPr>
            <p:cNvPr id="46" name="Rectangle 46"/>
            <p:cNvSpPr/>
            <p:nvPr/>
          </p:nvSpPr>
          <p:spPr>
            <a:xfrm>
              <a:off x="4057650" y="704850"/>
              <a:ext cx="3333750" cy="4495800"/>
            </a:xfrm>
            <a:prstGeom prst="roundRect">
              <a:avLst>
                <a:gd name="adj" fmla="val 2857"/>
              </a:avLst>
            </a:prstGeom>
            <a:solidFill>
              <a:srgbClr val="FFFFFF"/>
            </a:solidFill>
            <a:ln w="9525">
              <a:solidFill>
                <a:srgbClr val="D7E2F2"/>
              </a:solidFill>
            </a:ln>
          </p:spPr>
        </p:sp>
        <p:sp>
          <p:nvSpPr>
            <p:cNvPr id="47" name="Rectangle 47"/>
            <p:cNvSpPr/>
            <p:nvPr/>
          </p:nvSpPr>
          <p:spPr>
            <a:xfrm>
              <a:off x="4057650" y="704850"/>
              <a:ext cx="3333750" cy="400050"/>
            </a:xfrm>
            <a:prstGeom prst="roundRect">
              <a:avLst>
                <a:gd name="adj" fmla="val 23810"/>
              </a:avLst>
            </a:prstGeom>
            <a:solidFill>
              <a:srgbClr val="841600"/>
            </a:solidFill>
            <a:ln>
              <a:noFill/>
            </a:ln>
          </p:spPr>
        </p:sp>
        <p:sp>
          <p:nvSpPr>
            <p:cNvPr id="48" name="Rectangle 48"/>
            <p:cNvSpPr/>
            <p:nvPr/>
          </p:nvSpPr>
          <p:spPr>
            <a:xfrm>
              <a:off x="4057650" y="933450"/>
              <a:ext cx="3333750" cy="171450"/>
            </a:xfrm>
            <a:prstGeom prst="rect">
              <a:avLst/>
            </a:prstGeom>
            <a:solidFill>
              <a:srgbClr val="841600"/>
            </a:solidFill>
            <a:ln>
              <a:noFill/>
            </a:ln>
          </p:spPr>
        </p:sp>
        <p:sp>
          <p:nvSpPr>
            <p:cNvPr id="49" name="TextBox 49"/>
            <p:cNvSpPr txBox="1"/>
            <p:nvPr/>
          </p:nvSpPr>
          <p:spPr>
            <a:xfrm>
              <a:off x="4942637" y="843439"/>
              <a:ext cx="156377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项目机会｜五大赛道</a:t>
              </a:r>
            </a:p>
          </p:txBody>
        </p:sp>
        <p:sp>
          <p:nvSpPr>
            <p:cNvPr id="50" name="Ellipse 50"/>
            <p:cNvSpPr/>
            <p:nvPr/>
          </p:nvSpPr>
          <p:spPr>
            <a:xfrm>
              <a:off x="4486275" y="1828800"/>
              <a:ext cx="2476500" cy="2476500"/>
            </a:xfrm>
            <a:prstGeom prst="ellipse">
              <a:avLst/>
            </a:prstGeom>
            <a:noFill/>
            <a:ln w="9525">
              <a:solidFill>
                <a:srgbClr val="DCE6F8"/>
              </a:solidFill>
              <a:prstDash val="dash"/>
            </a:ln>
          </p:spPr>
        </p:sp>
        <p:sp>
          <p:nvSpPr>
            <p:cNvPr id="51" name="Line 51"/>
            <p:cNvSpPr/>
            <p:nvPr/>
          </p:nvSpPr>
          <p:spPr>
            <a:xfrm>
              <a:off x="5724525" y="1828800"/>
              <a:ext cx="9525" cy="1238250"/>
            </a:xfrm>
            <a:custGeom>
              <a:avLst/>
              <a:gdLst/>
              <a:ahLst/>
              <a:cxnLst/>
              <a:rect l="l" t="t" r="r" b="b"/>
              <a:pathLst>
                <a:path w="9525" h="1238250">
                  <a:moveTo>
                    <a:pt x="0" y="1238250"/>
                  </a:moveTo>
                  <a:lnTo>
                    <a:pt x="0" y="0"/>
                  </a:lnTo>
                </a:path>
              </a:pathLst>
            </a:custGeom>
            <a:noFill/>
            <a:ln w="14288">
              <a:solidFill>
                <a:srgbClr val="E3907F"/>
              </a:solidFill>
              <a:custDash>
                <a:ds d="266667" sp="200000"/>
              </a:custDash>
            </a:ln>
          </p:spPr>
        </p:sp>
        <p:sp>
          <p:nvSpPr>
            <p:cNvPr id="52" name="Line 52"/>
            <p:cNvSpPr/>
            <p:nvPr/>
          </p:nvSpPr>
          <p:spPr>
            <a:xfrm>
              <a:off x="5724525" y="2686050"/>
              <a:ext cx="1181100" cy="381000"/>
            </a:xfrm>
            <a:custGeom>
              <a:avLst/>
              <a:gdLst/>
              <a:ahLst/>
              <a:cxnLst/>
              <a:rect l="l" t="t" r="r" b="b"/>
              <a:pathLst>
                <a:path w="1181100" h="381000">
                  <a:moveTo>
                    <a:pt x="0" y="381000"/>
                  </a:moveTo>
                  <a:lnTo>
                    <a:pt x="1181100" y="0"/>
                  </a:lnTo>
                </a:path>
              </a:pathLst>
            </a:custGeom>
            <a:noFill/>
            <a:ln w="14288">
              <a:solidFill>
                <a:srgbClr val="E3907F"/>
              </a:solidFill>
              <a:custDash>
                <a:ds d="266667" sp="200000"/>
              </a:custDash>
            </a:ln>
          </p:spPr>
        </p:sp>
        <p:sp>
          <p:nvSpPr>
            <p:cNvPr id="53" name="Line 53"/>
            <p:cNvSpPr/>
            <p:nvPr/>
          </p:nvSpPr>
          <p:spPr>
            <a:xfrm>
              <a:off x="5724525" y="3067050"/>
              <a:ext cx="723900" cy="1000125"/>
            </a:xfrm>
            <a:custGeom>
              <a:avLst/>
              <a:gdLst/>
              <a:ahLst/>
              <a:cxnLst/>
              <a:rect l="l" t="t" r="r" b="b"/>
              <a:pathLst>
                <a:path w="723900" h="1000125">
                  <a:moveTo>
                    <a:pt x="0" y="0"/>
                  </a:moveTo>
                  <a:lnTo>
                    <a:pt x="723900" y="1000125"/>
                  </a:lnTo>
                </a:path>
              </a:pathLst>
            </a:custGeom>
            <a:noFill/>
            <a:ln w="14288">
              <a:solidFill>
                <a:srgbClr val="E3907F"/>
              </a:solidFill>
              <a:custDash>
                <a:ds d="266667" sp="200000"/>
              </a:custDash>
            </a:ln>
          </p:spPr>
        </p:sp>
        <p:sp>
          <p:nvSpPr>
            <p:cNvPr id="54" name="Line 54"/>
            <p:cNvSpPr/>
            <p:nvPr/>
          </p:nvSpPr>
          <p:spPr>
            <a:xfrm>
              <a:off x="5000625" y="3067050"/>
              <a:ext cx="723900" cy="1000125"/>
            </a:xfrm>
            <a:custGeom>
              <a:avLst/>
              <a:gdLst/>
              <a:ahLst/>
              <a:cxnLst/>
              <a:rect l="l" t="t" r="r" b="b"/>
              <a:pathLst>
                <a:path w="723900" h="1000125">
                  <a:moveTo>
                    <a:pt x="723900" y="0"/>
                  </a:moveTo>
                  <a:lnTo>
                    <a:pt x="0" y="1000125"/>
                  </a:lnTo>
                </a:path>
              </a:pathLst>
            </a:custGeom>
            <a:noFill/>
            <a:ln w="14288">
              <a:solidFill>
                <a:srgbClr val="E3907F"/>
              </a:solidFill>
              <a:custDash>
                <a:ds d="266667" sp="200000"/>
              </a:custDash>
            </a:ln>
          </p:spPr>
        </p:sp>
        <p:sp>
          <p:nvSpPr>
            <p:cNvPr id="55" name="Line 55"/>
            <p:cNvSpPr/>
            <p:nvPr/>
          </p:nvSpPr>
          <p:spPr>
            <a:xfrm>
              <a:off x="4543425" y="2686050"/>
              <a:ext cx="1181100" cy="381000"/>
            </a:xfrm>
            <a:custGeom>
              <a:avLst/>
              <a:gdLst/>
              <a:ahLst/>
              <a:cxnLst/>
              <a:rect l="l" t="t" r="r" b="b"/>
              <a:pathLst>
                <a:path w="1181100" h="381000">
                  <a:moveTo>
                    <a:pt x="1181100" y="381000"/>
                  </a:moveTo>
                  <a:lnTo>
                    <a:pt x="0" y="0"/>
                  </a:lnTo>
                </a:path>
              </a:pathLst>
            </a:custGeom>
            <a:noFill/>
            <a:ln w="14288">
              <a:solidFill>
                <a:srgbClr val="E3907F"/>
              </a:solidFill>
              <a:custDash>
                <a:ds d="266667" sp="200000"/>
              </a:custDash>
            </a:ln>
          </p:spPr>
        </p:sp>
        <p:sp>
          <p:nvSpPr>
            <p:cNvPr id="56" name="Ellipse 56"/>
            <p:cNvSpPr/>
            <p:nvPr/>
          </p:nvSpPr>
          <p:spPr>
            <a:xfrm>
              <a:off x="5153025" y="2495550"/>
              <a:ext cx="1143000" cy="1143000"/>
            </a:xfrm>
            <a:prstGeom prst="ellipse">
              <a:avLst/>
            </a:prstGeom>
            <a:solidFill>
              <a:srgbClr val="EFF5FD"/>
            </a:solidFill>
            <a:ln>
              <a:noFill/>
            </a:ln>
          </p:spPr>
        </p:sp>
        <p:sp>
          <p:nvSpPr>
            <p:cNvPr id="57" name="Ellipse 57"/>
            <p:cNvSpPr/>
            <p:nvPr/>
          </p:nvSpPr>
          <p:spPr>
            <a:xfrm>
              <a:off x="5286375" y="2628900"/>
              <a:ext cx="876300" cy="876300"/>
            </a:xfrm>
            <a:prstGeom prst="ellipse">
              <a:avLst/>
            </a:prstGeom>
            <a:solidFill>
              <a:srgbClr val="841600"/>
            </a:solidFill>
            <a:ln>
              <a:noFill/>
            </a:ln>
          </p:spPr>
        </p:sp>
        <p:grpSp>
          <p:nvGrpSpPr>
            <p:cNvPr id="66" name="Group 66"/>
            <p:cNvGrpSpPr/>
            <p:nvPr/>
          </p:nvGrpSpPr>
          <p:grpSpPr>
            <a:xfrm>
              <a:off x="5595938" y="2938462"/>
              <a:ext cx="257175" cy="266701"/>
              <a:chOff x="5595938" y="2938462"/>
              <a:chExt cx="257175" cy="266701"/>
            </a:xfrm>
          </p:grpSpPr>
          <p:sp>
            <p:nvSpPr>
              <p:cNvPr id="58" name="Freeform 58"/>
              <p:cNvSpPr/>
              <p:nvPr/>
            </p:nvSpPr>
            <p:spPr>
              <a:xfrm>
                <a:off x="5595938" y="3195638"/>
                <a:ext cx="257175" cy="9525"/>
              </a:xfrm>
              <a:custGeom>
                <a:avLst/>
                <a:gdLst/>
                <a:ahLst/>
                <a:cxnLst/>
                <a:rect l="l" t="t" r="r" b="b"/>
                <a:pathLst>
                  <a:path w="257175" h="9525">
                    <a:moveTo>
                      <a:pt x="0" y="0"/>
                    </a:moveTo>
                    <a:lnTo>
                      <a:pt x="257175" y="0"/>
                    </a:lnTo>
                  </a:path>
                </a:pathLst>
              </a:custGeom>
              <a:noFill/>
              <a:ln w="21431">
                <a:solidFill>
                  <a:srgbClr val="FFFFFF"/>
                </a:solidFill>
              </a:ln>
            </p:spPr>
          </p:sp>
          <p:sp>
            <p:nvSpPr>
              <p:cNvPr id="59" name="Freeform 59"/>
              <p:cNvSpPr/>
              <p:nvPr/>
            </p:nvSpPr>
            <p:spPr>
              <a:xfrm>
                <a:off x="5595938" y="3038475"/>
                <a:ext cx="257175" cy="9525"/>
              </a:xfrm>
              <a:custGeom>
                <a:avLst/>
                <a:gdLst/>
                <a:ahLst/>
                <a:cxnLst/>
                <a:rect l="l" t="t" r="r" b="b"/>
                <a:pathLst>
                  <a:path w="257175" h="9525">
                    <a:moveTo>
                      <a:pt x="0" y="0"/>
                    </a:moveTo>
                    <a:lnTo>
                      <a:pt x="257175" y="0"/>
                    </a:lnTo>
                  </a:path>
                </a:pathLst>
              </a:custGeom>
              <a:noFill/>
              <a:ln w="21431">
                <a:solidFill>
                  <a:srgbClr val="FFFFFF"/>
                </a:solidFill>
              </a:ln>
            </p:spPr>
          </p:sp>
          <p:sp>
            <p:nvSpPr>
              <p:cNvPr id="60" name="Freeform 60"/>
              <p:cNvSpPr/>
              <p:nvPr/>
            </p:nvSpPr>
            <p:spPr>
              <a:xfrm>
                <a:off x="5624512" y="2938462"/>
                <a:ext cx="200025" cy="42862"/>
              </a:xfrm>
              <a:custGeom>
                <a:avLst/>
                <a:gdLst/>
                <a:ahLst/>
                <a:cxnLst/>
                <a:rect l="l" t="t" r="r" b="b"/>
                <a:pathLst>
                  <a:path w="200025" h="42862">
                    <a:moveTo>
                      <a:pt x="0" y="42862"/>
                    </a:moveTo>
                    <a:lnTo>
                      <a:pt x="100012" y="0"/>
                    </a:lnTo>
                    <a:lnTo>
                      <a:pt x="200025" y="42862"/>
                    </a:lnTo>
                  </a:path>
                </a:pathLst>
              </a:custGeom>
              <a:noFill/>
              <a:ln w="21431">
                <a:solidFill>
                  <a:srgbClr val="FFFFFF"/>
                </a:solidFill>
              </a:ln>
            </p:spPr>
          </p:sp>
          <p:sp>
            <p:nvSpPr>
              <p:cNvPr id="61" name="Freeform 61"/>
              <p:cNvSpPr/>
              <p:nvPr/>
            </p:nvSpPr>
            <p:spPr>
              <a:xfrm>
                <a:off x="5610225" y="3038475"/>
                <a:ext cx="9525" cy="157162"/>
              </a:xfrm>
              <a:custGeom>
                <a:avLst/>
                <a:gdLst/>
                <a:ahLst/>
                <a:cxnLst/>
                <a:rect l="l" t="t" r="r" b="b"/>
                <a:pathLst>
                  <a:path w="9525" h="157162">
                    <a:moveTo>
                      <a:pt x="0" y="0"/>
                    </a:moveTo>
                    <a:lnTo>
                      <a:pt x="0" y="157162"/>
                    </a:lnTo>
                  </a:path>
                </a:pathLst>
              </a:custGeom>
              <a:noFill/>
              <a:ln w="21431">
                <a:solidFill>
                  <a:srgbClr val="FFFFFF"/>
                </a:solidFill>
              </a:ln>
            </p:spPr>
          </p:sp>
          <p:sp>
            <p:nvSpPr>
              <p:cNvPr id="62" name="Freeform 62"/>
              <p:cNvSpPr/>
              <p:nvPr/>
            </p:nvSpPr>
            <p:spPr>
              <a:xfrm>
                <a:off x="5838825" y="3038475"/>
                <a:ext cx="9525" cy="157162"/>
              </a:xfrm>
              <a:custGeom>
                <a:avLst/>
                <a:gdLst/>
                <a:ahLst/>
                <a:cxnLst/>
                <a:rect l="l" t="t" r="r" b="b"/>
                <a:pathLst>
                  <a:path w="9525" h="157162">
                    <a:moveTo>
                      <a:pt x="0" y="0"/>
                    </a:moveTo>
                    <a:lnTo>
                      <a:pt x="0" y="157162"/>
                    </a:lnTo>
                  </a:path>
                </a:pathLst>
              </a:custGeom>
              <a:noFill/>
              <a:ln w="21431">
                <a:solidFill>
                  <a:srgbClr val="FFFFFF"/>
                </a:solidFill>
              </a:ln>
            </p:spPr>
          </p:sp>
          <p:sp>
            <p:nvSpPr>
              <p:cNvPr id="63" name="Freeform 63"/>
              <p:cNvSpPr/>
              <p:nvPr/>
            </p:nvSpPr>
            <p:spPr>
              <a:xfrm>
                <a:off x="5667375" y="3095625"/>
                <a:ext cx="9525" cy="42862"/>
              </a:xfrm>
              <a:custGeom>
                <a:avLst/>
                <a:gdLst/>
                <a:ahLst/>
                <a:cxnLst/>
                <a:rect l="l" t="t" r="r" b="b"/>
                <a:pathLst>
                  <a:path w="9525" h="42862">
                    <a:moveTo>
                      <a:pt x="0" y="0"/>
                    </a:moveTo>
                    <a:lnTo>
                      <a:pt x="0" y="42862"/>
                    </a:lnTo>
                  </a:path>
                </a:pathLst>
              </a:custGeom>
              <a:noFill/>
              <a:ln w="21431">
                <a:solidFill>
                  <a:srgbClr val="FFFFFF"/>
                </a:solidFill>
              </a:ln>
            </p:spPr>
          </p:sp>
          <p:sp>
            <p:nvSpPr>
              <p:cNvPr id="64" name="Freeform 64"/>
              <p:cNvSpPr/>
              <p:nvPr/>
            </p:nvSpPr>
            <p:spPr>
              <a:xfrm>
                <a:off x="5724525" y="3095625"/>
                <a:ext cx="9525" cy="42862"/>
              </a:xfrm>
              <a:custGeom>
                <a:avLst/>
                <a:gdLst/>
                <a:ahLst/>
                <a:cxnLst/>
                <a:rect l="l" t="t" r="r" b="b"/>
                <a:pathLst>
                  <a:path w="9525" h="42862">
                    <a:moveTo>
                      <a:pt x="0" y="0"/>
                    </a:moveTo>
                    <a:lnTo>
                      <a:pt x="0" y="42862"/>
                    </a:lnTo>
                  </a:path>
                </a:pathLst>
              </a:custGeom>
              <a:noFill/>
              <a:ln w="21431">
                <a:solidFill>
                  <a:srgbClr val="FFFFFF"/>
                </a:solidFill>
              </a:ln>
            </p:spPr>
          </p:sp>
          <p:sp>
            <p:nvSpPr>
              <p:cNvPr id="65" name="Freeform 65"/>
              <p:cNvSpPr/>
              <p:nvPr/>
            </p:nvSpPr>
            <p:spPr>
              <a:xfrm>
                <a:off x="5781675" y="3095625"/>
                <a:ext cx="9525" cy="42862"/>
              </a:xfrm>
              <a:custGeom>
                <a:avLst/>
                <a:gdLst/>
                <a:ahLst/>
                <a:cxnLst/>
                <a:rect l="l" t="t" r="r" b="b"/>
                <a:pathLst>
                  <a:path w="9525" h="42862">
                    <a:moveTo>
                      <a:pt x="0" y="0"/>
                    </a:moveTo>
                    <a:lnTo>
                      <a:pt x="0" y="42862"/>
                    </a:lnTo>
                  </a:path>
                </a:pathLst>
              </a:custGeom>
              <a:noFill/>
              <a:ln w="21431">
                <a:solidFill>
                  <a:srgbClr val="FFFFFF"/>
                </a:solidFill>
              </a:ln>
            </p:spPr>
          </p:sp>
        </p:grpSp>
        <p:grpSp>
          <p:nvGrpSpPr>
            <p:cNvPr id="78" name="track-1"/>
            <p:cNvGrpSpPr/>
            <p:nvPr/>
          </p:nvGrpSpPr>
          <p:grpSpPr>
            <a:xfrm>
              <a:off x="5343525" y="1447800"/>
              <a:ext cx="762000" cy="762000"/>
              <a:chOff x="5343525" y="1447800"/>
              <a:chExt cx="762000" cy="762000"/>
            </a:xfrm>
          </p:grpSpPr>
          <p:sp>
            <p:nvSpPr>
              <p:cNvPr id="67" name="Ellipse 67"/>
              <p:cNvSpPr/>
              <p:nvPr/>
            </p:nvSpPr>
            <p:spPr>
              <a:xfrm>
                <a:off x="5343525" y="1447800"/>
                <a:ext cx="762000" cy="762000"/>
              </a:xfrm>
              <a:prstGeom prst="ellipse">
                <a:avLst/>
              </a:prstGeom>
              <a:solidFill>
                <a:srgbClr val="FFFFFF"/>
              </a:solidFill>
              <a:ln w="14288">
                <a:solidFill>
                  <a:srgbClr val="841600"/>
                </a:solidFill>
              </a:ln>
            </p:spPr>
          </p:sp>
          <p:grpSp>
            <p:nvGrpSpPr>
              <p:cNvPr id="76" name="Group 76"/>
              <p:cNvGrpSpPr/>
              <p:nvPr/>
            </p:nvGrpSpPr>
            <p:grpSpPr>
              <a:xfrm>
                <a:off x="5631656" y="1593056"/>
                <a:ext cx="185737" cy="195262"/>
                <a:chOff x="5631656" y="1593056"/>
                <a:chExt cx="185737" cy="195262"/>
              </a:xfrm>
            </p:grpSpPr>
            <p:sp>
              <p:nvSpPr>
                <p:cNvPr id="68" name="Freeform 68"/>
                <p:cNvSpPr/>
                <p:nvPr/>
              </p:nvSpPr>
              <p:spPr>
                <a:xfrm>
                  <a:off x="5631656" y="1778793"/>
                  <a:ext cx="185737" cy="9525"/>
                </a:xfrm>
                <a:custGeom>
                  <a:avLst/>
                  <a:gdLst/>
                  <a:ahLst/>
                  <a:cxnLst/>
                  <a:rect l="l" t="t" r="r" b="b"/>
                  <a:pathLst>
                    <a:path w="185737" h="9525">
                      <a:moveTo>
                        <a:pt x="0" y="0"/>
                      </a:moveTo>
                      <a:lnTo>
                        <a:pt x="185737" y="0"/>
                      </a:lnTo>
                    </a:path>
                  </a:pathLst>
                </a:custGeom>
                <a:noFill/>
                <a:ln w="15478">
                  <a:solidFill>
                    <a:srgbClr val="841600"/>
                  </a:solidFill>
                </a:ln>
              </p:spPr>
            </p:sp>
            <p:sp>
              <p:nvSpPr>
                <p:cNvPr id="69" name="Freeform 69"/>
                <p:cNvSpPr/>
                <p:nvPr/>
              </p:nvSpPr>
              <p:spPr>
                <a:xfrm>
                  <a:off x="5693568" y="1644650"/>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70" name="Freeform 70"/>
                <p:cNvSpPr/>
                <p:nvPr/>
              </p:nvSpPr>
              <p:spPr>
                <a:xfrm>
                  <a:off x="5693568" y="1685925"/>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71" name="Freeform 71"/>
                <p:cNvSpPr/>
                <p:nvPr/>
              </p:nvSpPr>
              <p:spPr>
                <a:xfrm>
                  <a:off x="5693568" y="1727199"/>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72" name="Freeform 72"/>
                <p:cNvSpPr/>
                <p:nvPr/>
              </p:nvSpPr>
              <p:spPr>
                <a:xfrm>
                  <a:off x="5745162" y="1644650"/>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73" name="Freeform 73"/>
                <p:cNvSpPr/>
                <p:nvPr/>
              </p:nvSpPr>
              <p:spPr>
                <a:xfrm>
                  <a:off x="5745162" y="1685925"/>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74" name="Freeform 74"/>
                <p:cNvSpPr/>
                <p:nvPr/>
              </p:nvSpPr>
              <p:spPr>
                <a:xfrm>
                  <a:off x="5745162" y="1727199"/>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75" name="Freeform 75"/>
                <p:cNvSpPr/>
                <p:nvPr/>
              </p:nvSpPr>
              <p:spPr>
                <a:xfrm>
                  <a:off x="5652294" y="1593056"/>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path>
                  </a:pathLst>
                </a:custGeom>
                <a:noFill/>
                <a:ln w="15478">
                  <a:solidFill>
                    <a:srgbClr val="841600"/>
                  </a:solidFill>
                </a:ln>
              </p:spPr>
            </p:sp>
          </p:grpSp>
          <p:sp>
            <p:nvSpPr>
              <p:cNvPr id="77" name="TextBox 77"/>
              <p:cNvSpPr txBox="1"/>
              <p:nvPr/>
            </p:nvSpPr>
            <p:spPr>
              <a:xfrm>
                <a:off x="5477446" y="1903095"/>
                <a:ext cx="494157" cy="176212"/>
              </a:xfrm>
              <a:prstGeom prst="rect">
                <a:avLst/>
              </a:prstGeom>
              <a:noFill/>
              <a:ln>
                <a:noFill/>
              </a:ln>
            </p:spPr>
            <p:txBody>
              <a:bodyPr wrap="none" lIns="0" tIns="0" rIns="0" bIns="0" anchor="t" anchorCtr="0">
                <a:spAutoFit/>
              </a:bodyPr>
              <a:lstStyle/>
              <a:p>
                <a:pPr algn="ctr"/>
                <a:r>
                  <a:rPr lang="zh-CN" sz="900" b="1" dirty="0">
                    <a:solidFill>
                      <a:srgbClr val="841600"/>
                    </a:solidFill>
                    <a:latin typeface="+mn-lt"/>
                    <a:ea typeface="+mn-ea"/>
                    <a:cs typeface="+mn-cs"/>
                  </a:rPr>
                  <a:t>重大项目</a:t>
                </a:r>
              </a:p>
            </p:txBody>
          </p:sp>
        </p:grpSp>
        <p:grpSp>
          <p:nvGrpSpPr>
            <p:cNvPr id="84" name="track-2"/>
            <p:cNvGrpSpPr/>
            <p:nvPr/>
          </p:nvGrpSpPr>
          <p:grpSpPr>
            <a:xfrm>
              <a:off x="6524625" y="2305050"/>
              <a:ext cx="762000" cy="762000"/>
              <a:chOff x="6524625" y="2305050"/>
              <a:chExt cx="762000" cy="762000"/>
            </a:xfrm>
          </p:grpSpPr>
          <p:sp>
            <p:nvSpPr>
              <p:cNvPr id="79" name="Ellipse 79"/>
              <p:cNvSpPr/>
              <p:nvPr/>
            </p:nvSpPr>
            <p:spPr>
              <a:xfrm>
                <a:off x="6524625" y="2305050"/>
                <a:ext cx="762000" cy="762000"/>
              </a:xfrm>
              <a:prstGeom prst="ellipse">
                <a:avLst/>
              </a:prstGeom>
              <a:solidFill>
                <a:srgbClr val="FFFFFF"/>
              </a:solidFill>
              <a:ln w="14288">
                <a:solidFill>
                  <a:srgbClr val="841600"/>
                </a:solidFill>
              </a:ln>
            </p:spPr>
          </p:sp>
          <p:grpSp>
            <p:nvGrpSpPr>
              <p:cNvPr id="82" name="Group 82"/>
              <p:cNvGrpSpPr/>
              <p:nvPr/>
            </p:nvGrpSpPr>
            <p:grpSpPr>
              <a:xfrm>
                <a:off x="6823075" y="2456644"/>
                <a:ext cx="165099" cy="173061"/>
                <a:chOff x="6823075" y="2456644"/>
                <a:chExt cx="165099" cy="173061"/>
              </a:xfrm>
            </p:grpSpPr>
            <p:sp>
              <p:nvSpPr>
                <p:cNvPr id="80" name="Freeform 80"/>
                <p:cNvSpPr/>
                <p:nvPr/>
              </p:nvSpPr>
              <p:spPr>
                <a:xfrm>
                  <a:off x="6823075" y="2456644"/>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15478">
                  <a:solidFill>
                    <a:srgbClr val="841600"/>
                  </a:solidFill>
                </a:ln>
              </p:spPr>
            </p:sp>
            <p:sp>
              <p:nvSpPr>
                <p:cNvPr id="81" name="Freeform 81"/>
                <p:cNvSpPr/>
                <p:nvPr/>
              </p:nvSpPr>
              <p:spPr>
                <a:xfrm>
                  <a:off x="6823075" y="2553493"/>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15478">
                  <a:solidFill>
                    <a:srgbClr val="841600"/>
                  </a:solidFill>
                </a:ln>
              </p:spPr>
            </p:sp>
          </p:grpSp>
          <p:sp>
            <p:nvSpPr>
              <p:cNvPr id="83" name="TextBox 83"/>
              <p:cNvSpPr txBox="1"/>
              <p:nvPr/>
            </p:nvSpPr>
            <p:spPr>
              <a:xfrm>
                <a:off x="6658546" y="2760345"/>
                <a:ext cx="494157" cy="176212"/>
              </a:xfrm>
              <a:prstGeom prst="rect">
                <a:avLst/>
              </a:prstGeom>
              <a:noFill/>
              <a:ln>
                <a:noFill/>
              </a:ln>
            </p:spPr>
            <p:txBody>
              <a:bodyPr wrap="none" lIns="0" tIns="0" rIns="0" bIns="0" anchor="t" anchorCtr="0">
                <a:spAutoFit/>
              </a:bodyPr>
              <a:lstStyle/>
              <a:p>
                <a:pPr algn="ctr"/>
                <a:r>
                  <a:rPr lang="zh-CN" sz="900" b="1" dirty="0">
                    <a:solidFill>
                      <a:srgbClr val="841600"/>
                    </a:solidFill>
                    <a:latin typeface="+mn-lt"/>
                    <a:ea typeface="+mn-ea"/>
                    <a:cs typeface="+mn-cs"/>
                  </a:rPr>
                  <a:t>绿色转型</a:t>
                </a:r>
              </a:p>
            </p:txBody>
          </p:sp>
        </p:grpSp>
        <p:grpSp>
          <p:nvGrpSpPr>
            <p:cNvPr id="90" name="track-3"/>
            <p:cNvGrpSpPr/>
            <p:nvPr/>
          </p:nvGrpSpPr>
          <p:grpSpPr>
            <a:xfrm>
              <a:off x="6067425" y="3686175"/>
              <a:ext cx="762000" cy="762000"/>
              <a:chOff x="6067425" y="3686175"/>
              <a:chExt cx="762000" cy="762000"/>
            </a:xfrm>
          </p:grpSpPr>
          <p:sp>
            <p:nvSpPr>
              <p:cNvPr id="85" name="Ellipse 85"/>
              <p:cNvSpPr/>
              <p:nvPr/>
            </p:nvSpPr>
            <p:spPr>
              <a:xfrm>
                <a:off x="6067425" y="3686175"/>
                <a:ext cx="762000" cy="762000"/>
              </a:xfrm>
              <a:prstGeom prst="ellipse">
                <a:avLst/>
              </a:prstGeom>
              <a:solidFill>
                <a:srgbClr val="FFFFFF"/>
              </a:solidFill>
              <a:ln w="14288">
                <a:solidFill>
                  <a:srgbClr val="841600"/>
                </a:solidFill>
              </a:ln>
            </p:spPr>
          </p:sp>
          <p:grpSp>
            <p:nvGrpSpPr>
              <p:cNvPr id="88" name="Group 88"/>
              <p:cNvGrpSpPr/>
              <p:nvPr/>
            </p:nvGrpSpPr>
            <p:grpSpPr>
              <a:xfrm>
                <a:off x="6355556" y="3862387"/>
                <a:ext cx="185737" cy="123825"/>
                <a:chOff x="6355556" y="3862387"/>
                <a:chExt cx="185737" cy="123825"/>
              </a:xfrm>
            </p:grpSpPr>
            <p:sp>
              <p:nvSpPr>
                <p:cNvPr id="86" name="Freeform 86"/>
                <p:cNvSpPr/>
                <p:nvPr/>
              </p:nvSpPr>
              <p:spPr>
                <a:xfrm>
                  <a:off x="6396831" y="3862387"/>
                  <a:ext cx="144462" cy="41275"/>
                </a:xfrm>
                <a:custGeom>
                  <a:avLst/>
                  <a:gdLst/>
                  <a:ahLst/>
                  <a:cxnLst/>
                  <a:rect l="l" t="t" r="r" b="b"/>
                  <a:pathLst>
                    <a:path w="144462" h="41275">
                      <a:moveTo>
                        <a:pt x="0" y="41275"/>
                      </a:moveTo>
                      <a:lnTo>
                        <a:pt x="144462" y="41275"/>
                      </a:lnTo>
                      <a:lnTo>
                        <a:pt x="103187" y="0"/>
                      </a:lnTo>
                    </a:path>
                  </a:pathLst>
                </a:custGeom>
                <a:noFill/>
                <a:ln w="15478">
                  <a:solidFill>
                    <a:srgbClr val="841600"/>
                  </a:solidFill>
                </a:ln>
              </p:spPr>
            </p:sp>
            <p:sp>
              <p:nvSpPr>
                <p:cNvPr id="87" name="Freeform 87"/>
                <p:cNvSpPr/>
                <p:nvPr/>
              </p:nvSpPr>
              <p:spPr>
                <a:xfrm>
                  <a:off x="6355556" y="3944937"/>
                  <a:ext cx="144462" cy="41275"/>
                </a:xfrm>
                <a:custGeom>
                  <a:avLst/>
                  <a:gdLst/>
                  <a:ahLst/>
                  <a:cxnLst/>
                  <a:rect l="l" t="t" r="r" b="b"/>
                  <a:pathLst>
                    <a:path w="144462" h="41275">
                      <a:moveTo>
                        <a:pt x="144462" y="0"/>
                      </a:moveTo>
                      <a:lnTo>
                        <a:pt x="0" y="0"/>
                      </a:lnTo>
                      <a:lnTo>
                        <a:pt x="41275" y="41275"/>
                      </a:lnTo>
                    </a:path>
                  </a:pathLst>
                </a:custGeom>
                <a:noFill/>
                <a:ln w="15478">
                  <a:solidFill>
                    <a:srgbClr val="841600"/>
                  </a:solidFill>
                </a:ln>
              </p:spPr>
            </p:sp>
          </p:grpSp>
          <p:sp>
            <p:nvSpPr>
              <p:cNvPr id="89" name="TextBox 89"/>
              <p:cNvSpPr txBox="1"/>
              <p:nvPr/>
            </p:nvSpPr>
            <p:spPr>
              <a:xfrm>
                <a:off x="6201346" y="4141470"/>
                <a:ext cx="494157" cy="176212"/>
              </a:xfrm>
              <a:prstGeom prst="rect">
                <a:avLst/>
              </a:prstGeom>
              <a:noFill/>
              <a:ln>
                <a:noFill/>
              </a:ln>
            </p:spPr>
            <p:txBody>
              <a:bodyPr wrap="none" lIns="0" tIns="0" rIns="0" bIns="0" anchor="t" anchorCtr="0">
                <a:spAutoFit/>
              </a:bodyPr>
              <a:lstStyle/>
              <a:p>
                <a:pPr algn="ctr"/>
                <a:r>
                  <a:rPr lang="zh-CN" sz="900" b="1" dirty="0">
                    <a:solidFill>
                      <a:srgbClr val="841600"/>
                    </a:solidFill>
                    <a:latin typeface="+mn-lt"/>
                    <a:ea typeface="+mn-ea"/>
                    <a:cs typeface="+mn-cs"/>
                  </a:rPr>
                  <a:t>并购重组</a:t>
                </a:r>
              </a:p>
            </p:txBody>
          </p:sp>
        </p:grpSp>
        <p:grpSp>
          <p:nvGrpSpPr>
            <p:cNvPr id="97" name="track-4"/>
            <p:cNvGrpSpPr/>
            <p:nvPr/>
          </p:nvGrpSpPr>
          <p:grpSpPr>
            <a:xfrm>
              <a:off x="4619625" y="3686175"/>
              <a:ext cx="762000" cy="762000"/>
              <a:chOff x="4619625" y="3686175"/>
              <a:chExt cx="762000" cy="762000"/>
            </a:xfrm>
          </p:grpSpPr>
          <p:sp>
            <p:nvSpPr>
              <p:cNvPr id="91" name="Ellipse 91"/>
              <p:cNvSpPr/>
              <p:nvPr/>
            </p:nvSpPr>
            <p:spPr>
              <a:xfrm>
                <a:off x="4619625" y="3686175"/>
                <a:ext cx="762000" cy="762000"/>
              </a:xfrm>
              <a:prstGeom prst="ellipse">
                <a:avLst/>
              </a:prstGeom>
              <a:solidFill>
                <a:srgbClr val="FFFFFF"/>
              </a:solidFill>
              <a:ln w="14288">
                <a:solidFill>
                  <a:srgbClr val="841600"/>
                </a:solidFill>
              </a:ln>
            </p:spPr>
          </p:sp>
          <p:grpSp>
            <p:nvGrpSpPr>
              <p:cNvPr id="95" name="Group 95"/>
              <p:cNvGrpSpPr/>
              <p:nvPr/>
            </p:nvGrpSpPr>
            <p:grpSpPr>
              <a:xfrm>
                <a:off x="4907756" y="3831431"/>
                <a:ext cx="185737" cy="185737"/>
                <a:chOff x="4907756" y="3831431"/>
                <a:chExt cx="185737" cy="185737"/>
              </a:xfrm>
            </p:grpSpPr>
            <p:sp>
              <p:nvSpPr>
                <p:cNvPr id="92" name="Freeform 92"/>
                <p:cNvSpPr/>
                <p:nvPr/>
              </p:nvSpPr>
              <p:spPr>
                <a:xfrm>
                  <a:off x="4907756" y="3831431"/>
                  <a:ext cx="185737" cy="92868"/>
                </a:xfrm>
                <a:custGeom>
                  <a:avLst/>
                  <a:gdLst/>
                  <a:ahLst/>
                  <a:cxnLst/>
                  <a:rect l="l" t="t" r="r" b="b"/>
                  <a:pathLst>
                    <a:path w="185737" h="92868">
                      <a:moveTo>
                        <a:pt x="0" y="92868"/>
                      </a:moveTo>
                      <a:lnTo>
                        <a:pt x="10319" y="92868"/>
                      </a:lnTo>
                      <a:moveTo>
                        <a:pt x="92868" y="0"/>
                      </a:moveTo>
                      <a:lnTo>
                        <a:pt x="92868" y="10319"/>
                      </a:lnTo>
                      <a:moveTo>
                        <a:pt x="175418" y="92868"/>
                      </a:moveTo>
                      <a:lnTo>
                        <a:pt x="185737" y="92868"/>
                      </a:lnTo>
                      <a:moveTo>
                        <a:pt x="26829" y="26829"/>
                      </a:moveTo>
                      <a:lnTo>
                        <a:pt x="34052" y="34052"/>
                      </a:lnTo>
                      <a:moveTo>
                        <a:pt x="158908" y="26829"/>
                      </a:moveTo>
                      <a:lnTo>
                        <a:pt x="151685" y="34052"/>
                      </a:lnTo>
                    </a:path>
                  </a:pathLst>
                </a:custGeom>
                <a:noFill/>
                <a:ln w="15478">
                  <a:solidFill>
                    <a:srgbClr val="841600"/>
                  </a:solidFill>
                </a:ln>
              </p:spPr>
            </p:sp>
            <p:sp>
              <p:nvSpPr>
                <p:cNvPr id="93" name="Freeform 93"/>
                <p:cNvSpPr/>
                <p:nvPr/>
              </p:nvSpPr>
              <p:spPr>
                <a:xfrm>
                  <a:off x="4944656" y="3872706"/>
                  <a:ext cx="111937" cy="144462"/>
                </a:xfrm>
                <a:custGeom>
                  <a:avLst/>
                  <a:gdLst/>
                  <a:ahLst/>
                  <a:cxnLst/>
                  <a:rect l="l" t="t" r="r" b="b"/>
                  <a:pathLst>
                    <a:path w="111937" h="144462">
                      <a:moveTo>
                        <a:pt x="25012" y="92868"/>
                      </a:moveTo>
                      <a:cubicBezTo>
                        <a:pt x="7246" y="79544"/>
                        <a:pt x="0" y="56346"/>
                        <a:pt x="7023" y="35278"/>
                      </a:cubicBezTo>
                      <a:cubicBezTo>
                        <a:pt x="14045" y="14210"/>
                        <a:pt x="33761" y="0"/>
                        <a:pt x="55969" y="0"/>
                      </a:cubicBezTo>
                      <a:cubicBezTo>
                        <a:pt x="78176" y="0"/>
                        <a:pt x="97892" y="14210"/>
                        <a:pt x="104915" y="35278"/>
                      </a:cubicBezTo>
                      <a:cubicBezTo>
                        <a:pt x="111937" y="56346"/>
                        <a:pt x="104691" y="79544"/>
                        <a:pt x="86925" y="92868"/>
                      </a:cubicBezTo>
                      <a:cubicBezTo>
                        <a:pt x="78754" y="100957"/>
                        <a:pt x="74922" y="112452"/>
                        <a:pt x="76606" y="123825"/>
                      </a:cubicBezTo>
                      <a:cubicBezTo>
                        <a:pt x="76606" y="135222"/>
                        <a:pt x="67366" y="144462"/>
                        <a:pt x="55969" y="144462"/>
                      </a:cubicBezTo>
                      <a:cubicBezTo>
                        <a:pt x="44571" y="144462"/>
                        <a:pt x="35331" y="135222"/>
                        <a:pt x="35331" y="123825"/>
                      </a:cubicBezTo>
                      <a:cubicBezTo>
                        <a:pt x="37015" y="112452"/>
                        <a:pt x="33183" y="100957"/>
                        <a:pt x="25012" y="92868"/>
                      </a:cubicBezTo>
                    </a:path>
                  </a:pathLst>
                </a:custGeom>
                <a:noFill/>
                <a:ln w="15478">
                  <a:solidFill>
                    <a:srgbClr val="841600"/>
                  </a:solidFill>
                </a:ln>
              </p:spPr>
            </p:sp>
            <p:sp>
              <p:nvSpPr>
                <p:cNvPr id="94" name="Freeform 94"/>
                <p:cNvSpPr/>
                <p:nvPr/>
              </p:nvSpPr>
              <p:spPr>
                <a:xfrm>
                  <a:off x="4976892" y="3975893"/>
                  <a:ext cx="47466" cy="9525"/>
                </a:xfrm>
                <a:custGeom>
                  <a:avLst/>
                  <a:gdLst/>
                  <a:ahLst/>
                  <a:cxnLst/>
                  <a:rect l="l" t="t" r="r" b="b"/>
                  <a:pathLst>
                    <a:path w="47466" h="9525">
                      <a:moveTo>
                        <a:pt x="0" y="0"/>
                      </a:moveTo>
                      <a:lnTo>
                        <a:pt x="47466" y="0"/>
                      </a:lnTo>
                    </a:path>
                  </a:pathLst>
                </a:custGeom>
                <a:noFill/>
                <a:ln w="15478">
                  <a:solidFill>
                    <a:srgbClr val="841600"/>
                  </a:solidFill>
                </a:ln>
              </p:spPr>
            </p:sp>
          </p:grpSp>
          <p:sp>
            <p:nvSpPr>
              <p:cNvPr id="96" name="TextBox 96"/>
              <p:cNvSpPr txBox="1"/>
              <p:nvPr/>
            </p:nvSpPr>
            <p:spPr>
              <a:xfrm>
                <a:off x="4753546" y="4141470"/>
                <a:ext cx="494157" cy="176212"/>
              </a:xfrm>
              <a:prstGeom prst="rect">
                <a:avLst/>
              </a:prstGeom>
              <a:noFill/>
              <a:ln>
                <a:noFill/>
              </a:ln>
            </p:spPr>
            <p:txBody>
              <a:bodyPr wrap="none" lIns="0" tIns="0" rIns="0" bIns="0" anchor="t" anchorCtr="0">
                <a:spAutoFit/>
              </a:bodyPr>
              <a:lstStyle/>
              <a:p>
                <a:pPr algn="ctr"/>
                <a:r>
                  <a:rPr lang="zh-CN" sz="900" b="1" dirty="0">
                    <a:solidFill>
                      <a:srgbClr val="841600"/>
                    </a:solidFill>
                    <a:latin typeface="+mn-lt"/>
                    <a:ea typeface="+mn-ea"/>
                    <a:cs typeface="+mn-cs"/>
                  </a:rPr>
                  <a:t>科技创新</a:t>
                </a:r>
              </a:p>
            </p:txBody>
          </p:sp>
        </p:grpSp>
        <p:grpSp>
          <p:nvGrpSpPr>
            <p:cNvPr id="110" name="track-5"/>
            <p:cNvGrpSpPr/>
            <p:nvPr/>
          </p:nvGrpSpPr>
          <p:grpSpPr>
            <a:xfrm>
              <a:off x="4162425" y="2305050"/>
              <a:ext cx="762000" cy="762000"/>
              <a:chOff x="4162425" y="2305050"/>
              <a:chExt cx="762000" cy="762000"/>
            </a:xfrm>
          </p:grpSpPr>
          <p:sp>
            <p:nvSpPr>
              <p:cNvPr id="98" name="Ellipse 98"/>
              <p:cNvSpPr/>
              <p:nvPr/>
            </p:nvSpPr>
            <p:spPr>
              <a:xfrm>
                <a:off x="4162425" y="2305050"/>
                <a:ext cx="762000" cy="762000"/>
              </a:xfrm>
              <a:prstGeom prst="ellipse">
                <a:avLst/>
              </a:prstGeom>
              <a:solidFill>
                <a:srgbClr val="FFFFFF"/>
              </a:solidFill>
              <a:ln w="14288">
                <a:solidFill>
                  <a:srgbClr val="841600"/>
                </a:solidFill>
              </a:ln>
            </p:spPr>
          </p:sp>
          <p:grpSp>
            <p:nvGrpSpPr>
              <p:cNvPr id="108" name="Group 108"/>
              <p:cNvGrpSpPr/>
              <p:nvPr/>
            </p:nvGrpSpPr>
            <p:grpSpPr>
              <a:xfrm>
                <a:off x="4471194" y="2439987"/>
                <a:ext cx="144462" cy="196056"/>
                <a:chOff x="4471194" y="2439987"/>
                <a:chExt cx="144462" cy="196056"/>
              </a:xfrm>
            </p:grpSpPr>
            <p:sp>
              <p:nvSpPr>
                <p:cNvPr id="99" name="Freeform 99"/>
                <p:cNvSpPr/>
                <p:nvPr/>
              </p:nvSpPr>
              <p:spPr>
                <a:xfrm>
                  <a:off x="4481512" y="2460625"/>
                  <a:ext cx="123825" cy="82550"/>
                </a:xfrm>
                <a:custGeom>
                  <a:avLst/>
                  <a:gdLst/>
                  <a:ahLst/>
                  <a:cxnLst/>
                  <a:rect l="l" t="t" r="r" b="b"/>
                  <a:pathLst>
                    <a:path w="123825" h="82550">
                      <a:moveTo>
                        <a:pt x="0" y="20637"/>
                      </a:moveTo>
                      <a:cubicBezTo>
                        <a:pt x="0" y="9240"/>
                        <a:pt x="9240" y="0"/>
                        <a:pt x="20637" y="0"/>
                      </a:cubicBezTo>
                      <a:lnTo>
                        <a:pt x="103187" y="0"/>
                      </a:lnTo>
                      <a:cubicBezTo>
                        <a:pt x="114585" y="0"/>
                        <a:pt x="123825" y="9240"/>
                        <a:pt x="123825" y="20637"/>
                      </a:cubicBezTo>
                      <a:lnTo>
                        <a:pt x="123825" y="61912"/>
                      </a:lnTo>
                      <a:cubicBezTo>
                        <a:pt x="123825" y="73310"/>
                        <a:pt x="114585" y="82550"/>
                        <a:pt x="103187" y="82550"/>
                      </a:cubicBezTo>
                      <a:lnTo>
                        <a:pt x="20637" y="82550"/>
                      </a:lnTo>
                      <a:cubicBezTo>
                        <a:pt x="9240" y="82550"/>
                        <a:pt x="0" y="73310"/>
                        <a:pt x="0" y="61912"/>
                      </a:cubicBezTo>
                      <a:lnTo>
                        <a:pt x="0" y="20637"/>
                      </a:lnTo>
                    </a:path>
                  </a:pathLst>
                </a:custGeom>
                <a:noFill/>
                <a:ln w="15478">
                  <a:solidFill>
                    <a:srgbClr val="841600"/>
                  </a:solidFill>
                </a:ln>
              </p:spPr>
            </p:sp>
            <p:sp>
              <p:nvSpPr>
                <p:cNvPr id="100" name="Freeform 100"/>
                <p:cNvSpPr/>
                <p:nvPr/>
              </p:nvSpPr>
              <p:spPr>
                <a:xfrm>
                  <a:off x="4543425" y="2439987"/>
                  <a:ext cx="9525" cy="20637"/>
                </a:xfrm>
                <a:custGeom>
                  <a:avLst/>
                  <a:gdLst/>
                  <a:ahLst/>
                  <a:cxnLst/>
                  <a:rect l="l" t="t" r="r" b="b"/>
                  <a:pathLst>
                    <a:path w="9525" h="20637">
                      <a:moveTo>
                        <a:pt x="0" y="0"/>
                      </a:moveTo>
                      <a:lnTo>
                        <a:pt x="0" y="20637"/>
                      </a:lnTo>
                    </a:path>
                  </a:pathLst>
                </a:custGeom>
                <a:noFill/>
                <a:ln w="15478">
                  <a:solidFill>
                    <a:srgbClr val="841600"/>
                  </a:solidFill>
                </a:ln>
              </p:spPr>
            </p:sp>
            <p:sp>
              <p:nvSpPr>
                <p:cNvPr id="101" name="Freeform 101"/>
                <p:cNvSpPr/>
                <p:nvPr/>
              </p:nvSpPr>
              <p:spPr>
                <a:xfrm>
                  <a:off x="4512468" y="2543175"/>
                  <a:ext cx="9525" cy="92868"/>
                </a:xfrm>
                <a:custGeom>
                  <a:avLst/>
                  <a:gdLst/>
                  <a:ahLst/>
                  <a:cxnLst/>
                  <a:rect l="l" t="t" r="r" b="b"/>
                  <a:pathLst>
                    <a:path w="9525" h="92868">
                      <a:moveTo>
                        <a:pt x="0" y="0"/>
                      </a:moveTo>
                      <a:lnTo>
                        <a:pt x="0" y="92868"/>
                      </a:lnTo>
                    </a:path>
                  </a:pathLst>
                </a:custGeom>
                <a:noFill/>
                <a:ln w="15478">
                  <a:solidFill>
                    <a:srgbClr val="841600"/>
                  </a:solidFill>
                </a:ln>
              </p:spPr>
            </p:sp>
            <p:sp>
              <p:nvSpPr>
                <p:cNvPr id="102" name="Freeform 102"/>
                <p:cNvSpPr/>
                <p:nvPr/>
              </p:nvSpPr>
              <p:spPr>
                <a:xfrm>
                  <a:off x="4574381" y="2543175"/>
                  <a:ext cx="9525" cy="92868"/>
                </a:xfrm>
                <a:custGeom>
                  <a:avLst/>
                  <a:gdLst/>
                  <a:ahLst/>
                  <a:cxnLst/>
                  <a:rect l="l" t="t" r="r" b="b"/>
                  <a:pathLst>
                    <a:path w="9525" h="92868">
                      <a:moveTo>
                        <a:pt x="0" y="0"/>
                      </a:moveTo>
                      <a:lnTo>
                        <a:pt x="0" y="92868"/>
                      </a:lnTo>
                    </a:path>
                  </a:pathLst>
                </a:custGeom>
                <a:noFill/>
                <a:ln w="15478">
                  <a:solidFill>
                    <a:srgbClr val="841600"/>
                  </a:solidFill>
                </a:ln>
              </p:spPr>
            </p:sp>
            <p:sp>
              <p:nvSpPr>
                <p:cNvPr id="103" name="Freeform 103"/>
                <p:cNvSpPr/>
                <p:nvPr/>
              </p:nvSpPr>
              <p:spPr>
                <a:xfrm>
                  <a:off x="4471194" y="2563812"/>
                  <a:ext cx="41275" cy="20637"/>
                </a:xfrm>
                <a:custGeom>
                  <a:avLst/>
                  <a:gdLst/>
                  <a:ahLst/>
                  <a:cxnLst/>
                  <a:rect l="l" t="t" r="r" b="b"/>
                  <a:pathLst>
                    <a:path w="41275" h="20637">
                      <a:moveTo>
                        <a:pt x="0" y="20637"/>
                      </a:moveTo>
                      <a:lnTo>
                        <a:pt x="41275" y="0"/>
                      </a:lnTo>
                    </a:path>
                  </a:pathLst>
                </a:custGeom>
                <a:noFill/>
                <a:ln w="15478">
                  <a:solidFill>
                    <a:srgbClr val="841600"/>
                  </a:solidFill>
                </a:ln>
              </p:spPr>
            </p:sp>
            <p:sp>
              <p:nvSpPr>
                <p:cNvPr id="104" name="Freeform 104"/>
                <p:cNvSpPr/>
                <p:nvPr/>
              </p:nvSpPr>
              <p:spPr>
                <a:xfrm>
                  <a:off x="4574381" y="2563812"/>
                  <a:ext cx="41275" cy="20637"/>
                </a:xfrm>
                <a:custGeom>
                  <a:avLst/>
                  <a:gdLst/>
                  <a:ahLst/>
                  <a:cxnLst/>
                  <a:rect l="l" t="t" r="r" b="b"/>
                  <a:pathLst>
                    <a:path w="41275" h="20637">
                      <a:moveTo>
                        <a:pt x="0" y="0"/>
                      </a:moveTo>
                      <a:lnTo>
                        <a:pt x="41275" y="20637"/>
                      </a:lnTo>
                    </a:path>
                  </a:pathLst>
                </a:custGeom>
                <a:noFill/>
                <a:ln w="15478">
                  <a:solidFill>
                    <a:srgbClr val="841600"/>
                  </a:solidFill>
                </a:ln>
              </p:spPr>
            </p:sp>
            <p:sp>
              <p:nvSpPr>
                <p:cNvPr id="105" name="Freeform 105"/>
                <p:cNvSpPr/>
                <p:nvPr/>
              </p:nvSpPr>
              <p:spPr>
                <a:xfrm>
                  <a:off x="4512468" y="2605087"/>
                  <a:ext cx="61912" cy="9525"/>
                </a:xfrm>
                <a:custGeom>
                  <a:avLst/>
                  <a:gdLst/>
                  <a:ahLst/>
                  <a:cxnLst/>
                  <a:rect l="l" t="t" r="r" b="b"/>
                  <a:pathLst>
                    <a:path w="61912" h="9525">
                      <a:moveTo>
                        <a:pt x="0" y="0"/>
                      </a:moveTo>
                      <a:lnTo>
                        <a:pt x="61912" y="0"/>
                      </a:lnTo>
                    </a:path>
                  </a:pathLst>
                </a:custGeom>
                <a:noFill/>
                <a:ln w="15478">
                  <a:solidFill>
                    <a:srgbClr val="841600"/>
                  </a:solidFill>
                </a:ln>
              </p:spPr>
            </p:sp>
            <p:sp>
              <p:nvSpPr>
                <p:cNvPr id="106" name="Freeform 106"/>
                <p:cNvSpPr/>
                <p:nvPr/>
              </p:nvSpPr>
              <p:spPr>
                <a:xfrm>
                  <a:off x="4522787" y="2501900"/>
                  <a:ext cx="9525" cy="9525"/>
                </a:xfrm>
                <a:custGeom>
                  <a:avLst/>
                  <a:gdLst/>
                  <a:ahLst/>
                  <a:cxnLst/>
                  <a:rect l="l" t="t" r="r" b="b"/>
                  <a:pathLst>
                    <a:path w="9525" h="9525">
                      <a:moveTo>
                        <a:pt x="0" y="0"/>
                      </a:moveTo>
                      <a:lnTo>
                        <a:pt x="0" y="103"/>
                      </a:lnTo>
                    </a:path>
                  </a:pathLst>
                </a:custGeom>
                <a:noFill/>
                <a:ln w="15478">
                  <a:solidFill>
                    <a:srgbClr val="841600"/>
                  </a:solidFill>
                </a:ln>
              </p:spPr>
            </p:sp>
            <p:sp>
              <p:nvSpPr>
                <p:cNvPr id="107" name="Freeform 107"/>
                <p:cNvSpPr/>
                <p:nvPr/>
              </p:nvSpPr>
              <p:spPr>
                <a:xfrm>
                  <a:off x="4564062" y="2501900"/>
                  <a:ext cx="9525" cy="9525"/>
                </a:xfrm>
                <a:custGeom>
                  <a:avLst/>
                  <a:gdLst/>
                  <a:ahLst/>
                  <a:cxnLst/>
                  <a:rect l="l" t="t" r="r" b="b"/>
                  <a:pathLst>
                    <a:path w="9525" h="9525">
                      <a:moveTo>
                        <a:pt x="0" y="0"/>
                      </a:moveTo>
                      <a:lnTo>
                        <a:pt x="0" y="103"/>
                      </a:lnTo>
                    </a:path>
                  </a:pathLst>
                </a:custGeom>
                <a:noFill/>
                <a:ln w="15478">
                  <a:solidFill>
                    <a:srgbClr val="841600"/>
                  </a:solidFill>
                </a:ln>
              </p:spPr>
            </p:sp>
          </p:grpSp>
          <p:sp>
            <p:nvSpPr>
              <p:cNvPr id="109" name="TextBox 109"/>
              <p:cNvSpPr txBox="1"/>
              <p:nvPr/>
            </p:nvSpPr>
            <p:spPr>
              <a:xfrm>
                <a:off x="4296346" y="2760345"/>
                <a:ext cx="494157" cy="176212"/>
              </a:xfrm>
              <a:prstGeom prst="rect">
                <a:avLst/>
              </a:prstGeom>
              <a:noFill/>
              <a:ln>
                <a:noFill/>
              </a:ln>
            </p:spPr>
            <p:txBody>
              <a:bodyPr wrap="none" lIns="0" tIns="0" rIns="0" bIns="0" anchor="t" anchorCtr="0">
                <a:spAutoFit/>
              </a:bodyPr>
              <a:lstStyle/>
              <a:p>
                <a:pPr algn="ctr"/>
                <a:r>
                  <a:rPr lang="zh-CN" sz="900" b="1" dirty="0">
                    <a:solidFill>
                      <a:srgbClr val="841600"/>
                    </a:solidFill>
                    <a:latin typeface="+mn-lt"/>
                    <a:ea typeface="+mn-ea"/>
                    <a:cs typeface="+mn-cs"/>
                  </a:rPr>
                  <a:t>设备更新</a:t>
                </a:r>
              </a:p>
            </p:txBody>
          </p:sp>
        </p:grpSp>
      </p:grpSp>
      <p:grpSp>
        <p:nvGrpSpPr>
          <p:cNvPr id="194" name="project-metrics"/>
          <p:cNvGrpSpPr/>
          <p:nvPr/>
        </p:nvGrpSpPr>
        <p:grpSpPr>
          <a:xfrm>
            <a:off x="7486650" y="704850"/>
            <a:ext cx="4438650" cy="4495800"/>
            <a:chOff x="7486650" y="704850"/>
            <a:chExt cx="4438650" cy="4495800"/>
          </a:xfrm>
        </p:grpSpPr>
        <p:sp>
          <p:nvSpPr>
            <p:cNvPr id="112" name="Freeform 112"/>
            <p:cNvSpPr/>
            <p:nvPr/>
          </p:nvSpPr>
          <p:spPr>
            <a:xfrm>
              <a:off x="7486650" y="2781300"/>
              <a:ext cx="266700" cy="323850"/>
            </a:xfrm>
            <a:prstGeom prst="rightArrow">
              <a:avLst>
                <a:gd name="adj1" fmla="val 45000"/>
                <a:gd name="adj2" fmla="val 55000"/>
              </a:avLst>
            </a:prstGeom>
            <a:solidFill>
              <a:srgbClr val="C9482E"/>
            </a:solidFill>
            <a:ln>
              <a:noFill/>
            </a:ln>
          </p:spPr>
        </p:sp>
        <p:sp>
          <p:nvSpPr>
            <p:cNvPr id="113" name="Rectangle 113"/>
            <p:cNvSpPr/>
            <p:nvPr/>
          </p:nvSpPr>
          <p:spPr>
            <a:xfrm>
              <a:off x="7772400" y="704850"/>
              <a:ext cx="4152900" cy="4495800"/>
            </a:xfrm>
            <a:prstGeom prst="roundRect">
              <a:avLst>
                <a:gd name="adj" fmla="val 2294"/>
              </a:avLst>
            </a:prstGeom>
            <a:solidFill>
              <a:srgbClr val="FFFFFF"/>
            </a:solidFill>
            <a:ln w="9525">
              <a:solidFill>
                <a:srgbClr val="D7E2F2"/>
              </a:solidFill>
            </a:ln>
          </p:spPr>
        </p:sp>
        <p:sp>
          <p:nvSpPr>
            <p:cNvPr id="114" name="Rectangle 114"/>
            <p:cNvSpPr/>
            <p:nvPr/>
          </p:nvSpPr>
          <p:spPr>
            <a:xfrm>
              <a:off x="7772400" y="704850"/>
              <a:ext cx="4152900" cy="400050"/>
            </a:xfrm>
            <a:prstGeom prst="roundRect">
              <a:avLst>
                <a:gd name="adj" fmla="val 23810"/>
              </a:avLst>
            </a:prstGeom>
            <a:solidFill>
              <a:srgbClr val="841600"/>
            </a:solidFill>
            <a:ln>
              <a:noFill/>
            </a:ln>
          </p:spPr>
        </p:sp>
        <p:sp>
          <p:nvSpPr>
            <p:cNvPr id="115" name="Rectangle 115"/>
            <p:cNvSpPr/>
            <p:nvPr/>
          </p:nvSpPr>
          <p:spPr>
            <a:xfrm>
              <a:off x="7772400" y="933450"/>
              <a:ext cx="4152900" cy="171450"/>
            </a:xfrm>
            <a:prstGeom prst="rect">
              <a:avLst/>
            </a:prstGeom>
            <a:solidFill>
              <a:srgbClr val="841600"/>
            </a:solidFill>
            <a:ln>
              <a:noFill/>
            </a:ln>
          </p:spPr>
        </p:sp>
        <p:sp>
          <p:nvSpPr>
            <p:cNvPr id="116" name="TextBox 116"/>
            <p:cNvSpPr txBox="1"/>
            <p:nvPr/>
          </p:nvSpPr>
          <p:spPr>
            <a:xfrm>
              <a:off x="9239275" y="843439"/>
              <a:ext cx="1219149"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项目清单与指标</a:t>
              </a:r>
            </a:p>
          </p:txBody>
        </p:sp>
        <p:sp>
          <p:nvSpPr>
            <p:cNvPr id="117" name="Rectangle 117"/>
            <p:cNvSpPr/>
            <p:nvPr/>
          </p:nvSpPr>
          <p:spPr>
            <a:xfrm>
              <a:off x="7905750" y="1219200"/>
              <a:ext cx="3886200" cy="819150"/>
            </a:xfrm>
            <a:prstGeom prst="roundRect">
              <a:avLst>
                <a:gd name="adj" fmla="val 9302"/>
              </a:avLst>
            </a:prstGeom>
            <a:solidFill>
              <a:srgbClr val="EFF5FD"/>
            </a:solidFill>
            <a:ln>
              <a:noFill/>
            </a:ln>
          </p:spPr>
        </p:sp>
        <p:sp>
          <p:nvSpPr>
            <p:cNvPr id="118" name="TextBox 118"/>
            <p:cNvSpPr txBox="1"/>
            <p:nvPr/>
          </p:nvSpPr>
          <p:spPr>
            <a:xfrm>
              <a:off x="9066086" y="1353502"/>
              <a:ext cx="1565529" cy="205359"/>
            </a:xfrm>
            <a:prstGeom prst="rect">
              <a:avLst/>
            </a:prstGeom>
            <a:noFill/>
            <a:ln>
              <a:noFill/>
            </a:ln>
          </p:spPr>
          <p:txBody>
            <a:bodyPr wrap="none" lIns="0" tIns="0" rIns="0" bIns="0" anchor="t" anchorCtr="0">
              <a:spAutoFit/>
            </a:bodyPr>
            <a:lstStyle/>
            <a:p>
              <a:pPr algn="ctr"/>
              <a:r>
                <a:rPr lang="zh-CN" sz="1050" b="1" dirty="0">
                  <a:solidFill>
                    <a:srgbClr val="1A1A1A"/>
                  </a:solidFill>
                  <a:latin typeface="+mn-lt"/>
                  <a:ea typeface="+mn-ea"/>
                  <a:cs typeface="+mn-cs"/>
                </a:rPr>
                <a:t>一户一策｜一项目一方案</a:t>
              </a:r>
            </a:p>
          </p:txBody>
        </p:sp>
        <p:sp>
          <p:nvSpPr>
            <p:cNvPr id="119" name="Rectangle 119"/>
            <p:cNvSpPr/>
            <p:nvPr/>
          </p:nvSpPr>
          <p:spPr>
            <a:xfrm>
              <a:off x="7981950" y="1600200"/>
              <a:ext cx="704850" cy="323850"/>
            </a:xfrm>
            <a:prstGeom prst="roundRect">
              <a:avLst>
                <a:gd name="adj" fmla="val 17647"/>
              </a:avLst>
            </a:prstGeom>
            <a:solidFill>
              <a:srgbClr val="FFFFFF"/>
            </a:solidFill>
            <a:ln w="9525">
              <a:solidFill>
                <a:srgbClr val="D7E2F2"/>
              </a:solidFill>
            </a:ln>
          </p:spPr>
        </p:sp>
        <p:grpSp>
          <p:nvGrpSpPr>
            <p:cNvPr id="124" name="Group 124"/>
            <p:cNvGrpSpPr/>
            <p:nvPr/>
          </p:nvGrpSpPr>
          <p:grpSpPr>
            <a:xfrm>
              <a:off x="8077200" y="1717675"/>
              <a:ext cx="114300" cy="88900"/>
              <a:chOff x="8077200" y="1717675"/>
              <a:chExt cx="114300" cy="88900"/>
            </a:xfrm>
          </p:grpSpPr>
          <p:sp>
            <p:nvSpPr>
              <p:cNvPr id="120" name="Freeform 120"/>
              <p:cNvSpPr/>
              <p:nvPr/>
            </p:nvSpPr>
            <p:spPr>
              <a:xfrm>
                <a:off x="8077200" y="1717675"/>
                <a:ext cx="114300" cy="88900"/>
              </a:xfrm>
              <a:custGeom>
                <a:avLst/>
                <a:gdLst/>
                <a:ahLst/>
                <a:cxnLst/>
                <a:rect l="l" t="t" r="r" b="b"/>
                <a:pathLst>
                  <a:path w="114300" h="88900">
                    <a:moveTo>
                      <a:pt x="0" y="19050"/>
                    </a:moveTo>
                    <a:cubicBezTo>
                      <a:pt x="0" y="8529"/>
                      <a:pt x="8529" y="0"/>
                      <a:pt x="19050" y="0"/>
                    </a:cubicBezTo>
                    <a:lnTo>
                      <a:pt x="95250" y="0"/>
                    </a:lnTo>
                    <a:cubicBezTo>
                      <a:pt x="105771" y="0"/>
                      <a:pt x="114300" y="8529"/>
                      <a:pt x="114300" y="19050"/>
                    </a:cubicBezTo>
                    <a:lnTo>
                      <a:pt x="114300" y="69850"/>
                    </a:lnTo>
                    <a:cubicBezTo>
                      <a:pt x="114300" y="80371"/>
                      <a:pt x="105771" y="88900"/>
                      <a:pt x="95250" y="88900"/>
                    </a:cubicBezTo>
                    <a:lnTo>
                      <a:pt x="19050" y="88900"/>
                    </a:lnTo>
                    <a:cubicBezTo>
                      <a:pt x="8529" y="88900"/>
                      <a:pt x="0" y="80371"/>
                      <a:pt x="0" y="69850"/>
                    </a:cubicBezTo>
                    <a:lnTo>
                      <a:pt x="0" y="19050"/>
                    </a:lnTo>
                  </a:path>
                </a:pathLst>
              </a:custGeom>
              <a:noFill/>
              <a:ln w="12700">
                <a:solidFill>
                  <a:srgbClr val="841600"/>
                </a:solidFill>
              </a:ln>
            </p:spPr>
          </p:sp>
          <p:sp>
            <p:nvSpPr>
              <p:cNvPr id="121" name="Freeform 121"/>
              <p:cNvSpPr/>
              <p:nvPr/>
            </p:nvSpPr>
            <p:spPr>
              <a:xfrm>
                <a:off x="8077200" y="1749425"/>
                <a:ext cx="114300" cy="9525"/>
              </a:xfrm>
              <a:custGeom>
                <a:avLst/>
                <a:gdLst/>
                <a:ahLst/>
                <a:cxnLst/>
                <a:rect l="l" t="t" r="r" b="b"/>
                <a:pathLst>
                  <a:path w="114300" h="9525">
                    <a:moveTo>
                      <a:pt x="0" y="0"/>
                    </a:moveTo>
                    <a:lnTo>
                      <a:pt x="114300" y="0"/>
                    </a:lnTo>
                  </a:path>
                </a:pathLst>
              </a:custGeom>
              <a:noFill/>
              <a:ln w="12700">
                <a:solidFill>
                  <a:srgbClr val="841600"/>
                </a:solidFill>
              </a:ln>
            </p:spPr>
          </p:sp>
          <p:sp>
            <p:nvSpPr>
              <p:cNvPr id="122" name="Freeform 122"/>
              <p:cNvSpPr/>
              <p:nvPr/>
            </p:nvSpPr>
            <p:spPr>
              <a:xfrm>
                <a:off x="8102600" y="1781175"/>
                <a:ext cx="9525" cy="9525"/>
              </a:xfrm>
              <a:custGeom>
                <a:avLst/>
                <a:gdLst/>
                <a:ahLst/>
                <a:cxnLst/>
                <a:rect l="l" t="t" r="r" b="b"/>
                <a:pathLst>
                  <a:path w="9525" h="9525">
                    <a:moveTo>
                      <a:pt x="0" y="0"/>
                    </a:moveTo>
                    <a:lnTo>
                      <a:pt x="64" y="0"/>
                    </a:lnTo>
                  </a:path>
                </a:pathLst>
              </a:custGeom>
              <a:noFill/>
              <a:ln w="12700">
                <a:solidFill>
                  <a:srgbClr val="841600"/>
                </a:solidFill>
              </a:ln>
            </p:spPr>
          </p:sp>
          <p:sp>
            <p:nvSpPr>
              <p:cNvPr id="123" name="Freeform 123"/>
              <p:cNvSpPr/>
              <p:nvPr/>
            </p:nvSpPr>
            <p:spPr>
              <a:xfrm>
                <a:off x="8128000" y="1781175"/>
                <a:ext cx="12700" cy="9525"/>
              </a:xfrm>
              <a:custGeom>
                <a:avLst/>
                <a:gdLst/>
                <a:ahLst/>
                <a:cxnLst/>
                <a:rect l="l" t="t" r="r" b="b"/>
                <a:pathLst>
                  <a:path w="12700" h="9525">
                    <a:moveTo>
                      <a:pt x="0" y="0"/>
                    </a:moveTo>
                    <a:lnTo>
                      <a:pt x="12700" y="0"/>
                    </a:lnTo>
                  </a:path>
                </a:pathLst>
              </a:custGeom>
              <a:noFill/>
              <a:ln w="12700">
                <a:solidFill>
                  <a:srgbClr val="841600"/>
                </a:solidFill>
              </a:ln>
            </p:spPr>
          </p:sp>
        </p:grpSp>
        <p:sp>
          <p:nvSpPr>
            <p:cNvPr id="125" name="TextBox 125"/>
            <p:cNvSpPr txBox="1"/>
            <p:nvPr/>
          </p:nvSpPr>
          <p:spPr>
            <a:xfrm>
              <a:off x="8243888" y="1716643"/>
              <a:ext cx="241071" cy="169069"/>
            </a:xfrm>
            <a:prstGeom prst="rect">
              <a:avLst/>
            </a:prstGeom>
            <a:noFill/>
            <a:ln>
              <a:noFill/>
            </a:ln>
          </p:spPr>
          <p:txBody>
            <a:bodyPr wrap="none" lIns="0" tIns="0" rIns="0" bIns="0" anchor="t" anchorCtr="0">
              <a:spAutoFit/>
            </a:bodyPr>
            <a:lstStyle/>
            <a:p>
              <a:pPr algn="l"/>
              <a:r>
                <a:rPr lang="zh-CN" sz="860" dirty="0">
                  <a:solidFill>
                    <a:srgbClr val="841600"/>
                  </a:solidFill>
                  <a:latin typeface="+mn-lt"/>
                  <a:ea typeface="+mn-ea"/>
                  <a:cs typeface="+mn-cs"/>
                </a:rPr>
                <a:t>结算</a:t>
              </a:r>
            </a:p>
          </p:txBody>
        </p:sp>
        <p:sp>
          <p:nvSpPr>
            <p:cNvPr id="126" name="Rectangle 126"/>
            <p:cNvSpPr/>
            <p:nvPr/>
          </p:nvSpPr>
          <p:spPr>
            <a:xfrm>
              <a:off x="8763000" y="1600200"/>
              <a:ext cx="704850" cy="323850"/>
            </a:xfrm>
            <a:prstGeom prst="roundRect">
              <a:avLst>
                <a:gd name="adj" fmla="val 17647"/>
              </a:avLst>
            </a:prstGeom>
            <a:solidFill>
              <a:srgbClr val="FFFFFF"/>
            </a:solidFill>
            <a:ln w="9525">
              <a:solidFill>
                <a:srgbClr val="D7E2F2"/>
              </a:solidFill>
            </a:ln>
          </p:spPr>
        </p:sp>
        <p:grpSp>
          <p:nvGrpSpPr>
            <p:cNvPr id="131" name="Group 131"/>
            <p:cNvGrpSpPr/>
            <p:nvPr/>
          </p:nvGrpSpPr>
          <p:grpSpPr>
            <a:xfrm>
              <a:off x="8858250" y="1704975"/>
              <a:ext cx="114300" cy="114301"/>
              <a:chOff x="8858250" y="1704975"/>
              <a:chExt cx="114300" cy="114301"/>
            </a:xfrm>
          </p:grpSpPr>
          <p:sp>
            <p:nvSpPr>
              <p:cNvPr id="127" name="Freeform 127"/>
              <p:cNvSpPr/>
              <p:nvPr/>
            </p:nvSpPr>
            <p:spPr>
              <a:xfrm>
                <a:off x="8870950" y="17049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841600"/>
                </a:solidFill>
              </a:ln>
            </p:spPr>
          </p:sp>
          <p:sp>
            <p:nvSpPr>
              <p:cNvPr id="128" name="Freeform 128"/>
              <p:cNvSpPr/>
              <p:nvPr/>
            </p:nvSpPr>
            <p:spPr>
              <a:xfrm>
                <a:off x="8858250" y="178117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841600"/>
                </a:solidFill>
              </a:ln>
            </p:spPr>
          </p:sp>
          <p:sp>
            <p:nvSpPr>
              <p:cNvPr id="129" name="Freeform 129"/>
              <p:cNvSpPr/>
              <p:nvPr/>
            </p:nvSpPr>
            <p:spPr>
              <a:xfrm>
                <a:off x="8940800" y="1705801"/>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841600"/>
                </a:solidFill>
              </a:ln>
            </p:spPr>
          </p:sp>
          <p:sp>
            <p:nvSpPr>
              <p:cNvPr id="130" name="Freeform 130"/>
              <p:cNvSpPr/>
              <p:nvPr/>
            </p:nvSpPr>
            <p:spPr>
              <a:xfrm>
                <a:off x="8953500" y="1782128"/>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841600"/>
                </a:solidFill>
              </a:ln>
            </p:spPr>
          </p:sp>
        </p:grpSp>
        <p:sp>
          <p:nvSpPr>
            <p:cNvPr id="132" name="TextBox 132"/>
            <p:cNvSpPr txBox="1"/>
            <p:nvPr/>
          </p:nvSpPr>
          <p:spPr>
            <a:xfrm>
              <a:off x="9024938" y="1716643"/>
              <a:ext cx="241071" cy="169069"/>
            </a:xfrm>
            <a:prstGeom prst="rect">
              <a:avLst/>
            </a:prstGeom>
            <a:noFill/>
            <a:ln>
              <a:noFill/>
            </a:ln>
          </p:spPr>
          <p:txBody>
            <a:bodyPr wrap="none" lIns="0" tIns="0" rIns="0" bIns="0" anchor="t" anchorCtr="0">
              <a:spAutoFit/>
            </a:bodyPr>
            <a:lstStyle/>
            <a:p>
              <a:pPr algn="l"/>
              <a:r>
                <a:rPr lang="zh-CN" sz="860" dirty="0">
                  <a:solidFill>
                    <a:srgbClr val="841600"/>
                  </a:solidFill>
                  <a:latin typeface="+mn-lt"/>
                  <a:ea typeface="+mn-ea"/>
                  <a:cs typeface="+mn-cs"/>
                </a:rPr>
                <a:t>代发</a:t>
              </a:r>
            </a:p>
          </p:txBody>
        </p:sp>
        <p:sp>
          <p:nvSpPr>
            <p:cNvPr id="133" name="Rectangle 133"/>
            <p:cNvSpPr/>
            <p:nvPr/>
          </p:nvSpPr>
          <p:spPr>
            <a:xfrm>
              <a:off x="9544050" y="1600200"/>
              <a:ext cx="990600" cy="323850"/>
            </a:xfrm>
            <a:prstGeom prst="roundRect">
              <a:avLst>
                <a:gd name="adj" fmla="val 17647"/>
              </a:avLst>
            </a:prstGeom>
            <a:solidFill>
              <a:srgbClr val="FFFFFF"/>
            </a:solidFill>
            <a:ln w="9525">
              <a:solidFill>
                <a:srgbClr val="D7E2F2"/>
              </a:solidFill>
            </a:ln>
          </p:spPr>
        </p:sp>
        <p:grpSp>
          <p:nvGrpSpPr>
            <p:cNvPr id="138" name="Group 138"/>
            <p:cNvGrpSpPr/>
            <p:nvPr/>
          </p:nvGrpSpPr>
          <p:grpSpPr>
            <a:xfrm>
              <a:off x="9639300" y="1711325"/>
              <a:ext cx="114300" cy="111125"/>
              <a:chOff x="9639300" y="1711325"/>
              <a:chExt cx="114300" cy="111125"/>
            </a:xfrm>
          </p:grpSpPr>
          <p:sp>
            <p:nvSpPr>
              <p:cNvPr id="134" name="Freeform 134"/>
              <p:cNvSpPr/>
              <p:nvPr/>
            </p:nvSpPr>
            <p:spPr>
              <a:xfrm>
                <a:off x="9639300" y="1762125"/>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841600"/>
                </a:solidFill>
              </a:ln>
            </p:spPr>
          </p:sp>
          <p:sp>
            <p:nvSpPr>
              <p:cNvPr id="135" name="Freeform 135"/>
              <p:cNvSpPr/>
              <p:nvPr/>
            </p:nvSpPr>
            <p:spPr>
              <a:xfrm>
                <a:off x="9715500" y="1736725"/>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841600"/>
                </a:solidFill>
              </a:ln>
            </p:spPr>
          </p:sp>
          <p:sp>
            <p:nvSpPr>
              <p:cNvPr id="136" name="Freeform 136"/>
              <p:cNvSpPr/>
              <p:nvPr/>
            </p:nvSpPr>
            <p:spPr>
              <a:xfrm>
                <a:off x="9677400" y="1711325"/>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841600"/>
                </a:solidFill>
              </a:ln>
            </p:spPr>
          </p:sp>
          <p:sp>
            <p:nvSpPr>
              <p:cNvPr id="137" name="Freeform 137"/>
              <p:cNvSpPr/>
              <p:nvPr/>
            </p:nvSpPr>
            <p:spPr>
              <a:xfrm>
                <a:off x="9645650" y="1812925"/>
                <a:ext cx="88900" cy="9525"/>
              </a:xfrm>
              <a:custGeom>
                <a:avLst/>
                <a:gdLst/>
                <a:ahLst/>
                <a:cxnLst/>
                <a:rect l="l" t="t" r="r" b="b"/>
                <a:pathLst>
                  <a:path w="88900" h="9525">
                    <a:moveTo>
                      <a:pt x="0" y="0"/>
                    </a:moveTo>
                    <a:lnTo>
                      <a:pt x="88900" y="0"/>
                    </a:lnTo>
                  </a:path>
                </a:pathLst>
              </a:custGeom>
              <a:noFill/>
              <a:ln w="12700">
                <a:solidFill>
                  <a:srgbClr val="841600"/>
                </a:solidFill>
              </a:ln>
            </p:spPr>
          </p:sp>
        </p:grpSp>
        <p:sp>
          <p:nvSpPr>
            <p:cNvPr id="139" name="TextBox 139"/>
            <p:cNvSpPr txBox="1"/>
            <p:nvPr/>
          </p:nvSpPr>
          <p:spPr>
            <a:xfrm>
              <a:off x="9805988" y="1716643"/>
              <a:ext cx="472618" cy="169069"/>
            </a:xfrm>
            <a:prstGeom prst="rect">
              <a:avLst/>
            </a:prstGeom>
            <a:noFill/>
            <a:ln>
              <a:noFill/>
            </a:ln>
          </p:spPr>
          <p:txBody>
            <a:bodyPr wrap="none" lIns="0" tIns="0" rIns="0" bIns="0" anchor="t" anchorCtr="0">
              <a:spAutoFit/>
            </a:bodyPr>
            <a:lstStyle/>
            <a:p>
              <a:pPr algn="l"/>
              <a:r>
                <a:rPr lang="zh-CN" sz="860" dirty="0">
                  <a:solidFill>
                    <a:srgbClr val="841600"/>
                  </a:solidFill>
                  <a:latin typeface="+mn-lt"/>
                  <a:ea typeface="+mn-ea"/>
                  <a:cs typeface="+mn-cs"/>
                </a:rPr>
                <a:t>现金管理</a:t>
              </a:r>
            </a:p>
          </p:txBody>
        </p:sp>
        <p:sp>
          <p:nvSpPr>
            <p:cNvPr id="140" name="Rectangle 140"/>
            <p:cNvSpPr/>
            <p:nvPr/>
          </p:nvSpPr>
          <p:spPr>
            <a:xfrm>
              <a:off x="10610850" y="1600200"/>
              <a:ext cx="1104900" cy="323850"/>
            </a:xfrm>
            <a:prstGeom prst="roundRect">
              <a:avLst>
                <a:gd name="adj" fmla="val 17647"/>
              </a:avLst>
            </a:prstGeom>
            <a:solidFill>
              <a:srgbClr val="FFFFFF"/>
            </a:solidFill>
            <a:ln w="9525">
              <a:solidFill>
                <a:srgbClr val="D7E2F2"/>
              </a:solidFill>
            </a:ln>
          </p:spPr>
        </p:sp>
        <p:grpSp>
          <p:nvGrpSpPr>
            <p:cNvPr id="144" name="Group 144"/>
            <p:cNvGrpSpPr/>
            <p:nvPr/>
          </p:nvGrpSpPr>
          <p:grpSpPr>
            <a:xfrm>
              <a:off x="10712449" y="1708222"/>
              <a:ext cx="104694" cy="107792"/>
              <a:chOff x="10712449" y="1708222"/>
              <a:chExt cx="104694" cy="107792"/>
            </a:xfrm>
          </p:grpSpPr>
          <p:sp>
            <p:nvSpPr>
              <p:cNvPr id="141" name="Freeform 141"/>
              <p:cNvSpPr/>
              <p:nvPr/>
            </p:nvSpPr>
            <p:spPr>
              <a:xfrm>
                <a:off x="10744200" y="1743075"/>
                <a:ext cx="38100" cy="38100"/>
              </a:xfrm>
              <a:custGeom>
                <a:avLst/>
                <a:gdLst/>
                <a:ahLst/>
                <a:cxnLst/>
                <a:rect l="l" t="t" r="r" b="b"/>
                <a:pathLst>
                  <a:path w="38100" h="38100">
                    <a:moveTo>
                      <a:pt x="0" y="38100"/>
                    </a:moveTo>
                    <a:lnTo>
                      <a:pt x="38100" y="0"/>
                    </a:lnTo>
                  </a:path>
                </a:pathLst>
              </a:custGeom>
              <a:noFill/>
              <a:ln w="12700">
                <a:solidFill>
                  <a:srgbClr val="841600"/>
                </a:solidFill>
              </a:ln>
            </p:spPr>
          </p:sp>
          <p:sp>
            <p:nvSpPr>
              <p:cNvPr id="142" name="Freeform 142"/>
              <p:cNvSpPr/>
              <p:nvPr/>
            </p:nvSpPr>
            <p:spPr>
              <a:xfrm>
                <a:off x="10756900" y="1708222"/>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841600"/>
                </a:solidFill>
              </a:ln>
            </p:spPr>
          </p:sp>
          <p:sp>
            <p:nvSpPr>
              <p:cNvPr id="143" name="Freeform 143"/>
              <p:cNvSpPr/>
              <p:nvPr/>
            </p:nvSpPr>
            <p:spPr>
              <a:xfrm>
                <a:off x="10712449" y="1755775"/>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841600"/>
                </a:solidFill>
              </a:ln>
            </p:spPr>
          </p:sp>
        </p:grpSp>
        <p:sp>
          <p:nvSpPr>
            <p:cNvPr id="145" name="TextBox 145"/>
            <p:cNvSpPr txBox="1"/>
            <p:nvPr/>
          </p:nvSpPr>
          <p:spPr>
            <a:xfrm>
              <a:off x="10872788" y="1716643"/>
              <a:ext cx="588391" cy="169069"/>
            </a:xfrm>
            <a:prstGeom prst="rect">
              <a:avLst/>
            </a:prstGeom>
            <a:noFill/>
            <a:ln>
              <a:noFill/>
            </a:ln>
          </p:spPr>
          <p:txBody>
            <a:bodyPr wrap="none" lIns="0" tIns="0" rIns="0" bIns="0" anchor="t" anchorCtr="0">
              <a:spAutoFit/>
            </a:bodyPr>
            <a:lstStyle/>
            <a:p>
              <a:pPr algn="l"/>
              <a:r>
                <a:rPr lang="zh-CN" sz="860" dirty="0">
                  <a:solidFill>
                    <a:srgbClr val="841600"/>
                  </a:solidFill>
                  <a:latin typeface="+mn-lt"/>
                  <a:ea typeface="+mn-ea"/>
                  <a:cs typeface="+mn-cs"/>
                </a:rPr>
                <a:t>供应链协同</a:t>
              </a:r>
            </a:p>
          </p:txBody>
        </p:sp>
        <p:sp>
          <p:nvSpPr>
            <p:cNvPr id="146" name="Line 146"/>
            <p:cNvSpPr/>
            <p:nvPr/>
          </p:nvSpPr>
          <p:spPr>
            <a:xfrm>
              <a:off x="7905750" y="2762250"/>
              <a:ext cx="3886200" cy="9525"/>
            </a:xfrm>
            <a:custGeom>
              <a:avLst/>
              <a:gdLst/>
              <a:ahLst/>
              <a:cxnLst/>
              <a:rect l="l" t="t" r="r" b="b"/>
              <a:pathLst>
                <a:path w="3886200" h="9525">
                  <a:moveTo>
                    <a:pt x="0" y="0"/>
                  </a:moveTo>
                  <a:lnTo>
                    <a:pt x="3886200" y="0"/>
                  </a:lnTo>
                </a:path>
              </a:pathLst>
            </a:custGeom>
            <a:noFill/>
            <a:ln w="9525">
              <a:solidFill>
                <a:srgbClr val="E5ECF6"/>
              </a:solidFill>
            </a:ln>
          </p:spPr>
        </p:sp>
        <p:sp>
          <p:nvSpPr>
            <p:cNvPr id="147" name="Line 147"/>
            <p:cNvSpPr/>
            <p:nvPr/>
          </p:nvSpPr>
          <p:spPr>
            <a:xfrm>
              <a:off x="7905750" y="3352800"/>
              <a:ext cx="3886200" cy="9525"/>
            </a:xfrm>
            <a:custGeom>
              <a:avLst/>
              <a:gdLst/>
              <a:ahLst/>
              <a:cxnLst/>
              <a:rect l="l" t="t" r="r" b="b"/>
              <a:pathLst>
                <a:path w="3886200" h="9525">
                  <a:moveTo>
                    <a:pt x="0" y="0"/>
                  </a:moveTo>
                  <a:lnTo>
                    <a:pt x="3886200" y="0"/>
                  </a:lnTo>
                </a:path>
              </a:pathLst>
            </a:custGeom>
            <a:noFill/>
            <a:ln w="9525">
              <a:solidFill>
                <a:srgbClr val="E5ECF6"/>
              </a:solidFill>
            </a:ln>
          </p:spPr>
        </p:sp>
        <p:sp>
          <p:nvSpPr>
            <p:cNvPr id="148" name="Line 148"/>
            <p:cNvSpPr/>
            <p:nvPr/>
          </p:nvSpPr>
          <p:spPr>
            <a:xfrm>
              <a:off x="7905750" y="3943350"/>
              <a:ext cx="3886200" cy="9525"/>
            </a:xfrm>
            <a:custGeom>
              <a:avLst/>
              <a:gdLst/>
              <a:ahLst/>
              <a:cxnLst/>
              <a:rect l="l" t="t" r="r" b="b"/>
              <a:pathLst>
                <a:path w="3886200" h="9525">
                  <a:moveTo>
                    <a:pt x="0" y="0"/>
                  </a:moveTo>
                  <a:lnTo>
                    <a:pt x="3886200" y="0"/>
                  </a:lnTo>
                </a:path>
              </a:pathLst>
            </a:custGeom>
            <a:noFill/>
            <a:ln w="9525">
              <a:solidFill>
                <a:srgbClr val="E5ECF6"/>
              </a:solidFill>
            </a:ln>
          </p:spPr>
        </p:sp>
        <p:sp>
          <p:nvSpPr>
            <p:cNvPr id="149" name="Line 149"/>
            <p:cNvSpPr/>
            <p:nvPr/>
          </p:nvSpPr>
          <p:spPr>
            <a:xfrm>
              <a:off x="7905750" y="4533900"/>
              <a:ext cx="3886200" cy="9525"/>
            </a:xfrm>
            <a:custGeom>
              <a:avLst/>
              <a:gdLst/>
              <a:ahLst/>
              <a:cxnLst/>
              <a:rect l="l" t="t" r="r" b="b"/>
              <a:pathLst>
                <a:path w="3886200" h="9525">
                  <a:moveTo>
                    <a:pt x="0" y="0"/>
                  </a:moveTo>
                  <a:lnTo>
                    <a:pt x="3886200" y="0"/>
                  </a:lnTo>
                </a:path>
              </a:pathLst>
            </a:custGeom>
            <a:noFill/>
            <a:ln w="9525">
              <a:solidFill>
                <a:srgbClr val="E5ECF6"/>
              </a:solidFill>
            </a:ln>
          </p:spPr>
        </p:sp>
        <p:grpSp>
          <p:nvGrpSpPr>
            <p:cNvPr id="161" name="metric-1"/>
            <p:cNvGrpSpPr/>
            <p:nvPr/>
          </p:nvGrpSpPr>
          <p:grpSpPr>
            <a:xfrm>
              <a:off x="8048625" y="2358390"/>
              <a:ext cx="3714369" cy="352044"/>
              <a:chOff x="8048625" y="2358390"/>
              <a:chExt cx="3714369" cy="352044"/>
            </a:xfrm>
          </p:grpSpPr>
          <p:grpSp>
            <p:nvGrpSpPr>
              <p:cNvPr id="158" name="Group 158"/>
              <p:cNvGrpSpPr/>
              <p:nvPr/>
            </p:nvGrpSpPr>
            <p:grpSpPr>
              <a:xfrm>
                <a:off x="8048625" y="2381250"/>
                <a:ext cx="171450" cy="180975"/>
                <a:chOff x="8048625" y="2381250"/>
                <a:chExt cx="171450" cy="180975"/>
              </a:xfrm>
            </p:grpSpPr>
            <p:sp>
              <p:nvSpPr>
                <p:cNvPr id="150" name="Freeform 150"/>
                <p:cNvSpPr/>
                <p:nvPr/>
              </p:nvSpPr>
              <p:spPr>
                <a:xfrm>
                  <a:off x="8048625" y="2552700"/>
                  <a:ext cx="171450" cy="9525"/>
                </a:xfrm>
                <a:custGeom>
                  <a:avLst/>
                  <a:gdLst/>
                  <a:ahLst/>
                  <a:cxnLst/>
                  <a:rect l="l" t="t" r="r" b="b"/>
                  <a:pathLst>
                    <a:path w="171450" h="9525">
                      <a:moveTo>
                        <a:pt x="0" y="0"/>
                      </a:moveTo>
                      <a:lnTo>
                        <a:pt x="171450" y="0"/>
                      </a:lnTo>
                    </a:path>
                  </a:pathLst>
                </a:custGeom>
                <a:noFill/>
                <a:ln w="14288">
                  <a:solidFill>
                    <a:srgbClr val="841600"/>
                  </a:solidFill>
                </a:ln>
              </p:spPr>
            </p:sp>
            <p:sp>
              <p:nvSpPr>
                <p:cNvPr id="151" name="Freeform 151"/>
                <p:cNvSpPr/>
                <p:nvPr/>
              </p:nvSpPr>
              <p:spPr>
                <a:xfrm>
                  <a:off x="8048625" y="2447925"/>
                  <a:ext cx="171450" cy="9525"/>
                </a:xfrm>
                <a:custGeom>
                  <a:avLst/>
                  <a:gdLst/>
                  <a:ahLst/>
                  <a:cxnLst/>
                  <a:rect l="l" t="t" r="r" b="b"/>
                  <a:pathLst>
                    <a:path w="171450" h="9525">
                      <a:moveTo>
                        <a:pt x="0" y="0"/>
                      </a:moveTo>
                      <a:lnTo>
                        <a:pt x="171450" y="0"/>
                      </a:lnTo>
                    </a:path>
                  </a:pathLst>
                </a:custGeom>
                <a:noFill/>
                <a:ln w="14288">
                  <a:solidFill>
                    <a:srgbClr val="841600"/>
                  </a:solidFill>
                </a:ln>
              </p:spPr>
            </p:sp>
            <p:sp>
              <p:nvSpPr>
                <p:cNvPr id="152" name="Freeform 152"/>
                <p:cNvSpPr/>
                <p:nvPr/>
              </p:nvSpPr>
              <p:spPr>
                <a:xfrm>
                  <a:off x="8067675" y="2381250"/>
                  <a:ext cx="133350" cy="28575"/>
                </a:xfrm>
                <a:custGeom>
                  <a:avLst/>
                  <a:gdLst/>
                  <a:ahLst/>
                  <a:cxnLst/>
                  <a:rect l="l" t="t" r="r" b="b"/>
                  <a:pathLst>
                    <a:path w="133350" h="28575">
                      <a:moveTo>
                        <a:pt x="0" y="28575"/>
                      </a:moveTo>
                      <a:lnTo>
                        <a:pt x="66675" y="0"/>
                      </a:lnTo>
                      <a:lnTo>
                        <a:pt x="133350" y="28575"/>
                      </a:lnTo>
                    </a:path>
                  </a:pathLst>
                </a:custGeom>
                <a:noFill/>
                <a:ln w="14288">
                  <a:solidFill>
                    <a:srgbClr val="841600"/>
                  </a:solidFill>
                </a:ln>
              </p:spPr>
            </p:sp>
            <p:sp>
              <p:nvSpPr>
                <p:cNvPr id="153" name="Freeform 153"/>
                <p:cNvSpPr/>
                <p:nvPr/>
              </p:nvSpPr>
              <p:spPr>
                <a:xfrm>
                  <a:off x="8058150" y="2447925"/>
                  <a:ext cx="9525" cy="104775"/>
                </a:xfrm>
                <a:custGeom>
                  <a:avLst/>
                  <a:gdLst/>
                  <a:ahLst/>
                  <a:cxnLst/>
                  <a:rect l="l" t="t" r="r" b="b"/>
                  <a:pathLst>
                    <a:path w="9525" h="104775">
                      <a:moveTo>
                        <a:pt x="0" y="0"/>
                      </a:moveTo>
                      <a:lnTo>
                        <a:pt x="0" y="104775"/>
                      </a:lnTo>
                    </a:path>
                  </a:pathLst>
                </a:custGeom>
                <a:noFill/>
                <a:ln w="14288">
                  <a:solidFill>
                    <a:srgbClr val="841600"/>
                  </a:solidFill>
                </a:ln>
              </p:spPr>
            </p:sp>
            <p:sp>
              <p:nvSpPr>
                <p:cNvPr id="154" name="Freeform 154"/>
                <p:cNvSpPr/>
                <p:nvPr/>
              </p:nvSpPr>
              <p:spPr>
                <a:xfrm>
                  <a:off x="8210550" y="2447925"/>
                  <a:ext cx="9525" cy="104775"/>
                </a:xfrm>
                <a:custGeom>
                  <a:avLst/>
                  <a:gdLst/>
                  <a:ahLst/>
                  <a:cxnLst/>
                  <a:rect l="l" t="t" r="r" b="b"/>
                  <a:pathLst>
                    <a:path w="9525" h="104775">
                      <a:moveTo>
                        <a:pt x="0" y="0"/>
                      </a:moveTo>
                      <a:lnTo>
                        <a:pt x="0" y="104775"/>
                      </a:lnTo>
                    </a:path>
                  </a:pathLst>
                </a:custGeom>
                <a:noFill/>
                <a:ln w="14288">
                  <a:solidFill>
                    <a:srgbClr val="841600"/>
                  </a:solidFill>
                </a:ln>
              </p:spPr>
            </p:sp>
            <p:sp>
              <p:nvSpPr>
                <p:cNvPr id="155" name="Freeform 155"/>
                <p:cNvSpPr/>
                <p:nvPr/>
              </p:nvSpPr>
              <p:spPr>
                <a:xfrm>
                  <a:off x="8096250" y="2486025"/>
                  <a:ext cx="9525" cy="28575"/>
                </a:xfrm>
                <a:custGeom>
                  <a:avLst/>
                  <a:gdLst/>
                  <a:ahLst/>
                  <a:cxnLst/>
                  <a:rect l="l" t="t" r="r" b="b"/>
                  <a:pathLst>
                    <a:path w="9525" h="28575">
                      <a:moveTo>
                        <a:pt x="0" y="0"/>
                      </a:moveTo>
                      <a:lnTo>
                        <a:pt x="0" y="28575"/>
                      </a:lnTo>
                    </a:path>
                  </a:pathLst>
                </a:custGeom>
                <a:noFill/>
                <a:ln w="14288">
                  <a:solidFill>
                    <a:srgbClr val="841600"/>
                  </a:solidFill>
                </a:ln>
              </p:spPr>
            </p:sp>
            <p:sp>
              <p:nvSpPr>
                <p:cNvPr id="156" name="Freeform 156"/>
                <p:cNvSpPr/>
                <p:nvPr/>
              </p:nvSpPr>
              <p:spPr>
                <a:xfrm>
                  <a:off x="8134350" y="2486025"/>
                  <a:ext cx="9525" cy="28575"/>
                </a:xfrm>
                <a:custGeom>
                  <a:avLst/>
                  <a:gdLst/>
                  <a:ahLst/>
                  <a:cxnLst/>
                  <a:rect l="l" t="t" r="r" b="b"/>
                  <a:pathLst>
                    <a:path w="9525" h="28575">
                      <a:moveTo>
                        <a:pt x="0" y="0"/>
                      </a:moveTo>
                      <a:lnTo>
                        <a:pt x="0" y="28575"/>
                      </a:lnTo>
                    </a:path>
                  </a:pathLst>
                </a:custGeom>
                <a:noFill/>
                <a:ln w="14288">
                  <a:solidFill>
                    <a:srgbClr val="841600"/>
                  </a:solidFill>
                </a:ln>
              </p:spPr>
            </p:sp>
            <p:sp>
              <p:nvSpPr>
                <p:cNvPr id="157" name="Freeform 157"/>
                <p:cNvSpPr/>
                <p:nvPr/>
              </p:nvSpPr>
              <p:spPr>
                <a:xfrm>
                  <a:off x="8172450" y="2486025"/>
                  <a:ext cx="9525" cy="28575"/>
                </a:xfrm>
                <a:custGeom>
                  <a:avLst/>
                  <a:gdLst/>
                  <a:ahLst/>
                  <a:cxnLst/>
                  <a:rect l="l" t="t" r="r" b="b"/>
                  <a:pathLst>
                    <a:path w="9525" h="28575">
                      <a:moveTo>
                        <a:pt x="0" y="0"/>
                      </a:moveTo>
                      <a:lnTo>
                        <a:pt x="0" y="28575"/>
                      </a:lnTo>
                    </a:path>
                  </a:pathLst>
                </a:custGeom>
                <a:noFill/>
                <a:ln w="14288">
                  <a:solidFill>
                    <a:srgbClr val="841600"/>
                  </a:solidFill>
                </a:ln>
              </p:spPr>
            </p:sp>
          </p:grpSp>
          <p:sp>
            <p:nvSpPr>
              <p:cNvPr id="159" name="TextBox 159"/>
              <p:cNvSpPr txBox="1"/>
              <p:nvPr/>
            </p:nvSpPr>
            <p:spPr>
              <a:xfrm>
                <a:off x="8357235" y="2412206"/>
                <a:ext cx="61452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对公贷款</a:t>
                </a:r>
              </a:p>
            </p:txBody>
          </p:sp>
          <p:sp>
            <p:nvSpPr>
              <p:cNvPr id="160" name="TextBox 160"/>
              <p:cNvSpPr txBox="1"/>
              <p:nvPr/>
            </p:nvSpPr>
            <p:spPr>
              <a:xfrm>
                <a:off x="10840262" y="2358390"/>
                <a:ext cx="922732" cy="352044"/>
              </a:xfrm>
              <a:prstGeom prst="rect">
                <a:avLst/>
              </a:prstGeom>
              <a:noFill/>
              <a:ln>
                <a:noFill/>
              </a:ln>
            </p:spPr>
            <p:txBody>
              <a:bodyPr wrap="none" lIns="0" tIns="0" rIns="0" bIns="0" anchor="t" anchorCtr="0">
                <a:spAutoFit/>
              </a:bodyPr>
              <a:lstStyle/>
              <a:p>
                <a:pPr algn="r"/>
                <a:r>
                  <a:rPr lang="zh-CN" sz="1800" b="1" dirty="0">
                    <a:solidFill>
                      <a:srgbClr val="841600"/>
                    </a:solidFill>
                    <a:latin typeface="+mn-lt"/>
                    <a:ea typeface="+mn-ea"/>
                    <a:cs typeface="+mn-cs"/>
                  </a:rPr>
                  <a:t xml:space="preserve">+55亿　</a:t>
                </a:r>
              </a:p>
            </p:txBody>
          </p:sp>
        </p:grpSp>
        <p:grpSp>
          <p:nvGrpSpPr>
            <p:cNvPr id="167" name="metric-2"/>
            <p:cNvGrpSpPr/>
            <p:nvPr/>
          </p:nvGrpSpPr>
          <p:grpSpPr>
            <a:xfrm>
              <a:off x="8058150" y="2948940"/>
              <a:ext cx="3704844" cy="352044"/>
              <a:chOff x="8058150" y="2948940"/>
              <a:chExt cx="3704844" cy="352044"/>
            </a:xfrm>
          </p:grpSpPr>
          <p:grpSp>
            <p:nvGrpSpPr>
              <p:cNvPr id="164" name="Group 164"/>
              <p:cNvGrpSpPr/>
              <p:nvPr/>
            </p:nvGrpSpPr>
            <p:grpSpPr>
              <a:xfrm>
                <a:off x="8058150" y="2981325"/>
                <a:ext cx="152400" cy="152400"/>
                <a:chOff x="8058150" y="2981325"/>
                <a:chExt cx="152400" cy="152400"/>
              </a:xfrm>
            </p:grpSpPr>
            <p:sp>
              <p:nvSpPr>
                <p:cNvPr id="162" name="Freeform 162"/>
                <p:cNvSpPr/>
                <p:nvPr/>
              </p:nvSpPr>
              <p:spPr>
                <a:xfrm>
                  <a:off x="8058150" y="2981325"/>
                  <a:ext cx="142875" cy="152400"/>
                </a:xfrm>
                <a:custGeom>
                  <a:avLst/>
                  <a:gdLst/>
                  <a:ahLst/>
                  <a:cxnLst/>
                  <a:rect l="l" t="t" r="r" b="b"/>
                  <a:pathLst>
                    <a:path w="142875" h="152400">
                      <a:moveTo>
                        <a:pt x="123825" y="38100"/>
                      </a:moveTo>
                      <a:lnTo>
                        <a:pt x="123825" y="9525"/>
                      </a:lnTo>
                      <a:cubicBezTo>
                        <a:pt x="123825" y="4264"/>
                        <a:pt x="119561" y="0"/>
                        <a:pt x="114300" y="0"/>
                      </a:cubicBezTo>
                      <a:lnTo>
                        <a:pt x="19050" y="0"/>
                      </a:lnTo>
                      <a:cubicBezTo>
                        <a:pt x="8529" y="0"/>
                        <a:pt x="0" y="8529"/>
                        <a:pt x="0" y="19050"/>
                      </a:cubicBezTo>
                      <a:cubicBezTo>
                        <a:pt x="0" y="29571"/>
                        <a:pt x="8529" y="38100"/>
                        <a:pt x="19050" y="38100"/>
                      </a:cubicBezTo>
                      <a:lnTo>
                        <a:pt x="133350" y="38100"/>
                      </a:lnTo>
                      <a:cubicBezTo>
                        <a:pt x="138611" y="38100"/>
                        <a:pt x="142875" y="42364"/>
                        <a:pt x="142875" y="47625"/>
                      </a:cubicBezTo>
                      <a:lnTo>
                        <a:pt x="142875" y="76200"/>
                      </a:lnTo>
                      <a:moveTo>
                        <a:pt x="142875" y="114300"/>
                      </a:moveTo>
                      <a:lnTo>
                        <a:pt x="142875" y="142875"/>
                      </a:lnTo>
                      <a:cubicBezTo>
                        <a:pt x="142875" y="148136"/>
                        <a:pt x="138611" y="152400"/>
                        <a:pt x="133350" y="152400"/>
                      </a:cubicBezTo>
                      <a:lnTo>
                        <a:pt x="19050" y="152400"/>
                      </a:lnTo>
                      <a:cubicBezTo>
                        <a:pt x="8529" y="152400"/>
                        <a:pt x="0" y="143871"/>
                        <a:pt x="0" y="133350"/>
                      </a:cubicBezTo>
                      <a:lnTo>
                        <a:pt x="0" y="19050"/>
                      </a:lnTo>
                    </a:path>
                  </a:pathLst>
                </a:custGeom>
                <a:noFill/>
                <a:ln w="14288">
                  <a:solidFill>
                    <a:srgbClr val="841600"/>
                  </a:solidFill>
                </a:ln>
              </p:spPr>
            </p:sp>
            <p:sp>
              <p:nvSpPr>
                <p:cNvPr id="163" name="Freeform 163"/>
                <p:cNvSpPr/>
                <p:nvPr/>
              </p:nvSpPr>
              <p:spPr>
                <a:xfrm>
                  <a:off x="8153400" y="3057525"/>
                  <a:ext cx="57150" cy="38100"/>
                </a:xfrm>
                <a:custGeom>
                  <a:avLst/>
                  <a:gdLst/>
                  <a:ahLst/>
                  <a:cxnLst/>
                  <a:rect l="l" t="t" r="r" b="b"/>
                  <a:pathLst>
                    <a:path w="57150" h="38100">
                      <a:moveTo>
                        <a:pt x="57150" y="0"/>
                      </a:moveTo>
                      <a:lnTo>
                        <a:pt x="57150" y="38100"/>
                      </a:lnTo>
                      <a:lnTo>
                        <a:pt x="19050" y="38100"/>
                      </a:lnTo>
                      <a:cubicBezTo>
                        <a:pt x="8529" y="38100"/>
                        <a:pt x="0" y="29571"/>
                        <a:pt x="0" y="19050"/>
                      </a:cubicBezTo>
                      <a:cubicBezTo>
                        <a:pt x="0" y="8529"/>
                        <a:pt x="8529" y="0"/>
                        <a:pt x="19050" y="0"/>
                      </a:cubicBezTo>
                      <a:lnTo>
                        <a:pt x="57150" y="0"/>
                      </a:lnTo>
                    </a:path>
                  </a:pathLst>
                </a:custGeom>
                <a:noFill/>
                <a:ln w="14288">
                  <a:solidFill>
                    <a:srgbClr val="841600"/>
                  </a:solidFill>
                </a:ln>
              </p:spPr>
            </p:sp>
          </p:grpSp>
          <p:sp>
            <p:nvSpPr>
              <p:cNvPr id="165" name="TextBox 165"/>
              <p:cNvSpPr txBox="1"/>
              <p:nvPr/>
            </p:nvSpPr>
            <p:spPr>
              <a:xfrm>
                <a:off x="8357235" y="3002756"/>
                <a:ext cx="61452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存款日均</a:t>
                </a:r>
              </a:p>
            </p:txBody>
          </p:sp>
          <p:sp>
            <p:nvSpPr>
              <p:cNvPr id="166" name="TextBox 166"/>
              <p:cNvSpPr txBox="1"/>
              <p:nvPr/>
            </p:nvSpPr>
            <p:spPr>
              <a:xfrm>
                <a:off x="10840262" y="2948940"/>
                <a:ext cx="922732" cy="352044"/>
              </a:xfrm>
              <a:prstGeom prst="rect">
                <a:avLst/>
              </a:prstGeom>
              <a:noFill/>
              <a:ln>
                <a:noFill/>
              </a:ln>
            </p:spPr>
            <p:txBody>
              <a:bodyPr wrap="none" lIns="0" tIns="0" rIns="0" bIns="0" anchor="t" anchorCtr="0">
                <a:spAutoFit/>
              </a:bodyPr>
              <a:lstStyle/>
              <a:p>
                <a:pPr algn="r"/>
                <a:r>
                  <a:rPr lang="zh-CN" sz="1800" b="1" dirty="0">
                    <a:solidFill>
                      <a:srgbClr val="841600"/>
                    </a:solidFill>
                    <a:latin typeface="+mn-lt"/>
                    <a:ea typeface="+mn-ea"/>
                    <a:cs typeface="+mn-cs"/>
                  </a:rPr>
                  <a:t xml:space="preserve">+48亿　</a:t>
                </a:r>
              </a:p>
            </p:txBody>
          </p:sp>
        </p:grpSp>
        <p:grpSp>
          <p:nvGrpSpPr>
            <p:cNvPr id="176" name="metric-3"/>
            <p:cNvGrpSpPr/>
            <p:nvPr/>
          </p:nvGrpSpPr>
          <p:grpSpPr>
            <a:xfrm>
              <a:off x="8067675" y="3539490"/>
              <a:ext cx="3695319" cy="352044"/>
              <a:chOff x="8067675" y="3539490"/>
              <a:chExt cx="3695319" cy="352044"/>
            </a:xfrm>
          </p:grpSpPr>
          <p:grpSp>
            <p:nvGrpSpPr>
              <p:cNvPr id="173" name="Group 173"/>
              <p:cNvGrpSpPr/>
              <p:nvPr/>
            </p:nvGrpSpPr>
            <p:grpSpPr>
              <a:xfrm>
                <a:off x="8067675" y="3562350"/>
                <a:ext cx="133350" cy="171450"/>
                <a:chOff x="8067675" y="3562350"/>
                <a:chExt cx="133350" cy="171450"/>
              </a:xfrm>
            </p:grpSpPr>
            <p:sp>
              <p:nvSpPr>
                <p:cNvPr id="168" name="Freeform 168"/>
                <p:cNvSpPr/>
                <p:nvPr/>
              </p:nvSpPr>
              <p:spPr>
                <a:xfrm>
                  <a:off x="8153400" y="35623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4288">
                  <a:solidFill>
                    <a:srgbClr val="841600"/>
                  </a:solidFill>
                </a:ln>
              </p:spPr>
            </p:sp>
            <p:sp>
              <p:nvSpPr>
                <p:cNvPr id="169" name="Freeform 169"/>
                <p:cNvSpPr/>
                <p:nvPr/>
              </p:nvSpPr>
              <p:spPr>
                <a:xfrm>
                  <a:off x="8067675" y="35623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4288">
                  <a:solidFill>
                    <a:srgbClr val="841600"/>
                  </a:solidFill>
                </a:ln>
              </p:spPr>
            </p:sp>
            <p:sp>
              <p:nvSpPr>
                <p:cNvPr id="170" name="Freeform 170"/>
                <p:cNvSpPr/>
                <p:nvPr/>
              </p:nvSpPr>
              <p:spPr>
                <a:xfrm>
                  <a:off x="8105775" y="3619500"/>
                  <a:ext cx="9525" cy="9525"/>
                </a:xfrm>
                <a:custGeom>
                  <a:avLst/>
                  <a:gdLst/>
                  <a:ahLst/>
                  <a:cxnLst/>
                  <a:rect l="l" t="t" r="r" b="b"/>
                  <a:pathLst>
                    <a:path w="9525" h="9525">
                      <a:moveTo>
                        <a:pt x="0" y="0"/>
                      </a:moveTo>
                      <a:lnTo>
                        <a:pt x="9525" y="0"/>
                      </a:lnTo>
                    </a:path>
                  </a:pathLst>
                </a:custGeom>
                <a:noFill/>
                <a:ln w="14288">
                  <a:solidFill>
                    <a:srgbClr val="841600"/>
                  </a:solidFill>
                </a:ln>
              </p:spPr>
            </p:sp>
            <p:sp>
              <p:nvSpPr>
                <p:cNvPr id="171" name="Freeform 171"/>
                <p:cNvSpPr/>
                <p:nvPr/>
              </p:nvSpPr>
              <p:spPr>
                <a:xfrm>
                  <a:off x="8105775" y="3657600"/>
                  <a:ext cx="57150" cy="9525"/>
                </a:xfrm>
                <a:custGeom>
                  <a:avLst/>
                  <a:gdLst/>
                  <a:ahLst/>
                  <a:cxnLst/>
                  <a:rect l="l" t="t" r="r" b="b"/>
                  <a:pathLst>
                    <a:path w="57150" h="9525">
                      <a:moveTo>
                        <a:pt x="0" y="0"/>
                      </a:moveTo>
                      <a:lnTo>
                        <a:pt x="57150" y="0"/>
                      </a:lnTo>
                    </a:path>
                  </a:pathLst>
                </a:custGeom>
                <a:noFill/>
                <a:ln w="14288">
                  <a:solidFill>
                    <a:srgbClr val="841600"/>
                  </a:solidFill>
                </a:ln>
              </p:spPr>
            </p:sp>
            <p:sp>
              <p:nvSpPr>
                <p:cNvPr id="172" name="Freeform 172"/>
                <p:cNvSpPr/>
                <p:nvPr/>
              </p:nvSpPr>
              <p:spPr>
                <a:xfrm>
                  <a:off x="8105775" y="3695700"/>
                  <a:ext cx="57150" cy="9525"/>
                </a:xfrm>
                <a:custGeom>
                  <a:avLst/>
                  <a:gdLst/>
                  <a:ahLst/>
                  <a:cxnLst/>
                  <a:rect l="l" t="t" r="r" b="b"/>
                  <a:pathLst>
                    <a:path w="57150" h="9525">
                      <a:moveTo>
                        <a:pt x="0" y="0"/>
                      </a:moveTo>
                      <a:lnTo>
                        <a:pt x="57150" y="0"/>
                      </a:lnTo>
                    </a:path>
                  </a:pathLst>
                </a:custGeom>
                <a:noFill/>
                <a:ln w="14288">
                  <a:solidFill>
                    <a:srgbClr val="841600"/>
                  </a:solidFill>
                </a:ln>
              </p:spPr>
            </p:sp>
          </p:grpSp>
          <p:sp>
            <p:nvSpPr>
              <p:cNvPr id="174" name="TextBox 174"/>
              <p:cNvSpPr txBox="1"/>
              <p:nvPr/>
            </p:nvSpPr>
            <p:spPr>
              <a:xfrm>
                <a:off x="8357235" y="3593306"/>
                <a:ext cx="91607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重点项目投放</a:t>
                </a:r>
              </a:p>
            </p:txBody>
          </p:sp>
          <p:sp>
            <p:nvSpPr>
              <p:cNvPr id="175" name="TextBox 175"/>
              <p:cNvSpPr txBox="1"/>
              <p:nvPr/>
            </p:nvSpPr>
            <p:spPr>
              <a:xfrm>
                <a:off x="10980199" y="3539490"/>
                <a:ext cx="782795" cy="352044"/>
              </a:xfrm>
              <a:prstGeom prst="rect">
                <a:avLst/>
              </a:prstGeom>
              <a:noFill/>
              <a:ln>
                <a:noFill/>
              </a:ln>
            </p:spPr>
            <p:txBody>
              <a:bodyPr wrap="none" lIns="0" tIns="0" rIns="0" bIns="0" anchor="t" anchorCtr="0">
                <a:spAutoFit/>
              </a:bodyPr>
              <a:lstStyle/>
              <a:p>
                <a:pPr algn="r"/>
                <a:r>
                  <a:rPr lang="zh-CN" sz="1800" b="1" dirty="0">
                    <a:solidFill>
                      <a:srgbClr val="841600"/>
                    </a:solidFill>
                    <a:latin typeface="+mn-lt"/>
                    <a:ea typeface="+mn-ea"/>
                    <a:cs typeface="+mn-cs"/>
                  </a:rPr>
                  <a:t xml:space="preserve">38亿　</a:t>
                </a:r>
              </a:p>
            </p:txBody>
          </p:sp>
        </p:grpSp>
        <p:grpSp>
          <p:nvGrpSpPr>
            <p:cNvPr id="184" name="metric-4"/>
            <p:cNvGrpSpPr/>
            <p:nvPr/>
          </p:nvGrpSpPr>
          <p:grpSpPr>
            <a:xfrm>
              <a:off x="8048625" y="4130040"/>
              <a:ext cx="3714369" cy="352044"/>
              <a:chOff x="8048625" y="4130040"/>
              <a:chExt cx="3714369" cy="352044"/>
            </a:xfrm>
          </p:grpSpPr>
          <p:grpSp>
            <p:nvGrpSpPr>
              <p:cNvPr id="181" name="Group 181"/>
              <p:cNvGrpSpPr/>
              <p:nvPr/>
            </p:nvGrpSpPr>
            <p:grpSpPr>
              <a:xfrm>
                <a:off x="8048625" y="4152900"/>
                <a:ext cx="171450" cy="171450"/>
                <a:chOff x="8048625" y="4152900"/>
                <a:chExt cx="171450" cy="171450"/>
              </a:xfrm>
            </p:grpSpPr>
            <p:sp>
              <p:nvSpPr>
                <p:cNvPr id="177" name="Freeform 177"/>
                <p:cNvSpPr/>
                <p:nvPr/>
              </p:nvSpPr>
              <p:spPr>
                <a:xfrm>
                  <a:off x="8067675" y="41529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4288">
                  <a:solidFill>
                    <a:srgbClr val="841600"/>
                  </a:solidFill>
                </a:ln>
              </p:spPr>
            </p:sp>
            <p:sp>
              <p:nvSpPr>
                <p:cNvPr id="178" name="Freeform 178"/>
                <p:cNvSpPr/>
                <p:nvPr/>
              </p:nvSpPr>
              <p:spPr>
                <a:xfrm>
                  <a:off x="8048625" y="426720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4288">
                  <a:solidFill>
                    <a:srgbClr val="841600"/>
                  </a:solidFill>
                </a:ln>
              </p:spPr>
            </p:sp>
            <p:sp>
              <p:nvSpPr>
                <p:cNvPr id="179" name="Freeform 179"/>
                <p:cNvSpPr/>
                <p:nvPr/>
              </p:nvSpPr>
              <p:spPr>
                <a:xfrm>
                  <a:off x="8172450" y="415413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4288">
                  <a:solidFill>
                    <a:srgbClr val="841600"/>
                  </a:solidFill>
                </a:ln>
              </p:spPr>
            </p:sp>
            <p:sp>
              <p:nvSpPr>
                <p:cNvPr id="180" name="Freeform 180"/>
                <p:cNvSpPr/>
                <p:nvPr/>
              </p:nvSpPr>
              <p:spPr>
                <a:xfrm>
                  <a:off x="8191500" y="426862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4288">
                  <a:solidFill>
                    <a:srgbClr val="841600"/>
                  </a:solidFill>
                </a:ln>
              </p:spPr>
            </p:sp>
          </p:grpSp>
          <p:sp>
            <p:nvSpPr>
              <p:cNvPr id="182" name="TextBox 182"/>
              <p:cNvSpPr txBox="1"/>
              <p:nvPr/>
            </p:nvSpPr>
            <p:spPr>
              <a:xfrm>
                <a:off x="8357235" y="4183856"/>
                <a:ext cx="61452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结算客户</a:t>
                </a:r>
              </a:p>
            </p:txBody>
          </p:sp>
          <p:sp>
            <p:nvSpPr>
              <p:cNvPr id="183" name="TextBox 183"/>
              <p:cNvSpPr txBox="1"/>
              <p:nvPr/>
            </p:nvSpPr>
            <p:spPr>
              <a:xfrm>
                <a:off x="10700324" y="4130040"/>
                <a:ext cx="1062670" cy="352044"/>
              </a:xfrm>
              <a:prstGeom prst="rect">
                <a:avLst/>
              </a:prstGeom>
              <a:noFill/>
              <a:ln>
                <a:noFill/>
              </a:ln>
            </p:spPr>
            <p:txBody>
              <a:bodyPr wrap="none" lIns="0" tIns="0" rIns="0" bIns="0" anchor="t" anchorCtr="0">
                <a:spAutoFit/>
              </a:bodyPr>
              <a:lstStyle/>
              <a:p>
                <a:pPr algn="r"/>
                <a:r>
                  <a:rPr lang="zh-CN" sz="1800" b="1" dirty="0">
                    <a:solidFill>
                      <a:srgbClr val="841600"/>
                    </a:solidFill>
                    <a:latin typeface="+mn-lt"/>
                    <a:ea typeface="+mn-ea"/>
                    <a:cs typeface="+mn-cs"/>
                  </a:rPr>
                  <a:t xml:space="preserve">+600户　</a:t>
                </a:r>
              </a:p>
            </p:txBody>
          </p:sp>
        </p:grpSp>
        <p:grpSp>
          <p:nvGrpSpPr>
            <p:cNvPr id="193" name="metric-5"/>
            <p:cNvGrpSpPr/>
            <p:nvPr/>
          </p:nvGrpSpPr>
          <p:grpSpPr>
            <a:xfrm>
              <a:off x="8048625" y="4720590"/>
              <a:ext cx="3714369" cy="352044"/>
              <a:chOff x="8048625" y="4720590"/>
              <a:chExt cx="3714369" cy="352044"/>
            </a:xfrm>
          </p:grpSpPr>
          <p:grpSp>
            <p:nvGrpSpPr>
              <p:cNvPr id="190" name="Group 190"/>
              <p:cNvGrpSpPr/>
              <p:nvPr/>
            </p:nvGrpSpPr>
            <p:grpSpPr>
              <a:xfrm>
                <a:off x="8048625" y="4742174"/>
                <a:ext cx="171450" cy="172726"/>
                <a:chOff x="8048625" y="4742174"/>
                <a:chExt cx="171450" cy="172726"/>
              </a:xfrm>
            </p:grpSpPr>
            <p:sp>
              <p:nvSpPr>
                <p:cNvPr id="185" name="Freeform 185"/>
                <p:cNvSpPr/>
                <p:nvPr/>
              </p:nvSpPr>
              <p:spPr>
                <a:xfrm>
                  <a:off x="8105775" y="4819650"/>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4288">
                  <a:solidFill>
                    <a:srgbClr val="841600"/>
                  </a:solidFill>
                </a:ln>
              </p:spPr>
            </p:sp>
            <p:sp>
              <p:nvSpPr>
                <p:cNvPr id="186" name="Freeform 186"/>
                <p:cNvSpPr/>
                <p:nvPr/>
              </p:nvSpPr>
              <p:spPr>
                <a:xfrm>
                  <a:off x="8105775" y="4848225"/>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4288">
                  <a:solidFill>
                    <a:srgbClr val="841600"/>
                  </a:solidFill>
                </a:ln>
              </p:spPr>
            </p:sp>
            <p:sp>
              <p:nvSpPr>
                <p:cNvPr id="187" name="Freeform 187"/>
                <p:cNvSpPr/>
                <p:nvPr/>
              </p:nvSpPr>
              <p:spPr>
                <a:xfrm>
                  <a:off x="8048625" y="4742174"/>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4288">
                  <a:solidFill>
                    <a:srgbClr val="841600"/>
                  </a:solidFill>
                </a:ln>
              </p:spPr>
            </p:sp>
            <p:sp>
              <p:nvSpPr>
                <p:cNvPr id="188" name="Freeform 188"/>
                <p:cNvSpPr/>
                <p:nvPr/>
              </p:nvSpPr>
              <p:spPr>
                <a:xfrm>
                  <a:off x="8048625" y="4772025"/>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4288">
                  <a:solidFill>
                    <a:srgbClr val="841600"/>
                  </a:solidFill>
                </a:ln>
              </p:spPr>
            </p:sp>
            <p:sp>
              <p:nvSpPr>
                <p:cNvPr id="189" name="Freeform 189"/>
                <p:cNvSpPr/>
                <p:nvPr/>
              </p:nvSpPr>
              <p:spPr>
                <a:xfrm>
                  <a:off x="8048625" y="4819650"/>
                  <a:ext cx="19050" cy="19050"/>
                </a:xfrm>
                <a:custGeom>
                  <a:avLst/>
                  <a:gdLst/>
                  <a:ahLst/>
                  <a:cxnLst/>
                  <a:rect l="l" t="t" r="r" b="b"/>
                  <a:pathLst>
                    <a:path w="19050" h="19050">
                      <a:moveTo>
                        <a:pt x="0" y="0"/>
                      </a:moveTo>
                      <a:cubicBezTo>
                        <a:pt x="0" y="8458"/>
                        <a:pt x="7353" y="13811"/>
                        <a:pt x="19050" y="19050"/>
                      </a:cubicBezTo>
                    </a:path>
                  </a:pathLst>
                </a:custGeom>
                <a:noFill/>
                <a:ln w="14288">
                  <a:solidFill>
                    <a:srgbClr val="841600"/>
                  </a:solidFill>
                </a:ln>
              </p:spPr>
            </p:sp>
          </p:grpSp>
          <p:sp>
            <p:nvSpPr>
              <p:cNvPr id="191" name="TextBox 191"/>
              <p:cNvSpPr txBox="1"/>
              <p:nvPr/>
            </p:nvSpPr>
            <p:spPr>
              <a:xfrm>
                <a:off x="8357235" y="4774406"/>
                <a:ext cx="31297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中收</a:t>
                </a:r>
              </a:p>
            </p:txBody>
          </p:sp>
          <p:sp>
            <p:nvSpPr>
              <p:cNvPr id="192" name="TextBox 192"/>
              <p:cNvSpPr txBox="1"/>
              <p:nvPr/>
            </p:nvSpPr>
            <p:spPr>
              <a:xfrm>
                <a:off x="10891754" y="4720590"/>
                <a:ext cx="871240" cy="352044"/>
              </a:xfrm>
              <a:prstGeom prst="rect">
                <a:avLst/>
              </a:prstGeom>
              <a:noFill/>
              <a:ln>
                <a:noFill/>
              </a:ln>
            </p:spPr>
            <p:txBody>
              <a:bodyPr wrap="none" lIns="0" tIns="0" rIns="0" bIns="0" anchor="t" anchorCtr="0">
                <a:spAutoFit/>
              </a:bodyPr>
              <a:lstStyle/>
              <a:p>
                <a:pPr algn="r"/>
                <a:r>
                  <a:rPr lang="zh-CN" sz="1800" b="1" dirty="0">
                    <a:solidFill>
                      <a:srgbClr val="841600"/>
                    </a:solidFill>
                    <a:latin typeface="+mn-lt"/>
                    <a:ea typeface="+mn-ea"/>
                    <a:cs typeface="+mn-cs"/>
                  </a:rPr>
                  <a:t xml:space="preserve">+10%　</a:t>
                </a:r>
              </a:p>
            </p:txBody>
          </p:sp>
        </p:grpSp>
      </p:grpSp>
      <p:grpSp>
        <p:nvGrpSpPr>
          <p:cNvPr id="246" name="operation-chain"/>
          <p:cNvGrpSpPr/>
          <p:nvPr/>
        </p:nvGrpSpPr>
        <p:grpSpPr>
          <a:xfrm>
            <a:off x="266700" y="5314950"/>
            <a:ext cx="11658600" cy="1333500"/>
            <a:chOff x="266700" y="5314950"/>
            <a:chExt cx="11658600" cy="1333500"/>
          </a:xfrm>
        </p:grpSpPr>
        <p:sp>
          <p:nvSpPr>
            <p:cNvPr id="195" name="Rectangle 195"/>
            <p:cNvSpPr/>
            <p:nvPr/>
          </p:nvSpPr>
          <p:spPr>
            <a:xfrm>
              <a:off x="266700" y="5314950"/>
              <a:ext cx="11658600" cy="1333500"/>
            </a:xfrm>
            <a:prstGeom prst="roundRect">
              <a:avLst>
                <a:gd name="adj" fmla="val 7143"/>
              </a:avLst>
            </a:prstGeom>
            <a:solidFill>
              <a:srgbClr val="FFFFFF"/>
            </a:solidFill>
            <a:ln w="9525">
              <a:solidFill>
                <a:srgbClr val="D7E2F2"/>
              </a:solidFill>
            </a:ln>
          </p:spPr>
        </p:sp>
        <p:sp>
          <p:nvSpPr>
            <p:cNvPr id="196" name="TextBox 196"/>
            <p:cNvSpPr txBox="1"/>
            <p:nvPr/>
          </p:nvSpPr>
          <p:spPr>
            <a:xfrm>
              <a:off x="412623" y="5482114"/>
              <a:ext cx="874522"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综合经营链</a:t>
              </a:r>
            </a:p>
          </p:txBody>
        </p:sp>
        <p:grpSp>
          <p:nvGrpSpPr>
            <p:cNvPr id="206" name="chain-1"/>
            <p:cNvGrpSpPr/>
            <p:nvPr/>
          </p:nvGrpSpPr>
          <p:grpSpPr>
            <a:xfrm>
              <a:off x="457200" y="5924550"/>
              <a:ext cx="1237463" cy="533400"/>
              <a:chOff x="457200" y="5924550"/>
              <a:chExt cx="1237463" cy="533400"/>
            </a:xfrm>
          </p:grpSpPr>
          <p:sp>
            <p:nvSpPr>
              <p:cNvPr id="197" name="Ellipse 197"/>
              <p:cNvSpPr/>
              <p:nvPr/>
            </p:nvSpPr>
            <p:spPr>
              <a:xfrm>
                <a:off x="457200" y="5924550"/>
                <a:ext cx="533400" cy="533400"/>
              </a:xfrm>
              <a:prstGeom prst="ellipse">
                <a:avLst/>
              </a:prstGeom>
              <a:solidFill>
                <a:srgbClr val="EFF5FD"/>
              </a:solidFill>
              <a:ln w="14288">
                <a:solidFill>
                  <a:srgbClr val="841600"/>
                </a:solidFill>
              </a:ln>
            </p:spPr>
          </p:sp>
          <p:grpSp>
            <p:nvGrpSpPr>
              <p:cNvPr id="204" name="Group 204"/>
              <p:cNvGrpSpPr/>
              <p:nvPr/>
            </p:nvGrpSpPr>
            <p:grpSpPr>
              <a:xfrm>
                <a:off x="623888" y="6091238"/>
                <a:ext cx="200025" cy="200026"/>
                <a:chOff x="623888" y="6091238"/>
                <a:chExt cx="200025" cy="200026"/>
              </a:xfrm>
            </p:grpSpPr>
            <p:sp>
              <p:nvSpPr>
                <p:cNvPr id="198" name="Freeform 198"/>
                <p:cNvSpPr/>
                <p:nvPr/>
              </p:nvSpPr>
              <p:spPr>
                <a:xfrm>
                  <a:off x="701675" y="61801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41600"/>
                  </a:solidFill>
                </a:ln>
              </p:spPr>
            </p:sp>
            <p:sp>
              <p:nvSpPr>
                <p:cNvPr id="199" name="Freeform 199"/>
                <p:cNvSpPr/>
                <p:nvPr/>
              </p:nvSpPr>
              <p:spPr>
                <a:xfrm>
                  <a:off x="679450" y="625792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16669">
                  <a:solidFill>
                    <a:srgbClr val="841600"/>
                  </a:solidFill>
                </a:ln>
              </p:spPr>
            </p:sp>
            <p:sp>
              <p:nvSpPr>
                <p:cNvPr id="200" name="Freeform 200"/>
                <p:cNvSpPr/>
                <p:nvPr/>
              </p:nvSpPr>
              <p:spPr>
                <a:xfrm>
                  <a:off x="757238" y="60912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41600"/>
                  </a:solidFill>
                </a:ln>
              </p:spPr>
            </p:sp>
            <p:sp>
              <p:nvSpPr>
                <p:cNvPr id="201" name="Freeform 201"/>
                <p:cNvSpPr/>
                <p:nvPr/>
              </p:nvSpPr>
              <p:spPr>
                <a:xfrm>
                  <a:off x="779463" y="616902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16669">
                  <a:solidFill>
                    <a:srgbClr val="841600"/>
                  </a:solidFill>
                </a:ln>
              </p:spPr>
            </p:sp>
            <p:sp>
              <p:nvSpPr>
                <p:cNvPr id="202" name="Freeform 202"/>
                <p:cNvSpPr/>
                <p:nvPr/>
              </p:nvSpPr>
              <p:spPr>
                <a:xfrm>
                  <a:off x="646113" y="60912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41600"/>
                  </a:solidFill>
                </a:ln>
              </p:spPr>
            </p:sp>
            <p:sp>
              <p:nvSpPr>
                <p:cNvPr id="203" name="Freeform 203"/>
                <p:cNvSpPr/>
                <p:nvPr/>
              </p:nvSpPr>
              <p:spPr>
                <a:xfrm>
                  <a:off x="623888" y="616902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16669">
                  <a:solidFill>
                    <a:srgbClr val="841600"/>
                  </a:solidFill>
                </a:ln>
              </p:spPr>
            </p:sp>
          </p:grpSp>
          <p:sp>
            <p:nvSpPr>
              <p:cNvPr id="205" name="TextBox 205"/>
              <p:cNvSpPr txBox="1"/>
              <p:nvPr/>
            </p:nvSpPr>
            <p:spPr>
              <a:xfrm>
                <a:off x="1080135" y="6126956"/>
                <a:ext cx="61452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客户分层</a:t>
                </a:r>
              </a:p>
            </p:txBody>
          </p:sp>
        </p:grpSp>
        <p:sp>
          <p:nvSpPr>
            <p:cNvPr id="207" name="Line 207"/>
            <p:cNvSpPr/>
            <p:nvPr/>
          </p:nvSpPr>
          <p:spPr>
            <a:xfrm>
              <a:off x="1771650" y="6191250"/>
              <a:ext cx="342900" cy="1"/>
            </a:xfrm>
            <a:prstGeom prst="line">
              <a:avLst/>
            </a:prstGeom>
            <a:noFill/>
            <a:ln w="28575">
              <a:solidFill>
                <a:srgbClr val="C9482E"/>
              </a:solidFill>
              <a:tailEnd type="triangle" w="lg" len="lg"/>
            </a:ln>
          </p:spPr>
        </p:sp>
        <p:grpSp>
          <p:nvGrpSpPr>
            <p:cNvPr id="213" name="chain-2"/>
            <p:cNvGrpSpPr/>
            <p:nvPr/>
          </p:nvGrpSpPr>
          <p:grpSpPr>
            <a:xfrm>
              <a:off x="2228850" y="5924550"/>
              <a:ext cx="1237463" cy="533400"/>
              <a:chOff x="2228850" y="5924550"/>
              <a:chExt cx="1237463" cy="533400"/>
            </a:xfrm>
          </p:grpSpPr>
          <p:sp>
            <p:nvSpPr>
              <p:cNvPr id="208" name="Ellipse 208"/>
              <p:cNvSpPr/>
              <p:nvPr/>
            </p:nvSpPr>
            <p:spPr>
              <a:xfrm>
                <a:off x="2228850" y="5924550"/>
                <a:ext cx="533400" cy="533400"/>
              </a:xfrm>
              <a:prstGeom prst="ellipse">
                <a:avLst/>
              </a:prstGeom>
              <a:solidFill>
                <a:srgbClr val="EFF5FD"/>
              </a:solidFill>
              <a:ln w="14288">
                <a:solidFill>
                  <a:srgbClr val="841600"/>
                </a:solidFill>
              </a:ln>
            </p:spPr>
          </p:sp>
          <p:grpSp>
            <p:nvGrpSpPr>
              <p:cNvPr id="211" name="Group 211"/>
              <p:cNvGrpSpPr/>
              <p:nvPr/>
            </p:nvGrpSpPr>
            <p:grpSpPr>
              <a:xfrm>
                <a:off x="2395538" y="6091238"/>
                <a:ext cx="200025" cy="200025"/>
                <a:chOff x="2395538" y="6091238"/>
                <a:chExt cx="200025" cy="200025"/>
              </a:xfrm>
            </p:grpSpPr>
            <p:sp>
              <p:nvSpPr>
                <p:cNvPr id="209" name="Freeform 209"/>
                <p:cNvSpPr/>
                <p:nvPr/>
              </p:nvSpPr>
              <p:spPr>
                <a:xfrm>
                  <a:off x="2395538" y="6091238"/>
                  <a:ext cx="155575" cy="155575"/>
                </a:xfrm>
                <a:custGeom>
                  <a:avLst/>
                  <a:gdLst/>
                  <a:ahLst/>
                  <a:cxnLst/>
                  <a:rect l="l" t="t" r="r" b="b"/>
                  <a:pathLst>
                    <a:path w="155575" h="155575">
                      <a:moveTo>
                        <a:pt x="0" y="77788"/>
                      </a:moveTo>
                      <a:cubicBezTo>
                        <a:pt x="0" y="120749"/>
                        <a:pt x="34827" y="155575"/>
                        <a:pt x="77788" y="155575"/>
                      </a:cubicBezTo>
                      <a:cubicBezTo>
                        <a:pt x="120749" y="155575"/>
                        <a:pt x="155575" y="120749"/>
                        <a:pt x="155575" y="77788"/>
                      </a:cubicBezTo>
                      <a:cubicBezTo>
                        <a:pt x="155575" y="34827"/>
                        <a:pt x="120749" y="0"/>
                        <a:pt x="77788" y="0"/>
                      </a:cubicBezTo>
                      <a:cubicBezTo>
                        <a:pt x="34827" y="0"/>
                        <a:pt x="0" y="34827"/>
                        <a:pt x="0" y="77788"/>
                      </a:cubicBezTo>
                    </a:path>
                  </a:pathLst>
                </a:custGeom>
                <a:noFill/>
                <a:ln w="16669">
                  <a:solidFill>
                    <a:srgbClr val="841600"/>
                  </a:solidFill>
                </a:ln>
              </p:spPr>
            </p:sp>
            <p:sp>
              <p:nvSpPr>
                <p:cNvPr id="210" name="Freeform 210"/>
                <p:cNvSpPr/>
                <p:nvPr/>
              </p:nvSpPr>
              <p:spPr>
                <a:xfrm>
                  <a:off x="2528888" y="6224588"/>
                  <a:ext cx="66675" cy="66675"/>
                </a:xfrm>
                <a:custGeom>
                  <a:avLst/>
                  <a:gdLst/>
                  <a:ahLst/>
                  <a:cxnLst/>
                  <a:rect l="l" t="t" r="r" b="b"/>
                  <a:pathLst>
                    <a:path w="66675" h="66675">
                      <a:moveTo>
                        <a:pt x="66675" y="66675"/>
                      </a:moveTo>
                      <a:lnTo>
                        <a:pt x="0" y="0"/>
                      </a:lnTo>
                    </a:path>
                  </a:pathLst>
                </a:custGeom>
                <a:noFill/>
                <a:ln w="16669">
                  <a:solidFill>
                    <a:srgbClr val="841600"/>
                  </a:solidFill>
                </a:ln>
              </p:spPr>
            </p:sp>
          </p:grpSp>
          <p:sp>
            <p:nvSpPr>
              <p:cNvPr id="212" name="TextBox 212"/>
              <p:cNvSpPr txBox="1"/>
              <p:nvPr/>
            </p:nvSpPr>
            <p:spPr>
              <a:xfrm>
                <a:off x="2851785" y="6126956"/>
                <a:ext cx="61452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机会识别</a:t>
                </a:r>
              </a:p>
            </p:txBody>
          </p:sp>
        </p:grpSp>
        <p:sp>
          <p:nvSpPr>
            <p:cNvPr id="214" name="Line 214"/>
            <p:cNvSpPr/>
            <p:nvPr/>
          </p:nvSpPr>
          <p:spPr>
            <a:xfrm>
              <a:off x="3543300" y="6191250"/>
              <a:ext cx="342900" cy="1"/>
            </a:xfrm>
            <a:prstGeom prst="line">
              <a:avLst/>
            </a:prstGeom>
            <a:noFill/>
            <a:ln w="28575">
              <a:solidFill>
                <a:srgbClr val="C9482E"/>
              </a:solidFill>
              <a:tailEnd type="triangle" w="lg" len="lg"/>
            </a:ln>
          </p:spPr>
        </p:sp>
        <p:grpSp>
          <p:nvGrpSpPr>
            <p:cNvPr id="223" name="chain-3"/>
            <p:cNvGrpSpPr/>
            <p:nvPr/>
          </p:nvGrpSpPr>
          <p:grpSpPr>
            <a:xfrm>
              <a:off x="4000500" y="5924550"/>
              <a:ext cx="1237463" cy="533400"/>
              <a:chOff x="4000500" y="5924550"/>
              <a:chExt cx="1237463" cy="533400"/>
            </a:xfrm>
          </p:grpSpPr>
          <p:sp>
            <p:nvSpPr>
              <p:cNvPr id="215" name="Ellipse 215"/>
              <p:cNvSpPr/>
              <p:nvPr/>
            </p:nvSpPr>
            <p:spPr>
              <a:xfrm>
                <a:off x="4000500" y="5924550"/>
                <a:ext cx="533400" cy="533400"/>
              </a:xfrm>
              <a:prstGeom prst="ellipse">
                <a:avLst/>
              </a:prstGeom>
              <a:solidFill>
                <a:srgbClr val="EFF5FD"/>
              </a:solidFill>
              <a:ln w="14288">
                <a:solidFill>
                  <a:srgbClr val="841600"/>
                </a:solidFill>
              </a:ln>
            </p:spPr>
          </p:sp>
          <p:grpSp>
            <p:nvGrpSpPr>
              <p:cNvPr id="221" name="Group 221"/>
              <p:cNvGrpSpPr/>
              <p:nvPr/>
            </p:nvGrpSpPr>
            <p:grpSpPr>
              <a:xfrm>
                <a:off x="4189413" y="6091238"/>
                <a:ext cx="155575" cy="200026"/>
                <a:chOff x="4189413" y="6091238"/>
                <a:chExt cx="155575" cy="200026"/>
              </a:xfrm>
            </p:grpSpPr>
            <p:sp>
              <p:nvSpPr>
                <p:cNvPr id="216" name="Freeform 216"/>
                <p:cNvSpPr/>
                <p:nvPr/>
              </p:nvSpPr>
              <p:spPr>
                <a:xfrm>
                  <a:off x="4289425" y="6091238"/>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16669">
                  <a:solidFill>
                    <a:srgbClr val="841600"/>
                  </a:solidFill>
                </a:ln>
              </p:spPr>
            </p:sp>
            <p:sp>
              <p:nvSpPr>
                <p:cNvPr id="217" name="Freeform 217"/>
                <p:cNvSpPr/>
                <p:nvPr/>
              </p:nvSpPr>
              <p:spPr>
                <a:xfrm>
                  <a:off x="4189413" y="6091238"/>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16669">
                  <a:solidFill>
                    <a:srgbClr val="841600"/>
                  </a:solidFill>
                </a:ln>
              </p:spPr>
            </p:sp>
            <p:sp>
              <p:nvSpPr>
                <p:cNvPr id="218" name="Freeform 218"/>
                <p:cNvSpPr/>
                <p:nvPr/>
              </p:nvSpPr>
              <p:spPr>
                <a:xfrm>
                  <a:off x="4233863" y="6157913"/>
                  <a:ext cx="11113" cy="9525"/>
                </a:xfrm>
                <a:custGeom>
                  <a:avLst/>
                  <a:gdLst/>
                  <a:ahLst/>
                  <a:cxnLst/>
                  <a:rect l="l" t="t" r="r" b="b"/>
                  <a:pathLst>
                    <a:path w="11113" h="9525">
                      <a:moveTo>
                        <a:pt x="0" y="0"/>
                      </a:moveTo>
                      <a:lnTo>
                        <a:pt x="11113" y="0"/>
                      </a:lnTo>
                    </a:path>
                  </a:pathLst>
                </a:custGeom>
                <a:noFill/>
                <a:ln w="16669">
                  <a:solidFill>
                    <a:srgbClr val="841600"/>
                  </a:solidFill>
                </a:ln>
              </p:spPr>
            </p:sp>
            <p:sp>
              <p:nvSpPr>
                <p:cNvPr id="219" name="Freeform 219"/>
                <p:cNvSpPr/>
                <p:nvPr/>
              </p:nvSpPr>
              <p:spPr>
                <a:xfrm>
                  <a:off x="4233863" y="6202363"/>
                  <a:ext cx="66675" cy="9525"/>
                </a:xfrm>
                <a:custGeom>
                  <a:avLst/>
                  <a:gdLst/>
                  <a:ahLst/>
                  <a:cxnLst/>
                  <a:rect l="l" t="t" r="r" b="b"/>
                  <a:pathLst>
                    <a:path w="66675" h="9525">
                      <a:moveTo>
                        <a:pt x="0" y="0"/>
                      </a:moveTo>
                      <a:lnTo>
                        <a:pt x="66675" y="0"/>
                      </a:lnTo>
                    </a:path>
                  </a:pathLst>
                </a:custGeom>
                <a:noFill/>
                <a:ln w="16669">
                  <a:solidFill>
                    <a:srgbClr val="841600"/>
                  </a:solidFill>
                </a:ln>
              </p:spPr>
            </p:sp>
            <p:sp>
              <p:nvSpPr>
                <p:cNvPr id="220" name="Freeform 220"/>
                <p:cNvSpPr/>
                <p:nvPr/>
              </p:nvSpPr>
              <p:spPr>
                <a:xfrm>
                  <a:off x="4233863" y="6246813"/>
                  <a:ext cx="66675" cy="9525"/>
                </a:xfrm>
                <a:custGeom>
                  <a:avLst/>
                  <a:gdLst/>
                  <a:ahLst/>
                  <a:cxnLst/>
                  <a:rect l="l" t="t" r="r" b="b"/>
                  <a:pathLst>
                    <a:path w="66675" h="9525">
                      <a:moveTo>
                        <a:pt x="0" y="0"/>
                      </a:moveTo>
                      <a:lnTo>
                        <a:pt x="66675" y="0"/>
                      </a:lnTo>
                    </a:path>
                  </a:pathLst>
                </a:custGeom>
                <a:noFill/>
                <a:ln w="16669">
                  <a:solidFill>
                    <a:srgbClr val="841600"/>
                  </a:solidFill>
                </a:ln>
              </p:spPr>
            </p:sp>
          </p:grpSp>
          <p:sp>
            <p:nvSpPr>
              <p:cNvPr id="222" name="TextBox 222"/>
              <p:cNvSpPr txBox="1"/>
              <p:nvPr/>
            </p:nvSpPr>
            <p:spPr>
              <a:xfrm>
                <a:off x="4623435" y="6126956"/>
                <a:ext cx="61452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一户一策</a:t>
                </a:r>
              </a:p>
            </p:txBody>
          </p:sp>
        </p:grpSp>
        <p:sp>
          <p:nvSpPr>
            <p:cNvPr id="224" name="Line 224"/>
            <p:cNvSpPr/>
            <p:nvPr/>
          </p:nvSpPr>
          <p:spPr>
            <a:xfrm>
              <a:off x="5314950" y="6191250"/>
              <a:ext cx="342900" cy="1"/>
            </a:xfrm>
            <a:prstGeom prst="line">
              <a:avLst/>
            </a:prstGeom>
            <a:noFill/>
            <a:ln w="28575">
              <a:solidFill>
                <a:srgbClr val="C9482E"/>
              </a:solidFill>
              <a:tailEnd type="triangle" w="lg" len="lg"/>
            </a:ln>
          </p:spPr>
        </p:sp>
        <p:grpSp>
          <p:nvGrpSpPr>
            <p:cNvPr id="231" name="chain-4"/>
            <p:cNvGrpSpPr/>
            <p:nvPr/>
          </p:nvGrpSpPr>
          <p:grpSpPr>
            <a:xfrm>
              <a:off x="5772150" y="5924550"/>
              <a:ext cx="1237463" cy="533400"/>
              <a:chOff x="5772150" y="5924550"/>
              <a:chExt cx="1237463" cy="533400"/>
            </a:xfrm>
          </p:grpSpPr>
          <p:sp>
            <p:nvSpPr>
              <p:cNvPr id="225" name="Ellipse 225"/>
              <p:cNvSpPr/>
              <p:nvPr/>
            </p:nvSpPr>
            <p:spPr>
              <a:xfrm>
                <a:off x="5772150" y="5924550"/>
                <a:ext cx="533400" cy="533400"/>
              </a:xfrm>
              <a:prstGeom prst="ellipse">
                <a:avLst/>
              </a:prstGeom>
              <a:solidFill>
                <a:srgbClr val="EFF5FD"/>
              </a:solidFill>
              <a:ln w="14288">
                <a:solidFill>
                  <a:srgbClr val="841600"/>
                </a:solidFill>
              </a:ln>
            </p:spPr>
          </p:sp>
          <p:grpSp>
            <p:nvGrpSpPr>
              <p:cNvPr id="229" name="Group 229"/>
              <p:cNvGrpSpPr/>
              <p:nvPr/>
            </p:nvGrpSpPr>
            <p:grpSpPr>
              <a:xfrm>
                <a:off x="5938838" y="6091238"/>
                <a:ext cx="200026" cy="200026"/>
                <a:chOff x="5938838" y="6091238"/>
                <a:chExt cx="200026" cy="200026"/>
              </a:xfrm>
            </p:grpSpPr>
            <p:sp>
              <p:nvSpPr>
                <p:cNvPr id="226" name="Freeform 226"/>
                <p:cNvSpPr/>
                <p:nvPr/>
              </p:nvSpPr>
              <p:spPr>
                <a:xfrm>
                  <a:off x="6027738" y="618013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16669">
                  <a:solidFill>
                    <a:srgbClr val="841600"/>
                  </a:solidFill>
                </a:ln>
              </p:spPr>
            </p:sp>
            <p:sp>
              <p:nvSpPr>
                <p:cNvPr id="227" name="Freeform 227"/>
                <p:cNvSpPr/>
                <p:nvPr/>
              </p:nvSpPr>
              <p:spPr>
                <a:xfrm>
                  <a:off x="5983288" y="6135688"/>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16669">
                  <a:solidFill>
                    <a:srgbClr val="841600"/>
                  </a:solidFill>
                </a:ln>
              </p:spPr>
            </p:sp>
            <p:sp>
              <p:nvSpPr>
                <p:cNvPr id="228" name="Freeform 228"/>
                <p:cNvSpPr/>
                <p:nvPr/>
              </p:nvSpPr>
              <p:spPr>
                <a:xfrm>
                  <a:off x="5938838" y="60912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16669">
                  <a:solidFill>
                    <a:srgbClr val="841600"/>
                  </a:solidFill>
                </a:ln>
              </p:spPr>
            </p:sp>
          </p:grpSp>
          <p:sp>
            <p:nvSpPr>
              <p:cNvPr id="230" name="TextBox 230"/>
              <p:cNvSpPr txBox="1"/>
              <p:nvPr/>
            </p:nvSpPr>
            <p:spPr>
              <a:xfrm>
                <a:off x="6395085" y="6126956"/>
                <a:ext cx="61452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项目落地</a:t>
                </a:r>
              </a:p>
            </p:txBody>
          </p:sp>
        </p:grpSp>
        <p:sp>
          <p:nvSpPr>
            <p:cNvPr id="232" name="Line 232"/>
            <p:cNvSpPr/>
            <p:nvPr/>
          </p:nvSpPr>
          <p:spPr>
            <a:xfrm>
              <a:off x="7086600" y="6191250"/>
              <a:ext cx="342900" cy="1"/>
            </a:xfrm>
            <a:prstGeom prst="line">
              <a:avLst/>
            </a:prstGeom>
            <a:noFill/>
            <a:ln w="28575">
              <a:solidFill>
                <a:srgbClr val="C9482E"/>
              </a:solidFill>
              <a:tailEnd type="triangle" w="lg" len="lg"/>
            </a:ln>
          </p:spPr>
        </p:sp>
        <p:grpSp>
          <p:nvGrpSpPr>
            <p:cNvPr id="240" name="chain-5"/>
            <p:cNvGrpSpPr/>
            <p:nvPr/>
          </p:nvGrpSpPr>
          <p:grpSpPr>
            <a:xfrm>
              <a:off x="7543800" y="5924550"/>
              <a:ext cx="1237463" cy="533400"/>
              <a:chOff x="7543800" y="5924550"/>
              <a:chExt cx="1237463" cy="533400"/>
            </a:xfrm>
          </p:grpSpPr>
          <p:sp>
            <p:nvSpPr>
              <p:cNvPr id="233" name="Ellipse 233"/>
              <p:cNvSpPr/>
              <p:nvPr/>
            </p:nvSpPr>
            <p:spPr>
              <a:xfrm>
                <a:off x="7543800" y="5924550"/>
                <a:ext cx="533400" cy="533400"/>
              </a:xfrm>
              <a:prstGeom prst="ellipse">
                <a:avLst/>
              </a:prstGeom>
              <a:solidFill>
                <a:srgbClr val="EFF5FD"/>
              </a:solidFill>
              <a:ln w="14288">
                <a:solidFill>
                  <a:srgbClr val="841600"/>
                </a:solidFill>
              </a:ln>
            </p:spPr>
          </p:sp>
          <p:grpSp>
            <p:nvGrpSpPr>
              <p:cNvPr id="238" name="Group 238"/>
              <p:cNvGrpSpPr/>
              <p:nvPr/>
            </p:nvGrpSpPr>
            <p:grpSpPr>
              <a:xfrm>
                <a:off x="7710488" y="6102350"/>
                <a:ext cx="200025" cy="187326"/>
                <a:chOff x="7710488" y="6102350"/>
                <a:chExt cx="200025" cy="187326"/>
              </a:xfrm>
            </p:grpSpPr>
            <p:sp>
              <p:nvSpPr>
                <p:cNvPr id="234" name="Freeform 234"/>
                <p:cNvSpPr/>
                <p:nvPr/>
              </p:nvSpPr>
              <p:spPr>
                <a:xfrm>
                  <a:off x="7710488" y="619125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16669">
                  <a:solidFill>
                    <a:srgbClr val="841600"/>
                  </a:solidFill>
                </a:ln>
              </p:spPr>
            </p:sp>
            <p:sp>
              <p:nvSpPr>
                <p:cNvPr id="235" name="Freeform 235"/>
                <p:cNvSpPr/>
                <p:nvPr/>
              </p:nvSpPr>
              <p:spPr>
                <a:xfrm>
                  <a:off x="7843838" y="614680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16669">
                  <a:solidFill>
                    <a:srgbClr val="841600"/>
                  </a:solidFill>
                </a:ln>
              </p:spPr>
            </p:sp>
            <p:sp>
              <p:nvSpPr>
                <p:cNvPr id="236" name="Freeform 236"/>
                <p:cNvSpPr/>
                <p:nvPr/>
              </p:nvSpPr>
              <p:spPr>
                <a:xfrm>
                  <a:off x="7777163" y="610235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16669">
                  <a:solidFill>
                    <a:srgbClr val="841600"/>
                  </a:solidFill>
                </a:ln>
              </p:spPr>
            </p:sp>
            <p:sp>
              <p:nvSpPr>
                <p:cNvPr id="237" name="Freeform 237"/>
                <p:cNvSpPr/>
                <p:nvPr/>
              </p:nvSpPr>
              <p:spPr>
                <a:xfrm>
                  <a:off x="7721600" y="6280151"/>
                  <a:ext cx="155575" cy="9525"/>
                </a:xfrm>
                <a:custGeom>
                  <a:avLst/>
                  <a:gdLst/>
                  <a:ahLst/>
                  <a:cxnLst/>
                  <a:rect l="l" t="t" r="r" b="b"/>
                  <a:pathLst>
                    <a:path w="155575" h="9525">
                      <a:moveTo>
                        <a:pt x="0" y="0"/>
                      </a:moveTo>
                      <a:lnTo>
                        <a:pt x="155575" y="0"/>
                      </a:lnTo>
                    </a:path>
                  </a:pathLst>
                </a:custGeom>
                <a:noFill/>
                <a:ln w="16669">
                  <a:solidFill>
                    <a:srgbClr val="841600"/>
                  </a:solidFill>
                </a:ln>
              </p:spPr>
            </p:sp>
          </p:grpSp>
          <p:sp>
            <p:nvSpPr>
              <p:cNvPr id="239" name="TextBox 239"/>
              <p:cNvSpPr txBox="1"/>
              <p:nvPr/>
            </p:nvSpPr>
            <p:spPr>
              <a:xfrm>
                <a:off x="8166735" y="6126956"/>
                <a:ext cx="61452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综合经营</a:t>
                </a:r>
              </a:p>
            </p:txBody>
          </p:sp>
        </p:grpSp>
        <p:sp>
          <p:nvSpPr>
            <p:cNvPr id="241" name="Line 241"/>
            <p:cNvSpPr/>
            <p:nvPr/>
          </p:nvSpPr>
          <p:spPr>
            <a:xfrm>
              <a:off x="9048750" y="5581650"/>
              <a:ext cx="9525" cy="895350"/>
            </a:xfrm>
            <a:custGeom>
              <a:avLst/>
              <a:gdLst/>
              <a:ahLst/>
              <a:cxnLst/>
              <a:rect l="l" t="t" r="r" b="b"/>
              <a:pathLst>
                <a:path w="9525" h="895350">
                  <a:moveTo>
                    <a:pt x="0" y="0"/>
                  </a:moveTo>
                  <a:lnTo>
                    <a:pt x="0" y="895350"/>
                  </a:lnTo>
                </a:path>
              </a:pathLst>
            </a:custGeom>
            <a:noFill/>
            <a:ln w="9525">
              <a:solidFill>
                <a:srgbClr val="D7E2F2"/>
              </a:solidFill>
              <a:custDash>
                <a:ds d="400000" sp="300000"/>
              </a:custDash>
            </a:ln>
          </p:spPr>
        </p:sp>
        <p:grpSp>
          <p:nvGrpSpPr>
            <p:cNvPr id="244" name="Group 244"/>
            <p:cNvGrpSpPr/>
            <p:nvPr/>
          </p:nvGrpSpPr>
          <p:grpSpPr>
            <a:xfrm>
              <a:off x="9267825" y="6073775"/>
              <a:ext cx="285751" cy="158750"/>
              <a:chOff x="9267825" y="6073775"/>
              <a:chExt cx="285751" cy="158750"/>
            </a:xfrm>
          </p:grpSpPr>
          <p:sp>
            <p:nvSpPr>
              <p:cNvPr id="242" name="Freeform 242"/>
              <p:cNvSpPr/>
              <p:nvPr/>
            </p:nvSpPr>
            <p:spPr>
              <a:xfrm>
                <a:off x="9267825" y="6073775"/>
                <a:ext cx="285751" cy="158750"/>
              </a:xfrm>
              <a:custGeom>
                <a:avLst/>
                <a:gdLst/>
                <a:ahLst/>
                <a:cxnLst/>
                <a:rect l="l" t="t" r="r" b="b"/>
                <a:pathLst>
                  <a:path w="285751" h="158750">
                    <a:moveTo>
                      <a:pt x="0" y="158750"/>
                    </a:moveTo>
                    <a:lnTo>
                      <a:pt x="95250" y="63500"/>
                    </a:lnTo>
                    <a:lnTo>
                      <a:pt x="158750" y="127000"/>
                    </a:lnTo>
                    <a:lnTo>
                      <a:pt x="285751" y="0"/>
                    </a:lnTo>
                  </a:path>
                </a:pathLst>
              </a:custGeom>
              <a:noFill/>
              <a:ln w="23813">
                <a:solidFill>
                  <a:srgbClr val="9E331E"/>
                </a:solidFill>
              </a:ln>
            </p:spPr>
          </p:sp>
          <p:sp>
            <p:nvSpPr>
              <p:cNvPr id="243" name="Freeform 243"/>
              <p:cNvSpPr/>
              <p:nvPr/>
            </p:nvSpPr>
            <p:spPr>
              <a:xfrm>
                <a:off x="9442450" y="6073775"/>
                <a:ext cx="111125" cy="111125"/>
              </a:xfrm>
              <a:custGeom>
                <a:avLst/>
                <a:gdLst/>
                <a:ahLst/>
                <a:cxnLst/>
                <a:rect l="l" t="t" r="r" b="b"/>
                <a:pathLst>
                  <a:path w="111125" h="111125">
                    <a:moveTo>
                      <a:pt x="0" y="0"/>
                    </a:moveTo>
                    <a:lnTo>
                      <a:pt x="111125" y="0"/>
                    </a:lnTo>
                    <a:lnTo>
                      <a:pt x="111125" y="111125"/>
                    </a:lnTo>
                  </a:path>
                </a:pathLst>
              </a:custGeom>
              <a:noFill/>
              <a:ln w="23813">
                <a:solidFill>
                  <a:srgbClr val="9E331E"/>
                </a:solidFill>
              </a:ln>
            </p:spPr>
          </p:sp>
        </p:grpSp>
        <p:sp>
          <p:nvSpPr>
            <p:cNvPr id="245" name="TextBox 245"/>
            <p:cNvSpPr txBox="1"/>
            <p:nvPr/>
          </p:nvSpPr>
          <p:spPr>
            <a:xfrm>
              <a:off x="9709404" y="6004560"/>
              <a:ext cx="1536192" cy="482346"/>
            </a:xfrm>
            <a:prstGeom prst="rect">
              <a:avLst/>
            </a:prstGeom>
            <a:noFill/>
            <a:ln>
              <a:noFill/>
            </a:ln>
          </p:spPr>
          <p:txBody>
            <a:bodyPr wrap="none" lIns="0" tIns="0" rIns="0" bIns="0" anchor="t" anchorCtr="0">
              <a:spAutoFit/>
            </a:bodyPr>
            <a:lstStyle/>
            <a:p>
              <a:pPr algn="l">
                <a:lnSpc>
                  <a:spcPts val="1950"/>
                </a:lnSpc>
              </a:pPr>
              <a:r>
                <a:rPr lang="zh-CN" sz="1200" b="1" dirty="0">
                  <a:solidFill>
                    <a:srgbClr val="1A1A1A"/>
                  </a:solidFill>
                  <a:latin typeface="+mn-lt"/>
                  <a:ea typeface="+mn-ea"/>
                  <a:cs typeface="+mn-cs"/>
                </a:rPr>
                <a:t>以客户分层与项目清单</a:t>
              </a:r>
              <a:br/>
              <a:r>
                <a:rPr lang="zh-CN" sz="1200" b="1" dirty="0">
                  <a:solidFill>
                    <a:srgbClr val="1A1A1A"/>
                  </a:solidFill>
                  <a:latin typeface="+mn-lt"/>
                  <a:ea typeface="+mn-ea"/>
                  <a:cs typeface="+mn-cs"/>
                </a:rPr>
                <a:t>驱动对公增长</a:t>
              </a:r>
            </a:p>
          </p:txBody>
        </p:sp>
      </p:gr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05</a:t>
              </a:r>
            </a:p>
          </p:txBody>
        </p:sp>
        <p:sp>
          <p:nvSpPr>
            <p:cNvPr id="4" name="TextBox 4"/>
            <p:cNvSpPr txBox="1"/>
            <p:nvPr/>
          </p:nvSpPr>
          <p:spPr>
            <a:xfrm>
              <a:off x="942594" y="151448"/>
              <a:ext cx="8618220"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机构业务部</a:t>
              </a:r>
              <a:r>
                <a:rPr lang="zh-CN" sz="1950" b="1" dirty="0">
                  <a:solidFill>
                    <a:srgbClr val="1A1A1A"/>
                  </a:solidFill>
                  <a:latin typeface="SimSun"/>
                  <a:ea typeface="SimSun"/>
                  <a:cs typeface="SimSun"/>
                </a:rPr>
                <a:t>｜以财政、社保、教育、医疗和公共资源账户构建稳定负债</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8" name="page-subtitle"/>
          <p:cNvGrpSpPr/>
          <p:nvPr/>
        </p:nvGrpSpPr>
        <p:grpSpPr>
          <a:xfrm>
            <a:off x="947738" y="664845"/>
            <a:ext cx="2796159" cy="176212"/>
            <a:chOff x="947738" y="664845"/>
            <a:chExt cx="2796159" cy="176212"/>
          </a:xfrm>
        </p:grpSpPr>
        <p:sp>
          <p:nvSpPr>
            <p:cNvPr id="7" name="TextBox 7"/>
            <p:cNvSpPr txBox="1"/>
            <p:nvPr/>
          </p:nvSpPr>
          <p:spPr>
            <a:xfrm>
              <a:off x="947738" y="664845"/>
              <a:ext cx="2796159"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以账户为入口、以场景为抓手，沉淀低成本稳定资金</a:t>
              </a:r>
            </a:p>
          </p:txBody>
        </p:sp>
      </p:grpSp>
      <p:grpSp>
        <p:nvGrpSpPr>
          <p:cNvPr id="80" name="account-radial"/>
          <p:cNvGrpSpPr/>
          <p:nvPr/>
        </p:nvGrpSpPr>
        <p:grpSpPr>
          <a:xfrm>
            <a:off x="571500" y="1066800"/>
            <a:ext cx="7296150" cy="2438400"/>
            <a:chOff x="571500" y="1066800"/>
            <a:chExt cx="7296150" cy="2438400"/>
          </a:xfrm>
        </p:grpSpPr>
        <p:sp>
          <p:nvSpPr>
            <p:cNvPr id="9" name="Line 9"/>
            <p:cNvSpPr/>
            <p:nvPr/>
          </p:nvSpPr>
          <p:spPr>
            <a:xfrm>
              <a:off x="2857500" y="1371600"/>
              <a:ext cx="1362075" cy="914400"/>
            </a:xfrm>
            <a:custGeom>
              <a:avLst/>
              <a:gdLst/>
              <a:ahLst/>
              <a:cxnLst/>
              <a:rect l="l" t="t" r="r" b="b"/>
              <a:pathLst>
                <a:path w="1362075" h="914400">
                  <a:moveTo>
                    <a:pt x="0" y="0"/>
                  </a:moveTo>
                  <a:lnTo>
                    <a:pt x="1362075" y="914400"/>
                  </a:lnTo>
                </a:path>
              </a:pathLst>
            </a:custGeom>
            <a:noFill/>
            <a:ln w="14288">
              <a:solidFill>
                <a:srgbClr val="E3907F"/>
              </a:solidFill>
              <a:custDash>
                <a:ds d="333333" sp="266667"/>
              </a:custDash>
            </a:ln>
          </p:spPr>
        </p:sp>
        <p:sp>
          <p:nvSpPr>
            <p:cNvPr id="10" name="Line 10"/>
            <p:cNvSpPr/>
            <p:nvPr/>
          </p:nvSpPr>
          <p:spPr>
            <a:xfrm>
              <a:off x="2857500" y="2286000"/>
              <a:ext cx="1362075" cy="9525"/>
            </a:xfrm>
            <a:custGeom>
              <a:avLst/>
              <a:gdLst/>
              <a:ahLst/>
              <a:cxnLst/>
              <a:rect l="l" t="t" r="r" b="b"/>
              <a:pathLst>
                <a:path w="1362075" h="9525">
                  <a:moveTo>
                    <a:pt x="0" y="0"/>
                  </a:moveTo>
                  <a:lnTo>
                    <a:pt x="1362075" y="0"/>
                  </a:lnTo>
                </a:path>
              </a:pathLst>
            </a:custGeom>
            <a:noFill/>
            <a:ln w="14288">
              <a:solidFill>
                <a:srgbClr val="E3907F"/>
              </a:solidFill>
              <a:custDash>
                <a:ds d="333333" sp="266667"/>
              </a:custDash>
            </a:ln>
          </p:spPr>
        </p:sp>
        <p:sp>
          <p:nvSpPr>
            <p:cNvPr id="11" name="Line 11"/>
            <p:cNvSpPr/>
            <p:nvPr/>
          </p:nvSpPr>
          <p:spPr>
            <a:xfrm>
              <a:off x="2857500" y="2286000"/>
              <a:ext cx="1362075" cy="914400"/>
            </a:xfrm>
            <a:custGeom>
              <a:avLst/>
              <a:gdLst/>
              <a:ahLst/>
              <a:cxnLst/>
              <a:rect l="l" t="t" r="r" b="b"/>
              <a:pathLst>
                <a:path w="1362075" h="914400">
                  <a:moveTo>
                    <a:pt x="0" y="914400"/>
                  </a:moveTo>
                  <a:lnTo>
                    <a:pt x="1362075" y="0"/>
                  </a:lnTo>
                </a:path>
              </a:pathLst>
            </a:custGeom>
            <a:noFill/>
            <a:ln w="14288">
              <a:solidFill>
                <a:srgbClr val="E3907F"/>
              </a:solidFill>
              <a:custDash>
                <a:ds d="333333" sp="266667"/>
              </a:custDash>
            </a:ln>
          </p:spPr>
        </p:sp>
        <p:sp>
          <p:nvSpPr>
            <p:cNvPr id="12" name="Line 12"/>
            <p:cNvSpPr/>
            <p:nvPr/>
          </p:nvSpPr>
          <p:spPr>
            <a:xfrm>
              <a:off x="4219575" y="1371600"/>
              <a:ext cx="1362075" cy="914400"/>
            </a:xfrm>
            <a:custGeom>
              <a:avLst/>
              <a:gdLst/>
              <a:ahLst/>
              <a:cxnLst/>
              <a:rect l="l" t="t" r="r" b="b"/>
              <a:pathLst>
                <a:path w="1362075" h="914400">
                  <a:moveTo>
                    <a:pt x="1362075" y="0"/>
                  </a:moveTo>
                  <a:lnTo>
                    <a:pt x="0" y="914400"/>
                  </a:lnTo>
                </a:path>
              </a:pathLst>
            </a:custGeom>
            <a:noFill/>
            <a:ln w="14288">
              <a:solidFill>
                <a:srgbClr val="E3907F"/>
              </a:solidFill>
              <a:custDash>
                <a:ds d="333333" sp="266667"/>
              </a:custDash>
            </a:ln>
          </p:spPr>
        </p:sp>
        <p:sp>
          <p:nvSpPr>
            <p:cNvPr id="13" name="Line 13"/>
            <p:cNvSpPr/>
            <p:nvPr/>
          </p:nvSpPr>
          <p:spPr>
            <a:xfrm>
              <a:off x="4219575" y="2286000"/>
              <a:ext cx="1362075" cy="9525"/>
            </a:xfrm>
            <a:custGeom>
              <a:avLst/>
              <a:gdLst/>
              <a:ahLst/>
              <a:cxnLst/>
              <a:rect l="l" t="t" r="r" b="b"/>
              <a:pathLst>
                <a:path w="1362075" h="9525">
                  <a:moveTo>
                    <a:pt x="1362075" y="0"/>
                  </a:moveTo>
                  <a:lnTo>
                    <a:pt x="0" y="0"/>
                  </a:lnTo>
                </a:path>
              </a:pathLst>
            </a:custGeom>
            <a:noFill/>
            <a:ln w="14288">
              <a:solidFill>
                <a:srgbClr val="E3907F"/>
              </a:solidFill>
              <a:custDash>
                <a:ds d="333333" sp="266667"/>
              </a:custDash>
            </a:ln>
          </p:spPr>
        </p:sp>
        <p:sp>
          <p:nvSpPr>
            <p:cNvPr id="14" name="Line 14"/>
            <p:cNvSpPr/>
            <p:nvPr/>
          </p:nvSpPr>
          <p:spPr>
            <a:xfrm>
              <a:off x="4219575" y="2286000"/>
              <a:ext cx="1362075" cy="914400"/>
            </a:xfrm>
            <a:custGeom>
              <a:avLst/>
              <a:gdLst/>
              <a:ahLst/>
              <a:cxnLst/>
              <a:rect l="l" t="t" r="r" b="b"/>
              <a:pathLst>
                <a:path w="1362075" h="914400">
                  <a:moveTo>
                    <a:pt x="1362075" y="914400"/>
                  </a:moveTo>
                  <a:lnTo>
                    <a:pt x="0" y="0"/>
                  </a:lnTo>
                </a:path>
              </a:pathLst>
            </a:custGeom>
            <a:noFill/>
            <a:ln w="14288">
              <a:solidFill>
                <a:srgbClr val="E3907F"/>
              </a:solidFill>
              <a:custDash>
                <a:ds d="333333" sp="266667"/>
              </a:custDash>
            </a:ln>
          </p:spPr>
        </p:sp>
        <p:grpSp>
          <p:nvGrpSpPr>
            <p:cNvPr id="26" name="account-fiscal"/>
            <p:cNvGrpSpPr/>
            <p:nvPr/>
          </p:nvGrpSpPr>
          <p:grpSpPr>
            <a:xfrm>
              <a:off x="571500" y="1066800"/>
              <a:ext cx="2286000" cy="609600"/>
              <a:chOff x="571500" y="1066800"/>
              <a:chExt cx="2286000" cy="609600"/>
            </a:xfrm>
          </p:grpSpPr>
          <p:sp>
            <p:nvSpPr>
              <p:cNvPr id="15" name="Rectangle 15"/>
              <p:cNvSpPr/>
              <p:nvPr/>
            </p:nvSpPr>
            <p:spPr>
              <a:xfrm>
                <a:off x="571500" y="1066800"/>
                <a:ext cx="2286000" cy="609600"/>
              </a:xfrm>
              <a:prstGeom prst="roundRect">
                <a:avLst>
                  <a:gd name="adj" fmla="val 12500"/>
                </a:avLst>
              </a:prstGeom>
              <a:solidFill>
                <a:srgbClr val="EFF5FD"/>
              </a:solidFill>
              <a:ln w="9525">
                <a:solidFill>
                  <a:srgbClr val="D7E2F2"/>
                </a:solidFill>
              </a:ln>
            </p:spPr>
          </p:sp>
          <p:grpSp>
            <p:nvGrpSpPr>
              <p:cNvPr id="24" name="Group 24"/>
              <p:cNvGrpSpPr/>
              <p:nvPr/>
            </p:nvGrpSpPr>
            <p:grpSpPr>
              <a:xfrm>
                <a:off x="819150" y="1257300"/>
                <a:ext cx="228599" cy="238124"/>
                <a:chOff x="819150" y="1257300"/>
                <a:chExt cx="228599" cy="238124"/>
              </a:xfrm>
            </p:grpSpPr>
            <p:sp>
              <p:nvSpPr>
                <p:cNvPr id="16" name="Freeform 16"/>
                <p:cNvSpPr/>
                <p:nvPr/>
              </p:nvSpPr>
              <p:spPr>
                <a:xfrm>
                  <a:off x="819150" y="1485899"/>
                  <a:ext cx="228599" cy="9525"/>
                </a:xfrm>
                <a:custGeom>
                  <a:avLst/>
                  <a:gdLst/>
                  <a:ahLst/>
                  <a:cxnLst/>
                  <a:rect l="l" t="t" r="r" b="b"/>
                  <a:pathLst>
                    <a:path w="228599" h="9525">
                      <a:moveTo>
                        <a:pt x="0" y="0"/>
                      </a:moveTo>
                      <a:lnTo>
                        <a:pt x="228599" y="0"/>
                      </a:lnTo>
                    </a:path>
                  </a:pathLst>
                </a:custGeom>
                <a:noFill/>
                <a:ln w="19050">
                  <a:solidFill>
                    <a:srgbClr val="841600"/>
                  </a:solidFill>
                </a:ln>
              </p:spPr>
            </p:sp>
            <p:sp>
              <p:nvSpPr>
                <p:cNvPr id="17" name="Freeform 17"/>
                <p:cNvSpPr/>
                <p:nvPr/>
              </p:nvSpPr>
              <p:spPr>
                <a:xfrm>
                  <a:off x="819150" y="1346200"/>
                  <a:ext cx="228599" cy="9525"/>
                </a:xfrm>
                <a:custGeom>
                  <a:avLst/>
                  <a:gdLst/>
                  <a:ahLst/>
                  <a:cxnLst/>
                  <a:rect l="l" t="t" r="r" b="b"/>
                  <a:pathLst>
                    <a:path w="228599" h="9525">
                      <a:moveTo>
                        <a:pt x="0" y="0"/>
                      </a:moveTo>
                      <a:lnTo>
                        <a:pt x="228599" y="0"/>
                      </a:lnTo>
                    </a:path>
                  </a:pathLst>
                </a:custGeom>
                <a:noFill/>
                <a:ln w="19050">
                  <a:solidFill>
                    <a:srgbClr val="841600"/>
                  </a:solidFill>
                </a:ln>
              </p:spPr>
            </p:sp>
            <p:sp>
              <p:nvSpPr>
                <p:cNvPr id="18" name="Freeform 18"/>
                <p:cNvSpPr/>
                <p:nvPr/>
              </p:nvSpPr>
              <p:spPr>
                <a:xfrm>
                  <a:off x="844550" y="1257300"/>
                  <a:ext cx="177800" cy="38100"/>
                </a:xfrm>
                <a:custGeom>
                  <a:avLst/>
                  <a:gdLst/>
                  <a:ahLst/>
                  <a:cxnLst/>
                  <a:rect l="l" t="t" r="r" b="b"/>
                  <a:pathLst>
                    <a:path w="177800" h="38100">
                      <a:moveTo>
                        <a:pt x="0" y="38100"/>
                      </a:moveTo>
                      <a:lnTo>
                        <a:pt x="88900" y="0"/>
                      </a:lnTo>
                      <a:lnTo>
                        <a:pt x="177800" y="38100"/>
                      </a:lnTo>
                    </a:path>
                  </a:pathLst>
                </a:custGeom>
                <a:noFill/>
                <a:ln w="19050">
                  <a:solidFill>
                    <a:srgbClr val="841600"/>
                  </a:solidFill>
                </a:ln>
              </p:spPr>
            </p:sp>
            <p:sp>
              <p:nvSpPr>
                <p:cNvPr id="19" name="Freeform 19"/>
                <p:cNvSpPr/>
                <p:nvPr/>
              </p:nvSpPr>
              <p:spPr>
                <a:xfrm>
                  <a:off x="831850" y="1346200"/>
                  <a:ext cx="9525" cy="139700"/>
                </a:xfrm>
                <a:custGeom>
                  <a:avLst/>
                  <a:gdLst/>
                  <a:ahLst/>
                  <a:cxnLst/>
                  <a:rect l="l" t="t" r="r" b="b"/>
                  <a:pathLst>
                    <a:path w="9525" h="139700">
                      <a:moveTo>
                        <a:pt x="0" y="0"/>
                      </a:moveTo>
                      <a:lnTo>
                        <a:pt x="0" y="139700"/>
                      </a:lnTo>
                    </a:path>
                  </a:pathLst>
                </a:custGeom>
                <a:noFill/>
                <a:ln w="19050">
                  <a:solidFill>
                    <a:srgbClr val="841600"/>
                  </a:solidFill>
                </a:ln>
              </p:spPr>
            </p:sp>
            <p:sp>
              <p:nvSpPr>
                <p:cNvPr id="20" name="Freeform 20"/>
                <p:cNvSpPr/>
                <p:nvPr/>
              </p:nvSpPr>
              <p:spPr>
                <a:xfrm>
                  <a:off x="1035049" y="1346200"/>
                  <a:ext cx="9525" cy="139700"/>
                </a:xfrm>
                <a:custGeom>
                  <a:avLst/>
                  <a:gdLst/>
                  <a:ahLst/>
                  <a:cxnLst/>
                  <a:rect l="l" t="t" r="r" b="b"/>
                  <a:pathLst>
                    <a:path w="9525" h="139700">
                      <a:moveTo>
                        <a:pt x="0" y="0"/>
                      </a:moveTo>
                      <a:lnTo>
                        <a:pt x="0" y="139700"/>
                      </a:lnTo>
                    </a:path>
                  </a:pathLst>
                </a:custGeom>
                <a:noFill/>
                <a:ln w="19050">
                  <a:solidFill>
                    <a:srgbClr val="841600"/>
                  </a:solidFill>
                </a:ln>
              </p:spPr>
            </p:sp>
            <p:sp>
              <p:nvSpPr>
                <p:cNvPr id="21" name="Freeform 21"/>
                <p:cNvSpPr/>
                <p:nvPr/>
              </p:nvSpPr>
              <p:spPr>
                <a:xfrm>
                  <a:off x="882650" y="1397000"/>
                  <a:ext cx="9525" cy="38100"/>
                </a:xfrm>
                <a:custGeom>
                  <a:avLst/>
                  <a:gdLst/>
                  <a:ahLst/>
                  <a:cxnLst/>
                  <a:rect l="l" t="t" r="r" b="b"/>
                  <a:pathLst>
                    <a:path w="9525" h="38100">
                      <a:moveTo>
                        <a:pt x="0" y="0"/>
                      </a:moveTo>
                      <a:lnTo>
                        <a:pt x="0" y="38100"/>
                      </a:lnTo>
                    </a:path>
                  </a:pathLst>
                </a:custGeom>
                <a:noFill/>
                <a:ln w="19050">
                  <a:solidFill>
                    <a:srgbClr val="841600"/>
                  </a:solidFill>
                </a:ln>
              </p:spPr>
            </p:sp>
            <p:sp>
              <p:nvSpPr>
                <p:cNvPr id="22" name="Freeform 22"/>
                <p:cNvSpPr/>
                <p:nvPr/>
              </p:nvSpPr>
              <p:spPr>
                <a:xfrm>
                  <a:off x="933450" y="1397000"/>
                  <a:ext cx="9525" cy="38100"/>
                </a:xfrm>
                <a:custGeom>
                  <a:avLst/>
                  <a:gdLst/>
                  <a:ahLst/>
                  <a:cxnLst/>
                  <a:rect l="l" t="t" r="r" b="b"/>
                  <a:pathLst>
                    <a:path w="9525" h="38100">
                      <a:moveTo>
                        <a:pt x="0" y="0"/>
                      </a:moveTo>
                      <a:lnTo>
                        <a:pt x="0" y="38100"/>
                      </a:lnTo>
                    </a:path>
                  </a:pathLst>
                </a:custGeom>
                <a:noFill/>
                <a:ln w="19050">
                  <a:solidFill>
                    <a:srgbClr val="841600"/>
                  </a:solidFill>
                </a:ln>
              </p:spPr>
            </p:sp>
            <p:sp>
              <p:nvSpPr>
                <p:cNvPr id="23" name="Freeform 23"/>
                <p:cNvSpPr/>
                <p:nvPr/>
              </p:nvSpPr>
              <p:spPr>
                <a:xfrm>
                  <a:off x="984249" y="1397000"/>
                  <a:ext cx="9525" cy="38100"/>
                </a:xfrm>
                <a:custGeom>
                  <a:avLst/>
                  <a:gdLst/>
                  <a:ahLst/>
                  <a:cxnLst/>
                  <a:rect l="l" t="t" r="r" b="b"/>
                  <a:pathLst>
                    <a:path w="9525" h="38100">
                      <a:moveTo>
                        <a:pt x="0" y="0"/>
                      </a:moveTo>
                      <a:lnTo>
                        <a:pt x="0" y="38100"/>
                      </a:lnTo>
                    </a:path>
                  </a:pathLst>
                </a:custGeom>
                <a:noFill/>
                <a:ln w="19050">
                  <a:solidFill>
                    <a:srgbClr val="841600"/>
                  </a:solidFill>
                </a:ln>
              </p:spPr>
            </p:sp>
          </p:grpSp>
          <p:sp>
            <p:nvSpPr>
              <p:cNvPr id="25" name="TextBox 25"/>
              <p:cNvSpPr txBox="1"/>
              <p:nvPr/>
            </p:nvSpPr>
            <p:spPr>
              <a:xfrm>
                <a:off x="1232154" y="129921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财政账户</a:t>
                </a:r>
              </a:p>
            </p:txBody>
          </p:sp>
        </p:grpSp>
        <p:grpSp>
          <p:nvGrpSpPr>
            <p:cNvPr id="32" name="account-social"/>
            <p:cNvGrpSpPr/>
            <p:nvPr/>
          </p:nvGrpSpPr>
          <p:grpSpPr>
            <a:xfrm>
              <a:off x="571500" y="1981200"/>
              <a:ext cx="2286000" cy="609600"/>
              <a:chOff x="571500" y="1981200"/>
              <a:chExt cx="2286000" cy="609600"/>
            </a:xfrm>
          </p:grpSpPr>
          <p:sp>
            <p:nvSpPr>
              <p:cNvPr id="27" name="Rectangle 27"/>
              <p:cNvSpPr/>
              <p:nvPr/>
            </p:nvSpPr>
            <p:spPr>
              <a:xfrm>
                <a:off x="571500" y="1981200"/>
                <a:ext cx="2286000" cy="609600"/>
              </a:xfrm>
              <a:prstGeom prst="roundRect">
                <a:avLst>
                  <a:gd name="adj" fmla="val 12500"/>
                </a:avLst>
              </a:prstGeom>
              <a:solidFill>
                <a:srgbClr val="EFF5FD"/>
              </a:solidFill>
              <a:ln w="9525">
                <a:solidFill>
                  <a:srgbClr val="D7E2F2"/>
                </a:solidFill>
              </a:ln>
            </p:spPr>
          </p:sp>
          <p:grpSp>
            <p:nvGrpSpPr>
              <p:cNvPr id="30" name="Group 30"/>
              <p:cNvGrpSpPr/>
              <p:nvPr/>
            </p:nvGrpSpPr>
            <p:grpSpPr>
              <a:xfrm>
                <a:off x="813861" y="2171700"/>
                <a:ext cx="239177" cy="228599"/>
                <a:chOff x="813861" y="2171700"/>
                <a:chExt cx="239177" cy="228599"/>
              </a:xfrm>
            </p:grpSpPr>
            <p:sp>
              <p:nvSpPr>
                <p:cNvPr id="28" name="Freeform 28"/>
                <p:cNvSpPr/>
                <p:nvPr/>
              </p:nvSpPr>
              <p:spPr>
                <a:xfrm>
                  <a:off x="813861" y="217170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19050">
                  <a:solidFill>
                    <a:srgbClr val="841600"/>
                  </a:solidFill>
                </a:ln>
              </p:spPr>
            </p:sp>
            <p:sp>
              <p:nvSpPr>
                <p:cNvPr id="29" name="Freeform 29"/>
                <p:cNvSpPr/>
                <p:nvPr/>
              </p:nvSpPr>
              <p:spPr>
                <a:xfrm>
                  <a:off x="933450" y="2171700"/>
                  <a:ext cx="9525" cy="228599"/>
                </a:xfrm>
                <a:custGeom>
                  <a:avLst/>
                  <a:gdLst/>
                  <a:ahLst/>
                  <a:cxnLst/>
                  <a:rect l="l" t="t" r="r" b="b"/>
                  <a:pathLst>
                    <a:path w="9525" h="228599">
                      <a:moveTo>
                        <a:pt x="0" y="0"/>
                      </a:moveTo>
                      <a:lnTo>
                        <a:pt x="0" y="228599"/>
                      </a:lnTo>
                    </a:path>
                  </a:pathLst>
                </a:custGeom>
                <a:noFill/>
                <a:ln w="19050">
                  <a:solidFill>
                    <a:srgbClr val="841600"/>
                  </a:solidFill>
                </a:ln>
              </p:spPr>
            </p:sp>
          </p:grpSp>
          <p:sp>
            <p:nvSpPr>
              <p:cNvPr id="31" name="TextBox 31"/>
              <p:cNvSpPr txBox="1"/>
              <p:nvPr/>
            </p:nvSpPr>
            <p:spPr>
              <a:xfrm>
                <a:off x="1232154" y="221361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社保医保</a:t>
                </a:r>
              </a:p>
            </p:txBody>
          </p:sp>
        </p:grpSp>
        <p:grpSp>
          <p:nvGrpSpPr>
            <p:cNvPr id="44" name="account-housing"/>
            <p:cNvGrpSpPr/>
            <p:nvPr/>
          </p:nvGrpSpPr>
          <p:grpSpPr>
            <a:xfrm>
              <a:off x="571500" y="2895600"/>
              <a:ext cx="2286000" cy="609600"/>
              <a:chOff x="571500" y="2895600"/>
              <a:chExt cx="2286000" cy="609600"/>
            </a:xfrm>
          </p:grpSpPr>
          <p:sp>
            <p:nvSpPr>
              <p:cNvPr id="33" name="Rectangle 33"/>
              <p:cNvSpPr/>
              <p:nvPr/>
            </p:nvSpPr>
            <p:spPr>
              <a:xfrm>
                <a:off x="571500" y="2895600"/>
                <a:ext cx="2286000" cy="609600"/>
              </a:xfrm>
              <a:prstGeom prst="roundRect">
                <a:avLst>
                  <a:gd name="adj" fmla="val 12500"/>
                </a:avLst>
              </a:prstGeom>
              <a:solidFill>
                <a:srgbClr val="EFF5FD"/>
              </a:solidFill>
              <a:ln w="9525">
                <a:solidFill>
                  <a:srgbClr val="D7E2F2"/>
                </a:solidFill>
              </a:ln>
            </p:spPr>
          </p:sp>
          <p:grpSp>
            <p:nvGrpSpPr>
              <p:cNvPr id="42" name="Group 42"/>
              <p:cNvGrpSpPr/>
              <p:nvPr/>
            </p:nvGrpSpPr>
            <p:grpSpPr>
              <a:xfrm>
                <a:off x="819150" y="3086100"/>
                <a:ext cx="228599" cy="238124"/>
                <a:chOff x="819150" y="3086100"/>
                <a:chExt cx="228599" cy="238124"/>
              </a:xfrm>
            </p:grpSpPr>
            <p:sp>
              <p:nvSpPr>
                <p:cNvPr id="34" name="Freeform 34"/>
                <p:cNvSpPr/>
                <p:nvPr/>
              </p:nvSpPr>
              <p:spPr>
                <a:xfrm>
                  <a:off x="819150" y="3314699"/>
                  <a:ext cx="228599" cy="9525"/>
                </a:xfrm>
                <a:custGeom>
                  <a:avLst/>
                  <a:gdLst/>
                  <a:ahLst/>
                  <a:cxnLst/>
                  <a:rect l="l" t="t" r="r" b="b"/>
                  <a:pathLst>
                    <a:path w="228599" h="9525">
                      <a:moveTo>
                        <a:pt x="0" y="0"/>
                      </a:moveTo>
                      <a:lnTo>
                        <a:pt x="228599" y="0"/>
                      </a:lnTo>
                    </a:path>
                  </a:pathLst>
                </a:custGeom>
                <a:noFill/>
                <a:ln w="19050">
                  <a:solidFill>
                    <a:srgbClr val="841600"/>
                  </a:solidFill>
                </a:ln>
              </p:spPr>
            </p:sp>
            <p:sp>
              <p:nvSpPr>
                <p:cNvPr id="35" name="Freeform 35"/>
                <p:cNvSpPr/>
                <p:nvPr/>
              </p:nvSpPr>
              <p:spPr>
                <a:xfrm>
                  <a:off x="895350" y="3149600"/>
                  <a:ext cx="12700" cy="9525"/>
                </a:xfrm>
                <a:custGeom>
                  <a:avLst/>
                  <a:gdLst/>
                  <a:ahLst/>
                  <a:cxnLst/>
                  <a:rect l="l" t="t" r="r" b="b"/>
                  <a:pathLst>
                    <a:path w="12700" h="9525">
                      <a:moveTo>
                        <a:pt x="0" y="0"/>
                      </a:moveTo>
                      <a:lnTo>
                        <a:pt x="12700" y="0"/>
                      </a:lnTo>
                    </a:path>
                  </a:pathLst>
                </a:custGeom>
                <a:noFill/>
                <a:ln w="19050">
                  <a:solidFill>
                    <a:srgbClr val="841600"/>
                  </a:solidFill>
                </a:ln>
              </p:spPr>
            </p:sp>
            <p:sp>
              <p:nvSpPr>
                <p:cNvPr id="36" name="Freeform 36"/>
                <p:cNvSpPr/>
                <p:nvPr/>
              </p:nvSpPr>
              <p:spPr>
                <a:xfrm>
                  <a:off x="895350" y="3200400"/>
                  <a:ext cx="12700" cy="9525"/>
                </a:xfrm>
                <a:custGeom>
                  <a:avLst/>
                  <a:gdLst/>
                  <a:ahLst/>
                  <a:cxnLst/>
                  <a:rect l="l" t="t" r="r" b="b"/>
                  <a:pathLst>
                    <a:path w="12700" h="9525">
                      <a:moveTo>
                        <a:pt x="0" y="0"/>
                      </a:moveTo>
                      <a:lnTo>
                        <a:pt x="12700" y="0"/>
                      </a:lnTo>
                    </a:path>
                  </a:pathLst>
                </a:custGeom>
                <a:noFill/>
                <a:ln w="19050">
                  <a:solidFill>
                    <a:srgbClr val="841600"/>
                  </a:solidFill>
                </a:ln>
              </p:spPr>
            </p:sp>
            <p:sp>
              <p:nvSpPr>
                <p:cNvPr id="37" name="Freeform 37"/>
                <p:cNvSpPr/>
                <p:nvPr/>
              </p:nvSpPr>
              <p:spPr>
                <a:xfrm>
                  <a:off x="895350" y="3251199"/>
                  <a:ext cx="12700" cy="9525"/>
                </a:xfrm>
                <a:custGeom>
                  <a:avLst/>
                  <a:gdLst/>
                  <a:ahLst/>
                  <a:cxnLst/>
                  <a:rect l="l" t="t" r="r" b="b"/>
                  <a:pathLst>
                    <a:path w="12700" h="9525">
                      <a:moveTo>
                        <a:pt x="0" y="0"/>
                      </a:moveTo>
                      <a:lnTo>
                        <a:pt x="12700" y="0"/>
                      </a:lnTo>
                    </a:path>
                  </a:pathLst>
                </a:custGeom>
                <a:noFill/>
                <a:ln w="19050">
                  <a:solidFill>
                    <a:srgbClr val="841600"/>
                  </a:solidFill>
                </a:ln>
              </p:spPr>
            </p:sp>
            <p:sp>
              <p:nvSpPr>
                <p:cNvPr id="38" name="Freeform 38"/>
                <p:cNvSpPr/>
                <p:nvPr/>
              </p:nvSpPr>
              <p:spPr>
                <a:xfrm>
                  <a:off x="958850" y="3149600"/>
                  <a:ext cx="12700" cy="9525"/>
                </a:xfrm>
                <a:custGeom>
                  <a:avLst/>
                  <a:gdLst/>
                  <a:ahLst/>
                  <a:cxnLst/>
                  <a:rect l="l" t="t" r="r" b="b"/>
                  <a:pathLst>
                    <a:path w="12700" h="9525">
                      <a:moveTo>
                        <a:pt x="0" y="0"/>
                      </a:moveTo>
                      <a:lnTo>
                        <a:pt x="12700" y="0"/>
                      </a:lnTo>
                    </a:path>
                  </a:pathLst>
                </a:custGeom>
                <a:noFill/>
                <a:ln w="19050">
                  <a:solidFill>
                    <a:srgbClr val="841600"/>
                  </a:solidFill>
                </a:ln>
              </p:spPr>
            </p:sp>
            <p:sp>
              <p:nvSpPr>
                <p:cNvPr id="39" name="Freeform 39"/>
                <p:cNvSpPr/>
                <p:nvPr/>
              </p:nvSpPr>
              <p:spPr>
                <a:xfrm>
                  <a:off x="958850" y="3200400"/>
                  <a:ext cx="12700" cy="9525"/>
                </a:xfrm>
                <a:custGeom>
                  <a:avLst/>
                  <a:gdLst/>
                  <a:ahLst/>
                  <a:cxnLst/>
                  <a:rect l="l" t="t" r="r" b="b"/>
                  <a:pathLst>
                    <a:path w="12700" h="9525">
                      <a:moveTo>
                        <a:pt x="0" y="0"/>
                      </a:moveTo>
                      <a:lnTo>
                        <a:pt x="12700" y="0"/>
                      </a:lnTo>
                    </a:path>
                  </a:pathLst>
                </a:custGeom>
                <a:noFill/>
                <a:ln w="19050">
                  <a:solidFill>
                    <a:srgbClr val="841600"/>
                  </a:solidFill>
                </a:ln>
              </p:spPr>
            </p:sp>
            <p:sp>
              <p:nvSpPr>
                <p:cNvPr id="40" name="Freeform 40"/>
                <p:cNvSpPr/>
                <p:nvPr/>
              </p:nvSpPr>
              <p:spPr>
                <a:xfrm>
                  <a:off x="958850" y="3251199"/>
                  <a:ext cx="12700" cy="9525"/>
                </a:xfrm>
                <a:custGeom>
                  <a:avLst/>
                  <a:gdLst/>
                  <a:ahLst/>
                  <a:cxnLst/>
                  <a:rect l="l" t="t" r="r" b="b"/>
                  <a:pathLst>
                    <a:path w="12700" h="9525">
                      <a:moveTo>
                        <a:pt x="0" y="0"/>
                      </a:moveTo>
                      <a:lnTo>
                        <a:pt x="12700" y="0"/>
                      </a:lnTo>
                    </a:path>
                  </a:pathLst>
                </a:custGeom>
                <a:noFill/>
                <a:ln w="19050">
                  <a:solidFill>
                    <a:srgbClr val="841600"/>
                  </a:solidFill>
                </a:ln>
              </p:spPr>
            </p:sp>
            <p:sp>
              <p:nvSpPr>
                <p:cNvPr id="41" name="Freeform 41"/>
                <p:cNvSpPr/>
                <p:nvPr/>
              </p:nvSpPr>
              <p:spPr>
                <a:xfrm>
                  <a:off x="844550" y="3086100"/>
                  <a:ext cx="177800" cy="228599"/>
                </a:xfrm>
                <a:custGeom>
                  <a:avLst/>
                  <a:gdLst/>
                  <a:ahLst/>
                  <a:cxnLst/>
                  <a:rect l="l" t="t" r="r" b="b"/>
                  <a:pathLst>
                    <a:path w="177800" h="228599">
                      <a:moveTo>
                        <a:pt x="0" y="228599"/>
                      </a:moveTo>
                      <a:lnTo>
                        <a:pt x="0" y="25400"/>
                      </a:lnTo>
                      <a:cubicBezTo>
                        <a:pt x="0" y="11372"/>
                        <a:pt x="11372" y="0"/>
                        <a:pt x="25400" y="0"/>
                      </a:cubicBezTo>
                      <a:lnTo>
                        <a:pt x="152400" y="0"/>
                      </a:lnTo>
                      <a:cubicBezTo>
                        <a:pt x="166428" y="0"/>
                        <a:pt x="177800" y="11372"/>
                        <a:pt x="177800" y="25400"/>
                      </a:cubicBezTo>
                      <a:lnTo>
                        <a:pt x="177800" y="228599"/>
                      </a:lnTo>
                    </a:path>
                  </a:pathLst>
                </a:custGeom>
                <a:noFill/>
                <a:ln w="19050">
                  <a:solidFill>
                    <a:srgbClr val="841600"/>
                  </a:solidFill>
                </a:ln>
              </p:spPr>
            </p:sp>
          </p:grpSp>
          <p:sp>
            <p:nvSpPr>
              <p:cNvPr id="43" name="TextBox 43"/>
              <p:cNvSpPr txBox="1"/>
              <p:nvPr/>
            </p:nvSpPr>
            <p:spPr>
              <a:xfrm>
                <a:off x="1232154" y="312801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住房资金</a:t>
                </a:r>
              </a:p>
            </p:txBody>
          </p:sp>
        </p:grpSp>
        <p:grpSp>
          <p:nvGrpSpPr>
            <p:cNvPr id="50" name="account-education"/>
            <p:cNvGrpSpPr/>
            <p:nvPr/>
          </p:nvGrpSpPr>
          <p:grpSpPr>
            <a:xfrm>
              <a:off x="5581650" y="1066800"/>
              <a:ext cx="2286000" cy="609600"/>
              <a:chOff x="5581650" y="1066800"/>
              <a:chExt cx="2286000" cy="609600"/>
            </a:xfrm>
          </p:grpSpPr>
          <p:sp>
            <p:nvSpPr>
              <p:cNvPr id="45" name="Rectangle 45"/>
              <p:cNvSpPr/>
              <p:nvPr/>
            </p:nvSpPr>
            <p:spPr>
              <a:xfrm>
                <a:off x="5581650" y="1066800"/>
                <a:ext cx="2286000" cy="609600"/>
              </a:xfrm>
              <a:prstGeom prst="roundRect">
                <a:avLst>
                  <a:gd name="adj" fmla="val 12500"/>
                </a:avLst>
              </a:prstGeom>
              <a:solidFill>
                <a:srgbClr val="EFF5FD"/>
              </a:solidFill>
              <a:ln w="9525">
                <a:solidFill>
                  <a:srgbClr val="D7E2F2"/>
                </a:solidFill>
              </a:ln>
            </p:spPr>
          </p:sp>
          <p:grpSp>
            <p:nvGrpSpPr>
              <p:cNvPr id="48" name="Group 48"/>
              <p:cNvGrpSpPr/>
              <p:nvPr/>
            </p:nvGrpSpPr>
            <p:grpSpPr>
              <a:xfrm>
                <a:off x="5816600" y="1282700"/>
                <a:ext cx="253999" cy="177800"/>
                <a:chOff x="5816600" y="1282700"/>
                <a:chExt cx="253999" cy="177800"/>
              </a:xfrm>
            </p:grpSpPr>
            <p:sp>
              <p:nvSpPr>
                <p:cNvPr id="46" name="Freeform 46"/>
                <p:cNvSpPr/>
                <p:nvPr/>
              </p:nvSpPr>
              <p:spPr>
                <a:xfrm>
                  <a:off x="5816600" y="1282700"/>
                  <a:ext cx="253999" cy="127000"/>
                </a:xfrm>
                <a:custGeom>
                  <a:avLst/>
                  <a:gdLst/>
                  <a:ahLst/>
                  <a:cxnLst/>
                  <a:rect l="l" t="t" r="r" b="b"/>
                  <a:pathLst>
                    <a:path w="253999" h="127000">
                      <a:moveTo>
                        <a:pt x="253999" y="50800"/>
                      </a:moveTo>
                      <a:lnTo>
                        <a:pt x="127000" y="0"/>
                      </a:lnTo>
                      <a:lnTo>
                        <a:pt x="0" y="50800"/>
                      </a:lnTo>
                      <a:lnTo>
                        <a:pt x="127000" y="101600"/>
                      </a:lnTo>
                      <a:lnTo>
                        <a:pt x="253999" y="50800"/>
                      </a:lnTo>
                      <a:lnTo>
                        <a:pt x="253999" y="127000"/>
                      </a:lnTo>
                    </a:path>
                  </a:pathLst>
                </a:custGeom>
                <a:noFill/>
                <a:ln w="19050">
                  <a:solidFill>
                    <a:srgbClr val="841600"/>
                  </a:solidFill>
                </a:ln>
              </p:spPr>
            </p:sp>
            <p:sp>
              <p:nvSpPr>
                <p:cNvPr id="47" name="Freeform 47"/>
                <p:cNvSpPr/>
                <p:nvPr/>
              </p:nvSpPr>
              <p:spPr>
                <a:xfrm>
                  <a:off x="5867400" y="1353820"/>
                  <a:ext cx="152400" cy="106680"/>
                </a:xfrm>
                <a:custGeom>
                  <a:avLst/>
                  <a:gdLst/>
                  <a:ahLst/>
                  <a:cxnLst/>
                  <a:rect l="l" t="t" r="r" b="b"/>
                  <a:pathLst>
                    <a:path w="152400" h="106680">
                      <a:moveTo>
                        <a:pt x="0" y="0"/>
                      </a:moveTo>
                      <a:lnTo>
                        <a:pt x="0" y="68580"/>
                      </a:lnTo>
                      <a:cubicBezTo>
                        <a:pt x="0" y="89622"/>
                        <a:pt x="34116" y="106680"/>
                        <a:pt x="76200" y="106680"/>
                      </a:cubicBezTo>
                      <a:cubicBezTo>
                        <a:pt x="118284" y="106680"/>
                        <a:pt x="152400" y="89622"/>
                        <a:pt x="152400" y="68580"/>
                      </a:cubicBezTo>
                      <a:lnTo>
                        <a:pt x="152400" y="0"/>
                      </a:lnTo>
                    </a:path>
                  </a:pathLst>
                </a:custGeom>
                <a:noFill/>
                <a:ln w="19050">
                  <a:solidFill>
                    <a:srgbClr val="841600"/>
                  </a:solidFill>
                </a:ln>
              </p:spPr>
            </p:sp>
          </p:grpSp>
          <p:sp>
            <p:nvSpPr>
              <p:cNvPr id="49" name="TextBox 49"/>
              <p:cNvSpPr txBox="1"/>
              <p:nvPr/>
            </p:nvSpPr>
            <p:spPr>
              <a:xfrm>
                <a:off x="6242304" y="129921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教育医疗</a:t>
                </a:r>
              </a:p>
            </p:txBody>
          </p:sp>
        </p:grpSp>
        <p:grpSp>
          <p:nvGrpSpPr>
            <p:cNvPr id="57" name="account-public"/>
            <p:cNvGrpSpPr/>
            <p:nvPr/>
          </p:nvGrpSpPr>
          <p:grpSpPr>
            <a:xfrm>
              <a:off x="5581650" y="1981200"/>
              <a:ext cx="2286000" cy="609600"/>
              <a:chOff x="5581650" y="1981200"/>
              <a:chExt cx="2286000" cy="609600"/>
            </a:xfrm>
          </p:grpSpPr>
          <p:sp>
            <p:nvSpPr>
              <p:cNvPr id="51" name="Rectangle 51"/>
              <p:cNvSpPr/>
              <p:nvPr/>
            </p:nvSpPr>
            <p:spPr>
              <a:xfrm>
                <a:off x="5581650" y="1981200"/>
                <a:ext cx="2286000" cy="609600"/>
              </a:xfrm>
              <a:prstGeom prst="roundRect">
                <a:avLst>
                  <a:gd name="adj" fmla="val 12500"/>
                </a:avLst>
              </a:prstGeom>
              <a:solidFill>
                <a:srgbClr val="EFF5FD"/>
              </a:solidFill>
              <a:ln w="9525">
                <a:solidFill>
                  <a:srgbClr val="D7E2F2"/>
                </a:solidFill>
              </a:ln>
            </p:spPr>
          </p:sp>
          <p:grpSp>
            <p:nvGrpSpPr>
              <p:cNvPr id="55" name="Group 55"/>
              <p:cNvGrpSpPr/>
              <p:nvPr/>
            </p:nvGrpSpPr>
            <p:grpSpPr>
              <a:xfrm>
                <a:off x="5842000" y="2184400"/>
                <a:ext cx="203199" cy="203199"/>
                <a:chOff x="5842000" y="2184400"/>
                <a:chExt cx="203199" cy="203199"/>
              </a:xfrm>
            </p:grpSpPr>
            <p:sp>
              <p:nvSpPr>
                <p:cNvPr id="52" name="Freeform 52"/>
                <p:cNvSpPr/>
                <p:nvPr/>
              </p:nvSpPr>
              <p:spPr>
                <a:xfrm>
                  <a:off x="5842000" y="2184400"/>
                  <a:ext cx="203199" cy="101600"/>
                </a:xfrm>
                <a:custGeom>
                  <a:avLst/>
                  <a:gdLst/>
                  <a:ahLst/>
                  <a:cxnLst/>
                  <a:rect l="l" t="t" r="r" b="b"/>
                  <a:pathLst>
                    <a:path w="203199" h="101600">
                      <a:moveTo>
                        <a:pt x="101600" y="0"/>
                      </a:moveTo>
                      <a:lnTo>
                        <a:pt x="0" y="50800"/>
                      </a:lnTo>
                      <a:lnTo>
                        <a:pt x="101600" y="101600"/>
                      </a:lnTo>
                      <a:lnTo>
                        <a:pt x="203199" y="50800"/>
                      </a:lnTo>
                      <a:lnTo>
                        <a:pt x="101600" y="0"/>
                      </a:lnTo>
                    </a:path>
                  </a:pathLst>
                </a:custGeom>
                <a:noFill/>
                <a:ln w="19050">
                  <a:solidFill>
                    <a:srgbClr val="841600"/>
                  </a:solidFill>
                </a:ln>
              </p:spPr>
            </p:sp>
            <p:sp>
              <p:nvSpPr>
                <p:cNvPr id="53" name="Freeform 53"/>
                <p:cNvSpPr/>
                <p:nvPr/>
              </p:nvSpPr>
              <p:spPr>
                <a:xfrm>
                  <a:off x="5842000" y="2286000"/>
                  <a:ext cx="203199" cy="50800"/>
                </a:xfrm>
                <a:custGeom>
                  <a:avLst/>
                  <a:gdLst/>
                  <a:ahLst/>
                  <a:cxnLst/>
                  <a:rect l="l" t="t" r="r" b="b"/>
                  <a:pathLst>
                    <a:path w="203199" h="50800">
                      <a:moveTo>
                        <a:pt x="0" y="0"/>
                      </a:moveTo>
                      <a:lnTo>
                        <a:pt x="101600" y="50800"/>
                      </a:lnTo>
                      <a:lnTo>
                        <a:pt x="203199" y="0"/>
                      </a:lnTo>
                    </a:path>
                  </a:pathLst>
                </a:custGeom>
                <a:noFill/>
                <a:ln w="19050">
                  <a:solidFill>
                    <a:srgbClr val="841600"/>
                  </a:solidFill>
                </a:ln>
              </p:spPr>
            </p:sp>
            <p:sp>
              <p:nvSpPr>
                <p:cNvPr id="54" name="Freeform 54"/>
                <p:cNvSpPr/>
                <p:nvPr/>
              </p:nvSpPr>
              <p:spPr>
                <a:xfrm>
                  <a:off x="5842000" y="2336799"/>
                  <a:ext cx="203199" cy="50800"/>
                </a:xfrm>
                <a:custGeom>
                  <a:avLst/>
                  <a:gdLst/>
                  <a:ahLst/>
                  <a:cxnLst/>
                  <a:rect l="l" t="t" r="r" b="b"/>
                  <a:pathLst>
                    <a:path w="203199" h="50800">
                      <a:moveTo>
                        <a:pt x="0" y="0"/>
                      </a:moveTo>
                      <a:lnTo>
                        <a:pt x="101600" y="50800"/>
                      </a:lnTo>
                      <a:lnTo>
                        <a:pt x="203199" y="0"/>
                      </a:lnTo>
                    </a:path>
                  </a:pathLst>
                </a:custGeom>
                <a:noFill/>
                <a:ln w="19050">
                  <a:solidFill>
                    <a:srgbClr val="841600"/>
                  </a:solidFill>
                </a:ln>
              </p:spPr>
            </p:sp>
          </p:grpSp>
          <p:sp>
            <p:nvSpPr>
              <p:cNvPr id="56" name="TextBox 56"/>
              <p:cNvSpPr txBox="1"/>
              <p:nvPr/>
            </p:nvSpPr>
            <p:spPr>
              <a:xfrm>
                <a:off x="6242304" y="221361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公共资源</a:t>
                </a:r>
              </a:p>
            </p:txBody>
          </p:sp>
        </p:grpSp>
        <p:grpSp>
          <p:nvGrpSpPr>
            <p:cNvPr id="65" name="account-soe"/>
            <p:cNvGrpSpPr/>
            <p:nvPr/>
          </p:nvGrpSpPr>
          <p:grpSpPr>
            <a:xfrm>
              <a:off x="5581650" y="2895600"/>
              <a:ext cx="2286000" cy="609600"/>
              <a:chOff x="5581650" y="2895600"/>
              <a:chExt cx="2286000" cy="609600"/>
            </a:xfrm>
          </p:grpSpPr>
          <p:sp>
            <p:nvSpPr>
              <p:cNvPr id="58" name="Rectangle 58"/>
              <p:cNvSpPr/>
              <p:nvPr/>
            </p:nvSpPr>
            <p:spPr>
              <a:xfrm>
                <a:off x="5581650" y="2895600"/>
                <a:ext cx="2286000" cy="609600"/>
              </a:xfrm>
              <a:prstGeom prst="roundRect">
                <a:avLst>
                  <a:gd name="adj" fmla="val 12500"/>
                </a:avLst>
              </a:prstGeom>
              <a:solidFill>
                <a:srgbClr val="EFF5FD"/>
              </a:solidFill>
              <a:ln w="9525">
                <a:solidFill>
                  <a:srgbClr val="D7E2F2"/>
                </a:solidFill>
              </a:ln>
            </p:spPr>
          </p:sp>
          <p:grpSp>
            <p:nvGrpSpPr>
              <p:cNvPr id="63" name="Group 63"/>
              <p:cNvGrpSpPr/>
              <p:nvPr/>
            </p:nvGrpSpPr>
            <p:grpSpPr>
              <a:xfrm>
                <a:off x="5829300" y="3086100"/>
                <a:ext cx="228599" cy="215900"/>
                <a:chOff x="5829300" y="3086100"/>
                <a:chExt cx="228599" cy="215900"/>
              </a:xfrm>
            </p:grpSpPr>
            <p:sp>
              <p:nvSpPr>
                <p:cNvPr id="59" name="Freeform 59"/>
                <p:cNvSpPr/>
                <p:nvPr/>
              </p:nvSpPr>
              <p:spPr>
                <a:xfrm>
                  <a:off x="5829300" y="3136900"/>
                  <a:ext cx="228599" cy="165100"/>
                </a:xfrm>
                <a:custGeom>
                  <a:avLst/>
                  <a:gdLst/>
                  <a:ahLst/>
                  <a:cxnLst/>
                  <a:rect l="l" t="t" r="r" b="b"/>
                  <a:pathLst>
                    <a:path w="228599" h="165100">
                      <a:moveTo>
                        <a:pt x="0" y="25400"/>
                      </a:moveTo>
                      <a:cubicBezTo>
                        <a:pt x="0" y="11372"/>
                        <a:pt x="11372" y="0"/>
                        <a:pt x="25400" y="0"/>
                      </a:cubicBezTo>
                      <a:lnTo>
                        <a:pt x="203199" y="0"/>
                      </a:lnTo>
                      <a:cubicBezTo>
                        <a:pt x="217227" y="0"/>
                        <a:pt x="228599" y="11372"/>
                        <a:pt x="228599" y="25400"/>
                      </a:cubicBezTo>
                      <a:lnTo>
                        <a:pt x="228599" y="139700"/>
                      </a:lnTo>
                      <a:cubicBezTo>
                        <a:pt x="228599" y="153728"/>
                        <a:pt x="217227" y="165100"/>
                        <a:pt x="203199" y="165100"/>
                      </a:cubicBezTo>
                      <a:lnTo>
                        <a:pt x="25400" y="165100"/>
                      </a:lnTo>
                      <a:cubicBezTo>
                        <a:pt x="11372" y="165100"/>
                        <a:pt x="0" y="153728"/>
                        <a:pt x="0" y="139700"/>
                      </a:cubicBezTo>
                      <a:lnTo>
                        <a:pt x="0" y="25400"/>
                      </a:lnTo>
                    </a:path>
                  </a:pathLst>
                </a:custGeom>
                <a:noFill/>
                <a:ln w="19050">
                  <a:solidFill>
                    <a:srgbClr val="841600"/>
                  </a:solidFill>
                </a:ln>
              </p:spPr>
            </p:sp>
            <p:sp>
              <p:nvSpPr>
                <p:cNvPr id="60" name="Freeform 60"/>
                <p:cNvSpPr/>
                <p:nvPr/>
              </p:nvSpPr>
              <p:spPr>
                <a:xfrm>
                  <a:off x="5892800" y="3086100"/>
                  <a:ext cx="101600" cy="50800"/>
                </a:xfrm>
                <a:custGeom>
                  <a:avLst/>
                  <a:gdLst/>
                  <a:ahLst/>
                  <a:cxnLst/>
                  <a:rect l="l" t="t" r="r" b="b"/>
                  <a:pathLst>
                    <a:path w="101600" h="50800">
                      <a:moveTo>
                        <a:pt x="0" y="50800"/>
                      </a:moveTo>
                      <a:lnTo>
                        <a:pt x="0" y="25400"/>
                      </a:lnTo>
                      <a:cubicBezTo>
                        <a:pt x="0" y="11372"/>
                        <a:pt x="11372" y="0"/>
                        <a:pt x="25400" y="0"/>
                      </a:cubicBezTo>
                      <a:lnTo>
                        <a:pt x="76200" y="0"/>
                      </a:lnTo>
                      <a:cubicBezTo>
                        <a:pt x="90228" y="0"/>
                        <a:pt x="101600" y="11372"/>
                        <a:pt x="101600" y="25400"/>
                      </a:cubicBezTo>
                      <a:lnTo>
                        <a:pt x="101600" y="50800"/>
                      </a:lnTo>
                    </a:path>
                  </a:pathLst>
                </a:custGeom>
                <a:noFill/>
                <a:ln w="19050">
                  <a:solidFill>
                    <a:srgbClr val="841600"/>
                  </a:solidFill>
                </a:ln>
              </p:spPr>
            </p:sp>
            <p:sp>
              <p:nvSpPr>
                <p:cNvPr id="61" name="Freeform 61"/>
                <p:cNvSpPr/>
                <p:nvPr/>
              </p:nvSpPr>
              <p:spPr>
                <a:xfrm>
                  <a:off x="5943600" y="3200400"/>
                  <a:ext cx="9525" cy="9525"/>
                </a:xfrm>
                <a:custGeom>
                  <a:avLst/>
                  <a:gdLst/>
                  <a:ahLst/>
                  <a:cxnLst/>
                  <a:rect l="l" t="t" r="r" b="b"/>
                  <a:pathLst>
                    <a:path w="9525" h="9525">
                      <a:moveTo>
                        <a:pt x="0" y="0"/>
                      </a:moveTo>
                      <a:lnTo>
                        <a:pt x="0" y="127"/>
                      </a:lnTo>
                    </a:path>
                  </a:pathLst>
                </a:custGeom>
                <a:noFill/>
                <a:ln w="19050">
                  <a:solidFill>
                    <a:srgbClr val="841600"/>
                  </a:solidFill>
                </a:ln>
              </p:spPr>
            </p:sp>
            <p:sp>
              <p:nvSpPr>
                <p:cNvPr id="62" name="Freeform 62"/>
                <p:cNvSpPr/>
                <p:nvPr/>
              </p:nvSpPr>
              <p:spPr>
                <a:xfrm>
                  <a:off x="5829300" y="3213100"/>
                  <a:ext cx="228599" cy="36228"/>
                </a:xfrm>
                <a:custGeom>
                  <a:avLst/>
                  <a:gdLst/>
                  <a:ahLst/>
                  <a:cxnLst/>
                  <a:rect l="l" t="t" r="r" b="b"/>
                  <a:pathLst>
                    <a:path w="228599" h="36228">
                      <a:moveTo>
                        <a:pt x="0" y="0"/>
                      </a:moveTo>
                      <a:cubicBezTo>
                        <a:pt x="71894" y="36228"/>
                        <a:pt x="156706" y="36228"/>
                        <a:pt x="228599" y="0"/>
                      </a:cubicBezTo>
                    </a:path>
                  </a:pathLst>
                </a:custGeom>
                <a:noFill/>
                <a:ln w="19050">
                  <a:solidFill>
                    <a:srgbClr val="841600"/>
                  </a:solidFill>
                </a:ln>
              </p:spPr>
            </p:sp>
          </p:grpSp>
          <p:sp>
            <p:nvSpPr>
              <p:cNvPr id="64" name="TextBox 64"/>
              <p:cNvSpPr txBox="1"/>
              <p:nvPr/>
            </p:nvSpPr>
            <p:spPr>
              <a:xfrm>
                <a:off x="6242304" y="312801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国企资金</a:t>
                </a:r>
              </a:p>
            </p:txBody>
          </p:sp>
        </p:grpSp>
        <p:grpSp>
          <p:nvGrpSpPr>
            <p:cNvPr id="79" name="account-core"/>
            <p:cNvGrpSpPr/>
            <p:nvPr/>
          </p:nvGrpSpPr>
          <p:grpSpPr>
            <a:xfrm>
              <a:off x="3419475" y="1485900"/>
              <a:ext cx="1600200" cy="1600200"/>
              <a:chOff x="3419475" y="1485900"/>
              <a:chExt cx="1600200" cy="1600200"/>
            </a:xfrm>
          </p:grpSpPr>
          <p:sp>
            <p:nvSpPr>
              <p:cNvPr id="66" name="Ellipse 66"/>
              <p:cNvSpPr/>
              <p:nvPr/>
            </p:nvSpPr>
            <p:spPr>
              <a:xfrm>
                <a:off x="3419475" y="1485900"/>
                <a:ext cx="1600200" cy="1600200"/>
              </a:xfrm>
              <a:prstGeom prst="ellipse">
                <a:avLst/>
              </a:prstGeom>
              <a:solidFill>
                <a:srgbClr val="EFF5FD"/>
              </a:solidFill>
              <a:ln>
                <a:noFill/>
              </a:ln>
            </p:spPr>
          </p:sp>
          <p:sp>
            <p:nvSpPr>
              <p:cNvPr id="67" name="Ellipse 67"/>
              <p:cNvSpPr/>
              <p:nvPr/>
            </p:nvSpPr>
            <p:spPr>
              <a:xfrm>
                <a:off x="3514725" y="1581150"/>
                <a:ext cx="1409700" cy="1409700"/>
              </a:xfrm>
              <a:prstGeom prst="ellipse">
                <a:avLst/>
              </a:prstGeom>
              <a:solidFill>
                <a:srgbClr val="841600"/>
              </a:solidFill>
              <a:ln>
                <a:noFill/>
              </a:ln>
            </p:spPr>
          </p:sp>
          <p:grpSp>
            <p:nvGrpSpPr>
              <p:cNvPr id="76" name="Group 76"/>
              <p:cNvGrpSpPr/>
              <p:nvPr/>
            </p:nvGrpSpPr>
            <p:grpSpPr>
              <a:xfrm>
                <a:off x="4098131" y="1831181"/>
                <a:ext cx="242888" cy="252413"/>
                <a:chOff x="4098131" y="1831181"/>
                <a:chExt cx="242888" cy="252413"/>
              </a:xfrm>
            </p:grpSpPr>
            <p:sp>
              <p:nvSpPr>
                <p:cNvPr id="68" name="Freeform 68"/>
                <p:cNvSpPr/>
                <p:nvPr/>
              </p:nvSpPr>
              <p:spPr>
                <a:xfrm>
                  <a:off x="4098131" y="2074069"/>
                  <a:ext cx="242888" cy="9525"/>
                </a:xfrm>
                <a:custGeom>
                  <a:avLst/>
                  <a:gdLst/>
                  <a:ahLst/>
                  <a:cxnLst/>
                  <a:rect l="l" t="t" r="r" b="b"/>
                  <a:pathLst>
                    <a:path w="242888" h="9525">
                      <a:moveTo>
                        <a:pt x="0" y="0"/>
                      </a:moveTo>
                      <a:lnTo>
                        <a:pt x="242888" y="0"/>
                      </a:lnTo>
                    </a:path>
                  </a:pathLst>
                </a:custGeom>
                <a:noFill/>
                <a:ln w="20241">
                  <a:solidFill>
                    <a:srgbClr val="FFFFFF"/>
                  </a:solidFill>
                </a:ln>
              </p:spPr>
            </p:sp>
            <p:sp>
              <p:nvSpPr>
                <p:cNvPr id="69" name="Freeform 69"/>
                <p:cNvSpPr/>
                <p:nvPr/>
              </p:nvSpPr>
              <p:spPr>
                <a:xfrm>
                  <a:off x="4098131" y="1925638"/>
                  <a:ext cx="242888" cy="9525"/>
                </a:xfrm>
                <a:custGeom>
                  <a:avLst/>
                  <a:gdLst/>
                  <a:ahLst/>
                  <a:cxnLst/>
                  <a:rect l="l" t="t" r="r" b="b"/>
                  <a:pathLst>
                    <a:path w="242888" h="9525">
                      <a:moveTo>
                        <a:pt x="0" y="0"/>
                      </a:moveTo>
                      <a:lnTo>
                        <a:pt x="242888" y="0"/>
                      </a:lnTo>
                    </a:path>
                  </a:pathLst>
                </a:custGeom>
                <a:noFill/>
                <a:ln w="20241">
                  <a:solidFill>
                    <a:srgbClr val="FFFFFF"/>
                  </a:solidFill>
                </a:ln>
              </p:spPr>
            </p:sp>
            <p:sp>
              <p:nvSpPr>
                <p:cNvPr id="70" name="Freeform 70"/>
                <p:cNvSpPr/>
                <p:nvPr/>
              </p:nvSpPr>
              <p:spPr>
                <a:xfrm>
                  <a:off x="4125119" y="1831181"/>
                  <a:ext cx="188913" cy="40481"/>
                </a:xfrm>
                <a:custGeom>
                  <a:avLst/>
                  <a:gdLst/>
                  <a:ahLst/>
                  <a:cxnLst/>
                  <a:rect l="l" t="t" r="r" b="b"/>
                  <a:pathLst>
                    <a:path w="188913" h="40481">
                      <a:moveTo>
                        <a:pt x="0" y="40481"/>
                      </a:moveTo>
                      <a:lnTo>
                        <a:pt x="94456" y="0"/>
                      </a:lnTo>
                      <a:lnTo>
                        <a:pt x="188913" y="40481"/>
                      </a:lnTo>
                    </a:path>
                  </a:pathLst>
                </a:custGeom>
                <a:noFill/>
                <a:ln w="20241">
                  <a:solidFill>
                    <a:srgbClr val="FFFFFF"/>
                  </a:solidFill>
                </a:ln>
              </p:spPr>
            </p:sp>
            <p:sp>
              <p:nvSpPr>
                <p:cNvPr id="71" name="Freeform 71"/>
                <p:cNvSpPr/>
                <p:nvPr/>
              </p:nvSpPr>
              <p:spPr>
                <a:xfrm>
                  <a:off x="4111625" y="1925638"/>
                  <a:ext cx="9525" cy="148432"/>
                </a:xfrm>
                <a:custGeom>
                  <a:avLst/>
                  <a:gdLst/>
                  <a:ahLst/>
                  <a:cxnLst/>
                  <a:rect l="l" t="t" r="r" b="b"/>
                  <a:pathLst>
                    <a:path w="9525" h="148432">
                      <a:moveTo>
                        <a:pt x="0" y="0"/>
                      </a:moveTo>
                      <a:lnTo>
                        <a:pt x="0" y="148432"/>
                      </a:lnTo>
                    </a:path>
                  </a:pathLst>
                </a:custGeom>
                <a:noFill/>
                <a:ln w="20241">
                  <a:solidFill>
                    <a:srgbClr val="FFFFFF"/>
                  </a:solidFill>
                </a:ln>
              </p:spPr>
            </p:sp>
            <p:sp>
              <p:nvSpPr>
                <p:cNvPr id="72" name="Freeform 72"/>
                <p:cNvSpPr/>
                <p:nvPr/>
              </p:nvSpPr>
              <p:spPr>
                <a:xfrm>
                  <a:off x="4327526" y="1925638"/>
                  <a:ext cx="9525" cy="148432"/>
                </a:xfrm>
                <a:custGeom>
                  <a:avLst/>
                  <a:gdLst/>
                  <a:ahLst/>
                  <a:cxnLst/>
                  <a:rect l="l" t="t" r="r" b="b"/>
                  <a:pathLst>
                    <a:path w="9525" h="148432">
                      <a:moveTo>
                        <a:pt x="0" y="0"/>
                      </a:moveTo>
                      <a:lnTo>
                        <a:pt x="0" y="148432"/>
                      </a:lnTo>
                    </a:path>
                  </a:pathLst>
                </a:custGeom>
                <a:noFill/>
                <a:ln w="20241">
                  <a:solidFill>
                    <a:srgbClr val="FFFFFF"/>
                  </a:solidFill>
                </a:ln>
              </p:spPr>
            </p:sp>
            <p:sp>
              <p:nvSpPr>
                <p:cNvPr id="73" name="Freeform 73"/>
                <p:cNvSpPr/>
                <p:nvPr/>
              </p:nvSpPr>
              <p:spPr>
                <a:xfrm>
                  <a:off x="4165600" y="1979613"/>
                  <a:ext cx="9525" cy="40481"/>
                </a:xfrm>
                <a:custGeom>
                  <a:avLst/>
                  <a:gdLst/>
                  <a:ahLst/>
                  <a:cxnLst/>
                  <a:rect l="l" t="t" r="r" b="b"/>
                  <a:pathLst>
                    <a:path w="9525" h="40481">
                      <a:moveTo>
                        <a:pt x="0" y="0"/>
                      </a:moveTo>
                      <a:lnTo>
                        <a:pt x="0" y="40481"/>
                      </a:lnTo>
                    </a:path>
                  </a:pathLst>
                </a:custGeom>
                <a:noFill/>
                <a:ln w="20241">
                  <a:solidFill>
                    <a:srgbClr val="FFFFFF"/>
                  </a:solidFill>
                </a:ln>
              </p:spPr>
            </p:sp>
            <p:sp>
              <p:nvSpPr>
                <p:cNvPr id="74" name="Freeform 74"/>
                <p:cNvSpPr/>
                <p:nvPr/>
              </p:nvSpPr>
              <p:spPr>
                <a:xfrm>
                  <a:off x="4219575" y="1979613"/>
                  <a:ext cx="9525" cy="40481"/>
                </a:xfrm>
                <a:custGeom>
                  <a:avLst/>
                  <a:gdLst/>
                  <a:ahLst/>
                  <a:cxnLst/>
                  <a:rect l="l" t="t" r="r" b="b"/>
                  <a:pathLst>
                    <a:path w="9525" h="40481">
                      <a:moveTo>
                        <a:pt x="0" y="0"/>
                      </a:moveTo>
                      <a:lnTo>
                        <a:pt x="0" y="40481"/>
                      </a:lnTo>
                    </a:path>
                  </a:pathLst>
                </a:custGeom>
                <a:noFill/>
                <a:ln w="20241">
                  <a:solidFill>
                    <a:srgbClr val="FFFFFF"/>
                  </a:solidFill>
                </a:ln>
              </p:spPr>
            </p:sp>
            <p:sp>
              <p:nvSpPr>
                <p:cNvPr id="75" name="Freeform 75"/>
                <p:cNvSpPr/>
                <p:nvPr/>
              </p:nvSpPr>
              <p:spPr>
                <a:xfrm>
                  <a:off x="4273551" y="1979613"/>
                  <a:ext cx="9525" cy="40481"/>
                </a:xfrm>
                <a:custGeom>
                  <a:avLst/>
                  <a:gdLst/>
                  <a:ahLst/>
                  <a:cxnLst/>
                  <a:rect l="l" t="t" r="r" b="b"/>
                  <a:pathLst>
                    <a:path w="9525" h="40481">
                      <a:moveTo>
                        <a:pt x="0" y="0"/>
                      </a:moveTo>
                      <a:lnTo>
                        <a:pt x="0" y="40481"/>
                      </a:lnTo>
                    </a:path>
                  </a:pathLst>
                </a:custGeom>
                <a:noFill/>
                <a:ln w="20241">
                  <a:solidFill>
                    <a:srgbClr val="FFFFFF"/>
                  </a:solidFill>
                </a:ln>
              </p:spPr>
            </p:sp>
          </p:grpSp>
          <p:sp>
            <p:nvSpPr>
              <p:cNvPr id="77" name="TextBox 77"/>
              <p:cNvSpPr txBox="1"/>
              <p:nvPr/>
            </p:nvSpPr>
            <p:spPr>
              <a:xfrm>
                <a:off x="3849243" y="2254568"/>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核心账户</a:t>
                </a:r>
              </a:p>
            </p:txBody>
          </p:sp>
          <p:sp>
            <p:nvSpPr>
              <p:cNvPr id="78" name="TextBox 78"/>
              <p:cNvSpPr txBox="1"/>
              <p:nvPr/>
            </p:nvSpPr>
            <p:spPr>
              <a:xfrm>
                <a:off x="3883647" y="2539841"/>
                <a:ext cx="671855" cy="161925"/>
              </a:xfrm>
              <a:prstGeom prst="rect">
                <a:avLst/>
              </a:prstGeom>
              <a:noFill/>
              <a:ln>
                <a:noFill/>
              </a:ln>
            </p:spPr>
            <p:txBody>
              <a:bodyPr wrap="none" lIns="0" tIns="0" rIns="0" bIns="0" anchor="t" anchorCtr="0">
                <a:spAutoFit/>
              </a:bodyPr>
              <a:lstStyle/>
              <a:p>
                <a:pPr algn="ctr"/>
                <a:r>
                  <a:rPr lang="zh-CN" sz="820" dirty="0">
                    <a:solidFill>
                      <a:srgbClr val="DCE6F8"/>
                    </a:solidFill>
                    <a:latin typeface="+mn-lt"/>
                    <a:ea typeface="+mn-ea"/>
                    <a:cs typeface="+mn-cs"/>
                  </a:rPr>
                  <a:t>稳定负债入口</a:t>
                </a:r>
              </a:p>
            </p:txBody>
          </p:sp>
        </p:grpSp>
      </p:grpSp>
      <p:grpSp>
        <p:nvGrpSpPr>
          <p:cNvPr id="119" name="attack-list"/>
          <p:cNvGrpSpPr/>
          <p:nvPr/>
        </p:nvGrpSpPr>
        <p:grpSpPr>
          <a:xfrm>
            <a:off x="8286750" y="876300"/>
            <a:ext cx="3638550" cy="2819400"/>
            <a:chOff x="8286750" y="876300"/>
            <a:chExt cx="3638550" cy="2819400"/>
          </a:xfrm>
        </p:grpSpPr>
        <p:sp>
          <p:nvSpPr>
            <p:cNvPr id="81" name="Rectangle 81"/>
            <p:cNvSpPr/>
            <p:nvPr/>
          </p:nvSpPr>
          <p:spPr>
            <a:xfrm>
              <a:off x="8286750" y="876300"/>
              <a:ext cx="3638550" cy="2819400"/>
            </a:xfrm>
            <a:prstGeom prst="roundRect">
              <a:avLst>
                <a:gd name="adj" fmla="val 3378"/>
              </a:avLst>
            </a:prstGeom>
            <a:solidFill>
              <a:srgbClr val="FFFFFF"/>
            </a:solidFill>
            <a:ln w="9525">
              <a:solidFill>
                <a:srgbClr val="D7E2F2"/>
              </a:solidFill>
            </a:ln>
          </p:spPr>
        </p:sp>
        <p:sp>
          <p:nvSpPr>
            <p:cNvPr id="82" name="Rectangle 82"/>
            <p:cNvSpPr/>
            <p:nvPr/>
          </p:nvSpPr>
          <p:spPr>
            <a:xfrm>
              <a:off x="8286750" y="876300"/>
              <a:ext cx="3638550" cy="400050"/>
            </a:xfrm>
            <a:prstGeom prst="roundRect">
              <a:avLst>
                <a:gd name="adj" fmla="val 23810"/>
              </a:avLst>
            </a:prstGeom>
            <a:solidFill>
              <a:srgbClr val="841600"/>
            </a:solidFill>
            <a:ln>
              <a:noFill/>
            </a:ln>
          </p:spPr>
        </p:sp>
        <p:sp>
          <p:nvSpPr>
            <p:cNvPr id="83" name="Rectangle 83"/>
            <p:cNvSpPr/>
            <p:nvPr/>
          </p:nvSpPr>
          <p:spPr>
            <a:xfrm>
              <a:off x="8286750" y="1104900"/>
              <a:ext cx="3638550" cy="171450"/>
            </a:xfrm>
            <a:prstGeom prst="rect">
              <a:avLst/>
            </a:prstGeom>
            <a:solidFill>
              <a:srgbClr val="841600"/>
            </a:solidFill>
            <a:ln>
              <a:noFill/>
            </a:ln>
          </p:spPr>
        </p:sp>
        <p:sp>
          <p:nvSpPr>
            <p:cNvPr id="84" name="TextBox 84"/>
            <p:cNvSpPr txBox="1"/>
            <p:nvPr/>
          </p:nvSpPr>
          <p:spPr>
            <a:xfrm>
              <a:off x="9582607" y="1014889"/>
              <a:ext cx="104683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账户攻坚清单</a:t>
              </a:r>
            </a:p>
          </p:txBody>
        </p:sp>
        <p:grpSp>
          <p:nvGrpSpPr>
            <p:cNvPr id="94" name="attack-1"/>
            <p:cNvGrpSpPr/>
            <p:nvPr/>
          </p:nvGrpSpPr>
          <p:grpSpPr>
            <a:xfrm>
              <a:off x="8420100" y="1543050"/>
              <a:ext cx="2973718" cy="381000"/>
              <a:chOff x="8420100" y="1543050"/>
              <a:chExt cx="2973718" cy="381000"/>
            </a:xfrm>
          </p:grpSpPr>
          <p:sp>
            <p:nvSpPr>
              <p:cNvPr id="85" name="Rectangle 85"/>
              <p:cNvSpPr/>
              <p:nvPr/>
            </p:nvSpPr>
            <p:spPr>
              <a:xfrm>
                <a:off x="8420100" y="1543050"/>
                <a:ext cx="381000" cy="381000"/>
              </a:xfrm>
              <a:prstGeom prst="roundRect">
                <a:avLst>
                  <a:gd name="adj" fmla="val 15000"/>
                </a:avLst>
              </a:prstGeom>
              <a:solidFill>
                <a:srgbClr val="841600"/>
              </a:solidFill>
              <a:ln>
                <a:noFill/>
              </a:ln>
            </p:spPr>
          </p:sp>
          <p:sp>
            <p:nvSpPr>
              <p:cNvPr id="86" name="TextBox 86"/>
              <p:cNvSpPr txBox="1"/>
              <p:nvPr/>
            </p:nvSpPr>
            <p:spPr>
              <a:xfrm>
                <a:off x="8511212" y="166116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01</a:t>
                </a:r>
              </a:p>
            </p:txBody>
          </p:sp>
          <p:grpSp>
            <p:nvGrpSpPr>
              <p:cNvPr id="90" name="Group 90"/>
              <p:cNvGrpSpPr/>
              <p:nvPr/>
            </p:nvGrpSpPr>
            <p:grpSpPr>
              <a:xfrm>
                <a:off x="8951119" y="1626394"/>
                <a:ext cx="214312" cy="214312"/>
                <a:chOff x="8951119" y="1626394"/>
                <a:chExt cx="214312" cy="214312"/>
              </a:xfrm>
            </p:grpSpPr>
            <p:sp>
              <p:nvSpPr>
                <p:cNvPr id="87" name="Freeform 87"/>
                <p:cNvSpPr/>
                <p:nvPr/>
              </p:nvSpPr>
              <p:spPr>
                <a:xfrm>
                  <a:off x="9046369" y="172164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rgbClr val="841600"/>
                  </a:solidFill>
                </a:ln>
              </p:spPr>
            </p:sp>
            <p:sp>
              <p:nvSpPr>
                <p:cNvPr id="88" name="Freeform 88"/>
                <p:cNvSpPr/>
                <p:nvPr/>
              </p:nvSpPr>
              <p:spPr>
                <a:xfrm>
                  <a:off x="8998744" y="1674019"/>
                  <a:ext cx="119062" cy="119062"/>
                </a:xfrm>
                <a:custGeom>
                  <a:avLst/>
                  <a:gdLst/>
                  <a:ahLst/>
                  <a:cxnLst/>
                  <a:rect l="l" t="t" r="r" b="b"/>
                  <a:pathLst>
                    <a:path w="119062" h="119062">
                      <a:moveTo>
                        <a:pt x="0" y="59531"/>
                      </a:moveTo>
                      <a:cubicBezTo>
                        <a:pt x="0" y="92409"/>
                        <a:pt x="26653" y="119062"/>
                        <a:pt x="59531" y="119062"/>
                      </a:cubicBezTo>
                      <a:cubicBezTo>
                        <a:pt x="92409" y="119062"/>
                        <a:pt x="119062" y="92409"/>
                        <a:pt x="119062" y="59531"/>
                      </a:cubicBezTo>
                      <a:cubicBezTo>
                        <a:pt x="119062" y="26653"/>
                        <a:pt x="92409" y="0"/>
                        <a:pt x="59531" y="0"/>
                      </a:cubicBezTo>
                      <a:cubicBezTo>
                        <a:pt x="26653" y="0"/>
                        <a:pt x="0" y="26653"/>
                        <a:pt x="0" y="59531"/>
                      </a:cubicBezTo>
                    </a:path>
                  </a:pathLst>
                </a:custGeom>
                <a:noFill/>
                <a:ln w="17859">
                  <a:solidFill>
                    <a:srgbClr val="841600"/>
                  </a:solidFill>
                </a:ln>
              </p:spPr>
            </p:sp>
            <p:sp>
              <p:nvSpPr>
                <p:cNvPr id="89" name="Freeform 89"/>
                <p:cNvSpPr/>
                <p:nvPr/>
              </p:nvSpPr>
              <p:spPr>
                <a:xfrm>
                  <a:off x="8951119" y="1626394"/>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17859">
                  <a:solidFill>
                    <a:srgbClr val="841600"/>
                  </a:solidFill>
                </a:ln>
              </p:spPr>
            </p:sp>
          </p:grpSp>
          <p:sp>
            <p:nvSpPr>
              <p:cNvPr id="91" name="TextBox 91"/>
              <p:cNvSpPr txBox="1"/>
              <p:nvPr/>
            </p:nvSpPr>
            <p:spPr>
              <a:xfrm>
                <a:off x="9309354" y="166116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锁定名单</a:t>
                </a:r>
              </a:p>
            </p:txBody>
          </p:sp>
          <p:sp>
            <p:nvSpPr>
              <p:cNvPr id="92" name="Line 92"/>
              <p:cNvSpPr/>
              <p:nvPr/>
            </p:nvSpPr>
            <p:spPr>
              <a:xfrm>
                <a:off x="10020300" y="1619250"/>
                <a:ext cx="9525" cy="228600"/>
              </a:xfrm>
              <a:custGeom>
                <a:avLst/>
                <a:gdLst/>
                <a:ahLst/>
                <a:cxnLst/>
                <a:rect l="l" t="t" r="r" b="b"/>
                <a:pathLst>
                  <a:path w="9525" h="228600">
                    <a:moveTo>
                      <a:pt x="0" y="0"/>
                    </a:moveTo>
                    <a:lnTo>
                      <a:pt x="0" y="228600"/>
                    </a:lnTo>
                  </a:path>
                </a:pathLst>
              </a:custGeom>
              <a:noFill/>
              <a:ln w="9525">
                <a:solidFill>
                  <a:srgbClr val="D7E2F2"/>
                </a:solidFill>
              </a:ln>
            </p:spPr>
          </p:sp>
          <p:sp>
            <p:nvSpPr>
              <p:cNvPr id="93" name="TextBox 93"/>
              <p:cNvSpPr txBox="1"/>
              <p:nvPr/>
            </p:nvSpPr>
            <p:spPr>
              <a:xfrm>
                <a:off x="10110788" y="1688068"/>
                <a:ext cx="1283030"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财政、社保、医院、学校</a:t>
                </a:r>
              </a:p>
            </p:txBody>
          </p:sp>
        </p:grpSp>
        <p:grpSp>
          <p:nvGrpSpPr>
            <p:cNvPr id="105" name="attack-2"/>
            <p:cNvGrpSpPr/>
            <p:nvPr/>
          </p:nvGrpSpPr>
          <p:grpSpPr>
            <a:xfrm>
              <a:off x="8420100" y="2324100"/>
              <a:ext cx="2973718" cy="381000"/>
              <a:chOff x="8420100" y="2324100"/>
              <a:chExt cx="2973718" cy="381000"/>
            </a:xfrm>
          </p:grpSpPr>
          <p:sp>
            <p:nvSpPr>
              <p:cNvPr id="95" name="Rectangle 95"/>
              <p:cNvSpPr/>
              <p:nvPr/>
            </p:nvSpPr>
            <p:spPr>
              <a:xfrm>
                <a:off x="8420100" y="2324100"/>
                <a:ext cx="381000" cy="381000"/>
              </a:xfrm>
              <a:prstGeom prst="roundRect">
                <a:avLst>
                  <a:gd name="adj" fmla="val 15000"/>
                </a:avLst>
              </a:prstGeom>
              <a:solidFill>
                <a:srgbClr val="841600"/>
              </a:solidFill>
              <a:ln>
                <a:noFill/>
              </a:ln>
            </p:spPr>
          </p:sp>
          <p:sp>
            <p:nvSpPr>
              <p:cNvPr id="96" name="TextBox 96"/>
              <p:cNvSpPr txBox="1"/>
              <p:nvPr/>
            </p:nvSpPr>
            <p:spPr>
              <a:xfrm>
                <a:off x="8511212" y="244221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02</a:t>
                </a:r>
              </a:p>
            </p:txBody>
          </p:sp>
          <p:grpSp>
            <p:nvGrpSpPr>
              <p:cNvPr id="101" name="Group 101"/>
              <p:cNvGrpSpPr/>
              <p:nvPr/>
            </p:nvGrpSpPr>
            <p:grpSpPr>
              <a:xfrm>
                <a:off x="8974931" y="2419350"/>
                <a:ext cx="178595" cy="202406"/>
                <a:chOff x="8974931" y="2419350"/>
                <a:chExt cx="178595" cy="202406"/>
              </a:xfrm>
            </p:grpSpPr>
            <p:sp>
              <p:nvSpPr>
                <p:cNvPr id="97" name="Freeform 97"/>
                <p:cNvSpPr/>
                <p:nvPr/>
              </p:nvSpPr>
              <p:spPr>
                <a:xfrm>
                  <a:off x="8974931" y="2419350"/>
                  <a:ext cx="142875" cy="190500"/>
                </a:xfrm>
                <a:custGeom>
                  <a:avLst/>
                  <a:gdLst/>
                  <a:ahLst/>
                  <a:cxnLst/>
                  <a:rect l="l" t="t" r="r" b="b"/>
                  <a:pathLst>
                    <a:path w="142875" h="190500">
                      <a:moveTo>
                        <a:pt x="54947" y="190500"/>
                      </a:moveTo>
                      <a:lnTo>
                        <a:pt x="23812" y="190500"/>
                      </a:lnTo>
                      <a:cubicBezTo>
                        <a:pt x="10661" y="190500"/>
                        <a:pt x="0" y="179839"/>
                        <a:pt x="0" y="166688"/>
                      </a:cubicBezTo>
                      <a:lnTo>
                        <a:pt x="0" y="23812"/>
                      </a:lnTo>
                      <a:cubicBezTo>
                        <a:pt x="0" y="10661"/>
                        <a:pt x="10661" y="0"/>
                        <a:pt x="23812" y="0"/>
                      </a:cubicBezTo>
                      <a:lnTo>
                        <a:pt x="119062" y="0"/>
                      </a:lnTo>
                      <a:cubicBezTo>
                        <a:pt x="132214" y="0"/>
                        <a:pt x="142875" y="10661"/>
                        <a:pt x="142875" y="23812"/>
                      </a:cubicBezTo>
                      <a:lnTo>
                        <a:pt x="142875" y="119062"/>
                      </a:lnTo>
                    </a:path>
                  </a:pathLst>
                </a:custGeom>
                <a:noFill/>
                <a:ln w="17859">
                  <a:solidFill>
                    <a:srgbClr val="841600"/>
                  </a:solidFill>
                </a:ln>
              </p:spPr>
            </p:sp>
            <p:sp>
              <p:nvSpPr>
                <p:cNvPr id="98" name="Freeform 98"/>
                <p:cNvSpPr/>
                <p:nvPr/>
              </p:nvSpPr>
              <p:spPr>
                <a:xfrm>
                  <a:off x="9082088" y="2574131"/>
                  <a:ext cx="71438" cy="47625"/>
                </a:xfrm>
                <a:custGeom>
                  <a:avLst/>
                  <a:gdLst/>
                  <a:ahLst/>
                  <a:cxnLst/>
                  <a:rect l="l" t="t" r="r" b="b"/>
                  <a:pathLst>
                    <a:path w="71438" h="47625">
                      <a:moveTo>
                        <a:pt x="0" y="23812"/>
                      </a:moveTo>
                      <a:lnTo>
                        <a:pt x="23812" y="47625"/>
                      </a:lnTo>
                      <a:lnTo>
                        <a:pt x="71438" y="0"/>
                      </a:lnTo>
                    </a:path>
                  </a:pathLst>
                </a:custGeom>
                <a:noFill/>
                <a:ln w="17859">
                  <a:solidFill>
                    <a:srgbClr val="841600"/>
                  </a:solidFill>
                </a:ln>
              </p:spPr>
            </p:sp>
            <p:sp>
              <p:nvSpPr>
                <p:cNvPr id="99" name="Freeform 99"/>
                <p:cNvSpPr/>
                <p:nvPr/>
              </p:nvSpPr>
              <p:spPr>
                <a:xfrm>
                  <a:off x="9022556" y="2466975"/>
                  <a:ext cx="47625" cy="9525"/>
                </a:xfrm>
                <a:custGeom>
                  <a:avLst/>
                  <a:gdLst/>
                  <a:ahLst/>
                  <a:cxnLst/>
                  <a:rect l="l" t="t" r="r" b="b"/>
                  <a:pathLst>
                    <a:path w="47625" h="9525">
                      <a:moveTo>
                        <a:pt x="0" y="0"/>
                      </a:moveTo>
                      <a:lnTo>
                        <a:pt x="47625" y="0"/>
                      </a:lnTo>
                    </a:path>
                  </a:pathLst>
                </a:custGeom>
                <a:noFill/>
                <a:ln w="17859">
                  <a:solidFill>
                    <a:srgbClr val="841600"/>
                  </a:solidFill>
                </a:ln>
              </p:spPr>
            </p:sp>
            <p:sp>
              <p:nvSpPr>
                <p:cNvPr id="100" name="Freeform 100"/>
                <p:cNvSpPr/>
                <p:nvPr/>
              </p:nvSpPr>
              <p:spPr>
                <a:xfrm>
                  <a:off x="9022556" y="2514600"/>
                  <a:ext cx="23812" cy="9525"/>
                </a:xfrm>
                <a:custGeom>
                  <a:avLst/>
                  <a:gdLst/>
                  <a:ahLst/>
                  <a:cxnLst/>
                  <a:rect l="l" t="t" r="r" b="b"/>
                  <a:pathLst>
                    <a:path w="23812" h="9525">
                      <a:moveTo>
                        <a:pt x="0" y="0"/>
                      </a:moveTo>
                      <a:lnTo>
                        <a:pt x="23812" y="0"/>
                      </a:lnTo>
                    </a:path>
                  </a:pathLst>
                </a:custGeom>
                <a:noFill/>
                <a:ln w="17859">
                  <a:solidFill>
                    <a:srgbClr val="841600"/>
                  </a:solidFill>
                </a:ln>
              </p:spPr>
            </p:sp>
          </p:grpSp>
          <p:sp>
            <p:nvSpPr>
              <p:cNvPr id="102" name="TextBox 102"/>
              <p:cNvSpPr txBox="1"/>
              <p:nvPr/>
            </p:nvSpPr>
            <p:spPr>
              <a:xfrm>
                <a:off x="9309354" y="244221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场景切入</a:t>
                </a:r>
              </a:p>
            </p:txBody>
          </p:sp>
          <p:sp>
            <p:nvSpPr>
              <p:cNvPr id="103" name="Line 103"/>
              <p:cNvSpPr/>
              <p:nvPr/>
            </p:nvSpPr>
            <p:spPr>
              <a:xfrm>
                <a:off x="10020300" y="2400300"/>
                <a:ext cx="9525" cy="228600"/>
              </a:xfrm>
              <a:custGeom>
                <a:avLst/>
                <a:gdLst/>
                <a:ahLst/>
                <a:cxnLst/>
                <a:rect l="l" t="t" r="r" b="b"/>
                <a:pathLst>
                  <a:path w="9525" h="228600">
                    <a:moveTo>
                      <a:pt x="0" y="0"/>
                    </a:moveTo>
                    <a:lnTo>
                      <a:pt x="0" y="228600"/>
                    </a:lnTo>
                  </a:path>
                </a:pathLst>
              </a:custGeom>
              <a:noFill/>
              <a:ln w="9525">
                <a:solidFill>
                  <a:srgbClr val="D7E2F2"/>
                </a:solidFill>
              </a:ln>
            </p:spPr>
          </p:sp>
          <p:sp>
            <p:nvSpPr>
              <p:cNvPr id="104" name="TextBox 104"/>
              <p:cNvSpPr txBox="1"/>
              <p:nvPr/>
            </p:nvSpPr>
            <p:spPr>
              <a:xfrm>
                <a:off x="10110788" y="2469118"/>
                <a:ext cx="1283030"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支付、代发、监管、融资</a:t>
                </a:r>
              </a:p>
            </p:txBody>
          </p:sp>
        </p:grpSp>
        <p:grpSp>
          <p:nvGrpSpPr>
            <p:cNvPr id="118" name="attack-3"/>
            <p:cNvGrpSpPr/>
            <p:nvPr/>
          </p:nvGrpSpPr>
          <p:grpSpPr>
            <a:xfrm>
              <a:off x="8420100" y="3105150"/>
              <a:ext cx="2857945" cy="381000"/>
              <a:chOff x="8420100" y="3105150"/>
              <a:chExt cx="2857945" cy="381000"/>
            </a:xfrm>
          </p:grpSpPr>
          <p:sp>
            <p:nvSpPr>
              <p:cNvPr id="106" name="Rectangle 106"/>
              <p:cNvSpPr/>
              <p:nvPr/>
            </p:nvSpPr>
            <p:spPr>
              <a:xfrm>
                <a:off x="8420100" y="3105150"/>
                <a:ext cx="381000" cy="381000"/>
              </a:xfrm>
              <a:prstGeom prst="roundRect">
                <a:avLst>
                  <a:gd name="adj" fmla="val 15000"/>
                </a:avLst>
              </a:prstGeom>
              <a:solidFill>
                <a:srgbClr val="841600"/>
              </a:solidFill>
              <a:ln>
                <a:noFill/>
              </a:ln>
            </p:spPr>
          </p:sp>
          <p:sp>
            <p:nvSpPr>
              <p:cNvPr id="107" name="TextBox 107"/>
              <p:cNvSpPr txBox="1"/>
              <p:nvPr/>
            </p:nvSpPr>
            <p:spPr>
              <a:xfrm>
                <a:off x="8511212" y="322326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03</a:t>
                </a:r>
              </a:p>
            </p:txBody>
          </p:sp>
          <p:grpSp>
            <p:nvGrpSpPr>
              <p:cNvPr id="114" name="Group 114"/>
              <p:cNvGrpSpPr/>
              <p:nvPr/>
            </p:nvGrpSpPr>
            <p:grpSpPr>
              <a:xfrm>
                <a:off x="8951119" y="3188494"/>
                <a:ext cx="214312" cy="214313"/>
                <a:chOff x="8951119" y="3188494"/>
                <a:chExt cx="214312" cy="214313"/>
              </a:xfrm>
            </p:grpSpPr>
            <p:sp>
              <p:nvSpPr>
                <p:cNvPr id="108" name="Freeform 108"/>
                <p:cNvSpPr/>
                <p:nvPr/>
              </p:nvSpPr>
              <p:spPr>
                <a:xfrm>
                  <a:off x="9034462" y="328374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109" name="Freeform 109"/>
                <p:cNvSpPr/>
                <p:nvPr/>
              </p:nvSpPr>
              <p:spPr>
                <a:xfrm>
                  <a:off x="9010650" y="3367088"/>
                  <a:ext cx="95250" cy="35719"/>
                </a:xfrm>
                <a:custGeom>
                  <a:avLst/>
                  <a:gdLst/>
                  <a:ahLst/>
                  <a:cxnLst/>
                  <a:rect l="l" t="t" r="r" b="b"/>
                  <a:pathLst>
                    <a:path w="95250" h="35719">
                      <a:moveTo>
                        <a:pt x="0" y="35719"/>
                      </a:moveTo>
                      <a:lnTo>
                        <a:pt x="0" y="23812"/>
                      </a:lnTo>
                      <a:cubicBezTo>
                        <a:pt x="0" y="10661"/>
                        <a:pt x="10661" y="0"/>
                        <a:pt x="23812" y="0"/>
                      </a:cubicBezTo>
                      <a:lnTo>
                        <a:pt x="71438" y="0"/>
                      </a:lnTo>
                      <a:cubicBezTo>
                        <a:pt x="84589" y="0"/>
                        <a:pt x="95250" y="10661"/>
                        <a:pt x="95250" y="23812"/>
                      </a:cubicBezTo>
                      <a:lnTo>
                        <a:pt x="95250" y="35719"/>
                      </a:lnTo>
                    </a:path>
                  </a:pathLst>
                </a:custGeom>
                <a:noFill/>
                <a:ln w="17859">
                  <a:solidFill>
                    <a:srgbClr val="841600"/>
                  </a:solidFill>
                </a:ln>
              </p:spPr>
            </p:sp>
            <p:sp>
              <p:nvSpPr>
                <p:cNvPr id="110" name="Freeform 110"/>
                <p:cNvSpPr/>
                <p:nvPr/>
              </p:nvSpPr>
              <p:spPr>
                <a:xfrm>
                  <a:off x="9093994" y="318849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111" name="Freeform 111"/>
                <p:cNvSpPr/>
                <p:nvPr/>
              </p:nvSpPr>
              <p:spPr>
                <a:xfrm>
                  <a:off x="9117806" y="3271838"/>
                  <a:ext cx="47625" cy="35719"/>
                </a:xfrm>
                <a:custGeom>
                  <a:avLst/>
                  <a:gdLst/>
                  <a:ahLst/>
                  <a:cxnLst/>
                  <a:rect l="l" t="t" r="r" b="b"/>
                  <a:pathLst>
                    <a:path w="47625" h="35719">
                      <a:moveTo>
                        <a:pt x="0" y="0"/>
                      </a:moveTo>
                      <a:lnTo>
                        <a:pt x="23812" y="0"/>
                      </a:lnTo>
                      <a:cubicBezTo>
                        <a:pt x="36964" y="0"/>
                        <a:pt x="47625" y="10661"/>
                        <a:pt x="47625" y="23812"/>
                      </a:cubicBezTo>
                      <a:lnTo>
                        <a:pt x="47625" y="35719"/>
                      </a:lnTo>
                    </a:path>
                  </a:pathLst>
                </a:custGeom>
                <a:noFill/>
                <a:ln w="17859">
                  <a:solidFill>
                    <a:srgbClr val="841600"/>
                  </a:solidFill>
                </a:ln>
              </p:spPr>
            </p:sp>
            <p:sp>
              <p:nvSpPr>
                <p:cNvPr id="112" name="Freeform 112"/>
                <p:cNvSpPr/>
                <p:nvPr/>
              </p:nvSpPr>
              <p:spPr>
                <a:xfrm>
                  <a:off x="8974931" y="318849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113" name="Freeform 113"/>
                <p:cNvSpPr/>
                <p:nvPr/>
              </p:nvSpPr>
              <p:spPr>
                <a:xfrm>
                  <a:off x="8951119" y="3271838"/>
                  <a:ext cx="47625" cy="35719"/>
                </a:xfrm>
                <a:custGeom>
                  <a:avLst/>
                  <a:gdLst/>
                  <a:ahLst/>
                  <a:cxnLst/>
                  <a:rect l="l" t="t" r="r" b="b"/>
                  <a:pathLst>
                    <a:path w="47625" h="35719">
                      <a:moveTo>
                        <a:pt x="0" y="35719"/>
                      </a:moveTo>
                      <a:lnTo>
                        <a:pt x="0" y="23812"/>
                      </a:lnTo>
                      <a:cubicBezTo>
                        <a:pt x="0" y="10661"/>
                        <a:pt x="10661" y="0"/>
                        <a:pt x="23812" y="0"/>
                      </a:cubicBezTo>
                      <a:lnTo>
                        <a:pt x="47625" y="0"/>
                      </a:lnTo>
                    </a:path>
                  </a:pathLst>
                </a:custGeom>
                <a:noFill/>
                <a:ln w="17859">
                  <a:solidFill>
                    <a:srgbClr val="841600"/>
                  </a:solidFill>
                </a:ln>
              </p:spPr>
            </p:sp>
          </p:grpSp>
          <p:sp>
            <p:nvSpPr>
              <p:cNvPr id="115" name="TextBox 115"/>
              <p:cNvSpPr txBox="1"/>
              <p:nvPr/>
            </p:nvSpPr>
            <p:spPr>
              <a:xfrm>
                <a:off x="9309354" y="322326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协同落地</a:t>
                </a:r>
              </a:p>
            </p:txBody>
          </p:sp>
          <p:sp>
            <p:nvSpPr>
              <p:cNvPr id="116" name="Line 116"/>
              <p:cNvSpPr/>
              <p:nvPr/>
            </p:nvSpPr>
            <p:spPr>
              <a:xfrm>
                <a:off x="10020300" y="3181350"/>
                <a:ext cx="9525" cy="228600"/>
              </a:xfrm>
              <a:custGeom>
                <a:avLst/>
                <a:gdLst/>
                <a:ahLst/>
                <a:cxnLst/>
                <a:rect l="l" t="t" r="r" b="b"/>
                <a:pathLst>
                  <a:path w="9525" h="228600">
                    <a:moveTo>
                      <a:pt x="0" y="0"/>
                    </a:moveTo>
                    <a:lnTo>
                      <a:pt x="0" y="228600"/>
                    </a:lnTo>
                  </a:path>
                </a:pathLst>
              </a:custGeom>
              <a:noFill/>
              <a:ln w="9525">
                <a:solidFill>
                  <a:srgbClr val="D7E2F2"/>
                </a:solidFill>
              </a:ln>
            </p:spPr>
          </p:sp>
          <p:sp>
            <p:nvSpPr>
              <p:cNvPr id="117" name="TextBox 117"/>
              <p:cNvSpPr txBox="1"/>
              <p:nvPr/>
            </p:nvSpPr>
            <p:spPr>
              <a:xfrm>
                <a:off x="10110788" y="3250168"/>
                <a:ext cx="1167257" cy="169069"/>
              </a:xfrm>
              <a:prstGeom prst="rect">
                <a:avLst/>
              </a:prstGeom>
              <a:noFill/>
              <a:ln>
                <a:noFill/>
              </a:ln>
            </p:spPr>
            <p:txBody>
              <a:bodyPr wrap="none" lIns="0" tIns="0" rIns="0" bIns="0" anchor="t" anchorCtr="0">
                <a:spAutoFit/>
              </a:bodyPr>
              <a:lstStyle/>
              <a:p>
                <a:pPr algn="l"/>
                <a:r>
                  <a:rPr lang="zh-CN" sz="860" dirty="0">
                    <a:solidFill>
                      <a:srgbClr val="7E605A"/>
                    </a:solidFill>
                    <a:latin typeface="+mn-lt"/>
                    <a:ea typeface="+mn-ea"/>
                    <a:cs typeface="+mn-cs"/>
                  </a:rPr>
                  <a:t>产品、科技、运营联动</a:t>
                </a:r>
              </a:p>
            </p:txBody>
          </p:sp>
        </p:grpSp>
      </p:grpSp>
      <p:grpSp>
        <p:nvGrpSpPr>
          <p:cNvPr id="178" name="scenario-chain"/>
          <p:cNvGrpSpPr/>
          <p:nvPr/>
        </p:nvGrpSpPr>
        <p:grpSpPr>
          <a:xfrm>
            <a:off x="266700" y="3771900"/>
            <a:ext cx="7905750" cy="876300"/>
            <a:chOff x="266700" y="3771900"/>
            <a:chExt cx="7905750" cy="876300"/>
          </a:xfrm>
        </p:grpSpPr>
        <p:sp>
          <p:nvSpPr>
            <p:cNvPr id="120" name="Rectangle 120"/>
            <p:cNvSpPr/>
            <p:nvPr/>
          </p:nvSpPr>
          <p:spPr>
            <a:xfrm>
              <a:off x="266700" y="3771900"/>
              <a:ext cx="7905750" cy="876300"/>
            </a:xfrm>
            <a:prstGeom prst="roundRect">
              <a:avLst>
                <a:gd name="adj" fmla="val 8696"/>
              </a:avLst>
            </a:prstGeom>
            <a:solidFill>
              <a:srgbClr val="FFFFFF"/>
            </a:solidFill>
            <a:ln w="9525">
              <a:solidFill>
                <a:srgbClr val="D7E2F2"/>
              </a:solidFill>
            </a:ln>
          </p:spPr>
        </p:sp>
        <p:sp>
          <p:nvSpPr>
            <p:cNvPr id="121" name="Rectangle 121"/>
            <p:cNvSpPr/>
            <p:nvPr/>
          </p:nvSpPr>
          <p:spPr>
            <a:xfrm>
              <a:off x="266700" y="3771900"/>
              <a:ext cx="7905750" cy="266700"/>
            </a:xfrm>
            <a:prstGeom prst="roundRect">
              <a:avLst>
                <a:gd name="adj" fmla="val 28571"/>
              </a:avLst>
            </a:prstGeom>
            <a:solidFill>
              <a:srgbClr val="841600"/>
            </a:solidFill>
            <a:ln>
              <a:noFill/>
            </a:ln>
          </p:spPr>
        </p:sp>
        <p:sp>
          <p:nvSpPr>
            <p:cNvPr id="122" name="Rectangle 122"/>
            <p:cNvSpPr/>
            <p:nvPr/>
          </p:nvSpPr>
          <p:spPr>
            <a:xfrm>
              <a:off x="266700" y="3924300"/>
              <a:ext cx="7905750" cy="114300"/>
            </a:xfrm>
            <a:prstGeom prst="rect">
              <a:avLst/>
            </a:prstGeom>
            <a:solidFill>
              <a:srgbClr val="841600"/>
            </a:solidFill>
            <a:ln>
              <a:noFill/>
            </a:ln>
          </p:spPr>
        </p:sp>
        <p:sp>
          <p:nvSpPr>
            <p:cNvPr id="123" name="TextBox 123"/>
            <p:cNvSpPr txBox="1"/>
            <p:nvPr/>
          </p:nvSpPr>
          <p:spPr>
            <a:xfrm>
              <a:off x="3931539" y="38395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重点场景</a:t>
              </a:r>
            </a:p>
          </p:txBody>
        </p:sp>
        <p:grpSp>
          <p:nvGrpSpPr>
            <p:cNvPr id="131" name="scene-1"/>
            <p:cNvGrpSpPr/>
            <p:nvPr/>
          </p:nvGrpSpPr>
          <p:grpSpPr>
            <a:xfrm>
              <a:off x="381000" y="4133850"/>
              <a:ext cx="1123950" cy="381000"/>
              <a:chOff x="381000" y="4133850"/>
              <a:chExt cx="1123950" cy="381000"/>
            </a:xfrm>
          </p:grpSpPr>
          <p:sp>
            <p:nvSpPr>
              <p:cNvPr id="124" name="Rectangle 124"/>
              <p:cNvSpPr/>
              <p:nvPr/>
            </p:nvSpPr>
            <p:spPr>
              <a:xfrm>
                <a:off x="381000" y="4133850"/>
                <a:ext cx="1123950" cy="381000"/>
              </a:xfrm>
              <a:prstGeom prst="roundRect">
                <a:avLst>
                  <a:gd name="adj" fmla="val 15000"/>
                </a:avLst>
              </a:prstGeom>
              <a:solidFill>
                <a:srgbClr val="EFF5FD"/>
              </a:solidFill>
              <a:ln w="9525">
                <a:solidFill>
                  <a:srgbClr val="ECC1B8"/>
                </a:solidFill>
              </a:ln>
            </p:spPr>
          </p:sp>
          <p:grpSp>
            <p:nvGrpSpPr>
              <p:cNvPr id="129" name="Group 129"/>
              <p:cNvGrpSpPr/>
              <p:nvPr/>
            </p:nvGrpSpPr>
            <p:grpSpPr>
              <a:xfrm>
                <a:off x="481012" y="4268787"/>
                <a:ext cx="142875" cy="111125"/>
                <a:chOff x="481012" y="4268787"/>
                <a:chExt cx="142875" cy="111125"/>
              </a:xfrm>
            </p:grpSpPr>
            <p:sp>
              <p:nvSpPr>
                <p:cNvPr id="125" name="Freeform 125"/>
                <p:cNvSpPr/>
                <p:nvPr/>
              </p:nvSpPr>
              <p:spPr>
                <a:xfrm>
                  <a:off x="481012" y="426878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841600"/>
                  </a:solidFill>
                </a:ln>
              </p:spPr>
            </p:sp>
            <p:sp>
              <p:nvSpPr>
                <p:cNvPr id="126" name="Freeform 126"/>
                <p:cNvSpPr/>
                <p:nvPr/>
              </p:nvSpPr>
              <p:spPr>
                <a:xfrm>
                  <a:off x="481012" y="4308475"/>
                  <a:ext cx="142875" cy="9525"/>
                </a:xfrm>
                <a:custGeom>
                  <a:avLst/>
                  <a:gdLst/>
                  <a:ahLst/>
                  <a:cxnLst/>
                  <a:rect l="l" t="t" r="r" b="b"/>
                  <a:pathLst>
                    <a:path w="142875" h="9525">
                      <a:moveTo>
                        <a:pt x="0" y="0"/>
                      </a:moveTo>
                      <a:lnTo>
                        <a:pt x="142875" y="0"/>
                      </a:lnTo>
                    </a:path>
                  </a:pathLst>
                </a:custGeom>
                <a:noFill/>
                <a:ln w="15875">
                  <a:solidFill>
                    <a:srgbClr val="841600"/>
                  </a:solidFill>
                </a:ln>
              </p:spPr>
            </p:sp>
            <p:sp>
              <p:nvSpPr>
                <p:cNvPr id="127" name="Freeform 127"/>
                <p:cNvSpPr/>
                <p:nvPr/>
              </p:nvSpPr>
              <p:spPr>
                <a:xfrm>
                  <a:off x="512762" y="4348162"/>
                  <a:ext cx="9525" cy="9525"/>
                </a:xfrm>
                <a:custGeom>
                  <a:avLst/>
                  <a:gdLst/>
                  <a:ahLst/>
                  <a:cxnLst/>
                  <a:rect l="l" t="t" r="r" b="b"/>
                  <a:pathLst>
                    <a:path w="9525" h="9525">
                      <a:moveTo>
                        <a:pt x="0" y="0"/>
                      </a:moveTo>
                      <a:lnTo>
                        <a:pt x="79" y="0"/>
                      </a:lnTo>
                    </a:path>
                  </a:pathLst>
                </a:custGeom>
                <a:noFill/>
                <a:ln w="15875">
                  <a:solidFill>
                    <a:srgbClr val="841600"/>
                  </a:solidFill>
                </a:ln>
              </p:spPr>
            </p:sp>
            <p:sp>
              <p:nvSpPr>
                <p:cNvPr id="128" name="Freeform 128"/>
                <p:cNvSpPr/>
                <p:nvPr/>
              </p:nvSpPr>
              <p:spPr>
                <a:xfrm>
                  <a:off x="544512" y="4348162"/>
                  <a:ext cx="15875" cy="9525"/>
                </a:xfrm>
                <a:custGeom>
                  <a:avLst/>
                  <a:gdLst/>
                  <a:ahLst/>
                  <a:cxnLst/>
                  <a:rect l="l" t="t" r="r" b="b"/>
                  <a:pathLst>
                    <a:path w="15875" h="9525">
                      <a:moveTo>
                        <a:pt x="0" y="0"/>
                      </a:moveTo>
                      <a:lnTo>
                        <a:pt x="15875" y="0"/>
                      </a:lnTo>
                    </a:path>
                  </a:pathLst>
                </a:custGeom>
                <a:noFill/>
                <a:ln w="15875">
                  <a:solidFill>
                    <a:srgbClr val="841600"/>
                  </a:solidFill>
                </a:ln>
              </p:spPr>
            </p:sp>
          </p:grpSp>
          <p:sp>
            <p:nvSpPr>
              <p:cNvPr id="130" name="TextBox 130"/>
              <p:cNvSpPr txBox="1"/>
              <p:nvPr/>
            </p:nvSpPr>
            <p:spPr>
              <a:xfrm>
                <a:off x="700088" y="4270772"/>
                <a:ext cx="515696" cy="183356"/>
              </a:xfrm>
              <a:prstGeom prst="rect">
                <a:avLst/>
              </a:prstGeom>
              <a:noFill/>
              <a:ln>
                <a:noFill/>
              </a:ln>
            </p:spPr>
            <p:txBody>
              <a:bodyPr wrap="none" lIns="0" tIns="0" rIns="0" bIns="0" anchor="t" anchorCtr="0">
                <a:spAutoFit/>
              </a:bodyPr>
              <a:lstStyle/>
              <a:p>
                <a:pPr algn="l"/>
                <a:r>
                  <a:rPr lang="zh-CN" sz="940" b="1" dirty="0">
                    <a:solidFill>
                      <a:srgbClr val="841600"/>
                    </a:solidFill>
                    <a:latin typeface="+mn-lt"/>
                    <a:ea typeface="+mn-ea"/>
                    <a:cs typeface="+mn-cs"/>
                  </a:rPr>
                  <a:t>财政支付</a:t>
                </a:r>
              </a:p>
            </p:txBody>
          </p:sp>
        </p:grpSp>
        <p:sp>
          <p:nvSpPr>
            <p:cNvPr id="132" name="Polygon 132"/>
            <p:cNvSpPr/>
            <p:nvPr/>
          </p:nvSpPr>
          <p:spPr>
            <a:xfrm>
              <a:off x="1543050" y="4267200"/>
              <a:ext cx="95250" cy="114300"/>
            </a:xfrm>
            <a:custGeom>
              <a:avLst/>
              <a:gdLst/>
              <a:ahLst/>
              <a:cxnLst/>
              <a:rect l="l" t="t" r="r" b="b"/>
              <a:pathLst>
                <a:path w="95250" h="114300">
                  <a:moveTo>
                    <a:pt x="0" y="0"/>
                  </a:moveTo>
                  <a:lnTo>
                    <a:pt x="95250" y="57150"/>
                  </a:lnTo>
                  <a:lnTo>
                    <a:pt x="0" y="114300"/>
                  </a:lnTo>
                  <a:close/>
                </a:path>
              </a:pathLst>
            </a:custGeom>
            <a:solidFill>
              <a:srgbClr val="C9482E"/>
            </a:solidFill>
            <a:ln>
              <a:noFill/>
            </a:ln>
          </p:spPr>
        </p:sp>
        <p:grpSp>
          <p:nvGrpSpPr>
            <p:cNvPr id="140" name="scene-2"/>
            <p:cNvGrpSpPr/>
            <p:nvPr/>
          </p:nvGrpSpPr>
          <p:grpSpPr>
            <a:xfrm>
              <a:off x="1676400" y="4133850"/>
              <a:ext cx="1123950" cy="381000"/>
              <a:chOff x="1676400" y="4133850"/>
              <a:chExt cx="1123950" cy="381000"/>
            </a:xfrm>
          </p:grpSpPr>
          <p:sp>
            <p:nvSpPr>
              <p:cNvPr id="133" name="Rectangle 133"/>
              <p:cNvSpPr/>
              <p:nvPr/>
            </p:nvSpPr>
            <p:spPr>
              <a:xfrm>
                <a:off x="1676400" y="4133850"/>
                <a:ext cx="1123950" cy="381000"/>
              </a:xfrm>
              <a:prstGeom prst="roundRect">
                <a:avLst>
                  <a:gd name="adj" fmla="val 15000"/>
                </a:avLst>
              </a:prstGeom>
              <a:solidFill>
                <a:srgbClr val="EFF5FD"/>
              </a:solidFill>
              <a:ln w="9525">
                <a:solidFill>
                  <a:srgbClr val="ECC1B8"/>
                </a:solidFill>
              </a:ln>
            </p:spPr>
          </p:sp>
          <p:grpSp>
            <p:nvGrpSpPr>
              <p:cNvPr id="138" name="Group 138"/>
              <p:cNvGrpSpPr/>
              <p:nvPr/>
            </p:nvGrpSpPr>
            <p:grpSpPr>
              <a:xfrm>
                <a:off x="1776412" y="4252912"/>
                <a:ext cx="142875" cy="142875"/>
                <a:chOff x="1776412" y="4252912"/>
                <a:chExt cx="142875" cy="142875"/>
              </a:xfrm>
            </p:grpSpPr>
            <p:sp>
              <p:nvSpPr>
                <p:cNvPr id="134" name="Freeform 134"/>
                <p:cNvSpPr/>
                <p:nvPr/>
              </p:nvSpPr>
              <p:spPr>
                <a:xfrm>
                  <a:off x="1792287" y="42529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841600"/>
                  </a:solidFill>
                </a:ln>
              </p:spPr>
            </p:sp>
            <p:sp>
              <p:nvSpPr>
                <p:cNvPr id="135" name="Freeform 135"/>
                <p:cNvSpPr/>
                <p:nvPr/>
              </p:nvSpPr>
              <p:spPr>
                <a:xfrm>
                  <a:off x="1776412" y="43481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841600"/>
                  </a:solidFill>
                </a:ln>
              </p:spPr>
            </p:sp>
            <p:sp>
              <p:nvSpPr>
                <p:cNvPr id="136" name="Freeform 136"/>
                <p:cNvSpPr/>
                <p:nvPr/>
              </p:nvSpPr>
              <p:spPr>
                <a:xfrm>
                  <a:off x="1879600" y="42539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841600"/>
                  </a:solidFill>
                </a:ln>
              </p:spPr>
            </p:sp>
            <p:sp>
              <p:nvSpPr>
                <p:cNvPr id="137" name="Freeform 137"/>
                <p:cNvSpPr/>
                <p:nvPr/>
              </p:nvSpPr>
              <p:spPr>
                <a:xfrm>
                  <a:off x="1895475" y="43493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841600"/>
                  </a:solidFill>
                </a:ln>
              </p:spPr>
            </p:sp>
          </p:grpSp>
          <p:sp>
            <p:nvSpPr>
              <p:cNvPr id="139" name="TextBox 139"/>
              <p:cNvSpPr txBox="1"/>
              <p:nvPr/>
            </p:nvSpPr>
            <p:spPr>
              <a:xfrm>
                <a:off x="1995488" y="4270772"/>
                <a:ext cx="515696" cy="183356"/>
              </a:xfrm>
              <a:prstGeom prst="rect">
                <a:avLst/>
              </a:prstGeom>
              <a:noFill/>
              <a:ln>
                <a:noFill/>
              </a:ln>
            </p:spPr>
            <p:txBody>
              <a:bodyPr wrap="none" lIns="0" tIns="0" rIns="0" bIns="0" anchor="t" anchorCtr="0">
                <a:spAutoFit/>
              </a:bodyPr>
              <a:lstStyle/>
              <a:p>
                <a:pPr algn="l"/>
                <a:r>
                  <a:rPr lang="zh-CN" sz="940" b="1" dirty="0">
                    <a:solidFill>
                      <a:srgbClr val="841600"/>
                    </a:solidFill>
                    <a:latin typeface="+mn-lt"/>
                    <a:ea typeface="+mn-ea"/>
                    <a:cs typeface="+mn-cs"/>
                  </a:rPr>
                  <a:t>工资代发</a:t>
                </a:r>
              </a:p>
            </p:txBody>
          </p:sp>
        </p:grpSp>
        <p:sp>
          <p:nvSpPr>
            <p:cNvPr id="141" name="Polygon 141"/>
            <p:cNvSpPr/>
            <p:nvPr/>
          </p:nvSpPr>
          <p:spPr>
            <a:xfrm>
              <a:off x="2838450" y="4267200"/>
              <a:ext cx="95250" cy="114300"/>
            </a:xfrm>
            <a:custGeom>
              <a:avLst/>
              <a:gdLst/>
              <a:ahLst/>
              <a:cxnLst/>
              <a:rect l="l" t="t" r="r" b="b"/>
              <a:pathLst>
                <a:path w="95250" h="114300">
                  <a:moveTo>
                    <a:pt x="0" y="0"/>
                  </a:moveTo>
                  <a:lnTo>
                    <a:pt x="95250" y="57150"/>
                  </a:lnTo>
                  <a:lnTo>
                    <a:pt x="0" y="114300"/>
                  </a:lnTo>
                  <a:close/>
                </a:path>
              </a:pathLst>
            </a:custGeom>
            <a:solidFill>
              <a:srgbClr val="C9482E"/>
            </a:solidFill>
            <a:ln>
              <a:noFill/>
            </a:ln>
          </p:spPr>
        </p:sp>
        <p:grpSp>
          <p:nvGrpSpPr>
            <p:cNvPr id="153" name="scene-3"/>
            <p:cNvGrpSpPr/>
            <p:nvPr/>
          </p:nvGrpSpPr>
          <p:grpSpPr>
            <a:xfrm>
              <a:off x="2971800" y="4133850"/>
              <a:ext cx="1123950" cy="381000"/>
              <a:chOff x="2971800" y="4133850"/>
              <a:chExt cx="1123950" cy="381000"/>
            </a:xfrm>
          </p:grpSpPr>
          <p:sp>
            <p:nvSpPr>
              <p:cNvPr id="142" name="Rectangle 142"/>
              <p:cNvSpPr/>
              <p:nvPr/>
            </p:nvSpPr>
            <p:spPr>
              <a:xfrm>
                <a:off x="2971800" y="4133850"/>
                <a:ext cx="1123950" cy="381000"/>
              </a:xfrm>
              <a:prstGeom prst="roundRect">
                <a:avLst>
                  <a:gd name="adj" fmla="val 15000"/>
                </a:avLst>
              </a:prstGeom>
              <a:solidFill>
                <a:srgbClr val="EFF5FD"/>
              </a:solidFill>
              <a:ln w="9525">
                <a:solidFill>
                  <a:srgbClr val="ECC1B8"/>
                </a:solidFill>
              </a:ln>
            </p:spPr>
          </p:sp>
          <p:grpSp>
            <p:nvGrpSpPr>
              <p:cNvPr id="151" name="Group 151"/>
              <p:cNvGrpSpPr/>
              <p:nvPr/>
            </p:nvGrpSpPr>
            <p:grpSpPr>
              <a:xfrm>
                <a:off x="3071812" y="4252912"/>
                <a:ext cx="142875" cy="152400"/>
                <a:chOff x="3071812" y="4252912"/>
                <a:chExt cx="142875" cy="152400"/>
              </a:xfrm>
            </p:grpSpPr>
            <p:sp>
              <p:nvSpPr>
                <p:cNvPr id="143" name="Freeform 143"/>
                <p:cNvSpPr/>
                <p:nvPr/>
              </p:nvSpPr>
              <p:spPr>
                <a:xfrm>
                  <a:off x="3071812" y="4395787"/>
                  <a:ext cx="142875" cy="9525"/>
                </a:xfrm>
                <a:custGeom>
                  <a:avLst/>
                  <a:gdLst/>
                  <a:ahLst/>
                  <a:cxnLst/>
                  <a:rect l="l" t="t" r="r" b="b"/>
                  <a:pathLst>
                    <a:path w="142875" h="9525">
                      <a:moveTo>
                        <a:pt x="0" y="0"/>
                      </a:moveTo>
                      <a:lnTo>
                        <a:pt x="142875" y="0"/>
                      </a:lnTo>
                    </a:path>
                  </a:pathLst>
                </a:custGeom>
                <a:noFill/>
                <a:ln w="15875">
                  <a:solidFill>
                    <a:srgbClr val="841600"/>
                  </a:solidFill>
                </a:ln>
              </p:spPr>
            </p:sp>
            <p:sp>
              <p:nvSpPr>
                <p:cNvPr id="144" name="Freeform 144"/>
                <p:cNvSpPr/>
                <p:nvPr/>
              </p:nvSpPr>
              <p:spPr>
                <a:xfrm>
                  <a:off x="3119437" y="429260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45" name="Freeform 145"/>
                <p:cNvSpPr/>
                <p:nvPr/>
              </p:nvSpPr>
              <p:spPr>
                <a:xfrm>
                  <a:off x="3119437" y="432435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46" name="Freeform 146"/>
                <p:cNvSpPr/>
                <p:nvPr/>
              </p:nvSpPr>
              <p:spPr>
                <a:xfrm>
                  <a:off x="3119437" y="435610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47" name="Freeform 147"/>
                <p:cNvSpPr/>
                <p:nvPr/>
              </p:nvSpPr>
              <p:spPr>
                <a:xfrm>
                  <a:off x="3159125" y="429260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48" name="Freeform 148"/>
                <p:cNvSpPr/>
                <p:nvPr/>
              </p:nvSpPr>
              <p:spPr>
                <a:xfrm>
                  <a:off x="3159125" y="432435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49" name="Freeform 149"/>
                <p:cNvSpPr/>
                <p:nvPr/>
              </p:nvSpPr>
              <p:spPr>
                <a:xfrm>
                  <a:off x="3159125" y="435610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50" name="Freeform 150"/>
                <p:cNvSpPr/>
                <p:nvPr/>
              </p:nvSpPr>
              <p:spPr>
                <a:xfrm>
                  <a:off x="3087687" y="4252912"/>
                  <a:ext cx="111125" cy="142875"/>
                </a:xfrm>
                <a:custGeom>
                  <a:avLst/>
                  <a:gdLst/>
                  <a:ahLst/>
                  <a:cxnLst/>
                  <a:rect l="l" t="t" r="r" b="b"/>
                  <a:pathLst>
                    <a:path w="111125" h="142875">
                      <a:moveTo>
                        <a:pt x="0" y="142875"/>
                      </a:moveTo>
                      <a:lnTo>
                        <a:pt x="0" y="15875"/>
                      </a:lnTo>
                      <a:cubicBezTo>
                        <a:pt x="0" y="7107"/>
                        <a:pt x="7107" y="0"/>
                        <a:pt x="15875" y="0"/>
                      </a:cubicBezTo>
                      <a:lnTo>
                        <a:pt x="95250" y="0"/>
                      </a:lnTo>
                      <a:cubicBezTo>
                        <a:pt x="104017" y="0"/>
                        <a:pt x="111125" y="7107"/>
                        <a:pt x="111125" y="15875"/>
                      </a:cubicBezTo>
                      <a:lnTo>
                        <a:pt x="111125" y="142875"/>
                      </a:lnTo>
                    </a:path>
                  </a:pathLst>
                </a:custGeom>
                <a:noFill/>
                <a:ln w="15875">
                  <a:solidFill>
                    <a:srgbClr val="841600"/>
                  </a:solidFill>
                </a:ln>
              </p:spPr>
            </p:sp>
          </p:grpSp>
          <p:sp>
            <p:nvSpPr>
              <p:cNvPr id="152" name="TextBox 152"/>
              <p:cNvSpPr txBox="1"/>
              <p:nvPr/>
            </p:nvSpPr>
            <p:spPr>
              <a:xfrm>
                <a:off x="3290888" y="4270772"/>
                <a:ext cx="515696" cy="183356"/>
              </a:xfrm>
              <a:prstGeom prst="rect">
                <a:avLst/>
              </a:prstGeom>
              <a:noFill/>
              <a:ln>
                <a:noFill/>
              </a:ln>
            </p:spPr>
            <p:txBody>
              <a:bodyPr wrap="none" lIns="0" tIns="0" rIns="0" bIns="0" anchor="t" anchorCtr="0">
                <a:spAutoFit/>
              </a:bodyPr>
              <a:lstStyle/>
              <a:p>
                <a:pPr algn="l"/>
                <a:r>
                  <a:rPr lang="zh-CN" sz="940" b="1" dirty="0">
                    <a:solidFill>
                      <a:srgbClr val="841600"/>
                    </a:solidFill>
                    <a:latin typeface="+mn-lt"/>
                    <a:ea typeface="+mn-ea"/>
                    <a:cs typeface="+mn-cs"/>
                  </a:rPr>
                  <a:t>智慧医院</a:t>
                </a:r>
              </a:p>
            </p:txBody>
          </p:sp>
        </p:grpSp>
        <p:sp>
          <p:nvSpPr>
            <p:cNvPr id="154" name="Polygon 154"/>
            <p:cNvSpPr/>
            <p:nvPr/>
          </p:nvSpPr>
          <p:spPr>
            <a:xfrm>
              <a:off x="4133850" y="4267200"/>
              <a:ext cx="95250" cy="114300"/>
            </a:xfrm>
            <a:custGeom>
              <a:avLst/>
              <a:gdLst/>
              <a:ahLst/>
              <a:cxnLst/>
              <a:rect l="l" t="t" r="r" b="b"/>
              <a:pathLst>
                <a:path w="95250" h="114300">
                  <a:moveTo>
                    <a:pt x="0" y="0"/>
                  </a:moveTo>
                  <a:lnTo>
                    <a:pt x="95250" y="57150"/>
                  </a:lnTo>
                  <a:lnTo>
                    <a:pt x="0" y="114300"/>
                  </a:lnTo>
                  <a:close/>
                </a:path>
              </a:pathLst>
            </a:custGeom>
            <a:solidFill>
              <a:srgbClr val="C9482E"/>
            </a:solidFill>
            <a:ln>
              <a:noFill/>
            </a:ln>
          </p:spPr>
        </p:sp>
        <p:grpSp>
          <p:nvGrpSpPr>
            <p:cNvPr id="160" name="scene-4"/>
            <p:cNvGrpSpPr/>
            <p:nvPr/>
          </p:nvGrpSpPr>
          <p:grpSpPr>
            <a:xfrm>
              <a:off x="4267200" y="4133850"/>
              <a:ext cx="1123950" cy="381000"/>
              <a:chOff x="4267200" y="4133850"/>
              <a:chExt cx="1123950" cy="381000"/>
            </a:xfrm>
          </p:grpSpPr>
          <p:sp>
            <p:nvSpPr>
              <p:cNvPr id="155" name="Rectangle 155"/>
              <p:cNvSpPr/>
              <p:nvPr/>
            </p:nvSpPr>
            <p:spPr>
              <a:xfrm>
                <a:off x="4267200" y="4133850"/>
                <a:ext cx="1123950" cy="381000"/>
              </a:xfrm>
              <a:prstGeom prst="roundRect">
                <a:avLst>
                  <a:gd name="adj" fmla="val 15000"/>
                </a:avLst>
              </a:prstGeom>
              <a:solidFill>
                <a:srgbClr val="EFF5FD"/>
              </a:solidFill>
              <a:ln w="9525">
                <a:solidFill>
                  <a:srgbClr val="ECC1B8"/>
                </a:solidFill>
              </a:ln>
            </p:spPr>
          </p:sp>
          <p:grpSp>
            <p:nvGrpSpPr>
              <p:cNvPr id="158" name="Group 158"/>
              <p:cNvGrpSpPr/>
              <p:nvPr/>
            </p:nvGrpSpPr>
            <p:grpSpPr>
              <a:xfrm>
                <a:off x="4359275" y="4268787"/>
                <a:ext cx="158750" cy="111125"/>
                <a:chOff x="4359275" y="4268787"/>
                <a:chExt cx="158750" cy="111125"/>
              </a:xfrm>
            </p:grpSpPr>
            <p:sp>
              <p:nvSpPr>
                <p:cNvPr id="156" name="Freeform 156"/>
                <p:cNvSpPr/>
                <p:nvPr/>
              </p:nvSpPr>
              <p:spPr>
                <a:xfrm>
                  <a:off x="4359275" y="4268787"/>
                  <a:ext cx="158750" cy="79375"/>
                </a:xfrm>
                <a:custGeom>
                  <a:avLst/>
                  <a:gdLst/>
                  <a:ahLst/>
                  <a:cxnLst/>
                  <a:rect l="l" t="t" r="r" b="b"/>
                  <a:pathLst>
                    <a:path w="158750" h="79375">
                      <a:moveTo>
                        <a:pt x="158750" y="31750"/>
                      </a:moveTo>
                      <a:lnTo>
                        <a:pt x="79375" y="0"/>
                      </a:lnTo>
                      <a:lnTo>
                        <a:pt x="0" y="31750"/>
                      </a:lnTo>
                      <a:lnTo>
                        <a:pt x="79375" y="63500"/>
                      </a:lnTo>
                      <a:lnTo>
                        <a:pt x="158750" y="31750"/>
                      </a:lnTo>
                      <a:lnTo>
                        <a:pt x="158750" y="79375"/>
                      </a:lnTo>
                    </a:path>
                  </a:pathLst>
                </a:custGeom>
                <a:noFill/>
                <a:ln w="15875">
                  <a:solidFill>
                    <a:srgbClr val="841600"/>
                  </a:solidFill>
                </a:ln>
              </p:spPr>
            </p:sp>
            <p:sp>
              <p:nvSpPr>
                <p:cNvPr id="157" name="Freeform 157"/>
                <p:cNvSpPr/>
                <p:nvPr/>
              </p:nvSpPr>
              <p:spPr>
                <a:xfrm>
                  <a:off x="4391025" y="4313237"/>
                  <a:ext cx="95250" cy="66675"/>
                </a:xfrm>
                <a:custGeom>
                  <a:avLst/>
                  <a:gdLst/>
                  <a:ahLst/>
                  <a:cxnLst/>
                  <a:rect l="l" t="t" r="r" b="b"/>
                  <a:pathLst>
                    <a:path w="95250" h="66675">
                      <a:moveTo>
                        <a:pt x="0" y="0"/>
                      </a:moveTo>
                      <a:lnTo>
                        <a:pt x="0" y="42862"/>
                      </a:lnTo>
                      <a:cubicBezTo>
                        <a:pt x="0" y="56014"/>
                        <a:pt x="21322" y="66675"/>
                        <a:pt x="47625" y="66675"/>
                      </a:cubicBezTo>
                      <a:cubicBezTo>
                        <a:pt x="73928" y="66675"/>
                        <a:pt x="95250" y="56014"/>
                        <a:pt x="95250" y="42862"/>
                      </a:cubicBezTo>
                      <a:lnTo>
                        <a:pt x="95250" y="0"/>
                      </a:lnTo>
                    </a:path>
                  </a:pathLst>
                </a:custGeom>
                <a:noFill/>
                <a:ln w="15875">
                  <a:solidFill>
                    <a:srgbClr val="841600"/>
                  </a:solidFill>
                </a:ln>
              </p:spPr>
            </p:sp>
          </p:grpSp>
          <p:sp>
            <p:nvSpPr>
              <p:cNvPr id="159" name="TextBox 159"/>
              <p:cNvSpPr txBox="1"/>
              <p:nvPr/>
            </p:nvSpPr>
            <p:spPr>
              <a:xfrm>
                <a:off x="4586288" y="4270772"/>
                <a:ext cx="515696" cy="183356"/>
              </a:xfrm>
              <a:prstGeom prst="rect">
                <a:avLst/>
              </a:prstGeom>
              <a:noFill/>
              <a:ln>
                <a:noFill/>
              </a:ln>
            </p:spPr>
            <p:txBody>
              <a:bodyPr wrap="none" lIns="0" tIns="0" rIns="0" bIns="0" anchor="t" anchorCtr="0">
                <a:spAutoFit/>
              </a:bodyPr>
              <a:lstStyle/>
              <a:p>
                <a:pPr algn="l"/>
                <a:r>
                  <a:rPr lang="zh-CN" sz="940" b="1" dirty="0">
                    <a:solidFill>
                      <a:srgbClr val="841600"/>
                    </a:solidFill>
                    <a:latin typeface="+mn-lt"/>
                    <a:ea typeface="+mn-ea"/>
                    <a:cs typeface="+mn-cs"/>
                  </a:rPr>
                  <a:t>智慧校园</a:t>
                </a:r>
              </a:p>
            </p:txBody>
          </p:sp>
        </p:grpSp>
        <p:sp>
          <p:nvSpPr>
            <p:cNvPr id="161" name="Polygon 161"/>
            <p:cNvSpPr/>
            <p:nvPr/>
          </p:nvSpPr>
          <p:spPr>
            <a:xfrm>
              <a:off x="5429250" y="4267200"/>
              <a:ext cx="95250" cy="114300"/>
            </a:xfrm>
            <a:custGeom>
              <a:avLst/>
              <a:gdLst/>
              <a:ahLst/>
              <a:cxnLst/>
              <a:rect l="l" t="t" r="r" b="b"/>
              <a:pathLst>
                <a:path w="95250" h="114300">
                  <a:moveTo>
                    <a:pt x="0" y="0"/>
                  </a:moveTo>
                  <a:lnTo>
                    <a:pt x="95250" y="57150"/>
                  </a:lnTo>
                  <a:lnTo>
                    <a:pt x="0" y="114300"/>
                  </a:lnTo>
                  <a:close/>
                </a:path>
              </a:pathLst>
            </a:custGeom>
            <a:solidFill>
              <a:srgbClr val="C9482E"/>
            </a:solidFill>
            <a:ln>
              <a:noFill/>
            </a:ln>
          </p:spPr>
        </p:sp>
        <p:grpSp>
          <p:nvGrpSpPr>
            <p:cNvPr id="167" name="scene-5"/>
            <p:cNvGrpSpPr/>
            <p:nvPr/>
          </p:nvGrpSpPr>
          <p:grpSpPr>
            <a:xfrm>
              <a:off x="5562600" y="4133850"/>
              <a:ext cx="1123950" cy="381000"/>
              <a:chOff x="5562600" y="4133850"/>
              <a:chExt cx="1123950" cy="381000"/>
            </a:xfrm>
          </p:grpSpPr>
          <p:sp>
            <p:nvSpPr>
              <p:cNvPr id="162" name="Rectangle 162"/>
              <p:cNvSpPr/>
              <p:nvPr/>
            </p:nvSpPr>
            <p:spPr>
              <a:xfrm>
                <a:off x="5562600" y="4133850"/>
                <a:ext cx="1123950" cy="381000"/>
              </a:xfrm>
              <a:prstGeom prst="roundRect">
                <a:avLst>
                  <a:gd name="adj" fmla="val 15000"/>
                </a:avLst>
              </a:prstGeom>
              <a:solidFill>
                <a:srgbClr val="EFF5FD"/>
              </a:solidFill>
              <a:ln w="9525">
                <a:solidFill>
                  <a:srgbClr val="ECC1B8"/>
                </a:solidFill>
              </a:ln>
            </p:spPr>
          </p:sp>
          <p:grpSp>
            <p:nvGrpSpPr>
              <p:cNvPr id="165" name="Group 165"/>
              <p:cNvGrpSpPr/>
              <p:nvPr/>
            </p:nvGrpSpPr>
            <p:grpSpPr>
              <a:xfrm>
                <a:off x="5662612" y="4276725"/>
                <a:ext cx="142875" cy="95250"/>
                <a:chOff x="5662612" y="4276725"/>
                <a:chExt cx="142875" cy="95250"/>
              </a:xfrm>
            </p:grpSpPr>
            <p:sp>
              <p:nvSpPr>
                <p:cNvPr id="163" name="Freeform 163"/>
                <p:cNvSpPr/>
                <p:nvPr/>
              </p:nvSpPr>
              <p:spPr>
                <a:xfrm>
                  <a:off x="5718175" y="430847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841600"/>
                  </a:solidFill>
                </a:ln>
              </p:spPr>
            </p:sp>
            <p:sp>
              <p:nvSpPr>
                <p:cNvPr id="164" name="Freeform 164"/>
                <p:cNvSpPr/>
                <p:nvPr/>
              </p:nvSpPr>
              <p:spPr>
                <a:xfrm>
                  <a:off x="5662612" y="4276725"/>
                  <a:ext cx="142875" cy="95250"/>
                </a:xfrm>
                <a:custGeom>
                  <a:avLst/>
                  <a:gdLst/>
                  <a:ahLst/>
                  <a:cxnLst/>
                  <a:rect l="l" t="t" r="r" b="b"/>
                  <a:pathLst>
                    <a:path w="142875" h="95250">
                      <a:moveTo>
                        <a:pt x="142875" y="47625"/>
                      </a:moveTo>
                      <a:cubicBezTo>
                        <a:pt x="123825" y="79375"/>
                        <a:pt x="100012" y="95250"/>
                        <a:pt x="71437" y="95250"/>
                      </a:cubicBezTo>
                      <a:cubicBezTo>
                        <a:pt x="42862" y="95250"/>
                        <a:pt x="19050" y="79375"/>
                        <a:pt x="0" y="47625"/>
                      </a:cubicBezTo>
                      <a:cubicBezTo>
                        <a:pt x="19050" y="15875"/>
                        <a:pt x="42862" y="0"/>
                        <a:pt x="71437" y="0"/>
                      </a:cubicBezTo>
                      <a:cubicBezTo>
                        <a:pt x="100012" y="0"/>
                        <a:pt x="123825" y="15875"/>
                        <a:pt x="142875" y="47625"/>
                      </a:cubicBezTo>
                    </a:path>
                  </a:pathLst>
                </a:custGeom>
                <a:noFill/>
                <a:ln w="15875">
                  <a:solidFill>
                    <a:srgbClr val="841600"/>
                  </a:solidFill>
                </a:ln>
              </p:spPr>
            </p:sp>
          </p:grpSp>
          <p:sp>
            <p:nvSpPr>
              <p:cNvPr id="166" name="TextBox 166"/>
              <p:cNvSpPr txBox="1"/>
              <p:nvPr/>
            </p:nvSpPr>
            <p:spPr>
              <a:xfrm>
                <a:off x="5881688" y="4270772"/>
                <a:ext cx="515696" cy="183356"/>
              </a:xfrm>
              <a:prstGeom prst="rect">
                <a:avLst/>
              </a:prstGeom>
              <a:noFill/>
              <a:ln>
                <a:noFill/>
              </a:ln>
            </p:spPr>
            <p:txBody>
              <a:bodyPr wrap="none" lIns="0" tIns="0" rIns="0" bIns="0" anchor="t" anchorCtr="0">
                <a:spAutoFit/>
              </a:bodyPr>
              <a:lstStyle/>
              <a:p>
                <a:pPr algn="l"/>
                <a:r>
                  <a:rPr lang="zh-CN" sz="940" b="1" dirty="0">
                    <a:solidFill>
                      <a:srgbClr val="841600"/>
                    </a:solidFill>
                    <a:latin typeface="+mn-lt"/>
                    <a:ea typeface="+mn-ea"/>
                    <a:cs typeface="+mn-cs"/>
                  </a:rPr>
                  <a:t>资金监管</a:t>
                </a:r>
              </a:p>
            </p:txBody>
          </p:sp>
        </p:grpSp>
        <p:sp>
          <p:nvSpPr>
            <p:cNvPr id="168" name="Polygon 168"/>
            <p:cNvSpPr/>
            <p:nvPr/>
          </p:nvSpPr>
          <p:spPr>
            <a:xfrm>
              <a:off x="6724650" y="4267200"/>
              <a:ext cx="95250" cy="114300"/>
            </a:xfrm>
            <a:custGeom>
              <a:avLst/>
              <a:gdLst/>
              <a:ahLst/>
              <a:cxnLst/>
              <a:rect l="l" t="t" r="r" b="b"/>
              <a:pathLst>
                <a:path w="95250" h="114300">
                  <a:moveTo>
                    <a:pt x="0" y="0"/>
                  </a:moveTo>
                  <a:lnTo>
                    <a:pt x="95250" y="57150"/>
                  </a:lnTo>
                  <a:lnTo>
                    <a:pt x="0" y="114300"/>
                  </a:lnTo>
                  <a:close/>
                </a:path>
              </a:pathLst>
            </a:custGeom>
            <a:solidFill>
              <a:srgbClr val="C9482E"/>
            </a:solidFill>
            <a:ln>
              <a:noFill/>
            </a:ln>
          </p:spPr>
        </p:sp>
        <p:grpSp>
          <p:nvGrpSpPr>
            <p:cNvPr id="177" name="scene-6"/>
            <p:cNvGrpSpPr/>
            <p:nvPr/>
          </p:nvGrpSpPr>
          <p:grpSpPr>
            <a:xfrm>
              <a:off x="6858000" y="4133850"/>
              <a:ext cx="1200150" cy="381000"/>
              <a:chOff x="6858000" y="4133850"/>
              <a:chExt cx="1200150" cy="381000"/>
            </a:xfrm>
          </p:grpSpPr>
          <p:sp>
            <p:nvSpPr>
              <p:cNvPr id="169" name="Rectangle 169"/>
              <p:cNvSpPr/>
              <p:nvPr/>
            </p:nvSpPr>
            <p:spPr>
              <a:xfrm>
                <a:off x="6858000" y="4133850"/>
                <a:ext cx="1200150" cy="381000"/>
              </a:xfrm>
              <a:prstGeom prst="roundRect">
                <a:avLst>
                  <a:gd name="adj" fmla="val 15000"/>
                </a:avLst>
              </a:prstGeom>
              <a:solidFill>
                <a:srgbClr val="EFF5FD"/>
              </a:solidFill>
              <a:ln w="9525">
                <a:solidFill>
                  <a:srgbClr val="ECC1B8"/>
                </a:solidFill>
              </a:ln>
            </p:spPr>
          </p:sp>
          <p:grpSp>
            <p:nvGrpSpPr>
              <p:cNvPr id="175" name="Group 175"/>
              <p:cNvGrpSpPr/>
              <p:nvPr/>
            </p:nvGrpSpPr>
            <p:grpSpPr>
              <a:xfrm>
                <a:off x="6958012" y="4251849"/>
                <a:ext cx="142875" cy="143938"/>
                <a:chOff x="6958012" y="4251849"/>
                <a:chExt cx="142875" cy="143938"/>
              </a:xfrm>
            </p:grpSpPr>
            <p:sp>
              <p:nvSpPr>
                <p:cNvPr id="170" name="Freeform 170"/>
                <p:cNvSpPr/>
                <p:nvPr/>
              </p:nvSpPr>
              <p:spPr>
                <a:xfrm>
                  <a:off x="7005637" y="431641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841600"/>
                  </a:solidFill>
                </a:ln>
              </p:spPr>
            </p:sp>
            <p:sp>
              <p:nvSpPr>
                <p:cNvPr id="171" name="Freeform 171"/>
                <p:cNvSpPr/>
                <p:nvPr/>
              </p:nvSpPr>
              <p:spPr>
                <a:xfrm>
                  <a:off x="7005637" y="434022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841600"/>
                  </a:solidFill>
                </a:ln>
              </p:spPr>
            </p:sp>
            <p:sp>
              <p:nvSpPr>
                <p:cNvPr id="172" name="Freeform 172"/>
                <p:cNvSpPr/>
                <p:nvPr/>
              </p:nvSpPr>
              <p:spPr>
                <a:xfrm>
                  <a:off x="6958012" y="425184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841600"/>
                  </a:solidFill>
                </a:ln>
              </p:spPr>
            </p:sp>
            <p:sp>
              <p:nvSpPr>
                <p:cNvPr id="173" name="Freeform 173"/>
                <p:cNvSpPr/>
                <p:nvPr/>
              </p:nvSpPr>
              <p:spPr>
                <a:xfrm>
                  <a:off x="6958012" y="427672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841600"/>
                  </a:solidFill>
                </a:ln>
              </p:spPr>
            </p:sp>
            <p:sp>
              <p:nvSpPr>
                <p:cNvPr id="174" name="Freeform 174"/>
                <p:cNvSpPr/>
                <p:nvPr/>
              </p:nvSpPr>
              <p:spPr>
                <a:xfrm>
                  <a:off x="6958012" y="431641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841600"/>
                  </a:solidFill>
                </a:ln>
              </p:spPr>
            </p:sp>
          </p:grpSp>
          <p:sp>
            <p:nvSpPr>
              <p:cNvPr id="176" name="TextBox 176"/>
              <p:cNvSpPr txBox="1"/>
              <p:nvPr/>
            </p:nvSpPr>
            <p:spPr>
              <a:xfrm>
                <a:off x="7177088" y="4270772"/>
                <a:ext cx="642239" cy="183356"/>
              </a:xfrm>
              <a:prstGeom prst="rect">
                <a:avLst/>
              </a:prstGeom>
              <a:noFill/>
              <a:ln>
                <a:noFill/>
              </a:ln>
            </p:spPr>
            <p:txBody>
              <a:bodyPr wrap="none" lIns="0" tIns="0" rIns="0" bIns="0" anchor="t" anchorCtr="0">
                <a:spAutoFit/>
              </a:bodyPr>
              <a:lstStyle/>
              <a:p>
                <a:pPr algn="l"/>
                <a:r>
                  <a:rPr lang="zh-CN" sz="940" b="1" dirty="0">
                    <a:solidFill>
                      <a:srgbClr val="841600"/>
                    </a:solidFill>
                    <a:latin typeface="+mn-lt"/>
                    <a:ea typeface="+mn-ea"/>
                    <a:cs typeface="+mn-cs"/>
                  </a:rPr>
                  <a:t>专项债融资</a:t>
                </a:r>
              </a:p>
            </p:txBody>
          </p:sp>
        </p:grpSp>
      </p:grpSp>
      <p:grpSp>
        <p:nvGrpSpPr>
          <p:cNvPr id="211" name="value-chain"/>
          <p:cNvGrpSpPr/>
          <p:nvPr/>
        </p:nvGrpSpPr>
        <p:grpSpPr>
          <a:xfrm>
            <a:off x="266700" y="4743450"/>
            <a:ext cx="11658600" cy="742950"/>
            <a:chOff x="266700" y="4743450"/>
            <a:chExt cx="11658600" cy="742950"/>
          </a:xfrm>
        </p:grpSpPr>
        <p:sp>
          <p:nvSpPr>
            <p:cNvPr id="179" name="Rectangle 179"/>
            <p:cNvSpPr/>
            <p:nvPr/>
          </p:nvSpPr>
          <p:spPr>
            <a:xfrm>
              <a:off x="266700" y="4743450"/>
              <a:ext cx="11658600" cy="742950"/>
            </a:xfrm>
            <a:prstGeom prst="roundRect">
              <a:avLst>
                <a:gd name="adj" fmla="val 10256"/>
              </a:avLst>
            </a:prstGeom>
            <a:solidFill>
              <a:srgbClr val="FFFFFF"/>
            </a:solidFill>
            <a:ln w="9525">
              <a:solidFill>
                <a:srgbClr val="D7E2F2"/>
              </a:solidFill>
            </a:ln>
          </p:spPr>
        </p:sp>
        <p:grpSp>
          <p:nvGrpSpPr>
            <p:cNvPr id="186" name="value-1"/>
            <p:cNvGrpSpPr/>
            <p:nvPr/>
          </p:nvGrpSpPr>
          <p:grpSpPr>
            <a:xfrm>
              <a:off x="438150" y="4905375"/>
              <a:ext cx="1714500" cy="419100"/>
              <a:chOff x="438150" y="4905375"/>
              <a:chExt cx="1714500" cy="419100"/>
            </a:xfrm>
          </p:grpSpPr>
          <p:sp>
            <p:nvSpPr>
              <p:cNvPr id="180" name="Rectangle 180"/>
              <p:cNvSpPr/>
              <p:nvPr/>
            </p:nvSpPr>
            <p:spPr>
              <a:xfrm>
                <a:off x="438150" y="4905375"/>
                <a:ext cx="1714500" cy="419100"/>
              </a:xfrm>
              <a:prstGeom prst="roundRect">
                <a:avLst>
                  <a:gd name="adj" fmla="val 13636"/>
                </a:avLst>
              </a:prstGeom>
              <a:solidFill>
                <a:srgbClr val="841600"/>
              </a:solidFill>
              <a:ln>
                <a:noFill/>
              </a:ln>
            </p:spPr>
          </p:sp>
          <p:grpSp>
            <p:nvGrpSpPr>
              <p:cNvPr id="184" name="Group 184"/>
              <p:cNvGrpSpPr/>
              <p:nvPr/>
            </p:nvGrpSpPr>
            <p:grpSpPr>
              <a:xfrm>
                <a:off x="871538" y="5036344"/>
                <a:ext cx="130969" cy="157163"/>
                <a:chOff x="871538" y="5036344"/>
                <a:chExt cx="130969" cy="157163"/>
              </a:xfrm>
            </p:grpSpPr>
            <p:sp>
              <p:nvSpPr>
                <p:cNvPr id="181" name="Freeform 181"/>
                <p:cNvSpPr/>
                <p:nvPr/>
              </p:nvSpPr>
              <p:spPr>
                <a:xfrm>
                  <a:off x="889000" y="50363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82" name="Freeform 182"/>
                <p:cNvSpPr/>
                <p:nvPr/>
              </p:nvSpPr>
              <p:spPr>
                <a:xfrm>
                  <a:off x="871538" y="514111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FFFFFF"/>
                  </a:solidFill>
                </a:ln>
              </p:spPr>
            </p:sp>
            <p:sp>
              <p:nvSpPr>
                <p:cNvPr id="183" name="Freeform 183"/>
                <p:cNvSpPr/>
                <p:nvPr/>
              </p:nvSpPr>
              <p:spPr>
                <a:xfrm>
                  <a:off x="950119" y="5158581"/>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185" name="TextBox 185"/>
              <p:cNvSpPr txBox="1"/>
              <p:nvPr/>
            </p:nvSpPr>
            <p:spPr>
              <a:xfrm>
                <a:off x="1117092" y="5035868"/>
                <a:ext cx="37719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账户</a:t>
                </a:r>
              </a:p>
            </p:txBody>
          </p:sp>
        </p:grpSp>
        <p:sp>
          <p:nvSpPr>
            <p:cNvPr id="187" name="Line 187"/>
            <p:cNvSpPr/>
            <p:nvPr/>
          </p:nvSpPr>
          <p:spPr>
            <a:xfrm>
              <a:off x="2209800" y="5114925"/>
              <a:ext cx="209550" cy="1"/>
            </a:xfrm>
            <a:prstGeom prst="line">
              <a:avLst/>
            </a:prstGeom>
            <a:noFill/>
            <a:ln w="28575">
              <a:solidFill>
                <a:srgbClr val="C9482E"/>
              </a:solidFill>
              <a:tailEnd type="triangle" w="lg" len="lg"/>
            </a:ln>
          </p:spPr>
        </p:sp>
        <p:grpSp>
          <p:nvGrpSpPr>
            <p:cNvPr id="191" name="value-2"/>
            <p:cNvGrpSpPr/>
            <p:nvPr/>
          </p:nvGrpSpPr>
          <p:grpSpPr>
            <a:xfrm>
              <a:off x="2495550" y="4905375"/>
              <a:ext cx="1714500" cy="419100"/>
              <a:chOff x="2495550" y="4905375"/>
              <a:chExt cx="1714500" cy="419100"/>
            </a:xfrm>
          </p:grpSpPr>
          <p:sp>
            <p:nvSpPr>
              <p:cNvPr id="188" name="Rectangle 188"/>
              <p:cNvSpPr/>
              <p:nvPr/>
            </p:nvSpPr>
            <p:spPr>
              <a:xfrm>
                <a:off x="2495550" y="4905375"/>
                <a:ext cx="1714500" cy="419100"/>
              </a:xfrm>
              <a:prstGeom prst="roundRect">
                <a:avLst>
                  <a:gd name="adj" fmla="val 13636"/>
                </a:avLst>
              </a:prstGeom>
              <a:solidFill>
                <a:srgbClr val="841600"/>
              </a:solidFill>
              <a:ln>
                <a:noFill/>
              </a:ln>
            </p:spPr>
          </p:sp>
          <p:sp>
            <p:nvSpPr>
              <p:cNvPr id="189" name="Freeform 189"/>
              <p:cNvSpPr/>
              <p:nvPr/>
            </p:nvSpPr>
            <p:spPr>
              <a:xfrm>
                <a:off x="2902744" y="5036344"/>
                <a:ext cx="157163" cy="157163"/>
              </a:xfrm>
              <a:custGeom>
                <a:avLst/>
                <a:gdLst/>
                <a:ahLst/>
                <a:cxnLst/>
                <a:rect l="l" t="t" r="r" b="b"/>
                <a:pathLst>
                  <a:path w="157163" h="157163">
                    <a:moveTo>
                      <a:pt x="8731" y="34925"/>
                    </a:moveTo>
                    <a:lnTo>
                      <a:pt x="34925" y="34925"/>
                    </a:lnTo>
                    <a:cubicBezTo>
                      <a:pt x="39747" y="34925"/>
                      <a:pt x="43656" y="31016"/>
                      <a:pt x="43656" y="26194"/>
                    </a:cubicBezTo>
                    <a:lnTo>
                      <a:pt x="43656" y="17463"/>
                    </a:lnTo>
                    <a:cubicBezTo>
                      <a:pt x="43656" y="7818"/>
                      <a:pt x="51474" y="0"/>
                      <a:pt x="61119" y="0"/>
                    </a:cubicBezTo>
                    <a:cubicBezTo>
                      <a:pt x="70763" y="0"/>
                      <a:pt x="78581" y="7818"/>
                      <a:pt x="78581" y="17463"/>
                    </a:cubicBezTo>
                    <a:lnTo>
                      <a:pt x="78581" y="26194"/>
                    </a:lnTo>
                    <a:cubicBezTo>
                      <a:pt x="78581" y="31016"/>
                      <a:pt x="82490" y="34925"/>
                      <a:pt x="87313" y="34925"/>
                    </a:cubicBezTo>
                    <a:lnTo>
                      <a:pt x="113506" y="34925"/>
                    </a:lnTo>
                    <a:cubicBezTo>
                      <a:pt x="118328" y="34925"/>
                      <a:pt x="122238" y="38834"/>
                      <a:pt x="122238" y="43656"/>
                    </a:cubicBezTo>
                    <a:lnTo>
                      <a:pt x="122238" y="69850"/>
                    </a:lnTo>
                    <a:cubicBezTo>
                      <a:pt x="122238" y="74672"/>
                      <a:pt x="126147" y="78581"/>
                      <a:pt x="130969" y="78581"/>
                    </a:cubicBezTo>
                    <a:lnTo>
                      <a:pt x="139700" y="78581"/>
                    </a:lnTo>
                    <a:cubicBezTo>
                      <a:pt x="149344" y="78581"/>
                      <a:pt x="157163" y="86400"/>
                      <a:pt x="157163" y="96044"/>
                    </a:cubicBezTo>
                    <a:cubicBezTo>
                      <a:pt x="157163" y="105688"/>
                      <a:pt x="149344" y="113506"/>
                      <a:pt x="139700" y="113506"/>
                    </a:cubicBezTo>
                    <a:lnTo>
                      <a:pt x="130969" y="113506"/>
                    </a:lnTo>
                    <a:cubicBezTo>
                      <a:pt x="126147" y="113506"/>
                      <a:pt x="122238" y="117415"/>
                      <a:pt x="122238" y="122238"/>
                    </a:cubicBezTo>
                    <a:lnTo>
                      <a:pt x="122238" y="148431"/>
                    </a:lnTo>
                    <a:cubicBezTo>
                      <a:pt x="122238" y="153253"/>
                      <a:pt x="118328" y="157163"/>
                      <a:pt x="113506" y="157163"/>
                    </a:cubicBezTo>
                    <a:lnTo>
                      <a:pt x="87313" y="157163"/>
                    </a:lnTo>
                    <a:cubicBezTo>
                      <a:pt x="82490" y="157163"/>
                      <a:pt x="78581" y="153253"/>
                      <a:pt x="78581" y="148431"/>
                    </a:cubicBezTo>
                    <a:lnTo>
                      <a:pt x="78581" y="139700"/>
                    </a:lnTo>
                    <a:cubicBezTo>
                      <a:pt x="78581" y="130056"/>
                      <a:pt x="70763" y="122238"/>
                      <a:pt x="61119" y="122238"/>
                    </a:cubicBezTo>
                    <a:cubicBezTo>
                      <a:pt x="51474" y="122238"/>
                      <a:pt x="43656" y="130056"/>
                      <a:pt x="43656" y="139700"/>
                    </a:cubicBezTo>
                    <a:lnTo>
                      <a:pt x="43656" y="148431"/>
                    </a:lnTo>
                    <a:cubicBezTo>
                      <a:pt x="43656" y="153253"/>
                      <a:pt x="39747" y="157163"/>
                      <a:pt x="34925" y="157163"/>
                    </a:cubicBezTo>
                    <a:lnTo>
                      <a:pt x="8731" y="157163"/>
                    </a:lnTo>
                    <a:cubicBezTo>
                      <a:pt x="3909" y="157163"/>
                      <a:pt x="0" y="153253"/>
                      <a:pt x="0" y="148431"/>
                    </a:cubicBezTo>
                    <a:lnTo>
                      <a:pt x="0" y="122238"/>
                    </a:lnTo>
                    <a:cubicBezTo>
                      <a:pt x="0" y="117415"/>
                      <a:pt x="3909" y="113506"/>
                      <a:pt x="8731" y="113506"/>
                    </a:cubicBezTo>
                    <a:lnTo>
                      <a:pt x="17463" y="113506"/>
                    </a:lnTo>
                    <a:cubicBezTo>
                      <a:pt x="27107" y="113506"/>
                      <a:pt x="34925" y="105688"/>
                      <a:pt x="34925" y="96044"/>
                    </a:cubicBezTo>
                    <a:cubicBezTo>
                      <a:pt x="34925" y="86400"/>
                      <a:pt x="27107" y="78581"/>
                      <a:pt x="17463" y="78581"/>
                    </a:cubicBezTo>
                    <a:lnTo>
                      <a:pt x="8731" y="78581"/>
                    </a:lnTo>
                    <a:cubicBezTo>
                      <a:pt x="3909" y="78581"/>
                      <a:pt x="0" y="74672"/>
                      <a:pt x="0" y="69850"/>
                    </a:cubicBezTo>
                    <a:lnTo>
                      <a:pt x="0" y="43656"/>
                    </a:lnTo>
                    <a:cubicBezTo>
                      <a:pt x="0" y="38834"/>
                      <a:pt x="3909" y="34925"/>
                      <a:pt x="8731" y="34925"/>
                    </a:cubicBezTo>
                  </a:path>
                </a:pathLst>
              </a:custGeom>
              <a:noFill/>
              <a:ln w="17463">
                <a:solidFill>
                  <a:srgbClr val="FFFFFF"/>
                </a:solidFill>
              </a:ln>
            </p:spPr>
          </p:sp>
          <p:sp>
            <p:nvSpPr>
              <p:cNvPr id="190" name="TextBox 190"/>
              <p:cNvSpPr txBox="1"/>
              <p:nvPr/>
            </p:nvSpPr>
            <p:spPr>
              <a:xfrm>
                <a:off x="3174492" y="5035868"/>
                <a:ext cx="37719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场景</a:t>
                </a:r>
              </a:p>
            </p:txBody>
          </p:sp>
        </p:grpSp>
        <p:sp>
          <p:nvSpPr>
            <p:cNvPr id="192" name="Line 192"/>
            <p:cNvSpPr/>
            <p:nvPr/>
          </p:nvSpPr>
          <p:spPr>
            <a:xfrm>
              <a:off x="4267200" y="5114925"/>
              <a:ext cx="209550" cy="1"/>
            </a:xfrm>
            <a:prstGeom prst="line">
              <a:avLst/>
            </a:prstGeom>
            <a:noFill/>
            <a:ln w="28575">
              <a:solidFill>
                <a:srgbClr val="C9482E"/>
              </a:solidFill>
              <a:tailEnd type="triangle" w="lg" len="lg"/>
            </a:ln>
          </p:spPr>
        </p:sp>
        <p:grpSp>
          <p:nvGrpSpPr>
            <p:cNvPr id="199" name="value-3"/>
            <p:cNvGrpSpPr/>
            <p:nvPr/>
          </p:nvGrpSpPr>
          <p:grpSpPr>
            <a:xfrm>
              <a:off x="4552950" y="4905375"/>
              <a:ext cx="1714500" cy="419100"/>
              <a:chOff x="4552950" y="4905375"/>
              <a:chExt cx="1714500" cy="419100"/>
            </a:xfrm>
          </p:grpSpPr>
          <p:sp>
            <p:nvSpPr>
              <p:cNvPr id="193" name="Rectangle 193"/>
              <p:cNvSpPr/>
              <p:nvPr/>
            </p:nvSpPr>
            <p:spPr>
              <a:xfrm>
                <a:off x="4552950" y="4905375"/>
                <a:ext cx="1714500" cy="419100"/>
              </a:xfrm>
              <a:prstGeom prst="roundRect">
                <a:avLst>
                  <a:gd name="adj" fmla="val 13636"/>
                </a:avLst>
              </a:prstGeom>
              <a:solidFill>
                <a:srgbClr val="841600"/>
              </a:solidFill>
              <a:ln>
                <a:noFill/>
              </a:ln>
            </p:spPr>
          </p:sp>
          <p:grpSp>
            <p:nvGrpSpPr>
              <p:cNvPr id="197" name="Group 197"/>
              <p:cNvGrpSpPr/>
              <p:nvPr/>
            </p:nvGrpSpPr>
            <p:grpSpPr>
              <a:xfrm>
                <a:off x="4968875" y="5045075"/>
                <a:ext cx="139700" cy="139700"/>
                <a:chOff x="4968875" y="5045075"/>
                <a:chExt cx="139700" cy="139700"/>
              </a:xfrm>
            </p:grpSpPr>
            <p:sp>
              <p:nvSpPr>
                <p:cNvPr id="194" name="Freeform 194"/>
                <p:cNvSpPr/>
                <p:nvPr/>
              </p:nvSpPr>
              <p:spPr>
                <a:xfrm>
                  <a:off x="4968875" y="5045075"/>
                  <a:ext cx="139700" cy="69850"/>
                </a:xfrm>
                <a:custGeom>
                  <a:avLst/>
                  <a:gdLst/>
                  <a:ahLst/>
                  <a:cxnLst/>
                  <a:rect l="l" t="t" r="r" b="b"/>
                  <a:pathLst>
                    <a:path w="139700" h="69850">
                      <a:moveTo>
                        <a:pt x="69850" y="0"/>
                      </a:moveTo>
                      <a:lnTo>
                        <a:pt x="0" y="34925"/>
                      </a:lnTo>
                      <a:lnTo>
                        <a:pt x="69850" y="69850"/>
                      </a:lnTo>
                      <a:lnTo>
                        <a:pt x="139700" y="34925"/>
                      </a:lnTo>
                      <a:lnTo>
                        <a:pt x="69850" y="0"/>
                      </a:lnTo>
                    </a:path>
                  </a:pathLst>
                </a:custGeom>
                <a:noFill/>
                <a:ln w="17463">
                  <a:solidFill>
                    <a:srgbClr val="FFFFFF"/>
                  </a:solidFill>
                </a:ln>
              </p:spPr>
            </p:sp>
            <p:sp>
              <p:nvSpPr>
                <p:cNvPr id="195" name="Freeform 195"/>
                <p:cNvSpPr/>
                <p:nvPr/>
              </p:nvSpPr>
              <p:spPr>
                <a:xfrm>
                  <a:off x="4968875" y="5114925"/>
                  <a:ext cx="139700" cy="34925"/>
                </a:xfrm>
                <a:custGeom>
                  <a:avLst/>
                  <a:gdLst/>
                  <a:ahLst/>
                  <a:cxnLst/>
                  <a:rect l="l" t="t" r="r" b="b"/>
                  <a:pathLst>
                    <a:path w="139700" h="34925">
                      <a:moveTo>
                        <a:pt x="0" y="0"/>
                      </a:moveTo>
                      <a:lnTo>
                        <a:pt x="69850" y="34925"/>
                      </a:lnTo>
                      <a:lnTo>
                        <a:pt x="139700" y="0"/>
                      </a:lnTo>
                    </a:path>
                  </a:pathLst>
                </a:custGeom>
                <a:noFill/>
                <a:ln w="17463">
                  <a:solidFill>
                    <a:srgbClr val="FFFFFF"/>
                  </a:solidFill>
                </a:ln>
              </p:spPr>
            </p:sp>
            <p:sp>
              <p:nvSpPr>
                <p:cNvPr id="196" name="Freeform 196"/>
                <p:cNvSpPr/>
                <p:nvPr/>
              </p:nvSpPr>
              <p:spPr>
                <a:xfrm>
                  <a:off x="4968875" y="5149850"/>
                  <a:ext cx="139700" cy="34925"/>
                </a:xfrm>
                <a:custGeom>
                  <a:avLst/>
                  <a:gdLst/>
                  <a:ahLst/>
                  <a:cxnLst/>
                  <a:rect l="l" t="t" r="r" b="b"/>
                  <a:pathLst>
                    <a:path w="139700" h="34925">
                      <a:moveTo>
                        <a:pt x="0" y="0"/>
                      </a:moveTo>
                      <a:lnTo>
                        <a:pt x="69850" y="34925"/>
                      </a:lnTo>
                      <a:lnTo>
                        <a:pt x="139700" y="0"/>
                      </a:lnTo>
                    </a:path>
                  </a:pathLst>
                </a:custGeom>
                <a:noFill/>
                <a:ln w="17463">
                  <a:solidFill>
                    <a:srgbClr val="FFFFFF"/>
                  </a:solidFill>
                </a:ln>
              </p:spPr>
            </p:sp>
          </p:grpSp>
          <p:sp>
            <p:nvSpPr>
              <p:cNvPr id="198" name="TextBox 198"/>
              <p:cNvSpPr txBox="1"/>
              <p:nvPr/>
            </p:nvSpPr>
            <p:spPr>
              <a:xfrm>
                <a:off x="5231892" y="5035868"/>
                <a:ext cx="37719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产品</a:t>
                </a:r>
              </a:p>
            </p:txBody>
          </p:sp>
        </p:grpSp>
        <p:sp>
          <p:nvSpPr>
            <p:cNvPr id="200" name="Line 200"/>
            <p:cNvSpPr/>
            <p:nvPr/>
          </p:nvSpPr>
          <p:spPr>
            <a:xfrm>
              <a:off x="6324600" y="5114925"/>
              <a:ext cx="209550" cy="1"/>
            </a:xfrm>
            <a:prstGeom prst="line">
              <a:avLst/>
            </a:prstGeom>
            <a:noFill/>
            <a:ln w="28575">
              <a:solidFill>
                <a:srgbClr val="C9482E"/>
              </a:solidFill>
              <a:tailEnd type="triangle" w="lg" len="lg"/>
            </a:ln>
          </p:spPr>
        </p:sp>
        <p:grpSp>
          <p:nvGrpSpPr>
            <p:cNvPr id="206" name="value-4"/>
            <p:cNvGrpSpPr/>
            <p:nvPr/>
          </p:nvGrpSpPr>
          <p:grpSpPr>
            <a:xfrm>
              <a:off x="6610350" y="4905375"/>
              <a:ext cx="1714500" cy="419100"/>
              <a:chOff x="6610350" y="4905375"/>
              <a:chExt cx="1714500" cy="419100"/>
            </a:xfrm>
          </p:grpSpPr>
          <p:sp>
            <p:nvSpPr>
              <p:cNvPr id="201" name="Rectangle 201"/>
              <p:cNvSpPr/>
              <p:nvPr/>
            </p:nvSpPr>
            <p:spPr>
              <a:xfrm>
                <a:off x="6610350" y="4905375"/>
                <a:ext cx="1714500" cy="419100"/>
              </a:xfrm>
              <a:prstGeom prst="roundRect">
                <a:avLst>
                  <a:gd name="adj" fmla="val 13636"/>
                </a:avLst>
              </a:prstGeom>
              <a:solidFill>
                <a:srgbClr val="841600"/>
              </a:solidFill>
              <a:ln>
                <a:noFill/>
              </a:ln>
            </p:spPr>
          </p:sp>
          <p:grpSp>
            <p:nvGrpSpPr>
              <p:cNvPr id="204" name="Group 204"/>
              <p:cNvGrpSpPr/>
              <p:nvPr/>
            </p:nvGrpSpPr>
            <p:grpSpPr>
              <a:xfrm>
                <a:off x="7017544" y="5071269"/>
                <a:ext cx="157163" cy="87313"/>
                <a:chOff x="7017544" y="5071269"/>
                <a:chExt cx="157163" cy="87313"/>
              </a:xfrm>
            </p:grpSpPr>
            <p:sp>
              <p:nvSpPr>
                <p:cNvPr id="202" name="Freeform 202"/>
                <p:cNvSpPr/>
                <p:nvPr/>
              </p:nvSpPr>
              <p:spPr>
                <a:xfrm>
                  <a:off x="7017544" y="507126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FFFFFF"/>
                  </a:solidFill>
                </a:ln>
              </p:spPr>
            </p:sp>
            <p:sp>
              <p:nvSpPr>
                <p:cNvPr id="203" name="Freeform 203"/>
                <p:cNvSpPr/>
                <p:nvPr/>
              </p:nvSpPr>
              <p:spPr>
                <a:xfrm>
                  <a:off x="7113588" y="5071269"/>
                  <a:ext cx="61119" cy="61119"/>
                </a:xfrm>
                <a:custGeom>
                  <a:avLst/>
                  <a:gdLst/>
                  <a:ahLst/>
                  <a:cxnLst/>
                  <a:rect l="l" t="t" r="r" b="b"/>
                  <a:pathLst>
                    <a:path w="61119" h="61119">
                      <a:moveTo>
                        <a:pt x="0" y="0"/>
                      </a:moveTo>
                      <a:lnTo>
                        <a:pt x="61119" y="0"/>
                      </a:lnTo>
                      <a:lnTo>
                        <a:pt x="61119" y="61119"/>
                      </a:lnTo>
                    </a:path>
                  </a:pathLst>
                </a:custGeom>
                <a:noFill/>
                <a:ln w="17463">
                  <a:solidFill>
                    <a:srgbClr val="FFFFFF"/>
                  </a:solidFill>
                </a:ln>
              </p:spPr>
            </p:sp>
          </p:grpSp>
          <p:sp>
            <p:nvSpPr>
              <p:cNvPr id="205" name="TextBox 205"/>
              <p:cNvSpPr txBox="1"/>
              <p:nvPr/>
            </p:nvSpPr>
            <p:spPr>
              <a:xfrm>
                <a:off x="7289292" y="5035868"/>
                <a:ext cx="37719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收益</a:t>
                </a:r>
              </a:p>
            </p:txBody>
          </p:sp>
        </p:grpSp>
        <p:sp>
          <p:nvSpPr>
            <p:cNvPr id="207" name="TextBox 207"/>
            <p:cNvSpPr txBox="1"/>
            <p:nvPr/>
          </p:nvSpPr>
          <p:spPr>
            <a:xfrm>
              <a:off x="8681656" y="5062776"/>
              <a:ext cx="1913814" cy="198025"/>
            </a:xfrm>
            <a:prstGeom prst="rect">
              <a:avLst/>
            </a:prstGeom>
            <a:noFill/>
            <a:ln>
              <a:noFill/>
            </a:ln>
          </p:spPr>
          <p:txBody>
            <a:bodyPr wrap="none" lIns="0" tIns="0" rIns="0" bIns="0" anchor="t" anchorCtr="0">
              <a:spAutoFit/>
            </a:bodyPr>
            <a:lstStyle/>
            <a:p>
              <a:pPr algn="l"/>
              <a:r>
                <a:rPr lang="zh-CN" sz="1010" b="1" dirty="0">
                  <a:solidFill>
                    <a:srgbClr val="841600"/>
                  </a:solidFill>
                  <a:latin typeface="+mn-lt"/>
                  <a:ea typeface="+mn-ea"/>
                  <a:cs typeface="+mn-cs"/>
                </a:rPr>
                <a:t>存款沉淀｜中收增长｜客户黏性</a:t>
              </a:r>
            </a:p>
          </p:txBody>
        </p:sp>
        <p:grpSp>
          <p:nvGrpSpPr>
            <p:cNvPr id="210" name="Group 210"/>
            <p:cNvGrpSpPr/>
            <p:nvPr/>
          </p:nvGrpSpPr>
          <p:grpSpPr>
            <a:xfrm>
              <a:off x="10698956" y="5063331"/>
              <a:ext cx="185737" cy="103187"/>
              <a:chOff x="10698956" y="5063331"/>
              <a:chExt cx="185737" cy="103187"/>
            </a:xfrm>
          </p:grpSpPr>
          <p:sp>
            <p:nvSpPr>
              <p:cNvPr id="208" name="Freeform 208"/>
              <p:cNvSpPr/>
              <p:nvPr/>
            </p:nvSpPr>
            <p:spPr>
              <a:xfrm>
                <a:off x="10698956" y="5063331"/>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9E331E"/>
                </a:solidFill>
              </a:ln>
            </p:spPr>
          </p:sp>
          <p:sp>
            <p:nvSpPr>
              <p:cNvPr id="209" name="Freeform 209"/>
              <p:cNvSpPr/>
              <p:nvPr/>
            </p:nvSpPr>
            <p:spPr>
              <a:xfrm>
                <a:off x="10812462" y="5063331"/>
                <a:ext cx="72231" cy="72231"/>
              </a:xfrm>
              <a:custGeom>
                <a:avLst/>
                <a:gdLst/>
                <a:ahLst/>
                <a:cxnLst/>
                <a:rect l="l" t="t" r="r" b="b"/>
                <a:pathLst>
                  <a:path w="72231" h="72231">
                    <a:moveTo>
                      <a:pt x="0" y="0"/>
                    </a:moveTo>
                    <a:lnTo>
                      <a:pt x="72231" y="0"/>
                    </a:lnTo>
                    <a:lnTo>
                      <a:pt x="72231" y="72231"/>
                    </a:lnTo>
                  </a:path>
                </a:pathLst>
              </a:custGeom>
              <a:noFill/>
              <a:ln w="20637">
                <a:solidFill>
                  <a:srgbClr val="9E331E"/>
                </a:solidFill>
              </a:ln>
            </p:spPr>
          </p:sp>
        </p:grpSp>
      </p:grpSp>
      <p:grpSp>
        <p:nvGrpSpPr>
          <p:cNvPr id="257" name="kpi-band"/>
          <p:cNvGrpSpPr/>
          <p:nvPr/>
        </p:nvGrpSpPr>
        <p:grpSpPr>
          <a:xfrm>
            <a:off x="266700" y="5581650"/>
            <a:ext cx="11658600" cy="1066800"/>
            <a:chOff x="266700" y="5581650"/>
            <a:chExt cx="11658600" cy="1066800"/>
          </a:xfrm>
        </p:grpSpPr>
        <p:sp>
          <p:nvSpPr>
            <p:cNvPr id="212" name="Rectangle 212"/>
            <p:cNvSpPr/>
            <p:nvPr/>
          </p:nvSpPr>
          <p:spPr>
            <a:xfrm>
              <a:off x="266700" y="5581650"/>
              <a:ext cx="11658600" cy="1066800"/>
            </a:xfrm>
            <a:prstGeom prst="roundRect">
              <a:avLst>
                <a:gd name="adj" fmla="val 7143"/>
              </a:avLst>
            </a:prstGeom>
            <a:solidFill>
              <a:srgbClr val="FFFFFF"/>
            </a:solidFill>
            <a:ln w="9525">
              <a:solidFill>
                <a:srgbClr val="D7E2F2"/>
              </a:solidFill>
            </a:ln>
          </p:spPr>
        </p:sp>
        <p:sp>
          <p:nvSpPr>
            <p:cNvPr id="213" name="Line 213"/>
            <p:cNvSpPr/>
            <p:nvPr/>
          </p:nvSpPr>
          <p:spPr>
            <a:xfrm>
              <a:off x="2600325" y="5772150"/>
              <a:ext cx="9525" cy="685800"/>
            </a:xfrm>
            <a:custGeom>
              <a:avLst/>
              <a:gdLst/>
              <a:ahLst/>
              <a:cxnLst/>
              <a:rect l="l" t="t" r="r" b="b"/>
              <a:pathLst>
                <a:path w="9525" h="685800">
                  <a:moveTo>
                    <a:pt x="0" y="0"/>
                  </a:moveTo>
                  <a:lnTo>
                    <a:pt x="0" y="685800"/>
                  </a:lnTo>
                </a:path>
              </a:pathLst>
            </a:custGeom>
            <a:noFill/>
            <a:ln w="9525">
              <a:solidFill>
                <a:srgbClr val="D7E2F2"/>
              </a:solidFill>
            </a:ln>
          </p:spPr>
        </p:sp>
        <p:sp>
          <p:nvSpPr>
            <p:cNvPr id="214" name="Line 214"/>
            <p:cNvSpPr/>
            <p:nvPr/>
          </p:nvSpPr>
          <p:spPr>
            <a:xfrm>
              <a:off x="4933950" y="5772150"/>
              <a:ext cx="9525" cy="685800"/>
            </a:xfrm>
            <a:custGeom>
              <a:avLst/>
              <a:gdLst/>
              <a:ahLst/>
              <a:cxnLst/>
              <a:rect l="l" t="t" r="r" b="b"/>
              <a:pathLst>
                <a:path w="9525" h="685800">
                  <a:moveTo>
                    <a:pt x="0" y="0"/>
                  </a:moveTo>
                  <a:lnTo>
                    <a:pt x="0" y="685800"/>
                  </a:lnTo>
                </a:path>
              </a:pathLst>
            </a:custGeom>
            <a:noFill/>
            <a:ln w="9525">
              <a:solidFill>
                <a:srgbClr val="D7E2F2"/>
              </a:solidFill>
            </a:ln>
          </p:spPr>
        </p:sp>
        <p:sp>
          <p:nvSpPr>
            <p:cNvPr id="215" name="Line 215"/>
            <p:cNvSpPr/>
            <p:nvPr/>
          </p:nvSpPr>
          <p:spPr>
            <a:xfrm>
              <a:off x="7267575" y="5772150"/>
              <a:ext cx="9525" cy="685800"/>
            </a:xfrm>
            <a:custGeom>
              <a:avLst/>
              <a:gdLst/>
              <a:ahLst/>
              <a:cxnLst/>
              <a:rect l="l" t="t" r="r" b="b"/>
              <a:pathLst>
                <a:path w="9525" h="685800">
                  <a:moveTo>
                    <a:pt x="0" y="0"/>
                  </a:moveTo>
                  <a:lnTo>
                    <a:pt x="0" y="685800"/>
                  </a:lnTo>
                </a:path>
              </a:pathLst>
            </a:custGeom>
            <a:noFill/>
            <a:ln w="9525">
              <a:solidFill>
                <a:srgbClr val="D7E2F2"/>
              </a:solidFill>
            </a:ln>
          </p:spPr>
        </p:sp>
        <p:sp>
          <p:nvSpPr>
            <p:cNvPr id="216" name="Line 216"/>
            <p:cNvSpPr/>
            <p:nvPr/>
          </p:nvSpPr>
          <p:spPr>
            <a:xfrm>
              <a:off x="9601200" y="5772150"/>
              <a:ext cx="9525" cy="685800"/>
            </a:xfrm>
            <a:custGeom>
              <a:avLst/>
              <a:gdLst/>
              <a:ahLst/>
              <a:cxnLst/>
              <a:rect l="l" t="t" r="r" b="b"/>
              <a:pathLst>
                <a:path w="9525" h="685800">
                  <a:moveTo>
                    <a:pt x="0" y="0"/>
                  </a:moveTo>
                  <a:lnTo>
                    <a:pt x="0" y="685800"/>
                  </a:lnTo>
                </a:path>
              </a:pathLst>
            </a:custGeom>
            <a:noFill/>
            <a:ln w="9525">
              <a:solidFill>
                <a:srgbClr val="D7E2F2"/>
              </a:solidFill>
            </a:ln>
          </p:spPr>
        </p:sp>
        <p:grpSp>
          <p:nvGrpSpPr>
            <p:cNvPr id="223" name="kpi-1"/>
            <p:cNvGrpSpPr/>
            <p:nvPr/>
          </p:nvGrpSpPr>
          <p:grpSpPr>
            <a:xfrm>
              <a:off x="565150" y="5823347"/>
              <a:ext cx="1502285" cy="698420"/>
              <a:chOff x="565150" y="5823347"/>
              <a:chExt cx="1502285" cy="698420"/>
            </a:xfrm>
          </p:grpSpPr>
          <p:grpSp>
            <p:nvGrpSpPr>
              <p:cNvPr id="220" name="Group 220"/>
              <p:cNvGrpSpPr/>
              <p:nvPr/>
            </p:nvGrpSpPr>
            <p:grpSpPr>
              <a:xfrm>
                <a:off x="565150" y="5957887"/>
                <a:ext cx="279399" cy="314325"/>
                <a:chOff x="565150" y="5957887"/>
                <a:chExt cx="279399" cy="314325"/>
              </a:xfrm>
            </p:grpSpPr>
            <p:sp>
              <p:nvSpPr>
                <p:cNvPr id="217" name="Freeform 217"/>
                <p:cNvSpPr/>
                <p:nvPr/>
              </p:nvSpPr>
              <p:spPr>
                <a:xfrm>
                  <a:off x="565150" y="5957887"/>
                  <a:ext cx="279399" cy="104775"/>
                </a:xfrm>
                <a:custGeom>
                  <a:avLst/>
                  <a:gdLst/>
                  <a:ahLst/>
                  <a:cxnLst/>
                  <a:rect l="l" t="t" r="r" b="b"/>
                  <a:pathLst>
                    <a:path w="279399" h="104775">
                      <a:moveTo>
                        <a:pt x="0" y="52387"/>
                      </a:moveTo>
                      <a:cubicBezTo>
                        <a:pt x="0" y="81320"/>
                        <a:pt x="62546" y="104775"/>
                        <a:pt x="139700" y="104775"/>
                      </a:cubicBezTo>
                      <a:cubicBezTo>
                        <a:pt x="216854" y="104775"/>
                        <a:pt x="279399" y="81320"/>
                        <a:pt x="279399" y="52387"/>
                      </a:cubicBezTo>
                      <a:cubicBezTo>
                        <a:pt x="279399" y="23455"/>
                        <a:pt x="216854" y="0"/>
                        <a:pt x="139700" y="0"/>
                      </a:cubicBezTo>
                      <a:cubicBezTo>
                        <a:pt x="62546" y="0"/>
                        <a:pt x="0" y="23455"/>
                        <a:pt x="0" y="52387"/>
                      </a:cubicBezTo>
                    </a:path>
                  </a:pathLst>
                </a:custGeom>
                <a:noFill/>
                <a:ln w="26194">
                  <a:solidFill>
                    <a:srgbClr val="841600"/>
                  </a:solidFill>
                </a:ln>
              </p:spPr>
            </p:sp>
            <p:sp>
              <p:nvSpPr>
                <p:cNvPr id="218" name="Freeform 218"/>
                <p:cNvSpPr/>
                <p:nvPr/>
              </p:nvSpPr>
              <p:spPr>
                <a:xfrm>
                  <a:off x="565150" y="6010275"/>
                  <a:ext cx="279399" cy="157162"/>
                </a:xfrm>
                <a:custGeom>
                  <a:avLst/>
                  <a:gdLst/>
                  <a:ahLst/>
                  <a:cxnLst/>
                  <a:rect l="l" t="t" r="r" b="b"/>
                  <a:pathLst>
                    <a:path w="279399" h="157162">
                      <a:moveTo>
                        <a:pt x="0" y="0"/>
                      </a:moveTo>
                      <a:lnTo>
                        <a:pt x="0" y="104775"/>
                      </a:lnTo>
                      <a:cubicBezTo>
                        <a:pt x="0" y="133708"/>
                        <a:pt x="62546" y="157162"/>
                        <a:pt x="139700" y="157162"/>
                      </a:cubicBezTo>
                      <a:cubicBezTo>
                        <a:pt x="216854" y="157162"/>
                        <a:pt x="279399" y="133708"/>
                        <a:pt x="279399" y="104775"/>
                      </a:cubicBezTo>
                      <a:lnTo>
                        <a:pt x="279399" y="0"/>
                      </a:lnTo>
                    </a:path>
                  </a:pathLst>
                </a:custGeom>
                <a:noFill/>
                <a:ln w="26194">
                  <a:solidFill>
                    <a:srgbClr val="841600"/>
                  </a:solidFill>
                </a:ln>
              </p:spPr>
            </p:sp>
            <p:sp>
              <p:nvSpPr>
                <p:cNvPr id="219" name="Freeform 219"/>
                <p:cNvSpPr/>
                <p:nvPr/>
              </p:nvSpPr>
              <p:spPr>
                <a:xfrm>
                  <a:off x="565150" y="6115050"/>
                  <a:ext cx="279399" cy="157162"/>
                </a:xfrm>
                <a:custGeom>
                  <a:avLst/>
                  <a:gdLst/>
                  <a:ahLst/>
                  <a:cxnLst/>
                  <a:rect l="l" t="t" r="r" b="b"/>
                  <a:pathLst>
                    <a:path w="279399" h="157162">
                      <a:moveTo>
                        <a:pt x="0" y="0"/>
                      </a:moveTo>
                      <a:lnTo>
                        <a:pt x="0" y="104775"/>
                      </a:lnTo>
                      <a:cubicBezTo>
                        <a:pt x="0" y="133708"/>
                        <a:pt x="62546" y="157162"/>
                        <a:pt x="139700" y="157162"/>
                      </a:cubicBezTo>
                      <a:cubicBezTo>
                        <a:pt x="216854" y="157162"/>
                        <a:pt x="279399" y="133708"/>
                        <a:pt x="279399" y="104775"/>
                      </a:cubicBezTo>
                      <a:lnTo>
                        <a:pt x="279399" y="0"/>
                      </a:lnTo>
                    </a:path>
                  </a:pathLst>
                </a:custGeom>
                <a:noFill/>
                <a:ln w="26194">
                  <a:solidFill>
                    <a:srgbClr val="841600"/>
                  </a:solidFill>
                </a:ln>
              </p:spPr>
            </p:sp>
          </p:grpSp>
          <p:sp>
            <p:nvSpPr>
              <p:cNvPr id="221" name="TextBox 221"/>
              <p:cNvSpPr txBox="1"/>
              <p:nvPr/>
            </p:nvSpPr>
            <p:spPr>
              <a:xfrm>
                <a:off x="1062038" y="5823347"/>
                <a:ext cx="768782" cy="183356"/>
              </a:xfrm>
              <a:prstGeom prst="rect">
                <a:avLst/>
              </a:prstGeom>
              <a:noFill/>
              <a:ln>
                <a:noFill/>
              </a:ln>
            </p:spPr>
            <p:txBody>
              <a:bodyPr wrap="none" lIns="0" tIns="0" rIns="0" bIns="0" anchor="t" anchorCtr="0">
                <a:spAutoFit/>
              </a:bodyPr>
              <a:lstStyle/>
              <a:p>
                <a:pPr algn="l"/>
                <a:r>
                  <a:rPr lang="zh-CN" sz="940" dirty="0">
                    <a:solidFill>
                      <a:srgbClr val="7E605A"/>
                    </a:solidFill>
                    <a:latin typeface="+mn-lt"/>
                    <a:ea typeface="+mn-ea"/>
                    <a:cs typeface="+mn-cs"/>
                  </a:rPr>
                  <a:t>机构存款日均</a:t>
                </a:r>
              </a:p>
            </p:txBody>
          </p:sp>
          <p:sp>
            <p:nvSpPr>
              <p:cNvPr id="222" name="TextBox 222"/>
              <p:cNvSpPr txBox="1"/>
              <p:nvPr/>
            </p:nvSpPr>
            <p:spPr>
              <a:xfrm>
                <a:off x="1055370" y="6081712"/>
                <a:ext cx="1012065" cy="440055"/>
              </a:xfrm>
              <a:prstGeom prst="rect">
                <a:avLst/>
              </a:prstGeom>
              <a:noFill/>
              <a:ln>
                <a:noFill/>
              </a:ln>
            </p:spPr>
            <p:txBody>
              <a:bodyPr wrap="none" lIns="0" tIns="0" rIns="0" bIns="0" anchor="t" anchorCtr="0">
                <a:spAutoFit/>
              </a:bodyPr>
              <a:lstStyle/>
              <a:p>
                <a:pPr algn="l"/>
                <a:r>
                  <a:rPr lang="zh-CN" sz="2250" b="1" dirty="0">
                    <a:solidFill>
                      <a:srgbClr val="841600"/>
                    </a:solidFill>
                    <a:latin typeface="+mn-lt"/>
                    <a:ea typeface="+mn-ea"/>
                    <a:cs typeface="+mn-cs"/>
                  </a:rPr>
                  <a:t>+35</a:t>
                </a:r>
                <a:r>
                  <a:rPr lang="zh-CN" sz="1200" b="1" dirty="0">
                    <a:solidFill>
                      <a:srgbClr val="841600"/>
                    </a:solidFill>
                    <a:latin typeface="+mn-lt"/>
                    <a:ea typeface="+mn-ea"/>
                    <a:cs typeface="+mn-cs"/>
                  </a:rPr>
                  <a:t>亿</a:t>
                </a:r>
                <a:r>
                  <a:rPr lang="zh-CN" sz="2250" b="1" dirty="0">
                    <a:solidFill>
                      <a:srgbClr val="841600"/>
                    </a:solidFill>
                    <a:latin typeface="+mn-lt"/>
                    <a:ea typeface="+mn-ea"/>
                    <a:cs typeface="+mn-cs"/>
                  </a:rPr>
                  <a:t xml:space="preserve">　</a:t>
                </a:r>
              </a:p>
            </p:txBody>
          </p:sp>
        </p:grpSp>
        <p:grpSp>
          <p:nvGrpSpPr>
            <p:cNvPr id="231" name="kpi-2"/>
            <p:cNvGrpSpPr/>
            <p:nvPr/>
          </p:nvGrpSpPr>
          <p:grpSpPr>
            <a:xfrm>
              <a:off x="2881312" y="5823347"/>
              <a:ext cx="1694669" cy="698420"/>
              <a:chOff x="2881312" y="5823347"/>
              <a:chExt cx="1694669" cy="698420"/>
            </a:xfrm>
          </p:grpSpPr>
          <p:grpSp>
            <p:nvGrpSpPr>
              <p:cNvPr id="228" name="Group 228"/>
              <p:cNvGrpSpPr/>
              <p:nvPr/>
            </p:nvGrpSpPr>
            <p:grpSpPr>
              <a:xfrm>
                <a:off x="2881312" y="5957887"/>
                <a:ext cx="314324" cy="314325"/>
                <a:chOff x="2881312" y="5957887"/>
                <a:chExt cx="314324" cy="314325"/>
              </a:xfrm>
            </p:grpSpPr>
            <p:sp>
              <p:nvSpPr>
                <p:cNvPr id="224" name="Freeform 224"/>
                <p:cNvSpPr/>
                <p:nvPr/>
              </p:nvSpPr>
              <p:spPr>
                <a:xfrm>
                  <a:off x="2916237" y="595788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26194">
                  <a:solidFill>
                    <a:srgbClr val="841600"/>
                  </a:solidFill>
                </a:ln>
              </p:spPr>
            </p:sp>
            <p:sp>
              <p:nvSpPr>
                <p:cNvPr id="225" name="Freeform 225"/>
                <p:cNvSpPr/>
                <p:nvPr/>
              </p:nvSpPr>
              <p:spPr>
                <a:xfrm>
                  <a:off x="2881312" y="6167437"/>
                  <a:ext cx="209550" cy="104775"/>
                </a:xfrm>
                <a:custGeom>
                  <a:avLst/>
                  <a:gdLst/>
                  <a:ahLst/>
                  <a:cxnLst/>
                  <a:rect l="l" t="t" r="r" b="b"/>
                  <a:pathLst>
                    <a:path w="209550" h="104775">
                      <a:moveTo>
                        <a:pt x="0" y="104775"/>
                      </a:moveTo>
                      <a:lnTo>
                        <a:pt x="0" y="69850"/>
                      </a:lnTo>
                      <a:cubicBezTo>
                        <a:pt x="0" y="31273"/>
                        <a:pt x="31273" y="0"/>
                        <a:pt x="69850" y="0"/>
                      </a:cubicBezTo>
                      <a:lnTo>
                        <a:pt x="139700" y="0"/>
                      </a:lnTo>
                      <a:cubicBezTo>
                        <a:pt x="178277" y="0"/>
                        <a:pt x="209550" y="31273"/>
                        <a:pt x="209550" y="69850"/>
                      </a:cubicBezTo>
                      <a:lnTo>
                        <a:pt x="209550" y="104775"/>
                      </a:lnTo>
                    </a:path>
                  </a:pathLst>
                </a:custGeom>
                <a:noFill/>
                <a:ln w="26194">
                  <a:solidFill>
                    <a:srgbClr val="841600"/>
                  </a:solidFill>
                </a:ln>
              </p:spPr>
            </p:sp>
            <p:sp>
              <p:nvSpPr>
                <p:cNvPr id="226" name="Freeform 226"/>
                <p:cNvSpPr/>
                <p:nvPr/>
              </p:nvSpPr>
              <p:spPr>
                <a:xfrm>
                  <a:off x="3108324" y="5960158"/>
                  <a:ext cx="52524" cy="135334"/>
                </a:xfrm>
                <a:custGeom>
                  <a:avLst/>
                  <a:gdLst/>
                  <a:ahLst/>
                  <a:cxnLst/>
                  <a:rect l="l" t="t" r="r" b="b"/>
                  <a:pathLst>
                    <a:path w="52524" h="135334">
                      <a:moveTo>
                        <a:pt x="0" y="0"/>
                      </a:moveTo>
                      <a:cubicBezTo>
                        <a:pt x="30907" y="7913"/>
                        <a:pt x="52524" y="35763"/>
                        <a:pt x="52524" y="67667"/>
                      </a:cubicBezTo>
                      <a:cubicBezTo>
                        <a:pt x="52524" y="99571"/>
                        <a:pt x="30907" y="127421"/>
                        <a:pt x="0" y="135334"/>
                      </a:cubicBezTo>
                    </a:path>
                  </a:pathLst>
                </a:custGeom>
                <a:noFill/>
                <a:ln w="26194">
                  <a:solidFill>
                    <a:srgbClr val="841600"/>
                  </a:solidFill>
                </a:ln>
              </p:spPr>
            </p:sp>
            <p:sp>
              <p:nvSpPr>
                <p:cNvPr id="227" name="Freeform 227"/>
                <p:cNvSpPr/>
                <p:nvPr/>
              </p:nvSpPr>
              <p:spPr>
                <a:xfrm>
                  <a:off x="3143249" y="6170056"/>
                  <a:ext cx="52387" cy="102155"/>
                </a:xfrm>
                <a:custGeom>
                  <a:avLst/>
                  <a:gdLst/>
                  <a:ahLst/>
                  <a:cxnLst/>
                  <a:rect l="l" t="t" r="r" b="b"/>
                  <a:pathLst>
                    <a:path w="52387" h="102155">
                      <a:moveTo>
                        <a:pt x="52387" y="102155"/>
                      </a:moveTo>
                      <a:lnTo>
                        <a:pt x="52387" y="67231"/>
                      </a:lnTo>
                      <a:cubicBezTo>
                        <a:pt x="52205" y="35529"/>
                        <a:pt x="30696" y="7925"/>
                        <a:pt x="0" y="0"/>
                      </a:cubicBezTo>
                    </a:path>
                  </a:pathLst>
                </a:custGeom>
                <a:noFill/>
                <a:ln w="26194">
                  <a:solidFill>
                    <a:srgbClr val="841600"/>
                  </a:solidFill>
                </a:ln>
              </p:spPr>
            </p:sp>
          </p:grpSp>
          <p:sp>
            <p:nvSpPr>
              <p:cNvPr id="229" name="TextBox 229"/>
              <p:cNvSpPr txBox="1"/>
              <p:nvPr/>
            </p:nvSpPr>
            <p:spPr>
              <a:xfrm>
                <a:off x="3395662" y="5823347"/>
                <a:ext cx="515696" cy="183356"/>
              </a:xfrm>
              <a:prstGeom prst="rect">
                <a:avLst/>
              </a:prstGeom>
              <a:noFill/>
              <a:ln>
                <a:noFill/>
              </a:ln>
            </p:spPr>
            <p:txBody>
              <a:bodyPr wrap="none" lIns="0" tIns="0" rIns="0" bIns="0" anchor="t" anchorCtr="0">
                <a:spAutoFit/>
              </a:bodyPr>
              <a:lstStyle/>
              <a:p>
                <a:pPr algn="l"/>
                <a:r>
                  <a:rPr lang="zh-CN" sz="940" dirty="0">
                    <a:solidFill>
                      <a:srgbClr val="7E605A"/>
                    </a:solidFill>
                    <a:latin typeface="+mn-lt"/>
                    <a:ea typeface="+mn-ea"/>
                    <a:cs typeface="+mn-cs"/>
                  </a:rPr>
                  <a:t>新增账户</a:t>
                </a:r>
              </a:p>
            </p:txBody>
          </p:sp>
          <p:sp>
            <p:nvSpPr>
              <p:cNvPr id="230" name="TextBox 230"/>
              <p:cNvSpPr txBox="1"/>
              <p:nvPr/>
            </p:nvSpPr>
            <p:spPr>
              <a:xfrm>
                <a:off x="3388995" y="6081712"/>
                <a:ext cx="1186986" cy="440055"/>
              </a:xfrm>
              <a:prstGeom prst="rect">
                <a:avLst/>
              </a:prstGeom>
              <a:noFill/>
              <a:ln>
                <a:noFill/>
              </a:ln>
            </p:spPr>
            <p:txBody>
              <a:bodyPr wrap="none" lIns="0" tIns="0" rIns="0" bIns="0" anchor="t" anchorCtr="0">
                <a:spAutoFit/>
              </a:bodyPr>
              <a:lstStyle/>
              <a:p>
                <a:pPr algn="l"/>
                <a:r>
                  <a:rPr lang="zh-CN" sz="2250" b="1" dirty="0">
                    <a:solidFill>
                      <a:srgbClr val="841600"/>
                    </a:solidFill>
                    <a:latin typeface="+mn-lt"/>
                    <a:ea typeface="+mn-ea"/>
                    <a:cs typeface="+mn-cs"/>
                  </a:rPr>
                  <a:t>+120</a:t>
                </a:r>
                <a:r>
                  <a:rPr lang="zh-CN" sz="1200" b="1" dirty="0">
                    <a:solidFill>
                      <a:srgbClr val="841600"/>
                    </a:solidFill>
                    <a:latin typeface="+mn-lt"/>
                    <a:ea typeface="+mn-ea"/>
                    <a:cs typeface="+mn-cs"/>
                  </a:rPr>
                  <a:t>户</a:t>
                </a:r>
                <a:r>
                  <a:rPr lang="zh-CN" sz="2250" b="1" dirty="0">
                    <a:solidFill>
                      <a:srgbClr val="841600"/>
                    </a:solidFill>
                    <a:latin typeface="+mn-lt"/>
                    <a:ea typeface="+mn-ea"/>
                    <a:cs typeface="+mn-cs"/>
                  </a:rPr>
                  <a:t xml:space="preserve">　</a:t>
                </a:r>
              </a:p>
            </p:txBody>
          </p:sp>
        </p:grpSp>
        <p:grpSp>
          <p:nvGrpSpPr>
            <p:cNvPr id="241" name="kpi-3"/>
            <p:cNvGrpSpPr/>
            <p:nvPr/>
          </p:nvGrpSpPr>
          <p:grpSpPr>
            <a:xfrm>
              <a:off x="5214937" y="5823347"/>
              <a:ext cx="1506370" cy="698420"/>
              <a:chOff x="5214937" y="5823347"/>
              <a:chExt cx="1506370" cy="698420"/>
            </a:xfrm>
          </p:grpSpPr>
          <p:grpSp>
            <p:nvGrpSpPr>
              <p:cNvPr id="238" name="Group 238"/>
              <p:cNvGrpSpPr/>
              <p:nvPr/>
            </p:nvGrpSpPr>
            <p:grpSpPr>
              <a:xfrm>
                <a:off x="5214937" y="5957887"/>
                <a:ext cx="314325" cy="314324"/>
                <a:chOff x="5214937" y="5957887"/>
                <a:chExt cx="314325" cy="314324"/>
              </a:xfrm>
            </p:grpSpPr>
            <p:sp>
              <p:nvSpPr>
                <p:cNvPr id="232" name="Freeform 232"/>
                <p:cNvSpPr/>
                <p:nvPr/>
              </p:nvSpPr>
              <p:spPr>
                <a:xfrm>
                  <a:off x="5337175" y="60975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26194">
                  <a:solidFill>
                    <a:srgbClr val="841600"/>
                  </a:solidFill>
                </a:ln>
              </p:spPr>
            </p:sp>
            <p:sp>
              <p:nvSpPr>
                <p:cNvPr id="233" name="Freeform 233"/>
                <p:cNvSpPr/>
                <p:nvPr/>
              </p:nvSpPr>
              <p:spPr>
                <a:xfrm>
                  <a:off x="5302250" y="6219824"/>
                  <a:ext cx="139700" cy="52387"/>
                </a:xfrm>
                <a:custGeom>
                  <a:avLst/>
                  <a:gdLst/>
                  <a:ahLst/>
                  <a:cxnLst/>
                  <a:rect l="l" t="t" r="r" b="b"/>
                  <a:pathLst>
                    <a:path w="139700" h="52387">
                      <a:moveTo>
                        <a:pt x="0" y="52387"/>
                      </a:moveTo>
                      <a:lnTo>
                        <a:pt x="0" y="34925"/>
                      </a:lnTo>
                      <a:cubicBezTo>
                        <a:pt x="0" y="15636"/>
                        <a:pt x="15636" y="0"/>
                        <a:pt x="34925" y="0"/>
                      </a:cubicBezTo>
                      <a:lnTo>
                        <a:pt x="104775" y="0"/>
                      </a:lnTo>
                      <a:cubicBezTo>
                        <a:pt x="124063" y="0"/>
                        <a:pt x="139700" y="15636"/>
                        <a:pt x="139700" y="34925"/>
                      </a:cubicBezTo>
                      <a:lnTo>
                        <a:pt x="139700" y="52387"/>
                      </a:lnTo>
                    </a:path>
                  </a:pathLst>
                </a:custGeom>
                <a:noFill/>
                <a:ln w="26194">
                  <a:solidFill>
                    <a:srgbClr val="841600"/>
                  </a:solidFill>
                </a:ln>
              </p:spPr>
            </p:sp>
            <p:sp>
              <p:nvSpPr>
                <p:cNvPr id="234" name="Freeform 234"/>
                <p:cNvSpPr/>
                <p:nvPr/>
              </p:nvSpPr>
              <p:spPr>
                <a:xfrm>
                  <a:off x="5424487" y="59578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26194">
                  <a:solidFill>
                    <a:srgbClr val="841600"/>
                  </a:solidFill>
                </a:ln>
              </p:spPr>
            </p:sp>
            <p:sp>
              <p:nvSpPr>
                <p:cNvPr id="235" name="Freeform 235"/>
                <p:cNvSpPr/>
                <p:nvPr/>
              </p:nvSpPr>
              <p:spPr>
                <a:xfrm>
                  <a:off x="5459412" y="6080125"/>
                  <a:ext cx="69850" cy="52387"/>
                </a:xfrm>
                <a:custGeom>
                  <a:avLst/>
                  <a:gdLst/>
                  <a:ahLst/>
                  <a:cxnLst/>
                  <a:rect l="l" t="t" r="r" b="b"/>
                  <a:pathLst>
                    <a:path w="69850" h="52387">
                      <a:moveTo>
                        <a:pt x="0" y="0"/>
                      </a:moveTo>
                      <a:lnTo>
                        <a:pt x="34925" y="0"/>
                      </a:lnTo>
                      <a:cubicBezTo>
                        <a:pt x="54213" y="0"/>
                        <a:pt x="69850" y="15636"/>
                        <a:pt x="69850" y="34925"/>
                      </a:cubicBezTo>
                      <a:lnTo>
                        <a:pt x="69850" y="52387"/>
                      </a:lnTo>
                    </a:path>
                  </a:pathLst>
                </a:custGeom>
                <a:noFill/>
                <a:ln w="26194">
                  <a:solidFill>
                    <a:srgbClr val="841600"/>
                  </a:solidFill>
                </a:ln>
              </p:spPr>
            </p:sp>
            <p:sp>
              <p:nvSpPr>
                <p:cNvPr id="236" name="Freeform 236"/>
                <p:cNvSpPr/>
                <p:nvPr/>
              </p:nvSpPr>
              <p:spPr>
                <a:xfrm>
                  <a:off x="5249862" y="59578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26194">
                  <a:solidFill>
                    <a:srgbClr val="841600"/>
                  </a:solidFill>
                </a:ln>
              </p:spPr>
            </p:sp>
            <p:sp>
              <p:nvSpPr>
                <p:cNvPr id="237" name="Freeform 237"/>
                <p:cNvSpPr/>
                <p:nvPr/>
              </p:nvSpPr>
              <p:spPr>
                <a:xfrm>
                  <a:off x="5214937" y="6080125"/>
                  <a:ext cx="69850" cy="52387"/>
                </a:xfrm>
                <a:custGeom>
                  <a:avLst/>
                  <a:gdLst/>
                  <a:ahLst/>
                  <a:cxnLst/>
                  <a:rect l="l" t="t" r="r" b="b"/>
                  <a:pathLst>
                    <a:path w="69850" h="52387">
                      <a:moveTo>
                        <a:pt x="0" y="52387"/>
                      </a:moveTo>
                      <a:lnTo>
                        <a:pt x="0" y="34925"/>
                      </a:lnTo>
                      <a:cubicBezTo>
                        <a:pt x="0" y="15636"/>
                        <a:pt x="15636" y="0"/>
                        <a:pt x="34925" y="0"/>
                      </a:cubicBezTo>
                      <a:lnTo>
                        <a:pt x="69850" y="0"/>
                      </a:lnTo>
                    </a:path>
                  </a:pathLst>
                </a:custGeom>
                <a:noFill/>
                <a:ln w="26194">
                  <a:solidFill>
                    <a:srgbClr val="841600"/>
                  </a:solidFill>
                </a:ln>
              </p:spPr>
            </p:sp>
          </p:grpSp>
          <p:sp>
            <p:nvSpPr>
              <p:cNvPr id="239" name="TextBox 239"/>
              <p:cNvSpPr txBox="1"/>
              <p:nvPr/>
            </p:nvSpPr>
            <p:spPr>
              <a:xfrm>
                <a:off x="5729288" y="5823347"/>
                <a:ext cx="515696" cy="183356"/>
              </a:xfrm>
              <a:prstGeom prst="rect">
                <a:avLst/>
              </a:prstGeom>
              <a:noFill/>
              <a:ln>
                <a:noFill/>
              </a:ln>
            </p:spPr>
            <p:txBody>
              <a:bodyPr wrap="none" lIns="0" tIns="0" rIns="0" bIns="0" anchor="t" anchorCtr="0">
                <a:spAutoFit/>
              </a:bodyPr>
              <a:lstStyle/>
              <a:p>
                <a:pPr algn="l"/>
                <a:r>
                  <a:rPr lang="zh-CN" sz="940" dirty="0">
                    <a:solidFill>
                      <a:srgbClr val="7E605A"/>
                    </a:solidFill>
                    <a:latin typeface="+mn-lt"/>
                    <a:ea typeface="+mn-ea"/>
                    <a:cs typeface="+mn-cs"/>
                  </a:rPr>
                  <a:t>代发客户</a:t>
                </a:r>
              </a:p>
            </p:txBody>
          </p:sp>
          <p:sp>
            <p:nvSpPr>
              <p:cNvPr id="240" name="TextBox 240"/>
              <p:cNvSpPr txBox="1"/>
              <p:nvPr/>
            </p:nvSpPr>
            <p:spPr>
              <a:xfrm>
                <a:off x="5722620" y="6081712"/>
                <a:ext cx="998687" cy="440055"/>
              </a:xfrm>
              <a:prstGeom prst="rect">
                <a:avLst/>
              </a:prstGeom>
              <a:noFill/>
              <a:ln>
                <a:noFill/>
              </a:ln>
            </p:spPr>
            <p:txBody>
              <a:bodyPr wrap="none" lIns="0" tIns="0" rIns="0" bIns="0" anchor="t" anchorCtr="0">
                <a:spAutoFit/>
              </a:bodyPr>
              <a:lstStyle/>
              <a:p>
                <a:pPr algn="l"/>
                <a:r>
                  <a:rPr lang="zh-CN" sz="2250" b="1" dirty="0">
                    <a:solidFill>
                      <a:srgbClr val="841600"/>
                    </a:solidFill>
                    <a:latin typeface="+mn-lt"/>
                    <a:ea typeface="+mn-ea"/>
                    <a:cs typeface="+mn-cs"/>
                  </a:rPr>
                  <a:t>+3</a:t>
                </a:r>
                <a:r>
                  <a:rPr lang="zh-CN" sz="1200" b="1" dirty="0">
                    <a:solidFill>
                      <a:srgbClr val="841600"/>
                    </a:solidFill>
                    <a:latin typeface="+mn-lt"/>
                    <a:ea typeface="+mn-ea"/>
                    <a:cs typeface="+mn-cs"/>
                  </a:rPr>
                  <a:t>万人</a:t>
                </a:r>
                <a:r>
                  <a:rPr lang="zh-CN" sz="2250" b="1" dirty="0">
                    <a:solidFill>
                      <a:srgbClr val="841600"/>
                    </a:solidFill>
                    <a:latin typeface="+mn-lt"/>
                    <a:ea typeface="+mn-ea"/>
                    <a:cs typeface="+mn-cs"/>
                  </a:rPr>
                  <a:t xml:space="preserve">　</a:t>
                </a:r>
              </a:p>
            </p:txBody>
          </p:sp>
        </p:grpSp>
        <p:grpSp>
          <p:nvGrpSpPr>
            <p:cNvPr id="250" name="kpi-4"/>
            <p:cNvGrpSpPr/>
            <p:nvPr/>
          </p:nvGrpSpPr>
          <p:grpSpPr>
            <a:xfrm>
              <a:off x="7583487" y="5823347"/>
              <a:ext cx="1309901" cy="698420"/>
              <a:chOff x="7583487" y="5823347"/>
              <a:chExt cx="1309901" cy="698420"/>
            </a:xfrm>
          </p:grpSpPr>
          <p:grpSp>
            <p:nvGrpSpPr>
              <p:cNvPr id="247" name="Group 247"/>
              <p:cNvGrpSpPr/>
              <p:nvPr/>
            </p:nvGrpSpPr>
            <p:grpSpPr>
              <a:xfrm>
                <a:off x="7583487" y="5957887"/>
                <a:ext cx="244475" cy="314324"/>
                <a:chOff x="7583487" y="5957887"/>
                <a:chExt cx="244475" cy="314324"/>
              </a:xfrm>
            </p:grpSpPr>
            <p:sp>
              <p:nvSpPr>
                <p:cNvPr id="242" name="Freeform 242"/>
                <p:cNvSpPr/>
                <p:nvPr/>
              </p:nvSpPr>
              <p:spPr>
                <a:xfrm>
                  <a:off x="7740650" y="5957887"/>
                  <a:ext cx="87312" cy="87312"/>
                </a:xfrm>
                <a:custGeom>
                  <a:avLst/>
                  <a:gdLst/>
                  <a:ahLst/>
                  <a:cxnLst/>
                  <a:rect l="l" t="t" r="r" b="b"/>
                  <a:pathLst>
                    <a:path w="87312" h="87312">
                      <a:moveTo>
                        <a:pt x="0" y="0"/>
                      </a:moveTo>
                      <a:lnTo>
                        <a:pt x="0" y="69850"/>
                      </a:lnTo>
                      <a:cubicBezTo>
                        <a:pt x="0" y="79494"/>
                        <a:pt x="7818" y="87312"/>
                        <a:pt x="17462" y="87312"/>
                      </a:cubicBezTo>
                      <a:lnTo>
                        <a:pt x="87312" y="87312"/>
                      </a:lnTo>
                    </a:path>
                  </a:pathLst>
                </a:custGeom>
                <a:noFill/>
                <a:ln w="26194">
                  <a:solidFill>
                    <a:srgbClr val="841600"/>
                  </a:solidFill>
                </a:ln>
              </p:spPr>
            </p:sp>
            <p:sp>
              <p:nvSpPr>
                <p:cNvPr id="243" name="Freeform 243"/>
                <p:cNvSpPr/>
                <p:nvPr/>
              </p:nvSpPr>
              <p:spPr>
                <a:xfrm>
                  <a:off x="7583487" y="5957887"/>
                  <a:ext cx="244475" cy="314324"/>
                </a:xfrm>
                <a:custGeom>
                  <a:avLst/>
                  <a:gdLst/>
                  <a:ahLst/>
                  <a:cxnLst/>
                  <a:rect l="l" t="t" r="r" b="b"/>
                  <a:pathLst>
                    <a:path w="244475" h="314324">
                      <a:moveTo>
                        <a:pt x="209550" y="314324"/>
                      </a:moveTo>
                      <a:lnTo>
                        <a:pt x="34925" y="314324"/>
                      </a:lnTo>
                      <a:cubicBezTo>
                        <a:pt x="15636" y="314324"/>
                        <a:pt x="0" y="298688"/>
                        <a:pt x="0" y="279399"/>
                      </a:cubicBezTo>
                      <a:lnTo>
                        <a:pt x="0" y="34925"/>
                      </a:lnTo>
                      <a:cubicBezTo>
                        <a:pt x="0" y="15636"/>
                        <a:pt x="15636" y="0"/>
                        <a:pt x="34925" y="0"/>
                      </a:cubicBezTo>
                      <a:lnTo>
                        <a:pt x="157162" y="0"/>
                      </a:lnTo>
                      <a:lnTo>
                        <a:pt x="244475" y="87312"/>
                      </a:lnTo>
                      <a:lnTo>
                        <a:pt x="244475" y="279399"/>
                      </a:lnTo>
                      <a:cubicBezTo>
                        <a:pt x="244475" y="298688"/>
                        <a:pt x="228838" y="314324"/>
                        <a:pt x="209550" y="314324"/>
                      </a:cubicBezTo>
                    </a:path>
                  </a:pathLst>
                </a:custGeom>
                <a:noFill/>
                <a:ln w="26194">
                  <a:solidFill>
                    <a:srgbClr val="841600"/>
                  </a:solidFill>
                </a:ln>
              </p:spPr>
            </p:sp>
            <p:sp>
              <p:nvSpPr>
                <p:cNvPr id="244" name="Freeform 244"/>
                <p:cNvSpPr/>
                <p:nvPr/>
              </p:nvSpPr>
              <p:spPr>
                <a:xfrm>
                  <a:off x="7653337" y="6062662"/>
                  <a:ext cx="17462" cy="9525"/>
                </a:xfrm>
                <a:custGeom>
                  <a:avLst/>
                  <a:gdLst/>
                  <a:ahLst/>
                  <a:cxnLst/>
                  <a:rect l="l" t="t" r="r" b="b"/>
                  <a:pathLst>
                    <a:path w="17462" h="9525">
                      <a:moveTo>
                        <a:pt x="0" y="0"/>
                      </a:moveTo>
                      <a:lnTo>
                        <a:pt x="17462" y="0"/>
                      </a:lnTo>
                    </a:path>
                  </a:pathLst>
                </a:custGeom>
                <a:noFill/>
                <a:ln w="26194">
                  <a:solidFill>
                    <a:srgbClr val="841600"/>
                  </a:solidFill>
                </a:ln>
              </p:spPr>
            </p:sp>
            <p:sp>
              <p:nvSpPr>
                <p:cNvPr id="245" name="Freeform 245"/>
                <p:cNvSpPr/>
                <p:nvPr/>
              </p:nvSpPr>
              <p:spPr>
                <a:xfrm>
                  <a:off x="7653337" y="6132512"/>
                  <a:ext cx="104775" cy="9525"/>
                </a:xfrm>
                <a:custGeom>
                  <a:avLst/>
                  <a:gdLst/>
                  <a:ahLst/>
                  <a:cxnLst/>
                  <a:rect l="l" t="t" r="r" b="b"/>
                  <a:pathLst>
                    <a:path w="104775" h="9525">
                      <a:moveTo>
                        <a:pt x="0" y="0"/>
                      </a:moveTo>
                      <a:lnTo>
                        <a:pt x="104775" y="0"/>
                      </a:lnTo>
                    </a:path>
                  </a:pathLst>
                </a:custGeom>
                <a:noFill/>
                <a:ln w="26194">
                  <a:solidFill>
                    <a:srgbClr val="841600"/>
                  </a:solidFill>
                </a:ln>
              </p:spPr>
            </p:sp>
            <p:sp>
              <p:nvSpPr>
                <p:cNvPr id="246" name="Freeform 246"/>
                <p:cNvSpPr/>
                <p:nvPr/>
              </p:nvSpPr>
              <p:spPr>
                <a:xfrm>
                  <a:off x="7653337" y="6202362"/>
                  <a:ext cx="104775" cy="9525"/>
                </a:xfrm>
                <a:custGeom>
                  <a:avLst/>
                  <a:gdLst/>
                  <a:ahLst/>
                  <a:cxnLst/>
                  <a:rect l="l" t="t" r="r" b="b"/>
                  <a:pathLst>
                    <a:path w="104775" h="9525">
                      <a:moveTo>
                        <a:pt x="0" y="0"/>
                      </a:moveTo>
                      <a:lnTo>
                        <a:pt x="104775" y="0"/>
                      </a:lnTo>
                    </a:path>
                  </a:pathLst>
                </a:custGeom>
                <a:noFill/>
                <a:ln w="26194">
                  <a:solidFill>
                    <a:srgbClr val="841600"/>
                  </a:solidFill>
                </a:ln>
              </p:spPr>
            </p:sp>
          </p:grpSp>
          <p:sp>
            <p:nvSpPr>
              <p:cNvPr id="248" name="TextBox 248"/>
              <p:cNvSpPr txBox="1"/>
              <p:nvPr/>
            </p:nvSpPr>
            <p:spPr>
              <a:xfrm>
                <a:off x="8062912" y="5823347"/>
                <a:ext cx="515696" cy="183356"/>
              </a:xfrm>
              <a:prstGeom prst="rect">
                <a:avLst/>
              </a:prstGeom>
              <a:noFill/>
              <a:ln>
                <a:noFill/>
              </a:ln>
            </p:spPr>
            <p:txBody>
              <a:bodyPr wrap="none" lIns="0" tIns="0" rIns="0" bIns="0" anchor="t" anchorCtr="0">
                <a:spAutoFit/>
              </a:bodyPr>
              <a:lstStyle/>
              <a:p>
                <a:pPr algn="l"/>
                <a:r>
                  <a:rPr lang="zh-CN" sz="940" dirty="0">
                    <a:solidFill>
                      <a:srgbClr val="7E605A"/>
                    </a:solidFill>
                    <a:latin typeface="+mn-lt"/>
                    <a:ea typeface="+mn-ea"/>
                    <a:cs typeface="+mn-cs"/>
                  </a:rPr>
                  <a:t>场景项目</a:t>
                </a:r>
              </a:p>
            </p:txBody>
          </p:sp>
          <p:sp>
            <p:nvSpPr>
              <p:cNvPr id="249" name="TextBox 249"/>
              <p:cNvSpPr txBox="1"/>
              <p:nvPr/>
            </p:nvSpPr>
            <p:spPr>
              <a:xfrm>
                <a:off x="8056245" y="6081712"/>
                <a:ext cx="837143" cy="440055"/>
              </a:xfrm>
              <a:prstGeom prst="rect">
                <a:avLst/>
              </a:prstGeom>
              <a:noFill/>
              <a:ln>
                <a:noFill/>
              </a:ln>
            </p:spPr>
            <p:txBody>
              <a:bodyPr wrap="none" lIns="0" tIns="0" rIns="0" bIns="0" anchor="t" anchorCtr="0">
                <a:spAutoFit/>
              </a:bodyPr>
              <a:lstStyle/>
              <a:p>
                <a:pPr algn="l"/>
                <a:r>
                  <a:rPr lang="zh-CN" sz="2250" b="1" dirty="0">
                    <a:solidFill>
                      <a:srgbClr val="841600"/>
                    </a:solidFill>
                    <a:latin typeface="+mn-lt"/>
                    <a:ea typeface="+mn-ea"/>
                    <a:cs typeface="+mn-cs"/>
                  </a:rPr>
                  <a:t>12</a:t>
                </a:r>
                <a:r>
                  <a:rPr lang="zh-CN" sz="1200" b="1" dirty="0">
                    <a:solidFill>
                      <a:srgbClr val="841600"/>
                    </a:solidFill>
                    <a:latin typeface="+mn-lt"/>
                    <a:ea typeface="+mn-ea"/>
                    <a:cs typeface="+mn-cs"/>
                  </a:rPr>
                  <a:t>个</a:t>
                </a:r>
                <a:r>
                  <a:rPr lang="zh-CN" sz="2250" b="1" dirty="0">
                    <a:solidFill>
                      <a:srgbClr val="841600"/>
                    </a:solidFill>
                    <a:latin typeface="+mn-lt"/>
                    <a:ea typeface="+mn-ea"/>
                    <a:cs typeface="+mn-cs"/>
                  </a:rPr>
                  <a:t xml:space="preserve">　</a:t>
                </a:r>
              </a:p>
            </p:txBody>
          </p:sp>
        </p:grpSp>
        <p:grpSp>
          <p:nvGrpSpPr>
            <p:cNvPr id="256" name="kpi-5"/>
            <p:cNvGrpSpPr/>
            <p:nvPr/>
          </p:nvGrpSpPr>
          <p:grpSpPr>
            <a:xfrm>
              <a:off x="9877320" y="5823347"/>
              <a:ext cx="1426679" cy="698420"/>
              <a:chOff x="9877320" y="5823347"/>
              <a:chExt cx="1426679" cy="698420"/>
            </a:xfrm>
          </p:grpSpPr>
          <p:grpSp>
            <p:nvGrpSpPr>
              <p:cNvPr id="253" name="Group 253"/>
              <p:cNvGrpSpPr/>
              <p:nvPr/>
            </p:nvGrpSpPr>
            <p:grpSpPr>
              <a:xfrm>
                <a:off x="9877320" y="5960890"/>
                <a:ext cx="315699" cy="316189"/>
                <a:chOff x="9877320" y="5960890"/>
                <a:chExt cx="315699" cy="316189"/>
              </a:xfrm>
            </p:grpSpPr>
            <p:sp>
              <p:nvSpPr>
                <p:cNvPr id="251" name="Freeform 251"/>
                <p:cNvSpPr/>
                <p:nvPr/>
              </p:nvSpPr>
              <p:spPr>
                <a:xfrm>
                  <a:off x="9877320" y="5960890"/>
                  <a:ext cx="315699" cy="316189"/>
                </a:xfrm>
                <a:custGeom>
                  <a:avLst/>
                  <a:gdLst/>
                  <a:ahLst/>
                  <a:cxnLst/>
                  <a:rect l="l" t="t" r="r" b="b"/>
                  <a:pathLst>
                    <a:path w="315699" h="316189">
                      <a:moveTo>
                        <a:pt x="127105" y="490"/>
                      </a:moveTo>
                      <a:cubicBezTo>
                        <a:pt x="51493" y="18018"/>
                        <a:pt x="0" y="88120"/>
                        <a:pt x="5888" y="165514"/>
                      </a:cubicBezTo>
                      <a:cubicBezTo>
                        <a:pt x="11776" y="242908"/>
                        <a:pt x="73281" y="304413"/>
                        <a:pt x="150675" y="310301"/>
                      </a:cubicBezTo>
                      <a:cubicBezTo>
                        <a:pt x="228069" y="316189"/>
                        <a:pt x="298171" y="264697"/>
                        <a:pt x="315699" y="189084"/>
                      </a:cubicBezTo>
                      <a:cubicBezTo>
                        <a:pt x="315699" y="179440"/>
                        <a:pt x="307881" y="171622"/>
                        <a:pt x="298237" y="171622"/>
                      </a:cubicBezTo>
                      <a:lnTo>
                        <a:pt x="179492" y="171622"/>
                      </a:lnTo>
                      <a:cubicBezTo>
                        <a:pt x="160204" y="171622"/>
                        <a:pt x="144567" y="155986"/>
                        <a:pt x="144567" y="136697"/>
                      </a:cubicBezTo>
                      <a:lnTo>
                        <a:pt x="144567" y="14460"/>
                      </a:lnTo>
                      <a:cubicBezTo>
                        <a:pt x="144129" y="10281"/>
                        <a:pt x="142036" y="6451"/>
                        <a:pt x="138755" y="3827"/>
                      </a:cubicBezTo>
                      <a:cubicBezTo>
                        <a:pt x="135474" y="1202"/>
                        <a:pt x="131278" y="0"/>
                        <a:pt x="127105" y="490"/>
                      </a:cubicBezTo>
                    </a:path>
                  </a:pathLst>
                </a:custGeom>
                <a:noFill/>
                <a:ln w="26194">
                  <a:solidFill>
                    <a:srgbClr val="841600"/>
                  </a:solidFill>
                </a:ln>
              </p:spPr>
            </p:sp>
            <p:sp>
              <p:nvSpPr>
                <p:cNvPr id="252" name="Freeform 252"/>
                <p:cNvSpPr/>
                <p:nvPr/>
              </p:nvSpPr>
              <p:spPr>
                <a:xfrm>
                  <a:off x="10091737" y="5966619"/>
                  <a:ext cx="96044" cy="96044"/>
                </a:xfrm>
                <a:custGeom>
                  <a:avLst/>
                  <a:gdLst/>
                  <a:ahLst/>
                  <a:cxnLst/>
                  <a:rect l="l" t="t" r="r" b="b"/>
                  <a:pathLst>
                    <a:path w="96044" h="96044">
                      <a:moveTo>
                        <a:pt x="0" y="0"/>
                      </a:moveTo>
                      <a:cubicBezTo>
                        <a:pt x="44910" y="15813"/>
                        <a:pt x="80230" y="51133"/>
                        <a:pt x="96044" y="96044"/>
                      </a:cubicBezTo>
                      <a:lnTo>
                        <a:pt x="17462" y="96044"/>
                      </a:lnTo>
                      <a:cubicBezTo>
                        <a:pt x="7818" y="96044"/>
                        <a:pt x="0" y="88225"/>
                        <a:pt x="0" y="78581"/>
                      </a:cubicBezTo>
                      <a:lnTo>
                        <a:pt x="0" y="0"/>
                      </a:lnTo>
                    </a:path>
                  </a:pathLst>
                </a:custGeom>
                <a:noFill/>
                <a:ln w="26194">
                  <a:solidFill>
                    <a:srgbClr val="841600"/>
                  </a:solidFill>
                </a:ln>
              </p:spPr>
            </p:sp>
          </p:grpSp>
          <p:sp>
            <p:nvSpPr>
              <p:cNvPr id="254" name="TextBox 254"/>
              <p:cNvSpPr txBox="1"/>
              <p:nvPr/>
            </p:nvSpPr>
            <p:spPr>
              <a:xfrm>
                <a:off x="10396538" y="5823347"/>
                <a:ext cx="262611" cy="183356"/>
              </a:xfrm>
              <a:prstGeom prst="rect">
                <a:avLst/>
              </a:prstGeom>
              <a:noFill/>
              <a:ln>
                <a:noFill/>
              </a:ln>
            </p:spPr>
            <p:txBody>
              <a:bodyPr wrap="none" lIns="0" tIns="0" rIns="0" bIns="0" anchor="t" anchorCtr="0">
                <a:spAutoFit/>
              </a:bodyPr>
              <a:lstStyle/>
              <a:p>
                <a:pPr algn="l"/>
                <a:r>
                  <a:rPr lang="zh-CN" sz="940" dirty="0">
                    <a:solidFill>
                      <a:srgbClr val="7E605A"/>
                    </a:solidFill>
                    <a:latin typeface="+mn-lt"/>
                    <a:ea typeface="+mn-ea"/>
                    <a:cs typeface="+mn-cs"/>
                  </a:rPr>
                  <a:t>中收</a:t>
                </a:r>
              </a:p>
            </p:txBody>
          </p:sp>
          <p:sp>
            <p:nvSpPr>
              <p:cNvPr id="255" name="TextBox 255"/>
              <p:cNvSpPr txBox="1"/>
              <p:nvPr/>
            </p:nvSpPr>
            <p:spPr>
              <a:xfrm>
                <a:off x="10389870" y="6081712"/>
                <a:ext cx="914129" cy="440055"/>
              </a:xfrm>
              <a:prstGeom prst="rect">
                <a:avLst/>
              </a:prstGeom>
              <a:noFill/>
              <a:ln>
                <a:noFill/>
              </a:ln>
            </p:spPr>
            <p:txBody>
              <a:bodyPr wrap="none" lIns="0" tIns="0" rIns="0" bIns="0" anchor="t" anchorCtr="0">
                <a:spAutoFit/>
              </a:bodyPr>
              <a:lstStyle/>
              <a:p>
                <a:pPr algn="l"/>
                <a:r>
                  <a:rPr lang="zh-CN" sz="2250" b="1" dirty="0">
                    <a:solidFill>
                      <a:srgbClr val="841600"/>
                    </a:solidFill>
                    <a:latin typeface="+mn-lt"/>
                    <a:ea typeface="+mn-ea"/>
                    <a:cs typeface="+mn-cs"/>
                  </a:rPr>
                  <a:t xml:space="preserve">+8%　</a:t>
                </a:r>
              </a:p>
            </p:txBody>
          </p:sp>
        </p:grpSp>
      </p:gr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06</a:t>
              </a:r>
            </a:p>
          </p:txBody>
        </p:sp>
        <p:sp>
          <p:nvSpPr>
            <p:cNvPr id="4" name="TextBox 4"/>
            <p:cNvSpPr txBox="1"/>
            <p:nvPr/>
          </p:nvSpPr>
          <p:spPr>
            <a:xfrm>
              <a:off x="942594" y="151448"/>
              <a:ext cx="7508748"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普惠金融部</a:t>
              </a:r>
              <a:r>
                <a:rPr lang="zh-CN" sz="1950" b="1" dirty="0">
                  <a:solidFill>
                    <a:srgbClr val="1A1A1A"/>
                  </a:solidFill>
                  <a:latin typeface="SimSun"/>
                  <a:ea typeface="SimSun"/>
                  <a:cs typeface="SimSun"/>
                </a:rPr>
                <a:t>｜从规模扩张转向客户下沉、定价优化与风险可控</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63" name="channels"/>
          <p:cNvGrpSpPr/>
          <p:nvPr/>
        </p:nvGrpSpPr>
        <p:grpSpPr>
          <a:xfrm>
            <a:off x="266700" y="704850"/>
            <a:ext cx="2152650" cy="3581400"/>
            <a:chOff x="266700" y="704850"/>
            <a:chExt cx="2152650" cy="3581400"/>
          </a:xfrm>
        </p:grpSpPr>
        <p:sp>
          <p:nvSpPr>
            <p:cNvPr id="7" name="Rectangle 7"/>
            <p:cNvSpPr/>
            <p:nvPr/>
          </p:nvSpPr>
          <p:spPr>
            <a:xfrm>
              <a:off x="266700" y="704850"/>
              <a:ext cx="2152650" cy="3581400"/>
            </a:xfrm>
            <a:prstGeom prst="roundRect">
              <a:avLst>
                <a:gd name="adj" fmla="val 4425"/>
              </a:avLst>
            </a:prstGeom>
            <a:solidFill>
              <a:srgbClr val="FFFFFF"/>
            </a:solidFill>
            <a:ln w="9525">
              <a:solidFill>
                <a:srgbClr val="D7E2F2"/>
              </a:solidFill>
            </a:ln>
          </p:spPr>
        </p:sp>
        <p:sp>
          <p:nvSpPr>
            <p:cNvPr id="8" name="Rectangle 8"/>
            <p:cNvSpPr/>
            <p:nvPr/>
          </p:nvSpPr>
          <p:spPr>
            <a:xfrm>
              <a:off x="266700" y="704850"/>
              <a:ext cx="2152650" cy="381000"/>
            </a:xfrm>
            <a:prstGeom prst="roundRect">
              <a:avLst>
                <a:gd name="adj" fmla="val 25000"/>
              </a:avLst>
            </a:prstGeom>
            <a:solidFill>
              <a:srgbClr val="841600"/>
            </a:solidFill>
            <a:ln>
              <a:noFill/>
            </a:ln>
          </p:spPr>
        </p:sp>
        <p:sp>
          <p:nvSpPr>
            <p:cNvPr id="9" name="Rectangle 9"/>
            <p:cNvSpPr/>
            <p:nvPr/>
          </p:nvSpPr>
          <p:spPr>
            <a:xfrm>
              <a:off x="266700" y="914400"/>
              <a:ext cx="2152650" cy="171450"/>
            </a:xfrm>
            <a:prstGeom prst="rect">
              <a:avLst/>
            </a:prstGeom>
            <a:solidFill>
              <a:srgbClr val="841600"/>
            </a:solidFill>
            <a:ln>
              <a:noFill/>
            </a:ln>
          </p:spPr>
        </p:sp>
        <p:sp>
          <p:nvSpPr>
            <p:cNvPr id="10" name="TextBox 10"/>
            <p:cNvSpPr txBox="1"/>
            <p:nvPr/>
          </p:nvSpPr>
          <p:spPr>
            <a:xfrm>
              <a:off x="1013841" y="832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五类渠道</a:t>
              </a:r>
            </a:p>
          </p:txBody>
        </p:sp>
        <p:grpSp>
          <p:nvGrpSpPr>
            <p:cNvPr id="22" name="channel-1"/>
            <p:cNvGrpSpPr/>
            <p:nvPr/>
          </p:nvGrpSpPr>
          <p:grpSpPr>
            <a:xfrm>
              <a:off x="381000" y="1181100"/>
              <a:ext cx="1924050" cy="457200"/>
              <a:chOff x="381000" y="1181100"/>
              <a:chExt cx="1924050" cy="457200"/>
            </a:xfrm>
          </p:grpSpPr>
          <p:sp>
            <p:nvSpPr>
              <p:cNvPr id="11" name="Rectangle 11"/>
              <p:cNvSpPr/>
              <p:nvPr/>
            </p:nvSpPr>
            <p:spPr>
              <a:xfrm>
                <a:off x="381000" y="1181100"/>
                <a:ext cx="1924050" cy="457200"/>
              </a:xfrm>
              <a:prstGeom prst="roundRect">
                <a:avLst>
                  <a:gd name="adj" fmla="val 12500"/>
                </a:avLst>
              </a:prstGeom>
              <a:solidFill>
                <a:srgbClr val="EFF5FD"/>
              </a:solidFill>
              <a:ln>
                <a:noFill/>
              </a:ln>
            </p:spPr>
          </p:sp>
          <p:grpSp>
            <p:nvGrpSpPr>
              <p:cNvPr id="20" name="Group 20"/>
              <p:cNvGrpSpPr/>
              <p:nvPr/>
            </p:nvGrpSpPr>
            <p:grpSpPr>
              <a:xfrm>
                <a:off x="545306" y="1316831"/>
                <a:ext cx="185737" cy="195262"/>
                <a:chOff x="545306" y="1316831"/>
                <a:chExt cx="185737" cy="195262"/>
              </a:xfrm>
            </p:grpSpPr>
            <p:sp>
              <p:nvSpPr>
                <p:cNvPr id="12" name="Freeform 12"/>
                <p:cNvSpPr/>
                <p:nvPr/>
              </p:nvSpPr>
              <p:spPr>
                <a:xfrm>
                  <a:off x="545306" y="1502568"/>
                  <a:ext cx="185737" cy="9525"/>
                </a:xfrm>
                <a:custGeom>
                  <a:avLst/>
                  <a:gdLst/>
                  <a:ahLst/>
                  <a:cxnLst/>
                  <a:rect l="l" t="t" r="r" b="b"/>
                  <a:pathLst>
                    <a:path w="185737" h="9525">
                      <a:moveTo>
                        <a:pt x="0" y="0"/>
                      </a:moveTo>
                      <a:lnTo>
                        <a:pt x="185737" y="0"/>
                      </a:lnTo>
                    </a:path>
                  </a:pathLst>
                </a:custGeom>
                <a:noFill/>
                <a:ln w="15478">
                  <a:solidFill>
                    <a:srgbClr val="841600"/>
                  </a:solidFill>
                </a:ln>
              </p:spPr>
            </p:sp>
            <p:sp>
              <p:nvSpPr>
                <p:cNvPr id="13" name="Freeform 13"/>
                <p:cNvSpPr/>
                <p:nvPr/>
              </p:nvSpPr>
              <p:spPr>
                <a:xfrm>
                  <a:off x="607218" y="1368425"/>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14" name="Freeform 14"/>
                <p:cNvSpPr/>
                <p:nvPr/>
              </p:nvSpPr>
              <p:spPr>
                <a:xfrm>
                  <a:off x="607218" y="1409700"/>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15" name="Freeform 15"/>
                <p:cNvSpPr/>
                <p:nvPr/>
              </p:nvSpPr>
              <p:spPr>
                <a:xfrm>
                  <a:off x="607218" y="1450974"/>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16" name="Freeform 16"/>
                <p:cNvSpPr/>
                <p:nvPr/>
              </p:nvSpPr>
              <p:spPr>
                <a:xfrm>
                  <a:off x="658812" y="1368425"/>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17" name="Freeform 17"/>
                <p:cNvSpPr/>
                <p:nvPr/>
              </p:nvSpPr>
              <p:spPr>
                <a:xfrm>
                  <a:off x="658812" y="1409700"/>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18" name="Freeform 18"/>
                <p:cNvSpPr/>
                <p:nvPr/>
              </p:nvSpPr>
              <p:spPr>
                <a:xfrm>
                  <a:off x="658812" y="1450974"/>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19" name="Freeform 19"/>
                <p:cNvSpPr/>
                <p:nvPr/>
              </p:nvSpPr>
              <p:spPr>
                <a:xfrm>
                  <a:off x="565944" y="1316831"/>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path>
                  </a:pathLst>
                </a:custGeom>
                <a:noFill/>
                <a:ln w="15478">
                  <a:solidFill>
                    <a:srgbClr val="841600"/>
                  </a:solidFill>
                </a:ln>
              </p:spPr>
            </p:sp>
          </p:grpSp>
          <p:sp>
            <p:nvSpPr>
              <p:cNvPr id="21" name="TextBox 21"/>
              <p:cNvSpPr txBox="1"/>
              <p:nvPr/>
            </p:nvSpPr>
            <p:spPr>
              <a:xfrm>
                <a:off x="889635" y="1354931"/>
                <a:ext cx="312979"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园区</a:t>
                </a:r>
              </a:p>
            </p:txBody>
          </p:sp>
        </p:grpSp>
        <p:grpSp>
          <p:nvGrpSpPr>
            <p:cNvPr id="31" name="channel-2"/>
            <p:cNvGrpSpPr/>
            <p:nvPr/>
          </p:nvGrpSpPr>
          <p:grpSpPr>
            <a:xfrm>
              <a:off x="381000" y="1752600"/>
              <a:ext cx="1924050" cy="457200"/>
              <a:chOff x="381000" y="1752600"/>
              <a:chExt cx="1924050" cy="457200"/>
            </a:xfrm>
          </p:grpSpPr>
          <p:sp>
            <p:nvSpPr>
              <p:cNvPr id="23" name="Rectangle 23"/>
              <p:cNvSpPr/>
              <p:nvPr/>
            </p:nvSpPr>
            <p:spPr>
              <a:xfrm>
                <a:off x="381000" y="1752600"/>
                <a:ext cx="1924050" cy="457200"/>
              </a:xfrm>
              <a:prstGeom prst="roundRect">
                <a:avLst>
                  <a:gd name="adj" fmla="val 12500"/>
                </a:avLst>
              </a:prstGeom>
              <a:solidFill>
                <a:srgbClr val="EFF5FD"/>
              </a:solidFill>
              <a:ln>
                <a:noFill/>
              </a:ln>
            </p:spPr>
          </p:sp>
          <p:grpSp>
            <p:nvGrpSpPr>
              <p:cNvPr id="29" name="Group 29"/>
              <p:cNvGrpSpPr/>
              <p:nvPr/>
            </p:nvGrpSpPr>
            <p:grpSpPr>
              <a:xfrm>
                <a:off x="545306" y="1888331"/>
                <a:ext cx="185737" cy="195262"/>
                <a:chOff x="545306" y="1888331"/>
                <a:chExt cx="185737" cy="195262"/>
              </a:xfrm>
            </p:grpSpPr>
            <p:sp>
              <p:nvSpPr>
                <p:cNvPr id="24" name="Freeform 24"/>
                <p:cNvSpPr/>
                <p:nvPr/>
              </p:nvSpPr>
              <p:spPr>
                <a:xfrm>
                  <a:off x="545306" y="2074068"/>
                  <a:ext cx="185737" cy="9525"/>
                </a:xfrm>
                <a:custGeom>
                  <a:avLst/>
                  <a:gdLst/>
                  <a:ahLst/>
                  <a:cxnLst/>
                  <a:rect l="l" t="t" r="r" b="b"/>
                  <a:pathLst>
                    <a:path w="185737" h="9525">
                      <a:moveTo>
                        <a:pt x="0" y="0"/>
                      </a:moveTo>
                      <a:lnTo>
                        <a:pt x="185737" y="0"/>
                      </a:lnTo>
                    </a:path>
                  </a:pathLst>
                </a:custGeom>
                <a:noFill/>
                <a:ln w="15478">
                  <a:solidFill>
                    <a:srgbClr val="841600"/>
                  </a:solidFill>
                </a:ln>
              </p:spPr>
            </p:sp>
            <p:sp>
              <p:nvSpPr>
                <p:cNvPr id="25" name="Freeform 25"/>
                <p:cNvSpPr/>
                <p:nvPr/>
              </p:nvSpPr>
              <p:spPr>
                <a:xfrm>
                  <a:off x="545306" y="1888331"/>
                  <a:ext cx="185737" cy="82550"/>
                </a:xfrm>
                <a:custGeom>
                  <a:avLst/>
                  <a:gdLst/>
                  <a:ahLst/>
                  <a:cxnLst/>
                  <a:rect l="l" t="t" r="r" b="b"/>
                  <a:pathLst>
                    <a:path w="185737" h="82550">
                      <a:moveTo>
                        <a:pt x="0" y="41275"/>
                      </a:moveTo>
                      <a:lnTo>
                        <a:pt x="0" y="51594"/>
                      </a:lnTo>
                      <a:cubicBezTo>
                        <a:pt x="0" y="68690"/>
                        <a:pt x="13860" y="82550"/>
                        <a:pt x="30956" y="82550"/>
                      </a:cubicBezTo>
                      <a:cubicBezTo>
                        <a:pt x="48053" y="82550"/>
                        <a:pt x="61912" y="68690"/>
                        <a:pt x="61912" y="51594"/>
                      </a:cubicBezTo>
                      <a:lnTo>
                        <a:pt x="61912" y="41275"/>
                      </a:lnTo>
                      <a:moveTo>
                        <a:pt x="61912" y="51594"/>
                      </a:moveTo>
                      <a:cubicBezTo>
                        <a:pt x="61912" y="68690"/>
                        <a:pt x="75772" y="82550"/>
                        <a:pt x="92868" y="82550"/>
                      </a:cubicBezTo>
                      <a:cubicBezTo>
                        <a:pt x="109965" y="82550"/>
                        <a:pt x="123825" y="68690"/>
                        <a:pt x="123825" y="51594"/>
                      </a:cubicBezTo>
                      <a:lnTo>
                        <a:pt x="123825" y="41275"/>
                      </a:lnTo>
                      <a:moveTo>
                        <a:pt x="123825" y="51594"/>
                      </a:moveTo>
                      <a:cubicBezTo>
                        <a:pt x="123825" y="68690"/>
                        <a:pt x="137684" y="82550"/>
                        <a:pt x="154781" y="82550"/>
                      </a:cubicBezTo>
                      <a:cubicBezTo>
                        <a:pt x="171877" y="82550"/>
                        <a:pt x="185737" y="68690"/>
                        <a:pt x="185737" y="51594"/>
                      </a:cubicBezTo>
                      <a:lnTo>
                        <a:pt x="185737" y="41275"/>
                      </a:lnTo>
                      <a:lnTo>
                        <a:pt x="0" y="41275"/>
                      </a:lnTo>
                      <a:lnTo>
                        <a:pt x="20637" y="0"/>
                      </a:lnTo>
                      <a:lnTo>
                        <a:pt x="165099" y="0"/>
                      </a:lnTo>
                      <a:lnTo>
                        <a:pt x="185737" y="41275"/>
                      </a:lnTo>
                    </a:path>
                  </a:pathLst>
                </a:custGeom>
                <a:noFill/>
                <a:ln w="15478">
                  <a:solidFill>
                    <a:srgbClr val="841600"/>
                  </a:solidFill>
                </a:ln>
              </p:spPr>
            </p:sp>
            <p:sp>
              <p:nvSpPr>
                <p:cNvPr id="26" name="Freeform 26"/>
                <p:cNvSpPr/>
                <p:nvPr/>
              </p:nvSpPr>
              <p:spPr>
                <a:xfrm>
                  <a:off x="565944" y="1969333"/>
                  <a:ext cx="9525" cy="104735"/>
                </a:xfrm>
                <a:custGeom>
                  <a:avLst/>
                  <a:gdLst/>
                  <a:ahLst/>
                  <a:cxnLst/>
                  <a:rect l="l" t="t" r="r" b="b"/>
                  <a:pathLst>
                    <a:path w="9525" h="104735">
                      <a:moveTo>
                        <a:pt x="0" y="104735"/>
                      </a:moveTo>
                      <a:lnTo>
                        <a:pt x="0" y="0"/>
                      </a:lnTo>
                    </a:path>
                  </a:pathLst>
                </a:custGeom>
                <a:noFill/>
                <a:ln w="15478">
                  <a:solidFill>
                    <a:srgbClr val="841600"/>
                  </a:solidFill>
                </a:ln>
              </p:spPr>
            </p:sp>
            <p:sp>
              <p:nvSpPr>
                <p:cNvPr id="27" name="Freeform 27"/>
                <p:cNvSpPr/>
                <p:nvPr/>
              </p:nvSpPr>
              <p:spPr>
                <a:xfrm>
                  <a:off x="710406" y="1969333"/>
                  <a:ext cx="9525" cy="104735"/>
                </a:xfrm>
                <a:custGeom>
                  <a:avLst/>
                  <a:gdLst/>
                  <a:ahLst/>
                  <a:cxnLst/>
                  <a:rect l="l" t="t" r="r" b="b"/>
                  <a:pathLst>
                    <a:path w="9525" h="104735">
                      <a:moveTo>
                        <a:pt x="0" y="104735"/>
                      </a:moveTo>
                      <a:lnTo>
                        <a:pt x="0" y="0"/>
                      </a:lnTo>
                    </a:path>
                  </a:pathLst>
                </a:custGeom>
                <a:noFill/>
                <a:ln w="15478">
                  <a:solidFill>
                    <a:srgbClr val="841600"/>
                  </a:solidFill>
                </a:ln>
              </p:spPr>
            </p:sp>
            <p:sp>
              <p:nvSpPr>
                <p:cNvPr id="28" name="Freeform 28"/>
                <p:cNvSpPr/>
                <p:nvPr/>
              </p:nvSpPr>
              <p:spPr>
                <a:xfrm>
                  <a:off x="607218" y="2012156"/>
                  <a:ext cx="61912" cy="61912"/>
                </a:xfrm>
                <a:custGeom>
                  <a:avLst/>
                  <a:gdLst/>
                  <a:ahLst/>
                  <a:cxnLst/>
                  <a:rect l="l" t="t" r="r" b="b"/>
                  <a:pathLst>
                    <a:path w="61912" h="61912">
                      <a:moveTo>
                        <a:pt x="0" y="61912"/>
                      </a:moveTo>
                      <a:lnTo>
                        <a:pt x="0" y="20637"/>
                      </a:lnTo>
                      <a:cubicBezTo>
                        <a:pt x="0" y="9240"/>
                        <a:pt x="9240" y="0"/>
                        <a:pt x="20637" y="0"/>
                      </a:cubicBezTo>
                      <a:lnTo>
                        <a:pt x="41275" y="0"/>
                      </a:lnTo>
                      <a:cubicBezTo>
                        <a:pt x="52673" y="0"/>
                        <a:pt x="61912" y="9240"/>
                        <a:pt x="61912" y="20637"/>
                      </a:cubicBezTo>
                      <a:lnTo>
                        <a:pt x="61912" y="61912"/>
                      </a:lnTo>
                    </a:path>
                  </a:pathLst>
                </a:custGeom>
                <a:noFill/>
                <a:ln w="15478">
                  <a:solidFill>
                    <a:srgbClr val="841600"/>
                  </a:solidFill>
                </a:ln>
              </p:spPr>
            </p:sp>
          </p:grpSp>
          <p:sp>
            <p:nvSpPr>
              <p:cNvPr id="30" name="TextBox 30"/>
              <p:cNvSpPr txBox="1"/>
              <p:nvPr/>
            </p:nvSpPr>
            <p:spPr>
              <a:xfrm>
                <a:off x="889635" y="1926431"/>
                <a:ext cx="312979"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商圈</a:t>
                </a:r>
              </a:p>
            </p:txBody>
          </p:sp>
        </p:grpSp>
        <p:grpSp>
          <p:nvGrpSpPr>
            <p:cNvPr id="41" name="channel-3"/>
            <p:cNvGrpSpPr/>
            <p:nvPr/>
          </p:nvGrpSpPr>
          <p:grpSpPr>
            <a:xfrm>
              <a:off x="381000" y="2324100"/>
              <a:ext cx="1924050" cy="457200"/>
              <a:chOff x="381000" y="2324100"/>
              <a:chExt cx="1924050" cy="457200"/>
            </a:xfrm>
          </p:grpSpPr>
          <p:sp>
            <p:nvSpPr>
              <p:cNvPr id="32" name="Rectangle 32"/>
              <p:cNvSpPr/>
              <p:nvPr/>
            </p:nvSpPr>
            <p:spPr>
              <a:xfrm>
                <a:off x="381000" y="2324100"/>
                <a:ext cx="1924050" cy="457200"/>
              </a:xfrm>
              <a:prstGeom prst="roundRect">
                <a:avLst>
                  <a:gd name="adj" fmla="val 12500"/>
                </a:avLst>
              </a:prstGeom>
              <a:solidFill>
                <a:srgbClr val="EFF5FD"/>
              </a:solidFill>
              <a:ln>
                <a:noFill/>
              </a:ln>
            </p:spPr>
          </p:sp>
          <p:grpSp>
            <p:nvGrpSpPr>
              <p:cNvPr id="39" name="Group 39"/>
              <p:cNvGrpSpPr/>
              <p:nvPr/>
            </p:nvGrpSpPr>
            <p:grpSpPr>
              <a:xfrm>
                <a:off x="545306" y="2459831"/>
                <a:ext cx="185737" cy="185737"/>
                <a:chOff x="545306" y="2459831"/>
                <a:chExt cx="185737" cy="185737"/>
              </a:xfrm>
            </p:grpSpPr>
            <p:sp>
              <p:nvSpPr>
                <p:cNvPr id="33" name="Freeform 33"/>
                <p:cNvSpPr/>
                <p:nvPr/>
              </p:nvSpPr>
              <p:spPr>
                <a:xfrm>
                  <a:off x="617537" y="254238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841600"/>
                  </a:solidFill>
                </a:ln>
              </p:spPr>
            </p:sp>
            <p:sp>
              <p:nvSpPr>
                <p:cNvPr id="34" name="Freeform 34"/>
                <p:cNvSpPr/>
                <p:nvPr/>
              </p:nvSpPr>
              <p:spPr>
                <a:xfrm>
                  <a:off x="596900" y="2614612"/>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15478">
                  <a:solidFill>
                    <a:srgbClr val="841600"/>
                  </a:solidFill>
                </a:ln>
              </p:spPr>
            </p:sp>
            <p:sp>
              <p:nvSpPr>
                <p:cNvPr id="35" name="Freeform 35"/>
                <p:cNvSpPr/>
                <p:nvPr/>
              </p:nvSpPr>
              <p:spPr>
                <a:xfrm>
                  <a:off x="669131" y="24598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841600"/>
                  </a:solidFill>
                </a:ln>
              </p:spPr>
            </p:sp>
            <p:sp>
              <p:nvSpPr>
                <p:cNvPr id="36" name="Freeform 36"/>
                <p:cNvSpPr/>
                <p:nvPr/>
              </p:nvSpPr>
              <p:spPr>
                <a:xfrm>
                  <a:off x="689768" y="2532062"/>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15478">
                  <a:solidFill>
                    <a:srgbClr val="841600"/>
                  </a:solidFill>
                </a:ln>
              </p:spPr>
            </p:sp>
            <p:sp>
              <p:nvSpPr>
                <p:cNvPr id="37" name="Freeform 37"/>
                <p:cNvSpPr/>
                <p:nvPr/>
              </p:nvSpPr>
              <p:spPr>
                <a:xfrm>
                  <a:off x="565944" y="24598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841600"/>
                  </a:solidFill>
                </a:ln>
              </p:spPr>
            </p:sp>
            <p:sp>
              <p:nvSpPr>
                <p:cNvPr id="38" name="Freeform 38"/>
                <p:cNvSpPr/>
                <p:nvPr/>
              </p:nvSpPr>
              <p:spPr>
                <a:xfrm>
                  <a:off x="545306" y="2532062"/>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15478">
                  <a:solidFill>
                    <a:srgbClr val="841600"/>
                  </a:solidFill>
                </a:ln>
              </p:spPr>
            </p:sp>
          </p:grpSp>
          <p:sp>
            <p:nvSpPr>
              <p:cNvPr id="40" name="TextBox 40"/>
              <p:cNvSpPr txBox="1"/>
              <p:nvPr/>
            </p:nvSpPr>
            <p:spPr>
              <a:xfrm>
                <a:off x="889635" y="2497931"/>
                <a:ext cx="312979"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协会</a:t>
                </a:r>
              </a:p>
            </p:txBody>
          </p:sp>
        </p:grpSp>
        <p:grpSp>
          <p:nvGrpSpPr>
            <p:cNvPr id="50" name="channel-4"/>
            <p:cNvGrpSpPr/>
            <p:nvPr/>
          </p:nvGrpSpPr>
          <p:grpSpPr>
            <a:xfrm>
              <a:off x="381000" y="2895600"/>
              <a:ext cx="1924050" cy="457200"/>
              <a:chOff x="381000" y="2895600"/>
              <a:chExt cx="1924050" cy="457200"/>
            </a:xfrm>
          </p:grpSpPr>
          <p:sp>
            <p:nvSpPr>
              <p:cNvPr id="42" name="Rectangle 42"/>
              <p:cNvSpPr/>
              <p:nvPr/>
            </p:nvSpPr>
            <p:spPr>
              <a:xfrm>
                <a:off x="381000" y="2895600"/>
                <a:ext cx="1924050" cy="457200"/>
              </a:xfrm>
              <a:prstGeom prst="roundRect">
                <a:avLst>
                  <a:gd name="adj" fmla="val 12500"/>
                </a:avLst>
              </a:prstGeom>
              <a:solidFill>
                <a:srgbClr val="EFF5FD"/>
              </a:solidFill>
              <a:ln>
                <a:noFill/>
              </a:ln>
            </p:spPr>
          </p:sp>
          <p:grpSp>
            <p:nvGrpSpPr>
              <p:cNvPr id="48" name="Group 48"/>
              <p:cNvGrpSpPr/>
              <p:nvPr/>
            </p:nvGrpSpPr>
            <p:grpSpPr>
              <a:xfrm>
                <a:off x="545306" y="3031331"/>
                <a:ext cx="185737" cy="185737"/>
                <a:chOff x="545306" y="3031331"/>
                <a:chExt cx="185737" cy="185737"/>
              </a:xfrm>
            </p:grpSpPr>
            <p:sp>
              <p:nvSpPr>
                <p:cNvPr id="43" name="Freeform 43"/>
                <p:cNvSpPr/>
                <p:nvPr/>
              </p:nvSpPr>
              <p:spPr>
                <a:xfrm>
                  <a:off x="617537" y="30313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841600"/>
                  </a:solidFill>
                </a:ln>
              </p:spPr>
            </p:sp>
            <p:sp>
              <p:nvSpPr>
                <p:cNvPr id="44" name="Freeform 44"/>
                <p:cNvSpPr/>
                <p:nvPr/>
              </p:nvSpPr>
              <p:spPr>
                <a:xfrm>
                  <a:off x="545306" y="317579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841600"/>
                  </a:solidFill>
                </a:ln>
              </p:spPr>
            </p:sp>
            <p:sp>
              <p:nvSpPr>
                <p:cNvPr id="45" name="Freeform 45"/>
                <p:cNvSpPr/>
                <p:nvPr/>
              </p:nvSpPr>
              <p:spPr>
                <a:xfrm>
                  <a:off x="689768" y="317579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841600"/>
                  </a:solidFill>
                </a:ln>
              </p:spPr>
            </p:sp>
            <p:sp>
              <p:nvSpPr>
                <p:cNvPr id="46" name="Freeform 46"/>
                <p:cNvSpPr/>
                <p:nvPr/>
              </p:nvSpPr>
              <p:spPr>
                <a:xfrm>
                  <a:off x="581422" y="3134518"/>
                  <a:ext cx="113506" cy="46434"/>
                </a:xfrm>
                <a:custGeom>
                  <a:avLst/>
                  <a:gdLst/>
                  <a:ahLst/>
                  <a:cxnLst/>
                  <a:rect l="l" t="t" r="r" b="b"/>
                  <a:pathLst>
                    <a:path w="113506" h="46434">
                      <a:moveTo>
                        <a:pt x="0" y="46434"/>
                      </a:moveTo>
                      <a:lnTo>
                        <a:pt x="56753" y="0"/>
                      </a:lnTo>
                      <a:lnTo>
                        <a:pt x="113506" y="46434"/>
                      </a:lnTo>
                    </a:path>
                  </a:pathLst>
                </a:custGeom>
                <a:noFill/>
                <a:ln w="15478">
                  <a:solidFill>
                    <a:srgbClr val="841600"/>
                  </a:solidFill>
                </a:ln>
              </p:spPr>
            </p:sp>
            <p:sp>
              <p:nvSpPr>
                <p:cNvPr id="47" name="Freeform 47"/>
                <p:cNvSpPr/>
                <p:nvPr/>
              </p:nvSpPr>
              <p:spPr>
                <a:xfrm>
                  <a:off x="638175" y="3072606"/>
                  <a:ext cx="9525" cy="61912"/>
                </a:xfrm>
                <a:custGeom>
                  <a:avLst/>
                  <a:gdLst/>
                  <a:ahLst/>
                  <a:cxnLst/>
                  <a:rect l="l" t="t" r="r" b="b"/>
                  <a:pathLst>
                    <a:path w="9525" h="61912">
                      <a:moveTo>
                        <a:pt x="0" y="0"/>
                      </a:moveTo>
                      <a:lnTo>
                        <a:pt x="0" y="61912"/>
                      </a:lnTo>
                    </a:path>
                  </a:pathLst>
                </a:custGeom>
                <a:noFill/>
                <a:ln w="15478">
                  <a:solidFill>
                    <a:srgbClr val="841600"/>
                  </a:solidFill>
                </a:ln>
              </p:spPr>
            </p:sp>
          </p:grpSp>
          <p:sp>
            <p:nvSpPr>
              <p:cNvPr id="49" name="TextBox 49"/>
              <p:cNvSpPr txBox="1"/>
              <p:nvPr/>
            </p:nvSpPr>
            <p:spPr>
              <a:xfrm>
                <a:off x="889635" y="3069431"/>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核心企业</a:t>
                </a:r>
              </a:p>
            </p:txBody>
          </p:sp>
        </p:grpSp>
        <p:grpSp>
          <p:nvGrpSpPr>
            <p:cNvPr id="62" name="channel-5"/>
            <p:cNvGrpSpPr/>
            <p:nvPr/>
          </p:nvGrpSpPr>
          <p:grpSpPr>
            <a:xfrm>
              <a:off x="381000" y="3467100"/>
              <a:ext cx="1924050" cy="457200"/>
              <a:chOff x="381000" y="3467100"/>
              <a:chExt cx="1924050" cy="457200"/>
            </a:xfrm>
          </p:grpSpPr>
          <p:sp>
            <p:nvSpPr>
              <p:cNvPr id="51" name="Rectangle 51"/>
              <p:cNvSpPr/>
              <p:nvPr/>
            </p:nvSpPr>
            <p:spPr>
              <a:xfrm>
                <a:off x="381000" y="3467100"/>
                <a:ext cx="1924050" cy="457200"/>
              </a:xfrm>
              <a:prstGeom prst="roundRect">
                <a:avLst>
                  <a:gd name="adj" fmla="val 12500"/>
                </a:avLst>
              </a:prstGeom>
              <a:solidFill>
                <a:srgbClr val="EFF5FD"/>
              </a:solidFill>
              <a:ln>
                <a:noFill/>
              </a:ln>
            </p:spPr>
          </p:sp>
          <p:grpSp>
            <p:nvGrpSpPr>
              <p:cNvPr id="60" name="Group 60"/>
              <p:cNvGrpSpPr/>
              <p:nvPr/>
            </p:nvGrpSpPr>
            <p:grpSpPr>
              <a:xfrm>
                <a:off x="545306" y="3602831"/>
                <a:ext cx="185737" cy="195262"/>
                <a:chOff x="545306" y="3602831"/>
                <a:chExt cx="185737" cy="195262"/>
              </a:xfrm>
            </p:grpSpPr>
            <p:sp>
              <p:nvSpPr>
                <p:cNvPr id="52" name="Freeform 52"/>
                <p:cNvSpPr/>
                <p:nvPr/>
              </p:nvSpPr>
              <p:spPr>
                <a:xfrm>
                  <a:off x="545306" y="3788568"/>
                  <a:ext cx="185737" cy="9525"/>
                </a:xfrm>
                <a:custGeom>
                  <a:avLst/>
                  <a:gdLst/>
                  <a:ahLst/>
                  <a:cxnLst/>
                  <a:rect l="l" t="t" r="r" b="b"/>
                  <a:pathLst>
                    <a:path w="185737" h="9525">
                      <a:moveTo>
                        <a:pt x="0" y="0"/>
                      </a:moveTo>
                      <a:lnTo>
                        <a:pt x="185737" y="0"/>
                      </a:lnTo>
                    </a:path>
                  </a:pathLst>
                </a:custGeom>
                <a:noFill/>
                <a:ln w="15478">
                  <a:solidFill>
                    <a:srgbClr val="841600"/>
                  </a:solidFill>
                </a:ln>
              </p:spPr>
            </p:sp>
            <p:sp>
              <p:nvSpPr>
                <p:cNvPr id="53" name="Freeform 53"/>
                <p:cNvSpPr/>
                <p:nvPr/>
              </p:nvSpPr>
              <p:spPr>
                <a:xfrm>
                  <a:off x="545306" y="3675062"/>
                  <a:ext cx="185737" cy="9525"/>
                </a:xfrm>
                <a:custGeom>
                  <a:avLst/>
                  <a:gdLst/>
                  <a:ahLst/>
                  <a:cxnLst/>
                  <a:rect l="l" t="t" r="r" b="b"/>
                  <a:pathLst>
                    <a:path w="185737" h="9525">
                      <a:moveTo>
                        <a:pt x="0" y="0"/>
                      </a:moveTo>
                      <a:lnTo>
                        <a:pt x="185737" y="0"/>
                      </a:lnTo>
                    </a:path>
                  </a:pathLst>
                </a:custGeom>
                <a:noFill/>
                <a:ln w="15478">
                  <a:solidFill>
                    <a:srgbClr val="841600"/>
                  </a:solidFill>
                </a:ln>
              </p:spPr>
            </p:sp>
            <p:sp>
              <p:nvSpPr>
                <p:cNvPr id="54" name="Freeform 54"/>
                <p:cNvSpPr/>
                <p:nvPr/>
              </p:nvSpPr>
              <p:spPr>
                <a:xfrm>
                  <a:off x="565944" y="3602831"/>
                  <a:ext cx="144462" cy="30956"/>
                </a:xfrm>
                <a:custGeom>
                  <a:avLst/>
                  <a:gdLst/>
                  <a:ahLst/>
                  <a:cxnLst/>
                  <a:rect l="l" t="t" r="r" b="b"/>
                  <a:pathLst>
                    <a:path w="144462" h="30956">
                      <a:moveTo>
                        <a:pt x="0" y="30956"/>
                      </a:moveTo>
                      <a:lnTo>
                        <a:pt x="72231" y="0"/>
                      </a:lnTo>
                      <a:lnTo>
                        <a:pt x="144462" y="30956"/>
                      </a:lnTo>
                    </a:path>
                  </a:pathLst>
                </a:custGeom>
                <a:noFill/>
                <a:ln w="15478">
                  <a:solidFill>
                    <a:srgbClr val="841600"/>
                  </a:solidFill>
                </a:ln>
              </p:spPr>
            </p:sp>
            <p:sp>
              <p:nvSpPr>
                <p:cNvPr id="55" name="Freeform 55"/>
                <p:cNvSpPr/>
                <p:nvPr/>
              </p:nvSpPr>
              <p:spPr>
                <a:xfrm>
                  <a:off x="555625" y="3675062"/>
                  <a:ext cx="9525" cy="113506"/>
                </a:xfrm>
                <a:custGeom>
                  <a:avLst/>
                  <a:gdLst/>
                  <a:ahLst/>
                  <a:cxnLst/>
                  <a:rect l="l" t="t" r="r" b="b"/>
                  <a:pathLst>
                    <a:path w="9525" h="113506">
                      <a:moveTo>
                        <a:pt x="0" y="0"/>
                      </a:moveTo>
                      <a:lnTo>
                        <a:pt x="0" y="113506"/>
                      </a:lnTo>
                    </a:path>
                  </a:pathLst>
                </a:custGeom>
                <a:noFill/>
                <a:ln w="15478">
                  <a:solidFill>
                    <a:srgbClr val="841600"/>
                  </a:solidFill>
                </a:ln>
              </p:spPr>
            </p:sp>
            <p:sp>
              <p:nvSpPr>
                <p:cNvPr id="56" name="Freeform 56"/>
                <p:cNvSpPr/>
                <p:nvPr/>
              </p:nvSpPr>
              <p:spPr>
                <a:xfrm>
                  <a:off x="720724" y="3675062"/>
                  <a:ext cx="9525" cy="113506"/>
                </a:xfrm>
                <a:custGeom>
                  <a:avLst/>
                  <a:gdLst/>
                  <a:ahLst/>
                  <a:cxnLst/>
                  <a:rect l="l" t="t" r="r" b="b"/>
                  <a:pathLst>
                    <a:path w="9525" h="113506">
                      <a:moveTo>
                        <a:pt x="0" y="0"/>
                      </a:moveTo>
                      <a:lnTo>
                        <a:pt x="0" y="113506"/>
                      </a:lnTo>
                    </a:path>
                  </a:pathLst>
                </a:custGeom>
                <a:noFill/>
                <a:ln w="15478">
                  <a:solidFill>
                    <a:srgbClr val="841600"/>
                  </a:solidFill>
                </a:ln>
              </p:spPr>
            </p:sp>
            <p:sp>
              <p:nvSpPr>
                <p:cNvPr id="57" name="Freeform 57"/>
                <p:cNvSpPr/>
                <p:nvPr/>
              </p:nvSpPr>
              <p:spPr>
                <a:xfrm>
                  <a:off x="596900" y="3716337"/>
                  <a:ext cx="9525" cy="30956"/>
                </a:xfrm>
                <a:custGeom>
                  <a:avLst/>
                  <a:gdLst/>
                  <a:ahLst/>
                  <a:cxnLst/>
                  <a:rect l="l" t="t" r="r" b="b"/>
                  <a:pathLst>
                    <a:path w="9525" h="30956">
                      <a:moveTo>
                        <a:pt x="0" y="0"/>
                      </a:moveTo>
                      <a:lnTo>
                        <a:pt x="0" y="30956"/>
                      </a:lnTo>
                    </a:path>
                  </a:pathLst>
                </a:custGeom>
                <a:noFill/>
                <a:ln w="15478">
                  <a:solidFill>
                    <a:srgbClr val="841600"/>
                  </a:solidFill>
                </a:ln>
              </p:spPr>
            </p:sp>
            <p:sp>
              <p:nvSpPr>
                <p:cNvPr id="58" name="Freeform 58"/>
                <p:cNvSpPr/>
                <p:nvPr/>
              </p:nvSpPr>
              <p:spPr>
                <a:xfrm>
                  <a:off x="638175" y="3716337"/>
                  <a:ext cx="9525" cy="30956"/>
                </a:xfrm>
                <a:custGeom>
                  <a:avLst/>
                  <a:gdLst/>
                  <a:ahLst/>
                  <a:cxnLst/>
                  <a:rect l="l" t="t" r="r" b="b"/>
                  <a:pathLst>
                    <a:path w="9525" h="30956">
                      <a:moveTo>
                        <a:pt x="0" y="0"/>
                      </a:moveTo>
                      <a:lnTo>
                        <a:pt x="0" y="30956"/>
                      </a:lnTo>
                    </a:path>
                  </a:pathLst>
                </a:custGeom>
                <a:noFill/>
                <a:ln w="15478">
                  <a:solidFill>
                    <a:srgbClr val="841600"/>
                  </a:solidFill>
                </a:ln>
              </p:spPr>
            </p:sp>
            <p:sp>
              <p:nvSpPr>
                <p:cNvPr id="59" name="Freeform 59"/>
                <p:cNvSpPr/>
                <p:nvPr/>
              </p:nvSpPr>
              <p:spPr>
                <a:xfrm>
                  <a:off x="679449" y="3716337"/>
                  <a:ext cx="9525" cy="30956"/>
                </a:xfrm>
                <a:custGeom>
                  <a:avLst/>
                  <a:gdLst/>
                  <a:ahLst/>
                  <a:cxnLst/>
                  <a:rect l="l" t="t" r="r" b="b"/>
                  <a:pathLst>
                    <a:path w="9525" h="30956">
                      <a:moveTo>
                        <a:pt x="0" y="0"/>
                      </a:moveTo>
                      <a:lnTo>
                        <a:pt x="0" y="30956"/>
                      </a:lnTo>
                    </a:path>
                  </a:pathLst>
                </a:custGeom>
                <a:noFill/>
                <a:ln w="15478">
                  <a:solidFill>
                    <a:srgbClr val="841600"/>
                  </a:solidFill>
                </a:ln>
              </p:spPr>
            </p:sp>
          </p:grpSp>
          <p:sp>
            <p:nvSpPr>
              <p:cNvPr id="61" name="TextBox 61"/>
              <p:cNvSpPr txBox="1"/>
              <p:nvPr/>
            </p:nvSpPr>
            <p:spPr>
              <a:xfrm>
                <a:off x="889635" y="3640931"/>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政务数据</a:t>
                </a:r>
              </a:p>
            </p:txBody>
          </p:sp>
        </p:grpSp>
      </p:grpSp>
      <p:grpSp>
        <p:nvGrpSpPr>
          <p:cNvPr id="102" name="products"/>
          <p:cNvGrpSpPr/>
          <p:nvPr/>
        </p:nvGrpSpPr>
        <p:grpSpPr>
          <a:xfrm>
            <a:off x="2457450" y="704850"/>
            <a:ext cx="2590800" cy="3581400"/>
            <a:chOff x="2457450" y="704850"/>
            <a:chExt cx="2590800" cy="3581400"/>
          </a:xfrm>
        </p:grpSpPr>
        <p:sp>
          <p:nvSpPr>
            <p:cNvPr id="64" name="Freeform 64"/>
            <p:cNvSpPr/>
            <p:nvPr/>
          </p:nvSpPr>
          <p:spPr>
            <a:xfrm>
              <a:off x="2457450" y="2324100"/>
              <a:ext cx="266700" cy="323850"/>
            </a:xfrm>
            <a:prstGeom prst="rightArrow">
              <a:avLst>
                <a:gd name="adj1" fmla="val 45000"/>
                <a:gd name="adj2" fmla="val 55000"/>
              </a:avLst>
            </a:prstGeom>
            <a:solidFill>
              <a:srgbClr val="C9482E"/>
            </a:solidFill>
            <a:ln>
              <a:noFill/>
            </a:ln>
          </p:spPr>
        </p:sp>
        <p:sp>
          <p:nvSpPr>
            <p:cNvPr id="65" name="Rectangle 65"/>
            <p:cNvSpPr/>
            <p:nvPr/>
          </p:nvSpPr>
          <p:spPr>
            <a:xfrm>
              <a:off x="2762250" y="704850"/>
              <a:ext cx="2286000" cy="3581400"/>
            </a:xfrm>
            <a:prstGeom prst="roundRect">
              <a:avLst>
                <a:gd name="adj" fmla="val 4167"/>
              </a:avLst>
            </a:prstGeom>
            <a:solidFill>
              <a:srgbClr val="FFFFFF"/>
            </a:solidFill>
            <a:ln w="9525">
              <a:solidFill>
                <a:srgbClr val="D7E2F2"/>
              </a:solidFill>
            </a:ln>
          </p:spPr>
        </p:sp>
        <p:sp>
          <p:nvSpPr>
            <p:cNvPr id="66" name="Rectangle 66"/>
            <p:cNvSpPr/>
            <p:nvPr/>
          </p:nvSpPr>
          <p:spPr>
            <a:xfrm>
              <a:off x="2762250" y="704850"/>
              <a:ext cx="2286000" cy="381000"/>
            </a:xfrm>
            <a:prstGeom prst="roundRect">
              <a:avLst>
                <a:gd name="adj" fmla="val 25000"/>
              </a:avLst>
            </a:prstGeom>
            <a:solidFill>
              <a:srgbClr val="841600"/>
            </a:solidFill>
            <a:ln>
              <a:noFill/>
            </a:ln>
          </p:spPr>
        </p:sp>
        <p:sp>
          <p:nvSpPr>
            <p:cNvPr id="67" name="Rectangle 67"/>
            <p:cNvSpPr/>
            <p:nvPr/>
          </p:nvSpPr>
          <p:spPr>
            <a:xfrm>
              <a:off x="2762250" y="914400"/>
              <a:ext cx="2286000" cy="171450"/>
            </a:xfrm>
            <a:prstGeom prst="rect">
              <a:avLst/>
            </a:prstGeom>
            <a:solidFill>
              <a:srgbClr val="841600"/>
            </a:solidFill>
            <a:ln>
              <a:noFill/>
            </a:ln>
          </p:spPr>
        </p:sp>
        <p:sp>
          <p:nvSpPr>
            <p:cNvPr id="68" name="TextBox 68"/>
            <p:cNvSpPr txBox="1"/>
            <p:nvPr/>
          </p:nvSpPr>
          <p:spPr>
            <a:xfrm>
              <a:off x="3576066" y="832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四类产品</a:t>
              </a:r>
            </a:p>
          </p:txBody>
        </p:sp>
        <p:grpSp>
          <p:nvGrpSpPr>
            <p:cNvPr id="77" name="product-1"/>
            <p:cNvGrpSpPr/>
            <p:nvPr/>
          </p:nvGrpSpPr>
          <p:grpSpPr>
            <a:xfrm>
              <a:off x="2876550" y="1238250"/>
              <a:ext cx="2057400" cy="590550"/>
              <a:chOff x="2876550" y="1238250"/>
              <a:chExt cx="2057400" cy="590550"/>
            </a:xfrm>
          </p:grpSpPr>
          <p:sp>
            <p:nvSpPr>
              <p:cNvPr id="69" name="Rectangle 69"/>
              <p:cNvSpPr/>
              <p:nvPr/>
            </p:nvSpPr>
            <p:spPr>
              <a:xfrm>
                <a:off x="2876550" y="1238250"/>
                <a:ext cx="2057400" cy="590550"/>
              </a:xfrm>
              <a:prstGeom prst="roundRect">
                <a:avLst>
                  <a:gd name="adj" fmla="val 12903"/>
                </a:avLst>
              </a:prstGeom>
              <a:solidFill>
                <a:srgbClr val="EFF5FD"/>
              </a:solidFill>
              <a:ln>
                <a:noFill/>
              </a:ln>
            </p:spPr>
          </p:sp>
          <p:sp>
            <p:nvSpPr>
              <p:cNvPr id="70" name="Ellipse 70"/>
              <p:cNvSpPr/>
              <p:nvPr/>
            </p:nvSpPr>
            <p:spPr>
              <a:xfrm>
                <a:off x="2990850" y="1343025"/>
                <a:ext cx="381000" cy="381000"/>
              </a:xfrm>
              <a:prstGeom prst="ellipse">
                <a:avLst/>
              </a:prstGeom>
              <a:solidFill>
                <a:srgbClr val="841600"/>
              </a:solidFill>
              <a:ln>
                <a:noFill/>
              </a:ln>
            </p:spPr>
          </p:sp>
          <p:grpSp>
            <p:nvGrpSpPr>
              <p:cNvPr id="75" name="Group 75"/>
              <p:cNvGrpSpPr/>
              <p:nvPr/>
            </p:nvGrpSpPr>
            <p:grpSpPr>
              <a:xfrm>
                <a:off x="3102769" y="1463675"/>
                <a:ext cx="157163" cy="149225"/>
                <a:chOff x="3102769" y="1463675"/>
                <a:chExt cx="157163" cy="149225"/>
              </a:xfrm>
            </p:grpSpPr>
            <p:sp>
              <p:nvSpPr>
                <p:cNvPr id="71" name="Freeform 71"/>
                <p:cNvSpPr/>
                <p:nvPr/>
              </p:nvSpPr>
              <p:spPr>
                <a:xfrm>
                  <a:off x="3102769" y="1463675"/>
                  <a:ext cx="157163" cy="104775"/>
                </a:xfrm>
                <a:custGeom>
                  <a:avLst/>
                  <a:gdLst/>
                  <a:ahLst/>
                  <a:cxnLst/>
                  <a:rect l="l" t="t" r="r" b="b"/>
                  <a:pathLst>
                    <a:path w="157163" h="104775">
                      <a:moveTo>
                        <a:pt x="0" y="8731"/>
                      </a:moveTo>
                      <a:cubicBezTo>
                        <a:pt x="0" y="3909"/>
                        <a:pt x="3909" y="0"/>
                        <a:pt x="8731" y="0"/>
                      </a:cubicBezTo>
                      <a:lnTo>
                        <a:pt x="148431" y="0"/>
                      </a:lnTo>
                      <a:cubicBezTo>
                        <a:pt x="153253" y="0"/>
                        <a:pt x="157163" y="3909"/>
                        <a:pt x="157163" y="8731"/>
                      </a:cubicBezTo>
                      <a:lnTo>
                        <a:pt x="157163" y="96044"/>
                      </a:lnTo>
                      <a:cubicBezTo>
                        <a:pt x="157163" y="100866"/>
                        <a:pt x="153253" y="104775"/>
                        <a:pt x="148431" y="104775"/>
                      </a:cubicBezTo>
                      <a:lnTo>
                        <a:pt x="8731" y="104775"/>
                      </a:lnTo>
                      <a:cubicBezTo>
                        <a:pt x="3909" y="104775"/>
                        <a:pt x="0" y="100866"/>
                        <a:pt x="0" y="96044"/>
                      </a:cubicBezTo>
                      <a:lnTo>
                        <a:pt x="0" y="8731"/>
                      </a:lnTo>
                    </a:path>
                  </a:pathLst>
                </a:custGeom>
                <a:noFill/>
                <a:ln w="17463">
                  <a:solidFill>
                    <a:srgbClr val="FFFFFF"/>
                  </a:solidFill>
                </a:ln>
              </p:spPr>
            </p:sp>
            <p:sp>
              <p:nvSpPr>
                <p:cNvPr id="72" name="Freeform 72"/>
                <p:cNvSpPr/>
                <p:nvPr/>
              </p:nvSpPr>
              <p:spPr>
                <a:xfrm>
                  <a:off x="3137694" y="1603375"/>
                  <a:ext cx="87313" cy="9525"/>
                </a:xfrm>
                <a:custGeom>
                  <a:avLst/>
                  <a:gdLst/>
                  <a:ahLst/>
                  <a:cxnLst/>
                  <a:rect l="l" t="t" r="r" b="b"/>
                  <a:pathLst>
                    <a:path w="87313" h="9525">
                      <a:moveTo>
                        <a:pt x="0" y="0"/>
                      </a:moveTo>
                      <a:lnTo>
                        <a:pt x="87313" y="0"/>
                      </a:lnTo>
                    </a:path>
                  </a:pathLst>
                </a:custGeom>
                <a:noFill/>
                <a:ln w="17463">
                  <a:solidFill>
                    <a:srgbClr val="FFFFFF"/>
                  </a:solidFill>
                </a:ln>
              </p:spPr>
            </p:sp>
            <p:sp>
              <p:nvSpPr>
                <p:cNvPr id="73" name="Freeform 73"/>
                <p:cNvSpPr/>
                <p:nvPr/>
              </p:nvSpPr>
              <p:spPr>
                <a:xfrm>
                  <a:off x="3155156" y="1568450"/>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74" name="Freeform 74"/>
                <p:cNvSpPr/>
                <p:nvPr/>
              </p:nvSpPr>
              <p:spPr>
                <a:xfrm>
                  <a:off x="3207544" y="1568450"/>
                  <a:ext cx="9525" cy="34925"/>
                </a:xfrm>
                <a:custGeom>
                  <a:avLst/>
                  <a:gdLst/>
                  <a:ahLst/>
                  <a:cxnLst/>
                  <a:rect l="l" t="t" r="r" b="b"/>
                  <a:pathLst>
                    <a:path w="9525" h="34925">
                      <a:moveTo>
                        <a:pt x="0" y="0"/>
                      </a:moveTo>
                      <a:lnTo>
                        <a:pt x="0" y="34925"/>
                      </a:lnTo>
                    </a:path>
                  </a:pathLst>
                </a:custGeom>
                <a:noFill/>
                <a:ln w="17463">
                  <a:solidFill>
                    <a:srgbClr val="FFFFFF"/>
                  </a:solidFill>
                </a:ln>
              </p:spPr>
            </p:sp>
          </p:grpSp>
          <p:sp>
            <p:nvSpPr>
              <p:cNvPr id="76" name="TextBox 76"/>
              <p:cNvSpPr txBox="1"/>
              <p:nvPr/>
            </p:nvSpPr>
            <p:spPr>
              <a:xfrm>
                <a:off x="3480054" y="1461135"/>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线上信用</a:t>
                </a:r>
              </a:p>
            </p:txBody>
          </p:sp>
        </p:grpSp>
        <p:grpSp>
          <p:nvGrpSpPr>
            <p:cNvPr id="84" name="product-2"/>
            <p:cNvGrpSpPr/>
            <p:nvPr/>
          </p:nvGrpSpPr>
          <p:grpSpPr>
            <a:xfrm>
              <a:off x="2876550" y="1962150"/>
              <a:ext cx="2057400" cy="590550"/>
              <a:chOff x="2876550" y="1962150"/>
              <a:chExt cx="2057400" cy="590550"/>
            </a:xfrm>
          </p:grpSpPr>
          <p:sp>
            <p:nvSpPr>
              <p:cNvPr id="78" name="Rectangle 78"/>
              <p:cNvSpPr/>
              <p:nvPr/>
            </p:nvSpPr>
            <p:spPr>
              <a:xfrm>
                <a:off x="2876550" y="1962150"/>
                <a:ext cx="2057400" cy="590550"/>
              </a:xfrm>
              <a:prstGeom prst="roundRect">
                <a:avLst>
                  <a:gd name="adj" fmla="val 12903"/>
                </a:avLst>
              </a:prstGeom>
              <a:solidFill>
                <a:srgbClr val="EFF5FD"/>
              </a:solidFill>
              <a:ln>
                <a:noFill/>
              </a:ln>
            </p:spPr>
          </p:sp>
          <p:sp>
            <p:nvSpPr>
              <p:cNvPr id="79" name="Ellipse 79"/>
              <p:cNvSpPr/>
              <p:nvPr/>
            </p:nvSpPr>
            <p:spPr>
              <a:xfrm>
                <a:off x="2990850" y="2066925"/>
                <a:ext cx="381000" cy="381000"/>
              </a:xfrm>
              <a:prstGeom prst="ellipse">
                <a:avLst/>
              </a:prstGeom>
              <a:solidFill>
                <a:srgbClr val="841600"/>
              </a:solidFill>
              <a:ln>
                <a:noFill/>
              </a:ln>
            </p:spPr>
          </p:sp>
          <p:grpSp>
            <p:nvGrpSpPr>
              <p:cNvPr id="82" name="Group 82"/>
              <p:cNvGrpSpPr/>
              <p:nvPr/>
            </p:nvGrpSpPr>
            <p:grpSpPr>
              <a:xfrm>
                <a:off x="3111500" y="2184206"/>
                <a:ext cx="139700" cy="146438"/>
                <a:chOff x="3111500" y="2184206"/>
                <a:chExt cx="139700" cy="146438"/>
              </a:xfrm>
            </p:grpSpPr>
            <p:sp>
              <p:nvSpPr>
                <p:cNvPr id="80" name="Freeform 80"/>
                <p:cNvSpPr/>
                <p:nvPr/>
              </p:nvSpPr>
              <p:spPr>
                <a:xfrm>
                  <a:off x="3111500" y="2184206"/>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FFFFFF"/>
                  </a:solidFill>
                </a:ln>
              </p:spPr>
            </p:sp>
            <p:sp>
              <p:nvSpPr>
                <p:cNvPr id="81" name="Freeform 81"/>
                <p:cNvSpPr/>
                <p:nvPr/>
              </p:nvSpPr>
              <p:spPr>
                <a:xfrm>
                  <a:off x="3111500" y="2266156"/>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FFFFFF"/>
                  </a:solidFill>
                </a:ln>
              </p:spPr>
            </p:sp>
          </p:grpSp>
          <p:sp>
            <p:nvSpPr>
              <p:cNvPr id="83" name="TextBox 83"/>
              <p:cNvSpPr txBox="1"/>
              <p:nvPr/>
            </p:nvSpPr>
            <p:spPr>
              <a:xfrm>
                <a:off x="3480054" y="2185035"/>
                <a:ext cx="335280"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续贷</a:t>
                </a:r>
              </a:p>
            </p:txBody>
          </p:sp>
        </p:grpSp>
        <p:grpSp>
          <p:nvGrpSpPr>
            <p:cNvPr id="93" name="product-3"/>
            <p:cNvGrpSpPr/>
            <p:nvPr/>
          </p:nvGrpSpPr>
          <p:grpSpPr>
            <a:xfrm>
              <a:off x="2876550" y="2686050"/>
              <a:ext cx="2057400" cy="590550"/>
              <a:chOff x="2876550" y="2686050"/>
              <a:chExt cx="2057400" cy="590550"/>
            </a:xfrm>
          </p:grpSpPr>
          <p:sp>
            <p:nvSpPr>
              <p:cNvPr id="85" name="Rectangle 85"/>
              <p:cNvSpPr/>
              <p:nvPr/>
            </p:nvSpPr>
            <p:spPr>
              <a:xfrm>
                <a:off x="2876550" y="2686050"/>
                <a:ext cx="2057400" cy="590550"/>
              </a:xfrm>
              <a:prstGeom prst="roundRect">
                <a:avLst>
                  <a:gd name="adj" fmla="val 12903"/>
                </a:avLst>
              </a:prstGeom>
              <a:solidFill>
                <a:srgbClr val="EFF5FD"/>
              </a:solidFill>
              <a:ln>
                <a:noFill/>
              </a:ln>
            </p:spPr>
          </p:sp>
          <p:sp>
            <p:nvSpPr>
              <p:cNvPr id="86" name="Ellipse 86"/>
              <p:cNvSpPr/>
              <p:nvPr/>
            </p:nvSpPr>
            <p:spPr>
              <a:xfrm>
                <a:off x="2990850" y="2790825"/>
                <a:ext cx="381000" cy="381000"/>
              </a:xfrm>
              <a:prstGeom prst="ellipse">
                <a:avLst/>
              </a:prstGeom>
              <a:solidFill>
                <a:srgbClr val="841600"/>
              </a:solidFill>
              <a:ln>
                <a:noFill/>
              </a:ln>
            </p:spPr>
          </p:sp>
          <p:grpSp>
            <p:nvGrpSpPr>
              <p:cNvPr id="91" name="Group 91"/>
              <p:cNvGrpSpPr/>
              <p:nvPr/>
            </p:nvGrpSpPr>
            <p:grpSpPr>
              <a:xfrm>
                <a:off x="3102769" y="2902744"/>
                <a:ext cx="157163" cy="148431"/>
                <a:chOff x="3102769" y="2902744"/>
                <a:chExt cx="157163" cy="148431"/>
              </a:xfrm>
            </p:grpSpPr>
            <p:sp>
              <p:nvSpPr>
                <p:cNvPr id="87" name="Freeform 87"/>
                <p:cNvSpPr/>
                <p:nvPr/>
              </p:nvSpPr>
              <p:spPr>
                <a:xfrm>
                  <a:off x="3102769" y="2937669"/>
                  <a:ext cx="157163" cy="113506"/>
                </a:xfrm>
                <a:custGeom>
                  <a:avLst/>
                  <a:gdLst/>
                  <a:ahLst/>
                  <a:cxnLst/>
                  <a:rect l="l" t="t" r="r" b="b"/>
                  <a:pathLst>
                    <a:path w="157163" h="113506">
                      <a:moveTo>
                        <a:pt x="0" y="17463"/>
                      </a:moveTo>
                      <a:cubicBezTo>
                        <a:pt x="0" y="7818"/>
                        <a:pt x="7818" y="0"/>
                        <a:pt x="17463" y="0"/>
                      </a:cubicBezTo>
                      <a:lnTo>
                        <a:pt x="139700" y="0"/>
                      </a:lnTo>
                      <a:cubicBezTo>
                        <a:pt x="149344" y="0"/>
                        <a:pt x="157163" y="7818"/>
                        <a:pt x="157163" y="17463"/>
                      </a:cubicBezTo>
                      <a:lnTo>
                        <a:pt x="157163" y="96044"/>
                      </a:lnTo>
                      <a:cubicBezTo>
                        <a:pt x="157163" y="105688"/>
                        <a:pt x="149344" y="113506"/>
                        <a:pt x="139700" y="113506"/>
                      </a:cubicBezTo>
                      <a:lnTo>
                        <a:pt x="17463" y="113506"/>
                      </a:lnTo>
                      <a:cubicBezTo>
                        <a:pt x="7818" y="113506"/>
                        <a:pt x="0" y="105688"/>
                        <a:pt x="0" y="96044"/>
                      </a:cubicBezTo>
                      <a:lnTo>
                        <a:pt x="0" y="17463"/>
                      </a:lnTo>
                    </a:path>
                  </a:pathLst>
                </a:custGeom>
                <a:noFill/>
                <a:ln w="17463">
                  <a:solidFill>
                    <a:srgbClr val="FFFFFF"/>
                  </a:solidFill>
                </a:ln>
              </p:spPr>
            </p:sp>
            <p:sp>
              <p:nvSpPr>
                <p:cNvPr id="88" name="Freeform 88"/>
                <p:cNvSpPr/>
                <p:nvPr/>
              </p:nvSpPr>
              <p:spPr>
                <a:xfrm>
                  <a:off x="3146425" y="2902744"/>
                  <a:ext cx="69850" cy="34925"/>
                </a:xfrm>
                <a:custGeom>
                  <a:avLst/>
                  <a:gdLst/>
                  <a:ahLst/>
                  <a:cxnLst/>
                  <a:rect l="l" t="t" r="r" b="b"/>
                  <a:pathLst>
                    <a:path w="69850" h="34925">
                      <a:moveTo>
                        <a:pt x="0" y="34925"/>
                      </a:moveTo>
                      <a:lnTo>
                        <a:pt x="0" y="17463"/>
                      </a:lnTo>
                      <a:cubicBezTo>
                        <a:pt x="0" y="7818"/>
                        <a:pt x="7818" y="0"/>
                        <a:pt x="17463" y="0"/>
                      </a:cubicBezTo>
                      <a:lnTo>
                        <a:pt x="52388" y="0"/>
                      </a:lnTo>
                      <a:cubicBezTo>
                        <a:pt x="62032" y="0"/>
                        <a:pt x="69850" y="7818"/>
                        <a:pt x="69850" y="17463"/>
                      </a:cubicBezTo>
                      <a:lnTo>
                        <a:pt x="69850" y="34925"/>
                      </a:lnTo>
                    </a:path>
                  </a:pathLst>
                </a:custGeom>
                <a:noFill/>
                <a:ln w="17463">
                  <a:solidFill>
                    <a:srgbClr val="FFFFFF"/>
                  </a:solidFill>
                </a:ln>
              </p:spPr>
            </p:sp>
            <p:sp>
              <p:nvSpPr>
                <p:cNvPr id="89" name="Freeform 89"/>
                <p:cNvSpPr/>
                <p:nvPr/>
              </p:nvSpPr>
              <p:spPr>
                <a:xfrm>
                  <a:off x="3181350" y="2981325"/>
                  <a:ext cx="9525" cy="9525"/>
                </a:xfrm>
                <a:custGeom>
                  <a:avLst/>
                  <a:gdLst/>
                  <a:ahLst/>
                  <a:cxnLst/>
                  <a:rect l="l" t="t" r="r" b="b"/>
                  <a:pathLst>
                    <a:path w="9525" h="9525">
                      <a:moveTo>
                        <a:pt x="0" y="0"/>
                      </a:moveTo>
                      <a:lnTo>
                        <a:pt x="0" y="87"/>
                      </a:lnTo>
                    </a:path>
                  </a:pathLst>
                </a:custGeom>
                <a:noFill/>
                <a:ln w="17463">
                  <a:solidFill>
                    <a:srgbClr val="FFFFFF"/>
                  </a:solidFill>
                </a:ln>
              </p:spPr>
            </p:sp>
            <p:sp>
              <p:nvSpPr>
                <p:cNvPr id="90" name="Freeform 90"/>
                <p:cNvSpPr/>
                <p:nvPr/>
              </p:nvSpPr>
              <p:spPr>
                <a:xfrm>
                  <a:off x="3102769" y="2990056"/>
                  <a:ext cx="157163" cy="24907"/>
                </a:xfrm>
                <a:custGeom>
                  <a:avLst/>
                  <a:gdLst/>
                  <a:ahLst/>
                  <a:cxnLst/>
                  <a:rect l="l" t="t" r="r" b="b"/>
                  <a:pathLst>
                    <a:path w="157163" h="24907">
                      <a:moveTo>
                        <a:pt x="0" y="0"/>
                      </a:moveTo>
                      <a:cubicBezTo>
                        <a:pt x="49427" y="24907"/>
                        <a:pt x="107735" y="24907"/>
                        <a:pt x="157163" y="0"/>
                      </a:cubicBezTo>
                    </a:path>
                  </a:pathLst>
                </a:custGeom>
                <a:noFill/>
                <a:ln w="17463">
                  <a:solidFill>
                    <a:srgbClr val="FFFFFF"/>
                  </a:solidFill>
                </a:ln>
              </p:spPr>
            </p:sp>
          </p:grpSp>
          <p:sp>
            <p:nvSpPr>
              <p:cNvPr id="92" name="TextBox 92"/>
              <p:cNvSpPr txBox="1"/>
              <p:nvPr/>
            </p:nvSpPr>
            <p:spPr>
              <a:xfrm>
                <a:off x="3480054" y="2908935"/>
                <a:ext cx="335280"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场景</a:t>
                </a:r>
              </a:p>
            </p:txBody>
          </p:sp>
        </p:grpSp>
        <p:grpSp>
          <p:nvGrpSpPr>
            <p:cNvPr id="101" name="product-4"/>
            <p:cNvGrpSpPr/>
            <p:nvPr/>
          </p:nvGrpSpPr>
          <p:grpSpPr>
            <a:xfrm>
              <a:off x="2876550" y="3409950"/>
              <a:ext cx="2057400" cy="590550"/>
              <a:chOff x="2876550" y="3409950"/>
              <a:chExt cx="2057400" cy="590550"/>
            </a:xfrm>
          </p:grpSpPr>
          <p:sp>
            <p:nvSpPr>
              <p:cNvPr id="94" name="Rectangle 94"/>
              <p:cNvSpPr/>
              <p:nvPr/>
            </p:nvSpPr>
            <p:spPr>
              <a:xfrm>
                <a:off x="2876550" y="3409950"/>
                <a:ext cx="2057400" cy="590550"/>
              </a:xfrm>
              <a:prstGeom prst="roundRect">
                <a:avLst>
                  <a:gd name="adj" fmla="val 12903"/>
                </a:avLst>
              </a:prstGeom>
              <a:solidFill>
                <a:srgbClr val="EFF5FD"/>
              </a:solidFill>
              <a:ln>
                <a:noFill/>
              </a:ln>
            </p:spPr>
          </p:sp>
          <p:sp>
            <p:nvSpPr>
              <p:cNvPr id="95" name="Ellipse 95"/>
              <p:cNvSpPr/>
              <p:nvPr/>
            </p:nvSpPr>
            <p:spPr>
              <a:xfrm>
                <a:off x="2990850" y="3514725"/>
                <a:ext cx="381000" cy="381000"/>
              </a:xfrm>
              <a:prstGeom prst="ellipse">
                <a:avLst/>
              </a:prstGeom>
              <a:solidFill>
                <a:srgbClr val="841600"/>
              </a:solidFill>
              <a:ln>
                <a:noFill/>
              </a:ln>
            </p:spPr>
          </p:sp>
          <p:grpSp>
            <p:nvGrpSpPr>
              <p:cNvPr id="99" name="Group 99"/>
              <p:cNvGrpSpPr/>
              <p:nvPr/>
            </p:nvGrpSpPr>
            <p:grpSpPr>
              <a:xfrm>
                <a:off x="3111499" y="3631109"/>
                <a:ext cx="143954" cy="148214"/>
                <a:chOff x="3111499" y="3631109"/>
                <a:chExt cx="143954" cy="148214"/>
              </a:xfrm>
            </p:grpSpPr>
            <p:sp>
              <p:nvSpPr>
                <p:cNvPr id="96" name="Freeform 96"/>
                <p:cNvSpPr/>
                <p:nvPr/>
              </p:nvSpPr>
              <p:spPr>
                <a:xfrm>
                  <a:off x="3155156" y="3679031"/>
                  <a:ext cx="52388" cy="52388"/>
                </a:xfrm>
                <a:custGeom>
                  <a:avLst/>
                  <a:gdLst/>
                  <a:ahLst/>
                  <a:cxnLst/>
                  <a:rect l="l" t="t" r="r" b="b"/>
                  <a:pathLst>
                    <a:path w="52388" h="52388">
                      <a:moveTo>
                        <a:pt x="0" y="52388"/>
                      </a:moveTo>
                      <a:lnTo>
                        <a:pt x="52388" y="0"/>
                      </a:lnTo>
                    </a:path>
                  </a:pathLst>
                </a:custGeom>
                <a:noFill/>
                <a:ln w="17463">
                  <a:solidFill>
                    <a:srgbClr val="FFFFFF"/>
                  </a:solidFill>
                </a:ln>
              </p:spPr>
            </p:sp>
            <p:sp>
              <p:nvSpPr>
                <p:cNvPr id="97" name="Freeform 97"/>
                <p:cNvSpPr/>
                <p:nvPr/>
              </p:nvSpPr>
              <p:spPr>
                <a:xfrm>
                  <a:off x="3172619" y="3631109"/>
                  <a:ext cx="82834" cy="82847"/>
                </a:xfrm>
                <a:custGeom>
                  <a:avLst/>
                  <a:gdLst/>
                  <a:ahLst/>
                  <a:cxnLst/>
                  <a:rect l="l" t="t" r="r" b="b"/>
                  <a:pathLst>
                    <a:path w="82834" h="82847">
                      <a:moveTo>
                        <a:pt x="0" y="21729"/>
                      </a:moveTo>
                      <a:lnTo>
                        <a:pt x="4043" y="17049"/>
                      </a:lnTo>
                      <a:cubicBezTo>
                        <a:pt x="21094" y="0"/>
                        <a:pt x="48737" y="2"/>
                        <a:pt x="65786" y="17053"/>
                      </a:cubicBezTo>
                      <a:cubicBezTo>
                        <a:pt x="82834" y="34104"/>
                        <a:pt x="82832" y="61747"/>
                        <a:pt x="65781" y="78796"/>
                      </a:cubicBezTo>
                      <a:lnTo>
                        <a:pt x="61119" y="82847"/>
                      </a:lnTo>
                    </a:path>
                  </a:pathLst>
                </a:custGeom>
                <a:noFill/>
                <a:ln w="17463">
                  <a:solidFill>
                    <a:srgbClr val="FFFFFF"/>
                  </a:solidFill>
                </a:ln>
              </p:spPr>
            </p:sp>
            <p:sp>
              <p:nvSpPr>
                <p:cNvPr id="98" name="Freeform 98"/>
                <p:cNvSpPr/>
                <p:nvPr/>
              </p:nvSpPr>
              <p:spPr>
                <a:xfrm>
                  <a:off x="3111499" y="3696494"/>
                  <a:ext cx="78583" cy="82829"/>
                </a:xfrm>
                <a:custGeom>
                  <a:avLst/>
                  <a:gdLst/>
                  <a:ahLst/>
                  <a:cxnLst/>
                  <a:rect l="l" t="t" r="r" b="b"/>
                  <a:pathLst>
                    <a:path w="78583" h="82829">
                      <a:moveTo>
                        <a:pt x="78583" y="61119"/>
                      </a:moveTo>
                      <a:lnTo>
                        <a:pt x="75116" y="65781"/>
                      </a:lnTo>
                      <a:cubicBezTo>
                        <a:pt x="57876" y="82829"/>
                        <a:pt x="30128" y="82829"/>
                        <a:pt x="12889" y="65781"/>
                      </a:cubicBezTo>
                      <a:cubicBezTo>
                        <a:pt x="4641" y="57626"/>
                        <a:pt x="0" y="46510"/>
                        <a:pt x="0" y="34912"/>
                      </a:cubicBezTo>
                      <a:cubicBezTo>
                        <a:pt x="0" y="23314"/>
                        <a:pt x="4641" y="12197"/>
                        <a:pt x="12889" y="4043"/>
                      </a:cubicBezTo>
                      <a:lnTo>
                        <a:pt x="17464" y="0"/>
                      </a:lnTo>
                    </a:path>
                  </a:pathLst>
                </a:custGeom>
                <a:noFill/>
                <a:ln w="17463">
                  <a:solidFill>
                    <a:srgbClr val="FFFFFF"/>
                  </a:solidFill>
                </a:ln>
              </p:spPr>
            </p:sp>
          </p:grpSp>
          <p:sp>
            <p:nvSpPr>
              <p:cNvPr id="100" name="TextBox 100"/>
              <p:cNvSpPr txBox="1"/>
              <p:nvPr/>
            </p:nvSpPr>
            <p:spPr>
              <a:xfrm>
                <a:off x="3480054" y="3632835"/>
                <a:ext cx="496824"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供应链</a:t>
                </a:r>
              </a:p>
            </p:txBody>
          </p:sp>
        </p:grpSp>
      </p:grpSp>
      <p:grpSp>
        <p:nvGrpSpPr>
          <p:cNvPr id="136" name="risk-controls"/>
          <p:cNvGrpSpPr/>
          <p:nvPr/>
        </p:nvGrpSpPr>
        <p:grpSpPr>
          <a:xfrm>
            <a:off x="5086350" y="704850"/>
            <a:ext cx="2647950" cy="3581400"/>
            <a:chOff x="5086350" y="704850"/>
            <a:chExt cx="2647950" cy="3581400"/>
          </a:xfrm>
        </p:grpSpPr>
        <p:sp>
          <p:nvSpPr>
            <p:cNvPr id="103" name="Freeform 103"/>
            <p:cNvSpPr/>
            <p:nvPr/>
          </p:nvSpPr>
          <p:spPr>
            <a:xfrm>
              <a:off x="5086350" y="2324100"/>
              <a:ext cx="266700" cy="323850"/>
            </a:xfrm>
            <a:prstGeom prst="rightArrow">
              <a:avLst>
                <a:gd name="adj1" fmla="val 45000"/>
                <a:gd name="adj2" fmla="val 55000"/>
              </a:avLst>
            </a:prstGeom>
            <a:solidFill>
              <a:srgbClr val="C9482E"/>
            </a:solidFill>
            <a:ln>
              <a:noFill/>
            </a:ln>
          </p:spPr>
        </p:sp>
        <p:sp>
          <p:nvSpPr>
            <p:cNvPr id="104" name="Rectangle 104"/>
            <p:cNvSpPr/>
            <p:nvPr/>
          </p:nvSpPr>
          <p:spPr>
            <a:xfrm>
              <a:off x="5391150" y="704850"/>
              <a:ext cx="2343150" cy="3581400"/>
            </a:xfrm>
            <a:prstGeom prst="roundRect">
              <a:avLst>
                <a:gd name="adj" fmla="val 4065"/>
              </a:avLst>
            </a:prstGeom>
            <a:solidFill>
              <a:srgbClr val="FFFFFF"/>
            </a:solidFill>
            <a:ln w="9525">
              <a:solidFill>
                <a:srgbClr val="D7E2F2"/>
              </a:solidFill>
            </a:ln>
          </p:spPr>
        </p:sp>
        <p:sp>
          <p:nvSpPr>
            <p:cNvPr id="105" name="Rectangle 105"/>
            <p:cNvSpPr/>
            <p:nvPr/>
          </p:nvSpPr>
          <p:spPr>
            <a:xfrm>
              <a:off x="5391150" y="704850"/>
              <a:ext cx="2343150" cy="381000"/>
            </a:xfrm>
            <a:prstGeom prst="roundRect">
              <a:avLst>
                <a:gd name="adj" fmla="val 25000"/>
              </a:avLst>
            </a:prstGeom>
            <a:solidFill>
              <a:srgbClr val="841600"/>
            </a:solidFill>
            <a:ln>
              <a:noFill/>
            </a:ln>
          </p:spPr>
        </p:sp>
        <p:sp>
          <p:nvSpPr>
            <p:cNvPr id="106" name="Rectangle 106"/>
            <p:cNvSpPr/>
            <p:nvPr/>
          </p:nvSpPr>
          <p:spPr>
            <a:xfrm>
              <a:off x="5391150" y="914400"/>
              <a:ext cx="2343150" cy="171450"/>
            </a:xfrm>
            <a:prstGeom prst="rect">
              <a:avLst/>
            </a:prstGeom>
            <a:solidFill>
              <a:srgbClr val="841600"/>
            </a:solidFill>
            <a:ln>
              <a:noFill/>
            </a:ln>
          </p:spPr>
        </p:sp>
        <p:sp>
          <p:nvSpPr>
            <p:cNvPr id="107" name="TextBox 107"/>
            <p:cNvSpPr txBox="1"/>
            <p:nvPr/>
          </p:nvSpPr>
          <p:spPr>
            <a:xfrm>
              <a:off x="6233541" y="832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三道风控</a:t>
              </a:r>
            </a:p>
          </p:txBody>
        </p:sp>
        <p:grpSp>
          <p:nvGrpSpPr>
            <p:cNvPr id="116" name="risk-1"/>
            <p:cNvGrpSpPr/>
            <p:nvPr/>
          </p:nvGrpSpPr>
          <p:grpSpPr>
            <a:xfrm>
              <a:off x="5505450" y="1200150"/>
              <a:ext cx="2114550" cy="914400"/>
              <a:chOff x="5505450" y="1200150"/>
              <a:chExt cx="2114550" cy="914400"/>
            </a:xfrm>
          </p:grpSpPr>
          <p:sp>
            <p:nvSpPr>
              <p:cNvPr id="108" name="Rectangle 108"/>
              <p:cNvSpPr/>
              <p:nvPr/>
            </p:nvSpPr>
            <p:spPr>
              <a:xfrm>
                <a:off x="5505450" y="1200150"/>
                <a:ext cx="2114550" cy="914400"/>
              </a:xfrm>
              <a:prstGeom prst="roundRect">
                <a:avLst>
                  <a:gd name="adj" fmla="val 8333"/>
                </a:avLst>
              </a:prstGeom>
              <a:solidFill>
                <a:srgbClr val="EFF5FD"/>
              </a:solidFill>
              <a:ln>
                <a:noFill/>
              </a:ln>
            </p:spPr>
          </p:sp>
          <p:sp>
            <p:nvSpPr>
              <p:cNvPr id="109" name="Ellipse 109"/>
              <p:cNvSpPr/>
              <p:nvPr/>
            </p:nvSpPr>
            <p:spPr>
              <a:xfrm>
                <a:off x="5581650" y="1428750"/>
                <a:ext cx="457200" cy="457200"/>
              </a:xfrm>
              <a:prstGeom prst="ellipse">
                <a:avLst/>
              </a:prstGeom>
              <a:solidFill>
                <a:srgbClr val="841600"/>
              </a:solidFill>
              <a:ln>
                <a:noFill/>
              </a:ln>
            </p:spPr>
          </p:sp>
          <p:grpSp>
            <p:nvGrpSpPr>
              <p:cNvPr id="113" name="Group 113"/>
              <p:cNvGrpSpPr/>
              <p:nvPr/>
            </p:nvGrpSpPr>
            <p:grpSpPr>
              <a:xfrm>
                <a:off x="5748337" y="1564481"/>
                <a:ext cx="154781" cy="185737"/>
                <a:chOff x="5748337" y="1564481"/>
                <a:chExt cx="154781" cy="185737"/>
              </a:xfrm>
            </p:grpSpPr>
            <p:sp>
              <p:nvSpPr>
                <p:cNvPr id="110" name="Freeform 110"/>
                <p:cNvSpPr/>
                <p:nvPr/>
              </p:nvSpPr>
              <p:spPr>
                <a:xfrm>
                  <a:off x="5768975" y="15644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111" name="Freeform 111"/>
                <p:cNvSpPr/>
                <p:nvPr/>
              </p:nvSpPr>
              <p:spPr>
                <a:xfrm>
                  <a:off x="5748337" y="1688306"/>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FFFFFF"/>
                  </a:solidFill>
                </a:ln>
              </p:spPr>
            </p:sp>
            <p:sp>
              <p:nvSpPr>
                <p:cNvPr id="112" name="Freeform 112"/>
                <p:cNvSpPr/>
                <p:nvPr/>
              </p:nvSpPr>
              <p:spPr>
                <a:xfrm>
                  <a:off x="5841206" y="1708943"/>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114" name="TextBox 114"/>
              <p:cNvSpPr txBox="1"/>
              <p:nvPr/>
            </p:nvSpPr>
            <p:spPr>
              <a:xfrm>
                <a:off x="6147435" y="140255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名单准入</a:t>
                </a:r>
              </a:p>
            </p:txBody>
          </p:sp>
          <p:sp>
            <p:nvSpPr>
              <p:cNvPr id="115" name="TextBox 115"/>
              <p:cNvSpPr txBox="1"/>
              <p:nvPr/>
            </p:nvSpPr>
            <p:spPr>
              <a:xfrm>
                <a:off x="6148388" y="1644491"/>
                <a:ext cx="634365" cy="333375"/>
              </a:xfrm>
              <a:prstGeom prst="rect">
                <a:avLst/>
              </a:prstGeom>
              <a:noFill/>
              <a:ln>
                <a:noFill/>
              </a:ln>
            </p:spPr>
            <p:txBody>
              <a:bodyPr wrap="none" lIns="0" tIns="0" rIns="0" bIns="0" anchor="t" anchorCtr="0">
                <a:spAutoFit/>
              </a:bodyPr>
              <a:lstStyle/>
              <a:p>
                <a:pPr algn="l">
                  <a:lnSpc>
                    <a:spcPts val="1350"/>
                  </a:lnSpc>
                </a:pPr>
                <a:r>
                  <a:rPr lang="zh-CN" sz="820" dirty="0">
                    <a:solidFill>
                      <a:srgbClr val="7E605A"/>
                    </a:solidFill>
                    <a:latin typeface="+mn-lt"/>
                    <a:ea typeface="+mn-ea"/>
                    <a:cs typeface="+mn-cs"/>
                  </a:rPr>
                  <a:t>多维数据筛选</a:t>
                </a:r>
                <a:br/>
                <a:r>
                  <a:rPr lang="zh-CN" sz="820" dirty="0">
                    <a:solidFill>
                      <a:srgbClr val="7E605A"/>
                    </a:solidFill>
                    <a:latin typeface="+mn-lt"/>
                    <a:ea typeface="+mn-ea"/>
                    <a:cs typeface="+mn-cs"/>
                  </a:rPr>
                  <a:t>准入名单管理</a:t>
                </a:r>
              </a:p>
            </p:txBody>
          </p:sp>
        </p:grpSp>
        <p:grpSp>
          <p:nvGrpSpPr>
            <p:cNvPr id="126" name="risk-2"/>
            <p:cNvGrpSpPr/>
            <p:nvPr/>
          </p:nvGrpSpPr>
          <p:grpSpPr>
            <a:xfrm>
              <a:off x="5505450" y="2228850"/>
              <a:ext cx="2114550" cy="914400"/>
              <a:chOff x="5505450" y="2228850"/>
              <a:chExt cx="2114550" cy="914400"/>
            </a:xfrm>
          </p:grpSpPr>
          <p:sp>
            <p:nvSpPr>
              <p:cNvPr id="117" name="Rectangle 117"/>
              <p:cNvSpPr/>
              <p:nvPr/>
            </p:nvSpPr>
            <p:spPr>
              <a:xfrm>
                <a:off x="5505450" y="2228850"/>
                <a:ext cx="2114550" cy="914400"/>
              </a:xfrm>
              <a:prstGeom prst="roundRect">
                <a:avLst>
                  <a:gd name="adj" fmla="val 8333"/>
                </a:avLst>
              </a:prstGeom>
              <a:solidFill>
                <a:srgbClr val="EFF5FD"/>
              </a:solidFill>
              <a:ln>
                <a:noFill/>
              </a:ln>
            </p:spPr>
          </p:sp>
          <p:sp>
            <p:nvSpPr>
              <p:cNvPr id="118" name="Ellipse 118"/>
              <p:cNvSpPr/>
              <p:nvPr/>
            </p:nvSpPr>
            <p:spPr>
              <a:xfrm>
                <a:off x="5581650" y="2457450"/>
                <a:ext cx="457200" cy="457200"/>
              </a:xfrm>
              <a:prstGeom prst="ellipse">
                <a:avLst/>
              </a:prstGeom>
              <a:solidFill>
                <a:srgbClr val="841600"/>
              </a:solidFill>
              <a:ln>
                <a:noFill/>
              </a:ln>
            </p:spPr>
          </p:sp>
          <p:grpSp>
            <p:nvGrpSpPr>
              <p:cNvPr id="123" name="Group 123"/>
              <p:cNvGrpSpPr/>
              <p:nvPr/>
            </p:nvGrpSpPr>
            <p:grpSpPr>
              <a:xfrm>
                <a:off x="5717381" y="2603500"/>
                <a:ext cx="185737" cy="174624"/>
                <a:chOff x="5717381" y="2603500"/>
                <a:chExt cx="185737" cy="174624"/>
              </a:xfrm>
            </p:grpSpPr>
            <p:sp>
              <p:nvSpPr>
                <p:cNvPr id="119" name="Freeform 119"/>
                <p:cNvSpPr/>
                <p:nvPr/>
              </p:nvSpPr>
              <p:spPr>
                <a:xfrm>
                  <a:off x="5717381" y="268605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FFFFFF"/>
                  </a:solidFill>
                </a:ln>
              </p:spPr>
            </p:sp>
            <p:sp>
              <p:nvSpPr>
                <p:cNvPr id="120" name="Freeform 120"/>
                <p:cNvSpPr/>
                <p:nvPr/>
              </p:nvSpPr>
              <p:spPr>
                <a:xfrm>
                  <a:off x="5841206" y="264477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FFFFFF"/>
                  </a:solidFill>
                </a:ln>
              </p:spPr>
            </p:sp>
            <p:sp>
              <p:nvSpPr>
                <p:cNvPr id="121" name="Freeform 121"/>
                <p:cNvSpPr/>
                <p:nvPr/>
              </p:nvSpPr>
              <p:spPr>
                <a:xfrm>
                  <a:off x="5779293" y="260350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FFFFFF"/>
                  </a:solidFill>
                </a:ln>
              </p:spPr>
            </p:sp>
            <p:sp>
              <p:nvSpPr>
                <p:cNvPr id="122" name="Freeform 122"/>
                <p:cNvSpPr/>
                <p:nvPr/>
              </p:nvSpPr>
              <p:spPr>
                <a:xfrm>
                  <a:off x="5727700" y="2768599"/>
                  <a:ext cx="144462" cy="9525"/>
                </a:xfrm>
                <a:custGeom>
                  <a:avLst/>
                  <a:gdLst/>
                  <a:ahLst/>
                  <a:cxnLst/>
                  <a:rect l="l" t="t" r="r" b="b"/>
                  <a:pathLst>
                    <a:path w="144462" h="9525">
                      <a:moveTo>
                        <a:pt x="0" y="0"/>
                      </a:moveTo>
                      <a:lnTo>
                        <a:pt x="144462" y="0"/>
                      </a:lnTo>
                    </a:path>
                  </a:pathLst>
                </a:custGeom>
                <a:noFill/>
                <a:ln w="20637">
                  <a:solidFill>
                    <a:srgbClr val="FFFFFF"/>
                  </a:solidFill>
                </a:ln>
              </p:spPr>
            </p:sp>
          </p:grpSp>
          <p:sp>
            <p:nvSpPr>
              <p:cNvPr id="124" name="TextBox 124"/>
              <p:cNvSpPr txBox="1"/>
              <p:nvPr/>
            </p:nvSpPr>
            <p:spPr>
              <a:xfrm>
                <a:off x="6147435" y="243125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模型监测</a:t>
                </a:r>
              </a:p>
            </p:txBody>
          </p:sp>
          <p:sp>
            <p:nvSpPr>
              <p:cNvPr id="125" name="TextBox 125"/>
              <p:cNvSpPr txBox="1"/>
              <p:nvPr/>
            </p:nvSpPr>
            <p:spPr>
              <a:xfrm>
                <a:off x="6148388" y="2673191"/>
                <a:ext cx="738505" cy="333375"/>
              </a:xfrm>
              <a:prstGeom prst="rect">
                <a:avLst/>
              </a:prstGeom>
              <a:noFill/>
              <a:ln>
                <a:noFill/>
              </a:ln>
            </p:spPr>
            <p:txBody>
              <a:bodyPr wrap="none" lIns="0" tIns="0" rIns="0" bIns="0" anchor="t" anchorCtr="0">
                <a:spAutoFit/>
              </a:bodyPr>
              <a:lstStyle/>
              <a:p>
                <a:pPr algn="l">
                  <a:lnSpc>
                    <a:spcPts val="1350"/>
                  </a:lnSpc>
                </a:pPr>
                <a:r>
                  <a:rPr lang="zh-CN" sz="820" dirty="0">
                    <a:solidFill>
                      <a:srgbClr val="7E605A"/>
                    </a:solidFill>
                    <a:latin typeface="+mn-lt"/>
                    <a:ea typeface="+mn-ea"/>
                    <a:cs typeface="+mn-cs"/>
                  </a:rPr>
                  <a:t>模型评分与预警</a:t>
                </a:r>
                <a:br/>
                <a:r>
                  <a:rPr lang="zh-CN" sz="820" dirty="0">
                    <a:solidFill>
                      <a:srgbClr val="7E605A"/>
                    </a:solidFill>
                    <a:latin typeface="+mn-lt"/>
                    <a:ea typeface="+mn-ea"/>
                    <a:cs typeface="+mn-cs"/>
                  </a:rPr>
                  <a:t>动态风险监测</a:t>
                </a:r>
              </a:p>
            </p:txBody>
          </p:sp>
        </p:grpSp>
        <p:grpSp>
          <p:nvGrpSpPr>
            <p:cNvPr id="135" name="risk-3"/>
            <p:cNvGrpSpPr/>
            <p:nvPr/>
          </p:nvGrpSpPr>
          <p:grpSpPr>
            <a:xfrm>
              <a:off x="5505450" y="3257550"/>
              <a:ext cx="2114550" cy="914400"/>
              <a:chOff x="5505450" y="3257550"/>
              <a:chExt cx="2114550" cy="914400"/>
            </a:xfrm>
          </p:grpSpPr>
          <p:sp>
            <p:nvSpPr>
              <p:cNvPr id="127" name="Rectangle 127"/>
              <p:cNvSpPr/>
              <p:nvPr/>
            </p:nvSpPr>
            <p:spPr>
              <a:xfrm>
                <a:off x="5505450" y="3257550"/>
                <a:ext cx="2114550" cy="914400"/>
              </a:xfrm>
              <a:prstGeom prst="roundRect">
                <a:avLst>
                  <a:gd name="adj" fmla="val 8333"/>
                </a:avLst>
              </a:prstGeom>
              <a:solidFill>
                <a:srgbClr val="EFF5FD"/>
              </a:solidFill>
              <a:ln>
                <a:noFill/>
              </a:ln>
            </p:spPr>
          </p:sp>
          <p:sp>
            <p:nvSpPr>
              <p:cNvPr id="128" name="Ellipse 128"/>
              <p:cNvSpPr/>
              <p:nvPr/>
            </p:nvSpPr>
            <p:spPr>
              <a:xfrm>
                <a:off x="5581650" y="3486150"/>
                <a:ext cx="457200" cy="457200"/>
              </a:xfrm>
              <a:prstGeom prst="ellipse">
                <a:avLst/>
              </a:prstGeom>
              <a:solidFill>
                <a:srgbClr val="841600"/>
              </a:solidFill>
              <a:ln>
                <a:noFill/>
              </a:ln>
            </p:spPr>
          </p:sp>
          <p:grpSp>
            <p:nvGrpSpPr>
              <p:cNvPr id="132" name="Group 132"/>
              <p:cNvGrpSpPr/>
              <p:nvPr/>
            </p:nvGrpSpPr>
            <p:grpSpPr>
              <a:xfrm>
                <a:off x="5706184" y="3618453"/>
                <a:ext cx="208123" cy="178805"/>
                <a:chOff x="5706184" y="3618453"/>
                <a:chExt cx="208123" cy="178805"/>
              </a:xfrm>
            </p:grpSpPr>
            <p:sp>
              <p:nvSpPr>
                <p:cNvPr id="129" name="Freeform 129"/>
                <p:cNvSpPr/>
                <p:nvPr/>
              </p:nvSpPr>
              <p:spPr>
                <a:xfrm>
                  <a:off x="5810250" y="3683793"/>
                  <a:ext cx="9525" cy="41275"/>
                </a:xfrm>
                <a:custGeom>
                  <a:avLst/>
                  <a:gdLst/>
                  <a:ahLst/>
                  <a:cxnLst/>
                  <a:rect l="l" t="t" r="r" b="b"/>
                  <a:pathLst>
                    <a:path w="9525" h="41275">
                      <a:moveTo>
                        <a:pt x="0" y="0"/>
                      </a:moveTo>
                      <a:lnTo>
                        <a:pt x="0" y="41275"/>
                      </a:lnTo>
                    </a:path>
                  </a:pathLst>
                </a:custGeom>
                <a:noFill/>
                <a:ln w="20637">
                  <a:solidFill>
                    <a:srgbClr val="FFFFFF"/>
                  </a:solidFill>
                </a:ln>
              </p:spPr>
            </p:sp>
            <p:sp>
              <p:nvSpPr>
                <p:cNvPr id="130" name="Freeform 130"/>
                <p:cNvSpPr/>
                <p:nvPr/>
              </p:nvSpPr>
              <p:spPr>
                <a:xfrm>
                  <a:off x="5706184" y="3618453"/>
                  <a:ext cx="208123" cy="178805"/>
                </a:xfrm>
                <a:custGeom>
                  <a:avLst/>
                  <a:gdLst/>
                  <a:ahLst/>
                  <a:cxnLst/>
                  <a:rect l="l" t="t" r="r" b="b"/>
                  <a:pathLst>
                    <a:path w="208123" h="178805">
                      <a:moveTo>
                        <a:pt x="87174" y="9526"/>
                      </a:moveTo>
                      <a:lnTo>
                        <a:pt x="3530" y="149180"/>
                      </a:lnTo>
                      <a:cubicBezTo>
                        <a:pt x="21" y="155256"/>
                        <a:pt x="0" y="162738"/>
                        <a:pt x="3474" y="168834"/>
                      </a:cubicBezTo>
                      <a:cubicBezTo>
                        <a:pt x="6948" y="174931"/>
                        <a:pt x="13395" y="178726"/>
                        <a:pt x="20412" y="178805"/>
                      </a:cubicBezTo>
                      <a:lnTo>
                        <a:pt x="187719" y="178805"/>
                      </a:lnTo>
                      <a:cubicBezTo>
                        <a:pt x="194732" y="178724"/>
                        <a:pt x="201176" y="174930"/>
                        <a:pt x="204650" y="168837"/>
                      </a:cubicBezTo>
                      <a:cubicBezTo>
                        <a:pt x="208123" y="162744"/>
                        <a:pt x="208104" y="155266"/>
                        <a:pt x="204601" y="149190"/>
                      </a:cubicBezTo>
                      <a:lnTo>
                        <a:pt x="120957" y="9516"/>
                      </a:lnTo>
                      <a:cubicBezTo>
                        <a:pt x="117378" y="3609"/>
                        <a:pt x="110973" y="0"/>
                        <a:pt x="104065" y="0"/>
                      </a:cubicBezTo>
                      <a:cubicBezTo>
                        <a:pt x="97158" y="0"/>
                        <a:pt x="90753" y="3609"/>
                        <a:pt x="87174" y="9516"/>
                      </a:cubicBezTo>
                    </a:path>
                  </a:pathLst>
                </a:custGeom>
                <a:noFill/>
                <a:ln w="20637">
                  <a:solidFill>
                    <a:srgbClr val="FFFFFF"/>
                  </a:solidFill>
                </a:ln>
              </p:spPr>
            </p:sp>
            <p:sp>
              <p:nvSpPr>
                <p:cNvPr id="131" name="Freeform 131"/>
                <p:cNvSpPr/>
                <p:nvPr/>
              </p:nvSpPr>
              <p:spPr>
                <a:xfrm>
                  <a:off x="5810250" y="3756024"/>
                  <a:ext cx="9525" cy="9525"/>
                </a:xfrm>
                <a:custGeom>
                  <a:avLst/>
                  <a:gdLst/>
                  <a:ahLst/>
                  <a:cxnLst/>
                  <a:rect l="l" t="t" r="r" b="b"/>
                  <a:pathLst>
                    <a:path w="9525" h="9525">
                      <a:moveTo>
                        <a:pt x="0" y="0"/>
                      </a:moveTo>
                      <a:lnTo>
                        <a:pt x="103" y="0"/>
                      </a:lnTo>
                    </a:path>
                  </a:pathLst>
                </a:custGeom>
                <a:noFill/>
                <a:ln w="20637">
                  <a:solidFill>
                    <a:srgbClr val="FFFFFF"/>
                  </a:solidFill>
                </a:ln>
              </p:spPr>
            </p:sp>
          </p:grpSp>
          <p:sp>
            <p:nvSpPr>
              <p:cNvPr id="133" name="TextBox 133"/>
              <p:cNvSpPr txBox="1"/>
              <p:nvPr/>
            </p:nvSpPr>
            <p:spPr>
              <a:xfrm>
                <a:off x="6147435" y="345995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贷后预警</a:t>
                </a:r>
              </a:p>
            </p:txBody>
          </p:sp>
          <p:sp>
            <p:nvSpPr>
              <p:cNvPr id="134" name="TextBox 134"/>
              <p:cNvSpPr txBox="1"/>
              <p:nvPr/>
            </p:nvSpPr>
            <p:spPr>
              <a:xfrm>
                <a:off x="6148388" y="3701891"/>
                <a:ext cx="634365" cy="333375"/>
              </a:xfrm>
              <a:prstGeom prst="rect">
                <a:avLst/>
              </a:prstGeom>
              <a:noFill/>
              <a:ln>
                <a:noFill/>
              </a:ln>
            </p:spPr>
            <p:txBody>
              <a:bodyPr wrap="none" lIns="0" tIns="0" rIns="0" bIns="0" anchor="t" anchorCtr="0">
                <a:spAutoFit/>
              </a:bodyPr>
              <a:lstStyle/>
              <a:p>
                <a:pPr algn="l">
                  <a:lnSpc>
                    <a:spcPts val="1350"/>
                  </a:lnSpc>
                </a:pPr>
                <a:r>
                  <a:rPr lang="zh-CN" sz="820" dirty="0">
                    <a:solidFill>
                      <a:srgbClr val="7E605A"/>
                    </a:solidFill>
                    <a:latin typeface="+mn-lt"/>
                    <a:ea typeface="+mn-ea"/>
                    <a:cs typeface="+mn-cs"/>
                  </a:rPr>
                  <a:t>风险信号识别</a:t>
                </a:r>
                <a:br/>
                <a:r>
                  <a:rPr lang="zh-CN" sz="820" dirty="0">
                    <a:solidFill>
                      <a:srgbClr val="7E605A"/>
                    </a:solidFill>
                    <a:latin typeface="+mn-lt"/>
                    <a:ea typeface="+mn-ea"/>
                    <a:cs typeface="+mn-cs"/>
                  </a:rPr>
                  <a:t>分级预警处置</a:t>
                </a:r>
              </a:p>
            </p:txBody>
          </p:sp>
        </p:grpSp>
      </p:grpSp>
      <p:grpSp>
        <p:nvGrpSpPr>
          <p:cNvPr id="178" name="pricing-matrix"/>
          <p:cNvGrpSpPr/>
          <p:nvPr/>
        </p:nvGrpSpPr>
        <p:grpSpPr>
          <a:xfrm>
            <a:off x="7836586" y="704850"/>
            <a:ext cx="4088714" cy="3581400"/>
            <a:chOff x="7836586" y="704850"/>
            <a:chExt cx="4088714" cy="3581400"/>
          </a:xfrm>
        </p:grpSpPr>
        <p:sp>
          <p:nvSpPr>
            <p:cNvPr id="137" name="Rectangle 137"/>
            <p:cNvSpPr/>
            <p:nvPr/>
          </p:nvSpPr>
          <p:spPr>
            <a:xfrm>
              <a:off x="7867650" y="704850"/>
              <a:ext cx="4057650" cy="3581400"/>
            </a:xfrm>
            <a:prstGeom prst="roundRect">
              <a:avLst>
                <a:gd name="adj" fmla="val 2660"/>
              </a:avLst>
            </a:prstGeom>
            <a:solidFill>
              <a:srgbClr val="FFFFFF"/>
            </a:solidFill>
            <a:ln w="9525">
              <a:solidFill>
                <a:srgbClr val="D7E2F2"/>
              </a:solidFill>
            </a:ln>
          </p:spPr>
        </p:sp>
        <p:sp>
          <p:nvSpPr>
            <p:cNvPr id="138" name="Rectangle 138"/>
            <p:cNvSpPr/>
            <p:nvPr/>
          </p:nvSpPr>
          <p:spPr>
            <a:xfrm>
              <a:off x="7867650" y="704850"/>
              <a:ext cx="4057650" cy="381000"/>
            </a:xfrm>
            <a:prstGeom prst="roundRect">
              <a:avLst>
                <a:gd name="adj" fmla="val 25000"/>
              </a:avLst>
            </a:prstGeom>
            <a:solidFill>
              <a:srgbClr val="841600"/>
            </a:solidFill>
            <a:ln>
              <a:noFill/>
            </a:ln>
          </p:spPr>
        </p:sp>
        <p:sp>
          <p:nvSpPr>
            <p:cNvPr id="139" name="Rectangle 139"/>
            <p:cNvSpPr/>
            <p:nvPr/>
          </p:nvSpPr>
          <p:spPr>
            <a:xfrm>
              <a:off x="7867650" y="914400"/>
              <a:ext cx="4057650" cy="171450"/>
            </a:xfrm>
            <a:prstGeom prst="rect">
              <a:avLst/>
            </a:prstGeom>
            <a:solidFill>
              <a:srgbClr val="841600"/>
            </a:solidFill>
            <a:ln>
              <a:noFill/>
            </a:ln>
          </p:spPr>
        </p:sp>
        <p:sp>
          <p:nvSpPr>
            <p:cNvPr id="140" name="TextBox 140"/>
            <p:cNvSpPr txBox="1"/>
            <p:nvPr/>
          </p:nvSpPr>
          <p:spPr>
            <a:xfrm>
              <a:off x="9567291" y="832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定价矩阵</a:t>
              </a:r>
            </a:p>
          </p:txBody>
        </p:sp>
        <p:sp>
          <p:nvSpPr>
            <p:cNvPr id="141" name="TextBox 141"/>
            <p:cNvSpPr txBox="1"/>
            <p:nvPr/>
          </p:nvSpPr>
          <p:spPr>
            <a:xfrm>
              <a:off x="8055343" y="1225391"/>
              <a:ext cx="119913" cy="161925"/>
            </a:xfrm>
            <a:prstGeom prst="rect">
              <a:avLst/>
            </a:prstGeom>
            <a:noFill/>
            <a:ln>
              <a:noFill/>
            </a:ln>
          </p:spPr>
          <p:txBody>
            <a:bodyPr wrap="none" lIns="0" tIns="0" rIns="0" bIns="0" anchor="t" anchorCtr="0">
              <a:spAutoFit/>
            </a:bodyPr>
            <a:lstStyle/>
            <a:p>
              <a:pPr algn="ctr"/>
              <a:r>
                <a:rPr lang="zh-CN" sz="820" dirty="0">
                  <a:solidFill>
                    <a:srgbClr val="7E605A"/>
                  </a:solidFill>
                  <a:latin typeface="+mn-lt"/>
                  <a:ea typeface="+mn-ea"/>
                  <a:cs typeface="+mn-cs"/>
                </a:rPr>
                <a:t>高</a:t>
              </a:r>
            </a:p>
          </p:txBody>
        </p:sp>
        <p:sp>
          <p:nvSpPr>
            <p:cNvPr id="142" name="TextBox 142"/>
            <p:cNvSpPr txBox="1"/>
            <p:nvPr/>
          </p:nvSpPr>
          <p:spPr>
            <a:xfrm>
              <a:off x="8055343" y="3606641"/>
              <a:ext cx="119913" cy="161925"/>
            </a:xfrm>
            <a:prstGeom prst="rect">
              <a:avLst/>
            </a:prstGeom>
            <a:noFill/>
            <a:ln>
              <a:noFill/>
            </a:ln>
          </p:spPr>
          <p:txBody>
            <a:bodyPr wrap="none" lIns="0" tIns="0" rIns="0" bIns="0" anchor="t" anchorCtr="0">
              <a:spAutoFit/>
            </a:bodyPr>
            <a:lstStyle/>
            <a:p>
              <a:pPr algn="ctr"/>
              <a:r>
                <a:rPr lang="zh-CN" sz="820" dirty="0">
                  <a:solidFill>
                    <a:srgbClr val="7E605A"/>
                  </a:solidFill>
                  <a:latin typeface="+mn-lt"/>
                  <a:ea typeface="+mn-ea"/>
                  <a:cs typeface="+mn-cs"/>
                </a:rPr>
                <a:t>低</a:t>
              </a:r>
            </a:p>
          </p:txBody>
        </p:sp>
        <p:sp>
          <p:nvSpPr>
            <p:cNvPr id="143" name="TextBox 143"/>
            <p:cNvSpPr txBox="1"/>
            <p:nvPr/>
          </p:nvSpPr>
          <p:spPr>
            <a:xfrm rot="-5400000">
              <a:off x="7836586" y="2400205"/>
              <a:ext cx="537616"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客户价值</a:t>
              </a:r>
            </a:p>
          </p:txBody>
        </p:sp>
        <p:sp>
          <p:nvSpPr>
            <p:cNvPr id="144" name="Line 144"/>
            <p:cNvSpPr/>
            <p:nvPr/>
          </p:nvSpPr>
          <p:spPr>
            <a:xfrm>
              <a:off x="8248650" y="1219200"/>
              <a:ext cx="9525" cy="2552700"/>
            </a:xfrm>
            <a:custGeom>
              <a:avLst/>
              <a:gdLst/>
              <a:ahLst/>
              <a:cxnLst/>
              <a:rect l="l" t="t" r="r" b="b"/>
              <a:pathLst>
                <a:path w="9525" h="2552700">
                  <a:moveTo>
                    <a:pt x="0" y="0"/>
                  </a:moveTo>
                  <a:lnTo>
                    <a:pt x="0" y="2552700"/>
                  </a:lnTo>
                </a:path>
              </a:pathLst>
            </a:custGeom>
            <a:noFill/>
            <a:ln w="14288">
              <a:solidFill>
                <a:srgbClr val="ECC1B8"/>
              </a:solidFill>
            </a:ln>
          </p:spPr>
        </p:sp>
        <p:sp>
          <p:nvSpPr>
            <p:cNvPr id="145" name="Line 145"/>
            <p:cNvSpPr/>
            <p:nvPr/>
          </p:nvSpPr>
          <p:spPr>
            <a:xfrm>
              <a:off x="8248650" y="3771900"/>
              <a:ext cx="3562350" cy="9525"/>
            </a:xfrm>
            <a:custGeom>
              <a:avLst/>
              <a:gdLst/>
              <a:ahLst/>
              <a:cxnLst/>
              <a:rect l="l" t="t" r="r" b="b"/>
              <a:pathLst>
                <a:path w="3562350" h="9525">
                  <a:moveTo>
                    <a:pt x="0" y="0"/>
                  </a:moveTo>
                  <a:lnTo>
                    <a:pt x="3562350" y="0"/>
                  </a:lnTo>
                </a:path>
              </a:pathLst>
            </a:custGeom>
            <a:noFill/>
            <a:ln w="14288">
              <a:solidFill>
                <a:srgbClr val="ECC1B8"/>
              </a:solidFill>
            </a:ln>
          </p:spPr>
        </p:sp>
        <p:sp>
          <p:nvSpPr>
            <p:cNvPr id="146" name="TextBox 146"/>
            <p:cNvSpPr txBox="1"/>
            <p:nvPr/>
          </p:nvSpPr>
          <p:spPr>
            <a:xfrm>
              <a:off x="8377238" y="3854291"/>
              <a:ext cx="119913"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低</a:t>
              </a:r>
            </a:p>
          </p:txBody>
        </p:sp>
        <p:sp>
          <p:nvSpPr>
            <p:cNvPr id="147" name="TextBox 147"/>
            <p:cNvSpPr txBox="1"/>
            <p:nvPr/>
          </p:nvSpPr>
          <p:spPr>
            <a:xfrm>
              <a:off x="11619649" y="3854291"/>
              <a:ext cx="119913" cy="161925"/>
            </a:xfrm>
            <a:prstGeom prst="rect">
              <a:avLst/>
            </a:prstGeom>
            <a:noFill/>
            <a:ln>
              <a:noFill/>
            </a:ln>
          </p:spPr>
          <p:txBody>
            <a:bodyPr wrap="none" lIns="0" tIns="0" rIns="0" bIns="0" anchor="t" anchorCtr="0">
              <a:spAutoFit/>
            </a:bodyPr>
            <a:lstStyle/>
            <a:p>
              <a:pPr algn="r"/>
              <a:r>
                <a:rPr lang="zh-CN" sz="820" dirty="0">
                  <a:solidFill>
                    <a:srgbClr val="7E605A"/>
                  </a:solidFill>
                  <a:latin typeface="+mn-lt"/>
                  <a:ea typeface="+mn-ea"/>
                  <a:cs typeface="+mn-cs"/>
                </a:rPr>
                <a:t>高</a:t>
              </a:r>
            </a:p>
          </p:txBody>
        </p:sp>
        <p:sp>
          <p:nvSpPr>
            <p:cNvPr id="148" name="TextBox 148"/>
            <p:cNvSpPr txBox="1"/>
            <p:nvPr/>
          </p:nvSpPr>
          <p:spPr>
            <a:xfrm>
              <a:off x="9761017" y="3857149"/>
              <a:ext cx="537616"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风险水平</a:t>
              </a:r>
            </a:p>
          </p:txBody>
        </p:sp>
        <p:grpSp>
          <p:nvGrpSpPr>
            <p:cNvPr id="155" name="quad-premium"/>
            <p:cNvGrpSpPr/>
            <p:nvPr/>
          </p:nvGrpSpPr>
          <p:grpSpPr>
            <a:xfrm>
              <a:off x="8305800" y="1219200"/>
              <a:ext cx="1714500" cy="1238250"/>
              <a:chOff x="8305800" y="1219200"/>
              <a:chExt cx="1714500" cy="1238250"/>
            </a:xfrm>
          </p:grpSpPr>
          <p:sp>
            <p:nvSpPr>
              <p:cNvPr id="149" name="Rectangle 149"/>
              <p:cNvSpPr/>
              <p:nvPr/>
            </p:nvSpPr>
            <p:spPr>
              <a:xfrm>
                <a:off x="8305800" y="1219200"/>
                <a:ext cx="1714500" cy="1238250"/>
              </a:xfrm>
              <a:prstGeom prst="roundRect">
                <a:avLst>
                  <a:gd name="adj" fmla="val 4615"/>
                </a:avLst>
              </a:prstGeom>
              <a:solidFill>
                <a:srgbClr val="EAF1FB"/>
              </a:solidFill>
              <a:ln>
                <a:noFill/>
              </a:ln>
            </p:spPr>
          </p:sp>
          <p:grpSp>
            <p:nvGrpSpPr>
              <p:cNvPr id="152" name="Group 152"/>
              <p:cNvGrpSpPr/>
              <p:nvPr/>
            </p:nvGrpSpPr>
            <p:grpSpPr>
              <a:xfrm>
                <a:off x="9070181" y="1385094"/>
                <a:ext cx="185737" cy="151789"/>
                <a:chOff x="9070181" y="1385094"/>
                <a:chExt cx="185737" cy="151789"/>
              </a:xfrm>
            </p:grpSpPr>
            <p:sp>
              <p:nvSpPr>
                <p:cNvPr id="150" name="Freeform 150"/>
                <p:cNvSpPr/>
                <p:nvPr/>
              </p:nvSpPr>
              <p:spPr>
                <a:xfrm>
                  <a:off x="9070181" y="1385094"/>
                  <a:ext cx="185737" cy="151789"/>
                </a:xfrm>
                <a:custGeom>
                  <a:avLst/>
                  <a:gdLst/>
                  <a:ahLst/>
                  <a:cxnLst/>
                  <a:rect l="l" t="t" r="r" b="b"/>
                  <a:pathLst>
                    <a:path w="185737" h="151789">
                      <a:moveTo>
                        <a:pt x="30956" y="0"/>
                      </a:moveTo>
                      <a:lnTo>
                        <a:pt x="154781" y="0"/>
                      </a:lnTo>
                      <a:lnTo>
                        <a:pt x="185737" y="51594"/>
                      </a:lnTo>
                      <a:lnTo>
                        <a:pt x="98028" y="149621"/>
                      </a:lnTo>
                      <a:cubicBezTo>
                        <a:pt x="96669" y="151008"/>
                        <a:pt x="94810" y="151789"/>
                        <a:pt x="92868" y="151789"/>
                      </a:cubicBezTo>
                      <a:cubicBezTo>
                        <a:pt x="90927" y="151789"/>
                        <a:pt x="89068" y="151008"/>
                        <a:pt x="87709" y="149621"/>
                      </a:cubicBezTo>
                      <a:lnTo>
                        <a:pt x="0" y="51594"/>
                      </a:lnTo>
                      <a:lnTo>
                        <a:pt x="30956" y="0"/>
                      </a:lnTo>
                    </a:path>
                  </a:pathLst>
                </a:custGeom>
                <a:noFill/>
                <a:ln w="15478">
                  <a:solidFill>
                    <a:srgbClr val="841600"/>
                  </a:solidFill>
                </a:ln>
              </p:spPr>
            </p:sp>
            <p:sp>
              <p:nvSpPr>
                <p:cNvPr id="151" name="Freeform 151"/>
                <p:cNvSpPr/>
                <p:nvPr/>
              </p:nvSpPr>
              <p:spPr>
                <a:xfrm>
                  <a:off x="9121775" y="1424305"/>
                  <a:ext cx="20637" cy="33020"/>
                </a:xfrm>
                <a:custGeom>
                  <a:avLst/>
                  <a:gdLst/>
                  <a:ahLst/>
                  <a:cxnLst/>
                  <a:rect l="l" t="t" r="r" b="b"/>
                  <a:pathLst>
                    <a:path w="20637" h="33020">
                      <a:moveTo>
                        <a:pt x="20637" y="33020"/>
                      </a:moveTo>
                      <a:lnTo>
                        <a:pt x="0" y="10319"/>
                      </a:lnTo>
                      <a:lnTo>
                        <a:pt x="6191" y="0"/>
                      </a:lnTo>
                    </a:path>
                  </a:pathLst>
                </a:custGeom>
                <a:noFill/>
                <a:ln w="15478">
                  <a:solidFill>
                    <a:srgbClr val="841600"/>
                  </a:solidFill>
                </a:ln>
              </p:spPr>
            </p:sp>
          </p:grpSp>
          <p:sp>
            <p:nvSpPr>
              <p:cNvPr id="153" name="TextBox 153"/>
              <p:cNvSpPr txBox="1"/>
              <p:nvPr/>
            </p:nvSpPr>
            <p:spPr>
              <a:xfrm>
                <a:off x="8855786" y="1707356"/>
                <a:ext cx="614528"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优质低价</a:t>
                </a:r>
              </a:p>
            </p:txBody>
          </p:sp>
          <p:sp>
            <p:nvSpPr>
              <p:cNvPr id="154" name="TextBox 154"/>
              <p:cNvSpPr txBox="1"/>
              <p:nvPr/>
            </p:nvSpPr>
            <p:spPr>
              <a:xfrm>
                <a:off x="8907462" y="1953339"/>
                <a:ext cx="511175" cy="307181"/>
              </a:xfrm>
              <a:prstGeom prst="rect">
                <a:avLst/>
              </a:prstGeom>
              <a:noFill/>
              <a:ln>
                <a:noFill/>
              </a:ln>
            </p:spPr>
            <p:txBody>
              <a:bodyPr wrap="none" lIns="0" tIns="0" rIns="0" bIns="0" anchor="t" anchorCtr="0">
                <a:spAutoFit/>
              </a:bodyPr>
              <a:lstStyle/>
              <a:p>
                <a:pPr algn="ctr">
                  <a:lnSpc>
                    <a:spcPts val="1200"/>
                  </a:lnSpc>
                </a:pPr>
                <a:r>
                  <a:rPr lang="zh-CN" sz="790" dirty="0">
                    <a:solidFill>
                      <a:srgbClr val="7E605A"/>
                    </a:solidFill>
                    <a:latin typeface="+mn-lt"/>
                    <a:ea typeface="+mn-ea"/>
                    <a:cs typeface="+mn-cs"/>
                  </a:rPr>
                  <a:t>优质客户，</a:t>
                </a:r>
                <a:br/>
                <a:r>
                  <a:rPr lang="zh-CN" sz="790" dirty="0">
                    <a:solidFill>
                      <a:srgbClr val="7E605A"/>
                    </a:solidFill>
                    <a:latin typeface="+mn-lt"/>
                    <a:ea typeface="+mn-ea"/>
                    <a:cs typeface="+mn-cs"/>
                  </a:rPr>
                  <a:t>给予优惠价</a:t>
                </a:r>
              </a:p>
            </p:txBody>
          </p:sp>
        </p:grpSp>
        <p:grpSp>
          <p:nvGrpSpPr>
            <p:cNvPr id="163" name="quad-standard"/>
            <p:cNvGrpSpPr/>
            <p:nvPr/>
          </p:nvGrpSpPr>
          <p:grpSpPr>
            <a:xfrm>
              <a:off x="10077450" y="1219200"/>
              <a:ext cx="1714500" cy="1238250"/>
              <a:chOff x="10077450" y="1219200"/>
              <a:chExt cx="1714500" cy="1238250"/>
            </a:xfrm>
          </p:grpSpPr>
          <p:sp>
            <p:nvSpPr>
              <p:cNvPr id="156" name="Rectangle 156"/>
              <p:cNvSpPr/>
              <p:nvPr/>
            </p:nvSpPr>
            <p:spPr>
              <a:xfrm>
                <a:off x="10077450" y="1219200"/>
                <a:ext cx="1714500" cy="1238250"/>
              </a:xfrm>
              <a:prstGeom prst="roundRect">
                <a:avLst>
                  <a:gd name="adj" fmla="val 4615"/>
                </a:avLst>
              </a:prstGeom>
              <a:solidFill>
                <a:srgbClr val="EAF1FB"/>
              </a:solidFill>
              <a:ln>
                <a:noFill/>
              </a:ln>
            </p:spPr>
          </p:sp>
          <p:grpSp>
            <p:nvGrpSpPr>
              <p:cNvPr id="160" name="Group 160"/>
              <p:cNvGrpSpPr/>
              <p:nvPr/>
            </p:nvGrpSpPr>
            <p:grpSpPr>
              <a:xfrm>
                <a:off x="10841831" y="1364456"/>
                <a:ext cx="185737" cy="185737"/>
                <a:chOff x="10841831" y="1364456"/>
                <a:chExt cx="185737" cy="185737"/>
              </a:xfrm>
            </p:grpSpPr>
            <p:sp>
              <p:nvSpPr>
                <p:cNvPr id="157" name="Freeform 157"/>
                <p:cNvSpPr/>
                <p:nvPr/>
              </p:nvSpPr>
              <p:spPr>
                <a:xfrm>
                  <a:off x="10924381" y="144700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15478">
                  <a:solidFill>
                    <a:srgbClr val="841600"/>
                  </a:solidFill>
                </a:ln>
              </p:spPr>
            </p:sp>
            <p:sp>
              <p:nvSpPr>
                <p:cNvPr id="158" name="Freeform 158"/>
                <p:cNvSpPr/>
                <p:nvPr/>
              </p:nvSpPr>
              <p:spPr>
                <a:xfrm>
                  <a:off x="10883106" y="140573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15478">
                  <a:solidFill>
                    <a:srgbClr val="841600"/>
                  </a:solidFill>
                </a:ln>
              </p:spPr>
            </p:sp>
            <p:sp>
              <p:nvSpPr>
                <p:cNvPr id="159" name="Freeform 159"/>
                <p:cNvSpPr/>
                <p:nvPr/>
              </p:nvSpPr>
              <p:spPr>
                <a:xfrm>
                  <a:off x="10841831" y="13644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15478">
                  <a:solidFill>
                    <a:srgbClr val="841600"/>
                  </a:solidFill>
                </a:ln>
              </p:spPr>
            </p:sp>
          </p:grpSp>
          <p:sp>
            <p:nvSpPr>
              <p:cNvPr id="161" name="TextBox 161"/>
              <p:cNvSpPr txBox="1"/>
              <p:nvPr/>
            </p:nvSpPr>
            <p:spPr>
              <a:xfrm>
                <a:off x="10627436" y="1707356"/>
                <a:ext cx="614528"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标准定价</a:t>
                </a:r>
              </a:p>
            </p:txBody>
          </p:sp>
          <p:sp>
            <p:nvSpPr>
              <p:cNvPr id="162" name="TextBox 162"/>
              <p:cNvSpPr txBox="1"/>
              <p:nvPr/>
            </p:nvSpPr>
            <p:spPr>
              <a:xfrm>
                <a:off x="10528617" y="1953339"/>
                <a:ext cx="812165" cy="307181"/>
              </a:xfrm>
              <a:prstGeom prst="rect">
                <a:avLst/>
              </a:prstGeom>
              <a:noFill/>
              <a:ln>
                <a:noFill/>
              </a:ln>
            </p:spPr>
            <p:txBody>
              <a:bodyPr wrap="none" lIns="0" tIns="0" rIns="0" bIns="0" anchor="t" anchorCtr="0">
                <a:spAutoFit/>
              </a:bodyPr>
              <a:lstStyle/>
              <a:p>
                <a:pPr algn="ctr">
                  <a:lnSpc>
                    <a:spcPts val="1200"/>
                  </a:lnSpc>
                </a:pPr>
                <a:r>
                  <a:rPr lang="zh-CN" sz="790" dirty="0">
                    <a:solidFill>
                      <a:srgbClr val="7E605A"/>
                    </a:solidFill>
                    <a:latin typeface="+mn-lt"/>
                    <a:ea typeface="+mn-ea"/>
                    <a:cs typeface="+mn-cs"/>
                  </a:rPr>
                  <a:t>标准客户，</a:t>
                </a:r>
                <a:br/>
                <a:r>
                  <a:rPr lang="zh-CN" sz="790" dirty="0">
                    <a:solidFill>
                      <a:srgbClr val="7E605A"/>
                    </a:solidFill>
                    <a:latin typeface="+mn-lt"/>
                    <a:ea typeface="+mn-ea"/>
                    <a:cs typeface="+mn-cs"/>
                  </a:rPr>
                  <a:t>合理定价覆盖成本</a:t>
                </a:r>
              </a:p>
            </p:txBody>
          </p:sp>
        </p:grpSp>
        <p:grpSp>
          <p:nvGrpSpPr>
            <p:cNvPr id="170" name="quad-markup"/>
            <p:cNvGrpSpPr/>
            <p:nvPr/>
          </p:nvGrpSpPr>
          <p:grpSpPr>
            <a:xfrm>
              <a:off x="8305800" y="2495550"/>
              <a:ext cx="1714500" cy="1238250"/>
              <a:chOff x="8305800" y="2495550"/>
              <a:chExt cx="1714500" cy="1238250"/>
            </a:xfrm>
          </p:grpSpPr>
          <p:sp>
            <p:nvSpPr>
              <p:cNvPr id="164" name="Rectangle 164"/>
              <p:cNvSpPr/>
              <p:nvPr/>
            </p:nvSpPr>
            <p:spPr>
              <a:xfrm>
                <a:off x="8305800" y="2495550"/>
                <a:ext cx="1714500" cy="1238250"/>
              </a:xfrm>
              <a:prstGeom prst="roundRect">
                <a:avLst>
                  <a:gd name="adj" fmla="val 4615"/>
                </a:avLst>
              </a:prstGeom>
              <a:solidFill>
                <a:srgbClr val="FDEBD7"/>
              </a:solidFill>
              <a:ln>
                <a:noFill/>
              </a:ln>
            </p:spPr>
          </p:sp>
          <p:grpSp>
            <p:nvGrpSpPr>
              <p:cNvPr id="167" name="Group 167"/>
              <p:cNvGrpSpPr/>
              <p:nvPr/>
            </p:nvGrpSpPr>
            <p:grpSpPr>
              <a:xfrm>
                <a:off x="9056256" y="2640806"/>
                <a:ext cx="201506" cy="185737"/>
                <a:chOff x="9056256" y="2640806"/>
                <a:chExt cx="201506" cy="185737"/>
              </a:xfrm>
            </p:grpSpPr>
            <p:sp>
              <p:nvSpPr>
                <p:cNvPr id="165" name="Freeform 165"/>
                <p:cNvSpPr/>
                <p:nvPr/>
              </p:nvSpPr>
              <p:spPr>
                <a:xfrm>
                  <a:off x="9056256" y="264080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15478">
                  <a:solidFill>
                    <a:srgbClr val="C2290F"/>
                  </a:solidFill>
                </a:ln>
              </p:spPr>
            </p:sp>
            <p:sp>
              <p:nvSpPr>
                <p:cNvPr id="166" name="Freeform 166"/>
                <p:cNvSpPr/>
                <p:nvPr/>
              </p:nvSpPr>
              <p:spPr>
                <a:xfrm>
                  <a:off x="9194006" y="2785268"/>
                  <a:ext cx="61912" cy="41275"/>
                </a:xfrm>
                <a:custGeom>
                  <a:avLst/>
                  <a:gdLst/>
                  <a:ahLst/>
                  <a:cxnLst/>
                  <a:rect l="l" t="t" r="r" b="b"/>
                  <a:pathLst>
                    <a:path w="61912" h="41275">
                      <a:moveTo>
                        <a:pt x="0" y="20637"/>
                      </a:moveTo>
                      <a:lnTo>
                        <a:pt x="20637" y="41275"/>
                      </a:lnTo>
                      <a:lnTo>
                        <a:pt x="61912" y="0"/>
                      </a:lnTo>
                    </a:path>
                  </a:pathLst>
                </a:custGeom>
                <a:noFill/>
                <a:ln w="15478">
                  <a:solidFill>
                    <a:srgbClr val="C2290F"/>
                  </a:solidFill>
                </a:ln>
              </p:spPr>
            </p:sp>
          </p:grpSp>
          <p:sp>
            <p:nvSpPr>
              <p:cNvPr id="168" name="TextBox 168"/>
              <p:cNvSpPr txBox="1"/>
              <p:nvPr/>
            </p:nvSpPr>
            <p:spPr>
              <a:xfrm>
                <a:off x="8855786" y="2983706"/>
                <a:ext cx="614528" cy="220028"/>
              </a:xfrm>
              <a:prstGeom prst="rect">
                <a:avLst/>
              </a:prstGeom>
              <a:noFill/>
              <a:ln>
                <a:noFill/>
              </a:ln>
            </p:spPr>
            <p:txBody>
              <a:bodyPr wrap="none" lIns="0" tIns="0" rIns="0" bIns="0" anchor="t" anchorCtr="0">
                <a:spAutoFit/>
              </a:bodyPr>
              <a:lstStyle/>
              <a:p>
                <a:pPr algn="ctr"/>
                <a:r>
                  <a:rPr lang="zh-CN" sz="1120" b="1" dirty="0">
                    <a:solidFill>
                      <a:srgbClr val="C2290F"/>
                    </a:solidFill>
                    <a:latin typeface="+mn-lt"/>
                    <a:ea typeface="+mn-ea"/>
                    <a:cs typeface="+mn-cs"/>
                  </a:rPr>
                  <a:t>风险加点</a:t>
                </a:r>
              </a:p>
            </p:txBody>
          </p:sp>
          <p:sp>
            <p:nvSpPr>
              <p:cNvPr id="169" name="TextBox 169"/>
              <p:cNvSpPr txBox="1"/>
              <p:nvPr/>
            </p:nvSpPr>
            <p:spPr>
              <a:xfrm>
                <a:off x="8756968" y="3229689"/>
                <a:ext cx="812165" cy="307181"/>
              </a:xfrm>
              <a:prstGeom prst="rect">
                <a:avLst/>
              </a:prstGeom>
              <a:noFill/>
              <a:ln>
                <a:noFill/>
              </a:ln>
            </p:spPr>
            <p:txBody>
              <a:bodyPr wrap="none" lIns="0" tIns="0" rIns="0" bIns="0" anchor="t" anchorCtr="0">
                <a:spAutoFit/>
              </a:bodyPr>
              <a:lstStyle/>
              <a:p>
                <a:pPr algn="ctr">
                  <a:lnSpc>
                    <a:spcPts val="1200"/>
                  </a:lnSpc>
                </a:pPr>
                <a:r>
                  <a:rPr lang="zh-CN" sz="790" dirty="0">
                    <a:solidFill>
                      <a:srgbClr val="7E605A"/>
                    </a:solidFill>
                    <a:latin typeface="+mn-lt"/>
                    <a:ea typeface="+mn-ea"/>
                    <a:cs typeface="+mn-cs"/>
                  </a:rPr>
                  <a:t>风险较高客户，</a:t>
                </a:r>
                <a:br/>
                <a:r>
                  <a:rPr lang="zh-CN" sz="790" dirty="0">
                    <a:solidFill>
                      <a:srgbClr val="7E605A"/>
                    </a:solidFill>
                    <a:latin typeface="+mn-lt"/>
                    <a:ea typeface="+mn-ea"/>
                    <a:cs typeface="+mn-cs"/>
                  </a:rPr>
                  <a:t>适度加点覆盖风险</a:t>
                </a:r>
              </a:p>
            </p:txBody>
          </p:sp>
        </p:grpSp>
        <p:grpSp>
          <p:nvGrpSpPr>
            <p:cNvPr id="177" name="quad-exit"/>
            <p:cNvGrpSpPr/>
            <p:nvPr/>
          </p:nvGrpSpPr>
          <p:grpSpPr>
            <a:xfrm>
              <a:off x="10077450" y="2495550"/>
              <a:ext cx="1714500" cy="1238250"/>
              <a:chOff x="10077450" y="2495550"/>
              <a:chExt cx="1714500" cy="1238250"/>
            </a:xfrm>
          </p:grpSpPr>
          <p:sp>
            <p:nvSpPr>
              <p:cNvPr id="171" name="Rectangle 171"/>
              <p:cNvSpPr/>
              <p:nvPr/>
            </p:nvSpPr>
            <p:spPr>
              <a:xfrm>
                <a:off x="10077450" y="2495550"/>
                <a:ext cx="1714500" cy="1238250"/>
              </a:xfrm>
              <a:prstGeom prst="roundRect">
                <a:avLst>
                  <a:gd name="adj" fmla="val 4615"/>
                </a:avLst>
              </a:prstGeom>
              <a:solidFill>
                <a:srgbClr val="FDEBD7"/>
              </a:solidFill>
              <a:ln>
                <a:noFill/>
              </a:ln>
            </p:spPr>
          </p:sp>
          <p:grpSp>
            <p:nvGrpSpPr>
              <p:cNvPr id="174" name="Group 174"/>
              <p:cNvGrpSpPr/>
              <p:nvPr/>
            </p:nvGrpSpPr>
            <p:grpSpPr>
              <a:xfrm>
                <a:off x="10841831" y="2640806"/>
                <a:ext cx="185737" cy="185737"/>
                <a:chOff x="10841831" y="2640806"/>
                <a:chExt cx="185737" cy="185737"/>
              </a:xfrm>
            </p:grpSpPr>
            <p:sp>
              <p:nvSpPr>
                <p:cNvPr id="172" name="Freeform 172"/>
                <p:cNvSpPr/>
                <p:nvPr/>
              </p:nvSpPr>
              <p:spPr>
                <a:xfrm>
                  <a:off x="10841831" y="26408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15478">
                  <a:solidFill>
                    <a:srgbClr val="C2290F"/>
                  </a:solidFill>
                </a:ln>
              </p:spPr>
            </p:sp>
            <p:sp>
              <p:nvSpPr>
                <p:cNvPr id="173" name="Freeform 173"/>
                <p:cNvSpPr/>
                <p:nvPr/>
              </p:nvSpPr>
              <p:spPr>
                <a:xfrm>
                  <a:off x="10914062" y="2713037"/>
                  <a:ext cx="41275" cy="41275"/>
                </a:xfrm>
                <a:custGeom>
                  <a:avLst/>
                  <a:gdLst/>
                  <a:ahLst/>
                  <a:cxnLst/>
                  <a:rect l="l" t="t" r="r" b="b"/>
                  <a:pathLst>
                    <a:path w="41275" h="41275">
                      <a:moveTo>
                        <a:pt x="0" y="0"/>
                      </a:moveTo>
                      <a:lnTo>
                        <a:pt x="41275" y="41275"/>
                      </a:lnTo>
                      <a:moveTo>
                        <a:pt x="41275" y="0"/>
                      </a:moveTo>
                      <a:lnTo>
                        <a:pt x="0" y="41275"/>
                      </a:lnTo>
                    </a:path>
                  </a:pathLst>
                </a:custGeom>
                <a:noFill/>
                <a:ln w="15478">
                  <a:solidFill>
                    <a:srgbClr val="C2290F"/>
                  </a:solidFill>
                </a:ln>
              </p:spPr>
            </p:sp>
          </p:grpSp>
          <p:sp>
            <p:nvSpPr>
              <p:cNvPr id="175" name="TextBox 175"/>
              <p:cNvSpPr txBox="1"/>
              <p:nvPr/>
            </p:nvSpPr>
            <p:spPr>
              <a:xfrm>
                <a:off x="10627436" y="2983706"/>
                <a:ext cx="614528" cy="220028"/>
              </a:xfrm>
              <a:prstGeom prst="rect">
                <a:avLst/>
              </a:prstGeom>
              <a:noFill/>
              <a:ln>
                <a:noFill/>
              </a:ln>
            </p:spPr>
            <p:txBody>
              <a:bodyPr wrap="none" lIns="0" tIns="0" rIns="0" bIns="0" anchor="t" anchorCtr="0">
                <a:spAutoFit/>
              </a:bodyPr>
              <a:lstStyle/>
              <a:p>
                <a:pPr algn="ctr"/>
                <a:r>
                  <a:rPr lang="zh-CN" sz="1120" b="1" dirty="0">
                    <a:solidFill>
                      <a:srgbClr val="C2290F"/>
                    </a:solidFill>
                    <a:latin typeface="+mn-lt"/>
                    <a:ea typeface="+mn-ea"/>
                    <a:cs typeface="+mn-cs"/>
                  </a:rPr>
                  <a:t>审慎退出</a:t>
                </a:r>
              </a:p>
            </p:txBody>
          </p:sp>
          <p:sp>
            <p:nvSpPr>
              <p:cNvPr id="176" name="TextBox 176"/>
              <p:cNvSpPr txBox="1"/>
              <p:nvPr/>
            </p:nvSpPr>
            <p:spPr>
              <a:xfrm>
                <a:off x="10478452" y="3229689"/>
                <a:ext cx="912495" cy="307181"/>
              </a:xfrm>
              <a:prstGeom prst="rect">
                <a:avLst/>
              </a:prstGeom>
              <a:noFill/>
              <a:ln>
                <a:noFill/>
              </a:ln>
            </p:spPr>
            <p:txBody>
              <a:bodyPr wrap="none" lIns="0" tIns="0" rIns="0" bIns="0" anchor="t" anchorCtr="0">
                <a:spAutoFit/>
              </a:bodyPr>
              <a:lstStyle/>
              <a:p>
                <a:pPr algn="ctr">
                  <a:lnSpc>
                    <a:spcPts val="1200"/>
                  </a:lnSpc>
                </a:pPr>
                <a:r>
                  <a:rPr lang="zh-CN" sz="790" dirty="0">
                    <a:solidFill>
                      <a:srgbClr val="7E605A"/>
                    </a:solidFill>
                    <a:latin typeface="+mn-lt"/>
                    <a:ea typeface="+mn-ea"/>
                    <a:cs typeface="+mn-cs"/>
                  </a:rPr>
                  <a:t>高风险低价值客户，</a:t>
                </a:r>
                <a:br/>
                <a:r>
                  <a:rPr lang="zh-CN" sz="790" dirty="0">
                    <a:solidFill>
                      <a:srgbClr val="7E605A"/>
                    </a:solidFill>
                    <a:latin typeface="+mn-lt"/>
                    <a:ea typeface="+mn-ea"/>
                    <a:cs typeface="+mn-cs"/>
                  </a:rPr>
                  <a:t>逐步压降退出</a:t>
                </a:r>
              </a:p>
            </p:txBody>
          </p:sp>
        </p:grpSp>
      </p:grpSp>
      <p:grpSp>
        <p:nvGrpSpPr>
          <p:cNvPr id="214" name="segments-band"/>
          <p:cNvGrpSpPr/>
          <p:nvPr/>
        </p:nvGrpSpPr>
        <p:grpSpPr>
          <a:xfrm>
            <a:off x="266700" y="4381500"/>
            <a:ext cx="11658600" cy="628650"/>
            <a:chOff x="266700" y="4381500"/>
            <a:chExt cx="11658600" cy="628650"/>
          </a:xfrm>
        </p:grpSpPr>
        <p:sp>
          <p:nvSpPr>
            <p:cNvPr id="179" name="Rectangle 179"/>
            <p:cNvSpPr/>
            <p:nvPr/>
          </p:nvSpPr>
          <p:spPr>
            <a:xfrm>
              <a:off x="266700" y="4381500"/>
              <a:ext cx="876300" cy="628650"/>
            </a:xfrm>
            <a:prstGeom prst="roundRect">
              <a:avLst>
                <a:gd name="adj" fmla="val 12121"/>
              </a:avLst>
            </a:prstGeom>
            <a:solidFill>
              <a:srgbClr val="841600"/>
            </a:solidFill>
            <a:ln>
              <a:noFill/>
            </a:ln>
          </p:spPr>
        </p:sp>
        <p:sp>
          <p:nvSpPr>
            <p:cNvPr id="180" name="TextBox 180"/>
            <p:cNvSpPr txBox="1"/>
            <p:nvPr/>
          </p:nvSpPr>
          <p:spPr>
            <a:xfrm>
              <a:off x="556895" y="4507706"/>
              <a:ext cx="295910" cy="429578"/>
            </a:xfrm>
            <a:prstGeom prst="rect">
              <a:avLst/>
            </a:prstGeom>
            <a:noFill/>
            <a:ln>
              <a:noFill/>
            </a:ln>
          </p:spPr>
          <p:txBody>
            <a:bodyPr wrap="none" lIns="0" tIns="0" rIns="0" bIns="0" anchor="t" anchorCtr="0">
              <a:spAutoFit/>
            </a:bodyPr>
            <a:lstStyle/>
            <a:p>
              <a:pPr algn="ctr">
                <a:lnSpc>
                  <a:spcPts val="1650"/>
                </a:lnSpc>
              </a:pPr>
              <a:r>
                <a:rPr lang="zh-CN" sz="1120" b="1" dirty="0">
                  <a:solidFill>
                    <a:srgbClr val="FFFFFF"/>
                  </a:solidFill>
                  <a:latin typeface="+mn-lt"/>
                  <a:ea typeface="+mn-ea"/>
                  <a:cs typeface="+mn-cs"/>
                </a:rPr>
                <a:t>五类</a:t>
              </a:r>
              <a:br/>
              <a:r>
                <a:rPr lang="zh-CN" sz="1120" b="1" dirty="0">
                  <a:solidFill>
                    <a:srgbClr val="FFFFFF"/>
                  </a:solidFill>
                  <a:latin typeface="+mn-lt"/>
                  <a:ea typeface="+mn-ea"/>
                  <a:cs typeface="+mn-cs"/>
                </a:rPr>
                <a:t>客群</a:t>
              </a:r>
            </a:p>
          </p:txBody>
        </p:sp>
        <p:sp>
          <p:nvSpPr>
            <p:cNvPr id="181" name="Rectangle 181"/>
            <p:cNvSpPr/>
            <p:nvPr/>
          </p:nvSpPr>
          <p:spPr>
            <a:xfrm>
              <a:off x="1143000" y="4381500"/>
              <a:ext cx="10782300" cy="628650"/>
            </a:xfrm>
            <a:prstGeom prst="roundRect">
              <a:avLst>
                <a:gd name="adj" fmla="val 12121"/>
              </a:avLst>
            </a:prstGeom>
            <a:solidFill>
              <a:srgbClr val="FFFFFF"/>
            </a:solidFill>
            <a:ln w="9525">
              <a:solidFill>
                <a:srgbClr val="D7E2F2"/>
              </a:solidFill>
            </a:ln>
          </p:spPr>
        </p:sp>
        <p:sp>
          <p:nvSpPr>
            <p:cNvPr id="182" name="Line 182"/>
            <p:cNvSpPr/>
            <p:nvPr/>
          </p:nvSpPr>
          <p:spPr>
            <a:xfrm>
              <a:off x="3295650" y="4514850"/>
              <a:ext cx="9525" cy="361950"/>
            </a:xfrm>
            <a:custGeom>
              <a:avLst/>
              <a:gdLst/>
              <a:ahLst/>
              <a:cxnLst/>
              <a:rect l="l" t="t" r="r" b="b"/>
              <a:pathLst>
                <a:path w="9525" h="361950">
                  <a:moveTo>
                    <a:pt x="0" y="0"/>
                  </a:moveTo>
                  <a:lnTo>
                    <a:pt x="0" y="361950"/>
                  </a:lnTo>
                </a:path>
              </a:pathLst>
            </a:custGeom>
            <a:noFill/>
            <a:ln w="9525">
              <a:solidFill>
                <a:srgbClr val="D7E2F2"/>
              </a:solidFill>
            </a:ln>
          </p:spPr>
        </p:sp>
        <p:sp>
          <p:nvSpPr>
            <p:cNvPr id="183" name="Line 183"/>
            <p:cNvSpPr/>
            <p:nvPr/>
          </p:nvSpPr>
          <p:spPr>
            <a:xfrm>
              <a:off x="5448300" y="4514850"/>
              <a:ext cx="9525" cy="361950"/>
            </a:xfrm>
            <a:custGeom>
              <a:avLst/>
              <a:gdLst/>
              <a:ahLst/>
              <a:cxnLst/>
              <a:rect l="l" t="t" r="r" b="b"/>
              <a:pathLst>
                <a:path w="9525" h="361950">
                  <a:moveTo>
                    <a:pt x="0" y="0"/>
                  </a:moveTo>
                  <a:lnTo>
                    <a:pt x="0" y="361950"/>
                  </a:lnTo>
                </a:path>
              </a:pathLst>
            </a:custGeom>
            <a:noFill/>
            <a:ln w="9525">
              <a:solidFill>
                <a:srgbClr val="D7E2F2"/>
              </a:solidFill>
            </a:ln>
          </p:spPr>
        </p:sp>
        <p:sp>
          <p:nvSpPr>
            <p:cNvPr id="184" name="Line 184"/>
            <p:cNvSpPr/>
            <p:nvPr/>
          </p:nvSpPr>
          <p:spPr>
            <a:xfrm>
              <a:off x="7600950" y="4514850"/>
              <a:ext cx="9525" cy="361950"/>
            </a:xfrm>
            <a:custGeom>
              <a:avLst/>
              <a:gdLst/>
              <a:ahLst/>
              <a:cxnLst/>
              <a:rect l="l" t="t" r="r" b="b"/>
              <a:pathLst>
                <a:path w="9525" h="361950">
                  <a:moveTo>
                    <a:pt x="0" y="0"/>
                  </a:moveTo>
                  <a:lnTo>
                    <a:pt x="0" y="361950"/>
                  </a:lnTo>
                </a:path>
              </a:pathLst>
            </a:custGeom>
            <a:noFill/>
            <a:ln w="9525">
              <a:solidFill>
                <a:srgbClr val="D7E2F2"/>
              </a:solidFill>
            </a:ln>
          </p:spPr>
        </p:sp>
        <p:sp>
          <p:nvSpPr>
            <p:cNvPr id="185" name="Line 185"/>
            <p:cNvSpPr/>
            <p:nvPr/>
          </p:nvSpPr>
          <p:spPr>
            <a:xfrm>
              <a:off x="9753600" y="4514850"/>
              <a:ext cx="9525" cy="361950"/>
            </a:xfrm>
            <a:custGeom>
              <a:avLst/>
              <a:gdLst/>
              <a:ahLst/>
              <a:cxnLst/>
              <a:rect l="l" t="t" r="r" b="b"/>
              <a:pathLst>
                <a:path w="9525" h="361950">
                  <a:moveTo>
                    <a:pt x="0" y="0"/>
                  </a:moveTo>
                  <a:lnTo>
                    <a:pt x="0" y="361950"/>
                  </a:lnTo>
                </a:path>
              </a:pathLst>
            </a:custGeom>
            <a:noFill/>
            <a:ln w="9525">
              <a:solidFill>
                <a:srgbClr val="D7E2F2"/>
              </a:solidFill>
            </a:ln>
          </p:spPr>
        </p:sp>
        <p:grpSp>
          <p:nvGrpSpPr>
            <p:cNvPr id="190" name="Group 190"/>
            <p:cNvGrpSpPr/>
            <p:nvPr/>
          </p:nvGrpSpPr>
          <p:grpSpPr>
            <a:xfrm>
              <a:off x="1559719" y="4588669"/>
              <a:ext cx="214313" cy="214313"/>
              <a:chOff x="1559719" y="4588669"/>
              <a:chExt cx="214313" cy="214313"/>
            </a:xfrm>
          </p:grpSpPr>
          <p:sp>
            <p:nvSpPr>
              <p:cNvPr id="186" name="Freeform 186"/>
              <p:cNvSpPr/>
              <p:nvPr/>
            </p:nvSpPr>
            <p:spPr>
              <a:xfrm>
                <a:off x="1583531" y="458866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7859">
                <a:solidFill>
                  <a:srgbClr val="841600"/>
                </a:solidFill>
              </a:ln>
            </p:spPr>
          </p:sp>
          <p:sp>
            <p:nvSpPr>
              <p:cNvPr id="187" name="Freeform 187"/>
              <p:cNvSpPr/>
              <p:nvPr/>
            </p:nvSpPr>
            <p:spPr>
              <a:xfrm>
                <a:off x="1559719" y="4731544"/>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17859">
                <a:solidFill>
                  <a:srgbClr val="841600"/>
                </a:solidFill>
              </a:ln>
            </p:spPr>
          </p:sp>
          <p:sp>
            <p:nvSpPr>
              <p:cNvPr id="188" name="Freeform 188"/>
              <p:cNvSpPr/>
              <p:nvPr/>
            </p:nvSpPr>
            <p:spPr>
              <a:xfrm>
                <a:off x="1714500" y="4590217"/>
                <a:ext cx="35812" cy="92273"/>
              </a:xfrm>
              <a:custGeom>
                <a:avLst/>
                <a:gdLst/>
                <a:ahLst/>
                <a:cxnLst/>
                <a:rect l="l" t="t" r="r" b="b"/>
                <a:pathLst>
                  <a:path w="35812" h="92273">
                    <a:moveTo>
                      <a:pt x="0" y="0"/>
                    </a:moveTo>
                    <a:cubicBezTo>
                      <a:pt x="21073" y="5396"/>
                      <a:pt x="35812" y="24384"/>
                      <a:pt x="35812" y="46137"/>
                    </a:cubicBezTo>
                    <a:cubicBezTo>
                      <a:pt x="35812" y="67890"/>
                      <a:pt x="21073" y="86878"/>
                      <a:pt x="0" y="92273"/>
                    </a:cubicBezTo>
                  </a:path>
                </a:pathLst>
              </a:custGeom>
              <a:noFill/>
              <a:ln w="17859">
                <a:solidFill>
                  <a:srgbClr val="841600"/>
                </a:solidFill>
              </a:ln>
            </p:spPr>
          </p:sp>
          <p:sp>
            <p:nvSpPr>
              <p:cNvPr id="189" name="Freeform 189"/>
              <p:cNvSpPr/>
              <p:nvPr/>
            </p:nvSpPr>
            <p:spPr>
              <a:xfrm>
                <a:off x="1738313" y="4733330"/>
                <a:ext cx="35719" cy="69652"/>
              </a:xfrm>
              <a:custGeom>
                <a:avLst/>
                <a:gdLst/>
                <a:ahLst/>
                <a:cxnLst/>
                <a:rect l="l" t="t" r="r" b="b"/>
                <a:pathLst>
                  <a:path w="35719" h="69652">
                    <a:moveTo>
                      <a:pt x="35719" y="69652"/>
                    </a:moveTo>
                    <a:lnTo>
                      <a:pt x="35719" y="45839"/>
                    </a:lnTo>
                    <a:cubicBezTo>
                      <a:pt x="35594" y="24224"/>
                      <a:pt x="20929" y="5403"/>
                      <a:pt x="0" y="0"/>
                    </a:cubicBezTo>
                  </a:path>
                </a:pathLst>
              </a:custGeom>
              <a:noFill/>
              <a:ln w="17859">
                <a:solidFill>
                  <a:srgbClr val="841600"/>
                </a:solidFill>
              </a:ln>
            </p:spPr>
          </p:sp>
        </p:grpSp>
        <p:sp>
          <p:nvSpPr>
            <p:cNvPr id="191" name="TextBox 191"/>
            <p:cNvSpPr txBox="1"/>
            <p:nvPr/>
          </p:nvSpPr>
          <p:spPr>
            <a:xfrm>
              <a:off x="1937385" y="4631531"/>
              <a:ext cx="312979"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小微</a:t>
              </a:r>
            </a:p>
          </p:txBody>
        </p:sp>
        <p:grpSp>
          <p:nvGrpSpPr>
            <p:cNvPr id="197" name="Group 197"/>
            <p:cNvGrpSpPr/>
            <p:nvPr/>
          </p:nvGrpSpPr>
          <p:grpSpPr>
            <a:xfrm>
              <a:off x="3712369" y="4588669"/>
              <a:ext cx="214312" cy="223837"/>
              <a:chOff x="3712369" y="4588669"/>
              <a:chExt cx="214312" cy="223837"/>
            </a:xfrm>
          </p:grpSpPr>
          <p:sp>
            <p:nvSpPr>
              <p:cNvPr id="192" name="Freeform 192"/>
              <p:cNvSpPr/>
              <p:nvPr/>
            </p:nvSpPr>
            <p:spPr>
              <a:xfrm>
                <a:off x="3712369" y="4802981"/>
                <a:ext cx="214312" cy="9525"/>
              </a:xfrm>
              <a:custGeom>
                <a:avLst/>
                <a:gdLst/>
                <a:ahLst/>
                <a:cxnLst/>
                <a:rect l="l" t="t" r="r" b="b"/>
                <a:pathLst>
                  <a:path w="214312" h="9525">
                    <a:moveTo>
                      <a:pt x="0" y="0"/>
                    </a:moveTo>
                    <a:lnTo>
                      <a:pt x="214312" y="0"/>
                    </a:lnTo>
                  </a:path>
                </a:pathLst>
              </a:custGeom>
              <a:noFill/>
              <a:ln w="17859">
                <a:solidFill>
                  <a:srgbClr val="841600"/>
                </a:solidFill>
              </a:ln>
            </p:spPr>
          </p:sp>
          <p:sp>
            <p:nvSpPr>
              <p:cNvPr id="193" name="Freeform 193"/>
              <p:cNvSpPr/>
              <p:nvPr/>
            </p:nvSpPr>
            <p:spPr>
              <a:xfrm>
                <a:off x="3712369" y="4588669"/>
                <a:ext cx="214312" cy="95250"/>
              </a:xfrm>
              <a:custGeom>
                <a:avLst/>
                <a:gdLst/>
                <a:ahLst/>
                <a:cxnLst/>
                <a:rect l="l" t="t" r="r" b="b"/>
                <a:pathLst>
                  <a:path w="214312" h="95250">
                    <a:moveTo>
                      <a:pt x="0" y="47625"/>
                    </a:moveTo>
                    <a:lnTo>
                      <a:pt x="0" y="59531"/>
                    </a:lnTo>
                    <a:cubicBezTo>
                      <a:pt x="0" y="79258"/>
                      <a:pt x="15992" y="95250"/>
                      <a:pt x="35719" y="95250"/>
                    </a:cubicBezTo>
                    <a:cubicBezTo>
                      <a:pt x="55446" y="95250"/>
                      <a:pt x="71438" y="79258"/>
                      <a:pt x="71438" y="59531"/>
                    </a:cubicBezTo>
                    <a:lnTo>
                      <a:pt x="71438" y="47625"/>
                    </a:lnTo>
                    <a:moveTo>
                      <a:pt x="71438" y="59531"/>
                    </a:moveTo>
                    <a:cubicBezTo>
                      <a:pt x="71438" y="79258"/>
                      <a:pt x="87429" y="95250"/>
                      <a:pt x="107156" y="95250"/>
                    </a:cubicBezTo>
                    <a:cubicBezTo>
                      <a:pt x="126883" y="95250"/>
                      <a:pt x="142875" y="79258"/>
                      <a:pt x="142875" y="59531"/>
                    </a:cubicBezTo>
                    <a:lnTo>
                      <a:pt x="142875" y="47625"/>
                    </a:lnTo>
                    <a:moveTo>
                      <a:pt x="142875" y="59531"/>
                    </a:moveTo>
                    <a:cubicBezTo>
                      <a:pt x="142875" y="79258"/>
                      <a:pt x="158867" y="95250"/>
                      <a:pt x="178594" y="95250"/>
                    </a:cubicBezTo>
                    <a:cubicBezTo>
                      <a:pt x="198321" y="95250"/>
                      <a:pt x="214312" y="79258"/>
                      <a:pt x="214312" y="59531"/>
                    </a:cubicBezTo>
                    <a:lnTo>
                      <a:pt x="214312" y="47625"/>
                    </a:lnTo>
                    <a:lnTo>
                      <a:pt x="0" y="47625"/>
                    </a:lnTo>
                    <a:lnTo>
                      <a:pt x="23812" y="0"/>
                    </a:lnTo>
                    <a:lnTo>
                      <a:pt x="190500" y="0"/>
                    </a:lnTo>
                    <a:lnTo>
                      <a:pt x="214312" y="47625"/>
                    </a:lnTo>
                  </a:path>
                </a:pathLst>
              </a:custGeom>
              <a:noFill/>
              <a:ln w="17859">
                <a:solidFill>
                  <a:srgbClr val="841600"/>
                </a:solidFill>
              </a:ln>
            </p:spPr>
          </p:sp>
          <p:sp>
            <p:nvSpPr>
              <p:cNvPr id="194" name="Freeform 194"/>
              <p:cNvSpPr/>
              <p:nvPr/>
            </p:nvSpPr>
            <p:spPr>
              <a:xfrm>
                <a:off x="3736181" y="4682133"/>
                <a:ext cx="9525" cy="120848"/>
              </a:xfrm>
              <a:custGeom>
                <a:avLst/>
                <a:gdLst/>
                <a:ahLst/>
                <a:cxnLst/>
                <a:rect l="l" t="t" r="r" b="b"/>
                <a:pathLst>
                  <a:path w="9525" h="120848">
                    <a:moveTo>
                      <a:pt x="0" y="120848"/>
                    </a:moveTo>
                    <a:lnTo>
                      <a:pt x="0" y="0"/>
                    </a:lnTo>
                  </a:path>
                </a:pathLst>
              </a:custGeom>
              <a:noFill/>
              <a:ln w="17859">
                <a:solidFill>
                  <a:srgbClr val="841600"/>
                </a:solidFill>
              </a:ln>
            </p:spPr>
          </p:sp>
          <p:sp>
            <p:nvSpPr>
              <p:cNvPr id="195" name="Freeform 195"/>
              <p:cNvSpPr/>
              <p:nvPr/>
            </p:nvSpPr>
            <p:spPr>
              <a:xfrm>
                <a:off x="3902869" y="4682133"/>
                <a:ext cx="9525" cy="120848"/>
              </a:xfrm>
              <a:custGeom>
                <a:avLst/>
                <a:gdLst/>
                <a:ahLst/>
                <a:cxnLst/>
                <a:rect l="l" t="t" r="r" b="b"/>
                <a:pathLst>
                  <a:path w="9525" h="120848">
                    <a:moveTo>
                      <a:pt x="0" y="120848"/>
                    </a:moveTo>
                    <a:lnTo>
                      <a:pt x="0" y="0"/>
                    </a:lnTo>
                  </a:path>
                </a:pathLst>
              </a:custGeom>
              <a:noFill/>
              <a:ln w="17859">
                <a:solidFill>
                  <a:srgbClr val="841600"/>
                </a:solidFill>
              </a:ln>
            </p:spPr>
          </p:sp>
          <p:sp>
            <p:nvSpPr>
              <p:cNvPr id="196" name="Freeform 196"/>
              <p:cNvSpPr/>
              <p:nvPr/>
            </p:nvSpPr>
            <p:spPr>
              <a:xfrm>
                <a:off x="3783806" y="4731544"/>
                <a:ext cx="71438" cy="71438"/>
              </a:xfrm>
              <a:custGeom>
                <a:avLst/>
                <a:gdLst/>
                <a:ahLst/>
                <a:cxnLst/>
                <a:rect l="l" t="t" r="r" b="b"/>
                <a:pathLst>
                  <a:path w="71438" h="71438">
                    <a:moveTo>
                      <a:pt x="0" y="71438"/>
                    </a:moveTo>
                    <a:lnTo>
                      <a:pt x="0" y="23812"/>
                    </a:lnTo>
                    <a:cubicBezTo>
                      <a:pt x="0" y="10661"/>
                      <a:pt x="10661" y="0"/>
                      <a:pt x="23812" y="0"/>
                    </a:cubicBezTo>
                    <a:lnTo>
                      <a:pt x="47625" y="0"/>
                    </a:lnTo>
                    <a:cubicBezTo>
                      <a:pt x="60776" y="0"/>
                      <a:pt x="71438" y="10661"/>
                      <a:pt x="71438" y="23812"/>
                    </a:cubicBezTo>
                    <a:lnTo>
                      <a:pt x="71438" y="71438"/>
                    </a:lnTo>
                  </a:path>
                </a:pathLst>
              </a:custGeom>
              <a:noFill/>
              <a:ln w="17859">
                <a:solidFill>
                  <a:srgbClr val="841600"/>
                </a:solidFill>
              </a:ln>
            </p:spPr>
          </p:sp>
        </p:grpSp>
        <p:sp>
          <p:nvSpPr>
            <p:cNvPr id="198" name="TextBox 198"/>
            <p:cNvSpPr txBox="1"/>
            <p:nvPr/>
          </p:nvSpPr>
          <p:spPr>
            <a:xfrm>
              <a:off x="4090035" y="4631531"/>
              <a:ext cx="765302"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个体工商户</a:t>
              </a:r>
            </a:p>
          </p:txBody>
        </p:sp>
        <p:grpSp>
          <p:nvGrpSpPr>
            <p:cNvPr id="202" name="Group 202"/>
            <p:cNvGrpSpPr/>
            <p:nvPr/>
          </p:nvGrpSpPr>
          <p:grpSpPr>
            <a:xfrm>
              <a:off x="5865019" y="4588669"/>
              <a:ext cx="214312" cy="214312"/>
              <a:chOff x="5865019" y="4588669"/>
              <a:chExt cx="214312" cy="214312"/>
            </a:xfrm>
          </p:grpSpPr>
          <p:sp>
            <p:nvSpPr>
              <p:cNvPr id="199" name="Freeform 199"/>
              <p:cNvSpPr/>
              <p:nvPr/>
            </p:nvSpPr>
            <p:spPr>
              <a:xfrm>
                <a:off x="5865019" y="4588669"/>
                <a:ext cx="214312" cy="107156"/>
              </a:xfrm>
              <a:custGeom>
                <a:avLst/>
                <a:gdLst/>
                <a:ahLst/>
                <a:cxnLst/>
                <a:rect l="l" t="t" r="r" b="b"/>
                <a:pathLst>
                  <a:path w="214312" h="107156">
                    <a:moveTo>
                      <a:pt x="23812" y="107156"/>
                    </a:moveTo>
                    <a:lnTo>
                      <a:pt x="0" y="107156"/>
                    </a:lnTo>
                    <a:lnTo>
                      <a:pt x="107156" y="0"/>
                    </a:lnTo>
                    <a:lnTo>
                      <a:pt x="214312" y="107156"/>
                    </a:lnTo>
                    <a:lnTo>
                      <a:pt x="190500" y="107156"/>
                    </a:lnTo>
                  </a:path>
                </a:pathLst>
              </a:custGeom>
              <a:noFill/>
              <a:ln w="17859">
                <a:solidFill>
                  <a:srgbClr val="841600"/>
                </a:solidFill>
              </a:ln>
            </p:spPr>
          </p:sp>
          <p:sp>
            <p:nvSpPr>
              <p:cNvPr id="200" name="Freeform 200"/>
              <p:cNvSpPr/>
              <p:nvPr/>
            </p:nvSpPr>
            <p:spPr>
              <a:xfrm>
                <a:off x="5888831" y="4695825"/>
                <a:ext cx="166688" cy="107156"/>
              </a:xfrm>
              <a:custGeom>
                <a:avLst/>
                <a:gdLst/>
                <a:ahLst/>
                <a:cxnLst/>
                <a:rect l="l" t="t" r="r" b="b"/>
                <a:pathLst>
                  <a:path w="166688" h="107156">
                    <a:moveTo>
                      <a:pt x="0" y="0"/>
                    </a:moveTo>
                    <a:lnTo>
                      <a:pt x="0" y="83344"/>
                    </a:lnTo>
                    <a:cubicBezTo>
                      <a:pt x="0" y="96495"/>
                      <a:pt x="10661" y="107156"/>
                      <a:pt x="23812" y="107156"/>
                    </a:cubicBezTo>
                    <a:lnTo>
                      <a:pt x="142875" y="107156"/>
                    </a:lnTo>
                    <a:cubicBezTo>
                      <a:pt x="156026" y="107156"/>
                      <a:pt x="166688" y="96495"/>
                      <a:pt x="166688" y="83344"/>
                    </a:cubicBezTo>
                    <a:lnTo>
                      <a:pt x="166688" y="0"/>
                    </a:lnTo>
                  </a:path>
                </a:pathLst>
              </a:custGeom>
              <a:noFill/>
              <a:ln w="17859">
                <a:solidFill>
                  <a:srgbClr val="841600"/>
                </a:solidFill>
              </a:ln>
            </p:spPr>
          </p:sp>
          <p:sp>
            <p:nvSpPr>
              <p:cNvPr id="201" name="Freeform 201"/>
              <p:cNvSpPr/>
              <p:nvPr/>
            </p:nvSpPr>
            <p:spPr>
              <a:xfrm>
                <a:off x="5936456" y="4707731"/>
                <a:ext cx="71438" cy="95250"/>
              </a:xfrm>
              <a:custGeom>
                <a:avLst/>
                <a:gdLst/>
                <a:ahLst/>
                <a:cxnLst/>
                <a:rect l="l" t="t" r="r" b="b"/>
                <a:pathLst>
                  <a:path w="71438" h="95250">
                    <a:moveTo>
                      <a:pt x="0" y="95250"/>
                    </a:moveTo>
                    <a:lnTo>
                      <a:pt x="0" y="23812"/>
                    </a:lnTo>
                    <a:cubicBezTo>
                      <a:pt x="0" y="10661"/>
                      <a:pt x="10661" y="0"/>
                      <a:pt x="23812" y="0"/>
                    </a:cubicBezTo>
                    <a:lnTo>
                      <a:pt x="47625" y="0"/>
                    </a:lnTo>
                    <a:cubicBezTo>
                      <a:pt x="60776" y="0"/>
                      <a:pt x="71438" y="10661"/>
                      <a:pt x="71438" y="23812"/>
                    </a:cubicBezTo>
                    <a:lnTo>
                      <a:pt x="71438" y="95250"/>
                    </a:lnTo>
                  </a:path>
                </a:pathLst>
              </a:custGeom>
              <a:noFill/>
              <a:ln w="17859">
                <a:solidFill>
                  <a:srgbClr val="841600"/>
                </a:solidFill>
              </a:ln>
            </p:spPr>
          </p:sp>
        </p:grpSp>
        <p:sp>
          <p:nvSpPr>
            <p:cNvPr id="203" name="TextBox 203"/>
            <p:cNvSpPr txBox="1"/>
            <p:nvPr/>
          </p:nvSpPr>
          <p:spPr>
            <a:xfrm>
              <a:off x="6242685" y="4631531"/>
              <a:ext cx="312979"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涉农</a:t>
              </a:r>
            </a:p>
          </p:txBody>
        </p:sp>
        <p:grpSp>
          <p:nvGrpSpPr>
            <p:cNvPr id="207" name="Group 207"/>
            <p:cNvGrpSpPr/>
            <p:nvPr/>
          </p:nvGrpSpPr>
          <p:grpSpPr>
            <a:xfrm>
              <a:off x="8025814" y="4600575"/>
              <a:ext cx="194261" cy="194261"/>
              <a:chOff x="8025814" y="4600575"/>
              <a:chExt cx="194261" cy="194261"/>
            </a:xfrm>
          </p:grpSpPr>
          <p:sp>
            <p:nvSpPr>
              <p:cNvPr id="204" name="Freeform 204"/>
              <p:cNvSpPr/>
              <p:nvPr/>
            </p:nvSpPr>
            <p:spPr>
              <a:xfrm>
                <a:off x="8029575" y="4600575"/>
                <a:ext cx="190500" cy="190500"/>
              </a:xfrm>
              <a:custGeom>
                <a:avLst/>
                <a:gdLst/>
                <a:ahLst/>
                <a:cxnLst/>
                <a:rect l="l" t="t" r="r" b="b"/>
                <a:pathLst>
                  <a:path w="190500" h="190500">
                    <a:moveTo>
                      <a:pt x="0" y="107156"/>
                    </a:moveTo>
                    <a:cubicBezTo>
                      <a:pt x="43698" y="112349"/>
                      <a:pt x="78151" y="146802"/>
                      <a:pt x="83344" y="190500"/>
                    </a:cubicBezTo>
                    <a:cubicBezTo>
                      <a:pt x="104740" y="178165"/>
                      <a:pt x="118247" y="155653"/>
                      <a:pt x="119062" y="130969"/>
                    </a:cubicBezTo>
                    <a:cubicBezTo>
                      <a:pt x="159946" y="116587"/>
                      <a:pt x="188140" y="78994"/>
                      <a:pt x="190500" y="35719"/>
                    </a:cubicBezTo>
                    <a:cubicBezTo>
                      <a:pt x="190500" y="15992"/>
                      <a:pt x="174508" y="0"/>
                      <a:pt x="154781" y="0"/>
                    </a:cubicBezTo>
                    <a:cubicBezTo>
                      <a:pt x="111506" y="2360"/>
                      <a:pt x="73913" y="30554"/>
                      <a:pt x="59531" y="71438"/>
                    </a:cubicBezTo>
                    <a:cubicBezTo>
                      <a:pt x="34847" y="72253"/>
                      <a:pt x="12335" y="85760"/>
                      <a:pt x="0" y="107156"/>
                    </a:cubicBezTo>
                  </a:path>
                </a:pathLst>
              </a:custGeom>
              <a:noFill/>
              <a:ln w="17859">
                <a:solidFill>
                  <a:srgbClr val="841600"/>
                </a:solidFill>
              </a:ln>
            </p:spPr>
          </p:sp>
          <p:sp>
            <p:nvSpPr>
              <p:cNvPr id="205" name="Freeform 205"/>
              <p:cNvSpPr/>
              <p:nvPr/>
            </p:nvSpPr>
            <p:spPr>
              <a:xfrm>
                <a:off x="8025814" y="4719638"/>
                <a:ext cx="75198" cy="75198"/>
              </a:xfrm>
              <a:custGeom>
                <a:avLst/>
                <a:gdLst/>
                <a:ahLst/>
                <a:cxnLst/>
                <a:rect l="l" t="t" r="r" b="b"/>
                <a:pathLst>
                  <a:path w="75198" h="75198">
                    <a:moveTo>
                      <a:pt x="39479" y="0"/>
                    </a:moveTo>
                    <a:cubicBezTo>
                      <a:pt x="14130" y="14311"/>
                      <a:pt x="0" y="42572"/>
                      <a:pt x="3761" y="71438"/>
                    </a:cubicBezTo>
                    <a:cubicBezTo>
                      <a:pt x="32627" y="75198"/>
                      <a:pt x="60887" y="61068"/>
                      <a:pt x="75198" y="35719"/>
                    </a:cubicBezTo>
                  </a:path>
                </a:pathLst>
              </a:custGeom>
              <a:noFill/>
              <a:ln w="17859">
                <a:solidFill>
                  <a:srgbClr val="841600"/>
                </a:solidFill>
              </a:ln>
            </p:spPr>
          </p:sp>
          <p:sp>
            <p:nvSpPr>
              <p:cNvPr id="206" name="Freeform 206"/>
              <p:cNvSpPr/>
              <p:nvPr/>
            </p:nvSpPr>
            <p:spPr>
              <a:xfrm>
                <a:off x="8148638" y="4648200"/>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rgbClr val="841600"/>
                </a:solidFill>
              </a:ln>
            </p:spPr>
          </p:sp>
        </p:grpSp>
        <p:sp>
          <p:nvSpPr>
            <p:cNvPr id="208" name="TextBox 208"/>
            <p:cNvSpPr txBox="1"/>
            <p:nvPr/>
          </p:nvSpPr>
          <p:spPr>
            <a:xfrm>
              <a:off x="8395335" y="4631531"/>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科技企业</a:t>
              </a:r>
            </a:p>
          </p:txBody>
        </p:sp>
        <p:grpSp>
          <p:nvGrpSpPr>
            <p:cNvPr id="212" name="Group 212"/>
            <p:cNvGrpSpPr/>
            <p:nvPr/>
          </p:nvGrpSpPr>
          <p:grpSpPr>
            <a:xfrm>
              <a:off x="10182223" y="4594758"/>
              <a:ext cx="196302" cy="202110"/>
              <a:chOff x="10182223" y="4594758"/>
              <a:chExt cx="196302" cy="202110"/>
            </a:xfrm>
          </p:grpSpPr>
          <p:sp>
            <p:nvSpPr>
              <p:cNvPr id="209" name="Freeform 209"/>
              <p:cNvSpPr/>
              <p:nvPr/>
            </p:nvSpPr>
            <p:spPr>
              <a:xfrm>
                <a:off x="10241756" y="4660106"/>
                <a:ext cx="71438" cy="71438"/>
              </a:xfrm>
              <a:custGeom>
                <a:avLst/>
                <a:gdLst/>
                <a:ahLst/>
                <a:cxnLst/>
                <a:rect l="l" t="t" r="r" b="b"/>
                <a:pathLst>
                  <a:path w="71438" h="71438">
                    <a:moveTo>
                      <a:pt x="0" y="71438"/>
                    </a:moveTo>
                    <a:lnTo>
                      <a:pt x="71438" y="0"/>
                    </a:lnTo>
                  </a:path>
                </a:pathLst>
              </a:custGeom>
              <a:noFill/>
              <a:ln w="17859">
                <a:solidFill>
                  <a:srgbClr val="841600"/>
                </a:solidFill>
              </a:ln>
            </p:spPr>
          </p:sp>
          <p:sp>
            <p:nvSpPr>
              <p:cNvPr id="210" name="Freeform 210"/>
              <p:cNvSpPr/>
              <p:nvPr/>
            </p:nvSpPr>
            <p:spPr>
              <a:xfrm>
                <a:off x="10265569" y="4594758"/>
                <a:ext cx="112956" cy="112974"/>
              </a:xfrm>
              <a:custGeom>
                <a:avLst/>
                <a:gdLst/>
                <a:ahLst/>
                <a:cxnLst/>
                <a:rect l="l" t="t" r="r" b="b"/>
                <a:pathLst>
                  <a:path w="112956" h="112974">
                    <a:moveTo>
                      <a:pt x="0" y="29630"/>
                    </a:moveTo>
                    <a:lnTo>
                      <a:pt x="5513" y="23248"/>
                    </a:lnTo>
                    <a:cubicBezTo>
                      <a:pt x="28764" y="0"/>
                      <a:pt x="66459" y="3"/>
                      <a:pt x="89708" y="23254"/>
                    </a:cubicBezTo>
                    <a:cubicBezTo>
                      <a:pt x="112956" y="46506"/>
                      <a:pt x="112953" y="84201"/>
                      <a:pt x="89702" y="107449"/>
                    </a:cubicBezTo>
                    <a:lnTo>
                      <a:pt x="83344" y="112974"/>
                    </a:lnTo>
                  </a:path>
                </a:pathLst>
              </a:custGeom>
              <a:noFill/>
              <a:ln w="17859">
                <a:solidFill>
                  <a:srgbClr val="841600"/>
                </a:solidFill>
              </a:ln>
            </p:spPr>
          </p:sp>
          <p:sp>
            <p:nvSpPr>
              <p:cNvPr id="211" name="Freeform 211"/>
              <p:cNvSpPr/>
              <p:nvPr/>
            </p:nvSpPr>
            <p:spPr>
              <a:xfrm>
                <a:off x="10182223" y="4683919"/>
                <a:ext cx="107158" cy="112949"/>
              </a:xfrm>
              <a:custGeom>
                <a:avLst/>
                <a:gdLst/>
                <a:ahLst/>
                <a:cxnLst/>
                <a:rect l="l" t="t" r="r" b="b"/>
                <a:pathLst>
                  <a:path w="107158" h="112949">
                    <a:moveTo>
                      <a:pt x="107158" y="83344"/>
                    </a:moveTo>
                    <a:lnTo>
                      <a:pt x="102431" y="89702"/>
                    </a:lnTo>
                    <a:cubicBezTo>
                      <a:pt x="78922" y="112949"/>
                      <a:pt x="41084" y="112949"/>
                      <a:pt x="17575" y="89702"/>
                    </a:cubicBezTo>
                    <a:cubicBezTo>
                      <a:pt x="6329" y="78581"/>
                      <a:pt x="0" y="63423"/>
                      <a:pt x="0" y="47607"/>
                    </a:cubicBezTo>
                    <a:cubicBezTo>
                      <a:pt x="0" y="31791"/>
                      <a:pt x="6329" y="16633"/>
                      <a:pt x="17575" y="5513"/>
                    </a:cubicBezTo>
                    <a:lnTo>
                      <a:pt x="23814" y="0"/>
                    </a:lnTo>
                  </a:path>
                </a:pathLst>
              </a:custGeom>
              <a:noFill/>
              <a:ln w="17859">
                <a:solidFill>
                  <a:srgbClr val="841600"/>
                </a:solidFill>
              </a:ln>
            </p:spPr>
          </p:sp>
        </p:grpSp>
        <p:sp>
          <p:nvSpPr>
            <p:cNvPr id="213" name="TextBox 213"/>
            <p:cNvSpPr txBox="1"/>
            <p:nvPr/>
          </p:nvSpPr>
          <p:spPr>
            <a:xfrm>
              <a:off x="10547985" y="4631531"/>
              <a:ext cx="916076"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产业链上下游</a:t>
              </a:r>
            </a:p>
          </p:txBody>
        </p:sp>
      </p:grpSp>
      <p:grpSp>
        <p:nvGrpSpPr>
          <p:cNvPr id="263" name="kpi-band"/>
          <p:cNvGrpSpPr/>
          <p:nvPr/>
        </p:nvGrpSpPr>
        <p:grpSpPr>
          <a:xfrm>
            <a:off x="266700" y="5105400"/>
            <a:ext cx="11658600" cy="1524000"/>
            <a:chOff x="266700" y="5105400"/>
            <a:chExt cx="11658600" cy="1524000"/>
          </a:xfrm>
        </p:grpSpPr>
        <p:sp>
          <p:nvSpPr>
            <p:cNvPr id="215" name="Rectangle 215"/>
            <p:cNvSpPr/>
            <p:nvPr/>
          </p:nvSpPr>
          <p:spPr>
            <a:xfrm>
              <a:off x="266700" y="5105400"/>
              <a:ext cx="11658600" cy="1524000"/>
            </a:xfrm>
            <a:prstGeom prst="roundRect">
              <a:avLst>
                <a:gd name="adj" fmla="val 6250"/>
              </a:avLst>
            </a:prstGeom>
            <a:solidFill>
              <a:srgbClr val="FFFFFF"/>
            </a:solidFill>
            <a:ln w="9525">
              <a:solidFill>
                <a:srgbClr val="D7E2F2"/>
              </a:solidFill>
            </a:ln>
          </p:spPr>
        </p:sp>
        <p:sp>
          <p:nvSpPr>
            <p:cNvPr id="216" name="Line 216"/>
            <p:cNvSpPr/>
            <p:nvPr/>
          </p:nvSpPr>
          <p:spPr>
            <a:xfrm>
              <a:off x="2600325" y="5391150"/>
              <a:ext cx="9525" cy="952500"/>
            </a:xfrm>
            <a:custGeom>
              <a:avLst/>
              <a:gdLst/>
              <a:ahLst/>
              <a:cxnLst/>
              <a:rect l="l" t="t" r="r" b="b"/>
              <a:pathLst>
                <a:path w="9525" h="952500">
                  <a:moveTo>
                    <a:pt x="0" y="0"/>
                  </a:moveTo>
                  <a:lnTo>
                    <a:pt x="0" y="952500"/>
                  </a:lnTo>
                </a:path>
              </a:pathLst>
            </a:custGeom>
            <a:noFill/>
            <a:ln w="9525">
              <a:solidFill>
                <a:srgbClr val="D7E2F2"/>
              </a:solidFill>
            </a:ln>
          </p:spPr>
        </p:sp>
        <p:sp>
          <p:nvSpPr>
            <p:cNvPr id="217" name="Line 217"/>
            <p:cNvSpPr/>
            <p:nvPr/>
          </p:nvSpPr>
          <p:spPr>
            <a:xfrm>
              <a:off x="4933950" y="5391150"/>
              <a:ext cx="9525" cy="952500"/>
            </a:xfrm>
            <a:custGeom>
              <a:avLst/>
              <a:gdLst/>
              <a:ahLst/>
              <a:cxnLst/>
              <a:rect l="l" t="t" r="r" b="b"/>
              <a:pathLst>
                <a:path w="9525" h="952500">
                  <a:moveTo>
                    <a:pt x="0" y="0"/>
                  </a:moveTo>
                  <a:lnTo>
                    <a:pt x="0" y="952500"/>
                  </a:lnTo>
                </a:path>
              </a:pathLst>
            </a:custGeom>
            <a:noFill/>
            <a:ln w="9525">
              <a:solidFill>
                <a:srgbClr val="D7E2F2"/>
              </a:solidFill>
            </a:ln>
          </p:spPr>
        </p:sp>
        <p:sp>
          <p:nvSpPr>
            <p:cNvPr id="218" name="Line 218"/>
            <p:cNvSpPr/>
            <p:nvPr/>
          </p:nvSpPr>
          <p:spPr>
            <a:xfrm>
              <a:off x="7267575" y="5391150"/>
              <a:ext cx="9525" cy="952500"/>
            </a:xfrm>
            <a:custGeom>
              <a:avLst/>
              <a:gdLst/>
              <a:ahLst/>
              <a:cxnLst/>
              <a:rect l="l" t="t" r="r" b="b"/>
              <a:pathLst>
                <a:path w="9525" h="952500">
                  <a:moveTo>
                    <a:pt x="0" y="0"/>
                  </a:moveTo>
                  <a:lnTo>
                    <a:pt x="0" y="952500"/>
                  </a:lnTo>
                </a:path>
              </a:pathLst>
            </a:custGeom>
            <a:noFill/>
            <a:ln w="9525">
              <a:solidFill>
                <a:srgbClr val="D7E2F2"/>
              </a:solidFill>
            </a:ln>
          </p:spPr>
        </p:sp>
        <p:sp>
          <p:nvSpPr>
            <p:cNvPr id="219" name="Line 219"/>
            <p:cNvSpPr/>
            <p:nvPr/>
          </p:nvSpPr>
          <p:spPr>
            <a:xfrm>
              <a:off x="9601200" y="5391150"/>
              <a:ext cx="9525" cy="952500"/>
            </a:xfrm>
            <a:custGeom>
              <a:avLst/>
              <a:gdLst/>
              <a:ahLst/>
              <a:cxnLst/>
              <a:rect l="l" t="t" r="r" b="b"/>
              <a:pathLst>
                <a:path w="9525" h="952500">
                  <a:moveTo>
                    <a:pt x="0" y="0"/>
                  </a:moveTo>
                  <a:lnTo>
                    <a:pt x="0" y="952500"/>
                  </a:lnTo>
                </a:path>
              </a:pathLst>
            </a:custGeom>
            <a:noFill/>
            <a:ln w="9525">
              <a:solidFill>
                <a:srgbClr val="D7E2F2"/>
              </a:solidFill>
            </a:ln>
          </p:spPr>
        </p:sp>
        <p:grpSp>
          <p:nvGrpSpPr>
            <p:cNvPr id="229" name="kpi-1"/>
            <p:cNvGrpSpPr/>
            <p:nvPr/>
          </p:nvGrpSpPr>
          <p:grpSpPr>
            <a:xfrm>
              <a:off x="495300" y="5562600"/>
              <a:ext cx="1829344" cy="819912"/>
              <a:chOff x="495300" y="5562600"/>
              <a:chExt cx="1829344" cy="819912"/>
            </a:xfrm>
          </p:grpSpPr>
          <p:sp>
            <p:nvSpPr>
              <p:cNvPr id="220" name="Ellipse 220"/>
              <p:cNvSpPr/>
              <p:nvPr/>
            </p:nvSpPr>
            <p:spPr>
              <a:xfrm>
                <a:off x="495300" y="5562600"/>
                <a:ext cx="609600" cy="609600"/>
              </a:xfrm>
              <a:prstGeom prst="ellipse">
                <a:avLst/>
              </a:prstGeom>
              <a:solidFill>
                <a:srgbClr val="841600"/>
              </a:solidFill>
              <a:ln>
                <a:noFill/>
              </a:ln>
            </p:spPr>
          </p:sp>
          <p:grpSp>
            <p:nvGrpSpPr>
              <p:cNvPr id="226" name="Group 226"/>
              <p:cNvGrpSpPr/>
              <p:nvPr/>
            </p:nvGrpSpPr>
            <p:grpSpPr>
              <a:xfrm>
                <a:off x="671512" y="5736898"/>
                <a:ext cx="257176" cy="259089"/>
                <a:chOff x="671512" y="5736898"/>
                <a:chExt cx="257176" cy="259089"/>
              </a:xfrm>
            </p:grpSpPr>
            <p:sp>
              <p:nvSpPr>
                <p:cNvPr id="221" name="Freeform 221"/>
                <p:cNvSpPr/>
                <p:nvPr/>
              </p:nvSpPr>
              <p:spPr>
                <a:xfrm>
                  <a:off x="757238" y="5853112"/>
                  <a:ext cx="171450" cy="85725"/>
                </a:xfrm>
                <a:custGeom>
                  <a:avLst/>
                  <a:gdLst/>
                  <a:ahLst/>
                  <a:cxnLst/>
                  <a:rect l="l" t="t" r="r" b="b"/>
                  <a:pathLst>
                    <a:path w="171450" h="85725">
                      <a:moveTo>
                        <a:pt x="0" y="42862"/>
                      </a:moveTo>
                      <a:cubicBezTo>
                        <a:pt x="0" y="66537"/>
                        <a:pt x="38376" y="85725"/>
                        <a:pt x="85725" y="85725"/>
                      </a:cubicBezTo>
                      <a:cubicBezTo>
                        <a:pt x="133074" y="85725"/>
                        <a:pt x="171450" y="66537"/>
                        <a:pt x="171450" y="42862"/>
                      </a:cubicBezTo>
                      <a:cubicBezTo>
                        <a:pt x="171450" y="19188"/>
                        <a:pt x="133074" y="0"/>
                        <a:pt x="85725" y="0"/>
                      </a:cubicBezTo>
                      <a:cubicBezTo>
                        <a:pt x="38376" y="0"/>
                        <a:pt x="0" y="19188"/>
                        <a:pt x="0" y="42862"/>
                      </a:cubicBezTo>
                    </a:path>
                  </a:pathLst>
                </a:custGeom>
                <a:noFill/>
                <a:ln w="21431">
                  <a:solidFill>
                    <a:srgbClr val="FFFFFF"/>
                  </a:solidFill>
                </a:ln>
              </p:spPr>
            </p:sp>
            <p:sp>
              <p:nvSpPr>
                <p:cNvPr id="222" name="Freeform 222"/>
                <p:cNvSpPr/>
                <p:nvPr/>
              </p:nvSpPr>
              <p:spPr>
                <a:xfrm>
                  <a:off x="757238" y="5895975"/>
                  <a:ext cx="171450" cy="100012"/>
                </a:xfrm>
                <a:custGeom>
                  <a:avLst/>
                  <a:gdLst/>
                  <a:ahLst/>
                  <a:cxnLst/>
                  <a:rect l="l" t="t" r="r" b="b"/>
                  <a:pathLst>
                    <a:path w="171450" h="100012">
                      <a:moveTo>
                        <a:pt x="0" y="0"/>
                      </a:moveTo>
                      <a:lnTo>
                        <a:pt x="0" y="57150"/>
                      </a:lnTo>
                      <a:cubicBezTo>
                        <a:pt x="0" y="80810"/>
                        <a:pt x="38376" y="100012"/>
                        <a:pt x="85725" y="100012"/>
                      </a:cubicBezTo>
                      <a:cubicBezTo>
                        <a:pt x="133074" y="100012"/>
                        <a:pt x="171450" y="80810"/>
                        <a:pt x="171450" y="57150"/>
                      </a:cubicBezTo>
                      <a:lnTo>
                        <a:pt x="171450" y="0"/>
                      </a:lnTo>
                    </a:path>
                  </a:pathLst>
                </a:custGeom>
                <a:noFill/>
                <a:ln w="21431">
                  <a:solidFill>
                    <a:srgbClr val="FFFFFF"/>
                  </a:solidFill>
                </a:ln>
              </p:spPr>
            </p:sp>
            <p:sp>
              <p:nvSpPr>
                <p:cNvPr id="223" name="Freeform 223"/>
                <p:cNvSpPr/>
                <p:nvPr/>
              </p:nvSpPr>
              <p:spPr>
                <a:xfrm>
                  <a:off x="671512" y="5736898"/>
                  <a:ext cx="171450" cy="89554"/>
                </a:xfrm>
                <a:custGeom>
                  <a:avLst/>
                  <a:gdLst/>
                  <a:ahLst/>
                  <a:cxnLst/>
                  <a:rect l="l" t="t" r="r" b="b"/>
                  <a:pathLst>
                    <a:path w="171450" h="89554">
                      <a:moveTo>
                        <a:pt x="0" y="44777"/>
                      </a:moveTo>
                      <a:cubicBezTo>
                        <a:pt x="0" y="60093"/>
                        <a:pt x="16345" y="74238"/>
                        <a:pt x="42862" y="81896"/>
                      </a:cubicBezTo>
                      <a:cubicBezTo>
                        <a:pt x="69380" y="89554"/>
                        <a:pt x="102070" y="89554"/>
                        <a:pt x="128588" y="81896"/>
                      </a:cubicBezTo>
                      <a:cubicBezTo>
                        <a:pt x="155105" y="74238"/>
                        <a:pt x="171450" y="60093"/>
                        <a:pt x="171450" y="44777"/>
                      </a:cubicBezTo>
                      <a:cubicBezTo>
                        <a:pt x="171450" y="29461"/>
                        <a:pt x="155105" y="15316"/>
                        <a:pt x="128588" y="7658"/>
                      </a:cubicBezTo>
                      <a:cubicBezTo>
                        <a:pt x="102070" y="0"/>
                        <a:pt x="69380" y="0"/>
                        <a:pt x="42862" y="7658"/>
                      </a:cubicBezTo>
                      <a:cubicBezTo>
                        <a:pt x="16345" y="15316"/>
                        <a:pt x="0" y="29461"/>
                        <a:pt x="0" y="44777"/>
                      </a:cubicBezTo>
                    </a:path>
                  </a:pathLst>
                </a:custGeom>
                <a:noFill/>
                <a:ln w="21431">
                  <a:solidFill>
                    <a:srgbClr val="FFFFFF"/>
                  </a:solidFill>
                </a:ln>
              </p:spPr>
            </p:sp>
            <p:sp>
              <p:nvSpPr>
                <p:cNvPr id="224" name="Freeform 224"/>
                <p:cNvSpPr/>
                <p:nvPr/>
              </p:nvSpPr>
              <p:spPr>
                <a:xfrm>
                  <a:off x="671512" y="5781675"/>
                  <a:ext cx="28575" cy="171450"/>
                </a:xfrm>
                <a:custGeom>
                  <a:avLst/>
                  <a:gdLst/>
                  <a:ahLst/>
                  <a:cxnLst/>
                  <a:rect l="l" t="t" r="r" b="b"/>
                  <a:pathLst>
                    <a:path w="28575" h="171450">
                      <a:moveTo>
                        <a:pt x="0" y="0"/>
                      </a:moveTo>
                      <a:lnTo>
                        <a:pt x="0" y="142875"/>
                      </a:lnTo>
                      <a:cubicBezTo>
                        <a:pt x="0" y="155562"/>
                        <a:pt x="11030" y="163592"/>
                        <a:pt x="28575" y="171450"/>
                      </a:cubicBezTo>
                    </a:path>
                  </a:pathLst>
                </a:custGeom>
                <a:noFill/>
                <a:ln w="21431">
                  <a:solidFill>
                    <a:srgbClr val="FFFFFF"/>
                  </a:solidFill>
                </a:ln>
              </p:spPr>
            </p:sp>
            <p:sp>
              <p:nvSpPr>
                <p:cNvPr id="225" name="Freeform 225"/>
                <p:cNvSpPr/>
                <p:nvPr/>
              </p:nvSpPr>
              <p:spPr>
                <a:xfrm>
                  <a:off x="671512" y="5853112"/>
                  <a:ext cx="28575" cy="28575"/>
                </a:xfrm>
                <a:custGeom>
                  <a:avLst/>
                  <a:gdLst/>
                  <a:ahLst/>
                  <a:cxnLst/>
                  <a:rect l="l" t="t" r="r" b="b"/>
                  <a:pathLst>
                    <a:path w="28575" h="28575">
                      <a:moveTo>
                        <a:pt x="0" y="0"/>
                      </a:moveTo>
                      <a:cubicBezTo>
                        <a:pt x="0" y="12687"/>
                        <a:pt x="11030" y="20717"/>
                        <a:pt x="28575" y="28575"/>
                      </a:cubicBezTo>
                    </a:path>
                  </a:pathLst>
                </a:custGeom>
                <a:noFill/>
                <a:ln w="21431">
                  <a:solidFill>
                    <a:srgbClr val="FFFFFF"/>
                  </a:solidFill>
                </a:ln>
              </p:spPr>
            </p:sp>
          </p:grpSp>
          <p:sp>
            <p:nvSpPr>
              <p:cNvPr id="227" name="TextBox 227"/>
              <p:cNvSpPr txBox="1"/>
              <p:nvPr/>
            </p:nvSpPr>
            <p:spPr>
              <a:xfrm>
                <a:off x="1251966" y="5620702"/>
                <a:ext cx="576072"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普惠贷款</a:t>
                </a:r>
              </a:p>
            </p:txBody>
          </p:sp>
          <p:sp>
            <p:nvSpPr>
              <p:cNvPr id="228" name="TextBox 228"/>
              <p:cNvSpPr txBox="1"/>
              <p:nvPr/>
            </p:nvSpPr>
            <p:spPr>
              <a:xfrm>
                <a:off x="1245108" y="5913120"/>
                <a:ext cx="1079536"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+32</a:t>
                </a:r>
                <a:r>
                  <a:rPr lang="zh-CN" sz="1280" b="1" dirty="0">
                    <a:solidFill>
                      <a:srgbClr val="841600"/>
                    </a:solidFill>
                    <a:latin typeface="+mn-lt"/>
                    <a:ea typeface="+mn-ea"/>
                    <a:cs typeface="+mn-cs"/>
                  </a:rPr>
                  <a:t>亿</a:t>
                </a:r>
                <a:r>
                  <a:rPr lang="zh-CN" sz="2400" b="1" dirty="0">
                    <a:solidFill>
                      <a:srgbClr val="841600"/>
                    </a:solidFill>
                    <a:latin typeface="+mn-lt"/>
                    <a:ea typeface="+mn-ea"/>
                    <a:cs typeface="+mn-cs"/>
                  </a:rPr>
                  <a:t xml:space="preserve">　</a:t>
                </a:r>
              </a:p>
            </p:txBody>
          </p:sp>
        </p:grpSp>
        <p:grpSp>
          <p:nvGrpSpPr>
            <p:cNvPr id="240" name="kpi-2"/>
            <p:cNvGrpSpPr/>
            <p:nvPr/>
          </p:nvGrpSpPr>
          <p:grpSpPr>
            <a:xfrm>
              <a:off x="2828925" y="5562600"/>
              <a:ext cx="2202510" cy="819912"/>
              <a:chOff x="2828925" y="5562600"/>
              <a:chExt cx="2202510" cy="819912"/>
            </a:xfrm>
          </p:grpSpPr>
          <p:sp>
            <p:nvSpPr>
              <p:cNvPr id="230" name="Ellipse 230"/>
              <p:cNvSpPr/>
              <p:nvPr/>
            </p:nvSpPr>
            <p:spPr>
              <a:xfrm>
                <a:off x="2828925" y="5562600"/>
                <a:ext cx="609600" cy="609600"/>
              </a:xfrm>
              <a:prstGeom prst="ellipse">
                <a:avLst/>
              </a:prstGeom>
              <a:solidFill>
                <a:srgbClr val="841600"/>
              </a:solidFill>
              <a:ln>
                <a:noFill/>
              </a:ln>
            </p:spPr>
          </p:sp>
          <p:grpSp>
            <p:nvGrpSpPr>
              <p:cNvPr id="237" name="Group 237"/>
              <p:cNvGrpSpPr/>
              <p:nvPr/>
            </p:nvGrpSpPr>
            <p:grpSpPr>
              <a:xfrm>
                <a:off x="3005138" y="5738812"/>
                <a:ext cx="257174" cy="257175"/>
                <a:chOff x="3005138" y="5738812"/>
                <a:chExt cx="257174" cy="257175"/>
              </a:xfrm>
            </p:grpSpPr>
            <p:sp>
              <p:nvSpPr>
                <p:cNvPr id="231" name="Freeform 231"/>
                <p:cNvSpPr/>
                <p:nvPr/>
              </p:nvSpPr>
              <p:spPr>
                <a:xfrm>
                  <a:off x="3105150" y="58531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FFFFFF"/>
                  </a:solidFill>
                </a:ln>
              </p:spPr>
            </p:sp>
            <p:sp>
              <p:nvSpPr>
                <p:cNvPr id="232" name="Freeform 232"/>
                <p:cNvSpPr/>
                <p:nvPr/>
              </p:nvSpPr>
              <p:spPr>
                <a:xfrm>
                  <a:off x="3076575" y="5953125"/>
                  <a:ext cx="114300" cy="42862"/>
                </a:xfrm>
                <a:custGeom>
                  <a:avLst/>
                  <a:gdLst/>
                  <a:ahLst/>
                  <a:cxnLst/>
                  <a:rect l="l" t="t" r="r" b="b"/>
                  <a:pathLst>
                    <a:path w="114300" h="42862">
                      <a:moveTo>
                        <a:pt x="0" y="42862"/>
                      </a:moveTo>
                      <a:lnTo>
                        <a:pt x="0" y="28575"/>
                      </a:lnTo>
                      <a:cubicBezTo>
                        <a:pt x="0" y="12793"/>
                        <a:pt x="12793" y="0"/>
                        <a:pt x="28575" y="0"/>
                      </a:cubicBezTo>
                      <a:lnTo>
                        <a:pt x="85725" y="0"/>
                      </a:lnTo>
                      <a:cubicBezTo>
                        <a:pt x="101507" y="0"/>
                        <a:pt x="114300" y="12793"/>
                        <a:pt x="114300" y="28575"/>
                      </a:cubicBezTo>
                      <a:lnTo>
                        <a:pt x="114300" y="42862"/>
                      </a:lnTo>
                    </a:path>
                  </a:pathLst>
                </a:custGeom>
                <a:noFill/>
                <a:ln w="21431">
                  <a:solidFill>
                    <a:srgbClr val="FFFFFF"/>
                  </a:solidFill>
                </a:ln>
              </p:spPr>
            </p:sp>
            <p:sp>
              <p:nvSpPr>
                <p:cNvPr id="233" name="Freeform 233"/>
                <p:cNvSpPr/>
                <p:nvPr/>
              </p:nvSpPr>
              <p:spPr>
                <a:xfrm>
                  <a:off x="3176588" y="57388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FFFFFF"/>
                  </a:solidFill>
                </a:ln>
              </p:spPr>
            </p:sp>
            <p:sp>
              <p:nvSpPr>
                <p:cNvPr id="234" name="Freeform 234"/>
                <p:cNvSpPr/>
                <p:nvPr/>
              </p:nvSpPr>
              <p:spPr>
                <a:xfrm>
                  <a:off x="3205162" y="5838825"/>
                  <a:ext cx="57150" cy="42862"/>
                </a:xfrm>
                <a:custGeom>
                  <a:avLst/>
                  <a:gdLst/>
                  <a:ahLst/>
                  <a:cxnLst/>
                  <a:rect l="l" t="t" r="r" b="b"/>
                  <a:pathLst>
                    <a:path w="57150" h="42862">
                      <a:moveTo>
                        <a:pt x="0" y="0"/>
                      </a:moveTo>
                      <a:lnTo>
                        <a:pt x="28575" y="0"/>
                      </a:lnTo>
                      <a:cubicBezTo>
                        <a:pt x="44357" y="0"/>
                        <a:pt x="57150" y="12793"/>
                        <a:pt x="57150" y="28575"/>
                      </a:cubicBezTo>
                      <a:lnTo>
                        <a:pt x="57150" y="42862"/>
                      </a:lnTo>
                    </a:path>
                  </a:pathLst>
                </a:custGeom>
                <a:noFill/>
                <a:ln w="21431">
                  <a:solidFill>
                    <a:srgbClr val="FFFFFF"/>
                  </a:solidFill>
                </a:ln>
              </p:spPr>
            </p:sp>
            <p:sp>
              <p:nvSpPr>
                <p:cNvPr id="235" name="Freeform 235"/>
                <p:cNvSpPr/>
                <p:nvPr/>
              </p:nvSpPr>
              <p:spPr>
                <a:xfrm>
                  <a:off x="3033712" y="57388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FFFFFF"/>
                  </a:solidFill>
                </a:ln>
              </p:spPr>
            </p:sp>
            <p:sp>
              <p:nvSpPr>
                <p:cNvPr id="236" name="Freeform 236"/>
                <p:cNvSpPr/>
                <p:nvPr/>
              </p:nvSpPr>
              <p:spPr>
                <a:xfrm>
                  <a:off x="3005138" y="5838825"/>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21431">
                  <a:solidFill>
                    <a:srgbClr val="FFFFFF"/>
                  </a:solidFill>
                </a:ln>
              </p:spPr>
            </p:sp>
          </p:grpSp>
          <p:sp>
            <p:nvSpPr>
              <p:cNvPr id="238" name="TextBox 238"/>
              <p:cNvSpPr txBox="1"/>
              <p:nvPr/>
            </p:nvSpPr>
            <p:spPr>
              <a:xfrm>
                <a:off x="3585591" y="5620702"/>
                <a:ext cx="293370"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客户</a:t>
                </a:r>
              </a:p>
            </p:txBody>
          </p:sp>
          <p:sp>
            <p:nvSpPr>
              <p:cNvPr id="239" name="TextBox 239"/>
              <p:cNvSpPr txBox="1"/>
              <p:nvPr/>
            </p:nvSpPr>
            <p:spPr>
              <a:xfrm>
                <a:off x="3578733" y="5913120"/>
                <a:ext cx="1452702"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+2500</a:t>
                </a:r>
                <a:r>
                  <a:rPr lang="zh-CN" sz="1280" b="1" dirty="0">
                    <a:solidFill>
                      <a:srgbClr val="841600"/>
                    </a:solidFill>
                    <a:latin typeface="+mn-lt"/>
                    <a:ea typeface="+mn-ea"/>
                    <a:cs typeface="+mn-cs"/>
                  </a:rPr>
                  <a:t>户</a:t>
                </a:r>
                <a:r>
                  <a:rPr lang="zh-CN" sz="2400" b="1" dirty="0">
                    <a:solidFill>
                      <a:srgbClr val="841600"/>
                    </a:solidFill>
                    <a:latin typeface="+mn-lt"/>
                    <a:ea typeface="+mn-ea"/>
                    <a:cs typeface="+mn-cs"/>
                  </a:rPr>
                  <a:t xml:space="preserve">　</a:t>
                </a:r>
              </a:p>
            </p:txBody>
          </p:sp>
        </p:grpSp>
        <p:grpSp>
          <p:nvGrpSpPr>
            <p:cNvPr id="247" name="kpi-3"/>
            <p:cNvGrpSpPr/>
            <p:nvPr/>
          </p:nvGrpSpPr>
          <p:grpSpPr>
            <a:xfrm>
              <a:off x="5162550" y="5562600"/>
              <a:ext cx="1606144" cy="819912"/>
              <a:chOff x="5162550" y="5562600"/>
              <a:chExt cx="1606144" cy="819912"/>
            </a:xfrm>
          </p:grpSpPr>
          <p:sp>
            <p:nvSpPr>
              <p:cNvPr id="241" name="Ellipse 241"/>
              <p:cNvSpPr/>
              <p:nvPr/>
            </p:nvSpPr>
            <p:spPr>
              <a:xfrm>
                <a:off x="5162550" y="5562600"/>
                <a:ext cx="609600" cy="609600"/>
              </a:xfrm>
              <a:prstGeom prst="ellipse">
                <a:avLst/>
              </a:prstGeom>
              <a:solidFill>
                <a:srgbClr val="841600"/>
              </a:solidFill>
              <a:ln>
                <a:noFill/>
              </a:ln>
            </p:spPr>
          </p:sp>
          <p:grpSp>
            <p:nvGrpSpPr>
              <p:cNvPr id="244" name="Group 244"/>
              <p:cNvGrpSpPr/>
              <p:nvPr/>
            </p:nvGrpSpPr>
            <p:grpSpPr>
              <a:xfrm>
                <a:off x="5334780" y="5741269"/>
                <a:ext cx="258300" cy="258701"/>
                <a:chOff x="5334780" y="5741269"/>
                <a:chExt cx="258300" cy="258701"/>
              </a:xfrm>
            </p:grpSpPr>
            <p:sp>
              <p:nvSpPr>
                <p:cNvPr id="242" name="Freeform 242"/>
                <p:cNvSpPr/>
                <p:nvPr/>
              </p:nvSpPr>
              <p:spPr>
                <a:xfrm>
                  <a:off x="5334780" y="5741269"/>
                  <a:ext cx="258300" cy="258701"/>
                </a:xfrm>
                <a:custGeom>
                  <a:avLst/>
                  <a:gdLst/>
                  <a:ahLst/>
                  <a:cxnLst/>
                  <a:rect l="l" t="t" r="r" b="b"/>
                  <a:pathLst>
                    <a:path w="258300" h="258701">
                      <a:moveTo>
                        <a:pt x="103995" y="401"/>
                      </a:moveTo>
                      <a:cubicBezTo>
                        <a:pt x="42130" y="14742"/>
                        <a:pt x="0" y="72099"/>
                        <a:pt x="4818" y="135421"/>
                      </a:cubicBezTo>
                      <a:cubicBezTo>
                        <a:pt x="9635" y="198743"/>
                        <a:pt x="59958" y="249066"/>
                        <a:pt x="123280" y="253883"/>
                      </a:cubicBezTo>
                      <a:cubicBezTo>
                        <a:pt x="186602" y="258701"/>
                        <a:pt x="243958" y="216570"/>
                        <a:pt x="258300" y="154706"/>
                      </a:cubicBezTo>
                      <a:cubicBezTo>
                        <a:pt x="258300" y="146815"/>
                        <a:pt x="251903" y="140418"/>
                        <a:pt x="244013" y="140418"/>
                      </a:cubicBezTo>
                      <a:lnTo>
                        <a:pt x="146858" y="140418"/>
                      </a:lnTo>
                      <a:cubicBezTo>
                        <a:pt x="131076" y="140418"/>
                        <a:pt x="118283" y="127625"/>
                        <a:pt x="118283" y="111843"/>
                      </a:cubicBezTo>
                      <a:lnTo>
                        <a:pt x="118283" y="11831"/>
                      </a:lnTo>
                      <a:cubicBezTo>
                        <a:pt x="117924" y="8412"/>
                        <a:pt x="116211" y="5278"/>
                        <a:pt x="113527" y="3131"/>
                      </a:cubicBezTo>
                      <a:cubicBezTo>
                        <a:pt x="110842" y="983"/>
                        <a:pt x="107409" y="0"/>
                        <a:pt x="103995" y="401"/>
                      </a:cubicBezTo>
                    </a:path>
                  </a:pathLst>
                </a:custGeom>
                <a:noFill/>
                <a:ln w="21431">
                  <a:solidFill>
                    <a:srgbClr val="FFFFFF"/>
                  </a:solidFill>
                </a:ln>
              </p:spPr>
            </p:sp>
            <p:sp>
              <p:nvSpPr>
                <p:cNvPr id="243" name="Freeform 243"/>
                <p:cNvSpPr/>
                <p:nvPr/>
              </p:nvSpPr>
              <p:spPr>
                <a:xfrm>
                  <a:off x="5510212" y="5745956"/>
                  <a:ext cx="78581" cy="78581"/>
                </a:xfrm>
                <a:custGeom>
                  <a:avLst/>
                  <a:gdLst/>
                  <a:ahLst/>
                  <a:cxnLst/>
                  <a:rect l="l" t="t" r="r" b="b"/>
                  <a:pathLst>
                    <a:path w="78581" h="78581">
                      <a:moveTo>
                        <a:pt x="0" y="0"/>
                      </a:moveTo>
                      <a:cubicBezTo>
                        <a:pt x="36745" y="12938"/>
                        <a:pt x="65643" y="41837"/>
                        <a:pt x="78581" y="78581"/>
                      </a:cubicBezTo>
                      <a:lnTo>
                        <a:pt x="14288" y="78581"/>
                      </a:lnTo>
                      <a:cubicBezTo>
                        <a:pt x="6397" y="78581"/>
                        <a:pt x="0" y="72185"/>
                        <a:pt x="0" y="64294"/>
                      </a:cubicBezTo>
                      <a:lnTo>
                        <a:pt x="0" y="0"/>
                      </a:lnTo>
                    </a:path>
                  </a:pathLst>
                </a:custGeom>
                <a:noFill/>
                <a:ln w="21431">
                  <a:solidFill>
                    <a:srgbClr val="FFFFFF"/>
                  </a:solidFill>
                </a:ln>
              </p:spPr>
            </p:sp>
          </p:grpSp>
          <p:sp>
            <p:nvSpPr>
              <p:cNvPr id="245" name="TextBox 245"/>
              <p:cNvSpPr txBox="1"/>
              <p:nvPr/>
            </p:nvSpPr>
            <p:spPr>
              <a:xfrm>
                <a:off x="5919216" y="5620702"/>
                <a:ext cx="576072"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信用占比</a:t>
                </a:r>
              </a:p>
            </p:txBody>
          </p:sp>
          <p:sp>
            <p:nvSpPr>
              <p:cNvPr id="246" name="TextBox 246"/>
              <p:cNvSpPr txBox="1"/>
              <p:nvPr/>
            </p:nvSpPr>
            <p:spPr>
              <a:xfrm>
                <a:off x="5912358" y="5913120"/>
                <a:ext cx="856336"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45</a:t>
                </a:r>
                <a:r>
                  <a:rPr lang="zh-CN" sz="1280" b="1" dirty="0">
                    <a:solidFill>
                      <a:srgbClr val="841600"/>
                    </a:solidFill>
                    <a:latin typeface="+mn-lt"/>
                    <a:ea typeface="+mn-ea"/>
                    <a:cs typeface="+mn-cs"/>
                  </a:rPr>
                  <a:t>%</a:t>
                </a:r>
                <a:r>
                  <a:rPr lang="zh-CN" sz="2400" b="1" dirty="0">
                    <a:solidFill>
                      <a:srgbClr val="841600"/>
                    </a:solidFill>
                    <a:latin typeface="+mn-lt"/>
                    <a:ea typeface="+mn-ea"/>
                    <a:cs typeface="+mn-cs"/>
                  </a:rPr>
                  <a:t xml:space="preserve">　</a:t>
                </a:r>
              </a:p>
            </p:txBody>
          </p:sp>
        </p:grpSp>
        <p:grpSp>
          <p:nvGrpSpPr>
            <p:cNvPr id="255" name="kpi-4"/>
            <p:cNvGrpSpPr/>
            <p:nvPr/>
          </p:nvGrpSpPr>
          <p:grpSpPr>
            <a:xfrm>
              <a:off x="7496175" y="5562600"/>
              <a:ext cx="1843613" cy="819912"/>
              <a:chOff x="7496175" y="5562600"/>
              <a:chExt cx="1843613" cy="819912"/>
            </a:xfrm>
          </p:grpSpPr>
          <p:sp>
            <p:nvSpPr>
              <p:cNvPr id="248" name="Ellipse 248"/>
              <p:cNvSpPr/>
              <p:nvPr/>
            </p:nvSpPr>
            <p:spPr>
              <a:xfrm>
                <a:off x="7496175" y="5562600"/>
                <a:ext cx="609600" cy="609600"/>
              </a:xfrm>
              <a:prstGeom prst="ellipse">
                <a:avLst/>
              </a:prstGeom>
              <a:solidFill>
                <a:srgbClr val="841600"/>
              </a:solidFill>
              <a:ln>
                <a:noFill/>
              </a:ln>
            </p:spPr>
          </p:sp>
          <p:grpSp>
            <p:nvGrpSpPr>
              <p:cNvPr id="252" name="Group 252"/>
              <p:cNvGrpSpPr/>
              <p:nvPr/>
            </p:nvGrpSpPr>
            <p:grpSpPr>
              <a:xfrm>
                <a:off x="7715250" y="5738812"/>
                <a:ext cx="214313" cy="257176"/>
                <a:chOff x="7715250" y="5738812"/>
                <a:chExt cx="214313" cy="257176"/>
              </a:xfrm>
            </p:grpSpPr>
            <p:sp>
              <p:nvSpPr>
                <p:cNvPr id="249" name="Freeform 249"/>
                <p:cNvSpPr/>
                <p:nvPr/>
              </p:nvSpPr>
              <p:spPr>
                <a:xfrm>
                  <a:off x="7743825" y="573881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1431">
                  <a:solidFill>
                    <a:srgbClr val="FFFFFF"/>
                  </a:solidFill>
                </a:ln>
              </p:spPr>
            </p:sp>
            <p:sp>
              <p:nvSpPr>
                <p:cNvPr id="250" name="Freeform 250"/>
                <p:cNvSpPr/>
                <p:nvPr/>
              </p:nvSpPr>
              <p:spPr>
                <a:xfrm>
                  <a:off x="7715250" y="5910262"/>
                  <a:ext cx="114300" cy="85725"/>
                </a:xfrm>
                <a:custGeom>
                  <a:avLst/>
                  <a:gdLst/>
                  <a:ahLst/>
                  <a:cxnLst/>
                  <a:rect l="l" t="t" r="r" b="b"/>
                  <a:pathLst>
                    <a:path w="114300" h="85725">
                      <a:moveTo>
                        <a:pt x="0" y="85725"/>
                      </a:moveTo>
                      <a:lnTo>
                        <a:pt x="0" y="57150"/>
                      </a:lnTo>
                      <a:cubicBezTo>
                        <a:pt x="0" y="25587"/>
                        <a:pt x="25587" y="0"/>
                        <a:pt x="57150" y="0"/>
                      </a:cubicBezTo>
                      <a:lnTo>
                        <a:pt x="114300" y="0"/>
                      </a:lnTo>
                    </a:path>
                  </a:pathLst>
                </a:custGeom>
                <a:noFill/>
                <a:ln w="21431">
                  <a:solidFill>
                    <a:srgbClr val="FFFFFF"/>
                  </a:solidFill>
                </a:ln>
              </p:spPr>
            </p:sp>
            <p:sp>
              <p:nvSpPr>
                <p:cNvPr id="251" name="Freeform 251"/>
                <p:cNvSpPr/>
                <p:nvPr/>
              </p:nvSpPr>
              <p:spPr>
                <a:xfrm>
                  <a:off x="7843838" y="5938838"/>
                  <a:ext cx="85725" cy="57150"/>
                </a:xfrm>
                <a:custGeom>
                  <a:avLst/>
                  <a:gdLst/>
                  <a:ahLst/>
                  <a:cxnLst/>
                  <a:rect l="l" t="t" r="r" b="b"/>
                  <a:pathLst>
                    <a:path w="85725" h="57150">
                      <a:moveTo>
                        <a:pt x="0" y="28575"/>
                      </a:moveTo>
                      <a:lnTo>
                        <a:pt x="28575" y="57150"/>
                      </a:lnTo>
                      <a:lnTo>
                        <a:pt x="85725" y="0"/>
                      </a:lnTo>
                    </a:path>
                  </a:pathLst>
                </a:custGeom>
                <a:noFill/>
                <a:ln w="21431">
                  <a:solidFill>
                    <a:srgbClr val="FFFFFF"/>
                  </a:solidFill>
                </a:ln>
              </p:spPr>
            </p:sp>
          </p:grpSp>
          <p:sp>
            <p:nvSpPr>
              <p:cNvPr id="253" name="TextBox 253"/>
              <p:cNvSpPr txBox="1"/>
              <p:nvPr/>
            </p:nvSpPr>
            <p:spPr>
              <a:xfrm>
                <a:off x="8252841" y="5620702"/>
                <a:ext cx="434721"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首贷户</a:t>
                </a:r>
              </a:p>
            </p:txBody>
          </p:sp>
          <p:sp>
            <p:nvSpPr>
              <p:cNvPr id="254" name="TextBox 254"/>
              <p:cNvSpPr txBox="1"/>
              <p:nvPr/>
            </p:nvSpPr>
            <p:spPr>
              <a:xfrm>
                <a:off x="8245983" y="5913120"/>
                <a:ext cx="1093805"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 xml:space="preserve">+800　</a:t>
                </a:r>
              </a:p>
            </p:txBody>
          </p:sp>
        </p:grpSp>
        <p:grpSp>
          <p:nvGrpSpPr>
            <p:cNvPr id="262" name="kpi-5"/>
            <p:cNvGrpSpPr/>
            <p:nvPr/>
          </p:nvGrpSpPr>
          <p:grpSpPr>
            <a:xfrm>
              <a:off x="9829800" y="5562600"/>
              <a:ext cx="1979310" cy="819912"/>
              <a:chOff x="9829800" y="5562600"/>
              <a:chExt cx="1979310" cy="819912"/>
            </a:xfrm>
          </p:grpSpPr>
          <p:sp>
            <p:nvSpPr>
              <p:cNvPr id="256" name="Ellipse 256"/>
              <p:cNvSpPr/>
              <p:nvPr/>
            </p:nvSpPr>
            <p:spPr>
              <a:xfrm>
                <a:off x="9829800" y="5562600"/>
                <a:ext cx="609600" cy="609600"/>
              </a:xfrm>
              <a:prstGeom prst="ellipse">
                <a:avLst/>
              </a:prstGeom>
              <a:solidFill>
                <a:srgbClr val="841600"/>
              </a:solidFill>
              <a:ln>
                <a:noFill/>
              </a:ln>
            </p:spPr>
          </p:sp>
          <p:grpSp>
            <p:nvGrpSpPr>
              <p:cNvPr id="259" name="Group 259"/>
              <p:cNvGrpSpPr/>
              <p:nvPr/>
            </p:nvGrpSpPr>
            <p:grpSpPr>
              <a:xfrm>
                <a:off x="9986731" y="5738812"/>
                <a:ext cx="279010" cy="257176"/>
                <a:chOff x="9986731" y="5738812"/>
                <a:chExt cx="279010" cy="257176"/>
              </a:xfrm>
            </p:grpSpPr>
            <p:sp>
              <p:nvSpPr>
                <p:cNvPr id="257" name="Freeform 257"/>
                <p:cNvSpPr/>
                <p:nvPr/>
              </p:nvSpPr>
              <p:spPr>
                <a:xfrm>
                  <a:off x="9986731" y="57388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21431">
                  <a:solidFill>
                    <a:srgbClr val="FFFFFF"/>
                  </a:solidFill>
                </a:ln>
              </p:spPr>
            </p:sp>
            <p:sp>
              <p:nvSpPr>
                <p:cNvPr id="258" name="Freeform 258"/>
                <p:cNvSpPr/>
                <p:nvPr/>
              </p:nvSpPr>
              <p:spPr>
                <a:xfrm>
                  <a:off x="10177462" y="5938838"/>
                  <a:ext cx="85725" cy="57150"/>
                </a:xfrm>
                <a:custGeom>
                  <a:avLst/>
                  <a:gdLst/>
                  <a:ahLst/>
                  <a:cxnLst/>
                  <a:rect l="l" t="t" r="r" b="b"/>
                  <a:pathLst>
                    <a:path w="85725" h="57150">
                      <a:moveTo>
                        <a:pt x="0" y="28575"/>
                      </a:moveTo>
                      <a:lnTo>
                        <a:pt x="28575" y="57150"/>
                      </a:lnTo>
                      <a:lnTo>
                        <a:pt x="85725" y="0"/>
                      </a:lnTo>
                    </a:path>
                  </a:pathLst>
                </a:custGeom>
                <a:noFill/>
                <a:ln w="21431">
                  <a:solidFill>
                    <a:srgbClr val="FFFFFF"/>
                  </a:solidFill>
                </a:ln>
              </p:spPr>
            </p:sp>
          </p:grpSp>
          <p:sp>
            <p:nvSpPr>
              <p:cNvPr id="260" name="TextBox 260"/>
              <p:cNvSpPr txBox="1"/>
              <p:nvPr/>
            </p:nvSpPr>
            <p:spPr>
              <a:xfrm>
                <a:off x="10586466" y="5620702"/>
                <a:ext cx="434721"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不良率</a:t>
                </a:r>
              </a:p>
            </p:txBody>
          </p:sp>
          <p:sp>
            <p:nvSpPr>
              <p:cNvPr id="261" name="TextBox 261"/>
              <p:cNvSpPr txBox="1"/>
              <p:nvPr/>
            </p:nvSpPr>
            <p:spPr>
              <a:xfrm>
                <a:off x="10579608" y="5913120"/>
                <a:ext cx="1229502"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≤1.5</a:t>
                </a:r>
                <a:r>
                  <a:rPr lang="zh-CN" sz="1280" b="1" dirty="0">
                    <a:solidFill>
                      <a:srgbClr val="841600"/>
                    </a:solidFill>
                    <a:latin typeface="+mn-lt"/>
                    <a:ea typeface="+mn-ea"/>
                    <a:cs typeface="+mn-cs"/>
                  </a:rPr>
                  <a:t>%</a:t>
                </a:r>
                <a:r>
                  <a:rPr lang="zh-CN" sz="2400" b="1" dirty="0">
                    <a:solidFill>
                      <a:srgbClr val="841600"/>
                    </a:solidFill>
                    <a:latin typeface="+mn-lt"/>
                    <a:ea typeface="+mn-ea"/>
                    <a:cs typeface="+mn-cs"/>
                  </a:rPr>
                  <a:t xml:space="preserve">　</a:t>
                </a:r>
              </a:p>
            </p:txBody>
          </p:sp>
        </p:grpSp>
      </p:gr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07</a:t>
              </a:r>
            </a:p>
          </p:txBody>
        </p:sp>
        <p:sp>
          <p:nvSpPr>
            <p:cNvPr id="4" name="TextBox 4"/>
            <p:cNvSpPr txBox="1"/>
            <p:nvPr/>
          </p:nvSpPr>
          <p:spPr>
            <a:xfrm>
              <a:off x="942594" y="151448"/>
              <a:ext cx="7608254"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零售金融部</a:t>
              </a:r>
              <a:r>
                <a:rPr lang="zh-CN" sz="1950" b="1" dirty="0">
                  <a:solidFill>
                    <a:srgbClr val="1A1A1A"/>
                  </a:solidFill>
                  <a:latin typeface="SimSun"/>
                  <a:ea typeface="SimSun"/>
                  <a:cs typeface="SimSun"/>
                </a:rPr>
                <a:t xml:space="preserve">｜围绕客户分层经营提升AUM、存款和综合价值　</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43" name="tier-pyramid"/>
          <p:cNvGrpSpPr/>
          <p:nvPr/>
        </p:nvGrpSpPr>
        <p:grpSpPr>
          <a:xfrm>
            <a:off x="266700" y="704850"/>
            <a:ext cx="3086170" cy="4762500"/>
            <a:chOff x="266700" y="704850"/>
            <a:chExt cx="3086170" cy="4762500"/>
          </a:xfrm>
        </p:grpSpPr>
        <p:sp>
          <p:nvSpPr>
            <p:cNvPr id="7" name="Rectangle 7"/>
            <p:cNvSpPr/>
            <p:nvPr/>
          </p:nvSpPr>
          <p:spPr>
            <a:xfrm>
              <a:off x="266700" y="704850"/>
              <a:ext cx="2857500" cy="4762500"/>
            </a:xfrm>
            <a:prstGeom prst="roundRect">
              <a:avLst>
                <a:gd name="adj" fmla="val 3333"/>
              </a:avLst>
            </a:prstGeom>
            <a:solidFill>
              <a:srgbClr val="FFFFFF"/>
            </a:solidFill>
            <a:ln w="9525">
              <a:solidFill>
                <a:srgbClr val="D7E2F2"/>
              </a:solidFill>
            </a:ln>
          </p:spPr>
        </p:sp>
        <p:sp>
          <p:nvSpPr>
            <p:cNvPr id="8" name="Rectangle 8"/>
            <p:cNvSpPr/>
            <p:nvPr/>
          </p:nvSpPr>
          <p:spPr>
            <a:xfrm>
              <a:off x="266700" y="704850"/>
              <a:ext cx="2857500" cy="381000"/>
            </a:xfrm>
            <a:prstGeom prst="roundRect">
              <a:avLst>
                <a:gd name="adj" fmla="val 25000"/>
              </a:avLst>
            </a:prstGeom>
            <a:solidFill>
              <a:srgbClr val="841600"/>
            </a:solidFill>
            <a:ln>
              <a:noFill/>
            </a:ln>
          </p:spPr>
        </p:sp>
        <p:sp>
          <p:nvSpPr>
            <p:cNvPr id="9" name="Rectangle 9"/>
            <p:cNvSpPr/>
            <p:nvPr/>
          </p:nvSpPr>
          <p:spPr>
            <a:xfrm>
              <a:off x="266700" y="914400"/>
              <a:ext cx="2857500" cy="171450"/>
            </a:xfrm>
            <a:prstGeom prst="rect">
              <a:avLst/>
            </a:prstGeom>
            <a:solidFill>
              <a:srgbClr val="841600"/>
            </a:solidFill>
            <a:ln>
              <a:noFill/>
            </a:ln>
          </p:spPr>
        </p:sp>
        <p:sp>
          <p:nvSpPr>
            <p:cNvPr id="10" name="TextBox 10"/>
            <p:cNvSpPr txBox="1"/>
            <p:nvPr/>
          </p:nvSpPr>
          <p:spPr>
            <a:xfrm>
              <a:off x="1366266" y="832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分层经营</a:t>
              </a:r>
            </a:p>
          </p:txBody>
        </p:sp>
        <p:sp>
          <p:nvSpPr>
            <p:cNvPr id="11" name="Freeform 11"/>
            <p:cNvSpPr/>
            <p:nvPr/>
          </p:nvSpPr>
          <p:spPr>
            <a:xfrm>
              <a:off x="1452562" y="1143000"/>
              <a:ext cx="428625" cy="381000"/>
            </a:xfrm>
            <a:prstGeom prst="triangle">
              <a:avLst/>
            </a:prstGeom>
            <a:solidFill>
              <a:srgbClr val="841600"/>
            </a:solidFill>
            <a:ln>
              <a:noFill/>
            </a:ln>
          </p:spPr>
        </p:sp>
        <p:sp>
          <p:nvSpPr>
            <p:cNvPr id="12" name="Freeform 12"/>
            <p:cNvSpPr/>
            <p:nvPr/>
          </p:nvSpPr>
          <p:spPr>
            <a:xfrm>
              <a:off x="1357312" y="1543050"/>
              <a:ext cx="619125" cy="838200"/>
            </a:xfrm>
            <a:prstGeom prst="trapezoid">
              <a:avLst>
                <a:gd name="adj" fmla="val 11364"/>
              </a:avLst>
            </a:prstGeom>
            <a:solidFill>
              <a:srgbClr val="841600"/>
            </a:solidFill>
            <a:ln>
              <a:noFill/>
            </a:ln>
          </p:spPr>
        </p:sp>
        <p:sp>
          <p:nvSpPr>
            <p:cNvPr id="13" name="Freeform 13"/>
            <p:cNvSpPr/>
            <p:nvPr/>
          </p:nvSpPr>
          <p:spPr>
            <a:xfrm>
              <a:off x="1095375" y="2419350"/>
              <a:ext cx="1143000" cy="838200"/>
            </a:xfrm>
            <a:prstGeom prst="trapezoid">
              <a:avLst>
                <a:gd name="adj" fmla="val 31250"/>
              </a:avLst>
            </a:prstGeom>
            <a:solidFill>
              <a:srgbClr val="9F331D"/>
            </a:solidFill>
            <a:ln>
              <a:noFill/>
            </a:ln>
          </p:spPr>
        </p:sp>
        <p:sp>
          <p:nvSpPr>
            <p:cNvPr id="14" name="Freeform 14"/>
            <p:cNvSpPr/>
            <p:nvPr/>
          </p:nvSpPr>
          <p:spPr>
            <a:xfrm>
              <a:off x="833438" y="3295650"/>
              <a:ext cx="1666875" cy="838200"/>
            </a:xfrm>
            <a:prstGeom prst="trapezoid">
              <a:avLst>
                <a:gd name="adj" fmla="val 31250"/>
              </a:avLst>
            </a:prstGeom>
            <a:solidFill>
              <a:srgbClr val="D9705B"/>
            </a:solidFill>
            <a:ln>
              <a:noFill/>
            </a:ln>
          </p:spPr>
        </p:sp>
        <p:sp>
          <p:nvSpPr>
            <p:cNvPr id="15" name="Freeform 15"/>
            <p:cNvSpPr/>
            <p:nvPr/>
          </p:nvSpPr>
          <p:spPr>
            <a:xfrm>
              <a:off x="571500" y="4171950"/>
              <a:ext cx="2190750" cy="838200"/>
            </a:xfrm>
            <a:prstGeom prst="trapezoid">
              <a:avLst>
                <a:gd name="adj" fmla="val 31250"/>
              </a:avLst>
            </a:prstGeom>
            <a:solidFill>
              <a:srgbClr val="E8B4A9"/>
            </a:solidFill>
            <a:ln>
              <a:noFill/>
            </a:ln>
          </p:spPr>
        </p:sp>
        <p:sp>
          <p:nvSpPr>
            <p:cNvPr id="16" name="Freeform 16"/>
            <p:cNvSpPr/>
            <p:nvPr/>
          </p:nvSpPr>
          <p:spPr>
            <a:xfrm>
              <a:off x="1602581" y="1833562"/>
              <a:ext cx="128588" cy="85725"/>
            </a:xfrm>
            <a:custGeom>
              <a:avLst/>
              <a:gdLst/>
              <a:ahLst/>
              <a:cxnLst/>
              <a:rect l="l" t="t" r="r" b="b"/>
              <a:pathLst>
                <a:path w="128588" h="85725">
                  <a:moveTo>
                    <a:pt x="64294" y="0"/>
                  </a:moveTo>
                  <a:lnTo>
                    <a:pt x="92869" y="42862"/>
                  </a:lnTo>
                  <a:lnTo>
                    <a:pt x="128588" y="14288"/>
                  </a:lnTo>
                  <a:lnTo>
                    <a:pt x="114300" y="85725"/>
                  </a:lnTo>
                  <a:lnTo>
                    <a:pt x="14288" y="85725"/>
                  </a:lnTo>
                  <a:lnTo>
                    <a:pt x="0" y="14288"/>
                  </a:lnTo>
                  <a:lnTo>
                    <a:pt x="35719" y="42862"/>
                  </a:lnTo>
                  <a:lnTo>
                    <a:pt x="64294" y="0"/>
                  </a:lnTo>
                </a:path>
              </a:pathLst>
            </a:custGeom>
            <a:noFill/>
            <a:ln w="14288">
              <a:solidFill>
                <a:srgbClr val="FFFFFF"/>
              </a:solidFill>
            </a:ln>
          </p:spPr>
        </p:sp>
        <p:sp>
          <p:nvSpPr>
            <p:cNvPr id="17" name="TextBox 17"/>
            <p:cNvSpPr txBox="1"/>
            <p:nvPr/>
          </p:nvSpPr>
          <p:spPr>
            <a:xfrm>
              <a:off x="1409027" y="21657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私行客户</a:t>
              </a:r>
            </a:p>
          </p:txBody>
        </p:sp>
        <p:grpSp>
          <p:nvGrpSpPr>
            <p:cNvPr id="20" name="Group 20"/>
            <p:cNvGrpSpPr/>
            <p:nvPr/>
          </p:nvGrpSpPr>
          <p:grpSpPr>
            <a:xfrm>
              <a:off x="1588294" y="2634456"/>
              <a:ext cx="157163" cy="128438"/>
              <a:chOff x="1588294" y="2634456"/>
              <a:chExt cx="157163" cy="128438"/>
            </a:xfrm>
          </p:grpSpPr>
          <p:sp>
            <p:nvSpPr>
              <p:cNvPr id="18" name="Freeform 18"/>
              <p:cNvSpPr/>
              <p:nvPr/>
            </p:nvSpPr>
            <p:spPr>
              <a:xfrm>
                <a:off x="1588294" y="2634456"/>
                <a:ext cx="157163" cy="128438"/>
              </a:xfrm>
              <a:custGeom>
                <a:avLst/>
                <a:gdLst/>
                <a:ahLst/>
                <a:cxnLst/>
                <a:rect l="l" t="t" r="r" b="b"/>
                <a:pathLst>
                  <a:path w="157163" h="128438">
                    <a:moveTo>
                      <a:pt x="26194" y="0"/>
                    </a:moveTo>
                    <a:lnTo>
                      <a:pt x="130969" y="0"/>
                    </a:lnTo>
                    <a:lnTo>
                      <a:pt x="157163" y="43656"/>
                    </a:lnTo>
                    <a:lnTo>
                      <a:pt x="82947" y="126603"/>
                    </a:lnTo>
                    <a:cubicBezTo>
                      <a:pt x="81797" y="127776"/>
                      <a:pt x="80224" y="128438"/>
                      <a:pt x="78581" y="128438"/>
                    </a:cubicBezTo>
                    <a:cubicBezTo>
                      <a:pt x="76939" y="128438"/>
                      <a:pt x="75365" y="127776"/>
                      <a:pt x="74216" y="126603"/>
                    </a:cubicBezTo>
                    <a:lnTo>
                      <a:pt x="0" y="43656"/>
                    </a:lnTo>
                    <a:lnTo>
                      <a:pt x="26194" y="0"/>
                    </a:lnTo>
                  </a:path>
                </a:pathLst>
              </a:custGeom>
              <a:noFill/>
              <a:ln w="17463">
                <a:solidFill>
                  <a:srgbClr val="FFFFFF"/>
                </a:solidFill>
              </a:ln>
            </p:spPr>
          </p:sp>
          <p:sp>
            <p:nvSpPr>
              <p:cNvPr id="19" name="Freeform 19"/>
              <p:cNvSpPr/>
              <p:nvPr/>
            </p:nvSpPr>
            <p:spPr>
              <a:xfrm>
                <a:off x="1631950" y="2667635"/>
                <a:ext cx="17463" cy="27940"/>
              </a:xfrm>
              <a:custGeom>
                <a:avLst/>
                <a:gdLst/>
                <a:ahLst/>
                <a:cxnLst/>
                <a:rect l="l" t="t" r="r" b="b"/>
                <a:pathLst>
                  <a:path w="17463" h="27940">
                    <a:moveTo>
                      <a:pt x="17463" y="27940"/>
                    </a:moveTo>
                    <a:lnTo>
                      <a:pt x="0" y="8731"/>
                    </a:lnTo>
                    <a:lnTo>
                      <a:pt x="5239" y="0"/>
                    </a:lnTo>
                  </a:path>
                </a:pathLst>
              </a:custGeom>
              <a:noFill/>
              <a:ln w="17463">
                <a:solidFill>
                  <a:srgbClr val="FFFFFF"/>
                </a:solidFill>
              </a:ln>
            </p:spPr>
          </p:sp>
        </p:grpSp>
        <p:sp>
          <p:nvSpPr>
            <p:cNvPr id="21" name="TextBox 21"/>
            <p:cNvSpPr txBox="1"/>
            <p:nvPr/>
          </p:nvSpPr>
          <p:spPr>
            <a:xfrm>
              <a:off x="1378839" y="29918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财富客户</a:t>
              </a:r>
            </a:p>
          </p:txBody>
        </p:sp>
        <p:grpSp>
          <p:nvGrpSpPr>
            <p:cNvPr id="26" name="Group 26"/>
            <p:cNvGrpSpPr/>
            <p:nvPr/>
          </p:nvGrpSpPr>
          <p:grpSpPr>
            <a:xfrm>
              <a:off x="1588294" y="3502025"/>
              <a:ext cx="157163" cy="149225"/>
              <a:chOff x="1588294" y="3502025"/>
              <a:chExt cx="157163" cy="149225"/>
            </a:xfrm>
          </p:grpSpPr>
          <p:sp>
            <p:nvSpPr>
              <p:cNvPr id="22" name="Freeform 22"/>
              <p:cNvSpPr/>
              <p:nvPr/>
            </p:nvSpPr>
            <p:spPr>
              <a:xfrm>
                <a:off x="1588294" y="357187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23" name="Freeform 23"/>
              <p:cNvSpPr/>
              <p:nvPr/>
            </p:nvSpPr>
            <p:spPr>
              <a:xfrm>
                <a:off x="1693069" y="353695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24" name="Freeform 24"/>
              <p:cNvSpPr/>
              <p:nvPr/>
            </p:nvSpPr>
            <p:spPr>
              <a:xfrm>
                <a:off x="1640681" y="350202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25" name="Freeform 25"/>
              <p:cNvSpPr/>
              <p:nvPr/>
            </p:nvSpPr>
            <p:spPr>
              <a:xfrm>
                <a:off x="1597025" y="3641725"/>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27" name="TextBox 27"/>
            <p:cNvSpPr txBox="1"/>
            <p:nvPr/>
          </p:nvSpPr>
          <p:spPr>
            <a:xfrm>
              <a:off x="1378839" y="38681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成长客户</a:t>
              </a:r>
            </a:p>
          </p:txBody>
        </p:sp>
        <p:grpSp>
          <p:nvGrpSpPr>
            <p:cNvPr id="32" name="Group 32"/>
            <p:cNvGrpSpPr/>
            <p:nvPr/>
          </p:nvGrpSpPr>
          <p:grpSpPr>
            <a:xfrm>
              <a:off x="1581150" y="4352925"/>
              <a:ext cx="171450" cy="171450"/>
              <a:chOff x="1581150" y="4352925"/>
              <a:chExt cx="171450" cy="171450"/>
            </a:xfrm>
          </p:grpSpPr>
          <p:sp>
            <p:nvSpPr>
              <p:cNvPr id="28" name="Freeform 28"/>
              <p:cNvSpPr/>
              <p:nvPr/>
            </p:nvSpPr>
            <p:spPr>
              <a:xfrm>
                <a:off x="1600200" y="43529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841600"/>
                </a:solidFill>
              </a:ln>
            </p:spPr>
          </p:sp>
          <p:sp>
            <p:nvSpPr>
              <p:cNvPr id="29" name="Freeform 29"/>
              <p:cNvSpPr/>
              <p:nvPr/>
            </p:nvSpPr>
            <p:spPr>
              <a:xfrm>
                <a:off x="1581150" y="44672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841600"/>
                </a:solidFill>
              </a:ln>
            </p:spPr>
          </p:sp>
          <p:sp>
            <p:nvSpPr>
              <p:cNvPr id="30" name="Freeform 30"/>
              <p:cNvSpPr/>
              <p:nvPr/>
            </p:nvSpPr>
            <p:spPr>
              <a:xfrm>
                <a:off x="1704975" y="43541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841600"/>
                </a:solidFill>
              </a:ln>
            </p:spPr>
          </p:sp>
          <p:sp>
            <p:nvSpPr>
              <p:cNvPr id="31" name="Freeform 31"/>
              <p:cNvSpPr/>
              <p:nvPr/>
            </p:nvSpPr>
            <p:spPr>
              <a:xfrm>
                <a:off x="1724025" y="44686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841600"/>
                </a:solidFill>
              </a:ln>
            </p:spPr>
          </p:sp>
        </p:grpSp>
        <p:sp>
          <p:nvSpPr>
            <p:cNvPr id="33" name="TextBox 33"/>
            <p:cNvSpPr txBox="1"/>
            <p:nvPr/>
          </p:nvSpPr>
          <p:spPr>
            <a:xfrm>
              <a:off x="1378839" y="4744402"/>
              <a:ext cx="576072"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大众客户</a:t>
              </a:r>
            </a:p>
          </p:txBody>
        </p:sp>
        <p:sp>
          <p:nvSpPr>
            <p:cNvPr id="34" name="Freeform 34"/>
            <p:cNvSpPr/>
            <p:nvPr/>
          </p:nvSpPr>
          <p:spPr>
            <a:xfrm>
              <a:off x="2743200" y="1619250"/>
              <a:ext cx="247650" cy="2857500"/>
            </a:xfrm>
            <a:prstGeom prst="upArrow">
              <a:avLst>
                <a:gd name="adj1" fmla="val 45000"/>
                <a:gd name="adj2" fmla="val 92000"/>
              </a:avLst>
            </a:prstGeom>
            <a:solidFill>
              <a:srgbClr val="E3907F"/>
            </a:solidFill>
            <a:ln>
              <a:noFill/>
            </a:ln>
          </p:spPr>
        </p:sp>
        <p:sp>
          <p:nvSpPr>
            <p:cNvPr id="35" name="TextBox 35"/>
            <p:cNvSpPr txBox="1"/>
            <p:nvPr/>
          </p:nvSpPr>
          <p:spPr>
            <a:xfrm rot="-5400000">
              <a:off x="2460238" y="2967038"/>
              <a:ext cx="892632" cy="161925"/>
            </a:xfrm>
            <a:prstGeom prst="rect">
              <a:avLst/>
            </a:prstGeom>
            <a:noFill/>
            <a:ln>
              <a:noFill/>
            </a:ln>
          </p:spPr>
          <p:txBody>
            <a:bodyPr wrap="none" lIns="0" tIns="0" rIns="0" bIns="0" anchor="t" anchorCtr="0">
              <a:spAutoFit/>
            </a:bodyPr>
            <a:lstStyle/>
            <a:p>
              <a:pPr algn="ctr"/>
              <a:r>
                <a:rPr lang="zh-CN" sz="820" b="1" dirty="0">
                  <a:solidFill>
                    <a:srgbClr val="841600"/>
                  </a:solidFill>
                  <a:latin typeface="+mn-lt"/>
                  <a:ea typeface="+mn-ea"/>
                  <a:cs typeface="+mn-cs"/>
                </a:rPr>
                <a:t>客户价值逐级提升</a:t>
              </a:r>
            </a:p>
          </p:txBody>
        </p:sp>
        <p:sp>
          <p:nvSpPr>
            <p:cNvPr id="36" name="TextBox 36"/>
            <p:cNvSpPr txBox="1"/>
            <p:nvPr/>
          </p:nvSpPr>
          <p:spPr>
            <a:xfrm>
              <a:off x="985838" y="5187791"/>
              <a:ext cx="230302"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大众</a:t>
              </a:r>
            </a:p>
          </p:txBody>
        </p:sp>
        <p:sp>
          <p:nvSpPr>
            <p:cNvPr id="37" name="Polygon 37"/>
            <p:cNvSpPr/>
            <p:nvPr/>
          </p:nvSpPr>
          <p:spPr>
            <a:xfrm>
              <a:off x="1257300" y="5192554"/>
              <a:ext cx="76200" cy="95250"/>
            </a:xfrm>
            <a:custGeom>
              <a:avLst/>
              <a:gdLst/>
              <a:ahLst/>
              <a:cxnLst/>
              <a:rect l="l" t="t" r="r" b="b"/>
              <a:pathLst>
                <a:path w="76200" h="95250">
                  <a:moveTo>
                    <a:pt x="0" y="0"/>
                  </a:moveTo>
                  <a:lnTo>
                    <a:pt x="76200" y="47625"/>
                  </a:lnTo>
                  <a:lnTo>
                    <a:pt x="0" y="95250"/>
                  </a:lnTo>
                  <a:close/>
                </a:path>
              </a:pathLst>
            </a:custGeom>
            <a:solidFill>
              <a:srgbClr val="C9482E"/>
            </a:solidFill>
            <a:ln>
              <a:noFill/>
            </a:ln>
          </p:spPr>
        </p:sp>
        <p:sp>
          <p:nvSpPr>
            <p:cNvPr id="38" name="TextBox 38"/>
            <p:cNvSpPr txBox="1"/>
            <p:nvPr/>
          </p:nvSpPr>
          <p:spPr>
            <a:xfrm>
              <a:off x="1385888" y="5187791"/>
              <a:ext cx="230302"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成长</a:t>
              </a:r>
            </a:p>
          </p:txBody>
        </p:sp>
        <p:sp>
          <p:nvSpPr>
            <p:cNvPr id="39" name="Polygon 39"/>
            <p:cNvSpPr/>
            <p:nvPr/>
          </p:nvSpPr>
          <p:spPr>
            <a:xfrm>
              <a:off x="1657350" y="5192554"/>
              <a:ext cx="76200" cy="95250"/>
            </a:xfrm>
            <a:custGeom>
              <a:avLst/>
              <a:gdLst/>
              <a:ahLst/>
              <a:cxnLst/>
              <a:rect l="l" t="t" r="r" b="b"/>
              <a:pathLst>
                <a:path w="76200" h="95250">
                  <a:moveTo>
                    <a:pt x="0" y="0"/>
                  </a:moveTo>
                  <a:lnTo>
                    <a:pt x="76200" y="47625"/>
                  </a:lnTo>
                  <a:lnTo>
                    <a:pt x="0" y="95250"/>
                  </a:lnTo>
                  <a:close/>
                </a:path>
              </a:pathLst>
            </a:custGeom>
            <a:solidFill>
              <a:srgbClr val="C9482E"/>
            </a:solidFill>
            <a:ln>
              <a:noFill/>
            </a:ln>
          </p:spPr>
        </p:sp>
        <p:sp>
          <p:nvSpPr>
            <p:cNvPr id="40" name="TextBox 40"/>
            <p:cNvSpPr txBox="1"/>
            <p:nvPr/>
          </p:nvSpPr>
          <p:spPr>
            <a:xfrm>
              <a:off x="1785938" y="5187791"/>
              <a:ext cx="230302"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财富</a:t>
              </a:r>
            </a:p>
          </p:txBody>
        </p:sp>
        <p:sp>
          <p:nvSpPr>
            <p:cNvPr id="41" name="Polygon 41"/>
            <p:cNvSpPr/>
            <p:nvPr/>
          </p:nvSpPr>
          <p:spPr>
            <a:xfrm>
              <a:off x="2057400" y="5192554"/>
              <a:ext cx="76200" cy="95250"/>
            </a:xfrm>
            <a:custGeom>
              <a:avLst/>
              <a:gdLst/>
              <a:ahLst/>
              <a:cxnLst/>
              <a:rect l="l" t="t" r="r" b="b"/>
              <a:pathLst>
                <a:path w="76200" h="95250">
                  <a:moveTo>
                    <a:pt x="0" y="0"/>
                  </a:moveTo>
                  <a:lnTo>
                    <a:pt x="76200" y="47625"/>
                  </a:lnTo>
                  <a:lnTo>
                    <a:pt x="0" y="95250"/>
                  </a:lnTo>
                  <a:close/>
                </a:path>
              </a:pathLst>
            </a:custGeom>
            <a:solidFill>
              <a:srgbClr val="C9482E"/>
            </a:solidFill>
            <a:ln>
              <a:noFill/>
            </a:ln>
          </p:spPr>
        </p:sp>
        <p:sp>
          <p:nvSpPr>
            <p:cNvPr id="42" name="TextBox 42"/>
            <p:cNvSpPr txBox="1"/>
            <p:nvPr/>
          </p:nvSpPr>
          <p:spPr>
            <a:xfrm>
              <a:off x="2185988" y="5187791"/>
              <a:ext cx="230302"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私行</a:t>
              </a:r>
            </a:p>
          </p:txBody>
        </p:sp>
      </p:grpSp>
      <p:grpSp>
        <p:nvGrpSpPr>
          <p:cNvPr id="104" name="lifecycle"/>
          <p:cNvGrpSpPr/>
          <p:nvPr/>
        </p:nvGrpSpPr>
        <p:grpSpPr>
          <a:xfrm>
            <a:off x="3238500" y="704850"/>
            <a:ext cx="4343400" cy="4762500"/>
            <a:chOff x="3238500" y="704850"/>
            <a:chExt cx="4343400" cy="4762500"/>
          </a:xfrm>
        </p:grpSpPr>
        <p:sp>
          <p:nvSpPr>
            <p:cNvPr id="44" name="Rectangle 44"/>
            <p:cNvSpPr/>
            <p:nvPr/>
          </p:nvSpPr>
          <p:spPr>
            <a:xfrm>
              <a:off x="3238500" y="704850"/>
              <a:ext cx="4343400" cy="4762500"/>
            </a:xfrm>
            <a:prstGeom prst="roundRect">
              <a:avLst>
                <a:gd name="adj" fmla="val 2193"/>
              </a:avLst>
            </a:prstGeom>
            <a:solidFill>
              <a:srgbClr val="FFFFFF"/>
            </a:solidFill>
            <a:ln w="9525">
              <a:solidFill>
                <a:srgbClr val="D7E2F2"/>
              </a:solidFill>
            </a:ln>
          </p:spPr>
        </p:sp>
        <p:sp>
          <p:nvSpPr>
            <p:cNvPr id="45" name="Rectangle 45"/>
            <p:cNvSpPr/>
            <p:nvPr/>
          </p:nvSpPr>
          <p:spPr>
            <a:xfrm>
              <a:off x="3238500" y="704850"/>
              <a:ext cx="4343400" cy="381000"/>
            </a:xfrm>
            <a:prstGeom prst="roundRect">
              <a:avLst>
                <a:gd name="adj" fmla="val 25000"/>
              </a:avLst>
            </a:prstGeom>
            <a:solidFill>
              <a:srgbClr val="841600"/>
            </a:solidFill>
            <a:ln>
              <a:noFill/>
            </a:ln>
          </p:spPr>
        </p:sp>
        <p:sp>
          <p:nvSpPr>
            <p:cNvPr id="46" name="Rectangle 46"/>
            <p:cNvSpPr/>
            <p:nvPr/>
          </p:nvSpPr>
          <p:spPr>
            <a:xfrm>
              <a:off x="3238500" y="914400"/>
              <a:ext cx="4343400" cy="171450"/>
            </a:xfrm>
            <a:prstGeom prst="rect">
              <a:avLst/>
            </a:prstGeom>
            <a:solidFill>
              <a:srgbClr val="841600"/>
            </a:solidFill>
            <a:ln>
              <a:noFill/>
            </a:ln>
          </p:spPr>
        </p:sp>
        <p:sp>
          <p:nvSpPr>
            <p:cNvPr id="47" name="TextBox 47"/>
            <p:cNvSpPr txBox="1"/>
            <p:nvPr/>
          </p:nvSpPr>
          <p:spPr>
            <a:xfrm>
              <a:off x="4677156" y="832485"/>
              <a:ext cx="146608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客户全生命周期运营</a:t>
              </a:r>
            </a:p>
          </p:txBody>
        </p:sp>
        <p:grpSp>
          <p:nvGrpSpPr>
            <p:cNvPr id="55" name="stage-1"/>
            <p:cNvGrpSpPr/>
            <p:nvPr/>
          </p:nvGrpSpPr>
          <p:grpSpPr>
            <a:xfrm>
              <a:off x="3409950" y="1428750"/>
              <a:ext cx="685800" cy="2355770"/>
              <a:chOff x="3409950" y="1428750"/>
              <a:chExt cx="685800" cy="2355770"/>
            </a:xfrm>
          </p:grpSpPr>
          <p:sp>
            <p:nvSpPr>
              <p:cNvPr id="48" name="Rectangle 48"/>
              <p:cNvSpPr/>
              <p:nvPr/>
            </p:nvSpPr>
            <p:spPr>
              <a:xfrm>
                <a:off x="3409950" y="1428750"/>
                <a:ext cx="685800" cy="1428750"/>
              </a:xfrm>
              <a:prstGeom prst="roundRect">
                <a:avLst>
                  <a:gd name="adj" fmla="val 11111"/>
                </a:avLst>
              </a:prstGeom>
              <a:solidFill>
                <a:srgbClr val="EFF5FD"/>
              </a:solidFill>
              <a:ln w="9525">
                <a:solidFill>
                  <a:srgbClr val="D7E2F2"/>
                </a:solidFill>
              </a:ln>
            </p:spPr>
          </p:sp>
          <p:sp>
            <p:nvSpPr>
              <p:cNvPr id="49" name="TextBox 49"/>
              <p:cNvSpPr txBox="1"/>
              <p:nvPr/>
            </p:nvSpPr>
            <p:spPr>
              <a:xfrm>
                <a:off x="3606165" y="1601152"/>
                <a:ext cx="293370" cy="205359"/>
              </a:xfrm>
              <a:prstGeom prst="rect">
                <a:avLst/>
              </a:prstGeom>
              <a:noFill/>
              <a:ln>
                <a:noFill/>
              </a:ln>
            </p:spPr>
            <p:txBody>
              <a:bodyPr wrap="none" lIns="0" tIns="0" rIns="0" bIns="0" anchor="t" anchorCtr="0">
                <a:spAutoFit/>
              </a:bodyPr>
              <a:lstStyle/>
              <a:p>
                <a:pPr algn="ctr"/>
                <a:r>
                  <a:rPr lang="zh-CN" sz="1050" b="1" dirty="0">
                    <a:solidFill>
                      <a:srgbClr val="1A1A1A"/>
                    </a:solidFill>
                    <a:latin typeface="+mn-lt"/>
                    <a:ea typeface="+mn-ea"/>
                    <a:cs typeface="+mn-cs"/>
                  </a:rPr>
                  <a:t>获客</a:t>
                </a:r>
              </a:p>
            </p:txBody>
          </p:sp>
          <p:grpSp>
            <p:nvGrpSpPr>
              <p:cNvPr id="53" name="Group 53"/>
              <p:cNvGrpSpPr/>
              <p:nvPr/>
            </p:nvGrpSpPr>
            <p:grpSpPr>
              <a:xfrm>
                <a:off x="3671888" y="2212181"/>
                <a:ext cx="202407" cy="242889"/>
                <a:chOff x="3671888" y="2212181"/>
                <a:chExt cx="202407" cy="242889"/>
              </a:xfrm>
            </p:grpSpPr>
            <p:sp>
              <p:nvSpPr>
                <p:cNvPr id="50" name="Freeform 50"/>
                <p:cNvSpPr/>
                <p:nvPr/>
              </p:nvSpPr>
              <p:spPr>
                <a:xfrm>
                  <a:off x="3698875" y="2212181"/>
                  <a:ext cx="107950" cy="107950"/>
                </a:xfrm>
                <a:custGeom>
                  <a:avLst/>
                  <a:gdLst/>
                  <a:ahLst/>
                  <a:cxnLst/>
                  <a:rect l="l" t="t" r="r" b="b"/>
                  <a:pathLst>
                    <a:path w="107950" h="107950">
                      <a:moveTo>
                        <a:pt x="0" y="53975"/>
                      </a:moveTo>
                      <a:cubicBezTo>
                        <a:pt x="0" y="83785"/>
                        <a:pt x="24165" y="107950"/>
                        <a:pt x="53975" y="107950"/>
                      </a:cubicBezTo>
                      <a:cubicBezTo>
                        <a:pt x="83785" y="107950"/>
                        <a:pt x="107950" y="83785"/>
                        <a:pt x="107950" y="53975"/>
                      </a:cubicBezTo>
                      <a:cubicBezTo>
                        <a:pt x="107950" y="24165"/>
                        <a:pt x="83785" y="0"/>
                        <a:pt x="53975" y="0"/>
                      </a:cubicBezTo>
                      <a:cubicBezTo>
                        <a:pt x="24165" y="0"/>
                        <a:pt x="0" y="24165"/>
                        <a:pt x="0" y="53975"/>
                      </a:cubicBezTo>
                    </a:path>
                  </a:pathLst>
                </a:custGeom>
                <a:noFill/>
                <a:ln w="20241">
                  <a:solidFill>
                    <a:srgbClr val="841600"/>
                  </a:solidFill>
                </a:ln>
              </p:spPr>
            </p:sp>
            <p:sp>
              <p:nvSpPr>
                <p:cNvPr id="51" name="Freeform 51"/>
                <p:cNvSpPr/>
                <p:nvPr/>
              </p:nvSpPr>
              <p:spPr>
                <a:xfrm>
                  <a:off x="3671888" y="2374107"/>
                  <a:ext cx="107950" cy="80963"/>
                </a:xfrm>
                <a:custGeom>
                  <a:avLst/>
                  <a:gdLst/>
                  <a:ahLst/>
                  <a:cxnLst/>
                  <a:rect l="l" t="t" r="r" b="b"/>
                  <a:pathLst>
                    <a:path w="107950" h="80963">
                      <a:moveTo>
                        <a:pt x="0" y="80963"/>
                      </a:moveTo>
                      <a:lnTo>
                        <a:pt x="0" y="53975"/>
                      </a:lnTo>
                      <a:cubicBezTo>
                        <a:pt x="0" y="24165"/>
                        <a:pt x="24165" y="0"/>
                        <a:pt x="53975" y="0"/>
                      </a:cubicBezTo>
                      <a:lnTo>
                        <a:pt x="107950" y="0"/>
                      </a:lnTo>
                    </a:path>
                  </a:pathLst>
                </a:custGeom>
                <a:noFill/>
                <a:ln w="20241">
                  <a:solidFill>
                    <a:srgbClr val="841600"/>
                  </a:solidFill>
                </a:ln>
              </p:spPr>
            </p:sp>
            <p:sp>
              <p:nvSpPr>
                <p:cNvPr id="52" name="Freeform 52"/>
                <p:cNvSpPr/>
                <p:nvPr/>
              </p:nvSpPr>
              <p:spPr>
                <a:xfrm>
                  <a:off x="3793332" y="2401094"/>
                  <a:ext cx="80963" cy="53975"/>
                </a:xfrm>
                <a:custGeom>
                  <a:avLst/>
                  <a:gdLst/>
                  <a:ahLst/>
                  <a:cxnLst/>
                  <a:rect l="l" t="t" r="r" b="b"/>
                  <a:pathLst>
                    <a:path w="80963" h="53975">
                      <a:moveTo>
                        <a:pt x="0" y="26988"/>
                      </a:moveTo>
                      <a:lnTo>
                        <a:pt x="26988" y="53975"/>
                      </a:lnTo>
                      <a:lnTo>
                        <a:pt x="80963" y="0"/>
                      </a:lnTo>
                    </a:path>
                  </a:pathLst>
                </a:custGeom>
                <a:noFill/>
                <a:ln w="20241">
                  <a:solidFill>
                    <a:srgbClr val="841600"/>
                  </a:solidFill>
                </a:ln>
              </p:spPr>
            </p:sp>
          </p:grpSp>
          <p:sp>
            <p:nvSpPr>
              <p:cNvPr id="54" name="TextBox 54"/>
              <p:cNvSpPr txBox="1"/>
              <p:nvPr/>
            </p:nvSpPr>
            <p:spPr>
              <a:xfrm>
                <a:off x="3447098" y="3286839"/>
                <a:ext cx="611505" cy="497681"/>
              </a:xfrm>
              <a:prstGeom prst="rect">
                <a:avLst/>
              </a:prstGeom>
              <a:noFill/>
              <a:ln>
                <a:noFill/>
              </a:ln>
            </p:spPr>
            <p:txBody>
              <a:bodyPr wrap="none" lIns="0" tIns="0" rIns="0" bIns="0" anchor="t" anchorCtr="0">
                <a:spAutoFit/>
              </a:bodyPr>
              <a:lstStyle/>
              <a:p>
                <a:pPr algn="ctr">
                  <a:lnSpc>
                    <a:spcPts val="1350"/>
                  </a:lnSpc>
                </a:pPr>
                <a:r>
                  <a:rPr lang="zh-CN" sz="790" dirty="0">
                    <a:solidFill>
                      <a:srgbClr val="473633"/>
                    </a:solidFill>
                    <a:latin typeface="+mn-lt"/>
                    <a:ea typeface="+mn-ea"/>
                    <a:cs typeface="+mn-cs"/>
                  </a:rPr>
                  <a:t>多渠道获客</a:t>
                </a:r>
                <a:br/>
                <a:r>
                  <a:rPr lang="zh-CN" sz="790" dirty="0">
                    <a:solidFill>
                      <a:srgbClr val="473633"/>
                    </a:solidFill>
                    <a:latin typeface="+mn-lt"/>
                    <a:ea typeface="+mn-ea"/>
                    <a:cs typeface="+mn-cs"/>
                  </a:rPr>
                  <a:t>扩大客户基盘</a:t>
                </a:r>
                <a:br/>
                <a:r>
                  <a:rPr lang="zh-CN" sz="790" dirty="0">
                    <a:solidFill>
                      <a:srgbClr val="473633"/>
                    </a:solidFill>
                    <a:latin typeface="+mn-lt"/>
                    <a:ea typeface="+mn-ea"/>
                    <a:cs typeface="+mn-cs"/>
                  </a:rPr>
                  <a:t>提升转化效率</a:t>
                </a:r>
              </a:p>
            </p:txBody>
          </p:sp>
        </p:grpSp>
        <p:sp>
          <p:nvSpPr>
            <p:cNvPr id="56" name="Polygon 56"/>
            <p:cNvSpPr/>
            <p:nvPr/>
          </p:nvSpPr>
          <p:spPr>
            <a:xfrm>
              <a:off x="4133850" y="2095500"/>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grpSp>
          <p:nvGrpSpPr>
            <p:cNvPr id="64" name="stage-2"/>
            <p:cNvGrpSpPr/>
            <p:nvPr/>
          </p:nvGrpSpPr>
          <p:grpSpPr>
            <a:xfrm>
              <a:off x="4248150" y="1428750"/>
              <a:ext cx="685800" cy="2355770"/>
              <a:chOff x="4248150" y="1428750"/>
              <a:chExt cx="685800" cy="2355770"/>
            </a:xfrm>
          </p:grpSpPr>
          <p:sp>
            <p:nvSpPr>
              <p:cNvPr id="57" name="Rectangle 57"/>
              <p:cNvSpPr/>
              <p:nvPr/>
            </p:nvSpPr>
            <p:spPr>
              <a:xfrm>
                <a:off x="4248150" y="1428750"/>
                <a:ext cx="685800" cy="1428750"/>
              </a:xfrm>
              <a:prstGeom prst="roundRect">
                <a:avLst>
                  <a:gd name="adj" fmla="val 11111"/>
                </a:avLst>
              </a:prstGeom>
              <a:solidFill>
                <a:srgbClr val="EFF5FD"/>
              </a:solidFill>
              <a:ln w="9525">
                <a:solidFill>
                  <a:srgbClr val="D7E2F2"/>
                </a:solidFill>
              </a:ln>
            </p:spPr>
          </p:sp>
          <p:sp>
            <p:nvSpPr>
              <p:cNvPr id="58" name="TextBox 58"/>
              <p:cNvSpPr txBox="1"/>
              <p:nvPr/>
            </p:nvSpPr>
            <p:spPr>
              <a:xfrm>
                <a:off x="4444365" y="1601152"/>
                <a:ext cx="293370" cy="205359"/>
              </a:xfrm>
              <a:prstGeom prst="rect">
                <a:avLst/>
              </a:prstGeom>
              <a:noFill/>
              <a:ln>
                <a:noFill/>
              </a:ln>
            </p:spPr>
            <p:txBody>
              <a:bodyPr wrap="none" lIns="0" tIns="0" rIns="0" bIns="0" anchor="t" anchorCtr="0">
                <a:spAutoFit/>
              </a:bodyPr>
              <a:lstStyle/>
              <a:p>
                <a:pPr algn="ctr"/>
                <a:r>
                  <a:rPr lang="zh-CN" sz="1050" b="1" dirty="0">
                    <a:solidFill>
                      <a:srgbClr val="1A1A1A"/>
                    </a:solidFill>
                    <a:latin typeface="+mn-lt"/>
                    <a:ea typeface="+mn-ea"/>
                    <a:cs typeface="+mn-cs"/>
                  </a:rPr>
                  <a:t>激活</a:t>
                </a:r>
              </a:p>
            </p:txBody>
          </p:sp>
          <p:grpSp>
            <p:nvGrpSpPr>
              <p:cNvPr id="62" name="Group 62"/>
              <p:cNvGrpSpPr/>
              <p:nvPr/>
            </p:nvGrpSpPr>
            <p:grpSpPr>
              <a:xfrm>
                <a:off x="4469606" y="2212181"/>
                <a:ext cx="242888" cy="242888"/>
                <a:chOff x="4469606" y="2212181"/>
                <a:chExt cx="242888" cy="242888"/>
              </a:xfrm>
            </p:grpSpPr>
            <p:sp>
              <p:nvSpPr>
                <p:cNvPr id="59" name="Freeform 59"/>
                <p:cNvSpPr/>
                <p:nvPr/>
              </p:nvSpPr>
              <p:spPr>
                <a:xfrm>
                  <a:off x="4577557" y="2320132"/>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0241">
                  <a:solidFill>
                    <a:srgbClr val="841600"/>
                  </a:solidFill>
                </a:ln>
              </p:spPr>
            </p:sp>
            <p:sp>
              <p:nvSpPr>
                <p:cNvPr id="60" name="Freeform 60"/>
                <p:cNvSpPr/>
                <p:nvPr/>
              </p:nvSpPr>
              <p:spPr>
                <a:xfrm>
                  <a:off x="4523581" y="2266156"/>
                  <a:ext cx="134938" cy="134938"/>
                </a:xfrm>
                <a:custGeom>
                  <a:avLst/>
                  <a:gdLst/>
                  <a:ahLst/>
                  <a:cxnLst/>
                  <a:rect l="l" t="t" r="r" b="b"/>
                  <a:pathLst>
                    <a:path w="134938" h="134938">
                      <a:moveTo>
                        <a:pt x="0" y="67469"/>
                      </a:moveTo>
                      <a:cubicBezTo>
                        <a:pt x="0" y="104731"/>
                        <a:pt x="30207" y="134938"/>
                        <a:pt x="67469" y="134938"/>
                      </a:cubicBezTo>
                      <a:cubicBezTo>
                        <a:pt x="104731" y="134938"/>
                        <a:pt x="134938" y="104731"/>
                        <a:pt x="134938" y="67469"/>
                      </a:cubicBezTo>
                      <a:cubicBezTo>
                        <a:pt x="134938" y="30207"/>
                        <a:pt x="104731" y="0"/>
                        <a:pt x="67469" y="0"/>
                      </a:cubicBezTo>
                      <a:cubicBezTo>
                        <a:pt x="30207" y="0"/>
                        <a:pt x="0" y="30207"/>
                        <a:pt x="0" y="67469"/>
                      </a:cubicBezTo>
                    </a:path>
                  </a:pathLst>
                </a:custGeom>
                <a:noFill/>
                <a:ln w="20241">
                  <a:solidFill>
                    <a:srgbClr val="841600"/>
                  </a:solidFill>
                </a:ln>
              </p:spPr>
            </p:sp>
            <p:sp>
              <p:nvSpPr>
                <p:cNvPr id="61" name="Freeform 61"/>
                <p:cNvSpPr/>
                <p:nvPr/>
              </p:nvSpPr>
              <p:spPr>
                <a:xfrm>
                  <a:off x="4469606" y="2212181"/>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20241">
                  <a:solidFill>
                    <a:srgbClr val="841600"/>
                  </a:solidFill>
                </a:ln>
              </p:spPr>
            </p:sp>
          </p:grpSp>
          <p:sp>
            <p:nvSpPr>
              <p:cNvPr id="63" name="TextBox 63"/>
              <p:cNvSpPr txBox="1"/>
              <p:nvPr/>
            </p:nvSpPr>
            <p:spPr>
              <a:xfrm>
                <a:off x="4285298" y="3286839"/>
                <a:ext cx="611505" cy="497681"/>
              </a:xfrm>
              <a:prstGeom prst="rect">
                <a:avLst/>
              </a:prstGeom>
              <a:noFill/>
              <a:ln>
                <a:noFill/>
              </a:ln>
            </p:spPr>
            <p:txBody>
              <a:bodyPr wrap="none" lIns="0" tIns="0" rIns="0" bIns="0" anchor="t" anchorCtr="0">
                <a:spAutoFit/>
              </a:bodyPr>
              <a:lstStyle/>
              <a:p>
                <a:pPr algn="ctr">
                  <a:lnSpc>
                    <a:spcPts val="1350"/>
                  </a:lnSpc>
                </a:pPr>
                <a:r>
                  <a:rPr lang="zh-CN" sz="790" dirty="0">
                    <a:solidFill>
                      <a:srgbClr val="473633"/>
                    </a:solidFill>
                    <a:latin typeface="+mn-lt"/>
                    <a:ea typeface="+mn-ea"/>
                    <a:cs typeface="+mn-cs"/>
                  </a:rPr>
                  <a:t>完善客户画像</a:t>
                </a:r>
                <a:br/>
                <a:r>
                  <a:rPr lang="zh-CN" sz="790" dirty="0">
                    <a:solidFill>
                      <a:srgbClr val="473633"/>
                    </a:solidFill>
                    <a:latin typeface="+mn-lt"/>
                    <a:ea typeface="+mn-ea"/>
                    <a:cs typeface="+mn-cs"/>
                  </a:rPr>
                  <a:t>激活沉睡客户</a:t>
                </a:r>
                <a:br/>
                <a:r>
                  <a:rPr lang="zh-CN" sz="790" dirty="0">
                    <a:solidFill>
                      <a:srgbClr val="473633"/>
                    </a:solidFill>
                    <a:latin typeface="+mn-lt"/>
                    <a:ea typeface="+mn-ea"/>
                    <a:cs typeface="+mn-cs"/>
                  </a:rPr>
                  <a:t>提升活跃度</a:t>
                </a:r>
              </a:p>
            </p:txBody>
          </p:sp>
        </p:grpSp>
        <p:sp>
          <p:nvSpPr>
            <p:cNvPr id="65" name="Polygon 65"/>
            <p:cNvSpPr/>
            <p:nvPr/>
          </p:nvSpPr>
          <p:spPr>
            <a:xfrm>
              <a:off x="4972050" y="2095500"/>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grpSp>
          <p:nvGrpSpPr>
            <p:cNvPr id="74" name="stage-3"/>
            <p:cNvGrpSpPr/>
            <p:nvPr/>
          </p:nvGrpSpPr>
          <p:grpSpPr>
            <a:xfrm>
              <a:off x="5086350" y="1428750"/>
              <a:ext cx="685800" cy="2355770"/>
              <a:chOff x="5086350" y="1428750"/>
              <a:chExt cx="685800" cy="2355770"/>
            </a:xfrm>
          </p:grpSpPr>
          <p:sp>
            <p:nvSpPr>
              <p:cNvPr id="66" name="Rectangle 66"/>
              <p:cNvSpPr/>
              <p:nvPr/>
            </p:nvSpPr>
            <p:spPr>
              <a:xfrm>
                <a:off x="5086350" y="1428750"/>
                <a:ext cx="685800" cy="1428750"/>
              </a:xfrm>
              <a:prstGeom prst="roundRect">
                <a:avLst>
                  <a:gd name="adj" fmla="val 11111"/>
                </a:avLst>
              </a:prstGeom>
              <a:solidFill>
                <a:srgbClr val="EFF5FD"/>
              </a:solidFill>
              <a:ln w="9525">
                <a:solidFill>
                  <a:srgbClr val="D7E2F2"/>
                </a:solidFill>
              </a:ln>
            </p:spPr>
          </p:sp>
          <p:sp>
            <p:nvSpPr>
              <p:cNvPr id="67" name="TextBox 67"/>
              <p:cNvSpPr txBox="1"/>
              <p:nvPr/>
            </p:nvSpPr>
            <p:spPr>
              <a:xfrm>
                <a:off x="5282565" y="1601152"/>
                <a:ext cx="293370" cy="205359"/>
              </a:xfrm>
              <a:prstGeom prst="rect">
                <a:avLst/>
              </a:prstGeom>
              <a:noFill/>
              <a:ln>
                <a:noFill/>
              </a:ln>
            </p:spPr>
            <p:txBody>
              <a:bodyPr wrap="none" lIns="0" tIns="0" rIns="0" bIns="0" anchor="t" anchorCtr="0">
                <a:spAutoFit/>
              </a:bodyPr>
              <a:lstStyle/>
              <a:p>
                <a:pPr algn="ctr"/>
                <a:r>
                  <a:rPr lang="zh-CN" sz="1050" b="1" dirty="0">
                    <a:solidFill>
                      <a:srgbClr val="1A1A1A"/>
                    </a:solidFill>
                    <a:latin typeface="+mn-lt"/>
                    <a:ea typeface="+mn-ea"/>
                    <a:cs typeface="+mn-cs"/>
                  </a:rPr>
                  <a:t>提级</a:t>
                </a:r>
              </a:p>
            </p:txBody>
          </p:sp>
          <p:grpSp>
            <p:nvGrpSpPr>
              <p:cNvPr id="72" name="Group 72"/>
              <p:cNvGrpSpPr/>
              <p:nvPr/>
            </p:nvGrpSpPr>
            <p:grpSpPr>
              <a:xfrm>
                <a:off x="5307806" y="2225675"/>
                <a:ext cx="242889" cy="225426"/>
                <a:chOff x="5307806" y="2225675"/>
                <a:chExt cx="242889" cy="225426"/>
              </a:xfrm>
            </p:grpSpPr>
            <p:sp>
              <p:nvSpPr>
                <p:cNvPr id="68" name="Freeform 68"/>
                <p:cNvSpPr/>
                <p:nvPr/>
              </p:nvSpPr>
              <p:spPr>
                <a:xfrm>
                  <a:off x="5307806" y="2333625"/>
                  <a:ext cx="80963" cy="107950"/>
                </a:xfrm>
                <a:custGeom>
                  <a:avLst/>
                  <a:gdLst/>
                  <a:ahLst/>
                  <a:cxnLst/>
                  <a:rect l="l" t="t" r="r" b="b"/>
                  <a:pathLst>
                    <a:path w="80963" h="107950">
                      <a:moveTo>
                        <a:pt x="0" y="13494"/>
                      </a:moveTo>
                      <a:cubicBezTo>
                        <a:pt x="0" y="6041"/>
                        <a:pt x="6041" y="0"/>
                        <a:pt x="13494" y="0"/>
                      </a:cubicBezTo>
                      <a:lnTo>
                        <a:pt x="67469" y="0"/>
                      </a:lnTo>
                      <a:cubicBezTo>
                        <a:pt x="74921" y="0"/>
                        <a:pt x="80963" y="6041"/>
                        <a:pt x="80963" y="13494"/>
                      </a:cubicBezTo>
                      <a:lnTo>
                        <a:pt x="80963" y="94456"/>
                      </a:lnTo>
                      <a:cubicBezTo>
                        <a:pt x="80963" y="101909"/>
                        <a:pt x="74921" y="107950"/>
                        <a:pt x="67469" y="107950"/>
                      </a:cubicBezTo>
                      <a:lnTo>
                        <a:pt x="13494" y="107950"/>
                      </a:lnTo>
                      <a:cubicBezTo>
                        <a:pt x="6041" y="107950"/>
                        <a:pt x="0" y="101909"/>
                        <a:pt x="0" y="94456"/>
                      </a:cubicBezTo>
                      <a:lnTo>
                        <a:pt x="0" y="13494"/>
                      </a:lnTo>
                    </a:path>
                  </a:pathLst>
                </a:custGeom>
                <a:noFill/>
                <a:ln w="20241">
                  <a:solidFill>
                    <a:srgbClr val="841600"/>
                  </a:solidFill>
                </a:ln>
              </p:spPr>
            </p:sp>
            <p:sp>
              <p:nvSpPr>
                <p:cNvPr id="69" name="Freeform 69"/>
                <p:cNvSpPr/>
                <p:nvPr/>
              </p:nvSpPr>
              <p:spPr>
                <a:xfrm>
                  <a:off x="5469732" y="2279650"/>
                  <a:ext cx="80963" cy="161925"/>
                </a:xfrm>
                <a:custGeom>
                  <a:avLst/>
                  <a:gdLst/>
                  <a:ahLst/>
                  <a:cxnLst/>
                  <a:rect l="l" t="t" r="r" b="b"/>
                  <a:pathLst>
                    <a:path w="80963" h="161925">
                      <a:moveTo>
                        <a:pt x="0" y="13494"/>
                      </a:moveTo>
                      <a:cubicBezTo>
                        <a:pt x="0" y="6041"/>
                        <a:pt x="6041" y="0"/>
                        <a:pt x="13494" y="0"/>
                      </a:cubicBezTo>
                      <a:lnTo>
                        <a:pt x="67469" y="0"/>
                      </a:lnTo>
                      <a:cubicBezTo>
                        <a:pt x="74921" y="0"/>
                        <a:pt x="80963" y="6041"/>
                        <a:pt x="80963" y="13494"/>
                      </a:cubicBezTo>
                      <a:lnTo>
                        <a:pt x="80963" y="148432"/>
                      </a:lnTo>
                      <a:cubicBezTo>
                        <a:pt x="80963" y="155884"/>
                        <a:pt x="74921" y="161925"/>
                        <a:pt x="67469" y="161925"/>
                      </a:cubicBezTo>
                      <a:lnTo>
                        <a:pt x="13494" y="161925"/>
                      </a:lnTo>
                      <a:cubicBezTo>
                        <a:pt x="6041" y="161925"/>
                        <a:pt x="0" y="155884"/>
                        <a:pt x="0" y="148432"/>
                      </a:cubicBezTo>
                      <a:lnTo>
                        <a:pt x="0" y="13494"/>
                      </a:lnTo>
                    </a:path>
                  </a:pathLst>
                </a:custGeom>
                <a:noFill/>
                <a:ln w="20241">
                  <a:solidFill>
                    <a:srgbClr val="841600"/>
                  </a:solidFill>
                </a:ln>
              </p:spPr>
            </p:sp>
            <p:sp>
              <p:nvSpPr>
                <p:cNvPr id="70" name="Freeform 70"/>
                <p:cNvSpPr/>
                <p:nvPr/>
              </p:nvSpPr>
              <p:spPr>
                <a:xfrm>
                  <a:off x="5388769" y="2225675"/>
                  <a:ext cx="80963" cy="215901"/>
                </a:xfrm>
                <a:custGeom>
                  <a:avLst/>
                  <a:gdLst/>
                  <a:ahLst/>
                  <a:cxnLst/>
                  <a:rect l="l" t="t" r="r" b="b"/>
                  <a:pathLst>
                    <a:path w="80963" h="215901">
                      <a:moveTo>
                        <a:pt x="0" y="13494"/>
                      </a:moveTo>
                      <a:cubicBezTo>
                        <a:pt x="0" y="6041"/>
                        <a:pt x="6041" y="0"/>
                        <a:pt x="13494" y="0"/>
                      </a:cubicBezTo>
                      <a:lnTo>
                        <a:pt x="67469" y="0"/>
                      </a:lnTo>
                      <a:cubicBezTo>
                        <a:pt x="74921" y="0"/>
                        <a:pt x="80963" y="6041"/>
                        <a:pt x="80963" y="13494"/>
                      </a:cubicBezTo>
                      <a:lnTo>
                        <a:pt x="80963" y="202407"/>
                      </a:lnTo>
                      <a:cubicBezTo>
                        <a:pt x="80963" y="209859"/>
                        <a:pt x="74921" y="215901"/>
                        <a:pt x="67469" y="215901"/>
                      </a:cubicBezTo>
                      <a:lnTo>
                        <a:pt x="13494" y="215901"/>
                      </a:lnTo>
                      <a:cubicBezTo>
                        <a:pt x="6041" y="215901"/>
                        <a:pt x="0" y="209859"/>
                        <a:pt x="0" y="202407"/>
                      </a:cubicBezTo>
                      <a:lnTo>
                        <a:pt x="0" y="13494"/>
                      </a:lnTo>
                    </a:path>
                  </a:pathLst>
                </a:custGeom>
                <a:noFill/>
                <a:ln w="20241">
                  <a:solidFill>
                    <a:srgbClr val="841600"/>
                  </a:solidFill>
                </a:ln>
              </p:spPr>
            </p:sp>
            <p:sp>
              <p:nvSpPr>
                <p:cNvPr id="71" name="Freeform 71"/>
                <p:cNvSpPr/>
                <p:nvPr/>
              </p:nvSpPr>
              <p:spPr>
                <a:xfrm>
                  <a:off x="5321300" y="2441576"/>
                  <a:ext cx="188913" cy="9525"/>
                </a:xfrm>
                <a:custGeom>
                  <a:avLst/>
                  <a:gdLst/>
                  <a:ahLst/>
                  <a:cxnLst/>
                  <a:rect l="l" t="t" r="r" b="b"/>
                  <a:pathLst>
                    <a:path w="188913" h="9525">
                      <a:moveTo>
                        <a:pt x="0" y="0"/>
                      </a:moveTo>
                      <a:lnTo>
                        <a:pt x="188913" y="0"/>
                      </a:lnTo>
                    </a:path>
                  </a:pathLst>
                </a:custGeom>
                <a:noFill/>
                <a:ln w="20241">
                  <a:solidFill>
                    <a:srgbClr val="841600"/>
                  </a:solidFill>
                </a:ln>
              </p:spPr>
            </p:sp>
          </p:grpSp>
          <p:sp>
            <p:nvSpPr>
              <p:cNvPr id="73" name="TextBox 73"/>
              <p:cNvSpPr txBox="1"/>
              <p:nvPr/>
            </p:nvSpPr>
            <p:spPr>
              <a:xfrm>
                <a:off x="5123498" y="3286839"/>
                <a:ext cx="611505" cy="497681"/>
              </a:xfrm>
              <a:prstGeom prst="rect">
                <a:avLst/>
              </a:prstGeom>
              <a:noFill/>
              <a:ln>
                <a:noFill/>
              </a:ln>
            </p:spPr>
            <p:txBody>
              <a:bodyPr wrap="none" lIns="0" tIns="0" rIns="0" bIns="0" anchor="t" anchorCtr="0">
                <a:spAutoFit/>
              </a:bodyPr>
              <a:lstStyle/>
              <a:p>
                <a:pPr algn="ctr">
                  <a:lnSpc>
                    <a:spcPts val="1350"/>
                  </a:lnSpc>
                </a:pPr>
                <a:r>
                  <a:rPr lang="zh-CN" sz="790" dirty="0">
                    <a:solidFill>
                      <a:srgbClr val="473633"/>
                    </a:solidFill>
                    <a:latin typeface="+mn-lt"/>
                    <a:ea typeface="+mn-ea"/>
                    <a:cs typeface="+mn-cs"/>
                  </a:rPr>
                  <a:t>满足客户需求</a:t>
                </a:r>
                <a:br/>
                <a:r>
                  <a:rPr lang="zh-CN" sz="790" dirty="0">
                    <a:solidFill>
                      <a:srgbClr val="473633"/>
                    </a:solidFill>
                    <a:latin typeface="+mn-lt"/>
                    <a:ea typeface="+mn-ea"/>
                    <a:cs typeface="+mn-cs"/>
                  </a:rPr>
                  <a:t>推动客户升级</a:t>
                </a:r>
                <a:br/>
                <a:r>
                  <a:rPr lang="zh-CN" sz="790" dirty="0">
                    <a:solidFill>
                      <a:srgbClr val="473633"/>
                    </a:solidFill>
                    <a:latin typeface="+mn-lt"/>
                    <a:ea typeface="+mn-ea"/>
                    <a:cs typeface="+mn-cs"/>
                  </a:rPr>
                  <a:t>提升客户价值</a:t>
                </a:r>
              </a:p>
            </p:txBody>
          </p:sp>
        </p:grpSp>
        <p:sp>
          <p:nvSpPr>
            <p:cNvPr id="75" name="Polygon 75"/>
            <p:cNvSpPr/>
            <p:nvPr/>
          </p:nvSpPr>
          <p:spPr>
            <a:xfrm>
              <a:off x="5810250" y="2095500"/>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grpSp>
          <p:nvGrpSpPr>
            <p:cNvPr id="84" name="stage-4"/>
            <p:cNvGrpSpPr/>
            <p:nvPr/>
          </p:nvGrpSpPr>
          <p:grpSpPr>
            <a:xfrm>
              <a:off x="5924550" y="1428750"/>
              <a:ext cx="685800" cy="2355770"/>
              <a:chOff x="5924550" y="1428750"/>
              <a:chExt cx="685800" cy="2355770"/>
            </a:xfrm>
          </p:grpSpPr>
          <p:sp>
            <p:nvSpPr>
              <p:cNvPr id="76" name="Rectangle 76"/>
              <p:cNvSpPr/>
              <p:nvPr/>
            </p:nvSpPr>
            <p:spPr>
              <a:xfrm>
                <a:off x="5924550" y="1428750"/>
                <a:ext cx="685800" cy="1428750"/>
              </a:xfrm>
              <a:prstGeom prst="roundRect">
                <a:avLst>
                  <a:gd name="adj" fmla="val 11111"/>
                </a:avLst>
              </a:prstGeom>
              <a:solidFill>
                <a:srgbClr val="EFF5FD"/>
              </a:solidFill>
              <a:ln w="9525">
                <a:solidFill>
                  <a:srgbClr val="D7E2F2"/>
                </a:solidFill>
              </a:ln>
            </p:spPr>
          </p:sp>
          <p:sp>
            <p:nvSpPr>
              <p:cNvPr id="77" name="TextBox 77"/>
              <p:cNvSpPr txBox="1"/>
              <p:nvPr/>
            </p:nvSpPr>
            <p:spPr>
              <a:xfrm>
                <a:off x="5979414" y="1601152"/>
                <a:ext cx="576072" cy="205359"/>
              </a:xfrm>
              <a:prstGeom prst="rect">
                <a:avLst/>
              </a:prstGeom>
              <a:noFill/>
              <a:ln>
                <a:noFill/>
              </a:ln>
            </p:spPr>
            <p:txBody>
              <a:bodyPr wrap="none" lIns="0" tIns="0" rIns="0" bIns="0" anchor="t" anchorCtr="0">
                <a:spAutoFit/>
              </a:bodyPr>
              <a:lstStyle/>
              <a:p>
                <a:pPr algn="ctr"/>
                <a:r>
                  <a:rPr lang="zh-CN" sz="1050" b="1" dirty="0">
                    <a:solidFill>
                      <a:srgbClr val="1A1A1A"/>
                    </a:solidFill>
                    <a:latin typeface="+mn-lt"/>
                    <a:ea typeface="+mn-ea"/>
                    <a:cs typeface="+mn-cs"/>
                  </a:rPr>
                  <a:t>交叉销售</a:t>
                </a:r>
              </a:p>
            </p:txBody>
          </p:sp>
          <p:grpSp>
            <p:nvGrpSpPr>
              <p:cNvPr id="82" name="Group 82"/>
              <p:cNvGrpSpPr/>
              <p:nvPr/>
            </p:nvGrpSpPr>
            <p:grpSpPr>
              <a:xfrm>
                <a:off x="6146006" y="2225675"/>
                <a:ext cx="242888" cy="215901"/>
                <a:chOff x="6146006" y="2225675"/>
                <a:chExt cx="242888" cy="215901"/>
              </a:xfrm>
            </p:grpSpPr>
            <p:sp>
              <p:nvSpPr>
                <p:cNvPr id="78" name="Freeform 78"/>
                <p:cNvSpPr/>
                <p:nvPr/>
              </p:nvSpPr>
              <p:spPr>
                <a:xfrm>
                  <a:off x="6146006" y="2266156"/>
                  <a:ext cx="242888" cy="9525"/>
                </a:xfrm>
                <a:custGeom>
                  <a:avLst/>
                  <a:gdLst/>
                  <a:ahLst/>
                  <a:cxnLst/>
                  <a:rect l="l" t="t" r="r" b="b"/>
                  <a:pathLst>
                    <a:path w="242888" h="9525">
                      <a:moveTo>
                        <a:pt x="242888" y="0"/>
                      </a:moveTo>
                      <a:lnTo>
                        <a:pt x="0" y="0"/>
                      </a:lnTo>
                    </a:path>
                  </a:pathLst>
                </a:custGeom>
                <a:noFill/>
                <a:ln w="20241">
                  <a:solidFill>
                    <a:srgbClr val="841600"/>
                  </a:solidFill>
                </a:ln>
              </p:spPr>
            </p:sp>
            <p:sp>
              <p:nvSpPr>
                <p:cNvPr id="79" name="Freeform 79"/>
                <p:cNvSpPr/>
                <p:nvPr/>
              </p:nvSpPr>
              <p:spPr>
                <a:xfrm>
                  <a:off x="6348413" y="2225675"/>
                  <a:ext cx="40481" cy="80963"/>
                </a:xfrm>
                <a:custGeom>
                  <a:avLst/>
                  <a:gdLst/>
                  <a:ahLst/>
                  <a:cxnLst/>
                  <a:rect l="l" t="t" r="r" b="b"/>
                  <a:pathLst>
                    <a:path w="40481" h="80963">
                      <a:moveTo>
                        <a:pt x="0" y="80963"/>
                      </a:moveTo>
                      <a:lnTo>
                        <a:pt x="40481" y="40481"/>
                      </a:lnTo>
                      <a:lnTo>
                        <a:pt x="0" y="0"/>
                      </a:lnTo>
                    </a:path>
                  </a:pathLst>
                </a:custGeom>
                <a:noFill/>
                <a:ln w="20241">
                  <a:solidFill>
                    <a:srgbClr val="841600"/>
                  </a:solidFill>
                </a:ln>
              </p:spPr>
            </p:sp>
            <p:sp>
              <p:nvSpPr>
                <p:cNvPr id="80" name="Freeform 80"/>
                <p:cNvSpPr/>
                <p:nvPr/>
              </p:nvSpPr>
              <p:spPr>
                <a:xfrm>
                  <a:off x="6146006" y="2360613"/>
                  <a:ext cx="40481" cy="80963"/>
                </a:xfrm>
                <a:custGeom>
                  <a:avLst/>
                  <a:gdLst/>
                  <a:ahLst/>
                  <a:cxnLst/>
                  <a:rect l="l" t="t" r="r" b="b"/>
                  <a:pathLst>
                    <a:path w="40481" h="80963">
                      <a:moveTo>
                        <a:pt x="40481" y="80963"/>
                      </a:moveTo>
                      <a:lnTo>
                        <a:pt x="0" y="40481"/>
                      </a:lnTo>
                      <a:lnTo>
                        <a:pt x="40481" y="0"/>
                      </a:lnTo>
                    </a:path>
                  </a:pathLst>
                </a:custGeom>
                <a:noFill/>
                <a:ln w="20241">
                  <a:solidFill>
                    <a:srgbClr val="841600"/>
                  </a:solidFill>
                </a:ln>
              </p:spPr>
            </p:sp>
            <p:sp>
              <p:nvSpPr>
                <p:cNvPr id="81" name="Freeform 81"/>
                <p:cNvSpPr/>
                <p:nvPr/>
              </p:nvSpPr>
              <p:spPr>
                <a:xfrm>
                  <a:off x="6146006" y="2401094"/>
                  <a:ext cx="242888" cy="9525"/>
                </a:xfrm>
                <a:custGeom>
                  <a:avLst/>
                  <a:gdLst/>
                  <a:ahLst/>
                  <a:cxnLst/>
                  <a:rect l="l" t="t" r="r" b="b"/>
                  <a:pathLst>
                    <a:path w="242888" h="9525">
                      <a:moveTo>
                        <a:pt x="0" y="0"/>
                      </a:moveTo>
                      <a:lnTo>
                        <a:pt x="242888" y="0"/>
                      </a:lnTo>
                    </a:path>
                  </a:pathLst>
                </a:custGeom>
                <a:noFill/>
                <a:ln w="20241">
                  <a:solidFill>
                    <a:srgbClr val="841600"/>
                  </a:solidFill>
                </a:ln>
              </p:spPr>
            </p:sp>
          </p:grpSp>
          <p:sp>
            <p:nvSpPr>
              <p:cNvPr id="83" name="TextBox 83"/>
              <p:cNvSpPr txBox="1"/>
              <p:nvPr/>
            </p:nvSpPr>
            <p:spPr>
              <a:xfrm>
                <a:off x="5961698" y="3286839"/>
                <a:ext cx="611505" cy="497681"/>
              </a:xfrm>
              <a:prstGeom prst="rect">
                <a:avLst/>
              </a:prstGeom>
              <a:noFill/>
              <a:ln>
                <a:noFill/>
              </a:ln>
            </p:spPr>
            <p:txBody>
              <a:bodyPr wrap="none" lIns="0" tIns="0" rIns="0" bIns="0" anchor="t" anchorCtr="0">
                <a:spAutoFit/>
              </a:bodyPr>
              <a:lstStyle/>
              <a:p>
                <a:pPr algn="ctr">
                  <a:lnSpc>
                    <a:spcPts val="1350"/>
                  </a:lnSpc>
                </a:pPr>
                <a:r>
                  <a:rPr lang="zh-CN" sz="790" dirty="0">
                    <a:solidFill>
                      <a:srgbClr val="473633"/>
                    </a:solidFill>
                    <a:latin typeface="+mn-lt"/>
                    <a:ea typeface="+mn-ea"/>
                    <a:cs typeface="+mn-cs"/>
                  </a:rPr>
                  <a:t>协同产品体系</a:t>
                </a:r>
                <a:br/>
                <a:r>
                  <a:rPr lang="zh-CN" sz="790" dirty="0">
                    <a:solidFill>
                      <a:srgbClr val="473633"/>
                    </a:solidFill>
                    <a:latin typeface="+mn-lt"/>
                    <a:ea typeface="+mn-ea"/>
                    <a:cs typeface="+mn-cs"/>
                  </a:rPr>
                  <a:t>拓展客户持有</a:t>
                </a:r>
                <a:br/>
                <a:r>
                  <a:rPr lang="zh-CN" sz="790" dirty="0">
                    <a:solidFill>
                      <a:srgbClr val="473633"/>
                    </a:solidFill>
                    <a:latin typeface="+mn-lt"/>
                    <a:ea typeface="+mn-ea"/>
                    <a:cs typeface="+mn-cs"/>
                  </a:rPr>
                  <a:t>提升综合贡献</a:t>
                </a:r>
              </a:p>
            </p:txBody>
          </p:sp>
        </p:grpSp>
        <p:sp>
          <p:nvSpPr>
            <p:cNvPr id="85" name="Polygon 85"/>
            <p:cNvSpPr/>
            <p:nvPr/>
          </p:nvSpPr>
          <p:spPr>
            <a:xfrm>
              <a:off x="6648450" y="2095500"/>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grpSp>
          <p:nvGrpSpPr>
            <p:cNvPr id="92" name="stage-5"/>
            <p:cNvGrpSpPr/>
            <p:nvPr/>
          </p:nvGrpSpPr>
          <p:grpSpPr>
            <a:xfrm>
              <a:off x="6762750" y="1428750"/>
              <a:ext cx="685800" cy="2355770"/>
              <a:chOff x="6762750" y="1428750"/>
              <a:chExt cx="685800" cy="2355770"/>
            </a:xfrm>
          </p:grpSpPr>
          <p:sp>
            <p:nvSpPr>
              <p:cNvPr id="86" name="Rectangle 86"/>
              <p:cNvSpPr/>
              <p:nvPr/>
            </p:nvSpPr>
            <p:spPr>
              <a:xfrm>
                <a:off x="6762750" y="1428750"/>
                <a:ext cx="685800" cy="1428750"/>
              </a:xfrm>
              <a:prstGeom prst="roundRect">
                <a:avLst>
                  <a:gd name="adj" fmla="val 11111"/>
                </a:avLst>
              </a:prstGeom>
              <a:solidFill>
                <a:srgbClr val="EFF5FD"/>
              </a:solidFill>
              <a:ln w="9525">
                <a:solidFill>
                  <a:srgbClr val="D7E2F2"/>
                </a:solidFill>
              </a:ln>
            </p:spPr>
          </p:sp>
          <p:sp>
            <p:nvSpPr>
              <p:cNvPr id="87" name="TextBox 87"/>
              <p:cNvSpPr txBox="1"/>
              <p:nvPr/>
            </p:nvSpPr>
            <p:spPr>
              <a:xfrm>
                <a:off x="6888290" y="1601152"/>
                <a:ext cx="434721" cy="205359"/>
              </a:xfrm>
              <a:prstGeom prst="rect">
                <a:avLst/>
              </a:prstGeom>
              <a:noFill/>
              <a:ln>
                <a:noFill/>
              </a:ln>
            </p:spPr>
            <p:txBody>
              <a:bodyPr wrap="none" lIns="0" tIns="0" rIns="0" bIns="0" anchor="t" anchorCtr="0">
                <a:spAutoFit/>
              </a:bodyPr>
              <a:lstStyle/>
              <a:p>
                <a:pPr algn="ctr"/>
                <a:r>
                  <a:rPr lang="zh-CN" sz="1050" b="1" dirty="0">
                    <a:solidFill>
                      <a:srgbClr val="1A1A1A"/>
                    </a:solidFill>
                    <a:latin typeface="+mn-lt"/>
                    <a:ea typeface="+mn-ea"/>
                    <a:cs typeface="+mn-cs"/>
                  </a:rPr>
                  <a:t>防流失</a:t>
                </a:r>
              </a:p>
            </p:txBody>
          </p:sp>
          <p:grpSp>
            <p:nvGrpSpPr>
              <p:cNvPr id="90" name="Group 90"/>
              <p:cNvGrpSpPr/>
              <p:nvPr/>
            </p:nvGrpSpPr>
            <p:grpSpPr>
              <a:xfrm>
                <a:off x="6965996" y="2212181"/>
                <a:ext cx="263510" cy="242888"/>
                <a:chOff x="6965996" y="2212181"/>
                <a:chExt cx="263510" cy="242888"/>
              </a:xfrm>
            </p:grpSpPr>
            <p:sp>
              <p:nvSpPr>
                <p:cNvPr id="88" name="Freeform 88"/>
                <p:cNvSpPr/>
                <p:nvPr/>
              </p:nvSpPr>
              <p:spPr>
                <a:xfrm>
                  <a:off x="6965996" y="2212181"/>
                  <a:ext cx="263510" cy="240810"/>
                </a:xfrm>
                <a:custGeom>
                  <a:avLst/>
                  <a:gdLst/>
                  <a:ahLst/>
                  <a:cxnLst/>
                  <a:rect l="l" t="t" r="r" b="b"/>
                  <a:pathLst>
                    <a:path w="263510" h="240810">
                      <a:moveTo>
                        <a:pt x="132368" y="240810"/>
                      </a:moveTo>
                      <a:cubicBezTo>
                        <a:pt x="47836" y="214607"/>
                        <a:pt x="0" y="125390"/>
                        <a:pt x="24957" y="40481"/>
                      </a:cubicBezTo>
                      <a:cubicBezTo>
                        <a:pt x="66998" y="42405"/>
                        <a:pt x="108135" y="27886"/>
                        <a:pt x="139655" y="0"/>
                      </a:cubicBezTo>
                      <a:cubicBezTo>
                        <a:pt x="171174" y="27886"/>
                        <a:pt x="212311" y="42405"/>
                        <a:pt x="254352" y="40481"/>
                      </a:cubicBezTo>
                      <a:cubicBezTo>
                        <a:pt x="263510" y="71640"/>
                        <a:pt x="263086" y="104832"/>
                        <a:pt x="253137" y="135747"/>
                      </a:cubicBezTo>
                    </a:path>
                  </a:pathLst>
                </a:custGeom>
                <a:noFill/>
                <a:ln w="20241">
                  <a:solidFill>
                    <a:srgbClr val="841600"/>
                  </a:solidFill>
                </a:ln>
              </p:spPr>
            </p:sp>
            <p:sp>
              <p:nvSpPr>
                <p:cNvPr id="89" name="Freeform 89"/>
                <p:cNvSpPr/>
                <p:nvPr/>
              </p:nvSpPr>
              <p:spPr>
                <a:xfrm>
                  <a:off x="7146132" y="2401094"/>
                  <a:ext cx="80963" cy="53975"/>
                </a:xfrm>
                <a:custGeom>
                  <a:avLst/>
                  <a:gdLst/>
                  <a:ahLst/>
                  <a:cxnLst/>
                  <a:rect l="l" t="t" r="r" b="b"/>
                  <a:pathLst>
                    <a:path w="80963" h="53975">
                      <a:moveTo>
                        <a:pt x="0" y="26988"/>
                      </a:moveTo>
                      <a:lnTo>
                        <a:pt x="26988" y="53975"/>
                      </a:lnTo>
                      <a:lnTo>
                        <a:pt x="80963" y="0"/>
                      </a:lnTo>
                    </a:path>
                  </a:pathLst>
                </a:custGeom>
                <a:noFill/>
                <a:ln w="20241">
                  <a:solidFill>
                    <a:srgbClr val="841600"/>
                  </a:solidFill>
                </a:ln>
              </p:spPr>
            </p:sp>
          </p:grpSp>
          <p:sp>
            <p:nvSpPr>
              <p:cNvPr id="91" name="TextBox 91"/>
              <p:cNvSpPr txBox="1"/>
              <p:nvPr/>
            </p:nvSpPr>
            <p:spPr>
              <a:xfrm>
                <a:off x="6799898" y="3286839"/>
                <a:ext cx="611505" cy="497681"/>
              </a:xfrm>
              <a:prstGeom prst="rect">
                <a:avLst/>
              </a:prstGeom>
              <a:noFill/>
              <a:ln>
                <a:noFill/>
              </a:ln>
            </p:spPr>
            <p:txBody>
              <a:bodyPr wrap="none" lIns="0" tIns="0" rIns="0" bIns="0" anchor="t" anchorCtr="0">
                <a:spAutoFit/>
              </a:bodyPr>
              <a:lstStyle/>
              <a:p>
                <a:pPr algn="ctr">
                  <a:lnSpc>
                    <a:spcPts val="1350"/>
                  </a:lnSpc>
                </a:pPr>
                <a:r>
                  <a:rPr lang="zh-CN" sz="790" dirty="0">
                    <a:solidFill>
                      <a:srgbClr val="473633"/>
                    </a:solidFill>
                    <a:latin typeface="+mn-lt"/>
                    <a:ea typeface="+mn-ea"/>
                    <a:cs typeface="+mn-cs"/>
                  </a:rPr>
                  <a:t>预警流失风险</a:t>
                </a:r>
                <a:br/>
                <a:r>
                  <a:rPr lang="zh-CN" sz="790" dirty="0">
                    <a:solidFill>
                      <a:srgbClr val="473633"/>
                    </a:solidFill>
                    <a:latin typeface="+mn-lt"/>
                    <a:ea typeface="+mn-ea"/>
                    <a:cs typeface="+mn-cs"/>
                  </a:rPr>
                  <a:t>精准挽留维护</a:t>
                </a:r>
                <a:br/>
                <a:r>
                  <a:rPr lang="zh-CN" sz="790" dirty="0">
                    <a:solidFill>
                      <a:srgbClr val="473633"/>
                    </a:solidFill>
                    <a:latin typeface="+mn-lt"/>
                    <a:ea typeface="+mn-ea"/>
                    <a:cs typeface="+mn-cs"/>
                  </a:rPr>
                  <a:t>提升客户留存</a:t>
                </a:r>
              </a:p>
            </p:txBody>
          </p:sp>
        </p:grpSp>
        <p:sp>
          <p:nvSpPr>
            <p:cNvPr id="93" name="Line 93"/>
            <p:cNvSpPr/>
            <p:nvPr/>
          </p:nvSpPr>
          <p:spPr>
            <a:xfrm>
              <a:off x="3409950" y="3067050"/>
              <a:ext cx="4038600" cy="9525"/>
            </a:xfrm>
            <a:custGeom>
              <a:avLst/>
              <a:gdLst/>
              <a:ahLst/>
              <a:cxnLst/>
              <a:rect l="l" t="t" r="r" b="b"/>
              <a:pathLst>
                <a:path w="4038600" h="9525">
                  <a:moveTo>
                    <a:pt x="0" y="0"/>
                  </a:moveTo>
                  <a:lnTo>
                    <a:pt x="4038600" y="0"/>
                  </a:lnTo>
                </a:path>
              </a:pathLst>
            </a:custGeom>
            <a:noFill/>
            <a:ln w="9525">
              <a:solidFill>
                <a:srgbClr val="ECC1B8"/>
              </a:solidFill>
              <a:custDash>
                <a:ds d="400000" sp="300000"/>
              </a:custDash>
            </a:ln>
          </p:spPr>
        </p:sp>
        <p:sp>
          <p:nvSpPr>
            <p:cNvPr id="94" name="Rectangle 94"/>
            <p:cNvSpPr/>
            <p:nvPr/>
          </p:nvSpPr>
          <p:spPr>
            <a:xfrm>
              <a:off x="3409950" y="4191000"/>
              <a:ext cx="4038600" cy="1047750"/>
            </a:xfrm>
            <a:prstGeom prst="roundRect">
              <a:avLst>
                <a:gd name="adj" fmla="val 7273"/>
              </a:avLst>
            </a:prstGeom>
            <a:solidFill>
              <a:srgbClr val="EFF5FD"/>
            </a:solidFill>
            <a:ln>
              <a:noFill/>
            </a:ln>
          </p:spPr>
        </p:sp>
        <p:sp>
          <p:nvSpPr>
            <p:cNvPr id="95" name="TextBox 95"/>
            <p:cNvSpPr txBox="1"/>
            <p:nvPr/>
          </p:nvSpPr>
          <p:spPr>
            <a:xfrm>
              <a:off x="4061841" y="466820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获客</a:t>
              </a:r>
            </a:p>
          </p:txBody>
        </p:sp>
        <p:sp>
          <p:nvSpPr>
            <p:cNvPr id="96" name="Polygon 96"/>
            <p:cNvSpPr/>
            <p:nvPr/>
          </p:nvSpPr>
          <p:spPr>
            <a:xfrm>
              <a:off x="4410075" y="468725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97" name="TextBox 97"/>
            <p:cNvSpPr txBox="1"/>
            <p:nvPr/>
          </p:nvSpPr>
          <p:spPr>
            <a:xfrm>
              <a:off x="4576191" y="466820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激活</a:t>
              </a:r>
            </a:p>
          </p:txBody>
        </p:sp>
        <p:sp>
          <p:nvSpPr>
            <p:cNvPr id="98" name="Polygon 98"/>
            <p:cNvSpPr/>
            <p:nvPr/>
          </p:nvSpPr>
          <p:spPr>
            <a:xfrm>
              <a:off x="4924425" y="468725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99" name="TextBox 99"/>
            <p:cNvSpPr txBox="1"/>
            <p:nvPr/>
          </p:nvSpPr>
          <p:spPr>
            <a:xfrm>
              <a:off x="5090541" y="466820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提级</a:t>
              </a:r>
            </a:p>
          </p:txBody>
        </p:sp>
        <p:sp>
          <p:nvSpPr>
            <p:cNvPr id="100" name="Polygon 100"/>
            <p:cNvSpPr/>
            <p:nvPr/>
          </p:nvSpPr>
          <p:spPr>
            <a:xfrm>
              <a:off x="5438775" y="468725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101" name="TextBox 101"/>
            <p:cNvSpPr txBox="1"/>
            <p:nvPr/>
          </p:nvSpPr>
          <p:spPr>
            <a:xfrm>
              <a:off x="5604891" y="4668202"/>
              <a:ext cx="576072"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交叉销售</a:t>
              </a:r>
            </a:p>
          </p:txBody>
        </p:sp>
        <p:sp>
          <p:nvSpPr>
            <p:cNvPr id="102" name="Polygon 102"/>
            <p:cNvSpPr/>
            <p:nvPr/>
          </p:nvSpPr>
          <p:spPr>
            <a:xfrm>
              <a:off x="6219825" y="468725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103" name="TextBox 103"/>
            <p:cNvSpPr txBox="1"/>
            <p:nvPr/>
          </p:nvSpPr>
          <p:spPr>
            <a:xfrm>
              <a:off x="6385941" y="4668202"/>
              <a:ext cx="434721"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防流失</a:t>
              </a:r>
            </a:p>
          </p:txBody>
        </p:sp>
      </p:grpSp>
      <p:grpSp>
        <p:nvGrpSpPr>
          <p:cNvPr id="148" name="product-grid"/>
          <p:cNvGrpSpPr/>
          <p:nvPr/>
        </p:nvGrpSpPr>
        <p:grpSpPr>
          <a:xfrm>
            <a:off x="7696200" y="704850"/>
            <a:ext cx="4229100" cy="2381250"/>
            <a:chOff x="7696200" y="704850"/>
            <a:chExt cx="4229100" cy="2381250"/>
          </a:xfrm>
        </p:grpSpPr>
        <p:sp>
          <p:nvSpPr>
            <p:cNvPr id="105" name="Rectangle 105"/>
            <p:cNvSpPr/>
            <p:nvPr/>
          </p:nvSpPr>
          <p:spPr>
            <a:xfrm>
              <a:off x="7696200" y="704850"/>
              <a:ext cx="4229100" cy="2381250"/>
            </a:xfrm>
            <a:prstGeom prst="roundRect">
              <a:avLst>
                <a:gd name="adj" fmla="val 4000"/>
              </a:avLst>
            </a:prstGeom>
            <a:solidFill>
              <a:srgbClr val="FFFFFF"/>
            </a:solidFill>
            <a:ln w="9525">
              <a:solidFill>
                <a:srgbClr val="D7E2F2"/>
              </a:solidFill>
            </a:ln>
          </p:spPr>
        </p:sp>
        <p:sp>
          <p:nvSpPr>
            <p:cNvPr id="106" name="Rectangle 106"/>
            <p:cNvSpPr/>
            <p:nvPr/>
          </p:nvSpPr>
          <p:spPr>
            <a:xfrm>
              <a:off x="7696200" y="704850"/>
              <a:ext cx="4229100" cy="381000"/>
            </a:xfrm>
            <a:prstGeom prst="roundRect">
              <a:avLst>
                <a:gd name="adj" fmla="val 25000"/>
              </a:avLst>
            </a:prstGeom>
            <a:solidFill>
              <a:srgbClr val="841600"/>
            </a:solidFill>
            <a:ln>
              <a:noFill/>
            </a:ln>
          </p:spPr>
        </p:sp>
        <p:sp>
          <p:nvSpPr>
            <p:cNvPr id="107" name="Rectangle 107"/>
            <p:cNvSpPr/>
            <p:nvPr/>
          </p:nvSpPr>
          <p:spPr>
            <a:xfrm>
              <a:off x="7696200" y="914400"/>
              <a:ext cx="4229100" cy="171450"/>
            </a:xfrm>
            <a:prstGeom prst="rect">
              <a:avLst/>
            </a:prstGeom>
            <a:solidFill>
              <a:srgbClr val="841600"/>
            </a:solidFill>
            <a:ln>
              <a:noFill/>
            </a:ln>
          </p:spPr>
        </p:sp>
        <p:sp>
          <p:nvSpPr>
            <p:cNvPr id="108" name="TextBox 108"/>
            <p:cNvSpPr txBox="1"/>
            <p:nvPr/>
          </p:nvSpPr>
          <p:spPr>
            <a:xfrm>
              <a:off x="9320022" y="83248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六类产品协同</a:t>
              </a:r>
            </a:p>
          </p:txBody>
        </p:sp>
        <p:grpSp>
          <p:nvGrpSpPr>
            <p:cNvPr id="115" name="prod-1"/>
            <p:cNvGrpSpPr/>
            <p:nvPr/>
          </p:nvGrpSpPr>
          <p:grpSpPr>
            <a:xfrm>
              <a:off x="7810500" y="1200150"/>
              <a:ext cx="1257300" cy="819150"/>
              <a:chOff x="7810500" y="1200150"/>
              <a:chExt cx="1257300" cy="819150"/>
            </a:xfrm>
          </p:grpSpPr>
          <p:sp>
            <p:nvSpPr>
              <p:cNvPr id="109" name="Rectangle 109"/>
              <p:cNvSpPr/>
              <p:nvPr/>
            </p:nvSpPr>
            <p:spPr>
              <a:xfrm>
                <a:off x="7810500" y="1200150"/>
                <a:ext cx="1257300" cy="819150"/>
              </a:xfrm>
              <a:prstGeom prst="roundRect">
                <a:avLst>
                  <a:gd name="adj" fmla="val 9302"/>
                </a:avLst>
              </a:prstGeom>
              <a:solidFill>
                <a:srgbClr val="EFF5FD"/>
              </a:solidFill>
              <a:ln>
                <a:noFill/>
              </a:ln>
            </p:spPr>
          </p:sp>
          <p:grpSp>
            <p:nvGrpSpPr>
              <p:cNvPr id="113" name="Group 113"/>
              <p:cNvGrpSpPr/>
              <p:nvPr/>
            </p:nvGrpSpPr>
            <p:grpSpPr>
              <a:xfrm>
                <a:off x="8331994" y="1373981"/>
                <a:ext cx="214313" cy="166687"/>
                <a:chOff x="8331994" y="1373981"/>
                <a:chExt cx="214313" cy="166687"/>
              </a:xfrm>
            </p:grpSpPr>
            <p:sp>
              <p:nvSpPr>
                <p:cNvPr id="110" name="Freeform 110"/>
                <p:cNvSpPr/>
                <p:nvPr/>
              </p:nvSpPr>
              <p:spPr>
                <a:xfrm>
                  <a:off x="8331994" y="1373981"/>
                  <a:ext cx="166688" cy="119062"/>
                </a:xfrm>
                <a:custGeom>
                  <a:avLst/>
                  <a:gdLst/>
                  <a:ahLst/>
                  <a:cxnLst/>
                  <a:rect l="l" t="t" r="r" b="b"/>
                  <a:pathLst>
                    <a:path w="166688" h="119062">
                      <a:moveTo>
                        <a:pt x="47625" y="119062"/>
                      </a:moveTo>
                      <a:lnTo>
                        <a:pt x="11906" y="119062"/>
                      </a:lnTo>
                      <a:cubicBezTo>
                        <a:pt x="5331" y="119062"/>
                        <a:pt x="0" y="113732"/>
                        <a:pt x="0" y="107156"/>
                      </a:cubicBezTo>
                      <a:lnTo>
                        <a:pt x="0" y="11906"/>
                      </a:lnTo>
                      <a:cubicBezTo>
                        <a:pt x="0" y="5331"/>
                        <a:pt x="5331" y="0"/>
                        <a:pt x="11906" y="0"/>
                      </a:cubicBezTo>
                      <a:lnTo>
                        <a:pt x="154781" y="0"/>
                      </a:lnTo>
                      <a:cubicBezTo>
                        <a:pt x="161357" y="0"/>
                        <a:pt x="166688" y="5331"/>
                        <a:pt x="166688" y="11906"/>
                      </a:cubicBezTo>
                      <a:lnTo>
                        <a:pt x="166688" y="47625"/>
                      </a:lnTo>
                    </a:path>
                  </a:pathLst>
                </a:custGeom>
                <a:noFill/>
                <a:ln w="17859">
                  <a:solidFill>
                    <a:srgbClr val="841600"/>
                  </a:solidFill>
                </a:ln>
              </p:spPr>
            </p:sp>
            <p:sp>
              <p:nvSpPr>
                <p:cNvPr id="111" name="Freeform 111"/>
                <p:cNvSpPr/>
                <p:nvPr/>
              </p:nvSpPr>
              <p:spPr>
                <a:xfrm>
                  <a:off x="8379619" y="1421606"/>
                  <a:ext cx="166688" cy="119062"/>
                </a:xfrm>
                <a:custGeom>
                  <a:avLst/>
                  <a:gdLst/>
                  <a:ahLst/>
                  <a:cxnLst/>
                  <a:rect l="l" t="t" r="r" b="b"/>
                  <a:pathLst>
                    <a:path w="166688" h="119062">
                      <a:moveTo>
                        <a:pt x="0" y="11906"/>
                      </a:moveTo>
                      <a:cubicBezTo>
                        <a:pt x="0" y="5331"/>
                        <a:pt x="5331" y="0"/>
                        <a:pt x="11906" y="0"/>
                      </a:cubicBezTo>
                      <a:lnTo>
                        <a:pt x="154781" y="0"/>
                      </a:lnTo>
                      <a:cubicBezTo>
                        <a:pt x="161357" y="0"/>
                        <a:pt x="166688" y="5331"/>
                        <a:pt x="166688" y="11906"/>
                      </a:cubicBezTo>
                      <a:lnTo>
                        <a:pt x="166688" y="107156"/>
                      </a:lnTo>
                      <a:cubicBezTo>
                        <a:pt x="166688" y="113732"/>
                        <a:pt x="161357" y="119062"/>
                        <a:pt x="154781" y="119062"/>
                      </a:cubicBezTo>
                      <a:lnTo>
                        <a:pt x="11906" y="119062"/>
                      </a:lnTo>
                      <a:cubicBezTo>
                        <a:pt x="5331" y="119062"/>
                        <a:pt x="0" y="113732"/>
                        <a:pt x="0" y="107156"/>
                      </a:cubicBezTo>
                      <a:lnTo>
                        <a:pt x="0" y="11906"/>
                      </a:lnTo>
                    </a:path>
                  </a:pathLst>
                </a:custGeom>
                <a:noFill/>
                <a:ln w="17859">
                  <a:solidFill>
                    <a:srgbClr val="841600"/>
                  </a:solidFill>
                </a:ln>
              </p:spPr>
            </p:sp>
            <p:sp>
              <p:nvSpPr>
                <p:cNvPr id="112" name="Freeform 112"/>
                <p:cNvSpPr/>
                <p:nvPr/>
              </p:nvSpPr>
              <p:spPr>
                <a:xfrm>
                  <a:off x="8439150" y="1457325"/>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grpSp>
          <p:sp>
            <p:nvSpPr>
              <p:cNvPr id="114" name="TextBox 114"/>
              <p:cNvSpPr txBox="1"/>
              <p:nvPr/>
            </p:nvSpPr>
            <p:spPr>
              <a:xfrm>
                <a:off x="8298040" y="1757601"/>
                <a:ext cx="282219"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代发</a:t>
                </a:r>
              </a:p>
            </p:txBody>
          </p:sp>
        </p:grpSp>
        <p:grpSp>
          <p:nvGrpSpPr>
            <p:cNvPr id="124" name="prod-2"/>
            <p:cNvGrpSpPr/>
            <p:nvPr/>
          </p:nvGrpSpPr>
          <p:grpSpPr>
            <a:xfrm>
              <a:off x="9182100" y="1200150"/>
              <a:ext cx="1257300" cy="819150"/>
              <a:chOff x="9182100" y="1200150"/>
              <a:chExt cx="1257300" cy="819150"/>
            </a:xfrm>
          </p:grpSpPr>
          <p:sp>
            <p:nvSpPr>
              <p:cNvPr id="116" name="Rectangle 116"/>
              <p:cNvSpPr/>
              <p:nvPr/>
            </p:nvSpPr>
            <p:spPr>
              <a:xfrm>
                <a:off x="9182100" y="1200150"/>
                <a:ext cx="1257300" cy="819150"/>
              </a:xfrm>
              <a:prstGeom prst="roundRect">
                <a:avLst>
                  <a:gd name="adj" fmla="val 9302"/>
                </a:avLst>
              </a:prstGeom>
              <a:solidFill>
                <a:srgbClr val="EFF5FD"/>
              </a:solidFill>
              <a:ln>
                <a:noFill/>
              </a:ln>
            </p:spPr>
          </p:sp>
          <p:grpSp>
            <p:nvGrpSpPr>
              <p:cNvPr id="122" name="Group 122"/>
              <p:cNvGrpSpPr/>
              <p:nvPr/>
            </p:nvGrpSpPr>
            <p:grpSpPr>
              <a:xfrm>
                <a:off x="9703594" y="1362075"/>
                <a:ext cx="214312" cy="190500"/>
                <a:chOff x="9703594" y="1362075"/>
                <a:chExt cx="214312" cy="190500"/>
              </a:xfrm>
            </p:grpSpPr>
            <p:sp>
              <p:nvSpPr>
                <p:cNvPr id="117" name="Freeform 117"/>
                <p:cNvSpPr/>
                <p:nvPr/>
              </p:nvSpPr>
              <p:spPr>
                <a:xfrm>
                  <a:off x="9703594" y="1362075"/>
                  <a:ext cx="214312" cy="190500"/>
                </a:xfrm>
                <a:custGeom>
                  <a:avLst/>
                  <a:gdLst/>
                  <a:ahLst/>
                  <a:cxnLst/>
                  <a:rect l="l" t="t" r="r" b="b"/>
                  <a:pathLst>
                    <a:path w="214312" h="190500">
                      <a:moveTo>
                        <a:pt x="0" y="35719"/>
                      </a:moveTo>
                      <a:cubicBezTo>
                        <a:pt x="0" y="15992"/>
                        <a:pt x="15992" y="0"/>
                        <a:pt x="35719" y="0"/>
                      </a:cubicBezTo>
                      <a:lnTo>
                        <a:pt x="178594" y="0"/>
                      </a:lnTo>
                      <a:cubicBezTo>
                        <a:pt x="198321" y="0"/>
                        <a:pt x="214312" y="15992"/>
                        <a:pt x="214312" y="35719"/>
                      </a:cubicBezTo>
                      <a:lnTo>
                        <a:pt x="214312" y="154781"/>
                      </a:lnTo>
                      <a:cubicBezTo>
                        <a:pt x="214312" y="174508"/>
                        <a:pt x="198321" y="190500"/>
                        <a:pt x="178594" y="190500"/>
                      </a:cubicBezTo>
                      <a:lnTo>
                        <a:pt x="35719" y="190500"/>
                      </a:lnTo>
                      <a:cubicBezTo>
                        <a:pt x="15992" y="190500"/>
                        <a:pt x="0" y="174508"/>
                        <a:pt x="0" y="154781"/>
                      </a:cubicBezTo>
                      <a:lnTo>
                        <a:pt x="0" y="35719"/>
                      </a:lnTo>
                    </a:path>
                  </a:pathLst>
                </a:custGeom>
                <a:noFill/>
                <a:ln w="17859">
                  <a:solidFill>
                    <a:srgbClr val="841600"/>
                  </a:solidFill>
                </a:ln>
              </p:spPr>
            </p:sp>
            <p:sp>
              <p:nvSpPr>
                <p:cNvPr id="118" name="Freeform 118"/>
                <p:cNvSpPr/>
                <p:nvPr/>
              </p:nvSpPr>
              <p:spPr>
                <a:xfrm>
                  <a:off x="9751219" y="1409700"/>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119" name="Freeform 119"/>
                <p:cNvSpPr/>
                <p:nvPr/>
              </p:nvSpPr>
              <p:spPr>
                <a:xfrm>
                  <a:off x="9846469" y="1409700"/>
                  <a:ext cx="23812" cy="9525"/>
                </a:xfrm>
                <a:custGeom>
                  <a:avLst/>
                  <a:gdLst/>
                  <a:ahLst/>
                  <a:cxnLst/>
                  <a:rect l="l" t="t" r="r" b="b"/>
                  <a:pathLst>
                    <a:path w="23812" h="9525">
                      <a:moveTo>
                        <a:pt x="0" y="0"/>
                      </a:moveTo>
                      <a:lnTo>
                        <a:pt x="23812" y="0"/>
                      </a:lnTo>
                    </a:path>
                  </a:pathLst>
                </a:custGeom>
                <a:noFill/>
                <a:ln w="17859">
                  <a:solidFill>
                    <a:srgbClr val="841600"/>
                  </a:solidFill>
                </a:ln>
              </p:spPr>
            </p:sp>
            <p:sp>
              <p:nvSpPr>
                <p:cNvPr id="120" name="Freeform 120"/>
                <p:cNvSpPr/>
                <p:nvPr/>
              </p:nvSpPr>
              <p:spPr>
                <a:xfrm>
                  <a:off x="9846469" y="1457325"/>
                  <a:ext cx="23812" cy="9525"/>
                </a:xfrm>
                <a:custGeom>
                  <a:avLst/>
                  <a:gdLst/>
                  <a:ahLst/>
                  <a:cxnLst/>
                  <a:rect l="l" t="t" r="r" b="b"/>
                  <a:pathLst>
                    <a:path w="23812" h="9525">
                      <a:moveTo>
                        <a:pt x="0" y="0"/>
                      </a:moveTo>
                      <a:lnTo>
                        <a:pt x="23812" y="0"/>
                      </a:lnTo>
                    </a:path>
                  </a:pathLst>
                </a:custGeom>
                <a:noFill/>
                <a:ln w="17859">
                  <a:solidFill>
                    <a:srgbClr val="841600"/>
                  </a:solidFill>
                </a:ln>
              </p:spPr>
            </p:sp>
            <p:sp>
              <p:nvSpPr>
                <p:cNvPr id="121" name="Freeform 121"/>
                <p:cNvSpPr/>
                <p:nvPr/>
              </p:nvSpPr>
              <p:spPr>
                <a:xfrm>
                  <a:off x="9751219" y="1504950"/>
                  <a:ext cx="119062" cy="9525"/>
                </a:xfrm>
                <a:custGeom>
                  <a:avLst/>
                  <a:gdLst/>
                  <a:ahLst/>
                  <a:cxnLst/>
                  <a:rect l="l" t="t" r="r" b="b"/>
                  <a:pathLst>
                    <a:path w="119062" h="9525">
                      <a:moveTo>
                        <a:pt x="0" y="0"/>
                      </a:moveTo>
                      <a:lnTo>
                        <a:pt x="119062" y="0"/>
                      </a:lnTo>
                    </a:path>
                  </a:pathLst>
                </a:custGeom>
                <a:noFill/>
                <a:ln w="17859">
                  <a:solidFill>
                    <a:srgbClr val="841600"/>
                  </a:solidFill>
                </a:ln>
              </p:spPr>
            </p:sp>
          </p:grpSp>
          <p:sp>
            <p:nvSpPr>
              <p:cNvPr id="123" name="TextBox 123"/>
              <p:cNvSpPr txBox="1"/>
              <p:nvPr/>
            </p:nvSpPr>
            <p:spPr>
              <a:xfrm>
                <a:off x="9601657" y="1757601"/>
                <a:ext cx="418186"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社保卡</a:t>
                </a:r>
              </a:p>
            </p:txBody>
          </p:sp>
        </p:grpSp>
        <p:grpSp>
          <p:nvGrpSpPr>
            <p:cNvPr id="131" name="prod-3"/>
            <p:cNvGrpSpPr/>
            <p:nvPr/>
          </p:nvGrpSpPr>
          <p:grpSpPr>
            <a:xfrm>
              <a:off x="10553700" y="1200150"/>
              <a:ext cx="1257300" cy="819150"/>
              <a:chOff x="10553700" y="1200150"/>
              <a:chExt cx="1257300" cy="819150"/>
            </a:xfrm>
          </p:grpSpPr>
          <p:sp>
            <p:nvSpPr>
              <p:cNvPr id="125" name="Rectangle 125"/>
              <p:cNvSpPr/>
              <p:nvPr/>
            </p:nvSpPr>
            <p:spPr>
              <a:xfrm>
                <a:off x="10553700" y="1200150"/>
                <a:ext cx="1257300" cy="819150"/>
              </a:xfrm>
              <a:prstGeom prst="roundRect">
                <a:avLst>
                  <a:gd name="adj" fmla="val 9302"/>
                </a:avLst>
              </a:prstGeom>
              <a:solidFill>
                <a:srgbClr val="EFF5FD"/>
              </a:solidFill>
              <a:ln>
                <a:noFill/>
              </a:ln>
            </p:spPr>
          </p:sp>
          <p:grpSp>
            <p:nvGrpSpPr>
              <p:cNvPr id="129" name="Group 129"/>
              <p:cNvGrpSpPr/>
              <p:nvPr/>
            </p:nvGrpSpPr>
            <p:grpSpPr>
              <a:xfrm>
                <a:off x="11075194" y="1350169"/>
                <a:ext cx="214312" cy="214312"/>
                <a:chOff x="11075194" y="1350169"/>
                <a:chExt cx="214312" cy="214312"/>
              </a:xfrm>
            </p:grpSpPr>
            <p:sp>
              <p:nvSpPr>
                <p:cNvPr id="126" name="Freeform 126"/>
                <p:cNvSpPr/>
                <p:nvPr/>
              </p:nvSpPr>
              <p:spPr>
                <a:xfrm>
                  <a:off x="11075194" y="1350169"/>
                  <a:ext cx="214312" cy="107156"/>
                </a:xfrm>
                <a:custGeom>
                  <a:avLst/>
                  <a:gdLst/>
                  <a:ahLst/>
                  <a:cxnLst/>
                  <a:rect l="l" t="t" r="r" b="b"/>
                  <a:pathLst>
                    <a:path w="214312" h="107156">
                      <a:moveTo>
                        <a:pt x="23812" y="107156"/>
                      </a:moveTo>
                      <a:lnTo>
                        <a:pt x="0" y="107156"/>
                      </a:lnTo>
                      <a:lnTo>
                        <a:pt x="107156" y="0"/>
                      </a:lnTo>
                      <a:lnTo>
                        <a:pt x="214312" y="107156"/>
                      </a:lnTo>
                      <a:lnTo>
                        <a:pt x="190500" y="107156"/>
                      </a:lnTo>
                    </a:path>
                  </a:pathLst>
                </a:custGeom>
                <a:noFill/>
                <a:ln w="17859">
                  <a:solidFill>
                    <a:srgbClr val="841600"/>
                  </a:solidFill>
                </a:ln>
              </p:spPr>
            </p:sp>
            <p:sp>
              <p:nvSpPr>
                <p:cNvPr id="127" name="Freeform 127"/>
                <p:cNvSpPr/>
                <p:nvPr/>
              </p:nvSpPr>
              <p:spPr>
                <a:xfrm>
                  <a:off x="11099006" y="1457325"/>
                  <a:ext cx="166688" cy="107156"/>
                </a:xfrm>
                <a:custGeom>
                  <a:avLst/>
                  <a:gdLst/>
                  <a:ahLst/>
                  <a:cxnLst/>
                  <a:rect l="l" t="t" r="r" b="b"/>
                  <a:pathLst>
                    <a:path w="166688" h="107156">
                      <a:moveTo>
                        <a:pt x="0" y="0"/>
                      </a:moveTo>
                      <a:lnTo>
                        <a:pt x="0" y="83344"/>
                      </a:lnTo>
                      <a:cubicBezTo>
                        <a:pt x="0" y="96495"/>
                        <a:pt x="10661" y="107156"/>
                        <a:pt x="23812" y="107156"/>
                      </a:cubicBezTo>
                      <a:lnTo>
                        <a:pt x="142875" y="107156"/>
                      </a:lnTo>
                      <a:cubicBezTo>
                        <a:pt x="156026" y="107156"/>
                        <a:pt x="166688" y="96495"/>
                        <a:pt x="166688" y="83344"/>
                      </a:cubicBezTo>
                      <a:lnTo>
                        <a:pt x="166688" y="0"/>
                      </a:lnTo>
                    </a:path>
                  </a:pathLst>
                </a:custGeom>
                <a:noFill/>
                <a:ln w="17859">
                  <a:solidFill>
                    <a:srgbClr val="841600"/>
                  </a:solidFill>
                </a:ln>
              </p:spPr>
            </p:sp>
            <p:sp>
              <p:nvSpPr>
                <p:cNvPr id="128" name="Freeform 128"/>
                <p:cNvSpPr/>
                <p:nvPr/>
              </p:nvSpPr>
              <p:spPr>
                <a:xfrm>
                  <a:off x="11146631" y="1469231"/>
                  <a:ext cx="71438" cy="95250"/>
                </a:xfrm>
                <a:custGeom>
                  <a:avLst/>
                  <a:gdLst/>
                  <a:ahLst/>
                  <a:cxnLst/>
                  <a:rect l="l" t="t" r="r" b="b"/>
                  <a:pathLst>
                    <a:path w="71438" h="95250">
                      <a:moveTo>
                        <a:pt x="0" y="95250"/>
                      </a:moveTo>
                      <a:lnTo>
                        <a:pt x="0" y="23812"/>
                      </a:lnTo>
                      <a:cubicBezTo>
                        <a:pt x="0" y="10661"/>
                        <a:pt x="10661" y="0"/>
                        <a:pt x="23812" y="0"/>
                      </a:cubicBezTo>
                      <a:lnTo>
                        <a:pt x="47625" y="0"/>
                      </a:lnTo>
                      <a:cubicBezTo>
                        <a:pt x="60776" y="0"/>
                        <a:pt x="71438" y="10661"/>
                        <a:pt x="71438" y="23812"/>
                      </a:cubicBezTo>
                      <a:lnTo>
                        <a:pt x="71438" y="95250"/>
                      </a:lnTo>
                    </a:path>
                  </a:pathLst>
                </a:custGeom>
                <a:noFill/>
                <a:ln w="17859">
                  <a:solidFill>
                    <a:srgbClr val="841600"/>
                  </a:solidFill>
                </a:ln>
              </p:spPr>
            </p:sp>
          </p:grpSp>
          <p:sp>
            <p:nvSpPr>
              <p:cNvPr id="130" name="TextBox 130"/>
              <p:cNvSpPr txBox="1"/>
              <p:nvPr/>
            </p:nvSpPr>
            <p:spPr>
              <a:xfrm>
                <a:off x="11041240" y="1757601"/>
                <a:ext cx="282219"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按揭</a:t>
                </a:r>
              </a:p>
            </p:txBody>
          </p:sp>
        </p:grpSp>
        <p:grpSp>
          <p:nvGrpSpPr>
            <p:cNvPr id="137" name="prod-4"/>
            <p:cNvGrpSpPr/>
            <p:nvPr/>
          </p:nvGrpSpPr>
          <p:grpSpPr>
            <a:xfrm>
              <a:off x="7810500" y="2095500"/>
              <a:ext cx="1257300" cy="819150"/>
              <a:chOff x="7810500" y="2095500"/>
              <a:chExt cx="1257300" cy="819150"/>
            </a:xfrm>
          </p:grpSpPr>
          <p:sp>
            <p:nvSpPr>
              <p:cNvPr id="132" name="Rectangle 132"/>
              <p:cNvSpPr/>
              <p:nvPr/>
            </p:nvSpPr>
            <p:spPr>
              <a:xfrm>
                <a:off x="7810500" y="2095500"/>
                <a:ext cx="1257300" cy="819150"/>
              </a:xfrm>
              <a:prstGeom prst="roundRect">
                <a:avLst>
                  <a:gd name="adj" fmla="val 9302"/>
                </a:avLst>
              </a:prstGeom>
              <a:solidFill>
                <a:srgbClr val="EFF5FD"/>
              </a:solidFill>
              <a:ln>
                <a:noFill/>
              </a:ln>
            </p:spPr>
          </p:sp>
          <p:grpSp>
            <p:nvGrpSpPr>
              <p:cNvPr id="135" name="Group 135"/>
              <p:cNvGrpSpPr/>
              <p:nvPr/>
            </p:nvGrpSpPr>
            <p:grpSpPr>
              <a:xfrm>
                <a:off x="8343900" y="2257425"/>
                <a:ext cx="190500" cy="190500"/>
                <a:chOff x="8343900" y="2257425"/>
                <a:chExt cx="190500" cy="190500"/>
              </a:xfrm>
            </p:grpSpPr>
            <p:sp>
              <p:nvSpPr>
                <p:cNvPr id="133" name="Freeform 133"/>
                <p:cNvSpPr/>
                <p:nvPr/>
              </p:nvSpPr>
              <p:spPr>
                <a:xfrm>
                  <a:off x="8343900" y="2257425"/>
                  <a:ext cx="178594" cy="190500"/>
                </a:xfrm>
                <a:custGeom>
                  <a:avLst/>
                  <a:gdLst/>
                  <a:ahLst/>
                  <a:cxnLst/>
                  <a:rect l="l" t="t" r="r" b="b"/>
                  <a:pathLst>
                    <a:path w="178594" h="190500">
                      <a:moveTo>
                        <a:pt x="154781" y="47625"/>
                      </a:moveTo>
                      <a:lnTo>
                        <a:pt x="154781" y="11906"/>
                      </a:lnTo>
                      <a:cubicBezTo>
                        <a:pt x="154781" y="5331"/>
                        <a:pt x="149451" y="0"/>
                        <a:pt x="142875" y="0"/>
                      </a:cubicBezTo>
                      <a:lnTo>
                        <a:pt x="23812" y="0"/>
                      </a:lnTo>
                      <a:cubicBezTo>
                        <a:pt x="10661" y="0"/>
                        <a:pt x="0" y="10661"/>
                        <a:pt x="0" y="23812"/>
                      </a:cubicBezTo>
                      <a:cubicBezTo>
                        <a:pt x="0" y="36964"/>
                        <a:pt x="10661" y="47625"/>
                        <a:pt x="23812" y="47625"/>
                      </a:cubicBezTo>
                      <a:lnTo>
                        <a:pt x="166688" y="47625"/>
                      </a:lnTo>
                      <a:cubicBezTo>
                        <a:pt x="173263" y="47625"/>
                        <a:pt x="178594" y="52956"/>
                        <a:pt x="178594" y="59531"/>
                      </a:cubicBezTo>
                      <a:lnTo>
                        <a:pt x="178594" y="95250"/>
                      </a:lnTo>
                      <a:moveTo>
                        <a:pt x="178594" y="142875"/>
                      </a:moveTo>
                      <a:lnTo>
                        <a:pt x="178594" y="178594"/>
                      </a:lnTo>
                      <a:cubicBezTo>
                        <a:pt x="178594" y="185169"/>
                        <a:pt x="173263" y="190500"/>
                        <a:pt x="166688" y="190500"/>
                      </a:cubicBezTo>
                      <a:lnTo>
                        <a:pt x="23812" y="190500"/>
                      </a:lnTo>
                      <a:cubicBezTo>
                        <a:pt x="10661" y="190500"/>
                        <a:pt x="0" y="179839"/>
                        <a:pt x="0" y="166688"/>
                      </a:cubicBezTo>
                      <a:lnTo>
                        <a:pt x="0" y="23812"/>
                      </a:lnTo>
                    </a:path>
                  </a:pathLst>
                </a:custGeom>
                <a:noFill/>
                <a:ln w="17859">
                  <a:solidFill>
                    <a:srgbClr val="841600"/>
                  </a:solidFill>
                </a:ln>
              </p:spPr>
            </p:sp>
            <p:sp>
              <p:nvSpPr>
                <p:cNvPr id="134" name="Freeform 134"/>
                <p:cNvSpPr/>
                <p:nvPr/>
              </p:nvSpPr>
              <p:spPr>
                <a:xfrm>
                  <a:off x="8462962" y="2352675"/>
                  <a:ext cx="71438" cy="47625"/>
                </a:xfrm>
                <a:custGeom>
                  <a:avLst/>
                  <a:gdLst/>
                  <a:ahLst/>
                  <a:cxnLst/>
                  <a:rect l="l" t="t" r="r" b="b"/>
                  <a:pathLst>
                    <a:path w="71438" h="47625">
                      <a:moveTo>
                        <a:pt x="71438" y="0"/>
                      </a:moveTo>
                      <a:lnTo>
                        <a:pt x="71438" y="47625"/>
                      </a:lnTo>
                      <a:lnTo>
                        <a:pt x="23812" y="47625"/>
                      </a:lnTo>
                      <a:cubicBezTo>
                        <a:pt x="10661" y="47625"/>
                        <a:pt x="0" y="36964"/>
                        <a:pt x="0" y="23812"/>
                      </a:cubicBezTo>
                      <a:cubicBezTo>
                        <a:pt x="0" y="10661"/>
                        <a:pt x="10661" y="0"/>
                        <a:pt x="23812" y="0"/>
                      </a:cubicBezTo>
                      <a:lnTo>
                        <a:pt x="71438" y="0"/>
                      </a:lnTo>
                    </a:path>
                  </a:pathLst>
                </a:custGeom>
                <a:noFill/>
                <a:ln w="17859">
                  <a:solidFill>
                    <a:srgbClr val="841600"/>
                  </a:solidFill>
                </a:ln>
              </p:spPr>
            </p:sp>
          </p:grpSp>
          <p:sp>
            <p:nvSpPr>
              <p:cNvPr id="136" name="TextBox 136"/>
              <p:cNvSpPr txBox="1"/>
              <p:nvPr/>
            </p:nvSpPr>
            <p:spPr>
              <a:xfrm>
                <a:off x="8230057" y="2652951"/>
                <a:ext cx="418186"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消费贷</a:t>
                </a:r>
              </a:p>
            </p:txBody>
          </p:sp>
        </p:grpSp>
        <p:grpSp>
          <p:nvGrpSpPr>
            <p:cNvPr id="143" name="prod-5"/>
            <p:cNvGrpSpPr/>
            <p:nvPr/>
          </p:nvGrpSpPr>
          <p:grpSpPr>
            <a:xfrm>
              <a:off x="9182100" y="2095500"/>
              <a:ext cx="1257300" cy="819150"/>
              <a:chOff x="9182100" y="2095500"/>
              <a:chExt cx="1257300" cy="819150"/>
            </a:xfrm>
          </p:grpSpPr>
          <p:sp>
            <p:nvSpPr>
              <p:cNvPr id="138" name="Rectangle 138"/>
              <p:cNvSpPr/>
              <p:nvPr/>
            </p:nvSpPr>
            <p:spPr>
              <a:xfrm>
                <a:off x="9182100" y="2095500"/>
                <a:ext cx="1257300" cy="819150"/>
              </a:xfrm>
              <a:prstGeom prst="roundRect">
                <a:avLst>
                  <a:gd name="adj" fmla="val 9302"/>
                </a:avLst>
              </a:prstGeom>
              <a:solidFill>
                <a:srgbClr val="EFF5FD"/>
              </a:solidFill>
              <a:ln>
                <a:noFill/>
              </a:ln>
            </p:spPr>
          </p:sp>
          <p:grpSp>
            <p:nvGrpSpPr>
              <p:cNvPr id="141" name="Group 141"/>
              <p:cNvGrpSpPr/>
              <p:nvPr/>
            </p:nvGrpSpPr>
            <p:grpSpPr>
              <a:xfrm>
                <a:off x="9703594" y="2269331"/>
                <a:ext cx="214312" cy="175142"/>
                <a:chOff x="9703594" y="2269331"/>
                <a:chExt cx="214312" cy="175142"/>
              </a:xfrm>
            </p:grpSpPr>
            <p:sp>
              <p:nvSpPr>
                <p:cNvPr id="139" name="Freeform 139"/>
                <p:cNvSpPr/>
                <p:nvPr/>
              </p:nvSpPr>
              <p:spPr>
                <a:xfrm>
                  <a:off x="9703594" y="2269331"/>
                  <a:ext cx="214312" cy="175142"/>
                </a:xfrm>
                <a:custGeom>
                  <a:avLst/>
                  <a:gdLst/>
                  <a:ahLst/>
                  <a:cxnLst/>
                  <a:rect l="l" t="t" r="r" b="b"/>
                  <a:pathLst>
                    <a:path w="214312" h="175142">
                      <a:moveTo>
                        <a:pt x="35719" y="0"/>
                      </a:moveTo>
                      <a:lnTo>
                        <a:pt x="178594" y="0"/>
                      </a:lnTo>
                      <a:lnTo>
                        <a:pt x="214312" y="59531"/>
                      </a:lnTo>
                      <a:lnTo>
                        <a:pt x="113109" y="172641"/>
                      </a:lnTo>
                      <a:cubicBezTo>
                        <a:pt x="111542" y="174241"/>
                        <a:pt x="109396" y="175142"/>
                        <a:pt x="107156" y="175142"/>
                      </a:cubicBezTo>
                      <a:cubicBezTo>
                        <a:pt x="104916" y="175142"/>
                        <a:pt x="102771" y="174241"/>
                        <a:pt x="101203" y="172641"/>
                      </a:cubicBezTo>
                      <a:lnTo>
                        <a:pt x="0" y="59531"/>
                      </a:lnTo>
                      <a:lnTo>
                        <a:pt x="35719" y="0"/>
                      </a:lnTo>
                    </a:path>
                  </a:pathLst>
                </a:custGeom>
                <a:noFill/>
                <a:ln w="17859">
                  <a:solidFill>
                    <a:srgbClr val="841600"/>
                  </a:solidFill>
                </a:ln>
              </p:spPr>
            </p:sp>
            <p:sp>
              <p:nvSpPr>
                <p:cNvPr id="140" name="Freeform 140"/>
                <p:cNvSpPr/>
                <p:nvPr/>
              </p:nvSpPr>
              <p:spPr>
                <a:xfrm>
                  <a:off x="9763125" y="2314575"/>
                  <a:ext cx="23812" cy="38100"/>
                </a:xfrm>
                <a:custGeom>
                  <a:avLst/>
                  <a:gdLst/>
                  <a:ahLst/>
                  <a:cxnLst/>
                  <a:rect l="l" t="t" r="r" b="b"/>
                  <a:pathLst>
                    <a:path w="23812" h="38100">
                      <a:moveTo>
                        <a:pt x="23812" y="38100"/>
                      </a:moveTo>
                      <a:lnTo>
                        <a:pt x="0" y="11906"/>
                      </a:lnTo>
                      <a:lnTo>
                        <a:pt x="7144" y="0"/>
                      </a:lnTo>
                    </a:path>
                  </a:pathLst>
                </a:custGeom>
                <a:noFill/>
                <a:ln w="17859">
                  <a:solidFill>
                    <a:srgbClr val="841600"/>
                  </a:solidFill>
                </a:ln>
              </p:spPr>
            </p:sp>
          </p:grpSp>
          <p:sp>
            <p:nvSpPr>
              <p:cNvPr id="142" name="TextBox 142"/>
              <p:cNvSpPr txBox="1"/>
              <p:nvPr/>
            </p:nvSpPr>
            <p:spPr>
              <a:xfrm>
                <a:off x="9669640" y="2652951"/>
                <a:ext cx="282219"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财富</a:t>
                </a:r>
              </a:p>
            </p:txBody>
          </p:sp>
        </p:grpSp>
        <p:grpSp>
          <p:nvGrpSpPr>
            <p:cNvPr id="147" name="prod-6"/>
            <p:cNvGrpSpPr/>
            <p:nvPr/>
          </p:nvGrpSpPr>
          <p:grpSpPr>
            <a:xfrm>
              <a:off x="10553700" y="2095500"/>
              <a:ext cx="1257300" cy="819150"/>
              <a:chOff x="10553700" y="2095500"/>
              <a:chExt cx="1257300" cy="819150"/>
            </a:xfrm>
          </p:grpSpPr>
          <p:sp>
            <p:nvSpPr>
              <p:cNvPr id="144" name="Rectangle 144"/>
              <p:cNvSpPr/>
              <p:nvPr/>
            </p:nvSpPr>
            <p:spPr>
              <a:xfrm>
                <a:off x="10553700" y="2095500"/>
                <a:ext cx="1257300" cy="819150"/>
              </a:xfrm>
              <a:prstGeom prst="roundRect">
                <a:avLst>
                  <a:gd name="adj" fmla="val 9302"/>
                </a:avLst>
              </a:prstGeom>
              <a:solidFill>
                <a:srgbClr val="EFF5FD"/>
              </a:solidFill>
              <a:ln>
                <a:noFill/>
              </a:ln>
            </p:spPr>
          </p:sp>
          <p:sp>
            <p:nvSpPr>
              <p:cNvPr id="145" name="Freeform 145"/>
              <p:cNvSpPr/>
              <p:nvPr/>
            </p:nvSpPr>
            <p:spPr>
              <a:xfrm>
                <a:off x="11071071" y="2254371"/>
                <a:ext cx="222342" cy="193554"/>
              </a:xfrm>
              <a:custGeom>
                <a:avLst/>
                <a:gdLst/>
                <a:ahLst/>
                <a:cxnLst/>
                <a:rect l="l" t="t" r="r" b="b"/>
                <a:pathLst>
                  <a:path w="222342" h="193554">
                    <a:moveTo>
                      <a:pt x="200576" y="105115"/>
                    </a:moveTo>
                    <a:lnTo>
                      <a:pt x="111279" y="193554"/>
                    </a:lnTo>
                    <a:lnTo>
                      <a:pt x="21982" y="105115"/>
                    </a:lnTo>
                    <a:cubicBezTo>
                      <a:pt x="5924" y="89489"/>
                      <a:pt x="0" y="66170"/>
                      <a:pt x="6653" y="44774"/>
                    </a:cubicBezTo>
                    <a:cubicBezTo>
                      <a:pt x="13305" y="23379"/>
                      <a:pt x="31408" y="7531"/>
                      <a:pt x="53495" y="3765"/>
                    </a:cubicBezTo>
                    <a:cubicBezTo>
                      <a:pt x="75583" y="0"/>
                      <a:pt x="97913" y="8955"/>
                      <a:pt x="111279" y="26938"/>
                    </a:cubicBezTo>
                    <a:cubicBezTo>
                      <a:pt x="124701" y="9088"/>
                      <a:pt x="146984" y="252"/>
                      <a:pt x="168991" y="4052"/>
                    </a:cubicBezTo>
                    <a:cubicBezTo>
                      <a:pt x="190998" y="7853"/>
                      <a:pt x="209027" y="23651"/>
                      <a:pt x="215685" y="44969"/>
                    </a:cubicBezTo>
                    <a:cubicBezTo>
                      <a:pt x="222342" y="66286"/>
                      <a:pt x="216509" y="89537"/>
                      <a:pt x="200576" y="105186"/>
                    </a:cubicBezTo>
                  </a:path>
                </a:pathLst>
              </a:custGeom>
              <a:noFill/>
              <a:ln w="17859">
                <a:solidFill>
                  <a:srgbClr val="841600"/>
                </a:solidFill>
              </a:ln>
            </p:spPr>
          </p:sp>
          <p:sp>
            <p:nvSpPr>
              <p:cNvPr id="146" name="TextBox 146"/>
              <p:cNvSpPr txBox="1"/>
              <p:nvPr/>
            </p:nvSpPr>
            <p:spPr>
              <a:xfrm>
                <a:off x="10905274" y="2652951"/>
                <a:ext cx="554152"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养老金融</a:t>
                </a:r>
              </a:p>
            </p:txBody>
          </p:sp>
        </p:grpSp>
      </p:grpSp>
      <p:grpSp>
        <p:nvGrpSpPr>
          <p:cNvPr id="172" name="core-metrics"/>
          <p:cNvGrpSpPr/>
          <p:nvPr/>
        </p:nvGrpSpPr>
        <p:grpSpPr>
          <a:xfrm>
            <a:off x="7696200" y="3181350"/>
            <a:ext cx="4229100" cy="2286000"/>
            <a:chOff x="7696200" y="3181350"/>
            <a:chExt cx="4229100" cy="2286000"/>
          </a:xfrm>
        </p:grpSpPr>
        <p:sp>
          <p:nvSpPr>
            <p:cNvPr id="149" name="Rectangle 149"/>
            <p:cNvSpPr/>
            <p:nvPr/>
          </p:nvSpPr>
          <p:spPr>
            <a:xfrm>
              <a:off x="7696200" y="3181350"/>
              <a:ext cx="4229100" cy="2286000"/>
            </a:xfrm>
            <a:prstGeom prst="roundRect">
              <a:avLst>
                <a:gd name="adj" fmla="val 4167"/>
              </a:avLst>
            </a:prstGeom>
            <a:solidFill>
              <a:srgbClr val="FFFFFF"/>
            </a:solidFill>
            <a:ln w="9525">
              <a:solidFill>
                <a:srgbClr val="D7E2F2"/>
              </a:solidFill>
            </a:ln>
          </p:spPr>
        </p:sp>
        <p:sp>
          <p:nvSpPr>
            <p:cNvPr id="150" name="Rectangle 150"/>
            <p:cNvSpPr/>
            <p:nvPr/>
          </p:nvSpPr>
          <p:spPr>
            <a:xfrm>
              <a:off x="7696200" y="3181350"/>
              <a:ext cx="4229100" cy="381000"/>
            </a:xfrm>
            <a:prstGeom prst="roundRect">
              <a:avLst>
                <a:gd name="adj" fmla="val 25000"/>
              </a:avLst>
            </a:prstGeom>
            <a:solidFill>
              <a:srgbClr val="841600"/>
            </a:solidFill>
            <a:ln>
              <a:noFill/>
            </a:ln>
          </p:spPr>
        </p:sp>
        <p:sp>
          <p:nvSpPr>
            <p:cNvPr id="151" name="Rectangle 151"/>
            <p:cNvSpPr/>
            <p:nvPr/>
          </p:nvSpPr>
          <p:spPr>
            <a:xfrm>
              <a:off x="7696200" y="3390900"/>
              <a:ext cx="4229100" cy="171450"/>
            </a:xfrm>
            <a:prstGeom prst="rect">
              <a:avLst/>
            </a:prstGeom>
            <a:solidFill>
              <a:srgbClr val="841600"/>
            </a:solidFill>
            <a:ln>
              <a:noFill/>
            </a:ln>
          </p:spPr>
        </p:sp>
        <p:sp>
          <p:nvSpPr>
            <p:cNvPr id="152" name="TextBox 152"/>
            <p:cNvSpPr txBox="1"/>
            <p:nvPr/>
          </p:nvSpPr>
          <p:spPr>
            <a:xfrm>
              <a:off x="9481566" y="33089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核心指标</a:t>
              </a:r>
            </a:p>
          </p:txBody>
        </p:sp>
        <p:sp>
          <p:nvSpPr>
            <p:cNvPr id="153" name="Line 153"/>
            <p:cNvSpPr/>
            <p:nvPr/>
          </p:nvSpPr>
          <p:spPr>
            <a:xfrm>
              <a:off x="8534400" y="3733800"/>
              <a:ext cx="9525" cy="1562100"/>
            </a:xfrm>
            <a:custGeom>
              <a:avLst/>
              <a:gdLst/>
              <a:ahLst/>
              <a:cxnLst/>
              <a:rect l="l" t="t" r="r" b="b"/>
              <a:pathLst>
                <a:path w="9525" h="1562100">
                  <a:moveTo>
                    <a:pt x="0" y="0"/>
                  </a:moveTo>
                  <a:lnTo>
                    <a:pt x="0" y="1562100"/>
                  </a:lnTo>
                </a:path>
              </a:pathLst>
            </a:custGeom>
            <a:noFill/>
            <a:ln w="9525">
              <a:solidFill>
                <a:srgbClr val="E5ECF6"/>
              </a:solidFill>
            </a:ln>
          </p:spPr>
        </p:sp>
        <p:sp>
          <p:nvSpPr>
            <p:cNvPr id="154" name="Line 154"/>
            <p:cNvSpPr/>
            <p:nvPr/>
          </p:nvSpPr>
          <p:spPr>
            <a:xfrm>
              <a:off x="9372600" y="3733800"/>
              <a:ext cx="9525" cy="1562100"/>
            </a:xfrm>
            <a:custGeom>
              <a:avLst/>
              <a:gdLst/>
              <a:ahLst/>
              <a:cxnLst/>
              <a:rect l="l" t="t" r="r" b="b"/>
              <a:pathLst>
                <a:path w="9525" h="1562100">
                  <a:moveTo>
                    <a:pt x="0" y="0"/>
                  </a:moveTo>
                  <a:lnTo>
                    <a:pt x="0" y="1562100"/>
                  </a:lnTo>
                </a:path>
              </a:pathLst>
            </a:custGeom>
            <a:noFill/>
            <a:ln w="9525">
              <a:solidFill>
                <a:srgbClr val="E5ECF6"/>
              </a:solidFill>
            </a:ln>
          </p:spPr>
        </p:sp>
        <p:sp>
          <p:nvSpPr>
            <p:cNvPr id="155" name="Line 155"/>
            <p:cNvSpPr/>
            <p:nvPr/>
          </p:nvSpPr>
          <p:spPr>
            <a:xfrm>
              <a:off x="10210800" y="3733800"/>
              <a:ext cx="9525" cy="1562100"/>
            </a:xfrm>
            <a:custGeom>
              <a:avLst/>
              <a:gdLst/>
              <a:ahLst/>
              <a:cxnLst/>
              <a:rect l="l" t="t" r="r" b="b"/>
              <a:pathLst>
                <a:path w="9525" h="1562100">
                  <a:moveTo>
                    <a:pt x="0" y="0"/>
                  </a:moveTo>
                  <a:lnTo>
                    <a:pt x="0" y="1562100"/>
                  </a:lnTo>
                </a:path>
              </a:pathLst>
            </a:custGeom>
            <a:noFill/>
            <a:ln w="9525">
              <a:solidFill>
                <a:srgbClr val="E5ECF6"/>
              </a:solidFill>
            </a:ln>
          </p:spPr>
        </p:sp>
        <p:sp>
          <p:nvSpPr>
            <p:cNvPr id="156" name="Line 156"/>
            <p:cNvSpPr/>
            <p:nvPr/>
          </p:nvSpPr>
          <p:spPr>
            <a:xfrm>
              <a:off x="11049000" y="3733800"/>
              <a:ext cx="9525" cy="1562100"/>
            </a:xfrm>
            <a:custGeom>
              <a:avLst/>
              <a:gdLst/>
              <a:ahLst/>
              <a:cxnLst/>
              <a:rect l="l" t="t" r="r" b="b"/>
              <a:pathLst>
                <a:path w="9525" h="1562100">
                  <a:moveTo>
                    <a:pt x="0" y="0"/>
                  </a:moveTo>
                  <a:lnTo>
                    <a:pt x="0" y="1562100"/>
                  </a:lnTo>
                </a:path>
              </a:pathLst>
            </a:custGeom>
            <a:noFill/>
            <a:ln w="9525">
              <a:solidFill>
                <a:srgbClr val="E5ECF6"/>
              </a:solidFill>
            </a:ln>
          </p:spPr>
        </p:sp>
        <p:grpSp>
          <p:nvGrpSpPr>
            <p:cNvPr id="159" name="cm-1"/>
            <p:cNvGrpSpPr/>
            <p:nvPr/>
          </p:nvGrpSpPr>
          <p:grpSpPr>
            <a:xfrm>
              <a:off x="7751308" y="3998595"/>
              <a:ext cx="727984" cy="755428"/>
              <a:chOff x="7751308" y="3998595"/>
              <a:chExt cx="727984" cy="755428"/>
            </a:xfrm>
          </p:grpSpPr>
          <p:sp>
            <p:nvSpPr>
              <p:cNvPr id="157" name="TextBox 157"/>
              <p:cNvSpPr txBox="1"/>
              <p:nvPr/>
            </p:nvSpPr>
            <p:spPr>
              <a:xfrm>
                <a:off x="7931544" y="3998595"/>
                <a:ext cx="367513" cy="176212"/>
              </a:xfrm>
              <a:prstGeom prst="rect">
                <a:avLst/>
              </a:prstGeom>
              <a:noFill/>
              <a:ln>
                <a:noFill/>
              </a:ln>
            </p:spPr>
            <p:txBody>
              <a:bodyPr wrap="none" lIns="0" tIns="0" rIns="0" bIns="0" anchor="t" anchorCtr="0">
                <a:spAutoFit/>
              </a:bodyPr>
              <a:lstStyle/>
              <a:p>
                <a:pPr algn="ctr"/>
                <a:r>
                  <a:rPr lang="zh-CN" sz="900" dirty="0">
                    <a:solidFill>
                      <a:srgbClr val="7E605A"/>
                    </a:solidFill>
                    <a:latin typeface="+mn-lt"/>
                    <a:ea typeface="+mn-ea"/>
                    <a:cs typeface="+mn-cs"/>
                  </a:rPr>
                  <a:t xml:space="preserve">AUM　</a:t>
                </a:r>
              </a:p>
            </p:txBody>
          </p:sp>
          <p:sp>
            <p:nvSpPr>
              <p:cNvPr id="158" name="TextBox 158"/>
              <p:cNvSpPr txBox="1"/>
              <p:nvPr/>
            </p:nvSpPr>
            <p:spPr>
              <a:xfrm>
                <a:off x="7751308" y="4475321"/>
                <a:ext cx="727984" cy="278702"/>
              </a:xfrm>
              <a:prstGeom prst="rect">
                <a:avLst/>
              </a:prstGeom>
              <a:noFill/>
              <a:ln>
                <a:noFill/>
              </a:ln>
            </p:spPr>
            <p:txBody>
              <a:bodyPr wrap="none" lIns="0" tIns="0" rIns="0" bIns="0" anchor="t" anchorCtr="0">
                <a:spAutoFit/>
              </a:bodyPr>
              <a:lstStyle/>
              <a:p>
                <a:pPr algn="ctr"/>
                <a:r>
                  <a:rPr lang="zh-CN" sz="1420" b="1" dirty="0">
                    <a:solidFill>
                      <a:srgbClr val="841600"/>
                    </a:solidFill>
                    <a:latin typeface="+mn-lt"/>
                    <a:ea typeface="+mn-ea"/>
                    <a:cs typeface="+mn-cs"/>
                  </a:rPr>
                  <a:t xml:space="preserve">+60亿　</a:t>
                </a:r>
              </a:p>
            </p:txBody>
          </p:sp>
        </p:grpSp>
        <p:grpSp>
          <p:nvGrpSpPr>
            <p:cNvPr id="162" name="cm-2"/>
            <p:cNvGrpSpPr/>
            <p:nvPr/>
          </p:nvGrpSpPr>
          <p:grpSpPr>
            <a:xfrm>
              <a:off x="8589508" y="3998595"/>
              <a:ext cx="727984" cy="755428"/>
              <a:chOff x="8589508" y="3998595"/>
              <a:chExt cx="727984" cy="755428"/>
            </a:xfrm>
          </p:grpSpPr>
          <p:sp>
            <p:nvSpPr>
              <p:cNvPr id="160" name="TextBox 160"/>
              <p:cNvSpPr txBox="1"/>
              <p:nvPr/>
            </p:nvSpPr>
            <p:spPr>
              <a:xfrm>
                <a:off x="8706422" y="3998595"/>
                <a:ext cx="494157" cy="176212"/>
              </a:xfrm>
              <a:prstGeom prst="rect">
                <a:avLst/>
              </a:prstGeom>
              <a:noFill/>
              <a:ln>
                <a:noFill/>
              </a:ln>
            </p:spPr>
            <p:txBody>
              <a:bodyPr wrap="none" lIns="0" tIns="0" rIns="0" bIns="0" anchor="t" anchorCtr="0">
                <a:spAutoFit/>
              </a:bodyPr>
              <a:lstStyle/>
              <a:p>
                <a:pPr algn="ctr"/>
                <a:r>
                  <a:rPr lang="zh-CN" sz="900" dirty="0">
                    <a:solidFill>
                      <a:srgbClr val="7E605A"/>
                    </a:solidFill>
                    <a:latin typeface="+mn-lt"/>
                    <a:ea typeface="+mn-ea"/>
                    <a:cs typeface="+mn-cs"/>
                  </a:rPr>
                  <a:t>储蓄日均</a:t>
                </a:r>
              </a:p>
            </p:txBody>
          </p:sp>
          <p:sp>
            <p:nvSpPr>
              <p:cNvPr id="161" name="TextBox 161"/>
              <p:cNvSpPr txBox="1"/>
              <p:nvPr/>
            </p:nvSpPr>
            <p:spPr>
              <a:xfrm>
                <a:off x="8589508" y="4475321"/>
                <a:ext cx="727984" cy="278702"/>
              </a:xfrm>
              <a:prstGeom prst="rect">
                <a:avLst/>
              </a:prstGeom>
              <a:noFill/>
              <a:ln>
                <a:noFill/>
              </a:ln>
            </p:spPr>
            <p:txBody>
              <a:bodyPr wrap="none" lIns="0" tIns="0" rIns="0" bIns="0" anchor="t" anchorCtr="0">
                <a:spAutoFit/>
              </a:bodyPr>
              <a:lstStyle/>
              <a:p>
                <a:pPr algn="ctr"/>
                <a:r>
                  <a:rPr lang="zh-CN" sz="1420" b="1" dirty="0">
                    <a:solidFill>
                      <a:srgbClr val="841600"/>
                    </a:solidFill>
                    <a:latin typeface="+mn-lt"/>
                    <a:ea typeface="+mn-ea"/>
                    <a:cs typeface="+mn-cs"/>
                  </a:rPr>
                  <a:t xml:space="preserve">+38亿　</a:t>
                </a:r>
              </a:p>
            </p:txBody>
          </p:sp>
        </p:grpSp>
        <p:grpSp>
          <p:nvGrpSpPr>
            <p:cNvPr id="165" name="cm-3"/>
            <p:cNvGrpSpPr/>
            <p:nvPr/>
          </p:nvGrpSpPr>
          <p:grpSpPr>
            <a:xfrm>
              <a:off x="9482905" y="3998595"/>
              <a:ext cx="617589" cy="755428"/>
              <a:chOff x="9482905" y="3998595"/>
              <a:chExt cx="617589" cy="755428"/>
            </a:xfrm>
          </p:grpSpPr>
          <p:sp>
            <p:nvSpPr>
              <p:cNvPr id="163" name="TextBox 163"/>
              <p:cNvSpPr txBox="1"/>
              <p:nvPr/>
            </p:nvSpPr>
            <p:spPr>
              <a:xfrm>
                <a:off x="9544622" y="3998595"/>
                <a:ext cx="494157" cy="176212"/>
              </a:xfrm>
              <a:prstGeom prst="rect">
                <a:avLst/>
              </a:prstGeom>
              <a:noFill/>
              <a:ln>
                <a:noFill/>
              </a:ln>
            </p:spPr>
            <p:txBody>
              <a:bodyPr wrap="none" lIns="0" tIns="0" rIns="0" bIns="0" anchor="t" anchorCtr="0">
                <a:spAutoFit/>
              </a:bodyPr>
              <a:lstStyle/>
              <a:p>
                <a:pPr algn="ctr"/>
                <a:r>
                  <a:rPr lang="zh-CN" sz="900" dirty="0">
                    <a:solidFill>
                      <a:srgbClr val="7E605A"/>
                    </a:solidFill>
                    <a:latin typeface="+mn-lt"/>
                    <a:ea typeface="+mn-ea"/>
                    <a:cs typeface="+mn-cs"/>
                  </a:rPr>
                  <a:t>有效客户</a:t>
                </a:r>
              </a:p>
            </p:txBody>
          </p:sp>
          <p:sp>
            <p:nvSpPr>
              <p:cNvPr id="164" name="TextBox 164"/>
              <p:cNvSpPr txBox="1"/>
              <p:nvPr/>
            </p:nvSpPr>
            <p:spPr>
              <a:xfrm>
                <a:off x="9482905" y="4475321"/>
                <a:ext cx="617589" cy="278702"/>
              </a:xfrm>
              <a:prstGeom prst="rect">
                <a:avLst/>
              </a:prstGeom>
              <a:noFill/>
              <a:ln>
                <a:noFill/>
              </a:ln>
            </p:spPr>
            <p:txBody>
              <a:bodyPr wrap="none" lIns="0" tIns="0" rIns="0" bIns="0" anchor="t" anchorCtr="0">
                <a:spAutoFit/>
              </a:bodyPr>
              <a:lstStyle/>
              <a:p>
                <a:pPr algn="ctr"/>
                <a:r>
                  <a:rPr lang="zh-CN" sz="1420" b="1" dirty="0">
                    <a:solidFill>
                      <a:srgbClr val="841600"/>
                    </a:solidFill>
                    <a:latin typeface="+mn-lt"/>
                    <a:ea typeface="+mn-ea"/>
                    <a:cs typeface="+mn-cs"/>
                  </a:rPr>
                  <a:t xml:space="preserve">+8万　</a:t>
                </a:r>
              </a:p>
            </p:txBody>
          </p:sp>
        </p:grpSp>
        <p:grpSp>
          <p:nvGrpSpPr>
            <p:cNvPr id="168" name="cm-4"/>
            <p:cNvGrpSpPr/>
            <p:nvPr/>
          </p:nvGrpSpPr>
          <p:grpSpPr>
            <a:xfrm>
              <a:off x="10195895" y="3998595"/>
              <a:ext cx="868009" cy="755428"/>
              <a:chOff x="10195895" y="3998595"/>
              <a:chExt cx="868009" cy="755428"/>
            </a:xfrm>
          </p:grpSpPr>
          <p:sp>
            <p:nvSpPr>
              <p:cNvPr id="166" name="TextBox 166"/>
              <p:cNvSpPr txBox="1"/>
              <p:nvPr/>
            </p:nvSpPr>
            <p:spPr>
              <a:xfrm>
                <a:off x="10382822" y="3998595"/>
                <a:ext cx="494157" cy="176212"/>
              </a:xfrm>
              <a:prstGeom prst="rect">
                <a:avLst/>
              </a:prstGeom>
              <a:noFill/>
              <a:ln>
                <a:noFill/>
              </a:ln>
            </p:spPr>
            <p:txBody>
              <a:bodyPr wrap="none" lIns="0" tIns="0" rIns="0" bIns="0" anchor="t" anchorCtr="0">
                <a:spAutoFit/>
              </a:bodyPr>
              <a:lstStyle/>
              <a:p>
                <a:pPr algn="ctr"/>
                <a:r>
                  <a:rPr lang="zh-CN" sz="900" dirty="0">
                    <a:solidFill>
                      <a:srgbClr val="7E605A"/>
                    </a:solidFill>
                    <a:latin typeface="+mn-lt"/>
                    <a:ea typeface="+mn-ea"/>
                    <a:cs typeface="+mn-cs"/>
                  </a:rPr>
                  <a:t>财富客户</a:t>
                </a:r>
              </a:p>
            </p:txBody>
          </p:sp>
          <p:sp>
            <p:nvSpPr>
              <p:cNvPr id="167" name="TextBox 167"/>
              <p:cNvSpPr txBox="1"/>
              <p:nvPr/>
            </p:nvSpPr>
            <p:spPr>
              <a:xfrm>
                <a:off x="10195895" y="4475321"/>
                <a:ext cx="868009" cy="278702"/>
              </a:xfrm>
              <a:prstGeom prst="rect">
                <a:avLst/>
              </a:prstGeom>
              <a:noFill/>
              <a:ln>
                <a:noFill/>
              </a:ln>
            </p:spPr>
            <p:txBody>
              <a:bodyPr wrap="none" lIns="0" tIns="0" rIns="0" bIns="0" anchor="t" anchorCtr="0">
                <a:spAutoFit/>
              </a:bodyPr>
              <a:lstStyle/>
              <a:p>
                <a:pPr algn="ctr"/>
                <a:r>
                  <a:rPr lang="zh-CN" sz="1420" b="1" dirty="0">
                    <a:solidFill>
                      <a:srgbClr val="841600"/>
                    </a:solidFill>
                    <a:latin typeface="+mn-lt"/>
                    <a:ea typeface="+mn-ea"/>
                    <a:cs typeface="+mn-cs"/>
                  </a:rPr>
                  <a:t xml:space="preserve">+3,500　</a:t>
                </a:r>
              </a:p>
            </p:txBody>
          </p:sp>
        </p:grpSp>
        <p:grpSp>
          <p:nvGrpSpPr>
            <p:cNvPr id="171" name="cm-5"/>
            <p:cNvGrpSpPr/>
            <p:nvPr/>
          </p:nvGrpSpPr>
          <p:grpSpPr>
            <a:xfrm>
              <a:off x="11123158" y="3998595"/>
              <a:ext cx="727984" cy="755428"/>
              <a:chOff x="11123158" y="3998595"/>
              <a:chExt cx="727984" cy="755428"/>
            </a:xfrm>
          </p:grpSpPr>
          <p:sp>
            <p:nvSpPr>
              <p:cNvPr id="169" name="TextBox 169"/>
              <p:cNvSpPr txBox="1"/>
              <p:nvPr/>
            </p:nvSpPr>
            <p:spPr>
              <a:xfrm>
                <a:off x="11179492" y="3998595"/>
                <a:ext cx="615315" cy="176212"/>
              </a:xfrm>
              <a:prstGeom prst="rect">
                <a:avLst/>
              </a:prstGeom>
              <a:noFill/>
              <a:ln>
                <a:noFill/>
              </a:ln>
            </p:spPr>
            <p:txBody>
              <a:bodyPr wrap="none" lIns="0" tIns="0" rIns="0" bIns="0" anchor="t" anchorCtr="0">
                <a:spAutoFit/>
              </a:bodyPr>
              <a:lstStyle/>
              <a:p>
                <a:pPr algn="ctr"/>
                <a:r>
                  <a:rPr lang="zh-CN" sz="900" dirty="0">
                    <a:solidFill>
                      <a:srgbClr val="7E605A"/>
                    </a:solidFill>
                    <a:latin typeface="+mn-lt"/>
                    <a:ea typeface="+mn-ea"/>
                    <a:cs typeface="+mn-cs"/>
                  </a:rPr>
                  <a:t>产品持有数</a:t>
                </a:r>
              </a:p>
            </p:txBody>
          </p:sp>
          <p:sp>
            <p:nvSpPr>
              <p:cNvPr id="170" name="TextBox 170"/>
              <p:cNvSpPr txBox="1"/>
              <p:nvPr/>
            </p:nvSpPr>
            <p:spPr>
              <a:xfrm>
                <a:off x="11123158" y="4475321"/>
                <a:ext cx="727984" cy="278702"/>
              </a:xfrm>
              <a:prstGeom prst="rect">
                <a:avLst/>
              </a:prstGeom>
              <a:noFill/>
              <a:ln>
                <a:noFill/>
              </a:ln>
            </p:spPr>
            <p:txBody>
              <a:bodyPr wrap="none" lIns="0" tIns="0" rIns="0" bIns="0" anchor="t" anchorCtr="0">
                <a:spAutoFit/>
              </a:bodyPr>
              <a:lstStyle/>
              <a:p>
                <a:pPr algn="ctr"/>
                <a:r>
                  <a:rPr lang="zh-CN" sz="1420" b="1" dirty="0">
                    <a:solidFill>
                      <a:srgbClr val="841600"/>
                    </a:solidFill>
                    <a:latin typeface="+mn-lt"/>
                    <a:ea typeface="+mn-ea"/>
                    <a:cs typeface="+mn-cs"/>
                  </a:rPr>
                  <a:t xml:space="preserve">2.6个　</a:t>
                </a:r>
              </a:p>
            </p:txBody>
          </p:sp>
        </p:grpSp>
      </p:grpSp>
      <p:grpSp>
        <p:nvGrpSpPr>
          <p:cNvPr id="180" name="bottom-band"/>
          <p:cNvGrpSpPr/>
          <p:nvPr/>
        </p:nvGrpSpPr>
        <p:grpSpPr>
          <a:xfrm>
            <a:off x="266700" y="5581650"/>
            <a:ext cx="11658600" cy="1047750"/>
            <a:chOff x="266700" y="5581650"/>
            <a:chExt cx="11658600" cy="1047750"/>
          </a:xfrm>
        </p:grpSpPr>
        <p:sp>
          <p:nvSpPr>
            <p:cNvPr id="173" name="Rectangle 173"/>
            <p:cNvSpPr/>
            <p:nvPr/>
          </p:nvSpPr>
          <p:spPr>
            <a:xfrm>
              <a:off x="266700" y="5581650"/>
              <a:ext cx="11658600" cy="1047750"/>
            </a:xfrm>
            <a:prstGeom prst="roundRect">
              <a:avLst>
                <a:gd name="adj" fmla="val 9091"/>
              </a:avLst>
            </a:prstGeom>
            <a:solidFill>
              <a:srgbClr val="EFF5FD"/>
            </a:solidFill>
            <a:ln w="9525">
              <a:solidFill>
                <a:srgbClr val="D7E2F2"/>
              </a:solidFill>
            </a:ln>
          </p:spPr>
        </p:sp>
        <p:grpSp>
          <p:nvGrpSpPr>
            <p:cNvPr id="177" name="Group 177"/>
            <p:cNvGrpSpPr/>
            <p:nvPr/>
          </p:nvGrpSpPr>
          <p:grpSpPr>
            <a:xfrm>
              <a:off x="1919287" y="5948362"/>
              <a:ext cx="314324" cy="314324"/>
              <a:chOff x="1919287" y="5948362"/>
              <a:chExt cx="314324" cy="314324"/>
            </a:xfrm>
          </p:grpSpPr>
          <p:sp>
            <p:nvSpPr>
              <p:cNvPr id="174" name="Freeform 174"/>
              <p:cNvSpPr/>
              <p:nvPr/>
            </p:nvSpPr>
            <p:spPr>
              <a:xfrm>
                <a:off x="2058987" y="6088062"/>
                <a:ext cx="34925" cy="34925"/>
              </a:xfrm>
              <a:custGeom>
                <a:avLst/>
                <a:gdLst/>
                <a:ahLst/>
                <a:cxnLst/>
                <a:rect l="l" t="t" r="r" b="b"/>
                <a:pathLst>
                  <a:path w="34925" h="34925">
                    <a:moveTo>
                      <a:pt x="0" y="17462"/>
                    </a:moveTo>
                    <a:cubicBezTo>
                      <a:pt x="0" y="27107"/>
                      <a:pt x="7818" y="34925"/>
                      <a:pt x="17462" y="34925"/>
                    </a:cubicBezTo>
                    <a:cubicBezTo>
                      <a:pt x="27107" y="34925"/>
                      <a:pt x="34925" y="27107"/>
                      <a:pt x="34925" y="17462"/>
                    </a:cubicBezTo>
                    <a:cubicBezTo>
                      <a:pt x="34925" y="7818"/>
                      <a:pt x="27107" y="0"/>
                      <a:pt x="17462" y="0"/>
                    </a:cubicBezTo>
                    <a:cubicBezTo>
                      <a:pt x="7818" y="0"/>
                      <a:pt x="0" y="7818"/>
                      <a:pt x="0" y="17462"/>
                    </a:cubicBezTo>
                  </a:path>
                </a:pathLst>
              </a:custGeom>
              <a:noFill/>
              <a:ln w="26194">
                <a:solidFill>
                  <a:srgbClr val="841600"/>
                </a:solidFill>
              </a:ln>
            </p:spPr>
          </p:sp>
          <p:sp>
            <p:nvSpPr>
              <p:cNvPr id="175" name="Freeform 175"/>
              <p:cNvSpPr/>
              <p:nvPr/>
            </p:nvSpPr>
            <p:spPr>
              <a:xfrm>
                <a:off x="1989137" y="6018212"/>
                <a:ext cx="174625" cy="174625"/>
              </a:xfrm>
              <a:custGeom>
                <a:avLst/>
                <a:gdLst/>
                <a:ahLst/>
                <a:cxnLst/>
                <a:rect l="l" t="t" r="r" b="b"/>
                <a:pathLst>
                  <a:path w="174625" h="174625">
                    <a:moveTo>
                      <a:pt x="0" y="87312"/>
                    </a:moveTo>
                    <a:cubicBezTo>
                      <a:pt x="0" y="135534"/>
                      <a:pt x="39091" y="174625"/>
                      <a:pt x="87312" y="174625"/>
                    </a:cubicBezTo>
                    <a:cubicBezTo>
                      <a:pt x="135534" y="174625"/>
                      <a:pt x="174625" y="135534"/>
                      <a:pt x="174625" y="87312"/>
                    </a:cubicBezTo>
                    <a:cubicBezTo>
                      <a:pt x="174625" y="39091"/>
                      <a:pt x="135534" y="0"/>
                      <a:pt x="87312" y="0"/>
                    </a:cubicBezTo>
                    <a:cubicBezTo>
                      <a:pt x="39091" y="0"/>
                      <a:pt x="0" y="39091"/>
                      <a:pt x="0" y="87312"/>
                    </a:cubicBezTo>
                  </a:path>
                </a:pathLst>
              </a:custGeom>
              <a:noFill/>
              <a:ln w="26194">
                <a:solidFill>
                  <a:srgbClr val="841600"/>
                </a:solidFill>
              </a:ln>
            </p:spPr>
          </p:sp>
          <p:sp>
            <p:nvSpPr>
              <p:cNvPr id="176" name="Freeform 176"/>
              <p:cNvSpPr/>
              <p:nvPr/>
            </p:nvSpPr>
            <p:spPr>
              <a:xfrm>
                <a:off x="1919287" y="5948362"/>
                <a:ext cx="314324" cy="314324"/>
              </a:xfrm>
              <a:custGeom>
                <a:avLst/>
                <a:gdLst/>
                <a:ahLst/>
                <a:cxnLst/>
                <a:rect l="l" t="t" r="r" b="b"/>
                <a:pathLst>
                  <a:path w="314324" h="314324">
                    <a:moveTo>
                      <a:pt x="0" y="157162"/>
                    </a:moveTo>
                    <a:cubicBezTo>
                      <a:pt x="0" y="243961"/>
                      <a:pt x="70364" y="314324"/>
                      <a:pt x="157162" y="314324"/>
                    </a:cubicBezTo>
                    <a:cubicBezTo>
                      <a:pt x="243961" y="314324"/>
                      <a:pt x="314324" y="243961"/>
                      <a:pt x="314324" y="157162"/>
                    </a:cubicBezTo>
                    <a:cubicBezTo>
                      <a:pt x="314324" y="70364"/>
                      <a:pt x="243961" y="0"/>
                      <a:pt x="157162" y="0"/>
                    </a:cubicBezTo>
                    <a:cubicBezTo>
                      <a:pt x="70364" y="0"/>
                      <a:pt x="0" y="70364"/>
                      <a:pt x="0" y="157162"/>
                    </a:cubicBezTo>
                  </a:path>
                </a:pathLst>
              </a:custGeom>
              <a:noFill/>
              <a:ln w="26194">
                <a:solidFill>
                  <a:srgbClr val="841600"/>
                </a:solidFill>
              </a:ln>
            </p:spPr>
          </p:sp>
        </p:grpSp>
        <p:sp>
          <p:nvSpPr>
            <p:cNvPr id="178" name="Line 178"/>
            <p:cNvSpPr/>
            <p:nvPr/>
          </p:nvSpPr>
          <p:spPr>
            <a:xfrm>
              <a:off x="2495550" y="5829300"/>
              <a:ext cx="9525" cy="552450"/>
            </a:xfrm>
            <a:custGeom>
              <a:avLst/>
              <a:gdLst/>
              <a:ahLst/>
              <a:cxnLst/>
              <a:rect l="l" t="t" r="r" b="b"/>
              <a:pathLst>
                <a:path w="9525" h="552450">
                  <a:moveTo>
                    <a:pt x="0" y="0"/>
                  </a:moveTo>
                  <a:lnTo>
                    <a:pt x="0" y="552450"/>
                  </a:lnTo>
                </a:path>
              </a:pathLst>
            </a:custGeom>
            <a:noFill/>
            <a:ln w="14288">
              <a:solidFill>
                <a:srgbClr val="ECC1B8"/>
              </a:solidFill>
            </a:ln>
          </p:spPr>
        </p:sp>
        <p:sp>
          <p:nvSpPr>
            <p:cNvPr id="179" name="TextBox 179"/>
            <p:cNvSpPr txBox="1"/>
            <p:nvPr/>
          </p:nvSpPr>
          <p:spPr>
            <a:xfrm>
              <a:off x="2696718" y="6013132"/>
              <a:ext cx="5569839" cy="322707"/>
            </a:xfrm>
            <a:prstGeom prst="rect">
              <a:avLst/>
            </a:prstGeom>
            <a:noFill/>
            <a:ln>
              <a:noFill/>
            </a:ln>
          </p:spPr>
          <p:txBody>
            <a:bodyPr wrap="none" lIns="0" tIns="0" rIns="0" bIns="0" anchor="t" anchorCtr="0">
              <a:spAutoFit/>
            </a:bodyPr>
            <a:lstStyle/>
            <a:p>
              <a:pPr algn="l"/>
              <a:r>
                <a:rPr lang="zh-CN" sz="1650" b="1" dirty="0">
                  <a:solidFill>
                    <a:srgbClr val="841600"/>
                  </a:solidFill>
                  <a:latin typeface="+mn-lt"/>
                  <a:ea typeface="+mn-ea"/>
                  <a:cs typeface="+mn-cs"/>
                </a:rPr>
                <a:t>以客户分层匹配产品组合，以生命周期运营提升综合价值</a:t>
              </a:r>
            </a:p>
          </p:txBody>
        </p:sp>
      </p:gr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08</a:t>
              </a:r>
            </a:p>
          </p:txBody>
        </p:sp>
        <p:sp>
          <p:nvSpPr>
            <p:cNvPr id="4" name="TextBox 4"/>
            <p:cNvSpPr txBox="1"/>
            <p:nvPr/>
          </p:nvSpPr>
          <p:spPr>
            <a:xfrm>
              <a:off x="942594" y="151448"/>
              <a:ext cx="7508748"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财富管理与私人银行部</a:t>
              </a:r>
              <a:r>
                <a:rPr lang="zh-CN" sz="1950" b="1" dirty="0">
                  <a:solidFill>
                    <a:srgbClr val="1A1A1A"/>
                  </a:solidFill>
                  <a:latin typeface="SimSun"/>
                  <a:ea typeface="SimSun"/>
                  <a:cs typeface="SimSun"/>
                </a:rPr>
                <a:t>｜从产品销售转向资产配置和客户陪伴</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109" name="advisory-process"/>
          <p:cNvGrpSpPr/>
          <p:nvPr/>
        </p:nvGrpSpPr>
        <p:grpSpPr>
          <a:xfrm>
            <a:off x="266700" y="666750"/>
            <a:ext cx="8058150" cy="3867150"/>
            <a:chOff x="266700" y="666750"/>
            <a:chExt cx="8058150" cy="3867150"/>
          </a:xfrm>
        </p:grpSpPr>
        <p:sp>
          <p:nvSpPr>
            <p:cNvPr id="7" name="Rectangle 7"/>
            <p:cNvSpPr/>
            <p:nvPr/>
          </p:nvSpPr>
          <p:spPr>
            <a:xfrm>
              <a:off x="266700" y="666750"/>
              <a:ext cx="8058150" cy="3867150"/>
            </a:xfrm>
            <a:prstGeom prst="roundRect">
              <a:avLst>
                <a:gd name="adj" fmla="val 2463"/>
              </a:avLst>
            </a:prstGeom>
            <a:solidFill>
              <a:srgbClr val="FFFFFF"/>
            </a:solidFill>
            <a:ln w="9525">
              <a:solidFill>
                <a:srgbClr val="D7E2F2"/>
              </a:solidFill>
            </a:ln>
          </p:spPr>
        </p:sp>
        <p:sp>
          <p:nvSpPr>
            <p:cNvPr id="8" name="Freeform 8"/>
            <p:cNvSpPr/>
            <p:nvPr/>
          </p:nvSpPr>
          <p:spPr>
            <a:xfrm>
              <a:off x="342900" y="762000"/>
              <a:ext cx="1143000" cy="342900"/>
            </a:xfrm>
            <a:prstGeom prst="homePlate">
              <a:avLst>
                <a:gd name="adj" fmla="val 40000"/>
              </a:avLst>
            </a:prstGeom>
            <a:solidFill>
              <a:srgbClr val="C9482E"/>
            </a:solidFill>
            <a:ln>
              <a:noFill/>
            </a:ln>
          </p:spPr>
        </p:sp>
        <p:sp>
          <p:nvSpPr>
            <p:cNvPr id="9" name="Freeform 9"/>
            <p:cNvSpPr/>
            <p:nvPr/>
          </p:nvSpPr>
          <p:spPr>
            <a:xfrm>
              <a:off x="1524000" y="762000"/>
              <a:ext cx="1143000" cy="342900"/>
            </a:xfrm>
            <a:prstGeom prst="homePlate">
              <a:avLst>
                <a:gd name="adj" fmla="val 40000"/>
              </a:avLst>
            </a:prstGeom>
            <a:solidFill>
              <a:srgbClr val="C9482E"/>
            </a:solidFill>
            <a:ln>
              <a:noFill/>
            </a:ln>
          </p:spPr>
        </p:sp>
        <p:sp>
          <p:nvSpPr>
            <p:cNvPr id="10" name="Freeform 10"/>
            <p:cNvSpPr/>
            <p:nvPr/>
          </p:nvSpPr>
          <p:spPr>
            <a:xfrm>
              <a:off x="2705100" y="762000"/>
              <a:ext cx="2000250" cy="342900"/>
            </a:xfrm>
            <a:prstGeom prst="homePlate">
              <a:avLst>
                <a:gd name="adj" fmla="val 40000"/>
              </a:avLst>
            </a:prstGeom>
            <a:solidFill>
              <a:srgbClr val="841600"/>
            </a:solidFill>
            <a:ln>
              <a:noFill/>
            </a:ln>
          </p:spPr>
        </p:sp>
        <p:sp>
          <p:nvSpPr>
            <p:cNvPr id="11" name="Freeform 11"/>
            <p:cNvSpPr/>
            <p:nvPr/>
          </p:nvSpPr>
          <p:spPr>
            <a:xfrm>
              <a:off x="4743450" y="762000"/>
              <a:ext cx="1143000" cy="342900"/>
            </a:xfrm>
            <a:prstGeom prst="homePlate">
              <a:avLst>
                <a:gd name="adj" fmla="val 40000"/>
              </a:avLst>
            </a:prstGeom>
            <a:solidFill>
              <a:srgbClr val="C9482E"/>
            </a:solidFill>
            <a:ln>
              <a:noFill/>
            </a:ln>
          </p:spPr>
        </p:sp>
        <p:sp>
          <p:nvSpPr>
            <p:cNvPr id="12" name="Freeform 12"/>
            <p:cNvSpPr/>
            <p:nvPr/>
          </p:nvSpPr>
          <p:spPr>
            <a:xfrm>
              <a:off x="5924550" y="762000"/>
              <a:ext cx="1143000" cy="342900"/>
            </a:xfrm>
            <a:prstGeom prst="homePlate">
              <a:avLst>
                <a:gd name="adj" fmla="val 40000"/>
              </a:avLst>
            </a:prstGeom>
            <a:solidFill>
              <a:srgbClr val="C9482E"/>
            </a:solidFill>
            <a:ln>
              <a:noFill/>
            </a:ln>
          </p:spPr>
        </p:sp>
        <p:sp>
          <p:nvSpPr>
            <p:cNvPr id="13" name="Freeform 13"/>
            <p:cNvSpPr/>
            <p:nvPr/>
          </p:nvSpPr>
          <p:spPr>
            <a:xfrm>
              <a:off x="7105650" y="762000"/>
              <a:ext cx="1143000" cy="342900"/>
            </a:xfrm>
            <a:prstGeom prst="homePlate">
              <a:avLst>
                <a:gd name="adj" fmla="val 40000"/>
              </a:avLst>
            </a:prstGeom>
            <a:solidFill>
              <a:srgbClr val="C9482E"/>
            </a:solidFill>
            <a:ln>
              <a:noFill/>
            </a:ln>
          </p:spPr>
        </p:sp>
        <p:sp>
          <p:nvSpPr>
            <p:cNvPr id="14" name="TextBox 14"/>
            <p:cNvSpPr txBox="1"/>
            <p:nvPr/>
          </p:nvSpPr>
          <p:spPr>
            <a:xfrm>
              <a:off x="569214" y="8677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客户需求</a:t>
              </a:r>
            </a:p>
          </p:txBody>
        </p:sp>
        <p:sp>
          <p:nvSpPr>
            <p:cNvPr id="15" name="TextBox 15"/>
            <p:cNvSpPr txBox="1"/>
            <p:nvPr/>
          </p:nvSpPr>
          <p:spPr>
            <a:xfrm>
              <a:off x="1750314" y="8677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风险测评</a:t>
              </a:r>
            </a:p>
          </p:txBody>
        </p:sp>
        <p:sp>
          <p:nvSpPr>
            <p:cNvPr id="16" name="TextBox 16"/>
            <p:cNvSpPr txBox="1"/>
            <p:nvPr/>
          </p:nvSpPr>
          <p:spPr>
            <a:xfrm>
              <a:off x="3369564" y="8677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资产配置</a:t>
              </a:r>
            </a:p>
          </p:txBody>
        </p:sp>
        <p:sp>
          <p:nvSpPr>
            <p:cNvPr id="17" name="TextBox 17"/>
            <p:cNvSpPr txBox="1"/>
            <p:nvPr/>
          </p:nvSpPr>
          <p:spPr>
            <a:xfrm>
              <a:off x="4969764" y="8677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产品组合</a:t>
              </a:r>
            </a:p>
          </p:txBody>
        </p:sp>
        <p:sp>
          <p:nvSpPr>
            <p:cNvPr id="18" name="TextBox 18"/>
            <p:cNvSpPr txBox="1"/>
            <p:nvPr/>
          </p:nvSpPr>
          <p:spPr>
            <a:xfrm>
              <a:off x="6150864" y="8677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持续陪伴</a:t>
              </a:r>
            </a:p>
          </p:txBody>
        </p:sp>
        <p:sp>
          <p:nvSpPr>
            <p:cNvPr id="19" name="TextBox 19"/>
            <p:cNvSpPr txBox="1"/>
            <p:nvPr/>
          </p:nvSpPr>
          <p:spPr>
            <a:xfrm>
              <a:off x="7331964" y="8677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收益贡献</a:t>
              </a:r>
            </a:p>
          </p:txBody>
        </p:sp>
        <p:grpSp>
          <p:nvGrpSpPr>
            <p:cNvPr id="29" name="step-need"/>
            <p:cNvGrpSpPr/>
            <p:nvPr/>
          </p:nvGrpSpPr>
          <p:grpSpPr>
            <a:xfrm>
              <a:off x="414338" y="1162050"/>
              <a:ext cx="797116" cy="1403270"/>
              <a:chOff x="414338" y="1162050"/>
              <a:chExt cx="797116" cy="1403270"/>
            </a:xfrm>
          </p:grpSpPr>
          <p:sp>
            <p:nvSpPr>
              <p:cNvPr id="20" name="Ellipse 20"/>
              <p:cNvSpPr/>
              <p:nvPr/>
            </p:nvSpPr>
            <p:spPr>
              <a:xfrm>
                <a:off x="628650" y="1162050"/>
                <a:ext cx="571500" cy="571500"/>
              </a:xfrm>
              <a:prstGeom prst="ellipse">
                <a:avLst/>
              </a:prstGeom>
              <a:solidFill>
                <a:srgbClr val="EFF5FD"/>
              </a:solidFill>
              <a:ln w="14288">
                <a:solidFill>
                  <a:srgbClr val="ECC1B8"/>
                </a:solidFill>
              </a:ln>
            </p:spPr>
          </p:sp>
          <p:grpSp>
            <p:nvGrpSpPr>
              <p:cNvPr id="27" name="Group 27"/>
              <p:cNvGrpSpPr/>
              <p:nvPr/>
            </p:nvGrpSpPr>
            <p:grpSpPr>
              <a:xfrm>
                <a:off x="807244" y="1340644"/>
                <a:ext cx="214312" cy="214313"/>
                <a:chOff x="807244" y="1340644"/>
                <a:chExt cx="214312" cy="214313"/>
              </a:xfrm>
            </p:grpSpPr>
            <p:sp>
              <p:nvSpPr>
                <p:cNvPr id="21" name="Freeform 21"/>
                <p:cNvSpPr/>
                <p:nvPr/>
              </p:nvSpPr>
              <p:spPr>
                <a:xfrm>
                  <a:off x="890588" y="143589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22" name="Freeform 22"/>
                <p:cNvSpPr/>
                <p:nvPr/>
              </p:nvSpPr>
              <p:spPr>
                <a:xfrm>
                  <a:off x="866775" y="1519238"/>
                  <a:ext cx="95250" cy="35719"/>
                </a:xfrm>
                <a:custGeom>
                  <a:avLst/>
                  <a:gdLst/>
                  <a:ahLst/>
                  <a:cxnLst/>
                  <a:rect l="l" t="t" r="r" b="b"/>
                  <a:pathLst>
                    <a:path w="95250" h="35719">
                      <a:moveTo>
                        <a:pt x="0" y="35719"/>
                      </a:moveTo>
                      <a:lnTo>
                        <a:pt x="0" y="23812"/>
                      </a:lnTo>
                      <a:cubicBezTo>
                        <a:pt x="0" y="10661"/>
                        <a:pt x="10661" y="0"/>
                        <a:pt x="23812" y="0"/>
                      </a:cubicBezTo>
                      <a:lnTo>
                        <a:pt x="71438" y="0"/>
                      </a:lnTo>
                      <a:cubicBezTo>
                        <a:pt x="84589" y="0"/>
                        <a:pt x="95250" y="10661"/>
                        <a:pt x="95250" y="23812"/>
                      </a:cubicBezTo>
                      <a:lnTo>
                        <a:pt x="95250" y="35719"/>
                      </a:lnTo>
                    </a:path>
                  </a:pathLst>
                </a:custGeom>
                <a:noFill/>
                <a:ln w="17859">
                  <a:solidFill>
                    <a:srgbClr val="841600"/>
                  </a:solidFill>
                </a:ln>
              </p:spPr>
            </p:sp>
            <p:sp>
              <p:nvSpPr>
                <p:cNvPr id="23" name="Freeform 23"/>
                <p:cNvSpPr/>
                <p:nvPr/>
              </p:nvSpPr>
              <p:spPr>
                <a:xfrm>
                  <a:off x="950119" y="134064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24" name="Freeform 24"/>
                <p:cNvSpPr/>
                <p:nvPr/>
              </p:nvSpPr>
              <p:spPr>
                <a:xfrm>
                  <a:off x="973931" y="1423988"/>
                  <a:ext cx="47625" cy="35719"/>
                </a:xfrm>
                <a:custGeom>
                  <a:avLst/>
                  <a:gdLst/>
                  <a:ahLst/>
                  <a:cxnLst/>
                  <a:rect l="l" t="t" r="r" b="b"/>
                  <a:pathLst>
                    <a:path w="47625" h="35719">
                      <a:moveTo>
                        <a:pt x="0" y="0"/>
                      </a:moveTo>
                      <a:lnTo>
                        <a:pt x="23812" y="0"/>
                      </a:lnTo>
                      <a:cubicBezTo>
                        <a:pt x="36964" y="0"/>
                        <a:pt x="47625" y="10661"/>
                        <a:pt x="47625" y="23812"/>
                      </a:cubicBezTo>
                      <a:lnTo>
                        <a:pt x="47625" y="35719"/>
                      </a:lnTo>
                    </a:path>
                  </a:pathLst>
                </a:custGeom>
                <a:noFill/>
                <a:ln w="17859">
                  <a:solidFill>
                    <a:srgbClr val="841600"/>
                  </a:solidFill>
                </a:ln>
              </p:spPr>
            </p:sp>
            <p:sp>
              <p:nvSpPr>
                <p:cNvPr id="25" name="Freeform 25"/>
                <p:cNvSpPr/>
                <p:nvPr/>
              </p:nvSpPr>
              <p:spPr>
                <a:xfrm>
                  <a:off x="831056" y="134064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26" name="Freeform 26"/>
                <p:cNvSpPr/>
                <p:nvPr/>
              </p:nvSpPr>
              <p:spPr>
                <a:xfrm>
                  <a:off x="807244" y="1423988"/>
                  <a:ext cx="47625" cy="35719"/>
                </a:xfrm>
                <a:custGeom>
                  <a:avLst/>
                  <a:gdLst/>
                  <a:ahLst/>
                  <a:cxnLst/>
                  <a:rect l="l" t="t" r="r" b="b"/>
                  <a:pathLst>
                    <a:path w="47625" h="35719">
                      <a:moveTo>
                        <a:pt x="0" y="35719"/>
                      </a:moveTo>
                      <a:lnTo>
                        <a:pt x="0" y="23812"/>
                      </a:lnTo>
                      <a:cubicBezTo>
                        <a:pt x="0" y="10661"/>
                        <a:pt x="10661" y="0"/>
                        <a:pt x="23812" y="0"/>
                      </a:cubicBezTo>
                      <a:lnTo>
                        <a:pt x="47625" y="0"/>
                      </a:lnTo>
                    </a:path>
                  </a:pathLst>
                </a:custGeom>
                <a:noFill/>
                <a:ln w="17859">
                  <a:solidFill>
                    <a:srgbClr val="841600"/>
                  </a:solidFill>
                </a:ln>
              </p:spPr>
            </p:sp>
          </p:grpSp>
          <p:sp>
            <p:nvSpPr>
              <p:cNvPr id="28" name="TextBox 28"/>
              <p:cNvSpPr txBox="1"/>
              <p:nvPr/>
            </p:nvSpPr>
            <p:spPr>
              <a:xfrm>
                <a:off x="414338" y="1896189"/>
                <a:ext cx="797116" cy="669131"/>
              </a:xfrm>
              <a:prstGeom prst="rect">
                <a:avLst/>
              </a:prstGeom>
              <a:noFill/>
              <a:ln>
                <a:noFill/>
              </a:ln>
            </p:spPr>
            <p:txBody>
              <a:bodyPr wrap="none" lIns="0" tIns="0" rIns="0" bIns="0" anchor="t" anchorCtr="0">
                <a:spAutoFit/>
              </a:bodyPr>
              <a:lstStyle/>
              <a:p>
                <a:pPr algn="l" marL="85280" indent="-85280">
                  <a:lnSpc>
                    <a:spcPts val="1350"/>
                  </a:lnSpc>
                  <a:buClr>
                    <a:srgbClr val="473633"/>
                  </a:buClr>
                  <a:buSzTx/>
                  <a:buFontTx/>
                  <a:buChar char="•"/>
                </a:pPr>
                <a:r>
                  <a:rPr lang="zh-CN" sz="790" dirty="0">
                    <a:solidFill>
                      <a:srgbClr val="473633"/>
                    </a:solidFill>
                    <a:latin typeface="+mn-lt"/>
                    <a:ea typeface="+mn-ea"/>
                    <a:cs typeface="+mn-cs"/>
                  </a:rPr>
                  <a:t>人生阶段与目标</a:t>
                </a:r>
              </a:p>
              <a:p>
                <a:pPr algn="l" marL="85280" indent="-85280">
                  <a:lnSpc>
                    <a:spcPts val="1350"/>
                  </a:lnSpc>
                  <a:buClr>
                    <a:srgbClr val="473633"/>
                  </a:buClr>
                  <a:buSzTx/>
                  <a:buFontTx/>
                  <a:buChar char="•"/>
                </a:pPr>
                <a:r>
                  <a:rPr lang="zh-CN" sz="790" dirty="0">
                    <a:solidFill>
                      <a:srgbClr val="473633"/>
                    </a:solidFill>
                    <a:latin typeface="+mn-lt"/>
                    <a:ea typeface="+mn-ea"/>
                    <a:cs typeface="+mn-cs"/>
                  </a:rPr>
                  <a:t>财富现状与规划</a:t>
                </a:r>
              </a:p>
              <a:p>
                <a:pPr algn="l" marL="85280" indent="-85280">
                  <a:lnSpc>
                    <a:spcPts val="1350"/>
                  </a:lnSpc>
                  <a:buClr>
                    <a:srgbClr val="473633"/>
                  </a:buClr>
                  <a:buSzTx/>
                  <a:buFontTx/>
                  <a:buChar char="•"/>
                </a:pPr>
                <a:r>
                  <a:rPr lang="zh-CN" sz="790" dirty="0">
                    <a:solidFill>
                      <a:srgbClr val="473633"/>
                    </a:solidFill>
                    <a:latin typeface="+mn-lt"/>
                    <a:ea typeface="+mn-ea"/>
                    <a:cs typeface="+mn-cs"/>
                  </a:rPr>
                  <a:t>风险偏好与期限</a:t>
                </a:r>
              </a:p>
              <a:p>
                <a:pPr algn="l" marL="85280" indent="-85280">
                  <a:lnSpc>
                    <a:spcPts val="1350"/>
                  </a:lnSpc>
                  <a:buClr>
                    <a:srgbClr val="473633"/>
                  </a:buClr>
                  <a:buSzTx/>
                  <a:buFontTx/>
                  <a:buChar char="•"/>
                </a:pPr>
                <a:r>
                  <a:rPr lang="zh-CN" sz="790" dirty="0">
                    <a:solidFill>
                      <a:srgbClr val="473633"/>
                    </a:solidFill>
                    <a:latin typeface="+mn-lt"/>
                    <a:ea typeface="+mn-ea"/>
                    <a:cs typeface="+mn-cs"/>
                  </a:rPr>
                  <a:t>流动性与现金流</a:t>
                </a:r>
              </a:p>
            </p:txBody>
          </p:sp>
        </p:grpSp>
        <p:grpSp>
          <p:nvGrpSpPr>
            <p:cNvPr id="37" name="step-risk"/>
            <p:cNvGrpSpPr/>
            <p:nvPr/>
          </p:nvGrpSpPr>
          <p:grpSpPr>
            <a:xfrm>
              <a:off x="1595438" y="1162050"/>
              <a:ext cx="797116" cy="1403270"/>
              <a:chOff x="1595438" y="1162050"/>
              <a:chExt cx="797116" cy="1403270"/>
            </a:xfrm>
          </p:grpSpPr>
          <p:sp>
            <p:nvSpPr>
              <p:cNvPr id="30" name="Ellipse 30"/>
              <p:cNvSpPr/>
              <p:nvPr/>
            </p:nvSpPr>
            <p:spPr>
              <a:xfrm>
                <a:off x="1809750" y="1162050"/>
                <a:ext cx="571500" cy="571500"/>
              </a:xfrm>
              <a:prstGeom prst="ellipse">
                <a:avLst/>
              </a:prstGeom>
              <a:solidFill>
                <a:srgbClr val="EFF5FD"/>
              </a:solidFill>
              <a:ln w="14288">
                <a:solidFill>
                  <a:srgbClr val="ECC1B8"/>
                </a:solidFill>
              </a:ln>
            </p:spPr>
          </p:sp>
          <p:grpSp>
            <p:nvGrpSpPr>
              <p:cNvPr id="35" name="Group 35"/>
              <p:cNvGrpSpPr/>
              <p:nvPr/>
            </p:nvGrpSpPr>
            <p:grpSpPr>
              <a:xfrm>
                <a:off x="2012156" y="1352550"/>
                <a:ext cx="178594" cy="202406"/>
                <a:chOff x="2012156" y="1352550"/>
                <a:chExt cx="178594" cy="202406"/>
              </a:xfrm>
            </p:grpSpPr>
            <p:sp>
              <p:nvSpPr>
                <p:cNvPr id="31" name="Freeform 31"/>
                <p:cNvSpPr/>
                <p:nvPr/>
              </p:nvSpPr>
              <p:spPr>
                <a:xfrm>
                  <a:off x="2012156" y="1352550"/>
                  <a:ext cx="142875" cy="190500"/>
                </a:xfrm>
                <a:custGeom>
                  <a:avLst/>
                  <a:gdLst/>
                  <a:ahLst/>
                  <a:cxnLst/>
                  <a:rect l="l" t="t" r="r" b="b"/>
                  <a:pathLst>
                    <a:path w="142875" h="190500">
                      <a:moveTo>
                        <a:pt x="54947" y="190500"/>
                      </a:moveTo>
                      <a:lnTo>
                        <a:pt x="23812" y="190500"/>
                      </a:lnTo>
                      <a:cubicBezTo>
                        <a:pt x="10661" y="190500"/>
                        <a:pt x="0" y="179839"/>
                        <a:pt x="0" y="166688"/>
                      </a:cubicBezTo>
                      <a:lnTo>
                        <a:pt x="0" y="23812"/>
                      </a:lnTo>
                      <a:cubicBezTo>
                        <a:pt x="0" y="10661"/>
                        <a:pt x="10661" y="0"/>
                        <a:pt x="23812" y="0"/>
                      </a:cubicBezTo>
                      <a:lnTo>
                        <a:pt x="119062" y="0"/>
                      </a:lnTo>
                      <a:cubicBezTo>
                        <a:pt x="132214" y="0"/>
                        <a:pt x="142875" y="10661"/>
                        <a:pt x="142875" y="23812"/>
                      </a:cubicBezTo>
                      <a:lnTo>
                        <a:pt x="142875" y="119062"/>
                      </a:lnTo>
                    </a:path>
                  </a:pathLst>
                </a:custGeom>
                <a:noFill/>
                <a:ln w="17859">
                  <a:solidFill>
                    <a:srgbClr val="841600"/>
                  </a:solidFill>
                </a:ln>
              </p:spPr>
            </p:sp>
            <p:sp>
              <p:nvSpPr>
                <p:cNvPr id="32" name="Freeform 32"/>
                <p:cNvSpPr/>
                <p:nvPr/>
              </p:nvSpPr>
              <p:spPr>
                <a:xfrm>
                  <a:off x="2119312" y="1507331"/>
                  <a:ext cx="71438" cy="47625"/>
                </a:xfrm>
                <a:custGeom>
                  <a:avLst/>
                  <a:gdLst/>
                  <a:ahLst/>
                  <a:cxnLst/>
                  <a:rect l="l" t="t" r="r" b="b"/>
                  <a:pathLst>
                    <a:path w="71438" h="47625">
                      <a:moveTo>
                        <a:pt x="0" y="23812"/>
                      </a:moveTo>
                      <a:lnTo>
                        <a:pt x="23812" y="47625"/>
                      </a:lnTo>
                      <a:lnTo>
                        <a:pt x="71438" y="0"/>
                      </a:lnTo>
                    </a:path>
                  </a:pathLst>
                </a:custGeom>
                <a:noFill/>
                <a:ln w="17859">
                  <a:solidFill>
                    <a:srgbClr val="841600"/>
                  </a:solidFill>
                </a:ln>
              </p:spPr>
            </p:sp>
            <p:sp>
              <p:nvSpPr>
                <p:cNvPr id="33" name="Freeform 33"/>
                <p:cNvSpPr/>
                <p:nvPr/>
              </p:nvSpPr>
              <p:spPr>
                <a:xfrm>
                  <a:off x="2059781" y="1400175"/>
                  <a:ext cx="47625" cy="9525"/>
                </a:xfrm>
                <a:custGeom>
                  <a:avLst/>
                  <a:gdLst/>
                  <a:ahLst/>
                  <a:cxnLst/>
                  <a:rect l="l" t="t" r="r" b="b"/>
                  <a:pathLst>
                    <a:path w="47625" h="9525">
                      <a:moveTo>
                        <a:pt x="0" y="0"/>
                      </a:moveTo>
                      <a:lnTo>
                        <a:pt x="47625" y="0"/>
                      </a:lnTo>
                    </a:path>
                  </a:pathLst>
                </a:custGeom>
                <a:noFill/>
                <a:ln w="17859">
                  <a:solidFill>
                    <a:srgbClr val="841600"/>
                  </a:solidFill>
                </a:ln>
              </p:spPr>
            </p:sp>
            <p:sp>
              <p:nvSpPr>
                <p:cNvPr id="34" name="Freeform 34"/>
                <p:cNvSpPr/>
                <p:nvPr/>
              </p:nvSpPr>
              <p:spPr>
                <a:xfrm>
                  <a:off x="2059781" y="1447800"/>
                  <a:ext cx="23812" cy="9525"/>
                </a:xfrm>
                <a:custGeom>
                  <a:avLst/>
                  <a:gdLst/>
                  <a:ahLst/>
                  <a:cxnLst/>
                  <a:rect l="l" t="t" r="r" b="b"/>
                  <a:pathLst>
                    <a:path w="23812" h="9525">
                      <a:moveTo>
                        <a:pt x="0" y="0"/>
                      </a:moveTo>
                      <a:lnTo>
                        <a:pt x="23812" y="0"/>
                      </a:lnTo>
                    </a:path>
                  </a:pathLst>
                </a:custGeom>
                <a:noFill/>
                <a:ln w="17859">
                  <a:solidFill>
                    <a:srgbClr val="841600"/>
                  </a:solidFill>
                </a:ln>
              </p:spPr>
            </p:sp>
          </p:grpSp>
          <p:sp>
            <p:nvSpPr>
              <p:cNvPr id="36" name="TextBox 36"/>
              <p:cNvSpPr txBox="1"/>
              <p:nvPr/>
            </p:nvSpPr>
            <p:spPr>
              <a:xfrm>
                <a:off x="1595438" y="1896189"/>
                <a:ext cx="797116" cy="669131"/>
              </a:xfrm>
              <a:prstGeom prst="rect">
                <a:avLst/>
              </a:prstGeom>
              <a:noFill/>
              <a:ln>
                <a:noFill/>
              </a:ln>
            </p:spPr>
            <p:txBody>
              <a:bodyPr wrap="none" lIns="0" tIns="0" rIns="0" bIns="0" anchor="t" anchorCtr="0">
                <a:spAutoFit/>
              </a:bodyPr>
              <a:lstStyle/>
              <a:p>
                <a:pPr algn="l" marL="85280" indent="-85280">
                  <a:lnSpc>
                    <a:spcPts val="1350"/>
                  </a:lnSpc>
                  <a:buClr>
                    <a:srgbClr val="473633"/>
                  </a:buClr>
                  <a:buSzTx/>
                  <a:buFontTx/>
                  <a:buChar char="•"/>
                </a:pPr>
                <a:r>
                  <a:rPr lang="zh-CN" sz="790" dirty="0">
                    <a:solidFill>
                      <a:srgbClr val="473633"/>
                    </a:solidFill>
                    <a:latin typeface="+mn-lt"/>
                    <a:ea typeface="+mn-ea"/>
                    <a:cs typeface="+mn-cs"/>
                  </a:rPr>
                  <a:t>风险承受能力</a:t>
                </a:r>
              </a:p>
              <a:p>
                <a:pPr algn="l" marL="85280" indent="-85280">
                  <a:lnSpc>
                    <a:spcPts val="1350"/>
                  </a:lnSpc>
                  <a:buClr>
                    <a:srgbClr val="473633"/>
                  </a:buClr>
                  <a:buSzTx/>
                  <a:buFontTx/>
                  <a:buChar char="•"/>
                </a:pPr>
                <a:r>
                  <a:rPr lang="zh-CN" sz="790" dirty="0">
                    <a:solidFill>
                      <a:srgbClr val="473633"/>
                    </a:solidFill>
                    <a:latin typeface="+mn-lt"/>
                    <a:ea typeface="+mn-ea"/>
                    <a:cs typeface="+mn-cs"/>
                  </a:rPr>
                  <a:t>风险识别与认知</a:t>
                </a:r>
              </a:p>
              <a:p>
                <a:pPr algn="l" marL="85280" indent="-85280">
                  <a:lnSpc>
                    <a:spcPts val="1350"/>
                  </a:lnSpc>
                  <a:buClr>
                    <a:srgbClr val="473633"/>
                  </a:buClr>
                  <a:buSzTx/>
                  <a:buFontTx/>
                  <a:buChar char="•"/>
                </a:pPr>
                <a:r>
                  <a:rPr lang="zh-CN" sz="790" dirty="0">
                    <a:solidFill>
                      <a:srgbClr val="473633"/>
                    </a:solidFill>
                    <a:latin typeface="+mn-lt"/>
                    <a:ea typeface="+mn-ea"/>
                    <a:cs typeface="+mn-cs"/>
                  </a:rPr>
                  <a:t>投资经验与知识</a:t>
                </a:r>
              </a:p>
              <a:p>
                <a:pPr algn="l" marL="85280" indent="-85280">
                  <a:lnSpc>
                    <a:spcPts val="1350"/>
                  </a:lnSpc>
                  <a:buClr>
                    <a:srgbClr val="473633"/>
                  </a:buClr>
                  <a:buSzTx/>
                  <a:buFontTx/>
                  <a:buChar char="•"/>
                </a:pPr>
                <a:r>
                  <a:rPr lang="zh-CN" sz="790" dirty="0">
                    <a:solidFill>
                      <a:srgbClr val="473633"/>
                    </a:solidFill>
                    <a:latin typeface="+mn-lt"/>
                    <a:ea typeface="+mn-ea"/>
                    <a:cs typeface="+mn-cs"/>
                  </a:rPr>
                  <a:t>风险测评分级</a:t>
                </a:r>
              </a:p>
            </p:txBody>
          </p:sp>
        </p:grpSp>
        <p:grpSp>
          <p:nvGrpSpPr>
            <p:cNvPr id="52" name="step-allocation"/>
            <p:cNvGrpSpPr/>
            <p:nvPr/>
          </p:nvGrpSpPr>
          <p:grpSpPr>
            <a:xfrm>
              <a:off x="2712072" y="1149191"/>
              <a:ext cx="1875918" cy="1593771"/>
              <a:chOff x="2712072" y="1149191"/>
              <a:chExt cx="1875918" cy="1593771"/>
            </a:xfrm>
          </p:grpSpPr>
          <p:sp>
            <p:nvSpPr>
              <p:cNvPr id="38" name="Freeform 38"/>
              <p:cNvSpPr/>
              <p:nvPr/>
            </p:nvSpPr>
            <p:spPr>
              <a:xfrm>
                <a:off x="3705225" y="1390636"/>
                <a:ext cx="440092" cy="548654"/>
              </a:xfrm>
              <a:custGeom>
                <a:avLst/>
                <a:gdLst/>
                <a:ahLst/>
                <a:cxnLst/>
                <a:rect l="l" t="t" r="r" b="b"/>
                <a:pathLst>
                  <a:path w="440092" h="548654">
                    <a:moveTo>
                      <a:pt x="0" y="14"/>
                    </a:moveTo>
                    <a:cubicBezTo>
                      <a:pt x="134169" y="0"/>
                      <a:pt x="260235" y="64224"/>
                      <a:pt x="339099" y="172769"/>
                    </a:cubicBezTo>
                    <a:cubicBezTo>
                      <a:pt x="417964" y="281313"/>
                      <a:pt x="440092" y="421054"/>
                      <a:pt x="398621" y="548654"/>
                    </a:cubicBezTo>
                  </a:path>
                </a:pathLst>
              </a:custGeom>
              <a:noFill/>
              <a:ln w="190500">
                <a:solidFill>
                  <a:srgbClr val="841600"/>
                </a:solidFill>
              </a:ln>
            </p:spPr>
          </p:sp>
          <p:sp>
            <p:nvSpPr>
              <p:cNvPr id="39" name="Freeform 39"/>
              <p:cNvSpPr/>
              <p:nvPr/>
            </p:nvSpPr>
            <p:spPr>
              <a:xfrm>
                <a:off x="3575685" y="1939290"/>
                <a:ext cx="528161" cy="303449"/>
              </a:xfrm>
              <a:custGeom>
                <a:avLst/>
                <a:gdLst/>
                <a:ahLst/>
                <a:cxnLst/>
                <a:rect l="l" t="t" r="r" b="b"/>
                <a:pathLst>
                  <a:path w="528161" h="303449">
                    <a:moveTo>
                      <a:pt x="528161" y="0"/>
                    </a:moveTo>
                    <a:cubicBezTo>
                      <a:pt x="493815" y="105728"/>
                      <a:pt x="418869" y="193478"/>
                      <a:pt x="319817" y="243942"/>
                    </a:cubicBezTo>
                    <a:cubicBezTo>
                      <a:pt x="220765" y="294406"/>
                      <a:pt x="105721" y="303449"/>
                      <a:pt x="0" y="269081"/>
                    </a:cubicBezTo>
                  </a:path>
                </a:pathLst>
              </a:custGeom>
              <a:noFill/>
              <a:ln w="190500">
                <a:solidFill>
                  <a:srgbClr val="C9482E"/>
                </a:solidFill>
              </a:ln>
            </p:spPr>
          </p:sp>
          <p:sp>
            <p:nvSpPr>
              <p:cNvPr id="40" name="Freeform 40"/>
              <p:cNvSpPr/>
              <p:nvPr/>
            </p:nvSpPr>
            <p:spPr>
              <a:xfrm>
                <a:off x="3286106" y="1809750"/>
                <a:ext cx="289579" cy="398621"/>
              </a:xfrm>
              <a:custGeom>
                <a:avLst/>
                <a:gdLst/>
                <a:ahLst/>
                <a:cxnLst/>
                <a:rect l="l" t="t" r="r" b="b"/>
                <a:pathLst>
                  <a:path w="289579" h="398621">
                    <a:moveTo>
                      <a:pt x="289579" y="398621"/>
                    </a:moveTo>
                    <a:cubicBezTo>
                      <a:pt x="116901" y="342500"/>
                      <a:pt x="0" y="181569"/>
                      <a:pt x="19" y="0"/>
                    </a:cubicBezTo>
                  </a:path>
                </a:pathLst>
              </a:custGeom>
              <a:noFill/>
              <a:ln w="190500">
                <a:solidFill>
                  <a:srgbClr val="D9705B"/>
                </a:solidFill>
              </a:ln>
            </p:spPr>
          </p:sp>
          <p:sp>
            <p:nvSpPr>
              <p:cNvPr id="41" name="Freeform 41"/>
              <p:cNvSpPr/>
              <p:nvPr/>
            </p:nvSpPr>
            <p:spPr>
              <a:xfrm>
                <a:off x="3286121" y="1470660"/>
                <a:ext cx="172788" cy="339090"/>
              </a:xfrm>
              <a:custGeom>
                <a:avLst/>
                <a:gdLst/>
                <a:ahLst/>
                <a:cxnLst/>
                <a:rect l="l" t="t" r="r" b="b"/>
                <a:pathLst>
                  <a:path w="172788" h="339090">
                    <a:moveTo>
                      <a:pt x="4" y="339090"/>
                    </a:moveTo>
                    <a:cubicBezTo>
                      <a:pt x="0" y="204919"/>
                      <a:pt x="64235" y="78856"/>
                      <a:pt x="172788" y="0"/>
                    </a:cubicBezTo>
                  </a:path>
                </a:pathLst>
              </a:custGeom>
              <a:noFill/>
              <a:ln w="190500">
                <a:solidFill>
                  <a:srgbClr val="E8B4A9"/>
                </a:solidFill>
              </a:ln>
            </p:spPr>
          </p:sp>
          <p:sp>
            <p:nvSpPr>
              <p:cNvPr id="42" name="Freeform 42"/>
              <p:cNvSpPr/>
              <p:nvPr/>
            </p:nvSpPr>
            <p:spPr>
              <a:xfrm>
                <a:off x="3458908" y="1390646"/>
                <a:ext cx="246317" cy="80014"/>
              </a:xfrm>
              <a:custGeom>
                <a:avLst/>
                <a:gdLst/>
                <a:ahLst/>
                <a:cxnLst/>
                <a:rect l="l" t="t" r="r" b="b"/>
                <a:pathLst>
                  <a:path w="246317" h="80014">
                    <a:moveTo>
                      <a:pt x="0" y="80014"/>
                    </a:moveTo>
                    <a:cubicBezTo>
                      <a:pt x="71599" y="28008"/>
                      <a:pt x="157823" y="0"/>
                      <a:pt x="246317" y="4"/>
                    </a:cubicBezTo>
                  </a:path>
                </a:pathLst>
              </a:custGeom>
              <a:noFill/>
              <a:ln w="190500">
                <a:solidFill>
                  <a:srgbClr val="DCE6F8"/>
                </a:solidFill>
              </a:ln>
            </p:spPr>
          </p:sp>
          <p:grpSp>
            <p:nvGrpSpPr>
              <p:cNvPr id="45" name="Group 45"/>
              <p:cNvGrpSpPr/>
              <p:nvPr/>
            </p:nvGrpSpPr>
            <p:grpSpPr>
              <a:xfrm>
                <a:off x="3616845" y="1725663"/>
                <a:ext cx="172200" cy="172467"/>
                <a:chOff x="3616845" y="1725663"/>
                <a:chExt cx="172200" cy="172467"/>
              </a:xfrm>
            </p:grpSpPr>
            <p:sp>
              <p:nvSpPr>
                <p:cNvPr id="43" name="Freeform 43"/>
                <p:cNvSpPr/>
                <p:nvPr/>
              </p:nvSpPr>
              <p:spPr>
                <a:xfrm>
                  <a:off x="3616845" y="1725663"/>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4288">
                  <a:solidFill>
                    <a:srgbClr val="841600"/>
                  </a:solidFill>
                </a:ln>
              </p:spPr>
            </p:sp>
            <p:sp>
              <p:nvSpPr>
                <p:cNvPr id="44" name="Freeform 44"/>
                <p:cNvSpPr/>
                <p:nvPr/>
              </p:nvSpPr>
              <p:spPr>
                <a:xfrm>
                  <a:off x="3733800" y="1728788"/>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4288">
                  <a:solidFill>
                    <a:srgbClr val="841600"/>
                  </a:solidFill>
                </a:ln>
              </p:spPr>
            </p:sp>
          </p:grpSp>
          <p:sp>
            <p:nvSpPr>
              <p:cNvPr id="46" name="TextBox 46"/>
              <p:cNvSpPr txBox="1"/>
              <p:nvPr/>
            </p:nvSpPr>
            <p:spPr>
              <a:xfrm>
                <a:off x="3590074" y="1149191"/>
                <a:ext cx="230302" cy="161925"/>
              </a:xfrm>
              <a:prstGeom prst="rect">
                <a:avLst/>
              </a:prstGeom>
              <a:noFill/>
              <a:ln>
                <a:noFill/>
              </a:ln>
            </p:spPr>
            <p:txBody>
              <a:bodyPr wrap="none" lIns="0" tIns="0" rIns="0" bIns="0" anchor="t" anchorCtr="0">
                <a:spAutoFit/>
              </a:bodyPr>
              <a:lstStyle/>
              <a:p>
                <a:pPr algn="ctr"/>
                <a:r>
                  <a:rPr lang="zh-CN" sz="820" b="1" dirty="0">
                    <a:solidFill>
                      <a:srgbClr val="841600"/>
                    </a:solidFill>
                    <a:latin typeface="+mn-lt"/>
                    <a:ea typeface="+mn-ea"/>
                    <a:cs typeface="+mn-cs"/>
                  </a:rPr>
                  <a:t>存款</a:t>
                </a:r>
              </a:p>
            </p:txBody>
          </p:sp>
          <p:sp>
            <p:nvSpPr>
              <p:cNvPr id="47" name="TextBox 47"/>
              <p:cNvSpPr txBox="1"/>
              <p:nvPr/>
            </p:nvSpPr>
            <p:spPr>
              <a:xfrm>
                <a:off x="4357688" y="1625441"/>
                <a:ext cx="230302" cy="161925"/>
              </a:xfrm>
              <a:prstGeom prst="rect">
                <a:avLst/>
              </a:prstGeom>
              <a:noFill/>
              <a:ln>
                <a:noFill/>
              </a:ln>
            </p:spPr>
            <p:txBody>
              <a:bodyPr wrap="none" lIns="0" tIns="0" rIns="0" bIns="0" anchor="t" anchorCtr="0">
                <a:spAutoFit/>
              </a:bodyPr>
              <a:lstStyle/>
              <a:p>
                <a:pPr algn="l"/>
                <a:r>
                  <a:rPr lang="zh-CN" sz="820" b="1" dirty="0">
                    <a:solidFill>
                      <a:srgbClr val="841600"/>
                    </a:solidFill>
                    <a:latin typeface="+mn-lt"/>
                    <a:ea typeface="+mn-ea"/>
                    <a:cs typeface="+mn-cs"/>
                  </a:rPr>
                  <a:t>理财</a:t>
                </a:r>
              </a:p>
            </p:txBody>
          </p:sp>
          <p:sp>
            <p:nvSpPr>
              <p:cNvPr id="48" name="TextBox 48"/>
              <p:cNvSpPr txBox="1"/>
              <p:nvPr/>
            </p:nvSpPr>
            <p:spPr>
              <a:xfrm>
                <a:off x="4243388" y="2330291"/>
                <a:ext cx="230302" cy="161925"/>
              </a:xfrm>
              <a:prstGeom prst="rect">
                <a:avLst/>
              </a:prstGeom>
              <a:noFill/>
              <a:ln>
                <a:noFill/>
              </a:ln>
            </p:spPr>
            <p:txBody>
              <a:bodyPr wrap="none" lIns="0" tIns="0" rIns="0" bIns="0" anchor="t" anchorCtr="0">
                <a:spAutoFit/>
              </a:bodyPr>
              <a:lstStyle/>
              <a:p>
                <a:pPr algn="l"/>
                <a:r>
                  <a:rPr lang="zh-CN" sz="820" b="1" dirty="0">
                    <a:solidFill>
                      <a:srgbClr val="841600"/>
                    </a:solidFill>
                    <a:latin typeface="+mn-lt"/>
                    <a:ea typeface="+mn-ea"/>
                    <a:cs typeface="+mn-cs"/>
                  </a:rPr>
                  <a:t>基金</a:t>
                </a:r>
              </a:p>
            </p:txBody>
          </p:sp>
          <p:sp>
            <p:nvSpPr>
              <p:cNvPr id="49" name="TextBox 49"/>
              <p:cNvSpPr txBox="1"/>
              <p:nvPr/>
            </p:nvSpPr>
            <p:spPr>
              <a:xfrm>
                <a:off x="2936761" y="2330291"/>
                <a:ext cx="230302" cy="161925"/>
              </a:xfrm>
              <a:prstGeom prst="rect">
                <a:avLst/>
              </a:prstGeom>
              <a:noFill/>
              <a:ln>
                <a:noFill/>
              </a:ln>
            </p:spPr>
            <p:txBody>
              <a:bodyPr wrap="none" lIns="0" tIns="0" rIns="0" bIns="0" anchor="t" anchorCtr="0">
                <a:spAutoFit/>
              </a:bodyPr>
              <a:lstStyle/>
              <a:p>
                <a:pPr algn="r"/>
                <a:r>
                  <a:rPr lang="zh-CN" sz="820" b="1" dirty="0">
                    <a:solidFill>
                      <a:srgbClr val="841600"/>
                    </a:solidFill>
                    <a:latin typeface="+mn-lt"/>
                    <a:ea typeface="+mn-ea"/>
                    <a:cs typeface="+mn-cs"/>
                  </a:rPr>
                  <a:t>保险</a:t>
                </a:r>
              </a:p>
            </p:txBody>
          </p:sp>
          <p:sp>
            <p:nvSpPr>
              <p:cNvPr id="50" name="TextBox 50"/>
              <p:cNvSpPr txBox="1"/>
              <p:nvPr/>
            </p:nvSpPr>
            <p:spPr>
              <a:xfrm>
                <a:off x="2712072" y="1625441"/>
                <a:ext cx="340690" cy="161925"/>
              </a:xfrm>
              <a:prstGeom prst="rect">
                <a:avLst/>
              </a:prstGeom>
              <a:noFill/>
              <a:ln>
                <a:noFill/>
              </a:ln>
            </p:spPr>
            <p:txBody>
              <a:bodyPr wrap="none" lIns="0" tIns="0" rIns="0" bIns="0" anchor="t" anchorCtr="0">
                <a:spAutoFit/>
              </a:bodyPr>
              <a:lstStyle/>
              <a:p>
                <a:pPr algn="r"/>
                <a:r>
                  <a:rPr lang="zh-CN" sz="820" b="1" dirty="0">
                    <a:solidFill>
                      <a:srgbClr val="841600"/>
                    </a:solidFill>
                    <a:latin typeface="+mn-lt"/>
                    <a:ea typeface="+mn-ea"/>
                    <a:cs typeface="+mn-cs"/>
                  </a:rPr>
                  <a:t>贵金属</a:t>
                </a:r>
              </a:p>
            </p:txBody>
          </p:sp>
          <p:sp>
            <p:nvSpPr>
              <p:cNvPr id="51" name="TextBox 51"/>
              <p:cNvSpPr txBox="1"/>
              <p:nvPr/>
            </p:nvSpPr>
            <p:spPr>
              <a:xfrm>
                <a:off x="2947937" y="2573893"/>
                <a:ext cx="1514577"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基于风险与目标的多元化配置</a:t>
                </a:r>
              </a:p>
            </p:txBody>
          </p:sp>
        </p:grpSp>
        <p:grpSp>
          <p:nvGrpSpPr>
            <p:cNvPr id="60" name="step-portfolio"/>
            <p:cNvGrpSpPr/>
            <p:nvPr/>
          </p:nvGrpSpPr>
          <p:grpSpPr>
            <a:xfrm>
              <a:off x="4814888" y="1162050"/>
              <a:ext cx="797116" cy="1403270"/>
              <a:chOff x="4814888" y="1162050"/>
              <a:chExt cx="797116" cy="1403270"/>
            </a:xfrm>
          </p:grpSpPr>
          <p:sp>
            <p:nvSpPr>
              <p:cNvPr id="53" name="Ellipse 53"/>
              <p:cNvSpPr/>
              <p:nvPr/>
            </p:nvSpPr>
            <p:spPr>
              <a:xfrm>
                <a:off x="5029200" y="1162050"/>
                <a:ext cx="571500" cy="571500"/>
              </a:xfrm>
              <a:prstGeom prst="ellipse">
                <a:avLst/>
              </a:prstGeom>
              <a:solidFill>
                <a:srgbClr val="EFF5FD"/>
              </a:solidFill>
              <a:ln w="14288">
                <a:solidFill>
                  <a:srgbClr val="ECC1B8"/>
                </a:solidFill>
              </a:ln>
            </p:spPr>
          </p:sp>
          <p:grpSp>
            <p:nvGrpSpPr>
              <p:cNvPr id="58" name="Group 58"/>
              <p:cNvGrpSpPr/>
              <p:nvPr/>
            </p:nvGrpSpPr>
            <p:grpSpPr>
              <a:xfrm>
                <a:off x="5207794" y="1340644"/>
                <a:ext cx="214312" cy="202406"/>
                <a:chOff x="5207794" y="1340644"/>
                <a:chExt cx="214312" cy="202406"/>
              </a:xfrm>
            </p:grpSpPr>
            <p:sp>
              <p:nvSpPr>
                <p:cNvPr id="54" name="Freeform 54"/>
                <p:cNvSpPr/>
                <p:nvPr/>
              </p:nvSpPr>
              <p:spPr>
                <a:xfrm>
                  <a:off x="5207794" y="1388269"/>
                  <a:ext cx="214312" cy="154781"/>
                </a:xfrm>
                <a:custGeom>
                  <a:avLst/>
                  <a:gdLst/>
                  <a:ahLst/>
                  <a:cxnLst/>
                  <a:rect l="l" t="t" r="r" b="b"/>
                  <a:pathLst>
                    <a:path w="214312" h="154781">
                      <a:moveTo>
                        <a:pt x="0" y="23812"/>
                      </a:moveTo>
                      <a:cubicBezTo>
                        <a:pt x="0" y="10661"/>
                        <a:pt x="10661" y="0"/>
                        <a:pt x="23812" y="0"/>
                      </a:cubicBezTo>
                      <a:lnTo>
                        <a:pt x="190500" y="0"/>
                      </a:lnTo>
                      <a:cubicBezTo>
                        <a:pt x="203651" y="0"/>
                        <a:pt x="214312" y="10661"/>
                        <a:pt x="214312" y="23812"/>
                      </a:cubicBezTo>
                      <a:lnTo>
                        <a:pt x="214312" y="130969"/>
                      </a:lnTo>
                      <a:cubicBezTo>
                        <a:pt x="214312" y="144120"/>
                        <a:pt x="203651" y="154781"/>
                        <a:pt x="190500" y="154781"/>
                      </a:cubicBezTo>
                      <a:lnTo>
                        <a:pt x="23812" y="154781"/>
                      </a:lnTo>
                      <a:cubicBezTo>
                        <a:pt x="10661" y="154781"/>
                        <a:pt x="0" y="144120"/>
                        <a:pt x="0" y="130969"/>
                      </a:cubicBezTo>
                      <a:lnTo>
                        <a:pt x="0" y="23812"/>
                      </a:lnTo>
                    </a:path>
                  </a:pathLst>
                </a:custGeom>
                <a:noFill/>
                <a:ln w="17859">
                  <a:solidFill>
                    <a:srgbClr val="841600"/>
                  </a:solidFill>
                </a:ln>
              </p:spPr>
            </p:sp>
            <p:sp>
              <p:nvSpPr>
                <p:cNvPr id="55" name="Freeform 55"/>
                <p:cNvSpPr/>
                <p:nvPr/>
              </p:nvSpPr>
              <p:spPr>
                <a:xfrm>
                  <a:off x="5267325" y="1340644"/>
                  <a:ext cx="95250" cy="47625"/>
                </a:xfrm>
                <a:custGeom>
                  <a:avLst/>
                  <a:gdLst/>
                  <a:ahLst/>
                  <a:cxnLst/>
                  <a:rect l="l" t="t" r="r" b="b"/>
                  <a:pathLst>
                    <a:path w="95250" h="47625">
                      <a:moveTo>
                        <a:pt x="0" y="47625"/>
                      </a:moveTo>
                      <a:lnTo>
                        <a:pt x="0" y="23812"/>
                      </a:lnTo>
                      <a:cubicBezTo>
                        <a:pt x="0" y="10661"/>
                        <a:pt x="10661" y="0"/>
                        <a:pt x="23812" y="0"/>
                      </a:cubicBezTo>
                      <a:lnTo>
                        <a:pt x="71438" y="0"/>
                      </a:lnTo>
                      <a:cubicBezTo>
                        <a:pt x="84589" y="0"/>
                        <a:pt x="95250" y="10661"/>
                        <a:pt x="95250" y="23812"/>
                      </a:cubicBezTo>
                      <a:lnTo>
                        <a:pt x="95250" y="47625"/>
                      </a:lnTo>
                    </a:path>
                  </a:pathLst>
                </a:custGeom>
                <a:noFill/>
                <a:ln w="17859">
                  <a:solidFill>
                    <a:srgbClr val="841600"/>
                  </a:solidFill>
                </a:ln>
              </p:spPr>
            </p:sp>
            <p:sp>
              <p:nvSpPr>
                <p:cNvPr id="56" name="Freeform 56"/>
                <p:cNvSpPr/>
                <p:nvPr/>
              </p:nvSpPr>
              <p:spPr>
                <a:xfrm>
                  <a:off x="5314950" y="1447800"/>
                  <a:ext cx="9525" cy="9525"/>
                </a:xfrm>
                <a:custGeom>
                  <a:avLst/>
                  <a:gdLst/>
                  <a:ahLst/>
                  <a:cxnLst/>
                  <a:rect l="l" t="t" r="r" b="b"/>
                  <a:pathLst>
                    <a:path w="9525" h="9525">
                      <a:moveTo>
                        <a:pt x="0" y="0"/>
                      </a:moveTo>
                      <a:lnTo>
                        <a:pt x="0" y="119"/>
                      </a:lnTo>
                    </a:path>
                  </a:pathLst>
                </a:custGeom>
                <a:noFill/>
                <a:ln w="17859">
                  <a:solidFill>
                    <a:srgbClr val="841600"/>
                  </a:solidFill>
                </a:ln>
              </p:spPr>
            </p:sp>
            <p:sp>
              <p:nvSpPr>
                <p:cNvPr id="57" name="Freeform 57"/>
                <p:cNvSpPr/>
                <p:nvPr/>
              </p:nvSpPr>
              <p:spPr>
                <a:xfrm>
                  <a:off x="5207794" y="1459706"/>
                  <a:ext cx="214312" cy="33963"/>
                </a:xfrm>
                <a:custGeom>
                  <a:avLst/>
                  <a:gdLst/>
                  <a:ahLst/>
                  <a:cxnLst/>
                  <a:rect l="l" t="t" r="r" b="b"/>
                  <a:pathLst>
                    <a:path w="214312" h="33963">
                      <a:moveTo>
                        <a:pt x="0" y="0"/>
                      </a:moveTo>
                      <a:cubicBezTo>
                        <a:pt x="67401" y="33963"/>
                        <a:pt x="146912" y="33963"/>
                        <a:pt x="214312" y="0"/>
                      </a:cubicBezTo>
                    </a:path>
                  </a:pathLst>
                </a:custGeom>
                <a:noFill/>
                <a:ln w="17859">
                  <a:solidFill>
                    <a:srgbClr val="841600"/>
                  </a:solidFill>
                </a:ln>
              </p:spPr>
            </p:sp>
          </p:grpSp>
          <p:sp>
            <p:nvSpPr>
              <p:cNvPr id="59" name="TextBox 59"/>
              <p:cNvSpPr txBox="1"/>
              <p:nvPr/>
            </p:nvSpPr>
            <p:spPr>
              <a:xfrm>
                <a:off x="4814888" y="1896189"/>
                <a:ext cx="797116" cy="669131"/>
              </a:xfrm>
              <a:prstGeom prst="rect">
                <a:avLst/>
              </a:prstGeom>
              <a:noFill/>
              <a:ln>
                <a:noFill/>
              </a:ln>
            </p:spPr>
            <p:txBody>
              <a:bodyPr wrap="none" lIns="0" tIns="0" rIns="0" bIns="0" anchor="t" anchorCtr="0">
                <a:spAutoFit/>
              </a:bodyPr>
              <a:lstStyle/>
              <a:p>
                <a:pPr algn="l" marL="85280" indent="-85280">
                  <a:lnSpc>
                    <a:spcPts val="1350"/>
                  </a:lnSpc>
                  <a:buClr>
                    <a:srgbClr val="473633"/>
                  </a:buClr>
                  <a:buSzTx/>
                  <a:buFontTx/>
                  <a:buChar char="•"/>
                </a:pPr>
                <a:r>
                  <a:rPr lang="zh-CN" sz="790" dirty="0">
                    <a:solidFill>
                      <a:srgbClr val="473633"/>
                    </a:solidFill>
                    <a:latin typeface="+mn-lt"/>
                    <a:ea typeface="+mn-ea"/>
                    <a:cs typeface="+mn-cs"/>
                  </a:rPr>
                  <a:t>精选产品池</a:t>
                </a:r>
              </a:p>
              <a:p>
                <a:pPr algn="l" marL="85280" indent="-85280">
                  <a:lnSpc>
                    <a:spcPts val="1350"/>
                  </a:lnSpc>
                  <a:buClr>
                    <a:srgbClr val="473633"/>
                  </a:buClr>
                  <a:buSzTx/>
                  <a:buFontTx/>
                  <a:buChar char="•"/>
                </a:pPr>
                <a:r>
                  <a:rPr lang="zh-CN" sz="790" dirty="0">
                    <a:solidFill>
                      <a:srgbClr val="473633"/>
                    </a:solidFill>
                    <a:latin typeface="+mn-lt"/>
                    <a:ea typeface="+mn-ea"/>
                    <a:cs typeface="+mn-cs"/>
                  </a:rPr>
                  <a:t>组合构建与优化</a:t>
                </a:r>
              </a:p>
              <a:p>
                <a:pPr algn="l" marL="85280" indent="-85280">
                  <a:lnSpc>
                    <a:spcPts val="1350"/>
                  </a:lnSpc>
                  <a:buClr>
                    <a:srgbClr val="473633"/>
                  </a:buClr>
                  <a:buSzTx/>
                  <a:buFontTx/>
                  <a:buChar char="•"/>
                </a:pPr>
                <a:r>
                  <a:rPr lang="zh-CN" sz="790" dirty="0">
                    <a:solidFill>
                      <a:srgbClr val="473633"/>
                    </a:solidFill>
                    <a:latin typeface="+mn-lt"/>
                    <a:ea typeface="+mn-ea"/>
                    <a:cs typeface="+mn-cs"/>
                  </a:rPr>
                  <a:t>税务与成本考量</a:t>
                </a:r>
              </a:p>
              <a:p>
                <a:pPr algn="l" marL="85280" indent="-85280">
                  <a:lnSpc>
                    <a:spcPts val="1350"/>
                  </a:lnSpc>
                  <a:buClr>
                    <a:srgbClr val="473633"/>
                  </a:buClr>
                  <a:buSzTx/>
                  <a:buFontTx/>
                  <a:buChar char="•"/>
                </a:pPr>
                <a:r>
                  <a:rPr lang="zh-CN" sz="790" dirty="0">
                    <a:solidFill>
                      <a:srgbClr val="473633"/>
                    </a:solidFill>
                    <a:latin typeface="+mn-lt"/>
                    <a:ea typeface="+mn-ea"/>
                    <a:cs typeface="+mn-cs"/>
                  </a:rPr>
                  <a:t>动态再平衡方案</a:t>
                </a:r>
              </a:p>
            </p:txBody>
          </p:sp>
        </p:grpSp>
        <p:grpSp>
          <p:nvGrpSpPr>
            <p:cNvPr id="64" name="step-companion"/>
            <p:cNvGrpSpPr/>
            <p:nvPr/>
          </p:nvGrpSpPr>
          <p:grpSpPr>
            <a:xfrm>
              <a:off x="5995988" y="1162050"/>
              <a:ext cx="797116" cy="1403270"/>
              <a:chOff x="5995988" y="1162050"/>
              <a:chExt cx="797116" cy="1403270"/>
            </a:xfrm>
          </p:grpSpPr>
          <p:sp>
            <p:nvSpPr>
              <p:cNvPr id="61" name="Ellipse 61"/>
              <p:cNvSpPr/>
              <p:nvPr/>
            </p:nvSpPr>
            <p:spPr>
              <a:xfrm>
                <a:off x="6210300" y="1162050"/>
                <a:ext cx="571500" cy="571500"/>
              </a:xfrm>
              <a:prstGeom prst="ellipse">
                <a:avLst/>
              </a:prstGeom>
              <a:solidFill>
                <a:srgbClr val="EFF5FD"/>
              </a:solidFill>
              <a:ln w="14288">
                <a:solidFill>
                  <a:srgbClr val="ECC1B8"/>
                </a:solidFill>
              </a:ln>
            </p:spPr>
          </p:sp>
          <p:sp>
            <p:nvSpPr>
              <p:cNvPr id="62" name="Freeform 62"/>
              <p:cNvSpPr/>
              <p:nvPr/>
            </p:nvSpPr>
            <p:spPr>
              <a:xfrm>
                <a:off x="6384771" y="1349496"/>
                <a:ext cx="222342" cy="193554"/>
              </a:xfrm>
              <a:custGeom>
                <a:avLst/>
                <a:gdLst/>
                <a:ahLst/>
                <a:cxnLst/>
                <a:rect l="l" t="t" r="r" b="b"/>
                <a:pathLst>
                  <a:path w="222342" h="193554">
                    <a:moveTo>
                      <a:pt x="200576" y="105115"/>
                    </a:moveTo>
                    <a:lnTo>
                      <a:pt x="111279" y="193554"/>
                    </a:lnTo>
                    <a:lnTo>
                      <a:pt x="21982" y="105115"/>
                    </a:lnTo>
                    <a:cubicBezTo>
                      <a:pt x="5924" y="89489"/>
                      <a:pt x="0" y="66170"/>
                      <a:pt x="6653" y="44774"/>
                    </a:cubicBezTo>
                    <a:cubicBezTo>
                      <a:pt x="13305" y="23379"/>
                      <a:pt x="31408" y="7531"/>
                      <a:pt x="53495" y="3765"/>
                    </a:cubicBezTo>
                    <a:cubicBezTo>
                      <a:pt x="75583" y="0"/>
                      <a:pt x="97913" y="8955"/>
                      <a:pt x="111279" y="26938"/>
                    </a:cubicBezTo>
                    <a:cubicBezTo>
                      <a:pt x="124701" y="9088"/>
                      <a:pt x="146984" y="252"/>
                      <a:pt x="168991" y="4052"/>
                    </a:cubicBezTo>
                    <a:cubicBezTo>
                      <a:pt x="190998" y="7853"/>
                      <a:pt x="209027" y="23651"/>
                      <a:pt x="215685" y="44969"/>
                    </a:cubicBezTo>
                    <a:cubicBezTo>
                      <a:pt x="222342" y="66286"/>
                      <a:pt x="216509" y="89537"/>
                      <a:pt x="200576" y="105186"/>
                    </a:cubicBezTo>
                  </a:path>
                </a:pathLst>
              </a:custGeom>
              <a:noFill/>
              <a:ln w="17859">
                <a:solidFill>
                  <a:srgbClr val="841600"/>
                </a:solidFill>
              </a:ln>
            </p:spPr>
          </p:sp>
          <p:sp>
            <p:nvSpPr>
              <p:cNvPr id="63" name="TextBox 63"/>
              <p:cNvSpPr txBox="1"/>
              <p:nvPr/>
            </p:nvSpPr>
            <p:spPr>
              <a:xfrm>
                <a:off x="5995988" y="1896189"/>
                <a:ext cx="797116" cy="669131"/>
              </a:xfrm>
              <a:prstGeom prst="rect">
                <a:avLst/>
              </a:prstGeom>
              <a:noFill/>
              <a:ln>
                <a:noFill/>
              </a:ln>
            </p:spPr>
            <p:txBody>
              <a:bodyPr wrap="none" lIns="0" tIns="0" rIns="0" bIns="0" anchor="t" anchorCtr="0">
                <a:spAutoFit/>
              </a:bodyPr>
              <a:lstStyle/>
              <a:p>
                <a:pPr algn="l" marL="85280" indent="-85280">
                  <a:lnSpc>
                    <a:spcPts val="1350"/>
                  </a:lnSpc>
                  <a:buClr>
                    <a:srgbClr val="473633"/>
                  </a:buClr>
                  <a:buSzTx/>
                  <a:buFontTx/>
                  <a:buChar char="•"/>
                </a:pPr>
                <a:r>
                  <a:rPr lang="zh-CN" sz="790" dirty="0">
                    <a:solidFill>
                      <a:srgbClr val="473633"/>
                    </a:solidFill>
                    <a:latin typeface="+mn-lt"/>
                    <a:ea typeface="+mn-ea"/>
                    <a:cs typeface="+mn-cs"/>
                  </a:rPr>
                  <a:t>定期检视与回顾</a:t>
                </a:r>
              </a:p>
              <a:p>
                <a:pPr algn="l" marL="85280" indent="-85280">
                  <a:lnSpc>
                    <a:spcPts val="1350"/>
                  </a:lnSpc>
                  <a:buClr>
                    <a:srgbClr val="473633"/>
                  </a:buClr>
                  <a:buSzTx/>
                  <a:buFontTx/>
                  <a:buChar char="•"/>
                </a:pPr>
                <a:r>
                  <a:rPr lang="zh-CN" sz="790" dirty="0">
                    <a:solidFill>
                      <a:srgbClr val="473633"/>
                    </a:solidFill>
                    <a:latin typeface="+mn-lt"/>
                    <a:ea typeface="+mn-ea"/>
                    <a:cs typeface="+mn-cs"/>
                  </a:rPr>
                  <a:t>市场解读与陪伴</a:t>
                </a:r>
              </a:p>
              <a:p>
                <a:pPr algn="l" marL="85280" indent="-85280">
                  <a:lnSpc>
                    <a:spcPts val="1350"/>
                  </a:lnSpc>
                  <a:buClr>
                    <a:srgbClr val="473633"/>
                  </a:buClr>
                  <a:buSzTx/>
                  <a:buFontTx/>
                  <a:buChar char="•"/>
                </a:pPr>
                <a:r>
                  <a:rPr lang="zh-CN" sz="790" dirty="0">
                    <a:solidFill>
                      <a:srgbClr val="473633"/>
                    </a:solidFill>
                    <a:latin typeface="+mn-lt"/>
                    <a:ea typeface="+mn-ea"/>
                    <a:cs typeface="+mn-cs"/>
                  </a:rPr>
                  <a:t>目标进度跟踪</a:t>
                </a:r>
              </a:p>
              <a:p>
                <a:pPr algn="l" marL="85280" indent="-85280">
                  <a:lnSpc>
                    <a:spcPts val="1350"/>
                  </a:lnSpc>
                  <a:buClr>
                    <a:srgbClr val="473633"/>
                  </a:buClr>
                  <a:buSzTx/>
                  <a:buFontTx/>
                  <a:buChar char="•"/>
                </a:pPr>
                <a:r>
                  <a:rPr lang="zh-CN" sz="790" dirty="0">
                    <a:solidFill>
                      <a:srgbClr val="473633"/>
                    </a:solidFill>
                    <a:latin typeface="+mn-lt"/>
                    <a:ea typeface="+mn-ea"/>
                    <a:cs typeface="+mn-cs"/>
                  </a:rPr>
                  <a:t>方案动态调整</a:t>
                </a:r>
              </a:p>
            </p:txBody>
          </p:sp>
        </p:grpSp>
        <p:grpSp>
          <p:nvGrpSpPr>
            <p:cNvPr id="70" name="step-return"/>
            <p:cNvGrpSpPr/>
            <p:nvPr/>
          </p:nvGrpSpPr>
          <p:grpSpPr>
            <a:xfrm>
              <a:off x="7177088" y="1162050"/>
              <a:ext cx="897446" cy="1403270"/>
              <a:chOff x="7177088" y="1162050"/>
              <a:chExt cx="897446" cy="1403270"/>
            </a:xfrm>
          </p:grpSpPr>
          <p:sp>
            <p:nvSpPr>
              <p:cNvPr id="65" name="Ellipse 65"/>
              <p:cNvSpPr/>
              <p:nvPr/>
            </p:nvSpPr>
            <p:spPr>
              <a:xfrm>
                <a:off x="7391400" y="1162050"/>
                <a:ext cx="571500" cy="571500"/>
              </a:xfrm>
              <a:prstGeom prst="ellipse">
                <a:avLst/>
              </a:prstGeom>
              <a:solidFill>
                <a:srgbClr val="EFF5FD"/>
              </a:solidFill>
              <a:ln w="14288">
                <a:solidFill>
                  <a:srgbClr val="ECC1B8"/>
                </a:solidFill>
              </a:ln>
            </p:spPr>
          </p:sp>
          <p:grpSp>
            <p:nvGrpSpPr>
              <p:cNvPr id="68" name="Group 68"/>
              <p:cNvGrpSpPr/>
              <p:nvPr/>
            </p:nvGrpSpPr>
            <p:grpSpPr>
              <a:xfrm>
                <a:off x="7569994" y="1388269"/>
                <a:ext cx="214312" cy="119062"/>
                <a:chOff x="7569994" y="1388269"/>
                <a:chExt cx="214312" cy="119062"/>
              </a:xfrm>
            </p:grpSpPr>
            <p:sp>
              <p:nvSpPr>
                <p:cNvPr id="66" name="Freeform 66"/>
                <p:cNvSpPr/>
                <p:nvPr/>
              </p:nvSpPr>
              <p:spPr>
                <a:xfrm>
                  <a:off x="7569994" y="1388269"/>
                  <a:ext cx="214312" cy="119062"/>
                </a:xfrm>
                <a:custGeom>
                  <a:avLst/>
                  <a:gdLst/>
                  <a:ahLst/>
                  <a:cxnLst/>
                  <a:rect l="l" t="t" r="r" b="b"/>
                  <a:pathLst>
                    <a:path w="214312" h="119062">
                      <a:moveTo>
                        <a:pt x="0" y="119062"/>
                      </a:moveTo>
                      <a:lnTo>
                        <a:pt x="71438" y="47625"/>
                      </a:lnTo>
                      <a:lnTo>
                        <a:pt x="119062" y="95250"/>
                      </a:lnTo>
                      <a:lnTo>
                        <a:pt x="214312" y="0"/>
                      </a:lnTo>
                    </a:path>
                  </a:pathLst>
                </a:custGeom>
                <a:noFill/>
                <a:ln w="17859">
                  <a:solidFill>
                    <a:srgbClr val="841600"/>
                  </a:solidFill>
                </a:ln>
              </p:spPr>
            </p:sp>
            <p:sp>
              <p:nvSpPr>
                <p:cNvPr id="67" name="Freeform 67"/>
                <p:cNvSpPr/>
                <p:nvPr/>
              </p:nvSpPr>
              <p:spPr>
                <a:xfrm>
                  <a:off x="7700962" y="1388269"/>
                  <a:ext cx="83344" cy="83344"/>
                </a:xfrm>
                <a:custGeom>
                  <a:avLst/>
                  <a:gdLst/>
                  <a:ahLst/>
                  <a:cxnLst/>
                  <a:rect l="l" t="t" r="r" b="b"/>
                  <a:pathLst>
                    <a:path w="83344" h="83344">
                      <a:moveTo>
                        <a:pt x="0" y="0"/>
                      </a:moveTo>
                      <a:lnTo>
                        <a:pt x="83344" y="0"/>
                      </a:lnTo>
                      <a:lnTo>
                        <a:pt x="83344" y="83344"/>
                      </a:lnTo>
                    </a:path>
                  </a:pathLst>
                </a:custGeom>
                <a:noFill/>
                <a:ln w="17859">
                  <a:solidFill>
                    <a:srgbClr val="841600"/>
                  </a:solidFill>
                </a:ln>
              </p:spPr>
            </p:sp>
          </p:grpSp>
          <p:sp>
            <p:nvSpPr>
              <p:cNvPr id="69" name="TextBox 69"/>
              <p:cNvSpPr txBox="1"/>
              <p:nvPr/>
            </p:nvSpPr>
            <p:spPr>
              <a:xfrm>
                <a:off x="7177088" y="1896189"/>
                <a:ext cx="897446" cy="669131"/>
              </a:xfrm>
              <a:prstGeom prst="rect">
                <a:avLst/>
              </a:prstGeom>
              <a:noFill/>
              <a:ln>
                <a:noFill/>
              </a:ln>
            </p:spPr>
            <p:txBody>
              <a:bodyPr wrap="none" lIns="0" tIns="0" rIns="0" bIns="0" anchor="t" anchorCtr="0">
                <a:spAutoFit/>
              </a:bodyPr>
              <a:lstStyle/>
              <a:p>
                <a:pPr algn="l" marL="85280" indent="-85280">
                  <a:lnSpc>
                    <a:spcPts val="1350"/>
                  </a:lnSpc>
                  <a:buClr>
                    <a:srgbClr val="473633"/>
                  </a:buClr>
                  <a:buSzTx/>
                  <a:buFontTx/>
                  <a:buChar char="•"/>
                </a:pPr>
                <a:r>
                  <a:rPr lang="zh-CN" sz="790" dirty="0">
                    <a:solidFill>
                      <a:srgbClr val="473633"/>
                    </a:solidFill>
                    <a:latin typeface="+mn-lt"/>
                    <a:ea typeface="+mn-ea"/>
                    <a:cs typeface="+mn-cs"/>
                  </a:rPr>
                  <a:t>财富稳健增值</a:t>
                </a:r>
              </a:p>
              <a:p>
                <a:pPr algn="l" marL="85280" indent="-85280">
                  <a:lnSpc>
                    <a:spcPts val="1350"/>
                  </a:lnSpc>
                  <a:buClr>
                    <a:srgbClr val="473633"/>
                  </a:buClr>
                  <a:buSzTx/>
                  <a:buFontTx/>
                  <a:buChar char="•"/>
                </a:pPr>
                <a:r>
                  <a:rPr lang="zh-CN" sz="790" dirty="0">
                    <a:solidFill>
                      <a:srgbClr val="473633"/>
                    </a:solidFill>
                    <a:latin typeface="+mn-lt"/>
                    <a:ea typeface="+mn-ea"/>
                    <a:cs typeface="+mn-cs"/>
                  </a:rPr>
                  <a:t>风险收益优化</a:t>
                </a:r>
              </a:p>
              <a:p>
                <a:pPr algn="l" marL="85280" indent="-85280">
                  <a:lnSpc>
                    <a:spcPts val="1350"/>
                  </a:lnSpc>
                  <a:buClr>
                    <a:srgbClr val="473633"/>
                  </a:buClr>
                  <a:buSzTx/>
                  <a:buFontTx/>
                  <a:buChar char="•"/>
                </a:pPr>
                <a:r>
                  <a:rPr lang="zh-CN" sz="790" dirty="0">
                    <a:solidFill>
                      <a:srgbClr val="473633"/>
                    </a:solidFill>
                    <a:latin typeface="+mn-lt"/>
                    <a:ea typeface="+mn-ea"/>
                    <a:cs typeface="+mn-cs"/>
                  </a:rPr>
                  <a:t>客户长期信任</a:t>
                </a:r>
              </a:p>
              <a:p>
                <a:pPr algn="l" marL="85280" indent="-85280">
                  <a:lnSpc>
                    <a:spcPts val="1350"/>
                  </a:lnSpc>
                  <a:buClr>
                    <a:srgbClr val="473633"/>
                  </a:buClr>
                  <a:buSzTx/>
                  <a:buFontTx/>
                  <a:buChar char="•"/>
                </a:pPr>
                <a:r>
                  <a:rPr lang="zh-CN" sz="790" dirty="0">
                    <a:solidFill>
                      <a:srgbClr val="473633"/>
                    </a:solidFill>
                    <a:latin typeface="+mn-lt"/>
                    <a:ea typeface="+mn-ea"/>
                    <a:cs typeface="+mn-cs"/>
                  </a:rPr>
                  <a:t>客户终身价值提升</a:t>
                </a:r>
              </a:p>
            </p:txBody>
          </p:sp>
        </p:grpSp>
        <p:grpSp>
          <p:nvGrpSpPr>
            <p:cNvPr id="108" name="companion-loop"/>
            <p:cNvGrpSpPr/>
            <p:nvPr/>
          </p:nvGrpSpPr>
          <p:grpSpPr>
            <a:xfrm>
              <a:off x="381000" y="2781300"/>
              <a:ext cx="7829550" cy="1619250"/>
              <a:chOff x="381000" y="2781300"/>
              <a:chExt cx="7829550" cy="1619250"/>
            </a:xfrm>
          </p:grpSpPr>
          <p:sp>
            <p:nvSpPr>
              <p:cNvPr id="71" name="Rectangle 71"/>
              <p:cNvSpPr/>
              <p:nvPr/>
            </p:nvSpPr>
            <p:spPr>
              <a:xfrm>
                <a:off x="381000" y="2914650"/>
                <a:ext cx="7829550" cy="1485900"/>
              </a:xfrm>
              <a:prstGeom prst="roundRect">
                <a:avLst>
                  <a:gd name="adj" fmla="val 5128"/>
                </a:avLst>
              </a:prstGeom>
              <a:solidFill>
                <a:srgbClr val="EFF5FD"/>
              </a:solidFill>
              <a:ln>
                <a:noFill/>
              </a:ln>
            </p:spPr>
          </p:sp>
          <p:sp>
            <p:nvSpPr>
              <p:cNvPr id="72" name="Rectangle 72"/>
              <p:cNvSpPr/>
              <p:nvPr/>
            </p:nvSpPr>
            <p:spPr>
              <a:xfrm>
                <a:off x="3200400" y="2781300"/>
                <a:ext cx="2190750" cy="266700"/>
              </a:xfrm>
              <a:prstGeom prst="roundRect">
                <a:avLst>
                  <a:gd name="adj" fmla="val 50000"/>
                </a:avLst>
              </a:prstGeom>
              <a:solidFill>
                <a:srgbClr val="841600"/>
              </a:solidFill>
              <a:ln>
                <a:noFill/>
              </a:ln>
            </p:spPr>
          </p:sp>
          <p:sp>
            <p:nvSpPr>
              <p:cNvPr id="73" name="TextBox 73"/>
              <p:cNvSpPr txBox="1"/>
              <p:nvPr/>
            </p:nvSpPr>
            <p:spPr>
              <a:xfrm>
                <a:off x="3610800" y="2852976"/>
                <a:ext cx="1369949"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陪伴机制（闭环驱动）</a:t>
                </a:r>
              </a:p>
            </p:txBody>
          </p:sp>
          <p:sp>
            <p:nvSpPr>
              <p:cNvPr id="74" name="Freeform 74"/>
              <p:cNvSpPr/>
              <p:nvPr/>
            </p:nvSpPr>
            <p:spPr>
              <a:xfrm>
                <a:off x="609600" y="3810000"/>
                <a:ext cx="6057900" cy="495300"/>
              </a:xfrm>
              <a:custGeom>
                <a:avLst/>
                <a:gdLst/>
                <a:ahLst/>
                <a:cxnLst/>
                <a:rect l="l" t="t" r="r" b="b"/>
                <a:pathLst>
                  <a:path w="6057900" h="495300">
                    <a:moveTo>
                      <a:pt x="6057900" y="381000"/>
                    </a:moveTo>
                    <a:lnTo>
                      <a:pt x="6057900" y="495300"/>
                    </a:lnTo>
                    <a:lnTo>
                      <a:pt x="0" y="495300"/>
                    </a:lnTo>
                    <a:lnTo>
                      <a:pt x="0" y="0"/>
                    </a:lnTo>
                  </a:path>
                </a:pathLst>
              </a:custGeom>
              <a:noFill/>
              <a:ln w="14288">
                <a:solidFill>
                  <a:srgbClr val="E3907F"/>
                </a:solidFill>
                <a:custDash>
                  <a:ds d="333333" sp="266667"/>
                </a:custDash>
                <a:tailEnd type="triangle" w="lg" len="lg"/>
              </a:ln>
            </p:spPr>
          </p:sp>
          <p:grpSp>
            <p:nvGrpSpPr>
              <p:cNvPr id="83" name="loop-1"/>
              <p:cNvGrpSpPr/>
              <p:nvPr/>
            </p:nvGrpSpPr>
            <p:grpSpPr>
              <a:xfrm>
                <a:off x="838200" y="3429000"/>
                <a:ext cx="1101458" cy="565070"/>
                <a:chOff x="838200" y="3429000"/>
                <a:chExt cx="1101458" cy="565070"/>
              </a:xfrm>
            </p:grpSpPr>
            <p:sp>
              <p:nvSpPr>
                <p:cNvPr id="75" name="Ellipse 75"/>
                <p:cNvSpPr/>
                <p:nvPr/>
              </p:nvSpPr>
              <p:spPr>
                <a:xfrm>
                  <a:off x="838200" y="3429000"/>
                  <a:ext cx="457200" cy="457200"/>
                </a:xfrm>
                <a:prstGeom prst="ellipse">
                  <a:avLst/>
                </a:prstGeom>
                <a:solidFill>
                  <a:srgbClr val="FFFFFF"/>
                </a:solidFill>
                <a:ln w="14288">
                  <a:solidFill>
                    <a:srgbClr val="841600"/>
                  </a:solidFill>
                </a:ln>
              </p:spPr>
            </p:sp>
            <p:grpSp>
              <p:nvGrpSpPr>
                <p:cNvPr id="80" name="Group 80"/>
                <p:cNvGrpSpPr/>
                <p:nvPr/>
              </p:nvGrpSpPr>
              <p:grpSpPr>
                <a:xfrm>
                  <a:off x="994569" y="3575050"/>
                  <a:ext cx="154780" cy="175418"/>
                  <a:chOff x="994569" y="3575050"/>
                  <a:chExt cx="154780" cy="175418"/>
                </a:xfrm>
              </p:grpSpPr>
              <p:sp>
                <p:nvSpPr>
                  <p:cNvPr id="76" name="Freeform 76"/>
                  <p:cNvSpPr/>
                  <p:nvPr/>
                </p:nvSpPr>
                <p:spPr>
                  <a:xfrm>
                    <a:off x="994569" y="3575050"/>
                    <a:ext cx="123825" cy="165099"/>
                  </a:xfrm>
                  <a:custGeom>
                    <a:avLst/>
                    <a:gdLst/>
                    <a:ahLst/>
                    <a:cxnLst/>
                    <a:rect l="l" t="t" r="r" b="b"/>
                    <a:pathLst>
                      <a:path w="123825" h="165099">
                        <a:moveTo>
                          <a:pt x="47621" y="165099"/>
                        </a:moveTo>
                        <a:lnTo>
                          <a:pt x="20637" y="165099"/>
                        </a:lnTo>
                        <a:cubicBezTo>
                          <a:pt x="9240" y="165099"/>
                          <a:pt x="0" y="155860"/>
                          <a:pt x="0" y="144462"/>
                        </a:cubicBezTo>
                        <a:lnTo>
                          <a:pt x="0" y="20637"/>
                        </a:lnTo>
                        <a:cubicBezTo>
                          <a:pt x="0" y="9240"/>
                          <a:pt x="9240" y="0"/>
                          <a:pt x="20637" y="0"/>
                        </a:cubicBezTo>
                        <a:lnTo>
                          <a:pt x="103187" y="0"/>
                        </a:lnTo>
                        <a:cubicBezTo>
                          <a:pt x="114585" y="0"/>
                          <a:pt x="123825" y="9240"/>
                          <a:pt x="123825" y="20637"/>
                        </a:cubicBezTo>
                        <a:lnTo>
                          <a:pt x="123825" y="103187"/>
                        </a:lnTo>
                      </a:path>
                    </a:pathLst>
                  </a:custGeom>
                  <a:noFill/>
                  <a:ln w="15478">
                    <a:solidFill>
                      <a:srgbClr val="841600"/>
                    </a:solidFill>
                  </a:ln>
                </p:spPr>
              </p:sp>
              <p:sp>
                <p:nvSpPr>
                  <p:cNvPr id="77" name="Freeform 77"/>
                  <p:cNvSpPr/>
                  <p:nvPr/>
                </p:nvSpPr>
                <p:spPr>
                  <a:xfrm>
                    <a:off x="1087437" y="3709193"/>
                    <a:ext cx="61912" cy="41275"/>
                  </a:xfrm>
                  <a:custGeom>
                    <a:avLst/>
                    <a:gdLst/>
                    <a:ahLst/>
                    <a:cxnLst/>
                    <a:rect l="l" t="t" r="r" b="b"/>
                    <a:pathLst>
                      <a:path w="61912" h="41275">
                        <a:moveTo>
                          <a:pt x="0" y="20637"/>
                        </a:moveTo>
                        <a:lnTo>
                          <a:pt x="20637" y="41275"/>
                        </a:lnTo>
                        <a:lnTo>
                          <a:pt x="61912" y="0"/>
                        </a:lnTo>
                      </a:path>
                    </a:pathLst>
                  </a:custGeom>
                  <a:noFill/>
                  <a:ln w="15478">
                    <a:solidFill>
                      <a:srgbClr val="841600"/>
                    </a:solidFill>
                  </a:ln>
                </p:spPr>
              </p:sp>
              <p:sp>
                <p:nvSpPr>
                  <p:cNvPr id="78" name="Freeform 78"/>
                  <p:cNvSpPr/>
                  <p:nvPr/>
                </p:nvSpPr>
                <p:spPr>
                  <a:xfrm>
                    <a:off x="1035843" y="3616325"/>
                    <a:ext cx="41275" cy="9525"/>
                  </a:xfrm>
                  <a:custGeom>
                    <a:avLst/>
                    <a:gdLst/>
                    <a:ahLst/>
                    <a:cxnLst/>
                    <a:rect l="l" t="t" r="r" b="b"/>
                    <a:pathLst>
                      <a:path w="41275" h="9525">
                        <a:moveTo>
                          <a:pt x="0" y="0"/>
                        </a:moveTo>
                        <a:lnTo>
                          <a:pt x="41275" y="0"/>
                        </a:lnTo>
                      </a:path>
                    </a:pathLst>
                  </a:custGeom>
                  <a:noFill/>
                  <a:ln w="15478">
                    <a:solidFill>
                      <a:srgbClr val="841600"/>
                    </a:solidFill>
                  </a:ln>
                </p:spPr>
              </p:sp>
              <p:sp>
                <p:nvSpPr>
                  <p:cNvPr id="79" name="Freeform 79"/>
                  <p:cNvSpPr/>
                  <p:nvPr/>
                </p:nvSpPr>
                <p:spPr>
                  <a:xfrm>
                    <a:off x="1035843" y="3657600"/>
                    <a:ext cx="20637" cy="9525"/>
                  </a:xfrm>
                  <a:custGeom>
                    <a:avLst/>
                    <a:gdLst/>
                    <a:ahLst/>
                    <a:cxnLst/>
                    <a:rect l="l" t="t" r="r" b="b"/>
                    <a:pathLst>
                      <a:path w="20637" h="9525">
                        <a:moveTo>
                          <a:pt x="0" y="0"/>
                        </a:moveTo>
                        <a:lnTo>
                          <a:pt x="20637" y="0"/>
                        </a:lnTo>
                      </a:path>
                    </a:pathLst>
                  </a:custGeom>
                  <a:noFill/>
                  <a:ln w="15478">
                    <a:solidFill>
                      <a:srgbClr val="841600"/>
                    </a:solidFill>
                  </a:ln>
                </p:spPr>
              </p:sp>
            </p:grpSp>
            <p:sp>
              <p:nvSpPr>
                <p:cNvPr id="81" name="TextBox 81"/>
                <p:cNvSpPr txBox="1"/>
                <p:nvPr/>
              </p:nvSpPr>
              <p:spPr>
                <a:xfrm>
                  <a:off x="1385506" y="34721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风险测评</a:t>
                  </a:r>
                </a:p>
              </p:txBody>
            </p:sp>
            <p:sp>
              <p:nvSpPr>
                <p:cNvPr id="82" name="TextBox 82"/>
                <p:cNvSpPr txBox="1"/>
                <p:nvPr/>
              </p:nvSpPr>
              <p:spPr>
                <a:xfrm>
                  <a:off x="1385888" y="3686889"/>
                  <a:ext cx="41084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E605A"/>
                      </a:solidFill>
                      <a:latin typeface="+mn-lt"/>
                      <a:ea typeface="+mn-ea"/>
                      <a:cs typeface="+mn-cs"/>
                    </a:rPr>
                    <a:t>持续更新</a:t>
                  </a:r>
                  <a:br/>
                  <a:r>
                    <a:rPr lang="zh-CN" sz="790" dirty="0">
                      <a:solidFill>
                        <a:srgbClr val="7E605A"/>
                      </a:solidFill>
                      <a:latin typeface="+mn-lt"/>
                      <a:ea typeface="+mn-ea"/>
                      <a:cs typeface="+mn-cs"/>
                    </a:rPr>
                    <a:t>动态评估</a:t>
                  </a:r>
                </a:p>
              </p:txBody>
            </p:sp>
          </p:grpSp>
          <p:sp>
            <p:nvSpPr>
              <p:cNvPr id="84" name="Line 84"/>
              <p:cNvSpPr/>
              <p:nvPr/>
            </p:nvSpPr>
            <p:spPr>
              <a:xfrm>
                <a:off x="2362200" y="3657600"/>
                <a:ext cx="285750" cy="1"/>
              </a:xfrm>
              <a:prstGeom prst="line">
                <a:avLst/>
              </a:prstGeom>
              <a:noFill/>
              <a:ln w="23812">
                <a:solidFill>
                  <a:srgbClr val="C9482E"/>
                </a:solidFill>
                <a:tailEnd type="triangle" w="lg" len="lg"/>
              </a:ln>
            </p:spPr>
          </p:sp>
          <p:grpSp>
            <p:nvGrpSpPr>
              <p:cNvPr id="92" name="loop-2"/>
              <p:cNvGrpSpPr/>
              <p:nvPr/>
            </p:nvGrpSpPr>
            <p:grpSpPr>
              <a:xfrm>
                <a:off x="2743200" y="3429000"/>
                <a:ext cx="1058863" cy="565070"/>
                <a:chOff x="2743200" y="3429000"/>
                <a:chExt cx="1058863" cy="565070"/>
              </a:xfrm>
            </p:grpSpPr>
            <p:sp>
              <p:nvSpPr>
                <p:cNvPr id="85" name="Ellipse 85"/>
                <p:cNvSpPr/>
                <p:nvPr/>
              </p:nvSpPr>
              <p:spPr>
                <a:xfrm>
                  <a:off x="2743200" y="3429000"/>
                  <a:ext cx="457200" cy="457200"/>
                </a:xfrm>
                <a:prstGeom prst="ellipse">
                  <a:avLst/>
                </a:prstGeom>
                <a:solidFill>
                  <a:srgbClr val="FFFFFF"/>
                </a:solidFill>
                <a:ln w="14288">
                  <a:solidFill>
                    <a:srgbClr val="841600"/>
                  </a:solidFill>
                </a:ln>
              </p:spPr>
            </p:sp>
            <p:grpSp>
              <p:nvGrpSpPr>
                <p:cNvPr id="89" name="Group 89"/>
                <p:cNvGrpSpPr/>
                <p:nvPr/>
              </p:nvGrpSpPr>
              <p:grpSpPr>
                <a:xfrm>
                  <a:off x="2909887" y="3564731"/>
                  <a:ext cx="154781" cy="185737"/>
                  <a:chOff x="2909887" y="3564731"/>
                  <a:chExt cx="154781" cy="185737"/>
                </a:xfrm>
              </p:grpSpPr>
              <p:sp>
                <p:nvSpPr>
                  <p:cNvPr id="86" name="Freeform 86"/>
                  <p:cNvSpPr/>
                  <p:nvPr/>
                </p:nvSpPr>
                <p:spPr>
                  <a:xfrm>
                    <a:off x="2930525" y="35647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15478">
                    <a:solidFill>
                      <a:srgbClr val="841600"/>
                    </a:solidFill>
                  </a:ln>
                </p:spPr>
              </p:sp>
              <p:sp>
                <p:nvSpPr>
                  <p:cNvPr id="87" name="Freeform 87"/>
                  <p:cNvSpPr/>
                  <p:nvPr/>
                </p:nvSpPr>
                <p:spPr>
                  <a:xfrm>
                    <a:off x="2909887" y="3688556"/>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15478">
                    <a:solidFill>
                      <a:srgbClr val="841600"/>
                    </a:solidFill>
                  </a:ln>
                </p:spPr>
              </p:sp>
              <p:sp>
                <p:nvSpPr>
                  <p:cNvPr id="88" name="Freeform 88"/>
                  <p:cNvSpPr/>
                  <p:nvPr/>
                </p:nvSpPr>
                <p:spPr>
                  <a:xfrm>
                    <a:off x="3002756" y="3709193"/>
                    <a:ext cx="61912" cy="41275"/>
                  </a:xfrm>
                  <a:custGeom>
                    <a:avLst/>
                    <a:gdLst/>
                    <a:ahLst/>
                    <a:cxnLst/>
                    <a:rect l="l" t="t" r="r" b="b"/>
                    <a:pathLst>
                      <a:path w="61912" h="41275">
                        <a:moveTo>
                          <a:pt x="0" y="20637"/>
                        </a:moveTo>
                        <a:lnTo>
                          <a:pt x="20637" y="41275"/>
                        </a:lnTo>
                        <a:lnTo>
                          <a:pt x="61912" y="0"/>
                        </a:lnTo>
                      </a:path>
                    </a:pathLst>
                  </a:custGeom>
                  <a:noFill/>
                  <a:ln w="15478">
                    <a:solidFill>
                      <a:srgbClr val="841600"/>
                    </a:solidFill>
                  </a:ln>
                </p:spPr>
              </p:sp>
            </p:grpSp>
            <p:sp>
              <p:nvSpPr>
                <p:cNvPr id="90" name="TextBox 90"/>
                <p:cNvSpPr txBox="1"/>
                <p:nvPr/>
              </p:nvSpPr>
              <p:spPr>
                <a:xfrm>
                  <a:off x="3290506" y="3472101"/>
                  <a:ext cx="418186"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适当性</a:t>
                  </a:r>
                </a:p>
              </p:txBody>
            </p:sp>
            <p:sp>
              <p:nvSpPr>
                <p:cNvPr id="91" name="TextBox 91"/>
                <p:cNvSpPr txBox="1"/>
                <p:nvPr/>
              </p:nvSpPr>
              <p:spPr>
                <a:xfrm>
                  <a:off x="3290888" y="3686889"/>
                  <a:ext cx="51117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E605A"/>
                      </a:solidFill>
                      <a:latin typeface="+mn-lt"/>
                      <a:ea typeface="+mn-ea"/>
                      <a:cs typeface="+mn-cs"/>
                    </a:rPr>
                    <a:t>匹配客户</a:t>
                  </a:r>
                  <a:br/>
                  <a:r>
                    <a:rPr lang="zh-CN" sz="790" dirty="0">
                      <a:solidFill>
                        <a:srgbClr val="7E605A"/>
                      </a:solidFill>
                      <a:latin typeface="+mn-lt"/>
                      <a:ea typeface="+mn-ea"/>
                      <a:cs typeface="+mn-cs"/>
                    </a:rPr>
                    <a:t>风险与需求</a:t>
                  </a:r>
                </a:p>
              </p:txBody>
            </p:sp>
          </p:grpSp>
          <p:sp>
            <p:nvSpPr>
              <p:cNvPr id="93" name="Line 93"/>
              <p:cNvSpPr/>
              <p:nvPr/>
            </p:nvSpPr>
            <p:spPr>
              <a:xfrm>
                <a:off x="4267200" y="3657600"/>
                <a:ext cx="285750" cy="1"/>
              </a:xfrm>
              <a:prstGeom prst="line">
                <a:avLst/>
              </a:prstGeom>
              <a:noFill/>
              <a:ln w="23812">
                <a:solidFill>
                  <a:srgbClr val="C9482E"/>
                </a:solidFill>
                <a:tailEnd type="triangle" w="lg" len="lg"/>
              </a:ln>
            </p:spPr>
          </p:sp>
          <p:grpSp>
            <p:nvGrpSpPr>
              <p:cNvPr id="98" name="loop-3"/>
              <p:cNvGrpSpPr/>
              <p:nvPr/>
            </p:nvGrpSpPr>
            <p:grpSpPr>
              <a:xfrm>
                <a:off x="4648200" y="3429000"/>
                <a:ext cx="1359853" cy="565070"/>
                <a:chOff x="4648200" y="3429000"/>
                <a:chExt cx="1359853" cy="565070"/>
              </a:xfrm>
            </p:grpSpPr>
            <p:sp>
              <p:nvSpPr>
                <p:cNvPr id="94" name="Ellipse 94"/>
                <p:cNvSpPr/>
                <p:nvPr/>
              </p:nvSpPr>
              <p:spPr>
                <a:xfrm>
                  <a:off x="4648200" y="3429000"/>
                  <a:ext cx="457200" cy="457200"/>
                </a:xfrm>
                <a:prstGeom prst="ellipse">
                  <a:avLst/>
                </a:prstGeom>
                <a:solidFill>
                  <a:srgbClr val="FFFFFF"/>
                </a:solidFill>
                <a:ln w="14288">
                  <a:solidFill>
                    <a:srgbClr val="841600"/>
                  </a:solidFill>
                </a:ln>
              </p:spPr>
            </p:sp>
            <p:sp>
              <p:nvSpPr>
                <p:cNvPr id="95" name="Freeform 95"/>
                <p:cNvSpPr/>
                <p:nvPr/>
              </p:nvSpPr>
              <p:spPr>
                <a:xfrm>
                  <a:off x="4773365" y="3567053"/>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15478">
                  <a:solidFill>
                    <a:srgbClr val="841600"/>
                  </a:solidFill>
                </a:ln>
              </p:spPr>
            </p:sp>
            <p:sp>
              <p:nvSpPr>
                <p:cNvPr id="96" name="TextBox 96"/>
                <p:cNvSpPr txBox="1"/>
                <p:nvPr/>
              </p:nvSpPr>
              <p:spPr>
                <a:xfrm>
                  <a:off x="5195506" y="34721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波动沟通</a:t>
                  </a:r>
                </a:p>
              </p:txBody>
            </p:sp>
            <p:sp>
              <p:nvSpPr>
                <p:cNvPr id="97" name="TextBox 97"/>
                <p:cNvSpPr txBox="1"/>
                <p:nvPr/>
              </p:nvSpPr>
              <p:spPr>
                <a:xfrm>
                  <a:off x="5195888" y="3686889"/>
                  <a:ext cx="81216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E605A"/>
                      </a:solidFill>
                      <a:latin typeface="+mn-lt"/>
                      <a:ea typeface="+mn-ea"/>
                      <a:cs typeface="+mn-cs"/>
                    </a:rPr>
                    <a:t>市场波动及时沟通</a:t>
                  </a:r>
                  <a:br/>
                  <a:r>
                    <a:rPr lang="zh-CN" sz="790" dirty="0">
                      <a:solidFill>
                        <a:srgbClr val="7E605A"/>
                      </a:solidFill>
                      <a:latin typeface="+mn-lt"/>
                      <a:ea typeface="+mn-ea"/>
                      <a:cs typeface="+mn-cs"/>
                    </a:rPr>
                    <a:t>理性应对陪伴</a:t>
                  </a:r>
                </a:p>
              </p:txBody>
            </p:sp>
          </p:grpSp>
          <p:sp>
            <p:nvSpPr>
              <p:cNvPr id="99" name="Line 99"/>
              <p:cNvSpPr/>
              <p:nvPr/>
            </p:nvSpPr>
            <p:spPr>
              <a:xfrm>
                <a:off x="6362700" y="3657600"/>
                <a:ext cx="285750" cy="1"/>
              </a:xfrm>
              <a:prstGeom prst="line">
                <a:avLst/>
              </a:prstGeom>
              <a:noFill/>
              <a:ln w="23812">
                <a:solidFill>
                  <a:srgbClr val="C9482E"/>
                </a:solidFill>
                <a:tailEnd type="triangle" w="lg" len="lg"/>
              </a:ln>
            </p:spPr>
          </p:sp>
          <p:grpSp>
            <p:nvGrpSpPr>
              <p:cNvPr id="107" name="loop-4"/>
              <p:cNvGrpSpPr/>
              <p:nvPr/>
            </p:nvGrpSpPr>
            <p:grpSpPr>
              <a:xfrm>
                <a:off x="6743700" y="3429000"/>
                <a:ext cx="1159193" cy="565070"/>
                <a:chOff x="6743700" y="3429000"/>
                <a:chExt cx="1159193" cy="565070"/>
              </a:xfrm>
            </p:grpSpPr>
            <p:sp>
              <p:nvSpPr>
                <p:cNvPr id="100" name="Ellipse 100"/>
                <p:cNvSpPr/>
                <p:nvPr/>
              </p:nvSpPr>
              <p:spPr>
                <a:xfrm>
                  <a:off x="6743700" y="3429000"/>
                  <a:ext cx="457200" cy="457200"/>
                </a:xfrm>
                <a:prstGeom prst="ellipse">
                  <a:avLst/>
                </a:prstGeom>
                <a:solidFill>
                  <a:srgbClr val="FFFFFF"/>
                </a:solidFill>
                <a:ln w="14288">
                  <a:solidFill>
                    <a:srgbClr val="841600"/>
                  </a:solidFill>
                </a:ln>
              </p:spPr>
            </p:sp>
            <p:grpSp>
              <p:nvGrpSpPr>
                <p:cNvPr id="104" name="Group 104"/>
                <p:cNvGrpSpPr/>
                <p:nvPr/>
              </p:nvGrpSpPr>
              <p:grpSpPr>
                <a:xfrm>
                  <a:off x="6879431" y="3564731"/>
                  <a:ext cx="185737" cy="185737"/>
                  <a:chOff x="6879431" y="3564731"/>
                  <a:chExt cx="185737" cy="185737"/>
                </a:xfrm>
              </p:grpSpPr>
              <p:sp>
                <p:nvSpPr>
                  <p:cNvPr id="101" name="Freeform 101"/>
                  <p:cNvSpPr/>
                  <p:nvPr/>
                </p:nvSpPr>
                <p:spPr>
                  <a:xfrm>
                    <a:off x="6879431" y="3575050"/>
                    <a:ext cx="175418" cy="175418"/>
                  </a:xfrm>
                  <a:custGeom>
                    <a:avLst/>
                    <a:gdLst/>
                    <a:ahLst/>
                    <a:cxnLst/>
                    <a:rect l="l" t="t" r="r" b="b"/>
                    <a:pathLst>
                      <a:path w="175418" h="175418">
                        <a:moveTo>
                          <a:pt x="20637" y="0"/>
                        </a:moveTo>
                        <a:lnTo>
                          <a:pt x="61912" y="0"/>
                        </a:lnTo>
                        <a:lnTo>
                          <a:pt x="82550" y="51594"/>
                        </a:lnTo>
                        <a:lnTo>
                          <a:pt x="56753" y="67072"/>
                        </a:lnTo>
                        <a:cubicBezTo>
                          <a:pt x="67804" y="89479"/>
                          <a:pt x="85939" y="107614"/>
                          <a:pt x="108347" y="118665"/>
                        </a:cubicBezTo>
                        <a:lnTo>
                          <a:pt x="123825" y="92868"/>
                        </a:lnTo>
                        <a:lnTo>
                          <a:pt x="175418" y="113506"/>
                        </a:lnTo>
                        <a:lnTo>
                          <a:pt x="175418" y="154781"/>
                        </a:lnTo>
                        <a:cubicBezTo>
                          <a:pt x="175418" y="166179"/>
                          <a:pt x="166179" y="175418"/>
                          <a:pt x="154781" y="175418"/>
                        </a:cubicBezTo>
                        <a:cubicBezTo>
                          <a:pt x="71484" y="170356"/>
                          <a:pt x="5062" y="103934"/>
                          <a:pt x="0" y="20637"/>
                        </a:cubicBezTo>
                        <a:cubicBezTo>
                          <a:pt x="0" y="9240"/>
                          <a:pt x="9240" y="0"/>
                          <a:pt x="20637" y="0"/>
                        </a:cubicBezTo>
                      </a:path>
                    </a:pathLst>
                  </a:custGeom>
                  <a:noFill/>
                  <a:ln w="15478">
                    <a:solidFill>
                      <a:srgbClr val="841600"/>
                    </a:solidFill>
                  </a:ln>
                </p:spPr>
              </p:sp>
              <p:sp>
                <p:nvSpPr>
                  <p:cNvPr id="102" name="Freeform 102"/>
                  <p:cNvSpPr/>
                  <p:nvPr/>
                </p:nvSpPr>
                <p:spPr>
                  <a:xfrm>
                    <a:off x="7003256" y="3606006"/>
                    <a:ext cx="20637" cy="20637"/>
                  </a:xfrm>
                  <a:custGeom>
                    <a:avLst/>
                    <a:gdLst/>
                    <a:ahLst/>
                    <a:cxnLst/>
                    <a:rect l="l" t="t" r="r" b="b"/>
                    <a:pathLst>
                      <a:path w="20637" h="20637">
                        <a:moveTo>
                          <a:pt x="0" y="0"/>
                        </a:moveTo>
                        <a:cubicBezTo>
                          <a:pt x="11398" y="0"/>
                          <a:pt x="20637" y="9240"/>
                          <a:pt x="20637" y="20637"/>
                        </a:cubicBezTo>
                      </a:path>
                    </a:pathLst>
                  </a:custGeom>
                  <a:noFill/>
                  <a:ln w="15478">
                    <a:solidFill>
                      <a:srgbClr val="841600"/>
                    </a:solidFill>
                  </a:ln>
                </p:spPr>
              </p:sp>
              <p:sp>
                <p:nvSpPr>
                  <p:cNvPr id="103" name="Freeform 103"/>
                  <p:cNvSpPr/>
                  <p:nvPr/>
                </p:nvSpPr>
                <p:spPr>
                  <a:xfrm>
                    <a:off x="7003256" y="3564731"/>
                    <a:ext cx="61912" cy="61912"/>
                  </a:xfrm>
                  <a:custGeom>
                    <a:avLst/>
                    <a:gdLst/>
                    <a:ahLst/>
                    <a:cxnLst/>
                    <a:rect l="l" t="t" r="r" b="b"/>
                    <a:pathLst>
                      <a:path w="61912" h="61912">
                        <a:moveTo>
                          <a:pt x="0" y="0"/>
                        </a:moveTo>
                        <a:cubicBezTo>
                          <a:pt x="34193" y="0"/>
                          <a:pt x="61912" y="27719"/>
                          <a:pt x="61912" y="61912"/>
                        </a:cubicBezTo>
                      </a:path>
                    </a:pathLst>
                  </a:custGeom>
                  <a:noFill/>
                  <a:ln w="15478">
                    <a:solidFill>
                      <a:srgbClr val="841600"/>
                    </a:solidFill>
                  </a:ln>
                </p:spPr>
              </p:sp>
            </p:grpSp>
            <p:sp>
              <p:nvSpPr>
                <p:cNvPr id="105" name="TextBox 105"/>
                <p:cNvSpPr txBox="1"/>
                <p:nvPr/>
              </p:nvSpPr>
              <p:spPr>
                <a:xfrm>
                  <a:off x="7291006" y="34721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售后陪伴</a:t>
                  </a:r>
                </a:p>
              </p:txBody>
            </p:sp>
            <p:sp>
              <p:nvSpPr>
                <p:cNvPr id="106" name="TextBox 106"/>
                <p:cNvSpPr txBox="1"/>
                <p:nvPr/>
              </p:nvSpPr>
              <p:spPr>
                <a:xfrm>
                  <a:off x="7291388" y="3686889"/>
                  <a:ext cx="61150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E605A"/>
                      </a:solidFill>
                      <a:latin typeface="+mn-lt"/>
                      <a:ea typeface="+mn-ea"/>
                      <a:cs typeface="+mn-cs"/>
                    </a:rPr>
                    <a:t>专属服务团队</a:t>
                  </a:r>
                  <a:br/>
                  <a:r>
                    <a:rPr lang="zh-CN" sz="790" dirty="0">
                      <a:solidFill>
                        <a:srgbClr val="7E605A"/>
                      </a:solidFill>
                      <a:latin typeface="+mn-lt"/>
                      <a:ea typeface="+mn-ea"/>
                      <a:cs typeface="+mn-cs"/>
                    </a:rPr>
                    <a:t>长期陪伴支持</a:t>
                  </a:r>
                </a:p>
              </p:txBody>
            </p:sp>
          </p:grpSp>
        </p:grpSp>
      </p:grpSp>
      <p:grpSp>
        <p:nvGrpSpPr>
          <p:cNvPr id="195" name="segment-examples"/>
          <p:cNvGrpSpPr/>
          <p:nvPr/>
        </p:nvGrpSpPr>
        <p:grpSpPr>
          <a:xfrm>
            <a:off x="8439150" y="666750"/>
            <a:ext cx="3486150" cy="3867150"/>
            <a:chOff x="8439150" y="666750"/>
            <a:chExt cx="3486150" cy="3867150"/>
          </a:xfrm>
        </p:grpSpPr>
        <p:sp>
          <p:nvSpPr>
            <p:cNvPr id="110" name="Rectangle 110"/>
            <p:cNvSpPr/>
            <p:nvPr/>
          </p:nvSpPr>
          <p:spPr>
            <a:xfrm>
              <a:off x="8439150" y="666750"/>
              <a:ext cx="3486150" cy="3867150"/>
            </a:xfrm>
            <a:prstGeom prst="roundRect">
              <a:avLst>
                <a:gd name="adj" fmla="val 2732"/>
              </a:avLst>
            </a:prstGeom>
            <a:solidFill>
              <a:srgbClr val="FFFFFF"/>
            </a:solidFill>
            <a:ln w="9525">
              <a:solidFill>
                <a:srgbClr val="D7E2F2"/>
              </a:solidFill>
            </a:ln>
          </p:spPr>
        </p:sp>
        <p:sp>
          <p:nvSpPr>
            <p:cNvPr id="111" name="Rectangle 111"/>
            <p:cNvSpPr/>
            <p:nvPr/>
          </p:nvSpPr>
          <p:spPr>
            <a:xfrm>
              <a:off x="8439150" y="666750"/>
              <a:ext cx="3486150" cy="381000"/>
            </a:xfrm>
            <a:prstGeom prst="roundRect">
              <a:avLst>
                <a:gd name="adj" fmla="val 25000"/>
              </a:avLst>
            </a:prstGeom>
            <a:solidFill>
              <a:srgbClr val="841600"/>
            </a:solidFill>
            <a:ln>
              <a:noFill/>
            </a:ln>
          </p:spPr>
        </p:sp>
        <p:sp>
          <p:nvSpPr>
            <p:cNvPr id="112" name="Rectangle 112"/>
            <p:cNvSpPr/>
            <p:nvPr/>
          </p:nvSpPr>
          <p:spPr>
            <a:xfrm>
              <a:off x="8439150" y="876300"/>
              <a:ext cx="3486150" cy="171450"/>
            </a:xfrm>
            <a:prstGeom prst="rect">
              <a:avLst/>
            </a:prstGeom>
            <a:solidFill>
              <a:srgbClr val="841600"/>
            </a:solidFill>
            <a:ln>
              <a:noFill/>
            </a:ln>
          </p:spPr>
        </p:sp>
        <p:sp>
          <p:nvSpPr>
            <p:cNvPr id="113" name="TextBox 113"/>
            <p:cNvSpPr txBox="1"/>
            <p:nvPr/>
          </p:nvSpPr>
          <p:spPr>
            <a:xfrm>
              <a:off x="9529953" y="794385"/>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三类客群配置示例</a:t>
              </a:r>
            </a:p>
          </p:txBody>
        </p:sp>
        <p:grpSp>
          <p:nvGrpSpPr>
            <p:cNvPr id="135" name="example-owner"/>
            <p:cNvGrpSpPr/>
            <p:nvPr/>
          </p:nvGrpSpPr>
          <p:grpSpPr>
            <a:xfrm>
              <a:off x="8541106" y="1233488"/>
              <a:ext cx="2965094" cy="833438"/>
              <a:chOff x="8541106" y="1233488"/>
              <a:chExt cx="2965094" cy="833438"/>
            </a:xfrm>
          </p:grpSpPr>
          <p:grpSp>
            <p:nvGrpSpPr>
              <p:cNvPr id="118" name="Group 118"/>
              <p:cNvGrpSpPr/>
              <p:nvPr/>
            </p:nvGrpSpPr>
            <p:grpSpPr>
              <a:xfrm>
                <a:off x="8615362" y="1319212"/>
                <a:ext cx="257175" cy="242888"/>
                <a:chOff x="8615362" y="1319212"/>
                <a:chExt cx="257175" cy="242888"/>
              </a:xfrm>
            </p:grpSpPr>
            <p:sp>
              <p:nvSpPr>
                <p:cNvPr id="114" name="Freeform 114"/>
                <p:cNvSpPr/>
                <p:nvPr/>
              </p:nvSpPr>
              <p:spPr>
                <a:xfrm>
                  <a:off x="8615362" y="1376362"/>
                  <a:ext cx="257175" cy="185738"/>
                </a:xfrm>
                <a:custGeom>
                  <a:avLst/>
                  <a:gdLst/>
                  <a:ahLst/>
                  <a:cxnLst/>
                  <a:rect l="l" t="t" r="r" b="b"/>
                  <a:pathLst>
                    <a:path w="257175" h="185738">
                      <a:moveTo>
                        <a:pt x="0" y="28575"/>
                      </a:moveTo>
                      <a:cubicBezTo>
                        <a:pt x="0" y="12793"/>
                        <a:pt x="12793" y="0"/>
                        <a:pt x="28575" y="0"/>
                      </a:cubicBezTo>
                      <a:lnTo>
                        <a:pt x="228600" y="0"/>
                      </a:lnTo>
                      <a:cubicBezTo>
                        <a:pt x="244382" y="0"/>
                        <a:pt x="257175" y="12793"/>
                        <a:pt x="257175" y="28575"/>
                      </a:cubicBezTo>
                      <a:lnTo>
                        <a:pt x="257175" y="157162"/>
                      </a:lnTo>
                      <a:cubicBezTo>
                        <a:pt x="257175" y="172944"/>
                        <a:pt x="244382" y="185738"/>
                        <a:pt x="228600" y="185738"/>
                      </a:cubicBezTo>
                      <a:lnTo>
                        <a:pt x="28575" y="185738"/>
                      </a:lnTo>
                      <a:cubicBezTo>
                        <a:pt x="12793" y="185738"/>
                        <a:pt x="0" y="172944"/>
                        <a:pt x="0" y="157162"/>
                      </a:cubicBezTo>
                      <a:lnTo>
                        <a:pt x="0" y="28575"/>
                      </a:lnTo>
                    </a:path>
                  </a:pathLst>
                </a:custGeom>
                <a:noFill/>
                <a:ln w="21431">
                  <a:solidFill>
                    <a:srgbClr val="841600"/>
                  </a:solidFill>
                </a:ln>
              </p:spPr>
            </p:sp>
            <p:sp>
              <p:nvSpPr>
                <p:cNvPr id="115" name="Freeform 115"/>
                <p:cNvSpPr/>
                <p:nvPr/>
              </p:nvSpPr>
              <p:spPr>
                <a:xfrm>
                  <a:off x="8686800" y="1319212"/>
                  <a:ext cx="114300" cy="57150"/>
                </a:xfrm>
                <a:custGeom>
                  <a:avLst/>
                  <a:gdLst/>
                  <a:ahLst/>
                  <a:cxnLst/>
                  <a:rect l="l" t="t" r="r" b="b"/>
                  <a:pathLst>
                    <a:path w="114300" h="57150">
                      <a:moveTo>
                        <a:pt x="0" y="57150"/>
                      </a:moveTo>
                      <a:lnTo>
                        <a:pt x="0" y="28575"/>
                      </a:lnTo>
                      <a:cubicBezTo>
                        <a:pt x="0" y="12793"/>
                        <a:pt x="12793" y="0"/>
                        <a:pt x="28575" y="0"/>
                      </a:cubicBezTo>
                      <a:lnTo>
                        <a:pt x="85725" y="0"/>
                      </a:lnTo>
                      <a:cubicBezTo>
                        <a:pt x="101507" y="0"/>
                        <a:pt x="114300" y="12793"/>
                        <a:pt x="114300" y="28575"/>
                      </a:cubicBezTo>
                      <a:lnTo>
                        <a:pt x="114300" y="57150"/>
                      </a:lnTo>
                    </a:path>
                  </a:pathLst>
                </a:custGeom>
                <a:noFill/>
                <a:ln w="21431">
                  <a:solidFill>
                    <a:srgbClr val="841600"/>
                  </a:solidFill>
                </a:ln>
              </p:spPr>
            </p:sp>
            <p:sp>
              <p:nvSpPr>
                <p:cNvPr id="116" name="Freeform 116"/>
                <p:cNvSpPr/>
                <p:nvPr/>
              </p:nvSpPr>
              <p:spPr>
                <a:xfrm>
                  <a:off x="8743950" y="1447800"/>
                  <a:ext cx="9525" cy="9525"/>
                </a:xfrm>
                <a:custGeom>
                  <a:avLst/>
                  <a:gdLst/>
                  <a:ahLst/>
                  <a:cxnLst/>
                  <a:rect l="l" t="t" r="r" b="b"/>
                  <a:pathLst>
                    <a:path w="9525" h="9525">
                      <a:moveTo>
                        <a:pt x="0" y="0"/>
                      </a:moveTo>
                      <a:lnTo>
                        <a:pt x="0" y="143"/>
                      </a:lnTo>
                    </a:path>
                  </a:pathLst>
                </a:custGeom>
                <a:noFill/>
                <a:ln w="21431">
                  <a:solidFill>
                    <a:srgbClr val="841600"/>
                  </a:solidFill>
                </a:ln>
              </p:spPr>
            </p:sp>
            <p:sp>
              <p:nvSpPr>
                <p:cNvPr id="117" name="Freeform 117"/>
                <p:cNvSpPr/>
                <p:nvPr/>
              </p:nvSpPr>
              <p:spPr>
                <a:xfrm>
                  <a:off x="8615362" y="1462088"/>
                  <a:ext cx="257175" cy="40756"/>
                </a:xfrm>
                <a:custGeom>
                  <a:avLst/>
                  <a:gdLst/>
                  <a:ahLst/>
                  <a:cxnLst/>
                  <a:rect l="l" t="t" r="r" b="b"/>
                  <a:pathLst>
                    <a:path w="257175" h="40756">
                      <a:moveTo>
                        <a:pt x="0" y="0"/>
                      </a:moveTo>
                      <a:cubicBezTo>
                        <a:pt x="80881" y="40756"/>
                        <a:pt x="176294" y="40756"/>
                        <a:pt x="257175" y="0"/>
                      </a:cubicBezTo>
                    </a:path>
                  </a:pathLst>
                </a:custGeom>
                <a:noFill/>
                <a:ln w="21431">
                  <a:solidFill>
                    <a:srgbClr val="841600"/>
                  </a:solidFill>
                </a:ln>
              </p:spPr>
            </p:sp>
          </p:grpSp>
          <p:sp>
            <p:nvSpPr>
              <p:cNvPr id="119" name="TextBox 119"/>
              <p:cNvSpPr txBox="1"/>
              <p:nvPr/>
            </p:nvSpPr>
            <p:spPr>
              <a:xfrm>
                <a:off x="8541106" y="1761649"/>
                <a:ext cx="405689"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企业主</a:t>
                </a:r>
              </a:p>
            </p:txBody>
          </p:sp>
          <p:sp>
            <p:nvSpPr>
              <p:cNvPr id="120" name="Arc 120"/>
              <p:cNvSpPr/>
              <p:nvPr/>
            </p:nvSpPr>
            <p:spPr>
              <a:xfrm>
                <a:off x="9201150" y="1295448"/>
                <a:ext cx="424159" cy="323802"/>
              </a:xfrm>
              <a:custGeom>
                <a:avLst/>
                <a:gdLst/>
                <a:ahLst/>
                <a:cxnLst/>
                <a:rect l="l" t="t" r="r" b="b"/>
                <a:pathLst>
                  <a:path w="424159" h="323802">
                    <a:moveTo>
                      <a:pt x="0" y="323802"/>
                    </a:moveTo>
                    <a:lnTo>
                      <a:pt x="1594" y="291713"/>
                    </a:lnTo>
                    <a:lnTo>
                      <a:pt x="6359" y="259941"/>
                    </a:lnTo>
                    <a:lnTo>
                      <a:pt x="14249" y="228796"/>
                    </a:lnTo>
                    <a:lnTo>
                      <a:pt x="25186" y="198587"/>
                    </a:lnTo>
                    <a:lnTo>
                      <a:pt x="39063" y="169610"/>
                    </a:lnTo>
                    <a:lnTo>
                      <a:pt x="55743" y="142150"/>
                    </a:lnTo>
                    <a:lnTo>
                      <a:pt x="75061" y="116479"/>
                    </a:lnTo>
                    <a:lnTo>
                      <a:pt x="96828" y="92848"/>
                    </a:lnTo>
                    <a:lnTo>
                      <a:pt x="120830" y="71490"/>
                    </a:lnTo>
                    <a:lnTo>
                      <a:pt x="146829" y="52615"/>
                    </a:lnTo>
                    <a:lnTo>
                      <a:pt x="174571" y="36410"/>
                    </a:lnTo>
                    <a:lnTo>
                      <a:pt x="203782" y="23032"/>
                    </a:lnTo>
                    <a:lnTo>
                      <a:pt x="234175" y="12616"/>
                    </a:lnTo>
                    <a:lnTo>
                      <a:pt x="265450" y="5261"/>
                    </a:lnTo>
                    <a:lnTo>
                      <a:pt x="297300" y="1042"/>
                    </a:lnTo>
                    <a:lnTo>
                      <a:pt x="329411" y="0"/>
                    </a:lnTo>
                    <a:lnTo>
                      <a:pt x="361468" y="2145"/>
                    </a:lnTo>
                    <a:lnTo>
                      <a:pt x="393154" y="7455"/>
                    </a:lnTo>
                    <a:lnTo>
                      <a:pt x="424159" y="15879"/>
                    </a:lnTo>
                    <a:lnTo>
                      <a:pt x="388756" y="124558"/>
                    </a:lnTo>
                    <a:lnTo>
                      <a:pt x="368694" y="119107"/>
                    </a:lnTo>
                    <a:lnTo>
                      <a:pt x="348191" y="115671"/>
                    </a:lnTo>
                    <a:lnTo>
                      <a:pt x="327449" y="114283"/>
                    </a:lnTo>
                    <a:lnTo>
                      <a:pt x="306671" y="114958"/>
                    </a:lnTo>
                    <a:lnTo>
                      <a:pt x="286062" y="117688"/>
                    </a:lnTo>
                    <a:lnTo>
                      <a:pt x="265825" y="122446"/>
                    </a:lnTo>
                    <a:lnTo>
                      <a:pt x="246159" y="129186"/>
                    </a:lnTo>
                    <a:lnTo>
                      <a:pt x="227258" y="137842"/>
                    </a:lnTo>
                    <a:lnTo>
                      <a:pt x="209307" y="148328"/>
                    </a:lnTo>
                    <a:lnTo>
                      <a:pt x="192484" y="160541"/>
                    </a:lnTo>
                    <a:lnTo>
                      <a:pt x="176954" y="174361"/>
                    </a:lnTo>
                    <a:lnTo>
                      <a:pt x="162869" y="189652"/>
                    </a:lnTo>
                    <a:lnTo>
                      <a:pt x="150369" y="206263"/>
                    </a:lnTo>
                    <a:lnTo>
                      <a:pt x="139576" y="224031"/>
                    </a:lnTo>
                    <a:lnTo>
                      <a:pt x="130597" y="242780"/>
                    </a:lnTo>
                    <a:lnTo>
                      <a:pt x="123520" y="262328"/>
                    </a:lnTo>
                    <a:lnTo>
                      <a:pt x="118415" y="282480"/>
                    </a:lnTo>
                    <a:lnTo>
                      <a:pt x="115331" y="303039"/>
                    </a:lnTo>
                    <a:lnTo>
                      <a:pt x="114300" y="323802"/>
                    </a:lnTo>
                    <a:close/>
                  </a:path>
                </a:pathLst>
              </a:custGeom>
              <a:solidFill>
                <a:srgbClr val="841600"/>
              </a:solidFill>
              <a:ln>
                <a:noFill/>
              </a:ln>
            </p:spPr>
          </p:sp>
          <p:sp>
            <p:nvSpPr>
              <p:cNvPr id="121" name="Arc 121"/>
              <p:cNvSpPr/>
              <p:nvPr/>
            </p:nvSpPr>
            <p:spPr>
              <a:xfrm>
                <a:off x="9589755" y="1311250"/>
                <a:ext cx="259030" cy="408270"/>
              </a:xfrm>
              <a:custGeom>
                <a:avLst/>
                <a:gdLst/>
                <a:ahLst/>
                <a:cxnLst/>
                <a:rect l="l" t="t" r="r" b="b"/>
                <a:pathLst>
                  <a:path w="259030" h="408270">
                    <a:moveTo>
                      <a:pt x="35321" y="0"/>
                    </a:moveTo>
                    <a:lnTo>
                      <a:pt x="65040" y="11297"/>
                    </a:lnTo>
                    <a:lnTo>
                      <a:pt x="93508" y="25454"/>
                    </a:lnTo>
                    <a:lnTo>
                      <a:pt x="120451" y="42335"/>
                    </a:lnTo>
                    <a:lnTo>
                      <a:pt x="145608" y="61775"/>
                    </a:lnTo>
                    <a:lnTo>
                      <a:pt x="168738" y="83589"/>
                    </a:lnTo>
                    <a:lnTo>
                      <a:pt x="189618" y="107566"/>
                    </a:lnTo>
                    <a:lnTo>
                      <a:pt x="208046" y="133475"/>
                    </a:lnTo>
                    <a:lnTo>
                      <a:pt x="223844" y="161066"/>
                    </a:lnTo>
                    <a:lnTo>
                      <a:pt x="236861" y="190073"/>
                    </a:lnTo>
                    <a:lnTo>
                      <a:pt x="246971" y="220217"/>
                    </a:lnTo>
                    <a:lnTo>
                      <a:pt x="254077" y="251207"/>
                    </a:lnTo>
                    <a:lnTo>
                      <a:pt x="258109" y="282744"/>
                    </a:lnTo>
                    <a:lnTo>
                      <a:pt x="259030" y="314524"/>
                    </a:lnTo>
                    <a:lnTo>
                      <a:pt x="256830" y="346242"/>
                    </a:lnTo>
                    <a:lnTo>
                      <a:pt x="251530" y="377591"/>
                    </a:lnTo>
                    <a:lnTo>
                      <a:pt x="243182" y="408270"/>
                    </a:lnTo>
                    <a:lnTo>
                      <a:pt x="134498" y="372880"/>
                    </a:lnTo>
                    <a:lnTo>
                      <a:pt x="139900" y="353029"/>
                    </a:lnTo>
                    <a:lnTo>
                      <a:pt x="143329" y="332745"/>
                    </a:lnTo>
                    <a:lnTo>
                      <a:pt x="144753" y="312222"/>
                    </a:lnTo>
                    <a:lnTo>
                      <a:pt x="144157" y="291658"/>
                    </a:lnTo>
                    <a:lnTo>
                      <a:pt x="141548" y="271251"/>
                    </a:lnTo>
                    <a:lnTo>
                      <a:pt x="136950" y="251199"/>
                    </a:lnTo>
                    <a:lnTo>
                      <a:pt x="130409" y="231694"/>
                    </a:lnTo>
                    <a:lnTo>
                      <a:pt x="121986" y="212925"/>
                    </a:lnTo>
                    <a:lnTo>
                      <a:pt x="111763" y="195072"/>
                    </a:lnTo>
                    <a:lnTo>
                      <a:pt x="99839" y="178308"/>
                    </a:lnTo>
                    <a:lnTo>
                      <a:pt x="86329" y="162793"/>
                    </a:lnTo>
                    <a:lnTo>
                      <a:pt x="71363" y="148678"/>
                    </a:lnTo>
                    <a:lnTo>
                      <a:pt x="55084" y="136099"/>
                    </a:lnTo>
                    <a:lnTo>
                      <a:pt x="37651" y="125176"/>
                    </a:lnTo>
                    <a:lnTo>
                      <a:pt x="19230" y="116016"/>
                    </a:lnTo>
                    <a:lnTo>
                      <a:pt x="0" y="108706"/>
                    </a:lnTo>
                    <a:close/>
                  </a:path>
                </a:pathLst>
              </a:custGeom>
              <a:solidFill>
                <a:srgbClr val="C9482E"/>
              </a:solidFill>
              <a:ln>
                <a:noFill/>
              </a:ln>
            </p:spPr>
          </p:sp>
          <p:sp>
            <p:nvSpPr>
              <p:cNvPr id="122" name="Arc 122"/>
              <p:cNvSpPr/>
              <p:nvPr/>
            </p:nvSpPr>
            <p:spPr>
              <a:xfrm>
                <a:off x="9524836" y="1684005"/>
                <a:ext cx="308163" cy="259095"/>
              </a:xfrm>
              <a:custGeom>
                <a:avLst/>
                <a:gdLst/>
                <a:ahLst/>
                <a:cxnLst/>
                <a:rect l="l" t="t" r="r" b="b"/>
                <a:pathLst>
                  <a:path w="308163" h="259095">
                    <a:moveTo>
                      <a:pt x="308163" y="35321"/>
                    </a:moveTo>
                    <a:lnTo>
                      <a:pt x="299358" y="59187"/>
                    </a:lnTo>
                    <a:lnTo>
                      <a:pt x="288707" y="82289"/>
                    </a:lnTo>
                    <a:lnTo>
                      <a:pt x="276275" y="104483"/>
                    </a:lnTo>
                    <a:lnTo>
                      <a:pt x="262140" y="125633"/>
                    </a:lnTo>
                    <a:lnTo>
                      <a:pt x="246388" y="145608"/>
                    </a:lnTo>
                    <a:lnTo>
                      <a:pt x="229117" y="164285"/>
                    </a:lnTo>
                    <a:lnTo>
                      <a:pt x="210433" y="181549"/>
                    </a:lnTo>
                    <a:lnTo>
                      <a:pt x="190452" y="197294"/>
                    </a:lnTo>
                    <a:lnTo>
                      <a:pt x="169296" y="211421"/>
                    </a:lnTo>
                    <a:lnTo>
                      <a:pt x="147097" y="223844"/>
                    </a:lnTo>
                    <a:lnTo>
                      <a:pt x="123992" y="234487"/>
                    </a:lnTo>
                    <a:lnTo>
                      <a:pt x="100122" y="243283"/>
                    </a:lnTo>
                    <a:lnTo>
                      <a:pt x="75636" y="250179"/>
                    </a:lnTo>
                    <a:lnTo>
                      <a:pt x="50684" y="255131"/>
                    </a:lnTo>
                    <a:lnTo>
                      <a:pt x="25420" y="258109"/>
                    </a:lnTo>
                    <a:lnTo>
                      <a:pt x="0" y="259095"/>
                    </a:lnTo>
                    <a:lnTo>
                      <a:pt x="58" y="144795"/>
                    </a:lnTo>
                    <a:lnTo>
                      <a:pt x="16506" y="144157"/>
                    </a:lnTo>
                    <a:lnTo>
                      <a:pt x="32853" y="142230"/>
                    </a:lnTo>
                    <a:lnTo>
                      <a:pt x="48999" y="139026"/>
                    </a:lnTo>
                    <a:lnTo>
                      <a:pt x="64843" y="134564"/>
                    </a:lnTo>
                    <a:lnTo>
                      <a:pt x="80288" y="128872"/>
                    </a:lnTo>
                    <a:lnTo>
                      <a:pt x="95238" y="121986"/>
                    </a:lnTo>
                    <a:lnTo>
                      <a:pt x="109603" y="113947"/>
                    </a:lnTo>
                    <a:lnTo>
                      <a:pt x="123291" y="104806"/>
                    </a:lnTo>
                    <a:lnTo>
                      <a:pt x="136220" y="94619"/>
                    </a:lnTo>
                    <a:lnTo>
                      <a:pt x="148310" y="83448"/>
                    </a:lnTo>
                    <a:lnTo>
                      <a:pt x="159485" y="71363"/>
                    </a:lnTo>
                    <a:lnTo>
                      <a:pt x="169678" y="58437"/>
                    </a:lnTo>
                    <a:lnTo>
                      <a:pt x="178824" y="44752"/>
                    </a:lnTo>
                    <a:lnTo>
                      <a:pt x="186868" y="30391"/>
                    </a:lnTo>
                    <a:lnTo>
                      <a:pt x="193760" y="15443"/>
                    </a:lnTo>
                    <a:lnTo>
                      <a:pt x="199458" y="0"/>
                    </a:lnTo>
                    <a:close/>
                  </a:path>
                </a:pathLst>
              </a:custGeom>
              <a:solidFill>
                <a:srgbClr val="D9705B"/>
              </a:solidFill>
              <a:ln>
                <a:noFill/>
              </a:ln>
            </p:spPr>
          </p:sp>
          <p:sp>
            <p:nvSpPr>
              <p:cNvPr id="123" name="Arc 123"/>
              <p:cNvSpPr/>
              <p:nvPr/>
            </p:nvSpPr>
            <p:spPr>
              <a:xfrm>
                <a:off x="9262928" y="1742356"/>
                <a:ext cx="262072" cy="200744"/>
              </a:xfrm>
              <a:custGeom>
                <a:avLst/>
                <a:gdLst/>
                <a:ahLst/>
                <a:cxnLst/>
                <a:rect l="l" t="t" r="r" b="b"/>
                <a:pathLst>
                  <a:path w="262072" h="200744">
                    <a:moveTo>
                      <a:pt x="262072" y="200744"/>
                    </a:moveTo>
                    <a:lnTo>
                      <a:pt x="242999" y="200182"/>
                    </a:lnTo>
                    <a:lnTo>
                      <a:pt x="223993" y="198497"/>
                    </a:lnTo>
                    <a:lnTo>
                      <a:pt x="205118" y="195696"/>
                    </a:lnTo>
                    <a:lnTo>
                      <a:pt x="186441" y="191789"/>
                    </a:lnTo>
                    <a:lnTo>
                      <a:pt x="168027" y="186788"/>
                    </a:lnTo>
                    <a:lnTo>
                      <a:pt x="149939" y="180711"/>
                    </a:lnTo>
                    <a:lnTo>
                      <a:pt x="132241" y="173580"/>
                    </a:lnTo>
                    <a:lnTo>
                      <a:pt x="114993" y="165418"/>
                    </a:lnTo>
                    <a:lnTo>
                      <a:pt x="98256" y="156256"/>
                    </a:lnTo>
                    <a:lnTo>
                      <a:pt x="82087" y="146123"/>
                    </a:lnTo>
                    <a:lnTo>
                      <a:pt x="66543" y="135055"/>
                    </a:lnTo>
                    <a:lnTo>
                      <a:pt x="51679" y="123092"/>
                    </a:lnTo>
                    <a:lnTo>
                      <a:pt x="37544" y="110273"/>
                    </a:lnTo>
                    <a:lnTo>
                      <a:pt x="24189" y="96645"/>
                    </a:lnTo>
                    <a:lnTo>
                      <a:pt x="11660" y="82253"/>
                    </a:lnTo>
                    <a:lnTo>
                      <a:pt x="0" y="67149"/>
                    </a:lnTo>
                    <a:lnTo>
                      <a:pt x="92496" y="0"/>
                    </a:lnTo>
                    <a:lnTo>
                      <a:pt x="100041" y="9773"/>
                    </a:lnTo>
                    <a:lnTo>
                      <a:pt x="108148" y="19086"/>
                    </a:lnTo>
                    <a:lnTo>
                      <a:pt x="116789" y="27904"/>
                    </a:lnTo>
                    <a:lnTo>
                      <a:pt x="125935" y="36198"/>
                    </a:lnTo>
                    <a:lnTo>
                      <a:pt x="135554" y="43939"/>
                    </a:lnTo>
                    <a:lnTo>
                      <a:pt x="145611" y="51101"/>
                    </a:lnTo>
                    <a:lnTo>
                      <a:pt x="156073" y="57657"/>
                    </a:lnTo>
                    <a:lnTo>
                      <a:pt x="166903" y="63586"/>
                    </a:lnTo>
                    <a:lnTo>
                      <a:pt x="178064" y="68867"/>
                    </a:lnTo>
                    <a:lnTo>
                      <a:pt x="189516" y="73482"/>
                    </a:lnTo>
                    <a:lnTo>
                      <a:pt x="201219" y="77414"/>
                    </a:lnTo>
                    <a:lnTo>
                      <a:pt x="213135" y="80649"/>
                    </a:lnTo>
                    <a:lnTo>
                      <a:pt x="225220" y="83178"/>
                    </a:lnTo>
                    <a:lnTo>
                      <a:pt x="237433" y="84990"/>
                    </a:lnTo>
                    <a:lnTo>
                      <a:pt x="249731" y="86080"/>
                    </a:lnTo>
                    <a:lnTo>
                      <a:pt x="262072" y="86444"/>
                    </a:lnTo>
                    <a:close/>
                  </a:path>
                </a:pathLst>
              </a:custGeom>
              <a:solidFill>
                <a:srgbClr val="E8B4A9"/>
              </a:solidFill>
              <a:ln>
                <a:noFill/>
              </a:ln>
            </p:spPr>
          </p:sp>
          <p:sp>
            <p:nvSpPr>
              <p:cNvPr id="124" name="Arc 124"/>
              <p:cNvSpPr/>
              <p:nvPr/>
            </p:nvSpPr>
            <p:spPr>
              <a:xfrm>
                <a:off x="9201150" y="1619168"/>
                <a:ext cx="154320" cy="190436"/>
              </a:xfrm>
              <a:custGeom>
                <a:avLst/>
                <a:gdLst/>
                <a:ahLst/>
                <a:cxnLst/>
                <a:rect l="l" t="t" r="r" b="b"/>
                <a:pathLst>
                  <a:path w="154320" h="190436">
                    <a:moveTo>
                      <a:pt x="61850" y="190436"/>
                    </a:moveTo>
                    <a:lnTo>
                      <a:pt x="54576" y="179999"/>
                    </a:lnTo>
                    <a:lnTo>
                      <a:pt x="47717" y="169284"/>
                    </a:lnTo>
                    <a:lnTo>
                      <a:pt x="41285" y="158308"/>
                    </a:lnTo>
                    <a:lnTo>
                      <a:pt x="35288" y="147088"/>
                    </a:lnTo>
                    <a:lnTo>
                      <a:pt x="29737" y="135642"/>
                    </a:lnTo>
                    <a:lnTo>
                      <a:pt x="24640" y="123986"/>
                    </a:lnTo>
                    <a:lnTo>
                      <a:pt x="20004" y="112138"/>
                    </a:lnTo>
                    <a:lnTo>
                      <a:pt x="15838" y="100118"/>
                    </a:lnTo>
                    <a:lnTo>
                      <a:pt x="12146" y="87944"/>
                    </a:lnTo>
                    <a:lnTo>
                      <a:pt x="8936" y="75633"/>
                    </a:lnTo>
                    <a:lnTo>
                      <a:pt x="6212" y="63207"/>
                    </a:lnTo>
                    <a:lnTo>
                      <a:pt x="3978" y="50683"/>
                    </a:lnTo>
                    <a:lnTo>
                      <a:pt x="2237" y="38080"/>
                    </a:lnTo>
                    <a:lnTo>
                      <a:pt x="993" y="25419"/>
                    </a:lnTo>
                    <a:lnTo>
                      <a:pt x="247" y="12719"/>
                    </a:lnTo>
                    <a:lnTo>
                      <a:pt x="0" y="0"/>
                    </a:lnTo>
                    <a:lnTo>
                      <a:pt x="114300" y="29"/>
                    </a:lnTo>
                    <a:lnTo>
                      <a:pt x="114460" y="8259"/>
                    </a:lnTo>
                    <a:lnTo>
                      <a:pt x="114942" y="16477"/>
                    </a:lnTo>
                    <a:lnTo>
                      <a:pt x="115747" y="24669"/>
                    </a:lnTo>
                    <a:lnTo>
                      <a:pt x="116874" y="32823"/>
                    </a:lnTo>
                    <a:lnTo>
                      <a:pt x="118319" y="40927"/>
                    </a:lnTo>
                    <a:lnTo>
                      <a:pt x="120082" y="48968"/>
                    </a:lnTo>
                    <a:lnTo>
                      <a:pt x="122159" y="56934"/>
                    </a:lnTo>
                    <a:lnTo>
                      <a:pt x="124548" y="64811"/>
                    </a:lnTo>
                    <a:lnTo>
                      <a:pt x="127244" y="72589"/>
                    </a:lnTo>
                    <a:lnTo>
                      <a:pt x="130243" y="80255"/>
                    </a:lnTo>
                    <a:lnTo>
                      <a:pt x="133542" y="87797"/>
                    </a:lnTo>
                    <a:lnTo>
                      <a:pt x="137134" y="95204"/>
                    </a:lnTo>
                    <a:lnTo>
                      <a:pt x="141014" y="102464"/>
                    </a:lnTo>
                    <a:lnTo>
                      <a:pt x="145176" y="109566"/>
                    </a:lnTo>
                    <a:lnTo>
                      <a:pt x="149614" y="116499"/>
                    </a:lnTo>
                    <a:lnTo>
                      <a:pt x="154320" y="123252"/>
                    </a:lnTo>
                    <a:close/>
                  </a:path>
                </a:pathLst>
              </a:custGeom>
              <a:solidFill>
                <a:srgbClr val="DCE6F8"/>
              </a:solidFill>
              <a:ln>
                <a:noFill/>
              </a:ln>
            </p:spPr>
          </p:sp>
          <p:sp>
            <p:nvSpPr>
              <p:cNvPr id="125" name="TextBox 125"/>
              <p:cNvSpPr txBox="1"/>
              <p:nvPr/>
            </p:nvSpPr>
            <p:spPr>
              <a:xfrm>
                <a:off x="9996488" y="123348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存款</a:t>
                </a:r>
              </a:p>
            </p:txBody>
          </p:sp>
          <p:sp>
            <p:nvSpPr>
              <p:cNvPr id="126" name="Rectangle 126"/>
              <p:cNvSpPr/>
              <p:nvPr/>
            </p:nvSpPr>
            <p:spPr>
              <a:xfrm>
                <a:off x="10363200" y="1238250"/>
                <a:ext cx="1143000" cy="76200"/>
              </a:xfrm>
              <a:prstGeom prst="rect">
                <a:avLst/>
              </a:prstGeom>
              <a:solidFill>
                <a:srgbClr val="841600"/>
              </a:solidFill>
              <a:ln>
                <a:noFill/>
              </a:ln>
            </p:spPr>
          </p:sp>
          <p:sp>
            <p:nvSpPr>
              <p:cNvPr id="127" name="TextBox 127"/>
              <p:cNvSpPr txBox="1"/>
              <p:nvPr/>
            </p:nvSpPr>
            <p:spPr>
              <a:xfrm>
                <a:off x="9996488" y="140493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理财</a:t>
                </a:r>
              </a:p>
            </p:txBody>
          </p:sp>
          <p:sp>
            <p:nvSpPr>
              <p:cNvPr id="128" name="Rectangle 128"/>
              <p:cNvSpPr/>
              <p:nvPr/>
            </p:nvSpPr>
            <p:spPr>
              <a:xfrm>
                <a:off x="10363200" y="1409700"/>
                <a:ext cx="857250" cy="76200"/>
              </a:xfrm>
              <a:prstGeom prst="rect">
                <a:avLst/>
              </a:prstGeom>
              <a:solidFill>
                <a:srgbClr val="C9482E"/>
              </a:solidFill>
              <a:ln>
                <a:noFill/>
              </a:ln>
            </p:spPr>
          </p:sp>
          <p:sp>
            <p:nvSpPr>
              <p:cNvPr id="129" name="TextBox 129"/>
              <p:cNvSpPr txBox="1"/>
              <p:nvPr/>
            </p:nvSpPr>
            <p:spPr>
              <a:xfrm>
                <a:off x="9996488" y="157638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基金</a:t>
                </a:r>
              </a:p>
            </p:txBody>
          </p:sp>
          <p:sp>
            <p:nvSpPr>
              <p:cNvPr id="130" name="Rectangle 130"/>
              <p:cNvSpPr/>
              <p:nvPr/>
            </p:nvSpPr>
            <p:spPr>
              <a:xfrm>
                <a:off x="10363200" y="1581150"/>
                <a:ext cx="666750" cy="76200"/>
              </a:xfrm>
              <a:prstGeom prst="rect">
                <a:avLst/>
              </a:prstGeom>
              <a:solidFill>
                <a:srgbClr val="D9705B"/>
              </a:solidFill>
              <a:ln>
                <a:noFill/>
              </a:ln>
            </p:spPr>
          </p:sp>
          <p:sp>
            <p:nvSpPr>
              <p:cNvPr id="131" name="TextBox 131"/>
              <p:cNvSpPr txBox="1"/>
              <p:nvPr/>
            </p:nvSpPr>
            <p:spPr>
              <a:xfrm>
                <a:off x="9996488" y="174783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保险</a:t>
                </a:r>
              </a:p>
            </p:txBody>
          </p:sp>
          <p:sp>
            <p:nvSpPr>
              <p:cNvPr id="132" name="Rectangle 132"/>
              <p:cNvSpPr/>
              <p:nvPr/>
            </p:nvSpPr>
            <p:spPr>
              <a:xfrm>
                <a:off x="10363200" y="1752600"/>
                <a:ext cx="476250" cy="76200"/>
              </a:xfrm>
              <a:prstGeom prst="rect">
                <a:avLst/>
              </a:prstGeom>
              <a:solidFill>
                <a:srgbClr val="E8B4A9"/>
              </a:solidFill>
              <a:ln>
                <a:noFill/>
              </a:ln>
            </p:spPr>
          </p:sp>
          <p:sp>
            <p:nvSpPr>
              <p:cNvPr id="133" name="TextBox 133"/>
              <p:cNvSpPr txBox="1"/>
              <p:nvPr/>
            </p:nvSpPr>
            <p:spPr>
              <a:xfrm>
                <a:off x="9996488" y="1919288"/>
                <a:ext cx="312420"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贵金属</a:t>
                </a:r>
              </a:p>
            </p:txBody>
          </p:sp>
          <p:sp>
            <p:nvSpPr>
              <p:cNvPr id="134" name="Rectangle 134"/>
              <p:cNvSpPr/>
              <p:nvPr/>
            </p:nvSpPr>
            <p:spPr>
              <a:xfrm>
                <a:off x="10363200" y="1924050"/>
                <a:ext cx="323850" cy="76200"/>
              </a:xfrm>
              <a:prstGeom prst="rect">
                <a:avLst/>
              </a:prstGeom>
              <a:solidFill>
                <a:srgbClr val="DCE6F8"/>
              </a:solidFill>
              <a:ln>
                <a:noFill/>
              </a:ln>
            </p:spPr>
          </p:sp>
        </p:grpSp>
        <p:sp>
          <p:nvSpPr>
            <p:cNvPr id="136" name="Line 136"/>
            <p:cNvSpPr/>
            <p:nvPr/>
          </p:nvSpPr>
          <p:spPr>
            <a:xfrm>
              <a:off x="8572500" y="2133600"/>
              <a:ext cx="3219450" cy="9525"/>
            </a:xfrm>
            <a:custGeom>
              <a:avLst/>
              <a:gdLst/>
              <a:ahLst/>
              <a:cxnLst/>
              <a:rect l="l" t="t" r="r" b="b"/>
              <a:pathLst>
                <a:path w="3219450" h="9525">
                  <a:moveTo>
                    <a:pt x="0" y="0"/>
                  </a:moveTo>
                  <a:lnTo>
                    <a:pt x="3219450" y="0"/>
                  </a:lnTo>
                </a:path>
              </a:pathLst>
            </a:custGeom>
            <a:noFill/>
            <a:ln w="9525">
              <a:solidFill>
                <a:srgbClr val="E5ECF6"/>
              </a:solidFill>
            </a:ln>
          </p:spPr>
        </p:sp>
        <p:grpSp>
          <p:nvGrpSpPr>
            <p:cNvPr id="160" name="example-family"/>
            <p:cNvGrpSpPr/>
            <p:nvPr/>
          </p:nvGrpSpPr>
          <p:grpSpPr>
            <a:xfrm>
              <a:off x="8460930" y="2281238"/>
              <a:ext cx="3045270" cy="833438"/>
              <a:chOff x="8460930" y="2281238"/>
              <a:chExt cx="3045270" cy="833438"/>
            </a:xfrm>
          </p:grpSpPr>
          <p:grpSp>
            <p:nvGrpSpPr>
              <p:cNvPr id="143" name="Group 143"/>
              <p:cNvGrpSpPr/>
              <p:nvPr/>
            </p:nvGrpSpPr>
            <p:grpSpPr>
              <a:xfrm>
                <a:off x="8615362" y="2366962"/>
                <a:ext cx="257176" cy="257175"/>
                <a:chOff x="8615362" y="2366962"/>
                <a:chExt cx="257176" cy="257175"/>
              </a:xfrm>
            </p:grpSpPr>
            <p:sp>
              <p:nvSpPr>
                <p:cNvPr id="137" name="Freeform 137"/>
                <p:cNvSpPr/>
                <p:nvPr/>
              </p:nvSpPr>
              <p:spPr>
                <a:xfrm>
                  <a:off x="8715375" y="24812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841600"/>
                  </a:solidFill>
                </a:ln>
              </p:spPr>
            </p:sp>
            <p:sp>
              <p:nvSpPr>
                <p:cNvPr id="138" name="Freeform 138"/>
                <p:cNvSpPr/>
                <p:nvPr/>
              </p:nvSpPr>
              <p:spPr>
                <a:xfrm>
                  <a:off x="8686800" y="2581275"/>
                  <a:ext cx="114300" cy="42862"/>
                </a:xfrm>
                <a:custGeom>
                  <a:avLst/>
                  <a:gdLst/>
                  <a:ahLst/>
                  <a:cxnLst/>
                  <a:rect l="l" t="t" r="r" b="b"/>
                  <a:pathLst>
                    <a:path w="114300" h="42862">
                      <a:moveTo>
                        <a:pt x="0" y="42862"/>
                      </a:moveTo>
                      <a:lnTo>
                        <a:pt x="0" y="28575"/>
                      </a:lnTo>
                      <a:cubicBezTo>
                        <a:pt x="0" y="12793"/>
                        <a:pt x="12793" y="0"/>
                        <a:pt x="28575" y="0"/>
                      </a:cubicBezTo>
                      <a:lnTo>
                        <a:pt x="85725" y="0"/>
                      </a:lnTo>
                      <a:cubicBezTo>
                        <a:pt x="101507" y="0"/>
                        <a:pt x="114300" y="12793"/>
                        <a:pt x="114300" y="28575"/>
                      </a:cubicBezTo>
                      <a:lnTo>
                        <a:pt x="114300" y="42862"/>
                      </a:lnTo>
                    </a:path>
                  </a:pathLst>
                </a:custGeom>
                <a:noFill/>
                <a:ln w="21431">
                  <a:solidFill>
                    <a:srgbClr val="841600"/>
                  </a:solidFill>
                </a:ln>
              </p:spPr>
            </p:sp>
            <p:sp>
              <p:nvSpPr>
                <p:cNvPr id="139" name="Freeform 139"/>
                <p:cNvSpPr/>
                <p:nvPr/>
              </p:nvSpPr>
              <p:spPr>
                <a:xfrm>
                  <a:off x="8786812" y="23669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841600"/>
                  </a:solidFill>
                </a:ln>
              </p:spPr>
            </p:sp>
            <p:sp>
              <p:nvSpPr>
                <p:cNvPr id="140" name="Freeform 140"/>
                <p:cNvSpPr/>
                <p:nvPr/>
              </p:nvSpPr>
              <p:spPr>
                <a:xfrm>
                  <a:off x="8815388" y="2466975"/>
                  <a:ext cx="57150" cy="42862"/>
                </a:xfrm>
                <a:custGeom>
                  <a:avLst/>
                  <a:gdLst/>
                  <a:ahLst/>
                  <a:cxnLst/>
                  <a:rect l="l" t="t" r="r" b="b"/>
                  <a:pathLst>
                    <a:path w="57150" h="42862">
                      <a:moveTo>
                        <a:pt x="0" y="0"/>
                      </a:moveTo>
                      <a:lnTo>
                        <a:pt x="28575" y="0"/>
                      </a:lnTo>
                      <a:cubicBezTo>
                        <a:pt x="44357" y="0"/>
                        <a:pt x="57150" y="12793"/>
                        <a:pt x="57150" y="28575"/>
                      </a:cubicBezTo>
                      <a:lnTo>
                        <a:pt x="57150" y="42862"/>
                      </a:lnTo>
                    </a:path>
                  </a:pathLst>
                </a:custGeom>
                <a:noFill/>
                <a:ln w="21431">
                  <a:solidFill>
                    <a:srgbClr val="841600"/>
                  </a:solidFill>
                </a:ln>
              </p:spPr>
            </p:sp>
            <p:sp>
              <p:nvSpPr>
                <p:cNvPr id="141" name="Freeform 141"/>
                <p:cNvSpPr/>
                <p:nvPr/>
              </p:nvSpPr>
              <p:spPr>
                <a:xfrm>
                  <a:off x="8643938" y="23669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841600"/>
                  </a:solidFill>
                </a:ln>
              </p:spPr>
            </p:sp>
            <p:sp>
              <p:nvSpPr>
                <p:cNvPr id="142" name="Freeform 142"/>
                <p:cNvSpPr/>
                <p:nvPr/>
              </p:nvSpPr>
              <p:spPr>
                <a:xfrm>
                  <a:off x="8615362" y="2466975"/>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21431">
                  <a:solidFill>
                    <a:srgbClr val="841600"/>
                  </a:solidFill>
                </a:ln>
              </p:spPr>
            </p:sp>
          </p:grpSp>
          <p:sp>
            <p:nvSpPr>
              <p:cNvPr id="144" name="TextBox 144"/>
              <p:cNvSpPr txBox="1"/>
              <p:nvPr/>
            </p:nvSpPr>
            <p:spPr>
              <a:xfrm>
                <a:off x="8460930" y="2813447"/>
                <a:ext cx="642239"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高净值家庭</a:t>
                </a:r>
              </a:p>
            </p:txBody>
          </p:sp>
          <p:sp>
            <p:nvSpPr>
              <p:cNvPr id="145" name="Arc 145"/>
              <p:cNvSpPr/>
              <p:nvPr/>
            </p:nvSpPr>
            <p:spPr>
              <a:xfrm>
                <a:off x="9201150" y="2358950"/>
                <a:ext cx="259196" cy="308050"/>
              </a:xfrm>
              <a:custGeom>
                <a:avLst/>
                <a:gdLst/>
                <a:ahLst/>
                <a:cxnLst/>
                <a:rect l="l" t="t" r="r" b="b"/>
                <a:pathLst>
                  <a:path w="259196" h="308050">
                    <a:moveTo>
                      <a:pt x="0" y="308050"/>
                    </a:moveTo>
                    <a:lnTo>
                      <a:pt x="999" y="282631"/>
                    </a:lnTo>
                    <a:lnTo>
                      <a:pt x="3990" y="257369"/>
                    </a:lnTo>
                    <a:lnTo>
                      <a:pt x="8955" y="232419"/>
                    </a:lnTo>
                    <a:lnTo>
                      <a:pt x="15863" y="207936"/>
                    </a:lnTo>
                    <a:lnTo>
                      <a:pt x="24671" y="184071"/>
                    </a:lnTo>
                    <a:lnTo>
                      <a:pt x="35325" y="160971"/>
                    </a:lnTo>
                    <a:lnTo>
                      <a:pt x="47760" y="138778"/>
                    </a:lnTo>
                    <a:lnTo>
                      <a:pt x="61898" y="117630"/>
                    </a:lnTo>
                    <a:lnTo>
                      <a:pt x="77652" y="97656"/>
                    </a:lnTo>
                    <a:lnTo>
                      <a:pt x="94926" y="78981"/>
                    </a:lnTo>
                    <a:lnTo>
                      <a:pt x="113612" y="61720"/>
                    </a:lnTo>
                    <a:lnTo>
                      <a:pt x="133595" y="45978"/>
                    </a:lnTo>
                    <a:lnTo>
                      <a:pt x="154752" y="31853"/>
                    </a:lnTo>
                    <a:lnTo>
                      <a:pt x="176953" y="19433"/>
                    </a:lnTo>
                    <a:lnTo>
                      <a:pt x="200060" y="8793"/>
                    </a:lnTo>
                    <a:lnTo>
                      <a:pt x="223931" y="0"/>
                    </a:lnTo>
                    <a:lnTo>
                      <a:pt x="259196" y="108724"/>
                    </a:lnTo>
                    <a:lnTo>
                      <a:pt x="243750" y="114413"/>
                    </a:lnTo>
                    <a:lnTo>
                      <a:pt x="228799" y="121298"/>
                    </a:lnTo>
                    <a:lnTo>
                      <a:pt x="214434" y="129335"/>
                    </a:lnTo>
                    <a:lnTo>
                      <a:pt x="200744" y="138474"/>
                    </a:lnTo>
                    <a:lnTo>
                      <a:pt x="187814" y="148660"/>
                    </a:lnTo>
                    <a:lnTo>
                      <a:pt x="175723" y="159829"/>
                    </a:lnTo>
                    <a:lnTo>
                      <a:pt x="164546" y="171913"/>
                    </a:lnTo>
                    <a:lnTo>
                      <a:pt x="154352" y="184837"/>
                    </a:lnTo>
                    <a:lnTo>
                      <a:pt x="145203" y="198521"/>
                    </a:lnTo>
                    <a:lnTo>
                      <a:pt x="137158" y="212881"/>
                    </a:lnTo>
                    <a:lnTo>
                      <a:pt x="130264" y="227828"/>
                    </a:lnTo>
                    <a:lnTo>
                      <a:pt x="124564" y="243271"/>
                    </a:lnTo>
                    <a:lnTo>
                      <a:pt x="120095" y="259112"/>
                    </a:lnTo>
                    <a:lnTo>
                      <a:pt x="116882" y="275256"/>
                    </a:lnTo>
                    <a:lnTo>
                      <a:pt x="114946" y="291603"/>
                    </a:lnTo>
                    <a:lnTo>
                      <a:pt x="114300" y="308050"/>
                    </a:lnTo>
                    <a:close/>
                  </a:path>
                </a:pathLst>
              </a:custGeom>
              <a:solidFill>
                <a:srgbClr val="841600"/>
              </a:solidFill>
              <a:ln>
                <a:noFill/>
              </a:ln>
            </p:spPr>
          </p:sp>
          <p:sp>
            <p:nvSpPr>
              <p:cNvPr id="146" name="Arc 146"/>
              <p:cNvSpPr/>
              <p:nvPr/>
            </p:nvSpPr>
            <p:spPr>
              <a:xfrm>
                <a:off x="9424925" y="2343194"/>
                <a:ext cx="423925" cy="324052"/>
              </a:xfrm>
              <a:custGeom>
                <a:avLst/>
                <a:gdLst/>
                <a:ahLst/>
                <a:cxnLst/>
                <a:rect l="l" t="t" r="r" b="b"/>
                <a:pathLst>
                  <a:path w="423925" h="324052">
                    <a:moveTo>
                      <a:pt x="0" y="15807"/>
                    </a:moveTo>
                    <a:lnTo>
                      <a:pt x="31011" y="7406"/>
                    </a:lnTo>
                    <a:lnTo>
                      <a:pt x="62701" y="2120"/>
                    </a:lnTo>
                    <a:lnTo>
                      <a:pt x="94759" y="0"/>
                    </a:lnTo>
                    <a:lnTo>
                      <a:pt x="126870" y="1067"/>
                    </a:lnTo>
                    <a:lnTo>
                      <a:pt x="158717" y="5310"/>
                    </a:lnTo>
                    <a:lnTo>
                      <a:pt x="189987" y="12688"/>
                    </a:lnTo>
                    <a:lnTo>
                      <a:pt x="220371" y="23128"/>
                    </a:lnTo>
                    <a:lnTo>
                      <a:pt x="249572" y="36527"/>
                    </a:lnTo>
                    <a:lnTo>
                      <a:pt x="277302" y="52754"/>
                    </a:lnTo>
                    <a:lnTo>
                      <a:pt x="303287" y="71648"/>
                    </a:lnTo>
                    <a:lnTo>
                      <a:pt x="327272" y="93024"/>
                    </a:lnTo>
                    <a:lnTo>
                      <a:pt x="349021" y="116672"/>
                    </a:lnTo>
                    <a:lnTo>
                      <a:pt x="368320" y="142358"/>
                    </a:lnTo>
                    <a:lnTo>
                      <a:pt x="384979" y="169830"/>
                    </a:lnTo>
                    <a:lnTo>
                      <a:pt x="398834" y="198818"/>
                    </a:lnTo>
                    <a:lnTo>
                      <a:pt x="409748" y="229035"/>
                    </a:lnTo>
                    <a:lnTo>
                      <a:pt x="417614" y="260186"/>
                    </a:lnTo>
                    <a:lnTo>
                      <a:pt x="422356" y="291962"/>
                    </a:lnTo>
                    <a:lnTo>
                      <a:pt x="423925" y="324052"/>
                    </a:lnTo>
                    <a:lnTo>
                      <a:pt x="309625" y="323965"/>
                    </a:lnTo>
                    <a:lnTo>
                      <a:pt x="308610" y="303201"/>
                    </a:lnTo>
                    <a:lnTo>
                      <a:pt x="305542" y="282640"/>
                    </a:lnTo>
                    <a:lnTo>
                      <a:pt x="300452" y="262484"/>
                    </a:lnTo>
                    <a:lnTo>
                      <a:pt x="293389" y="242931"/>
                    </a:lnTo>
                    <a:lnTo>
                      <a:pt x="284425" y="224175"/>
                    </a:lnTo>
                    <a:lnTo>
                      <a:pt x="273645" y="206399"/>
                    </a:lnTo>
                    <a:lnTo>
                      <a:pt x="261158" y="189778"/>
                    </a:lnTo>
                    <a:lnTo>
                      <a:pt x="247085" y="174477"/>
                    </a:lnTo>
                    <a:lnTo>
                      <a:pt x="231565" y="160645"/>
                    </a:lnTo>
                    <a:lnTo>
                      <a:pt x="214751" y="148419"/>
                    </a:lnTo>
                    <a:lnTo>
                      <a:pt x="196809" y="137920"/>
                    </a:lnTo>
                    <a:lnTo>
                      <a:pt x="177914" y="129250"/>
                    </a:lnTo>
                    <a:lnTo>
                      <a:pt x="158253" y="122494"/>
                    </a:lnTo>
                    <a:lnTo>
                      <a:pt x="138020" y="117720"/>
                    </a:lnTo>
                    <a:lnTo>
                      <a:pt x="117413" y="114975"/>
                    </a:lnTo>
                    <a:lnTo>
                      <a:pt x="96636" y="114285"/>
                    </a:lnTo>
                    <a:lnTo>
                      <a:pt x="75892" y="115656"/>
                    </a:lnTo>
                    <a:lnTo>
                      <a:pt x="55386" y="119077"/>
                    </a:lnTo>
                    <a:lnTo>
                      <a:pt x="35321" y="124512"/>
                    </a:lnTo>
                    <a:close/>
                  </a:path>
                </a:pathLst>
              </a:custGeom>
              <a:solidFill>
                <a:srgbClr val="C9482E"/>
              </a:solidFill>
              <a:ln>
                <a:noFill/>
              </a:ln>
            </p:spPr>
          </p:sp>
          <p:sp>
            <p:nvSpPr>
              <p:cNvPr id="147" name="Arc 147"/>
              <p:cNvSpPr/>
              <p:nvPr/>
            </p:nvSpPr>
            <p:spPr>
              <a:xfrm>
                <a:off x="9524795" y="2667000"/>
                <a:ext cx="324055" cy="323850"/>
              </a:xfrm>
              <a:custGeom>
                <a:avLst/>
                <a:gdLst/>
                <a:ahLst/>
                <a:cxnLst/>
                <a:rect l="l" t="t" r="r" b="b"/>
                <a:pathLst>
                  <a:path w="324055" h="323850">
                    <a:moveTo>
                      <a:pt x="324055" y="0"/>
                    </a:moveTo>
                    <a:lnTo>
                      <a:pt x="322494" y="31756"/>
                    </a:lnTo>
                    <a:lnTo>
                      <a:pt x="317827" y="63205"/>
                    </a:lnTo>
                    <a:lnTo>
                      <a:pt x="310099" y="94045"/>
                    </a:lnTo>
                    <a:lnTo>
                      <a:pt x="299384" y="123979"/>
                    </a:lnTo>
                    <a:lnTo>
                      <a:pt x="285785" y="152718"/>
                    </a:lnTo>
                    <a:lnTo>
                      <a:pt x="269434" y="179985"/>
                    </a:lnTo>
                    <a:lnTo>
                      <a:pt x="250487" y="205518"/>
                    </a:lnTo>
                    <a:lnTo>
                      <a:pt x="229129" y="229069"/>
                    </a:lnTo>
                    <a:lnTo>
                      <a:pt x="205564" y="250412"/>
                    </a:lnTo>
                    <a:lnTo>
                      <a:pt x="180020" y="269343"/>
                    </a:lnTo>
                    <a:lnTo>
                      <a:pt x="152742" y="285677"/>
                    </a:lnTo>
                    <a:lnTo>
                      <a:pt x="123995" y="299257"/>
                    </a:lnTo>
                    <a:lnTo>
                      <a:pt x="94054" y="309953"/>
                    </a:lnTo>
                    <a:lnTo>
                      <a:pt x="63209" y="317662"/>
                    </a:lnTo>
                    <a:lnTo>
                      <a:pt x="31757" y="322309"/>
                    </a:lnTo>
                    <a:lnTo>
                      <a:pt x="0" y="323850"/>
                    </a:lnTo>
                    <a:lnTo>
                      <a:pt x="72" y="209550"/>
                    </a:lnTo>
                    <a:lnTo>
                      <a:pt x="20621" y="208553"/>
                    </a:lnTo>
                    <a:lnTo>
                      <a:pt x="40972" y="205546"/>
                    </a:lnTo>
                    <a:lnTo>
                      <a:pt x="60931" y="200558"/>
                    </a:lnTo>
                    <a:lnTo>
                      <a:pt x="80304" y="193637"/>
                    </a:lnTo>
                    <a:lnTo>
                      <a:pt x="98906" y="184850"/>
                    </a:lnTo>
                    <a:lnTo>
                      <a:pt x="116556" y="174280"/>
                    </a:lnTo>
                    <a:lnTo>
                      <a:pt x="133084" y="162032"/>
                    </a:lnTo>
                    <a:lnTo>
                      <a:pt x="148332" y="148221"/>
                    </a:lnTo>
                    <a:lnTo>
                      <a:pt x="162152" y="132982"/>
                    </a:lnTo>
                    <a:lnTo>
                      <a:pt x="174412" y="116461"/>
                    </a:lnTo>
                    <a:lnTo>
                      <a:pt x="184992" y="98818"/>
                    </a:lnTo>
                    <a:lnTo>
                      <a:pt x="193791" y="80222"/>
                    </a:lnTo>
                    <a:lnTo>
                      <a:pt x="200724" y="60853"/>
                    </a:lnTo>
                    <a:lnTo>
                      <a:pt x="205725" y="40897"/>
                    </a:lnTo>
                    <a:lnTo>
                      <a:pt x="208745" y="20548"/>
                    </a:lnTo>
                    <a:lnTo>
                      <a:pt x="209755" y="0"/>
                    </a:lnTo>
                    <a:close/>
                  </a:path>
                </a:pathLst>
              </a:custGeom>
              <a:solidFill>
                <a:srgbClr val="D9705B"/>
              </a:solidFill>
              <a:ln>
                <a:noFill/>
              </a:ln>
            </p:spPr>
          </p:sp>
          <p:sp>
            <p:nvSpPr>
              <p:cNvPr id="148" name="Arc 148"/>
              <p:cNvSpPr/>
              <p:nvPr/>
            </p:nvSpPr>
            <p:spPr>
              <a:xfrm>
                <a:off x="9262928" y="2790106"/>
                <a:ext cx="262072" cy="200744"/>
              </a:xfrm>
              <a:custGeom>
                <a:avLst/>
                <a:gdLst/>
                <a:ahLst/>
                <a:cxnLst/>
                <a:rect l="l" t="t" r="r" b="b"/>
                <a:pathLst>
                  <a:path w="262072" h="200744">
                    <a:moveTo>
                      <a:pt x="262072" y="200744"/>
                    </a:moveTo>
                    <a:lnTo>
                      <a:pt x="242999" y="200182"/>
                    </a:lnTo>
                    <a:lnTo>
                      <a:pt x="223993" y="198497"/>
                    </a:lnTo>
                    <a:lnTo>
                      <a:pt x="205118" y="195696"/>
                    </a:lnTo>
                    <a:lnTo>
                      <a:pt x="186441" y="191789"/>
                    </a:lnTo>
                    <a:lnTo>
                      <a:pt x="168027" y="186788"/>
                    </a:lnTo>
                    <a:lnTo>
                      <a:pt x="149939" y="180711"/>
                    </a:lnTo>
                    <a:lnTo>
                      <a:pt x="132241" y="173580"/>
                    </a:lnTo>
                    <a:lnTo>
                      <a:pt x="114993" y="165418"/>
                    </a:lnTo>
                    <a:lnTo>
                      <a:pt x="98256" y="156256"/>
                    </a:lnTo>
                    <a:lnTo>
                      <a:pt x="82087" y="146123"/>
                    </a:lnTo>
                    <a:lnTo>
                      <a:pt x="66543" y="135055"/>
                    </a:lnTo>
                    <a:lnTo>
                      <a:pt x="51679" y="123092"/>
                    </a:lnTo>
                    <a:lnTo>
                      <a:pt x="37544" y="110273"/>
                    </a:lnTo>
                    <a:lnTo>
                      <a:pt x="24189" y="96645"/>
                    </a:lnTo>
                    <a:lnTo>
                      <a:pt x="11660" y="82253"/>
                    </a:lnTo>
                    <a:lnTo>
                      <a:pt x="0" y="67149"/>
                    </a:lnTo>
                    <a:lnTo>
                      <a:pt x="92496" y="0"/>
                    </a:lnTo>
                    <a:lnTo>
                      <a:pt x="100041" y="9773"/>
                    </a:lnTo>
                    <a:lnTo>
                      <a:pt x="108148" y="19086"/>
                    </a:lnTo>
                    <a:lnTo>
                      <a:pt x="116789" y="27904"/>
                    </a:lnTo>
                    <a:lnTo>
                      <a:pt x="125935" y="36198"/>
                    </a:lnTo>
                    <a:lnTo>
                      <a:pt x="135554" y="43939"/>
                    </a:lnTo>
                    <a:lnTo>
                      <a:pt x="145611" y="51101"/>
                    </a:lnTo>
                    <a:lnTo>
                      <a:pt x="156073" y="57657"/>
                    </a:lnTo>
                    <a:lnTo>
                      <a:pt x="166903" y="63586"/>
                    </a:lnTo>
                    <a:lnTo>
                      <a:pt x="178064" y="68867"/>
                    </a:lnTo>
                    <a:lnTo>
                      <a:pt x="189516" y="73482"/>
                    </a:lnTo>
                    <a:lnTo>
                      <a:pt x="201219" y="77414"/>
                    </a:lnTo>
                    <a:lnTo>
                      <a:pt x="213135" y="80649"/>
                    </a:lnTo>
                    <a:lnTo>
                      <a:pt x="225220" y="83178"/>
                    </a:lnTo>
                    <a:lnTo>
                      <a:pt x="237433" y="84990"/>
                    </a:lnTo>
                    <a:lnTo>
                      <a:pt x="249731" y="86080"/>
                    </a:lnTo>
                    <a:lnTo>
                      <a:pt x="262072" y="86444"/>
                    </a:lnTo>
                    <a:close/>
                  </a:path>
                </a:pathLst>
              </a:custGeom>
              <a:solidFill>
                <a:srgbClr val="E8B4A9"/>
              </a:solidFill>
              <a:ln>
                <a:noFill/>
              </a:ln>
            </p:spPr>
          </p:sp>
          <p:sp>
            <p:nvSpPr>
              <p:cNvPr id="149" name="Arc 149"/>
              <p:cNvSpPr/>
              <p:nvPr/>
            </p:nvSpPr>
            <p:spPr>
              <a:xfrm>
                <a:off x="9201150" y="2666918"/>
                <a:ext cx="154320" cy="190436"/>
              </a:xfrm>
              <a:custGeom>
                <a:avLst/>
                <a:gdLst/>
                <a:ahLst/>
                <a:cxnLst/>
                <a:rect l="l" t="t" r="r" b="b"/>
                <a:pathLst>
                  <a:path w="154320" h="190436">
                    <a:moveTo>
                      <a:pt x="61850" y="190436"/>
                    </a:moveTo>
                    <a:lnTo>
                      <a:pt x="54576" y="179999"/>
                    </a:lnTo>
                    <a:lnTo>
                      <a:pt x="47717" y="169284"/>
                    </a:lnTo>
                    <a:lnTo>
                      <a:pt x="41285" y="158308"/>
                    </a:lnTo>
                    <a:lnTo>
                      <a:pt x="35288" y="147088"/>
                    </a:lnTo>
                    <a:lnTo>
                      <a:pt x="29737" y="135642"/>
                    </a:lnTo>
                    <a:lnTo>
                      <a:pt x="24640" y="123986"/>
                    </a:lnTo>
                    <a:lnTo>
                      <a:pt x="20004" y="112138"/>
                    </a:lnTo>
                    <a:lnTo>
                      <a:pt x="15838" y="100118"/>
                    </a:lnTo>
                    <a:lnTo>
                      <a:pt x="12146" y="87944"/>
                    </a:lnTo>
                    <a:lnTo>
                      <a:pt x="8936" y="75633"/>
                    </a:lnTo>
                    <a:lnTo>
                      <a:pt x="6212" y="63207"/>
                    </a:lnTo>
                    <a:lnTo>
                      <a:pt x="3978" y="50683"/>
                    </a:lnTo>
                    <a:lnTo>
                      <a:pt x="2237" y="38080"/>
                    </a:lnTo>
                    <a:lnTo>
                      <a:pt x="993" y="25419"/>
                    </a:lnTo>
                    <a:lnTo>
                      <a:pt x="247" y="12719"/>
                    </a:lnTo>
                    <a:lnTo>
                      <a:pt x="0" y="0"/>
                    </a:lnTo>
                    <a:lnTo>
                      <a:pt x="114300" y="29"/>
                    </a:lnTo>
                    <a:lnTo>
                      <a:pt x="114460" y="8259"/>
                    </a:lnTo>
                    <a:lnTo>
                      <a:pt x="114942" y="16477"/>
                    </a:lnTo>
                    <a:lnTo>
                      <a:pt x="115747" y="24669"/>
                    </a:lnTo>
                    <a:lnTo>
                      <a:pt x="116874" y="32823"/>
                    </a:lnTo>
                    <a:lnTo>
                      <a:pt x="118319" y="40927"/>
                    </a:lnTo>
                    <a:lnTo>
                      <a:pt x="120082" y="48968"/>
                    </a:lnTo>
                    <a:lnTo>
                      <a:pt x="122159" y="56934"/>
                    </a:lnTo>
                    <a:lnTo>
                      <a:pt x="124548" y="64811"/>
                    </a:lnTo>
                    <a:lnTo>
                      <a:pt x="127244" y="72589"/>
                    </a:lnTo>
                    <a:lnTo>
                      <a:pt x="130243" y="80255"/>
                    </a:lnTo>
                    <a:lnTo>
                      <a:pt x="133542" y="87797"/>
                    </a:lnTo>
                    <a:lnTo>
                      <a:pt x="137134" y="95204"/>
                    </a:lnTo>
                    <a:lnTo>
                      <a:pt x="141014" y="102464"/>
                    </a:lnTo>
                    <a:lnTo>
                      <a:pt x="145176" y="109566"/>
                    </a:lnTo>
                    <a:lnTo>
                      <a:pt x="149614" y="116499"/>
                    </a:lnTo>
                    <a:lnTo>
                      <a:pt x="154320" y="123252"/>
                    </a:lnTo>
                    <a:close/>
                  </a:path>
                </a:pathLst>
              </a:custGeom>
              <a:solidFill>
                <a:srgbClr val="DCE6F8"/>
              </a:solidFill>
              <a:ln>
                <a:noFill/>
              </a:ln>
            </p:spPr>
          </p:sp>
          <p:sp>
            <p:nvSpPr>
              <p:cNvPr id="150" name="TextBox 150"/>
              <p:cNvSpPr txBox="1"/>
              <p:nvPr/>
            </p:nvSpPr>
            <p:spPr>
              <a:xfrm>
                <a:off x="9996488" y="228123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存款</a:t>
                </a:r>
              </a:p>
            </p:txBody>
          </p:sp>
          <p:sp>
            <p:nvSpPr>
              <p:cNvPr id="151" name="Rectangle 151"/>
              <p:cNvSpPr/>
              <p:nvPr/>
            </p:nvSpPr>
            <p:spPr>
              <a:xfrm>
                <a:off x="10363200" y="2286000"/>
                <a:ext cx="723900" cy="76200"/>
              </a:xfrm>
              <a:prstGeom prst="rect">
                <a:avLst/>
              </a:prstGeom>
              <a:solidFill>
                <a:srgbClr val="841600"/>
              </a:solidFill>
              <a:ln>
                <a:noFill/>
              </a:ln>
            </p:spPr>
          </p:sp>
          <p:sp>
            <p:nvSpPr>
              <p:cNvPr id="152" name="TextBox 152"/>
              <p:cNvSpPr txBox="1"/>
              <p:nvPr/>
            </p:nvSpPr>
            <p:spPr>
              <a:xfrm>
                <a:off x="9996488" y="245268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理财</a:t>
                </a:r>
              </a:p>
            </p:txBody>
          </p:sp>
          <p:sp>
            <p:nvSpPr>
              <p:cNvPr id="153" name="Rectangle 153"/>
              <p:cNvSpPr/>
              <p:nvPr/>
            </p:nvSpPr>
            <p:spPr>
              <a:xfrm>
                <a:off x="10363200" y="2457450"/>
                <a:ext cx="1143000" cy="76200"/>
              </a:xfrm>
              <a:prstGeom prst="rect">
                <a:avLst/>
              </a:prstGeom>
              <a:solidFill>
                <a:srgbClr val="C9482E"/>
              </a:solidFill>
              <a:ln>
                <a:noFill/>
              </a:ln>
            </p:spPr>
          </p:sp>
          <p:sp>
            <p:nvSpPr>
              <p:cNvPr id="154" name="TextBox 154"/>
              <p:cNvSpPr txBox="1"/>
              <p:nvPr/>
            </p:nvSpPr>
            <p:spPr>
              <a:xfrm>
                <a:off x="9996488" y="262413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基金</a:t>
                </a:r>
              </a:p>
            </p:txBody>
          </p:sp>
          <p:sp>
            <p:nvSpPr>
              <p:cNvPr id="155" name="Rectangle 155"/>
              <p:cNvSpPr/>
              <p:nvPr/>
            </p:nvSpPr>
            <p:spPr>
              <a:xfrm>
                <a:off x="10363200" y="2628900"/>
                <a:ext cx="914400" cy="76200"/>
              </a:xfrm>
              <a:prstGeom prst="rect">
                <a:avLst/>
              </a:prstGeom>
              <a:solidFill>
                <a:srgbClr val="D9705B"/>
              </a:solidFill>
              <a:ln>
                <a:noFill/>
              </a:ln>
            </p:spPr>
          </p:sp>
          <p:sp>
            <p:nvSpPr>
              <p:cNvPr id="156" name="TextBox 156"/>
              <p:cNvSpPr txBox="1"/>
              <p:nvPr/>
            </p:nvSpPr>
            <p:spPr>
              <a:xfrm>
                <a:off x="9996488" y="279558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保险</a:t>
                </a:r>
              </a:p>
            </p:txBody>
          </p:sp>
          <p:sp>
            <p:nvSpPr>
              <p:cNvPr id="157" name="Rectangle 157"/>
              <p:cNvSpPr/>
              <p:nvPr/>
            </p:nvSpPr>
            <p:spPr>
              <a:xfrm>
                <a:off x="10363200" y="2800350"/>
                <a:ext cx="533400" cy="76200"/>
              </a:xfrm>
              <a:prstGeom prst="rect">
                <a:avLst/>
              </a:prstGeom>
              <a:solidFill>
                <a:srgbClr val="E8B4A9"/>
              </a:solidFill>
              <a:ln>
                <a:noFill/>
              </a:ln>
            </p:spPr>
          </p:sp>
          <p:sp>
            <p:nvSpPr>
              <p:cNvPr id="158" name="TextBox 158"/>
              <p:cNvSpPr txBox="1"/>
              <p:nvPr/>
            </p:nvSpPr>
            <p:spPr>
              <a:xfrm>
                <a:off x="9996488" y="2967038"/>
                <a:ext cx="312420"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贵金属</a:t>
                </a:r>
              </a:p>
            </p:txBody>
          </p:sp>
          <p:sp>
            <p:nvSpPr>
              <p:cNvPr id="159" name="Rectangle 159"/>
              <p:cNvSpPr/>
              <p:nvPr/>
            </p:nvSpPr>
            <p:spPr>
              <a:xfrm>
                <a:off x="10363200" y="2971800"/>
                <a:ext cx="381000" cy="76200"/>
              </a:xfrm>
              <a:prstGeom prst="rect">
                <a:avLst/>
              </a:prstGeom>
              <a:solidFill>
                <a:srgbClr val="DCE6F8"/>
              </a:solidFill>
              <a:ln>
                <a:noFill/>
              </a:ln>
            </p:spPr>
          </p:sp>
        </p:grpSp>
        <p:sp>
          <p:nvSpPr>
            <p:cNvPr id="161" name="Line 161"/>
            <p:cNvSpPr/>
            <p:nvPr/>
          </p:nvSpPr>
          <p:spPr>
            <a:xfrm>
              <a:off x="8572500" y="3181350"/>
              <a:ext cx="3219450" cy="9525"/>
            </a:xfrm>
            <a:custGeom>
              <a:avLst/>
              <a:gdLst/>
              <a:ahLst/>
              <a:cxnLst/>
              <a:rect l="l" t="t" r="r" b="b"/>
              <a:pathLst>
                <a:path w="3219450" h="9525">
                  <a:moveTo>
                    <a:pt x="0" y="0"/>
                  </a:moveTo>
                  <a:lnTo>
                    <a:pt x="3219450" y="0"/>
                  </a:lnTo>
                </a:path>
              </a:pathLst>
            </a:custGeom>
            <a:noFill/>
            <a:ln w="9525">
              <a:solidFill>
                <a:srgbClr val="E5ECF6"/>
              </a:solidFill>
            </a:ln>
          </p:spPr>
        </p:sp>
        <p:grpSp>
          <p:nvGrpSpPr>
            <p:cNvPr id="183" name="example-retired"/>
            <p:cNvGrpSpPr/>
            <p:nvPr/>
          </p:nvGrpSpPr>
          <p:grpSpPr>
            <a:xfrm>
              <a:off x="8475142" y="3328988"/>
              <a:ext cx="3145358" cy="833438"/>
              <a:chOff x="8475142" y="3328988"/>
              <a:chExt cx="3145358" cy="833438"/>
            </a:xfrm>
          </p:grpSpPr>
          <p:grpSp>
            <p:nvGrpSpPr>
              <p:cNvPr id="166" name="Group 166"/>
              <p:cNvGrpSpPr/>
              <p:nvPr/>
            </p:nvGrpSpPr>
            <p:grpSpPr>
              <a:xfrm>
                <a:off x="8629650" y="3414712"/>
                <a:ext cx="242888" cy="271462"/>
                <a:chOff x="8629650" y="3414712"/>
                <a:chExt cx="242888" cy="271462"/>
              </a:xfrm>
            </p:grpSpPr>
            <p:sp>
              <p:nvSpPr>
                <p:cNvPr id="162" name="Freeform 162"/>
                <p:cNvSpPr/>
                <p:nvPr/>
              </p:nvSpPr>
              <p:spPr>
                <a:xfrm>
                  <a:off x="8643938" y="34147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841600"/>
                  </a:solidFill>
                </a:ln>
              </p:spPr>
            </p:sp>
            <p:sp>
              <p:nvSpPr>
                <p:cNvPr id="163" name="Freeform 163"/>
                <p:cNvSpPr/>
                <p:nvPr/>
              </p:nvSpPr>
              <p:spPr>
                <a:xfrm>
                  <a:off x="8629650" y="3529012"/>
                  <a:ext cx="85725" cy="157162"/>
                </a:xfrm>
                <a:custGeom>
                  <a:avLst/>
                  <a:gdLst/>
                  <a:ahLst/>
                  <a:cxnLst/>
                  <a:rect l="l" t="t" r="r" b="b"/>
                  <a:pathLst>
                    <a:path w="85725" h="157162">
                      <a:moveTo>
                        <a:pt x="14288" y="157162"/>
                      </a:moveTo>
                      <a:lnTo>
                        <a:pt x="14288" y="85725"/>
                      </a:lnTo>
                      <a:lnTo>
                        <a:pt x="0" y="71438"/>
                      </a:lnTo>
                      <a:lnTo>
                        <a:pt x="0" y="14288"/>
                      </a:lnTo>
                      <a:cubicBezTo>
                        <a:pt x="0" y="6397"/>
                        <a:pt x="6397" y="0"/>
                        <a:pt x="14288" y="0"/>
                      </a:cubicBezTo>
                      <a:lnTo>
                        <a:pt x="71438" y="0"/>
                      </a:lnTo>
                      <a:cubicBezTo>
                        <a:pt x="79328" y="0"/>
                        <a:pt x="85725" y="6397"/>
                        <a:pt x="85725" y="14288"/>
                      </a:cubicBezTo>
                      <a:lnTo>
                        <a:pt x="85725" y="71438"/>
                      </a:lnTo>
                      <a:lnTo>
                        <a:pt x="71438" y="85725"/>
                      </a:lnTo>
                      <a:lnTo>
                        <a:pt x="71438" y="157162"/>
                      </a:lnTo>
                    </a:path>
                  </a:pathLst>
                </a:custGeom>
                <a:noFill/>
                <a:ln w="21431">
                  <a:solidFill>
                    <a:srgbClr val="841600"/>
                  </a:solidFill>
                </a:ln>
              </p:spPr>
            </p:sp>
            <p:sp>
              <p:nvSpPr>
                <p:cNvPr id="164" name="Freeform 164"/>
                <p:cNvSpPr/>
                <p:nvPr/>
              </p:nvSpPr>
              <p:spPr>
                <a:xfrm>
                  <a:off x="8786812" y="34147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841600"/>
                  </a:solidFill>
                </a:ln>
              </p:spPr>
            </p:sp>
            <p:sp>
              <p:nvSpPr>
                <p:cNvPr id="165" name="Freeform 165"/>
                <p:cNvSpPr/>
                <p:nvPr/>
              </p:nvSpPr>
              <p:spPr>
                <a:xfrm>
                  <a:off x="8758238" y="3529012"/>
                  <a:ext cx="114300" cy="157162"/>
                </a:xfrm>
                <a:custGeom>
                  <a:avLst/>
                  <a:gdLst/>
                  <a:ahLst/>
                  <a:cxnLst/>
                  <a:rect l="l" t="t" r="r" b="b"/>
                  <a:pathLst>
                    <a:path w="114300" h="157162">
                      <a:moveTo>
                        <a:pt x="28575" y="157162"/>
                      </a:moveTo>
                      <a:lnTo>
                        <a:pt x="28575" y="100012"/>
                      </a:lnTo>
                      <a:lnTo>
                        <a:pt x="0" y="100012"/>
                      </a:lnTo>
                      <a:lnTo>
                        <a:pt x="28575" y="14288"/>
                      </a:lnTo>
                      <a:cubicBezTo>
                        <a:pt x="28575" y="6397"/>
                        <a:pt x="34972" y="0"/>
                        <a:pt x="42862" y="0"/>
                      </a:cubicBezTo>
                      <a:lnTo>
                        <a:pt x="71438" y="0"/>
                      </a:lnTo>
                      <a:cubicBezTo>
                        <a:pt x="79328" y="0"/>
                        <a:pt x="85725" y="6397"/>
                        <a:pt x="85725" y="14288"/>
                      </a:cubicBezTo>
                      <a:lnTo>
                        <a:pt x="114300" y="100012"/>
                      </a:lnTo>
                      <a:lnTo>
                        <a:pt x="85725" y="100012"/>
                      </a:lnTo>
                      <a:lnTo>
                        <a:pt x="85725" y="157162"/>
                      </a:lnTo>
                    </a:path>
                  </a:pathLst>
                </a:custGeom>
                <a:noFill/>
                <a:ln w="21431">
                  <a:solidFill>
                    <a:srgbClr val="841600"/>
                  </a:solidFill>
                </a:ln>
              </p:spPr>
            </p:sp>
          </p:grpSp>
          <p:sp>
            <p:nvSpPr>
              <p:cNvPr id="167" name="TextBox 167"/>
              <p:cNvSpPr txBox="1"/>
              <p:nvPr/>
            </p:nvSpPr>
            <p:spPr>
              <a:xfrm>
                <a:off x="8475142" y="3857149"/>
                <a:ext cx="537616"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退休客群</a:t>
                </a:r>
              </a:p>
            </p:txBody>
          </p:sp>
          <p:sp>
            <p:nvSpPr>
              <p:cNvPr id="168" name="Arc 168"/>
              <p:cNvSpPr/>
              <p:nvPr/>
            </p:nvSpPr>
            <p:spPr>
              <a:xfrm>
                <a:off x="9201150" y="3391038"/>
                <a:ext cx="514436" cy="323712"/>
              </a:xfrm>
              <a:custGeom>
                <a:avLst/>
                <a:gdLst/>
                <a:ahLst/>
                <a:cxnLst/>
                <a:rect l="l" t="t" r="r" b="b"/>
                <a:pathLst>
                  <a:path w="514436" h="323712">
                    <a:moveTo>
                      <a:pt x="0" y="323712"/>
                    </a:moveTo>
                    <a:lnTo>
                      <a:pt x="1618" y="291381"/>
                    </a:lnTo>
                    <a:lnTo>
                      <a:pt x="6455" y="259373"/>
                    </a:lnTo>
                    <a:lnTo>
                      <a:pt x="14464" y="228008"/>
                    </a:lnTo>
                    <a:lnTo>
                      <a:pt x="25564" y="197599"/>
                    </a:lnTo>
                    <a:lnTo>
                      <a:pt x="39645" y="168450"/>
                    </a:lnTo>
                    <a:lnTo>
                      <a:pt x="56565" y="140852"/>
                    </a:lnTo>
                    <a:lnTo>
                      <a:pt x="76156" y="115082"/>
                    </a:lnTo>
                    <a:lnTo>
                      <a:pt x="98222" y="91396"/>
                    </a:lnTo>
                    <a:lnTo>
                      <a:pt x="122542" y="70031"/>
                    </a:lnTo>
                    <a:lnTo>
                      <a:pt x="148873" y="51202"/>
                    </a:lnTo>
                    <a:lnTo>
                      <a:pt x="176953" y="35094"/>
                    </a:lnTo>
                    <a:lnTo>
                      <a:pt x="206500" y="21871"/>
                    </a:lnTo>
                    <a:lnTo>
                      <a:pt x="237221" y="11664"/>
                    </a:lnTo>
                    <a:lnTo>
                      <a:pt x="268806" y="4574"/>
                    </a:lnTo>
                    <a:lnTo>
                      <a:pt x="300942" y="673"/>
                    </a:lnTo>
                    <a:lnTo>
                      <a:pt x="333306" y="0"/>
                    </a:lnTo>
                    <a:lnTo>
                      <a:pt x="365576" y="2561"/>
                    </a:lnTo>
                    <a:lnTo>
                      <a:pt x="397429" y="8331"/>
                    </a:lnTo>
                    <a:lnTo>
                      <a:pt x="428547" y="17253"/>
                    </a:lnTo>
                    <a:lnTo>
                      <a:pt x="458619" y="29236"/>
                    </a:lnTo>
                    <a:lnTo>
                      <a:pt x="487344" y="44162"/>
                    </a:lnTo>
                    <a:lnTo>
                      <a:pt x="514436" y="61880"/>
                    </a:lnTo>
                    <a:lnTo>
                      <a:pt x="447170" y="154291"/>
                    </a:lnTo>
                    <a:lnTo>
                      <a:pt x="429641" y="142826"/>
                    </a:lnTo>
                    <a:lnTo>
                      <a:pt x="411054" y="133169"/>
                    </a:lnTo>
                    <a:lnTo>
                      <a:pt x="391595" y="125415"/>
                    </a:lnTo>
                    <a:lnTo>
                      <a:pt x="371460" y="119642"/>
                    </a:lnTo>
                    <a:lnTo>
                      <a:pt x="350849" y="115909"/>
                    </a:lnTo>
                    <a:lnTo>
                      <a:pt x="329969" y="114251"/>
                    </a:lnTo>
                    <a:lnTo>
                      <a:pt x="309027" y="114687"/>
                    </a:lnTo>
                    <a:lnTo>
                      <a:pt x="288233" y="117211"/>
                    </a:lnTo>
                    <a:lnTo>
                      <a:pt x="267796" y="121798"/>
                    </a:lnTo>
                    <a:lnTo>
                      <a:pt x="247918" y="128403"/>
                    </a:lnTo>
                    <a:lnTo>
                      <a:pt x="228799" y="136959"/>
                    </a:lnTo>
                    <a:lnTo>
                      <a:pt x="210630" y="147382"/>
                    </a:lnTo>
                    <a:lnTo>
                      <a:pt x="193592" y="159566"/>
                    </a:lnTo>
                    <a:lnTo>
                      <a:pt x="177855" y="173390"/>
                    </a:lnTo>
                    <a:lnTo>
                      <a:pt x="163577" y="188716"/>
                    </a:lnTo>
                    <a:lnTo>
                      <a:pt x="150901" y="205391"/>
                    </a:lnTo>
                    <a:lnTo>
                      <a:pt x="139953" y="223248"/>
                    </a:lnTo>
                    <a:lnTo>
                      <a:pt x="130842" y="242109"/>
                    </a:lnTo>
                    <a:lnTo>
                      <a:pt x="123659" y="261786"/>
                    </a:lnTo>
                    <a:lnTo>
                      <a:pt x="118477" y="282081"/>
                    </a:lnTo>
                    <a:lnTo>
                      <a:pt x="115347" y="302792"/>
                    </a:lnTo>
                    <a:lnTo>
                      <a:pt x="114300" y="323712"/>
                    </a:lnTo>
                    <a:close/>
                  </a:path>
                </a:pathLst>
              </a:custGeom>
              <a:solidFill>
                <a:srgbClr val="841600"/>
              </a:solidFill>
              <a:ln>
                <a:noFill/>
              </a:ln>
            </p:spPr>
          </p:sp>
          <p:sp>
            <p:nvSpPr>
              <p:cNvPr id="169" name="Arc 169"/>
              <p:cNvSpPr/>
              <p:nvPr/>
            </p:nvSpPr>
            <p:spPr>
              <a:xfrm>
                <a:off x="9648170" y="3452750"/>
                <a:ext cx="200425" cy="452520"/>
              </a:xfrm>
              <a:custGeom>
                <a:avLst/>
                <a:gdLst/>
                <a:ahLst/>
                <a:cxnLst/>
                <a:rect l="l" t="t" r="r" b="b"/>
                <a:pathLst>
                  <a:path w="200425" h="452520">
                    <a:moveTo>
                      <a:pt x="67184" y="0"/>
                    </a:moveTo>
                    <a:lnTo>
                      <a:pt x="91957" y="19928"/>
                    </a:lnTo>
                    <a:lnTo>
                      <a:pt x="114657" y="42189"/>
                    </a:lnTo>
                    <a:lnTo>
                      <a:pt x="135065" y="66569"/>
                    </a:lnTo>
                    <a:lnTo>
                      <a:pt x="152984" y="92833"/>
                    </a:lnTo>
                    <a:lnTo>
                      <a:pt x="168241" y="120727"/>
                    </a:lnTo>
                    <a:lnTo>
                      <a:pt x="180689" y="149982"/>
                    </a:lnTo>
                    <a:lnTo>
                      <a:pt x="190209" y="180317"/>
                    </a:lnTo>
                    <a:lnTo>
                      <a:pt x="196708" y="211440"/>
                    </a:lnTo>
                    <a:lnTo>
                      <a:pt x="200125" y="243050"/>
                    </a:lnTo>
                    <a:lnTo>
                      <a:pt x="200425" y="274842"/>
                    </a:lnTo>
                    <a:lnTo>
                      <a:pt x="197606" y="306511"/>
                    </a:lnTo>
                    <a:lnTo>
                      <a:pt x="191696" y="337751"/>
                    </a:lnTo>
                    <a:lnTo>
                      <a:pt x="182750" y="368260"/>
                    </a:lnTo>
                    <a:lnTo>
                      <a:pt x="170857" y="397746"/>
                    </a:lnTo>
                    <a:lnTo>
                      <a:pt x="156129" y="425923"/>
                    </a:lnTo>
                    <a:lnTo>
                      <a:pt x="138709" y="452520"/>
                    </a:lnTo>
                    <a:lnTo>
                      <a:pt x="46281" y="385278"/>
                    </a:lnTo>
                    <a:lnTo>
                      <a:pt x="57553" y="368068"/>
                    </a:lnTo>
                    <a:lnTo>
                      <a:pt x="67082" y="349836"/>
                    </a:lnTo>
                    <a:lnTo>
                      <a:pt x="74778" y="330757"/>
                    </a:lnTo>
                    <a:lnTo>
                      <a:pt x="80566" y="311015"/>
                    </a:lnTo>
                    <a:lnTo>
                      <a:pt x="84391" y="290801"/>
                    </a:lnTo>
                    <a:lnTo>
                      <a:pt x="86215" y="270310"/>
                    </a:lnTo>
                    <a:lnTo>
                      <a:pt x="86021" y="249738"/>
                    </a:lnTo>
                    <a:lnTo>
                      <a:pt x="83810" y="229285"/>
                    </a:lnTo>
                    <a:lnTo>
                      <a:pt x="79605" y="209147"/>
                    </a:lnTo>
                    <a:lnTo>
                      <a:pt x="73445" y="189518"/>
                    </a:lnTo>
                    <a:lnTo>
                      <a:pt x="65390" y="170588"/>
                    </a:lnTo>
                    <a:lnTo>
                      <a:pt x="55518" y="152539"/>
                    </a:lnTo>
                    <a:lnTo>
                      <a:pt x="43923" y="135545"/>
                    </a:lnTo>
                    <a:lnTo>
                      <a:pt x="30718" y="119770"/>
                    </a:lnTo>
                    <a:lnTo>
                      <a:pt x="16030" y="105365"/>
                    </a:lnTo>
                    <a:lnTo>
                      <a:pt x="0" y="92471"/>
                    </a:lnTo>
                    <a:close/>
                  </a:path>
                </a:pathLst>
              </a:custGeom>
              <a:solidFill>
                <a:srgbClr val="C9482E"/>
              </a:solidFill>
              <a:ln>
                <a:noFill/>
              </a:ln>
            </p:spPr>
          </p:sp>
          <p:sp>
            <p:nvSpPr>
              <p:cNvPr id="170" name="Arc 170"/>
              <p:cNvSpPr/>
              <p:nvPr/>
            </p:nvSpPr>
            <p:spPr>
              <a:xfrm>
                <a:off x="9589704" y="3837920"/>
                <a:ext cx="197296" cy="184855"/>
              </a:xfrm>
              <a:custGeom>
                <a:avLst/>
                <a:gdLst/>
                <a:ahLst/>
                <a:cxnLst/>
                <a:rect l="l" t="t" r="r" b="b"/>
                <a:pathLst>
                  <a:path w="197296" h="184855">
                    <a:moveTo>
                      <a:pt x="197296" y="67184"/>
                    </a:moveTo>
                    <a:lnTo>
                      <a:pt x="189618" y="77327"/>
                    </a:lnTo>
                    <a:lnTo>
                      <a:pt x="181547" y="87161"/>
                    </a:lnTo>
                    <a:lnTo>
                      <a:pt x="173096" y="96670"/>
                    </a:lnTo>
                    <a:lnTo>
                      <a:pt x="164278" y="105841"/>
                    </a:lnTo>
                    <a:lnTo>
                      <a:pt x="155107" y="114657"/>
                    </a:lnTo>
                    <a:lnTo>
                      <a:pt x="145596" y="123107"/>
                    </a:lnTo>
                    <a:lnTo>
                      <a:pt x="135761" y="131177"/>
                    </a:lnTo>
                    <a:lnTo>
                      <a:pt x="125617" y="138854"/>
                    </a:lnTo>
                    <a:lnTo>
                      <a:pt x="115179" y="146127"/>
                    </a:lnTo>
                    <a:lnTo>
                      <a:pt x="104463" y="152984"/>
                    </a:lnTo>
                    <a:lnTo>
                      <a:pt x="93487" y="159415"/>
                    </a:lnTo>
                    <a:lnTo>
                      <a:pt x="82266" y="165410"/>
                    </a:lnTo>
                    <a:lnTo>
                      <a:pt x="70818" y="170960"/>
                    </a:lnTo>
                    <a:lnTo>
                      <a:pt x="59162" y="176055"/>
                    </a:lnTo>
                    <a:lnTo>
                      <a:pt x="47314" y="180689"/>
                    </a:lnTo>
                    <a:lnTo>
                      <a:pt x="35293" y="184855"/>
                    </a:lnTo>
                    <a:lnTo>
                      <a:pt x="0" y="76140"/>
                    </a:lnTo>
                    <a:lnTo>
                      <a:pt x="7778" y="73445"/>
                    </a:lnTo>
                    <a:lnTo>
                      <a:pt x="15444" y="70446"/>
                    </a:lnTo>
                    <a:lnTo>
                      <a:pt x="22987" y="67149"/>
                    </a:lnTo>
                    <a:lnTo>
                      <a:pt x="30394" y="63558"/>
                    </a:lnTo>
                    <a:lnTo>
                      <a:pt x="37655" y="59679"/>
                    </a:lnTo>
                    <a:lnTo>
                      <a:pt x="44757" y="55518"/>
                    </a:lnTo>
                    <a:lnTo>
                      <a:pt x="51691" y="51081"/>
                    </a:lnTo>
                    <a:lnTo>
                      <a:pt x="58445" y="46375"/>
                    </a:lnTo>
                    <a:lnTo>
                      <a:pt x="65009" y="41407"/>
                    </a:lnTo>
                    <a:lnTo>
                      <a:pt x="71373" y="36186"/>
                    </a:lnTo>
                    <a:lnTo>
                      <a:pt x="77526" y="30718"/>
                    </a:lnTo>
                    <a:lnTo>
                      <a:pt x="83461" y="25013"/>
                    </a:lnTo>
                    <a:lnTo>
                      <a:pt x="89166" y="19080"/>
                    </a:lnTo>
                    <a:lnTo>
                      <a:pt x="94635" y="12926"/>
                    </a:lnTo>
                    <a:lnTo>
                      <a:pt x="99857" y="6563"/>
                    </a:lnTo>
                    <a:lnTo>
                      <a:pt x="104825" y="0"/>
                    </a:lnTo>
                    <a:close/>
                  </a:path>
                </a:pathLst>
              </a:custGeom>
              <a:solidFill>
                <a:srgbClr val="D9705B"/>
              </a:solidFill>
              <a:ln>
                <a:noFill/>
              </a:ln>
            </p:spPr>
          </p:sp>
          <p:sp>
            <p:nvSpPr>
              <p:cNvPr id="171" name="Arc 171"/>
              <p:cNvSpPr/>
              <p:nvPr/>
            </p:nvSpPr>
            <p:spPr>
              <a:xfrm>
                <a:off x="9262904" y="3837835"/>
                <a:ext cx="362172" cy="200765"/>
              </a:xfrm>
              <a:custGeom>
                <a:avLst/>
                <a:gdLst/>
                <a:ahLst/>
                <a:cxnLst/>
                <a:rect l="l" t="t" r="r" b="b"/>
                <a:pathLst>
                  <a:path w="362172" h="200765">
                    <a:moveTo>
                      <a:pt x="362172" y="184915"/>
                    </a:moveTo>
                    <a:lnTo>
                      <a:pt x="337688" y="191820"/>
                    </a:lnTo>
                    <a:lnTo>
                      <a:pt x="312737" y="196781"/>
                    </a:lnTo>
                    <a:lnTo>
                      <a:pt x="287475" y="199769"/>
                    </a:lnTo>
                    <a:lnTo>
                      <a:pt x="262055" y="200765"/>
                    </a:lnTo>
                    <a:lnTo>
                      <a:pt x="236636" y="199763"/>
                    </a:lnTo>
                    <a:lnTo>
                      <a:pt x="211374" y="196769"/>
                    </a:lnTo>
                    <a:lnTo>
                      <a:pt x="186425" y="191801"/>
                    </a:lnTo>
                    <a:lnTo>
                      <a:pt x="161943" y="184890"/>
                    </a:lnTo>
                    <a:lnTo>
                      <a:pt x="138079" y="176078"/>
                    </a:lnTo>
                    <a:lnTo>
                      <a:pt x="114980" y="165421"/>
                    </a:lnTo>
                    <a:lnTo>
                      <a:pt x="92789" y="152984"/>
                    </a:lnTo>
                    <a:lnTo>
                      <a:pt x="71643" y="138843"/>
                    </a:lnTo>
                    <a:lnTo>
                      <a:pt x="51671" y="123086"/>
                    </a:lnTo>
                    <a:lnTo>
                      <a:pt x="32999" y="105811"/>
                    </a:lnTo>
                    <a:lnTo>
                      <a:pt x="15739" y="87122"/>
                    </a:lnTo>
                    <a:lnTo>
                      <a:pt x="0" y="67137"/>
                    </a:lnTo>
                    <a:lnTo>
                      <a:pt x="92505" y="0"/>
                    </a:lnTo>
                    <a:lnTo>
                      <a:pt x="102689" y="12932"/>
                    </a:lnTo>
                    <a:lnTo>
                      <a:pt x="113857" y="25024"/>
                    </a:lnTo>
                    <a:lnTo>
                      <a:pt x="125939" y="36202"/>
                    </a:lnTo>
                    <a:lnTo>
                      <a:pt x="138862" y="46398"/>
                    </a:lnTo>
                    <a:lnTo>
                      <a:pt x="152545" y="55548"/>
                    </a:lnTo>
                    <a:lnTo>
                      <a:pt x="166904" y="63596"/>
                    </a:lnTo>
                    <a:lnTo>
                      <a:pt x="181850" y="70491"/>
                    </a:lnTo>
                    <a:lnTo>
                      <a:pt x="197291" y="76193"/>
                    </a:lnTo>
                    <a:lnTo>
                      <a:pt x="213133" y="80665"/>
                    </a:lnTo>
                    <a:lnTo>
                      <a:pt x="229276" y="83879"/>
                    </a:lnTo>
                    <a:lnTo>
                      <a:pt x="245622" y="85817"/>
                    </a:lnTo>
                    <a:lnTo>
                      <a:pt x="262070" y="86465"/>
                    </a:lnTo>
                    <a:lnTo>
                      <a:pt x="278518" y="85821"/>
                    </a:lnTo>
                    <a:lnTo>
                      <a:pt x="294864" y="83888"/>
                    </a:lnTo>
                    <a:lnTo>
                      <a:pt x="311008" y="80677"/>
                    </a:lnTo>
                    <a:lnTo>
                      <a:pt x="326851" y="76209"/>
                    </a:lnTo>
                    <a:close/>
                  </a:path>
                </a:pathLst>
              </a:custGeom>
              <a:solidFill>
                <a:srgbClr val="E8B4A9"/>
              </a:solidFill>
              <a:ln>
                <a:noFill/>
              </a:ln>
            </p:spPr>
          </p:sp>
          <p:sp>
            <p:nvSpPr>
              <p:cNvPr id="172" name="Arc 172"/>
              <p:cNvSpPr/>
              <p:nvPr/>
            </p:nvSpPr>
            <p:spPr>
              <a:xfrm>
                <a:off x="9201150" y="3714668"/>
                <a:ext cx="154320" cy="190436"/>
              </a:xfrm>
              <a:custGeom>
                <a:avLst/>
                <a:gdLst/>
                <a:ahLst/>
                <a:cxnLst/>
                <a:rect l="l" t="t" r="r" b="b"/>
                <a:pathLst>
                  <a:path w="154320" h="190436">
                    <a:moveTo>
                      <a:pt x="61850" y="190436"/>
                    </a:moveTo>
                    <a:lnTo>
                      <a:pt x="54576" y="179999"/>
                    </a:lnTo>
                    <a:lnTo>
                      <a:pt x="47717" y="169284"/>
                    </a:lnTo>
                    <a:lnTo>
                      <a:pt x="41285" y="158308"/>
                    </a:lnTo>
                    <a:lnTo>
                      <a:pt x="35288" y="147088"/>
                    </a:lnTo>
                    <a:lnTo>
                      <a:pt x="29737" y="135642"/>
                    </a:lnTo>
                    <a:lnTo>
                      <a:pt x="24640" y="123986"/>
                    </a:lnTo>
                    <a:lnTo>
                      <a:pt x="20004" y="112138"/>
                    </a:lnTo>
                    <a:lnTo>
                      <a:pt x="15838" y="100118"/>
                    </a:lnTo>
                    <a:lnTo>
                      <a:pt x="12146" y="87944"/>
                    </a:lnTo>
                    <a:lnTo>
                      <a:pt x="8936" y="75633"/>
                    </a:lnTo>
                    <a:lnTo>
                      <a:pt x="6212" y="63207"/>
                    </a:lnTo>
                    <a:lnTo>
                      <a:pt x="3978" y="50683"/>
                    </a:lnTo>
                    <a:lnTo>
                      <a:pt x="2237" y="38080"/>
                    </a:lnTo>
                    <a:lnTo>
                      <a:pt x="993" y="25419"/>
                    </a:lnTo>
                    <a:lnTo>
                      <a:pt x="247" y="12719"/>
                    </a:lnTo>
                    <a:lnTo>
                      <a:pt x="0" y="0"/>
                    </a:lnTo>
                    <a:lnTo>
                      <a:pt x="114300" y="29"/>
                    </a:lnTo>
                    <a:lnTo>
                      <a:pt x="114460" y="8259"/>
                    </a:lnTo>
                    <a:lnTo>
                      <a:pt x="114942" y="16477"/>
                    </a:lnTo>
                    <a:lnTo>
                      <a:pt x="115747" y="24669"/>
                    </a:lnTo>
                    <a:lnTo>
                      <a:pt x="116874" y="32823"/>
                    </a:lnTo>
                    <a:lnTo>
                      <a:pt x="118319" y="40927"/>
                    </a:lnTo>
                    <a:lnTo>
                      <a:pt x="120082" y="48968"/>
                    </a:lnTo>
                    <a:lnTo>
                      <a:pt x="122159" y="56934"/>
                    </a:lnTo>
                    <a:lnTo>
                      <a:pt x="124548" y="64811"/>
                    </a:lnTo>
                    <a:lnTo>
                      <a:pt x="127244" y="72589"/>
                    </a:lnTo>
                    <a:lnTo>
                      <a:pt x="130243" y="80255"/>
                    </a:lnTo>
                    <a:lnTo>
                      <a:pt x="133542" y="87797"/>
                    </a:lnTo>
                    <a:lnTo>
                      <a:pt x="137134" y="95204"/>
                    </a:lnTo>
                    <a:lnTo>
                      <a:pt x="141014" y="102464"/>
                    </a:lnTo>
                    <a:lnTo>
                      <a:pt x="145176" y="109566"/>
                    </a:lnTo>
                    <a:lnTo>
                      <a:pt x="149614" y="116499"/>
                    </a:lnTo>
                    <a:lnTo>
                      <a:pt x="154320" y="123252"/>
                    </a:lnTo>
                    <a:close/>
                  </a:path>
                </a:pathLst>
              </a:custGeom>
              <a:solidFill>
                <a:srgbClr val="DCE6F8"/>
              </a:solidFill>
              <a:ln>
                <a:noFill/>
              </a:ln>
            </p:spPr>
          </p:sp>
          <p:sp>
            <p:nvSpPr>
              <p:cNvPr id="173" name="TextBox 173"/>
              <p:cNvSpPr txBox="1"/>
              <p:nvPr/>
            </p:nvSpPr>
            <p:spPr>
              <a:xfrm>
                <a:off x="9996488" y="332898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存款</a:t>
                </a:r>
              </a:p>
            </p:txBody>
          </p:sp>
          <p:sp>
            <p:nvSpPr>
              <p:cNvPr id="174" name="Rectangle 174"/>
              <p:cNvSpPr/>
              <p:nvPr/>
            </p:nvSpPr>
            <p:spPr>
              <a:xfrm>
                <a:off x="10363200" y="3333750"/>
                <a:ext cx="1257300" cy="76200"/>
              </a:xfrm>
              <a:prstGeom prst="rect">
                <a:avLst/>
              </a:prstGeom>
              <a:solidFill>
                <a:srgbClr val="841600"/>
              </a:solidFill>
              <a:ln>
                <a:noFill/>
              </a:ln>
            </p:spPr>
          </p:sp>
          <p:sp>
            <p:nvSpPr>
              <p:cNvPr id="175" name="TextBox 175"/>
              <p:cNvSpPr txBox="1"/>
              <p:nvPr/>
            </p:nvSpPr>
            <p:spPr>
              <a:xfrm>
                <a:off x="9996488" y="350043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理财</a:t>
                </a:r>
              </a:p>
            </p:txBody>
          </p:sp>
          <p:sp>
            <p:nvSpPr>
              <p:cNvPr id="176" name="Rectangle 176"/>
              <p:cNvSpPr/>
              <p:nvPr/>
            </p:nvSpPr>
            <p:spPr>
              <a:xfrm>
                <a:off x="10363200" y="3505200"/>
                <a:ext cx="838200" cy="76200"/>
              </a:xfrm>
              <a:prstGeom prst="rect">
                <a:avLst/>
              </a:prstGeom>
              <a:solidFill>
                <a:srgbClr val="C9482E"/>
              </a:solidFill>
              <a:ln>
                <a:noFill/>
              </a:ln>
            </p:spPr>
          </p:sp>
          <p:sp>
            <p:nvSpPr>
              <p:cNvPr id="177" name="TextBox 177"/>
              <p:cNvSpPr txBox="1"/>
              <p:nvPr/>
            </p:nvSpPr>
            <p:spPr>
              <a:xfrm>
                <a:off x="9996488" y="367188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基金</a:t>
                </a:r>
              </a:p>
            </p:txBody>
          </p:sp>
          <p:sp>
            <p:nvSpPr>
              <p:cNvPr id="178" name="Rectangle 178"/>
              <p:cNvSpPr/>
              <p:nvPr/>
            </p:nvSpPr>
            <p:spPr>
              <a:xfrm>
                <a:off x="10363200" y="3676650"/>
                <a:ext cx="381000" cy="76200"/>
              </a:xfrm>
              <a:prstGeom prst="rect">
                <a:avLst/>
              </a:prstGeom>
              <a:solidFill>
                <a:srgbClr val="D9705B"/>
              </a:solidFill>
              <a:ln>
                <a:noFill/>
              </a:ln>
            </p:spPr>
          </p:sp>
          <p:sp>
            <p:nvSpPr>
              <p:cNvPr id="179" name="TextBox 179"/>
              <p:cNvSpPr txBox="1"/>
              <p:nvPr/>
            </p:nvSpPr>
            <p:spPr>
              <a:xfrm>
                <a:off x="9996488" y="3843338"/>
                <a:ext cx="211455"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保险</a:t>
                </a:r>
              </a:p>
            </p:txBody>
          </p:sp>
          <p:sp>
            <p:nvSpPr>
              <p:cNvPr id="180" name="Rectangle 180"/>
              <p:cNvSpPr/>
              <p:nvPr/>
            </p:nvSpPr>
            <p:spPr>
              <a:xfrm>
                <a:off x="10363200" y="3848100"/>
                <a:ext cx="666750" cy="76200"/>
              </a:xfrm>
              <a:prstGeom prst="rect">
                <a:avLst/>
              </a:prstGeom>
              <a:solidFill>
                <a:srgbClr val="E8B4A9"/>
              </a:solidFill>
              <a:ln>
                <a:noFill/>
              </a:ln>
            </p:spPr>
          </p:sp>
          <p:sp>
            <p:nvSpPr>
              <p:cNvPr id="181" name="TextBox 181"/>
              <p:cNvSpPr txBox="1"/>
              <p:nvPr/>
            </p:nvSpPr>
            <p:spPr>
              <a:xfrm>
                <a:off x="9996488" y="4014788"/>
                <a:ext cx="312420"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贵金属</a:t>
                </a:r>
              </a:p>
            </p:txBody>
          </p:sp>
          <p:sp>
            <p:nvSpPr>
              <p:cNvPr id="182" name="Rectangle 182"/>
              <p:cNvSpPr/>
              <p:nvPr/>
            </p:nvSpPr>
            <p:spPr>
              <a:xfrm>
                <a:off x="10363200" y="4019550"/>
                <a:ext cx="323850" cy="76200"/>
              </a:xfrm>
              <a:prstGeom prst="rect">
                <a:avLst/>
              </a:prstGeom>
              <a:solidFill>
                <a:srgbClr val="DCE6F8"/>
              </a:solidFill>
              <a:ln>
                <a:noFill/>
              </a:ln>
            </p:spPr>
          </p:sp>
        </p:grpSp>
        <p:grpSp>
          <p:nvGrpSpPr>
            <p:cNvPr id="194" name="example-legend"/>
            <p:cNvGrpSpPr/>
            <p:nvPr/>
          </p:nvGrpSpPr>
          <p:grpSpPr>
            <a:xfrm>
              <a:off x="8686800" y="4305300"/>
              <a:ext cx="2933662" cy="155495"/>
              <a:chOff x="8686800" y="4305300"/>
              <a:chExt cx="2933662" cy="155495"/>
            </a:xfrm>
          </p:grpSpPr>
          <p:sp>
            <p:nvSpPr>
              <p:cNvPr id="184" name="Rectangle 184"/>
              <p:cNvSpPr/>
              <p:nvPr/>
            </p:nvSpPr>
            <p:spPr>
              <a:xfrm>
                <a:off x="8686800" y="4305300"/>
                <a:ext cx="114300" cy="95250"/>
              </a:xfrm>
              <a:prstGeom prst="rect">
                <a:avLst/>
              </a:prstGeom>
              <a:solidFill>
                <a:srgbClr val="841600"/>
              </a:solidFill>
              <a:ln>
                <a:noFill/>
              </a:ln>
            </p:spPr>
          </p:sp>
          <p:sp>
            <p:nvSpPr>
              <p:cNvPr id="185" name="TextBox 185"/>
              <p:cNvSpPr txBox="1"/>
              <p:nvPr/>
            </p:nvSpPr>
            <p:spPr>
              <a:xfrm>
                <a:off x="8853488" y="4306014"/>
                <a:ext cx="22222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存款</a:t>
                </a:r>
              </a:p>
            </p:txBody>
          </p:sp>
          <p:sp>
            <p:nvSpPr>
              <p:cNvPr id="186" name="Rectangle 186"/>
              <p:cNvSpPr/>
              <p:nvPr/>
            </p:nvSpPr>
            <p:spPr>
              <a:xfrm>
                <a:off x="9296400" y="4305300"/>
                <a:ext cx="114300" cy="95250"/>
              </a:xfrm>
              <a:prstGeom prst="rect">
                <a:avLst/>
              </a:prstGeom>
              <a:solidFill>
                <a:srgbClr val="C9482E"/>
              </a:solidFill>
              <a:ln>
                <a:noFill/>
              </a:ln>
            </p:spPr>
          </p:sp>
          <p:sp>
            <p:nvSpPr>
              <p:cNvPr id="187" name="TextBox 187"/>
              <p:cNvSpPr txBox="1"/>
              <p:nvPr/>
            </p:nvSpPr>
            <p:spPr>
              <a:xfrm>
                <a:off x="9463088" y="4306014"/>
                <a:ext cx="22222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理财</a:t>
                </a:r>
              </a:p>
            </p:txBody>
          </p:sp>
          <p:sp>
            <p:nvSpPr>
              <p:cNvPr id="188" name="Rectangle 188"/>
              <p:cNvSpPr/>
              <p:nvPr/>
            </p:nvSpPr>
            <p:spPr>
              <a:xfrm>
                <a:off x="9906000" y="4305300"/>
                <a:ext cx="114300" cy="95250"/>
              </a:xfrm>
              <a:prstGeom prst="rect">
                <a:avLst/>
              </a:prstGeom>
              <a:solidFill>
                <a:srgbClr val="D9705B"/>
              </a:solidFill>
              <a:ln>
                <a:noFill/>
              </a:ln>
            </p:spPr>
          </p:sp>
          <p:sp>
            <p:nvSpPr>
              <p:cNvPr id="189" name="TextBox 189"/>
              <p:cNvSpPr txBox="1"/>
              <p:nvPr/>
            </p:nvSpPr>
            <p:spPr>
              <a:xfrm>
                <a:off x="10072688" y="4306014"/>
                <a:ext cx="22222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基金</a:t>
                </a:r>
              </a:p>
            </p:txBody>
          </p:sp>
          <p:sp>
            <p:nvSpPr>
              <p:cNvPr id="190" name="Rectangle 190"/>
              <p:cNvSpPr/>
              <p:nvPr/>
            </p:nvSpPr>
            <p:spPr>
              <a:xfrm>
                <a:off x="10515600" y="4305300"/>
                <a:ext cx="114300" cy="95250"/>
              </a:xfrm>
              <a:prstGeom prst="rect">
                <a:avLst/>
              </a:prstGeom>
              <a:solidFill>
                <a:srgbClr val="E8B4A9"/>
              </a:solidFill>
              <a:ln>
                <a:noFill/>
              </a:ln>
            </p:spPr>
          </p:sp>
          <p:sp>
            <p:nvSpPr>
              <p:cNvPr id="191" name="TextBox 191"/>
              <p:cNvSpPr txBox="1"/>
              <p:nvPr/>
            </p:nvSpPr>
            <p:spPr>
              <a:xfrm>
                <a:off x="10682288" y="4306014"/>
                <a:ext cx="22222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保险</a:t>
                </a:r>
              </a:p>
            </p:txBody>
          </p:sp>
          <p:sp>
            <p:nvSpPr>
              <p:cNvPr id="192" name="Rectangle 192"/>
              <p:cNvSpPr/>
              <p:nvPr/>
            </p:nvSpPr>
            <p:spPr>
              <a:xfrm>
                <a:off x="11125200" y="4305300"/>
                <a:ext cx="114300" cy="95250"/>
              </a:xfrm>
              <a:prstGeom prst="rect">
                <a:avLst/>
              </a:prstGeom>
              <a:solidFill>
                <a:srgbClr val="DCE6F8"/>
              </a:solidFill>
              <a:ln>
                <a:noFill/>
              </a:ln>
            </p:spPr>
          </p:sp>
          <p:sp>
            <p:nvSpPr>
              <p:cNvPr id="193" name="TextBox 193"/>
              <p:cNvSpPr txBox="1"/>
              <p:nvPr/>
            </p:nvSpPr>
            <p:spPr>
              <a:xfrm>
                <a:off x="11291888" y="4306014"/>
                <a:ext cx="328574"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贵金属</a:t>
                </a:r>
              </a:p>
            </p:txBody>
          </p:sp>
        </p:grpSp>
      </p:grpSp>
      <p:grpSp>
        <p:nvGrpSpPr>
          <p:cNvPr id="242" name="kpi-band"/>
          <p:cNvGrpSpPr/>
          <p:nvPr/>
        </p:nvGrpSpPr>
        <p:grpSpPr>
          <a:xfrm>
            <a:off x="266700" y="4667250"/>
            <a:ext cx="11658600" cy="1524000"/>
            <a:chOff x="266700" y="4667250"/>
            <a:chExt cx="11658600" cy="1524000"/>
          </a:xfrm>
        </p:grpSpPr>
        <p:sp>
          <p:nvSpPr>
            <p:cNvPr id="196" name="Rectangle 196"/>
            <p:cNvSpPr/>
            <p:nvPr/>
          </p:nvSpPr>
          <p:spPr>
            <a:xfrm>
              <a:off x="266700" y="4667250"/>
              <a:ext cx="11658600" cy="1524000"/>
            </a:xfrm>
            <a:prstGeom prst="roundRect">
              <a:avLst>
                <a:gd name="adj" fmla="val 6250"/>
              </a:avLst>
            </a:prstGeom>
            <a:solidFill>
              <a:srgbClr val="FFFFFF"/>
            </a:solidFill>
            <a:ln w="9525">
              <a:solidFill>
                <a:srgbClr val="D7E2F2"/>
              </a:solidFill>
            </a:ln>
          </p:spPr>
        </p:sp>
        <p:sp>
          <p:nvSpPr>
            <p:cNvPr id="197" name="Line 197"/>
            <p:cNvSpPr/>
            <p:nvPr/>
          </p:nvSpPr>
          <p:spPr>
            <a:xfrm>
              <a:off x="2600325" y="4953000"/>
              <a:ext cx="9525" cy="952500"/>
            </a:xfrm>
            <a:custGeom>
              <a:avLst/>
              <a:gdLst/>
              <a:ahLst/>
              <a:cxnLst/>
              <a:rect l="l" t="t" r="r" b="b"/>
              <a:pathLst>
                <a:path w="9525" h="952500">
                  <a:moveTo>
                    <a:pt x="0" y="0"/>
                  </a:moveTo>
                  <a:lnTo>
                    <a:pt x="0" y="952500"/>
                  </a:lnTo>
                </a:path>
              </a:pathLst>
            </a:custGeom>
            <a:noFill/>
            <a:ln w="9525">
              <a:solidFill>
                <a:srgbClr val="D7E2F2"/>
              </a:solidFill>
            </a:ln>
          </p:spPr>
        </p:sp>
        <p:sp>
          <p:nvSpPr>
            <p:cNvPr id="198" name="Line 198"/>
            <p:cNvSpPr/>
            <p:nvPr/>
          </p:nvSpPr>
          <p:spPr>
            <a:xfrm>
              <a:off x="4933950" y="4953000"/>
              <a:ext cx="9525" cy="952500"/>
            </a:xfrm>
            <a:custGeom>
              <a:avLst/>
              <a:gdLst/>
              <a:ahLst/>
              <a:cxnLst/>
              <a:rect l="l" t="t" r="r" b="b"/>
              <a:pathLst>
                <a:path w="9525" h="952500">
                  <a:moveTo>
                    <a:pt x="0" y="0"/>
                  </a:moveTo>
                  <a:lnTo>
                    <a:pt x="0" y="952500"/>
                  </a:lnTo>
                </a:path>
              </a:pathLst>
            </a:custGeom>
            <a:noFill/>
            <a:ln w="9525">
              <a:solidFill>
                <a:srgbClr val="D7E2F2"/>
              </a:solidFill>
            </a:ln>
          </p:spPr>
        </p:sp>
        <p:sp>
          <p:nvSpPr>
            <p:cNvPr id="199" name="Line 199"/>
            <p:cNvSpPr/>
            <p:nvPr/>
          </p:nvSpPr>
          <p:spPr>
            <a:xfrm>
              <a:off x="7267575" y="4953000"/>
              <a:ext cx="9525" cy="952500"/>
            </a:xfrm>
            <a:custGeom>
              <a:avLst/>
              <a:gdLst/>
              <a:ahLst/>
              <a:cxnLst/>
              <a:rect l="l" t="t" r="r" b="b"/>
              <a:pathLst>
                <a:path w="9525" h="952500">
                  <a:moveTo>
                    <a:pt x="0" y="0"/>
                  </a:moveTo>
                  <a:lnTo>
                    <a:pt x="0" y="952500"/>
                  </a:lnTo>
                </a:path>
              </a:pathLst>
            </a:custGeom>
            <a:noFill/>
            <a:ln w="9525">
              <a:solidFill>
                <a:srgbClr val="D7E2F2"/>
              </a:solidFill>
            </a:ln>
          </p:spPr>
        </p:sp>
        <p:sp>
          <p:nvSpPr>
            <p:cNvPr id="200" name="Line 200"/>
            <p:cNvSpPr/>
            <p:nvPr/>
          </p:nvSpPr>
          <p:spPr>
            <a:xfrm>
              <a:off x="9601200" y="4953000"/>
              <a:ext cx="9525" cy="952500"/>
            </a:xfrm>
            <a:custGeom>
              <a:avLst/>
              <a:gdLst/>
              <a:ahLst/>
              <a:cxnLst/>
              <a:rect l="l" t="t" r="r" b="b"/>
              <a:pathLst>
                <a:path w="9525" h="952500">
                  <a:moveTo>
                    <a:pt x="0" y="0"/>
                  </a:moveTo>
                  <a:lnTo>
                    <a:pt x="0" y="952500"/>
                  </a:lnTo>
                </a:path>
              </a:pathLst>
            </a:custGeom>
            <a:noFill/>
            <a:ln w="9525">
              <a:solidFill>
                <a:srgbClr val="D7E2F2"/>
              </a:solidFill>
            </a:ln>
          </p:spPr>
        </p:sp>
        <p:grpSp>
          <p:nvGrpSpPr>
            <p:cNvPr id="209" name="kpi-1"/>
            <p:cNvGrpSpPr/>
            <p:nvPr/>
          </p:nvGrpSpPr>
          <p:grpSpPr>
            <a:xfrm>
              <a:off x="495300" y="5124450"/>
              <a:ext cx="1829344" cy="819912"/>
              <a:chOff x="495300" y="5124450"/>
              <a:chExt cx="1829344" cy="819912"/>
            </a:xfrm>
          </p:grpSpPr>
          <p:sp>
            <p:nvSpPr>
              <p:cNvPr id="201" name="Ellipse 201"/>
              <p:cNvSpPr/>
              <p:nvPr/>
            </p:nvSpPr>
            <p:spPr>
              <a:xfrm>
                <a:off x="495300" y="5124450"/>
                <a:ext cx="609600" cy="609600"/>
              </a:xfrm>
              <a:prstGeom prst="ellipse">
                <a:avLst/>
              </a:prstGeom>
              <a:solidFill>
                <a:srgbClr val="841600"/>
              </a:solidFill>
              <a:ln>
                <a:noFill/>
              </a:ln>
            </p:spPr>
          </p:sp>
          <p:grpSp>
            <p:nvGrpSpPr>
              <p:cNvPr id="205" name="Group 205"/>
              <p:cNvGrpSpPr/>
              <p:nvPr/>
            </p:nvGrpSpPr>
            <p:grpSpPr>
              <a:xfrm>
                <a:off x="685800" y="5300662"/>
                <a:ext cx="228600" cy="257176"/>
                <a:chOff x="685800" y="5300662"/>
                <a:chExt cx="228600" cy="257176"/>
              </a:xfrm>
            </p:grpSpPr>
            <p:sp>
              <p:nvSpPr>
                <p:cNvPr id="202" name="Freeform 202"/>
                <p:cNvSpPr/>
                <p:nvPr/>
              </p:nvSpPr>
              <p:spPr>
                <a:xfrm>
                  <a:off x="685800" y="5300662"/>
                  <a:ext cx="228600" cy="85725"/>
                </a:xfrm>
                <a:custGeom>
                  <a:avLst/>
                  <a:gdLst/>
                  <a:ahLst/>
                  <a:cxnLst/>
                  <a:rect l="l" t="t" r="r" b="b"/>
                  <a:pathLst>
                    <a:path w="228600" h="85725">
                      <a:moveTo>
                        <a:pt x="0" y="42862"/>
                      </a:moveTo>
                      <a:cubicBezTo>
                        <a:pt x="0" y="66535"/>
                        <a:pt x="51174" y="85725"/>
                        <a:pt x="114300" y="85725"/>
                      </a:cubicBezTo>
                      <a:cubicBezTo>
                        <a:pt x="177426" y="85725"/>
                        <a:pt x="228600" y="66535"/>
                        <a:pt x="228600" y="42862"/>
                      </a:cubicBezTo>
                      <a:cubicBezTo>
                        <a:pt x="228600" y="19190"/>
                        <a:pt x="177426" y="0"/>
                        <a:pt x="114300" y="0"/>
                      </a:cubicBezTo>
                      <a:cubicBezTo>
                        <a:pt x="51174" y="0"/>
                        <a:pt x="0" y="19190"/>
                        <a:pt x="0" y="42862"/>
                      </a:cubicBezTo>
                    </a:path>
                  </a:pathLst>
                </a:custGeom>
                <a:noFill/>
                <a:ln w="21431">
                  <a:solidFill>
                    <a:srgbClr val="FFFFFF"/>
                  </a:solidFill>
                </a:ln>
              </p:spPr>
            </p:sp>
            <p:sp>
              <p:nvSpPr>
                <p:cNvPr id="203" name="Freeform 203"/>
                <p:cNvSpPr/>
                <p:nvPr/>
              </p:nvSpPr>
              <p:spPr>
                <a:xfrm>
                  <a:off x="685800" y="5343525"/>
                  <a:ext cx="228600" cy="128588"/>
                </a:xfrm>
                <a:custGeom>
                  <a:avLst/>
                  <a:gdLst/>
                  <a:ahLst/>
                  <a:cxnLst/>
                  <a:rect l="l" t="t" r="r" b="b"/>
                  <a:pathLst>
                    <a:path w="228600" h="128588">
                      <a:moveTo>
                        <a:pt x="0" y="0"/>
                      </a:moveTo>
                      <a:lnTo>
                        <a:pt x="0" y="85725"/>
                      </a:lnTo>
                      <a:cubicBezTo>
                        <a:pt x="0" y="109397"/>
                        <a:pt x="51174" y="128588"/>
                        <a:pt x="114300" y="128588"/>
                      </a:cubicBezTo>
                      <a:cubicBezTo>
                        <a:pt x="177426" y="128588"/>
                        <a:pt x="228600" y="109397"/>
                        <a:pt x="228600" y="85725"/>
                      </a:cubicBezTo>
                      <a:lnTo>
                        <a:pt x="228600" y="0"/>
                      </a:lnTo>
                    </a:path>
                  </a:pathLst>
                </a:custGeom>
                <a:noFill/>
                <a:ln w="21431">
                  <a:solidFill>
                    <a:srgbClr val="FFFFFF"/>
                  </a:solidFill>
                </a:ln>
              </p:spPr>
            </p:sp>
            <p:sp>
              <p:nvSpPr>
                <p:cNvPr id="204" name="Freeform 204"/>
                <p:cNvSpPr/>
                <p:nvPr/>
              </p:nvSpPr>
              <p:spPr>
                <a:xfrm>
                  <a:off x="685800" y="5429250"/>
                  <a:ext cx="228600" cy="128588"/>
                </a:xfrm>
                <a:custGeom>
                  <a:avLst/>
                  <a:gdLst/>
                  <a:ahLst/>
                  <a:cxnLst/>
                  <a:rect l="l" t="t" r="r" b="b"/>
                  <a:pathLst>
                    <a:path w="228600" h="128588">
                      <a:moveTo>
                        <a:pt x="0" y="0"/>
                      </a:moveTo>
                      <a:lnTo>
                        <a:pt x="0" y="85725"/>
                      </a:lnTo>
                      <a:cubicBezTo>
                        <a:pt x="0" y="109397"/>
                        <a:pt x="51174" y="128588"/>
                        <a:pt x="114300" y="128588"/>
                      </a:cubicBezTo>
                      <a:cubicBezTo>
                        <a:pt x="177426" y="128588"/>
                        <a:pt x="228600" y="109397"/>
                        <a:pt x="228600" y="85725"/>
                      </a:cubicBezTo>
                      <a:lnTo>
                        <a:pt x="228600" y="0"/>
                      </a:lnTo>
                    </a:path>
                  </a:pathLst>
                </a:custGeom>
                <a:noFill/>
                <a:ln w="21431">
                  <a:solidFill>
                    <a:srgbClr val="FFFFFF"/>
                  </a:solidFill>
                </a:ln>
              </p:spPr>
            </p:sp>
          </p:grpSp>
          <p:sp>
            <p:nvSpPr>
              <p:cNvPr id="206" name="TextBox 206"/>
              <p:cNvSpPr txBox="1"/>
              <p:nvPr/>
            </p:nvSpPr>
            <p:spPr>
              <a:xfrm>
                <a:off x="1251966" y="5182552"/>
                <a:ext cx="293370"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财富</a:t>
                </a:r>
              </a:p>
            </p:txBody>
          </p:sp>
          <p:sp>
            <p:nvSpPr>
              <p:cNvPr id="207" name="TextBox 207"/>
              <p:cNvSpPr txBox="1"/>
              <p:nvPr/>
            </p:nvSpPr>
            <p:spPr>
              <a:xfrm>
                <a:off x="1537716" y="5182552"/>
                <a:ext cx="342558" cy="205359"/>
              </a:xfrm>
              <a:prstGeom prst="rect">
                <a:avLst/>
              </a:prstGeom>
              <a:noFill/>
              <a:ln>
                <a:noFill/>
              </a:ln>
            </p:spPr>
            <p:txBody>
              <a:bodyPr wrap="none" lIns="0" tIns="0" rIns="0" bIns="0" anchor="t" anchorCtr="0">
                <a:spAutoFit/>
              </a:bodyPr>
              <a:lstStyle/>
              <a:p>
                <a:pPr algn="l"/>
                <a:r>
                  <a:rPr lang="en-US" sz="1050" dirty="0">
                    <a:solidFill>
                      <a:srgbClr val="7E605A"/>
                    </a:solidFill>
                    <a:latin typeface="Arial"/>
                    <a:ea typeface="Arial"/>
                    <a:cs typeface="Arial"/>
                  </a:rPr>
                  <a:t>AUM</a:t>
                </a:r>
              </a:p>
            </p:txBody>
          </p:sp>
          <p:sp>
            <p:nvSpPr>
              <p:cNvPr id="208" name="TextBox 208"/>
              <p:cNvSpPr txBox="1"/>
              <p:nvPr/>
            </p:nvSpPr>
            <p:spPr>
              <a:xfrm>
                <a:off x="1245108" y="5474970"/>
                <a:ext cx="1079536"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+45</a:t>
                </a:r>
                <a:r>
                  <a:rPr lang="zh-CN" sz="1280" b="1" dirty="0">
                    <a:solidFill>
                      <a:srgbClr val="841600"/>
                    </a:solidFill>
                    <a:latin typeface="+mn-lt"/>
                    <a:ea typeface="+mn-ea"/>
                    <a:cs typeface="+mn-cs"/>
                  </a:rPr>
                  <a:t>亿</a:t>
                </a:r>
                <a:r>
                  <a:rPr lang="zh-CN" sz="2400" b="1" dirty="0">
                    <a:solidFill>
                      <a:srgbClr val="841600"/>
                    </a:solidFill>
                    <a:latin typeface="+mn-lt"/>
                    <a:ea typeface="+mn-ea"/>
                    <a:cs typeface="+mn-cs"/>
                  </a:rPr>
                  <a:t xml:space="preserve">　</a:t>
                </a:r>
              </a:p>
            </p:txBody>
          </p:sp>
        </p:grpSp>
        <p:grpSp>
          <p:nvGrpSpPr>
            <p:cNvPr id="220" name="kpi-2"/>
            <p:cNvGrpSpPr/>
            <p:nvPr/>
          </p:nvGrpSpPr>
          <p:grpSpPr>
            <a:xfrm>
              <a:off x="2828925" y="5124450"/>
              <a:ext cx="2030197" cy="819912"/>
              <a:chOff x="2828925" y="5124450"/>
              <a:chExt cx="2030197" cy="819912"/>
            </a:xfrm>
          </p:grpSpPr>
          <p:sp>
            <p:nvSpPr>
              <p:cNvPr id="210" name="Ellipse 210"/>
              <p:cNvSpPr/>
              <p:nvPr/>
            </p:nvSpPr>
            <p:spPr>
              <a:xfrm>
                <a:off x="2828925" y="5124450"/>
                <a:ext cx="609600" cy="609600"/>
              </a:xfrm>
              <a:prstGeom prst="ellipse">
                <a:avLst/>
              </a:prstGeom>
              <a:solidFill>
                <a:srgbClr val="841600"/>
              </a:solidFill>
              <a:ln>
                <a:noFill/>
              </a:ln>
            </p:spPr>
          </p:sp>
          <p:grpSp>
            <p:nvGrpSpPr>
              <p:cNvPr id="217" name="Group 217"/>
              <p:cNvGrpSpPr/>
              <p:nvPr/>
            </p:nvGrpSpPr>
            <p:grpSpPr>
              <a:xfrm>
                <a:off x="3005138" y="5300662"/>
                <a:ext cx="257174" cy="257175"/>
                <a:chOff x="3005138" y="5300662"/>
                <a:chExt cx="257174" cy="257175"/>
              </a:xfrm>
            </p:grpSpPr>
            <p:sp>
              <p:nvSpPr>
                <p:cNvPr id="211" name="Freeform 211"/>
                <p:cNvSpPr/>
                <p:nvPr/>
              </p:nvSpPr>
              <p:spPr>
                <a:xfrm>
                  <a:off x="3105150" y="54149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FFFFFF"/>
                  </a:solidFill>
                </a:ln>
              </p:spPr>
            </p:sp>
            <p:sp>
              <p:nvSpPr>
                <p:cNvPr id="212" name="Freeform 212"/>
                <p:cNvSpPr/>
                <p:nvPr/>
              </p:nvSpPr>
              <p:spPr>
                <a:xfrm>
                  <a:off x="3076575" y="5514975"/>
                  <a:ext cx="114300" cy="42862"/>
                </a:xfrm>
                <a:custGeom>
                  <a:avLst/>
                  <a:gdLst/>
                  <a:ahLst/>
                  <a:cxnLst/>
                  <a:rect l="l" t="t" r="r" b="b"/>
                  <a:pathLst>
                    <a:path w="114300" h="42862">
                      <a:moveTo>
                        <a:pt x="0" y="42862"/>
                      </a:moveTo>
                      <a:lnTo>
                        <a:pt x="0" y="28575"/>
                      </a:lnTo>
                      <a:cubicBezTo>
                        <a:pt x="0" y="12793"/>
                        <a:pt x="12793" y="0"/>
                        <a:pt x="28575" y="0"/>
                      </a:cubicBezTo>
                      <a:lnTo>
                        <a:pt x="85725" y="0"/>
                      </a:lnTo>
                      <a:cubicBezTo>
                        <a:pt x="101507" y="0"/>
                        <a:pt x="114300" y="12793"/>
                        <a:pt x="114300" y="28575"/>
                      </a:cubicBezTo>
                      <a:lnTo>
                        <a:pt x="114300" y="42862"/>
                      </a:lnTo>
                    </a:path>
                  </a:pathLst>
                </a:custGeom>
                <a:noFill/>
                <a:ln w="21431">
                  <a:solidFill>
                    <a:srgbClr val="FFFFFF"/>
                  </a:solidFill>
                </a:ln>
              </p:spPr>
            </p:sp>
            <p:sp>
              <p:nvSpPr>
                <p:cNvPr id="213" name="Freeform 213"/>
                <p:cNvSpPr/>
                <p:nvPr/>
              </p:nvSpPr>
              <p:spPr>
                <a:xfrm>
                  <a:off x="3176588" y="53006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FFFFFF"/>
                  </a:solidFill>
                </a:ln>
              </p:spPr>
            </p:sp>
            <p:sp>
              <p:nvSpPr>
                <p:cNvPr id="214" name="Freeform 214"/>
                <p:cNvSpPr/>
                <p:nvPr/>
              </p:nvSpPr>
              <p:spPr>
                <a:xfrm>
                  <a:off x="3205162" y="5400675"/>
                  <a:ext cx="57150" cy="42862"/>
                </a:xfrm>
                <a:custGeom>
                  <a:avLst/>
                  <a:gdLst/>
                  <a:ahLst/>
                  <a:cxnLst/>
                  <a:rect l="l" t="t" r="r" b="b"/>
                  <a:pathLst>
                    <a:path w="57150" h="42862">
                      <a:moveTo>
                        <a:pt x="0" y="0"/>
                      </a:moveTo>
                      <a:lnTo>
                        <a:pt x="28575" y="0"/>
                      </a:lnTo>
                      <a:cubicBezTo>
                        <a:pt x="44357" y="0"/>
                        <a:pt x="57150" y="12793"/>
                        <a:pt x="57150" y="28575"/>
                      </a:cubicBezTo>
                      <a:lnTo>
                        <a:pt x="57150" y="42862"/>
                      </a:lnTo>
                    </a:path>
                  </a:pathLst>
                </a:custGeom>
                <a:noFill/>
                <a:ln w="21431">
                  <a:solidFill>
                    <a:srgbClr val="FFFFFF"/>
                  </a:solidFill>
                </a:ln>
              </p:spPr>
            </p:sp>
            <p:sp>
              <p:nvSpPr>
                <p:cNvPr id="215" name="Freeform 215"/>
                <p:cNvSpPr/>
                <p:nvPr/>
              </p:nvSpPr>
              <p:spPr>
                <a:xfrm>
                  <a:off x="3033712" y="53006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FFFFFF"/>
                  </a:solidFill>
                </a:ln>
              </p:spPr>
            </p:sp>
            <p:sp>
              <p:nvSpPr>
                <p:cNvPr id="216" name="Freeform 216"/>
                <p:cNvSpPr/>
                <p:nvPr/>
              </p:nvSpPr>
              <p:spPr>
                <a:xfrm>
                  <a:off x="3005138" y="5400675"/>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21431">
                  <a:solidFill>
                    <a:srgbClr val="FFFFFF"/>
                  </a:solidFill>
                </a:ln>
              </p:spPr>
            </p:sp>
          </p:grpSp>
          <p:sp>
            <p:nvSpPr>
              <p:cNvPr id="218" name="TextBox 218"/>
              <p:cNvSpPr txBox="1"/>
              <p:nvPr/>
            </p:nvSpPr>
            <p:spPr>
              <a:xfrm>
                <a:off x="3585591" y="5182552"/>
                <a:ext cx="293370"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客户</a:t>
                </a:r>
              </a:p>
            </p:txBody>
          </p:sp>
          <p:sp>
            <p:nvSpPr>
              <p:cNvPr id="219" name="TextBox 219"/>
              <p:cNvSpPr txBox="1"/>
              <p:nvPr/>
            </p:nvSpPr>
            <p:spPr>
              <a:xfrm>
                <a:off x="3578733" y="5474970"/>
                <a:ext cx="1280389"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 xml:space="preserve">+1800　</a:t>
                </a:r>
              </a:p>
            </p:txBody>
          </p:sp>
        </p:grpSp>
        <p:grpSp>
          <p:nvGrpSpPr>
            <p:cNvPr id="227" name="kpi-3"/>
            <p:cNvGrpSpPr/>
            <p:nvPr/>
          </p:nvGrpSpPr>
          <p:grpSpPr>
            <a:xfrm>
              <a:off x="5162550" y="5124450"/>
              <a:ext cx="1792727" cy="819912"/>
              <a:chOff x="5162550" y="5124450"/>
              <a:chExt cx="1792727" cy="819912"/>
            </a:xfrm>
          </p:grpSpPr>
          <p:sp>
            <p:nvSpPr>
              <p:cNvPr id="221" name="Ellipse 221"/>
              <p:cNvSpPr/>
              <p:nvPr/>
            </p:nvSpPr>
            <p:spPr>
              <a:xfrm>
                <a:off x="5162550" y="5124450"/>
                <a:ext cx="609600" cy="609600"/>
              </a:xfrm>
              <a:prstGeom prst="ellipse">
                <a:avLst/>
              </a:prstGeom>
              <a:solidFill>
                <a:srgbClr val="841600"/>
              </a:solidFill>
              <a:ln>
                <a:noFill/>
              </a:ln>
            </p:spPr>
          </p:sp>
          <p:grpSp>
            <p:nvGrpSpPr>
              <p:cNvPr id="224" name="Group 224"/>
              <p:cNvGrpSpPr/>
              <p:nvPr/>
            </p:nvGrpSpPr>
            <p:grpSpPr>
              <a:xfrm>
                <a:off x="5353050" y="5343525"/>
                <a:ext cx="228600" cy="195262"/>
                <a:chOff x="5353050" y="5343525"/>
                <a:chExt cx="228600" cy="195262"/>
              </a:xfrm>
            </p:grpSpPr>
            <p:sp>
              <p:nvSpPr>
                <p:cNvPr id="222" name="Freeform 222"/>
                <p:cNvSpPr/>
                <p:nvPr/>
              </p:nvSpPr>
              <p:spPr>
                <a:xfrm>
                  <a:off x="5353050" y="5529262"/>
                  <a:ext cx="228600" cy="9525"/>
                </a:xfrm>
                <a:custGeom>
                  <a:avLst/>
                  <a:gdLst/>
                  <a:ahLst/>
                  <a:cxnLst/>
                  <a:rect l="l" t="t" r="r" b="b"/>
                  <a:pathLst>
                    <a:path w="228600" h="9525">
                      <a:moveTo>
                        <a:pt x="0" y="0"/>
                      </a:moveTo>
                      <a:lnTo>
                        <a:pt x="228600" y="0"/>
                      </a:lnTo>
                    </a:path>
                  </a:pathLst>
                </a:custGeom>
                <a:noFill/>
                <a:ln w="21431">
                  <a:solidFill>
                    <a:srgbClr val="FFFFFF"/>
                  </a:solidFill>
                </a:ln>
              </p:spPr>
            </p:sp>
            <p:sp>
              <p:nvSpPr>
                <p:cNvPr id="223" name="Freeform 223"/>
                <p:cNvSpPr/>
                <p:nvPr/>
              </p:nvSpPr>
              <p:spPr>
                <a:xfrm>
                  <a:off x="5353050" y="5343525"/>
                  <a:ext cx="228600" cy="128588"/>
                </a:xfrm>
                <a:custGeom>
                  <a:avLst/>
                  <a:gdLst/>
                  <a:ahLst/>
                  <a:cxnLst/>
                  <a:rect l="l" t="t" r="r" b="b"/>
                  <a:pathLst>
                    <a:path w="228600" h="128588">
                      <a:moveTo>
                        <a:pt x="0" y="128588"/>
                      </a:moveTo>
                      <a:lnTo>
                        <a:pt x="57150" y="42862"/>
                      </a:lnTo>
                      <a:lnTo>
                        <a:pt x="114300" y="71438"/>
                      </a:lnTo>
                      <a:lnTo>
                        <a:pt x="171450" y="0"/>
                      </a:lnTo>
                      <a:lnTo>
                        <a:pt x="228600" y="57150"/>
                      </a:lnTo>
                    </a:path>
                  </a:pathLst>
                </a:custGeom>
                <a:noFill/>
                <a:ln w="21431">
                  <a:solidFill>
                    <a:srgbClr val="FFFFFF"/>
                  </a:solidFill>
                </a:ln>
              </p:spPr>
            </p:sp>
          </p:grpSp>
          <p:sp>
            <p:nvSpPr>
              <p:cNvPr id="225" name="TextBox 225"/>
              <p:cNvSpPr txBox="1"/>
              <p:nvPr/>
            </p:nvSpPr>
            <p:spPr>
              <a:xfrm>
                <a:off x="5919216" y="5182552"/>
                <a:ext cx="293370"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中收</a:t>
                </a:r>
              </a:p>
            </p:txBody>
          </p:sp>
          <p:sp>
            <p:nvSpPr>
              <p:cNvPr id="226" name="TextBox 226"/>
              <p:cNvSpPr txBox="1"/>
              <p:nvPr/>
            </p:nvSpPr>
            <p:spPr>
              <a:xfrm>
                <a:off x="5912358" y="5474970"/>
                <a:ext cx="1042919"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+12</a:t>
                </a:r>
                <a:r>
                  <a:rPr lang="zh-CN" sz="1280" b="1" dirty="0">
                    <a:solidFill>
                      <a:srgbClr val="841600"/>
                    </a:solidFill>
                    <a:latin typeface="+mn-lt"/>
                    <a:ea typeface="+mn-ea"/>
                    <a:cs typeface="+mn-cs"/>
                  </a:rPr>
                  <a:t>%</a:t>
                </a:r>
                <a:r>
                  <a:rPr lang="zh-CN" sz="2400" b="1" dirty="0">
                    <a:solidFill>
                      <a:srgbClr val="841600"/>
                    </a:solidFill>
                    <a:latin typeface="+mn-lt"/>
                    <a:ea typeface="+mn-ea"/>
                    <a:cs typeface="+mn-cs"/>
                  </a:rPr>
                  <a:t xml:space="preserve">　</a:t>
                </a:r>
              </a:p>
            </p:txBody>
          </p:sp>
        </p:grpSp>
        <p:grpSp>
          <p:nvGrpSpPr>
            <p:cNvPr id="234" name="kpi-4"/>
            <p:cNvGrpSpPr/>
            <p:nvPr/>
          </p:nvGrpSpPr>
          <p:grpSpPr>
            <a:xfrm>
              <a:off x="7496175" y="5124450"/>
              <a:ext cx="2015927" cy="819912"/>
              <a:chOff x="7496175" y="5124450"/>
              <a:chExt cx="2015927" cy="819912"/>
            </a:xfrm>
          </p:grpSpPr>
          <p:sp>
            <p:nvSpPr>
              <p:cNvPr id="228" name="Ellipse 228"/>
              <p:cNvSpPr/>
              <p:nvPr/>
            </p:nvSpPr>
            <p:spPr>
              <a:xfrm>
                <a:off x="7496175" y="5124450"/>
                <a:ext cx="609600" cy="609600"/>
              </a:xfrm>
              <a:prstGeom prst="ellipse">
                <a:avLst/>
              </a:prstGeom>
              <a:solidFill>
                <a:srgbClr val="841600"/>
              </a:solidFill>
              <a:ln>
                <a:noFill/>
              </a:ln>
            </p:spPr>
          </p:sp>
          <p:grpSp>
            <p:nvGrpSpPr>
              <p:cNvPr id="231" name="Group 231"/>
              <p:cNvGrpSpPr/>
              <p:nvPr/>
            </p:nvGrpSpPr>
            <p:grpSpPr>
              <a:xfrm>
                <a:off x="7668405" y="5303119"/>
                <a:ext cx="258300" cy="258701"/>
                <a:chOff x="7668405" y="5303119"/>
                <a:chExt cx="258300" cy="258701"/>
              </a:xfrm>
            </p:grpSpPr>
            <p:sp>
              <p:nvSpPr>
                <p:cNvPr id="229" name="Freeform 229"/>
                <p:cNvSpPr/>
                <p:nvPr/>
              </p:nvSpPr>
              <p:spPr>
                <a:xfrm>
                  <a:off x="7668405" y="5303119"/>
                  <a:ext cx="258300" cy="258701"/>
                </a:xfrm>
                <a:custGeom>
                  <a:avLst/>
                  <a:gdLst/>
                  <a:ahLst/>
                  <a:cxnLst/>
                  <a:rect l="l" t="t" r="r" b="b"/>
                  <a:pathLst>
                    <a:path w="258300" h="258701">
                      <a:moveTo>
                        <a:pt x="103995" y="401"/>
                      </a:moveTo>
                      <a:cubicBezTo>
                        <a:pt x="42130" y="14742"/>
                        <a:pt x="0" y="72099"/>
                        <a:pt x="4818" y="135421"/>
                      </a:cubicBezTo>
                      <a:cubicBezTo>
                        <a:pt x="9635" y="198743"/>
                        <a:pt x="59958" y="249066"/>
                        <a:pt x="123280" y="253883"/>
                      </a:cubicBezTo>
                      <a:cubicBezTo>
                        <a:pt x="186602" y="258701"/>
                        <a:pt x="243958" y="216570"/>
                        <a:pt x="258300" y="154706"/>
                      </a:cubicBezTo>
                      <a:cubicBezTo>
                        <a:pt x="258300" y="146815"/>
                        <a:pt x="251903" y="140418"/>
                        <a:pt x="244013" y="140418"/>
                      </a:cubicBezTo>
                      <a:lnTo>
                        <a:pt x="146858" y="140418"/>
                      </a:lnTo>
                      <a:cubicBezTo>
                        <a:pt x="131076" y="140418"/>
                        <a:pt x="118283" y="127625"/>
                        <a:pt x="118283" y="111843"/>
                      </a:cubicBezTo>
                      <a:lnTo>
                        <a:pt x="118283" y="11831"/>
                      </a:lnTo>
                      <a:cubicBezTo>
                        <a:pt x="117924" y="8412"/>
                        <a:pt x="116211" y="5278"/>
                        <a:pt x="113527" y="3131"/>
                      </a:cubicBezTo>
                      <a:cubicBezTo>
                        <a:pt x="110842" y="983"/>
                        <a:pt x="107409" y="0"/>
                        <a:pt x="103995" y="401"/>
                      </a:cubicBezTo>
                    </a:path>
                  </a:pathLst>
                </a:custGeom>
                <a:noFill/>
                <a:ln w="21431">
                  <a:solidFill>
                    <a:srgbClr val="FFFFFF"/>
                  </a:solidFill>
                </a:ln>
              </p:spPr>
            </p:sp>
            <p:sp>
              <p:nvSpPr>
                <p:cNvPr id="230" name="Freeform 230"/>
                <p:cNvSpPr/>
                <p:nvPr/>
              </p:nvSpPr>
              <p:spPr>
                <a:xfrm>
                  <a:off x="7843838" y="5307806"/>
                  <a:ext cx="78581" cy="78581"/>
                </a:xfrm>
                <a:custGeom>
                  <a:avLst/>
                  <a:gdLst/>
                  <a:ahLst/>
                  <a:cxnLst/>
                  <a:rect l="l" t="t" r="r" b="b"/>
                  <a:pathLst>
                    <a:path w="78581" h="78581">
                      <a:moveTo>
                        <a:pt x="0" y="0"/>
                      </a:moveTo>
                      <a:cubicBezTo>
                        <a:pt x="36745" y="12938"/>
                        <a:pt x="65643" y="41837"/>
                        <a:pt x="78581" y="78581"/>
                      </a:cubicBezTo>
                      <a:lnTo>
                        <a:pt x="14288" y="78581"/>
                      </a:lnTo>
                      <a:cubicBezTo>
                        <a:pt x="6397" y="78581"/>
                        <a:pt x="0" y="72185"/>
                        <a:pt x="0" y="64294"/>
                      </a:cubicBezTo>
                      <a:lnTo>
                        <a:pt x="0" y="0"/>
                      </a:lnTo>
                    </a:path>
                  </a:pathLst>
                </a:custGeom>
                <a:noFill/>
                <a:ln w="21431">
                  <a:solidFill>
                    <a:srgbClr val="FFFFFF"/>
                  </a:solidFill>
                </a:ln>
              </p:spPr>
            </p:sp>
          </p:grpSp>
          <p:sp>
            <p:nvSpPr>
              <p:cNvPr id="232" name="TextBox 232"/>
              <p:cNvSpPr txBox="1"/>
              <p:nvPr/>
            </p:nvSpPr>
            <p:spPr>
              <a:xfrm>
                <a:off x="8252841" y="5182552"/>
                <a:ext cx="717423"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产品渗透率</a:t>
                </a:r>
              </a:p>
            </p:txBody>
          </p:sp>
          <p:sp>
            <p:nvSpPr>
              <p:cNvPr id="233" name="TextBox 233"/>
              <p:cNvSpPr txBox="1"/>
              <p:nvPr/>
            </p:nvSpPr>
            <p:spPr>
              <a:xfrm>
                <a:off x="8245983" y="5474970"/>
                <a:ext cx="1266119"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+0.3</a:t>
                </a:r>
                <a:r>
                  <a:rPr lang="zh-CN" sz="1280" b="1" dirty="0">
                    <a:solidFill>
                      <a:srgbClr val="841600"/>
                    </a:solidFill>
                    <a:latin typeface="+mn-lt"/>
                    <a:ea typeface="+mn-ea"/>
                    <a:cs typeface="+mn-cs"/>
                  </a:rPr>
                  <a:t>个</a:t>
                </a:r>
                <a:r>
                  <a:rPr lang="zh-CN" sz="2400" b="1" dirty="0">
                    <a:solidFill>
                      <a:srgbClr val="841600"/>
                    </a:solidFill>
                    <a:latin typeface="+mn-lt"/>
                    <a:ea typeface="+mn-ea"/>
                    <a:cs typeface="+mn-cs"/>
                  </a:rPr>
                  <a:t xml:space="preserve">　</a:t>
                </a:r>
              </a:p>
            </p:txBody>
          </p:sp>
        </p:grpSp>
        <p:grpSp>
          <p:nvGrpSpPr>
            <p:cNvPr id="241" name="kpi-5"/>
            <p:cNvGrpSpPr/>
            <p:nvPr/>
          </p:nvGrpSpPr>
          <p:grpSpPr>
            <a:xfrm>
              <a:off x="9829800" y="5124450"/>
              <a:ext cx="1792727" cy="819912"/>
              <a:chOff x="9829800" y="5124450"/>
              <a:chExt cx="1792727" cy="819912"/>
            </a:xfrm>
          </p:grpSpPr>
          <p:sp>
            <p:nvSpPr>
              <p:cNvPr id="235" name="Ellipse 235"/>
              <p:cNvSpPr/>
              <p:nvPr/>
            </p:nvSpPr>
            <p:spPr>
              <a:xfrm>
                <a:off x="9829800" y="5124450"/>
                <a:ext cx="609600" cy="609600"/>
              </a:xfrm>
              <a:prstGeom prst="ellipse">
                <a:avLst/>
              </a:prstGeom>
              <a:solidFill>
                <a:srgbClr val="841600"/>
              </a:solidFill>
              <a:ln>
                <a:noFill/>
              </a:ln>
            </p:spPr>
          </p:sp>
          <p:grpSp>
            <p:nvGrpSpPr>
              <p:cNvPr id="238" name="Group 238"/>
              <p:cNvGrpSpPr/>
              <p:nvPr/>
            </p:nvGrpSpPr>
            <p:grpSpPr>
              <a:xfrm>
                <a:off x="9986731" y="5300662"/>
                <a:ext cx="279010" cy="257176"/>
                <a:chOff x="9986731" y="5300662"/>
                <a:chExt cx="279010" cy="257176"/>
              </a:xfrm>
            </p:grpSpPr>
            <p:sp>
              <p:nvSpPr>
                <p:cNvPr id="236" name="Freeform 236"/>
                <p:cNvSpPr/>
                <p:nvPr/>
              </p:nvSpPr>
              <p:spPr>
                <a:xfrm>
                  <a:off x="9986731" y="530066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21431">
                  <a:solidFill>
                    <a:srgbClr val="FFFFFF"/>
                  </a:solidFill>
                </a:ln>
              </p:spPr>
            </p:sp>
            <p:sp>
              <p:nvSpPr>
                <p:cNvPr id="237" name="Freeform 237"/>
                <p:cNvSpPr/>
                <p:nvPr/>
              </p:nvSpPr>
              <p:spPr>
                <a:xfrm>
                  <a:off x="10177462" y="5500688"/>
                  <a:ext cx="85725" cy="57150"/>
                </a:xfrm>
                <a:custGeom>
                  <a:avLst/>
                  <a:gdLst/>
                  <a:ahLst/>
                  <a:cxnLst/>
                  <a:rect l="l" t="t" r="r" b="b"/>
                  <a:pathLst>
                    <a:path w="85725" h="57150">
                      <a:moveTo>
                        <a:pt x="0" y="28575"/>
                      </a:moveTo>
                      <a:lnTo>
                        <a:pt x="28575" y="57150"/>
                      </a:lnTo>
                      <a:lnTo>
                        <a:pt x="85725" y="0"/>
                      </a:lnTo>
                    </a:path>
                  </a:pathLst>
                </a:custGeom>
                <a:noFill/>
                <a:ln w="21431">
                  <a:solidFill>
                    <a:srgbClr val="FFFFFF"/>
                  </a:solidFill>
                </a:ln>
              </p:spPr>
            </p:sp>
          </p:grpSp>
          <p:sp>
            <p:nvSpPr>
              <p:cNvPr id="239" name="TextBox 239"/>
              <p:cNvSpPr txBox="1"/>
              <p:nvPr/>
            </p:nvSpPr>
            <p:spPr>
              <a:xfrm>
                <a:off x="10586466" y="5182552"/>
                <a:ext cx="434721" cy="205359"/>
              </a:xfrm>
              <a:prstGeom prst="rect">
                <a:avLst/>
              </a:prstGeom>
              <a:noFill/>
              <a:ln>
                <a:noFill/>
              </a:ln>
            </p:spPr>
            <p:txBody>
              <a:bodyPr wrap="none" lIns="0" tIns="0" rIns="0" bIns="0" anchor="t" anchorCtr="0">
                <a:spAutoFit/>
              </a:bodyPr>
              <a:lstStyle/>
              <a:p>
                <a:pPr algn="l"/>
                <a:r>
                  <a:rPr lang="zh-CN" sz="1050" dirty="0">
                    <a:solidFill>
                      <a:srgbClr val="7E605A"/>
                    </a:solidFill>
                    <a:latin typeface="+mn-lt"/>
                    <a:ea typeface="+mn-ea"/>
                    <a:cs typeface="+mn-cs"/>
                  </a:rPr>
                  <a:t>留存率</a:t>
                </a:r>
              </a:p>
            </p:txBody>
          </p:sp>
          <p:sp>
            <p:nvSpPr>
              <p:cNvPr id="240" name="TextBox 240"/>
              <p:cNvSpPr txBox="1"/>
              <p:nvPr/>
            </p:nvSpPr>
            <p:spPr>
              <a:xfrm>
                <a:off x="10579608" y="5474970"/>
                <a:ext cx="1042919" cy="469392"/>
              </a:xfrm>
              <a:prstGeom prst="rect">
                <a:avLst/>
              </a:prstGeom>
              <a:noFill/>
              <a:ln>
                <a:noFill/>
              </a:ln>
            </p:spPr>
            <p:txBody>
              <a:bodyPr wrap="none" lIns="0" tIns="0" rIns="0" bIns="0" anchor="t" anchorCtr="0">
                <a:spAutoFit/>
              </a:bodyPr>
              <a:lstStyle/>
              <a:p>
                <a:pPr algn="l"/>
                <a:r>
                  <a:rPr lang="zh-CN" sz="2400" b="1" dirty="0">
                    <a:solidFill>
                      <a:srgbClr val="841600"/>
                    </a:solidFill>
                    <a:latin typeface="+mn-lt"/>
                    <a:ea typeface="+mn-ea"/>
                    <a:cs typeface="+mn-cs"/>
                  </a:rPr>
                  <a:t>≥96</a:t>
                </a:r>
                <a:r>
                  <a:rPr lang="zh-CN" sz="1280" b="1" dirty="0">
                    <a:solidFill>
                      <a:srgbClr val="841600"/>
                    </a:solidFill>
                    <a:latin typeface="+mn-lt"/>
                    <a:ea typeface="+mn-ea"/>
                    <a:cs typeface="+mn-cs"/>
                  </a:rPr>
                  <a:t>%</a:t>
                </a:r>
                <a:r>
                  <a:rPr lang="zh-CN" sz="2400" b="1" dirty="0">
                    <a:solidFill>
                      <a:srgbClr val="841600"/>
                    </a:solidFill>
                    <a:latin typeface="+mn-lt"/>
                    <a:ea typeface="+mn-ea"/>
                    <a:cs typeface="+mn-cs"/>
                  </a:rPr>
                  <a:t xml:space="preserve">　</a:t>
                </a:r>
              </a:p>
            </p:txBody>
          </p:sp>
        </p:grpSp>
      </p:gr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09</a:t>
              </a:r>
            </a:p>
          </p:txBody>
        </p:sp>
        <p:sp>
          <p:nvSpPr>
            <p:cNvPr id="4" name="TextBox 4"/>
            <p:cNvSpPr txBox="1"/>
            <p:nvPr/>
          </p:nvSpPr>
          <p:spPr>
            <a:xfrm>
              <a:off x="942594" y="151448"/>
              <a:ext cx="8618220"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信用卡与消费金融部</a:t>
              </a:r>
              <a:r>
                <a:rPr lang="zh-CN" sz="1950" b="1" dirty="0">
                  <a:solidFill>
                    <a:srgbClr val="1A1A1A"/>
                  </a:solidFill>
                  <a:latin typeface="SimSun"/>
                  <a:ea typeface="SimSun"/>
                  <a:cs typeface="SimSun"/>
                </a:rPr>
                <a:t>｜以活跃经营替代单纯发卡，以场景促进消费增长</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39" name="customer-funnel"/>
          <p:cNvGrpSpPr/>
          <p:nvPr/>
        </p:nvGrpSpPr>
        <p:grpSpPr>
          <a:xfrm>
            <a:off x="266700" y="704850"/>
            <a:ext cx="2590800" cy="4591050"/>
            <a:chOff x="266700" y="704850"/>
            <a:chExt cx="2590800" cy="4591050"/>
          </a:xfrm>
        </p:grpSpPr>
        <p:sp>
          <p:nvSpPr>
            <p:cNvPr id="7" name="Rectangle 7"/>
            <p:cNvSpPr/>
            <p:nvPr/>
          </p:nvSpPr>
          <p:spPr>
            <a:xfrm>
              <a:off x="266700" y="704850"/>
              <a:ext cx="2590800" cy="4591050"/>
            </a:xfrm>
            <a:prstGeom prst="roundRect">
              <a:avLst>
                <a:gd name="adj" fmla="val 3676"/>
              </a:avLst>
            </a:prstGeom>
            <a:solidFill>
              <a:srgbClr val="FFFFFF"/>
            </a:solidFill>
            <a:ln w="9525">
              <a:solidFill>
                <a:srgbClr val="D7E2F2"/>
              </a:solidFill>
            </a:ln>
          </p:spPr>
        </p:sp>
        <p:sp>
          <p:nvSpPr>
            <p:cNvPr id="8" name="Rectangle 8"/>
            <p:cNvSpPr/>
            <p:nvPr/>
          </p:nvSpPr>
          <p:spPr>
            <a:xfrm>
              <a:off x="266700" y="704850"/>
              <a:ext cx="2590800" cy="381000"/>
            </a:xfrm>
            <a:prstGeom prst="roundRect">
              <a:avLst>
                <a:gd name="adj" fmla="val 25000"/>
              </a:avLst>
            </a:prstGeom>
            <a:solidFill>
              <a:srgbClr val="841600"/>
            </a:solidFill>
            <a:ln>
              <a:noFill/>
            </a:ln>
          </p:spPr>
        </p:sp>
        <p:sp>
          <p:nvSpPr>
            <p:cNvPr id="9" name="Rectangle 9"/>
            <p:cNvSpPr/>
            <p:nvPr/>
          </p:nvSpPr>
          <p:spPr>
            <a:xfrm>
              <a:off x="266700" y="914400"/>
              <a:ext cx="2590800" cy="171450"/>
            </a:xfrm>
            <a:prstGeom prst="rect">
              <a:avLst/>
            </a:prstGeom>
            <a:solidFill>
              <a:srgbClr val="841600"/>
            </a:solidFill>
            <a:ln>
              <a:noFill/>
            </a:ln>
          </p:spPr>
        </p:sp>
        <p:sp>
          <p:nvSpPr>
            <p:cNvPr id="10" name="TextBox 10"/>
            <p:cNvSpPr txBox="1"/>
            <p:nvPr/>
          </p:nvSpPr>
          <p:spPr>
            <a:xfrm>
              <a:off x="1071372" y="83248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客户运营漏斗</a:t>
              </a:r>
            </a:p>
          </p:txBody>
        </p:sp>
        <p:sp>
          <p:nvSpPr>
            <p:cNvPr id="11" name="Freeform 11"/>
            <p:cNvSpPr/>
            <p:nvPr/>
          </p:nvSpPr>
          <p:spPr>
            <a:xfrm rot="10800000">
              <a:off x="419100" y="1238250"/>
              <a:ext cx="2286000" cy="590550"/>
            </a:xfrm>
            <a:prstGeom prst="trapezoid">
              <a:avLst>
                <a:gd name="adj" fmla="val 28226"/>
              </a:avLst>
            </a:prstGeom>
            <a:solidFill>
              <a:srgbClr val="841600"/>
            </a:solidFill>
            <a:ln>
              <a:noFill/>
            </a:ln>
          </p:spPr>
        </p:sp>
        <p:sp>
          <p:nvSpPr>
            <p:cNvPr id="12" name="Freeform 12"/>
            <p:cNvSpPr/>
            <p:nvPr/>
          </p:nvSpPr>
          <p:spPr>
            <a:xfrm rot="10800000">
              <a:off x="585787" y="1943100"/>
              <a:ext cx="1952625" cy="590550"/>
            </a:xfrm>
            <a:prstGeom prst="trapezoid">
              <a:avLst>
                <a:gd name="adj" fmla="val 28226"/>
              </a:avLst>
            </a:prstGeom>
            <a:solidFill>
              <a:srgbClr val="9F331D"/>
            </a:solidFill>
            <a:ln>
              <a:noFill/>
            </a:ln>
          </p:spPr>
        </p:sp>
        <p:sp>
          <p:nvSpPr>
            <p:cNvPr id="13" name="Freeform 13"/>
            <p:cNvSpPr/>
            <p:nvPr/>
          </p:nvSpPr>
          <p:spPr>
            <a:xfrm rot="10800000">
              <a:off x="752475" y="2647950"/>
              <a:ext cx="1619250" cy="590550"/>
            </a:xfrm>
            <a:prstGeom prst="trapezoid">
              <a:avLst>
                <a:gd name="adj" fmla="val 28226"/>
              </a:avLst>
            </a:prstGeom>
            <a:solidFill>
              <a:srgbClr val="C9482E"/>
            </a:solidFill>
            <a:ln>
              <a:noFill/>
            </a:ln>
          </p:spPr>
        </p:sp>
        <p:sp>
          <p:nvSpPr>
            <p:cNvPr id="14" name="Freeform 14"/>
            <p:cNvSpPr/>
            <p:nvPr/>
          </p:nvSpPr>
          <p:spPr>
            <a:xfrm rot="10800000">
              <a:off x="919162" y="3352800"/>
              <a:ext cx="1285875" cy="590550"/>
            </a:xfrm>
            <a:prstGeom prst="trapezoid">
              <a:avLst>
                <a:gd name="adj" fmla="val 28226"/>
              </a:avLst>
            </a:prstGeom>
            <a:solidFill>
              <a:srgbClr val="D6624A"/>
            </a:solidFill>
            <a:ln>
              <a:noFill/>
            </a:ln>
          </p:spPr>
        </p:sp>
        <p:grpSp>
          <p:nvGrpSpPr>
            <p:cNvPr id="19" name="Group 19"/>
            <p:cNvGrpSpPr/>
            <p:nvPr/>
          </p:nvGrpSpPr>
          <p:grpSpPr>
            <a:xfrm>
              <a:off x="1016794" y="1472406"/>
              <a:ext cx="157163" cy="122238"/>
              <a:chOff x="1016794" y="1472406"/>
              <a:chExt cx="157163" cy="122238"/>
            </a:xfrm>
          </p:grpSpPr>
          <p:sp>
            <p:nvSpPr>
              <p:cNvPr id="15" name="Freeform 15"/>
              <p:cNvSpPr/>
              <p:nvPr/>
            </p:nvSpPr>
            <p:spPr>
              <a:xfrm>
                <a:off x="1016794" y="1472406"/>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7463">
                <a:solidFill>
                  <a:srgbClr val="FFFFFF"/>
                </a:solidFill>
              </a:ln>
            </p:spPr>
          </p:sp>
          <p:sp>
            <p:nvSpPr>
              <p:cNvPr id="16" name="Freeform 16"/>
              <p:cNvSpPr/>
              <p:nvPr/>
            </p:nvSpPr>
            <p:spPr>
              <a:xfrm>
                <a:off x="1016794" y="1516063"/>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17" name="Freeform 17"/>
              <p:cNvSpPr/>
              <p:nvPr/>
            </p:nvSpPr>
            <p:spPr>
              <a:xfrm>
                <a:off x="1051719" y="1559719"/>
                <a:ext cx="9525" cy="9525"/>
              </a:xfrm>
              <a:custGeom>
                <a:avLst/>
                <a:gdLst/>
                <a:ahLst/>
                <a:cxnLst/>
                <a:rect l="l" t="t" r="r" b="b"/>
                <a:pathLst>
                  <a:path w="9525" h="9525">
                    <a:moveTo>
                      <a:pt x="0" y="0"/>
                    </a:moveTo>
                    <a:lnTo>
                      <a:pt x="87" y="0"/>
                    </a:lnTo>
                  </a:path>
                </a:pathLst>
              </a:custGeom>
              <a:noFill/>
              <a:ln w="17463">
                <a:solidFill>
                  <a:srgbClr val="FFFFFF"/>
                </a:solidFill>
              </a:ln>
            </p:spPr>
          </p:sp>
          <p:sp>
            <p:nvSpPr>
              <p:cNvPr id="18" name="Freeform 18"/>
              <p:cNvSpPr/>
              <p:nvPr/>
            </p:nvSpPr>
            <p:spPr>
              <a:xfrm>
                <a:off x="1086644" y="1559719"/>
                <a:ext cx="17463" cy="9525"/>
              </a:xfrm>
              <a:custGeom>
                <a:avLst/>
                <a:gdLst/>
                <a:ahLst/>
                <a:cxnLst/>
                <a:rect l="l" t="t" r="r" b="b"/>
                <a:pathLst>
                  <a:path w="17463" h="9525">
                    <a:moveTo>
                      <a:pt x="0" y="0"/>
                    </a:moveTo>
                    <a:lnTo>
                      <a:pt x="17463" y="0"/>
                    </a:lnTo>
                  </a:path>
                </a:pathLst>
              </a:custGeom>
              <a:noFill/>
              <a:ln w="17463">
                <a:solidFill>
                  <a:srgbClr val="FFFFFF"/>
                </a:solidFill>
              </a:ln>
            </p:spPr>
          </p:sp>
        </p:grpSp>
        <p:sp>
          <p:nvSpPr>
            <p:cNvPr id="20" name="TextBox 20"/>
            <p:cNvSpPr txBox="1"/>
            <p:nvPr/>
          </p:nvSpPr>
          <p:spPr>
            <a:xfrm>
              <a:off x="1271016" y="147732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发卡客户</a:t>
              </a:r>
            </a:p>
          </p:txBody>
        </p:sp>
        <p:sp>
          <p:nvSpPr>
            <p:cNvPr id="21" name="Polygon 21"/>
            <p:cNvSpPr/>
            <p:nvPr/>
          </p:nvSpPr>
          <p:spPr>
            <a:xfrm>
              <a:off x="1504950" y="1847850"/>
              <a:ext cx="114300" cy="76200"/>
            </a:xfrm>
            <a:custGeom>
              <a:avLst/>
              <a:gdLst/>
              <a:ahLst/>
              <a:cxnLst/>
              <a:rect l="l" t="t" r="r" b="b"/>
              <a:pathLst>
                <a:path w="114300" h="76200">
                  <a:moveTo>
                    <a:pt x="0" y="0"/>
                  </a:moveTo>
                  <a:lnTo>
                    <a:pt x="114300" y="0"/>
                  </a:lnTo>
                  <a:lnTo>
                    <a:pt x="57150" y="76200"/>
                  </a:lnTo>
                  <a:close/>
                </a:path>
              </a:pathLst>
            </a:custGeom>
            <a:solidFill>
              <a:srgbClr val="C9482E"/>
            </a:solidFill>
            <a:ln>
              <a:noFill/>
            </a:ln>
          </p:spPr>
        </p:sp>
        <p:grpSp>
          <p:nvGrpSpPr>
            <p:cNvPr id="25" name="Group 25"/>
            <p:cNvGrpSpPr/>
            <p:nvPr/>
          </p:nvGrpSpPr>
          <p:grpSpPr>
            <a:xfrm>
              <a:off x="1100138" y="2159794"/>
              <a:ext cx="104775" cy="157163"/>
              <a:chOff x="1100138" y="2159794"/>
              <a:chExt cx="104775" cy="157163"/>
            </a:xfrm>
          </p:grpSpPr>
          <p:sp>
            <p:nvSpPr>
              <p:cNvPr id="22" name="Freeform 22"/>
              <p:cNvSpPr/>
              <p:nvPr/>
            </p:nvSpPr>
            <p:spPr>
              <a:xfrm>
                <a:off x="1100138" y="2159794"/>
                <a:ext cx="104775" cy="157163"/>
              </a:xfrm>
              <a:custGeom>
                <a:avLst/>
                <a:gdLst/>
                <a:ahLst/>
                <a:cxnLst/>
                <a:rect l="l" t="t" r="r" b="b"/>
                <a:pathLst>
                  <a:path w="104775" h="157163">
                    <a:moveTo>
                      <a:pt x="0" y="17463"/>
                    </a:moveTo>
                    <a:cubicBezTo>
                      <a:pt x="0" y="7818"/>
                      <a:pt x="7818" y="0"/>
                      <a:pt x="17463" y="0"/>
                    </a:cubicBezTo>
                    <a:lnTo>
                      <a:pt x="87313" y="0"/>
                    </a:lnTo>
                    <a:cubicBezTo>
                      <a:pt x="96957" y="0"/>
                      <a:pt x="104775" y="7818"/>
                      <a:pt x="104775" y="17463"/>
                    </a:cubicBezTo>
                    <a:lnTo>
                      <a:pt x="104775" y="139700"/>
                    </a:lnTo>
                    <a:cubicBezTo>
                      <a:pt x="104775" y="149344"/>
                      <a:pt x="96957" y="157163"/>
                      <a:pt x="87313" y="157163"/>
                    </a:cubicBezTo>
                    <a:lnTo>
                      <a:pt x="17463" y="157163"/>
                    </a:lnTo>
                    <a:cubicBezTo>
                      <a:pt x="7818" y="157163"/>
                      <a:pt x="0" y="149344"/>
                      <a:pt x="0" y="139700"/>
                    </a:cubicBezTo>
                    <a:lnTo>
                      <a:pt x="0" y="17463"/>
                    </a:lnTo>
                  </a:path>
                </a:pathLst>
              </a:custGeom>
              <a:noFill/>
              <a:ln w="17463">
                <a:solidFill>
                  <a:srgbClr val="FFFFFF"/>
                </a:solidFill>
              </a:ln>
            </p:spPr>
          </p:sp>
          <p:sp>
            <p:nvSpPr>
              <p:cNvPr id="23" name="Freeform 23"/>
              <p:cNvSpPr/>
              <p:nvPr/>
            </p:nvSpPr>
            <p:spPr>
              <a:xfrm>
                <a:off x="1143794" y="2168525"/>
                <a:ext cx="17463" cy="9525"/>
              </a:xfrm>
              <a:custGeom>
                <a:avLst/>
                <a:gdLst/>
                <a:ahLst/>
                <a:cxnLst/>
                <a:rect l="l" t="t" r="r" b="b"/>
                <a:pathLst>
                  <a:path w="17463" h="9525">
                    <a:moveTo>
                      <a:pt x="0" y="0"/>
                    </a:moveTo>
                    <a:lnTo>
                      <a:pt x="17463" y="0"/>
                    </a:lnTo>
                  </a:path>
                </a:pathLst>
              </a:custGeom>
              <a:noFill/>
              <a:ln w="17463">
                <a:solidFill>
                  <a:srgbClr val="FFFFFF"/>
                </a:solidFill>
              </a:ln>
            </p:spPr>
          </p:sp>
          <p:sp>
            <p:nvSpPr>
              <p:cNvPr id="24" name="Freeform 24"/>
              <p:cNvSpPr/>
              <p:nvPr/>
            </p:nvSpPr>
            <p:spPr>
              <a:xfrm>
                <a:off x="1152525" y="2282031"/>
                <a:ext cx="9525" cy="9525"/>
              </a:xfrm>
              <a:custGeom>
                <a:avLst/>
                <a:gdLst/>
                <a:ahLst/>
                <a:cxnLst/>
                <a:rect l="l" t="t" r="r" b="b"/>
                <a:pathLst>
                  <a:path w="9525" h="9525">
                    <a:moveTo>
                      <a:pt x="0" y="0"/>
                    </a:moveTo>
                    <a:lnTo>
                      <a:pt x="0" y="87"/>
                    </a:lnTo>
                  </a:path>
                </a:pathLst>
              </a:custGeom>
              <a:noFill/>
              <a:ln w="17463">
                <a:solidFill>
                  <a:srgbClr val="FFFFFF"/>
                </a:solidFill>
              </a:ln>
            </p:spPr>
          </p:sp>
        </p:grpSp>
        <p:sp>
          <p:nvSpPr>
            <p:cNvPr id="26" name="TextBox 26"/>
            <p:cNvSpPr txBox="1"/>
            <p:nvPr/>
          </p:nvSpPr>
          <p:spPr>
            <a:xfrm>
              <a:off x="1328166" y="21821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激活客户</a:t>
              </a:r>
            </a:p>
          </p:txBody>
        </p:sp>
        <p:sp>
          <p:nvSpPr>
            <p:cNvPr id="27" name="Polygon 27"/>
            <p:cNvSpPr/>
            <p:nvPr/>
          </p:nvSpPr>
          <p:spPr>
            <a:xfrm>
              <a:off x="1504950" y="2552700"/>
              <a:ext cx="114300" cy="76200"/>
            </a:xfrm>
            <a:custGeom>
              <a:avLst/>
              <a:gdLst/>
              <a:ahLst/>
              <a:cxnLst/>
              <a:rect l="l" t="t" r="r" b="b"/>
              <a:pathLst>
                <a:path w="114300" h="76200">
                  <a:moveTo>
                    <a:pt x="0" y="0"/>
                  </a:moveTo>
                  <a:lnTo>
                    <a:pt x="114300" y="0"/>
                  </a:lnTo>
                  <a:lnTo>
                    <a:pt x="57150" y="76200"/>
                  </a:lnTo>
                  <a:close/>
                </a:path>
              </a:pathLst>
            </a:custGeom>
            <a:solidFill>
              <a:srgbClr val="C9482E"/>
            </a:solidFill>
            <a:ln>
              <a:noFill/>
            </a:ln>
          </p:spPr>
        </p:sp>
        <p:grpSp>
          <p:nvGrpSpPr>
            <p:cNvPr id="30" name="Group 30"/>
            <p:cNvGrpSpPr/>
            <p:nvPr/>
          </p:nvGrpSpPr>
          <p:grpSpPr>
            <a:xfrm>
              <a:off x="1131094" y="2899569"/>
              <a:ext cx="157163" cy="87313"/>
              <a:chOff x="1131094" y="2899569"/>
              <a:chExt cx="157163" cy="87313"/>
            </a:xfrm>
          </p:grpSpPr>
          <p:sp>
            <p:nvSpPr>
              <p:cNvPr id="28" name="Freeform 28"/>
              <p:cNvSpPr/>
              <p:nvPr/>
            </p:nvSpPr>
            <p:spPr>
              <a:xfrm>
                <a:off x="1131094" y="289956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FFFFFF"/>
                </a:solidFill>
              </a:ln>
            </p:spPr>
          </p:sp>
          <p:sp>
            <p:nvSpPr>
              <p:cNvPr id="29" name="Freeform 29"/>
              <p:cNvSpPr/>
              <p:nvPr/>
            </p:nvSpPr>
            <p:spPr>
              <a:xfrm>
                <a:off x="1227138" y="2899569"/>
                <a:ext cx="61119" cy="61119"/>
              </a:xfrm>
              <a:custGeom>
                <a:avLst/>
                <a:gdLst/>
                <a:ahLst/>
                <a:cxnLst/>
                <a:rect l="l" t="t" r="r" b="b"/>
                <a:pathLst>
                  <a:path w="61119" h="61119">
                    <a:moveTo>
                      <a:pt x="0" y="0"/>
                    </a:moveTo>
                    <a:lnTo>
                      <a:pt x="61119" y="0"/>
                    </a:lnTo>
                    <a:lnTo>
                      <a:pt x="61119" y="61119"/>
                    </a:lnTo>
                  </a:path>
                </a:pathLst>
              </a:custGeom>
              <a:noFill/>
              <a:ln w="17463">
                <a:solidFill>
                  <a:srgbClr val="FFFFFF"/>
                </a:solidFill>
              </a:ln>
            </p:spPr>
          </p:sp>
        </p:grpSp>
        <p:sp>
          <p:nvSpPr>
            <p:cNvPr id="31" name="TextBox 31"/>
            <p:cNvSpPr txBox="1"/>
            <p:nvPr/>
          </p:nvSpPr>
          <p:spPr>
            <a:xfrm>
              <a:off x="1385316" y="288702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活跃客户</a:t>
              </a:r>
            </a:p>
          </p:txBody>
        </p:sp>
        <p:sp>
          <p:nvSpPr>
            <p:cNvPr id="32" name="Polygon 32"/>
            <p:cNvSpPr/>
            <p:nvPr/>
          </p:nvSpPr>
          <p:spPr>
            <a:xfrm>
              <a:off x="1504950" y="3257550"/>
              <a:ext cx="114300" cy="76200"/>
            </a:xfrm>
            <a:custGeom>
              <a:avLst/>
              <a:gdLst/>
              <a:ahLst/>
              <a:cxnLst/>
              <a:rect l="l" t="t" r="r" b="b"/>
              <a:pathLst>
                <a:path w="114300" h="76200">
                  <a:moveTo>
                    <a:pt x="0" y="0"/>
                  </a:moveTo>
                  <a:lnTo>
                    <a:pt x="114300" y="0"/>
                  </a:lnTo>
                  <a:lnTo>
                    <a:pt x="57150" y="76200"/>
                  </a:lnTo>
                  <a:close/>
                </a:path>
              </a:pathLst>
            </a:custGeom>
            <a:solidFill>
              <a:srgbClr val="C9482E"/>
            </a:solidFill>
            <a:ln>
              <a:noFill/>
            </a:ln>
          </p:spPr>
        </p:sp>
        <p:grpSp>
          <p:nvGrpSpPr>
            <p:cNvPr id="35" name="Group 35"/>
            <p:cNvGrpSpPr/>
            <p:nvPr/>
          </p:nvGrpSpPr>
          <p:grpSpPr>
            <a:xfrm>
              <a:off x="1088231" y="3540919"/>
              <a:ext cx="128588" cy="105085"/>
              <a:chOff x="1088231" y="3540919"/>
              <a:chExt cx="128588" cy="105085"/>
            </a:xfrm>
          </p:grpSpPr>
          <p:sp>
            <p:nvSpPr>
              <p:cNvPr id="33" name="Freeform 33"/>
              <p:cNvSpPr/>
              <p:nvPr/>
            </p:nvSpPr>
            <p:spPr>
              <a:xfrm>
                <a:off x="1088231" y="3540919"/>
                <a:ext cx="128588" cy="105085"/>
              </a:xfrm>
              <a:custGeom>
                <a:avLst/>
                <a:gdLst/>
                <a:ahLst/>
                <a:cxnLst/>
                <a:rect l="l" t="t" r="r" b="b"/>
                <a:pathLst>
                  <a:path w="128588" h="105085">
                    <a:moveTo>
                      <a:pt x="21431" y="0"/>
                    </a:moveTo>
                    <a:lnTo>
                      <a:pt x="107156" y="0"/>
                    </a:lnTo>
                    <a:lnTo>
                      <a:pt x="128588" y="35719"/>
                    </a:lnTo>
                    <a:lnTo>
                      <a:pt x="67866" y="103584"/>
                    </a:lnTo>
                    <a:cubicBezTo>
                      <a:pt x="66925" y="104544"/>
                      <a:pt x="65638" y="105085"/>
                      <a:pt x="64294" y="105085"/>
                    </a:cubicBezTo>
                    <a:cubicBezTo>
                      <a:pt x="62950" y="105085"/>
                      <a:pt x="61662" y="104544"/>
                      <a:pt x="60722" y="103584"/>
                    </a:cubicBezTo>
                    <a:lnTo>
                      <a:pt x="0" y="35719"/>
                    </a:lnTo>
                    <a:lnTo>
                      <a:pt x="21431" y="0"/>
                    </a:lnTo>
                  </a:path>
                </a:pathLst>
              </a:custGeom>
              <a:noFill/>
              <a:ln w="14288">
                <a:solidFill>
                  <a:srgbClr val="FFFFFF"/>
                </a:solidFill>
              </a:ln>
            </p:spPr>
          </p:sp>
          <p:sp>
            <p:nvSpPr>
              <p:cNvPr id="34" name="Freeform 34"/>
              <p:cNvSpPr/>
              <p:nvPr/>
            </p:nvSpPr>
            <p:spPr>
              <a:xfrm>
                <a:off x="1123950" y="3568065"/>
                <a:ext cx="14288" cy="22860"/>
              </a:xfrm>
              <a:custGeom>
                <a:avLst/>
                <a:gdLst/>
                <a:ahLst/>
                <a:cxnLst/>
                <a:rect l="l" t="t" r="r" b="b"/>
                <a:pathLst>
                  <a:path w="14288" h="22860">
                    <a:moveTo>
                      <a:pt x="14288" y="22860"/>
                    </a:moveTo>
                    <a:lnTo>
                      <a:pt x="0" y="7144"/>
                    </a:lnTo>
                    <a:lnTo>
                      <a:pt x="4286" y="0"/>
                    </a:lnTo>
                  </a:path>
                </a:pathLst>
              </a:custGeom>
              <a:noFill/>
              <a:ln w="14288">
                <a:solidFill>
                  <a:srgbClr val="FFFFFF"/>
                </a:solidFill>
              </a:ln>
            </p:spPr>
          </p:sp>
        </p:grpSp>
        <p:sp>
          <p:nvSpPr>
            <p:cNvPr id="36" name="TextBox 36"/>
            <p:cNvSpPr txBox="1"/>
            <p:nvPr/>
          </p:nvSpPr>
          <p:spPr>
            <a:xfrm>
              <a:off x="1139103" y="3701891"/>
              <a:ext cx="84599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高额/高价值客户</a:t>
              </a:r>
            </a:p>
          </p:txBody>
        </p:sp>
        <p:sp>
          <p:nvSpPr>
            <p:cNvPr id="37" name="Rectangle 37"/>
            <p:cNvSpPr/>
            <p:nvPr/>
          </p:nvSpPr>
          <p:spPr>
            <a:xfrm>
              <a:off x="419100" y="4191000"/>
              <a:ext cx="2286000" cy="419100"/>
            </a:xfrm>
            <a:prstGeom prst="roundRect">
              <a:avLst>
                <a:gd name="adj" fmla="val 13636"/>
              </a:avLst>
            </a:prstGeom>
            <a:solidFill>
              <a:srgbClr val="EFF5FD"/>
            </a:solidFill>
            <a:ln>
              <a:noFill/>
            </a:ln>
          </p:spPr>
        </p:sp>
        <p:sp>
          <p:nvSpPr>
            <p:cNvPr id="38" name="TextBox 38"/>
            <p:cNvSpPr txBox="1"/>
            <p:nvPr/>
          </p:nvSpPr>
          <p:spPr>
            <a:xfrm>
              <a:off x="809142" y="4348401"/>
              <a:ext cx="1505915" cy="198025"/>
            </a:xfrm>
            <a:prstGeom prst="rect">
              <a:avLst/>
            </a:prstGeom>
            <a:noFill/>
            <a:ln>
              <a:noFill/>
            </a:ln>
          </p:spPr>
          <p:txBody>
            <a:bodyPr wrap="none" lIns="0" tIns="0" rIns="0" bIns="0" anchor="t" anchorCtr="0">
              <a:spAutoFit/>
            </a:bodyPr>
            <a:lstStyle/>
            <a:p>
              <a:pPr algn="ctr"/>
              <a:r>
                <a:rPr lang="zh-CN" sz="1010" b="1" dirty="0">
                  <a:solidFill>
                    <a:srgbClr val="841600"/>
                  </a:solidFill>
                  <a:latin typeface="+mn-lt"/>
                  <a:ea typeface="+mn-ea"/>
                  <a:cs typeface="+mn-cs"/>
                </a:rPr>
                <a:t>从发卡量转向活跃与交易</a:t>
              </a:r>
            </a:p>
          </p:txBody>
        </p:sp>
      </p:grpSp>
      <p:grpSp>
        <p:nvGrpSpPr>
          <p:cNvPr id="89" name="consumption-scenes"/>
          <p:cNvGrpSpPr/>
          <p:nvPr/>
        </p:nvGrpSpPr>
        <p:grpSpPr>
          <a:xfrm>
            <a:off x="2971800" y="704850"/>
            <a:ext cx="5600700" cy="4591050"/>
            <a:chOff x="2971800" y="704850"/>
            <a:chExt cx="5600700" cy="4591050"/>
          </a:xfrm>
        </p:grpSpPr>
        <p:sp>
          <p:nvSpPr>
            <p:cNvPr id="40" name="Rectangle 40"/>
            <p:cNvSpPr/>
            <p:nvPr/>
          </p:nvSpPr>
          <p:spPr>
            <a:xfrm>
              <a:off x="2971800" y="704850"/>
              <a:ext cx="5600700" cy="4591050"/>
            </a:xfrm>
            <a:prstGeom prst="roundRect">
              <a:avLst>
                <a:gd name="adj" fmla="val 2075"/>
              </a:avLst>
            </a:prstGeom>
            <a:solidFill>
              <a:srgbClr val="FFFFFF"/>
            </a:solidFill>
            <a:ln w="9525">
              <a:solidFill>
                <a:srgbClr val="D7E2F2"/>
              </a:solidFill>
            </a:ln>
          </p:spPr>
        </p:sp>
        <p:sp>
          <p:nvSpPr>
            <p:cNvPr id="41" name="Rectangle 41"/>
            <p:cNvSpPr/>
            <p:nvPr/>
          </p:nvSpPr>
          <p:spPr>
            <a:xfrm>
              <a:off x="2971800" y="704850"/>
              <a:ext cx="5600700" cy="381000"/>
            </a:xfrm>
            <a:prstGeom prst="roundRect">
              <a:avLst>
                <a:gd name="adj" fmla="val 25000"/>
              </a:avLst>
            </a:prstGeom>
            <a:solidFill>
              <a:srgbClr val="841600"/>
            </a:solidFill>
            <a:ln>
              <a:noFill/>
            </a:ln>
          </p:spPr>
        </p:sp>
        <p:sp>
          <p:nvSpPr>
            <p:cNvPr id="42" name="Rectangle 42"/>
            <p:cNvSpPr/>
            <p:nvPr/>
          </p:nvSpPr>
          <p:spPr>
            <a:xfrm>
              <a:off x="2971800" y="914400"/>
              <a:ext cx="5600700" cy="171450"/>
            </a:xfrm>
            <a:prstGeom prst="rect">
              <a:avLst/>
            </a:prstGeom>
            <a:solidFill>
              <a:srgbClr val="841600"/>
            </a:solidFill>
            <a:ln>
              <a:noFill/>
            </a:ln>
          </p:spPr>
        </p:sp>
        <p:sp>
          <p:nvSpPr>
            <p:cNvPr id="43" name="TextBox 43"/>
            <p:cNvSpPr txBox="1"/>
            <p:nvPr/>
          </p:nvSpPr>
          <p:spPr>
            <a:xfrm>
              <a:off x="5281422" y="83248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五类消费场景</a:t>
              </a:r>
            </a:p>
          </p:txBody>
        </p:sp>
        <p:grpSp>
          <p:nvGrpSpPr>
            <p:cNvPr id="54" name="scene-mall"/>
            <p:cNvGrpSpPr/>
            <p:nvPr/>
          </p:nvGrpSpPr>
          <p:grpSpPr>
            <a:xfrm>
              <a:off x="3143250" y="1333500"/>
              <a:ext cx="952500" cy="2857500"/>
              <a:chOff x="3143250" y="1333500"/>
              <a:chExt cx="952500" cy="2857500"/>
            </a:xfrm>
          </p:grpSpPr>
          <p:sp>
            <p:nvSpPr>
              <p:cNvPr id="44" name="Rectangle 44"/>
              <p:cNvSpPr/>
              <p:nvPr/>
            </p:nvSpPr>
            <p:spPr>
              <a:xfrm>
                <a:off x="3143250" y="1333500"/>
                <a:ext cx="952500" cy="2857500"/>
              </a:xfrm>
              <a:prstGeom prst="roundRect">
                <a:avLst>
                  <a:gd name="adj" fmla="val 8000"/>
                </a:avLst>
              </a:prstGeom>
              <a:solidFill>
                <a:srgbClr val="EFF5FD"/>
              </a:solidFill>
              <a:ln w="9525">
                <a:solidFill>
                  <a:srgbClr val="D7E2F2"/>
                </a:solidFill>
              </a:ln>
            </p:spPr>
          </p:sp>
          <p:sp>
            <p:nvSpPr>
              <p:cNvPr id="45" name="TextBox 45"/>
              <p:cNvSpPr txBox="1"/>
              <p:nvPr/>
            </p:nvSpPr>
            <p:spPr>
              <a:xfrm>
                <a:off x="3463011" y="155495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商圈</a:t>
                </a:r>
              </a:p>
            </p:txBody>
          </p:sp>
          <p:grpSp>
            <p:nvGrpSpPr>
              <p:cNvPr id="51" name="Group 51"/>
              <p:cNvGrpSpPr/>
              <p:nvPr/>
            </p:nvGrpSpPr>
            <p:grpSpPr>
              <a:xfrm>
                <a:off x="3419475" y="2352675"/>
                <a:ext cx="400049" cy="409574"/>
                <a:chOff x="3419475" y="2352675"/>
                <a:chExt cx="400049" cy="409574"/>
              </a:xfrm>
            </p:grpSpPr>
            <p:sp>
              <p:nvSpPr>
                <p:cNvPr id="46" name="Freeform 46"/>
                <p:cNvSpPr/>
                <p:nvPr/>
              </p:nvSpPr>
              <p:spPr>
                <a:xfrm>
                  <a:off x="3419475" y="2752724"/>
                  <a:ext cx="400049" cy="9525"/>
                </a:xfrm>
                <a:custGeom>
                  <a:avLst/>
                  <a:gdLst/>
                  <a:ahLst/>
                  <a:cxnLst/>
                  <a:rect l="l" t="t" r="r" b="b"/>
                  <a:pathLst>
                    <a:path w="400049" h="9525">
                      <a:moveTo>
                        <a:pt x="0" y="0"/>
                      </a:moveTo>
                      <a:lnTo>
                        <a:pt x="400049" y="0"/>
                      </a:lnTo>
                    </a:path>
                  </a:pathLst>
                </a:custGeom>
                <a:noFill/>
                <a:ln w="26670">
                  <a:solidFill>
                    <a:srgbClr val="841600"/>
                  </a:solidFill>
                </a:ln>
              </p:spPr>
            </p:sp>
            <p:sp>
              <p:nvSpPr>
                <p:cNvPr id="47" name="Freeform 47"/>
                <p:cNvSpPr/>
                <p:nvPr/>
              </p:nvSpPr>
              <p:spPr>
                <a:xfrm>
                  <a:off x="3419475" y="2352675"/>
                  <a:ext cx="400049" cy="177800"/>
                </a:xfrm>
                <a:custGeom>
                  <a:avLst/>
                  <a:gdLst/>
                  <a:ahLst/>
                  <a:cxnLst/>
                  <a:rect l="l" t="t" r="r" b="b"/>
                  <a:pathLst>
                    <a:path w="400049" h="177800">
                      <a:moveTo>
                        <a:pt x="0" y="88900"/>
                      </a:moveTo>
                      <a:lnTo>
                        <a:pt x="0" y="111125"/>
                      </a:lnTo>
                      <a:cubicBezTo>
                        <a:pt x="0" y="147948"/>
                        <a:pt x="29851" y="177800"/>
                        <a:pt x="66675" y="177800"/>
                      </a:cubicBezTo>
                      <a:cubicBezTo>
                        <a:pt x="103498" y="177800"/>
                        <a:pt x="133350" y="147948"/>
                        <a:pt x="133350" y="111125"/>
                      </a:cubicBezTo>
                      <a:lnTo>
                        <a:pt x="133350" y="88900"/>
                      </a:lnTo>
                      <a:moveTo>
                        <a:pt x="133350" y="111125"/>
                      </a:moveTo>
                      <a:cubicBezTo>
                        <a:pt x="133350" y="147948"/>
                        <a:pt x="163201" y="177800"/>
                        <a:pt x="200025" y="177800"/>
                      </a:cubicBezTo>
                      <a:cubicBezTo>
                        <a:pt x="236848" y="177800"/>
                        <a:pt x="266700" y="147948"/>
                        <a:pt x="266700" y="111125"/>
                      </a:cubicBezTo>
                      <a:lnTo>
                        <a:pt x="266700" y="88900"/>
                      </a:lnTo>
                      <a:moveTo>
                        <a:pt x="266700" y="111125"/>
                      </a:moveTo>
                      <a:cubicBezTo>
                        <a:pt x="266700" y="147948"/>
                        <a:pt x="296551" y="177800"/>
                        <a:pt x="333375" y="177800"/>
                      </a:cubicBezTo>
                      <a:cubicBezTo>
                        <a:pt x="370198" y="177800"/>
                        <a:pt x="400049" y="147948"/>
                        <a:pt x="400049" y="111125"/>
                      </a:cubicBezTo>
                      <a:lnTo>
                        <a:pt x="400049" y="88900"/>
                      </a:lnTo>
                      <a:lnTo>
                        <a:pt x="0" y="88900"/>
                      </a:lnTo>
                      <a:lnTo>
                        <a:pt x="44450" y="0"/>
                      </a:lnTo>
                      <a:lnTo>
                        <a:pt x="355599" y="0"/>
                      </a:lnTo>
                      <a:lnTo>
                        <a:pt x="400049" y="88900"/>
                      </a:lnTo>
                    </a:path>
                  </a:pathLst>
                </a:custGeom>
                <a:noFill/>
                <a:ln w="26670">
                  <a:solidFill>
                    <a:srgbClr val="841600"/>
                  </a:solidFill>
                </a:ln>
              </p:spPr>
            </p:sp>
            <p:sp>
              <p:nvSpPr>
                <p:cNvPr id="48" name="Freeform 48"/>
                <p:cNvSpPr/>
                <p:nvPr/>
              </p:nvSpPr>
              <p:spPr>
                <a:xfrm>
                  <a:off x="3463925" y="2527141"/>
                  <a:ext cx="9525" cy="225583"/>
                </a:xfrm>
                <a:custGeom>
                  <a:avLst/>
                  <a:gdLst/>
                  <a:ahLst/>
                  <a:cxnLst/>
                  <a:rect l="l" t="t" r="r" b="b"/>
                  <a:pathLst>
                    <a:path w="9525" h="225583">
                      <a:moveTo>
                        <a:pt x="0" y="225583"/>
                      </a:moveTo>
                      <a:lnTo>
                        <a:pt x="0" y="0"/>
                      </a:lnTo>
                    </a:path>
                  </a:pathLst>
                </a:custGeom>
                <a:noFill/>
                <a:ln w="26670">
                  <a:solidFill>
                    <a:srgbClr val="841600"/>
                  </a:solidFill>
                </a:ln>
              </p:spPr>
            </p:sp>
            <p:sp>
              <p:nvSpPr>
                <p:cNvPr id="49" name="Freeform 49"/>
                <p:cNvSpPr/>
                <p:nvPr/>
              </p:nvSpPr>
              <p:spPr>
                <a:xfrm>
                  <a:off x="3775074" y="2527141"/>
                  <a:ext cx="9525" cy="225583"/>
                </a:xfrm>
                <a:custGeom>
                  <a:avLst/>
                  <a:gdLst/>
                  <a:ahLst/>
                  <a:cxnLst/>
                  <a:rect l="l" t="t" r="r" b="b"/>
                  <a:pathLst>
                    <a:path w="9525" h="225583">
                      <a:moveTo>
                        <a:pt x="0" y="225583"/>
                      </a:moveTo>
                      <a:lnTo>
                        <a:pt x="0" y="0"/>
                      </a:lnTo>
                    </a:path>
                  </a:pathLst>
                </a:custGeom>
                <a:noFill/>
                <a:ln w="26670">
                  <a:solidFill>
                    <a:srgbClr val="841600"/>
                  </a:solidFill>
                </a:ln>
              </p:spPr>
            </p:sp>
            <p:sp>
              <p:nvSpPr>
                <p:cNvPr id="50" name="Freeform 50"/>
                <p:cNvSpPr/>
                <p:nvPr/>
              </p:nvSpPr>
              <p:spPr>
                <a:xfrm>
                  <a:off x="3552825" y="2619375"/>
                  <a:ext cx="133350" cy="133350"/>
                </a:xfrm>
                <a:custGeom>
                  <a:avLst/>
                  <a:gdLst/>
                  <a:ahLst/>
                  <a:cxnLst/>
                  <a:rect l="l" t="t" r="r" b="b"/>
                  <a:pathLst>
                    <a:path w="133350" h="133350">
                      <a:moveTo>
                        <a:pt x="0" y="133350"/>
                      </a:moveTo>
                      <a:lnTo>
                        <a:pt x="0" y="44450"/>
                      </a:lnTo>
                      <a:cubicBezTo>
                        <a:pt x="0" y="19901"/>
                        <a:pt x="19901" y="0"/>
                        <a:pt x="44450" y="0"/>
                      </a:cubicBezTo>
                      <a:lnTo>
                        <a:pt x="88900" y="0"/>
                      </a:lnTo>
                      <a:cubicBezTo>
                        <a:pt x="113449" y="0"/>
                        <a:pt x="133350" y="19901"/>
                        <a:pt x="133350" y="44450"/>
                      </a:cubicBezTo>
                      <a:lnTo>
                        <a:pt x="133350" y="133350"/>
                      </a:lnTo>
                    </a:path>
                  </a:pathLst>
                </a:custGeom>
                <a:noFill/>
                <a:ln w="26670">
                  <a:solidFill>
                    <a:srgbClr val="841600"/>
                  </a:solidFill>
                </a:ln>
              </p:spPr>
            </p:sp>
          </p:grpSp>
          <p:sp>
            <p:nvSpPr>
              <p:cNvPr id="52" name="Line 52"/>
              <p:cNvSpPr/>
              <p:nvPr/>
            </p:nvSpPr>
            <p:spPr>
              <a:xfrm>
                <a:off x="3333750" y="3238500"/>
                <a:ext cx="571500" cy="9525"/>
              </a:xfrm>
              <a:custGeom>
                <a:avLst/>
                <a:gdLst/>
                <a:ahLst/>
                <a:cxnLst/>
                <a:rect l="l" t="t" r="r" b="b"/>
                <a:pathLst>
                  <a:path w="571500" h="9525">
                    <a:moveTo>
                      <a:pt x="0" y="0"/>
                    </a:moveTo>
                    <a:lnTo>
                      <a:pt x="571500" y="0"/>
                    </a:lnTo>
                  </a:path>
                </a:pathLst>
              </a:custGeom>
              <a:noFill/>
              <a:ln w="14288">
                <a:solidFill>
                  <a:srgbClr val="ECC1B8"/>
                </a:solidFill>
              </a:ln>
            </p:spPr>
          </p:sp>
          <p:sp>
            <p:nvSpPr>
              <p:cNvPr id="53" name="TextBox 53"/>
              <p:cNvSpPr txBox="1"/>
              <p:nvPr/>
            </p:nvSpPr>
            <p:spPr>
              <a:xfrm>
                <a:off x="3361652" y="3499247"/>
                <a:ext cx="515696" cy="183356"/>
              </a:xfrm>
              <a:prstGeom prst="rect">
                <a:avLst/>
              </a:prstGeom>
              <a:noFill/>
              <a:ln>
                <a:noFill/>
              </a:ln>
            </p:spPr>
            <p:txBody>
              <a:bodyPr wrap="none" lIns="0" tIns="0" rIns="0" bIns="0" anchor="t" anchorCtr="0">
                <a:spAutoFit/>
              </a:bodyPr>
              <a:lstStyle/>
              <a:p>
                <a:pPr algn="ctr"/>
                <a:r>
                  <a:rPr lang="zh-CN" sz="940" dirty="0">
                    <a:solidFill>
                      <a:srgbClr val="473633"/>
                    </a:solidFill>
                    <a:latin typeface="+mn-lt"/>
                    <a:ea typeface="+mn-ea"/>
                    <a:cs typeface="+mn-cs"/>
                  </a:rPr>
                  <a:t>支付满减</a:t>
                </a:r>
              </a:p>
            </p:txBody>
          </p:sp>
        </p:grpSp>
        <p:grpSp>
          <p:nvGrpSpPr>
            <p:cNvPr id="63" name="scene-car"/>
            <p:cNvGrpSpPr/>
            <p:nvPr/>
          </p:nvGrpSpPr>
          <p:grpSpPr>
            <a:xfrm>
              <a:off x="4210050" y="1333500"/>
              <a:ext cx="952500" cy="2857500"/>
              <a:chOff x="4210050" y="1333500"/>
              <a:chExt cx="952500" cy="2857500"/>
            </a:xfrm>
          </p:grpSpPr>
          <p:sp>
            <p:nvSpPr>
              <p:cNvPr id="55" name="Rectangle 55"/>
              <p:cNvSpPr/>
              <p:nvPr/>
            </p:nvSpPr>
            <p:spPr>
              <a:xfrm>
                <a:off x="4210050" y="1333500"/>
                <a:ext cx="952500" cy="2857500"/>
              </a:xfrm>
              <a:prstGeom prst="roundRect">
                <a:avLst>
                  <a:gd name="adj" fmla="val 8000"/>
                </a:avLst>
              </a:prstGeom>
              <a:solidFill>
                <a:srgbClr val="EFF5FD"/>
              </a:solidFill>
              <a:ln w="9525">
                <a:solidFill>
                  <a:srgbClr val="D7E2F2"/>
                </a:solidFill>
              </a:ln>
            </p:spPr>
          </p:sp>
          <p:sp>
            <p:nvSpPr>
              <p:cNvPr id="56" name="TextBox 56"/>
              <p:cNvSpPr txBox="1"/>
              <p:nvPr/>
            </p:nvSpPr>
            <p:spPr>
              <a:xfrm>
                <a:off x="4529811" y="155495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汽车</a:t>
                </a:r>
              </a:p>
            </p:txBody>
          </p:sp>
          <p:grpSp>
            <p:nvGrpSpPr>
              <p:cNvPr id="60" name="Group 60"/>
              <p:cNvGrpSpPr/>
              <p:nvPr/>
            </p:nvGrpSpPr>
            <p:grpSpPr>
              <a:xfrm>
                <a:off x="4486275" y="2419350"/>
                <a:ext cx="400049" cy="288925"/>
                <a:chOff x="4486275" y="2419350"/>
                <a:chExt cx="400049" cy="288925"/>
              </a:xfrm>
            </p:grpSpPr>
            <p:sp>
              <p:nvSpPr>
                <p:cNvPr id="57" name="Freeform 57"/>
                <p:cNvSpPr/>
                <p:nvPr/>
              </p:nvSpPr>
              <p:spPr>
                <a:xfrm>
                  <a:off x="4530725" y="2619375"/>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6670">
                  <a:solidFill>
                    <a:srgbClr val="841600"/>
                  </a:solidFill>
                </a:ln>
              </p:spPr>
            </p:sp>
            <p:sp>
              <p:nvSpPr>
                <p:cNvPr id="58" name="Freeform 58"/>
                <p:cNvSpPr/>
                <p:nvPr/>
              </p:nvSpPr>
              <p:spPr>
                <a:xfrm>
                  <a:off x="4752975" y="2619375"/>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6670">
                  <a:solidFill>
                    <a:srgbClr val="841600"/>
                  </a:solidFill>
                </a:ln>
              </p:spPr>
            </p:sp>
            <p:sp>
              <p:nvSpPr>
                <p:cNvPr id="59" name="Freeform 59"/>
                <p:cNvSpPr/>
                <p:nvPr/>
              </p:nvSpPr>
              <p:spPr>
                <a:xfrm>
                  <a:off x="4486275" y="2419350"/>
                  <a:ext cx="400049" cy="244475"/>
                </a:xfrm>
                <a:custGeom>
                  <a:avLst/>
                  <a:gdLst/>
                  <a:ahLst/>
                  <a:cxnLst/>
                  <a:rect l="l" t="t" r="r" b="b"/>
                  <a:pathLst>
                    <a:path w="400049" h="244475">
                      <a:moveTo>
                        <a:pt x="44450" y="244475"/>
                      </a:moveTo>
                      <a:lnTo>
                        <a:pt x="0" y="244475"/>
                      </a:lnTo>
                      <a:lnTo>
                        <a:pt x="0" y="111125"/>
                      </a:lnTo>
                      <a:lnTo>
                        <a:pt x="44450" y="0"/>
                      </a:lnTo>
                      <a:lnTo>
                        <a:pt x="244475" y="0"/>
                      </a:lnTo>
                      <a:lnTo>
                        <a:pt x="333375" y="111125"/>
                      </a:lnTo>
                      <a:lnTo>
                        <a:pt x="355599" y="111125"/>
                      </a:lnTo>
                      <a:cubicBezTo>
                        <a:pt x="380149" y="111125"/>
                        <a:pt x="400049" y="131026"/>
                        <a:pt x="400049" y="155575"/>
                      </a:cubicBezTo>
                      <a:lnTo>
                        <a:pt x="400049" y="244475"/>
                      </a:lnTo>
                      <a:lnTo>
                        <a:pt x="355599" y="244475"/>
                      </a:lnTo>
                      <a:moveTo>
                        <a:pt x="266700" y="244475"/>
                      </a:moveTo>
                      <a:lnTo>
                        <a:pt x="133350" y="244475"/>
                      </a:lnTo>
                      <a:moveTo>
                        <a:pt x="0" y="111125"/>
                      </a:moveTo>
                      <a:lnTo>
                        <a:pt x="333375" y="111125"/>
                      </a:lnTo>
                      <a:moveTo>
                        <a:pt x="200025" y="111125"/>
                      </a:moveTo>
                      <a:lnTo>
                        <a:pt x="200025" y="0"/>
                      </a:lnTo>
                    </a:path>
                  </a:pathLst>
                </a:custGeom>
                <a:noFill/>
                <a:ln w="26670">
                  <a:solidFill>
                    <a:srgbClr val="841600"/>
                  </a:solidFill>
                </a:ln>
              </p:spPr>
            </p:sp>
          </p:grpSp>
          <p:sp>
            <p:nvSpPr>
              <p:cNvPr id="61" name="Line 61"/>
              <p:cNvSpPr/>
              <p:nvPr/>
            </p:nvSpPr>
            <p:spPr>
              <a:xfrm>
                <a:off x="4400550" y="3238500"/>
                <a:ext cx="571500" cy="9525"/>
              </a:xfrm>
              <a:custGeom>
                <a:avLst/>
                <a:gdLst/>
                <a:ahLst/>
                <a:cxnLst/>
                <a:rect l="l" t="t" r="r" b="b"/>
                <a:pathLst>
                  <a:path w="571500" h="9525">
                    <a:moveTo>
                      <a:pt x="0" y="0"/>
                    </a:moveTo>
                    <a:lnTo>
                      <a:pt x="571500" y="0"/>
                    </a:lnTo>
                  </a:path>
                </a:pathLst>
              </a:custGeom>
              <a:noFill/>
              <a:ln w="14288">
                <a:solidFill>
                  <a:srgbClr val="ECC1B8"/>
                </a:solidFill>
              </a:ln>
            </p:spPr>
          </p:sp>
          <p:sp>
            <p:nvSpPr>
              <p:cNvPr id="62" name="TextBox 62"/>
              <p:cNvSpPr txBox="1"/>
              <p:nvPr/>
            </p:nvSpPr>
            <p:spPr>
              <a:xfrm>
                <a:off x="4428452" y="3499247"/>
                <a:ext cx="515696" cy="183356"/>
              </a:xfrm>
              <a:prstGeom prst="rect">
                <a:avLst/>
              </a:prstGeom>
              <a:noFill/>
              <a:ln>
                <a:noFill/>
              </a:ln>
            </p:spPr>
            <p:txBody>
              <a:bodyPr wrap="none" lIns="0" tIns="0" rIns="0" bIns="0" anchor="t" anchorCtr="0">
                <a:spAutoFit/>
              </a:bodyPr>
              <a:lstStyle/>
              <a:p>
                <a:pPr algn="ctr"/>
                <a:r>
                  <a:rPr lang="zh-CN" sz="940" dirty="0">
                    <a:solidFill>
                      <a:srgbClr val="473633"/>
                    </a:solidFill>
                    <a:latin typeface="+mn-lt"/>
                    <a:ea typeface="+mn-ea"/>
                    <a:cs typeface="+mn-cs"/>
                  </a:rPr>
                  <a:t>购车分期</a:t>
                </a:r>
              </a:p>
            </p:txBody>
          </p:sp>
        </p:grpSp>
        <p:grpSp>
          <p:nvGrpSpPr>
            <p:cNvPr id="72" name="scene-home"/>
            <p:cNvGrpSpPr/>
            <p:nvPr/>
          </p:nvGrpSpPr>
          <p:grpSpPr>
            <a:xfrm>
              <a:off x="5276850" y="1333500"/>
              <a:ext cx="952500" cy="2857500"/>
              <a:chOff x="5276850" y="1333500"/>
              <a:chExt cx="952500" cy="2857500"/>
            </a:xfrm>
          </p:grpSpPr>
          <p:sp>
            <p:nvSpPr>
              <p:cNvPr id="64" name="Rectangle 64"/>
              <p:cNvSpPr/>
              <p:nvPr/>
            </p:nvSpPr>
            <p:spPr>
              <a:xfrm>
                <a:off x="5276850" y="1333500"/>
                <a:ext cx="952500" cy="2857500"/>
              </a:xfrm>
              <a:prstGeom prst="roundRect">
                <a:avLst>
                  <a:gd name="adj" fmla="val 8000"/>
                </a:avLst>
              </a:prstGeom>
              <a:solidFill>
                <a:srgbClr val="EFF5FD"/>
              </a:solidFill>
              <a:ln w="9525">
                <a:solidFill>
                  <a:srgbClr val="D7E2F2"/>
                </a:solidFill>
              </a:ln>
            </p:spPr>
          </p:sp>
          <p:sp>
            <p:nvSpPr>
              <p:cNvPr id="65" name="TextBox 65"/>
              <p:cNvSpPr txBox="1"/>
              <p:nvPr/>
            </p:nvSpPr>
            <p:spPr>
              <a:xfrm>
                <a:off x="5596611" y="155495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家装</a:t>
                </a:r>
              </a:p>
            </p:txBody>
          </p:sp>
          <p:grpSp>
            <p:nvGrpSpPr>
              <p:cNvPr id="69" name="Group 69"/>
              <p:cNvGrpSpPr/>
              <p:nvPr/>
            </p:nvGrpSpPr>
            <p:grpSpPr>
              <a:xfrm>
                <a:off x="5553075" y="2352675"/>
                <a:ext cx="400049" cy="400050"/>
                <a:chOff x="5553075" y="2352675"/>
                <a:chExt cx="400049" cy="400050"/>
              </a:xfrm>
            </p:grpSpPr>
            <p:sp>
              <p:nvSpPr>
                <p:cNvPr id="66" name="Freeform 66"/>
                <p:cNvSpPr/>
                <p:nvPr/>
              </p:nvSpPr>
              <p:spPr>
                <a:xfrm>
                  <a:off x="5553075" y="2352675"/>
                  <a:ext cx="400049" cy="200025"/>
                </a:xfrm>
                <a:custGeom>
                  <a:avLst/>
                  <a:gdLst/>
                  <a:ahLst/>
                  <a:cxnLst/>
                  <a:rect l="l" t="t" r="r" b="b"/>
                  <a:pathLst>
                    <a:path w="400049" h="200025">
                      <a:moveTo>
                        <a:pt x="44450" y="200025"/>
                      </a:moveTo>
                      <a:lnTo>
                        <a:pt x="0" y="200025"/>
                      </a:lnTo>
                      <a:lnTo>
                        <a:pt x="200025" y="0"/>
                      </a:lnTo>
                      <a:lnTo>
                        <a:pt x="400049" y="200025"/>
                      </a:lnTo>
                      <a:lnTo>
                        <a:pt x="355599" y="200025"/>
                      </a:lnTo>
                    </a:path>
                  </a:pathLst>
                </a:custGeom>
                <a:noFill/>
                <a:ln w="26670">
                  <a:solidFill>
                    <a:srgbClr val="841600"/>
                  </a:solidFill>
                </a:ln>
              </p:spPr>
            </p:sp>
            <p:sp>
              <p:nvSpPr>
                <p:cNvPr id="67" name="Freeform 67"/>
                <p:cNvSpPr/>
                <p:nvPr/>
              </p:nvSpPr>
              <p:spPr>
                <a:xfrm>
                  <a:off x="5597525" y="2552700"/>
                  <a:ext cx="311150" cy="200025"/>
                </a:xfrm>
                <a:custGeom>
                  <a:avLst/>
                  <a:gdLst/>
                  <a:ahLst/>
                  <a:cxnLst/>
                  <a:rect l="l" t="t" r="r" b="b"/>
                  <a:pathLst>
                    <a:path w="311150" h="200025">
                      <a:moveTo>
                        <a:pt x="0" y="0"/>
                      </a:moveTo>
                      <a:lnTo>
                        <a:pt x="0" y="155575"/>
                      </a:lnTo>
                      <a:cubicBezTo>
                        <a:pt x="0" y="180124"/>
                        <a:pt x="19901" y="200025"/>
                        <a:pt x="44450" y="200025"/>
                      </a:cubicBezTo>
                      <a:lnTo>
                        <a:pt x="266700" y="200025"/>
                      </a:lnTo>
                      <a:cubicBezTo>
                        <a:pt x="291249" y="200025"/>
                        <a:pt x="311150" y="180124"/>
                        <a:pt x="311150" y="155575"/>
                      </a:cubicBezTo>
                      <a:lnTo>
                        <a:pt x="311150" y="0"/>
                      </a:lnTo>
                    </a:path>
                  </a:pathLst>
                </a:custGeom>
                <a:noFill/>
                <a:ln w="26670">
                  <a:solidFill>
                    <a:srgbClr val="841600"/>
                  </a:solidFill>
                </a:ln>
              </p:spPr>
            </p:sp>
            <p:sp>
              <p:nvSpPr>
                <p:cNvPr id="68" name="Freeform 68"/>
                <p:cNvSpPr/>
                <p:nvPr/>
              </p:nvSpPr>
              <p:spPr>
                <a:xfrm>
                  <a:off x="5686425" y="2574925"/>
                  <a:ext cx="133350" cy="177800"/>
                </a:xfrm>
                <a:custGeom>
                  <a:avLst/>
                  <a:gdLst/>
                  <a:ahLst/>
                  <a:cxnLst/>
                  <a:rect l="l" t="t" r="r" b="b"/>
                  <a:pathLst>
                    <a:path w="133350" h="177800">
                      <a:moveTo>
                        <a:pt x="0" y="177800"/>
                      </a:moveTo>
                      <a:lnTo>
                        <a:pt x="0" y="44450"/>
                      </a:lnTo>
                      <a:cubicBezTo>
                        <a:pt x="0" y="19901"/>
                        <a:pt x="19901" y="0"/>
                        <a:pt x="44450" y="0"/>
                      </a:cubicBezTo>
                      <a:lnTo>
                        <a:pt x="88900" y="0"/>
                      </a:lnTo>
                      <a:cubicBezTo>
                        <a:pt x="113449" y="0"/>
                        <a:pt x="133350" y="19901"/>
                        <a:pt x="133350" y="44450"/>
                      </a:cubicBezTo>
                      <a:lnTo>
                        <a:pt x="133350" y="177800"/>
                      </a:lnTo>
                    </a:path>
                  </a:pathLst>
                </a:custGeom>
                <a:noFill/>
                <a:ln w="26670">
                  <a:solidFill>
                    <a:srgbClr val="841600"/>
                  </a:solidFill>
                </a:ln>
              </p:spPr>
            </p:sp>
          </p:grpSp>
          <p:sp>
            <p:nvSpPr>
              <p:cNvPr id="70" name="Line 70"/>
              <p:cNvSpPr/>
              <p:nvPr/>
            </p:nvSpPr>
            <p:spPr>
              <a:xfrm>
                <a:off x="5467350" y="3238500"/>
                <a:ext cx="571500" cy="9525"/>
              </a:xfrm>
              <a:custGeom>
                <a:avLst/>
                <a:gdLst/>
                <a:ahLst/>
                <a:cxnLst/>
                <a:rect l="l" t="t" r="r" b="b"/>
                <a:pathLst>
                  <a:path w="571500" h="9525">
                    <a:moveTo>
                      <a:pt x="0" y="0"/>
                    </a:moveTo>
                    <a:lnTo>
                      <a:pt x="571500" y="0"/>
                    </a:lnTo>
                  </a:path>
                </a:pathLst>
              </a:custGeom>
              <a:noFill/>
              <a:ln w="14288">
                <a:solidFill>
                  <a:srgbClr val="ECC1B8"/>
                </a:solidFill>
              </a:ln>
            </p:spPr>
          </p:sp>
          <p:sp>
            <p:nvSpPr>
              <p:cNvPr id="71" name="TextBox 71"/>
              <p:cNvSpPr txBox="1"/>
              <p:nvPr/>
            </p:nvSpPr>
            <p:spPr>
              <a:xfrm>
                <a:off x="5495252" y="3499247"/>
                <a:ext cx="515696" cy="183356"/>
              </a:xfrm>
              <a:prstGeom prst="rect">
                <a:avLst/>
              </a:prstGeom>
              <a:noFill/>
              <a:ln>
                <a:noFill/>
              </a:ln>
            </p:spPr>
            <p:txBody>
              <a:bodyPr wrap="none" lIns="0" tIns="0" rIns="0" bIns="0" anchor="t" anchorCtr="0">
                <a:spAutoFit/>
              </a:bodyPr>
              <a:lstStyle/>
              <a:p>
                <a:pPr algn="ctr"/>
                <a:r>
                  <a:rPr lang="zh-CN" sz="940" dirty="0">
                    <a:solidFill>
                      <a:srgbClr val="473633"/>
                    </a:solidFill>
                    <a:latin typeface="+mn-lt"/>
                    <a:ea typeface="+mn-ea"/>
                    <a:cs typeface="+mn-cs"/>
                  </a:rPr>
                  <a:t>专项分期</a:t>
                </a:r>
              </a:p>
            </p:txBody>
          </p:sp>
        </p:grpSp>
        <p:grpSp>
          <p:nvGrpSpPr>
            <p:cNvPr id="80" name="scene-travel"/>
            <p:cNvGrpSpPr/>
            <p:nvPr/>
          </p:nvGrpSpPr>
          <p:grpSpPr>
            <a:xfrm>
              <a:off x="6343650" y="1333500"/>
              <a:ext cx="952500" cy="2857500"/>
              <a:chOff x="6343650" y="1333500"/>
              <a:chExt cx="952500" cy="2857500"/>
            </a:xfrm>
          </p:grpSpPr>
          <p:sp>
            <p:nvSpPr>
              <p:cNvPr id="73" name="Rectangle 73"/>
              <p:cNvSpPr/>
              <p:nvPr/>
            </p:nvSpPr>
            <p:spPr>
              <a:xfrm>
                <a:off x="6343650" y="1333500"/>
                <a:ext cx="952500" cy="2857500"/>
              </a:xfrm>
              <a:prstGeom prst="roundRect">
                <a:avLst>
                  <a:gd name="adj" fmla="val 8000"/>
                </a:avLst>
              </a:prstGeom>
              <a:solidFill>
                <a:srgbClr val="EFF5FD"/>
              </a:solidFill>
              <a:ln w="9525">
                <a:solidFill>
                  <a:srgbClr val="D7E2F2"/>
                </a:solidFill>
              </a:ln>
            </p:spPr>
          </p:sp>
          <p:sp>
            <p:nvSpPr>
              <p:cNvPr id="74" name="TextBox 74"/>
              <p:cNvSpPr txBox="1"/>
              <p:nvPr/>
            </p:nvSpPr>
            <p:spPr>
              <a:xfrm>
                <a:off x="6663411" y="155495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文旅</a:t>
                </a:r>
              </a:p>
            </p:txBody>
          </p:sp>
          <p:grpSp>
            <p:nvGrpSpPr>
              <p:cNvPr id="77" name="Group 77"/>
              <p:cNvGrpSpPr/>
              <p:nvPr/>
            </p:nvGrpSpPr>
            <p:grpSpPr>
              <a:xfrm>
                <a:off x="6619875" y="2374900"/>
                <a:ext cx="400049" cy="355599"/>
                <a:chOff x="6619875" y="2374900"/>
                <a:chExt cx="400049" cy="355599"/>
              </a:xfrm>
            </p:grpSpPr>
            <p:sp>
              <p:nvSpPr>
                <p:cNvPr id="75" name="Freeform 75"/>
                <p:cNvSpPr/>
                <p:nvPr/>
              </p:nvSpPr>
              <p:spPr>
                <a:xfrm>
                  <a:off x="6619875" y="2374900"/>
                  <a:ext cx="400049" cy="355599"/>
                </a:xfrm>
                <a:custGeom>
                  <a:avLst/>
                  <a:gdLst/>
                  <a:ahLst/>
                  <a:cxnLst/>
                  <a:rect l="l" t="t" r="r" b="b"/>
                  <a:pathLst>
                    <a:path w="400049" h="355599">
                      <a:moveTo>
                        <a:pt x="44450" y="66675"/>
                      </a:moveTo>
                      <a:lnTo>
                        <a:pt x="66675" y="66675"/>
                      </a:lnTo>
                      <a:cubicBezTo>
                        <a:pt x="91224" y="66675"/>
                        <a:pt x="111125" y="46774"/>
                        <a:pt x="111125" y="22225"/>
                      </a:cubicBezTo>
                      <a:cubicBezTo>
                        <a:pt x="111125" y="9950"/>
                        <a:pt x="121075" y="0"/>
                        <a:pt x="133350" y="0"/>
                      </a:cubicBezTo>
                      <a:lnTo>
                        <a:pt x="266700" y="0"/>
                      </a:lnTo>
                      <a:cubicBezTo>
                        <a:pt x="278974" y="0"/>
                        <a:pt x="288925" y="9950"/>
                        <a:pt x="288925" y="22225"/>
                      </a:cubicBezTo>
                      <a:cubicBezTo>
                        <a:pt x="288925" y="46774"/>
                        <a:pt x="308826" y="66675"/>
                        <a:pt x="333375" y="66675"/>
                      </a:cubicBezTo>
                      <a:lnTo>
                        <a:pt x="355599" y="66675"/>
                      </a:lnTo>
                      <a:cubicBezTo>
                        <a:pt x="380149" y="66675"/>
                        <a:pt x="400049" y="86576"/>
                        <a:pt x="400049" y="111125"/>
                      </a:cubicBezTo>
                      <a:lnTo>
                        <a:pt x="400049" y="311150"/>
                      </a:lnTo>
                      <a:cubicBezTo>
                        <a:pt x="400049" y="335699"/>
                        <a:pt x="380149" y="355599"/>
                        <a:pt x="355599" y="355599"/>
                      </a:cubicBezTo>
                      <a:lnTo>
                        <a:pt x="44450" y="355599"/>
                      </a:lnTo>
                      <a:cubicBezTo>
                        <a:pt x="19901" y="355599"/>
                        <a:pt x="0" y="335699"/>
                        <a:pt x="0" y="311150"/>
                      </a:cubicBezTo>
                      <a:lnTo>
                        <a:pt x="0" y="111125"/>
                      </a:lnTo>
                      <a:cubicBezTo>
                        <a:pt x="0" y="86576"/>
                        <a:pt x="19901" y="66675"/>
                        <a:pt x="44450" y="66675"/>
                      </a:cubicBezTo>
                    </a:path>
                  </a:pathLst>
                </a:custGeom>
                <a:noFill/>
                <a:ln w="26670">
                  <a:solidFill>
                    <a:srgbClr val="841600"/>
                  </a:solidFill>
                </a:ln>
              </p:spPr>
            </p:sp>
            <p:sp>
              <p:nvSpPr>
                <p:cNvPr id="76" name="Freeform 76"/>
                <p:cNvSpPr/>
                <p:nvPr/>
              </p:nvSpPr>
              <p:spPr>
                <a:xfrm>
                  <a:off x="6753225" y="2508250"/>
                  <a:ext cx="133350" cy="133350"/>
                </a:xfrm>
                <a:custGeom>
                  <a:avLst/>
                  <a:gdLst/>
                  <a:ahLst/>
                  <a:cxnLst/>
                  <a:rect l="l" t="t" r="r" b="b"/>
                  <a:pathLst>
                    <a:path w="133350" h="133350">
                      <a:moveTo>
                        <a:pt x="0" y="66675"/>
                      </a:moveTo>
                      <a:cubicBezTo>
                        <a:pt x="0" y="103498"/>
                        <a:pt x="29851" y="133350"/>
                        <a:pt x="66675" y="133350"/>
                      </a:cubicBezTo>
                      <a:cubicBezTo>
                        <a:pt x="103498" y="133350"/>
                        <a:pt x="133350" y="103498"/>
                        <a:pt x="133350" y="66675"/>
                      </a:cubicBezTo>
                      <a:cubicBezTo>
                        <a:pt x="133350" y="29851"/>
                        <a:pt x="103498" y="0"/>
                        <a:pt x="66675" y="0"/>
                      </a:cubicBezTo>
                      <a:cubicBezTo>
                        <a:pt x="29851" y="0"/>
                        <a:pt x="0" y="29851"/>
                        <a:pt x="0" y="66675"/>
                      </a:cubicBezTo>
                    </a:path>
                  </a:pathLst>
                </a:custGeom>
                <a:noFill/>
                <a:ln w="26670">
                  <a:solidFill>
                    <a:srgbClr val="841600"/>
                  </a:solidFill>
                </a:ln>
              </p:spPr>
            </p:sp>
          </p:grpSp>
          <p:sp>
            <p:nvSpPr>
              <p:cNvPr id="78" name="Line 78"/>
              <p:cNvSpPr/>
              <p:nvPr/>
            </p:nvSpPr>
            <p:spPr>
              <a:xfrm>
                <a:off x="6534150" y="3238500"/>
                <a:ext cx="571500" cy="9525"/>
              </a:xfrm>
              <a:custGeom>
                <a:avLst/>
                <a:gdLst/>
                <a:ahLst/>
                <a:cxnLst/>
                <a:rect l="l" t="t" r="r" b="b"/>
                <a:pathLst>
                  <a:path w="571500" h="9525">
                    <a:moveTo>
                      <a:pt x="0" y="0"/>
                    </a:moveTo>
                    <a:lnTo>
                      <a:pt x="571500" y="0"/>
                    </a:lnTo>
                  </a:path>
                </a:pathLst>
              </a:custGeom>
              <a:noFill/>
              <a:ln w="14288">
                <a:solidFill>
                  <a:srgbClr val="ECC1B8"/>
                </a:solidFill>
              </a:ln>
            </p:spPr>
          </p:sp>
          <p:sp>
            <p:nvSpPr>
              <p:cNvPr id="79" name="TextBox 79"/>
              <p:cNvSpPr txBox="1"/>
              <p:nvPr/>
            </p:nvSpPr>
            <p:spPr>
              <a:xfrm>
                <a:off x="6562052" y="3499247"/>
                <a:ext cx="515696" cy="183356"/>
              </a:xfrm>
              <a:prstGeom prst="rect">
                <a:avLst/>
              </a:prstGeom>
              <a:noFill/>
              <a:ln>
                <a:noFill/>
              </a:ln>
            </p:spPr>
            <p:txBody>
              <a:bodyPr wrap="none" lIns="0" tIns="0" rIns="0" bIns="0" anchor="t" anchorCtr="0">
                <a:spAutoFit/>
              </a:bodyPr>
              <a:lstStyle/>
              <a:p>
                <a:pPr algn="ctr"/>
                <a:r>
                  <a:rPr lang="zh-CN" sz="940" dirty="0">
                    <a:solidFill>
                      <a:srgbClr val="473633"/>
                    </a:solidFill>
                    <a:latin typeface="+mn-lt"/>
                    <a:ea typeface="+mn-ea"/>
                    <a:cs typeface="+mn-cs"/>
                  </a:rPr>
                  <a:t>出行权益</a:t>
                </a:r>
              </a:p>
            </p:txBody>
          </p:sp>
        </p:grpSp>
        <p:grpSp>
          <p:nvGrpSpPr>
            <p:cNvPr id="88" name="scene-education"/>
            <p:cNvGrpSpPr/>
            <p:nvPr/>
          </p:nvGrpSpPr>
          <p:grpSpPr>
            <a:xfrm>
              <a:off x="7410450" y="1333500"/>
              <a:ext cx="952500" cy="2857500"/>
              <a:chOff x="7410450" y="1333500"/>
              <a:chExt cx="952500" cy="2857500"/>
            </a:xfrm>
          </p:grpSpPr>
          <p:sp>
            <p:nvSpPr>
              <p:cNvPr id="81" name="Rectangle 81"/>
              <p:cNvSpPr/>
              <p:nvPr/>
            </p:nvSpPr>
            <p:spPr>
              <a:xfrm>
                <a:off x="7410450" y="1333500"/>
                <a:ext cx="952500" cy="2857500"/>
              </a:xfrm>
              <a:prstGeom prst="roundRect">
                <a:avLst>
                  <a:gd name="adj" fmla="val 8000"/>
                </a:avLst>
              </a:prstGeom>
              <a:solidFill>
                <a:srgbClr val="EFF5FD"/>
              </a:solidFill>
              <a:ln w="9525">
                <a:solidFill>
                  <a:srgbClr val="D7E2F2"/>
                </a:solidFill>
              </a:ln>
            </p:spPr>
          </p:sp>
          <p:sp>
            <p:nvSpPr>
              <p:cNvPr id="82" name="TextBox 82"/>
              <p:cNvSpPr txBox="1"/>
              <p:nvPr/>
            </p:nvSpPr>
            <p:spPr>
              <a:xfrm>
                <a:off x="7730211" y="155495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教育</a:t>
                </a:r>
              </a:p>
            </p:txBody>
          </p:sp>
          <p:grpSp>
            <p:nvGrpSpPr>
              <p:cNvPr id="85" name="Group 85"/>
              <p:cNvGrpSpPr/>
              <p:nvPr/>
            </p:nvGrpSpPr>
            <p:grpSpPr>
              <a:xfrm>
                <a:off x="7664450" y="2397125"/>
                <a:ext cx="444499" cy="311150"/>
                <a:chOff x="7664450" y="2397125"/>
                <a:chExt cx="444499" cy="311150"/>
              </a:xfrm>
            </p:grpSpPr>
            <p:sp>
              <p:nvSpPr>
                <p:cNvPr id="83" name="Freeform 83"/>
                <p:cNvSpPr/>
                <p:nvPr/>
              </p:nvSpPr>
              <p:spPr>
                <a:xfrm>
                  <a:off x="7664450" y="2397125"/>
                  <a:ext cx="444499" cy="222250"/>
                </a:xfrm>
                <a:custGeom>
                  <a:avLst/>
                  <a:gdLst/>
                  <a:ahLst/>
                  <a:cxnLst/>
                  <a:rect l="l" t="t" r="r" b="b"/>
                  <a:pathLst>
                    <a:path w="444499" h="222250">
                      <a:moveTo>
                        <a:pt x="444499" y="88900"/>
                      </a:moveTo>
                      <a:lnTo>
                        <a:pt x="222250" y="0"/>
                      </a:lnTo>
                      <a:lnTo>
                        <a:pt x="0" y="88900"/>
                      </a:lnTo>
                      <a:lnTo>
                        <a:pt x="222250" y="177800"/>
                      </a:lnTo>
                      <a:lnTo>
                        <a:pt x="444499" y="88900"/>
                      </a:lnTo>
                      <a:lnTo>
                        <a:pt x="444499" y="222250"/>
                      </a:lnTo>
                    </a:path>
                  </a:pathLst>
                </a:custGeom>
                <a:noFill/>
                <a:ln w="26670">
                  <a:solidFill>
                    <a:srgbClr val="841600"/>
                  </a:solidFill>
                </a:ln>
              </p:spPr>
            </p:sp>
            <p:sp>
              <p:nvSpPr>
                <p:cNvPr id="84" name="Freeform 84"/>
                <p:cNvSpPr/>
                <p:nvPr/>
              </p:nvSpPr>
              <p:spPr>
                <a:xfrm>
                  <a:off x="7753350" y="2521585"/>
                  <a:ext cx="266700" cy="186690"/>
                </a:xfrm>
                <a:custGeom>
                  <a:avLst/>
                  <a:gdLst/>
                  <a:ahLst/>
                  <a:cxnLst/>
                  <a:rect l="l" t="t" r="r" b="b"/>
                  <a:pathLst>
                    <a:path w="266700" h="186690">
                      <a:moveTo>
                        <a:pt x="0" y="0"/>
                      </a:moveTo>
                      <a:lnTo>
                        <a:pt x="0" y="120015"/>
                      </a:lnTo>
                      <a:cubicBezTo>
                        <a:pt x="0" y="156838"/>
                        <a:pt x="59703" y="186690"/>
                        <a:pt x="133350" y="186690"/>
                      </a:cubicBezTo>
                      <a:cubicBezTo>
                        <a:pt x="206997" y="186690"/>
                        <a:pt x="266700" y="156838"/>
                        <a:pt x="266700" y="120015"/>
                      </a:cubicBezTo>
                      <a:lnTo>
                        <a:pt x="266700" y="0"/>
                      </a:lnTo>
                    </a:path>
                  </a:pathLst>
                </a:custGeom>
                <a:noFill/>
                <a:ln w="26670">
                  <a:solidFill>
                    <a:srgbClr val="841600"/>
                  </a:solidFill>
                </a:ln>
              </p:spPr>
            </p:sp>
          </p:grpSp>
          <p:sp>
            <p:nvSpPr>
              <p:cNvPr id="86" name="Line 86"/>
              <p:cNvSpPr/>
              <p:nvPr/>
            </p:nvSpPr>
            <p:spPr>
              <a:xfrm>
                <a:off x="7600950" y="3238500"/>
                <a:ext cx="571500" cy="9525"/>
              </a:xfrm>
              <a:custGeom>
                <a:avLst/>
                <a:gdLst/>
                <a:ahLst/>
                <a:cxnLst/>
                <a:rect l="l" t="t" r="r" b="b"/>
                <a:pathLst>
                  <a:path w="571500" h="9525">
                    <a:moveTo>
                      <a:pt x="0" y="0"/>
                    </a:moveTo>
                    <a:lnTo>
                      <a:pt x="571500" y="0"/>
                    </a:lnTo>
                  </a:path>
                </a:pathLst>
              </a:custGeom>
              <a:noFill/>
              <a:ln w="14288">
                <a:solidFill>
                  <a:srgbClr val="ECC1B8"/>
                </a:solidFill>
              </a:ln>
            </p:spPr>
          </p:sp>
          <p:sp>
            <p:nvSpPr>
              <p:cNvPr id="87" name="TextBox 87"/>
              <p:cNvSpPr txBox="1"/>
              <p:nvPr/>
            </p:nvSpPr>
            <p:spPr>
              <a:xfrm>
                <a:off x="7628852" y="3499247"/>
                <a:ext cx="515696" cy="183356"/>
              </a:xfrm>
              <a:prstGeom prst="rect">
                <a:avLst/>
              </a:prstGeom>
              <a:noFill/>
              <a:ln>
                <a:noFill/>
              </a:ln>
            </p:spPr>
            <p:txBody>
              <a:bodyPr wrap="none" lIns="0" tIns="0" rIns="0" bIns="0" anchor="t" anchorCtr="0">
                <a:spAutoFit/>
              </a:bodyPr>
              <a:lstStyle/>
              <a:p>
                <a:pPr algn="ctr"/>
                <a:r>
                  <a:rPr lang="zh-CN" sz="940" dirty="0">
                    <a:solidFill>
                      <a:srgbClr val="473633"/>
                    </a:solidFill>
                    <a:latin typeface="+mn-lt"/>
                    <a:ea typeface="+mn-ea"/>
                    <a:cs typeface="+mn-cs"/>
                  </a:rPr>
                  <a:t>缴费分期</a:t>
                </a:r>
              </a:p>
            </p:txBody>
          </p:sp>
        </p:grpSp>
      </p:grpSp>
      <p:grpSp>
        <p:nvGrpSpPr>
          <p:cNvPr id="150" name="risk-return-board"/>
          <p:cNvGrpSpPr/>
          <p:nvPr/>
        </p:nvGrpSpPr>
        <p:grpSpPr>
          <a:xfrm>
            <a:off x="8686800" y="704850"/>
            <a:ext cx="3238500" cy="4591050"/>
            <a:chOff x="8686800" y="704850"/>
            <a:chExt cx="3238500" cy="4591050"/>
          </a:xfrm>
        </p:grpSpPr>
        <p:sp>
          <p:nvSpPr>
            <p:cNvPr id="90" name="Rectangle 90"/>
            <p:cNvSpPr/>
            <p:nvPr/>
          </p:nvSpPr>
          <p:spPr>
            <a:xfrm>
              <a:off x="8686800" y="704850"/>
              <a:ext cx="3238500" cy="4591050"/>
            </a:xfrm>
            <a:prstGeom prst="roundRect">
              <a:avLst>
                <a:gd name="adj" fmla="val 2941"/>
              </a:avLst>
            </a:prstGeom>
            <a:solidFill>
              <a:srgbClr val="FFFFFF"/>
            </a:solidFill>
            <a:ln w="9525">
              <a:solidFill>
                <a:srgbClr val="D7E2F2"/>
              </a:solidFill>
            </a:ln>
          </p:spPr>
        </p:sp>
        <p:sp>
          <p:nvSpPr>
            <p:cNvPr id="91" name="Rectangle 91"/>
            <p:cNvSpPr/>
            <p:nvPr/>
          </p:nvSpPr>
          <p:spPr>
            <a:xfrm>
              <a:off x="8686800" y="704850"/>
              <a:ext cx="3238500" cy="381000"/>
            </a:xfrm>
            <a:prstGeom prst="roundRect">
              <a:avLst>
                <a:gd name="adj" fmla="val 25000"/>
              </a:avLst>
            </a:prstGeom>
            <a:solidFill>
              <a:srgbClr val="841600"/>
            </a:solidFill>
            <a:ln>
              <a:noFill/>
            </a:ln>
          </p:spPr>
        </p:sp>
        <p:sp>
          <p:nvSpPr>
            <p:cNvPr id="92" name="Rectangle 92"/>
            <p:cNvSpPr/>
            <p:nvPr/>
          </p:nvSpPr>
          <p:spPr>
            <a:xfrm>
              <a:off x="8686800" y="914400"/>
              <a:ext cx="3238500" cy="171450"/>
            </a:xfrm>
            <a:prstGeom prst="rect">
              <a:avLst/>
            </a:prstGeom>
            <a:solidFill>
              <a:srgbClr val="841600"/>
            </a:solidFill>
            <a:ln>
              <a:noFill/>
            </a:ln>
          </p:spPr>
        </p:sp>
        <p:sp>
          <p:nvSpPr>
            <p:cNvPr id="93" name="TextBox 93"/>
            <p:cNvSpPr txBox="1"/>
            <p:nvPr/>
          </p:nvSpPr>
          <p:spPr>
            <a:xfrm>
              <a:off x="9734550" y="832485"/>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风险与收益看板</a:t>
              </a:r>
            </a:p>
          </p:txBody>
        </p:sp>
        <p:sp>
          <p:nvSpPr>
            <p:cNvPr id="94" name="TextBox 94"/>
            <p:cNvSpPr txBox="1"/>
            <p:nvPr/>
          </p:nvSpPr>
          <p:spPr>
            <a:xfrm>
              <a:off x="10018014" y="1220152"/>
              <a:ext cx="576072"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增长指标</a:t>
              </a:r>
            </a:p>
          </p:txBody>
        </p:sp>
        <p:grpSp>
          <p:nvGrpSpPr>
            <p:cNvPr id="99" name="growth-active"/>
            <p:cNvGrpSpPr/>
            <p:nvPr/>
          </p:nvGrpSpPr>
          <p:grpSpPr>
            <a:xfrm>
              <a:off x="8801100" y="1428750"/>
              <a:ext cx="1485900" cy="952500"/>
              <a:chOff x="8801100" y="1428750"/>
              <a:chExt cx="1485900" cy="952500"/>
            </a:xfrm>
          </p:grpSpPr>
          <p:sp>
            <p:nvSpPr>
              <p:cNvPr id="95" name="Rectangle 95"/>
              <p:cNvSpPr/>
              <p:nvPr/>
            </p:nvSpPr>
            <p:spPr>
              <a:xfrm>
                <a:off x="8801100" y="1428750"/>
                <a:ext cx="1485900" cy="952500"/>
              </a:xfrm>
              <a:prstGeom prst="roundRect">
                <a:avLst>
                  <a:gd name="adj" fmla="val 6000"/>
                </a:avLst>
              </a:prstGeom>
              <a:solidFill>
                <a:srgbClr val="F4F8FE"/>
              </a:solidFill>
              <a:ln w="9525">
                <a:solidFill>
                  <a:srgbClr val="D7E2F2"/>
                </a:solidFill>
              </a:ln>
            </p:spPr>
          </p:sp>
          <p:sp>
            <p:nvSpPr>
              <p:cNvPr id="96" name="TextBox 96"/>
              <p:cNvSpPr txBox="1"/>
              <p:nvPr/>
            </p:nvSpPr>
            <p:spPr>
              <a:xfrm>
                <a:off x="9357550" y="1560195"/>
                <a:ext cx="372999" cy="176212"/>
              </a:xfrm>
              <a:prstGeom prst="rect">
                <a:avLst/>
              </a:prstGeom>
              <a:noFill/>
              <a:ln>
                <a:noFill/>
              </a:ln>
            </p:spPr>
            <p:txBody>
              <a:bodyPr wrap="none" lIns="0" tIns="0" rIns="0" bIns="0" anchor="t" anchorCtr="0">
                <a:spAutoFit/>
              </a:bodyPr>
              <a:lstStyle/>
              <a:p>
                <a:pPr algn="ctr"/>
                <a:r>
                  <a:rPr lang="zh-CN" sz="900" dirty="0">
                    <a:solidFill>
                      <a:srgbClr val="7E605A"/>
                    </a:solidFill>
                    <a:latin typeface="+mn-lt"/>
                    <a:ea typeface="+mn-ea"/>
                    <a:cs typeface="+mn-cs"/>
                  </a:rPr>
                  <a:t>活跃率</a:t>
                </a:r>
              </a:p>
            </p:txBody>
          </p:sp>
          <p:sp>
            <p:nvSpPr>
              <p:cNvPr id="97" name="TextBox 97"/>
              <p:cNvSpPr txBox="1"/>
              <p:nvPr/>
            </p:nvSpPr>
            <p:spPr>
              <a:xfrm>
                <a:off x="9228771" y="1811655"/>
                <a:ext cx="630559" cy="410718"/>
              </a:xfrm>
              <a:prstGeom prst="rect">
                <a:avLst/>
              </a:prstGeom>
              <a:noFill/>
              <a:ln>
                <a:noFill/>
              </a:ln>
            </p:spPr>
            <p:txBody>
              <a:bodyPr wrap="none" lIns="0" tIns="0" rIns="0" bIns="0" anchor="t" anchorCtr="0">
                <a:spAutoFit/>
              </a:bodyPr>
              <a:lstStyle/>
              <a:p>
                <a:pPr algn="ctr"/>
                <a:r>
                  <a:rPr lang="zh-CN" sz="2100" b="1" dirty="0">
                    <a:solidFill>
                      <a:srgbClr val="9E331E"/>
                    </a:solidFill>
                    <a:latin typeface="+mn-lt"/>
                    <a:ea typeface="+mn-ea"/>
                    <a:cs typeface="+mn-cs"/>
                  </a:rPr>
                  <a:t xml:space="preserve">+5　</a:t>
                </a:r>
              </a:p>
            </p:txBody>
          </p:sp>
          <p:sp>
            <p:nvSpPr>
              <p:cNvPr id="98" name="TextBox 98"/>
              <p:cNvSpPr txBox="1"/>
              <p:nvPr/>
            </p:nvSpPr>
            <p:spPr>
              <a:xfrm>
                <a:off x="9318511" y="2158841"/>
                <a:ext cx="451079" cy="161925"/>
              </a:xfrm>
              <a:prstGeom prst="rect">
                <a:avLst/>
              </a:prstGeom>
              <a:noFill/>
              <a:ln>
                <a:noFill/>
              </a:ln>
            </p:spPr>
            <p:txBody>
              <a:bodyPr wrap="none" lIns="0" tIns="0" rIns="0" bIns="0" anchor="t" anchorCtr="0">
                <a:spAutoFit/>
              </a:bodyPr>
              <a:lstStyle/>
              <a:p>
                <a:pPr algn="ctr"/>
                <a:r>
                  <a:rPr lang="zh-CN" sz="820" dirty="0">
                    <a:solidFill>
                      <a:srgbClr val="7E605A"/>
                    </a:solidFill>
                    <a:latin typeface="+mn-lt"/>
                    <a:ea typeface="+mn-ea"/>
                    <a:cs typeface="+mn-cs"/>
                  </a:rPr>
                  <a:t>个百分点</a:t>
                </a:r>
              </a:p>
            </p:txBody>
          </p:sp>
        </p:grpSp>
        <p:grpSp>
          <p:nvGrpSpPr>
            <p:cNvPr id="103" name="growth-volume"/>
            <p:cNvGrpSpPr/>
            <p:nvPr/>
          </p:nvGrpSpPr>
          <p:grpSpPr>
            <a:xfrm>
              <a:off x="10344150" y="1428750"/>
              <a:ext cx="1485900" cy="952500"/>
              <a:chOff x="10344150" y="1428750"/>
              <a:chExt cx="1485900" cy="952500"/>
            </a:xfrm>
          </p:grpSpPr>
          <p:sp>
            <p:nvSpPr>
              <p:cNvPr id="100" name="Rectangle 100"/>
              <p:cNvSpPr/>
              <p:nvPr/>
            </p:nvSpPr>
            <p:spPr>
              <a:xfrm>
                <a:off x="10344150" y="1428750"/>
                <a:ext cx="1485900" cy="952500"/>
              </a:xfrm>
              <a:prstGeom prst="roundRect">
                <a:avLst>
                  <a:gd name="adj" fmla="val 6000"/>
                </a:avLst>
              </a:prstGeom>
              <a:solidFill>
                <a:srgbClr val="F4F8FE"/>
              </a:solidFill>
              <a:ln w="9525">
                <a:solidFill>
                  <a:srgbClr val="D7E2F2"/>
                </a:solidFill>
              </a:ln>
            </p:spPr>
          </p:sp>
          <p:sp>
            <p:nvSpPr>
              <p:cNvPr id="101" name="TextBox 101"/>
              <p:cNvSpPr txBox="1"/>
              <p:nvPr/>
            </p:nvSpPr>
            <p:spPr>
              <a:xfrm>
                <a:off x="10900600" y="1560195"/>
                <a:ext cx="372999" cy="176212"/>
              </a:xfrm>
              <a:prstGeom prst="rect">
                <a:avLst/>
              </a:prstGeom>
              <a:noFill/>
              <a:ln>
                <a:noFill/>
              </a:ln>
            </p:spPr>
            <p:txBody>
              <a:bodyPr wrap="none" lIns="0" tIns="0" rIns="0" bIns="0" anchor="t" anchorCtr="0">
                <a:spAutoFit/>
              </a:bodyPr>
              <a:lstStyle/>
              <a:p>
                <a:pPr algn="ctr"/>
                <a:r>
                  <a:rPr lang="zh-CN" sz="900" dirty="0">
                    <a:solidFill>
                      <a:srgbClr val="7E605A"/>
                    </a:solidFill>
                    <a:latin typeface="+mn-lt"/>
                    <a:ea typeface="+mn-ea"/>
                    <a:cs typeface="+mn-cs"/>
                  </a:rPr>
                  <a:t>交易额</a:t>
                </a:r>
              </a:p>
            </p:txBody>
          </p:sp>
          <p:sp>
            <p:nvSpPr>
              <p:cNvPr id="102" name="TextBox 102"/>
              <p:cNvSpPr txBox="1"/>
              <p:nvPr/>
            </p:nvSpPr>
            <p:spPr>
              <a:xfrm>
                <a:off x="10630823" y="1868805"/>
                <a:ext cx="912554" cy="410718"/>
              </a:xfrm>
              <a:prstGeom prst="rect">
                <a:avLst/>
              </a:prstGeom>
              <a:noFill/>
              <a:ln>
                <a:noFill/>
              </a:ln>
            </p:spPr>
            <p:txBody>
              <a:bodyPr wrap="none" lIns="0" tIns="0" rIns="0" bIns="0" anchor="t" anchorCtr="0">
                <a:spAutoFit/>
              </a:bodyPr>
              <a:lstStyle/>
              <a:p>
                <a:pPr algn="ctr"/>
                <a:r>
                  <a:rPr lang="zh-CN" sz="2100" b="1" dirty="0">
                    <a:solidFill>
                      <a:srgbClr val="9E331E"/>
                    </a:solidFill>
                    <a:latin typeface="+mn-lt"/>
                    <a:ea typeface="+mn-ea"/>
                    <a:cs typeface="+mn-cs"/>
                  </a:rPr>
                  <a:t>+15</a:t>
                </a:r>
                <a:r>
                  <a:rPr lang="zh-CN" sz="1120" b="1" dirty="0">
                    <a:solidFill>
                      <a:srgbClr val="9E331E"/>
                    </a:solidFill>
                    <a:latin typeface="+mn-lt"/>
                    <a:ea typeface="+mn-ea"/>
                    <a:cs typeface="+mn-cs"/>
                  </a:rPr>
                  <a:t>%</a:t>
                </a:r>
                <a:r>
                  <a:rPr lang="zh-CN" sz="2100" b="1" dirty="0">
                    <a:solidFill>
                      <a:srgbClr val="9E331E"/>
                    </a:solidFill>
                    <a:latin typeface="+mn-lt"/>
                    <a:ea typeface="+mn-ea"/>
                    <a:cs typeface="+mn-cs"/>
                  </a:rPr>
                  <a:t xml:space="preserve">　</a:t>
                </a:r>
              </a:p>
            </p:txBody>
          </p:sp>
        </p:grpSp>
        <p:grpSp>
          <p:nvGrpSpPr>
            <p:cNvPr id="107" name="growth-installment"/>
            <p:cNvGrpSpPr/>
            <p:nvPr/>
          </p:nvGrpSpPr>
          <p:grpSpPr>
            <a:xfrm>
              <a:off x="8801100" y="2457450"/>
              <a:ext cx="1485900" cy="952500"/>
              <a:chOff x="8801100" y="2457450"/>
              <a:chExt cx="1485900" cy="952500"/>
            </a:xfrm>
          </p:grpSpPr>
          <p:sp>
            <p:nvSpPr>
              <p:cNvPr id="104" name="Rectangle 104"/>
              <p:cNvSpPr/>
              <p:nvPr/>
            </p:nvSpPr>
            <p:spPr>
              <a:xfrm>
                <a:off x="8801100" y="2457450"/>
                <a:ext cx="1485900" cy="952500"/>
              </a:xfrm>
              <a:prstGeom prst="roundRect">
                <a:avLst>
                  <a:gd name="adj" fmla="val 6000"/>
                </a:avLst>
              </a:prstGeom>
              <a:solidFill>
                <a:srgbClr val="F4F8FE"/>
              </a:solidFill>
              <a:ln w="9525">
                <a:solidFill>
                  <a:srgbClr val="D7E2F2"/>
                </a:solidFill>
              </a:ln>
            </p:spPr>
          </p:sp>
          <p:sp>
            <p:nvSpPr>
              <p:cNvPr id="105" name="TextBox 105"/>
              <p:cNvSpPr txBox="1"/>
              <p:nvPr/>
            </p:nvSpPr>
            <p:spPr>
              <a:xfrm>
                <a:off x="9296972" y="2588895"/>
                <a:ext cx="494157" cy="176212"/>
              </a:xfrm>
              <a:prstGeom prst="rect">
                <a:avLst/>
              </a:prstGeom>
              <a:noFill/>
              <a:ln>
                <a:noFill/>
              </a:ln>
            </p:spPr>
            <p:txBody>
              <a:bodyPr wrap="none" lIns="0" tIns="0" rIns="0" bIns="0" anchor="t" anchorCtr="0">
                <a:spAutoFit/>
              </a:bodyPr>
              <a:lstStyle/>
              <a:p>
                <a:pPr algn="ctr"/>
                <a:r>
                  <a:rPr lang="zh-CN" sz="900" dirty="0">
                    <a:solidFill>
                      <a:srgbClr val="7E605A"/>
                    </a:solidFill>
                    <a:latin typeface="+mn-lt"/>
                    <a:ea typeface="+mn-ea"/>
                    <a:cs typeface="+mn-cs"/>
                  </a:rPr>
                  <a:t>分期收入</a:t>
                </a:r>
              </a:p>
            </p:txBody>
          </p:sp>
          <p:sp>
            <p:nvSpPr>
              <p:cNvPr id="106" name="TextBox 106"/>
              <p:cNvSpPr txBox="1"/>
              <p:nvPr/>
            </p:nvSpPr>
            <p:spPr>
              <a:xfrm>
                <a:off x="9087773" y="2897505"/>
                <a:ext cx="912554" cy="410718"/>
              </a:xfrm>
              <a:prstGeom prst="rect">
                <a:avLst/>
              </a:prstGeom>
              <a:noFill/>
              <a:ln>
                <a:noFill/>
              </a:ln>
            </p:spPr>
            <p:txBody>
              <a:bodyPr wrap="none" lIns="0" tIns="0" rIns="0" bIns="0" anchor="t" anchorCtr="0">
                <a:spAutoFit/>
              </a:bodyPr>
              <a:lstStyle/>
              <a:p>
                <a:pPr algn="ctr"/>
                <a:r>
                  <a:rPr lang="zh-CN" sz="2100" b="1" dirty="0">
                    <a:solidFill>
                      <a:srgbClr val="9E331E"/>
                    </a:solidFill>
                    <a:latin typeface="+mn-lt"/>
                    <a:ea typeface="+mn-ea"/>
                    <a:cs typeface="+mn-cs"/>
                  </a:rPr>
                  <a:t>+10</a:t>
                </a:r>
                <a:r>
                  <a:rPr lang="zh-CN" sz="1120" b="1" dirty="0">
                    <a:solidFill>
                      <a:srgbClr val="9E331E"/>
                    </a:solidFill>
                    <a:latin typeface="+mn-lt"/>
                    <a:ea typeface="+mn-ea"/>
                    <a:cs typeface="+mn-cs"/>
                  </a:rPr>
                  <a:t>%</a:t>
                </a:r>
                <a:r>
                  <a:rPr lang="zh-CN" sz="2100" b="1" dirty="0">
                    <a:solidFill>
                      <a:srgbClr val="9E331E"/>
                    </a:solidFill>
                    <a:latin typeface="+mn-lt"/>
                    <a:ea typeface="+mn-ea"/>
                    <a:cs typeface="+mn-cs"/>
                  </a:rPr>
                  <a:t xml:space="preserve">　</a:t>
                </a:r>
              </a:p>
            </p:txBody>
          </p:sp>
        </p:grpSp>
        <p:grpSp>
          <p:nvGrpSpPr>
            <p:cNvPr id="116" name="growth-npl"/>
            <p:cNvGrpSpPr/>
            <p:nvPr/>
          </p:nvGrpSpPr>
          <p:grpSpPr>
            <a:xfrm>
              <a:off x="10344150" y="2457450"/>
              <a:ext cx="1485900" cy="993934"/>
              <a:chOff x="10344150" y="2457450"/>
              <a:chExt cx="1485900" cy="993934"/>
            </a:xfrm>
          </p:grpSpPr>
          <p:sp>
            <p:nvSpPr>
              <p:cNvPr id="108" name="Rectangle 108"/>
              <p:cNvSpPr/>
              <p:nvPr/>
            </p:nvSpPr>
            <p:spPr>
              <a:xfrm>
                <a:off x="10344150" y="2457450"/>
                <a:ext cx="1485900" cy="952500"/>
              </a:xfrm>
              <a:prstGeom prst="roundRect">
                <a:avLst>
                  <a:gd name="adj" fmla="val 6000"/>
                </a:avLst>
              </a:prstGeom>
              <a:solidFill>
                <a:srgbClr val="F4F8FE"/>
              </a:solidFill>
              <a:ln w="9525">
                <a:solidFill>
                  <a:srgbClr val="D7E2F2"/>
                </a:solidFill>
              </a:ln>
            </p:spPr>
          </p:sp>
          <p:sp>
            <p:nvSpPr>
              <p:cNvPr id="109" name="TextBox 109"/>
              <p:cNvSpPr txBox="1"/>
              <p:nvPr/>
            </p:nvSpPr>
            <p:spPr>
              <a:xfrm>
                <a:off x="10900600" y="2588895"/>
                <a:ext cx="372999" cy="176212"/>
              </a:xfrm>
              <a:prstGeom prst="rect">
                <a:avLst/>
              </a:prstGeom>
              <a:noFill/>
              <a:ln>
                <a:noFill/>
              </a:ln>
            </p:spPr>
            <p:txBody>
              <a:bodyPr wrap="none" lIns="0" tIns="0" rIns="0" bIns="0" anchor="t" anchorCtr="0">
                <a:spAutoFit/>
              </a:bodyPr>
              <a:lstStyle/>
              <a:p>
                <a:pPr algn="ctr"/>
                <a:r>
                  <a:rPr lang="zh-CN" sz="900" dirty="0">
                    <a:solidFill>
                      <a:srgbClr val="7E605A"/>
                    </a:solidFill>
                    <a:latin typeface="+mn-lt"/>
                    <a:ea typeface="+mn-ea"/>
                    <a:cs typeface="+mn-cs"/>
                  </a:rPr>
                  <a:t>不良率</a:t>
                </a:r>
              </a:p>
            </p:txBody>
          </p:sp>
          <p:sp>
            <p:nvSpPr>
              <p:cNvPr id="110" name="Freeform 110"/>
              <p:cNvSpPr/>
              <p:nvPr/>
            </p:nvSpPr>
            <p:spPr>
              <a:xfrm>
                <a:off x="10858500" y="2964370"/>
                <a:ext cx="114300" cy="197930"/>
              </a:xfrm>
              <a:custGeom>
                <a:avLst/>
                <a:gdLst/>
                <a:ahLst/>
                <a:cxnLst/>
                <a:rect l="l" t="t" r="r" b="b"/>
                <a:pathLst>
                  <a:path w="114300" h="197930">
                    <a:moveTo>
                      <a:pt x="0" y="197930"/>
                    </a:moveTo>
                    <a:cubicBezTo>
                      <a:pt x="16" y="116274"/>
                      <a:pt x="43584" y="40828"/>
                      <a:pt x="114300" y="0"/>
                    </a:cubicBezTo>
                  </a:path>
                </a:pathLst>
              </a:custGeom>
              <a:noFill/>
              <a:ln w="76200">
                <a:solidFill>
                  <a:srgbClr val="9E331E"/>
                </a:solidFill>
              </a:ln>
            </p:spPr>
          </p:sp>
          <p:sp>
            <p:nvSpPr>
              <p:cNvPr id="111" name="Freeform 111"/>
              <p:cNvSpPr/>
              <p:nvPr/>
            </p:nvSpPr>
            <p:spPr>
              <a:xfrm>
                <a:off x="10972800" y="2923535"/>
                <a:ext cx="228600" cy="40835"/>
              </a:xfrm>
              <a:custGeom>
                <a:avLst/>
                <a:gdLst/>
                <a:ahLst/>
                <a:cxnLst/>
                <a:rect l="l" t="t" r="r" b="b"/>
                <a:pathLst>
                  <a:path w="228600" h="40835">
                    <a:moveTo>
                      <a:pt x="0" y="40835"/>
                    </a:moveTo>
                    <a:cubicBezTo>
                      <a:pt x="70729" y="0"/>
                      <a:pt x="157871" y="0"/>
                      <a:pt x="228600" y="40835"/>
                    </a:cubicBezTo>
                  </a:path>
                </a:pathLst>
              </a:custGeom>
              <a:noFill/>
              <a:ln w="76200">
                <a:solidFill>
                  <a:srgbClr val="F04729"/>
                </a:solidFill>
              </a:ln>
            </p:spPr>
          </p:sp>
          <p:sp>
            <p:nvSpPr>
              <p:cNvPr id="112" name="Freeform 112"/>
              <p:cNvSpPr/>
              <p:nvPr/>
            </p:nvSpPr>
            <p:spPr>
              <a:xfrm>
                <a:off x="11201400" y="2964371"/>
                <a:ext cx="114300" cy="197929"/>
              </a:xfrm>
              <a:custGeom>
                <a:avLst/>
                <a:gdLst/>
                <a:ahLst/>
                <a:cxnLst/>
                <a:rect l="l" t="t" r="r" b="b"/>
                <a:pathLst>
                  <a:path w="114300" h="197929">
                    <a:moveTo>
                      <a:pt x="0" y="0"/>
                    </a:moveTo>
                    <a:cubicBezTo>
                      <a:pt x="70716" y="40828"/>
                      <a:pt x="114284" y="116274"/>
                      <a:pt x="114300" y="197929"/>
                    </a:cubicBezTo>
                  </a:path>
                </a:pathLst>
              </a:custGeom>
              <a:noFill/>
              <a:ln w="76200">
                <a:solidFill>
                  <a:srgbClr val="D94F38"/>
                </a:solidFill>
              </a:ln>
            </p:spPr>
          </p:sp>
          <p:sp>
            <p:nvSpPr>
              <p:cNvPr id="113" name="Line 113"/>
              <p:cNvSpPr/>
              <p:nvPr/>
            </p:nvSpPr>
            <p:spPr>
              <a:xfrm>
                <a:off x="10991850" y="2971800"/>
                <a:ext cx="95250" cy="190500"/>
              </a:xfrm>
              <a:custGeom>
                <a:avLst/>
                <a:gdLst/>
                <a:ahLst/>
                <a:cxnLst/>
                <a:rect l="l" t="t" r="r" b="b"/>
                <a:pathLst>
                  <a:path w="95250" h="190500">
                    <a:moveTo>
                      <a:pt x="95250" y="190500"/>
                    </a:moveTo>
                    <a:lnTo>
                      <a:pt x="0" y="0"/>
                    </a:lnTo>
                  </a:path>
                </a:pathLst>
              </a:custGeom>
              <a:noFill/>
              <a:ln w="19050">
                <a:solidFill>
                  <a:srgbClr val="1A1A1A"/>
                </a:solidFill>
              </a:ln>
            </p:spPr>
          </p:sp>
          <p:sp>
            <p:nvSpPr>
              <p:cNvPr id="114" name="Ellipse 114"/>
              <p:cNvSpPr/>
              <p:nvPr/>
            </p:nvSpPr>
            <p:spPr>
              <a:xfrm>
                <a:off x="11053762" y="3128962"/>
                <a:ext cx="66675" cy="66675"/>
              </a:xfrm>
              <a:prstGeom prst="ellipse">
                <a:avLst/>
              </a:prstGeom>
              <a:solidFill>
                <a:srgbClr val="1A1A1A"/>
              </a:solidFill>
              <a:ln>
                <a:noFill/>
              </a:ln>
            </p:spPr>
          </p:sp>
          <p:sp>
            <p:nvSpPr>
              <p:cNvPr id="115" name="TextBox 115"/>
              <p:cNvSpPr txBox="1"/>
              <p:nvPr/>
            </p:nvSpPr>
            <p:spPr>
              <a:xfrm>
                <a:off x="10697099" y="3231356"/>
                <a:ext cx="780003" cy="220028"/>
              </a:xfrm>
              <a:prstGeom prst="rect">
                <a:avLst/>
              </a:prstGeom>
              <a:noFill/>
              <a:ln>
                <a:noFill/>
              </a:ln>
            </p:spPr>
            <p:txBody>
              <a:bodyPr wrap="none" lIns="0" tIns="0" rIns="0" bIns="0" anchor="t" anchorCtr="0">
                <a:spAutoFit/>
              </a:bodyPr>
              <a:lstStyle/>
              <a:p>
                <a:pPr algn="ctr"/>
                <a:r>
                  <a:rPr lang="zh-CN" sz="1120" b="1" dirty="0">
                    <a:solidFill>
                      <a:srgbClr val="9E331E"/>
                    </a:solidFill>
                    <a:latin typeface="+mn-lt"/>
                    <a:ea typeface="+mn-ea"/>
                    <a:cs typeface="+mn-cs"/>
                  </a:rPr>
                  <a:t xml:space="preserve">≤2.0%　　</a:t>
                </a:r>
              </a:p>
            </p:txBody>
          </p:sp>
        </p:grpSp>
        <p:sp>
          <p:nvSpPr>
            <p:cNvPr id="117" name="Line 117"/>
            <p:cNvSpPr/>
            <p:nvPr/>
          </p:nvSpPr>
          <p:spPr>
            <a:xfrm>
              <a:off x="8801100" y="3562350"/>
              <a:ext cx="3009900" cy="9525"/>
            </a:xfrm>
            <a:custGeom>
              <a:avLst/>
              <a:gdLst/>
              <a:ahLst/>
              <a:cxnLst/>
              <a:rect l="l" t="t" r="r" b="b"/>
              <a:pathLst>
                <a:path w="3009900" h="9525">
                  <a:moveTo>
                    <a:pt x="0" y="0"/>
                  </a:moveTo>
                  <a:lnTo>
                    <a:pt x="3009900" y="0"/>
                  </a:lnTo>
                </a:path>
              </a:pathLst>
            </a:custGeom>
            <a:noFill/>
            <a:ln w="9525">
              <a:solidFill>
                <a:srgbClr val="E5ECF6"/>
              </a:solidFill>
            </a:ln>
          </p:spPr>
        </p:sp>
        <p:sp>
          <p:nvSpPr>
            <p:cNvPr id="118" name="TextBox 118"/>
            <p:cNvSpPr txBox="1"/>
            <p:nvPr/>
          </p:nvSpPr>
          <p:spPr>
            <a:xfrm>
              <a:off x="10018014" y="3677602"/>
              <a:ext cx="576072"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重点风险</a:t>
              </a:r>
            </a:p>
          </p:txBody>
        </p:sp>
        <p:grpSp>
          <p:nvGrpSpPr>
            <p:cNvPr id="125" name="risk-cash"/>
            <p:cNvGrpSpPr/>
            <p:nvPr/>
          </p:nvGrpSpPr>
          <p:grpSpPr>
            <a:xfrm>
              <a:off x="8801100" y="3905250"/>
              <a:ext cx="704850" cy="571500"/>
              <a:chOff x="8801100" y="3905250"/>
              <a:chExt cx="704850" cy="571500"/>
            </a:xfrm>
          </p:grpSpPr>
          <p:sp>
            <p:nvSpPr>
              <p:cNvPr id="119" name="Rectangle 119"/>
              <p:cNvSpPr/>
              <p:nvPr/>
            </p:nvSpPr>
            <p:spPr>
              <a:xfrm>
                <a:off x="8801100" y="3905250"/>
                <a:ext cx="704850" cy="571500"/>
              </a:xfrm>
              <a:prstGeom prst="roundRect">
                <a:avLst>
                  <a:gd name="adj" fmla="val 10000"/>
                </a:avLst>
              </a:prstGeom>
              <a:solidFill>
                <a:srgbClr val="FDEBD7"/>
              </a:solidFill>
              <a:ln>
                <a:noFill/>
              </a:ln>
            </p:spPr>
          </p:sp>
          <p:grpSp>
            <p:nvGrpSpPr>
              <p:cNvPr id="123" name="Group 123"/>
              <p:cNvGrpSpPr/>
              <p:nvPr/>
            </p:nvGrpSpPr>
            <p:grpSpPr>
              <a:xfrm>
                <a:off x="9065469" y="4004743"/>
                <a:ext cx="176105" cy="151297"/>
                <a:chOff x="9065469" y="4004743"/>
                <a:chExt cx="176105" cy="151297"/>
              </a:xfrm>
            </p:grpSpPr>
            <p:sp>
              <p:nvSpPr>
                <p:cNvPr id="120" name="Freeform 120"/>
                <p:cNvSpPr/>
                <p:nvPr/>
              </p:nvSpPr>
              <p:spPr>
                <a:xfrm>
                  <a:off x="9153525" y="4060031"/>
                  <a:ext cx="9525" cy="34925"/>
                </a:xfrm>
                <a:custGeom>
                  <a:avLst/>
                  <a:gdLst/>
                  <a:ahLst/>
                  <a:cxnLst/>
                  <a:rect l="l" t="t" r="r" b="b"/>
                  <a:pathLst>
                    <a:path w="9525" h="34925">
                      <a:moveTo>
                        <a:pt x="0" y="0"/>
                      </a:moveTo>
                      <a:lnTo>
                        <a:pt x="0" y="34925"/>
                      </a:lnTo>
                    </a:path>
                  </a:pathLst>
                </a:custGeom>
                <a:noFill/>
                <a:ln w="17463">
                  <a:solidFill>
                    <a:srgbClr val="ED4D31"/>
                  </a:solidFill>
                </a:ln>
              </p:spPr>
            </p:sp>
            <p:sp>
              <p:nvSpPr>
                <p:cNvPr id="121" name="Freeform 121"/>
                <p:cNvSpPr/>
                <p:nvPr/>
              </p:nvSpPr>
              <p:spPr>
                <a:xfrm>
                  <a:off x="9065469" y="40047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ED4D31"/>
                  </a:solidFill>
                </a:ln>
              </p:spPr>
            </p:sp>
            <p:sp>
              <p:nvSpPr>
                <p:cNvPr id="122" name="Freeform 122"/>
                <p:cNvSpPr/>
                <p:nvPr/>
              </p:nvSpPr>
              <p:spPr>
                <a:xfrm>
                  <a:off x="9153525" y="4121150"/>
                  <a:ext cx="9525" cy="9525"/>
                </a:xfrm>
                <a:custGeom>
                  <a:avLst/>
                  <a:gdLst/>
                  <a:ahLst/>
                  <a:cxnLst/>
                  <a:rect l="l" t="t" r="r" b="b"/>
                  <a:pathLst>
                    <a:path w="9525" h="9525">
                      <a:moveTo>
                        <a:pt x="0" y="0"/>
                      </a:moveTo>
                      <a:lnTo>
                        <a:pt x="87" y="0"/>
                      </a:lnTo>
                    </a:path>
                  </a:pathLst>
                </a:custGeom>
                <a:noFill/>
                <a:ln w="17463">
                  <a:solidFill>
                    <a:srgbClr val="ED4D31"/>
                  </a:solidFill>
                </a:ln>
              </p:spPr>
            </p:sp>
          </p:grpSp>
          <p:sp>
            <p:nvSpPr>
              <p:cNvPr id="124" name="TextBox 124"/>
              <p:cNvSpPr txBox="1"/>
              <p:nvPr/>
            </p:nvSpPr>
            <p:spPr>
              <a:xfrm>
                <a:off x="9022220" y="4280297"/>
                <a:ext cx="262611" cy="183356"/>
              </a:xfrm>
              <a:prstGeom prst="rect">
                <a:avLst/>
              </a:prstGeom>
              <a:noFill/>
              <a:ln>
                <a:noFill/>
              </a:ln>
            </p:spPr>
            <p:txBody>
              <a:bodyPr wrap="none" lIns="0" tIns="0" rIns="0" bIns="0" anchor="t" anchorCtr="0">
                <a:spAutoFit/>
              </a:bodyPr>
              <a:lstStyle/>
              <a:p>
                <a:pPr algn="ctr"/>
                <a:r>
                  <a:rPr lang="zh-CN" sz="940" b="1" dirty="0">
                    <a:solidFill>
                      <a:srgbClr val="C2290F"/>
                    </a:solidFill>
                    <a:latin typeface="+mn-lt"/>
                    <a:ea typeface="+mn-ea"/>
                    <a:cs typeface="+mn-cs"/>
                  </a:rPr>
                  <a:t>套现</a:t>
                </a:r>
              </a:p>
            </p:txBody>
          </p:sp>
        </p:grpSp>
        <p:grpSp>
          <p:nvGrpSpPr>
            <p:cNvPr id="131" name="risk-fraud"/>
            <p:cNvGrpSpPr/>
            <p:nvPr/>
          </p:nvGrpSpPr>
          <p:grpSpPr>
            <a:xfrm>
              <a:off x="9582150" y="3905250"/>
              <a:ext cx="704850" cy="571500"/>
              <a:chOff x="9582150" y="3905250"/>
              <a:chExt cx="704850" cy="571500"/>
            </a:xfrm>
          </p:grpSpPr>
          <p:sp>
            <p:nvSpPr>
              <p:cNvPr id="126" name="Rectangle 126"/>
              <p:cNvSpPr/>
              <p:nvPr/>
            </p:nvSpPr>
            <p:spPr>
              <a:xfrm>
                <a:off x="9582150" y="3905250"/>
                <a:ext cx="704850" cy="571500"/>
              </a:xfrm>
              <a:prstGeom prst="roundRect">
                <a:avLst>
                  <a:gd name="adj" fmla="val 10000"/>
                </a:avLst>
              </a:prstGeom>
              <a:solidFill>
                <a:srgbClr val="FDEBD7"/>
              </a:solidFill>
              <a:ln>
                <a:noFill/>
              </a:ln>
            </p:spPr>
          </p:sp>
          <p:grpSp>
            <p:nvGrpSpPr>
              <p:cNvPr id="129" name="Group 129"/>
              <p:cNvGrpSpPr/>
              <p:nvPr/>
            </p:nvGrpSpPr>
            <p:grpSpPr>
              <a:xfrm>
                <a:off x="9855994" y="4033838"/>
                <a:ext cx="157163" cy="104775"/>
                <a:chOff x="9855994" y="4033838"/>
                <a:chExt cx="157163" cy="104775"/>
              </a:xfrm>
            </p:grpSpPr>
            <p:sp>
              <p:nvSpPr>
                <p:cNvPr id="127" name="Freeform 127"/>
                <p:cNvSpPr/>
                <p:nvPr/>
              </p:nvSpPr>
              <p:spPr>
                <a:xfrm>
                  <a:off x="9917113" y="4068763"/>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ED4D31"/>
                  </a:solidFill>
                </a:ln>
              </p:spPr>
            </p:sp>
            <p:sp>
              <p:nvSpPr>
                <p:cNvPr id="128" name="Freeform 128"/>
                <p:cNvSpPr/>
                <p:nvPr/>
              </p:nvSpPr>
              <p:spPr>
                <a:xfrm>
                  <a:off x="9855994" y="4033838"/>
                  <a:ext cx="157163" cy="104775"/>
                </a:xfrm>
                <a:custGeom>
                  <a:avLst/>
                  <a:gdLst/>
                  <a:ahLst/>
                  <a:cxnLst/>
                  <a:rect l="l" t="t" r="r" b="b"/>
                  <a:pathLst>
                    <a:path w="157163" h="104775">
                      <a:moveTo>
                        <a:pt x="157163" y="52388"/>
                      </a:moveTo>
                      <a:cubicBezTo>
                        <a:pt x="136208" y="87313"/>
                        <a:pt x="110014" y="104775"/>
                        <a:pt x="78581" y="104775"/>
                      </a:cubicBezTo>
                      <a:cubicBezTo>
                        <a:pt x="47149" y="104775"/>
                        <a:pt x="20955" y="87313"/>
                        <a:pt x="0" y="52388"/>
                      </a:cubicBezTo>
                      <a:cubicBezTo>
                        <a:pt x="20955" y="17463"/>
                        <a:pt x="47149" y="0"/>
                        <a:pt x="78581" y="0"/>
                      </a:cubicBezTo>
                      <a:cubicBezTo>
                        <a:pt x="110014" y="0"/>
                        <a:pt x="136208" y="17463"/>
                        <a:pt x="157163" y="52388"/>
                      </a:cubicBezTo>
                    </a:path>
                  </a:pathLst>
                </a:custGeom>
                <a:noFill/>
                <a:ln w="17463">
                  <a:solidFill>
                    <a:srgbClr val="ED4D31"/>
                  </a:solidFill>
                </a:ln>
              </p:spPr>
            </p:sp>
          </p:grpSp>
          <p:sp>
            <p:nvSpPr>
              <p:cNvPr id="130" name="TextBox 130"/>
              <p:cNvSpPr txBox="1"/>
              <p:nvPr/>
            </p:nvSpPr>
            <p:spPr>
              <a:xfrm>
                <a:off x="9803270" y="4280297"/>
                <a:ext cx="262611" cy="183356"/>
              </a:xfrm>
              <a:prstGeom prst="rect">
                <a:avLst/>
              </a:prstGeom>
              <a:noFill/>
              <a:ln>
                <a:noFill/>
              </a:ln>
            </p:spPr>
            <p:txBody>
              <a:bodyPr wrap="none" lIns="0" tIns="0" rIns="0" bIns="0" anchor="t" anchorCtr="0">
                <a:spAutoFit/>
              </a:bodyPr>
              <a:lstStyle/>
              <a:p>
                <a:pPr algn="ctr"/>
                <a:r>
                  <a:rPr lang="zh-CN" sz="940" b="1" dirty="0">
                    <a:solidFill>
                      <a:srgbClr val="C2290F"/>
                    </a:solidFill>
                    <a:latin typeface="+mn-lt"/>
                    <a:ea typeface="+mn-ea"/>
                    <a:cs typeface="+mn-cs"/>
                  </a:rPr>
                  <a:t>欺诈</a:t>
                </a:r>
              </a:p>
            </p:txBody>
          </p:sp>
        </p:grpSp>
        <p:grpSp>
          <p:nvGrpSpPr>
            <p:cNvPr id="139" name="risk-codebt"/>
            <p:cNvGrpSpPr/>
            <p:nvPr/>
          </p:nvGrpSpPr>
          <p:grpSpPr>
            <a:xfrm>
              <a:off x="10363200" y="3905250"/>
              <a:ext cx="704850" cy="571500"/>
              <a:chOff x="10363200" y="3905250"/>
              <a:chExt cx="704850" cy="571500"/>
            </a:xfrm>
          </p:grpSpPr>
          <p:sp>
            <p:nvSpPr>
              <p:cNvPr id="132" name="Rectangle 132"/>
              <p:cNvSpPr/>
              <p:nvPr/>
            </p:nvSpPr>
            <p:spPr>
              <a:xfrm>
                <a:off x="10363200" y="3905250"/>
                <a:ext cx="704850" cy="571500"/>
              </a:xfrm>
              <a:prstGeom prst="roundRect">
                <a:avLst>
                  <a:gd name="adj" fmla="val 10000"/>
                </a:avLst>
              </a:prstGeom>
              <a:solidFill>
                <a:srgbClr val="FDEBD7"/>
              </a:solidFill>
              <a:ln>
                <a:noFill/>
              </a:ln>
            </p:spPr>
          </p:sp>
          <p:grpSp>
            <p:nvGrpSpPr>
              <p:cNvPr id="137" name="Group 137"/>
              <p:cNvGrpSpPr/>
              <p:nvPr/>
            </p:nvGrpSpPr>
            <p:grpSpPr>
              <a:xfrm>
                <a:off x="10637044" y="4007644"/>
                <a:ext cx="157163" cy="157163"/>
                <a:chOff x="10637044" y="4007644"/>
                <a:chExt cx="157163" cy="157163"/>
              </a:xfrm>
            </p:grpSpPr>
            <p:sp>
              <p:nvSpPr>
                <p:cNvPr id="133" name="Freeform 133"/>
                <p:cNvSpPr/>
                <p:nvPr/>
              </p:nvSpPr>
              <p:spPr>
                <a:xfrm>
                  <a:off x="10654506" y="40076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ED4D31"/>
                  </a:solidFill>
                </a:ln>
              </p:spPr>
            </p:sp>
            <p:sp>
              <p:nvSpPr>
                <p:cNvPr id="134" name="Freeform 134"/>
                <p:cNvSpPr/>
                <p:nvPr/>
              </p:nvSpPr>
              <p:spPr>
                <a:xfrm>
                  <a:off x="10637044" y="41124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ED4D31"/>
                  </a:solidFill>
                </a:ln>
              </p:spPr>
            </p:sp>
            <p:sp>
              <p:nvSpPr>
                <p:cNvPr id="135" name="Freeform 135"/>
                <p:cNvSpPr/>
                <p:nvPr/>
              </p:nvSpPr>
              <p:spPr>
                <a:xfrm>
                  <a:off x="10750550" y="40087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ED4D31"/>
                  </a:solidFill>
                </a:ln>
              </p:spPr>
            </p:sp>
            <p:sp>
              <p:nvSpPr>
                <p:cNvPr id="136" name="Freeform 136"/>
                <p:cNvSpPr/>
                <p:nvPr/>
              </p:nvSpPr>
              <p:spPr>
                <a:xfrm>
                  <a:off x="10768013" y="41137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ED4D31"/>
                  </a:solidFill>
                </a:ln>
              </p:spPr>
            </p:sp>
          </p:grpSp>
          <p:sp>
            <p:nvSpPr>
              <p:cNvPr id="138" name="TextBox 138"/>
              <p:cNvSpPr txBox="1"/>
              <p:nvPr/>
            </p:nvSpPr>
            <p:spPr>
              <a:xfrm>
                <a:off x="10584320" y="4280297"/>
                <a:ext cx="262611" cy="183356"/>
              </a:xfrm>
              <a:prstGeom prst="rect">
                <a:avLst/>
              </a:prstGeom>
              <a:noFill/>
              <a:ln>
                <a:noFill/>
              </a:ln>
            </p:spPr>
            <p:txBody>
              <a:bodyPr wrap="none" lIns="0" tIns="0" rIns="0" bIns="0" anchor="t" anchorCtr="0">
                <a:spAutoFit/>
              </a:bodyPr>
              <a:lstStyle/>
              <a:p>
                <a:pPr algn="ctr"/>
                <a:r>
                  <a:rPr lang="zh-CN" sz="940" b="1" dirty="0">
                    <a:solidFill>
                      <a:srgbClr val="C2290F"/>
                    </a:solidFill>
                    <a:latin typeface="+mn-lt"/>
                    <a:ea typeface="+mn-ea"/>
                    <a:cs typeface="+mn-cs"/>
                  </a:rPr>
                  <a:t>共债</a:t>
                </a:r>
              </a:p>
            </p:txBody>
          </p:sp>
        </p:grpSp>
        <p:grpSp>
          <p:nvGrpSpPr>
            <p:cNvPr id="149" name="risk-overdue"/>
            <p:cNvGrpSpPr/>
            <p:nvPr/>
          </p:nvGrpSpPr>
          <p:grpSpPr>
            <a:xfrm>
              <a:off x="11144250" y="3905250"/>
              <a:ext cx="704850" cy="571500"/>
              <a:chOff x="11144250" y="3905250"/>
              <a:chExt cx="704850" cy="571500"/>
            </a:xfrm>
          </p:grpSpPr>
          <p:sp>
            <p:nvSpPr>
              <p:cNvPr id="140" name="Rectangle 140"/>
              <p:cNvSpPr/>
              <p:nvPr/>
            </p:nvSpPr>
            <p:spPr>
              <a:xfrm>
                <a:off x="11144250" y="3905250"/>
                <a:ext cx="704850" cy="571500"/>
              </a:xfrm>
              <a:prstGeom prst="roundRect">
                <a:avLst>
                  <a:gd name="adj" fmla="val 10000"/>
                </a:avLst>
              </a:prstGeom>
              <a:solidFill>
                <a:srgbClr val="FDEBD7"/>
              </a:solidFill>
              <a:ln>
                <a:noFill/>
              </a:ln>
            </p:spPr>
          </p:sp>
          <p:grpSp>
            <p:nvGrpSpPr>
              <p:cNvPr id="147" name="Group 147"/>
              <p:cNvGrpSpPr/>
              <p:nvPr/>
            </p:nvGrpSpPr>
            <p:grpSpPr>
              <a:xfrm>
                <a:off x="11426825" y="4007644"/>
                <a:ext cx="139700" cy="157162"/>
                <a:chOff x="11426825" y="4007644"/>
                <a:chExt cx="139700" cy="157162"/>
              </a:xfrm>
            </p:grpSpPr>
            <p:sp>
              <p:nvSpPr>
                <p:cNvPr id="141" name="Freeform 141"/>
                <p:cNvSpPr/>
                <p:nvPr/>
              </p:nvSpPr>
              <p:spPr>
                <a:xfrm>
                  <a:off x="11426825" y="4025106"/>
                  <a:ext cx="139700" cy="139700"/>
                </a:xfrm>
                <a:custGeom>
                  <a:avLst/>
                  <a:gdLst/>
                  <a:ahLst/>
                  <a:cxnLst/>
                  <a:rect l="l" t="t" r="r" b="b"/>
                  <a:pathLst>
                    <a:path w="139700" h="139700">
                      <a:moveTo>
                        <a:pt x="0" y="17463"/>
                      </a:moveTo>
                      <a:cubicBezTo>
                        <a:pt x="0" y="7818"/>
                        <a:pt x="7818" y="0"/>
                        <a:pt x="17463" y="0"/>
                      </a:cubicBezTo>
                      <a:lnTo>
                        <a:pt x="122238" y="0"/>
                      </a:lnTo>
                      <a:cubicBezTo>
                        <a:pt x="131882" y="0"/>
                        <a:pt x="139700" y="7818"/>
                        <a:pt x="139700" y="17463"/>
                      </a:cubicBezTo>
                      <a:lnTo>
                        <a:pt x="139700" y="122238"/>
                      </a:lnTo>
                      <a:cubicBezTo>
                        <a:pt x="139700" y="131882"/>
                        <a:pt x="131882" y="139700"/>
                        <a:pt x="122238" y="139700"/>
                      </a:cubicBezTo>
                      <a:lnTo>
                        <a:pt x="17463" y="139700"/>
                      </a:lnTo>
                      <a:cubicBezTo>
                        <a:pt x="7818" y="139700"/>
                        <a:pt x="0" y="131882"/>
                        <a:pt x="0" y="122238"/>
                      </a:cubicBezTo>
                      <a:lnTo>
                        <a:pt x="0" y="17463"/>
                      </a:lnTo>
                    </a:path>
                  </a:pathLst>
                </a:custGeom>
                <a:noFill/>
                <a:ln w="17463">
                  <a:solidFill>
                    <a:srgbClr val="ED4D31"/>
                  </a:solidFill>
                </a:ln>
              </p:spPr>
            </p:sp>
            <p:sp>
              <p:nvSpPr>
                <p:cNvPr id="142" name="Freeform 142"/>
                <p:cNvSpPr/>
                <p:nvPr/>
              </p:nvSpPr>
              <p:spPr>
                <a:xfrm>
                  <a:off x="11531600" y="4007644"/>
                  <a:ext cx="9525" cy="34925"/>
                </a:xfrm>
                <a:custGeom>
                  <a:avLst/>
                  <a:gdLst/>
                  <a:ahLst/>
                  <a:cxnLst/>
                  <a:rect l="l" t="t" r="r" b="b"/>
                  <a:pathLst>
                    <a:path w="9525" h="34925">
                      <a:moveTo>
                        <a:pt x="0" y="0"/>
                      </a:moveTo>
                      <a:lnTo>
                        <a:pt x="0" y="34925"/>
                      </a:lnTo>
                    </a:path>
                  </a:pathLst>
                </a:custGeom>
                <a:noFill/>
                <a:ln w="17463">
                  <a:solidFill>
                    <a:srgbClr val="ED4D31"/>
                  </a:solidFill>
                </a:ln>
              </p:spPr>
            </p:sp>
            <p:sp>
              <p:nvSpPr>
                <p:cNvPr id="143" name="Freeform 143"/>
                <p:cNvSpPr/>
                <p:nvPr/>
              </p:nvSpPr>
              <p:spPr>
                <a:xfrm>
                  <a:off x="11461750" y="4007644"/>
                  <a:ext cx="9525" cy="34925"/>
                </a:xfrm>
                <a:custGeom>
                  <a:avLst/>
                  <a:gdLst/>
                  <a:ahLst/>
                  <a:cxnLst/>
                  <a:rect l="l" t="t" r="r" b="b"/>
                  <a:pathLst>
                    <a:path w="9525" h="34925">
                      <a:moveTo>
                        <a:pt x="0" y="0"/>
                      </a:moveTo>
                      <a:lnTo>
                        <a:pt x="0" y="34925"/>
                      </a:lnTo>
                    </a:path>
                  </a:pathLst>
                </a:custGeom>
                <a:noFill/>
                <a:ln w="17463">
                  <a:solidFill>
                    <a:srgbClr val="ED4D31"/>
                  </a:solidFill>
                </a:ln>
              </p:spPr>
            </p:sp>
            <p:sp>
              <p:nvSpPr>
                <p:cNvPr id="144" name="Freeform 144"/>
                <p:cNvSpPr/>
                <p:nvPr/>
              </p:nvSpPr>
              <p:spPr>
                <a:xfrm>
                  <a:off x="11426825" y="4077494"/>
                  <a:ext cx="139700" cy="9525"/>
                </a:xfrm>
                <a:custGeom>
                  <a:avLst/>
                  <a:gdLst/>
                  <a:ahLst/>
                  <a:cxnLst/>
                  <a:rect l="l" t="t" r="r" b="b"/>
                  <a:pathLst>
                    <a:path w="139700" h="9525">
                      <a:moveTo>
                        <a:pt x="0" y="0"/>
                      </a:moveTo>
                      <a:lnTo>
                        <a:pt x="139700" y="0"/>
                      </a:lnTo>
                    </a:path>
                  </a:pathLst>
                </a:custGeom>
                <a:noFill/>
                <a:ln w="17463">
                  <a:solidFill>
                    <a:srgbClr val="ED4D31"/>
                  </a:solidFill>
                </a:ln>
              </p:spPr>
            </p:sp>
            <p:sp>
              <p:nvSpPr>
                <p:cNvPr id="145" name="Freeform 145"/>
                <p:cNvSpPr/>
                <p:nvPr/>
              </p:nvSpPr>
              <p:spPr>
                <a:xfrm>
                  <a:off x="11487944" y="4112419"/>
                  <a:ext cx="9525" cy="9525"/>
                </a:xfrm>
                <a:custGeom>
                  <a:avLst/>
                  <a:gdLst/>
                  <a:ahLst/>
                  <a:cxnLst/>
                  <a:rect l="l" t="t" r="r" b="b"/>
                  <a:pathLst>
                    <a:path w="9525" h="9525">
                      <a:moveTo>
                        <a:pt x="0" y="0"/>
                      </a:moveTo>
                      <a:lnTo>
                        <a:pt x="8731" y="0"/>
                      </a:lnTo>
                    </a:path>
                  </a:pathLst>
                </a:custGeom>
                <a:noFill/>
                <a:ln w="17463">
                  <a:solidFill>
                    <a:srgbClr val="ED4D31"/>
                  </a:solidFill>
                </a:ln>
              </p:spPr>
            </p:sp>
            <p:sp>
              <p:nvSpPr>
                <p:cNvPr id="146" name="Freeform 146"/>
                <p:cNvSpPr/>
                <p:nvPr/>
              </p:nvSpPr>
              <p:spPr>
                <a:xfrm>
                  <a:off x="11496675" y="4112419"/>
                  <a:ext cx="9525" cy="26194"/>
                </a:xfrm>
                <a:custGeom>
                  <a:avLst/>
                  <a:gdLst/>
                  <a:ahLst/>
                  <a:cxnLst/>
                  <a:rect l="l" t="t" r="r" b="b"/>
                  <a:pathLst>
                    <a:path w="9525" h="26194">
                      <a:moveTo>
                        <a:pt x="0" y="0"/>
                      </a:moveTo>
                      <a:lnTo>
                        <a:pt x="0" y="26194"/>
                      </a:lnTo>
                    </a:path>
                  </a:pathLst>
                </a:custGeom>
                <a:noFill/>
                <a:ln w="17463">
                  <a:solidFill>
                    <a:srgbClr val="ED4D31"/>
                  </a:solidFill>
                </a:ln>
              </p:spPr>
            </p:sp>
          </p:grpSp>
          <p:sp>
            <p:nvSpPr>
              <p:cNvPr id="148" name="TextBox 148"/>
              <p:cNvSpPr txBox="1"/>
              <p:nvPr/>
            </p:nvSpPr>
            <p:spPr>
              <a:xfrm>
                <a:off x="11365370" y="4280297"/>
                <a:ext cx="262611" cy="183356"/>
              </a:xfrm>
              <a:prstGeom prst="rect">
                <a:avLst/>
              </a:prstGeom>
              <a:noFill/>
              <a:ln>
                <a:noFill/>
              </a:ln>
            </p:spPr>
            <p:txBody>
              <a:bodyPr wrap="none" lIns="0" tIns="0" rIns="0" bIns="0" anchor="t" anchorCtr="0">
                <a:spAutoFit/>
              </a:bodyPr>
              <a:lstStyle/>
              <a:p>
                <a:pPr algn="ctr"/>
                <a:r>
                  <a:rPr lang="zh-CN" sz="940" b="1" dirty="0">
                    <a:solidFill>
                      <a:srgbClr val="C2290F"/>
                    </a:solidFill>
                    <a:latin typeface="+mn-lt"/>
                    <a:ea typeface="+mn-ea"/>
                    <a:cs typeface="+mn-cs"/>
                  </a:rPr>
                  <a:t>逾期</a:t>
                </a:r>
              </a:p>
            </p:txBody>
          </p:sp>
        </p:grpSp>
      </p:grpSp>
      <p:grpSp>
        <p:nvGrpSpPr>
          <p:cNvPr id="189" name="segment-actions"/>
          <p:cNvGrpSpPr/>
          <p:nvPr/>
        </p:nvGrpSpPr>
        <p:grpSpPr>
          <a:xfrm>
            <a:off x="266700" y="5410200"/>
            <a:ext cx="11658600" cy="1219200"/>
            <a:chOff x="266700" y="5410200"/>
            <a:chExt cx="11658600" cy="1219200"/>
          </a:xfrm>
        </p:grpSpPr>
        <p:sp>
          <p:nvSpPr>
            <p:cNvPr id="151" name="Rectangle 151"/>
            <p:cNvSpPr/>
            <p:nvPr/>
          </p:nvSpPr>
          <p:spPr>
            <a:xfrm>
              <a:off x="266700" y="5410200"/>
              <a:ext cx="11658600" cy="1219200"/>
            </a:xfrm>
            <a:prstGeom prst="roundRect">
              <a:avLst>
                <a:gd name="adj" fmla="val 7812"/>
              </a:avLst>
            </a:prstGeom>
            <a:solidFill>
              <a:srgbClr val="FFFFFF"/>
            </a:solidFill>
            <a:ln w="9525">
              <a:solidFill>
                <a:srgbClr val="D7E2F2"/>
              </a:solidFill>
            </a:ln>
          </p:spPr>
        </p:sp>
        <p:sp>
          <p:nvSpPr>
            <p:cNvPr id="152" name="TextBox 152"/>
            <p:cNvSpPr txBox="1"/>
            <p:nvPr/>
          </p:nvSpPr>
          <p:spPr>
            <a:xfrm>
              <a:off x="5605272" y="5566410"/>
              <a:ext cx="981456" cy="234696"/>
            </a:xfrm>
            <a:prstGeom prst="rect">
              <a:avLst/>
            </a:prstGeom>
            <a:noFill/>
            <a:ln>
              <a:noFill/>
            </a:ln>
          </p:spPr>
          <p:txBody>
            <a:bodyPr wrap="none" lIns="0" tIns="0" rIns="0" bIns="0" anchor="t" anchorCtr="0">
              <a:spAutoFit/>
            </a:bodyPr>
            <a:lstStyle/>
            <a:p>
              <a:pPr algn="ctr"/>
              <a:r>
                <a:rPr lang="zh-CN" sz="1200" b="1" dirty="0">
                  <a:solidFill>
                    <a:srgbClr val="841600"/>
                  </a:solidFill>
                  <a:latin typeface="+mn-lt"/>
                  <a:ea typeface="+mn-ea"/>
                  <a:cs typeface="+mn-cs"/>
                </a:rPr>
                <a:t>四类客群动作</a:t>
              </a:r>
            </a:p>
          </p:txBody>
        </p:sp>
        <p:grpSp>
          <p:nvGrpSpPr>
            <p:cNvPr id="161" name="action-1"/>
            <p:cNvGrpSpPr/>
            <p:nvPr/>
          </p:nvGrpSpPr>
          <p:grpSpPr>
            <a:xfrm>
              <a:off x="381000" y="5867400"/>
              <a:ext cx="2438400" cy="571500"/>
              <a:chOff x="381000" y="5867400"/>
              <a:chExt cx="2438400" cy="571500"/>
            </a:xfrm>
          </p:grpSpPr>
          <p:sp>
            <p:nvSpPr>
              <p:cNvPr id="153" name="Rectangle 153"/>
              <p:cNvSpPr/>
              <p:nvPr/>
            </p:nvSpPr>
            <p:spPr>
              <a:xfrm>
                <a:off x="381000" y="5867400"/>
                <a:ext cx="2438400" cy="571500"/>
              </a:xfrm>
              <a:prstGeom prst="roundRect">
                <a:avLst>
                  <a:gd name="adj" fmla="val 13333"/>
                </a:avLst>
              </a:prstGeom>
              <a:solidFill>
                <a:srgbClr val="EFF5FD"/>
              </a:solidFill>
              <a:ln w="9525">
                <a:solidFill>
                  <a:srgbClr val="D7E2F2"/>
                </a:solidFill>
              </a:ln>
            </p:spPr>
          </p:sp>
          <p:sp>
            <p:nvSpPr>
              <p:cNvPr id="154" name="Rectangle 154"/>
              <p:cNvSpPr/>
              <p:nvPr/>
            </p:nvSpPr>
            <p:spPr>
              <a:xfrm>
                <a:off x="495300" y="5962650"/>
                <a:ext cx="381000" cy="381000"/>
              </a:xfrm>
              <a:prstGeom prst="roundRect">
                <a:avLst>
                  <a:gd name="adj" fmla="val 15000"/>
                </a:avLst>
              </a:prstGeom>
              <a:solidFill>
                <a:srgbClr val="841600"/>
              </a:solidFill>
              <a:ln>
                <a:noFill/>
              </a:ln>
            </p:spPr>
          </p:sp>
          <p:sp>
            <p:nvSpPr>
              <p:cNvPr id="155" name="TextBox 155"/>
              <p:cNvSpPr txBox="1"/>
              <p:nvPr/>
            </p:nvSpPr>
            <p:spPr>
              <a:xfrm>
                <a:off x="586412" y="608076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01</a:t>
                </a:r>
              </a:p>
            </p:txBody>
          </p:sp>
          <p:grpSp>
            <p:nvGrpSpPr>
              <p:cNvPr id="159" name="Group 159"/>
              <p:cNvGrpSpPr/>
              <p:nvPr/>
            </p:nvGrpSpPr>
            <p:grpSpPr>
              <a:xfrm>
                <a:off x="1066800" y="6038850"/>
                <a:ext cx="190500" cy="228600"/>
                <a:chOff x="1066800" y="6038850"/>
                <a:chExt cx="190500" cy="228600"/>
              </a:xfrm>
            </p:grpSpPr>
            <p:sp>
              <p:nvSpPr>
                <p:cNvPr id="156" name="Freeform 156"/>
                <p:cNvSpPr/>
                <p:nvPr/>
              </p:nvSpPr>
              <p:spPr>
                <a:xfrm>
                  <a:off x="1092200" y="603885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19050">
                  <a:solidFill>
                    <a:srgbClr val="841600"/>
                  </a:solidFill>
                </a:ln>
              </p:spPr>
            </p:sp>
            <p:sp>
              <p:nvSpPr>
                <p:cNvPr id="157" name="Freeform 157"/>
                <p:cNvSpPr/>
                <p:nvPr/>
              </p:nvSpPr>
              <p:spPr>
                <a:xfrm>
                  <a:off x="1066800" y="6191250"/>
                  <a:ext cx="101600" cy="76200"/>
                </a:xfrm>
                <a:custGeom>
                  <a:avLst/>
                  <a:gdLst/>
                  <a:ahLst/>
                  <a:cxnLst/>
                  <a:rect l="l" t="t" r="r" b="b"/>
                  <a:pathLst>
                    <a:path w="101600" h="76200">
                      <a:moveTo>
                        <a:pt x="0" y="76200"/>
                      </a:moveTo>
                      <a:lnTo>
                        <a:pt x="0" y="50800"/>
                      </a:lnTo>
                      <a:cubicBezTo>
                        <a:pt x="0" y="22744"/>
                        <a:pt x="22744" y="0"/>
                        <a:pt x="50800" y="0"/>
                      </a:cubicBezTo>
                      <a:lnTo>
                        <a:pt x="101600" y="0"/>
                      </a:lnTo>
                    </a:path>
                  </a:pathLst>
                </a:custGeom>
                <a:noFill/>
                <a:ln w="19050">
                  <a:solidFill>
                    <a:srgbClr val="841600"/>
                  </a:solidFill>
                </a:ln>
              </p:spPr>
            </p:sp>
            <p:sp>
              <p:nvSpPr>
                <p:cNvPr id="158" name="Freeform 158"/>
                <p:cNvSpPr/>
                <p:nvPr/>
              </p:nvSpPr>
              <p:spPr>
                <a:xfrm>
                  <a:off x="1181100" y="6216649"/>
                  <a:ext cx="76200" cy="50800"/>
                </a:xfrm>
                <a:custGeom>
                  <a:avLst/>
                  <a:gdLst/>
                  <a:ahLst/>
                  <a:cxnLst/>
                  <a:rect l="l" t="t" r="r" b="b"/>
                  <a:pathLst>
                    <a:path w="76200" h="50800">
                      <a:moveTo>
                        <a:pt x="0" y="25400"/>
                      </a:moveTo>
                      <a:lnTo>
                        <a:pt x="25400" y="50800"/>
                      </a:lnTo>
                      <a:lnTo>
                        <a:pt x="76200" y="0"/>
                      </a:lnTo>
                    </a:path>
                  </a:pathLst>
                </a:custGeom>
                <a:noFill/>
                <a:ln w="19050">
                  <a:solidFill>
                    <a:srgbClr val="841600"/>
                  </a:solidFill>
                </a:ln>
              </p:spPr>
            </p:sp>
          </p:grpSp>
          <p:sp>
            <p:nvSpPr>
              <p:cNvPr id="160" name="TextBox 160"/>
              <p:cNvSpPr txBox="1"/>
              <p:nvPr/>
            </p:nvSpPr>
            <p:spPr>
              <a:xfrm>
                <a:off x="1403604" y="6090285"/>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新户激活</a:t>
                </a:r>
              </a:p>
            </p:txBody>
          </p:sp>
        </p:grpSp>
        <p:sp>
          <p:nvSpPr>
            <p:cNvPr id="162" name="Line 162"/>
            <p:cNvSpPr/>
            <p:nvPr/>
          </p:nvSpPr>
          <p:spPr>
            <a:xfrm>
              <a:off x="2933700" y="6153150"/>
              <a:ext cx="228600" cy="1"/>
            </a:xfrm>
            <a:prstGeom prst="line">
              <a:avLst/>
            </a:prstGeom>
            <a:noFill/>
            <a:ln w="28575">
              <a:solidFill>
                <a:srgbClr val="C9482E"/>
              </a:solidFill>
              <a:tailEnd type="triangle" w="lg" len="lg"/>
            </a:ln>
          </p:spPr>
        </p:sp>
        <p:grpSp>
          <p:nvGrpSpPr>
            <p:cNvPr id="170" name="action-2"/>
            <p:cNvGrpSpPr/>
            <p:nvPr/>
          </p:nvGrpSpPr>
          <p:grpSpPr>
            <a:xfrm>
              <a:off x="3295650" y="5867400"/>
              <a:ext cx="2438400" cy="571500"/>
              <a:chOff x="3295650" y="5867400"/>
              <a:chExt cx="2438400" cy="571500"/>
            </a:xfrm>
          </p:grpSpPr>
          <p:sp>
            <p:nvSpPr>
              <p:cNvPr id="163" name="Rectangle 163"/>
              <p:cNvSpPr/>
              <p:nvPr/>
            </p:nvSpPr>
            <p:spPr>
              <a:xfrm>
                <a:off x="3295650" y="5867400"/>
                <a:ext cx="2438400" cy="571500"/>
              </a:xfrm>
              <a:prstGeom prst="roundRect">
                <a:avLst>
                  <a:gd name="adj" fmla="val 13333"/>
                </a:avLst>
              </a:prstGeom>
              <a:solidFill>
                <a:srgbClr val="EFF5FD"/>
              </a:solidFill>
              <a:ln w="9525">
                <a:solidFill>
                  <a:srgbClr val="D7E2F2"/>
                </a:solidFill>
              </a:ln>
            </p:spPr>
          </p:sp>
          <p:sp>
            <p:nvSpPr>
              <p:cNvPr id="164" name="Rectangle 164"/>
              <p:cNvSpPr/>
              <p:nvPr/>
            </p:nvSpPr>
            <p:spPr>
              <a:xfrm>
                <a:off x="3409950" y="5962650"/>
                <a:ext cx="381000" cy="381000"/>
              </a:xfrm>
              <a:prstGeom prst="roundRect">
                <a:avLst>
                  <a:gd name="adj" fmla="val 15000"/>
                </a:avLst>
              </a:prstGeom>
              <a:solidFill>
                <a:srgbClr val="841600"/>
              </a:solidFill>
              <a:ln>
                <a:noFill/>
              </a:ln>
            </p:spPr>
          </p:sp>
          <p:sp>
            <p:nvSpPr>
              <p:cNvPr id="165" name="TextBox 165"/>
              <p:cNvSpPr txBox="1"/>
              <p:nvPr/>
            </p:nvSpPr>
            <p:spPr>
              <a:xfrm>
                <a:off x="3501062" y="608076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02</a:t>
                </a:r>
              </a:p>
            </p:txBody>
          </p:sp>
          <p:grpSp>
            <p:nvGrpSpPr>
              <p:cNvPr id="168" name="Group 168"/>
              <p:cNvGrpSpPr/>
              <p:nvPr/>
            </p:nvGrpSpPr>
            <p:grpSpPr>
              <a:xfrm>
                <a:off x="3943350" y="6038850"/>
                <a:ext cx="228599" cy="228599"/>
                <a:chOff x="3943350" y="6038850"/>
                <a:chExt cx="228599" cy="228599"/>
              </a:xfrm>
            </p:grpSpPr>
            <p:sp>
              <p:nvSpPr>
                <p:cNvPr id="166" name="Freeform 166"/>
                <p:cNvSpPr/>
                <p:nvPr/>
              </p:nvSpPr>
              <p:spPr>
                <a:xfrm>
                  <a:off x="3943350" y="603885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19050">
                  <a:solidFill>
                    <a:srgbClr val="841600"/>
                  </a:solidFill>
                </a:ln>
              </p:spPr>
            </p:sp>
            <p:sp>
              <p:nvSpPr>
                <p:cNvPr id="167" name="Freeform 167"/>
                <p:cNvSpPr/>
                <p:nvPr/>
              </p:nvSpPr>
              <p:spPr>
                <a:xfrm>
                  <a:off x="4057650" y="6089650"/>
                  <a:ext cx="38100" cy="101600"/>
                </a:xfrm>
                <a:custGeom>
                  <a:avLst/>
                  <a:gdLst/>
                  <a:ahLst/>
                  <a:cxnLst/>
                  <a:rect l="l" t="t" r="r" b="b"/>
                  <a:pathLst>
                    <a:path w="38100" h="101600">
                      <a:moveTo>
                        <a:pt x="0" y="0"/>
                      </a:moveTo>
                      <a:lnTo>
                        <a:pt x="0" y="63500"/>
                      </a:lnTo>
                      <a:lnTo>
                        <a:pt x="38100" y="101600"/>
                      </a:lnTo>
                    </a:path>
                  </a:pathLst>
                </a:custGeom>
                <a:noFill/>
                <a:ln w="19050">
                  <a:solidFill>
                    <a:srgbClr val="841600"/>
                  </a:solidFill>
                </a:ln>
              </p:spPr>
            </p:sp>
          </p:grpSp>
          <p:sp>
            <p:nvSpPr>
              <p:cNvPr id="169" name="TextBox 169"/>
              <p:cNvSpPr txBox="1"/>
              <p:nvPr/>
            </p:nvSpPr>
            <p:spPr>
              <a:xfrm>
                <a:off x="4318254" y="6090285"/>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沉睡唤醒</a:t>
                </a:r>
              </a:p>
            </p:txBody>
          </p:sp>
        </p:grpSp>
        <p:sp>
          <p:nvSpPr>
            <p:cNvPr id="171" name="Line 171"/>
            <p:cNvSpPr/>
            <p:nvPr/>
          </p:nvSpPr>
          <p:spPr>
            <a:xfrm>
              <a:off x="5848350" y="6153150"/>
              <a:ext cx="228600" cy="1"/>
            </a:xfrm>
            <a:prstGeom prst="line">
              <a:avLst/>
            </a:prstGeom>
            <a:noFill/>
            <a:ln w="28575">
              <a:solidFill>
                <a:srgbClr val="C9482E"/>
              </a:solidFill>
              <a:tailEnd type="triangle" w="lg" len="lg"/>
            </a:ln>
          </p:spPr>
        </p:sp>
        <p:grpSp>
          <p:nvGrpSpPr>
            <p:cNvPr id="179" name="action-3"/>
            <p:cNvGrpSpPr/>
            <p:nvPr/>
          </p:nvGrpSpPr>
          <p:grpSpPr>
            <a:xfrm>
              <a:off x="6210300" y="5867400"/>
              <a:ext cx="2438400" cy="571500"/>
              <a:chOff x="6210300" y="5867400"/>
              <a:chExt cx="2438400" cy="571500"/>
            </a:xfrm>
          </p:grpSpPr>
          <p:sp>
            <p:nvSpPr>
              <p:cNvPr id="172" name="Rectangle 172"/>
              <p:cNvSpPr/>
              <p:nvPr/>
            </p:nvSpPr>
            <p:spPr>
              <a:xfrm>
                <a:off x="6210300" y="5867400"/>
                <a:ext cx="2438400" cy="571500"/>
              </a:xfrm>
              <a:prstGeom prst="roundRect">
                <a:avLst>
                  <a:gd name="adj" fmla="val 13333"/>
                </a:avLst>
              </a:prstGeom>
              <a:solidFill>
                <a:srgbClr val="EFF5FD"/>
              </a:solidFill>
              <a:ln w="9525">
                <a:solidFill>
                  <a:srgbClr val="D7E2F2"/>
                </a:solidFill>
              </a:ln>
            </p:spPr>
          </p:sp>
          <p:sp>
            <p:nvSpPr>
              <p:cNvPr id="173" name="Rectangle 173"/>
              <p:cNvSpPr/>
              <p:nvPr/>
            </p:nvSpPr>
            <p:spPr>
              <a:xfrm>
                <a:off x="6324600" y="5962650"/>
                <a:ext cx="381000" cy="381000"/>
              </a:xfrm>
              <a:prstGeom prst="roundRect">
                <a:avLst>
                  <a:gd name="adj" fmla="val 15000"/>
                </a:avLst>
              </a:prstGeom>
              <a:solidFill>
                <a:srgbClr val="841600"/>
              </a:solidFill>
              <a:ln>
                <a:noFill/>
              </a:ln>
            </p:spPr>
          </p:sp>
          <p:sp>
            <p:nvSpPr>
              <p:cNvPr id="174" name="TextBox 174"/>
              <p:cNvSpPr txBox="1"/>
              <p:nvPr/>
            </p:nvSpPr>
            <p:spPr>
              <a:xfrm>
                <a:off x="6415712" y="608076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03</a:t>
                </a:r>
              </a:p>
            </p:txBody>
          </p:sp>
          <p:grpSp>
            <p:nvGrpSpPr>
              <p:cNvPr id="177" name="Group 177"/>
              <p:cNvGrpSpPr/>
              <p:nvPr/>
            </p:nvGrpSpPr>
            <p:grpSpPr>
              <a:xfrm>
                <a:off x="6858000" y="6089650"/>
                <a:ext cx="228600" cy="127000"/>
                <a:chOff x="6858000" y="6089650"/>
                <a:chExt cx="228600" cy="127000"/>
              </a:xfrm>
            </p:grpSpPr>
            <p:sp>
              <p:nvSpPr>
                <p:cNvPr id="175" name="Freeform 175"/>
                <p:cNvSpPr/>
                <p:nvPr/>
              </p:nvSpPr>
              <p:spPr>
                <a:xfrm>
                  <a:off x="6858000" y="6089650"/>
                  <a:ext cx="228599" cy="127000"/>
                </a:xfrm>
                <a:custGeom>
                  <a:avLst/>
                  <a:gdLst/>
                  <a:ahLst/>
                  <a:cxnLst/>
                  <a:rect l="l" t="t" r="r" b="b"/>
                  <a:pathLst>
                    <a:path w="228599" h="127000">
                      <a:moveTo>
                        <a:pt x="0" y="127000"/>
                      </a:moveTo>
                      <a:lnTo>
                        <a:pt x="76200" y="50800"/>
                      </a:lnTo>
                      <a:lnTo>
                        <a:pt x="127000" y="101600"/>
                      </a:lnTo>
                      <a:lnTo>
                        <a:pt x="228599" y="0"/>
                      </a:lnTo>
                    </a:path>
                  </a:pathLst>
                </a:custGeom>
                <a:noFill/>
                <a:ln w="19050">
                  <a:solidFill>
                    <a:srgbClr val="841600"/>
                  </a:solidFill>
                </a:ln>
              </p:spPr>
            </p:sp>
            <p:sp>
              <p:nvSpPr>
                <p:cNvPr id="176" name="Freeform 176"/>
                <p:cNvSpPr/>
                <p:nvPr/>
              </p:nvSpPr>
              <p:spPr>
                <a:xfrm>
                  <a:off x="6997700" y="6089650"/>
                  <a:ext cx="88900" cy="88900"/>
                </a:xfrm>
                <a:custGeom>
                  <a:avLst/>
                  <a:gdLst/>
                  <a:ahLst/>
                  <a:cxnLst/>
                  <a:rect l="l" t="t" r="r" b="b"/>
                  <a:pathLst>
                    <a:path w="88900" h="88900">
                      <a:moveTo>
                        <a:pt x="0" y="0"/>
                      </a:moveTo>
                      <a:lnTo>
                        <a:pt x="88900" y="0"/>
                      </a:lnTo>
                      <a:lnTo>
                        <a:pt x="88900" y="88900"/>
                      </a:lnTo>
                    </a:path>
                  </a:pathLst>
                </a:custGeom>
                <a:noFill/>
                <a:ln w="19050">
                  <a:solidFill>
                    <a:srgbClr val="841600"/>
                  </a:solidFill>
                </a:ln>
              </p:spPr>
            </p:sp>
          </p:grpSp>
          <p:sp>
            <p:nvSpPr>
              <p:cNvPr id="178" name="TextBox 178"/>
              <p:cNvSpPr txBox="1"/>
              <p:nvPr/>
            </p:nvSpPr>
            <p:spPr>
              <a:xfrm>
                <a:off x="7232904" y="6090285"/>
                <a:ext cx="819912"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高价值提额</a:t>
                </a:r>
              </a:p>
            </p:txBody>
          </p:sp>
        </p:grpSp>
        <p:sp>
          <p:nvSpPr>
            <p:cNvPr id="180" name="Line 180"/>
            <p:cNvSpPr/>
            <p:nvPr/>
          </p:nvSpPr>
          <p:spPr>
            <a:xfrm>
              <a:off x="8763000" y="6153150"/>
              <a:ext cx="228600" cy="1"/>
            </a:xfrm>
            <a:prstGeom prst="line">
              <a:avLst/>
            </a:prstGeom>
            <a:noFill/>
            <a:ln w="28575">
              <a:solidFill>
                <a:srgbClr val="C9482E"/>
              </a:solidFill>
              <a:tailEnd type="triangle" w="lg" len="lg"/>
            </a:ln>
          </p:spPr>
        </p:sp>
        <p:grpSp>
          <p:nvGrpSpPr>
            <p:cNvPr id="188" name="action-4"/>
            <p:cNvGrpSpPr/>
            <p:nvPr/>
          </p:nvGrpSpPr>
          <p:grpSpPr>
            <a:xfrm>
              <a:off x="9124950" y="5867400"/>
              <a:ext cx="2438400" cy="571500"/>
              <a:chOff x="9124950" y="5867400"/>
              <a:chExt cx="2438400" cy="571500"/>
            </a:xfrm>
          </p:grpSpPr>
          <p:sp>
            <p:nvSpPr>
              <p:cNvPr id="181" name="Rectangle 181"/>
              <p:cNvSpPr/>
              <p:nvPr/>
            </p:nvSpPr>
            <p:spPr>
              <a:xfrm>
                <a:off x="9124950" y="5867400"/>
                <a:ext cx="2438400" cy="571500"/>
              </a:xfrm>
              <a:prstGeom prst="roundRect">
                <a:avLst>
                  <a:gd name="adj" fmla="val 13333"/>
                </a:avLst>
              </a:prstGeom>
              <a:solidFill>
                <a:srgbClr val="EFF5FD"/>
              </a:solidFill>
              <a:ln w="9525">
                <a:solidFill>
                  <a:srgbClr val="D7E2F2"/>
                </a:solidFill>
              </a:ln>
            </p:spPr>
          </p:sp>
          <p:sp>
            <p:nvSpPr>
              <p:cNvPr id="182" name="Rectangle 182"/>
              <p:cNvSpPr/>
              <p:nvPr/>
            </p:nvSpPr>
            <p:spPr>
              <a:xfrm>
                <a:off x="9239250" y="5962650"/>
                <a:ext cx="381000" cy="381000"/>
              </a:xfrm>
              <a:prstGeom prst="roundRect">
                <a:avLst>
                  <a:gd name="adj" fmla="val 15000"/>
                </a:avLst>
              </a:prstGeom>
              <a:solidFill>
                <a:srgbClr val="841600"/>
              </a:solidFill>
              <a:ln>
                <a:noFill/>
              </a:ln>
            </p:spPr>
          </p:sp>
          <p:sp>
            <p:nvSpPr>
              <p:cNvPr id="183" name="TextBox 183"/>
              <p:cNvSpPr txBox="1"/>
              <p:nvPr/>
            </p:nvSpPr>
            <p:spPr>
              <a:xfrm>
                <a:off x="9330362" y="608076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04</a:t>
                </a:r>
              </a:p>
            </p:txBody>
          </p:sp>
          <p:grpSp>
            <p:nvGrpSpPr>
              <p:cNvPr id="186" name="Group 186"/>
              <p:cNvGrpSpPr/>
              <p:nvPr/>
            </p:nvGrpSpPr>
            <p:grpSpPr>
              <a:xfrm>
                <a:off x="9785350" y="6046650"/>
                <a:ext cx="203199" cy="213000"/>
                <a:chOff x="9785350" y="6046650"/>
                <a:chExt cx="203199" cy="213000"/>
              </a:xfrm>
            </p:grpSpPr>
            <p:sp>
              <p:nvSpPr>
                <p:cNvPr id="184" name="Freeform 184"/>
                <p:cNvSpPr/>
                <p:nvPr/>
              </p:nvSpPr>
              <p:spPr>
                <a:xfrm>
                  <a:off x="9785350" y="60466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19050">
                  <a:solidFill>
                    <a:srgbClr val="841600"/>
                  </a:solidFill>
                </a:ln>
              </p:spPr>
            </p:sp>
            <p:sp>
              <p:nvSpPr>
                <p:cNvPr id="185" name="Freeform 185"/>
                <p:cNvSpPr/>
                <p:nvPr/>
              </p:nvSpPr>
              <p:spPr>
                <a:xfrm>
                  <a:off x="9785350" y="61658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19050">
                  <a:solidFill>
                    <a:srgbClr val="841600"/>
                  </a:solidFill>
                </a:ln>
              </p:spPr>
            </p:sp>
          </p:grpSp>
          <p:sp>
            <p:nvSpPr>
              <p:cNvPr id="187" name="TextBox 187"/>
              <p:cNvSpPr txBox="1"/>
              <p:nvPr/>
            </p:nvSpPr>
            <p:spPr>
              <a:xfrm>
                <a:off x="10147554" y="6090285"/>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流失挽回</a:t>
                </a:r>
              </a:p>
            </p:txBody>
          </p:sp>
        </p:grpSp>
      </p:gr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10</a:t>
              </a:r>
            </a:p>
          </p:txBody>
        </p:sp>
        <p:sp>
          <p:nvSpPr>
            <p:cNvPr id="4" name="TextBox 4"/>
            <p:cNvSpPr txBox="1"/>
            <p:nvPr/>
          </p:nvSpPr>
          <p:spPr>
            <a:xfrm>
              <a:off x="942594" y="151448"/>
              <a:ext cx="8618220"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国际业务与交易银行部</a:t>
              </a:r>
              <a:r>
                <a:rPr lang="zh-CN" sz="1950" b="1" dirty="0">
                  <a:solidFill>
                    <a:srgbClr val="1A1A1A"/>
                  </a:solidFill>
                  <a:latin typeface="SimSun"/>
                  <a:ea typeface="SimSun"/>
                  <a:cs typeface="SimSun"/>
                </a:rPr>
                <a:t>｜围绕跨境结算和产业链金融提升中间业务收入</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128" name="trade-chain-map"/>
          <p:cNvGrpSpPr/>
          <p:nvPr/>
        </p:nvGrpSpPr>
        <p:grpSpPr>
          <a:xfrm>
            <a:off x="266700" y="704850"/>
            <a:ext cx="8077200" cy="4191000"/>
            <a:chOff x="266700" y="704850"/>
            <a:chExt cx="8077200" cy="4191000"/>
          </a:xfrm>
        </p:grpSpPr>
        <p:sp>
          <p:nvSpPr>
            <p:cNvPr id="7" name="Rectangle 7"/>
            <p:cNvSpPr/>
            <p:nvPr/>
          </p:nvSpPr>
          <p:spPr>
            <a:xfrm>
              <a:off x="266700" y="704850"/>
              <a:ext cx="8077200" cy="4191000"/>
            </a:xfrm>
            <a:prstGeom prst="roundRect">
              <a:avLst>
                <a:gd name="adj" fmla="val 2273"/>
              </a:avLst>
            </a:prstGeom>
            <a:solidFill>
              <a:srgbClr val="FFFFFF"/>
            </a:solidFill>
            <a:ln w="9525">
              <a:solidFill>
                <a:srgbClr val="D7E2F2"/>
              </a:solidFill>
            </a:ln>
          </p:spPr>
        </p:sp>
        <p:sp>
          <p:nvSpPr>
            <p:cNvPr id="8" name="Rectangle 8"/>
            <p:cNvSpPr/>
            <p:nvPr/>
          </p:nvSpPr>
          <p:spPr>
            <a:xfrm>
              <a:off x="266700" y="704850"/>
              <a:ext cx="8077200" cy="381000"/>
            </a:xfrm>
            <a:prstGeom prst="roundRect">
              <a:avLst>
                <a:gd name="adj" fmla="val 25000"/>
              </a:avLst>
            </a:prstGeom>
            <a:solidFill>
              <a:srgbClr val="841600"/>
            </a:solidFill>
            <a:ln>
              <a:noFill/>
            </a:ln>
          </p:spPr>
        </p:sp>
        <p:sp>
          <p:nvSpPr>
            <p:cNvPr id="9" name="Rectangle 9"/>
            <p:cNvSpPr/>
            <p:nvPr/>
          </p:nvSpPr>
          <p:spPr>
            <a:xfrm>
              <a:off x="266700" y="914400"/>
              <a:ext cx="8077200" cy="171450"/>
            </a:xfrm>
            <a:prstGeom prst="rect">
              <a:avLst/>
            </a:prstGeom>
            <a:solidFill>
              <a:srgbClr val="841600"/>
            </a:solidFill>
            <a:ln>
              <a:noFill/>
            </a:ln>
          </p:spPr>
        </p:sp>
        <p:sp>
          <p:nvSpPr>
            <p:cNvPr id="10" name="TextBox 10"/>
            <p:cNvSpPr txBox="1"/>
            <p:nvPr/>
          </p:nvSpPr>
          <p:spPr>
            <a:xfrm>
              <a:off x="3313180" y="832485"/>
              <a:ext cx="198424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企业贸易链 × 产品嵌入地图</a:t>
              </a:r>
            </a:p>
          </p:txBody>
        </p:sp>
        <p:grpSp>
          <p:nvGrpSpPr>
            <p:cNvPr id="30" name="chain-1"/>
            <p:cNvGrpSpPr/>
            <p:nvPr/>
          </p:nvGrpSpPr>
          <p:grpSpPr>
            <a:xfrm>
              <a:off x="419100" y="1257300"/>
              <a:ext cx="1200150" cy="3429000"/>
              <a:chOff x="419100" y="1257300"/>
              <a:chExt cx="1200150" cy="3429000"/>
            </a:xfrm>
          </p:grpSpPr>
          <p:sp>
            <p:nvSpPr>
              <p:cNvPr id="11" name="Rectangle 11"/>
              <p:cNvSpPr/>
              <p:nvPr/>
            </p:nvSpPr>
            <p:spPr>
              <a:xfrm>
                <a:off x="419100" y="1257300"/>
                <a:ext cx="1200150" cy="1600200"/>
              </a:xfrm>
              <a:prstGeom prst="roundRect">
                <a:avLst>
                  <a:gd name="adj" fmla="val 6349"/>
                </a:avLst>
              </a:prstGeom>
              <a:solidFill>
                <a:srgbClr val="EFF5FD"/>
              </a:solidFill>
              <a:ln>
                <a:noFill/>
              </a:ln>
            </p:spPr>
          </p:sp>
          <p:sp>
            <p:nvSpPr>
              <p:cNvPr id="12" name="Ellipse 12"/>
              <p:cNvSpPr/>
              <p:nvPr/>
            </p:nvSpPr>
            <p:spPr>
              <a:xfrm>
                <a:off x="904875" y="1333500"/>
                <a:ext cx="228600" cy="228600"/>
              </a:xfrm>
              <a:prstGeom prst="ellipse">
                <a:avLst/>
              </a:prstGeom>
              <a:solidFill>
                <a:srgbClr val="841600"/>
              </a:solidFill>
              <a:ln>
                <a:noFill/>
              </a:ln>
            </p:spPr>
          </p:sp>
          <p:sp>
            <p:nvSpPr>
              <p:cNvPr id="13" name="TextBox 13"/>
              <p:cNvSpPr txBox="1"/>
              <p:nvPr/>
            </p:nvSpPr>
            <p:spPr>
              <a:xfrm>
                <a:off x="979428" y="13982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a:t>
                </a:r>
              </a:p>
            </p:txBody>
          </p:sp>
          <p:sp>
            <p:nvSpPr>
              <p:cNvPr id="14" name="TextBox 14"/>
              <p:cNvSpPr txBox="1"/>
              <p:nvPr/>
            </p:nvSpPr>
            <p:spPr>
              <a:xfrm>
                <a:off x="862686" y="16883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采购</a:t>
                </a:r>
              </a:p>
            </p:txBody>
          </p:sp>
          <p:sp>
            <p:nvSpPr>
              <p:cNvPr id="15" name="Ellipse 15"/>
              <p:cNvSpPr/>
              <p:nvPr/>
            </p:nvSpPr>
            <p:spPr>
              <a:xfrm>
                <a:off x="733425" y="2095500"/>
                <a:ext cx="571500" cy="571500"/>
              </a:xfrm>
              <a:prstGeom prst="ellipse">
                <a:avLst/>
              </a:prstGeom>
              <a:solidFill>
                <a:srgbClr val="FFFFFF"/>
              </a:solidFill>
              <a:ln w="14288">
                <a:solidFill>
                  <a:srgbClr val="ECC1B8"/>
                </a:solidFill>
              </a:ln>
            </p:spPr>
          </p:sp>
          <p:grpSp>
            <p:nvGrpSpPr>
              <p:cNvPr id="20" name="Group 20"/>
              <p:cNvGrpSpPr/>
              <p:nvPr/>
            </p:nvGrpSpPr>
            <p:grpSpPr>
              <a:xfrm>
                <a:off x="923925" y="2274094"/>
                <a:ext cx="190501" cy="214312"/>
                <a:chOff x="923925" y="2274094"/>
                <a:chExt cx="190501" cy="214312"/>
              </a:xfrm>
            </p:grpSpPr>
            <p:sp>
              <p:nvSpPr>
                <p:cNvPr id="16" name="Freeform 16"/>
                <p:cNvSpPr/>
                <p:nvPr/>
              </p:nvSpPr>
              <p:spPr>
                <a:xfrm>
                  <a:off x="923925" y="2440781"/>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17" name="Freeform 17"/>
                <p:cNvSpPr/>
                <p:nvPr/>
              </p:nvSpPr>
              <p:spPr>
                <a:xfrm>
                  <a:off x="1054894" y="2440781"/>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18" name="Freeform 18"/>
                <p:cNvSpPr/>
                <p:nvPr/>
              </p:nvSpPr>
              <p:spPr>
                <a:xfrm>
                  <a:off x="923925" y="2274094"/>
                  <a:ext cx="154781" cy="166688"/>
                </a:xfrm>
                <a:custGeom>
                  <a:avLst/>
                  <a:gdLst/>
                  <a:ahLst/>
                  <a:cxnLst/>
                  <a:rect l="l" t="t" r="r" b="b"/>
                  <a:pathLst>
                    <a:path w="154781" h="166688">
                      <a:moveTo>
                        <a:pt x="154781" y="166688"/>
                      </a:moveTo>
                      <a:lnTo>
                        <a:pt x="23812" y="166688"/>
                      </a:lnTo>
                      <a:lnTo>
                        <a:pt x="23812" y="0"/>
                      </a:lnTo>
                      <a:lnTo>
                        <a:pt x="0" y="0"/>
                      </a:lnTo>
                    </a:path>
                  </a:pathLst>
                </a:custGeom>
                <a:noFill/>
                <a:ln w="17859">
                  <a:solidFill>
                    <a:srgbClr val="841600"/>
                  </a:solidFill>
                </a:ln>
              </p:spPr>
            </p:sp>
            <p:sp>
              <p:nvSpPr>
                <p:cNvPr id="19" name="Freeform 19"/>
                <p:cNvSpPr/>
                <p:nvPr/>
              </p:nvSpPr>
              <p:spPr>
                <a:xfrm>
                  <a:off x="947738" y="2297906"/>
                  <a:ext cx="166688" cy="95250"/>
                </a:xfrm>
                <a:custGeom>
                  <a:avLst/>
                  <a:gdLst/>
                  <a:ahLst/>
                  <a:cxnLst/>
                  <a:rect l="l" t="t" r="r" b="b"/>
                  <a:pathLst>
                    <a:path w="166688" h="95250">
                      <a:moveTo>
                        <a:pt x="0" y="0"/>
                      </a:moveTo>
                      <a:lnTo>
                        <a:pt x="166688" y="11906"/>
                      </a:lnTo>
                      <a:lnTo>
                        <a:pt x="154781" y="95250"/>
                      </a:lnTo>
                      <a:lnTo>
                        <a:pt x="0" y="95250"/>
                      </a:lnTo>
                    </a:path>
                  </a:pathLst>
                </a:custGeom>
                <a:noFill/>
                <a:ln w="17859">
                  <a:solidFill>
                    <a:srgbClr val="841600"/>
                  </a:solidFill>
                </a:ln>
              </p:spPr>
            </p:sp>
          </p:grpSp>
          <p:sp>
            <p:nvSpPr>
              <p:cNvPr id="21" name="Line 21"/>
              <p:cNvSpPr/>
              <p:nvPr/>
            </p:nvSpPr>
            <p:spPr>
              <a:xfrm>
                <a:off x="1019175" y="2705100"/>
                <a:ext cx="9525" cy="838200"/>
              </a:xfrm>
              <a:custGeom>
                <a:avLst/>
                <a:gdLst/>
                <a:ahLst/>
                <a:cxnLst/>
                <a:rect l="l" t="t" r="r" b="b"/>
                <a:pathLst>
                  <a:path w="9525" h="838200">
                    <a:moveTo>
                      <a:pt x="0" y="0"/>
                    </a:moveTo>
                    <a:lnTo>
                      <a:pt x="0" y="838200"/>
                    </a:lnTo>
                  </a:path>
                </a:pathLst>
              </a:custGeom>
              <a:noFill/>
              <a:ln w="14288">
                <a:solidFill>
                  <a:srgbClr val="E3907F"/>
                </a:solidFill>
                <a:custDash>
                  <a:ds d="266667" sp="200000"/>
                </a:custDash>
              </a:ln>
            </p:spPr>
          </p:sp>
          <p:sp>
            <p:nvSpPr>
              <p:cNvPr id="22" name="Rectangle 22"/>
              <p:cNvSpPr/>
              <p:nvPr/>
            </p:nvSpPr>
            <p:spPr>
              <a:xfrm>
                <a:off x="419100" y="3543300"/>
                <a:ext cx="1200150" cy="1143000"/>
              </a:xfrm>
              <a:prstGeom prst="roundRect">
                <a:avLst>
                  <a:gd name="adj" fmla="val 6667"/>
                </a:avLst>
              </a:prstGeom>
              <a:solidFill>
                <a:srgbClr val="EFF5FD"/>
              </a:solidFill>
              <a:ln>
                <a:noFill/>
              </a:ln>
            </p:spPr>
          </p:sp>
          <p:grpSp>
            <p:nvGrpSpPr>
              <p:cNvPr id="28" name="Group 28"/>
              <p:cNvGrpSpPr/>
              <p:nvPr/>
            </p:nvGrpSpPr>
            <p:grpSpPr>
              <a:xfrm>
                <a:off x="924719" y="3774281"/>
                <a:ext cx="188913" cy="242888"/>
                <a:chOff x="924719" y="3774281"/>
                <a:chExt cx="188913" cy="242888"/>
              </a:xfrm>
            </p:grpSpPr>
            <p:sp>
              <p:nvSpPr>
                <p:cNvPr id="23" name="Freeform 23"/>
                <p:cNvSpPr/>
                <p:nvPr/>
              </p:nvSpPr>
              <p:spPr>
                <a:xfrm>
                  <a:off x="1046163" y="3774281"/>
                  <a:ext cx="67469" cy="67469"/>
                </a:xfrm>
                <a:custGeom>
                  <a:avLst/>
                  <a:gdLst/>
                  <a:ahLst/>
                  <a:cxnLst/>
                  <a:rect l="l" t="t" r="r" b="b"/>
                  <a:pathLst>
                    <a:path w="67469" h="67469">
                      <a:moveTo>
                        <a:pt x="0" y="0"/>
                      </a:moveTo>
                      <a:lnTo>
                        <a:pt x="0" y="53975"/>
                      </a:lnTo>
                      <a:cubicBezTo>
                        <a:pt x="0" y="61428"/>
                        <a:pt x="6041" y="67469"/>
                        <a:pt x="13494" y="67469"/>
                      </a:cubicBezTo>
                      <a:lnTo>
                        <a:pt x="67469" y="67469"/>
                      </a:lnTo>
                    </a:path>
                  </a:pathLst>
                </a:custGeom>
                <a:noFill/>
                <a:ln w="20241">
                  <a:solidFill>
                    <a:srgbClr val="841600"/>
                  </a:solidFill>
                </a:ln>
              </p:spPr>
            </p:sp>
            <p:sp>
              <p:nvSpPr>
                <p:cNvPr id="24" name="Freeform 24"/>
                <p:cNvSpPr/>
                <p:nvPr/>
              </p:nvSpPr>
              <p:spPr>
                <a:xfrm>
                  <a:off x="924719" y="3774281"/>
                  <a:ext cx="188913" cy="242888"/>
                </a:xfrm>
                <a:custGeom>
                  <a:avLst/>
                  <a:gdLst/>
                  <a:ahLst/>
                  <a:cxnLst/>
                  <a:rect l="l" t="t" r="r" b="b"/>
                  <a:pathLst>
                    <a:path w="188913" h="242888">
                      <a:moveTo>
                        <a:pt x="161925" y="242888"/>
                      </a:moveTo>
                      <a:lnTo>
                        <a:pt x="26988" y="242888"/>
                      </a:lnTo>
                      <a:cubicBezTo>
                        <a:pt x="12083" y="242888"/>
                        <a:pt x="0" y="230805"/>
                        <a:pt x="0" y="215901"/>
                      </a:cubicBezTo>
                      <a:lnTo>
                        <a:pt x="0" y="26988"/>
                      </a:lnTo>
                      <a:cubicBezTo>
                        <a:pt x="0" y="12083"/>
                        <a:pt x="12083" y="0"/>
                        <a:pt x="26988" y="0"/>
                      </a:cubicBezTo>
                      <a:lnTo>
                        <a:pt x="121444" y="0"/>
                      </a:lnTo>
                      <a:lnTo>
                        <a:pt x="188913" y="67469"/>
                      </a:lnTo>
                      <a:lnTo>
                        <a:pt x="188913" y="215901"/>
                      </a:lnTo>
                      <a:cubicBezTo>
                        <a:pt x="188913" y="230805"/>
                        <a:pt x="176830" y="242888"/>
                        <a:pt x="161925" y="242888"/>
                      </a:cubicBezTo>
                    </a:path>
                  </a:pathLst>
                </a:custGeom>
                <a:noFill/>
                <a:ln w="20241">
                  <a:solidFill>
                    <a:srgbClr val="841600"/>
                  </a:solidFill>
                </a:ln>
              </p:spPr>
            </p:sp>
            <p:sp>
              <p:nvSpPr>
                <p:cNvPr id="25" name="Freeform 25"/>
                <p:cNvSpPr/>
                <p:nvPr/>
              </p:nvSpPr>
              <p:spPr>
                <a:xfrm>
                  <a:off x="978694" y="3855244"/>
                  <a:ext cx="13494" cy="9525"/>
                </a:xfrm>
                <a:custGeom>
                  <a:avLst/>
                  <a:gdLst/>
                  <a:ahLst/>
                  <a:cxnLst/>
                  <a:rect l="l" t="t" r="r" b="b"/>
                  <a:pathLst>
                    <a:path w="13494" h="9525">
                      <a:moveTo>
                        <a:pt x="0" y="0"/>
                      </a:moveTo>
                      <a:lnTo>
                        <a:pt x="13494" y="0"/>
                      </a:lnTo>
                    </a:path>
                  </a:pathLst>
                </a:custGeom>
                <a:noFill/>
                <a:ln w="20241">
                  <a:solidFill>
                    <a:srgbClr val="841600"/>
                  </a:solidFill>
                </a:ln>
              </p:spPr>
            </p:sp>
            <p:sp>
              <p:nvSpPr>
                <p:cNvPr id="26" name="Freeform 26"/>
                <p:cNvSpPr/>
                <p:nvPr/>
              </p:nvSpPr>
              <p:spPr>
                <a:xfrm>
                  <a:off x="978694" y="3909219"/>
                  <a:ext cx="80963" cy="9525"/>
                </a:xfrm>
                <a:custGeom>
                  <a:avLst/>
                  <a:gdLst/>
                  <a:ahLst/>
                  <a:cxnLst/>
                  <a:rect l="l" t="t" r="r" b="b"/>
                  <a:pathLst>
                    <a:path w="80963" h="9525">
                      <a:moveTo>
                        <a:pt x="0" y="0"/>
                      </a:moveTo>
                      <a:lnTo>
                        <a:pt x="80963" y="0"/>
                      </a:lnTo>
                    </a:path>
                  </a:pathLst>
                </a:custGeom>
                <a:noFill/>
                <a:ln w="20241">
                  <a:solidFill>
                    <a:srgbClr val="841600"/>
                  </a:solidFill>
                </a:ln>
              </p:spPr>
            </p:sp>
            <p:sp>
              <p:nvSpPr>
                <p:cNvPr id="27" name="Freeform 27"/>
                <p:cNvSpPr/>
                <p:nvPr/>
              </p:nvSpPr>
              <p:spPr>
                <a:xfrm>
                  <a:off x="978694" y="3963194"/>
                  <a:ext cx="80963" cy="9525"/>
                </a:xfrm>
                <a:custGeom>
                  <a:avLst/>
                  <a:gdLst/>
                  <a:ahLst/>
                  <a:cxnLst/>
                  <a:rect l="l" t="t" r="r" b="b"/>
                  <a:pathLst>
                    <a:path w="80963" h="9525">
                      <a:moveTo>
                        <a:pt x="0" y="0"/>
                      </a:moveTo>
                      <a:lnTo>
                        <a:pt x="80963" y="0"/>
                      </a:lnTo>
                    </a:path>
                  </a:pathLst>
                </a:custGeom>
                <a:noFill/>
                <a:ln w="20241">
                  <a:solidFill>
                    <a:srgbClr val="841600"/>
                  </a:solidFill>
                </a:ln>
              </p:spPr>
            </p:sp>
          </p:grpSp>
          <p:sp>
            <p:nvSpPr>
              <p:cNvPr id="29" name="TextBox 29"/>
              <p:cNvSpPr txBox="1"/>
              <p:nvPr/>
            </p:nvSpPr>
            <p:spPr>
              <a:xfrm>
                <a:off x="731139" y="4344352"/>
                <a:ext cx="576072"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国际结算</a:t>
                </a:r>
              </a:p>
            </p:txBody>
          </p:sp>
        </p:grpSp>
        <p:sp>
          <p:nvSpPr>
            <p:cNvPr id="31" name="Line 31"/>
            <p:cNvSpPr/>
            <p:nvPr/>
          </p:nvSpPr>
          <p:spPr>
            <a:xfrm>
              <a:off x="1628775" y="2057400"/>
              <a:ext cx="66675" cy="1"/>
            </a:xfrm>
            <a:prstGeom prst="line">
              <a:avLst/>
            </a:prstGeom>
            <a:noFill/>
            <a:ln w="19050">
              <a:solidFill>
                <a:srgbClr val="C9482E"/>
              </a:solidFill>
              <a:tailEnd type="triangle" w="lg" len="lg"/>
            </a:ln>
          </p:spPr>
        </p:sp>
        <p:grpSp>
          <p:nvGrpSpPr>
            <p:cNvPr id="53" name="chain-2"/>
            <p:cNvGrpSpPr/>
            <p:nvPr/>
          </p:nvGrpSpPr>
          <p:grpSpPr>
            <a:xfrm>
              <a:off x="1733550" y="1257300"/>
              <a:ext cx="1200150" cy="3429000"/>
              <a:chOff x="1733550" y="1257300"/>
              <a:chExt cx="1200150" cy="3429000"/>
            </a:xfrm>
          </p:grpSpPr>
          <p:sp>
            <p:nvSpPr>
              <p:cNvPr id="32" name="Rectangle 32"/>
              <p:cNvSpPr/>
              <p:nvPr/>
            </p:nvSpPr>
            <p:spPr>
              <a:xfrm>
                <a:off x="1733550" y="1257300"/>
                <a:ext cx="1200150" cy="1600200"/>
              </a:xfrm>
              <a:prstGeom prst="roundRect">
                <a:avLst>
                  <a:gd name="adj" fmla="val 6349"/>
                </a:avLst>
              </a:prstGeom>
              <a:solidFill>
                <a:srgbClr val="EFF5FD"/>
              </a:solidFill>
              <a:ln>
                <a:noFill/>
              </a:ln>
            </p:spPr>
          </p:sp>
          <p:sp>
            <p:nvSpPr>
              <p:cNvPr id="33" name="Ellipse 33"/>
              <p:cNvSpPr/>
              <p:nvPr/>
            </p:nvSpPr>
            <p:spPr>
              <a:xfrm>
                <a:off x="2219325" y="1333500"/>
                <a:ext cx="228600" cy="228600"/>
              </a:xfrm>
              <a:prstGeom prst="ellipse">
                <a:avLst/>
              </a:prstGeom>
              <a:solidFill>
                <a:srgbClr val="841600"/>
              </a:solidFill>
              <a:ln>
                <a:noFill/>
              </a:ln>
            </p:spPr>
          </p:sp>
          <p:sp>
            <p:nvSpPr>
              <p:cNvPr id="34" name="TextBox 34"/>
              <p:cNvSpPr txBox="1"/>
              <p:nvPr/>
            </p:nvSpPr>
            <p:spPr>
              <a:xfrm>
                <a:off x="2293878" y="13982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a:t>
                </a:r>
              </a:p>
            </p:txBody>
          </p:sp>
          <p:sp>
            <p:nvSpPr>
              <p:cNvPr id="35" name="TextBox 35"/>
              <p:cNvSpPr txBox="1"/>
              <p:nvPr/>
            </p:nvSpPr>
            <p:spPr>
              <a:xfrm>
                <a:off x="2177136" y="16883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生产</a:t>
                </a:r>
              </a:p>
            </p:txBody>
          </p:sp>
          <p:sp>
            <p:nvSpPr>
              <p:cNvPr id="36" name="Ellipse 36"/>
              <p:cNvSpPr/>
              <p:nvPr/>
            </p:nvSpPr>
            <p:spPr>
              <a:xfrm>
                <a:off x="2047875" y="2095500"/>
                <a:ext cx="571500" cy="571500"/>
              </a:xfrm>
              <a:prstGeom prst="ellipse">
                <a:avLst/>
              </a:prstGeom>
              <a:solidFill>
                <a:srgbClr val="FFFFFF"/>
              </a:solidFill>
              <a:ln w="14288">
                <a:solidFill>
                  <a:srgbClr val="ECC1B8"/>
                </a:solidFill>
              </a:ln>
            </p:spPr>
          </p:sp>
          <p:grpSp>
            <p:nvGrpSpPr>
              <p:cNvPr id="45" name="Group 45"/>
              <p:cNvGrpSpPr/>
              <p:nvPr/>
            </p:nvGrpSpPr>
            <p:grpSpPr>
              <a:xfrm>
                <a:off x="2226469" y="2274094"/>
                <a:ext cx="214312" cy="223837"/>
                <a:chOff x="2226469" y="2274094"/>
                <a:chExt cx="214312" cy="223837"/>
              </a:xfrm>
            </p:grpSpPr>
            <p:sp>
              <p:nvSpPr>
                <p:cNvPr id="37" name="Freeform 37"/>
                <p:cNvSpPr/>
                <p:nvPr/>
              </p:nvSpPr>
              <p:spPr>
                <a:xfrm>
                  <a:off x="2226469" y="2488406"/>
                  <a:ext cx="214312" cy="9525"/>
                </a:xfrm>
                <a:custGeom>
                  <a:avLst/>
                  <a:gdLst/>
                  <a:ahLst/>
                  <a:cxnLst/>
                  <a:rect l="l" t="t" r="r" b="b"/>
                  <a:pathLst>
                    <a:path w="214312" h="9525">
                      <a:moveTo>
                        <a:pt x="0" y="0"/>
                      </a:moveTo>
                      <a:lnTo>
                        <a:pt x="214312" y="0"/>
                      </a:lnTo>
                    </a:path>
                  </a:pathLst>
                </a:custGeom>
                <a:noFill/>
                <a:ln w="17859">
                  <a:solidFill>
                    <a:srgbClr val="841600"/>
                  </a:solidFill>
                </a:ln>
              </p:spPr>
            </p:sp>
            <p:sp>
              <p:nvSpPr>
                <p:cNvPr id="38" name="Freeform 38"/>
                <p:cNvSpPr/>
                <p:nvPr/>
              </p:nvSpPr>
              <p:spPr>
                <a:xfrm>
                  <a:off x="2297906" y="2333625"/>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39" name="Freeform 39"/>
                <p:cNvSpPr/>
                <p:nvPr/>
              </p:nvSpPr>
              <p:spPr>
                <a:xfrm>
                  <a:off x="2297906" y="2381250"/>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40" name="Freeform 40"/>
                <p:cNvSpPr/>
                <p:nvPr/>
              </p:nvSpPr>
              <p:spPr>
                <a:xfrm>
                  <a:off x="2297906" y="2428875"/>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41" name="Freeform 41"/>
                <p:cNvSpPr/>
                <p:nvPr/>
              </p:nvSpPr>
              <p:spPr>
                <a:xfrm>
                  <a:off x="2357438" y="2333625"/>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42" name="Freeform 42"/>
                <p:cNvSpPr/>
                <p:nvPr/>
              </p:nvSpPr>
              <p:spPr>
                <a:xfrm>
                  <a:off x="2357438" y="2381250"/>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43" name="Freeform 43"/>
                <p:cNvSpPr/>
                <p:nvPr/>
              </p:nvSpPr>
              <p:spPr>
                <a:xfrm>
                  <a:off x="2357438" y="2428875"/>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44" name="Freeform 44"/>
                <p:cNvSpPr/>
                <p:nvPr/>
              </p:nvSpPr>
              <p:spPr>
                <a:xfrm>
                  <a:off x="2250281" y="2274094"/>
                  <a:ext cx="166688" cy="214312"/>
                </a:xfrm>
                <a:custGeom>
                  <a:avLst/>
                  <a:gdLst/>
                  <a:ahLst/>
                  <a:cxnLst/>
                  <a:rect l="l" t="t" r="r" b="b"/>
                  <a:pathLst>
                    <a:path w="166688" h="214312">
                      <a:moveTo>
                        <a:pt x="0" y="214312"/>
                      </a:moveTo>
                      <a:lnTo>
                        <a:pt x="0" y="23812"/>
                      </a:lnTo>
                      <a:cubicBezTo>
                        <a:pt x="0" y="10661"/>
                        <a:pt x="10661" y="0"/>
                        <a:pt x="23812" y="0"/>
                      </a:cubicBezTo>
                      <a:lnTo>
                        <a:pt x="142875" y="0"/>
                      </a:lnTo>
                      <a:cubicBezTo>
                        <a:pt x="156026" y="0"/>
                        <a:pt x="166688" y="10661"/>
                        <a:pt x="166688" y="23812"/>
                      </a:cubicBezTo>
                      <a:lnTo>
                        <a:pt x="166688" y="214312"/>
                      </a:lnTo>
                    </a:path>
                  </a:pathLst>
                </a:custGeom>
                <a:noFill/>
                <a:ln w="17859">
                  <a:solidFill>
                    <a:srgbClr val="841600"/>
                  </a:solidFill>
                </a:ln>
              </p:spPr>
            </p:sp>
          </p:grpSp>
          <p:sp>
            <p:nvSpPr>
              <p:cNvPr id="46" name="Line 46"/>
              <p:cNvSpPr/>
              <p:nvPr/>
            </p:nvSpPr>
            <p:spPr>
              <a:xfrm>
                <a:off x="2333625" y="2705100"/>
                <a:ext cx="9525" cy="838200"/>
              </a:xfrm>
              <a:custGeom>
                <a:avLst/>
                <a:gdLst/>
                <a:ahLst/>
                <a:cxnLst/>
                <a:rect l="l" t="t" r="r" b="b"/>
                <a:pathLst>
                  <a:path w="9525" h="838200">
                    <a:moveTo>
                      <a:pt x="0" y="0"/>
                    </a:moveTo>
                    <a:lnTo>
                      <a:pt x="0" y="838200"/>
                    </a:lnTo>
                  </a:path>
                </a:pathLst>
              </a:custGeom>
              <a:noFill/>
              <a:ln w="14288">
                <a:solidFill>
                  <a:srgbClr val="E3907F"/>
                </a:solidFill>
                <a:custDash>
                  <a:ds d="266667" sp="200000"/>
                </a:custDash>
              </a:ln>
            </p:spPr>
          </p:sp>
          <p:sp>
            <p:nvSpPr>
              <p:cNvPr id="47" name="Rectangle 47"/>
              <p:cNvSpPr/>
              <p:nvPr/>
            </p:nvSpPr>
            <p:spPr>
              <a:xfrm>
                <a:off x="1733550" y="3543300"/>
                <a:ext cx="1200150" cy="1143000"/>
              </a:xfrm>
              <a:prstGeom prst="roundRect">
                <a:avLst>
                  <a:gd name="adj" fmla="val 6667"/>
                </a:avLst>
              </a:prstGeom>
              <a:solidFill>
                <a:srgbClr val="EFF5FD"/>
              </a:solidFill>
              <a:ln>
                <a:noFill/>
              </a:ln>
            </p:spPr>
          </p:sp>
          <p:grpSp>
            <p:nvGrpSpPr>
              <p:cNvPr id="51" name="Group 51"/>
              <p:cNvGrpSpPr/>
              <p:nvPr/>
            </p:nvGrpSpPr>
            <p:grpSpPr>
              <a:xfrm>
                <a:off x="2212181" y="3801269"/>
                <a:ext cx="242888" cy="188913"/>
                <a:chOff x="2212181" y="3801269"/>
                <a:chExt cx="242888" cy="188913"/>
              </a:xfrm>
            </p:grpSpPr>
            <p:sp>
              <p:nvSpPr>
                <p:cNvPr id="48" name="Freeform 48"/>
                <p:cNvSpPr/>
                <p:nvPr/>
              </p:nvSpPr>
              <p:spPr>
                <a:xfrm>
                  <a:off x="2212181" y="3801269"/>
                  <a:ext cx="188913" cy="134938"/>
                </a:xfrm>
                <a:custGeom>
                  <a:avLst/>
                  <a:gdLst/>
                  <a:ahLst/>
                  <a:cxnLst/>
                  <a:rect l="l" t="t" r="r" b="b"/>
                  <a:pathLst>
                    <a:path w="188913" h="134938">
                      <a:moveTo>
                        <a:pt x="53975" y="134938"/>
                      </a:moveTo>
                      <a:lnTo>
                        <a:pt x="13494" y="134938"/>
                      </a:lnTo>
                      <a:cubicBezTo>
                        <a:pt x="6041" y="134938"/>
                        <a:pt x="0" y="128896"/>
                        <a:pt x="0" y="121444"/>
                      </a:cubicBezTo>
                      <a:lnTo>
                        <a:pt x="0" y="13494"/>
                      </a:lnTo>
                      <a:cubicBezTo>
                        <a:pt x="0" y="6041"/>
                        <a:pt x="6041" y="0"/>
                        <a:pt x="13494" y="0"/>
                      </a:cubicBezTo>
                      <a:lnTo>
                        <a:pt x="175419" y="0"/>
                      </a:lnTo>
                      <a:cubicBezTo>
                        <a:pt x="182872" y="0"/>
                        <a:pt x="188913" y="6041"/>
                        <a:pt x="188913" y="13494"/>
                      </a:cubicBezTo>
                      <a:lnTo>
                        <a:pt x="188913" y="53975"/>
                      </a:lnTo>
                    </a:path>
                  </a:pathLst>
                </a:custGeom>
                <a:noFill/>
                <a:ln w="20241">
                  <a:solidFill>
                    <a:srgbClr val="841600"/>
                  </a:solidFill>
                </a:ln>
              </p:spPr>
            </p:sp>
            <p:sp>
              <p:nvSpPr>
                <p:cNvPr id="49" name="Freeform 49"/>
                <p:cNvSpPr/>
                <p:nvPr/>
              </p:nvSpPr>
              <p:spPr>
                <a:xfrm>
                  <a:off x="2266156" y="3855244"/>
                  <a:ext cx="188913" cy="134938"/>
                </a:xfrm>
                <a:custGeom>
                  <a:avLst/>
                  <a:gdLst/>
                  <a:ahLst/>
                  <a:cxnLst/>
                  <a:rect l="l" t="t" r="r" b="b"/>
                  <a:pathLst>
                    <a:path w="188913" h="134938">
                      <a:moveTo>
                        <a:pt x="0" y="13494"/>
                      </a:moveTo>
                      <a:cubicBezTo>
                        <a:pt x="0" y="6041"/>
                        <a:pt x="6041" y="0"/>
                        <a:pt x="13494" y="0"/>
                      </a:cubicBezTo>
                      <a:lnTo>
                        <a:pt x="175419" y="0"/>
                      </a:lnTo>
                      <a:cubicBezTo>
                        <a:pt x="182872" y="0"/>
                        <a:pt x="188913" y="6041"/>
                        <a:pt x="188913" y="13494"/>
                      </a:cubicBezTo>
                      <a:lnTo>
                        <a:pt x="188913" y="121444"/>
                      </a:lnTo>
                      <a:cubicBezTo>
                        <a:pt x="188913" y="128896"/>
                        <a:pt x="182872" y="134938"/>
                        <a:pt x="175419" y="134938"/>
                      </a:cubicBezTo>
                      <a:lnTo>
                        <a:pt x="13494" y="134938"/>
                      </a:lnTo>
                      <a:cubicBezTo>
                        <a:pt x="6041" y="134938"/>
                        <a:pt x="0" y="128896"/>
                        <a:pt x="0" y="121444"/>
                      </a:cubicBezTo>
                      <a:lnTo>
                        <a:pt x="0" y="13494"/>
                      </a:lnTo>
                    </a:path>
                  </a:pathLst>
                </a:custGeom>
                <a:noFill/>
                <a:ln w="20241">
                  <a:solidFill>
                    <a:srgbClr val="841600"/>
                  </a:solidFill>
                </a:ln>
              </p:spPr>
            </p:sp>
            <p:sp>
              <p:nvSpPr>
                <p:cNvPr id="50" name="Freeform 50"/>
                <p:cNvSpPr/>
                <p:nvPr/>
              </p:nvSpPr>
              <p:spPr>
                <a:xfrm>
                  <a:off x="2333625" y="3895725"/>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0241">
                  <a:solidFill>
                    <a:srgbClr val="841600"/>
                  </a:solidFill>
                </a:ln>
              </p:spPr>
            </p:sp>
          </p:grpSp>
          <p:sp>
            <p:nvSpPr>
              <p:cNvPr id="52" name="TextBox 52"/>
              <p:cNvSpPr txBox="1"/>
              <p:nvPr/>
            </p:nvSpPr>
            <p:spPr>
              <a:xfrm>
                <a:off x="2045589" y="4344352"/>
                <a:ext cx="576072"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贸易融资</a:t>
                </a:r>
              </a:p>
            </p:txBody>
          </p:sp>
        </p:grpSp>
        <p:sp>
          <p:nvSpPr>
            <p:cNvPr id="54" name="Line 54"/>
            <p:cNvSpPr/>
            <p:nvPr/>
          </p:nvSpPr>
          <p:spPr>
            <a:xfrm>
              <a:off x="2943225" y="2057400"/>
              <a:ext cx="66675" cy="1"/>
            </a:xfrm>
            <a:prstGeom prst="line">
              <a:avLst/>
            </a:prstGeom>
            <a:noFill/>
            <a:ln w="19050">
              <a:solidFill>
                <a:srgbClr val="C9482E"/>
              </a:solidFill>
              <a:tailEnd type="triangle" w="lg" len="lg"/>
            </a:ln>
          </p:spPr>
        </p:sp>
        <p:grpSp>
          <p:nvGrpSpPr>
            <p:cNvPr id="69" name="chain-3"/>
            <p:cNvGrpSpPr/>
            <p:nvPr/>
          </p:nvGrpSpPr>
          <p:grpSpPr>
            <a:xfrm>
              <a:off x="3048000" y="1257300"/>
              <a:ext cx="1200150" cy="3429000"/>
              <a:chOff x="3048000" y="1257300"/>
              <a:chExt cx="1200150" cy="3429000"/>
            </a:xfrm>
          </p:grpSpPr>
          <p:sp>
            <p:nvSpPr>
              <p:cNvPr id="55" name="Rectangle 55"/>
              <p:cNvSpPr/>
              <p:nvPr/>
            </p:nvSpPr>
            <p:spPr>
              <a:xfrm>
                <a:off x="3048000" y="1257300"/>
                <a:ext cx="1200150" cy="1600200"/>
              </a:xfrm>
              <a:prstGeom prst="roundRect">
                <a:avLst>
                  <a:gd name="adj" fmla="val 6349"/>
                </a:avLst>
              </a:prstGeom>
              <a:solidFill>
                <a:srgbClr val="EFF5FD"/>
              </a:solidFill>
              <a:ln>
                <a:noFill/>
              </a:ln>
            </p:spPr>
          </p:sp>
          <p:sp>
            <p:nvSpPr>
              <p:cNvPr id="56" name="Ellipse 56"/>
              <p:cNvSpPr/>
              <p:nvPr/>
            </p:nvSpPr>
            <p:spPr>
              <a:xfrm>
                <a:off x="3533775" y="1333500"/>
                <a:ext cx="228600" cy="228600"/>
              </a:xfrm>
              <a:prstGeom prst="ellipse">
                <a:avLst/>
              </a:prstGeom>
              <a:solidFill>
                <a:srgbClr val="841600"/>
              </a:solidFill>
              <a:ln>
                <a:noFill/>
              </a:ln>
            </p:spPr>
          </p:sp>
          <p:sp>
            <p:nvSpPr>
              <p:cNvPr id="57" name="TextBox 57"/>
              <p:cNvSpPr txBox="1"/>
              <p:nvPr/>
            </p:nvSpPr>
            <p:spPr>
              <a:xfrm>
                <a:off x="3608328" y="13982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a:t>
                </a:r>
              </a:p>
            </p:txBody>
          </p:sp>
          <p:sp>
            <p:nvSpPr>
              <p:cNvPr id="58" name="TextBox 58"/>
              <p:cNvSpPr txBox="1"/>
              <p:nvPr/>
            </p:nvSpPr>
            <p:spPr>
              <a:xfrm>
                <a:off x="3491586" y="16883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物流</a:t>
                </a:r>
              </a:p>
            </p:txBody>
          </p:sp>
          <p:sp>
            <p:nvSpPr>
              <p:cNvPr id="59" name="Ellipse 59"/>
              <p:cNvSpPr/>
              <p:nvPr/>
            </p:nvSpPr>
            <p:spPr>
              <a:xfrm>
                <a:off x="3362325" y="2095500"/>
                <a:ext cx="571500" cy="571500"/>
              </a:xfrm>
              <a:prstGeom prst="ellipse">
                <a:avLst/>
              </a:prstGeom>
              <a:solidFill>
                <a:srgbClr val="FFFFFF"/>
              </a:solidFill>
              <a:ln w="14288">
                <a:solidFill>
                  <a:srgbClr val="ECC1B8"/>
                </a:solidFill>
              </a:ln>
            </p:spPr>
          </p:sp>
          <p:grpSp>
            <p:nvGrpSpPr>
              <p:cNvPr id="62" name="Group 62"/>
              <p:cNvGrpSpPr/>
              <p:nvPr/>
            </p:nvGrpSpPr>
            <p:grpSpPr>
              <a:xfrm>
                <a:off x="3540919" y="2309812"/>
                <a:ext cx="214313" cy="142875"/>
                <a:chOff x="3540919" y="2309812"/>
                <a:chExt cx="214313" cy="142875"/>
              </a:xfrm>
            </p:grpSpPr>
            <p:sp>
              <p:nvSpPr>
                <p:cNvPr id="60" name="Freeform 60"/>
                <p:cNvSpPr/>
                <p:nvPr/>
              </p:nvSpPr>
              <p:spPr>
                <a:xfrm>
                  <a:off x="3588544" y="2309812"/>
                  <a:ext cx="166688" cy="47625"/>
                </a:xfrm>
                <a:custGeom>
                  <a:avLst/>
                  <a:gdLst/>
                  <a:ahLst/>
                  <a:cxnLst/>
                  <a:rect l="l" t="t" r="r" b="b"/>
                  <a:pathLst>
                    <a:path w="166688" h="47625">
                      <a:moveTo>
                        <a:pt x="0" y="47625"/>
                      </a:moveTo>
                      <a:lnTo>
                        <a:pt x="166688" y="47625"/>
                      </a:lnTo>
                      <a:lnTo>
                        <a:pt x="119062" y="0"/>
                      </a:lnTo>
                    </a:path>
                  </a:pathLst>
                </a:custGeom>
                <a:noFill/>
                <a:ln w="17859">
                  <a:solidFill>
                    <a:srgbClr val="841600"/>
                  </a:solidFill>
                </a:ln>
              </p:spPr>
            </p:sp>
            <p:sp>
              <p:nvSpPr>
                <p:cNvPr id="61" name="Freeform 61"/>
                <p:cNvSpPr/>
                <p:nvPr/>
              </p:nvSpPr>
              <p:spPr>
                <a:xfrm>
                  <a:off x="3540919" y="2405062"/>
                  <a:ext cx="166688" cy="47625"/>
                </a:xfrm>
                <a:custGeom>
                  <a:avLst/>
                  <a:gdLst/>
                  <a:ahLst/>
                  <a:cxnLst/>
                  <a:rect l="l" t="t" r="r" b="b"/>
                  <a:pathLst>
                    <a:path w="166688" h="47625">
                      <a:moveTo>
                        <a:pt x="166688" y="0"/>
                      </a:moveTo>
                      <a:lnTo>
                        <a:pt x="0" y="0"/>
                      </a:lnTo>
                      <a:lnTo>
                        <a:pt x="47625" y="47625"/>
                      </a:lnTo>
                    </a:path>
                  </a:pathLst>
                </a:custGeom>
                <a:noFill/>
                <a:ln w="17859">
                  <a:solidFill>
                    <a:srgbClr val="841600"/>
                  </a:solidFill>
                </a:ln>
              </p:spPr>
            </p:sp>
          </p:grpSp>
          <p:sp>
            <p:nvSpPr>
              <p:cNvPr id="63" name="Line 63"/>
              <p:cNvSpPr/>
              <p:nvPr/>
            </p:nvSpPr>
            <p:spPr>
              <a:xfrm>
                <a:off x="3648075" y="2705100"/>
                <a:ext cx="9525" cy="838200"/>
              </a:xfrm>
              <a:custGeom>
                <a:avLst/>
                <a:gdLst/>
                <a:ahLst/>
                <a:cxnLst/>
                <a:rect l="l" t="t" r="r" b="b"/>
                <a:pathLst>
                  <a:path w="9525" h="838200">
                    <a:moveTo>
                      <a:pt x="0" y="0"/>
                    </a:moveTo>
                    <a:lnTo>
                      <a:pt x="0" y="838200"/>
                    </a:lnTo>
                  </a:path>
                </a:pathLst>
              </a:custGeom>
              <a:noFill/>
              <a:ln w="14288">
                <a:solidFill>
                  <a:srgbClr val="E3907F"/>
                </a:solidFill>
                <a:custDash>
                  <a:ds d="266667" sp="200000"/>
                </a:custDash>
              </a:ln>
            </p:spPr>
          </p:sp>
          <p:sp>
            <p:nvSpPr>
              <p:cNvPr id="64" name="Rectangle 64"/>
              <p:cNvSpPr/>
              <p:nvPr/>
            </p:nvSpPr>
            <p:spPr>
              <a:xfrm>
                <a:off x="3048000" y="3543300"/>
                <a:ext cx="1200150" cy="1143000"/>
              </a:xfrm>
              <a:prstGeom prst="roundRect">
                <a:avLst>
                  <a:gd name="adj" fmla="val 6667"/>
                </a:avLst>
              </a:prstGeom>
              <a:solidFill>
                <a:srgbClr val="EFF5FD"/>
              </a:solidFill>
              <a:ln>
                <a:noFill/>
              </a:ln>
            </p:spPr>
          </p:sp>
          <p:grpSp>
            <p:nvGrpSpPr>
              <p:cNvPr id="67" name="Group 67"/>
              <p:cNvGrpSpPr/>
              <p:nvPr/>
            </p:nvGrpSpPr>
            <p:grpSpPr>
              <a:xfrm>
                <a:off x="3521012" y="3774281"/>
                <a:ext cx="254127" cy="242888"/>
                <a:chOff x="3521012" y="3774281"/>
                <a:chExt cx="254127" cy="242888"/>
              </a:xfrm>
            </p:grpSpPr>
            <p:sp>
              <p:nvSpPr>
                <p:cNvPr id="65" name="Freeform 65"/>
                <p:cNvSpPr/>
                <p:nvPr/>
              </p:nvSpPr>
              <p:spPr>
                <a:xfrm>
                  <a:off x="3521012" y="3774281"/>
                  <a:ext cx="254127" cy="242888"/>
                </a:xfrm>
                <a:custGeom>
                  <a:avLst/>
                  <a:gdLst/>
                  <a:ahLst/>
                  <a:cxnLst/>
                  <a:rect l="l" t="t" r="r" b="b"/>
                  <a:pathLst>
                    <a:path w="254127" h="242888">
                      <a:moveTo>
                        <a:pt x="127063" y="0"/>
                      </a:moveTo>
                      <a:cubicBezTo>
                        <a:pt x="158583" y="27886"/>
                        <a:pt x="199720" y="42405"/>
                        <a:pt x="241761" y="40481"/>
                      </a:cubicBezTo>
                      <a:cubicBezTo>
                        <a:pt x="254127" y="82549"/>
                        <a:pt x="248904" y="127833"/>
                        <a:pt x="227287" y="165981"/>
                      </a:cubicBezTo>
                      <a:cubicBezTo>
                        <a:pt x="205670" y="204129"/>
                        <a:pt x="169506" y="231879"/>
                        <a:pt x="127063" y="242888"/>
                      </a:cubicBezTo>
                      <a:cubicBezTo>
                        <a:pt x="84621" y="231879"/>
                        <a:pt x="48457" y="204129"/>
                        <a:pt x="26840" y="165981"/>
                      </a:cubicBezTo>
                      <a:cubicBezTo>
                        <a:pt x="5222" y="127833"/>
                        <a:pt x="0" y="82549"/>
                        <a:pt x="12366" y="40481"/>
                      </a:cubicBezTo>
                      <a:cubicBezTo>
                        <a:pt x="54407" y="42405"/>
                        <a:pt x="95544" y="27886"/>
                        <a:pt x="127063" y="0"/>
                      </a:cubicBezTo>
                    </a:path>
                  </a:pathLst>
                </a:custGeom>
                <a:noFill/>
                <a:ln w="20241">
                  <a:solidFill>
                    <a:srgbClr val="841600"/>
                  </a:solidFill>
                </a:ln>
              </p:spPr>
            </p:sp>
            <p:sp>
              <p:nvSpPr>
                <p:cNvPr id="66" name="Freeform 66"/>
                <p:cNvSpPr/>
                <p:nvPr/>
              </p:nvSpPr>
              <p:spPr>
                <a:xfrm>
                  <a:off x="3648075" y="3774281"/>
                  <a:ext cx="9525" cy="242888"/>
                </a:xfrm>
                <a:custGeom>
                  <a:avLst/>
                  <a:gdLst/>
                  <a:ahLst/>
                  <a:cxnLst/>
                  <a:rect l="l" t="t" r="r" b="b"/>
                  <a:pathLst>
                    <a:path w="9525" h="242888">
                      <a:moveTo>
                        <a:pt x="0" y="0"/>
                      </a:moveTo>
                      <a:lnTo>
                        <a:pt x="0" y="242888"/>
                      </a:lnTo>
                    </a:path>
                  </a:pathLst>
                </a:custGeom>
                <a:noFill/>
                <a:ln w="20241">
                  <a:solidFill>
                    <a:srgbClr val="841600"/>
                  </a:solidFill>
                </a:ln>
              </p:spPr>
            </p:sp>
          </p:grpSp>
          <p:sp>
            <p:nvSpPr>
              <p:cNvPr id="68" name="TextBox 68"/>
              <p:cNvSpPr txBox="1"/>
              <p:nvPr/>
            </p:nvSpPr>
            <p:spPr>
              <a:xfrm>
                <a:off x="3501390" y="4344352"/>
                <a:ext cx="293370"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保函</a:t>
                </a:r>
              </a:p>
            </p:txBody>
          </p:sp>
        </p:grpSp>
        <p:sp>
          <p:nvSpPr>
            <p:cNvPr id="70" name="Line 70"/>
            <p:cNvSpPr/>
            <p:nvPr/>
          </p:nvSpPr>
          <p:spPr>
            <a:xfrm>
              <a:off x="4257675" y="2057400"/>
              <a:ext cx="66675" cy="1"/>
            </a:xfrm>
            <a:prstGeom prst="line">
              <a:avLst/>
            </a:prstGeom>
            <a:noFill/>
            <a:ln w="19050">
              <a:solidFill>
                <a:srgbClr val="C9482E"/>
              </a:solidFill>
              <a:tailEnd type="triangle" w="lg" len="lg"/>
            </a:ln>
          </p:spPr>
        </p:sp>
        <p:grpSp>
          <p:nvGrpSpPr>
            <p:cNvPr id="90" name="chain-4"/>
            <p:cNvGrpSpPr/>
            <p:nvPr/>
          </p:nvGrpSpPr>
          <p:grpSpPr>
            <a:xfrm>
              <a:off x="4362450" y="1257300"/>
              <a:ext cx="1200150" cy="3429000"/>
              <a:chOff x="4362450" y="1257300"/>
              <a:chExt cx="1200150" cy="3429000"/>
            </a:xfrm>
          </p:grpSpPr>
          <p:sp>
            <p:nvSpPr>
              <p:cNvPr id="71" name="Rectangle 71"/>
              <p:cNvSpPr/>
              <p:nvPr/>
            </p:nvSpPr>
            <p:spPr>
              <a:xfrm>
                <a:off x="4362450" y="1257300"/>
                <a:ext cx="1200150" cy="1600200"/>
              </a:xfrm>
              <a:prstGeom prst="roundRect">
                <a:avLst>
                  <a:gd name="adj" fmla="val 6349"/>
                </a:avLst>
              </a:prstGeom>
              <a:solidFill>
                <a:srgbClr val="EFF5FD"/>
              </a:solidFill>
              <a:ln>
                <a:noFill/>
              </a:ln>
            </p:spPr>
          </p:sp>
          <p:sp>
            <p:nvSpPr>
              <p:cNvPr id="72" name="Ellipse 72"/>
              <p:cNvSpPr/>
              <p:nvPr/>
            </p:nvSpPr>
            <p:spPr>
              <a:xfrm>
                <a:off x="4848225" y="1333500"/>
                <a:ext cx="228600" cy="228600"/>
              </a:xfrm>
              <a:prstGeom prst="ellipse">
                <a:avLst/>
              </a:prstGeom>
              <a:solidFill>
                <a:srgbClr val="841600"/>
              </a:solidFill>
              <a:ln>
                <a:noFill/>
              </a:ln>
            </p:spPr>
          </p:sp>
          <p:sp>
            <p:nvSpPr>
              <p:cNvPr id="73" name="TextBox 73"/>
              <p:cNvSpPr txBox="1"/>
              <p:nvPr/>
            </p:nvSpPr>
            <p:spPr>
              <a:xfrm>
                <a:off x="4922778" y="13982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4</a:t>
                </a:r>
              </a:p>
            </p:txBody>
          </p:sp>
          <p:sp>
            <p:nvSpPr>
              <p:cNvPr id="74" name="TextBox 74"/>
              <p:cNvSpPr txBox="1"/>
              <p:nvPr/>
            </p:nvSpPr>
            <p:spPr>
              <a:xfrm>
                <a:off x="4806036" y="16883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报关</a:t>
                </a:r>
              </a:p>
            </p:txBody>
          </p:sp>
          <p:sp>
            <p:nvSpPr>
              <p:cNvPr id="75" name="Ellipse 75"/>
              <p:cNvSpPr/>
              <p:nvPr/>
            </p:nvSpPr>
            <p:spPr>
              <a:xfrm>
                <a:off x="4676775" y="2095500"/>
                <a:ext cx="571500" cy="571500"/>
              </a:xfrm>
              <a:prstGeom prst="ellipse">
                <a:avLst/>
              </a:prstGeom>
              <a:solidFill>
                <a:srgbClr val="FFFFFF"/>
              </a:solidFill>
              <a:ln w="14288">
                <a:solidFill>
                  <a:srgbClr val="ECC1B8"/>
                </a:solidFill>
              </a:ln>
            </p:spPr>
          </p:sp>
          <p:grpSp>
            <p:nvGrpSpPr>
              <p:cNvPr id="80" name="Group 80"/>
              <p:cNvGrpSpPr/>
              <p:nvPr/>
            </p:nvGrpSpPr>
            <p:grpSpPr>
              <a:xfrm>
                <a:off x="4879181" y="2286000"/>
                <a:ext cx="178595" cy="202406"/>
                <a:chOff x="4879181" y="2286000"/>
                <a:chExt cx="178595" cy="202406"/>
              </a:xfrm>
            </p:grpSpPr>
            <p:sp>
              <p:nvSpPr>
                <p:cNvPr id="76" name="Freeform 76"/>
                <p:cNvSpPr/>
                <p:nvPr/>
              </p:nvSpPr>
              <p:spPr>
                <a:xfrm>
                  <a:off x="4879181" y="2286000"/>
                  <a:ext cx="142875" cy="190500"/>
                </a:xfrm>
                <a:custGeom>
                  <a:avLst/>
                  <a:gdLst/>
                  <a:ahLst/>
                  <a:cxnLst/>
                  <a:rect l="l" t="t" r="r" b="b"/>
                  <a:pathLst>
                    <a:path w="142875" h="190500">
                      <a:moveTo>
                        <a:pt x="54947" y="190500"/>
                      </a:moveTo>
                      <a:lnTo>
                        <a:pt x="23812" y="190500"/>
                      </a:lnTo>
                      <a:cubicBezTo>
                        <a:pt x="10661" y="190500"/>
                        <a:pt x="0" y="179839"/>
                        <a:pt x="0" y="166688"/>
                      </a:cubicBezTo>
                      <a:lnTo>
                        <a:pt x="0" y="23812"/>
                      </a:lnTo>
                      <a:cubicBezTo>
                        <a:pt x="0" y="10661"/>
                        <a:pt x="10661" y="0"/>
                        <a:pt x="23812" y="0"/>
                      </a:cubicBezTo>
                      <a:lnTo>
                        <a:pt x="119062" y="0"/>
                      </a:lnTo>
                      <a:cubicBezTo>
                        <a:pt x="132214" y="0"/>
                        <a:pt x="142875" y="10661"/>
                        <a:pt x="142875" y="23812"/>
                      </a:cubicBezTo>
                      <a:lnTo>
                        <a:pt x="142875" y="119062"/>
                      </a:lnTo>
                    </a:path>
                  </a:pathLst>
                </a:custGeom>
                <a:noFill/>
                <a:ln w="17859">
                  <a:solidFill>
                    <a:srgbClr val="841600"/>
                  </a:solidFill>
                </a:ln>
              </p:spPr>
            </p:sp>
            <p:sp>
              <p:nvSpPr>
                <p:cNvPr id="77" name="Freeform 77"/>
                <p:cNvSpPr/>
                <p:nvPr/>
              </p:nvSpPr>
              <p:spPr>
                <a:xfrm>
                  <a:off x="4986338" y="2440781"/>
                  <a:ext cx="71438" cy="47625"/>
                </a:xfrm>
                <a:custGeom>
                  <a:avLst/>
                  <a:gdLst/>
                  <a:ahLst/>
                  <a:cxnLst/>
                  <a:rect l="l" t="t" r="r" b="b"/>
                  <a:pathLst>
                    <a:path w="71438" h="47625">
                      <a:moveTo>
                        <a:pt x="0" y="23812"/>
                      </a:moveTo>
                      <a:lnTo>
                        <a:pt x="23812" y="47625"/>
                      </a:lnTo>
                      <a:lnTo>
                        <a:pt x="71438" y="0"/>
                      </a:lnTo>
                    </a:path>
                  </a:pathLst>
                </a:custGeom>
                <a:noFill/>
                <a:ln w="17859">
                  <a:solidFill>
                    <a:srgbClr val="841600"/>
                  </a:solidFill>
                </a:ln>
              </p:spPr>
            </p:sp>
            <p:sp>
              <p:nvSpPr>
                <p:cNvPr id="78" name="Freeform 78"/>
                <p:cNvSpPr/>
                <p:nvPr/>
              </p:nvSpPr>
              <p:spPr>
                <a:xfrm>
                  <a:off x="4926806" y="2333625"/>
                  <a:ext cx="47625" cy="9525"/>
                </a:xfrm>
                <a:custGeom>
                  <a:avLst/>
                  <a:gdLst/>
                  <a:ahLst/>
                  <a:cxnLst/>
                  <a:rect l="l" t="t" r="r" b="b"/>
                  <a:pathLst>
                    <a:path w="47625" h="9525">
                      <a:moveTo>
                        <a:pt x="0" y="0"/>
                      </a:moveTo>
                      <a:lnTo>
                        <a:pt x="47625" y="0"/>
                      </a:lnTo>
                    </a:path>
                  </a:pathLst>
                </a:custGeom>
                <a:noFill/>
                <a:ln w="17859">
                  <a:solidFill>
                    <a:srgbClr val="841600"/>
                  </a:solidFill>
                </a:ln>
              </p:spPr>
            </p:sp>
            <p:sp>
              <p:nvSpPr>
                <p:cNvPr id="79" name="Freeform 79"/>
                <p:cNvSpPr/>
                <p:nvPr/>
              </p:nvSpPr>
              <p:spPr>
                <a:xfrm>
                  <a:off x="4926806" y="2381250"/>
                  <a:ext cx="23812" cy="9525"/>
                </a:xfrm>
                <a:custGeom>
                  <a:avLst/>
                  <a:gdLst/>
                  <a:ahLst/>
                  <a:cxnLst/>
                  <a:rect l="l" t="t" r="r" b="b"/>
                  <a:pathLst>
                    <a:path w="23812" h="9525">
                      <a:moveTo>
                        <a:pt x="0" y="0"/>
                      </a:moveTo>
                      <a:lnTo>
                        <a:pt x="23812" y="0"/>
                      </a:lnTo>
                    </a:path>
                  </a:pathLst>
                </a:custGeom>
                <a:noFill/>
                <a:ln w="17859">
                  <a:solidFill>
                    <a:srgbClr val="841600"/>
                  </a:solidFill>
                </a:ln>
              </p:spPr>
            </p:sp>
          </p:grpSp>
          <p:sp>
            <p:nvSpPr>
              <p:cNvPr id="81" name="Line 81"/>
              <p:cNvSpPr/>
              <p:nvPr/>
            </p:nvSpPr>
            <p:spPr>
              <a:xfrm>
                <a:off x="4962525" y="2705100"/>
                <a:ext cx="9525" cy="838200"/>
              </a:xfrm>
              <a:custGeom>
                <a:avLst/>
                <a:gdLst/>
                <a:ahLst/>
                <a:cxnLst/>
                <a:rect l="l" t="t" r="r" b="b"/>
                <a:pathLst>
                  <a:path w="9525" h="838200">
                    <a:moveTo>
                      <a:pt x="0" y="0"/>
                    </a:moveTo>
                    <a:lnTo>
                      <a:pt x="0" y="838200"/>
                    </a:lnTo>
                  </a:path>
                </a:pathLst>
              </a:custGeom>
              <a:noFill/>
              <a:ln w="14288">
                <a:solidFill>
                  <a:srgbClr val="E3907F"/>
                </a:solidFill>
                <a:custDash>
                  <a:ds d="266667" sp="200000"/>
                </a:custDash>
              </a:ln>
            </p:spPr>
          </p:sp>
          <p:sp>
            <p:nvSpPr>
              <p:cNvPr id="82" name="Rectangle 82"/>
              <p:cNvSpPr/>
              <p:nvPr/>
            </p:nvSpPr>
            <p:spPr>
              <a:xfrm>
                <a:off x="4362450" y="3543300"/>
                <a:ext cx="1200150" cy="1143000"/>
              </a:xfrm>
              <a:prstGeom prst="roundRect">
                <a:avLst>
                  <a:gd name="adj" fmla="val 6667"/>
                </a:avLst>
              </a:prstGeom>
              <a:solidFill>
                <a:srgbClr val="EFF5FD"/>
              </a:solidFill>
              <a:ln>
                <a:noFill/>
              </a:ln>
            </p:spPr>
          </p:sp>
          <p:grpSp>
            <p:nvGrpSpPr>
              <p:cNvPr id="88" name="Group 88"/>
              <p:cNvGrpSpPr/>
              <p:nvPr/>
            </p:nvGrpSpPr>
            <p:grpSpPr>
              <a:xfrm>
                <a:off x="4868069" y="3774281"/>
                <a:ext cx="188913" cy="242888"/>
                <a:chOff x="4868069" y="3774281"/>
                <a:chExt cx="188913" cy="242888"/>
              </a:xfrm>
            </p:grpSpPr>
            <p:sp>
              <p:nvSpPr>
                <p:cNvPr id="83" name="Freeform 83"/>
                <p:cNvSpPr/>
                <p:nvPr/>
              </p:nvSpPr>
              <p:spPr>
                <a:xfrm>
                  <a:off x="4989513" y="3774281"/>
                  <a:ext cx="67469" cy="67469"/>
                </a:xfrm>
                <a:custGeom>
                  <a:avLst/>
                  <a:gdLst/>
                  <a:ahLst/>
                  <a:cxnLst/>
                  <a:rect l="l" t="t" r="r" b="b"/>
                  <a:pathLst>
                    <a:path w="67469" h="67469">
                      <a:moveTo>
                        <a:pt x="0" y="0"/>
                      </a:moveTo>
                      <a:lnTo>
                        <a:pt x="0" y="53975"/>
                      </a:lnTo>
                      <a:cubicBezTo>
                        <a:pt x="0" y="61428"/>
                        <a:pt x="6041" y="67469"/>
                        <a:pt x="13494" y="67469"/>
                      </a:cubicBezTo>
                      <a:lnTo>
                        <a:pt x="67469" y="67469"/>
                      </a:lnTo>
                    </a:path>
                  </a:pathLst>
                </a:custGeom>
                <a:noFill/>
                <a:ln w="20241">
                  <a:solidFill>
                    <a:srgbClr val="841600"/>
                  </a:solidFill>
                </a:ln>
              </p:spPr>
            </p:sp>
            <p:sp>
              <p:nvSpPr>
                <p:cNvPr id="84" name="Freeform 84"/>
                <p:cNvSpPr/>
                <p:nvPr/>
              </p:nvSpPr>
              <p:spPr>
                <a:xfrm>
                  <a:off x="4868069" y="3774281"/>
                  <a:ext cx="188913" cy="242888"/>
                </a:xfrm>
                <a:custGeom>
                  <a:avLst/>
                  <a:gdLst/>
                  <a:ahLst/>
                  <a:cxnLst/>
                  <a:rect l="l" t="t" r="r" b="b"/>
                  <a:pathLst>
                    <a:path w="188913" h="242888">
                      <a:moveTo>
                        <a:pt x="161925" y="242888"/>
                      </a:moveTo>
                      <a:lnTo>
                        <a:pt x="26988" y="242888"/>
                      </a:lnTo>
                      <a:cubicBezTo>
                        <a:pt x="12083" y="242888"/>
                        <a:pt x="0" y="230805"/>
                        <a:pt x="0" y="215901"/>
                      </a:cubicBezTo>
                      <a:lnTo>
                        <a:pt x="0" y="26988"/>
                      </a:lnTo>
                      <a:cubicBezTo>
                        <a:pt x="0" y="12083"/>
                        <a:pt x="12083" y="0"/>
                        <a:pt x="26988" y="0"/>
                      </a:cubicBezTo>
                      <a:lnTo>
                        <a:pt x="121444" y="0"/>
                      </a:lnTo>
                      <a:lnTo>
                        <a:pt x="188913" y="67469"/>
                      </a:lnTo>
                      <a:lnTo>
                        <a:pt x="188913" y="215901"/>
                      </a:lnTo>
                      <a:cubicBezTo>
                        <a:pt x="188913" y="230805"/>
                        <a:pt x="176830" y="242888"/>
                        <a:pt x="161925" y="242888"/>
                      </a:cubicBezTo>
                    </a:path>
                  </a:pathLst>
                </a:custGeom>
                <a:noFill/>
                <a:ln w="20241">
                  <a:solidFill>
                    <a:srgbClr val="841600"/>
                  </a:solidFill>
                </a:ln>
              </p:spPr>
            </p:sp>
            <p:sp>
              <p:nvSpPr>
                <p:cNvPr id="85" name="Freeform 85"/>
                <p:cNvSpPr/>
                <p:nvPr/>
              </p:nvSpPr>
              <p:spPr>
                <a:xfrm>
                  <a:off x="4922044" y="3855244"/>
                  <a:ext cx="13494" cy="9525"/>
                </a:xfrm>
                <a:custGeom>
                  <a:avLst/>
                  <a:gdLst/>
                  <a:ahLst/>
                  <a:cxnLst/>
                  <a:rect l="l" t="t" r="r" b="b"/>
                  <a:pathLst>
                    <a:path w="13494" h="9525">
                      <a:moveTo>
                        <a:pt x="0" y="0"/>
                      </a:moveTo>
                      <a:lnTo>
                        <a:pt x="13494" y="0"/>
                      </a:lnTo>
                    </a:path>
                  </a:pathLst>
                </a:custGeom>
                <a:noFill/>
                <a:ln w="20241">
                  <a:solidFill>
                    <a:srgbClr val="841600"/>
                  </a:solidFill>
                </a:ln>
              </p:spPr>
            </p:sp>
            <p:sp>
              <p:nvSpPr>
                <p:cNvPr id="86" name="Freeform 86"/>
                <p:cNvSpPr/>
                <p:nvPr/>
              </p:nvSpPr>
              <p:spPr>
                <a:xfrm>
                  <a:off x="4922044" y="3909219"/>
                  <a:ext cx="80963" cy="9525"/>
                </a:xfrm>
                <a:custGeom>
                  <a:avLst/>
                  <a:gdLst/>
                  <a:ahLst/>
                  <a:cxnLst/>
                  <a:rect l="l" t="t" r="r" b="b"/>
                  <a:pathLst>
                    <a:path w="80963" h="9525">
                      <a:moveTo>
                        <a:pt x="0" y="0"/>
                      </a:moveTo>
                      <a:lnTo>
                        <a:pt x="80963" y="0"/>
                      </a:lnTo>
                    </a:path>
                  </a:pathLst>
                </a:custGeom>
                <a:noFill/>
                <a:ln w="20241">
                  <a:solidFill>
                    <a:srgbClr val="841600"/>
                  </a:solidFill>
                </a:ln>
              </p:spPr>
            </p:sp>
            <p:sp>
              <p:nvSpPr>
                <p:cNvPr id="87" name="Freeform 87"/>
                <p:cNvSpPr/>
                <p:nvPr/>
              </p:nvSpPr>
              <p:spPr>
                <a:xfrm>
                  <a:off x="4922044" y="3963194"/>
                  <a:ext cx="80963" cy="9525"/>
                </a:xfrm>
                <a:custGeom>
                  <a:avLst/>
                  <a:gdLst/>
                  <a:ahLst/>
                  <a:cxnLst/>
                  <a:rect l="l" t="t" r="r" b="b"/>
                  <a:pathLst>
                    <a:path w="80963" h="9525">
                      <a:moveTo>
                        <a:pt x="0" y="0"/>
                      </a:moveTo>
                      <a:lnTo>
                        <a:pt x="80963" y="0"/>
                      </a:lnTo>
                    </a:path>
                  </a:pathLst>
                </a:custGeom>
                <a:noFill/>
                <a:ln w="20241">
                  <a:solidFill>
                    <a:srgbClr val="841600"/>
                  </a:solidFill>
                </a:ln>
              </p:spPr>
            </p:sp>
          </p:grpSp>
          <p:sp>
            <p:nvSpPr>
              <p:cNvPr id="89" name="TextBox 89"/>
              <p:cNvSpPr txBox="1"/>
              <p:nvPr/>
            </p:nvSpPr>
            <p:spPr>
              <a:xfrm>
                <a:off x="4745164" y="4344352"/>
                <a:ext cx="434721"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信用证</a:t>
                </a:r>
              </a:p>
            </p:txBody>
          </p:sp>
        </p:grpSp>
        <p:sp>
          <p:nvSpPr>
            <p:cNvPr id="91" name="Line 91"/>
            <p:cNvSpPr/>
            <p:nvPr/>
          </p:nvSpPr>
          <p:spPr>
            <a:xfrm>
              <a:off x="5572125" y="2057400"/>
              <a:ext cx="66675" cy="1"/>
            </a:xfrm>
            <a:prstGeom prst="line">
              <a:avLst/>
            </a:prstGeom>
            <a:noFill/>
            <a:ln w="19050">
              <a:solidFill>
                <a:srgbClr val="C9482E"/>
              </a:solidFill>
              <a:tailEnd type="triangle" w="lg" len="lg"/>
            </a:ln>
          </p:spPr>
        </p:sp>
        <p:grpSp>
          <p:nvGrpSpPr>
            <p:cNvPr id="111" name="chain-5"/>
            <p:cNvGrpSpPr/>
            <p:nvPr/>
          </p:nvGrpSpPr>
          <p:grpSpPr>
            <a:xfrm>
              <a:off x="5676900" y="1257300"/>
              <a:ext cx="1200150" cy="3429000"/>
              <a:chOff x="5676900" y="1257300"/>
              <a:chExt cx="1200150" cy="3429000"/>
            </a:xfrm>
          </p:grpSpPr>
          <p:sp>
            <p:nvSpPr>
              <p:cNvPr id="92" name="Rectangle 92"/>
              <p:cNvSpPr/>
              <p:nvPr/>
            </p:nvSpPr>
            <p:spPr>
              <a:xfrm>
                <a:off x="5676900" y="1257300"/>
                <a:ext cx="1200150" cy="1600200"/>
              </a:xfrm>
              <a:prstGeom prst="roundRect">
                <a:avLst>
                  <a:gd name="adj" fmla="val 6349"/>
                </a:avLst>
              </a:prstGeom>
              <a:solidFill>
                <a:srgbClr val="EFF5FD"/>
              </a:solidFill>
              <a:ln>
                <a:noFill/>
              </a:ln>
            </p:spPr>
          </p:sp>
          <p:sp>
            <p:nvSpPr>
              <p:cNvPr id="93" name="Ellipse 93"/>
              <p:cNvSpPr/>
              <p:nvPr/>
            </p:nvSpPr>
            <p:spPr>
              <a:xfrm>
                <a:off x="6162675" y="1333500"/>
                <a:ext cx="228600" cy="228600"/>
              </a:xfrm>
              <a:prstGeom prst="ellipse">
                <a:avLst/>
              </a:prstGeom>
              <a:solidFill>
                <a:srgbClr val="841600"/>
              </a:solidFill>
              <a:ln>
                <a:noFill/>
              </a:ln>
            </p:spPr>
          </p:sp>
          <p:sp>
            <p:nvSpPr>
              <p:cNvPr id="94" name="TextBox 94"/>
              <p:cNvSpPr txBox="1"/>
              <p:nvPr/>
            </p:nvSpPr>
            <p:spPr>
              <a:xfrm>
                <a:off x="6237228" y="13982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5</a:t>
                </a:r>
              </a:p>
            </p:txBody>
          </p:sp>
          <p:sp>
            <p:nvSpPr>
              <p:cNvPr id="95" name="TextBox 95"/>
              <p:cNvSpPr txBox="1"/>
              <p:nvPr/>
            </p:nvSpPr>
            <p:spPr>
              <a:xfrm>
                <a:off x="6120486" y="16883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收付</a:t>
                </a:r>
              </a:p>
            </p:txBody>
          </p:sp>
          <p:sp>
            <p:nvSpPr>
              <p:cNvPr id="96" name="Ellipse 96"/>
              <p:cNvSpPr/>
              <p:nvPr/>
            </p:nvSpPr>
            <p:spPr>
              <a:xfrm>
                <a:off x="5991225" y="2095500"/>
                <a:ext cx="571500" cy="571500"/>
              </a:xfrm>
              <a:prstGeom prst="ellipse">
                <a:avLst/>
              </a:prstGeom>
              <a:solidFill>
                <a:srgbClr val="FFFFFF"/>
              </a:solidFill>
              <a:ln w="14288">
                <a:solidFill>
                  <a:srgbClr val="ECC1B8"/>
                </a:solidFill>
              </a:ln>
            </p:spPr>
          </p:sp>
          <p:grpSp>
            <p:nvGrpSpPr>
              <p:cNvPr id="102" name="Group 102"/>
              <p:cNvGrpSpPr/>
              <p:nvPr/>
            </p:nvGrpSpPr>
            <p:grpSpPr>
              <a:xfrm>
                <a:off x="6169819" y="2272498"/>
                <a:ext cx="214312" cy="215908"/>
                <a:chOff x="6169819" y="2272498"/>
                <a:chExt cx="214312" cy="215908"/>
              </a:xfrm>
            </p:grpSpPr>
            <p:sp>
              <p:nvSpPr>
                <p:cNvPr id="97" name="Freeform 97"/>
                <p:cNvSpPr/>
                <p:nvPr/>
              </p:nvSpPr>
              <p:spPr>
                <a:xfrm>
                  <a:off x="6241256" y="2369344"/>
                  <a:ext cx="142875" cy="71438"/>
                </a:xfrm>
                <a:custGeom>
                  <a:avLst/>
                  <a:gdLst/>
                  <a:ahLst/>
                  <a:cxnLst/>
                  <a:rect l="l" t="t" r="r" b="b"/>
                  <a:pathLst>
                    <a:path w="142875" h="71438">
                      <a:moveTo>
                        <a:pt x="0" y="35719"/>
                      </a:moveTo>
                      <a:cubicBezTo>
                        <a:pt x="0" y="55447"/>
                        <a:pt x="31980" y="71438"/>
                        <a:pt x="71438" y="71438"/>
                      </a:cubicBezTo>
                      <a:cubicBezTo>
                        <a:pt x="110895" y="71438"/>
                        <a:pt x="142875" y="55447"/>
                        <a:pt x="142875" y="35719"/>
                      </a:cubicBezTo>
                      <a:cubicBezTo>
                        <a:pt x="142875" y="15990"/>
                        <a:pt x="110895" y="0"/>
                        <a:pt x="71438" y="0"/>
                      </a:cubicBezTo>
                      <a:cubicBezTo>
                        <a:pt x="31980" y="0"/>
                        <a:pt x="0" y="15990"/>
                        <a:pt x="0" y="35719"/>
                      </a:cubicBezTo>
                    </a:path>
                  </a:pathLst>
                </a:custGeom>
                <a:noFill/>
                <a:ln w="17859">
                  <a:solidFill>
                    <a:srgbClr val="841600"/>
                  </a:solidFill>
                </a:ln>
              </p:spPr>
            </p:sp>
            <p:sp>
              <p:nvSpPr>
                <p:cNvPr id="98" name="Freeform 98"/>
                <p:cNvSpPr/>
                <p:nvPr/>
              </p:nvSpPr>
              <p:spPr>
                <a:xfrm>
                  <a:off x="6241256" y="2405062"/>
                  <a:ext cx="142875" cy="83344"/>
                </a:xfrm>
                <a:custGeom>
                  <a:avLst/>
                  <a:gdLst/>
                  <a:ahLst/>
                  <a:cxnLst/>
                  <a:rect l="l" t="t" r="r" b="b"/>
                  <a:pathLst>
                    <a:path w="142875" h="83344">
                      <a:moveTo>
                        <a:pt x="0" y="0"/>
                      </a:moveTo>
                      <a:lnTo>
                        <a:pt x="0" y="47625"/>
                      </a:lnTo>
                      <a:cubicBezTo>
                        <a:pt x="0" y="67342"/>
                        <a:pt x="31980" y="83344"/>
                        <a:pt x="71438" y="83344"/>
                      </a:cubicBezTo>
                      <a:cubicBezTo>
                        <a:pt x="110895" y="83344"/>
                        <a:pt x="142875" y="67342"/>
                        <a:pt x="142875" y="47625"/>
                      </a:cubicBezTo>
                      <a:lnTo>
                        <a:pt x="142875" y="0"/>
                      </a:lnTo>
                    </a:path>
                  </a:pathLst>
                </a:custGeom>
                <a:noFill/>
                <a:ln w="17859">
                  <a:solidFill>
                    <a:srgbClr val="841600"/>
                  </a:solidFill>
                </a:ln>
              </p:spPr>
            </p:sp>
            <p:sp>
              <p:nvSpPr>
                <p:cNvPr id="99" name="Freeform 99"/>
                <p:cNvSpPr/>
                <p:nvPr/>
              </p:nvSpPr>
              <p:spPr>
                <a:xfrm>
                  <a:off x="6169819" y="2272498"/>
                  <a:ext cx="142875" cy="74628"/>
                </a:xfrm>
                <a:custGeom>
                  <a:avLst/>
                  <a:gdLst/>
                  <a:ahLst/>
                  <a:cxnLst/>
                  <a:rect l="l" t="t" r="r" b="b"/>
                  <a:pathLst>
                    <a:path w="142875" h="74628">
                      <a:moveTo>
                        <a:pt x="0" y="37314"/>
                      </a:moveTo>
                      <a:cubicBezTo>
                        <a:pt x="0" y="50078"/>
                        <a:pt x="13621" y="61865"/>
                        <a:pt x="35719" y="68247"/>
                      </a:cubicBezTo>
                      <a:cubicBezTo>
                        <a:pt x="57817" y="74628"/>
                        <a:pt x="85058" y="74628"/>
                        <a:pt x="107156" y="68247"/>
                      </a:cubicBezTo>
                      <a:cubicBezTo>
                        <a:pt x="129254" y="61865"/>
                        <a:pt x="142875" y="50078"/>
                        <a:pt x="142875" y="37314"/>
                      </a:cubicBezTo>
                      <a:cubicBezTo>
                        <a:pt x="142875" y="24551"/>
                        <a:pt x="129254" y="12764"/>
                        <a:pt x="107156" y="6382"/>
                      </a:cubicBezTo>
                      <a:cubicBezTo>
                        <a:pt x="85058" y="0"/>
                        <a:pt x="57817" y="0"/>
                        <a:pt x="35719" y="6382"/>
                      </a:cubicBezTo>
                      <a:cubicBezTo>
                        <a:pt x="13621" y="12764"/>
                        <a:pt x="0" y="24551"/>
                        <a:pt x="0" y="37314"/>
                      </a:cubicBezTo>
                    </a:path>
                  </a:pathLst>
                </a:custGeom>
                <a:noFill/>
                <a:ln w="17859">
                  <a:solidFill>
                    <a:srgbClr val="841600"/>
                  </a:solidFill>
                </a:ln>
              </p:spPr>
            </p:sp>
            <p:sp>
              <p:nvSpPr>
                <p:cNvPr id="100" name="Freeform 100"/>
                <p:cNvSpPr/>
                <p:nvPr/>
              </p:nvSpPr>
              <p:spPr>
                <a:xfrm>
                  <a:off x="6169819" y="2309812"/>
                  <a:ext cx="23812" cy="142875"/>
                </a:xfrm>
                <a:custGeom>
                  <a:avLst/>
                  <a:gdLst/>
                  <a:ahLst/>
                  <a:cxnLst/>
                  <a:rect l="l" t="t" r="r" b="b"/>
                  <a:pathLst>
                    <a:path w="23812" h="142875">
                      <a:moveTo>
                        <a:pt x="0" y="0"/>
                      </a:moveTo>
                      <a:lnTo>
                        <a:pt x="0" y="119062"/>
                      </a:lnTo>
                      <a:cubicBezTo>
                        <a:pt x="0" y="129635"/>
                        <a:pt x="9192" y="136327"/>
                        <a:pt x="23812" y="142875"/>
                      </a:cubicBezTo>
                    </a:path>
                  </a:pathLst>
                </a:custGeom>
                <a:noFill/>
                <a:ln w="17859">
                  <a:solidFill>
                    <a:srgbClr val="841600"/>
                  </a:solidFill>
                </a:ln>
              </p:spPr>
            </p:sp>
            <p:sp>
              <p:nvSpPr>
                <p:cNvPr id="101" name="Freeform 101"/>
                <p:cNvSpPr/>
                <p:nvPr/>
              </p:nvSpPr>
              <p:spPr>
                <a:xfrm>
                  <a:off x="6169819" y="2369344"/>
                  <a:ext cx="23812" cy="23812"/>
                </a:xfrm>
                <a:custGeom>
                  <a:avLst/>
                  <a:gdLst/>
                  <a:ahLst/>
                  <a:cxnLst/>
                  <a:rect l="l" t="t" r="r" b="b"/>
                  <a:pathLst>
                    <a:path w="23812" h="23812">
                      <a:moveTo>
                        <a:pt x="0" y="0"/>
                      </a:moveTo>
                      <a:cubicBezTo>
                        <a:pt x="0" y="10573"/>
                        <a:pt x="9192" y="17264"/>
                        <a:pt x="23812" y="23812"/>
                      </a:cubicBezTo>
                    </a:path>
                  </a:pathLst>
                </a:custGeom>
                <a:noFill/>
                <a:ln w="17859">
                  <a:solidFill>
                    <a:srgbClr val="841600"/>
                  </a:solidFill>
                </a:ln>
              </p:spPr>
            </p:sp>
          </p:grpSp>
          <p:sp>
            <p:nvSpPr>
              <p:cNvPr id="103" name="Line 103"/>
              <p:cNvSpPr/>
              <p:nvPr/>
            </p:nvSpPr>
            <p:spPr>
              <a:xfrm>
                <a:off x="6276975" y="2705100"/>
                <a:ext cx="9525" cy="838200"/>
              </a:xfrm>
              <a:custGeom>
                <a:avLst/>
                <a:gdLst/>
                <a:ahLst/>
                <a:cxnLst/>
                <a:rect l="l" t="t" r="r" b="b"/>
                <a:pathLst>
                  <a:path w="9525" h="838200">
                    <a:moveTo>
                      <a:pt x="0" y="0"/>
                    </a:moveTo>
                    <a:lnTo>
                      <a:pt x="0" y="838200"/>
                    </a:lnTo>
                  </a:path>
                </a:pathLst>
              </a:custGeom>
              <a:noFill/>
              <a:ln w="14288">
                <a:solidFill>
                  <a:srgbClr val="E3907F"/>
                </a:solidFill>
                <a:custDash>
                  <a:ds d="266667" sp="200000"/>
                </a:custDash>
              </a:ln>
            </p:spPr>
          </p:sp>
          <p:sp>
            <p:nvSpPr>
              <p:cNvPr id="104" name="Rectangle 104"/>
              <p:cNvSpPr/>
              <p:nvPr/>
            </p:nvSpPr>
            <p:spPr>
              <a:xfrm>
                <a:off x="5676900" y="3543300"/>
                <a:ext cx="1200150" cy="1143000"/>
              </a:xfrm>
              <a:prstGeom prst="roundRect">
                <a:avLst>
                  <a:gd name="adj" fmla="val 6667"/>
                </a:avLst>
              </a:prstGeom>
              <a:solidFill>
                <a:srgbClr val="EFF5FD"/>
              </a:solidFill>
              <a:ln>
                <a:noFill/>
              </a:ln>
            </p:spPr>
          </p:sp>
          <p:grpSp>
            <p:nvGrpSpPr>
              <p:cNvPr id="109" name="Group 109"/>
              <p:cNvGrpSpPr/>
              <p:nvPr/>
            </p:nvGrpSpPr>
            <p:grpSpPr>
              <a:xfrm>
                <a:off x="6155531" y="3787775"/>
                <a:ext cx="242888" cy="215901"/>
                <a:chOff x="6155531" y="3787775"/>
                <a:chExt cx="242888" cy="215901"/>
              </a:xfrm>
            </p:grpSpPr>
            <p:sp>
              <p:nvSpPr>
                <p:cNvPr id="105" name="Freeform 105"/>
                <p:cNvSpPr/>
                <p:nvPr/>
              </p:nvSpPr>
              <p:spPr>
                <a:xfrm>
                  <a:off x="6155531" y="3828256"/>
                  <a:ext cx="242888" cy="9525"/>
                </a:xfrm>
                <a:custGeom>
                  <a:avLst/>
                  <a:gdLst/>
                  <a:ahLst/>
                  <a:cxnLst/>
                  <a:rect l="l" t="t" r="r" b="b"/>
                  <a:pathLst>
                    <a:path w="242888" h="9525">
                      <a:moveTo>
                        <a:pt x="242888" y="0"/>
                      </a:moveTo>
                      <a:lnTo>
                        <a:pt x="0" y="0"/>
                      </a:lnTo>
                    </a:path>
                  </a:pathLst>
                </a:custGeom>
                <a:noFill/>
                <a:ln w="20241">
                  <a:solidFill>
                    <a:srgbClr val="841600"/>
                  </a:solidFill>
                </a:ln>
              </p:spPr>
            </p:sp>
            <p:sp>
              <p:nvSpPr>
                <p:cNvPr id="106" name="Freeform 106"/>
                <p:cNvSpPr/>
                <p:nvPr/>
              </p:nvSpPr>
              <p:spPr>
                <a:xfrm>
                  <a:off x="6357938" y="3787775"/>
                  <a:ext cx="40481" cy="80963"/>
                </a:xfrm>
                <a:custGeom>
                  <a:avLst/>
                  <a:gdLst/>
                  <a:ahLst/>
                  <a:cxnLst/>
                  <a:rect l="l" t="t" r="r" b="b"/>
                  <a:pathLst>
                    <a:path w="40481" h="80963">
                      <a:moveTo>
                        <a:pt x="0" y="80963"/>
                      </a:moveTo>
                      <a:lnTo>
                        <a:pt x="40481" y="40481"/>
                      </a:lnTo>
                      <a:lnTo>
                        <a:pt x="0" y="0"/>
                      </a:lnTo>
                    </a:path>
                  </a:pathLst>
                </a:custGeom>
                <a:noFill/>
                <a:ln w="20241">
                  <a:solidFill>
                    <a:srgbClr val="841600"/>
                  </a:solidFill>
                </a:ln>
              </p:spPr>
            </p:sp>
            <p:sp>
              <p:nvSpPr>
                <p:cNvPr id="107" name="Freeform 107"/>
                <p:cNvSpPr/>
                <p:nvPr/>
              </p:nvSpPr>
              <p:spPr>
                <a:xfrm>
                  <a:off x="6155531" y="3922713"/>
                  <a:ext cx="40481" cy="80963"/>
                </a:xfrm>
                <a:custGeom>
                  <a:avLst/>
                  <a:gdLst/>
                  <a:ahLst/>
                  <a:cxnLst/>
                  <a:rect l="l" t="t" r="r" b="b"/>
                  <a:pathLst>
                    <a:path w="40481" h="80963">
                      <a:moveTo>
                        <a:pt x="40481" y="80963"/>
                      </a:moveTo>
                      <a:lnTo>
                        <a:pt x="0" y="40481"/>
                      </a:lnTo>
                      <a:lnTo>
                        <a:pt x="40481" y="0"/>
                      </a:lnTo>
                    </a:path>
                  </a:pathLst>
                </a:custGeom>
                <a:noFill/>
                <a:ln w="20241">
                  <a:solidFill>
                    <a:srgbClr val="841600"/>
                  </a:solidFill>
                </a:ln>
              </p:spPr>
            </p:sp>
            <p:sp>
              <p:nvSpPr>
                <p:cNvPr id="108" name="Freeform 108"/>
                <p:cNvSpPr/>
                <p:nvPr/>
              </p:nvSpPr>
              <p:spPr>
                <a:xfrm>
                  <a:off x="6155531" y="3963194"/>
                  <a:ext cx="242888" cy="9525"/>
                </a:xfrm>
                <a:custGeom>
                  <a:avLst/>
                  <a:gdLst/>
                  <a:ahLst/>
                  <a:cxnLst/>
                  <a:rect l="l" t="t" r="r" b="b"/>
                  <a:pathLst>
                    <a:path w="242888" h="9525">
                      <a:moveTo>
                        <a:pt x="0" y="0"/>
                      </a:moveTo>
                      <a:lnTo>
                        <a:pt x="242888" y="0"/>
                      </a:lnTo>
                    </a:path>
                  </a:pathLst>
                </a:custGeom>
                <a:noFill/>
                <a:ln w="20241">
                  <a:solidFill>
                    <a:srgbClr val="841600"/>
                  </a:solidFill>
                </a:ln>
              </p:spPr>
            </p:sp>
          </p:grpSp>
          <p:sp>
            <p:nvSpPr>
              <p:cNvPr id="110" name="TextBox 110"/>
              <p:cNvSpPr txBox="1"/>
              <p:nvPr/>
            </p:nvSpPr>
            <p:spPr>
              <a:xfrm>
                <a:off x="5918264" y="4344352"/>
                <a:ext cx="717423"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跨境人民币</a:t>
                </a:r>
              </a:p>
            </p:txBody>
          </p:sp>
        </p:grpSp>
        <p:sp>
          <p:nvSpPr>
            <p:cNvPr id="112" name="Line 112"/>
            <p:cNvSpPr/>
            <p:nvPr/>
          </p:nvSpPr>
          <p:spPr>
            <a:xfrm>
              <a:off x="6886575" y="2057400"/>
              <a:ext cx="66675" cy="1"/>
            </a:xfrm>
            <a:prstGeom prst="line">
              <a:avLst/>
            </a:prstGeom>
            <a:noFill/>
            <a:ln w="19050">
              <a:solidFill>
                <a:srgbClr val="C9482E"/>
              </a:solidFill>
              <a:tailEnd type="triangle" w="lg" len="lg"/>
            </a:ln>
          </p:spPr>
        </p:sp>
        <p:grpSp>
          <p:nvGrpSpPr>
            <p:cNvPr id="127" name="chain-6"/>
            <p:cNvGrpSpPr/>
            <p:nvPr/>
          </p:nvGrpSpPr>
          <p:grpSpPr>
            <a:xfrm>
              <a:off x="6991350" y="1257300"/>
              <a:ext cx="1200150" cy="3429000"/>
              <a:chOff x="6991350" y="1257300"/>
              <a:chExt cx="1200150" cy="3429000"/>
            </a:xfrm>
          </p:grpSpPr>
          <p:sp>
            <p:nvSpPr>
              <p:cNvPr id="113" name="Rectangle 113"/>
              <p:cNvSpPr/>
              <p:nvPr/>
            </p:nvSpPr>
            <p:spPr>
              <a:xfrm>
                <a:off x="6991350" y="1257300"/>
                <a:ext cx="1200150" cy="1600200"/>
              </a:xfrm>
              <a:prstGeom prst="roundRect">
                <a:avLst>
                  <a:gd name="adj" fmla="val 6349"/>
                </a:avLst>
              </a:prstGeom>
              <a:solidFill>
                <a:srgbClr val="EFF5FD"/>
              </a:solidFill>
              <a:ln>
                <a:noFill/>
              </a:ln>
            </p:spPr>
          </p:sp>
          <p:sp>
            <p:nvSpPr>
              <p:cNvPr id="114" name="Ellipse 114"/>
              <p:cNvSpPr/>
              <p:nvPr/>
            </p:nvSpPr>
            <p:spPr>
              <a:xfrm>
                <a:off x="7477125" y="1333500"/>
                <a:ext cx="228600" cy="228600"/>
              </a:xfrm>
              <a:prstGeom prst="ellipse">
                <a:avLst/>
              </a:prstGeom>
              <a:solidFill>
                <a:srgbClr val="841600"/>
              </a:solidFill>
              <a:ln>
                <a:noFill/>
              </a:ln>
            </p:spPr>
          </p:sp>
          <p:sp>
            <p:nvSpPr>
              <p:cNvPr id="115" name="TextBox 115"/>
              <p:cNvSpPr txBox="1"/>
              <p:nvPr/>
            </p:nvSpPr>
            <p:spPr>
              <a:xfrm>
                <a:off x="7551678" y="13982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6</a:t>
                </a:r>
              </a:p>
            </p:txBody>
          </p:sp>
          <p:sp>
            <p:nvSpPr>
              <p:cNvPr id="116" name="TextBox 116"/>
              <p:cNvSpPr txBox="1"/>
              <p:nvPr/>
            </p:nvSpPr>
            <p:spPr>
              <a:xfrm>
                <a:off x="7434936" y="16883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避险</a:t>
                </a:r>
              </a:p>
            </p:txBody>
          </p:sp>
          <p:sp>
            <p:nvSpPr>
              <p:cNvPr id="117" name="Ellipse 117"/>
              <p:cNvSpPr/>
              <p:nvPr/>
            </p:nvSpPr>
            <p:spPr>
              <a:xfrm>
                <a:off x="7305675" y="2095500"/>
                <a:ext cx="571500" cy="571500"/>
              </a:xfrm>
              <a:prstGeom prst="ellipse">
                <a:avLst/>
              </a:prstGeom>
              <a:solidFill>
                <a:srgbClr val="FFFFFF"/>
              </a:solidFill>
              <a:ln w="14288">
                <a:solidFill>
                  <a:srgbClr val="ECC1B8"/>
                </a:solidFill>
              </a:ln>
            </p:spPr>
          </p:sp>
          <p:grpSp>
            <p:nvGrpSpPr>
              <p:cNvPr id="120" name="Group 120"/>
              <p:cNvGrpSpPr/>
              <p:nvPr/>
            </p:nvGrpSpPr>
            <p:grpSpPr>
              <a:xfrm>
                <a:off x="7468201" y="2274094"/>
                <a:ext cx="232508" cy="214312"/>
                <a:chOff x="7468201" y="2274094"/>
                <a:chExt cx="232508" cy="214312"/>
              </a:xfrm>
            </p:grpSpPr>
            <p:sp>
              <p:nvSpPr>
                <p:cNvPr id="118" name="Freeform 118"/>
                <p:cNvSpPr/>
                <p:nvPr/>
              </p:nvSpPr>
              <p:spPr>
                <a:xfrm>
                  <a:off x="7468201" y="2274094"/>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17859">
                  <a:solidFill>
                    <a:srgbClr val="841600"/>
                  </a:solidFill>
                </a:ln>
              </p:spPr>
            </p:sp>
            <p:sp>
              <p:nvSpPr>
                <p:cNvPr id="119" name="Freeform 119"/>
                <p:cNvSpPr/>
                <p:nvPr/>
              </p:nvSpPr>
              <p:spPr>
                <a:xfrm>
                  <a:off x="7627144" y="2440781"/>
                  <a:ext cx="71438" cy="47625"/>
                </a:xfrm>
                <a:custGeom>
                  <a:avLst/>
                  <a:gdLst/>
                  <a:ahLst/>
                  <a:cxnLst/>
                  <a:rect l="l" t="t" r="r" b="b"/>
                  <a:pathLst>
                    <a:path w="71438" h="47625">
                      <a:moveTo>
                        <a:pt x="0" y="23812"/>
                      </a:moveTo>
                      <a:lnTo>
                        <a:pt x="23812" y="47625"/>
                      </a:lnTo>
                      <a:lnTo>
                        <a:pt x="71438" y="0"/>
                      </a:lnTo>
                    </a:path>
                  </a:pathLst>
                </a:custGeom>
                <a:noFill/>
                <a:ln w="17859">
                  <a:solidFill>
                    <a:srgbClr val="841600"/>
                  </a:solidFill>
                </a:ln>
              </p:spPr>
            </p:sp>
          </p:grpSp>
          <p:sp>
            <p:nvSpPr>
              <p:cNvPr id="121" name="Line 121"/>
              <p:cNvSpPr/>
              <p:nvPr/>
            </p:nvSpPr>
            <p:spPr>
              <a:xfrm>
                <a:off x="7591425" y="2705100"/>
                <a:ext cx="9525" cy="838200"/>
              </a:xfrm>
              <a:custGeom>
                <a:avLst/>
                <a:gdLst/>
                <a:ahLst/>
                <a:cxnLst/>
                <a:rect l="l" t="t" r="r" b="b"/>
                <a:pathLst>
                  <a:path w="9525" h="838200">
                    <a:moveTo>
                      <a:pt x="0" y="0"/>
                    </a:moveTo>
                    <a:lnTo>
                      <a:pt x="0" y="838200"/>
                    </a:lnTo>
                  </a:path>
                </a:pathLst>
              </a:custGeom>
              <a:noFill/>
              <a:ln w="14288">
                <a:solidFill>
                  <a:srgbClr val="E3907F"/>
                </a:solidFill>
                <a:custDash>
                  <a:ds d="266667" sp="200000"/>
                </a:custDash>
              </a:ln>
            </p:spPr>
          </p:sp>
          <p:sp>
            <p:nvSpPr>
              <p:cNvPr id="122" name="Rectangle 122"/>
              <p:cNvSpPr/>
              <p:nvPr/>
            </p:nvSpPr>
            <p:spPr>
              <a:xfrm>
                <a:off x="6991350" y="3543300"/>
                <a:ext cx="1200150" cy="1143000"/>
              </a:xfrm>
              <a:prstGeom prst="roundRect">
                <a:avLst>
                  <a:gd name="adj" fmla="val 6667"/>
                </a:avLst>
              </a:prstGeom>
              <a:solidFill>
                <a:srgbClr val="EFF5FD"/>
              </a:solidFill>
              <a:ln>
                <a:noFill/>
              </a:ln>
            </p:spPr>
          </p:sp>
          <p:grpSp>
            <p:nvGrpSpPr>
              <p:cNvPr id="125" name="Group 125"/>
              <p:cNvGrpSpPr/>
              <p:nvPr/>
            </p:nvGrpSpPr>
            <p:grpSpPr>
              <a:xfrm>
                <a:off x="7469981" y="3828256"/>
                <a:ext cx="242888" cy="134938"/>
                <a:chOff x="7469981" y="3828256"/>
                <a:chExt cx="242888" cy="134938"/>
              </a:xfrm>
            </p:grpSpPr>
            <p:sp>
              <p:nvSpPr>
                <p:cNvPr id="123" name="Freeform 123"/>
                <p:cNvSpPr/>
                <p:nvPr/>
              </p:nvSpPr>
              <p:spPr>
                <a:xfrm>
                  <a:off x="7469981" y="3828256"/>
                  <a:ext cx="242888" cy="134938"/>
                </a:xfrm>
                <a:custGeom>
                  <a:avLst/>
                  <a:gdLst/>
                  <a:ahLst/>
                  <a:cxnLst/>
                  <a:rect l="l" t="t" r="r" b="b"/>
                  <a:pathLst>
                    <a:path w="242888" h="134938">
                      <a:moveTo>
                        <a:pt x="0" y="134938"/>
                      </a:moveTo>
                      <a:lnTo>
                        <a:pt x="80963" y="53975"/>
                      </a:lnTo>
                      <a:lnTo>
                        <a:pt x="134938" y="107950"/>
                      </a:lnTo>
                      <a:lnTo>
                        <a:pt x="242888" y="0"/>
                      </a:lnTo>
                    </a:path>
                  </a:pathLst>
                </a:custGeom>
                <a:noFill/>
                <a:ln w="20241">
                  <a:solidFill>
                    <a:srgbClr val="841600"/>
                  </a:solidFill>
                </a:ln>
              </p:spPr>
            </p:sp>
            <p:sp>
              <p:nvSpPr>
                <p:cNvPr id="124" name="Freeform 124"/>
                <p:cNvSpPr/>
                <p:nvPr/>
              </p:nvSpPr>
              <p:spPr>
                <a:xfrm>
                  <a:off x="7618413" y="3828256"/>
                  <a:ext cx="94456" cy="94456"/>
                </a:xfrm>
                <a:custGeom>
                  <a:avLst/>
                  <a:gdLst/>
                  <a:ahLst/>
                  <a:cxnLst/>
                  <a:rect l="l" t="t" r="r" b="b"/>
                  <a:pathLst>
                    <a:path w="94456" h="94456">
                      <a:moveTo>
                        <a:pt x="0" y="0"/>
                      </a:moveTo>
                      <a:lnTo>
                        <a:pt x="94456" y="0"/>
                      </a:lnTo>
                      <a:lnTo>
                        <a:pt x="94456" y="94456"/>
                      </a:lnTo>
                    </a:path>
                  </a:pathLst>
                </a:custGeom>
                <a:noFill/>
                <a:ln w="20241">
                  <a:solidFill>
                    <a:srgbClr val="841600"/>
                  </a:solidFill>
                </a:ln>
              </p:spPr>
            </p:sp>
          </p:grpSp>
          <p:sp>
            <p:nvSpPr>
              <p:cNvPr id="126" name="TextBox 126"/>
              <p:cNvSpPr txBox="1"/>
              <p:nvPr/>
            </p:nvSpPr>
            <p:spPr>
              <a:xfrm>
                <a:off x="7303389" y="4344352"/>
                <a:ext cx="576072"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汇率避险</a:t>
                </a:r>
              </a:p>
            </p:txBody>
          </p:sp>
        </p:grpSp>
      </p:grpSp>
      <p:grpSp>
        <p:nvGrpSpPr>
          <p:cNvPr id="168" name="key-clients"/>
          <p:cNvGrpSpPr/>
          <p:nvPr/>
        </p:nvGrpSpPr>
        <p:grpSpPr>
          <a:xfrm>
            <a:off x="8458200" y="704850"/>
            <a:ext cx="3467100" cy="2476500"/>
            <a:chOff x="8458200" y="704850"/>
            <a:chExt cx="3467100" cy="2476500"/>
          </a:xfrm>
        </p:grpSpPr>
        <p:sp>
          <p:nvSpPr>
            <p:cNvPr id="129" name="Rectangle 129"/>
            <p:cNvSpPr/>
            <p:nvPr/>
          </p:nvSpPr>
          <p:spPr>
            <a:xfrm>
              <a:off x="8458200" y="704850"/>
              <a:ext cx="3467100" cy="2476500"/>
            </a:xfrm>
            <a:prstGeom prst="roundRect">
              <a:avLst>
                <a:gd name="adj" fmla="val 3846"/>
              </a:avLst>
            </a:prstGeom>
            <a:solidFill>
              <a:srgbClr val="FFFFFF"/>
            </a:solidFill>
            <a:ln w="9525">
              <a:solidFill>
                <a:srgbClr val="D7E2F2"/>
              </a:solidFill>
            </a:ln>
          </p:spPr>
        </p:sp>
        <p:sp>
          <p:nvSpPr>
            <p:cNvPr id="130" name="Rectangle 130"/>
            <p:cNvSpPr/>
            <p:nvPr/>
          </p:nvSpPr>
          <p:spPr>
            <a:xfrm>
              <a:off x="8458200" y="704850"/>
              <a:ext cx="3467100" cy="381000"/>
            </a:xfrm>
            <a:prstGeom prst="roundRect">
              <a:avLst>
                <a:gd name="adj" fmla="val 25000"/>
              </a:avLst>
            </a:prstGeom>
            <a:solidFill>
              <a:srgbClr val="841600"/>
            </a:solidFill>
            <a:ln>
              <a:noFill/>
            </a:ln>
          </p:spPr>
        </p:sp>
        <p:sp>
          <p:nvSpPr>
            <p:cNvPr id="131" name="Rectangle 131"/>
            <p:cNvSpPr/>
            <p:nvPr/>
          </p:nvSpPr>
          <p:spPr>
            <a:xfrm>
              <a:off x="8458200" y="914400"/>
              <a:ext cx="3467100" cy="171450"/>
            </a:xfrm>
            <a:prstGeom prst="rect">
              <a:avLst/>
            </a:prstGeom>
            <a:solidFill>
              <a:srgbClr val="841600"/>
            </a:solidFill>
            <a:ln>
              <a:noFill/>
            </a:ln>
          </p:spPr>
        </p:sp>
        <p:sp>
          <p:nvSpPr>
            <p:cNvPr id="132" name="TextBox 132"/>
            <p:cNvSpPr txBox="1"/>
            <p:nvPr/>
          </p:nvSpPr>
          <p:spPr>
            <a:xfrm>
              <a:off x="9862566" y="832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重点客群</a:t>
              </a:r>
            </a:p>
          </p:txBody>
        </p:sp>
        <p:grpSp>
          <p:nvGrpSpPr>
            <p:cNvPr id="139" name="client-1"/>
            <p:cNvGrpSpPr/>
            <p:nvPr/>
          </p:nvGrpSpPr>
          <p:grpSpPr>
            <a:xfrm>
              <a:off x="8572500" y="1200150"/>
              <a:ext cx="1562100" cy="914400"/>
              <a:chOff x="8572500" y="1200150"/>
              <a:chExt cx="1562100" cy="914400"/>
            </a:xfrm>
          </p:grpSpPr>
          <p:sp>
            <p:nvSpPr>
              <p:cNvPr id="133" name="Rectangle 133"/>
              <p:cNvSpPr/>
              <p:nvPr/>
            </p:nvSpPr>
            <p:spPr>
              <a:xfrm>
                <a:off x="8572500" y="1200150"/>
                <a:ext cx="1562100" cy="914400"/>
              </a:xfrm>
              <a:prstGeom prst="roundRect">
                <a:avLst>
                  <a:gd name="adj" fmla="val 8333"/>
                </a:avLst>
              </a:prstGeom>
              <a:solidFill>
                <a:srgbClr val="EFF5FD"/>
              </a:solidFill>
              <a:ln>
                <a:noFill/>
              </a:ln>
            </p:spPr>
          </p:sp>
          <p:grpSp>
            <p:nvGrpSpPr>
              <p:cNvPr id="137" name="Group 137"/>
              <p:cNvGrpSpPr/>
              <p:nvPr/>
            </p:nvGrpSpPr>
            <p:grpSpPr>
              <a:xfrm>
                <a:off x="9270206" y="1369219"/>
                <a:ext cx="166688" cy="214312"/>
                <a:chOff x="9270206" y="1369219"/>
                <a:chExt cx="166688" cy="214312"/>
              </a:xfrm>
            </p:grpSpPr>
            <p:sp>
              <p:nvSpPr>
                <p:cNvPr id="134" name="Freeform 134"/>
                <p:cNvSpPr/>
                <p:nvPr/>
              </p:nvSpPr>
              <p:spPr>
                <a:xfrm>
                  <a:off x="9270206" y="1440656"/>
                  <a:ext cx="166688" cy="142875"/>
                </a:xfrm>
                <a:custGeom>
                  <a:avLst/>
                  <a:gdLst/>
                  <a:ahLst/>
                  <a:cxnLst/>
                  <a:rect l="l" t="t" r="r" b="b"/>
                  <a:pathLst>
                    <a:path w="166688" h="142875">
                      <a:moveTo>
                        <a:pt x="35719" y="0"/>
                      </a:moveTo>
                      <a:lnTo>
                        <a:pt x="23812" y="0"/>
                      </a:lnTo>
                      <a:cubicBezTo>
                        <a:pt x="10661" y="0"/>
                        <a:pt x="0" y="10661"/>
                        <a:pt x="0" y="23812"/>
                      </a:cubicBezTo>
                      <a:lnTo>
                        <a:pt x="0" y="119062"/>
                      </a:lnTo>
                      <a:cubicBezTo>
                        <a:pt x="0" y="132214"/>
                        <a:pt x="10661" y="142875"/>
                        <a:pt x="23812" y="142875"/>
                      </a:cubicBezTo>
                      <a:lnTo>
                        <a:pt x="142875" y="142875"/>
                      </a:lnTo>
                      <a:cubicBezTo>
                        <a:pt x="156026" y="142875"/>
                        <a:pt x="166688" y="132214"/>
                        <a:pt x="166688" y="119062"/>
                      </a:cubicBezTo>
                      <a:lnTo>
                        <a:pt x="166688" y="23812"/>
                      </a:lnTo>
                      <a:cubicBezTo>
                        <a:pt x="166688" y="10661"/>
                        <a:pt x="156026" y="0"/>
                        <a:pt x="142875" y="0"/>
                      </a:cubicBezTo>
                      <a:lnTo>
                        <a:pt x="130969" y="0"/>
                      </a:lnTo>
                    </a:path>
                  </a:pathLst>
                </a:custGeom>
                <a:noFill/>
                <a:ln w="17859">
                  <a:solidFill>
                    <a:srgbClr val="841600"/>
                  </a:solidFill>
                </a:ln>
              </p:spPr>
            </p:sp>
            <p:sp>
              <p:nvSpPr>
                <p:cNvPr id="135" name="Freeform 135"/>
                <p:cNvSpPr/>
                <p:nvPr/>
              </p:nvSpPr>
              <p:spPr>
                <a:xfrm>
                  <a:off x="9353550" y="1369219"/>
                  <a:ext cx="9525" cy="130969"/>
                </a:xfrm>
                <a:custGeom>
                  <a:avLst/>
                  <a:gdLst/>
                  <a:ahLst/>
                  <a:cxnLst/>
                  <a:rect l="l" t="t" r="r" b="b"/>
                  <a:pathLst>
                    <a:path w="9525" h="130969">
                      <a:moveTo>
                        <a:pt x="0" y="130969"/>
                      </a:moveTo>
                      <a:lnTo>
                        <a:pt x="0" y="0"/>
                      </a:lnTo>
                    </a:path>
                  </a:pathLst>
                </a:custGeom>
                <a:noFill/>
                <a:ln w="17859">
                  <a:solidFill>
                    <a:srgbClr val="841600"/>
                  </a:solidFill>
                </a:ln>
              </p:spPr>
            </p:sp>
            <p:sp>
              <p:nvSpPr>
                <p:cNvPr id="136" name="Freeform 136"/>
                <p:cNvSpPr/>
                <p:nvPr/>
              </p:nvSpPr>
              <p:spPr>
                <a:xfrm>
                  <a:off x="9317831" y="1369219"/>
                  <a:ext cx="71438" cy="35719"/>
                </a:xfrm>
                <a:custGeom>
                  <a:avLst/>
                  <a:gdLst/>
                  <a:ahLst/>
                  <a:cxnLst/>
                  <a:rect l="l" t="t" r="r" b="b"/>
                  <a:pathLst>
                    <a:path w="71438" h="35719">
                      <a:moveTo>
                        <a:pt x="0" y="35719"/>
                      </a:moveTo>
                      <a:lnTo>
                        <a:pt x="35719" y="0"/>
                      </a:lnTo>
                      <a:lnTo>
                        <a:pt x="71438" y="35719"/>
                      </a:lnTo>
                    </a:path>
                  </a:pathLst>
                </a:custGeom>
                <a:noFill/>
                <a:ln w="17859">
                  <a:solidFill>
                    <a:srgbClr val="841600"/>
                  </a:solidFill>
                </a:ln>
              </p:spPr>
            </p:sp>
          </p:grpSp>
          <p:sp>
            <p:nvSpPr>
              <p:cNvPr id="138" name="TextBox 138"/>
              <p:cNvSpPr txBox="1"/>
              <p:nvPr/>
            </p:nvSpPr>
            <p:spPr>
              <a:xfrm>
                <a:off x="9121673" y="1802606"/>
                <a:ext cx="463753"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进出口</a:t>
                </a:r>
              </a:p>
            </p:txBody>
          </p:sp>
        </p:grpSp>
        <p:grpSp>
          <p:nvGrpSpPr>
            <p:cNvPr id="147" name="client-2"/>
            <p:cNvGrpSpPr/>
            <p:nvPr/>
          </p:nvGrpSpPr>
          <p:grpSpPr>
            <a:xfrm>
              <a:off x="10248900" y="1200150"/>
              <a:ext cx="1562100" cy="914400"/>
              <a:chOff x="10248900" y="1200150"/>
              <a:chExt cx="1562100" cy="914400"/>
            </a:xfrm>
          </p:grpSpPr>
          <p:sp>
            <p:nvSpPr>
              <p:cNvPr id="140" name="Rectangle 140"/>
              <p:cNvSpPr/>
              <p:nvPr/>
            </p:nvSpPr>
            <p:spPr>
              <a:xfrm>
                <a:off x="10248900" y="1200150"/>
                <a:ext cx="1562100" cy="914400"/>
              </a:xfrm>
              <a:prstGeom prst="roundRect">
                <a:avLst>
                  <a:gd name="adj" fmla="val 8333"/>
                </a:avLst>
              </a:prstGeom>
              <a:solidFill>
                <a:srgbClr val="EFF5FD"/>
              </a:solidFill>
              <a:ln>
                <a:noFill/>
              </a:ln>
            </p:spPr>
          </p:sp>
          <p:grpSp>
            <p:nvGrpSpPr>
              <p:cNvPr id="145" name="Group 145"/>
              <p:cNvGrpSpPr/>
              <p:nvPr/>
            </p:nvGrpSpPr>
            <p:grpSpPr>
              <a:xfrm>
                <a:off x="10934700" y="1369219"/>
                <a:ext cx="190500" cy="214312"/>
                <a:chOff x="10934700" y="1369219"/>
                <a:chExt cx="190500" cy="214312"/>
              </a:xfrm>
            </p:grpSpPr>
            <p:sp>
              <p:nvSpPr>
                <p:cNvPr id="141" name="Freeform 141"/>
                <p:cNvSpPr/>
                <p:nvPr/>
              </p:nvSpPr>
              <p:spPr>
                <a:xfrm>
                  <a:off x="10934700" y="153590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142" name="Freeform 142"/>
                <p:cNvSpPr/>
                <p:nvPr/>
              </p:nvSpPr>
              <p:spPr>
                <a:xfrm>
                  <a:off x="11065669" y="153590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41600"/>
                  </a:solidFill>
                </a:ln>
              </p:spPr>
            </p:sp>
            <p:sp>
              <p:nvSpPr>
                <p:cNvPr id="143" name="Freeform 143"/>
                <p:cNvSpPr/>
                <p:nvPr/>
              </p:nvSpPr>
              <p:spPr>
                <a:xfrm>
                  <a:off x="10934700" y="1369219"/>
                  <a:ext cx="154781" cy="166688"/>
                </a:xfrm>
                <a:custGeom>
                  <a:avLst/>
                  <a:gdLst/>
                  <a:ahLst/>
                  <a:cxnLst/>
                  <a:rect l="l" t="t" r="r" b="b"/>
                  <a:pathLst>
                    <a:path w="154781" h="166688">
                      <a:moveTo>
                        <a:pt x="154781" y="166688"/>
                      </a:moveTo>
                      <a:lnTo>
                        <a:pt x="23812" y="166688"/>
                      </a:lnTo>
                      <a:lnTo>
                        <a:pt x="23812" y="0"/>
                      </a:lnTo>
                      <a:lnTo>
                        <a:pt x="0" y="0"/>
                      </a:lnTo>
                    </a:path>
                  </a:pathLst>
                </a:custGeom>
                <a:noFill/>
                <a:ln w="17859">
                  <a:solidFill>
                    <a:srgbClr val="841600"/>
                  </a:solidFill>
                </a:ln>
              </p:spPr>
            </p:sp>
            <p:sp>
              <p:nvSpPr>
                <p:cNvPr id="144" name="Freeform 144"/>
                <p:cNvSpPr/>
                <p:nvPr/>
              </p:nvSpPr>
              <p:spPr>
                <a:xfrm>
                  <a:off x="10958512" y="1393031"/>
                  <a:ext cx="166688" cy="95250"/>
                </a:xfrm>
                <a:custGeom>
                  <a:avLst/>
                  <a:gdLst/>
                  <a:ahLst/>
                  <a:cxnLst/>
                  <a:rect l="l" t="t" r="r" b="b"/>
                  <a:pathLst>
                    <a:path w="166688" h="95250">
                      <a:moveTo>
                        <a:pt x="0" y="0"/>
                      </a:moveTo>
                      <a:lnTo>
                        <a:pt x="166688" y="11906"/>
                      </a:lnTo>
                      <a:lnTo>
                        <a:pt x="154781" y="95250"/>
                      </a:lnTo>
                      <a:lnTo>
                        <a:pt x="0" y="95250"/>
                      </a:lnTo>
                    </a:path>
                  </a:pathLst>
                </a:custGeom>
                <a:noFill/>
                <a:ln w="17859">
                  <a:solidFill>
                    <a:srgbClr val="841600"/>
                  </a:solidFill>
                </a:ln>
              </p:spPr>
            </p:sp>
          </p:grpSp>
          <p:sp>
            <p:nvSpPr>
              <p:cNvPr id="146" name="TextBox 146"/>
              <p:cNvSpPr txBox="1"/>
              <p:nvPr/>
            </p:nvSpPr>
            <p:spPr>
              <a:xfrm>
                <a:off x="10722686" y="1802606"/>
                <a:ext cx="614528"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跨境电商</a:t>
                </a:r>
              </a:p>
            </p:txBody>
          </p:sp>
        </p:grpSp>
        <p:grpSp>
          <p:nvGrpSpPr>
            <p:cNvPr id="159" name="client-3"/>
            <p:cNvGrpSpPr/>
            <p:nvPr/>
          </p:nvGrpSpPr>
          <p:grpSpPr>
            <a:xfrm>
              <a:off x="8572500" y="2190750"/>
              <a:ext cx="1562100" cy="914400"/>
              <a:chOff x="8572500" y="2190750"/>
              <a:chExt cx="1562100" cy="914400"/>
            </a:xfrm>
          </p:grpSpPr>
          <p:sp>
            <p:nvSpPr>
              <p:cNvPr id="148" name="Rectangle 148"/>
              <p:cNvSpPr/>
              <p:nvPr/>
            </p:nvSpPr>
            <p:spPr>
              <a:xfrm>
                <a:off x="8572500" y="2190750"/>
                <a:ext cx="1562100" cy="914400"/>
              </a:xfrm>
              <a:prstGeom prst="roundRect">
                <a:avLst>
                  <a:gd name="adj" fmla="val 8333"/>
                </a:avLst>
              </a:prstGeom>
              <a:solidFill>
                <a:srgbClr val="EFF5FD"/>
              </a:solidFill>
              <a:ln>
                <a:noFill/>
              </a:ln>
            </p:spPr>
          </p:sp>
          <p:grpSp>
            <p:nvGrpSpPr>
              <p:cNvPr id="157" name="Group 157"/>
              <p:cNvGrpSpPr/>
              <p:nvPr/>
            </p:nvGrpSpPr>
            <p:grpSpPr>
              <a:xfrm>
                <a:off x="9246394" y="2359819"/>
                <a:ext cx="214312" cy="223837"/>
                <a:chOff x="9246394" y="2359819"/>
                <a:chExt cx="214312" cy="223837"/>
              </a:xfrm>
            </p:grpSpPr>
            <p:sp>
              <p:nvSpPr>
                <p:cNvPr id="149" name="Freeform 149"/>
                <p:cNvSpPr/>
                <p:nvPr/>
              </p:nvSpPr>
              <p:spPr>
                <a:xfrm>
                  <a:off x="9246394" y="2574131"/>
                  <a:ext cx="214312" cy="9525"/>
                </a:xfrm>
                <a:custGeom>
                  <a:avLst/>
                  <a:gdLst/>
                  <a:ahLst/>
                  <a:cxnLst/>
                  <a:rect l="l" t="t" r="r" b="b"/>
                  <a:pathLst>
                    <a:path w="214312" h="9525">
                      <a:moveTo>
                        <a:pt x="0" y="0"/>
                      </a:moveTo>
                      <a:lnTo>
                        <a:pt x="214312" y="0"/>
                      </a:lnTo>
                    </a:path>
                  </a:pathLst>
                </a:custGeom>
                <a:noFill/>
                <a:ln w="17859">
                  <a:solidFill>
                    <a:srgbClr val="841600"/>
                  </a:solidFill>
                </a:ln>
              </p:spPr>
            </p:sp>
            <p:sp>
              <p:nvSpPr>
                <p:cNvPr id="150" name="Freeform 150"/>
                <p:cNvSpPr/>
                <p:nvPr/>
              </p:nvSpPr>
              <p:spPr>
                <a:xfrm>
                  <a:off x="9317831" y="2419350"/>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151" name="Freeform 151"/>
                <p:cNvSpPr/>
                <p:nvPr/>
              </p:nvSpPr>
              <p:spPr>
                <a:xfrm>
                  <a:off x="9317831" y="2466975"/>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152" name="Freeform 152"/>
                <p:cNvSpPr/>
                <p:nvPr/>
              </p:nvSpPr>
              <p:spPr>
                <a:xfrm>
                  <a:off x="9317831" y="2514600"/>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153" name="Freeform 153"/>
                <p:cNvSpPr/>
                <p:nvPr/>
              </p:nvSpPr>
              <p:spPr>
                <a:xfrm>
                  <a:off x="9377362" y="2419350"/>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154" name="Freeform 154"/>
                <p:cNvSpPr/>
                <p:nvPr/>
              </p:nvSpPr>
              <p:spPr>
                <a:xfrm>
                  <a:off x="9377362" y="2466975"/>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155" name="Freeform 155"/>
                <p:cNvSpPr/>
                <p:nvPr/>
              </p:nvSpPr>
              <p:spPr>
                <a:xfrm>
                  <a:off x="9377362" y="2514600"/>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156" name="Freeform 156"/>
                <p:cNvSpPr/>
                <p:nvPr/>
              </p:nvSpPr>
              <p:spPr>
                <a:xfrm>
                  <a:off x="9270206" y="2359819"/>
                  <a:ext cx="166688" cy="214312"/>
                </a:xfrm>
                <a:custGeom>
                  <a:avLst/>
                  <a:gdLst/>
                  <a:ahLst/>
                  <a:cxnLst/>
                  <a:rect l="l" t="t" r="r" b="b"/>
                  <a:pathLst>
                    <a:path w="166688" h="214312">
                      <a:moveTo>
                        <a:pt x="0" y="214312"/>
                      </a:moveTo>
                      <a:lnTo>
                        <a:pt x="0" y="23812"/>
                      </a:lnTo>
                      <a:cubicBezTo>
                        <a:pt x="0" y="10661"/>
                        <a:pt x="10661" y="0"/>
                        <a:pt x="23812" y="0"/>
                      </a:cubicBezTo>
                      <a:lnTo>
                        <a:pt x="142875" y="0"/>
                      </a:lnTo>
                      <a:cubicBezTo>
                        <a:pt x="156026" y="0"/>
                        <a:pt x="166688" y="10661"/>
                        <a:pt x="166688" y="23812"/>
                      </a:cubicBezTo>
                      <a:lnTo>
                        <a:pt x="166688" y="214312"/>
                      </a:lnTo>
                    </a:path>
                  </a:pathLst>
                </a:custGeom>
                <a:noFill/>
                <a:ln w="17859">
                  <a:solidFill>
                    <a:srgbClr val="841600"/>
                  </a:solidFill>
                </a:ln>
              </p:spPr>
            </p:sp>
          </p:grpSp>
          <p:sp>
            <p:nvSpPr>
              <p:cNvPr id="158" name="TextBox 158"/>
              <p:cNvSpPr txBox="1"/>
              <p:nvPr/>
            </p:nvSpPr>
            <p:spPr>
              <a:xfrm>
                <a:off x="9046286" y="2793206"/>
                <a:ext cx="614528"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境外工程</a:t>
                </a:r>
              </a:p>
            </p:txBody>
          </p:sp>
        </p:grpSp>
        <p:grpSp>
          <p:nvGrpSpPr>
            <p:cNvPr id="167" name="client-4"/>
            <p:cNvGrpSpPr/>
            <p:nvPr/>
          </p:nvGrpSpPr>
          <p:grpSpPr>
            <a:xfrm>
              <a:off x="10248900" y="2190750"/>
              <a:ext cx="1562100" cy="914400"/>
              <a:chOff x="10248900" y="2190750"/>
              <a:chExt cx="1562100" cy="914400"/>
            </a:xfrm>
          </p:grpSpPr>
          <p:sp>
            <p:nvSpPr>
              <p:cNvPr id="160" name="Rectangle 160"/>
              <p:cNvSpPr/>
              <p:nvPr/>
            </p:nvSpPr>
            <p:spPr>
              <a:xfrm>
                <a:off x="10248900" y="2190750"/>
                <a:ext cx="1562100" cy="914400"/>
              </a:xfrm>
              <a:prstGeom prst="roundRect">
                <a:avLst>
                  <a:gd name="adj" fmla="val 8333"/>
                </a:avLst>
              </a:prstGeom>
              <a:solidFill>
                <a:srgbClr val="EFF5FD"/>
              </a:solidFill>
              <a:ln>
                <a:noFill/>
              </a:ln>
            </p:spPr>
          </p:sp>
          <p:grpSp>
            <p:nvGrpSpPr>
              <p:cNvPr id="165" name="Group 165"/>
              <p:cNvGrpSpPr/>
              <p:nvPr/>
            </p:nvGrpSpPr>
            <p:grpSpPr>
              <a:xfrm>
                <a:off x="10922794" y="2359819"/>
                <a:ext cx="214312" cy="202406"/>
                <a:chOff x="10922794" y="2359819"/>
                <a:chExt cx="214312" cy="202406"/>
              </a:xfrm>
            </p:grpSpPr>
            <p:sp>
              <p:nvSpPr>
                <p:cNvPr id="161" name="Freeform 161"/>
                <p:cNvSpPr/>
                <p:nvPr/>
              </p:nvSpPr>
              <p:spPr>
                <a:xfrm>
                  <a:off x="10922794" y="2407444"/>
                  <a:ext cx="214312" cy="154781"/>
                </a:xfrm>
                <a:custGeom>
                  <a:avLst/>
                  <a:gdLst/>
                  <a:ahLst/>
                  <a:cxnLst/>
                  <a:rect l="l" t="t" r="r" b="b"/>
                  <a:pathLst>
                    <a:path w="214312" h="154781">
                      <a:moveTo>
                        <a:pt x="0" y="23812"/>
                      </a:moveTo>
                      <a:cubicBezTo>
                        <a:pt x="0" y="10661"/>
                        <a:pt x="10661" y="0"/>
                        <a:pt x="23812" y="0"/>
                      </a:cubicBezTo>
                      <a:lnTo>
                        <a:pt x="190500" y="0"/>
                      </a:lnTo>
                      <a:cubicBezTo>
                        <a:pt x="203651" y="0"/>
                        <a:pt x="214312" y="10661"/>
                        <a:pt x="214312" y="23812"/>
                      </a:cubicBezTo>
                      <a:lnTo>
                        <a:pt x="214312" y="130969"/>
                      </a:lnTo>
                      <a:cubicBezTo>
                        <a:pt x="214312" y="144120"/>
                        <a:pt x="203651" y="154781"/>
                        <a:pt x="190500" y="154781"/>
                      </a:cubicBezTo>
                      <a:lnTo>
                        <a:pt x="23812" y="154781"/>
                      </a:lnTo>
                      <a:cubicBezTo>
                        <a:pt x="10661" y="154781"/>
                        <a:pt x="0" y="144120"/>
                        <a:pt x="0" y="130969"/>
                      </a:cubicBezTo>
                      <a:lnTo>
                        <a:pt x="0" y="23812"/>
                      </a:lnTo>
                    </a:path>
                  </a:pathLst>
                </a:custGeom>
                <a:noFill/>
                <a:ln w="17859">
                  <a:solidFill>
                    <a:srgbClr val="841600"/>
                  </a:solidFill>
                </a:ln>
              </p:spPr>
            </p:sp>
            <p:sp>
              <p:nvSpPr>
                <p:cNvPr id="162" name="Freeform 162"/>
                <p:cNvSpPr/>
                <p:nvPr/>
              </p:nvSpPr>
              <p:spPr>
                <a:xfrm>
                  <a:off x="10982325" y="2359819"/>
                  <a:ext cx="95250" cy="47625"/>
                </a:xfrm>
                <a:custGeom>
                  <a:avLst/>
                  <a:gdLst/>
                  <a:ahLst/>
                  <a:cxnLst/>
                  <a:rect l="l" t="t" r="r" b="b"/>
                  <a:pathLst>
                    <a:path w="95250" h="47625">
                      <a:moveTo>
                        <a:pt x="0" y="47625"/>
                      </a:moveTo>
                      <a:lnTo>
                        <a:pt x="0" y="23812"/>
                      </a:lnTo>
                      <a:cubicBezTo>
                        <a:pt x="0" y="10661"/>
                        <a:pt x="10661" y="0"/>
                        <a:pt x="23812" y="0"/>
                      </a:cubicBezTo>
                      <a:lnTo>
                        <a:pt x="71438" y="0"/>
                      </a:lnTo>
                      <a:cubicBezTo>
                        <a:pt x="84589" y="0"/>
                        <a:pt x="95250" y="10661"/>
                        <a:pt x="95250" y="23812"/>
                      </a:cubicBezTo>
                      <a:lnTo>
                        <a:pt x="95250" y="47625"/>
                      </a:lnTo>
                    </a:path>
                  </a:pathLst>
                </a:custGeom>
                <a:noFill/>
                <a:ln w="17859">
                  <a:solidFill>
                    <a:srgbClr val="841600"/>
                  </a:solidFill>
                </a:ln>
              </p:spPr>
            </p:sp>
            <p:sp>
              <p:nvSpPr>
                <p:cNvPr id="163" name="Freeform 163"/>
                <p:cNvSpPr/>
                <p:nvPr/>
              </p:nvSpPr>
              <p:spPr>
                <a:xfrm>
                  <a:off x="11029950" y="2466975"/>
                  <a:ext cx="9525" cy="9525"/>
                </a:xfrm>
                <a:custGeom>
                  <a:avLst/>
                  <a:gdLst/>
                  <a:ahLst/>
                  <a:cxnLst/>
                  <a:rect l="l" t="t" r="r" b="b"/>
                  <a:pathLst>
                    <a:path w="9525" h="9525">
                      <a:moveTo>
                        <a:pt x="0" y="0"/>
                      </a:moveTo>
                      <a:lnTo>
                        <a:pt x="0" y="119"/>
                      </a:lnTo>
                    </a:path>
                  </a:pathLst>
                </a:custGeom>
                <a:noFill/>
                <a:ln w="17859">
                  <a:solidFill>
                    <a:srgbClr val="841600"/>
                  </a:solidFill>
                </a:ln>
              </p:spPr>
            </p:sp>
            <p:sp>
              <p:nvSpPr>
                <p:cNvPr id="164" name="Freeform 164"/>
                <p:cNvSpPr/>
                <p:nvPr/>
              </p:nvSpPr>
              <p:spPr>
                <a:xfrm>
                  <a:off x="10922794" y="2478881"/>
                  <a:ext cx="214312" cy="33963"/>
                </a:xfrm>
                <a:custGeom>
                  <a:avLst/>
                  <a:gdLst/>
                  <a:ahLst/>
                  <a:cxnLst/>
                  <a:rect l="l" t="t" r="r" b="b"/>
                  <a:pathLst>
                    <a:path w="214312" h="33963">
                      <a:moveTo>
                        <a:pt x="0" y="0"/>
                      </a:moveTo>
                      <a:cubicBezTo>
                        <a:pt x="67401" y="33963"/>
                        <a:pt x="146912" y="33963"/>
                        <a:pt x="214312" y="0"/>
                      </a:cubicBezTo>
                    </a:path>
                  </a:pathLst>
                </a:custGeom>
                <a:noFill/>
                <a:ln w="17859">
                  <a:solidFill>
                    <a:srgbClr val="841600"/>
                  </a:solidFill>
                </a:ln>
              </p:spPr>
            </p:sp>
          </p:grpSp>
          <p:sp>
            <p:nvSpPr>
              <p:cNvPr id="166" name="TextBox 166"/>
              <p:cNvSpPr txBox="1"/>
              <p:nvPr/>
            </p:nvSpPr>
            <p:spPr>
              <a:xfrm>
                <a:off x="10722686" y="2793206"/>
                <a:ext cx="614528"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外资企业</a:t>
                </a:r>
              </a:p>
            </p:txBody>
          </p:sp>
        </p:grpSp>
      </p:grpSp>
      <p:grpSp>
        <p:nvGrpSpPr>
          <p:cNvPr id="187" name="h2-indicators"/>
          <p:cNvGrpSpPr/>
          <p:nvPr/>
        </p:nvGrpSpPr>
        <p:grpSpPr>
          <a:xfrm>
            <a:off x="8458200" y="3295650"/>
            <a:ext cx="3467100" cy="2514600"/>
            <a:chOff x="8458200" y="3295650"/>
            <a:chExt cx="3467100" cy="2514600"/>
          </a:xfrm>
        </p:grpSpPr>
        <p:sp>
          <p:nvSpPr>
            <p:cNvPr id="169" name="Rectangle 169"/>
            <p:cNvSpPr/>
            <p:nvPr/>
          </p:nvSpPr>
          <p:spPr>
            <a:xfrm>
              <a:off x="8458200" y="3295650"/>
              <a:ext cx="3467100" cy="2514600"/>
            </a:xfrm>
            <a:prstGeom prst="roundRect">
              <a:avLst>
                <a:gd name="adj" fmla="val 3788"/>
              </a:avLst>
            </a:prstGeom>
            <a:solidFill>
              <a:srgbClr val="FFFFFF"/>
            </a:solidFill>
            <a:ln w="9525">
              <a:solidFill>
                <a:srgbClr val="D7E2F2"/>
              </a:solidFill>
            </a:ln>
          </p:spPr>
        </p:sp>
        <p:sp>
          <p:nvSpPr>
            <p:cNvPr id="170" name="Rectangle 170"/>
            <p:cNvSpPr/>
            <p:nvPr/>
          </p:nvSpPr>
          <p:spPr>
            <a:xfrm>
              <a:off x="8458200" y="3295650"/>
              <a:ext cx="3467100" cy="381000"/>
            </a:xfrm>
            <a:prstGeom prst="roundRect">
              <a:avLst>
                <a:gd name="adj" fmla="val 25000"/>
              </a:avLst>
            </a:prstGeom>
            <a:solidFill>
              <a:srgbClr val="841600"/>
            </a:solidFill>
            <a:ln>
              <a:noFill/>
            </a:ln>
          </p:spPr>
        </p:sp>
        <p:sp>
          <p:nvSpPr>
            <p:cNvPr id="171" name="Rectangle 171"/>
            <p:cNvSpPr/>
            <p:nvPr/>
          </p:nvSpPr>
          <p:spPr>
            <a:xfrm>
              <a:off x="8458200" y="3505200"/>
              <a:ext cx="3467100" cy="171450"/>
            </a:xfrm>
            <a:prstGeom prst="rect">
              <a:avLst/>
            </a:prstGeom>
            <a:solidFill>
              <a:srgbClr val="841600"/>
            </a:solidFill>
            <a:ln>
              <a:noFill/>
            </a:ln>
          </p:spPr>
        </p:sp>
        <p:sp>
          <p:nvSpPr>
            <p:cNvPr id="172" name="TextBox 172"/>
            <p:cNvSpPr txBox="1"/>
            <p:nvPr/>
          </p:nvSpPr>
          <p:spPr>
            <a:xfrm>
              <a:off x="9683222" y="3423285"/>
              <a:ext cx="101705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 xml:space="preserve">H2关键指标　</a:t>
              </a:r>
            </a:p>
          </p:txBody>
        </p:sp>
        <p:sp>
          <p:nvSpPr>
            <p:cNvPr id="173" name="Line 173"/>
            <p:cNvSpPr/>
            <p:nvPr/>
          </p:nvSpPr>
          <p:spPr>
            <a:xfrm>
              <a:off x="10191750" y="3790950"/>
              <a:ext cx="9525" cy="1905000"/>
            </a:xfrm>
            <a:custGeom>
              <a:avLst/>
              <a:gdLst/>
              <a:ahLst/>
              <a:cxnLst/>
              <a:rect l="l" t="t" r="r" b="b"/>
              <a:pathLst>
                <a:path w="9525" h="1905000">
                  <a:moveTo>
                    <a:pt x="0" y="0"/>
                  </a:moveTo>
                  <a:lnTo>
                    <a:pt x="0" y="1905000"/>
                  </a:lnTo>
                </a:path>
              </a:pathLst>
            </a:custGeom>
            <a:noFill/>
            <a:ln w="9525">
              <a:solidFill>
                <a:srgbClr val="E5ECF6"/>
              </a:solidFill>
            </a:ln>
          </p:spPr>
        </p:sp>
        <p:sp>
          <p:nvSpPr>
            <p:cNvPr id="174" name="Line 174"/>
            <p:cNvSpPr/>
            <p:nvPr/>
          </p:nvSpPr>
          <p:spPr>
            <a:xfrm>
              <a:off x="8572500" y="4743450"/>
              <a:ext cx="3238500" cy="9525"/>
            </a:xfrm>
            <a:custGeom>
              <a:avLst/>
              <a:gdLst/>
              <a:ahLst/>
              <a:cxnLst/>
              <a:rect l="l" t="t" r="r" b="b"/>
              <a:pathLst>
                <a:path w="3238500" h="9525">
                  <a:moveTo>
                    <a:pt x="0" y="0"/>
                  </a:moveTo>
                  <a:lnTo>
                    <a:pt x="3238500" y="0"/>
                  </a:lnTo>
                </a:path>
              </a:pathLst>
            </a:custGeom>
            <a:noFill/>
            <a:ln w="9525">
              <a:solidFill>
                <a:srgbClr val="E5ECF6"/>
              </a:solidFill>
            </a:ln>
          </p:spPr>
        </p:sp>
        <p:grpSp>
          <p:nvGrpSpPr>
            <p:cNvPr id="177" name="ind-1"/>
            <p:cNvGrpSpPr/>
            <p:nvPr/>
          </p:nvGrpSpPr>
          <p:grpSpPr>
            <a:xfrm>
              <a:off x="8868698" y="3990499"/>
              <a:ext cx="912554" cy="727424"/>
              <a:chOff x="8868698" y="3990499"/>
              <a:chExt cx="912554" cy="727424"/>
            </a:xfrm>
          </p:grpSpPr>
          <p:sp>
            <p:nvSpPr>
              <p:cNvPr id="175" name="TextBox 175"/>
              <p:cNvSpPr txBox="1"/>
              <p:nvPr/>
            </p:nvSpPr>
            <p:spPr>
              <a:xfrm>
                <a:off x="8990203" y="3990499"/>
                <a:ext cx="669544" cy="190690"/>
              </a:xfrm>
              <a:prstGeom prst="rect">
                <a:avLst/>
              </a:prstGeom>
              <a:noFill/>
              <a:ln>
                <a:noFill/>
              </a:ln>
            </p:spPr>
            <p:txBody>
              <a:bodyPr wrap="none" lIns="0" tIns="0" rIns="0" bIns="0" anchor="t" anchorCtr="0">
                <a:spAutoFit/>
              </a:bodyPr>
              <a:lstStyle/>
              <a:p>
                <a:pPr algn="ctr"/>
                <a:r>
                  <a:rPr lang="zh-CN" sz="980" dirty="0">
                    <a:solidFill>
                      <a:srgbClr val="7E605A"/>
                    </a:solidFill>
                    <a:latin typeface="+mn-lt"/>
                    <a:ea typeface="+mn-ea"/>
                    <a:cs typeface="+mn-cs"/>
                  </a:rPr>
                  <a:t>国际结算量</a:t>
                </a:r>
              </a:p>
            </p:txBody>
          </p:sp>
          <p:sp>
            <p:nvSpPr>
              <p:cNvPr id="176" name="TextBox 176"/>
              <p:cNvSpPr txBox="1"/>
              <p:nvPr/>
            </p:nvSpPr>
            <p:spPr>
              <a:xfrm>
                <a:off x="8868698" y="4307205"/>
                <a:ext cx="912554" cy="410718"/>
              </a:xfrm>
              <a:prstGeom prst="rect">
                <a:avLst/>
              </a:prstGeom>
              <a:noFill/>
              <a:ln>
                <a:noFill/>
              </a:ln>
            </p:spPr>
            <p:txBody>
              <a:bodyPr wrap="none" lIns="0" tIns="0" rIns="0" bIns="0" anchor="t" anchorCtr="0">
                <a:spAutoFit/>
              </a:bodyPr>
              <a:lstStyle/>
              <a:p>
                <a:pPr algn="ctr"/>
                <a:r>
                  <a:rPr lang="zh-CN" sz="2100" b="1" dirty="0">
                    <a:solidFill>
                      <a:srgbClr val="841600"/>
                    </a:solidFill>
                    <a:latin typeface="+mn-lt"/>
                    <a:ea typeface="+mn-ea"/>
                    <a:cs typeface="+mn-cs"/>
                  </a:rPr>
                  <a:t>+18</a:t>
                </a:r>
                <a:r>
                  <a:rPr lang="zh-CN" sz="1120" b="1" dirty="0">
                    <a:solidFill>
                      <a:srgbClr val="841600"/>
                    </a:solidFill>
                    <a:latin typeface="+mn-lt"/>
                    <a:ea typeface="+mn-ea"/>
                    <a:cs typeface="+mn-cs"/>
                  </a:rPr>
                  <a:t>%</a:t>
                </a:r>
                <a:r>
                  <a:rPr lang="zh-CN" sz="2100" b="1" dirty="0">
                    <a:solidFill>
                      <a:srgbClr val="841600"/>
                    </a:solidFill>
                    <a:latin typeface="+mn-lt"/>
                    <a:ea typeface="+mn-ea"/>
                    <a:cs typeface="+mn-cs"/>
                  </a:rPr>
                  <a:t xml:space="preserve">　</a:t>
                </a:r>
              </a:p>
            </p:txBody>
          </p:sp>
        </p:grpSp>
        <p:grpSp>
          <p:nvGrpSpPr>
            <p:cNvPr id="180" name="ind-2"/>
            <p:cNvGrpSpPr/>
            <p:nvPr/>
          </p:nvGrpSpPr>
          <p:grpSpPr>
            <a:xfrm>
              <a:off x="10586228" y="3990499"/>
              <a:ext cx="944594" cy="727424"/>
              <a:chOff x="10586228" y="3990499"/>
              <a:chExt cx="944594" cy="727424"/>
            </a:xfrm>
          </p:grpSpPr>
          <p:sp>
            <p:nvSpPr>
              <p:cNvPr id="178" name="TextBox 178"/>
              <p:cNvSpPr txBox="1"/>
              <p:nvPr/>
            </p:nvSpPr>
            <p:spPr>
              <a:xfrm>
                <a:off x="10789717" y="3990499"/>
                <a:ext cx="537616" cy="190690"/>
              </a:xfrm>
              <a:prstGeom prst="rect">
                <a:avLst/>
              </a:prstGeom>
              <a:noFill/>
              <a:ln>
                <a:noFill/>
              </a:ln>
            </p:spPr>
            <p:txBody>
              <a:bodyPr wrap="none" lIns="0" tIns="0" rIns="0" bIns="0" anchor="t" anchorCtr="0">
                <a:spAutoFit/>
              </a:bodyPr>
              <a:lstStyle/>
              <a:p>
                <a:pPr algn="ctr"/>
                <a:r>
                  <a:rPr lang="zh-CN" sz="980" dirty="0">
                    <a:solidFill>
                      <a:srgbClr val="7E605A"/>
                    </a:solidFill>
                    <a:latin typeface="+mn-lt"/>
                    <a:ea typeface="+mn-ea"/>
                    <a:cs typeface="+mn-cs"/>
                  </a:rPr>
                  <a:t>贸易融资</a:t>
                </a:r>
              </a:p>
            </p:txBody>
          </p:sp>
          <p:sp>
            <p:nvSpPr>
              <p:cNvPr id="179" name="TextBox 179"/>
              <p:cNvSpPr txBox="1"/>
              <p:nvPr/>
            </p:nvSpPr>
            <p:spPr>
              <a:xfrm>
                <a:off x="10586228" y="4307205"/>
                <a:ext cx="944594" cy="410718"/>
              </a:xfrm>
              <a:prstGeom prst="rect">
                <a:avLst/>
              </a:prstGeom>
              <a:noFill/>
              <a:ln>
                <a:noFill/>
              </a:ln>
            </p:spPr>
            <p:txBody>
              <a:bodyPr wrap="none" lIns="0" tIns="0" rIns="0" bIns="0" anchor="t" anchorCtr="0">
                <a:spAutoFit/>
              </a:bodyPr>
              <a:lstStyle/>
              <a:p>
                <a:pPr algn="ctr"/>
                <a:r>
                  <a:rPr lang="zh-CN" sz="2100" b="1" dirty="0">
                    <a:solidFill>
                      <a:srgbClr val="841600"/>
                    </a:solidFill>
                    <a:latin typeface="+mn-lt"/>
                    <a:ea typeface="+mn-ea"/>
                    <a:cs typeface="+mn-cs"/>
                  </a:rPr>
                  <a:t>+12</a:t>
                </a:r>
                <a:r>
                  <a:rPr lang="zh-CN" sz="1120" b="1" dirty="0">
                    <a:solidFill>
                      <a:srgbClr val="841600"/>
                    </a:solidFill>
                    <a:latin typeface="+mn-lt"/>
                    <a:ea typeface="+mn-ea"/>
                    <a:cs typeface="+mn-cs"/>
                  </a:rPr>
                  <a:t>亿</a:t>
                </a:r>
                <a:r>
                  <a:rPr lang="zh-CN" sz="2100" b="1" dirty="0">
                    <a:solidFill>
                      <a:srgbClr val="841600"/>
                    </a:solidFill>
                    <a:latin typeface="+mn-lt"/>
                    <a:ea typeface="+mn-ea"/>
                    <a:cs typeface="+mn-cs"/>
                  </a:rPr>
                  <a:t xml:space="preserve">　</a:t>
                </a:r>
              </a:p>
            </p:txBody>
          </p:sp>
        </p:grpSp>
        <p:grpSp>
          <p:nvGrpSpPr>
            <p:cNvPr id="183" name="ind-3"/>
            <p:cNvGrpSpPr/>
            <p:nvPr/>
          </p:nvGrpSpPr>
          <p:grpSpPr>
            <a:xfrm>
              <a:off x="8868698" y="4942999"/>
              <a:ext cx="912554" cy="727424"/>
              <a:chOff x="8868698" y="4942999"/>
              <a:chExt cx="912554" cy="727424"/>
            </a:xfrm>
          </p:grpSpPr>
          <p:sp>
            <p:nvSpPr>
              <p:cNvPr id="181" name="TextBox 181"/>
              <p:cNvSpPr txBox="1"/>
              <p:nvPr/>
            </p:nvSpPr>
            <p:spPr>
              <a:xfrm>
                <a:off x="8990203" y="4942999"/>
                <a:ext cx="669544" cy="190690"/>
              </a:xfrm>
              <a:prstGeom prst="rect">
                <a:avLst/>
              </a:prstGeom>
              <a:noFill/>
              <a:ln>
                <a:noFill/>
              </a:ln>
            </p:spPr>
            <p:txBody>
              <a:bodyPr wrap="none" lIns="0" tIns="0" rIns="0" bIns="0" anchor="t" anchorCtr="0">
                <a:spAutoFit/>
              </a:bodyPr>
              <a:lstStyle/>
              <a:p>
                <a:pPr algn="ctr"/>
                <a:r>
                  <a:rPr lang="zh-CN" sz="980" dirty="0">
                    <a:solidFill>
                      <a:srgbClr val="7E605A"/>
                    </a:solidFill>
                    <a:latin typeface="+mn-lt"/>
                    <a:ea typeface="+mn-ea"/>
                    <a:cs typeface="+mn-cs"/>
                  </a:rPr>
                  <a:t>跨境人民币</a:t>
                </a:r>
              </a:p>
            </p:txBody>
          </p:sp>
          <p:sp>
            <p:nvSpPr>
              <p:cNvPr id="182" name="TextBox 182"/>
              <p:cNvSpPr txBox="1"/>
              <p:nvPr/>
            </p:nvSpPr>
            <p:spPr>
              <a:xfrm>
                <a:off x="8868698" y="5259705"/>
                <a:ext cx="912554" cy="410718"/>
              </a:xfrm>
              <a:prstGeom prst="rect">
                <a:avLst/>
              </a:prstGeom>
              <a:noFill/>
              <a:ln>
                <a:noFill/>
              </a:ln>
            </p:spPr>
            <p:txBody>
              <a:bodyPr wrap="none" lIns="0" tIns="0" rIns="0" bIns="0" anchor="t" anchorCtr="0">
                <a:spAutoFit/>
              </a:bodyPr>
              <a:lstStyle/>
              <a:p>
                <a:pPr algn="ctr"/>
                <a:r>
                  <a:rPr lang="zh-CN" sz="2100" b="1" dirty="0">
                    <a:solidFill>
                      <a:srgbClr val="841600"/>
                    </a:solidFill>
                    <a:latin typeface="+mn-lt"/>
                    <a:ea typeface="+mn-ea"/>
                    <a:cs typeface="+mn-cs"/>
                  </a:rPr>
                  <a:t>+20</a:t>
                </a:r>
                <a:r>
                  <a:rPr lang="zh-CN" sz="1120" b="1" dirty="0">
                    <a:solidFill>
                      <a:srgbClr val="841600"/>
                    </a:solidFill>
                    <a:latin typeface="+mn-lt"/>
                    <a:ea typeface="+mn-ea"/>
                    <a:cs typeface="+mn-cs"/>
                  </a:rPr>
                  <a:t>%</a:t>
                </a:r>
                <a:r>
                  <a:rPr lang="zh-CN" sz="2100" b="1" dirty="0">
                    <a:solidFill>
                      <a:srgbClr val="841600"/>
                    </a:solidFill>
                    <a:latin typeface="+mn-lt"/>
                    <a:ea typeface="+mn-ea"/>
                    <a:cs typeface="+mn-cs"/>
                  </a:rPr>
                  <a:t xml:space="preserve">　</a:t>
                </a:r>
              </a:p>
            </p:txBody>
          </p:sp>
        </p:grpSp>
        <p:grpSp>
          <p:nvGrpSpPr>
            <p:cNvPr id="186" name="ind-4"/>
            <p:cNvGrpSpPr/>
            <p:nvPr/>
          </p:nvGrpSpPr>
          <p:grpSpPr>
            <a:xfrm>
              <a:off x="10602248" y="4942999"/>
              <a:ext cx="912554" cy="727424"/>
              <a:chOff x="10602248" y="4942999"/>
              <a:chExt cx="912554" cy="727424"/>
            </a:xfrm>
          </p:grpSpPr>
          <p:sp>
            <p:nvSpPr>
              <p:cNvPr id="184" name="TextBox 184"/>
              <p:cNvSpPr txBox="1"/>
              <p:nvPr/>
            </p:nvSpPr>
            <p:spPr>
              <a:xfrm>
                <a:off x="10921644" y="4942999"/>
                <a:ext cx="273761" cy="190690"/>
              </a:xfrm>
              <a:prstGeom prst="rect">
                <a:avLst/>
              </a:prstGeom>
              <a:noFill/>
              <a:ln>
                <a:noFill/>
              </a:ln>
            </p:spPr>
            <p:txBody>
              <a:bodyPr wrap="none" lIns="0" tIns="0" rIns="0" bIns="0" anchor="t" anchorCtr="0">
                <a:spAutoFit/>
              </a:bodyPr>
              <a:lstStyle/>
              <a:p>
                <a:pPr algn="ctr"/>
                <a:r>
                  <a:rPr lang="zh-CN" sz="980" dirty="0">
                    <a:solidFill>
                      <a:srgbClr val="7E605A"/>
                    </a:solidFill>
                    <a:latin typeface="+mn-lt"/>
                    <a:ea typeface="+mn-ea"/>
                    <a:cs typeface="+mn-cs"/>
                  </a:rPr>
                  <a:t>中收</a:t>
                </a:r>
              </a:p>
            </p:txBody>
          </p:sp>
          <p:sp>
            <p:nvSpPr>
              <p:cNvPr id="185" name="TextBox 185"/>
              <p:cNvSpPr txBox="1"/>
              <p:nvPr/>
            </p:nvSpPr>
            <p:spPr>
              <a:xfrm>
                <a:off x="10602248" y="5259705"/>
                <a:ext cx="912554" cy="410718"/>
              </a:xfrm>
              <a:prstGeom prst="rect">
                <a:avLst/>
              </a:prstGeom>
              <a:noFill/>
              <a:ln>
                <a:noFill/>
              </a:ln>
            </p:spPr>
            <p:txBody>
              <a:bodyPr wrap="none" lIns="0" tIns="0" rIns="0" bIns="0" anchor="t" anchorCtr="0">
                <a:spAutoFit/>
              </a:bodyPr>
              <a:lstStyle/>
              <a:p>
                <a:pPr algn="ctr"/>
                <a:r>
                  <a:rPr lang="zh-CN" sz="2100" b="1" dirty="0">
                    <a:solidFill>
                      <a:srgbClr val="841600"/>
                    </a:solidFill>
                    <a:latin typeface="+mn-lt"/>
                    <a:ea typeface="+mn-ea"/>
                    <a:cs typeface="+mn-cs"/>
                  </a:rPr>
                  <a:t>+15</a:t>
                </a:r>
                <a:r>
                  <a:rPr lang="zh-CN" sz="1120" b="1" dirty="0">
                    <a:solidFill>
                      <a:srgbClr val="841600"/>
                    </a:solidFill>
                    <a:latin typeface="+mn-lt"/>
                    <a:ea typeface="+mn-ea"/>
                    <a:cs typeface="+mn-cs"/>
                  </a:rPr>
                  <a:t>%</a:t>
                </a:r>
                <a:r>
                  <a:rPr lang="zh-CN" sz="2100" b="1" dirty="0">
                    <a:solidFill>
                      <a:srgbClr val="841600"/>
                    </a:solidFill>
                    <a:latin typeface="+mn-lt"/>
                    <a:ea typeface="+mn-ea"/>
                    <a:cs typeface="+mn-cs"/>
                  </a:rPr>
                  <a:t xml:space="preserve">　</a:t>
                </a:r>
              </a:p>
            </p:txBody>
          </p:sp>
        </p:grpSp>
      </p:grpSp>
      <p:grpSp>
        <p:nvGrpSpPr>
          <p:cNvPr id="205" name="risk-gates"/>
          <p:cNvGrpSpPr/>
          <p:nvPr/>
        </p:nvGrpSpPr>
        <p:grpSpPr>
          <a:xfrm>
            <a:off x="266700" y="5010150"/>
            <a:ext cx="8077200" cy="800100"/>
            <a:chOff x="266700" y="5010150"/>
            <a:chExt cx="8077200" cy="800100"/>
          </a:xfrm>
        </p:grpSpPr>
        <p:sp>
          <p:nvSpPr>
            <p:cNvPr id="188" name="Rectangle 188"/>
            <p:cNvSpPr/>
            <p:nvPr/>
          </p:nvSpPr>
          <p:spPr>
            <a:xfrm>
              <a:off x="266700" y="5010150"/>
              <a:ext cx="8077200" cy="800100"/>
            </a:xfrm>
            <a:prstGeom prst="roundRect">
              <a:avLst>
                <a:gd name="adj" fmla="val 11905"/>
              </a:avLst>
            </a:prstGeom>
            <a:solidFill>
              <a:srgbClr val="FFFFFF"/>
            </a:solidFill>
            <a:ln w="9525">
              <a:solidFill>
                <a:srgbClr val="D7E2F2"/>
              </a:solidFill>
            </a:ln>
          </p:spPr>
        </p:sp>
        <p:sp>
          <p:nvSpPr>
            <p:cNvPr id="189" name="TextBox 189"/>
            <p:cNvSpPr txBox="1"/>
            <p:nvPr/>
          </p:nvSpPr>
          <p:spPr>
            <a:xfrm>
              <a:off x="3847262" y="5136356"/>
              <a:ext cx="916076"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三道风险闸门</a:t>
              </a:r>
            </a:p>
          </p:txBody>
        </p:sp>
        <p:sp>
          <p:nvSpPr>
            <p:cNvPr id="190" name="Line 190"/>
            <p:cNvSpPr/>
            <p:nvPr/>
          </p:nvSpPr>
          <p:spPr>
            <a:xfrm>
              <a:off x="3238500" y="5410200"/>
              <a:ext cx="9525" cy="285750"/>
            </a:xfrm>
            <a:custGeom>
              <a:avLst/>
              <a:gdLst/>
              <a:ahLst/>
              <a:cxnLst/>
              <a:rect l="l" t="t" r="r" b="b"/>
              <a:pathLst>
                <a:path w="9525" h="285750">
                  <a:moveTo>
                    <a:pt x="0" y="0"/>
                  </a:moveTo>
                  <a:lnTo>
                    <a:pt x="0" y="285750"/>
                  </a:lnTo>
                </a:path>
              </a:pathLst>
            </a:custGeom>
            <a:noFill/>
            <a:ln w="9525">
              <a:solidFill>
                <a:srgbClr val="D7E2F2"/>
              </a:solidFill>
            </a:ln>
          </p:spPr>
        </p:sp>
        <p:sp>
          <p:nvSpPr>
            <p:cNvPr id="191" name="Line 191"/>
            <p:cNvSpPr/>
            <p:nvPr/>
          </p:nvSpPr>
          <p:spPr>
            <a:xfrm>
              <a:off x="5715000" y="5410200"/>
              <a:ext cx="9525" cy="285750"/>
            </a:xfrm>
            <a:custGeom>
              <a:avLst/>
              <a:gdLst/>
              <a:ahLst/>
              <a:cxnLst/>
              <a:rect l="l" t="t" r="r" b="b"/>
              <a:pathLst>
                <a:path w="9525" h="285750">
                  <a:moveTo>
                    <a:pt x="0" y="0"/>
                  </a:moveTo>
                  <a:lnTo>
                    <a:pt x="0" y="285750"/>
                  </a:lnTo>
                </a:path>
              </a:pathLst>
            </a:custGeom>
            <a:noFill/>
            <a:ln w="9525">
              <a:solidFill>
                <a:srgbClr val="D7E2F2"/>
              </a:solidFill>
            </a:ln>
          </p:spPr>
        </p:sp>
        <p:grpSp>
          <p:nvGrpSpPr>
            <p:cNvPr id="194" name="Group 194"/>
            <p:cNvGrpSpPr/>
            <p:nvPr/>
          </p:nvGrpSpPr>
          <p:grpSpPr>
            <a:xfrm>
              <a:off x="1160031" y="5460206"/>
              <a:ext cx="201506" cy="185737"/>
              <a:chOff x="1160031" y="5460206"/>
              <a:chExt cx="201506" cy="185737"/>
            </a:xfrm>
          </p:grpSpPr>
          <p:sp>
            <p:nvSpPr>
              <p:cNvPr id="192" name="Freeform 192"/>
              <p:cNvSpPr/>
              <p:nvPr/>
            </p:nvSpPr>
            <p:spPr>
              <a:xfrm>
                <a:off x="1160031" y="546020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15478">
                <a:solidFill>
                  <a:srgbClr val="ED4D31"/>
                </a:solidFill>
              </a:ln>
            </p:spPr>
          </p:sp>
          <p:sp>
            <p:nvSpPr>
              <p:cNvPr id="193" name="Freeform 193"/>
              <p:cNvSpPr/>
              <p:nvPr/>
            </p:nvSpPr>
            <p:spPr>
              <a:xfrm>
                <a:off x="1297781" y="5604668"/>
                <a:ext cx="61912" cy="41275"/>
              </a:xfrm>
              <a:custGeom>
                <a:avLst/>
                <a:gdLst/>
                <a:ahLst/>
                <a:cxnLst/>
                <a:rect l="l" t="t" r="r" b="b"/>
                <a:pathLst>
                  <a:path w="61912" h="41275">
                    <a:moveTo>
                      <a:pt x="0" y="20637"/>
                    </a:moveTo>
                    <a:lnTo>
                      <a:pt x="20637" y="41275"/>
                    </a:lnTo>
                    <a:lnTo>
                      <a:pt x="61912" y="0"/>
                    </a:lnTo>
                  </a:path>
                </a:pathLst>
              </a:custGeom>
              <a:noFill/>
              <a:ln w="15478">
                <a:solidFill>
                  <a:srgbClr val="ED4D31"/>
                </a:solidFill>
              </a:ln>
            </p:spPr>
          </p:sp>
        </p:grpSp>
        <p:sp>
          <p:nvSpPr>
            <p:cNvPr id="195" name="TextBox 195"/>
            <p:cNvSpPr txBox="1"/>
            <p:nvPr/>
          </p:nvSpPr>
          <p:spPr>
            <a:xfrm>
              <a:off x="1480185" y="5498306"/>
              <a:ext cx="765302"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贸易真实性</a:t>
              </a:r>
            </a:p>
          </p:txBody>
        </p:sp>
        <p:grpSp>
          <p:nvGrpSpPr>
            <p:cNvPr id="199" name="Group 199"/>
            <p:cNvGrpSpPr/>
            <p:nvPr/>
          </p:nvGrpSpPr>
          <p:grpSpPr>
            <a:xfrm>
              <a:off x="3861594" y="5460206"/>
              <a:ext cx="144462" cy="185737"/>
              <a:chOff x="3861594" y="5460206"/>
              <a:chExt cx="144462" cy="185737"/>
            </a:xfrm>
          </p:grpSpPr>
          <p:sp>
            <p:nvSpPr>
              <p:cNvPr id="196" name="Freeform 196"/>
              <p:cNvSpPr/>
              <p:nvPr/>
            </p:nvSpPr>
            <p:spPr>
              <a:xfrm>
                <a:off x="3861594" y="5522118"/>
                <a:ext cx="144462" cy="123825"/>
              </a:xfrm>
              <a:custGeom>
                <a:avLst/>
                <a:gdLst/>
                <a:ahLst/>
                <a:cxnLst/>
                <a:rect l="l" t="t" r="r" b="b"/>
                <a:pathLst>
                  <a:path w="144462" h="123825">
                    <a:moveTo>
                      <a:pt x="30956" y="0"/>
                    </a:moveTo>
                    <a:lnTo>
                      <a:pt x="20637" y="0"/>
                    </a:lnTo>
                    <a:cubicBezTo>
                      <a:pt x="9240" y="0"/>
                      <a:pt x="0" y="9240"/>
                      <a:pt x="0" y="20637"/>
                    </a:cubicBezTo>
                    <a:lnTo>
                      <a:pt x="0" y="103187"/>
                    </a:lnTo>
                    <a:cubicBezTo>
                      <a:pt x="0" y="114585"/>
                      <a:pt x="9240" y="123825"/>
                      <a:pt x="20637" y="123825"/>
                    </a:cubicBezTo>
                    <a:lnTo>
                      <a:pt x="123825" y="123825"/>
                    </a:lnTo>
                    <a:cubicBezTo>
                      <a:pt x="135222" y="123825"/>
                      <a:pt x="144462" y="114585"/>
                      <a:pt x="144462" y="103187"/>
                    </a:cubicBezTo>
                    <a:lnTo>
                      <a:pt x="144462" y="20637"/>
                    </a:lnTo>
                    <a:cubicBezTo>
                      <a:pt x="144462" y="9240"/>
                      <a:pt x="135222" y="0"/>
                      <a:pt x="123825" y="0"/>
                    </a:cubicBezTo>
                    <a:lnTo>
                      <a:pt x="113506" y="0"/>
                    </a:lnTo>
                  </a:path>
                </a:pathLst>
              </a:custGeom>
              <a:noFill/>
              <a:ln w="15478">
                <a:solidFill>
                  <a:srgbClr val="ED4D31"/>
                </a:solidFill>
              </a:ln>
            </p:spPr>
          </p:sp>
          <p:sp>
            <p:nvSpPr>
              <p:cNvPr id="197" name="Freeform 197"/>
              <p:cNvSpPr/>
              <p:nvPr/>
            </p:nvSpPr>
            <p:spPr>
              <a:xfrm>
                <a:off x="3933825" y="5460206"/>
                <a:ext cx="9525" cy="113506"/>
              </a:xfrm>
              <a:custGeom>
                <a:avLst/>
                <a:gdLst/>
                <a:ahLst/>
                <a:cxnLst/>
                <a:rect l="l" t="t" r="r" b="b"/>
                <a:pathLst>
                  <a:path w="9525" h="113506">
                    <a:moveTo>
                      <a:pt x="0" y="113506"/>
                    </a:moveTo>
                    <a:lnTo>
                      <a:pt x="0" y="0"/>
                    </a:lnTo>
                  </a:path>
                </a:pathLst>
              </a:custGeom>
              <a:noFill/>
              <a:ln w="15478">
                <a:solidFill>
                  <a:srgbClr val="ED4D31"/>
                </a:solidFill>
              </a:ln>
            </p:spPr>
          </p:sp>
          <p:sp>
            <p:nvSpPr>
              <p:cNvPr id="198" name="Freeform 198"/>
              <p:cNvSpPr/>
              <p:nvPr/>
            </p:nvSpPr>
            <p:spPr>
              <a:xfrm>
                <a:off x="3902868" y="5460206"/>
                <a:ext cx="61912" cy="30956"/>
              </a:xfrm>
              <a:custGeom>
                <a:avLst/>
                <a:gdLst/>
                <a:ahLst/>
                <a:cxnLst/>
                <a:rect l="l" t="t" r="r" b="b"/>
                <a:pathLst>
                  <a:path w="61912" h="30956">
                    <a:moveTo>
                      <a:pt x="0" y="30956"/>
                    </a:moveTo>
                    <a:lnTo>
                      <a:pt x="30956" y="0"/>
                    </a:lnTo>
                    <a:lnTo>
                      <a:pt x="61912" y="30956"/>
                    </a:lnTo>
                  </a:path>
                </a:pathLst>
              </a:custGeom>
              <a:noFill/>
              <a:ln w="15478">
                <a:solidFill>
                  <a:srgbClr val="ED4D31"/>
                </a:solidFill>
              </a:ln>
            </p:spPr>
          </p:sp>
        </p:grpSp>
        <p:sp>
          <p:nvSpPr>
            <p:cNvPr id="200" name="TextBox 200"/>
            <p:cNvSpPr txBox="1"/>
            <p:nvPr/>
          </p:nvSpPr>
          <p:spPr>
            <a:xfrm>
              <a:off x="4147185" y="5498306"/>
              <a:ext cx="61452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国别风险</a:t>
              </a:r>
            </a:p>
          </p:txBody>
        </p:sp>
        <p:grpSp>
          <p:nvGrpSpPr>
            <p:cNvPr id="203" name="Group 203"/>
            <p:cNvGrpSpPr/>
            <p:nvPr/>
          </p:nvGrpSpPr>
          <p:grpSpPr>
            <a:xfrm>
              <a:off x="6317456" y="5460206"/>
              <a:ext cx="185737" cy="185737"/>
              <a:chOff x="6317456" y="5460206"/>
              <a:chExt cx="185737" cy="185737"/>
            </a:xfrm>
          </p:grpSpPr>
          <p:sp>
            <p:nvSpPr>
              <p:cNvPr id="201" name="Freeform 201"/>
              <p:cNvSpPr/>
              <p:nvPr/>
            </p:nvSpPr>
            <p:spPr>
              <a:xfrm>
                <a:off x="6317456" y="5460206"/>
                <a:ext cx="144462" cy="144462"/>
              </a:xfrm>
              <a:custGeom>
                <a:avLst/>
                <a:gdLst/>
                <a:ahLst/>
                <a:cxnLst/>
                <a:rect l="l" t="t" r="r" b="b"/>
                <a:pathLst>
                  <a:path w="144462" h="144462">
                    <a:moveTo>
                      <a:pt x="0" y="72231"/>
                    </a:moveTo>
                    <a:cubicBezTo>
                      <a:pt x="0" y="112123"/>
                      <a:pt x="32339" y="144462"/>
                      <a:pt x="72231" y="144462"/>
                    </a:cubicBezTo>
                    <a:cubicBezTo>
                      <a:pt x="112123" y="144462"/>
                      <a:pt x="144462" y="112123"/>
                      <a:pt x="144462" y="72231"/>
                    </a:cubicBezTo>
                    <a:cubicBezTo>
                      <a:pt x="144462" y="32339"/>
                      <a:pt x="112123" y="0"/>
                      <a:pt x="72231" y="0"/>
                    </a:cubicBezTo>
                    <a:cubicBezTo>
                      <a:pt x="32339" y="0"/>
                      <a:pt x="0" y="32339"/>
                      <a:pt x="0" y="72231"/>
                    </a:cubicBezTo>
                  </a:path>
                </a:pathLst>
              </a:custGeom>
              <a:noFill/>
              <a:ln w="15478">
                <a:solidFill>
                  <a:srgbClr val="ED4D31"/>
                </a:solidFill>
              </a:ln>
            </p:spPr>
          </p:sp>
          <p:sp>
            <p:nvSpPr>
              <p:cNvPr id="202" name="Freeform 202"/>
              <p:cNvSpPr/>
              <p:nvPr/>
            </p:nvSpPr>
            <p:spPr>
              <a:xfrm>
                <a:off x="6441281" y="5584031"/>
                <a:ext cx="61912" cy="61912"/>
              </a:xfrm>
              <a:custGeom>
                <a:avLst/>
                <a:gdLst/>
                <a:ahLst/>
                <a:cxnLst/>
                <a:rect l="l" t="t" r="r" b="b"/>
                <a:pathLst>
                  <a:path w="61912" h="61912">
                    <a:moveTo>
                      <a:pt x="61912" y="61912"/>
                    </a:moveTo>
                    <a:lnTo>
                      <a:pt x="0" y="0"/>
                    </a:lnTo>
                  </a:path>
                </a:pathLst>
              </a:custGeom>
              <a:noFill/>
              <a:ln w="15478">
                <a:solidFill>
                  <a:srgbClr val="ED4D31"/>
                </a:solidFill>
              </a:ln>
            </p:spPr>
          </p:sp>
        </p:grpSp>
        <p:sp>
          <p:nvSpPr>
            <p:cNvPr id="204" name="TextBox 204"/>
            <p:cNvSpPr txBox="1"/>
            <p:nvPr/>
          </p:nvSpPr>
          <p:spPr>
            <a:xfrm>
              <a:off x="6623685" y="5498306"/>
              <a:ext cx="46375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反洗钱</a:t>
              </a:r>
            </a:p>
          </p:txBody>
        </p:sp>
      </p:grpSp>
      <p:grpSp>
        <p:nvGrpSpPr>
          <p:cNvPr id="208" name="bottom-banner"/>
          <p:cNvGrpSpPr/>
          <p:nvPr/>
        </p:nvGrpSpPr>
        <p:grpSpPr>
          <a:xfrm>
            <a:off x="266700" y="5924550"/>
            <a:ext cx="11658600" cy="704850"/>
            <a:chOff x="266700" y="5924550"/>
            <a:chExt cx="11658600" cy="704850"/>
          </a:xfrm>
        </p:grpSpPr>
        <p:sp>
          <p:nvSpPr>
            <p:cNvPr id="206" name="Rectangle 206"/>
            <p:cNvSpPr/>
            <p:nvPr/>
          </p:nvSpPr>
          <p:spPr>
            <a:xfrm>
              <a:off x="266700" y="5924550"/>
              <a:ext cx="11658600" cy="704850"/>
            </a:xfrm>
            <a:prstGeom prst="roundRect">
              <a:avLst>
                <a:gd name="adj" fmla="val 10811"/>
              </a:avLst>
            </a:prstGeom>
            <a:solidFill>
              <a:srgbClr val="841600"/>
            </a:solidFill>
            <a:ln>
              <a:noFill/>
            </a:ln>
          </p:spPr>
        </p:sp>
        <p:sp>
          <p:nvSpPr>
            <p:cNvPr id="207" name="TextBox 207"/>
            <p:cNvSpPr txBox="1"/>
            <p:nvPr/>
          </p:nvSpPr>
          <p:spPr>
            <a:xfrm>
              <a:off x="4643818" y="6184582"/>
              <a:ext cx="2904363"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以结算带融资、以场景带中收</a:t>
              </a:r>
            </a:p>
          </p:txBody>
        </p:sp>
      </p:gr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11</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金融市场与资产负债管理部</a:t>
              </a:r>
              <a:r>
                <a:rPr lang="zh-CN" sz="1950" b="1" dirty="0">
                  <a:solidFill>
                    <a:srgbClr val="1A1A1A"/>
                  </a:solidFill>
                  <a:latin typeface="SimSun"/>
                  <a:ea typeface="SimSun"/>
                  <a:cs typeface="SimSun"/>
                </a:rPr>
                <a:t>｜统筹流动性、负债成本和资产收益</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8" name="page-subtitle"/>
          <p:cNvGrpSpPr/>
          <p:nvPr/>
        </p:nvGrpSpPr>
        <p:grpSpPr>
          <a:xfrm>
            <a:off x="947738" y="664845"/>
            <a:ext cx="1948053" cy="176212"/>
            <a:chOff x="947738" y="664845"/>
            <a:chExt cx="1948053" cy="176212"/>
          </a:xfrm>
        </p:grpSpPr>
        <p:sp>
          <p:nvSpPr>
            <p:cNvPr id="7" name="TextBox 7"/>
            <p:cNvSpPr txBox="1"/>
            <p:nvPr/>
          </p:nvSpPr>
          <p:spPr>
            <a:xfrm>
              <a:off x="947738" y="664845"/>
              <a:ext cx="1948053"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平衡流动性、成本、收益和期限结构</a:t>
              </a:r>
            </a:p>
          </p:txBody>
        </p:sp>
      </p:grpSp>
      <p:grpSp>
        <p:nvGrpSpPr>
          <p:cNvPr id="10" name="corner-tag"/>
          <p:cNvGrpSpPr/>
          <p:nvPr/>
        </p:nvGrpSpPr>
        <p:grpSpPr>
          <a:xfrm>
            <a:off x="10088845" y="676989"/>
            <a:ext cx="1726918" cy="154781"/>
            <a:chOff x="10088845" y="676989"/>
            <a:chExt cx="1726918" cy="154781"/>
          </a:xfrm>
        </p:grpSpPr>
        <p:sp>
          <p:nvSpPr>
            <p:cNvPr id="9" name="TextBox 9"/>
            <p:cNvSpPr txBox="1"/>
            <p:nvPr/>
          </p:nvSpPr>
          <p:spPr>
            <a:xfrm>
              <a:off x="10088845" y="676989"/>
              <a:ext cx="1726918" cy="154781"/>
            </a:xfrm>
            <a:prstGeom prst="rect">
              <a:avLst/>
            </a:prstGeom>
            <a:noFill/>
            <a:ln>
              <a:noFill/>
            </a:ln>
          </p:spPr>
          <p:txBody>
            <a:bodyPr wrap="none" lIns="0" tIns="0" rIns="0" bIns="0" anchor="t" anchorCtr="0">
              <a:spAutoFit/>
            </a:bodyPr>
            <a:lstStyle/>
            <a:p>
              <a:pPr algn="r"/>
              <a:r>
                <a:rPr lang="zh-CN" sz="790" dirty="0">
                  <a:solidFill>
                    <a:srgbClr val="987F7A"/>
                  </a:solidFill>
                  <a:latin typeface="Arial"/>
                  <a:ea typeface="Microsoft YaHei"/>
                  <a:cs typeface="Arial"/>
                </a:rPr>
                <a:t xml:space="preserve">2026 H2 · PRESIDENT OFFICE　</a:t>
              </a:r>
            </a:p>
          </p:txBody>
        </p:sp>
      </p:grpSp>
      <p:grpSp>
        <p:nvGrpSpPr>
          <p:cNvPr id="79" name="balance-sheet"/>
          <p:cNvGrpSpPr/>
          <p:nvPr/>
        </p:nvGrpSpPr>
        <p:grpSpPr>
          <a:xfrm>
            <a:off x="266700" y="876300"/>
            <a:ext cx="3638550" cy="4267200"/>
            <a:chOff x="266700" y="876300"/>
            <a:chExt cx="3638550" cy="4267200"/>
          </a:xfrm>
        </p:grpSpPr>
        <p:sp>
          <p:nvSpPr>
            <p:cNvPr id="11" name="Rectangle 11"/>
            <p:cNvSpPr/>
            <p:nvPr/>
          </p:nvSpPr>
          <p:spPr>
            <a:xfrm>
              <a:off x="266700" y="876300"/>
              <a:ext cx="3638550" cy="4267200"/>
            </a:xfrm>
            <a:prstGeom prst="roundRect">
              <a:avLst>
                <a:gd name="adj" fmla="val 2618"/>
              </a:avLst>
            </a:prstGeom>
            <a:solidFill>
              <a:srgbClr val="FFFFFF"/>
            </a:solidFill>
            <a:ln w="9525">
              <a:solidFill>
                <a:srgbClr val="D7E2F2"/>
              </a:solidFill>
            </a:ln>
          </p:spPr>
        </p:sp>
        <p:sp>
          <p:nvSpPr>
            <p:cNvPr id="12" name="Rectangle 12"/>
            <p:cNvSpPr/>
            <p:nvPr/>
          </p:nvSpPr>
          <p:spPr>
            <a:xfrm>
              <a:off x="266700" y="876300"/>
              <a:ext cx="3638550" cy="381000"/>
            </a:xfrm>
            <a:prstGeom prst="roundRect">
              <a:avLst>
                <a:gd name="adj" fmla="val 25000"/>
              </a:avLst>
            </a:prstGeom>
            <a:solidFill>
              <a:srgbClr val="841600"/>
            </a:solidFill>
            <a:ln>
              <a:noFill/>
            </a:ln>
          </p:spPr>
        </p:sp>
        <p:sp>
          <p:nvSpPr>
            <p:cNvPr id="13" name="Rectangle 13"/>
            <p:cNvSpPr/>
            <p:nvPr/>
          </p:nvSpPr>
          <p:spPr>
            <a:xfrm>
              <a:off x="266700" y="1085850"/>
              <a:ext cx="3638550" cy="171450"/>
            </a:xfrm>
            <a:prstGeom prst="rect">
              <a:avLst/>
            </a:prstGeom>
            <a:solidFill>
              <a:srgbClr val="841600"/>
            </a:solidFill>
            <a:ln>
              <a:noFill/>
            </a:ln>
          </p:spPr>
        </p:sp>
        <p:sp>
          <p:nvSpPr>
            <p:cNvPr id="14" name="TextBox 14"/>
            <p:cNvSpPr txBox="1"/>
            <p:nvPr/>
          </p:nvSpPr>
          <p:spPr>
            <a:xfrm>
              <a:off x="1595247" y="100393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资产负债统筹</a:t>
              </a:r>
            </a:p>
          </p:txBody>
        </p:sp>
        <p:grpSp>
          <p:nvGrpSpPr>
            <p:cNvPr id="31" name="asset-side"/>
            <p:cNvGrpSpPr/>
            <p:nvPr/>
          </p:nvGrpSpPr>
          <p:grpSpPr>
            <a:xfrm>
              <a:off x="419100" y="1409700"/>
              <a:ext cx="1028700" cy="1238250"/>
              <a:chOff x="419100" y="1409700"/>
              <a:chExt cx="1028700" cy="1238250"/>
            </a:xfrm>
          </p:grpSpPr>
          <p:sp>
            <p:nvSpPr>
              <p:cNvPr id="15" name="Rectangle 15"/>
              <p:cNvSpPr/>
              <p:nvPr/>
            </p:nvSpPr>
            <p:spPr>
              <a:xfrm>
                <a:off x="419100" y="1409700"/>
                <a:ext cx="666750" cy="209550"/>
              </a:xfrm>
              <a:prstGeom prst="roundRect">
                <a:avLst>
                  <a:gd name="adj" fmla="val 18182"/>
                </a:avLst>
              </a:prstGeom>
              <a:solidFill>
                <a:srgbClr val="841600"/>
              </a:solidFill>
              <a:ln>
                <a:noFill/>
              </a:ln>
            </p:spPr>
          </p:sp>
          <p:sp>
            <p:nvSpPr>
              <p:cNvPr id="16" name="TextBox 16"/>
              <p:cNvSpPr txBox="1"/>
              <p:nvPr/>
            </p:nvSpPr>
            <p:spPr>
              <a:xfrm>
                <a:off x="582130" y="147304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资产端</a:t>
                </a:r>
              </a:p>
            </p:txBody>
          </p:sp>
          <p:sp>
            <p:nvSpPr>
              <p:cNvPr id="17" name="Rectangle 17"/>
              <p:cNvSpPr/>
              <p:nvPr/>
            </p:nvSpPr>
            <p:spPr>
              <a:xfrm>
                <a:off x="419100" y="1752600"/>
                <a:ext cx="1028700" cy="381000"/>
              </a:xfrm>
              <a:prstGeom prst="roundRect">
                <a:avLst>
                  <a:gd name="adj" fmla="val 15000"/>
                </a:avLst>
              </a:prstGeom>
              <a:solidFill>
                <a:srgbClr val="EFF5FD"/>
              </a:solidFill>
              <a:ln w="9525">
                <a:solidFill>
                  <a:srgbClr val="D7E2F2"/>
                </a:solidFill>
              </a:ln>
            </p:spPr>
          </p:sp>
          <p:grpSp>
            <p:nvGrpSpPr>
              <p:cNvPr id="21" name="Group 21"/>
              <p:cNvGrpSpPr/>
              <p:nvPr/>
            </p:nvGrpSpPr>
            <p:grpSpPr>
              <a:xfrm>
                <a:off x="519112" y="1887537"/>
                <a:ext cx="142875" cy="111125"/>
                <a:chOff x="519112" y="1887537"/>
                <a:chExt cx="142875" cy="111125"/>
              </a:xfrm>
            </p:grpSpPr>
            <p:sp>
              <p:nvSpPr>
                <p:cNvPr id="18" name="Freeform 18"/>
                <p:cNvSpPr/>
                <p:nvPr/>
              </p:nvSpPr>
              <p:spPr>
                <a:xfrm>
                  <a:off x="519112" y="1887537"/>
                  <a:ext cx="111125" cy="79375"/>
                </a:xfrm>
                <a:custGeom>
                  <a:avLst/>
                  <a:gdLst/>
                  <a:ahLst/>
                  <a:cxnLst/>
                  <a:rect l="l" t="t" r="r" b="b"/>
                  <a:pathLst>
                    <a:path w="111125" h="79375">
                      <a:moveTo>
                        <a:pt x="31750" y="79375"/>
                      </a:moveTo>
                      <a:lnTo>
                        <a:pt x="7937" y="79375"/>
                      </a:lnTo>
                      <a:cubicBezTo>
                        <a:pt x="3554" y="79375"/>
                        <a:pt x="0" y="75821"/>
                        <a:pt x="0" y="71437"/>
                      </a:cubicBezTo>
                      <a:lnTo>
                        <a:pt x="0" y="7937"/>
                      </a:lnTo>
                      <a:cubicBezTo>
                        <a:pt x="0" y="3554"/>
                        <a:pt x="3554" y="0"/>
                        <a:pt x="7937" y="0"/>
                      </a:cubicBezTo>
                      <a:lnTo>
                        <a:pt x="103187" y="0"/>
                      </a:lnTo>
                      <a:cubicBezTo>
                        <a:pt x="107571" y="0"/>
                        <a:pt x="111125" y="3554"/>
                        <a:pt x="111125" y="7937"/>
                      </a:cubicBezTo>
                      <a:lnTo>
                        <a:pt x="111125" y="31750"/>
                      </a:lnTo>
                    </a:path>
                  </a:pathLst>
                </a:custGeom>
                <a:noFill/>
                <a:ln w="15875">
                  <a:solidFill>
                    <a:srgbClr val="841600"/>
                  </a:solidFill>
                </a:ln>
              </p:spPr>
            </p:sp>
            <p:sp>
              <p:nvSpPr>
                <p:cNvPr id="19" name="Freeform 19"/>
                <p:cNvSpPr/>
                <p:nvPr/>
              </p:nvSpPr>
              <p:spPr>
                <a:xfrm>
                  <a:off x="550862" y="1919287"/>
                  <a:ext cx="111125" cy="79375"/>
                </a:xfrm>
                <a:custGeom>
                  <a:avLst/>
                  <a:gdLst/>
                  <a:ahLst/>
                  <a:cxnLst/>
                  <a:rect l="l" t="t" r="r" b="b"/>
                  <a:pathLst>
                    <a:path w="111125" h="79375">
                      <a:moveTo>
                        <a:pt x="0" y="7937"/>
                      </a:moveTo>
                      <a:cubicBezTo>
                        <a:pt x="0" y="3554"/>
                        <a:pt x="3554" y="0"/>
                        <a:pt x="7937" y="0"/>
                      </a:cubicBezTo>
                      <a:lnTo>
                        <a:pt x="103187" y="0"/>
                      </a:lnTo>
                      <a:cubicBezTo>
                        <a:pt x="107571" y="0"/>
                        <a:pt x="111125" y="3554"/>
                        <a:pt x="111125" y="7937"/>
                      </a:cubicBezTo>
                      <a:lnTo>
                        <a:pt x="111125" y="71437"/>
                      </a:lnTo>
                      <a:cubicBezTo>
                        <a:pt x="111125" y="75821"/>
                        <a:pt x="107571" y="79375"/>
                        <a:pt x="103187" y="79375"/>
                      </a:cubicBezTo>
                      <a:lnTo>
                        <a:pt x="7937" y="79375"/>
                      </a:lnTo>
                      <a:cubicBezTo>
                        <a:pt x="3554" y="79375"/>
                        <a:pt x="0" y="75821"/>
                        <a:pt x="0" y="71437"/>
                      </a:cubicBezTo>
                      <a:lnTo>
                        <a:pt x="0" y="7937"/>
                      </a:lnTo>
                    </a:path>
                  </a:pathLst>
                </a:custGeom>
                <a:noFill/>
                <a:ln w="15875">
                  <a:solidFill>
                    <a:srgbClr val="841600"/>
                  </a:solidFill>
                </a:ln>
              </p:spPr>
            </p:sp>
            <p:sp>
              <p:nvSpPr>
                <p:cNvPr id="20" name="Freeform 20"/>
                <p:cNvSpPr/>
                <p:nvPr/>
              </p:nvSpPr>
              <p:spPr>
                <a:xfrm>
                  <a:off x="590550" y="19431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841600"/>
                  </a:solidFill>
                </a:ln>
              </p:spPr>
            </p:sp>
          </p:grpSp>
          <p:sp>
            <p:nvSpPr>
              <p:cNvPr id="22" name="TextBox 22"/>
              <p:cNvSpPr txBox="1"/>
              <p:nvPr/>
            </p:nvSpPr>
            <p:spPr>
              <a:xfrm>
                <a:off x="757238" y="1893570"/>
                <a:ext cx="494157" cy="176212"/>
              </a:xfrm>
              <a:prstGeom prst="rect">
                <a:avLst/>
              </a:prstGeom>
              <a:noFill/>
              <a:ln>
                <a:noFill/>
              </a:ln>
            </p:spPr>
            <p:txBody>
              <a:bodyPr wrap="none" lIns="0" tIns="0" rIns="0" bIns="0" anchor="t" anchorCtr="0">
                <a:spAutoFit/>
              </a:bodyPr>
              <a:lstStyle/>
              <a:p>
                <a:pPr algn="l"/>
                <a:r>
                  <a:rPr lang="zh-CN" sz="900" dirty="0">
                    <a:solidFill>
                      <a:srgbClr val="1A1A1A"/>
                    </a:solidFill>
                    <a:latin typeface="+mn-lt"/>
                    <a:ea typeface="+mn-ea"/>
                    <a:cs typeface="+mn-cs"/>
                  </a:rPr>
                  <a:t>贷款定价</a:t>
                </a:r>
              </a:p>
            </p:txBody>
          </p:sp>
          <p:sp>
            <p:nvSpPr>
              <p:cNvPr id="23" name="Rectangle 23"/>
              <p:cNvSpPr/>
              <p:nvPr/>
            </p:nvSpPr>
            <p:spPr>
              <a:xfrm>
                <a:off x="419100" y="2266950"/>
                <a:ext cx="1028700" cy="381000"/>
              </a:xfrm>
              <a:prstGeom prst="roundRect">
                <a:avLst>
                  <a:gd name="adj" fmla="val 15000"/>
                </a:avLst>
              </a:prstGeom>
              <a:solidFill>
                <a:srgbClr val="EFF5FD"/>
              </a:solidFill>
              <a:ln w="9525">
                <a:solidFill>
                  <a:srgbClr val="D7E2F2"/>
                </a:solidFill>
              </a:ln>
            </p:spPr>
          </p:sp>
          <p:grpSp>
            <p:nvGrpSpPr>
              <p:cNvPr id="29" name="Group 29"/>
              <p:cNvGrpSpPr/>
              <p:nvPr/>
            </p:nvGrpSpPr>
            <p:grpSpPr>
              <a:xfrm>
                <a:off x="534987" y="2386012"/>
                <a:ext cx="111125" cy="142875"/>
                <a:chOff x="534987" y="2386012"/>
                <a:chExt cx="111125" cy="142875"/>
              </a:xfrm>
            </p:grpSpPr>
            <p:sp>
              <p:nvSpPr>
                <p:cNvPr id="24" name="Freeform 24"/>
                <p:cNvSpPr/>
                <p:nvPr/>
              </p:nvSpPr>
              <p:spPr>
                <a:xfrm>
                  <a:off x="606425" y="23860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841600"/>
                  </a:solidFill>
                </a:ln>
              </p:spPr>
            </p:sp>
            <p:sp>
              <p:nvSpPr>
                <p:cNvPr id="25" name="Freeform 25"/>
                <p:cNvSpPr/>
                <p:nvPr/>
              </p:nvSpPr>
              <p:spPr>
                <a:xfrm>
                  <a:off x="534987" y="23860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841600"/>
                  </a:solidFill>
                </a:ln>
              </p:spPr>
            </p:sp>
            <p:sp>
              <p:nvSpPr>
                <p:cNvPr id="26" name="Freeform 26"/>
                <p:cNvSpPr/>
                <p:nvPr/>
              </p:nvSpPr>
              <p:spPr>
                <a:xfrm>
                  <a:off x="566737" y="2433637"/>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27" name="Freeform 27"/>
                <p:cNvSpPr/>
                <p:nvPr/>
              </p:nvSpPr>
              <p:spPr>
                <a:xfrm>
                  <a:off x="566737" y="2465387"/>
                  <a:ext cx="47625" cy="9525"/>
                </a:xfrm>
                <a:custGeom>
                  <a:avLst/>
                  <a:gdLst/>
                  <a:ahLst/>
                  <a:cxnLst/>
                  <a:rect l="l" t="t" r="r" b="b"/>
                  <a:pathLst>
                    <a:path w="47625" h="9525">
                      <a:moveTo>
                        <a:pt x="0" y="0"/>
                      </a:moveTo>
                      <a:lnTo>
                        <a:pt x="47625" y="0"/>
                      </a:lnTo>
                    </a:path>
                  </a:pathLst>
                </a:custGeom>
                <a:noFill/>
                <a:ln w="15875">
                  <a:solidFill>
                    <a:srgbClr val="841600"/>
                  </a:solidFill>
                </a:ln>
              </p:spPr>
            </p:sp>
            <p:sp>
              <p:nvSpPr>
                <p:cNvPr id="28" name="Freeform 28"/>
                <p:cNvSpPr/>
                <p:nvPr/>
              </p:nvSpPr>
              <p:spPr>
                <a:xfrm>
                  <a:off x="566737" y="2497137"/>
                  <a:ext cx="47625" cy="9525"/>
                </a:xfrm>
                <a:custGeom>
                  <a:avLst/>
                  <a:gdLst/>
                  <a:ahLst/>
                  <a:cxnLst/>
                  <a:rect l="l" t="t" r="r" b="b"/>
                  <a:pathLst>
                    <a:path w="47625" h="9525">
                      <a:moveTo>
                        <a:pt x="0" y="0"/>
                      </a:moveTo>
                      <a:lnTo>
                        <a:pt x="47625" y="0"/>
                      </a:lnTo>
                    </a:path>
                  </a:pathLst>
                </a:custGeom>
                <a:noFill/>
                <a:ln w="15875">
                  <a:solidFill>
                    <a:srgbClr val="841600"/>
                  </a:solidFill>
                </a:ln>
              </p:spPr>
            </p:sp>
          </p:grpSp>
          <p:sp>
            <p:nvSpPr>
              <p:cNvPr id="30" name="TextBox 30"/>
              <p:cNvSpPr txBox="1"/>
              <p:nvPr/>
            </p:nvSpPr>
            <p:spPr>
              <a:xfrm>
                <a:off x="757238" y="2407920"/>
                <a:ext cx="494157" cy="176212"/>
              </a:xfrm>
              <a:prstGeom prst="rect">
                <a:avLst/>
              </a:prstGeom>
              <a:noFill/>
              <a:ln>
                <a:noFill/>
              </a:ln>
            </p:spPr>
            <p:txBody>
              <a:bodyPr wrap="none" lIns="0" tIns="0" rIns="0" bIns="0" anchor="t" anchorCtr="0">
                <a:spAutoFit/>
              </a:bodyPr>
              <a:lstStyle/>
              <a:p>
                <a:pPr algn="l"/>
                <a:r>
                  <a:rPr lang="zh-CN" sz="900" dirty="0">
                    <a:solidFill>
                      <a:srgbClr val="1A1A1A"/>
                    </a:solidFill>
                    <a:latin typeface="+mn-lt"/>
                    <a:ea typeface="+mn-ea"/>
                    <a:cs typeface="+mn-cs"/>
                  </a:rPr>
                  <a:t>债券投资</a:t>
                </a:r>
              </a:p>
            </p:txBody>
          </p:sp>
        </p:grpSp>
        <p:grpSp>
          <p:nvGrpSpPr>
            <p:cNvPr id="59" name="liability-side"/>
            <p:cNvGrpSpPr/>
            <p:nvPr/>
          </p:nvGrpSpPr>
          <p:grpSpPr>
            <a:xfrm>
              <a:off x="2724150" y="1409700"/>
              <a:ext cx="1028700" cy="1428750"/>
              <a:chOff x="2724150" y="1409700"/>
              <a:chExt cx="1028700" cy="1428750"/>
            </a:xfrm>
          </p:grpSpPr>
          <p:sp>
            <p:nvSpPr>
              <p:cNvPr id="32" name="Rectangle 32"/>
              <p:cNvSpPr/>
              <p:nvPr/>
            </p:nvSpPr>
            <p:spPr>
              <a:xfrm>
                <a:off x="2819400" y="1409700"/>
                <a:ext cx="666750" cy="209550"/>
              </a:xfrm>
              <a:prstGeom prst="roundRect">
                <a:avLst>
                  <a:gd name="adj" fmla="val 18182"/>
                </a:avLst>
              </a:prstGeom>
              <a:solidFill>
                <a:srgbClr val="841600"/>
              </a:solidFill>
              <a:ln>
                <a:noFill/>
              </a:ln>
            </p:spPr>
          </p:sp>
          <p:sp>
            <p:nvSpPr>
              <p:cNvPr id="33" name="TextBox 33"/>
              <p:cNvSpPr txBox="1"/>
              <p:nvPr/>
            </p:nvSpPr>
            <p:spPr>
              <a:xfrm>
                <a:off x="2982430" y="147304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负债端</a:t>
                </a:r>
              </a:p>
            </p:txBody>
          </p:sp>
          <p:sp>
            <p:nvSpPr>
              <p:cNvPr id="34" name="Rectangle 34"/>
              <p:cNvSpPr/>
              <p:nvPr/>
            </p:nvSpPr>
            <p:spPr>
              <a:xfrm>
                <a:off x="2724150" y="1714500"/>
                <a:ext cx="1028700" cy="323850"/>
              </a:xfrm>
              <a:prstGeom prst="roundRect">
                <a:avLst>
                  <a:gd name="adj" fmla="val 17647"/>
                </a:avLst>
              </a:prstGeom>
              <a:solidFill>
                <a:srgbClr val="EFF5FD"/>
              </a:solidFill>
              <a:ln w="9525">
                <a:solidFill>
                  <a:srgbClr val="D7E2F2"/>
                </a:solidFill>
              </a:ln>
            </p:spPr>
          </p:sp>
          <p:grpSp>
            <p:nvGrpSpPr>
              <p:cNvPr id="43" name="Group 43"/>
              <p:cNvGrpSpPr/>
              <p:nvPr/>
            </p:nvGrpSpPr>
            <p:grpSpPr>
              <a:xfrm>
                <a:off x="2824162" y="1804987"/>
                <a:ext cx="144463" cy="152400"/>
                <a:chOff x="2824162" y="1804987"/>
                <a:chExt cx="144463" cy="152400"/>
              </a:xfrm>
            </p:grpSpPr>
            <p:sp>
              <p:nvSpPr>
                <p:cNvPr id="35" name="Freeform 35"/>
                <p:cNvSpPr/>
                <p:nvPr/>
              </p:nvSpPr>
              <p:spPr>
                <a:xfrm>
                  <a:off x="2824162" y="1947862"/>
                  <a:ext cx="142875" cy="9525"/>
                </a:xfrm>
                <a:custGeom>
                  <a:avLst/>
                  <a:gdLst/>
                  <a:ahLst/>
                  <a:cxnLst/>
                  <a:rect l="l" t="t" r="r" b="b"/>
                  <a:pathLst>
                    <a:path w="142875" h="9525">
                      <a:moveTo>
                        <a:pt x="0" y="0"/>
                      </a:moveTo>
                      <a:lnTo>
                        <a:pt x="142875" y="0"/>
                      </a:lnTo>
                    </a:path>
                  </a:pathLst>
                </a:custGeom>
                <a:noFill/>
                <a:ln w="15875">
                  <a:solidFill>
                    <a:srgbClr val="841600"/>
                  </a:solidFill>
                </a:ln>
              </p:spPr>
            </p:sp>
            <p:sp>
              <p:nvSpPr>
                <p:cNvPr id="36" name="Freeform 36"/>
                <p:cNvSpPr/>
                <p:nvPr/>
              </p:nvSpPr>
              <p:spPr>
                <a:xfrm>
                  <a:off x="2824162" y="1860550"/>
                  <a:ext cx="142875" cy="9525"/>
                </a:xfrm>
                <a:custGeom>
                  <a:avLst/>
                  <a:gdLst/>
                  <a:ahLst/>
                  <a:cxnLst/>
                  <a:rect l="l" t="t" r="r" b="b"/>
                  <a:pathLst>
                    <a:path w="142875" h="9525">
                      <a:moveTo>
                        <a:pt x="0" y="0"/>
                      </a:moveTo>
                      <a:lnTo>
                        <a:pt x="142875" y="0"/>
                      </a:lnTo>
                    </a:path>
                  </a:pathLst>
                </a:custGeom>
                <a:noFill/>
                <a:ln w="15875">
                  <a:solidFill>
                    <a:srgbClr val="841600"/>
                  </a:solidFill>
                </a:ln>
              </p:spPr>
            </p:sp>
            <p:sp>
              <p:nvSpPr>
                <p:cNvPr id="37" name="Freeform 37"/>
                <p:cNvSpPr/>
                <p:nvPr/>
              </p:nvSpPr>
              <p:spPr>
                <a:xfrm>
                  <a:off x="2840037" y="1804987"/>
                  <a:ext cx="111125" cy="23812"/>
                </a:xfrm>
                <a:custGeom>
                  <a:avLst/>
                  <a:gdLst/>
                  <a:ahLst/>
                  <a:cxnLst/>
                  <a:rect l="l" t="t" r="r" b="b"/>
                  <a:pathLst>
                    <a:path w="111125" h="23812">
                      <a:moveTo>
                        <a:pt x="0" y="23812"/>
                      </a:moveTo>
                      <a:lnTo>
                        <a:pt x="55562" y="0"/>
                      </a:lnTo>
                      <a:lnTo>
                        <a:pt x="111125" y="23812"/>
                      </a:lnTo>
                    </a:path>
                  </a:pathLst>
                </a:custGeom>
                <a:noFill/>
                <a:ln w="15875">
                  <a:solidFill>
                    <a:srgbClr val="841600"/>
                  </a:solidFill>
                </a:ln>
              </p:spPr>
            </p:sp>
            <p:sp>
              <p:nvSpPr>
                <p:cNvPr id="38" name="Freeform 38"/>
                <p:cNvSpPr/>
                <p:nvPr/>
              </p:nvSpPr>
              <p:spPr>
                <a:xfrm>
                  <a:off x="2832100" y="1860550"/>
                  <a:ext cx="9525" cy="87312"/>
                </a:xfrm>
                <a:custGeom>
                  <a:avLst/>
                  <a:gdLst/>
                  <a:ahLst/>
                  <a:cxnLst/>
                  <a:rect l="l" t="t" r="r" b="b"/>
                  <a:pathLst>
                    <a:path w="9525" h="87312">
                      <a:moveTo>
                        <a:pt x="0" y="0"/>
                      </a:moveTo>
                      <a:lnTo>
                        <a:pt x="0" y="87312"/>
                      </a:lnTo>
                    </a:path>
                  </a:pathLst>
                </a:custGeom>
                <a:noFill/>
                <a:ln w="15875">
                  <a:solidFill>
                    <a:srgbClr val="841600"/>
                  </a:solidFill>
                </a:ln>
              </p:spPr>
            </p:sp>
            <p:sp>
              <p:nvSpPr>
                <p:cNvPr id="39" name="Freeform 39"/>
                <p:cNvSpPr/>
                <p:nvPr/>
              </p:nvSpPr>
              <p:spPr>
                <a:xfrm>
                  <a:off x="2959100" y="1860550"/>
                  <a:ext cx="9525" cy="87312"/>
                </a:xfrm>
                <a:custGeom>
                  <a:avLst/>
                  <a:gdLst/>
                  <a:ahLst/>
                  <a:cxnLst/>
                  <a:rect l="l" t="t" r="r" b="b"/>
                  <a:pathLst>
                    <a:path w="9525" h="87312">
                      <a:moveTo>
                        <a:pt x="0" y="0"/>
                      </a:moveTo>
                      <a:lnTo>
                        <a:pt x="0" y="87312"/>
                      </a:lnTo>
                    </a:path>
                  </a:pathLst>
                </a:custGeom>
                <a:noFill/>
                <a:ln w="15875">
                  <a:solidFill>
                    <a:srgbClr val="841600"/>
                  </a:solidFill>
                </a:ln>
              </p:spPr>
            </p:sp>
            <p:sp>
              <p:nvSpPr>
                <p:cNvPr id="40" name="Freeform 40"/>
                <p:cNvSpPr/>
                <p:nvPr/>
              </p:nvSpPr>
              <p:spPr>
                <a:xfrm>
                  <a:off x="2863850" y="1892300"/>
                  <a:ext cx="9525" cy="23812"/>
                </a:xfrm>
                <a:custGeom>
                  <a:avLst/>
                  <a:gdLst/>
                  <a:ahLst/>
                  <a:cxnLst/>
                  <a:rect l="l" t="t" r="r" b="b"/>
                  <a:pathLst>
                    <a:path w="9525" h="23812">
                      <a:moveTo>
                        <a:pt x="0" y="0"/>
                      </a:moveTo>
                      <a:lnTo>
                        <a:pt x="0" y="23812"/>
                      </a:lnTo>
                    </a:path>
                  </a:pathLst>
                </a:custGeom>
                <a:noFill/>
                <a:ln w="15875">
                  <a:solidFill>
                    <a:srgbClr val="841600"/>
                  </a:solidFill>
                </a:ln>
              </p:spPr>
            </p:sp>
            <p:sp>
              <p:nvSpPr>
                <p:cNvPr id="41" name="Freeform 41"/>
                <p:cNvSpPr/>
                <p:nvPr/>
              </p:nvSpPr>
              <p:spPr>
                <a:xfrm>
                  <a:off x="2895600" y="1892300"/>
                  <a:ext cx="9525" cy="23812"/>
                </a:xfrm>
                <a:custGeom>
                  <a:avLst/>
                  <a:gdLst/>
                  <a:ahLst/>
                  <a:cxnLst/>
                  <a:rect l="l" t="t" r="r" b="b"/>
                  <a:pathLst>
                    <a:path w="9525" h="23812">
                      <a:moveTo>
                        <a:pt x="0" y="0"/>
                      </a:moveTo>
                      <a:lnTo>
                        <a:pt x="0" y="23812"/>
                      </a:lnTo>
                    </a:path>
                  </a:pathLst>
                </a:custGeom>
                <a:noFill/>
                <a:ln w="15875">
                  <a:solidFill>
                    <a:srgbClr val="841600"/>
                  </a:solidFill>
                </a:ln>
              </p:spPr>
            </p:sp>
            <p:sp>
              <p:nvSpPr>
                <p:cNvPr id="42" name="Freeform 42"/>
                <p:cNvSpPr/>
                <p:nvPr/>
              </p:nvSpPr>
              <p:spPr>
                <a:xfrm>
                  <a:off x="2927350" y="1892300"/>
                  <a:ext cx="9525" cy="23812"/>
                </a:xfrm>
                <a:custGeom>
                  <a:avLst/>
                  <a:gdLst/>
                  <a:ahLst/>
                  <a:cxnLst/>
                  <a:rect l="l" t="t" r="r" b="b"/>
                  <a:pathLst>
                    <a:path w="9525" h="23812">
                      <a:moveTo>
                        <a:pt x="0" y="0"/>
                      </a:moveTo>
                      <a:lnTo>
                        <a:pt x="0" y="23812"/>
                      </a:lnTo>
                    </a:path>
                  </a:pathLst>
                </a:custGeom>
                <a:noFill/>
                <a:ln w="15875">
                  <a:solidFill>
                    <a:srgbClr val="841600"/>
                  </a:solidFill>
                </a:ln>
              </p:spPr>
            </p:sp>
          </p:grpSp>
          <p:sp>
            <p:nvSpPr>
              <p:cNvPr id="44" name="TextBox 44"/>
              <p:cNvSpPr txBox="1"/>
              <p:nvPr/>
            </p:nvSpPr>
            <p:spPr>
              <a:xfrm>
                <a:off x="3062288" y="1826895"/>
                <a:ext cx="251841" cy="176212"/>
              </a:xfrm>
              <a:prstGeom prst="rect">
                <a:avLst/>
              </a:prstGeom>
              <a:noFill/>
              <a:ln>
                <a:noFill/>
              </a:ln>
            </p:spPr>
            <p:txBody>
              <a:bodyPr wrap="none" lIns="0" tIns="0" rIns="0" bIns="0" anchor="t" anchorCtr="0">
                <a:spAutoFit/>
              </a:bodyPr>
              <a:lstStyle/>
              <a:p>
                <a:pPr algn="l"/>
                <a:r>
                  <a:rPr lang="zh-CN" sz="900" dirty="0">
                    <a:solidFill>
                      <a:srgbClr val="1A1A1A"/>
                    </a:solidFill>
                    <a:latin typeface="+mn-lt"/>
                    <a:ea typeface="+mn-ea"/>
                    <a:cs typeface="+mn-cs"/>
                  </a:rPr>
                  <a:t>存款</a:t>
                </a:r>
              </a:p>
            </p:txBody>
          </p:sp>
          <p:sp>
            <p:nvSpPr>
              <p:cNvPr id="45" name="Rectangle 45"/>
              <p:cNvSpPr/>
              <p:nvPr/>
            </p:nvSpPr>
            <p:spPr>
              <a:xfrm>
                <a:off x="2724150" y="2114550"/>
                <a:ext cx="1028700" cy="323850"/>
              </a:xfrm>
              <a:prstGeom prst="roundRect">
                <a:avLst>
                  <a:gd name="adj" fmla="val 17647"/>
                </a:avLst>
              </a:prstGeom>
              <a:solidFill>
                <a:srgbClr val="EFF5FD"/>
              </a:solidFill>
              <a:ln w="9525">
                <a:solidFill>
                  <a:srgbClr val="D7E2F2"/>
                </a:solidFill>
              </a:ln>
            </p:spPr>
          </p:sp>
          <p:grpSp>
            <p:nvGrpSpPr>
              <p:cNvPr id="50" name="Group 50"/>
              <p:cNvGrpSpPr/>
              <p:nvPr/>
            </p:nvGrpSpPr>
            <p:grpSpPr>
              <a:xfrm>
                <a:off x="2824162" y="2205037"/>
                <a:ext cx="142875" cy="142875"/>
                <a:chOff x="2824162" y="2205037"/>
                <a:chExt cx="142875" cy="142875"/>
              </a:xfrm>
            </p:grpSpPr>
            <p:sp>
              <p:nvSpPr>
                <p:cNvPr id="46" name="Freeform 46"/>
                <p:cNvSpPr/>
                <p:nvPr/>
              </p:nvSpPr>
              <p:spPr>
                <a:xfrm>
                  <a:off x="2840037" y="220503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841600"/>
                  </a:solidFill>
                </a:ln>
              </p:spPr>
            </p:sp>
            <p:sp>
              <p:nvSpPr>
                <p:cNvPr id="47" name="Freeform 47"/>
                <p:cNvSpPr/>
                <p:nvPr/>
              </p:nvSpPr>
              <p:spPr>
                <a:xfrm>
                  <a:off x="2824162" y="230028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841600"/>
                  </a:solidFill>
                </a:ln>
              </p:spPr>
            </p:sp>
            <p:sp>
              <p:nvSpPr>
                <p:cNvPr id="48" name="Freeform 48"/>
                <p:cNvSpPr/>
                <p:nvPr/>
              </p:nvSpPr>
              <p:spPr>
                <a:xfrm>
                  <a:off x="2927350" y="2206069"/>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841600"/>
                  </a:solidFill>
                </a:ln>
              </p:spPr>
            </p:sp>
            <p:sp>
              <p:nvSpPr>
                <p:cNvPr id="49" name="Freeform 49"/>
                <p:cNvSpPr/>
                <p:nvPr/>
              </p:nvSpPr>
              <p:spPr>
                <a:xfrm>
                  <a:off x="2943225" y="2301478"/>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841600"/>
                  </a:solidFill>
                </a:ln>
              </p:spPr>
            </p:sp>
          </p:grpSp>
          <p:sp>
            <p:nvSpPr>
              <p:cNvPr id="51" name="TextBox 51"/>
              <p:cNvSpPr txBox="1"/>
              <p:nvPr/>
            </p:nvSpPr>
            <p:spPr>
              <a:xfrm>
                <a:off x="3062288" y="2226945"/>
                <a:ext cx="494157" cy="176212"/>
              </a:xfrm>
              <a:prstGeom prst="rect">
                <a:avLst/>
              </a:prstGeom>
              <a:noFill/>
              <a:ln>
                <a:noFill/>
              </a:ln>
            </p:spPr>
            <p:txBody>
              <a:bodyPr wrap="none" lIns="0" tIns="0" rIns="0" bIns="0" anchor="t" anchorCtr="0">
                <a:spAutoFit/>
              </a:bodyPr>
              <a:lstStyle/>
              <a:p>
                <a:pPr algn="l"/>
                <a:r>
                  <a:rPr lang="zh-CN" sz="900" dirty="0">
                    <a:solidFill>
                      <a:srgbClr val="1A1A1A"/>
                    </a:solidFill>
                    <a:latin typeface="+mn-lt"/>
                    <a:ea typeface="+mn-ea"/>
                    <a:cs typeface="+mn-cs"/>
                  </a:rPr>
                  <a:t>同业负债</a:t>
                </a:r>
              </a:p>
            </p:txBody>
          </p:sp>
          <p:sp>
            <p:nvSpPr>
              <p:cNvPr id="52" name="Rectangle 52"/>
              <p:cNvSpPr/>
              <p:nvPr/>
            </p:nvSpPr>
            <p:spPr>
              <a:xfrm>
                <a:off x="2724150" y="2514600"/>
                <a:ext cx="1028700" cy="323850"/>
              </a:xfrm>
              <a:prstGeom prst="roundRect">
                <a:avLst>
                  <a:gd name="adj" fmla="val 17647"/>
                </a:avLst>
              </a:prstGeom>
              <a:solidFill>
                <a:srgbClr val="EFF5FD"/>
              </a:solidFill>
              <a:ln w="9525">
                <a:solidFill>
                  <a:srgbClr val="D7E2F2"/>
                </a:solidFill>
              </a:ln>
            </p:spPr>
          </p:sp>
          <p:grpSp>
            <p:nvGrpSpPr>
              <p:cNvPr id="57" name="Group 57"/>
              <p:cNvGrpSpPr/>
              <p:nvPr/>
            </p:nvGrpSpPr>
            <p:grpSpPr>
              <a:xfrm>
                <a:off x="2824162" y="2613025"/>
                <a:ext cx="142875" cy="136525"/>
                <a:chOff x="2824162" y="2613025"/>
                <a:chExt cx="142875" cy="136525"/>
              </a:xfrm>
            </p:grpSpPr>
            <p:sp>
              <p:nvSpPr>
                <p:cNvPr id="53" name="Freeform 53"/>
                <p:cNvSpPr/>
                <p:nvPr/>
              </p:nvSpPr>
              <p:spPr>
                <a:xfrm>
                  <a:off x="2824162" y="2676525"/>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841600"/>
                  </a:solidFill>
                </a:ln>
              </p:spPr>
            </p:sp>
            <p:sp>
              <p:nvSpPr>
                <p:cNvPr id="54" name="Freeform 54"/>
                <p:cNvSpPr/>
                <p:nvPr/>
              </p:nvSpPr>
              <p:spPr>
                <a:xfrm>
                  <a:off x="2919412" y="2644775"/>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841600"/>
                  </a:solidFill>
                </a:ln>
              </p:spPr>
            </p:sp>
            <p:sp>
              <p:nvSpPr>
                <p:cNvPr id="55" name="Freeform 55"/>
                <p:cNvSpPr/>
                <p:nvPr/>
              </p:nvSpPr>
              <p:spPr>
                <a:xfrm>
                  <a:off x="2871787" y="2613025"/>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841600"/>
                  </a:solidFill>
                </a:ln>
              </p:spPr>
            </p:sp>
            <p:sp>
              <p:nvSpPr>
                <p:cNvPr id="56" name="Freeform 56"/>
                <p:cNvSpPr/>
                <p:nvPr/>
              </p:nvSpPr>
              <p:spPr>
                <a:xfrm>
                  <a:off x="2832100" y="2740025"/>
                  <a:ext cx="111125" cy="9525"/>
                </a:xfrm>
                <a:custGeom>
                  <a:avLst/>
                  <a:gdLst/>
                  <a:ahLst/>
                  <a:cxnLst/>
                  <a:rect l="l" t="t" r="r" b="b"/>
                  <a:pathLst>
                    <a:path w="111125" h="9525">
                      <a:moveTo>
                        <a:pt x="0" y="0"/>
                      </a:moveTo>
                      <a:lnTo>
                        <a:pt x="111125" y="0"/>
                      </a:lnTo>
                    </a:path>
                  </a:pathLst>
                </a:custGeom>
                <a:noFill/>
                <a:ln w="15875">
                  <a:solidFill>
                    <a:srgbClr val="841600"/>
                  </a:solidFill>
                </a:ln>
              </p:spPr>
            </p:sp>
          </p:grpSp>
          <p:sp>
            <p:nvSpPr>
              <p:cNvPr id="58" name="TextBox 58"/>
              <p:cNvSpPr txBox="1"/>
              <p:nvPr/>
            </p:nvSpPr>
            <p:spPr>
              <a:xfrm>
                <a:off x="3062288" y="2631043"/>
                <a:ext cx="588391" cy="169069"/>
              </a:xfrm>
              <a:prstGeom prst="rect">
                <a:avLst/>
              </a:prstGeom>
              <a:noFill/>
              <a:ln>
                <a:noFill/>
              </a:ln>
            </p:spPr>
            <p:txBody>
              <a:bodyPr wrap="none" lIns="0" tIns="0" rIns="0" bIns="0" anchor="t" anchorCtr="0">
                <a:spAutoFit/>
              </a:bodyPr>
              <a:lstStyle/>
              <a:p>
                <a:pPr algn="l"/>
                <a:r>
                  <a:rPr lang="zh-CN" sz="860" dirty="0">
                    <a:solidFill>
                      <a:srgbClr val="1A1A1A"/>
                    </a:solidFill>
                    <a:latin typeface="+mn-lt"/>
                    <a:ea typeface="+mn-ea"/>
                    <a:cs typeface="+mn-cs"/>
                  </a:rPr>
                  <a:t>市场化资金</a:t>
                </a:r>
              </a:p>
            </p:txBody>
          </p:sp>
        </p:grpSp>
        <p:grpSp>
          <p:nvGrpSpPr>
            <p:cNvPr id="76" name="scale-figure"/>
            <p:cNvGrpSpPr/>
            <p:nvPr/>
          </p:nvGrpSpPr>
          <p:grpSpPr>
            <a:xfrm>
              <a:off x="1362075" y="1828800"/>
              <a:ext cx="1447800" cy="1562100"/>
              <a:chOff x="1362075" y="1828800"/>
              <a:chExt cx="1447800" cy="1562100"/>
            </a:xfrm>
          </p:grpSpPr>
          <p:sp>
            <p:nvSpPr>
              <p:cNvPr id="60" name="Line 60"/>
              <p:cNvSpPr/>
              <p:nvPr/>
            </p:nvSpPr>
            <p:spPr>
              <a:xfrm>
                <a:off x="1447800" y="1943100"/>
                <a:ext cx="228600" cy="9525"/>
              </a:xfrm>
              <a:custGeom>
                <a:avLst/>
                <a:gdLst/>
                <a:ahLst/>
                <a:cxnLst/>
                <a:rect l="l" t="t" r="r" b="b"/>
                <a:pathLst>
                  <a:path w="228600" h="9525">
                    <a:moveTo>
                      <a:pt x="0" y="0"/>
                    </a:moveTo>
                    <a:lnTo>
                      <a:pt x="228600" y="0"/>
                    </a:lnTo>
                  </a:path>
                </a:pathLst>
              </a:custGeom>
              <a:noFill/>
              <a:ln w="9525">
                <a:solidFill>
                  <a:srgbClr val="ECC1B8"/>
                </a:solidFill>
                <a:custDash>
                  <a:ds d="300000" sp="300000"/>
                </a:custDash>
              </a:ln>
            </p:spPr>
          </p:sp>
          <p:sp>
            <p:nvSpPr>
              <p:cNvPr id="61" name="Line 61"/>
              <p:cNvSpPr/>
              <p:nvPr/>
            </p:nvSpPr>
            <p:spPr>
              <a:xfrm>
                <a:off x="1447800" y="2457450"/>
                <a:ext cx="228600" cy="9525"/>
              </a:xfrm>
              <a:custGeom>
                <a:avLst/>
                <a:gdLst/>
                <a:ahLst/>
                <a:cxnLst/>
                <a:rect l="l" t="t" r="r" b="b"/>
                <a:pathLst>
                  <a:path w="228600" h="9525">
                    <a:moveTo>
                      <a:pt x="0" y="0"/>
                    </a:moveTo>
                    <a:lnTo>
                      <a:pt x="228600" y="0"/>
                    </a:lnTo>
                  </a:path>
                </a:pathLst>
              </a:custGeom>
              <a:noFill/>
              <a:ln w="9525">
                <a:solidFill>
                  <a:srgbClr val="ECC1B8"/>
                </a:solidFill>
                <a:custDash>
                  <a:ds d="300000" sp="300000"/>
                </a:custDash>
              </a:ln>
            </p:spPr>
          </p:sp>
          <p:sp>
            <p:nvSpPr>
              <p:cNvPr id="62" name="Line 62"/>
              <p:cNvSpPr/>
              <p:nvPr/>
            </p:nvSpPr>
            <p:spPr>
              <a:xfrm>
                <a:off x="2495550" y="1943100"/>
                <a:ext cx="228600" cy="9525"/>
              </a:xfrm>
              <a:custGeom>
                <a:avLst/>
                <a:gdLst/>
                <a:ahLst/>
                <a:cxnLst/>
                <a:rect l="l" t="t" r="r" b="b"/>
                <a:pathLst>
                  <a:path w="228600" h="9525">
                    <a:moveTo>
                      <a:pt x="0" y="0"/>
                    </a:moveTo>
                    <a:lnTo>
                      <a:pt x="228600" y="0"/>
                    </a:lnTo>
                  </a:path>
                </a:pathLst>
              </a:custGeom>
              <a:noFill/>
              <a:ln w="9525">
                <a:solidFill>
                  <a:srgbClr val="ECC1B8"/>
                </a:solidFill>
                <a:custDash>
                  <a:ds d="300000" sp="300000"/>
                </a:custDash>
              </a:ln>
            </p:spPr>
          </p:sp>
          <p:sp>
            <p:nvSpPr>
              <p:cNvPr id="63" name="Line 63"/>
              <p:cNvSpPr/>
              <p:nvPr/>
            </p:nvSpPr>
            <p:spPr>
              <a:xfrm>
                <a:off x="2495550" y="2457450"/>
                <a:ext cx="228600" cy="9525"/>
              </a:xfrm>
              <a:custGeom>
                <a:avLst/>
                <a:gdLst/>
                <a:ahLst/>
                <a:cxnLst/>
                <a:rect l="l" t="t" r="r" b="b"/>
                <a:pathLst>
                  <a:path w="228600" h="9525">
                    <a:moveTo>
                      <a:pt x="0" y="0"/>
                    </a:moveTo>
                    <a:lnTo>
                      <a:pt x="228600" y="0"/>
                    </a:lnTo>
                  </a:path>
                </a:pathLst>
              </a:custGeom>
              <a:noFill/>
              <a:ln w="9525">
                <a:solidFill>
                  <a:srgbClr val="ECC1B8"/>
                </a:solidFill>
                <a:custDash>
                  <a:ds d="300000" sp="300000"/>
                </a:custDash>
              </a:ln>
            </p:spPr>
          </p:sp>
          <p:sp>
            <p:nvSpPr>
              <p:cNvPr id="64" name="Rectangle 64"/>
              <p:cNvSpPr/>
              <p:nvPr/>
            </p:nvSpPr>
            <p:spPr>
              <a:xfrm>
                <a:off x="2057400" y="1866900"/>
                <a:ext cx="57150" cy="990600"/>
              </a:xfrm>
              <a:prstGeom prst="rect">
                <a:avLst/>
              </a:prstGeom>
              <a:solidFill>
                <a:srgbClr val="841600"/>
              </a:solidFill>
              <a:ln>
                <a:noFill/>
              </a:ln>
            </p:spPr>
          </p:sp>
          <p:sp>
            <p:nvSpPr>
              <p:cNvPr id="65" name="Rectangle 65"/>
              <p:cNvSpPr/>
              <p:nvPr/>
            </p:nvSpPr>
            <p:spPr>
              <a:xfrm>
                <a:off x="1428750" y="1866900"/>
                <a:ext cx="1314450" cy="47625"/>
              </a:xfrm>
              <a:prstGeom prst="roundRect">
                <a:avLst>
                  <a:gd name="adj" fmla="val 40000"/>
                </a:avLst>
              </a:prstGeom>
              <a:solidFill>
                <a:srgbClr val="841600"/>
              </a:solidFill>
              <a:ln>
                <a:noFill/>
              </a:ln>
            </p:spPr>
          </p:sp>
          <p:sp>
            <p:nvSpPr>
              <p:cNvPr id="66" name="Ellipse 66"/>
              <p:cNvSpPr/>
              <p:nvPr/>
            </p:nvSpPr>
            <p:spPr>
              <a:xfrm>
                <a:off x="2028825" y="1828800"/>
                <a:ext cx="114300" cy="114300"/>
              </a:xfrm>
              <a:prstGeom prst="ellipse">
                <a:avLst/>
              </a:prstGeom>
              <a:solidFill>
                <a:srgbClr val="C9482E"/>
              </a:solidFill>
              <a:ln>
                <a:noFill/>
              </a:ln>
            </p:spPr>
          </p:sp>
          <p:sp>
            <p:nvSpPr>
              <p:cNvPr id="67" name="Line 67"/>
              <p:cNvSpPr/>
              <p:nvPr/>
            </p:nvSpPr>
            <p:spPr>
              <a:xfrm>
                <a:off x="1400175" y="1905000"/>
                <a:ext cx="57150" cy="342900"/>
              </a:xfrm>
              <a:custGeom>
                <a:avLst/>
                <a:gdLst/>
                <a:ahLst/>
                <a:cxnLst/>
                <a:rect l="l" t="t" r="r" b="b"/>
                <a:pathLst>
                  <a:path w="57150" h="342900">
                    <a:moveTo>
                      <a:pt x="57150" y="0"/>
                    </a:moveTo>
                    <a:lnTo>
                      <a:pt x="0" y="342900"/>
                    </a:lnTo>
                  </a:path>
                </a:pathLst>
              </a:custGeom>
              <a:noFill/>
              <a:ln w="14288">
                <a:solidFill>
                  <a:srgbClr val="C9482E"/>
                </a:solidFill>
              </a:ln>
            </p:spPr>
          </p:sp>
          <p:sp>
            <p:nvSpPr>
              <p:cNvPr id="68" name="Line 68"/>
              <p:cNvSpPr/>
              <p:nvPr/>
            </p:nvSpPr>
            <p:spPr>
              <a:xfrm>
                <a:off x="1457325" y="1905000"/>
                <a:ext cx="381000" cy="342900"/>
              </a:xfrm>
              <a:custGeom>
                <a:avLst/>
                <a:gdLst/>
                <a:ahLst/>
                <a:cxnLst/>
                <a:rect l="l" t="t" r="r" b="b"/>
                <a:pathLst>
                  <a:path w="381000" h="342900">
                    <a:moveTo>
                      <a:pt x="0" y="0"/>
                    </a:moveTo>
                    <a:lnTo>
                      <a:pt x="381000" y="342900"/>
                    </a:lnTo>
                  </a:path>
                </a:pathLst>
              </a:custGeom>
              <a:noFill/>
              <a:ln w="14288">
                <a:solidFill>
                  <a:srgbClr val="C9482E"/>
                </a:solidFill>
              </a:ln>
            </p:spPr>
          </p:sp>
          <p:sp>
            <p:nvSpPr>
              <p:cNvPr id="69" name="Line 69"/>
              <p:cNvSpPr/>
              <p:nvPr/>
            </p:nvSpPr>
            <p:spPr>
              <a:xfrm>
                <a:off x="2333625" y="1905000"/>
                <a:ext cx="381000" cy="342900"/>
              </a:xfrm>
              <a:custGeom>
                <a:avLst/>
                <a:gdLst/>
                <a:ahLst/>
                <a:cxnLst/>
                <a:rect l="l" t="t" r="r" b="b"/>
                <a:pathLst>
                  <a:path w="381000" h="342900">
                    <a:moveTo>
                      <a:pt x="381000" y="0"/>
                    </a:moveTo>
                    <a:lnTo>
                      <a:pt x="0" y="342900"/>
                    </a:lnTo>
                  </a:path>
                </a:pathLst>
              </a:custGeom>
              <a:noFill/>
              <a:ln w="14288">
                <a:solidFill>
                  <a:srgbClr val="C9482E"/>
                </a:solidFill>
              </a:ln>
            </p:spPr>
          </p:sp>
          <p:sp>
            <p:nvSpPr>
              <p:cNvPr id="70" name="Line 70"/>
              <p:cNvSpPr/>
              <p:nvPr/>
            </p:nvSpPr>
            <p:spPr>
              <a:xfrm>
                <a:off x="2714625" y="1905000"/>
                <a:ext cx="57150" cy="342900"/>
              </a:xfrm>
              <a:custGeom>
                <a:avLst/>
                <a:gdLst/>
                <a:ahLst/>
                <a:cxnLst/>
                <a:rect l="l" t="t" r="r" b="b"/>
                <a:pathLst>
                  <a:path w="57150" h="342900">
                    <a:moveTo>
                      <a:pt x="0" y="0"/>
                    </a:moveTo>
                    <a:lnTo>
                      <a:pt x="57150" y="342900"/>
                    </a:lnTo>
                  </a:path>
                </a:pathLst>
              </a:custGeom>
              <a:noFill/>
              <a:ln w="14288">
                <a:solidFill>
                  <a:srgbClr val="C9482E"/>
                </a:solidFill>
              </a:ln>
            </p:spPr>
          </p:sp>
          <p:sp>
            <p:nvSpPr>
              <p:cNvPr id="71" name="Freeform 71"/>
              <p:cNvSpPr/>
              <p:nvPr/>
            </p:nvSpPr>
            <p:spPr>
              <a:xfrm rot="10800000">
                <a:off x="1362075" y="2247900"/>
                <a:ext cx="514350" cy="152400"/>
              </a:xfrm>
              <a:prstGeom prst="trapezoid">
                <a:avLst>
                  <a:gd name="adj" fmla="val 50000"/>
                </a:avLst>
              </a:prstGeom>
              <a:solidFill>
                <a:srgbClr val="C9482E"/>
              </a:solidFill>
              <a:ln>
                <a:noFill/>
              </a:ln>
            </p:spPr>
          </p:sp>
          <p:sp>
            <p:nvSpPr>
              <p:cNvPr id="72" name="Freeform 72"/>
              <p:cNvSpPr/>
              <p:nvPr/>
            </p:nvSpPr>
            <p:spPr>
              <a:xfrm rot="10800000">
                <a:off x="2295525" y="2247900"/>
                <a:ext cx="514350" cy="152400"/>
              </a:xfrm>
              <a:prstGeom prst="trapezoid">
                <a:avLst>
                  <a:gd name="adj" fmla="val 50000"/>
                </a:avLst>
              </a:prstGeom>
              <a:solidFill>
                <a:srgbClr val="C9482E"/>
              </a:solidFill>
              <a:ln>
                <a:noFill/>
              </a:ln>
            </p:spPr>
          </p:sp>
          <p:sp>
            <p:nvSpPr>
              <p:cNvPr id="73" name="Freeform 73"/>
              <p:cNvSpPr/>
              <p:nvPr/>
            </p:nvSpPr>
            <p:spPr>
              <a:xfrm>
                <a:off x="1943100" y="2819400"/>
                <a:ext cx="285750" cy="228600"/>
              </a:xfrm>
              <a:prstGeom prst="triangle">
                <a:avLst/>
              </a:prstGeom>
              <a:solidFill>
                <a:srgbClr val="841600"/>
              </a:solidFill>
              <a:ln>
                <a:noFill/>
              </a:ln>
            </p:spPr>
          </p:sp>
          <p:sp>
            <p:nvSpPr>
              <p:cNvPr id="74" name="Rectangle 74"/>
              <p:cNvSpPr/>
              <p:nvPr/>
            </p:nvSpPr>
            <p:spPr>
              <a:xfrm>
                <a:off x="1866900" y="3048000"/>
                <a:ext cx="438150" cy="76200"/>
              </a:xfrm>
              <a:prstGeom prst="roundRect">
                <a:avLst>
                  <a:gd name="adj" fmla="val 37500"/>
                </a:avLst>
              </a:prstGeom>
              <a:solidFill>
                <a:srgbClr val="841600"/>
              </a:solidFill>
              <a:ln>
                <a:noFill/>
              </a:ln>
            </p:spPr>
          </p:sp>
          <p:sp>
            <p:nvSpPr>
              <p:cNvPr id="75" name="Polygon 75"/>
              <p:cNvSpPr/>
              <p:nvPr/>
            </p:nvSpPr>
            <p:spPr>
              <a:xfrm>
                <a:off x="2009775" y="3257550"/>
                <a:ext cx="152400" cy="133350"/>
              </a:xfrm>
              <a:custGeom>
                <a:avLst/>
                <a:gdLst/>
                <a:ahLst/>
                <a:cxnLst/>
                <a:rect l="l" t="t" r="r" b="b"/>
                <a:pathLst>
                  <a:path w="152400" h="133350">
                    <a:moveTo>
                      <a:pt x="0" y="0"/>
                    </a:moveTo>
                    <a:lnTo>
                      <a:pt x="152400" y="0"/>
                    </a:lnTo>
                    <a:lnTo>
                      <a:pt x="76200" y="133350"/>
                    </a:lnTo>
                    <a:close/>
                  </a:path>
                </a:pathLst>
              </a:custGeom>
              <a:solidFill>
                <a:srgbClr val="E3907F"/>
              </a:solidFill>
              <a:ln>
                <a:noFill/>
              </a:ln>
            </p:spPr>
          </p:sp>
        </p:grpSp>
        <p:sp>
          <p:nvSpPr>
            <p:cNvPr id="77" name="Rectangle 77"/>
            <p:cNvSpPr/>
            <p:nvPr/>
          </p:nvSpPr>
          <p:spPr>
            <a:xfrm>
              <a:off x="419100" y="3543300"/>
              <a:ext cx="3181350" cy="419100"/>
            </a:xfrm>
            <a:prstGeom prst="roundRect">
              <a:avLst>
                <a:gd name="adj" fmla="val 13636"/>
              </a:avLst>
            </a:prstGeom>
            <a:solidFill>
              <a:srgbClr val="EFF5FD"/>
            </a:solidFill>
            <a:ln w="9525">
              <a:solidFill>
                <a:srgbClr val="D7E2F2"/>
              </a:solidFill>
            </a:ln>
          </p:spPr>
        </p:sp>
        <p:sp>
          <p:nvSpPr>
            <p:cNvPr id="78" name="TextBox 78"/>
            <p:cNvSpPr txBox="1"/>
            <p:nvPr/>
          </p:nvSpPr>
          <p:spPr>
            <a:xfrm>
              <a:off x="1099414" y="3688556"/>
              <a:ext cx="1820723"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规模｜结构｜期限动态平衡</a:t>
              </a:r>
            </a:p>
          </p:txBody>
        </p:sp>
      </p:grpSp>
      <p:grpSp>
        <p:nvGrpSpPr>
          <p:cNvPr id="112" name="nim-bridge"/>
          <p:cNvGrpSpPr/>
          <p:nvPr/>
        </p:nvGrpSpPr>
        <p:grpSpPr>
          <a:xfrm>
            <a:off x="4038600" y="876300"/>
            <a:ext cx="3924300" cy="4267200"/>
            <a:chOff x="4038600" y="876300"/>
            <a:chExt cx="3924300" cy="4267200"/>
          </a:xfrm>
        </p:grpSpPr>
        <p:sp>
          <p:nvSpPr>
            <p:cNvPr id="80" name="Rectangle 80"/>
            <p:cNvSpPr/>
            <p:nvPr/>
          </p:nvSpPr>
          <p:spPr>
            <a:xfrm>
              <a:off x="4038600" y="876300"/>
              <a:ext cx="3924300" cy="4267200"/>
            </a:xfrm>
            <a:prstGeom prst="roundRect">
              <a:avLst>
                <a:gd name="adj" fmla="val 2427"/>
              </a:avLst>
            </a:prstGeom>
            <a:solidFill>
              <a:srgbClr val="FFFFFF"/>
            </a:solidFill>
            <a:ln w="9525">
              <a:solidFill>
                <a:srgbClr val="D7E2F2"/>
              </a:solidFill>
            </a:ln>
          </p:spPr>
        </p:sp>
        <p:sp>
          <p:nvSpPr>
            <p:cNvPr id="81" name="Rectangle 81"/>
            <p:cNvSpPr/>
            <p:nvPr/>
          </p:nvSpPr>
          <p:spPr>
            <a:xfrm>
              <a:off x="4038600" y="876300"/>
              <a:ext cx="3924300" cy="381000"/>
            </a:xfrm>
            <a:prstGeom prst="roundRect">
              <a:avLst>
                <a:gd name="adj" fmla="val 25000"/>
              </a:avLst>
            </a:prstGeom>
            <a:solidFill>
              <a:srgbClr val="841600"/>
            </a:solidFill>
            <a:ln>
              <a:noFill/>
            </a:ln>
          </p:spPr>
        </p:sp>
        <p:sp>
          <p:nvSpPr>
            <p:cNvPr id="82" name="Rectangle 82"/>
            <p:cNvSpPr/>
            <p:nvPr/>
          </p:nvSpPr>
          <p:spPr>
            <a:xfrm>
              <a:off x="4038600" y="1085850"/>
              <a:ext cx="3924300" cy="171450"/>
            </a:xfrm>
            <a:prstGeom prst="rect">
              <a:avLst/>
            </a:prstGeom>
            <a:solidFill>
              <a:srgbClr val="841600"/>
            </a:solidFill>
            <a:ln>
              <a:noFill/>
            </a:ln>
          </p:spPr>
        </p:sp>
        <p:sp>
          <p:nvSpPr>
            <p:cNvPr id="83" name="TextBox 83"/>
            <p:cNvSpPr txBox="1"/>
            <p:nvPr/>
          </p:nvSpPr>
          <p:spPr>
            <a:xfrm>
              <a:off x="5348478" y="1003935"/>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净息差收入拆解桥</a:t>
              </a:r>
            </a:p>
          </p:txBody>
        </p:sp>
        <p:sp>
          <p:nvSpPr>
            <p:cNvPr id="84" name="TextBox 84"/>
            <p:cNvSpPr txBox="1"/>
            <p:nvPr/>
          </p:nvSpPr>
          <p:spPr>
            <a:xfrm>
              <a:off x="4186238" y="1415891"/>
              <a:ext cx="340690"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单位：</a:t>
              </a:r>
            </a:p>
          </p:txBody>
        </p:sp>
        <p:sp>
          <p:nvSpPr>
            <p:cNvPr id="85" name="TextBox 85"/>
            <p:cNvSpPr txBox="1"/>
            <p:nvPr/>
          </p:nvSpPr>
          <p:spPr>
            <a:xfrm>
              <a:off x="4510088" y="1415891"/>
              <a:ext cx="107682" cy="161925"/>
            </a:xfrm>
            <a:prstGeom prst="rect">
              <a:avLst/>
            </a:prstGeom>
            <a:noFill/>
            <a:ln>
              <a:noFill/>
            </a:ln>
          </p:spPr>
          <p:txBody>
            <a:bodyPr wrap="none" lIns="0" tIns="0" rIns="0" bIns="0" anchor="t" anchorCtr="0">
              <a:spAutoFit/>
            </a:bodyPr>
            <a:lstStyle/>
            <a:p>
              <a:pPr algn="l"/>
              <a:r>
                <a:rPr lang="zh-CN" sz="820" dirty="0">
                  <a:solidFill>
                    <a:srgbClr val="7E605A"/>
                  </a:solidFill>
                  <a:latin typeface="Arial"/>
                  <a:ea typeface="Arial"/>
                  <a:cs typeface="Arial"/>
                </a:rPr>
                <a:t>%</a:t>
              </a:r>
            </a:p>
          </p:txBody>
        </p:sp>
        <p:sp>
          <p:nvSpPr>
            <p:cNvPr id="86" name="Line 86"/>
            <p:cNvSpPr/>
            <p:nvPr/>
          </p:nvSpPr>
          <p:spPr>
            <a:xfrm>
              <a:off x="4191000" y="3810000"/>
              <a:ext cx="3619500" cy="9525"/>
            </a:xfrm>
            <a:custGeom>
              <a:avLst/>
              <a:gdLst/>
              <a:ahLst/>
              <a:cxnLst/>
              <a:rect l="l" t="t" r="r" b="b"/>
              <a:pathLst>
                <a:path w="3619500" h="9525">
                  <a:moveTo>
                    <a:pt x="0" y="0"/>
                  </a:moveTo>
                  <a:lnTo>
                    <a:pt x="3619500" y="0"/>
                  </a:lnTo>
                </a:path>
              </a:pathLst>
            </a:custGeom>
            <a:noFill/>
            <a:ln w="9525">
              <a:solidFill>
                <a:srgbClr val="ECC1B8"/>
              </a:solidFill>
            </a:ln>
          </p:spPr>
        </p:sp>
        <p:sp>
          <p:nvSpPr>
            <p:cNvPr id="87" name="Rectangle 87"/>
            <p:cNvSpPr/>
            <p:nvPr/>
          </p:nvSpPr>
          <p:spPr>
            <a:xfrm>
              <a:off x="4381500" y="2476500"/>
              <a:ext cx="419100" cy="1333500"/>
            </a:xfrm>
            <a:prstGeom prst="rect">
              <a:avLst/>
            </a:prstGeom>
            <a:solidFill>
              <a:srgbClr val="C9482E"/>
            </a:solidFill>
            <a:ln>
              <a:noFill/>
            </a:ln>
          </p:spPr>
        </p:sp>
        <p:sp>
          <p:nvSpPr>
            <p:cNvPr id="88" name="Rectangle 88"/>
            <p:cNvSpPr/>
            <p:nvPr/>
          </p:nvSpPr>
          <p:spPr>
            <a:xfrm>
              <a:off x="5029200" y="2047875"/>
              <a:ext cx="419100" cy="428625"/>
            </a:xfrm>
            <a:prstGeom prst="rect">
              <a:avLst/>
            </a:prstGeom>
            <a:solidFill>
              <a:srgbClr val="C9482E"/>
            </a:solidFill>
            <a:ln>
              <a:noFill/>
            </a:ln>
          </p:spPr>
        </p:sp>
        <p:sp>
          <p:nvSpPr>
            <p:cNvPr id="89" name="Rectangle 89"/>
            <p:cNvSpPr/>
            <p:nvPr/>
          </p:nvSpPr>
          <p:spPr>
            <a:xfrm>
              <a:off x="5676900" y="2047875"/>
              <a:ext cx="419100" cy="523875"/>
            </a:xfrm>
            <a:prstGeom prst="rect">
              <a:avLst/>
            </a:prstGeom>
            <a:solidFill>
              <a:srgbClr val="ED4D31"/>
            </a:solidFill>
            <a:ln>
              <a:noFill/>
            </a:ln>
          </p:spPr>
        </p:sp>
        <p:sp>
          <p:nvSpPr>
            <p:cNvPr id="90" name="Rectangle 90"/>
            <p:cNvSpPr/>
            <p:nvPr/>
          </p:nvSpPr>
          <p:spPr>
            <a:xfrm>
              <a:off x="6324600" y="2286000"/>
              <a:ext cx="419100" cy="285750"/>
            </a:xfrm>
            <a:prstGeom prst="rect">
              <a:avLst/>
            </a:prstGeom>
            <a:solidFill>
              <a:srgbClr val="C9482E"/>
            </a:solidFill>
            <a:ln>
              <a:noFill/>
            </a:ln>
          </p:spPr>
        </p:sp>
        <p:sp>
          <p:nvSpPr>
            <p:cNvPr id="91" name="Rectangle 91"/>
            <p:cNvSpPr/>
            <p:nvPr/>
          </p:nvSpPr>
          <p:spPr>
            <a:xfrm>
              <a:off x="6972300" y="2286000"/>
              <a:ext cx="419100" cy="1524000"/>
            </a:xfrm>
            <a:prstGeom prst="rect">
              <a:avLst/>
            </a:prstGeom>
            <a:solidFill>
              <a:srgbClr val="841600"/>
            </a:solidFill>
            <a:ln>
              <a:noFill/>
            </a:ln>
          </p:spPr>
        </p:sp>
        <p:sp>
          <p:nvSpPr>
            <p:cNvPr id="92" name="Line 92"/>
            <p:cNvSpPr/>
            <p:nvPr/>
          </p:nvSpPr>
          <p:spPr>
            <a:xfrm>
              <a:off x="4800600" y="2476500"/>
              <a:ext cx="228600" cy="9525"/>
            </a:xfrm>
            <a:custGeom>
              <a:avLst/>
              <a:gdLst/>
              <a:ahLst/>
              <a:cxnLst/>
              <a:rect l="l" t="t" r="r" b="b"/>
              <a:pathLst>
                <a:path w="228600" h="9525">
                  <a:moveTo>
                    <a:pt x="0" y="0"/>
                  </a:moveTo>
                  <a:lnTo>
                    <a:pt x="228600" y="0"/>
                  </a:lnTo>
                </a:path>
              </a:pathLst>
            </a:custGeom>
            <a:noFill/>
            <a:ln w="9525">
              <a:solidFill>
                <a:srgbClr val="987F7A"/>
              </a:solidFill>
              <a:custDash>
                <a:ds d="300000" sp="200000"/>
              </a:custDash>
            </a:ln>
          </p:spPr>
        </p:sp>
        <p:sp>
          <p:nvSpPr>
            <p:cNvPr id="93" name="Line 93"/>
            <p:cNvSpPr/>
            <p:nvPr/>
          </p:nvSpPr>
          <p:spPr>
            <a:xfrm>
              <a:off x="5448300" y="2047875"/>
              <a:ext cx="228600" cy="9525"/>
            </a:xfrm>
            <a:custGeom>
              <a:avLst/>
              <a:gdLst/>
              <a:ahLst/>
              <a:cxnLst/>
              <a:rect l="l" t="t" r="r" b="b"/>
              <a:pathLst>
                <a:path w="228600" h="9525">
                  <a:moveTo>
                    <a:pt x="0" y="0"/>
                  </a:moveTo>
                  <a:lnTo>
                    <a:pt x="228600" y="0"/>
                  </a:lnTo>
                </a:path>
              </a:pathLst>
            </a:custGeom>
            <a:noFill/>
            <a:ln w="9525">
              <a:solidFill>
                <a:srgbClr val="987F7A"/>
              </a:solidFill>
              <a:custDash>
                <a:ds d="300000" sp="200000"/>
              </a:custDash>
            </a:ln>
          </p:spPr>
        </p:sp>
        <p:sp>
          <p:nvSpPr>
            <p:cNvPr id="94" name="Line 94"/>
            <p:cNvSpPr/>
            <p:nvPr/>
          </p:nvSpPr>
          <p:spPr>
            <a:xfrm>
              <a:off x="6096000" y="2571750"/>
              <a:ext cx="228600" cy="9525"/>
            </a:xfrm>
            <a:custGeom>
              <a:avLst/>
              <a:gdLst/>
              <a:ahLst/>
              <a:cxnLst/>
              <a:rect l="l" t="t" r="r" b="b"/>
              <a:pathLst>
                <a:path w="228600" h="9525">
                  <a:moveTo>
                    <a:pt x="0" y="0"/>
                  </a:moveTo>
                  <a:lnTo>
                    <a:pt x="228600" y="0"/>
                  </a:lnTo>
                </a:path>
              </a:pathLst>
            </a:custGeom>
            <a:noFill/>
            <a:ln w="9525">
              <a:solidFill>
                <a:srgbClr val="987F7A"/>
              </a:solidFill>
              <a:custDash>
                <a:ds d="300000" sp="200000"/>
              </a:custDash>
            </a:ln>
          </p:spPr>
        </p:sp>
        <p:sp>
          <p:nvSpPr>
            <p:cNvPr id="95" name="Line 95"/>
            <p:cNvSpPr/>
            <p:nvPr/>
          </p:nvSpPr>
          <p:spPr>
            <a:xfrm>
              <a:off x="6743700" y="2286000"/>
              <a:ext cx="228600" cy="9525"/>
            </a:xfrm>
            <a:custGeom>
              <a:avLst/>
              <a:gdLst/>
              <a:ahLst/>
              <a:cxnLst/>
              <a:rect l="l" t="t" r="r" b="b"/>
              <a:pathLst>
                <a:path w="228600" h="9525">
                  <a:moveTo>
                    <a:pt x="0" y="0"/>
                  </a:moveTo>
                  <a:lnTo>
                    <a:pt x="228600" y="0"/>
                  </a:lnTo>
                </a:path>
              </a:pathLst>
            </a:custGeom>
            <a:noFill/>
            <a:ln w="9525">
              <a:solidFill>
                <a:srgbClr val="987F7A"/>
              </a:solidFill>
              <a:custDash>
                <a:ds d="300000" sp="200000"/>
              </a:custDash>
            </a:ln>
          </p:spPr>
        </p:sp>
        <p:sp>
          <p:nvSpPr>
            <p:cNvPr id="96" name="TextBox 96"/>
            <p:cNvSpPr txBox="1"/>
            <p:nvPr/>
          </p:nvSpPr>
          <p:spPr>
            <a:xfrm>
              <a:off x="6823700" y="2069306"/>
              <a:ext cx="716300"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 xml:space="preserve">≥1.72%　</a:t>
              </a:r>
            </a:p>
          </p:txBody>
        </p:sp>
        <p:sp>
          <p:nvSpPr>
            <p:cNvPr id="97" name="TextBox 97"/>
            <p:cNvSpPr txBox="1"/>
            <p:nvPr/>
          </p:nvSpPr>
          <p:spPr>
            <a:xfrm>
              <a:off x="4333875" y="3900488"/>
              <a:ext cx="514350" cy="147638"/>
            </a:xfrm>
            <a:prstGeom prst="rect">
              <a:avLst/>
            </a:prstGeom>
            <a:noFill/>
            <a:ln>
              <a:noFill/>
            </a:ln>
          </p:spPr>
          <p:txBody>
            <a:bodyPr wrap="none" lIns="0" tIns="0" rIns="0" bIns="0" anchor="t" anchorCtr="0">
              <a:spAutoFit/>
            </a:bodyPr>
            <a:lstStyle/>
            <a:p>
              <a:pPr algn="ctr"/>
              <a:r>
                <a:rPr lang="zh-CN" sz="750" dirty="0">
                  <a:solidFill>
                    <a:srgbClr val="473633"/>
                  </a:solidFill>
                  <a:latin typeface="+mn-lt"/>
                  <a:ea typeface="+mn-ea"/>
                  <a:cs typeface="+mn-cs"/>
                </a:rPr>
                <a:t>期初净息差</a:t>
              </a:r>
            </a:p>
          </p:txBody>
        </p:sp>
        <p:sp>
          <p:nvSpPr>
            <p:cNvPr id="98" name="TextBox 98"/>
            <p:cNvSpPr txBox="1"/>
            <p:nvPr/>
          </p:nvSpPr>
          <p:spPr>
            <a:xfrm>
              <a:off x="4981575" y="3900488"/>
              <a:ext cx="514350" cy="147638"/>
            </a:xfrm>
            <a:prstGeom prst="rect">
              <a:avLst/>
            </a:prstGeom>
            <a:noFill/>
            <a:ln>
              <a:noFill/>
            </a:ln>
          </p:spPr>
          <p:txBody>
            <a:bodyPr wrap="none" lIns="0" tIns="0" rIns="0" bIns="0" anchor="t" anchorCtr="0">
              <a:spAutoFit/>
            </a:bodyPr>
            <a:lstStyle/>
            <a:p>
              <a:pPr algn="ctr"/>
              <a:r>
                <a:rPr lang="zh-CN" sz="750" dirty="0">
                  <a:solidFill>
                    <a:srgbClr val="473633"/>
                  </a:solidFill>
                  <a:latin typeface="+mn-lt"/>
                  <a:ea typeface="+mn-ea"/>
                  <a:cs typeface="+mn-cs"/>
                </a:rPr>
                <a:t>资产收益率</a:t>
              </a:r>
            </a:p>
          </p:txBody>
        </p:sp>
        <p:sp>
          <p:nvSpPr>
            <p:cNvPr id="99" name="TextBox 99"/>
            <p:cNvSpPr txBox="1"/>
            <p:nvPr/>
          </p:nvSpPr>
          <p:spPr>
            <a:xfrm>
              <a:off x="5679758" y="3900488"/>
              <a:ext cx="413385" cy="147638"/>
            </a:xfrm>
            <a:prstGeom prst="rect">
              <a:avLst/>
            </a:prstGeom>
            <a:noFill/>
            <a:ln>
              <a:noFill/>
            </a:ln>
          </p:spPr>
          <p:txBody>
            <a:bodyPr wrap="none" lIns="0" tIns="0" rIns="0" bIns="0" anchor="t" anchorCtr="0">
              <a:spAutoFit/>
            </a:bodyPr>
            <a:lstStyle/>
            <a:p>
              <a:pPr algn="ctr"/>
              <a:r>
                <a:rPr lang="zh-CN" sz="750" dirty="0">
                  <a:solidFill>
                    <a:srgbClr val="473633"/>
                  </a:solidFill>
                  <a:latin typeface="+mn-lt"/>
                  <a:ea typeface="+mn-ea"/>
                  <a:cs typeface="+mn-cs"/>
                </a:rPr>
                <a:t>负债成本</a:t>
              </a:r>
            </a:p>
          </p:txBody>
        </p:sp>
        <p:sp>
          <p:nvSpPr>
            <p:cNvPr id="100" name="TextBox 100"/>
            <p:cNvSpPr txBox="1"/>
            <p:nvPr/>
          </p:nvSpPr>
          <p:spPr>
            <a:xfrm>
              <a:off x="6327458" y="3900488"/>
              <a:ext cx="413385" cy="147638"/>
            </a:xfrm>
            <a:prstGeom prst="rect">
              <a:avLst/>
            </a:prstGeom>
            <a:noFill/>
            <a:ln>
              <a:noFill/>
            </a:ln>
          </p:spPr>
          <p:txBody>
            <a:bodyPr wrap="none" lIns="0" tIns="0" rIns="0" bIns="0" anchor="t" anchorCtr="0">
              <a:spAutoFit/>
            </a:bodyPr>
            <a:lstStyle/>
            <a:p>
              <a:pPr algn="ctr"/>
              <a:r>
                <a:rPr lang="zh-CN" sz="750" dirty="0">
                  <a:solidFill>
                    <a:srgbClr val="473633"/>
                  </a:solidFill>
                  <a:latin typeface="+mn-lt"/>
                  <a:ea typeface="+mn-ea"/>
                  <a:cs typeface="+mn-cs"/>
                </a:rPr>
                <a:t>结构优化</a:t>
              </a:r>
            </a:p>
          </p:txBody>
        </p:sp>
        <p:sp>
          <p:nvSpPr>
            <p:cNvPr id="101" name="TextBox 101"/>
            <p:cNvSpPr txBox="1"/>
            <p:nvPr/>
          </p:nvSpPr>
          <p:spPr>
            <a:xfrm>
              <a:off x="6924675" y="3900488"/>
              <a:ext cx="514350" cy="147638"/>
            </a:xfrm>
            <a:prstGeom prst="rect">
              <a:avLst/>
            </a:prstGeom>
            <a:noFill/>
            <a:ln>
              <a:noFill/>
            </a:ln>
          </p:spPr>
          <p:txBody>
            <a:bodyPr wrap="none" lIns="0" tIns="0" rIns="0" bIns="0" anchor="t" anchorCtr="0">
              <a:spAutoFit/>
            </a:bodyPr>
            <a:lstStyle/>
            <a:p>
              <a:pPr algn="ctr"/>
              <a:r>
                <a:rPr lang="zh-CN" sz="750" dirty="0">
                  <a:solidFill>
                    <a:srgbClr val="473633"/>
                  </a:solidFill>
                  <a:latin typeface="+mn-lt"/>
                  <a:ea typeface="+mn-ea"/>
                  <a:cs typeface="+mn-cs"/>
                </a:rPr>
                <a:t>目标净息差</a:t>
              </a:r>
            </a:p>
          </p:txBody>
        </p:sp>
        <p:sp>
          <p:nvSpPr>
            <p:cNvPr id="102" name="Rectangle 102"/>
            <p:cNvSpPr/>
            <p:nvPr/>
          </p:nvSpPr>
          <p:spPr>
            <a:xfrm>
              <a:off x="4191000" y="4191000"/>
              <a:ext cx="3619500" cy="571500"/>
            </a:xfrm>
            <a:prstGeom prst="roundRect">
              <a:avLst>
                <a:gd name="adj" fmla="val 10000"/>
              </a:avLst>
            </a:prstGeom>
            <a:solidFill>
              <a:srgbClr val="EFF5FD"/>
            </a:solidFill>
            <a:ln w="9525">
              <a:solidFill>
                <a:srgbClr val="D7E2F2"/>
              </a:solidFill>
            </a:ln>
          </p:spPr>
        </p:sp>
        <p:sp>
          <p:nvSpPr>
            <p:cNvPr id="103" name="Ellipse 103"/>
            <p:cNvSpPr/>
            <p:nvPr/>
          </p:nvSpPr>
          <p:spPr>
            <a:xfrm>
              <a:off x="4362450" y="4324350"/>
              <a:ext cx="304800" cy="304800"/>
            </a:xfrm>
            <a:prstGeom prst="ellipse">
              <a:avLst/>
            </a:prstGeom>
            <a:solidFill>
              <a:srgbClr val="841600"/>
            </a:solidFill>
            <a:ln>
              <a:noFill/>
            </a:ln>
          </p:spPr>
        </p:sp>
        <p:grpSp>
          <p:nvGrpSpPr>
            <p:cNvPr id="109" name="Group 109"/>
            <p:cNvGrpSpPr/>
            <p:nvPr/>
          </p:nvGrpSpPr>
          <p:grpSpPr>
            <a:xfrm>
              <a:off x="4443412" y="4404249"/>
              <a:ext cx="142875" cy="143938"/>
              <a:chOff x="4443412" y="4404249"/>
              <a:chExt cx="142875" cy="143938"/>
            </a:xfrm>
          </p:grpSpPr>
          <p:sp>
            <p:nvSpPr>
              <p:cNvPr id="104" name="Freeform 104"/>
              <p:cNvSpPr/>
              <p:nvPr/>
            </p:nvSpPr>
            <p:spPr>
              <a:xfrm>
                <a:off x="4491037" y="446881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FFFFFF"/>
                </a:solidFill>
              </a:ln>
            </p:spPr>
          </p:sp>
          <p:sp>
            <p:nvSpPr>
              <p:cNvPr id="105" name="Freeform 105"/>
              <p:cNvSpPr/>
              <p:nvPr/>
            </p:nvSpPr>
            <p:spPr>
              <a:xfrm>
                <a:off x="4491037" y="449262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FFFFFF"/>
                </a:solidFill>
              </a:ln>
            </p:spPr>
          </p:sp>
          <p:sp>
            <p:nvSpPr>
              <p:cNvPr id="106" name="Freeform 106"/>
              <p:cNvSpPr/>
              <p:nvPr/>
            </p:nvSpPr>
            <p:spPr>
              <a:xfrm>
                <a:off x="4443412" y="440424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FFFFFF"/>
                </a:solidFill>
              </a:ln>
            </p:spPr>
          </p:sp>
          <p:sp>
            <p:nvSpPr>
              <p:cNvPr id="107" name="Freeform 107"/>
              <p:cNvSpPr/>
              <p:nvPr/>
            </p:nvSpPr>
            <p:spPr>
              <a:xfrm>
                <a:off x="4443412" y="442912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FFFFFF"/>
                </a:solidFill>
              </a:ln>
            </p:spPr>
          </p:sp>
          <p:sp>
            <p:nvSpPr>
              <p:cNvPr id="108" name="Freeform 108"/>
              <p:cNvSpPr/>
              <p:nvPr/>
            </p:nvSpPr>
            <p:spPr>
              <a:xfrm>
                <a:off x="4443412" y="446881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FFFFFF"/>
                </a:solidFill>
              </a:ln>
            </p:spPr>
          </p:sp>
        </p:grpSp>
        <p:sp>
          <p:nvSpPr>
            <p:cNvPr id="110" name="TextBox 110"/>
            <p:cNvSpPr txBox="1"/>
            <p:nvPr/>
          </p:nvSpPr>
          <p:spPr>
            <a:xfrm>
              <a:off x="4794885" y="4412456"/>
              <a:ext cx="91607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付息负债成本</a:t>
              </a:r>
            </a:p>
          </p:txBody>
        </p:sp>
        <p:sp>
          <p:nvSpPr>
            <p:cNvPr id="111" name="TextBox 111"/>
            <p:cNvSpPr txBox="1"/>
            <p:nvPr/>
          </p:nvSpPr>
          <p:spPr>
            <a:xfrm>
              <a:off x="5973318" y="4374832"/>
              <a:ext cx="1055189" cy="322707"/>
            </a:xfrm>
            <a:prstGeom prst="rect">
              <a:avLst/>
            </a:prstGeom>
            <a:noFill/>
            <a:ln>
              <a:noFill/>
            </a:ln>
          </p:spPr>
          <p:txBody>
            <a:bodyPr wrap="none" lIns="0" tIns="0" rIns="0" bIns="0" anchor="t" anchorCtr="0">
              <a:spAutoFit/>
            </a:bodyPr>
            <a:lstStyle/>
            <a:p>
              <a:pPr algn="l"/>
              <a:r>
                <a:rPr lang="zh-CN" sz="1650" b="1" dirty="0">
                  <a:solidFill>
                    <a:srgbClr val="841600"/>
                  </a:solidFill>
                  <a:latin typeface="+mn-lt"/>
                  <a:ea typeface="+mn-ea"/>
                  <a:cs typeface="+mn-cs"/>
                </a:rPr>
                <a:t xml:space="preserve">≤1.85%　</a:t>
              </a:r>
            </a:p>
          </p:txBody>
        </p:sp>
      </p:grpSp>
      <p:grpSp>
        <p:nvGrpSpPr>
          <p:cNvPr id="146" name="liquidity-monitor"/>
          <p:cNvGrpSpPr/>
          <p:nvPr/>
        </p:nvGrpSpPr>
        <p:grpSpPr>
          <a:xfrm>
            <a:off x="8096250" y="876300"/>
            <a:ext cx="3829050" cy="4267200"/>
            <a:chOff x="8096250" y="876300"/>
            <a:chExt cx="3829050" cy="4267200"/>
          </a:xfrm>
        </p:grpSpPr>
        <p:sp>
          <p:nvSpPr>
            <p:cNvPr id="113" name="Rectangle 113"/>
            <p:cNvSpPr/>
            <p:nvPr/>
          </p:nvSpPr>
          <p:spPr>
            <a:xfrm>
              <a:off x="8096250" y="876300"/>
              <a:ext cx="3829050" cy="4267200"/>
            </a:xfrm>
            <a:prstGeom prst="roundRect">
              <a:avLst>
                <a:gd name="adj" fmla="val 2488"/>
              </a:avLst>
            </a:prstGeom>
            <a:solidFill>
              <a:srgbClr val="FFFFFF"/>
            </a:solidFill>
            <a:ln w="9525">
              <a:solidFill>
                <a:srgbClr val="D7E2F2"/>
              </a:solidFill>
            </a:ln>
          </p:spPr>
        </p:sp>
        <p:sp>
          <p:nvSpPr>
            <p:cNvPr id="114" name="Rectangle 114"/>
            <p:cNvSpPr/>
            <p:nvPr/>
          </p:nvSpPr>
          <p:spPr>
            <a:xfrm>
              <a:off x="8096250" y="876300"/>
              <a:ext cx="3829050" cy="381000"/>
            </a:xfrm>
            <a:prstGeom prst="roundRect">
              <a:avLst>
                <a:gd name="adj" fmla="val 25000"/>
              </a:avLst>
            </a:prstGeom>
            <a:solidFill>
              <a:srgbClr val="841600"/>
            </a:solidFill>
            <a:ln>
              <a:noFill/>
            </a:ln>
          </p:spPr>
        </p:sp>
        <p:sp>
          <p:nvSpPr>
            <p:cNvPr id="115" name="Rectangle 115"/>
            <p:cNvSpPr/>
            <p:nvPr/>
          </p:nvSpPr>
          <p:spPr>
            <a:xfrm>
              <a:off x="8096250" y="1085850"/>
              <a:ext cx="3829050" cy="171450"/>
            </a:xfrm>
            <a:prstGeom prst="rect">
              <a:avLst/>
            </a:prstGeom>
            <a:solidFill>
              <a:srgbClr val="841600"/>
            </a:solidFill>
            <a:ln>
              <a:noFill/>
            </a:ln>
          </p:spPr>
        </p:sp>
        <p:sp>
          <p:nvSpPr>
            <p:cNvPr id="116" name="TextBox 116"/>
            <p:cNvSpPr txBox="1"/>
            <p:nvPr/>
          </p:nvSpPr>
          <p:spPr>
            <a:xfrm>
              <a:off x="9358503" y="1003935"/>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流动性与期限监测</a:t>
              </a:r>
            </a:p>
          </p:txBody>
        </p:sp>
        <p:sp>
          <p:nvSpPr>
            <p:cNvPr id="117" name="TextBox 117"/>
            <p:cNvSpPr txBox="1"/>
            <p:nvPr/>
          </p:nvSpPr>
          <p:spPr>
            <a:xfrm>
              <a:off x="9440037" y="1429702"/>
              <a:ext cx="1141476" cy="205359"/>
            </a:xfrm>
            <a:prstGeom prst="rect">
              <a:avLst/>
            </a:prstGeom>
            <a:noFill/>
            <a:ln>
              <a:noFill/>
            </a:ln>
          </p:spPr>
          <p:txBody>
            <a:bodyPr wrap="none" lIns="0" tIns="0" rIns="0" bIns="0" anchor="t" anchorCtr="0">
              <a:spAutoFit/>
            </a:bodyPr>
            <a:lstStyle/>
            <a:p>
              <a:pPr algn="ctr"/>
              <a:r>
                <a:rPr lang="zh-CN" sz="1050" b="1" dirty="0">
                  <a:solidFill>
                    <a:srgbClr val="1A1A1A"/>
                  </a:solidFill>
                  <a:latin typeface="+mn-lt"/>
                  <a:ea typeface="+mn-ea"/>
                  <a:cs typeface="+mn-cs"/>
                </a:rPr>
                <a:t>期限缺口动态监测</a:t>
              </a:r>
            </a:p>
          </p:txBody>
        </p:sp>
        <p:grpSp>
          <p:nvGrpSpPr>
            <p:cNvPr id="125" name="term-bands"/>
            <p:cNvGrpSpPr/>
            <p:nvPr/>
          </p:nvGrpSpPr>
          <p:grpSpPr>
            <a:xfrm>
              <a:off x="8248650" y="1676400"/>
              <a:ext cx="3524250" cy="495300"/>
              <a:chOff x="8248650" y="1676400"/>
              <a:chExt cx="3524250" cy="495300"/>
            </a:xfrm>
          </p:grpSpPr>
          <p:sp>
            <p:nvSpPr>
              <p:cNvPr id="118" name="Rectangle 118"/>
              <p:cNvSpPr/>
              <p:nvPr/>
            </p:nvSpPr>
            <p:spPr>
              <a:xfrm>
                <a:off x="8248650" y="1676400"/>
                <a:ext cx="1104900" cy="342900"/>
              </a:xfrm>
              <a:prstGeom prst="roundRect">
                <a:avLst>
                  <a:gd name="adj" fmla="val 11111"/>
                </a:avLst>
              </a:prstGeom>
              <a:solidFill>
                <a:srgbClr val="E8B4A9"/>
              </a:solidFill>
              <a:ln>
                <a:noFill/>
              </a:ln>
            </p:spPr>
          </p:sp>
          <p:sp>
            <p:nvSpPr>
              <p:cNvPr id="119" name="TextBox 119"/>
              <p:cNvSpPr txBox="1"/>
              <p:nvPr/>
            </p:nvSpPr>
            <p:spPr>
              <a:xfrm>
                <a:off x="8664219" y="1799749"/>
                <a:ext cx="273761" cy="190690"/>
              </a:xfrm>
              <a:prstGeom prst="rect">
                <a:avLst/>
              </a:prstGeom>
              <a:noFill/>
              <a:ln>
                <a:noFill/>
              </a:ln>
            </p:spPr>
            <p:txBody>
              <a:bodyPr wrap="none" lIns="0" tIns="0" rIns="0" bIns="0" anchor="t" anchorCtr="0">
                <a:spAutoFit/>
              </a:bodyPr>
              <a:lstStyle/>
              <a:p>
                <a:pPr algn="ctr"/>
                <a:r>
                  <a:rPr lang="zh-CN" sz="980" b="1" dirty="0">
                    <a:solidFill>
                      <a:srgbClr val="841600"/>
                    </a:solidFill>
                    <a:latin typeface="+mn-lt"/>
                    <a:ea typeface="+mn-ea"/>
                    <a:cs typeface="+mn-cs"/>
                  </a:rPr>
                  <a:t>短期</a:t>
                </a:r>
              </a:p>
            </p:txBody>
          </p:sp>
          <p:sp>
            <p:nvSpPr>
              <p:cNvPr id="120" name="Rectangle 120"/>
              <p:cNvSpPr/>
              <p:nvPr/>
            </p:nvSpPr>
            <p:spPr>
              <a:xfrm>
                <a:off x="9353550" y="1676400"/>
                <a:ext cx="1104900" cy="342900"/>
              </a:xfrm>
              <a:prstGeom prst="rect">
                <a:avLst/>
              </a:prstGeom>
              <a:solidFill>
                <a:srgbClr val="D9705B"/>
              </a:solidFill>
              <a:ln>
                <a:noFill/>
              </a:ln>
            </p:spPr>
          </p:sp>
          <p:sp>
            <p:nvSpPr>
              <p:cNvPr id="121" name="TextBox 121"/>
              <p:cNvSpPr txBox="1"/>
              <p:nvPr/>
            </p:nvSpPr>
            <p:spPr>
              <a:xfrm>
                <a:off x="9769119" y="17997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中期</a:t>
                </a:r>
              </a:p>
            </p:txBody>
          </p:sp>
          <p:sp>
            <p:nvSpPr>
              <p:cNvPr id="122" name="Rectangle 122"/>
              <p:cNvSpPr/>
              <p:nvPr/>
            </p:nvSpPr>
            <p:spPr>
              <a:xfrm>
                <a:off x="10458450" y="1676400"/>
                <a:ext cx="1314450" cy="342900"/>
              </a:xfrm>
              <a:prstGeom prst="roundRect">
                <a:avLst>
                  <a:gd name="adj" fmla="val 11111"/>
                </a:avLst>
              </a:prstGeom>
              <a:solidFill>
                <a:srgbClr val="841600"/>
              </a:solidFill>
              <a:ln>
                <a:noFill/>
              </a:ln>
            </p:spPr>
          </p:sp>
          <p:sp>
            <p:nvSpPr>
              <p:cNvPr id="123" name="TextBox 123"/>
              <p:cNvSpPr txBox="1"/>
              <p:nvPr/>
            </p:nvSpPr>
            <p:spPr>
              <a:xfrm>
                <a:off x="10978794" y="17997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长期</a:t>
                </a:r>
              </a:p>
            </p:txBody>
          </p:sp>
          <p:sp>
            <p:nvSpPr>
              <p:cNvPr id="124" name="Polygon 124"/>
              <p:cNvSpPr/>
              <p:nvPr/>
            </p:nvSpPr>
            <p:spPr>
              <a:xfrm>
                <a:off x="9829800" y="2057400"/>
                <a:ext cx="152400" cy="114300"/>
              </a:xfrm>
              <a:custGeom>
                <a:avLst/>
                <a:gdLst/>
                <a:ahLst/>
                <a:cxnLst/>
                <a:rect l="l" t="t" r="r" b="b"/>
                <a:pathLst>
                  <a:path w="152400" h="114300">
                    <a:moveTo>
                      <a:pt x="0" y="114300"/>
                    </a:moveTo>
                    <a:lnTo>
                      <a:pt x="152400" y="114300"/>
                    </a:lnTo>
                    <a:lnTo>
                      <a:pt x="76200" y="0"/>
                    </a:lnTo>
                    <a:close/>
                  </a:path>
                </a:pathLst>
              </a:custGeom>
              <a:solidFill>
                <a:srgbClr val="841600"/>
              </a:solidFill>
              <a:ln>
                <a:noFill/>
              </a:ln>
            </p:spPr>
          </p:sp>
        </p:grpSp>
        <p:sp>
          <p:nvSpPr>
            <p:cNvPr id="126" name="Line 126"/>
            <p:cNvSpPr/>
            <p:nvPr/>
          </p:nvSpPr>
          <p:spPr>
            <a:xfrm>
              <a:off x="8248650" y="2324100"/>
              <a:ext cx="3524250" cy="9525"/>
            </a:xfrm>
            <a:custGeom>
              <a:avLst/>
              <a:gdLst/>
              <a:ahLst/>
              <a:cxnLst/>
              <a:rect l="l" t="t" r="r" b="b"/>
              <a:pathLst>
                <a:path w="3524250" h="9525">
                  <a:moveTo>
                    <a:pt x="0" y="0"/>
                  </a:moveTo>
                  <a:lnTo>
                    <a:pt x="3524250" y="0"/>
                  </a:lnTo>
                </a:path>
              </a:pathLst>
            </a:custGeom>
            <a:noFill/>
            <a:ln w="9525">
              <a:solidFill>
                <a:srgbClr val="E5ECF6"/>
              </a:solidFill>
            </a:ln>
          </p:spPr>
        </p:sp>
        <p:grpSp>
          <p:nvGrpSpPr>
            <p:cNvPr id="135" name="gauge-lcr"/>
            <p:cNvGrpSpPr/>
            <p:nvPr/>
          </p:nvGrpSpPr>
          <p:grpSpPr>
            <a:xfrm>
              <a:off x="8548688" y="2485549"/>
              <a:ext cx="1000124" cy="1379696"/>
              <a:chOff x="8548688" y="2485549"/>
              <a:chExt cx="1000124" cy="1379696"/>
            </a:xfrm>
          </p:grpSpPr>
          <p:sp>
            <p:nvSpPr>
              <p:cNvPr id="127" name="TextBox 127"/>
              <p:cNvSpPr txBox="1"/>
              <p:nvPr/>
            </p:nvSpPr>
            <p:spPr>
              <a:xfrm>
                <a:off x="8857082" y="2485549"/>
                <a:ext cx="383336"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 xml:space="preserve">LCR　</a:t>
                </a:r>
              </a:p>
            </p:txBody>
          </p:sp>
          <p:sp>
            <p:nvSpPr>
              <p:cNvPr id="128" name="Freeform 128"/>
              <p:cNvSpPr/>
              <p:nvPr/>
            </p:nvSpPr>
            <p:spPr>
              <a:xfrm>
                <a:off x="8629650" y="2819400"/>
                <a:ext cx="419100" cy="419100"/>
              </a:xfrm>
              <a:custGeom>
                <a:avLst/>
                <a:gdLst/>
                <a:ahLst/>
                <a:cxnLst/>
                <a:rect l="l" t="t" r="r" b="b"/>
                <a:pathLst>
                  <a:path w="419100" h="419100">
                    <a:moveTo>
                      <a:pt x="0" y="419100"/>
                    </a:moveTo>
                    <a:cubicBezTo>
                      <a:pt x="0" y="187637"/>
                      <a:pt x="187637" y="0"/>
                      <a:pt x="419100" y="0"/>
                    </a:cubicBezTo>
                  </a:path>
                </a:pathLst>
              </a:custGeom>
              <a:noFill/>
              <a:ln w="133350">
                <a:solidFill>
                  <a:srgbClr val="ED4D31"/>
                </a:solidFill>
              </a:ln>
            </p:spPr>
          </p:sp>
          <p:sp>
            <p:nvSpPr>
              <p:cNvPr id="129" name="Freeform 129"/>
              <p:cNvSpPr/>
              <p:nvPr/>
            </p:nvSpPr>
            <p:spPr>
              <a:xfrm>
                <a:off x="9048750" y="2819400"/>
                <a:ext cx="419100" cy="419100"/>
              </a:xfrm>
              <a:custGeom>
                <a:avLst/>
                <a:gdLst/>
                <a:ahLst/>
                <a:cxnLst/>
                <a:rect l="l" t="t" r="r" b="b"/>
                <a:pathLst>
                  <a:path w="419100" h="419100">
                    <a:moveTo>
                      <a:pt x="0" y="0"/>
                    </a:moveTo>
                    <a:cubicBezTo>
                      <a:pt x="231463" y="0"/>
                      <a:pt x="419100" y="187637"/>
                      <a:pt x="419100" y="419100"/>
                    </a:cubicBezTo>
                  </a:path>
                </a:pathLst>
              </a:custGeom>
              <a:noFill/>
              <a:ln w="133350">
                <a:solidFill>
                  <a:srgbClr val="9E331E"/>
                </a:solidFill>
              </a:ln>
            </p:spPr>
          </p:sp>
          <p:sp>
            <p:nvSpPr>
              <p:cNvPr id="130" name="Line 130"/>
              <p:cNvSpPr/>
              <p:nvPr/>
            </p:nvSpPr>
            <p:spPr>
              <a:xfrm>
                <a:off x="9048750" y="2847975"/>
                <a:ext cx="133350" cy="390525"/>
              </a:xfrm>
              <a:custGeom>
                <a:avLst/>
                <a:gdLst/>
                <a:ahLst/>
                <a:cxnLst/>
                <a:rect l="l" t="t" r="r" b="b"/>
                <a:pathLst>
                  <a:path w="133350" h="390525">
                    <a:moveTo>
                      <a:pt x="0" y="390525"/>
                    </a:moveTo>
                    <a:lnTo>
                      <a:pt x="133350" y="0"/>
                    </a:lnTo>
                  </a:path>
                </a:pathLst>
              </a:custGeom>
              <a:noFill/>
              <a:ln w="23812">
                <a:solidFill>
                  <a:srgbClr val="1A1A1A"/>
                </a:solidFill>
              </a:ln>
            </p:spPr>
          </p:sp>
          <p:sp>
            <p:nvSpPr>
              <p:cNvPr id="131" name="Ellipse 131"/>
              <p:cNvSpPr/>
              <p:nvPr/>
            </p:nvSpPr>
            <p:spPr>
              <a:xfrm>
                <a:off x="9001125" y="3190875"/>
                <a:ext cx="95250" cy="95250"/>
              </a:xfrm>
              <a:prstGeom prst="ellipse">
                <a:avLst/>
              </a:prstGeom>
              <a:solidFill>
                <a:srgbClr val="1A1A1A"/>
              </a:solidFill>
              <a:ln>
                <a:noFill/>
              </a:ln>
            </p:spPr>
          </p:sp>
          <p:sp>
            <p:nvSpPr>
              <p:cNvPr id="132" name="TextBox 132"/>
              <p:cNvSpPr txBox="1"/>
              <p:nvPr/>
            </p:nvSpPr>
            <p:spPr>
              <a:xfrm>
                <a:off x="8548688" y="3356134"/>
                <a:ext cx="220071" cy="133350"/>
              </a:xfrm>
              <a:prstGeom prst="rect">
                <a:avLst/>
              </a:prstGeom>
              <a:noFill/>
              <a:ln>
                <a:noFill/>
              </a:ln>
            </p:spPr>
            <p:txBody>
              <a:bodyPr wrap="none" lIns="0" tIns="0" rIns="0" bIns="0" anchor="t" anchorCtr="0">
                <a:spAutoFit/>
              </a:bodyPr>
              <a:lstStyle/>
              <a:p>
                <a:pPr algn="l"/>
                <a:r>
                  <a:rPr lang="zh-CN" sz="680" dirty="0">
                    <a:solidFill>
                      <a:srgbClr val="7E605A"/>
                    </a:solidFill>
                    <a:latin typeface="+mn-lt"/>
                    <a:ea typeface="+mn-ea"/>
                    <a:cs typeface="+mn-cs"/>
                  </a:rPr>
                  <a:t xml:space="preserve">0%　</a:t>
                </a:r>
              </a:p>
            </p:txBody>
          </p:sp>
          <p:sp>
            <p:nvSpPr>
              <p:cNvPr id="133" name="TextBox 133"/>
              <p:cNvSpPr txBox="1"/>
              <p:nvPr/>
            </p:nvSpPr>
            <p:spPr>
              <a:xfrm>
                <a:off x="9228046" y="3356134"/>
                <a:ext cx="320766" cy="133350"/>
              </a:xfrm>
              <a:prstGeom prst="rect">
                <a:avLst/>
              </a:prstGeom>
              <a:noFill/>
              <a:ln>
                <a:noFill/>
              </a:ln>
            </p:spPr>
            <p:txBody>
              <a:bodyPr wrap="none" lIns="0" tIns="0" rIns="0" bIns="0" anchor="t" anchorCtr="0">
                <a:spAutoFit/>
              </a:bodyPr>
              <a:lstStyle/>
              <a:p>
                <a:pPr algn="r"/>
                <a:r>
                  <a:rPr lang="zh-CN" sz="680" dirty="0">
                    <a:solidFill>
                      <a:srgbClr val="7E605A"/>
                    </a:solidFill>
                    <a:latin typeface="+mn-lt"/>
                    <a:ea typeface="+mn-ea"/>
                    <a:cs typeface="+mn-cs"/>
                  </a:rPr>
                  <a:t xml:space="preserve">200%　</a:t>
                </a:r>
              </a:p>
            </p:txBody>
          </p:sp>
          <p:sp>
            <p:nvSpPr>
              <p:cNvPr id="134" name="TextBox 134"/>
              <p:cNvSpPr txBox="1"/>
              <p:nvPr/>
            </p:nvSpPr>
            <p:spPr>
              <a:xfrm>
                <a:off x="8627426" y="3571875"/>
                <a:ext cx="842648" cy="293370"/>
              </a:xfrm>
              <a:prstGeom prst="rect">
                <a:avLst/>
              </a:prstGeom>
              <a:noFill/>
              <a:ln>
                <a:noFill/>
              </a:ln>
            </p:spPr>
            <p:txBody>
              <a:bodyPr wrap="none" lIns="0" tIns="0" rIns="0" bIns="0" anchor="t" anchorCtr="0">
                <a:spAutoFit/>
              </a:bodyPr>
              <a:lstStyle/>
              <a:p>
                <a:pPr algn="ctr"/>
                <a:r>
                  <a:rPr lang="zh-CN" sz="1500" b="1" dirty="0">
                    <a:solidFill>
                      <a:srgbClr val="841600"/>
                    </a:solidFill>
                    <a:latin typeface="+mn-lt"/>
                    <a:ea typeface="+mn-ea"/>
                    <a:cs typeface="+mn-cs"/>
                  </a:rPr>
                  <a:t xml:space="preserve">≥120%　</a:t>
                </a:r>
              </a:p>
            </p:txBody>
          </p:sp>
        </p:grpSp>
        <p:sp>
          <p:nvSpPr>
            <p:cNvPr id="136" name="Line 136"/>
            <p:cNvSpPr/>
            <p:nvPr/>
          </p:nvSpPr>
          <p:spPr>
            <a:xfrm>
              <a:off x="10010775" y="2495550"/>
              <a:ext cx="9525" cy="1314450"/>
            </a:xfrm>
            <a:custGeom>
              <a:avLst/>
              <a:gdLst/>
              <a:ahLst/>
              <a:cxnLst/>
              <a:rect l="l" t="t" r="r" b="b"/>
              <a:pathLst>
                <a:path w="9525" h="1314450">
                  <a:moveTo>
                    <a:pt x="0" y="0"/>
                  </a:moveTo>
                  <a:lnTo>
                    <a:pt x="0" y="1314450"/>
                  </a:lnTo>
                </a:path>
              </a:pathLst>
            </a:custGeom>
            <a:noFill/>
            <a:ln w="9525">
              <a:solidFill>
                <a:srgbClr val="E5ECF6"/>
              </a:solidFill>
            </a:ln>
          </p:spPr>
        </p:sp>
        <p:grpSp>
          <p:nvGrpSpPr>
            <p:cNvPr id="145" name="gauge-nsfr"/>
            <p:cNvGrpSpPr/>
            <p:nvPr/>
          </p:nvGrpSpPr>
          <p:grpSpPr>
            <a:xfrm>
              <a:off x="10453688" y="2485549"/>
              <a:ext cx="1000124" cy="1379696"/>
              <a:chOff x="10453688" y="2485549"/>
              <a:chExt cx="1000124" cy="1379696"/>
            </a:xfrm>
          </p:grpSpPr>
          <p:sp>
            <p:nvSpPr>
              <p:cNvPr id="137" name="TextBox 137"/>
              <p:cNvSpPr txBox="1"/>
              <p:nvPr/>
            </p:nvSpPr>
            <p:spPr>
              <a:xfrm>
                <a:off x="10721832" y="2485549"/>
                <a:ext cx="463837"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 xml:space="preserve">NSFR　</a:t>
                </a:r>
              </a:p>
            </p:txBody>
          </p:sp>
          <p:sp>
            <p:nvSpPr>
              <p:cNvPr id="138" name="Freeform 138"/>
              <p:cNvSpPr/>
              <p:nvPr/>
            </p:nvSpPr>
            <p:spPr>
              <a:xfrm>
                <a:off x="10534650" y="2819400"/>
                <a:ext cx="419100" cy="419100"/>
              </a:xfrm>
              <a:custGeom>
                <a:avLst/>
                <a:gdLst/>
                <a:ahLst/>
                <a:cxnLst/>
                <a:rect l="l" t="t" r="r" b="b"/>
                <a:pathLst>
                  <a:path w="419100" h="419100">
                    <a:moveTo>
                      <a:pt x="0" y="419100"/>
                    </a:moveTo>
                    <a:cubicBezTo>
                      <a:pt x="0" y="187637"/>
                      <a:pt x="187637" y="0"/>
                      <a:pt x="419100" y="0"/>
                    </a:cubicBezTo>
                  </a:path>
                </a:pathLst>
              </a:custGeom>
              <a:noFill/>
              <a:ln w="133350">
                <a:solidFill>
                  <a:srgbClr val="ED4D31"/>
                </a:solidFill>
              </a:ln>
            </p:spPr>
          </p:sp>
          <p:sp>
            <p:nvSpPr>
              <p:cNvPr id="139" name="Freeform 139"/>
              <p:cNvSpPr/>
              <p:nvPr/>
            </p:nvSpPr>
            <p:spPr>
              <a:xfrm>
                <a:off x="10953750" y="2819400"/>
                <a:ext cx="419100" cy="419100"/>
              </a:xfrm>
              <a:custGeom>
                <a:avLst/>
                <a:gdLst/>
                <a:ahLst/>
                <a:cxnLst/>
                <a:rect l="l" t="t" r="r" b="b"/>
                <a:pathLst>
                  <a:path w="419100" h="419100">
                    <a:moveTo>
                      <a:pt x="0" y="0"/>
                    </a:moveTo>
                    <a:cubicBezTo>
                      <a:pt x="231463" y="0"/>
                      <a:pt x="419100" y="187637"/>
                      <a:pt x="419100" y="419100"/>
                    </a:cubicBezTo>
                  </a:path>
                </a:pathLst>
              </a:custGeom>
              <a:noFill/>
              <a:ln w="133350">
                <a:solidFill>
                  <a:srgbClr val="9E331E"/>
                </a:solidFill>
              </a:ln>
            </p:spPr>
          </p:sp>
          <p:sp>
            <p:nvSpPr>
              <p:cNvPr id="140" name="Line 140"/>
              <p:cNvSpPr/>
              <p:nvPr/>
            </p:nvSpPr>
            <p:spPr>
              <a:xfrm>
                <a:off x="10953750" y="2819400"/>
                <a:ext cx="28575" cy="419100"/>
              </a:xfrm>
              <a:custGeom>
                <a:avLst/>
                <a:gdLst/>
                <a:ahLst/>
                <a:cxnLst/>
                <a:rect l="l" t="t" r="r" b="b"/>
                <a:pathLst>
                  <a:path w="28575" h="419100">
                    <a:moveTo>
                      <a:pt x="0" y="419100"/>
                    </a:moveTo>
                    <a:lnTo>
                      <a:pt x="28575" y="0"/>
                    </a:lnTo>
                  </a:path>
                </a:pathLst>
              </a:custGeom>
              <a:noFill/>
              <a:ln w="23812">
                <a:solidFill>
                  <a:srgbClr val="1A1A1A"/>
                </a:solidFill>
              </a:ln>
            </p:spPr>
          </p:sp>
          <p:sp>
            <p:nvSpPr>
              <p:cNvPr id="141" name="Ellipse 141"/>
              <p:cNvSpPr/>
              <p:nvPr/>
            </p:nvSpPr>
            <p:spPr>
              <a:xfrm>
                <a:off x="10906125" y="3190875"/>
                <a:ext cx="95250" cy="95250"/>
              </a:xfrm>
              <a:prstGeom prst="ellipse">
                <a:avLst/>
              </a:prstGeom>
              <a:solidFill>
                <a:srgbClr val="1A1A1A"/>
              </a:solidFill>
              <a:ln>
                <a:noFill/>
              </a:ln>
            </p:spPr>
          </p:sp>
          <p:sp>
            <p:nvSpPr>
              <p:cNvPr id="142" name="TextBox 142"/>
              <p:cNvSpPr txBox="1"/>
              <p:nvPr/>
            </p:nvSpPr>
            <p:spPr>
              <a:xfrm>
                <a:off x="10453688" y="3356134"/>
                <a:ext cx="220071" cy="133350"/>
              </a:xfrm>
              <a:prstGeom prst="rect">
                <a:avLst/>
              </a:prstGeom>
              <a:noFill/>
              <a:ln>
                <a:noFill/>
              </a:ln>
            </p:spPr>
            <p:txBody>
              <a:bodyPr wrap="none" lIns="0" tIns="0" rIns="0" bIns="0" anchor="t" anchorCtr="0">
                <a:spAutoFit/>
              </a:bodyPr>
              <a:lstStyle/>
              <a:p>
                <a:pPr algn="l"/>
                <a:r>
                  <a:rPr lang="zh-CN" sz="680" dirty="0">
                    <a:solidFill>
                      <a:srgbClr val="7E605A"/>
                    </a:solidFill>
                    <a:latin typeface="+mn-lt"/>
                    <a:ea typeface="+mn-ea"/>
                    <a:cs typeface="+mn-cs"/>
                  </a:rPr>
                  <a:t xml:space="preserve">0%　</a:t>
                </a:r>
              </a:p>
            </p:txBody>
          </p:sp>
          <p:sp>
            <p:nvSpPr>
              <p:cNvPr id="143" name="TextBox 143"/>
              <p:cNvSpPr txBox="1"/>
              <p:nvPr/>
            </p:nvSpPr>
            <p:spPr>
              <a:xfrm>
                <a:off x="11133046" y="3356134"/>
                <a:ext cx="320766" cy="133350"/>
              </a:xfrm>
              <a:prstGeom prst="rect">
                <a:avLst/>
              </a:prstGeom>
              <a:noFill/>
              <a:ln>
                <a:noFill/>
              </a:ln>
            </p:spPr>
            <p:txBody>
              <a:bodyPr wrap="none" lIns="0" tIns="0" rIns="0" bIns="0" anchor="t" anchorCtr="0">
                <a:spAutoFit/>
              </a:bodyPr>
              <a:lstStyle/>
              <a:p>
                <a:pPr algn="r"/>
                <a:r>
                  <a:rPr lang="zh-CN" sz="680" dirty="0">
                    <a:solidFill>
                      <a:srgbClr val="7E605A"/>
                    </a:solidFill>
                    <a:latin typeface="+mn-lt"/>
                    <a:ea typeface="+mn-ea"/>
                    <a:cs typeface="+mn-cs"/>
                  </a:rPr>
                  <a:t xml:space="preserve">200%　</a:t>
                </a:r>
              </a:p>
            </p:txBody>
          </p:sp>
          <p:sp>
            <p:nvSpPr>
              <p:cNvPr id="144" name="TextBox 144"/>
              <p:cNvSpPr txBox="1"/>
              <p:nvPr/>
            </p:nvSpPr>
            <p:spPr>
              <a:xfrm>
                <a:off x="10532426" y="3571875"/>
                <a:ext cx="842648" cy="293370"/>
              </a:xfrm>
              <a:prstGeom prst="rect">
                <a:avLst/>
              </a:prstGeom>
              <a:noFill/>
              <a:ln>
                <a:noFill/>
              </a:ln>
            </p:spPr>
            <p:txBody>
              <a:bodyPr wrap="none" lIns="0" tIns="0" rIns="0" bIns="0" anchor="t" anchorCtr="0">
                <a:spAutoFit/>
              </a:bodyPr>
              <a:lstStyle/>
              <a:p>
                <a:pPr algn="ctr"/>
                <a:r>
                  <a:rPr lang="zh-CN" sz="1500" b="1" dirty="0">
                    <a:solidFill>
                      <a:srgbClr val="841600"/>
                    </a:solidFill>
                    <a:latin typeface="+mn-lt"/>
                    <a:ea typeface="+mn-ea"/>
                    <a:cs typeface="+mn-cs"/>
                  </a:rPr>
                  <a:t xml:space="preserve">≥105%　</a:t>
                </a:r>
              </a:p>
            </p:txBody>
          </p:sp>
        </p:grpSp>
      </p:grpSp>
      <p:grpSp>
        <p:nvGrpSpPr>
          <p:cNvPr id="191" name="management-actions"/>
          <p:cNvGrpSpPr/>
          <p:nvPr/>
        </p:nvGrpSpPr>
        <p:grpSpPr>
          <a:xfrm>
            <a:off x="266700" y="5257800"/>
            <a:ext cx="11658600" cy="1371600"/>
            <a:chOff x="266700" y="5257800"/>
            <a:chExt cx="11658600" cy="1371600"/>
          </a:xfrm>
        </p:grpSpPr>
        <p:sp>
          <p:nvSpPr>
            <p:cNvPr id="147" name="Rectangle 147"/>
            <p:cNvSpPr/>
            <p:nvPr/>
          </p:nvSpPr>
          <p:spPr>
            <a:xfrm>
              <a:off x="266700" y="5257800"/>
              <a:ext cx="11658600" cy="1371600"/>
            </a:xfrm>
            <a:prstGeom prst="roundRect">
              <a:avLst>
                <a:gd name="adj" fmla="val 6944"/>
              </a:avLst>
            </a:prstGeom>
            <a:solidFill>
              <a:srgbClr val="FFFFFF"/>
            </a:solidFill>
            <a:ln w="9525">
              <a:solidFill>
                <a:srgbClr val="D7E2F2"/>
              </a:solidFill>
            </a:ln>
          </p:spPr>
        </p:sp>
        <p:sp>
          <p:nvSpPr>
            <p:cNvPr id="148" name="TextBox 148"/>
            <p:cNvSpPr txBox="1"/>
            <p:nvPr/>
          </p:nvSpPr>
          <p:spPr>
            <a:xfrm>
              <a:off x="5605272" y="5414010"/>
              <a:ext cx="981456" cy="234696"/>
            </a:xfrm>
            <a:prstGeom prst="rect">
              <a:avLst/>
            </a:prstGeom>
            <a:noFill/>
            <a:ln>
              <a:noFill/>
            </a:ln>
          </p:spPr>
          <p:txBody>
            <a:bodyPr wrap="none" lIns="0" tIns="0" rIns="0" bIns="0" anchor="t" anchorCtr="0">
              <a:spAutoFit/>
            </a:bodyPr>
            <a:lstStyle/>
            <a:p>
              <a:pPr algn="ctr"/>
              <a:r>
                <a:rPr lang="zh-CN" sz="1200" b="1" dirty="0">
                  <a:solidFill>
                    <a:srgbClr val="841600"/>
                  </a:solidFill>
                  <a:latin typeface="+mn-lt"/>
                  <a:ea typeface="+mn-ea"/>
                  <a:cs typeface="+mn-cs"/>
                </a:rPr>
                <a:t>四项管理动作</a:t>
              </a:r>
            </a:p>
          </p:txBody>
        </p:sp>
        <p:sp>
          <p:nvSpPr>
            <p:cNvPr id="149" name="Line 149"/>
            <p:cNvSpPr/>
            <p:nvPr/>
          </p:nvSpPr>
          <p:spPr>
            <a:xfrm>
              <a:off x="3181350" y="5772150"/>
              <a:ext cx="9525" cy="666750"/>
            </a:xfrm>
            <a:custGeom>
              <a:avLst/>
              <a:gdLst/>
              <a:ahLst/>
              <a:cxnLst/>
              <a:rect l="l" t="t" r="r" b="b"/>
              <a:pathLst>
                <a:path w="9525" h="666750">
                  <a:moveTo>
                    <a:pt x="0" y="0"/>
                  </a:moveTo>
                  <a:lnTo>
                    <a:pt x="0" y="666750"/>
                  </a:lnTo>
                </a:path>
              </a:pathLst>
            </a:custGeom>
            <a:noFill/>
            <a:ln w="9525">
              <a:solidFill>
                <a:srgbClr val="D7E2F2"/>
              </a:solidFill>
            </a:ln>
          </p:spPr>
        </p:sp>
        <p:sp>
          <p:nvSpPr>
            <p:cNvPr id="150" name="Line 150"/>
            <p:cNvSpPr/>
            <p:nvPr/>
          </p:nvSpPr>
          <p:spPr>
            <a:xfrm>
              <a:off x="6038850" y="5772150"/>
              <a:ext cx="9525" cy="666750"/>
            </a:xfrm>
            <a:custGeom>
              <a:avLst/>
              <a:gdLst/>
              <a:ahLst/>
              <a:cxnLst/>
              <a:rect l="l" t="t" r="r" b="b"/>
              <a:pathLst>
                <a:path w="9525" h="666750">
                  <a:moveTo>
                    <a:pt x="0" y="0"/>
                  </a:moveTo>
                  <a:lnTo>
                    <a:pt x="0" y="666750"/>
                  </a:lnTo>
                </a:path>
              </a:pathLst>
            </a:custGeom>
            <a:noFill/>
            <a:ln w="9525">
              <a:solidFill>
                <a:srgbClr val="D7E2F2"/>
              </a:solidFill>
            </a:ln>
          </p:spPr>
        </p:sp>
        <p:sp>
          <p:nvSpPr>
            <p:cNvPr id="151" name="Line 151"/>
            <p:cNvSpPr/>
            <p:nvPr/>
          </p:nvSpPr>
          <p:spPr>
            <a:xfrm>
              <a:off x="8896350" y="5772150"/>
              <a:ext cx="9525" cy="666750"/>
            </a:xfrm>
            <a:custGeom>
              <a:avLst/>
              <a:gdLst/>
              <a:ahLst/>
              <a:cxnLst/>
              <a:rect l="l" t="t" r="r" b="b"/>
              <a:pathLst>
                <a:path w="9525" h="666750">
                  <a:moveTo>
                    <a:pt x="0" y="0"/>
                  </a:moveTo>
                  <a:lnTo>
                    <a:pt x="0" y="666750"/>
                  </a:lnTo>
                </a:path>
              </a:pathLst>
            </a:custGeom>
            <a:noFill/>
            <a:ln w="9525">
              <a:solidFill>
                <a:srgbClr val="D7E2F2"/>
              </a:solidFill>
            </a:ln>
          </p:spPr>
        </p:sp>
        <p:grpSp>
          <p:nvGrpSpPr>
            <p:cNvPr id="164" name="action-1"/>
            <p:cNvGrpSpPr/>
            <p:nvPr/>
          </p:nvGrpSpPr>
          <p:grpSpPr>
            <a:xfrm>
              <a:off x="419100" y="5905500"/>
              <a:ext cx="2132013" cy="406003"/>
              <a:chOff x="419100" y="5905500"/>
              <a:chExt cx="2132013" cy="406003"/>
            </a:xfrm>
          </p:grpSpPr>
          <p:sp>
            <p:nvSpPr>
              <p:cNvPr id="152" name="Rectangle 152"/>
              <p:cNvSpPr/>
              <p:nvPr/>
            </p:nvSpPr>
            <p:spPr>
              <a:xfrm>
                <a:off x="419100" y="5905500"/>
                <a:ext cx="381000" cy="381000"/>
              </a:xfrm>
              <a:prstGeom prst="roundRect">
                <a:avLst>
                  <a:gd name="adj" fmla="val 15000"/>
                </a:avLst>
              </a:prstGeom>
              <a:solidFill>
                <a:srgbClr val="841600"/>
              </a:solidFill>
              <a:ln>
                <a:noFill/>
              </a:ln>
            </p:spPr>
          </p:sp>
          <p:sp>
            <p:nvSpPr>
              <p:cNvPr id="153" name="TextBox 153"/>
              <p:cNvSpPr txBox="1"/>
              <p:nvPr/>
            </p:nvSpPr>
            <p:spPr>
              <a:xfrm>
                <a:off x="510212" y="602361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01</a:t>
                </a:r>
              </a:p>
            </p:txBody>
          </p:sp>
          <p:grpSp>
            <p:nvGrpSpPr>
              <p:cNvPr id="162" name="Group 162"/>
              <p:cNvGrpSpPr/>
              <p:nvPr/>
            </p:nvGrpSpPr>
            <p:grpSpPr>
              <a:xfrm>
                <a:off x="954881" y="5974556"/>
                <a:ext cx="242888" cy="252413"/>
                <a:chOff x="954881" y="5974556"/>
                <a:chExt cx="242888" cy="252413"/>
              </a:xfrm>
            </p:grpSpPr>
            <p:sp>
              <p:nvSpPr>
                <p:cNvPr id="154" name="Freeform 154"/>
                <p:cNvSpPr/>
                <p:nvPr/>
              </p:nvSpPr>
              <p:spPr>
                <a:xfrm>
                  <a:off x="954881" y="6217444"/>
                  <a:ext cx="242888" cy="9525"/>
                </a:xfrm>
                <a:custGeom>
                  <a:avLst/>
                  <a:gdLst/>
                  <a:ahLst/>
                  <a:cxnLst/>
                  <a:rect l="l" t="t" r="r" b="b"/>
                  <a:pathLst>
                    <a:path w="242888" h="9525">
                      <a:moveTo>
                        <a:pt x="0" y="0"/>
                      </a:moveTo>
                      <a:lnTo>
                        <a:pt x="242888" y="0"/>
                      </a:lnTo>
                    </a:path>
                  </a:pathLst>
                </a:custGeom>
                <a:noFill/>
                <a:ln w="20241">
                  <a:solidFill>
                    <a:srgbClr val="841600"/>
                  </a:solidFill>
                </a:ln>
              </p:spPr>
            </p:sp>
            <p:sp>
              <p:nvSpPr>
                <p:cNvPr id="155" name="Freeform 155"/>
                <p:cNvSpPr/>
                <p:nvPr/>
              </p:nvSpPr>
              <p:spPr>
                <a:xfrm>
                  <a:off x="954881" y="6069013"/>
                  <a:ext cx="242888" cy="9525"/>
                </a:xfrm>
                <a:custGeom>
                  <a:avLst/>
                  <a:gdLst/>
                  <a:ahLst/>
                  <a:cxnLst/>
                  <a:rect l="l" t="t" r="r" b="b"/>
                  <a:pathLst>
                    <a:path w="242888" h="9525">
                      <a:moveTo>
                        <a:pt x="0" y="0"/>
                      </a:moveTo>
                      <a:lnTo>
                        <a:pt x="242888" y="0"/>
                      </a:lnTo>
                    </a:path>
                  </a:pathLst>
                </a:custGeom>
                <a:noFill/>
                <a:ln w="20241">
                  <a:solidFill>
                    <a:srgbClr val="841600"/>
                  </a:solidFill>
                </a:ln>
              </p:spPr>
            </p:sp>
            <p:sp>
              <p:nvSpPr>
                <p:cNvPr id="156" name="Freeform 156"/>
                <p:cNvSpPr/>
                <p:nvPr/>
              </p:nvSpPr>
              <p:spPr>
                <a:xfrm>
                  <a:off x="981869" y="5974556"/>
                  <a:ext cx="188913" cy="40481"/>
                </a:xfrm>
                <a:custGeom>
                  <a:avLst/>
                  <a:gdLst/>
                  <a:ahLst/>
                  <a:cxnLst/>
                  <a:rect l="l" t="t" r="r" b="b"/>
                  <a:pathLst>
                    <a:path w="188913" h="40481">
                      <a:moveTo>
                        <a:pt x="0" y="40481"/>
                      </a:moveTo>
                      <a:lnTo>
                        <a:pt x="94456" y="0"/>
                      </a:lnTo>
                      <a:lnTo>
                        <a:pt x="188913" y="40481"/>
                      </a:lnTo>
                    </a:path>
                  </a:pathLst>
                </a:custGeom>
                <a:noFill/>
                <a:ln w="20241">
                  <a:solidFill>
                    <a:srgbClr val="841600"/>
                  </a:solidFill>
                </a:ln>
              </p:spPr>
            </p:sp>
            <p:sp>
              <p:nvSpPr>
                <p:cNvPr id="157" name="Freeform 157"/>
                <p:cNvSpPr/>
                <p:nvPr/>
              </p:nvSpPr>
              <p:spPr>
                <a:xfrm>
                  <a:off x="968375" y="6069013"/>
                  <a:ext cx="9525" cy="148432"/>
                </a:xfrm>
                <a:custGeom>
                  <a:avLst/>
                  <a:gdLst/>
                  <a:ahLst/>
                  <a:cxnLst/>
                  <a:rect l="l" t="t" r="r" b="b"/>
                  <a:pathLst>
                    <a:path w="9525" h="148432">
                      <a:moveTo>
                        <a:pt x="0" y="0"/>
                      </a:moveTo>
                      <a:lnTo>
                        <a:pt x="0" y="148432"/>
                      </a:lnTo>
                    </a:path>
                  </a:pathLst>
                </a:custGeom>
                <a:noFill/>
                <a:ln w="20241">
                  <a:solidFill>
                    <a:srgbClr val="841600"/>
                  </a:solidFill>
                </a:ln>
              </p:spPr>
            </p:sp>
            <p:sp>
              <p:nvSpPr>
                <p:cNvPr id="158" name="Freeform 158"/>
                <p:cNvSpPr/>
                <p:nvPr/>
              </p:nvSpPr>
              <p:spPr>
                <a:xfrm>
                  <a:off x="1184276" y="6069013"/>
                  <a:ext cx="9525" cy="148432"/>
                </a:xfrm>
                <a:custGeom>
                  <a:avLst/>
                  <a:gdLst/>
                  <a:ahLst/>
                  <a:cxnLst/>
                  <a:rect l="l" t="t" r="r" b="b"/>
                  <a:pathLst>
                    <a:path w="9525" h="148432">
                      <a:moveTo>
                        <a:pt x="0" y="0"/>
                      </a:moveTo>
                      <a:lnTo>
                        <a:pt x="0" y="148432"/>
                      </a:lnTo>
                    </a:path>
                  </a:pathLst>
                </a:custGeom>
                <a:noFill/>
                <a:ln w="20241">
                  <a:solidFill>
                    <a:srgbClr val="841600"/>
                  </a:solidFill>
                </a:ln>
              </p:spPr>
            </p:sp>
            <p:sp>
              <p:nvSpPr>
                <p:cNvPr id="159" name="Freeform 159"/>
                <p:cNvSpPr/>
                <p:nvPr/>
              </p:nvSpPr>
              <p:spPr>
                <a:xfrm>
                  <a:off x="1022350" y="6122988"/>
                  <a:ext cx="9525" cy="40481"/>
                </a:xfrm>
                <a:custGeom>
                  <a:avLst/>
                  <a:gdLst/>
                  <a:ahLst/>
                  <a:cxnLst/>
                  <a:rect l="l" t="t" r="r" b="b"/>
                  <a:pathLst>
                    <a:path w="9525" h="40481">
                      <a:moveTo>
                        <a:pt x="0" y="0"/>
                      </a:moveTo>
                      <a:lnTo>
                        <a:pt x="0" y="40481"/>
                      </a:lnTo>
                    </a:path>
                  </a:pathLst>
                </a:custGeom>
                <a:noFill/>
                <a:ln w="20241">
                  <a:solidFill>
                    <a:srgbClr val="841600"/>
                  </a:solidFill>
                </a:ln>
              </p:spPr>
            </p:sp>
            <p:sp>
              <p:nvSpPr>
                <p:cNvPr id="160" name="Freeform 160"/>
                <p:cNvSpPr/>
                <p:nvPr/>
              </p:nvSpPr>
              <p:spPr>
                <a:xfrm>
                  <a:off x="1076325" y="6122988"/>
                  <a:ext cx="9525" cy="40481"/>
                </a:xfrm>
                <a:custGeom>
                  <a:avLst/>
                  <a:gdLst/>
                  <a:ahLst/>
                  <a:cxnLst/>
                  <a:rect l="l" t="t" r="r" b="b"/>
                  <a:pathLst>
                    <a:path w="9525" h="40481">
                      <a:moveTo>
                        <a:pt x="0" y="0"/>
                      </a:moveTo>
                      <a:lnTo>
                        <a:pt x="0" y="40481"/>
                      </a:lnTo>
                    </a:path>
                  </a:pathLst>
                </a:custGeom>
                <a:noFill/>
                <a:ln w="20241">
                  <a:solidFill>
                    <a:srgbClr val="841600"/>
                  </a:solidFill>
                </a:ln>
              </p:spPr>
            </p:sp>
            <p:sp>
              <p:nvSpPr>
                <p:cNvPr id="161" name="Freeform 161"/>
                <p:cNvSpPr/>
                <p:nvPr/>
              </p:nvSpPr>
              <p:spPr>
                <a:xfrm>
                  <a:off x="1130301" y="6122988"/>
                  <a:ext cx="9525" cy="40481"/>
                </a:xfrm>
                <a:custGeom>
                  <a:avLst/>
                  <a:gdLst/>
                  <a:ahLst/>
                  <a:cxnLst/>
                  <a:rect l="l" t="t" r="r" b="b"/>
                  <a:pathLst>
                    <a:path w="9525" h="40481">
                      <a:moveTo>
                        <a:pt x="0" y="0"/>
                      </a:moveTo>
                      <a:lnTo>
                        <a:pt x="0" y="40481"/>
                      </a:lnTo>
                    </a:path>
                  </a:pathLst>
                </a:custGeom>
                <a:noFill/>
                <a:ln w="20241">
                  <a:solidFill>
                    <a:srgbClr val="841600"/>
                  </a:solidFill>
                </a:ln>
              </p:spPr>
            </p:sp>
          </p:grpSp>
          <p:sp>
            <p:nvSpPr>
              <p:cNvPr id="163" name="TextBox 163"/>
              <p:cNvSpPr txBox="1"/>
              <p:nvPr/>
            </p:nvSpPr>
            <p:spPr>
              <a:xfrm>
                <a:off x="1347788" y="5937647"/>
                <a:ext cx="1203325" cy="373856"/>
              </a:xfrm>
              <a:prstGeom prst="rect">
                <a:avLst/>
              </a:prstGeom>
              <a:noFill/>
              <a:ln>
                <a:noFill/>
              </a:ln>
            </p:spPr>
            <p:txBody>
              <a:bodyPr wrap="none" lIns="0" tIns="0" rIns="0" bIns="0" anchor="t" anchorCtr="0">
                <a:spAutoFit/>
              </a:bodyPr>
              <a:lstStyle/>
              <a:p>
                <a:pPr algn="l">
                  <a:lnSpc>
                    <a:spcPts val="1500"/>
                  </a:lnSpc>
                </a:pPr>
                <a:r>
                  <a:rPr lang="zh-CN" sz="940" dirty="0">
                    <a:solidFill>
                      <a:srgbClr val="1A1A1A"/>
                    </a:solidFill>
                    <a:latin typeface="+mn-lt"/>
                    <a:ea typeface="+mn-ea"/>
                    <a:cs typeface="+mn-cs"/>
                  </a:rPr>
                  <a:t>优化同业负债、</a:t>
                </a:r>
                <a:br/>
                <a:r>
                  <a:rPr lang="zh-CN" sz="940" dirty="0">
                    <a:solidFill>
                      <a:srgbClr val="1A1A1A"/>
                    </a:solidFill>
                    <a:latin typeface="+mn-lt"/>
                    <a:ea typeface="+mn-ea"/>
                    <a:cs typeface="+mn-cs"/>
                  </a:rPr>
                  <a:t>存款与市场化资金来源</a:t>
                </a:r>
              </a:p>
            </p:txBody>
          </p:sp>
        </p:grpSp>
        <p:grpSp>
          <p:nvGrpSpPr>
            <p:cNvPr id="174" name="action-2"/>
            <p:cNvGrpSpPr/>
            <p:nvPr/>
          </p:nvGrpSpPr>
          <p:grpSpPr>
            <a:xfrm>
              <a:off x="3276600" y="5905500"/>
              <a:ext cx="2370773" cy="406003"/>
              <a:chOff x="3276600" y="5905500"/>
              <a:chExt cx="2370773" cy="406003"/>
            </a:xfrm>
          </p:grpSpPr>
          <p:sp>
            <p:nvSpPr>
              <p:cNvPr id="165" name="Rectangle 165"/>
              <p:cNvSpPr/>
              <p:nvPr/>
            </p:nvSpPr>
            <p:spPr>
              <a:xfrm>
                <a:off x="3276600" y="5905500"/>
                <a:ext cx="381000" cy="381000"/>
              </a:xfrm>
              <a:prstGeom prst="roundRect">
                <a:avLst>
                  <a:gd name="adj" fmla="val 15000"/>
                </a:avLst>
              </a:prstGeom>
              <a:solidFill>
                <a:srgbClr val="841600"/>
              </a:solidFill>
              <a:ln>
                <a:noFill/>
              </a:ln>
            </p:spPr>
          </p:sp>
          <p:sp>
            <p:nvSpPr>
              <p:cNvPr id="166" name="TextBox 166"/>
              <p:cNvSpPr txBox="1"/>
              <p:nvPr/>
            </p:nvSpPr>
            <p:spPr>
              <a:xfrm>
                <a:off x="3367712" y="602361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02</a:t>
                </a:r>
              </a:p>
            </p:txBody>
          </p:sp>
          <p:grpSp>
            <p:nvGrpSpPr>
              <p:cNvPr id="172" name="Group 172"/>
              <p:cNvGrpSpPr/>
              <p:nvPr/>
            </p:nvGrpSpPr>
            <p:grpSpPr>
              <a:xfrm>
                <a:off x="3812381" y="5972748"/>
                <a:ext cx="242888" cy="244696"/>
                <a:chOff x="3812381" y="5972748"/>
                <a:chExt cx="242888" cy="244696"/>
              </a:xfrm>
            </p:grpSpPr>
            <p:sp>
              <p:nvSpPr>
                <p:cNvPr id="167" name="Freeform 167"/>
                <p:cNvSpPr/>
                <p:nvPr/>
              </p:nvSpPr>
              <p:spPr>
                <a:xfrm>
                  <a:off x="3893344" y="6082507"/>
                  <a:ext cx="161925" cy="80963"/>
                </a:xfrm>
                <a:custGeom>
                  <a:avLst/>
                  <a:gdLst/>
                  <a:ahLst/>
                  <a:cxnLst/>
                  <a:rect l="l" t="t" r="r" b="b"/>
                  <a:pathLst>
                    <a:path w="161925" h="80963">
                      <a:moveTo>
                        <a:pt x="0" y="40481"/>
                      </a:moveTo>
                      <a:cubicBezTo>
                        <a:pt x="0" y="62841"/>
                        <a:pt x="36244" y="80963"/>
                        <a:pt x="80963" y="80963"/>
                      </a:cubicBezTo>
                      <a:cubicBezTo>
                        <a:pt x="125681" y="80963"/>
                        <a:pt x="161925" y="62841"/>
                        <a:pt x="161925" y="40481"/>
                      </a:cubicBezTo>
                      <a:cubicBezTo>
                        <a:pt x="161925" y="18122"/>
                        <a:pt x="125681" y="0"/>
                        <a:pt x="80963" y="0"/>
                      </a:cubicBezTo>
                      <a:cubicBezTo>
                        <a:pt x="36244" y="0"/>
                        <a:pt x="0" y="18122"/>
                        <a:pt x="0" y="40481"/>
                      </a:cubicBezTo>
                    </a:path>
                  </a:pathLst>
                </a:custGeom>
                <a:noFill/>
                <a:ln w="20241">
                  <a:solidFill>
                    <a:srgbClr val="841600"/>
                  </a:solidFill>
                </a:ln>
              </p:spPr>
            </p:sp>
            <p:sp>
              <p:nvSpPr>
                <p:cNvPr id="168" name="Freeform 168"/>
                <p:cNvSpPr/>
                <p:nvPr/>
              </p:nvSpPr>
              <p:spPr>
                <a:xfrm>
                  <a:off x="3893344" y="6122988"/>
                  <a:ext cx="161925" cy="94456"/>
                </a:xfrm>
                <a:custGeom>
                  <a:avLst/>
                  <a:gdLst/>
                  <a:ahLst/>
                  <a:cxnLst/>
                  <a:rect l="l" t="t" r="r" b="b"/>
                  <a:pathLst>
                    <a:path w="161925" h="94456">
                      <a:moveTo>
                        <a:pt x="0" y="0"/>
                      </a:moveTo>
                      <a:lnTo>
                        <a:pt x="0" y="53975"/>
                      </a:lnTo>
                      <a:cubicBezTo>
                        <a:pt x="0" y="76321"/>
                        <a:pt x="36244" y="94456"/>
                        <a:pt x="80963" y="94456"/>
                      </a:cubicBezTo>
                      <a:cubicBezTo>
                        <a:pt x="125681" y="94456"/>
                        <a:pt x="161925" y="76321"/>
                        <a:pt x="161925" y="53975"/>
                      </a:cubicBezTo>
                      <a:lnTo>
                        <a:pt x="161925" y="0"/>
                      </a:lnTo>
                    </a:path>
                  </a:pathLst>
                </a:custGeom>
                <a:noFill/>
                <a:ln w="20241">
                  <a:solidFill>
                    <a:srgbClr val="841600"/>
                  </a:solidFill>
                </a:ln>
              </p:spPr>
            </p:sp>
            <p:sp>
              <p:nvSpPr>
                <p:cNvPr id="169" name="Freeform 169"/>
                <p:cNvSpPr/>
                <p:nvPr/>
              </p:nvSpPr>
              <p:spPr>
                <a:xfrm>
                  <a:off x="3812381" y="5972748"/>
                  <a:ext cx="161925" cy="84579"/>
                </a:xfrm>
                <a:custGeom>
                  <a:avLst/>
                  <a:gdLst/>
                  <a:ahLst/>
                  <a:cxnLst/>
                  <a:rect l="l" t="t" r="r" b="b"/>
                  <a:pathLst>
                    <a:path w="161925" h="84579">
                      <a:moveTo>
                        <a:pt x="0" y="42290"/>
                      </a:moveTo>
                      <a:cubicBezTo>
                        <a:pt x="0" y="56755"/>
                        <a:pt x="15437" y="70114"/>
                        <a:pt x="40481" y="77346"/>
                      </a:cubicBezTo>
                      <a:cubicBezTo>
                        <a:pt x="65526" y="84579"/>
                        <a:pt x="96400" y="84579"/>
                        <a:pt x="121444" y="77346"/>
                      </a:cubicBezTo>
                      <a:cubicBezTo>
                        <a:pt x="146488" y="70114"/>
                        <a:pt x="161925" y="56755"/>
                        <a:pt x="161925" y="42290"/>
                      </a:cubicBezTo>
                      <a:cubicBezTo>
                        <a:pt x="161925" y="27824"/>
                        <a:pt x="146488" y="14465"/>
                        <a:pt x="121444" y="7233"/>
                      </a:cubicBezTo>
                      <a:cubicBezTo>
                        <a:pt x="96400" y="0"/>
                        <a:pt x="65526" y="0"/>
                        <a:pt x="40481" y="7233"/>
                      </a:cubicBezTo>
                      <a:cubicBezTo>
                        <a:pt x="15437" y="14465"/>
                        <a:pt x="0" y="27824"/>
                        <a:pt x="0" y="42290"/>
                      </a:cubicBezTo>
                    </a:path>
                  </a:pathLst>
                </a:custGeom>
                <a:noFill/>
                <a:ln w="20241">
                  <a:solidFill>
                    <a:srgbClr val="841600"/>
                  </a:solidFill>
                </a:ln>
              </p:spPr>
            </p:sp>
            <p:sp>
              <p:nvSpPr>
                <p:cNvPr id="170" name="Freeform 170"/>
                <p:cNvSpPr/>
                <p:nvPr/>
              </p:nvSpPr>
              <p:spPr>
                <a:xfrm>
                  <a:off x="3812381" y="6015038"/>
                  <a:ext cx="26988" cy="161925"/>
                </a:xfrm>
                <a:custGeom>
                  <a:avLst/>
                  <a:gdLst/>
                  <a:ahLst/>
                  <a:cxnLst/>
                  <a:rect l="l" t="t" r="r" b="b"/>
                  <a:pathLst>
                    <a:path w="26988" h="161925">
                      <a:moveTo>
                        <a:pt x="0" y="0"/>
                      </a:moveTo>
                      <a:lnTo>
                        <a:pt x="0" y="134938"/>
                      </a:lnTo>
                      <a:cubicBezTo>
                        <a:pt x="0" y="146920"/>
                        <a:pt x="10417" y="154504"/>
                        <a:pt x="26988" y="161925"/>
                      </a:cubicBezTo>
                    </a:path>
                  </a:pathLst>
                </a:custGeom>
                <a:noFill/>
                <a:ln w="20241">
                  <a:solidFill>
                    <a:srgbClr val="841600"/>
                  </a:solidFill>
                </a:ln>
              </p:spPr>
            </p:sp>
            <p:sp>
              <p:nvSpPr>
                <p:cNvPr id="171" name="Freeform 171"/>
                <p:cNvSpPr/>
                <p:nvPr/>
              </p:nvSpPr>
              <p:spPr>
                <a:xfrm>
                  <a:off x="3812381" y="6082507"/>
                  <a:ext cx="26988" cy="26988"/>
                </a:xfrm>
                <a:custGeom>
                  <a:avLst/>
                  <a:gdLst/>
                  <a:ahLst/>
                  <a:cxnLst/>
                  <a:rect l="l" t="t" r="r" b="b"/>
                  <a:pathLst>
                    <a:path w="26988" h="26988">
                      <a:moveTo>
                        <a:pt x="0" y="0"/>
                      </a:moveTo>
                      <a:cubicBezTo>
                        <a:pt x="0" y="11982"/>
                        <a:pt x="10417" y="19566"/>
                        <a:pt x="26988" y="26988"/>
                      </a:cubicBezTo>
                    </a:path>
                  </a:pathLst>
                </a:custGeom>
                <a:noFill/>
                <a:ln w="20241">
                  <a:solidFill>
                    <a:srgbClr val="841600"/>
                  </a:solidFill>
                </a:ln>
              </p:spPr>
            </p:sp>
          </p:grpSp>
          <p:sp>
            <p:nvSpPr>
              <p:cNvPr id="173" name="TextBox 173"/>
              <p:cNvSpPr txBox="1"/>
              <p:nvPr/>
            </p:nvSpPr>
            <p:spPr>
              <a:xfrm>
                <a:off x="4205288" y="5937647"/>
                <a:ext cx="1442085" cy="373856"/>
              </a:xfrm>
              <a:prstGeom prst="rect">
                <a:avLst/>
              </a:prstGeom>
              <a:noFill/>
              <a:ln>
                <a:noFill/>
              </a:ln>
            </p:spPr>
            <p:txBody>
              <a:bodyPr wrap="none" lIns="0" tIns="0" rIns="0" bIns="0" anchor="t" anchorCtr="0">
                <a:spAutoFit/>
              </a:bodyPr>
              <a:lstStyle/>
              <a:p>
                <a:pPr algn="l">
                  <a:lnSpc>
                    <a:spcPts val="1500"/>
                  </a:lnSpc>
                </a:pPr>
                <a:r>
                  <a:rPr lang="zh-CN" sz="940" dirty="0">
                    <a:solidFill>
                      <a:srgbClr val="1A1A1A"/>
                    </a:solidFill>
                    <a:latin typeface="+mn-lt"/>
                    <a:ea typeface="+mn-ea"/>
                    <a:cs typeface="+mn-cs"/>
                  </a:rPr>
                  <a:t>统筹贷款定价、</a:t>
                </a:r>
                <a:br/>
                <a:r>
                  <a:rPr lang="zh-CN" sz="940" dirty="0">
                    <a:solidFill>
                      <a:srgbClr val="1A1A1A"/>
                    </a:solidFill>
                    <a:latin typeface="+mn-lt"/>
                    <a:ea typeface="+mn-ea"/>
                    <a:cs typeface="+mn-cs"/>
                  </a:rPr>
                  <a:t>债券投资和流动性资产配置</a:t>
                </a:r>
              </a:p>
            </p:txBody>
          </p:sp>
        </p:grpSp>
        <p:grpSp>
          <p:nvGrpSpPr>
            <p:cNvPr id="181" name="action-3"/>
            <p:cNvGrpSpPr/>
            <p:nvPr/>
          </p:nvGrpSpPr>
          <p:grpSpPr>
            <a:xfrm>
              <a:off x="6134100" y="5905500"/>
              <a:ext cx="2490153" cy="406003"/>
              <a:chOff x="6134100" y="5905500"/>
              <a:chExt cx="2490153" cy="406003"/>
            </a:xfrm>
          </p:grpSpPr>
          <p:sp>
            <p:nvSpPr>
              <p:cNvPr id="175" name="Rectangle 175"/>
              <p:cNvSpPr/>
              <p:nvPr/>
            </p:nvSpPr>
            <p:spPr>
              <a:xfrm>
                <a:off x="6134100" y="5905500"/>
                <a:ext cx="381000" cy="381000"/>
              </a:xfrm>
              <a:prstGeom prst="roundRect">
                <a:avLst>
                  <a:gd name="adj" fmla="val 15000"/>
                </a:avLst>
              </a:prstGeom>
              <a:solidFill>
                <a:srgbClr val="841600"/>
              </a:solidFill>
              <a:ln>
                <a:noFill/>
              </a:ln>
            </p:spPr>
          </p:sp>
          <p:sp>
            <p:nvSpPr>
              <p:cNvPr id="176" name="TextBox 176"/>
              <p:cNvSpPr txBox="1"/>
              <p:nvPr/>
            </p:nvSpPr>
            <p:spPr>
              <a:xfrm>
                <a:off x="6225212" y="602361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03</a:t>
                </a:r>
              </a:p>
            </p:txBody>
          </p:sp>
          <p:grpSp>
            <p:nvGrpSpPr>
              <p:cNvPr id="179" name="Group 179"/>
              <p:cNvGrpSpPr/>
              <p:nvPr/>
            </p:nvGrpSpPr>
            <p:grpSpPr>
              <a:xfrm>
                <a:off x="6683375" y="6015038"/>
                <a:ext cx="215901" cy="184944"/>
                <a:chOff x="6683375" y="6015038"/>
                <a:chExt cx="215901" cy="184944"/>
              </a:xfrm>
            </p:grpSpPr>
            <p:sp>
              <p:nvSpPr>
                <p:cNvPr id="177" name="Freeform 177"/>
                <p:cNvSpPr/>
                <p:nvPr/>
              </p:nvSpPr>
              <p:spPr>
                <a:xfrm>
                  <a:off x="6683375" y="6190457"/>
                  <a:ext cx="215901" cy="9525"/>
                </a:xfrm>
                <a:custGeom>
                  <a:avLst/>
                  <a:gdLst/>
                  <a:ahLst/>
                  <a:cxnLst/>
                  <a:rect l="l" t="t" r="r" b="b"/>
                  <a:pathLst>
                    <a:path w="215901" h="9525">
                      <a:moveTo>
                        <a:pt x="0" y="0"/>
                      </a:moveTo>
                      <a:lnTo>
                        <a:pt x="215901" y="0"/>
                      </a:lnTo>
                    </a:path>
                  </a:pathLst>
                </a:custGeom>
                <a:noFill/>
                <a:ln w="20241">
                  <a:solidFill>
                    <a:srgbClr val="841600"/>
                  </a:solidFill>
                </a:ln>
              </p:spPr>
            </p:sp>
            <p:sp>
              <p:nvSpPr>
                <p:cNvPr id="178" name="Freeform 178"/>
                <p:cNvSpPr/>
                <p:nvPr/>
              </p:nvSpPr>
              <p:spPr>
                <a:xfrm>
                  <a:off x="6683375" y="6015038"/>
                  <a:ext cx="215901" cy="121444"/>
                </a:xfrm>
                <a:custGeom>
                  <a:avLst/>
                  <a:gdLst/>
                  <a:ahLst/>
                  <a:cxnLst/>
                  <a:rect l="l" t="t" r="r" b="b"/>
                  <a:pathLst>
                    <a:path w="215901" h="121444">
                      <a:moveTo>
                        <a:pt x="0" y="121444"/>
                      </a:moveTo>
                      <a:lnTo>
                        <a:pt x="53975" y="40481"/>
                      </a:lnTo>
                      <a:lnTo>
                        <a:pt x="107950" y="67469"/>
                      </a:lnTo>
                      <a:lnTo>
                        <a:pt x="161925" y="0"/>
                      </a:lnTo>
                      <a:lnTo>
                        <a:pt x="215901" y="53975"/>
                      </a:lnTo>
                    </a:path>
                  </a:pathLst>
                </a:custGeom>
                <a:noFill/>
                <a:ln w="20241">
                  <a:solidFill>
                    <a:srgbClr val="841600"/>
                  </a:solidFill>
                </a:ln>
              </p:spPr>
            </p:sp>
          </p:grpSp>
          <p:sp>
            <p:nvSpPr>
              <p:cNvPr id="180" name="TextBox 180"/>
              <p:cNvSpPr txBox="1"/>
              <p:nvPr/>
            </p:nvSpPr>
            <p:spPr>
              <a:xfrm>
                <a:off x="7062788" y="5937647"/>
                <a:ext cx="1561465" cy="373856"/>
              </a:xfrm>
              <a:prstGeom prst="rect">
                <a:avLst/>
              </a:prstGeom>
              <a:noFill/>
              <a:ln>
                <a:noFill/>
              </a:ln>
            </p:spPr>
            <p:txBody>
              <a:bodyPr wrap="none" lIns="0" tIns="0" rIns="0" bIns="0" anchor="t" anchorCtr="0">
                <a:spAutoFit/>
              </a:bodyPr>
              <a:lstStyle/>
              <a:p>
                <a:pPr algn="l">
                  <a:lnSpc>
                    <a:spcPts val="1500"/>
                  </a:lnSpc>
                </a:pPr>
                <a:r>
                  <a:rPr lang="zh-CN" sz="940" dirty="0">
                    <a:solidFill>
                      <a:srgbClr val="1A1A1A"/>
                    </a:solidFill>
                    <a:latin typeface="Arial"/>
                    <a:ea typeface="Microsoft YaHei"/>
                    <a:cs typeface="Arial"/>
                  </a:rPr>
                  <a:t>每日监测净息差、负债成本、</a:t>
                </a:r>
                <a:br/>
                <a:r>
                  <a:rPr lang="zh-CN" sz="940" dirty="0">
                    <a:solidFill>
                      <a:srgbClr val="1A1A1A"/>
                    </a:solidFill>
                    <a:latin typeface="Arial"/>
                    <a:ea typeface="Microsoft YaHei"/>
                    <a:cs typeface="Arial"/>
                  </a:rPr>
                  <a:t xml:space="preserve">LCR与NSFR　</a:t>
                </a:r>
              </a:p>
            </p:txBody>
          </p:sp>
        </p:grpSp>
        <p:grpSp>
          <p:nvGrpSpPr>
            <p:cNvPr id="190" name="action-4"/>
            <p:cNvGrpSpPr/>
            <p:nvPr/>
          </p:nvGrpSpPr>
          <p:grpSpPr>
            <a:xfrm>
              <a:off x="8991600" y="5905500"/>
              <a:ext cx="1773873" cy="406003"/>
              <a:chOff x="8991600" y="5905500"/>
              <a:chExt cx="1773873" cy="406003"/>
            </a:xfrm>
          </p:grpSpPr>
          <p:sp>
            <p:nvSpPr>
              <p:cNvPr id="182" name="Rectangle 182"/>
              <p:cNvSpPr/>
              <p:nvPr/>
            </p:nvSpPr>
            <p:spPr>
              <a:xfrm>
                <a:off x="8991600" y="5905500"/>
                <a:ext cx="381000" cy="381000"/>
              </a:xfrm>
              <a:prstGeom prst="roundRect">
                <a:avLst>
                  <a:gd name="adj" fmla="val 15000"/>
                </a:avLst>
              </a:prstGeom>
              <a:solidFill>
                <a:srgbClr val="841600"/>
              </a:solidFill>
              <a:ln>
                <a:noFill/>
              </a:ln>
            </p:spPr>
          </p:sp>
          <p:sp>
            <p:nvSpPr>
              <p:cNvPr id="183" name="TextBox 183"/>
              <p:cNvSpPr txBox="1"/>
              <p:nvPr/>
            </p:nvSpPr>
            <p:spPr>
              <a:xfrm>
                <a:off x="9082712" y="602361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04</a:t>
                </a:r>
              </a:p>
            </p:txBody>
          </p:sp>
          <p:grpSp>
            <p:nvGrpSpPr>
              <p:cNvPr id="188" name="Group 188"/>
              <p:cNvGrpSpPr/>
              <p:nvPr/>
            </p:nvGrpSpPr>
            <p:grpSpPr>
              <a:xfrm>
                <a:off x="9554369" y="5988050"/>
                <a:ext cx="202407" cy="229394"/>
                <a:chOff x="9554369" y="5988050"/>
                <a:chExt cx="202407" cy="229394"/>
              </a:xfrm>
            </p:grpSpPr>
            <p:sp>
              <p:nvSpPr>
                <p:cNvPr id="184" name="Freeform 184"/>
                <p:cNvSpPr/>
                <p:nvPr/>
              </p:nvSpPr>
              <p:spPr>
                <a:xfrm>
                  <a:off x="9554369" y="5988050"/>
                  <a:ext cx="161925" cy="215901"/>
                </a:xfrm>
                <a:custGeom>
                  <a:avLst/>
                  <a:gdLst/>
                  <a:ahLst/>
                  <a:cxnLst/>
                  <a:rect l="l" t="t" r="r" b="b"/>
                  <a:pathLst>
                    <a:path w="161925" h="215901">
                      <a:moveTo>
                        <a:pt x="62274" y="215901"/>
                      </a:moveTo>
                      <a:lnTo>
                        <a:pt x="26988" y="215901"/>
                      </a:lnTo>
                      <a:cubicBezTo>
                        <a:pt x="12083" y="215901"/>
                        <a:pt x="0" y="203818"/>
                        <a:pt x="0" y="188913"/>
                      </a:cubicBezTo>
                      <a:lnTo>
                        <a:pt x="0" y="26988"/>
                      </a:lnTo>
                      <a:cubicBezTo>
                        <a:pt x="0" y="12083"/>
                        <a:pt x="12083" y="0"/>
                        <a:pt x="26988" y="0"/>
                      </a:cubicBezTo>
                      <a:lnTo>
                        <a:pt x="134938" y="0"/>
                      </a:lnTo>
                      <a:cubicBezTo>
                        <a:pt x="149843" y="0"/>
                        <a:pt x="161925" y="12083"/>
                        <a:pt x="161925" y="26988"/>
                      </a:cubicBezTo>
                      <a:lnTo>
                        <a:pt x="161925" y="134938"/>
                      </a:lnTo>
                    </a:path>
                  </a:pathLst>
                </a:custGeom>
                <a:noFill/>
                <a:ln w="20241">
                  <a:solidFill>
                    <a:srgbClr val="841600"/>
                  </a:solidFill>
                </a:ln>
              </p:spPr>
            </p:sp>
            <p:sp>
              <p:nvSpPr>
                <p:cNvPr id="185" name="Freeform 185"/>
                <p:cNvSpPr/>
                <p:nvPr/>
              </p:nvSpPr>
              <p:spPr>
                <a:xfrm>
                  <a:off x="9675813" y="6163469"/>
                  <a:ext cx="80963" cy="53975"/>
                </a:xfrm>
                <a:custGeom>
                  <a:avLst/>
                  <a:gdLst/>
                  <a:ahLst/>
                  <a:cxnLst/>
                  <a:rect l="l" t="t" r="r" b="b"/>
                  <a:pathLst>
                    <a:path w="80963" h="53975">
                      <a:moveTo>
                        <a:pt x="0" y="26988"/>
                      </a:moveTo>
                      <a:lnTo>
                        <a:pt x="26988" y="53975"/>
                      </a:lnTo>
                      <a:lnTo>
                        <a:pt x="80963" y="0"/>
                      </a:lnTo>
                    </a:path>
                  </a:pathLst>
                </a:custGeom>
                <a:noFill/>
                <a:ln w="20241">
                  <a:solidFill>
                    <a:srgbClr val="841600"/>
                  </a:solidFill>
                </a:ln>
              </p:spPr>
            </p:sp>
            <p:sp>
              <p:nvSpPr>
                <p:cNvPr id="186" name="Freeform 186"/>
                <p:cNvSpPr/>
                <p:nvPr/>
              </p:nvSpPr>
              <p:spPr>
                <a:xfrm>
                  <a:off x="9608344" y="6042025"/>
                  <a:ext cx="53975" cy="9525"/>
                </a:xfrm>
                <a:custGeom>
                  <a:avLst/>
                  <a:gdLst/>
                  <a:ahLst/>
                  <a:cxnLst/>
                  <a:rect l="l" t="t" r="r" b="b"/>
                  <a:pathLst>
                    <a:path w="53975" h="9525">
                      <a:moveTo>
                        <a:pt x="0" y="0"/>
                      </a:moveTo>
                      <a:lnTo>
                        <a:pt x="53975" y="0"/>
                      </a:lnTo>
                    </a:path>
                  </a:pathLst>
                </a:custGeom>
                <a:noFill/>
                <a:ln w="20241">
                  <a:solidFill>
                    <a:srgbClr val="841600"/>
                  </a:solidFill>
                </a:ln>
              </p:spPr>
            </p:sp>
            <p:sp>
              <p:nvSpPr>
                <p:cNvPr id="187" name="Freeform 187"/>
                <p:cNvSpPr/>
                <p:nvPr/>
              </p:nvSpPr>
              <p:spPr>
                <a:xfrm>
                  <a:off x="9608344" y="6096000"/>
                  <a:ext cx="26988" cy="9525"/>
                </a:xfrm>
                <a:custGeom>
                  <a:avLst/>
                  <a:gdLst/>
                  <a:ahLst/>
                  <a:cxnLst/>
                  <a:rect l="l" t="t" r="r" b="b"/>
                  <a:pathLst>
                    <a:path w="26988" h="9525">
                      <a:moveTo>
                        <a:pt x="0" y="0"/>
                      </a:moveTo>
                      <a:lnTo>
                        <a:pt x="26988" y="0"/>
                      </a:lnTo>
                    </a:path>
                  </a:pathLst>
                </a:custGeom>
                <a:noFill/>
                <a:ln w="20241">
                  <a:solidFill>
                    <a:srgbClr val="841600"/>
                  </a:solidFill>
                </a:ln>
              </p:spPr>
            </p:sp>
          </p:grpSp>
          <p:sp>
            <p:nvSpPr>
              <p:cNvPr id="189" name="TextBox 189"/>
              <p:cNvSpPr txBox="1"/>
              <p:nvPr/>
            </p:nvSpPr>
            <p:spPr>
              <a:xfrm>
                <a:off x="9920288" y="5937647"/>
                <a:ext cx="845185" cy="373856"/>
              </a:xfrm>
              <a:prstGeom prst="rect">
                <a:avLst/>
              </a:prstGeom>
              <a:noFill/>
              <a:ln>
                <a:noFill/>
              </a:ln>
            </p:spPr>
            <p:txBody>
              <a:bodyPr wrap="none" lIns="0" tIns="0" rIns="0" bIns="0" anchor="t" anchorCtr="0">
                <a:spAutoFit/>
              </a:bodyPr>
              <a:lstStyle/>
              <a:p>
                <a:pPr algn="l">
                  <a:lnSpc>
                    <a:spcPts val="1500"/>
                  </a:lnSpc>
                </a:pPr>
                <a:r>
                  <a:rPr lang="zh-CN" sz="940" dirty="0">
                    <a:solidFill>
                      <a:srgbClr val="1A1A1A"/>
                    </a:solidFill>
                    <a:latin typeface="+mn-lt"/>
                    <a:ea typeface="+mn-ea"/>
                    <a:cs typeface="+mn-cs"/>
                  </a:rPr>
                  <a:t>开展利率与</a:t>
                </a:r>
                <a:br/>
                <a:r>
                  <a:rPr lang="zh-CN" sz="940" dirty="0">
                    <a:solidFill>
                      <a:srgbClr val="1A1A1A"/>
                    </a:solidFill>
                    <a:latin typeface="+mn-lt"/>
                    <a:ea typeface="+mn-ea"/>
                    <a:cs typeface="+mn-cs"/>
                  </a:rPr>
                  <a:t>流动性压力测试</a:t>
                </a:r>
              </a:p>
            </p:txBody>
          </p:sp>
        </p:grpSp>
      </p:gr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12</a:t>
              </a:r>
            </a:p>
          </p:txBody>
        </p:sp>
        <p:sp>
          <p:nvSpPr>
            <p:cNvPr id="4" name="TextBox 4"/>
            <p:cNvSpPr txBox="1"/>
            <p:nvPr/>
          </p:nvSpPr>
          <p:spPr>
            <a:xfrm>
              <a:off x="942594" y="151448"/>
              <a:ext cx="8340852"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授信审批部</a:t>
              </a:r>
              <a:r>
                <a:rPr lang="zh-CN" sz="1950" b="1" dirty="0">
                  <a:solidFill>
                    <a:srgbClr val="1A1A1A"/>
                  </a:solidFill>
                  <a:latin typeface="SimSun"/>
                  <a:ea typeface="SimSun"/>
                  <a:cs typeface="SimSun"/>
                </a:rPr>
                <a:t>｜提升重点项目审批效率，强化行业政策和授信标准传导</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8" name="page-subtitle"/>
          <p:cNvGrpSpPr/>
          <p:nvPr/>
        </p:nvGrpSpPr>
        <p:grpSpPr>
          <a:xfrm>
            <a:off x="947738" y="664845"/>
            <a:ext cx="1705737" cy="176212"/>
            <a:chOff x="947738" y="664845"/>
            <a:chExt cx="1705737" cy="176212"/>
          </a:xfrm>
        </p:grpSpPr>
        <p:sp>
          <p:nvSpPr>
            <p:cNvPr id="7" name="TextBox 7"/>
            <p:cNvSpPr txBox="1"/>
            <p:nvPr/>
          </p:nvSpPr>
          <p:spPr>
            <a:xfrm>
              <a:off x="947738" y="664845"/>
              <a:ext cx="1705737"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在风险可控前提下提升审批质效</a:t>
              </a:r>
            </a:p>
          </p:txBody>
        </p:sp>
      </p:grpSp>
      <p:grpSp>
        <p:nvGrpSpPr>
          <p:cNvPr id="11" name="corner-tag"/>
          <p:cNvGrpSpPr/>
          <p:nvPr/>
        </p:nvGrpSpPr>
        <p:grpSpPr>
          <a:xfrm>
            <a:off x="10434638" y="608886"/>
            <a:ext cx="1457424" cy="254794"/>
            <a:chOff x="10434638" y="608886"/>
            <a:chExt cx="1457424" cy="254794"/>
          </a:xfrm>
        </p:grpSpPr>
        <p:sp>
          <p:nvSpPr>
            <p:cNvPr id="9" name="TextBox 9"/>
            <p:cNvSpPr txBox="1"/>
            <p:nvPr/>
          </p:nvSpPr>
          <p:spPr>
            <a:xfrm>
              <a:off x="10434638" y="608886"/>
              <a:ext cx="957946" cy="140494"/>
            </a:xfrm>
            <a:prstGeom prst="rect">
              <a:avLst/>
            </a:prstGeom>
            <a:noFill/>
            <a:ln>
              <a:noFill/>
            </a:ln>
          </p:spPr>
          <p:txBody>
            <a:bodyPr wrap="none" lIns="0" tIns="0" rIns="0" bIns="0" anchor="t" anchorCtr="0">
              <a:spAutoFit/>
            </a:bodyPr>
            <a:lstStyle/>
            <a:p>
              <a:pPr algn="l"/>
              <a:r>
                <a:rPr lang="en-US" sz="710" dirty="0">
                  <a:solidFill>
                    <a:srgbClr val="987F7A"/>
                  </a:solidFill>
                  <a:latin typeface="Arial"/>
                  <a:ea typeface="Arial"/>
                  <a:cs typeface="Arial"/>
                </a:rPr>
                <a:t>CREDIT APPROVAL</a:t>
              </a:r>
            </a:p>
          </p:txBody>
        </p:sp>
        <p:sp>
          <p:nvSpPr>
            <p:cNvPr id="10" name="TextBox 10"/>
            <p:cNvSpPr txBox="1"/>
            <p:nvPr/>
          </p:nvSpPr>
          <p:spPr>
            <a:xfrm>
              <a:off x="10434638" y="723186"/>
              <a:ext cx="1457424" cy="140494"/>
            </a:xfrm>
            <a:prstGeom prst="rect">
              <a:avLst/>
            </a:prstGeom>
            <a:noFill/>
            <a:ln>
              <a:noFill/>
            </a:ln>
          </p:spPr>
          <p:txBody>
            <a:bodyPr wrap="none" lIns="0" tIns="0" rIns="0" bIns="0" anchor="t" anchorCtr="0">
              <a:spAutoFit/>
            </a:bodyPr>
            <a:lstStyle/>
            <a:p>
              <a:pPr algn="l"/>
              <a:r>
                <a:rPr lang="en-US" sz="710" dirty="0">
                  <a:solidFill>
                    <a:srgbClr val="987F7A"/>
                  </a:solidFill>
                  <a:latin typeface="Arial"/>
                  <a:ea typeface="Arial"/>
                  <a:cs typeface="Arial"/>
                </a:rPr>
                <a:t>2026 H2 · PRESIDENT OFFICE</a:t>
              </a:r>
            </a:p>
          </p:txBody>
        </p:sp>
      </p:grpSp>
      <p:grpSp>
        <p:nvGrpSpPr>
          <p:cNvPr id="122" name="approval-swimlane"/>
          <p:cNvGrpSpPr/>
          <p:nvPr/>
        </p:nvGrpSpPr>
        <p:grpSpPr>
          <a:xfrm>
            <a:off x="266700" y="876300"/>
            <a:ext cx="7867650" cy="4267200"/>
            <a:chOff x="266700" y="876300"/>
            <a:chExt cx="7867650" cy="4267200"/>
          </a:xfrm>
        </p:grpSpPr>
        <p:sp>
          <p:nvSpPr>
            <p:cNvPr id="12" name="Rectangle 12"/>
            <p:cNvSpPr/>
            <p:nvPr/>
          </p:nvSpPr>
          <p:spPr>
            <a:xfrm>
              <a:off x="266700" y="876300"/>
              <a:ext cx="7867650" cy="4267200"/>
            </a:xfrm>
            <a:prstGeom prst="roundRect">
              <a:avLst>
                <a:gd name="adj" fmla="val 2232"/>
              </a:avLst>
            </a:prstGeom>
            <a:solidFill>
              <a:srgbClr val="FFFFFF"/>
            </a:solidFill>
            <a:ln w="9525">
              <a:solidFill>
                <a:srgbClr val="D7E2F2"/>
              </a:solidFill>
            </a:ln>
          </p:spPr>
        </p:sp>
        <p:sp>
          <p:nvSpPr>
            <p:cNvPr id="13" name="Rectangle 13"/>
            <p:cNvSpPr/>
            <p:nvPr/>
          </p:nvSpPr>
          <p:spPr>
            <a:xfrm>
              <a:off x="266700" y="876300"/>
              <a:ext cx="7867650" cy="381000"/>
            </a:xfrm>
            <a:prstGeom prst="roundRect">
              <a:avLst>
                <a:gd name="adj" fmla="val 25000"/>
              </a:avLst>
            </a:prstGeom>
            <a:solidFill>
              <a:srgbClr val="841600"/>
            </a:solidFill>
            <a:ln>
              <a:noFill/>
            </a:ln>
          </p:spPr>
        </p:sp>
        <p:sp>
          <p:nvSpPr>
            <p:cNvPr id="14" name="Rectangle 14"/>
            <p:cNvSpPr/>
            <p:nvPr/>
          </p:nvSpPr>
          <p:spPr>
            <a:xfrm>
              <a:off x="266700" y="1085850"/>
              <a:ext cx="7867650" cy="171450"/>
            </a:xfrm>
            <a:prstGeom prst="rect">
              <a:avLst/>
            </a:prstGeom>
            <a:solidFill>
              <a:srgbClr val="841600"/>
            </a:solidFill>
            <a:ln>
              <a:noFill/>
            </a:ln>
          </p:spPr>
        </p:sp>
        <p:sp>
          <p:nvSpPr>
            <p:cNvPr id="15" name="TextBox 15"/>
            <p:cNvSpPr txBox="1"/>
            <p:nvPr/>
          </p:nvSpPr>
          <p:spPr>
            <a:xfrm>
              <a:off x="3629025" y="1003935"/>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审批流程泳道图</a:t>
              </a:r>
            </a:p>
          </p:txBody>
        </p:sp>
        <p:sp>
          <p:nvSpPr>
            <p:cNvPr id="16" name="Line 16"/>
            <p:cNvSpPr/>
            <p:nvPr/>
          </p:nvSpPr>
          <p:spPr>
            <a:xfrm>
              <a:off x="1333500" y="1657350"/>
              <a:ext cx="6667500" cy="9525"/>
            </a:xfrm>
            <a:custGeom>
              <a:avLst/>
              <a:gdLst/>
              <a:ahLst/>
              <a:cxnLst/>
              <a:rect l="l" t="t" r="r" b="b"/>
              <a:pathLst>
                <a:path w="6667500" h="9525">
                  <a:moveTo>
                    <a:pt x="0" y="0"/>
                  </a:moveTo>
                  <a:lnTo>
                    <a:pt x="6667500" y="0"/>
                  </a:lnTo>
                </a:path>
              </a:pathLst>
            </a:custGeom>
            <a:noFill/>
            <a:ln w="9525">
              <a:solidFill>
                <a:srgbClr val="E5ECF6"/>
              </a:solidFill>
            </a:ln>
          </p:spPr>
        </p:sp>
        <p:sp>
          <p:nvSpPr>
            <p:cNvPr id="17" name="Line 17"/>
            <p:cNvSpPr/>
            <p:nvPr/>
          </p:nvSpPr>
          <p:spPr>
            <a:xfrm>
              <a:off x="1333500" y="2266950"/>
              <a:ext cx="6667500" cy="9525"/>
            </a:xfrm>
            <a:custGeom>
              <a:avLst/>
              <a:gdLst/>
              <a:ahLst/>
              <a:cxnLst/>
              <a:rect l="l" t="t" r="r" b="b"/>
              <a:pathLst>
                <a:path w="6667500" h="9525">
                  <a:moveTo>
                    <a:pt x="0" y="0"/>
                  </a:moveTo>
                  <a:lnTo>
                    <a:pt x="6667500" y="0"/>
                  </a:lnTo>
                </a:path>
              </a:pathLst>
            </a:custGeom>
            <a:noFill/>
            <a:ln w="9525">
              <a:solidFill>
                <a:srgbClr val="E5ECF6"/>
              </a:solidFill>
            </a:ln>
          </p:spPr>
        </p:sp>
        <p:sp>
          <p:nvSpPr>
            <p:cNvPr id="18" name="Line 18"/>
            <p:cNvSpPr/>
            <p:nvPr/>
          </p:nvSpPr>
          <p:spPr>
            <a:xfrm>
              <a:off x="1333500" y="2876550"/>
              <a:ext cx="6667500" cy="9525"/>
            </a:xfrm>
            <a:custGeom>
              <a:avLst/>
              <a:gdLst/>
              <a:ahLst/>
              <a:cxnLst/>
              <a:rect l="l" t="t" r="r" b="b"/>
              <a:pathLst>
                <a:path w="6667500" h="9525">
                  <a:moveTo>
                    <a:pt x="0" y="0"/>
                  </a:moveTo>
                  <a:lnTo>
                    <a:pt x="6667500" y="0"/>
                  </a:lnTo>
                </a:path>
              </a:pathLst>
            </a:custGeom>
            <a:noFill/>
            <a:ln w="9525">
              <a:solidFill>
                <a:srgbClr val="E5ECF6"/>
              </a:solidFill>
            </a:ln>
          </p:spPr>
        </p:sp>
        <p:sp>
          <p:nvSpPr>
            <p:cNvPr id="19" name="Line 19"/>
            <p:cNvSpPr/>
            <p:nvPr/>
          </p:nvSpPr>
          <p:spPr>
            <a:xfrm>
              <a:off x="1333500" y="3486150"/>
              <a:ext cx="6667500" cy="9525"/>
            </a:xfrm>
            <a:custGeom>
              <a:avLst/>
              <a:gdLst/>
              <a:ahLst/>
              <a:cxnLst/>
              <a:rect l="l" t="t" r="r" b="b"/>
              <a:pathLst>
                <a:path w="6667500" h="9525">
                  <a:moveTo>
                    <a:pt x="0" y="0"/>
                  </a:moveTo>
                  <a:lnTo>
                    <a:pt x="6667500" y="0"/>
                  </a:lnTo>
                </a:path>
              </a:pathLst>
            </a:custGeom>
            <a:noFill/>
            <a:ln w="9525">
              <a:solidFill>
                <a:srgbClr val="E5ECF6"/>
              </a:solidFill>
            </a:ln>
          </p:spPr>
        </p:sp>
        <p:sp>
          <p:nvSpPr>
            <p:cNvPr id="20" name="Line 20"/>
            <p:cNvSpPr/>
            <p:nvPr/>
          </p:nvSpPr>
          <p:spPr>
            <a:xfrm>
              <a:off x="1333500" y="4095750"/>
              <a:ext cx="6667500" cy="9525"/>
            </a:xfrm>
            <a:custGeom>
              <a:avLst/>
              <a:gdLst/>
              <a:ahLst/>
              <a:cxnLst/>
              <a:rect l="l" t="t" r="r" b="b"/>
              <a:pathLst>
                <a:path w="6667500" h="9525">
                  <a:moveTo>
                    <a:pt x="0" y="0"/>
                  </a:moveTo>
                  <a:lnTo>
                    <a:pt x="6667500" y="0"/>
                  </a:lnTo>
                </a:path>
              </a:pathLst>
            </a:custGeom>
            <a:noFill/>
            <a:ln w="9525">
              <a:solidFill>
                <a:srgbClr val="E5ECF6"/>
              </a:solidFill>
            </a:ln>
          </p:spPr>
        </p:sp>
        <p:grpSp>
          <p:nvGrpSpPr>
            <p:cNvPr id="37" name="lane-1"/>
            <p:cNvGrpSpPr/>
            <p:nvPr/>
          </p:nvGrpSpPr>
          <p:grpSpPr>
            <a:xfrm>
              <a:off x="381000" y="1409700"/>
              <a:ext cx="2476500" cy="495300"/>
              <a:chOff x="381000" y="1409700"/>
              <a:chExt cx="2476500" cy="495300"/>
            </a:xfrm>
          </p:grpSpPr>
          <p:sp>
            <p:nvSpPr>
              <p:cNvPr id="21" name="Rectangle 21"/>
              <p:cNvSpPr/>
              <p:nvPr/>
            </p:nvSpPr>
            <p:spPr>
              <a:xfrm>
                <a:off x="381000" y="1409700"/>
                <a:ext cx="914400" cy="495300"/>
              </a:xfrm>
              <a:prstGeom prst="roundRect">
                <a:avLst>
                  <a:gd name="adj" fmla="val 11538"/>
                </a:avLst>
              </a:prstGeom>
              <a:solidFill>
                <a:srgbClr val="841600"/>
              </a:solidFill>
              <a:ln>
                <a:noFill/>
              </a:ln>
            </p:spPr>
          </p:sp>
          <p:grpSp>
            <p:nvGrpSpPr>
              <p:cNvPr id="26" name="Group 26"/>
              <p:cNvGrpSpPr/>
              <p:nvPr/>
            </p:nvGrpSpPr>
            <p:grpSpPr>
              <a:xfrm>
                <a:off x="483394" y="1578769"/>
                <a:ext cx="157163" cy="157163"/>
                <a:chOff x="483394" y="1578769"/>
                <a:chExt cx="157163" cy="157163"/>
              </a:xfrm>
            </p:grpSpPr>
            <p:sp>
              <p:nvSpPr>
                <p:cNvPr id="22" name="Freeform 22"/>
                <p:cNvSpPr/>
                <p:nvPr/>
              </p:nvSpPr>
              <p:spPr>
                <a:xfrm>
                  <a:off x="500856" y="15787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23" name="Freeform 23"/>
                <p:cNvSpPr/>
                <p:nvPr/>
              </p:nvSpPr>
              <p:spPr>
                <a:xfrm>
                  <a:off x="483394" y="168354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24" name="Freeform 24"/>
                <p:cNvSpPr/>
                <p:nvPr/>
              </p:nvSpPr>
              <p:spPr>
                <a:xfrm>
                  <a:off x="596900" y="157990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25" name="Freeform 25"/>
                <p:cNvSpPr/>
                <p:nvPr/>
              </p:nvSpPr>
              <p:spPr>
                <a:xfrm>
                  <a:off x="614363" y="168485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27" name="TextBox 27"/>
              <p:cNvSpPr txBox="1"/>
              <p:nvPr/>
            </p:nvSpPr>
            <p:spPr>
              <a:xfrm>
                <a:off x="719138" y="1519238"/>
                <a:ext cx="65056" cy="147638"/>
              </a:xfrm>
              <a:prstGeom prst="rect">
                <a:avLst/>
              </a:prstGeom>
              <a:noFill/>
              <a:ln>
                <a:noFill/>
              </a:ln>
            </p:spPr>
            <p:txBody>
              <a:bodyPr wrap="none" lIns="0" tIns="0" rIns="0" bIns="0" anchor="t" anchorCtr="0">
                <a:spAutoFit/>
              </a:bodyPr>
              <a:lstStyle/>
              <a:p>
                <a:pPr algn="l"/>
                <a:r>
                  <a:rPr lang="zh-CN" sz="750" dirty="0">
                    <a:solidFill>
                      <a:srgbClr val="DCE6F8"/>
                    </a:solidFill>
                    <a:latin typeface="+mn-lt"/>
                    <a:ea typeface="+mn-ea"/>
                    <a:cs typeface="+mn-cs"/>
                  </a:rPr>
                  <a:t>1</a:t>
                </a:r>
              </a:p>
            </p:txBody>
          </p:sp>
          <p:sp>
            <p:nvSpPr>
              <p:cNvPr id="28" name="TextBox 28"/>
              <p:cNvSpPr txBox="1"/>
              <p:nvPr/>
            </p:nvSpPr>
            <p:spPr>
              <a:xfrm>
                <a:off x="719138" y="1674495"/>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客户经理</a:t>
                </a:r>
              </a:p>
            </p:txBody>
          </p:sp>
          <p:sp>
            <p:nvSpPr>
              <p:cNvPr id="29" name="Rectangle 29"/>
              <p:cNvSpPr/>
              <p:nvPr/>
            </p:nvSpPr>
            <p:spPr>
              <a:xfrm>
                <a:off x="1524000" y="1466850"/>
                <a:ext cx="1333500" cy="381000"/>
              </a:xfrm>
              <a:prstGeom prst="roundRect">
                <a:avLst>
                  <a:gd name="adj" fmla="val 15000"/>
                </a:avLst>
              </a:prstGeom>
              <a:solidFill>
                <a:srgbClr val="FFFFFF"/>
              </a:solidFill>
              <a:ln w="14288">
                <a:solidFill>
                  <a:srgbClr val="841600"/>
                </a:solidFill>
              </a:ln>
            </p:spPr>
          </p:sp>
          <p:grpSp>
            <p:nvGrpSpPr>
              <p:cNvPr id="35" name="Group 35"/>
              <p:cNvGrpSpPr/>
              <p:nvPr/>
            </p:nvGrpSpPr>
            <p:grpSpPr>
              <a:xfrm>
                <a:off x="1677987" y="1585912"/>
                <a:ext cx="111125" cy="142875"/>
                <a:chOff x="1677987" y="1585912"/>
                <a:chExt cx="111125" cy="142875"/>
              </a:xfrm>
            </p:grpSpPr>
            <p:sp>
              <p:nvSpPr>
                <p:cNvPr id="30" name="Freeform 30"/>
                <p:cNvSpPr/>
                <p:nvPr/>
              </p:nvSpPr>
              <p:spPr>
                <a:xfrm>
                  <a:off x="1749425" y="15859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841600"/>
                  </a:solidFill>
                </a:ln>
              </p:spPr>
            </p:sp>
            <p:sp>
              <p:nvSpPr>
                <p:cNvPr id="31" name="Freeform 31"/>
                <p:cNvSpPr/>
                <p:nvPr/>
              </p:nvSpPr>
              <p:spPr>
                <a:xfrm>
                  <a:off x="1677987" y="15859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841600"/>
                  </a:solidFill>
                </a:ln>
              </p:spPr>
            </p:sp>
            <p:sp>
              <p:nvSpPr>
                <p:cNvPr id="32" name="Freeform 32"/>
                <p:cNvSpPr/>
                <p:nvPr/>
              </p:nvSpPr>
              <p:spPr>
                <a:xfrm>
                  <a:off x="1709737" y="1633537"/>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33" name="Freeform 33"/>
                <p:cNvSpPr/>
                <p:nvPr/>
              </p:nvSpPr>
              <p:spPr>
                <a:xfrm>
                  <a:off x="1709737" y="1665287"/>
                  <a:ext cx="47625" cy="9525"/>
                </a:xfrm>
                <a:custGeom>
                  <a:avLst/>
                  <a:gdLst/>
                  <a:ahLst/>
                  <a:cxnLst/>
                  <a:rect l="l" t="t" r="r" b="b"/>
                  <a:pathLst>
                    <a:path w="47625" h="9525">
                      <a:moveTo>
                        <a:pt x="0" y="0"/>
                      </a:moveTo>
                      <a:lnTo>
                        <a:pt x="47625" y="0"/>
                      </a:lnTo>
                    </a:path>
                  </a:pathLst>
                </a:custGeom>
                <a:noFill/>
                <a:ln w="15875">
                  <a:solidFill>
                    <a:srgbClr val="841600"/>
                  </a:solidFill>
                </a:ln>
              </p:spPr>
            </p:sp>
            <p:sp>
              <p:nvSpPr>
                <p:cNvPr id="34" name="Freeform 34"/>
                <p:cNvSpPr/>
                <p:nvPr/>
              </p:nvSpPr>
              <p:spPr>
                <a:xfrm>
                  <a:off x="1709737" y="1697037"/>
                  <a:ext cx="47625" cy="9525"/>
                </a:xfrm>
                <a:custGeom>
                  <a:avLst/>
                  <a:gdLst/>
                  <a:ahLst/>
                  <a:cxnLst/>
                  <a:rect l="l" t="t" r="r" b="b"/>
                  <a:pathLst>
                    <a:path w="47625" h="9525">
                      <a:moveTo>
                        <a:pt x="0" y="0"/>
                      </a:moveTo>
                      <a:lnTo>
                        <a:pt x="47625" y="0"/>
                      </a:lnTo>
                    </a:path>
                  </a:pathLst>
                </a:custGeom>
                <a:noFill/>
                <a:ln w="15875">
                  <a:solidFill>
                    <a:srgbClr val="841600"/>
                  </a:solidFill>
                </a:ln>
              </p:spPr>
            </p:sp>
          </p:grpSp>
          <p:sp>
            <p:nvSpPr>
              <p:cNvPr id="36" name="TextBox 36"/>
              <p:cNvSpPr txBox="1"/>
              <p:nvPr/>
            </p:nvSpPr>
            <p:spPr>
              <a:xfrm>
                <a:off x="1899666" y="1601152"/>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材料准备</a:t>
                </a:r>
              </a:p>
            </p:txBody>
          </p:sp>
        </p:grpSp>
        <p:sp>
          <p:nvSpPr>
            <p:cNvPr id="38" name="Freeform 38"/>
            <p:cNvSpPr/>
            <p:nvPr/>
          </p:nvSpPr>
          <p:spPr>
            <a:xfrm>
              <a:off x="2857500" y="1657350"/>
              <a:ext cx="190500" cy="400050"/>
            </a:xfrm>
            <a:custGeom>
              <a:avLst/>
              <a:gdLst/>
              <a:ahLst/>
              <a:cxnLst/>
              <a:rect l="l" t="t" r="r" b="b"/>
              <a:pathLst>
                <a:path w="190500" h="400050">
                  <a:moveTo>
                    <a:pt x="0" y="0"/>
                  </a:moveTo>
                  <a:lnTo>
                    <a:pt x="190500" y="0"/>
                  </a:lnTo>
                  <a:lnTo>
                    <a:pt x="190500" y="400050"/>
                  </a:lnTo>
                </a:path>
              </a:pathLst>
            </a:custGeom>
            <a:noFill/>
            <a:ln w="14288">
              <a:solidFill>
                <a:srgbClr val="C9482E"/>
              </a:solidFill>
              <a:custDash>
                <a:ds d="266667" sp="200000"/>
              </a:custDash>
              <a:tailEnd type="triangle" w="lg" len="lg"/>
            </a:ln>
          </p:spPr>
        </p:sp>
        <p:grpSp>
          <p:nvGrpSpPr>
            <p:cNvPr id="59" name="lane-2"/>
            <p:cNvGrpSpPr/>
            <p:nvPr/>
          </p:nvGrpSpPr>
          <p:grpSpPr>
            <a:xfrm>
              <a:off x="381000" y="2019300"/>
              <a:ext cx="5334000" cy="495300"/>
              <a:chOff x="381000" y="2019300"/>
              <a:chExt cx="5334000" cy="495300"/>
            </a:xfrm>
          </p:grpSpPr>
          <p:sp>
            <p:nvSpPr>
              <p:cNvPr id="39" name="Rectangle 39"/>
              <p:cNvSpPr/>
              <p:nvPr/>
            </p:nvSpPr>
            <p:spPr>
              <a:xfrm>
                <a:off x="381000" y="2019300"/>
                <a:ext cx="914400" cy="495300"/>
              </a:xfrm>
              <a:prstGeom prst="roundRect">
                <a:avLst>
                  <a:gd name="adj" fmla="val 11538"/>
                </a:avLst>
              </a:prstGeom>
              <a:solidFill>
                <a:srgbClr val="841600"/>
              </a:solidFill>
              <a:ln>
                <a:noFill/>
              </a:ln>
            </p:spPr>
          </p:sp>
          <p:grpSp>
            <p:nvGrpSpPr>
              <p:cNvPr id="42" name="Group 42"/>
              <p:cNvGrpSpPr/>
              <p:nvPr/>
            </p:nvGrpSpPr>
            <p:grpSpPr>
              <a:xfrm>
                <a:off x="471610" y="2188369"/>
                <a:ext cx="170506" cy="157162"/>
                <a:chOff x="471610" y="2188369"/>
                <a:chExt cx="170506" cy="157162"/>
              </a:xfrm>
            </p:grpSpPr>
            <p:sp>
              <p:nvSpPr>
                <p:cNvPr id="40" name="Freeform 40"/>
                <p:cNvSpPr/>
                <p:nvPr/>
              </p:nvSpPr>
              <p:spPr>
                <a:xfrm>
                  <a:off x="471610" y="218836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FFFFFF"/>
                  </a:solidFill>
                </a:ln>
              </p:spPr>
            </p:sp>
            <p:sp>
              <p:nvSpPr>
                <p:cNvPr id="41" name="Freeform 41"/>
                <p:cNvSpPr/>
                <p:nvPr/>
              </p:nvSpPr>
              <p:spPr>
                <a:xfrm>
                  <a:off x="588169" y="2310606"/>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43" name="TextBox 43"/>
              <p:cNvSpPr txBox="1"/>
              <p:nvPr/>
            </p:nvSpPr>
            <p:spPr>
              <a:xfrm>
                <a:off x="719138" y="2128838"/>
                <a:ext cx="65056" cy="147638"/>
              </a:xfrm>
              <a:prstGeom prst="rect">
                <a:avLst/>
              </a:prstGeom>
              <a:noFill/>
              <a:ln>
                <a:noFill/>
              </a:ln>
            </p:spPr>
            <p:txBody>
              <a:bodyPr wrap="none" lIns="0" tIns="0" rIns="0" bIns="0" anchor="t" anchorCtr="0">
                <a:spAutoFit/>
              </a:bodyPr>
              <a:lstStyle/>
              <a:p>
                <a:pPr algn="l"/>
                <a:r>
                  <a:rPr lang="zh-CN" sz="750" dirty="0">
                    <a:solidFill>
                      <a:srgbClr val="DCE6F8"/>
                    </a:solidFill>
                    <a:latin typeface="+mn-lt"/>
                    <a:ea typeface="+mn-ea"/>
                    <a:cs typeface="+mn-cs"/>
                  </a:rPr>
                  <a:t>2</a:t>
                </a:r>
              </a:p>
            </p:txBody>
          </p:sp>
          <p:sp>
            <p:nvSpPr>
              <p:cNvPr id="44" name="TextBox 44"/>
              <p:cNvSpPr txBox="1"/>
              <p:nvPr/>
            </p:nvSpPr>
            <p:spPr>
              <a:xfrm>
                <a:off x="719138" y="2284095"/>
                <a:ext cx="25184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风险</a:t>
                </a:r>
              </a:p>
            </p:txBody>
          </p:sp>
          <p:sp>
            <p:nvSpPr>
              <p:cNvPr id="45" name="Rectangle 45"/>
              <p:cNvSpPr/>
              <p:nvPr/>
            </p:nvSpPr>
            <p:spPr>
              <a:xfrm>
                <a:off x="2381250" y="2076450"/>
                <a:ext cx="1333500" cy="381000"/>
              </a:xfrm>
              <a:prstGeom prst="roundRect">
                <a:avLst>
                  <a:gd name="adj" fmla="val 15000"/>
                </a:avLst>
              </a:prstGeom>
              <a:solidFill>
                <a:srgbClr val="FFFFFF"/>
              </a:solidFill>
              <a:ln w="14288">
                <a:solidFill>
                  <a:srgbClr val="841600"/>
                </a:solidFill>
              </a:ln>
            </p:spPr>
          </p:sp>
          <p:grpSp>
            <p:nvGrpSpPr>
              <p:cNvPr id="48" name="Group 48"/>
              <p:cNvGrpSpPr/>
              <p:nvPr/>
            </p:nvGrpSpPr>
            <p:grpSpPr>
              <a:xfrm>
                <a:off x="2519362" y="2195512"/>
                <a:ext cx="142875" cy="142875"/>
                <a:chOff x="2519362" y="2195512"/>
                <a:chExt cx="142875" cy="142875"/>
              </a:xfrm>
            </p:grpSpPr>
            <p:sp>
              <p:nvSpPr>
                <p:cNvPr id="46" name="Freeform 46"/>
                <p:cNvSpPr/>
                <p:nvPr/>
              </p:nvSpPr>
              <p:spPr>
                <a:xfrm>
                  <a:off x="2519362" y="21955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841600"/>
                  </a:solidFill>
                </a:ln>
              </p:spPr>
            </p:sp>
            <p:sp>
              <p:nvSpPr>
                <p:cNvPr id="47" name="Freeform 47"/>
                <p:cNvSpPr/>
                <p:nvPr/>
              </p:nvSpPr>
              <p:spPr>
                <a:xfrm>
                  <a:off x="2614612" y="2290762"/>
                  <a:ext cx="47625" cy="47625"/>
                </a:xfrm>
                <a:custGeom>
                  <a:avLst/>
                  <a:gdLst/>
                  <a:ahLst/>
                  <a:cxnLst/>
                  <a:rect l="l" t="t" r="r" b="b"/>
                  <a:pathLst>
                    <a:path w="47625" h="47625">
                      <a:moveTo>
                        <a:pt x="47625" y="47625"/>
                      </a:moveTo>
                      <a:lnTo>
                        <a:pt x="0" y="0"/>
                      </a:lnTo>
                    </a:path>
                  </a:pathLst>
                </a:custGeom>
                <a:noFill/>
                <a:ln w="15875">
                  <a:solidFill>
                    <a:srgbClr val="841600"/>
                  </a:solidFill>
                </a:ln>
              </p:spPr>
            </p:sp>
          </p:grpSp>
          <p:sp>
            <p:nvSpPr>
              <p:cNvPr id="49" name="TextBox 49"/>
              <p:cNvSpPr txBox="1"/>
              <p:nvPr/>
            </p:nvSpPr>
            <p:spPr>
              <a:xfrm>
                <a:off x="2756916" y="2210752"/>
                <a:ext cx="293370"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预审</a:t>
                </a:r>
              </a:p>
            </p:txBody>
          </p:sp>
          <p:sp>
            <p:nvSpPr>
              <p:cNvPr id="50" name="Line 50"/>
              <p:cNvSpPr/>
              <p:nvPr/>
            </p:nvSpPr>
            <p:spPr>
              <a:xfrm>
                <a:off x="3714750" y="2266950"/>
                <a:ext cx="628650" cy="1"/>
              </a:xfrm>
              <a:prstGeom prst="line">
                <a:avLst/>
              </a:prstGeom>
              <a:noFill/>
              <a:ln w="14288">
                <a:solidFill>
                  <a:srgbClr val="C9482E"/>
                </a:solidFill>
                <a:custDash>
                  <a:ds d="266667" sp="200000"/>
                </a:custDash>
                <a:tailEnd type="triangle" w="lg" len="lg"/>
              </a:ln>
            </p:spPr>
          </p:sp>
          <p:sp>
            <p:nvSpPr>
              <p:cNvPr id="51" name="Rectangle 51"/>
              <p:cNvSpPr/>
              <p:nvPr/>
            </p:nvSpPr>
            <p:spPr>
              <a:xfrm>
                <a:off x="4381500" y="2076450"/>
                <a:ext cx="1333500" cy="381000"/>
              </a:xfrm>
              <a:prstGeom prst="roundRect">
                <a:avLst>
                  <a:gd name="adj" fmla="val 15000"/>
                </a:avLst>
              </a:prstGeom>
              <a:solidFill>
                <a:srgbClr val="FFFFFF"/>
              </a:solidFill>
              <a:ln w="14288">
                <a:solidFill>
                  <a:srgbClr val="841600"/>
                </a:solidFill>
              </a:ln>
            </p:spPr>
          </p:sp>
          <p:grpSp>
            <p:nvGrpSpPr>
              <p:cNvPr id="57" name="Group 57"/>
              <p:cNvGrpSpPr/>
              <p:nvPr/>
            </p:nvGrpSpPr>
            <p:grpSpPr>
              <a:xfrm>
                <a:off x="4519612" y="2195512"/>
                <a:ext cx="142875" cy="142875"/>
                <a:chOff x="4519612" y="2195512"/>
                <a:chExt cx="142875" cy="142875"/>
              </a:xfrm>
            </p:grpSpPr>
            <p:sp>
              <p:nvSpPr>
                <p:cNvPr id="52" name="Freeform 52"/>
                <p:cNvSpPr/>
                <p:nvPr/>
              </p:nvSpPr>
              <p:spPr>
                <a:xfrm>
                  <a:off x="4519612" y="2290762"/>
                  <a:ext cx="47625" cy="47625"/>
                </a:xfrm>
                <a:custGeom>
                  <a:avLst/>
                  <a:gdLst/>
                  <a:ahLst/>
                  <a:cxnLst/>
                  <a:rect l="l" t="t" r="r" b="b"/>
                  <a:pathLst>
                    <a:path w="47625" h="47625">
                      <a:moveTo>
                        <a:pt x="0" y="15875"/>
                      </a:moveTo>
                      <a:cubicBezTo>
                        <a:pt x="0" y="7107"/>
                        <a:pt x="7107" y="0"/>
                        <a:pt x="15875" y="0"/>
                      </a:cubicBezTo>
                      <a:lnTo>
                        <a:pt x="31750" y="0"/>
                      </a:lnTo>
                      <a:cubicBezTo>
                        <a:pt x="40518" y="0"/>
                        <a:pt x="47625" y="7107"/>
                        <a:pt x="47625" y="15875"/>
                      </a:cubicBezTo>
                      <a:lnTo>
                        <a:pt x="47625" y="31750"/>
                      </a:lnTo>
                      <a:cubicBezTo>
                        <a:pt x="47625" y="40518"/>
                        <a:pt x="40518" y="47625"/>
                        <a:pt x="31750" y="47625"/>
                      </a:cubicBezTo>
                      <a:lnTo>
                        <a:pt x="15875" y="47625"/>
                      </a:lnTo>
                      <a:cubicBezTo>
                        <a:pt x="7107" y="47625"/>
                        <a:pt x="0" y="40518"/>
                        <a:pt x="0" y="31750"/>
                      </a:cubicBezTo>
                      <a:lnTo>
                        <a:pt x="0" y="15875"/>
                      </a:lnTo>
                    </a:path>
                  </a:pathLst>
                </a:custGeom>
                <a:noFill/>
                <a:ln w="15875">
                  <a:solidFill>
                    <a:srgbClr val="841600"/>
                  </a:solidFill>
                </a:ln>
              </p:spPr>
            </p:sp>
            <p:sp>
              <p:nvSpPr>
                <p:cNvPr id="53" name="Freeform 53"/>
                <p:cNvSpPr/>
                <p:nvPr/>
              </p:nvSpPr>
              <p:spPr>
                <a:xfrm>
                  <a:off x="4614862" y="2290762"/>
                  <a:ext cx="47625" cy="47625"/>
                </a:xfrm>
                <a:custGeom>
                  <a:avLst/>
                  <a:gdLst/>
                  <a:ahLst/>
                  <a:cxnLst/>
                  <a:rect l="l" t="t" r="r" b="b"/>
                  <a:pathLst>
                    <a:path w="47625" h="47625">
                      <a:moveTo>
                        <a:pt x="0" y="15875"/>
                      </a:moveTo>
                      <a:cubicBezTo>
                        <a:pt x="0" y="7107"/>
                        <a:pt x="7107" y="0"/>
                        <a:pt x="15875" y="0"/>
                      </a:cubicBezTo>
                      <a:lnTo>
                        <a:pt x="31750" y="0"/>
                      </a:lnTo>
                      <a:cubicBezTo>
                        <a:pt x="40518" y="0"/>
                        <a:pt x="47625" y="7107"/>
                        <a:pt x="47625" y="15875"/>
                      </a:cubicBezTo>
                      <a:lnTo>
                        <a:pt x="47625" y="31750"/>
                      </a:lnTo>
                      <a:cubicBezTo>
                        <a:pt x="47625" y="40518"/>
                        <a:pt x="40518" y="47625"/>
                        <a:pt x="31750" y="47625"/>
                      </a:cubicBezTo>
                      <a:lnTo>
                        <a:pt x="15875" y="47625"/>
                      </a:lnTo>
                      <a:cubicBezTo>
                        <a:pt x="7107" y="47625"/>
                        <a:pt x="0" y="40518"/>
                        <a:pt x="0" y="31750"/>
                      </a:cubicBezTo>
                      <a:lnTo>
                        <a:pt x="0" y="15875"/>
                      </a:lnTo>
                    </a:path>
                  </a:pathLst>
                </a:custGeom>
                <a:noFill/>
                <a:ln w="15875">
                  <a:solidFill>
                    <a:srgbClr val="841600"/>
                  </a:solidFill>
                </a:ln>
              </p:spPr>
            </p:sp>
            <p:sp>
              <p:nvSpPr>
                <p:cNvPr id="54" name="Freeform 54"/>
                <p:cNvSpPr/>
                <p:nvPr/>
              </p:nvSpPr>
              <p:spPr>
                <a:xfrm>
                  <a:off x="4567237" y="2195512"/>
                  <a:ext cx="47625" cy="47625"/>
                </a:xfrm>
                <a:custGeom>
                  <a:avLst/>
                  <a:gdLst/>
                  <a:ahLst/>
                  <a:cxnLst/>
                  <a:rect l="l" t="t" r="r" b="b"/>
                  <a:pathLst>
                    <a:path w="47625" h="47625">
                      <a:moveTo>
                        <a:pt x="0" y="15875"/>
                      </a:moveTo>
                      <a:cubicBezTo>
                        <a:pt x="0" y="7107"/>
                        <a:pt x="7107" y="0"/>
                        <a:pt x="15875" y="0"/>
                      </a:cubicBezTo>
                      <a:lnTo>
                        <a:pt x="31750" y="0"/>
                      </a:lnTo>
                      <a:cubicBezTo>
                        <a:pt x="40518" y="0"/>
                        <a:pt x="47625" y="7107"/>
                        <a:pt x="47625" y="15875"/>
                      </a:cubicBezTo>
                      <a:lnTo>
                        <a:pt x="47625" y="31750"/>
                      </a:lnTo>
                      <a:cubicBezTo>
                        <a:pt x="47625" y="40518"/>
                        <a:pt x="40518" y="47625"/>
                        <a:pt x="31750" y="47625"/>
                      </a:cubicBezTo>
                      <a:lnTo>
                        <a:pt x="15875" y="47625"/>
                      </a:lnTo>
                      <a:cubicBezTo>
                        <a:pt x="7107" y="47625"/>
                        <a:pt x="0" y="40518"/>
                        <a:pt x="0" y="31750"/>
                      </a:cubicBezTo>
                      <a:lnTo>
                        <a:pt x="0" y="15875"/>
                      </a:lnTo>
                    </a:path>
                  </a:pathLst>
                </a:custGeom>
                <a:noFill/>
                <a:ln w="15875">
                  <a:solidFill>
                    <a:srgbClr val="841600"/>
                  </a:solidFill>
                </a:ln>
              </p:spPr>
            </p:sp>
            <p:sp>
              <p:nvSpPr>
                <p:cNvPr id="55" name="Freeform 55"/>
                <p:cNvSpPr/>
                <p:nvPr/>
              </p:nvSpPr>
              <p:spPr>
                <a:xfrm>
                  <a:off x="4543425" y="2266950"/>
                  <a:ext cx="95250" cy="23812"/>
                </a:xfrm>
                <a:custGeom>
                  <a:avLst/>
                  <a:gdLst/>
                  <a:ahLst/>
                  <a:cxnLst/>
                  <a:rect l="l" t="t" r="r" b="b"/>
                  <a:pathLst>
                    <a:path w="95250" h="23812">
                      <a:moveTo>
                        <a:pt x="0" y="23812"/>
                      </a:moveTo>
                      <a:lnTo>
                        <a:pt x="0" y="15875"/>
                      </a:lnTo>
                      <a:cubicBezTo>
                        <a:pt x="0" y="7107"/>
                        <a:pt x="7107" y="0"/>
                        <a:pt x="15875" y="0"/>
                      </a:cubicBezTo>
                      <a:lnTo>
                        <a:pt x="79375" y="0"/>
                      </a:lnTo>
                      <a:cubicBezTo>
                        <a:pt x="88142" y="0"/>
                        <a:pt x="95250" y="7107"/>
                        <a:pt x="95250" y="15875"/>
                      </a:cubicBezTo>
                      <a:lnTo>
                        <a:pt x="95250" y="23812"/>
                      </a:lnTo>
                    </a:path>
                  </a:pathLst>
                </a:custGeom>
                <a:noFill/>
                <a:ln w="15875">
                  <a:solidFill>
                    <a:srgbClr val="841600"/>
                  </a:solidFill>
                </a:ln>
              </p:spPr>
            </p:sp>
            <p:sp>
              <p:nvSpPr>
                <p:cNvPr id="56" name="Freeform 56"/>
                <p:cNvSpPr/>
                <p:nvPr/>
              </p:nvSpPr>
              <p:spPr>
                <a:xfrm>
                  <a:off x="4591050" y="2243137"/>
                  <a:ext cx="9525" cy="23812"/>
                </a:xfrm>
                <a:custGeom>
                  <a:avLst/>
                  <a:gdLst/>
                  <a:ahLst/>
                  <a:cxnLst/>
                  <a:rect l="l" t="t" r="r" b="b"/>
                  <a:pathLst>
                    <a:path w="9525" h="23812">
                      <a:moveTo>
                        <a:pt x="0" y="0"/>
                      </a:moveTo>
                      <a:lnTo>
                        <a:pt x="0" y="23812"/>
                      </a:lnTo>
                    </a:path>
                  </a:pathLst>
                </a:custGeom>
                <a:noFill/>
                <a:ln w="15875">
                  <a:solidFill>
                    <a:srgbClr val="841600"/>
                  </a:solidFill>
                </a:ln>
              </p:spPr>
            </p:sp>
          </p:grpSp>
          <p:sp>
            <p:nvSpPr>
              <p:cNvPr id="58" name="TextBox 58"/>
              <p:cNvSpPr txBox="1"/>
              <p:nvPr/>
            </p:nvSpPr>
            <p:spPr>
              <a:xfrm>
                <a:off x="4757166" y="2210752"/>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平行作业</a:t>
                </a:r>
              </a:p>
            </p:txBody>
          </p:sp>
        </p:grpSp>
        <p:sp>
          <p:nvSpPr>
            <p:cNvPr id="60" name="Line 60"/>
            <p:cNvSpPr/>
            <p:nvPr/>
          </p:nvSpPr>
          <p:spPr>
            <a:xfrm>
              <a:off x="5048250" y="2457450"/>
              <a:ext cx="1" cy="209550"/>
            </a:xfrm>
            <a:prstGeom prst="line">
              <a:avLst/>
            </a:prstGeom>
            <a:noFill/>
            <a:ln w="14288">
              <a:solidFill>
                <a:srgbClr val="C9482E"/>
              </a:solidFill>
              <a:custDash>
                <a:ds d="266667" sp="200000"/>
              </a:custDash>
              <a:tailEnd type="triangle" w="lg" len="lg"/>
            </a:ln>
          </p:spPr>
        </p:sp>
        <p:grpSp>
          <p:nvGrpSpPr>
            <p:cNvPr id="75" name="lane-3"/>
            <p:cNvGrpSpPr/>
            <p:nvPr/>
          </p:nvGrpSpPr>
          <p:grpSpPr>
            <a:xfrm>
              <a:off x="381000" y="2628900"/>
              <a:ext cx="5334000" cy="495300"/>
              <a:chOff x="381000" y="2628900"/>
              <a:chExt cx="5334000" cy="495300"/>
            </a:xfrm>
          </p:grpSpPr>
          <p:sp>
            <p:nvSpPr>
              <p:cNvPr id="61" name="Rectangle 61"/>
              <p:cNvSpPr/>
              <p:nvPr/>
            </p:nvSpPr>
            <p:spPr>
              <a:xfrm>
                <a:off x="381000" y="2628900"/>
                <a:ext cx="914400" cy="495300"/>
              </a:xfrm>
              <a:prstGeom prst="roundRect">
                <a:avLst>
                  <a:gd name="adj" fmla="val 11538"/>
                </a:avLst>
              </a:prstGeom>
              <a:solidFill>
                <a:srgbClr val="841600"/>
              </a:solidFill>
              <a:ln>
                <a:noFill/>
              </a:ln>
            </p:spPr>
          </p:sp>
          <p:grpSp>
            <p:nvGrpSpPr>
              <p:cNvPr id="66" name="Group 66"/>
              <p:cNvGrpSpPr/>
              <p:nvPr/>
            </p:nvGrpSpPr>
            <p:grpSpPr>
              <a:xfrm>
                <a:off x="500856" y="2806700"/>
                <a:ext cx="130970" cy="148431"/>
                <a:chOff x="500856" y="2806700"/>
                <a:chExt cx="130970" cy="148431"/>
              </a:xfrm>
            </p:grpSpPr>
            <p:sp>
              <p:nvSpPr>
                <p:cNvPr id="62" name="Freeform 62"/>
                <p:cNvSpPr/>
                <p:nvPr/>
              </p:nvSpPr>
              <p:spPr>
                <a:xfrm>
                  <a:off x="500856" y="2806700"/>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FFFFFF"/>
                  </a:solidFill>
                </a:ln>
              </p:spPr>
            </p:sp>
            <p:sp>
              <p:nvSpPr>
                <p:cNvPr id="63" name="Freeform 63"/>
                <p:cNvSpPr/>
                <p:nvPr/>
              </p:nvSpPr>
              <p:spPr>
                <a:xfrm>
                  <a:off x="579438" y="2920206"/>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sp>
              <p:nvSpPr>
                <p:cNvPr id="64" name="Freeform 64"/>
                <p:cNvSpPr/>
                <p:nvPr/>
              </p:nvSpPr>
              <p:spPr>
                <a:xfrm>
                  <a:off x="535781" y="2841625"/>
                  <a:ext cx="34925" cy="9525"/>
                </a:xfrm>
                <a:custGeom>
                  <a:avLst/>
                  <a:gdLst/>
                  <a:ahLst/>
                  <a:cxnLst/>
                  <a:rect l="l" t="t" r="r" b="b"/>
                  <a:pathLst>
                    <a:path w="34925" h="9525">
                      <a:moveTo>
                        <a:pt x="0" y="0"/>
                      </a:moveTo>
                      <a:lnTo>
                        <a:pt x="34925" y="0"/>
                      </a:lnTo>
                    </a:path>
                  </a:pathLst>
                </a:custGeom>
                <a:noFill/>
                <a:ln w="17463">
                  <a:solidFill>
                    <a:srgbClr val="FFFFFF"/>
                  </a:solidFill>
                </a:ln>
              </p:spPr>
            </p:sp>
            <p:sp>
              <p:nvSpPr>
                <p:cNvPr id="65" name="Freeform 65"/>
                <p:cNvSpPr/>
                <p:nvPr/>
              </p:nvSpPr>
              <p:spPr>
                <a:xfrm>
                  <a:off x="535781" y="2876550"/>
                  <a:ext cx="17463" cy="9525"/>
                </a:xfrm>
                <a:custGeom>
                  <a:avLst/>
                  <a:gdLst/>
                  <a:ahLst/>
                  <a:cxnLst/>
                  <a:rect l="l" t="t" r="r" b="b"/>
                  <a:pathLst>
                    <a:path w="17463" h="9525">
                      <a:moveTo>
                        <a:pt x="0" y="0"/>
                      </a:moveTo>
                      <a:lnTo>
                        <a:pt x="17463" y="0"/>
                      </a:lnTo>
                    </a:path>
                  </a:pathLst>
                </a:custGeom>
                <a:noFill/>
                <a:ln w="17463">
                  <a:solidFill>
                    <a:srgbClr val="FFFFFF"/>
                  </a:solidFill>
                </a:ln>
              </p:spPr>
            </p:sp>
          </p:grpSp>
          <p:sp>
            <p:nvSpPr>
              <p:cNvPr id="67" name="TextBox 67"/>
              <p:cNvSpPr txBox="1"/>
              <p:nvPr/>
            </p:nvSpPr>
            <p:spPr>
              <a:xfrm>
                <a:off x="719138" y="2738438"/>
                <a:ext cx="65056" cy="147638"/>
              </a:xfrm>
              <a:prstGeom prst="rect">
                <a:avLst/>
              </a:prstGeom>
              <a:noFill/>
              <a:ln>
                <a:noFill/>
              </a:ln>
            </p:spPr>
            <p:txBody>
              <a:bodyPr wrap="none" lIns="0" tIns="0" rIns="0" bIns="0" anchor="t" anchorCtr="0">
                <a:spAutoFit/>
              </a:bodyPr>
              <a:lstStyle/>
              <a:p>
                <a:pPr algn="l"/>
                <a:r>
                  <a:rPr lang="zh-CN" sz="750" dirty="0">
                    <a:solidFill>
                      <a:srgbClr val="DCE6F8"/>
                    </a:solidFill>
                    <a:latin typeface="+mn-lt"/>
                    <a:ea typeface="+mn-ea"/>
                    <a:cs typeface="+mn-cs"/>
                  </a:rPr>
                  <a:t>3</a:t>
                </a:r>
              </a:p>
            </p:txBody>
          </p:sp>
          <p:sp>
            <p:nvSpPr>
              <p:cNvPr id="68" name="TextBox 68"/>
              <p:cNvSpPr txBox="1"/>
              <p:nvPr/>
            </p:nvSpPr>
            <p:spPr>
              <a:xfrm>
                <a:off x="719138" y="2893695"/>
                <a:ext cx="25184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审批</a:t>
                </a:r>
              </a:p>
            </p:txBody>
          </p:sp>
          <p:sp>
            <p:nvSpPr>
              <p:cNvPr id="69" name="Rectangle 69"/>
              <p:cNvSpPr/>
              <p:nvPr/>
            </p:nvSpPr>
            <p:spPr>
              <a:xfrm>
                <a:off x="4095750" y="2686050"/>
                <a:ext cx="1619250" cy="381000"/>
              </a:xfrm>
              <a:prstGeom prst="roundRect">
                <a:avLst>
                  <a:gd name="adj" fmla="val 15000"/>
                </a:avLst>
              </a:prstGeom>
              <a:solidFill>
                <a:srgbClr val="FFFFFF"/>
              </a:solidFill>
              <a:ln w="14288">
                <a:solidFill>
                  <a:srgbClr val="841600"/>
                </a:solidFill>
              </a:ln>
            </p:spPr>
          </p:sp>
          <p:grpSp>
            <p:nvGrpSpPr>
              <p:cNvPr id="73" name="Group 73"/>
              <p:cNvGrpSpPr/>
              <p:nvPr/>
            </p:nvGrpSpPr>
            <p:grpSpPr>
              <a:xfrm>
                <a:off x="4257675" y="2805112"/>
                <a:ext cx="119062" cy="142875"/>
                <a:chOff x="4257675" y="2805112"/>
                <a:chExt cx="119062" cy="142875"/>
              </a:xfrm>
            </p:grpSpPr>
            <p:sp>
              <p:nvSpPr>
                <p:cNvPr id="70" name="Freeform 70"/>
                <p:cNvSpPr/>
                <p:nvPr/>
              </p:nvSpPr>
              <p:spPr>
                <a:xfrm>
                  <a:off x="4273550" y="28051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841600"/>
                  </a:solidFill>
                </a:ln>
              </p:spPr>
            </p:sp>
            <p:sp>
              <p:nvSpPr>
                <p:cNvPr id="71" name="Freeform 71"/>
                <p:cNvSpPr/>
                <p:nvPr/>
              </p:nvSpPr>
              <p:spPr>
                <a:xfrm>
                  <a:off x="4257675" y="29003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841600"/>
                  </a:solidFill>
                </a:ln>
              </p:spPr>
            </p:sp>
            <p:sp>
              <p:nvSpPr>
                <p:cNvPr id="72" name="Freeform 72"/>
                <p:cNvSpPr/>
                <p:nvPr/>
              </p:nvSpPr>
              <p:spPr>
                <a:xfrm>
                  <a:off x="4329112" y="2916237"/>
                  <a:ext cx="47625" cy="31750"/>
                </a:xfrm>
                <a:custGeom>
                  <a:avLst/>
                  <a:gdLst/>
                  <a:ahLst/>
                  <a:cxnLst/>
                  <a:rect l="l" t="t" r="r" b="b"/>
                  <a:pathLst>
                    <a:path w="47625" h="31750">
                      <a:moveTo>
                        <a:pt x="0" y="15875"/>
                      </a:moveTo>
                      <a:lnTo>
                        <a:pt x="15875" y="31750"/>
                      </a:lnTo>
                      <a:lnTo>
                        <a:pt x="47625" y="0"/>
                      </a:lnTo>
                    </a:path>
                  </a:pathLst>
                </a:custGeom>
                <a:noFill/>
                <a:ln w="15875">
                  <a:solidFill>
                    <a:srgbClr val="841600"/>
                  </a:solidFill>
                </a:ln>
              </p:spPr>
            </p:sp>
          </p:grpSp>
          <p:sp>
            <p:nvSpPr>
              <p:cNvPr id="74" name="TextBox 74"/>
              <p:cNvSpPr txBox="1"/>
              <p:nvPr/>
            </p:nvSpPr>
            <p:spPr>
              <a:xfrm>
                <a:off x="4471416" y="2820352"/>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审查审批</a:t>
                </a:r>
              </a:p>
            </p:txBody>
          </p:sp>
        </p:grpSp>
        <p:sp>
          <p:nvSpPr>
            <p:cNvPr id="76" name="Line 76"/>
            <p:cNvSpPr/>
            <p:nvPr/>
          </p:nvSpPr>
          <p:spPr>
            <a:xfrm>
              <a:off x="4905375" y="3067050"/>
              <a:ext cx="1" cy="209550"/>
            </a:xfrm>
            <a:prstGeom prst="line">
              <a:avLst/>
            </a:prstGeom>
            <a:noFill/>
            <a:ln w="14288">
              <a:solidFill>
                <a:srgbClr val="C9482E"/>
              </a:solidFill>
              <a:custDash>
                <a:ds d="266667" sp="200000"/>
              </a:custDash>
              <a:tailEnd type="triangle" w="lg" len="lg"/>
            </a:ln>
          </p:spPr>
        </p:sp>
        <p:grpSp>
          <p:nvGrpSpPr>
            <p:cNvPr id="94" name="lane-4"/>
            <p:cNvGrpSpPr/>
            <p:nvPr/>
          </p:nvGrpSpPr>
          <p:grpSpPr>
            <a:xfrm>
              <a:off x="381000" y="3238500"/>
              <a:ext cx="5334000" cy="495300"/>
              <a:chOff x="381000" y="3238500"/>
              <a:chExt cx="5334000" cy="495300"/>
            </a:xfrm>
          </p:grpSpPr>
          <p:sp>
            <p:nvSpPr>
              <p:cNvPr id="77" name="Rectangle 77"/>
              <p:cNvSpPr/>
              <p:nvPr/>
            </p:nvSpPr>
            <p:spPr>
              <a:xfrm>
                <a:off x="381000" y="3238500"/>
                <a:ext cx="914400" cy="495300"/>
              </a:xfrm>
              <a:prstGeom prst="roundRect">
                <a:avLst>
                  <a:gd name="adj" fmla="val 11538"/>
                </a:avLst>
              </a:prstGeom>
              <a:solidFill>
                <a:srgbClr val="841600"/>
              </a:solidFill>
              <a:ln>
                <a:noFill/>
              </a:ln>
            </p:spPr>
          </p:sp>
          <p:grpSp>
            <p:nvGrpSpPr>
              <p:cNvPr id="83" name="Group 83"/>
              <p:cNvGrpSpPr/>
              <p:nvPr/>
            </p:nvGrpSpPr>
            <p:grpSpPr>
              <a:xfrm>
                <a:off x="483394" y="3407569"/>
                <a:ext cx="157163" cy="157956"/>
                <a:chOff x="483394" y="3407569"/>
                <a:chExt cx="157163" cy="157956"/>
              </a:xfrm>
            </p:grpSpPr>
            <p:sp>
              <p:nvSpPr>
                <p:cNvPr id="78" name="Freeform 78"/>
                <p:cNvSpPr/>
                <p:nvPr/>
              </p:nvSpPr>
              <p:spPr>
                <a:xfrm>
                  <a:off x="518319" y="3556000"/>
                  <a:ext cx="87313" cy="9525"/>
                </a:xfrm>
                <a:custGeom>
                  <a:avLst/>
                  <a:gdLst/>
                  <a:ahLst/>
                  <a:cxnLst/>
                  <a:rect l="l" t="t" r="r" b="b"/>
                  <a:pathLst>
                    <a:path w="87313" h="9525">
                      <a:moveTo>
                        <a:pt x="0" y="0"/>
                      </a:moveTo>
                      <a:lnTo>
                        <a:pt x="87313" y="0"/>
                      </a:lnTo>
                    </a:path>
                  </a:pathLst>
                </a:custGeom>
                <a:noFill/>
                <a:ln w="17463">
                  <a:solidFill>
                    <a:srgbClr val="FFFFFF"/>
                  </a:solidFill>
                </a:ln>
              </p:spPr>
            </p:sp>
            <p:sp>
              <p:nvSpPr>
                <p:cNvPr id="79" name="Freeform 79"/>
                <p:cNvSpPr/>
                <p:nvPr/>
              </p:nvSpPr>
              <p:spPr>
                <a:xfrm>
                  <a:off x="509588" y="3425031"/>
                  <a:ext cx="104775" cy="9525"/>
                </a:xfrm>
                <a:custGeom>
                  <a:avLst/>
                  <a:gdLst/>
                  <a:ahLst/>
                  <a:cxnLst/>
                  <a:rect l="l" t="t" r="r" b="b"/>
                  <a:pathLst>
                    <a:path w="104775" h="9525">
                      <a:moveTo>
                        <a:pt x="0" y="8731"/>
                      </a:moveTo>
                      <a:lnTo>
                        <a:pt x="52388" y="0"/>
                      </a:lnTo>
                      <a:lnTo>
                        <a:pt x="104775" y="8731"/>
                      </a:lnTo>
                    </a:path>
                  </a:pathLst>
                </a:custGeom>
                <a:noFill/>
                <a:ln w="17463">
                  <a:solidFill>
                    <a:srgbClr val="FFFFFF"/>
                  </a:solidFill>
                </a:ln>
              </p:spPr>
            </p:sp>
            <p:sp>
              <p:nvSpPr>
                <p:cNvPr id="80" name="Freeform 80"/>
                <p:cNvSpPr/>
                <p:nvPr/>
              </p:nvSpPr>
              <p:spPr>
                <a:xfrm>
                  <a:off x="561975" y="3407569"/>
                  <a:ext cx="9525" cy="148431"/>
                </a:xfrm>
                <a:custGeom>
                  <a:avLst/>
                  <a:gdLst/>
                  <a:ahLst/>
                  <a:cxnLst/>
                  <a:rect l="l" t="t" r="r" b="b"/>
                  <a:pathLst>
                    <a:path w="9525" h="148431">
                      <a:moveTo>
                        <a:pt x="0" y="0"/>
                      </a:moveTo>
                      <a:lnTo>
                        <a:pt x="0" y="148431"/>
                      </a:lnTo>
                    </a:path>
                  </a:pathLst>
                </a:custGeom>
                <a:noFill/>
                <a:ln w="17463">
                  <a:solidFill>
                    <a:srgbClr val="FFFFFF"/>
                  </a:solidFill>
                </a:ln>
              </p:spPr>
            </p:sp>
            <p:sp>
              <p:nvSpPr>
                <p:cNvPr id="81" name="Freeform 81"/>
                <p:cNvSpPr/>
                <p:nvPr/>
              </p:nvSpPr>
              <p:spPr>
                <a:xfrm>
                  <a:off x="483394" y="3433763"/>
                  <a:ext cx="52388" cy="78581"/>
                </a:xfrm>
                <a:custGeom>
                  <a:avLst/>
                  <a:gdLst/>
                  <a:ahLst/>
                  <a:cxnLst/>
                  <a:rect l="l" t="t" r="r" b="b"/>
                  <a:pathLst>
                    <a:path w="52388" h="78581">
                      <a:moveTo>
                        <a:pt x="52388" y="52388"/>
                      </a:moveTo>
                      <a:lnTo>
                        <a:pt x="26194" y="0"/>
                      </a:lnTo>
                      <a:lnTo>
                        <a:pt x="0" y="52388"/>
                      </a:lnTo>
                      <a:cubicBezTo>
                        <a:pt x="0" y="66854"/>
                        <a:pt x="11727" y="78581"/>
                        <a:pt x="26194" y="78581"/>
                      </a:cubicBezTo>
                      <a:cubicBezTo>
                        <a:pt x="40660" y="78581"/>
                        <a:pt x="52388" y="66854"/>
                        <a:pt x="52388" y="52388"/>
                      </a:cubicBezTo>
                    </a:path>
                  </a:pathLst>
                </a:custGeom>
                <a:noFill/>
                <a:ln w="17463">
                  <a:solidFill>
                    <a:srgbClr val="FFFFFF"/>
                  </a:solidFill>
                </a:ln>
              </p:spPr>
            </p:sp>
            <p:sp>
              <p:nvSpPr>
                <p:cNvPr id="82" name="Freeform 82"/>
                <p:cNvSpPr/>
                <p:nvPr/>
              </p:nvSpPr>
              <p:spPr>
                <a:xfrm>
                  <a:off x="588169" y="3433763"/>
                  <a:ext cx="52388" cy="78581"/>
                </a:xfrm>
                <a:custGeom>
                  <a:avLst/>
                  <a:gdLst/>
                  <a:ahLst/>
                  <a:cxnLst/>
                  <a:rect l="l" t="t" r="r" b="b"/>
                  <a:pathLst>
                    <a:path w="52388" h="78581">
                      <a:moveTo>
                        <a:pt x="52388" y="52388"/>
                      </a:moveTo>
                      <a:lnTo>
                        <a:pt x="26194" y="0"/>
                      </a:lnTo>
                      <a:lnTo>
                        <a:pt x="0" y="52388"/>
                      </a:lnTo>
                      <a:cubicBezTo>
                        <a:pt x="0" y="66854"/>
                        <a:pt x="11727" y="78581"/>
                        <a:pt x="26194" y="78581"/>
                      </a:cubicBezTo>
                      <a:cubicBezTo>
                        <a:pt x="40660" y="78581"/>
                        <a:pt x="52388" y="66854"/>
                        <a:pt x="52388" y="52388"/>
                      </a:cubicBezTo>
                    </a:path>
                  </a:pathLst>
                </a:custGeom>
                <a:noFill/>
                <a:ln w="17463">
                  <a:solidFill>
                    <a:srgbClr val="FFFFFF"/>
                  </a:solidFill>
                </a:ln>
              </p:spPr>
            </p:sp>
          </p:grpSp>
          <p:sp>
            <p:nvSpPr>
              <p:cNvPr id="84" name="TextBox 84"/>
              <p:cNvSpPr txBox="1"/>
              <p:nvPr/>
            </p:nvSpPr>
            <p:spPr>
              <a:xfrm>
                <a:off x="719138" y="3348038"/>
                <a:ext cx="65056" cy="147638"/>
              </a:xfrm>
              <a:prstGeom prst="rect">
                <a:avLst/>
              </a:prstGeom>
              <a:noFill/>
              <a:ln>
                <a:noFill/>
              </a:ln>
            </p:spPr>
            <p:txBody>
              <a:bodyPr wrap="none" lIns="0" tIns="0" rIns="0" bIns="0" anchor="t" anchorCtr="0">
                <a:spAutoFit/>
              </a:bodyPr>
              <a:lstStyle/>
              <a:p>
                <a:pPr algn="l"/>
                <a:r>
                  <a:rPr lang="zh-CN" sz="750" dirty="0">
                    <a:solidFill>
                      <a:srgbClr val="DCE6F8"/>
                    </a:solidFill>
                    <a:latin typeface="+mn-lt"/>
                    <a:ea typeface="+mn-ea"/>
                    <a:cs typeface="+mn-cs"/>
                  </a:rPr>
                  <a:t>4</a:t>
                </a:r>
              </a:p>
            </p:txBody>
          </p:sp>
          <p:sp>
            <p:nvSpPr>
              <p:cNvPr id="85" name="TextBox 85"/>
              <p:cNvSpPr txBox="1"/>
              <p:nvPr/>
            </p:nvSpPr>
            <p:spPr>
              <a:xfrm>
                <a:off x="719138" y="3503295"/>
                <a:ext cx="25184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法律</a:t>
                </a:r>
              </a:p>
            </p:txBody>
          </p:sp>
          <p:sp>
            <p:nvSpPr>
              <p:cNvPr id="86" name="Rectangle 86"/>
              <p:cNvSpPr/>
              <p:nvPr/>
            </p:nvSpPr>
            <p:spPr>
              <a:xfrm>
                <a:off x="4095750" y="3295650"/>
                <a:ext cx="1619250" cy="381000"/>
              </a:xfrm>
              <a:prstGeom prst="roundRect">
                <a:avLst>
                  <a:gd name="adj" fmla="val 15000"/>
                </a:avLst>
              </a:prstGeom>
              <a:solidFill>
                <a:srgbClr val="FFFFFF"/>
              </a:solidFill>
              <a:ln w="14288">
                <a:solidFill>
                  <a:srgbClr val="841600"/>
                </a:solidFill>
              </a:ln>
            </p:spPr>
          </p:sp>
          <p:grpSp>
            <p:nvGrpSpPr>
              <p:cNvPr id="92" name="Group 92"/>
              <p:cNvGrpSpPr/>
              <p:nvPr/>
            </p:nvGrpSpPr>
            <p:grpSpPr>
              <a:xfrm>
                <a:off x="4249737" y="3414712"/>
                <a:ext cx="111125" cy="142875"/>
                <a:chOff x="4249737" y="3414712"/>
                <a:chExt cx="111125" cy="142875"/>
              </a:xfrm>
            </p:grpSpPr>
            <p:sp>
              <p:nvSpPr>
                <p:cNvPr id="87" name="Freeform 87"/>
                <p:cNvSpPr/>
                <p:nvPr/>
              </p:nvSpPr>
              <p:spPr>
                <a:xfrm>
                  <a:off x="4321175" y="34147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841600"/>
                  </a:solidFill>
                </a:ln>
              </p:spPr>
            </p:sp>
            <p:sp>
              <p:nvSpPr>
                <p:cNvPr id="88" name="Freeform 88"/>
                <p:cNvSpPr/>
                <p:nvPr/>
              </p:nvSpPr>
              <p:spPr>
                <a:xfrm>
                  <a:off x="4249737" y="34147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841600"/>
                  </a:solidFill>
                </a:ln>
              </p:spPr>
            </p:sp>
            <p:sp>
              <p:nvSpPr>
                <p:cNvPr id="89" name="Freeform 89"/>
                <p:cNvSpPr/>
                <p:nvPr/>
              </p:nvSpPr>
              <p:spPr>
                <a:xfrm>
                  <a:off x="4281487" y="3462337"/>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90" name="Freeform 90"/>
                <p:cNvSpPr/>
                <p:nvPr/>
              </p:nvSpPr>
              <p:spPr>
                <a:xfrm>
                  <a:off x="4281487" y="3494087"/>
                  <a:ext cx="47625" cy="9525"/>
                </a:xfrm>
                <a:custGeom>
                  <a:avLst/>
                  <a:gdLst/>
                  <a:ahLst/>
                  <a:cxnLst/>
                  <a:rect l="l" t="t" r="r" b="b"/>
                  <a:pathLst>
                    <a:path w="47625" h="9525">
                      <a:moveTo>
                        <a:pt x="0" y="0"/>
                      </a:moveTo>
                      <a:lnTo>
                        <a:pt x="47625" y="0"/>
                      </a:lnTo>
                    </a:path>
                  </a:pathLst>
                </a:custGeom>
                <a:noFill/>
                <a:ln w="15875">
                  <a:solidFill>
                    <a:srgbClr val="841600"/>
                  </a:solidFill>
                </a:ln>
              </p:spPr>
            </p:sp>
            <p:sp>
              <p:nvSpPr>
                <p:cNvPr id="91" name="Freeform 91"/>
                <p:cNvSpPr/>
                <p:nvPr/>
              </p:nvSpPr>
              <p:spPr>
                <a:xfrm>
                  <a:off x="4281487" y="3525837"/>
                  <a:ext cx="47625" cy="9525"/>
                </a:xfrm>
                <a:custGeom>
                  <a:avLst/>
                  <a:gdLst/>
                  <a:ahLst/>
                  <a:cxnLst/>
                  <a:rect l="l" t="t" r="r" b="b"/>
                  <a:pathLst>
                    <a:path w="47625" h="9525">
                      <a:moveTo>
                        <a:pt x="0" y="0"/>
                      </a:moveTo>
                      <a:lnTo>
                        <a:pt x="47625" y="0"/>
                      </a:lnTo>
                    </a:path>
                  </a:pathLst>
                </a:custGeom>
                <a:noFill/>
                <a:ln w="15875">
                  <a:solidFill>
                    <a:srgbClr val="841600"/>
                  </a:solidFill>
                </a:ln>
              </p:spPr>
            </p:sp>
          </p:grpSp>
          <p:sp>
            <p:nvSpPr>
              <p:cNvPr id="93" name="TextBox 93"/>
              <p:cNvSpPr txBox="1"/>
              <p:nvPr/>
            </p:nvSpPr>
            <p:spPr>
              <a:xfrm>
                <a:off x="4471416" y="3429952"/>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合同审查</a:t>
                </a:r>
              </a:p>
            </p:txBody>
          </p:sp>
        </p:grpSp>
        <p:sp>
          <p:nvSpPr>
            <p:cNvPr id="95" name="Freeform 95"/>
            <p:cNvSpPr/>
            <p:nvPr/>
          </p:nvSpPr>
          <p:spPr>
            <a:xfrm>
              <a:off x="4905375" y="3676650"/>
              <a:ext cx="866775" cy="419100"/>
            </a:xfrm>
            <a:custGeom>
              <a:avLst/>
              <a:gdLst/>
              <a:ahLst/>
              <a:cxnLst/>
              <a:rect l="l" t="t" r="r" b="b"/>
              <a:pathLst>
                <a:path w="866775" h="419100">
                  <a:moveTo>
                    <a:pt x="0" y="0"/>
                  </a:moveTo>
                  <a:lnTo>
                    <a:pt x="0" y="419100"/>
                  </a:lnTo>
                  <a:lnTo>
                    <a:pt x="866775" y="419100"/>
                  </a:lnTo>
                </a:path>
              </a:pathLst>
            </a:custGeom>
            <a:noFill/>
            <a:ln w="14288">
              <a:solidFill>
                <a:srgbClr val="C9482E"/>
              </a:solidFill>
              <a:custDash>
                <a:ds d="266667" sp="200000"/>
              </a:custDash>
              <a:tailEnd type="triangle" w="lg" len="lg"/>
            </a:ln>
          </p:spPr>
        </p:sp>
        <p:grpSp>
          <p:nvGrpSpPr>
            <p:cNvPr id="119" name="lane-5"/>
            <p:cNvGrpSpPr/>
            <p:nvPr/>
          </p:nvGrpSpPr>
          <p:grpSpPr>
            <a:xfrm>
              <a:off x="381000" y="3848100"/>
              <a:ext cx="7239000" cy="495300"/>
              <a:chOff x="381000" y="3848100"/>
              <a:chExt cx="7239000" cy="495300"/>
            </a:xfrm>
          </p:grpSpPr>
          <p:sp>
            <p:nvSpPr>
              <p:cNvPr id="96" name="Rectangle 96"/>
              <p:cNvSpPr/>
              <p:nvPr/>
            </p:nvSpPr>
            <p:spPr>
              <a:xfrm>
                <a:off x="381000" y="3848100"/>
                <a:ext cx="914400" cy="495300"/>
              </a:xfrm>
              <a:prstGeom prst="roundRect">
                <a:avLst>
                  <a:gd name="adj" fmla="val 11538"/>
                </a:avLst>
              </a:prstGeom>
              <a:solidFill>
                <a:srgbClr val="841600"/>
              </a:solidFill>
              <a:ln>
                <a:noFill/>
              </a:ln>
            </p:spPr>
          </p:sp>
          <p:grpSp>
            <p:nvGrpSpPr>
              <p:cNvPr id="105" name="Group 105"/>
              <p:cNvGrpSpPr/>
              <p:nvPr/>
            </p:nvGrpSpPr>
            <p:grpSpPr>
              <a:xfrm>
                <a:off x="483394" y="4017169"/>
                <a:ext cx="157956" cy="166687"/>
                <a:chOff x="483394" y="4017169"/>
                <a:chExt cx="157956" cy="166687"/>
              </a:xfrm>
            </p:grpSpPr>
            <p:sp>
              <p:nvSpPr>
                <p:cNvPr id="97" name="Freeform 97"/>
                <p:cNvSpPr/>
                <p:nvPr/>
              </p:nvSpPr>
              <p:spPr>
                <a:xfrm>
                  <a:off x="483394" y="4174331"/>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98" name="Freeform 98"/>
                <p:cNvSpPr/>
                <p:nvPr/>
              </p:nvSpPr>
              <p:spPr>
                <a:xfrm>
                  <a:off x="483394" y="4078288"/>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99" name="Freeform 99"/>
                <p:cNvSpPr/>
                <p:nvPr/>
              </p:nvSpPr>
              <p:spPr>
                <a:xfrm>
                  <a:off x="500856" y="4017169"/>
                  <a:ext cx="122238" cy="26194"/>
                </a:xfrm>
                <a:custGeom>
                  <a:avLst/>
                  <a:gdLst/>
                  <a:ahLst/>
                  <a:cxnLst/>
                  <a:rect l="l" t="t" r="r" b="b"/>
                  <a:pathLst>
                    <a:path w="122238" h="26194">
                      <a:moveTo>
                        <a:pt x="0" y="26194"/>
                      </a:moveTo>
                      <a:lnTo>
                        <a:pt x="61119" y="0"/>
                      </a:lnTo>
                      <a:lnTo>
                        <a:pt x="122238" y="26194"/>
                      </a:lnTo>
                    </a:path>
                  </a:pathLst>
                </a:custGeom>
                <a:noFill/>
                <a:ln w="17463">
                  <a:solidFill>
                    <a:srgbClr val="FFFFFF"/>
                  </a:solidFill>
                </a:ln>
              </p:spPr>
            </p:sp>
            <p:sp>
              <p:nvSpPr>
                <p:cNvPr id="100" name="Freeform 100"/>
                <p:cNvSpPr/>
                <p:nvPr/>
              </p:nvSpPr>
              <p:spPr>
                <a:xfrm>
                  <a:off x="492125" y="4078288"/>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101" name="Freeform 101"/>
                <p:cNvSpPr/>
                <p:nvPr/>
              </p:nvSpPr>
              <p:spPr>
                <a:xfrm>
                  <a:off x="631825" y="4078288"/>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102" name="Freeform 102"/>
                <p:cNvSpPr/>
                <p:nvPr/>
              </p:nvSpPr>
              <p:spPr>
                <a:xfrm>
                  <a:off x="527050" y="4113213"/>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103" name="Freeform 103"/>
                <p:cNvSpPr/>
                <p:nvPr/>
              </p:nvSpPr>
              <p:spPr>
                <a:xfrm>
                  <a:off x="561975" y="4113213"/>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104" name="Freeform 104"/>
                <p:cNvSpPr/>
                <p:nvPr/>
              </p:nvSpPr>
              <p:spPr>
                <a:xfrm>
                  <a:off x="596900" y="4113213"/>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106" name="TextBox 106"/>
              <p:cNvSpPr txBox="1"/>
              <p:nvPr/>
            </p:nvSpPr>
            <p:spPr>
              <a:xfrm>
                <a:off x="719138" y="3957638"/>
                <a:ext cx="65056" cy="147638"/>
              </a:xfrm>
              <a:prstGeom prst="rect">
                <a:avLst/>
              </a:prstGeom>
              <a:noFill/>
              <a:ln>
                <a:noFill/>
              </a:ln>
            </p:spPr>
            <p:txBody>
              <a:bodyPr wrap="none" lIns="0" tIns="0" rIns="0" bIns="0" anchor="t" anchorCtr="0">
                <a:spAutoFit/>
              </a:bodyPr>
              <a:lstStyle/>
              <a:p>
                <a:pPr algn="l"/>
                <a:r>
                  <a:rPr lang="zh-CN" sz="750" dirty="0">
                    <a:solidFill>
                      <a:srgbClr val="DCE6F8"/>
                    </a:solidFill>
                    <a:latin typeface="+mn-lt"/>
                    <a:ea typeface="+mn-ea"/>
                    <a:cs typeface="+mn-cs"/>
                  </a:rPr>
                  <a:t>5</a:t>
                </a:r>
              </a:p>
            </p:txBody>
          </p:sp>
          <p:sp>
            <p:nvSpPr>
              <p:cNvPr id="107" name="TextBox 107"/>
              <p:cNvSpPr txBox="1"/>
              <p:nvPr/>
            </p:nvSpPr>
            <p:spPr>
              <a:xfrm>
                <a:off x="719138" y="4112895"/>
                <a:ext cx="25184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放款</a:t>
                </a:r>
              </a:p>
            </p:txBody>
          </p:sp>
          <p:sp>
            <p:nvSpPr>
              <p:cNvPr id="108" name="Rectangle 108"/>
              <p:cNvSpPr/>
              <p:nvPr/>
            </p:nvSpPr>
            <p:spPr>
              <a:xfrm>
                <a:off x="5810250" y="3905250"/>
                <a:ext cx="1809750" cy="381000"/>
              </a:xfrm>
              <a:prstGeom prst="roundRect">
                <a:avLst>
                  <a:gd name="adj" fmla="val 15000"/>
                </a:avLst>
              </a:prstGeom>
              <a:solidFill>
                <a:srgbClr val="FFFFFF"/>
              </a:solidFill>
              <a:ln w="14288">
                <a:solidFill>
                  <a:srgbClr val="841600"/>
                </a:solidFill>
              </a:ln>
            </p:spPr>
          </p:sp>
          <p:grpSp>
            <p:nvGrpSpPr>
              <p:cNvPr id="117" name="Group 117"/>
              <p:cNvGrpSpPr/>
              <p:nvPr/>
            </p:nvGrpSpPr>
            <p:grpSpPr>
              <a:xfrm>
                <a:off x="5948362" y="4024312"/>
                <a:ext cx="144463" cy="152400"/>
                <a:chOff x="5948362" y="4024312"/>
                <a:chExt cx="144463" cy="152400"/>
              </a:xfrm>
            </p:grpSpPr>
            <p:sp>
              <p:nvSpPr>
                <p:cNvPr id="109" name="Freeform 109"/>
                <p:cNvSpPr/>
                <p:nvPr/>
              </p:nvSpPr>
              <p:spPr>
                <a:xfrm>
                  <a:off x="5948362" y="4167187"/>
                  <a:ext cx="142875" cy="9525"/>
                </a:xfrm>
                <a:custGeom>
                  <a:avLst/>
                  <a:gdLst/>
                  <a:ahLst/>
                  <a:cxnLst/>
                  <a:rect l="l" t="t" r="r" b="b"/>
                  <a:pathLst>
                    <a:path w="142875" h="9525">
                      <a:moveTo>
                        <a:pt x="0" y="0"/>
                      </a:moveTo>
                      <a:lnTo>
                        <a:pt x="142875" y="0"/>
                      </a:lnTo>
                    </a:path>
                  </a:pathLst>
                </a:custGeom>
                <a:noFill/>
                <a:ln w="15875">
                  <a:solidFill>
                    <a:srgbClr val="841600"/>
                  </a:solidFill>
                </a:ln>
              </p:spPr>
            </p:sp>
            <p:sp>
              <p:nvSpPr>
                <p:cNvPr id="110" name="Freeform 110"/>
                <p:cNvSpPr/>
                <p:nvPr/>
              </p:nvSpPr>
              <p:spPr>
                <a:xfrm>
                  <a:off x="5948362" y="4079875"/>
                  <a:ext cx="142875" cy="9525"/>
                </a:xfrm>
                <a:custGeom>
                  <a:avLst/>
                  <a:gdLst/>
                  <a:ahLst/>
                  <a:cxnLst/>
                  <a:rect l="l" t="t" r="r" b="b"/>
                  <a:pathLst>
                    <a:path w="142875" h="9525">
                      <a:moveTo>
                        <a:pt x="0" y="0"/>
                      </a:moveTo>
                      <a:lnTo>
                        <a:pt x="142875" y="0"/>
                      </a:lnTo>
                    </a:path>
                  </a:pathLst>
                </a:custGeom>
                <a:noFill/>
                <a:ln w="15875">
                  <a:solidFill>
                    <a:srgbClr val="841600"/>
                  </a:solidFill>
                </a:ln>
              </p:spPr>
            </p:sp>
            <p:sp>
              <p:nvSpPr>
                <p:cNvPr id="111" name="Freeform 111"/>
                <p:cNvSpPr/>
                <p:nvPr/>
              </p:nvSpPr>
              <p:spPr>
                <a:xfrm>
                  <a:off x="5964237" y="4024312"/>
                  <a:ext cx="111125" cy="23812"/>
                </a:xfrm>
                <a:custGeom>
                  <a:avLst/>
                  <a:gdLst/>
                  <a:ahLst/>
                  <a:cxnLst/>
                  <a:rect l="l" t="t" r="r" b="b"/>
                  <a:pathLst>
                    <a:path w="111125" h="23812">
                      <a:moveTo>
                        <a:pt x="0" y="23812"/>
                      </a:moveTo>
                      <a:lnTo>
                        <a:pt x="55562" y="0"/>
                      </a:lnTo>
                      <a:lnTo>
                        <a:pt x="111125" y="23812"/>
                      </a:lnTo>
                    </a:path>
                  </a:pathLst>
                </a:custGeom>
                <a:noFill/>
                <a:ln w="15875">
                  <a:solidFill>
                    <a:srgbClr val="841600"/>
                  </a:solidFill>
                </a:ln>
              </p:spPr>
            </p:sp>
            <p:sp>
              <p:nvSpPr>
                <p:cNvPr id="112" name="Freeform 112"/>
                <p:cNvSpPr/>
                <p:nvPr/>
              </p:nvSpPr>
              <p:spPr>
                <a:xfrm>
                  <a:off x="5956300" y="4079875"/>
                  <a:ext cx="9525" cy="87312"/>
                </a:xfrm>
                <a:custGeom>
                  <a:avLst/>
                  <a:gdLst/>
                  <a:ahLst/>
                  <a:cxnLst/>
                  <a:rect l="l" t="t" r="r" b="b"/>
                  <a:pathLst>
                    <a:path w="9525" h="87312">
                      <a:moveTo>
                        <a:pt x="0" y="0"/>
                      </a:moveTo>
                      <a:lnTo>
                        <a:pt x="0" y="87312"/>
                      </a:lnTo>
                    </a:path>
                  </a:pathLst>
                </a:custGeom>
                <a:noFill/>
                <a:ln w="15875">
                  <a:solidFill>
                    <a:srgbClr val="841600"/>
                  </a:solidFill>
                </a:ln>
              </p:spPr>
            </p:sp>
            <p:sp>
              <p:nvSpPr>
                <p:cNvPr id="113" name="Freeform 113"/>
                <p:cNvSpPr/>
                <p:nvPr/>
              </p:nvSpPr>
              <p:spPr>
                <a:xfrm>
                  <a:off x="6083300" y="4079875"/>
                  <a:ext cx="9525" cy="87312"/>
                </a:xfrm>
                <a:custGeom>
                  <a:avLst/>
                  <a:gdLst/>
                  <a:ahLst/>
                  <a:cxnLst/>
                  <a:rect l="l" t="t" r="r" b="b"/>
                  <a:pathLst>
                    <a:path w="9525" h="87312">
                      <a:moveTo>
                        <a:pt x="0" y="0"/>
                      </a:moveTo>
                      <a:lnTo>
                        <a:pt x="0" y="87312"/>
                      </a:lnTo>
                    </a:path>
                  </a:pathLst>
                </a:custGeom>
                <a:noFill/>
                <a:ln w="15875">
                  <a:solidFill>
                    <a:srgbClr val="841600"/>
                  </a:solidFill>
                </a:ln>
              </p:spPr>
            </p:sp>
            <p:sp>
              <p:nvSpPr>
                <p:cNvPr id="114" name="Freeform 114"/>
                <p:cNvSpPr/>
                <p:nvPr/>
              </p:nvSpPr>
              <p:spPr>
                <a:xfrm>
                  <a:off x="5988050" y="4111625"/>
                  <a:ext cx="9525" cy="23812"/>
                </a:xfrm>
                <a:custGeom>
                  <a:avLst/>
                  <a:gdLst/>
                  <a:ahLst/>
                  <a:cxnLst/>
                  <a:rect l="l" t="t" r="r" b="b"/>
                  <a:pathLst>
                    <a:path w="9525" h="23812">
                      <a:moveTo>
                        <a:pt x="0" y="0"/>
                      </a:moveTo>
                      <a:lnTo>
                        <a:pt x="0" y="23812"/>
                      </a:lnTo>
                    </a:path>
                  </a:pathLst>
                </a:custGeom>
                <a:noFill/>
                <a:ln w="15875">
                  <a:solidFill>
                    <a:srgbClr val="841600"/>
                  </a:solidFill>
                </a:ln>
              </p:spPr>
            </p:sp>
            <p:sp>
              <p:nvSpPr>
                <p:cNvPr id="115" name="Freeform 115"/>
                <p:cNvSpPr/>
                <p:nvPr/>
              </p:nvSpPr>
              <p:spPr>
                <a:xfrm>
                  <a:off x="6019800" y="4111625"/>
                  <a:ext cx="9525" cy="23812"/>
                </a:xfrm>
                <a:custGeom>
                  <a:avLst/>
                  <a:gdLst/>
                  <a:ahLst/>
                  <a:cxnLst/>
                  <a:rect l="l" t="t" r="r" b="b"/>
                  <a:pathLst>
                    <a:path w="9525" h="23812">
                      <a:moveTo>
                        <a:pt x="0" y="0"/>
                      </a:moveTo>
                      <a:lnTo>
                        <a:pt x="0" y="23812"/>
                      </a:lnTo>
                    </a:path>
                  </a:pathLst>
                </a:custGeom>
                <a:noFill/>
                <a:ln w="15875">
                  <a:solidFill>
                    <a:srgbClr val="841600"/>
                  </a:solidFill>
                </a:ln>
              </p:spPr>
            </p:sp>
            <p:sp>
              <p:nvSpPr>
                <p:cNvPr id="116" name="Freeform 116"/>
                <p:cNvSpPr/>
                <p:nvPr/>
              </p:nvSpPr>
              <p:spPr>
                <a:xfrm>
                  <a:off x="6051550" y="4111625"/>
                  <a:ext cx="9525" cy="23812"/>
                </a:xfrm>
                <a:custGeom>
                  <a:avLst/>
                  <a:gdLst/>
                  <a:ahLst/>
                  <a:cxnLst/>
                  <a:rect l="l" t="t" r="r" b="b"/>
                  <a:pathLst>
                    <a:path w="9525" h="23812">
                      <a:moveTo>
                        <a:pt x="0" y="0"/>
                      </a:moveTo>
                      <a:lnTo>
                        <a:pt x="0" y="23812"/>
                      </a:lnTo>
                    </a:path>
                  </a:pathLst>
                </a:custGeom>
                <a:noFill/>
                <a:ln w="15875">
                  <a:solidFill>
                    <a:srgbClr val="841600"/>
                  </a:solidFill>
                </a:ln>
              </p:spPr>
            </p:sp>
          </p:grpSp>
          <p:sp>
            <p:nvSpPr>
              <p:cNvPr id="118" name="TextBox 118"/>
              <p:cNvSpPr txBox="1"/>
              <p:nvPr/>
            </p:nvSpPr>
            <p:spPr>
              <a:xfrm>
                <a:off x="6185916" y="4039552"/>
                <a:ext cx="858774"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放款条件落实</a:t>
                </a:r>
              </a:p>
            </p:txBody>
          </p:sp>
        </p:grpSp>
        <p:sp>
          <p:nvSpPr>
            <p:cNvPr id="120" name="Freeform 120"/>
            <p:cNvSpPr/>
            <p:nvPr/>
          </p:nvSpPr>
          <p:spPr>
            <a:xfrm>
              <a:off x="1333500" y="4533900"/>
              <a:ext cx="6667500" cy="381000"/>
            </a:xfrm>
            <a:prstGeom prst="rightArrow">
              <a:avLst>
                <a:gd name="adj1" fmla="val 60000"/>
                <a:gd name="adj2" fmla="val 92000"/>
              </a:avLst>
            </a:prstGeom>
            <a:solidFill>
              <a:srgbClr val="C9482E"/>
            </a:solidFill>
            <a:ln>
              <a:noFill/>
            </a:ln>
          </p:spPr>
        </p:sp>
        <p:sp>
          <p:nvSpPr>
            <p:cNvPr id="121" name="TextBox 121"/>
            <p:cNvSpPr txBox="1"/>
            <p:nvPr/>
          </p:nvSpPr>
          <p:spPr>
            <a:xfrm>
              <a:off x="3376413" y="4660106"/>
              <a:ext cx="22006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 xml:space="preserve">重点项目绿色通道　覆盖100%　</a:t>
              </a:r>
            </a:p>
          </p:txBody>
        </p:sp>
      </p:grpSp>
      <p:grpSp>
        <p:nvGrpSpPr>
          <p:cNvPr id="147" name="policy-matrix"/>
          <p:cNvGrpSpPr/>
          <p:nvPr/>
        </p:nvGrpSpPr>
        <p:grpSpPr>
          <a:xfrm>
            <a:off x="8248650" y="876300"/>
            <a:ext cx="3676650" cy="2266950"/>
            <a:chOff x="8248650" y="876300"/>
            <a:chExt cx="3676650" cy="2266950"/>
          </a:xfrm>
        </p:grpSpPr>
        <p:sp>
          <p:nvSpPr>
            <p:cNvPr id="123" name="Rectangle 123"/>
            <p:cNvSpPr/>
            <p:nvPr/>
          </p:nvSpPr>
          <p:spPr>
            <a:xfrm>
              <a:off x="8248650" y="876300"/>
              <a:ext cx="3676650" cy="2266950"/>
            </a:xfrm>
            <a:prstGeom prst="roundRect">
              <a:avLst>
                <a:gd name="adj" fmla="val 4202"/>
              </a:avLst>
            </a:prstGeom>
            <a:solidFill>
              <a:srgbClr val="FFFFFF"/>
            </a:solidFill>
            <a:ln w="9525">
              <a:solidFill>
                <a:srgbClr val="D7E2F2"/>
              </a:solidFill>
            </a:ln>
          </p:spPr>
        </p:sp>
        <p:sp>
          <p:nvSpPr>
            <p:cNvPr id="124" name="Rectangle 124"/>
            <p:cNvSpPr/>
            <p:nvPr/>
          </p:nvSpPr>
          <p:spPr>
            <a:xfrm>
              <a:off x="8248650" y="876300"/>
              <a:ext cx="3676650" cy="381000"/>
            </a:xfrm>
            <a:prstGeom prst="roundRect">
              <a:avLst>
                <a:gd name="adj" fmla="val 25000"/>
              </a:avLst>
            </a:prstGeom>
            <a:solidFill>
              <a:srgbClr val="841600"/>
            </a:solidFill>
            <a:ln>
              <a:noFill/>
            </a:ln>
          </p:spPr>
        </p:sp>
        <p:sp>
          <p:nvSpPr>
            <p:cNvPr id="125" name="Rectangle 125"/>
            <p:cNvSpPr/>
            <p:nvPr/>
          </p:nvSpPr>
          <p:spPr>
            <a:xfrm>
              <a:off x="8248650" y="1085850"/>
              <a:ext cx="3676650" cy="171450"/>
            </a:xfrm>
            <a:prstGeom prst="rect">
              <a:avLst/>
            </a:prstGeom>
            <a:solidFill>
              <a:srgbClr val="841600"/>
            </a:solidFill>
            <a:ln>
              <a:noFill/>
            </a:ln>
          </p:spPr>
        </p:sp>
        <p:sp>
          <p:nvSpPr>
            <p:cNvPr id="126" name="TextBox 126"/>
            <p:cNvSpPr txBox="1"/>
            <p:nvPr/>
          </p:nvSpPr>
          <p:spPr>
            <a:xfrm>
              <a:off x="9192387" y="1003935"/>
              <a:ext cx="178917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行业准入与授信政策矩阵</a:t>
              </a:r>
            </a:p>
          </p:txBody>
        </p:sp>
        <p:sp>
          <p:nvSpPr>
            <p:cNvPr id="127" name="Rectangle 127"/>
            <p:cNvSpPr/>
            <p:nvPr/>
          </p:nvSpPr>
          <p:spPr>
            <a:xfrm>
              <a:off x="8248650" y="1257300"/>
              <a:ext cx="3676650" cy="323850"/>
            </a:xfrm>
            <a:prstGeom prst="rect">
              <a:avLst/>
            </a:prstGeom>
            <a:solidFill>
              <a:srgbClr val="EFF5FD"/>
            </a:solidFill>
            <a:ln>
              <a:noFill/>
            </a:ln>
          </p:spPr>
        </p:sp>
        <p:sp>
          <p:nvSpPr>
            <p:cNvPr id="128" name="TextBox 128"/>
            <p:cNvSpPr txBox="1"/>
            <p:nvPr/>
          </p:nvSpPr>
          <p:spPr>
            <a:xfrm>
              <a:off x="8600402" y="1375172"/>
              <a:ext cx="515696" cy="183356"/>
            </a:xfrm>
            <a:prstGeom prst="rect">
              <a:avLst/>
            </a:prstGeom>
            <a:noFill/>
            <a:ln>
              <a:noFill/>
            </a:ln>
          </p:spPr>
          <p:txBody>
            <a:bodyPr wrap="none" lIns="0" tIns="0" rIns="0" bIns="0" anchor="t" anchorCtr="0">
              <a:spAutoFit/>
            </a:bodyPr>
            <a:lstStyle/>
            <a:p>
              <a:pPr algn="ctr"/>
              <a:r>
                <a:rPr lang="zh-CN" sz="940" b="1" dirty="0">
                  <a:solidFill>
                    <a:srgbClr val="841600"/>
                  </a:solidFill>
                  <a:latin typeface="+mn-lt"/>
                  <a:ea typeface="+mn-ea"/>
                  <a:cs typeface="+mn-cs"/>
                </a:rPr>
                <a:t>政策维度</a:t>
              </a:r>
            </a:p>
          </p:txBody>
        </p:sp>
        <p:sp>
          <p:nvSpPr>
            <p:cNvPr id="129" name="TextBox 129"/>
            <p:cNvSpPr txBox="1"/>
            <p:nvPr/>
          </p:nvSpPr>
          <p:spPr>
            <a:xfrm>
              <a:off x="9829127" y="1375172"/>
              <a:ext cx="515696" cy="183356"/>
            </a:xfrm>
            <a:prstGeom prst="rect">
              <a:avLst/>
            </a:prstGeom>
            <a:noFill/>
            <a:ln>
              <a:noFill/>
            </a:ln>
          </p:spPr>
          <p:txBody>
            <a:bodyPr wrap="none" lIns="0" tIns="0" rIns="0" bIns="0" anchor="t" anchorCtr="0">
              <a:spAutoFit/>
            </a:bodyPr>
            <a:lstStyle/>
            <a:p>
              <a:pPr algn="ctr"/>
              <a:r>
                <a:rPr lang="zh-CN" sz="940" b="1" dirty="0">
                  <a:solidFill>
                    <a:srgbClr val="841600"/>
                  </a:solidFill>
                  <a:latin typeface="+mn-lt"/>
                  <a:ea typeface="+mn-ea"/>
                  <a:cs typeface="+mn-cs"/>
                </a:rPr>
                <a:t>核心要求</a:t>
              </a:r>
            </a:p>
          </p:txBody>
        </p:sp>
        <p:sp>
          <p:nvSpPr>
            <p:cNvPr id="130" name="TextBox 130"/>
            <p:cNvSpPr txBox="1"/>
            <p:nvPr/>
          </p:nvSpPr>
          <p:spPr>
            <a:xfrm>
              <a:off x="11057852" y="1375172"/>
              <a:ext cx="515696" cy="183356"/>
            </a:xfrm>
            <a:prstGeom prst="rect">
              <a:avLst/>
            </a:prstGeom>
            <a:noFill/>
            <a:ln>
              <a:noFill/>
            </a:ln>
          </p:spPr>
          <p:txBody>
            <a:bodyPr wrap="none" lIns="0" tIns="0" rIns="0" bIns="0" anchor="t" anchorCtr="0">
              <a:spAutoFit/>
            </a:bodyPr>
            <a:lstStyle/>
            <a:p>
              <a:pPr algn="ctr"/>
              <a:r>
                <a:rPr lang="zh-CN" sz="940" b="1" dirty="0">
                  <a:solidFill>
                    <a:srgbClr val="841600"/>
                  </a:solidFill>
                  <a:latin typeface="+mn-lt"/>
                  <a:ea typeface="+mn-ea"/>
                  <a:cs typeface="+mn-cs"/>
                </a:rPr>
                <a:t>传导抓手</a:t>
              </a:r>
            </a:p>
          </p:txBody>
        </p:sp>
        <p:sp>
          <p:nvSpPr>
            <p:cNvPr id="131" name="Line 131"/>
            <p:cNvSpPr/>
            <p:nvPr/>
          </p:nvSpPr>
          <p:spPr>
            <a:xfrm>
              <a:off x="9467850" y="1257300"/>
              <a:ext cx="9525" cy="1847850"/>
            </a:xfrm>
            <a:custGeom>
              <a:avLst/>
              <a:gdLst/>
              <a:ahLst/>
              <a:cxnLst/>
              <a:rect l="l" t="t" r="r" b="b"/>
              <a:pathLst>
                <a:path w="9525" h="1847850">
                  <a:moveTo>
                    <a:pt x="0" y="0"/>
                  </a:moveTo>
                  <a:lnTo>
                    <a:pt x="0" y="1847850"/>
                  </a:lnTo>
                </a:path>
              </a:pathLst>
            </a:custGeom>
            <a:noFill/>
            <a:ln w="9525">
              <a:solidFill>
                <a:srgbClr val="E5ECF6"/>
              </a:solidFill>
            </a:ln>
          </p:spPr>
        </p:sp>
        <p:sp>
          <p:nvSpPr>
            <p:cNvPr id="132" name="Line 132"/>
            <p:cNvSpPr/>
            <p:nvPr/>
          </p:nvSpPr>
          <p:spPr>
            <a:xfrm>
              <a:off x="10696575" y="1257300"/>
              <a:ext cx="9525" cy="1847850"/>
            </a:xfrm>
            <a:custGeom>
              <a:avLst/>
              <a:gdLst/>
              <a:ahLst/>
              <a:cxnLst/>
              <a:rect l="l" t="t" r="r" b="b"/>
              <a:pathLst>
                <a:path w="9525" h="1847850">
                  <a:moveTo>
                    <a:pt x="0" y="0"/>
                  </a:moveTo>
                  <a:lnTo>
                    <a:pt x="0" y="1847850"/>
                  </a:lnTo>
                </a:path>
              </a:pathLst>
            </a:custGeom>
            <a:noFill/>
            <a:ln w="9525">
              <a:solidFill>
                <a:srgbClr val="E5ECF6"/>
              </a:solidFill>
            </a:ln>
          </p:spPr>
        </p:sp>
        <p:sp>
          <p:nvSpPr>
            <p:cNvPr id="133" name="Line 133"/>
            <p:cNvSpPr/>
            <p:nvPr/>
          </p:nvSpPr>
          <p:spPr>
            <a:xfrm>
              <a:off x="8248650" y="2095500"/>
              <a:ext cx="3676650" cy="9525"/>
            </a:xfrm>
            <a:custGeom>
              <a:avLst/>
              <a:gdLst/>
              <a:ahLst/>
              <a:cxnLst/>
              <a:rect l="l" t="t" r="r" b="b"/>
              <a:pathLst>
                <a:path w="3676650" h="9525">
                  <a:moveTo>
                    <a:pt x="0" y="0"/>
                  </a:moveTo>
                  <a:lnTo>
                    <a:pt x="3676650" y="0"/>
                  </a:lnTo>
                </a:path>
              </a:pathLst>
            </a:custGeom>
            <a:noFill/>
            <a:ln w="9525">
              <a:solidFill>
                <a:srgbClr val="E5ECF6"/>
              </a:solidFill>
            </a:ln>
          </p:spPr>
        </p:sp>
        <p:sp>
          <p:nvSpPr>
            <p:cNvPr id="134" name="Line 134"/>
            <p:cNvSpPr/>
            <p:nvPr/>
          </p:nvSpPr>
          <p:spPr>
            <a:xfrm>
              <a:off x="8248650" y="2609850"/>
              <a:ext cx="3676650" cy="9525"/>
            </a:xfrm>
            <a:custGeom>
              <a:avLst/>
              <a:gdLst/>
              <a:ahLst/>
              <a:cxnLst/>
              <a:rect l="l" t="t" r="r" b="b"/>
              <a:pathLst>
                <a:path w="3676650" h="9525">
                  <a:moveTo>
                    <a:pt x="0" y="0"/>
                  </a:moveTo>
                  <a:lnTo>
                    <a:pt x="3676650" y="0"/>
                  </a:lnTo>
                </a:path>
              </a:pathLst>
            </a:custGeom>
            <a:noFill/>
            <a:ln w="9525">
              <a:solidFill>
                <a:srgbClr val="E5ECF6"/>
              </a:solidFill>
            </a:ln>
          </p:spPr>
        </p:sp>
        <p:grpSp>
          <p:nvGrpSpPr>
            <p:cNvPr id="138" name="policy-row-1"/>
            <p:cNvGrpSpPr/>
            <p:nvPr/>
          </p:nvGrpSpPr>
          <p:grpSpPr>
            <a:xfrm>
              <a:off x="8589442" y="1780699"/>
              <a:ext cx="2929103" cy="190690"/>
              <a:chOff x="8589442" y="1780699"/>
              <a:chExt cx="2929103" cy="190690"/>
            </a:xfrm>
          </p:grpSpPr>
          <p:sp>
            <p:nvSpPr>
              <p:cNvPr id="135" name="TextBox 135"/>
              <p:cNvSpPr txBox="1"/>
              <p:nvPr/>
            </p:nvSpPr>
            <p:spPr>
              <a:xfrm>
                <a:off x="8589442" y="1780699"/>
                <a:ext cx="537616"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行业授信</a:t>
                </a:r>
              </a:p>
            </p:txBody>
          </p:sp>
          <p:sp>
            <p:nvSpPr>
              <p:cNvPr id="136" name="TextBox 136"/>
              <p:cNvSpPr txBox="1"/>
              <p:nvPr/>
            </p:nvSpPr>
            <p:spPr>
              <a:xfrm>
                <a:off x="9752203" y="1780699"/>
                <a:ext cx="669544"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限额与投向</a:t>
                </a:r>
              </a:p>
            </p:txBody>
          </p:sp>
          <p:sp>
            <p:nvSpPr>
              <p:cNvPr id="137" name="TextBox 137"/>
              <p:cNvSpPr txBox="1"/>
              <p:nvPr/>
            </p:nvSpPr>
            <p:spPr>
              <a:xfrm>
                <a:off x="11112856" y="1780699"/>
                <a:ext cx="405689"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名单制</a:t>
                </a:r>
              </a:p>
            </p:txBody>
          </p:sp>
        </p:grpSp>
        <p:grpSp>
          <p:nvGrpSpPr>
            <p:cNvPr id="142" name="policy-row-2"/>
            <p:cNvGrpSpPr/>
            <p:nvPr/>
          </p:nvGrpSpPr>
          <p:grpSpPr>
            <a:xfrm>
              <a:off x="8589442" y="2295049"/>
              <a:ext cx="2995066" cy="190690"/>
              <a:chOff x="8589442" y="2295049"/>
              <a:chExt cx="2995066" cy="190690"/>
            </a:xfrm>
          </p:grpSpPr>
          <p:sp>
            <p:nvSpPr>
              <p:cNvPr id="139" name="TextBox 139"/>
              <p:cNvSpPr txBox="1"/>
              <p:nvPr/>
            </p:nvSpPr>
            <p:spPr>
              <a:xfrm>
                <a:off x="8589442" y="2295049"/>
                <a:ext cx="537616"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客户准入</a:t>
                </a:r>
              </a:p>
            </p:txBody>
          </p:sp>
          <p:sp>
            <p:nvSpPr>
              <p:cNvPr id="140" name="TextBox 140"/>
              <p:cNvSpPr txBox="1"/>
              <p:nvPr/>
            </p:nvSpPr>
            <p:spPr>
              <a:xfrm>
                <a:off x="9818167" y="2295049"/>
                <a:ext cx="537616"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分层分类</a:t>
                </a:r>
              </a:p>
            </p:txBody>
          </p:sp>
          <p:sp>
            <p:nvSpPr>
              <p:cNvPr id="141" name="TextBox 141"/>
              <p:cNvSpPr txBox="1"/>
              <p:nvPr/>
            </p:nvSpPr>
            <p:spPr>
              <a:xfrm>
                <a:off x="11046892" y="2295049"/>
                <a:ext cx="537616"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标准清单</a:t>
                </a:r>
              </a:p>
            </p:txBody>
          </p:sp>
        </p:grpSp>
        <p:grpSp>
          <p:nvGrpSpPr>
            <p:cNvPr id="146" name="policy-row-3"/>
            <p:cNvGrpSpPr/>
            <p:nvPr/>
          </p:nvGrpSpPr>
          <p:grpSpPr>
            <a:xfrm>
              <a:off x="8523478" y="2809399"/>
              <a:ext cx="3061030" cy="190690"/>
              <a:chOff x="8523478" y="2809399"/>
              <a:chExt cx="3061030" cy="190690"/>
            </a:xfrm>
          </p:grpSpPr>
          <p:sp>
            <p:nvSpPr>
              <p:cNvPr id="143" name="TextBox 143"/>
              <p:cNvSpPr txBox="1"/>
              <p:nvPr/>
            </p:nvSpPr>
            <p:spPr>
              <a:xfrm>
                <a:off x="8523478" y="2809399"/>
                <a:ext cx="669544"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差异化授权</a:t>
                </a:r>
              </a:p>
            </p:txBody>
          </p:sp>
          <p:sp>
            <p:nvSpPr>
              <p:cNvPr id="144" name="TextBox 144"/>
              <p:cNvSpPr txBox="1"/>
              <p:nvPr/>
            </p:nvSpPr>
            <p:spPr>
              <a:xfrm>
                <a:off x="9818167" y="2809399"/>
                <a:ext cx="537616"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权限匹配</a:t>
                </a:r>
              </a:p>
            </p:txBody>
          </p:sp>
          <p:sp>
            <p:nvSpPr>
              <p:cNvPr id="145" name="TextBox 145"/>
              <p:cNvSpPr txBox="1"/>
              <p:nvPr/>
            </p:nvSpPr>
            <p:spPr>
              <a:xfrm>
                <a:off x="11046892" y="2809399"/>
                <a:ext cx="537616"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动态调整</a:t>
                </a:r>
              </a:p>
            </p:txBody>
          </p:sp>
        </p:grpSp>
      </p:grpSp>
      <p:grpSp>
        <p:nvGrpSpPr>
          <p:cNvPr id="177" name="unified-credit"/>
          <p:cNvGrpSpPr/>
          <p:nvPr/>
        </p:nvGrpSpPr>
        <p:grpSpPr>
          <a:xfrm>
            <a:off x="8248650" y="3257550"/>
            <a:ext cx="3676650" cy="1885950"/>
            <a:chOff x="8248650" y="3257550"/>
            <a:chExt cx="3676650" cy="1885950"/>
          </a:xfrm>
        </p:grpSpPr>
        <p:sp>
          <p:nvSpPr>
            <p:cNvPr id="148" name="Rectangle 148"/>
            <p:cNvSpPr/>
            <p:nvPr/>
          </p:nvSpPr>
          <p:spPr>
            <a:xfrm>
              <a:off x="8248650" y="3257550"/>
              <a:ext cx="3676650" cy="1885950"/>
            </a:xfrm>
            <a:prstGeom prst="roundRect">
              <a:avLst>
                <a:gd name="adj" fmla="val 5051"/>
              </a:avLst>
            </a:prstGeom>
            <a:solidFill>
              <a:srgbClr val="FFFFFF"/>
            </a:solidFill>
            <a:ln w="9525">
              <a:solidFill>
                <a:srgbClr val="D7E2F2"/>
              </a:solidFill>
            </a:ln>
          </p:spPr>
        </p:sp>
        <p:sp>
          <p:nvSpPr>
            <p:cNvPr id="149" name="Rectangle 149"/>
            <p:cNvSpPr/>
            <p:nvPr/>
          </p:nvSpPr>
          <p:spPr>
            <a:xfrm>
              <a:off x="8248650" y="3257550"/>
              <a:ext cx="3676650" cy="381000"/>
            </a:xfrm>
            <a:prstGeom prst="roundRect">
              <a:avLst>
                <a:gd name="adj" fmla="val 25000"/>
              </a:avLst>
            </a:prstGeom>
            <a:solidFill>
              <a:srgbClr val="841600"/>
            </a:solidFill>
            <a:ln>
              <a:noFill/>
            </a:ln>
          </p:spPr>
        </p:sp>
        <p:sp>
          <p:nvSpPr>
            <p:cNvPr id="150" name="Rectangle 150"/>
            <p:cNvSpPr/>
            <p:nvPr/>
          </p:nvSpPr>
          <p:spPr>
            <a:xfrm>
              <a:off x="8248650" y="3467100"/>
              <a:ext cx="3676650" cy="171450"/>
            </a:xfrm>
            <a:prstGeom prst="rect">
              <a:avLst/>
            </a:prstGeom>
            <a:solidFill>
              <a:srgbClr val="841600"/>
            </a:solidFill>
            <a:ln>
              <a:noFill/>
            </a:ln>
          </p:spPr>
        </p:sp>
        <p:sp>
          <p:nvSpPr>
            <p:cNvPr id="151" name="TextBox 151"/>
            <p:cNvSpPr txBox="1"/>
            <p:nvPr/>
          </p:nvSpPr>
          <p:spPr>
            <a:xfrm>
              <a:off x="9596247" y="338518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统一授信管理</a:t>
              </a:r>
            </a:p>
          </p:txBody>
        </p:sp>
        <p:grpSp>
          <p:nvGrpSpPr>
            <p:cNvPr id="163" name="unified-1"/>
            <p:cNvGrpSpPr/>
            <p:nvPr/>
          </p:nvGrpSpPr>
          <p:grpSpPr>
            <a:xfrm>
              <a:off x="8439150" y="3790950"/>
              <a:ext cx="1329690" cy="342900"/>
              <a:chOff x="8439150" y="3790950"/>
              <a:chExt cx="1329690" cy="342900"/>
            </a:xfrm>
          </p:grpSpPr>
          <p:sp>
            <p:nvSpPr>
              <p:cNvPr id="152" name="Ellipse 152"/>
              <p:cNvSpPr/>
              <p:nvPr/>
            </p:nvSpPr>
            <p:spPr>
              <a:xfrm>
                <a:off x="8439150" y="3790950"/>
                <a:ext cx="342900" cy="342900"/>
              </a:xfrm>
              <a:prstGeom prst="ellipse">
                <a:avLst/>
              </a:prstGeom>
              <a:solidFill>
                <a:srgbClr val="EFF5FD"/>
              </a:solidFill>
              <a:ln w="14288">
                <a:solidFill>
                  <a:srgbClr val="ECC1B8"/>
                </a:solidFill>
              </a:ln>
            </p:spPr>
          </p:sp>
          <p:grpSp>
            <p:nvGrpSpPr>
              <p:cNvPr id="161" name="Group 161"/>
              <p:cNvGrpSpPr/>
              <p:nvPr/>
            </p:nvGrpSpPr>
            <p:grpSpPr>
              <a:xfrm>
                <a:off x="8539162" y="3890962"/>
                <a:ext cx="142875" cy="152400"/>
                <a:chOff x="8539162" y="3890962"/>
                <a:chExt cx="142875" cy="152400"/>
              </a:xfrm>
            </p:grpSpPr>
            <p:sp>
              <p:nvSpPr>
                <p:cNvPr id="153" name="Freeform 153"/>
                <p:cNvSpPr/>
                <p:nvPr/>
              </p:nvSpPr>
              <p:spPr>
                <a:xfrm>
                  <a:off x="8539162" y="4033837"/>
                  <a:ext cx="142875" cy="9525"/>
                </a:xfrm>
                <a:custGeom>
                  <a:avLst/>
                  <a:gdLst/>
                  <a:ahLst/>
                  <a:cxnLst/>
                  <a:rect l="l" t="t" r="r" b="b"/>
                  <a:pathLst>
                    <a:path w="142875" h="9525">
                      <a:moveTo>
                        <a:pt x="0" y="0"/>
                      </a:moveTo>
                      <a:lnTo>
                        <a:pt x="142875" y="0"/>
                      </a:lnTo>
                    </a:path>
                  </a:pathLst>
                </a:custGeom>
                <a:noFill/>
                <a:ln w="15875">
                  <a:solidFill>
                    <a:srgbClr val="841600"/>
                  </a:solidFill>
                </a:ln>
              </p:spPr>
            </p:sp>
            <p:sp>
              <p:nvSpPr>
                <p:cNvPr id="154" name="Freeform 154"/>
                <p:cNvSpPr/>
                <p:nvPr/>
              </p:nvSpPr>
              <p:spPr>
                <a:xfrm>
                  <a:off x="8586787" y="393065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55" name="Freeform 155"/>
                <p:cNvSpPr/>
                <p:nvPr/>
              </p:nvSpPr>
              <p:spPr>
                <a:xfrm>
                  <a:off x="8586787" y="396240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56" name="Freeform 156"/>
                <p:cNvSpPr/>
                <p:nvPr/>
              </p:nvSpPr>
              <p:spPr>
                <a:xfrm>
                  <a:off x="8586787" y="399415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57" name="Freeform 157"/>
                <p:cNvSpPr/>
                <p:nvPr/>
              </p:nvSpPr>
              <p:spPr>
                <a:xfrm>
                  <a:off x="8626475" y="393065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58" name="Freeform 158"/>
                <p:cNvSpPr/>
                <p:nvPr/>
              </p:nvSpPr>
              <p:spPr>
                <a:xfrm>
                  <a:off x="8626475" y="396240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59" name="Freeform 159"/>
                <p:cNvSpPr/>
                <p:nvPr/>
              </p:nvSpPr>
              <p:spPr>
                <a:xfrm>
                  <a:off x="8626475" y="3994150"/>
                  <a:ext cx="9525" cy="9525"/>
                </a:xfrm>
                <a:custGeom>
                  <a:avLst/>
                  <a:gdLst/>
                  <a:ahLst/>
                  <a:cxnLst/>
                  <a:rect l="l" t="t" r="r" b="b"/>
                  <a:pathLst>
                    <a:path w="9525" h="9525">
                      <a:moveTo>
                        <a:pt x="0" y="0"/>
                      </a:moveTo>
                      <a:lnTo>
                        <a:pt x="7937" y="0"/>
                      </a:lnTo>
                    </a:path>
                  </a:pathLst>
                </a:custGeom>
                <a:noFill/>
                <a:ln w="15875">
                  <a:solidFill>
                    <a:srgbClr val="841600"/>
                  </a:solidFill>
                </a:ln>
              </p:spPr>
            </p:sp>
            <p:sp>
              <p:nvSpPr>
                <p:cNvPr id="160" name="Freeform 160"/>
                <p:cNvSpPr/>
                <p:nvPr/>
              </p:nvSpPr>
              <p:spPr>
                <a:xfrm>
                  <a:off x="8555037" y="3890962"/>
                  <a:ext cx="111125" cy="142875"/>
                </a:xfrm>
                <a:custGeom>
                  <a:avLst/>
                  <a:gdLst/>
                  <a:ahLst/>
                  <a:cxnLst/>
                  <a:rect l="l" t="t" r="r" b="b"/>
                  <a:pathLst>
                    <a:path w="111125" h="142875">
                      <a:moveTo>
                        <a:pt x="0" y="142875"/>
                      </a:moveTo>
                      <a:lnTo>
                        <a:pt x="0" y="15875"/>
                      </a:lnTo>
                      <a:cubicBezTo>
                        <a:pt x="0" y="7107"/>
                        <a:pt x="7107" y="0"/>
                        <a:pt x="15875" y="0"/>
                      </a:cubicBezTo>
                      <a:lnTo>
                        <a:pt x="95250" y="0"/>
                      </a:lnTo>
                      <a:cubicBezTo>
                        <a:pt x="104017" y="0"/>
                        <a:pt x="111125" y="7107"/>
                        <a:pt x="111125" y="15875"/>
                      </a:cubicBezTo>
                      <a:lnTo>
                        <a:pt x="111125" y="142875"/>
                      </a:lnTo>
                    </a:path>
                  </a:pathLst>
                </a:custGeom>
                <a:noFill/>
                <a:ln w="15875">
                  <a:solidFill>
                    <a:srgbClr val="841600"/>
                  </a:solidFill>
                </a:ln>
              </p:spPr>
            </p:sp>
          </p:grpSp>
          <p:sp>
            <p:nvSpPr>
              <p:cNvPr id="162" name="TextBox 162"/>
              <p:cNvSpPr txBox="1"/>
              <p:nvPr/>
            </p:nvSpPr>
            <p:spPr>
              <a:xfrm>
                <a:off x="8910066" y="3896678"/>
                <a:ext cx="858774"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集团统一授信</a:t>
                </a:r>
              </a:p>
            </p:txBody>
          </p:sp>
        </p:grpSp>
        <p:grpSp>
          <p:nvGrpSpPr>
            <p:cNvPr id="170" name="unified-2"/>
            <p:cNvGrpSpPr/>
            <p:nvPr/>
          </p:nvGrpSpPr>
          <p:grpSpPr>
            <a:xfrm>
              <a:off x="8439150" y="4229100"/>
              <a:ext cx="1046988" cy="342900"/>
              <a:chOff x="8439150" y="4229100"/>
              <a:chExt cx="1046988" cy="342900"/>
            </a:xfrm>
          </p:grpSpPr>
          <p:sp>
            <p:nvSpPr>
              <p:cNvPr id="164" name="Ellipse 164"/>
              <p:cNvSpPr/>
              <p:nvPr/>
            </p:nvSpPr>
            <p:spPr>
              <a:xfrm>
                <a:off x="8439150" y="4229100"/>
                <a:ext cx="342900" cy="342900"/>
              </a:xfrm>
              <a:prstGeom prst="ellipse">
                <a:avLst/>
              </a:prstGeom>
              <a:solidFill>
                <a:srgbClr val="EFF5FD"/>
              </a:solidFill>
              <a:ln w="14288">
                <a:solidFill>
                  <a:srgbClr val="ECC1B8"/>
                </a:solidFill>
              </a:ln>
            </p:spPr>
          </p:sp>
          <p:grpSp>
            <p:nvGrpSpPr>
              <p:cNvPr id="168" name="Group 168"/>
              <p:cNvGrpSpPr/>
              <p:nvPr/>
            </p:nvGrpSpPr>
            <p:grpSpPr>
              <a:xfrm>
                <a:off x="8555037" y="4329112"/>
                <a:ext cx="111125" cy="142875"/>
                <a:chOff x="8555037" y="4329112"/>
                <a:chExt cx="111125" cy="142875"/>
              </a:xfrm>
            </p:grpSpPr>
            <p:sp>
              <p:nvSpPr>
                <p:cNvPr id="165" name="Freeform 165"/>
                <p:cNvSpPr/>
                <p:nvPr/>
              </p:nvSpPr>
              <p:spPr>
                <a:xfrm>
                  <a:off x="8555037" y="437673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841600"/>
                  </a:solidFill>
                </a:ln>
              </p:spPr>
            </p:sp>
            <p:sp>
              <p:nvSpPr>
                <p:cNvPr id="166" name="Freeform 166"/>
                <p:cNvSpPr/>
                <p:nvPr/>
              </p:nvSpPr>
              <p:spPr>
                <a:xfrm>
                  <a:off x="8610600" y="4329112"/>
                  <a:ext cx="9525" cy="87312"/>
                </a:xfrm>
                <a:custGeom>
                  <a:avLst/>
                  <a:gdLst/>
                  <a:ahLst/>
                  <a:cxnLst/>
                  <a:rect l="l" t="t" r="r" b="b"/>
                  <a:pathLst>
                    <a:path w="9525" h="87312">
                      <a:moveTo>
                        <a:pt x="0" y="87312"/>
                      </a:moveTo>
                      <a:lnTo>
                        <a:pt x="0" y="0"/>
                      </a:lnTo>
                    </a:path>
                  </a:pathLst>
                </a:custGeom>
                <a:noFill/>
                <a:ln w="15875">
                  <a:solidFill>
                    <a:srgbClr val="841600"/>
                  </a:solidFill>
                </a:ln>
              </p:spPr>
            </p:sp>
            <p:sp>
              <p:nvSpPr>
                <p:cNvPr id="167" name="Freeform 167"/>
                <p:cNvSpPr/>
                <p:nvPr/>
              </p:nvSpPr>
              <p:spPr>
                <a:xfrm>
                  <a:off x="8586787" y="4329112"/>
                  <a:ext cx="47625" cy="23812"/>
                </a:xfrm>
                <a:custGeom>
                  <a:avLst/>
                  <a:gdLst/>
                  <a:ahLst/>
                  <a:cxnLst/>
                  <a:rect l="l" t="t" r="r" b="b"/>
                  <a:pathLst>
                    <a:path w="47625" h="23812">
                      <a:moveTo>
                        <a:pt x="0" y="23812"/>
                      </a:moveTo>
                      <a:lnTo>
                        <a:pt x="23812" y="0"/>
                      </a:lnTo>
                      <a:lnTo>
                        <a:pt x="47625" y="23812"/>
                      </a:lnTo>
                    </a:path>
                  </a:pathLst>
                </a:custGeom>
                <a:noFill/>
                <a:ln w="15875">
                  <a:solidFill>
                    <a:srgbClr val="841600"/>
                  </a:solidFill>
                </a:ln>
              </p:spPr>
            </p:sp>
          </p:grpSp>
          <p:sp>
            <p:nvSpPr>
              <p:cNvPr id="169" name="TextBox 169"/>
              <p:cNvSpPr txBox="1"/>
              <p:nvPr/>
            </p:nvSpPr>
            <p:spPr>
              <a:xfrm>
                <a:off x="8910066" y="433482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关联识别</a:t>
                </a:r>
              </a:p>
            </p:txBody>
          </p:sp>
        </p:grpSp>
        <p:grpSp>
          <p:nvGrpSpPr>
            <p:cNvPr id="176" name="unified-3"/>
            <p:cNvGrpSpPr/>
            <p:nvPr/>
          </p:nvGrpSpPr>
          <p:grpSpPr>
            <a:xfrm>
              <a:off x="8439150" y="4667250"/>
              <a:ext cx="1188339" cy="342900"/>
              <a:chOff x="8439150" y="4667250"/>
              <a:chExt cx="1188339" cy="342900"/>
            </a:xfrm>
          </p:grpSpPr>
          <p:sp>
            <p:nvSpPr>
              <p:cNvPr id="171" name="Ellipse 171"/>
              <p:cNvSpPr/>
              <p:nvPr/>
            </p:nvSpPr>
            <p:spPr>
              <a:xfrm>
                <a:off x="8439150" y="4667250"/>
                <a:ext cx="342900" cy="342900"/>
              </a:xfrm>
              <a:prstGeom prst="ellipse">
                <a:avLst/>
              </a:prstGeom>
              <a:solidFill>
                <a:srgbClr val="EFF5FD"/>
              </a:solidFill>
              <a:ln w="14288">
                <a:solidFill>
                  <a:srgbClr val="ECC1B8"/>
                </a:solidFill>
              </a:ln>
            </p:spPr>
          </p:sp>
          <p:grpSp>
            <p:nvGrpSpPr>
              <p:cNvPr id="174" name="Group 174"/>
              <p:cNvGrpSpPr/>
              <p:nvPr/>
            </p:nvGrpSpPr>
            <p:grpSpPr>
              <a:xfrm>
                <a:off x="8536950" y="4768627"/>
                <a:ext cx="143500" cy="143723"/>
                <a:chOff x="8536950" y="4768627"/>
                <a:chExt cx="143500" cy="143723"/>
              </a:xfrm>
            </p:grpSpPr>
            <p:sp>
              <p:nvSpPr>
                <p:cNvPr id="172" name="Freeform 172"/>
                <p:cNvSpPr/>
                <p:nvPr/>
              </p:nvSpPr>
              <p:spPr>
                <a:xfrm>
                  <a:off x="8536950" y="4768627"/>
                  <a:ext cx="143500" cy="143723"/>
                </a:xfrm>
                <a:custGeom>
                  <a:avLst/>
                  <a:gdLst/>
                  <a:ahLst/>
                  <a:cxnLst/>
                  <a:rect l="l" t="t" r="r" b="b"/>
                  <a:pathLst>
                    <a:path w="143500" h="143723">
                      <a:moveTo>
                        <a:pt x="57775" y="223"/>
                      </a:moveTo>
                      <a:cubicBezTo>
                        <a:pt x="23406" y="8190"/>
                        <a:pt x="0" y="40055"/>
                        <a:pt x="2676" y="75234"/>
                      </a:cubicBezTo>
                      <a:cubicBezTo>
                        <a:pt x="5353" y="110413"/>
                        <a:pt x="33310" y="138370"/>
                        <a:pt x="68489" y="141046"/>
                      </a:cubicBezTo>
                      <a:cubicBezTo>
                        <a:pt x="103668" y="143723"/>
                        <a:pt x="135532" y="120317"/>
                        <a:pt x="143500" y="85948"/>
                      </a:cubicBezTo>
                      <a:cubicBezTo>
                        <a:pt x="143500" y="81564"/>
                        <a:pt x="139946" y="78010"/>
                        <a:pt x="135562" y="78010"/>
                      </a:cubicBezTo>
                      <a:lnTo>
                        <a:pt x="81587" y="78010"/>
                      </a:lnTo>
                      <a:cubicBezTo>
                        <a:pt x="72820" y="78010"/>
                        <a:pt x="65712" y="70903"/>
                        <a:pt x="65712" y="62135"/>
                      </a:cubicBezTo>
                      <a:lnTo>
                        <a:pt x="65712" y="6573"/>
                      </a:lnTo>
                      <a:cubicBezTo>
                        <a:pt x="65513" y="4673"/>
                        <a:pt x="64562" y="2932"/>
                        <a:pt x="63070" y="1739"/>
                      </a:cubicBezTo>
                      <a:cubicBezTo>
                        <a:pt x="61579" y="546"/>
                        <a:pt x="59672" y="0"/>
                        <a:pt x="57775" y="223"/>
                      </a:cubicBezTo>
                    </a:path>
                  </a:pathLst>
                </a:custGeom>
                <a:noFill/>
                <a:ln w="15875">
                  <a:solidFill>
                    <a:srgbClr val="841600"/>
                  </a:solidFill>
                </a:ln>
              </p:spPr>
            </p:sp>
            <p:sp>
              <p:nvSpPr>
                <p:cNvPr id="173" name="Freeform 173"/>
                <p:cNvSpPr/>
                <p:nvPr/>
              </p:nvSpPr>
              <p:spPr>
                <a:xfrm>
                  <a:off x="8634412" y="4771231"/>
                  <a:ext cx="43656" cy="43656"/>
                </a:xfrm>
                <a:custGeom>
                  <a:avLst/>
                  <a:gdLst/>
                  <a:ahLst/>
                  <a:cxnLst/>
                  <a:rect l="l" t="t" r="r" b="b"/>
                  <a:pathLst>
                    <a:path w="43656" h="43656">
                      <a:moveTo>
                        <a:pt x="0" y="0"/>
                      </a:moveTo>
                      <a:cubicBezTo>
                        <a:pt x="20414" y="7188"/>
                        <a:pt x="36468" y="23243"/>
                        <a:pt x="43656" y="43656"/>
                      </a:cubicBezTo>
                      <a:lnTo>
                        <a:pt x="7937" y="43656"/>
                      </a:lnTo>
                      <a:cubicBezTo>
                        <a:pt x="3554" y="43656"/>
                        <a:pt x="0" y="40102"/>
                        <a:pt x="0" y="35719"/>
                      </a:cubicBezTo>
                      <a:lnTo>
                        <a:pt x="0" y="0"/>
                      </a:lnTo>
                    </a:path>
                  </a:pathLst>
                </a:custGeom>
                <a:noFill/>
                <a:ln w="15875">
                  <a:solidFill>
                    <a:srgbClr val="841600"/>
                  </a:solidFill>
                </a:ln>
              </p:spPr>
            </p:sp>
          </p:grpSp>
          <p:sp>
            <p:nvSpPr>
              <p:cNvPr id="175" name="TextBox 175"/>
              <p:cNvSpPr txBox="1"/>
              <p:nvPr/>
            </p:nvSpPr>
            <p:spPr>
              <a:xfrm>
                <a:off x="8910066" y="4772978"/>
                <a:ext cx="71742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集中度控制</a:t>
                </a:r>
              </a:p>
            </p:txBody>
          </p:sp>
        </p:grpSp>
      </p:grpSp>
      <p:grpSp>
        <p:nvGrpSpPr>
          <p:cNvPr id="211" name="efficiency-kpi"/>
          <p:cNvGrpSpPr/>
          <p:nvPr/>
        </p:nvGrpSpPr>
        <p:grpSpPr>
          <a:xfrm>
            <a:off x="266700" y="5257800"/>
            <a:ext cx="7867650" cy="1371600"/>
            <a:chOff x="266700" y="5257800"/>
            <a:chExt cx="7867650" cy="1371600"/>
          </a:xfrm>
        </p:grpSpPr>
        <p:sp>
          <p:nvSpPr>
            <p:cNvPr id="178" name="Rectangle 178"/>
            <p:cNvSpPr/>
            <p:nvPr/>
          </p:nvSpPr>
          <p:spPr>
            <a:xfrm>
              <a:off x="266700" y="5257800"/>
              <a:ext cx="7867650" cy="1371600"/>
            </a:xfrm>
            <a:prstGeom prst="roundRect">
              <a:avLst>
                <a:gd name="adj" fmla="val 6944"/>
              </a:avLst>
            </a:prstGeom>
            <a:solidFill>
              <a:srgbClr val="FFFFFF"/>
            </a:solidFill>
            <a:ln w="9525">
              <a:solidFill>
                <a:srgbClr val="D7E2F2"/>
              </a:solidFill>
            </a:ln>
          </p:spPr>
        </p:sp>
        <p:sp>
          <p:nvSpPr>
            <p:cNvPr id="179" name="Rectangle 179"/>
            <p:cNvSpPr/>
            <p:nvPr/>
          </p:nvSpPr>
          <p:spPr>
            <a:xfrm>
              <a:off x="266700" y="5257800"/>
              <a:ext cx="7867650" cy="361950"/>
            </a:xfrm>
            <a:prstGeom prst="roundRect">
              <a:avLst>
                <a:gd name="adj" fmla="val 26316"/>
              </a:avLst>
            </a:prstGeom>
            <a:solidFill>
              <a:srgbClr val="841600"/>
            </a:solidFill>
            <a:ln>
              <a:noFill/>
            </a:ln>
          </p:spPr>
        </p:sp>
        <p:sp>
          <p:nvSpPr>
            <p:cNvPr id="180" name="Rectangle 180"/>
            <p:cNvSpPr/>
            <p:nvPr/>
          </p:nvSpPr>
          <p:spPr>
            <a:xfrm>
              <a:off x="266700" y="5448300"/>
              <a:ext cx="7867650" cy="171450"/>
            </a:xfrm>
            <a:prstGeom prst="rect">
              <a:avLst/>
            </a:prstGeom>
            <a:solidFill>
              <a:srgbClr val="841600"/>
            </a:solidFill>
            <a:ln>
              <a:noFill/>
            </a:ln>
          </p:spPr>
        </p:sp>
        <p:sp>
          <p:nvSpPr>
            <p:cNvPr id="181" name="TextBox 181"/>
            <p:cNvSpPr txBox="1"/>
            <p:nvPr/>
          </p:nvSpPr>
          <p:spPr>
            <a:xfrm>
              <a:off x="3629025" y="5375910"/>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审批效率硬指标</a:t>
              </a:r>
            </a:p>
          </p:txBody>
        </p:sp>
        <p:sp>
          <p:nvSpPr>
            <p:cNvPr id="182" name="Line 182"/>
            <p:cNvSpPr/>
            <p:nvPr/>
          </p:nvSpPr>
          <p:spPr>
            <a:xfrm>
              <a:off x="2228850" y="5829300"/>
              <a:ext cx="9525" cy="609600"/>
            </a:xfrm>
            <a:custGeom>
              <a:avLst/>
              <a:gdLst/>
              <a:ahLst/>
              <a:cxnLst/>
              <a:rect l="l" t="t" r="r" b="b"/>
              <a:pathLst>
                <a:path w="9525" h="609600">
                  <a:moveTo>
                    <a:pt x="0" y="0"/>
                  </a:moveTo>
                  <a:lnTo>
                    <a:pt x="0" y="609600"/>
                  </a:lnTo>
                </a:path>
              </a:pathLst>
            </a:custGeom>
            <a:noFill/>
            <a:ln w="9525">
              <a:solidFill>
                <a:srgbClr val="D7E2F2"/>
              </a:solidFill>
            </a:ln>
          </p:spPr>
        </p:sp>
        <p:sp>
          <p:nvSpPr>
            <p:cNvPr id="183" name="Line 183"/>
            <p:cNvSpPr/>
            <p:nvPr/>
          </p:nvSpPr>
          <p:spPr>
            <a:xfrm>
              <a:off x="4191000" y="5829300"/>
              <a:ext cx="9525" cy="609600"/>
            </a:xfrm>
            <a:custGeom>
              <a:avLst/>
              <a:gdLst/>
              <a:ahLst/>
              <a:cxnLst/>
              <a:rect l="l" t="t" r="r" b="b"/>
              <a:pathLst>
                <a:path w="9525" h="609600">
                  <a:moveTo>
                    <a:pt x="0" y="0"/>
                  </a:moveTo>
                  <a:lnTo>
                    <a:pt x="0" y="609600"/>
                  </a:lnTo>
                </a:path>
              </a:pathLst>
            </a:custGeom>
            <a:noFill/>
            <a:ln w="9525">
              <a:solidFill>
                <a:srgbClr val="D7E2F2"/>
              </a:solidFill>
            </a:ln>
          </p:spPr>
        </p:sp>
        <p:sp>
          <p:nvSpPr>
            <p:cNvPr id="184" name="Line 184"/>
            <p:cNvSpPr/>
            <p:nvPr/>
          </p:nvSpPr>
          <p:spPr>
            <a:xfrm>
              <a:off x="6153150" y="5829300"/>
              <a:ext cx="9525" cy="609600"/>
            </a:xfrm>
            <a:custGeom>
              <a:avLst/>
              <a:gdLst/>
              <a:ahLst/>
              <a:cxnLst/>
              <a:rect l="l" t="t" r="r" b="b"/>
              <a:pathLst>
                <a:path w="9525" h="609600">
                  <a:moveTo>
                    <a:pt x="0" y="0"/>
                  </a:moveTo>
                  <a:lnTo>
                    <a:pt x="0" y="609600"/>
                  </a:lnTo>
                </a:path>
              </a:pathLst>
            </a:custGeom>
            <a:noFill/>
            <a:ln w="9525">
              <a:solidFill>
                <a:srgbClr val="D7E2F2"/>
              </a:solidFill>
            </a:ln>
          </p:spPr>
        </p:sp>
        <p:grpSp>
          <p:nvGrpSpPr>
            <p:cNvPr id="191" name="ek-1"/>
            <p:cNvGrpSpPr/>
            <p:nvPr/>
          </p:nvGrpSpPr>
          <p:grpSpPr>
            <a:xfrm>
              <a:off x="438150" y="5905500"/>
              <a:ext cx="1316937" cy="628079"/>
              <a:chOff x="438150" y="5905500"/>
              <a:chExt cx="1316937" cy="628079"/>
            </a:xfrm>
          </p:grpSpPr>
          <p:sp>
            <p:nvSpPr>
              <p:cNvPr id="185" name="Ellipse 185"/>
              <p:cNvSpPr/>
              <p:nvPr/>
            </p:nvSpPr>
            <p:spPr>
              <a:xfrm>
                <a:off x="438150" y="5905500"/>
                <a:ext cx="457200" cy="457200"/>
              </a:xfrm>
              <a:prstGeom prst="ellipse">
                <a:avLst/>
              </a:prstGeom>
              <a:solidFill>
                <a:srgbClr val="FFFFFF"/>
              </a:solidFill>
              <a:ln w="14288">
                <a:solidFill>
                  <a:srgbClr val="841600"/>
                </a:solidFill>
              </a:ln>
            </p:spPr>
          </p:sp>
          <p:grpSp>
            <p:nvGrpSpPr>
              <p:cNvPr id="188" name="Group 188"/>
              <p:cNvGrpSpPr/>
              <p:nvPr/>
            </p:nvGrpSpPr>
            <p:grpSpPr>
              <a:xfrm>
                <a:off x="573881" y="6041231"/>
                <a:ext cx="185737" cy="185737"/>
                <a:chOff x="573881" y="6041231"/>
                <a:chExt cx="185737" cy="185737"/>
              </a:xfrm>
            </p:grpSpPr>
            <p:sp>
              <p:nvSpPr>
                <p:cNvPr id="186" name="Freeform 186"/>
                <p:cNvSpPr/>
                <p:nvPr/>
              </p:nvSpPr>
              <p:spPr>
                <a:xfrm>
                  <a:off x="573881" y="6041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15478">
                  <a:solidFill>
                    <a:srgbClr val="841600"/>
                  </a:solidFill>
                </a:ln>
              </p:spPr>
            </p:sp>
            <p:sp>
              <p:nvSpPr>
                <p:cNvPr id="187" name="Freeform 187"/>
                <p:cNvSpPr/>
                <p:nvPr/>
              </p:nvSpPr>
              <p:spPr>
                <a:xfrm>
                  <a:off x="666750" y="6082506"/>
                  <a:ext cx="30956" cy="82550"/>
                </a:xfrm>
                <a:custGeom>
                  <a:avLst/>
                  <a:gdLst/>
                  <a:ahLst/>
                  <a:cxnLst/>
                  <a:rect l="l" t="t" r="r" b="b"/>
                  <a:pathLst>
                    <a:path w="30956" h="82550">
                      <a:moveTo>
                        <a:pt x="0" y="0"/>
                      </a:moveTo>
                      <a:lnTo>
                        <a:pt x="0" y="51594"/>
                      </a:lnTo>
                      <a:lnTo>
                        <a:pt x="30956" y="82550"/>
                      </a:lnTo>
                    </a:path>
                  </a:pathLst>
                </a:custGeom>
                <a:noFill/>
                <a:ln w="15478">
                  <a:solidFill>
                    <a:srgbClr val="841600"/>
                  </a:solidFill>
                </a:ln>
              </p:spPr>
            </p:sp>
          </p:grpSp>
          <p:sp>
            <p:nvSpPr>
              <p:cNvPr id="189" name="TextBox 189"/>
              <p:cNvSpPr txBox="1"/>
              <p:nvPr/>
            </p:nvSpPr>
            <p:spPr>
              <a:xfrm>
                <a:off x="1023938" y="5922645"/>
                <a:ext cx="494157"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平均审批</a:t>
                </a:r>
              </a:p>
            </p:txBody>
          </p:sp>
          <p:sp>
            <p:nvSpPr>
              <p:cNvPr id="190" name="TextBox 190"/>
              <p:cNvSpPr txBox="1"/>
              <p:nvPr/>
            </p:nvSpPr>
            <p:spPr>
              <a:xfrm>
                <a:off x="1018794" y="6152198"/>
                <a:ext cx="736293"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mn-lt"/>
                    <a:ea typeface="+mn-ea"/>
                    <a:cs typeface="+mn-cs"/>
                  </a:rPr>
                  <a:t>≤7</a:t>
                </a:r>
                <a:r>
                  <a:rPr lang="zh-CN" sz="1120" b="1" dirty="0">
                    <a:solidFill>
                      <a:srgbClr val="841600"/>
                    </a:solidFill>
                    <a:latin typeface="+mn-lt"/>
                    <a:ea typeface="+mn-ea"/>
                    <a:cs typeface="+mn-cs"/>
                  </a:rPr>
                  <a:t>天</a:t>
                </a:r>
                <a:r>
                  <a:rPr lang="zh-CN" sz="1950" b="1" dirty="0">
                    <a:solidFill>
                      <a:srgbClr val="841600"/>
                    </a:solidFill>
                    <a:latin typeface="+mn-lt"/>
                    <a:ea typeface="+mn-ea"/>
                    <a:cs typeface="+mn-cs"/>
                  </a:rPr>
                  <a:t xml:space="preserve">　</a:t>
                </a:r>
              </a:p>
            </p:txBody>
          </p:sp>
        </p:grpSp>
        <p:grpSp>
          <p:nvGrpSpPr>
            <p:cNvPr id="198" name="ek-2"/>
            <p:cNvGrpSpPr/>
            <p:nvPr/>
          </p:nvGrpSpPr>
          <p:grpSpPr>
            <a:xfrm>
              <a:off x="2400300" y="5905500"/>
              <a:ext cx="1436497" cy="628079"/>
              <a:chOff x="2400300" y="5905500"/>
              <a:chExt cx="1436497" cy="628079"/>
            </a:xfrm>
          </p:grpSpPr>
          <p:sp>
            <p:nvSpPr>
              <p:cNvPr id="192" name="Ellipse 192"/>
              <p:cNvSpPr/>
              <p:nvPr/>
            </p:nvSpPr>
            <p:spPr>
              <a:xfrm>
                <a:off x="2400300" y="5905500"/>
                <a:ext cx="457200" cy="457200"/>
              </a:xfrm>
              <a:prstGeom prst="ellipse">
                <a:avLst/>
              </a:prstGeom>
              <a:solidFill>
                <a:srgbClr val="FFFFFF"/>
              </a:solidFill>
              <a:ln w="14288">
                <a:solidFill>
                  <a:srgbClr val="841600"/>
                </a:solidFill>
              </a:ln>
            </p:spPr>
          </p:sp>
          <p:grpSp>
            <p:nvGrpSpPr>
              <p:cNvPr id="195" name="Group 195"/>
              <p:cNvGrpSpPr/>
              <p:nvPr/>
            </p:nvGrpSpPr>
            <p:grpSpPr>
              <a:xfrm>
                <a:off x="2536031" y="6041231"/>
                <a:ext cx="185737" cy="185737"/>
                <a:chOff x="2536031" y="6041231"/>
                <a:chExt cx="185737" cy="185737"/>
              </a:xfrm>
            </p:grpSpPr>
            <p:sp>
              <p:nvSpPr>
                <p:cNvPr id="193" name="Freeform 193"/>
                <p:cNvSpPr/>
                <p:nvPr/>
              </p:nvSpPr>
              <p:spPr>
                <a:xfrm>
                  <a:off x="2536031" y="6041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15478">
                  <a:solidFill>
                    <a:srgbClr val="841600"/>
                  </a:solidFill>
                </a:ln>
              </p:spPr>
            </p:sp>
            <p:sp>
              <p:nvSpPr>
                <p:cNvPr id="194" name="Freeform 194"/>
                <p:cNvSpPr/>
                <p:nvPr/>
              </p:nvSpPr>
              <p:spPr>
                <a:xfrm>
                  <a:off x="2597943" y="6113462"/>
                  <a:ext cx="61912" cy="41275"/>
                </a:xfrm>
                <a:custGeom>
                  <a:avLst/>
                  <a:gdLst/>
                  <a:ahLst/>
                  <a:cxnLst/>
                  <a:rect l="l" t="t" r="r" b="b"/>
                  <a:pathLst>
                    <a:path w="61912" h="41275">
                      <a:moveTo>
                        <a:pt x="0" y="20637"/>
                      </a:moveTo>
                      <a:lnTo>
                        <a:pt x="20637" y="41275"/>
                      </a:lnTo>
                      <a:lnTo>
                        <a:pt x="61912" y="0"/>
                      </a:lnTo>
                    </a:path>
                  </a:pathLst>
                </a:custGeom>
                <a:noFill/>
                <a:ln w="15478">
                  <a:solidFill>
                    <a:srgbClr val="841600"/>
                  </a:solidFill>
                </a:ln>
              </p:spPr>
            </p:sp>
          </p:grpSp>
          <p:sp>
            <p:nvSpPr>
              <p:cNvPr id="196" name="TextBox 196"/>
              <p:cNvSpPr txBox="1"/>
              <p:nvPr/>
            </p:nvSpPr>
            <p:spPr>
              <a:xfrm>
                <a:off x="2986088" y="5922645"/>
                <a:ext cx="615315"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一次通过率</a:t>
                </a:r>
              </a:p>
            </p:txBody>
          </p:sp>
          <p:sp>
            <p:nvSpPr>
              <p:cNvPr id="197" name="TextBox 197"/>
              <p:cNvSpPr txBox="1"/>
              <p:nvPr/>
            </p:nvSpPr>
            <p:spPr>
              <a:xfrm>
                <a:off x="2980944" y="6152198"/>
                <a:ext cx="855853"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mn-lt"/>
                    <a:ea typeface="+mn-ea"/>
                    <a:cs typeface="+mn-cs"/>
                  </a:rPr>
                  <a:t>≥75</a:t>
                </a:r>
                <a:r>
                  <a:rPr lang="zh-CN" sz="1120" b="1" dirty="0">
                    <a:solidFill>
                      <a:srgbClr val="841600"/>
                    </a:solidFill>
                    <a:latin typeface="+mn-lt"/>
                    <a:ea typeface="+mn-ea"/>
                    <a:cs typeface="+mn-cs"/>
                  </a:rPr>
                  <a:t>%</a:t>
                </a:r>
                <a:r>
                  <a:rPr lang="zh-CN" sz="1950" b="1" dirty="0">
                    <a:solidFill>
                      <a:srgbClr val="841600"/>
                    </a:solidFill>
                    <a:latin typeface="+mn-lt"/>
                    <a:ea typeface="+mn-ea"/>
                    <a:cs typeface="+mn-cs"/>
                  </a:rPr>
                  <a:t xml:space="preserve">　</a:t>
                </a:r>
              </a:p>
            </p:txBody>
          </p:sp>
        </p:grpSp>
        <p:grpSp>
          <p:nvGrpSpPr>
            <p:cNvPr id="205" name="ek-3"/>
            <p:cNvGrpSpPr/>
            <p:nvPr/>
          </p:nvGrpSpPr>
          <p:grpSpPr>
            <a:xfrm>
              <a:off x="4362450" y="5905500"/>
              <a:ext cx="1436497" cy="628079"/>
              <a:chOff x="4362450" y="5905500"/>
              <a:chExt cx="1436497" cy="628079"/>
            </a:xfrm>
          </p:grpSpPr>
          <p:sp>
            <p:nvSpPr>
              <p:cNvPr id="199" name="Ellipse 199"/>
              <p:cNvSpPr/>
              <p:nvPr/>
            </p:nvSpPr>
            <p:spPr>
              <a:xfrm>
                <a:off x="4362450" y="5905500"/>
                <a:ext cx="457200" cy="457200"/>
              </a:xfrm>
              <a:prstGeom prst="ellipse">
                <a:avLst/>
              </a:prstGeom>
              <a:solidFill>
                <a:srgbClr val="FFFFFF"/>
              </a:solidFill>
              <a:ln w="14288">
                <a:solidFill>
                  <a:srgbClr val="841600"/>
                </a:solidFill>
              </a:ln>
            </p:spPr>
          </p:sp>
          <p:grpSp>
            <p:nvGrpSpPr>
              <p:cNvPr id="202" name="Group 202"/>
              <p:cNvGrpSpPr/>
              <p:nvPr/>
            </p:nvGrpSpPr>
            <p:grpSpPr>
              <a:xfrm>
                <a:off x="4508500" y="6047569"/>
                <a:ext cx="165099" cy="173061"/>
                <a:chOff x="4508500" y="6047569"/>
                <a:chExt cx="165099" cy="173061"/>
              </a:xfrm>
            </p:grpSpPr>
            <p:sp>
              <p:nvSpPr>
                <p:cNvPr id="200" name="Freeform 200"/>
                <p:cNvSpPr/>
                <p:nvPr/>
              </p:nvSpPr>
              <p:spPr>
                <a:xfrm>
                  <a:off x="4508500" y="6047569"/>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15478">
                  <a:solidFill>
                    <a:srgbClr val="841600"/>
                  </a:solidFill>
                </a:ln>
              </p:spPr>
            </p:sp>
            <p:sp>
              <p:nvSpPr>
                <p:cNvPr id="201" name="Freeform 201"/>
                <p:cNvSpPr/>
                <p:nvPr/>
              </p:nvSpPr>
              <p:spPr>
                <a:xfrm>
                  <a:off x="4508500" y="6144418"/>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15478">
                  <a:solidFill>
                    <a:srgbClr val="841600"/>
                  </a:solidFill>
                </a:ln>
              </p:spPr>
            </p:sp>
          </p:grpSp>
          <p:sp>
            <p:nvSpPr>
              <p:cNvPr id="203" name="TextBox 203"/>
              <p:cNvSpPr txBox="1"/>
              <p:nvPr/>
            </p:nvSpPr>
            <p:spPr>
              <a:xfrm>
                <a:off x="4948238" y="5922645"/>
                <a:ext cx="372999"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退回率</a:t>
                </a:r>
              </a:p>
            </p:txBody>
          </p:sp>
          <p:sp>
            <p:nvSpPr>
              <p:cNvPr id="204" name="TextBox 204"/>
              <p:cNvSpPr txBox="1"/>
              <p:nvPr/>
            </p:nvSpPr>
            <p:spPr>
              <a:xfrm>
                <a:off x="4943094" y="6152198"/>
                <a:ext cx="855853"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mn-lt"/>
                    <a:ea typeface="+mn-ea"/>
                    <a:cs typeface="+mn-cs"/>
                  </a:rPr>
                  <a:t>≤12</a:t>
                </a:r>
                <a:r>
                  <a:rPr lang="zh-CN" sz="1120" b="1" dirty="0">
                    <a:solidFill>
                      <a:srgbClr val="841600"/>
                    </a:solidFill>
                    <a:latin typeface="+mn-lt"/>
                    <a:ea typeface="+mn-ea"/>
                    <a:cs typeface="+mn-cs"/>
                  </a:rPr>
                  <a:t>%</a:t>
                </a:r>
                <a:r>
                  <a:rPr lang="zh-CN" sz="1950" b="1" dirty="0">
                    <a:solidFill>
                      <a:srgbClr val="841600"/>
                    </a:solidFill>
                    <a:latin typeface="+mn-lt"/>
                    <a:ea typeface="+mn-ea"/>
                    <a:cs typeface="+mn-cs"/>
                  </a:rPr>
                  <a:t xml:space="preserve">　</a:t>
                </a:r>
              </a:p>
            </p:txBody>
          </p:sp>
        </p:grpSp>
        <p:grpSp>
          <p:nvGrpSpPr>
            <p:cNvPr id="210" name="ek-4"/>
            <p:cNvGrpSpPr/>
            <p:nvPr/>
          </p:nvGrpSpPr>
          <p:grpSpPr>
            <a:xfrm>
              <a:off x="6324600" y="5905500"/>
              <a:ext cx="1436497" cy="628079"/>
              <a:chOff x="6324600" y="5905500"/>
              <a:chExt cx="1436497" cy="628079"/>
            </a:xfrm>
          </p:grpSpPr>
          <p:sp>
            <p:nvSpPr>
              <p:cNvPr id="206" name="Ellipse 206"/>
              <p:cNvSpPr/>
              <p:nvPr/>
            </p:nvSpPr>
            <p:spPr>
              <a:xfrm>
                <a:off x="6324600" y="5905500"/>
                <a:ext cx="457200" cy="457200"/>
              </a:xfrm>
              <a:prstGeom prst="ellipse">
                <a:avLst/>
              </a:prstGeom>
              <a:solidFill>
                <a:srgbClr val="FFFFFF"/>
              </a:solidFill>
              <a:ln w="14288">
                <a:solidFill>
                  <a:srgbClr val="9E331E"/>
                </a:solidFill>
              </a:ln>
            </p:spPr>
          </p:sp>
          <p:sp>
            <p:nvSpPr>
              <p:cNvPr id="207" name="Freeform 207"/>
              <p:cNvSpPr/>
              <p:nvPr/>
            </p:nvSpPr>
            <p:spPr>
              <a:xfrm>
                <a:off x="6450085" y="6030933"/>
                <a:ext cx="206085" cy="195983"/>
              </a:xfrm>
              <a:custGeom>
                <a:avLst/>
                <a:gdLst/>
                <a:ahLst/>
                <a:cxnLst/>
                <a:rect l="l" t="t" r="r" b="b"/>
                <a:pathLst>
                  <a:path w="206085" h="195983">
                    <a:moveTo>
                      <a:pt x="103115" y="162499"/>
                    </a:moveTo>
                    <a:lnTo>
                      <a:pt x="39428" y="195983"/>
                    </a:lnTo>
                    <a:lnTo>
                      <a:pt x="51594" y="125063"/>
                    </a:lnTo>
                    <a:lnTo>
                      <a:pt x="0" y="74842"/>
                    </a:lnTo>
                    <a:lnTo>
                      <a:pt x="71199" y="64523"/>
                    </a:lnTo>
                    <a:lnTo>
                      <a:pt x="103043" y="0"/>
                    </a:lnTo>
                    <a:lnTo>
                      <a:pt x="134886" y="64523"/>
                    </a:lnTo>
                    <a:lnTo>
                      <a:pt x="206085" y="74842"/>
                    </a:lnTo>
                    <a:lnTo>
                      <a:pt x="154492" y="125063"/>
                    </a:lnTo>
                    <a:lnTo>
                      <a:pt x="166658" y="195983"/>
                    </a:lnTo>
                    <a:lnTo>
                      <a:pt x="103115" y="162499"/>
                    </a:lnTo>
                  </a:path>
                </a:pathLst>
              </a:custGeom>
              <a:noFill/>
              <a:ln w="15478">
                <a:solidFill>
                  <a:srgbClr val="9E331E"/>
                </a:solidFill>
              </a:ln>
            </p:spPr>
          </p:sp>
          <p:sp>
            <p:nvSpPr>
              <p:cNvPr id="208" name="TextBox 208"/>
              <p:cNvSpPr txBox="1"/>
              <p:nvPr/>
            </p:nvSpPr>
            <p:spPr>
              <a:xfrm>
                <a:off x="6910388" y="5922645"/>
                <a:ext cx="736473"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绿色通道覆盖</a:t>
                </a:r>
              </a:p>
            </p:txBody>
          </p:sp>
          <p:sp>
            <p:nvSpPr>
              <p:cNvPr id="209" name="TextBox 209"/>
              <p:cNvSpPr txBox="1"/>
              <p:nvPr/>
            </p:nvSpPr>
            <p:spPr>
              <a:xfrm>
                <a:off x="6905244" y="6152198"/>
                <a:ext cx="855853" cy="381381"/>
              </a:xfrm>
              <a:prstGeom prst="rect">
                <a:avLst/>
              </a:prstGeom>
              <a:noFill/>
              <a:ln>
                <a:noFill/>
              </a:ln>
            </p:spPr>
            <p:txBody>
              <a:bodyPr wrap="none" lIns="0" tIns="0" rIns="0" bIns="0" anchor="t" anchorCtr="0">
                <a:spAutoFit/>
              </a:bodyPr>
              <a:lstStyle/>
              <a:p>
                <a:pPr algn="l"/>
                <a:r>
                  <a:rPr lang="zh-CN" sz="1950" b="1" dirty="0">
                    <a:solidFill>
                      <a:srgbClr val="9E331E"/>
                    </a:solidFill>
                    <a:latin typeface="+mn-lt"/>
                    <a:ea typeface="+mn-ea"/>
                    <a:cs typeface="+mn-cs"/>
                  </a:rPr>
                  <a:t>100</a:t>
                </a:r>
                <a:r>
                  <a:rPr lang="zh-CN" sz="1120" b="1" dirty="0">
                    <a:solidFill>
                      <a:srgbClr val="9E331E"/>
                    </a:solidFill>
                    <a:latin typeface="+mn-lt"/>
                    <a:ea typeface="+mn-ea"/>
                    <a:cs typeface="+mn-cs"/>
                  </a:rPr>
                  <a:t>%</a:t>
                </a:r>
                <a:r>
                  <a:rPr lang="zh-CN" sz="1950" b="1" dirty="0">
                    <a:solidFill>
                      <a:srgbClr val="9E331E"/>
                    </a:solidFill>
                    <a:latin typeface="+mn-lt"/>
                    <a:ea typeface="+mn-ea"/>
                    <a:cs typeface="+mn-cs"/>
                  </a:rPr>
                  <a:t xml:space="preserve">　</a:t>
                </a:r>
              </a:p>
            </p:txBody>
          </p:sp>
        </p:grpSp>
      </p:grpSp>
      <p:grpSp>
        <p:nvGrpSpPr>
          <p:cNvPr id="222" name="return-reasons"/>
          <p:cNvGrpSpPr/>
          <p:nvPr/>
        </p:nvGrpSpPr>
        <p:grpSpPr>
          <a:xfrm>
            <a:off x="8248650" y="5257800"/>
            <a:ext cx="3676650" cy="1371600"/>
            <a:chOff x="8248650" y="5257800"/>
            <a:chExt cx="3676650" cy="1371600"/>
          </a:xfrm>
        </p:grpSpPr>
        <p:sp>
          <p:nvSpPr>
            <p:cNvPr id="212" name="Rectangle 212"/>
            <p:cNvSpPr/>
            <p:nvPr/>
          </p:nvSpPr>
          <p:spPr>
            <a:xfrm>
              <a:off x="8248650" y="5257800"/>
              <a:ext cx="3676650" cy="1371600"/>
            </a:xfrm>
            <a:prstGeom prst="roundRect">
              <a:avLst>
                <a:gd name="adj" fmla="val 6944"/>
              </a:avLst>
            </a:prstGeom>
            <a:solidFill>
              <a:srgbClr val="FFFFFF"/>
            </a:solidFill>
            <a:ln w="9525">
              <a:solidFill>
                <a:srgbClr val="D7E2F2"/>
              </a:solidFill>
            </a:ln>
          </p:spPr>
        </p:sp>
        <p:sp>
          <p:nvSpPr>
            <p:cNvPr id="213" name="Rectangle 213"/>
            <p:cNvSpPr/>
            <p:nvPr/>
          </p:nvSpPr>
          <p:spPr>
            <a:xfrm>
              <a:off x="8248650" y="5257800"/>
              <a:ext cx="3676650" cy="361950"/>
            </a:xfrm>
            <a:prstGeom prst="roundRect">
              <a:avLst>
                <a:gd name="adj" fmla="val 26316"/>
              </a:avLst>
            </a:prstGeom>
            <a:solidFill>
              <a:srgbClr val="841600"/>
            </a:solidFill>
            <a:ln>
              <a:noFill/>
            </a:ln>
          </p:spPr>
        </p:sp>
        <p:sp>
          <p:nvSpPr>
            <p:cNvPr id="214" name="Rectangle 214"/>
            <p:cNvSpPr/>
            <p:nvPr/>
          </p:nvSpPr>
          <p:spPr>
            <a:xfrm>
              <a:off x="8248650" y="5448300"/>
              <a:ext cx="3676650" cy="171450"/>
            </a:xfrm>
            <a:prstGeom prst="rect">
              <a:avLst/>
            </a:prstGeom>
            <a:solidFill>
              <a:srgbClr val="841600"/>
            </a:solidFill>
            <a:ln>
              <a:noFill/>
            </a:ln>
          </p:spPr>
        </p:sp>
        <p:sp>
          <p:nvSpPr>
            <p:cNvPr id="215" name="TextBox 215"/>
            <p:cNvSpPr txBox="1"/>
            <p:nvPr/>
          </p:nvSpPr>
          <p:spPr>
            <a:xfrm>
              <a:off x="9596247" y="5375910"/>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主要退回原因</a:t>
              </a:r>
            </a:p>
          </p:txBody>
        </p:sp>
        <p:sp>
          <p:nvSpPr>
            <p:cNvPr id="216" name="Ellipse 216"/>
            <p:cNvSpPr/>
            <p:nvPr/>
          </p:nvSpPr>
          <p:spPr>
            <a:xfrm>
              <a:off x="8448675" y="6105525"/>
              <a:ext cx="95250" cy="95250"/>
            </a:xfrm>
            <a:prstGeom prst="ellipse">
              <a:avLst/>
            </a:prstGeom>
            <a:solidFill>
              <a:srgbClr val="ED4D31"/>
            </a:solidFill>
            <a:ln>
              <a:noFill/>
            </a:ln>
          </p:spPr>
        </p:sp>
        <p:sp>
          <p:nvSpPr>
            <p:cNvPr id="217" name="TextBox 217"/>
            <p:cNvSpPr txBox="1"/>
            <p:nvPr/>
          </p:nvSpPr>
          <p:spPr>
            <a:xfrm>
              <a:off x="8605456" y="6091476"/>
              <a:ext cx="554152" cy="198025"/>
            </a:xfrm>
            <a:prstGeom prst="rect">
              <a:avLst/>
            </a:prstGeom>
            <a:noFill/>
            <a:ln>
              <a:noFill/>
            </a:ln>
          </p:spPr>
          <p:txBody>
            <a:bodyPr wrap="none" lIns="0" tIns="0" rIns="0" bIns="0" anchor="t" anchorCtr="0">
              <a:spAutoFit/>
            </a:bodyPr>
            <a:lstStyle/>
            <a:p>
              <a:pPr algn="l"/>
              <a:r>
                <a:rPr lang="zh-CN" sz="1010" dirty="0">
                  <a:solidFill>
                    <a:srgbClr val="1A1A1A"/>
                  </a:solidFill>
                  <a:latin typeface="+mn-lt"/>
                  <a:ea typeface="+mn-ea"/>
                  <a:cs typeface="+mn-cs"/>
                </a:rPr>
                <a:t>资料不全</a:t>
              </a:r>
            </a:p>
          </p:txBody>
        </p:sp>
        <p:sp>
          <p:nvSpPr>
            <p:cNvPr id="218" name="Ellipse 218"/>
            <p:cNvSpPr/>
            <p:nvPr/>
          </p:nvSpPr>
          <p:spPr>
            <a:xfrm>
              <a:off x="9648825" y="6105525"/>
              <a:ext cx="95250" cy="95250"/>
            </a:xfrm>
            <a:prstGeom prst="ellipse">
              <a:avLst/>
            </a:prstGeom>
            <a:solidFill>
              <a:srgbClr val="ED4D31"/>
            </a:solidFill>
            <a:ln>
              <a:noFill/>
            </a:ln>
          </p:spPr>
        </p:sp>
        <p:sp>
          <p:nvSpPr>
            <p:cNvPr id="219" name="TextBox 219"/>
            <p:cNvSpPr txBox="1"/>
            <p:nvPr/>
          </p:nvSpPr>
          <p:spPr>
            <a:xfrm>
              <a:off x="9805606" y="6091476"/>
              <a:ext cx="554152" cy="198025"/>
            </a:xfrm>
            <a:prstGeom prst="rect">
              <a:avLst/>
            </a:prstGeom>
            <a:noFill/>
            <a:ln>
              <a:noFill/>
            </a:ln>
          </p:spPr>
          <p:txBody>
            <a:bodyPr wrap="none" lIns="0" tIns="0" rIns="0" bIns="0" anchor="t" anchorCtr="0">
              <a:spAutoFit/>
            </a:bodyPr>
            <a:lstStyle/>
            <a:p>
              <a:pPr algn="l"/>
              <a:r>
                <a:rPr lang="zh-CN" sz="1010" dirty="0">
                  <a:solidFill>
                    <a:srgbClr val="1A1A1A"/>
                  </a:solidFill>
                  <a:latin typeface="+mn-lt"/>
                  <a:ea typeface="+mn-ea"/>
                  <a:cs typeface="+mn-cs"/>
                </a:rPr>
                <a:t>方案不清</a:t>
              </a:r>
            </a:p>
          </p:txBody>
        </p:sp>
        <p:sp>
          <p:nvSpPr>
            <p:cNvPr id="220" name="Ellipse 220"/>
            <p:cNvSpPr/>
            <p:nvPr/>
          </p:nvSpPr>
          <p:spPr>
            <a:xfrm>
              <a:off x="10848975" y="6105525"/>
              <a:ext cx="95250" cy="95250"/>
            </a:xfrm>
            <a:prstGeom prst="ellipse">
              <a:avLst/>
            </a:prstGeom>
            <a:solidFill>
              <a:srgbClr val="ED4D31"/>
            </a:solidFill>
            <a:ln>
              <a:noFill/>
            </a:ln>
          </p:spPr>
        </p:sp>
        <p:sp>
          <p:nvSpPr>
            <p:cNvPr id="221" name="TextBox 221"/>
            <p:cNvSpPr txBox="1"/>
            <p:nvPr/>
          </p:nvSpPr>
          <p:spPr>
            <a:xfrm>
              <a:off x="11005756" y="6091476"/>
              <a:ext cx="554152" cy="198025"/>
            </a:xfrm>
            <a:prstGeom prst="rect">
              <a:avLst/>
            </a:prstGeom>
            <a:noFill/>
            <a:ln>
              <a:noFill/>
            </a:ln>
          </p:spPr>
          <p:txBody>
            <a:bodyPr wrap="none" lIns="0" tIns="0" rIns="0" bIns="0" anchor="t" anchorCtr="0">
              <a:spAutoFit/>
            </a:bodyPr>
            <a:lstStyle/>
            <a:p>
              <a:pPr algn="l"/>
              <a:r>
                <a:rPr lang="zh-CN" sz="1010" dirty="0">
                  <a:solidFill>
                    <a:srgbClr val="1A1A1A"/>
                  </a:solidFill>
                  <a:latin typeface="+mn-lt"/>
                  <a:ea typeface="+mn-ea"/>
                  <a:cs typeface="+mn-cs"/>
                </a:rPr>
                <a:t>条件缺失</a:t>
              </a:r>
            </a:p>
          </p:txBody>
        </p:sp>
      </p:gr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13</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风险管理与资产保全部</a:t>
              </a:r>
              <a:r>
                <a:rPr lang="zh-CN" sz="1950" b="1" dirty="0">
                  <a:solidFill>
                    <a:srgbClr val="1A1A1A"/>
                  </a:solidFill>
                  <a:latin typeface="SimSun"/>
                  <a:ea typeface="SimSun"/>
                  <a:cs typeface="SimSun"/>
                </a:rPr>
                <a:t>｜守住资产质量底线，推进存量风险出清</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8" name="page-subtitle"/>
          <p:cNvGrpSpPr/>
          <p:nvPr/>
        </p:nvGrpSpPr>
        <p:grpSpPr>
          <a:xfrm>
            <a:off x="947738" y="664845"/>
            <a:ext cx="2190369" cy="176212"/>
            <a:chOff x="947738" y="664845"/>
            <a:chExt cx="2190369" cy="176212"/>
          </a:xfrm>
        </p:grpSpPr>
        <p:sp>
          <p:nvSpPr>
            <p:cNvPr id="7" name="TextBox 7"/>
            <p:cNvSpPr txBox="1"/>
            <p:nvPr/>
          </p:nvSpPr>
          <p:spPr>
            <a:xfrm>
              <a:off x="947738" y="664845"/>
              <a:ext cx="2190369"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新增风险前移管控，存量风险多路径出清</a:t>
              </a:r>
            </a:p>
          </p:txBody>
        </p:sp>
      </p:grpSp>
      <p:grpSp>
        <p:nvGrpSpPr>
          <p:cNvPr id="45" name="asset-migration"/>
          <p:cNvGrpSpPr/>
          <p:nvPr/>
        </p:nvGrpSpPr>
        <p:grpSpPr>
          <a:xfrm>
            <a:off x="266700" y="876300"/>
            <a:ext cx="3733800" cy="4171950"/>
            <a:chOff x="266700" y="876300"/>
            <a:chExt cx="3733800" cy="4171950"/>
          </a:xfrm>
        </p:grpSpPr>
        <p:sp>
          <p:nvSpPr>
            <p:cNvPr id="9" name="Rectangle 9"/>
            <p:cNvSpPr/>
            <p:nvPr/>
          </p:nvSpPr>
          <p:spPr>
            <a:xfrm>
              <a:off x="266700" y="876300"/>
              <a:ext cx="3733800" cy="4171950"/>
            </a:xfrm>
            <a:prstGeom prst="roundRect">
              <a:avLst>
                <a:gd name="adj" fmla="val 2551"/>
              </a:avLst>
            </a:prstGeom>
            <a:solidFill>
              <a:srgbClr val="FFFFFF"/>
            </a:solidFill>
            <a:ln w="9525">
              <a:solidFill>
                <a:srgbClr val="D7E2F2"/>
              </a:solidFill>
            </a:ln>
          </p:spPr>
        </p:sp>
        <p:sp>
          <p:nvSpPr>
            <p:cNvPr id="10" name="Rectangle 10"/>
            <p:cNvSpPr/>
            <p:nvPr/>
          </p:nvSpPr>
          <p:spPr>
            <a:xfrm>
              <a:off x="266700" y="876300"/>
              <a:ext cx="3733800" cy="381000"/>
            </a:xfrm>
            <a:prstGeom prst="roundRect">
              <a:avLst>
                <a:gd name="adj" fmla="val 25000"/>
              </a:avLst>
            </a:prstGeom>
            <a:solidFill>
              <a:srgbClr val="841600"/>
            </a:solidFill>
            <a:ln>
              <a:noFill/>
            </a:ln>
          </p:spPr>
        </p:sp>
        <p:sp>
          <p:nvSpPr>
            <p:cNvPr id="11" name="Rectangle 11"/>
            <p:cNvSpPr/>
            <p:nvPr/>
          </p:nvSpPr>
          <p:spPr>
            <a:xfrm>
              <a:off x="266700" y="1085850"/>
              <a:ext cx="3733800" cy="171450"/>
            </a:xfrm>
            <a:prstGeom prst="rect">
              <a:avLst/>
            </a:prstGeom>
            <a:solidFill>
              <a:srgbClr val="841600"/>
            </a:solidFill>
            <a:ln>
              <a:noFill/>
            </a:ln>
          </p:spPr>
        </p:sp>
        <p:sp>
          <p:nvSpPr>
            <p:cNvPr id="12" name="TextBox 12"/>
            <p:cNvSpPr txBox="1"/>
            <p:nvPr/>
          </p:nvSpPr>
          <p:spPr>
            <a:xfrm>
              <a:off x="1481328" y="1003935"/>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四层资产迁徙管理</a:t>
              </a:r>
            </a:p>
          </p:txBody>
        </p:sp>
        <p:sp>
          <p:nvSpPr>
            <p:cNvPr id="13" name="Freeform 13"/>
            <p:cNvSpPr/>
            <p:nvPr/>
          </p:nvSpPr>
          <p:spPr>
            <a:xfrm rot="10800000">
              <a:off x="704850" y="1409700"/>
              <a:ext cx="2857500" cy="533400"/>
            </a:xfrm>
            <a:prstGeom prst="trapezoid">
              <a:avLst>
                <a:gd name="adj" fmla="val 33929"/>
              </a:avLst>
            </a:prstGeom>
            <a:solidFill>
              <a:srgbClr val="DCE6F8"/>
            </a:solidFill>
            <a:ln w="9525">
              <a:solidFill>
                <a:srgbClr val="E3907F"/>
              </a:solidFill>
            </a:ln>
          </p:spPr>
        </p:sp>
        <p:sp>
          <p:nvSpPr>
            <p:cNvPr id="14" name="Freeform 14"/>
            <p:cNvSpPr/>
            <p:nvPr/>
          </p:nvSpPr>
          <p:spPr>
            <a:xfrm rot="10800000">
              <a:off x="885825" y="2076450"/>
              <a:ext cx="2495550" cy="533400"/>
            </a:xfrm>
            <a:prstGeom prst="trapezoid">
              <a:avLst>
                <a:gd name="adj" fmla="val 33929"/>
              </a:avLst>
            </a:prstGeom>
            <a:solidFill>
              <a:srgbClr val="EAF1FB"/>
            </a:solidFill>
            <a:ln w="9525">
              <a:solidFill>
                <a:srgbClr val="E3907F"/>
              </a:solidFill>
            </a:ln>
          </p:spPr>
        </p:sp>
        <p:sp>
          <p:nvSpPr>
            <p:cNvPr id="15" name="Freeform 15"/>
            <p:cNvSpPr/>
            <p:nvPr/>
          </p:nvSpPr>
          <p:spPr>
            <a:xfrm rot="10800000">
              <a:off x="1066800" y="2743200"/>
              <a:ext cx="2133600" cy="533400"/>
            </a:xfrm>
            <a:prstGeom prst="trapezoid">
              <a:avLst>
                <a:gd name="adj" fmla="val 33929"/>
              </a:avLst>
            </a:prstGeom>
            <a:solidFill>
              <a:srgbClr val="FDEBD7"/>
            </a:solidFill>
            <a:ln w="9525">
              <a:solidFill>
                <a:srgbClr val="F5907F"/>
              </a:solidFill>
            </a:ln>
          </p:spPr>
        </p:sp>
        <p:sp>
          <p:nvSpPr>
            <p:cNvPr id="16" name="Freeform 16"/>
            <p:cNvSpPr/>
            <p:nvPr/>
          </p:nvSpPr>
          <p:spPr>
            <a:xfrm rot="10800000">
              <a:off x="1247775" y="3409950"/>
              <a:ext cx="1771650" cy="533400"/>
            </a:xfrm>
            <a:prstGeom prst="trapezoid">
              <a:avLst>
                <a:gd name="adj" fmla="val 33929"/>
              </a:avLst>
            </a:prstGeom>
            <a:solidFill>
              <a:srgbClr val="FBDAD5"/>
            </a:solidFill>
            <a:ln w="9525">
              <a:solidFill>
                <a:srgbClr val="EE816E"/>
              </a:solidFill>
            </a:ln>
          </p:spPr>
        </p:sp>
        <p:sp>
          <p:nvSpPr>
            <p:cNvPr id="17" name="Ellipse 17"/>
            <p:cNvSpPr/>
            <p:nvPr/>
          </p:nvSpPr>
          <p:spPr>
            <a:xfrm>
              <a:off x="1257300" y="1504950"/>
              <a:ext cx="342900" cy="342900"/>
            </a:xfrm>
            <a:prstGeom prst="ellipse">
              <a:avLst/>
            </a:prstGeom>
            <a:solidFill>
              <a:srgbClr val="FFFFFF"/>
            </a:solidFill>
            <a:ln w="14288">
              <a:solidFill>
                <a:srgbClr val="E3907F"/>
              </a:solidFill>
            </a:ln>
          </p:spPr>
        </p:sp>
        <p:grpSp>
          <p:nvGrpSpPr>
            <p:cNvPr id="22" name="Group 22"/>
            <p:cNvGrpSpPr/>
            <p:nvPr/>
          </p:nvGrpSpPr>
          <p:grpSpPr>
            <a:xfrm>
              <a:off x="1357312" y="1612900"/>
              <a:ext cx="142875" cy="136525"/>
              <a:chOff x="1357312" y="1612900"/>
              <a:chExt cx="142875" cy="136525"/>
            </a:xfrm>
          </p:grpSpPr>
          <p:sp>
            <p:nvSpPr>
              <p:cNvPr id="18" name="Freeform 18"/>
              <p:cNvSpPr/>
              <p:nvPr/>
            </p:nvSpPr>
            <p:spPr>
              <a:xfrm>
                <a:off x="1357312" y="16764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841600"/>
                </a:solidFill>
              </a:ln>
            </p:spPr>
          </p:sp>
          <p:sp>
            <p:nvSpPr>
              <p:cNvPr id="19" name="Freeform 19"/>
              <p:cNvSpPr/>
              <p:nvPr/>
            </p:nvSpPr>
            <p:spPr>
              <a:xfrm>
                <a:off x="1452562" y="16446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841600"/>
                </a:solidFill>
              </a:ln>
            </p:spPr>
          </p:sp>
          <p:sp>
            <p:nvSpPr>
              <p:cNvPr id="20" name="Freeform 20"/>
              <p:cNvSpPr/>
              <p:nvPr/>
            </p:nvSpPr>
            <p:spPr>
              <a:xfrm>
                <a:off x="1404937" y="16129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841600"/>
                </a:solidFill>
              </a:ln>
            </p:spPr>
          </p:sp>
          <p:sp>
            <p:nvSpPr>
              <p:cNvPr id="21" name="Freeform 21"/>
              <p:cNvSpPr/>
              <p:nvPr/>
            </p:nvSpPr>
            <p:spPr>
              <a:xfrm>
                <a:off x="1365250" y="1739900"/>
                <a:ext cx="111125" cy="9525"/>
              </a:xfrm>
              <a:custGeom>
                <a:avLst/>
                <a:gdLst/>
                <a:ahLst/>
                <a:cxnLst/>
                <a:rect l="l" t="t" r="r" b="b"/>
                <a:pathLst>
                  <a:path w="111125" h="9525">
                    <a:moveTo>
                      <a:pt x="0" y="0"/>
                    </a:moveTo>
                    <a:lnTo>
                      <a:pt x="111125" y="0"/>
                    </a:lnTo>
                  </a:path>
                </a:pathLst>
              </a:custGeom>
              <a:noFill/>
              <a:ln w="15875">
                <a:solidFill>
                  <a:srgbClr val="841600"/>
                </a:solidFill>
              </a:ln>
            </p:spPr>
          </p:sp>
        </p:grpSp>
        <p:sp>
          <p:nvSpPr>
            <p:cNvPr id="23" name="TextBox 23"/>
            <p:cNvSpPr txBox="1"/>
            <p:nvPr/>
          </p:nvSpPr>
          <p:spPr>
            <a:xfrm>
              <a:off x="1803654" y="1604010"/>
              <a:ext cx="335280" cy="234696"/>
            </a:xfrm>
            <a:prstGeom prst="rect">
              <a:avLst/>
            </a:prstGeom>
            <a:noFill/>
            <a:ln>
              <a:noFill/>
            </a:ln>
          </p:spPr>
          <p:txBody>
            <a:bodyPr wrap="none" lIns="0" tIns="0" rIns="0" bIns="0" anchor="t" anchorCtr="0">
              <a:spAutoFit/>
            </a:bodyPr>
            <a:lstStyle/>
            <a:p>
              <a:pPr algn="l"/>
              <a:r>
                <a:rPr lang="zh-CN" sz="1200" b="1" dirty="0">
                  <a:solidFill>
                    <a:srgbClr val="841600"/>
                  </a:solidFill>
                  <a:latin typeface="+mn-lt"/>
                  <a:ea typeface="+mn-ea"/>
                  <a:cs typeface="+mn-cs"/>
                </a:rPr>
                <a:t>正常</a:t>
              </a:r>
            </a:p>
          </p:txBody>
        </p:sp>
        <p:sp>
          <p:nvSpPr>
            <p:cNvPr id="24" name="Polygon 24"/>
            <p:cNvSpPr/>
            <p:nvPr/>
          </p:nvSpPr>
          <p:spPr>
            <a:xfrm>
              <a:off x="2057400" y="1981200"/>
              <a:ext cx="152400" cy="76200"/>
            </a:xfrm>
            <a:custGeom>
              <a:avLst/>
              <a:gdLst/>
              <a:ahLst/>
              <a:cxnLst/>
              <a:rect l="l" t="t" r="r" b="b"/>
              <a:pathLst>
                <a:path w="152400" h="76200">
                  <a:moveTo>
                    <a:pt x="0" y="0"/>
                  </a:moveTo>
                  <a:lnTo>
                    <a:pt x="152400" y="0"/>
                  </a:lnTo>
                  <a:lnTo>
                    <a:pt x="76200" y="76200"/>
                  </a:lnTo>
                  <a:close/>
                </a:path>
              </a:pathLst>
            </a:custGeom>
            <a:solidFill>
              <a:srgbClr val="C9482E"/>
            </a:solidFill>
            <a:ln>
              <a:noFill/>
            </a:ln>
          </p:spPr>
        </p:sp>
        <p:sp>
          <p:nvSpPr>
            <p:cNvPr id="25" name="Ellipse 25"/>
            <p:cNvSpPr/>
            <p:nvPr/>
          </p:nvSpPr>
          <p:spPr>
            <a:xfrm>
              <a:off x="1352550" y="2171700"/>
              <a:ext cx="342900" cy="342900"/>
            </a:xfrm>
            <a:prstGeom prst="ellipse">
              <a:avLst/>
            </a:prstGeom>
            <a:solidFill>
              <a:srgbClr val="FFFFFF"/>
            </a:solidFill>
            <a:ln w="14288">
              <a:solidFill>
                <a:srgbClr val="E3907F"/>
              </a:solidFill>
            </a:ln>
          </p:spPr>
        </p:sp>
        <p:grpSp>
          <p:nvGrpSpPr>
            <p:cNvPr id="28" name="Group 28"/>
            <p:cNvGrpSpPr/>
            <p:nvPr/>
          </p:nvGrpSpPr>
          <p:grpSpPr>
            <a:xfrm>
              <a:off x="1452562" y="2295525"/>
              <a:ext cx="142875" cy="95250"/>
              <a:chOff x="1452562" y="2295525"/>
              <a:chExt cx="142875" cy="95250"/>
            </a:xfrm>
          </p:grpSpPr>
          <p:sp>
            <p:nvSpPr>
              <p:cNvPr id="26" name="Freeform 26"/>
              <p:cNvSpPr/>
              <p:nvPr/>
            </p:nvSpPr>
            <p:spPr>
              <a:xfrm>
                <a:off x="1508125" y="232727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841600"/>
                </a:solidFill>
              </a:ln>
            </p:spPr>
          </p:sp>
          <p:sp>
            <p:nvSpPr>
              <p:cNvPr id="27" name="Freeform 27"/>
              <p:cNvSpPr/>
              <p:nvPr/>
            </p:nvSpPr>
            <p:spPr>
              <a:xfrm>
                <a:off x="1452562" y="2295525"/>
                <a:ext cx="142875" cy="95250"/>
              </a:xfrm>
              <a:custGeom>
                <a:avLst/>
                <a:gdLst/>
                <a:ahLst/>
                <a:cxnLst/>
                <a:rect l="l" t="t" r="r" b="b"/>
                <a:pathLst>
                  <a:path w="142875" h="95250">
                    <a:moveTo>
                      <a:pt x="142875" y="47625"/>
                    </a:moveTo>
                    <a:cubicBezTo>
                      <a:pt x="123825" y="79375"/>
                      <a:pt x="100012" y="95250"/>
                      <a:pt x="71437" y="95250"/>
                    </a:cubicBezTo>
                    <a:cubicBezTo>
                      <a:pt x="42862" y="95250"/>
                      <a:pt x="19050" y="79375"/>
                      <a:pt x="0" y="47625"/>
                    </a:cubicBezTo>
                    <a:cubicBezTo>
                      <a:pt x="19050" y="15875"/>
                      <a:pt x="42862" y="0"/>
                      <a:pt x="71437" y="0"/>
                    </a:cubicBezTo>
                    <a:cubicBezTo>
                      <a:pt x="100012" y="0"/>
                      <a:pt x="123825" y="15875"/>
                      <a:pt x="142875" y="47625"/>
                    </a:cubicBezTo>
                  </a:path>
                </a:pathLst>
              </a:custGeom>
              <a:noFill/>
              <a:ln w="15875">
                <a:solidFill>
                  <a:srgbClr val="841600"/>
                </a:solidFill>
              </a:ln>
            </p:spPr>
          </p:sp>
        </p:grpSp>
        <p:sp>
          <p:nvSpPr>
            <p:cNvPr id="29" name="TextBox 29"/>
            <p:cNvSpPr txBox="1"/>
            <p:nvPr/>
          </p:nvSpPr>
          <p:spPr>
            <a:xfrm>
              <a:off x="1860804" y="2270760"/>
              <a:ext cx="335280" cy="234696"/>
            </a:xfrm>
            <a:prstGeom prst="rect">
              <a:avLst/>
            </a:prstGeom>
            <a:noFill/>
            <a:ln>
              <a:noFill/>
            </a:ln>
          </p:spPr>
          <p:txBody>
            <a:bodyPr wrap="none" lIns="0" tIns="0" rIns="0" bIns="0" anchor="t" anchorCtr="0">
              <a:spAutoFit/>
            </a:bodyPr>
            <a:lstStyle/>
            <a:p>
              <a:pPr algn="l"/>
              <a:r>
                <a:rPr lang="zh-CN" sz="1200" b="1" dirty="0">
                  <a:solidFill>
                    <a:srgbClr val="841600"/>
                  </a:solidFill>
                  <a:latin typeface="+mn-lt"/>
                  <a:ea typeface="+mn-ea"/>
                  <a:cs typeface="+mn-cs"/>
                </a:rPr>
                <a:t>关注</a:t>
              </a:r>
            </a:p>
          </p:txBody>
        </p:sp>
        <p:sp>
          <p:nvSpPr>
            <p:cNvPr id="30" name="Polygon 30"/>
            <p:cNvSpPr/>
            <p:nvPr/>
          </p:nvSpPr>
          <p:spPr>
            <a:xfrm>
              <a:off x="2057400" y="2647950"/>
              <a:ext cx="152400" cy="76200"/>
            </a:xfrm>
            <a:custGeom>
              <a:avLst/>
              <a:gdLst/>
              <a:ahLst/>
              <a:cxnLst/>
              <a:rect l="l" t="t" r="r" b="b"/>
              <a:pathLst>
                <a:path w="152400" h="76200">
                  <a:moveTo>
                    <a:pt x="0" y="0"/>
                  </a:moveTo>
                  <a:lnTo>
                    <a:pt x="152400" y="0"/>
                  </a:lnTo>
                  <a:lnTo>
                    <a:pt x="76200" y="76200"/>
                  </a:lnTo>
                  <a:close/>
                </a:path>
              </a:pathLst>
            </a:custGeom>
            <a:solidFill>
              <a:srgbClr val="C9482E"/>
            </a:solidFill>
            <a:ln>
              <a:noFill/>
            </a:ln>
          </p:spPr>
        </p:sp>
        <p:sp>
          <p:nvSpPr>
            <p:cNvPr id="31" name="Ellipse 31"/>
            <p:cNvSpPr/>
            <p:nvPr/>
          </p:nvSpPr>
          <p:spPr>
            <a:xfrm>
              <a:off x="1447800" y="2838450"/>
              <a:ext cx="342900" cy="342900"/>
            </a:xfrm>
            <a:prstGeom prst="ellipse">
              <a:avLst/>
            </a:prstGeom>
            <a:solidFill>
              <a:srgbClr val="FFFFFF"/>
            </a:solidFill>
            <a:ln w="14288">
              <a:solidFill>
                <a:srgbClr val="F5907F"/>
              </a:solidFill>
            </a:ln>
          </p:spPr>
        </p:sp>
        <p:grpSp>
          <p:nvGrpSpPr>
            <p:cNvPr id="34" name="Group 34"/>
            <p:cNvGrpSpPr/>
            <p:nvPr/>
          </p:nvGrpSpPr>
          <p:grpSpPr>
            <a:xfrm>
              <a:off x="1547812" y="2938462"/>
              <a:ext cx="142875" cy="142875"/>
              <a:chOff x="1547812" y="2938462"/>
              <a:chExt cx="142875" cy="142875"/>
            </a:xfrm>
          </p:grpSpPr>
          <p:sp>
            <p:nvSpPr>
              <p:cNvPr id="32" name="Freeform 32"/>
              <p:cNvSpPr/>
              <p:nvPr/>
            </p:nvSpPr>
            <p:spPr>
              <a:xfrm>
                <a:off x="1547812" y="29384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C2290F"/>
                </a:solidFill>
              </a:ln>
            </p:spPr>
          </p:sp>
          <p:sp>
            <p:nvSpPr>
              <p:cNvPr id="33" name="Freeform 33"/>
              <p:cNvSpPr/>
              <p:nvPr/>
            </p:nvSpPr>
            <p:spPr>
              <a:xfrm>
                <a:off x="1619250" y="2970212"/>
                <a:ext cx="23812" cy="63500"/>
              </a:xfrm>
              <a:custGeom>
                <a:avLst/>
                <a:gdLst/>
                <a:ahLst/>
                <a:cxnLst/>
                <a:rect l="l" t="t" r="r" b="b"/>
                <a:pathLst>
                  <a:path w="23812" h="63500">
                    <a:moveTo>
                      <a:pt x="0" y="0"/>
                    </a:moveTo>
                    <a:lnTo>
                      <a:pt x="0" y="39687"/>
                    </a:lnTo>
                    <a:lnTo>
                      <a:pt x="23812" y="63500"/>
                    </a:lnTo>
                  </a:path>
                </a:pathLst>
              </a:custGeom>
              <a:noFill/>
              <a:ln w="15875">
                <a:solidFill>
                  <a:srgbClr val="C2290F"/>
                </a:solidFill>
              </a:ln>
            </p:spPr>
          </p:sp>
        </p:grpSp>
        <p:sp>
          <p:nvSpPr>
            <p:cNvPr id="35" name="TextBox 35"/>
            <p:cNvSpPr txBox="1"/>
            <p:nvPr/>
          </p:nvSpPr>
          <p:spPr>
            <a:xfrm>
              <a:off x="1917954" y="2937510"/>
              <a:ext cx="335280" cy="234696"/>
            </a:xfrm>
            <a:prstGeom prst="rect">
              <a:avLst/>
            </a:prstGeom>
            <a:noFill/>
            <a:ln>
              <a:noFill/>
            </a:ln>
          </p:spPr>
          <p:txBody>
            <a:bodyPr wrap="none" lIns="0" tIns="0" rIns="0" bIns="0" anchor="t" anchorCtr="0">
              <a:spAutoFit/>
            </a:bodyPr>
            <a:lstStyle/>
            <a:p>
              <a:pPr algn="l"/>
              <a:r>
                <a:rPr lang="zh-CN" sz="1200" b="1" dirty="0">
                  <a:solidFill>
                    <a:srgbClr val="C2290F"/>
                  </a:solidFill>
                  <a:latin typeface="+mn-lt"/>
                  <a:ea typeface="+mn-ea"/>
                  <a:cs typeface="+mn-cs"/>
                </a:rPr>
                <a:t>逾期</a:t>
              </a:r>
            </a:p>
          </p:txBody>
        </p:sp>
        <p:sp>
          <p:nvSpPr>
            <p:cNvPr id="36" name="Polygon 36"/>
            <p:cNvSpPr/>
            <p:nvPr/>
          </p:nvSpPr>
          <p:spPr>
            <a:xfrm>
              <a:off x="2057400" y="3314700"/>
              <a:ext cx="152400" cy="76200"/>
            </a:xfrm>
            <a:custGeom>
              <a:avLst/>
              <a:gdLst/>
              <a:ahLst/>
              <a:cxnLst/>
              <a:rect l="l" t="t" r="r" b="b"/>
              <a:pathLst>
                <a:path w="152400" h="76200">
                  <a:moveTo>
                    <a:pt x="0" y="0"/>
                  </a:moveTo>
                  <a:lnTo>
                    <a:pt x="152400" y="0"/>
                  </a:lnTo>
                  <a:lnTo>
                    <a:pt x="76200" y="76200"/>
                  </a:lnTo>
                  <a:close/>
                </a:path>
              </a:pathLst>
            </a:custGeom>
            <a:solidFill>
              <a:srgbClr val="ED4D31"/>
            </a:solidFill>
            <a:ln>
              <a:noFill/>
            </a:ln>
          </p:spPr>
        </p:sp>
        <p:sp>
          <p:nvSpPr>
            <p:cNvPr id="37" name="Ellipse 37"/>
            <p:cNvSpPr/>
            <p:nvPr/>
          </p:nvSpPr>
          <p:spPr>
            <a:xfrm>
              <a:off x="1543050" y="3505200"/>
              <a:ext cx="342900" cy="342900"/>
            </a:xfrm>
            <a:prstGeom prst="ellipse">
              <a:avLst/>
            </a:prstGeom>
            <a:solidFill>
              <a:srgbClr val="FFFFFF"/>
            </a:solidFill>
            <a:ln w="14288">
              <a:solidFill>
                <a:srgbClr val="EE816E"/>
              </a:solidFill>
            </a:ln>
          </p:spPr>
        </p:sp>
        <p:grpSp>
          <p:nvGrpSpPr>
            <p:cNvPr id="41" name="Group 41"/>
            <p:cNvGrpSpPr/>
            <p:nvPr/>
          </p:nvGrpSpPr>
          <p:grpSpPr>
            <a:xfrm>
              <a:off x="1634449" y="3602575"/>
              <a:ext cx="160095" cy="137543"/>
              <a:chOff x="1634449" y="3602575"/>
              <a:chExt cx="160095" cy="137543"/>
            </a:xfrm>
          </p:grpSpPr>
          <p:sp>
            <p:nvSpPr>
              <p:cNvPr id="38" name="Freeform 38"/>
              <p:cNvSpPr/>
              <p:nvPr/>
            </p:nvSpPr>
            <p:spPr>
              <a:xfrm>
                <a:off x="1714500" y="3652837"/>
                <a:ext cx="9525" cy="31750"/>
              </a:xfrm>
              <a:custGeom>
                <a:avLst/>
                <a:gdLst/>
                <a:ahLst/>
                <a:cxnLst/>
                <a:rect l="l" t="t" r="r" b="b"/>
                <a:pathLst>
                  <a:path w="9525" h="31750">
                    <a:moveTo>
                      <a:pt x="0" y="0"/>
                    </a:moveTo>
                    <a:lnTo>
                      <a:pt x="0" y="31750"/>
                    </a:lnTo>
                  </a:path>
                </a:pathLst>
              </a:custGeom>
              <a:noFill/>
              <a:ln w="15875">
                <a:solidFill>
                  <a:srgbClr val="D94F38"/>
                </a:solidFill>
              </a:ln>
            </p:spPr>
          </p:sp>
          <p:sp>
            <p:nvSpPr>
              <p:cNvPr id="39" name="Freeform 39"/>
              <p:cNvSpPr/>
              <p:nvPr/>
            </p:nvSpPr>
            <p:spPr>
              <a:xfrm>
                <a:off x="1634449" y="360257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D94F38"/>
                </a:solidFill>
              </a:ln>
            </p:spPr>
          </p:sp>
          <p:sp>
            <p:nvSpPr>
              <p:cNvPr id="40" name="Freeform 40"/>
              <p:cNvSpPr/>
              <p:nvPr/>
            </p:nvSpPr>
            <p:spPr>
              <a:xfrm>
                <a:off x="1714500" y="3708400"/>
                <a:ext cx="9525" cy="9525"/>
              </a:xfrm>
              <a:custGeom>
                <a:avLst/>
                <a:gdLst/>
                <a:ahLst/>
                <a:cxnLst/>
                <a:rect l="l" t="t" r="r" b="b"/>
                <a:pathLst>
                  <a:path w="9525" h="9525">
                    <a:moveTo>
                      <a:pt x="0" y="0"/>
                    </a:moveTo>
                    <a:lnTo>
                      <a:pt x="79" y="0"/>
                    </a:lnTo>
                  </a:path>
                </a:pathLst>
              </a:custGeom>
              <a:noFill/>
              <a:ln w="15875">
                <a:solidFill>
                  <a:srgbClr val="D94F38"/>
                </a:solidFill>
              </a:ln>
            </p:spPr>
          </p:sp>
        </p:grpSp>
        <p:sp>
          <p:nvSpPr>
            <p:cNvPr id="42" name="TextBox 42"/>
            <p:cNvSpPr txBox="1"/>
            <p:nvPr/>
          </p:nvSpPr>
          <p:spPr>
            <a:xfrm>
              <a:off x="1975104" y="3604260"/>
              <a:ext cx="335280" cy="234696"/>
            </a:xfrm>
            <a:prstGeom prst="rect">
              <a:avLst/>
            </a:prstGeom>
            <a:noFill/>
            <a:ln>
              <a:noFill/>
            </a:ln>
          </p:spPr>
          <p:txBody>
            <a:bodyPr wrap="none" lIns="0" tIns="0" rIns="0" bIns="0" anchor="t" anchorCtr="0">
              <a:spAutoFit/>
            </a:bodyPr>
            <a:lstStyle/>
            <a:p>
              <a:pPr algn="l"/>
              <a:r>
                <a:rPr lang="zh-CN" sz="1200" b="1" dirty="0">
                  <a:solidFill>
                    <a:srgbClr val="D94F38"/>
                  </a:solidFill>
                  <a:latin typeface="+mn-lt"/>
                  <a:ea typeface="+mn-ea"/>
                  <a:cs typeface="+mn-cs"/>
                </a:rPr>
                <a:t>不良</a:t>
              </a:r>
            </a:p>
          </p:txBody>
        </p:sp>
        <p:sp>
          <p:nvSpPr>
            <p:cNvPr id="43" name="Rectangle 43"/>
            <p:cNvSpPr/>
            <p:nvPr/>
          </p:nvSpPr>
          <p:spPr>
            <a:xfrm>
              <a:off x="419100" y="4438650"/>
              <a:ext cx="3429000" cy="419100"/>
            </a:xfrm>
            <a:prstGeom prst="roundRect">
              <a:avLst>
                <a:gd name="adj" fmla="val 13636"/>
              </a:avLst>
            </a:prstGeom>
            <a:solidFill>
              <a:srgbClr val="EFF5FD"/>
            </a:solidFill>
            <a:ln>
              <a:noFill/>
            </a:ln>
          </p:spPr>
        </p:sp>
        <p:sp>
          <p:nvSpPr>
            <p:cNvPr id="44" name="TextBox 44"/>
            <p:cNvSpPr txBox="1"/>
            <p:nvPr/>
          </p:nvSpPr>
          <p:spPr>
            <a:xfrm>
              <a:off x="1492186" y="4592002"/>
              <a:ext cx="1282827"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逐层压降｜严控下迁</a:t>
              </a:r>
            </a:p>
          </p:txBody>
        </p:sp>
      </p:grpSp>
      <p:grpSp>
        <p:nvGrpSpPr>
          <p:cNvPr id="93" name="key-domains"/>
          <p:cNvGrpSpPr/>
          <p:nvPr/>
        </p:nvGrpSpPr>
        <p:grpSpPr>
          <a:xfrm>
            <a:off x="4114800" y="876300"/>
            <a:ext cx="3848100" cy="4171950"/>
            <a:chOff x="4114800" y="876300"/>
            <a:chExt cx="3848100" cy="4171950"/>
          </a:xfrm>
        </p:grpSpPr>
        <p:sp>
          <p:nvSpPr>
            <p:cNvPr id="46" name="Rectangle 46"/>
            <p:cNvSpPr/>
            <p:nvPr/>
          </p:nvSpPr>
          <p:spPr>
            <a:xfrm>
              <a:off x="4114800" y="876300"/>
              <a:ext cx="3848100" cy="4171950"/>
            </a:xfrm>
            <a:prstGeom prst="roundRect">
              <a:avLst>
                <a:gd name="adj" fmla="val 2475"/>
              </a:avLst>
            </a:prstGeom>
            <a:solidFill>
              <a:srgbClr val="FFFFFF"/>
            </a:solidFill>
            <a:ln w="9525">
              <a:solidFill>
                <a:srgbClr val="D7E2F2"/>
              </a:solidFill>
            </a:ln>
          </p:spPr>
        </p:sp>
        <p:sp>
          <p:nvSpPr>
            <p:cNvPr id="47" name="Rectangle 47"/>
            <p:cNvSpPr/>
            <p:nvPr/>
          </p:nvSpPr>
          <p:spPr>
            <a:xfrm>
              <a:off x="4114800" y="876300"/>
              <a:ext cx="3848100" cy="381000"/>
            </a:xfrm>
            <a:prstGeom prst="roundRect">
              <a:avLst>
                <a:gd name="adj" fmla="val 25000"/>
              </a:avLst>
            </a:prstGeom>
            <a:solidFill>
              <a:srgbClr val="841600"/>
            </a:solidFill>
            <a:ln>
              <a:noFill/>
            </a:ln>
          </p:spPr>
        </p:sp>
        <p:sp>
          <p:nvSpPr>
            <p:cNvPr id="48" name="Rectangle 48"/>
            <p:cNvSpPr/>
            <p:nvPr/>
          </p:nvSpPr>
          <p:spPr>
            <a:xfrm>
              <a:off x="4114800" y="1085850"/>
              <a:ext cx="3848100" cy="171450"/>
            </a:xfrm>
            <a:prstGeom prst="rect">
              <a:avLst/>
            </a:prstGeom>
            <a:solidFill>
              <a:srgbClr val="841600"/>
            </a:solidFill>
            <a:ln>
              <a:noFill/>
            </a:ln>
          </p:spPr>
        </p:sp>
        <p:sp>
          <p:nvSpPr>
            <p:cNvPr id="49" name="TextBox 49"/>
            <p:cNvSpPr txBox="1"/>
            <p:nvPr/>
          </p:nvSpPr>
          <p:spPr>
            <a:xfrm>
              <a:off x="5548122" y="100393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四大重点领域</a:t>
              </a:r>
            </a:p>
          </p:txBody>
        </p:sp>
        <p:grpSp>
          <p:nvGrpSpPr>
            <p:cNvPr id="61" name="domain-1"/>
            <p:cNvGrpSpPr/>
            <p:nvPr/>
          </p:nvGrpSpPr>
          <p:grpSpPr>
            <a:xfrm>
              <a:off x="4248150" y="1333500"/>
              <a:ext cx="1752600" cy="1428750"/>
              <a:chOff x="4248150" y="1333500"/>
              <a:chExt cx="1752600" cy="1428750"/>
            </a:xfrm>
          </p:grpSpPr>
          <p:sp>
            <p:nvSpPr>
              <p:cNvPr id="50" name="Rectangle 50"/>
              <p:cNvSpPr/>
              <p:nvPr/>
            </p:nvSpPr>
            <p:spPr>
              <a:xfrm>
                <a:off x="4248150" y="1333500"/>
                <a:ext cx="1752600" cy="1428750"/>
              </a:xfrm>
              <a:prstGeom prst="roundRect">
                <a:avLst>
                  <a:gd name="adj" fmla="val 5333"/>
                </a:avLst>
              </a:prstGeom>
              <a:solidFill>
                <a:srgbClr val="EFF5FD"/>
              </a:solidFill>
              <a:ln>
                <a:noFill/>
              </a:ln>
            </p:spPr>
          </p:sp>
          <p:grpSp>
            <p:nvGrpSpPr>
              <p:cNvPr id="59" name="Group 59"/>
              <p:cNvGrpSpPr/>
              <p:nvPr/>
            </p:nvGrpSpPr>
            <p:grpSpPr>
              <a:xfrm>
                <a:off x="4967287" y="1614487"/>
                <a:ext cx="314324" cy="323850"/>
                <a:chOff x="4967287" y="1614487"/>
                <a:chExt cx="314324" cy="323850"/>
              </a:xfrm>
            </p:grpSpPr>
            <p:sp>
              <p:nvSpPr>
                <p:cNvPr id="51" name="Freeform 51"/>
                <p:cNvSpPr/>
                <p:nvPr/>
              </p:nvSpPr>
              <p:spPr>
                <a:xfrm>
                  <a:off x="4967287" y="1928812"/>
                  <a:ext cx="314324" cy="9525"/>
                </a:xfrm>
                <a:custGeom>
                  <a:avLst/>
                  <a:gdLst/>
                  <a:ahLst/>
                  <a:cxnLst/>
                  <a:rect l="l" t="t" r="r" b="b"/>
                  <a:pathLst>
                    <a:path w="314324" h="9525">
                      <a:moveTo>
                        <a:pt x="0" y="0"/>
                      </a:moveTo>
                      <a:lnTo>
                        <a:pt x="314324" y="0"/>
                      </a:lnTo>
                    </a:path>
                  </a:pathLst>
                </a:custGeom>
                <a:noFill/>
                <a:ln w="26194">
                  <a:solidFill>
                    <a:srgbClr val="841600"/>
                  </a:solidFill>
                </a:ln>
              </p:spPr>
            </p:sp>
            <p:sp>
              <p:nvSpPr>
                <p:cNvPr id="52" name="Freeform 52"/>
                <p:cNvSpPr/>
                <p:nvPr/>
              </p:nvSpPr>
              <p:spPr>
                <a:xfrm>
                  <a:off x="5072062" y="1701800"/>
                  <a:ext cx="17462" cy="9525"/>
                </a:xfrm>
                <a:custGeom>
                  <a:avLst/>
                  <a:gdLst/>
                  <a:ahLst/>
                  <a:cxnLst/>
                  <a:rect l="l" t="t" r="r" b="b"/>
                  <a:pathLst>
                    <a:path w="17462" h="9525">
                      <a:moveTo>
                        <a:pt x="0" y="0"/>
                      </a:moveTo>
                      <a:lnTo>
                        <a:pt x="17462" y="0"/>
                      </a:lnTo>
                    </a:path>
                  </a:pathLst>
                </a:custGeom>
                <a:noFill/>
                <a:ln w="26194">
                  <a:solidFill>
                    <a:srgbClr val="841600"/>
                  </a:solidFill>
                </a:ln>
              </p:spPr>
            </p:sp>
            <p:sp>
              <p:nvSpPr>
                <p:cNvPr id="53" name="Freeform 53"/>
                <p:cNvSpPr/>
                <p:nvPr/>
              </p:nvSpPr>
              <p:spPr>
                <a:xfrm>
                  <a:off x="5072062" y="1771650"/>
                  <a:ext cx="17462" cy="9525"/>
                </a:xfrm>
                <a:custGeom>
                  <a:avLst/>
                  <a:gdLst/>
                  <a:ahLst/>
                  <a:cxnLst/>
                  <a:rect l="l" t="t" r="r" b="b"/>
                  <a:pathLst>
                    <a:path w="17462" h="9525">
                      <a:moveTo>
                        <a:pt x="0" y="0"/>
                      </a:moveTo>
                      <a:lnTo>
                        <a:pt x="17462" y="0"/>
                      </a:lnTo>
                    </a:path>
                  </a:pathLst>
                </a:custGeom>
                <a:noFill/>
                <a:ln w="26194">
                  <a:solidFill>
                    <a:srgbClr val="841600"/>
                  </a:solidFill>
                </a:ln>
              </p:spPr>
            </p:sp>
            <p:sp>
              <p:nvSpPr>
                <p:cNvPr id="54" name="Freeform 54"/>
                <p:cNvSpPr/>
                <p:nvPr/>
              </p:nvSpPr>
              <p:spPr>
                <a:xfrm>
                  <a:off x="5072062" y="1841499"/>
                  <a:ext cx="17462" cy="9525"/>
                </a:xfrm>
                <a:custGeom>
                  <a:avLst/>
                  <a:gdLst/>
                  <a:ahLst/>
                  <a:cxnLst/>
                  <a:rect l="l" t="t" r="r" b="b"/>
                  <a:pathLst>
                    <a:path w="17462" h="9525">
                      <a:moveTo>
                        <a:pt x="0" y="0"/>
                      </a:moveTo>
                      <a:lnTo>
                        <a:pt x="17462" y="0"/>
                      </a:lnTo>
                    </a:path>
                  </a:pathLst>
                </a:custGeom>
                <a:noFill/>
                <a:ln w="26194">
                  <a:solidFill>
                    <a:srgbClr val="841600"/>
                  </a:solidFill>
                </a:ln>
              </p:spPr>
            </p:sp>
            <p:sp>
              <p:nvSpPr>
                <p:cNvPr id="55" name="Freeform 55"/>
                <p:cNvSpPr/>
                <p:nvPr/>
              </p:nvSpPr>
              <p:spPr>
                <a:xfrm>
                  <a:off x="5159375" y="1701800"/>
                  <a:ext cx="17462" cy="9525"/>
                </a:xfrm>
                <a:custGeom>
                  <a:avLst/>
                  <a:gdLst/>
                  <a:ahLst/>
                  <a:cxnLst/>
                  <a:rect l="l" t="t" r="r" b="b"/>
                  <a:pathLst>
                    <a:path w="17462" h="9525">
                      <a:moveTo>
                        <a:pt x="0" y="0"/>
                      </a:moveTo>
                      <a:lnTo>
                        <a:pt x="17462" y="0"/>
                      </a:lnTo>
                    </a:path>
                  </a:pathLst>
                </a:custGeom>
                <a:noFill/>
                <a:ln w="26194">
                  <a:solidFill>
                    <a:srgbClr val="841600"/>
                  </a:solidFill>
                </a:ln>
              </p:spPr>
            </p:sp>
            <p:sp>
              <p:nvSpPr>
                <p:cNvPr id="56" name="Freeform 56"/>
                <p:cNvSpPr/>
                <p:nvPr/>
              </p:nvSpPr>
              <p:spPr>
                <a:xfrm>
                  <a:off x="5159375" y="1771650"/>
                  <a:ext cx="17462" cy="9525"/>
                </a:xfrm>
                <a:custGeom>
                  <a:avLst/>
                  <a:gdLst/>
                  <a:ahLst/>
                  <a:cxnLst/>
                  <a:rect l="l" t="t" r="r" b="b"/>
                  <a:pathLst>
                    <a:path w="17462" h="9525">
                      <a:moveTo>
                        <a:pt x="0" y="0"/>
                      </a:moveTo>
                      <a:lnTo>
                        <a:pt x="17462" y="0"/>
                      </a:lnTo>
                    </a:path>
                  </a:pathLst>
                </a:custGeom>
                <a:noFill/>
                <a:ln w="26194">
                  <a:solidFill>
                    <a:srgbClr val="841600"/>
                  </a:solidFill>
                </a:ln>
              </p:spPr>
            </p:sp>
            <p:sp>
              <p:nvSpPr>
                <p:cNvPr id="57" name="Freeform 57"/>
                <p:cNvSpPr/>
                <p:nvPr/>
              </p:nvSpPr>
              <p:spPr>
                <a:xfrm>
                  <a:off x="5159375" y="1841499"/>
                  <a:ext cx="17462" cy="9525"/>
                </a:xfrm>
                <a:custGeom>
                  <a:avLst/>
                  <a:gdLst/>
                  <a:ahLst/>
                  <a:cxnLst/>
                  <a:rect l="l" t="t" r="r" b="b"/>
                  <a:pathLst>
                    <a:path w="17462" h="9525">
                      <a:moveTo>
                        <a:pt x="0" y="0"/>
                      </a:moveTo>
                      <a:lnTo>
                        <a:pt x="17462" y="0"/>
                      </a:lnTo>
                    </a:path>
                  </a:pathLst>
                </a:custGeom>
                <a:noFill/>
                <a:ln w="26194">
                  <a:solidFill>
                    <a:srgbClr val="841600"/>
                  </a:solidFill>
                </a:ln>
              </p:spPr>
            </p:sp>
            <p:sp>
              <p:nvSpPr>
                <p:cNvPr id="58" name="Freeform 58"/>
                <p:cNvSpPr/>
                <p:nvPr/>
              </p:nvSpPr>
              <p:spPr>
                <a:xfrm>
                  <a:off x="5002212" y="1614487"/>
                  <a:ext cx="244475" cy="314324"/>
                </a:xfrm>
                <a:custGeom>
                  <a:avLst/>
                  <a:gdLst/>
                  <a:ahLst/>
                  <a:cxnLst/>
                  <a:rect l="l" t="t" r="r" b="b"/>
                  <a:pathLst>
                    <a:path w="244475" h="314324">
                      <a:moveTo>
                        <a:pt x="0" y="314324"/>
                      </a:moveTo>
                      <a:lnTo>
                        <a:pt x="0" y="34925"/>
                      </a:lnTo>
                      <a:cubicBezTo>
                        <a:pt x="0" y="15636"/>
                        <a:pt x="15636" y="0"/>
                        <a:pt x="34925" y="0"/>
                      </a:cubicBezTo>
                      <a:lnTo>
                        <a:pt x="209550" y="0"/>
                      </a:lnTo>
                      <a:cubicBezTo>
                        <a:pt x="228838" y="0"/>
                        <a:pt x="244475" y="15636"/>
                        <a:pt x="244475" y="34925"/>
                      </a:cubicBezTo>
                      <a:lnTo>
                        <a:pt x="244475" y="314324"/>
                      </a:lnTo>
                    </a:path>
                  </a:pathLst>
                </a:custGeom>
                <a:noFill/>
                <a:ln w="26194">
                  <a:solidFill>
                    <a:srgbClr val="841600"/>
                  </a:solidFill>
                </a:ln>
              </p:spPr>
            </p:sp>
          </p:grpSp>
          <p:sp>
            <p:nvSpPr>
              <p:cNvPr id="60" name="TextBox 60"/>
              <p:cNvSpPr txBox="1"/>
              <p:nvPr/>
            </p:nvSpPr>
            <p:spPr>
              <a:xfrm>
                <a:off x="4876038" y="2327910"/>
                <a:ext cx="496824"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房地产</a:t>
                </a:r>
              </a:p>
            </p:txBody>
          </p:sp>
        </p:grpSp>
        <p:grpSp>
          <p:nvGrpSpPr>
            <p:cNvPr id="73" name="domain-2"/>
            <p:cNvGrpSpPr/>
            <p:nvPr/>
          </p:nvGrpSpPr>
          <p:grpSpPr>
            <a:xfrm>
              <a:off x="6115050" y="1333500"/>
              <a:ext cx="1752600" cy="1428750"/>
              <a:chOff x="6115050" y="1333500"/>
              <a:chExt cx="1752600" cy="1428750"/>
            </a:xfrm>
          </p:grpSpPr>
          <p:sp>
            <p:nvSpPr>
              <p:cNvPr id="62" name="Rectangle 62"/>
              <p:cNvSpPr/>
              <p:nvPr/>
            </p:nvSpPr>
            <p:spPr>
              <a:xfrm>
                <a:off x="6115050" y="1333500"/>
                <a:ext cx="1752600" cy="1428750"/>
              </a:xfrm>
              <a:prstGeom prst="roundRect">
                <a:avLst>
                  <a:gd name="adj" fmla="val 5333"/>
                </a:avLst>
              </a:prstGeom>
              <a:solidFill>
                <a:srgbClr val="EFF5FD"/>
              </a:solidFill>
              <a:ln>
                <a:noFill/>
              </a:ln>
            </p:spPr>
          </p:sp>
          <p:grpSp>
            <p:nvGrpSpPr>
              <p:cNvPr id="71" name="Group 71"/>
              <p:cNvGrpSpPr/>
              <p:nvPr/>
            </p:nvGrpSpPr>
            <p:grpSpPr>
              <a:xfrm>
                <a:off x="6834187" y="1614487"/>
                <a:ext cx="314324" cy="323850"/>
                <a:chOff x="6834187" y="1614487"/>
                <a:chExt cx="314324" cy="323850"/>
              </a:xfrm>
            </p:grpSpPr>
            <p:sp>
              <p:nvSpPr>
                <p:cNvPr id="63" name="Freeform 63"/>
                <p:cNvSpPr/>
                <p:nvPr/>
              </p:nvSpPr>
              <p:spPr>
                <a:xfrm>
                  <a:off x="6834187" y="1928812"/>
                  <a:ext cx="314324" cy="9525"/>
                </a:xfrm>
                <a:custGeom>
                  <a:avLst/>
                  <a:gdLst/>
                  <a:ahLst/>
                  <a:cxnLst/>
                  <a:rect l="l" t="t" r="r" b="b"/>
                  <a:pathLst>
                    <a:path w="314324" h="9525">
                      <a:moveTo>
                        <a:pt x="0" y="0"/>
                      </a:moveTo>
                      <a:lnTo>
                        <a:pt x="314324" y="0"/>
                      </a:lnTo>
                    </a:path>
                  </a:pathLst>
                </a:custGeom>
                <a:noFill/>
                <a:ln w="26194">
                  <a:solidFill>
                    <a:srgbClr val="841600"/>
                  </a:solidFill>
                </a:ln>
              </p:spPr>
            </p:sp>
            <p:sp>
              <p:nvSpPr>
                <p:cNvPr id="64" name="Freeform 64"/>
                <p:cNvSpPr/>
                <p:nvPr/>
              </p:nvSpPr>
              <p:spPr>
                <a:xfrm>
                  <a:off x="6834187" y="1736725"/>
                  <a:ext cx="314324" cy="9525"/>
                </a:xfrm>
                <a:custGeom>
                  <a:avLst/>
                  <a:gdLst/>
                  <a:ahLst/>
                  <a:cxnLst/>
                  <a:rect l="l" t="t" r="r" b="b"/>
                  <a:pathLst>
                    <a:path w="314324" h="9525">
                      <a:moveTo>
                        <a:pt x="0" y="0"/>
                      </a:moveTo>
                      <a:lnTo>
                        <a:pt x="314324" y="0"/>
                      </a:lnTo>
                    </a:path>
                  </a:pathLst>
                </a:custGeom>
                <a:noFill/>
                <a:ln w="26194">
                  <a:solidFill>
                    <a:srgbClr val="841600"/>
                  </a:solidFill>
                </a:ln>
              </p:spPr>
            </p:sp>
            <p:sp>
              <p:nvSpPr>
                <p:cNvPr id="65" name="Freeform 65"/>
                <p:cNvSpPr/>
                <p:nvPr/>
              </p:nvSpPr>
              <p:spPr>
                <a:xfrm>
                  <a:off x="6869112" y="1614487"/>
                  <a:ext cx="244475" cy="52387"/>
                </a:xfrm>
                <a:custGeom>
                  <a:avLst/>
                  <a:gdLst/>
                  <a:ahLst/>
                  <a:cxnLst/>
                  <a:rect l="l" t="t" r="r" b="b"/>
                  <a:pathLst>
                    <a:path w="244475" h="52387">
                      <a:moveTo>
                        <a:pt x="0" y="52387"/>
                      </a:moveTo>
                      <a:lnTo>
                        <a:pt x="122237" y="0"/>
                      </a:lnTo>
                      <a:lnTo>
                        <a:pt x="244475" y="52387"/>
                      </a:lnTo>
                    </a:path>
                  </a:pathLst>
                </a:custGeom>
                <a:noFill/>
                <a:ln w="26194">
                  <a:solidFill>
                    <a:srgbClr val="841600"/>
                  </a:solidFill>
                </a:ln>
              </p:spPr>
            </p:sp>
            <p:sp>
              <p:nvSpPr>
                <p:cNvPr id="66" name="Freeform 66"/>
                <p:cNvSpPr/>
                <p:nvPr/>
              </p:nvSpPr>
              <p:spPr>
                <a:xfrm>
                  <a:off x="6851650" y="1736725"/>
                  <a:ext cx="9525" cy="192087"/>
                </a:xfrm>
                <a:custGeom>
                  <a:avLst/>
                  <a:gdLst/>
                  <a:ahLst/>
                  <a:cxnLst/>
                  <a:rect l="l" t="t" r="r" b="b"/>
                  <a:pathLst>
                    <a:path w="9525" h="192087">
                      <a:moveTo>
                        <a:pt x="0" y="0"/>
                      </a:moveTo>
                      <a:lnTo>
                        <a:pt x="0" y="192087"/>
                      </a:lnTo>
                    </a:path>
                  </a:pathLst>
                </a:custGeom>
                <a:noFill/>
                <a:ln w="26194">
                  <a:solidFill>
                    <a:srgbClr val="841600"/>
                  </a:solidFill>
                </a:ln>
              </p:spPr>
            </p:sp>
            <p:sp>
              <p:nvSpPr>
                <p:cNvPr id="67" name="Freeform 67"/>
                <p:cNvSpPr/>
                <p:nvPr/>
              </p:nvSpPr>
              <p:spPr>
                <a:xfrm>
                  <a:off x="7131049" y="1736725"/>
                  <a:ext cx="9525" cy="192087"/>
                </a:xfrm>
                <a:custGeom>
                  <a:avLst/>
                  <a:gdLst/>
                  <a:ahLst/>
                  <a:cxnLst/>
                  <a:rect l="l" t="t" r="r" b="b"/>
                  <a:pathLst>
                    <a:path w="9525" h="192087">
                      <a:moveTo>
                        <a:pt x="0" y="0"/>
                      </a:moveTo>
                      <a:lnTo>
                        <a:pt x="0" y="192087"/>
                      </a:lnTo>
                    </a:path>
                  </a:pathLst>
                </a:custGeom>
                <a:noFill/>
                <a:ln w="26194">
                  <a:solidFill>
                    <a:srgbClr val="841600"/>
                  </a:solidFill>
                </a:ln>
              </p:spPr>
            </p:sp>
            <p:sp>
              <p:nvSpPr>
                <p:cNvPr id="68" name="Freeform 68"/>
                <p:cNvSpPr/>
                <p:nvPr/>
              </p:nvSpPr>
              <p:spPr>
                <a:xfrm>
                  <a:off x="6921500" y="1806575"/>
                  <a:ext cx="9525" cy="52387"/>
                </a:xfrm>
                <a:custGeom>
                  <a:avLst/>
                  <a:gdLst/>
                  <a:ahLst/>
                  <a:cxnLst/>
                  <a:rect l="l" t="t" r="r" b="b"/>
                  <a:pathLst>
                    <a:path w="9525" h="52387">
                      <a:moveTo>
                        <a:pt x="0" y="0"/>
                      </a:moveTo>
                      <a:lnTo>
                        <a:pt x="0" y="52387"/>
                      </a:lnTo>
                    </a:path>
                  </a:pathLst>
                </a:custGeom>
                <a:noFill/>
                <a:ln w="26194">
                  <a:solidFill>
                    <a:srgbClr val="841600"/>
                  </a:solidFill>
                </a:ln>
              </p:spPr>
            </p:sp>
            <p:sp>
              <p:nvSpPr>
                <p:cNvPr id="69" name="Freeform 69"/>
                <p:cNvSpPr/>
                <p:nvPr/>
              </p:nvSpPr>
              <p:spPr>
                <a:xfrm>
                  <a:off x="6991350" y="1806575"/>
                  <a:ext cx="9525" cy="52387"/>
                </a:xfrm>
                <a:custGeom>
                  <a:avLst/>
                  <a:gdLst/>
                  <a:ahLst/>
                  <a:cxnLst/>
                  <a:rect l="l" t="t" r="r" b="b"/>
                  <a:pathLst>
                    <a:path w="9525" h="52387">
                      <a:moveTo>
                        <a:pt x="0" y="0"/>
                      </a:moveTo>
                      <a:lnTo>
                        <a:pt x="0" y="52387"/>
                      </a:lnTo>
                    </a:path>
                  </a:pathLst>
                </a:custGeom>
                <a:noFill/>
                <a:ln w="26194">
                  <a:solidFill>
                    <a:srgbClr val="841600"/>
                  </a:solidFill>
                </a:ln>
              </p:spPr>
            </p:sp>
            <p:sp>
              <p:nvSpPr>
                <p:cNvPr id="70" name="Freeform 70"/>
                <p:cNvSpPr/>
                <p:nvPr/>
              </p:nvSpPr>
              <p:spPr>
                <a:xfrm>
                  <a:off x="7061199" y="1806575"/>
                  <a:ext cx="9525" cy="52387"/>
                </a:xfrm>
                <a:custGeom>
                  <a:avLst/>
                  <a:gdLst/>
                  <a:ahLst/>
                  <a:cxnLst/>
                  <a:rect l="l" t="t" r="r" b="b"/>
                  <a:pathLst>
                    <a:path w="9525" h="52387">
                      <a:moveTo>
                        <a:pt x="0" y="0"/>
                      </a:moveTo>
                      <a:lnTo>
                        <a:pt x="0" y="52387"/>
                      </a:lnTo>
                    </a:path>
                  </a:pathLst>
                </a:custGeom>
                <a:noFill/>
                <a:ln w="26194">
                  <a:solidFill>
                    <a:srgbClr val="841600"/>
                  </a:solidFill>
                </a:ln>
              </p:spPr>
            </p:sp>
          </p:grpSp>
          <p:sp>
            <p:nvSpPr>
              <p:cNvPr id="72" name="TextBox 72"/>
              <p:cNvSpPr txBox="1"/>
              <p:nvPr/>
            </p:nvSpPr>
            <p:spPr>
              <a:xfrm>
                <a:off x="6662166" y="2327910"/>
                <a:ext cx="658368"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地方平台</a:t>
                </a:r>
              </a:p>
            </p:txBody>
          </p:sp>
        </p:grpSp>
        <p:grpSp>
          <p:nvGrpSpPr>
            <p:cNvPr id="82" name="domain-3"/>
            <p:cNvGrpSpPr/>
            <p:nvPr/>
          </p:nvGrpSpPr>
          <p:grpSpPr>
            <a:xfrm>
              <a:off x="4248150" y="2857500"/>
              <a:ext cx="1752600" cy="1428750"/>
              <a:chOff x="4248150" y="2857500"/>
              <a:chExt cx="1752600" cy="1428750"/>
            </a:xfrm>
          </p:grpSpPr>
          <p:sp>
            <p:nvSpPr>
              <p:cNvPr id="74" name="Rectangle 74"/>
              <p:cNvSpPr/>
              <p:nvPr/>
            </p:nvSpPr>
            <p:spPr>
              <a:xfrm>
                <a:off x="4248150" y="2857500"/>
                <a:ext cx="1752600" cy="1428750"/>
              </a:xfrm>
              <a:prstGeom prst="roundRect">
                <a:avLst>
                  <a:gd name="adj" fmla="val 5333"/>
                </a:avLst>
              </a:prstGeom>
              <a:solidFill>
                <a:srgbClr val="EFF5FD"/>
              </a:solidFill>
              <a:ln>
                <a:noFill/>
              </a:ln>
            </p:spPr>
          </p:sp>
          <p:grpSp>
            <p:nvGrpSpPr>
              <p:cNvPr id="80" name="Group 80"/>
              <p:cNvGrpSpPr/>
              <p:nvPr/>
            </p:nvGrpSpPr>
            <p:grpSpPr>
              <a:xfrm>
                <a:off x="4967287" y="3138487"/>
                <a:ext cx="314324" cy="323850"/>
                <a:chOff x="4967287" y="3138487"/>
                <a:chExt cx="314324" cy="323850"/>
              </a:xfrm>
            </p:grpSpPr>
            <p:sp>
              <p:nvSpPr>
                <p:cNvPr id="75" name="Freeform 75"/>
                <p:cNvSpPr/>
                <p:nvPr/>
              </p:nvSpPr>
              <p:spPr>
                <a:xfrm>
                  <a:off x="4967287" y="3452812"/>
                  <a:ext cx="314324" cy="9525"/>
                </a:xfrm>
                <a:custGeom>
                  <a:avLst/>
                  <a:gdLst/>
                  <a:ahLst/>
                  <a:cxnLst/>
                  <a:rect l="l" t="t" r="r" b="b"/>
                  <a:pathLst>
                    <a:path w="314324" h="9525">
                      <a:moveTo>
                        <a:pt x="0" y="0"/>
                      </a:moveTo>
                      <a:lnTo>
                        <a:pt x="314324" y="0"/>
                      </a:lnTo>
                    </a:path>
                  </a:pathLst>
                </a:custGeom>
                <a:noFill/>
                <a:ln w="26194">
                  <a:solidFill>
                    <a:srgbClr val="841600"/>
                  </a:solidFill>
                </a:ln>
              </p:spPr>
            </p:sp>
            <p:sp>
              <p:nvSpPr>
                <p:cNvPr id="76" name="Freeform 76"/>
                <p:cNvSpPr/>
                <p:nvPr/>
              </p:nvSpPr>
              <p:spPr>
                <a:xfrm>
                  <a:off x="4967287" y="3138487"/>
                  <a:ext cx="314324" cy="139700"/>
                </a:xfrm>
                <a:custGeom>
                  <a:avLst/>
                  <a:gdLst/>
                  <a:ahLst/>
                  <a:cxnLst/>
                  <a:rect l="l" t="t" r="r" b="b"/>
                  <a:pathLst>
                    <a:path w="314324" h="139700">
                      <a:moveTo>
                        <a:pt x="0" y="69850"/>
                      </a:moveTo>
                      <a:lnTo>
                        <a:pt x="0" y="87312"/>
                      </a:lnTo>
                      <a:cubicBezTo>
                        <a:pt x="0" y="116245"/>
                        <a:pt x="23455" y="139700"/>
                        <a:pt x="52387" y="139700"/>
                      </a:cubicBezTo>
                      <a:cubicBezTo>
                        <a:pt x="81320" y="139700"/>
                        <a:pt x="104775" y="116245"/>
                        <a:pt x="104775" y="87312"/>
                      </a:cubicBezTo>
                      <a:lnTo>
                        <a:pt x="104775" y="69850"/>
                      </a:lnTo>
                      <a:moveTo>
                        <a:pt x="104775" y="87312"/>
                      </a:moveTo>
                      <a:cubicBezTo>
                        <a:pt x="104775" y="116245"/>
                        <a:pt x="128229" y="139700"/>
                        <a:pt x="157162" y="139700"/>
                      </a:cubicBezTo>
                      <a:cubicBezTo>
                        <a:pt x="186095" y="139700"/>
                        <a:pt x="209550" y="116245"/>
                        <a:pt x="209550" y="87312"/>
                      </a:cubicBezTo>
                      <a:lnTo>
                        <a:pt x="209550" y="69850"/>
                      </a:lnTo>
                      <a:moveTo>
                        <a:pt x="209550" y="87312"/>
                      </a:moveTo>
                      <a:cubicBezTo>
                        <a:pt x="209550" y="116245"/>
                        <a:pt x="233004" y="139700"/>
                        <a:pt x="261937" y="139700"/>
                      </a:cubicBezTo>
                      <a:cubicBezTo>
                        <a:pt x="290870" y="139700"/>
                        <a:pt x="314324" y="116245"/>
                        <a:pt x="314324" y="87312"/>
                      </a:cubicBezTo>
                      <a:lnTo>
                        <a:pt x="314324" y="69850"/>
                      </a:lnTo>
                      <a:lnTo>
                        <a:pt x="0" y="69850"/>
                      </a:lnTo>
                      <a:lnTo>
                        <a:pt x="34925" y="0"/>
                      </a:lnTo>
                      <a:lnTo>
                        <a:pt x="279399" y="0"/>
                      </a:lnTo>
                      <a:lnTo>
                        <a:pt x="314324" y="69850"/>
                      </a:lnTo>
                    </a:path>
                  </a:pathLst>
                </a:custGeom>
                <a:noFill/>
                <a:ln w="26194">
                  <a:solidFill>
                    <a:srgbClr val="841600"/>
                  </a:solidFill>
                </a:ln>
              </p:spPr>
            </p:sp>
            <p:sp>
              <p:nvSpPr>
                <p:cNvPr id="77" name="Freeform 77"/>
                <p:cNvSpPr/>
                <p:nvPr/>
              </p:nvSpPr>
              <p:spPr>
                <a:xfrm>
                  <a:off x="5002212" y="3275568"/>
                  <a:ext cx="9525" cy="177244"/>
                </a:xfrm>
                <a:custGeom>
                  <a:avLst/>
                  <a:gdLst/>
                  <a:ahLst/>
                  <a:cxnLst/>
                  <a:rect l="l" t="t" r="r" b="b"/>
                  <a:pathLst>
                    <a:path w="9525" h="177244">
                      <a:moveTo>
                        <a:pt x="0" y="177244"/>
                      </a:moveTo>
                      <a:lnTo>
                        <a:pt x="0" y="0"/>
                      </a:lnTo>
                    </a:path>
                  </a:pathLst>
                </a:custGeom>
                <a:noFill/>
                <a:ln w="26194">
                  <a:solidFill>
                    <a:srgbClr val="841600"/>
                  </a:solidFill>
                </a:ln>
              </p:spPr>
            </p:sp>
            <p:sp>
              <p:nvSpPr>
                <p:cNvPr id="78" name="Freeform 78"/>
                <p:cNvSpPr/>
                <p:nvPr/>
              </p:nvSpPr>
              <p:spPr>
                <a:xfrm>
                  <a:off x="5246687" y="3275568"/>
                  <a:ext cx="9525" cy="177244"/>
                </a:xfrm>
                <a:custGeom>
                  <a:avLst/>
                  <a:gdLst/>
                  <a:ahLst/>
                  <a:cxnLst/>
                  <a:rect l="l" t="t" r="r" b="b"/>
                  <a:pathLst>
                    <a:path w="9525" h="177244">
                      <a:moveTo>
                        <a:pt x="0" y="177244"/>
                      </a:moveTo>
                      <a:lnTo>
                        <a:pt x="0" y="0"/>
                      </a:lnTo>
                    </a:path>
                  </a:pathLst>
                </a:custGeom>
                <a:noFill/>
                <a:ln w="26194">
                  <a:solidFill>
                    <a:srgbClr val="841600"/>
                  </a:solidFill>
                </a:ln>
              </p:spPr>
            </p:sp>
            <p:sp>
              <p:nvSpPr>
                <p:cNvPr id="79" name="Freeform 79"/>
                <p:cNvSpPr/>
                <p:nvPr/>
              </p:nvSpPr>
              <p:spPr>
                <a:xfrm>
                  <a:off x="5072062" y="3348037"/>
                  <a:ext cx="104775" cy="104775"/>
                </a:xfrm>
                <a:custGeom>
                  <a:avLst/>
                  <a:gdLst/>
                  <a:ahLst/>
                  <a:cxnLst/>
                  <a:rect l="l" t="t" r="r" b="b"/>
                  <a:pathLst>
                    <a:path w="104775" h="104775">
                      <a:moveTo>
                        <a:pt x="0" y="104775"/>
                      </a:moveTo>
                      <a:lnTo>
                        <a:pt x="0" y="34925"/>
                      </a:lnTo>
                      <a:cubicBezTo>
                        <a:pt x="0" y="15636"/>
                        <a:pt x="15636" y="0"/>
                        <a:pt x="34925" y="0"/>
                      </a:cubicBezTo>
                      <a:lnTo>
                        <a:pt x="69850" y="0"/>
                      </a:lnTo>
                      <a:cubicBezTo>
                        <a:pt x="89138" y="0"/>
                        <a:pt x="104775" y="15636"/>
                        <a:pt x="104775" y="34925"/>
                      </a:cubicBezTo>
                      <a:lnTo>
                        <a:pt x="104775" y="104775"/>
                      </a:lnTo>
                    </a:path>
                  </a:pathLst>
                </a:custGeom>
                <a:noFill/>
                <a:ln w="26194">
                  <a:solidFill>
                    <a:srgbClr val="841600"/>
                  </a:solidFill>
                </a:ln>
              </p:spPr>
            </p:sp>
          </p:grpSp>
          <p:sp>
            <p:nvSpPr>
              <p:cNvPr id="81" name="TextBox 81"/>
              <p:cNvSpPr txBox="1"/>
              <p:nvPr/>
            </p:nvSpPr>
            <p:spPr>
              <a:xfrm>
                <a:off x="4956810" y="3851910"/>
                <a:ext cx="335280"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小微</a:t>
                </a:r>
              </a:p>
            </p:txBody>
          </p:sp>
        </p:grpSp>
        <p:grpSp>
          <p:nvGrpSpPr>
            <p:cNvPr id="90" name="domain-4"/>
            <p:cNvGrpSpPr/>
            <p:nvPr/>
          </p:nvGrpSpPr>
          <p:grpSpPr>
            <a:xfrm>
              <a:off x="6115050" y="2857500"/>
              <a:ext cx="1752600" cy="1428750"/>
              <a:chOff x="6115050" y="2857500"/>
              <a:chExt cx="1752600" cy="1428750"/>
            </a:xfrm>
          </p:grpSpPr>
          <p:sp>
            <p:nvSpPr>
              <p:cNvPr id="83" name="Rectangle 83"/>
              <p:cNvSpPr/>
              <p:nvPr/>
            </p:nvSpPr>
            <p:spPr>
              <a:xfrm>
                <a:off x="6115050" y="2857500"/>
                <a:ext cx="1752600" cy="1428750"/>
              </a:xfrm>
              <a:prstGeom prst="roundRect">
                <a:avLst>
                  <a:gd name="adj" fmla="val 5333"/>
                </a:avLst>
              </a:prstGeom>
              <a:solidFill>
                <a:srgbClr val="EFF5FD"/>
              </a:solidFill>
              <a:ln>
                <a:noFill/>
              </a:ln>
            </p:spPr>
          </p:sp>
          <p:grpSp>
            <p:nvGrpSpPr>
              <p:cNvPr id="88" name="Group 88"/>
              <p:cNvGrpSpPr/>
              <p:nvPr/>
            </p:nvGrpSpPr>
            <p:grpSpPr>
              <a:xfrm>
                <a:off x="6834187" y="3173412"/>
                <a:ext cx="314324" cy="244475"/>
                <a:chOff x="6834187" y="3173412"/>
                <a:chExt cx="314324" cy="244475"/>
              </a:xfrm>
            </p:grpSpPr>
            <p:sp>
              <p:nvSpPr>
                <p:cNvPr id="84" name="Freeform 84"/>
                <p:cNvSpPr/>
                <p:nvPr/>
              </p:nvSpPr>
              <p:spPr>
                <a:xfrm>
                  <a:off x="6834187" y="3173412"/>
                  <a:ext cx="314324" cy="244475"/>
                </a:xfrm>
                <a:custGeom>
                  <a:avLst/>
                  <a:gdLst/>
                  <a:ahLst/>
                  <a:cxnLst/>
                  <a:rect l="l" t="t" r="r" b="b"/>
                  <a:pathLst>
                    <a:path w="314324" h="244475">
                      <a:moveTo>
                        <a:pt x="0" y="52387"/>
                      </a:moveTo>
                      <a:cubicBezTo>
                        <a:pt x="0" y="23455"/>
                        <a:pt x="23455" y="0"/>
                        <a:pt x="52387" y="0"/>
                      </a:cubicBezTo>
                      <a:lnTo>
                        <a:pt x="261937" y="0"/>
                      </a:lnTo>
                      <a:cubicBezTo>
                        <a:pt x="290870" y="0"/>
                        <a:pt x="314324" y="23455"/>
                        <a:pt x="314324" y="52387"/>
                      </a:cubicBezTo>
                      <a:lnTo>
                        <a:pt x="314324" y="192087"/>
                      </a:lnTo>
                      <a:cubicBezTo>
                        <a:pt x="314324" y="221020"/>
                        <a:pt x="290870" y="244475"/>
                        <a:pt x="261937" y="244475"/>
                      </a:cubicBezTo>
                      <a:lnTo>
                        <a:pt x="52387" y="244475"/>
                      </a:lnTo>
                      <a:cubicBezTo>
                        <a:pt x="23455" y="244475"/>
                        <a:pt x="0" y="221020"/>
                        <a:pt x="0" y="192087"/>
                      </a:cubicBezTo>
                      <a:lnTo>
                        <a:pt x="0" y="52387"/>
                      </a:lnTo>
                    </a:path>
                  </a:pathLst>
                </a:custGeom>
                <a:noFill/>
                <a:ln w="26194">
                  <a:solidFill>
                    <a:srgbClr val="841600"/>
                  </a:solidFill>
                </a:ln>
              </p:spPr>
            </p:sp>
            <p:sp>
              <p:nvSpPr>
                <p:cNvPr id="85" name="Freeform 85"/>
                <p:cNvSpPr/>
                <p:nvPr/>
              </p:nvSpPr>
              <p:spPr>
                <a:xfrm>
                  <a:off x="6834187" y="3260725"/>
                  <a:ext cx="314324" cy="9525"/>
                </a:xfrm>
                <a:custGeom>
                  <a:avLst/>
                  <a:gdLst/>
                  <a:ahLst/>
                  <a:cxnLst/>
                  <a:rect l="l" t="t" r="r" b="b"/>
                  <a:pathLst>
                    <a:path w="314324" h="9525">
                      <a:moveTo>
                        <a:pt x="0" y="0"/>
                      </a:moveTo>
                      <a:lnTo>
                        <a:pt x="314324" y="0"/>
                      </a:lnTo>
                    </a:path>
                  </a:pathLst>
                </a:custGeom>
                <a:noFill/>
                <a:ln w="26194">
                  <a:solidFill>
                    <a:srgbClr val="841600"/>
                  </a:solidFill>
                </a:ln>
              </p:spPr>
            </p:sp>
            <p:sp>
              <p:nvSpPr>
                <p:cNvPr id="86" name="Freeform 86"/>
                <p:cNvSpPr/>
                <p:nvPr/>
              </p:nvSpPr>
              <p:spPr>
                <a:xfrm>
                  <a:off x="6904037" y="3348037"/>
                  <a:ext cx="9525" cy="9525"/>
                </a:xfrm>
                <a:custGeom>
                  <a:avLst/>
                  <a:gdLst/>
                  <a:ahLst/>
                  <a:cxnLst/>
                  <a:rect l="l" t="t" r="r" b="b"/>
                  <a:pathLst>
                    <a:path w="9525" h="9525">
                      <a:moveTo>
                        <a:pt x="0" y="0"/>
                      </a:moveTo>
                      <a:lnTo>
                        <a:pt x="175" y="0"/>
                      </a:lnTo>
                    </a:path>
                  </a:pathLst>
                </a:custGeom>
                <a:noFill/>
                <a:ln w="26194">
                  <a:solidFill>
                    <a:srgbClr val="841600"/>
                  </a:solidFill>
                </a:ln>
              </p:spPr>
            </p:sp>
            <p:sp>
              <p:nvSpPr>
                <p:cNvPr id="87" name="Freeform 87"/>
                <p:cNvSpPr/>
                <p:nvPr/>
              </p:nvSpPr>
              <p:spPr>
                <a:xfrm>
                  <a:off x="6973887" y="3348037"/>
                  <a:ext cx="34925" cy="9525"/>
                </a:xfrm>
                <a:custGeom>
                  <a:avLst/>
                  <a:gdLst/>
                  <a:ahLst/>
                  <a:cxnLst/>
                  <a:rect l="l" t="t" r="r" b="b"/>
                  <a:pathLst>
                    <a:path w="34925" h="9525">
                      <a:moveTo>
                        <a:pt x="0" y="0"/>
                      </a:moveTo>
                      <a:lnTo>
                        <a:pt x="34925" y="0"/>
                      </a:lnTo>
                    </a:path>
                  </a:pathLst>
                </a:custGeom>
                <a:noFill/>
                <a:ln w="26194">
                  <a:solidFill>
                    <a:srgbClr val="841600"/>
                  </a:solidFill>
                </a:ln>
              </p:spPr>
            </p:sp>
          </p:grpSp>
          <p:sp>
            <p:nvSpPr>
              <p:cNvPr id="89" name="TextBox 89"/>
              <p:cNvSpPr txBox="1"/>
              <p:nvPr/>
            </p:nvSpPr>
            <p:spPr>
              <a:xfrm>
                <a:off x="6662166" y="3851910"/>
                <a:ext cx="658368"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消费金融</a:t>
                </a:r>
              </a:p>
            </p:txBody>
          </p:sp>
        </p:grpSp>
        <p:sp>
          <p:nvSpPr>
            <p:cNvPr id="91" name="Rectangle 91"/>
            <p:cNvSpPr/>
            <p:nvPr/>
          </p:nvSpPr>
          <p:spPr>
            <a:xfrm>
              <a:off x="4248150" y="4438650"/>
              <a:ext cx="3619500" cy="419100"/>
            </a:xfrm>
            <a:prstGeom prst="roundRect">
              <a:avLst>
                <a:gd name="adj" fmla="val 13636"/>
              </a:avLst>
            </a:prstGeom>
            <a:solidFill>
              <a:srgbClr val="EFF5FD"/>
            </a:solidFill>
            <a:ln>
              <a:noFill/>
            </a:ln>
          </p:spPr>
        </p:sp>
        <p:sp>
          <p:nvSpPr>
            <p:cNvPr id="92" name="TextBox 92"/>
            <p:cNvSpPr txBox="1"/>
            <p:nvPr/>
          </p:nvSpPr>
          <p:spPr>
            <a:xfrm>
              <a:off x="5275136" y="4592002"/>
              <a:ext cx="1565529"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名单制管理｜穿透式监测</a:t>
              </a:r>
            </a:p>
          </p:txBody>
        </p:sp>
      </p:grpSp>
      <p:grpSp>
        <p:nvGrpSpPr>
          <p:cNvPr id="145" name="disposal-paths"/>
          <p:cNvGrpSpPr/>
          <p:nvPr/>
        </p:nvGrpSpPr>
        <p:grpSpPr>
          <a:xfrm>
            <a:off x="8077200" y="876300"/>
            <a:ext cx="3848100" cy="4171950"/>
            <a:chOff x="8077200" y="876300"/>
            <a:chExt cx="3848100" cy="4171950"/>
          </a:xfrm>
        </p:grpSpPr>
        <p:sp>
          <p:nvSpPr>
            <p:cNvPr id="94" name="Rectangle 94"/>
            <p:cNvSpPr/>
            <p:nvPr/>
          </p:nvSpPr>
          <p:spPr>
            <a:xfrm>
              <a:off x="8077200" y="876300"/>
              <a:ext cx="3848100" cy="4171950"/>
            </a:xfrm>
            <a:prstGeom prst="roundRect">
              <a:avLst>
                <a:gd name="adj" fmla="val 2475"/>
              </a:avLst>
            </a:prstGeom>
            <a:solidFill>
              <a:srgbClr val="FFFFFF"/>
            </a:solidFill>
            <a:ln w="9525">
              <a:solidFill>
                <a:srgbClr val="D7E2F2"/>
              </a:solidFill>
            </a:ln>
          </p:spPr>
        </p:sp>
        <p:sp>
          <p:nvSpPr>
            <p:cNvPr id="95" name="Rectangle 95"/>
            <p:cNvSpPr/>
            <p:nvPr/>
          </p:nvSpPr>
          <p:spPr>
            <a:xfrm>
              <a:off x="8077200" y="876300"/>
              <a:ext cx="3848100" cy="381000"/>
            </a:xfrm>
            <a:prstGeom prst="roundRect">
              <a:avLst>
                <a:gd name="adj" fmla="val 25000"/>
              </a:avLst>
            </a:prstGeom>
            <a:solidFill>
              <a:srgbClr val="841600"/>
            </a:solidFill>
            <a:ln>
              <a:noFill/>
            </a:ln>
          </p:spPr>
        </p:sp>
        <p:sp>
          <p:nvSpPr>
            <p:cNvPr id="96" name="Rectangle 96"/>
            <p:cNvSpPr/>
            <p:nvPr/>
          </p:nvSpPr>
          <p:spPr>
            <a:xfrm>
              <a:off x="8077200" y="1085850"/>
              <a:ext cx="3848100" cy="171450"/>
            </a:xfrm>
            <a:prstGeom prst="rect">
              <a:avLst/>
            </a:prstGeom>
            <a:solidFill>
              <a:srgbClr val="841600"/>
            </a:solidFill>
            <a:ln>
              <a:noFill/>
            </a:ln>
          </p:spPr>
        </p:sp>
        <p:sp>
          <p:nvSpPr>
            <p:cNvPr id="97" name="TextBox 97"/>
            <p:cNvSpPr txBox="1"/>
            <p:nvPr/>
          </p:nvSpPr>
          <p:spPr>
            <a:xfrm>
              <a:off x="9510522" y="100393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五类处置路径</a:t>
              </a:r>
            </a:p>
          </p:txBody>
        </p:sp>
        <p:grpSp>
          <p:nvGrpSpPr>
            <p:cNvPr id="106" name="path-1"/>
            <p:cNvGrpSpPr/>
            <p:nvPr/>
          </p:nvGrpSpPr>
          <p:grpSpPr>
            <a:xfrm>
              <a:off x="8210550" y="1390650"/>
              <a:ext cx="3581400" cy="571500"/>
              <a:chOff x="8210550" y="1390650"/>
              <a:chExt cx="3581400" cy="571500"/>
            </a:xfrm>
          </p:grpSpPr>
          <p:sp>
            <p:nvSpPr>
              <p:cNvPr id="98" name="Rectangle 98"/>
              <p:cNvSpPr/>
              <p:nvPr/>
            </p:nvSpPr>
            <p:spPr>
              <a:xfrm>
                <a:off x="8210550" y="1390650"/>
                <a:ext cx="3581400" cy="571500"/>
              </a:xfrm>
              <a:prstGeom prst="roundRect">
                <a:avLst>
                  <a:gd name="adj" fmla="val 10000"/>
                </a:avLst>
              </a:prstGeom>
              <a:solidFill>
                <a:srgbClr val="EFF5FD"/>
              </a:solidFill>
              <a:ln w="9525">
                <a:solidFill>
                  <a:srgbClr val="D7E2F2"/>
                </a:solidFill>
              </a:ln>
            </p:spPr>
          </p:sp>
          <p:sp>
            <p:nvSpPr>
              <p:cNvPr id="99" name="Rectangle 99"/>
              <p:cNvSpPr/>
              <p:nvPr/>
            </p:nvSpPr>
            <p:spPr>
              <a:xfrm>
                <a:off x="8305800" y="1485900"/>
                <a:ext cx="381000" cy="381000"/>
              </a:xfrm>
              <a:prstGeom prst="roundRect">
                <a:avLst>
                  <a:gd name="adj" fmla="val 15000"/>
                </a:avLst>
              </a:prstGeom>
              <a:solidFill>
                <a:srgbClr val="841600"/>
              </a:solidFill>
              <a:ln>
                <a:noFill/>
              </a:ln>
            </p:spPr>
          </p:sp>
          <p:sp>
            <p:nvSpPr>
              <p:cNvPr id="100" name="TextBox 100"/>
              <p:cNvSpPr txBox="1"/>
              <p:nvPr/>
            </p:nvSpPr>
            <p:spPr>
              <a:xfrm>
                <a:off x="8403513" y="161210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01</a:t>
                </a:r>
              </a:p>
            </p:txBody>
          </p:sp>
          <p:grpSp>
            <p:nvGrpSpPr>
              <p:cNvPr id="104" name="Group 104"/>
              <p:cNvGrpSpPr/>
              <p:nvPr/>
            </p:nvGrpSpPr>
            <p:grpSpPr>
              <a:xfrm>
                <a:off x="8891588" y="1598613"/>
                <a:ext cx="200025" cy="155575"/>
                <a:chOff x="8891588" y="1598613"/>
                <a:chExt cx="200025" cy="155575"/>
              </a:xfrm>
            </p:grpSpPr>
            <p:sp>
              <p:nvSpPr>
                <p:cNvPr id="101" name="Freeform 101"/>
                <p:cNvSpPr/>
                <p:nvPr/>
              </p:nvSpPr>
              <p:spPr>
                <a:xfrm>
                  <a:off x="8891588" y="1598613"/>
                  <a:ext cx="155575" cy="111125"/>
                </a:xfrm>
                <a:custGeom>
                  <a:avLst/>
                  <a:gdLst/>
                  <a:ahLst/>
                  <a:cxnLst/>
                  <a:rect l="l" t="t" r="r" b="b"/>
                  <a:pathLst>
                    <a:path w="155575" h="111125">
                      <a:moveTo>
                        <a:pt x="44450" y="111125"/>
                      </a:moveTo>
                      <a:lnTo>
                        <a:pt x="11113" y="111125"/>
                      </a:lnTo>
                      <a:cubicBezTo>
                        <a:pt x="4975" y="111125"/>
                        <a:pt x="0" y="106150"/>
                        <a:pt x="0" y="100013"/>
                      </a:cubicBezTo>
                      <a:lnTo>
                        <a:pt x="0" y="11113"/>
                      </a:lnTo>
                      <a:cubicBezTo>
                        <a:pt x="0" y="4975"/>
                        <a:pt x="4975" y="0"/>
                        <a:pt x="11113" y="0"/>
                      </a:cubicBezTo>
                      <a:lnTo>
                        <a:pt x="144463" y="0"/>
                      </a:lnTo>
                      <a:cubicBezTo>
                        <a:pt x="150600" y="0"/>
                        <a:pt x="155575" y="4975"/>
                        <a:pt x="155575" y="11113"/>
                      </a:cubicBezTo>
                      <a:lnTo>
                        <a:pt x="155575" y="44450"/>
                      </a:lnTo>
                    </a:path>
                  </a:pathLst>
                </a:custGeom>
                <a:noFill/>
                <a:ln w="16669">
                  <a:solidFill>
                    <a:srgbClr val="841600"/>
                  </a:solidFill>
                </a:ln>
              </p:spPr>
            </p:sp>
            <p:sp>
              <p:nvSpPr>
                <p:cNvPr id="102" name="Freeform 102"/>
                <p:cNvSpPr/>
                <p:nvPr/>
              </p:nvSpPr>
              <p:spPr>
                <a:xfrm>
                  <a:off x="8936038" y="1643063"/>
                  <a:ext cx="155575" cy="111125"/>
                </a:xfrm>
                <a:custGeom>
                  <a:avLst/>
                  <a:gdLst/>
                  <a:ahLst/>
                  <a:cxnLst/>
                  <a:rect l="l" t="t" r="r" b="b"/>
                  <a:pathLst>
                    <a:path w="155575" h="111125">
                      <a:moveTo>
                        <a:pt x="0" y="11113"/>
                      </a:moveTo>
                      <a:cubicBezTo>
                        <a:pt x="0" y="4975"/>
                        <a:pt x="4975" y="0"/>
                        <a:pt x="11113" y="0"/>
                      </a:cubicBezTo>
                      <a:lnTo>
                        <a:pt x="144463" y="0"/>
                      </a:lnTo>
                      <a:cubicBezTo>
                        <a:pt x="150600" y="0"/>
                        <a:pt x="155575" y="4975"/>
                        <a:pt x="155575" y="11113"/>
                      </a:cubicBezTo>
                      <a:lnTo>
                        <a:pt x="155575" y="100013"/>
                      </a:lnTo>
                      <a:cubicBezTo>
                        <a:pt x="155575" y="106150"/>
                        <a:pt x="150600" y="111125"/>
                        <a:pt x="144463" y="111125"/>
                      </a:cubicBezTo>
                      <a:lnTo>
                        <a:pt x="11113" y="111125"/>
                      </a:lnTo>
                      <a:cubicBezTo>
                        <a:pt x="4975" y="111125"/>
                        <a:pt x="0" y="106150"/>
                        <a:pt x="0" y="100013"/>
                      </a:cubicBezTo>
                      <a:lnTo>
                        <a:pt x="0" y="11113"/>
                      </a:lnTo>
                    </a:path>
                  </a:pathLst>
                </a:custGeom>
                <a:noFill/>
                <a:ln w="16669">
                  <a:solidFill>
                    <a:srgbClr val="841600"/>
                  </a:solidFill>
                </a:ln>
              </p:spPr>
            </p:sp>
            <p:sp>
              <p:nvSpPr>
                <p:cNvPr id="103" name="Freeform 103"/>
                <p:cNvSpPr/>
                <p:nvPr/>
              </p:nvSpPr>
              <p:spPr>
                <a:xfrm>
                  <a:off x="8991600" y="167640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41600"/>
                  </a:solidFill>
                </a:ln>
              </p:spPr>
            </p:sp>
          </p:grpSp>
          <p:sp>
            <p:nvSpPr>
              <p:cNvPr id="105" name="TextBox 105"/>
              <p:cNvSpPr txBox="1"/>
              <p:nvPr/>
            </p:nvSpPr>
            <p:spPr>
              <a:xfrm>
                <a:off x="9271254" y="1623060"/>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现金清收</a:t>
                </a:r>
              </a:p>
            </p:txBody>
          </p:sp>
        </p:grpSp>
        <p:grpSp>
          <p:nvGrpSpPr>
            <p:cNvPr id="114" name="path-2"/>
            <p:cNvGrpSpPr/>
            <p:nvPr/>
          </p:nvGrpSpPr>
          <p:grpSpPr>
            <a:xfrm>
              <a:off x="8210550" y="2057400"/>
              <a:ext cx="3581400" cy="571500"/>
              <a:chOff x="8210550" y="2057400"/>
              <a:chExt cx="3581400" cy="571500"/>
            </a:xfrm>
          </p:grpSpPr>
          <p:sp>
            <p:nvSpPr>
              <p:cNvPr id="107" name="Rectangle 107"/>
              <p:cNvSpPr/>
              <p:nvPr/>
            </p:nvSpPr>
            <p:spPr>
              <a:xfrm>
                <a:off x="8210550" y="2057400"/>
                <a:ext cx="3581400" cy="571500"/>
              </a:xfrm>
              <a:prstGeom prst="roundRect">
                <a:avLst>
                  <a:gd name="adj" fmla="val 10000"/>
                </a:avLst>
              </a:prstGeom>
              <a:solidFill>
                <a:srgbClr val="EFF5FD"/>
              </a:solidFill>
              <a:ln w="9525">
                <a:solidFill>
                  <a:srgbClr val="D7E2F2"/>
                </a:solidFill>
              </a:ln>
            </p:spPr>
          </p:sp>
          <p:sp>
            <p:nvSpPr>
              <p:cNvPr id="108" name="Rectangle 108"/>
              <p:cNvSpPr/>
              <p:nvPr/>
            </p:nvSpPr>
            <p:spPr>
              <a:xfrm>
                <a:off x="8305800" y="2152650"/>
                <a:ext cx="381000" cy="381000"/>
              </a:xfrm>
              <a:prstGeom prst="roundRect">
                <a:avLst>
                  <a:gd name="adj" fmla="val 15000"/>
                </a:avLst>
              </a:prstGeom>
              <a:solidFill>
                <a:srgbClr val="841600"/>
              </a:solidFill>
              <a:ln>
                <a:noFill/>
              </a:ln>
            </p:spPr>
          </p:sp>
          <p:sp>
            <p:nvSpPr>
              <p:cNvPr id="109" name="TextBox 109"/>
              <p:cNvSpPr txBox="1"/>
              <p:nvPr/>
            </p:nvSpPr>
            <p:spPr>
              <a:xfrm>
                <a:off x="8403513" y="227885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02</a:t>
                </a:r>
              </a:p>
            </p:txBody>
          </p:sp>
          <p:grpSp>
            <p:nvGrpSpPr>
              <p:cNvPr id="112" name="Group 112"/>
              <p:cNvGrpSpPr/>
              <p:nvPr/>
            </p:nvGrpSpPr>
            <p:grpSpPr>
              <a:xfrm>
                <a:off x="8891588" y="2276475"/>
                <a:ext cx="200025" cy="133350"/>
                <a:chOff x="8891588" y="2276475"/>
                <a:chExt cx="200025" cy="133350"/>
              </a:xfrm>
            </p:grpSpPr>
            <p:sp>
              <p:nvSpPr>
                <p:cNvPr id="110" name="Freeform 110"/>
                <p:cNvSpPr/>
                <p:nvPr/>
              </p:nvSpPr>
              <p:spPr>
                <a:xfrm>
                  <a:off x="8936038" y="2276475"/>
                  <a:ext cx="155575" cy="44450"/>
                </a:xfrm>
                <a:custGeom>
                  <a:avLst/>
                  <a:gdLst/>
                  <a:ahLst/>
                  <a:cxnLst/>
                  <a:rect l="l" t="t" r="r" b="b"/>
                  <a:pathLst>
                    <a:path w="155575" h="44450">
                      <a:moveTo>
                        <a:pt x="0" y="44450"/>
                      </a:moveTo>
                      <a:lnTo>
                        <a:pt x="155575" y="44450"/>
                      </a:lnTo>
                      <a:lnTo>
                        <a:pt x="111125" y="0"/>
                      </a:lnTo>
                    </a:path>
                  </a:pathLst>
                </a:custGeom>
                <a:noFill/>
                <a:ln w="16669">
                  <a:solidFill>
                    <a:srgbClr val="841600"/>
                  </a:solidFill>
                </a:ln>
              </p:spPr>
            </p:sp>
            <p:sp>
              <p:nvSpPr>
                <p:cNvPr id="111" name="Freeform 111"/>
                <p:cNvSpPr/>
                <p:nvPr/>
              </p:nvSpPr>
              <p:spPr>
                <a:xfrm>
                  <a:off x="8891588" y="2365375"/>
                  <a:ext cx="155575" cy="44450"/>
                </a:xfrm>
                <a:custGeom>
                  <a:avLst/>
                  <a:gdLst/>
                  <a:ahLst/>
                  <a:cxnLst/>
                  <a:rect l="l" t="t" r="r" b="b"/>
                  <a:pathLst>
                    <a:path w="155575" h="44450">
                      <a:moveTo>
                        <a:pt x="155575" y="0"/>
                      </a:moveTo>
                      <a:lnTo>
                        <a:pt x="0" y="0"/>
                      </a:lnTo>
                      <a:lnTo>
                        <a:pt x="44450" y="44450"/>
                      </a:lnTo>
                    </a:path>
                  </a:pathLst>
                </a:custGeom>
                <a:noFill/>
                <a:ln w="16669">
                  <a:solidFill>
                    <a:srgbClr val="841600"/>
                  </a:solidFill>
                </a:ln>
              </p:spPr>
            </p:sp>
          </p:grpSp>
          <p:sp>
            <p:nvSpPr>
              <p:cNvPr id="113" name="TextBox 113"/>
              <p:cNvSpPr txBox="1"/>
              <p:nvPr/>
            </p:nvSpPr>
            <p:spPr>
              <a:xfrm>
                <a:off x="9271254" y="2289810"/>
                <a:ext cx="335280"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重组</a:t>
                </a:r>
              </a:p>
            </p:txBody>
          </p:sp>
        </p:grpSp>
        <p:grpSp>
          <p:nvGrpSpPr>
            <p:cNvPr id="125" name="path-3"/>
            <p:cNvGrpSpPr/>
            <p:nvPr/>
          </p:nvGrpSpPr>
          <p:grpSpPr>
            <a:xfrm>
              <a:off x="8210550" y="2724150"/>
              <a:ext cx="3581400" cy="571500"/>
              <a:chOff x="8210550" y="2724150"/>
              <a:chExt cx="3581400" cy="571500"/>
            </a:xfrm>
          </p:grpSpPr>
          <p:sp>
            <p:nvSpPr>
              <p:cNvPr id="115" name="Rectangle 115"/>
              <p:cNvSpPr/>
              <p:nvPr/>
            </p:nvSpPr>
            <p:spPr>
              <a:xfrm>
                <a:off x="8210550" y="2724150"/>
                <a:ext cx="3581400" cy="571500"/>
              </a:xfrm>
              <a:prstGeom prst="roundRect">
                <a:avLst>
                  <a:gd name="adj" fmla="val 10000"/>
                </a:avLst>
              </a:prstGeom>
              <a:solidFill>
                <a:srgbClr val="EFF5FD"/>
              </a:solidFill>
              <a:ln w="9525">
                <a:solidFill>
                  <a:srgbClr val="D7E2F2"/>
                </a:solidFill>
              </a:ln>
            </p:spPr>
          </p:sp>
          <p:sp>
            <p:nvSpPr>
              <p:cNvPr id="116" name="Rectangle 116"/>
              <p:cNvSpPr/>
              <p:nvPr/>
            </p:nvSpPr>
            <p:spPr>
              <a:xfrm>
                <a:off x="8305800" y="2819400"/>
                <a:ext cx="381000" cy="381000"/>
              </a:xfrm>
              <a:prstGeom prst="roundRect">
                <a:avLst>
                  <a:gd name="adj" fmla="val 15000"/>
                </a:avLst>
              </a:prstGeom>
              <a:solidFill>
                <a:srgbClr val="841600"/>
              </a:solidFill>
              <a:ln>
                <a:noFill/>
              </a:ln>
            </p:spPr>
          </p:sp>
          <p:sp>
            <p:nvSpPr>
              <p:cNvPr id="117" name="TextBox 117"/>
              <p:cNvSpPr txBox="1"/>
              <p:nvPr/>
            </p:nvSpPr>
            <p:spPr>
              <a:xfrm>
                <a:off x="8403513" y="294560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03</a:t>
                </a:r>
              </a:p>
            </p:txBody>
          </p:sp>
          <p:grpSp>
            <p:nvGrpSpPr>
              <p:cNvPr id="123" name="Group 123"/>
              <p:cNvGrpSpPr/>
              <p:nvPr/>
            </p:nvGrpSpPr>
            <p:grpSpPr>
              <a:xfrm>
                <a:off x="8913813" y="2909888"/>
                <a:ext cx="155575" cy="200026"/>
                <a:chOff x="8913813" y="2909888"/>
                <a:chExt cx="155575" cy="200026"/>
              </a:xfrm>
            </p:grpSpPr>
            <p:sp>
              <p:nvSpPr>
                <p:cNvPr id="118" name="Freeform 118"/>
                <p:cNvSpPr/>
                <p:nvPr/>
              </p:nvSpPr>
              <p:spPr>
                <a:xfrm>
                  <a:off x="9013825" y="2909888"/>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16669">
                  <a:solidFill>
                    <a:srgbClr val="841600"/>
                  </a:solidFill>
                </a:ln>
              </p:spPr>
            </p:sp>
            <p:sp>
              <p:nvSpPr>
                <p:cNvPr id="119" name="Freeform 119"/>
                <p:cNvSpPr/>
                <p:nvPr/>
              </p:nvSpPr>
              <p:spPr>
                <a:xfrm>
                  <a:off x="8913813" y="2909888"/>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16669">
                  <a:solidFill>
                    <a:srgbClr val="841600"/>
                  </a:solidFill>
                </a:ln>
              </p:spPr>
            </p:sp>
            <p:sp>
              <p:nvSpPr>
                <p:cNvPr id="120" name="Freeform 120"/>
                <p:cNvSpPr/>
                <p:nvPr/>
              </p:nvSpPr>
              <p:spPr>
                <a:xfrm>
                  <a:off x="8958263" y="2976563"/>
                  <a:ext cx="11113" cy="9525"/>
                </a:xfrm>
                <a:custGeom>
                  <a:avLst/>
                  <a:gdLst/>
                  <a:ahLst/>
                  <a:cxnLst/>
                  <a:rect l="l" t="t" r="r" b="b"/>
                  <a:pathLst>
                    <a:path w="11113" h="9525">
                      <a:moveTo>
                        <a:pt x="0" y="0"/>
                      </a:moveTo>
                      <a:lnTo>
                        <a:pt x="11113" y="0"/>
                      </a:lnTo>
                    </a:path>
                  </a:pathLst>
                </a:custGeom>
                <a:noFill/>
                <a:ln w="16669">
                  <a:solidFill>
                    <a:srgbClr val="841600"/>
                  </a:solidFill>
                </a:ln>
              </p:spPr>
            </p:sp>
            <p:sp>
              <p:nvSpPr>
                <p:cNvPr id="121" name="Freeform 121"/>
                <p:cNvSpPr/>
                <p:nvPr/>
              </p:nvSpPr>
              <p:spPr>
                <a:xfrm>
                  <a:off x="8958263" y="3021013"/>
                  <a:ext cx="66675" cy="9525"/>
                </a:xfrm>
                <a:custGeom>
                  <a:avLst/>
                  <a:gdLst/>
                  <a:ahLst/>
                  <a:cxnLst/>
                  <a:rect l="l" t="t" r="r" b="b"/>
                  <a:pathLst>
                    <a:path w="66675" h="9525">
                      <a:moveTo>
                        <a:pt x="0" y="0"/>
                      </a:moveTo>
                      <a:lnTo>
                        <a:pt x="66675" y="0"/>
                      </a:lnTo>
                    </a:path>
                  </a:pathLst>
                </a:custGeom>
                <a:noFill/>
                <a:ln w="16669">
                  <a:solidFill>
                    <a:srgbClr val="841600"/>
                  </a:solidFill>
                </a:ln>
              </p:spPr>
            </p:sp>
            <p:sp>
              <p:nvSpPr>
                <p:cNvPr id="122" name="Freeform 122"/>
                <p:cNvSpPr/>
                <p:nvPr/>
              </p:nvSpPr>
              <p:spPr>
                <a:xfrm>
                  <a:off x="8958263" y="3065463"/>
                  <a:ext cx="66675" cy="9525"/>
                </a:xfrm>
                <a:custGeom>
                  <a:avLst/>
                  <a:gdLst/>
                  <a:ahLst/>
                  <a:cxnLst/>
                  <a:rect l="l" t="t" r="r" b="b"/>
                  <a:pathLst>
                    <a:path w="66675" h="9525">
                      <a:moveTo>
                        <a:pt x="0" y="0"/>
                      </a:moveTo>
                      <a:lnTo>
                        <a:pt x="66675" y="0"/>
                      </a:lnTo>
                    </a:path>
                  </a:pathLst>
                </a:custGeom>
                <a:noFill/>
                <a:ln w="16669">
                  <a:solidFill>
                    <a:srgbClr val="841600"/>
                  </a:solidFill>
                </a:ln>
              </p:spPr>
            </p:sp>
          </p:grpSp>
          <p:sp>
            <p:nvSpPr>
              <p:cNvPr id="124" name="TextBox 124"/>
              <p:cNvSpPr txBox="1"/>
              <p:nvPr/>
            </p:nvSpPr>
            <p:spPr>
              <a:xfrm>
                <a:off x="9271254" y="2956560"/>
                <a:ext cx="335280"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转让</a:t>
                </a:r>
              </a:p>
            </p:txBody>
          </p:sp>
        </p:grpSp>
        <p:grpSp>
          <p:nvGrpSpPr>
            <p:cNvPr id="133" name="path-4"/>
            <p:cNvGrpSpPr/>
            <p:nvPr/>
          </p:nvGrpSpPr>
          <p:grpSpPr>
            <a:xfrm>
              <a:off x="8210550" y="3390900"/>
              <a:ext cx="3581400" cy="571500"/>
              <a:chOff x="8210550" y="3390900"/>
              <a:chExt cx="3581400" cy="571500"/>
            </a:xfrm>
          </p:grpSpPr>
          <p:sp>
            <p:nvSpPr>
              <p:cNvPr id="126" name="Rectangle 126"/>
              <p:cNvSpPr/>
              <p:nvPr/>
            </p:nvSpPr>
            <p:spPr>
              <a:xfrm>
                <a:off x="8210550" y="3390900"/>
                <a:ext cx="3581400" cy="571500"/>
              </a:xfrm>
              <a:prstGeom prst="roundRect">
                <a:avLst>
                  <a:gd name="adj" fmla="val 10000"/>
                </a:avLst>
              </a:prstGeom>
              <a:solidFill>
                <a:srgbClr val="EFF5FD"/>
              </a:solidFill>
              <a:ln w="9525">
                <a:solidFill>
                  <a:srgbClr val="D7E2F2"/>
                </a:solidFill>
              </a:ln>
            </p:spPr>
          </p:sp>
          <p:sp>
            <p:nvSpPr>
              <p:cNvPr id="127" name="Rectangle 127"/>
              <p:cNvSpPr/>
              <p:nvPr/>
            </p:nvSpPr>
            <p:spPr>
              <a:xfrm>
                <a:off x="8305800" y="3486150"/>
                <a:ext cx="381000" cy="381000"/>
              </a:xfrm>
              <a:prstGeom prst="roundRect">
                <a:avLst>
                  <a:gd name="adj" fmla="val 15000"/>
                </a:avLst>
              </a:prstGeom>
              <a:solidFill>
                <a:srgbClr val="841600"/>
              </a:solidFill>
              <a:ln>
                <a:noFill/>
              </a:ln>
            </p:spPr>
          </p:sp>
          <p:sp>
            <p:nvSpPr>
              <p:cNvPr id="128" name="TextBox 128"/>
              <p:cNvSpPr txBox="1"/>
              <p:nvPr/>
            </p:nvSpPr>
            <p:spPr>
              <a:xfrm>
                <a:off x="8403513" y="361235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04</a:t>
                </a:r>
              </a:p>
            </p:txBody>
          </p:sp>
          <p:grpSp>
            <p:nvGrpSpPr>
              <p:cNvPr id="131" name="Group 131"/>
              <p:cNvGrpSpPr/>
              <p:nvPr/>
            </p:nvGrpSpPr>
            <p:grpSpPr>
              <a:xfrm>
                <a:off x="8891588" y="3576638"/>
                <a:ext cx="200026" cy="200026"/>
                <a:chOff x="8891588" y="3576638"/>
                <a:chExt cx="200026" cy="200026"/>
              </a:xfrm>
            </p:grpSpPr>
            <p:sp>
              <p:nvSpPr>
                <p:cNvPr id="129" name="Freeform 129"/>
                <p:cNvSpPr/>
                <p:nvPr/>
              </p:nvSpPr>
              <p:spPr>
                <a:xfrm>
                  <a:off x="8891588" y="35766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16669">
                  <a:solidFill>
                    <a:srgbClr val="841600"/>
                  </a:solidFill>
                </a:ln>
              </p:spPr>
            </p:sp>
            <p:sp>
              <p:nvSpPr>
                <p:cNvPr id="130" name="Freeform 130"/>
                <p:cNvSpPr/>
                <p:nvPr/>
              </p:nvSpPr>
              <p:spPr>
                <a:xfrm>
                  <a:off x="8969375" y="3654425"/>
                  <a:ext cx="44450" cy="44450"/>
                </a:xfrm>
                <a:custGeom>
                  <a:avLst/>
                  <a:gdLst/>
                  <a:ahLst/>
                  <a:cxnLst/>
                  <a:rect l="l" t="t" r="r" b="b"/>
                  <a:pathLst>
                    <a:path w="44450" h="44450">
                      <a:moveTo>
                        <a:pt x="0" y="0"/>
                      </a:moveTo>
                      <a:lnTo>
                        <a:pt x="44450" y="44450"/>
                      </a:lnTo>
                      <a:moveTo>
                        <a:pt x="44450" y="0"/>
                      </a:moveTo>
                      <a:lnTo>
                        <a:pt x="0" y="44450"/>
                      </a:lnTo>
                    </a:path>
                  </a:pathLst>
                </a:custGeom>
                <a:noFill/>
                <a:ln w="16669">
                  <a:solidFill>
                    <a:srgbClr val="841600"/>
                  </a:solidFill>
                </a:ln>
              </p:spPr>
            </p:sp>
          </p:grpSp>
          <p:sp>
            <p:nvSpPr>
              <p:cNvPr id="132" name="TextBox 132"/>
              <p:cNvSpPr txBox="1"/>
              <p:nvPr/>
            </p:nvSpPr>
            <p:spPr>
              <a:xfrm>
                <a:off x="9271254" y="3623310"/>
                <a:ext cx="335280"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核销</a:t>
                </a:r>
              </a:p>
            </p:txBody>
          </p:sp>
        </p:grpSp>
        <p:grpSp>
          <p:nvGrpSpPr>
            <p:cNvPr id="144" name="path-5"/>
            <p:cNvGrpSpPr/>
            <p:nvPr/>
          </p:nvGrpSpPr>
          <p:grpSpPr>
            <a:xfrm>
              <a:off x="8210550" y="4057650"/>
              <a:ext cx="3581400" cy="571500"/>
              <a:chOff x="8210550" y="4057650"/>
              <a:chExt cx="3581400" cy="571500"/>
            </a:xfrm>
          </p:grpSpPr>
          <p:sp>
            <p:nvSpPr>
              <p:cNvPr id="134" name="Rectangle 134"/>
              <p:cNvSpPr/>
              <p:nvPr/>
            </p:nvSpPr>
            <p:spPr>
              <a:xfrm>
                <a:off x="8210550" y="4057650"/>
                <a:ext cx="3581400" cy="571500"/>
              </a:xfrm>
              <a:prstGeom prst="roundRect">
                <a:avLst>
                  <a:gd name="adj" fmla="val 10000"/>
                </a:avLst>
              </a:prstGeom>
              <a:solidFill>
                <a:srgbClr val="EFF5FD"/>
              </a:solidFill>
              <a:ln w="9525">
                <a:solidFill>
                  <a:srgbClr val="D7E2F2"/>
                </a:solidFill>
              </a:ln>
            </p:spPr>
          </p:sp>
          <p:sp>
            <p:nvSpPr>
              <p:cNvPr id="135" name="Rectangle 135"/>
              <p:cNvSpPr/>
              <p:nvPr/>
            </p:nvSpPr>
            <p:spPr>
              <a:xfrm>
                <a:off x="8305800" y="4152900"/>
                <a:ext cx="381000" cy="381000"/>
              </a:xfrm>
              <a:prstGeom prst="roundRect">
                <a:avLst>
                  <a:gd name="adj" fmla="val 15000"/>
                </a:avLst>
              </a:prstGeom>
              <a:solidFill>
                <a:srgbClr val="841600"/>
              </a:solidFill>
              <a:ln>
                <a:noFill/>
              </a:ln>
            </p:spPr>
          </p:sp>
          <p:sp>
            <p:nvSpPr>
              <p:cNvPr id="136" name="TextBox 136"/>
              <p:cNvSpPr txBox="1"/>
              <p:nvPr/>
            </p:nvSpPr>
            <p:spPr>
              <a:xfrm>
                <a:off x="8403513" y="427910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05</a:t>
                </a:r>
              </a:p>
            </p:txBody>
          </p:sp>
          <p:grpSp>
            <p:nvGrpSpPr>
              <p:cNvPr id="142" name="Group 142"/>
              <p:cNvGrpSpPr/>
              <p:nvPr/>
            </p:nvGrpSpPr>
            <p:grpSpPr>
              <a:xfrm>
                <a:off x="8889550" y="4241350"/>
                <a:ext cx="204352" cy="211588"/>
                <a:chOff x="8889550" y="4241350"/>
                <a:chExt cx="204352" cy="211588"/>
              </a:xfrm>
            </p:grpSpPr>
            <p:sp>
              <p:nvSpPr>
                <p:cNvPr id="137" name="Freeform 137"/>
                <p:cNvSpPr/>
                <p:nvPr/>
              </p:nvSpPr>
              <p:spPr>
                <a:xfrm>
                  <a:off x="8969375" y="4321175"/>
                  <a:ext cx="124527" cy="124501"/>
                </a:xfrm>
                <a:custGeom>
                  <a:avLst/>
                  <a:gdLst/>
                  <a:ahLst/>
                  <a:cxnLst/>
                  <a:rect l="l" t="t" r="r" b="b"/>
                  <a:pathLst>
                    <a:path w="124527" h="124501">
                      <a:moveTo>
                        <a:pt x="33338" y="0"/>
                      </a:moveTo>
                      <a:lnTo>
                        <a:pt x="115381" y="82433"/>
                      </a:lnTo>
                      <a:cubicBezTo>
                        <a:pt x="124527" y="91545"/>
                        <a:pt x="124527" y="106302"/>
                        <a:pt x="115381" y="115404"/>
                      </a:cubicBezTo>
                      <a:cubicBezTo>
                        <a:pt x="106235" y="124501"/>
                        <a:pt x="91457" y="124501"/>
                        <a:pt x="82311" y="115404"/>
                      </a:cubicBezTo>
                      <a:lnTo>
                        <a:pt x="0" y="33338"/>
                      </a:lnTo>
                    </a:path>
                  </a:pathLst>
                </a:custGeom>
                <a:noFill/>
                <a:ln w="16669">
                  <a:solidFill>
                    <a:srgbClr val="841600"/>
                  </a:solidFill>
                </a:ln>
              </p:spPr>
            </p:sp>
            <p:sp>
              <p:nvSpPr>
                <p:cNvPr id="138" name="Freeform 138"/>
                <p:cNvSpPr/>
                <p:nvPr/>
              </p:nvSpPr>
              <p:spPr>
                <a:xfrm>
                  <a:off x="8924925" y="4310063"/>
                  <a:ext cx="44450" cy="44450"/>
                </a:xfrm>
                <a:custGeom>
                  <a:avLst/>
                  <a:gdLst/>
                  <a:ahLst/>
                  <a:cxnLst/>
                  <a:rect l="l" t="t" r="r" b="b"/>
                  <a:pathLst>
                    <a:path w="44450" h="44450">
                      <a:moveTo>
                        <a:pt x="0" y="0"/>
                      </a:moveTo>
                      <a:lnTo>
                        <a:pt x="44450" y="44450"/>
                      </a:lnTo>
                    </a:path>
                  </a:pathLst>
                </a:custGeom>
                <a:noFill/>
                <a:ln w="16669">
                  <a:solidFill>
                    <a:srgbClr val="841600"/>
                  </a:solidFill>
                </a:ln>
              </p:spPr>
            </p:sp>
            <p:sp>
              <p:nvSpPr>
                <p:cNvPr id="139" name="Freeform 139"/>
                <p:cNvSpPr/>
                <p:nvPr/>
              </p:nvSpPr>
              <p:spPr>
                <a:xfrm>
                  <a:off x="8958263" y="4276725"/>
                  <a:ext cx="44450" cy="44450"/>
                </a:xfrm>
                <a:custGeom>
                  <a:avLst/>
                  <a:gdLst/>
                  <a:ahLst/>
                  <a:cxnLst/>
                  <a:rect l="l" t="t" r="r" b="b"/>
                  <a:pathLst>
                    <a:path w="44450" h="44450">
                      <a:moveTo>
                        <a:pt x="44450" y="44450"/>
                      </a:moveTo>
                      <a:lnTo>
                        <a:pt x="0" y="0"/>
                      </a:lnTo>
                    </a:path>
                  </a:pathLst>
                </a:custGeom>
                <a:noFill/>
                <a:ln w="16669">
                  <a:solidFill>
                    <a:srgbClr val="841600"/>
                  </a:solidFill>
                </a:ln>
              </p:spPr>
            </p:sp>
            <p:sp>
              <p:nvSpPr>
                <p:cNvPr id="140" name="Freeform 140"/>
                <p:cNvSpPr/>
                <p:nvPr/>
              </p:nvSpPr>
              <p:spPr>
                <a:xfrm>
                  <a:off x="8891588" y="4443413"/>
                  <a:ext cx="77788" cy="9525"/>
                </a:xfrm>
                <a:custGeom>
                  <a:avLst/>
                  <a:gdLst/>
                  <a:ahLst/>
                  <a:cxnLst/>
                  <a:rect l="l" t="t" r="r" b="b"/>
                  <a:pathLst>
                    <a:path w="77788" h="9525">
                      <a:moveTo>
                        <a:pt x="0" y="0"/>
                      </a:moveTo>
                      <a:lnTo>
                        <a:pt x="77788" y="0"/>
                      </a:lnTo>
                    </a:path>
                  </a:pathLst>
                </a:custGeom>
                <a:noFill/>
                <a:ln w="16669">
                  <a:solidFill>
                    <a:srgbClr val="841600"/>
                  </a:solidFill>
                </a:ln>
              </p:spPr>
            </p:sp>
            <p:sp>
              <p:nvSpPr>
                <p:cNvPr id="141" name="Freeform 141"/>
                <p:cNvSpPr/>
                <p:nvPr/>
              </p:nvSpPr>
              <p:spPr>
                <a:xfrm>
                  <a:off x="8889550" y="4241350"/>
                  <a:ext cx="148539" cy="148539"/>
                </a:xfrm>
                <a:custGeom>
                  <a:avLst/>
                  <a:gdLst/>
                  <a:ahLst/>
                  <a:cxnLst/>
                  <a:rect l="l" t="t" r="r" b="b"/>
                  <a:pathLst>
                    <a:path w="148539" h="148539">
                      <a:moveTo>
                        <a:pt x="44188" y="144200"/>
                      </a:moveTo>
                      <a:lnTo>
                        <a:pt x="4338" y="104351"/>
                      </a:lnTo>
                      <a:cubicBezTo>
                        <a:pt x="0" y="100011"/>
                        <a:pt x="0" y="92977"/>
                        <a:pt x="4338" y="88638"/>
                      </a:cubicBezTo>
                      <a:lnTo>
                        <a:pt x="29819" y="63157"/>
                      </a:lnTo>
                      <a:lnTo>
                        <a:pt x="35375" y="68713"/>
                      </a:lnTo>
                      <a:lnTo>
                        <a:pt x="68713" y="35375"/>
                      </a:lnTo>
                      <a:lnTo>
                        <a:pt x="63157" y="29819"/>
                      </a:lnTo>
                      <a:lnTo>
                        <a:pt x="88638" y="4338"/>
                      </a:lnTo>
                      <a:cubicBezTo>
                        <a:pt x="92977" y="0"/>
                        <a:pt x="100011" y="0"/>
                        <a:pt x="104351" y="4338"/>
                      </a:cubicBezTo>
                      <a:lnTo>
                        <a:pt x="144200" y="44188"/>
                      </a:lnTo>
                      <a:cubicBezTo>
                        <a:pt x="148539" y="48527"/>
                        <a:pt x="148539" y="55561"/>
                        <a:pt x="144200" y="59901"/>
                      </a:cubicBezTo>
                      <a:lnTo>
                        <a:pt x="118719" y="85382"/>
                      </a:lnTo>
                      <a:lnTo>
                        <a:pt x="113163" y="79826"/>
                      </a:lnTo>
                      <a:lnTo>
                        <a:pt x="79826" y="113163"/>
                      </a:lnTo>
                      <a:lnTo>
                        <a:pt x="85382" y="118719"/>
                      </a:lnTo>
                      <a:lnTo>
                        <a:pt x="59901" y="144200"/>
                      </a:lnTo>
                      <a:cubicBezTo>
                        <a:pt x="55561" y="148539"/>
                        <a:pt x="48527" y="148539"/>
                        <a:pt x="44188" y="144200"/>
                      </a:cubicBezTo>
                    </a:path>
                  </a:pathLst>
                </a:custGeom>
                <a:noFill/>
                <a:ln w="16669">
                  <a:solidFill>
                    <a:srgbClr val="841600"/>
                  </a:solidFill>
                </a:ln>
              </p:spPr>
            </p:sp>
          </p:grpSp>
          <p:sp>
            <p:nvSpPr>
              <p:cNvPr id="143" name="TextBox 143"/>
              <p:cNvSpPr txBox="1"/>
              <p:nvPr/>
            </p:nvSpPr>
            <p:spPr>
              <a:xfrm>
                <a:off x="9271254" y="4290060"/>
                <a:ext cx="335280"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诉讼</a:t>
                </a:r>
              </a:p>
            </p:txBody>
          </p:sp>
        </p:grpSp>
      </p:grpSp>
      <p:grpSp>
        <p:nvGrpSpPr>
          <p:cNvPr id="206" name="early-warning-band"/>
          <p:cNvGrpSpPr/>
          <p:nvPr/>
        </p:nvGrpSpPr>
        <p:grpSpPr>
          <a:xfrm>
            <a:off x="266700" y="5162550"/>
            <a:ext cx="11658600" cy="1466850"/>
            <a:chOff x="266700" y="5162550"/>
            <a:chExt cx="11658600" cy="1466850"/>
          </a:xfrm>
        </p:grpSpPr>
        <p:sp>
          <p:nvSpPr>
            <p:cNvPr id="146" name="Rectangle 146"/>
            <p:cNvSpPr/>
            <p:nvPr/>
          </p:nvSpPr>
          <p:spPr>
            <a:xfrm>
              <a:off x="266700" y="5162550"/>
              <a:ext cx="11658600" cy="1466850"/>
            </a:xfrm>
            <a:prstGeom prst="roundRect">
              <a:avLst>
                <a:gd name="adj" fmla="val 6494"/>
              </a:avLst>
            </a:prstGeom>
            <a:solidFill>
              <a:srgbClr val="FFFFFF"/>
            </a:solidFill>
            <a:ln w="9525">
              <a:solidFill>
                <a:srgbClr val="D7E2F2"/>
              </a:solidFill>
            </a:ln>
          </p:spPr>
        </p:sp>
        <p:sp>
          <p:nvSpPr>
            <p:cNvPr id="147" name="Rectangle 147"/>
            <p:cNvSpPr/>
            <p:nvPr/>
          </p:nvSpPr>
          <p:spPr>
            <a:xfrm>
              <a:off x="381000" y="5257800"/>
              <a:ext cx="1238250" cy="266700"/>
            </a:xfrm>
            <a:prstGeom prst="roundRect">
              <a:avLst>
                <a:gd name="adj" fmla="val 14286"/>
              </a:avLst>
            </a:prstGeom>
            <a:solidFill>
              <a:srgbClr val="841600"/>
            </a:solidFill>
            <a:ln>
              <a:noFill/>
            </a:ln>
          </p:spPr>
        </p:sp>
        <p:sp>
          <p:nvSpPr>
            <p:cNvPr id="148" name="TextBox 148"/>
            <p:cNvSpPr txBox="1"/>
            <p:nvPr/>
          </p:nvSpPr>
          <p:spPr>
            <a:xfrm>
              <a:off x="599389" y="53335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预警升级机制</a:t>
              </a:r>
            </a:p>
          </p:txBody>
        </p:sp>
        <p:grpSp>
          <p:nvGrpSpPr>
            <p:cNvPr id="155" name="warn-1"/>
            <p:cNvGrpSpPr/>
            <p:nvPr/>
          </p:nvGrpSpPr>
          <p:grpSpPr>
            <a:xfrm>
              <a:off x="645592" y="5715000"/>
              <a:ext cx="537616" cy="828389"/>
              <a:chOff x="645592" y="5715000"/>
              <a:chExt cx="537616" cy="828389"/>
            </a:xfrm>
          </p:grpSpPr>
          <p:sp>
            <p:nvSpPr>
              <p:cNvPr id="149" name="Ellipse 149"/>
              <p:cNvSpPr/>
              <p:nvPr/>
            </p:nvSpPr>
            <p:spPr>
              <a:xfrm>
                <a:off x="666750" y="5715000"/>
                <a:ext cx="495300" cy="495300"/>
              </a:xfrm>
              <a:prstGeom prst="ellipse">
                <a:avLst/>
              </a:prstGeom>
              <a:solidFill>
                <a:srgbClr val="FFFFFF"/>
              </a:solidFill>
              <a:ln w="14288">
                <a:solidFill>
                  <a:srgbClr val="841600"/>
                </a:solidFill>
              </a:ln>
            </p:spPr>
          </p:sp>
          <p:grpSp>
            <p:nvGrpSpPr>
              <p:cNvPr id="153" name="Group 153"/>
              <p:cNvGrpSpPr/>
              <p:nvPr/>
            </p:nvGrpSpPr>
            <p:grpSpPr>
              <a:xfrm>
                <a:off x="802329" y="5858946"/>
                <a:ext cx="224134" cy="192560"/>
                <a:chOff x="802329" y="5858946"/>
                <a:chExt cx="224134" cy="192560"/>
              </a:xfrm>
            </p:grpSpPr>
            <p:sp>
              <p:nvSpPr>
                <p:cNvPr id="150" name="Freeform 150"/>
                <p:cNvSpPr/>
                <p:nvPr/>
              </p:nvSpPr>
              <p:spPr>
                <a:xfrm>
                  <a:off x="914400" y="5929313"/>
                  <a:ext cx="9525" cy="44450"/>
                </a:xfrm>
                <a:custGeom>
                  <a:avLst/>
                  <a:gdLst/>
                  <a:ahLst/>
                  <a:cxnLst/>
                  <a:rect l="l" t="t" r="r" b="b"/>
                  <a:pathLst>
                    <a:path w="9525" h="44450">
                      <a:moveTo>
                        <a:pt x="0" y="0"/>
                      </a:moveTo>
                      <a:lnTo>
                        <a:pt x="0" y="44450"/>
                      </a:lnTo>
                    </a:path>
                  </a:pathLst>
                </a:custGeom>
                <a:noFill/>
                <a:ln w="16669">
                  <a:solidFill>
                    <a:srgbClr val="841600"/>
                  </a:solidFill>
                </a:ln>
              </p:spPr>
            </p:sp>
            <p:sp>
              <p:nvSpPr>
                <p:cNvPr id="151" name="Freeform 151"/>
                <p:cNvSpPr/>
                <p:nvPr/>
              </p:nvSpPr>
              <p:spPr>
                <a:xfrm>
                  <a:off x="802329" y="58589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6669">
                  <a:solidFill>
                    <a:srgbClr val="841600"/>
                  </a:solidFill>
                </a:ln>
              </p:spPr>
            </p:sp>
            <p:sp>
              <p:nvSpPr>
                <p:cNvPr id="152" name="Freeform 152"/>
                <p:cNvSpPr/>
                <p:nvPr/>
              </p:nvSpPr>
              <p:spPr>
                <a:xfrm>
                  <a:off x="914400" y="6007101"/>
                  <a:ext cx="9525" cy="9525"/>
                </a:xfrm>
                <a:custGeom>
                  <a:avLst/>
                  <a:gdLst/>
                  <a:ahLst/>
                  <a:cxnLst/>
                  <a:rect l="l" t="t" r="r" b="b"/>
                  <a:pathLst>
                    <a:path w="9525" h="9525">
                      <a:moveTo>
                        <a:pt x="0" y="0"/>
                      </a:moveTo>
                      <a:lnTo>
                        <a:pt x="111" y="0"/>
                      </a:lnTo>
                    </a:path>
                  </a:pathLst>
                </a:custGeom>
                <a:noFill/>
                <a:ln w="16669">
                  <a:solidFill>
                    <a:srgbClr val="841600"/>
                  </a:solidFill>
                </a:ln>
              </p:spPr>
            </p:sp>
          </p:grpSp>
          <p:sp>
            <p:nvSpPr>
              <p:cNvPr id="154" name="TextBox 154"/>
              <p:cNvSpPr txBox="1"/>
              <p:nvPr/>
            </p:nvSpPr>
            <p:spPr>
              <a:xfrm>
                <a:off x="645592" y="6352699"/>
                <a:ext cx="537616"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贷后预警</a:t>
                </a:r>
              </a:p>
            </p:txBody>
          </p:sp>
        </p:grpSp>
        <p:sp>
          <p:nvSpPr>
            <p:cNvPr id="156" name="Line 156"/>
            <p:cNvSpPr/>
            <p:nvPr/>
          </p:nvSpPr>
          <p:spPr>
            <a:xfrm>
              <a:off x="1238250" y="5962650"/>
              <a:ext cx="704850" cy="1"/>
            </a:xfrm>
            <a:prstGeom prst="line">
              <a:avLst/>
            </a:prstGeom>
            <a:noFill/>
            <a:ln w="23812">
              <a:solidFill>
                <a:srgbClr val="C9482E"/>
              </a:solidFill>
              <a:tailEnd type="triangle" w="lg" len="lg"/>
            </a:ln>
          </p:spPr>
        </p:sp>
        <p:grpSp>
          <p:nvGrpSpPr>
            <p:cNvPr id="165" name="warn-2"/>
            <p:cNvGrpSpPr/>
            <p:nvPr/>
          </p:nvGrpSpPr>
          <p:grpSpPr>
            <a:xfrm>
              <a:off x="2074342" y="5715000"/>
              <a:ext cx="537616" cy="828389"/>
              <a:chOff x="2074342" y="5715000"/>
              <a:chExt cx="537616" cy="828389"/>
            </a:xfrm>
          </p:grpSpPr>
          <p:sp>
            <p:nvSpPr>
              <p:cNvPr id="157" name="Ellipse 157"/>
              <p:cNvSpPr/>
              <p:nvPr/>
            </p:nvSpPr>
            <p:spPr>
              <a:xfrm>
                <a:off x="2095500" y="5715000"/>
                <a:ext cx="495300" cy="495300"/>
              </a:xfrm>
              <a:prstGeom prst="ellipse">
                <a:avLst/>
              </a:prstGeom>
              <a:solidFill>
                <a:srgbClr val="FFFFFF"/>
              </a:solidFill>
              <a:ln w="14288">
                <a:solidFill>
                  <a:srgbClr val="841600"/>
                </a:solidFill>
              </a:ln>
            </p:spPr>
          </p:sp>
          <p:grpSp>
            <p:nvGrpSpPr>
              <p:cNvPr id="163" name="Group 163"/>
              <p:cNvGrpSpPr/>
              <p:nvPr/>
            </p:nvGrpSpPr>
            <p:grpSpPr>
              <a:xfrm>
                <a:off x="2243138" y="5862638"/>
                <a:ext cx="200025" cy="200025"/>
                <a:chOff x="2243138" y="5862638"/>
                <a:chExt cx="200025" cy="200025"/>
              </a:xfrm>
            </p:grpSpPr>
            <p:sp>
              <p:nvSpPr>
                <p:cNvPr id="158" name="Freeform 158"/>
                <p:cNvSpPr/>
                <p:nvPr/>
              </p:nvSpPr>
              <p:spPr>
                <a:xfrm>
                  <a:off x="2243138" y="5995988"/>
                  <a:ext cx="66675" cy="66675"/>
                </a:xfrm>
                <a:custGeom>
                  <a:avLst/>
                  <a:gdLst/>
                  <a:ahLst/>
                  <a:cxnLst/>
                  <a:rect l="l" t="t" r="r" b="b"/>
                  <a:pathLst>
                    <a:path w="66675" h="66675">
                      <a:moveTo>
                        <a:pt x="0" y="22225"/>
                      </a:moveTo>
                      <a:cubicBezTo>
                        <a:pt x="0" y="9950"/>
                        <a:pt x="9950" y="0"/>
                        <a:pt x="22225" y="0"/>
                      </a:cubicBezTo>
                      <a:lnTo>
                        <a:pt x="44450" y="0"/>
                      </a:lnTo>
                      <a:cubicBezTo>
                        <a:pt x="56725" y="0"/>
                        <a:pt x="66675" y="9950"/>
                        <a:pt x="66675" y="22225"/>
                      </a:cubicBezTo>
                      <a:lnTo>
                        <a:pt x="66675" y="44450"/>
                      </a:lnTo>
                      <a:cubicBezTo>
                        <a:pt x="66675" y="56725"/>
                        <a:pt x="56725" y="66675"/>
                        <a:pt x="44450" y="66675"/>
                      </a:cubicBezTo>
                      <a:lnTo>
                        <a:pt x="22225" y="66675"/>
                      </a:lnTo>
                      <a:cubicBezTo>
                        <a:pt x="9950" y="66675"/>
                        <a:pt x="0" y="56725"/>
                        <a:pt x="0" y="44450"/>
                      </a:cubicBezTo>
                      <a:lnTo>
                        <a:pt x="0" y="22225"/>
                      </a:lnTo>
                    </a:path>
                  </a:pathLst>
                </a:custGeom>
                <a:noFill/>
                <a:ln w="16669">
                  <a:solidFill>
                    <a:srgbClr val="841600"/>
                  </a:solidFill>
                </a:ln>
              </p:spPr>
            </p:sp>
            <p:sp>
              <p:nvSpPr>
                <p:cNvPr id="159" name="Freeform 159"/>
                <p:cNvSpPr/>
                <p:nvPr/>
              </p:nvSpPr>
              <p:spPr>
                <a:xfrm>
                  <a:off x="2376488" y="5995988"/>
                  <a:ext cx="66675" cy="66675"/>
                </a:xfrm>
                <a:custGeom>
                  <a:avLst/>
                  <a:gdLst/>
                  <a:ahLst/>
                  <a:cxnLst/>
                  <a:rect l="l" t="t" r="r" b="b"/>
                  <a:pathLst>
                    <a:path w="66675" h="66675">
                      <a:moveTo>
                        <a:pt x="0" y="22225"/>
                      </a:moveTo>
                      <a:cubicBezTo>
                        <a:pt x="0" y="9950"/>
                        <a:pt x="9950" y="0"/>
                        <a:pt x="22225" y="0"/>
                      </a:cubicBezTo>
                      <a:lnTo>
                        <a:pt x="44450" y="0"/>
                      </a:lnTo>
                      <a:cubicBezTo>
                        <a:pt x="56725" y="0"/>
                        <a:pt x="66675" y="9950"/>
                        <a:pt x="66675" y="22225"/>
                      </a:cubicBezTo>
                      <a:lnTo>
                        <a:pt x="66675" y="44450"/>
                      </a:lnTo>
                      <a:cubicBezTo>
                        <a:pt x="66675" y="56725"/>
                        <a:pt x="56725" y="66675"/>
                        <a:pt x="44450" y="66675"/>
                      </a:cubicBezTo>
                      <a:lnTo>
                        <a:pt x="22225" y="66675"/>
                      </a:lnTo>
                      <a:cubicBezTo>
                        <a:pt x="9950" y="66675"/>
                        <a:pt x="0" y="56725"/>
                        <a:pt x="0" y="44450"/>
                      </a:cubicBezTo>
                      <a:lnTo>
                        <a:pt x="0" y="22225"/>
                      </a:lnTo>
                    </a:path>
                  </a:pathLst>
                </a:custGeom>
                <a:noFill/>
                <a:ln w="16669">
                  <a:solidFill>
                    <a:srgbClr val="841600"/>
                  </a:solidFill>
                </a:ln>
              </p:spPr>
            </p:sp>
            <p:sp>
              <p:nvSpPr>
                <p:cNvPr id="160" name="Freeform 160"/>
                <p:cNvSpPr/>
                <p:nvPr/>
              </p:nvSpPr>
              <p:spPr>
                <a:xfrm>
                  <a:off x="2309813" y="5862638"/>
                  <a:ext cx="66675" cy="66675"/>
                </a:xfrm>
                <a:custGeom>
                  <a:avLst/>
                  <a:gdLst/>
                  <a:ahLst/>
                  <a:cxnLst/>
                  <a:rect l="l" t="t" r="r" b="b"/>
                  <a:pathLst>
                    <a:path w="66675" h="66675">
                      <a:moveTo>
                        <a:pt x="0" y="22225"/>
                      </a:moveTo>
                      <a:cubicBezTo>
                        <a:pt x="0" y="9950"/>
                        <a:pt x="9950" y="0"/>
                        <a:pt x="22225" y="0"/>
                      </a:cubicBezTo>
                      <a:lnTo>
                        <a:pt x="44450" y="0"/>
                      </a:lnTo>
                      <a:cubicBezTo>
                        <a:pt x="56725" y="0"/>
                        <a:pt x="66675" y="9950"/>
                        <a:pt x="66675" y="22225"/>
                      </a:cubicBezTo>
                      <a:lnTo>
                        <a:pt x="66675" y="44450"/>
                      </a:lnTo>
                      <a:cubicBezTo>
                        <a:pt x="66675" y="56725"/>
                        <a:pt x="56725" y="66675"/>
                        <a:pt x="44450" y="66675"/>
                      </a:cubicBezTo>
                      <a:lnTo>
                        <a:pt x="22225" y="66675"/>
                      </a:lnTo>
                      <a:cubicBezTo>
                        <a:pt x="9950" y="66675"/>
                        <a:pt x="0" y="56725"/>
                        <a:pt x="0" y="44450"/>
                      </a:cubicBezTo>
                      <a:lnTo>
                        <a:pt x="0" y="22225"/>
                      </a:lnTo>
                    </a:path>
                  </a:pathLst>
                </a:custGeom>
                <a:noFill/>
                <a:ln w="16669">
                  <a:solidFill>
                    <a:srgbClr val="841600"/>
                  </a:solidFill>
                </a:ln>
              </p:spPr>
            </p:sp>
            <p:sp>
              <p:nvSpPr>
                <p:cNvPr id="161" name="Freeform 161"/>
                <p:cNvSpPr/>
                <p:nvPr/>
              </p:nvSpPr>
              <p:spPr>
                <a:xfrm>
                  <a:off x="2276475" y="5962650"/>
                  <a:ext cx="133350" cy="33338"/>
                </a:xfrm>
                <a:custGeom>
                  <a:avLst/>
                  <a:gdLst/>
                  <a:ahLst/>
                  <a:cxnLst/>
                  <a:rect l="l" t="t" r="r" b="b"/>
                  <a:pathLst>
                    <a:path w="133350" h="33338">
                      <a:moveTo>
                        <a:pt x="0" y="33338"/>
                      </a:moveTo>
                      <a:lnTo>
                        <a:pt x="0" y="22225"/>
                      </a:lnTo>
                      <a:cubicBezTo>
                        <a:pt x="0" y="9950"/>
                        <a:pt x="9950" y="0"/>
                        <a:pt x="22225" y="0"/>
                      </a:cubicBezTo>
                      <a:lnTo>
                        <a:pt x="111125" y="0"/>
                      </a:lnTo>
                      <a:cubicBezTo>
                        <a:pt x="123400" y="0"/>
                        <a:pt x="133350" y="9950"/>
                        <a:pt x="133350" y="22225"/>
                      </a:cubicBezTo>
                      <a:lnTo>
                        <a:pt x="133350" y="33338"/>
                      </a:lnTo>
                    </a:path>
                  </a:pathLst>
                </a:custGeom>
                <a:noFill/>
                <a:ln w="16669">
                  <a:solidFill>
                    <a:srgbClr val="841600"/>
                  </a:solidFill>
                </a:ln>
              </p:spPr>
            </p:sp>
            <p:sp>
              <p:nvSpPr>
                <p:cNvPr id="162" name="Freeform 162"/>
                <p:cNvSpPr/>
                <p:nvPr/>
              </p:nvSpPr>
              <p:spPr>
                <a:xfrm>
                  <a:off x="2343150" y="5929313"/>
                  <a:ext cx="9525" cy="33338"/>
                </a:xfrm>
                <a:custGeom>
                  <a:avLst/>
                  <a:gdLst/>
                  <a:ahLst/>
                  <a:cxnLst/>
                  <a:rect l="l" t="t" r="r" b="b"/>
                  <a:pathLst>
                    <a:path w="9525" h="33338">
                      <a:moveTo>
                        <a:pt x="0" y="0"/>
                      </a:moveTo>
                      <a:lnTo>
                        <a:pt x="0" y="33338"/>
                      </a:lnTo>
                    </a:path>
                  </a:pathLst>
                </a:custGeom>
                <a:noFill/>
                <a:ln w="16669">
                  <a:solidFill>
                    <a:srgbClr val="841600"/>
                  </a:solidFill>
                </a:ln>
              </p:spPr>
            </p:sp>
          </p:grpSp>
          <p:sp>
            <p:nvSpPr>
              <p:cNvPr id="164" name="TextBox 164"/>
              <p:cNvSpPr txBox="1"/>
              <p:nvPr/>
            </p:nvSpPr>
            <p:spPr>
              <a:xfrm>
                <a:off x="2074342" y="6352699"/>
                <a:ext cx="537616"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资金流向</a:t>
                </a:r>
              </a:p>
            </p:txBody>
          </p:sp>
        </p:grpSp>
        <p:sp>
          <p:nvSpPr>
            <p:cNvPr id="166" name="Line 166"/>
            <p:cNvSpPr/>
            <p:nvPr/>
          </p:nvSpPr>
          <p:spPr>
            <a:xfrm>
              <a:off x="2667000" y="5962650"/>
              <a:ext cx="704850" cy="1"/>
            </a:xfrm>
            <a:prstGeom prst="line">
              <a:avLst/>
            </a:prstGeom>
            <a:noFill/>
            <a:ln w="23812">
              <a:solidFill>
                <a:srgbClr val="C9482E"/>
              </a:solidFill>
              <a:tailEnd type="triangle" w="lg" len="lg"/>
            </a:ln>
          </p:spPr>
        </p:sp>
        <p:grpSp>
          <p:nvGrpSpPr>
            <p:cNvPr id="178" name="warn-3"/>
            <p:cNvGrpSpPr/>
            <p:nvPr/>
          </p:nvGrpSpPr>
          <p:grpSpPr>
            <a:xfrm>
              <a:off x="3371164" y="5715000"/>
              <a:ext cx="801472" cy="828389"/>
              <a:chOff x="3371164" y="5715000"/>
              <a:chExt cx="801472" cy="828389"/>
            </a:xfrm>
          </p:grpSpPr>
          <p:sp>
            <p:nvSpPr>
              <p:cNvPr id="167" name="Ellipse 167"/>
              <p:cNvSpPr/>
              <p:nvPr/>
            </p:nvSpPr>
            <p:spPr>
              <a:xfrm>
                <a:off x="3524250" y="5715000"/>
                <a:ext cx="495300" cy="495300"/>
              </a:xfrm>
              <a:prstGeom prst="ellipse">
                <a:avLst/>
              </a:prstGeom>
              <a:solidFill>
                <a:srgbClr val="FFFFFF"/>
              </a:solidFill>
              <a:ln w="14288">
                <a:solidFill>
                  <a:srgbClr val="841600"/>
                </a:solidFill>
              </a:ln>
            </p:spPr>
          </p:sp>
          <p:grpSp>
            <p:nvGrpSpPr>
              <p:cNvPr id="176" name="Group 176"/>
              <p:cNvGrpSpPr/>
              <p:nvPr/>
            </p:nvGrpSpPr>
            <p:grpSpPr>
              <a:xfrm>
                <a:off x="3671888" y="5862638"/>
                <a:ext cx="200026" cy="209550"/>
                <a:chOff x="3671888" y="5862638"/>
                <a:chExt cx="200026" cy="209550"/>
              </a:xfrm>
            </p:grpSpPr>
            <p:sp>
              <p:nvSpPr>
                <p:cNvPr id="168" name="Freeform 168"/>
                <p:cNvSpPr/>
                <p:nvPr/>
              </p:nvSpPr>
              <p:spPr>
                <a:xfrm>
                  <a:off x="3671888" y="6062663"/>
                  <a:ext cx="200026" cy="9525"/>
                </a:xfrm>
                <a:custGeom>
                  <a:avLst/>
                  <a:gdLst/>
                  <a:ahLst/>
                  <a:cxnLst/>
                  <a:rect l="l" t="t" r="r" b="b"/>
                  <a:pathLst>
                    <a:path w="200026" h="9525">
                      <a:moveTo>
                        <a:pt x="0" y="0"/>
                      </a:moveTo>
                      <a:lnTo>
                        <a:pt x="200026" y="0"/>
                      </a:lnTo>
                    </a:path>
                  </a:pathLst>
                </a:custGeom>
                <a:noFill/>
                <a:ln w="16669">
                  <a:solidFill>
                    <a:srgbClr val="841600"/>
                  </a:solidFill>
                </a:ln>
              </p:spPr>
            </p:sp>
            <p:sp>
              <p:nvSpPr>
                <p:cNvPr id="169" name="Freeform 169"/>
                <p:cNvSpPr/>
                <p:nvPr/>
              </p:nvSpPr>
              <p:spPr>
                <a:xfrm>
                  <a:off x="3738563" y="5918200"/>
                  <a:ext cx="11113" cy="9525"/>
                </a:xfrm>
                <a:custGeom>
                  <a:avLst/>
                  <a:gdLst/>
                  <a:ahLst/>
                  <a:cxnLst/>
                  <a:rect l="l" t="t" r="r" b="b"/>
                  <a:pathLst>
                    <a:path w="11113" h="9525">
                      <a:moveTo>
                        <a:pt x="0" y="0"/>
                      </a:moveTo>
                      <a:lnTo>
                        <a:pt x="11113" y="0"/>
                      </a:lnTo>
                    </a:path>
                  </a:pathLst>
                </a:custGeom>
                <a:noFill/>
                <a:ln w="16669">
                  <a:solidFill>
                    <a:srgbClr val="841600"/>
                  </a:solidFill>
                </a:ln>
              </p:spPr>
            </p:sp>
            <p:sp>
              <p:nvSpPr>
                <p:cNvPr id="170" name="Freeform 170"/>
                <p:cNvSpPr/>
                <p:nvPr/>
              </p:nvSpPr>
              <p:spPr>
                <a:xfrm>
                  <a:off x="3738563" y="5962650"/>
                  <a:ext cx="11113" cy="9525"/>
                </a:xfrm>
                <a:custGeom>
                  <a:avLst/>
                  <a:gdLst/>
                  <a:ahLst/>
                  <a:cxnLst/>
                  <a:rect l="l" t="t" r="r" b="b"/>
                  <a:pathLst>
                    <a:path w="11113" h="9525">
                      <a:moveTo>
                        <a:pt x="0" y="0"/>
                      </a:moveTo>
                      <a:lnTo>
                        <a:pt x="11113" y="0"/>
                      </a:lnTo>
                    </a:path>
                  </a:pathLst>
                </a:custGeom>
                <a:noFill/>
                <a:ln w="16669">
                  <a:solidFill>
                    <a:srgbClr val="841600"/>
                  </a:solidFill>
                </a:ln>
              </p:spPr>
            </p:sp>
            <p:sp>
              <p:nvSpPr>
                <p:cNvPr id="171" name="Freeform 171"/>
                <p:cNvSpPr/>
                <p:nvPr/>
              </p:nvSpPr>
              <p:spPr>
                <a:xfrm>
                  <a:off x="3738563" y="6007101"/>
                  <a:ext cx="11113" cy="9525"/>
                </a:xfrm>
                <a:custGeom>
                  <a:avLst/>
                  <a:gdLst/>
                  <a:ahLst/>
                  <a:cxnLst/>
                  <a:rect l="l" t="t" r="r" b="b"/>
                  <a:pathLst>
                    <a:path w="11113" h="9525">
                      <a:moveTo>
                        <a:pt x="0" y="0"/>
                      </a:moveTo>
                      <a:lnTo>
                        <a:pt x="11113" y="0"/>
                      </a:lnTo>
                    </a:path>
                  </a:pathLst>
                </a:custGeom>
                <a:noFill/>
                <a:ln w="16669">
                  <a:solidFill>
                    <a:srgbClr val="841600"/>
                  </a:solidFill>
                </a:ln>
              </p:spPr>
            </p:sp>
            <p:sp>
              <p:nvSpPr>
                <p:cNvPr id="172" name="Freeform 172"/>
                <p:cNvSpPr/>
                <p:nvPr/>
              </p:nvSpPr>
              <p:spPr>
                <a:xfrm>
                  <a:off x="3794125" y="5918200"/>
                  <a:ext cx="11113" cy="9525"/>
                </a:xfrm>
                <a:custGeom>
                  <a:avLst/>
                  <a:gdLst/>
                  <a:ahLst/>
                  <a:cxnLst/>
                  <a:rect l="l" t="t" r="r" b="b"/>
                  <a:pathLst>
                    <a:path w="11113" h="9525">
                      <a:moveTo>
                        <a:pt x="0" y="0"/>
                      </a:moveTo>
                      <a:lnTo>
                        <a:pt x="11113" y="0"/>
                      </a:lnTo>
                    </a:path>
                  </a:pathLst>
                </a:custGeom>
                <a:noFill/>
                <a:ln w="16669">
                  <a:solidFill>
                    <a:srgbClr val="841600"/>
                  </a:solidFill>
                </a:ln>
              </p:spPr>
            </p:sp>
            <p:sp>
              <p:nvSpPr>
                <p:cNvPr id="173" name="Freeform 173"/>
                <p:cNvSpPr/>
                <p:nvPr/>
              </p:nvSpPr>
              <p:spPr>
                <a:xfrm>
                  <a:off x="3794125" y="5962650"/>
                  <a:ext cx="11113" cy="9525"/>
                </a:xfrm>
                <a:custGeom>
                  <a:avLst/>
                  <a:gdLst/>
                  <a:ahLst/>
                  <a:cxnLst/>
                  <a:rect l="l" t="t" r="r" b="b"/>
                  <a:pathLst>
                    <a:path w="11113" h="9525">
                      <a:moveTo>
                        <a:pt x="0" y="0"/>
                      </a:moveTo>
                      <a:lnTo>
                        <a:pt x="11113" y="0"/>
                      </a:lnTo>
                    </a:path>
                  </a:pathLst>
                </a:custGeom>
                <a:noFill/>
                <a:ln w="16669">
                  <a:solidFill>
                    <a:srgbClr val="841600"/>
                  </a:solidFill>
                </a:ln>
              </p:spPr>
            </p:sp>
            <p:sp>
              <p:nvSpPr>
                <p:cNvPr id="174" name="Freeform 174"/>
                <p:cNvSpPr/>
                <p:nvPr/>
              </p:nvSpPr>
              <p:spPr>
                <a:xfrm>
                  <a:off x="3794125" y="6007101"/>
                  <a:ext cx="11113" cy="9525"/>
                </a:xfrm>
                <a:custGeom>
                  <a:avLst/>
                  <a:gdLst/>
                  <a:ahLst/>
                  <a:cxnLst/>
                  <a:rect l="l" t="t" r="r" b="b"/>
                  <a:pathLst>
                    <a:path w="11113" h="9525">
                      <a:moveTo>
                        <a:pt x="0" y="0"/>
                      </a:moveTo>
                      <a:lnTo>
                        <a:pt x="11113" y="0"/>
                      </a:lnTo>
                    </a:path>
                  </a:pathLst>
                </a:custGeom>
                <a:noFill/>
                <a:ln w="16669">
                  <a:solidFill>
                    <a:srgbClr val="841600"/>
                  </a:solidFill>
                </a:ln>
              </p:spPr>
            </p:sp>
            <p:sp>
              <p:nvSpPr>
                <p:cNvPr id="175" name="Freeform 175"/>
                <p:cNvSpPr/>
                <p:nvPr/>
              </p:nvSpPr>
              <p:spPr>
                <a:xfrm>
                  <a:off x="3694113" y="5862638"/>
                  <a:ext cx="155575" cy="200026"/>
                </a:xfrm>
                <a:custGeom>
                  <a:avLst/>
                  <a:gdLst/>
                  <a:ahLst/>
                  <a:cxnLst/>
                  <a:rect l="l" t="t" r="r" b="b"/>
                  <a:pathLst>
                    <a:path w="155575" h="200026">
                      <a:moveTo>
                        <a:pt x="0" y="200026"/>
                      </a:moveTo>
                      <a:lnTo>
                        <a:pt x="0" y="22225"/>
                      </a:lnTo>
                      <a:cubicBezTo>
                        <a:pt x="0" y="9950"/>
                        <a:pt x="9950" y="0"/>
                        <a:pt x="22225" y="0"/>
                      </a:cubicBezTo>
                      <a:lnTo>
                        <a:pt x="133350" y="0"/>
                      </a:lnTo>
                      <a:cubicBezTo>
                        <a:pt x="145625" y="0"/>
                        <a:pt x="155575" y="9950"/>
                        <a:pt x="155575" y="22225"/>
                      </a:cubicBezTo>
                      <a:lnTo>
                        <a:pt x="155575" y="200026"/>
                      </a:lnTo>
                    </a:path>
                  </a:pathLst>
                </a:custGeom>
                <a:noFill/>
                <a:ln w="16669">
                  <a:solidFill>
                    <a:srgbClr val="841600"/>
                  </a:solidFill>
                </a:ln>
              </p:spPr>
            </p:sp>
          </p:grpSp>
          <p:sp>
            <p:nvSpPr>
              <p:cNvPr id="177" name="TextBox 177"/>
              <p:cNvSpPr txBox="1"/>
              <p:nvPr/>
            </p:nvSpPr>
            <p:spPr>
              <a:xfrm>
                <a:off x="3371164" y="6352699"/>
                <a:ext cx="801472"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集团风险穿透</a:t>
                </a:r>
              </a:p>
            </p:txBody>
          </p:sp>
        </p:grpSp>
        <p:sp>
          <p:nvSpPr>
            <p:cNvPr id="179" name="Line 179"/>
            <p:cNvSpPr/>
            <p:nvPr/>
          </p:nvSpPr>
          <p:spPr>
            <a:xfrm>
              <a:off x="4667250" y="5391150"/>
              <a:ext cx="9525" cy="1085850"/>
            </a:xfrm>
            <a:custGeom>
              <a:avLst/>
              <a:gdLst/>
              <a:ahLst/>
              <a:cxnLst/>
              <a:rect l="l" t="t" r="r" b="b"/>
              <a:pathLst>
                <a:path w="9525" h="1085850">
                  <a:moveTo>
                    <a:pt x="0" y="0"/>
                  </a:moveTo>
                  <a:lnTo>
                    <a:pt x="0" y="1085850"/>
                  </a:lnTo>
                </a:path>
              </a:pathLst>
            </a:custGeom>
            <a:noFill/>
            <a:ln w="9525">
              <a:solidFill>
                <a:srgbClr val="D7E2F2"/>
              </a:solidFill>
            </a:ln>
          </p:spPr>
        </p:sp>
        <p:grpSp>
          <p:nvGrpSpPr>
            <p:cNvPr id="185" name="kpi-npl"/>
            <p:cNvGrpSpPr/>
            <p:nvPr/>
          </p:nvGrpSpPr>
          <p:grpSpPr>
            <a:xfrm>
              <a:off x="5318074" y="5529262"/>
              <a:ext cx="908153" cy="996411"/>
              <a:chOff x="5318074" y="5529262"/>
              <a:chExt cx="908153" cy="996411"/>
            </a:xfrm>
          </p:grpSpPr>
          <p:grpSp>
            <p:nvGrpSpPr>
              <p:cNvPr id="182" name="Group 182"/>
              <p:cNvGrpSpPr/>
              <p:nvPr/>
            </p:nvGrpSpPr>
            <p:grpSpPr>
              <a:xfrm>
                <a:off x="5637613" y="5529262"/>
                <a:ext cx="269075" cy="257175"/>
                <a:chOff x="5637613" y="5529262"/>
                <a:chExt cx="269075" cy="257175"/>
              </a:xfrm>
            </p:grpSpPr>
            <p:sp>
              <p:nvSpPr>
                <p:cNvPr id="180" name="Freeform 180"/>
                <p:cNvSpPr/>
                <p:nvPr/>
              </p:nvSpPr>
              <p:spPr>
                <a:xfrm>
                  <a:off x="5637613" y="5529262"/>
                  <a:ext cx="269075" cy="257175"/>
                </a:xfrm>
                <a:custGeom>
                  <a:avLst/>
                  <a:gdLst/>
                  <a:ahLst/>
                  <a:cxnLst/>
                  <a:rect l="l" t="t" r="r" b="b"/>
                  <a:pathLst>
                    <a:path w="269075" h="257175">
                      <a:moveTo>
                        <a:pt x="134537" y="0"/>
                      </a:moveTo>
                      <a:cubicBezTo>
                        <a:pt x="167911" y="29526"/>
                        <a:pt x="211468" y="44899"/>
                        <a:pt x="255981" y="42862"/>
                      </a:cubicBezTo>
                      <a:cubicBezTo>
                        <a:pt x="269075" y="87404"/>
                        <a:pt x="263545" y="135352"/>
                        <a:pt x="240656" y="175744"/>
                      </a:cubicBezTo>
                      <a:cubicBezTo>
                        <a:pt x="217768" y="216136"/>
                        <a:pt x="179477" y="245519"/>
                        <a:pt x="134537" y="257175"/>
                      </a:cubicBezTo>
                      <a:cubicBezTo>
                        <a:pt x="89598" y="245519"/>
                        <a:pt x="51307" y="216136"/>
                        <a:pt x="28418" y="175744"/>
                      </a:cubicBezTo>
                      <a:cubicBezTo>
                        <a:pt x="5530" y="135352"/>
                        <a:pt x="0" y="87404"/>
                        <a:pt x="13094" y="42862"/>
                      </a:cubicBezTo>
                      <a:cubicBezTo>
                        <a:pt x="57607" y="44899"/>
                        <a:pt x="101164" y="29526"/>
                        <a:pt x="134537" y="0"/>
                      </a:cubicBezTo>
                    </a:path>
                  </a:pathLst>
                </a:custGeom>
                <a:noFill/>
                <a:ln w="21431">
                  <a:solidFill>
                    <a:srgbClr val="841600"/>
                  </a:solidFill>
                </a:ln>
              </p:spPr>
            </p:sp>
            <p:sp>
              <p:nvSpPr>
                <p:cNvPr id="181" name="Freeform 181"/>
                <p:cNvSpPr/>
                <p:nvPr/>
              </p:nvSpPr>
              <p:spPr>
                <a:xfrm>
                  <a:off x="5772150" y="5529262"/>
                  <a:ext cx="9525" cy="257175"/>
                </a:xfrm>
                <a:custGeom>
                  <a:avLst/>
                  <a:gdLst/>
                  <a:ahLst/>
                  <a:cxnLst/>
                  <a:rect l="l" t="t" r="r" b="b"/>
                  <a:pathLst>
                    <a:path w="9525" h="257175">
                      <a:moveTo>
                        <a:pt x="0" y="0"/>
                      </a:moveTo>
                      <a:lnTo>
                        <a:pt x="0" y="257175"/>
                      </a:lnTo>
                    </a:path>
                  </a:pathLst>
                </a:custGeom>
                <a:noFill/>
                <a:ln w="21431">
                  <a:solidFill>
                    <a:srgbClr val="841600"/>
                  </a:solidFill>
                </a:ln>
              </p:spPr>
            </p:sp>
          </p:grpSp>
          <p:sp>
            <p:nvSpPr>
              <p:cNvPr id="183" name="TextBox 183"/>
              <p:cNvSpPr txBox="1"/>
              <p:nvPr/>
            </p:nvSpPr>
            <p:spPr>
              <a:xfrm>
                <a:off x="5640845" y="6013847"/>
                <a:ext cx="262611" cy="183356"/>
              </a:xfrm>
              <a:prstGeom prst="rect">
                <a:avLst/>
              </a:prstGeom>
              <a:noFill/>
              <a:ln>
                <a:noFill/>
              </a:ln>
            </p:spPr>
            <p:txBody>
              <a:bodyPr wrap="none" lIns="0" tIns="0" rIns="0" bIns="0" anchor="t" anchorCtr="0">
                <a:spAutoFit/>
              </a:bodyPr>
              <a:lstStyle/>
              <a:p>
                <a:pPr algn="ctr"/>
                <a:r>
                  <a:rPr lang="zh-CN" sz="940" dirty="0">
                    <a:solidFill>
                      <a:srgbClr val="7E605A"/>
                    </a:solidFill>
                    <a:latin typeface="+mn-lt"/>
                    <a:ea typeface="+mn-ea"/>
                    <a:cs typeface="+mn-cs"/>
                  </a:rPr>
                  <a:t>不良</a:t>
                </a:r>
              </a:p>
            </p:txBody>
          </p:sp>
          <p:sp>
            <p:nvSpPr>
              <p:cNvPr id="184" name="TextBox 184"/>
              <p:cNvSpPr txBox="1"/>
              <p:nvPr/>
            </p:nvSpPr>
            <p:spPr>
              <a:xfrm>
                <a:off x="5318074" y="6246971"/>
                <a:ext cx="908153" cy="278702"/>
              </a:xfrm>
              <a:prstGeom prst="rect">
                <a:avLst/>
              </a:prstGeom>
              <a:noFill/>
              <a:ln>
                <a:noFill/>
              </a:ln>
            </p:spPr>
            <p:txBody>
              <a:bodyPr wrap="none" lIns="0" tIns="0" rIns="0" bIns="0" anchor="t" anchorCtr="0">
                <a:spAutoFit/>
              </a:bodyPr>
              <a:lstStyle/>
              <a:p>
                <a:pPr algn="ctr"/>
                <a:r>
                  <a:rPr lang="zh-CN" sz="1420" b="1" dirty="0">
                    <a:solidFill>
                      <a:srgbClr val="841600"/>
                    </a:solidFill>
                    <a:latin typeface="+mn-lt"/>
                    <a:ea typeface="+mn-ea"/>
                    <a:cs typeface="+mn-cs"/>
                  </a:rPr>
                  <a:t xml:space="preserve">≤1.25%　</a:t>
                </a:r>
              </a:p>
            </p:txBody>
          </p:sp>
        </p:grpSp>
        <p:grpSp>
          <p:nvGrpSpPr>
            <p:cNvPr id="191" name="kpi-watch"/>
            <p:cNvGrpSpPr/>
            <p:nvPr/>
          </p:nvGrpSpPr>
          <p:grpSpPr>
            <a:xfrm>
              <a:off x="7032574" y="5572125"/>
              <a:ext cx="908153" cy="953548"/>
              <a:chOff x="7032574" y="5572125"/>
              <a:chExt cx="908153" cy="953548"/>
            </a:xfrm>
          </p:grpSpPr>
          <p:grpSp>
            <p:nvGrpSpPr>
              <p:cNvPr id="188" name="Group 188"/>
              <p:cNvGrpSpPr/>
              <p:nvPr/>
            </p:nvGrpSpPr>
            <p:grpSpPr>
              <a:xfrm>
                <a:off x="7358062" y="5572125"/>
                <a:ext cx="257175" cy="171450"/>
                <a:chOff x="7358062" y="5572125"/>
                <a:chExt cx="257175" cy="171450"/>
              </a:xfrm>
            </p:grpSpPr>
            <p:sp>
              <p:nvSpPr>
                <p:cNvPr id="186" name="Freeform 186"/>
                <p:cNvSpPr/>
                <p:nvPr/>
              </p:nvSpPr>
              <p:spPr>
                <a:xfrm>
                  <a:off x="7458075" y="562927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841600"/>
                  </a:solidFill>
                </a:ln>
              </p:spPr>
            </p:sp>
            <p:sp>
              <p:nvSpPr>
                <p:cNvPr id="187" name="Freeform 187"/>
                <p:cNvSpPr/>
                <p:nvPr/>
              </p:nvSpPr>
              <p:spPr>
                <a:xfrm>
                  <a:off x="7358062" y="5572125"/>
                  <a:ext cx="257175" cy="171450"/>
                </a:xfrm>
                <a:custGeom>
                  <a:avLst/>
                  <a:gdLst/>
                  <a:ahLst/>
                  <a:cxnLst/>
                  <a:rect l="l" t="t" r="r" b="b"/>
                  <a:pathLst>
                    <a:path w="257175" h="171450">
                      <a:moveTo>
                        <a:pt x="257175" y="85725"/>
                      </a:moveTo>
                      <a:cubicBezTo>
                        <a:pt x="222885" y="142875"/>
                        <a:pt x="180022" y="171450"/>
                        <a:pt x="128588" y="171450"/>
                      </a:cubicBezTo>
                      <a:cubicBezTo>
                        <a:pt x="77153" y="171450"/>
                        <a:pt x="34290" y="142875"/>
                        <a:pt x="0" y="85725"/>
                      </a:cubicBezTo>
                      <a:cubicBezTo>
                        <a:pt x="34290" y="28575"/>
                        <a:pt x="77153" y="0"/>
                        <a:pt x="128588" y="0"/>
                      </a:cubicBezTo>
                      <a:cubicBezTo>
                        <a:pt x="180022" y="0"/>
                        <a:pt x="222885" y="28575"/>
                        <a:pt x="257175" y="85725"/>
                      </a:cubicBezTo>
                    </a:path>
                  </a:pathLst>
                </a:custGeom>
                <a:noFill/>
                <a:ln w="21431">
                  <a:solidFill>
                    <a:srgbClr val="841600"/>
                  </a:solidFill>
                </a:ln>
              </p:spPr>
            </p:sp>
          </p:grpSp>
          <p:sp>
            <p:nvSpPr>
              <p:cNvPr id="189" name="TextBox 189"/>
              <p:cNvSpPr txBox="1"/>
              <p:nvPr/>
            </p:nvSpPr>
            <p:spPr>
              <a:xfrm>
                <a:off x="7355345" y="6013847"/>
                <a:ext cx="262611" cy="183356"/>
              </a:xfrm>
              <a:prstGeom prst="rect">
                <a:avLst/>
              </a:prstGeom>
              <a:noFill/>
              <a:ln>
                <a:noFill/>
              </a:ln>
            </p:spPr>
            <p:txBody>
              <a:bodyPr wrap="none" lIns="0" tIns="0" rIns="0" bIns="0" anchor="t" anchorCtr="0">
                <a:spAutoFit/>
              </a:bodyPr>
              <a:lstStyle/>
              <a:p>
                <a:pPr algn="ctr"/>
                <a:r>
                  <a:rPr lang="zh-CN" sz="940" dirty="0">
                    <a:solidFill>
                      <a:srgbClr val="7E605A"/>
                    </a:solidFill>
                    <a:latin typeface="+mn-lt"/>
                    <a:ea typeface="+mn-ea"/>
                    <a:cs typeface="+mn-cs"/>
                  </a:rPr>
                  <a:t>关注</a:t>
                </a:r>
              </a:p>
            </p:txBody>
          </p:sp>
          <p:sp>
            <p:nvSpPr>
              <p:cNvPr id="190" name="TextBox 190"/>
              <p:cNvSpPr txBox="1"/>
              <p:nvPr/>
            </p:nvSpPr>
            <p:spPr>
              <a:xfrm>
                <a:off x="7032574" y="6246971"/>
                <a:ext cx="908153" cy="278702"/>
              </a:xfrm>
              <a:prstGeom prst="rect">
                <a:avLst/>
              </a:prstGeom>
              <a:noFill/>
              <a:ln>
                <a:noFill/>
              </a:ln>
            </p:spPr>
            <p:txBody>
              <a:bodyPr wrap="none" lIns="0" tIns="0" rIns="0" bIns="0" anchor="t" anchorCtr="0">
                <a:spAutoFit/>
              </a:bodyPr>
              <a:lstStyle/>
              <a:p>
                <a:pPr algn="ctr"/>
                <a:r>
                  <a:rPr lang="zh-CN" sz="1420" b="1" dirty="0">
                    <a:solidFill>
                      <a:srgbClr val="841600"/>
                    </a:solidFill>
                    <a:latin typeface="+mn-lt"/>
                    <a:ea typeface="+mn-ea"/>
                    <a:cs typeface="+mn-cs"/>
                  </a:rPr>
                  <a:t xml:space="preserve">≤2.10%　</a:t>
                </a:r>
              </a:p>
            </p:txBody>
          </p:sp>
        </p:grpSp>
        <p:grpSp>
          <p:nvGrpSpPr>
            <p:cNvPr id="198" name="kpi-new-npl"/>
            <p:cNvGrpSpPr/>
            <p:nvPr/>
          </p:nvGrpSpPr>
          <p:grpSpPr>
            <a:xfrm>
              <a:off x="8781960" y="5524516"/>
              <a:ext cx="838379" cy="1001157"/>
              <a:chOff x="8781960" y="5524516"/>
              <a:chExt cx="838379" cy="1001157"/>
            </a:xfrm>
          </p:grpSpPr>
          <p:grpSp>
            <p:nvGrpSpPr>
              <p:cNvPr id="195" name="Group 195"/>
              <p:cNvGrpSpPr/>
              <p:nvPr/>
            </p:nvGrpSpPr>
            <p:grpSpPr>
              <a:xfrm>
                <a:off x="9057059" y="5524516"/>
                <a:ext cx="288171" cy="247577"/>
                <a:chOff x="9057059" y="5524516"/>
                <a:chExt cx="288171" cy="247577"/>
              </a:xfrm>
            </p:grpSpPr>
            <p:sp>
              <p:nvSpPr>
                <p:cNvPr id="192" name="Freeform 192"/>
                <p:cNvSpPr/>
                <p:nvPr/>
              </p:nvSpPr>
              <p:spPr>
                <a:xfrm>
                  <a:off x="9201150" y="5614988"/>
                  <a:ext cx="9525" cy="57150"/>
                </a:xfrm>
                <a:custGeom>
                  <a:avLst/>
                  <a:gdLst/>
                  <a:ahLst/>
                  <a:cxnLst/>
                  <a:rect l="l" t="t" r="r" b="b"/>
                  <a:pathLst>
                    <a:path w="9525" h="57150">
                      <a:moveTo>
                        <a:pt x="0" y="0"/>
                      </a:moveTo>
                      <a:lnTo>
                        <a:pt x="0" y="57150"/>
                      </a:lnTo>
                    </a:path>
                  </a:pathLst>
                </a:custGeom>
                <a:noFill/>
                <a:ln w="21431">
                  <a:solidFill>
                    <a:srgbClr val="ED4D31"/>
                  </a:solidFill>
                </a:ln>
              </p:spPr>
            </p:sp>
            <p:sp>
              <p:nvSpPr>
                <p:cNvPr id="193" name="Freeform 193"/>
                <p:cNvSpPr/>
                <p:nvPr/>
              </p:nvSpPr>
              <p:spPr>
                <a:xfrm>
                  <a:off x="9057059" y="5524516"/>
                  <a:ext cx="288171" cy="247577"/>
                </a:xfrm>
                <a:custGeom>
                  <a:avLst/>
                  <a:gdLst/>
                  <a:ahLst/>
                  <a:cxnLst/>
                  <a:rect l="l" t="t" r="r" b="b"/>
                  <a:pathLst>
                    <a:path w="288171" h="247577">
                      <a:moveTo>
                        <a:pt x="120702" y="13191"/>
                      </a:moveTo>
                      <a:lnTo>
                        <a:pt x="4888" y="206558"/>
                      </a:lnTo>
                      <a:cubicBezTo>
                        <a:pt x="30" y="214971"/>
                        <a:pt x="0" y="225330"/>
                        <a:pt x="4810" y="233771"/>
                      </a:cubicBezTo>
                      <a:cubicBezTo>
                        <a:pt x="9620" y="242213"/>
                        <a:pt x="18548" y="247468"/>
                        <a:pt x="28262" y="247577"/>
                      </a:cubicBezTo>
                      <a:lnTo>
                        <a:pt x="259920" y="247577"/>
                      </a:lnTo>
                      <a:cubicBezTo>
                        <a:pt x="269630" y="247465"/>
                        <a:pt x="278553" y="242212"/>
                        <a:pt x="283362" y="233775"/>
                      </a:cubicBezTo>
                      <a:cubicBezTo>
                        <a:pt x="288171" y="225339"/>
                        <a:pt x="288145" y="214984"/>
                        <a:pt x="283294" y="206572"/>
                      </a:cubicBezTo>
                      <a:lnTo>
                        <a:pt x="167480" y="13176"/>
                      </a:lnTo>
                      <a:cubicBezTo>
                        <a:pt x="162524" y="4996"/>
                        <a:pt x="153655" y="0"/>
                        <a:pt x="144091" y="0"/>
                      </a:cubicBezTo>
                      <a:cubicBezTo>
                        <a:pt x="134527" y="0"/>
                        <a:pt x="125658" y="4996"/>
                        <a:pt x="120702" y="13176"/>
                      </a:cubicBezTo>
                    </a:path>
                  </a:pathLst>
                </a:custGeom>
                <a:noFill/>
                <a:ln w="21431">
                  <a:solidFill>
                    <a:srgbClr val="ED4D31"/>
                  </a:solidFill>
                </a:ln>
              </p:spPr>
            </p:sp>
            <p:sp>
              <p:nvSpPr>
                <p:cNvPr id="194" name="Freeform 194"/>
                <p:cNvSpPr/>
                <p:nvPr/>
              </p:nvSpPr>
              <p:spPr>
                <a:xfrm>
                  <a:off x="9201150" y="5715000"/>
                  <a:ext cx="9525" cy="9525"/>
                </a:xfrm>
                <a:custGeom>
                  <a:avLst/>
                  <a:gdLst/>
                  <a:ahLst/>
                  <a:cxnLst/>
                  <a:rect l="l" t="t" r="r" b="b"/>
                  <a:pathLst>
                    <a:path w="9525" h="9525">
                      <a:moveTo>
                        <a:pt x="0" y="0"/>
                      </a:moveTo>
                      <a:lnTo>
                        <a:pt x="143" y="0"/>
                      </a:lnTo>
                    </a:path>
                  </a:pathLst>
                </a:custGeom>
                <a:noFill/>
                <a:ln w="21431">
                  <a:solidFill>
                    <a:srgbClr val="ED4D31"/>
                  </a:solidFill>
                </a:ln>
              </p:spPr>
            </p:sp>
          </p:grpSp>
          <p:sp>
            <p:nvSpPr>
              <p:cNvPr id="196" name="TextBox 196"/>
              <p:cNvSpPr txBox="1"/>
              <p:nvPr/>
            </p:nvSpPr>
            <p:spPr>
              <a:xfrm>
                <a:off x="8943302" y="6013847"/>
                <a:ext cx="515696" cy="183356"/>
              </a:xfrm>
              <a:prstGeom prst="rect">
                <a:avLst/>
              </a:prstGeom>
              <a:noFill/>
              <a:ln>
                <a:noFill/>
              </a:ln>
            </p:spPr>
            <p:txBody>
              <a:bodyPr wrap="none" lIns="0" tIns="0" rIns="0" bIns="0" anchor="t" anchorCtr="0">
                <a:spAutoFit/>
              </a:bodyPr>
              <a:lstStyle/>
              <a:p>
                <a:pPr algn="ctr"/>
                <a:r>
                  <a:rPr lang="zh-CN" sz="940" dirty="0">
                    <a:solidFill>
                      <a:srgbClr val="7E605A"/>
                    </a:solidFill>
                    <a:latin typeface="+mn-lt"/>
                    <a:ea typeface="+mn-ea"/>
                    <a:cs typeface="+mn-cs"/>
                  </a:rPr>
                  <a:t>新增不良</a:t>
                </a:r>
              </a:p>
            </p:txBody>
          </p:sp>
          <p:sp>
            <p:nvSpPr>
              <p:cNvPr id="197" name="TextBox 197"/>
              <p:cNvSpPr txBox="1"/>
              <p:nvPr/>
            </p:nvSpPr>
            <p:spPr>
              <a:xfrm>
                <a:off x="8781960" y="6246971"/>
                <a:ext cx="838379" cy="278702"/>
              </a:xfrm>
              <a:prstGeom prst="rect">
                <a:avLst/>
              </a:prstGeom>
              <a:noFill/>
              <a:ln>
                <a:noFill/>
              </a:ln>
            </p:spPr>
            <p:txBody>
              <a:bodyPr wrap="none" lIns="0" tIns="0" rIns="0" bIns="0" anchor="t" anchorCtr="0">
                <a:spAutoFit/>
              </a:bodyPr>
              <a:lstStyle/>
              <a:p>
                <a:pPr algn="ctr"/>
                <a:r>
                  <a:rPr lang="zh-CN" sz="1420" b="1" dirty="0">
                    <a:solidFill>
                      <a:srgbClr val="C2290F"/>
                    </a:solidFill>
                    <a:latin typeface="+mn-lt"/>
                    <a:ea typeface="+mn-ea"/>
                    <a:cs typeface="+mn-cs"/>
                  </a:rPr>
                  <a:t xml:space="preserve">≤4.0亿　</a:t>
                </a:r>
              </a:p>
            </p:txBody>
          </p:sp>
        </p:grpSp>
        <p:grpSp>
          <p:nvGrpSpPr>
            <p:cNvPr id="205" name="kpi-cash"/>
            <p:cNvGrpSpPr/>
            <p:nvPr/>
          </p:nvGrpSpPr>
          <p:grpSpPr>
            <a:xfrm>
              <a:off x="10496460" y="5529262"/>
              <a:ext cx="838379" cy="996411"/>
              <a:chOff x="10496460" y="5529262"/>
              <a:chExt cx="838379" cy="996411"/>
            </a:xfrm>
          </p:grpSpPr>
          <p:grpSp>
            <p:nvGrpSpPr>
              <p:cNvPr id="202" name="Group 202"/>
              <p:cNvGrpSpPr/>
              <p:nvPr/>
            </p:nvGrpSpPr>
            <p:grpSpPr>
              <a:xfrm>
                <a:off x="10801350" y="5529262"/>
                <a:ext cx="228600" cy="257176"/>
                <a:chOff x="10801350" y="5529262"/>
                <a:chExt cx="228600" cy="257176"/>
              </a:xfrm>
            </p:grpSpPr>
            <p:sp>
              <p:nvSpPr>
                <p:cNvPr id="199" name="Freeform 199"/>
                <p:cNvSpPr/>
                <p:nvPr/>
              </p:nvSpPr>
              <p:spPr>
                <a:xfrm>
                  <a:off x="10801350" y="5529262"/>
                  <a:ext cx="228600" cy="85725"/>
                </a:xfrm>
                <a:custGeom>
                  <a:avLst/>
                  <a:gdLst/>
                  <a:ahLst/>
                  <a:cxnLst/>
                  <a:rect l="l" t="t" r="r" b="b"/>
                  <a:pathLst>
                    <a:path w="228600" h="85725">
                      <a:moveTo>
                        <a:pt x="0" y="42862"/>
                      </a:moveTo>
                      <a:cubicBezTo>
                        <a:pt x="0" y="66535"/>
                        <a:pt x="51174" y="85725"/>
                        <a:pt x="114300" y="85725"/>
                      </a:cubicBezTo>
                      <a:cubicBezTo>
                        <a:pt x="177426" y="85725"/>
                        <a:pt x="228600" y="66535"/>
                        <a:pt x="228600" y="42862"/>
                      </a:cubicBezTo>
                      <a:cubicBezTo>
                        <a:pt x="228600" y="19190"/>
                        <a:pt x="177426" y="0"/>
                        <a:pt x="114300" y="0"/>
                      </a:cubicBezTo>
                      <a:cubicBezTo>
                        <a:pt x="51174" y="0"/>
                        <a:pt x="0" y="19190"/>
                        <a:pt x="0" y="42862"/>
                      </a:cubicBezTo>
                    </a:path>
                  </a:pathLst>
                </a:custGeom>
                <a:noFill/>
                <a:ln w="21431">
                  <a:solidFill>
                    <a:srgbClr val="D94F38"/>
                  </a:solidFill>
                </a:ln>
              </p:spPr>
            </p:sp>
            <p:sp>
              <p:nvSpPr>
                <p:cNvPr id="200" name="Freeform 200"/>
                <p:cNvSpPr/>
                <p:nvPr/>
              </p:nvSpPr>
              <p:spPr>
                <a:xfrm>
                  <a:off x="10801350" y="5572125"/>
                  <a:ext cx="228600" cy="128588"/>
                </a:xfrm>
                <a:custGeom>
                  <a:avLst/>
                  <a:gdLst/>
                  <a:ahLst/>
                  <a:cxnLst/>
                  <a:rect l="l" t="t" r="r" b="b"/>
                  <a:pathLst>
                    <a:path w="228600" h="128588">
                      <a:moveTo>
                        <a:pt x="0" y="0"/>
                      </a:moveTo>
                      <a:lnTo>
                        <a:pt x="0" y="85725"/>
                      </a:lnTo>
                      <a:cubicBezTo>
                        <a:pt x="0" y="109397"/>
                        <a:pt x="51174" y="128588"/>
                        <a:pt x="114300" y="128588"/>
                      </a:cubicBezTo>
                      <a:cubicBezTo>
                        <a:pt x="177426" y="128588"/>
                        <a:pt x="228600" y="109397"/>
                        <a:pt x="228600" y="85725"/>
                      </a:cubicBezTo>
                      <a:lnTo>
                        <a:pt x="228600" y="0"/>
                      </a:lnTo>
                    </a:path>
                  </a:pathLst>
                </a:custGeom>
                <a:noFill/>
                <a:ln w="21431">
                  <a:solidFill>
                    <a:srgbClr val="D94F38"/>
                  </a:solidFill>
                </a:ln>
              </p:spPr>
            </p:sp>
            <p:sp>
              <p:nvSpPr>
                <p:cNvPr id="201" name="Freeform 201"/>
                <p:cNvSpPr/>
                <p:nvPr/>
              </p:nvSpPr>
              <p:spPr>
                <a:xfrm>
                  <a:off x="10801350" y="5657850"/>
                  <a:ext cx="228600" cy="128588"/>
                </a:xfrm>
                <a:custGeom>
                  <a:avLst/>
                  <a:gdLst/>
                  <a:ahLst/>
                  <a:cxnLst/>
                  <a:rect l="l" t="t" r="r" b="b"/>
                  <a:pathLst>
                    <a:path w="228600" h="128588">
                      <a:moveTo>
                        <a:pt x="0" y="0"/>
                      </a:moveTo>
                      <a:lnTo>
                        <a:pt x="0" y="85725"/>
                      </a:lnTo>
                      <a:cubicBezTo>
                        <a:pt x="0" y="109397"/>
                        <a:pt x="51174" y="128588"/>
                        <a:pt x="114300" y="128588"/>
                      </a:cubicBezTo>
                      <a:cubicBezTo>
                        <a:pt x="177426" y="128588"/>
                        <a:pt x="228600" y="109397"/>
                        <a:pt x="228600" y="85725"/>
                      </a:cubicBezTo>
                      <a:lnTo>
                        <a:pt x="228600" y="0"/>
                      </a:lnTo>
                    </a:path>
                  </a:pathLst>
                </a:custGeom>
                <a:noFill/>
                <a:ln w="21431">
                  <a:solidFill>
                    <a:srgbClr val="D94F38"/>
                  </a:solidFill>
                </a:ln>
              </p:spPr>
            </p:sp>
          </p:grpSp>
          <p:sp>
            <p:nvSpPr>
              <p:cNvPr id="203" name="TextBox 203"/>
              <p:cNvSpPr txBox="1"/>
              <p:nvPr/>
            </p:nvSpPr>
            <p:spPr>
              <a:xfrm>
                <a:off x="10657802" y="6013847"/>
                <a:ext cx="515696" cy="183356"/>
              </a:xfrm>
              <a:prstGeom prst="rect">
                <a:avLst/>
              </a:prstGeom>
              <a:noFill/>
              <a:ln>
                <a:noFill/>
              </a:ln>
            </p:spPr>
            <p:txBody>
              <a:bodyPr wrap="none" lIns="0" tIns="0" rIns="0" bIns="0" anchor="t" anchorCtr="0">
                <a:spAutoFit/>
              </a:bodyPr>
              <a:lstStyle/>
              <a:p>
                <a:pPr algn="ctr"/>
                <a:r>
                  <a:rPr lang="zh-CN" sz="940" dirty="0">
                    <a:solidFill>
                      <a:srgbClr val="7E605A"/>
                    </a:solidFill>
                    <a:latin typeface="+mn-lt"/>
                    <a:ea typeface="+mn-ea"/>
                    <a:cs typeface="+mn-cs"/>
                  </a:rPr>
                  <a:t>现金清收</a:t>
                </a:r>
              </a:p>
            </p:txBody>
          </p:sp>
          <p:sp>
            <p:nvSpPr>
              <p:cNvPr id="204" name="TextBox 204"/>
              <p:cNvSpPr txBox="1"/>
              <p:nvPr/>
            </p:nvSpPr>
            <p:spPr>
              <a:xfrm>
                <a:off x="10496460" y="6246971"/>
                <a:ext cx="838379" cy="278702"/>
              </a:xfrm>
              <a:prstGeom prst="rect">
                <a:avLst/>
              </a:prstGeom>
              <a:noFill/>
              <a:ln>
                <a:noFill/>
              </a:ln>
            </p:spPr>
            <p:txBody>
              <a:bodyPr wrap="none" lIns="0" tIns="0" rIns="0" bIns="0" anchor="t" anchorCtr="0">
                <a:spAutoFit/>
              </a:bodyPr>
              <a:lstStyle/>
              <a:p>
                <a:pPr algn="ctr"/>
                <a:r>
                  <a:rPr lang="zh-CN" sz="1420" b="1" dirty="0">
                    <a:solidFill>
                      <a:srgbClr val="841600"/>
                    </a:solidFill>
                    <a:latin typeface="+mn-lt"/>
                    <a:ea typeface="+mn-ea"/>
                    <a:cs typeface="+mn-cs"/>
                  </a:rPr>
                  <a:t xml:space="preserve">≥3.5亿　</a:t>
                </a:r>
              </a:p>
            </p:txBody>
          </p:sp>
        </p:grpSp>
      </p:gr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14</a:t>
              </a:r>
            </a:p>
          </p:txBody>
        </p:sp>
        <p:sp>
          <p:nvSpPr>
            <p:cNvPr id="4" name="TextBox 4"/>
            <p:cNvSpPr txBox="1"/>
            <p:nvPr/>
          </p:nvSpPr>
          <p:spPr>
            <a:xfrm>
              <a:off x="942594" y="151448"/>
              <a:ext cx="8063484"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运营管理与渠道管理部</a:t>
              </a:r>
              <a:r>
                <a:rPr lang="zh-CN" sz="1950" b="1" dirty="0">
                  <a:solidFill>
                    <a:srgbClr val="1A1A1A"/>
                  </a:solidFill>
                  <a:latin typeface="SimSun"/>
                  <a:ea typeface="SimSun"/>
                  <a:cs typeface="SimSun"/>
                </a:rPr>
                <a:t>｜提升网点产能、运营效率和客户服务质量</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45" name="branch-tiers"/>
          <p:cNvGrpSpPr/>
          <p:nvPr/>
        </p:nvGrpSpPr>
        <p:grpSpPr>
          <a:xfrm>
            <a:off x="266700" y="704850"/>
            <a:ext cx="3429000" cy="4667250"/>
            <a:chOff x="266700" y="704850"/>
            <a:chExt cx="3429000" cy="4667250"/>
          </a:xfrm>
        </p:grpSpPr>
        <p:sp>
          <p:nvSpPr>
            <p:cNvPr id="7" name="Rectangle 7"/>
            <p:cNvSpPr/>
            <p:nvPr/>
          </p:nvSpPr>
          <p:spPr>
            <a:xfrm>
              <a:off x="266700" y="704850"/>
              <a:ext cx="3429000" cy="4667250"/>
            </a:xfrm>
            <a:prstGeom prst="roundRect">
              <a:avLst>
                <a:gd name="adj" fmla="val 2778"/>
              </a:avLst>
            </a:prstGeom>
            <a:solidFill>
              <a:srgbClr val="FFFFFF"/>
            </a:solidFill>
            <a:ln w="9525">
              <a:solidFill>
                <a:srgbClr val="D7E2F2"/>
              </a:solidFill>
            </a:ln>
          </p:spPr>
        </p:sp>
        <p:sp>
          <p:nvSpPr>
            <p:cNvPr id="8" name="Rectangle 8"/>
            <p:cNvSpPr/>
            <p:nvPr/>
          </p:nvSpPr>
          <p:spPr>
            <a:xfrm>
              <a:off x="266700" y="704850"/>
              <a:ext cx="3429000" cy="381000"/>
            </a:xfrm>
            <a:prstGeom prst="roundRect">
              <a:avLst>
                <a:gd name="adj" fmla="val 25000"/>
              </a:avLst>
            </a:prstGeom>
            <a:solidFill>
              <a:srgbClr val="841600"/>
            </a:solidFill>
            <a:ln>
              <a:noFill/>
            </a:ln>
          </p:spPr>
        </p:sp>
        <p:sp>
          <p:nvSpPr>
            <p:cNvPr id="9" name="Rectangle 9"/>
            <p:cNvSpPr/>
            <p:nvPr/>
          </p:nvSpPr>
          <p:spPr>
            <a:xfrm>
              <a:off x="266700" y="914400"/>
              <a:ext cx="3429000" cy="171450"/>
            </a:xfrm>
            <a:prstGeom prst="rect">
              <a:avLst/>
            </a:prstGeom>
            <a:solidFill>
              <a:srgbClr val="841600"/>
            </a:solidFill>
            <a:ln>
              <a:noFill/>
            </a:ln>
          </p:spPr>
        </p:sp>
        <p:sp>
          <p:nvSpPr>
            <p:cNvPr id="10" name="TextBox 10"/>
            <p:cNvSpPr txBox="1"/>
            <p:nvPr/>
          </p:nvSpPr>
          <p:spPr>
            <a:xfrm>
              <a:off x="1490472" y="83248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四类网点定位</a:t>
              </a:r>
            </a:p>
          </p:txBody>
        </p:sp>
        <p:grpSp>
          <p:nvGrpSpPr>
            <p:cNvPr id="15" name="tier-flagship"/>
            <p:cNvGrpSpPr/>
            <p:nvPr/>
          </p:nvGrpSpPr>
          <p:grpSpPr>
            <a:xfrm>
              <a:off x="409575" y="1238250"/>
              <a:ext cx="1524000" cy="1809750"/>
              <a:chOff x="409575" y="1238250"/>
              <a:chExt cx="1524000" cy="1809750"/>
            </a:xfrm>
          </p:grpSpPr>
          <p:sp>
            <p:nvSpPr>
              <p:cNvPr id="11" name="Rectangle 11"/>
              <p:cNvSpPr/>
              <p:nvPr/>
            </p:nvSpPr>
            <p:spPr>
              <a:xfrm>
                <a:off x="419100" y="1238250"/>
                <a:ext cx="1504950" cy="1809750"/>
              </a:xfrm>
              <a:prstGeom prst="roundRect">
                <a:avLst>
                  <a:gd name="adj" fmla="val 5063"/>
                </a:avLst>
              </a:prstGeom>
              <a:solidFill>
                <a:srgbClr val="EFF5FD"/>
              </a:solidFill>
              <a:ln w="9525">
                <a:solidFill>
                  <a:srgbClr val="D7E2F2"/>
                </a:solidFill>
              </a:ln>
            </p:spPr>
          </p:sp>
          <p:sp>
            <p:nvSpPr>
              <p:cNvPr id="12" name="Freeform 12"/>
              <p:cNvSpPr/>
              <p:nvPr/>
            </p:nvSpPr>
            <p:spPr>
              <a:xfrm>
                <a:off x="1014412" y="1533525"/>
                <a:ext cx="314324" cy="209550"/>
              </a:xfrm>
              <a:custGeom>
                <a:avLst/>
                <a:gdLst/>
                <a:ahLst/>
                <a:cxnLst/>
                <a:rect l="l" t="t" r="r" b="b"/>
                <a:pathLst>
                  <a:path w="314324" h="209550">
                    <a:moveTo>
                      <a:pt x="157162" y="0"/>
                    </a:moveTo>
                    <a:lnTo>
                      <a:pt x="227012" y="104775"/>
                    </a:lnTo>
                    <a:lnTo>
                      <a:pt x="314324" y="34925"/>
                    </a:lnTo>
                    <a:lnTo>
                      <a:pt x="279399" y="209550"/>
                    </a:lnTo>
                    <a:lnTo>
                      <a:pt x="34925" y="209550"/>
                    </a:lnTo>
                    <a:lnTo>
                      <a:pt x="0" y="34925"/>
                    </a:lnTo>
                    <a:lnTo>
                      <a:pt x="87312" y="104775"/>
                    </a:lnTo>
                    <a:lnTo>
                      <a:pt x="157162" y="0"/>
                    </a:lnTo>
                  </a:path>
                </a:pathLst>
              </a:custGeom>
              <a:noFill/>
              <a:ln w="26194">
                <a:solidFill>
                  <a:srgbClr val="841600"/>
                </a:solidFill>
              </a:ln>
            </p:spPr>
          </p:sp>
          <p:sp>
            <p:nvSpPr>
              <p:cNvPr id="13" name="TextBox 13"/>
              <p:cNvSpPr txBox="1"/>
              <p:nvPr/>
            </p:nvSpPr>
            <p:spPr>
              <a:xfrm>
                <a:off x="761619" y="2232660"/>
                <a:ext cx="819912" cy="234696"/>
              </a:xfrm>
              <a:prstGeom prst="rect">
                <a:avLst/>
              </a:prstGeom>
              <a:noFill/>
              <a:ln>
                <a:noFill/>
              </a:ln>
            </p:spPr>
            <p:txBody>
              <a:bodyPr wrap="none" lIns="0" tIns="0" rIns="0" bIns="0" anchor="t" anchorCtr="0">
                <a:spAutoFit/>
              </a:bodyPr>
              <a:lstStyle/>
              <a:p>
                <a:pPr algn="ctr"/>
                <a:r>
                  <a:rPr lang="zh-CN" sz="1200" b="1" dirty="0">
                    <a:solidFill>
                      <a:srgbClr val="841600"/>
                    </a:solidFill>
                    <a:latin typeface="+mn-lt"/>
                    <a:ea typeface="+mn-ea"/>
                    <a:cs typeface="+mn-cs"/>
                  </a:rPr>
                  <a:t>旗舰店网点</a:t>
                </a:r>
              </a:p>
            </p:txBody>
          </p:sp>
          <p:sp>
            <p:nvSpPr>
              <p:cNvPr id="14" name="TextBox 14"/>
              <p:cNvSpPr txBox="1"/>
              <p:nvPr/>
            </p:nvSpPr>
            <p:spPr>
              <a:xfrm>
                <a:off x="409575" y="2605088"/>
                <a:ext cx="1524000" cy="147638"/>
              </a:xfrm>
              <a:prstGeom prst="rect">
                <a:avLst/>
              </a:prstGeom>
              <a:noFill/>
              <a:ln>
                <a:noFill/>
              </a:ln>
            </p:spPr>
            <p:txBody>
              <a:bodyPr wrap="none" lIns="0" tIns="0" rIns="0" bIns="0" anchor="t" anchorCtr="0">
                <a:spAutoFit/>
              </a:bodyPr>
              <a:lstStyle/>
              <a:p>
                <a:pPr algn="ctr"/>
                <a:r>
                  <a:rPr lang="zh-CN" sz="750" dirty="0">
                    <a:solidFill>
                      <a:srgbClr val="7E605A"/>
                    </a:solidFill>
                    <a:latin typeface="+mn-lt"/>
                    <a:ea typeface="+mn-ea"/>
                    <a:cs typeface="+mn-cs"/>
                  </a:rPr>
                  <a:t>品牌展示｜复杂业务｜高净值服务</a:t>
                </a:r>
              </a:p>
            </p:txBody>
          </p:sp>
        </p:grpSp>
        <p:grpSp>
          <p:nvGrpSpPr>
            <p:cNvPr id="28" name="tier-composite"/>
            <p:cNvGrpSpPr/>
            <p:nvPr/>
          </p:nvGrpSpPr>
          <p:grpSpPr>
            <a:xfrm>
              <a:off x="2038350" y="1238250"/>
              <a:ext cx="1504950" cy="1809750"/>
              <a:chOff x="2038350" y="1238250"/>
              <a:chExt cx="1504950" cy="1809750"/>
            </a:xfrm>
          </p:grpSpPr>
          <p:sp>
            <p:nvSpPr>
              <p:cNvPr id="16" name="Rectangle 16"/>
              <p:cNvSpPr/>
              <p:nvPr/>
            </p:nvSpPr>
            <p:spPr>
              <a:xfrm>
                <a:off x="2038350" y="1238250"/>
                <a:ext cx="1504950" cy="1809750"/>
              </a:xfrm>
              <a:prstGeom prst="roundRect">
                <a:avLst>
                  <a:gd name="adj" fmla="val 5063"/>
                </a:avLst>
              </a:prstGeom>
              <a:solidFill>
                <a:srgbClr val="EFF5FD"/>
              </a:solidFill>
              <a:ln w="9525">
                <a:solidFill>
                  <a:srgbClr val="D7E2F2"/>
                </a:solidFill>
              </a:ln>
            </p:spPr>
          </p:sp>
          <p:grpSp>
            <p:nvGrpSpPr>
              <p:cNvPr id="25" name="Group 25"/>
              <p:cNvGrpSpPr/>
              <p:nvPr/>
            </p:nvGrpSpPr>
            <p:grpSpPr>
              <a:xfrm>
                <a:off x="2633662" y="1481137"/>
                <a:ext cx="314324" cy="323850"/>
                <a:chOff x="2633662" y="1481137"/>
                <a:chExt cx="314324" cy="323850"/>
              </a:xfrm>
            </p:grpSpPr>
            <p:sp>
              <p:nvSpPr>
                <p:cNvPr id="17" name="Freeform 17"/>
                <p:cNvSpPr/>
                <p:nvPr/>
              </p:nvSpPr>
              <p:spPr>
                <a:xfrm>
                  <a:off x="2633662" y="1795462"/>
                  <a:ext cx="314324" cy="9525"/>
                </a:xfrm>
                <a:custGeom>
                  <a:avLst/>
                  <a:gdLst/>
                  <a:ahLst/>
                  <a:cxnLst/>
                  <a:rect l="l" t="t" r="r" b="b"/>
                  <a:pathLst>
                    <a:path w="314324" h="9525">
                      <a:moveTo>
                        <a:pt x="0" y="0"/>
                      </a:moveTo>
                      <a:lnTo>
                        <a:pt x="314324" y="0"/>
                      </a:lnTo>
                    </a:path>
                  </a:pathLst>
                </a:custGeom>
                <a:noFill/>
                <a:ln w="26194">
                  <a:solidFill>
                    <a:srgbClr val="841600"/>
                  </a:solidFill>
                </a:ln>
              </p:spPr>
            </p:sp>
            <p:sp>
              <p:nvSpPr>
                <p:cNvPr id="18" name="Freeform 18"/>
                <p:cNvSpPr/>
                <p:nvPr/>
              </p:nvSpPr>
              <p:spPr>
                <a:xfrm>
                  <a:off x="2633662" y="1603375"/>
                  <a:ext cx="314324" cy="9525"/>
                </a:xfrm>
                <a:custGeom>
                  <a:avLst/>
                  <a:gdLst/>
                  <a:ahLst/>
                  <a:cxnLst/>
                  <a:rect l="l" t="t" r="r" b="b"/>
                  <a:pathLst>
                    <a:path w="314324" h="9525">
                      <a:moveTo>
                        <a:pt x="0" y="0"/>
                      </a:moveTo>
                      <a:lnTo>
                        <a:pt x="314324" y="0"/>
                      </a:lnTo>
                    </a:path>
                  </a:pathLst>
                </a:custGeom>
                <a:noFill/>
                <a:ln w="26194">
                  <a:solidFill>
                    <a:srgbClr val="841600"/>
                  </a:solidFill>
                </a:ln>
              </p:spPr>
            </p:sp>
            <p:sp>
              <p:nvSpPr>
                <p:cNvPr id="19" name="Freeform 19"/>
                <p:cNvSpPr/>
                <p:nvPr/>
              </p:nvSpPr>
              <p:spPr>
                <a:xfrm>
                  <a:off x="2668587" y="1481137"/>
                  <a:ext cx="244475" cy="52387"/>
                </a:xfrm>
                <a:custGeom>
                  <a:avLst/>
                  <a:gdLst/>
                  <a:ahLst/>
                  <a:cxnLst/>
                  <a:rect l="l" t="t" r="r" b="b"/>
                  <a:pathLst>
                    <a:path w="244475" h="52387">
                      <a:moveTo>
                        <a:pt x="0" y="52387"/>
                      </a:moveTo>
                      <a:lnTo>
                        <a:pt x="122237" y="0"/>
                      </a:lnTo>
                      <a:lnTo>
                        <a:pt x="244475" y="52387"/>
                      </a:lnTo>
                    </a:path>
                  </a:pathLst>
                </a:custGeom>
                <a:noFill/>
                <a:ln w="26194">
                  <a:solidFill>
                    <a:srgbClr val="841600"/>
                  </a:solidFill>
                </a:ln>
              </p:spPr>
            </p:sp>
            <p:sp>
              <p:nvSpPr>
                <p:cNvPr id="20" name="Freeform 20"/>
                <p:cNvSpPr/>
                <p:nvPr/>
              </p:nvSpPr>
              <p:spPr>
                <a:xfrm>
                  <a:off x="2651125" y="1603375"/>
                  <a:ext cx="9525" cy="192087"/>
                </a:xfrm>
                <a:custGeom>
                  <a:avLst/>
                  <a:gdLst/>
                  <a:ahLst/>
                  <a:cxnLst/>
                  <a:rect l="l" t="t" r="r" b="b"/>
                  <a:pathLst>
                    <a:path w="9525" h="192087">
                      <a:moveTo>
                        <a:pt x="0" y="0"/>
                      </a:moveTo>
                      <a:lnTo>
                        <a:pt x="0" y="192087"/>
                      </a:lnTo>
                    </a:path>
                  </a:pathLst>
                </a:custGeom>
                <a:noFill/>
                <a:ln w="26194">
                  <a:solidFill>
                    <a:srgbClr val="841600"/>
                  </a:solidFill>
                </a:ln>
              </p:spPr>
            </p:sp>
            <p:sp>
              <p:nvSpPr>
                <p:cNvPr id="21" name="Freeform 21"/>
                <p:cNvSpPr/>
                <p:nvPr/>
              </p:nvSpPr>
              <p:spPr>
                <a:xfrm>
                  <a:off x="2930524" y="1603375"/>
                  <a:ext cx="9525" cy="192087"/>
                </a:xfrm>
                <a:custGeom>
                  <a:avLst/>
                  <a:gdLst/>
                  <a:ahLst/>
                  <a:cxnLst/>
                  <a:rect l="l" t="t" r="r" b="b"/>
                  <a:pathLst>
                    <a:path w="9525" h="192087">
                      <a:moveTo>
                        <a:pt x="0" y="0"/>
                      </a:moveTo>
                      <a:lnTo>
                        <a:pt x="0" y="192087"/>
                      </a:lnTo>
                    </a:path>
                  </a:pathLst>
                </a:custGeom>
                <a:noFill/>
                <a:ln w="26194">
                  <a:solidFill>
                    <a:srgbClr val="841600"/>
                  </a:solidFill>
                </a:ln>
              </p:spPr>
            </p:sp>
            <p:sp>
              <p:nvSpPr>
                <p:cNvPr id="22" name="Freeform 22"/>
                <p:cNvSpPr/>
                <p:nvPr/>
              </p:nvSpPr>
              <p:spPr>
                <a:xfrm>
                  <a:off x="2720975" y="1673225"/>
                  <a:ext cx="9525" cy="52387"/>
                </a:xfrm>
                <a:custGeom>
                  <a:avLst/>
                  <a:gdLst/>
                  <a:ahLst/>
                  <a:cxnLst/>
                  <a:rect l="l" t="t" r="r" b="b"/>
                  <a:pathLst>
                    <a:path w="9525" h="52387">
                      <a:moveTo>
                        <a:pt x="0" y="0"/>
                      </a:moveTo>
                      <a:lnTo>
                        <a:pt x="0" y="52387"/>
                      </a:lnTo>
                    </a:path>
                  </a:pathLst>
                </a:custGeom>
                <a:noFill/>
                <a:ln w="26194">
                  <a:solidFill>
                    <a:srgbClr val="841600"/>
                  </a:solidFill>
                </a:ln>
              </p:spPr>
            </p:sp>
            <p:sp>
              <p:nvSpPr>
                <p:cNvPr id="23" name="Freeform 23"/>
                <p:cNvSpPr/>
                <p:nvPr/>
              </p:nvSpPr>
              <p:spPr>
                <a:xfrm>
                  <a:off x="2790825" y="1673225"/>
                  <a:ext cx="9525" cy="52387"/>
                </a:xfrm>
                <a:custGeom>
                  <a:avLst/>
                  <a:gdLst/>
                  <a:ahLst/>
                  <a:cxnLst/>
                  <a:rect l="l" t="t" r="r" b="b"/>
                  <a:pathLst>
                    <a:path w="9525" h="52387">
                      <a:moveTo>
                        <a:pt x="0" y="0"/>
                      </a:moveTo>
                      <a:lnTo>
                        <a:pt x="0" y="52387"/>
                      </a:lnTo>
                    </a:path>
                  </a:pathLst>
                </a:custGeom>
                <a:noFill/>
                <a:ln w="26194">
                  <a:solidFill>
                    <a:srgbClr val="841600"/>
                  </a:solidFill>
                </a:ln>
              </p:spPr>
            </p:sp>
            <p:sp>
              <p:nvSpPr>
                <p:cNvPr id="24" name="Freeform 24"/>
                <p:cNvSpPr/>
                <p:nvPr/>
              </p:nvSpPr>
              <p:spPr>
                <a:xfrm>
                  <a:off x="2860674" y="1673225"/>
                  <a:ext cx="9525" cy="52387"/>
                </a:xfrm>
                <a:custGeom>
                  <a:avLst/>
                  <a:gdLst/>
                  <a:ahLst/>
                  <a:cxnLst/>
                  <a:rect l="l" t="t" r="r" b="b"/>
                  <a:pathLst>
                    <a:path w="9525" h="52387">
                      <a:moveTo>
                        <a:pt x="0" y="0"/>
                      </a:moveTo>
                      <a:lnTo>
                        <a:pt x="0" y="52387"/>
                      </a:lnTo>
                    </a:path>
                  </a:pathLst>
                </a:custGeom>
                <a:noFill/>
                <a:ln w="26194">
                  <a:solidFill>
                    <a:srgbClr val="841600"/>
                  </a:solidFill>
                </a:ln>
              </p:spPr>
            </p:sp>
          </p:grpSp>
          <p:sp>
            <p:nvSpPr>
              <p:cNvPr id="26" name="TextBox 26"/>
              <p:cNvSpPr txBox="1"/>
              <p:nvPr/>
            </p:nvSpPr>
            <p:spPr>
              <a:xfrm>
                <a:off x="2461641" y="2232660"/>
                <a:ext cx="658368" cy="234696"/>
              </a:xfrm>
              <a:prstGeom prst="rect">
                <a:avLst/>
              </a:prstGeom>
              <a:noFill/>
              <a:ln>
                <a:noFill/>
              </a:ln>
            </p:spPr>
            <p:txBody>
              <a:bodyPr wrap="none" lIns="0" tIns="0" rIns="0" bIns="0" anchor="t" anchorCtr="0">
                <a:spAutoFit/>
              </a:bodyPr>
              <a:lstStyle/>
              <a:p>
                <a:pPr algn="ctr"/>
                <a:r>
                  <a:rPr lang="zh-CN" sz="1200" b="1" dirty="0">
                    <a:solidFill>
                      <a:srgbClr val="841600"/>
                    </a:solidFill>
                    <a:latin typeface="+mn-lt"/>
                    <a:ea typeface="+mn-ea"/>
                    <a:cs typeface="+mn-cs"/>
                  </a:rPr>
                  <a:t>综合网点</a:t>
                </a:r>
              </a:p>
            </p:txBody>
          </p:sp>
          <p:sp>
            <p:nvSpPr>
              <p:cNvPr id="27" name="TextBox 27"/>
              <p:cNvSpPr txBox="1"/>
              <p:nvPr/>
            </p:nvSpPr>
            <p:spPr>
              <a:xfrm>
                <a:off x="2079308" y="2605088"/>
                <a:ext cx="1423035" cy="147638"/>
              </a:xfrm>
              <a:prstGeom prst="rect">
                <a:avLst/>
              </a:prstGeom>
              <a:noFill/>
              <a:ln>
                <a:noFill/>
              </a:ln>
            </p:spPr>
            <p:txBody>
              <a:bodyPr wrap="none" lIns="0" tIns="0" rIns="0" bIns="0" anchor="t" anchorCtr="0">
                <a:spAutoFit/>
              </a:bodyPr>
              <a:lstStyle/>
              <a:p>
                <a:pPr algn="ctr"/>
                <a:r>
                  <a:rPr lang="zh-CN" sz="750" dirty="0">
                    <a:solidFill>
                      <a:srgbClr val="7E605A"/>
                    </a:solidFill>
                    <a:latin typeface="+mn-lt"/>
                    <a:ea typeface="+mn-ea"/>
                    <a:cs typeface="+mn-cs"/>
                  </a:rPr>
                  <a:t>综合交易｜客户经营｜交叉销售</a:t>
                </a:r>
              </a:p>
            </p:txBody>
          </p:sp>
        </p:grpSp>
        <p:grpSp>
          <p:nvGrpSpPr>
            <p:cNvPr id="36" name="tier-community"/>
            <p:cNvGrpSpPr/>
            <p:nvPr/>
          </p:nvGrpSpPr>
          <p:grpSpPr>
            <a:xfrm>
              <a:off x="419100" y="3200400"/>
              <a:ext cx="1504950" cy="1809750"/>
              <a:chOff x="419100" y="3200400"/>
              <a:chExt cx="1504950" cy="1809750"/>
            </a:xfrm>
          </p:grpSpPr>
          <p:sp>
            <p:nvSpPr>
              <p:cNvPr id="29" name="Rectangle 29"/>
              <p:cNvSpPr/>
              <p:nvPr/>
            </p:nvSpPr>
            <p:spPr>
              <a:xfrm>
                <a:off x="419100" y="3200400"/>
                <a:ext cx="1504950" cy="1809750"/>
              </a:xfrm>
              <a:prstGeom prst="roundRect">
                <a:avLst>
                  <a:gd name="adj" fmla="val 5063"/>
                </a:avLst>
              </a:prstGeom>
              <a:solidFill>
                <a:srgbClr val="EFF5FD"/>
              </a:solidFill>
              <a:ln w="9525">
                <a:solidFill>
                  <a:srgbClr val="D7E2F2"/>
                </a:solidFill>
              </a:ln>
            </p:spPr>
          </p:sp>
          <p:grpSp>
            <p:nvGrpSpPr>
              <p:cNvPr id="33" name="Group 33"/>
              <p:cNvGrpSpPr/>
              <p:nvPr/>
            </p:nvGrpSpPr>
            <p:grpSpPr>
              <a:xfrm>
                <a:off x="1014412" y="3443287"/>
                <a:ext cx="314324" cy="314325"/>
                <a:chOff x="1014412" y="3443287"/>
                <a:chExt cx="314324" cy="314325"/>
              </a:xfrm>
            </p:grpSpPr>
            <p:sp>
              <p:nvSpPr>
                <p:cNvPr id="30" name="Freeform 30"/>
                <p:cNvSpPr/>
                <p:nvPr/>
              </p:nvSpPr>
              <p:spPr>
                <a:xfrm>
                  <a:off x="1014412" y="3443287"/>
                  <a:ext cx="314324" cy="157162"/>
                </a:xfrm>
                <a:custGeom>
                  <a:avLst/>
                  <a:gdLst/>
                  <a:ahLst/>
                  <a:cxnLst/>
                  <a:rect l="l" t="t" r="r" b="b"/>
                  <a:pathLst>
                    <a:path w="314324" h="157162">
                      <a:moveTo>
                        <a:pt x="34925" y="157162"/>
                      </a:moveTo>
                      <a:lnTo>
                        <a:pt x="0" y="157162"/>
                      </a:lnTo>
                      <a:lnTo>
                        <a:pt x="157162" y="0"/>
                      </a:lnTo>
                      <a:lnTo>
                        <a:pt x="314324" y="157162"/>
                      </a:lnTo>
                      <a:lnTo>
                        <a:pt x="279399" y="157162"/>
                      </a:lnTo>
                    </a:path>
                  </a:pathLst>
                </a:custGeom>
                <a:noFill/>
                <a:ln w="26194">
                  <a:solidFill>
                    <a:srgbClr val="841600"/>
                  </a:solidFill>
                </a:ln>
              </p:spPr>
            </p:sp>
            <p:sp>
              <p:nvSpPr>
                <p:cNvPr id="31" name="Freeform 31"/>
                <p:cNvSpPr/>
                <p:nvPr/>
              </p:nvSpPr>
              <p:spPr>
                <a:xfrm>
                  <a:off x="1049337" y="3600450"/>
                  <a:ext cx="244475" cy="157162"/>
                </a:xfrm>
                <a:custGeom>
                  <a:avLst/>
                  <a:gdLst/>
                  <a:ahLst/>
                  <a:cxnLst/>
                  <a:rect l="l" t="t" r="r" b="b"/>
                  <a:pathLst>
                    <a:path w="244475" h="157162">
                      <a:moveTo>
                        <a:pt x="0" y="0"/>
                      </a:moveTo>
                      <a:lnTo>
                        <a:pt x="0" y="122237"/>
                      </a:lnTo>
                      <a:cubicBezTo>
                        <a:pt x="0" y="141526"/>
                        <a:pt x="15636" y="157162"/>
                        <a:pt x="34925" y="157162"/>
                      </a:cubicBezTo>
                      <a:lnTo>
                        <a:pt x="209550" y="157162"/>
                      </a:lnTo>
                      <a:cubicBezTo>
                        <a:pt x="228838" y="157162"/>
                        <a:pt x="244475" y="141526"/>
                        <a:pt x="244475" y="122237"/>
                      </a:cubicBezTo>
                      <a:lnTo>
                        <a:pt x="244475" y="0"/>
                      </a:lnTo>
                    </a:path>
                  </a:pathLst>
                </a:custGeom>
                <a:noFill/>
                <a:ln w="26194">
                  <a:solidFill>
                    <a:srgbClr val="841600"/>
                  </a:solidFill>
                </a:ln>
              </p:spPr>
            </p:sp>
            <p:sp>
              <p:nvSpPr>
                <p:cNvPr id="32" name="Freeform 32"/>
                <p:cNvSpPr/>
                <p:nvPr/>
              </p:nvSpPr>
              <p:spPr>
                <a:xfrm>
                  <a:off x="1119187" y="3617912"/>
                  <a:ext cx="104775" cy="139700"/>
                </a:xfrm>
                <a:custGeom>
                  <a:avLst/>
                  <a:gdLst/>
                  <a:ahLst/>
                  <a:cxnLst/>
                  <a:rect l="l" t="t" r="r" b="b"/>
                  <a:pathLst>
                    <a:path w="104775" h="139700">
                      <a:moveTo>
                        <a:pt x="0" y="139700"/>
                      </a:moveTo>
                      <a:lnTo>
                        <a:pt x="0" y="34925"/>
                      </a:lnTo>
                      <a:cubicBezTo>
                        <a:pt x="0" y="15636"/>
                        <a:pt x="15636" y="0"/>
                        <a:pt x="34925" y="0"/>
                      </a:cubicBezTo>
                      <a:lnTo>
                        <a:pt x="69850" y="0"/>
                      </a:lnTo>
                      <a:cubicBezTo>
                        <a:pt x="89138" y="0"/>
                        <a:pt x="104775" y="15636"/>
                        <a:pt x="104775" y="34925"/>
                      </a:cubicBezTo>
                      <a:lnTo>
                        <a:pt x="104775" y="139700"/>
                      </a:lnTo>
                    </a:path>
                  </a:pathLst>
                </a:custGeom>
                <a:noFill/>
                <a:ln w="26194">
                  <a:solidFill>
                    <a:srgbClr val="841600"/>
                  </a:solidFill>
                </a:ln>
              </p:spPr>
            </p:sp>
          </p:grpSp>
          <p:sp>
            <p:nvSpPr>
              <p:cNvPr id="34" name="TextBox 34"/>
              <p:cNvSpPr txBox="1"/>
              <p:nvPr/>
            </p:nvSpPr>
            <p:spPr>
              <a:xfrm>
                <a:off x="842391" y="4194810"/>
                <a:ext cx="658368" cy="234696"/>
              </a:xfrm>
              <a:prstGeom prst="rect">
                <a:avLst/>
              </a:prstGeom>
              <a:noFill/>
              <a:ln>
                <a:noFill/>
              </a:ln>
            </p:spPr>
            <p:txBody>
              <a:bodyPr wrap="none" lIns="0" tIns="0" rIns="0" bIns="0" anchor="t" anchorCtr="0">
                <a:spAutoFit/>
              </a:bodyPr>
              <a:lstStyle/>
              <a:p>
                <a:pPr algn="ctr"/>
                <a:r>
                  <a:rPr lang="zh-CN" sz="1200" b="1" dirty="0">
                    <a:solidFill>
                      <a:srgbClr val="841600"/>
                    </a:solidFill>
                    <a:latin typeface="+mn-lt"/>
                    <a:ea typeface="+mn-ea"/>
                    <a:cs typeface="+mn-cs"/>
                  </a:rPr>
                  <a:t>社区网点</a:t>
                </a:r>
              </a:p>
            </p:txBody>
          </p:sp>
          <p:sp>
            <p:nvSpPr>
              <p:cNvPr id="35" name="TextBox 35"/>
              <p:cNvSpPr txBox="1"/>
              <p:nvPr/>
            </p:nvSpPr>
            <p:spPr>
              <a:xfrm>
                <a:off x="460058" y="4567238"/>
                <a:ext cx="1423035" cy="147638"/>
              </a:xfrm>
              <a:prstGeom prst="rect">
                <a:avLst/>
              </a:prstGeom>
              <a:noFill/>
              <a:ln>
                <a:noFill/>
              </a:ln>
            </p:spPr>
            <p:txBody>
              <a:bodyPr wrap="none" lIns="0" tIns="0" rIns="0" bIns="0" anchor="t" anchorCtr="0">
                <a:spAutoFit/>
              </a:bodyPr>
              <a:lstStyle/>
              <a:p>
                <a:pPr algn="ctr"/>
                <a:r>
                  <a:rPr lang="zh-CN" sz="750" dirty="0">
                    <a:solidFill>
                      <a:srgbClr val="7E605A"/>
                    </a:solidFill>
                    <a:latin typeface="+mn-lt"/>
                    <a:ea typeface="+mn-ea"/>
                    <a:cs typeface="+mn-cs"/>
                  </a:rPr>
                  <a:t>社区深耕｜便民服务｜属地获客</a:t>
                </a:r>
              </a:p>
            </p:txBody>
          </p:sp>
        </p:grpSp>
        <p:grpSp>
          <p:nvGrpSpPr>
            <p:cNvPr id="44" name="tier-light"/>
            <p:cNvGrpSpPr/>
            <p:nvPr/>
          </p:nvGrpSpPr>
          <p:grpSpPr>
            <a:xfrm>
              <a:off x="2038350" y="3200400"/>
              <a:ext cx="1504950" cy="1809750"/>
              <a:chOff x="2038350" y="3200400"/>
              <a:chExt cx="1504950" cy="1809750"/>
            </a:xfrm>
          </p:grpSpPr>
          <p:sp>
            <p:nvSpPr>
              <p:cNvPr id="37" name="Rectangle 37"/>
              <p:cNvSpPr/>
              <p:nvPr/>
            </p:nvSpPr>
            <p:spPr>
              <a:xfrm>
                <a:off x="2038350" y="3200400"/>
                <a:ext cx="1504950" cy="1809750"/>
              </a:xfrm>
              <a:prstGeom prst="roundRect">
                <a:avLst>
                  <a:gd name="adj" fmla="val 5063"/>
                </a:avLst>
              </a:prstGeom>
              <a:solidFill>
                <a:srgbClr val="EFF5FD"/>
              </a:solidFill>
              <a:ln w="9525">
                <a:solidFill>
                  <a:srgbClr val="D7E2F2"/>
                </a:solidFill>
              </a:ln>
            </p:spPr>
          </p:sp>
          <p:grpSp>
            <p:nvGrpSpPr>
              <p:cNvPr id="41" name="Group 41"/>
              <p:cNvGrpSpPr/>
              <p:nvPr/>
            </p:nvGrpSpPr>
            <p:grpSpPr>
              <a:xfrm>
                <a:off x="2686050" y="3443287"/>
                <a:ext cx="209550" cy="314324"/>
                <a:chOff x="2686050" y="3443287"/>
                <a:chExt cx="209550" cy="314324"/>
              </a:xfrm>
            </p:grpSpPr>
            <p:sp>
              <p:nvSpPr>
                <p:cNvPr id="38" name="Freeform 38"/>
                <p:cNvSpPr/>
                <p:nvPr/>
              </p:nvSpPr>
              <p:spPr>
                <a:xfrm>
                  <a:off x="2686050" y="3443287"/>
                  <a:ext cx="209550" cy="314324"/>
                </a:xfrm>
                <a:custGeom>
                  <a:avLst/>
                  <a:gdLst/>
                  <a:ahLst/>
                  <a:cxnLst/>
                  <a:rect l="l" t="t" r="r" b="b"/>
                  <a:pathLst>
                    <a:path w="209550" h="314324">
                      <a:moveTo>
                        <a:pt x="0" y="34925"/>
                      </a:moveTo>
                      <a:cubicBezTo>
                        <a:pt x="0" y="15636"/>
                        <a:pt x="15636" y="0"/>
                        <a:pt x="34925" y="0"/>
                      </a:cubicBezTo>
                      <a:lnTo>
                        <a:pt x="174625" y="0"/>
                      </a:lnTo>
                      <a:cubicBezTo>
                        <a:pt x="193913" y="0"/>
                        <a:pt x="209550" y="15636"/>
                        <a:pt x="209550" y="34925"/>
                      </a:cubicBezTo>
                      <a:lnTo>
                        <a:pt x="209550" y="279399"/>
                      </a:lnTo>
                      <a:cubicBezTo>
                        <a:pt x="209550" y="298688"/>
                        <a:pt x="193913" y="314324"/>
                        <a:pt x="174625" y="314324"/>
                      </a:cubicBezTo>
                      <a:lnTo>
                        <a:pt x="34925" y="314324"/>
                      </a:lnTo>
                      <a:cubicBezTo>
                        <a:pt x="15636" y="314324"/>
                        <a:pt x="0" y="298688"/>
                        <a:pt x="0" y="279399"/>
                      </a:cubicBezTo>
                      <a:lnTo>
                        <a:pt x="0" y="34925"/>
                      </a:lnTo>
                    </a:path>
                  </a:pathLst>
                </a:custGeom>
                <a:noFill/>
                <a:ln w="26194">
                  <a:solidFill>
                    <a:srgbClr val="841600"/>
                  </a:solidFill>
                </a:ln>
              </p:spPr>
            </p:sp>
            <p:sp>
              <p:nvSpPr>
                <p:cNvPr id="39" name="Freeform 39"/>
                <p:cNvSpPr/>
                <p:nvPr/>
              </p:nvSpPr>
              <p:spPr>
                <a:xfrm>
                  <a:off x="2773362" y="3460750"/>
                  <a:ext cx="34925" cy="9525"/>
                </a:xfrm>
                <a:custGeom>
                  <a:avLst/>
                  <a:gdLst/>
                  <a:ahLst/>
                  <a:cxnLst/>
                  <a:rect l="l" t="t" r="r" b="b"/>
                  <a:pathLst>
                    <a:path w="34925" h="9525">
                      <a:moveTo>
                        <a:pt x="0" y="0"/>
                      </a:moveTo>
                      <a:lnTo>
                        <a:pt x="34925" y="0"/>
                      </a:lnTo>
                    </a:path>
                  </a:pathLst>
                </a:custGeom>
                <a:noFill/>
                <a:ln w="26194">
                  <a:solidFill>
                    <a:srgbClr val="841600"/>
                  </a:solidFill>
                </a:ln>
              </p:spPr>
            </p:sp>
            <p:sp>
              <p:nvSpPr>
                <p:cNvPr id="40" name="Freeform 40"/>
                <p:cNvSpPr/>
                <p:nvPr/>
              </p:nvSpPr>
              <p:spPr>
                <a:xfrm>
                  <a:off x="2790825" y="3687762"/>
                  <a:ext cx="9525" cy="9525"/>
                </a:xfrm>
                <a:custGeom>
                  <a:avLst/>
                  <a:gdLst/>
                  <a:ahLst/>
                  <a:cxnLst/>
                  <a:rect l="l" t="t" r="r" b="b"/>
                  <a:pathLst>
                    <a:path w="9525" h="9525">
                      <a:moveTo>
                        <a:pt x="0" y="0"/>
                      </a:moveTo>
                      <a:lnTo>
                        <a:pt x="0" y="175"/>
                      </a:lnTo>
                    </a:path>
                  </a:pathLst>
                </a:custGeom>
                <a:noFill/>
                <a:ln w="26194">
                  <a:solidFill>
                    <a:srgbClr val="841600"/>
                  </a:solidFill>
                </a:ln>
              </p:spPr>
            </p:sp>
          </p:grpSp>
          <p:sp>
            <p:nvSpPr>
              <p:cNvPr id="42" name="TextBox 42"/>
              <p:cNvSpPr txBox="1"/>
              <p:nvPr/>
            </p:nvSpPr>
            <p:spPr>
              <a:xfrm>
                <a:off x="2461641" y="4194810"/>
                <a:ext cx="658368" cy="234696"/>
              </a:xfrm>
              <a:prstGeom prst="rect">
                <a:avLst/>
              </a:prstGeom>
              <a:noFill/>
              <a:ln>
                <a:noFill/>
              </a:ln>
            </p:spPr>
            <p:txBody>
              <a:bodyPr wrap="none" lIns="0" tIns="0" rIns="0" bIns="0" anchor="t" anchorCtr="0">
                <a:spAutoFit/>
              </a:bodyPr>
              <a:lstStyle/>
              <a:p>
                <a:pPr algn="ctr"/>
                <a:r>
                  <a:rPr lang="zh-CN" sz="1200" b="1" dirty="0">
                    <a:solidFill>
                      <a:srgbClr val="841600"/>
                    </a:solidFill>
                    <a:latin typeface="+mn-lt"/>
                    <a:ea typeface="+mn-ea"/>
                    <a:cs typeface="+mn-cs"/>
                  </a:rPr>
                  <a:t>轻型网点</a:t>
                </a:r>
              </a:p>
            </p:txBody>
          </p:sp>
          <p:sp>
            <p:nvSpPr>
              <p:cNvPr id="43" name="TextBox 43"/>
              <p:cNvSpPr txBox="1"/>
              <p:nvPr/>
            </p:nvSpPr>
            <p:spPr>
              <a:xfrm>
                <a:off x="2180272" y="4567238"/>
                <a:ext cx="1221105" cy="147638"/>
              </a:xfrm>
              <a:prstGeom prst="rect">
                <a:avLst/>
              </a:prstGeom>
              <a:noFill/>
              <a:ln>
                <a:noFill/>
              </a:ln>
            </p:spPr>
            <p:txBody>
              <a:bodyPr wrap="none" lIns="0" tIns="0" rIns="0" bIns="0" anchor="t" anchorCtr="0">
                <a:spAutoFit/>
              </a:bodyPr>
              <a:lstStyle/>
              <a:p>
                <a:pPr algn="ctr"/>
                <a:r>
                  <a:rPr lang="zh-CN" sz="750" dirty="0">
                    <a:solidFill>
                      <a:srgbClr val="7E605A"/>
                    </a:solidFill>
                    <a:latin typeface="+mn-lt"/>
                    <a:ea typeface="+mn-ea"/>
                    <a:cs typeface="+mn-cs"/>
                  </a:rPr>
                  <a:t>轻运营｜强获客｜线上协同</a:t>
                </a:r>
              </a:p>
            </p:txBody>
          </p:sp>
        </p:grpSp>
      </p:grpSp>
      <p:grpSp>
        <p:nvGrpSpPr>
          <p:cNvPr id="116" name="service-journey"/>
          <p:cNvGrpSpPr/>
          <p:nvPr/>
        </p:nvGrpSpPr>
        <p:grpSpPr>
          <a:xfrm>
            <a:off x="3810000" y="704850"/>
            <a:ext cx="3733800" cy="4667250"/>
            <a:chOff x="3810000" y="704850"/>
            <a:chExt cx="3733800" cy="4667250"/>
          </a:xfrm>
        </p:grpSpPr>
        <p:sp>
          <p:nvSpPr>
            <p:cNvPr id="46" name="Rectangle 46"/>
            <p:cNvSpPr/>
            <p:nvPr/>
          </p:nvSpPr>
          <p:spPr>
            <a:xfrm>
              <a:off x="3810000" y="704850"/>
              <a:ext cx="3733800" cy="4667250"/>
            </a:xfrm>
            <a:prstGeom prst="roundRect">
              <a:avLst>
                <a:gd name="adj" fmla="val 2551"/>
              </a:avLst>
            </a:prstGeom>
            <a:solidFill>
              <a:srgbClr val="FFFFFF"/>
            </a:solidFill>
            <a:ln w="9525">
              <a:solidFill>
                <a:srgbClr val="D7E2F2"/>
              </a:solidFill>
            </a:ln>
          </p:spPr>
        </p:sp>
        <p:sp>
          <p:nvSpPr>
            <p:cNvPr id="47" name="Rectangle 47"/>
            <p:cNvSpPr/>
            <p:nvPr/>
          </p:nvSpPr>
          <p:spPr>
            <a:xfrm>
              <a:off x="3810000" y="704850"/>
              <a:ext cx="3733800" cy="381000"/>
            </a:xfrm>
            <a:prstGeom prst="roundRect">
              <a:avLst>
                <a:gd name="adj" fmla="val 25000"/>
              </a:avLst>
            </a:prstGeom>
            <a:solidFill>
              <a:srgbClr val="841600"/>
            </a:solidFill>
            <a:ln>
              <a:noFill/>
            </a:ln>
          </p:spPr>
        </p:sp>
        <p:sp>
          <p:nvSpPr>
            <p:cNvPr id="48" name="Rectangle 48"/>
            <p:cNvSpPr/>
            <p:nvPr/>
          </p:nvSpPr>
          <p:spPr>
            <a:xfrm>
              <a:off x="3810000" y="914400"/>
              <a:ext cx="3733800" cy="171450"/>
            </a:xfrm>
            <a:prstGeom prst="rect">
              <a:avLst/>
            </a:prstGeom>
            <a:solidFill>
              <a:srgbClr val="841600"/>
            </a:solidFill>
            <a:ln>
              <a:noFill/>
            </a:ln>
          </p:spPr>
        </p:sp>
        <p:sp>
          <p:nvSpPr>
            <p:cNvPr id="49" name="TextBox 49"/>
            <p:cNvSpPr txBox="1"/>
            <p:nvPr/>
          </p:nvSpPr>
          <p:spPr>
            <a:xfrm>
              <a:off x="5186172" y="83248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客户服务旅程</a:t>
              </a:r>
            </a:p>
          </p:txBody>
        </p:sp>
        <p:sp>
          <p:nvSpPr>
            <p:cNvPr id="50" name="Line 50"/>
            <p:cNvSpPr/>
            <p:nvPr/>
          </p:nvSpPr>
          <p:spPr>
            <a:xfrm>
              <a:off x="4562475" y="2571750"/>
              <a:ext cx="9525" cy="1428750"/>
            </a:xfrm>
            <a:custGeom>
              <a:avLst/>
              <a:gdLst/>
              <a:ahLst/>
              <a:cxnLst/>
              <a:rect l="l" t="t" r="r" b="b"/>
              <a:pathLst>
                <a:path w="9525" h="1428750">
                  <a:moveTo>
                    <a:pt x="0" y="0"/>
                  </a:moveTo>
                  <a:lnTo>
                    <a:pt x="0" y="1428750"/>
                  </a:lnTo>
                </a:path>
              </a:pathLst>
            </a:custGeom>
            <a:noFill/>
            <a:ln w="9525">
              <a:solidFill>
                <a:srgbClr val="E5ECF6"/>
              </a:solidFill>
            </a:ln>
          </p:spPr>
        </p:sp>
        <p:sp>
          <p:nvSpPr>
            <p:cNvPr id="51" name="Line 51"/>
            <p:cNvSpPr/>
            <p:nvPr/>
          </p:nvSpPr>
          <p:spPr>
            <a:xfrm>
              <a:off x="5305425" y="2571750"/>
              <a:ext cx="9525" cy="1428750"/>
            </a:xfrm>
            <a:custGeom>
              <a:avLst/>
              <a:gdLst/>
              <a:ahLst/>
              <a:cxnLst/>
              <a:rect l="l" t="t" r="r" b="b"/>
              <a:pathLst>
                <a:path w="9525" h="1428750">
                  <a:moveTo>
                    <a:pt x="0" y="0"/>
                  </a:moveTo>
                  <a:lnTo>
                    <a:pt x="0" y="1428750"/>
                  </a:lnTo>
                </a:path>
              </a:pathLst>
            </a:custGeom>
            <a:noFill/>
            <a:ln w="9525">
              <a:solidFill>
                <a:srgbClr val="E5ECF6"/>
              </a:solidFill>
            </a:ln>
          </p:spPr>
        </p:sp>
        <p:sp>
          <p:nvSpPr>
            <p:cNvPr id="52" name="Line 52"/>
            <p:cNvSpPr/>
            <p:nvPr/>
          </p:nvSpPr>
          <p:spPr>
            <a:xfrm>
              <a:off x="6048375" y="2571750"/>
              <a:ext cx="9525" cy="1428750"/>
            </a:xfrm>
            <a:custGeom>
              <a:avLst/>
              <a:gdLst/>
              <a:ahLst/>
              <a:cxnLst/>
              <a:rect l="l" t="t" r="r" b="b"/>
              <a:pathLst>
                <a:path w="9525" h="1428750">
                  <a:moveTo>
                    <a:pt x="0" y="0"/>
                  </a:moveTo>
                  <a:lnTo>
                    <a:pt x="0" y="1428750"/>
                  </a:lnTo>
                </a:path>
              </a:pathLst>
            </a:custGeom>
            <a:noFill/>
            <a:ln w="9525">
              <a:solidFill>
                <a:srgbClr val="E5ECF6"/>
              </a:solidFill>
            </a:ln>
          </p:spPr>
        </p:sp>
        <p:sp>
          <p:nvSpPr>
            <p:cNvPr id="53" name="Line 53"/>
            <p:cNvSpPr/>
            <p:nvPr/>
          </p:nvSpPr>
          <p:spPr>
            <a:xfrm>
              <a:off x="6791325" y="2571750"/>
              <a:ext cx="9525" cy="1428750"/>
            </a:xfrm>
            <a:custGeom>
              <a:avLst/>
              <a:gdLst/>
              <a:ahLst/>
              <a:cxnLst/>
              <a:rect l="l" t="t" r="r" b="b"/>
              <a:pathLst>
                <a:path w="9525" h="1428750">
                  <a:moveTo>
                    <a:pt x="0" y="0"/>
                  </a:moveTo>
                  <a:lnTo>
                    <a:pt x="0" y="1428750"/>
                  </a:lnTo>
                </a:path>
              </a:pathLst>
            </a:custGeom>
            <a:noFill/>
            <a:ln w="9525">
              <a:solidFill>
                <a:srgbClr val="E5ECF6"/>
              </a:solidFill>
            </a:ln>
          </p:spPr>
        </p:sp>
        <p:grpSp>
          <p:nvGrpSpPr>
            <p:cNvPr id="61" name="journey-1"/>
            <p:cNvGrpSpPr/>
            <p:nvPr/>
          </p:nvGrpSpPr>
          <p:grpSpPr>
            <a:xfrm>
              <a:off x="3943922" y="1657350"/>
              <a:ext cx="494157" cy="2060257"/>
              <a:chOff x="3943922" y="1657350"/>
              <a:chExt cx="494157" cy="2060257"/>
            </a:xfrm>
          </p:grpSpPr>
          <p:sp>
            <p:nvSpPr>
              <p:cNvPr id="54" name="Ellipse 54"/>
              <p:cNvSpPr/>
              <p:nvPr/>
            </p:nvSpPr>
            <p:spPr>
              <a:xfrm>
                <a:off x="4038600" y="1657350"/>
                <a:ext cx="304800" cy="304800"/>
              </a:xfrm>
              <a:prstGeom prst="ellipse">
                <a:avLst/>
              </a:prstGeom>
              <a:solidFill>
                <a:srgbClr val="841600"/>
              </a:solidFill>
              <a:ln>
                <a:noFill/>
              </a:ln>
            </p:spPr>
          </p:sp>
          <p:sp>
            <p:nvSpPr>
              <p:cNvPr id="55" name="TextBox 55"/>
              <p:cNvSpPr txBox="1"/>
              <p:nvPr/>
            </p:nvSpPr>
            <p:spPr>
              <a:xfrm>
                <a:off x="4144851" y="17535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1</a:t>
                </a:r>
              </a:p>
            </p:txBody>
          </p:sp>
          <p:sp>
            <p:nvSpPr>
              <p:cNvPr id="56" name="TextBox 56"/>
              <p:cNvSpPr txBox="1"/>
              <p:nvPr/>
            </p:nvSpPr>
            <p:spPr>
              <a:xfrm>
                <a:off x="4034511" y="22598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识别</a:t>
                </a:r>
              </a:p>
            </p:txBody>
          </p:sp>
          <p:grpSp>
            <p:nvGrpSpPr>
              <p:cNvPr id="59" name="Group 59"/>
              <p:cNvGrpSpPr/>
              <p:nvPr/>
            </p:nvGrpSpPr>
            <p:grpSpPr>
              <a:xfrm>
                <a:off x="4048125" y="2809875"/>
                <a:ext cx="285750" cy="285750"/>
                <a:chOff x="4048125" y="2809875"/>
                <a:chExt cx="285750" cy="285750"/>
              </a:xfrm>
            </p:grpSpPr>
            <p:sp>
              <p:nvSpPr>
                <p:cNvPr id="57" name="Freeform 57"/>
                <p:cNvSpPr/>
                <p:nvPr/>
              </p:nvSpPr>
              <p:spPr>
                <a:xfrm>
                  <a:off x="4048125" y="2809875"/>
                  <a:ext cx="222250" cy="222250"/>
                </a:xfrm>
                <a:custGeom>
                  <a:avLst/>
                  <a:gdLst/>
                  <a:ahLst/>
                  <a:cxnLst/>
                  <a:rect l="l" t="t" r="r" b="b"/>
                  <a:pathLst>
                    <a:path w="222250" h="222250">
                      <a:moveTo>
                        <a:pt x="0" y="111125"/>
                      </a:moveTo>
                      <a:cubicBezTo>
                        <a:pt x="0" y="172498"/>
                        <a:pt x="49752" y="222250"/>
                        <a:pt x="111125" y="222250"/>
                      </a:cubicBezTo>
                      <a:cubicBezTo>
                        <a:pt x="172498" y="222250"/>
                        <a:pt x="222250" y="172498"/>
                        <a:pt x="222250" y="111125"/>
                      </a:cubicBezTo>
                      <a:cubicBezTo>
                        <a:pt x="222250" y="49752"/>
                        <a:pt x="172498" y="0"/>
                        <a:pt x="111125" y="0"/>
                      </a:cubicBezTo>
                      <a:cubicBezTo>
                        <a:pt x="49752" y="0"/>
                        <a:pt x="0" y="49752"/>
                        <a:pt x="0" y="111125"/>
                      </a:cubicBezTo>
                    </a:path>
                  </a:pathLst>
                </a:custGeom>
                <a:noFill/>
                <a:ln w="23813">
                  <a:solidFill>
                    <a:srgbClr val="841600"/>
                  </a:solidFill>
                </a:ln>
              </p:spPr>
            </p:sp>
            <p:sp>
              <p:nvSpPr>
                <p:cNvPr id="58" name="Freeform 58"/>
                <p:cNvSpPr/>
                <p:nvPr/>
              </p:nvSpPr>
              <p:spPr>
                <a:xfrm>
                  <a:off x="4238625" y="3000375"/>
                  <a:ext cx="95250" cy="95250"/>
                </a:xfrm>
                <a:custGeom>
                  <a:avLst/>
                  <a:gdLst/>
                  <a:ahLst/>
                  <a:cxnLst/>
                  <a:rect l="l" t="t" r="r" b="b"/>
                  <a:pathLst>
                    <a:path w="95250" h="95250">
                      <a:moveTo>
                        <a:pt x="95250" y="95250"/>
                      </a:moveTo>
                      <a:lnTo>
                        <a:pt x="0" y="0"/>
                      </a:lnTo>
                    </a:path>
                  </a:pathLst>
                </a:custGeom>
                <a:noFill/>
                <a:ln w="23813">
                  <a:solidFill>
                    <a:srgbClr val="841600"/>
                  </a:solidFill>
                </a:ln>
              </p:spPr>
            </p:sp>
          </p:grpSp>
          <p:sp>
            <p:nvSpPr>
              <p:cNvPr id="60" name="TextBox 60"/>
              <p:cNvSpPr txBox="1"/>
              <p:nvPr/>
            </p:nvSpPr>
            <p:spPr>
              <a:xfrm>
                <a:off x="3943922" y="3541395"/>
                <a:ext cx="494157"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客户画像</a:t>
                </a:r>
              </a:p>
            </p:txBody>
          </p:sp>
        </p:grpSp>
        <p:sp>
          <p:nvSpPr>
            <p:cNvPr id="62" name="Line 62"/>
            <p:cNvSpPr/>
            <p:nvPr/>
          </p:nvSpPr>
          <p:spPr>
            <a:xfrm>
              <a:off x="4400550" y="1809750"/>
              <a:ext cx="304800" cy="1"/>
            </a:xfrm>
            <a:prstGeom prst="line">
              <a:avLst/>
            </a:prstGeom>
            <a:noFill/>
            <a:ln w="23812">
              <a:solidFill>
                <a:srgbClr val="C9482E"/>
              </a:solidFill>
              <a:tailEnd type="triangle" w="lg" len="lg"/>
            </a:ln>
          </p:spPr>
        </p:sp>
        <p:grpSp>
          <p:nvGrpSpPr>
            <p:cNvPr id="73" name="journey-2"/>
            <p:cNvGrpSpPr/>
            <p:nvPr/>
          </p:nvGrpSpPr>
          <p:grpSpPr>
            <a:xfrm>
              <a:off x="4686872" y="1657350"/>
              <a:ext cx="494157" cy="2060257"/>
              <a:chOff x="4686872" y="1657350"/>
              <a:chExt cx="494157" cy="2060257"/>
            </a:xfrm>
          </p:grpSpPr>
          <p:sp>
            <p:nvSpPr>
              <p:cNvPr id="63" name="Ellipse 63"/>
              <p:cNvSpPr/>
              <p:nvPr/>
            </p:nvSpPr>
            <p:spPr>
              <a:xfrm>
                <a:off x="4781550" y="1657350"/>
                <a:ext cx="304800" cy="304800"/>
              </a:xfrm>
              <a:prstGeom prst="ellipse">
                <a:avLst/>
              </a:prstGeom>
              <a:solidFill>
                <a:srgbClr val="841600"/>
              </a:solidFill>
              <a:ln>
                <a:noFill/>
              </a:ln>
            </p:spPr>
          </p:sp>
          <p:sp>
            <p:nvSpPr>
              <p:cNvPr id="64" name="TextBox 64"/>
              <p:cNvSpPr txBox="1"/>
              <p:nvPr/>
            </p:nvSpPr>
            <p:spPr>
              <a:xfrm>
                <a:off x="4887801" y="17535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a:t>
                </a:r>
              </a:p>
            </p:txBody>
          </p:sp>
          <p:sp>
            <p:nvSpPr>
              <p:cNvPr id="65" name="TextBox 65"/>
              <p:cNvSpPr txBox="1"/>
              <p:nvPr/>
            </p:nvSpPr>
            <p:spPr>
              <a:xfrm>
                <a:off x="4777461" y="22598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分流</a:t>
                </a:r>
              </a:p>
            </p:txBody>
          </p:sp>
          <p:grpSp>
            <p:nvGrpSpPr>
              <p:cNvPr id="71" name="Group 71"/>
              <p:cNvGrpSpPr/>
              <p:nvPr/>
            </p:nvGrpSpPr>
            <p:grpSpPr>
              <a:xfrm>
                <a:off x="4822825" y="2825750"/>
                <a:ext cx="222250" cy="254001"/>
                <a:chOff x="4822825" y="2825750"/>
                <a:chExt cx="222250" cy="254001"/>
              </a:xfrm>
            </p:grpSpPr>
            <p:sp>
              <p:nvSpPr>
                <p:cNvPr id="66" name="Freeform 66"/>
                <p:cNvSpPr/>
                <p:nvPr/>
              </p:nvSpPr>
              <p:spPr>
                <a:xfrm>
                  <a:off x="4902200" y="3016251"/>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841600"/>
                  </a:solidFill>
                </a:ln>
              </p:spPr>
            </p:sp>
            <p:sp>
              <p:nvSpPr>
                <p:cNvPr id="67" name="Freeform 67"/>
                <p:cNvSpPr/>
                <p:nvPr/>
              </p:nvSpPr>
              <p:spPr>
                <a:xfrm>
                  <a:off x="4822825" y="28257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841600"/>
                  </a:solidFill>
                </a:ln>
              </p:spPr>
            </p:sp>
            <p:sp>
              <p:nvSpPr>
                <p:cNvPr id="68" name="Freeform 68"/>
                <p:cNvSpPr/>
                <p:nvPr/>
              </p:nvSpPr>
              <p:spPr>
                <a:xfrm>
                  <a:off x="4981575" y="28257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841600"/>
                  </a:solidFill>
                </a:ln>
              </p:spPr>
            </p:sp>
            <p:sp>
              <p:nvSpPr>
                <p:cNvPr id="69" name="Freeform 69"/>
                <p:cNvSpPr/>
                <p:nvPr/>
              </p:nvSpPr>
              <p:spPr>
                <a:xfrm>
                  <a:off x="4854575" y="2889250"/>
                  <a:ext cx="158750" cy="63500"/>
                </a:xfrm>
                <a:custGeom>
                  <a:avLst/>
                  <a:gdLst/>
                  <a:ahLst/>
                  <a:cxnLst/>
                  <a:rect l="l" t="t" r="r" b="b"/>
                  <a:pathLst>
                    <a:path w="158750" h="63500">
                      <a:moveTo>
                        <a:pt x="0" y="0"/>
                      </a:moveTo>
                      <a:lnTo>
                        <a:pt x="0" y="31750"/>
                      </a:lnTo>
                      <a:cubicBezTo>
                        <a:pt x="0" y="49285"/>
                        <a:pt x="14215" y="63500"/>
                        <a:pt x="31750" y="63500"/>
                      </a:cubicBezTo>
                      <a:lnTo>
                        <a:pt x="127000" y="63500"/>
                      </a:lnTo>
                      <a:cubicBezTo>
                        <a:pt x="144535" y="63500"/>
                        <a:pt x="158750" y="49285"/>
                        <a:pt x="158750" y="31750"/>
                      </a:cubicBezTo>
                      <a:lnTo>
                        <a:pt x="158750" y="0"/>
                      </a:lnTo>
                    </a:path>
                  </a:pathLst>
                </a:custGeom>
                <a:noFill/>
                <a:ln w="23813">
                  <a:solidFill>
                    <a:srgbClr val="841600"/>
                  </a:solidFill>
                </a:ln>
              </p:spPr>
            </p:sp>
            <p:sp>
              <p:nvSpPr>
                <p:cNvPr id="70" name="Freeform 70"/>
                <p:cNvSpPr/>
                <p:nvPr/>
              </p:nvSpPr>
              <p:spPr>
                <a:xfrm>
                  <a:off x="4933950" y="2952750"/>
                  <a:ext cx="9525" cy="63500"/>
                </a:xfrm>
                <a:custGeom>
                  <a:avLst/>
                  <a:gdLst/>
                  <a:ahLst/>
                  <a:cxnLst/>
                  <a:rect l="l" t="t" r="r" b="b"/>
                  <a:pathLst>
                    <a:path w="9525" h="63500">
                      <a:moveTo>
                        <a:pt x="0" y="0"/>
                      </a:moveTo>
                      <a:lnTo>
                        <a:pt x="0" y="63500"/>
                      </a:lnTo>
                    </a:path>
                  </a:pathLst>
                </a:custGeom>
                <a:noFill/>
                <a:ln w="23813">
                  <a:solidFill>
                    <a:srgbClr val="841600"/>
                  </a:solidFill>
                </a:ln>
              </p:spPr>
            </p:sp>
          </p:grpSp>
          <p:sp>
            <p:nvSpPr>
              <p:cNvPr id="72" name="TextBox 72"/>
              <p:cNvSpPr txBox="1"/>
              <p:nvPr/>
            </p:nvSpPr>
            <p:spPr>
              <a:xfrm>
                <a:off x="4686872" y="3541395"/>
                <a:ext cx="494157"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智能引导</a:t>
                </a:r>
              </a:p>
            </p:txBody>
          </p:sp>
        </p:grpSp>
        <p:sp>
          <p:nvSpPr>
            <p:cNvPr id="74" name="Line 74"/>
            <p:cNvSpPr/>
            <p:nvPr/>
          </p:nvSpPr>
          <p:spPr>
            <a:xfrm>
              <a:off x="5143500" y="1809750"/>
              <a:ext cx="304800" cy="1"/>
            </a:xfrm>
            <a:prstGeom prst="line">
              <a:avLst/>
            </a:prstGeom>
            <a:noFill/>
            <a:ln w="23812">
              <a:solidFill>
                <a:srgbClr val="C9482E"/>
              </a:solidFill>
              <a:tailEnd type="triangle" w="lg" len="lg"/>
            </a:ln>
          </p:spPr>
        </p:sp>
        <p:grpSp>
          <p:nvGrpSpPr>
            <p:cNvPr id="84" name="journey-3"/>
            <p:cNvGrpSpPr/>
            <p:nvPr/>
          </p:nvGrpSpPr>
          <p:grpSpPr>
            <a:xfrm>
              <a:off x="5429821" y="1657350"/>
              <a:ext cx="494157" cy="2060257"/>
              <a:chOff x="5429821" y="1657350"/>
              <a:chExt cx="494157" cy="2060257"/>
            </a:xfrm>
          </p:grpSpPr>
          <p:sp>
            <p:nvSpPr>
              <p:cNvPr id="75" name="Ellipse 75"/>
              <p:cNvSpPr/>
              <p:nvPr/>
            </p:nvSpPr>
            <p:spPr>
              <a:xfrm>
                <a:off x="5524500" y="1657350"/>
                <a:ext cx="304800" cy="304800"/>
              </a:xfrm>
              <a:prstGeom prst="ellipse">
                <a:avLst/>
              </a:prstGeom>
              <a:solidFill>
                <a:srgbClr val="841600"/>
              </a:solidFill>
              <a:ln>
                <a:noFill/>
              </a:ln>
            </p:spPr>
          </p:sp>
          <p:sp>
            <p:nvSpPr>
              <p:cNvPr id="76" name="TextBox 76"/>
              <p:cNvSpPr txBox="1"/>
              <p:nvPr/>
            </p:nvSpPr>
            <p:spPr>
              <a:xfrm>
                <a:off x="5630751" y="17535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3</a:t>
                </a:r>
              </a:p>
            </p:txBody>
          </p:sp>
          <p:sp>
            <p:nvSpPr>
              <p:cNvPr id="77" name="TextBox 77"/>
              <p:cNvSpPr txBox="1"/>
              <p:nvPr/>
            </p:nvSpPr>
            <p:spPr>
              <a:xfrm>
                <a:off x="5520411" y="22598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办理</a:t>
                </a:r>
              </a:p>
            </p:txBody>
          </p:sp>
          <p:grpSp>
            <p:nvGrpSpPr>
              <p:cNvPr id="82" name="Group 82"/>
              <p:cNvGrpSpPr/>
              <p:nvPr/>
            </p:nvGrpSpPr>
            <p:grpSpPr>
              <a:xfrm>
                <a:off x="5565775" y="2825750"/>
                <a:ext cx="238125" cy="269876"/>
                <a:chOff x="5565775" y="2825750"/>
                <a:chExt cx="238125" cy="269876"/>
              </a:xfrm>
            </p:grpSpPr>
            <p:sp>
              <p:nvSpPr>
                <p:cNvPr id="78" name="Freeform 78"/>
                <p:cNvSpPr/>
                <p:nvPr/>
              </p:nvSpPr>
              <p:spPr>
                <a:xfrm>
                  <a:off x="5565775" y="2825750"/>
                  <a:ext cx="190500" cy="254001"/>
                </a:xfrm>
                <a:custGeom>
                  <a:avLst/>
                  <a:gdLst/>
                  <a:ahLst/>
                  <a:cxnLst/>
                  <a:rect l="l" t="t" r="r" b="b"/>
                  <a:pathLst>
                    <a:path w="190500" h="254001">
                      <a:moveTo>
                        <a:pt x="73263" y="254001"/>
                      </a:moveTo>
                      <a:lnTo>
                        <a:pt x="31750" y="254001"/>
                      </a:lnTo>
                      <a:cubicBezTo>
                        <a:pt x="14215" y="254001"/>
                        <a:pt x="0" y="239786"/>
                        <a:pt x="0" y="222250"/>
                      </a:cubicBezTo>
                      <a:lnTo>
                        <a:pt x="0" y="31750"/>
                      </a:lnTo>
                      <a:cubicBezTo>
                        <a:pt x="0" y="14215"/>
                        <a:pt x="14215" y="0"/>
                        <a:pt x="31750" y="0"/>
                      </a:cubicBezTo>
                      <a:lnTo>
                        <a:pt x="158750" y="0"/>
                      </a:lnTo>
                      <a:cubicBezTo>
                        <a:pt x="176285" y="0"/>
                        <a:pt x="190500" y="14215"/>
                        <a:pt x="190500" y="31750"/>
                      </a:cubicBezTo>
                      <a:lnTo>
                        <a:pt x="190500" y="158750"/>
                      </a:lnTo>
                    </a:path>
                  </a:pathLst>
                </a:custGeom>
                <a:noFill/>
                <a:ln w="23813">
                  <a:solidFill>
                    <a:srgbClr val="841600"/>
                  </a:solidFill>
                </a:ln>
              </p:spPr>
            </p:sp>
            <p:sp>
              <p:nvSpPr>
                <p:cNvPr id="79" name="Freeform 79"/>
                <p:cNvSpPr/>
                <p:nvPr/>
              </p:nvSpPr>
              <p:spPr>
                <a:xfrm>
                  <a:off x="5708650" y="3032126"/>
                  <a:ext cx="95250" cy="63500"/>
                </a:xfrm>
                <a:custGeom>
                  <a:avLst/>
                  <a:gdLst/>
                  <a:ahLst/>
                  <a:cxnLst/>
                  <a:rect l="l" t="t" r="r" b="b"/>
                  <a:pathLst>
                    <a:path w="95250" h="63500">
                      <a:moveTo>
                        <a:pt x="0" y="31750"/>
                      </a:moveTo>
                      <a:lnTo>
                        <a:pt x="31750" y="63500"/>
                      </a:lnTo>
                      <a:lnTo>
                        <a:pt x="95250" y="0"/>
                      </a:lnTo>
                    </a:path>
                  </a:pathLst>
                </a:custGeom>
                <a:noFill/>
                <a:ln w="23813">
                  <a:solidFill>
                    <a:srgbClr val="841600"/>
                  </a:solidFill>
                </a:ln>
              </p:spPr>
            </p:sp>
            <p:sp>
              <p:nvSpPr>
                <p:cNvPr id="80" name="Freeform 80"/>
                <p:cNvSpPr/>
                <p:nvPr/>
              </p:nvSpPr>
              <p:spPr>
                <a:xfrm>
                  <a:off x="5629275" y="2889250"/>
                  <a:ext cx="63500" cy="9525"/>
                </a:xfrm>
                <a:custGeom>
                  <a:avLst/>
                  <a:gdLst/>
                  <a:ahLst/>
                  <a:cxnLst/>
                  <a:rect l="l" t="t" r="r" b="b"/>
                  <a:pathLst>
                    <a:path w="63500" h="9525">
                      <a:moveTo>
                        <a:pt x="0" y="0"/>
                      </a:moveTo>
                      <a:lnTo>
                        <a:pt x="63500" y="0"/>
                      </a:lnTo>
                    </a:path>
                  </a:pathLst>
                </a:custGeom>
                <a:noFill/>
                <a:ln w="23813">
                  <a:solidFill>
                    <a:srgbClr val="841600"/>
                  </a:solidFill>
                </a:ln>
              </p:spPr>
            </p:sp>
            <p:sp>
              <p:nvSpPr>
                <p:cNvPr id="81" name="Freeform 81"/>
                <p:cNvSpPr/>
                <p:nvPr/>
              </p:nvSpPr>
              <p:spPr>
                <a:xfrm>
                  <a:off x="5629275" y="2952750"/>
                  <a:ext cx="31750" cy="9525"/>
                </a:xfrm>
                <a:custGeom>
                  <a:avLst/>
                  <a:gdLst/>
                  <a:ahLst/>
                  <a:cxnLst/>
                  <a:rect l="l" t="t" r="r" b="b"/>
                  <a:pathLst>
                    <a:path w="31750" h="9525">
                      <a:moveTo>
                        <a:pt x="0" y="0"/>
                      </a:moveTo>
                      <a:lnTo>
                        <a:pt x="31750" y="0"/>
                      </a:lnTo>
                    </a:path>
                  </a:pathLst>
                </a:custGeom>
                <a:noFill/>
                <a:ln w="23813">
                  <a:solidFill>
                    <a:srgbClr val="841600"/>
                  </a:solidFill>
                </a:ln>
              </p:spPr>
            </p:sp>
          </p:grpSp>
          <p:sp>
            <p:nvSpPr>
              <p:cNvPr id="83" name="TextBox 83"/>
              <p:cNvSpPr txBox="1"/>
              <p:nvPr/>
            </p:nvSpPr>
            <p:spPr>
              <a:xfrm>
                <a:off x="5429821" y="3541395"/>
                <a:ext cx="494157"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一次办结</a:t>
                </a:r>
              </a:p>
            </p:txBody>
          </p:sp>
        </p:grpSp>
        <p:sp>
          <p:nvSpPr>
            <p:cNvPr id="85" name="Line 85"/>
            <p:cNvSpPr/>
            <p:nvPr/>
          </p:nvSpPr>
          <p:spPr>
            <a:xfrm>
              <a:off x="5886450" y="1809750"/>
              <a:ext cx="304800" cy="1"/>
            </a:xfrm>
            <a:prstGeom prst="line">
              <a:avLst/>
            </a:prstGeom>
            <a:noFill/>
            <a:ln w="23812">
              <a:solidFill>
                <a:srgbClr val="C9482E"/>
              </a:solidFill>
              <a:tailEnd type="triangle" w="lg" len="lg"/>
            </a:ln>
          </p:spPr>
        </p:sp>
        <p:grpSp>
          <p:nvGrpSpPr>
            <p:cNvPr id="95" name="journey-4"/>
            <p:cNvGrpSpPr/>
            <p:nvPr/>
          </p:nvGrpSpPr>
          <p:grpSpPr>
            <a:xfrm>
              <a:off x="6172771" y="1657350"/>
              <a:ext cx="494157" cy="2060257"/>
              <a:chOff x="6172771" y="1657350"/>
              <a:chExt cx="494157" cy="2060257"/>
            </a:xfrm>
          </p:grpSpPr>
          <p:sp>
            <p:nvSpPr>
              <p:cNvPr id="86" name="Ellipse 86"/>
              <p:cNvSpPr/>
              <p:nvPr/>
            </p:nvSpPr>
            <p:spPr>
              <a:xfrm>
                <a:off x="6267450" y="1657350"/>
                <a:ext cx="304800" cy="304800"/>
              </a:xfrm>
              <a:prstGeom prst="ellipse">
                <a:avLst/>
              </a:prstGeom>
              <a:solidFill>
                <a:srgbClr val="841600"/>
              </a:solidFill>
              <a:ln>
                <a:noFill/>
              </a:ln>
            </p:spPr>
          </p:sp>
          <p:sp>
            <p:nvSpPr>
              <p:cNvPr id="87" name="TextBox 87"/>
              <p:cNvSpPr txBox="1"/>
              <p:nvPr/>
            </p:nvSpPr>
            <p:spPr>
              <a:xfrm>
                <a:off x="6373701" y="17535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4</a:t>
                </a:r>
              </a:p>
            </p:txBody>
          </p:sp>
          <p:sp>
            <p:nvSpPr>
              <p:cNvPr id="88" name="TextBox 88"/>
              <p:cNvSpPr txBox="1"/>
              <p:nvPr/>
            </p:nvSpPr>
            <p:spPr>
              <a:xfrm>
                <a:off x="6263361" y="22598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转介</a:t>
                </a:r>
              </a:p>
            </p:txBody>
          </p:sp>
          <p:grpSp>
            <p:nvGrpSpPr>
              <p:cNvPr id="93" name="Group 93"/>
              <p:cNvGrpSpPr/>
              <p:nvPr/>
            </p:nvGrpSpPr>
            <p:grpSpPr>
              <a:xfrm>
                <a:off x="6276975" y="2809875"/>
                <a:ext cx="285751" cy="285751"/>
                <a:chOff x="6276975" y="2809875"/>
                <a:chExt cx="285751" cy="285751"/>
              </a:xfrm>
            </p:grpSpPr>
            <p:sp>
              <p:nvSpPr>
                <p:cNvPr id="89" name="Freeform 89"/>
                <p:cNvSpPr/>
                <p:nvPr/>
              </p:nvSpPr>
              <p:spPr>
                <a:xfrm>
                  <a:off x="6308725" y="28098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3813">
                  <a:solidFill>
                    <a:srgbClr val="841600"/>
                  </a:solidFill>
                </a:ln>
              </p:spPr>
            </p:sp>
            <p:sp>
              <p:nvSpPr>
                <p:cNvPr id="90" name="Freeform 90"/>
                <p:cNvSpPr/>
                <p:nvPr/>
              </p:nvSpPr>
              <p:spPr>
                <a:xfrm>
                  <a:off x="6276975" y="3000375"/>
                  <a:ext cx="190500" cy="95250"/>
                </a:xfrm>
                <a:custGeom>
                  <a:avLst/>
                  <a:gdLst/>
                  <a:ahLst/>
                  <a:cxnLst/>
                  <a:rect l="l" t="t" r="r" b="b"/>
                  <a:pathLst>
                    <a:path w="190500" h="95250">
                      <a:moveTo>
                        <a:pt x="0" y="95250"/>
                      </a:moveTo>
                      <a:lnTo>
                        <a:pt x="0" y="63500"/>
                      </a:lnTo>
                      <a:cubicBezTo>
                        <a:pt x="0" y="28430"/>
                        <a:pt x="28430" y="0"/>
                        <a:pt x="63500" y="0"/>
                      </a:cubicBezTo>
                      <a:lnTo>
                        <a:pt x="127000" y="0"/>
                      </a:lnTo>
                      <a:cubicBezTo>
                        <a:pt x="162070" y="0"/>
                        <a:pt x="190500" y="28430"/>
                        <a:pt x="190500" y="63500"/>
                      </a:cubicBezTo>
                      <a:lnTo>
                        <a:pt x="190500" y="95250"/>
                      </a:lnTo>
                    </a:path>
                  </a:pathLst>
                </a:custGeom>
                <a:noFill/>
                <a:ln w="23813">
                  <a:solidFill>
                    <a:srgbClr val="841600"/>
                  </a:solidFill>
                </a:ln>
              </p:spPr>
            </p:sp>
            <p:sp>
              <p:nvSpPr>
                <p:cNvPr id="91" name="Freeform 91"/>
                <p:cNvSpPr/>
                <p:nvPr/>
              </p:nvSpPr>
              <p:spPr>
                <a:xfrm>
                  <a:off x="6483351" y="2811939"/>
                  <a:ext cx="47750" cy="123031"/>
                </a:xfrm>
                <a:custGeom>
                  <a:avLst/>
                  <a:gdLst/>
                  <a:ahLst/>
                  <a:cxnLst/>
                  <a:rect l="l" t="t" r="r" b="b"/>
                  <a:pathLst>
                    <a:path w="47750" h="123031">
                      <a:moveTo>
                        <a:pt x="0" y="0"/>
                      </a:moveTo>
                      <a:cubicBezTo>
                        <a:pt x="28097" y="7194"/>
                        <a:pt x="47750" y="32512"/>
                        <a:pt x="47750" y="61516"/>
                      </a:cubicBezTo>
                      <a:cubicBezTo>
                        <a:pt x="47750" y="90520"/>
                        <a:pt x="28097" y="115837"/>
                        <a:pt x="0" y="123031"/>
                      </a:cubicBezTo>
                    </a:path>
                  </a:pathLst>
                </a:custGeom>
                <a:noFill/>
                <a:ln w="23813">
                  <a:solidFill>
                    <a:srgbClr val="841600"/>
                  </a:solidFill>
                </a:ln>
              </p:spPr>
            </p:sp>
            <p:sp>
              <p:nvSpPr>
                <p:cNvPr id="92" name="Freeform 92"/>
                <p:cNvSpPr/>
                <p:nvPr/>
              </p:nvSpPr>
              <p:spPr>
                <a:xfrm>
                  <a:off x="6515101" y="3002757"/>
                  <a:ext cx="47625" cy="92869"/>
                </a:xfrm>
                <a:custGeom>
                  <a:avLst/>
                  <a:gdLst/>
                  <a:ahLst/>
                  <a:cxnLst/>
                  <a:rect l="l" t="t" r="r" b="b"/>
                  <a:pathLst>
                    <a:path w="47625" h="92869">
                      <a:moveTo>
                        <a:pt x="47625" y="92869"/>
                      </a:moveTo>
                      <a:lnTo>
                        <a:pt x="47625" y="61119"/>
                      </a:lnTo>
                      <a:cubicBezTo>
                        <a:pt x="47459" y="32299"/>
                        <a:pt x="27905" y="7205"/>
                        <a:pt x="0" y="0"/>
                      </a:cubicBezTo>
                    </a:path>
                  </a:pathLst>
                </a:custGeom>
                <a:noFill/>
                <a:ln w="23813">
                  <a:solidFill>
                    <a:srgbClr val="841600"/>
                  </a:solidFill>
                </a:ln>
              </p:spPr>
            </p:sp>
          </p:grpSp>
          <p:sp>
            <p:nvSpPr>
              <p:cNvPr id="94" name="TextBox 94"/>
              <p:cNvSpPr txBox="1"/>
              <p:nvPr/>
            </p:nvSpPr>
            <p:spPr>
              <a:xfrm>
                <a:off x="6172771" y="3541395"/>
                <a:ext cx="494157"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营销线索</a:t>
                </a:r>
              </a:p>
            </p:txBody>
          </p:sp>
        </p:grpSp>
        <p:sp>
          <p:nvSpPr>
            <p:cNvPr id="96" name="Line 96"/>
            <p:cNvSpPr/>
            <p:nvPr/>
          </p:nvSpPr>
          <p:spPr>
            <a:xfrm>
              <a:off x="6629400" y="1809750"/>
              <a:ext cx="304800" cy="1"/>
            </a:xfrm>
            <a:prstGeom prst="line">
              <a:avLst/>
            </a:prstGeom>
            <a:noFill/>
            <a:ln w="23812">
              <a:solidFill>
                <a:srgbClr val="C9482E"/>
              </a:solidFill>
              <a:tailEnd type="triangle" w="lg" len="lg"/>
            </a:ln>
          </p:spPr>
        </p:sp>
        <p:grpSp>
          <p:nvGrpSpPr>
            <p:cNvPr id="105" name="journey-5"/>
            <p:cNvGrpSpPr/>
            <p:nvPr/>
          </p:nvGrpSpPr>
          <p:grpSpPr>
            <a:xfrm>
              <a:off x="6915721" y="1657350"/>
              <a:ext cx="494157" cy="2060257"/>
              <a:chOff x="6915721" y="1657350"/>
              <a:chExt cx="494157" cy="2060257"/>
            </a:xfrm>
          </p:grpSpPr>
          <p:sp>
            <p:nvSpPr>
              <p:cNvPr id="97" name="Ellipse 97"/>
              <p:cNvSpPr/>
              <p:nvPr/>
            </p:nvSpPr>
            <p:spPr>
              <a:xfrm>
                <a:off x="7010400" y="1657350"/>
                <a:ext cx="304800" cy="304800"/>
              </a:xfrm>
              <a:prstGeom prst="ellipse">
                <a:avLst/>
              </a:prstGeom>
              <a:solidFill>
                <a:srgbClr val="841600"/>
              </a:solidFill>
              <a:ln>
                <a:noFill/>
              </a:ln>
            </p:spPr>
          </p:sp>
          <p:sp>
            <p:nvSpPr>
              <p:cNvPr id="98" name="TextBox 98"/>
              <p:cNvSpPr txBox="1"/>
              <p:nvPr/>
            </p:nvSpPr>
            <p:spPr>
              <a:xfrm>
                <a:off x="7116651" y="17535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5</a:t>
                </a:r>
              </a:p>
            </p:txBody>
          </p:sp>
          <p:sp>
            <p:nvSpPr>
              <p:cNvPr id="99" name="TextBox 99"/>
              <p:cNvSpPr txBox="1"/>
              <p:nvPr/>
            </p:nvSpPr>
            <p:spPr>
              <a:xfrm>
                <a:off x="7006311" y="225980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跟进</a:t>
                </a:r>
              </a:p>
            </p:txBody>
          </p:sp>
          <p:grpSp>
            <p:nvGrpSpPr>
              <p:cNvPr id="103" name="Group 103"/>
              <p:cNvGrpSpPr/>
              <p:nvPr/>
            </p:nvGrpSpPr>
            <p:grpSpPr>
              <a:xfrm>
                <a:off x="7019925" y="2809875"/>
                <a:ext cx="285750" cy="285751"/>
                <a:chOff x="7019925" y="2809875"/>
                <a:chExt cx="285750" cy="285751"/>
              </a:xfrm>
            </p:grpSpPr>
            <p:sp>
              <p:nvSpPr>
                <p:cNvPr id="100" name="Freeform 100"/>
                <p:cNvSpPr/>
                <p:nvPr/>
              </p:nvSpPr>
              <p:spPr>
                <a:xfrm>
                  <a:off x="7019925" y="2825750"/>
                  <a:ext cx="269876" cy="269876"/>
                </a:xfrm>
                <a:custGeom>
                  <a:avLst/>
                  <a:gdLst/>
                  <a:ahLst/>
                  <a:cxnLst/>
                  <a:rect l="l" t="t" r="r" b="b"/>
                  <a:pathLst>
                    <a:path w="269876" h="269876">
                      <a:moveTo>
                        <a:pt x="31750" y="0"/>
                      </a:moveTo>
                      <a:lnTo>
                        <a:pt x="95250" y="0"/>
                      </a:lnTo>
                      <a:lnTo>
                        <a:pt x="127000" y="79375"/>
                      </a:lnTo>
                      <a:lnTo>
                        <a:pt x="87313" y="103188"/>
                      </a:lnTo>
                      <a:cubicBezTo>
                        <a:pt x="104314" y="137661"/>
                        <a:pt x="132215" y="165561"/>
                        <a:pt x="166688" y="182563"/>
                      </a:cubicBezTo>
                      <a:lnTo>
                        <a:pt x="190500" y="142875"/>
                      </a:lnTo>
                      <a:lnTo>
                        <a:pt x="269876" y="174625"/>
                      </a:lnTo>
                      <a:lnTo>
                        <a:pt x="269876" y="238125"/>
                      </a:lnTo>
                      <a:cubicBezTo>
                        <a:pt x="269876" y="255661"/>
                        <a:pt x="255661" y="269876"/>
                        <a:pt x="238125" y="269876"/>
                      </a:cubicBezTo>
                      <a:cubicBezTo>
                        <a:pt x="109977" y="262088"/>
                        <a:pt x="7788" y="159899"/>
                        <a:pt x="0" y="31750"/>
                      </a:cubicBezTo>
                      <a:cubicBezTo>
                        <a:pt x="0" y="14215"/>
                        <a:pt x="14215" y="0"/>
                        <a:pt x="31750" y="0"/>
                      </a:cubicBezTo>
                    </a:path>
                  </a:pathLst>
                </a:custGeom>
                <a:noFill/>
                <a:ln w="23813">
                  <a:solidFill>
                    <a:srgbClr val="841600"/>
                  </a:solidFill>
                </a:ln>
              </p:spPr>
            </p:sp>
            <p:sp>
              <p:nvSpPr>
                <p:cNvPr id="101" name="Freeform 101"/>
                <p:cNvSpPr/>
                <p:nvPr/>
              </p:nvSpPr>
              <p:spPr>
                <a:xfrm>
                  <a:off x="7210425" y="2873375"/>
                  <a:ext cx="31750" cy="31750"/>
                </a:xfrm>
                <a:custGeom>
                  <a:avLst/>
                  <a:gdLst/>
                  <a:ahLst/>
                  <a:cxnLst/>
                  <a:rect l="l" t="t" r="r" b="b"/>
                  <a:pathLst>
                    <a:path w="31750" h="31750">
                      <a:moveTo>
                        <a:pt x="0" y="0"/>
                      </a:moveTo>
                      <a:cubicBezTo>
                        <a:pt x="17535" y="0"/>
                        <a:pt x="31750" y="14215"/>
                        <a:pt x="31750" y="31750"/>
                      </a:cubicBezTo>
                    </a:path>
                  </a:pathLst>
                </a:custGeom>
                <a:noFill/>
                <a:ln w="23813">
                  <a:solidFill>
                    <a:srgbClr val="841600"/>
                  </a:solidFill>
                </a:ln>
              </p:spPr>
            </p:sp>
            <p:sp>
              <p:nvSpPr>
                <p:cNvPr id="102" name="Freeform 102"/>
                <p:cNvSpPr/>
                <p:nvPr/>
              </p:nvSpPr>
              <p:spPr>
                <a:xfrm>
                  <a:off x="7210425" y="2809875"/>
                  <a:ext cx="95250" cy="95250"/>
                </a:xfrm>
                <a:custGeom>
                  <a:avLst/>
                  <a:gdLst/>
                  <a:ahLst/>
                  <a:cxnLst/>
                  <a:rect l="l" t="t" r="r" b="b"/>
                  <a:pathLst>
                    <a:path w="95250" h="95250">
                      <a:moveTo>
                        <a:pt x="0" y="0"/>
                      </a:moveTo>
                      <a:cubicBezTo>
                        <a:pt x="52605" y="0"/>
                        <a:pt x="95250" y="42645"/>
                        <a:pt x="95250" y="95250"/>
                      </a:cubicBezTo>
                    </a:path>
                  </a:pathLst>
                </a:custGeom>
                <a:noFill/>
                <a:ln w="23813">
                  <a:solidFill>
                    <a:srgbClr val="841600"/>
                  </a:solidFill>
                </a:ln>
              </p:spPr>
            </p:sp>
          </p:grpSp>
          <p:sp>
            <p:nvSpPr>
              <p:cNvPr id="104" name="TextBox 104"/>
              <p:cNvSpPr txBox="1"/>
              <p:nvPr/>
            </p:nvSpPr>
            <p:spPr>
              <a:xfrm>
                <a:off x="6915721" y="3541395"/>
                <a:ext cx="494157"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闭环回访</a:t>
                </a:r>
              </a:p>
            </p:txBody>
          </p:sp>
        </p:grpSp>
        <p:sp>
          <p:nvSpPr>
            <p:cNvPr id="106" name="Rectangle 106"/>
            <p:cNvSpPr/>
            <p:nvPr/>
          </p:nvSpPr>
          <p:spPr>
            <a:xfrm>
              <a:off x="3962400" y="4191000"/>
              <a:ext cx="3429000" cy="952500"/>
            </a:xfrm>
            <a:prstGeom prst="roundRect">
              <a:avLst>
                <a:gd name="adj" fmla="val 8000"/>
              </a:avLst>
            </a:prstGeom>
            <a:solidFill>
              <a:srgbClr val="EFF5FD"/>
            </a:solidFill>
            <a:ln>
              <a:noFill/>
            </a:ln>
          </p:spPr>
        </p:sp>
        <p:sp>
          <p:nvSpPr>
            <p:cNvPr id="107" name="TextBox 107"/>
            <p:cNvSpPr txBox="1"/>
            <p:nvPr/>
          </p:nvSpPr>
          <p:spPr>
            <a:xfrm>
              <a:off x="4509516" y="461105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识别</a:t>
              </a:r>
            </a:p>
          </p:txBody>
        </p:sp>
        <p:sp>
          <p:nvSpPr>
            <p:cNvPr id="108" name="Polygon 108"/>
            <p:cNvSpPr/>
            <p:nvPr/>
          </p:nvSpPr>
          <p:spPr>
            <a:xfrm>
              <a:off x="4857750" y="463010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109" name="TextBox 109"/>
            <p:cNvSpPr txBox="1"/>
            <p:nvPr/>
          </p:nvSpPr>
          <p:spPr>
            <a:xfrm>
              <a:off x="5023866" y="461105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分流</a:t>
              </a:r>
            </a:p>
          </p:txBody>
        </p:sp>
        <p:sp>
          <p:nvSpPr>
            <p:cNvPr id="110" name="Polygon 110"/>
            <p:cNvSpPr/>
            <p:nvPr/>
          </p:nvSpPr>
          <p:spPr>
            <a:xfrm>
              <a:off x="5372100" y="463010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111" name="TextBox 111"/>
            <p:cNvSpPr txBox="1"/>
            <p:nvPr/>
          </p:nvSpPr>
          <p:spPr>
            <a:xfrm>
              <a:off x="5538216" y="461105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办理</a:t>
              </a:r>
            </a:p>
          </p:txBody>
        </p:sp>
        <p:sp>
          <p:nvSpPr>
            <p:cNvPr id="112" name="Polygon 112"/>
            <p:cNvSpPr/>
            <p:nvPr/>
          </p:nvSpPr>
          <p:spPr>
            <a:xfrm>
              <a:off x="5886450" y="463010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113" name="TextBox 113"/>
            <p:cNvSpPr txBox="1"/>
            <p:nvPr/>
          </p:nvSpPr>
          <p:spPr>
            <a:xfrm>
              <a:off x="6052566" y="461105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转介</a:t>
              </a:r>
            </a:p>
          </p:txBody>
        </p:sp>
        <p:sp>
          <p:nvSpPr>
            <p:cNvPr id="114" name="Polygon 114"/>
            <p:cNvSpPr/>
            <p:nvPr/>
          </p:nvSpPr>
          <p:spPr>
            <a:xfrm>
              <a:off x="6400800" y="463010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115" name="TextBox 115"/>
            <p:cNvSpPr txBox="1"/>
            <p:nvPr/>
          </p:nvSpPr>
          <p:spPr>
            <a:xfrm>
              <a:off x="6566916" y="461105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跟进</a:t>
              </a:r>
            </a:p>
          </p:txBody>
        </p:sp>
      </p:grpSp>
      <p:grpSp>
        <p:nvGrpSpPr>
          <p:cNvPr id="183" name="channel-migration"/>
          <p:cNvGrpSpPr/>
          <p:nvPr/>
        </p:nvGrpSpPr>
        <p:grpSpPr>
          <a:xfrm>
            <a:off x="7658100" y="704850"/>
            <a:ext cx="4267200" cy="4667250"/>
            <a:chOff x="7658100" y="704850"/>
            <a:chExt cx="4267200" cy="4667250"/>
          </a:xfrm>
        </p:grpSpPr>
        <p:sp>
          <p:nvSpPr>
            <p:cNvPr id="117" name="Rectangle 117"/>
            <p:cNvSpPr/>
            <p:nvPr/>
          </p:nvSpPr>
          <p:spPr>
            <a:xfrm>
              <a:off x="7658100" y="704850"/>
              <a:ext cx="4267200" cy="4667250"/>
            </a:xfrm>
            <a:prstGeom prst="roundRect">
              <a:avLst>
                <a:gd name="adj" fmla="val 2232"/>
              </a:avLst>
            </a:prstGeom>
            <a:solidFill>
              <a:srgbClr val="FFFFFF"/>
            </a:solidFill>
            <a:ln w="9525">
              <a:solidFill>
                <a:srgbClr val="D7E2F2"/>
              </a:solidFill>
            </a:ln>
          </p:spPr>
        </p:sp>
        <p:sp>
          <p:nvSpPr>
            <p:cNvPr id="118" name="Rectangle 118"/>
            <p:cNvSpPr/>
            <p:nvPr/>
          </p:nvSpPr>
          <p:spPr>
            <a:xfrm>
              <a:off x="7658100" y="704850"/>
              <a:ext cx="4267200" cy="381000"/>
            </a:xfrm>
            <a:prstGeom prst="roundRect">
              <a:avLst>
                <a:gd name="adj" fmla="val 25000"/>
              </a:avLst>
            </a:prstGeom>
            <a:solidFill>
              <a:srgbClr val="841600"/>
            </a:solidFill>
            <a:ln>
              <a:noFill/>
            </a:ln>
          </p:spPr>
        </p:sp>
        <p:sp>
          <p:nvSpPr>
            <p:cNvPr id="119" name="Rectangle 119"/>
            <p:cNvSpPr/>
            <p:nvPr/>
          </p:nvSpPr>
          <p:spPr>
            <a:xfrm>
              <a:off x="7658100" y="914400"/>
              <a:ext cx="4267200" cy="171450"/>
            </a:xfrm>
            <a:prstGeom prst="rect">
              <a:avLst/>
            </a:prstGeom>
            <a:solidFill>
              <a:srgbClr val="841600"/>
            </a:solidFill>
            <a:ln>
              <a:noFill/>
            </a:ln>
          </p:spPr>
        </p:sp>
        <p:sp>
          <p:nvSpPr>
            <p:cNvPr id="120" name="TextBox 120"/>
            <p:cNvSpPr txBox="1"/>
            <p:nvPr/>
          </p:nvSpPr>
          <p:spPr>
            <a:xfrm>
              <a:off x="9220200" y="832485"/>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渠道迁移与效率</a:t>
              </a:r>
            </a:p>
          </p:txBody>
        </p:sp>
        <p:sp>
          <p:nvSpPr>
            <p:cNvPr id="121" name="Freeform 121"/>
            <p:cNvSpPr/>
            <p:nvPr/>
          </p:nvSpPr>
          <p:spPr>
            <a:xfrm rot="10800000">
              <a:off x="7810500" y="1276350"/>
              <a:ext cx="2286000" cy="419100"/>
            </a:xfrm>
            <a:prstGeom prst="trapezoid">
              <a:avLst>
                <a:gd name="adj" fmla="val 50000"/>
              </a:avLst>
            </a:prstGeom>
            <a:solidFill>
              <a:srgbClr val="841600"/>
            </a:solidFill>
            <a:ln>
              <a:noFill/>
            </a:ln>
          </p:spPr>
        </p:sp>
        <p:sp>
          <p:nvSpPr>
            <p:cNvPr id="122" name="Freeform 122"/>
            <p:cNvSpPr/>
            <p:nvPr/>
          </p:nvSpPr>
          <p:spPr>
            <a:xfrm rot="10800000">
              <a:off x="8020050" y="1752600"/>
              <a:ext cx="1866900" cy="419100"/>
            </a:xfrm>
            <a:prstGeom prst="trapezoid">
              <a:avLst>
                <a:gd name="adj" fmla="val 50000"/>
              </a:avLst>
            </a:prstGeom>
            <a:solidFill>
              <a:srgbClr val="C9482E"/>
            </a:solidFill>
            <a:ln>
              <a:noFill/>
            </a:ln>
          </p:spPr>
        </p:sp>
        <p:sp>
          <p:nvSpPr>
            <p:cNvPr id="123" name="Freeform 123"/>
            <p:cNvSpPr/>
            <p:nvPr/>
          </p:nvSpPr>
          <p:spPr>
            <a:xfrm rot="10800000">
              <a:off x="8229600" y="2228850"/>
              <a:ext cx="1447800" cy="419100"/>
            </a:xfrm>
            <a:prstGeom prst="trapezoid">
              <a:avLst>
                <a:gd name="adj" fmla="val 50000"/>
              </a:avLst>
            </a:prstGeom>
            <a:solidFill>
              <a:srgbClr val="D9705B"/>
            </a:solidFill>
            <a:ln>
              <a:noFill/>
            </a:ln>
          </p:spPr>
        </p:sp>
        <p:grpSp>
          <p:nvGrpSpPr>
            <p:cNvPr id="132" name="Group 132"/>
            <p:cNvGrpSpPr/>
            <p:nvPr/>
          </p:nvGrpSpPr>
          <p:grpSpPr>
            <a:xfrm>
              <a:off x="8348662" y="1414462"/>
              <a:ext cx="144463" cy="152400"/>
              <a:chOff x="8348662" y="1414462"/>
              <a:chExt cx="144463" cy="152400"/>
            </a:xfrm>
          </p:grpSpPr>
          <p:sp>
            <p:nvSpPr>
              <p:cNvPr id="124" name="Freeform 124"/>
              <p:cNvSpPr/>
              <p:nvPr/>
            </p:nvSpPr>
            <p:spPr>
              <a:xfrm>
                <a:off x="8348662" y="1557337"/>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25" name="Freeform 125"/>
              <p:cNvSpPr/>
              <p:nvPr/>
            </p:nvSpPr>
            <p:spPr>
              <a:xfrm>
                <a:off x="8348662" y="1470025"/>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26" name="Freeform 126"/>
              <p:cNvSpPr/>
              <p:nvPr/>
            </p:nvSpPr>
            <p:spPr>
              <a:xfrm>
                <a:off x="8364537" y="1414462"/>
                <a:ext cx="111125" cy="23812"/>
              </a:xfrm>
              <a:custGeom>
                <a:avLst/>
                <a:gdLst/>
                <a:ahLst/>
                <a:cxnLst/>
                <a:rect l="l" t="t" r="r" b="b"/>
                <a:pathLst>
                  <a:path w="111125" h="23812">
                    <a:moveTo>
                      <a:pt x="0" y="23812"/>
                    </a:moveTo>
                    <a:lnTo>
                      <a:pt x="55562" y="0"/>
                    </a:lnTo>
                    <a:lnTo>
                      <a:pt x="111125" y="23812"/>
                    </a:lnTo>
                  </a:path>
                </a:pathLst>
              </a:custGeom>
              <a:noFill/>
              <a:ln w="15875">
                <a:solidFill>
                  <a:srgbClr val="FFFFFF"/>
                </a:solidFill>
              </a:ln>
            </p:spPr>
          </p:sp>
          <p:sp>
            <p:nvSpPr>
              <p:cNvPr id="127" name="Freeform 127"/>
              <p:cNvSpPr/>
              <p:nvPr/>
            </p:nvSpPr>
            <p:spPr>
              <a:xfrm>
                <a:off x="8356600" y="147002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128" name="Freeform 128"/>
              <p:cNvSpPr/>
              <p:nvPr/>
            </p:nvSpPr>
            <p:spPr>
              <a:xfrm>
                <a:off x="8483600" y="147002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129" name="Freeform 129"/>
              <p:cNvSpPr/>
              <p:nvPr/>
            </p:nvSpPr>
            <p:spPr>
              <a:xfrm>
                <a:off x="8388350" y="150177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130" name="Freeform 130"/>
              <p:cNvSpPr/>
              <p:nvPr/>
            </p:nvSpPr>
            <p:spPr>
              <a:xfrm>
                <a:off x="8420100" y="150177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131" name="Freeform 131"/>
              <p:cNvSpPr/>
              <p:nvPr/>
            </p:nvSpPr>
            <p:spPr>
              <a:xfrm>
                <a:off x="8451850" y="1501775"/>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133" name="TextBox 133"/>
            <p:cNvSpPr txBox="1"/>
            <p:nvPr/>
          </p:nvSpPr>
          <p:spPr>
            <a:xfrm>
              <a:off x="8624506" y="1433751"/>
              <a:ext cx="282219"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柜面</a:t>
              </a:r>
            </a:p>
          </p:txBody>
        </p:sp>
        <p:grpSp>
          <p:nvGrpSpPr>
            <p:cNvPr id="137" name="Group 137"/>
            <p:cNvGrpSpPr/>
            <p:nvPr/>
          </p:nvGrpSpPr>
          <p:grpSpPr>
            <a:xfrm>
              <a:off x="8501062" y="1890712"/>
              <a:ext cx="142875" cy="142875"/>
              <a:chOff x="8501062" y="1890712"/>
              <a:chExt cx="142875" cy="142875"/>
            </a:xfrm>
          </p:grpSpPr>
          <p:sp>
            <p:nvSpPr>
              <p:cNvPr id="134" name="Freeform 134"/>
              <p:cNvSpPr/>
              <p:nvPr/>
            </p:nvSpPr>
            <p:spPr>
              <a:xfrm>
                <a:off x="8501062" y="1898650"/>
                <a:ext cx="134937" cy="134937"/>
              </a:xfrm>
              <a:custGeom>
                <a:avLst/>
                <a:gdLst/>
                <a:ahLst/>
                <a:cxnLst/>
                <a:rect l="l" t="t" r="r" b="b"/>
                <a:pathLst>
                  <a:path w="134937" h="134937">
                    <a:moveTo>
                      <a:pt x="15875" y="0"/>
                    </a:moveTo>
                    <a:lnTo>
                      <a:pt x="47625" y="0"/>
                    </a:lnTo>
                    <a:lnTo>
                      <a:pt x="63500" y="39687"/>
                    </a:lnTo>
                    <a:lnTo>
                      <a:pt x="43656" y="51594"/>
                    </a:lnTo>
                    <a:cubicBezTo>
                      <a:pt x="52157" y="68830"/>
                      <a:pt x="66107" y="82780"/>
                      <a:pt x="83344" y="91281"/>
                    </a:cubicBezTo>
                    <a:lnTo>
                      <a:pt x="95250" y="71437"/>
                    </a:lnTo>
                    <a:lnTo>
                      <a:pt x="134937" y="87312"/>
                    </a:lnTo>
                    <a:lnTo>
                      <a:pt x="134937" y="119062"/>
                    </a:lnTo>
                    <a:cubicBezTo>
                      <a:pt x="134937" y="127830"/>
                      <a:pt x="127830" y="134937"/>
                      <a:pt x="119062" y="134937"/>
                    </a:cubicBezTo>
                    <a:cubicBezTo>
                      <a:pt x="54988" y="131044"/>
                      <a:pt x="3894" y="79949"/>
                      <a:pt x="0" y="15875"/>
                    </a:cubicBezTo>
                    <a:cubicBezTo>
                      <a:pt x="0" y="7107"/>
                      <a:pt x="7107" y="0"/>
                      <a:pt x="15875" y="0"/>
                    </a:cubicBezTo>
                  </a:path>
                </a:pathLst>
              </a:custGeom>
              <a:noFill/>
              <a:ln w="15875">
                <a:solidFill>
                  <a:srgbClr val="FFFFFF"/>
                </a:solidFill>
              </a:ln>
            </p:spPr>
          </p:sp>
          <p:sp>
            <p:nvSpPr>
              <p:cNvPr id="135" name="Freeform 135"/>
              <p:cNvSpPr/>
              <p:nvPr/>
            </p:nvSpPr>
            <p:spPr>
              <a:xfrm>
                <a:off x="8596312" y="1922462"/>
                <a:ext cx="15875" cy="15875"/>
              </a:xfrm>
              <a:custGeom>
                <a:avLst/>
                <a:gdLst/>
                <a:ahLst/>
                <a:cxnLst/>
                <a:rect l="l" t="t" r="r" b="b"/>
                <a:pathLst>
                  <a:path w="15875" h="15875">
                    <a:moveTo>
                      <a:pt x="0" y="0"/>
                    </a:moveTo>
                    <a:cubicBezTo>
                      <a:pt x="8768" y="0"/>
                      <a:pt x="15875" y="7107"/>
                      <a:pt x="15875" y="15875"/>
                    </a:cubicBezTo>
                  </a:path>
                </a:pathLst>
              </a:custGeom>
              <a:noFill/>
              <a:ln w="15875">
                <a:solidFill>
                  <a:srgbClr val="FFFFFF"/>
                </a:solidFill>
              </a:ln>
            </p:spPr>
          </p:sp>
          <p:sp>
            <p:nvSpPr>
              <p:cNvPr id="136" name="Freeform 136"/>
              <p:cNvSpPr/>
              <p:nvPr/>
            </p:nvSpPr>
            <p:spPr>
              <a:xfrm>
                <a:off x="8596312" y="1890712"/>
                <a:ext cx="47625" cy="47625"/>
              </a:xfrm>
              <a:custGeom>
                <a:avLst/>
                <a:gdLst/>
                <a:ahLst/>
                <a:cxnLst/>
                <a:rect l="l" t="t" r="r" b="b"/>
                <a:pathLst>
                  <a:path w="47625" h="47625">
                    <a:moveTo>
                      <a:pt x="0" y="0"/>
                    </a:moveTo>
                    <a:cubicBezTo>
                      <a:pt x="26303" y="0"/>
                      <a:pt x="47625" y="21322"/>
                      <a:pt x="47625" y="47625"/>
                    </a:cubicBezTo>
                  </a:path>
                </a:pathLst>
              </a:custGeom>
              <a:noFill/>
              <a:ln w="15875">
                <a:solidFill>
                  <a:srgbClr val="FFFFFF"/>
                </a:solidFill>
              </a:ln>
            </p:spPr>
          </p:sp>
        </p:grpSp>
        <p:sp>
          <p:nvSpPr>
            <p:cNvPr id="138" name="TextBox 138"/>
            <p:cNvSpPr txBox="1"/>
            <p:nvPr/>
          </p:nvSpPr>
          <p:spPr>
            <a:xfrm>
              <a:off x="8776906" y="1910001"/>
              <a:ext cx="554152"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远程银行</a:t>
              </a:r>
            </a:p>
          </p:txBody>
        </p:sp>
        <p:grpSp>
          <p:nvGrpSpPr>
            <p:cNvPr id="142" name="Group 142"/>
            <p:cNvGrpSpPr/>
            <p:nvPr/>
          </p:nvGrpSpPr>
          <p:grpSpPr>
            <a:xfrm>
              <a:off x="8677275" y="2366962"/>
              <a:ext cx="95250" cy="142875"/>
              <a:chOff x="8677275" y="2366962"/>
              <a:chExt cx="95250" cy="142875"/>
            </a:xfrm>
          </p:grpSpPr>
          <p:sp>
            <p:nvSpPr>
              <p:cNvPr id="139" name="Freeform 139"/>
              <p:cNvSpPr/>
              <p:nvPr/>
            </p:nvSpPr>
            <p:spPr>
              <a:xfrm>
                <a:off x="8677275" y="236696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FFFFFF"/>
                </a:solidFill>
              </a:ln>
            </p:spPr>
          </p:sp>
          <p:sp>
            <p:nvSpPr>
              <p:cNvPr id="140" name="Freeform 140"/>
              <p:cNvSpPr/>
              <p:nvPr/>
            </p:nvSpPr>
            <p:spPr>
              <a:xfrm>
                <a:off x="8716962" y="2374900"/>
                <a:ext cx="15875" cy="9525"/>
              </a:xfrm>
              <a:custGeom>
                <a:avLst/>
                <a:gdLst/>
                <a:ahLst/>
                <a:cxnLst/>
                <a:rect l="l" t="t" r="r" b="b"/>
                <a:pathLst>
                  <a:path w="15875" h="9525">
                    <a:moveTo>
                      <a:pt x="0" y="0"/>
                    </a:moveTo>
                    <a:lnTo>
                      <a:pt x="15875" y="0"/>
                    </a:lnTo>
                  </a:path>
                </a:pathLst>
              </a:custGeom>
              <a:noFill/>
              <a:ln w="15875">
                <a:solidFill>
                  <a:srgbClr val="FFFFFF"/>
                </a:solidFill>
              </a:ln>
            </p:spPr>
          </p:sp>
          <p:sp>
            <p:nvSpPr>
              <p:cNvPr id="141" name="Freeform 141"/>
              <p:cNvSpPr/>
              <p:nvPr/>
            </p:nvSpPr>
            <p:spPr>
              <a:xfrm>
                <a:off x="8724900" y="2478087"/>
                <a:ext cx="9525" cy="9525"/>
              </a:xfrm>
              <a:custGeom>
                <a:avLst/>
                <a:gdLst/>
                <a:ahLst/>
                <a:cxnLst/>
                <a:rect l="l" t="t" r="r" b="b"/>
                <a:pathLst>
                  <a:path w="9525" h="9525">
                    <a:moveTo>
                      <a:pt x="0" y="0"/>
                    </a:moveTo>
                    <a:lnTo>
                      <a:pt x="0" y="79"/>
                    </a:lnTo>
                  </a:path>
                </a:pathLst>
              </a:custGeom>
              <a:noFill/>
              <a:ln w="15875">
                <a:solidFill>
                  <a:srgbClr val="FFFFFF"/>
                </a:solidFill>
              </a:ln>
            </p:spPr>
          </p:sp>
        </p:grpSp>
        <p:sp>
          <p:nvSpPr>
            <p:cNvPr id="143" name="TextBox 143"/>
            <p:cNvSpPr txBox="1"/>
            <p:nvPr/>
          </p:nvSpPr>
          <p:spPr>
            <a:xfrm>
              <a:off x="8929306" y="2386251"/>
              <a:ext cx="554152"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手机银行</a:t>
              </a:r>
            </a:p>
          </p:txBody>
        </p:sp>
        <p:sp>
          <p:nvSpPr>
            <p:cNvPr id="144" name="Freeform 144"/>
            <p:cNvSpPr/>
            <p:nvPr/>
          </p:nvSpPr>
          <p:spPr>
            <a:xfrm>
              <a:off x="10382250" y="1276350"/>
              <a:ext cx="247650" cy="1371600"/>
            </a:xfrm>
            <a:prstGeom prst="downArrow">
              <a:avLst>
                <a:gd name="adj1" fmla="val 45000"/>
                <a:gd name="adj2" fmla="val 85000"/>
              </a:avLst>
            </a:prstGeom>
            <a:solidFill>
              <a:srgbClr val="E3907F"/>
            </a:solidFill>
            <a:ln>
              <a:noFill/>
            </a:ln>
          </p:spPr>
        </p:sp>
        <p:sp>
          <p:nvSpPr>
            <p:cNvPr id="145" name="TextBox 145"/>
            <p:cNvSpPr txBox="1"/>
            <p:nvPr/>
          </p:nvSpPr>
          <p:spPr>
            <a:xfrm>
              <a:off x="10758488" y="1537097"/>
              <a:ext cx="367665" cy="392906"/>
            </a:xfrm>
            <a:prstGeom prst="rect">
              <a:avLst/>
            </a:prstGeom>
            <a:noFill/>
            <a:ln>
              <a:noFill/>
            </a:ln>
          </p:spPr>
          <p:txBody>
            <a:bodyPr wrap="none" lIns="0" tIns="0" rIns="0" bIns="0" anchor="t" anchorCtr="0">
              <a:spAutoFit/>
            </a:bodyPr>
            <a:lstStyle/>
            <a:p>
              <a:pPr algn="l">
                <a:lnSpc>
                  <a:spcPts val="1650"/>
                </a:lnSpc>
              </a:pPr>
              <a:r>
                <a:rPr lang="zh-CN" sz="940" dirty="0">
                  <a:solidFill>
                    <a:srgbClr val="473633"/>
                  </a:solidFill>
                  <a:latin typeface="+mn-lt"/>
                  <a:ea typeface="+mn-ea"/>
                  <a:cs typeface="+mn-cs"/>
                </a:rPr>
                <a:t>迁移至</a:t>
              </a:r>
              <a:br/>
              <a:r>
                <a:rPr lang="zh-CN" sz="940" dirty="0">
                  <a:solidFill>
                    <a:srgbClr val="473633"/>
                  </a:solidFill>
                  <a:latin typeface="+mn-lt"/>
                  <a:ea typeface="+mn-ea"/>
                  <a:cs typeface="+mn-cs"/>
                </a:rPr>
                <a:t>移动端</a:t>
              </a:r>
            </a:p>
          </p:txBody>
        </p:sp>
        <p:sp>
          <p:nvSpPr>
            <p:cNvPr id="146" name="TextBox 146"/>
            <p:cNvSpPr txBox="1"/>
            <p:nvPr/>
          </p:nvSpPr>
          <p:spPr>
            <a:xfrm>
              <a:off x="10758488" y="2070497"/>
              <a:ext cx="487045" cy="392906"/>
            </a:xfrm>
            <a:prstGeom prst="rect">
              <a:avLst/>
            </a:prstGeom>
            <a:noFill/>
            <a:ln>
              <a:noFill/>
            </a:ln>
          </p:spPr>
          <p:txBody>
            <a:bodyPr wrap="none" lIns="0" tIns="0" rIns="0" bIns="0" anchor="t" anchorCtr="0">
              <a:spAutoFit/>
            </a:bodyPr>
            <a:lstStyle/>
            <a:p>
              <a:pPr algn="l">
                <a:lnSpc>
                  <a:spcPts val="1650"/>
                </a:lnSpc>
              </a:pPr>
              <a:r>
                <a:rPr lang="zh-CN" sz="940" b="1" dirty="0">
                  <a:solidFill>
                    <a:srgbClr val="841600"/>
                  </a:solidFill>
                  <a:latin typeface="+mn-lt"/>
                  <a:ea typeface="+mn-ea"/>
                  <a:cs typeface="+mn-cs"/>
                </a:rPr>
                <a:t>提升效率</a:t>
              </a:r>
              <a:br/>
              <a:r>
                <a:rPr lang="zh-CN" sz="940" b="1" dirty="0">
                  <a:solidFill>
                    <a:srgbClr val="841600"/>
                  </a:solidFill>
                  <a:latin typeface="+mn-lt"/>
                  <a:ea typeface="+mn-ea"/>
                  <a:cs typeface="+mn-cs"/>
                </a:rPr>
                <a:t>降低成本</a:t>
              </a:r>
            </a:p>
          </p:txBody>
        </p:sp>
        <p:sp>
          <p:nvSpPr>
            <p:cNvPr id="147" name="Line 147"/>
            <p:cNvSpPr/>
            <p:nvPr/>
          </p:nvSpPr>
          <p:spPr>
            <a:xfrm>
              <a:off x="7772400" y="2857500"/>
              <a:ext cx="4038600" cy="9525"/>
            </a:xfrm>
            <a:custGeom>
              <a:avLst/>
              <a:gdLst/>
              <a:ahLst/>
              <a:cxnLst/>
              <a:rect l="l" t="t" r="r" b="b"/>
              <a:pathLst>
                <a:path w="4038600" h="9525">
                  <a:moveTo>
                    <a:pt x="0" y="0"/>
                  </a:moveTo>
                  <a:lnTo>
                    <a:pt x="4038600" y="0"/>
                  </a:lnTo>
                </a:path>
              </a:pathLst>
            </a:custGeom>
            <a:noFill/>
            <a:ln w="9525">
              <a:solidFill>
                <a:srgbClr val="E5ECF6"/>
              </a:solidFill>
            </a:ln>
          </p:spPr>
        </p:sp>
        <p:grpSp>
          <p:nvGrpSpPr>
            <p:cNvPr id="155" name="cm-1"/>
            <p:cNvGrpSpPr/>
            <p:nvPr/>
          </p:nvGrpSpPr>
          <p:grpSpPr>
            <a:xfrm>
              <a:off x="7850538" y="3012043"/>
              <a:ext cx="605724" cy="1240108"/>
              <a:chOff x="7850538" y="3012043"/>
              <a:chExt cx="605724" cy="1240108"/>
            </a:xfrm>
          </p:grpSpPr>
          <p:sp>
            <p:nvSpPr>
              <p:cNvPr id="148" name="TextBox 148"/>
              <p:cNvSpPr txBox="1"/>
              <p:nvPr/>
            </p:nvSpPr>
            <p:spPr>
              <a:xfrm>
                <a:off x="7917091" y="3012043"/>
                <a:ext cx="472618"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网点单产</a:t>
                </a:r>
              </a:p>
            </p:txBody>
          </p:sp>
          <p:grpSp>
            <p:nvGrpSpPr>
              <p:cNvPr id="153" name="Group 153"/>
              <p:cNvGrpSpPr/>
              <p:nvPr/>
            </p:nvGrpSpPr>
            <p:grpSpPr>
              <a:xfrm>
                <a:off x="8024812" y="3409950"/>
                <a:ext cx="257175" cy="238125"/>
                <a:chOff x="8024812" y="3409950"/>
                <a:chExt cx="257175" cy="238125"/>
              </a:xfrm>
            </p:grpSpPr>
            <p:sp>
              <p:nvSpPr>
                <p:cNvPr id="149" name="Freeform 149"/>
                <p:cNvSpPr/>
                <p:nvPr/>
              </p:nvSpPr>
              <p:spPr>
                <a:xfrm>
                  <a:off x="8024812" y="3524250"/>
                  <a:ext cx="85725" cy="114300"/>
                </a:xfrm>
                <a:custGeom>
                  <a:avLst/>
                  <a:gdLst/>
                  <a:ahLst/>
                  <a:cxnLst/>
                  <a:rect l="l" t="t" r="r" b="b"/>
                  <a:pathLst>
                    <a:path w="85725" h="114300">
                      <a:moveTo>
                        <a:pt x="0" y="14288"/>
                      </a:moveTo>
                      <a:cubicBezTo>
                        <a:pt x="0" y="6397"/>
                        <a:pt x="6397" y="0"/>
                        <a:pt x="14288" y="0"/>
                      </a:cubicBezTo>
                      <a:lnTo>
                        <a:pt x="71438" y="0"/>
                      </a:lnTo>
                      <a:cubicBezTo>
                        <a:pt x="79328" y="0"/>
                        <a:pt x="85725" y="6397"/>
                        <a:pt x="85725" y="14288"/>
                      </a:cubicBezTo>
                      <a:lnTo>
                        <a:pt x="85725" y="100012"/>
                      </a:lnTo>
                      <a:cubicBezTo>
                        <a:pt x="85725" y="107903"/>
                        <a:pt x="79328" y="114300"/>
                        <a:pt x="71438" y="114300"/>
                      </a:cubicBezTo>
                      <a:lnTo>
                        <a:pt x="14288" y="114300"/>
                      </a:lnTo>
                      <a:cubicBezTo>
                        <a:pt x="6397" y="114300"/>
                        <a:pt x="0" y="107903"/>
                        <a:pt x="0" y="100012"/>
                      </a:cubicBezTo>
                      <a:lnTo>
                        <a:pt x="0" y="14288"/>
                      </a:lnTo>
                    </a:path>
                  </a:pathLst>
                </a:custGeom>
                <a:noFill/>
                <a:ln w="21431">
                  <a:solidFill>
                    <a:srgbClr val="9E331E"/>
                  </a:solidFill>
                </a:ln>
              </p:spPr>
            </p:sp>
            <p:sp>
              <p:nvSpPr>
                <p:cNvPr id="150" name="Freeform 150"/>
                <p:cNvSpPr/>
                <p:nvPr/>
              </p:nvSpPr>
              <p:spPr>
                <a:xfrm>
                  <a:off x="8196262" y="3467100"/>
                  <a:ext cx="85725" cy="171450"/>
                </a:xfrm>
                <a:custGeom>
                  <a:avLst/>
                  <a:gdLst/>
                  <a:ahLst/>
                  <a:cxnLst/>
                  <a:rect l="l" t="t" r="r" b="b"/>
                  <a:pathLst>
                    <a:path w="85725" h="171450">
                      <a:moveTo>
                        <a:pt x="0" y="14288"/>
                      </a:moveTo>
                      <a:cubicBezTo>
                        <a:pt x="0" y="6397"/>
                        <a:pt x="6397" y="0"/>
                        <a:pt x="14288" y="0"/>
                      </a:cubicBezTo>
                      <a:lnTo>
                        <a:pt x="71438" y="0"/>
                      </a:lnTo>
                      <a:cubicBezTo>
                        <a:pt x="79328" y="0"/>
                        <a:pt x="85725" y="6397"/>
                        <a:pt x="85725" y="14288"/>
                      </a:cubicBezTo>
                      <a:lnTo>
                        <a:pt x="85725" y="157162"/>
                      </a:lnTo>
                      <a:cubicBezTo>
                        <a:pt x="85725" y="165053"/>
                        <a:pt x="79328" y="171450"/>
                        <a:pt x="71438" y="171450"/>
                      </a:cubicBezTo>
                      <a:lnTo>
                        <a:pt x="14288" y="171450"/>
                      </a:lnTo>
                      <a:cubicBezTo>
                        <a:pt x="6397" y="171450"/>
                        <a:pt x="0" y="165053"/>
                        <a:pt x="0" y="157162"/>
                      </a:cubicBezTo>
                      <a:lnTo>
                        <a:pt x="0" y="14288"/>
                      </a:lnTo>
                    </a:path>
                  </a:pathLst>
                </a:custGeom>
                <a:noFill/>
                <a:ln w="21431">
                  <a:solidFill>
                    <a:srgbClr val="9E331E"/>
                  </a:solidFill>
                </a:ln>
              </p:spPr>
            </p:sp>
            <p:sp>
              <p:nvSpPr>
                <p:cNvPr id="151" name="Freeform 151"/>
                <p:cNvSpPr/>
                <p:nvPr/>
              </p:nvSpPr>
              <p:spPr>
                <a:xfrm>
                  <a:off x="8110538" y="3409950"/>
                  <a:ext cx="85725" cy="228600"/>
                </a:xfrm>
                <a:custGeom>
                  <a:avLst/>
                  <a:gdLst/>
                  <a:ahLst/>
                  <a:cxnLst/>
                  <a:rect l="l" t="t" r="r" b="b"/>
                  <a:pathLst>
                    <a:path w="85725" h="228600">
                      <a:moveTo>
                        <a:pt x="0" y="14288"/>
                      </a:moveTo>
                      <a:cubicBezTo>
                        <a:pt x="0" y="6397"/>
                        <a:pt x="6397" y="0"/>
                        <a:pt x="14288" y="0"/>
                      </a:cubicBezTo>
                      <a:lnTo>
                        <a:pt x="71438" y="0"/>
                      </a:lnTo>
                      <a:cubicBezTo>
                        <a:pt x="79328" y="0"/>
                        <a:pt x="85725" y="6397"/>
                        <a:pt x="85725" y="14288"/>
                      </a:cubicBezTo>
                      <a:lnTo>
                        <a:pt x="85725" y="214312"/>
                      </a:lnTo>
                      <a:cubicBezTo>
                        <a:pt x="85725" y="222203"/>
                        <a:pt x="79328" y="228600"/>
                        <a:pt x="71438" y="228600"/>
                      </a:cubicBezTo>
                      <a:lnTo>
                        <a:pt x="14288" y="228600"/>
                      </a:lnTo>
                      <a:cubicBezTo>
                        <a:pt x="6397" y="228600"/>
                        <a:pt x="0" y="222203"/>
                        <a:pt x="0" y="214312"/>
                      </a:cubicBezTo>
                      <a:lnTo>
                        <a:pt x="0" y="14288"/>
                      </a:lnTo>
                    </a:path>
                  </a:pathLst>
                </a:custGeom>
                <a:noFill/>
                <a:ln w="21431">
                  <a:solidFill>
                    <a:srgbClr val="9E331E"/>
                  </a:solidFill>
                </a:ln>
              </p:spPr>
            </p:sp>
            <p:sp>
              <p:nvSpPr>
                <p:cNvPr id="152" name="Freeform 152"/>
                <p:cNvSpPr/>
                <p:nvPr/>
              </p:nvSpPr>
              <p:spPr>
                <a:xfrm>
                  <a:off x="8039100" y="3638550"/>
                  <a:ext cx="200025" cy="9525"/>
                </a:xfrm>
                <a:custGeom>
                  <a:avLst/>
                  <a:gdLst/>
                  <a:ahLst/>
                  <a:cxnLst/>
                  <a:rect l="l" t="t" r="r" b="b"/>
                  <a:pathLst>
                    <a:path w="200025" h="9525">
                      <a:moveTo>
                        <a:pt x="0" y="0"/>
                      </a:moveTo>
                      <a:lnTo>
                        <a:pt x="200025" y="0"/>
                      </a:lnTo>
                    </a:path>
                  </a:pathLst>
                </a:custGeom>
                <a:noFill/>
                <a:ln w="21431">
                  <a:solidFill>
                    <a:srgbClr val="9E331E"/>
                  </a:solidFill>
                </a:ln>
              </p:spPr>
            </p:sp>
          </p:grpSp>
          <p:sp>
            <p:nvSpPr>
              <p:cNvPr id="154" name="TextBox 154"/>
              <p:cNvSpPr txBox="1"/>
              <p:nvPr/>
            </p:nvSpPr>
            <p:spPr>
              <a:xfrm>
                <a:off x="7850538" y="3988118"/>
                <a:ext cx="605724" cy="264033"/>
              </a:xfrm>
              <a:prstGeom prst="rect">
                <a:avLst/>
              </a:prstGeom>
              <a:noFill/>
              <a:ln>
                <a:noFill/>
              </a:ln>
            </p:spPr>
            <p:txBody>
              <a:bodyPr wrap="none" lIns="0" tIns="0" rIns="0" bIns="0" anchor="t" anchorCtr="0">
                <a:spAutoFit/>
              </a:bodyPr>
              <a:lstStyle/>
              <a:p>
                <a:pPr algn="ctr"/>
                <a:r>
                  <a:rPr lang="zh-CN" sz="1350" b="1" dirty="0">
                    <a:solidFill>
                      <a:srgbClr val="9E331E"/>
                    </a:solidFill>
                    <a:latin typeface="+mn-lt"/>
                    <a:ea typeface="+mn-ea"/>
                    <a:cs typeface="+mn-cs"/>
                  </a:rPr>
                  <a:t>+12</a:t>
                </a:r>
                <a:r>
                  <a:rPr lang="zh-CN" sz="900" b="1" dirty="0">
                    <a:solidFill>
                      <a:srgbClr val="9E331E"/>
                    </a:solidFill>
                    <a:latin typeface="+mn-lt"/>
                    <a:ea typeface="+mn-ea"/>
                    <a:cs typeface="+mn-cs"/>
                  </a:rPr>
                  <a:t>%</a:t>
                </a:r>
                <a:r>
                  <a:rPr lang="zh-CN" sz="1350" b="1" dirty="0">
                    <a:solidFill>
                      <a:srgbClr val="9E331E"/>
                    </a:solidFill>
                    <a:latin typeface="+mn-lt"/>
                    <a:ea typeface="+mn-ea"/>
                    <a:cs typeface="+mn-cs"/>
                  </a:rPr>
                  <a:t xml:space="preserve">　</a:t>
                </a:r>
              </a:p>
            </p:txBody>
          </p:sp>
        </p:grpSp>
        <p:grpSp>
          <p:nvGrpSpPr>
            <p:cNvPr id="160" name="cm-2"/>
            <p:cNvGrpSpPr/>
            <p:nvPr/>
          </p:nvGrpSpPr>
          <p:grpSpPr>
            <a:xfrm>
              <a:off x="8678354" y="3012043"/>
              <a:ext cx="588391" cy="1240108"/>
              <a:chOff x="8678354" y="3012043"/>
              <a:chExt cx="588391" cy="1240108"/>
            </a:xfrm>
          </p:grpSpPr>
          <p:sp>
            <p:nvSpPr>
              <p:cNvPr id="156" name="TextBox 156"/>
              <p:cNvSpPr txBox="1"/>
              <p:nvPr/>
            </p:nvSpPr>
            <p:spPr>
              <a:xfrm>
                <a:off x="8678354" y="3012043"/>
                <a:ext cx="588391"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柜面替代率</a:t>
                </a:r>
              </a:p>
            </p:txBody>
          </p:sp>
          <p:sp>
            <p:nvSpPr>
              <p:cNvPr id="157" name="Ellipse 157"/>
              <p:cNvSpPr/>
              <p:nvPr/>
            </p:nvSpPr>
            <p:spPr>
              <a:xfrm>
                <a:off x="8801100" y="3371850"/>
                <a:ext cx="342900" cy="342900"/>
              </a:xfrm>
              <a:prstGeom prst="ellipse">
                <a:avLst/>
              </a:prstGeom>
              <a:noFill/>
              <a:ln w="76200">
                <a:solidFill>
                  <a:srgbClr val="DCE6F8"/>
                </a:solidFill>
              </a:ln>
            </p:spPr>
          </p:sp>
          <p:sp>
            <p:nvSpPr>
              <p:cNvPr id="158" name="Arc 158"/>
              <p:cNvSpPr/>
              <p:nvPr/>
            </p:nvSpPr>
            <p:spPr>
              <a:xfrm>
                <a:off x="8763000" y="3333864"/>
                <a:ext cx="418977" cy="418986"/>
              </a:xfrm>
              <a:custGeom>
                <a:avLst/>
                <a:gdLst/>
                <a:ahLst/>
                <a:cxnLst/>
                <a:rect l="l" t="t" r="r" b="b"/>
                <a:pathLst>
                  <a:path w="418977" h="418986">
                    <a:moveTo>
                      <a:pt x="0" y="209436"/>
                    </a:moveTo>
                    <a:lnTo>
                      <a:pt x="1052" y="188467"/>
                    </a:lnTo>
                    <a:lnTo>
                      <a:pt x="4197" y="167708"/>
                    </a:lnTo>
                    <a:lnTo>
                      <a:pt x="9403" y="147368"/>
                    </a:lnTo>
                    <a:lnTo>
                      <a:pt x="16619" y="127651"/>
                    </a:lnTo>
                    <a:lnTo>
                      <a:pt x="25771" y="108755"/>
                    </a:lnTo>
                    <a:lnTo>
                      <a:pt x="36769" y="90870"/>
                    </a:lnTo>
                    <a:lnTo>
                      <a:pt x="49501" y="74175"/>
                    </a:lnTo>
                    <a:lnTo>
                      <a:pt x="63840" y="58838"/>
                    </a:lnTo>
                    <a:lnTo>
                      <a:pt x="79641" y="45013"/>
                    </a:lnTo>
                    <a:lnTo>
                      <a:pt x="96747" y="32839"/>
                    </a:lnTo>
                    <a:lnTo>
                      <a:pt x="114985" y="22437"/>
                    </a:lnTo>
                    <a:lnTo>
                      <a:pt x="134172" y="13913"/>
                    </a:lnTo>
                    <a:lnTo>
                      <a:pt x="154116" y="7351"/>
                    </a:lnTo>
                    <a:lnTo>
                      <a:pt x="174617" y="2818"/>
                    </a:lnTo>
                    <a:lnTo>
                      <a:pt x="195468" y="360"/>
                    </a:lnTo>
                    <a:lnTo>
                      <a:pt x="216461" y="0"/>
                    </a:lnTo>
                    <a:lnTo>
                      <a:pt x="237384" y="1743"/>
                    </a:lnTo>
                    <a:lnTo>
                      <a:pt x="258028" y="5571"/>
                    </a:lnTo>
                    <a:lnTo>
                      <a:pt x="278185" y="11445"/>
                    </a:lnTo>
                    <a:lnTo>
                      <a:pt x="297654" y="19307"/>
                    </a:lnTo>
                    <a:lnTo>
                      <a:pt x="316237" y="29078"/>
                    </a:lnTo>
                    <a:lnTo>
                      <a:pt x="333750" y="40659"/>
                    </a:lnTo>
                    <a:lnTo>
                      <a:pt x="350016" y="53935"/>
                    </a:lnTo>
                    <a:lnTo>
                      <a:pt x="364871" y="68772"/>
                    </a:lnTo>
                    <a:lnTo>
                      <a:pt x="378168" y="85021"/>
                    </a:lnTo>
                    <a:lnTo>
                      <a:pt x="389772" y="102518"/>
                    </a:lnTo>
                    <a:lnTo>
                      <a:pt x="399566" y="121090"/>
                    </a:lnTo>
                    <a:lnTo>
                      <a:pt x="407453" y="140548"/>
                    </a:lnTo>
                    <a:lnTo>
                      <a:pt x="413353" y="160697"/>
                    </a:lnTo>
                    <a:lnTo>
                      <a:pt x="417207" y="181336"/>
                    </a:lnTo>
                    <a:lnTo>
                      <a:pt x="418977" y="202257"/>
                    </a:lnTo>
                    <a:lnTo>
                      <a:pt x="418644" y="223250"/>
                    </a:lnTo>
                    <a:lnTo>
                      <a:pt x="416212" y="244105"/>
                    </a:lnTo>
                    <a:lnTo>
                      <a:pt x="411706" y="264611"/>
                    </a:lnTo>
                    <a:lnTo>
                      <a:pt x="405170" y="284564"/>
                    </a:lnTo>
                    <a:lnTo>
                      <a:pt x="396670" y="303762"/>
                    </a:lnTo>
                    <a:lnTo>
                      <a:pt x="386291" y="322013"/>
                    </a:lnTo>
                    <a:lnTo>
                      <a:pt x="374139" y="339135"/>
                    </a:lnTo>
                    <a:lnTo>
                      <a:pt x="360334" y="354954"/>
                    </a:lnTo>
                    <a:lnTo>
                      <a:pt x="345015" y="369312"/>
                    </a:lnTo>
                    <a:lnTo>
                      <a:pt x="328337" y="382065"/>
                    </a:lnTo>
                    <a:lnTo>
                      <a:pt x="310466" y="393086"/>
                    </a:lnTo>
                    <a:lnTo>
                      <a:pt x="291582" y="402262"/>
                    </a:lnTo>
                    <a:lnTo>
                      <a:pt x="271874" y="409503"/>
                    </a:lnTo>
                    <a:lnTo>
                      <a:pt x="251541" y="414736"/>
                    </a:lnTo>
                    <a:lnTo>
                      <a:pt x="230786" y="417907"/>
                    </a:lnTo>
                    <a:lnTo>
                      <a:pt x="209818" y="418986"/>
                    </a:lnTo>
                    <a:lnTo>
                      <a:pt x="209720" y="342786"/>
                    </a:lnTo>
                    <a:lnTo>
                      <a:pt x="223064" y="342100"/>
                    </a:lnTo>
                    <a:lnTo>
                      <a:pt x="236271" y="340081"/>
                    </a:lnTo>
                    <a:lnTo>
                      <a:pt x="249211" y="336752"/>
                    </a:lnTo>
                    <a:lnTo>
                      <a:pt x="261752" y="332144"/>
                    </a:lnTo>
                    <a:lnTo>
                      <a:pt x="273769" y="326304"/>
                    </a:lnTo>
                    <a:lnTo>
                      <a:pt x="285142" y="319291"/>
                    </a:lnTo>
                    <a:lnTo>
                      <a:pt x="295755" y="311175"/>
                    </a:lnTo>
                    <a:lnTo>
                      <a:pt x="305503" y="302038"/>
                    </a:lnTo>
                    <a:lnTo>
                      <a:pt x="314288" y="291971"/>
                    </a:lnTo>
                    <a:lnTo>
                      <a:pt x="322022" y="281076"/>
                    </a:lnTo>
                    <a:lnTo>
                      <a:pt x="328626" y="269462"/>
                    </a:lnTo>
                    <a:lnTo>
                      <a:pt x="334035" y="257245"/>
                    </a:lnTo>
                    <a:lnTo>
                      <a:pt x="338194" y="244548"/>
                    </a:lnTo>
                    <a:lnTo>
                      <a:pt x="341062" y="231498"/>
                    </a:lnTo>
                    <a:lnTo>
                      <a:pt x="342610" y="218227"/>
                    </a:lnTo>
                    <a:lnTo>
                      <a:pt x="342822" y="204868"/>
                    </a:lnTo>
                    <a:lnTo>
                      <a:pt x="341696" y="191554"/>
                    </a:lnTo>
                    <a:lnTo>
                      <a:pt x="339243" y="178421"/>
                    </a:lnTo>
                    <a:lnTo>
                      <a:pt x="335488" y="165598"/>
                    </a:lnTo>
                    <a:lnTo>
                      <a:pt x="330469" y="153216"/>
                    </a:lnTo>
                    <a:lnTo>
                      <a:pt x="324236" y="141398"/>
                    </a:lnTo>
                    <a:lnTo>
                      <a:pt x="316852" y="130263"/>
                    </a:lnTo>
                    <a:lnTo>
                      <a:pt x="308391" y="119922"/>
                    </a:lnTo>
                    <a:lnTo>
                      <a:pt x="298937" y="110481"/>
                    </a:lnTo>
                    <a:lnTo>
                      <a:pt x="288586" y="102033"/>
                    </a:lnTo>
                    <a:lnTo>
                      <a:pt x="277442" y="94663"/>
                    </a:lnTo>
                    <a:lnTo>
                      <a:pt x="265616" y="88445"/>
                    </a:lnTo>
                    <a:lnTo>
                      <a:pt x="253227" y="83442"/>
                    </a:lnTo>
                    <a:lnTo>
                      <a:pt x="240400" y="79704"/>
                    </a:lnTo>
                    <a:lnTo>
                      <a:pt x="227263" y="77268"/>
                    </a:lnTo>
                    <a:lnTo>
                      <a:pt x="213948" y="76159"/>
                    </a:lnTo>
                    <a:lnTo>
                      <a:pt x="200589" y="76387"/>
                    </a:lnTo>
                    <a:lnTo>
                      <a:pt x="187320" y="77952"/>
                    </a:lnTo>
                    <a:lnTo>
                      <a:pt x="174274" y="80837"/>
                    </a:lnTo>
                    <a:lnTo>
                      <a:pt x="161582" y="85012"/>
                    </a:lnTo>
                    <a:lnTo>
                      <a:pt x="149372" y="90437"/>
                    </a:lnTo>
                    <a:lnTo>
                      <a:pt x="137766" y="97056"/>
                    </a:lnTo>
                    <a:lnTo>
                      <a:pt x="126881" y="104803"/>
                    </a:lnTo>
                    <a:lnTo>
                      <a:pt x="116825" y="113601"/>
                    </a:lnTo>
                    <a:lnTo>
                      <a:pt x="107701" y="123361"/>
                    </a:lnTo>
                    <a:lnTo>
                      <a:pt x="99598" y="133985"/>
                    </a:lnTo>
                    <a:lnTo>
                      <a:pt x="92600" y="145366"/>
                    </a:lnTo>
                    <a:lnTo>
                      <a:pt x="86776" y="157391"/>
                    </a:lnTo>
                    <a:lnTo>
                      <a:pt x="82184" y="169938"/>
                    </a:lnTo>
                    <a:lnTo>
                      <a:pt x="78871" y="182882"/>
                    </a:lnTo>
                    <a:lnTo>
                      <a:pt x="76869" y="196092"/>
                    </a:lnTo>
                    <a:lnTo>
                      <a:pt x="76200" y="209436"/>
                    </a:lnTo>
                    <a:close/>
                  </a:path>
                </a:pathLst>
              </a:custGeom>
              <a:solidFill>
                <a:srgbClr val="C9482E"/>
              </a:solidFill>
              <a:ln>
                <a:noFill/>
              </a:ln>
            </p:spPr>
          </p:sp>
          <p:sp>
            <p:nvSpPr>
              <p:cNvPr id="159" name="TextBox 159"/>
              <p:cNvSpPr txBox="1"/>
              <p:nvPr/>
            </p:nvSpPr>
            <p:spPr>
              <a:xfrm>
                <a:off x="8722164" y="3988118"/>
                <a:ext cx="500771" cy="264033"/>
              </a:xfrm>
              <a:prstGeom prst="rect">
                <a:avLst/>
              </a:prstGeom>
              <a:noFill/>
              <a:ln>
                <a:noFill/>
              </a:ln>
            </p:spPr>
            <p:txBody>
              <a:bodyPr wrap="none" lIns="0" tIns="0" rIns="0" bIns="0" anchor="t" anchorCtr="0">
                <a:spAutoFit/>
              </a:bodyPr>
              <a:lstStyle/>
              <a:p>
                <a:pPr algn="ctr"/>
                <a:r>
                  <a:rPr lang="zh-CN" sz="1350" b="1" dirty="0">
                    <a:solidFill>
                      <a:srgbClr val="841600"/>
                    </a:solidFill>
                    <a:latin typeface="+mn-lt"/>
                    <a:ea typeface="+mn-ea"/>
                    <a:cs typeface="+mn-cs"/>
                  </a:rPr>
                  <a:t>75</a:t>
                </a:r>
                <a:r>
                  <a:rPr lang="zh-CN" sz="900" b="1" dirty="0">
                    <a:solidFill>
                      <a:srgbClr val="841600"/>
                    </a:solidFill>
                    <a:latin typeface="+mn-lt"/>
                    <a:ea typeface="+mn-ea"/>
                    <a:cs typeface="+mn-cs"/>
                  </a:rPr>
                  <a:t>%</a:t>
                </a:r>
                <a:r>
                  <a:rPr lang="zh-CN" sz="1350" b="1" dirty="0">
                    <a:solidFill>
                      <a:srgbClr val="841600"/>
                    </a:solidFill>
                    <a:latin typeface="+mn-lt"/>
                    <a:ea typeface="+mn-ea"/>
                    <a:cs typeface="+mn-cs"/>
                  </a:rPr>
                  <a:t xml:space="preserve">　</a:t>
                </a:r>
              </a:p>
            </p:txBody>
          </p:sp>
        </p:grpSp>
        <p:grpSp>
          <p:nvGrpSpPr>
            <p:cNvPr id="166" name="cm-3"/>
            <p:cNvGrpSpPr/>
            <p:nvPr/>
          </p:nvGrpSpPr>
          <p:grpSpPr>
            <a:xfrm>
              <a:off x="9407283" y="3012043"/>
              <a:ext cx="768833" cy="1240108"/>
              <a:chOff x="9407283" y="3012043"/>
              <a:chExt cx="768833" cy="1240108"/>
            </a:xfrm>
          </p:grpSpPr>
          <p:sp>
            <p:nvSpPr>
              <p:cNvPr id="161" name="TextBox 161"/>
              <p:cNvSpPr txBox="1"/>
              <p:nvPr/>
            </p:nvSpPr>
            <p:spPr>
              <a:xfrm>
                <a:off x="9555391" y="3012043"/>
                <a:ext cx="472618"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平均等待</a:t>
                </a:r>
              </a:p>
            </p:txBody>
          </p:sp>
          <p:grpSp>
            <p:nvGrpSpPr>
              <p:cNvPr id="164" name="Group 164"/>
              <p:cNvGrpSpPr/>
              <p:nvPr/>
            </p:nvGrpSpPr>
            <p:grpSpPr>
              <a:xfrm>
                <a:off x="9663112" y="3395662"/>
                <a:ext cx="257175" cy="257175"/>
                <a:chOff x="9663112" y="3395662"/>
                <a:chExt cx="257175" cy="257175"/>
              </a:xfrm>
            </p:grpSpPr>
            <p:sp>
              <p:nvSpPr>
                <p:cNvPr id="162" name="Freeform 162"/>
                <p:cNvSpPr/>
                <p:nvPr/>
              </p:nvSpPr>
              <p:spPr>
                <a:xfrm>
                  <a:off x="9663112" y="339566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1431">
                  <a:solidFill>
                    <a:srgbClr val="841600"/>
                  </a:solidFill>
                </a:ln>
              </p:spPr>
            </p:sp>
            <p:sp>
              <p:nvSpPr>
                <p:cNvPr id="163" name="Freeform 163"/>
                <p:cNvSpPr/>
                <p:nvPr/>
              </p:nvSpPr>
              <p:spPr>
                <a:xfrm>
                  <a:off x="9791700" y="3452812"/>
                  <a:ext cx="42862" cy="114300"/>
                </a:xfrm>
                <a:custGeom>
                  <a:avLst/>
                  <a:gdLst/>
                  <a:ahLst/>
                  <a:cxnLst/>
                  <a:rect l="l" t="t" r="r" b="b"/>
                  <a:pathLst>
                    <a:path w="42862" h="114300">
                      <a:moveTo>
                        <a:pt x="0" y="0"/>
                      </a:moveTo>
                      <a:lnTo>
                        <a:pt x="0" y="71438"/>
                      </a:lnTo>
                      <a:lnTo>
                        <a:pt x="42862" y="114300"/>
                      </a:lnTo>
                    </a:path>
                  </a:pathLst>
                </a:custGeom>
                <a:noFill/>
                <a:ln w="21431">
                  <a:solidFill>
                    <a:srgbClr val="841600"/>
                  </a:solidFill>
                </a:ln>
              </p:spPr>
            </p:sp>
          </p:grpSp>
          <p:sp>
            <p:nvSpPr>
              <p:cNvPr id="165" name="TextBox 165"/>
              <p:cNvSpPr txBox="1"/>
              <p:nvPr/>
            </p:nvSpPr>
            <p:spPr>
              <a:xfrm>
                <a:off x="9407283" y="3988118"/>
                <a:ext cx="768833" cy="264033"/>
              </a:xfrm>
              <a:prstGeom prst="rect">
                <a:avLst/>
              </a:prstGeom>
              <a:noFill/>
              <a:ln>
                <a:noFill/>
              </a:ln>
            </p:spPr>
            <p:txBody>
              <a:bodyPr wrap="none" lIns="0" tIns="0" rIns="0" bIns="0" anchor="t" anchorCtr="0">
                <a:spAutoFit/>
              </a:bodyPr>
              <a:lstStyle/>
              <a:p>
                <a:pPr algn="ctr"/>
                <a:r>
                  <a:rPr lang="zh-CN" sz="1350" b="1" dirty="0">
                    <a:solidFill>
                      <a:srgbClr val="841600"/>
                    </a:solidFill>
                    <a:latin typeface="+mn-lt"/>
                    <a:ea typeface="+mn-ea"/>
                    <a:cs typeface="+mn-cs"/>
                  </a:rPr>
                  <a:t xml:space="preserve">≤8分钟　</a:t>
                </a:r>
              </a:p>
            </p:txBody>
          </p:sp>
        </p:grpSp>
        <p:grpSp>
          <p:nvGrpSpPr>
            <p:cNvPr id="172" name="cm-4"/>
            <p:cNvGrpSpPr/>
            <p:nvPr/>
          </p:nvGrpSpPr>
          <p:grpSpPr>
            <a:xfrm>
              <a:off x="10179182" y="3012043"/>
              <a:ext cx="863336" cy="1240108"/>
              <a:chOff x="10179182" y="3012043"/>
              <a:chExt cx="863336" cy="1240108"/>
            </a:xfrm>
          </p:grpSpPr>
          <p:sp>
            <p:nvSpPr>
              <p:cNvPr id="167" name="TextBox 167"/>
              <p:cNvSpPr txBox="1"/>
              <p:nvPr/>
            </p:nvSpPr>
            <p:spPr>
              <a:xfrm>
                <a:off x="10432428" y="3012043"/>
                <a:ext cx="356845"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差错率</a:t>
                </a:r>
              </a:p>
            </p:txBody>
          </p:sp>
          <p:grpSp>
            <p:nvGrpSpPr>
              <p:cNvPr id="170" name="Group 170"/>
              <p:cNvGrpSpPr/>
              <p:nvPr/>
            </p:nvGrpSpPr>
            <p:grpSpPr>
              <a:xfrm>
                <a:off x="10462981" y="3395662"/>
                <a:ext cx="279010" cy="257176"/>
                <a:chOff x="10462981" y="3395662"/>
                <a:chExt cx="279010" cy="257176"/>
              </a:xfrm>
            </p:grpSpPr>
            <p:sp>
              <p:nvSpPr>
                <p:cNvPr id="168" name="Freeform 168"/>
                <p:cNvSpPr/>
                <p:nvPr/>
              </p:nvSpPr>
              <p:spPr>
                <a:xfrm>
                  <a:off x="10462981" y="339566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21431">
                  <a:solidFill>
                    <a:srgbClr val="841600"/>
                  </a:solidFill>
                </a:ln>
              </p:spPr>
            </p:sp>
            <p:sp>
              <p:nvSpPr>
                <p:cNvPr id="169" name="Freeform 169"/>
                <p:cNvSpPr/>
                <p:nvPr/>
              </p:nvSpPr>
              <p:spPr>
                <a:xfrm>
                  <a:off x="10653712" y="3595688"/>
                  <a:ext cx="85725" cy="57150"/>
                </a:xfrm>
                <a:custGeom>
                  <a:avLst/>
                  <a:gdLst/>
                  <a:ahLst/>
                  <a:cxnLst/>
                  <a:rect l="l" t="t" r="r" b="b"/>
                  <a:pathLst>
                    <a:path w="85725" h="57150">
                      <a:moveTo>
                        <a:pt x="0" y="28575"/>
                      </a:moveTo>
                      <a:lnTo>
                        <a:pt x="28575" y="57150"/>
                      </a:lnTo>
                      <a:lnTo>
                        <a:pt x="85725" y="0"/>
                      </a:lnTo>
                    </a:path>
                  </a:pathLst>
                </a:custGeom>
                <a:noFill/>
                <a:ln w="21431">
                  <a:solidFill>
                    <a:srgbClr val="841600"/>
                  </a:solidFill>
                </a:ln>
              </p:spPr>
            </p:sp>
          </p:grpSp>
          <p:sp>
            <p:nvSpPr>
              <p:cNvPr id="171" name="TextBox 171"/>
              <p:cNvSpPr txBox="1"/>
              <p:nvPr/>
            </p:nvSpPr>
            <p:spPr>
              <a:xfrm>
                <a:off x="10179182" y="3988118"/>
                <a:ext cx="863336" cy="264033"/>
              </a:xfrm>
              <a:prstGeom prst="rect">
                <a:avLst/>
              </a:prstGeom>
              <a:noFill/>
              <a:ln>
                <a:noFill/>
              </a:ln>
            </p:spPr>
            <p:txBody>
              <a:bodyPr wrap="none" lIns="0" tIns="0" rIns="0" bIns="0" anchor="t" anchorCtr="0">
                <a:spAutoFit/>
              </a:bodyPr>
              <a:lstStyle/>
              <a:p>
                <a:pPr algn="ctr"/>
                <a:r>
                  <a:rPr lang="zh-CN" sz="1350" b="1" dirty="0">
                    <a:solidFill>
                      <a:srgbClr val="841600"/>
                    </a:solidFill>
                    <a:latin typeface="+mn-lt"/>
                    <a:ea typeface="+mn-ea"/>
                    <a:cs typeface="+mn-cs"/>
                  </a:rPr>
                  <a:t xml:space="preserve">≤0.05%　</a:t>
                </a:r>
              </a:p>
            </p:txBody>
          </p:sp>
        </p:grpSp>
        <p:grpSp>
          <p:nvGrpSpPr>
            <p:cNvPr id="176" name="cm-5"/>
            <p:cNvGrpSpPr/>
            <p:nvPr/>
          </p:nvGrpSpPr>
          <p:grpSpPr>
            <a:xfrm>
              <a:off x="11179614" y="3012043"/>
              <a:ext cx="500771" cy="1354408"/>
              <a:chOff x="11179614" y="3012043"/>
              <a:chExt cx="500771" cy="1354408"/>
            </a:xfrm>
          </p:grpSpPr>
          <p:sp>
            <p:nvSpPr>
              <p:cNvPr id="173" name="TextBox 173"/>
              <p:cNvSpPr txBox="1"/>
              <p:nvPr/>
            </p:nvSpPr>
            <p:spPr>
              <a:xfrm>
                <a:off x="11193691" y="3012043"/>
                <a:ext cx="472618"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投诉下降</a:t>
                </a:r>
              </a:p>
            </p:txBody>
          </p:sp>
          <p:sp>
            <p:nvSpPr>
              <p:cNvPr id="174" name="Freeform 174"/>
              <p:cNvSpPr/>
              <p:nvPr/>
            </p:nvSpPr>
            <p:spPr>
              <a:xfrm>
                <a:off x="11277600" y="3505200"/>
                <a:ext cx="304800" cy="419100"/>
              </a:xfrm>
              <a:prstGeom prst="downArrow">
                <a:avLst>
                  <a:gd name="adj1" fmla="val 50000"/>
                  <a:gd name="adj2" fmla="val 50000"/>
                </a:avLst>
              </a:prstGeom>
              <a:solidFill>
                <a:srgbClr val="ED4D31"/>
              </a:solidFill>
              <a:ln>
                <a:noFill/>
              </a:ln>
            </p:spPr>
          </p:sp>
          <p:sp>
            <p:nvSpPr>
              <p:cNvPr id="175" name="TextBox 175"/>
              <p:cNvSpPr txBox="1"/>
              <p:nvPr/>
            </p:nvSpPr>
            <p:spPr>
              <a:xfrm>
                <a:off x="11179614" y="4102418"/>
                <a:ext cx="500771" cy="264033"/>
              </a:xfrm>
              <a:prstGeom prst="rect">
                <a:avLst/>
              </a:prstGeom>
              <a:noFill/>
              <a:ln>
                <a:noFill/>
              </a:ln>
            </p:spPr>
            <p:txBody>
              <a:bodyPr wrap="none" lIns="0" tIns="0" rIns="0" bIns="0" anchor="t" anchorCtr="0">
                <a:spAutoFit/>
              </a:bodyPr>
              <a:lstStyle/>
              <a:p>
                <a:pPr algn="ctr"/>
                <a:r>
                  <a:rPr lang="zh-CN" sz="1350" b="1" dirty="0">
                    <a:solidFill>
                      <a:srgbClr val="C2290F"/>
                    </a:solidFill>
                    <a:latin typeface="+mn-lt"/>
                    <a:ea typeface="+mn-ea"/>
                    <a:cs typeface="+mn-cs"/>
                  </a:rPr>
                  <a:t>15</a:t>
                </a:r>
                <a:r>
                  <a:rPr lang="zh-CN" sz="900" b="1" dirty="0">
                    <a:solidFill>
                      <a:srgbClr val="C2290F"/>
                    </a:solidFill>
                    <a:latin typeface="+mn-lt"/>
                    <a:ea typeface="+mn-ea"/>
                    <a:cs typeface="+mn-cs"/>
                  </a:rPr>
                  <a:t>%</a:t>
                </a:r>
                <a:r>
                  <a:rPr lang="zh-CN" sz="1350" b="1" dirty="0">
                    <a:solidFill>
                      <a:srgbClr val="C2290F"/>
                    </a:solidFill>
                    <a:latin typeface="+mn-lt"/>
                    <a:ea typeface="+mn-ea"/>
                    <a:cs typeface="+mn-cs"/>
                  </a:rPr>
                  <a:t xml:space="preserve">　</a:t>
                </a:r>
              </a:p>
            </p:txBody>
          </p:sp>
        </p:grpSp>
        <p:sp>
          <p:nvSpPr>
            <p:cNvPr id="177" name="Rectangle 177"/>
            <p:cNvSpPr/>
            <p:nvPr/>
          </p:nvSpPr>
          <p:spPr>
            <a:xfrm>
              <a:off x="7772400" y="4476750"/>
              <a:ext cx="4038600" cy="723900"/>
            </a:xfrm>
            <a:prstGeom prst="roundRect">
              <a:avLst>
                <a:gd name="adj" fmla="val 10526"/>
              </a:avLst>
            </a:prstGeom>
            <a:solidFill>
              <a:srgbClr val="EFF5FD"/>
            </a:solidFill>
            <a:ln>
              <a:noFill/>
            </a:ln>
          </p:spPr>
        </p:sp>
        <p:sp>
          <p:nvSpPr>
            <p:cNvPr id="178" name="TextBox 178"/>
            <p:cNvSpPr txBox="1"/>
            <p:nvPr/>
          </p:nvSpPr>
          <p:spPr>
            <a:xfrm>
              <a:off x="8871966" y="478250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柜面</a:t>
              </a:r>
            </a:p>
          </p:txBody>
        </p:sp>
        <p:sp>
          <p:nvSpPr>
            <p:cNvPr id="179" name="Polygon 179"/>
            <p:cNvSpPr/>
            <p:nvPr/>
          </p:nvSpPr>
          <p:spPr>
            <a:xfrm>
              <a:off x="9220200" y="480155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180" name="TextBox 180"/>
            <p:cNvSpPr txBox="1"/>
            <p:nvPr/>
          </p:nvSpPr>
          <p:spPr>
            <a:xfrm>
              <a:off x="9386316" y="4782502"/>
              <a:ext cx="576072"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远程银行</a:t>
              </a:r>
            </a:p>
          </p:txBody>
        </p:sp>
        <p:sp>
          <p:nvSpPr>
            <p:cNvPr id="181" name="Polygon 181"/>
            <p:cNvSpPr/>
            <p:nvPr/>
          </p:nvSpPr>
          <p:spPr>
            <a:xfrm>
              <a:off x="10001250" y="4801552"/>
              <a:ext cx="95250" cy="95250"/>
            </a:xfrm>
            <a:custGeom>
              <a:avLst/>
              <a:gdLst/>
              <a:ahLst/>
              <a:cxnLst/>
              <a:rect l="l" t="t" r="r" b="b"/>
              <a:pathLst>
                <a:path w="95250" h="95250">
                  <a:moveTo>
                    <a:pt x="0" y="0"/>
                  </a:moveTo>
                  <a:lnTo>
                    <a:pt x="95250" y="47625"/>
                  </a:lnTo>
                  <a:lnTo>
                    <a:pt x="0" y="95250"/>
                  </a:lnTo>
                  <a:close/>
                </a:path>
              </a:pathLst>
            </a:custGeom>
            <a:solidFill>
              <a:srgbClr val="C9482E"/>
            </a:solidFill>
            <a:ln>
              <a:noFill/>
            </a:ln>
          </p:spPr>
        </p:sp>
        <p:sp>
          <p:nvSpPr>
            <p:cNvPr id="182" name="TextBox 182"/>
            <p:cNvSpPr txBox="1"/>
            <p:nvPr/>
          </p:nvSpPr>
          <p:spPr>
            <a:xfrm>
              <a:off x="10167366" y="4782502"/>
              <a:ext cx="576072"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手机银行</a:t>
              </a:r>
            </a:p>
          </p:txBody>
        </p:sp>
      </p:grpSp>
      <p:grpSp>
        <p:nvGrpSpPr>
          <p:cNvPr id="190" name="bottom-band"/>
          <p:cNvGrpSpPr/>
          <p:nvPr/>
        </p:nvGrpSpPr>
        <p:grpSpPr>
          <a:xfrm>
            <a:off x="266700" y="5486400"/>
            <a:ext cx="11658600" cy="1143000"/>
            <a:chOff x="266700" y="5486400"/>
            <a:chExt cx="11658600" cy="1143000"/>
          </a:xfrm>
        </p:grpSpPr>
        <p:sp>
          <p:nvSpPr>
            <p:cNvPr id="184" name="Rectangle 184"/>
            <p:cNvSpPr/>
            <p:nvPr/>
          </p:nvSpPr>
          <p:spPr>
            <a:xfrm>
              <a:off x="266700" y="5486400"/>
              <a:ext cx="11658600" cy="1143000"/>
            </a:xfrm>
            <a:prstGeom prst="roundRect">
              <a:avLst>
                <a:gd name="adj" fmla="val 8333"/>
              </a:avLst>
            </a:prstGeom>
            <a:solidFill>
              <a:srgbClr val="EFF5FD"/>
            </a:solidFill>
            <a:ln w="9525">
              <a:solidFill>
                <a:srgbClr val="D7E2F2"/>
              </a:solidFill>
            </a:ln>
          </p:spPr>
        </p:sp>
        <p:grpSp>
          <p:nvGrpSpPr>
            <p:cNvPr id="188" name="Group 188"/>
            <p:cNvGrpSpPr/>
            <p:nvPr/>
          </p:nvGrpSpPr>
          <p:grpSpPr>
            <a:xfrm>
              <a:off x="2776537" y="5900737"/>
              <a:ext cx="314324" cy="314324"/>
              <a:chOff x="2776537" y="5900737"/>
              <a:chExt cx="314324" cy="314324"/>
            </a:xfrm>
          </p:grpSpPr>
          <p:sp>
            <p:nvSpPr>
              <p:cNvPr id="185" name="Freeform 185"/>
              <p:cNvSpPr/>
              <p:nvPr/>
            </p:nvSpPr>
            <p:spPr>
              <a:xfrm>
                <a:off x="2916237" y="6040437"/>
                <a:ext cx="34925" cy="34925"/>
              </a:xfrm>
              <a:custGeom>
                <a:avLst/>
                <a:gdLst/>
                <a:ahLst/>
                <a:cxnLst/>
                <a:rect l="l" t="t" r="r" b="b"/>
                <a:pathLst>
                  <a:path w="34925" h="34925">
                    <a:moveTo>
                      <a:pt x="0" y="17462"/>
                    </a:moveTo>
                    <a:cubicBezTo>
                      <a:pt x="0" y="27107"/>
                      <a:pt x="7818" y="34925"/>
                      <a:pt x="17462" y="34925"/>
                    </a:cubicBezTo>
                    <a:cubicBezTo>
                      <a:pt x="27107" y="34925"/>
                      <a:pt x="34925" y="27107"/>
                      <a:pt x="34925" y="17462"/>
                    </a:cubicBezTo>
                    <a:cubicBezTo>
                      <a:pt x="34925" y="7818"/>
                      <a:pt x="27107" y="0"/>
                      <a:pt x="17462" y="0"/>
                    </a:cubicBezTo>
                    <a:cubicBezTo>
                      <a:pt x="7818" y="0"/>
                      <a:pt x="0" y="7818"/>
                      <a:pt x="0" y="17462"/>
                    </a:cubicBezTo>
                  </a:path>
                </a:pathLst>
              </a:custGeom>
              <a:noFill/>
              <a:ln w="26194">
                <a:solidFill>
                  <a:srgbClr val="841600"/>
                </a:solidFill>
              </a:ln>
            </p:spPr>
          </p:sp>
          <p:sp>
            <p:nvSpPr>
              <p:cNvPr id="186" name="Freeform 186"/>
              <p:cNvSpPr/>
              <p:nvPr/>
            </p:nvSpPr>
            <p:spPr>
              <a:xfrm>
                <a:off x="2846387" y="5970587"/>
                <a:ext cx="174625" cy="174625"/>
              </a:xfrm>
              <a:custGeom>
                <a:avLst/>
                <a:gdLst/>
                <a:ahLst/>
                <a:cxnLst/>
                <a:rect l="l" t="t" r="r" b="b"/>
                <a:pathLst>
                  <a:path w="174625" h="174625">
                    <a:moveTo>
                      <a:pt x="0" y="87312"/>
                    </a:moveTo>
                    <a:cubicBezTo>
                      <a:pt x="0" y="135534"/>
                      <a:pt x="39091" y="174625"/>
                      <a:pt x="87312" y="174625"/>
                    </a:cubicBezTo>
                    <a:cubicBezTo>
                      <a:pt x="135534" y="174625"/>
                      <a:pt x="174625" y="135534"/>
                      <a:pt x="174625" y="87312"/>
                    </a:cubicBezTo>
                    <a:cubicBezTo>
                      <a:pt x="174625" y="39091"/>
                      <a:pt x="135534" y="0"/>
                      <a:pt x="87312" y="0"/>
                    </a:cubicBezTo>
                    <a:cubicBezTo>
                      <a:pt x="39091" y="0"/>
                      <a:pt x="0" y="39091"/>
                      <a:pt x="0" y="87312"/>
                    </a:cubicBezTo>
                  </a:path>
                </a:pathLst>
              </a:custGeom>
              <a:noFill/>
              <a:ln w="26194">
                <a:solidFill>
                  <a:srgbClr val="841600"/>
                </a:solidFill>
              </a:ln>
            </p:spPr>
          </p:sp>
          <p:sp>
            <p:nvSpPr>
              <p:cNvPr id="187" name="Freeform 187"/>
              <p:cNvSpPr/>
              <p:nvPr/>
            </p:nvSpPr>
            <p:spPr>
              <a:xfrm>
                <a:off x="2776537" y="5900737"/>
                <a:ext cx="314324" cy="314324"/>
              </a:xfrm>
              <a:custGeom>
                <a:avLst/>
                <a:gdLst/>
                <a:ahLst/>
                <a:cxnLst/>
                <a:rect l="l" t="t" r="r" b="b"/>
                <a:pathLst>
                  <a:path w="314324" h="314324">
                    <a:moveTo>
                      <a:pt x="0" y="157162"/>
                    </a:moveTo>
                    <a:cubicBezTo>
                      <a:pt x="0" y="243961"/>
                      <a:pt x="70364" y="314324"/>
                      <a:pt x="157162" y="314324"/>
                    </a:cubicBezTo>
                    <a:cubicBezTo>
                      <a:pt x="243961" y="314324"/>
                      <a:pt x="314324" y="243961"/>
                      <a:pt x="314324" y="157162"/>
                    </a:cubicBezTo>
                    <a:cubicBezTo>
                      <a:pt x="314324" y="70364"/>
                      <a:pt x="243961" y="0"/>
                      <a:pt x="157162" y="0"/>
                    </a:cubicBezTo>
                    <a:cubicBezTo>
                      <a:pt x="70364" y="0"/>
                      <a:pt x="0" y="70364"/>
                      <a:pt x="0" y="157162"/>
                    </a:cubicBezTo>
                  </a:path>
                </a:pathLst>
              </a:custGeom>
              <a:noFill/>
              <a:ln w="26194">
                <a:solidFill>
                  <a:srgbClr val="841600"/>
                </a:solidFill>
              </a:ln>
            </p:spPr>
          </p:sp>
        </p:grpSp>
        <p:sp>
          <p:nvSpPr>
            <p:cNvPr id="189" name="TextBox 189"/>
            <p:cNvSpPr txBox="1"/>
            <p:nvPr/>
          </p:nvSpPr>
          <p:spPr>
            <a:xfrm>
              <a:off x="3306318" y="5975032"/>
              <a:ext cx="7124700" cy="322707"/>
            </a:xfrm>
            <a:prstGeom prst="rect">
              <a:avLst/>
            </a:prstGeom>
            <a:noFill/>
            <a:ln>
              <a:noFill/>
            </a:ln>
          </p:spPr>
          <p:txBody>
            <a:bodyPr wrap="none" lIns="0" tIns="0" rIns="0" bIns="0" anchor="t" anchorCtr="0">
              <a:spAutoFit/>
            </a:bodyPr>
            <a:lstStyle/>
            <a:p>
              <a:pPr algn="l"/>
              <a:r>
                <a:rPr lang="zh-CN" sz="1650" b="1" dirty="0">
                  <a:solidFill>
                    <a:srgbClr val="841600"/>
                  </a:solidFill>
                  <a:latin typeface="+mn-lt"/>
                  <a:ea typeface="+mn-ea"/>
                  <a:cs typeface="+mn-cs"/>
                </a:rPr>
                <a:t>从交易处理向营销服务转型｜网点分层、旅程重塑、渠道协同、效率提升</a:t>
              </a:r>
            </a:p>
          </p:txBody>
        </p:sp>
      </p:gr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15</a:t>
              </a:r>
            </a:p>
          </p:txBody>
        </p:sp>
        <p:sp>
          <p:nvSpPr>
            <p:cNvPr id="4" name="TextBox 4"/>
            <p:cNvSpPr txBox="1"/>
            <p:nvPr/>
          </p:nvSpPr>
          <p:spPr>
            <a:xfrm>
              <a:off x="942594" y="151448"/>
              <a:ext cx="8618220"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科技、数据与数字金融部</a:t>
              </a:r>
              <a:r>
                <a:rPr lang="zh-CN" sz="1950" b="1" dirty="0">
                  <a:solidFill>
                    <a:srgbClr val="1A1A1A"/>
                  </a:solidFill>
                  <a:latin typeface="SimSun"/>
                  <a:ea typeface="SimSun"/>
                  <a:cs typeface="SimSun"/>
                </a:rPr>
                <a:t>｜以数据驱动客户经营、风险预警和管理决策</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8" name="corner-tag"/>
          <p:cNvGrpSpPr/>
          <p:nvPr/>
        </p:nvGrpSpPr>
        <p:grpSpPr>
          <a:xfrm>
            <a:off x="10088845" y="676989"/>
            <a:ext cx="1726918" cy="154781"/>
            <a:chOff x="10088845" y="676989"/>
            <a:chExt cx="1726918" cy="154781"/>
          </a:xfrm>
        </p:grpSpPr>
        <p:sp>
          <p:nvSpPr>
            <p:cNvPr id="7" name="TextBox 7"/>
            <p:cNvSpPr txBox="1"/>
            <p:nvPr/>
          </p:nvSpPr>
          <p:spPr>
            <a:xfrm>
              <a:off x="10088845" y="676989"/>
              <a:ext cx="1726918" cy="154781"/>
            </a:xfrm>
            <a:prstGeom prst="rect">
              <a:avLst/>
            </a:prstGeom>
            <a:noFill/>
            <a:ln>
              <a:noFill/>
            </a:ln>
          </p:spPr>
          <p:txBody>
            <a:bodyPr wrap="none" lIns="0" tIns="0" rIns="0" bIns="0" anchor="t" anchorCtr="0">
              <a:spAutoFit/>
            </a:bodyPr>
            <a:lstStyle/>
            <a:p>
              <a:pPr algn="r"/>
              <a:r>
                <a:rPr lang="zh-CN" sz="790" dirty="0">
                  <a:solidFill>
                    <a:srgbClr val="987F7A"/>
                  </a:solidFill>
                  <a:latin typeface="Arial"/>
                  <a:ea typeface="Microsoft YaHei"/>
                  <a:cs typeface="Arial"/>
                </a:rPr>
                <a:t xml:space="preserve">2026 H2 · PRESIDENT OFFICE　</a:t>
              </a:r>
            </a:p>
          </p:txBody>
        </p:sp>
      </p:grpSp>
      <p:grpSp>
        <p:nvGrpSpPr>
          <p:cNvPr id="140" name="data-architecture"/>
          <p:cNvGrpSpPr/>
          <p:nvPr/>
        </p:nvGrpSpPr>
        <p:grpSpPr>
          <a:xfrm>
            <a:off x="266700" y="952500"/>
            <a:ext cx="7524750" cy="4000500"/>
            <a:chOff x="266700" y="952500"/>
            <a:chExt cx="7524750" cy="4000500"/>
          </a:xfrm>
        </p:grpSpPr>
        <p:grpSp>
          <p:nvGrpSpPr>
            <p:cNvPr id="33" name="layer-value"/>
            <p:cNvGrpSpPr/>
            <p:nvPr/>
          </p:nvGrpSpPr>
          <p:grpSpPr>
            <a:xfrm>
              <a:off x="266700" y="952500"/>
              <a:ext cx="7524750" cy="914400"/>
              <a:chOff x="266700" y="952500"/>
              <a:chExt cx="7524750" cy="914400"/>
            </a:xfrm>
          </p:grpSpPr>
          <p:sp>
            <p:nvSpPr>
              <p:cNvPr id="9" name="Rectangle 9"/>
              <p:cNvSpPr/>
              <p:nvPr/>
            </p:nvSpPr>
            <p:spPr>
              <a:xfrm>
                <a:off x="266700" y="952500"/>
                <a:ext cx="1143000" cy="914400"/>
              </a:xfrm>
              <a:prstGeom prst="roundRect">
                <a:avLst>
                  <a:gd name="adj" fmla="val 8333"/>
                </a:avLst>
              </a:prstGeom>
              <a:solidFill>
                <a:srgbClr val="841600"/>
              </a:solidFill>
              <a:ln>
                <a:noFill/>
              </a:ln>
            </p:spPr>
          </p:sp>
          <p:grpSp>
            <p:nvGrpSpPr>
              <p:cNvPr id="12" name="Group 12"/>
              <p:cNvGrpSpPr/>
              <p:nvPr/>
            </p:nvGrpSpPr>
            <p:grpSpPr>
              <a:xfrm>
                <a:off x="716756" y="1153319"/>
                <a:ext cx="242888" cy="198495"/>
                <a:chOff x="716756" y="1153319"/>
                <a:chExt cx="242888" cy="198495"/>
              </a:xfrm>
            </p:grpSpPr>
            <p:sp>
              <p:nvSpPr>
                <p:cNvPr id="10" name="Freeform 10"/>
                <p:cNvSpPr/>
                <p:nvPr/>
              </p:nvSpPr>
              <p:spPr>
                <a:xfrm>
                  <a:off x="716756" y="1153319"/>
                  <a:ext cx="242888" cy="198495"/>
                </a:xfrm>
                <a:custGeom>
                  <a:avLst/>
                  <a:gdLst/>
                  <a:ahLst/>
                  <a:cxnLst/>
                  <a:rect l="l" t="t" r="r" b="b"/>
                  <a:pathLst>
                    <a:path w="242888" h="198495">
                      <a:moveTo>
                        <a:pt x="40481" y="0"/>
                      </a:moveTo>
                      <a:lnTo>
                        <a:pt x="202407" y="0"/>
                      </a:lnTo>
                      <a:lnTo>
                        <a:pt x="242888" y="67469"/>
                      </a:lnTo>
                      <a:lnTo>
                        <a:pt x="128191" y="195660"/>
                      </a:lnTo>
                      <a:cubicBezTo>
                        <a:pt x="126414" y="197473"/>
                        <a:pt x="123983" y="198495"/>
                        <a:pt x="121444" y="198495"/>
                      </a:cubicBezTo>
                      <a:cubicBezTo>
                        <a:pt x="118905" y="198495"/>
                        <a:pt x="116474" y="197473"/>
                        <a:pt x="114697" y="195660"/>
                      </a:cubicBezTo>
                      <a:lnTo>
                        <a:pt x="0" y="67469"/>
                      </a:lnTo>
                      <a:lnTo>
                        <a:pt x="40481" y="0"/>
                      </a:lnTo>
                    </a:path>
                  </a:pathLst>
                </a:custGeom>
                <a:noFill/>
                <a:ln w="20241">
                  <a:solidFill>
                    <a:srgbClr val="FFFFFF"/>
                  </a:solidFill>
                </a:ln>
              </p:spPr>
            </p:sp>
            <p:sp>
              <p:nvSpPr>
                <p:cNvPr id="11" name="Freeform 11"/>
                <p:cNvSpPr/>
                <p:nvPr/>
              </p:nvSpPr>
              <p:spPr>
                <a:xfrm>
                  <a:off x="784225" y="1204595"/>
                  <a:ext cx="26988" cy="43180"/>
                </a:xfrm>
                <a:custGeom>
                  <a:avLst/>
                  <a:gdLst/>
                  <a:ahLst/>
                  <a:cxnLst/>
                  <a:rect l="l" t="t" r="r" b="b"/>
                  <a:pathLst>
                    <a:path w="26988" h="43180">
                      <a:moveTo>
                        <a:pt x="26988" y="43180"/>
                      </a:moveTo>
                      <a:lnTo>
                        <a:pt x="0" y="13494"/>
                      </a:lnTo>
                      <a:lnTo>
                        <a:pt x="8096" y="0"/>
                      </a:lnTo>
                    </a:path>
                  </a:pathLst>
                </a:custGeom>
                <a:noFill/>
                <a:ln w="20241">
                  <a:solidFill>
                    <a:srgbClr val="FFFFFF"/>
                  </a:solidFill>
                </a:ln>
              </p:spPr>
            </p:sp>
          </p:grpSp>
          <p:sp>
            <p:nvSpPr>
              <p:cNvPr id="13" name="TextBox 13"/>
              <p:cNvSpPr txBox="1"/>
              <p:nvPr/>
            </p:nvSpPr>
            <p:spPr>
              <a:xfrm>
                <a:off x="530936" y="15930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经营价值</a:t>
                </a:r>
              </a:p>
            </p:txBody>
          </p:sp>
          <p:sp>
            <p:nvSpPr>
              <p:cNvPr id="14" name="Rectangle 14"/>
              <p:cNvSpPr/>
              <p:nvPr/>
            </p:nvSpPr>
            <p:spPr>
              <a:xfrm>
                <a:off x="1485900" y="952500"/>
                <a:ext cx="6305550" cy="914400"/>
              </a:xfrm>
              <a:prstGeom prst="roundRect">
                <a:avLst>
                  <a:gd name="adj" fmla="val 8333"/>
                </a:avLst>
              </a:prstGeom>
              <a:solidFill>
                <a:srgbClr val="EFF5FD"/>
              </a:solidFill>
              <a:ln w="9525">
                <a:solidFill>
                  <a:srgbClr val="D7E2F2"/>
                </a:solidFill>
              </a:ln>
            </p:spPr>
          </p:sp>
          <p:sp>
            <p:nvSpPr>
              <p:cNvPr id="15" name="Rectangle 15"/>
              <p:cNvSpPr/>
              <p:nvPr/>
            </p:nvSpPr>
            <p:spPr>
              <a:xfrm>
                <a:off x="1676400" y="1143000"/>
                <a:ext cx="1809750" cy="533400"/>
              </a:xfrm>
              <a:prstGeom prst="roundRect">
                <a:avLst>
                  <a:gd name="adj" fmla="val 10714"/>
                </a:avLst>
              </a:prstGeom>
              <a:solidFill>
                <a:srgbClr val="FFFFFF"/>
              </a:solidFill>
              <a:ln w="9525">
                <a:solidFill>
                  <a:srgbClr val="D7E2F2"/>
                </a:solidFill>
              </a:ln>
            </p:spPr>
          </p:sp>
          <p:grpSp>
            <p:nvGrpSpPr>
              <p:cNvPr id="20" name="Group 20"/>
              <p:cNvGrpSpPr/>
              <p:nvPr/>
            </p:nvGrpSpPr>
            <p:grpSpPr>
              <a:xfrm>
                <a:off x="1895475" y="1323975"/>
                <a:ext cx="171450" cy="171450"/>
                <a:chOff x="1895475" y="1323975"/>
                <a:chExt cx="171450" cy="171450"/>
              </a:xfrm>
            </p:grpSpPr>
            <p:sp>
              <p:nvSpPr>
                <p:cNvPr id="16" name="Freeform 16"/>
                <p:cNvSpPr/>
                <p:nvPr/>
              </p:nvSpPr>
              <p:spPr>
                <a:xfrm>
                  <a:off x="1914525" y="13239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4288">
                  <a:solidFill>
                    <a:srgbClr val="841600"/>
                  </a:solidFill>
                </a:ln>
              </p:spPr>
            </p:sp>
            <p:sp>
              <p:nvSpPr>
                <p:cNvPr id="17" name="Freeform 17"/>
                <p:cNvSpPr/>
                <p:nvPr/>
              </p:nvSpPr>
              <p:spPr>
                <a:xfrm>
                  <a:off x="1895475" y="14382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4288">
                  <a:solidFill>
                    <a:srgbClr val="841600"/>
                  </a:solidFill>
                </a:ln>
              </p:spPr>
            </p:sp>
            <p:sp>
              <p:nvSpPr>
                <p:cNvPr id="18" name="Freeform 18"/>
                <p:cNvSpPr/>
                <p:nvPr/>
              </p:nvSpPr>
              <p:spPr>
                <a:xfrm>
                  <a:off x="2019300" y="13252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4288">
                  <a:solidFill>
                    <a:srgbClr val="841600"/>
                  </a:solidFill>
                </a:ln>
              </p:spPr>
            </p:sp>
            <p:sp>
              <p:nvSpPr>
                <p:cNvPr id="19" name="Freeform 19"/>
                <p:cNvSpPr/>
                <p:nvPr/>
              </p:nvSpPr>
              <p:spPr>
                <a:xfrm>
                  <a:off x="2038350" y="14397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4288">
                  <a:solidFill>
                    <a:srgbClr val="841600"/>
                  </a:solidFill>
                </a:ln>
              </p:spPr>
            </p:sp>
          </p:grpSp>
          <p:sp>
            <p:nvSpPr>
              <p:cNvPr id="21" name="TextBox 21"/>
              <p:cNvSpPr txBox="1"/>
              <p:nvPr/>
            </p:nvSpPr>
            <p:spPr>
              <a:xfrm>
                <a:off x="2204466" y="134397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客户经营</a:t>
                </a:r>
              </a:p>
            </p:txBody>
          </p:sp>
          <p:sp>
            <p:nvSpPr>
              <p:cNvPr id="22" name="Rectangle 22"/>
              <p:cNvSpPr/>
              <p:nvPr/>
            </p:nvSpPr>
            <p:spPr>
              <a:xfrm>
                <a:off x="3771900" y="1143000"/>
                <a:ext cx="1809750" cy="533400"/>
              </a:xfrm>
              <a:prstGeom prst="roundRect">
                <a:avLst>
                  <a:gd name="adj" fmla="val 10714"/>
                </a:avLst>
              </a:prstGeom>
              <a:solidFill>
                <a:srgbClr val="FFFFFF"/>
              </a:solidFill>
              <a:ln w="9525">
                <a:solidFill>
                  <a:srgbClr val="D7E2F2"/>
                </a:solidFill>
              </a:ln>
            </p:spPr>
          </p:sp>
          <p:grpSp>
            <p:nvGrpSpPr>
              <p:cNvPr id="26" name="Group 26"/>
              <p:cNvGrpSpPr/>
              <p:nvPr/>
            </p:nvGrpSpPr>
            <p:grpSpPr>
              <a:xfrm>
                <a:off x="3980639" y="1320811"/>
                <a:ext cx="192114" cy="165051"/>
                <a:chOff x="3980639" y="1320811"/>
                <a:chExt cx="192114" cy="165051"/>
              </a:xfrm>
            </p:grpSpPr>
            <p:sp>
              <p:nvSpPr>
                <p:cNvPr id="23" name="Freeform 23"/>
                <p:cNvSpPr/>
                <p:nvPr/>
              </p:nvSpPr>
              <p:spPr>
                <a:xfrm>
                  <a:off x="4076700" y="1381125"/>
                  <a:ext cx="9525" cy="38100"/>
                </a:xfrm>
                <a:custGeom>
                  <a:avLst/>
                  <a:gdLst/>
                  <a:ahLst/>
                  <a:cxnLst/>
                  <a:rect l="l" t="t" r="r" b="b"/>
                  <a:pathLst>
                    <a:path w="9525" h="38100">
                      <a:moveTo>
                        <a:pt x="0" y="0"/>
                      </a:moveTo>
                      <a:lnTo>
                        <a:pt x="0" y="38100"/>
                      </a:lnTo>
                    </a:path>
                  </a:pathLst>
                </a:custGeom>
                <a:noFill/>
                <a:ln w="14288">
                  <a:solidFill>
                    <a:srgbClr val="841600"/>
                  </a:solidFill>
                </a:ln>
              </p:spPr>
            </p:sp>
            <p:sp>
              <p:nvSpPr>
                <p:cNvPr id="24" name="Freeform 24"/>
                <p:cNvSpPr/>
                <p:nvPr/>
              </p:nvSpPr>
              <p:spPr>
                <a:xfrm>
                  <a:off x="3980639" y="13208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4288">
                  <a:solidFill>
                    <a:srgbClr val="841600"/>
                  </a:solidFill>
                </a:ln>
              </p:spPr>
            </p:sp>
            <p:sp>
              <p:nvSpPr>
                <p:cNvPr id="25" name="Freeform 25"/>
                <p:cNvSpPr/>
                <p:nvPr/>
              </p:nvSpPr>
              <p:spPr>
                <a:xfrm>
                  <a:off x="4076700" y="1447800"/>
                  <a:ext cx="9525" cy="9525"/>
                </a:xfrm>
                <a:custGeom>
                  <a:avLst/>
                  <a:gdLst/>
                  <a:ahLst/>
                  <a:cxnLst/>
                  <a:rect l="l" t="t" r="r" b="b"/>
                  <a:pathLst>
                    <a:path w="9525" h="9525">
                      <a:moveTo>
                        <a:pt x="0" y="0"/>
                      </a:moveTo>
                      <a:lnTo>
                        <a:pt x="95" y="0"/>
                      </a:lnTo>
                    </a:path>
                  </a:pathLst>
                </a:custGeom>
                <a:noFill/>
                <a:ln w="14288">
                  <a:solidFill>
                    <a:srgbClr val="841600"/>
                  </a:solidFill>
                </a:ln>
              </p:spPr>
            </p:sp>
          </p:grpSp>
          <p:sp>
            <p:nvSpPr>
              <p:cNvPr id="27" name="TextBox 27"/>
              <p:cNvSpPr txBox="1"/>
              <p:nvPr/>
            </p:nvSpPr>
            <p:spPr>
              <a:xfrm>
                <a:off x="4299966" y="134397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风险预警</a:t>
                </a:r>
              </a:p>
            </p:txBody>
          </p:sp>
          <p:sp>
            <p:nvSpPr>
              <p:cNvPr id="28" name="Rectangle 28"/>
              <p:cNvSpPr/>
              <p:nvPr/>
            </p:nvSpPr>
            <p:spPr>
              <a:xfrm>
                <a:off x="5867400" y="1143000"/>
                <a:ext cx="1809750" cy="533400"/>
              </a:xfrm>
              <a:prstGeom prst="roundRect">
                <a:avLst>
                  <a:gd name="adj" fmla="val 10714"/>
                </a:avLst>
              </a:prstGeom>
              <a:solidFill>
                <a:srgbClr val="FFFFFF"/>
              </a:solidFill>
              <a:ln w="9525">
                <a:solidFill>
                  <a:srgbClr val="D7E2F2"/>
                </a:solidFill>
              </a:ln>
            </p:spPr>
          </p:sp>
          <p:grpSp>
            <p:nvGrpSpPr>
              <p:cNvPr id="31" name="Group 31"/>
              <p:cNvGrpSpPr/>
              <p:nvPr/>
            </p:nvGrpSpPr>
            <p:grpSpPr>
              <a:xfrm>
                <a:off x="6096000" y="1352550"/>
                <a:ext cx="152400" cy="133350"/>
                <a:chOff x="6096000" y="1352550"/>
                <a:chExt cx="152400" cy="133350"/>
              </a:xfrm>
            </p:grpSpPr>
            <p:sp>
              <p:nvSpPr>
                <p:cNvPr id="29" name="Freeform 29"/>
                <p:cNvSpPr/>
                <p:nvPr/>
              </p:nvSpPr>
              <p:spPr>
                <a:xfrm>
                  <a:off x="6096000" y="1476375"/>
                  <a:ext cx="152400" cy="9525"/>
                </a:xfrm>
                <a:custGeom>
                  <a:avLst/>
                  <a:gdLst/>
                  <a:ahLst/>
                  <a:cxnLst/>
                  <a:rect l="l" t="t" r="r" b="b"/>
                  <a:pathLst>
                    <a:path w="152400" h="9525">
                      <a:moveTo>
                        <a:pt x="0" y="0"/>
                      </a:moveTo>
                      <a:lnTo>
                        <a:pt x="152400" y="0"/>
                      </a:lnTo>
                    </a:path>
                  </a:pathLst>
                </a:custGeom>
                <a:noFill/>
                <a:ln w="14288">
                  <a:solidFill>
                    <a:srgbClr val="841600"/>
                  </a:solidFill>
                </a:ln>
              </p:spPr>
            </p:sp>
            <p:sp>
              <p:nvSpPr>
                <p:cNvPr id="30" name="Freeform 30"/>
                <p:cNvSpPr/>
                <p:nvPr/>
              </p:nvSpPr>
              <p:spPr>
                <a:xfrm>
                  <a:off x="6096000" y="13525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4288">
                  <a:solidFill>
                    <a:srgbClr val="841600"/>
                  </a:solidFill>
                </a:ln>
              </p:spPr>
            </p:sp>
          </p:grpSp>
          <p:sp>
            <p:nvSpPr>
              <p:cNvPr id="32" name="TextBox 32"/>
              <p:cNvSpPr txBox="1"/>
              <p:nvPr/>
            </p:nvSpPr>
            <p:spPr>
              <a:xfrm>
                <a:off x="6395466" y="134397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管理决策</a:t>
                </a:r>
              </a:p>
            </p:txBody>
          </p:sp>
        </p:grpSp>
        <p:sp>
          <p:nvSpPr>
            <p:cNvPr id="34" name="Polygon 34"/>
            <p:cNvSpPr/>
            <p:nvPr/>
          </p:nvSpPr>
          <p:spPr>
            <a:xfrm>
              <a:off x="4524375" y="1847850"/>
              <a:ext cx="228600" cy="114300"/>
            </a:xfrm>
            <a:custGeom>
              <a:avLst/>
              <a:gdLst/>
              <a:ahLst/>
              <a:cxnLst/>
              <a:rect l="l" t="t" r="r" b="b"/>
              <a:pathLst>
                <a:path w="228600" h="114300">
                  <a:moveTo>
                    <a:pt x="0" y="114300"/>
                  </a:moveTo>
                  <a:lnTo>
                    <a:pt x="228600" y="114300"/>
                  </a:lnTo>
                  <a:lnTo>
                    <a:pt x="114300" y="0"/>
                  </a:lnTo>
                  <a:close/>
                </a:path>
              </a:pathLst>
            </a:custGeom>
            <a:solidFill>
              <a:srgbClr val="841600"/>
            </a:solidFill>
            <a:ln>
              <a:noFill/>
            </a:ln>
          </p:spPr>
        </p:sp>
        <p:grpSp>
          <p:nvGrpSpPr>
            <p:cNvPr id="78" name="layer-scenario"/>
            <p:cNvGrpSpPr/>
            <p:nvPr/>
          </p:nvGrpSpPr>
          <p:grpSpPr>
            <a:xfrm>
              <a:off x="266700" y="1981200"/>
              <a:ext cx="7524750" cy="914400"/>
              <a:chOff x="266700" y="1981200"/>
              <a:chExt cx="7524750" cy="914400"/>
            </a:xfrm>
          </p:grpSpPr>
          <p:sp>
            <p:nvSpPr>
              <p:cNvPr id="35" name="Rectangle 35"/>
              <p:cNvSpPr/>
              <p:nvPr/>
            </p:nvSpPr>
            <p:spPr>
              <a:xfrm>
                <a:off x="266700" y="1981200"/>
                <a:ext cx="1143000" cy="914400"/>
              </a:xfrm>
              <a:prstGeom prst="roundRect">
                <a:avLst>
                  <a:gd name="adj" fmla="val 8333"/>
                </a:avLst>
              </a:prstGeom>
              <a:solidFill>
                <a:srgbClr val="841600"/>
              </a:solidFill>
              <a:ln>
                <a:noFill/>
              </a:ln>
            </p:spPr>
          </p:sp>
          <p:sp>
            <p:nvSpPr>
              <p:cNvPr id="36" name="Freeform 36"/>
              <p:cNvSpPr/>
              <p:nvPr/>
            </p:nvSpPr>
            <p:spPr>
              <a:xfrm>
                <a:off x="716756" y="2155031"/>
                <a:ext cx="242888" cy="242888"/>
              </a:xfrm>
              <a:custGeom>
                <a:avLst/>
                <a:gdLst/>
                <a:ahLst/>
                <a:cxnLst/>
                <a:rect l="l" t="t" r="r" b="b"/>
                <a:pathLst>
                  <a:path w="242888" h="242888">
                    <a:moveTo>
                      <a:pt x="13494" y="53975"/>
                    </a:moveTo>
                    <a:lnTo>
                      <a:pt x="53975" y="53975"/>
                    </a:lnTo>
                    <a:cubicBezTo>
                      <a:pt x="61428" y="53975"/>
                      <a:pt x="67469" y="47934"/>
                      <a:pt x="67469" y="40481"/>
                    </a:cubicBezTo>
                    <a:lnTo>
                      <a:pt x="67469" y="26988"/>
                    </a:lnTo>
                    <a:cubicBezTo>
                      <a:pt x="67469" y="12083"/>
                      <a:pt x="79552" y="0"/>
                      <a:pt x="94456" y="0"/>
                    </a:cubicBezTo>
                    <a:cubicBezTo>
                      <a:pt x="109361" y="0"/>
                      <a:pt x="121444" y="12083"/>
                      <a:pt x="121444" y="26988"/>
                    </a:cubicBezTo>
                    <a:lnTo>
                      <a:pt x="121444" y="40481"/>
                    </a:lnTo>
                    <a:cubicBezTo>
                      <a:pt x="121444" y="47934"/>
                      <a:pt x="127485" y="53975"/>
                      <a:pt x="134938" y="53975"/>
                    </a:cubicBezTo>
                    <a:lnTo>
                      <a:pt x="175419" y="53975"/>
                    </a:lnTo>
                    <a:cubicBezTo>
                      <a:pt x="182872" y="53975"/>
                      <a:pt x="188913" y="60016"/>
                      <a:pt x="188913" y="67469"/>
                    </a:cubicBezTo>
                    <a:lnTo>
                      <a:pt x="188913" y="107950"/>
                    </a:lnTo>
                    <a:cubicBezTo>
                      <a:pt x="188913" y="115403"/>
                      <a:pt x="194954" y="121444"/>
                      <a:pt x="202407" y="121444"/>
                    </a:cubicBezTo>
                    <a:lnTo>
                      <a:pt x="215901" y="121444"/>
                    </a:lnTo>
                    <a:cubicBezTo>
                      <a:pt x="230805" y="121444"/>
                      <a:pt x="242888" y="133527"/>
                      <a:pt x="242888" y="148432"/>
                    </a:cubicBezTo>
                    <a:cubicBezTo>
                      <a:pt x="242888" y="163336"/>
                      <a:pt x="230805" y="175419"/>
                      <a:pt x="215901" y="175419"/>
                    </a:cubicBezTo>
                    <a:lnTo>
                      <a:pt x="202407" y="175419"/>
                    </a:lnTo>
                    <a:cubicBezTo>
                      <a:pt x="194954" y="175419"/>
                      <a:pt x="188913" y="181461"/>
                      <a:pt x="188913" y="188913"/>
                    </a:cubicBezTo>
                    <a:lnTo>
                      <a:pt x="188913" y="229394"/>
                    </a:lnTo>
                    <a:cubicBezTo>
                      <a:pt x="188913" y="236847"/>
                      <a:pt x="182872" y="242888"/>
                      <a:pt x="175419" y="242888"/>
                    </a:cubicBezTo>
                    <a:lnTo>
                      <a:pt x="134938" y="242888"/>
                    </a:lnTo>
                    <a:cubicBezTo>
                      <a:pt x="127485" y="242888"/>
                      <a:pt x="121444" y="236847"/>
                      <a:pt x="121444" y="229394"/>
                    </a:cubicBezTo>
                    <a:lnTo>
                      <a:pt x="121444" y="215901"/>
                    </a:lnTo>
                    <a:cubicBezTo>
                      <a:pt x="121444" y="200996"/>
                      <a:pt x="109361" y="188913"/>
                      <a:pt x="94456" y="188913"/>
                    </a:cubicBezTo>
                    <a:cubicBezTo>
                      <a:pt x="79552" y="188913"/>
                      <a:pt x="67469" y="200996"/>
                      <a:pt x="67469" y="215901"/>
                    </a:cubicBezTo>
                    <a:lnTo>
                      <a:pt x="67469" y="229394"/>
                    </a:lnTo>
                    <a:cubicBezTo>
                      <a:pt x="67469" y="236847"/>
                      <a:pt x="61428" y="242888"/>
                      <a:pt x="53975" y="242888"/>
                    </a:cubicBezTo>
                    <a:lnTo>
                      <a:pt x="13494" y="242888"/>
                    </a:lnTo>
                    <a:cubicBezTo>
                      <a:pt x="6041" y="242888"/>
                      <a:pt x="0" y="236847"/>
                      <a:pt x="0" y="229394"/>
                    </a:cubicBezTo>
                    <a:lnTo>
                      <a:pt x="0" y="188913"/>
                    </a:lnTo>
                    <a:cubicBezTo>
                      <a:pt x="0" y="181461"/>
                      <a:pt x="6041" y="175419"/>
                      <a:pt x="13494" y="175419"/>
                    </a:cubicBezTo>
                    <a:lnTo>
                      <a:pt x="26988" y="175419"/>
                    </a:lnTo>
                    <a:cubicBezTo>
                      <a:pt x="41892" y="175419"/>
                      <a:pt x="53975" y="163336"/>
                      <a:pt x="53975" y="148432"/>
                    </a:cubicBezTo>
                    <a:cubicBezTo>
                      <a:pt x="53975" y="133527"/>
                      <a:pt x="41892" y="121444"/>
                      <a:pt x="26988" y="121444"/>
                    </a:cubicBezTo>
                    <a:lnTo>
                      <a:pt x="13494" y="121444"/>
                    </a:lnTo>
                    <a:cubicBezTo>
                      <a:pt x="6041" y="121444"/>
                      <a:pt x="0" y="115403"/>
                      <a:pt x="0" y="107950"/>
                    </a:cubicBezTo>
                    <a:lnTo>
                      <a:pt x="0" y="67469"/>
                    </a:lnTo>
                    <a:cubicBezTo>
                      <a:pt x="0" y="60016"/>
                      <a:pt x="6041" y="53975"/>
                      <a:pt x="13494" y="53975"/>
                    </a:cubicBezTo>
                  </a:path>
                </a:pathLst>
              </a:custGeom>
              <a:noFill/>
              <a:ln w="20241">
                <a:solidFill>
                  <a:srgbClr val="FFFFFF"/>
                </a:solidFill>
              </a:ln>
            </p:spPr>
          </p:sp>
          <p:sp>
            <p:nvSpPr>
              <p:cNvPr id="37" name="TextBox 37"/>
              <p:cNvSpPr txBox="1"/>
              <p:nvPr/>
            </p:nvSpPr>
            <p:spPr>
              <a:xfrm>
                <a:off x="530936" y="26217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业务场景</a:t>
                </a:r>
              </a:p>
            </p:txBody>
          </p:sp>
          <p:sp>
            <p:nvSpPr>
              <p:cNvPr id="38" name="Rectangle 38"/>
              <p:cNvSpPr/>
              <p:nvPr/>
            </p:nvSpPr>
            <p:spPr>
              <a:xfrm>
                <a:off x="1485900" y="1981200"/>
                <a:ext cx="6305550" cy="914400"/>
              </a:xfrm>
              <a:prstGeom prst="roundRect">
                <a:avLst>
                  <a:gd name="adj" fmla="val 8333"/>
                </a:avLst>
              </a:prstGeom>
              <a:solidFill>
                <a:srgbClr val="EFF5FD"/>
              </a:solidFill>
              <a:ln w="9525">
                <a:solidFill>
                  <a:srgbClr val="D7E2F2"/>
                </a:solidFill>
              </a:ln>
            </p:spPr>
          </p:sp>
          <p:sp>
            <p:nvSpPr>
              <p:cNvPr id="39" name="Rectangle 39"/>
              <p:cNvSpPr/>
              <p:nvPr/>
            </p:nvSpPr>
            <p:spPr>
              <a:xfrm>
                <a:off x="1638300" y="2171700"/>
                <a:ext cx="1047750" cy="533400"/>
              </a:xfrm>
              <a:prstGeom prst="roundRect">
                <a:avLst>
                  <a:gd name="adj" fmla="val 10714"/>
                </a:avLst>
              </a:prstGeom>
              <a:solidFill>
                <a:srgbClr val="FFFFFF"/>
              </a:solidFill>
              <a:ln w="9525">
                <a:solidFill>
                  <a:srgbClr val="D7E2F2"/>
                </a:solidFill>
              </a:ln>
            </p:spPr>
          </p:sp>
          <p:grpSp>
            <p:nvGrpSpPr>
              <p:cNvPr id="48" name="Group 48"/>
              <p:cNvGrpSpPr/>
              <p:nvPr/>
            </p:nvGrpSpPr>
            <p:grpSpPr>
              <a:xfrm>
                <a:off x="1800225" y="2352675"/>
                <a:ext cx="171450" cy="180975"/>
                <a:chOff x="1800225" y="2352675"/>
                <a:chExt cx="171450" cy="180975"/>
              </a:xfrm>
            </p:grpSpPr>
            <p:sp>
              <p:nvSpPr>
                <p:cNvPr id="40" name="Freeform 40"/>
                <p:cNvSpPr/>
                <p:nvPr/>
              </p:nvSpPr>
              <p:spPr>
                <a:xfrm>
                  <a:off x="1800225" y="2524125"/>
                  <a:ext cx="171450" cy="9525"/>
                </a:xfrm>
                <a:custGeom>
                  <a:avLst/>
                  <a:gdLst/>
                  <a:ahLst/>
                  <a:cxnLst/>
                  <a:rect l="l" t="t" r="r" b="b"/>
                  <a:pathLst>
                    <a:path w="171450" h="9525">
                      <a:moveTo>
                        <a:pt x="0" y="0"/>
                      </a:moveTo>
                      <a:lnTo>
                        <a:pt x="171450" y="0"/>
                      </a:lnTo>
                    </a:path>
                  </a:pathLst>
                </a:custGeom>
                <a:noFill/>
                <a:ln w="14288">
                  <a:solidFill>
                    <a:srgbClr val="841600"/>
                  </a:solidFill>
                </a:ln>
              </p:spPr>
            </p:sp>
            <p:sp>
              <p:nvSpPr>
                <p:cNvPr id="41" name="Freeform 41"/>
                <p:cNvSpPr/>
                <p:nvPr/>
              </p:nvSpPr>
              <p:spPr>
                <a:xfrm>
                  <a:off x="1857375" y="2400300"/>
                  <a:ext cx="9525" cy="9525"/>
                </a:xfrm>
                <a:custGeom>
                  <a:avLst/>
                  <a:gdLst/>
                  <a:ahLst/>
                  <a:cxnLst/>
                  <a:rect l="l" t="t" r="r" b="b"/>
                  <a:pathLst>
                    <a:path w="9525" h="9525">
                      <a:moveTo>
                        <a:pt x="0" y="0"/>
                      </a:moveTo>
                      <a:lnTo>
                        <a:pt x="9525" y="0"/>
                      </a:lnTo>
                    </a:path>
                  </a:pathLst>
                </a:custGeom>
                <a:noFill/>
                <a:ln w="14288">
                  <a:solidFill>
                    <a:srgbClr val="841600"/>
                  </a:solidFill>
                </a:ln>
              </p:spPr>
            </p:sp>
            <p:sp>
              <p:nvSpPr>
                <p:cNvPr id="42" name="Freeform 42"/>
                <p:cNvSpPr/>
                <p:nvPr/>
              </p:nvSpPr>
              <p:spPr>
                <a:xfrm>
                  <a:off x="1857375" y="2438400"/>
                  <a:ext cx="9525" cy="9525"/>
                </a:xfrm>
                <a:custGeom>
                  <a:avLst/>
                  <a:gdLst/>
                  <a:ahLst/>
                  <a:cxnLst/>
                  <a:rect l="l" t="t" r="r" b="b"/>
                  <a:pathLst>
                    <a:path w="9525" h="9525">
                      <a:moveTo>
                        <a:pt x="0" y="0"/>
                      </a:moveTo>
                      <a:lnTo>
                        <a:pt x="9525" y="0"/>
                      </a:lnTo>
                    </a:path>
                  </a:pathLst>
                </a:custGeom>
                <a:noFill/>
                <a:ln w="14288">
                  <a:solidFill>
                    <a:srgbClr val="841600"/>
                  </a:solidFill>
                </a:ln>
              </p:spPr>
            </p:sp>
            <p:sp>
              <p:nvSpPr>
                <p:cNvPr id="43" name="Freeform 43"/>
                <p:cNvSpPr/>
                <p:nvPr/>
              </p:nvSpPr>
              <p:spPr>
                <a:xfrm>
                  <a:off x="1857375" y="2476500"/>
                  <a:ext cx="9525" cy="9525"/>
                </a:xfrm>
                <a:custGeom>
                  <a:avLst/>
                  <a:gdLst/>
                  <a:ahLst/>
                  <a:cxnLst/>
                  <a:rect l="l" t="t" r="r" b="b"/>
                  <a:pathLst>
                    <a:path w="9525" h="9525">
                      <a:moveTo>
                        <a:pt x="0" y="0"/>
                      </a:moveTo>
                      <a:lnTo>
                        <a:pt x="9525" y="0"/>
                      </a:lnTo>
                    </a:path>
                  </a:pathLst>
                </a:custGeom>
                <a:noFill/>
                <a:ln w="14288">
                  <a:solidFill>
                    <a:srgbClr val="841600"/>
                  </a:solidFill>
                </a:ln>
              </p:spPr>
            </p:sp>
            <p:sp>
              <p:nvSpPr>
                <p:cNvPr id="44" name="Freeform 44"/>
                <p:cNvSpPr/>
                <p:nvPr/>
              </p:nvSpPr>
              <p:spPr>
                <a:xfrm>
                  <a:off x="1905000" y="2400300"/>
                  <a:ext cx="9525" cy="9525"/>
                </a:xfrm>
                <a:custGeom>
                  <a:avLst/>
                  <a:gdLst/>
                  <a:ahLst/>
                  <a:cxnLst/>
                  <a:rect l="l" t="t" r="r" b="b"/>
                  <a:pathLst>
                    <a:path w="9525" h="9525">
                      <a:moveTo>
                        <a:pt x="0" y="0"/>
                      </a:moveTo>
                      <a:lnTo>
                        <a:pt x="9525" y="0"/>
                      </a:lnTo>
                    </a:path>
                  </a:pathLst>
                </a:custGeom>
                <a:noFill/>
                <a:ln w="14288">
                  <a:solidFill>
                    <a:srgbClr val="841600"/>
                  </a:solidFill>
                </a:ln>
              </p:spPr>
            </p:sp>
            <p:sp>
              <p:nvSpPr>
                <p:cNvPr id="45" name="Freeform 45"/>
                <p:cNvSpPr/>
                <p:nvPr/>
              </p:nvSpPr>
              <p:spPr>
                <a:xfrm>
                  <a:off x="1905000" y="2438400"/>
                  <a:ext cx="9525" cy="9525"/>
                </a:xfrm>
                <a:custGeom>
                  <a:avLst/>
                  <a:gdLst/>
                  <a:ahLst/>
                  <a:cxnLst/>
                  <a:rect l="l" t="t" r="r" b="b"/>
                  <a:pathLst>
                    <a:path w="9525" h="9525">
                      <a:moveTo>
                        <a:pt x="0" y="0"/>
                      </a:moveTo>
                      <a:lnTo>
                        <a:pt x="9525" y="0"/>
                      </a:lnTo>
                    </a:path>
                  </a:pathLst>
                </a:custGeom>
                <a:noFill/>
                <a:ln w="14288">
                  <a:solidFill>
                    <a:srgbClr val="841600"/>
                  </a:solidFill>
                </a:ln>
              </p:spPr>
            </p:sp>
            <p:sp>
              <p:nvSpPr>
                <p:cNvPr id="46" name="Freeform 46"/>
                <p:cNvSpPr/>
                <p:nvPr/>
              </p:nvSpPr>
              <p:spPr>
                <a:xfrm>
                  <a:off x="1905000" y="2476500"/>
                  <a:ext cx="9525" cy="9525"/>
                </a:xfrm>
                <a:custGeom>
                  <a:avLst/>
                  <a:gdLst/>
                  <a:ahLst/>
                  <a:cxnLst/>
                  <a:rect l="l" t="t" r="r" b="b"/>
                  <a:pathLst>
                    <a:path w="9525" h="9525">
                      <a:moveTo>
                        <a:pt x="0" y="0"/>
                      </a:moveTo>
                      <a:lnTo>
                        <a:pt x="9525" y="0"/>
                      </a:lnTo>
                    </a:path>
                  </a:pathLst>
                </a:custGeom>
                <a:noFill/>
                <a:ln w="14288">
                  <a:solidFill>
                    <a:srgbClr val="841600"/>
                  </a:solidFill>
                </a:ln>
              </p:spPr>
            </p:sp>
            <p:sp>
              <p:nvSpPr>
                <p:cNvPr id="47" name="Freeform 47"/>
                <p:cNvSpPr/>
                <p:nvPr/>
              </p:nvSpPr>
              <p:spPr>
                <a:xfrm>
                  <a:off x="1819275" y="2352675"/>
                  <a:ext cx="133350" cy="171450"/>
                </a:xfrm>
                <a:custGeom>
                  <a:avLst/>
                  <a:gdLst/>
                  <a:ahLst/>
                  <a:cxnLst/>
                  <a:rect l="l" t="t" r="r" b="b"/>
                  <a:pathLst>
                    <a:path w="133350" h="171450">
                      <a:moveTo>
                        <a:pt x="0" y="171450"/>
                      </a:moveTo>
                      <a:lnTo>
                        <a:pt x="0" y="19050"/>
                      </a:lnTo>
                      <a:cubicBezTo>
                        <a:pt x="0" y="8529"/>
                        <a:pt x="8529" y="0"/>
                        <a:pt x="19050" y="0"/>
                      </a:cubicBezTo>
                      <a:lnTo>
                        <a:pt x="114300" y="0"/>
                      </a:lnTo>
                      <a:cubicBezTo>
                        <a:pt x="124821" y="0"/>
                        <a:pt x="133350" y="8529"/>
                        <a:pt x="133350" y="19050"/>
                      </a:cubicBezTo>
                      <a:lnTo>
                        <a:pt x="133350" y="171450"/>
                      </a:lnTo>
                    </a:path>
                  </a:pathLst>
                </a:custGeom>
                <a:noFill/>
                <a:ln w="14288">
                  <a:solidFill>
                    <a:srgbClr val="841600"/>
                  </a:solidFill>
                </a:ln>
              </p:spPr>
            </p:sp>
          </p:grpSp>
          <p:sp>
            <p:nvSpPr>
              <p:cNvPr id="49" name="TextBox 49"/>
              <p:cNvSpPr txBox="1"/>
              <p:nvPr/>
            </p:nvSpPr>
            <p:spPr>
              <a:xfrm>
                <a:off x="2090166" y="2372678"/>
                <a:ext cx="29337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对公</a:t>
                </a:r>
              </a:p>
            </p:txBody>
          </p:sp>
          <p:sp>
            <p:nvSpPr>
              <p:cNvPr id="50" name="Rectangle 50"/>
              <p:cNvSpPr/>
              <p:nvPr/>
            </p:nvSpPr>
            <p:spPr>
              <a:xfrm>
                <a:off x="2781300" y="2171700"/>
                <a:ext cx="1047750" cy="533400"/>
              </a:xfrm>
              <a:prstGeom prst="roundRect">
                <a:avLst>
                  <a:gd name="adj" fmla="val 10714"/>
                </a:avLst>
              </a:prstGeom>
              <a:solidFill>
                <a:srgbClr val="FFFFFF"/>
              </a:solidFill>
              <a:ln w="9525">
                <a:solidFill>
                  <a:srgbClr val="D7E2F2"/>
                </a:solidFill>
              </a:ln>
            </p:spPr>
          </p:sp>
          <p:grpSp>
            <p:nvGrpSpPr>
              <p:cNvPr id="55" name="Group 55"/>
              <p:cNvGrpSpPr/>
              <p:nvPr/>
            </p:nvGrpSpPr>
            <p:grpSpPr>
              <a:xfrm>
                <a:off x="2943225" y="2352675"/>
                <a:ext cx="171450" cy="171450"/>
                <a:chOff x="2943225" y="2352675"/>
                <a:chExt cx="171450" cy="171450"/>
              </a:xfrm>
            </p:grpSpPr>
            <p:sp>
              <p:nvSpPr>
                <p:cNvPr id="51" name="Freeform 51"/>
                <p:cNvSpPr/>
                <p:nvPr/>
              </p:nvSpPr>
              <p:spPr>
                <a:xfrm>
                  <a:off x="2962275" y="23526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4288">
                  <a:solidFill>
                    <a:srgbClr val="841600"/>
                  </a:solidFill>
                </a:ln>
              </p:spPr>
            </p:sp>
            <p:sp>
              <p:nvSpPr>
                <p:cNvPr id="52" name="Freeform 52"/>
                <p:cNvSpPr/>
                <p:nvPr/>
              </p:nvSpPr>
              <p:spPr>
                <a:xfrm>
                  <a:off x="2943225" y="24669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4288">
                  <a:solidFill>
                    <a:srgbClr val="841600"/>
                  </a:solidFill>
                </a:ln>
              </p:spPr>
            </p:sp>
            <p:sp>
              <p:nvSpPr>
                <p:cNvPr id="53" name="Freeform 53"/>
                <p:cNvSpPr/>
                <p:nvPr/>
              </p:nvSpPr>
              <p:spPr>
                <a:xfrm>
                  <a:off x="3067050" y="23539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4288">
                  <a:solidFill>
                    <a:srgbClr val="841600"/>
                  </a:solidFill>
                </a:ln>
              </p:spPr>
            </p:sp>
            <p:sp>
              <p:nvSpPr>
                <p:cNvPr id="54" name="Freeform 54"/>
                <p:cNvSpPr/>
                <p:nvPr/>
              </p:nvSpPr>
              <p:spPr>
                <a:xfrm>
                  <a:off x="3086100" y="24684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4288">
                  <a:solidFill>
                    <a:srgbClr val="841600"/>
                  </a:solidFill>
                </a:ln>
              </p:spPr>
            </p:sp>
          </p:grpSp>
          <p:sp>
            <p:nvSpPr>
              <p:cNvPr id="56" name="TextBox 56"/>
              <p:cNvSpPr txBox="1"/>
              <p:nvPr/>
            </p:nvSpPr>
            <p:spPr>
              <a:xfrm>
                <a:off x="3233166" y="2372678"/>
                <a:ext cx="29337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零售</a:t>
                </a:r>
              </a:p>
            </p:txBody>
          </p:sp>
          <p:sp>
            <p:nvSpPr>
              <p:cNvPr id="57" name="Rectangle 57"/>
              <p:cNvSpPr/>
              <p:nvPr/>
            </p:nvSpPr>
            <p:spPr>
              <a:xfrm>
                <a:off x="3924300" y="2171700"/>
                <a:ext cx="1047750" cy="533400"/>
              </a:xfrm>
              <a:prstGeom prst="roundRect">
                <a:avLst>
                  <a:gd name="adj" fmla="val 10714"/>
                </a:avLst>
              </a:prstGeom>
              <a:solidFill>
                <a:srgbClr val="FFFFFF"/>
              </a:solidFill>
              <a:ln w="9525">
                <a:solidFill>
                  <a:srgbClr val="D7E2F2"/>
                </a:solidFill>
              </a:ln>
            </p:spPr>
          </p:sp>
          <p:grpSp>
            <p:nvGrpSpPr>
              <p:cNvPr id="64" name="Group 64"/>
              <p:cNvGrpSpPr/>
              <p:nvPr/>
            </p:nvGrpSpPr>
            <p:grpSpPr>
              <a:xfrm>
                <a:off x="4086225" y="2352675"/>
                <a:ext cx="171450" cy="171450"/>
                <a:chOff x="4086225" y="2352675"/>
                <a:chExt cx="171450" cy="171450"/>
              </a:xfrm>
            </p:grpSpPr>
            <p:sp>
              <p:nvSpPr>
                <p:cNvPr id="58" name="Freeform 58"/>
                <p:cNvSpPr/>
                <p:nvPr/>
              </p:nvSpPr>
              <p:spPr>
                <a:xfrm>
                  <a:off x="4152900" y="24288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4288">
                  <a:solidFill>
                    <a:srgbClr val="841600"/>
                  </a:solidFill>
                </a:ln>
              </p:spPr>
            </p:sp>
            <p:sp>
              <p:nvSpPr>
                <p:cNvPr id="59" name="Freeform 59"/>
                <p:cNvSpPr/>
                <p:nvPr/>
              </p:nvSpPr>
              <p:spPr>
                <a:xfrm>
                  <a:off x="4133850" y="24955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4288">
                  <a:solidFill>
                    <a:srgbClr val="841600"/>
                  </a:solidFill>
                </a:ln>
              </p:spPr>
            </p:sp>
            <p:sp>
              <p:nvSpPr>
                <p:cNvPr id="60" name="Freeform 60"/>
                <p:cNvSpPr/>
                <p:nvPr/>
              </p:nvSpPr>
              <p:spPr>
                <a:xfrm>
                  <a:off x="4200525" y="2352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4288">
                  <a:solidFill>
                    <a:srgbClr val="841600"/>
                  </a:solidFill>
                </a:ln>
              </p:spPr>
            </p:sp>
            <p:sp>
              <p:nvSpPr>
                <p:cNvPr id="61" name="Freeform 61"/>
                <p:cNvSpPr/>
                <p:nvPr/>
              </p:nvSpPr>
              <p:spPr>
                <a:xfrm>
                  <a:off x="4219575" y="24193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4288">
                  <a:solidFill>
                    <a:srgbClr val="841600"/>
                  </a:solidFill>
                </a:ln>
              </p:spPr>
            </p:sp>
            <p:sp>
              <p:nvSpPr>
                <p:cNvPr id="62" name="Freeform 62"/>
                <p:cNvSpPr/>
                <p:nvPr/>
              </p:nvSpPr>
              <p:spPr>
                <a:xfrm>
                  <a:off x="4105275" y="2352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4288">
                  <a:solidFill>
                    <a:srgbClr val="841600"/>
                  </a:solidFill>
                </a:ln>
              </p:spPr>
            </p:sp>
            <p:sp>
              <p:nvSpPr>
                <p:cNvPr id="63" name="Freeform 63"/>
                <p:cNvSpPr/>
                <p:nvPr/>
              </p:nvSpPr>
              <p:spPr>
                <a:xfrm>
                  <a:off x="4086225" y="24193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4288">
                  <a:solidFill>
                    <a:srgbClr val="841600"/>
                  </a:solidFill>
                </a:ln>
              </p:spPr>
            </p:sp>
          </p:grpSp>
          <p:sp>
            <p:nvSpPr>
              <p:cNvPr id="65" name="TextBox 65"/>
              <p:cNvSpPr txBox="1"/>
              <p:nvPr/>
            </p:nvSpPr>
            <p:spPr>
              <a:xfrm>
                <a:off x="4376166" y="2372678"/>
                <a:ext cx="29337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普惠</a:t>
                </a:r>
              </a:p>
            </p:txBody>
          </p:sp>
          <p:sp>
            <p:nvSpPr>
              <p:cNvPr id="66" name="Rectangle 66"/>
              <p:cNvSpPr/>
              <p:nvPr/>
            </p:nvSpPr>
            <p:spPr>
              <a:xfrm>
                <a:off x="5067300" y="2171700"/>
                <a:ext cx="1047750" cy="533400"/>
              </a:xfrm>
              <a:prstGeom prst="roundRect">
                <a:avLst>
                  <a:gd name="adj" fmla="val 10714"/>
                </a:avLst>
              </a:prstGeom>
              <a:solidFill>
                <a:srgbClr val="FFFFFF"/>
              </a:solidFill>
              <a:ln w="9525">
                <a:solidFill>
                  <a:srgbClr val="D7E2F2"/>
                </a:solidFill>
              </a:ln>
            </p:spPr>
          </p:sp>
          <p:grpSp>
            <p:nvGrpSpPr>
              <p:cNvPr id="69" name="Group 69"/>
              <p:cNvGrpSpPr/>
              <p:nvPr/>
            </p:nvGrpSpPr>
            <p:grpSpPr>
              <a:xfrm>
                <a:off x="5216371" y="2352675"/>
                <a:ext cx="186006" cy="171450"/>
                <a:chOff x="5216371" y="2352675"/>
                <a:chExt cx="186006" cy="171450"/>
              </a:xfrm>
            </p:grpSpPr>
            <p:sp>
              <p:nvSpPr>
                <p:cNvPr id="67" name="Freeform 67"/>
                <p:cNvSpPr/>
                <p:nvPr/>
              </p:nvSpPr>
              <p:spPr>
                <a:xfrm>
                  <a:off x="5216371" y="23526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4288">
                  <a:solidFill>
                    <a:srgbClr val="841600"/>
                  </a:solidFill>
                </a:ln>
              </p:spPr>
            </p:sp>
            <p:sp>
              <p:nvSpPr>
                <p:cNvPr id="68" name="Freeform 68"/>
                <p:cNvSpPr/>
                <p:nvPr/>
              </p:nvSpPr>
              <p:spPr>
                <a:xfrm>
                  <a:off x="5343525" y="2486025"/>
                  <a:ext cx="57150" cy="38100"/>
                </a:xfrm>
                <a:custGeom>
                  <a:avLst/>
                  <a:gdLst/>
                  <a:ahLst/>
                  <a:cxnLst/>
                  <a:rect l="l" t="t" r="r" b="b"/>
                  <a:pathLst>
                    <a:path w="57150" h="38100">
                      <a:moveTo>
                        <a:pt x="0" y="19050"/>
                      </a:moveTo>
                      <a:lnTo>
                        <a:pt x="19050" y="38100"/>
                      </a:lnTo>
                      <a:lnTo>
                        <a:pt x="57150" y="0"/>
                      </a:lnTo>
                    </a:path>
                  </a:pathLst>
                </a:custGeom>
                <a:noFill/>
                <a:ln w="14288">
                  <a:solidFill>
                    <a:srgbClr val="841600"/>
                  </a:solidFill>
                </a:ln>
              </p:spPr>
            </p:sp>
          </p:grpSp>
          <p:sp>
            <p:nvSpPr>
              <p:cNvPr id="70" name="TextBox 70"/>
              <p:cNvSpPr txBox="1"/>
              <p:nvPr/>
            </p:nvSpPr>
            <p:spPr>
              <a:xfrm>
                <a:off x="5519166" y="2372678"/>
                <a:ext cx="29337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风险</a:t>
                </a:r>
              </a:p>
            </p:txBody>
          </p:sp>
          <p:sp>
            <p:nvSpPr>
              <p:cNvPr id="71" name="Rectangle 71"/>
              <p:cNvSpPr/>
              <p:nvPr/>
            </p:nvSpPr>
            <p:spPr>
              <a:xfrm>
                <a:off x="6210300" y="2171700"/>
                <a:ext cx="1524000" cy="533400"/>
              </a:xfrm>
              <a:prstGeom prst="roundRect">
                <a:avLst>
                  <a:gd name="adj" fmla="val 10714"/>
                </a:avLst>
              </a:prstGeom>
              <a:solidFill>
                <a:srgbClr val="FFFFFF"/>
              </a:solidFill>
              <a:ln w="9525">
                <a:solidFill>
                  <a:srgbClr val="D7E2F2"/>
                </a:solidFill>
              </a:ln>
            </p:spPr>
          </p:sp>
          <p:grpSp>
            <p:nvGrpSpPr>
              <p:cNvPr id="76" name="Group 76"/>
              <p:cNvGrpSpPr/>
              <p:nvPr/>
            </p:nvGrpSpPr>
            <p:grpSpPr>
              <a:xfrm>
                <a:off x="6372225" y="2362200"/>
                <a:ext cx="171450" cy="161925"/>
                <a:chOff x="6372225" y="2362200"/>
                <a:chExt cx="171450" cy="161925"/>
              </a:xfrm>
            </p:grpSpPr>
            <p:sp>
              <p:nvSpPr>
                <p:cNvPr id="72" name="Freeform 72"/>
                <p:cNvSpPr/>
                <p:nvPr/>
              </p:nvSpPr>
              <p:spPr>
                <a:xfrm>
                  <a:off x="6372225" y="2362200"/>
                  <a:ext cx="171450" cy="114300"/>
                </a:xfrm>
                <a:custGeom>
                  <a:avLst/>
                  <a:gdLst/>
                  <a:ahLst/>
                  <a:cxnLst/>
                  <a:rect l="l" t="t" r="r" b="b"/>
                  <a:pathLst>
                    <a:path w="171450" h="114300">
                      <a:moveTo>
                        <a:pt x="0" y="9525"/>
                      </a:moveTo>
                      <a:cubicBezTo>
                        <a:pt x="0" y="4264"/>
                        <a:pt x="4264" y="0"/>
                        <a:pt x="9525" y="0"/>
                      </a:cubicBezTo>
                      <a:lnTo>
                        <a:pt x="161925" y="0"/>
                      </a:lnTo>
                      <a:cubicBezTo>
                        <a:pt x="167186" y="0"/>
                        <a:pt x="171450" y="4264"/>
                        <a:pt x="171450" y="9525"/>
                      </a:cubicBezTo>
                      <a:lnTo>
                        <a:pt x="171450" y="104775"/>
                      </a:lnTo>
                      <a:cubicBezTo>
                        <a:pt x="171450" y="110036"/>
                        <a:pt x="167186" y="114300"/>
                        <a:pt x="161925" y="114300"/>
                      </a:cubicBezTo>
                      <a:lnTo>
                        <a:pt x="9525" y="114300"/>
                      </a:lnTo>
                      <a:cubicBezTo>
                        <a:pt x="4264" y="114300"/>
                        <a:pt x="0" y="110036"/>
                        <a:pt x="0" y="104775"/>
                      </a:cubicBezTo>
                      <a:lnTo>
                        <a:pt x="0" y="9525"/>
                      </a:lnTo>
                    </a:path>
                  </a:pathLst>
                </a:custGeom>
                <a:noFill/>
                <a:ln w="14288">
                  <a:solidFill>
                    <a:srgbClr val="841600"/>
                  </a:solidFill>
                </a:ln>
              </p:spPr>
            </p:sp>
            <p:sp>
              <p:nvSpPr>
                <p:cNvPr id="73" name="Freeform 73"/>
                <p:cNvSpPr/>
                <p:nvPr/>
              </p:nvSpPr>
              <p:spPr>
                <a:xfrm>
                  <a:off x="6410325" y="2514600"/>
                  <a:ext cx="95250" cy="9525"/>
                </a:xfrm>
                <a:custGeom>
                  <a:avLst/>
                  <a:gdLst/>
                  <a:ahLst/>
                  <a:cxnLst/>
                  <a:rect l="l" t="t" r="r" b="b"/>
                  <a:pathLst>
                    <a:path w="95250" h="9525">
                      <a:moveTo>
                        <a:pt x="0" y="0"/>
                      </a:moveTo>
                      <a:lnTo>
                        <a:pt x="95250" y="0"/>
                      </a:lnTo>
                    </a:path>
                  </a:pathLst>
                </a:custGeom>
                <a:noFill/>
                <a:ln w="14288">
                  <a:solidFill>
                    <a:srgbClr val="841600"/>
                  </a:solidFill>
                </a:ln>
              </p:spPr>
            </p:sp>
            <p:sp>
              <p:nvSpPr>
                <p:cNvPr id="74" name="Freeform 74"/>
                <p:cNvSpPr/>
                <p:nvPr/>
              </p:nvSpPr>
              <p:spPr>
                <a:xfrm>
                  <a:off x="6429375" y="2476500"/>
                  <a:ext cx="9525" cy="38100"/>
                </a:xfrm>
                <a:custGeom>
                  <a:avLst/>
                  <a:gdLst/>
                  <a:ahLst/>
                  <a:cxnLst/>
                  <a:rect l="l" t="t" r="r" b="b"/>
                  <a:pathLst>
                    <a:path w="9525" h="38100">
                      <a:moveTo>
                        <a:pt x="0" y="0"/>
                      </a:moveTo>
                      <a:lnTo>
                        <a:pt x="0" y="38100"/>
                      </a:lnTo>
                    </a:path>
                  </a:pathLst>
                </a:custGeom>
                <a:noFill/>
                <a:ln w="14288">
                  <a:solidFill>
                    <a:srgbClr val="841600"/>
                  </a:solidFill>
                </a:ln>
              </p:spPr>
            </p:sp>
            <p:sp>
              <p:nvSpPr>
                <p:cNvPr id="75" name="Freeform 75"/>
                <p:cNvSpPr/>
                <p:nvPr/>
              </p:nvSpPr>
              <p:spPr>
                <a:xfrm>
                  <a:off x="6486525" y="2476500"/>
                  <a:ext cx="9525" cy="38100"/>
                </a:xfrm>
                <a:custGeom>
                  <a:avLst/>
                  <a:gdLst/>
                  <a:ahLst/>
                  <a:cxnLst/>
                  <a:rect l="l" t="t" r="r" b="b"/>
                  <a:pathLst>
                    <a:path w="9525" h="38100">
                      <a:moveTo>
                        <a:pt x="0" y="0"/>
                      </a:moveTo>
                      <a:lnTo>
                        <a:pt x="0" y="38100"/>
                      </a:lnTo>
                    </a:path>
                  </a:pathLst>
                </a:custGeom>
                <a:noFill/>
                <a:ln w="14288">
                  <a:solidFill>
                    <a:srgbClr val="841600"/>
                  </a:solidFill>
                </a:ln>
              </p:spPr>
            </p:sp>
          </p:grpSp>
          <p:sp>
            <p:nvSpPr>
              <p:cNvPr id="77" name="TextBox 77"/>
              <p:cNvSpPr txBox="1"/>
              <p:nvPr/>
            </p:nvSpPr>
            <p:spPr>
              <a:xfrm>
                <a:off x="6662166" y="2372678"/>
                <a:ext cx="71742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管理驾驶舱</a:t>
                </a:r>
              </a:p>
            </p:txBody>
          </p:sp>
        </p:grpSp>
        <p:sp>
          <p:nvSpPr>
            <p:cNvPr id="79" name="Polygon 79"/>
            <p:cNvSpPr/>
            <p:nvPr/>
          </p:nvSpPr>
          <p:spPr>
            <a:xfrm>
              <a:off x="4524375" y="2876550"/>
              <a:ext cx="228600" cy="114300"/>
            </a:xfrm>
            <a:custGeom>
              <a:avLst/>
              <a:gdLst/>
              <a:ahLst/>
              <a:cxnLst/>
              <a:rect l="l" t="t" r="r" b="b"/>
              <a:pathLst>
                <a:path w="228600" h="114300">
                  <a:moveTo>
                    <a:pt x="0" y="114300"/>
                  </a:moveTo>
                  <a:lnTo>
                    <a:pt x="228600" y="114300"/>
                  </a:lnTo>
                  <a:lnTo>
                    <a:pt x="114300" y="0"/>
                  </a:lnTo>
                  <a:close/>
                </a:path>
              </a:pathLst>
            </a:custGeom>
            <a:solidFill>
              <a:srgbClr val="841600"/>
            </a:solidFill>
            <a:ln>
              <a:noFill/>
            </a:ln>
          </p:spPr>
        </p:sp>
        <p:grpSp>
          <p:nvGrpSpPr>
            <p:cNvPr id="111" name="layer-model"/>
            <p:cNvGrpSpPr/>
            <p:nvPr/>
          </p:nvGrpSpPr>
          <p:grpSpPr>
            <a:xfrm>
              <a:off x="266700" y="3009900"/>
              <a:ext cx="7524750" cy="914400"/>
              <a:chOff x="266700" y="3009900"/>
              <a:chExt cx="7524750" cy="914400"/>
            </a:xfrm>
          </p:grpSpPr>
          <p:sp>
            <p:nvSpPr>
              <p:cNvPr id="80" name="Rectangle 80"/>
              <p:cNvSpPr/>
              <p:nvPr/>
            </p:nvSpPr>
            <p:spPr>
              <a:xfrm>
                <a:off x="266700" y="3009900"/>
                <a:ext cx="1143000" cy="914400"/>
              </a:xfrm>
              <a:prstGeom prst="roundRect">
                <a:avLst>
                  <a:gd name="adj" fmla="val 8333"/>
                </a:avLst>
              </a:prstGeom>
              <a:solidFill>
                <a:srgbClr val="841600"/>
              </a:solidFill>
              <a:ln>
                <a:noFill/>
              </a:ln>
            </p:spPr>
          </p:sp>
          <p:grpSp>
            <p:nvGrpSpPr>
              <p:cNvPr id="86" name="Group 86"/>
              <p:cNvGrpSpPr/>
              <p:nvPr/>
            </p:nvGrpSpPr>
            <p:grpSpPr>
              <a:xfrm>
                <a:off x="716756" y="3183731"/>
                <a:ext cx="242888" cy="242888"/>
                <a:chOff x="716756" y="3183731"/>
                <a:chExt cx="242888" cy="242888"/>
              </a:xfrm>
            </p:grpSpPr>
            <p:sp>
              <p:nvSpPr>
                <p:cNvPr id="81" name="Freeform 81"/>
                <p:cNvSpPr/>
                <p:nvPr/>
              </p:nvSpPr>
              <p:spPr>
                <a:xfrm>
                  <a:off x="811213" y="3183731"/>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0241">
                  <a:solidFill>
                    <a:srgbClr val="FFFFFF"/>
                  </a:solidFill>
                </a:ln>
              </p:spPr>
            </p:sp>
            <p:sp>
              <p:nvSpPr>
                <p:cNvPr id="82" name="Freeform 82"/>
                <p:cNvSpPr/>
                <p:nvPr/>
              </p:nvSpPr>
              <p:spPr>
                <a:xfrm>
                  <a:off x="716756" y="3372644"/>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0241">
                  <a:solidFill>
                    <a:srgbClr val="FFFFFF"/>
                  </a:solidFill>
                </a:ln>
              </p:spPr>
            </p:sp>
            <p:sp>
              <p:nvSpPr>
                <p:cNvPr id="83" name="Freeform 83"/>
                <p:cNvSpPr/>
                <p:nvPr/>
              </p:nvSpPr>
              <p:spPr>
                <a:xfrm>
                  <a:off x="905669" y="3372644"/>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0241">
                  <a:solidFill>
                    <a:srgbClr val="FFFFFF"/>
                  </a:solidFill>
                </a:ln>
              </p:spPr>
            </p:sp>
            <p:sp>
              <p:nvSpPr>
                <p:cNvPr id="84" name="Freeform 84"/>
                <p:cNvSpPr/>
                <p:nvPr/>
              </p:nvSpPr>
              <p:spPr>
                <a:xfrm>
                  <a:off x="763985" y="3318669"/>
                  <a:ext cx="148432" cy="60722"/>
                </a:xfrm>
                <a:custGeom>
                  <a:avLst/>
                  <a:gdLst/>
                  <a:ahLst/>
                  <a:cxnLst/>
                  <a:rect l="l" t="t" r="r" b="b"/>
                  <a:pathLst>
                    <a:path w="148432" h="60722">
                      <a:moveTo>
                        <a:pt x="0" y="60722"/>
                      </a:moveTo>
                      <a:lnTo>
                        <a:pt x="74216" y="0"/>
                      </a:lnTo>
                      <a:lnTo>
                        <a:pt x="148432" y="60722"/>
                      </a:lnTo>
                    </a:path>
                  </a:pathLst>
                </a:custGeom>
                <a:noFill/>
                <a:ln w="20241">
                  <a:solidFill>
                    <a:srgbClr val="FFFFFF"/>
                  </a:solidFill>
                </a:ln>
              </p:spPr>
            </p:sp>
            <p:sp>
              <p:nvSpPr>
                <p:cNvPr id="85" name="Freeform 85"/>
                <p:cNvSpPr/>
                <p:nvPr/>
              </p:nvSpPr>
              <p:spPr>
                <a:xfrm>
                  <a:off x="838200" y="3237706"/>
                  <a:ext cx="9525" cy="80963"/>
                </a:xfrm>
                <a:custGeom>
                  <a:avLst/>
                  <a:gdLst/>
                  <a:ahLst/>
                  <a:cxnLst/>
                  <a:rect l="l" t="t" r="r" b="b"/>
                  <a:pathLst>
                    <a:path w="9525" h="80963">
                      <a:moveTo>
                        <a:pt x="0" y="0"/>
                      </a:moveTo>
                      <a:lnTo>
                        <a:pt x="0" y="80963"/>
                      </a:lnTo>
                    </a:path>
                  </a:pathLst>
                </a:custGeom>
                <a:noFill/>
                <a:ln w="20241">
                  <a:solidFill>
                    <a:srgbClr val="FFFFFF"/>
                  </a:solidFill>
                </a:ln>
              </p:spPr>
            </p:sp>
          </p:grpSp>
          <p:sp>
            <p:nvSpPr>
              <p:cNvPr id="87" name="TextBox 87"/>
              <p:cNvSpPr txBox="1"/>
              <p:nvPr/>
            </p:nvSpPr>
            <p:spPr>
              <a:xfrm>
                <a:off x="530936" y="3650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模型能力</a:t>
                </a:r>
              </a:p>
            </p:txBody>
          </p:sp>
          <p:sp>
            <p:nvSpPr>
              <p:cNvPr id="88" name="Rectangle 88"/>
              <p:cNvSpPr/>
              <p:nvPr/>
            </p:nvSpPr>
            <p:spPr>
              <a:xfrm>
                <a:off x="1485900" y="3009900"/>
                <a:ext cx="6305550" cy="914400"/>
              </a:xfrm>
              <a:prstGeom prst="roundRect">
                <a:avLst>
                  <a:gd name="adj" fmla="val 8333"/>
                </a:avLst>
              </a:prstGeom>
              <a:solidFill>
                <a:srgbClr val="EFF5FD"/>
              </a:solidFill>
              <a:ln w="9525">
                <a:solidFill>
                  <a:srgbClr val="D7E2F2"/>
                </a:solidFill>
              </a:ln>
            </p:spPr>
          </p:sp>
          <p:sp>
            <p:nvSpPr>
              <p:cNvPr id="89" name="Rectangle 89"/>
              <p:cNvSpPr/>
              <p:nvPr/>
            </p:nvSpPr>
            <p:spPr>
              <a:xfrm>
                <a:off x="1676400" y="3200400"/>
                <a:ext cx="1428750" cy="533400"/>
              </a:xfrm>
              <a:prstGeom prst="roundRect">
                <a:avLst>
                  <a:gd name="adj" fmla="val 10714"/>
                </a:avLst>
              </a:prstGeom>
              <a:solidFill>
                <a:srgbClr val="FFFFFF"/>
              </a:solidFill>
              <a:ln w="9525">
                <a:solidFill>
                  <a:srgbClr val="D7E2F2"/>
                </a:solidFill>
              </a:ln>
            </p:spPr>
          </p:sp>
          <p:grpSp>
            <p:nvGrpSpPr>
              <p:cNvPr id="93" name="Group 93"/>
              <p:cNvGrpSpPr/>
              <p:nvPr/>
            </p:nvGrpSpPr>
            <p:grpSpPr>
              <a:xfrm>
                <a:off x="1838325" y="3381375"/>
                <a:ext cx="171450" cy="171450"/>
                <a:chOff x="1838325" y="3381375"/>
                <a:chExt cx="171450" cy="171450"/>
              </a:xfrm>
            </p:grpSpPr>
            <p:sp>
              <p:nvSpPr>
                <p:cNvPr id="90" name="Freeform 90"/>
                <p:cNvSpPr/>
                <p:nvPr/>
              </p:nvSpPr>
              <p:spPr>
                <a:xfrm>
                  <a:off x="1914525" y="34575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4288">
                  <a:solidFill>
                    <a:srgbClr val="841600"/>
                  </a:solidFill>
                </a:ln>
              </p:spPr>
            </p:sp>
            <p:sp>
              <p:nvSpPr>
                <p:cNvPr id="91" name="Freeform 91"/>
                <p:cNvSpPr/>
                <p:nvPr/>
              </p:nvSpPr>
              <p:spPr>
                <a:xfrm>
                  <a:off x="1876425" y="341947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4288">
                  <a:solidFill>
                    <a:srgbClr val="841600"/>
                  </a:solidFill>
                </a:ln>
              </p:spPr>
            </p:sp>
            <p:sp>
              <p:nvSpPr>
                <p:cNvPr id="92" name="Freeform 92"/>
                <p:cNvSpPr/>
                <p:nvPr/>
              </p:nvSpPr>
              <p:spPr>
                <a:xfrm>
                  <a:off x="1838325" y="33813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4288">
                  <a:solidFill>
                    <a:srgbClr val="841600"/>
                  </a:solidFill>
                </a:ln>
              </p:spPr>
            </p:sp>
          </p:grpSp>
          <p:sp>
            <p:nvSpPr>
              <p:cNvPr id="94" name="TextBox 94"/>
              <p:cNvSpPr txBox="1"/>
              <p:nvPr/>
            </p:nvSpPr>
            <p:spPr>
              <a:xfrm>
                <a:off x="2128266" y="340137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商机推荐</a:t>
                </a:r>
              </a:p>
            </p:txBody>
          </p:sp>
          <p:sp>
            <p:nvSpPr>
              <p:cNvPr id="95" name="Rectangle 95"/>
              <p:cNvSpPr/>
              <p:nvPr/>
            </p:nvSpPr>
            <p:spPr>
              <a:xfrm>
                <a:off x="3219450" y="3200400"/>
                <a:ext cx="1428750" cy="533400"/>
              </a:xfrm>
              <a:prstGeom prst="roundRect">
                <a:avLst>
                  <a:gd name="adj" fmla="val 10714"/>
                </a:avLst>
              </a:prstGeom>
              <a:solidFill>
                <a:srgbClr val="FFFFFF"/>
              </a:solidFill>
              <a:ln w="9525">
                <a:solidFill>
                  <a:srgbClr val="D7E2F2"/>
                </a:solidFill>
              </a:ln>
            </p:spPr>
          </p:sp>
          <p:grpSp>
            <p:nvGrpSpPr>
              <p:cNvPr id="98" name="Group 98"/>
              <p:cNvGrpSpPr/>
              <p:nvPr/>
            </p:nvGrpSpPr>
            <p:grpSpPr>
              <a:xfrm>
                <a:off x="3381375" y="3381375"/>
                <a:ext cx="171450" cy="171450"/>
                <a:chOff x="3381375" y="3381375"/>
                <a:chExt cx="171450" cy="171450"/>
              </a:xfrm>
            </p:grpSpPr>
            <p:sp>
              <p:nvSpPr>
                <p:cNvPr id="96" name="Freeform 96"/>
                <p:cNvSpPr/>
                <p:nvPr/>
              </p:nvSpPr>
              <p:spPr>
                <a:xfrm>
                  <a:off x="3381375" y="33813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4288">
                  <a:solidFill>
                    <a:srgbClr val="841600"/>
                  </a:solidFill>
                </a:ln>
              </p:spPr>
            </p:sp>
            <p:sp>
              <p:nvSpPr>
                <p:cNvPr id="97" name="Freeform 97"/>
                <p:cNvSpPr/>
                <p:nvPr/>
              </p:nvSpPr>
              <p:spPr>
                <a:xfrm>
                  <a:off x="3467100" y="3419475"/>
                  <a:ext cx="28575" cy="76200"/>
                </a:xfrm>
                <a:custGeom>
                  <a:avLst/>
                  <a:gdLst/>
                  <a:ahLst/>
                  <a:cxnLst/>
                  <a:rect l="l" t="t" r="r" b="b"/>
                  <a:pathLst>
                    <a:path w="28575" h="76200">
                      <a:moveTo>
                        <a:pt x="0" y="0"/>
                      </a:moveTo>
                      <a:lnTo>
                        <a:pt x="0" y="47625"/>
                      </a:lnTo>
                      <a:lnTo>
                        <a:pt x="28575" y="76200"/>
                      </a:lnTo>
                    </a:path>
                  </a:pathLst>
                </a:custGeom>
                <a:noFill/>
                <a:ln w="14288">
                  <a:solidFill>
                    <a:srgbClr val="841600"/>
                  </a:solidFill>
                </a:ln>
              </p:spPr>
            </p:sp>
          </p:grpSp>
          <p:sp>
            <p:nvSpPr>
              <p:cNvPr id="99" name="TextBox 99"/>
              <p:cNvSpPr txBox="1"/>
              <p:nvPr/>
            </p:nvSpPr>
            <p:spPr>
              <a:xfrm>
                <a:off x="3671316" y="340137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流失预警</a:t>
                </a:r>
              </a:p>
            </p:txBody>
          </p:sp>
          <p:sp>
            <p:nvSpPr>
              <p:cNvPr id="100" name="Rectangle 100"/>
              <p:cNvSpPr/>
              <p:nvPr/>
            </p:nvSpPr>
            <p:spPr>
              <a:xfrm>
                <a:off x="4762500" y="3200400"/>
                <a:ext cx="1428750" cy="533400"/>
              </a:xfrm>
              <a:prstGeom prst="roundRect">
                <a:avLst>
                  <a:gd name="adj" fmla="val 10714"/>
                </a:avLst>
              </a:prstGeom>
              <a:solidFill>
                <a:srgbClr val="FFFFFF"/>
              </a:solidFill>
              <a:ln w="9525">
                <a:solidFill>
                  <a:srgbClr val="D7E2F2"/>
                </a:solidFill>
              </a:ln>
            </p:spPr>
          </p:sp>
          <p:grpSp>
            <p:nvGrpSpPr>
              <p:cNvPr id="103" name="Group 103"/>
              <p:cNvGrpSpPr/>
              <p:nvPr/>
            </p:nvGrpSpPr>
            <p:grpSpPr>
              <a:xfrm>
                <a:off x="4911571" y="3381375"/>
                <a:ext cx="186006" cy="171450"/>
                <a:chOff x="4911571" y="3381375"/>
                <a:chExt cx="186006" cy="171450"/>
              </a:xfrm>
            </p:grpSpPr>
            <p:sp>
              <p:nvSpPr>
                <p:cNvPr id="101" name="Freeform 101"/>
                <p:cNvSpPr/>
                <p:nvPr/>
              </p:nvSpPr>
              <p:spPr>
                <a:xfrm>
                  <a:off x="4911571" y="33813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4288">
                  <a:solidFill>
                    <a:srgbClr val="841600"/>
                  </a:solidFill>
                </a:ln>
              </p:spPr>
            </p:sp>
            <p:sp>
              <p:nvSpPr>
                <p:cNvPr id="102" name="Freeform 102"/>
                <p:cNvSpPr/>
                <p:nvPr/>
              </p:nvSpPr>
              <p:spPr>
                <a:xfrm>
                  <a:off x="5038725" y="3514725"/>
                  <a:ext cx="57150" cy="38100"/>
                </a:xfrm>
                <a:custGeom>
                  <a:avLst/>
                  <a:gdLst/>
                  <a:ahLst/>
                  <a:cxnLst/>
                  <a:rect l="l" t="t" r="r" b="b"/>
                  <a:pathLst>
                    <a:path w="57150" h="38100">
                      <a:moveTo>
                        <a:pt x="0" y="19050"/>
                      </a:moveTo>
                      <a:lnTo>
                        <a:pt x="19050" y="38100"/>
                      </a:lnTo>
                      <a:lnTo>
                        <a:pt x="57150" y="0"/>
                      </a:lnTo>
                    </a:path>
                  </a:pathLst>
                </a:custGeom>
                <a:noFill/>
                <a:ln w="14288">
                  <a:solidFill>
                    <a:srgbClr val="841600"/>
                  </a:solidFill>
                </a:ln>
              </p:spPr>
            </p:sp>
          </p:grpSp>
          <p:sp>
            <p:nvSpPr>
              <p:cNvPr id="104" name="TextBox 104"/>
              <p:cNvSpPr txBox="1"/>
              <p:nvPr/>
            </p:nvSpPr>
            <p:spPr>
              <a:xfrm>
                <a:off x="5214366" y="340137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贷后预警</a:t>
                </a:r>
              </a:p>
            </p:txBody>
          </p:sp>
          <p:sp>
            <p:nvSpPr>
              <p:cNvPr id="105" name="Rectangle 105"/>
              <p:cNvSpPr/>
              <p:nvPr/>
            </p:nvSpPr>
            <p:spPr>
              <a:xfrm>
                <a:off x="6305550" y="3200400"/>
                <a:ext cx="1428750" cy="533400"/>
              </a:xfrm>
              <a:prstGeom prst="roundRect">
                <a:avLst>
                  <a:gd name="adj" fmla="val 10714"/>
                </a:avLst>
              </a:prstGeom>
              <a:solidFill>
                <a:srgbClr val="FFFFFF"/>
              </a:solidFill>
              <a:ln w="9525">
                <a:solidFill>
                  <a:srgbClr val="D7E2F2"/>
                </a:solidFill>
              </a:ln>
            </p:spPr>
          </p:sp>
          <p:grpSp>
            <p:nvGrpSpPr>
              <p:cNvPr id="109" name="Group 109"/>
              <p:cNvGrpSpPr/>
              <p:nvPr/>
            </p:nvGrpSpPr>
            <p:grpSpPr>
              <a:xfrm>
                <a:off x="6473991" y="3390900"/>
                <a:ext cx="155409" cy="155409"/>
                <a:chOff x="6473991" y="3390900"/>
                <a:chExt cx="155409" cy="155409"/>
              </a:xfrm>
            </p:grpSpPr>
            <p:sp>
              <p:nvSpPr>
                <p:cNvPr id="106" name="Freeform 106"/>
                <p:cNvSpPr/>
                <p:nvPr/>
              </p:nvSpPr>
              <p:spPr>
                <a:xfrm>
                  <a:off x="6477000" y="3390900"/>
                  <a:ext cx="152400" cy="152400"/>
                </a:xfrm>
                <a:custGeom>
                  <a:avLst/>
                  <a:gdLst/>
                  <a:ahLst/>
                  <a:cxnLst/>
                  <a:rect l="l" t="t" r="r" b="b"/>
                  <a:pathLst>
                    <a:path w="152400" h="152400">
                      <a:moveTo>
                        <a:pt x="0" y="85725"/>
                      </a:moveTo>
                      <a:cubicBezTo>
                        <a:pt x="34959" y="89880"/>
                        <a:pt x="62520" y="117441"/>
                        <a:pt x="66675" y="152400"/>
                      </a:cubicBezTo>
                      <a:cubicBezTo>
                        <a:pt x="83792" y="142532"/>
                        <a:pt x="94598" y="124522"/>
                        <a:pt x="95250" y="104775"/>
                      </a:cubicBezTo>
                      <a:cubicBezTo>
                        <a:pt x="127957" y="93269"/>
                        <a:pt x="150512" y="63195"/>
                        <a:pt x="152400" y="28575"/>
                      </a:cubicBezTo>
                      <a:cubicBezTo>
                        <a:pt x="152400" y="12793"/>
                        <a:pt x="139607" y="0"/>
                        <a:pt x="123825" y="0"/>
                      </a:cubicBezTo>
                      <a:cubicBezTo>
                        <a:pt x="89205" y="1888"/>
                        <a:pt x="59131" y="24443"/>
                        <a:pt x="47625" y="57150"/>
                      </a:cubicBezTo>
                      <a:cubicBezTo>
                        <a:pt x="27878" y="57802"/>
                        <a:pt x="9868" y="68608"/>
                        <a:pt x="0" y="85725"/>
                      </a:cubicBezTo>
                    </a:path>
                  </a:pathLst>
                </a:custGeom>
                <a:noFill/>
                <a:ln w="14288">
                  <a:solidFill>
                    <a:srgbClr val="841600"/>
                  </a:solidFill>
                </a:ln>
              </p:spPr>
            </p:sp>
            <p:sp>
              <p:nvSpPr>
                <p:cNvPr id="107" name="Freeform 107"/>
                <p:cNvSpPr/>
                <p:nvPr/>
              </p:nvSpPr>
              <p:spPr>
                <a:xfrm>
                  <a:off x="6473991" y="3486150"/>
                  <a:ext cx="60159" cy="60159"/>
                </a:xfrm>
                <a:custGeom>
                  <a:avLst/>
                  <a:gdLst/>
                  <a:ahLst/>
                  <a:cxnLst/>
                  <a:rect l="l" t="t" r="r" b="b"/>
                  <a:pathLst>
                    <a:path w="60159" h="60159">
                      <a:moveTo>
                        <a:pt x="31584" y="0"/>
                      </a:moveTo>
                      <a:cubicBezTo>
                        <a:pt x="11304" y="11449"/>
                        <a:pt x="0" y="34057"/>
                        <a:pt x="3009" y="57150"/>
                      </a:cubicBezTo>
                      <a:cubicBezTo>
                        <a:pt x="26101" y="60159"/>
                        <a:pt x="48710" y="48854"/>
                        <a:pt x="60159" y="28575"/>
                      </a:cubicBezTo>
                    </a:path>
                  </a:pathLst>
                </a:custGeom>
                <a:noFill/>
                <a:ln w="14288">
                  <a:solidFill>
                    <a:srgbClr val="841600"/>
                  </a:solidFill>
                </a:ln>
              </p:spPr>
            </p:sp>
            <p:sp>
              <p:nvSpPr>
                <p:cNvPr id="108" name="Freeform 108"/>
                <p:cNvSpPr/>
                <p:nvPr/>
              </p:nvSpPr>
              <p:spPr>
                <a:xfrm>
                  <a:off x="6572250" y="34290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4288">
                  <a:solidFill>
                    <a:srgbClr val="841600"/>
                  </a:solidFill>
                </a:ln>
              </p:spPr>
            </p:sp>
          </p:grpSp>
          <p:sp>
            <p:nvSpPr>
              <p:cNvPr id="110" name="TextBox 110"/>
              <p:cNvSpPr txBox="1"/>
              <p:nvPr/>
            </p:nvSpPr>
            <p:spPr>
              <a:xfrm>
                <a:off x="6757416" y="340137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智能营销</a:t>
                </a:r>
              </a:p>
            </p:txBody>
          </p:sp>
        </p:grpSp>
        <p:sp>
          <p:nvSpPr>
            <p:cNvPr id="112" name="Polygon 112"/>
            <p:cNvSpPr/>
            <p:nvPr/>
          </p:nvSpPr>
          <p:spPr>
            <a:xfrm>
              <a:off x="4524375" y="3905250"/>
              <a:ext cx="228600" cy="114300"/>
            </a:xfrm>
            <a:custGeom>
              <a:avLst/>
              <a:gdLst/>
              <a:ahLst/>
              <a:cxnLst/>
              <a:rect l="l" t="t" r="r" b="b"/>
              <a:pathLst>
                <a:path w="228600" h="114300">
                  <a:moveTo>
                    <a:pt x="0" y="114300"/>
                  </a:moveTo>
                  <a:lnTo>
                    <a:pt x="228600" y="114300"/>
                  </a:lnTo>
                  <a:lnTo>
                    <a:pt x="114300" y="0"/>
                  </a:lnTo>
                  <a:close/>
                </a:path>
              </a:pathLst>
            </a:custGeom>
            <a:solidFill>
              <a:srgbClr val="841600"/>
            </a:solidFill>
            <a:ln>
              <a:noFill/>
            </a:ln>
          </p:spPr>
        </p:sp>
        <p:grpSp>
          <p:nvGrpSpPr>
            <p:cNvPr id="139" name="layer-data"/>
            <p:cNvGrpSpPr/>
            <p:nvPr/>
          </p:nvGrpSpPr>
          <p:grpSpPr>
            <a:xfrm>
              <a:off x="266700" y="4038600"/>
              <a:ext cx="7524750" cy="914400"/>
              <a:chOff x="266700" y="4038600"/>
              <a:chExt cx="7524750" cy="914400"/>
            </a:xfrm>
          </p:grpSpPr>
          <p:sp>
            <p:nvSpPr>
              <p:cNvPr id="113" name="Rectangle 113"/>
              <p:cNvSpPr/>
              <p:nvPr/>
            </p:nvSpPr>
            <p:spPr>
              <a:xfrm>
                <a:off x="266700" y="4038600"/>
                <a:ext cx="1143000" cy="914400"/>
              </a:xfrm>
              <a:prstGeom prst="roundRect">
                <a:avLst>
                  <a:gd name="adj" fmla="val 8333"/>
                </a:avLst>
              </a:prstGeom>
              <a:solidFill>
                <a:srgbClr val="841600"/>
              </a:solidFill>
              <a:ln>
                <a:noFill/>
              </a:ln>
            </p:spPr>
          </p:sp>
          <p:grpSp>
            <p:nvGrpSpPr>
              <p:cNvPr id="117" name="Group 117"/>
              <p:cNvGrpSpPr/>
              <p:nvPr/>
            </p:nvGrpSpPr>
            <p:grpSpPr>
              <a:xfrm>
                <a:off x="730250" y="4212431"/>
                <a:ext cx="215901" cy="242888"/>
                <a:chOff x="730250" y="4212431"/>
                <a:chExt cx="215901" cy="242888"/>
              </a:xfrm>
            </p:grpSpPr>
            <p:sp>
              <p:nvSpPr>
                <p:cNvPr id="114" name="Freeform 114"/>
                <p:cNvSpPr/>
                <p:nvPr/>
              </p:nvSpPr>
              <p:spPr>
                <a:xfrm>
                  <a:off x="730250" y="4212431"/>
                  <a:ext cx="215901" cy="80963"/>
                </a:xfrm>
                <a:custGeom>
                  <a:avLst/>
                  <a:gdLst/>
                  <a:ahLst/>
                  <a:cxnLst/>
                  <a:rect l="l" t="t" r="r" b="b"/>
                  <a:pathLst>
                    <a:path w="215901" h="80963">
                      <a:moveTo>
                        <a:pt x="0" y="40481"/>
                      </a:moveTo>
                      <a:cubicBezTo>
                        <a:pt x="0" y="62839"/>
                        <a:pt x="48331" y="80963"/>
                        <a:pt x="107950" y="80963"/>
                      </a:cubicBezTo>
                      <a:cubicBezTo>
                        <a:pt x="167570" y="80963"/>
                        <a:pt x="215901" y="62839"/>
                        <a:pt x="215901" y="40481"/>
                      </a:cubicBezTo>
                      <a:cubicBezTo>
                        <a:pt x="215901" y="18124"/>
                        <a:pt x="167570" y="0"/>
                        <a:pt x="107950" y="0"/>
                      </a:cubicBezTo>
                      <a:cubicBezTo>
                        <a:pt x="48331" y="0"/>
                        <a:pt x="0" y="18124"/>
                        <a:pt x="0" y="40481"/>
                      </a:cubicBezTo>
                    </a:path>
                  </a:pathLst>
                </a:custGeom>
                <a:noFill/>
                <a:ln w="20241">
                  <a:solidFill>
                    <a:srgbClr val="FFFFFF"/>
                  </a:solidFill>
                </a:ln>
              </p:spPr>
            </p:sp>
            <p:sp>
              <p:nvSpPr>
                <p:cNvPr id="115" name="Freeform 115"/>
                <p:cNvSpPr/>
                <p:nvPr/>
              </p:nvSpPr>
              <p:spPr>
                <a:xfrm>
                  <a:off x="730250" y="4252913"/>
                  <a:ext cx="215901" cy="121444"/>
                </a:xfrm>
                <a:custGeom>
                  <a:avLst/>
                  <a:gdLst/>
                  <a:ahLst/>
                  <a:cxnLst/>
                  <a:rect l="l" t="t" r="r" b="b"/>
                  <a:pathLst>
                    <a:path w="215901" h="121444">
                      <a:moveTo>
                        <a:pt x="0" y="0"/>
                      </a:moveTo>
                      <a:lnTo>
                        <a:pt x="0" y="80963"/>
                      </a:lnTo>
                      <a:cubicBezTo>
                        <a:pt x="0" y="103320"/>
                        <a:pt x="48331" y="121444"/>
                        <a:pt x="107950" y="121444"/>
                      </a:cubicBezTo>
                      <a:cubicBezTo>
                        <a:pt x="167570" y="121444"/>
                        <a:pt x="215901" y="103320"/>
                        <a:pt x="215901" y="80963"/>
                      </a:cubicBezTo>
                      <a:lnTo>
                        <a:pt x="215901" y="0"/>
                      </a:lnTo>
                    </a:path>
                  </a:pathLst>
                </a:custGeom>
                <a:noFill/>
                <a:ln w="20241">
                  <a:solidFill>
                    <a:srgbClr val="FFFFFF"/>
                  </a:solidFill>
                </a:ln>
              </p:spPr>
            </p:sp>
            <p:sp>
              <p:nvSpPr>
                <p:cNvPr id="116" name="Freeform 116"/>
                <p:cNvSpPr/>
                <p:nvPr/>
              </p:nvSpPr>
              <p:spPr>
                <a:xfrm>
                  <a:off x="730250" y="4333875"/>
                  <a:ext cx="215901" cy="121444"/>
                </a:xfrm>
                <a:custGeom>
                  <a:avLst/>
                  <a:gdLst/>
                  <a:ahLst/>
                  <a:cxnLst/>
                  <a:rect l="l" t="t" r="r" b="b"/>
                  <a:pathLst>
                    <a:path w="215901" h="121444">
                      <a:moveTo>
                        <a:pt x="0" y="0"/>
                      </a:moveTo>
                      <a:lnTo>
                        <a:pt x="0" y="80963"/>
                      </a:lnTo>
                      <a:cubicBezTo>
                        <a:pt x="0" y="103320"/>
                        <a:pt x="48331" y="121444"/>
                        <a:pt x="107950" y="121444"/>
                      </a:cubicBezTo>
                      <a:cubicBezTo>
                        <a:pt x="167570" y="121444"/>
                        <a:pt x="215901" y="103320"/>
                        <a:pt x="215901" y="80963"/>
                      </a:cubicBezTo>
                      <a:lnTo>
                        <a:pt x="215901" y="0"/>
                      </a:lnTo>
                    </a:path>
                  </a:pathLst>
                </a:custGeom>
                <a:noFill/>
                <a:ln w="20241">
                  <a:solidFill>
                    <a:srgbClr val="FFFFFF"/>
                  </a:solidFill>
                </a:ln>
              </p:spPr>
            </p:sp>
          </p:grpSp>
          <p:sp>
            <p:nvSpPr>
              <p:cNvPr id="118" name="TextBox 118"/>
              <p:cNvSpPr txBox="1"/>
              <p:nvPr/>
            </p:nvSpPr>
            <p:spPr>
              <a:xfrm>
                <a:off x="530936" y="46791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数据底座</a:t>
                </a:r>
              </a:p>
            </p:txBody>
          </p:sp>
          <p:sp>
            <p:nvSpPr>
              <p:cNvPr id="119" name="Rectangle 119"/>
              <p:cNvSpPr/>
              <p:nvPr/>
            </p:nvSpPr>
            <p:spPr>
              <a:xfrm>
                <a:off x="1485900" y="4038600"/>
                <a:ext cx="6305550" cy="914400"/>
              </a:xfrm>
              <a:prstGeom prst="roundRect">
                <a:avLst>
                  <a:gd name="adj" fmla="val 8333"/>
                </a:avLst>
              </a:prstGeom>
              <a:solidFill>
                <a:srgbClr val="EFF5FD"/>
              </a:solidFill>
              <a:ln w="9525">
                <a:solidFill>
                  <a:srgbClr val="D7E2F2"/>
                </a:solidFill>
              </a:ln>
            </p:spPr>
          </p:sp>
          <p:sp>
            <p:nvSpPr>
              <p:cNvPr id="120" name="Rectangle 120"/>
              <p:cNvSpPr/>
              <p:nvPr/>
            </p:nvSpPr>
            <p:spPr>
              <a:xfrm>
                <a:off x="1676400" y="4229100"/>
                <a:ext cx="1809750" cy="533400"/>
              </a:xfrm>
              <a:prstGeom prst="roundRect">
                <a:avLst>
                  <a:gd name="adj" fmla="val 10714"/>
                </a:avLst>
              </a:prstGeom>
              <a:solidFill>
                <a:srgbClr val="FFFFFF"/>
              </a:solidFill>
              <a:ln w="9525">
                <a:solidFill>
                  <a:srgbClr val="D7E2F2"/>
                </a:solidFill>
              </a:ln>
            </p:spPr>
          </p:sp>
          <p:grpSp>
            <p:nvGrpSpPr>
              <p:cNvPr id="124" name="Group 124"/>
              <p:cNvGrpSpPr/>
              <p:nvPr/>
            </p:nvGrpSpPr>
            <p:grpSpPr>
              <a:xfrm>
                <a:off x="1924050" y="4410075"/>
                <a:ext cx="142875" cy="171450"/>
                <a:chOff x="1924050" y="4410075"/>
                <a:chExt cx="142875" cy="171450"/>
              </a:xfrm>
            </p:grpSpPr>
            <p:sp>
              <p:nvSpPr>
                <p:cNvPr id="121" name="Freeform 121"/>
                <p:cNvSpPr/>
                <p:nvPr/>
              </p:nvSpPr>
              <p:spPr>
                <a:xfrm>
                  <a:off x="1943100" y="44100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4288">
                  <a:solidFill>
                    <a:srgbClr val="841600"/>
                  </a:solidFill>
                </a:ln>
              </p:spPr>
            </p:sp>
            <p:sp>
              <p:nvSpPr>
                <p:cNvPr id="122" name="Freeform 122"/>
                <p:cNvSpPr/>
                <p:nvPr/>
              </p:nvSpPr>
              <p:spPr>
                <a:xfrm>
                  <a:off x="1924050" y="45243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4288">
                  <a:solidFill>
                    <a:srgbClr val="841600"/>
                  </a:solidFill>
                </a:ln>
              </p:spPr>
            </p:sp>
            <p:sp>
              <p:nvSpPr>
                <p:cNvPr id="123" name="Freeform 123"/>
                <p:cNvSpPr/>
                <p:nvPr/>
              </p:nvSpPr>
              <p:spPr>
                <a:xfrm>
                  <a:off x="2009775" y="4543425"/>
                  <a:ext cx="57150" cy="38100"/>
                </a:xfrm>
                <a:custGeom>
                  <a:avLst/>
                  <a:gdLst/>
                  <a:ahLst/>
                  <a:cxnLst/>
                  <a:rect l="l" t="t" r="r" b="b"/>
                  <a:pathLst>
                    <a:path w="57150" h="38100">
                      <a:moveTo>
                        <a:pt x="0" y="19050"/>
                      </a:moveTo>
                      <a:lnTo>
                        <a:pt x="19050" y="38100"/>
                      </a:lnTo>
                      <a:lnTo>
                        <a:pt x="57150" y="0"/>
                      </a:lnTo>
                    </a:path>
                  </a:pathLst>
                </a:custGeom>
                <a:noFill/>
                <a:ln w="14288">
                  <a:solidFill>
                    <a:srgbClr val="841600"/>
                  </a:solidFill>
                </a:ln>
              </p:spPr>
            </p:sp>
          </p:grpSp>
          <p:sp>
            <p:nvSpPr>
              <p:cNvPr id="125" name="TextBox 125"/>
              <p:cNvSpPr txBox="1"/>
              <p:nvPr/>
            </p:nvSpPr>
            <p:spPr>
              <a:xfrm>
                <a:off x="2204466" y="4430078"/>
                <a:ext cx="858774"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统一客户视图</a:t>
                </a:r>
              </a:p>
            </p:txBody>
          </p:sp>
          <p:sp>
            <p:nvSpPr>
              <p:cNvPr id="126" name="Rectangle 126"/>
              <p:cNvSpPr/>
              <p:nvPr/>
            </p:nvSpPr>
            <p:spPr>
              <a:xfrm>
                <a:off x="3771900" y="4229100"/>
                <a:ext cx="1809750" cy="533400"/>
              </a:xfrm>
              <a:prstGeom prst="roundRect">
                <a:avLst>
                  <a:gd name="adj" fmla="val 10714"/>
                </a:avLst>
              </a:prstGeom>
              <a:solidFill>
                <a:srgbClr val="FFFFFF"/>
              </a:solidFill>
              <a:ln w="9525">
                <a:solidFill>
                  <a:srgbClr val="D7E2F2"/>
                </a:solidFill>
              </a:ln>
            </p:spPr>
          </p:sp>
          <p:grpSp>
            <p:nvGrpSpPr>
              <p:cNvPr id="130" name="Group 130"/>
              <p:cNvGrpSpPr/>
              <p:nvPr/>
            </p:nvGrpSpPr>
            <p:grpSpPr>
              <a:xfrm>
                <a:off x="4000500" y="4419600"/>
                <a:ext cx="152400" cy="152400"/>
                <a:chOff x="4000500" y="4419600"/>
                <a:chExt cx="152400" cy="152400"/>
              </a:xfrm>
            </p:grpSpPr>
            <p:sp>
              <p:nvSpPr>
                <p:cNvPr id="127" name="Freeform 127"/>
                <p:cNvSpPr/>
                <p:nvPr/>
              </p:nvSpPr>
              <p:spPr>
                <a:xfrm>
                  <a:off x="4000500" y="4419600"/>
                  <a:ext cx="152400" cy="76200"/>
                </a:xfrm>
                <a:custGeom>
                  <a:avLst/>
                  <a:gdLst/>
                  <a:ahLst/>
                  <a:cxnLst/>
                  <a:rect l="l" t="t" r="r" b="b"/>
                  <a:pathLst>
                    <a:path w="152400" h="76200">
                      <a:moveTo>
                        <a:pt x="76200" y="0"/>
                      </a:moveTo>
                      <a:lnTo>
                        <a:pt x="0" y="38100"/>
                      </a:lnTo>
                      <a:lnTo>
                        <a:pt x="76200" y="76200"/>
                      </a:lnTo>
                      <a:lnTo>
                        <a:pt x="152400" y="38100"/>
                      </a:lnTo>
                      <a:lnTo>
                        <a:pt x="76200" y="0"/>
                      </a:lnTo>
                    </a:path>
                  </a:pathLst>
                </a:custGeom>
                <a:noFill/>
                <a:ln w="14288">
                  <a:solidFill>
                    <a:srgbClr val="841600"/>
                  </a:solidFill>
                </a:ln>
              </p:spPr>
            </p:sp>
            <p:sp>
              <p:nvSpPr>
                <p:cNvPr id="128" name="Freeform 128"/>
                <p:cNvSpPr/>
                <p:nvPr/>
              </p:nvSpPr>
              <p:spPr>
                <a:xfrm>
                  <a:off x="4000500" y="4495800"/>
                  <a:ext cx="152400" cy="38100"/>
                </a:xfrm>
                <a:custGeom>
                  <a:avLst/>
                  <a:gdLst/>
                  <a:ahLst/>
                  <a:cxnLst/>
                  <a:rect l="l" t="t" r="r" b="b"/>
                  <a:pathLst>
                    <a:path w="152400" h="38100">
                      <a:moveTo>
                        <a:pt x="0" y="0"/>
                      </a:moveTo>
                      <a:lnTo>
                        <a:pt x="76200" y="38100"/>
                      </a:lnTo>
                      <a:lnTo>
                        <a:pt x="152400" y="0"/>
                      </a:lnTo>
                    </a:path>
                  </a:pathLst>
                </a:custGeom>
                <a:noFill/>
                <a:ln w="14288">
                  <a:solidFill>
                    <a:srgbClr val="841600"/>
                  </a:solidFill>
                </a:ln>
              </p:spPr>
            </p:sp>
            <p:sp>
              <p:nvSpPr>
                <p:cNvPr id="129" name="Freeform 129"/>
                <p:cNvSpPr/>
                <p:nvPr/>
              </p:nvSpPr>
              <p:spPr>
                <a:xfrm>
                  <a:off x="4000500" y="4533900"/>
                  <a:ext cx="152400" cy="38100"/>
                </a:xfrm>
                <a:custGeom>
                  <a:avLst/>
                  <a:gdLst/>
                  <a:ahLst/>
                  <a:cxnLst/>
                  <a:rect l="l" t="t" r="r" b="b"/>
                  <a:pathLst>
                    <a:path w="152400" h="38100">
                      <a:moveTo>
                        <a:pt x="0" y="0"/>
                      </a:moveTo>
                      <a:lnTo>
                        <a:pt x="76200" y="38100"/>
                      </a:lnTo>
                      <a:lnTo>
                        <a:pt x="152400" y="0"/>
                      </a:lnTo>
                    </a:path>
                  </a:pathLst>
                </a:custGeom>
                <a:noFill/>
                <a:ln w="14288">
                  <a:solidFill>
                    <a:srgbClr val="841600"/>
                  </a:solidFill>
                </a:ln>
              </p:spPr>
            </p:sp>
          </p:grpSp>
          <p:sp>
            <p:nvSpPr>
              <p:cNvPr id="131" name="TextBox 131"/>
              <p:cNvSpPr txBox="1"/>
              <p:nvPr/>
            </p:nvSpPr>
            <p:spPr>
              <a:xfrm>
                <a:off x="4299966" y="443007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产品视图</a:t>
                </a:r>
              </a:p>
            </p:txBody>
          </p:sp>
          <p:sp>
            <p:nvSpPr>
              <p:cNvPr id="132" name="Rectangle 132"/>
              <p:cNvSpPr/>
              <p:nvPr/>
            </p:nvSpPr>
            <p:spPr>
              <a:xfrm>
                <a:off x="5867400" y="4229100"/>
                <a:ext cx="1809750" cy="533400"/>
              </a:xfrm>
              <a:prstGeom prst="roundRect">
                <a:avLst>
                  <a:gd name="adj" fmla="val 10714"/>
                </a:avLst>
              </a:prstGeom>
              <a:solidFill>
                <a:srgbClr val="FFFFFF"/>
              </a:solidFill>
              <a:ln w="9525">
                <a:solidFill>
                  <a:srgbClr val="D7E2F2"/>
                </a:solidFill>
              </a:ln>
            </p:spPr>
          </p:sp>
          <p:grpSp>
            <p:nvGrpSpPr>
              <p:cNvPr id="137" name="Group 137"/>
              <p:cNvGrpSpPr/>
              <p:nvPr/>
            </p:nvGrpSpPr>
            <p:grpSpPr>
              <a:xfrm>
                <a:off x="6086475" y="4419600"/>
                <a:ext cx="171450" cy="161925"/>
                <a:chOff x="6086475" y="4419600"/>
                <a:chExt cx="171450" cy="161925"/>
              </a:xfrm>
            </p:grpSpPr>
            <p:sp>
              <p:nvSpPr>
                <p:cNvPr id="133" name="Freeform 133"/>
                <p:cNvSpPr/>
                <p:nvPr/>
              </p:nvSpPr>
              <p:spPr>
                <a:xfrm>
                  <a:off x="6086475" y="44958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4288">
                  <a:solidFill>
                    <a:srgbClr val="841600"/>
                  </a:solidFill>
                </a:ln>
              </p:spPr>
            </p:sp>
            <p:sp>
              <p:nvSpPr>
                <p:cNvPr id="134" name="Freeform 134"/>
                <p:cNvSpPr/>
                <p:nvPr/>
              </p:nvSpPr>
              <p:spPr>
                <a:xfrm>
                  <a:off x="6200775" y="44577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4288">
                  <a:solidFill>
                    <a:srgbClr val="841600"/>
                  </a:solidFill>
                </a:ln>
              </p:spPr>
            </p:sp>
            <p:sp>
              <p:nvSpPr>
                <p:cNvPr id="135" name="Freeform 135"/>
                <p:cNvSpPr/>
                <p:nvPr/>
              </p:nvSpPr>
              <p:spPr>
                <a:xfrm>
                  <a:off x="6143625" y="44196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4288">
                  <a:solidFill>
                    <a:srgbClr val="841600"/>
                  </a:solidFill>
                </a:ln>
              </p:spPr>
            </p:sp>
            <p:sp>
              <p:nvSpPr>
                <p:cNvPr id="136" name="Freeform 136"/>
                <p:cNvSpPr/>
                <p:nvPr/>
              </p:nvSpPr>
              <p:spPr>
                <a:xfrm>
                  <a:off x="6096000" y="4572000"/>
                  <a:ext cx="133350" cy="9525"/>
                </a:xfrm>
                <a:custGeom>
                  <a:avLst/>
                  <a:gdLst/>
                  <a:ahLst/>
                  <a:cxnLst/>
                  <a:rect l="l" t="t" r="r" b="b"/>
                  <a:pathLst>
                    <a:path w="133350" h="9525">
                      <a:moveTo>
                        <a:pt x="0" y="0"/>
                      </a:moveTo>
                      <a:lnTo>
                        <a:pt x="133350" y="0"/>
                      </a:lnTo>
                    </a:path>
                  </a:pathLst>
                </a:custGeom>
                <a:noFill/>
                <a:ln w="14288">
                  <a:solidFill>
                    <a:srgbClr val="841600"/>
                  </a:solidFill>
                </a:ln>
              </p:spPr>
            </p:sp>
          </p:grpSp>
          <p:sp>
            <p:nvSpPr>
              <p:cNvPr id="138" name="TextBox 138"/>
              <p:cNvSpPr txBox="1"/>
              <p:nvPr/>
            </p:nvSpPr>
            <p:spPr>
              <a:xfrm>
                <a:off x="6395466" y="4430078"/>
                <a:ext cx="57607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经营指标</a:t>
                </a:r>
              </a:p>
            </p:txBody>
          </p:sp>
        </p:grpSp>
      </p:grpSp>
      <p:grpSp>
        <p:nvGrpSpPr>
          <p:cNvPr id="172" name="priority-matrix"/>
          <p:cNvGrpSpPr/>
          <p:nvPr/>
        </p:nvGrpSpPr>
        <p:grpSpPr>
          <a:xfrm>
            <a:off x="7864450" y="876300"/>
            <a:ext cx="4060850" cy="4267200"/>
            <a:chOff x="7864450" y="876300"/>
            <a:chExt cx="4060850" cy="4267200"/>
          </a:xfrm>
        </p:grpSpPr>
        <p:sp>
          <p:nvSpPr>
            <p:cNvPr id="141" name="Rectangle 141"/>
            <p:cNvSpPr/>
            <p:nvPr/>
          </p:nvSpPr>
          <p:spPr>
            <a:xfrm>
              <a:off x="7905750" y="876300"/>
              <a:ext cx="4019550" cy="4267200"/>
            </a:xfrm>
            <a:prstGeom prst="roundRect">
              <a:avLst>
                <a:gd name="adj" fmla="val 2370"/>
              </a:avLst>
            </a:prstGeom>
            <a:solidFill>
              <a:srgbClr val="FFFFFF"/>
            </a:solidFill>
            <a:ln w="9525">
              <a:solidFill>
                <a:srgbClr val="D7E2F2"/>
              </a:solidFill>
            </a:ln>
          </p:spPr>
        </p:sp>
        <p:sp>
          <p:nvSpPr>
            <p:cNvPr id="142" name="Rectangle 142"/>
            <p:cNvSpPr/>
            <p:nvPr/>
          </p:nvSpPr>
          <p:spPr>
            <a:xfrm>
              <a:off x="7905750" y="876300"/>
              <a:ext cx="4019550" cy="381000"/>
            </a:xfrm>
            <a:prstGeom prst="roundRect">
              <a:avLst>
                <a:gd name="adj" fmla="val 25000"/>
              </a:avLst>
            </a:prstGeom>
            <a:solidFill>
              <a:srgbClr val="841600"/>
            </a:solidFill>
            <a:ln>
              <a:noFill/>
            </a:ln>
          </p:spPr>
        </p:sp>
        <p:sp>
          <p:nvSpPr>
            <p:cNvPr id="143" name="Rectangle 143"/>
            <p:cNvSpPr/>
            <p:nvPr/>
          </p:nvSpPr>
          <p:spPr>
            <a:xfrm>
              <a:off x="7905750" y="1085850"/>
              <a:ext cx="4019550" cy="171450"/>
            </a:xfrm>
            <a:prstGeom prst="rect">
              <a:avLst/>
            </a:prstGeom>
            <a:solidFill>
              <a:srgbClr val="841600"/>
            </a:solidFill>
            <a:ln>
              <a:noFill/>
            </a:ln>
          </p:spPr>
        </p:sp>
        <p:sp>
          <p:nvSpPr>
            <p:cNvPr id="144" name="TextBox 144"/>
            <p:cNvSpPr txBox="1"/>
            <p:nvPr/>
          </p:nvSpPr>
          <p:spPr>
            <a:xfrm>
              <a:off x="9084949" y="1003935"/>
              <a:ext cx="166115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需求价值 / 紧迫度矩阵</a:t>
              </a:r>
            </a:p>
          </p:txBody>
        </p:sp>
        <p:sp>
          <p:nvSpPr>
            <p:cNvPr id="145" name="Rectangle 145"/>
            <p:cNvSpPr/>
            <p:nvPr/>
          </p:nvSpPr>
          <p:spPr>
            <a:xfrm>
              <a:off x="10029825" y="1428750"/>
              <a:ext cx="1743075" cy="1524000"/>
            </a:xfrm>
            <a:prstGeom prst="rect">
              <a:avLst/>
            </a:prstGeom>
            <a:solidFill>
              <a:srgbClr val="EAF1FB"/>
            </a:solidFill>
            <a:ln>
              <a:noFill/>
            </a:ln>
          </p:spPr>
        </p:sp>
        <p:sp>
          <p:nvSpPr>
            <p:cNvPr id="146" name="Line 146"/>
            <p:cNvSpPr/>
            <p:nvPr/>
          </p:nvSpPr>
          <p:spPr>
            <a:xfrm>
              <a:off x="8286750" y="1428750"/>
              <a:ext cx="9525" cy="3048000"/>
            </a:xfrm>
            <a:custGeom>
              <a:avLst/>
              <a:gdLst/>
              <a:ahLst/>
              <a:cxnLst/>
              <a:rect l="l" t="t" r="r" b="b"/>
              <a:pathLst>
                <a:path w="9525" h="3048000">
                  <a:moveTo>
                    <a:pt x="0" y="0"/>
                  </a:moveTo>
                  <a:lnTo>
                    <a:pt x="0" y="3048000"/>
                  </a:lnTo>
                </a:path>
              </a:pathLst>
            </a:custGeom>
            <a:noFill/>
            <a:ln w="14288">
              <a:solidFill>
                <a:srgbClr val="ECC1B8"/>
              </a:solidFill>
            </a:ln>
          </p:spPr>
        </p:sp>
        <p:sp>
          <p:nvSpPr>
            <p:cNvPr id="147" name="Line 147"/>
            <p:cNvSpPr/>
            <p:nvPr/>
          </p:nvSpPr>
          <p:spPr>
            <a:xfrm>
              <a:off x="8286750" y="4476750"/>
              <a:ext cx="3486150" cy="9525"/>
            </a:xfrm>
            <a:custGeom>
              <a:avLst/>
              <a:gdLst/>
              <a:ahLst/>
              <a:cxnLst/>
              <a:rect l="l" t="t" r="r" b="b"/>
              <a:pathLst>
                <a:path w="3486150" h="9525">
                  <a:moveTo>
                    <a:pt x="0" y="0"/>
                  </a:moveTo>
                  <a:lnTo>
                    <a:pt x="3486150" y="0"/>
                  </a:lnTo>
                </a:path>
              </a:pathLst>
            </a:custGeom>
            <a:noFill/>
            <a:ln w="14288">
              <a:solidFill>
                <a:srgbClr val="ECC1B8"/>
              </a:solidFill>
            </a:ln>
          </p:spPr>
        </p:sp>
        <p:sp>
          <p:nvSpPr>
            <p:cNvPr id="148" name="Line 148"/>
            <p:cNvSpPr/>
            <p:nvPr/>
          </p:nvSpPr>
          <p:spPr>
            <a:xfrm>
              <a:off x="10029825" y="1428750"/>
              <a:ext cx="9525" cy="3048000"/>
            </a:xfrm>
            <a:custGeom>
              <a:avLst/>
              <a:gdLst/>
              <a:ahLst/>
              <a:cxnLst/>
              <a:rect l="l" t="t" r="r" b="b"/>
              <a:pathLst>
                <a:path w="9525" h="3048000">
                  <a:moveTo>
                    <a:pt x="0" y="0"/>
                  </a:moveTo>
                  <a:lnTo>
                    <a:pt x="0" y="3048000"/>
                  </a:lnTo>
                </a:path>
              </a:pathLst>
            </a:custGeom>
            <a:noFill/>
            <a:ln w="9525">
              <a:solidFill>
                <a:srgbClr val="DCE6F8"/>
              </a:solidFill>
              <a:custDash>
                <a:ds d="400000" sp="300000"/>
              </a:custDash>
            </a:ln>
          </p:spPr>
        </p:sp>
        <p:sp>
          <p:nvSpPr>
            <p:cNvPr id="149" name="Line 149"/>
            <p:cNvSpPr/>
            <p:nvPr/>
          </p:nvSpPr>
          <p:spPr>
            <a:xfrm>
              <a:off x="8286750" y="2952750"/>
              <a:ext cx="3486150" cy="9525"/>
            </a:xfrm>
            <a:custGeom>
              <a:avLst/>
              <a:gdLst/>
              <a:ahLst/>
              <a:cxnLst/>
              <a:rect l="l" t="t" r="r" b="b"/>
              <a:pathLst>
                <a:path w="3486150" h="9525">
                  <a:moveTo>
                    <a:pt x="0" y="0"/>
                  </a:moveTo>
                  <a:lnTo>
                    <a:pt x="3486150" y="0"/>
                  </a:lnTo>
                </a:path>
              </a:pathLst>
            </a:custGeom>
            <a:noFill/>
            <a:ln w="9525">
              <a:solidFill>
                <a:srgbClr val="DCE6F8"/>
              </a:solidFill>
              <a:custDash>
                <a:ds d="400000" sp="300000"/>
              </a:custDash>
            </a:ln>
          </p:spPr>
        </p:sp>
        <p:sp>
          <p:nvSpPr>
            <p:cNvPr id="150" name="TextBox 150"/>
            <p:cNvSpPr txBox="1"/>
            <p:nvPr/>
          </p:nvSpPr>
          <p:spPr>
            <a:xfrm>
              <a:off x="8093443" y="1415891"/>
              <a:ext cx="119913" cy="161925"/>
            </a:xfrm>
            <a:prstGeom prst="rect">
              <a:avLst/>
            </a:prstGeom>
            <a:noFill/>
            <a:ln>
              <a:noFill/>
            </a:ln>
          </p:spPr>
          <p:txBody>
            <a:bodyPr wrap="none" lIns="0" tIns="0" rIns="0" bIns="0" anchor="t" anchorCtr="0">
              <a:spAutoFit/>
            </a:bodyPr>
            <a:lstStyle/>
            <a:p>
              <a:pPr algn="ctr"/>
              <a:r>
                <a:rPr lang="zh-CN" sz="820" dirty="0">
                  <a:solidFill>
                    <a:srgbClr val="7E605A"/>
                  </a:solidFill>
                  <a:latin typeface="+mn-lt"/>
                  <a:ea typeface="+mn-ea"/>
                  <a:cs typeface="+mn-cs"/>
                </a:rPr>
                <a:t>高</a:t>
              </a:r>
            </a:p>
          </p:txBody>
        </p:sp>
        <p:sp>
          <p:nvSpPr>
            <p:cNvPr id="151" name="TextBox 151"/>
            <p:cNvSpPr txBox="1"/>
            <p:nvPr/>
          </p:nvSpPr>
          <p:spPr>
            <a:xfrm>
              <a:off x="8093443" y="4387691"/>
              <a:ext cx="119913" cy="161925"/>
            </a:xfrm>
            <a:prstGeom prst="rect">
              <a:avLst/>
            </a:prstGeom>
            <a:noFill/>
            <a:ln>
              <a:noFill/>
            </a:ln>
          </p:spPr>
          <p:txBody>
            <a:bodyPr wrap="none" lIns="0" tIns="0" rIns="0" bIns="0" anchor="t" anchorCtr="0">
              <a:spAutoFit/>
            </a:bodyPr>
            <a:lstStyle/>
            <a:p>
              <a:pPr algn="ctr"/>
              <a:r>
                <a:rPr lang="zh-CN" sz="820" dirty="0">
                  <a:solidFill>
                    <a:srgbClr val="7E605A"/>
                  </a:solidFill>
                  <a:latin typeface="+mn-lt"/>
                  <a:ea typeface="+mn-ea"/>
                  <a:cs typeface="+mn-cs"/>
                </a:rPr>
                <a:t>低</a:t>
              </a:r>
            </a:p>
          </p:txBody>
        </p:sp>
        <p:sp>
          <p:nvSpPr>
            <p:cNvPr id="152" name="TextBox 152"/>
            <p:cNvSpPr txBox="1"/>
            <p:nvPr/>
          </p:nvSpPr>
          <p:spPr>
            <a:xfrm rot="-5400000">
              <a:off x="7864450" y="2857405"/>
              <a:ext cx="405689"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紧迫度</a:t>
              </a:r>
            </a:p>
          </p:txBody>
        </p:sp>
        <p:sp>
          <p:nvSpPr>
            <p:cNvPr id="153" name="TextBox 153"/>
            <p:cNvSpPr txBox="1"/>
            <p:nvPr/>
          </p:nvSpPr>
          <p:spPr>
            <a:xfrm>
              <a:off x="8320088" y="4597241"/>
              <a:ext cx="119913"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低</a:t>
              </a:r>
            </a:p>
          </p:txBody>
        </p:sp>
        <p:sp>
          <p:nvSpPr>
            <p:cNvPr id="154" name="TextBox 154"/>
            <p:cNvSpPr txBox="1"/>
            <p:nvPr/>
          </p:nvSpPr>
          <p:spPr>
            <a:xfrm>
              <a:off x="11657749" y="4597241"/>
              <a:ext cx="119913" cy="161925"/>
            </a:xfrm>
            <a:prstGeom prst="rect">
              <a:avLst/>
            </a:prstGeom>
            <a:noFill/>
            <a:ln>
              <a:noFill/>
            </a:ln>
          </p:spPr>
          <p:txBody>
            <a:bodyPr wrap="none" lIns="0" tIns="0" rIns="0" bIns="0" anchor="t" anchorCtr="0">
              <a:spAutoFit/>
            </a:bodyPr>
            <a:lstStyle/>
            <a:p>
              <a:pPr algn="r"/>
              <a:r>
                <a:rPr lang="zh-CN" sz="820" dirty="0">
                  <a:solidFill>
                    <a:srgbClr val="7E605A"/>
                  </a:solidFill>
                  <a:latin typeface="+mn-lt"/>
                  <a:ea typeface="+mn-ea"/>
                  <a:cs typeface="+mn-cs"/>
                </a:rPr>
                <a:t>高</a:t>
              </a:r>
            </a:p>
          </p:txBody>
        </p:sp>
        <p:sp>
          <p:nvSpPr>
            <p:cNvPr id="155" name="TextBox 155"/>
            <p:cNvSpPr txBox="1"/>
            <p:nvPr/>
          </p:nvSpPr>
          <p:spPr>
            <a:xfrm>
              <a:off x="9892944" y="4600099"/>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价值</a:t>
              </a:r>
            </a:p>
          </p:txBody>
        </p:sp>
        <p:sp>
          <p:nvSpPr>
            <p:cNvPr id="156" name="TextBox 156"/>
            <p:cNvSpPr txBox="1"/>
            <p:nvPr/>
          </p:nvSpPr>
          <p:spPr>
            <a:xfrm>
              <a:off x="8846261" y="1783556"/>
              <a:ext cx="614528"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快速响应</a:t>
              </a:r>
            </a:p>
          </p:txBody>
        </p:sp>
        <p:sp>
          <p:nvSpPr>
            <p:cNvPr id="157" name="TextBox 157"/>
            <p:cNvSpPr txBox="1"/>
            <p:nvPr/>
          </p:nvSpPr>
          <p:spPr>
            <a:xfrm>
              <a:off x="10598861" y="1783556"/>
              <a:ext cx="614528" cy="220028"/>
            </a:xfrm>
            <a:prstGeom prst="rect">
              <a:avLst/>
            </a:prstGeom>
            <a:noFill/>
            <a:ln>
              <a:noFill/>
            </a:ln>
          </p:spPr>
          <p:txBody>
            <a:bodyPr wrap="none" lIns="0" tIns="0" rIns="0" bIns="0" anchor="t" anchorCtr="0">
              <a:spAutoFit/>
            </a:bodyPr>
            <a:lstStyle/>
            <a:p>
              <a:pPr algn="ctr"/>
              <a:r>
                <a:rPr lang="zh-CN" sz="1120" b="1" dirty="0">
                  <a:solidFill>
                    <a:srgbClr val="841600"/>
                  </a:solidFill>
                  <a:latin typeface="+mn-lt"/>
                  <a:ea typeface="+mn-ea"/>
                  <a:cs typeface="+mn-cs"/>
                </a:rPr>
                <a:t>优先交付</a:t>
              </a:r>
            </a:p>
          </p:txBody>
        </p:sp>
        <p:sp>
          <p:nvSpPr>
            <p:cNvPr id="158" name="TextBox 158"/>
            <p:cNvSpPr txBox="1"/>
            <p:nvPr/>
          </p:nvSpPr>
          <p:spPr>
            <a:xfrm>
              <a:off x="8846261" y="3402806"/>
              <a:ext cx="614528" cy="220028"/>
            </a:xfrm>
            <a:prstGeom prst="rect">
              <a:avLst/>
            </a:prstGeom>
            <a:noFill/>
            <a:ln>
              <a:noFill/>
            </a:ln>
          </p:spPr>
          <p:txBody>
            <a:bodyPr wrap="none" lIns="0" tIns="0" rIns="0" bIns="0" anchor="t" anchorCtr="0">
              <a:spAutoFit/>
            </a:bodyPr>
            <a:lstStyle/>
            <a:p>
              <a:pPr algn="ctr"/>
              <a:r>
                <a:rPr lang="zh-CN" sz="1120" b="1" dirty="0">
                  <a:solidFill>
                    <a:srgbClr val="7E605A"/>
                  </a:solidFill>
                  <a:latin typeface="+mn-lt"/>
                  <a:ea typeface="+mn-ea"/>
                  <a:cs typeface="+mn-cs"/>
                </a:rPr>
                <a:t>暂缓排期</a:t>
              </a:r>
            </a:p>
          </p:txBody>
        </p:sp>
        <p:sp>
          <p:nvSpPr>
            <p:cNvPr id="159" name="TextBox 159"/>
            <p:cNvSpPr txBox="1"/>
            <p:nvPr/>
          </p:nvSpPr>
          <p:spPr>
            <a:xfrm>
              <a:off x="10598861" y="3402806"/>
              <a:ext cx="614528" cy="220028"/>
            </a:xfrm>
            <a:prstGeom prst="rect">
              <a:avLst/>
            </a:prstGeom>
            <a:noFill/>
            <a:ln>
              <a:noFill/>
            </a:ln>
          </p:spPr>
          <p:txBody>
            <a:bodyPr wrap="none" lIns="0" tIns="0" rIns="0" bIns="0" anchor="t" anchorCtr="0">
              <a:spAutoFit/>
            </a:bodyPr>
            <a:lstStyle/>
            <a:p>
              <a:pPr algn="ctr"/>
              <a:r>
                <a:rPr lang="zh-CN" sz="1120" b="1" dirty="0">
                  <a:solidFill>
                    <a:srgbClr val="7E605A"/>
                  </a:solidFill>
                  <a:latin typeface="+mn-lt"/>
                  <a:ea typeface="+mn-ea"/>
                  <a:cs typeface="+mn-cs"/>
                </a:rPr>
                <a:t>规划储备</a:t>
              </a:r>
            </a:p>
          </p:txBody>
        </p:sp>
        <p:sp>
          <p:nvSpPr>
            <p:cNvPr id="160" name="Ellipse 160"/>
            <p:cNvSpPr/>
            <p:nvPr/>
          </p:nvSpPr>
          <p:spPr>
            <a:xfrm>
              <a:off x="8705850" y="2400300"/>
              <a:ext cx="114300" cy="114300"/>
            </a:xfrm>
            <a:prstGeom prst="ellipse">
              <a:avLst/>
            </a:prstGeom>
            <a:solidFill>
              <a:srgbClr val="C9482E"/>
            </a:solidFill>
            <a:ln>
              <a:noFill/>
            </a:ln>
          </p:spPr>
        </p:sp>
        <p:sp>
          <p:nvSpPr>
            <p:cNvPr id="161" name="Ellipse 161"/>
            <p:cNvSpPr/>
            <p:nvPr/>
          </p:nvSpPr>
          <p:spPr>
            <a:xfrm>
              <a:off x="9067800" y="2552700"/>
              <a:ext cx="114300" cy="114300"/>
            </a:xfrm>
            <a:prstGeom prst="ellipse">
              <a:avLst/>
            </a:prstGeom>
            <a:solidFill>
              <a:srgbClr val="C9482E"/>
            </a:solidFill>
            <a:ln>
              <a:noFill/>
            </a:ln>
          </p:spPr>
        </p:sp>
        <p:sp>
          <p:nvSpPr>
            <p:cNvPr id="162" name="Ellipse 162"/>
            <p:cNvSpPr/>
            <p:nvPr/>
          </p:nvSpPr>
          <p:spPr>
            <a:xfrm>
              <a:off x="9391650" y="2343150"/>
              <a:ext cx="114300" cy="114300"/>
            </a:xfrm>
            <a:prstGeom prst="ellipse">
              <a:avLst/>
            </a:prstGeom>
            <a:solidFill>
              <a:srgbClr val="C9482E"/>
            </a:solidFill>
            <a:ln>
              <a:noFill/>
            </a:ln>
          </p:spPr>
        </p:sp>
        <p:sp>
          <p:nvSpPr>
            <p:cNvPr id="163" name="Ellipse 163"/>
            <p:cNvSpPr/>
            <p:nvPr/>
          </p:nvSpPr>
          <p:spPr>
            <a:xfrm>
              <a:off x="10496550" y="2438400"/>
              <a:ext cx="114300" cy="114300"/>
            </a:xfrm>
            <a:prstGeom prst="ellipse">
              <a:avLst/>
            </a:prstGeom>
            <a:solidFill>
              <a:srgbClr val="ED4D31"/>
            </a:solidFill>
            <a:ln>
              <a:noFill/>
            </a:ln>
          </p:spPr>
        </p:sp>
        <p:sp>
          <p:nvSpPr>
            <p:cNvPr id="164" name="Ellipse 164"/>
            <p:cNvSpPr/>
            <p:nvPr/>
          </p:nvSpPr>
          <p:spPr>
            <a:xfrm>
              <a:off x="10858500" y="2305050"/>
              <a:ext cx="114300" cy="114300"/>
            </a:xfrm>
            <a:prstGeom prst="ellipse">
              <a:avLst/>
            </a:prstGeom>
            <a:solidFill>
              <a:srgbClr val="ED4D31"/>
            </a:solidFill>
            <a:ln>
              <a:noFill/>
            </a:ln>
          </p:spPr>
        </p:sp>
        <p:sp>
          <p:nvSpPr>
            <p:cNvPr id="165" name="Ellipse 165"/>
            <p:cNvSpPr/>
            <p:nvPr/>
          </p:nvSpPr>
          <p:spPr>
            <a:xfrm>
              <a:off x="11182350" y="2495550"/>
              <a:ext cx="114300" cy="114300"/>
            </a:xfrm>
            <a:prstGeom prst="ellipse">
              <a:avLst/>
            </a:prstGeom>
            <a:solidFill>
              <a:srgbClr val="ED4D31"/>
            </a:solidFill>
            <a:ln>
              <a:noFill/>
            </a:ln>
          </p:spPr>
        </p:sp>
        <p:sp>
          <p:nvSpPr>
            <p:cNvPr id="166" name="Ellipse 166"/>
            <p:cNvSpPr/>
            <p:nvPr/>
          </p:nvSpPr>
          <p:spPr>
            <a:xfrm>
              <a:off x="11487150" y="2266950"/>
              <a:ext cx="114300" cy="114300"/>
            </a:xfrm>
            <a:prstGeom prst="ellipse">
              <a:avLst/>
            </a:prstGeom>
            <a:solidFill>
              <a:srgbClr val="ED4D31"/>
            </a:solidFill>
            <a:ln>
              <a:noFill/>
            </a:ln>
          </p:spPr>
        </p:sp>
        <p:sp>
          <p:nvSpPr>
            <p:cNvPr id="167" name="Ellipse 167"/>
            <p:cNvSpPr/>
            <p:nvPr/>
          </p:nvSpPr>
          <p:spPr>
            <a:xfrm>
              <a:off x="8724900" y="3867150"/>
              <a:ext cx="114300" cy="114300"/>
            </a:xfrm>
            <a:prstGeom prst="ellipse">
              <a:avLst/>
            </a:prstGeom>
            <a:solidFill>
              <a:srgbClr val="C9482E"/>
            </a:solidFill>
            <a:ln>
              <a:noFill/>
            </a:ln>
          </p:spPr>
        </p:sp>
        <p:sp>
          <p:nvSpPr>
            <p:cNvPr id="168" name="Ellipse 168"/>
            <p:cNvSpPr/>
            <p:nvPr/>
          </p:nvSpPr>
          <p:spPr>
            <a:xfrm>
              <a:off x="9105900" y="4038600"/>
              <a:ext cx="114300" cy="114300"/>
            </a:xfrm>
            <a:prstGeom prst="ellipse">
              <a:avLst/>
            </a:prstGeom>
            <a:solidFill>
              <a:srgbClr val="C9482E"/>
            </a:solidFill>
            <a:ln>
              <a:noFill/>
            </a:ln>
          </p:spPr>
        </p:sp>
        <p:sp>
          <p:nvSpPr>
            <p:cNvPr id="169" name="Ellipse 169"/>
            <p:cNvSpPr/>
            <p:nvPr/>
          </p:nvSpPr>
          <p:spPr>
            <a:xfrm>
              <a:off x="10515600" y="3867150"/>
              <a:ext cx="114300" cy="114300"/>
            </a:xfrm>
            <a:prstGeom prst="ellipse">
              <a:avLst/>
            </a:prstGeom>
            <a:solidFill>
              <a:srgbClr val="C9482E"/>
            </a:solidFill>
            <a:ln>
              <a:noFill/>
            </a:ln>
          </p:spPr>
        </p:sp>
        <p:sp>
          <p:nvSpPr>
            <p:cNvPr id="170" name="Ellipse 170"/>
            <p:cNvSpPr/>
            <p:nvPr/>
          </p:nvSpPr>
          <p:spPr>
            <a:xfrm>
              <a:off x="10896600" y="4133850"/>
              <a:ext cx="114300" cy="114300"/>
            </a:xfrm>
            <a:prstGeom prst="ellipse">
              <a:avLst/>
            </a:prstGeom>
            <a:solidFill>
              <a:srgbClr val="C9482E"/>
            </a:solidFill>
            <a:ln>
              <a:noFill/>
            </a:ln>
          </p:spPr>
        </p:sp>
        <p:sp>
          <p:nvSpPr>
            <p:cNvPr id="171" name="Ellipse 171"/>
            <p:cNvSpPr/>
            <p:nvPr/>
          </p:nvSpPr>
          <p:spPr>
            <a:xfrm>
              <a:off x="11296650" y="3943350"/>
              <a:ext cx="114300" cy="114300"/>
            </a:xfrm>
            <a:prstGeom prst="ellipse">
              <a:avLst/>
            </a:prstGeom>
            <a:solidFill>
              <a:srgbClr val="C9482E"/>
            </a:solidFill>
            <a:ln>
              <a:noFill/>
            </a:ln>
          </p:spPr>
        </p:sp>
      </p:grpSp>
      <p:grpSp>
        <p:nvGrpSpPr>
          <p:cNvPr id="241" name="governance-band"/>
          <p:cNvGrpSpPr/>
          <p:nvPr/>
        </p:nvGrpSpPr>
        <p:grpSpPr>
          <a:xfrm>
            <a:off x="266700" y="5257800"/>
            <a:ext cx="11658600" cy="1371600"/>
            <a:chOff x="266700" y="5257800"/>
            <a:chExt cx="11658600" cy="1371600"/>
          </a:xfrm>
        </p:grpSpPr>
        <p:sp>
          <p:nvSpPr>
            <p:cNvPr id="173" name="Rectangle 173"/>
            <p:cNvSpPr/>
            <p:nvPr/>
          </p:nvSpPr>
          <p:spPr>
            <a:xfrm>
              <a:off x="266700" y="5257800"/>
              <a:ext cx="11658600" cy="1371600"/>
            </a:xfrm>
            <a:prstGeom prst="roundRect">
              <a:avLst>
                <a:gd name="adj" fmla="val 6944"/>
              </a:avLst>
            </a:prstGeom>
            <a:solidFill>
              <a:srgbClr val="FFFFFF"/>
            </a:solidFill>
            <a:ln w="9525">
              <a:solidFill>
                <a:srgbClr val="D7E2F2"/>
              </a:solidFill>
            </a:ln>
          </p:spPr>
        </p:sp>
        <p:sp>
          <p:nvSpPr>
            <p:cNvPr id="174" name="Rectangle 174"/>
            <p:cNvSpPr/>
            <p:nvPr/>
          </p:nvSpPr>
          <p:spPr>
            <a:xfrm>
              <a:off x="381000" y="5334000"/>
              <a:ext cx="1047750" cy="266700"/>
            </a:xfrm>
            <a:prstGeom prst="roundRect">
              <a:avLst>
                <a:gd name="adj" fmla="val 14286"/>
              </a:avLst>
            </a:prstGeom>
            <a:solidFill>
              <a:srgbClr val="841600"/>
            </a:solidFill>
            <a:ln>
              <a:noFill/>
            </a:ln>
          </p:spPr>
        </p:sp>
        <p:sp>
          <p:nvSpPr>
            <p:cNvPr id="175" name="TextBox 175"/>
            <p:cNvSpPr txBox="1"/>
            <p:nvPr/>
          </p:nvSpPr>
          <p:spPr>
            <a:xfrm>
              <a:off x="636067" y="54097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治理机制</a:t>
              </a:r>
            </a:p>
          </p:txBody>
        </p:sp>
        <p:grpSp>
          <p:nvGrpSpPr>
            <p:cNvPr id="184" name="gov-1"/>
            <p:cNvGrpSpPr/>
            <p:nvPr/>
          </p:nvGrpSpPr>
          <p:grpSpPr>
            <a:xfrm>
              <a:off x="419100" y="5829300"/>
              <a:ext cx="1798359" cy="434816"/>
              <a:chOff x="419100" y="5829300"/>
              <a:chExt cx="1798359" cy="434816"/>
            </a:xfrm>
          </p:grpSpPr>
          <p:sp>
            <p:nvSpPr>
              <p:cNvPr id="176" name="Rectangle 176"/>
              <p:cNvSpPr/>
              <p:nvPr/>
            </p:nvSpPr>
            <p:spPr>
              <a:xfrm>
                <a:off x="419100" y="5829300"/>
                <a:ext cx="323850" cy="323850"/>
              </a:xfrm>
              <a:prstGeom prst="roundRect">
                <a:avLst>
                  <a:gd name="adj" fmla="val 17647"/>
                </a:avLst>
              </a:prstGeom>
              <a:solidFill>
                <a:srgbClr val="841600"/>
              </a:solidFill>
              <a:ln>
                <a:noFill/>
              </a:ln>
            </p:spPr>
          </p:sp>
          <p:sp>
            <p:nvSpPr>
              <p:cNvPr id="177" name="TextBox 177"/>
              <p:cNvSpPr txBox="1"/>
              <p:nvPr/>
            </p:nvSpPr>
            <p:spPr>
              <a:xfrm>
                <a:off x="494061" y="5935028"/>
                <a:ext cx="17392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01</a:t>
                </a:r>
              </a:p>
            </p:txBody>
          </p:sp>
          <p:grpSp>
            <p:nvGrpSpPr>
              <p:cNvPr id="181" name="Group 181"/>
              <p:cNvGrpSpPr/>
              <p:nvPr/>
            </p:nvGrpSpPr>
            <p:grpSpPr>
              <a:xfrm>
                <a:off x="909638" y="5884069"/>
                <a:ext cx="178594" cy="214313"/>
                <a:chOff x="909638" y="5884069"/>
                <a:chExt cx="178594" cy="214313"/>
              </a:xfrm>
            </p:grpSpPr>
            <p:sp>
              <p:nvSpPr>
                <p:cNvPr id="178" name="Freeform 178"/>
                <p:cNvSpPr/>
                <p:nvPr/>
              </p:nvSpPr>
              <p:spPr>
                <a:xfrm>
                  <a:off x="933450" y="588406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7859">
                  <a:solidFill>
                    <a:srgbClr val="841600"/>
                  </a:solidFill>
                </a:ln>
              </p:spPr>
            </p:sp>
            <p:sp>
              <p:nvSpPr>
                <p:cNvPr id="179" name="Freeform 179"/>
                <p:cNvSpPr/>
                <p:nvPr/>
              </p:nvSpPr>
              <p:spPr>
                <a:xfrm>
                  <a:off x="909638" y="6026944"/>
                  <a:ext cx="95250" cy="71438"/>
                </a:xfrm>
                <a:custGeom>
                  <a:avLst/>
                  <a:gdLst/>
                  <a:ahLst/>
                  <a:cxnLst/>
                  <a:rect l="l" t="t" r="r" b="b"/>
                  <a:pathLst>
                    <a:path w="95250" h="71438">
                      <a:moveTo>
                        <a:pt x="0" y="71438"/>
                      </a:moveTo>
                      <a:lnTo>
                        <a:pt x="0" y="47625"/>
                      </a:lnTo>
                      <a:cubicBezTo>
                        <a:pt x="0" y="21322"/>
                        <a:pt x="21322" y="0"/>
                        <a:pt x="47625" y="0"/>
                      </a:cubicBezTo>
                      <a:lnTo>
                        <a:pt x="95250" y="0"/>
                      </a:lnTo>
                    </a:path>
                  </a:pathLst>
                </a:custGeom>
                <a:noFill/>
                <a:ln w="17859">
                  <a:solidFill>
                    <a:srgbClr val="841600"/>
                  </a:solidFill>
                </a:ln>
              </p:spPr>
            </p:sp>
            <p:sp>
              <p:nvSpPr>
                <p:cNvPr id="180" name="Freeform 180"/>
                <p:cNvSpPr/>
                <p:nvPr/>
              </p:nvSpPr>
              <p:spPr>
                <a:xfrm>
                  <a:off x="1016794" y="6050756"/>
                  <a:ext cx="71438" cy="47625"/>
                </a:xfrm>
                <a:custGeom>
                  <a:avLst/>
                  <a:gdLst/>
                  <a:ahLst/>
                  <a:cxnLst/>
                  <a:rect l="l" t="t" r="r" b="b"/>
                  <a:pathLst>
                    <a:path w="71438" h="47625">
                      <a:moveTo>
                        <a:pt x="0" y="23812"/>
                      </a:moveTo>
                      <a:lnTo>
                        <a:pt x="23812" y="47625"/>
                      </a:lnTo>
                      <a:lnTo>
                        <a:pt x="71438" y="0"/>
                      </a:lnTo>
                    </a:path>
                  </a:pathLst>
                </a:custGeom>
                <a:noFill/>
                <a:ln w="17859">
                  <a:solidFill>
                    <a:srgbClr val="841600"/>
                  </a:solidFill>
                </a:ln>
              </p:spPr>
            </p:sp>
          </p:grpSp>
          <p:sp>
            <p:nvSpPr>
              <p:cNvPr id="182" name="TextBox 182"/>
              <p:cNvSpPr txBox="1"/>
              <p:nvPr/>
            </p:nvSpPr>
            <p:spPr>
              <a:xfrm>
                <a:off x="1213866" y="5868352"/>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数据质量</a:t>
                </a:r>
              </a:p>
            </p:txBody>
          </p:sp>
          <p:sp>
            <p:nvSpPr>
              <p:cNvPr id="183" name="TextBox 183"/>
              <p:cNvSpPr txBox="1"/>
              <p:nvPr/>
            </p:nvSpPr>
            <p:spPr>
              <a:xfrm>
                <a:off x="1214438" y="6102191"/>
                <a:ext cx="1003021"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责任到人、问题闭环</a:t>
                </a:r>
              </a:p>
            </p:txBody>
          </p:sp>
        </p:grpSp>
        <p:grpSp>
          <p:nvGrpSpPr>
            <p:cNvPr id="194" name="gov-2"/>
            <p:cNvGrpSpPr/>
            <p:nvPr/>
          </p:nvGrpSpPr>
          <p:grpSpPr>
            <a:xfrm>
              <a:off x="2667000" y="5829300"/>
              <a:ext cx="1798359" cy="434816"/>
              <a:chOff x="2667000" y="5829300"/>
              <a:chExt cx="1798359" cy="434816"/>
            </a:xfrm>
          </p:grpSpPr>
          <p:sp>
            <p:nvSpPr>
              <p:cNvPr id="185" name="Rectangle 185"/>
              <p:cNvSpPr/>
              <p:nvPr/>
            </p:nvSpPr>
            <p:spPr>
              <a:xfrm>
                <a:off x="2667000" y="5829300"/>
                <a:ext cx="323850" cy="323850"/>
              </a:xfrm>
              <a:prstGeom prst="roundRect">
                <a:avLst>
                  <a:gd name="adj" fmla="val 17647"/>
                </a:avLst>
              </a:prstGeom>
              <a:solidFill>
                <a:srgbClr val="841600"/>
              </a:solidFill>
              <a:ln>
                <a:noFill/>
              </a:ln>
            </p:spPr>
          </p:sp>
          <p:sp>
            <p:nvSpPr>
              <p:cNvPr id="186" name="TextBox 186"/>
              <p:cNvSpPr txBox="1"/>
              <p:nvPr/>
            </p:nvSpPr>
            <p:spPr>
              <a:xfrm>
                <a:off x="2741961" y="5935028"/>
                <a:ext cx="17392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02</a:t>
                </a:r>
              </a:p>
            </p:txBody>
          </p:sp>
          <p:grpSp>
            <p:nvGrpSpPr>
              <p:cNvPr id="191" name="Group 191"/>
              <p:cNvGrpSpPr/>
              <p:nvPr/>
            </p:nvGrpSpPr>
            <p:grpSpPr>
              <a:xfrm>
                <a:off x="3145631" y="5895975"/>
                <a:ext cx="178595" cy="202406"/>
                <a:chOff x="3145631" y="5895975"/>
                <a:chExt cx="178595" cy="202406"/>
              </a:xfrm>
            </p:grpSpPr>
            <p:sp>
              <p:nvSpPr>
                <p:cNvPr id="187" name="Freeform 187"/>
                <p:cNvSpPr/>
                <p:nvPr/>
              </p:nvSpPr>
              <p:spPr>
                <a:xfrm>
                  <a:off x="3145631" y="5895975"/>
                  <a:ext cx="142875" cy="190500"/>
                </a:xfrm>
                <a:custGeom>
                  <a:avLst/>
                  <a:gdLst/>
                  <a:ahLst/>
                  <a:cxnLst/>
                  <a:rect l="l" t="t" r="r" b="b"/>
                  <a:pathLst>
                    <a:path w="142875" h="190500">
                      <a:moveTo>
                        <a:pt x="54947" y="190500"/>
                      </a:moveTo>
                      <a:lnTo>
                        <a:pt x="23812" y="190500"/>
                      </a:lnTo>
                      <a:cubicBezTo>
                        <a:pt x="10661" y="190500"/>
                        <a:pt x="0" y="179839"/>
                        <a:pt x="0" y="166688"/>
                      </a:cubicBezTo>
                      <a:lnTo>
                        <a:pt x="0" y="23812"/>
                      </a:lnTo>
                      <a:cubicBezTo>
                        <a:pt x="0" y="10661"/>
                        <a:pt x="10661" y="0"/>
                        <a:pt x="23812" y="0"/>
                      </a:cubicBezTo>
                      <a:lnTo>
                        <a:pt x="119062" y="0"/>
                      </a:lnTo>
                      <a:cubicBezTo>
                        <a:pt x="132214" y="0"/>
                        <a:pt x="142875" y="10661"/>
                        <a:pt x="142875" y="23812"/>
                      </a:cubicBezTo>
                      <a:lnTo>
                        <a:pt x="142875" y="119062"/>
                      </a:lnTo>
                    </a:path>
                  </a:pathLst>
                </a:custGeom>
                <a:noFill/>
                <a:ln w="17859">
                  <a:solidFill>
                    <a:srgbClr val="841600"/>
                  </a:solidFill>
                </a:ln>
              </p:spPr>
            </p:sp>
            <p:sp>
              <p:nvSpPr>
                <p:cNvPr id="188" name="Freeform 188"/>
                <p:cNvSpPr/>
                <p:nvPr/>
              </p:nvSpPr>
              <p:spPr>
                <a:xfrm>
                  <a:off x="3252788" y="6050756"/>
                  <a:ext cx="71438" cy="47625"/>
                </a:xfrm>
                <a:custGeom>
                  <a:avLst/>
                  <a:gdLst/>
                  <a:ahLst/>
                  <a:cxnLst/>
                  <a:rect l="l" t="t" r="r" b="b"/>
                  <a:pathLst>
                    <a:path w="71438" h="47625">
                      <a:moveTo>
                        <a:pt x="0" y="23812"/>
                      </a:moveTo>
                      <a:lnTo>
                        <a:pt x="23812" y="47625"/>
                      </a:lnTo>
                      <a:lnTo>
                        <a:pt x="71438" y="0"/>
                      </a:lnTo>
                    </a:path>
                  </a:pathLst>
                </a:custGeom>
                <a:noFill/>
                <a:ln w="17859">
                  <a:solidFill>
                    <a:srgbClr val="841600"/>
                  </a:solidFill>
                </a:ln>
              </p:spPr>
            </p:sp>
            <p:sp>
              <p:nvSpPr>
                <p:cNvPr id="189" name="Freeform 189"/>
                <p:cNvSpPr/>
                <p:nvPr/>
              </p:nvSpPr>
              <p:spPr>
                <a:xfrm>
                  <a:off x="3193256" y="5943600"/>
                  <a:ext cx="47625" cy="9525"/>
                </a:xfrm>
                <a:custGeom>
                  <a:avLst/>
                  <a:gdLst/>
                  <a:ahLst/>
                  <a:cxnLst/>
                  <a:rect l="l" t="t" r="r" b="b"/>
                  <a:pathLst>
                    <a:path w="47625" h="9525">
                      <a:moveTo>
                        <a:pt x="0" y="0"/>
                      </a:moveTo>
                      <a:lnTo>
                        <a:pt x="47625" y="0"/>
                      </a:lnTo>
                    </a:path>
                  </a:pathLst>
                </a:custGeom>
                <a:noFill/>
                <a:ln w="17859">
                  <a:solidFill>
                    <a:srgbClr val="841600"/>
                  </a:solidFill>
                </a:ln>
              </p:spPr>
            </p:sp>
            <p:sp>
              <p:nvSpPr>
                <p:cNvPr id="190" name="Freeform 190"/>
                <p:cNvSpPr/>
                <p:nvPr/>
              </p:nvSpPr>
              <p:spPr>
                <a:xfrm>
                  <a:off x="3193256" y="5991225"/>
                  <a:ext cx="23812" cy="9525"/>
                </a:xfrm>
                <a:custGeom>
                  <a:avLst/>
                  <a:gdLst/>
                  <a:ahLst/>
                  <a:cxnLst/>
                  <a:rect l="l" t="t" r="r" b="b"/>
                  <a:pathLst>
                    <a:path w="23812" h="9525">
                      <a:moveTo>
                        <a:pt x="0" y="0"/>
                      </a:moveTo>
                      <a:lnTo>
                        <a:pt x="23812" y="0"/>
                      </a:lnTo>
                    </a:path>
                  </a:pathLst>
                </a:custGeom>
                <a:noFill/>
                <a:ln w="17859">
                  <a:solidFill>
                    <a:srgbClr val="841600"/>
                  </a:solidFill>
                </a:ln>
              </p:spPr>
            </p:sp>
          </p:grpSp>
          <p:sp>
            <p:nvSpPr>
              <p:cNvPr id="192" name="TextBox 192"/>
              <p:cNvSpPr txBox="1"/>
              <p:nvPr/>
            </p:nvSpPr>
            <p:spPr>
              <a:xfrm>
                <a:off x="3461766" y="5868352"/>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监管报送</a:t>
                </a:r>
              </a:p>
            </p:txBody>
          </p:sp>
          <p:sp>
            <p:nvSpPr>
              <p:cNvPr id="193" name="TextBox 193"/>
              <p:cNvSpPr txBox="1"/>
              <p:nvPr/>
            </p:nvSpPr>
            <p:spPr>
              <a:xfrm>
                <a:off x="3462338" y="6102191"/>
                <a:ext cx="1003021"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口径统一、准时准确</a:t>
                </a:r>
              </a:p>
            </p:txBody>
          </p:sp>
        </p:grpSp>
        <p:grpSp>
          <p:nvGrpSpPr>
            <p:cNvPr id="205" name="gov-3"/>
            <p:cNvGrpSpPr/>
            <p:nvPr/>
          </p:nvGrpSpPr>
          <p:grpSpPr>
            <a:xfrm>
              <a:off x="4762500" y="5829300"/>
              <a:ext cx="1859072" cy="434816"/>
              <a:chOff x="4762500" y="5829300"/>
              <a:chExt cx="1859072" cy="434816"/>
            </a:xfrm>
          </p:grpSpPr>
          <p:sp>
            <p:nvSpPr>
              <p:cNvPr id="195" name="Rectangle 195"/>
              <p:cNvSpPr/>
              <p:nvPr/>
            </p:nvSpPr>
            <p:spPr>
              <a:xfrm>
                <a:off x="4762500" y="5829300"/>
                <a:ext cx="323850" cy="323850"/>
              </a:xfrm>
              <a:prstGeom prst="roundRect">
                <a:avLst>
                  <a:gd name="adj" fmla="val 17647"/>
                </a:avLst>
              </a:prstGeom>
              <a:solidFill>
                <a:srgbClr val="841600"/>
              </a:solidFill>
              <a:ln>
                <a:noFill/>
              </a:ln>
            </p:spPr>
          </p:sp>
          <p:sp>
            <p:nvSpPr>
              <p:cNvPr id="196" name="TextBox 196"/>
              <p:cNvSpPr txBox="1"/>
              <p:nvPr/>
            </p:nvSpPr>
            <p:spPr>
              <a:xfrm>
                <a:off x="4837461" y="5935028"/>
                <a:ext cx="17392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03</a:t>
                </a:r>
              </a:p>
            </p:txBody>
          </p:sp>
          <p:grpSp>
            <p:nvGrpSpPr>
              <p:cNvPr id="202" name="Group 202"/>
              <p:cNvGrpSpPr/>
              <p:nvPr/>
            </p:nvGrpSpPr>
            <p:grpSpPr>
              <a:xfrm>
                <a:off x="5217319" y="5884069"/>
                <a:ext cx="214313" cy="211931"/>
                <a:chOff x="5217319" y="5884069"/>
                <a:chExt cx="214313" cy="211931"/>
              </a:xfrm>
            </p:grpSpPr>
            <p:sp>
              <p:nvSpPr>
                <p:cNvPr id="197" name="Freeform 197"/>
                <p:cNvSpPr/>
                <p:nvPr/>
              </p:nvSpPr>
              <p:spPr>
                <a:xfrm>
                  <a:off x="5264944" y="6086475"/>
                  <a:ext cx="119062" cy="9525"/>
                </a:xfrm>
                <a:custGeom>
                  <a:avLst/>
                  <a:gdLst/>
                  <a:ahLst/>
                  <a:cxnLst/>
                  <a:rect l="l" t="t" r="r" b="b"/>
                  <a:pathLst>
                    <a:path w="119062" h="9525">
                      <a:moveTo>
                        <a:pt x="0" y="0"/>
                      </a:moveTo>
                      <a:lnTo>
                        <a:pt x="119062" y="0"/>
                      </a:lnTo>
                    </a:path>
                  </a:pathLst>
                </a:custGeom>
                <a:noFill/>
                <a:ln w="17859">
                  <a:solidFill>
                    <a:srgbClr val="841600"/>
                  </a:solidFill>
                </a:ln>
              </p:spPr>
            </p:sp>
            <p:sp>
              <p:nvSpPr>
                <p:cNvPr id="198" name="Freeform 198"/>
                <p:cNvSpPr/>
                <p:nvPr/>
              </p:nvSpPr>
              <p:spPr>
                <a:xfrm>
                  <a:off x="5253038" y="5907881"/>
                  <a:ext cx="142875" cy="11906"/>
                </a:xfrm>
                <a:custGeom>
                  <a:avLst/>
                  <a:gdLst/>
                  <a:ahLst/>
                  <a:cxnLst/>
                  <a:rect l="l" t="t" r="r" b="b"/>
                  <a:pathLst>
                    <a:path w="142875" h="11906">
                      <a:moveTo>
                        <a:pt x="0" y="11906"/>
                      </a:moveTo>
                      <a:lnTo>
                        <a:pt x="71438" y="0"/>
                      </a:lnTo>
                      <a:lnTo>
                        <a:pt x="142875" y="11906"/>
                      </a:lnTo>
                    </a:path>
                  </a:pathLst>
                </a:custGeom>
                <a:noFill/>
                <a:ln w="17859">
                  <a:solidFill>
                    <a:srgbClr val="841600"/>
                  </a:solidFill>
                </a:ln>
              </p:spPr>
            </p:sp>
            <p:sp>
              <p:nvSpPr>
                <p:cNvPr id="199" name="Freeform 199"/>
                <p:cNvSpPr/>
                <p:nvPr/>
              </p:nvSpPr>
              <p:spPr>
                <a:xfrm>
                  <a:off x="5324475" y="5884069"/>
                  <a:ext cx="9525" cy="202406"/>
                </a:xfrm>
                <a:custGeom>
                  <a:avLst/>
                  <a:gdLst/>
                  <a:ahLst/>
                  <a:cxnLst/>
                  <a:rect l="l" t="t" r="r" b="b"/>
                  <a:pathLst>
                    <a:path w="9525" h="202406">
                      <a:moveTo>
                        <a:pt x="0" y="0"/>
                      </a:moveTo>
                      <a:lnTo>
                        <a:pt x="0" y="202406"/>
                      </a:lnTo>
                    </a:path>
                  </a:pathLst>
                </a:custGeom>
                <a:noFill/>
                <a:ln w="17859">
                  <a:solidFill>
                    <a:srgbClr val="841600"/>
                  </a:solidFill>
                </a:ln>
              </p:spPr>
            </p:sp>
            <p:sp>
              <p:nvSpPr>
                <p:cNvPr id="200" name="Freeform 200"/>
                <p:cNvSpPr/>
                <p:nvPr/>
              </p:nvSpPr>
              <p:spPr>
                <a:xfrm>
                  <a:off x="5217319" y="5919788"/>
                  <a:ext cx="71438" cy="107156"/>
                </a:xfrm>
                <a:custGeom>
                  <a:avLst/>
                  <a:gdLst/>
                  <a:ahLst/>
                  <a:cxnLst/>
                  <a:rect l="l" t="t" r="r" b="b"/>
                  <a:pathLst>
                    <a:path w="71438" h="107156">
                      <a:moveTo>
                        <a:pt x="71438" y="71438"/>
                      </a:moveTo>
                      <a:lnTo>
                        <a:pt x="35719" y="0"/>
                      </a:lnTo>
                      <a:lnTo>
                        <a:pt x="0" y="71438"/>
                      </a:lnTo>
                      <a:cubicBezTo>
                        <a:pt x="0" y="91164"/>
                        <a:pt x="15992" y="107156"/>
                        <a:pt x="35719" y="107156"/>
                      </a:cubicBezTo>
                      <a:cubicBezTo>
                        <a:pt x="55446" y="107156"/>
                        <a:pt x="71438" y="91164"/>
                        <a:pt x="71438" y="71438"/>
                      </a:cubicBezTo>
                    </a:path>
                  </a:pathLst>
                </a:custGeom>
                <a:noFill/>
                <a:ln w="17859">
                  <a:solidFill>
                    <a:srgbClr val="841600"/>
                  </a:solidFill>
                </a:ln>
              </p:spPr>
            </p:sp>
            <p:sp>
              <p:nvSpPr>
                <p:cNvPr id="201" name="Freeform 201"/>
                <p:cNvSpPr/>
                <p:nvPr/>
              </p:nvSpPr>
              <p:spPr>
                <a:xfrm>
                  <a:off x="5360194" y="5919788"/>
                  <a:ext cx="71438" cy="107156"/>
                </a:xfrm>
                <a:custGeom>
                  <a:avLst/>
                  <a:gdLst/>
                  <a:ahLst/>
                  <a:cxnLst/>
                  <a:rect l="l" t="t" r="r" b="b"/>
                  <a:pathLst>
                    <a:path w="71438" h="107156">
                      <a:moveTo>
                        <a:pt x="71438" y="71438"/>
                      </a:moveTo>
                      <a:lnTo>
                        <a:pt x="35719" y="0"/>
                      </a:lnTo>
                      <a:lnTo>
                        <a:pt x="0" y="71438"/>
                      </a:lnTo>
                      <a:cubicBezTo>
                        <a:pt x="0" y="91164"/>
                        <a:pt x="15992" y="107156"/>
                        <a:pt x="35719" y="107156"/>
                      </a:cubicBezTo>
                      <a:cubicBezTo>
                        <a:pt x="55446" y="107156"/>
                        <a:pt x="71438" y="91164"/>
                        <a:pt x="71438" y="71438"/>
                      </a:cubicBezTo>
                    </a:path>
                  </a:pathLst>
                </a:custGeom>
                <a:noFill/>
                <a:ln w="17859">
                  <a:solidFill>
                    <a:srgbClr val="841600"/>
                  </a:solidFill>
                </a:ln>
              </p:spPr>
            </p:sp>
          </p:grpSp>
          <p:sp>
            <p:nvSpPr>
              <p:cNvPr id="203" name="TextBox 203"/>
              <p:cNvSpPr txBox="1"/>
              <p:nvPr/>
            </p:nvSpPr>
            <p:spPr>
              <a:xfrm>
                <a:off x="5557266" y="5868352"/>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需求排序</a:t>
                </a:r>
              </a:p>
            </p:txBody>
          </p:sp>
          <p:sp>
            <p:nvSpPr>
              <p:cNvPr id="204" name="TextBox 204"/>
              <p:cNvSpPr txBox="1"/>
              <p:nvPr/>
            </p:nvSpPr>
            <p:spPr>
              <a:xfrm>
                <a:off x="5557838" y="6102191"/>
                <a:ext cx="1063734" cy="161925"/>
              </a:xfrm>
              <a:prstGeom prst="rect">
                <a:avLst/>
              </a:prstGeom>
              <a:noFill/>
              <a:ln>
                <a:noFill/>
              </a:ln>
            </p:spPr>
            <p:txBody>
              <a:bodyPr wrap="none" lIns="0" tIns="0" rIns="0" bIns="0" anchor="t" anchorCtr="0">
                <a:spAutoFit/>
              </a:bodyPr>
              <a:lstStyle/>
              <a:p>
                <a:pPr algn="l"/>
                <a:r>
                  <a:rPr lang="zh-CN" sz="820" dirty="0">
                    <a:solidFill>
                      <a:srgbClr val="7E605A"/>
                    </a:solidFill>
                    <a:latin typeface="+mn-lt"/>
                    <a:ea typeface="+mn-ea"/>
                    <a:cs typeface="+mn-cs"/>
                  </a:rPr>
                  <a:t>价值×紧迫度二维评审</a:t>
                </a:r>
              </a:p>
            </p:txBody>
          </p:sp>
        </p:grpSp>
        <p:sp>
          <p:nvSpPr>
            <p:cNvPr id="206" name="Line 206"/>
            <p:cNvSpPr/>
            <p:nvPr/>
          </p:nvSpPr>
          <p:spPr>
            <a:xfrm>
              <a:off x="6877050" y="5391150"/>
              <a:ext cx="9525" cy="1104900"/>
            </a:xfrm>
            <a:custGeom>
              <a:avLst/>
              <a:gdLst/>
              <a:ahLst/>
              <a:cxnLst/>
              <a:rect l="l" t="t" r="r" b="b"/>
              <a:pathLst>
                <a:path w="9525" h="1104900">
                  <a:moveTo>
                    <a:pt x="0" y="0"/>
                  </a:moveTo>
                  <a:lnTo>
                    <a:pt x="0" y="1104900"/>
                  </a:lnTo>
                </a:path>
              </a:pathLst>
            </a:custGeom>
            <a:noFill/>
            <a:ln w="9525">
              <a:solidFill>
                <a:srgbClr val="D7E2F2"/>
              </a:solidFill>
            </a:ln>
          </p:spPr>
        </p:sp>
        <p:grpSp>
          <p:nvGrpSpPr>
            <p:cNvPr id="221" name="kpi-availability"/>
            <p:cNvGrpSpPr/>
            <p:nvPr/>
          </p:nvGrpSpPr>
          <p:grpSpPr>
            <a:xfrm>
              <a:off x="7010400" y="5676900"/>
              <a:ext cx="1576811" cy="800100"/>
              <a:chOff x="7010400" y="5676900"/>
              <a:chExt cx="1576811" cy="800100"/>
            </a:xfrm>
          </p:grpSpPr>
          <p:sp>
            <p:nvSpPr>
              <p:cNvPr id="207" name="Rectangle 207"/>
              <p:cNvSpPr/>
              <p:nvPr/>
            </p:nvSpPr>
            <p:spPr>
              <a:xfrm>
                <a:off x="7010400" y="5676900"/>
                <a:ext cx="1524000" cy="800100"/>
              </a:xfrm>
              <a:prstGeom prst="roundRect">
                <a:avLst>
                  <a:gd name="adj" fmla="val 9524"/>
                </a:avLst>
              </a:prstGeom>
              <a:solidFill>
                <a:srgbClr val="EFF5FD"/>
              </a:solidFill>
              <a:ln w="9525">
                <a:solidFill>
                  <a:srgbClr val="D7E2F2"/>
                </a:solidFill>
              </a:ln>
            </p:spPr>
          </p:sp>
          <p:grpSp>
            <p:nvGrpSpPr>
              <p:cNvPr id="218" name="Group 218"/>
              <p:cNvGrpSpPr/>
              <p:nvPr/>
            </p:nvGrpSpPr>
            <p:grpSpPr>
              <a:xfrm>
                <a:off x="7160419" y="5960269"/>
                <a:ext cx="214312" cy="214312"/>
                <a:chOff x="7160419" y="5960269"/>
                <a:chExt cx="214312" cy="214312"/>
              </a:xfrm>
            </p:grpSpPr>
            <p:sp>
              <p:nvSpPr>
                <p:cNvPr id="208" name="Freeform 208"/>
                <p:cNvSpPr/>
                <p:nvPr/>
              </p:nvSpPr>
              <p:spPr>
                <a:xfrm>
                  <a:off x="7184231" y="5984081"/>
                  <a:ext cx="166688" cy="166688"/>
                </a:xfrm>
                <a:custGeom>
                  <a:avLst/>
                  <a:gdLst/>
                  <a:ahLst/>
                  <a:cxnLst/>
                  <a:rect l="l" t="t" r="r" b="b"/>
                  <a:pathLst>
                    <a:path w="166688" h="166688">
                      <a:moveTo>
                        <a:pt x="0" y="11906"/>
                      </a:moveTo>
                      <a:cubicBezTo>
                        <a:pt x="0" y="5331"/>
                        <a:pt x="5331" y="0"/>
                        <a:pt x="11906" y="0"/>
                      </a:cubicBezTo>
                      <a:lnTo>
                        <a:pt x="154781" y="0"/>
                      </a:lnTo>
                      <a:cubicBezTo>
                        <a:pt x="161357" y="0"/>
                        <a:pt x="166688" y="5331"/>
                        <a:pt x="166688" y="11906"/>
                      </a:cubicBezTo>
                      <a:lnTo>
                        <a:pt x="166688" y="154781"/>
                      </a:lnTo>
                      <a:cubicBezTo>
                        <a:pt x="166688" y="161357"/>
                        <a:pt x="161357" y="166688"/>
                        <a:pt x="154781" y="166688"/>
                      </a:cubicBezTo>
                      <a:lnTo>
                        <a:pt x="11906" y="166688"/>
                      </a:lnTo>
                      <a:cubicBezTo>
                        <a:pt x="5331" y="166688"/>
                        <a:pt x="0" y="161357"/>
                        <a:pt x="0" y="154781"/>
                      </a:cubicBezTo>
                      <a:lnTo>
                        <a:pt x="0" y="11906"/>
                      </a:lnTo>
                    </a:path>
                  </a:pathLst>
                </a:custGeom>
                <a:noFill/>
                <a:ln w="17859">
                  <a:solidFill>
                    <a:srgbClr val="841600"/>
                  </a:solidFill>
                </a:ln>
              </p:spPr>
            </p:sp>
            <p:sp>
              <p:nvSpPr>
                <p:cNvPr id="209" name="Freeform 209"/>
                <p:cNvSpPr/>
                <p:nvPr/>
              </p:nvSpPr>
              <p:spPr>
                <a:xfrm>
                  <a:off x="7231856" y="6031706"/>
                  <a:ext cx="71438" cy="71438"/>
                </a:xfrm>
                <a:custGeom>
                  <a:avLst/>
                  <a:gdLst/>
                  <a:ahLst/>
                  <a:cxnLst/>
                  <a:rect l="l" t="t" r="r" b="b"/>
                  <a:pathLst>
                    <a:path w="71438" h="71438">
                      <a:moveTo>
                        <a:pt x="0" y="0"/>
                      </a:moveTo>
                      <a:lnTo>
                        <a:pt x="71438" y="0"/>
                      </a:lnTo>
                      <a:lnTo>
                        <a:pt x="71438" y="71438"/>
                      </a:lnTo>
                      <a:lnTo>
                        <a:pt x="0" y="71438"/>
                      </a:lnTo>
                      <a:lnTo>
                        <a:pt x="0" y="0"/>
                      </a:lnTo>
                    </a:path>
                  </a:pathLst>
                </a:custGeom>
                <a:noFill/>
                <a:ln w="17859">
                  <a:solidFill>
                    <a:srgbClr val="841600"/>
                  </a:solidFill>
                </a:ln>
              </p:spPr>
            </p:sp>
            <p:sp>
              <p:nvSpPr>
                <p:cNvPr id="210" name="Freeform 210"/>
                <p:cNvSpPr/>
                <p:nvPr/>
              </p:nvSpPr>
              <p:spPr>
                <a:xfrm>
                  <a:off x="7160419" y="6043612"/>
                  <a:ext cx="23812" cy="9525"/>
                </a:xfrm>
                <a:custGeom>
                  <a:avLst/>
                  <a:gdLst/>
                  <a:ahLst/>
                  <a:cxnLst/>
                  <a:rect l="l" t="t" r="r" b="b"/>
                  <a:pathLst>
                    <a:path w="23812" h="9525">
                      <a:moveTo>
                        <a:pt x="0" y="0"/>
                      </a:moveTo>
                      <a:lnTo>
                        <a:pt x="23812" y="0"/>
                      </a:lnTo>
                    </a:path>
                  </a:pathLst>
                </a:custGeom>
                <a:noFill/>
                <a:ln w="17859">
                  <a:solidFill>
                    <a:srgbClr val="841600"/>
                  </a:solidFill>
                </a:ln>
              </p:spPr>
            </p:sp>
            <p:sp>
              <p:nvSpPr>
                <p:cNvPr id="211" name="Freeform 211"/>
                <p:cNvSpPr/>
                <p:nvPr/>
              </p:nvSpPr>
              <p:spPr>
                <a:xfrm>
                  <a:off x="7160419" y="6091238"/>
                  <a:ext cx="23812" cy="9525"/>
                </a:xfrm>
                <a:custGeom>
                  <a:avLst/>
                  <a:gdLst/>
                  <a:ahLst/>
                  <a:cxnLst/>
                  <a:rect l="l" t="t" r="r" b="b"/>
                  <a:pathLst>
                    <a:path w="23812" h="9525">
                      <a:moveTo>
                        <a:pt x="0" y="0"/>
                      </a:moveTo>
                      <a:lnTo>
                        <a:pt x="23812" y="0"/>
                      </a:lnTo>
                    </a:path>
                  </a:pathLst>
                </a:custGeom>
                <a:noFill/>
                <a:ln w="17859">
                  <a:solidFill>
                    <a:srgbClr val="841600"/>
                  </a:solidFill>
                </a:ln>
              </p:spPr>
            </p:sp>
            <p:sp>
              <p:nvSpPr>
                <p:cNvPr id="212" name="Freeform 212"/>
                <p:cNvSpPr/>
                <p:nvPr/>
              </p:nvSpPr>
              <p:spPr>
                <a:xfrm>
                  <a:off x="7243762" y="5960269"/>
                  <a:ext cx="9525" cy="23812"/>
                </a:xfrm>
                <a:custGeom>
                  <a:avLst/>
                  <a:gdLst/>
                  <a:ahLst/>
                  <a:cxnLst/>
                  <a:rect l="l" t="t" r="r" b="b"/>
                  <a:pathLst>
                    <a:path w="9525" h="23812">
                      <a:moveTo>
                        <a:pt x="0" y="0"/>
                      </a:moveTo>
                      <a:lnTo>
                        <a:pt x="0" y="23812"/>
                      </a:lnTo>
                    </a:path>
                  </a:pathLst>
                </a:custGeom>
                <a:noFill/>
                <a:ln w="17859">
                  <a:solidFill>
                    <a:srgbClr val="841600"/>
                  </a:solidFill>
                </a:ln>
              </p:spPr>
            </p:sp>
            <p:sp>
              <p:nvSpPr>
                <p:cNvPr id="213" name="Freeform 213"/>
                <p:cNvSpPr/>
                <p:nvPr/>
              </p:nvSpPr>
              <p:spPr>
                <a:xfrm>
                  <a:off x="7291388" y="5960269"/>
                  <a:ext cx="9525" cy="23812"/>
                </a:xfrm>
                <a:custGeom>
                  <a:avLst/>
                  <a:gdLst/>
                  <a:ahLst/>
                  <a:cxnLst/>
                  <a:rect l="l" t="t" r="r" b="b"/>
                  <a:pathLst>
                    <a:path w="9525" h="23812">
                      <a:moveTo>
                        <a:pt x="0" y="0"/>
                      </a:moveTo>
                      <a:lnTo>
                        <a:pt x="0" y="23812"/>
                      </a:lnTo>
                    </a:path>
                  </a:pathLst>
                </a:custGeom>
                <a:noFill/>
                <a:ln w="17859">
                  <a:solidFill>
                    <a:srgbClr val="841600"/>
                  </a:solidFill>
                </a:ln>
              </p:spPr>
            </p:sp>
            <p:sp>
              <p:nvSpPr>
                <p:cNvPr id="214" name="Freeform 214"/>
                <p:cNvSpPr/>
                <p:nvPr/>
              </p:nvSpPr>
              <p:spPr>
                <a:xfrm>
                  <a:off x="7350919" y="6043612"/>
                  <a:ext cx="23812" cy="9525"/>
                </a:xfrm>
                <a:custGeom>
                  <a:avLst/>
                  <a:gdLst/>
                  <a:ahLst/>
                  <a:cxnLst/>
                  <a:rect l="l" t="t" r="r" b="b"/>
                  <a:pathLst>
                    <a:path w="23812" h="9525">
                      <a:moveTo>
                        <a:pt x="23812" y="0"/>
                      </a:moveTo>
                      <a:lnTo>
                        <a:pt x="0" y="0"/>
                      </a:lnTo>
                    </a:path>
                  </a:pathLst>
                </a:custGeom>
                <a:noFill/>
                <a:ln w="17859">
                  <a:solidFill>
                    <a:srgbClr val="841600"/>
                  </a:solidFill>
                </a:ln>
              </p:spPr>
            </p:sp>
            <p:sp>
              <p:nvSpPr>
                <p:cNvPr id="215" name="Freeform 215"/>
                <p:cNvSpPr/>
                <p:nvPr/>
              </p:nvSpPr>
              <p:spPr>
                <a:xfrm>
                  <a:off x="7350919" y="6091238"/>
                  <a:ext cx="23812" cy="9525"/>
                </a:xfrm>
                <a:custGeom>
                  <a:avLst/>
                  <a:gdLst/>
                  <a:ahLst/>
                  <a:cxnLst/>
                  <a:rect l="l" t="t" r="r" b="b"/>
                  <a:pathLst>
                    <a:path w="23812" h="9525">
                      <a:moveTo>
                        <a:pt x="23812" y="0"/>
                      </a:moveTo>
                      <a:lnTo>
                        <a:pt x="0" y="0"/>
                      </a:lnTo>
                    </a:path>
                  </a:pathLst>
                </a:custGeom>
                <a:noFill/>
                <a:ln w="17859">
                  <a:solidFill>
                    <a:srgbClr val="841600"/>
                  </a:solidFill>
                </a:ln>
              </p:spPr>
            </p:sp>
            <p:sp>
              <p:nvSpPr>
                <p:cNvPr id="216" name="Freeform 216"/>
                <p:cNvSpPr/>
                <p:nvPr/>
              </p:nvSpPr>
              <p:spPr>
                <a:xfrm>
                  <a:off x="7291388" y="6150769"/>
                  <a:ext cx="9525" cy="23812"/>
                </a:xfrm>
                <a:custGeom>
                  <a:avLst/>
                  <a:gdLst/>
                  <a:ahLst/>
                  <a:cxnLst/>
                  <a:rect l="l" t="t" r="r" b="b"/>
                  <a:pathLst>
                    <a:path w="9525" h="23812">
                      <a:moveTo>
                        <a:pt x="0" y="23812"/>
                      </a:moveTo>
                      <a:lnTo>
                        <a:pt x="0" y="0"/>
                      </a:lnTo>
                    </a:path>
                  </a:pathLst>
                </a:custGeom>
                <a:noFill/>
                <a:ln w="17859">
                  <a:solidFill>
                    <a:srgbClr val="841600"/>
                  </a:solidFill>
                </a:ln>
              </p:spPr>
            </p:sp>
            <p:sp>
              <p:nvSpPr>
                <p:cNvPr id="217" name="Freeform 217"/>
                <p:cNvSpPr/>
                <p:nvPr/>
              </p:nvSpPr>
              <p:spPr>
                <a:xfrm>
                  <a:off x="7243762" y="6150769"/>
                  <a:ext cx="9525" cy="23812"/>
                </a:xfrm>
                <a:custGeom>
                  <a:avLst/>
                  <a:gdLst/>
                  <a:ahLst/>
                  <a:cxnLst/>
                  <a:rect l="l" t="t" r="r" b="b"/>
                  <a:pathLst>
                    <a:path w="9525" h="23812">
                      <a:moveTo>
                        <a:pt x="0" y="23812"/>
                      </a:moveTo>
                      <a:lnTo>
                        <a:pt x="0" y="0"/>
                      </a:lnTo>
                    </a:path>
                  </a:pathLst>
                </a:custGeom>
                <a:noFill/>
                <a:ln w="17859">
                  <a:solidFill>
                    <a:srgbClr val="841600"/>
                  </a:solidFill>
                </a:ln>
              </p:spPr>
            </p:sp>
          </p:grpSp>
          <p:sp>
            <p:nvSpPr>
              <p:cNvPr id="219" name="TextBox 219"/>
              <p:cNvSpPr txBox="1"/>
              <p:nvPr/>
            </p:nvSpPr>
            <p:spPr>
              <a:xfrm>
                <a:off x="7519988" y="5865495"/>
                <a:ext cx="615315"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系统可用率</a:t>
                </a:r>
              </a:p>
            </p:txBody>
          </p:sp>
          <p:sp>
            <p:nvSpPr>
              <p:cNvPr id="220" name="TextBox 220"/>
              <p:cNvSpPr txBox="1"/>
              <p:nvPr/>
            </p:nvSpPr>
            <p:spPr>
              <a:xfrm>
                <a:off x="7515606" y="6111240"/>
                <a:ext cx="1071605" cy="352044"/>
              </a:xfrm>
              <a:prstGeom prst="rect">
                <a:avLst/>
              </a:prstGeom>
              <a:noFill/>
              <a:ln>
                <a:noFill/>
              </a:ln>
            </p:spPr>
            <p:txBody>
              <a:bodyPr wrap="none" lIns="0" tIns="0" rIns="0" bIns="0" anchor="t" anchorCtr="0">
                <a:spAutoFit/>
              </a:bodyPr>
              <a:lstStyle/>
              <a:p>
                <a:pPr algn="l"/>
                <a:r>
                  <a:rPr lang="zh-CN" sz="1800" b="1" dirty="0">
                    <a:solidFill>
                      <a:srgbClr val="841600"/>
                    </a:solidFill>
                    <a:latin typeface="+mn-lt"/>
                    <a:ea typeface="+mn-ea"/>
                    <a:cs typeface="+mn-cs"/>
                  </a:rPr>
                  <a:t>99.95</a:t>
                </a:r>
                <a:r>
                  <a:rPr lang="zh-CN" sz="1050" b="1" dirty="0">
                    <a:solidFill>
                      <a:srgbClr val="841600"/>
                    </a:solidFill>
                    <a:latin typeface="+mn-lt"/>
                    <a:ea typeface="+mn-ea"/>
                    <a:cs typeface="+mn-cs"/>
                  </a:rPr>
                  <a:t>%</a:t>
                </a:r>
                <a:r>
                  <a:rPr lang="zh-CN" sz="1800" b="1" dirty="0">
                    <a:solidFill>
                      <a:srgbClr val="841600"/>
                    </a:solidFill>
                    <a:latin typeface="+mn-lt"/>
                    <a:ea typeface="+mn-ea"/>
                    <a:cs typeface="+mn-cs"/>
                  </a:rPr>
                  <a:t xml:space="preserve">　</a:t>
                </a:r>
              </a:p>
            </p:txBody>
          </p:sp>
        </p:grpSp>
        <p:grpSp>
          <p:nvGrpSpPr>
            <p:cNvPr id="232" name="kpi-delivery"/>
            <p:cNvGrpSpPr/>
            <p:nvPr/>
          </p:nvGrpSpPr>
          <p:grpSpPr>
            <a:xfrm>
              <a:off x="8629650" y="5676900"/>
              <a:ext cx="1524000" cy="800100"/>
              <a:chOff x="8629650" y="5676900"/>
              <a:chExt cx="1524000" cy="800100"/>
            </a:xfrm>
          </p:grpSpPr>
          <p:sp>
            <p:nvSpPr>
              <p:cNvPr id="222" name="Rectangle 222"/>
              <p:cNvSpPr/>
              <p:nvPr/>
            </p:nvSpPr>
            <p:spPr>
              <a:xfrm>
                <a:off x="8629650" y="5676900"/>
                <a:ext cx="1524000" cy="800100"/>
              </a:xfrm>
              <a:prstGeom prst="roundRect">
                <a:avLst>
                  <a:gd name="adj" fmla="val 9524"/>
                </a:avLst>
              </a:prstGeom>
              <a:solidFill>
                <a:srgbClr val="EFF5FD"/>
              </a:solidFill>
              <a:ln w="9525">
                <a:solidFill>
                  <a:srgbClr val="D7E2F2"/>
                </a:solidFill>
              </a:ln>
            </p:spPr>
          </p:sp>
          <p:grpSp>
            <p:nvGrpSpPr>
              <p:cNvPr id="229" name="Group 229"/>
              <p:cNvGrpSpPr/>
              <p:nvPr/>
            </p:nvGrpSpPr>
            <p:grpSpPr>
              <a:xfrm>
                <a:off x="8791575" y="5960269"/>
                <a:ext cx="190500" cy="214312"/>
                <a:chOff x="8791575" y="5960269"/>
                <a:chExt cx="190500" cy="214312"/>
              </a:xfrm>
            </p:grpSpPr>
            <p:sp>
              <p:nvSpPr>
                <p:cNvPr id="223" name="Freeform 223"/>
                <p:cNvSpPr/>
                <p:nvPr/>
              </p:nvSpPr>
              <p:spPr>
                <a:xfrm>
                  <a:off x="8791575" y="5984081"/>
                  <a:ext cx="190500" cy="190500"/>
                </a:xfrm>
                <a:custGeom>
                  <a:avLst/>
                  <a:gdLst/>
                  <a:ahLst/>
                  <a:cxnLst/>
                  <a:rect l="l" t="t" r="r" b="b"/>
                  <a:pathLst>
                    <a:path w="190500" h="190500">
                      <a:moveTo>
                        <a:pt x="0" y="23812"/>
                      </a:moveTo>
                      <a:cubicBezTo>
                        <a:pt x="0" y="10661"/>
                        <a:pt x="10661" y="0"/>
                        <a:pt x="23812" y="0"/>
                      </a:cubicBezTo>
                      <a:lnTo>
                        <a:pt x="166688" y="0"/>
                      </a:lnTo>
                      <a:cubicBezTo>
                        <a:pt x="179839" y="0"/>
                        <a:pt x="190500" y="10661"/>
                        <a:pt x="190500" y="23812"/>
                      </a:cubicBezTo>
                      <a:lnTo>
                        <a:pt x="190500" y="166688"/>
                      </a:lnTo>
                      <a:cubicBezTo>
                        <a:pt x="190500" y="179839"/>
                        <a:pt x="179839" y="190500"/>
                        <a:pt x="166688" y="190500"/>
                      </a:cubicBezTo>
                      <a:lnTo>
                        <a:pt x="23812" y="190500"/>
                      </a:lnTo>
                      <a:cubicBezTo>
                        <a:pt x="10661" y="190500"/>
                        <a:pt x="0" y="179839"/>
                        <a:pt x="0" y="166688"/>
                      </a:cubicBezTo>
                      <a:lnTo>
                        <a:pt x="0" y="23812"/>
                      </a:lnTo>
                    </a:path>
                  </a:pathLst>
                </a:custGeom>
                <a:noFill/>
                <a:ln w="17859">
                  <a:solidFill>
                    <a:srgbClr val="841600"/>
                  </a:solidFill>
                </a:ln>
              </p:spPr>
            </p:sp>
            <p:sp>
              <p:nvSpPr>
                <p:cNvPr id="224" name="Freeform 224"/>
                <p:cNvSpPr/>
                <p:nvPr/>
              </p:nvSpPr>
              <p:spPr>
                <a:xfrm>
                  <a:off x="8934450" y="5960269"/>
                  <a:ext cx="9525" cy="47625"/>
                </a:xfrm>
                <a:custGeom>
                  <a:avLst/>
                  <a:gdLst/>
                  <a:ahLst/>
                  <a:cxnLst/>
                  <a:rect l="l" t="t" r="r" b="b"/>
                  <a:pathLst>
                    <a:path w="9525" h="47625">
                      <a:moveTo>
                        <a:pt x="0" y="0"/>
                      </a:moveTo>
                      <a:lnTo>
                        <a:pt x="0" y="47625"/>
                      </a:lnTo>
                    </a:path>
                  </a:pathLst>
                </a:custGeom>
                <a:noFill/>
                <a:ln w="17859">
                  <a:solidFill>
                    <a:srgbClr val="841600"/>
                  </a:solidFill>
                </a:ln>
              </p:spPr>
            </p:sp>
            <p:sp>
              <p:nvSpPr>
                <p:cNvPr id="225" name="Freeform 225"/>
                <p:cNvSpPr/>
                <p:nvPr/>
              </p:nvSpPr>
              <p:spPr>
                <a:xfrm>
                  <a:off x="8839200" y="5960269"/>
                  <a:ext cx="9525" cy="47625"/>
                </a:xfrm>
                <a:custGeom>
                  <a:avLst/>
                  <a:gdLst/>
                  <a:ahLst/>
                  <a:cxnLst/>
                  <a:rect l="l" t="t" r="r" b="b"/>
                  <a:pathLst>
                    <a:path w="9525" h="47625">
                      <a:moveTo>
                        <a:pt x="0" y="0"/>
                      </a:moveTo>
                      <a:lnTo>
                        <a:pt x="0" y="47625"/>
                      </a:lnTo>
                    </a:path>
                  </a:pathLst>
                </a:custGeom>
                <a:noFill/>
                <a:ln w="17859">
                  <a:solidFill>
                    <a:srgbClr val="841600"/>
                  </a:solidFill>
                </a:ln>
              </p:spPr>
            </p:sp>
            <p:sp>
              <p:nvSpPr>
                <p:cNvPr id="226" name="Freeform 226"/>
                <p:cNvSpPr/>
                <p:nvPr/>
              </p:nvSpPr>
              <p:spPr>
                <a:xfrm>
                  <a:off x="8791575" y="6055519"/>
                  <a:ext cx="190500" cy="9525"/>
                </a:xfrm>
                <a:custGeom>
                  <a:avLst/>
                  <a:gdLst/>
                  <a:ahLst/>
                  <a:cxnLst/>
                  <a:rect l="l" t="t" r="r" b="b"/>
                  <a:pathLst>
                    <a:path w="190500" h="9525">
                      <a:moveTo>
                        <a:pt x="0" y="0"/>
                      </a:moveTo>
                      <a:lnTo>
                        <a:pt x="190500" y="0"/>
                      </a:lnTo>
                    </a:path>
                  </a:pathLst>
                </a:custGeom>
                <a:noFill/>
                <a:ln w="17859">
                  <a:solidFill>
                    <a:srgbClr val="841600"/>
                  </a:solidFill>
                </a:ln>
              </p:spPr>
            </p:sp>
            <p:sp>
              <p:nvSpPr>
                <p:cNvPr id="227" name="Freeform 227"/>
                <p:cNvSpPr/>
                <p:nvPr/>
              </p:nvSpPr>
              <p:spPr>
                <a:xfrm>
                  <a:off x="8874919" y="6103144"/>
                  <a:ext cx="11906" cy="9525"/>
                </a:xfrm>
                <a:custGeom>
                  <a:avLst/>
                  <a:gdLst/>
                  <a:ahLst/>
                  <a:cxnLst/>
                  <a:rect l="l" t="t" r="r" b="b"/>
                  <a:pathLst>
                    <a:path w="11906" h="9525">
                      <a:moveTo>
                        <a:pt x="0" y="0"/>
                      </a:moveTo>
                      <a:lnTo>
                        <a:pt x="11906" y="0"/>
                      </a:lnTo>
                    </a:path>
                  </a:pathLst>
                </a:custGeom>
                <a:noFill/>
                <a:ln w="17859">
                  <a:solidFill>
                    <a:srgbClr val="841600"/>
                  </a:solidFill>
                </a:ln>
              </p:spPr>
            </p:sp>
            <p:sp>
              <p:nvSpPr>
                <p:cNvPr id="228" name="Freeform 228"/>
                <p:cNvSpPr/>
                <p:nvPr/>
              </p:nvSpPr>
              <p:spPr>
                <a:xfrm>
                  <a:off x="8886825" y="6103144"/>
                  <a:ext cx="9525" cy="35719"/>
                </a:xfrm>
                <a:custGeom>
                  <a:avLst/>
                  <a:gdLst/>
                  <a:ahLst/>
                  <a:cxnLst/>
                  <a:rect l="l" t="t" r="r" b="b"/>
                  <a:pathLst>
                    <a:path w="9525" h="35719">
                      <a:moveTo>
                        <a:pt x="0" y="0"/>
                      </a:moveTo>
                      <a:lnTo>
                        <a:pt x="0" y="35719"/>
                      </a:lnTo>
                    </a:path>
                  </a:pathLst>
                </a:custGeom>
                <a:noFill/>
                <a:ln w="17859">
                  <a:solidFill>
                    <a:srgbClr val="841600"/>
                  </a:solidFill>
                </a:ln>
              </p:spPr>
            </p:sp>
          </p:grpSp>
          <p:sp>
            <p:nvSpPr>
              <p:cNvPr id="230" name="TextBox 230"/>
              <p:cNvSpPr txBox="1"/>
              <p:nvPr/>
            </p:nvSpPr>
            <p:spPr>
              <a:xfrm>
                <a:off x="9139238" y="5865495"/>
                <a:ext cx="736473"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需求按期交付</a:t>
                </a:r>
              </a:p>
            </p:txBody>
          </p:sp>
          <p:sp>
            <p:nvSpPr>
              <p:cNvPr id="231" name="TextBox 231"/>
              <p:cNvSpPr txBox="1"/>
              <p:nvPr/>
            </p:nvSpPr>
            <p:spPr>
              <a:xfrm>
                <a:off x="9134856" y="6111240"/>
                <a:ext cx="791730" cy="352044"/>
              </a:xfrm>
              <a:prstGeom prst="rect">
                <a:avLst/>
              </a:prstGeom>
              <a:noFill/>
              <a:ln>
                <a:noFill/>
              </a:ln>
            </p:spPr>
            <p:txBody>
              <a:bodyPr wrap="none" lIns="0" tIns="0" rIns="0" bIns="0" anchor="t" anchorCtr="0">
                <a:spAutoFit/>
              </a:bodyPr>
              <a:lstStyle/>
              <a:p>
                <a:pPr algn="l"/>
                <a:r>
                  <a:rPr lang="zh-CN" sz="1800" b="1" dirty="0">
                    <a:solidFill>
                      <a:srgbClr val="841600"/>
                    </a:solidFill>
                    <a:latin typeface="+mn-lt"/>
                    <a:ea typeface="+mn-ea"/>
                    <a:cs typeface="+mn-cs"/>
                  </a:rPr>
                  <a:t>≥90</a:t>
                </a:r>
                <a:r>
                  <a:rPr lang="zh-CN" sz="1050" b="1" dirty="0">
                    <a:solidFill>
                      <a:srgbClr val="841600"/>
                    </a:solidFill>
                    <a:latin typeface="+mn-lt"/>
                    <a:ea typeface="+mn-ea"/>
                    <a:cs typeface="+mn-cs"/>
                  </a:rPr>
                  <a:t>%</a:t>
                </a:r>
                <a:r>
                  <a:rPr lang="zh-CN" sz="1800" b="1" dirty="0">
                    <a:solidFill>
                      <a:srgbClr val="841600"/>
                    </a:solidFill>
                    <a:latin typeface="+mn-lt"/>
                    <a:ea typeface="+mn-ea"/>
                    <a:cs typeface="+mn-cs"/>
                  </a:rPr>
                  <a:t xml:space="preserve">　</a:t>
                </a:r>
              </a:p>
            </p:txBody>
          </p:sp>
        </p:grpSp>
        <p:grpSp>
          <p:nvGrpSpPr>
            <p:cNvPr id="240" name="kpi-data-quality"/>
            <p:cNvGrpSpPr/>
            <p:nvPr/>
          </p:nvGrpSpPr>
          <p:grpSpPr>
            <a:xfrm>
              <a:off x="10248900" y="5676900"/>
              <a:ext cx="1524000" cy="800100"/>
              <a:chOff x="10248900" y="5676900"/>
              <a:chExt cx="1524000" cy="800100"/>
            </a:xfrm>
          </p:grpSpPr>
          <p:sp>
            <p:nvSpPr>
              <p:cNvPr id="233" name="Rectangle 233"/>
              <p:cNvSpPr/>
              <p:nvPr/>
            </p:nvSpPr>
            <p:spPr>
              <a:xfrm>
                <a:off x="10248900" y="5676900"/>
                <a:ext cx="1524000" cy="800100"/>
              </a:xfrm>
              <a:prstGeom prst="roundRect">
                <a:avLst>
                  <a:gd name="adj" fmla="val 9524"/>
                </a:avLst>
              </a:prstGeom>
              <a:solidFill>
                <a:srgbClr val="EFF5FD"/>
              </a:solidFill>
              <a:ln w="9525">
                <a:solidFill>
                  <a:srgbClr val="D7E2F2"/>
                </a:solidFill>
              </a:ln>
            </p:spPr>
          </p:sp>
          <p:grpSp>
            <p:nvGrpSpPr>
              <p:cNvPr id="237" name="Group 237"/>
              <p:cNvGrpSpPr/>
              <p:nvPr/>
            </p:nvGrpSpPr>
            <p:grpSpPr>
              <a:xfrm>
                <a:off x="10410825" y="5960269"/>
                <a:ext cx="190500" cy="214312"/>
                <a:chOff x="10410825" y="5960269"/>
                <a:chExt cx="190500" cy="214312"/>
              </a:xfrm>
            </p:grpSpPr>
            <p:sp>
              <p:nvSpPr>
                <p:cNvPr id="234" name="Freeform 234"/>
                <p:cNvSpPr/>
                <p:nvPr/>
              </p:nvSpPr>
              <p:spPr>
                <a:xfrm>
                  <a:off x="10410825" y="5960269"/>
                  <a:ext cx="190500" cy="71438"/>
                </a:xfrm>
                <a:custGeom>
                  <a:avLst/>
                  <a:gdLst/>
                  <a:ahLst/>
                  <a:cxnLst/>
                  <a:rect l="l" t="t" r="r" b="b"/>
                  <a:pathLst>
                    <a:path w="190500" h="71438">
                      <a:moveTo>
                        <a:pt x="0" y="35719"/>
                      </a:moveTo>
                      <a:cubicBezTo>
                        <a:pt x="0" y="55446"/>
                        <a:pt x="42645" y="71438"/>
                        <a:pt x="95250" y="71438"/>
                      </a:cubicBezTo>
                      <a:cubicBezTo>
                        <a:pt x="147855" y="71438"/>
                        <a:pt x="190500" y="55446"/>
                        <a:pt x="190500" y="35719"/>
                      </a:cubicBezTo>
                      <a:cubicBezTo>
                        <a:pt x="190500" y="15992"/>
                        <a:pt x="147855" y="0"/>
                        <a:pt x="95250" y="0"/>
                      </a:cubicBezTo>
                      <a:cubicBezTo>
                        <a:pt x="42645" y="0"/>
                        <a:pt x="0" y="15992"/>
                        <a:pt x="0" y="35719"/>
                      </a:cubicBezTo>
                    </a:path>
                  </a:pathLst>
                </a:custGeom>
                <a:noFill/>
                <a:ln w="17859">
                  <a:solidFill>
                    <a:srgbClr val="841600"/>
                  </a:solidFill>
                </a:ln>
              </p:spPr>
            </p:sp>
            <p:sp>
              <p:nvSpPr>
                <p:cNvPr id="235" name="Freeform 235"/>
                <p:cNvSpPr/>
                <p:nvPr/>
              </p:nvSpPr>
              <p:spPr>
                <a:xfrm>
                  <a:off x="10410825" y="5995988"/>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17859">
                  <a:solidFill>
                    <a:srgbClr val="841600"/>
                  </a:solidFill>
                </a:ln>
              </p:spPr>
            </p:sp>
            <p:sp>
              <p:nvSpPr>
                <p:cNvPr id="236" name="Freeform 236"/>
                <p:cNvSpPr/>
                <p:nvPr/>
              </p:nvSpPr>
              <p:spPr>
                <a:xfrm>
                  <a:off x="10410825" y="6067425"/>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17859">
                  <a:solidFill>
                    <a:srgbClr val="841600"/>
                  </a:solidFill>
                </a:ln>
              </p:spPr>
            </p:sp>
          </p:grpSp>
          <p:sp>
            <p:nvSpPr>
              <p:cNvPr id="238" name="TextBox 238"/>
              <p:cNvSpPr txBox="1"/>
              <p:nvPr/>
            </p:nvSpPr>
            <p:spPr>
              <a:xfrm>
                <a:off x="10758488" y="5865495"/>
                <a:ext cx="736473"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关键数据质量</a:t>
                </a:r>
              </a:p>
            </p:txBody>
          </p:sp>
          <p:sp>
            <p:nvSpPr>
              <p:cNvPr id="239" name="TextBox 239"/>
              <p:cNvSpPr txBox="1"/>
              <p:nvPr/>
            </p:nvSpPr>
            <p:spPr>
              <a:xfrm>
                <a:off x="10754106" y="6111240"/>
                <a:ext cx="791730" cy="352044"/>
              </a:xfrm>
              <a:prstGeom prst="rect">
                <a:avLst/>
              </a:prstGeom>
              <a:noFill/>
              <a:ln>
                <a:noFill/>
              </a:ln>
            </p:spPr>
            <p:txBody>
              <a:bodyPr wrap="none" lIns="0" tIns="0" rIns="0" bIns="0" anchor="t" anchorCtr="0">
                <a:spAutoFit/>
              </a:bodyPr>
              <a:lstStyle/>
              <a:p>
                <a:pPr algn="l"/>
                <a:r>
                  <a:rPr lang="zh-CN" sz="1800" b="1" dirty="0">
                    <a:solidFill>
                      <a:srgbClr val="841600"/>
                    </a:solidFill>
                    <a:latin typeface="+mn-lt"/>
                    <a:ea typeface="+mn-ea"/>
                    <a:cs typeface="+mn-cs"/>
                  </a:rPr>
                  <a:t>≥98</a:t>
                </a:r>
                <a:r>
                  <a:rPr lang="zh-CN" sz="1050" b="1" dirty="0">
                    <a:solidFill>
                      <a:srgbClr val="841600"/>
                    </a:solidFill>
                    <a:latin typeface="+mn-lt"/>
                    <a:ea typeface="+mn-ea"/>
                    <a:cs typeface="+mn-cs"/>
                  </a:rPr>
                  <a:t>%</a:t>
                </a:r>
                <a:r>
                  <a:rPr lang="zh-CN" sz="1800" b="1" dirty="0">
                    <a:solidFill>
                      <a:srgbClr val="841600"/>
                    </a:solidFill>
                    <a:latin typeface="+mn-lt"/>
                    <a:ea typeface="+mn-ea"/>
                    <a:cs typeface="+mn-cs"/>
                  </a:rPr>
                  <a:t xml:space="preserve">　</a:t>
                </a:r>
              </a:p>
            </p:txBody>
          </p:sp>
        </p:grpSp>
      </p:gr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16</a:t>
              </a:r>
            </a:p>
          </p:txBody>
        </p:sp>
        <p:sp>
          <p:nvSpPr>
            <p:cNvPr id="4" name="TextBox 4"/>
            <p:cNvSpPr txBox="1"/>
            <p:nvPr/>
          </p:nvSpPr>
          <p:spPr>
            <a:xfrm>
              <a:off x="942594" y="151448"/>
              <a:ext cx="8063484"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计划财务、人力资源与综合保障</a:t>
              </a:r>
              <a:r>
                <a:rPr lang="zh-CN" sz="1950" b="1" dirty="0">
                  <a:solidFill>
                    <a:srgbClr val="1A1A1A"/>
                  </a:solidFill>
                  <a:latin typeface="SimSun"/>
                  <a:ea typeface="SimSun"/>
                  <a:cs typeface="SimSun"/>
                </a:rPr>
                <a:t>｜推动资源向重点业务和一线倾斜</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8" name="page-subtitle"/>
          <p:cNvGrpSpPr/>
          <p:nvPr/>
        </p:nvGrpSpPr>
        <p:grpSpPr>
          <a:xfrm>
            <a:off x="947738" y="664845"/>
            <a:ext cx="4977003" cy="176212"/>
            <a:chOff x="947738" y="664845"/>
            <a:chExt cx="4977003" cy="176212"/>
          </a:xfrm>
        </p:grpSpPr>
        <p:sp>
          <p:nvSpPr>
            <p:cNvPr id="7" name="TextBox 7"/>
            <p:cNvSpPr txBox="1"/>
            <p:nvPr/>
          </p:nvSpPr>
          <p:spPr>
            <a:xfrm>
              <a:off x="947738" y="664845"/>
              <a:ext cx="4977003" cy="176212"/>
            </a:xfrm>
            <a:prstGeom prst="rect">
              <a:avLst/>
            </a:prstGeom>
            <a:noFill/>
            <a:ln>
              <a:noFill/>
            </a:ln>
          </p:spPr>
          <p:txBody>
            <a:bodyPr wrap="none" lIns="0" tIns="0" rIns="0" bIns="0" anchor="t" anchorCtr="0">
              <a:spAutoFit/>
            </a:bodyPr>
            <a:lstStyle/>
            <a:p>
              <a:pPr algn="l"/>
              <a:r>
                <a:rPr lang="zh-CN" sz="900" dirty="0">
                  <a:solidFill>
                    <a:srgbClr val="7E605A"/>
                  </a:solidFill>
                  <a:latin typeface="+mn-lt"/>
                  <a:ea typeface="+mn-ea"/>
                  <a:cs typeface="+mn-cs"/>
                </a:rPr>
                <a:t>坚持目标导向，统筹计划财务、人力资源与综合保障，形成资源协同闭环，服务经营目标达成</a:t>
              </a:r>
            </a:p>
          </p:txBody>
        </p:sp>
      </p:grpSp>
      <p:grpSp>
        <p:nvGrpSpPr>
          <p:cNvPr id="69" name="resource-radial"/>
          <p:cNvGrpSpPr/>
          <p:nvPr/>
        </p:nvGrpSpPr>
        <p:grpSpPr>
          <a:xfrm>
            <a:off x="266700" y="933450"/>
            <a:ext cx="7334250" cy="4267200"/>
            <a:chOff x="266700" y="933450"/>
            <a:chExt cx="7334250" cy="4267200"/>
          </a:xfrm>
        </p:grpSpPr>
        <p:grpSp>
          <p:nvGrpSpPr>
            <p:cNvPr id="20" name="module-budget"/>
            <p:cNvGrpSpPr/>
            <p:nvPr/>
          </p:nvGrpSpPr>
          <p:grpSpPr>
            <a:xfrm>
              <a:off x="2743200" y="933450"/>
              <a:ext cx="2381250" cy="952500"/>
              <a:chOff x="2743200" y="933450"/>
              <a:chExt cx="2381250" cy="952500"/>
            </a:xfrm>
          </p:grpSpPr>
          <p:sp>
            <p:nvSpPr>
              <p:cNvPr id="9" name="Rectangle 9"/>
              <p:cNvSpPr/>
              <p:nvPr/>
            </p:nvSpPr>
            <p:spPr>
              <a:xfrm>
                <a:off x="2743200" y="933450"/>
                <a:ext cx="2381250" cy="952500"/>
              </a:xfrm>
              <a:prstGeom prst="roundRect">
                <a:avLst>
                  <a:gd name="adj" fmla="val 8000"/>
                </a:avLst>
              </a:prstGeom>
              <a:solidFill>
                <a:srgbClr val="FFFFFF"/>
              </a:solidFill>
              <a:ln w="9525">
                <a:solidFill>
                  <a:srgbClr val="D7E2F2"/>
                </a:solidFill>
              </a:ln>
            </p:spPr>
          </p:sp>
          <p:sp>
            <p:nvSpPr>
              <p:cNvPr id="10" name="Ellipse 10"/>
              <p:cNvSpPr/>
              <p:nvPr/>
            </p:nvSpPr>
            <p:spPr>
              <a:xfrm>
                <a:off x="2838450" y="1028700"/>
                <a:ext cx="342900" cy="342900"/>
              </a:xfrm>
              <a:prstGeom prst="ellipse">
                <a:avLst/>
              </a:prstGeom>
              <a:solidFill>
                <a:srgbClr val="841600"/>
              </a:solidFill>
              <a:ln>
                <a:noFill/>
              </a:ln>
            </p:spPr>
          </p:sp>
          <p:grpSp>
            <p:nvGrpSpPr>
              <p:cNvPr id="17" name="Group 17"/>
              <p:cNvGrpSpPr/>
              <p:nvPr/>
            </p:nvGrpSpPr>
            <p:grpSpPr>
              <a:xfrm>
                <a:off x="2942431" y="1140619"/>
                <a:ext cx="130968" cy="116681"/>
                <a:chOff x="2942431" y="1140619"/>
                <a:chExt cx="130968" cy="116681"/>
              </a:xfrm>
            </p:grpSpPr>
            <p:sp>
              <p:nvSpPr>
                <p:cNvPr id="11" name="Freeform 11"/>
                <p:cNvSpPr/>
                <p:nvPr/>
              </p:nvSpPr>
              <p:spPr>
                <a:xfrm>
                  <a:off x="2942431" y="1140619"/>
                  <a:ext cx="31750" cy="19844"/>
                </a:xfrm>
                <a:custGeom>
                  <a:avLst/>
                  <a:gdLst/>
                  <a:ahLst/>
                  <a:cxnLst/>
                  <a:rect l="l" t="t" r="r" b="b"/>
                  <a:pathLst>
                    <a:path w="31750" h="19844">
                      <a:moveTo>
                        <a:pt x="0" y="7937"/>
                      </a:moveTo>
                      <a:lnTo>
                        <a:pt x="11906" y="19844"/>
                      </a:lnTo>
                      <a:lnTo>
                        <a:pt x="31750" y="0"/>
                      </a:lnTo>
                    </a:path>
                  </a:pathLst>
                </a:custGeom>
                <a:noFill/>
                <a:ln w="15875">
                  <a:solidFill>
                    <a:srgbClr val="FFFFFF"/>
                  </a:solidFill>
                </a:ln>
              </p:spPr>
            </p:sp>
            <p:sp>
              <p:nvSpPr>
                <p:cNvPr id="12" name="Freeform 12"/>
                <p:cNvSpPr/>
                <p:nvPr/>
              </p:nvSpPr>
              <p:spPr>
                <a:xfrm>
                  <a:off x="2942431" y="1188244"/>
                  <a:ext cx="31750" cy="19844"/>
                </a:xfrm>
                <a:custGeom>
                  <a:avLst/>
                  <a:gdLst/>
                  <a:ahLst/>
                  <a:cxnLst/>
                  <a:rect l="l" t="t" r="r" b="b"/>
                  <a:pathLst>
                    <a:path w="31750" h="19844">
                      <a:moveTo>
                        <a:pt x="0" y="7937"/>
                      </a:moveTo>
                      <a:lnTo>
                        <a:pt x="11906" y="19844"/>
                      </a:lnTo>
                      <a:lnTo>
                        <a:pt x="31750" y="0"/>
                      </a:lnTo>
                    </a:path>
                  </a:pathLst>
                </a:custGeom>
                <a:noFill/>
                <a:ln w="15875">
                  <a:solidFill>
                    <a:srgbClr val="FFFFFF"/>
                  </a:solidFill>
                </a:ln>
              </p:spPr>
            </p:sp>
            <p:sp>
              <p:nvSpPr>
                <p:cNvPr id="13" name="Freeform 13"/>
                <p:cNvSpPr/>
                <p:nvPr/>
              </p:nvSpPr>
              <p:spPr>
                <a:xfrm>
                  <a:off x="2942431" y="1235869"/>
                  <a:ext cx="31750" cy="19844"/>
                </a:xfrm>
                <a:custGeom>
                  <a:avLst/>
                  <a:gdLst/>
                  <a:ahLst/>
                  <a:cxnLst/>
                  <a:rect l="l" t="t" r="r" b="b"/>
                  <a:pathLst>
                    <a:path w="31750" h="19844">
                      <a:moveTo>
                        <a:pt x="0" y="7937"/>
                      </a:moveTo>
                      <a:lnTo>
                        <a:pt x="11906" y="19844"/>
                      </a:lnTo>
                      <a:lnTo>
                        <a:pt x="31750" y="0"/>
                      </a:lnTo>
                    </a:path>
                  </a:pathLst>
                </a:custGeom>
                <a:noFill/>
                <a:ln w="15875">
                  <a:solidFill>
                    <a:srgbClr val="FFFFFF"/>
                  </a:solidFill>
                </a:ln>
              </p:spPr>
            </p:sp>
            <p:sp>
              <p:nvSpPr>
                <p:cNvPr id="14" name="Freeform 14"/>
                <p:cNvSpPr/>
                <p:nvPr/>
              </p:nvSpPr>
              <p:spPr>
                <a:xfrm>
                  <a:off x="3001962" y="1152525"/>
                  <a:ext cx="71437" cy="9525"/>
                </a:xfrm>
                <a:custGeom>
                  <a:avLst/>
                  <a:gdLst/>
                  <a:ahLst/>
                  <a:cxnLst/>
                  <a:rect l="l" t="t" r="r" b="b"/>
                  <a:pathLst>
                    <a:path w="71437" h="9525">
                      <a:moveTo>
                        <a:pt x="0" y="0"/>
                      </a:moveTo>
                      <a:lnTo>
                        <a:pt x="71437" y="0"/>
                      </a:lnTo>
                    </a:path>
                  </a:pathLst>
                </a:custGeom>
                <a:noFill/>
                <a:ln w="15875">
                  <a:solidFill>
                    <a:srgbClr val="FFFFFF"/>
                  </a:solidFill>
                </a:ln>
              </p:spPr>
            </p:sp>
            <p:sp>
              <p:nvSpPr>
                <p:cNvPr id="15" name="Freeform 15"/>
                <p:cNvSpPr/>
                <p:nvPr/>
              </p:nvSpPr>
              <p:spPr>
                <a:xfrm>
                  <a:off x="3001962" y="1200150"/>
                  <a:ext cx="71437" cy="9525"/>
                </a:xfrm>
                <a:custGeom>
                  <a:avLst/>
                  <a:gdLst/>
                  <a:ahLst/>
                  <a:cxnLst/>
                  <a:rect l="l" t="t" r="r" b="b"/>
                  <a:pathLst>
                    <a:path w="71437" h="9525">
                      <a:moveTo>
                        <a:pt x="0" y="0"/>
                      </a:moveTo>
                      <a:lnTo>
                        <a:pt x="71437" y="0"/>
                      </a:lnTo>
                    </a:path>
                  </a:pathLst>
                </a:custGeom>
                <a:noFill/>
                <a:ln w="15875">
                  <a:solidFill>
                    <a:srgbClr val="FFFFFF"/>
                  </a:solidFill>
                </a:ln>
              </p:spPr>
            </p:sp>
            <p:sp>
              <p:nvSpPr>
                <p:cNvPr id="16" name="Freeform 16"/>
                <p:cNvSpPr/>
                <p:nvPr/>
              </p:nvSpPr>
              <p:spPr>
                <a:xfrm>
                  <a:off x="3001962" y="1247775"/>
                  <a:ext cx="71437" cy="9525"/>
                </a:xfrm>
                <a:custGeom>
                  <a:avLst/>
                  <a:gdLst/>
                  <a:ahLst/>
                  <a:cxnLst/>
                  <a:rect l="l" t="t" r="r" b="b"/>
                  <a:pathLst>
                    <a:path w="71437" h="9525">
                      <a:moveTo>
                        <a:pt x="0" y="0"/>
                      </a:moveTo>
                      <a:lnTo>
                        <a:pt x="71437" y="0"/>
                      </a:lnTo>
                    </a:path>
                  </a:pathLst>
                </a:custGeom>
                <a:noFill/>
                <a:ln w="15875">
                  <a:solidFill>
                    <a:srgbClr val="FFFFFF"/>
                  </a:solidFill>
                </a:ln>
              </p:spPr>
            </p:sp>
          </p:grpSp>
          <p:sp>
            <p:nvSpPr>
              <p:cNvPr id="18" name="TextBox 18"/>
              <p:cNvSpPr txBox="1"/>
              <p:nvPr/>
            </p:nvSpPr>
            <p:spPr>
              <a:xfrm>
                <a:off x="3270123" y="1119664"/>
                <a:ext cx="357581"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预算</a:t>
                </a:r>
              </a:p>
            </p:txBody>
          </p:sp>
          <p:sp>
            <p:nvSpPr>
              <p:cNvPr id="19" name="TextBox 19"/>
              <p:cNvSpPr txBox="1"/>
              <p:nvPr/>
            </p:nvSpPr>
            <p:spPr>
              <a:xfrm>
                <a:off x="2852738" y="1453991"/>
                <a:ext cx="1623695" cy="352425"/>
              </a:xfrm>
              <a:prstGeom prst="rect">
                <a:avLst/>
              </a:prstGeom>
              <a:noFill/>
              <a:ln>
                <a:noFill/>
              </a:ln>
            </p:spPr>
            <p:txBody>
              <a:bodyPr wrap="none" lIns="0" tIns="0" rIns="0" bIns="0" anchor="t" anchorCtr="0">
                <a:spAutoFit/>
              </a:bodyPr>
              <a:lstStyle/>
              <a:p>
                <a:pPr algn="l" marL="88519" indent="-88519">
                  <a:lnSpc>
                    <a:spcPts val="1500"/>
                  </a:lnSpc>
                  <a:buClr>
                    <a:srgbClr val="473633"/>
                  </a:buClr>
                  <a:buSzTx/>
                  <a:buFontTx/>
                  <a:buChar char="•"/>
                </a:pPr>
                <a:r>
                  <a:rPr lang="zh-CN" sz="820" dirty="0">
                    <a:solidFill>
                      <a:srgbClr val="473633"/>
                    </a:solidFill>
                    <a:latin typeface="+mn-lt"/>
                    <a:ea typeface="+mn-ea"/>
                    <a:cs typeface="+mn-cs"/>
                  </a:rPr>
                  <a:t>计划：预算—执行—预测—纠偏</a:t>
                </a:r>
              </a:p>
              <a:p>
                <a:pPr algn="l" marL="88519" indent="-88519">
                  <a:lnSpc>
                    <a:spcPts val="1500"/>
                  </a:lnSpc>
                  <a:buClr>
                    <a:srgbClr val="473633"/>
                  </a:buClr>
                  <a:buSzTx/>
                  <a:buFontTx/>
                  <a:buChar char="•"/>
                </a:pPr>
                <a:r>
                  <a:rPr lang="zh-CN" sz="820" dirty="0">
                    <a:solidFill>
                      <a:srgbClr val="473633"/>
                    </a:solidFill>
                    <a:latin typeface="+mn-lt"/>
                    <a:ea typeface="+mn-ea"/>
                    <a:cs typeface="+mn-cs"/>
                  </a:rPr>
                  <a:t xml:space="preserve">FTP｜成本分摊｜客户盈利分析　</a:t>
                </a:r>
              </a:p>
            </p:txBody>
          </p:sp>
        </p:grpSp>
        <p:sp>
          <p:nvSpPr>
            <p:cNvPr id="21" name="Line 21"/>
            <p:cNvSpPr/>
            <p:nvPr/>
          </p:nvSpPr>
          <p:spPr>
            <a:xfrm>
              <a:off x="3933825" y="1885950"/>
              <a:ext cx="1" cy="609600"/>
            </a:xfrm>
            <a:prstGeom prst="line">
              <a:avLst/>
            </a:prstGeom>
            <a:noFill/>
            <a:ln w="23812">
              <a:solidFill>
                <a:srgbClr val="C9482E"/>
              </a:solidFill>
              <a:tailEnd type="triangle" w="lg" len="lg"/>
            </a:ln>
          </p:spPr>
        </p:sp>
        <p:grpSp>
          <p:nvGrpSpPr>
            <p:cNvPr id="31" name="module-hr"/>
            <p:cNvGrpSpPr/>
            <p:nvPr/>
          </p:nvGrpSpPr>
          <p:grpSpPr>
            <a:xfrm>
              <a:off x="266700" y="2247900"/>
              <a:ext cx="2057400" cy="1619250"/>
              <a:chOff x="266700" y="2247900"/>
              <a:chExt cx="2057400" cy="1619250"/>
            </a:xfrm>
          </p:grpSpPr>
          <p:sp>
            <p:nvSpPr>
              <p:cNvPr id="22" name="Rectangle 22"/>
              <p:cNvSpPr/>
              <p:nvPr/>
            </p:nvSpPr>
            <p:spPr>
              <a:xfrm>
                <a:off x="266700" y="2247900"/>
                <a:ext cx="2057400" cy="1619250"/>
              </a:xfrm>
              <a:prstGeom prst="roundRect">
                <a:avLst>
                  <a:gd name="adj" fmla="val 4706"/>
                </a:avLst>
              </a:prstGeom>
              <a:solidFill>
                <a:srgbClr val="FFFFFF"/>
              </a:solidFill>
              <a:ln w="9525">
                <a:solidFill>
                  <a:srgbClr val="D7E2F2"/>
                </a:solidFill>
              </a:ln>
            </p:spPr>
          </p:sp>
          <p:sp>
            <p:nvSpPr>
              <p:cNvPr id="23" name="Ellipse 23"/>
              <p:cNvSpPr/>
              <p:nvPr/>
            </p:nvSpPr>
            <p:spPr>
              <a:xfrm>
                <a:off x="361950" y="2343150"/>
                <a:ext cx="342900" cy="342900"/>
              </a:xfrm>
              <a:prstGeom prst="ellipse">
                <a:avLst/>
              </a:prstGeom>
              <a:solidFill>
                <a:srgbClr val="841600"/>
              </a:solidFill>
              <a:ln>
                <a:noFill/>
              </a:ln>
            </p:spPr>
          </p:sp>
          <p:grpSp>
            <p:nvGrpSpPr>
              <p:cNvPr id="28" name="Group 28"/>
              <p:cNvGrpSpPr/>
              <p:nvPr/>
            </p:nvGrpSpPr>
            <p:grpSpPr>
              <a:xfrm>
                <a:off x="461962" y="2443162"/>
                <a:ext cx="142875" cy="142875"/>
                <a:chOff x="461962" y="2443162"/>
                <a:chExt cx="142875" cy="142875"/>
              </a:xfrm>
            </p:grpSpPr>
            <p:sp>
              <p:nvSpPr>
                <p:cNvPr id="24" name="Freeform 24"/>
                <p:cNvSpPr/>
                <p:nvPr/>
              </p:nvSpPr>
              <p:spPr>
                <a:xfrm>
                  <a:off x="477837" y="24431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25" name="Freeform 25"/>
                <p:cNvSpPr/>
                <p:nvPr/>
              </p:nvSpPr>
              <p:spPr>
                <a:xfrm>
                  <a:off x="461962" y="25384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26" name="Freeform 26"/>
                <p:cNvSpPr/>
                <p:nvPr/>
              </p:nvSpPr>
              <p:spPr>
                <a:xfrm>
                  <a:off x="565150" y="24441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27" name="Freeform 27"/>
                <p:cNvSpPr/>
                <p:nvPr/>
              </p:nvSpPr>
              <p:spPr>
                <a:xfrm>
                  <a:off x="581025" y="25396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29" name="TextBox 29"/>
              <p:cNvSpPr txBox="1"/>
              <p:nvPr/>
            </p:nvSpPr>
            <p:spPr>
              <a:xfrm>
                <a:off x="793623" y="2434114"/>
                <a:ext cx="357581"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人力</a:t>
                </a:r>
              </a:p>
            </p:txBody>
          </p:sp>
          <p:sp>
            <p:nvSpPr>
              <p:cNvPr id="30" name="TextBox 30"/>
              <p:cNvSpPr txBox="1"/>
              <p:nvPr/>
            </p:nvSpPr>
            <p:spPr>
              <a:xfrm>
                <a:off x="376238" y="2787491"/>
                <a:ext cx="1347724" cy="542925"/>
              </a:xfrm>
              <a:prstGeom prst="rect">
                <a:avLst/>
              </a:prstGeom>
              <a:noFill/>
              <a:ln>
                <a:noFill/>
              </a:ln>
            </p:spPr>
            <p:txBody>
              <a:bodyPr wrap="none" lIns="0" tIns="0" rIns="0" bIns="0" anchor="t" anchorCtr="0">
                <a:spAutoFit/>
              </a:bodyPr>
              <a:lstStyle/>
              <a:p>
                <a:pPr algn="l" marL="88519" indent="-88519">
                  <a:lnSpc>
                    <a:spcPts val="1500"/>
                  </a:lnSpc>
                  <a:buClr>
                    <a:srgbClr val="473633"/>
                  </a:buClr>
                  <a:buSzTx/>
                  <a:buFontTx/>
                  <a:buChar char="•"/>
                </a:pPr>
                <a:r>
                  <a:rPr lang="zh-CN" sz="820" dirty="0">
                    <a:solidFill>
                      <a:srgbClr val="473633"/>
                    </a:solidFill>
                    <a:latin typeface="+mn-lt"/>
                    <a:ea typeface="+mn-ea"/>
                    <a:cs typeface="+mn-cs"/>
                  </a:rPr>
                  <a:t>人力：重点岗位补强</a:t>
                </a:r>
              </a:p>
              <a:p>
                <a:pPr algn="l" marL="88519" indent="-88519">
                  <a:lnSpc>
                    <a:spcPts val="1500"/>
                  </a:lnSpc>
                  <a:buClr>
                    <a:srgbClr val="473633"/>
                  </a:buClr>
                  <a:buSzTx/>
                  <a:buFontTx/>
                  <a:buChar char="•"/>
                </a:pPr>
                <a:r>
                  <a:rPr lang="zh-CN" sz="820" dirty="0">
                    <a:solidFill>
                      <a:srgbClr val="473633"/>
                    </a:solidFill>
                    <a:latin typeface="+mn-lt"/>
                    <a:ea typeface="+mn-ea"/>
                    <a:cs typeface="+mn-cs"/>
                  </a:rPr>
                  <a:t>客户经理与理财经理配置｜</a:t>
                </a:r>
                <a:br/>
                <a:r>
                  <a:rPr lang="zh-CN" sz="820" dirty="0">
                    <a:solidFill>
                      <a:srgbClr val="473633"/>
                    </a:solidFill>
                    <a:latin typeface="+mn-lt"/>
                    <a:ea typeface="+mn-ea"/>
                    <a:cs typeface="+mn-cs"/>
                  </a:rPr>
                  <a:t xml:space="preserve">　绩效考核</a:t>
                </a:r>
              </a:p>
            </p:txBody>
          </p:sp>
        </p:grpSp>
        <p:sp>
          <p:nvSpPr>
            <p:cNvPr id="32" name="Line 32"/>
            <p:cNvSpPr/>
            <p:nvPr/>
          </p:nvSpPr>
          <p:spPr>
            <a:xfrm>
              <a:off x="2324100" y="3048000"/>
              <a:ext cx="209550" cy="1"/>
            </a:xfrm>
            <a:prstGeom prst="line">
              <a:avLst/>
            </a:prstGeom>
            <a:noFill/>
            <a:ln w="23812">
              <a:solidFill>
                <a:srgbClr val="C9482E"/>
              </a:solidFill>
              <a:tailEnd type="triangle" w="lg" len="lg"/>
            </a:ln>
          </p:spPr>
        </p:sp>
        <p:grpSp>
          <p:nvGrpSpPr>
            <p:cNvPr id="43" name="module-expense"/>
            <p:cNvGrpSpPr/>
            <p:nvPr/>
          </p:nvGrpSpPr>
          <p:grpSpPr>
            <a:xfrm>
              <a:off x="5543550" y="2247900"/>
              <a:ext cx="2057400" cy="1428750"/>
              <a:chOff x="5543550" y="2247900"/>
              <a:chExt cx="2057400" cy="1428750"/>
            </a:xfrm>
          </p:grpSpPr>
          <p:sp>
            <p:nvSpPr>
              <p:cNvPr id="33" name="Rectangle 33"/>
              <p:cNvSpPr/>
              <p:nvPr/>
            </p:nvSpPr>
            <p:spPr>
              <a:xfrm>
                <a:off x="5543550" y="2247900"/>
                <a:ext cx="2057400" cy="1428750"/>
              </a:xfrm>
              <a:prstGeom prst="roundRect">
                <a:avLst>
                  <a:gd name="adj" fmla="val 5333"/>
                </a:avLst>
              </a:prstGeom>
              <a:solidFill>
                <a:srgbClr val="FFFFFF"/>
              </a:solidFill>
              <a:ln w="9525">
                <a:solidFill>
                  <a:srgbClr val="D7E2F2"/>
                </a:solidFill>
              </a:ln>
            </p:spPr>
          </p:sp>
          <p:sp>
            <p:nvSpPr>
              <p:cNvPr id="34" name="Ellipse 34"/>
              <p:cNvSpPr/>
              <p:nvPr/>
            </p:nvSpPr>
            <p:spPr>
              <a:xfrm>
                <a:off x="5638800" y="2343150"/>
                <a:ext cx="342900" cy="342900"/>
              </a:xfrm>
              <a:prstGeom prst="ellipse">
                <a:avLst/>
              </a:prstGeom>
              <a:solidFill>
                <a:srgbClr val="841600"/>
              </a:solidFill>
              <a:ln>
                <a:noFill/>
              </a:ln>
            </p:spPr>
          </p:sp>
          <p:grpSp>
            <p:nvGrpSpPr>
              <p:cNvPr id="40" name="Group 40"/>
              <p:cNvGrpSpPr/>
              <p:nvPr/>
            </p:nvGrpSpPr>
            <p:grpSpPr>
              <a:xfrm>
                <a:off x="5738812" y="2442099"/>
                <a:ext cx="142875" cy="143938"/>
                <a:chOff x="5738812" y="2442099"/>
                <a:chExt cx="142875" cy="143938"/>
              </a:xfrm>
            </p:grpSpPr>
            <p:sp>
              <p:nvSpPr>
                <p:cNvPr id="35" name="Freeform 35"/>
                <p:cNvSpPr/>
                <p:nvPr/>
              </p:nvSpPr>
              <p:spPr>
                <a:xfrm>
                  <a:off x="5786437" y="25066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FFFFFF"/>
                  </a:solidFill>
                </a:ln>
              </p:spPr>
            </p:sp>
            <p:sp>
              <p:nvSpPr>
                <p:cNvPr id="36" name="Freeform 36"/>
                <p:cNvSpPr/>
                <p:nvPr/>
              </p:nvSpPr>
              <p:spPr>
                <a:xfrm>
                  <a:off x="5786437" y="25304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FFFFFF"/>
                  </a:solidFill>
                </a:ln>
              </p:spPr>
            </p:sp>
            <p:sp>
              <p:nvSpPr>
                <p:cNvPr id="37" name="Freeform 37"/>
                <p:cNvSpPr/>
                <p:nvPr/>
              </p:nvSpPr>
              <p:spPr>
                <a:xfrm>
                  <a:off x="5738812" y="24420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FFFFFF"/>
                  </a:solidFill>
                </a:ln>
              </p:spPr>
            </p:sp>
            <p:sp>
              <p:nvSpPr>
                <p:cNvPr id="38" name="Freeform 38"/>
                <p:cNvSpPr/>
                <p:nvPr/>
              </p:nvSpPr>
              <p:spPr>
                <a:xfrm>
                  <a:off x="5738812" y="24669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FFFFFF"/>
                  </a:solidFill>
                </a:ln>
              </p:spPr>
            </p:sp>
            <p:sp>
              <p:nvSpPr>
                <p:cNvPr id="39" name="Freeform 39"/>
                <p:cNvSpPr/>
                <p:nvPr/>
              </p:nvSpPr>
              <p:spPr>
                <a:xfrm>
                  <a:off x="5738812" y="25066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FFFFFF"/>
                  </a:solidFill>
                </a:ln>
              </p:spPr>
            </p:sp>
          </p:grpSp>
          <p:sp>
            <p:nvSpPr>
              <p:cNvPr id="41" name="TextBox 41"/>
              <p:cNvSpPr txBox="1"/>
              <p:nvPr/>
            </p:nvSpPr>
            <p:spPr>
              <a:xfrm>
                <a:off x="6070473" y="2434114"/>
                <a:ext cx="357581"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费用</a:t>
                </a:r>
              </a:p>
            </p:txBody>
          </p:sp>
          <p:sp>
            <p:nvSpPr>
              <p:cNvPr id="42" name="TextBox 42"/>
              <p:cNvSpPr txBox="1"/>
              <p:nvPr/>
            </p:nvSpPr>
            <p:spPr>
              <a:xfrm>
                <a:off x="5653088" y="2787491"/>
                <a:ext cx="1035304" cy="352425"/>
              </a:xfrm>
              <a:prstGeom prst="rect">
                <a:avLst/>
              </a:prstGeom>
              <a:noFill/>
              <a:ln>
                <a:noFill/>
              </a:ln>
            </p:spPr>
            <p:txBody>
              <a:bodyPr wrap="none" lIns="0" tIns="0" rIns="0" bIns="0" anchor="t" anchorCtr="0">
                <a:spAutoFit/>
              </a:bodyPr>
              <a:lstStyle/>
              <a:p>
                <a:pPr algn="l" marL="88519" indent="-88519">
                  <a:lnSpc>
                    <a:spcPts val="1500"/>
                  </a:lnSpc>
                  <a:buClr>
                    <a:srgbClr val="473633"/>
                  </a:buClr>
                  <a:buSzTx/>
                  <a:buFontTx/>
                  <a:buChar char="•"/>
                </a:pPr>
                <a:r>
                  <a:rPr lang="zh-CN" sz="820" dirty="0">
                    <a:solidFill>
                      <a:srgbClr val="473633"/>
                    </a:solidFill>
                    <a:latin typeface="+mn-lt"/>
                    <a:ea typeface="+mn-ea"/>
                    <a:cs typeface="+mn-cs"/>
                  </a:rPr>
                  <a:t>费用预算与控制</a:t>
                </a:r>
              </a:p>
              <a:p>
                <a:pPr algn="l" marL="88519" indent="-88519">
                  <a:lnSpc>
                    <a:spcPts val="1500"/>
                  </a:lnSpc>
                  <a:buClr>
                    <a:srgbClr val="473633"/>
                  </a:buClr>
                  <a:buSzTx/>
                  <a:buFontTx/>
                  <a:buChar char="•"/>
                </a:pPr>
                <a:r>
                  <a:rPr lang="zh-CN" sz="820" dirty="0">
                    <a:solidFill>
                      <a:srgbClr val="473633"/>
                    </a:solidFill>
                    <a:latin typeface="+mn-lt"/>
                    <a:ea typeface="+mn-ea"/>
                    <a:cs typeface="+mn-cs"/>
                  </a:rPr>
                  <a:t>费用投向与产出匹配</a:t>
                </a:r>
              </a:p>
            </p:txBody>
          </p:sp>
        </p:grpSp>
        <p:sp>
          <p:nvSpPr>
            <p:cNvPr id="44" name="Line 44"/>
            <p:cNvSpPr/>
            <p:nvPr/>
          </p:nvSpPr>
          <p:spPr>
            <a:xfrm flipH="1">
              <a:off x="5334000" y="3048000"/>
              <a:ext cx="209550" cy="1"/>
            </a:xfrm>
            <a:prstGeom prst="line">
              <a:avLst/>
            </a:prstGeom>
            <a:noFill/>
            <a:ln w="23812">
              <a:solidFill>
                <a:srgbClr val="C9482E"/>
              </a:solidFill>
              <a:tailEnd type="triangle" w="lg" len="lg"/>
            </a:ln>
          </p:spPr>
        </p:sp>
        <p:grpSp>
          <p:nvGrpSpPr>
            <p:cNvPr id="48" name="module-goal"/>
            <p:cNvGrpSpPr/>
            <p:nvPr/>
          </p:nvGrpSpPr>
          <p:grpSpPr>
            <a:xfrm>
              <a:off x="2600325" y="2571750"/>
              <a:ext cx="2667000" cy="952500"/>
              <a:chOff x="2600325" y="2571750"/>
              <a:chExt cx="2667000" cy="952500"/>
            </a:xfrm>
          </p:grpSpPr>
          <p:sp>
            <p:nvSpPr>
              <p:cNvPr id="45" name="Rectangle 45"/>
              <p:cNvSpPr/>
              <p:nvPr/>
            </p:nvSpPr>
            <p:spPr>
              <a:xfrm>
                <a:off x="2600325" y="2571750"/>
                <a:ext cx="2667000" cy="952500"/>
              </a:xfrm>
              <a:prstGeom prst="roundRect">
                <a:avLst>
                  <a:gd name="adj" fmla="val 10000"/>
                </a:avLst>
              </a:prstGeom>
              <a:solidFill>
                <a:srgbClr val="841600"/>
              </a:solidFill>
              <a:ln>
                <a:noFill/>
              </a:ln>
            </p:spPr>
          </p:sp>
          <p:sp>
            <p:nvSpPr>
              <p:cNvPr id="46" name="TextBox 46"/>
              <p:cNvSpPr txBox="1"/>
              <p:nvPr/>
            </p:nvSpPr>
            <p:spPr>
              <a:xfrm>
                <a:off x="3481197" y="2793682"/>
                <a:ext cx="905256"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经营目标</a:t>
                </a:r>
              </a:p>
            </p:txBody>
          </p:sp>
          <p:sp>
            <p:nvSpPr>
              <p:cNvPr id="47" name="TextBox 47"/>
              <p:cNvSpPr txBox="1"/>
              <p:nvPr/>
            </p:nvSpPr>
            <p:spPr>
              <a:xfrm>
                <a:off x="2965801" y="3190399"/>
                <a:ext cx="1936049" cy="190690"/>
              </a:xfrm>
              <a:prstGeom prst="rect">
                <a:avLst/>
              </a:prstGeom>
              <a:noFill/>
              <a:ln>
                <a:noFill/>
              </a:ln>
            </p:spPr>
            <p:txBody>
              <a:bodyPr wrap="none" lIns="0" tIns="0" rIns="0" bIns="0" anchor="t" anchorCtr="0">
                <a:spAutoFit/>
              </a:bodyPr>
              <a:lstStyle/>
              <a:p>
                <a:pPr algn="ctr"/>
                <a:r>
                  <a:rPr lang="zh-CN" sz="980" dirty="0">
                    <a:solidFill>
                      <a:srgbClr val="DCE6F8"/>
                    </a:solidFill>
                    <a:latin typeface="+mn-lt"/>
                    <a:ea typeface="+mn-ea"/>
                    <a:cs typeface="+mn-cs"/>
                  </a:rPr>
                  <a:t>规模 · 结构 · 效益 · 质量 · 客户</a:t>
                </a:r>
              </a:p>
            </p:txBody>
          </p:sp>
        </p:grpSp>
        <p:grpSp>
          <p:nvGrpSpPr>
            <p:cNvPr id="58" name="module-performance"/>
            <p:cNvGrpSpPr/>
            <p:nvPr/>
          </p:nvGrpSpPr>
          <p:grpSpPr>
            <a:xfrm>
              <a:off x="1238250" y="4095750"/>
              <a:ext cx="2476500" cy="1104900"/>
              <a:chOff x="1238250" y="4095750"/>
              <a:chExt cx="2476500" cy="1104900"/>
            </a:xfrm>
          </p:grpSpPr>
          <p:sp>
            <p:nvSpPr>
              <p:cNvPr id="49" name="Rectangle 49"/>
              <p:cNvSpPr/>
              <p:nvPr/>
            </p:nvSpPr>
            <p:spPr>
              <a:xfrm>
                <a:off x="1238250" y="4095750"/>
                <a:ext cx="2476500" cy="1104900"/>
              </a:xfrm>
              <a:prstGeom prst="roundRect">
                <a:avLst>
                  <a:gd name="adj" fmla="val 6897"/>
                </a:avLst>
              </a:prstGeom>
              <a:solidFill>
                <a:srgbClr val="FFFFFF"/>
              </a:solidFill>
              <a:ln w="9525">
                <a:solidFill>
                  <a:srgbClr val="D7E2F2"/>
                </a:solidFill>
              </a:ln>
            </p:spPr>
          </p:sp>
          <p:sp>
            <p:nvSpPr>
              <p:cNvPr id="50" name="Ellipse 50"/>
              <p:cNvSpPr/>
              <p:nvPr/>
            </p:nvSpPr>
            <p:spPr>
              <a:xfrm>
                <a:off x="1333500" y="4191000"/>
                <a:ext cx="342900" cy="342900"/>
              </a:xfrm>
              <a:prstGeom prst="ellipse">
                <a:avLst/>
              </a:prstGeom>
              <a:solidFill>
                <a:srgbClr val="841600"/>
              </a:solidFill>
              <a:ln>
                <a:noFill/>
              </a:ln>
            </p:spPr>
          </p:sp>
          <p:grpSp>
            <p:nvGrpSpPr>
              <p:cNvPr id="55" name="Group 55"/>
              <p:cNvGrpSpPr/>
              <p:nvPr/>
            </p:nvGrpSpPr>
            <p:grpSpPr>
              <a:xfrm>
                <a:off x="1433512" y="4298950"/>
                <a:ext cx="142875" cy="136525"/>
                <a:chOff x="1433512" y="4298950"/>
                <a:chExt cx="142875" cy="136525"/>
              </a:xfrm>
            </p:grpSpPr>
            <p:sp>
              <p:nvSpPr>
                <p:cNvPr id="51" name="Freeform 51"/>
                <p:cNvSpPr/>
                <p:nvPr/>
              </p:nvSpPr>
              <p:spPr>
                <a:xfrm>
                  <a:off x="1433512" y="43624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52" name="Freeform 52"/>
                <p:cNvSpPr/>
                <p:nvPr/>
              </p:nvSpPr>
              <p:spPr>
                <a:xfrm>
                  <a:off x="1528762" y="43307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53" name="Freeform 53"/>
                <p:cNvSpPr/>
                <p:nvPr/>
              </p:nvSpPr>
              <p:spPr>
                <a:xfrm>
                  <a:off x="1481137" y="42989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54" name="Freeform 54"/>
                <p:cNvSpPr/>
                <p:nvPr/>
              </p:nvSpPr>
              <p:spPr>
                <a:xfrm>
                  <a:off x="1441450" y="4425950"/>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56" name="TextBox 56"/>
              <p:cNvSpPr txBox="1"/>
              <p:nvPr/>
            </p:nvSpPr>
            <p:spPr>
              <a:xfrm>
                <a:off x="1765173" y="4281964"/>
                <a:ext cx="357581"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绩效</a:t>
                </a:r>
              </a:p>
            </p:txBody>
          </p:sp>
          <p:sp>
            <p:nvSpPr>
              <p:cNvPr id="57" name="TextBox 57"/>
              <p:cNvSpPr txBox="1"/>
              <p:nvPr/>
            </p:nvSpPr>
            <p:spPr>
              <a:xfrm>
                <a:off x="1347788" y="4635341"/>
                <a:ext cx="1035304" cy="352425"/>
              </a:xfrm>
              <a:prstGeom prst="rect">
                <a:avLst/>
              </a:prstGeom>
              <a:noFill/>
              <a:ln>
                <a:noFill/>
              </a:ln>
            </p:spPr>
            <p:txBody>
              <a:bodyPr wrap="none" lIns="0" tIns="0" rIns="0" bIns="0" anchor="t" anchorCtr="0">
                <a:spAutoFit/>
              </a:bodyPr>
              <a:lstStyle/>
              <a:p>
                <a:pPr algn="l" marL="88519" indent="-88519">
                  <a:lnSpc>
                    <a:spcPts val="1500"/>
                  </a:lnSpc>
                  <a:buClr>
                    <a:srgbClr val="473633"/>
                  </a:buClr>
                  <a:buSzTx/>
                  <a:buFontTx/>
                  <a:buChar char="•"/>
                </a:pPr>
                <a:r>
                  <a:rPr lang="zh-CN" sz="820" dirty="0">
                    <a:solidFill>
                      <a:srgbClr val="473633"/>
                    </a:solidFill>
                    <a:latin typeface="+mn-lt"/>
                    <a:ea typeface="+mn-ea"/>
                    <a:cs typeface="+mn-cs"/>
                  </a:rPr>
                  <a:t>绩效目标分解与考核</a:t>
                </a:r>
              </a:p>
              <a:p>
                <a:pPr algn="l" marL="88519" indent="-88519">
                  <a:lnSpc>
                    <a:spcPts val="1500"/>
                  </a:lnSpc>
                  <a:buClr>
                    <a:srgbClr val="473633"/>
                  </a:buClr>
                  <a:buSzTx/>
                  <a:buFontTx/>
                  <a:buChar char="•"/>
                </a:pPr>
                <a:r>
                  <a:rPr lang="zh-CN" sz="820" dirty="0">
                    <a:solidFill>
                      <a:srgbClr val="473633"/>
                    </a:solidFill>
                    <a:latin typeface="+mn-lt"/>
                    <a:ea typeface="+mn-ea"/>
                    <a:cs typeface="+mn-cs"/>
                  </a:rPr>
                  <a:t>绩效结果应用与激励</a:t>
                </a:r>
              </a:p>
            </p:txBody>
          </p:sp>
        </p:grpSp>
        <p:sp>
          <p:nvSpPr>
            <p:cNvPr id="59" name="Line 59"/>
            <p:cNvSpPr/>
            <p:nvPr/>
          </p:nvSpPr>
          <p:spPr>
            <a:xfrm flipV="1">
              <a:off x="2857500" y="3600450"/>
              <a:ext cx="495300" cy="495300"/>
            </a:xfrm>
            <a:prstGeom prst="line">
              <a:avLst/>
            </a:prstGeom>
            <a:noFill/>
            <a:ln w="23812">
              <a:solidFill>
                <a:srgbClr val="C9482E"/>
              </a:solidFill>
              <a:tailEnd type="triangle" w="lg" len="lg"/>
            </a:ln>
          </p:spPr>
        </p:sp>
        <p:grpSp>
          <p:nvGrpSpPr>
            <p:cNvPr id="67" name="module-admin"/>
            <p:cNvGrpSpPr/>
            <p:nvPr/>
          </p:nvGrpSpPr>
          <p:grpSpPr>
            <a:xfrm>
              <a:off x="3905250" y="4095750"/>
              <a:ext cx="2476500" cy="1104900"/>
              <a:chOff x="3905250" y="4095750"/>
              <a:chExt cx="2476500" cy="1104900"/>
            </a:xfrm>
          </p:grpSpPr>
          <p:sp>
            <p:nvSpPr>
              <p:cNvPr id="60" name="Rectangle 60"/>
              <p:cNvSpPr/>
              <p:nvPr/>
            </p:nvSpPr>
            <p:spPr>
              <a:xfrm>
                <a:off x="3905250" y="4095750"/>
                <a:ext cx="2476500" cy="1104900"/>
              </a:xfrm>
              <a:prstGeom prst="roundRect">
                <a:avLst>
                  <a:gd name="adj" fmla="val 6897"/>
                </a:avLst>
              </a:prstGeom>
              <a:solidFill>
                <a:srgbClr val="FFFFFF"/>
              </a:solidFill>
              <a:ln w="9525">
                <a:solidFill>
                  <a:srgbClr val="D7E2F2"/>
                </a:solidFill>
              </a:ln>
            </p:spPr>
          </p:sp>
          <p:sp>
            <p:nvSpPr>
              <p:cNvPr id="61" name="Ellipse 61"/>
              <p:cNvSpPr/>
              <p:nvPr/>
            </p:nvSpPr>
            <p:spPr>
              <a:xfrm>
                <a:off x="4000500" y="4191000"/>
                <a:ext cx="342900" cy="342900"/>
              </a:xfrm>
              <a:prstGeom prst="ellipse">
                <a:avLst/>
              </a:prstGeom>
              <a:solidFill>
                <a:srgbClr val="841600"/>
              </a:solidFill>
              <a:ln>
                <a:noFill/>
              </a:ln>
            </p:spPr>
          </p:sp>
          <p:grpSp>
            <p:nvGrpSpPr>
              <p:cNvPr id="64" name="Group 64"/>
              <p:cNvGrpSpPr/>
              <p:nvPr/>
            </p:nvGrpSpPr>
            <p:grpSpPr>
              <a:xfrm>
                <a:off x="4089800" y="4291012"/>
                <a:ext cx="155005" cy="142875"/>
                <a:chOff x="4089800" y="4291012"/>
                <a:chExt cx="155005" cy="142875"/>
              </a:xfrm>
            </p:grpSpPr>
            <p:sp>
              <p:nvSpPr>
                <p:cNvPr id="62" name="Freeform 62"/>
                <p:cNvSpPr/>
                <p:nvPr/>
              </p:nvSpPr>
              <p:spPr>
                <a:xfrm>
                  <a:off x="4089800" y="42910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63" name="Freeform 63"/>
                <p:cNvSpPr/>
                <p:nvPr/>
              </p:nvSpPr>
              <p:spPr>
                <a:xfrm>
                  <a:off x="4195762" y="440213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65" name="TextBox 65"/>
              <p:cNvSpPr txBox="1"/>
              <p:nvPr/>
            </p:nvSpPr>
            <p:spPr>
              <a:xfrm>
                <a:off x="4432173" y="4281964"/>
                <a:ext cx="702208" cy="249364"/>
              </a:xfrm>
              <a:prstGeom prst="rect">
                <a:avLst/>
              </a:prstGeom>
              <a:noFill/>
              <a:ln>
                <a:noFill/>
              </a:ln>
            </p:spPr>
            <p:txBody>
              <a:bodyPr wrap="none" lIns="0" tIns="0" rIns="0" bIns="0" anchor="t" anchorCtr="0">
                <a:spAutoFit/>
              </a:bodyPr>
              <a:lstStyle/>
              <a:p>
                <a:pPr algn="l"/>
                <a:r>
                  <a:rPr lang="zh-CN" sz="1280" b="1" dirty="0">
                    <a:solidFill>
                      <a:srgbClr val="841600"/>
                    </a:solidFill>
                    <a:latin typeface="+mn-lt"/>
                    <a:ea typeface="+mn-ea"/>
                    <a:cs typeface="+mn-cs"/>
                  </a:rPr>
                  <a:t>行政保障</a:t>
                </a:r>
              </a:p>
            </p:txBody>
          </p:sp>
          <p:sp>
            <p:nvSpPr>
              <p:cNvPr id="66" name="TextBox 66"/>
              <p:cNvSpPr txBox="1"/>
              <p:nvPr/>
            </p:nvSpPr>
            <p:spPr>
              <a:xfrm>
                <a:off x="4014788" y="4635341"/>
                <a:ext cx="1556004" cy="352425"/>
              </a:xfrm>
              <a:prstGeom prst="rect">
                <a:avLst/>
              </a:prstGeom>
              <a:noFill/>
              <a:ln>
                <a:noFill/>
              </a:ln>
            </p:spPr>
            <p:txBody>
              <a:bodyPr wrap="none" lIns="0" tIns="0" rIns="0" bIns="0" anchor="t" anchorCtr="0">
                <a:spAutoFit/>
              </a:bodyPr>
              <a:lstStyle/>
              <a:p>
                <a:pPr algn="l" marL="88519" indent="-88519">
                  <a:lnSpc>
                    <a:spcPts val="1500"/>
                  </a:lnSpc>
                  <a:buClr>
                    <a:srgbClr val="473633"/>
                  </a:buClr>
                  <a:buSzTx/>
                  <a:buFontTx/>
                  <a:buChar char="•"/>
                </a:pPr>
                <a:r>
                  <a:rPr lang="zh-CN" sz="820" dirty="0">
                    <a:solidFill>
                      <a:srgbClr val="473633"/>
                    </a:solidFill>
                    <a:latin typeface="+mn-lt"/>
                    <a:ea typeface="+mn-ea"/>
                    <a:cs typeface="+mn-cs"/>
                  </a:rPr>
                  <a:t>综合：重大事项协调｜党建融合</a:t>
                </a:r>
              </a:p>
              <a:p>
                <a:pPr algn="l" marL="88519" indent="-88519">
                  <a:lnSpc>
                    <a:spcPts val="1500"/>
                  </a:lnSpc>
                  <a:buClr>
                    <a:srgbClr val="473633"/>
                  </a:buClr>
                  <a:buSzTx/>
                  <a:buFontTx/>
                  <a:buChar char="•"/>
                </a:pPr>
                <a:r>
                  <a:rPr lang="zh-CN" sz="820" dirty="0">
                    <a:solidFill>
                      <a:srgbClr val="473633"/>
                    </a:solidFill>
                    <a:latin typeface="+mn-lt"/>
                    <a:ea typeface="+mn-ea"/>
                    <a:cs typeface="+mn-cs"/>
                  </a:rPr>
                  <a:t>声誉｜安全生产｜应急保障</a:t>
                </a:r>
              </a:p>
            </p:txBody>
          </p:sp>
        </p:grpSp>
        <p:sp>
          <p:nvSpPr>
            <p:cNvPr id="68" name="Line 68"/>
            <p:cNvSpPr/>
            <p:nvPr/>
          </p:nvSpPr>
          <p:spPr>
            <a:xfrm flipH="1" flipV="1">
              <a:off x="4495800" y="3600450"/>
              <a:ext cx="457200" cy="495300"/>
            </a:xfrm>
            <a:prstGeom prst="line">
              <a:avLst/>
            </a:prstGeom>
            <a:noFill/>
            <a:ln w="23812">
              <a:solidFill>
                <a:srgbClr val="C9482E"/>
              </a:solidFill>
              <a:tailEnd type="triangle" w="lg" len="lg"/>
            </a:ln>
          </p:spPr>
        </p:sp>
      </p:grpSp>
      <p:grpSp>
        <p:nvGrpSpPr>
          <p:cNvPr id="110" name="responsibility-matrix"/>
          <p:cNvGrpSpPr/>
          <p:nvPr/>
        </p:nvGrpSpPr>
        <p:grpSpPr>
          <a:xfrm>
            <a:off x="7734300" y="876300"/>
            <a:ext cx="4191000" cy="4457700"/>
            <a:chOff x="7734300" y="876300"/>
            <a:chExt cx="4191000" cy="4457700"/>
          </a:xfrm>
        </p:grpSpPr>
        <p:sp>
          <p:nvSpPr>
            <p:cNvPr id="70" name="Rectangle 70"/>
            <p:cNvSpPr/>
            <p:nvPr/>
          </p:nvSpPr>
          <p:spPr>
            <a:xfrm>
              <a:off x="7734300" y="876300"/>
              <a:ext cx="4191000" cy="4457700"/>
            </a:xfrm>
            <a:prstGeom prst="roundRect">
              <a:avLst>
                <a:gd name="adj" fmla="val 2273"/>
              </a:avLst>
            </a:prstGeom>
            <a:solidFill>
              <a:srgbClr val="FFFFFF"/>
            </a:solidFill>
            <a:ln w="9525">
              <a:solidFill>
                <a:srgbClr val="D7E2F2"/>
              </a:solidFill>
            </a:ln>
          </p:spPr>
        </p:sp>
        <p:sp>
          <p:nvSpPr>
            <p:cNvPr id="71" name="Rectangle 71"/>
            <p:cNvSpPr/>
            <p:nvPr/>
          </p:nvSpPr>
          <p:spPr>
            <a:xfrm>
              <a:off x="7734300" y="876300"/>
              <a:ext cx="4191000" cy="381000"/>
            </a:xfrm>
            <a:prstGeom prst="roundRect">
              <a:avLst>
                <a:gd name="adj" fmla="val 25000"/>
              </a:avLst>
            </a:prstGeom>
            <a:solidFill>
              <a:srgbClr val="841600"/>
            </a:solidFill>
            <a:ln>
              <a:noFill/>
            </a:ln>
          </p:spPr>
        </p:sp>
        <p:sp>
          <p:nvSpPr>
            <p:cNvPr id="72" name="Rectangle 72"/>
            <p:cNvSpPr/>
            <p:nvPr/>
          </p:nvSpPr>
          <p:spPr>
            <a:xfrm>
              <a:off x="7734300" y="1085850"/>
              <a:ext cx="4191000" cy="171450"/>
            </a:xfrm>
            <a:prstGeom prst="rect">
              <a:avLst/>
            </a:prstGeom>
            <a:solidFill>
              <a:srgbClr val="841600"/>
            </a:solidFill>
            <a:ln>
              <a:noFill/>
            </a:ln>
          </p:spPr>
        </p:sp>
        <p:sp>
          <p:nvSpPr>
            <p:cNvPr id="73" name="TextBox 73"/>
            <p:cNvSpPr txBox="1"/>
            <p:nvPr/>
          </p:nvSpPr>
          <p:spPr>
            <a:xfrm>
              <a:off x="9339072" y="100393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部门责任矩阵</a:t>
              </a:r>
            </a:p>
          </p:txBody>
        </p:sp>
        <p:sp>
          <p:nvSpPr>
            <p:cNvPr id="74" name="Rectangle 74"/>
            <p:cNvSpPr/>
            <p:nvPr/>
          </p:nvSpPr>
          <p:spPr>
            <a:xfrm>
              <a:off x="7734300" y="1257300"/>
              <a:ext cx="4191000" cy="361950"/>
            </a:xfrm>
            <a:prstGeom prst="rect">
              <a:avLst/>
            </a:prstGeom>
            <a:solidFill>
              <a:srgbClr val="EFF5FD"/>
            </a:solidFill>
            <a:ln>
              <a:noFill/>
            </a:ln>
          </p:spPr>
        </p:sp>
        <p:sp>
          <p:nvSpPr>
            <p:cNvPr id="75" name="TextBox 75"/>
            <p:cNvSpPr txBox="1"/>
            <p:nvPr/>
          </p:nvSpPr>
          <p:spPr>
            <a:xfrm>
              <a:off x="8340369" y="1390174"/>
              <a:ext cx="273761" cy="190690"/>
            </a:xfrm>
            <a:prstGeom prst="rect">
              <a:avLst/>
            </a:prstGeom>
            <a:noFill/>
            <a:ln>
              <a:noFill/>
            </a:ln>
          </p:spPr>
          <p:txBody>
            <a:bodyPr wrap="none" lIns="0" tIns="0" rIns="0" bIns="0" anchor="t" anchorCtr="0">
              <a:spAutoFit/>
            </a:bodyPr>
            <a:lstStyle/>
            <a:p>
              <a:pPr algn="ctr"/>
              <a:r>
                <a:rPr lang="zh-CN" sz="980" b="1" dirty="0">
                  <a:solidFill>
                    <a:srgbClr val="841600"/>
                  </a:solidFill>
                  <a:latin typeface="+mn-lt"/>
                  <a:ea typeface="+mn-ea"/>
                  <a:cs typeface="+mn-cs"/>
                </a:rPr>
                <a:t>部门</a:t>
              </a:r>
            </a:p>
          </p:txBody>
        </p:sp>
        <p:sp>
          <p:nvSpPr>
            <p:cNvPr id="76" name="TextBox 76"/>
            <p:cNvSpPr txBox="1"/>
            <p:nvPr/>
          </p:nvSpPr>
          <p:spPr>
            <a:xfrm>
              <a:off x="9665767" y="1390174"/>
              <a:ext cx="537616" cy="190690"/>
            </a:xfrm>
            <a:prstGeom prst="rect">
              <a:avLst/>
            </a:prstGeom>
            <a:noFill/>
            <a:ln>
              <a:noFill/>
            </a:ln>
          </p:spPr>
          <p:txBody>
            <a:bodyPr wrap="none" lIns="0" tIns="0" rIns="0" bIns="0" anchor="t" anchorCtr="0">
              <a:spAutoFit/>
            </a:bodyPr>
            <a:lstStyle/>
            <a:p>
              <a:pPr algn="ctr"/>
              <a:r>
                <a:rPr lang="zh-CN" sz="980" b="1" dirty="0">
                  <a:solidFill>
                    <a:srgbClr val="841600"/>
                  </a:solidFill>
                  <a:latin typeface="+mn-lt"/>
                  <a:ea typeface="+mn-ea"/>
                  <a:cs typeface="+mn-cs"/>
                </a:rPr>
                <a:t>牵头事项</a:t>
              </a:r>
            </a:p>
          </p:txBody>
        </p:sp>
        <p:sp>
          <p:nvSpPr>
            <p:cNvPr id="77" name="TextBox 77"/>
            <p:cNvSpPr txBox="1"/>
            <p:nvPr/>
          </p:nvSpPr>
          <p:spPr>
            <a:xfrm>
              <a:off x="11018317" y="1390174"/>
              <a:ext cx="537616" cy="190690"/>
            </a:xfrm>
            <a:prstGeom prst="rect">
              <a:avLst/>
            </a:prstGeom>
            <a:noFill/>
            <a:ln>
              <a:noFill/>
            </a:ln>
          </p:spPr>
          <p:txBody>
            <a:bodyPr wrap="none" lIns="0" tIns="0" rIns="0" bIns="0" anchor="t" anchorCtr="0">
              <a:spAutoFit/>
            </a:bodyPr>
            <a:lstStyle/>
            <a:p>
              <a:pPr algn="ctr"/>
              <a:r>
                <a:rPr lang="zh-CN" sz="980" b="1" dirty="0">
                  <a:solidFill>
                    <a:srgbClr val="841600"/>
                  </a:solidFill>
                  <a:latin typeface="+mn-lt"/>
                  <a:ea typeface="+mn-ea"/>
                  <a:cs typeface="+mn-cs"/>
                </a:rPr>
                <a:t>协同对象</a:t>
              </a:r>
            </a:p>
          </p:txBody>
        </p:sp>
        <p:sp>
          <p:nvSpPr>
            <p:cNvPr id="78" name="Line 78"/>
            <p:cNvSpPr/>
            <p:nvPr/>
          </p:nvSpPr>
          <p:spPr>
            <a:xfrm>
              <a:off x="9220200" y="1257300"/>
              <a:ext cx="9525" cy="4038600"/>
            </a:xfrm>
            <a:custGeom>
              <a:avLst/>
              <a:gdLst/>
              <a:ahLst/>
              <a:cxnLst/>
              <a:rect l="l" t="t" r="r" b="b"/>
              <a:pathLst>
                <a:path w="9525" h="4038600">
                  <a:moveTo>
                    <a:pt x="0" y="0"/>
                  </a:moveTo>
                  <a:lnTo>
                    <a:pt x="0" y="4038600"/>
                  </a:lnTo>
                </a:path>
              </a:pathLst>
            </a:custGeom>
            <a:noFill/>
            <a:ln w="9525">
              <a:solidFill>
                <a:srgbClr val="E5ECF6"/>
              </a:solidFill>
            </a:ln>
          </p:spPr>
        </p:sp>
        <p:sp>
          <p:nvSpPr>
            <p:cNvPr id="79" name="Line 79"/>
            <p:cNvSpPr/>
            <p:nvPr/>
          </p:nvSpPr>
          <p:spPr>
            <a:xfrm>
              <a:off x="10648950" y="1257300"/>
              <a:ext cx="9525" cy="4038600"/>
            </a:xfrm>
            <a:custGeom>
              <a:avLst/>
              <a:gdLst/>
              <a:ahLst/>
              <a:cxnLst/>
              <a:rect l="l" t="t" r="r" b="b"/>
              <a:pathLst>
                <a:path w="9525" h="4038600">
                  <a:moveTo>
                    <a:pt x="0" y="0"/>
                  </a:moveTo>
                  <a:lnTo>
                    <a:pt x="0" y="4038600"/>
                  </a:lnTo>
                </a:path>
              </a:pathLst>
            </a:custGeom>
            <a:noFill/>
            <a:ln w="9525">
              <a:solidFill>
                <a:srgbClr val="E5ECF6"/>
              </a:solidFill>
            </a:ln>
          </p:spPr>
        </p:sp>
        <p:sp>
          <p:nvSpPr>
            <p:cNvPr id="80" name="Line 80"/>
            <p:cNvSpPr/>
            <p:nvPr/>
          </p:nvSpPr>
          <p:spPr>
            <a:xfrm>
              <a:off x="7734300" y="2857500"/>
              <a:ext cx="4191000" cy="9525"/>
            </a:xfrm>
            <a:custGeom>
              <a:avLst/>
              <a:gdLst/>
              <a:ahLst/>
              <a:cxnLst/>
              <a:rect l="l" t="t" r="r" b="b"/>
              <a:pathLst>
                <a:path w="4191000" h="9525">
                  <a:moveTo>
                    <a:pt x="0" y="0"/>
                  </a:moveTo>
                  <a:lnTo>
                    <a:pt x="4191000" y="0"/>
                  </a:lnTo>
                </a:path>
              </a:pathLst>
            </a:custGeom>
            <a:noFill/>
            <a:ln w="9525">
              <a:solidFill>
                <a:srgbClr val="E5ECF6"/>
              </a:solidFill>
            </a:ln>
          </p:spPr>
        </p:sp>
        <p:sp>
          <p:nvSpPr>
            <p:cNvPr id="81" name="Line 81"/>
            <p:cNvSpPr/>
            <p:nvPr/>
          </p:nvSpPr>
          <p:spPr>
            <a:xfrm>
              <a:off x="7734300" y="4095750"/>
              <a:ext cx="4191000" cy="9525"/>
            </a:xfrm>
            <a:custGeom>
              <a:avLst/>
              <a:gdLst/>
              <a:ahLst/>
              <a:cxnLst/>
              <a:rect l="l" t="t" r="r" b="b"/>
              <a:pathLst>
                <a:path w="4191000" h="9525">
                  <a:moveTo>
                    <a:pt x="0" y="0"/>
                  </a:moveTo>
                  <a:lnTo>
                    <a:pt x="4191000" y="0"/>
                  </a:lnTo>
                </a:path>
              </a:pathLst>
            </a:custGeom>
            <a:noFill/>
            <a:ln w="9525">
              <a:solidFill>
                <a:srgbClr val="E5ECF6"/>
              </a:solidFill>
            </a:ln>
          </p:spPr>
        </p:sp>
        <p:grpSp>
          <p:nvGrpSpPr>
            <p:cNvPr id="93" name="matrix-row-1"/>
            <p:cNvGrpSpPr/>
            <p:nvPr/>
          </p:nvGrpSpPr>
          <p:grpSpPr>
            <a:xfrm>
              <a:off x="7941866" y="2085499"/>
              <a:ext cx="3680031" cy="400240"/>
              <a:chOff x="7941866" y="2085499"/>
              <a:chExt cx="3680031" cy="400240"/>
            </a:xfrm>
          </p:grpSpPr>
          <p:grpSp>
            <p:nvGrpSpPr>
              <p:cNvPr id="88" name="Group 88"/>
              <p:cNvGrpSpPr/>
              <p:nvPr/>
            </p:nvGrpSpPr>
            <p:grpSpPr>
              <a:xfrm>
                <a:off x="7941866" y="2160984"/>
                <a:ext cx="170258" cy="149622"/>
                <a:chOff x="7941866" y="2160984"/>
                <a:chExt cx="170258" cy="149622"/>
              </a:xfrm>
            </p:grpSpPr>
            <p:sp>
              <p:nvSpPr>
                <p:cNvPr id="82" name="Freeform 82"/>
                <p:cNvSpPr/>
                <p:nvPr/>
              </p:nvSpPr>
              <p:spPr>
                <a:xfrm>
                  <a:off x="7941866" y="2160984"/>
                  <a:ext cx="41275" cy="25797"/>
                </a:xfrm>
                <a:custGeom>
                  <a:avLst/>
                  <a:gdLst/>
                  <a:ahLst/>
                  <a:cxnLst/>
                  <a:rect l="l" t="t" r="r" b="b"/>
                  <a:pathLst>
                    <a:path w="41275" h="25797">
                      <a:moveTo>
                        <a:pt x="0" y="10319"/>
                      </a:moveTo>
                      <a:lnTo>
                        <a:pt x="15478" y="25797"/>
                      </a:lnTo>
                      <a:lnTo>
                        <a:pt x="41275" y="0"/>
                      </a:lnTo>
                    </a:path>
                  </a:pathLst>
                </a:custGeom>
                <a:noFill/>
                <a:ln w="15478">
                  <a:solidFill>
                    <a:srgbClr val="841600"/>
                  </a:solidFill>
                </a:ln>
              </p:spPr>
            </p:sp>
            <p:sp>
              <p:nvSpPr>
                <p:cNvPr id="83" name="Freeform 83"/>
                <p:cNvSpPr/>
                <p:nvPr/>
              </p:nvSpPr>
              <p:spPr>
                <a:xfrm>
                  <a:off x="7941866" y="2222897"/>
                  <a:ext cx="41275" cy="25797"/>
                </a:xfrm>
                <a:custGeom>
                  <a:avLst/>
                  <a:gdLst/>
                  <a:ahLst/>
                  <a:cxnLst/>
                  <a:rect l="l" t="t" r="r" b="b"/>
                  <a:pathLst>
                    <a:path w="41275" h="25797">
                      <a:moveTo>
                        <a:pt x="0" y="10319"/>
                      </a:moveTo>
                      <a:lnTo>
                        <a:pt x="15478" y="25797"/>
                      </a:lnTo>
                      <a:lnTo>
                        <a:pt x="41275" y="0"/>
                      </a:lnTo>
                    </a:path>
                  </a:pathLst>
                </a:custGeom>
                <a:noFill/>
                <a:ln w="15478">
                  <a:solidFill>
                    <a:srgbClr val="841600"/>
                  </a:solidFill>
                </a:ln>
              </p:spPr>
            </p:sp>
            <p:sp>
              <p:nvSpPr>
                <p:cNvPr id="84" name="Freeform 84"/>
                <p:cNvSpPr/>
                <p:nvPr/>
              </p:nvSpPr>
              <p:spPr>
                <a:xfrm>
                  <a:off x="7941866" y="2284809"/>
                  <a:ext cx="41275" cy="25797"/>
                </a:xfrm>
                <a:custGeom>
                  <a:avLst/>
                  <a:gdLst/>
                  <a:ahLst/>
                  <a:cxnLst/>
                  <a:rect l="l" t="t" r="r" b="b"/>
                  <a:pathLst>
                    <a:path w="41275" h="25797">
                      <a:moveTo>
                        <a:pt x="0" y="10319"/>
                      </a:moveTo>
                      <a:lnTo>
                        <a:pt x="15478" y="25797"/>
                      </a:lnTo>
                      <a:lnTo>
                        <a:pt x="41275" y="0"/>
                      </a:lnTo>
                    </a:path>
                  </a:pathLst>
                </a:custGeom>
                <a:noFill/>
                <a:ln w="15478">
                  <a:solidFill>
                    <a:srgbClr val="841600"/>
                  </a:solidFill>
                </a:ln>
              </p:spPr>
            </p:sp>
            <p:sp>
              <p:nvSpPr>
                <p:cNvPr id="85" name="Freeform 85"/>
                <p:cNvSpPr/>
                <p:nvPr/>
              </p:nvSpPr>
              <p:spPr>
                <a:xfrm>
                  <a:off x="8019256" y="2176462"/>
                  <a:ext cx="92868" cy="9525"/>
                </a:xfrm>
                <a:custGeom>
                  <a:avLst/>
                  <a:gdLst/>
                  <a:ahLst/>
                  <a:cxnLst/>
                  <a:rect l="l" t="t" r="r" b="b"/>
                  <a:pathLst>
                    <a:path w="92868" h="9525">
                      <a:moveTo>
                        <a:pt x="0" y="0"/>
                      </a:moveTo>
                      <a:lnTo>
                        <a:pt x="92868" y="0"/>
                      </a:lnTo>
                    </a:path>
                  </a:pathLst>
                </a:custGeom>
                <a:noFill/>
                <a:ln w="15478">
                  <a:solidFill>
                    <a:srgbClr val="841600"/>
                  </a:solidFill>
                </a:ln>
              </p:spPr>
            </p:sp>
            <p:sp>
              <p:nvSpPr>
                <p:cNvPr id="86" name="Freeform 86"/>
                <p:cNvSpPr/>
                <p:nvPr/>
              </p:nvSpPr>
              <p:spPr>
                <a:xfrm>
                  <a:off x="8019256" y="2238375"/>
                  <a:ext cx="92868" cy="9525"/>
                </a:xfrm>
                <a:custGeom>
                  <a:avLst/>
                  <a:gdLst/>
                  <a:ahLst/>
                  <a:cxnLst/>
                  <a:rect l="l" t="t" r="r" b="b"/>
                  <a:pathLst>
                    <a:path w="92868" h="9525">
                      <a:moveTo>
                        <a:pt x="0" y="0"/>
                      </a:moveTo>
                      <a:lnTo>
                        <a:pt x="92868" y="0"/>
                      </a:lnTo>
                    </a:path>
                  </a:pathLst>
                </a:custGeom>
                <a:noFill/>
                <a:ln w="15478">
                  <a:solidFill>
                    <a:srgbClr val="841600"/>
                  </a:solidFill>
                </a:ln>
              </p:spPr>
            </p:sp>
            <p:sp>
              <p:nvSpPr>
                <p:cNvPr id="87" name="Freeform 87"/>
                <p:cNvSpPr/>
                <p:nvPr/>
              </p:nvSpPr>
              <p:spPr>
                <a:xfrm>
                  <a:off x="8019256" y="2300287"/>
                  <a:ext cx="92868" cy="9525"/>
                </a:xfrm>
                <a:custGeom>
                  <a:avLst/>
                  <a:gdLst/>
                  <a:ahLst/>
                  <a:cxnLst/>
                  <a:rect l="l" t="t" r="r" b="b"/>
                  <a:pathLst>
                    <a:path w="92868" h="9525">
                      <a:moveTo>
                        <a:pt x="0" y="0"/>
                      </a:moveTo>
                      <a:lnTo>
                        <a:pt x="92868" y="0"/>
                      </a:lnTo>
                    </a:path>
                  </a:pathLst>
                </a:custGeom>
                <a:noFill/>
                <a:ln w="15478">
                  <a:solidFill>
                    <a:srgbClr val="841600"/>
                  </a:solidFill>
                </a:ln>
              </p:spPr>
            </p:sp>
          </p:grpSp>
          <p:sp>
            <p:nvSpPr>
              <p:cNvPr id="89" name="TextBox 89"/>
              <p:cNvSpPr txBox="1"/>
              <p:nvPr/>
            </p:nvSpPr>
            <p:spPr>
              <a:xfrm>
                <a:off x="8243316" y="2182178"/>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计划财务</a:t>
                </a:r>
              </a:p>
            </p:txBody>
          </p:sp>
          <p:sp>
            <p:nvSpPr>
              <p:cNvPr id="90" name="TextBox 90"/>
              <p:cNvSpPr txBox="1"/>
              <p:nvPr/>
            </p:nvSpPr>
            <p:spPr>
              <a:xfrm>
                <a:off x="9468172" y="2085499"/>
                <a:ext cx="932806"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Arial"/>
                    <a:ea typeface="Microsoft YaHei"/>
                    <a:cs typeface="Arial"/>
                  </a:rPr>
                  <a:t xml:space="preserve">预算、FTP、　</a:t>
                </a:r>
              </a:p>
            </p:txBody>
          </p:sp>
          <p:sp>
            <p:nvSpPr>
              <p:cNvPr id="91" name="TextBox 91"/>
              <p:cNvSpPr txBox="1"/>
              <p:nvPr/>
            </p:nvSpPr>
            <p:spPr>
              <a:xfrm>
                <a:off x="9599803" y="2295049"/>
                <a:ext cx="669544"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成本与盈利</a:t>
                </a:r>
              </a:p>
            </p:txBody>
          </p:sp>
          <p:sp>
            <p:nvSpPr>
              <p:cNvPr id="92" name="TextBox 92"/>
              <p:cNvSpPr txBox="1"/>
              <p:nvPr/>
            </p:nvSpPr>
            <p:spPr>
              <a:xfrm>
                <a:off x="10952353" y="2190274"/>
                <a:ext cx="669544"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各业务条线</a:t>
                </a:r>
              </a:p>
            </p:txBody>
          </p:sp>
        </p:grpSp>
        <p:grpSp>
          <p:nvGrpSpPr>
            <p:cNvPr id="102" name="matrix-row-2"/>
            <p:cNvGrpSpPr/>
            <p:nvPr/>
          </p:nvGrpSpPr>
          <p:grpSpPr>
            <a:xfrm>
              <a:off x="7936706" y="3323749"/>
              <a:ext cx="3685191" cy="400241"/>
              <a:chOff x="7936706" y="3323749"/>
              <a:chExt cx="3685191" cy="400241"/>
            </a:xfrm>
          </p:grpSpPr>
          <p:grpSp>
            <p:nvGrpSpPr>
              <p:cNvPr id="98" name="Group 98"/>
              <p:cNvGrpSpPr/>
              <p:nvPr/>
            </p:nvGrpSpPr>
            <p:grpSpPr>
              <a:xfrm>
                <a:off x="7936706" y="3383756"/>
                <a:ext cx="185737" cy="185738"/>
                <a:chOff x="7936706" y="3383756"/>
                <a:chExt cx="185737" cy="185738"/>
              </a:xfrm>
            </p:grpSpPr>
            <p:sp>
              <p:nvSpPr>
                <p:cNvPr id="94" name="Freeform 94"/>
                <p:cNvSpPr/>
                <p:nvPr/>
              </p:nvSpPr>
              <p:spPr>
                <a:xfrm>
                  <a:off x="7957344" y="33837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15478">
                  <a:solidFill>
                    <a:srgbClr val="841600"/>
                  </a:solidFill>
                </a:ln>
              </p:spPr>
            </p:sp>
            <p:sp>
              <p:nvSpPr>
                <p:cNvPr id="95" name="Freeform 95"/>
                <p:cNvSpPr/>
                <p:nvPr/>
              </p:nvSpPr>
              <p:spPr>
                <a:xfrm>
                  <a:off x="7936706" y="35075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15478">
                  <a:solidFill>
                    <a:srgbClr val="841600"/>
                  </a:solidFill>
                </a:ln>
              </p:spPr>
            </p:sp>
            <p:sp>
              <p:nvSpPr>
                <p:cNvPr id="96" name="Freeform 96"/>
                <p:cNvSpPr/>
                <p:nvPr/>
              </p:nvSpPr>
              <p:spPr>
                <a:xfrm>
                  <a:off x="8070849" y="33850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15478">
                  <a:solidFill>
                    <a:srgbClr val="841600"/>
                  </a:solidFill>
                </a:ln>
              </p:spPr>
            </p:sp>
            <p:sp>
              <p:nvSpPr>
                <p:cNvPr id="97" name="Freeform 97"/>
                <p:cNvSpPr/>
                <p:nvPr/>
              </p:nvSpPr>
              <p:spPr>
                <a:xfrm>
                  <a:off x="8091487" y="35091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15478">
                  <a:solidFill>
                    <a:srgbClr val="841600"/>
                  </a:solidFill>
                </a:ln>
              </p:spPr>
            </p:sp>
          </p:grpSp>
          <p:sp>
            <p:nvSpPr>
              <p:cNvPr id="99" name="TextBox 99"/>
              <p:cNvSpPr txBox="1"/>
              <p:nvPr/>
            </p:nvSpPr>
            <p:spPr>
              <a:xfrm>
                <a:off x="8243316" y="3420428"/>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人力资源</a:t>
                </a:r>
              </a:p>
            </p:txBody>
          </p:sp>
          <p:sp>
            <p:nvSpPr>
              <p:cNvPr id="100" name="TextBox 100"/>
              <p:cNvSpPr txBox="1"/>
              <p:nvPr/>
            </p:nvSpPr>
            <p:spPr>
              <a:xfrm>
                <a:off x="9556242" y="3323749"/>
                <a:ext cx="756666" cy="400241"/>
              </a:xfrm>
              <a:prstGeom prst="rect">
                <a:avLst/>
              </a:prstGeom>
              <a:noFill/>
              <a:ln>
                <a:noFill/>
              </a:ln>
            </p:spPr>
            <p:txBody>
              <a:bodyPr wrap="none" lIns="0" tIns="0" rIns="0" bIns="0" anchor="t" anchorCtr="0">
                <a:spAutoFit/>
              </a:bodyPr>
              <a:lstStyle/>
              <a:p>
                <a:pPr algn="ctr">
                  <a:lnSpc>
                    <a:spcPts val="1650"/>
                  </a:lnSpc>
                </a:pPr>
                <a:r>
                  <a:rPr lang="zh-CN" sz="980" dirty="0">
                    <a:solidFill>
                      <a:srgbClr val="1A1A1A"/>
                    </a:solidFill>
                    <a:latin typeface="+mn-lt"/>
                    <a:ea typeface="+mn-ea"/>
                    <a:cs typeface="+mn-cs"/>
                  </a:rPr>
                  <a:t>岗位、配置、</a:t>
                </a:r>
                <a:br/>
                <a:r>
                  <a:rPr lang="zh-CN" sz="980" dirty="0">
                    <a:solidFill>
                      <a:srgbClr val="1A1A1A"/>
                    </a:solidFill>
                    <a:latin typeface="+mn-lt"/>
                    <a:ea typeface="+mn-ea"/>
                    <a:cs typeface="+mn-cs"/>
                  </a:rPr>
                  <a:t>绩效</a:t>
                </a:r>
              </a:p>
            </p:txBody>
          </p:sp>
          <p:sp>
            <p:nvSpPr>
              <p:cNvPr id="101" name="TextBox 101"/>
              <p:cNvSpPr txBox="1"/>
              <p:nvPr/>
            </p:nvSpPr>
            <p:spPr>
              <a:xfrm>
                <a:off x="10952353" y="3428524"/>
                <a:ext cx="669544"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前台与一线</a:t>
                </a:r>
              </a:p>
            </p:txBody>
          </p:sp>
        </p:grpSp>
        <p:grpSp>
          <p:nvGrpSpPr>
            <p:cNvPr id="109" name="matrix-row-3"/>
            <p:cNvGrpSpPr/>
            <p:nvPr/>
          </p:nvGrpSpPr>
          <p:grpSpPr>
            <a:xfrm>
              <a:off x="7922781" y="4542949"/>
              <a:ext cx="3501224" cy="400241"/>
              <a:chOff x="7922781" y="4542949"/>
              <a:chExt cx="3501224" cy="400241"/>
            </a:xfrm>
          </p:grpSpPr>
          <p:grpSp>
            <p:nvGrpSpPr>
              <p:cNvPr id="105" name="Group 105"/>
              <p:cNvGrpSpPr/>
              <p:nvPr/>
            </p:nvGrpSpPr>
            <p:grpSpPr>
              <a:xfrm>
                <a:off x="7922781" y="4602956"/>
                <a:ext cx="201506" cy="185737"/>
                <a:chOff x="7922781" y="4602956"/>
                <a:chExt cx="201506" cy="185737"/>
              </a:xfrm>
            </p:grpSpPr>
            <p:sp>
              <p:nvSpPr>
                <p:cNvPr id="103" name="Freeform 103"/>
                <p:cNvSpPr/>
                <p:nvPr/>
              </p:nvSpPr>
              <p:spPr>
                <a:xfrm>
                  <a:off x="7922781" y="460295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15478">
                  <a:solidFill>
                    <a:srgbClr val="841600"/>
                  </a:solidFill>
                </a:ln>
              </p:spPr>
            </p:sp>
            <p:sp>
              <p:nvSpPr>
                <p:cNvPr id="104" name="Freeform 104"/>
                <p:cNvSpPr/>
                <p:nvPr/>
              </p:nvSpPr>
              <p:spPr>
                <a:xfrm>
                  <a:off x="8060531" y="4747418"/>
                  <a:ext cx="61912" cy="41275"/>
                </a:xfrm>
                <a:custGeom>
                  <a:avLst/>
                  <a:gdLst/>
                  <a:ahLst/>
                  <a:cxnLst/>
                  <a:rect l="l" t="t" r="r" b="b"/>
                  <a:pathLst>
                    <a:path w="61912" h="41275">
                      <a:moveTo>
                        <a:pt x="0" y="20637"/>
                      </a:moveTo>
                      <a:lnTo>
                        <a:pt x="20637" y="41275"/>
                      </a:lnTo>
                      <a:lnTo>
                        <a:pt x="61912" y="0"/>
                      </a:lnTo>
                    </a:path>
                  </a:pathLst>
                </a:custGeom>
                <a:noFill/>
                <a:ln w="15478">
                  <a:solidFill>
                    <a:srgbClr val="841600"/>
                  </a:solidFill>
                </a:ln>
              </p:spPr>
            </p:sp>
          </p:grpSp>
          <p:sp>
            <p:nvSpPr>
              <p:cNvPr id="106" name="TextBox 106"/>
              <p:cNvSpPr txBox="1"/>
              <p:nvPr/>
            </p:nvSpPr>
            <p:spPr>
              <a:xfrm>
                <a:off x="8243316" y="4639628"/>
                <a:ext cx="5760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综合保障</a:t>
                </a:r>
              </a:p>
            </p:txBody>
          </p:sp>
          <p:sp>
            <p:nvSpPr>
              <p:cNvPr id="107" name="TextBox 107"/>
              <p:cNvSpPr txBox="1"/>
              <p:nvPr/>
            </p:nvSpPr>
            <p:spPr>
              <a:xfrm>
                <a:off x="9556242" y="4542949"/>
                <a:ext cx="756666" cy="400241"/>
              </a:xfrm>
              <a:prstGeom prst="rect">
                <a:avLst/>
              </a:prstGeom>
              <a:noFill/>
              <a:ln>
                <a:noFill/>
              </a:ln>
            </p:spPr>
            <p:txBody>
              <a:bodyPr wrap="none" lIns="0" tIns="0" rIns="0" bIns="0" anchor="t" anchorCtr="0">
                <a:spAutoFit/>
              </a:bodyPr>
              <a:lstStyle/>
              <a:p>
                <a:pPr algn="ctr">
                  <a:lnSpc>
                    <a:spcPts val="1650"/>
                  </a:lnSpc>
                </a:pPr>
                <a:r>
                  <a:rPr lang="zh-CN" sz="980" dirty="0">
                    <a:solidFill>
                      <a:srgbClr val="1A1A1A"/>
                    </a:solidFill>
                    <a:latin typeface="+mn-lt"/>
                    <a:ea typeface="+mn-ea"/>
                    <a:cs typeface="+mn-cs"/>
                  </a:rPr>
                  <a:t>协调、党建、</a:t>
                </a:r>
                <a:br/>
                <a:r>
                  <a:rPr lang="zh-CN" sz="980" dirty="0">
                    <a:solidFill>
                      <a:srgbClr val="1A1A1A"/>
                    </a:solidFill>
                    <a:latin typeface="+mn-lt"/>
                    <a:ea typeface="+mn-ea"/>
                    <a:cs typeface="+mn-cs"/>
                  </a:rPr>
                  <a:t>声誉、安全</a:t>
                </a:r>
              </a:p>
            </p:txBody>
          </p:sp>
          <p:sp>
            <p:nvSpPr>
              <p:cNvPr id="108" name="TextBox 108"/>
              <p:cNvSpPr txBox="1"/>
              <p:nvPr/>
            </p:nvSpPr>
            <p:spPr>
              <a:xfrm>
                <a:off x="11150244" y="4647724"/>
                <a:ext cx="273761" cy="190690"/>
              </a:xfrm>
              <a:prstGeom prst="rect">
                <a:avLst/>
              </a:prstGeom>
              <a:noFill/>
              <a:ln>
                <a:noFill/>
              </a:ln>
            </p:spPr>
            <p:txBody>
              <a:bodyPr wrap="none" lIns="0" tIns="0" rIns="0" bIns="0" anchor="t" anchorCtr="0">
                <a:spAutoFit/>
              </a:bodyPr>
              <a:lstStyle/>
              <a:p>
                <a:pPr algn="ctr"/>
                <a:r>
                  <a:rPr lang="zh-CN" sz="980" dirty="0">
                    <a:solidFill>
                      <a:srgbClr val="1A1A1A"/>
                    </a:solidFill>
                    <a:latin typeface="+mn-lt"/>
                    <a:ea typeface="+mn-ea"/>
                    <a:cs typeface="+mn-cs"/>
                  </a:rPr>
                  <a:t>全行</a:t>
                </a:r>
              </a:p>
            </p:txBody>
          </p:sp>
        </p:grpSp>
      </p:grpSp>
      <p:grpSp>
        <p:nvGrpSpPr>
          <p:cNvPr id="157" name="allocation-principles"/>
          <p:cNvGrpSpPr/>
          <p:nvPr/>
        </p:nvGrpSpPr>
        <p:grpSpPr>
          <a:xfrm>
            <a:off x="266700" y="5448300"/>
            <a:ext cx="11658600" cy="1181100"/>
            <a:chOff x="266700" y="5448300"/>
            <a:chExt cx="11658600" cy="1181100"/>
          </a:xfrm>
        </p:grpSpPr>
        <p:sp>
          <p:nvSpPr>
            <p:cNvPr id="111" name="Rectangle 111"/>
            <p:cNvSpPr/>
            <p:nvPr/>
          </p:nvSpPr>
          <p:spPr>
            <a:xfrm>
              <a:off x="266700" y="5448300"/>
              <a:ext cx="11658600" cy="1181100"/>
            </a:xfrm>
            <a:prstGeom prst="roundRect">
              <a:avLst>
                <a:gd name="adj" fmla="val 8065"/>
              </a:avLst>
            </a:prstGeom>
            <a:solidFill>
              <a:srgbClr val="FFFFFF"/>
            </a:solidFill>
            <a:ln w="9525">
              <a:solidFill>
                <a:srgbClr val="D7E2F2"/>
              </a:solidFill>
            </a:ln>
          </p:spPr>
        </p:sp>
        <p:sp>
          <p:nvSpPr>
            <p:cNvPr id="112" name="Rectangle 112"/>
            <p:cNvSpPr/>
            <p:nvPr/>
          </p:nvSpPr>
          <p:spPr>
            <a:xfrm>
              <a:off x="381000" y="5619750"/>
              <a:ext cx="1905000" cy="838200"/>
            </a:xfrm>
            <a:prstGeom prst="roundRect">
              <a:avLst>
                <a:gd name="adj" fmla="val 9091"/>
              </a:avLst>
            </a:prstGeom>
            <a:solidFill>
              <a:srgbClr val="841600"/>
            </a:solidFill>
            <a:ln>
              <a:noFill/>
            </a:ln>
          </p:spPr>
        </p:sp>
        <p:grpSp>
          <p:nvGrpSpPr>
            <p:cNvPr id="118" name="Group 118"/>
            <p:cNvGrpSpPr/>
            <p:nvPr/>
          </p:nvGrpSpPr>
          <p:grpSpPr>
            <a:xfrm>
              <a:off x="611981" y="5917406"/>
              <a:ext cx="242889" cy="238920"/>
              <a:chOff x="611981" y="5917406"/>
              <a:chExt cx="242889" cy="238920"/>
            </a:xfrm>
          </p:grpSpPr>
          <p:sp>
            <p:nvSpPr>
              <p:cNvPr id="113" name="Freeform 113"/>
              <p:cNvSpPr/>
              <p:nvPr/>
            </p:nvSpPr>
            <p:spPr>
              <a:xfrm>
                <a:off x="665956" y="6146801"/>
                <a:ext cx="134938" cy="9525"/>
              </a:xfrm>
              <a:custGeom>
                <a:avLst/>
                <a:gdLst/>
                <a:ahLst/>
                <a:cxnLst/>
                <a:rect l="l" t="t" r="r" b="b"/>
                <a:pathLst>
                  <a:path w="134938" h="9525">
                    <a:moveTo>
                      <a:pt x="0" y="0"/>
                    </a:moveTo>
                    <a:lnTo>
                      <a:pt x="134938" y="0"/>
                    </a:lnTo>
                  </a:path>
                </a:pathLst>
              </a:custGeom>
              <a:noFill/>
              <a:ln w="20241">
                <a:solidFill>
                  <a:srgbClr val="FFFFFF"/>
                </a:solidFill>
              </a:ln>
            </p:spPr>
          </p:sp>
          <p:sp>
            <p:nvSpPr>
              <p:cNvPr id="114" name="Freeform 114"/>
              <p:cNvSpPr/>
              <p:nvPr/>
            </p:nvSpPr>
            <p:spPr>
              <a:xfrm>
                <a:off x="652463" y="5944394"/>
                <a:ext cx="161925" cy="13494"/>
              </a:xfrm>
              <a:custGeom>
                <a:avLst/>
                <a:gdLst/>
                <a:ahLst/>
                <a:cxnLst/>
                <a:rect l="l" t="t" r="r" b="b"/>
                <a:pathLst>
                  <a:path w="161925" h="13494">
                    <a:moveTo>
                      <a:pt x="0" y="13494"/>
                    </a:moveTo>
                    <a:lnTo>
                      <a:pt x="80963" y="0"/>
                    </a:lnTo>
                    <a:lnTo>
                      <a:pt x="161925" y="13494"/>
                    </a:lnTo>
                  </a:path>
                </a:pathLst>
              </a:custGeom>
              <a:noFill/>
              <a:ln w="20241">
                <a:solidFill>
                  <a:srgbClr val="FFFFFF"/>
                </a:solidFill>
              </a:ln>
            </p:spPr>
          </p:sp>
          <p:sp>
            <p:nvSpPr>
              <p:cNvPr id="115" name="Freeform 115"/>
              <p:cNvSpPr/>
              <p:nvPr/>
            </p:nvSpPr>
            <p:spPr>
              <a:xfrm>
                <a:off x="733425" y="5917406"/>
                <a:ext cx="9525" cy="229394"/>
              </a:xfrm>
              <a:custGeom>
                <a:avLst/>
                <a:gdLst/>
                <a:ahLst/>
                <a:cxnLst/>
                <a:rect l="l" t="t" r="r" b="b"/>
                <a:pathLst>
                  <a:path w="9525" h="229394">
                    <a:moveTo>
                      <a:pt x="0" y="0"/>
                    </a:moveTo>
                    <a:lnTo>
                      <a:pt x="0" y="229394"/>
                    </a:lnTo>
                  </a:path>
                </a:pathLst>
              </a:custGeom>
              <a:noFill/>
              <a:ln w="20241">
                <a:solidFill>
                  <a:srgbClr val="FFFFFF"/>
                </a:solidFill>
              </a:ln>
            </p:spPr>
          </p:sp>
          <p:sp>
            <p:nvSpPr>
              <p:cNvPr id="116" name="Freeform 116"/>
              <p:cNvSpPr/>
              <p:nvPr/>
            </p:nvSpPr>
            <p:spPr>
              <a:xfrm>
                <a:off x="611981" y="5957888"/>
                <a:ext cx="80963" cy="121444"/>
              </a:xfrm>
              <a:custGeom>
                <a:avLst/>
                <a:gdLst/>
                <a:ahLst/>
                <a:cxnLst/>
                <a:rect l="l" t="t" r="r" b="b"/>
                <a:pathLst>
                  <a:path w="80963" h="121444">
                    <a:moveTo>
                      <a:pt x="80963" y="80963"/>
                    </a:moveTo>
                    <a:lnTo>
                      <a:pt x="40481" y="0"/>
                    </a:lnTo>
                    <a:lnTo>
                      <a:pt x="0" y="80963"/>
                    </a:lnTo>
                    <a:cubicBezTo>
                      <a:pt x="0" y="103320"/>
                      <a:pt x="18124" y="121444"/>
                      <a:pt x="40481" y="121444"/>
                    </a:cubicBezTo>
                    <a:cubicBezTo>
                      <a:pt x="62839" y="121444"/>
                      <a:pt x="80963" y="103320"/>
                      <a:pt x="80963" y="80963"/>
                    </a:cubicBezTo>
                  </a:path>
                </a:pathLst>
              </a:custGeom>
              <a:noFill/>
              <a:ln w="20241">
                <a:solidFill>
                  <a:srgbClr val="FFFFFF"/>
                </a:solidFill>
              </a:ln>
            </p:spPr>
          </p:sp>
          <p:sp>
            <p:nvSpPr>
              <p:cNvPr id="117" name="Freeform 117"/>
              <p:cNvSpPr/>
              <p:nvPr/>
            </p:nvSpPr>
            <p:spPr>
              <a:xfrm>
                <a:off x="773907" y="5957888"/>
                <a:ext cx="80963" cy="121444"/>
              </a:xfrm>
              <a:custGeom>
                <a:avLst/>
                <a:gdLst/>
                <a:ahLst/>
                <a:cxnLst/>
                <a:rect l="l" t="t" r="r" b="b"/>
                <a:pathLst>
                  <a:path w="80963" h="121444">
                    <a:moveTo>
                      <a:pt x="80963" y="80963"/>
                    </a:moveTo>
                    <a:lnTo>
                      <a:pt x="40481" y="0"/>
                    </a:lnTo>
                    <a:lnTo>
                      <a:pt x="0" y="80963"/>
                    </a:lnTo>
                    <a:cubicBezTo>
                      <a:pt x="0" y="103320"/>
                      <a:pt x="18124" y="121444"/>
                      <a:pt x="40481" y="121444"/>
                    </a:cubicBezTo>
                    <a:cubicBezTo>
                      <a:pt x="62839" y="121444"/>
                      <a:pt x="80963" y="103320"/>
                      <a:pt x="80963" y="80963"/>
                    </a:cubicBezTo>
                  </a:path>
                </a:pathLst>
              </a:custGeom>
              <a:noFill/>
              <a:ln w="20241">
                <a:solidFill>
                  <a:srgbClr val="FFFFFF"/>
                </a:solidFill>
              </a:ln>
            </p:spPr>
          </p:sp>
        </p:grpSp>
        <p:sp>
          <p:nvSpPr>
            <p:cNvPr id="119" name="TextBox 119"/>
            <p:cNvSpPr txBox="1"/>
            <p:nvPr/>
          </p:nvSpPr>
          <p:spPr>
            <a:xfrm>
              <a:off x="1003173" y="5958364"/>
              <a:ext cx="104683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资源配置原则</a:t>
              </a:r>
            </a:p>
          </p:txBody>
        </p:sp>
        <p:sp>
          <p:nvSpPr>
            <p:cNvPr id="120" name="Line 120"/>
            <p:cNvSpPr/>
            <p:nvPr/>
          </p:nvSpPr>
          <p:spPr>
            <a:xfrm>
              <a:off x="4762500" y="5753100"/>
              <a:ext cx="9525" cy="571500"/>
            </a:xfrm>
            <a:custGeom>
              <a:avLst/>
              <a:gdLst/>
              <a:ahLst/>
              <a:cxnLst/>
              <a:rect l="l" t="t" r="r" b="b"/>
              <a:pathLst>
                <a:path w="9525" h="571500">
                  <a:moveTo>
                    <a:pt x="0" y="0"/>
                  </a:moveTo>
                  <a:lnTo>
                    <a:pt x="0" y="571500"/>
                  </a:lnTo>
                </a:path>
              </a:pathLst>
            </a:custGeom>
            <a:noFill/>
            <a:ln w="9525">
              <a:solidFill>
                <a:srgbClr val="D7E2F2"/>
              </a:solidFill>
            </a:ln>
          </p:spPr>
        </p:sp>
        <p:sp>
          <p:nvSpPr>
            <p:cNvPr id="121" name="Line 121"/>
            <p:cNvSpPr/>
            <p:nvPr/>
          </p:nvSpPr>
          <p:spPr>
            <a:xfrm>
              <a:off x="7105650" y="5753100"/>
              <a:ext cx="9525" cy="571500"/>
            </a:xfrm>
            <a:custGeom>
              <a:avLst/>
              <a:gdLst/>
              <a:ahLst/>
              <a:cxnLst/>
              <a:rect l="l" t="t" r="r" b="b"/>
              <a:pathLst>
                <a:path w="9525" h="571500">
                  <a:moveTo>
                    <a:pt x="0" y="0"/>
                  </a:moveTo>
                  <a:lnTo>
                    <a:pt x="0" y="571500"/>
                  </a:lnTo>
                </a:path>
              </a:pathLst>
            </a:custGeom>
            <a:noFill/>
            <a:ln w="9525">
              <a:solidFill>
                <a:srgbClr val="D7E2F2"/>
              </a:solidFill>
            </a:ln>
          </p:spPr>
        </p:sp>
        <p:sp>
          <p:nvSpPr>
            <p:cNvPr id="122" name="Line 122"/>
            <p:cNvSpPr/>
            <p:nvPr/>
          </p:nvSpPr>
          <p:spPr>
            <a:xfrm>
              <a:off x="9448800" y="5753100"/>
              <a:ext cx="9525" cy="571500"/>
            </a:xfrm>
            <a:custGeom>
              <a:avLst/>
              <a:gdLst/>
              <a:ahLst/>
              <a:cxnLst/>
              <a:rect l="l" t="t" r="r" b="b"/>
              <a:pathLst>
                <a:path w="9525" h="571500">
                  <a:moveTo>
                    <a:pt x="0" y="0"/>
                  </a:moveTo>
                  <a:lnTo>
                    <a:pt x="0" y="571500"/>
                  </a:lnTo>
                </a:path>
              </a:pathLst>
            </a:custGeom>
            <a:noFill/>
            <a:ln w="9525">
              <a:solidFill>
                <a:srgbClr val="D7E2F2"/>
              </a:solidFill>
            </a:ln>
          </p:spPr>
        </p:sp>
        <p:grpSp>
          <p:nvGrpSpPr>
            <p:cNvPr id="130" name="principle-1"/>
            <p:cNvGrpSpPr/>
            <p:nvPr/>
          </p:nvGrpSpPr>
          <p:grpSpPr>
            <a:xfrm>
              <a:off x="2533650" y="5867400"/>
              <a:ext cx="1748561" cy="342900"/>
              <a:chOff x="2533650" y="5867400"/>
              <a:chExt cx="1748561" cy="342900"/>
            </a:xfrm>
          </p:grpSpPr>
          <p:sp>
            <p:nvSpPr>
              <p:cNvPr id="123" name="Ellipse 123"/>
              <p:cNvSpPr/>
              <p:nvPr/>
            </p:nvSpPr>
            <p:spPr>
              <a:xfrm>
                <a:off x="2533650" y="5867400"/>
                <a:ext cx="342900" cy="342900"/>
              </a:xfrm>
              <a:prstGeom prst="ellipse">
                <a:avLst/>
              </a:prstGeom>
              <a:solidFill>
                <a:srgbClr val="841600"/>
              </a:solidFill>
              <a:ln>
                <a:noFill/>
              </a:ln>
            </p:spPr>
          </p:sp>
          <p:sp>
            <p:nvSpPr>
              <p:cNvPr id="124" name="TextBox 124"/>
              <p:cNvSpPr txBox="1"/>
              <p:nvPr/>
            </p:nvSpPr>
            <p:spPr>
              <a:xfrm>
                <a:off x="2618136" y="5973128"/>
                <a:ext cx="17392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01</a:t>
                </a:r>
              </a:p>
            </p:txBody>
          </p:sp>
          <p:grpSp>
            <p:nvGrpSpPr>
              <p:cNvPr id="128" name="Group 128"/>
              <p:cNvGrpSpPr/>
              <p:nvPr/>
            </p:nvGrpSpPr>
            <p:grpSpPr>
              <a:xfrm>
                <a:off x="3026569" y="5931694"/>
                <a:ext cx="214312" cy="214312"/>
                <a:chOff x="3026569" y="5931694"/>
                <a:chExt cx="214312" cy="214312"/>
              </a:xfrm>
            </p:grpSpPr>
            <p:sp>
              <p:nvSpPr>
                <p:cNvPr id="125" name="Freeform 125"/>
                <p:cNvSpPr/>
                <p:nvPr/>
              </p:nvSpPr>
              <p:spPr>
                <a:xfrm>
                  <a:off x="3121819" y="602694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rgbClr val="841600"/>
                  </a:solidFill>
                </a:ln>
              </p:spPr>
            </p:sp>
            <p:sp>
              <p:nvSpPr>
                <p:cNvPr id="126" name="Freeform 126"/>
                <p:cNvSpPr/>
                <p:nvPr/>
              </p:nvSpPr>
              <p:spPr>
                <a:xfrm>
                  <a:off x="3074194" y="5979319"/>
                  <a:ext cx="119062" cy="119062"/>
                </a:xfrm>
                <a:custGeom>
                  <a:avLst/>
                  <a:gdLst/>
                  <a:ahLst/>
                  <a:cxnLst/>
                  <a:rect l="l" t="t" r="r" b="b"/>
                  <a:pathLst>
                    <a:path w="119062" h="119062">
                      <a:moveTo>
                        <a:pt x="0" y="59531"/>
                      </a:moveTo>
                      <a:cubicBezTo>
                        <a:pt x="0" y="92409"/>
                        <a:pt x="26653" y="119062"/>
                        <a:pt x="59531" y="119062"/>
                      </a:cubicBezTo>
                      <a:cubicBezTo>
                        <a:pt x="92409" y="119062"/>
                        <a:pt x="119062" y="92409"/>
                        <a:pt x="119062" y="59531"/>
                      </a:cubicBezTo>
                      <a:cubicBezTo>
                        <a:pt x="119062" y="26653"/>
                        <a:pt x="92409" y="0"/>
                        <a:pt x="59531" y="0"/>
                      </a:cubicBezTo>
                      <a:cubicBezTo>
                        <a:pt x="26653" y="0"/>
                        <a:pt x="0" y="26653"/>
                        <a:pt x="0" y="59531"/>
                      </a:cubicBezTo>
                    </a:path>
                  </a:pathLst>
                </a:custGeom>
                <a:noFill/>
                <a:ln w="17859">
                  <a:solidFill>
                    <a:srgbClr val="841600"/>
                  </a:solidFill>
                </a:ln>
              </p:spPr>
            </p:sp>
            <p:sp>
              <p:nvSpPr>
                <p:cNvPr id="127" name="Freeform 127"/>
                <p:cNvSpPr/>
                <p:nvPr/>
              </p:nvSpPr>
              <p:spPr>
                <a:xfrm>
                  <a:off x="3026569" y="5931694"/>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17859">
                  <a:solidFill>
                    <a:srgbClr val="841600"/>
                  </a:solidFill>
                </a:ln>
              </p:spPr>
            </p:sp>
          </p:grpSp>
          <p:sp>
            <p:nvSpPr>
              <p:cNvPr id="129" name="TextBox 129"/>
              <p:cNvSpPr txBox="1"/>
              <p:nvPr/>
            </p:nvSpPr>
            <p:spPr>
              <a:xfrm>
                <a:off x="3366135" y="5974556"/>
                <a:ext cx="916076"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资源随目标走</a:t>
                </a:r>
              </a:p>
            </p:txBody>
          </p:sp>
        </p:grpSp>
        <p:grpSp>
          <p:nvGrpSpPr>
            <p:cNvPr id="140" name="principle-2"/>
            <p:cNvGrpSpPr/>
            <p:nvPr/>
          </p:nvGrpSpPr>
          <p:grpSpPr>
            <a:xfrm>
              <a:off x="4876800" y="5867400"/>
              <a:ext cx="1597787" cy="342900"/>
              <a:chOff x="4876800" y="5867400"/>
              <a:chExt cx="1597787" cy="342900"/>
            </a:xfrm>
          </p:grpSpPr>
          <p:sp>
            <p:nvSpPr>
              <p:cNvPr id="131" name="Ellipse 131"/>
              <p:cNvSpPr/>
              <p:nvPr/>
            </p:nvSpPr>
            <p:spPr>
              <a:xfrm>
                <a:off x="4876800" y="5867400"/>
                <a:ext cx="342900" cy="342900"/>
              </a:xfrm>
              <a:prstGeom prst="ellipse">
                <a:avLst/>
              </a:prstGeom>
              <a:solidFill>
                <a:srgbClr val="841600"/>
              </a:solidFill>
              <a:ln>
                <a:noFill/>
              </a:ln>
            </p:spPr>
          </p:sp>
          <p:sp>
            <p:nvSpPr>
              <p:cNvPr id="132" name="TextBox 132"/>
              <p:cNvSpPr txBox="1"/>
              <p:nvPr/>
            </p:nvSpPr>
            <p:spPr>
              <a:xfrm>
                <a:off x="4961286" y="5973128"/>
                <a:ext cx="17392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02</a:t>
                </a:r>
              </a:p>
            </p:txBody>
          </p:sp>
          <p:grpSp>
            <p:nvGrpSpPr>
              <p:cNvPr id="138" name="Group 138"/>
              <p:cNvGrpSpPr/>
              <p:nvPr/>
            </p:nvGrpSpPr>
            <p:grpSpPr>
              <a:xfrm>
                <a:off x="5369719" y="5930098"/>
                <a:ext cx="214312" cy="215908"/>
                <a:chOff x="5369719" y="5930098"/>
                <a:chExt cx="214312" cy="215908"/>
              </a:xfrm>
            </p:grpSpPr>
            <p:sp>
              <p:nvSpPr>
                <p:cNvPr id="133" name="Freeform 133"/>
                <p:cNvSpPr/>
                <p:nvPr/>
              </p:nvSpPr>
              <p:spPr>
                <a:xfrm>
                  <a:off x="5441156" y="6026944"/>
                  <a:ext cx="142875" cy="71438"/>
                </a:xfrm>
                <a:custGeom>
                  <a:avLst/>
                  <a:gdLst/>
                  <a:ahLst/>
                  <a:cxnLst/>
                  <a:rect l="l" t="t" r="r" b="b"/>
                  <a:pathLst>
                    <a:path w="142875" h="71438">
                      <a:moveTo>
                        <a:pt x="0" y="35719"/>
                      </a:moveTo>
                      <a:cubicBezTo>
                        <a:pt x="0" y="55447"/>
                        <a:pt x="31980" y="71438"/>
                        <a:pt x="71438" y="71438"/>
                      </a:cubicBezTo>
                      <a:cubicBezTo>
                        <a:pt x="110895" y="71438"/>
                        <a:pt x="142875" y="55447"/>
                        <a:pt x="142875" y="35719"/>
                      </a:cubicBezTo>
                      <a:cubicBezTo>
                        <a:pt x="142875" y="15990"/>
                        <a:pt x="110895" y="0"/>
                        <a:pt x="71438" y="0"/>
                      </a:cubicBezTo>
                      <a:cubicBezTo>
                        <a:pt x="31980" y="0"/>
                        <a:pt x="0" y="15990"/>
                        <a:pt x="0" y="35719"/>
                      </a:cubicBezTo>
                    </a:path>
                  </a:pathLst>
                </a:custGeom>
                <a:noFill/>
                <a:ln w="17859">
                  <a:solidFill>
                    <a:srgbClr val="841600"/>
                  </a:solidFill>
                </a:ln>
              </p:spPr>
            </p:sp>
            <p:sp>
              <p:nvSpPr>
                <p:cNvPr id="134" name="Freeform 134"/>
                <p:cNvSpPr/>
                <p:nvPr/>
              </p:nvSpPr>
              <p:spPr>
                <a:xfrm>
                  <a:off x="5441156" y="6062662"/>
                  <a:ext cx="142875" cy="83344"/>
                </a:xfrm>
                <a:custGeom>
                  <a:avLst/>
                  <a:gdLst/>
                  <a:ahLst/>
                  <a:cxnLst/>
                  <a:rect l="l" t="t" r="r" b="b"/>
                  <a:pathLst>
                    <a:path w="142875" h="83344">
                      <a:moveTo>
                        <a:pt x="0" y="0"/>
                      </a:moveTo>
                      <a:lnTo>
                        <a:pt x="0" y="47625"/>
                      </a:lnTo>
                      <a:cubicBezTo>
                        <a:pt x="0" y="67342"/>
                        <a:pt x="31980" y="83344"/>
                        <a:pt x="71438" y="83344"/>
                      </a:cubicBezTo>
                      <a:cubicBezTo>
                        <a:pt x="110895" y="83344"/>
                        <a:pt x="142875" y="67342"/>
                        <a:pt x="142875" y="47625"/>
                      </a:cubicBezTo>
                      <a:lnTo>
                        <a:pt x="142875" y="0"/>
                      </a:lnTo>
                    </a:path>
                  </a:pathLst>
                </a:custGeom>
                <a:noFill/>
                <a:ln w="17859">
                  <a:solidFill>
                    <a:srgbClr val="841600"/>
                  </a:solidFill>
                </a:ln>
              </p:spPr>
            </p:sp>
            <p:sp>
              <p:nvSpPr>
                <p:cNvPr id="135" name="Freeform 135"/>
                <p:cNvSpPr/>
                <p:nvPr/>
              </p:nvSpPr>
              <p:spPr>
                <a:xfrm>
                  <a:off x="5369719" y="5930098"/>
                  <a:ext cx="142875" cy="74628"/>
                </a:xfrm>
                <a:custGeom>
                  <a:avLst/>
                  <a:gdLst/>
                  <a:ahLst/>
                  <a:cxnLst/>
                  <a:rect l="l" t="t" r="r" b="b"/>
                  <a:pathLst>
                    <a:path w="142875" h="74628">
                      <a:moveTo>
                        <a:pt x="0" y="37314"/>
                      </a:moveTo>
                      <a:cubicBezTo>
                        <a:pt x="0" y="50078"/>
                        <a:pt x="13621" y="61865"/>
                        <a:pt x="35719" y="68247"/>
                      </a:cubicBezTo>
                      <a:cubicBezTo>
                        <a:pt x="57817" y="74628"/>
                        <a:pt x="85058" y="74628"/>
                        <a:pt x="107156" y="68247"/>
                      </a:cubicBezTo>
                      <a:cubicBezTo>
                        <a:pt x="129254" y="61865"/>
                        <a:pt x="142875" y="50078"/>
                        <a:pt x="142875" y="37314"/>
                      </a:cubicBezTo>
                      <a:cubicBezTo>
                        <a:pt x="142875" y="24551"/>
                        <a:pt x="129254" y="12764"/>
                        <a:pt x="107156" y="6382"/>
                      </a:cubicBezTo>
                      <a:cubicBezTo>
                        <a:pt x="85058" y="0"/>
                        <a:pt x="57817" y="0"/>
                        <a:pt x="35719" y="6382"/>
                      </a:cubicBezTo>
                      <a:cubicBezTo>
                        <a:pt x="13621" y="12764"/>
                        <a:pt x="0" y="24551"/>
                        <a:pt x="0" y="37314"/>
                      </a:cubicBezTo>
                    </a:path>
                  </a:pathLst>
                </a:custGeom>
                <a:noFill/>
                <a:ln w="17859">
                  <a:solidFill>
                    <a:srgbClr val="841600"/>
                  </a:solidFill>
                </a:ln>
              </p:spPr>
            </p:sp>
            <p:sp>
              <p:nvSpPr>
                <p:cNvPr id="136" name="Freeform 136"/>
                <p:cNvSpPr/>
                <p:nvPr/>
              </p:nvSpPr>
              <p:spPr>
                <a:xfrm>
                  <a:off x="5369719" y="5967412"/>
                  <a:ext cx="23812" cy="142875"/>
                </a:xfrm>
                <a:custGeom>
                  <a:avLst/>
                  <a:gdLst/>
                  <a:ahLst/>
                  <a:cxnLst/>
                  <a:rect l="l" t="t" r="r" b="b"/>
                  <a:pathLst>
                    <a:path w="23812" h="142875">
                      <a:moveTo>
                        <a:pt x="0" y="0"/>
                      </a:moveTo>
                      <a:lnTo>
                        <a:pt x="0" y="119062"/>
                      </a:lnTo>
                      <a:cubicBezTo>
                        <a:pt x="0" y="129635"/>
                        <a:pt x="9192" y="136327"/>
                        <a:pt x="23812" y="142875"/>
                      </a:cubicBezTo>
                    </a:path>
                  </a:pathLst>
                </a:custGeom>
                <a:noFill/>
                <a:ln w="17859">
                  <a:solidFill>
                    <a:srgbClr val="841600"/>
                  </a:solidFill>
                </a:ln>
              </p:spPr>
            </p:sp>
            <p:sp>
              <p:nvSpPr>
                <p:cNvPr id="137" name="Freeform 137"/>
                <p:cNvSpPr/>
                <p:nvPr/>
              </p:nvSpPr>
              <p:spPr>
                <a:xfrm>
                  <a:off x="5369719" y="6026944"/>
                  <a:ext cx="23812" cy="23812"/>
                </a:xfrm>
                <a:custGeom>
                  <a:avLst/>
                  <a:gdLst/>
                  <a:ahLst/>
                  <a:cxnLst/>
                  <a:rect l="l" t="t" r="r" b="b"/>
                  <a:pathLst>
                    <a:path w="23812" h="23812">
                      <a:moveTo>
                        <a:pt x="0" y="0"/>
                      </a:moveTo>
                      <a:cubicBezTo>
                        <a:pt x="0" y="10573"/>
                        <a:pt x="9192" y="17264"/>
                        <a:pt x="23812" y="23812"/>
                      </a:cubicBezTo>
                    </a:path>
                  </a:pathLst>
                </a:custGeom>
                <a:noFill/>
                <a:ln w="17859">
                  <a:solidFill>
                    <a:srgbClr val="841600"/>
                  </a:solidFill>
                </a:ln>
              </p:spPr>
            </p:sp>
          </p:grpSp>
          <p:sp>
            <p:nvSpPr>
              <p:cNvPr id="139" name="TextBox 139"/>
              <p:cNvSpPr txBox="1"/>
              <p:nvPr/>
            </p:nvSpPr>
            <p:spPr>
              <a:xfrm>
                <a:off x="5709285" y="5974556"/>
                <a:ext cx="765302"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费用看产出</a:t>
                </a:r>
              </a:p>
            </p:txBody>
          </p:sp>
        </p:grpSp>
        <p:grpSp>
          <p:nvGrpSpPr>
            <p:cNvPr id="149" name="principle-3"/>
            <p:cNvGrpSpPr/>
            <p:nvPr/>
          </p:nvGrpSpPr>
          <p:grpSpPr>
            <a:xfrm>
              <a:off x="7219950" y="5867400"/>
              <a:ext cx="1597787" cy="342900"/>
              <a:chOff x="7219950" y="5867400"/>
              <a:chExt cx="1597787" cy="342900"/>
            </a:xfrm>
          </p:grpSpPr>
          <p:sp>
            <p:nvSpPr>
              <p:cNvPr id="141" name="Ellipse 141"/>
              <p:cNvSpPr/>
              <p:nvPr/>
            </p:nvSpPr>
            <p:spPr>
              <a:xfrm>
                <a:off x="7219950" y="5867400"/>
                <a:ext cx="342900" cy="342900"/>
              </a:xfrm>
              <a:prstGeom prst="ellipse">
                <a:avLst/>
              </a:prstGeom>
              <a:solidFill>
                <a:srgbClr val="841600"/>
              </a:solidFill>
              <a:ln>
                <a:noFill/>
              </a:ln>
            </p:spPr>
          </p:sp>
          <p:sp>
            <p:nvSpPr>
              <p:cNvPr id="142" name="TextBox 142"/>
              <p:cNvSpPr txBox="1"/>
              <p:nvPr/>
            </p:nvSpPr>
            <p:spPr>
              <a:xfrm>
                <a:off x="7304436" y="5973128"/>
                <a:ext cx="17392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03</a:t>
                </a:r>
              </a:p>
            </p:txBody>
          </p:sp>
          <p:grpSp>
            <p:nvGrpSpPr>
              <p:cNvPr id="147" name="Group 147"/>
              <p:cNvGrpSpPr/>
              <p:nvPr/>
            </p:nvGrpSpPr>
            <p:grpSpPr>
              <a:xfrm>
                <a:off x="7712869" y="5943600"/>
                <a:ext cx="214313" cy="200025"/>
                <a:chOff x="7712869" y="5943600"/>
                <a:chExt cx="214313" cy="200025"/>
              </a:xfrm>
            </p:grpSpPr>
            <p:sp>
              <p:nvSpPr>
                <p:cNvPr id="143" name="Freeform 143"/>
                <p:cNvSpPr/>
                <p:nvPr/>
              </p:nvSpPr>
              <p:spPr>
                <a:xfrm>
                  <a:off x="7712869" y="6038850"/>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17859">
                  <a:solidFill>
                    <a:srgbClr val="841600"/>
                  </a:solidFill>
                </a:ln>
              </p:spPr>
            </p:sp>
            <p:sp>
              <p:nvSpPr>
                <p:cNvPr id="144" name="Freeform 144"/>
                <p:cNvSpPr/>
                <p:nvPr/>
              </p:nvSpPr>
              <p:spPr>
                <a:xfrm>
                  <a:off x="7855744" y="5991225"/>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17859">
                  <a:solidFill>
                    <a:srgbClr val="841600"/>
                  </a:solidFill>
                </a:ln>
              </p:spPr>
            </p:sp>
            <p:sp>
              <p:nvSpPr>
                <p:cNvPr id="145" name="Freeform 145"/>
                <p:cNvSpPr/>
                <p:nvPr/>
              </p:nvSpPr>
              <p:spPr>
                <a:xfrm>
                  <a:off x="7784306" y="5943600"/>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17859">
                  <a:solidFill>
                    <a:srgbClr val="841600"/>
                  </a:solidFill>
                </a:ln>
              </p:spPr>
            </p:sp>
            <p:sp>
              <p:nvSpPr>
                <p:cNvPr id="146" name="Freeform 146"/>
                <p:cNvSpPr/>
                <p:nvPr/>
              </p:nvSpPr>
              <p:spPr>
                <a:xfrm>
                  <a:off x="7724775" y="6134100"/>
                  <a:ext cx="166688" cy="9525"/>
                </a:xfrm>
                <a:custGeom>
                  <a:avLst/>
                  <a:gdLst/>
                  <a:ahLst/>
                  <a:cxnLst/>
                  <a:rect l="l" t="t" r="r" b="b"/>
                  <a:pathLst>
                    <a:path w="166688" h="9525">
                      <a:moveTo>
                        <a:pt x="0" y="0"/>
                      </a:moveTo>
                      <a:lnTo>
                        <a:pt x="166688" y="0"/>
                      </a:lnTo>
                    </a:path>
                  </a:pathLst>
                </a:custGeom>
                <a:noFill/>
                <a:ln w="17859">
                  <a:solidFill>
                    <a:srgbClr val="841600"/>
                  </a:solidFill>
                </a:ln>
              </p:spPr>
            </p:sp>
          </p:grpSp>
          <p:sp>
            <p:nvSpPr>
              <p:cNvPr id="148" name="TextBox 148"/>
              <p:cNvSpPr txBox="1"/>
              <p:nvPr/>
            </p:nvSpPr>
            <p:spPr>
              <a:xfrm>
                <a:off x="8052435" y="5974556"/>
                <a:ext cx="765302"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绩效看结果</a:t>
                </a:r>
              </a:p>
            </p:txBody>
          </p:sp>
        </p:grpSp>
        <p:grpSp>
          <p:nvGrpSpPr>
            <p:cNvPr id="156" name="principle-4"/>
            <p:cNvGrpSpPr/>
            <p:nvPr/>
          </p:nvGrpSpPr>
          <p:grpSpPr>
            <a:xfrm>
              <a:off x="9563100" y="5867400"/>
              <a:ext cx="1597787" cy="342900"/>
              <a:chOff x="9563100" y="5867400"/>
              <a:chExt cx="1597787" cy="342900"/>
            </a:xfrm>
          </p:grpSpPr>
          <p:sp>
            <p:nvSpPr>
              <p:cNvPr id="150" name="Ellipse 150"/>
              <p:cNvSpPr/>
              <p:nvPr/>
            </p:nvSpPr>
            <p:spPr>
              <a:xfrm>
                <a:off x="9563100" y="5867400"/>
                <a:ext cx="342900" cy="342900"/>
              </a:xfrm>
              <a:prstGeom prst="ellipse">
                <a:avLst/>
              </a:prstGeom>
              <a:solidFill>
                <a:srgbClr val="841600"/>
              </a:solidFill>
              <a:ln>
                <a:noFill/>
              </a:ln>
            </p:spPr>
          </p:sp>
          <p:sp>
            <p:nvSpPr>
              <p:cNvPr id="151" name="TextBox 151"/>
              <p:cNvSpPr txBox="1"/>
              <p:nvPr/>
            </p:nvSpPr>
            <p:spPr>
              <a:xfrm>
                <a:off x="9647586" y="5973128"/>
                <a:ext cx="17392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04</a:t>
                </a:r>
              </a:p>
            </p:txBody>
          </p:sp>
          <p:grpSp>
            <p:nvGrpSpPr>
              <p:cNvPr id="154" name="Group 154"/>
              <p:cNvGrpSpPr/>
              <p:nvPr/>
            </p:nvGrpSpPr>
            <p:grpSpPr>
              <a:xfrm>
                <a:off x="10039951" y="5931694"/>
                <a:ext cx="232508" cy="214312"/>
                <a:chOff x="10039951" y="5931694"/>
                <a:chExt cx="232508" cy="214312"/>
              </a:xfrm>
            </p:grpSpPr>
            <p:sp>
              <p:nvSpPr>
                <p:cNvPr id="152" name="Freeform 152"/>
                <p:cNvSpPr/>
                <p:nvPr/>
              </p:nvSpPr>
              <p:spPr>
                <a:xfrm>
                  <a:off x="10039951" y="5931694"/>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17859">
                  <a:solidFill>
                    <a:srgbClr val="841600"/>
                  </a:solidFill>
                </a:ln>
              </p:spPr>
            </p:sp>
            <p:sp>
              <p:nvSpPr>
                <p:cNvPr id="153" name="Freeform 153"/>
                <p:cNvSpPr/>
                <p:nvPr/>
              </p:nvSpPr>
              <p:spPr>
                <a:xfrm>
                  <a:off x="10198894" y="6098381"/>
                  <a:ext cx="71438" cy="47625"/>
                </a:xfrm>
                <a:custGeom>
                  <a:avLst/>
                  <a:gdLst/>
                  <a:ahLst/>
                  <a:cxnLst/>
                  <a:rect l="l" t="t" r="r" b="b"/>
                  <a:pathLst>
                    <a:path w="71438" h="47625">
                      <a:moveTo>
                        <a:pt x="0" y="23812"/>
                      </a:moveTo>
                      <a:lnTo>
                        <a:pt x="23812" y="47625"/>
                      </a:lnTo>
                      <a:lnTo>
                        <a:pt x="71438" y="0"/>
                      </a:lnTo>
                    </a:path>
                  </a:pathLst>
                </a:custGeom>
                <a:noFill/>
                <a:ln w="17859">
                  <a:solidFill>
                    <a:srgbClr val="841600"/>
                  </a:solidFill>
                </a:ln>
              </p:spPr>
            </p:sp>
          </p:grpSp>
          <p:sp>
            <p:nvSpPr>
              <p:cNvPr id="155" name="TextBox 155"/>
              <p:cNvSpPr txBox="1"/>
              <p:nvPr/>
            </p:nvSpPr>
            <p:spPr>
              <a:xfrm>
                <a:off x="10395585" y="5974556"/>
                <a:ext cx="765302"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保障到一线</a:t>
                </a:r>
              </a:p>
            </p:txBody>
          </p:sp>
        </p:grpSp>
      </p:gr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8416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17</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841600"/>
                  </a:solidFill>
                  <a:latin typeface="SimSun"/>
                  <a:ea typeface="SimSun"/>
                  <a:cs typeface="SimSun"/>
                </a:rPr>
                <a:t>合规内控与督导机制</a:t>
              </a:r>
              <a:r>
                <a:rPr lang="zh-CN" sz="1950" b="1" dirty="0">
                  <a:solidFill>
                    <a:srgbClr val="1A1A1A"/>
                  </a:solidFill>
                  <a:latin typeface="SimSun"/>
                  <a:ea typeface="SimSun"/>
                  <a:cs typeface="SimSun"/>
                </a:rPr>
                <a:t>｜以周调度、月复盘、季评估推动任务闭环</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841600"/>
              </a:solidFill>
            </a:ln>
          </p:spPr>
        </p:sp>
      </p:grpSp>
      <p:grpSp>
        <p:nvGrpSpPr>
          <p:cNvPr id="8" name="corner-tag"/>
          <p:cNvGrpSpPr/>
          <p:nvPr/>
        </p:nvGrpSpPr>
        <p:grpSpPr>
          <a:xfrm>
            <a:off x="10088845" y="676989"/>
            <a:ext cx="1726918" cy="154781"/>
            <a:chOff x="10088845" y="676989"/>
            <a:chExt cx="1726918" cy="154781"/>
          </a:xfrm>
        </p:grpSpPr>
        <p:sp>
          <p:nvSpPr>
            <p:cNvPr id="7" name="TextBox 7"/>
            <p:cNvSpPr txBox="1"/>
            <p:nvPr/>
          </p:nvSpPr>
          <p:spPr>
            <a:xfrm>
              <a:off x="10088845" y="676989"/>
              <a:ext cx="1726918" cy="154781"/>
            </a:xfrm>
            <a:prstGeom prst="rect">
              <a:avLst/>
            </a:prstGeom>
            <a:noFill/>
            <a:ln>
              <a:noFill/>
            </a:ln>
          </p:spPr>
          <p:txBody>
            <a:bodyPr wrap="none" lIns="0" tIns="0" rIns="0" bIns="0" anchor="t" anchorCtr="0">
              <a:spAutoFit/>
            </a:bodyPr>
            <a:lstStyle/>
            <a:p>
              <a:pPr algn="r"/>
              <a:r>
                <a:rPr lang="zh-CN" sz="790" dirty="0">
                  <a:solidFill>
                    <a:srgbClr val="987F7A"/>
                  </a:solidFill>
                  <a:latin typeface="Arial"/>
                  <a:ea typeface="Microsoft YaHei"/>
                  <a:cs typeface="Arial"/>
                </a:rPr>
                <a:t xml:space="preserve">2026 H2 · PRESIDENT OFFICE　</a:t>
              </a:r>
            </a:p>
          </p:txBody>
        </p:sp>
      </p:grpSp>
      <p:grpSp>
        <p:nvGrpSpPr>
          <p:cNvPr id="94" name="task-loop"/>
          <p:cNvGrpSpPr/>
          <p:nvPr/>
        </p:nvGrpSpPr>
        <p:grpSpPr>
          <a:xfrm>
            <a:off x="266700" y="876300"/>
            <a:ext cx="7429500" cy="3886200"/>
            <a:chOff x="266700" y="876300"/>
            <a:chExt cx="7429500" cy="3886200"/>
          </a:xfrm>
        </p:grpSpPr>
        <p:sp>
          <p:nvSpPr>
            <p:cNvPr id="9" name="Rectangle 9"/>
            <p:cNvSpPr/>
            <p:nvPr/>
          </p:nvSpPr>
          <p:spPr>
            <a:xfrm>
              <a:off x="266700" y="876300"/>
              <a:ext cx="7429500" cy="3886200"/>
            </a:xfrm>
            <a:prstGeom prst="roundRect">
              <a:avLst>
                <a:gd name="adj" fmla="val 2451"/>
              </a:avLst>
            </a:prstGeom>
            <a:solidFill>
              <a:srgbClr val="FFFFFF"/>
            </a:solidFill>
            <a:ln w="9525">
              <a:solidFill>
                <a:srgbClr val="D7E2F2"/>
              </a:solidFill>
            </a:ln>
          </p:spPr>
        </p:sp>
        <p:sp>
          <p:nvSpPr>
            <p:cNvPr id="10" name="Rectangle 10"/>
            <p:cNvSpPr/>
            <p:nvPr/>
          </p:nvSpPr>
          <p:spPr>
            <a:xfrm>
              <a:off x="266700" y="876300"/>
              <a:ext cx="7429500" cy="381000"/>
            </a:xfrm>
            <a:prstGeom prst="roundRect">
              <a:avLst>
                <a:gd name="adj" fmla="val 25000"/>
              </a:avLst>
            </a:prstGeom>
            <a:solidFill>
              <a:srgbClr val="841600"/>
            </a:solidFill>
            <a:ln>
              <a:noFill/>
            </a:ln>
          </p:spPr>
        </p:sp>
        <p:sp>
          <p:nvSpPr>
            <p:cNvPr id="11" name="Rectangle 11"/>
            <p:cNvSpPr/>
            <p:nvPr/>
          </p:nvSpPr>
          <p:spPr>
            <a:xfrm>
              <a:off x="266700" y="1085850"/>
              <a:ext cx="7429500" cy="171450"/>
            </a:xfrm>
            <a:prstGeom prst="rect">
              <a:avLst/>
            </a:prstGeom>
            <a:solidFill>
              <a:srgbClr val="841600"/>
            </a:solidFill>
            <a:ln>
              <a:noFill/>
            </a:ln>
          </p:spPr>
        </p:sp>
        <p:sp>
          <p:nvSpPr>
            <p:cNvPr id="12" name="TextBox 12"/>
            <p:cNvSpPr txBox="1"/>
            <p:nvPr/>
          </p:nvSpPr>
          <p:spPr>
            <a:xfrm>
              <a:off x="3329178" y="1003935"/>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任务推进六环闭环</a:t>
              </a:r>
            </a:p>
          </p:txBody>
        </p:sp>
        <p:grpSp>
          <p:nvGrpSpPr>
            <p:cNvPr id="17" name="loop-center"/>
            <p:cNvGrpSpPr/>
            <p:nvPr/>
          </p:nvGrpSpPr>
          <p:grpSpPr>
            <a:xfrm>
              <a:off x="3390900" y="1905000"/>
              <a:ext cx="1181100" cy="1181100"/>
              <a:chOff x="3390900" y="1905000"/>
              <a:chExt cx="1181100" cy="1181100"/>
            </a:xfrm>
          </p:grpSpPr>
          <p:sp>
            <p:nvSpPr>
              <p:cNvPr id="13" name="Ellipse 13"/>
              <p:cNvSpPr/>
              <p:nvPr/>
            </p:nvSpPr>
            <p:spPr>
              <a:xfrm>
                <a:off x="3390900" y="1905000"/>
                <a:ext cx="1181100" cy="1181100"/>
              </a:xfrm>
              <a:prstGeom prst="ellipse">
                <a:avLst/>
              </a:prstGeom>
              <a:solidFill>
                <a:srgbClr val="EFF5FD"/>
              </a:solidFill>
              <a:ln w="14288">
                <a:solidFill>
                  <a:srgbClr val="ECC1B8"/>
                </a:solidFill>
              </a:ln>
            </p:spPr>
          </p:sp>
          <p:sp>
            <p:nvSpPr>
              <p:cNvPr id="14" name="TextBox 14"/>
              <p:cNvSpPr txBox="1"/>
              <p:nvPr/>
            </p:nvSpPr>
            <p:spPr>
              <a:xfrm>
                <a:off x="3693414" y="2286952"/>
                <a:ext cx="576072"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合规内控</a:t>
                </a:r>
              </a:p>
            </p:txBody>
          </p:sp>
          <p:sp>
            <p:nvSpPr>
              <p:cNvPr id="15" name="TextBox 15"/>
              <p:cNvSpPr txBox="1"/>
              <p:nvPr/>
            </p:nvSpPr>
            <p:spPr>
              <a:xfrm>
                <a:off x="3938403" y="2466499"/>
                <a:ext cx="86094" cy="190690"/>
              </a:xfrm>
              <a:prstGeom prst="rect">
                <a:avLst/>
              </a:prstGeom>
              <a:noFill/>
              <a:ln>
                <a:noFill/>
              </a:ln>
            </p:spPr>
            <p:txBody>
              <a:bodyPr wrap="none" lIns="0" tIns="0" rIns="0" bIns="0" anchor="t" anchorCtr="0">
                <a:spAutoFit/>
              </a:bodyPr>
              <a:lstStyle/>
              <a:p>
                <a:pPr algn="ctr"/>
                <a:r>
                  <a:rPr lang="zh-CN" sz="980" b="1" dirty="0">
                    <a:solidFill>
                      <a:srgbClr val="841600"/>
                    </a:solidFill>
                    <a:latin typeface="+mn-lt"/>
                    <a:ea typeface="+mn-ea"/>
                    <a:cs typeface="+mn-cs"/>
                  </a:rPr>
                  <a:t>×</a:t>
                </a:r>
              </a:p>
            </p:txBody>
          </p:sp>
          <p:sp>
            <p:nvSpPr>
              <p:cNvPr id="16" name="TextBox 16"/>
              <p:cNvSpPr txBox="1"/>
              <p:nvPr/>
            </p:nvSpPr>
            <p:spPr>
              <a:xfrm>
                <a:off x="3693414" y="2648902"/>
                <a:ext cx="576072"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审计监督</a:t>
                </a:r>
              </a:p>
            </p:txBody>
          </p:sp>
        </p:grpSp>
        <p:grpSp>
          <p:nvGrpSpPr>
            <p:cNvPr id="26" name="loop-node-1"/>
            <p:cNvGrpSpPr/>
            <p:nvPr/>
          </p:nvGrpSpPr>
          <p:grpSpPr>
            <a:xfrm>
              <a:off x="1905000" y="1409700"/>
              <a:ext cx="1428750" cy="419100"/>
              <a:chOff x="1905000" y="1409700"/>
              <a:chExt cx="1428750" cy="419100"/>
            </a:xfrm>
          </p:grpSpPr>
          <p:sp>
            <p:nvSpPr>
              <p:cNvPr id="18" name="Rectangle 18"/>
              <p:cNvSpPr/>
              <p:nvPr/>
            </p:nvSpPr>
            <p:spPr>
              <a:xfrm>
                <a:off x="1905000" y="1409700"/>
                <a:ext cx="1428750" cy="419100"/>
              </a:xfrm>
              <a:prstGeom prst="roundRect">
                <a:avLst>
                  <a:gd name="adj" fmla="val 18182"/>
                </a:avLst>
              </a:prstGeom>
              <a:solidFill>
                <a:srgbClr val="FFFFFF"/>
              </a:solidFill>
              <a:ln w="9525">
                <a:solidFill>
                  <a:srgbClr val="D7E2F2"/>
                </a:solidFill>
              </a:ln>
            </p:spPr>
          </p:sp>
          <p:sp>
            <p:nvSpPr>
              <p:cNvPr id="19" name="Ellipse 19"/>
              <p:cNvSpPr/>
              <p:nvPr/>
            </p:nvSpPr>
            <p:spPr>
              <a:xfrm>
                <a:off x="2000250" y="1485900"/>
                <a:ext cx="266700" cy="266700"/>
              </a:xfrm>
              <a:prstGeom prst="ellipse">
                <a:avLst/>
              </a:prstGeom>
              <a:solidFill>
                <a:srgbClr val="841600"/>
              </a:solidFill>
              <a:ln>
                <a:noFill/>
              </a:ln>
            </p:spPr>
          </p:sp>
          <p:sp>
            <p:nvSpPr>
              <p:cNvPr id="20" name="TextBox 20"/>
              <p:cNvSpPr txBox="1"/>
              <p:nvPr/>
            </p:nvSpPr>
            <p:spPr>
              <a:xfrm>
                <a:off x="2065088" y="1577816"/>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01</a:t>
                </a:r>
              </a:p>
            </p:txBody>
          </p:sp>
          <p:grpSp>
            <p:nvGrpSpPr>
              <p:cNvPr id="24" name="Group 24"/>
              <p:cNvGrpSpPr/>
              <p:nvPr/>
            </p:nvGrpSpPr>
            <p:grpSpPr>
              <a:xfrm>
                <a:off x="2369344" y="1540669"/>
                <a:ext cx="157163" cy="157163"/>
                <a:chOff x="2369344" y="1540669"/>
                <a:chExt cx="157163" cy="157163"/>
              </a:xfrm>
            </p:grpSpPr>
            <p:sp>
              <p:nvSpPr>
                <p:cNvPr id="21" name="Freeform 21"/>
                <p:cNvSpPr/>
                <p:nvPr/>
              </p:nvSpPr>
              <p:spPr>
                <a:xfrm>
                  <a:off x="2439194" y="161051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841600"/>
                  </a:solidFill>
                </a:ln>
              </p:spPr>
            </p:sp>
            <p:sp>
              <p:nvSpPr>
                <p:cNvPr id="22" name="Freeform 22"/>
                <p:cNvSpPr/>
                <p:nvPr/>
              </p:nvSpPr>
              <p:spPr>
                <a:xfrm>
                  <a:off x="2404269" y="157559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841600"/>
                  </a:solidFill>
                </a:ln>
              </p:spPr>
            </p:sp>
            <p:sp>
              <p:nvSpPr>
                <p:cNvPr id="23" name="Freeform 23"/>
                <p:cNvSpPr/>
                <p:nvPr/>
              </p:nvSpPr>
              <p:spPr>
                <a:xfrm>
                  <a:off x="2369344" y="1540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841600"/>
                  </a:solidFill>
                </a:ln>
              </p:spPr>
            </p:sp>
          </p:grpSp>
          <p:sp>
            <p:nvSpPr>
              <p:cNvPr id="25" name="TextBox 25"/>
              <p:cNvSpPr txBox="1"/>
              <p:nvPr/>
            </p:nvSpPr>
            <p:spPr>
              <a:xfrm>
                <a:off x="2623756" y="15671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目标分解</a:t>
                </a:r>
              </a:p>
            </p:txBody>
          </p:sp>
        </p:grpSp>
        <p:sp>
          <p:nvSpPr>
            <p:cNvPr id="27" name="Line 27"/>
            <p:cNvSpPr/>
            <p:nvPr/>
          </p:nvSpPr>
          <p:spPr>
            <a:xfrm>
              <a:off x="3352800" y="1619250"/>
              <a:ext cx="1238250" cy="1"/>
            </a:xfrm>
            <a:prstGeom prst="line">
              <a:avLst/>
            </a:prstGeom>
            <a:noFill/>
            <a:ln w="19050">
              <a:solidFill>
                <a:srgbClr val="C9482E"/>
              </a:solidFill>
              <a:tailEnd type="triangle" w="lg" len="lg"/>
            </a:ln>
          </p:spPr>
        </p:sp>
        <p:grpSp>
          <p:nvGrpSpPr>
            <p:cNvPr id="37" name="loop-node-2"/>
            <p:cNvGrpSpPr/>
            <p:nvPr/>
          </p:nvGrpSpPr>
          <p:grpSpPr>
            <a:xfrm>
              <a:off x="4629150" y="1409700"/>
              <a:ext cx="1428750" cy="419100"/>
              <a:chOff x="4629150" y="1409700"/>
              <a:chExt cx="1428750" cy="419100"/>
            </a:xfrm>
          </p:grpSpPr>
          <p:sp>
            <p:nvSpPr>
              <p:cNvPr id="28" name="Rectangle 28"/>
              <p:cNvSpPr/>
              <p:nvPr/>
            </p:nvSpPr>
            <p:spPr>
              <a:xfrm>
                <a:off x="4629150" y="1409700"/>
                <a:ext cx="1428750" cy="419100"/>
              </a:xfrm>
              <a:prstGeom prst="roundRect">
                <a:avLst>
                  <a:gd name="adj" fmla="val 18182"/>
                </a:avLst>
              </a:prstGeom>
              <a:solidFill>
                <a:srgbClr val="FFFFFF"/>
              </a:solidFill>
              <a:ln w="9525">
                <a:solidFill>
                  <a:srgbClr val="D7E2F2"/>
                </a:solidFill>
              </a:ln>
            </p:spPr>
          </p:sp>
          <p:sp>
            <p:nvSpPr>
              <p:cNvPr id="29" name="Ellipse 29"/>
              <p:cNvSpPr/>
              <p:nvPr/>
            </p:nvSpPr>
            <p:spPr>
              <a:xfrm>
                <a:off x="4724400" y="1485900"/>
                <a:ext cx="266700" cy="266700"/>
              </a:xfrm>
              <a:prstGeom prst="ellipse">
                <a:avLst/>
              </a:prstGeom>
              <a:solidFill>
                <a:srgbClr val="841600"/>
              </a:solidFill>
              <a:ln>
                <a:noFill/>
              </a:ln>
            </p:spPr>
          </p:sp>
          <p:sp>
            <p:nvSpPr>
              <p:cNvPr id="30" name="TextBox 30"/>
              <p:cNvSpPr txBox="1"/>
              <p:nvPr/>
            </p:nvSpPr>
            <p:spPr>
              <a:xfrm>
                <a:off x="4789238" y="1577816"/>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02</a:t>
                </a:r>
              </a:p>
            </p:txBody>
          </p:sp>
          <p:grpSp>
            <p:nvGrpSpPr>
              <p:cNvPr id="35" name="Group 35"/>
              <p:cNvGrpSpPr/>
              <p:nvPr/>
            </p:nvGrpSpPr>
            <p:grpSpPr>
              <a:xfrm>
                <a:off x="5093494" y="1540669"/>
                <a:ext cx="157163" cy="157163"/>
                <a:chOff x="5093494" y="1540669"/>
                <a:chExt cx="157163" cy="157163"/>
              </a:xfrm>
            </p:grpSpPr>
            <p:sp>
              <p:nvSpPr>
                <p:cNvPr id="31" name="Freeform 31"/>
                <p:cNvSpPr/>
                <p:nvPr/>
              </p:nvSpPr>
              <p:spPr>
                <a:xfrm>
                  <a:off x="5110956" y="15406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841600"/>
                  </a:solidFill>
                </a:ln>
              </p:spPr>
            </p:sp>
            <p:sp>
              <p:nvSpPr>
                <p:cNvPr id="32" name="Freeform 32"/>
                <p:cNvSpPr/>
                <p:nvPr/>
              </p:nvSpPr>
              <p:spPr>
                <a:xfrm>
                  <a:off x="5093494" y="164544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841600"/>
                  </a:solidFill>
                </a:ln>
              </p:spPr>
            </p:sp>
            <p:sp>
              <p:nvSpPr>
                <p:cNvPr id="33" name="Freeform 33"/>
                <p:cNvSpPr/>
                <p:nvPr/>
              </p:nvSpPr>
              <p:spPr>
                <a:xfrm>
                  <a:off x="5207000" y="154180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841600"/>
                  </a:solidFill>
                </a:ln>
              </p:spPr>
            </p:sp>
            <p:sp>
              <p:nvSpPr>
                <p:cNvPr id="34" name="Freeform 34"/>
                <p:cNvSpPr/>
                <p:nvPr/>
              </p:nvSpPr>
              <p:spPr>
                <a:xfrm>
                  <a:off x="5224463" y="164675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841600"/>
                  </a:solidFill>
                </a:ln>
              </p:spPr>
            </p:sp>
          </p:grpSp>
          <p:sp>
            <p:nvSpPr>
              <p:cNvPr id="36" name="TextBox 36"/>
              <p:cNvSpPr txBox="1"/>
              <p:nvPr/>
            </p:nvSpPr>
            <p:spPr>
              <a:xfrm>
                <a:off x="5347906" y="15671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部门执行</a:t>
                </a:r>
              </a:p>
            </p:txBody>
          </p:sp>
        </p:grpSp>
        <p:sp>
          <p:nvSpPr>
            <p:cNvPr id="38" name="Line 38"/>
            <p:cNvSpPr/>
            <p:nvPr/>
          </p:nvSpPr>
          <p:spPr>
            <a:xfrm>
              <a:off x="5867400" y="1847850"/>
              <a:ext cx="381000" cy="400050"/>
            </a:xfrm>
            <a:prstGeom prst="line">
              <a:avLst/>
            </a:prstGeom>
            <a:noFill/>
            <a:ln w="19050">
              <a:solidFill>
                <a:srgbClr val="C9482E"/>
              </a:solidFill>
              <a:tailEnd type="triangle" w="lg" len="lg"/>
            </a:ln>
          </p:spPr>
        </p:sp>
        <p:grpSp>
          <p:nvGrpSpPr>
            <p:cNvPr id="46" name="loop-node-3"/>
            <p:cNvGrpSpPr/>
            <p:nvPr/>
          </p:nvGrpSpPr>
          <p:grpSpPr>
            <a:xfrm>
              <a:off x="5962650" y="2286000"/>
              <a:ext cx="1428750" cy="419100"/>
              <a:chOff x="5962650" y="2286000"/>
              <a:chExt cx="1428750" cy="419100"/>
            </a:xfrm>
          </p:grpSpPr>
          <p:sp>
            <p:nvSpPr>
              <p:cNvPr id="39" name="Rectangle 39"/>
              <p:cNvSpPr/>
              <p:nvPr/>
            </p:nvSpPr>
            <p:spPr>
              <a:xfrm>
                <a:off x="5962650" y="2286000"/>
                <a:ext cx="1428750" cy="419100"/>
              </a:xfrm>
              <a:prstGeom prst="roundRect">
                <a:avLst>
                  <a:gd name="adj" fmla="val 18182"/>
                </a:avLst>
              </a:prstGeom>
              <a:solidFill>
                <a:srgbClr val="FFFFFF"/>
              </a:solidFill>
              <a:ln w="9525">
                <a:solidFill>
                  <a:srgbClr val="D7E2F2"/>
                </a:solidFill>
              </a:ln>
            </p:spPr>
          </p:sp>
          <p:sp>
            <p:nvSpPr>
              <p:cNvPr id="40" name="Ellipse 40"/>
              <p:cNvSpPr/>
              <p:nvPr/>
            </p:nvSpPr>
            <p:spPr>
              <a:xfrm>
                <a:off x="6057900" y="2362200"/>
                <a:ext cx="266700" cy="266700"/>
              </a:xfrm>
              <a:prstGeom prst="ellipse">
                <a:avLst/>
              </a:prstGeom>
              <a:solidFill>
                <a:srgbClr val="841600"/>
              </a:solidFill>
              <a:ln>
                <a:noFill/>
              </a:ln>
            </p:spPr>
          </p:sp>
          <p:sp>
            <p:nvSpPr>
              <p:cNvPr id="41" name="TextBox 41"/>
              <p:cNvSpPr txBox="1"/>
              <p:nvPr/>
            </p:nvSpPr>
            <p:spPr>
              <a:xfrm>
                <a:off x="6122738" y="2454116"/>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03</a:t>
                </a:r>
              </a:p>
            </p:txBody>
          </p:sp>
          <p:grpSp>
            <p:nvGrpSpPr>
              <p:cNvPr id="44" name="Group 44"/>
              <p:cNvGrpSpPr/>
              <p:nvPr/>
            </p:nvGrpSpPr>
            <p:grpSpPr>
              <a:xfrm>
                <a:off x="6435725" y="2443163"/>
                <a:ext cx="139700" cy="123031"/>
                <a:chOff x="6435725" y="2443163"/>
                <a:chExt cx="139700" cy="123031"/>
              </a:xfrm>
            </p:grpSpPr>
            <p:sp>
              <p:nvSpPr>
                <p:cNvPr id="42" name="Freeform 42"/>
                <p:cNvSpPr/>
                <p:nvPr/>
              </p:nvSpPr>
              <p:spPr>
                <a:xfrm>
                  <a:off x="6435725" y="2556669"/>
                  <a:ext cx="139700" cy="9525"/>
                </a:xfrm>
                <a:custGeom>
                  <a:avLst/>
                  <a:gdLst/>
                  <a:ahLst/>
                  <a:cxnLst/>
                  <a:rect l="l" t="t" r="r" b="b"/>
                  <a:pathLst>
                    <a:path w="139700" h="9525">
                      <a:moveTo>
                        <a:pt x="0" y="0"/>
                      </a:moveTo>
                      <a:lnTo>
                        <a:pt x="139700" y="0"/>
                      </a:lnTo>
                    </a:path>
                  </a:pathLst>
                </a:custGeom>
                <a:noFill/>
                <a:ln w="17463">
                  <a:solidFill>
                    <a:srgbClr val="841600"/>
                  </a:solidFill>
                </a:ln>
              </p:spPr>
            </p:sp>
            <p:sp>
              <p:nvSpPr>
                <p:cNvPr id="43" name="Freeform 43"/>
                <p:cNvSpPr/>
                <p:nvPr/>
              </p:nvSpPr>
              <p:spPr>
                <a:xfrm>
                  <a:off x="6435725" y="2443163"/>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7463">
                  <a:solidFill>
                    <a:srgbClr val="841600"/>
                  </a:solidFill>
                </a:ln>
              </p:spPr>
            </p:sp>
          </p:grpSp>
          <p:sp>
            <p:nvSpPr>
              <p:cNvPr id="45" name="TextBox 45"/>
              <p:cNvSpPr txBox="1"/>
              <p:nvPr/>
            </p:nvSpPr>
            <p:spPr>
              <a:xfrm>
                <a:off x="6681406" y="24434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过程监测</a:t>
                </a:r>
              </a:p>
            </p:txBody>
          </p:sp>
        </p:grpSp>
        <p:sp>
          <p:nvSpPr>
            <p:cNvPr id="47" name="Line 47"/>
            <p:cNvSpPr/>
            <p:nvPr/>
          </p:nvSpPr>
          <p:spPr>
            <a:xfrm flipH="1">
              <a:off x="5867400" y="2743200"/>
              <a:ext cx="381000" cy="400050"/>
            </a:xfrm>
            <a:prstGeom prst="line">
              <a:avLst/>
            </a:prstGeom>
            <a:noFill/>
            <a:ln w="19050">
              <a:solidFill>
                <a:srgbClr val="C9482E"/>
              </a:solidFill>
              <a:tailEnd type="triangle" w="lg" len="lg"/>
            </a:ln>
          </p:spPr>
        </p:sp>
        <p:grpSp>
          <p:nvGrpSpPr>
            <p:cNvPr id="56" name="loop-node-4"/>
            <p:cNvGrpSpPr/>
            <p:nvPr/>
          </p:nvGrpSpPr>
          <p:grpSpPr>
            <a:xfrm>
              <a:off x="4629150" y="3162300"/>
              <a:ext cx="1428750" cy="419100"/>
              <a:chOff x="4629150" y="3162300"/>
              <a:chExt cx="1428750" cy="419100"/>
            </a:xfrm>
          </p:grpSpPr>
          <p:sp>
            <p:nvSpPr>
              <p:cNvPr id="48" name="Rectangle 48"/>
              <p:cNvSpPr/>
              <p:nvPr/>
            </p:nvSpPr>
            <p:spPr>
              <a:xfrm>
                <a:off x="4629150" y="3162300"/>
                <a:ext cx="1428750" cy="419100"/>
              </a:xfrm>
              <a:prstGeom prst="roundRect">
                <a:avLst>
                  <a:gd name="adj" fmla="val 18182"/>
                </a:avLst>
              </a:prstGeom>
              <a:solidFill>
                <a:srgbClr val="FFFFFF"/>
              </a:solidFill>
              <a:ln w="9525">
                <a:solidFill>
                  <a:srgbClr val="D7E2F2"/>
                </a:solidFill>
              </a:ln>
            </p:spPr>
          </p:sp>
          <p:sp>
            <p:nvSpPr>
              <p:cNvPr id="49" name="Ellipse 49"/>
              <p:cNvSpPr/>
              <p:nvPr/>
            </p:nvSpPr>
            <p:spPr>
              <a:xfrm>
                <a:off x="4724400" y="3238500"/>
                <a:ext cx="266700" cy="266700"/>
              </a:xfrm>
              <a:prstGeom prst="ellipse">
                <a:avLst/>
              </a:prstGeom>
              <a:solidFill>
                <a:srgbClr val="841600"/>
              </a:solidFill>
              <a:ln>
                <a:noFill/>
              </a:ln>
            </p:spPr>
          </p:sp>
          <p:sp>
            <p:nvSpPr>
              <p:cNvPr id="50" name="TextBox 50"/>
              <p:cNvSpPr txBox="1"/>
              <p:nvPr/>
            </p:nvSpPr>
            <p:spPr>
              <a:xfrm>
                <a:off x="4789238" y="3330416"/>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04</a:t>
                </a:r>
              </a:p>
            </p:txBody>
          </p:sp>
          <p:grpSp>
            <p:nvGrpSpPr>
              <p:cNvPr id="54" name="Group 54"/>
              <p:cNvGrpSpPr/>
              <p:nvPr/>
            </p:nvGrpSpPr>
            <p:grpSpPr>
              <a:xfrm>
                <a:off x="5084019" y="3290368"/>
                <a:ext cx="176105" cy="151297"/>
                <a:chOff x="5084019" y="3290368"/>
                <a:chExt cx="176105" cy="151297"/>
              </a:xfrm>
            </p:grpSpPr>
            <p:sp>
              <p:nvSpPr>
                <p:cNvPr id="51" name="Freeform 51"/>
                <p:cNvSpPr/>
                <p:nvPr/>
              </p:nvSpPr>
              <p:spPr>
                <a:xfrm>
                  <a:off x="5172075" y="3345656"/>
                  <a:ext cx="9525" cy="34925"/>
                </a:xfrm>
                <a:custGeom>
                  <a:avLst/>
                  <a:gdLst/>
                  <a:ahLst/>
                  <a:cxnLst/>
                  <a:rect l="l" t="t" r="r" b="b"/>
                  <a:pathLst>
                    <a:path w="9525" h="34925">
                      <a:moveTo>
                        <a:pt x="0" y="0"/>
                      </a:moveTo>
                      <a:lnTo>
                        <a:pt x="0" y="34925"/>
                      </a:lnTo>
                    </a:path>
                  </a:pathLst>
                </a:custGeom>
                <a:noFill/>
                <a:ln w="17463">
                  <a:solidFill>
                    <a:srgbClr val="841600"/>
                  </a:solidFill>
                </a:ln>
              </p:spPr>
            </p:sp>
            <p:sp>
              <p:nvSpPr>
                <p:cNvPr id="52" name="Freeform 52"/>
                <p:cNvSpPr/>
                <p:nvPr/>
              </p:nvSpPr>
              <p:spPr>
                <a:xfrm>
                  <a:off x="5084019" y="3290368"/>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841600"/>
                  </a:solidFill>
                </a:ln>
              </p:spPr>
            </p:sp>
            <p:sp>
              <p:nvSpPr>
                <p:cNvPr id="53" name="Freeform 53"/>
                <p:cNvSpPr/>
                <p:nvPr/>
              </p:nvSpPr>
              <p:spPr>
                <a:xfrm>
                  <a:off x="5172075" y="3406775"/>
                  <a:ext cx="9525" cy="9525"/>
                </a:xfrm>
                <a:custGeom>
                  <a:avLst/>
                  <a:gdLst/>
                  <a:ahLst/>
                  <a:cxnLst/>
                  <a:rect l="l" t="t" r="r" b="b"/>
                  <a:pathLst>
                    <a:path w="9525" h="9525">
                      <a:moveTo>
                        <a:pt x="0" y="0"/>
                      </a:moveTo>
                      <a:lnTo>
                        <a:pt x="87" y="0"/>
                      </a:lnTo>
                    </a:path>
                  </a:pathLst>
                </a:custGeom>
                <a:noFill/>
                <a:ln w="17463">
                  <a:solidFill>
                    <a:srgbClr val="841600"/>
                  </a:solidFill>
                </a:ln>
              </p:spPr>
            </p:sp>
          </p:grpSp>
          <p:sp>
            <p:nvSpPr>
              <p:cNvPr id="55" name="TextBox 55"/>
              <p:cNvSpPr txBox="1"/>
              <p:nvPr/>
            </p:nvSpPr>
            <p:spPr>
              <a:xfrm>
                <a:off x="5347906" y="33197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问题升级</a:t>
                </a:r>
              </a:p>
            </p:txBody>
          </p:sp>
        </p:grpSp>
        <p:sp>
          <p:nvSpPr>
            <p:cNvPr id="57" name="Line 57"/>
            <p:cNvSpPr/>
            <p:nvPr/>
          </p:nvSpPr>
          <p:spPr>
            <a:xfrm flipH="1">
              <a:off x="3371850" y="3371850"/>
              <a:ext cx="1238250" cy="1"/>
            </a:xfrm>
            <a:prstGeom prst="line">
              <a:avLst/>
            </a:prstGeom>
            <a:noFill/>
            <a:ln w="19050">
              <a:solidFill>
                <a:srgbClr val="C9482E"/>
              </a:solidFill>
              <a:tailEnd type="triangle" w="lg" len="lg"/>
            </a:ln>
          </p:spPr>
        </p:sp>
        <p:grpSp>
          <p:nvGrpSpPr>
            <p:cNvPr id="67" name="loop-node-5"/>
            <p:cNvGrpSpPr/>
            <p:nvPr/>
          </p:nvGrpSpPr>
          <p:grpSpPr>
            <a:xfrm>
              <a:off x="1905000" y="3162300"/>
              <a:ext cx="1428750" cy="419100"/>
              <a:chOff x="1905000" y="3162300"/>
              <a:chExt cx="1428750" cy="419100"/>
            </a:xfrm>
          </p:grpSpPr>
          <p:sp>
            <p:nvSpPr>
              <p:cNvPr id="58" name="Rectangle 58"/>
              <p:cNvSpPr/>
              <p:nvPr/>
            </p:nvSpPr>
            <p:spPr>
              <a:xfrm>
                <a:off x="1905000" y="3162300"/>
                <a:ext cx="1428750" cy="419100"/>
              </a:xfrm>
              <a:prstGeom prst="roundRect">
                <a:avLst>
                  <a:gd name="adj" fmla="val 18182"/>
                </a:avLst>
              </a:prstGeom>
              <a:solidFill>
                <a:srgbClr val="FFFFFF"/>
              </a:solidFill>
              <a:ln w="9525">
                <a:solidFill>
                  <a:srgbClr val="D7E2F2"/>
                </a:solidFill>
              </a:ln>
            </p:spPr>
          </p:sp>
          <p:sp>
            <p:nvSpPr>
              <p:cNvPr id="59" name="Ellipse 59"/>
              <p:cNvSpPr/>
              <p:nvPr/>
            </p:nvSpPr>
            <p:spPr>
              <a:xfrm>
                <a:off x="2000250" y="3238500"/>
                <a:ext cx="266700" cy="266700"/>
              </a:xfrm>
              <a:prstGeom prst="ellipse">
                <a:avLst/>
              </a:prstGeom>
              <a:solidFill>
                <a:srgbClr val="841600"/>
              </a:solidFill>
              <a:ln>
                <a:noFill/>
              </a:ln>
            </p:spPr>
          </p:sp>
          <p:sp>
            <p:nvSpPr>
              <p:cNvPr id="60" name="TextBox 60"/>
              <p:cNvSpPr txBox="1"/>
              <p:nvPr/>
            </p:nvSpPr>
            <p:spPr>
              <a:xfrm>
                <a:off x="2065088" y="3330416"/>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05</a:t>
                </a:r>
              </a:p>
            </p:txBody>
          </p:sp>
          <p:grpSp>
            <p:nvGrpSpPr>
              <p:cNvPr id="65" name="Group 65"/>
              <p:cNvGrpSpPr/>
              <p:nvPr/>
            </p:nvGrpSpPr>
            <p:grpSpPr>
              <a:xfrm>
                <a:off x="2386806" y="3302000"/>
                <a:ext cx="130970" cy="148431"/>
                <a:chOff x="2386806" y="3302000"/>
                <a:chExt cx="130970" cy="148431"/>
              </a:xfrm>
            </p:grpSpPr>
            <p:sp>
              <p:nvSpPr>
                <p:cNvPr id="61" name="Freeform 61"/>
                <p:cNvSpPr/>
                <p:nvPr/>
              </p:nvSpPr>
              <p:spPr>
                <a:xfrm>
                  <a:off x="2386806" y="3302000"/>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841600"/>
                  </a:solidFill>
                </a:ln>
              </p:spPr>
            </p:sp>
            <p:sp>
              <p:nvSpPr>
                <p:cNvPr id="62" name="Freeform 62"/>
                <p:cNvSpPr/>
                <p:nvPr/>
              </p:nvSpPr>
              <p:spPr>
                <a:xfrm>
                  <a:off x="2465388" y="3415506"/>
                  <a:ext cx="52388" cy="34925"/>
                </a:xfrm>
                <a:custGeom>
                  <a:avLst/>
                  <a:gdLst/>
                  <a:ahLst/>
                  <a:cxnLst/>
                  <a:rect l="l" t="t" r="r" b="b"/>
                  <a:pathLst>
                    <a:path w="52388" h="34925">
                      <a:moveTo>
                        <a:pt x="0" y="17463"/>
                      </a:moveTo>
                      <a:lnTo>
                        <a:pt x="17463" y="34925"/>
                      </a:lnTo>
                      <a:lnTo>
                        <a:pt x="52388" y="0"/>
                      </a:lnTo>
                    </a:path>
                  </a:pathLst>
                </a:custGeom>
                <a:noFill/>
                <a:ln w="17463">
                  <a:solidFill>
                    <a:srgbClr val="841600"/>
                  </a:solidFill>
                </a:ln>
              </p:spPr>
            </p:sp>
            <p:sp>
              <p:nvSpPr>
                <p:cNvPr id="63" name="Freeform 63"/>
                <p:cNvSpPr/>
                <p:nvPr/>
              </p:nvSpPr>
              <p:spPr>
                <a:xfrm>
                  <a:off x="2421731" y="3336925"/>
                  <a:ext cx="34925" cy="9525"/>
                </a:xfrm>
                <a:custGeom>
                  <a:avLst/>
                  <a:gdLst/>
                  <a:ahLst/>
                  <a:cxnLst/>
                  <a:rect l="l" t="t" r="r" b="b"/>
                  <a:pathLst>
                    <a:path w="34925" h="9525">
                      <a:moveTo>
                        <a:pt x="0" y="0"/>
                      </a:moveTo>
                      <a:lnTo>
                        <a:pt x="34925" y="0"/>
                      </a:lnTo>
                    </a:path>
                  </a:pathLst>
                </a:custGeom>
                <a:noFill/>
                <a:ln w="17463">
                  <a:solidFill>
                    <a:srgbClr val="841600"/>
                  </a:solidFill>
                </a:ln>
              </p:spPr>
            </p:sp>
            <p:sp>
              <p:nvSpPr>
                <p:cNvPr id="64" name="Freeform 64"/>
                <p:cNvSpPr/>
                <p:nvPr/>
              </p:nvSpPr>
              <p:spPr>
                <a:xfrm>
                  <a:off x="2421731" y="3371850"/>
                  <a:ext cx="17463" cy="9525"/>
                </a:xfrm>
                <a:custGeom>
                  <a:avLst/>
                  <a:gdLst/>
                  <a:ahLst/>
                  <a:cxnLst/>
                  <a:rect l="l" t="t" r="r" b="b"/>
                  <a:pathLst>
                    <a:path w="17463" h="9525">
                      <a:moveTo>
                        <a:pt x="0" y="0"/>
                      </a:moveTo>
                      <a:lnTo>
                        <a:pt x="17463" y="0"/>
                      </a:lnTo>
                    </a:path>
                  </a:pathLst>
                </a:custGeom>
                <a:noFill/>
                <a:ln w="17463">
                  <a:solidFill>
                    <a:srgbClr val="841600"/>
                  </a:solidFill>
                </a:ln>
              </p:spPr>
            </p:sp>
          </p:grpSp>
          <p:sp>
            <p:nvSpPr>
              <p:cNvPr id="66" name="TextBox 66"/>
              <p:cNvSpPr txBox="1"/>
              <p:nvPr/>
            </p:nvSpPr>
            <p:spPr>
              <a:xfrm>
                <a:off x="2623756" y="33197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结果评价</a:t>
                </a:r>
              </a:p>
            </p:txBody>
          </p:sp>
        </p:grpSp>
        <p:sp>
          <p:nvSpPr>
            <p:cNvPr id="68" name="Line 68"/>
            <p:cNvSpPr/>
            <p:nvPr/>
          </p:nvSpPr>
          <p:spPr>
            <a:xfrm flipH="1" flipV="1">
              <a:off x="1714500" y="2743200"/>
              <a:ext cx="381000" cy="400050"/>
            </a:xfrm>
            <a:prstGeom prst="line">
              <a:avLst/>
            </a:prstGeom>
            <a:noFill/>
            <a:ln w="19050">
              <a:solidFill>
                <a:srgbClr val="C9482E"/>
              </a:solidFill>
              <a:tailEnd type="triangle" w="lg" len="lg"/>
            </a:ln>
          </p:spPr>
        </p:sp>
        <p:grpSp>
          <p:nvGrpSpPr>
            <p:cNvPr id="76" name="loop-node-6"/>
            <p:cNvGrpSpPr/>
            <p:nvPr/>
          </p:nvGrpSpPr>
          <p:grpSpPr>
            <a:xfrm>
              <a:off x="571500" y="2286000"/>
              <a:ext cx="1428750" cy="419100"/>
              <a:chOff x="571500" y="2286000"/>
              <a:chExt cx="1428750" cy="419100"/>
            </a:xfrm>
          </p:grpSpPr>
          <p:sp>
            <p:nvSpPr>
              <p:cNvPr id="69" name="Rectangle 69"/>
              <p:cNvSpPr/>
              <p:nvPr/>
            </p:nvSpPr>
            <p:spPr>
              <a:xfrm>
                <a:off x="571500" y="2286000"/>
                <a:ext cx="1428750" cy="419100"/>
              </a:xfrm>
              <a:prstGeom prst="roundRect">
                <a:avLst>
                  <a:gd name="adj" fmla="val 18182"/>
                </a:avLst>
              </a:prstGeom>
              <a:solidFill>
                <a:srgbClr val="FFFFFF"/>
              </a:solidFill>
              <a:ln w="9525">
                <a:solidFill>
                  <a:srgbClr val="D7E2F2"/>
                </a:solidFill>
              </a:ln>
            </p:spPr>
          </p:sp>
          <p:sp>
            <p:nvSpPr>
              <p:cNvPr id="70" name="Ellipse 70"/>
              <p:cNvSpPr/>
              <p:nvPr/>
            </p:nvSpPr>
            <p:spPr>
              <a:xfrm>
                <a:off x="666750" y="2362200"/>
                <a:ext cx="266700" cy="266700"/>
              </a:xfrm>
              <a:prstGeom prst="ellipse">
                <a:avLst/>
              </a:prstGeom>
              <a:solidFill>
                <a:srgbClr val="841600"/>
              </a:solidFill>
              <a:ln>
                <a:noFill/>
              </a:ln>
            </p:spPr>
          </p:sp>
          <p:sp>
            <p:nvSpPr>
              <p:cNvPr id="71" name="TextBox 71"/>
              <p:cNvSpPr txBox="1"/>
              <p:nvPr/>
            </p:nvSpPr>
            <p:spPr>
              <a:xfrm>
                <a:off x="731588" y="2454116"/>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06</a:t>
                </a:r>
              </a:p>
            </p:txBody>
          </p:sp>
          <p:grpSp>
            <p:nvGrpSpPr>
              <p:cNvPr id="74" name="Group 74"/>
              <p:cNvGrpSpPr/>
              <p:nvPr/>
            </p:nvGrpSpPr>
            <p:grpSpPr>
              <a:xfrm>
                <a:off x="1044575" y="2422331"/>
                <a:ext cx="139700" cy="146438"/>
                <a:chOff x="1044575" y="2422331"/>
                <a:chExt cx="139700" cy="146438"/>
              </a:xfrm>
            </p:grpSpPr>
            <p:sp>
              <p:nvSpPr>
                <p:cNvPr id="72" name="Freeform 72"/>
                <p:cNvSpPr/>
                <p:nvPr/>
              </p:nvSpPr>
              <p:spPr>
                <a:xfrm>
                  <a:off x="1044575" y="2422331"/>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841600"/>
                  </a:solidFill>
                </a:ln>
              </p:spPr>
            </p:sp>
            <p:sp>
              <p:nvSpPr>
                <p:cNvPr id="73" name="Freeform 73"/>
                <p:cNvSpPr/>
                <p:nvPr/>
              </p:nvSpPr>
              <p:spPr>
                <a:xfrm>
                  <a:off x="1044575" y="2504281"/>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841600"/>
                  </a:solidFill>
                </a:ln>
              </p:spPr>
            </p:sp>
          </p:grpSp>
          <p:sp>
            <p:nvSpPr>
              <p:cNvPr id="75" name="TextBox 75"/>
              <p:cNvSpPr txBox="1"/>
              <p:nvPr/>
            </p:nvSpPr>
            <p:spPr>
              <a:xfrm>
                <a:off x="1290256" y="24434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复盘调整</a:t>
                </a:r>
              </a:p>
            </p:txBody>
          </p:sp>
        </p:grpSp>
        <p:sp>
          <p:nvSpPr>
            <p:cNvPr id="77" name="Line 77"/>
            <p:cNvSpPr/>
            <p:nvPr/>
          </p:nvSpPr>
          <p:spPr>
            <a:xfrm flipV="1">
              <a:off x="1714500" y="1847850"/>
              <a:ext cx="381000" cy="400050"/>
            </a:xfrm>
            <a:prstGeom prst="line">
              <a:avLst/>
            </a:prstGeom>
            <a:noFill/>
            <a:ln w="19050">
              <a:solidFill>
                <a:srgbClr val="C9482E"/>
              </a:solidFill>
              <a:tailEnd type="triangle" w="lg" len="lg"/>
            </a:ln>
          </p:spPr>
        </p:sp>
        <p:grpSp>
          <p:nvGrpSpPr>
            <p:cNvPr id="85" name="compliance-row"/>
            <p:cNvGrpSpPr/>
            <p:nvPr/>
          </p:nvGrpSpPr>
          <p:grpSpPr>
            <a:xfrm>
              <a:off x="419100" y="3848100"/>
              <a:ext cx="7124700" cy="361950"/>
              <a:chOff x="419100" y="3848100"/>
              <a:chExt cx="7124700" cy="361950"/>
            </a:xfrm>
          </p:grpSpPr>
          <p:sp>
            <p:nvSpPr>
              <p:cNvPr id="78" name="Rectangle 78"/>
              <p:cNvSpPr/>
              <p:nvPr/>
            </p:nvSpPr>
            <p:spPr>
              <a:xfrm>
                <a:off x="419100" y="3848100"/>
                <a:ext cx="7124700" cy="361950"/>
              </a:xfrm>
              <a:prstGeom prst="roundRect">
                <a:avLst>
                  <a:gd name="adj" fmla="val 15789"/>
                </a:avLst>
              </a:prstGeom>
              <a:solidFill>
                <a:srgbClr val="EFF5FD"/>
              </a:solidFill>
              <a:ln>
                <a:noFill/>
              </a:ln>
            </p:spPr>
          </p:sp>
          <p:grpSp>
            <p:nvGrpSpPr>
              <p:cNvPr id="81" name="Group 81"/>
              <p:cNvGrpSpPr/>
              <p:nvPr/>
            </p:nvGrpSpPr>
            <p:grpSpPr>
              <a:xfrm>
                <a:off x="566860" y="3950494"/>
                <a:ext cx="170506" cy="157162"/>
                <a:chOff x="566860" y="3950494"/>
                <a:chExt cx="170506" cy="157162"/>
              </a:xfrm>
            </p:grpSpPr>
            <p:sp>
              <p:nvSpPr>
                <p:cNvPr id="79" name="Freeform 79"/>
                <p:cNvSpPr/>
                <p:nvPr/>
              </p:nvSpPr>
              <p:spPr>
                <a:xfrm>
                  <a:off x="566860" y="395049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841600"/>
                  </a:solidFill>
                </a:ln>
              </p:spPr>
            </p:sp>
            <p:sp>
              <p:nvSpPr>
                <p:cNvPr id="80" name="Freeform 80"/>
                <p:cNvSpPr/>
                <p:nvPr/>
              </p:nvSpPr>
              <p:spPr>
                <a:xfrm>
                  <a:off x="683419" y="4072731"/>
                  <a:ext cx="52388" cy="34925"/>
                </a:xfrm>
                <a:custGeom>
                  <a:avLst/>
                  <a:gdLst/>
                  <a:ahLst/>
                  <a:cxnLst/>
                  <a:rect l="l" t="t" r="r" b="b"/>
                  <a:pathLst>
                    <a:path w="52388" h="34925">
                      <a:moveTo>
                        <a:pt x="0" y="17463"/>
                      </a:moveTo>
                      <a:lnTo>
                        <a:pt x="17463" y="34925"/>
                      </a:lnTo>
                      <a:lnTo>
                        <a:pt x="52388" y="0"/>
                      </a:lnTo>
                    </a:path>
                  </a:pathLst>
                </a:custGeom>
                <a:noFill/>
                <a:ln w="17463">
                  <a:solidFill>
                    <a:srgbClr val="841600"/>
                  </a:solidFill>
                </a:ln>
              </p:spPr>
            </p:sp>
          </p:grpSp>
          <p:sp>
            <p:nvSpPr>
              <p:cNvPr id="82" name="TextBox 82"/>
              <p:cNvSpPr txBox="1"/>
              <p:nvPr/>
            </p:nvSpPr>
            <p:spPr>
              <a:xfrm>
                <a:off x="851916" y="396335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合规</a:t>
                </a:r>
              </a:p>
            </p:txBody>
          </p:sp>
          <p:sp>
            <p:nvSpPr>
              <p:cNvPr id="83" name="Line 83"/>
              <p:cNvSpPr/>
              <p:nvPr/>
            </p:nvSpPr>
            <p:spPr>
              <a:xfrm>
                <a:off x="1219200" y="3924300"/>
                <a:ext cx="9525" cy="209550"/>
              </a:xfrm>
              <a:custGeom>
                <a:avLst/>
                <a:gdLst/>
                <a:ahLst/>
                <a:cxnLst/>
                <a:rect l="l" t="t" r="r" b="b"/>
                <a:pathLst>
                  <a:path w="9525" h="209550">
                    <a:moveTo>
                      <a:pt x="0" y="0"/>
                    </a:moveTo>
                    <a:lnTo>
                      <a:pt x="0" y="209550"/>
                    </a:lnTo>
                  </a:path>
                </a:pathLst>
              </a:custGeom>
              <a:noFill/>
              <a:ln w="9525">
                <a:solidFill>
                  <a:srgbClr val="ECC1B8"/>
                </a:solidFill>
              </a:ln>
            </p:spPr>
          </p:sp>
          <p:sp>
            <p:nvSpPr>
              <p:cNvPr id="84" name="TextBox 84"/>
              <p:cNvSpPr txBox="1"/>
              <p:nvPr/>
            </p:nvSpPr>
            <p:spPr>
              <a:xfrm>
                <a:off x="1328738" y="3975497"/>
                <a:ext cx="2160753"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制度、合同、反洗钱、消保、案件防控</a:t>
                </a:r>
              </a:p>
            </p:txBody>
          </p:sp>
        </p:grpSp>
        <p:grpSp>
          <p:nvGrpSpPr>
            <p:cNvPr id="93" name="audit-row"/>
            <p:cNvGrpSpPr/>
            <p:nvPr/>
          </p:nvGrpSpPr>
          <p:grpSpPr>
            <a:xfrm>
              <a:off x="419100" y="4286250"/>
              <a:ext cx="7124700" cy="361950"/>
              <a:chOff x="419100" y="4286250"/>
              <a:chExt cx="7124700" cy="361950"/>
            </a:xfrm>
          </p:grpSpPr>
          <p:sp>
            <p:nvSpPr>
              <p:cNvPr id="86" name="Rectangle 86"/>
              <p:cNvSpPr/>
              <p:nvPr/>
            </p:nvSpPr>
            <p:spPr>
              <a:xfrm>
                <a:off x="419100" y="4286250"/>
                <a:ext cx="7124700" cy="361950"/>
              </a:xfrm>
              <a:prstGeom prst="roundRect">
                <a:avLst>
                  <a:gd name="adj" fmla="val 15789"/>
                </a:avLst>
              </a:prstGeom>
              <a:solidFill>
                <a:srgbClr val="EFF5FD"/>
              </a:solidFill>
              <a:ln>
                <a:noFill/>
              </a:ln>
            </p:spPr>
          </p:sp>
          <p:grpSp>
            <p:nvGrpSpPr>
              <p:cNvPr id="89" name="Group 89"/>
              <p:cNvGrpSpPr/>
              <p:nvPr/>
            </p:nvGrpSpPr>
            <p:grpSpPr>
              <a:xfrm>
                <a:off x="578644" y="4388644"/>
                <a:ext cx="157163" cy="157163"/>
                <a:chOff x="578644" y="4388644"/>
                <a:chExt cx="157163" cy="157163"/>
              </a:xfrm>
            </p:grpSpPr>
            <p:sp>
              <p:nvSpPr>
                <p:cNvPr id="87" name="Freeform 87"/>
                <p:cNvSpPr/>
                <p:nvPr/>
              </p:nvSpPr>
              <p:spPr>
                <a:xfrm>
                  <a:off x="578644" y="438864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841600"/>
                  </a:solidFill>
                </a:ln>
              </p:spPr>
            </p:sp>
            <p:sp>
              <p:nvSpPr>
                <p:cNvPr id="88" name="Freeform 88"/>
                <p:cNvSpPr/>
                <p:nvPr/>
              </p:nvSpPr>
              <p:spPr>
                <a:xfrm>
                  <a:off x="683419" y="4493419"/>
                  <a:ext cx="52388" cy="52388"/>
                </a:xfrm>
                <a:custGeom>
                  <a:avLst/>
                  <a:gdLst/>
                  <a:ahLst/>
                  <a:cxnLst/>
                  <a:rect l="l" t="t" r="r" b="b"/>
                  <a:pathLst>
                    <a:path w="52388" h="52388">
                      <a:moveTo>
                        <a:pt x="52388" y="52388"/>
                      </a:moveTo>
                      <a:lnTo>
                        <a:pt x="0" y="0"/>
                      </a:lnTo>
                    </a:path>
                  </a:pathLst>
                </a:custGeom>
                <a:noFill/>
                <a:ln w="17463">
                  <a:solidFill>
                    <a:srgbClr val="841600"/>
                  </a:solidFill>
                </a:ln>
              </p:spPr>
            </p:sp>
          </p:grpSp>
          <p:sp>
            <p:nvSpPr>
              <p:cNvPr id="90" name="TextBox 90"/>
              <p:cNvSpPr txBox="1"/>
              <p:nvPr/>
            </p:nvSpPr>
            <p:spPr>
              <a:xfrm>
                <a:off x="851916" y="4401502"/>
                <a:ext cx="293370" cy="205359"/>
              </a:xfrm>
              <a:prstGeom prst="rect">
                <a:avLst/>
              </a:prstGeom>
              <a:noFill/>
              <a:ln>
                <a:noFill/>
              </a:ln>
            </p:spPr>
            <p:txBody>
              <a:bodyPr wrap="none" lIns="0" tIns="0" rIns="0" bIns="0" anchor="t" anchorCtr="0">
                <a:spAutoFit/>
              </a:bodyPr>
              <a:lstStyle/>
              <a:p>
                <a:pPr algn="l"/>
                <a:r>
                  <a:rPr lang="zh-CN" sz="1050" b="1" dirty="0">
                    <a:solidFill>
                      <a:srgbClr val="841600"/>
                    </a:solidFill>
                    <a:latin typeface="+mn-lt"/>
                    <a:ea typeface="+mn-ea"/>
                    <a:cs typeface="+mn-cs"/>
                  </a:rPr>
                  <a:t>审计</a:t>
                </a:r>
              </a:p>
            </p:txBody>
          </p:sp>
          <p:sp>
            <p:nvSpPr>
              <p:cNvPr id="91" name="Line 91"/>
              <p:cNvSpPr/>
              <p:nvPr/>
            </p:nvSpPr>
            <p:spPr>
              <a:xfrm>
                <a:off x="1219200" y="4362450"/>
                <a:ext cx="9525" cy="209550"/>
              </a:xfrm>
              <a:custGeom>
                <a:avLst/>
                <a:gdLst/>
                <a:ahLst/>
                <a:cxnLst/>
                <a:rect l="l" t="t" r="r" b="b"/>
                <a:pathLst>
                  <a:path w="9525" h="209550">
                    <a:moveTo>
                      <a:pt x="0" y="0"/>
                    </a:moveTo>
                    <a:lnTo>
                      <a:pt x="0" y="209550"/>
                    </a:lnTo>
                  </a:path>
                </a:pathLst>
              </a:custGeom>
              <a:noFill/>
              <a:ln w="9525">
                <a:solidFill>
                  <a:srgbClr val="ECC1B8"/>
                </a:solidFill>
              </a:ln>
            </p:spPr>
          </p:sp>
          <p:sp>
            <p:nvSpPr>
              <p:cNvPr id="92" name="TextBox 92"/>
              <p:cNvSpPr txBox="1"/>
              <p:nvPr/>
            </p:nvSpPr>
            <p:spPr>
              <a:xfrm>
                <a:off x="1328738" y="4413647"/>
                <a:ext cx="2540381"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授信、费用、采购、数据、重点业务专项审计</a:t>
                </a:r>
              </a:p>
            </p:txBody>
          </p:sp>
        </p:grpSp>
      </p:grpSp>
      <p:grpSp>
        <p:nvGrpSpPr>
          <p:cNvPr id="119" name="responsibility-tiers"/>
          <p:cNvGrpSpPr/>
          <p:nvPr/>
        </p:nvGrpSpPr>
        <p:grpSpPr>
          <a:xfrm>
            <a:off x="7810500" y="876300"/>
            <a:ext cx="4114800" cy="1866900"/>
            <a:chOff x="7810500" y="876300"/>
            <a:chExt cx="4114800" cy="1866900"/>
          </a:xfrm>
        </p:grpSpPr>
        <p:sp>
          <p:nvSpPr>
            <p:cNvPr id="95" name="Rectangle 95"/>
            <p:cNvSpPr/>
            <p:nvPr/>
          </p:nvSpPr>
          <p:spPr>
            <a:xfrm>
              <a:off x="7810500" y="876300"/>
              <a:ext cx="4114800" cy="1866900"/>
            </a:xfrm>
            <a:prstGeom prst="roundRect">
              <a:avLst>
                <a:gd name="adj" fmla="val 5102"/>
              </a:avLst>
            </a:prstGeom>
            <a:solidFill>
              <a:srgbClr val="FFFFFF"/>
            </a:solidFill>
            <a:ln w="9525">
              <a:solidFill>
                <a:srgbClr val="D7E2F2"/>
              </a:solidFill>
            </a:ln>
          </p:spPr>
        </p:sp>
        <p:sp>
          <p:nvSpPr>
            <p:cNvPr id="96" name="Rectangle 96"/>
            <p:cNvSpPr/>
            <p:nvPr/>
          </p:nvSpPr>
          <p:spPr>
            <a:xfrm>
              <a:off x="7810500" y="876300"/>
              <a:ext cx="4114800" cy="381000"/>
            </a:xfrm>
            <a:prstGeom prst="roundRect">
              <a:avLst>
                <a:gd name="adj" fmla="val 25000"/>
              </a:avLst>
            </a:prstGeom>
            <a:solidFill>
              <a:srgbClr val="841600"/>
            </a:solidFill>
            <a:ln>
              <a:noFill/>
            </a:ln>
          </p:spPr>
        </p:sp>
        <p:sp>
          <p:nvSpPr>
            <p:cNvPr id="97" name="Rectangle 97"/>
            <p:cNvSpPr/>
            <p:nvPr/>
          </p:nvSpPr>
          <p:spPr>
            <a:xfrm>
              <a:off x="7810500" y="1085850"/>
              <a:ext cx="4114800" cy="171450"/>
            </a:xfrm>
            <a:prstGeom prst="rect">
              <a:avLst/>
            </a:prstGeom>
            <a:solidFill>
              <a:srgbClr val="841600"/>
            </a:solidFill>
            <a:ln>
              <a:noFill/>
            </a:ln>
          </p:spPr>
        </p:sp>
        <p:sp>
          <p:nvSpPr>
            <p:cNvPr id="98" name="TextBox 98"/>
            <p:cNvSpPr txBox="1"/>
            <p:nvPr/>
          </p:nvSpPr>
          <p:spPr>
            <a:xfrm>
              <a:off x="9377172" y="100393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三级责任体系</a:t>
              </a:r>
            </a:p>
          </p:txBody>
        </p:sp>
        <p:grpSp>
          <p:nvGrpSpPr>
            <p:cNvPr id="101" name="tier-1"/>
            <p:cNvGrpSpPr/>
            <p:nvPr/>
          </p:nvGrpSpPr>
          <p:grpSpPr>
            <a:xfrm>
              <a:off x="8110538" y="1457325"/>
              <a:ext cx="1016330" cy="228647"/>
              <a:chOff x="8110538" y="1457325"/>
              <a:chExt cx="1016330" cy="228647"/>
            </a:xfrm>
          </p:grpSpPr>
          <p:sp>
            <p:nvSpPr>
              <p:cNvPr id="99" name="Freeform 99"/>
              <p:cNvSpPr/>
              <p:nvPr/>
            </p:nvSpPr>
            <p:spPr>
              <a:xfrm>
                <a:off x="8110538" y="1457325"/>
                <a:ext cx="200026" cy="133350"/>
              </a:xfrm>
              <a:custGeom>
                <a:avLst/>
                <a:gdLst/>
                <a:ahLst/>
                <a:cxnLst/>
                <a:rect l="l" t="t" r="r" b="b"/>
                <a:pathLst>
                  <a:path w="200026" h="133350">
                    <a:moveTo>
                      <a:pt x="100013" y="0"/>
                    </a:moveTo>
                    <a:lnTo>
                      <a:pt x="144463" y="66675"/>
                    </a:lnTo>
                    <a:lnTo>
                      <a:pt x="200026" y="22225"/>
                    </a:lnTo>
                    <a:lnTo>
                      <a:pt x="177801" y="133350"/>
                    </a:lnTo>
                    <a:lnTo>
                      <a:pt x="22225" y="133350"/>
                    </a:lnTo>
                    <a:lnTo>
                      <a:pt x="0" y="22225"/>
                    </a:lnTo>
                    <a:lnTo>
                      <a:pt x="55563" y="66675"/>
                    </a:lnTo>
                    <a:lnTo>
                      <a:pt x="100013" y="0"/>
                    </a:lnTo>
                  </a:path>
                </a:pathLst>
              </a:custGeom>
              <a:noFill/>
              <a:ln w="16669">
                <a:solidFill>
                  <a:srgbClr val="841600"/>
                </a:solidFill>
              </a:ln>
            </p:spPr>
          </p:sp>
          <p:sp>
            <p:nvSpPr>
              <p:cNvPr id="100" name="TextBox 100"/>
              <p:cNvSpPr txBox="1"/>
              <p:nvPr/>
            </p:nvSpPr>
            <p:spPr>
              <a:xfrm>
                <a:off x="8528876" y="1473279"/>
                <a:ext cx="597992" cy="212693"/>
              </a:xfrm>
              <a:prstGeom prst="rect">
                <a:avLst/>
              </a:prstGeom>
              <a:noFill/>
              <a:ln>
                <a:noFill/>
              </a:ln>
            </p:spPr>
            <p:txBody>
              <a:bodyPr wrap="none" lIns="0" tIns="0" rIns="0" bIns="0" anchor="t" anchorCtr="0">
                <a:spAutoFit/>
              </a:bodyPr>
              <a:lstStyle/>
              <a:p>
                <a:pPr algn="l"/>
                <a:r>
                  <a:rPr lang="zh-CN" sz="1090" b="1" dirty="0">
                    <a:solidFill>
                      <a:srgbClr val="1A1A1A"/>
                    </a:solidFill>
                    <a:latin typeface="+mn-lt"/>
                    <a:ea typeface="+mn-ea"/>
                    <a:cs typeface="+mn-cs"/>
                  </a:rPr>
                  <a:t>行长挂帅</a:t>
                </a:r>
              </a:p>
            </p:txBody>
          </p:sp>
        </p:grpSp>
        <p:sp>
          <p:nvSpPr>
            <p:cNvPr id="102" name="Line 102"/>
            <p:cNvSpPr/>
            <p:nvPr/>
          </p:nvSpPr>
          <p:spPr>
            <a:xfrm>
              <a:off x="8001000" y="1771650"/>
              <a:ext cx="3771900" cy="9525"/>
            </a:xfrm>
            <a:custGeom>
              <a:avLst/>
              <a:gdLst/>
              <a:ahLst/>
              <a:cxnLst/>
              <a:rect l="l" t="t" r="r" b="b"/>
              <a:pathLst>
                <a:path w="3771900" h="9525">
                  <a:moveTo>
                    <a:pt x="0" y="0"/>
                  </a:moveTo>
                  <a:lnTo>
                    <a:pt x="3771900" y="0"/>
                  </a:lnTo>
                </a:path>
              </a:pathLst>
            </a:custGeom>
            <a:noFill/>
            <a:ln w="9525">
              <a:solidFill>
                <a:srgbClr val="E5ECF6"/>
              </a:solidFill>
            </a:ln>
          </p:spPr>
        </p:sp>
        <p:grpSp>
          <p:nvGrpSpPr>
            <p:cNvPr id="108" name="tier-2"/>
            <p:cNvGrpSpPr/>
            <p:nvPr/>
          </p:nvGrpSpPr>
          <p:grpSpPr>
            <a:xfrm>
              <a:off x="8143875" y="1881188"/>
              <a:ext cx="1423201" cy="261984"/>
              <a:chOff x="8143875" y="1881188"/>
              <a:chExt cx="1423201" cy="261984"/>
            </a:xfrm>
          </p:grpSpPr>
          <p:grpSp>
            <p:nvGrpSpPr>
              <p:cNvPr id="106" name="Group 106"/>
              <p:cNvGrpSpPr/>
              <p:nvPr/>
            </p:nvGrpSpPr>
            <p:grpSpPr>
              <a:xfrm>
                <a:off x="8143875" y="1881188"/>
                <a:ext cx="166688" cy="200025"/>
                <a:chOff x="8143875" y="1881188"/>
                <a:chExt cx="166688" cy="200025"/>
              </a:xfrm>
            </p:grpSpPr>
            <p:sp>
              <p:nvSpPr>
                <p:cNvPr id="103" name="Freeform 103"/>
                <p:cNvSpPr/>
                <p:nvPr/>
              </p:nvSpPr>
              <p:spPr>
                <a:xfrm>
                  <a:off x="8166100" y="18811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6669">
                  <a:solidFill>
                    <a:srgbClr val="841600"/>
                  </a:solidFill>
                </a:ln>
              </p:spPr>
            </p:sp>
            <p:sp>
              <p:nvSpPr>
                <p:cNvPr id="104" name="Freeform 104"/>
                <p:cNvSpPr/>
                <p:nvPr/>
              </p:nvSpPr>
              <p:spPr>
                <a:xfrm>
                  <a:off x="8143875" y="201453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16669">
                  <a:solidFill>
                    <a:srgbClr val="841600"/>
                  </a:solidFill>
                </a:ln>
              </p:spPr>
            </p:sp>
            <p:sp>
              <p:nvSpPr>
                <p:cNvPr id="105" name="Freeform 105"/>
                <p:cNvSpPr/>
                <p:nvPr/>
              </p:nvSpPr>
              <p:spPr>
                <a:xfrm>
                  <a:off x="8243888" y="2036763"/>
                  <a:ext cx="66675" cy="44450"/>
                </a:xfrm>
                <a:custGeom>
                  <a:avLst/>
                  <a:gdLst/>
                  <a:ahLst/>
                  <a:cxnLst/>
                  <a:rect l="l" t="t" r="r" b="b"/>
                  <a:pathLst>
                    <a:path w="66675" h="44450">
                      <a:moveTo>
                        <a:pt x="0" y="22225"/>
                      </a:moveTo>
                      <a:lnTo>
                        <a:pt x="22225" y="44450"/>
                      </a:lnTo>
                      <a:lnTo>
                        <a:pt x="66675" y="0"/>
                      </a:lnTo>
                    </a:path>
                  </a:pathLst>
                </a:custGeom>
                <a:noFill/>
                <a:ln w="16669">
                  <a:solidFill>
                    <a:srgbClr val="841600"/>
                  </a:solidFill>
                </a:ln>
              </p:spPr>
            </p:sp>
          </p:grpSp>
          <p:sp>
            <p:nvSpPr>
              <p:cNvPr id="107" name="TextBox 107"/>
              <p:cNvSpPr txBox="1"/>
              <p:nvPr/>
            </p:nvSpPr>
            <p:spPr>
              <a:xfrm>
                <a:off x="8528876" y="1930479"/>
                <a:ext cx="1038200" cy="212693"/>
              </a:xfrm>
              <a:prstGeom prst="rect">
                <a:avLst/>
              </a:prstGeom>
              <a:noFill/>
              <a:ln>
                <a:noFill/>
              </a:ln>
            </p:spPr>
            <p:txBody>
              <a:bodyPr wrap="none" lIns="0" tIns="0" rIns="0" bIns="0" anchor="t" anchorCtr="0">
                <a:spAutoFit/>
              </a:bodyPr>
              <a:lstStyle/>
              <a:p>
                <a:pPr algn="l"/>
                <a:r>
                  <a:rPr lang="zh-CN" sz="1090" b="1" dirty="0">
                    <a:solidFill>
                      <a:srgbClr val="1A1A1A"/>
                    </a:solidFill>
                    <a:latin typeface="+mn-lt"/>
                    <a:ea typeface="+mn-ea"/>
                    <a:cs typeface="+mn-cs"/>
                  </a:rPr>
                  <a:t>分管行领导牵头</a:t>
                </a:r>
              </a:p>
            </p:txBody>
          </p:sp>
        </p:grpSp>
        <p:sp>
          <p:nvSpPr>
            <p:cNvPr id="109" name="Line 109"/>
            <p:cNvSpPr/>
            <p:nvPr/>
          </p:nvSpPr>
          <p:spPr>
            <a:xfrm>
              <a:off x="8001000" y="2228850"/>
              <a:ext cx="3771900" cy="9525"/>
            </a:xfrm>
            <a:custGeom>
              <a:avLst/>
              <a:gdLst/>
              <a:ahLst/>
              <a:cxnLst/>
              <a:rect l="l" t="t" r="r" b="b"/>
              <a:pathLst>
                <a:path w="3771900" h="9525">
                  <a:moveTo>
                    <a:pt x="0" y="0"/>
                  </a:moveTo>
                  <a:lnTo>
                    <a:pt x="3771900" y="0"/>
                  </a:lnTo>
                </a:path>
              </a:pathLst>
            </a:custGeom>
            <a:noFill/>
            <a:ln w="9525">
              <a:solidFill>
                <a:srgbClr val="E5ECF6"/>
              </a:solidFill>
            </a:ln>
          </p:spPr>
        </p:sp>
        <p:grpSp>
          <p:nvGrpSpPr>
            <p:cNvPr id="118" name="tier-3"/>
            <p:cNvGrpSpPr/>
            <p:nvPr/>
          </p:nvGrpSpPr>
          <p:grpSpPr>
            <a:xfrm>
              <a:off x="8110538" y="2338388"/>
              <a:ext cx="1456538" cy="261984"/>
              <a:chOff x="8110538" y="2338388"/>
              <a:chExt cx="1456538" cy="261984"/>
            </a:xfrm>
          </p:grpSpPr>
          <p:grpSp>
            <p:nvGrpSpPr>
              <p:cNvPr id="116" name="Group 116"/>
              <p:cNvGrpSpPr/>
              <p:nvPr/>
            </p:nvGrpSpPr>
            <p:grpSpPr>
              <a:xfrm>
                <a:off x="8110538" y="2338388"/>
                <a:ext cx="200025" cy="200026"/>
                <a:chOff x="8110538" y="2338388"/>
                <a:chExt cx="200025" cy="200026"/>
              </a:xfrm>
            </p:grpSpPr>
            <p:sp>
              <p:nvSpPr>
                <p:cNvPr id="110" name="Freeform 110"/>
                <p:cNvSpPr/>
                <p:nvPr/>
              </p:nvSpPr>
              <p:spPr>
                <a:xfrm>
                  <a:off x="8188325" y="24272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41600"/>
                  </a:solidFill>
                </a:ln>
              </p:spPr>
            </p:sp>
            <p:sp>
              <p:nvSpPr>
                <p:cNvPr id="111" name="Freeform 111"/>
                <p:cNvSpPr/>
                <p:nvPr/>
              </p:nvSpPr>
              <p:spPr>
                <a:xfrm>
                  <a:off x="8166100" y="250507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16669">
                  <a:solidFill>
                    <a:srgbClr val="841600"/>
                  </a:solidFill>
                </a:ln>
              </p:spPr>
            </p:sp>
            <p:sp>
              <p:nvSpPr>
                <p:cNvPr id="112" name="Freeform 112"/>
                <p:cNvSpPr/>
                <p:nvPr/>
              </p:nvSpPr>
              <p:spPr>
                <a:xfrm>
                  <a:off x="8243888" y="23383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41600"/>
                  </a:solidFill>
                </a:ln>
              </p:spPr>
            </p:sp>
            <p:sp>
              <p:nvSpPr>
                <p:cNvPr id="113" name="Freeform 113"/>
                <p:cNvSpPr/>
                <p:nvPr/>
              </p:nvSpPr>
              <p:spPr>
                <a:xfrm>
                  <a:off x="8266113" y="241617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16669">
                  <a:solidFill>
                    <a:srgbClr val="841600"/>
                  </a:solidFill>
                </a:ln>
              </p:spPr>
            </p:sp>
            <p:sp>
              <p:nvSpPr>
                <p:cNvPr id="114" name="Freeform 114"/>
                <p:cNvSpPr/>
                <p:nvPr/>
              </p:nvSpPr>
              <p:spPr>
                <a:xfrm>
                  <a:off x="8132763" y="23383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41600"/>
                  </a:solidFill>
                </a:ln>
              </p:spPr>
            </p:sp>
            <p:sp>
              <p:nvSpPr>
                <p:cNvPr id="115" name="Freeform 115"/>
                <p:cNvSpPr/>
                <p:nvPr/>
              </p:nvSpPr>
              <p:spPr>
                <a:xfrm>
                  <a:off x="8110538" y="241617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16669">
                  <a:solidFill>
                    <a:srgbClr val="841600"/>
                  </a:solidFill>
                </a:ln>
              </p:spPr>
            </p:sp>
          </p:grpSp>
          <p:sp>
            <p:nvSpPr>
              <p:cNvPr id="117" name="TextBox 117"/>
              <p:cNvSpPr txBox="1"/>
              <p:nvPr/>
            </p:nvSpPr>
            <p:spPr>
              <a:xfrm>
                <a:off x="8528876" y="2387679"/>
                <a:ext cx="1038200" cy="212693"/>
              </a:xfrm>
              <a:prstGeom prst="rect">
                <a:avLst/>
              </a:prstGeom>
              <a:noFill/>
              <a:ln>
                <a:noFill/>
              </a:ln>
            </p:spPr>
            <p:txBody>
              <a:bodyPr wrap="none" lIns="0" tIns="0" rIns="0" bIns="0" anchor="t" anchorCtr="0">
                <a:spAutoFit/>
              </a:bodyPr>
              <a:lstStyle/>
              <a:p>
                <a:pPr algn="l"/>
                <a:r>
                  <a:rPr lang="zh-CN" sz="1090" b="1" dirty="0">
                    <a:solidFill>
                      <a:srgbClr val="1A1A1A"/>
                    </a:solidFill>
                    <a:latin typeface="+mn-lt"/>
                    <a:ea typeface="+mn-ea"/>
                    <a:cs typeface="+mn-cs"/>
                  </a:rPr>
                  <a:t>部门负责人落实</a:t>
                </a:r>
              </a:p>
            </p:txBody>
          </p:sp>
        </p:grpSp>
      </p:grpSp>
      <p:grpSp>
        <p:nvGrpSpPr>
          <p:cNvPr id="151" name="supervision-rhythm"/>
          <p:cNvGrpSpPr/>
          <p:nvPr/>
        </p:nvGrpSpPr>
        <p:grpSpPr>
          <a:xfrm>
            <a:off x="7810500" y="2857500"/>
            <a:ext cx="4114800" cy="1905000"/>
            <a:chOff x="7810500" y="2857500"/>
            <a:chExt cx="4114800" cy="1905000"/>
          </a:xfrm>
        </p:grpSpPr>
        <p:sp>
          <p:nvSpPr>
            <p:cNvPr id="120" name="Rectangle 120"/>
            <p:cNvSpPr/>
            <p:nvPr/>
          </p:nvSpPr>
          <p:spPr>
            <a:xfrm>
              <a:off x="7810500" y="2857500"/>
              <a:ext cx="4114800" cy="1905000"/>
            </a:xfrm>
            <a:prstGeom prst="roundRect">
              <a:avLst>
                <a:gd name="adj" fmla="val 5000"/>
              </a:avLst>
            </a:prstGeom>
            <a:solidFill>
              <a:srgbClr val="FFFFFF"/>
            </a:solidFill>
            <a:ln w="9525">
              <a:solidFill>
                <a:srgbClr val="D7E2F2"/>
              </a:solidFill>
            </a:ln>
          </p:spPr>
        </p:sp>
        <p:sp>
          <p:nvSpPr>
            <p:cNvPr id="121" name="Rectangle 121"/>
            <p:cNvSpPr/>
            <p:nvPr/>
          </p:nvSpPr>
          <p:spPr>
            <a:xfrm>
              <a:off x="7810500" y="2857500"/>
              <a:ext cx="4114800" cy="381000"/>
            </a:xfrm>
            <a:prstGeom prst="roundRect">
              <a:avLst>
                <a:gd name="adj" fmla="val 25000"/>
              </a:avLst>
            </a:prstGeom>
            <a:solidFill>
              <a:srgbClr val="841600"/>
            </a:solidFill>
            <a:ln>
              <a:noFill/>
            </a:ln>
          </p:spPr>
        </p:sp>
        <p:sp>
          <p:nvSpPr>
            <p:cNvPr id="122" name="Rectangle 122"/>
            <p:cNvSpPr/>
            <p:nvPr/>
          </p:nvSpPr>
          <p:spPr>
            <a:xfrm>
              <a:off x="7810500" y="3067050"/>
              <a:ext cx="4114800" cy="171450"/>
            </a:xfrm>
            <a:prstGeom prst="rect">
              <a:avLst/>
            </a:prstGeom>
            <a:solidFill>
              <a:srgbClr val="841600"/>
            </a:solidFill>
            <a:ln>
              <a:noFill/>
            </a:ln>
          </p:spPr>
        </p:sp>
        <p:sp>
          <p:nvSpPr>
            <p:cNvPr id="123" name="TextBox 123"/>
            <p:cNvSpPr txBox="1"/>
            <p:nvPr/>
          </p:nvSpPr>
          <p:spPr>
            <a:xfrm>
              <a:off x="9296400" y="2985135"/>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周月季督导节奏</a:t>
              </a:r>
            </a:p>
          </p:txBody>
        </p:sp>
        <p:grpSp>
          <p:nvGrpSpPr>
            <p:cNvPr id="133" name="rhythm-week"/>
            <p:cNvGrpSpPr/>
            <p:nvPr/>
          </p:nvGrpSpPr>
          <p:grpSpPr>
            <a:xfrm>
              <a:off x="8001000" y="3352800"/>
              <a:ext cx="1066800" cy="685800"/>
              <a:chOff x="8001000" y="3352800"/>
              <a:chExt cx="1066800" cy="685800"/>
            </a:xfrm>
          </p:grpSpPr>
          <p:sp>
            <p:nvSpPr>
              <p:cNvPr id="124" name="Rectangle 124"/>
              <p:cNvSpPr/>
              <p:nvPr/>
            </p:nvSpPr>
            <p:spPr>
              <a:xfrm>
                <a:off x="8001000" y="3352800"/>
                <a:ext cx="1066800" cy="685800"/>
              </a:xfrm>
              <a:prstGeom prst="roundRect">
                <a:avLst>
                  <a:gd name="adj" fmla="val 11111"/>
                </a:avLst>
              </a:prstGeom>
              <a:solidFill>
                <a:srgbClr val="EFF5FD"/>
              </a:solidFill>
              <a:ln>
                <a:noFill/>
              </a:ln>
            </p:spPr>
          </p:sp>
          <p:grpSp>
            <p:nvGrpSpPr>
              <p:cNvPr id="131" name="Group 131"/>
              <p:cNvGrpSpPr/>
              <p:nvPr/>
            </p:nvGrpSpPr>
            <p:grpSpPr>
              <a:xfrm>
                <a:off x="8451850" y="3459956"/>
                <a:ext cx="165099" cy="185737"/>
                <a:chOff x="8451850" y="3459956"/>
                <a:chExt cx="165099" cy="185737"/>
              </a:xfrm>
            </p:grpSpPr>
            <p:sp>
              <p:nvSpPr>
                <p:cNvPr id="125" name="Freeform 125"/>
                <p:cNvSpPr/>
                <p:nvPr/>
              </p:nvSpPr>
              <p:spPr>
                <a:xfrm>
                  <a:off x="8451850" y="3480594"/>
                  <a:ext cx="165099" cy="165099"/>
                </a:xfrm>
                <a:custGeom>
                  <a:avLst/>
                  <a:gdLst/>
                  <a:ahLst/>
                  <a:cxnLst/>
                  <a:rect l="l" t="t" r="r" b="b"/>
                  <a:pathLst>
                    <a:path w="165099" h="165099">
                      <a:moveTo>
                        <a:pt x="0" y="20637"/>
                      </a:moveTo>
                      <a:cubicBezTo>
                        <a:pt x="0" y="9240"/>
                        <a:pt x="9240" y="0"/>
                        <a:pt x="20637" y="0"/>
                      </a:cubicBezTo>
                      <a:lnTo>
                        <a:pt x="144462" y="0"/>
                      </a:lnTo>
                      <a:cubicBezTo>
                        <a:pt x="155860" y="0"/>
                        <a:pt x="165099" y="9240"/>
                        <a:pt x="165099" y="20637"/>
                      </a:cubicBezTo>
                      <a:lnTo>
                        <a:pt x="165099" y="144462"/>
                      </a:lnTo>
                      <a:cubicBezTo>
                        <a:pt x="165099" y="155860"/>
                        <a:pt x="155860" y="165099"/>
                        <a:pt x="144462" y="165099"/>
                      </a:cubicBezTo>
                      <a:lnTo>
                        <a:pt x="20637" y="165099"/>
                      </a:lnTo>
                      <a:cubicBezTo>
                        <a:pt x="9240" y="165099"/>
                        <a:pt x="0" y="155860"/>
                        <a:pt x="0" y="144462"/>
                      </a:cubicBezTo>
                      <a:lnTo>
                        <a:pt x="0" y="20637"/>
                      </a:lnTo>
                    </a:path>
                  </a:pathLst>
                </a:custGeom>
                <a:noFill/>
                <a:ln w="15478">
                  <a:solidFill>
                    <a:srgbClr val="841600"/>
                  </a:solidFill>
                </a:ln>
              </p:spPr>
            </p:sp>
            <p:sp>
              <p:nvSpPr>
                <p:cNvPr id="126" name="Freeform 126"/>
                <p:cNvSpPr/>
                <p:nvPr/>
              </p:nvSpPr>
              <p:spPr>
                <a:xfrm>
                  <a:off x="8575674" y="3459956"/>
                  <a:ext cx="9525" cy="41275"/>
                </a:xfrm>
                <a:custGeom>
                  <a:avLst/>
                  <a:gdLst/>
                  <a:ahLst/>
                  <a:cxnLst/>
                  <a:rect l="l" t="t" r="r" b="b"/>
                  <a:pathLst>
                    <a:path w="9525" h="41275">
                      <a:moveTo>
                        <a:pt x="0" y="0"/>
                      </a:moveTo>
                      <a:lnTo>
                        <a:pt x="0" y="41275"/>
                      </a:lnTo>
                    </a:path>
                  </a:pathLst>
                </a:custGeom>
                <a:noFill/>
                <a:ln w="15478">
                  <a:solidFill>
                    <a:srgbClr val="841600"/>
                  </a:solidFill>
                </a:ln>
              </p:spPr>
            </p:sp>
            <p:sp>
              <p:nvSpPr>
                <p:cNvPr id="127" name="Freeform 127"/>
                <p:cNvSpPr/>
                <p:nvPr/>
              </p:nvSpPr>
              <p:spPr>
                <a:xfrm>
                  <a:off x="8493125" y="3459956"/>
                  <a:ext cx="9525" cy="41275"/>
                </a:xfrm>
                <a:custGeom>
                  <a:avLst/>
                  <a:gdLst/>
                  <a:ahLst/>
                  <a:cxnLst/>
                  <a:rect l="l" t="t" r="r" b="b"/>
                  <a:pathLst>
                    <a:path w="9525" h="41275">
                      <a:moveTo>
                        <a:pt x="0" y="0"/>
                      </a:moveTo>
                      <a:lnTo>
                        <a:pt x="0" y="41275"/>
                      </a:lnTo>
                    </a:path>
                  </a:pathLst>
                </a:custGeom>
                <a:noFill/>
                <a:ln w="15478">
                  <a:solidFill>
                    <a:srgbClr val="841600"/>
                  </a:solidFill>
                </a:ln>
              </p:spPr>
            </p:sp>
            <p:sp>
              <p:nvSpPr>
                <p:cNvPr id="128" name="Freeform 128"/>
                <p:cNvSpPr/>
                <p:nvPr/>
              </p:nvSpPr>
              <p:spPr>
                <a:xfrm>
                  <a:off x="8451850" y="3542506"/>
                  <a:ext cx="165099" cy="9525"/>
                </a:xfrm>
                <a:custGeom>
                  <a:avLst/>
                  <a:gdLst/>
                  <a:ahLst/>
                  <a:cxnLst/>
                  <a:rect l="l" t="t" r="r" b="b"/>
                  <a:pathLst>
                    <a:path w="165099" h="9525">
                      <a:moveTo>
                        <a:pt x="0" y="0"/>
                      </a:moveTo>
                      <a:lnTo>
                        <a:pt x="165099" y="0"/>
                      </a:lnTo>
                    </a:path>
                  </a:pathLst>
                </a:custGeom>
                <a:noFill/>
                <a:ln w="15478">
                  <a:solidFill>
                    <a:srgbClr val="841600"/>
                  </a:solidFill>
                </a:ln>
              </p:spPr>
            </p:sp>
            <p:sp>
              <p:nvSpPr>
                <p:cNvPr id="129" name="Freeform 129"/>
                <p:cNvSpPr/>
                <p:nvPr/>
              </p:nvSpPr>
              <p:spPr>
                <a:xfrm>
                  <a:off x="8524081" y="3583781"/>
                  <a:ext cx="10319" cy="9525"/>
                </a:xfrm>
                <a:custGeom>
                  <a:avLst/>
                  <a:gdLst/>
                  <a:ahLst/>
                  <a:cxnLst/>
                  <a:rect l="l" t="t" r="r" b="b"/>
                  <a:pathLst>
                    <a:path w="10319" h="9525">
                      <a:moveTo>
                        <a:pt x="0" y="0"/>
                      </a:moveTo>
                      <a:lnTo>
                        <a:pt x="10319" y="0"/>
                      </a:lnTo>
                    </a:path>
                  </a:pathLst>
                </a:custGeom>
                <a:noFill/>
                <a:ln w="15478">
                  <a:solidFill>
                    <a:srgbClr val="841600"/>
                  </a:solidFill>
                </a:ln>
              </p:spPr>
            </p:sp>
            <p:sp>
              <p:nvSpPr>
                <p:cNvPr id="130" name="Freeform 130"/>
                <p:cNvSpPr/>
                <p:nvPr/>
              </p:nvSpPr>
              <p:spPr>
                <a:xfrm>
                  <a:off x="8534400" y="3583781"/>
                  <a:ext cx="9525" cy="30956"/>
                </a:xfrm>
                <a:custGeom>
                  <a:avLst/>
                  <a:gdLst/>
                  <a:ahLst/>
                  <a:cxnLst/>
                  <a:rect l="l" t="t" r="r" b="b"/>
                  <a:pathLst>
                    <a:path w="9525" h="30956">
                      <a:moveTo>
                        <a:pt x="0" y="0"/>
                      </a:moveTo>
                      <a:lnTo>
                        <a:pt x="0" y="30956"/>
                      </a:lnTo>
                    </a:path>
                  </a:pathLst>
                </a:custGeom>
                <a:noFill/>
                <a:ln w="15478">
                  <a:solidFill>
                    <a:srgbClr val="841600"/>
                  </a:solidFill>
                </a:ln>
              </p:spPr>
            </p:sp>
          </p:grpSp>
          <p:sp>
            <p:nvSpPr>
              <p:cNvPr id="132" name="TextBox 132"/>
              <p:cNvSpPr txBox="1"/>
              <p:nvPr/>
            </p:nvSpPr>
            <p:spPr>
              <a:xfrm>
                <a:off x="8325307" y="3815001"/>
                <a:ext cx="418186"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周监测</a:t>
                </a:r>
              </a:p>
            </p:txBody>
          </p:sp>
        </p:grpSp>
        <p:grpSp>
          <p:nvGrpSpPr>
            <p:cNvPr id="139" name="rhythm-month"/>
            <p:cNvGrpSpPr/>
            <p:nvPr/>
          </p:nvGrpSpPr>
          <p:grpSpPr>
            <a:xfrm>
              <a:off x="9334500" y="3352800"/>
              <a:ext cx="1066800" cy="685800"/>
              <a:chOff x="9334500" y="3352800"/>
              <a:chExt cx="1066800" cy="685800"/>
            </a:xfrm>
          </p:grpSpPr>
          <p:sp>
            <p:nvSpPr>
              <p:cNvPr id="134" name="Rectangle 134"/>
              <p:cNvSpPr/>
              <p:nvPr/>
            </p:nvSpPr>
            <p:spPr>
              <a:xfrm>
                <a:off x="9334500" y="3352800"/>
                <a:ext cx="1066800" cy="685800"/>
              </a:xfrm>
              <a:prstGeom prst="roundRect">
                <a:avLst>
                  <a:gd name="adj" fmla="val 11111"/>
                </a:avLst>
              </a:prstGeom>
              <a:solidFill>
                <a:srgbClr val="EFF5FD"/>
              </a:solidFill>
              <a:ln>
                <a:noFill/>
              </a:ln>
            </p:spPr>
          </p:sp>
          <p:grpSp>
            <p:nvGrpSpPr>
              <p:cNvPr id="137" name="Group 137"/>
              <p:cNvGrpSpPr/>
              <p:nvPr/>
            </p:nvGrpSpPr>
            <p:grpSpPr>
              <a:xfrm>
                <a:off x="9775031" y="3459956"/>
                <a:ext cx="185737" cy="185737"/>
                <a:chOff x="9775031" y="3459956"/>
                <a:chExt cx="185737" cy="185737"/>
              </a:xfrm>
            </p:grpSpPr>
            <p:sp>
              <p:nvSpPr>
                <p:cNvPr id="135" name="Freeform 135"/>
                <p:cNvSpPr/>
                <p:nvPr/>
              </p:nvSpPr>
              <p:spPr>
                <a:xfrm>
                  <a:off x="9775031" y="3459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15478">
                  <a:solidFill>
                    <a:srgbClr val="841600"/>
                  </a:solidFill>
                </a:ln>
              </p:spPr>
            </p:sp>
            <p:sp>
              <p:nvSpPr>
                <p:cNvPr id="136" name="Freeform 136"/>
                <p:cNvSpPr/>
                <p:nvPr/>
              </p:nvSpPr>
              <p:spPr>
                <a:xfrm>
                  <a:off x="9867900" y="3501231"/>
                  <a:ext cx="30956" cy="82550"/>
                </a:xfrm>
                <a:custGeom>
                  <a:avLst/>
                  <a:gdLst/>
                  <a:ahLst/>
                  <a:cxnLst/>
                  <a:rect l="l" t="t" r="r" b="b"/>
                  <a:pathLst>
                    <a:path w="30956" h="82550">
                      <a:moveTo>
                        <a:pt x="0" y="0"/>
                      </a:moveTo>
                      <a:lnTo>
                        <a:pt x="0" y="51594"/>
                      </a:lnTo>
                      <a:lnTo>
                        <a:pt x="30956" y="82550"/>
                      </a:lnTo>
                    </a:path>
                  </a:pathLst>
                </a:custGeom>
                <a:noFill/>
                <a:ln w="15478">
                  <a:solidFill>
                    <a:srgbClr val="841600"/>
                  </a:solidFill>
                </a:ln>
              </p:spPr>
            </p:sp>
          </p:grpSp>
          <p:sp>
            <p:nvSpPr>
              <p:cNvPr id="138" name="TextBox 138"/>
              <p:cNvSpPr txBox="1"/>
              <p:nvPr/>
            </p:nvSpPr>
            <p:spPr>
              <a:xfrm>
                <a:off x="9658807" y="3815001"/>
                <a:ext cx="418186"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月调度</a:t>
                </a:r>
              </a:p>
            </p:txBody>
          </p:sp>
        </p:grpSp>
        <p:grpSp>
          <p:nvGrpSpPr>
            <p:cNvPr id="145" name="rhythm-quarter"/>
            <p:cNvGrpSpPr/>
            <p:nvPr/>
          </p:nvGrpSpPr>
          <p:grpSpPr>
            <a:xfrm>
              <a:off x="10668000" y="3352800"/>
              <a:ext cx="1066800" cy="685800"/>
              <a:chOff x="10668000" y="3352800"/>
              <a:chExt cx="1066800" cy="685800"/>
            </a:xfrm>
          </p:grpSpPr>
          <p:sp>
            <p:nvSpPr>
              <p:cNvPr id="140" name="Rectangle 140"/>
              <p:cNvSpPr/>
              <p:nvPr/>
            </p:nvSpPr>
            <p:spPr>
              <a:xfrm>
                <a:off x="10668000" y="3352800"/>
                <a:ext cx="1066800" cy="685800"/>
              </a:xfrm>
              <a:prstGeom prst="roundRect">
                <a:avLst>
                  <a:gd name="adj" fmla="val 11111"/>
                </a:avLst>
              </a:prstGeom>
              <a:solidFill>
                <a:srgbClr val="EFF5FD"/>
              </a:solidFill>
              <a:ln>
                <a:noFill/>
              </a:ln>
            </p:spPr>
          </p:sp>
          <p:grpSp>
            <p:nvGrpSpPr>
              <p:cNvPr id="143" name="Group 143"/>
              <p:cNvGrpSpPr/>
              <p:nvPr/>
            </p:nvGrpSpPr>
            <p:grpSpPr>
              <a:xfrm>
                <a:off x="11105655" y="3461730"/>
                <a:ext cx="186549" cy="186839"/>
                <a:chOff x="11105655" y="3461730"/>
                <a:chExt cx="186549" cy="186839"/>
              </a:xfrm>
            </p:grpSpPr>
            <p:sp>
              <p:nvSpPr>
                <p:cNvPr id="141" name="Freeform 141"/>
                <p:cNvSpPr/>
                <p:nvPr/>
              </p:nvSpPr>
              <p:spPr>
                <a:xfrm>
                  <a:off x="11105655" y="3461730"/>
                  <a:ext cx="186549" cy="186839"/>
                </a:xfrm>
                <a:custGeom>
                  <a:avLst/>
                  <a:gdLst/>
                  <a:ahLst/>
                  <a:cxnLst/>
                  <a:rect l="l" t="t" r="r" b="b"/>
                  <a:pathLst>
                    <a:path w="186549" h="186839">
                      <a:moveTo>
                        <a:pt x="75107" y="289"/>
                      </a:moveTo>
                      <a:cubicBezTo>
                        <a:pt x="30427" y="10647"/>
                        <a:pt x="0" y="52071"/>
                        <a:pt x="3479" y="97804"/>
                      </a:cubicBezTo>
                      <a:cubicBezTo>
                        <a:pt x="6959" y="143536"/>
                        <a:pt x="43303" y="179880"/>
                        <a:pt x="89035" y="183360"/>
                      </a:cubicBezTo>
                      <a:cubicBezTo>
                        <a:pt x="134768" y="186839"/>
                        <a:pt x="176192" y="156411"/>
                        <a:pt x="186549" y="111732"/>
                      </a:cubicBezTo>
                      <a:cubicBezTo>
                        <a:pt x="186549" y="106033"/>
                        <a:pt x="181930" y="101413"/>
                        <a:pt x="176231" y="101413"/>
                      </a:cubicBezTo>
                      <a:lnTo>
                        <a:pt x="106063" y="101413"/>
                      </a:lnTo>
                      <a:cubicBezTo>
                        <a:pt x="94666" y="101413"/>
                        <a:pt x="85426" y="92173"/>
                        <a:pt x="85426" y="80775"/>
                      </a:cubicBezTo>
                      <a:lnTo>
                        <a:pt x="85426" y="8544"/>
                      </a:lnTo>
                      <a:cubicBezTo>
                        <a:pt x="85167" y="6075"/>
                        <a:pt x="83930" y="3812"/>
                        <a:pt x="81991" y="2261"/>
                      </a:cubicBezTo>
                      <a:cubicBezTo>
                        <a:pt x="80052" y="710"/>
                        <a:pt x="77573" y="0"/>
                        <a:pt x="75107" y="289"/>
                      </a:cubicBezTo>
                    </a:path>
                  </a:pathLst>
                </a:custGeom>
                <a:noFill/>
                <a:ln w="15478">
                  <a:solidFill>
                    <a:srgbClr val="841600"/>
                  </a:solidFill>
                </a:ln>
              </p:spPr>
            </p:sp>
            <p:sp>
              <p:nvSpPr>
                <p:cNvPr id="142" name="Freeform 142"/>
                <p:cNvSpPr/>
                <p:nvPr/>
              </p:nvSpPr>
              <p:spPr>
                <a:xfrm>
                  <a:off x="11232356" y="3465116"/>
                  <a:ext cx="56753" cy="56753"/>
                </a:xfrm>
                <a:custGeom>
                  <a:avLst/>
                  <a:gdLst/>
                  <a:ahLst/>
                  <a:cxnLst/>
                  <a:rect l="l" t="t" r="r" b="b"/>
                  <a:pathLst>
                    <a:path w="56753" h="56753">
                      <a:moveTo>
                        <a:pt x="0" y="0"/>
                      </a:moveTo>
                      <a:cubicBezTo>
                        <a:pt x="26538" y="9344"/>
                        <a:pt x="47409" y="30215"/>
                        <a:pt x="56753" y="56753"/>
                      </a:cubicBezTo>
                      <a:lnTo>
                        <a:pt x="10319" y="56753"/>
                      </a:lnTo>
                      <a:cubicBezTo>
                        <a:pt x="4620" y="56753"/>
                        <a:pt x="0" y="52133"/>
                        <a:pt x="0" y="46434"/>
                      </a:cubicBezTo>
                      <a:lnTo>
                        <a:pt x="0" y="0"/>
                      </a:lnTo>
                    </a:path>
                  </a:pathLst>
                </a:custGeom>
                <a:noFill/>
                <a:ln w="15478">
                  <a:solidFill>
                    <a:srgbClr val="841600"/>
                  </a:solidFill>
                </a:ln>
              </p:spPr>
            </p:sp>
          </p:grpSp>
          <p:sp>
            <p:nvSpPr>
              <p:cNvPr id="144" name="TextBox 144"/>
              <p:cNvSpPr txBox="1"/>
              <p:nvPr/>
            </p:nvSpPr>
            <p:spPr>
              <a:xfrm>
                <a:off x="10992307" y="3815001"/>
                <a:ext cx="418186"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季评估</a:t>
                </a:r>
              </a:p>
            </p:txBody>
          </p:sp>
        </p:grpSp>
        <p:sp>
          <p:nvSpPr>
            <p:cNvPr id="146" name="Line 146"/>
            <p:cNvSpPr/>
            <p:nvPr/>
          </p:nvSpPr>
          <p:spPr>
            <a:xfrm>
              <a:off x="8001000" y="4248150"/>
              <a:ext cx="3733800" cy="9525"/>
            </a:xfrm>
            <a:custGeom>
              <a:avLst/>
              <a:gdLst/>
              <a:ahLst/>
              <a:cxnLst/>
              <a:rect l="l" t="t" r="r" b="b"/>
              <a:pathLst>
                <a:path w="3733800" h="9525">
                  <a:moveTo>
                    <a:pt x="0" y="0"/>
                  </a:moveTo>
                  <a:lnTo>
                    <a:pt x="3733800" y="0"/>
                  </a:lnTo>
                </a:path>
              </a:pathLst>
            </a:custGeom>
            <a:noFill/>
            <a:ln w="14288">
              <a:solidFill>
                <a:srgbClr val="ECC1B8"/>
              </a:solidFill>
            </a:ln>
          </p:spPr>
        </p:sp>
        <p:sp>
          <p:nvSpPr>
            <p:cNvPr id="147" name="Ellipse 147"/>
            <p:cNvSpPr/>
            <p:nvPr/>
          </p:nvSpPr>
          <p:spPr>
            <a:xfrm>
              <a:off x="8486775" y="4200525"/>
              <a:ext cx="95250" cy="95250"/>
            </a:xfrm>
            <a:prstGeom prst="ellipse">
              <a:avLst/>
            </a:prstGeom>
            <a:solidFill>
              <a:srgbClr val="FFFFFF"/>
            </a:solidFill>
            <a:ln w="14288">
              <a:solidFill>
                <a:srgbClr val="841600"/>
              </a:solidFill>
            </a:ln>
          </p:spPr>
        </p:sp>
        <p:sp>
          <p:nvSpPr>
            <p:cNvPr id="148" name="Ellipse 148"/>
            <p:cNvSpPr/>
            <p:nvPr/>
          </p:nvSpPr>
          <p:spPr>
            <a:xfrm>
              <a:off x="9820275" y="4200525"/>
              <a:ext cx="95250" cy="95250"/>
            </a:xfrm>
            <a:prstGeom prst="ellipse">
              <a:avLst/>
            </a:prstGeom>
            <a:solidFill>
              <a:srgbClr val="FFFFFF"/>
            </a:solidFill>
            <a:ln w="14288">
              <a:solidFill>
                <a:srgbClr val="841600"/>
              </a:solidFill>
            </a:ln>
          </p:spPr>
        </p:sp>
        <p:sp>
          <p:nvSpPr>
            <p:cNvPr id="149" name="Ellipse 149"/>
            <p:cNvSpPr/>
            <p:nvPr/>
          </p:nvSpPr>
          <p:spPr>
            <a:xfrm>
              <a:off x="11153775" y="4200525"/>
              <a:ext cx="95250" cy="95250"/>
            </a:xfrm>
            <a:prstGeom prst="ellipse">
              <a:avLst/>
            </a:prstGeom>
            <a:solidFill>
              <a:srgbClr val="FFFFFF"/>
            </a:solidFill>
            <a:ln w="14288">
              <a:solidFill>
                <a:srgbClr val="841600"/>
              </a:solidFill>
            </a:ln>
          </p:spPr>
        </p:sp>
        <p:sp>
          <p:nvSpPr>
            <p:cNvPr id="150" name="TextBox 150"/>
            <p:cNvSpPr txBox="1"/>
            <p:nvPr/>
          </p:nvSpPr>
          <p:spPr>
            <a:xfrm>
              <a:off x="8873109" y="4477702"/>
              <a:ext cx="1989582" cy="205359"/>
            </a:xfrm>
            <a:prstGeom prst="rect">
              <a:avLst/>
            </a:prstGeom>
            <a:noFill/>
            <a:ln>
              <a:noFill/>
            </a:ln>
          </p:spPr>
          <p:txBody>
            <a:bodyPr wrap="none" lIns="0" tIns="0" rIns="0" bIns="0" anchor="t" anchorCtr="0">
              <a:spAutoFit/>
            </a:bodyPr>
            <a:lstStyle/>
            <a:p>
              <a:pPr algn="ctr"/>
              <a:r>
                <a:rPr lang="zh-CN" sz="1050" b="1" dirty="0">
                  <a:solidFill>
                    <a:srgbClr val="841600"/>
                  </a:solidFill>
                  <a:latin typeface="+mn-lt"/>
                  <a:ea typeface="+mn-ea"/>
                  <a:cs typeface="+mn-cs"/>
                </a:rPr>
                <a:t>责任到人｜节点到周｜结果到季</a:t>
              </a:r>
            </a:p>
          </p:txBody>
        </p:sp>
      </p:grpSp>
      <p:grpSp>
        <p:nvGrpSpPr>
          <p:cNvPr id="190" name="traffic-light-mechanism"/>
          <p:cNvGrpSpPr/>
          <p:nvPr/>
        </p:nvGrpSpPr>
        <p:grpSpPr>
          <a:xfrm>
            <a:off x="266700" y="4876800"/>
            <a:ext cx="11658600" cy="1752600"/>
            <a:chOff x="266700" y="4876800"/>
            <a:chExt cx="11658600" cy="1752600"/>
          </a:xfrm>
        </p:grpSpPr>
        <p:sp>
          <p:nvSpPr>
            <p:cNvPr id="152" name="Rectangle 152"/>
            <p:cNvSpPr/>
            <p:nvPr/>
          </p:nvSpPr>
          <p:spPr>
            <a:xfrm>
              <a:off x="266700" y="4876800"/>
              <a:ext cx="11658600" cy="1752600"/>
            </a:xfrm>
            <a:prstGeom prst="roundRect">
              <a:avLst>
                <a:gd name="adj" fmla="val 5435"/>
              </a:avLst>
            </a:prstGeom>
            <a:solidFill>
              <a:srgbClr val="FFFFFF"/>
            </a:solidFill>
            <a:ln w="9525">
              <a:solidFill>
                <a:srgbClr val="D7E2F2"/>
              </a:solidFill>
            </a:ln>
          </p:spPr>
        </p:sp>
        <p:sp>
          <p:nvSpPr>
            <p:cNvPr id="153" name="Rectangle 153"/>
            <p:cNvSpPr/>
            <p:nvPr/>
          </p:nvSpPr>
          <p:spPr>
            <a:xfrm>
              <a:off x="266700" y="4876800"/>
              <a:ext cx="11658600" cy="342900"/>
            </a:xfrm>
            <a:prstGeom prst="roundRect">
              <a:avLst>
                <a:gd name="adj" fmla="val 27778"/>
              </a:avLst>
            </a:prstGeom>
            <a:solidFill>
              <a:srgbClr val="841600"/>
            </a:solidFill>
            <a:ln>
              <a:noFill/>
            </a:ln>
          </p:spPr>
        </p:sp>
        <p:sp>
          <p:nvSpPr>
            <p:cNvPr id="154" name="Rectangle 154"/>
            <p:cNvSpPr/>
            <p:nvPr/>
          </p:nvSpPr>
          <p:spPr>
            <a:xfrm>
              <a:off x="266700" y="5048250"/>
              <a:ext cx="11658600" cy="171450"/>
            </a:xfrm>
            <a:prstGeom prst="rect">
              <a:avLst/>
            </a:prstGeom>
            <a:solidFill>
              <a:srgbClr val="841600"/>
            </a:solidFill>
            <a:ln>
              <a:noFill/>
            </a:ln>
          </p:spPr>
        </p:sp>
        <p:sp>
          <p:nvSpPr>
            <p:cNvPr id="155" name="TextBox 155"/>
            <p:cNvSpPr txBox="1"/>
            <p:nvPr/>
          </p:nvSpPr>
          <p:spPr>
            <a:xfrm>
              <a:off x="5443728" y="4975860"/>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红黄绿灯升级机制</a:t>
              </a:r>
            </a:p>
          </p:txBody>
        </p:sp>
        <p:sp>
          <p:nvSpPr>
            <p:cNvPr id="156" name="Line 156"/>
            <p:cNvSpPr/>
            <p:nvPr/>
          </p:nvSpPr>
          <p:spPr>
            <a:xfrm>
              <a:off x="4152900" y="5314950"/>
              <a:ext cx="9525" cy="1219200"/>
            </a:xfrm>
            <a:custGeom>
              <a:avLst/>
              <a:gdLst/>
              <a:ahLst/>
              <a:cxnLst/>
              <a:rect l="l" t="t" r="r" b="b"/>
              <a:pathLst>
                <a:path w="9525" h="1219200">
                  <a:moveTo>
                    <a:pt x="0" y="0"/>
                  </a:moveTo>
                  <a:lnTo>
                    <a:pt x="0" y="1219200"/>
                  </a:lnTo>
                </a:path>
              </a:pathLst>
            </a:custGeom>
            <a:noFill/>
            <a:ln w="9525">
              <a:solidFill>
                <a:srgbClr val="E5ECF6"/>
              </a:solidFill>
            </a:ln>
          </p:spPr>
        </p:sp>
        <p:sp>
          <p:nvSpPr>
            <p:cNvPr id="157" name="Line 157"/>
            <p:cNvSpPr/>
            <p:nvPr/>
          </p:nvSpPr>
          <p:spPr>
            <a:xfrm>
              <a:off x="8039100" y="5314950"/>
              <a:ext cx="9525" cy="1219200"/>
            </a:xfrm>
            <a:custGeom>
              <a:avLst/>
              <a:gdLst/>
              <a:ahLst/>
              <a:cxnLst/>
              <a:rect l="l" t="t" r="r" b="b"/>
              <a:pathLst>
                <a:path w="9525" h="1219200">
                  <a:moveTo>
                    <a:pt x="0" y="0"/>
                  </a:moveTo>
                  <a:lnTo>
                    <a:pt x="0" y="1219200"/>
                  </a:lnTo>
                </a:path>
              </a:pathLst>
            </a:custGeom>
            <a:noFill/>
            <a:ln w="9525">
              <a:solidFill>
                <a:srgbClr val="E5ECF6"/>
              </a:solidFill>
            </a:ln>
          </p:spPr>
        </p:sp>
        <p:grpSp>
          <p:nvGrpSpPr>
            <p:cNvPr id="166" name="light-green"/>
            <p:cNvGrpSpPr/>
            <p:nvPr/>
          </p:nvGrpSpPr>
          <p:grpSpPr>
            <a:xfrm>
              <a:off x="361950" y="5448300"/>
              <a:ext cx="3695700" cy="1085850"/>
              <a:chOff x="361950" y="5448300"/>
              <a:chExt cx="3695700" cy="1085850"/>
            </a:xfrm>
          </p:grpSpPr>
          <p:sp>
            <p:nvSpPr>
              <p:cNvPr id="158" name="Ellipse 158"/>
              <p:cNvSpPr/>
              <p:nvPr/>
            </p:nvSpPr>
            <p:spPr>
              <a:xfrm>
                <a:off x="476250" y="5448300"/>
                <a:ext cx="152400" cy="152400"/>
              </a:xfrm>
              <a:prstGeom prst="ellipse">
                <a:avLst/>
              </a:prstGeom>
              <a:solidFill>
                <a:srgbClr val="9E331E"/>
              </a:solidFill>
              <a:ln>
                <a:noFill/>
              </a:ln>
            </p:spPr>
          </p:sp>
          <p:sp>
            <p:nvSpPr>
              <p:cNvPr id="159" name="TextBox 159"/>
              <p:cNvSpPr txBox="1"/>
              <p:nvPr/>
            </p:nvSpPr>
            <p:spPr>
              <a:xfrm>
                <a:off x="699135" y="5450681"/>
                <a:ext cx="312979" cy="220028"/>
              </a:xfrm>
              <a:prstGeom prst="rect">
                <a:avLst/>
              </a:prstGeom>
              <a:noFill/>
              <a:ln>
                <a:noFill/>
              </a:ln>
            </p:spPr>
            <p:txBody>
              <a:bodyPr wrap="none" lIns="0" tIns="0" rIns="0" bIns="0" anchor="t" anchorCtr="0">
                <a:spAutoFit/>
              </a:bodyPr>
              <a:lstStyle/>
              <a:p>
                <a:pPr algn="l"/>
                <a:r>
                  <a:rPr lang="zh-CN" sz="1120" b="1" dirty="0">
                    <a:solidFill>
                      <a:srgbClr val="9E331E"/>
                    </a:solidFill>
                    <a:latin typeface="+mn-lt"/>
                    <a:ea typeface="+mn-ea"/>
                    <a:cs typeface="+mn-cs"/>
                  </a:rPr>
                  <a:t>绿灯</a:t>
                </a:r>
              </a:p>
            </p:txBody>
          </p:sp>
          <p:sp>
            <p:nvSpPr>
              <p:cNvPr id="160" name="TextBox 160"/>
              <p:cNvSpPr txBox="1"/>
              <p:nvPr/>
            </p:nvSpPr>
            <p:spPr>
              <a:xfrm>
                <a:off x="1042606" y="5462826"/>
                <a:ext cx="1505915" cy="198025"/>
              </a:xfrm>
              <a:prstGeom prst="rect">
                <a:avLst/>
              </a:prstGeom>
              <a:noFill/>
              <a:ln>
                <a:noFill/>
              </a:ln>
            </p:spPr>
            <p:txBody>
              <a:bodyPr wrap="none" lIns="0" tIns="0" rIns="0" bIns="0" anchor="t" anchorCtr="0">
                <a:spAutoFit/>
              </a:bodyPr>
              <a:lstStyle/>
              <a:p>
                <a:pPr algn="l"/>
                <a:r>
                  <a:rPr lang="zh-CN" sz="1010" dirty="0">
                    <a:solidFill>
                      <a:srgbClr val="1A1A1A"/>
                    </a:solidFill>
                    <a:latin typeface="+mn-lt"/>
                    <a:ea typeface="+mn-ea"/>
                    <a:cs typeface="+mn-cs"/>
                  </a:rPr>
                  <a:t>｜按计划推进｜常态跟踪</a:t>
                </a:r>
              </a:p>
            </p:txBody>
          </p:sp>
          <p:sp>
            <p:nvSpPr>
              <p:cNvPr id="161" name="Rectangle 161"/>
              <p:cNvSpPr/>
              <p:nvPr/>
            </p:nvSpPr>
            <p:spPr>
              <a:xfrm>
                <a:off x="361950" y="5772150"/>
                <a:ext cx="3695700" cy="762000"/>
              </a:xfrm>
              <a:prstGeom prst="roundRect">
                <a:avLst>
                  <a:gd name="adj" fmla="val 7500"/>
                </a:avLst>
              </a:prstGeom>
              <a:solidFill>
                <a:srgbClr val="EAF7EE"/>
              </a:solidFill>
              <a:ln>
                <a:noFill/>
              </a:ln>
            </p:spPr>
          </p:sp>
          <p:sp>
            <p:nvSpPr>
              <p:cNvPr id="162" name="Rectangle 162"/>
              <p:cNvSpPr/>
              <p:nvPr/>
            </p:nvSpPr>
            <p:spPr>
              <a:xfrm>
                <a:off x="1905000" y="5905500"/>
                <a:ext cx="495300" cy="495300"/>
              </a:xfrm>
              <a:prstGeom prst="roundRect">
                <a:avLst>
                  <a:gd name="adj" fmla="val 15385"/>
                </a:avLst>
              </a:prstGeom>
              <a:solidFill>
                <a:srgbClr val="FFFFFF"/>
              </a:solidFill>
              <a:ln w="14288">
                <a:solidFill>
                  <a:srgbClr val="9E331E"/>
                </a:solidFill>
              </a:ln>
            </p:spPr>
          </p:sp>
          <p:grpSp>
            <p:nvGrpSpPr>
              <p:cNvPr id="165" name="Group 165"/>
              <p:cNvGrpSpPr/>
              <p:nvPr/>
            </p:nvGrpSpPr>
            <p:grpSpPr>
              <a:xfrm>
                <a:off x="2038350" y="6038850"/>
                <a:ext cx="228599" cy="228599"/>
                <a:chOff x="2038350" y="6038850"/>
                <a:chExt cx="228599" cy="228599"/>
              </a:xfrm>
            </p:grpSpPr>
            <p:sp>
              <p:nvSpPr>
                <p:cNvPr id="163" name="Freeform 163"/>
                <p:cNvSpPr/>
                <p:nvPr/>
              </p:nvSpPr>
              <p:spPr>
                <a:xfrm>
                  <a:off x="2038350" y="603885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19050">
                  <a:solidFill>
                    <a:srgbClr val="9E331E"/>
                  </a:solidFill>
                </a:ln>
              </p:spPr>
            </p:sp>
            <p:sp>
              <p:nvSpPr>
                <p:cNvPr id="164" name="Freeform 164"/>
                <p:cNvSpPr/>
                <p:nvPr/>
              </p:nvSpPr>
              <p:spPr>
                <a:xfrm>
                  <a:off x="2114550" y="6127750"/>
                  <a:ext cx="76200" cy="50800"/>
                </a:xfrm>
                <a:custGeom>
                  <a:avLst/>
                  <a:gdLst/>
                  <a:ahLst/>
                  <a:cxnLst/>
                  <a:rect l="l" t="t" r="r" b="b"/>
                  <a:pathLst>
                    <a:path w="76200" h="50800">
                      <a:moveTo>
                        <a:pt x="0" y="25400"/>
                      </a:moveTo>
                      <a:lnTo>
                        <a:pt x="25400" y="50800"/>
                      </a:lnTo>
                      <a:lnTo>
                        <a:pt x="76200" y="0"/>
                      </a:lnTo>
                    </a:path>
                  </a:pathLst>
                </a:custGeom>
                <a:noFill/>
                <a:ln w="19050">
                  <a:solidFill>
                    <a:srgbClr val="9E331E"/>
                  </a:solidFill>
                </a:ln>
              </p:spPr>
            </p:sp>
          </p:grpSp>
        </p:grpSp>
        <p:grpSp>
          <p:nvGrpSpPr>
            <p:cNvPr id="177" name="light-yellow"/>
            <p:cNvGrpSpPr/>
            <p:nvPr/>
          </p:nvGrpSpPr>
          <p:grpSpPr>
            <a:xfrm>
              <a:off x="4248150" y="5448300"/>
              <a:ext cx="3695700" cy="1126045"/>
              <a:chOff x="4248150" y="5448300"/>
              <a:chExt cx="3695700" cy="1126045"/>
            </a:xfrm>
          </p:grpSpPr>
          <p:sp>
            <p:nvSpPr>
              <p:cNvPr id="167" name="Ellipse 167"/>
              <p:cNvSpPr/>
              <p:nvPr/>
            </p:nvSpPr>
            <p:spPr>
              <a:xfrm>
                <a:off x="4362450" y="5448300"/>
                <a:ext cx="152400" cy="152400"/>
              </a:xfrm>
              <a:prstGeom prst="ellipse">
                <a:avLst/>
              </a:prstGeom>
              <a:solidFill>
                <a:srgbClr val="E82300"/>
              </a:solidFill>
              <a:ln>
                <a:noFill/>
              </a:ln>
            </p:spPr>
          </p:sp>
          <p:sp>
            <p:nvSpPr>
              <p:cNvPr id="168" name="TextBox 168"/>
              <p:cNvSpPr txBox="1"/>
              <p:nvPr/>
            </p:nvSpPr>
            <p:spPr>
              <a:xfrm>
                <a:off x="4585335" y="5450681"/>
                <a:ext cx="312979" cy="220028"/>
              </a:xfrm>
              <a:prstGeom prst="rect">
                <a:avLst/>
              </a:prstGeom>
              <a:noFill/>
              <a:ln>
                <a:noFill/>
              </a:ln>
            </p:spPr>
            <p:txBody>
              <a:bodyPr wrap="none" lIns="0" tIns="0" rIns="0" bIns="0" anchor="t" anchorCtr="0">
                <a:spAutoFit/>
              </a:bodyPr>
              <a:lstStyle/>
              <a:p>
                <a:pPr algn="l"/>
                <a:r>
                  <a:rPr lang="zh-CN" sz="1120" b="1" dirty="0">
                    <a:solidFill>
                      <a:srgbClr val="C7260A"/>
                    </a:solidFill>
                    <a:latin typeface="+mn-lt"/>
                    <a:ea typeface="+mn-ea"/>
                    <a:cs typeface="+mn-cs"/>
                  </a:rPr>
                  <a:t>黄灯</a:t>
                </a:r>
              </a:p>
            </p:txBody>
          </p:sp>
          <p:sp>
            <p:nvSpPr>
              <p:cNvPr id="169" name="TextBox 169"/>
              <p:cNvSpPr txBox="1"/>
              <p:nvPr/>
            </p:nvSpPr>
            <p:spPr>
              <a:xfrm>
                <a:off x="4928806" y="5462826"/>
                <a:ext cx="1655478" cy="198025"/>
              </a:xfrm>
              <a:prstGeom prst="rect">
                <a:avLst/>
              </a:prstGeom>
              <a:noFill/>
              <a:ln>
                <a:noFill/>
              </a:ln>
            </p:spPr>
            <p:txBody>
              <a:bodyPr wrap="none" lIns="0" tIns="0" rIns="0" bIns="0" anchor="t" anchorCtr="0">
                <a:spAutoFit/>
              </a:bodyPr>
              <a:lstStyle/>
              <a:p>
                <a:pPr algn="l"/>
                <a:r>
                  <a:rPr lang="zh-CN" sz="1010" dirty="0">
                    <a:solidFill>
                      <a:srgbClr val="1A1A1A"/>
                    </a:solidFill>
                    <a:latin typeface="+mn-lt"/>
                    <a:ea typeface="+mn-ea"/>
                    <a:cs typeface="+mn-cs"/>
                  </a:rPr>
                  <a:t xml:space="preserve">｜偏差预警｜48小时整改　</a:t>
                </a:r>
              </a:p>
            </p:txBody>
          </p:sp>
          <p:sp>
            <p:nvSpPr>
              <p:cNvPr id="170" name="Rectangle 170"/>
              <p:cNvSpPr/>
              <p:nvPr/>
            </p:nvSpPr>
            <p:spPr>
              <a:xfrm>
                <a:off x="4248150" y="5772150"/>
                <a:ext cx="3695700" cy="762000"/>
              </a:xfrm>
              <a:prstGeom prst="roundRect">
                <a:avLst>
                  <a:gd name="adj" fmla="val 7500"/>
                </a:avLst>
              </a:prstGeom>
              <a:solidFill>
                <a:srgbClr val="FDF3E3"/>
              </a:solidFill>
              <a:ln>
                <a:noFill/>
              </a:ln>
            </p:spPr>
          </p:sp>
          <p:sp>
            <p:nvSpPr>
              <p:cNvPr id="171" name="Ellipse 171"/>
              <p:cNvSpPr/>
              <p:nvPr/>
            </p:nvSpPr>
            <p:spPr>
              <a:xfrm>
                <a:off x="4533900" y="5924550"/>
                <a:ext cx="457200" cy="457200"/>
              </a:xfrm>
              <a:prstGeom prst="ellipse">
                <a:avLst/>
              </a:prstGeom>
              <a:solidFill>
                <a:srgbClr val="FFFFFF"/>
              </a:solidFill>
              <a:ln w="14288">
                <a:solidFill>
                  <a:srgbClr val="E82300"/>
                </a:solidFill>
              </a:ln>
            </p:spPr>
          </p:sp>
          <p:grpSp>
            <p:nvGrpSpPr>
              <p:cNvPr id="174" name="Group 174"/>
              <p:cNvGrpSpPr/>
              <p:nvPr/>
            </p:nvGrpSpPr>
            <p:grpSpPr>
              <a:xfrm>
                <a:off x="4662488" y="6053138"/>
                <a:ext cx="200026" cy="200026"/>
                <a:chOff x="4662488" y="6053138"/>
                <a:chExt cx="200026" cy="200026"/>
              </a:xfrm>
            </p:grpSpPr>
            <p:sp>
              <p:nvSpPr>
                <p:cNvPr id="172" name="Freeform 172"/>
                <p:cNvSpPr/>
                <p:nvPr/>
              </p:nvSpPr>
              <p:spPr>
                <a:xfrm>
                  <a:off x="4662488" y="60531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16669">
                  <a:solidFill>
                    <a:srgbClr val="C7260A"/>
                  </a:solidFill>
                </a:ln>
              </p:spPr>
            </p:sp>
            <p:sp>
              <p:nvSpPr>
                <p:cNvPr id="173" name="Freeform 173"/>
                <p:cNvSpPr/>
                <p:nvPr/>
              </p:nvSpPr>
              <p:spPr>
                <a:xfrm>
                  <a:off x="4762500" y="6097588"/>
                  <a:ext cx="33338" cy="88900"/>
                </a:xfrm>
                <a:custGeom>
                  <a:avLst/>
                  <a:gdLst/>
                  <a:ahLst/>
                  <a:cxnLst/>
                  <a:rect l="l" t="t" r="r" b="b"/>
                  <a:pathLst>
                    <a:path w="33338" h="88900">
                      <a:moveTo>
                        <a:pt x="0" y="0"/>
                      </a:moveTo>
                      <a:lnTo>
                        <a:pt x="0" y="55563"/>
                      </a:lnTo>
                      <a:lnTo>
                        <a:pt x="33338" y="88900"/>
                      </a:lnTo>
                    </a:path>
                  </a:pathLst>
                </a:custGeom>
                <a:noFill/>
                <a:ln w="16669">
                  <a:solidFill>
                    <a:srgbClr val="C7260A"/>
                  </a:solidFill>
                </a:ln>
              </p:spPr>
            </p:sp>
          </p:grpSp>
          <p:sp>
            <p:nvSpPr>
              <p:cNvPr id="175" name="TextBox 175"/>
              <p:cNvSpPr txBox="1"/>
              <p:nvPr/>
            </p:nvSpPr>
            <p:spPr>
              <a:xfrm>
                <a:off x="5129022" y="6016942"/>
                <a:ext cx="1219232" cy="557403"/>
              </a:xfrm>
              <a:prstGeom prst="rect">
                <a:avLst/>
              </a:prstGeom>
              <a:noFill/>
              <a:ln>
                <a:noFill/>
              </a:ln>
            </p:spPr>
            <p:txBody>
              <a:bodyPr wrap="none" lIns="0" tIns="0" rIns="0" bIns="0" anchor="t" anchorCtr="0">
                <a:spAutoFit/>
              </a:bodyPr>
              <a:lstStyle/>
              <a:p>
                <a:pPr algn="l"/>
                <a:r>
                  <a:rPr lang="zh-CN" sz="2850" b="1" dirty="0">
                    <a:solidFill>
                      <a:srgbClr val="C7260A"/>
                    </a:solidFill>
                    <a:latin typeface="+mn-lt"/>
                    <a:ea typeface="+mn-ea"/>
                    <a:cs typeface="+mn-cs"/>
                  </a:rPr>
                  <a:t>48</a:t>
                </a:r>
                <a:r>
                  <a:rPr lang="zh-CN" sz="1350" b="1" dirty="0">
                    <a:solidFill>
                      <a:srgbClr val="C7260A"/>
                    </a:solidFill>
                    <a:latin typeface="+mn-lt"/>
                    <a:ea typeface="+mn-ea"/>
                    <a:cs typeface="+mn-cs"/>
                  </a:rPr>
                  <a:t>小时</a:t>
                </a:r>
                <a:r>
                  <a:rPr lang="zh-CN" sz="2850" b="1" dirty="0">
                    <a:solidFill>
                      <a:srgbClr val="C7260A"/>
                    </a:solidFill>
                    <a:latin typeface="+mn-lt"/>
                    <a:ea typeface="+mn-ea"/>
                    <a:cs typeface="+mn-cs"/>
                  </a:rPr>
                  <a:t xml:space="preserve">　</a:t>
                </a:r>
              </a:p>
            </p:txBody>
          </p:sp>
          <p:sp>
            <p:nvSpPr>
              <p:cNvPr id="176" name="TextBox 176"/>
              <p:cNvSpPr txBox="1"/>
              <p:nvPr/>
            </p:nvSpPr>
            <p:spPr>
              <a:xfrm>
                <a:off x="6280785" y="6184106"/>
                <a:ext cx="31297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整改</a:t>
                </a:r>
              </a:p>
            </p:txBody>
          </p:sp>
        </p:grpSp>
        <p:grpSp>
          <p:nvGrpSpPr>
            <p:cNvPr id="189" name="light-red"/>
            <p:cNvGrpSpPr/>
            <p:nvPr/>
          </p:nvGrpSpPr>
          <p:grpSpPr>
            <a:xfrm>
              <a:off x="8134350" y="5448300"/>
              <a:ext cx="3695700" cy="1126045"/>
              <a:chOff x="8134350" y="5448300"/>
              <a:chExt cx="3695700" cy="1126045"/>
            </a:xfrm>
          </p:grpSpPr>
          <p:sp>
            <p:nvSpPr>
              <p:cNvPr id="178" name="Ellipse 178"/>
              <p:cNvSpPr/>
              <p:nvPr/>
            </p:nvSpPr>
            <p:spPr>
              <a:xfrm>
                <a:off x="8248650" y="5448300"/>
                <a:ext cx="152400" cy="152400"/>
              </a:xfrm>
              <a:prstGeom prst="ellipse">
                <a:avLst/>
              </a:prstGeom>
              <a:solidFill>
                <a:srgbClr val="D94F38"/>
              </a:solidFill>
              <a:ln>
                <a:noFill/>
              </a:ln>
            </p:spPr>
          </p:sp>
          <p:sp>
            <p:nvSpPr>
              <p:cNvPr id="179" name="TextBox 179"/>
              <p:cNvSpPr txBox="1"/>
              <p:nvPr/>
            </p:nvSpPr>
            <p:spPr>
              <a:xfrm>
                <a:off x="8471535" y="5450681"/>
                <a:ext cx="312979" cy="220028"/>
              </a:xfrm>
              <a:prstGeom prst="rect">
                <a:avLst/>
              </a:prstGeom>
              <a:noFill/>
              <a:ln>
                <a:noFill/>
              </a:ln>
            </p:spPr>
            <p:txBody>
              <a:bodyPr wrap="none" lIns="0" tIns="0" rIns="0" bIns="0" anchor="t" anchorCtr="0">
                <a:spAutoFit/>
              </a:bodyPr>
              <a:lstStyle/>
              <a:p>
                <a:pPr algn="l"/>
                <a:r>
                  <a:rPr lang="zh-CN" sz="1120" b="1" dirty="0">
                    <a:solidFill>
                      <a:srgbClr val="D94F38"/>
                    </a:solidFill>
                    <a:latin typeface="+mn-lt"/>
                    <a:ea typeface="+mn-ea"/>
                    <a:cs typeface="+mn-cs"/>
                  </a:rPr>
                  <a:t>红灯</a:t>
                </a:r>
              </a:p>
            </p:txBody>
          </p:sp>
          <p:sp>
            <p:nvSpPr>
              <p:cNvPr id="180" name="TextBox 180"/>
              <p:cNvSpPr txBox="1"/>
              <p:nvPr/>
            </p:nvSpPr>
            <p:spPr>
              <a:xfrm>
                <a:off x="8815006" y="5462826"/>
                <a:ext cx="2335309" cy="198025"/>
              </a:xfrm>
              <a:prstGeom prst="rect">
                <a:avLst/>
              </a:prstGeom>
              <a:noFill/>
              <a:ln>
                <a:noFill/>
              </a:ln>
            </p:spPr>
            <p:txBody>
              <a:bodyPr wrap="none" lIns="0" tIns="0" rIns="0" bIns="0" anchor="t" anchorCtr="0">
                <a:spAutoFit/>
              </a:bodyPr>
              <a:lstStyle/>
              <a:p>
                <a:pPr algn="l"/>
                <a:r>
                  <a:rPr lang="zh-CN" sz="1010" dirty="0">
                    <a:solidFill>
                      <a:srgbClr val="1A1A1A"/>
                    </a:solidFill>
                    <a:latin typeface="+mn-lt"/>
                    <a:ea typeface="+mn-ea"/>
                    <a:cs typeface="+mn-cs"/>
                  </a:rPr>
                  <a:t xml:space="preserve">｜重大风险｜24小时提交行长办公会　</a:t>
                </a:r>
              </a:p>
            </p:txBody>
          </p:sp>
          <p:sp>
            <p:nvSpPr>
              <p:cNvPr id="181" name="Rectangle 181"/>
              <p:cNvSpPr/>
              <p:nvPr/>
            </p:nvSpPr>
            <p:spPr>
              <a:xfrm>
                <a:off x="8134350" y="5772150"/>
                <a:ext cx="3695700" cy="762000"/>
              </a:xfrm>
              <a:prstGeom prst="roundRect">
                <a:avLst>
                  <a:gd name="adj" fmla="val 7500"/>
                </a:avLst>
              </a:prstGeom>
              <a:solidFill>
                <a:srgbClr val="FCE9E6"/>
              </a:solidFill>
              <a:ln>
                <a:noFill/>
              </a:ln>
            </p:spPr>
          </p:sp>
          <p:sp>
            <p:nvSpPr>
              <p:cNvPr id="182" name="Ellipse 182"/>
              <p:cNvSpPr/>
              <p:nvPr/>
            </p:nvSpPr>
            <p:spPr>
              <a:xfrm>
                <a:off x="8420100" y="5924550"/>
                <a:ext cx="457200" cy="457200"/>
              </a:xfrm>
              <a:prstGeom prst="ellipse">
                <a:avLst/>
              </a:prstGeom>
              <a:solidFill>
                <a:srgbClr val="FFFFFF"/>
              </a:solidFill>
              <a:ln w="14288">
                <a:solidFill>
                  <a:srgbClr val="D94F38"/>
                </a:solidFill>
              </a:ln>
            </p:spPr>
          </p:sp>
          <p:grpSp>
            <p:nvGrpSpPr>
              <p:cNvPr id="186" name="Group 186"/>
              <p:cNvGrpSpPr/>
              <p:nvPr/>
            </p:nvGrpSpPr>
            <p:grpSpPr>
              <a:xfrm>
                <a:off x="8536629" y="6049446"/>
                <a:ext cx="224134" cy="192560"/>
                <a:chOff x="8536629" y="6049446"/>
                <a:chExt cx="224134" cy="192560"/>
              </a:xfrm>
            </p:grpSpPr>
            <p:sp>
              <p:nvSpPr>
                <p:cNvPr id="183" name="Freeform 183"/>
                <p:cNvSpPr/>
                <p:nvPr/>
              </p:nvSpPr>
              <p:spPr>
                <a:xfrm>
                  <a:off x="8648700" y="6119813"/>
                  <a:ext cx="9525" cy="44450"/>
                </a:xfrm>
                <a:custGeom>
                  <a:avLst/>
                  <a:gdLst/>
                  <a:ahLst/>
                  <a:cxnLst/>
                  <a:rect l="l" t="t" r="r" b="b"/>
                  <a:pathLst>
                    <a:path w="9525" h="44450">
                      <a:moveTo>
                        <a:pt x="0" y="0"/>
                      </a:moveTo>
                      <a:lnTo>
                        <a:pt x="0" y="44450"/>
                      </a:lnTo>
                    </a:path>
                  </a:pathLst>
                </a:custGeom>
                <a:noFill/>
                <a:ln w="16669">
                  <a:solidFill>
                    <a:srgbClr val="D94F38"/>
                  </a:solidFill>
                </a:ln>
              </p:spPr>
            </p:sp>
            <p:sp>
              <p:nvSpPr>
                <p:cNvPr id="184" name="Freeform 184"/>
                <p:cNvSpPr/>
                <p:nvPr/>
              </p:nvSpPr>
              <p:spPr>
                <a:xfrm>
                  <a:off x="8536629" y="60494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6669">
                  <a:solidFill>
                    <a:srgbClr val="D94F38"/>
                  </a:solidFill>
                </a:ln>
              </p:spPr>
            </p:sp>
            <p:sp>
              <p:nvSpPr>
                <p:cNvPr id="185" name="Freeform 185"/>
                <p:cNvSpPr/>
                <p:nvPr/>
              </p:nvSpPr>
              <p:spPr>
                <a:xfrm>
                  <a:off x="8648700" y="6197601"/>
                  <a:ext cx="9525" cy="9525"/>
                </a:xfrm>
                <a:custGeom>
                  <a:avLst/>
                  <a:gdLst/>
                  <a:ahLst/>
                  <a:cxnLst/>
                  <a:rect l="l" t="t" r="r" b="b"/>
                  <a:pathLst>
                    <a:path w="9525" h="9525">
                      <a:moveTo>
                        <a:pt x="0" y="0"/>
                      </a:moveTo>
                      <a:lnTo>
                        <a:pt x="111" y="0"/>
                      </a:lnTo>
                    </a:path>
                  </a:pathLst>
                </a:custGeom>
                <a:noFill/>
                <a:ln w="16669">
                  <a:solidFill>
                    <a:srgbClr val="D94F38"/>
                  </a:solidFill>
                </a:ln>
              </p:spPr>
            </p:sp>
          </p:grpSp>
          <p:sp>
            <p:nvSpPr>
              <p:cNvPr id="187" name="TextBox 187"/>
              <p:cNvSpPr txBox="1"/>
              <p:nvPr/>
            </p:nvSpPr>
            <p:spPr>
              <a:xfrm>
                <a:off x="9015222" y="6016942"/>
                <a:ext cx="1219232" cy="557403"/>
              </a:xfrm>
              <a:prstGeom prst="rect">
                <a:avLst/>
              </a:prstGeom>
              <a:noFill/>
              <a:ln>
                <a:noFill/>
              </a:ln>
            </p:spPr>
            <p:txBody>
              <a:bodyPr wrap="none" lIns="0" tIns="0" rIns="0" bIns="0" anchor="t" anchorCtr="0">
                <a:spAutoFit/>
              </a:bodyPr>
              <a:lstStyle/>
              <a:p>
                <a:pPr algn="l"/>
                <a:r>
                  <a:rPr lang="zh-CN" sz="2850" b="1" dirty="0">
                    <a:solidFill>
                      <a:srgbClr val="D94F38"/>
                    </a:solidFill>
                    <a:latin typeface="+mn-lt"/>
                    <a:ea typeface="+mn-ea"/>
                    <a:cs typeface="+mn-cs"/>
                  </a:rPr>
                  <a:t>24</a:t>
                </a:r>
                <a:r>
                  <a:rPr lang="zh-CN" sz="1350" b="1" dirty="0">
                    <a:solidFill>
                      <a:srgbClr val="D94F38"/>
                    </a:solidFill>
                    <a:latin typeface="+mn-lt"/>
                    <a:ea typeface="+mn-ea"/>
                    <a:cs typeface="+mn-cs"/>
                  </a:rPr>
                  <a:t>小时</a:t>
                </a:r>
                <a:r>
                  <a:rPr lang="zh-CN" sz="2850" b="1" dirty="0">
                    <a:solidFill>
                      <a:srgbClr val="D94F38"/>
                    </a:solidFill>
                    <a:latin typeface="+mn-lt"/>
                    <a:ea typeface="+mn-ea"/>
                    <a:cs typeface="+mn-cs"/>
                  </a:rPr>
                  <a:t xml:space="preserve">　</a:t>
                </a:r>
              </a:p>
            </p:txBody>
          </p:sp>
          <p:sp>
            <p:nvSpPr>
              <p:cNvPr id="188" name="TextBox 188"/>
              <p:cNvSpPr txBox="1"/>
              <p:nvPr/>
            </p:nvSpPr>
            <p:spPr>
              <a:xfrm>
                <a:off x="10166985" y="6184106"/>
                <a:ext cx="1066851"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mn-lt"/>
                    <a:ea typeface="+mn-ea"/>
                    <a:cs typeface="+mn-cs"/>
                  </a:rPr>
                  <a:t>提交行长办公会</a:t>
                </a:r>
              </a:p>
            </p:txBody>
          </p:sp>
        </p:grpSp>
      </p:gr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b1"/>
          <p:cNvSpPr/>
          <p:nvPr/>
        </p:nvSpPr>
        <p:spPr>
          <a:xfrm>
            <a:off x="1428750" y="4095750"/>
            <a:ext cx="400050" cy="2762250"/>
          </a:xfrm>
          <a:prstGeom prst="rect">
            <a:avLst/>
          </a:prstGeom>
          <a:gradFill>
            <a:gsLst>
              <a:gs pos="0">
                <a:srgbClr val="F6715A">
                  <a:alpha val="50000"/>
                </a:srgbClr>
              </a:gs>
              <a:gs pos="100000">
                <a:srgbClr val="FDD3CC">
                  <a:alpha val="10000"/>
                </a:srgbClr>
              </a:gs>
            </a:gsLst>
            <a:lin ang="5400000" scaled="1"/>
          </a:gradFill>
          <a:ln>
            <a:noFill/>
          </a:ln>
        </p:spPr>
      </p:sp>
      <p:sp>
        <p:nvSpPr>
          <p:cNvPr id="3" name="deco-b2"/>
          <p:cNvSpPr/>
          <p:nvPr/>
        </p:nvSpPr>
        <p:spPr>
          <a:xfrm>
            <a:off x="1905000" y="3143250"/>
            <a:ext cx="495300" cy="3714750"/>
          </a:xfrm>
          <a:prstGeom prst="rect">
            <a:avLst/>
          </a:prstGeom>
          <a:gradFill>
            <a:gsLst>
              <a:gs pos="0">
                <a:srgbClr val="F6715A">
                  <a:alpha val="50000"/>
                </a:srgbClr>
              </a:gs>
              <a:gs pos="100000">
                <a:srgbClr val="FDD3CC">
                  <a:alpha val="10000"/>
                </a:srgbClr>
              </a:gs>
            </a:gsLst>
            <a:lin ang="5400000" scaled="1"/>
          </a:gradFill>
          <a:ln>
            <a:noFill/>
          </a:ln>
        </p:spPr>
      </p:sp>
      <p:sp>
        <p:nvSpPr>
          <p:cNvPr id="4" name="deco-b3"/>
          <p:cNvSpPr/>
          <p:nvPr/>
        </p:nvSpPr>
        <p:spPr>
          <a:xfrm>
            <a:off x="2476500" y="3714750"/>
            <a:ext cx="381000" cy="3143250"/>
          </a:xfrm>
          <a:prstGeom prst="rect">
            <a:avLst/>
          </a:prstGeom>
          <a:gradFill>
            <a:gsLst>
              <a:gs pos="0">
                <a:srgbClr val="F6715A">
                  <a:alpha val="50000"/>
                </a:srgbClr>
              </a:gs>
              <a:gs pos="100000">
                <a:srgbClr val="FDD3CC">
                  <a:alpha val="10000"/>
                </a:srgbClr>
              </a:gs>
            </a:gsLst>
            <a:lin ang="5400000" scaled="1"/>
          </a:gradFill>
          <a:ln>
            <a:noFill/>
          </a:ln>
        </p:spPr>
      </p:sp>
      <p:sp>
        <p:nvSpPr>
          <p:cNvPr id="5" name="deco-b4"/>
          <p:cNvSpPr/>
          <p:nvPr/>
        </p:nvSpPr>
        <p:spPr>
          <a:xfrm>
            <a:off x="2914650" y="2857500"/>
            <a:ext cx="552450" cy="4000500"/>
          </a:xfrm>
          <a:prstGeom prst="rect">
            <a:avLst/>
          </a:prstGeom>
          <a:gradFill>
            <a:gsLst>
              <a:gs pos="0">
                <a:srgbClr val="F6715A">
                  <a:alpha val="50000"/>
                </a:srgbClr>
              </a:gs>
              <a:gs pos="100000">
                <a:srgbClr val="FDD3CC">
                  <a:alpha val="10000"/>
                </a:srgbClr>
              </a:gs>
            </a:gsLst>
            <a:lin ang="5400000" scaled="1"/>
          </a:gradFill>
          <a:ln>
            <a:noFill/>
          </a:ln>
        </p:spPr>
      </p:sp>
      <p:sp>
        <p:nvSpPr>
          <p:cNvPr id="6" name="deco-b5"/>
          <p:cNvSpPr/>
          <p:nvPr/>
        </p:nvSpPr>
        <p:spPr>
          <a:xfrm>
            <a:off x="3543300" y="3429000"/>
            <a:ext cx="419100" cy="3429000"/>
          </a:xfrm>
          <a:prstGeom prst="rect">
            <a:avLst/>
          </a:prstGeom>
          <a:gradFill>
            <a:gsLst>
              <a:gs pos="0">
                <a:srgbClr val="F6715A">
                  <a:alpha val="50000"/>
                </a:srgbClr>
              </a:gs>
              <a:gs pos="100000">
                <a:srgbClr val="FDD3CC">
                  <a:alpha val="10000"/>
                </a:srgbClr>
              </a:gs>
            </a:gsLst>
            <a:lin ang="5400000" scaled="1"/>
          </a:gradFill>
          <a:ln>
            <a:noFill/>
          </a:ln>
        </p:spPr>
      </p:sp>
      <p:sp>
        <p:nvSpPr>
          <p:cNvPr id="7" name="deco-b6"/>
          <p:cNvSpPr/>
          <p:nvPr/>
        </p:nvSpPr>
        <p:spPr>
          <a:xfrm>
            <a:off x="8382000" y="1714500"/>
            <a:ext cx="457200" cy="5143500"/>
          </a:xfrm>
          <a:prstGeom prst="rect">
            <a:avLst/>
          </a:prstGeom>
          <a:gradFill>
            <a:gsLst>
              <a:gs pos="0">
                <a:srgbClr val="F6715A">
                  <a:alpha val="62000"/>
                </a:srgbClr>
              </a:gs>
              <a:gs pos="100000">
                <a:srgbClr val="FDD3CC">
                  <a:alpha val="10000"/>
                </a:srgbClr>
              </a:gs>
            </a:gsLst>
            <a:lin ang="5400000" scaled="1"/>
          </a:gradFill>
          <a:ln>
            <a:noFill/>
          </a:ln>
        </p:spPr>
      </p:sp>
      <p:sp>
        <p:nvSpPr>
          <p:cNvPr id="8" name="deco-b7"/>
          <p:cNvSpPr/>
          <p:nvPr/>
        </p:nvSpPr>
        <p:spPr>
          <a:xfrm>
            <a:off x="8934450" y="857250"/>
            <a:ext cx="552450" cy="6000750"/>
          </a:xfrm>
          <a:prstGeom prst="rect">
            <a:avLst/>
          </a:prstGeom>
          <a:gradFill>
            <a:gsLst>
              <a:gs pos="0">
                <a:srgbClr val="F6715A">
                  <a:alpha val="62000"/>
                </a:srgbClr>
              </a:gs>
              <a:gs pos="100000">
                <a:srgbClr val="FDD3CC">
                  <a:alpha val="10000"/>
                </a:srgbClr>
              </a:gs>
            </a:gsLst>
            <a:lin ang="5400000" scaled="1"/>
          </a:gradFill>
          <a:ln>
            <a:noFill/>
          </a:ln>
        </p:spPr>
      </p:sp>
      <p:sp>
        <p:nvSpPr>
          <p:cNvPr id="9" name="deco-b8"/>
          <p:cNvSpPr/>
          <p:nvPr/>
        </p:nvSpPr>
        <p:spPr>
          <a:xfrm>
            <a:off x="9563100" y="2286000"/>
            <a:ext cx="419100" cy="4572000"/>
          </a:xfrm>
          <a:prstGeom prst="rect">
            <a:avLst/>
          </a:prstGeom>
          <a:gradFill>
            <a:gsLst>
              <a:gs pos="0">
                <a:srgbClr val="F6715A">
                  <a:alpha val="62000"/>
                </a:srgbClr>
              </a:gs>
              <a:gs pos="100000">
                <a:srgbClr val="FDD3CC">
                  <a:alpha val="10000"/>
                </a:srgbClr>
              </a:gs>
            </a:gsLst>
            <a:lin ang="5400000" scaled="1"/>
          </a:gradFill>
          <a:ln>
            <a:noFill/>
          </a:ln>
        </p:spPr>
      </p:sp>
      <p:sp>
        <p:nvSpPr>
          <p:cNvPr id="10" name="deco-b9"/>
          <p:cNvSpPr/>
          <p:nvPr/>
        </p:nvSpPr>
        <p:spPr>
          <a:xfrm>
            <a:off x="10058400" y="1333500"/>
            <a:ext cx="571500" cy="5524500"/>
          </a:xfrm>
          <a:prstGeom prst="rect">
            <a:avLst/>
          </a:prstGeom>
          <a:gradFill>
            <a:gsLst>
              <a:gs pos="0">
                <a:srgbClr val="F6715A">
                  <a:alpha val="62000"/>
                </a:srgbClr>
              </a:gs>
              <a:gs pos="100000">
                <a:srgbClr val="FDD3CC">
                  <a:alpha val="10000"/>
                </a:srgbClr>
              </a:gs>
            </a:gsLst>
            <a:lin ang="5400000" scaled="1"/>
          </a:gradFill>
          <a:ln>
            <a:noFill/>
          </a:ln>
        </p:spPr>
      </p:sp>
      <p:sp>
        <p:nvSpPr>
          <p:cNvPr id="11" name="deco-b10"/>
          <p:cNvSpPr/>
          <p:nvPr/>
        </p:nvSpPr>
        <p:spPr>
          <a:xfrm>
            <a:off x="10706100" y="3048000"/>
            <a:ext cx="438150" cy="3810000"/>
          </a:xfrm>
          <a:prstGeom prst="rect">
            <a:avLst/>
          </a:prstGeom>
          <a:gradFill>
            <a:gsLst>
              <a:gs pos="0">
                <a:srgbClr val="F6715A">
                  <a:alpha val="62000"/>
                </a:srgbClr>
              </a:gs>
              <a:gs pos="100000">
                <a:srgbClr val="FDD3CC">
                  <a:alpha val="10000"/>
                </a:srgbClr>
              </a:gs>
            </a:gsLst>
            <a:lin ang="5400000" scaled="1"/>
          </a:gradFill>
          <a:ln>
            <a:noFill/>
          </a:ln>
        </p:spPr>
      </p:sp>
      <p:sp>
        <p:nvSpPr>
          <p:cNvPr id="12" name="deco-b11"/>
          <p:cNvSpPr/>
          <p:nvPr/>
        </p:nvSpPr>
        <p:spPr>
          <a:xfrm>
            <a:off x="11220450" y="2095500"/>
            <a:ext cx="533400" cy="4762500"/>
          </a:xfrm>
          <a:prstGeom prst="rect">
            <a:avLst/>
          </a:prstGeom>
          <a:gradFill>
            <a:gsLst>
              <a:gs pos="0">
                <a:srgbClr val="F6715A">
                  <a:alpha val="62000"/>
                </a:srgbClr>
              </a:gs>
              <a:gs pos="100000">
                <a:srgbClr val="FDD3CC">
                  <a:alpha val="10000"/>
                </a:srgbClr>
              </a:gs>
            </a:gsLst>
            <a:lin ang="5400000" scaled="1"/>
          </a:gradFill>
          <a:ln>
            <a:noFill/>
          </a:ln>
        </p:spPr>
      </p:sp>
      <p:sp>
        <p:nvSpPr>
          <p:cNvPr id="13" name="deco-b12"/>
          <p:cNvSpPr/>
          <p:nvPr/>
        </p:nvSpPr>
        <p:spPr>
          <a:xfrm>
            <a:off x="11811000" y="3810000"/>
            <a:ext cx="381000" cy="3048000"/>
          </a:xfrm>
          <a:prstGeom prst="rect">
            <a:avLst/>
          </a:prstGeom>
          <a:gradFill>
            <a:gsLst>
              <a:gs pos="0">
                <a:srgbClr val="F6715A">
                  <a:alpha val="62000"/>
                </a:srgbClr>
              </a:gs>
              <a:gs pos="100000">
                <a:srgbClr val="FDD3CC">
                  <a:alpha val="10000"/>
                </a:srgbClr>
              </a:gs>
            </a:gsLst>
            <a:lin ang="5400000" scaled="1"/>
          </a:gradFill>
          <a:ln>
            <a:noFill/>
          </a:ln>
        </p:spPr>
      </p:sp>
      <p:sp>
        <p:nvSpPr>
          <p:cNvPr id="14" name="deco-arrow"/>
          <p:cNvSpPr/>
          <p:nvPr/>
        </p:nvSpPr>
        <p:spPr>
          <a:xfrm>
            <a:off x="914400" y="1047750"/>
            <a:ext cx="10801350" cy="5619750"/>
          </a:xfrm>
          <a:custGeom>
            <a:avLst/>
            <a:gdLst/>
            <a:ahLst/>
            <a:cxnLst/>
            <a:rect l="l" t="t" r="r" b="b"/>
            <a:pathLst>
              <a:path w="10801350" h="5619750">
                <a:moveTo>
                  <a:pt x="0" y="5619750"/>
                </a:moveTo>
                <a:cubicBezTo>
                  <a:pt x="3086100" y="5619750"/>
                  <a:pt x="6705600" y="5524500"/>
                  <a:pt x="8991600" y="3905250"/>
                </a:cubicBezTo>
                <a:cubicBezTo>
                  <a:pt x="10039350" y="2952750"/>
                  <a:pt x="10515600" y="1428750"/>
                  <a:pt x="10801350" y="0"/>
                </a:cubicBezTo>
              </a:path>
            </a:pathLst>
          </a:custGeom>
          <a:noFill/>
          <a:ln w="66675" cap="rnd">
            <a:solidFill>
              <a:srgbClr val="EE492C"/>
            </a:solidFill>
          </a:ln>
        </p:spPr>
      </p:sp>
      <p:sp>
        <p:nvSpPr>
          <p:cNvPr id="15" name="deco-arrowhead"/>
          <p:cNvSpPr/>
          <p:nvPr/>
        </p:nvSpPr>
        <p:spPr>
          <a:xfrm>
            <a:off x="11531881" y="802550"/>
            <a:ext cx="374000" cy="298149"/>
          </a:xfrm>
          <a:custGeom>
            <a:avLst/>
            <a:gdLst/>
            <a:ahLst/>
            <a:cxnLst/>
            <a:rect l="l" t="t" r="r" b="b"/>
            <a:pathLst>
              <a:path w="374000" h="298149">
                <a:moveTo>
                  <a:pt x="0" y="225451"/>
                </a:moveTo>
                <a:lnTo>
                  <a:pt x="237889" y="0"/>
                </a:lnTo>
                <a:lnTo>
                  <a:pt x="374000" y="298149"/>
                </a:lnTo>
                <a:close/>
              </a:path>
            </a:pathLst>
          </a:custGeom>
          <a:solidFill>
            <a:srgbClr val="EE492C"/>
          </a:solidFill>
          <a:ln>
            <a:noFill/>
          </a:ln>
        </p:spPr>
      </p:sp>
      <p:grpSp>
        <p:nvGrpSpPr>
          <p:cNvPr id="19" name="title-block"/>
          <p:cNvGrpSpPr/>
          <p:nvPr/>
        </p:nvGrpSpPr>
        <p:grpSpPr>
          <a:xfrm>
            <a:off x="368427" y="799624"/>
            <a:ext cx="5366868" cy="715232"/>
            <a:chOff x="368427" y="799624"/>
            <a:chExt cx="5366868" cy="715232"/>
          </a:xfrm>
        </p:grpSpPr>
        <p:sp>
          <p:nvSpPr>
            <p:cNvPr id="16" name="Rectangle 16"/>
            <p:cNvSpPr/>
            <p:nvPr/>
          </p:nvSpPr>
          <p:spPr>
            <a:xfrm>
              <a:off x="381000" y="838200"/>
              <a:ext cx="723900" cy="57150"/>
            </a:xfrm>
            <a:prstGeom prst="rect">
              <a:avLst/>
            </a:prstGeom>
            <a:solidFill>
              <a:srgbClr val="EE492C"/>
            </a:solidFill>
            <a:ln>
              <a:noFill/>
            </a:ln>
          </p:spPr>
        </p:sp>
        <p:sp>
          <p:nvSpPr>
            <p:cNvPr id="17" name="TextBox 17"/>
            <p:cNvSpPr txBox="1"/>
            <p:nvPr/>
          </p:nvSpPr>
          <p:spPr>
            <a:xfrm>
              <a:off x="368427" y="799624"/>
              <a:ext cx="5366868" cy="484060"/>
            </a:xfrm>
            <a:prstGeom prst="rect">
              <a:avLst/>
            </a:prstGeom>
            <a:noFill/>
            <a:ln>
              <a:noFill/>
            </a:ln>
          </p:spPr>
          <p:txBody>
            <a:bodyPr wrap="none" lIns="0" tIns="0" rIns="0" bIns="0" anchor="t" anchorCtr="0">
              <a:spAutoFit/>
            </a:bodyPr>
            <a:lstStyle/>
            <a:p>
              <a:pPr algn="l"/>
              <a:r>
                <a:rPr lang="zh-CN" sz="2480" b="1" dirty="0">
                  <a:solidFill>
                    <a:srgbClr val="4A130A"/>
                  </a:solidFill>
                  <a:latin typeface="+mn-lt"/>
                  <a:ea typeface="+mn-ea"/>
                  <a:cs typeface="+mn-cs"/>
                </a:rPr>
                <a:t>普华永道银行零售客户运营管理方案</a:t>
              </a:r>
            </a:p>
          </p:txBody>
        </p:sp>
        <p:sp>
          <p:nvSpPr>
            <p:cNvPr id="18" name="TextBox 18"/>
            <p:cNvSpPr txBox="1"/>
            <p:nvPr/>
          </p:nvSpPr>
          <p:spPr>
            <a:xfrm>
              <a:off x="374904" y="1280160"/>
              <a:ext cx="4212336" cy="234696"/>
            </a:xfrm>
            <a:prstGeom prst="rect">
              <a:avLst/>
            </a:prstGeom>
            <a:noFill/>
            <a:ln>
              <a:noFill/>
            </a:ln>
          </p:spPr>
          <p:txBody>
            <a:bodyPr wrap="none" lIns="0" tIns="0" rIns="0" bIns="0" anchor="t" anchorCtr="0">
              <a:spAutoFit/>
            </a:bodyPr>
            <a:lstStyle/>
            <a:p>
              <a:pPr algn="l"/>
              <a:r>
                <a:rPr lang="zh-CN" sz="1200" dirty="0">
                  <a:solidFill>
                    <a:srgbClr val="3D3835"/>
                  </a:solidFill>
                  <a:latin typeface="+mn-lt"/>
                  <a:ea typeface="+mn-ea"/>
                  <a:cs typeface="+mn-cs"/>
                </a:rPr>
                <a:t>以客户价值为核心</a:t>
              </a:r>
              <a:r>
                <a:rPr lang="zh-CN" sz="1200" b="1" dirty="0">
                  <a:solidFill>
                    <a:srgbClr val="EE492C"/>
                  </a:solidFill>
                  <a:latin typeface="+mn-lt"/>
                  <a:ea typeface="+mn-ea"/>
                  <a:cs typeface="+mn-cs"/>
                </a:rPr>
                <a:t>｜</a:t>
              </a:r>
              <a:r>
                <a:rPr lang="zh-CN" sz="1200" dirty="0">
                  <a:solidFill>
                    <a:srgbClr val="3D3835"/>
                  </a:solidFill>
                  <a:latin typeface="+mn-lt"/>
                  <a:ea typeface="+mn-ea"/>
                  <a:cs typeface="+mn-cs"/>
                </a:rPr>
                <a:t>以旅程运营为抓手</a:t>
              </a:r>
              <a:r>
                <a:rPr lang="zh-CN" sz="1200" b="1" dirty="0">
                  <a:solidFill>
                    <a:srgbClr val="EE492C"/>
                  </a:solidFill>
                  <a:latin typeface="+mn-lt"/>
                  <a:ea typeface="+mn-ea"/>
                  <a:cs typeface="+mn-cs"/>
                </a:rPr>
                <a:t>｜</a:t>
              </a:r>
              <a:r>
                <a:rPr lang="zh-CN" sz="1200" dirty="0">
                  <a:solidFill>
                    <a:srgbClr val="3D3835"/>
                  </a:solidFill>
                  <a:latin typeface="+mn-lt"/>
                  <a:ea typeface="+mn-ea"/>
                  <a:cs typeface="+mn-cs"/>
                </a:rPr>
                <a:t>以数据智能为引擎</a:t>
              </a:r>
            </a:p>
          </p:txBody>
        </p:sp>
      </p:grpSp>
      <p:grpSp>
        <p:nvGrpSpPr>
          <p:cNvPr id="56" name="ring-core"/>
          <p:cNvGrpSpPr/>
          <p:nvPr/>
        </p:nvGrpSpPr>
        <p:grpSpPr>
          <a:xfrm>
            <a:off x="4754382" y="1181100"/>
            <a:ext cx="4456293" cy="4600575"/>
            <a:chOff x="4754382" y="1181100"/>
            <a:chExt cx="4456293" cy="4600575"/>
          </a:xfrm>
        </p:grpSpPr>
        <p:sp>
          <p:nvSpPr>
            <p:cNvPr id="20" name="Ellipse 20"/>
            <p:cNvSpPr/>
            <p:nvPr/>
          </p:nvSpPr>
          <p:spPr>
            <a:xfrm>
              <a:off x="4772025" y="1609725"/>
              <a:ext cx="4114800" cy="4114800"/>
            </a:xfrm>
            <a:prstGeom prst="ellipse">
              <a:avLst/>
            </a:prstGeom>
            <a:noFill/>
            <a:ln w="19050">
              <a:solidFill>
                <a:srgbClr val="F27E6A"/>
              </a:solidFill>
            </a:ln>
          </p:spPr>
        </p:sp>
        <p:sp>
          <p:nvSpPr>
            <p:cNvPr id="21" name="Ellipse 21"/>
            <p:cNvSpPr/>
            <p:nvPr/>
          </p:nvSpPr>
          <p:spPr>
            <a:xfrm>
              <a:off x="5381625" y="2219325"/>
              <a:ext cx="2895600" cy="2895600"/>
            </a:xfrm>
            <a:prstGeom prst="ellipse">
              <a:avLst/>
            </a:prstGeom>
            <a:noFill/>
            <a:ln w="14288">
              <a:solidFill>
                <a:srgbClr val="F59C8C"/>
              </a:solidFill>
              <a:custDash>
                <a:ds d="400000" sp="400000"/>
              </a:custDash>
            </a:ln>
          </p:spPr>
        </p:sp>
        <p:sp>
          <p:nvSpPr>
            <p:cNvPr id="22" name="Ellipse 22"/>
            <p:cNvSpPr/>
            <p:nvPr/>
          </p:nvSpPr>
          <p:spPr>
            <a:xfrm>
              <a:off x="5648325" y="2486025"/>
              <a:ext cx="2362200" cy="2362200"/>
            </a:xfrm>
            <a:prstGeom prst="ellipse">
              <a:avLst/>
            </a:prstGeom>
            <a:noFill/>
            <a:ln w="9525">
              <a:solidFill>
                <a:srgbClr val="F9C2B8"/>
              </a:solidFill>
            </a:ln>
          </p:spPr>
        </p:sp>
        <p:sp>
          <p:nvSpPr>
            <p:cNvPr id="23" name="Polygon 23"/>
            <p:cNvSpPr/>
            <p:nvPr/>
          </p:nvSpPr>
          <p:spPr>
            <a:xfrm>
              <a:off x="8035473" y="1977573"/>
              <a:ext cx="141474" cy="124616"/>
            </a:xfrm>
            <a:custGeom>
              <a:avLst/>
              <a:gdLst/>
              <a:ahLst/>
              <a:cxnLst/>
              <a:rect l="l" t="t" r="r" b="b"/>
              <a:pathLst>
                <a:path w="141474" h="124616">
                  <a:moveTo>
                    <a:pt x="67184" y="0"/>
                  </a:moveTo>
                  <a:lnTo>
                    <a:pt x="141474" y="124616"/>
                  </a:lnTo>
                  <a:lnTo>
                    <a:pt x="0" y="92471"/>
                  </a:lnTo>
                  <a:close/>
                </a:path>
              </a:pathLst>
            </a:custGeom>
            <a:solidFill>
              <a:srgbClr val="EE492C"/>
            </a:solidFill>
            <a:ln>
              <a:noFill/>
            </a:ln>
          </p:spPr>
        </p:sp>
        <p:sp>
          <p:nvSpPr>
            <p:cNvPr id="24" name="Polygon 24"/>
            <p:cNvSpPr/>
            <p:nvPr/>
          </p:nvSpPr>
          <p:spPr>
            <a:xfrm>
              <a:off x="8831082" y="2975987"/>
              <a:ext cx="108706" cy="144484"/>
            </a:xfrm>
            <a:custGeom>
              <a:avLst/>
              <a:gdLst/>
              <a:ahLst/>
              <a:cxnLst/>
              <a:rect l="l" t="t" r="r" b="b"/>
              <a:pathLst>
                <a:path w="108706" h="144484">
                  <a:moveTo>
                    <a:pt x="108706" y="35321"/>
                  </a:moveTo>
                  <a:lnTo>
                    <a:pt x="13145" y="144484"/>
                  </a:lnTo>
                  <a:lnTo>
                    <a:pt x="0" y="0"/>
                  </a:lnTo>
                  <a:close/>
                </a:path>
              </a:pathLst>
            </a:custGeom>
            <a:solidFill>
              <a:srgbClr val="EE492C"/>
            </a:solidFill>
            <a:ln>
              <a:noFill/>
            </a:ln>
          </p:spPr>
        </p:sp>
        <p:sp>
          <p:nvSpPr>
            <p:cNvPr id="25" name="Polygon 25"/>
            <p:cNvSpPr/>
            <p:nvPr/>
          </p:nvSpPr>
          <p:spPr>
            <a:xfrm>
              <a:off x="6753225" y="5667375"/>
              <a:ext cx="133350" cy="114300"/>
            </a:xfrm>
            <a:custGeom>
              <a:avLst/>
              <a:gdLst/>
              <a:ahLst/>
              <a:cxnLst/>
              <a:rect l="l" t="t" r="r" b="b"/>
              <a:pathLst>
                <a:path w="133350" h="114300">
                  <a:moveTo>
                    <a:pt x="133350" y="114300"/>
                  </a:moveTo>
                  <a:lnTo>
                    <a:pt x="0" y="57150"/>
                  </a:lnTo>
                  <a:lnTo>
                    <a:pt x="133350" y="0"/>
                  </a:lnTo>
                  <a:close/>
                </a:path>
              </a:pathLst>
            </a:custGeom>
            <a:solidFill>
              <a:srgbClr val="EE492C"/>
            </a:solidFill>
            <a:ln>
              <a:noFill/>
            </a:ln>
          </p:spPr>
        </p:sp>
        <p:sp>
          <p:nvSpPr>
            <p:cNvPr id="26" name="Polygon 26"/>
            <p:cNvSpPr/>
            <p:nvPr/>
          </p:nvSpPr>
          <p:spPr>
            <a:xfrm>
              <a:off x="4754382" y="2975529"/>
              <a:ext cx="108706" cy="144484"/>
            </a:xfrm>
            <a:custGeom>
              <a:avLst/>
              <a:gdLst/>
              <a:ahLst/>
              <a:cxnLst/>
              <a:rect l="l" t="t" r="r" b="b"/>
              <a:pathLst>
                <a:path w="108706" h="144484">
                  <a:moveTo>
                    <a:pt x="0" y="144484"/>
                  </a:moveTo>
                  <a:lnTo>
                    <a:pt x="13145" y="0"/>
                  </a:lnTo>
                  <a:lnTo>
                    <a:pt x="108706" y="109163"/>
                  </a:lnTo>
                  <a:close/>
                </a:path>
              </a:pathLst>
            </a:custGeom>
            <a:solidFill>
              <a:srgbClr val="EE492C"/>
            </a:solidFill>
            <a:ln>
              <a:noFill/>
            </a:ln>
          </p:spPr>
        </p:sp>
        <p:sp>
          <p:nvSpPr>
            <p:cNvPr id="27" name="Polygon 27"/>
            <p:cNvSpPr/>
            <p:nvPr/>
          </p:nvSpPr>
          <p:spPr>
            <a:xfrm>
              <a:off x="5463723" y="2012611"/>
              <a:ext cx="141474" cy="124616"/>
            </a:xfrm>
            <a:custGeom>
              <a:avLst/>
              <a:gdLst/>
              <a:ahLst/>
              <a:cxnLst/>
              <a:rect l="l" t="t" r="r" b="b"/>
              <a:pathLst>
                <a:path w="141474" h="124616">
                  <a:moveTo>
                    <a:pt x="0" y="32146"/>
                  </a:moveTo>
                  <a:lnTo>
                    <a:pt x="141474" y="0"/>
                  </a:lnTo>
                  <a:lnTo>
                    <a:pt x="67184" y="124616"/>
                  </a:lnTo>
                  <a:close/>
                </a:path>
              </a:pathLst>
            </a:custGeom>
            <a:solidFill>
              <a:srgbClr val="EE492C"/>
            </a:solidFill>
            <a:ln>
              <a:noFill/>
            </a:ln>
          </p:spPr>
        </p:sp>
        <p:sp>
          <p:nvSpPr>
            <p:cNvPr id="28" name="Ellipse 28"/>
            <p:cNvSpPr/>
            <p:nvPr/>
          </p:nvSpPr>
          <p:spPr>
            <a:xfrm>
              <a:off x="5953125" y="2790825"/>
              <a:ext cx="1752600" cy="1752600"/>
            </a:xfrm>
            <a:prstGeom prst="ellipse">
              <a:avLst/>
            </a:prstGeom>
            <a:gradFill>
              <a:gsLst>
                <a:gs pos="0">
                  <a:srgbClr val="FFFFFF"/>
                </a:gs>
                <a:gs pos="100000">
                  <a:srgbClr val="FFF1E4"/>
                </a:gs>
              </a:gsLst>
              <a:lin ang="5400000" scaled="1"/>
            </a:gradFill>
            <a:ln w="19050">
              <a:solidFill>
                <a:srgbClr val="F27E6A"/>
              </a:solidFill>
            </a:ln>
            <a:effectLst>
              <a:outerShdw blurRad="152400" dist="57150" dir="5400000" algn="ctr" rotWithShape="0">
                <a:srgbClr val="8F1C08">
                  <a:alpha val="9000"/>
                </a:srgbClr>
              </a:outerShdw>
            </a:effectLst>
          </p:spPr>
        </p:sp>
        <p:sp>
          <p:nvSpPr>
            <p:cNvPr id="29" name="Ellipse 29"/>
            <p:cNvSpPr/>
            <p:nvPr/>
          </p:nvSpPr>
          <p:spPr>
            <a:xfrm>
              <a:off x="6543675" y="3048000"/>
              <a:ext cx="571500" cy="571500"/>
            </a:xfrm>
            <a:prstGeom prst="ellipse">
              <a:avLst/>
            </a:prstGeom>
            <a:solidFill>
              <a:srgbClr val="EE492C"/>
            </a:solidFill>
            <a:ln>
              <a:noFill/>
            </a:ln>
          </p:spPr>
        </p:sp>
        <p:grpSp>
          <p:nvGrpSpPr>
            <p:cNvPr id="34" name="Group 34"/>
            <p:cNvGrpSpPr/>
            <p:nvPr/>
          </p:nvGrpSpPr>
          <p:grpSpPr>
            <a:xfrm>
              <a:off x="6700838" y="3205162"/>
              <a:ext cx="257174" cy="257176"/>
              <a:chOff x="6700838" y="3205162"/>
              <a:chExt cx="257174" cy="257176"/>
            </a:xfrm>
          </p:grpSpPr>
          <p:sp>
            <p:nvSpPr>
              <p:cNvPr id="30" name="Freeform 30"/>
              <p:cNvSpPr/>
              <p:nvPr/>
            </p:nvSpPr>
            <p:spPr>
              <a:xfrm>
                <a:off x="6729412" y="32051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FFFFFF"/>
                </a:solidFill>
              </a:ln>
            </p:spPr>
          </p:sp>
          <p:sp>
            <p:nvSpPr>
              <p:cNvPr id="31" name="Freeform 31"/>
              <p:cNvSpPr/>
              <p:nvPr/>
            </p:nvSpPr>
            <p:spPr>
              <a:xfrm>
                <a:off x="6700838" y="337661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FFFFFF"/>
                </a:solidFill>
              </a:ln>
            </p:spPr>
          </p:sp>
          <p:sp>
            <p:nvSpPr>
              <p:cNvPr id="32" name="Freeform 32"/>
              <p:cNvSpPr/>
              <p:nvPr/>
            </p:nvSpPr>
            <p:spPr>
              <a:xfrm>
                <a:off x="6886575" y="320702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FFFFFF"/>
                </a:solidFill>
              </a:ln>
            </p:spPr>
          </p:sp>
          <p:sp>
            <p:nvSpPr>
              <p:cNvPr id="33" name="Freeform 33"/>
              <p:cNvSpPr/>
              <p:nvPr/>
            </p:nvSpPr>
            <p:spPr>
              <a:xfrm>
                <a:off x="6915150" y="337875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FFFFFF"/>
                </a:solidFill>
              </a:ln>
            </p:spPr>
          </p:sp>
        </p:grpSp>
        <p:sp>
          <p:nvSpPr>
            <p:cNvPr id="35" name="TextBox 35"/>
            <p:cNvSpPr txBox="1"/>
            <p:nvPr/>
          </p:nvSpPr>
          <p:spPr>
            <a:xfrm>
              <a:off x="6357569" y="3776186"/>
              <a:ext cx="943712" cy="337376"/>
            </a:xfrm>
            <a:prstGeom prst="rect">
              <a:avLst/>
            </a:prstGeom>
            <a:noFill/>
            <a:ln>
              <a:noFill/>
            </a:ln>
          </p:spPr>
          <p:txBody>
            <a:bodyPr wrap="none" lIns="0" tIns="0" rIns="0" bIns="0" anchor="t" anchorCtr="0">
              <a:spAutoFit/>
            </a:bodyPr>
            <a:lstStyle/>
            <a:p>
              <a:pPr algn="ctr"/>
              <a:r>
                <a:rPr lang="zh-CN" sz="1720" b="1" dirty="0">
                  <a:solidFill>
                    <a:srgbClr val="4A130A"/>
                  </a:solidFill>
                  <a:latin typeface="+mn-lt"/>
                  <a:ea typeface="+mn-ea"/>
                  <a:cs typeface="+mn-cs"/>
                </a:rPr>
                <a:t>客户价值</a:t>
              </a:r>
            </a:p>
          </p:txBody>
        </p:sp>
        <p:sp>
          <p:nvSpPr>
            <p:cNvPr id="36" name="TextBox 36"/>
            <p:cNvSpPr txBox="1"/>
            <p:nvPr/>
          </p:nvSpPr>
          <p:spPr>
            <a:xfrm>
              <a:off x="6217605" y="4104799"/>
              <a:ext cx="1223640" cy="190690"/>
            </a:xfrm>
            <a:prstGeom prst="rect">
              <a:avLst/>
            </a:prstGeom>
            <a:noFill/>
            <a:ln>
              <a:noFill/>
            </a:ln>
          </p:spPr>
          <p:txBody>
            <a:bodyPr wrap="none" lIns="0" tIns="0" rIns="0" bIns="0" anchor="t" anchorCtr="0">
              <a:spAutoFit/>
            </a:bodyPr>
            <a:lstStyle/>
            <a:p>
              <a:pPr algn="ctr"/>
              <a:r>
                <a:rPr lang="zh-CN" sz="980" dirty="0">
                  <a:solidFill>
                    <a:srgbClr val="7A716B"/>
                  </a:solidFill>
                  <a:latin typeface="+mn-lt"/>
                  <a:ea typeface="+mn-ea"/>
                  <a:cs typeface="+mn-cs"/>
                </a:rPr>
                <a:t xml:space="preserve">洞察 </a:t>
              </a:r>
              <a:r>
                <a:rPr lang="zh-CN" sz="980" dirty="0">
                  <a:solidFill>
                    <a:srgbClr val="EE492C"/>
                  </a:solidFill>
                  <a:latin typeface="+mn-lt"/>
                  <a:ea typeface="+mn-ea"/>
                  <a:cs typeface="+mn-cs"/>
                </a:rPr>
                <a:t>｜</a:t>
              </a:r>
              <a:r>
                <a:rPr lang="zh-CN" sz="980" dirty="0">
                  <a:solidFill>
                    <a:srgbClr val="7A716B"/>
                  </a:solidFill>
                  <a:latin typeface="+mn-lt"/>
                  <a:ea typeface="+mn-ea"/>
                  <a:cs typeface="+mn-cs"/>
                </a:rPr>
                <a:t xml:space="preserve"> 连接 </a:t>
              </a:r>
              <a:r>
                <a:rPr lang="zh-CN" sz="980" dirty="0">
                  <a:solidFill>
                    <a:srgbClr val="EE492C"/>
                  </a:solidFill>
                  <a:latin typeface="+mn-lt"/>
                  <a:ea typeface="+mn-ea"/>
                  <a:cs typeface="+mn-cs"/>
                </a:rPr>
                <a:t>｜</a:t>
              </a:r>
              <a:r>
                <a:rPr lang="zh-CN" sz="980" dirty="0">
                  <a:solidFill>
                    <a:srgbClr val="7A716B"/>
                  </a:solidFill>
                  <a:latin typeface="+mn-lt"/>
                  <a:ea typeface="+mn-ea"/>
                  <a:cs typeface="+mn-cs"/>
                </a:rPr>
                <a:t xml:space="preserve"> 成长</a:t>
              </a:r>
            </a:p>
          </p:txBody>
        </p:sp>
        <p:sp>
          <p:nvSpPr>
            <p:cNvPr id="37" name="Ellipse 37"/>
            <p:cNvSpPr/>
            <p:nvPr/>
          </p:nvSpPr>
          <p:spPr>
            <a:xfrm>
              <a:off x="6400800" y="1181100"/>
              <a:ext cx="857250" cy="857250"/>
            </a:xfrm>
            <a:prstGeom prst="ellipse">
              <a:avLst/>
            </a:prstGeom>
            <a:solidFill>
              <a:srgbClr val="FFFFFF"/>
            </a:solidFill>
            <a:ln w="19050">
              <a:solidFill>
                <a:srgbClr val="F27E6A"/>
              </a:solidFill>
            </a:ln>
            <a:effectLst>
              <a:outerShdw blurRad="152400" dist="57150" dir="5400000" algn="ctr" rotWithShape="0">
                <a:srgbClr val="8F1C08">
                  <a:alpha val="9000"/>
                </a:srgbClr>
              </a:outerShdw>
            </a:effectLst>
          </p:spPr>
        </p:sp>
        <p:grpSp>
          <p:nvGrpSpPr>
            <p:cNvPr id="44" name="Group 44"/>
            <p:cNvGrpSpPr/>
            <p:nvPr/>
          </p:nvGrpSpPr>
          <p:grpSpPr>
            <a:xfrm>
              <a:off x="6729413" y="1366838"/>
              <a:ext cx="200025" cy="200026"/>
              <a:chOff x="6729413" y="1366838"/>
              <a:chExt cx="200025" cy="200026"/>
            </a:xfrm>
          </p:grpSpPr>
          <p:sp>
            <p:nvSpPr>
              <p:cNvPr id="38" name="Freeform 38"/>
              <p:cNvSpPr/>
              <p:nvPr/>
            </p:nvSpPr>
            <p:spPr>
              <a:xfrm>
                <a:off x="6807200" y="14557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EE492C"/>
                </a:solidFill>
              </a:ln>
            </p:spPr>
          </p:sp>
          <p:sp>
            <p:nvSpPr>
              <p:cNvPr id="39" name="Freeform 39"/>
              <p:cNvSpPr/>
              <p:nvPr/>
            </p:nvSpPr>
            <p:spPr>
              <a:xfrm>
                <a:off x="6784975" y="153352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EE492C"/>
                </a:solidFill>
              </a:ln>
            </p:spPr>
          </p:sp>
          <p:sp>
            <p:nvSpPr>
              <p:cNvPr id="40" name="Freeform 40"/>
              <p:cNvSpPr/>
              <p:nvPr/>
            </p:nvSpPr>
            <p:spPr>
              <a:xfrm>
                <a:off x="6862763" y="13668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EE492C"/>
                </a:solidFill>
              </a:ln>
            </p:spPr>
          </p:sp>
          <p:sp>
            <p:nvSpPr>
              <p:cNvPr id="41" name="Freeform 41"/>
              <p:cNvSpPr/>
              <p:nvPr/>
            </p:nvSpPr>
            <p:spPr>
              <a:xfrm>
                <a:off x="6884988" y="144462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EE492C"/>
                </a:solidFill>
              </a:ln>
            </p:spPr>
          </p:sp>
          <p:sp>
            <p:nvSpPr>
              <p:cNvPr id="42" name="Freeform 42"/>
              <p:cNvSpPr/>
              <p:nvPr/>
            </p:nvSpPr>
            <p:spPr>
              <a:xfrm>
                <a:off x="6751638" y="13668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EE492C"/>
                </a:solidFill>
              </a:ln>
            </p:spPr>
          </p:sp>
          <p:sp>
            <p:nvSpPr>
              <p:cNvPr id="43" name="Freeform 43"/>
              <p:cNvSpPr/>
              <p:nvPr/>
            </p:nvSpPr>
            <p:spPr>
              <a:xfrm>
                <a:off x="6729413" y="144462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EE492C"/>
                </a:solidFill>
              </a:ln>
            </p:spPr>
          </p:sp>
        </p:grpSp>
        <p:sp>
          <p:nvSpPr>
            <p:cNvPr id="45" name="TextBox 45"/>
            <p:cNvSpPr txBox="1"/>
            <p:nvPr/>
          </p:nvSpPr>
          <p:spPr>
            <a:xfrm>
              <a:off x="6682740" y="1753552"/>
              <a:ext cx="293370" cy="205359"/>
            </a:xfrm>
            <a:prstGeom prst="rect">
              <a:avLst/>
            </a:prstGeom>
            <a:noFill/>
            <a:ln>
              <a:noFill/>
            </a:ln>
          </p:spPr>
          <p:txBody>
            <a:bodyPr wrap="none" lIns="0" tIns="0" rIns="0" bIns="0" anchor="t" anchorCtr="0">
              <a:spAutoFit/>
            </a:bodyPr>
            <a:lstStyle/>
            <a:p>
              <a:pPr algn="ctr"/>
              <a:r>
                <a:rPr lang="zh-CN" sz="1050" b="1" dirty="0">
                  <a:solidFill>
                    <a:srgbClr val="C41D00"/>
                  </a:solidFill>
                  <a:latin typeface="+mn-lt"/>
                  <a:ea typeface="+mn-ea"/>
                  <a:cs typeface="+mn-cs"/>
                </a:rPr>
                <a:t>获客</a:t>
              </a:r>
            </a:p>
          </p:txBody>
        </p:sp>
        <p:sp>
          <p:nvSpPr>
            <p:cNvPr id="46" name="Ellipse 46"/>
            <p:cNvSpPr/>
            <p:nvPr/>
          </p:nvSpPr>
          <p:spPr>
            <a:xfrm>
              <a:off x="8353425" y="2600325"/>
              <a:ext cx="857250" cy="857250"/>
            </a:xfrm>
            <a:prstGeom prst="ellipse">
              <a:avLst/>
            </a:prstGeom>
            <a:solidFill>
              <a:srgbClr val="FFFFFF"/>
            </a:solidFill>
            <a:ln w="19050">
              <a:solidFill>
                <a:srgbClr val="F27E6A"/>
              </a:solidFill>
            </a:ln>
            <a:effectLst>
              <a:outerShdw blurRad="152400" dist="57150" dir="5400000" algn="ctr" rotWithShape="0">
                <a:srgbClr val="8F1C08">
                  <a:alpha val="9000"/>
                </a:srgbClr>
              </a:outerShdw>
            </a:effectLst>
          </p:spPr>
        </p:sp>
        <p:grpSp>
          <p:nvGrpSpPr>
            <p:cNvPr id="49" name="Group 49"/>
            <p:cNvGrpSpPr/>
            <p:nvPr/>
          </p:nvGrpSpPr>
          <p:grpSpPr>
            <a:xfrm>
              <a:off x="8682038" y="2830513"/>
              <a:ext cx="200026" cy="111125"/>
              <a:chOff x="8682038" y="2830513"/>
              <a:chExt cx="200026" cy="111125"/>
            </a:xfrm>
          </p:grpSpPr>
          <p:sp>
            <p:nvSpPr>
              <p:cNvPr id="47" name="Freeform 47"/>
              <p:cNvSpPr/>
              <p:nvPr/>
            </p:nvSpPr>
            <p:spPr>
              <a:xfrm>
                <a:off x="8682038" y="2830513"/>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EE492C"/>
                </a:solidFill>
              </a:ln>
            </p:spPr>
          </p:sp>
          <p:sp>
            <p:nvSpPr>
              <p:cNvPr id="48" name="Freeform 48"/>
              <p:cNvSpPr/>
              <p:nvPr/>
            </p:nvSpPr>
            <p:spPr>
              <a:xfrm>
                <a:off x="8804275" y="2830513"/>
                <a:ext cx="77788" cy="77788"/>
              </a:xfrm>
              <a:custGeom>
                <a:avLst/>
                <a:gdLst/>
                <a:ahLst/>
                <a:cxnLst/>
                <a:rect l="l" t="t" r="r" b="b"/>
                <a:pathLst>
                  <a:path w="77788" h="77788">
                    <a:moveTo>
                      <a:pt x="0" y="0"/>
                    </a:moveTo>
                    <a:lnTo>
                      <a:pt x="77788" y="0"/>
                    </a:lnTo>
                    <a:lnTo>
                      <a:pt x="77788" y="77788"/>
                    </a:lnTo>
                  </a:path>
                </a:pathLst>
              </a:custGeom>
              <a:noFill/>
              <a:ln w="22225">
                <a:solidFill>
                  <a:srgbClr val="EE492C"/>
                </a:solidFill>
              </a:ln>
            </p:spPr>
          </p:sp>
        </p:grpSp>
        <p:sp>
          <p:nvSpPr>
            <p:cNvPr id="50" name="TextBox 50"/>
            <p:cNvSpPr txBox="1"/>
            <p:nvPr/>
          </p:nvSpPr>
          <p:spPr>
            <a:xfrm>
              <a:off x="8635365" y="3172778"/>
              <a:ext cx="293370" cy="205359"/>
            </a:xfrm>
            <a:prstGeom prst="rect">
              <a:avLst/>
            </a:prstGeom>
            <a:noFill/>
            <a:ln>
              <a:noFill/>
            </a:ln>
          </p:spPr>
          <p:txBody>
            <a:bodyPr wrap="none" lIns="0" tIns="0" rIns="0" bIns="0" anchor="t" anchorCtr="0">
              <a:spAutoFit/>
            </a:bodyPr>
            <a:lstStyle/>
            <a:p>
              <a:pPr algn="ctr"/>
              <a:r>
                <a:rPr lang="zh-CN" sz="1050" b="1" dirty="0">
                  <a:solidFill>
                    <a:srgbClr val="C41D00"/>
                  </a:solidFill>
                  <a:latin typeface="+mn-lt"/>
                  <a:ea typeface="+mn-ea"/>
                  <a:cs typeface="+mn-cs"/>
                </a:rPr>
                <a:t>活跃</a:t>
              </a:r>
            </a:p>
          </p:txBody>
        </p:sp>
        <p:sp>
          <p:nvSpPr>
            <p:cNvPr id="51" name="Ellipse 51"/>
            <p:cNvSpPr/>
            <p:nvPr/>
          </p:nvSpPr>
          <p:spPr>
            <a:xfrm>
              <a:off x="7610475" y="4905375"/>
              <a:ext cx="857250" cy="857250"/>
            </a:xfrm>
            <a:prstGeom prst="ellipse">
              <a:avLst/>
            </a:prstGeom>
            <a:solidFill>
              <a:srgbClr val="FFFFFF"/>
            </a:solidFill>
            <a:ln w="19050">
              <a:solidFill>
                <a:srgbClr val="F27E6A"/>
              </a:solidFill>
            </a:ln>
            <a:effectLst>
              <a:outerShdw blurRad="152400" dist="57150" dir="5400000" algn="ctr" rotWithShape="0">
                <a:srgbClr val="8F1C08">
                  <a:alpha val="9000"/>
                </a:srgbClr>
              </a:outerShdw>
            </a:effectLst>
          </p:spPr>
        </p:sp>
        <p:grpSp>
          <p:nvGrpSpPr>
            <p:cNvPr id="54" name="Group 54"/>
            <p:cNvGrpSpPr/>
            <p:nvPr/>
          </p:nvGrpSpPr>
          <p:grpSpPr>
            <a:xfrm>
              <a:off x="7924091" y="5091113"/>
              <a:ext cx="217008" cy="200025"/>
              <a:chOff x="7924091" y="5091113"/>
              <a:chExt cx="217008" cy="200025"/>
            </a:xfrm>
          </p:grpSpPr>
          <p:sp>
            <p:nvSpPr>
              <p:cNvPr id="52" name="Freeform 52"/>
              <p:cNvSpPr/>
              <p:nvPr/>
            </p:nvSpPr>
            <p:spPr>
              <a:xfrm>
                <a:off x="7924091" y="5091113"/>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EE492C"/>
                </a:solidFill>
              </a:ln>
            </p:spPr>
          </p:sp>
          <p:sp>
            <p:nvSpPr>
              <p:cNvPr id="53" name="Freeform 53"/>
              <p:cNvSpPr/>
              <p:nvPr/>
            </p:nvSpPr>
            <p:spPr>
              <a:xfrm>
                <a:off x="8072438" y="5246688"/>
                <a:ext cx="66675" cy="44450"/>
              </a:xfrm>
              <a:custGeom>
                <a:avLst/>
                <a:gdLst/>
                <a:ahLst/>
                <a:cxnLst/>
                <a:rect l="l" t="t" r="r" b="b"/>
                <a:pathLst>
                  <a:path w="66675" h="44450">
                    <a:moveTo>
                      <a:pt x="0" y="22225"/>
                    </a:moveTo>
                    <a:lnTo>
                      <a:pt x="22225" y="44450"/>
                    </a:lnTo>
                    <a:lnTo>
                      <a:pt x="66675" y="0"/>
                    </a:lnTo>
                  </a:path>
                </a:pathLst>
              </a:custGeom>
              <a:noFill/>
              <a:ln w="22225">
                <a:solidFill>
                  <a:srgbClr val="EE492C"/>
                </a:solidFill>
              </a:ln>
            </p:spPr>
          </p:sp>
        </p:grpSp>
        <p:sp>
          <p:nvSpPr>
            <p:cNvPr id="55" name="TextBox 55"/>
            <p:cNvSpPr txBox="1"/>
            <p:nvPr/>
          </p:nvSpPr>
          <p:spPr>
            <a:xfrm>
              <a:off x="7892415" y="5477828"/>
              <a:ext cx="293370" cy="205359"/>
            </a:xfrm>
            <a:prstGeom prst="rect">
              <a:avLst/>
            </a:prstGeom>
            <a:noFill/>
            <a:ln>
              <a:noFill/>
            </a:ln>
          </p:spPr>
          <p:txBody>
            <a:bodyPr wrap="none" lIns="0" tIns="0" rIns="0" bIns="0" anchor="t" anchorCtr="0">
              <a:spAutoFit/>
            </a:bodyPr>
            <a:lstStyle/>
            <a:p>
              <a:pPr algn="ctr"/>
              <a:r>
                <a:rPr lang="zh-CN" sz="1050" b="1" dirty="0">
                  <a:solidFill>
                    <a:srgbClr val="C41D00"/>
                  </a:solidFill>
                  <a:latin typeface="+mn-lt"/>
                  <a:ea typeface="+mn-ea"/>
                  <a:cs typeface="+mn-cs"/>
                </a:rPr>
                <a:t>忠诚</a:t>
              </a:r>
            </a:p>
          </p:txBody>
        </p:sp>
      </p:grpSp>
      <p:grpSp>
        <p:nvGrpSpPr>
          <p:cNvPr id="63" name="node-credit"/>
          <p:cNvGrpSpPr/>
          <p:nvPr/>
        </p:nvGrpSpPr>
        <p:grpSpPr>
          <a:xfrm>
            <a:off x="5191125" y="4905375"/>
            <a:ext cx="857250" cy="857250"/>
            <a:chOff x="5191125" y="4905375"/>
            <a:chExt cx="857250" cy="857250"/>
          </a:xfrm>
        </p:grpSpPr>
        <p:sp>
          <p:nvSpPr>
            <p:cNvPr id="57" name="Ellipse 57"/>
            <p:cNvSpPr/>
            <p:nvPr/>
          </p:nvSpPr>
          <p:spPr>
            <a:xfrm>
              <a:off x="5191125" y="4905375"/>
              <a:ext cx="857250" cy="857250"/>
            </a:xfrm>
            <a:prstGeom prst="ellipse">
              <a:avLst/>
            </a:prstGeom>
            <a:solidFill>
              <a:srgbClr val="FFFFFF"/>
            </a:solidFill>
            <a:ln w="19050">
              <a:solidFill>
                <a:srgbClr val="F27E6A"/>
              </a:solidFill>
            </a:ln>
            <a:effectLst>
              <a:outerShdw blurRad="152400" dist="57150" dir="5400000" algn="ctr" rotWithShape="0">
                <a:srgbClr val="8F1C08">
                  <a:alpha val="9000"/>
                </a:srgbClr>
              </a:outerShdw>
            </a:effectLst>
          </p:spPr>
        </p:sp>
        <p:grpSp>
          <p:nvGrpSpPr>
            <p:cNvPr id="61" name="Group 61"/>
            <p:cNvGrpSpPr/>
            <p:nvPr/>
          </p:nvGrpSpPr>
          <p:grpSpPr>
            <a:xfrm>
              <a:off x="5519738" y="5113338"/>
              <a:ext cx="200025" cy="155575"/>
              <a:chOff x="5519738" y="5113338"/>
              <a:chExt cx="200025" cy="155575"/>
            </a:xfrm>
          </p:grpSpPr>
          <p:sp>
            <p:nvSpPr>
              <p:cNvPr id="58" name="Freeform 58"/>
              <p:cNvSpPr/>
              <p:nvPr/>
            </p:nvSpPr>
            <p:spPr>
              <a:xfrm>
                <a:off x="5519738" y="5113338"/>
                <a:ext cx="155575" cy="111125"/>
              </a:xfrm>
              <a:custGeom>
                <a:avLst/>
                <a:gdLst/>
                <a:ahLst/>
                <a:cxnLst/>
                <a:rect l="l" t="t" r="r" b="b"/>
                <a:pathLst>
                  <a:path w="155575" h="111125">
                    <a:moveTo>
                      <a:pt x="44450" y="111125"/>
                    </a:moveTo>
                    <a:lnTo>
                      <a:pt x="11113" y="111125"/>
                    </a:lnTo>
                    <a:cubicBezTo>
                      <a:pt x="4975" y="111125"/>
                      <a:pt x="0" y="106150"/>
                      <a:pt x="0" y="100013"/>
                    </a:cubicBezTo>
                    <a:lnTo>
                      <a:pt x="0" y="11113"/>
                    </a:lnTo>
                    <a:cubicBezTo>
                      <a:pt x="0" y="4975"/>
                      <a:pt x="4975" y="0"/>
                      <a:pt x="11113" y="0"/>
                    </a:cubicBezTo>
                    <a:lnTo>
                      <a:pt x="144463" y="0"/>
                    </a:lnTo>
                    <a:cubicBezTo>
                      <a:pt x="150600" y="0"/>
                      <a:pt x="155575" y="4975"/>
                      <a:pt x="155575" y="11113"/>
                    </a:cubicBezTo>
                    <a:lnTo>
                      <a:pt x="155575" y="44450"/>
                    </a:lnTo>
                  </a:path>
                </a:pathLst>
              </a:custGeom>
              <a:noFill/>
              <a:ln w="22225">
                <a:solidFill>
                  <a:srgbClr val="EE492C"/>
                </a:solidFill>
              </a:ln>
            </p:spPr>
          </p:sp>
          <p:sp>
            <p:nvSpPr>
              <p:cNvPr id="59" name="Freeform 59"/>
              <p:cNvSpPr/>
              <p:nvPr/>
            </p:nvSpPr>
            <p:spPr>
              <a:xfrm>
                <a:off x="5564188" y="5157788"/>
                <a:ext cx="155575" cy="111125"/>
              </a:xfrm>
              <a:custGeom>
                <a:avLst/>
                <a:gdLst/>
                <a:ahLst/>
                <a:cxnLst/>
                <a:rect l="l" t="t" r="r" b="b"/>
                <a:pathLst>
                  <a:path w="155575" h="111125">
                    <a:moveTo>
                      <a:pt x="0" y="11113"/>
                    </a:moveTo>
                    <a:cubicBezTo>
                      <a:pt x="0" y="4975"/>
                      <a:pt x="4975" y="0"/>
                      <a:pt x="11113" y="0"/>
                    </a:cubicBezTo>
                    <a:lnTo>
                      <a:pt x="144463" y="0"/>
                    </a:lnTo>
                    <a:cubicBezTo>
                      <a:pt x="150600" y="0"/>
                      <a:pt x="155575" y="4975"/>
                      <a:pt x="155575" y="11113"/>
                    </a:cubicBezTo>
                    <a:lnTo>
                      <a:pt x="155575" y="100013"/>
                    </a:lnTo>
                    <a:cubicBezTo>
                      <a:pt x="155575" y="106150"/>
                      <a:pt x="150600" y="111125"/>
                      <a:pt x="144463" y="111125"/>
                    </a:cubicBezTo>
                    <a:lnTo>
                      <a:pt x="11113" y="111125"/>
                    </a:lnTo>
                    <a:cubicBezTo>
                      <a:pt x="4975" y="111125"/>
                      <a:pt x="0" y="106150"/>
                      <a:pt x="0" y="100013"/>
                    </a:cubicBezTo>
                    <a:lnTo>
                      <a:pt x="0" y="11113"/>
                    </a:lnTo>
                  </a:path>
                </a:pathLst>
              </a:custGeom>
              <a:noFill/>
              <a:ln w="22225">
                <a:solidFill>
                  <a:srgbClr val="EE492C"/>
                </a:solidFill>
              </a:ln>
            </p:spPr>
          </p:sp>
          <p:sp>
            <p:nvSpPr>
              <p:cNvPr id="60" name="Freeform 60"/>
              <p:cNvSpPr/>
              <p:nvPr/>
            </p:nvSpPr>
            <p:spPr>
              <a:xfrm>
                <a:off x="5619750" y="51911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EE492C"/>
                </a:solidFill>
              </a:ln>
            </p:spPr>
          </p:sp>
        </p:grpSp>
        <p:sp>
          <p:nvSpPr>
            <p:cNvPr id="62" name="TextBox 62"/>
            <p:cNvSpPr txBox="1"/>
            <p:nvPr/>
          </p:nvSpPr>
          <p:spPr>
            <a:xfrm>
              <a:off x="5473065" y="5477828"/>
              <a:ext cx="293370" cy="205359"/>
            </a:xfrm>
            <a:prstGeom prst="rect">
              <a:avLst/>
            </a:prstGeom>
            <a:noFill/>
            <a:ln>
              <a:noFill/>
            </a:ln>
          </p:spPr>
          <p:txBody>
            <a:bodyPr wrap="none" lIns="0" tIns="0" rIns="0" bIns="0" anchor="t" anchorCtr="0">
              <a:spAutoFit/>
            </a:bodyPr>
            <a:lstStyle/>
            <a:p>
              <a:pPr algn="ctr"/>
              <a:r>
                <a:rPr lang="zh-CN" sz="1050" b="1" dirty="0">
                  <a:solidFill>
                    <a:srgbClr val="C41D00"/>
                  </a:solidFill>
                  <a:latin typeface="+mn-lt"/>
                  <a:ea typeface="+mn-ea"/>
                  <a:cs typeface="+mn-cs"/>
                </a:rPr>
                <a:t>信贷</a:t>
              </a:r>
            </a:p>
          </p:txBody>
        </p:sp>
      </p:grpSp>
      <p:grpSp>
        <p:nvGrpSpPr>
          <p:cNvPr id="72" name="node-asset"/>
          <p:cNvGrpSpPr/>
          <p:nvPr/>
        </p:nvGrpSpPr>
        <p:grpSpPr>
          <a:xfrm>
            <a:off x="4448175" y="2600325"/>
            <a:ext cx="857250" cy="857250"/>
            <a:chOff x="4448175" y="2600325"/>
            <a:chExt cx="857250" cy="857250"/>
          </a:xfrm>
        </p:grpSpPr>
        <p:sp>
          <p:nvSpPr>
            <p:cNvPr id="64" name="Ellipse 64"/>
            <p:cNvSpPr/>
            <p:nvPr/>
          </p:nvSpPr>
          <p:spPr>
            <a:xfrm>
              <a:off x="4448175" y="2600325"/>
              <a:ext cx="857250" cy="857250"/>
            </a:xfrm>
            <a:prstGeom prst="ellipse">
              <a:avLst/>
            </a:prstGeom>
            <a:solidFill>
              <a:srgbClr val="FFFFFF"/>
            </a:solidFill>
            <a:ln w="19050">
              <a:solidFill>
                <a:srgbClr val="F27E6A"/>
              </a:solidFill>
            </a:ln>
            <a:effectLst>
              <a:outerShdw blurRad="152400" dist="57150" dir="5400000" algn="ctr" rotWithShape="0">
                <a:srgbClr val="8F1C08">
                  <a:alpha val="9000"/>
                </a:srgbClr>
              </a:outerShdw>
            </a:effectLst>
          </p:spPr>
        </p:sp>
        <p:grpSp>
          <p:nvGrpSpPr>
            <p:cNvPr id="70" name="Group 70"/>
            <p:cNvGrpSpPr/>
            <p:nvPr/>
          </p:nvGrpSpPr>
          <p:grpSpPr>
            <a:xfrm>
              <a:off x="4776788" y="2784574"/>
              <a:ext cx="200025" cy="201514"/>
              <a:chOff x="4776788" y="2784574"/>
              <a:chExt cx="200025" cy="201514"/>
            </a:xfrm>
          </p:grpSpPr>
          <p:sp>
            <p:nvSpPr>
              <p:cNvPr id="65" name="Freeform 65"/>
              <p:cNvSpPr/>
              <p:nvPr/>
            </p:nvSpPr>
            <p:spPr>
              <a:xfrm>
                <a:off x="4843463" y="2874963"/>
                <a:ext cx="133350" cy="66675"/>
              </a:xfrm>
              <a:custGeom>
                <a:avLst/>
                <a:gdLst/>
                <a:ahLst/>
                <a:cxnLst/>
                <a:rect l="l" t="t" r="r" b="b"/>
                <a:pathLst>
                  <a:path w="133350" h="66675">
                    <a:moveTo>
                      <a:pt x="0" y="33338"/>
                    </a:moveTo>
                    <a:cubicBezTo>
                      <a:pt x="0" y="51751"/>
                      <a:pt x="29848" y="66675"/>
                      <a:pt x="66675" y="66675"/>
                    </a:cubicBezTo>
                    <a:cubicBezTo>
                      <a:pt x="103502" y="66675"/>
                      <a:pt x="133350" y="51751"/>
                      <a:pt x="133350" y="33338"/>
                    </a:cubicBezTo>
                    <a:cubicBezTo>
                      <a:pt x="133350" y="14924"/>
                      <a:pt x="103502" y="0"/>
                      <a:pt x="66675" y="0"/>
                    </a:cubicBezTo>
                    <a:cubicBezTo>
                      <a:pt x="29848" y="0"/>
                      <a:pt x="0" y="14924"/>
                      <a:pt x="0" y="33338"/>
                    </a:cubicBezTo>
                  </a:path>
                </a:pathLst>
              </a:custGeom>
              <a:noFill/>
              <a:ln w="22225">
                <a:solidFill>
                  <a:srgbClr val="EE492C"/>
                </a:solidFill>
              </a:ln>
            </p:spPr>
          </p:sp>
          <p:sp>
            <p:nvSpPr>
              <p:cNvPr id="66" name="Freeform 66"/>
              <p:cNvSpPr/>
              <p:nvPr/>
            </p:nvSpPr>
            <p:spPr>
              <a:xfrm>
                <a:off x="4843463" y="2908300"/>
                <a:ext cx="133350" cy="77788"/>
              </a:xfrm>
              <a:custGeom>
                <a:avLst/>
                <a:gdLst/>
                <a:ahLst/>
                <a:cxnLst/>
                <a:rect l="l" t="t" r="r" b="b"/>
                <a:pathLst>
                  <a:path w="133350" h="77788">
                    <a:moveTo>
                      <a:pt x="0" y="0"/>
                    </a:moveTo>
                    <a:lnTo>
                      <a:pt x="0" y="44450"/>
                    </a:lnTo>
                    <a:cubicBezTo>
                      <a:pt x="0" y="62852"/>
                      <a:pt x="29848" y="77788"/>
                      <a:pt x="66675" y="77788"/>
                    </a:cubicBezTo>
                    <a:cubicBezTo>
                      <a:pt x="103502" y="77788"/>
                      <a:pt x="133350" y="62852"/>
                      <a:pt x="133350" y="44450"/>
                    </a:cubicBezTo>
                    <a:lnTo>
                      <a:pt x="133350" y="0"/>
                    </a:lnTo>
                  </a:path>
                </a:pathLst>
              </a:custGeom>
              <a:noFill/>
              <a:ln w="22225">
                <a:solidFill>
                  <a:srgbClr val="EE492C"/>
                </a:solidFill>
              </a:ln>
            </p:spPr>
          </p:sp>
          <p:sp>
            <p:nvSpPr>
              <p:cNvPr id="67" name="Freeform 67"/>
              <p:cNvSpPr/>
              <p:nvPr/>
            </p:nvSpPr>
            <p:spPr>
              <a:xfrm>
                <a:off x="4776788" y="2784574"/>
                <a:ext cx="133350" cy="69653"/>
              </a:xfrm>
              <a:custGeom>
                <a:avLst/>
                <a:gdLst/>
                <a:ahLst/>
                <a:cxnLst/>
                <a:rect l="l" t="t" r="r" b="b"/>
                <a:pathLst>
                  <a:path w="133350" h="69653">
                    <a:moveTo>
                      <a:pt x="0" y="34827"/>
                    </a:moveTo>
                    <a:cubicBezTo>
                      <a:pt x="0" y="46739"/>
                      <a:pt x="12713" y="57741"/>
                      <a:pt x="33338" y="63697"/>
                    </a:cubicBezTo>
                    <a:cubicBezTo>
                      <a:pt x="53962" y="69653"/>
                      <a:pt x="79388" y="69653"/>
                      <a:pt x="100013" y="63697"/>
                    </a:cubicBezTo>
                    <a:cubicBezTo>
                      <a:pt x="120638" y="57741"/>
                      <a:pt x="133350" y="46739"/>
                      <a:pt x="133350" y="34827"/>
                    </a:cubicBezTo>
                    <a:cubicBezTo>
                      <a:pt x="133350" y="22914"/>
                      <a:pt x="120638" y="11913"/>
                      <a:pt x="100013" y="5956"/>
                    </a:cubicBezTo>
                    <a:cubicBezTo>
                      <a:pt x="79388" y="0"/>
                      <a:pt x="53962" y="0"/>
                      <a:pt x="33338" y="5956"/>
                    </a:cubicBezTo>
                    <a:cubicBezTo>
                      <a:pt x="12713" y="11913"/>
                      <a:pt x="0" y="22914"/>
                      <a:pt x="0" y="34827"/>
                    </a:cubicBezTo>
                  </a:path>
                </a:pathLst>
              </a:custGeom>
              <a:noFill/>
              <a:ln w="22225">
                <a:solidFill>
                  <a:srgbClr val="EE492C"/>
                </a:solidFill>
              </a:ln>
            </p:spPr>
          </p:sp>
          <p:sp>
            <p:nvSpPr>
              <p:cNvPr id="68" name="Freeform 68"/>
              <p:cNvSpPr/>
              <p:nvPr/>
            </p:nvSpPr>
            <p:spPr>
              <a:xfrm>
                <a:off x="4776788" y="2819400"/>
                <a:ext cx="22225" cy="133350"/>
              </a:xfrm>
              <a:custGeom>
                <a:avLst/>
                <a:gdLst/>
                <a:ahLst/>
                <a:cxnLst/>
                <a:rect l="l" t="t" r="r" b="b"/>
                <a:pathLst>
                  <a:path w="22225" h="133350">
                    <a:moveTo>
                      <a:pt x="0" y="0"/>
                    </a:moveTo>
                    <a:lnTo>
                      <a:pt x="0" y="111125"/>
                    </a:lnTo>
                    <a:cubicBezTo>
                      <a:pt x="0" y="120993"/>
                      <a:pt x="8579" y="127238"/>
                      <a:pt x="22225" y="133350"/>
                    </a:cubicBezTo>
                  </a:path>
                </a:pathLst>
              </a:custGeom>
              <a:noFill/>
              <a:ln w="22225">
                <a:solidFill>
                  <a:srgbClr val="EE492C"/>
                </a:solidFill>
              </a:ln>
            </p:spPr>
          </p:sp>
          <p:sp>
            <p:nvSpPr>
              <p:cNvPr id="69" name="Freeform 69"/>
              <p:cNvSpPr/>
              <p:nvPr/>
            </p:nvSpPr>
            <p:spPr>
              <a:xfrm>
                <a:off x="4776788" y="2874963"/>
                <a:ext cx="22225" cy="22225"/>
              </a:xfrm>
              <a:custGeom>
                <a:avLst/>
                <a:gdLst/>
                <a:ahLst/>
                <a:cxnLst/>
                <a:rect l="l" t="t" r="r" b="b"/>
                <a:pathLst>
                  <a:path w="22225" h="22225">
                    <a:moveTo>
                      <a:pt x="0" y="0"/>
                    </a:moveTo>
                    <a:cubicBezTo>
                      <a:pt x="0" y="9868"/>
                      <a:pt x="8579" y="16113"/>
                      <a:pt x="22225" y="22225"/>
                    </a:cubicBezTo>
                  </a:path>
                </a:pathLst>
              </a:custGeom>
              <a:noFill/>
              <a:ln w="22225">
                <a:solidFill>
                  <a:srgbClr val="EE492C"/>
                </a:solidFill>
              </a:ln>
            </p:spPr>
          </p:sp>
        </p:grpSp>
        <p:sp>
          <p:nvSpPr>
            <p:cNvPr id="71" name="TextBox 71"/>
            <p:cNvSpPr txBox="1"/>
            <p:nvPr/>
          </p:nvSpPr>
          <p:spPr>
            <a:xfrm>
              <a:off x="4730115" y="3172778"/>
              <a:ext cx="293370" cy="205359"/>
            </a:xfrm>
            <a:prstGeom prst="rect">
              <a:avLst/>
            </a:prstGeom>
            <a:noFill/>
            <a:ln>
              <a:noFill/>
            </a:ln>
          </p:spPr>
          <p:txBody>
            <a:bodyPr wrap="none" lIns="0" tIns="0" rIns="0" bIns="0" anchor="t" anchorCtr="0">
              <a:spAutoFit/>
            </a:bodyPr>
            <a:lstStyle/>
            <a:p>
              <a:pPr algn="ctr"/>
              <a:r>
                <a:rPr lang="zh-CN" sz="1050" b="1" dirty="0">
                  <a:solidFill>
                    <a:srgbClr val="C41D00"/>
                  </a:solidFill>
                  <a:latin typeface="+mn-lt"/>
                  <a:ea typeface="+mn-ea"/>
                  <a:cs typeface="+mn-cs"/>
                </a:rPr>
                <a:t>资产</a:t>
              </a:r>
            </a:p>
          </p:txBody>
        </p:sp>
      </p:grpSp>
      <p:grpSp>
        <p:nvGrpSpPr>
          <p:cNvPr id="91" name="footer-meta"/>
          <p:cNvGrpSpPr/>
          <p:nvPr/>
        </p:nvGrpSpPr>
        <p:grpSpPr>
          <a:xfrm>
            <a:off x="409575" y="5000625"/>
            <a:ext cx="1808734" cy="622459"/>
            <a:chOff x="409575" y="5000625"/>
            <a:chExt cx="1808734" cy="622459"/>
          </a:xfrm>
        </p:grpSpPr>
        <p:grpSp>
          <p:nvGrpSpPr>
            <p:cNvPr id="81" name="Group 81"/>
            <p:cNvGrpSpPr/>
            <p:nvPr/>
          </p:nvGrpSpPr>
          <p:grpSpPr>
            <a:xfrm>
              <a:off x="409575" y="5000625"/>
              <a:ext cx="171450" cy="180975"/>
              <a:chOff x="409575" y="5000625"/>
              <a:chExt cx="171450" cy="180975"/>
            </a:xfrm>
          </p:grpSpPr>
          <p:sp>
            <p:nvSpPr>
              <p:cNvPr id="73" name="Freeform 73"/>
              <p:cNvSpPr/>
              <p:nvPr/>
            </p:nvSpPr>
            <p:spPr>
              <a:xfrm>
                <a:off x="409575" y="5172075"/>
                <a:ext cx="171450" cy="9525"/>
              </a:xfrm>
              <a:custGeom>
                <a:avLst/>
                <a:gdLst/>
                <a:ahLst/>
                <a:cxnLst/>
                <a:rect l="l" t="t" r="r" b="b"/>
                <a:pathLst>
                  <a:path w="171450" h="9525">
                    <a:moveTo>
                      <a:pt x="0" y="0"/>
                    </a:moveTo>
                    <a:lnTo>
                      <a:pt x="171450" y="0"/>
                    </a:lnTo>
                  </a:path>
                </a:pathLst>
              </a:custGeom>
              <a:noFill/>
              <a:ln w="19050">
                <a:solidFill>
                  <a:srgbClr val="C41D00"/>
                </a:solidFill>
              </a:ln>
            </p:spPr>
          </p:sp>
          <p:sp>
            <p:nvSpPr>
              <p:cNvPr id="74" name="Freeform 74"/>
              <p:cNvSpPr/>
              <p:nvPr/>
            </p:nvSpPr>
            <p:spPr>
              <a:xfrm>
                <a:off x="409575" y="5067300"/>
                <a:ext cx="171450" cy="9525"/>
              </a:xfrm>
              <a:custGeom>
                <a:avLst/>
                <a:gdLst/>
                <a:ahLst/>
                <a:cxnLst/>
                <a:rect l="l" t="t" r="r" b="b"/>
                <a:pathLst>
                  <a:path w="171450" h="9525">
                    <a:moveTo>
                      <a:pt x="0" y="0"/>
                    </a:moveTo>
                    <a:lnTo>
                      <a:pt x="171450" y="0"/>
                    </a:lnTo>
                  </a:path>
                </a:pathLst>
              </a:custGeom>
              <a:noFill/>
              <a:ln w="19050">
                <a:solidFill>
                  <a:srgbClr val="C41D00"/>
                </a:solidFill>
              </a:ln>
            </p:spPr>
          </p:sp>
          <p:sp>
            <p:nvSpPr>
              <p:cNvPr id="75" name="Freeform 75"/>
              <p:cNvSpPr/>
              <p:nvPr/>
            </p:nvSpPr>
            <p:spPr>
              <a:xfrm>
                <a:off x="428625" y="5000625"/>
                <a:ext cx="133350" cy="28575"/>
              </a:xfrm>
              <a:custGeom>
                <a:avLst/>
                <a:gdLst/>
                <a:ahLst/>
                <a:cxnLst/>
                <a:rect l="l" t="t" r="r" b="b"/>
                <a:pathLst>
                  <a:path w="133350" h="28575">
                    <a:moveTo>
                      <a:pt x="0" y="28575"/>
                    </a:moveTo>
                    <a:lnTo>
                      <a:pt x="66675" y="0"/>
                    </a:lnTo>
                    <a:lnTo>
                      <a:pt x="133350" y="28575"/>
                    </a:lnTo>
                  </a:path>
                </a:pathLst>
              </a:custGeom>
              <a:noFill/>
              <a:ln w="19050">
                <a:solidFill>
                  <a:srgbClr val="C41D00"/>
                </a:solidFill>
              </a:ln>
            </p:spPr>
          </p:sp>
          <p:sp>
            <p:nvSpPr>
              <p:cNvPr id="76" name="Freeform 76"/>
              <p:cNvSpPr/>
              <p:nvPr/>
            </p:nvSpPr>
            <p:spPr>
              <a:xfrm>
                <a:off x="419100" y="5067300"/>
                <a:ext cx="9525" cy="104775"/>
              </a:xfrm>
              <a:custGeom>
                <a:avLst/>
                <a:gdLst/>
                <a:ahLst/>
                <a:cxnLst/>
                <a:rect l="l" t="t" r="r" b="b"/>
                <a:pathLst>
                  <a:path w="9525" h="104775">
                    <a:moveTo>
                      <a:pt x="0" y="0"/>
                    </a:moveTo>
                    <a:lnTo>
                      <a:pt x="0" y="104775"/>
                    </a:lnTo>
                  </a:path>
                </a:pathLst>
              </a:custGeom>
              <a:noFill/>
              <a:ln w="19050">
                <a:solidFill>
                  <a:srgbClr val="C41D00"/>
                </a:solidFill>
              </a:ln>
            </p:spPr>
          </p:sp>
          <p:sp>
            <p:nvSpPr>
              <p:cNvPr id="77" name="Freeform 77"/>
              <p:cNvSpPr/>
              <p:nvPr/>
            </p:nvSpPr>
            <p:spPr>
              <a:xfrm>
                <a:off x="571500" y="5067300"/>
                <a:ext cx="9525" cy="104775"/>
              </a:xfrm>
              <a:custGeom>
                <a:avLst/>
                <a:gdLst/>
                <a:ahLst/>
                <a:cxnLst/>
                <a:rect l="l" t="t" r="r" b="b"/>
                <a:pathLst>
                  <a:path w="9525" h="104775">
                    <a:moveTo>
                      <a:pt x="0" y="0"/>
                    </a:moveTo>
                    <a:lnTo>
                      <a:pt x="0" y="104775"/>
                    </a:lnTo>
                  </a:path>
                </a:pathLst>
              </a:custGeom>
              <a:noFill/>
              <a:ln w="19050">
                <a:solidFill>
                  <a:srgbClr val="C41D00"/>
                </a:solidFill>
              </a:ln>
            </p:spPr>
          </p:sp>
          <p:sp>
            <p:nvSpPr>
              <p:cNvPr id="78" name="Freeform 78"/>
              <p:cNvSpPr/>
              <p:nvPr/>
            </p:nvSpPr>
            <p:spPr>
              <a:xfrm>
                <a:off x="457200" y="5105400"/>
                <a:ext cx="9525" cy="28575"/>
              </a:xfrm>
              <a:custGeom>
                <a:avLst/>
                <a:gdLst/>
                <a:ahLst/>
                <a:cxnLst/>
                <a:rect l="l" t="t" r="r" b="b"/>
                <a:pathLst>
                  <a:path w="9525" h="28575">
                    <a:moveTo>
                      <a:pt x="0" y="0"/>
                    </a:moveTo>
                    <a:lnTo>
                      <a:pt x="0" y="28575"/>
                    </a:lnTo>
                  </a:path>
                </a:pathLst>
              </a:custGeom>
              <a:noFill/>
              <a:ln w="19050">
                <a:solidFill>
                  <a:srgbClr val="C41D00"/>
                </a:solidFill>
              </a:ln>
            </p:spPr>
          </p:sp>
          <p:sp>
            <p:nvSpPr>
              <p:cNvPr id="79" name="Freeform 79"/>
              <p:cNvSpPr/>
              <p:nvPr/>
            </p:nvSpPr>
            <p:spPr>
              <a:xfrm>
                <a:off x="495300" y="5105400"/>
                <a:ext cx="9525" cy="28575"/>
              </a:xfrm>
              <a:custGeom>
                <a:avLst/>
                <a:gdLst/>
                <a:ahLst/>
                <a:cxnLst/>
                <a:rect l="l" t="t" r="r" b="b"/>
                <a:pathLst>
                  <a:path w="9525" h="28575">
                    <a:moveTo>
                      <a:pt x="0" y="0"/>
                    </a:moveTo>
                    <a:lnTo>
                      <a:pt x="0" y="28575"/>
                    </a:lnTo>
                  </a:path>
                </a:pathLst>
              </a:custGeom>
              <a:noFill/>
              <a:ln w="19050">
                <a:solidFill>
                  <a:srgbClr val="C41D00"/>
                </a:solidFill>
              </a:ln>
            </p:spPr>
          </p:sp>
          <p:sp>
            <p:nvSpPr>
              <p:cNvPr id="80" name="Freeform 80"/>
              <p:cNvSpPr/>
              <p:nvPr/>
            </p:nvSpPr>
            <p:spPr>
              <a:xfrm>
                <a:off x="533400" y="5105400"/>
                <a:ext cx="9525" cy="28575"/>
              </a:xfrm>
              <a:custGeom>
                <a:avLst/>
                <a:gdLst/>
                <a:ahLst/>
                <a:cxnLst/>
                <a:rect l="l" t="t" r="r" b="b"/>
                <a:pathLst>
                  <a:path w="9525" h="28575">
                    <a:moveTo>
                      <a:pt x="0" y="0"/>
                    </a:moveTo>
                    <a:lnTo>
                      <a:pt x="0" y="28575"/>
                    </a:lnTo>
                  </a:path>
                </a:pathLst>
              </a:custGeom>
              <a:noFill/>
              <a:ln w="19050">
                <a:solidFill>
                  <a:srgbClr val="C41D00"/>
                </a:solidFill>
              </a:ln>
            </p:spPr>
          </p:sp>
        </p:grpSp>
        <p:sp>
          <p:nvSpPr>
            <p:cNvPr id="82" name="TextBox 82"/>
            <p:cNvSpPr txBox="1"/>
            <p:nvPr/>
          </p:nvSpPr>
          <p:spPr>
            <a:xfrm>
              <a:off x="699135" y="5022056"/>
              <a:ext cx="1519174" cy="220028"/>
            </a:xfrm>
            <a:prstGeom prst="rect">
              <a:avLst/>
            </a:prstGeom>
            <a:noFill/>
            <a:ln>
              <a:noFill/>
            </a:ln>
          </p:spPr>
          <p:txBody>
            <a:bodyPr wrap="none" lIns="0" tIns="0" rIns="0" bIns="0" anchor="t" anchorCtr="0">
              <a:spAutoFit/>
            </a:bodyPr>
            <a:lstStyle/>
            <a:p>
              <a:pPr algn="l"/>
              <a:r>
                <a:rPr lang="zh-CN" sz="1120" b="1" dirty="0">
                  <a:solidFill>
                    <a:srgbClr val="3D3835"/>
                  </a:solidFill>
                  <a:latin typeface="+mn-lt"/>
                  <a:ea typeface="+mn-ea"/>
                  <a:cs typeface="+mn-cs"/>
                </a:rPr>
                <a:t>零售银行经营转型专题</a:t>
              </a:r>
            </a:p>
          </p:txBody>
        </p:sp>
        <p:grpSp>
          <p:nvGrpSpPr>
            <p:cNvPr id="89" name="Group 89"/>
            <p:cNvGrpSpPr/>
            <p:nvPr/>
          </p:nvGrpSpPr>
          <p:grpSpPr>
            <a:xfrm>
              <a:off x="419100" y="5381625"/>
              <a:ext cx="152400" cy="171450"/>
              <a:chOff x="419100" y="5381625"/>
              <a:chExt cx="152400" cy="171450"/>
            </a:xfrm>
          </p:grpSpPr>
          <p:sp>
            <p:nvSpPr>
              <p:cNvPr id="83" name="Freeform 83"/>
              <p:cNvSpPr/>
              <p:nvPr/>
            </p:nvSpPr>
            <p:spPr>
              <a:xfrm>
                <a:off x="419100" y="5400675"/>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C41D00"/>
                </a:solidFill>
              </a:ln>
            </p:spPr>
          </p:sp>
          <p:sp>
            <p:nvSpPr>
              <p:cNvPr id="84" name="Freeform 84"/>
              <p:cNvSpPr/>
              <p:nvPr/>
            </p:nvSpPr>
            <p:spPr>
              <a:xfrm>
                <a:off x="533400" y="5381625"/>
                <a:ext cx="9525" cy="38100"/>
              </a:xfrm>
              <a:custGeom>
                <a:avLst/>
                <a:gdLst/>
                <a:ahLst/>
                <a:cxnLst/>
                <a:rect l="l" t="t" r="r" b="b"/>
                <a:pathLst>
                  <a:path w="9525" h="38100">
                    <a:moveTo>
                      <a:pt x="0" y="0"/>
                    </a:moveTo>
                    <a:lnTo>
                      <a:pt x="0" y="38100"/>
                    </a:lnTo>
                  </a:path>
                </a:pathLst>
              </a:custGeom>
              <a:noFill/>
              <a:ln w="19050">
                <a:solidFill>
                  <a:srgbClr val="C41D00"/>
                </a:solidFill>
              </a:ln>
            </p:spPr>
          </p:sp>
          <p:sp>
            <p:nvSpPr>
              <p:cNvPr id="85" name="Freeform 85"/>
              <p:cNvSpPr/>
              <p:nvPr/>
            </p:nvSpPr>
            <p:spPr>
              <a:xfrm>
                <a:off x="457200" y="5381625"/>
                <a:ext cx="9525" cy="38100"/>
              </a:xfrm>
              <a:custGeom>
                <a:avLst/>
                <a:gdLst/>
                <a:ahLst/>
                <a:cxnLst/>
                <a:rect l="l" t="t" r="r" b="b"/>
                <a:pathLst>
                  <a:path w="9525" h="38100">
                    <a:moveTo>
                      <a:pt x="0" y="0"/>
                    </a:moveTo>
                    <a:lnTo>
                      <a:pt x="0" y="38100"/>
                    </a:lnTo>
                  </a:path>
                </a:pathLst>
              </a:custGeom>
              <a:noFill/>
              <a:ln w="19050">
                <a:solidFill>
                  <a:srgbClr val="C41D00"/>
                </a:solidFill>
              </a:ln>
            </p:spPr>
          </p:sp>
          <p:sp>
            <p:nvSpPr>
              <p:cNvPr id="86" name="Freeform 86"/>
              <p:cNvSpPr/>
              <p:nvPr/>
            </p:nvSpPr>
            <p:spPr>
              <a:xfrm>
                <a:off x="419100" y="5457825"/>
                <a:ext cx="152400" cy="9525"/>
              </a:xfrm>
              <a:custGeom>
                <a:avLst/>
                <a:gdLst/>
                <a:ahLst/>
                <a:cxnLst/>
                <a:rect l="l" t="t" r="r" b="b"/>
                <a:pathLst>
                  <a:path w="152400" h="9525">
                    <a:moveTo>
                      <a:pt x="0" y="0"/>
                    </a:moveTo>
                    <a:lnTo>
                      <a:pt x="152400" y="0"/>
                    </a:lnTo>
                  </a:path>
                </a:pathLst>
              </a:custGeom>
              <a:noFill/>
              <a:ln w="19050">
                <a:solidFill>
                  <a:srgbClr val="C41D00"/>
                </a:solidFill>
              </a:ln>
            </p:spPr>
          </p:sp>
          <p:sp>
            <p:nvSpPr>
              <p:cNvPr id="87" name="Freeform 87"/>
              <p:cNvSpPr/>
              <p:nvPr/>
            </p:nvSpPr>
            <p:spPr>
              <a:xfrm>
                <a:off x="485775" y="5495925"/>
                <a:ext cx="9525" cy="9525"/>
              </a:xfrm>
              <a:custGeom>
                <a:avLst/>
                <a:gdLst/>
                <a:ahLst/>
                <a:cxnLst/>
                <a:rect l="l" t="t" r="r" b="b"/>
                <a:pathLst>
                  <a:path w="9525" h="9525">
                    <a:moveTo>
                      <a:pt x="0" y="0"/>
                    </a:moveTo>
                    <a:lnTo>
                      <a:pt x="9525" y="0"/>
                    </a:lnTo>
                  </a:path>
                </a:pathLst>
              </a:custGeom>
              <a:noFill/>
              <a:ln w="19050">
                <a:solidFill>
                  <a:srgbClr val="C41D00"/>
                </a:solidFill>
              </a:ln>
            </p:spPr>
          </p:sp>
          <p:sp>
            <p:nvSpPr>
              <p:cNvPr id="88" name="Freeform 88"/>
              <p:cNvSpPr/>
              <p:nvPr/>
            </p:nvSpPr>
            <p:spPr>
              <a:xfrm>
                <a:off x="495300" y="5495925"/>
                <a:ext cx="9525" cy="28575"/>
              </a:xfrm>
              <a:custGeom>
                <a:avLst/>
                <a:gdLst/>
                <a:ahLst/>
                <a:cxnLst/>
                <a:rect l="l" t="t" r="r" b="b"/>
                <a:pathLst>
                  <a:path w="9525" h="28575">
                    <a:moveTo>
                      <a:pt x="0" y="0"/>
                    </a:moveTo>
                    <a:lnTo>
                      <a:pt x="0" y="28575"/>
                    </a:lnTo>
                  </a:path>
                </a:pathLst>
              </a:custGeom>
              <a:noFill/>
              <a:ln w="19050">
                <a:solidFill>
                  <a:srgbClr val="C41D00"/>
                </a:solidFill>
              </a:ln>
            </p:spPr>
          </p:sp>
        </p:grpSp>
        <p:sp>
          <p:nvSpPr>
            <p:cNvPr id="90" name="TextBox 90"/>
            <p:cNvSpPr txBox="1"/>
            <p:nvPr/>
          </p:nvSpPr>
          <p:spPr>
            <a:xfrm>
              <a:off x="699135" y="5403056"/>
              <a:ext cx="508986" cy="220028"/>
            </a:xfrm>
            <a:prstGeom prst="rect">
              <a:avLst/>
            </a:prstGeom>
            <a:noFill/>
            <a:ln>
              <a:noFill/>
            </a:ln>
          </p:spPr>
          <p:txBody>
            <a:bodyPr wrap="none" lIns="0" tIns="0" rIns="0" bIns="0" anchor="t" anchorCtr="0">
              <a:spAutoFit/>
            </a:bodyPr>
            <a:lstStyle/>
            <a:p>
              <a:pPr algn="l"/>
              <a:r>
                <a:rPr lang="zh-CN" sz="1120" dirty="0">
                  <a:solidFill>
                    <a:srgbClr val="3D3835"/>
                  </a:solidFill>
                  <a:latin typeface="+mn-lt"/>
                  <a:ea typeface="+mn-ea"/>
                  <a:cs typeface="+mn-cs"/>
                </a:rPr>
                <a:t>2026​​</a:t>
              </a:r>
            </a:p>
          </p:txBody>
        </p:sp>
      </p:gr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01</a:t>
              </a:r>
            </a:p>
          </p:txBody>
        </p:sp>
        <p:sp>
          <p:nvSpPr>
            <p:cNvPr id="4" name="TextBox 4"/>
            <p:cNvSpPr txBox="1"/>
            <p:nvPr/>
          </p:nvSpPr>
          <p:spPr>
            <a:xfrm>
              <a:off x="904494" y="170498"/>
              <a:ext cx="5269992"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方案总览</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从产品销售转向客户终身价值经营</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57" name="kpi-band"/>
          <p:cNvGrpSpPr/>
          <p:nvPr/>
        </p:nvGrpSpPr>
        <p:grpSpPr>
          <a:xfrm>
            <a:off x="381000" y="685800"/>
            <a:ext cx="11468100" cy="533400"/>
            <a:chOff x="381000" y="685800"/>
            <a:chExt cx="11468100" cy="533400"/>
          </a:xfrm>
        </p:grpSpPr>
        <p:sp>
          <p:nvSpPr>
            <p:cNvPr id="7" name="Rectangle 7"/>
            <p:cNvSpPr/>
            <p:nvPr/>
          </p:nvSpPr>
          <p:spPr>
            <a:xfrm>
              <a:off x="381000" y="685800"/>
              <a:ext cx="1847850" cy="533400"/>
            </a:xfrm>
            <a:prstGeom prst="roundRect">
              <a:avLst>
                <a:gd name="adj" fmla="val 14286"/>
              </a:avLst>
            </a:prstGeom>
            <a:solidFill>
              <a:srgbClr val="FEF2E6"/>
            </a:solidFill>
            <a:ln w="9525">
              <a:solidFill>
                <a:srgbClr val="F0B8AE"/>
              </a:solidFill>
            </a:ln>
          </p:spPr>
        </p:sp>
        <p:grpSp>
          <p:nvGrpSpPr>
            <p:cNvPr id="12" name="Group 12"/>
            <p:cNvGrpSpPr/>
            <p:nvPr/>
          </p:nvGrpSpPr>
          <p:grpSpPr>
            <a:xfrm>
              <a:off x="523875" y="866775"/>
              <a:ext cx="171450" cy="171450"/>
              <a:chOff x="523875" y="866775"/>
              <a:chExt cx="171450" cy="171450"/>
            </a:xfrm>
          </p:grpSpPr>
          <p:sp>
            <p:nvSpPr>
              <p:cNvPr id="8" name="Freeform 8"/>
              <p:cNvSpPr/>
              <p:nvPr/>
            </p:nvSpPr>
            <p:spPr>
              <a:xfrm>
                <a:off x="542925" y="8667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41D00"/>
                </a:solidFill>
              </a:ln>
            </p:spPr>
          </p:sp>
          <p:sp>
            <p:nvSpPr>
              <p:cNvPr id="9" name="Freeform 9"/>
              <p:cNvSpPr/>
              <p:nvPr/>
            </p:nvSpPr>
            <p:spPr>
              <a:xfrm>
                <a:off x="523875" y="9810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41D00"/>
                </a:solidFill>
              </a:ln>
            </p:spPr>
          </p:sp>
          <p:sp>
            <p:nvSpPr>
              <p:cNvPr id="10" name="Freeform 10"/>
              <p:cNvSpPr/>
              <p:nvPr/>
            </p:nvSpPr>
            <p:spPr>
              <a:xfrm>
                <a:off x="647700" y="8680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41D00"/>
                </a:solidFill>
              </a:ln>
            </p:spPr>
          </p:sp>
          <p:sp>
            <p:nvSpPr>
              <p:cNvPr id="11" name="Freeform 11"/>
              <p:cNvSpPr/>
              <p:nvPr/>
            </p:nvSpPr>
            <p:spPr>
              <a:xfrm>
                <a:off x="666750" y="9825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41D00"/>
                </a:solidFill>
              </a:ln>
            </p:spPr>
          </p:sp>
        </p:grpSp>
        <p:sp>
          <p:nvSpPr>
            <p:cNvPr id="13" name="TextBox 13"/>
            <p:cNvSpPr txBox="1"/>
            <p:nvPr/>
          </p:nvSpPr>
          <p:spPr>
            <a:xfrm>
              <a:off x="814388" y="806291"/>
              <a:ext cx="451079" cy="161925"/>
            </a:xfrm>
            <a:prstGeom prst="rect">
              <a:avLst/>
            </a:prstGeom>
            <a:noFill/>
            <a:ln>
              <a:noFill/>
            </a:ln>
          </p:spPr>
          <p:txBody>
            <a:bodyPr wrap="none" lIns="0" tIns="0" rIns="0" bIns="0" anchor="t" anchorCtr="0">
              <a:spAutoFit/>
            </a:bodyPr>
            <a:lstStyle/>
            <a:p>
              <a:pPr algn="l"/>
              <a:r>
                <a:rPr lang="zh-CN" sz="820" dirty="0">
                  <a:solidFill>
                    <a:srgbClr val="7A716B"/>
                  </a:solidFill>
                  <a:latin typeface="+mn-lt"/>
                  <a:ea typeface="+mn-ea"/>
                  <a:cs typeface="+mn-cs"/>
                </a:rPr>
                <a:t>零售客户</a:t>
              </a:r>
            </a:p>
          </p:txBody>
        </p:sp>
        <p:sp>
          <p:nvSpPr>
            <p:cNvPr id="14" name="TextBox 14"/>
            <p:cNvSpPr txBox="1"/>
            <p:nvPr/>
          </p:nvSpPr>
          <p:spPr>
            <a:xfrm>
              <a:off x="812673" y="967264"/>
              <a:ext cx="881845" cy="249364"/>
            </a:xfrm>
            <a:prstGeom prst="rect">
              <a:avLst/>
            </a:prstGeom>
            <a:noFill/>
            <a:ln>
              <a:noFill/>
            </a:ln>
          </p:spPr>
          <p:txBody>
            <a:bodyPr wrap="none" lIns="0" tIns="0" rIns="0" bIns="0" anchor="t" anchorCtr="0">
              <a:spAutoFit/>
            </a:bodyPr>
            <a:lstStyle/>
            <a:p>
              <a:pPr algn="l"/>
              <a:r>
                <a:rPr lang="zh-CN" sz="1280" b="1" dirty="0">
                  <a:solidFill>
                    <a:srgbClr val="C41D00"/>
                  </a:solidFill>
                  <a:latin typeface="+mn-lt"/>
                  <a:ea typeface="+mn-ea"/>
                  <a:cs typeface="+mn-cs"/>
                </a:rPr>
                <a:t>2,860万​​</a:t>
              </a:r>
            </a:p>
          </p:txBody>
        </p:sp>
        <p:sp>
          <p:nvSpPr>
            <p:cNvPr id="15" name="Rectangle 15"/>
            <p:cNvSpPr/>
            <p:nvPr/>
          </p:nvSpPr>
          <p:spPr>
            <a:xfrm>
              <a:off x="2305050" y="685800"/>
              <a:ext cx="1847850" cy="533400"/>
            </a:xfrm>
            <a:prstGeom prst="roundRect">
              <a:avLst>
                <a:gd name="adj" fmla="val 14286"/>
              </a:avLst>
            </a:prstGeom>
            <a:solidFill>
              <a:srgbClr val="FEF2E6"/>
            </a:solidFill>
            <a:ln w="9525">
              <a:solidFill>
                <a:srgbClr val="F0B8AE"/>
              </a:solidFill>
            </a:ln>
          </p:spPr>
        </p:sp>
        <p:grpSp>
          <p:nvGrpSpPr>
            <p:cNvPr id="18" name="Group 18"/>
            <p:cNvGrpSpPr/>
            <p:nvPr/>
          </p:nvGrpSpPr>
          <p:grpSpPr>
            <a:xfrm>
              <a:off x="2457450" y="895350"/>
              <a:ext cx="152400" cy="133350"/>
              <a:chOff x="2457450" y="895350"/>
              <a:chExt cx="152400" cy="133350"/>
            </a:xfrm>
          </p:grpSpPr>
          <p:sp>
            <p:nvSpPr>
              <p:cNvPr id="16" name="Freeform 16"/>
              <p:cNvSpPr/>
              <p:nvPr/>
            </p:nvSpPr>
            <p:spPr>
              <a:xfrm>
                <a:off x="2457450" y="1019175"/>
                <a:ext cx="152400" cy="9525"/>
              </a:xfrm>
              <a:custGeom>
                <a:avLst/>
                <a:gdLst/>
                <a:ahLst/>
                <a:cxnLst/>
                <a:rect l="l" t="t" r="r" b="b"/>
                <a:pathLst>
                  <a:path w="152400" h="9525">
                    <a:moveTo>
                      <a:pt x="0" y="0"/>
                    </a:moveTo>
                    <a:lnTo>
                      <a:pt x="152400" y="0"/>
                    </a:lnTo>
                  </a:path>
                </a:pathLst>
              </a:custGeom>
              <a:noFill/>
              <a:ln w="19050">
                <a:solidFill>
                  <a:srgbClr val="C41D00"/>
                </a:solidFill>
              </a:ln>
            </p:spPr>
          </p:sp>
          <p:sp>
            <p:nvSpPr>
              <p:cNvPr id="17" name="Freeform 17"/>
              <p:cNvSpPr/>
              <p:nvPr/>
            </p:nvSpPr>
            <p:spPr>
              <a:xfrm>
                <a:off x="2457450" y="8953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C41D00"/>
                </a:solidFill>
              </a:ln>
            </p:spPr>
          </p:sp>
        </p:grpSp>
        <p:sp>
          <p:nvSpPr>
            <p:cNvPr id="19" name="TextBox 19"/>
            <p:cNvSpPr txBox="1"/>
            <p:nvPr/>
          </p:nvSpPr>
          <p:spPr>
            <a:xfrm>
              <a:off x="2738438" y="806291"/>
              <a:ext cx="340690" cy="161925"/>
            </a:xfrm>
            <a:prstGeom prst="rect">
              <a:avLst/>
            </a:prstGeom>
            <a:noFill/>
            <a:ln>
              <a:noFill/>
            </a:ln>
          </p:spPr>
          <p:txBody>
            <a:bodyPr wrap="none" lIns="0" tIns="0" rIns="0" bIns="0" anchor="t" anchorCtr="0">
              <a:spAutoFit/>
            </a:bodyPr>
            <a:lstStyle/>
            <a:p>
              <a:pPr algn="l"/>
              <a:r>
                <a:rPr lang="zh-CN" sz="820" dirty="0">
                  <a:solidFill>
                    <a:srgbClr val="7A716B"/>
                  </a:solidFill>
                  <a:latin typeface="+mn-lt"/>
                  <a:ea typeface="+mn-ea"/>
                  <a:cs typeface="+mn-cs"/>
                </a:rPr>
                <a:t>月活率</a:t>
              </a:r>
            </a:p>
          </p:txBody>
        </p:sp>
        <p:sp>
          <p:nvSpPr>
            <p:cNvPr id="20" name="TextBox 20"/>
            <p:cNvSpPr txBox="1"/>
            <p:nvPr/>
          </p:nvSpPr>
          <p:spPr>
            <a:xfrm>
              <a:off x="2736723" y="967264"/>
              <a:ext cx="546695" cy="249364"/>
            </a:xfrm>
            <a:prstGeom prst="rect">
              <a:avLst/>
            </a:prstGeom>
            <a:noFill/>
            <a:ln>
              <a:noFill/>
            </a:ln>
          </p:spPr>
          <p:txBody>
            <a:bodyPr wrap="none" lIns="0" tIns="0" rIns="0" bIns="0" anchor="t" anchorCtr="0">
              <a:spAutoFit/>
            </a:bodyPr>
            <a:lstStyle/>
            <a:p>
              <a:pPr algn="l"/>
              <a:r>
                <a:rPr lang="zh-CN" sz="1280" b="1" dirty="0">
                  <a:solidFill>
                    <a:srgbClr val="C41D00"/>
                  </a:solidFill>
                  <a:latin typeface="+mn-lt"/>
                  <a:ea typeface="+mn-ea"/>
                  <a:cs typeface="+mn-cs"/>
                </a:rPr>
                <a:t>42%​​</a:t>
              </a:r>
            </a:p>
          </p:txBody>
        </p:sp>
        <p:sp>
          <p:nvSpPr>
            <p:cNvPr id="21" name="Rectangle 21"/>
            <p:cNvSpPr/>
            <p:nvPr/>
          </p:nvSpPr>
          <p:spPr>
            <a:xfrm>
              <a:off x="4229100" y="685800"/>
              <a:ext cx="1847850" cy="533400"/>
            </a:xfrm>
            <a:prstGeom prst="roundRect">
              <a:avLst>
                <a:gd name="adj" fmla="val 14286"/>
              </a:avLst>
            </a:prstGeom>
            <a:solidFill>
              <a:srgbClr val="FEF2E6"/>
            </a:solidFill>
            <a:ln w="9525">
              <a:solidFill>
                <a:srgbClr val="F0B8AE"/>
              </a:solidFill>
            </a:ln>
          </p:spPr>
        </p:sp>
        <p:grpSp>
          <p:nvGrpSpPr>
            <p:cNvPr id="27" name="Group 27"/>
            <p:cNvGrpSpPr/>
            <p:nvPr/>
          </p:nvGrpSpPr>
          <p:grpSpPr>
            <a:xfrm>
              <a:off x="4371975" y="865499"/>
              <a:ext cx="171450" cy="172726"/>
              <a:chOff x="4371975" y="865499"/>
              <a:chExt cx="171450" cy="172726"/>
            </a:xfrm>
          </p:grpSpPr>
          <p:sp>
            <p:nvSpPr>
              <p:cNvPr id="22" name="Freeform 22"/>
              <p:cNvSpPr/>
              <p:nvPr/>
            </p:nvSpPr>
            <p:spPr>
              <a:xfrm>
                <a:off x="4429125" y="94297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C41D00"/>
                </a:solidFill>
              </a:ln>
            </p:spPr>
          </p:sp>
          <p:sp>
            <p:nvSpPr>
              <p:cNvPr id="23" name="Freeform 23"/>
              <p:cNvSpPr/>
              <p:nvPr/>
            </p:nvSpPr>
            <p:spPr>
              <a:xfrm>
                <a:off x="4429125" y="97155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C41D00"/>
                </a:solidFill>
              </a:ln>
            </p:spPr>
          </p:sp>
          <p:sp>
            <p:nvSpPr>
              <p:cNvPr id="24" name="Freeform 24"/>
              <p:cNvSpPr/>
              <p:nvPr/>
            </p:nvSpPr>
            <p:spPr>
              <a:xfrm>
                <a:off x="4371975" y="86549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C41D00"/>
                </a:solidFill>
              </a:ln>
            </p:spPr>
          </p:sp>
          <p:sp>
            <p:nvSpPr>
              <p:cNvPr id="25" name="Freeform 25"/>
              <p:cNvSpPr/>
              <p:nvPr/>
            </p:nvSpPr>
            <p:spPr>
              <a:xfrm>
                <a:off x="4371975" y="89535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C41D00"/>
                </a:solidFill>
              </a:ln>
            </p:spPr>
          </p:sp>
          <p:sp>
            <p:nvSpPr>
              <p:cNvPr id="26" name="Freeform 26"/>
              <p:cNvSpPr/>
              <p:nvPr/>
            </p:nvSpPr>
            <p:spPr>
              <a:xfrm>
                <a:off x="4371975" y="94297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C41D00"/>
                </a:solidFill>
              </a:ln>
            </p:spPr>
          </p:sp>
        </p:grpSp>
        <p:sp>
          <p:nvSpPr>
            <p:cNvPr id="28" name="TextBox 28"/>
            <p:cNvSpPr txBox="1"/>
            <p:nvPr/>
          </p:nvSpPr>
          <p:spPr>
            <a:xfrm>
              <a:off x="4662488" y="806291"/>
              <a:ext cx="353604" cy="161925"/>
            </a:xfrm>
            <a:prstGeom prst="rect">
              <a:avLst/>
            </a:prstGeom>
            <a:noFill/>
            <a:ln>
              <a:noFill/>
            </a:ln>
          </p:spPr>
          <p:txBody>
            <a:bodyPr wrap="none" lIns="0" tIns="0" rIns="0" bIns="0" anchor="t" anchorCtr="0">
              <a:spAutoFit/>
            </a:bodyPr>
            <a:lstStyle/>
            <a:p>
              <a:pPr algn="l"/>
              <a:r>
                <a:rPr lang="en-US" sz="820" dirty="0">
                  <a:solidFill>
                    <a:srgbClr val="7A716B"/>
                  </a:solidFill>
                  <a:latin typeface="+mn-lt"/>
                  <a:ea typeface="+mn-ea"/>
                  <a:cs typeface="+mn-cs"/>
                </a:rPr>
                <a:t>AUM​​</a:t>
              </a:r>
            </a:p>
          </p:txBody>
        </p:sp>
        <p:sp>
          <p:nvSpPr>
            <p:cNvPr id="29" name="TextBox 29"/>
            <p:cNvSpPr txBox="1"/>
            <p:nvPr/>
          </p:nvSpPr>
          <p:spPr>
            <a:xfrm>
              <a:off x="4660773" y="967264"/>
              <a:ext cx="881845" cy="249364"/>
            </a:xfrm>
            <a:prstGeom prst="rect">
              <a:avLst/>
            </a:prstGeom>
            <a:noFill/>
            <a:ln>
              <a:noFill/>
            </a:ln>
          </p:spPr>
          <p:txBody>
            <a:bodyPr wrap="none" lIns="0" tIns="0" rIns="0" bIns="0" anchor="t" anchorCtr="0">
              <a:spAutoFit/>
            </a:bodyPr>
            <a:lstStyle/>
            <a:p>
              <a:pPr algn="l"/>
              <a:r>
                <a:rPr lang="zh-CN" sz="1280" b="1" dirty="0">
                  <a:solidFill>
                    <a:srgbClr val="C41D00"/>
                  </a:solidFill>
                  <a:latin typeface="+mn-lt"/>
                  <a:ea typeface="+mn-ea"/>
                  <a:cs typeface="+mn-cs"/>
                </a:rPr>
                <a:t>6,480亿​​</a:t>
              </a:r>
            </a:p>
          </p:txBody>
        </p:sp>
        <p:sp>
          <p:nvSpPr>
            <p:cNvPr id="30" name="Rectangle 30"/>
            <p:cNvSpPr/>
            <p:nvPr/>
          </p:nvSpPr>
          <p:spPr>
            <a:xfrm>
              <a:off x="6153150" y="685800"/>
              <a:ext cx="1847850" cy="533400"/>
            </a:xfrm>
            <a:prstGeom prst="roundRect">
              <a:avLst>
                <a:gd name="adj" fmla="val 14286"/>
              </a:avLst>
            </a:prstGeom>
            <a:solidFill>
              <a:srgbClr val="FEF2E6"/>
            </a:solidFill>
            <a:ln w="9525">
              <a:solidFill>
                <a:srgbClr val="F0B8AE"/>
              </a:solidFill>
            </a:ln>
          </p:spPr>
        </p:sp>
        <p:grpSp>
          <p:nvGrpSpPr>
            <p:cNvPr id="39" name="Group 39"/>
            <p:cNvGrpSpPr/>
            <p:nvPr/>
          </p:nvGrpSpPr>
          <p:grpSpPr>
            <a:xfrm>
              <a:off x="6296025" y="866775"/>
              <a:ext cx="171450" cy="180975"/>
              <a:chOff x="6296025" y="866775"/>
              <a:chExt cx="171450" cy="180975"/>
            </a:xfrm>
          </p:grpSpPr>
          <p:sp>
            <p:nvSpPr>
              <p:cNvPr id="31" name="Freeform 31"/>
              <p:cNvSpPr/>
              <p:nvPr/>
            </p:nvSpPr>
            <p:spPr>
              <a:xfrm>
                <a:off x="6296025" y="1038225"/>
                <a:ext cx="171450" cy="9525"/>
              </a:xfrm>
              <a:custGeom>
                <a:avLst/>
                <a:gdLst/>
                <a:ahLst/>
                <a:cxnLst/>
                <a:rect l="l" t="t" r="r" b="b"/>
                <a:pathLst>
                  <a:path w="171450" h="9525">
                    <a:moveTo>
                      <a:pt x="0" y="0"/>
                    </a:moveTo>
                    <a:lnTo>
                      <a:pt x="171450" y="0"/>
                    </a:lnTo>
                  </a:path>
                </a:pathLst>
              </a:custGeom>
              <a:noFill/>
              <a:ln w="19050">
                <a:solidFill>
                  <a:srgbClr val="C41D00"/>
                </a:solidFill>
              </a:ln>
            </p:spPr>
          </p:sp>
          <p:sp>
            <p:nvSpPr>
              <p:cNvPr id="32" name="Freeform 32"/>
              <p:cNvSpPr/>
              <p:nvPr/>
            </p:nvSpPr>
            <p:spPr>
              <a:xfrm>
                <a:off x="6296025" y="933450"/>
                <a:ext cx="171450" cy="9525"/>
              </a:xfrm>
              <a:custGeom>
                <a:avLst/>
                <a:gdLst/>
                <a:ahLst/>
                <a:cxnLst/>
                <a:rect l="l" t="t" r="r" b="b"/>
                <a:pathLst>
                  <a:path w="171450" h="9525">
                    <a:moveTo>
                      <a:pt x="0" y="0"/>
                    </a:moveTo>
                    <a:lnTo>
                      <a:pt x="171450" y="0"/>
                    </a:lnTo>
                  </a:path>
                </a:pathLst>
              </a:custGeom>
              <a:noFill/>
              <a:ln w="19050">
                <a:solidFill>
                  <a:srgbClr val="C41D00"/>
                </a:solidFill>
              </a:ln>
            </p:spPr>
          </p:sp>
          <p:sp>
            <p:nvSpPr>
              <p:cNvPr id="33" name="Freeform 33"/>
              <p:cNvSpPr/>
              <p:nvPr/>
            </p:nvSpPr>
            <p:spPr>
              <a:xfrm>
                <a:off x="6315075" y="866775"/>
                <a:ext cx="133350" cy="28575"/>
              </a:xfrm>
              <a:custGeom>
                <a:avLst/>
                <a:gdLst/>
                <a:ahLst/>
                <a:cxnLst/>
                <a:rect l="l" t="t" r="r" b="b"/>
                <a:pathLst>
                  <a:path w="133350" h="28575">
                    <a:moveTo>
                      <a:pt x="0" y="28575"/>
                    </a:moveTo>
                    <a:lnTo>
                      <a:pt x="66675" y="0"/>
                    </a:lnTo>
                    <a:lnTo>
                      <a:pt x="133350" y="28575"/>
                    </a:lnTo>
                  </a:path>
                </a:pathLst>
              </a:custGeom>
              <a:noFill/>
              <a:ln w="19050">
                <a:solidFill>
                  <a:srgbClr val="C41D00"/>
                </a:solidFill>
              </a:ln>
            </p:spPr>
          </p:sp>
          <p:sp>
            <p:nvSpPr>
              <p:cNvPr id="34" name="Freeform 34"/>
              <p:cNvSpPr/>
              <p:nvPr/>
            </p:nvSpPr>
            <p:spPr>
              <a:xfrm>
                <a:off x="6305550" y="933450"/>
                <a:ext cx="9525" cy="104775"/>
              </a:xfrm>
              <a:custGeom>
                <a:avLst/>
                <a:gdLst/>
                <a:ahLst/>
                <a:cxnLst/>
                <a:rect l="l" t="t" r="r" b="b"/>
                <a:pathLst>
                  <a:path w="9525" h="104775">
                    <a:moveTo>
                      <a:pt x="0" y="0"/>
                    </a:moveTo>
                    <a:lnTo>
                      <a:pt x="0" y="104775"/>
                    </a:lnTo>
                  </a:path>
                </a:pathLst>
              </a:custGeom>
              <a:noFill/>
              <a:ln w="19050">
                <a:solidFill>
                  <a:srgbClr val="C41D00"/>
                </a:solidFill>
              </a:ln>
            </p:spPr>
          </p:sp>
          <p:sp>
            <p:nvSpPr>
              <p:cNvPr id="35" name="Freeform 35"/>
              <p:cNvSpPr/>
              <p:nvPr/>
            </p:nvSpPr>
            <p:spPr>
              <a:xfrm>
                <a:off x="6457950" y="933450"/>
                <a:ext cx="9525" cy="104775"/>
              </a:xfrm>
              <a:custGeom>
                <a:avLst/>
                <a:gdLst/>
                <a:ahLst/>
                <a:cxnLst/>
                <a:rect l="l" t="t" r="r" b="b"/>
                <a:pathLst>
                  <a:path w="9525" h="104775">
                    <a:moveTo>
                      <a:pt x="0" y="0"/>
                    </a:moveTo>
                    <a:lnTo>
                      <a:pt x="0" y="104775"/>
                    </a:lnTo>
                  </a:path>
                </a:pathLst>
              </a:custGeom>
              <a:noFill/>
              <a:ln w="19050">
                <a:solidFill>
                  <a:srgbClr val="C41D00"/>
                </a:solidFill>
              </a:ln>
            </p:spPr>
          </p:sp>
          <p:sp>
            <p:nvSpPr>
              <p:cNvPr id="36" name="Freeform 36"/>
              <p:cNvSpPr/>
              <p:nvPr/>
            </p:nvSpPr>
            <p:spPr>
              <a:xfrm>
                <a:off x="6343650" y="971550"/>
                <a:ext cx="9525" cy="28575"/>
              </a:xfrm>
              <a:custGeom>
                <a:avLst/>
                <a:gdLst/>
                <a:ahLst/>
                <a:cxnLst/>
                <a:rect l="l" t="t" r="r" b="b"/>
                <a:pathLst>
                  <a:path w="9525" h="28575">
                    <a:moveTo>
                      <a:pt x="0" y="0"/>
                    </a:moveTo>
                    <a:lnTo>
                      <a:pt x="0" y="28575"/>
                    </a:lnTo>
                  </a:path>
                </a:pathLst>
              </a:custGeom>
              <a:noFill/>
              <a:ln w="19050">
                <a:solidFill>
                  <a:srgbClr val="C41D00"/>
                </a:solidFill>
              </a:ln>
            </p:spPr>
          </p:sp>
          <p:sp>
            <p:nvSpPr>
              <p:cNvPr id="37" name="Freeform 37"/>
              <p:cNvSpPr/>
              <p:nvPr/>
            </p:nvSpPr>
            <p:spPr>
              <a:xfrm>
                <a:off x="6381750" y="971550"/>
                <a:ext cx="9525" cy="28575"/>
              </a:xfrm>
              <a:custGeom>
                <a:avLst/>
                <a:gdLst/>
                <a:ahLst/>
                <a:cxnLst/>
                <a:rect l="l" t="t" r="r" b="b"/>
                <a:pathLst>
                  <a:path w="9525" h="28575">
                    <a:moveTo>
                      <a:pt x="0" y="0"/>
                    </a:moveTo>
                    <a:lnTo>
                      <a:pt x="0" y="28575"/>
                    </a:lnTo>
                  </a:path>
                </a:pathLst>
              </a:custGeom>
              <a:noFill/>
              <a:ln w="19050">
                <a:solidFill>
                  <a:srgbClr val="C41D00"/>
                </a:solidFill>
              </a:ln>
            </p:spPr>
          </p:sp>
          <p:sp>
            <p:nvSpPr>
              <p:cNvPr id="38" name="Freeform 38"/>
              <p:cNvSpPr/>
              <p:nvPr/>
            </p:nvSpPr>
            <p:spPr>
              <a:xfrm>
                <a:off x="6419850" y="971550"/>
                <a:ext cx="9525" cy="28575"/>
              </a:xfrm>
              <a:custGeom>
                <a:avLst/>
                <a:gdLst/>
                <a:ahLst/>
                <a:cxnLst/>
                <a:rect l="l" t="t" r="r" b="b"/>
                <a:pathLst>
                  <a:path w="9525" h="28575">
                    <a:moveTo>
                      <a:pt x="0" y="0"/>
                    </a:moveTo>
                    <a:lnTo>
                      <a:pt x="0" y="28575"/>
                    </a:lnTo>
                  </a:path>
                </a:pathLst>
              </a:custGeom>
              <a:noFill/>
              <a:ln w="19050">
                <a:solidFill>
                  <a:srgbClr val="C41D00"/>
                </a:solidFill>
              </a:ln>
            </p:spPr>
          </p:sp>
        </p:grpSp>
        <p:sp>
          <p:nvSpPr>
            <p:cNvPr id="40" name="TextBox 40"/>
            <p:cNvSpPr txBox="1"/>
            <p:nvPr/>
          </p:nvSpPr>
          <p:spPr>
            <a:xfrm>
              <a:off x="6586538" y="806291"/>
              <a:ext cx="782244" cy="161925"/>
            </a:xfrm>
            <a:prstGeom prst="rect">
              <a:avLst/>
            </a:prstGeom>
            <a:noFill/>
            <a:ln>
              <a:noFill/>
            </a:ln>
          </p:spPr>
          <p:txBody>
            <a:bodyPr wrap="none" lIns="0" tIns="0" rIns="0" bIns="0" anchor="t" anchorCtr="0">
              <a:spAutoFit/>
            </a:bodyPr>
            <a:lstStyle/>
            <a:p>
              <a:pPr algn="l"/>
              <a:r>
                <a:rPr lang="zh-CN" sz="820" dirty="0">
                  <a:solidFill>
                    <a:srgbClr val="7A716B"/>
                  </a:solidFill>
                  <a:latin typeface="+mn-lt"/>
                  <a:ea typeface="+mn-ea"/>
                  <a:cs typeface="+mn-cs"/>
                </a:rPr>
                <a:t>主办行客户占比</a:t>
              </a:r>
            </a:p>
          </p:txBody>
        </p:sp>
        <p:sp>
          <p:nvSpPr>
            <p:cNvPr id="41" name="TextBox 41"/>
            <p:cNvSpPr txBox="1"/>
            <p:nvPr/>
          </p:nvSpPr>
          <p:spPr>
            <a:xfrm>
              <a:off x="6584823" y="967264"/>
              <a:ext cx="546695" cy="249364"/>
            </a:xfrm>
            <a:prstGeom prst="rect">
              <a:avLst/>
            </a:prstGeom>
            <a:noFill/>
            <a:ln>
              <a:noFill/>
            </a:ln>
          </p:spPr>
          <p:txBody>
            <a:bodyPr wrap="none" lIns="0" tIns="0" rIns="0" bIns="0" anchor="t" anchorCtr="0">
              <a:spAutoFit/>
            </a:bodyPr>
            <a:lstStyle/>
            <a:p>
              <a:pPr algn="l"/>
              <a:r>
                <a:rPr lang="zh-CN" sz="1280" b="1" dirty="0">
                  <a:solidFill>
                    <a:srgbClr val="C41D00"/>
                  </a:solidFill>
                  <a:latin typeface="+mn-lt"/>
                  <a:ea typeface="+mn-ea"/>
                  <a:cs typeface="+mn-cs"/>
                </a:rPr>
                <a:t>27%​​</a:t>
              </a:r>
            </a:p>
          </p:txBody>
        </p:sp>
        <p:sp>
          <p:nvSpPr>
            <p:cNvPr id="42" name="Rectangle 42"/>
            <p:cNvSpPr/>
            <p:nvPr/>
          </p:nvSpPr>
          <p:spPr>
            <a:xfrm>
              <a:off x="8077200" y="685800"/>
              <a:ext cx="1847850" cy="533400"/>
            </a:xfrm>
            <a:prstGeom prst="roundRect">
              <a:avLst>
                <a:gd name="adj" fmla="val 14286"/>
              </a:avLst>
            </a:prstGeom>
            <a:solidFill>
              <a:srgbClr val="FEF2E6"/>
            </a:solidFill>
            <a:ln w="9525">
              <a:solidFill>
                <a:srgbClr val="F0B8AE"/>
              </a:solidFill>
            </a:ln>
          </p:spPr>
        </p:sp>
        <p:grpSp>
          <p:nvGrpSpPr>
            <p:cNvPr id="47" name="Group 47"/>
            <p:cNvGrpSpPr/>
            <p:nvPr/>
          </p:nvGrpSpPr>
          <p:grpSpPr>
            <a:xfrm>
              <a:off x="8220075" y="866775"/>
              <a:ext cx="171450" cy="161925"/>
              <a:chOff x="8220075" y="866775"/>
              <a:chExt cx="171450" cy="161925"/>
            </a:xfrm>
          </p:grpSpPr>
          <p:sp>
            <p:nvSpPr>
              <p:cNvPr id="43" name="Freeform 43"/>
              <p:cNvSpPr/>
              <p:nvPr/>
            </p:nvSpPr>
            <p:spPr>
              <a:xfrm>
                <a:off x="8220075" y="9048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C41D00"/>
                </a:solidFill>
              </a:ln>
            </p:spPr>
          </p:sp>
          <p:sp>
            <p:nvSpPr>
              <p:cNvPr id="44" name="Freeform 44"/>
              <p:cNvSpPr/>
              <p:nvPr/>
            </p:nvSpPr>
            <p:spPr>
              <a:xfrm>
                <a:off x="8267700" y="8667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C41D00"/>
                </a:solidFill>
              </a:ln>
            </p:spPr>
          </p:sp>
          <p:sp>
            <p:nvSpPr>
              <p:cNvPr id="45" name="Freeform 45"/>
              <p:cNvSpPr/>
              <p:nvPr/>
            </p:nvSpPr>
            <p:spPr>
              <a:xfrm>
                <a:off x="8305800" y="952500"/>
                <a:ext cx="9525" cy="9525"/>
              </a:xfrm>
              <a:custGeom>
                <a:avLst/>
                <a:gdLst/>
                <a:ahLst/>
                <a:cxnLst/>
                <a:rect l="l" t="t" r="r" b="b"/>
                <a:pathLst>
                  <a:path w="9525" h="9525">
                    <a:moveTo>
                      <a:pt x="0" y="0"/>
                    </a:moveTo>
                    <a:lnTo>
                      <a:pt x="0" y="95"/>
                    </a:lnTo>
                  </a:path>
                </a:pathLst>
              </a:custGeom>
              <a:noFill/>
              <a:ln w="19050">
                <a:solidFill>
                  <a:srgbClr val="C41D00"/>
                </a:solidFill>
              </a:ln>
            </p:spPr>
          </p:sp>
          <p:sp>
            <p:nvSpPr>
              <p:cNvPr id="46" name="Freeform 46"/>
              <p:cNvSpPr/>
              <p:nvPr/>
            </p:nvSpPr>
            <p:spPr>
              <a:xfrm>
                <a:off x="8220075" y="9620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C41D00"/>
                </a:solidFill>
              </a:ln>
            </p:spPr>
          </p:sp>
        </p:grpSp>
        <p:sp>
          <p:nvSpPr>
            <p:cNvPr id="48" name="TextBox 48"/>
            <p:cNvSpPr txBox="1"/>
            <p:nvPr/>
          </p:nvSpPr>
          <p:spPr>
            <a:xfrm>
              <a:off x="8510588" y="806291"/>
              <a:ext cx="451079" cy="161925"/>
            </a:xfrm>
            <a:prstGeom prst="rect">
              <a:avLst/>
            </a:prstGeom>
            <a:noFill/>
            <a:ln>
              <a:noFill/>
            </a:ln>
          </p:spPr>
          <p:txBody>
            <a:bodyPr wrap="none" lIns="0" tIns="0" rIns="0" bIns="0" anchor="t" anchorCtr="0">
              <a:spAutoFit/>
            </a:bodyPr>
            <a:lstStyle/>
            <a:p>
              <a:pPr algn="l"/>
              <a:r>
                <a:rPr lang="zh-CN" sz="820" dirty="0">
                  <a:solidFill>
                    <a:srgbClr val="7A716B"/>
                  </a:solidFill>
                  <a:latin typeface="+mn-lt"/>
                  <a:ea typeface="+mn-ea"/>
                  <a:cs typeface="+mn-cs"/>
                </a:rPr>
                <a:t>客均产品</a:t>
              </a:r>
            </a:p>
          </p:txBody>
        </p:sp>
        <p:sp>
          <p:nvSpPr>
            <p:cNvPr id="49" name="TextBox 49"/>
            <p:cNvSpPr txBox="1"/>
            <p:nvPr/>
          </p:nvSpPr>
          <p:spPr>
            <a:xfrm>
              <a:off x="8508873" y="967264"/>
              <a:ext cx="682823" cy="249364"/>
            </a:xfrm>
            <a:prstGeom prst="rect">
              <a:avLst/>
            </a:prstGeom>
            <a:noFill/>
            <a:ln>
              <a:noFill/>
            </a:ln>
          </p:spPr>
          <p:txBody>
            <a:bodyPr wrap="none" lIns="0" tIns="0" rIns="0" bIns="0" anchor="t" anchorCtr="0">
              <a:spAutoFit/>
            </a:bodyPr>
            <a:lstStyle/>
            <a:p>
              <a:pPr algn="l"/>
              <a:r>
                <a:rPr lang="zh-CN" sz="1280" b="1" dirty="0">
                  <a:solidFill>
                    <a:srgbClr val="C41D00"/>
                  </a:solidFill>
                  <a:latin typeface="+mn-lt"/>
                  <a:ea typeface="+mn-ea"/>
                  <a:cs typeface="+mn-cs"/>
                </a:rPr>
                <a:t>2.4个​​</a:t>
              </a:r>
            </a:p>
          </p:txBody>
        </p:sp>
        <p:sp>
          <p:nvSpPr>
            <p:cNvPr id="50" name="Rectangle 50"/>
            <p:cNvSpPr/>
            <p:nvPr/>
          </p:nvSpPr>
          <p:spPr>
            <a:xfrm>
              <a:off x="10001250" y="685800"/>
              <a:ext cx="1847850" cy="533400"/>
            </a:xfrm>
            <a:prstGeom prst="roundRect">
              <a:avLst>
                <a:gd name="adj" fmla="val 14286"/>
              </a:avLst>
            </a:prstGeom>
            <a:solidFill>
              <a:srgbClr val="FEF2E6"/>
            </a:solidFill>
            <a:ln w="9525">
              <a:solidFill>
                <a:srgbClr val="F0B8AE"/>
              </a:solidFill>
            </a:ln>
          </p:spPr>
        </p:sp>
        <p:grpSp>
          <p:nvGrpSpPr>
            <p:cNvPr id="54" name="Group 54"/>
            <p:cNvGrpSpPr/>
            <p:nvPr/>
          </p:nvGrpSpPr>
          <p:grpSpPr>
            <a:xfrm>
              <a:off x="10147954" y="866775"/>
              <a:ext cx="163773" cy="170402"/>
              <a:chOff x="10147954" y="866775"/>
              <a:chExt cx="163773" cy="170402"/>
            </a:xfrm>
          </p:grpSpPr>
          <p:sp>
            <p:nvSpPr>
              <p:cNvPr id="51" name="Freeform 51"/>
              <p:cNvSpPr/>
              <p:nvPr/>
            </p:nvSpPr>
            <p:spPr>
              <a:xfrm>
                <a:off x="10172700" y="86677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C41D00"/>
                </a:solidFill>
              </a:ln>
            </p:spPr>
          </p:sp>
          <p:sp>
            <p:nvSpPr>
              <p:cNvPr id="52" name="Freeform 52"/>
              <p:cNvSpPr/>
              <p:nvPr/>
            </p:nvSpPr>
            <p:spPr>
              <a:xfrm>
                <a:off x="10229850" y="95250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C41D00"/>
                </a:solidFill>
              </a:ln>
            </p:spPr>
          </p:sp>
          <p:sp>
            <p:nvSpPr>
              <p:cNvPr id="53" name="Freeform 53"/>
              <p:cNvSpPr/>
              <p:nvPr/>
            </p:nvSpPr>
            <p:spPr>
              <a:xfrm>
                <a:off x="10147954" y="95250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C41D00"/>
                </a:solidFill>
              </a:ln>
            </p:spPr>
          </p:sp>
        </p:grpSp>
        <p:sp>
          <p:nvSpPr>
            <p:cNvPr id="55" name="TextBox 55"/>
            <p:cNvSpPr txBox="1"/>
            <p:nvPr/>
          </p:nvSpPr>
          <p:spPr>
            <a:xfrm>
              <a:off x="10434638" y="806291"/>
              <a:ext cx="330276" cy="161925"/>
            </a:xfrm>
            <a:prstGeom prst="rect">
              <a:avLst/>
            </a:prstGeom>
            <a:noFill/>
            <a:ln>
              <a:noFill/>
            </a:ln>
          </p:spPr>
          <p:txBody>
            <a:bodyPr wrap="none" lIns="0" tIns="0" rIns="0" bIns="0" anchor="t" anchorCtr="0">
              <a:spAutoFit/>
            </a:bodyPr>
            <a:lstStyle/>
            <a:p>
              <a:pPr algn="l"/>
              <a:r>
                <a:rPr lang="en-US" sz="820" dirty="0">
                  <a:solidFill>
                    <a:srgbClr val="7A716B"/>
                  </a:solidFill>
                  <a:latin typeface="+mn-lt"/>
                  <a:ea typeface="+mn-ea"/>
                  <a:cs typeface="+mn-cs"/>
                </a:rPr>
                <a:t>NPS​​</a:t>
              </a:r>
            </a:p>
          </p:txBody>
        </p:sp>
        <p:sp>
          <p:nvSpPr>
            <p:cNvPr id="56" name="TextBox 56"/>
            <p:cNvSpPr txBox="1"/>
            <p:nvPr/>
          </p:nvSpPr>
          <p:spPr>
            <a:xfrm>
              <a:off x="10432923" y="967264"/>
              <a:ext cx="410998" cy="249364"/>
            </a:xfrm>
            <a:prstGeom prst="rect">
              <a:avLst/>
            </a:prstGeom>
            <a:noFill/>
            <a:ln>
              <a:noFill/>
            </a:ln>
          </p:spPr>
          <p:txBody>
            <a:bodyPr wrap="none" lIns="0" tIns="0" rIns="0" bIns="0" anchor="t" anchorCtr="0">
              <a:spAutoFit/>
            </a:bodyPr>
            <a:lstStyle/>
            <a:p>
              <a:pPr algn="l"/>
              <a:r>
                <a:rPr lang="zh-CN" sz="1280" b="1" dirty="0">
                  <a:solidFill>
                    <a:srgbClr val="C41D00"/>
                  </a:solidFill>
                  <a:latin typeface="+mn-lt"/>
                  <a:ea typeface="+mn-ea"/>
                  <a:cs typeface="+mn-cs"/>
                </a:rPr>
                <a:t>41​​</a:t>
              </a:r>
            </a:p>
          </p:txBody>
        </p:sp>
      </p:grpSp>
      <p:grpSp>
        <p:nvGrpSpPr>
          <p:cNvPr id="81" name="challenge-table"/>
          <p:cNvGrpSpPr/>
          <p:nvPr/>
        </p:nvGrpSpPr>
        <p:grpSpPr>
          <a:xfrm>
            <a:off x="342900" y="1295400"/>
            <a:ext cx="2552700" cy="2686050"/>
            <a:chOff x="342900" y="1295400"/>
            <a:chExt cx="2552700" cy="2686050"/>
          </a:xfrm>
        </p:grpSpPr>
        <p:sp>
          <p:nvSpPr>
            <p:cNvPr id="58" name="Rectangle 58"/>
            <p:cNvSpPr/>
            <p:nvPr/>
          </p:nvSpPr>
          <p:spPr>
            <a:xfrm>
              <a:off x="342900" y="1295400"/>
              <a:ext cx="2552700" cy="228600"/>
            </a:xfrm>
            <a:prstGeom prst="roundRect">
              <a:avLst>
                <a:gd name="adj" fmla="val 12500"/>
              </a:avLst>
            </a:prstGeom>
            <a:solidFill>
              <a:srgbClr val="C41D00"/>
            </a:solidFill>
            <a:ln>
              <a:noFill/>
            </a:ln>
          </p:spPr>
        </p:sp>
        <p:sp>
          <p:nvSpPr>
            <p:cNvPr id="59" name="TextBox 59"/>
            <p:cNvSpPr txBox="1"/>
            <p:nvPr/>
          </p:nvSpPr>
          <p:spPr>
            <a:xfrm>
              <a:off x="1361402" y="13561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当前挑战</a:t>
              </a:r>
            </a:p>
          </p:txBody>
        </p:sp>
        <p:sp>
          <p:nvSpPr>
            <p:cNvPr id="60" name="Rectangle 60"/>
            <p:cNvSpPr/>
            <p:nvPr/>
          </p:nvSpPr>
          <p:spPr>
            <a:xfrm>
              <a:off x="342900" y="1562100"/>
              <a:ext cx="2552700" cy="2419350"/>
            </a:xfrm>
            <a:prstGeom prst="rect">
              <a:avLst/>
            </a:prstGeom>
            <a:solidFill>
              <a:srgbClr val="FFF8F2"/>
            </a:solidFill>
            <a:ln w="9525">
              <a:solidFill>
                <a:srgbClr val="F0B8AE"/>
              </a:solidFill>
            </a:ln>
          </p:spPr>
        </p:sp>
        <p:sp>
          <p:nvSpPr>
            <p:cNvPr id="61" name="TextBox 61"/>
            <p:cNvSpPr txBox="1"/>
            <p:nvPr/>
          </p:nvSpPr>
          <p:spPr>
            <a:xfrm>
              <a:off x="414338" y="1610439"/>
              <a:ext cx="222225" cy="154781"/>
            </a:xfrm>
            <a:prstGeom prst="rect">
              <a:avLst/>
            </a:prstGeom>
            <a:noFill/>
            <a:ln>
              <a:noFill/>
            </a:ln>
          </p:spPr>
          <p:txBody>
            <a:bodyPr wrap="none" lIns="0" tIns="0" rIns="0" bIns="0" anchor="t" anchorCtr="0">
              <a:spAutoFit/>
            </a:bodyPr>
            <a:lstStyle/>
            <a:p>
              <a:pPr algn="l"/>
              <a:r>
                <a:rPr lang="zh-CN" sz="790" b="1" dirty="0">
                  <a:solidFill>
                    <a:srgbClr val="8F1C08"/>
                  </a:solidFill>
                  <a:latin typeface="+mn-lt"/>
                  <a:ea typeface="+mn-ea"/>
                  <a:cs typeface="+mn-cs"/>
                </a:rPr>
                <a:t>挑战</a:t>
              </a:r>
            </a:p>
          </p:txBody>
        </p:sp>
        <p:sp>
          <p:nvSpPr>
            <p:cNvPr id="62" name="TextBox 62"/>
            <p:cNvSpPr txBox="1"/>
            <p:nvPr/>
          </p:nvSpPr>
          <p:spPr>
            <a:xfrm>
              <a:off x="1252538" y="1610439"/>
              <a:ext cx="222225" cy="154781"/>
            </a:xfrm>
            <a:prstGeom prst="rect">
              <a:avLst/>
            </a:prstGeom>
            <a:noFill/>
            <a:ln>
              <a:noFill/>
            </a:ln>
          </p:spPr>
          <p:txBody>
            <a:bodyPr wrap="none" lIns="0" tIns="0" rIns="0" bIns="0" anchor="t" anchorCtr="0">
              <a:spAutoFit/>
            </a:bodyPr>
            <a:lstStyle/>
            <a:p>
              <a:pPr algn="l"/>
              <a:r>
                <a:rPr lang="zh-CN" sz="790" b="1" dirty="0">
                  <a:solidFill>
                    <a:srgbClr val="8F1C08"/>
                  </a:solidFill>
                  <a:latin typeface="+mn-lt"/>
                  <a:ea typeface="+mn-ea"/>
                  <a:cs typeface="+mn-cs"/>
                </a:rPr>
                <a:t>表现</a:t>
              </a:r>
            </a:p>
          </p:txBody>
        </p:sp>
        <p:sp>
          <p:nvSpPr>
            <p:cNvPr id="63" name="Line 63"/>
            <p:cNvSpPr/>
            <p:nvPr/>
          </p:nvSpPr>
          <p:spPr>
            <a:xfrm>
              <a:off x="342900" y="1771650"/>
              <a:ext cx="2552700" cy="9525"/>
            </a:xfrm>
            <a:custGeom>
              <a:avLst/>
              <a:gdLst/>
              <a:ahLst/>
              <a:cxnLst/>
              <a:rect l="l" t="t" r="r" b="b"/>
              <a:pathLst>
                <a:path w="2552700" h="9525">
                  <a:moveTo>
                    <a:pt x="0" y="0"/>
                  </a:moveTo>
                  <a:lnTo>
                    <a:pt x="2552700" y="0"/>
                  </a:lnTo>
                </a:path>
              </a:pathLst>
            </a:custGeom>
            <a:noFill/>
            <a:ln w="9525">
              <a:solidFill>
                <a:srgbClr val="F0B8AE"/>
              </a:solidFill>
            </a:ln>
          </p:spPr>
        </p:sp>
        <p:sp>
          <p:nvSpPr>
            <p:cNvPr id="64" name="TextBox 64"/>
            <p:cNvSpPr txBox="1"/>
            <p:nvPr/>
          </p:nvSpPr>
          <p:spPr>
            <a:xfrm>
              <a:off x="414338" y="1905714"/>
              <a:ext cx="647624" cy="154781"/>
            </a:xfrm>
            <a:prstGeom prst="rect">
              <a:avLst/>
            </a:prstGeom>
            <a:noFill/>
            <a:ln>
              <a:noFill/>
            </a:ln>
          </p:spPr>
          <p:txBody>
            <a:bodyPr wrap="none" lIns="0" tIns="0" rIns="0" bIns="0" anchor="t" anchorCtr="0">
              <a:spAutoFit/>
            </a:bodyPr>
            <a:lstStyle/>
            <a:p>
              <a:pPr algn="l"/>
              <a:r>
                <a:rPr lang="zh-CN" sz="790" b="1" dirty="0">
                  <a:solidFill>
                    <a:srgbClr val="3D3835"/>
                  </a:solidFill>
                  <a:latin typeface="+mn-lt"/>
                  <a:ea typeface="+mn-ea"/>
                  <a:cs typeface="+mn-cs"/>
                </a:rPr>
                <a:t>客群洞察不足</a:t>
              </a:r>
            </a:p>
          </p:txBody>
        </p:sp>
        <p:sp>
          <p:nvSpPr>
            <p:cNvPr id="65" name="TextBox 65"/>
            <p:cNvSpPr txBox="1"/>
            <p:nvPr/>
          </p:nvSpPr>
          <p:spPr>
            <a:xfrm>
              <a:off x="1252538" y="1843088"/>
              <a:ext cx="96202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客户标签少、颗粒粗，</a:t>
              </a:r>
              <a:br/>
              <a:r>
                <a:rPr lang="zh-CN" sz="750" dirty="0">
                  <a:solidFill>
                    <a:srgbClr val="3D3835"/>
                  </a:solidFill>
                  <a:latin typeface="+mn-lt"/>
                  <a:ea typeface="+mn-ea"/>
                  <a:cs typeface="+mn-cs"/>
                </a:rPr>
                <a:t>画像维度单一</a:t>
              </a:r>
            </a:p>
          </p:txBody>
        </p:sp>
        <p:sp>
          <p:nvSpPr>
            <p:cNvPr id="66" name="Line 66"/>
            <p:cNvSpPr/>
            <p:nvPr/>
          </p:nvSpPr>
          <p:spPr>
            <a:xfrm>
              <a:off x="342900" y="2133600"/>
              <a:ext cx="2552700" cy="9525"/>
            </a:xfrm>
            <a:custGeom>
              <a:avLst/>
              <a:gdLst/>
              <a:ahLst/>
              <a:cxnLst/>
              <a:rect l="l" t="t" r="r" b="b"/>
              <a:pathLst>
                <a:path w="2552700" h="9525">
                  <a:moveTo>
                    <a:pt x="0" y="0"/>
                  </a:moveTo>
                  <a:lnTo>
                    <a:pt x="2552700" y="0"/>
                  </a:lnTo>
                </a:path>
              </a:pathLst>
            </a:custGeom>
            <a:noFill/>
            <a:ln w="9525">
              <a:solidFill>
                <a:srgbClr val="EADBCE"/>
              </a:solidFill>
            </a:ln>
          </p:spPr>
        </p:sp>
        <p:sp>
          <p:nvSpPr>
            <p:cNvPr id="67" name="TextBox 67"/>
            <p:cNvSpPr txBox="1"/>
            <p:nvPr/>
          </p:nvSpPr>
          <p:spPr>
            <a:xfrm>
              <a:off x="414338" y="2267664"/>
              <a:ext cx="647624" cy="154781"/>
            </a:xfrm>
            <a:prstGeom prst="rect">
              <a:avLst/>
            </a:prstGeom>
            <a:noFill/>
            <a:ln>
              <a:noFill/>
            </a:ln>
          </p:spPr>
          <p:txBody>
            <a:bodyPr wrap="none" lIns="0" tIns="0" rIns="0" bIns="0" anchor="t" anchorCtr="0">
              <a:spAutoFit/>
            </a:bodyPr>
            <a:lstStyle/>
            <a:p>
              <a:pPr algn="l"/>
              <a:r>
                <a:rPr lang="zh-CN" sz="790" b="1" dirty="0">
                  <a:solidFill>
                    <a:srgbClr val="3D3835"/>
                  </a:solidFill>
                  <a:latin typeface="+mn-lt"/>
                  <a:ea typeface="+mn-ea"/>
                  <a:cs typeface="+mn-cs"/>
                </a:rPr>
                <a:t>分层体系粗放</a:t>
              </a:r>
            </a:p>
          </p:txBody>
        </p:sp>
        <p:sp>
          <p:nvSpPr>
            <p:cNvPr id="68" name="TextBox 68"/>
            <p:cNvSpPr txBox="1"/>
            <p:nvPr/>
          </p:nvSpPr>
          <p:spPr>
            <a:xfrm>
              <a:off x="1252538" y="2205038"/>
              <a:ext cx="96202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分层维度少、静态化，</a:t>
              </a:r>
              <a:br/>
              <a:r>
                <a:rPr lang="zh-CN" sz="750" dirty="0">
                  <a:solidFill>
                    <a:srgbClr val="3D3835"/>
                  </a:solidFill>
                  <a:latin typeface="+mn-lt"/>
                  <a:ea typeface="+mn-ea"/>
                  <a:cs typeface="+mn-cs"/>
                </a:rPr>
                <a:t>策略差异不明显</a:t>
              </a:r>
            </a:p>
          </p:txBody>
        </p:sp>
        <p:sp>
          <p:nvSpPr>
            <p:cNvPr id="69" name="Line 69"/>
            <p:cNvSpPr/>
            <p:nvPr/>
          </p:nvSpPr>
          <p:spPr>
            <a:xfrm>
              <a:off x="342900" y="2495550"/>
              <a:ext cx="2552700" cy="9525"/>
            </a:xfrm>
            <a:custGeom>
              <a:avLst/>
              <a:gdLst/>
              <a:ahLst/>
              <a:cxnLst/>
              <a:rect l="l" t="t" r="r" b="b"/>
              <a:pathLst>
                <a:path w="2552700" h="9525">
                  <a:moveTo>
                    <a:pt x="0" y="0"/>
                  </a:moveTo>
                  <a:lnTo>
                    <a:pt x="2552700" y="0"/>
                  </a:lnTo>
                </a:path>
              </a:pathLst>
            </a:custGeom>
            <a:noFill/>
            <a:ln w="9525">
              <a:solidFill>
                <a:srgbClr val="EADBCE"/>
              </a:solidFill>
            </a:ln>
          </p:spPr>
        </p:sp>
        <p:sp>
          <p:nvSpPr>
            <p:cNvPr id="70" name="TextBox 70"/>
            <p:cNvSpPr txBox="1"/>
            <p:nvPr/>
          </p:nvSpPr>
          <p:spPr>
            <a:xfrm>
              <a:off x="414338" y="2629614"/>
              <a:ext cx="647624" cy="154781"/>
            </a:xfrm>
            <a:prstGeom prst="rect">
              <a:avLst/>
            </a:prstGeom>
            <a:noFill/>
            <a:ln>
              <a:noFill/>
            </a:ln>
          </p:spPr>
          <p:txBody>
            <a:bodyPr wrap="none" lIns="0" tIns="0" rIns="0" bIns="0" anchor="t" anchorCtr="0">
              <a:spAutoFit/>
            </a:bodyPr>
            <a:lstStyle/>
            <a:p>
              <a:pPr algn="l"/>
              <a:r>
                <a:rPr lang="zh-CN" sz="790" b="1" dirty="0">
                  <a:solidFill>
                    <a:srgbClr val="3D3835"/>
                  </a:solidFill>
                  <a:latin typeface="+mn-lt"/>
                  <a:ea typeface="+mn-ea"/>
                  <a:cs typeface="+mn-cs"/>
                </a:rPr>
                <a:t>旅程割裂低效</a:t>
              </a:r>
            </a:p>
          </p:txBody>
        </p:sp>
        <p:sp>
          <p:nvSpPr>
            <p:cNvPr id="71" name="TextBox 71"/>
            <p:cNvSpPr txBox="1"/>
            <p:nvPr/>
          </p:nvSpPr>
          <p:spPr>
            <a:xfrm>
              <a:off x="1252538" y="2566988"/>
              <a:ext cx="77152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旅程覆盖面低，</a:t>
              </a:r>
              <a:br/>
              <a:r>
                <a:rPr lang="zh-CN" sz="750" dirty="0">
                  <a:solidFill>
                    <a:srgbClr val="3D3835"/>
                  </a:solidFill>
                  <a:latin typeface="+mn-lt"/>
                  <a:ea typeface="+mn-ea"/>
                  <a:cs typeface="+mn-cs"/>
                </a:rPr>
                <a:t>关键断点多需转介</a:t>
              </a:r>
            </a:p>
          </p:txBody>
        </p:sp>
        <p:sp>
          <p:nvSpPr>
            <p:cNvPr id="72" name="Line 72"/>
            <p:cNvSpPr/>
            <p:nvPr/>
          </p:nvSpPr>
          <p:spPr>
            <a:xfrm>
              <a:off x="342900" y="2857500"/>
              <a:ext cx="2552700" cy="9525"/>
            </a:xfrm>
            <a:custGeom>
              <a:avLst/>
              <a:gdLst/>
              <a:ahLst/>
              <a:cxnLst/>
              <a:rect l="l" t="t" r="r" b="b"/>
              <a:pathLst>
                <a:path w="2552700" h="9525">
                  <a:moveTo>
                    <a:pt x="0" y="0"/>
                  </a:moveTo>
                  <a:lnTo>
                    <a:pt x="2552700" y="0"/>
                  </a:lnTo>
                </a:path>
              </a:pathLst>
            </a:custGeom>
            <a:noFill/>
            <a:ln w="9525">
              <a:solidFill>
                <a:srgbClr val="EADBCE"/>
              </a:solidFill>
            </a:ln>
          </p:spPr>
        </p:sp>
        <p:sp>
          <p:nvSpPr>
            <p:cNvPr id="73" name="TextBox 73"/>
            <p:cNvSpPr txBox="1"/>
            <p:nvPr/>
          </p:nvSpPr>
          <p:spPr>
            <a:xfrm>
              <a:off x="414338" y="2991564"/>
              <a:ext cx="647624" cy="154781"/>
            </a:xfrm>
            <a:prstGeom prst="rect">
              <a:avLst/>
            </a:prstGeom>
            <a:noFill/>
            <a:ln>
              <a:noFill/>
            </a:ln>
          </p:spPr>
          <p:txBody>
            <a:bodyPr wrap="none" lIns="0" tIns="0" rIns="0" bIns="0" anchor="t" anchorCtr="0">
              <a:spAutoFit/>
            </a:bodyPr>
            <a:lstStyle/>
            <a:p>
              <a:pPr algn="l"/>
              <a:r>
                <a:rPr lang="zh-CN" sz="790" b="1" dirty="0">
                  <a:solidFill>
                    <a:srgbClr val="3D3835"/>
                  </a:solidFill>
                  <a:latin typeface="+mn-lt"/>
                  <a:ea typeface="+mn-ea"/>
                  <a:cs typeface="+mn-cs"/>
                </a:rPr>
                <a:t>触达效率偏低</a:t>
              </a:r>
            </a:p>
          </p:txBody>
        </p:sp>
        <p:sp>
          <p:nvSpPr>
            <p:cNvPr id="74" name="TextBox 74"/>
            <p:cNvSpPr txBox="1"/>
            <p:nvPr/>
          </p:nvSpPr>
          <p:spPr>
            <a:xfrm>
              <a:off x="1252538" y="2928938"/>
              <a:ext cx="67627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触达渠道多，</a:t>
              </a:r>
              <a:br/>
              <a:r>
                <a:rPr lang="zh-CN" sz="750" dirty="0">
                  <a:solidFill>
                    <a:srgbClr val="3D3835"/>
                  </a:solidFill>
                  <a:latin typeface="+mn-lt"/>
                  <a:ea typeface="+mn-ea"/>
                  <a:cs typeface="+mn-cs"/>
                </a:rPr>
                <a:t>触达精准度问题</a:t>
              </a:r>
            </a:p>
          </p:txBody>
        </p:sp>
        <p:sp>
          <p:nvSpPr>
            <p:cNvPr id="75" name="Line 75"/>
            <p:cNvSpPr/>
            <p:nvPr/>
          </p:nvSpPr>
          <p:spPr>
            <a:xfrm>
              <a:off x="342900" y="3219450"/>
              <a:ext cx="2552700" cy="9525"/>
            </a:xfrm>
            <a:custGeom>
              <a:avLst/>
              <a:gdLst/>
              <a:ahLst/>
              <a:cxnLst/>
              <a:rect l="l" t="t" r="r" b="b"/>
              <a:pathLst>
                <a:path w="2552700" h="9525">
                  <a:moveTo>
                    <a:pt x="0" y="0"/>
                  </a:moveTo>
                  <a:lnTo>
                    <a:pt x="2552700" y="0"/>
                  </a:lnTo>
                </a:path>
              </a:pathLst>
            </a:custGeom>
            <a:noFill/>
            <a:ln w="9525">
              <a:solidFill>
                <a:srgbClr val="EADBCE"/>
              </a:solidFill>
            </a:ln>
          </p:spPr>
        </p:sp>
        <p:sp>
          <p:nvSpPr>
            <p:cNvPr id="76" name="TextBox 76"/>
            <p:cNvSpPr txBox="1"/>
            <p:nvPr/>
          </p:nvSpPr>
          <p:spPr>
            <a:xfrm>
              <a:off x="414338" y="3353514"/>
              <a:ext cx="647624" cy="154781"/>
            </a:xfrm>
            <a:prstGeom prst="rect">
              <a:avLst/>
            </a:prstGeom>
            <a:noFill/>
            <a:ln>
              <a:noFill/>
            </a:ln>
          </p:spPr>
          <p:txBody>
            <a:bodyPr wrap="none" lIns="0" tIns="0" rIns="0" bIns="0" anchor="t" anchorCtr="0">
              <a:spAutoFit/>
            </a:bodyPr>
            <a:lstStyle/>
            <a:p>
              <a:pPr algn="l"/>
              <a:r>
                <a:rPr lang="zh-CN" sz="790" b="1" dirty="0">
                  <a:solidFill>
                    <a:srgbClr val="3D3835"/>
                  </a:solidFill>
                  <a:latin typeface="+mn-lt"/>
                  <a:ea typeface="+mn-ea"/>
                  <a:cs typeface="+mn-cs"/>
                </a:rPr>
                <a:t>价值衡量薄弱</a:t>
              </a:r>
            </a:p>
          </p:txBody>
        </p:sp>
        <p:sp>
          <p:nvSpPr>
            <p:cNvPr id="77" name="TextBox 77"/>
            <p:cNvSpPr txBox="1"/>
            <p:nvPr/>
          </p:nvSpPr>
          <p:spPr>
            <a:xfrm>
              <a:off x="1252538" y="3290888"/>
              <a:ext cx="990600"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以产品交易为导向，</a:t>
              </a:r>
              <a:br/>
              <a:r>
                <a:rPr lang="zh-CN" sz="750" dirty="0">
                  <a:solidFill>
                    <a:srgbClr val="3D3835"/>
                  </a:solidFill>
                  <a:latin typeface="+mn-lt"/>
                  <a:ea typeface="+mn-ea"/>
                  <a:cs typeface="+mn-cs"/>
                </a:rPr>
                <a:t>LTV度量与归因不足​​​</a:t>
              </a:r>
            </a:p>
          </p:txBody>
        </p:sp>
        <p:sp>
          <p:nvSpPr>
            <p:cNvPr id="78" name="Line 78"/>
            <p:cNvSpPr/>
            <p:nvPr/>
          </p:nvSpPr>
          <p:spPr>
            <a:xfrm>
              <a:off x="342900" y="3581400"/>
              <a:ext cx="2552700" cy="9525"/>
            </a:xfrm>
            <a:custGeom>
              <a:avLst/>
              <a:gdLst/>
              <a:ahLst/>
              <a:cxnLst/>
              <a:rect l="l" t="t" r="r" b="b"/>
              <a:pathLst>
                <a:path w="2552700" h="9525">
                  <a:moveTo>
                    <a:pt x="0" y="0"/>
                  </a:moveTo>
                  <a:lnTo>
                    <a:pt x="2552700" y="0"/>
                  </a:lnTo>
                </a:path>
              </a:pathLst>
            </a:custGeom>
            <a:noFill/>
            <a:ln w="9525">
              <a:solidFill>
                <a:srgbClr val="EADBCE"/>
              </a:solidFill>
            </a:ln>
          </p:spPr>
        </p:sp>
        <p:sp>
          <p:nvSpPr>
            <p:cNvPr id="79" name="TextBox 79"/>
            <p:cNvSpPr txBox="1"/>
            <p:nvPr/>
          </p:nvSpPr>
          <p:spPr>
            <a:xfrm>
              <a:off x="414338" y="3715464"/>
              <a:ext cx="753974" cy="154781"/>
            </a:xfrm>
            <a:prstGeom prst="rect">
              <a:avLst/>
            </a:prstGeom>
            <a:noFill/>
            <a:ln>
              <a:noFill/>
            </a:ln>
          </p:spPr>
          <p:txBody>
            <a:bodyPr wrap="none" lIns="0" tIns="0" rIns="0" bIns="0" anchor="t" anchorCtr="0">
              <a:spAutoFit/>
            </a:bodyPr>
            <a:lstStyle/>
            <a:p>
              <a:pPr algn="l"/>
              <a:r>
                <a:rPr lang="zh-CN" sz="790" b="1" dirty="0">
                  <a:solidFill>
                    <a:srgbClr val="3D3835"/>
                  </a:solidFill>
                  <a:latin typeface="+mn-lt"/>
                  <a:ea typeface="+mn-ea"/>
                  <a:cs typeface="+mn-cs"/>
                </a:rPr>
                <a:t>数据与能力底座</a:t>
              </a:r>
            </a:p>
          </p:txBody>
        </p:sp>
        <p:sp>
          <p:nvSpPr>
            <p:cNvPr id="80" name="TextBox 80"/>
            <p:cNvSpPr txBox="1"/>
            <p:nvPr/>
          </p:nvSpPr>
          <p:spPr>
            <a:xfrm>
              <a:off x="1252538" y="3671888"/>
              <a:ext cx="112014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数据孤岛，系统支撑不足</a:t>
              </a:r>
            </a:p>
          </p:txBody>
        </p:sp>
      </p:grpSp>
      <p:grpSp>
        <p:nvGrpSpPr>
          <p:cNvPr id="149" name="blueprint"/>
          <p:cNvGrpSpPr/>
          <p:nvPr/>
        </p:nvGrpSpPr>
        <p:grpSpPr>
          <a:xfrm>
            <a:off x="2971800" y="1295400"/>
            <a:ext cx="4895850" cy="2667000"/>
            <a:chOff x="2971800" y="1295400"/>
            <a:chExt cx="4895850" cy="2667000"/>
          </a:xfrm>
        </p:grpSpPr>
        <p:sp>
          <p:nvSpPr>
            <p:cNvPr id="82" name="Rectangle 82"/>
            <p:cNvSpPr/>
            <p:nvPr/>
          </p:nvSpPr>
          <p:spPr>
            <a:xfrm>
              <a:off x="2971800" y="1295400"/>
              <a:ext cx="4895850" cy="247650"/>
            </a:xfrm>
            <a:prstGeom prst="roundRect">
              <a:avLst>
                <a:gd name="adj" fmla="val 15385"/>
              </a:avLst>
            </a:prstGeom>
            <a:gradFill>
              <a:gsLst>
                <a:gs pos="0">
                  <a:srgbClr val="8F1C08"/>
                </a:gs>
                <a:gs pos="100000">
                  <a:srgbClr val="D82000"/>
                </a:gs>
              </a:gsLst>
              <a:lin ang="0" scaled="1"/>
            </a:gradFill>
            <a:ln>
              <a:noFill/>
            </a:ln>
          </p:spPr>
        </p:sp>
        <p:sp>
          <p:nvSpPr>
            <p:cNvPr id="83" name="TextBox 83"/>
            <p:cNvSpPr txBox="1"/>
            <p:nvPr/>
          </p:nvSpPr>
          <p:spPr>
            <a:xfrm>
              <a:off x="3963568" y="1361599"/>
              <a:ext cx="2912313"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从产品销售转向客户终身价值经营：五层转型蓝图</a:t>
              </a:r>
            </a:p>
          </p:txBody>
        </p:sp>
        <p:sp>
          <p:nvSpPr>
            <p:cNvPr id="84" name="Rectangle 84"/>
            <p:cNvSpPr/>
            <p:nvPr/>
          </p:nvSpPr>
          <p:spPr>
            <a:xfrm>
              <a:off x="2971800" y="1619250"/>
              <a:ext cx="4895850" cy="438150"/>
            </a:xfrm>
            <a:prstGeom prst="roundRect">
              <a:avLst>
                <a:gd name="adj" fmla="val 8696"/>
              </a:avLst>
            </a:prstGeom>
            <a:solidFill>
              <a:srgbClr val="FFF8F2"/>
            </a:solidFill>
            <a:ln w="9525">
              <a:solidFill>
                <a:srgbClr val="F0B8AE"/>
              </a:solidFill>
            </a:ln>
          </p:spPr>
        </p:sp>
        <p:sp>
          <p:nvSpPr>
            <p:cNvPr id="85" name="Rectangle 85"/>
            <p:cNvSpPr/>
            <p:nvPr/>
          </p:nvSpPr>
          <p:spPr>
            <a:xfrm>
              <a:off x="3028950" y="1695450"/>
              <a:ext cx="266700" cy="285750"/>
            </a:xfrm>
            <a:prstGeom prst="roundRect">
              <a:avLst>
                <a:gd name="adj" fmla="val 10714"/>
              </a:avLst>
            </a:prstGeom>
            <a:solidFill>
              <a:srgbClr val="8F1C08"/>
            </a:solidFill>
            <a:ln>
              <a:noFill/>
            </a:ln>
          </p:spPr>
        </p:sp>
        <p:sp>
          <p:nvSpPr>
            <p:cNvPr id="86" name="TextBox 86"/>
            <p:cNvSpPr txBox="1"/>
            <p:nvPr/>
          </p:nvSpPr>
          <p:spPr>
            <a:xfrm>
              <a:off x="3004971" y="1780699"/>
              <a:ext cx="31465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​01​</a:t>
              </a:r>
            </a:p>
          </p:txBody>
        </p:sp>
        <p:sp>
          <p:nvSpPr>
            <p:cNvPr id="87" name="TextBox 87"/>
            <p:cNvSpPr txBox="1"/>
            <p:nvPr/>
          </p:nvSpPr>
          <p:spPr>
            <a:xfrm>
              <a:off x="3367088" y="1716643"/>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客户洞察</a:t>
              </a:r>
            </a:p>
          </p:txBody>
        </p:sp>
        <p:sp>
          <p:nvSpPr>
            <p:cNvPr id="88" name="TextBox 88"/>
            <p:cNvSpPr txBox="1"/>
            <p:nvPr/>
          </p:nvSpPr>
          <p:spPr>
            <a:xfrm>
              <a:off x="3367088" y="1885236"/>
              <a:ext cx="707260"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360°客户理解​​</a:t>
              </a:r>
            </a:p>
          </p:txBody>
        </p:sp>
        <p:sp>
          <p:nvSpPr>
            <p:cNvPr id="89" name="Rectangle 89"/>
            <p:cNvSpPr/>
            <p:nvPr/>
          </p:nvSpPr>
          <p:spPr>
            <a:xfrm>
              <a:off x="4191000" y="1685925"/>
              <a:ext cx="895350" cy="304800"/>
            </a:xfrm>
            <a:prstGeom prst="roundRect">
              <a:avLst>
                <a:gd name="adj" fmla="val 9375"/>
              </a:avLst>
            </a:prstGeom>
            <a:solidFill>
              <a:srgbClr val="FEF2E6"/>
            </a:solidFill>
            <a:ln w="9525">
              <a:solidFill>
                <a:srgbClr val="F0B8AE"/>
              </a:solidFill>
            </a:ln>
          </p:spPr>
        </p:sp>
        <p:sp>
          <p:nvSpPr>
            <p:cNvPr id="90" name="TextBox 90"/>
            <p:cNvSpPr txBox="1"/>
            <p:nvPr/>
          </p:nvSpPr>
          <p:spPr>
            <a:xfrm>
              <a:off x="4331018" y="179546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统一客户视图</a:t>
              </a:r>
            </a:p>
          </p:txBody>
        </p:sp>
        <p:sp>
          <p:nvSpPr>
            <p:cNvPr id="91" name="Rectangle 91"/>
            <p:cNvSpPr/>
            <p:nvPr/>
          </p:nvSpPr>
          <p:spPr>
            <a:xfrm>
              <a:off x="5114925" y="1685925"/>
              <a:ext cx="895350" cy="304800"/>
            </a:xfrm>
            <a:prstGeom prst="roundRect">
              <a:avLst>
                <a:gd name="adj" fmla="val 9375"/>
              </a:avLst>
            </a:prstGeom>
            <a:solidFill>
              <a:srgbClr val="FEF2E6"/>
            </a:solidFill>
            <a:ln w="9525">
              <a:solidFill>
                <a:srgbClr val="F0B8AE"/>
              </a:solidFill>
            </a:ln>
          </p:spPr>
        </p:sp>
        <p:sp>
          <p:nvSpPr>
            <p:cNvPr id="92" name="TextBox 92"/>
            <p:cNvSpPr txBox="1"/>
            <p:nvPr/>
          </p:nvSpPr>
          <p:spPr>
            <a:xfrm>
              <a:off x="5254942" y="179546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客户分群画像</a:t>
              </a:r>
            </a:p>
          </p:txBody>
        </p:sp>
        <p:sp>
          <p:nvSpPr>
            <p:cNvPr id="93" name="Rectangle 93"/>
            <p:cNvSpPr/>
            <p:nvPr/>
          </p:nvSpPr>
          <p:spPr>
            <a:xfrm>
              <a:off x="6038850" y="1685925"/>
              <a:ext cx="895350" cy="304800"/>
            </a:xfrm>
            <a:prstGeom prst="roundRect">
              <a:avLst>
                <a:gd name="adj" fmla="val 9375"/>
              </a:avLst>
            </a:prstGeom>
            <a:solidFill>
              <a:srgbClr val="FEF2E6"/>
            </a:solidFill>
            <a:ln w="9525">
              <a:solidFill>
                <a:srgbClr val="F0B8AE"/>
              </a:solidFill>
            </a:ln>
          </p:spPr>
        </p:sp>
        <p:sp>
          <p:nvSpPr>
            <p:cNvPr id="94" name="TextBox 94"/>
            <p:cNvSpPr txBox="1"/>
            <p:nvPr/>
          </p:nvSpPr>
          <p:spPr>
            <a:xfrm>
              <a:off x="6128385" y="1795462"/>
              <a:ext cx="71628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需求与偏好洞察</a:t>
              </a:r>
            </a:p>
          </p:txBody>
        </p:sp>
        <p:sp>
          <p:nvSpPr>
            <p:cNvPr id="95" name="Rectangle 95"/>
            <p:cNvSpPr/>
            <p:nvPr/>
          </p:nvSpPr>
          <p:spPr>
            <a:xfrm>
              <a:off x="6962775" y="1685925"/>
              <a:ext cx="895350" cy="304800"/>
            </a:xfrm>
            <a:prstGeom prst="roundRect">
              <a:avLst>
                <a:gd name="adj" fmla="val 9375"/>
              </a:avLst>
            </a:prstGeom>
            <a:solidFill>
              <a:srgbClr val="FEF2E6"/>
            </a:solidFill>
            <a:ln w="9525">
              <a:solidFill>
                <a:srgbClr val="F0B8AE"/>
              </a:solidFill>
            </a:ln>
          </p:spPr>
        </p:sp>
        <p:sp>
          <p:nvSpPr>
            <p:cNvPr id="96" name="TextBox 96"/>
            <p:cNvSpPr txBox="1"/>
            <p:nvPr/>
          </p:nvSpPr>
          <p:spPr>
            <a:xfrm>
              <a:off x="7102792" y="179546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价值潜力评估</a:t>
              </a:r>
            </a:p>
          </p:txBody>
        </p:sp>
        <p:sp>
          <p:nvSpPr>
            <p:cNvPr id="97" name="Rectangle 97"/>
            <p:cNvSpPr/>
            <p:nvPr/>
          </p:nvSpPr>
          <p:spPr>
            <a:xfrm>
              <a:off x="2971800" y="2095500"/>
              <a:ext cx="4895850" cy="438150"/>
            </a:xfrm>
            <a:prstGeom prst="roundRect">
              <a:avLst>
                <a:gd name="adj" fmla="val 8696"/>
              </a:avLst>
            </a:prstGeom>
            <a:solidFill>
              <a:srgbClr val="FFF8F2"/>
            </a:solidFill>
            <a:ln w="9525">
              <a:solidFill>
                <a:srgbClr val="F0B8AE"/>
              </a:solidFill>
            </a:ln>
          </p:spPr>
        </p:sp>
        <p:sp>
          <p:nvSpPr>
            <p:cNvPr id="98" name="Rectangle 98"/>
            <p:cNvSpPr/>
            <p:nvPr/>
          </p:nvSpPr>
          <p:spPr>
            <a:xfrm>
              <a:off x="3028950" y="2171700"/>
              <a:ext cx="266700" cy="285750"/>
            </a:xfrm>
            <a:prstGeom prst="roundRect">
              <a:avLst>
                <a:gd name="adj" fmla="val 10714"/>
              </a:avLst>
            </a:prstGeom>
            <a:solidFill>
              <a:srgbClr val="C41D00"/>
            </a:solidFill>
            <a:ln>
              <a:noFill/>
            </a:ln>
          </p:spPr>
        </p:sp>
        <p:sp>
          <p:nvSpPr>
            <p:cNvPr id="99" name="TextBox 99"/>
            <p:cNvSpPr txBox="1"/>
            <p:nvPr/>
          </p:nvSpPr>
          <p:spPr>
            <a:xfrm>
              <a:off x="3004971" y="2256949"/>
              <a:ext cx="31465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​02​</a:t>
              </a:r>
            </a:p>
          </p:txBody>
        </p:sp>
        <p:sp>
          <p:nvSpPr>
            <p:cNvPr id="100" name="TextBox 100"/>
            <p:cNvSpPr txBox="1"/>
            <p:nvPr/>
          </p:nvSpPr>
          <p:spPr>
            <a:xfrm>
              <a:off x="3367088" y="2192893"/>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客户策略</a:t>
              </a:r>
            </a:p>
          </p:txBody>
        </p:sp>
        <p:sp>
          <p:nvSpPr>
            <p:cNvPr id="101" name="TextBox 101"/>
            <p:cNvSpPr txBox="1"/>
            <p:nvPr/>
          </p:nvSpPr>
          <p:spPr>
            <a:xfrm>
              <a:off x="3367088" y="2361486"/>
              <a:ext cx="39184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分层经营</a:t>
              </a:r>
            </a:p>
          </p:txBody>
        </p:sp>
        <p:sp>
          <p:nvSpPr>
            <p:cNvPr id="102" name="Rectangle 102"/>
            <p:cNvSpPr/>
            <p:nvPr/>
          </p:nvSpPr>
          <p:spPr>
            <a:xfrm>
              <a:off x="4191000" y="2162175"/>
              <a:ext cx="895350" cy="304800"/>
            </a:xfrm>
            <a:prstGeom prst="roundRect">
              <a:avLst>
                <a:gd name="adj" fmla="val 9375"/>
              </a:avLst>
            </a:prstGeom>
            <a:solidFill>
              <a:srgbClr val="FEF2E6"/>
            </a:solidFill>
            <a:ln w="9525">
              <a:solidFill>
                <a:srgbClr val="F0B8AE"/>
              </a:solidFill>
            </a:ln>
          </p:spPr>
        </p:sp>
        <p:sp>
          <p:nvSpPr>
            <p:cNvPr id="103" name="TextBox 103"/>
            <p:cNvSpPr txBox="1"/>
            <p:nvPr/>
          </p:nvSpPr>
          <p:spPr>
            <a:xfrm>
              <a:off x="4176712" y="2205038"/>
              <a:ext cx="923925" cy="261938"/>
            </a:xfrm>
            <a:prstGeom prst="rect">
              <a:avLst/>
            </a:prstGeom>
            <a:noFill/>
            <a:ln>
              <a:noFill/>
            </a:ln>
          </p:spPr>
          <p:txBody>
            <a:bodyPr wrap="none" lIns="0" tIns="0" rIns="0" bIns="0" anchor="t" anchorCtr="0">
              <a:spAutoFit/>
            </a:bodyPr>
            <a:lstStyle/>
            <a:p>
              <a:pPr algn="ctr">
                <a:lnSpc>
                  <a:spcPts val="900"/>
                </a:lnSpc>
              </a:pPr>
              <a:r>
                <a:rPr lang="zh-CN" sz="750" dirty="0">
                  <a:solidFill>
                    <a:srgbClr val="3D3835"/>
                  </a:solidFill>
                  <a:latin typeface="+mn-lt"/>
                  <a:ea typeface="+mn-ea"/>
                  <a:cs typeface="+mn-cs"/>
                </a:rPr>
                <a:t>​​客户分层（RFM+​​</a:t>
              </a:r>
              <a:br/>
              <a:r>
                <a:rPr lang="zh-CN" sz="750" dirty="0">
                  <a:solidFill>
                    <a:srgbClr val="3D3835"/>
                  </a:solidFill>
                  <a:latin typeface="+mn-lt"/>
                  <a:ea typeface="+mn-ea"/>
                  <a:cs typeface="+mn-cs"/>
                </a:rPr>
                <a:t>​潜力+价值）​</a:t>
              </a:r>
            </a:p>
          </p:txBody>
        </p:sp>
        <p:sp>
          <p:nvSpPr>
            <p:cNvPr id="104" name="Rectangle 104"/>
            <p:cNvSpPr/>
            <p:nvPr/>
          </p:nvSpPr>
          <p:spPr>
            <a:xfrm>
              <a:off x="5114925" y="2162175"/>
              <a:ext cx="895350" cy="304800"/>
            </a:xfrm>
            <a:prstGeom prst="roundRect">
              <a:avLst>
                <a:gd name="adj" fmla="val 9375"/>
              </a:avLst>
            </a:prstGeom>
            <a:solidFill>
              <a:srgbClr val="FEF2E6"/>
            </a:solidFill>
            <a:ln w="9525">
              <a:solidFill>
                <a:srgbClr val="F0B8AE"/>
              </a:solidFill>
            </a:ln>
          </p:spPr>
        </p:sp>
        <p:sp>
          <p:nvSpPr>
            <p:cNvPr id="105" name="TextBox 105"/>
            <p:cNvSpPr txBox="1"/>
            <p:nvPr/>
          </p:nvSpPr>
          <p:spPr>
            <a:xfrm>
              <a:off x="5254942" y="227171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分层经营目标</a:t>
              </a:r>
            </a:p>
          </p:txBody>
        </p:sp>
        <p:sp>
          <p:nvSpPr>
            <p:cNvPr id="106" name="Rectangle 106"/>
            <p:cNvSpPr/>
            <p:nvPr/>
          </p:nvSpPr>
          <p:spPr>
            <a:xfrm>
              <a:off x="6038850" y="2162175"/>
              <a:ext cx="895350" cy="304800"/>
            </a:xfrm>
            <a:prstGeom prst="roundRect">
              <a:avLst>
                <a:gd name="adj" fmla="val 9375"/>
              </a:avLst>
            </a:prstGeom>
            <a:solidFill>
              <a:srgbClr val="FEF2E6"/>
            </a:solidFill>
            <a:ln w="9525">
              <a:solidFill>
                <a:srgbClr val="F0B8AE"/>
              </a:solidFill>
            </a:ln>
          </p:spPr>
        </p:sp>
        <p:sp>
          <p:nvSpPr>
            <p:cNvPr id="107" name="TextBox 107"/>
            <p:cNvSpPr txBox="1"/>
            <p:nvPr/>
          </p:nvSpPr>
          <p:spPr>
            <a:xfrm>
              <a:off x="6128385" y="2271712"/>
              <a:ext cx="71628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产品与权益策略</a:t>
              </a:r>
            </a:p>
          </p:txBody>
        </p:sp>
        <p:sp>
          <p:nvSpPr>
            <p:cNvPr id="108" name="Rectangle 108"/>
            <p:cNvSpPr/>
            <p:nvPr/>
          </p:nvSpPr>
          <p:spPr>
            <a:xfrm>
              <a:off x="6962775" y="2162175"/>
              <a:ext cx="895350" cy="304800"/>
            </a:xfrm>
            <a:prstGeom prst="roundRect">
              <a:avLst>
                <a:gd name="adj" fmla="val 9375"/>
              </a:avLst>
            </a:prstGeom>
            <a:solidFill>
              <a:srgbClr val="FEF2E6"/>
            </a:solidFill>
            <a:ln w="9525">
              <a:solidFill>
                <a:srgbClr val="F0B8AE"/>
              </a:solidFill>
            </a:ln>
          </p:spPr>
        </p:sp>
        <p:sp>
          <p:nvSpPr>
            <p:cNvPr id="109" name="TextBox 109"/>
            <p:cNvSpPr txBox="1"/>
            <p:nvPr/>
          </p:nvSpPr>
          <p:spPr>
            <a:xfrm>
              <a:off x="7102792" y="227171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资源配置策略</a:t>
              </a:r>
            </a:p>
          </p:txBody>
        </p:sp>
        <p:sp>
          <p:nvSpPr>
            <p:cNvPr id="110" name="Rectangle 110"/>
            <p:cNvSpPr/>
            <p:nvPr/>
          </p:nvSpPr>
          <p:spPr>
            <a:xfrm>
              <a:off x="2971800" y="2571750"/>
              <a:ext cx="4895850" cy="438150"/>
            </a:xfrm>
            <a:prstGeom prst="roundRect">
              <a:avLst>
                <a:gd name="adj" fmla="val 8696"/>
              </a:avLst>
            </a:prstGeom>
            <a:solidFill>
              <a:srgbClr val="FFF8F2"/>
            </a:solidFill>
            <a:ln w="9525">
              <a:solidFill>
                <a:srgbClr val="F0B8AE"/>
              </a:solidFill>
            </a:ln>
          </p:spPr>
        </p:sp>
        <p:sp>
          <p:nvSpPr>
            <p:cNvPr id="111" name="Rectangle 111"/>
            <p:cNvSpPr/>
            <p:nvPr/>
          </p:nvSpPr>
          <p:spPr>
            <a:xfrm>
              <a:off x="3028950" y="2647950"/>
              <a:ext cx="266700" cy="285750"/>
            </a:xfrm>
            <a:prstGeom prst="roundRect">
              <a:avLst>
                <a:gd name="adj" fmla="val 10714"/>
              </a:avLst>
            </a:prstGeom>
            <a:solidFill>
              <a:srgbClr val="D82000"/>
            </a:solidFill>
            <a:ln>
              <a:noFill/>
            </a:ln>
          </p:spPr>
        </p:sp>
        <p:sp>
          <p:nvSpPr>
            <p:cNvPr id="112" name="TextBox 112"/>
            <p:cNvSpPr txBox="1"/>
            <p:nvPr/>
          </p:nvSpPr>
          <p:spPr>
            <a:xfrm>
              <a:off x="3004971" y="2733199"/>
              <a:ext cx="31465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​03​</a:t>
              </a:r>
            </a:p>
          </p:txBody>
        </p:sp>
        <p:sp>
          <p:nvSpPr>
            <p:cNvPr id="113" name="TextBox 113"/>
            <p:cNvSpPr txBox="1"/>
            <p:nvPr/>
          </p:nvSpPr>
          <p:spPr>
            <a:xfrm>
              <a:off x="3367088" y="2669143"/>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旅程运营</a:t>
              </a:r>
            </a:p>
          </p:txBody>
        </p:sp>
        <p:sp>
          <p:nvSpPr>
            <p:cNvPr id="114" name="TextBox 114"/>
            <p:cNvSpPr txBox="1"/>
            <p:nvPr/>
          </p:nvSpPr>
          <p:spPr>
            <a:xfrm>
              <a:off x="3367088" y="2837736"/>
              <a:ext cx="67858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端到端旅程编排</a:t>
              </a:r>
            </a:p>
          </p:txBody>
        </p:sp>
        <p:sp>
          <p:nvSpPr>
            <p:cNvPr id="115" name="Rectangle 115"/>
            <p:cNvSpPr/>
            <p:nvPr/>
          </p:nvSpPr>
          <p:spPr>
            <a:xfrm>
              <a:off x="4191000" y="2638425"/>
              <a:ext cx="895350" cy="304800"/>
            </a:xfrm>
            <a:prstGeom prst="roundRect">
              <a:avLst>
                <a:gd name="adj" fmla="val 9375"/>
              </a:avLst>
            </a:prstGeom>
            <a:solidFill>
              <a:srgbClr val="FEF2E6"/>
            </a:solidFill>
            <a:ln w="9525">
              <a:solidFill>
                <a:srgbClr val="F0B8AE"/>
              </a:solidFill>
            </a:ln>
          </p:spPr>
        </p:sp>
        <p:sp>
          <p:nvSpPr>
            <p:cNvPr id="116" name="TextBox 116"/>
            <p:cNvSpPr txBox="1"/>
            <p:nvPr/>
          </p:nvSpPr>
          <p:spPr>
            <a:xfrm>
              <a:off x="4331018" y="274796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旅程地图设计</a:t>
              </a:r>
            </a:p>
          </p:txBody>
        </p:sp>
        <p:sp>
          <p:nvSpPr>
            <p:cNvPr id="117" name="Rectangle 117"/>
            <p:cNvSpPr/>
            <p:nvPr/>
          </p:nvSpPr>
          <p:spPr>
            <a:xfrm>
              <a:off x="5114925" y="2638425"/>
              <a:ext cx="895350" cy="304800"/>
            </a:xfrm>
            <a:prstGeom prst="roundRect">
              <a:avLst>
                <a:gd name="adj" fmla="val 9375"/>
              </a:avLst>
            </a:prstGeom>
            <a:solidFill>
              <a:srgbClr val="FEF2E6"/>
            </a:solidFill>
            <a:ln w="9525">
              <a:solidFill>
                <a:srgbClr val="F0B8AE"/>
              </a:solidFill>
            </a:ln>
          </p:spPr>
        </p:sp>
        <p:sp>
          <p:nvSpPr>
            <p:cNvPr id="118" name="TextBox 118"/>
            <p:cNvSpPr txBox="1"/>
            <p:nvPr/>
          </p:nvSpPr>
          <p:spPr>
            <a:xfrm>
              <a:off x="5254942" y="274796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关键触点运营</a:t>
              </a:r>
            </a:p>
          </p:txBody>
        </p:sp>
        <p:sp>
          <p:nvSpPr>
            <p:cNvPr id="119" name="Rectangle 119"/>
            <p:cNvSpPr/>
            <p:nvPr/>
          </p:nvSpPr>
          <p:spPr>
            <a:xfrm>
              <a:off x="6038850" y="2638425"/>
              <a:ext cx="895350" cy="304800"/>
            </a:xfrm>
            <a:prstGeom prst="roundRect">
              <a:avLst>
                <a:gd name="adj" fmla="val 9375"/>
              </a:avLst>
            </a:prstGeom>
            <a:solidFill>
              <a:srgbClr val="FEF2E6"/>
            </a:solidFill>
            <a:ln w="9525">
              <a:solidFill>
                <a:srgbClr val="F0B8AE"/>
              </a:solidFill>
            </a:ln>
          </p:spPr>
        </p:sp>
        <p:sp>
          <p:nvSpPr>
            <p:cNvPr id="120" name="TextBox 120"/>
            <p:cNvSpPr txBox="1"/>
            <p:nvPr/>
          </p:nvSpPr>
          <p:spPr>
            <a:xfrm>
              <a:off x="6128385" y="2747962"/>
              <a:ext cx="71628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任务与流程闭环</a:t>
              </a:r>
            </a:p>
          </p:txBody>
        </p:sp>
        <p:sp>
          <p:nvSpPr>
            <p:cNvPr id="121" name="Rectangle 121"/>
            <p:cNvSpPr/>
            <p:nvPr/>
          </p:nvSpPr>
          <p:spPr>
            <a:xfrm>
              <a:off x="6962775" y="2638425"/>
              <a:ext cx="895350" cy="304800"/>
            </a:xfrm>
            <a:prstGeom prst="roundRect">
              <a:avLst>
                <a:gd name="adj" fmla="val 9375"/>
              </a:avLst>
            </a:prstGeom>
            <a:solidFill>
              <a:srgbClr val="FEF2E6"/>
            </a:solidFill>
            <a:ln w="9525">
              <a:solidFill>
                <a:srgbClr val="F0B8AE"/>
              </a:solidFill>
            </a:ln>
          </p:spPr>
        </p:sp>
        <p:sp>
          <p:nvSpPr>
            <p:cNvPr id="122" name="TextBox 122"/>
            <p:cNvSpPr txBox="1"/>
            <p:nvPr/>
          </p:nvSpPr>
          <p:spPr>
            <a:xfrm>
              <a:off x="7102792" y="274796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旅程效果迭代</a:t>
              </a:r>
            </a:p>
          </p:txBody>
        </p:sp>
        <p:sp>
          <p:nvSpPr>
            <p:cNvPr id="123" name="Rectangle 123"/>
            <p:cNvSpPr/>
            <p:nvPr/>
          </p:nvSpPr>
          <p:spPr>
            <a:xfrm>
              <a:off x="2971800" y="3048000"/>
              <a:ext cx="4895850" cy="438150"/>
            </a:xfrm>
            <a:prstGeom prst="roundRect">
              <a:avLst>
                <a:gd name="adj" fmla="val 8696"/>
              </a:avLst>
            </a:prstGeom>
            <a:solidFill>
              <a:srgbClr val="FFF8F2"/>
            </a:solidFill>
            <a:ln w="9525">
              <a:solidFill>
                <a:srgbClr val="F0B8AE"/>
              </a:solidFill>
            </a:ln>
          </p:spPr>
        </p:sp>
        <p:sp>
          <p:nvSpPr>
            <p:cNvPr id="124" name="Rectangle 124"/>
            <p:cNvSpPr/>
            <p:nvPr/>
          </p:nvSpPr>
          <p:spPr>
            <a:xfrm>
              <a:off x="3028950" y="3124200"/>
              <a:ext cx="266700" cy="285750"/>
            </a:xfrm>
            <a:prstGeom prst="roundRect">
              <a:avLst>
                <a:gd name="adj" fmla="val 10714"/>
              </a:avLst>
            </a:prstGeom>
            <a:solidFill>
              <a:srgbClr val="E0371A"/>
            </a:solidFill>
            <a:ln>
              <a:noFill/>
            </a:ln>
          </p:spPr>
        </p:sp>
        <p:sp>
          <p:nvSpPr>
            <p:cNvPr id="125" name="TextBox 125"/>
            <p:cNvSpPr txBox="1"/>
            <p:nvPr/>
          </p:nvSpPr>
          <p:spPr>
            <a:xfrm>
              <a:off x="3004971" y="3209449"/>
              <a:ext cx="31465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​04​</a:t>
              </a:r>
            </a:p>
          </p:txBody>
        </p:sp>
        <p:sp>
          <p:nvSpPr>
            <p:cNvPr id="126" name="TextBox 126"/>
            <p:cNvSpPr txBox="1"/>
            <p:nvPr/>
          </p:nvSpPr>
          <p:spPr>
            <a:xfrm>
              <a:off x="3367088" y="3145393"/>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智能触达</a:t>
              </a:r>
            </a:p>
          </p:txBody>
        </p:sp>
        <p:sp>
          <p:nvSpPr>
            <p:cNvPr id="127" name="TextBox 127"/>
            <p:cNvSpPr txBox="1"/>
            <p:nvPr/>
          </p:nvSpPr>
          <p:spPr>
            <a:xfrm>
              <a:off x="3367088" y="3313986"/>
              <a:ext cx="39184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精准触达</a:t>
              </a:r>
            </a:p>
          </p:txBody>
        </p:sp>
        <p:sp>
          <p:nvSpPr>
            <p:cNvPr id="128" name="Rectangle 128"/>
            <p:cNvSpPr/>
            <p:nvPr/>
          </p:nvSpPr>
          <p:spPr>
            <a:xfrm>
              <a:off x="4191000" y="3114675"/>
              <a:ext cx="895350" cy="304800"/>
            </a:xfrm>
            <a:prstGeom prst="roundRect">
              <a:avLst>
                <a:gd name="adj" fmla="val 9375"/>
              </a:avLst>
            </a:prstGeom>
            <a:solidFill>
              <a:srgbClr val="FEF2E6"/>
            </a:solidFill>
            <a:ln w="9525">
              <a:solidFill>
                <a:srgbClr val="F0B8AE"/>
              </a:solidFill>
            </a:ln>
          </p:spPr>
        </p:sp>
        <p:sp>
          <p:nvSpPr>
            <p:cNvPr id="129" name="TextBox 129"/>
            <p:cNvSpPr txBox="1"/>
            <p:nvPr/>
          </p:nvSpPr>
          <p:spPr>
            <a:xfrm>
              <a:off x="4331018" y="322421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最佳触达时机</a:t>
              </a:r>
            </a:p>
          </p:txBody>
        </p:sp>
        <p:sp>
          <p:nvSpPr>
            <p:cNvPr id="130" name="Rectangle 130"/>
            <p:cNvSpPr/>
            <p:nvPr/>
          </p:nvSpPr>
          <p:spPr>
            <a:xfrm>
              <a:off x="5114925" y="3114675"/>
              <a:ext cx="895350" cy="304800"/>
            </a:xfrm>
            <a:prstGeom prst="roundRect">
              <a:avLst>
                <a:gd name="adj" fmla="val 9375"/>
              </a:avLst>
            </a:prstGeom>
            <a:solidFill>
              <a:srgbClr val="FEF2E6"/>
            </a:solidFill>
            <a:ln w="9525">
              <a:solidFill>
                <a:srgbClr val="F0B8AE"/>
              </a:solidFill>
            </a:ln>
          </p:spPr>
        </p:sp>
        <p:sp>
          <p:nvSpPr>
            <p:cNvPr id="131" name="TextBox 131"/>
            <p:cNvSpPr txBox="1"/>
            <p:nvPr/>
          </p:nvSpPr>
          <p:spPr>
            <a:xfrm>
              <a:off x="5254942" y="322421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最佳触达渠道</a:t>
              </a:r>
            </a:p>
          </p:txBody>
        </p:sp>
        <p:sp>
          <p:nvSpPr>
            <p:cNvPr id="132" name="Rectangle 132"/>
            <p:cNvSpPr/>
            <p:nvPr/>
          </p:nvSpPr>
          <p:spPr>
            <a:xfrm>
              <a:off x="6038850" y="3114675"/>
              <a:ext cx="895350" cy="304800"/>
            </a:xfrm>
            <a:prstGeom prst="roundRect">
              <a:avLst>
                <a:gd name="adj" fmla="val 9375"/>
              </a:avLst>
            </a:prstGeom>
            <a:solidFill>
              <a:srgbClr val="FEF2E6"/>
            </a:solidFill>
            <a:ln w="9525">
              <a:solidFill>
                <a:srgbClr val="F0B8AE"/>
              </a:solidFill>
            </a:ln>
          </p:spPr>
        </p:sp>
        <p:sp>
          <p:nvSpPr>
            <p:cNvPr id="133" name="TextBox 133"/>
            <p:cNvSpPr txBox="1"/>
            <p:nvPr/>
          </p:nvSpPr>
          <p:spPr>
            <a:xfrm>
              <a:off x="6128385" y="3224212"/>
              <a:ext cx="71628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个性化内容推荐</a:t>
              </a:r>
            </a:p>
          </p:txBody>
        </p:sp>
        <p:sp>
          <p:nvSpPr>
            <p:cNvPr id="134" name="Rectangle 134"/>
            <p:cNvSpPr/>
            <p:nvPr/>
          </p:nvSpPr>
          <p:spPr>
            <a:xfrm>
              <a:off x="6962775" y="3114675"/>
              <a:ext cx="895350" cy="304800"/>
            </a:xfrm>
            <a:prstGeom prst="roundRect">
              <a:avLst>
                <a:gd name="adj" fmla="val 9375"/>
              </a:avLst>
            </a:prstGeom>
            <a:solidFill>
              <a:srgbClr val="FEF2E6"/>
            </a:solidFill>
            <a:ln w="9525">
              <a:solidFill>
                <a:srgbClr val="F0B8AE"/>
              </a:solidFill>
            </a:ln>
          </p:spPr>
        </p:sp>
        <p:sp>
          <p:nvSpPr>
            <p:cNvPr id="135" name="TextBox 135"/>
            <p:cNvSpPr txBox="1"/>
            <p:nvPr/>
          </p:nvSpPr>
          <p:spPr>
            <a:xfrm>
              <a:off x="7052310" y="3224212"/>
              <a:ext cx="71628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全渠道协同编排</a:t>
              </a:r>
            </a:p>
          </p:txBody>
        </p:sp>
        <p:sp>
          <p:nvSpPr>
            <p:cNvPr id="136" name="Rectangle 136"/>
            <p:cNvSpPr/>
            <p:nvPr/>
          </p:nvSpPr>
          <p:spPr>
            <a:xfrm>
              <a:off x="2971800" y="3524250"/>
              <a:ext cx="4895850" cy="438150"/>
            </a:xfrm>
            <a:prstGeom prst="roundRect">
              <a:avLst>
                <a:gd name="adj" fmla="val 8696"/>
              </a:avLst>
            </a:prstGeom>
            <a:solidFill>
              <a:srgbClr val="FFF8F2"/>
            </a:solidFill>
            <a:ln w="9525">
              <a:solidFill>
                <a:srgbClr val="F0B8AE"/>
              </a:solidFill>
            </a:ln>
          </p:spPr>
        </p:sp>
        <p:sp>
          <p:nvSpPr>
            <p:cNvPr id="137" name="Rectangle 137"/>
            <p:cNvSpPr/>
            <p:nvPr/>
          </p:nvSpPr>
          <p:spPr>
            <a:xfrm>
              <a:off x="3028950" y="3600450"/>
              <a:ext cx="266700" cy="285750"/>
            </a:xfrm>
            <a:prstGeom prst="roundRect">
              <a:avLst>
                <a:gd name="adj" fmla="val 10714"/>
              </a:avLst>
            </a:prstGeom>
            <a:solidFill>
              <a:srgbClr val="EE492C"/>
            </a:solidFill>
            <a:ln>
              <a:noFill/>
            </a:ln>
          </p:spPr>
        </p:sp>
        <p:sp>
          <p:nvSpPr>
            <p:cNvPr id="138" name="TextBox 138"/>
            <p:cNvSpPr txBox="1"/>
            <p:nvPr/>
          </p:nvSpPr>
          <p:spPr>
            <a:xfrm>
              <a:off x="3004971" y="3685699"/>
              <a:ext cx="31465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​05​</a:t>
              </a:r>
            </a:p>
          </p:txBody>
        </p:sp>
        <p:sp>
          <p:nvSpPr>
            <p:cNvPr id="139" name="TextBox 139"/>
            <p:cNvSpPr txBox="1"/>
            <p:nvPr/>
          </p:nvSpPr>
          <p:spPr>
            <a:xfrm>
              <a:off x="3367088" y="3621643"/>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价值衡量</a:t>
              </a:r>
            </a:p>
          </p:txBody>
        </p:sp>
        <p:sp>
          <p:nvSpPr>
            <p:cNvPr id="140" name="TextBox 140"/>
            <p:cNvSpPr txBox="1"/>
            <p:nvPr/>
          </p:nvSpPr>
          <p:spPr>
            <a:xfrm>
              <a:off x="3367088" y="3790236"/>
              <a:ext cx="67858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持续度量与优化</a:t>
              </a:r>
            </a:p>
          </p:txBody>
        </p:sp>
        <p:sp>
          <p:nvSpPr>
            <p:cNvPr id="141" name="Rectangle 141"/>
            <p:cNvSpPr/>
            <p:nvPr/>
          </p:nvSpPr>
          <p:spPr>
            <a:xfrm>
              <a:off x="4191000" y="3590925"/>
              <a:ext cx="895350" cy="304800"/>
            </a:xfrm>
            <a:prstGeom prst="roundRect">
              <a:avLst>
                <a:gd name="adj" fmla="val 9375"/>
              </a:avLst>
            </a:prstGeom>
            <a:solidFill>
              <a:srgbClr val="FEF2E6"/>
            </a:solidFill>
            <a:ln w="9525">
              <a:solidFill>
                <a:srgbClr val="F0B8AE"/>
              </a:solidFill>
            </a:ln>
          </p:spPr>
        </p:sp>
        <p:sp>
          <p:nvSpPr>
            <p:cNvPr id="142" name="TextBox 142"/>
            <p:cNvSpPr txBox="1"/>
            <p:nvPr/>
          </p:nvSpPr>
          <p:spPr>
            <a:xfrm>
              <a:off x="4331018" y="370046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核心指标体系</a:t>
              </a:r>
            </a:p>
          </p:txBody>
        </p:sp>
        <p:sp>
          <p:nvSpPr>
            <p:cNvPr id="143" name="Rectangle 143"/>
            <p:cNvSpPr/>
            <p:nvPr/>
          </p:nvSpPr>
          <p:spPr>
            <a:xfrm>
              <a:off x="5114925" y="3590925"/>
              <a:ext cx="895350" cy="304800"/>
            </a:xfrm>
            <a:prstGeom prst="roundRect">
              <a:avLst>
                <a:gd name="adj" fmla="val 9375"/>
              </a:avLst>
            </a:prstGeom>
            <a:solidFill>
              <a:srgbClr val="FEF2E6"/>
            </a:solidFill>
            <a:ln w="9525">
              <a:solidFill>
                <a:srgbClr val="F0B8AE"/>
              </a:solidFill>
            </a:ln>
          </p:spPr>
        </p:sp>
        <p:sp>
          <p:nvSpPr>
            <p:cNvPr id="144" name="TextBox 144"/>
            <p:cNvSpPr txBox="1"/>
            <p:nvPr/>
          </p:nvSpPr>
          <p:spPr>
            <a:xfrm>
              <a:off x="5204460" y="3700462"/>
              <a:ext cx="71628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归因与效果度量</a:t>
              </a:r>
            </a:p>
          </p:txBody>
        </p:sp>
        <p:sp>
          <p:nvSpPr>
            <p:cNvPr id="145" name="Rectangle 145"/>
            <p:cNvSpPr/>
            <p:nvPr/>
          </p:nvSpPr>
          <p:spPr>
            <a:xfrm>
              <a:off x="6038850" y="3590925"/>
              <a:ext cx="895350" cy="304800"/>
            </a:xfrm>
            <a:prstGeom prst="roundRect">
              <a:avLst>
                <a:gd name="adj" fmla="val 9375"/>
              </a:avLst>
            </a:prstGeom>
            <a:solidFill>
              <a:srgbClr val="FEF2E6"/>
            </a:solidFill>
            <a:ln w="9525">
              <a:solidFill>
                <a:srgbClr val="F0B8AE"/>
              </a:solidFill>
            </a:ln>
          </p:spPr>
        </p:sp>
        <p:sp>
          <p:nvSpPr>
            <p:cNvPr id="146" name="TextBox 146"/>
            <p:cNvSpPr txBox="1"/>
            <p:nvPr/>
          </p:nvSpPr>
          <p:spPr>
            <a:xfrm>
              <a:off x="6128385" y="3700462"/>
              <a:ext cx="71628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价值评估与预测</a:t>
              </a:r>
            </a:p>
          </p:txBody>
        </p:sp>
        <p:sp>
          <p:nvSpPr>
            <p:cNvPr id="147" name="Rectangle 147"/>
            <p:cNvSpPr/>
            <p:nvPr/>
          </p:nvSpPr>
          <p:spPr>
            <a:xfrm>
              <a:off x="6962775" y="3590925"/>
              <a:ext cx="895350" cy="304800"/>
            </a:xfrm>
            <a:prstGeom prst="roundRect">
              <a:avLst>
                <a:gd name="adj" fmla="val 9375"/>
              </a:avLst>
            </a:prstGeom>
            <a:solidFill>
              <a:srgbClr val="FEF2E6"/>
            </a:solidFill>
            <a:ln w="9525">
              <a:solidFill>
                <a:srgbClr val="F0B8AE"/>
              </a:solidFill>
            </a:ln>
          </p:spPr>
        </p:sp>
        <p:sp>
          <p:nvSpPr>
            <p:cNvPr id="148" name="TextBox 148"/>
            <p:cNvSpPr txBox="1"/>
            <p:nvPr/>
          </p:nvSpPr>
          <p:spPr>
            <a:xfrm>
              <a:off x="7102792" y="3700462"/>
              <a:ext cx="615315"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闭环优化机制</a:t>
              </a:r>
            </a:p>
          </p:txBody>
        </p:sp>
      </p:grpSp>
      <p:grpSp>
        <p:nvGrpSpPr>
          <p:cNvPr id="193" name="effect-table"/>
          <p:cNvGrpSpPr/>
          <p:nvPr/>
        </p:nvGrpSpPr>
        <p:grpSpPr>
          <a:xfrm>
            <a:off x="7943850" y="1295400"/>
            <a:ext cx="3867150" cy="2686050"/>
            <a:chOff x="7943850" y="1295400"/>
            <a:chExt cx="3867150" cy="2686050"/>
          </a:xfrm>
        </p:grpSpPr>
        <p:sp>
          <p:nvSpPr>
            <p:cNvPr id="150" name="Rectangle 150"/>
            <p:cNvSpPr/>
            <p:nvPr/>
          </p:nvSpPr>
          <p:spPr>
            <a:xfrm>
              <a:off x="7943850" y="1295400"/>
              <a:ext cx="3867150" cy="228600"/>
            </a:xfrm>
            <a:prstGeom prst="roundRect">
              <a:avLst>
                <a:gd name="adj" fmla="val 12500"/>
              </a:avLst>
            </a:prstGeom>
            <a:solidFill>
              <a:srgbClr val="C41D00"/>
            </a:solidFill>
            <a:ln>
              <a:noFill/>
            </a:ln>
          </p:spPr>
        </p:sp>
        <p:sp>
          <p:nvSpPr>
            <p:cNvPr id="151" name="TextBox 151"/>
            <p:cNvSpPr txBox="1"/>
            <p:nvPr/>
          </p:nvSpPr>
          <p:spPr>
            <a:xfrm>
              <a:off x="9320145" y="1356122"/>
              <a:ext cx="111456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​目标成效（3年）​</a:t>
              </a:r>
            </a:p>
          </p:txBody>
        </p:sp>
        <p:sp>
          <p:nvSpPr>
            <p:cNvPr id="152" name="Rectangle 152"/>
            <p:cNvSpPr/>
            <p:nvPr/>
          </p:nvSpPr>
          <p:spPr>
            <a:xfrm>
              <a:off x="7943850" y="1562100"/>
              <a:ext cx="3867150" cy="2419350"/>
            </a:xfrm>
            <a:prstGeom prst="rect">
              <a:avLst/>
            </a:prstGeom>
            <a:solidFill>
              <a:srgbClr val="FFF8F2"/>
            </a:solidFill>
            <a:ln w="9525">
              <a:solidFill>
                <a:srgbClr val="F0B8AE"/>
              </a:solidFill>
            </a:ln>
          </p:spPr>
        </p:sp>
        <p:sp>
          <p:nvSpPr>
            <p:cNvPr id="153" name="TextBox 153"/>
            <p:cNvSpPr txBox="1"/>
            <p:nvPr/>
          </p:nvSpPr>
          <p:spPr>
            <a:xfrm>
              <a:off x="8015288" y="1610439"/>
              <a:ext cx="222225" cy="154781"/>
            </a:xfrm>
            <a:prstGeom prst="rect">
              <a:avLst/>
            </a:prstGeom>
            <a:noFill/>
            <a:ln>
              <a:noFill/>
            </a:ln>
          </p:spPr>
          <p:txBody>
            <a:bodyPr wrap="none" lIns="0" tIns="0" rIns="0" bIns="0" anchor="t" anchorCtr="0">
              <a:spAutoFit/>
            </a:bodyPr>
            <a:lstStyle/>
            <a:p>
              <a:pPr algn="l"/>
              <a:r>
                <a:rPr lang="zh-CN" sz="790" b="1" dirty="0">
                  <a:solidFill>
                    <a:srgbClr val="8F1C08"/>
                  </a:solidFill>
                  <a:latin typeface="+mn-lt"/>
                  <a:ea typeface="+mn-ea"/>
                  <a:cs typeface="+mn-cs"/>
                </a:rPr>
                <a:t>指标</a:t>
              </a:r>
            </a:p>
          </p:txBody>
        </p:sp>
        <p:sp>
          <p:nvSpPr>
            <p:cNvPr id="154" name="TextBox 154"/>
            <p:cNvSpPr txBox="1"/>
            <p:nvPr/>
          </p:nvSpPr>
          <p:spPr>
            <a:xfrm>
              <a:off x="9288361" y="1610439"/>
              <a:ext cx="378027" cy="154781"/>
            </a:xfrm>
            <a:prstGeom prst="rect">
              <a:avLst/>
            </a:prstGeom>
            <a:noFill/>
            <a:ln>
              <a:noFill/>
            </a:ln>
          </p:spPr>
          <p:txBody>
            <a:bodyPr wrap="none" lIns="0" tIns="0" rIns="0" bIns="0" anchor="t" anchorCtr="0">
              <a:spAutoFit/>
            </a:bodyPr>
            <a:lstStyle/>
            <a:p>
              <a:pPr algn="ctr"/>
              <a:r>
                <a:rPr lang="zh-CN" sz="790" b="1" dirty="0">
                  <a:solidFill>
                    <a:srgbClr val="8F1C08"/>
                  </a:solidFill>
                  <a:latin typeface="+mn-lt"/>
                  <a:ea typeface="+mn-ea"/>
                  <a:cs typeface="+mn-cs"/>
                </a:rPr>
                <a:t>​2024​</a:t>
              </a:r>
            </a:p>
          </p:txBody>
        </p:sp>
        <p:sp>
          <p:nvSpPr>
            <p:cNvPr id="155" name="TextBox 155"/>
            <p:cNvSpPr txBox="1"/>
            <p:nvPr/>
          </p:nvSpPr>
          <p:spPr>
            <a:xfrm>
              <a:off x="10117036" y="1610439"/>
              <a:ext cx="378027" cy="154781"/>
            </a:xfrm>
            <a:prstGeom prst="rect">
              <a:avLst/>
            </a:prstGeom>
            <a:noFill/>
            <a:ln>
              <a:noFill/>
            </a:ln>
          </p:spPr>
          <p:txBody>
            <a:bodyPr wrap="none" lIns="0" tIns="0" rIns="0" bIns="0" anchor="t" anchorCtr="0">
              <a:spAutoFit/>
            </a:bodyPr>
            <a:lstStyle/>
            <a:p>
              <a:pPr algn="ctr"/>
              <a:r>
                <a:rPr lang="zh-CN" sz="790" b="1" dirty="0">
                  <a:solidFill>
                    <a:srgbClr val="8F1C08"/>
                  </a:solidFill>
                  <a:latin typeface="+mn-lt"/>
                  <a:ea typeface="+mn-ea"/>
                  <a:cs typeface="+mn-cs"/>
                </a:rPr>
                <a:t>​2027​</a:t>
              </a:r>
            </a:p>
          </p:txBody>
        </p:sp>
        <p:sp>
          <p:nvSpPr>
            <p:cNvPr id="156" name="TextBox 156"/>
            <p:cNvSpPr txBox="1"/>
            <p:nvPr/>
          </p:nvSpPr>
          <p:spPr>
            <a:xfrm>
              <a:off x="11128388" y="1610439"/>
              <a:ext cx="222225" cy="154781"/>
            </a:xfrm>
            <a:prstGeom prst="rect">
              <a:avLst/>
            </a:prstGeom>
            <a:noFill/>
            <a:ln>
              <a:noFill/>
            </a:ln>
          </p:spPr>
          <p:txBody>
            <a:bodyPr wrap="none" lIns="0" tIns="0" rIns="0" bIns="0" anchor="t" anchorCtr="0">
              <a:spAutoFit/>
            </a:bodyPr>
            <a:lstStyle/>
            <a:p>
              <a:pPr algn="ctr"/>
              <a:r>
                <a:rPr lang="zh-CN" sz="790" b="1" dirty="0">
                  <a:solidFill>
                    <a:srgbClr val="8F1C08"/>
                  </a:solidFill>
                  <a:latin typeface="+mn-lt"/>
                  <a:ea typeface="+mn-ea"/>
                  <a:cs typeface="+mn-cs"/>
                </a:rPr>
                <a:t>提升</a:t>
              </a:r>
            </a:p>
          </p:txBody>
        </p:sp>
        <p:sp>
          <p:nvSpPr>
            <p:cNvPr id="157" name="Line 157"/>
            <p:cNvSpPr/>
            <p:nvPr/>
          </p:nvSpPr>
          <p:spPr>
            <a:xfrm>
              <a:off x="7943850" y="1771650"/>
              <a:ext cx="3867150" cy="9525"/>
            </a:xfrm>
            <a:custGeom>
              <a:avLst/>
              <a:gdLst/>
              <a:ahLst/>
              <a:cxnLst/>
              <a:rect l="l" t="t" r="r" b="b"/>
              <a:pathLst>
                <a:path w="3867150" h="9525">
                  <a:moveTo>
                    <a:pt x="0" y="0"/>
                  </a:moveTo>
                  <a:lnTo>
                    <a:pt x="3867150" y="0"/>
                  </a:lnTo>
                </a:path>
              </a:pathLst>
            </a:custGeom>
            <a:noFill/>
            <a:ln w="9525">
              <a:solidFill>
                <a:srgbClr val="F0B8AE"/>
              </a:solidFill>
            </a:ln>
          </p:spPr>
        </p:sp>
        <p:sp>
          <p:nvSpPr>
            <p:cNvPr id="158" name="TextBox 158"/>
            <p:cNvSpPr txBox="1"/>
            <p:nvPr/>
          </p:nvSpPr>
          <p:spPr>
            <a:xfrm>
              <a:off x="8015288" y="1905714"/>
              <a:ext cx="860323"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零售客户（万户）</a:t>
              </a:r>
            </a:p>
          </p:txBody>
        </p:sp>
        <p:sp>
          <p:nvSpPr>
            <p:cNvPr id="159" name="TextBox 159"/>
            <p:cNvSpPr txBox="1"/>
            <p:nvPr/>
          </p:nvSpPr>
          <p:spPr>
            <a:xfrm>
              <a:off x="9239383" y="1893570"/>
              <a:ext cx="475983" cy="176212"/>
            </a:xfrm>
            <a:prstGeom prst="rect">
              <a:avLst/>
            </a:prstGeom>
            <a:noFill/>
            <a:ln>
              <a:noFill/>
            </a:ln>
          </p:spPr>
          <p:txBody>
            <a:bodyPr wrap="none" lIns="0" tIns="0" rIns="0" bIns="0" anchor="t" anchorCtr="0">
              <a:spAutoFit/>
            </a:bodyPr>
            <a:lstStyle/>
            <a:p>
              <a:pPr algn="ctr"/>
              <a:r>
                <a:rPr lang="zh-CN" sz="900" dirty="0">
                  <a:solidFill>
                    <a:srgbClr val="7A716B"/>
                  </a:solidFill>
                  <a:latin typeface="+mn-lt"/>
                  <a:ea typeface="+mn-ea"/>
                  <a:cs typeface="+mn-cs"/>
                </a:rPr>
                <a:t>​2,860​</a:t>
              </a:r>
            </a:p>
          </p:txBody>
        </p:sp>
        <p:sp>
          <p:nvSpPr>
            <p:cNvPr id="160" name="TextBox 160"/>
            <p:cNvSpPr txBox="1"/>
            <p:nvPr/>
          </p:nvSpPr>
          <p:spPr>
            <a:xfrm>
              <a:off x="9638717" y="1901666"/>
              <a:ext cx="191666" cy="161925"/>
            </a:xfrm>
            <a:prstGeom prst="rect">
              <a:avLst/>
            </a:prstGeom>
            <a:noFill/>
            <a:ln>
              <a:noFill/>
            </a:ln>
          </p:spPr>
          <p:txBody>
            <a:bodyPr wrap="none" lIns="0" tIns="0" rIns="0" bIns="0" anchor="t" anchorCtr="0">
              <a:spAutoFit/>
            </a:bodyPr>
            <a:lstStyle/>
            <a:p>
              <a:pPr algn="ctr"/>
              <a:r>
                <a:rPr lang="zh-CN" sz="820" dirty="0">
                  <a:solidFill>
                    <a:srgbClr val="B0A79F"/>
                  </a:solidFill>
                  <a:latin typeface="+mn-lt"/>
                  <a:ea typeface="+mn-ea"/>
                  <a:cs typeface="+mn-cs"/>
                </a:rPr>
                <a:t>​→​</a:t>
              </a:r>
            </a:p>
          </p:txBody>
        </p:sp>
        <p:sp>
          <p:nvSpPr>
            <p:cNvPr id="161" name="TextBox 161"/>
            <p:cNvSpPr txBox="1"/>
            <p:nvPr/>
          </p:nvSpPr>
          <p:spPr>
            <a:xfrm>
              <a:off x="10026085" y="1881426"/>
              <a:ext cx="559930" cy="198025"/>
            </a:xfrm>
            <a:prstGeom prst="rect">
              <a:avLst/>
            </a:prstGeom>
            <a:noFill/>
            <a:ln>
              <a:noFill/>
            </a:ln>
          </p:spPr>
          <p:txBody>
            <a:bodyPr wrap="none" lIns="0" tIns="0" rIns="0" bIns="0" anchor="t" anchorCtr="0">
              <a:spAutoFit/>
            </a:bodyPr>
            <a:lstStyle/>
            <a:p>
              <a:pPr algn="ctr"/>
              <a:r>
                <a:rPr lang="zh-CN" sz="1010" b="1" dirty="0">
                  <a:solidFill>
                    <a:srgbClr val="C41D00"/>
                  </a:solidFill>
                  <a:latin typeface="+mn-lt"/>
                  <a:ea typeface="+mn-ea"/>
                  <a:cs typeface="+mn-cs"/>
                </a:rPr>
                <a:t>​4,200​</a:t>
              </a:r>
            </a:p>
          </p:txBody>
        </p:sp>
        <p:sp>
          <p:nvSpPr>
            <p:cNvPr id="162" name="TextBox 162"/>
            <p:cNvSpPr txBox="1"/>
            <p:nvPr/>
          </p:nvSpPr>
          <p:spPr>
            <a:xfrm>
              <a:off x="11022004" y="1897618"/>
              <a:ext cx="434992" cy="169069"/>
            </a:xfrm>
            <a:prstGeom prst="rect">
              <a:avLst/>
            </a:prstGeom>
            <a:noFill/>
            <a:ln>
              <a:noFill/>
            </a:ln>
          </p:spPr>
          <p:txBody>
            <a:bodyPr wrap="none" lIns="0" tIns="0" rIns="0" bIns="0" anchor="t" anchorCtr="0">
              <a:spAutoFit/>
            </a:bodyPr>
            <a:lstStyle/>
            <a:p>
              <a:pPr algn="ctr"/>
              <a:r>
                <a:rPr lang="zh-CN" sz="860" b="1" dirty="0">
                  <a:solidFill>
                    <a:srgbClr val="EE492C"/>
                  </a:solidFill>
                  <a:latin typeface="+mn-lt"/>
                  <a:ea typeface="+mn-ea"/>
                  <a:cs typeface="+mn-cs"/>
                </a:rPr>
                <a:t>​+47%​</a:t>
              </a:r>
            </a:p>
          </p:txBody>
        </p:sp>
        <p:sp>
          <p:nvSpPr>
            <p:cNvPr id="163" name="Line 163"/>
            <p:cNvSpPr/>
            <p:nvPr/>
          </p:nvSpPr>
          <p:spPr>
            <a:xfrm>
              <a:off x="7943850" y="2133600"/>
              <a:ext cx="3867150" cy="9525"/>
            </a:xfrm>
            <a:custGeom>
              <a:avLst/>
              <a:gdLst/>
              <a:ahLst/>
              <a:cxnLst/>
              <a:rect l="l" t="t" r="r" b="b"/>
              <a:pathLst>
                <a:path w="3867150" h="9525">
                  <a:moveTo>
                    <a:pt x="0" y="0"/>
                  </a:moveTo>
                  <a:lnTo>
                    <a:pt x="3867150" y="0"/>
                  </a:lnTo>
                </a:path>
              </a:pathLst>
            </a:custGeom>
            <a:noFill/>
            <a:ln w="9525">
              <a:solidFill>
                <a:srgbClr val="EADBCE"/>
              </a:solidFill>
            </a:ln>
          </p:spPr>
        </p:sp>
        <p:sp>
          <p:nvSpPr>
            <p:cNvPr id="164" name="TextBox 164"/>
            <p:cNvSpPr txBox="1"/>
            <p:nvPr/>
          </p:nvSpPr>
          <p:spPr>
            <a:xfrm>
              <a:off x="8015288" y="2267664"/>
              <a:ext cx="328574"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月活率</a:t>
              </a:r>
            </a:p>
          </p:txBody>
        </p:sp>
        <p:sp>
          <p:nvSpPr>
            <p:cNvPr id="165" name="TextBox 165"/>
            <p:cNvSpPr txBox="1"/>
            <p:nvPr/>
          </p:nvSpPr>
          <p:spPr>
            <a:xfrm>
              <a:off x="9293904" y="2255520"/>
              <a:ext cx="366941" cy="176212"/>
            </a:xfrm>
            <a:prstGeom prst="rect">
              <a:avLst/>
            </a:prstGeom>
            <a:noFill/>
            <a:ln>
              <a:noFill/>
            </a:ln>
          </p:spPr>
          <p:txBody>
            <a:bodyPr wrap="none" lIns="0" tIns="0" rIns="0" bIns="0" anchor="t" anchorCtr="0">
              <a:spAutoFit/>
            </a:bodyPr>
            <a:lstStyle/>
            <a:p>
              <a:pPr algn="ctr"/>
              <a:r>
                <a:rPr lang="zh-CN" sz="900" dirty="0">
                  <a:solidFill>
                    <a:srgbClr val="7A716B"/>
                  </a:solidFill>
                  <a:latin typeface="+mn-lt"/>
                  <a:ea typeface="+mn-ea"/>
                  <a:cs typeface="+mn-cs"/>
                </a:rPr>
                <a:t>​42%​</a:t>
              </a:r>
            </a:p>
          </p:txBody>
        </p:sp>
        <p:sp>
          <p:nvSpPr>
            <p:cNvPr id="166" name="TextBox 166"/>
            <p:cNvSpPr txBox="1"/>
            <p:nvPr/>
          </p:nvSpPr>
          <p:spPr>
            <a:xfrm>
              <a:off x="9638717" y="2263616"/>
              <a:ext cx="191666" cy="161925"/>
            </a:xfrm>
            <a:prstGeom prst="rect">
              <a:avLst/>
            </a:prstGeom>
            <a:noFill/>
            <a:ln>
              <a:noFill/>
            </a:ln>
          </p:spPr>
          <p:txBody>
            <a:bodyPr wrap="none" lIns="0" tIns="0" rIns="0" bIns="0" anchor="t" anchorCtr="0">
              <a:spAutoFit/>
            </a:bodyPr>
            <a:lstStyle/>
            <a:p>
              <a:pPr algn="ctr"/>
              <a:r>
                <a:rPr lang="zh-CN" sz="820" dirty="0">
                  <a:solidFill>
                    <a:srgbClr val="B0A79F"/>
                  </a:solidFill>
                  <a:latin typeface="+mn-lt"/>
                  <a:ea typeface="+mn-ea"/>
                  <a:cs typeface="+mn-cs"/>
                </a:rPr>
                <a:t>​→​</a:t>
              </a:r>
            </a:p>
          </p:txBody>
        </p:sp>
        <p:sp>
          <p:nvSpPr>
            <p:cNvPr id="167" name="TextBox 167"/>
            <p:cNvSpPr txBox="1"/>
            <p:nvPr/>
          </p:nvSpPr>
          <p:spPr>
            <a:xfrm>
              <a:off x="10090329" y="2243376"/>
              <a:ext cx="431442" cy="198025"/>
            </a:xfrm>
            <a:prstGeom prst="rect">
              <a:avLst/>
            </a:prstGeom>
            <a:noFill/>
            <a:ln>
              <a:noFill/>
            </a:ln>
          </p:spPr>
          <p:txBody>
            <a:bodyPr wrap="none" lIns="0" tIns="0" rIns="0" bIns="0" anchor="t" anchorCtr="0">
              <a:spAutoFit/>
            </a:bodyPr>
            <a:lstStyle/>
            <a:p>
              <a:pPr algn="ctr"/>
              <a:r>
                <a:rPr lang="zh-CN" sz="1010" b="1" dirty="0">
                  <a:solidFill>
                    <a:srgbClr val="C41D00"/>
                  </a:solidFill>
                  <a:latin typeface="+mn-lt"/>
                  <a:ea typeface="+mn-ea"/>
                  <a:cs typeface="+mn-cs"/>
                </a:rPr>
                <a:t>​60%​</a:t>
              </a:r>
            </a:p>
          </p:txBody>
        </p:sp>
        <p:sp>
          <p:nvSpPr>
            <p:cNvPr id="168" name="TextBox 168"/>
            <p:cNvSpPr txBox="1"/>
            <p:nvPr/>
          </p:nvSpPr>
          <p:spPr>
            <a:xfrm>
              <a:off x="11000731" y="2259568"/>
              <a:ext cx="477538" cy="169069"/>
            </a:xfrm>
            <a:prstGeom prst="rect">
              <a:avLst/>
            </a:prstGeom>
            <a:noFill/>
            <a:ln>
              <a:noFill/>
            </a:ln>
          </p:spPr>
          <p:txBody>
            <a:bodyPr wrap="none" lIns="0" tIns="0" rIns="0" bIns="0" anchor="t" anchorCtr="0">
              <a:spAutoFit/>
            </a:bodyPr>
            <a:lstStyle/>
            <a:p>
              <a:pPr algn="ctr"/>
              <a:r>
                <a:rPr lang="en-US" sz="860" b="1" dirty="0">
                  <a:solidFill>
                    <a:srgbClr val="EE492C"/>
                  </a:solidFill>
                  <a:latin typeface="+mn-lt"/>
                  <a:ea typeface="+mn-ea"/>
                  <a:cs typeface="+mn-cs"/>
                </a:rPr>
                <a:t>​+18pp​</a:t>
              </a:r>
            </a:p>
          </p:txBody>
        </p:sp>
        <p:sp>
          <p:nvSpPr>
            <p:cNvPr id="169" name="Line 169"/>
            <p:cNvSpPr/>
            <p:nvPr/>
          </p:nvSpPr>
          <p:spPr>
            <a:xfrm>
              <a:off x="7943850" y="2495550"/>
              <a:ext cx="3867150" cy="9525"/>
            </a:xfrm>
            <a:custGeom>
              <a:avLst/>
              <a:gdLst/>
              <a:ahLst/>
              <a:cxnLst/>
              <a:rect l="l" t="t" r="r" b="b"/>
              <a:pathLst>
                <a:path w="3867150" h="9525">
                  <a:moveTo>
                    <a:pt x="0" y="0"/>
                  </a:moveTo>
                  <a:lnTo>
                    <a:pt x="3867150" y="0"/>
                  </a:lnTo>
                </a:path>
              </a:pathLst>
            </a:custGeom>
            <a:noFill/>
            <a:ln w="9525">
              <a:solidFill>
                <a:srgbClr val="EADBCE"/>
              </a:solidFill>
            </a:ln>
          </p:spPr>
        </p:sp>
        <p:sp>
          <p:nvSpPr>
            <p:cNvPr id="170" name="TextBox 170"/>
            <p:cNvSpPr txBox="1"/>
            <p:nvPr/>
          </p:nvSpPr>
          <p:spPr>
            <a:xfrm>
              <a:off x="8015288" y="2629614"/>
              <a:ext cx="818285"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AUM（亿元）​​​</a:t>
              </a:r>
            </a:p>
          </p:txBody>
        </p:sp>
        <p:sp>
          <p:nvSpPr>
            <p:cNvPr id="171" name="TextBox 171"/>
            <p:cNvSpPr txBox="1"/>
            <p:nvPr/>
          </p:nvSpPr>
          <p:spPr>
            <a:xfrm>
              <a:off x="9239383" y="2617470"/>
              <a:ext cx="475983" cy="176212"/>
            </a:xfrm>
            <a:prstGeom prst="rect">
              <a:avLst/>
            </a:prstGeom>
            <a:noFill/>
            <a:ln>
              <a:noFill/>
            </a:ln>
          </p:spPr>
          <p:txBody>
            <a:bodyPr wrap="none" lIns="0" tIns="0" rIns="0" bIns="0" anchor="t" anchorCtr="0">
              <a:spAutoFit/>
            </a:bodyPr>
            <a:lstStyle/>
            <a:p>
              <a:pPr algn="ctr"/>
              <a:r>
                <a:rPr lang="zh-CN" sz="900" dirty="0">
                  <a:solidFill>
                    <a:srgbClr val="7A716B"/>
                  </a:solidFill>
                  <a:latin typeface="+mn-lt"/>
                  <a:ea typeface="+mn-ea"/>
                  <a:cs typeface="+mn-cs"/>
                </a:rPr>
                <a:t>​6,480​</a:t>
              </a:r>
            </a:p>
          </p:txBody>
        </p:sp>
        <p:sp>
          <p:nvSpPr>
            <p:cNvPr id="172" name="TextBox 172"/>
            <p:cNvSpPr txBox="1"/>
            <p:nvPr/>
          </p:nvSpPr>
          <p:spPr>
            <a:xfrm>
              <a:off x="9638717" y="2625566"/>
              <a:ext cx="191666" cy="161925"/>
            </a:xfrm>
            <a:prstGeom prst="rect">
              <a:avLst/>
            </a:prstGeom>
            <a:noFill/>
            <a:ln>
              <a:noFill/>
            </a:ln>
          </p:spPr>
          <p:txBody>
            <a:bodyPr wrap="none" lIns="0" tIns="0" rIns="0" bIns="0" anchor="t" anchorCtr="0">
              <a:spAutoFit/>
            </a:bodyPr>
            <a:lstStyle/>
            <a:p>
              <a:pPr algn="ctr"/>
              <a:r>
                <a:rPr lang="zh-CN" sz="820" dirty="0">
                  <a:solidFill>
                    <a:srgbClr val="B0A79F"/>
                  </a:solidFill>
                  <a:latin typeface="+mn-lt"/>
                  <a:ea typeface="+mn-ea"/>
                  <a:cs typeface="+mn-cs"/>
                </a:rPr>
                <a:t>​→​</a:t>
              </a:r>
            </a:p>
          </p:txBody>
        </p:sp>
        <p:sp>
          <p:nvSpPr>
            <p:cNvPr id="173" name="TextBox 173"/>
            <p:cNvSpPr txBox="1"/>
            <p:nvPr/>
          </p:nvSpPr>
          <p:spPr>
            <a:xfrm>
              <a:off x="9986825" y="2605326"/>
              <a:ext cx="638451" cy="198025"/>
            </a:xfrm>
            <a:prstGeom prst="rect">
              <a:avLst/>
            </a:prstGeom>
            <a:noFill/>
            <a:ln>
              <a:noFill/>
            </a:ln>
          </p:spPr>
          <p:txBody>
            <a:bodyPr wrap="none" lIns="0" tIns="0" rIns="0" bIns="0" anchor="t" anchorCtr="0">
              <a:spAutoFit/>
            </a:bodyPr>
            <a:lstStyle/>
            <a:p>
              <a:pPr algn="ctr"/>
              <a:r>
                <a:rPr lang="zh-CN" sz="1010" b="1" dirty="0">
                  <a:solidFill>
                    <a:srgbClr val="C41D00"/>
                  </a:solidFill>
                  <a:latin typeface="+mn-lt"/>
                  <a:ea typeface="+mn-ea"/>
                  <a:cs typeface="+mn-cs"/>
                </a:rPr>
                <a:t>​10,000​</a:t>
              </a:r>
            </a:p>
          </p:txBody>
        </p:sp>
        <p:sp>
          <p:nvSpPr>
            <p:cNvPr id="174" name="TextBox 174"/>
            <p:cNvSpPr txBox="1"/>
            <p:nvPr/>
          </p:nvSpPr>
          <p:spPr>
            <a:xfrm>
              <a:off x="11022004" y="2621518"/>
              <a:ext cx="434992" cy="169069"/>
            </a:xfrm>
            <a:prstGeom prst="rect">
              <a:avLst/>
            </a:prstGeom>
            <a:noFill/>
            <a:ln>
              <a:noFill/>
            </a:ln>
          </p:spPr>
          <p:txBody>
            <a:bodyPr wrap="none" lIns="0" tIns="0" rIns="0" bIns="0" anchor="t" anchorCtr="0">
              <a:spAutoFit/>
            </a:bodyPr>
            <a:lstStyle/>
            <a:p>
              <a:pPr algn="ctr"/>
              <a:r>
                <a:rPr lang="zh-CN" sz="860" b="1" dirty="0">
                  <a:solidFill>
                    <a:srgbClr val="EE492C"/>
                  </a:solidFill>
                  <a:latin typeface="+mn-lt"/>
                  <a:ea typeface="+mn-ea"/>
                  <a:cs typeface="+mn-cs"/>
                </a:rPr>
                <a:t>​+54%​</a:t>
              </a:r>
            </a:p>
          </p:txBody>
        </p:sp>
        <p:sp>
          <p:nvSpPr>
            <p:cNvPr id="175" name="Line 175"/>
            <p:cNvSpPr/>
            <p:nvPr/>
          </p:nvSpPr>
          <p:spPr>
            <a:xfrm>
              <a:off x="7943850" y="2857500"/>
              <a:ext cx="3867150" cy="9525"/>
            </a:xfrm>
            <a:custGeom>
              <a:avLst/>
              <a:gdLst/>
              <a:ahLst/>
              <a:cxnLst/>
              <a:rect l="l" t="t" r="r" b="b"/>
              <a:pathLst>
                <a:path w="3867150" h="9525">
                  <a:moveTo>
                    <a:pt x="0" y="0"/>
                  </a:moveTo>
                  <a:lnTo>
                    <a:pt x="3867150" y="0"/>
                  </a:lnTo>
                </a:path>
              </a:pathLst>
            </a:custGeom>
            <a:noFill/>
            <a:ln w="9525">
              <a:solidFill>
                <a:srgbClr val="EADBCE"/>
              </a:solidFill>
            </a:ln>
          </p:spPr>
        </p:sp>
        <p:sp>
          <p:nvSpPr>
            <p:cNvPr id="176" name="TextBox 176"/>
            <p:cNvSpPr txBox="1"/>
            <p:nvPr/>
          </p:nvSpPr>
          <p:spPr>
            <a:xfrm>
              <a:off x="8015288" y="2991564"/>
              <a:ext cx="753974"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主办行客户占比</a:t>
              </a:r>
            </a:p>
          </p:txBody>
        </p:sp>
        <p:sp>
          <p:nvSpPr>
            <p:cNvPr id="177" name="TextBox 177"/>
            <p:cNvSpPr txBox="1"/>
            <p:nvPr/>
          </p:nvSpPr>
          <p:spPr>
            <a:xfrm>
              <a:off x="9293904" y="2979420"/>
              <a:ext cx="366941" cy="176212"/>
            </a:xfrm>
            <a:prstGeom prst="rect">
              <a:avLst/>
            </a:prstGeom>
            <a:noFill/>
            <a:ln>
              <a:noFill/>
            </a:ln>
          </p:spPr>
          <p:txBody>
            <a:bodyPr wrap="none" lIns="0" tIns="0" rIns="0" bIns="0" anchor="t" anchorCtr="0">
              <a:spAutoFit/>
            </a:bodyPr>
            <a:lstStyle/>
            <a:p>
              <a:pPr algn="ctr"/>
              <a:r>
                <a:rPr lang="zh-CN" sz="900" dirty="0">
                  <a:solidFill>
                    <a:srgbClr val="7A716B"/>
                  </a:solidFill>
                  <a:latin typeface="+mn-lt"/>
                  <a:ea typeface="+mn-ea"/>
                  <a:cs typeface="+mn-cs"/>
                </a:rPr>
                <a:t>​27%​</a:t>
              </a:r>
            </a:p>
          </p:txBody>
        </p:sp>
        <p:sp>
          <p:nvSpPr>
            <p:cNvPr id="178" name="TextBox 178"/>
            <p:cNvSpPr txBox="1"/>
            <p:nvPr/>
          </p:nvSpPr>
          <p:spPr>
            <a:xfrm>
              <a:off x="9638717" y="2987516"/>
              <a:ext cx="191666" cy="161925"/>
            </a:xfrm>
            <a:prstGeom prst="rect">
              <a:avLst/>
            </a:prstGeom>
            <a:noFill/>
            <a:ln>
              <a:noFill/>
            </a:ln>
          </p:spPr>
          <p:txBody>
            <a:bodyPr wrap="none" lIns="0" tIns="0" rIns="0" bIns="0" anchor="t" anchorCtr="0">
              <a:spAutoFit/>
            </a:bodyPr>
            <a:lstStyle/>
            <a:p>
              <a:pPr algn="ctr"/>
              <a:r>
                <a:rPr lang="zh-CN" sz="820" dirty="0">
                  <a:solidFill>
                    <a:srgbClr val="B0A79F"/>
                  </a:solidFill>
                  <a:latin typeface="+mn-lt"/>
                  <a:ea typeface="+mn-ea"/>
                  <a:cs typeface="+mn-cs"/>
                </a:rPr>
                <a:t>​→​</a:t>
              </a:r>
            </a:p>
          </p:txBody>
        </p:sp>
        <p:sp>
          <p:nvSpPr>
            <p:cNvPr id="179" name="TextBox 179"/>
            <p:cNvSpPr txBox="1"/>
            <p:nvPr/>
          </p:nvSpPr>
          <p:spPr>
            <a:xfrm>
              <a:off x="10090329" y="2967276"/>
              <a:ext cx="431442" cy="198025"/>
            </a:xfrm>
            <a:prstGeom prst="rect">
              <a:avLst/>
            </a:prstGeom>
            <a:noFill/>
            <a:ln>
              <a:noFill/>
            </a:ln>
          </p:spPr>
          <p:txBody>
            <a:bodyPr wrap="none" lIns="0" tIns="0" rIns="0" bIns="0" anchor="t" anchorCtr="0">
              <a:spAutoFit/>
            </a:bodyPr>
            <a:lstStyle/>
            <a:p>
              <a:pPr algn="ctr"/>
              <a:r>
                <a:rPr lang="zh-CN" sz="1010" b="1" dirty="0">
                  <a:solidFill>
                    <a:srgbClr val="C41D00"/>
                  </a:solidFill>
                  <a:latin typeface="+mn-lt"/>
                  <a:ea typeface="+mn-ea"/>
                  <a:cs typeface="+mn-cs"/>
                </a:rPr>
                <a:t>​40%​</a:t>
              </a:r>
            </a:p>
          </p:txBody>
        </p:sp>
        <p:sp>
          <p:nvSpPr>
            <p:cNvPr id="180" name="TextBox 180"/>
            <p:cNvSpPr txBox="1"/>
            <p:nvPr/>
          </p:nvSpPr>
          <p:spPr>
            <a:xfrm>
              <a:off x="11000731" y="2983468"/>
              <a:ext cx="477538" cy="169069"/>
            </a:xfrm>
            <a:prstGeom prst="rect">
              <a:avLst/>
            </a:prstGeom>
            <a:noFill/>
            <a:ln>
              <a:noFill/>
            </a:ln>
          </p:spPr>
          <p:txBody>
            <a:bodyPr wrap="none" lIns="0" tIns="0" rIns="0" bIns="0" anchor="t" anchorCtr="0">
              <a:spAutoFit/>
            </a:bodyPr>
            <a:lstStyle/>
            <a:p>
              <a:pPr algn="ctr"/>
              <a:r>
                <a:rPr lang="en-US" sz="860" b="1" dirty="0">
                  <a:solidFill>
                    <a:srgbClr val="EE492C"/>
                  </a:solidFill>
                  <a:latin typeface="+mn-lt"/>
                  <a:ea typeface="+mn-ea"/>
                  <a:cs typeface="+mn-cs"/>
                </a:rPr>
                <a:t>​+13pp​</a:t>
              </a:r>
            </a:p>
          </p:txBody>
        </p:sp>
        <p:sp>
          <p:nvSpPr>
            <p:cNvPr id="181" name="Line 181"/>
            <p:cNvSpPr/>
            <p:nvPr/>
          </p:nvSpPr>
          <p:spPr>
            <a:xfrm>
              <a:off x="7943850" y="3219450"/>
              <a:ext cx="3867150" cy="9525"/>
            </a:xfrm>
            <a:custGeom>
              <a:avLst/>
              <a:gdLst/>
              <a:ahLst/>
              <a:cxnLst/>
              <a:rect l="l" t="t" r="r" b="b"/>
              <a:pathLst>
                <a:path w="3867150" h="9525">
                  <a:moveTo>
                    <a:pt x="0" y="0"/>
                  </a:moveTo>
                  <a:lnTo>
                    <a:pt x="3867150" y="0"/>
                  </a:lnTo>
                </a:path>
              </a:pathLst>
            </a:custGeom>
            <a:noFill/>
            <a:ln w="9525">
              <a:solidFill>
                <a:srgbClr val="EADBCE"/>
              </a:solidFill>
            </a:ln>
          </p:spPr>
        </p:sp>
        <p:sp>
          <p:nvSpPr>
            <p:cNvPr id="182" name="TextBox 182"/>
            <p:cNvSpPr txBox="1"/>
            <p:nvPr/>
          </p:nvSpPr>
          <p:spPr>
            <a:xfrm>
              <a:off x="8015288" y="3353514"/>
              <a:ext cx="753974"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客均产品（个）</a:t>
              </a:r>
            </a:p>
          </p:txBody>
        </p:sp>
        <p:sp>
          <p:nvSpPr>
            <p:cNvPr id="183" name="TextBox 183"/>
            <p:cNvSpPr txBox="1"/>
            <p:nvPr/>
          </p:nvSpPr>
          <p:spPr>
            <a:xfrm>
              <a:off x="9306020" y="3341370"/>
              <a:ext cx="342710" cy="176212"/>
            </a:xfrm>
            <a:prstGeom prst="rect">
              <a:avLst/>
            </a:prstGeom>
            <a:noFill/>
            <a:ln>
              <a:noFill/>
            </a:ln>
          </p:spPr>
          <p:txBody>
            <a:bodyPr wrap="none" lIns="0" tIns="0" rIns="0" bIns="0" anchor="t" anchorCtr="0">
              <a:spAutoFit/>
            </a:bodyPr>
            <a:lstStyle/>
            <a:p>
              <a:pPr algn="ctr"/>
              <a:r>
                <a:rPr lang="zh-CN" sz="900" dirty="0">
                  <a:solidFill>
                    <a:srgbClr val="7A716B"/>
                  </a:solidFill>
                  <a:latin typeface="+mn-lt"/>
                  <a:ea typeface="+mn-ea"/>
                  <a:cs typeface="+mn-cs"/>
                </a:rPr>
                <a:t>​2.4​</a:t>
              </a:r>
            </a:p>
          </p:txBody>
        </p:sp>
        <p:sp>
          <p:nvSpPr>
            <p:cNvPr id="184" name="TextBox 184"/>
            <p:cNvSpPr txBox="1"/>
            <p:nvPr/>
          </p:nvSpPr>
          <p:spPr>
            <a:xfrm>
              <a:off x="9638717" y="3349466"/>
              <a:ext cx="191666" cy="161925"/>
            </a:xfrm>
            <a:prstGeom prst="rect">
              <a:avLst/>
            </a:prstGeom>
            <a:noFill/>
            <a:ln>
              <a:noFill/>
            </a:ln>
          </p:spPr>
          <p:txBody>
            <a:bodyPr wrap="none" lIns="0" tIns="0" rIns="0" bIns="0" anchor="t" anchorCtr="0">
              <a:spAutoFit/>
            </a:bodyPr>
            <a:lstStyle/>
            <a:p>
              <a:pPr algn="ctr"/>
              <a:r>
                <a:rPr lang="zh-CN" sz="820" dirty="0">
                  <a:solidFill>
                    <a:srgbClr val="B0A79F"/>
                  </a:solidFill>
                  <a:latin typeface="+mn-lt"/>
                  <a:ea typeface="+mn-ea"/>
                  <a:cs typeface="+mn-cs"/>
                </a:rPr>
                <a:t>​→​</a:t>
              </a:r>
            </a:p>
          </p:txBody>
        </p:sp>
        <p:sp>
          <p:nvSpPr>
            <p:cNvPr id="185" name="TextBox 185"/>
            <p:cNvSpPr txBox="1"/>
            <p:nvPr/>
          </p:nvSpPr>
          <p:spPr>
            <a:xfrm>
              <a:off x="10104605" y="3329226"/>
              <a:ext cx="402889" cy="198025"/>
            </a:xfrm>
            <a:prstGeom prst="rect">
              <a:avLst/>
            </a:prstGeom>
            <a:noFill/>
            <a:ln>
              <a:noFill/>
            </a:ln>
          </p:spPr>
          <p:txBody>
            <a:bodyPr wrap="none" lIns="0" tIns="0" rIns="0" bIns="0" anchor="t" anchorCtr="0">
              <a:spAutoFit/>
            </a:bodyPr>
            <a:lstStyle/>
            <a:p>
              <a:pPr algn="ctr"/>
              <a:r>
                <a:rPr lang="zh-CN" sz="1010" b="1" dirty="0">
                  <a:solidFill>
                    <a:srgbClr val="C41D00"/>
                  </a:solidFill>
                  <a:latin typeface="+mn-lt"/>
                  <a:ea typeface="+mn-ea"/>
                  <a:cs typeface="+mn-cs"/>
                </a:rPr>
                <a:t>​3.6​</a:t>
              </a:r>
            </a:p>
          </p:txBody>
        </p:sp>
        <p:sp>
          <p:nvSpPr>
            <p:cNvPr id="186" name="TextBox 186"/>
            <p:cNvSpPr txBox="1"/>
            <p:nvPr/>
          </p:nvSpPr>
          <p:spPr>
            <a:xfrm>
              <a:off x="11034160" y="3345418"/>
              <a:ext cx="410679" cy="169069"/>
            </a:xfrm>
            <a:prstGeom prst="rect">
              <a:avLst/>
            </a:prstGeom>
            <a:noFill/>
            <a:ln>
              <a:noFill/>
            </a:ln>
          </p:spPr>
          <p:txBody>
            <a:bodyPr wrap="none" lIns="0" tIns="0" rIns="0" bIns="0" anchor="t" anchorCtr="0">
              <a:spAutoFit/>
            </a:bodyPr>
            <a:lstStyle/>
            <a:p>
              <a:pPr algn="ctr"/>
              <a:r>
                <a:rPr lang="zh-CN" sz="860" b="1" dirty="0">
                  <a:solidFill>
                    <a:srgbClr val="EE492C"/>
                  </a:solidFill>
                  <a:latin typeface="+mn-lt"/>
                  <a:ea typeface="+mn-ea"/>
                  <a:cs typeface="+mn-cs"/>
                </a:rPr>
                <a:t>​+1.2​</a:t>
              </a:r>
            </a:p>
          </p:txBody>
        </p:sp>
        <p:sp>
          <p:nvSpPr>
            <p:cNvPr id="187" name="Line 187"/>
            <p:cNvSpPr/>
            <p:nvPr/>
          </p:nvSpPr>
          <p:spPr>
            <a:xfrm>
              <a:off x="7943850" y="3581400"/>
              <a:ext cx="3867150" cy="9525"/>
            </a:xfrm>
            <a:custGeom>
              <a:avLst/>
              <a:gdLst/>
              <a:ahLst/>
              <a:cxnLst/>
              <a:rect l="l" t="t" r="r" b="b"/>
              <a:pathLst>
                <a:path w="3867150" h="9525">
                  <a:moveTo>
                    <a:pt x="0" y="0"/>
                  </a:moveTo>
                  <a:lnTo>
                    <a:pt x="3867150" y="0"/>
                  </a:lnTo>
                </a:path>
              </a:pathLst>
            </a:custGeom>
            <a:noFill/>
            <a:ln w="9525">
              <a:solidFill>
                <a:srgbClr val="EADBCE"/>
              </a:solidFill>
            </a:ln>
          </p:spPr>
        </p:sp>
        <p:sp>
          <p:nvSpPr>
            <p:cNvPr id="188" name="TextBox 188"/>
            <p:cNvSpPr txBox="1"/>
            <p:nvPr/>
          </p:nvSpPr>
          <p:spPr>
            <a:xfrm>
              <a:off x="8015288" y="3715464"/>
              <a:ext cx="318541" cy="154781"/>
            </a:xfrm>
            <a:prstGeom prst="rect">
              <a:avLst/>
            </a:prstGeom>
            <a:noFill/>
            <a:ln>
              <a:noFill/>
            </a:ln>
          </p:spPr>
          <p:txBody>
            <a:bodyPr wrap="none" lIns="0" tIns="0" rIns="0" bIns="0" anchor="t" anchorCtr="0">
              <a:spAutoFit/>
            </a:bodyPr>
            <a:lstStyle/>
            <a:p>
              <a:pPr algn="l"/>
              <a:r>
                <a:rPr lang="en-US" sz="790" dirty="0">
                  <a:solidFill>
                    <a:srgbClr val="3D3835"/>
                  </a:solidFill>
                  <a:latin typeface="+mn-lt"/>
                  <a:ea typeface="+mn-ea"/>
                  <a:cs typeface="+mn-cs"/>
                </a:rPr>
                <a:t>NPS​​</a:t>
              </a:r>
            </a:p>
          </p:txBody>
        </p:sp>
        <p:sp>
          <p:nvSpPr>
            <p:cNvPr id="189" name="TextBox 189"/>
            <p:cNvSpPr txBox="1"/>
            <p:nvPr/>
          </p:nvSpPr>
          <p:spPr>
            <a:xfrm>
              <a:off x="9339339" y="3703320"/>
              <a:ext cx="276073" cy="176212"/>
            </a:xfrm>
            <a:prstGeom prst="rect">
              <a:avLst/>
            </a:prstGeom>
            <a:noFill/>
            <a:ln>
              <a:noFill/>
            </a:ln>
          </p:spPr>
          <p:txBody>
            <a:bodyPr wrap="none" lIns="0" tIns="0" rIns="0" bIns="0" anchor="t" anchorCtr="0">
              <a:spAutoFit/>
            </a:bodyPr>
            <a:lstStyle/>
            <a:p>
              <a:pPr algn="ctr"/>
              <a:r>
                <a:rPr lang="zh-CN" sz="900" dirty="0">
                  <a:solidFill>
                    <a:srgbClr val="7A716B"/>
                  </a:solidFill>
                  <a:latin typeface="+mn-lt"/>
                  <a:ea typeface="+mn-ea"/>
                  <a:cs typeface="+mn-cs"/>
                </a:rPr>
                <a:t>​41​</a:t>
              </a:r>
            </a:p>
          </p:txBody>
        </p:sp>
        <p:sp>
          <p:nvSpPr>
            <p:cNvPr id="190" name="TextBox 190"/>
            <p:cNvSpPr txBox="1"/>
            <p:nvPr/>
          </p:nvSpPr>
          <p:spPr>
            <a:xfrm>
              <a:off x="9638717" y="3711416"/>
              <a:ext cx="191666" cy="161925"/>
            </a:xfrm>
            <a:prstGeom prst="rect">
              <a:avLst/>
            </a:prstGeom>
            <a:noFill/>
            <a:ln>
              <a:noFill/>
            </a:ln>
          </p:spPr>
          <p:txBody>
            <a:bodyPr wrap="none" lIns="0" tIns="0" rIns="0" bIns="0" anchor="t" anchorCtr="0">
              <a:spAutoFit/>
            </a:bodyPr>
            <a:lstStyle/>
            <a:p>
              <a:pPr algn="ctr"/>
              <a:r>
                <a:rPr lang="zh-CN" sz="820" dirty="0">
                  <a:solidFill>
                    <a:srgbClr val="B0A79F"/>
                  </a:solidFill>
                  <a:latin typeface="+mn-lt"/>
                  <a:ea typeface="+mn-ea"/>
                  <a:cs typeface="+mn-cs"/>
                </a:rPr>
                <a:t>​→​</a:t>
              </a:r>
            </a:p>
          </p:txBody>
        </p:sp>
        <p:sp>
          <p:nvSpPr>
            <p:cNvPr id="191" name="TextBox 191"/>
            <p:cNvSpPr txBox="1"/>
            <p:nvPr/>
          </p:nvSpPr>
          <p:spPr>
            <a:xfrm>
              <a:off x="10143866" y="3691176"/>
              <a:ext cx="324369" cy="198025"/>
            </a:xfrm>
            <a:prstGeom prst="rect">
              <a:avLst/>
            </a:prstGeom>
            <a:noFill/>
            <a:ln>
              <a:noFill/>
            </a:ln>
          </p:spPr>
          <p:txBody>
            <a:bodyPr wrap="none" lIns="0" tIns="0" rIns="0" bIns="0" anchor="t" anchorCtr="0">
              <a:spAutoFit/>
            </a:bodyPr>
            <a:lstStyle/>
            <a:p>
              <a:pPr algn="ctr"/>
              <a:r>
                <a:rPr lang="zh-CN" sz="1010" b="1" dirty="0">
                  <a:solidFill>
                    <a:srgbClr val="C41D00"/>
                  </a:solidFill>
                  <a:latin typeface="+mn-lt"/>
                  <a:ea typeface="+mn-ea"/>
                  <a:cs typeface="+mn-cs"/>
                </a:rPr>
                <a:t>​60​</a:t>
              </a:r>
            </a:p>
          </p:txBody>
        </p:sp>
        <p:sp>
          <p:nvSpPr>
            <p:cNvPr id="192" name="TextBox 192"/>
            <p:cNvSpPr txBox="1"/>
            <p:nvPr/>
          </p:nvSpPr>
          <p:spPr>
            <a:xfrm>
              <a:off x="11067590" y="3707368"/>
              <a:ext cx="343820" cy="169069"/>
            </a:xfrm>
            <a:prstGeom prst="rect">
              <a:avLst/>
            </a:prstGeom>
            <a:noFill/>
            <a:ln>
              <a:noFill/>
            </a:ln>
          </p:spPr>
          <p:txBody>
            <a:bodyPr wrap="none" lIns="0" tIns="0" rIns="0" bIns="0" anchor="t" anchorCtr="0">
              <a:spAutoFit/>
            </a:bodyPr>
            <a:lstStyle/>
            <a:p>
              <a:pPr algn="ctr"/>
              <a:r>
                <a:rPr lang="zh-CN" sz="860" b="1" dirty="0">
                  <a:solidFill>
                    <a:srgbClr val="EE492C"/>
                  </a:solidFill>
                  <a:latin typeface="+mn-lt"/>
                  <a:ea typeface="+mn-ea"/>
                  <a:cs typeface="+mn-cs"/>
                </a:rPr>
                <a:t>​+19​</a:t>
              </a:r>
            </a:p>
          </p:txBody>
        </p:sp>
      </p:grpSp>
      <p:grpSp>
        <p:nvGrpSpPr>
          <p:cNvPr id="232" name="scope-table"/>
          <p:cNvGrpSpPr/>
          <p:nvPr/>
        </p:nvGrpSpPr>
        <p:grpSpPr>
          <a:xfrm>
            <a:off x="342900" y="4076700"/>
            <a:ext cx="2552700" cy="2628900"/>
            <a:chOff x="342900" y="4076700"/>
            <a:chExt cx="2552700" cy="2628900"/>
          </a:xfrm>
        </p:grpSpPr>
        <p:sp>
          <p:nvSpPr>
            <p:cNvPr id="194" name="Rectangle 194"/>
            <p:cNvSpPr/>
            <p:nvPr/>
          </p:nvSpPr>
          <p:spPr>
            <a:xfrm>
              <a:off x="342900" y="4076700"/>
              <a:ext cx="2552700" cy="228600"/>
            </a:xfrm>
            <a:prstGeom prst="roundRect">
              <a:avLst>
                <a:gd name="adj" fmla="val 12500"/>
              </a:avLst>
            </a:prstGeom>
            <a:solidFill>
              <a:srgbClr val="C41D00"/>
            </a:solidFill>
            <a:ln>
              <a:noFill/>
            </a:ln>
          </p:spPr>
        </p:sp>
        <p:sp>
          <p:nvSpPr>
            <p:cNvPr id="195" name="TextBox 195"/>
            <p:cNvSpPr txBox="1"/>
            <p:nvPr/>
          </p:nvSpPr>
          <p:spPr>
            <a:xfrm>
              <a:off x="1361402" y="41374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项目范围</a:t>
              </a:r>
            </a:p>
          </p:txBody>
        </p:sp>
        <p:sp>
          <p:nvSpPr>
            <p:cNvPr id="196" name="Rectangle 196"/>
            <p:cNvSpPr/>
            <p:nvPr/>
          </p:nvSpPr>
          <p:spPr>
            <a:xfrm>
              <a:off x="342900" y="4343400"/>
              <a:ext cx="2552700" cy="2362200"/>
            </a:xfrm>
            <a:prstGeom prst="rect">
              <a:avLst/>
            </a:prstGeom>
            <a:solidFill>
              <a:srgbClr val="FFF8F2"/>
            </a:solidFill>
            <a:ln w="9525">
              <a:solidFill>
                <a:srgbClr val="F0B8AE"/>
              </a:solidFill>
            </a:ln>
          </p:spPr>
        </p:sp>
        <p:grpSp>
          <p:nvGrpSpPr>
            <p:cNvPr id="201" name="Group 201"/>
            <p:cNvGrpSpPr/>
            <p:nvPr/>
          </p:nvGrpSpPr>
          <p:grpSpPr>
            <a:xfrm>
              <a:off x="461962" y="4481512"/>
              <a:ext cx="142875" cy="142875"/>
              <a:chOff x="461962" y="4481512"/>
              <a:chExt cx="142875" cy="142875"/>
            </a:xfrm>
          </p:grpSpPr>
          <p:sp>
            <p:nvSpPr>
              <p:cNvPr id="197" name="Freeform 197"/>
              <p:cNvSpPr/>
              <p:nvPr/>
            </p:nvSpPr>
            <p:spPr>
              <a:xfrm>
                <a:off x="477837" y="44815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C41D00"/>
                </a:solidFill>
              </a:ln>
            </p:spPr>
          </p:sp>
          <p:sp>
            <p:nvSpPr>
              <p:cNvPr id="198" name="Freeform 198"/>
              <p:cNvSpPr/>
              <p:nvPr/>
            </p:nvSpPr>
            <p:spPr>
              <a:xfrm>
                <a:off x="461962" y="45767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C41D00"/>
                </a:solidFill>
              </a:ln>
            </p:spPr>
          </p:sp>
          <p:sp>
            <p:nvSpPr>
              <p:cNvPr id="199" name="Freeform 199"/>
              <p:cNvSpPr/>
              <p:nvPr/>
            </p:nvSpPr>
            <p:spPr>
              <a:xfrm>
                <a:off x="565150" y="44825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C41D00"/>
                </a:solidFill>
              </a:ln>
            </p:spPr>
          </p:sp>
          <p:sp>
            <p:nvSpPr>
              <p:cNvPr id="200" name="Freeform 200"/>
              <p:cNvSpPr/>
              <p:nvPr/>
            </p:nvSpPr>
            <p:spPr>
              <a:xfrm>
                <a:off x="581025" y="45779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C41D00"/>
                </a:solidFill>
              </a:ln>
            </p:spPr>
          </p:sp>
        </p:grpSp>
        <p:sp>
          <p:nvSpPr>
            <p:cNvPr id="202" name="TextBox 202"/>
            <p:cNvSpPr txBox="1"/>
            <p:nvPr/>
          </p:nvSpPr>
          <p:spPr>
            <a:xfrm>
              <a:off x="719138" y="451556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客户范围</a:t>
              </a:r>
            </a:p>
          </p:txBody>
        </p:sp>
        <p:sp>
          <p:nvSpPr>
            <p:cNvPr id="203" name="TextBox 203"/>
            <p:cNvSpPr txBox="1"/>
            <p:nvPr/>
          </p:nvSpPr>
          <p:spPr>
            <a:xfrm>
              <a:off x="1328738" y="4519612"/>
              <a:ext cx="112014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全量零售客户（含潜客）</a:t>
              </a:r>
            </a:p>
          </p:txBody>
        </p:sp>
        <p:sp>
          <p:nvSpPr>
            <p:cNvPr id="204" name="Line 204"/>
            <p:cNvSpPr/>
            <p:nvPr/>
          </p:nvSpPr>
          <p:spPr>
            <a:xfrm>
              <a:off x="342900" y="4762500"/>
              <a:ext cx="2552700" cy="9525"/>
            </a:xfrm>
            <a:custGeom>
              <a:avLst/>
              <a:gdLst/>
              <a:ahLst/>
              <a:cxnLst/>
              <a:rect l="l" t="t" r="r" b="b"/>
              <a:pathLst>
                <a:path w="2552700" h="9525">
                  <a:moveTo>
                    <a:pt x="0" y="0"/>
                  </a:moveTo>
                  <a:lnTo>
                    <a:pt x="2552700" y="0"/>
                  </a:lnTo>
                </a:path>
              </a:pathLst>
            </a:custGeom>
            <a:noFill/>
            <a:ln w="9525">
              <a:solidFill>
                <a:srgbClr val="EADBCE"/>
              </a:solidFill>
            </a:ln>
          </p:spPr>
        </p:sp>
        <p:grpSp>
          <p:nvGrpSpPr>
            <p:cNvPr id="209" name="Group 209"/>
            <p:cNvGrpSpPr/>
            <p:nvPr/>
          </p:nvGrpSpPr>
          <p:grpSpPr>
            <a:xfrm>
              <a:off x="461962" y="4919662"/>
              <a:ext cx="142875" cy="134937"/>
              <a:chOff x="461962" y="4919662"/>
              <a:chExt cx="142875" cy="134937"/>
            </a:xfrm>
          </p:grpSpPr>
          <p:sp>
            <p:nvSpPr>
              <p:cNvPr id="205" name="Freeform 205"/>
              <p:cNvSpPr/>
              <p:nvPr/>
            </p:nvSpPr>
            <p:spPr>
              <a:xfrm>
                <a:off x="461962" y="4951412"/>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C41D00"/>
                </a:solidFill>
              </a:ln>
            </p:spPr>
          </p:sp>
          <p:sp>
            <p:nvSpPr>
              <p:cNvPr id="206" name="Freeform 206"/>
              <p:cNvSpPr/>
              <p:nvPr/>
            </p:nvSpPr>
            <p:spPr>
              <a:xfrm>
                <a:off x="501650" y="4919662"/>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C41D00"/>
                </a:solidFill>
              </a:ln>
            </p:spPr>
          </p:sp>
          <p:sp>
            <p:nvSpPr>
              <p:cNvPr id="207" name="Freeform 207"/>
              <p:cNvSpPr/>
              <p:nvPr/>
            </p:nvSpPr>
            <p:spPr>
              <a:xfrm>
                <a:off x="533400" y="4991100"/>
                <a:ext cx="9525" cy="9525"/>
              </a:xfrm>
              <a:custGeom>
                <a:avLst/>
                <a:gdLst/>
                <a:ahLst/>
                <a:cxnLst/>
                <a:rect l="l" t="t" r="r" b="b"/>
                <a:pathLst>
                  <a:path w="9525" h="9525">
                    <a:moveTo>
                      <a:pt x="0" y="0"/>
                    </a:moveTo>
                    <a:lnTo>
                      <a:pt x="0" y="79"/>
                    </a:lnTo>
                  </a:path>
                </a:pathLst>
              </a:custGeom>
              <a:noFill/>
              <a:ln w="15875">
                <a:solidFill>
                  <a:srgbClr val="C41D00"/>
                </a:solidFill>
              </a:ln>
            </p:spPr>
          </p:sp>
          <p:sp>
            <p:nvSpPr>
              <p:cNvPr id="208" name="Freeform 208"/>
              <p:cNvSpPr/>
              <p:nvPr/>
            </p:nvSpPr>
            <p:spPr>
              <a:xfrm>
                <a:off x="461962" y="4999037"/>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C41D00"/>
                </a:solidFill>
              </a:ln>
            </p:spPr>
          </p:sp>
        </p:grpSp>
        <p:sp>
          <p:nvSpPr>
            <p:cNvPr id="210" name="TextBox 210"/>
            <p:cNvSpPr txBox="1"/>
            <p:nvPr/>
          </p:nvSpPr>
          <p:spPr>
            <a:xfrm>
              <a:off x="719138" y="495371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产品范围</a:t>
              </a:r>
            </a:p>
          </p:txBody>
        </p:sp>
        <p:sp>
          <p:nvSpPr>
            <p:cNvPr id="211" name="TextBox 211"/>
            <p:cNvSpPr txBox="1"/>
            <p:nvPr/>
          </p:nvSpPr>
          <p:spPr>
            <a:xfrm>
              <a:off x="1328738" y="4891088"/>
              <a:ext cx="115252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存款、理财、基金、保险、</a:t>
              </a:r>
              <a:br/>
              <a:r>
                <a:rPr lang="zh-CN" sz="750" dirty="0">
                  <a:solidFill>
                    <a:srgbClr val="3D3835"/>
                  </a:solidFill>
                  <a:latin typeface="+mn-lt"/>
                  <a:ea typeface="+mn-ea"/>
                  <a:cs typeface="+mn-cs"/>
                </a:rPr>
                <a:t>信用卡、贷款等</a:t>
              </a:r>
            </a:p>
          </p:txBody>
        </p:sp>
        <p:sp>
          <p:nvSpPr>
            <p:cNvPr id="212" name="Line 212"/>
            <p:cNvSpPr/>
            <p:nvPr/>
          </p:nvSpPr>
          <p:spPr>
            <a:xfrm>
              <a:off x="342900" y="5200650"/>
              <a:ext cx="2552700" cy="9525"/>
            </a:xfrm>
            <a:custGeom>
              <a:avLst/>
              <a:gdLst/>
              <a:ahLst/>
              <a:cxnLst/>
              <a:rect l="l" t="t" r="r" b="b"/>
              <a:pathLst>
                <a:path w="2552700" h="9525">
                  <a:moveTo>
                    <a:pt x="0" y="0"/>
                  </a:moveTo>
                  <a:lnTo>
                    <a:pt x="2552700" y="0"/>
                  </a:lnTo>
                </a:path>
              </a:pathLst>
            </a:custGeom>
            <a:noFill/>
            <a:ln w="9525">
              <a:solidFill>
                <a:srgbClr val="EADBCE"/>
              </a:solidFill>
            </a:ln>
          </p:spPr>
        </p:sp>
        <p:grpSp>
          <p:nvGrpSpPr>
            <p:cNvPr id="216" name="Group 216"/>
            <p:cNvGrpSpPr/>
            <p:nvPr/>
          </p:nvGrpSpPr>
          <p:grpSpPr>
            <a:xfrm>
              <a:off x="485775" y="5357812"/>
              <a:ext cx="95250" cy="142875"/>
              <a:chOff x="485775" y="5357812"/>
              <a:chExt cx="95250" cy="142875"/>
            </a:xfrm>
          </p:grpSpPr>
          <p:sp>
            <p:nvSpPr>
              <p:cNvPr id="213" name="Freeform 213"/>
              <p:cNvSpPr/>
              <p:nvPr/>
            </p:nvSpPr>
            <p:spPr>
              <a:xfrm>
                <a:off x="485775" y="535781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C41D00"/>
                </a:solidFill>
              </a:ln>
            </p:spPr>
          </p:sp>
          <p:sp>
            <p:nvSpPr>
              <p:cNvPr id="214" name="Freeform 214"/>
              <p:cNvSpPr/>
              <p:nvPr/>
            </p:nvSpPr>
            <p:spPr>
              <a:xfrm>
                <a:off x="525462" y="5365750"/>
                <a:ext cx="15875" cy="9525"/>
              </a:xfrm>
              <a:custGeom>
                <a:avLst/>
                <a:gdLst/>
                <a:ahLst/>
                <a:cxnLst/>
                <a:rect l="l" t="t" r="r" b="b"/>
                <a:pathLst>
                  <a:path w="15875" h="9525">
                    <a:moveTo>
                      <a:pt x="0" y="0"/>
                    </a:moveTo>
                    <a:lnTo>
                      <a:pt x="15875" y="0"/>
                    </a:lnTo>
                  </a:path>
                </a:pathLst>
              </a:custGeom>
              <a:noFill/>
              <a:ln w="15875">
                <a:solidFill>
                  <a:srgbClr val="C41D00"/>
                </a:solidFill>
              </a:ln>
            </p:spPr>
          </p:sp>
          <p:sp>
            <p:nvSpPr>
              <p:cNvPr id="215" name="Freeform 215"/>
              <p:cNvSpPr/>
              <p:nvPr/>
            </p:nvSpPr>
            <p:spPr>
              <a:xfrm>
                <a:off x="533400" y="5468937"/>
                <a:ext cx="9525" cy="9525"/>
              </a:xfrm>
              <a:custGeom>
                <a:avLst/>
                <a:gdLst/>
                <a:ahLst/>
                <a:cxnLst/>
                <a:rect l="l" t="t" r="r" b="b"/>
                <a:pathLst>
                  <a:path w="9525" h="9525">
                    <a:moveTo>
                      <a:pt x="0" y="0"/>
                    </a:moveTo>
                    <a:lnTo>
                      <a:pt x="0" y="79"/>
                    </a:lnTo>
                  </a:path>
                </a:pathLst>
              </a:custGeom>
              <a:noFill/>
              <a:ln w="15875">
                <a:solidFill>
                  <a:srgbClr val="C41D00"/>
                </a:solidFill>
              </a:ln>
            </p:spPr>
          </p:sp>
        </p:grpSp>
        <p:sp>
          <p:nvSpPr>
            <p:cNvPr id="217" name="TextBox 217"/>
            <p:cNvSpPr txBox="1"/>
            <p:nvPr/>
          </p:nvSpPr>
          <p:spPr>
            <a:xfrm>
              <a:off x="719138" y="539186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渠道范围</a:t>
              </a:r>
            </a:p>
          </p:txBody>
        </p:sp>
        <p:sp>
          <p:nvSpPr>
            <p:cNvPr id="218" name="TextBox 218"/>
            <p:cNvSpPr txBox="1"/>
            <p:nvPr/>
          </p:nvSpPr>
          <p:spPr>
            <a:xfrm>
              <a:off x="1328738" y="5329238"/>
              <a:ext cx="124777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手机银行、网上银行、</a:t>
              </a:r>
              <a:br/>
              <a:r>
                <a:rPr lang="zh-CN" sz="750" dirty="0">
                  <a:solidFill>
                    <a:srgbClr val="3D3835"/>
                  </a:solidFill>
                  <a:latin typeface="+mn-lt"/>
                  <a:ea typeface="+mn-ea"/>
                  <a:cs typeface="+mn-cs"/>
                </a:rPr>
                <a:t>微信银行、线下网点、外呼等</a:t>
              </a:r>
            </a:p>
          </p:txBody>
        </p:sp>
        <p:sp>
          <p:nvSpPr>
            <p:cNvPr id="219" name="Line 219"/>
            <p:cNvSpPr/>
            <p:nvPr/>
          </p:nvSpPr>
          <p:spPr>
            <a:xfrm>
              <a:off x="342900" y="5638800"/>
              <a:ext cx="2552700" cy="9525"/>
            </a:xfrm>
            <a:custGeom>
              <a:avLst/>
              <a:gdLst/>
              <a:ahLst/>
              <a:cxnLst/>
              <a:rect l="l" t="t" r="r" b="b"/>
              <a:pathLst>
                <a:path w="2552700" h="9525">
                  <a:moveTo>
                    <a:pt x="0" y="0"/>
                  </a:moveTo>
                  <a:lnTo>
                    <a:pt x="2552700" y="0"/>
                  </a:lnTo>
                </a:path>
              </a:pathLst>
            </a:custGeom>
            <a:noFill/>
            <a:ln w="9525">
              <a:solidFill>
                <a:srgbClr val="EADBCE"/>
              </a:solidFill>
            </a:ln>
          </p:spPr>
        </p:sp>
        <p:grpSp>
          <p:nvGrpSpPr>
            <p:cNvPr id="223" name="Group 223"/>
            <p:cNvGrpSpPr/>
            <p:nvPr/>
          </p:nvGrpSpPr>
          <p:grpSpPr>
            <a:xfrm>
              <a:off x="461962" y="5795962"/>
              <a:ext cx="142875" cy="142875"/>
              <a:chOff x="461962" y="5795962"/>
              <a:chExt cx="142875" cy="142875"/>
            </a:xfrm>
          </p:grpSpPr>
          <p:sp>
            <p:nvSpPr>
              <p:cNvPr id="220" name="Freeform 220"/>
              <p:cNvSpPr/>
              <p:nvPr/>
            </p:nvSpPr>
            <p:spPr>
              <a:xfrm>
                <a:off x="461962" y="579596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C41D00"/>
                </a:solidFill>
              </a:ln>
            </p:spPr>
          </p:sp>
          <p:sp>
            <p:nvSpPr>
              <p:cNvPr id="221" name="Freeform 221"/>
              <p:cNvSpPr/>
              <p:nvPr/>
            </p:nvSpPr>
            <p:spPr>
              <a:xfrm>
                <a:off x="477837" y="586740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C41D00"/>
                </a:solidFill>
              </a:ln>
            </p:spPr>
          </p:sp>
          <p:sp>
            <p:nvSpPr>
              <p:cNvPr id="222" name="Freeform 222"/>
              <p:cNvSpPr/>
              <p:nvPr/>
            </p:nvSpPr>
            <p:spPr>
              <a:xfrm>
                <a:off x="509587" y="587533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C41D00"/>
                </a:solidFill>
              </a:ln>
            </p:spPr>
          </p:sp>
        </p:grpSp>
        <p:sp>
          <p:nvSpPr>
            <p:cNvPr id="224" name="TextBox 224"/>
            <p:cNvSpPr txBox="1"/>
            <p:nvPr/>
          </p:nvSpPr>
          <p:spPr>
            <a:xfrm>
              <a:off x="719138" y="583001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地域范围</a:t>
              </a:r>
            </a:p>
          </p:txBody>
        </p:sp>
        <p:sp>
          <p:nvSpPr>
            <p:cNvPr id="225" name="TextBox 225"/>
            <p:cNvSpPr txBox="1"/>
            <p:nvPr/>
          </p:nvSpPr>
          <p:spPr>
            <a:xfrm>
              <a:off x="1328738" y="5767388"/>
              <a:ext cx="77152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全国（分层推进，</a:t>
              </a:r>
              <a:br/>
              <a:r>
                <a:rPr lang="zh-CN" sz="750" dirty="0">
                  <a:solidFill>
                    <a:srgbClr val="3D3835"/>
                  </a:solidFill>
                  <a:latin typeface="+mn-lt"/>
                  <a:ea typeface="+mn-ea"/>
                  <a:cs typeface="+mn-cs"/>
                </a:rPr>
                <a:t>优先核心分行）</a:t>
              </a:r>
            </a:p>
          </p:txBody>
        </p:sp>
        <p:sp>
          <p:nvSpPr>
            <p:cNvPr id="226" name="Line 226"/>
            <p:cNvSpPr/>
            <p:nvPr/>
          </p:nvSpPr>
          <p:spPr>
            <a:xfrm>
              <a:off x="342900" y="6076950"/>
              <a:ext cx="2552700" cy="9525"/>
            </a:xfrm>
            <a:custGeom>
              <a:avLst/>
              <a:gdLst/>
              <a:ahLst/>
              <a:cxnLst/>
              <a:rect l="l" t="t" r="r" b="b"/>
              <a:pathLst>
                <a:path w="2552700" h="9525">
                  <a:moveTo>
                    <a:pt x="0" y="0"/>
                  </a:moveTo>
                  <a:lnTo>
                    <a:pt x="2552700" y="0"/>
                  </a:lnTo>
                </a:path>
              </a:pathLst>
            </a:custGeom>
            <a:noFill/>
            <a:ln w="9525">
              <a:solidFill>
                <a:srgbClr val="EADBCE"/>
              </a:solidFill>
            </a:ln>
          </p:spPr>
        </p:sp>
        <p:grpSp>
          <p:nvGrpSpPr>
            <p:cNvPr id="229" name="Group 229"/>
            <p:cNvGrpSpPr/>
            <p:nvPr/>
          </p:nvGrpSpPr>
          <p:grpSpPr>
            <a:xfrm>
              <a:off x="461962" y="6234112"/>
              <a:ext cx="142875" cy="142875"/>
              <a:chOff x="461962" y="6234112"/>
              <a:chExt cx="142875" cy="142875"/>
            </a:xfrm>
          </p:grpSpPr>
          <p:sp>
            <p:nvSpPr>
              <p:cNvPr id="227" name="Freeform 227"/>
              <p:cNvSpPr/>
              <p:nvPr/>
            </p:nvSpPr>
            <p:spPr>
              <a:xfrm>
                <a:off x="461962" y="62341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C41D00"/>
                </a:solidFill>
              </a:ln>
            </p:spPr>
          </p:sp>
          <p:sp>
            <p:nvSpPr>
              <p:cNvPr id="228" name="Freeform 228"/>
              <p:cNvSpPr/>
              <p:nvPr/>
            </p:nvSpPr>
            <p:spPr>
              <a:xfrm>
                <a:off x="533400" y="6265862"/>
                <a:ext cx="23812" cy="63500"/>
              </a:xfrm>
              <a:custGeom>
                <a:avLst/>
                <a:gdLst/>
                <a:ahLst/>
                <a:cxnLst/>
                <a:rect l="l" t="t" r="r" b="b"/>
                <a:pathLst>
                  <a:path w="23812" h="63500">
                    <a:moveTo>
                      <a:pt x="0" y="0"/>
                    </a:moveTo>
                    <a:lnTo>
                      <a:pt x="0" y="39687"/>
                    </a:lnTo>
                    <a:lnTo>
                      <a:pt x="23812" y="63500"/>
                    </a:lnTo>
                  </a:path>
                </a:pathLst>
              </a:custGeom>
              <a:noFill/>
              <a:ln w="15875">
                <a:solidFill>
                  <a:srgbClr val="C41D00"/>
                </a:solidFill>
              </a:ln>
            </p:spPr>
          </p:sp>
        </p:grpSp>
        <p:sp>
          <p:nvSpPr>
            <p:cNvPr id="230" name="TextBox 230"/>
            <p:cNvSpPr txBox="1"/>
            <p:nvPr/>
          </p:nvSpPr>
          <p:spPr>
            <a:xfrm>
              <a:off x="719138" y="626816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实施周期</a:t>
              </a:r>
            </a:p>
          </p:txBody>
        </p:sp>
        <p:sp>
          <p:nvSpPr>
            <p:cNvPr id="231" name="TextBox 231"/>
            <p:cNvSpPr txBox="1"/>
            <p:nvPr/>
          </p:nvSpPr>
          <p:spPr>
            <a:xfrm>
              <a:off x="1328738" y="6272212"/>
              <a:ext cx="1039368"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18个月（分三阶段）​​</a:t>
              </a:r>
            </a:p>
          </p:txBody>
        </p:sp>
      </p:grpSp>
      <p:grpSp>
        <p:nvGrpSpPr>
          <p:cNvPr id="306" name="kpi-tree"/>
          <p:cNvGrpSpPr/>
          <p:nvPr/>
        </p:nvGrpSpPr>
        <p:grpSpPr>
          <a:xfrm>
            <a:off x="2933700" y="4076700"/>
            <a:ext cx="8877300" cy="2603182"/>
            <a:chOff x="2933700" y="4076700"/>
            <a:chExt cx="8877300" cy="2603182"/>
          </a:xfrm>
        </p:grpSpPr>
        <p:sp>
          <p:nvSpPr>
            <p:cNvPr id="233" name="Rectangle 233"/>
            <p:cNvSpPr/>
            <p:nvPr/>
          </p:nvSpPr>
          <p:spPr>
            <a:xfrm>
              <a:off x="2933700" y="4076700"/>
              <a:ext cx="8877300" cy="228600"/>
            </a:xfrm>
            <a:prstGeom prst="roundRect">
              <a:avLst>
                <a:gd name="adj" fmla="val 12500"/>
              </a:avLst>
            </a:prstGeom>
            <a:solidFill>
              <a:srgbClr val="C41D00"/>
            </a:solidFill>
            <a:ln>
              <a:noFill/>
            </a:ln>
          </p:spPr>
        </p:sp>
        <p:sp>
          <p:nvSpPr>
            <p:cNvPr id="234" name="TextBox 234"/>
            <p:cNvSpPr txBox="1"/>
            <p:nvPr/>
          </p:nvSpPr>
          <p:spPr>
            <a:xfrm>
              <a:off x="3024188" y="4137422"/>
              <a:ext cx="80493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KPI指标树​​​</a:t>
              </a:r>
            </a:p>
          </p:txBody>
        </p:sp>
        <p:sp>
          <p:nvSpPr>
            <p:cNvPr id="235" name="TextBox 235"/>
            <p:cNvSpPr txBox="1"/>
            <p:nvPr/>
          </p:nvSpPr>
          <p:spPr>
            <a:xfrm>
              <a:off x="9328990" y="4149566"/>
              <a:ext cx="3920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​2024​</a:t>
              </a:r>
            </a:p>
          </p:txBody>
        </p:sp>
        <p:sp>
          <p:nvSpPr>
            <p:cNvPr id="236" name="TextBox 236"/>
            <p:cNvSpPr txBox="1"/>
            <p:nvPr/>
          </p:nvSpPr>
          <p:spPr>
            <a:xfrm>
              <a:off x="10186240" y="4149566"/>
              <a:ext cx="3920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​2027​</a:t>
              </a:r>
            </a:p>
          </p:txBody>
        </p:sp>
        <p:sp>
          <p:nvSpPr>
            <p:cNvPr id="237" name="TextBox 237"/>
            <p:cNvSpPr txBox="1"/>
            <p:nvPr/>
          </p:nvSpPr>
          <p:spPr>
            <a:xfrm>
              <a:off x="11029099" y="4149566"/>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提升</a:t>
              </a:r>
            </a:p>
          </p:txBody>
        </p:sp>
        <p:sp>
          <p:nvSpPr>
            <p:cNvPr id="238" name="Rectangle 238"/>
            <p:cNvSpPr/>
            <p:nvPr/>
          </p:nvSpPr>
          <p:spPr>
            <a:xfrm>
              <a:off x="3028950" y="4457700"/>
              <a:ext cx="590550" cy="1828800"/>
            </a:xfrm>
            <a:prstGeom prst="roundRect">
              <a:avLst>
                <a:gd name="adj" fmla="val 6452"/>
              </a:avLst>
            </a:prstGeom>
            <a:solidFill>
              <a:srgbClr val="8F1C08"/>
            </a:solidFill>
            <a:ln>
              <a:noFill/>
            </a:ln>
          </p:spPr>
        </p:sp>
        <p:sp>
          <p:nvSpPr>
            <p:cNvPr id="239" name="TextBox 239"/>
            <p:cNvSpPr txBox="1"/>
            <p:nvPr/>
          </p:nvSpPr>
          <p:spPr>
            <a:xfrm>
              <a:off x="3257042" y="4600099"/>
              <a:ext cx="134366" cy="1143190"/>
            </a:xfrm>
            <a:prstGeom prst="rect">
              <a:avLst/>
            </a:prstGeom>
            <a:noFill/>
            <a:ln>
              <a:noFill/>
            </a:ln>
          </p:spPr>
          <p:txBody>
            <a:bodyPr wrap="none" lIns="0" tIns="0" rIns="0" bIns="0" anchor="t" anchorCtr="0">
              <a:spAutoFit/>
            </a:bodyPr>
            <a:lstStyle/>
            <a:p>
              <a:pPr algn="ctr">
                <a:lnSpc>
                  <a:spcPts val="1500"/>
                </a:lnSpc>
              </a:pPr>
              <a:r>
                <a:rPr lang="zh-CN" sz="980" b="1" dirty="0">
                  <a:solidFill>
                    <a:srgbClr val="FFFFFF"/>
                  </a:solidFill>
                  <a:latin typeface="+mn-lt"/>
                  <a:ea typeface="+mn-ea"/>
                  <a:cs typeface="+mn-cs"/>
                </a:rPr>
                <a:t>客</a:t>
              </a:r>
              <a:br/>
              <a:r>
                <a:rPr lang="zh-CN" sz="980" b="1" dirty="0">
                  <a:solidFill>
                    <a:srgbClr val="FFFFFF"/>
                  </a:solidFill>
                  <a:latin typeface="+mn-lt"/>
                  <a:ea typeface="+mn-ea"/>
                  <a:cs typeface="+mn-cs"/>
                </a:rPr>
                <a:t>户</a:t>
              </a:r>
              <a:br/>
              <a:r>
                <a:rPr lang="zh-CN" sz="980" b="1" dirty="0">
                  <a:solidFill>
                    <a:srgbClr val="FFFFFF"/>
                  </a:solidFill>
                  <a:latin typeface="+mn-lt"/>
                  <a:ea typeface="+mn-ea"/>
                  <a:cs typeface="+mn-cs"/>
                </a:rPr>
                <a:t>终</a:t>
              </a:r>
              <a:br/>
              <a:r>
                <a:rPr lang="zh-CN" sz="980" b="1" dirty="0">
                  <a:solidFill>
                    <a:srgbClr val="FFFFFF"/>
                  </a:solidFill>
                  <a:latin typeface="+mn-lt"/>
                  <a:ea typeface="+mn-ea"/>
                  <a:cs typeface="+mn-cs"/>
                </a:rPr>
                <a:t>身</a:t>
              </a:r>
              <a:br/>
              <a:r>
                <a:rPr lang="zh-CN" sz="980" b="1" dirty="0">
                  <a:solidFill>
                    <a:srgbClr val="FFFFFF"/>
                  </a:solidFill>
                  <a:latin typeface="+mn-lt"/>
                  <a:ea typeface="+mn-ea"/>
                  <a:cs typeface="+mn-cs"/>
                </a:rPr>
                <a:t>价</a:t>
              </a:r>
              <a:br/>
              <a:r>
                <a:rPr lang="zh-CN" sz="980" b="1" dirty="0">
                  <a:solidFill>
                    <a:srgbClr val="FFFFFF"/>
                  </a:solidFill>
                  <a:latin typeface="+mn-lt"/>
                  <a:ea typeface="+mn-ea"/>
                  <a:cs typeface="+mn-cs"/>
                </a:rPr>
                <a:t>值</a:t>
              </a:r>
            </a:p>
          </p:txBody>
        </p:sp>
        <p:sp>
          <p:nvSpPr>
            <p:cNvPr id="240" name="TextBox 240"/>
            <p:cNvSpPr txBox="1"/>
            <p:nvPr/>
          </p:nvSpPr>
          <p:spPr>
            <a:xfrm>
              <a:off x="2992939" y="6010989"/>
              <a:ext cx="66257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​​（CLV）​​</a:t>
              </a:r>
            </a:p>
          </p:txBody>
        </p:sp>
        <p:sp>
          <p:nvSpPr>
            <p:cNvPr id="241" name="Line 241"/>
            <p:cNvSpPr/>
            <p:nvPr/>
          </p:nvSpPr>
          <p:spPr>
            <a:xfrm>
              <a:off x="3619500" y="4762500"/>
              <a:ext cx="57150" cy="9525"/>
            </a:xfrm>
            <a:custGeom>
              <a:avLst/>
              <a:gdLst/>
              <a:ahLst/>
              <a:cxnLst/>
              <a:rect l="l" t="t" r="r" b="b"/>
              <a:pathLst>
                <a:path w="57150" h="9525">
                  <a:moveTo>
                    <a:pt x="0" y="0"/>
                  </a:moveTo>
                  <a:lnTo>
                    <a:pt x="57150" y="0"/>
                  </a:lnTo>
                </a:path>
              </a:pathLst>
            </a:custGeom>
            <a:noFill/>
            <a:ln w="14288">
              <a:solidFill>
                <a:srgbClr val="C41D00"/>
              </a:solidFill>
            </a:ln>
          </p:spPr>
        </p:sp>
        <p:sp>
          <p:nvSpPr>
            <p:cNvPr id="242" name="Line 242"/>
            <p:cNvSpPr/>
            <p:nvPr/>
          </p:nvSpPr>
          <p:spPr>
            <a:xfrm>
              <a:off x="3676650" y="4762500"/>
              <a:ext cx="9525" cy="1562100"/>
            </a:xfrm>
            <a:custGeom>
              <a:avLst/>
              <a:gdLst/>
              <a:ahLst/>
              <a:cxnLst/>
              <a:rect l="l" t="t" r="r" b="b"/>
              <a:pathLst>
                <a:path w="9525" h="1562100">
                  <a:moveTo>
                    <a:pt x="0" y="0"/>
                  </a:moveTo>
                  <a:lnTo>
                    <a:pt x="0" y="1562100"/>
                  </a:lnTo>
                </a:path>
              </a:pathLst>
            </a:custGeom>
            <a:noFill/>
            <a:ln w="14288">
              <a:solidFill>
                <a:srgbClr val="C41D00"/>
              </a:solidFill>
            </a:ln>
          </p:spPr>
        </p:sp>
        <p:sp>
          <p:nvSpPr>
            <p:cNvPr id="243" name="Line 243"/>
            <p:cNvSpPr/>
            <p:nvPr/>
          </p:nvSpPr>
          <p:spPr>
            <a:xfrm>
              <a:off x="3676650" y="4762500"/>
              <a:ext cx="57150" cy="9525"/>
            </a:xfrm>
            <a:custGeom>
              <a:avLst/>
              <a:gdLst/>
              <a:ahLst/>
              <a:cxnLst/>
              <a:rect l="l" t="t" r="r" b="b"/>
              <a:pathLst>
                <a:path w="57150" h="9525">
                  <a:moveTo>
                    <a:pt x="0" y="0"/>
                  </a:moveTo>
                  <a:lnTo>
                    <a:pt x="57150" y="0"/>
                  </a:lnTo>
                </a:path>
              </a:pathLst>
            </a:custGeom>
            <a:noFill/>
            <a:ln w="14288">
              <a:solidFill>
                <a:srgbClr val="C41D00"/>
              </a:solidFill>
            </a:ln>
          </p:spPr>
        </p:sp>
        <p:sp>
          <p:nvSpPr>
            <p:cNvPr id="244" name="Line 244"/>
            <p:cNvSpPr/>
            <p:nvPr/>
          </p:nvSpPr>
          <p:spPr>
            <a:xfrm>
              <a:off x="3676650" y="5562600"/>
              <a:ext cx="57150" cy="9525"/>
            </a:xfrm>
            <a:custGeom>
              <a:avLst/>
              <a:gdLst/>
              <a:ahLst/>
              <a:cxnLst/>
              <a:rect l="l" t="t" r="r" b="b"/>
              <a:pathLst>
                <a:path w="57150" h="9525">
                  <a:moveTo>
                    <a:pt x="0" y="0"/>
                  </a:moveTo>
                  <a:lnTo>
                    <a:pt x="57150" y="0"/>
                  </a:lnTo>
                </a:path>
              </a:pathLst>
            </a:custGeom>
            <a:noFill/>
            <a:ln w="14288">
              <a:solidFill>
                <a:srgbClr val="C41D00"/>
              </a:solidFill>
            </a:ln>
          </p:spPr>
        </p:sp>
        <p:sp>
          <p:nvSpPr>
            <p:cNvPr id="245" name="Line 245"/>
            <p:cNvSpPr/>
            <p:nvPr/>
          </p:nvSpPr>
          <p:spPr>
            <a:xfrm>
              <a:off x="3676650" y="6324600"/>
              <a:ext cx="57150" cy="9525"/>
            </a:xfrm>
            <a:custGeom>
              <a:avLst/>
              <a:gdLst/>
              <a:ahLst/>
              <a:cxnLst/>
              <a:rect l="l" t="t" r="r" b="b"/>
              <a:pathLst>
                <a:path w="57150" h="9525">
                  <a:moveTo>
                    <a:pt x="0" y="0"/>
                  </a:moveTo>
                  <a:lnTo>
                    <a:pt x="57150" y="0"/>
                  </a:lnTo>
                </a:path>
              </a:pathLst>
            </a:custGeom>
            <a:noFill/>
            <a:ln w="14288">
              <a:solidFill>
                <a:srgbClr val="C41D00"/>
              </a:solidFill>
            </a:ln>
          </p:spPr>
        </p:sp>
        <p:sp>
          <p:nvSpPr>
            <p:cNvPr id="246" name="Rectangle 246"/>
            <p:cNvSpPr/>
            <p:nvPr/>
          </p:nvSpPr>
          <p:spPr>
            <a:xfrm>
              <a:off x="3733800" y="4619625"/>
              <a:ext cx="723900" cy="285750"/>
            </a:xfrm>
            <a:prstGeom prst="roundRect">
              <a:avLst>
                <a:gd name="adj" fmla="val 13333"/>
              </a:avLst>
            </a:prstGeom>
            <a:solidFill>
              <a:srgbClr val="C41D00"/>
            </a:solidFill>
            <a:ln>
              <a:noFill/>
            </a:ln>
          </p:spPr>
        </p:sp>
        <p:sp>
          <p:nvSpPr>
            <p:cNvPr id="247" name="TextBox 247"/>
            <p:cNvSpPr txBox="1"/>
            <p:nvPr/>
          </p:nvSpPr>
          <p:spPr>
            <a:xfrm>
              <a:off x="3848672" y="47129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客户价值</a:t>
              </a:r>
            </a:p>
          </p:txBody>
        </p:sp>
        <p:sp>
          <p:nvSpPr>
            <p:cNvPr id="248" name="Rectangle 248"/>
            <p:cNvSpPr/>
            <p:nvPr/>
          </p:nvSpPr>
          <p:spPr>
            <a:xfrm>
              <a:off x="3733800" y="5419725"/>
              <a:ext cx="723900" cy="285750"/>
            </a:xfrm>
            <a:prstGeom prst="roundRect">
              <a:avLst>
                <a:gd name="adj" fmla="val 13333"/>
              </a:avLst>
            </a:prstGeom>
            <a:solidFill>
              <a:srgbClr val="D82000"/>
            </a:solidFill>
            <a:ln>
              <a:noFill/>
            </a:ln>
          </p:spPr>
        </p:sp>
        <p:sp>
          <p:nvSpPr>
            <p:cNvPr id="249" name="TextBox 249"/>
            <p:cNvSpPr txBox="1"/>
            <p:nvPr/>
          </p:nvSpPr>
          <p:spPr>
            <a:xfrm>
              <a:off x="3848672" y="55130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经营效率</a:t>
              </a:r>
            </a:p>
          </p:txBody>
        </p:sp>
        <p:sp>
          <p:nvSpPr>
            <p:cNvPr id="250" name="Rectangle 250"/>
            <p:cNvSpPr/>
            <p:nvPr/>
          </p:nvSpPr>
          <p:spPr>
            <a:xfrm>
              <a:off x="3733800" y="6181725"/>
              <a:ext cx="723900" cy="285750"/>
            </a:xfrm>
            <a:prstGeom prst="roundRect">
              <a:avLst>
                <a:gd name="adj" fmla="val 13333"/>
              </a:avLst>
            </a:prstGeom>
            <a:solidFill>
              <a:srgbClr val="EE492C"/>
            </a:solidFill>
            <a:ln>
              <a:noFill/>
            </a:ln>
          </p:spPr>
        </p:sp>
        <p:sp>
          <p:nvSpPr>
            <p:cNvPr id="251" name="TextBox 251"/>
            <p:cNvSpPr txBox="1"/>
            <p:nvPr/>
          </p:nvSpPr>
          <p:spPr>
            <a:xfrm>
              <a:off x="3848672" y="62750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客户体验</a:t>
              </a:r>
            </a:p>
          </p:txBody>
        </p:sp>
        <p:sp>
          <p:nvSpPr>
            <p:cNvPr id="252" name="Rectangle 252"/>
            <p:cNvSpPr/>
            <p:nvPr/>
          </p:nvSpPr>
          <p:spPr>
            <a:xfrm>
              <a:off x="4533900" y="4419600"/>
              <a:ext cx="7124700" cy="228600"/>
            </a:xfrm>
            <a:prstGeom prst="rect">
              <a:avLst/>
            </a:prstGeom>
            <a:solidFill>
              <a:srgbClr val="FEF2E6"/>
            </a:solidFill>
            <a:ln>
              <a:noFill/>
            </a:ln>
          </p:spPr>
        </p:sp>
        <p:sp>
          <p:nvSpPr>
            <p:cNvPr id="253" name="TextBox 253"/>
            <p:cNvSpPr txBox="1"/>
            <p:nvPr/>
          </p:nvSpPr>
          <p:spPr>
            <a:xfrm>
              <a:off x="4605338" y="4492466"/>
              <a:ext cx="1089670"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AUM贡献（亿元）​​​</a:t>
              </a:r>
            </a:p>
          </p:txBody>
        </p:sp>
        <p:sp>
          <p:nvSpPr>
            <p:cNvPr id="254" name="TextBox 254"/>
            <p:cNvSpPr txBox="1"/>
            <p:nvPr/>
          </p:nvSpPr>
          <p:spPr>
            <a:xfrm>
              <a:off x="6281738" y="4491038"/>
              <a:ext cx="1120140"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客户持有资产规模及增长</a:t>
              </a:r>
            </a:p>
          </p:txBody>
        </p:sp>
        <p:sp>
          <p:nvSpPr>
            <p:cNvPr id="255" name="TextBox 255"/>
            <p:cNvSpPr txBox="1"/>
            <p:nvPr/>
          </p:nvSpPr>
          <p:spPr>
            <a:xfrm>
              <a:off x="9287008" y="4484370"/>
              <a:ext cx="475983" cy="176212"/>
            </a:xfrm>
            <a:prstGeom prst="rect">
              <a:avLst/>
            </a:prstGeom>
            <a:noFill/>
            <a:ln>
              <a:noFill/>
            </a:ln>
          </p:spPr>
          <p:txBody>
            <a:bodyPr wrap="none" lIns="0" tIns="0" rIns="0" bIns="0" anchor="t" anchorCtr="0">
              <a:spAutoFit/>
            </a:bodyPr>
            <a:lstStyle/>
            <a:p>
              <a:pPr algn="ctr"/>
              <a:r>
                <a:rPr lang="zh-CN" sz="900" dirty="0">
                  <a:solidFill>
                    <a:srgbClr val="3D3835"/>
                  </a:solidFill>
                  <a:latin typeface="+mn-lt"/>
                  <a:ea typeface="+mn-ea"/>
                  <a:cs typeface="+mn-cs"/>
                </a:rPr>
                <a:t>​6,480​</a:t>
              </a:r>
            </a:p>
          </p:txBody>
        </p:sp>
        <p:sp>
          <p:nvSpPr>
            <p:cNvPr id="256" name="TextBox 256"/>
            <p:cNvSpPr txBox="1"/>
            <p:nvPr/>
          </p:nvSpPr>
          <p:spPr>
            <a:xfrm>
              <a:off x="10097613" y="4484370"/>
              <a:ext cx="569275"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​10,000​</a:t>
              </a:r>
            </a:p>
          </p:txBody>
        </p:sp>
        <p:sp>
          <p:nvSpPr>
            <p:cNvPr id="257" name="TextBox 257"/>
            <p:cNvSpPr txBox="1"/>
            <p:nvPr/>
          </p:nvSpPr>
          <p:spPr>
            <a:xfrm>
              <a:off x="10926754" y="4488418"/>
              <a:ext cx="434992" cy="169069"/>
            </a:xfrm>
            <a:prstGeom prst="rect">
              <a:avLst/>
            </a:prstGeom>
            <a:noFill/>
            <a:ln>
              <a:noFill/>
            </a:ln>
          </p:spPr>
          <p:txBody>
            <a:bodyPr wrap="none" lIns="0" tIns="0" rIns="0" bIns="0" anchor="t" anchorCtr="0">
              <a:spAutoFit/>
            </a:bodyPr>
            <a:lstStyle/>
            <a:p>
              <a:pPr algn="ctr"/>
              <a:r>
                <a:rPr lang="zh-CN" sz="860" b="1" dirty="0">
                  <a:solidFill>
                    <a:srgbClr val="EE492C"/>
                  </a:solidFill>
                  <a:latin typeface="+mn-lt"/>
                  <a:ea typeface="+mn-ea"/>
                  <a:cs typeface="+mn-cs"/>
                </a:rPr>
                <a:t>​+54%​</a:t>
              </a:r>
            </a:p>
          </p:txBody>
        </p:sp>
        <p:sp>
          <p:nvSpPr>
            <p:cNvPr id="258" name="Rectangle 258"/>
            <p:cNvSpPr/>
            <p:nvPr/>
          </p:nvSpPr>
          <p:spPr>
            <a:xfrm>
              <a:off x="4533900" y="4648200"/>
              <a:ext cx="7124700" cy="228600"/>
            </a:xfrm>
            <a:prstGeom prst="rect">
              <a:avLst/>
            </a:prstGeom>
            <a:solidFill>
              <a:srgbClr val="FFFFFF"/>
            </a:solidFill>
            <a:ln>
              <a:noFill/>
            </a:ln>
          </p:spPr>
        </p:sp>
        <p:sp>
          <p:nvSpPr>
            <p:cNvPr id="259" name="TextBox 259"/>
            <p:cNvSpPr txBox="1"/>
            <p:nvPr/>
          </p:nvSpPr>
          <p:spPr>
            <a:xfrm>
              <a:off x="4605338" y="4721066"/>
              <a:ext cx="892632"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客均产品数（个）</a:t>
              </a:r>
            </a:p>
          </p:txBody>
        </p:sp>
        <p:sp>
          <p:nvSpPr>
            <p:cNvPr id="260" name="TextBox 260"/>
            <p:cNvSpPr txBox="1"/>
            <p:nvPr/>
          </p:nvSpPr>
          <p:spPr>
            <a:xfrm>
              <a:off x="6281738" y="4719638"/>
              <a:ext cx="918210"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每客户持有产品数量</a:t>
              </a:r>
            </a:p>
          </p:txBody>
        </p:sp>
        <p:sp>
          <p:nvSpPr>
            <p:cNvPr id="261" name="TextBox 261"/>
            <p:cNvSpPr txBox="1"/>
            <p:nvPr/>
          </p:nvSpPr>
          <p:spPr>
            <a:xfrm>
              <a:off x="9353645" y="4712970"/>
              <a:ext cx="342710" cy="176212"/>
            </a:xfrm>
            <a:prstGeom prst="rect">
              <a:avLst/>
            </a:prstGeom>
            <a:noFill/>
            <a:ln>
              <a:noFill/>
            </a:ln>
          </p:spPr>
          <p:txBody>
            <a:bodyPr wrap="none" lIns="0" tIns="0" rIns="0" bIns="0" anchor="t" anchorCtr="0">
              <a:spAutoFit/>
            </a:bodyPr>
            <a:lstStyle/>
            <a:p>
              <a:pPr algn="ctr"/>
              <a:r>
                <a:rPr lang="zh-CN" sz="900" dirty="0">
                  <a:solidFill>
                    <a:srgbClr val="3D3835"/>
                  </a:solidFill>
                  <a:latin typeface="+mn-lt"/>
                  <a:ea typeface="+mn-ea"/>
                  <a:cs typeface="+mn-cs"/>
                </a:rPr>
                <a:t>​2.4​</a:t>
              </a:r>
            </a:p>
          </p:txBody>
        </p:sp>
        <p:sp>
          <p:nvSpPr>
            <p:cNvPr id="262" name="TextBox 262"/>
            <p:cNvSpPr txBox="1"/>
            <p:nvPr/>
          </p:nvSpPr>
          <p:spPr>
            <a:xfrm>
              <a:off x="10202566" y="4712970"/>
              <a:ext cx="359369"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​3.6​</a:t>
              </a:r>
            </a:p>
          </p:txBody>
        </p:sp>
        <p:sp>
          <p:nvSpPr>
            <p:cNvPr id="263" name="TextBox 263"/>
            <p:cNvSpPr txBox="1"/>
            <p:nvPr/>
          </p:nvSpPr>
          <p:spPr>
            <a:xfrm>
              <a:off x="10938910" y="4717018"/>
              <a:ext cx="410679" cy="169069"/>
            </a:xfrm>
            <a:prstGeom prst="rect">
              <a:avLst/>
            </a:prstGeom>
            <a:noFill/>
            <a:ln>
              <a:noFill/>
            </a:ln>
          </p:spPr>
          <p:txBody>
            <a:bodyPr wrap="none" lIns="0" tIns="0" rIns="0" bIns="0" anchor="t" anchorCtr="0">
              <a:spAutoFit/>
            </a:bodyPr>
            <a:lstStyle/>
            <a:p>
              <a:pPr algn="ctr"/>
              <a:r>
                <a:rPr lang="zh-CN" sz="860" b="1" dirty="0">
                  <a:solidFill>
                    <a:srgbClr val="EE492C"/>
                  </a:solidFill>
                  <a:latin typeface="+mn-lt"/>
                  <a:ea typeface="+mn-ea"/>
                  <a:cs typeface="+mn-cs"/>
                </a:rPr>
                <a:t>​+1.2​</a:t>
              </a:r>
            </a:p>
          </p:txBody>
        </p:sp>
        <p:sp>
          <p:nvSpPr>
            <p:cNvPr id="264" name="Rectangle 264"/>
            <p:cNvSpPr/>
            <p:nvPr/>
          </p:nvSpPr>
          <p:spPr>
            <a:xfrm>
              <a:off x="4533900" y="4876800"/>
              <a:ext cx="7124700" cy="228600"/>
            </a:xfrm>
            <a:prstGeom prst="rect">
              <a:avLst/>
            </a:prstGeom>
            <a:solidFill>
              <a:srgbClr val="FEF2E6"/>
            </a:solidFill>
            <a:ln>
              <a:noFill/>
            </a:ln>
          </p:spPr>
        </p:sp>
        <p:sp>
          <p:nvSpPr>
            <p:cNvPr id="265" name="TextBox 265"/>
            <p:cNvSpPr txBox="1"/>
            <p:nvPr/>
          </p:nvSpPr>
          <p:spPr>
            <a:xfrm>
              <a:off x="4605338" y="4949666"/>
              <a:ext cx="996673"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客户留存率（%）​​</a:t>
              </a:r>
            </a:p>
          </p:txBody>
        </p:sp>
        <p:sp>
          <p:nvSpPr>
            <p:cNvPr id="266" name="TextBox 266"/>
            <p:cNvSpPr txBox="1"/>
            <p:nvPr/>
          </p:nvSpPr>
          <p:spPr>
            <a:xfrm>
              <a:off x="6281738" y="4948238"/>
              <a:ext cx="736473"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12个月留存率​​</a:t>
              </a:r>
            </a:p>
          </p:txBody>
        </p:sp>
        <p:sp>
          <p:nvSpPr>
            <p:cNvPr id="267" name="TextBox 267"/>
            <p:cNvSpPr txBox="1"/>
            <p:nvPr/>
          </p:nvSpPr>
          <p:spPr>
            <a:xfrm>
              <a:off x="9341529" y="4941570"/>
              <a:ext cx="366941" cy="176212"/>
            </a:xfrm>
            <a:prstGeom prst="rect">
              <a:avLst/>
            </a:prstGeom>
            <a:noFill/>
            <a:ln>
              <a:noFill/>
            </a:ln>
          </p:spPr>
          <p:txBody>
            <a:bodyPr wrap="none" lIns="0" tIns="0" rIns="0" bIns="0" anchor="t" anchorCtr="0">
              <a:spAutoFit/>
            </a:bodyPr>
            <a:lstStyle/>
            <a:p>
              <a:pPr algn="ctr"/>
              <a:r>
                <a:rPr lang="zh-CN" sz="900" dirty="0">
                  <a:solidFill>
                    <a:srgbClr val="3D3835"/>
                  </a:solidFill>
                  <a:latin typeface="+mn-lt"/>
                  <a:ea typeface="+mn-ea"/>
                  <a:cs typeface="+mn-cs"/>
                </a:rPr>
                <a:t>​72%​</a:t>
              </a:r>
            </a:p>
          </p:txBody>
        </p:sp>
        <p:sp>
          <p:nvSpPr>
            <p:cNvPr id="268" name="TextBox 268"/>
            <p:cNvSpPr txBox="1"/>
            <p:nvPr/>
          </p:nvSpPr>
          <p:spPr>
            <a:xfrm>
              <a:off x="10189844" y="4941570"/>
              <a:ext cx="384812"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​85%​</a:t>
              </a:r>
            </a:p>
          </p:txBody>
        </p:sp>
        <p:sp>
          <p:nvSpPr>
            <p:cNvPr id="269" name="TextBox 269"/>
            <p:cNvSpPr txBox="1"/>
            <p:nvPr/>
          </p:nvSpPr>
          <p:spPr>
            <a:xfrm>
              <a:off x="10905481" y="4945618"/>
              <a:ext cx="477538" cy="169069"/>
            </a:xfrm>
            <a:prstGeom prst="rect">
              <a:avLst/>
            </a:prstGeom>
            <a:noFill/>
            <a:ln>
              <a:noFill/>
            </a:ln>
          </p:spPr>
          <p:txBody>
            <a:bodyPr wrap="none" lIns="0" tIns="0" rIns="0" bIns="0" anchor="t" anchorCtr="0">
              <a:spAutoFit/>
            </a:bodyPr>
            <a:lstStyle/>
            <a:p>
              <a:pPr algn="ctr"/>
              <a:r>
                <a:rPr lang="en-US" sz="860" b="1" dirty="0">
                  <a:solidFill>
                    <a:srgbClr val="EE492C"/>
                  </a:solidFill>
                  <a:latin typeface="+mn-lt"/>
                  <a:ea typeface="+mn-ea"/>
                  <a:cs typeface="+mn-cs"/>
                </a:rPr>
                <a:t>​+13pp​</a:t>
              </a:r>
            </a:p>
          </p:txBody>
        </p:sp>
        <p:sp>
          <p:nvSpPr>
            <p:cNvPr id="270" name="Rectangle 270"/>
            <p:cNvSpPr/>
            <p:nvPr/>
          </p:nvSpPr>
          <p:spPr>
            <a:xfrm>
              <a:off x="4533900" y="5219700"/>
              <a:ext cx="7124700" cy="228600"/>
            </a:xfrm>
            <a:prstGeom prst="rect">
              <a:avLst/>
            </a:prstGeom>
            <a:solidFill>
              <a:srgbClr val="FEF2E6"/>
            </a:solidFill>
            <a:ln>
              <a:noFill/>
            </a:ln>
          </p:spPr>
        </p:sp>
        <p:sp>
          <p:nvSpPr>
            <p:cNvPr id="271" name="TextBox 271"/>
            <p:cNvSpPr txBox="1"/>
            <p:nvPr/>
          </p:nvSpPr>
          <p:spPr>
            <a:xfrm>
              <a:off x="4605338" y="5292566"/>
              <a:ext cx="775896"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月活率（%）​​</a:t>
              </a:r>
            </a:p>
          </p:txBody>
        </p:sp>
        <p:sp>
          <p:nvSpPr>
            <p:cNvPr id="272" name="TextBox 272"/>
            <p:cNvSpPr txBox="1"/>
            <p:nvPr/>
          </p:nvSpPr>
          <p:spPr>
            <a:xfrm>
              <a:off x="6281738" y="5291138"/>
              <a:ext cx="817245"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月度活跃客户占比</a:t>
              </a:r>
            </a:p>
          </p:txBody>
        </p:sp>
        <p:sp>
          <p:nvSpPr>
            <p:cNvPr id="273" name="TextBox 273"/>
            <p:cNvSpPr txBox="1"/>
            <p:nvPr/>
          </p:nvSpPr>
          <p:spPr>
            <a:xfrm>
              <a:off x="9341529" y="5284470"/>
              <a:ext cx="366941" cy="176212"/>
            </a:xfrm>
            <a:prstGeom prst="rect">
              <a:avLst/>
            </a:prstGeom>
            <a:noFill/>
            <a:ln>
              <a:noFill/>
            </a:ln>
          </p:spPr>
          <p:txBody>
            <a:bodyPr wrap="none" lIns="0" tIns="0" rIns="0" bIns="0" anchor="t" anchorCtr="0">
              <a:spAutoFit/>
            </a:bodyPr>
            <a:lstStyle/>
            <a:p>
              <a:pPr algn="ctr"/>
              <a:r>
                <a:rPr lang="zh-CN" sz="900" dirty="0">
                  <a:solidFill>
                    <a:srgbClr val="3D3835"/>
                  </a:solidFill>
                  <a:latin typeface="+mn-lt"/>
                  <a:ea typeface="+mn-ea"/>
                  <a:cs typeface="+mn-cs"/>
                </a:rPr>
                <a:t>​42%​</a:t>
              </a:r>
            </a:p>
          </p:txBody>
        </p:sp>
        <p:sp>
          <p:nvSpPr>
            <p:cNvPr id="274" name="TextBox 274"/>
            <p:cNvSpPr txBox="1"/>
            <p:nvPr/>
          </p:nvSpPr>
          <p:spPr>
            <a:xfrm>
              <a:off x="10189844" y="5284470"/>
              <a:ext cx="384812"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​60%​</a:t>
              </a:r>
            </a:p>
          </p:txBody>
        </p:sp>
        <p:sp>
          <p:nvSpPr>
            <p:cNvPr id="275" name="TextBox 275"/>
            <p:cNvSpPr txBox="1"/>
            <p:nvPr/>
          </p:nvSpPr>
          <p:spPr>
            <a:xfrm>
              <a:off x="10905481" y="5288518"/>
              <a:ext cx="477538" cy="169069"/>
            </a:xfrm>
            <a:prstGeom prst="rect">
              <a:avLst/>
            </a:prstGeom>
            <a:noFill/>
            <a:ln>
              <a:noFill/>
            </a:ln>
          </p:spPr>
          <p:txBody>
            <a:bodyPr wrap="none" lIns="0" tIns="0" rIns="0" bIns="0" anchor="t" anchorCtr="0">
              <a:spAutoFit/>
            </a:bodyPr>
            <a:lstStyle/>
            <a:p>
              <a:pPr algn="ctr"/>
              <a:r>
                <a:rPr lang="en-US" sz="860" b="1" dirty="0">
                  <a:solidFill>
                    <a:srgbClr val="EE492C"/>
                  </a:solidFill>
                  <a:latin typeface="+mn-lt"/>
                  <a:ea typeface="+mn-ea"/>
                  <a:cs typeface="+mn-cs"/>
                </a:rPr>
                <a:t>​+18pp​</a:t>
              </a:r>
            </a:p>
          </p:txBody>
        </p:sp>
        <p:sp>
          <p:nvSpPr>
            <p:cNvPr id="276" name="Rectangle 276"/>
            <p:cNvSpPr/>
            <p:nvPr/>
          </p:nvSpPr>
          <p:spPr>
            <a:xfrm>
              <a:off x="4533900" y="5448300"/>
              <a:ext cx="7124700" cy="228600"/>
            </a:xfrm>
            <a:prstGeom prst="rect">
              <a:avLst/>
            </a:prstGeom>
            <a:solidFill>
              <a:srgbClr val="FFFFFF"/>
            </a:solidFill>
            <a:ln>
              <a:noFill/>
            </a:ln>
          </p:spPr>
        </p:sp>
        <p:sp>
          <p:nvSpPr>
            <p:cNvPr id="277" name="TextBox 277"/>
            <p:cNvSpPr txBox="1"/>
            <p:nvPr/>
          </p:nvSpPr>
          <p:spPr>
            <a:xfrm>
              <a:off x="4605338" y="5521166"/>
              <a:ext cx="996673"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触达转化率（%）​​</a:t>
              </a:r>
            </a:p>
          </p:txBody>
        </p:sp>
        <p:sp>
          <p:nvSpPr>
            <p:cNvPr id="278" name="TextBox 278"/>
            <p:cNvSpPr txBox="1"/>
            <p:nvPr/>
          </p:nvSpPr>
          <p:spPr>
            <a:xfrm>
              <a:off x="6281738" y="5519738"/>
              <a:ext cx="1221105"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触达后产生目标行为的比例</a:t>
              </a:r>
            </a:p>
          </p:txBody>
        </p:sp>
        <p:sp>
          <p:nvSpPr>
            <p:cNvPr id="279" name="TextBox 279"/>
            <p:cNvSpPr txBox="1"/>
            <p:nvPr/>
          </p:nvSpPr>
          <p:spPr>
            <a:xfrm>
              <a:off x="9308211" y="5513070"/>
              <a:ext cx="433578" cy="176212"/>
            </a:xfrm>
            <a:prstGeom prst="rect">
              <a:avLst/>
            </a:prstGeom>
            <a:noFill/>
            <a:ln>
              <a:noFill/>
            </a:ln>
          </p:spPr>
          <p:txBody>
            <a:bodyPr wrap="none" lIns="0" tIns="0" rIns="0" bIns="0" anchor="t" anchorCtr="0">
              <a:spAutoFit/>
            </a:bodyPr>
            <a:lstStyle/>
            <a:p>
              <a:pPr algn="ctr"/>
              <a:r>
                <a:rPr lang="zh-CN" sz="900" dirty="0">
                  <a:solidFill>
                    <a:srgbClr val="3D3835"/>
                  </a:solidFill>
                  <a:latin typeface="+mn-lt"/>
                  <a:ea typeface="+mn-ea"/>
                  <a:cs typeface="+mn-cs"/>
                </a:rPr>
                <a:t>​6.2%​</a:t>
              </a:r>
            </a:p>
          </p:txBody>
        </p:sp>
        <p:sp>
          <p:nvSpPr>
            <p:cNvPr id="280" name="TextBox 280"/>
            <p:cNvSpPr txBox="1"/>
            <p:nvPr/>
          </p:nvSpPr>
          <p:spPr>
            <a:xfrm>
              <a:off x="10119875" y="5513070"/>
              <a:ext cx="524749"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​11.5%​</a:t>
              </a:r>
            </a:p>
          </p:txBody>
        </p:sp>
        <p:sp>
          <p:nvSpPr>
            <p:cNvPr id="281" name="TextBox 281"/>
            <p:cNvSpPr txBox="1"/>
            <p:nvPr/>
          </p:nvSpPr>
          <p:spPr>
            <a:xfrm>
              <a:off x="10872051" y="5517118"/>
              <a:ext cx="544397" cy="169069"/>
            </a:xfrm>
            <a:prstGeom prst="rect">
              <a:avLst/>
            </a:prstGeom>
            <a:noFill/>
            <a:ln>
              <a:noFill/>
            </a:ln>
          </p:spPr>
          <p:txBody>
            <a:bodyPr wrap="none" lIns="0" tIns="0" rIns="0" bIns="0" anchor="t" anchorCtr="0">
              <a:spAutoFit/>
            </a:bodyPr>
            <a:lstStyle/>
            <a:p>
              <a:pPr algn="ctr"/>
              <a:r>
                <a:rPr lang="en-US" sz="860" b="1" dirty="0">
                  <a:solidFill>
                    <a:srgbClr val="EE492C"/>
                  </a:solidFill>
                  <a:latin typeface="+mn-lt"/>
                  <a:ea typeface="+mn-ea"/>
                  <a:cs typeface="+mn-cs"/>
                </a:rPr>
                <a:t>​+5.3pp​</a:t>
              </a:r>
            </a:p>
          </p:txBody>
        </p:sp>
        <p:sp>
          <p:nvSpPr>
            <p:cNvPr id="282" name="Rectangle 282"/>
            <p:cNvSpPr/>
            <p:nvPr/>
          </p:nvSpPr>
          <p:spPr>
            <a:xfrm>
              <a:off x="4533900" y="5676900"/>
              <a:ext cx="7124700" cy="228600"/>
            </a:xfrm>
            <a:prstGeom prst="rect">
              <a:avLst/>
            </a:prstGeom>
            <a:solidFill>
              <a:srgbClr val="FEF2E6"/>
            </a:solidFill>
            <a:ln>
              <a:noFill/>
            </a:ln>
          </p:spPr>
        </p:sp>
        <p:sp>
          <p:nvSpPr>
            <p:cNvPr id="283" name="TextBox 283"/>
            <p:cNvSpPr txBox="1"/>
            <p:nvPr/>
          </p:nvSpPr>
          <p:spPr>
            <a:xfrm>
              <a:off x="4605338" y="5749766"/>
              <a:ext cx="1327838"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自动化旅程覆盖率（%）​​</a:t>
              </a:r>
            </a:p>
          </p:txBody>
        </p:sp>
        <p:sp>
          <p:nvSpPr>
            <p:cNvPr id="284" name="TextBox 284"/>
            <p:cNvSpPr txBox="1"/>
            <p:nvPr/>
          </p:nvSpPr>
          <p:spPr>
            <a:xfrm>
              <a:off x="6281738" y="5748338"/>
              <a:ext cx="1019175"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旅程覆盖客户占总客户</a:t>
              </a:r>
            </a:p>
          </p:txBody>
        </p:sp>
        <p:sp>
          <p:nvSpPr>
            <p:cNvPr id="285" name="TextBox 285"/>
            <p:cNvSpPr txBox="1"/>
            <p:nvPr/>
          </p:nvSpPr>
          <p:spPr>
            <a:xfrm>
              <a:off x="9341529" y="5741670"/>
              <a:ext cx="366941" cy="176212"/>
            </a:xfrm>
            <a:prstGeom prst="rect">
              <a:avLst/>
            </a:prstGeom>
            <a:noFill/>
            <a:ln>
              <a:noFill/>
            </a:ln>
          </p:spPr>
          <p:txBody>
            <a:bodyPr wrap="none" lIns="0" tIns="0" rIns="0" bIns="0" anchor="t" anchorCtr="0">
              <a:spAutoFit/>
            </a:bodyPr>
            <a:lstStyle/>
            <a:p>
              <a:pPr algn="ctr"/>
              <a:r>
                <a:rPr lang="zh-CN" sz="900" dirty="0">
                  <a:solidFill>
                    <a:srgbClr val="3D3835"/>
                  </a:solidFill>
                  <a:latin typeface="+mn-lt"/>
                  <a:ea typeface="+mn-ea"/>
                  <a:cs typeface="+mn-cs"/>
                </a:rPr>
                <a:t>​18%​</a:t>
              </a:r>
            </a:p>
          </p:txBody>
        </p:sp>
        <p:sp>
          <p:nvSpPr>
            <p:cNvPr id="286" name="TextBox 286"/>
            <p:cNvSpPr txBox="1"/>
            <p:nvPr/>
          </p:nvSpPr>
          <p:spPr>
            <a:xfrm>
              <a:off x="10189844" y="5741670"/>
              <a:ext cx="384812"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​55%​</a:t>
              </a:r>
            </a:p>
          </p:txBody>
        </p:sp>
        <p:sp>
          <p:nvSpPr>
            <p:cNvPr id="287" name="TextBox 287"/>
            <p:cNvSpPr txBox="1"/>
            <p:nvPr/>
          </p:nvSpPr>
          <p:spPr>
            <a:xfrm>
              <a:off x="10905481" y="5745718"/>
              <a:ext cx="477538" cy="169069"/>
            </a:xfrm>
            <a:prstGeom prst="rect">
              <a:avLst/>
            </a:prstGeom>
            <a:noFill/>
            <a:ln>
              <a:noFill/>
            </a:ln>
          </p:spPr>
          <p:txBody>
            <a:bodyPr wrap="none" lIns="0" tIns="0" rIns="0" bIns="0" anchor="t" anchorCtr="0">
              <a:spAutoFit/>
            </a:bodyPr>
            <a:lstStyle/>
            <a:p>
              <a:pPr algn="ctr"/>
              <a:r>
                <a:rPr lang="en-US" sz="860" b="1" dirty="0">
                  <a:solidFill>
                    <a:srgbClr val="EE492C"/>
                  </a:solidFill>
                  <a:latin typeface="+mn-lt"/>
                  <a:ea typeface="+mn-ea"/>
                  <a:cs typeface="+mn-cs"/>
                </a:rPr>
                <a:t>​+37pp​</a:t>
              </a:r>
            </a:p>
          </p:txBody>
        </p:sp>
        <p:sp>
          <p:nvSpPr>
            <p:cNvPr id="288" name="Rectangle 288"/>
            <p:cNvSpPr/>
            <p:nvPr/>
          </p:nvSpPr>
          <p:spPr>
            <a:xfrm>
              <a:off x="4533900" y="5981700"/>
              <a:ext cx="7124700" cy="228600"/>
            </a:xfrm>
            <a:prstGeom prst="rect">
              <a:avLst/>
            </a:prstGeom>
            <a:solidFill>
              <a:srgbClr val="FEF2E6"/>
            </a:solidFill>
            <a:ln>
              <a:noFill/>
            </a:ln>
          </p:spPr>
        </p:sp>
        <p:sp>
          <p:nvSpPr>
            <p:cNvPr id="289" name="TextBox 289"/>
            <p:cNvSpPr txBox="1"/>
            <p:nvPr/>
          </p:nvSpPr>
          <p:spPr>
            <a:xfrm>
              <a:off x="4605338" y="6054566"/>
              <a:ext cx="346314" cy="161925"/>
            </a:xfrm>
            <a:prstGeom prst="rect">
              <a:avLst/>
            </a:prstGeom>
            <a:noFill/>
            <a:ln>
              <a:noFill/>
            </a:ln>
          </p:spPr>
          <p:txBody>
            <a:bodyPr wrap="none" lIns="0" tIns="0" rIns="0" bIns="0" anchor="t" anchorCtr="0">
              <a:spAutoFit/>
            </a:bodyPr>
            <a:lstStyle/>
            <a:p>
              <a:pPr algn="l"/>
              <a:r>
                <a:rPr lang="en-US" sz="820" b="1" dirty="0">
                  <a:solidFill>
                    <a:srgbClr val="4A130A"/>
                  </a:solidFill>
                  <a:latin typeface="+mn-lt"/>
                  <a:ea typeface="+mn-ea"/>
                  <a:cs typeface="+mn-cs"/>
                </a:rPr>
                <a:t>NPS​​</a:t>
              </a:r>
            </a:p>
          </p:txBody>
        </p:sp>
        <p:sp>
          <p:nvSpPr>
            <p:cNvPr id="290" name="TextBox 290"/>
            <p:cNvSpPr txBox="1"/>
            <p:nvPr/>
          </p:nvSpPr>
          <p:spPr>
            <a:xfrm>
              <a:off x="6281738" y="6053138"/>
              <a:ext cx="413385"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净推荐值</a:t>
              </a:r>
            </a:p>
          </p:txBody>
        </p:sp>
        <p:sp>
          <p:nvSpPr>
            <p:cNvPr id="291" name="TextBox 291"/>
            <p:cNvSpPr txBox="1"/>
            <p:nvPr/>
          </p:nvSpPr>
          <p:spPr>
            <a:xfrm>
              <a:off x="9386964" y="6046470"/>
              <a:ext cx="276073" cy="176212"/>
            </a:xfrm>
            <a:prstGeom prst="rect">
              <a:avLst/>
            </a:prstGeom>
            <a:noFill/>
            <a:ln>
              <a:noFill/>
            </a:ln>
          </p:spPr>
          <p:txBody>
            <a:bodyPr wrap="none" lIns="0" tIns="0" rIns="0" bIns="0" anchor="t" anchorCtr="0">
              <a:spAutoFit/>
            </a:bodyPr>
            <a:lstStyle/>
            <a:p>
              <a:pPr algn="ctr"/>
              <a:r>
                <a:rPr lang="zh-CN" sz="900" dirty="0">
                  <a:solidFill>
                    <a:srgbClr val="3D3835"/>
                  </a:solidFill>
                  <a:latin typeface="+mn-lt"/>
                  <a:ea typeface="+mn-ea"/>
                  <a:cs typeface="+mn-cs"/>
                </a:rPr>
                <a:t>​41​</a:t>
              </a:r>
            </a:p>
          </p:txBody>
        </p:sp>
        <p:sp>
          <p:nvSpPr>
            <p:cNvPr id="292" name="TextBox 292"/>
            <p:cNvSpPr txBox="1"/>
            <p:nvPr/>
          </p:nvSpPr>
          <p:spPr>
            <a:xfrm>
              <a:off x="10237550" y="6046470"/>
              <a:ext cx="289400"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​60​</a:t>
              </a:r>
            </a:p>
          </p:txBody>
        </p:sp>
        <p:sp>
          <p:nvSpPr>
            <p:cNvPr id="293" name="TextBox 293"/>
            <p:cNvSpPr txBox="1"/>
            <p:nvPr/>
          </p:nvSpPr>
          <p:spPr>
            <a:xfrm>
              <a:off x="10972340" y="6050518"/>
              <a:ext cx="343820" cy="169069"/>
            </a:xfrm>
            <a:prstGeom prst="rect">
              <a:avLst/>
            </a:prstGeom>
            <a:noFill/>
            <a:ln>
              <a:noFill/>
            </a:ln>
          </p:spPr>
          <p:txBody>
            <a:bodyPr wrap="none" lIns="0" tIns="0" rIns="0" bIns="0" anchor="t" anchorCtr="0">
              <a:spAutoFit/>
            </a:bodyPr>
            <a:lstStyle/>
            <a:p>
              <a:pPr algn="ctr"/>
              <a:r>
                <a:rPr lang="zh-CN" sz="860" b="1" dirty="0">
                  <a:solidFill>
                    <a:srgbClr val="EE492C"/>
                  </a:solidFill>
                  <a:latin typeface="+mn-lt"/>
                  <a:ea typeface="+mn-ea"/>
                  <a:cs typeface="+mn-cs"/>
                </a:rPr>
                <a:t>​+19​</a:t>
              </a:r>
            </a:p>
          </p:txBody>
        </p:sp>
        <p:sp>
          <p:nvSpPr>
            <p:cNvPr id="294" name="Rectangle 294"/>
            <p:cNvSpPr/>
            <p:nvPr/>
          </p:nvSpPr>
          <p:spPr>
            <a:xfrm>
              <a:off x="4533900" y="6210300"/>
              <a:ext cx="7124700" cy="228600"/>
            </a:xfrm>
            <a:prstGeom prst="rect">
              <a:avLst/>
            </a:prstGeom>
            <a:solidFill>
              <a:srgbClr val="FFFFFF"/>
            </a:solidFill>
            <a:ln>
              <a:noFill/>
            </a:ln>
          </p:spPr>
        </p:sp>
        <p:sp>
          <p:nvSpPr>
            <p:cNvPr id="295" name="TextBox 295"/>
            <p:cNvSpPr txBox="1"/>
            <p:nvPr/>
          </p:nvSpPr>
          <p:spPr>
            <a:xfrm>
              <a:off x="4605338" y="6283166"/>
              <a:ext cx="752715"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投诉率（‰）​​</a:t>
              </a:r>
            </a:p>
          </p:txBody>
        </p:sp>
        <p:sp>
          <p:nvSpPr>
            <p:cNvPr id="296" name="TextBox 296"/>
            <p:cNvSpPr txBox="1"/>
            <p:nvPr/>
          </p:nvSpPr>
          <p:spPr>
            <a:xfrm>
              <a:off x="6281738" y="6281738"/>
              <a:ext cx="817245"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每千客户投诉次数</a:t>
              </a:r>
            </a:p>
          </p:txBody>
        </p:sp>
        <p:sp>
          <p:nvSpPr>
            <p:cNvPr id="297" name="TextBox 297"/>
            <p:cNvSpPr txBox="1"/>
            <p:nvPr/>
          </p:nvSpPr>
          <p:spPr>
            <a:xfrm>
              <a:off x="9320327" y="6275070"/>
              <a:ext cx="409346" cy="176212"/>
            </a:xfrm>
            <a:prstGeom prst="rect">
              <a:avLst/>
            </a:prstGeom>
            <a:noFill/>
            <a:ln>
              <a:noFill/>
            </a:ln>
          </p:spPr>
          <p:txBody>
            <a:bodyPr wrap="none" lIns="0" tIns="0" rIns="0" bIns="0" anchor="t" anchorCtr="0">
              <a:spAutoFit/>
            </a:bodyPr>
            <a:lstStyle/>
            <a:p>
              <a:pPr algn="ctr"/>
              <a:r>
                <a:rPr lang="zh-CN" sz="900" dirty="0">
                  <a:solidFill>
                    <a:srgbClr val="3D3835"/>
                  </a:solidFill>
                  <a:latin typeface="+mn-lt"/>
                  <a:ea typeface="+mn-ea"/>
                  <a:cs typeface="+mn-cs"/>
                </a:rPr>
                <a:t>​2.8‰​</a:t>
              </a:r>
            </a:p>
          </p:txBody>
        </p:sp>
        <p:sp>
          <p:nvSpPr>
            <p:cNvPr id="298" name="TextBox 298"/>
            <p:cNvSpPr txBox="1"/>
            <p:nvPr/>
          </p:nvSpPr>
          <p:spPr>
            <a:xfrm>
              <a:off x="10167581" y="6275070"/>
              <a:ext cx="429337"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​1.6‰​</a:t>
              </a:r>
            </a:p>
          </p:txBody>
        </p:sp>
        <p:sp>
          <p:nvSpPr>
            <p:cNvPr id="299" name="TextBox 299"/>
            <p:cNvSpPr txBox="1"/>
            <p:nvPr/>
          </p:nvSpPr>
          <p:spPr>
            <a:xfrm>
              <a:off x="10938910" y="6279118"/>
              <a:ext cx="410679" cy="169069"/>
            </a:xfrm>
            <a:prstGeom prst="rect">
              <a:avLst/>
            </a:prstGeom>
            <a:noFill/>
            <a:ln>
              <a:noFill/>
            </a:ln>
          </p:spPr>
          <p:txBody>
            <a:bodyPr wrap="none" lIns="0" tIns="0" rIns="0" bIns="0" anchor="t" anchorCtr="0">
              <a:spAutoFit/>
            </a:bodyPr>
            <a:lstStyle/>
            <a:p>
              <a:pPr algn="ctr"/>
              <a:r>
                <a:rPr lang="zh-CN" sz="860" b="1" dirty="0">
                  <a:solidFill>
                    <a:srgbClr val="EE492C"/>
                  </a:solidFill>
                  <a:latin typeface="+mn-lt"/>
                  <a:ea typeface="+mn-ea"/>
                  <a:cs typeface="+mn-cs"/>
                </a:rPr>
                <a:t>​-1.2​</a:t>
              </a:r>
            </a:p>
          </p:txBody>
        </p:sp>
        <p:sp>
          <p:nvSpPr>
            <p:cNvPr id="300" name="Rectangle 300"/>
            <p:cNvSpPr/>
            <p:nvPr/>
          </p:nvSpPr>
          <p:spPr>
            <a:xfrm>
              <a:off x="4533900" y="6438900"/>
              <a:ext cx="7124700" cy="228600"/>
            </a:xfrm>
            <a:prstGeom prst="rect">
              <a:avLst/>
            </a:prstGeom>
            <a:solidFill>
              <a:srgbClr val="FEF2E6"/>
            </a:solidFill>
            <a:ln>
              <a:noFill/>
            </a:ln>
          </p:spPr>
        </p:sp>
        <p:sp>
          <p:nvSpPr>
            <p:cNvPr id="301" name="TextBox 301"/>
            <p:cNvSpPr txBox="1"/>
            <p:nvPr/>
          </p:nvSpPr>
          <p:spPr>
            <a:xfrm>
              <a:off x="4605338" y="6511766"/>
              <a:ext cx="1113409"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首次响应时长（小时）</a:t>
              </a:r>
            </a:p>
          </p:txBody>
        </p:sp>
        <p:sp>
          <p:nvSpPr>
            <p:cNvPr id="302" name="TextBox 302"/>
            <p:cNvSpPr txBox="1"/>
            <p:nvPr/>
          </p:nvSpPr>
          <p:spPr>
            <a:xfrm>
              <a:off x="6281738" y="6510338"/>
              <a:ext cx="1019175"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客服首次响应平均时长</a:t>
              </a:r>
            </a:p>
          </p:txBody>
        </p:sp>
        <p:sp>
          <p:nvSpPr>
            <p:cNvPr id="303" name="TextBox 303"/>
            <p:cNvSpPr txBox="1"/>
            <p:nvPr/>
          </p:nvSpPr>
          <p:spPr>
            <a:xfrm>
              <a:off x="9232487" y="6503670"/>
              <a:ext cx="585026" cy="176212"/>
            </a:xfrm>
            <a:prstGeom prst="rect">
              <a:avLst/>
            </a:prstGeom>
            <a:noFill/>
            <a:ln>
              <a:noFill/>
            </a:ln>
          </p:spPr>
          <p:txBody>
            <a:bodyPr wrap="none" lIns="0" tIns="0" rIns="0" bIns="0" anchor="t" anchorCtr="0">
              <a:spAutoFit/>
            </a:bodyPr>
            <a:lstStyle/>
            <a:p>
              <a:pPr algn="ctr"/>
              <a:r>
                <a:rPr lang="zh-CN" sz="900" dirty="0">
                  <a:solidFill>
                    <a:srgbClr val="3D3835"/>
                  </a:solidFill>
                  <a:latin typeface="+mn-lt"/>
                  <a:ea typeface="+mn-ea"/>
                  <a:cs typeface="+mn-cs"/>
                </a:rPr>
                <a:t>​6.2小时​</a:t>
              </a:r>
            </a:p>
          </p:txBody>
        </p:sp>
        <p:sp>
          <p:nvSpPr>
            <p:cNvPr id="304" name="TextBox 304"/>
            <p:cNvSpPr txBox="1"/>
            <p:nvPr/>
          </p:nvSpPr>
          <p:spPr>
            <a:xfrm>
              <a:off x="10081408" y="6503670"/>
              <a:ext cx="601685"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​2.0小时​</a:t>
              </a:r>
            </a:p>
          </p:txBody>
        </p:sp>
        <p:sp>
          <p:nvSpPr>
            <p:cNvPr id="305" name="TextBox 305"/>
            <p:cNvSpPr txBox="1"/>
            <p:nvPr/>
          </p:nvSpPr>
          <p:spPr>
            <a:xfrm>
              <a:off x="10938910" y="6507718"/>
              <a:ext cx="410679" cy="169069"/>
            </a:xfrm>
            <a:prstGeom prst="rect">
              <a:avLst/>
            </a:prstGeom>
            <a:noFill/>
            <a:ln>
              <a:noFill/>
            </a:ln>
          </p:spPr>
          <p:txBody>
            <a:bodyPr wrap="none" lIns="0" tIns="0" rIns="0" bIns="0" anchor="t" anchorCtr="0">
              <a:spAutoFit/>
            </a:bodyPr>
            <a:lstStyle/>
            <a:p>
              <a:pPr algn="ctr"/>
              <a:r>
                <a:rPr lang="zh-CN" sz="860" b="1" dirty="0">
                  <a:solidFill>
                    <a:srgbClr val="EE492C"/>
                  </a:solidFill>
                  <a:latin typeface="+mn-lt"/>
                  <a:ea typeface="+mn-ea"/>
                  <a:cs typeface="+mn-cs"/>
                </a:rPr>
                <a:t>​-4.2​</a:t>
              </a:r>
            </a:p>
          </p:txBody>
        </p:sp>
      </p:gr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02</a:t>
              </a:r>
            </a:p>
          </p:txBody>
        </p:sp>
        <p:sp>
          <p:nvSpPr>
            <p:cNvPr id="4" name="TextBox 4"/>
            <p:cNvSpPr txBox="1"/>
            <p:nvPr/>
          </p:nvSpPr>
          <p:spPr>
            <a:xfrm>
              <a:off x="904494" y="170498"/>
              <a:ext cx="6582537"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外部变化</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客户关系正在从账户占有转向场景与信任竞争</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70" name="trends"/>
          <p:cNvGrpSpPr/>
          <p:nvPr/>
        </p:nvGrpSpPr>
        <p:grpSpPr>
          <a:xfrm>
            <a:off x="342900" y="666750"/>
            <a:ext cx="2647950" cy="6019800"/>
            <a:chOff x="342900" y="666750"/>
            <a:chExt cx="2647950" cy="6019800"/>
          </a:xfrm>
        </p:grpSpPr>
        <p:sp>
          <p:nvSpPr>
            <p:cNvPr id="7" name="Rectangle 7"/>
            <p:cNvSpPr/>
            <p:nvPr/>
          </p:nvSpPr>
          <p:spPr>
            <a:xfrm>
              <a:off x="342900" y="666750"/>
              <a:ext cx="2647950" cy="228600"/>
            </a:xfrm>
            <a:prstGeom prst="roundRect">
              <a:avLst>
                <a:gd name="adj" fmla="val 12500"/>
              </a:avLst>
            </a:prstGeom>
            <a:solidFill>
              <a:srgbClr val="C41D00"/>
            </a:solidFill>
            <a:ln>
              <a:noFill/>
            </a:ln>
          </p:spPr>
        </p:sp>
        <p:sp>
          <p:nvSpPr>
            <p:cNvPr id="8" name="TextBox 8"/>
            <p:cNvSpPr txBox="1"/>
            <p:nvPr/>
          </p:nvSpPr>
          <p:spPr>
            <a:xfrm>
              <a:off x="452438" y="727472"/>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四大趋势</a:t>
              </a:r>
            </a:p>
          </p:txBody>
        </p:sp>
        <p:sp>
          <p:nvSpPr>
            <p:cNvPr id="9" name="Rectangle 9"/>
            <p:cNvSpPr/>
            <p:nvPr/>
          </p:nvSpPr>
          <p:spPr>
            <a:xfrm>
              <a:off x="342900" y="971550"/>
              <a:ext cx="2647950" cy="1371600"/>
            </a:xfrm>
            <a:prstGeom prst="roundRect">
              <a:avLst>
                <a:gd name="adj" fmla="val 2778"/>
              </a:avLst>
            </a:prstGeom>
            <a:solidFill>
              <a:srgbClr val="FFF8F2"/>
            </a:solidFill>
            <a:ln w="9525">
              <a:solidFill>
                <a:srgbClr val="F0B8AE"/>
              </a:solidFill>
            </a:ln>
          </p:spPr>
        </p:sp>
        <p:sp>
          <p:nvSpPr>
            <p:cNvPr id="10" name="Rectangle 10"/>
            <p:cNvSpPr/>
            <p:nvPr/>
          </p:nvSpPr>
          <p:spPr>
            <a:xfrm>
              <a:off x="438150" y="1238250"/>
              <a:ext cx="533400" cy="533400"/>
            </a:xfrm>
            <a:prstGeom prst="roundRect">
              <a:avLst>
                <a:gd name="adj" fmla="val 10714"/>
              </a:avLst>
            </a:prstGeom>
            <a:gradFill>
              <a:gsLst>
                <a:gs pos="0">
                  <a:srgbClr val="D82000"/>
                </a:gs>
                <a:gs pos="100000">
                  <a:srgbClr val="EE492C"/>
                </a:gs>
              </a:gsLst>
              <a:lin ang="2700000" scaled="1"/>
            </a:gradFill>
            <a:ln>
              <a:noFill/>
            </a:ln>
          </p:spPr>
        </p:sp>
        <p:grpSp>
          <p:nvGrpSpPr>
            <p:cNvPr id="15" name="Group 15"/>
            <p:cNvGrpSpPr/>
            <p:nvPr/>
          </p:nvGrpSpPr>
          <p:grpSpPr>
            <a:xfrm>
              <a:off x="590550" y="1403350"/>
              <a:ext cx="228600" cy="212724"/>
              <a:chOff x="590550" y="1403350"/>
              <a:chExt cx="228600" cy="212724"/>
            </a:xfrm>
          </p:grpSpPr>
          <p:sp>
            <p:nvSpPr>
              <p:cNvPr id="11" name="Freeform 11"/>
              <p:cNvSpPr/>
              <p:nvPr/>
            </p:nvSpPr>
            <p:spPr>
              <a:xfrm>
                <a:off x="590550" y="1504950"/>
                <a:ext cx="76200" cy="101600"/>
              </a:xfrm>
              <a:custGeom>
                <a:avLst/>
                <a:gdLst/>
                <a:ahLst/>
                <a:cxnLst/>
                <a:rect l="l" t="t" r="r" b="b"/>
                <a:pathLst>
                  <a:path w="76200" h="101600">
                    <a:moveTo>
                      <a:pt x="0" y="12700"/>
                    </a:moveTo>
                    <a:cubicBezTo>
                      <a:pt x="0" y="5686"/>
                      <a:pt x="5686" y="0"/>
                      <a:pt x="12700" y="0"/>
                    </a:cubicBezTo>
                    <a:lnTo>
                      <a:pt x="63500" y="0"/>
                    </a:lnTo>
                    <a:cubicBezTo>
                      <a:pt x="70514" y="0"/>
                      <a:pt x="76200" y="5686"/>
                      <a:pt x="76200" y="12700"/>
                    </a:cubicBezTo>
                    <a:lnTo>
                      <a:pt x="76200" y="88900"/>
                    </a:lnTo>
                    <a:cubicBezTo>
                      <a:pt x="76200" y="95914"/>
                      <a:pt x="70514" y="101600"/>
                      <a:pt x="63500" y="101600"/>
                    </a:cubicBezTo>
                    <a:lnTo>
                      <a:pt x="12700" y="101600"/>
                    </a:lnTo>
                    <a:cubicBezTo>
                      <a:pt x="5686" y="101600"/>
                      <a:pt x="0" y="95914"/>
                      <a:pt x="0" y="88900"/>
                    </a:cubicBezTo>
                    <a:lnTo>
                      <a:pt x="0" y="12700"/>
                    </a:lnTo>
                  </a:path>
                </a:pathLst>
              </a:custGeom>
              <a:noFill/>
              <a:ln w="25400">
                <a:solidFill>
                  <a:srgbClr val="FFFFFF"/>
                </a:solidFill>
              </a:ln>
            </p:spPr>
          </p:sp>
          <p:sp>
            <p:nvSpPr>
              <p:cNvPr id="12" name="Freeform 12"/>
              <p:cNvSpPr/>
              <p:nvPr/>
            </p:nvSpPr>
            <p:spPr>
              <a:xfrm>
                <a:off x="742950" y="1454150"/>
                <a:ext cx="76200" cy="152400"/>
              </a:xfrm>
              <a:custGeom>
                <a:avLst/>
                <a:gdLst/>
                <a:ahLst/>
                <a:cxnLst/>
                <a:rect l="l" t="t" r="r" b="b"/>
                <a:pathLst>
                  <a:path w="76200" h="152400">
                    <a:moveTo>
                      <a:pt x="0" y="12700"/>
                    </a:moveTo>
                    <a:cubicBezTo>
                      <a:pt x="0" y="5686"/>
                      <a:pt x="5686" y="0"/>
                      <a:pt x="12700" y="0"/>
                    </a:cubicBezTo>
                    <a:lnTo>
                      <a:pt x="63500" y="0"/>
                    </a:lnTo>
                    <a:cubicBezTo>
                      <a:pt x="70514" y="0"/>
                      <a:pt x="76200" y="5686"/>
                      <a:pt x="76200" y="12700"/>
                    </a:cubicBezTo>
                    <a:lnTo>
                      <a:pt x="76200" y="139700"/>
                    </a:lnTo>
                    <a:cubicBezTo>
                      <a:pt x="76200" y="146714"/>
                      <a:pt x="70514" y="152400"/>
                      <a:pt x="63500" y="152400"/>
                    </a:cubicBezTo>
                    <a:lnTo>
                      <a:pt x="12700" y="152400"/>
                    </a:lnTo>
                    <a:cubicBezTo>
                      <a:pt x="5686" y="152400"/>
                      <a:pt x="0" y="146714"/>
                      <a:pt x="0" y="139700"/>
                    </a:cubicBezTo>
                    <a:lnTo>
                      <a:pt x="0" y="12700"/>
                    </a:lnTo>
                  </a:path>
                </a:pathLst>
              </a:custGeom>
              <a:noFill/>
              <a:ln w="25400">
                <a:solidFill>
                  <a:srgbClr val="FFFFFF"/>
                </a:solidFill>
              </a:ln>
            </p:spPr>
          </p:sp>
          <p:sp>
            <p:nvSpPr>
              <p:cNvPr id="13" name="Freeform 13"/>
              <p:cNvSpPr/>
              <p:nvPr/>
            </p:nvSpPr>
            <p:spPr>
              <a:xfrm>
                <a:off x="666750" y="1403350"/>
                <a:ext cx="76200" cy="203199"/>
              </a:xfrm>
              <a:custGeom>
                <a:avLst/>
                <a:gdLst/>
                <a:ahLst/>
                <a:cxnLst/>
                <a:rect l="l" t="t" r="r" b="b"/>
                <a:pathLst>
                  <a:path w="76200" h="203199">
                    <a:moveTo>
                      <a:pt x="0" y="12700"/>
                    </a:moveTo>
                    <a:cubicBezTo>
                      <a:pt x="0" y="5686"/>
                      <a:pt x="5686" y="0"/>
                      <a:pt x="12700" y="0"/>
                    </a:cubicBezTo>
                    <a:lnTo>
                      <a:pt x="63500" y="0"/>
                    </a:lnTo>
                    <a:cubicBezTo>
                      <a:pt x="70514" y="0"/>
                      <a:pt x="76200" y="5686"/>
                      <a:pt x="76200" y="12700"/>
                    </a:cubicBezTo>
                    <a:lnTo>
                      <a:pt x="76200" y="190500"/>
                    </a:lnTo>
                    <a:cubicBezTo>
                      <a:pt x="76200" y="197514"/>
                      <a:pt x="70514" y="203199"/>
                      <a:pt x="63500" y="203199"/>
                    </a:cubicBezTo>
                    <a:lnTo>
                      <a:pt x="12700" y="203199"/>
                    </a:lnTo>
                    <a:cubicBezTo>
                      <a:pt x="5686" y="203199"/>
                      <a:pt x="0" y="197514"/>
                      <a:pt x="0" y="190500"/>
                    </a:cubicBezTo>
                    <a:lnTo>
                      <a:pt x="0" y="12700"/>
                    </a:lnTo>
                  </a:path>
                </a:pathLst>
              </a:custGeom>
              <a:noFill/>
              <a:ln w="25400">
                <a:solidFill>
                  <a:srgbClr val="FFFFFF"/>
                </a:solidFill>
              </a:ln>
            </p:spPr>
          </p:sp>
          <p:sp>
            <p:nvSpPr>
              <p:cNvPr id="14" name="Freeform 14"/>
              <p:cNvSpPr/>
              <p:nvPr/>
            </p:nvSpPr>
            <p:spPr>
              <a:xfrm>
                <a:off x="603250" y="1606549"/>
                <a:ext cx="177800" cy="9525"/>
              </a:xfrm>
              <a:custGeom>
                <a:avLst/>
                <a:gdLst/>
                <a:ahLst/>
                <a:cxnLst/>
                <a:rect l="l" t="t" r="r" b="b"/>
                <a:pathLst>
                  <a:path w="177800" h="9525">
                    <a:moveTo>
                      <a:pt x="0" y="0"/>
                    </a:moveTo>
                    <a:lnTo>
                      <a:pt x="177800" y="0"/>
                    </a:lnTo>
                  </a:path>
                </a:pathLst>
              </a:custGeom>
              <a:noFill/>
              <a:ln w="25400">
                <a:solidFill>
                  <a:srgbClr val="FFFFFF"/>
                </a:solidFill>
              </a:ln>
            </p:spPr>
          </p:sp>
        </p:grpSp>
        <p:sp>
          <p:nvSpPr>
            <p:cNvPr id="16" name="Rectangle 16"/>
            <p:cNvSpPr/>
            <p:nvPr/>
          </p:nvSpPr>
          <p:spPr>
            <a:xfrm>
              <a:off x="1066800" y="1123950"/>
              <a:ext cx="247650" cy="190500"/>
            </a:xfrm>
            <a:prstGeom prst="roundRect">
              <a:avLst>
                <a:gd name="adj" fmla="val 15000"/>
              </a:avLst>
            </a:prstGeom>
            <a:solidFill>
              <a:srgbClr val="D82000"/>
            </a:solidFill>
            <a:ln>
              <a:noFill/>
            </a:ln>
          </p:spPr>
        </p:sp>
        <p:sp>
          <p:nvSpPr>
            <p:cNvPr id="17" name="TextBox 17"/>
            <p:cNvSpPr txBox="1"/>
            <p:nvPr/>
          </p:nvSpPr>
          <p:spPr>
            <a:xfrm>
              <a:off x="1052144" y="1173718"/>
              <a:ext cx="27696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​01​</a:t>
              </a:r>
            </a:p>
          </p:txBody>
        </p:sp>
        <p:sp>
          <p:nvSpPr>
            <p:cNvPr id="18" name="TextBox 18"/>
            <p:cNvSpPr txBox="1"/>
            <p:nvPr/>
          </p:nvSpPr>
          <p:spPr>
            <a:xfrm>
              <a:off x="1385697" y="1171099"/>
              <a:ext cx="933399" cy="190690"/>
            </a:xfrm>
            <a:prstGeom prst="rect">
              <a:avLst/>
            </a:prstGeom>
            <a:noFill/>
            <a:ln>
              <a:noFill/>
            </a:ln>
          </p:spPr>
          <p:txBody>
            <a:bodyPr wrap="none" lIns="0" tIns="0" rIns="0" bIns="0" anchor="t" anchorCtr="0">
              <a:spAutoFit/>
            </a:bodyPr>
            <a:lstStyle/>
            <a:p>
              <a:pPr algn="l"/>
              <a:r>
                <a:rPr lang="zh-CN" sz="980" b="1" dirty="0">
                  <a:solidFill>
                    <a:srgbClr val="C41D00"/>
                  </a:solidFill>
                  <a:latin typeface="+mn-lt"/>
                  <a:ea typeface="+mn-ea"/>
                  <a:cs typeface="+mn-cs"/>
                </a:rPr>
                <a:t>利率与息差变化</a:t>
              </a:r>
            </a:p>
          </p:txBody>
        </p:sp>
        <p:sp>
          <p:nvSpPr>
            <p:cNvPr id="19" name="Polygon 19"/>
            <p:cNvSpPr/>
            <p:nvPr/>
          </p:nvSpPr>
          <p:spPr>
            <a:xfrm>
              <a:off x="1066800" y="1504950"/>
              <a:ext cx="57150" cy="76200"/>
            </a:xfrm>
            <a:custGeom>
              <a:avLst/>
              <a:gdLst/>
              <a:ahLst/>
              <a:cxnLst/>
              <a:rect l="l" t="t" r="r" b="b"/>
              <a:pathLst>
                <a:path w="57150" h="76200">
                  <a:moveTo>
                    <a:pt x="0" y="0"/>
                  </a:moveTo>
                  <a:lnTo>
                    <a:pt x="57150" y="38100"/>
                  </a:lnTo>
                  <a:lnTo>
                    <a:pt x="0" y="76200"/>
                  </a:lnTo>
                  <a:close/>
                </a:path>
              </a:pathLst>
            </a:custGeom>
            <a:solidFill>
              <a:srgbClr val="C41D00"/>
            </a:solidFill>
            <a:ln>
              <a:noFill/>
            </a:ln>
          </p:spPr>
        </p:sp>
        <p:sp>
          <p:nvSpPr>
            <p:cNvPr id="20" name="TextBox 20"/>
            <p:cNvSpPr txBox="1"/>
            <p:nvPr/>
          </p:nvSpPr>
          <p:spPr>
            <a:xfrm>
              <a:off x="1176338" y="1486614"/>
              <a:ext cx="1374013"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3D3835"/>
                  </a:solidFill>
                  <a:latin typeface="+mn-lt"/>
                  <a:ea typeface="+mn-ea"/>
                  <a:cs typeface="+mn-cs"/>
                </a:rPr>
                <a:t>净息差持续收窄至1.54%，​​​</a:t>
              </a:r>
              <a:br/>
              <a:r>
                <a:rPr lang="zh-CN" sz="790" dirty="0">
                  <a:solidFill>
                    <a:srgbClr val="3D3835"/>
                  </a:solidFill>
                  <a:latin typeface="+mn-lt"/>
                  <a:ea typeface="+mn-ea"/>
                  <a:cs typeface="+mn-cs"/>
                </a:rPr>
                <a:t>较2022年下降24bp​​​</a:t>
              </a:r>
            </a:p>
          </p:txBody>
        </p:sp>
        <p:sp>
          <p:nvSpPr>
            <p:cNvPr id="21" name="Polygon 21"/>
            <p:cNvSpPr/>
            <p:nvPr/>
          </p:nvSpPr>
          <p:spPr>
            <a:xfrm>
              <a:off x="1066800" y="1828800"/>
              <a:ext cx="57150" cy="76200"/>
            </a:xfrm>
            <a:custGeom>
              <a:avLst/>
              <a:gdLst/>
              <a:ahLst/>
              <a:cxnLst/>
              <a:rect l="l" t="t" r="r" b="b"/>
              <a:pathLst>
                <a:path w="57150" h="76200">
                  <a:moveTo>
                    <a:pt x="0" y="0"/>
                  </a:moveTo>
                  <a:lnTo>
                    <a:pt x="57150" y="38100"/>
                  </a:lnTo>
                  <a:lnTo>
                    <a:pt x="0" y="76200"/>
                  </a:lnTo>
                  <a:close/>
                </a:path>
              </a:pathLst>
            </a:custGeom>
            <a:solidFill>
              <a:srgbClr val="C41D00"/>
            </a:solidFill>
            <a:ln>
              <a:noFill/>
            </a:ln>
          </p:spPr>
        </p:sp>
        <p:sp>
          <p:nvSpPr>
            <p:cNvPr id="22" name="TextBox 22"/>
            <p:cNvSpPr txBox="1"/>
            <p:nvPr/>
          </p:nvSpPr>
          <p:spPr>
            <a:xfrm>
              <a:off x="1176338" y="1810464"/>
              <a:ext cx="1711122"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存贷款利率下行，传统利差空间承压</a:t>
              </a:r>
            </a:p>
          </p:txBody>
        </p:sp>
        <p:sp>
          <p:nvSpPr>
            <p:cNvPr id="23" name="Rectangle 23"/>
            <p:cNvSpPr/>
            <p:nvPr/>
          </p:nvSpPr>
          <p:spPr>
            <a:xfrm>
              <a:off x="342900" y="2400300"/>
              <a:ext cx="2647950" cy="1371600"/>
            </a:xfrm>
            <a:prstGeom prst="roundRect">
              <a:avLst>
                <a:gd name="adj" fmla="val 2778"/>
              </a:avLst>
            </a:prstGeom>
            <a:solidFill>
              <a:srgbClr val="FFF8F2"/>
            </a:solidFill>
            <a:ln w="9525">
              <a:solidFill>
                <a:srgbClr val="F0B8AE"/>
              </a:solidFill>
            </a:ln>
          </p:spPr>
        </p:sp>
        <p:sp>
          <p:nvSpPr>
            <p:cNvPr id="24" name="Rectangle 24"/>
            <p:cNvSpPr/>
            <p:nvPr/>
          </p:nvSpPr>
          <p:spPr>
            <a:xfrm>
              <a:off x="438150" y="2667000"/>
              <a:ext cx="533400" cy="533400"/>
            </a:xfrm>
            <a:prstGeom prst="roundRect">
              <a:avLst>
                <a:gd name="adj" fmla="val 10714"/>
              </a:avLst>
            </a:prstGeom>
            <a:gradFill>
              <a:gsLst>
                <a:gs pos="0">
                  <a:srgbClr val="D82000"/>
                </a:gs>
                <a:gs pos="100000">
                  <a:srgbClr val="EE492C"/>
                </a:gs>
              </a:gsLst>
              <a:lin ang="2700000" scaled="1"/>
            </a:gradFill>
            <a:ln>
              <a:noFill/>
            </a:ln>
          </p:spPr>
        </p:sp>
        <p:grpSp>
          <p:nvGrpSpPr>
            <p:cNvPr id="28" name="Group 28"/>
            <p:cNvGrpSpPr/>
            <p:nvPr/>
          </p:nvGrpSpPr>
          <p:grpSpPr>
            <a:xfrm>
              <a:off x="628650" y="2819400"/>
              <a:ext cx="152400" cy="228599"/>
              <a:chOff x="628650" y="2819400"/>
              <a:chExt cx="152400" cy="228599"/>
            </a:xfrm>
          </p:grpSpPr>
          <p:sp>
            <p:nvSpPr>
              <p:cNvPr id="25" name="Freeform 25"/>
              <p:cNvSpPr/>
              <p:nvPr/>
            </p:nvSpPr>
            <p:spPr>
              <a:xfrm>
                <a:off x="628650" y="2819400"/>
                <a:ext cx="152400" cy="228599"/>
              </a:xfrm>
              <a:custGeom>
                <a:avLst/>
                <a:gdLst/>
                <a:ahLst/>
                <a:cxnLst/>
                <a:rect l="l" t="t" r="r" b="b"/>
                <a:pathLst>
                  <a:path w="152400" h="228599">
                    <a:moveTo>
                      <a:pt x="0" y="25400"/>
                    </a:moveTo>
                    <a:cubicBezTo>
                      <a:pt x="0" y="11372"/>
                      <a:pt x="11372" y="0"/>
                      <a:pt x="25400" y="0"/>
                    </a:cubicBezTo>
                    <a:lnTo>
                      <a:pt x="127000" y="0"/>
                    </a:lnTo>
                    <a:cubicBezTo>
                      <a:pt x="141028" y="0"/>
                      <a:pt x="152400" y="11372"/>
                      <a:pt x="152400" y="25400"/>
                    </a:cubicBezTo>
                    <a:lnTo>
                      <a:pt x="152400" y="203199"/>
                    </a:lnTo>
                    <a:cubicBezTo>
                      <a:pt x="152400" y="217227"/>
                      <a:pt x="141028" y="228599"/>
                      <a:pt x="127000" y="228599"/>
                    </a:cubicBezTo>
                    <a:lnTo>
                      <a:pt x="25400" y="228599"/>
                    </a:lnTo>
                    <a:cubicBezTo>
                      <a:pt x="11372" y="228599"/>
                      <a:pt x="0" y="217227"/>
                      <a:pt x="0" y="203199"/>
                    </a:cubicBezTo>
                    <a:lnTo>
                      <a:pt x="0" y="25400"/>
                    </a:lnTo>
                  </a:path>
                </a:pathLst>
              </a:custGeom>
              <a:noFill/>
              <a:ln w="25400">
                <a:solidFill>
                  <a:srgbClr val="FFFFFF"/>
                </a:solidFill>
              </a:ln>
            </p:spPr>
          </p:sp>
          <p:sp>
            <p:nvSpPr>
              <p:cNvPr id="26" name="Freeform 26"/>
              <p:cNvSpPr/>
              <p:nvPr/>
            </p:nvSpPr>
            <p:spPr>
              <a:xfrm>
                <a:off x="692150" y="2832100"/>
                <a:ext cx="25400" cy="9525"/>
              </a:xfrm>
              <a:custGeom>
                <a:avLst/>
                <a:gdLst/>
                <a:ahLst/>
                <a:cxnLst/>
                <a:rect l="l" t="t" r="r" b="b"/>
                <a:pathLst>
                  <a:path w="25400" h="9525">
                    <a:moveTo>
                      <a:pt x="0" y="0"/>
                    </a:moveTo>
                    <a:lnTo>
                      <a:pt x="25400" y="0"/>
                    </a:lnTo>
                  </a:path>
                </a:pathLst>
              </a:custGeom>
              <a:noFill/>
              <a:ln w="25400">
                <a:solidFill>
                  <a:srgbClr val="FFFFFF"/>
                </a:solidFill>
              </a:ln>
            </p:spPr>
          </p:sp>
          <p:sp>
            <p:nvSpPr>
              <p:cNvPr id="27" name="Freeform 27"/>
              <p:cNvSpPr/>
              <p:nvPr/>
            </p:nvSpPr>
            <p:spPr>
              <a:xfrm>
                <a:off x="704850" y="2997199"/>
                <a:ext cx="9525" cy="9525"/>
              </a:xfrm>
              <a:custGeom>
                <a:avLst/>
                <a:gdLst/>
                <a:ahLst/>
                <a:cxnLst/>
                <a:rect l="l" t="t" r="r" b="b"/>
                <a:pathLst>
                  <a:path w="9525" h="9525">
                    <a:moveTo>
                      <a:pt x="0" y="0"/>
                    </a:moveTo>
                    <a:lnTo>
                      <a:pt x="0" y="127"/>
                    </a:lnTo>
                  </a:path>
                </a:pathLst>
              </a:custGeom>
              <a:noFill/>
              <a:ln w="25400">
                <a:solidFill>
                  <a:srgbClr val="FFFFFF"/>
                </a:solidFill>
              </a:ln>
            </p:spPr>
          </p:sp>
        </p:grpSp>
        <p:sp>
          <p:nvSpPr>
            <p:cNvPr id="29" name="Rectangle 29"/>
            <p:cNvSpPr/>
            <p:nvPr/>
          </p:nvSpPr>
          <p:spPr>
            <a:xfrm>
              <a:off x="1066800" y="2552700"/>
              <a:ext cx="247650" cy="190500"/>
            </a:xfrm>
            <a:prstGeom prst="roundRect">
              <a:avLst>
                <a:gd name="adj" fmla="val 15000"/>
              </a:avLst>
            </a:prstGeom>
            <a:solidFill>
              <a:srgbClr val="D82000"/>
            </a:solidFill>
            <a:ln>
              <a:noFill/>
            </a:ln>
          </p:spPr>
        </p:sp>
        <p:sp>
          <p:nvSpPr>
            <p:cNvPr id="30" name="TextBox 30"/>
            <p:cNvSpPr txBox="1"/>
            <p:nvPr/>
          </p:nvSpPr>
          <p:spPr>
            <a:xfrm>
              <a:off x="1052144" y="2602468"/>
              <a:ext cx="27696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​02​</a:t>
              </a:r>
            </a:p>
          </p:txBody>
        </p:sp>
        <p:sp>
          <p:nvSpPr>
            <p:cNvPr id="31" name="TextBox 31"/>
            <p:cNvSpPr txBox="1"/>
            <p:nvPr/>
          </p:nvSpPr>
          <p:spPr>
            <a:xfrm>
              <a:off x="1385697" y="2599849"/>
              <a:ext cx="801472" cy="190690"/>
            </a:xfrm>
            <a:prstGeom prst="rect">
              <a:avLst/>
            </a:prstGeom>
            <a:noFill/>
            <a:ln>
              <a:noFill/>
            </a:ln>
          </p:spPr>
          <p:txBody>
            <a:bodyPr wrap="none" lIns="0" tIns="0" rIns="0" bIns="0" anchor="t" anchorCtr="0">
              <a:spAutoFit/>
            </a:bodyPr>
            <a:lstStyle/>
            <a:p>
              <a:pPr algn="l"/>
              <a:r>
                <a:rPr lang="zh-CN" sz="980" b="1" dirty="0">
                  <a:solidFill>
                    <a:srgbClr val="C41D00"/>
                  </a:solidFill>
                  <a:latin typeface="+mn-lt"/>
                  <a:ea typeface="+mn-ea"/>
                  <a:cs typeface="+mn-cs"/>
                </a:rPr>
                <a:t>数字渠道迁移</a:t>
              </a:r>
            </a:p>
          </p:txBody>
        </p:sp>
        <p:sp>
          <p:nvSpPr>
            <p:cNvPr id="32" name="Polygon 32"/>
            <p:cNvSpPr/>
            <p:nvPr/>
          </p:nvSpPr>
          <p:spPr>
            <a:xfrm>
              <a:off x="1066800" y="2933700"/>
              <a:ext cx="57150" cy="76200"/>
            </a:xfrm>
            <a:custGeom>
              <a:avLst/>
              <a:gdLst/>
              <a:ahLst/>
              <a:cxnLst/>
              <a:rect l="l" t="t" r="r" b="b"/>
              <a:pathLst>
                <a:path w="57150" h="76200">
                  <a:moveTo>
                    <a:pt x="0" y="0"/>
                  </a:moveTo>
                  <a:lnTo>
                    <a:pt x="57150" y="38100"/>
                  </a:lnTo>
                  <a:lnTo>
                    <a:pt x="0" y="76200"/>
                  </a:lnTo>
                  <a:close/>
                </a:path>
              </a:pathLst>
            </a:custGeom>
            <a:solidFill>
              <a:srgbClr val="C41D00"/>
            </a:solidFill>
            <a:ln>
              <a:noFill/>
            </a:ln>
          </p:spPr>
        </p:sp>
        <p:sp>
          <p:nvSpPr>
            <p:cNvPr id="33" name="TextBox 33"/>
            <p:cNvSpPr txBox="1"/>
            <p:nvPr/>
          </p:nvSpPr>
          <p:spPr>
            <a:xfrm>
              <a:off x="1176338" y="2915364"/>
              <a:ext cx="1285723"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线上渠道使用习惯加速固化</a:t>
              </a:r>
            </a:p>
          </p:txBody>
        </p:sp>
        <p:sp>
          <p:nvSpPr>
            <p:cNvPr id="34" name="Polygon 34"/>
            <p:cNvSpPr/>
            <p:nvPr/>
          </p:nvSpPr>
          <p:spPr>
            <a:xfrm>
              <a:off x="1066800" y="3114675"/>
              <a:ext cx="57150" cy="76200"/>
            </a:xfrm>
            <a:custGeom>
              <a:avLst/>
              <a:gdLst/>
              <a:ahLst/>
              <a:cxnLst/>
              <a:rect l="l" t="t" r="r" b="b"/>
              <a:pathLst>
                <a:path w="57150" h="76200">
                  <a:moveTo>
                    <a:pt x="0" y="0"/>
                  </a:moveTo>
                  <a:lnTo>
                    <a:pt x="57150" y="38100"/>
                  </a:lnTo>
                  <a:lnTo>
                    <a:pt x="0" y="76200"/>
                  </a:lnTo>
                  <a:close/>
                </a:path>
              </a:pathLst>
            </a:custGeom>
            <a:solidFill>
              <a:srgbClr val="C41D00"/>
            </a:solidFill>
            <a:ln>
              <a:noFill/>
            </a:ln>
          </p:spPr>
        </p:sp>
        <p:sp>
          <p:nvSpPr>
            <p:cNvPr id="35" name="TextBox 35"/>
            <p:cNvSpPr txBox="1"/>
            <p:nvPr/>
          </p:nvSpPr>
          <p:spPr>
            <a:xfrm>
              <a:off x="1176338" y="3096339"/>
              <a:ext cx="111315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3D3835"/>
                  </a:solidFill>
                  <a:latin typeface="+mn-lt"/>
                  <a:ea typeface="+mn-ea"/>
                  <a:cs typeface="+mn-cs"/>
                </a:rPr>
                <a:t>客户交互重心由线下网点</a:t>
              </a:r>
              <a:br/>
              <a:r>
                <a:rPr lang="zh-CN" sz="790" dirty="0">
                  <a:solidFill>
                    <a:srgbClr val="3D3835"/>
                  </a:solidFill>
                  <a:latin typeface="+mn-lt"/>
                  <a:ea typeface="+mn-ea"/>
                  <a:cs typeface="+mn-cs"/>
                </a:rPr>
                <a:t>向线上场景迁移</a:t>
              </a:r>
            </a:p>
          </p:txBody>
        </p:sp>
        <p:sp>
          <p:nvSpPr>
            <p:cNvPr id="36" name="Rectangle 36"/>
            <p:cNvSpPr/>
            <p:nvPr/>
          </p:nvSpPr>
          <p:spPr>
            <a:xfrm>
              <a:off x="342900" y="3829050"/>
              <a:ext cx="2647950" cy="1371600"/>
            </a:xfrm>
            <a:prstGeom prst="roundRect">
              <a:avLst>
                <a:gd name="adj" fmla="val 2778"/>
              </a:avLst>
            </a:prstGeom>
            <a:solidFill>
              <a:srgbClr val="FFF8F2"/>
            </a:solidFill>
            <a:ln w="9525">
              <a:solidFill>
                <a:srgbClr val="F0B8AE"/>
              </a:solidFill>
            </a:ln>
          </p:spPr>
        </p:sp>
        <p:sp>
          <p:nvSpPr>
            <p:cNvPr id="37" name="Rectangle 37"/>
            <p:cNvSpPr/>
            <p:nvPr/>
          </p:nvSpPr>
          <p:spPr>
            <a:xfrm>
              <a:off x="438150" y="4095750"/>
              <a:ext cx="533400" cy="533400"/>
            </a:xfrm>
            <a:prstGeom prst="roundRect">
              <a:avLst>
                <a:gd name="adj" fmla="val 10714"/>
              </a:avLst>
            </a:prstGeom>
            <a:gradFill>
              <a:gsLst>
                <a:gs pos="0">
                  <a:srgbClr val="D82000"/>
                </a:gs>
                <a:gs pos="100000">
                  <a:srgbClr val="EE492C"/>
                </a:gs>
              </a:gsLst>
              <a:lin ang="2700000" scaled="1"/>
            </a:gradFill>
            <a:ln>
              <a:noFill/>
            </a:ln>
          </p:spPr>
        </p:sp>
        <p:grpSp>
          <p:nvGrpSpPr>
            <p:cNvPr id="44" name="Group 44"/>
            <p:cNvGrpSpPr/>
            <p:nvPr/>
          </p:nvGrpSpPr>
          <p:grpSpPr>
            <a:xfrm>
              <a:off x="590550" y="4248150"/>
              <a:ext cx="228599" cy="228599"/>
              <a:chOff x="590550" y="4248150"/>
              <a:chExt cx="228599" cy="228599"/>
            </a:xfrm>
          </p:grpSpPr>
          <p:sp>
            <p:nvSpPr>
              <p:cNvPr id="38" name="Freeform 38"/>
              <p:cNvSpPr/>
              <p:nvPr/>
            </p:nvSpPr>
            <p:spPr>
              <a:xfrm>
                <a:off x="679450" y="43497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39" name="Freeform 39"/>
              <p:cNvSpPr/>
              <p:nvPr/>
            </p:nvSpPr>
            <p:spPr>
              <a:xfrm>
                <a:off x="654050" y="4438649"/>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FFFFFF"/>
                </a:solidFill>
              </a:ln>
            </p:spPr>
          </p:sp>
          <p:sp>
            <p:nvSpPr>
              <p:cNvPr id="40" name="Freeform 40"/>
              <p:cNvSpPr/>
              <p:nvPr/>
            </p:nvSpPr>
            <p:spPr>
              <a:xfrm>
                <a:off x="742950" y="42481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41" name="Freeform 41"/>
              <p:cNvSpPr/>
              <p:nvPr/>
            </p:nvSpPr>
            <p:spPr>
              <a:xfrm>
                <a:off x="768349" y="4337050"/>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FFFFFF"/>
                </a:solidFill>
              </a:ln>
            </p:spPr>
          </p:sp>
          <p:sp>
            <p:nvSpPr>
              <p:cNvPr id="42" name="Freeform 42"/>
              <p:cNvSpPr/>
              <p:nvPr/>
            </p:nvSpPr>
            <p:spPr>
              <a:xfrm>
                <a:off x="615950" y="42481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43" name="Freeform 43"/>
              <p:cNvSpPr/>
              <p:nvPr/>
            </p:nvSpPr>
            <p:spPr>
              <a:xfrm>
                <a:off x="590550" y="43370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FFFFFF"/>
                </a:solidFill>
              </a:ln>
            </p:spPr>
          </p:sp>
        </p:grpSp>
        <p:sp>
          <p:nvSpPr>
            <p:cNvPr id="45" name="Rectangle 45"/>
            <p:cNvSpPr/>
            <p:nvPr/>
          </p:nvSpPr>
          <p:spPr>
            <a:xfrm>
              <a:off x="1066800" y="3981450"/>
              <a:ext cx="247650" cy="190500"/>
            </a:xfrm>
            <a:prstGeom prst="roundRect">
              <a:avLst>
                <a:gd name="adj" fmla="val 15000"/>
              </a:avLst>
            </a:prstGeom>
            <a:solidFill>
              <a:srgbClr val="D82000"/>
            </a:solidFill>
            <a:ln>
              <a:noFill/>
            </a:ln>
          </p:spPr>
        </p:sp>
        <p:sp>
          <p:nvSpPr>
            <p:cNvPr id="46" name="TextBox 46"/>
            <p:cNvSpPr txBox="1"/>
            <p:nvPr/>
          </p:nvSpPr>
          <p:spPr>
            <a:xfrm>
              <a:off x="1052144" y="4031218"/>
              <a:ext cx="27696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​03​</a:t>
              </a:r>
            </a:p>
          </p:txBody>
        </p:sp>
        <p:sp>
          <p:nvSpPr>
            <p:cNvPr id="47" name="TextBox 47"/>
            <p:cNvSpPr txBox="1"/>
            <p:nvPr/>
          </p:nvSpPr>
          <p:spPr>
            <a:xfrm>
              <a:off x="1385697" y="4028599"/>
              <a:ext cx="801472" cy="190690"/>
            </a:xfrm>
            <a:prstGeom prst="rect">
              <a:avLst/>
            </a:prstGeom>
            <a:noFill/>
            <a:ln>
              <a:noFill/>
            </a:ln>
          </p:spPr>
          <p:txBody>
            <a:bodyPr wrap="none" lIns="0" tIns="0" rIns="0" bIns="0" anchor="t" anchorCtr="0">
              <a:spAutoFit/>
            </a:bodyPr>
            <a:lstStyle/>
            <a:p>
              <a:pPr algn="l"/>
              <a:r>
                <a:rPr lang="zh-CN" sz="980" b="1" dirty="0">
                  <a:solidFill>
                    <a:srgbClr val="C41D00"/>
                  </a:solidFill>
                  <a:latin typeface="+mn-lt"/>
                  <a:ea typeface="+mn-ea"/>
                  <a:cs typeface="+mn-cs"/>
                </a:rPr>
                <a:t>客户需求分化</a:t>
              </a:r>
            </a:p>
          </p:txBody>
        </p:sp>
        <p:sp>
          <p:nvSpPr>
            <p:cNvPr id="48" name="Polygon 48"/>
            <p:cNvSpPr/>
            <p:nvPr/>
          </p:nvSpPr>
          <p:spPr>
            <a:xfrm>
              <a:off x="1066800" y="4362450"/>
              <a:ext cx="57150" cy="76200"/>
            </a:xfrm>
            <a:custGeom>
              <a:avLst/>
              <a:gdLst/>
              <a:ahLst/>
              <a:cxnLst/>
              <a:rect l="l" t="t" r="r" b="b"/>
              <a:pathLst>
                <a:path w="57150" h="76200">
                  <a:moveTo>
                    <a:pt x="0" y="0"/>
                  </a:moveTo>
                  <a:lnTo>
                    <a:pt x="57150" y="38100"/>
                  </a:lnTo>
                  <a:lnTo>
                    <a:pt x="0" y="76200"/>
                  </a:lnTo>
                  <a:close/>
                </a:path>
              </a:pathLst>
            </a:custGeom>
            <a:solidFill>
              <a:srgbClr val="C41D00"/>
            </a:solidFill>
            <a:ln>
              <a:noFill/>
            </a:ln>
          </p:spPr>
        </p:sp>
        <p:sp>
          <p:nvSpPr>
            <p:cNvPr id="49" name="TextBox 49"/>
            <p:cNvSpPr txBox="1"/>
            <p:nvPr/>
          </p:nvSpPr>
          <p:spPr>
            <a:xfrm>
              <a:off x="1176338" y="4344114"/>
              <a:ext cx="121348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3D3835"/>
                  </a:solidFill>
                  <a:latin typeface="+mn-lt"/>
                  <a:ea typeface="+mn-ea"/>
                  <a:cs typeface="+mn-cs"/>
                </a:rPr>
                <a:t>客户生命周期、财富阶段与</a:t>
              </a:r>
              <a:br/>
              <a:r>
                <a:rPr lang="zh-CN" sz="790" dirty="0">
                  <a:solidFill>
                    <a:srgbClr val="3D3835"/>
                  </a:solidFill>
                  <a:latin typeface="+mn-lt"/>
                  <a:ea typeface="+mn-ea"/>
                  <a:cs typeface="+mn-cs"/>
                </a:rPr>
                <a:t>风险偏好差异扩大</a:t>
              </a:r>
            </a:p>
          </p:txBody>
        </p:sp>
        <p:sp>
          <p:nvSpPr>
            <p:cNvPr id="50" name="Polygon 50"/>
            <p:cNvSpPr/>
            <p:nvPr/>
          </p:nvSpPr>
          <p:spPr>
            <a:xfrm>
              <a:off x="1066800" y="4686300"/>
              <a:ext cx="57150" cy="76200"/>
            </a:xfrm>
            <a:custGeom>
              <a:avLst/>
              <a:gdLst/>
              <a:ahLst/>
              <a:cxnLst/>
              <a:rect l="l" t="t" r="r" b="b"/>
              <a:pathLst>
                <a:path w="57150" h="76200">
                  <a:moveTo>
                    <a:pt x="0" y="0"/>
                  </a:moveTo>
                  <a:lnTo>
                    <a:pt x="57150" y="38100"/>
                  </a:lnTo>
                  <a:lnTo>
                    <a:pt x="0" y="76200"/>
                  </a:lnTo>
                  <a:close/>
                </a:path>
              </a:pathLst>
            </a:custGeom>
            <a:solidFill>
              <a:srgbClr val="C41D00"/>
            </a:solidFill>
            <a:ln>
              <a:noFill/>
            </a:ln>
          </p:spPr>
        </p:sp>
        <p:sp>
          <p:nvSpPr>
            <p:cNvPr id="51" name="TextBox 51"/>
            <p:cNvSpPr txBox="1"/>
            <p:nvPr/>
          </p:nvSpPr>
          <p:spPr>
            <a:xfrm>
              <a:off x="1176338" y="4667964"/>
              <a:ext cx="1143254"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3D3835"/>
                  </a:solidFill>
                  <a:latin typeface="+mn-lt"/>
                  <a:ea typeface="+mn-ea"/>
                  <a:cs typeface="+mn-cs"/>
                </a:rPr>
                <a:t>从“标准化产品”转向​​​​</a:t>
              </a:r>
              <a:br/>
              <a:r>
                <a:rPr lang="zh-CN" sz="790" dirty="0">
                  <a:solidFill>
                    <a:srgbClr val="3D3835"/>
                  </a:solidFill>
                  <a:latin typeface="+mn-lt"/>
                  <a:ea typeface="+mn-ea"/>
                  <a:cs typeface="+mn-cs"/>
                </a:rPr>
                <a:t>“个性化解决方案”​​​</a:t>
              </a:r>
            </a:p>
          </p:txBody>
        </p:sp>
        <p:sp>
          <p:nvSpPr>
            <p:cNvPr id="52" name="Rectangle 52"/>
            <p:cNvSpPr/>
            <p:nvPr/>
          </p:nvSpPr>
          <p:spPr>
            <a:xfrm>
              <a:off x="342900" y="5257800"/>
              <a:ext cx="2647950" cy="1428750"/>
            </a:xfrm>
            <a:prstGeom prst="roundRect">
              <a:avLst>
                <a:gd name="adj" fmla="val 2667"/>
              </a:avLst>
            </a:prstGeom>
            <a:solidFill>
              <a:srgbClr val="FFF8F2"/>
            </a:solidFill>
            <a:ln w="9525">
              <a:solidFill>
                <a:srgbClr val="F0B8AE"/>
              </a:solidFill>
            </a:ln>
          </p:spPr>
        </p:sp>
        <p:sp>
          <p:nvSpPr>
            <p:cNvPr id="53" name="Rectangle 53"/>
            <p:cNvSpPr/>
            <p:nvPr/>
          </p:nvSpPr>
          <p:spPr>
            <a:xfrm>
              <a:off x="438150" y="5543550"/>
              <a:ext cx="533400" cy="533400"/>
            </a:xfrm>
            <a:prstGeom prst="roundRect">
              <a:avLst>
                <a:gd name="adj" fmla="val 10714"/>
              </a:avLst>
            </a:prstGeom>
            <a:gradFill>
              <a:gsLst>
                <a:gs pos="0">
                  <a:srgbClr val="D82000"/>
                </a:gs>
                <a:gs pos="100000">
                  <a:srgbClr val="EE492C"/>
                </a:gs>
              </a:gsLst>
              <a:lin ang="2700000" scaled="1"/>
            </a:gradFill>
            <a:ln>
              <a:noFill/>
            </a:ln>
          </p:spPr>
        </p:sp>
        <p:grpSp>
          <p:nvGrpSpPr>
            <p:cNvPr id="62" name="Group 62"/>
            <p:cNvGrpSpPr/>
            <p:nvPr/>
          </p:nvGrpSpPr>
          <p:grpSpPr>
            <a:xfrm>
              <a:off x="590550" y="5695950"/>
              <a:ext cx="228599" cy="238124"/>
              <a:chOff x="590550" y="5695950"/>
              <a:chExt cx="228599" cy="238124"/>
            </a:xfrm>
          </p:grpSpPr>
          <p:sp>
            <p:nvSpPr>
              <p:cNvPr id="54" name="Freeform 54"/>
              <p:cNvSpPr/>
              <p:nvPr/>
            </p:nvSpPr>
            <p:spPr>
              <a:xfrm>
                <a:off x="590550" y="5924549"/>
                <a:ext cx="228599" cy="9525"/>
              </a:xfrm>
              <a:custGeom>
                <a:avLst/>
                <a:gdLst/>
                <a:ahLst/>
                <a:cxnLst/>
                <a:rect l="l" t="t" r="r" b="b"/>
                <a:pathLst>
                  <a:path w="228599" h="9525">
                    <a:moveTo>
                      <a:pt x="0" y="0"/>
                    </a:moveTo>
                    <a:lnTo>
                      <a:pt x="228599" y="0"/>
                    </a:lnTo>
                  </a:path>
                </a:pathLst>
              </a:custGeom>
              <a:noFill/>
              <a:ln w="25400">
                <a:solidFill>
                  <a:srgbClr val="FFFFFF"/>
                </a:solidFill>
              </a:ln>
            </p:spPr>
          </p:sp>
          <p:sp>
            <p:nvSpPr>
              <p:cNvPr id="55" name="Freeform 55"/>
              <p:cNvSpPr/>
              <p:nvPr/>
            </p:nvSpPr>
            <p:spPr>
              <a:xfrm>
                <a:off x="590550" y="5784850"/>
                <a:ext cx="228599" cy="9525"/>
              </a:xfrm>
              <a:custGeom>
                <a:avLst/>
                <a:gdLst/>
                <a:ahLst/>
                <a:cxnLst/>
                <a:rect l="l" t="t" r="r" b="b"/>
                <a:pathLst>
                  <a:path w="228599" h="9525">
                    <a:moveTo>
                      <a:pt x="0" y="0"/>
                    </a:moveTo>
                    <a:lnTo>
                      <a:pt x="228599" y="0"/>
                    </a:lnTo>
                  </a:path>
                </a:pathLst>
              </a:custGeom>
              <a:noFill/>
              <a:ln w="25400">
                <a:solidFill>
                  <a:srgbClr val="FFFFFF"/>
                </a:solidFill>
              </a:ln>
            </p:spPr>
          </p:sp>
          <p:sp>
            <p:nvSpPr>
              <p:cNvPr id="56" name="Freeform 56"/>
              <p:cNvSpPr/>
              <p:nvPr/>
            </p:nvSpPr>
            <p:spPr>
              <a:xfrm>
                <a:off x="615950" y="5695950"/>
                <a:ext cx="177800" cy="38100"/>
              </a:xfrm>
              <a:custGeom>
                <a:avLst/>
                <a:gdLst/>
                <a:ahLst/>
                <a:cxnLst/>
                <a:rect l="l" t="t" r="r" b="b"/>
                <a:pathLst>
                  <a:path w="177800" h="38100">
                    <a:moveTo>
                      <a:pt x="0" y="38100"/>
                    </a:moveTo>
                    <a:lnTo>
                      <a:pt x="88900" y="0"/>
                    </a:lnTo>
                    <a:lnTo>
                      <a:pt x="177800" y="38100"/>
                    </a:lnTo>
                  </a:path>
                </a:pathLst>
              </a:custGeom>
              <a:noFill/>
              <a:ln w="25400">
                <a:solidFill>
                  <a:srgbClr val="FFFFFF"/>
                </a:solidFill>
              </a:ln>
            </p:spPr>
          </p:sp>
          <p:sp>
            <p:nvSpPr>
              <p:cNvPr id="57" name="Freeform 57"/>
              <p:cNvSpPr/>
              <p:nvPr/>
            </p:nvSpPr>
            <p:spPr>
              <a:xfrm>
                <a:off x="603250" y="5784850"/>
                <a:ext cx="9525" cy="139700"/>
              </a:xfrm>
              <a:custGeom>
                <a:avLst/>
                <a:gdLst/>
                <a:ahLst/>
                <a:cxnLst/>
                <a:rect l="l" t="t" r="r" b="b"/>
                <a:pathLst>
                  <a:path w="9525" h="139700">
                    <a:moveTo>
                      <a:pt x="0" y="0"/>
                    </a:moveTo>
                    <a:lnTo>
                      <a:pt x="0" y="139700"/>
                    </a:lnTo>
                  </a:path>
                </a:pathLst>
              </a:custGeom>
              <a:noFill/>
              <a:ln w="25400">
                <a:solidFill>
                  <a:srgbClr val="FFFFFF"/>
                </a:solidFill>
              </a:ln>
            </p:spPr>
          </p:sp>
          <p:sp>
            <p:nvSpPr>
              <p:cNvPr id="58" name="Freeform 58"/>
              <p:cNvSpPr/>
              <p:nvPr/>
            </p:nvSpPr>
            <p:spPr>
              <a:xfrm>
                <a:off x="806449" y="5784850"/>
                <a:ext cx="9525" cy="139700"/>
              </a:xfrm>
              <a:custGeom>
                <a:avLst/>
                <a:gdLst/>
                <a:ahLst/>
                <a:cxnLst/>
                <a:rect l="l" t="t" r="r" b="b"/>
                <a:pathLst>
                  <a:path w="9525" h="139700">
                    <a:moveTo>
                      <a:pt x="0" y="0"/>
                    </a:moveTo>
                    <a:lnTo>
                      <a:pt x="0" y="139700"/>
                    </a:lnTo>
                  </a:path>
                </a:pathLst>
              </a:custGeom>
              <a:noFill/>
              <a:ln w="25400">
                <a:solidFill>
                  <a:srgbClr val="FFFFFF"/>
                </a:solidFill>
              </a:ln>
            </p:spPr>
          </p:sp>
          <p:sp>
            <p:nvSpPr>
              <p:cNvPr id="59" name="Freeform 59"/>
              <p:cNvSpPr/>
              <p:nvPr/>
            </p:nvSpPr>
            <p:spPr>
              <a:xfrm>
                <a:off x="654050" y="5835650"/>
                <a:ext cx="9525" cy="38100"/>
              </a:xfrm>
              <a:custGeom>
                <a:avLst/>
                <a:gdLst/>
                <a:ahLst/>
                <a:cxnLst/>
                <a:rect l="l" t="t" r="r" b="b"/>
                <a:pathLst>
                  <a:path w="9525" h="38100">
                    <a:moveTo>
                      <a:pt x="0" y="0"/>
                    </a:moveTo>
                    <a:lnTo>
                      <a:pt x="0" y="38100"/>
                    </a:lnTo>
                  </a:path>
                </a:pathLst>
              </a:custGeom>
              <a:noFill/>
              <a:ln w="25400">
                <a:solidFill>
                  <a:srgbClr val="FFFFFF"/>
                </a:solidFill>
              </a:ln>
            </p:spPr>
          </p:sp>
          <p:sp>
            <p:nvSpPr>
              <p:cNvPr id="60" name="Freeform 60"/>
              <p:cNvSpPr/>
              <p:nvPr/>
            </p:nvSpPr>
            <p:spPr>
              <a:xfrm>
                <a:off x="704850" y="5835650"/>
                <a:ext cx="9525" cy="38100"/>
              </a:xfrm>
              <a:custGeom>
                <a:avLst/>
                <a:gdLst/>
                <a:ahLst/>
                <a:cxnLst/>
                <a:rect l="l" t="t" r="r" b="b"/>
                <a:pathLst>
                  <a:path w="9525" h="38100">
                    <a:moveTo>
                      <a:pt x="0" y="0"/>
                    </a:moveTo>
                    <a:lnTo>
                      <a:pt x="0" y="38100"/>
                    </a:lnTo>
                  </a:path>
                </a:pathLst>
              </a:custGeom>
              <a:noFill/>
              <a:ln w="25400">
                <a:solidFill>
                  <a:srgbClr val="FFFFFF"/>
                </a:solidFill>
              </a:ln>
            </p:spPr>
          </p:sp>
          <p:sp>
            <p:nvSpPr>
              <p:cNvPr id="61" name="Freeform 61"/>
              <p:cNvSpPr/>
              <p:nvPr/>
            </p:nvSpPr>
            <p:spPr>
              <a:xfrm>
                <a:off x="755649" y="5835650"/>
                <a:ext cx="9525" cy="38100"/>
              </a:xfrm>
              <a:custGeom>
                <a:avLst/>
                <a:gdLst/>
                <a:ahLst/>
                <a:cxnLst/>
                <a:rect l="l" t="t" r="r" b="b"/>
                <a:pathLst>
                  <a:path w="9525" h="38100">
                    <a:moveTo>
                      <a:pt x="0" y="0"/>
                    </a:moveTo>
                    <a:lnTo>
                      <a:pt x="0" y="38100"/>
                    </a:lnTo>
                  </a:path>
                </a:pathLst>
              </a:custGeom>
              <a:noFill/>
              <a:ln w="25400">
                <a:solidFill>
                  <a:srgbClr val="FFFFFF"/>
                </a:solidFill>
              </a:ln>
            </p:spPr>
          </p:sp>
        </p:grpSp>
        <p:sp>
          <p:nvSpPr>
            <p:cNvPr id="63" name="Rectangle 63"/>
            <p:cNvSpPr/>
            <p:nvPr/>
          </p:nvSpPr>
          <p:spPr>
            <a:xfrm>
              <a:off x="1066800" y="5410200"/>
              <a:ext cx="247650" cy="190500"/>
            </a:xfrm>
            <a:prstGeom prst="roundRect">
              <a:avLst>
                <a:gd name="adj" fmla="val 15000"/>
              </a:avLst>
            </a:prstGeom>
            <a:solidFill>
              <a:srgbClr val="D82000"/>
            </a:solidFill>
            <a:ln>
              <a:noFill/>
            </a:ln>
          </p:spPr>
        </p:sp>
        <p:sp>
          <p:nvSpPr>
            <p:cNvPr id="64" name="TextBox 64"/>
            <p:cNvSpPr txBox="1"/>
            <p:nvPr/>
          </p:nvSpPr>
          <p:spPr>
            <a:xfrm>
              <a:off x="1052144" y="5459968"/>
              <a:ext cx="27696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​04​</a:t>
              </a:r>
            </a:p>
          </p:txBody>
        </p:sp>
        <p:sp>
          <p:nvSpPr>
            <p:cNvPr id="65" name="TextBox 65"/>
            <p:cNvSpPr txBox="1"/>
            <p:nvPr/>
          </p:nvSpPr>
          <p:spPr>
            <a:xfrm>
              <a:off x="1385697" y="5457349"/>
              <a:ext cx="801472" cy="190690"/>
            </a:xfrm>
            <a:prstGeom prst="rect">
              <a:avLst/>
            </a:prstGeom>
            <a:noFill/>
            <a:ln>
              <a:noFill/>
            </a:ln>
          </p:spPr>
          <p:txBody>
            <a:bodyPr wrap="none" lIns="0" tIns="0" rIns="0" bIns="0" anchor="t" anchorCtr="0">
              <a:spAutoFit/>
            </a:bodyPr>
            <a:lstStyle/>
            <a:p>
              <a:pPr algn="l"/>
              <a:r>
                <a:rPr lang="zh-CN" sz="980" b="1" dirty="0">
                  <a:solidFill>
                    <a:srgbClr val="C41D00"/>
                  </a:solidFill>
                  <a:latin typeface="+mn-lt"/>
                  <a:ea typeface="+mn-ea"/>
                  <a:cs typeface="+mn-cs"/>
                </a:rPr>
                <a:t>非银平台竞争</a:t>
              </a:r>
            </a:p>
          </p:txBody>
        </p:sp>
        <p:sp>
          <p:nvSpPr>
            <p:cNvPr id="66" name="Polygon 66"/>
            <p:cNvSpPr/>
            <p:nvPr/>
          </p:nvSpPr>
          <p:spPr>
            <a:xfrm>
              <a:off x="1066800" y="5791200"/>
              <a:ext cx="57150" cy="76200"/>
            </a:xfrm>
            <a:custGeom>
              <a:avLst/>
              <a:gdLst/>
              <a:ahLst/>
              <a:cxnLst/>
              <a:rect l="l" t="t" r="r" b="b"/>
              <a:pathLst>
                <a:path w="57150" h="76200">
                  <a:moveTo>
                    <a:pt x="0" y="0"/>
                  </a:moveTo>
                  <a:lnTo>
                    <a:pt x="57150" y="38100"/>
                  </a:lnTo>
                  <a:lnTo>
                    <a:pt x="0" y="76200"/>
                  </a:lnTo>
                  <a:close/>
                </a:path>
              </a:pathLst>
            </a:custGeom>
            <a:solidFill>
              <a:srgbClr val="C41D00"/>
            </a:solidFill>
            <a:ln>
              <a:noFill/>
            </a:ln>
          </p:spPr>
        </p:sp>
        <p:sp>
          <p:nvSpPr>
            <p:cNvPr id="67" name="TextBox 67"/>
            <p:cNvSpPr txBox="1"/>
            <p:nvPr/>
          </p:nvSpPr>
          <p:spPr>
            <a:xfrm>
              <a:off x="1176338" y="5772864"/>
              <a:ext cx="1711122"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互联网平台与金融科技公司加速渗透</a:t>
              </a:r>
            </a:p>
          </p:txBody>
        </p:sp>
        <p:sp>
          <p:nvSpPr>
            <p:cNvPr id="68" name="Polygon 68"/>
            <p:cNvSpPr/>
            <p:nvPr/>
          </p:nvSpPr>
          <p:spPr>
            <a:xfrm>
              <a:off x="1066800" y="5972175"/>
              <a:ext cx="57150" cy="76200"/>
            </a:xfrm>
            <a:custGeom>
              <a:avLst/>
              <a:gdLst/>
              <a:ahLst/>
              <a:cxnLst/>
              <a:rect l="l" t="t" r="r" b="b"/>
              <a:pathLst>
                <a:path w="57150" h="76200">
                  <a:moveTo>
                    <a:pt x="0" y="0"/>
                  </a:moveTo>
                  <a:lnTo>
                    <a:pt x="57150" y="38100"/>
                  </a:lnTo>
                  <a:lnTo>
                    <a:pt x="0" y="76200"/>
                  </a:lnTo>
                  <a:close/>
                </a:path>
              </a:pathLst>
            </a:custGeom>
            <a:solidFill>
              <a:srgbClr val="C41D00"/>
            </a:solidFill>
            <a:ln>
              <a:noFill/>
            </a:ln>
          </p:spPr>
        </p:sp>
        <p:sp>
          <p:nvSpPr>
            <p:cNvPr id="69" name="TextBox 69"/>
            <p:cNvSpPr txBox="1"/>
            <p:nvPr/>
          </p:nvSpPr>
          <p:spPr>
            <a:xfrm>
              <a:off x="1176338" y="5953839"/>
              <a:ext cx="121348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3D3835"/>
                  </a:solidFill>
                  <a:latin typeface="+mn-lt"/>
                  <a:ea typeface="+mn-ea"/>
                  <a:cs typeface="+mn-cs"/>
                </a:rPr>
                <a:t>场景入口、生态粘性与数据</a:t>
              </a:r>
              <a:br/>
              <a:r>
                <a:rPr lang="zh-CN" sz="790" dirty="0">
                  <a:solidFill>
                    <a:srgbClr val="3D3835"/>
                  </a:solidFill>
                  <a:latin typeface="+mn-lt"/>
                  <a:ea typeface="+mn-ea"/>
                  <a:cs typeface="+mn-cs"/>
                </a:rPr>
                <a:t>能力构成竞争壁垒</a:t>
              </a:r>
            </a:p>
          </p:txBody>
        </p:sp>
      </p:grpSp>
      <p:grpSp>
        <p:nvGrpSpPr>
          <p:cNvPr id="120" name="interaction-chart"/>
          <p:cNvGrpSpPr/>
          <p:nvPr/>
        </p:nvGrpSpPr>
        <p:grpSpPr>
          <a:xfrm>
            <a:off x="3048000" y="666750"/>
            <a:ext cx="3771900" cy="2895600"/>
            <a:chOff x="3048000" y="666750"/>
            <a:chExt cx="3771900" cy="2895600"/>
          </a:xfrm>
        </p:grpSpPr>
        <p:sp>
          <p:nvSpPr>
            <p:cNvPr id="71" name="Rectangle 71"/>
            <p:cNvSpPr/>
            <p:nvPr/>
          </p:nvSpPr>
          <p:spPr>
            <a:xfrm>
              <a:off x="3048000" y="666750"/>
              <a:ext cx="3771900" cy="228600"/>
            </a:xfrm>
            <a:prstGeom prst="roundRect">
              <a:avLst>
                <a:gd name="adj" fmla="val 12500"/>
              </a:avLst>
            </a:prstGeom>
            <a:solidFill>
              <a:srgbClr val="C41D00"/>
            </a:solidFill>
            <a:ln>
              <a:noFill/>
            </a:ln>
          </p:spPr>
        </p:sp>
        <p:sp>
          <p:nvSpPr>
            <p:cNvPr id="72" name="TextBox 72"/>
            <p:cNvSpPr txBox="1"/>
            <p:nvPr/>
          </p:nvSpPr>
          <p:spPr>
            <a:xfrm>
              <a:off x="3157538" y="727472"/>
              <a:ext cx="1274953"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客户互动结构变化趋势</a:t>
              </a:r>
            </a:p>
          </p:txBody>
        </p:sp>
        <p:sp>
          <p:nvSpPr>
            <p:cNvPr id="73" name="Rectangle 73"/>
            <p:cNvSpPr/>
            <p:nvPr/>
          </p:nvSpPr>
          <p:spPr>
            <a:xfrm>
              <a:off x="3048000" y="933450"/>
              <a:ext cx="3771900" cy="2628900"/>
            </a:xfrm>
            <a:prstGeom prst="rect">
              <a:avLst/>
            </a:prstGeom>
            <a:solidFill>
              <a:srgbClr val="FFFFFF"/>
            </a:solidFill>
            <a:ln w="9525">
              <a:solidFill>
                <a:srgbClr val="F0B8AE"/>
              </a:solidFill>
            </a:ln>
          </p:spPr>
        </p:sp>
        <p:sp>
          <p:nvSpPr>
            <p:cNvPr id="74" name="TextBox 74"/>
            <p:cNvSpPr txBox="1"/>
            <p:nvPr/>
          </p:nvSpPr>
          <p:spPr>
            <a:xfrm>
              <a:off x="3157538" y="1019889"/>
              <a:ext cx="2242871"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数字互动占比持续提升，线下网点到访持续下降</a:t>
              </a:r>
            </a:p>
          </p:txBody>
        </p:sp>
        <p:sp>
          <p:nvSpPr>
            <p:cNvPr id="75" name="Line 75"/>
            <p:cNvSpPr/>
            <p:nvPr/>
          </p:nvSpPr>
          <p:spPr>
            <a:xfrm>
              <a:off x="3810000" y="1276350"/>
              <a:ext cx="171450" cy="9525"/>
            </a:xfrm>
            <a:custGeom>
              <a:avLst/>
              <a:gdLst/>
              <a:ahLst/>
              <a:cxnLst/>
              <a:rect l="l" t="t" r="r" b="b"/>
              <a:pathLst>
                <a:path w="171450" h="9525">
                  <a:moveTo>
                    <a:pt x="0" y="0"/>
                  </a:moveTo>
                  <a:lnTo>
                    <a:pt x="171450" y="0"/>
                  </a:lnTo>
                </a:path>
              </a:pathLst>
            </a:custGeom>
            <a:noFill/>
            <a:ln w="19050">
              <a:solidFill>
                <a:srgbClr val="EE492C"/>
              </a:solidFill>
            </a:ln>
          </p:spPr>
        </p:sp>
        <p:sp>
          <p:nvSpPr>
            <p:cNvPr id="76" name="Ellipse 76"/>
            <p:cNvSpPr/>
            <p:nvPr/>
          </p:nvSpPr>
          <p:spPr>
            <a:xfrm>
              <a:off x="3862388" y="1243012"/>
              <a:ext cx="66675" cy="66675"/>
            </a:xfrm>
            <a:prstGeom prst="ellipse">
              <a:avLst/>
            </a:prstGeom>
            <a:solidFill>
              <a:srgbClr val="EE492C"/>
            </a:solidFill>
            <a:ln>
              <a:noFill/>
            </a:ln>
          </p:spPr>
        </p:sp>
        <p:sp>
          <p:nvSpPr>
            <p:cNvPr id="77" name="TextBox 77"/>
            <p:cNvSpPr txBox="1"/>
            <p:nvPr/>
          </p:nvSpPr>
          <p:spPr>
            <a:xfrm>
              <a:off x="4052888" y="1233488"/>
              <a:ext cx="100403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数字互动占比（%）​​</a:t>
              </a:r>
            </a:p>
          </p:txBody>
        </p:sp>
        <p:sp>
          <p:nvSpPr>
            <p:cNvPr id="78" name="Line 78"/>
            <p:cNvSpPr/>
            <p:nvPr/>
          </p:nvSpPr>
          <p:spPr>
            <a:xfrm>
              <a:off x="5143500" y="1276350"/>
              <a:ext cx="171450" cy="9525"/>
            </a:xfrm>
            <a:custGeom>
              <a:avLst/>
              <a:gdLst/>
              <a:ahLst/>
              <a:cxnLst/>
              <a:rect l="l" t="t" r="r" b="b"/>
              <a:pathLst>
                <a:path w="171450" h="9525">
                  <a:moveTo>
                    <a:pt x="0" y="0"/>
                  </a:moveTo>
                  <a:lnTo>
                    <a:pt x="171450" y="0"/>
                  </a:lnTo>
                </a:path>
              </a:pathLst>
            </a:custGeom>
            <a:noFill/>
            <a:ln w="19050">
              <a:solidFill>
                <a:srgbClr val="5A1E14"/>
              </a:solidFill>
            </a:ln>
          </p:spPr>
        </p:sp>
        <p:sp>
          <p:nvSpPr>
            <p:cNvPr id="79" name="Ellipse 79"/>
            <p:cNvSpPr/>
            <p:nvPr/>
          </p:nvSpPr>
          <p:spPr>
            <a:xfrm>
              <a:off x="5195888" y="1243012"/>
              <a:ext cx="66675" cy="66675"/>
            </a:xfrm>
            <a:prstGeom prst="ellipse">
              <a:avLst/>
            </a:prstGeom>
            <a:solidFill>
              <a:srgbClr val="5A1E14"/>
            </a:solidFill>
            <a:ln>
              <a:noFill/>
            </a:ln>
          </p:spPr>
        </p:sp>
        <p:sp>
          <p:nvSpPr>
            <p:cNvPr id="80" name="TextBox 80"/>
            <p:cNvSpPr txBox="1"/>
            <p:nvPr/>
          </p:nvSpPr>
          <p:spPr>
            <a:xfrm>
              <a:off x="5386388" y="1233488"/>
              <a:ext cx="120596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线下网点到访占比（%）​​</a:t>
              </a:r>
            </a:p>
          </p:txBody>
        </p:sp>
        <p:sp>
          <p:nvSpPr>
            <p:cNvPr id="81" name="Line 81"/>
            <p:cNvSpPr/>
            <p:nvPr/>
          </p:nvSpPr>
          <p:spPr>
            <a:xfrm>
              <a:off x="3524250" y="1524000"/>
              <a:ext cx="3143250" cy="9525"/>
            </a:xfrm>
            <a:custGeom>
              <a:avLst/>
              <a:gdLst/>
              <a:ahLst/>
              <a:cxnLst/>
              <a:rect l="l" t="t" r="r" b="b"/>
              <a:pathLst>
                <a:path w="3143250" h="9525">
                  <a:moveTo>
                    <a:pt x="0" y="0"/>
                  </a:moveTo>
                  <a:lnTo>
                    <a:pt x="3143250" y="0"/>
                  </a:lnTo>
                </a:path>
              </a:pathLst>
            </a:custGeom>
            <a:noFill/>
            <a:ln w="9525">
              <a:solidFill>
                <a:srgbClr val="EADBCE"/>
              </a:solidFill>
              <a:custDash>
                <a:ds d="300000" sp="300000"/>
              </a:custDash>
            </a:ln>
          </p:spPr>
        </p:sp>
        <p:sp>
          <p:nvSpPr>
            <p:cNvPr id="82" name="Line 82"/>
            <p:cNvSpPr/>
            <p:nvPr/>
          </p:nvSpPr>
          <p:spPr>
            <a:xfrm>
              <a:off x="3524250" y="1857375"/>
              <a:ext cx="3143250" cy="9525"/>
            </a:xfrm>
            <a:custGeom>
              <a:avLst/>
              <a:gdLst/>
              <a:ahLst/>
              <a:cxnLst/>
              <a:rect l="l" t="t" r="r" b="b"/>
              <a:pathLst>
                <a:path w="3143250" h="9525">
                  <a:moveTo>
                    <a:pt x="0" y="0"/>
                  </a:moveTo>
                  <a:lnTo>
                    <a:pt x="3143250" y="0"/>
                  </a:lnTo>
                </a:path>
              </a:pathLst>
            </a:custGeom>
            <a:noFill/>
            <a:ln w="9525">
              <a:solidFill>
                <a:srgbClr val="EADBCE"/>
              </a:solidFill>
              <a:custDash>
                <a:ds d="300000" sp="300000"/>
              </a:custDash>
            </a:ln>
          </p:spPr>
        </p:sp>
        <p:sp>
          <p:nvSpPr>
            <p:cNvPr id="83" name="Line 83"/>
            <p:cNvSpPr/>
            <p:nvPr/>
          </p:nvSpPr>
          <p:spPr>
            <a:xfrm>
              <a:off x="3524250" y="2190750"/>
              <a:ext cx="3143250" cy="9525"/>
            </a:xfrm>
            <a:custGeom>
              <a:avLst/>
              <a:gdLst/>
              <a:ahLst/>
              <a:cxnLst/>
              <a:rect l="l" t="t" r="r" b="b"/>
              <a:pathLst>
                <a:path w="3143250" h="9525">
                  <a:moveTo>
                    <a:pt x="0" y="0"/>
                  </a:moveTo>
                  <a:lnTo>
                    <a:pt x="3143250" y="0"/>
                  </a:lnTo>
                </a:path>
              </a:pathLst>
            </a:custGeom>
            <a:noFill/>
            <a:ln w="9525">
              <a:solidFill>
                <a:srgbClr val="EADBCE"/>
              </a:solidFill>
              <a:custDash>
                <a:ds d="300000" sp="300000"/>
              </a:custDash>
            </a:ln>
          </p:spPr>
        </p:sp>
        <p:sp>
          <p:nvSpPr>
            <p:cNvPr id="84" name="Line 84"/>
            <p:cNvSpPr/>
            <p:nvPr/>
          </p:nvSpPr>
          <p:spPr>
            <a:xfrm>
              <a:off x="3524250" y="2533650"/>
              <a:ext cx="3143250" cy="9525"/>
            </a:xfrm>
            <a:custGeom>
              <a:avLst/>
              <a:gdLst/>
              <a:ahLst/>
              <a:cxnLst/>
              <a:rect l="l" t="t" r="r" b="b"/>
              <a:pathLst>
                <a:path w="3143250" h="9525">
                  <a:moveTo>
                    <a:pt x="0" y="0"/>
                  </a:moveTo>
                  <a:lnTo>
                    <a:pt x="3143250" y="0"/>
                  </a:lnTo>
                </a:path>
              </a:pathLst>
            </a:custGeom>
            <a:noFill/>
            <a:ln w="9525">
              <a:solidFill>
                <a:srgbClr val="EADBCE"/>
              </a:solidFill>
              <a:custDash>
                <a:ds d="300000" sp="300000"/>
              </a:custDash>
            </a:ln>
          </p:spPr>
        </p:sp>
        <p:sp>
          <p:nvSpPr>
            <p:cNvPr id="85" name="Line 85"/>
            <p:cNvSpPr/>
            <p:nvPr/>
          </p:nvSpPr>
          <p:spPr>
            <a:xfrm>
              <a:off x="3524250" y="2867025"/>
              <a:ext cx="3143250" cy="9525"/>
            </a:xfrm>
            <a:custGeom>
              <a:avLst/>
              <a:gdLst/>
              <a:ahLst/>
              <a:cxnLst/>
              <a:rect l="l" t="t" r="r" b="b"/>
              <a:pathLst>
                <a:path w="3143250" h="9525">
                  <a:moveTo>
                    <a:pt x="0" y="0"/>
                  </a:moveTo>
                  <a:lnTo>
                    <a:pt x="3143250" y="0"/>
                  </a:lnTo>
                </a:path>
              </a:pathLst>
            </a:custGeom>
            <a:noFill/>
            <a:ln w="9525">
              <a:solidFill>
                <a:srgbClr val="EADBCE"/>
              </a:solidFill>
              <a:custDash>
                <a:ds d="300000" sp="300000"/>
              </a:custDash>
            </a:ln>
          </p:spPr>
        </p:sp>
        <p:sp>
          <p:nvSpPr>
            <p:cNvPr id="86" name="Line 86"/>
            <p:cNvSpPr/>
            <p:nvPr/>
          </p:nvSpPr>
          <p:spPr>
            <a:xfrm>
              <a:off x="3524250" y="3200400"/>
              <a:ext cx="3143250" cy="9525"/>
            </a:xfrm>
            <a:custGeom>
              <a:avLst/>
              <a:gdLst/>
              <a:ahLst/>
              <a:cxnLst/>
              <a:rect l="l" t="t" r="r" b="b"/>
              <a:pathLst>
                <a:path w="3143250" h="9525">
                  <a:moveTo>
                    <a:pt x="0" y="0"/>
                  </a:moveTo>
                  <a:lnTo>
                    <a:pt x="3143250" y="0"/>
                  </a:lnTo>
                </a:path>
              </a:pathLst>
            </a:custGeom>
            <a:noFill/>
            <a:ln w="9525">
              <a:solidFill>
                <a:srgbClr val="B0A79F"/>
              </a:solidFill>
            </a:ln>
          </p:spPr>
        </p:sp>
        <p:sp>
          <p:nvSpPr>
            <p:cNvPr id="87" name="TextBox 87"/>
            <p:cNvSpPr txBox="1"/>
            <p:nvPr/>
          </p:nvSpPr>
          <p:spPr>
            <a:xfrm>
              <a:off x="3127807" y="1485186"/>
              <a:ext cx="344056"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​​100%</a:t>
              </a:r>
            </a:p>
          </p:txBody>
        </p:sp>
        <p:sp>
          <p:nvSpPr>
            <p:cNvPr id="88" name="TextBox 88"/>
            <p:cNvSpPr txBox="1"/>
            <p:nvPr/>
          </p:nvSpPr>
          <p:spPr>
            <a:xfrm>
              <a:off x="3180376" y="1818561"/>
              <a:ext cx="291487"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​​80%</a:t>
              </a:r>
            </a:p>
          </p:txBody>
        </p:sp>
        <p:sp>
          <p:nvSpPr>
            <p:cNvPr id="89" name="TextBox 89"/>
            <p:cNvSpPr txBox="1"/>
            <p:nvPr/>
          </p:nvSpPr>
          <p:spPr>
            <a:xfrm>
              <a:off x="3180376" y="2151936"/>
              <a:ext cx="291487"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​​60%</a:t>
              </a:r>
            </a:p>
          </p:txBody>
        </p:sp>
        <p:sp>
          <p:nvSpPr>
            <p:cNvPr id="90" name="TextBox 90"/>
            <p:cNvSpPr txBox="1"/>
            <p:nvPr/>
          </p:nvSpPr>
          <p:spPr>
            <a:xfrm>
              <a:off x="3180376" y="2494836"/>
              <a:ext cx="291487"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​​40%</a:t>
              </a:r>
            </a:p>
          </p:txBody>
        </p:sp>
        <p:sp>
          <p:nvSpPr>
            <p:cNvPr id="91" name="TextBox 91"/>
            <p:cNvSpPr txBox="1"/>
            <p:nvPr/>
          </p:nvSpPr>
          <p:spPr>
            <a:xfrm>
              <a:off x="3180376" y="2828211"/>
              <a:ext cx="291487"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​​20%</a:t>
              </a:r>
            </a:p>
          </p:txBody>
        </p:sp>
        <p:sp>
          <p:nvSpPr>
            <p:cNvPr id="92" name="TextBox 92"/>
            <p:cNvSpPr txBox="1"/>
            <p:nvPr/>
          </p:nvSpPr>
          <p:spPr>
            <a:xfrm>
              <a:off x="3232945" y="3161586"/>
              <a:ext cx="238917"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​​0%</a:t>
              </a:r>
            </a:p>
          </p:txBody>
        </p:sp>
        <p:sp>
          <p:nvSpPr>
            <p:cNvPr id="93" name="Polyline 93"/>
            <p:cNvSpPr/>
            <p:nvPr/>
          </p:nvSpPr>
          <p:spPr>
            <a:xfrm>
              <a:off x="3714750" y="1990725"/>
              <a:ext cx="2895600" cy="571500"/>
            </a:xfrm>
            <a:custGeom>
              <a:avLst/>
              <a:gdLst/>
              <a:ahLst/>
              <a:cxnLst/>
              <a:rect l="l" t="t" r="r" b="b"/>
              <a:pathLst>
                <a:path w="2895600" h="571500">
                  <a:moveTo>
                    <a:pt x="0" y="571500"/>
                  </a:moveTo>
                  <a:lnTo>
                    <a:pt x="723900" y="438150"/>
                  </a:lnTo>
                  <a:lnTo>
                    <a:pt x="1447800" y="266700"/>
                  </a:lnTo>
                  <a:lnTo>
                    <a:pt x="2171700" y="133350"/>
                  </a:lnTo>
                  <a:lnTo>
                    <a:pt x="2895600" y="0"/>
                  </a:lnTo>
                </a:path>
              </a:pathLst>
            </a:custGeom>
            <a:noFill/>
            <a:ln w="23812">
              <a:solidFill>
                <a:srgbClr val="EE492C"/>
              </a:solidFill>
            </a:ln>
          </p:spPr>
        </p:sp>
        <p:sp>
          <p:nvSpPr>
            <p:cNvPr id="94" name="Polyline 94"/>
            <p:cNvSpPr/>
            <p:nvPr/>
          </p:nvSpPr>
          <p:spPr>
            <a:xfrm>
              <a:off x="3714750" y="2162175"/>
              <a:ext cx="2895600" cy="571500"/>
            </a:xfrm>
            <a:custGeom>
              <a:avLst/>
              <a:gdLst/>
              <a:ahLst/>
              <a:cxnLst/>
              <a:rect l="l" t="t" r="r" b="b"/>
              <a:pathLst>
                <a:path w="2895600" h="571500">
                  <a:moveTo>
                    <a:pt x="0" y="0"/>
                  </a:moveTo>
                  <a:lnTo>
                    <a:pt x="723900" y="133350"/>
                  </a:lnTo>
                  <a:lnTo>
                    <a:pt x="1447800" y="304800"/>
                  </a:lnTo>
                  <a:lnTo>
                    <a:pt x="2171700" y="438150"/>
                  </a:lnTo>
                  <a:lnTo>
                    <a:pt x="2895600" y="571500"/>
                  </a:lnTo>
                </a:path>
              </a:pathLst>
            </a:custGeom>
            <a:noFill/>
            <a:ln w="23812">
              <a:solidFill>
                <a:srgbClr val="5A1E14"/>
              </a:solidFill>
            </a:ln>
          </p:spPr>
        </p:sp>
        <p:sp>
          <p:nvSpPr>
            <p:cNvPr id="95" name="Ellipse 95"/>
            <p:cNvSpPr/>
            <p:nvPr/>
          </p:nvSpPr>
          <p:spPr>
            <a:xfrm>
              <a:off x="3676650" y="2524125"/>
              <a:ext cx="76200" cy="76200"/>
            </a:xfrm>
            <a:prstGeom prst="ellipse">
              <a:avLst/>
            </a:prstGeom>
            <a:solidFill>
              <a:srgbClr val="EE492C"/>
            </a:solidFill>
            <a:ln>
              <a:noFill/>
            </a:ln>
          </p:spPr>
        </p:sp>
        <p:sp>
          <p:nvSpPr>
            <p:cNvPr id="96" name="Ellipse 96"/>
            <p:cNvSpPr/>
            <p:nvPr/>
          </p:nvSpPr>
          <p:spPr>
            <a:xfrm>
              <a:off x="4400550" y="2390775"/>
              <a:ext cx="76200" cy="76200"/>
            </a:xfrm>
            <a:prstGeom prst="ellipse">
              <a:avLst/>
            </a:prstGeom>
            <a:solidFill>
              <a:srgbClr val="EE492C"/>
            </a:solidFill>
            <a:ln>
              <a:noFill/>
            </a:ln>
          </p:spPr>
        </p:sp>
        <p:sp>
          <p:nvSpPr>
            <p:cNvPr id="97" name="Ellipse 97"/>
            <p:cNvSpPr/>
            <p:nvPr/>
          </p:nvSpPr>
          <p:spPr>
            <a:xfrm>
              <a:off x="5124450" y="2219325"/>
              <a:ext cx="76200" cy="76200"/>
            </a:xfrm>
            <a:prstGeom prst="ellipse">
              <a:avLst/>
            </a:prstGeom>
            <a:solidFill>
              <a:srgbClr val="EE492C"/>
            </a:solidFill>
            <a:ln>
              <a:noFill/>
            </a:ln>
          </p:spPr>
        </p:sp>
        <p:sp>
          <p:nvSpPr>
            <p:cNvPr id="98" name="Ellipse 98"/>
            <p:cNvSpPr/>
            <p:nvPr/>
          </p:nvSpPr>
          <p:spPr>
            <a:xfrm>
              <a:off x="5848350" y="2085975"/>
              <a:ext cx="76200" cy="76200"/>
            </a:xfrm>
            <a:prstGeom prst="ellipse">
              <a:avLst/>
            </a:prstGeom>
            <a:solidFill>
              <a:srgbClr val="EE492C"/>
            </a:solidFill>
            <a:ln>
              <a:noFill/>
            </a:ln>
          </p:spPr>
        </p:sp>
        <p:sp>
          <p:nvSpPr>
            <p:cNvPr id="99" name="Ellipse 99"/>
            <p:cNvSpPr/>
            <p:nvPr/>
          </p:nvSpPr>
          <p:spPr>
            <a:xfrm>
              <a:off x="6572250" y="1952625"/>
              <a:ext cx="76200" cy="76200"/>
            </a:xfrm>
            <a:prstGeom prst="ellipse">
              <a:avLst/>
            </a:prstGeom>
            <a:solidFill>
              <a:srgbClr val="EE492C"/>
            </a:solidFill>
            <a:ln>
              <a:noFill/>
            </a:ln>
          </p:spPr>
        </p:sp>
        <p:sp>
          <p:nvSpPr>
            <p:cNvPr id="100" name="Ellipse 100"/>
            <p:cNvSpPr/>
            <p:nvPr/>
          </p:nvSpPr>
          <p:spPr>
            <a:xfrm>
              <a:off x="3676650" y="2124075"/>
              <a:ext cx="76200" cy="76200"/>
            </a:xfrm>
            <a:prstGeom prst="ellipse">
              <a:avLst/>
            </a:prstGeom>
            <a:solidFill>
              <a:srgbClr val="5A1E14"/>
            </a:solidFill>
            <a:ln>
              <a:noFill/>
            </a:ln>
          </p:spPr>
        </p:sp>
        <p:sp>
          <p:nvSpPr>
            <p:cNvPr id="101" name="Ellipse 101"/>
            <p:cNvSpPr/>
            <p:nvPr/>
          </p:nvSpPr>
          <p:spPr>
            <a:xfrm>
              <a:off x="4400550" y="2257425"/>
              <a:ext cx="76200" cy="76200"/>
            </a:xfrm>
            <a:prstGeom prst="ellipse">
              <a:avLst/>
            </a:prstGeom>
            <a:solidFill>
              <a:srgbClr val="5A1E14"/>
            </a:solidFill>
            <a:ln>
              <a:noFill/>
            </a:ln>
          </p:spPr>
        </p:sp>
        <p:sp>
          <p:nvSpPr>
            <p:cNvPr id="102" name="Ellipse 102"/>
            <p:cNvSpPr/>
            <p:nvPr/>
          </p:nvSpPr>
          <p:spPr>
            <a:xfrm>
              <a:off x="5124450" y="2428875"/>
              <a:ext cx="76200" cy="76200"/>
            </a:xfrm>
            <a:prstGeom prst="ellipse">
              <a:avLst/>
            </a:prstGeom>
            <a:solidFill>
              <a:srgbClr val="5A1E14"/>
            </a:solidFill>
            <a:ln>
              <a:noFill/>
            </a:ln>
          </p:spPr>
        </p:sp>
        <p:sp>
          <p:nvSpPr>
            <p:cNvPr id="103" name="Ellipse 103"/>
            <p:cNvSpPr/>
            <p:nvPr/>
          </p:nvSpPr>
          <p:spPr>
            <a:xfrm>
              <a:off x="5848350" y="2562225"/>
              <a:ext cx="76200" cy="76200"/>
            </a:xfrm>
            <a:prstGeom prst="ellipse">
              <a:avLst/>
            </a:prstGeom>
            <a:solidFill>
              <a:srgbClr val="5A1E14"/>
            </a:solidFill>
            <a:ln>
              <a:noFill/>
            </a:ln>
          </p:spPr>
        </p:sp>
        <p:sp>
          <p:nvSpPr>
            <p:cNvPr id="104" name="Ellipse 104"/>
            <p:cNvSpPr/>
            <p:nvPr/>
          </p:nvSpPr>
          <p:spPr>
            <a:xfrm>
              <a:off x="6572250" y="2695575"/>
              <a:ext cx="76200" cy="76200"/>
            </a:xfrm>
            <a:prstGeom prst="ellipse">
              <a:avLst/>
            </a:prstGeom>
            <a:solidFill>
              <a:srgbClr val="5A1E14"/>
            </a:solidFill>
            <a:ln>
              <a:noFill/>
            </a:ln>
          </p:spPr>
        </p:sp>
        <p:sp>
          <p:nvSpPr>
            <p:cNvPr id="105" name="TextBox 105"/>
            <p:cNvSpPr txBox="1"/>
            <p:nvPr/>
          </p:nvSpPr>
          <p:spPr>
            <a:xfrm>
              <a:off x="3553618" y="2643188"/>
              <a:ext cx="322264" cy="147638"/>
            </a:xfrm>
            <a:prstGeom prst="rect">
              <a:avLst/>
            </a:prstGeom>
            <a:noFill/>
            <a:ln>
              <a:noFill/>
            </a:ln>
          </p:spPr>
          <p:txBody>
            <a:bodyPr wrap="none" lIns="0" tIns="0" rIns="0" bIns="0" anchor="t" anchorCtr="0">
              <a:spAutoFit/>
            </a:bodyPr>
            <a:lstStyle/>
            <a:p>
              <a:pPr algn="ctr"/>
              <a:r>
                <a:rPr lang="zh-CN" sz="750" b="1" dirty="0">
                  <a:solidFill>
                    <a:srgbClr val="EE492C"/>
                  </a:solidFill>
                  <a:latin typeface="+mn-lt"/>
                  <a:ea typeface="+mn-ea"/>
                  <a:cs typeface="+mn-cs"/>
                </a:rPr>
                <a:t>​38%​</a:t>
              </a:r>
            </a:p>
          </p:txBody>
        </p:sp>
        <p:sp>
          <p:nvSpPr>
            <p:cNvPr id="106" name="TextBox 106"/>
            <p:cNvSpPr txBox="1"/>
            <p:nvPr/>
          </p:nvSpPr>
          <p:spPr>
            <a:xfrm>
              <a:off x="4277518" y="2509838"/>
              <a:ext cx="322264" cy="147638"/>
            </a:xfrm>
            <a:prstGeom prst="rect">
              <a:avLst/>
            </a:prstGeom>
            <a:noFill/>
            <a:ln>
              <a:noFill/>
            </a:ln>
          </p:spPr>
          <p:txBody>
            <a:bodyPr wrap="none" lIns="0" tIns="0" rIns="0" bIns="0" anchor="t" anchorCtr="0">
              <a:spAutoFit/>
            </a:bodyPr>
            <a:lstStyle/>
            <a:p>
              <a:pPr algn="ctr"/>
              <a:r>
                <a:rPr lang="zh-CN" sz="750" b="1" dirty="0">
                  <a:solidFill>
                    <a:srgbClr val="EE492C"/>
                  </a:solidFill>
                  <a:latin typeface="+mn-lt"/>
                  <a:ea typeface="+mn-ea"/>
                  <a:cs typeface="+mn-cs"/>
                </a:rPr>
                <a:t>​46%​</a:t>
              </a:r>
            </a:p>
          </p:txBody>
        </p:sp>
        <p:sp>
          <p:nvSpPr>
            <p:cNvPr id="107" name="TextBox 107"/>
            <p:cNvSpPr txBox="1"/>
            <p:nvPr/>
          </p:nvSpPr>
          <p:spPr>
            <a:xfrm>
              <a:off x="5001418" y="2090738"/>
              <a:ext cx="322264" cy="147638"/>
            </a:xfrm>
            <a:prstGeom prst="rect">
              <a:avLst/>
            </a:prstGeom>
            <a:noFill/>
            <a:ln>
              <a:noFill/>
            </a:ln>
          </p:spPr>
          <p:txBody>
            <a:bodyPr wrap="none" lIns="0" tIns="0" rIns="0" bIns="0" anchor="t" anchorCtr="0">
              <a:spAutoFit/>
            </a:bodyPr>
            <a:lstStyle/>
            <a:p>
              <a:pPr algn="ctr"/>
              <a:r>
                <a:rPr lang="zh-CN" sz="750" b="1" dirty="0">
                  <a:solidFill>
                    <a:srgbClr val="EE492C"/>
                  </a:solidFill>
                  <a:latin typeface="+mn-lt"/>
                  <a:ea typeface="+mn-ea"/>
                  <a:cs typeface="+mn-cs"/>
                </a:rPr>
                <a:t>​56%​</a:t>
              </a:r>
            </a:p>
          </p:txBody>
        </p:sp>
        <p:sp>
          <p:nvSpPr>
            <p:cNvPr id="108" name="TextBox 108"/>
            <p:cNvSpPr txBox="1"/>
            <p:nvPr/>
          </p:nvSpPr>
          <p:spPr>
            <a:xfrm>
              <a:off x="5725318" y="1957388"/>
              <a:ext cx="322264" cy="147638"/>
            </a:xfrm>
            <a:prstGeom prst="rect">
              <a:avLst/>
            </a:prstGeom>
            <a:noFill/>
            <a:ln>
              <a:noFill/>
            </a:ln>
          </p:spPr>
          <p:txBody>
            <a:bodyPr wrap="none" lIns="0" tIns="0" rIns="0" bIns="0" anchor="t" anchorCtr="0">
              <a:spAutoFit/>
            </a:bodyPr>
            <a:lstStyle/>
            <a:p>
              <a:pPr algn="ctr"/>
              <a:r>
                <a:rPr lang="zh-CN" sz="750" b="1" dirty="0">
                  <a:solidFill>
                    <a:srgbClr val="EE492C"/>
                  </a:solidFill>
                  <a:latin typeface="+mn-lt"/>
                  <a:ea typeface="+mn-ea"/>
                  <a:cs typeface="+mn-cs"/>
                </a:rPr>
                <a:t>​64%​</a:t>
              </a:r>
            </a:p>
          </p:txBody>
        </p:sp>
        <p:sp>
          <p:nvSpPr>
            <p:cNvPr id="109" name="TextBox 109"/>
            <p:cNvSpPr txBox="1"/>
            <p:nvPr/>
          </p:nvSpPr>
          <p:spPr>
            <a:xfrm>
              <a:off x="6449218" y="1824038"/>
              <a:ext cx="322264" cy="147638"/>
            </a:xfrm>
            <a:prstGeom prst="rect">
              <a:avLst/>
            </a:prstGeom>
            <a:noFill/>
            <a:ln>
              <a:noFill/>
            </a:ln>
          </p:spPr>
          <p:txBody>
            <a:bodyPr wrap="none" lIns="0" tIns="0" rIns="0" bIns="0" anchor="t" anchorCtr="0">
              <a:spAutoFit/>
            </a:bodyPr>
            <a:lstStyle/>
            <a:p>
              <a:pPr algn="ctr"/>
              <a:r>
                <a:rPr lang="zh-CN" sz="750" b="1" dirty="0">
                  <a:solidFill>
                    <a:srgbClr val="EE492C"/>
                  </a:solidFill>
                  <a:latin typeface="+mn-lt"/>
                  <a:ea typeface="+mn-ea"/>
                  <a:cs typeface="+mn-cs"/>
                </a:rPr>
                <a:t>​72%​</a:t>
              </a:r>
            </a:p>
          </p:txBody>
        </p:sp>
        <p:sp>
          <p:nvSpPr>
            <p:cNvPr id="110" name="TextBox 110"/>
            <p:cNvSpPr txBox="1"/>
            <p:nvPr/>
          </p:nvSpPr>
          <p:spPr>
            <a:xfrm>
              <a:off x="3553618" y="1995488"/>
              <a:ext cx="322264" cy="147638"/>
            </a:xfrm>
            <a:prstGeom prst="rect">
              <a:avLst/>
            </a:prstGeom>
            <a:noFill/>
            <a:ln>
              <a:noFill/>
            </a:ln>
          </p:spPr>
          <p:txBody>
            <a:bodyPr wrap="none" lIns="0" tIns="0" rIns="0" bIns="0" anchor="t" anchorCtr="0">
              <a:spAutoFit/>
            </a:bodyPr>
            <a:lstStyle/>
            <a:p>
              <a:pPr algn="ctr"/>
              <a:r>
                <a:rPr lang="zh-CN" sz="750" b="1" dirty="0">
                  <a:solidFill>
                    <a:srgbClr val="5A1E14"/>
                  </a:solidFill>
                  <a:latin typeface="+mn-lt"/>
                  <a:ea typeface="+mn-ea"/>
                  <a:cs typeface="+mn-cs"/>
                </a:rPr>
                <a:t>​62%​</a:t>
              </a:r>
            </a:p>
          </p:txBody>
        </p:sp>
        <p:sp>
          <p:nvSpPr>
            <p:cNvPr id="111" name="TextBox 111"/>
            <p:cNvSpPr txBox="1"/>
            <p:nvPr/>
          </p:nvSpPr>
          <p:spPr>
            <a:xfrm>
              <a:off x="4277518" y="2128838"/>
              <a:ext cx="322264" cy="147638"/>
            </a:xfrm>
            <a:prstGeom prst="rect">
              <a:avLst/>
            </a:prstGeom>
            <a:noFill/>
            <a:ln>
              <a:noFill/>
            </a:ln>
          </p:spPr>
          <p:txBody>
            <a:bodyPr wrap="none" lIns="0" tIns="0" rIns="0" bIns="0" anchor="t" anchorCtr="0">
              <a:spAutoFit/>
            </a:bodyPr>
            <a:lstStyle/>
            <a:p>
              <a:pPr algn="ctr"/>
              <a:r>
                <a:rPr lang="zh-CN" sz="750" b="1" dirty="0">
                  <a:solidFill>
                    <a:srgbClr val="5A1E14"/>
                  </a:solidFill>
                  <a:latin typeface="+mn-lt"/>
                  <a:ea typeface="+mn-ea"/>
                  <a:cs typeface="+mn-cs"/>
                </a:rPr>
                <a:t>​54%​</a:t>
              </a:r>
            </a:p>
          </p:txBody>
        </p:sp>
        <p:sp>
          <p:nvSpPr>
            <p:cNvPr id="112" name="TextBox 112"/>
            <p:cNvSpPr txBox="1"/>
            <p:nvPr/>
          </p:nvSpPr>
          <p:spPr>
            <a:xfrm>
              <a:off x="5001418" y="2547938"/>
              <a:ext cx="322264" cy="147638"/>
            </a:xfrm>
            <a:prstGeom prst="rect">
              <a:avLst/>
            </a:prstGeom>
            <a:noFill/>
            <a:ln>
              <a:noFill/>
            </a:ln>
          </p:spPr>
          <p:txBody>
            <a:bodyPr wrap="none" lIns="0" tIns="0" rIns="0" bIns="0" anchor="t" anchorCtr="0">
              <a:spAutoFit/>
            </a:bodyPr>
            <a:lstStyle/>
            <a:p>
              <a:pPr algn="ctr"/>
              <a:r>
                <a:rPr lang="zh-CN" sz="750" b="1" dirty="0">
                  <a:solidFill>
                    <a:srgbClr val="5A1E14"/>
                  </a:solidFill>
                  <a:latin typeface="+mn-lt"/>
                  <a:ea typeface="+mn-ea"/>
                  <a:cs typeface="+mn-cs"/>
                </a:rPr>
                <a:t>​44%​</a:t>
              </a:r>
            </a:p>
          </p:txBody>
        </p:sp>
        <p:sp>
          <p:nvSpPr>
            <p:cNvPr id="113" name="TextBox 113"/>
            <p:cNvSpPr txBox="1"/>
            <p:nvPr/>
          </p:nvSpPr>
          <p:spPr>
            <a:xfrm>
              <a:off x="5725318" y="2681288"/>
              <a:ext cx="322264" cy="147638"/>
            </a:xfrm>
            <a:prstGeom prst="rect">
              <a:avLst/>
            </a:prstGeom>
            <a:noFill/>
            <a:ln>
              <a:noFill/>
            </a:ln>
          </p:spPr>
          <p:txBody>
            <a:bodyPr wrap="none" lIns="0" tIns="0" rIns="0" bIns="0" anchor="t" anchorCtr="0">
              <a:spAutoFit/>
            </a:bodyPr>
            <a:lstStyle/>
            <a:p>
              <a:pPr algn="ctr"/>
              <a:r>
                <a:rPr lang="zh-CN" sz="750" b="1" dirty="0">
                  <a:solidFill>
                    <a:srgbClr val="5A1E14"/>
                  </a:solidFill>
                  <a:latin typeface="+mn-lt"/>
                  <a:ea typeface="+mn-ea"/>
                  <a:cs typeface="+mn-cs"/>
                </a:rPr>
                <a:t>​36%​</a:t>
              </a:r>
            </a:p>
          </p:txBody>
        </p:sp>
        <p:sp>
          <p:nvSpPr>
            <p:cNvPr id="114" name="TextBox 114"/>
            <p:cNvSpPr txBox="1"/>
            <p:nvPr/>
          </p:nvSpPr>
          <p:spPr>
            <a:xfrm>
              <a:off x="6449218" y="2814638"/>
              <a:ext cx="322264" cy="147638"/>
            </a:xfrm>
            <a:prstGeom prst="rect">
              <a:avLst/>
            </a:prstGeom>
            <a:noFill/>
            <a:ln>
              <a:noFill/>
            </a:ln>
          </p:spPr>
          <p:txBody>
            <a:bodyPr wrap="none" lIns="0" tIns="0" rIns="0" bIns="0" anchor="t" anchorCtr="0">
              <a:spAutoFit/>
            </a:bodyPr>
            <a:lstStyle/>
            <a:p>
              <a:pPr algn="ctr"/>
              <a:r>
                <a:rPr lang="zh-CN" sz="750" b="1" dirty="0">
                  <a:solidFill>
                    <a:srgbClr val="5A1E14"/>
                  </a:solidFill>
                  <a:latin typeface="+mn-lt"/>
                  <a:ea typeface="+mn-ea"/>
                  <a:cs typeface="+mn-cs"/>
                </a:rPr>
                <a:t>​28%​</a:t>
              </a:r>
            </a:p>
          </p:txBody>
        </p:sp>
        <p:sp>
          <p:nvSpPr>
            <p:cNvPr id="115" name="TextBox 115"/>
            <p:cNvSpPr txBox="1"/>
            <p:nvPr/>
          </p:nvSpPr>
          <p:spPr>
            <a:xfrm>
              <a:off x="3543395" y="3290888"/>
              <a:ext cx="34271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​2021​</a:t>
              </a:r>
            </a:p>
          </p:txBody>
        </p:sp>
        <p:sp>
          <p:nvSpPr>
            <p:cNvPr id="116" name="TextBox 116"/>
            <p:cNvSpPr txBox="1"/>
            <p:nvPr/>
          </p:nvSpPr>
          <p:spPr>
            <a:xfrm>
              <a:off x="4267295" y="3290888"/>
              <a:ext cx="34271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​2022​</a:t>
              </a:r>
            </a:p>
          </p:txBody>
        </p:sp>
        <p:sp>
          <p:nvSpPr>
            <p:cNvPr id="117" name="TextBox 117"/>
            <p:cNvSpPr txBox="1"/>
            <p:nvPr/>
          </p:nvSpPr>
          <p:spPr>
            <a:xfrm>
              <a:off x="4991195" y="3290888"/>
              <a:ext cx="34271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​2023​</a:t>
              </a:r>
            </a:p>
          </p:txBody>
        </p:sp>
        <p:sp>
          <p:nvSpPr>
            <p:cNvPr id="118" name="TextBox 118"/>
            <p:cNvSpPr txBox="1"/>
            <p:nvPr/>
          </p:nvSpPr>
          <p:spPr>
            <a:xfrm>
              <a:off x="5715095" y="3290888"/>
              <a:ext cx="34271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​2024​</a:t>
              </a:r>
            </a:p>
          </p:txBody>
        </p:sp>
        <p:sp>
          <p:nvSpPr>
            <p:cNvPr id="119" name="TextBox 119"/>
            <p:cNvSpPr txBox="1"/>
            <p:nvPr/>
          </p:nvSpPr>
          <p:spPr>
            <a:xfrm>
              <a:off x="6307646" y="3290888"/>
              <a:ext cx="478917" cy="147638"/>
            </a:xfrm>
            <a:prstGeom prst="rect">
              <a:avLst/>
            </a:prstGeom>
            <a:noFill/>
            <a:ln>
              <a:noFill/>
            </a:ln>
          </p:spPr>
          <p:txBody>
            <a:bodyPr wrap="none" lIns="0" tIns="0" rIns="0" bIns="0" anchor="t" anchorCtr="0">
              <a:spAutoFit/>
            </a:bodyPr>
            <a:lstStyle/>
            <a:p>
              <a:pPr algn="r"/>
              <a:r>
                <a:rPr lang="en-US" sz="750" dirty="0">
                  <a:solidFill>
                    <a:srgbClr val="3D3835"/>
                  </a:solidFill>
                  <a:latin typeface="+mn-lt"/>
                  <a:ea typeface="+mn-ea"/>
                  <a:cs typeface="+mn-cs"/>
                </a:rPr>
                <a:t>​​2025H1</a:t>
              </a:r>
            </a:p>
          </p:txBody>
        </p:sp>
      </p:grpSp>
      <p:grpSp>
        <p:nvGrpSpPr>
          <p:cNvPr id="156" name="impact-table"/>
          <p:cNvGrpSpPr/>
          <p:nvPr/>
        </p:nvGrpSpPr>
        <p:grpSpPr>
          <a:xfrm>
            <a:off x="3048000" y="3619500"/>
            <a:ext cx="3771900" cy="3086100"/>
            <a:chOff x="3048000" y="3619500"/>
            <a:chExt cx="3771900" cy="3086100"/>
          </a:xfrm>
        </p:grpSpPr>
        <p:sp>
          <p:nvSpPr>
            <p:cNvPr id="121" name="Rectangle 121"/>
            <p:cNvSpPr/>
            <p:nvPr/>
          </p:nvSpPr>
          <p:spPr>
            <a:xfrm>
              <a:off x="3048000" y="3619500"/>
              <a:ext cx="3771900" cy="228600"/>
            </a:xfrm>
            <a:prstGeom prst="roundRect">
              <a:avLst>
                <a:gd name="adj" fmla="val 12500"/>
              </a:avLst>
            </a:prstGeom>
            <a:solidFill>
              <a:srgbClr val="C41D00"/>
            </a:solidFill>
            <a:ln>
              <a:noFill/>
            </a:ln>
          </p:spPr>
        </p:sp>
        <p:sp>
          <p:nvSpPr>
            <p:cNvPr id="122" name="TextBox 122"/>
            <p:cNvSpPr txBox="1"/>
            <p:nvPr/>
          </p:nvSpPr>
          <p:spPr>
            <a:xfrm>
              <a:off x="3157538" y="3680222"/>
              <a:ext cx="1021867"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对银行的关键影响</a:t>
              </a:r>
            </a:p>
          </p:txBody>
        </p:sp>
        <p:sp>
          <p:nvSpPr>
            <p:cNvPr id="123" name="Rectangle 123"/>
            <p:cNvSpPr/>
            <p:nvPr/>
          </p:nvSpPr>
          <p:spPr>
            <a:xfrm>
              <a:off x="3048000" y="3886200"/>
              <a:ext cx="3771900" cy="2819400"/>
            </a:xfrm>
            <a:prstGeom prst="rect">
              <a:avLst/>
            </a:prstGeom>
            <a:solidFill>
              <a:srgbClr val="FFF8F2"/>
            </a:solidFill>
            <a:ln w="9525">
              <a:solidFill>
                <a:srgbClr val="F0B8AE"/>
              </a:solidFill>
            </a:ln>
          </p:spPr>
        </p:sp>
        <p:sp>
          <p:nvSpPr>
            <p:cNvPr id="124" name="TextBox 124"/>
            <p:cNvSpPr txBox="1"/>
            <p:nvPr/>
          </p:nvSpPr>
          <p:spPr>
            <a:xfrm>
              <a:off x="3354413" y="3934539"/>
              <a:ext cx="434924" cy="154781"/>
            </a:xfrm>
            <a:prstGeom prst="rect">
              <a:avLst/>
            </a:prstGeom>
            <a:noFill/>
            <a:ln>
              <a:noFill/>
            </a:ln>
          </p:spPr>
          <p:txBody>
            <a:bodyPr wrap="none" lIns="0" tIns="0" rIns="0" bIns="0" anchor="t" anchorCtr="0">
              <a:spAutoFit/>
            </a:bodyPr>
            <a:lstStyle/>
            <a:p>
              <a:pPr algn="ctr"/>
              <a:r>
                <a:rPr lang="zh-CN" sz="790" b="1" dirty="0">
                  <a:solidFill>
                    <a:srgbClr val="8F1C08"/>
                  </a:solidFill>
                  <a:latin typeface="+mn-lt"/>
                  <a:ea typeface="+mn-ea"/>
                  <a:cs typeface="+mn-cs"/>
                </a:rPr>
                <a:t>影响维度</a:t>
              </a:r>
            </a:p>
          </p:txBody>
        </p:sp>
        <p:sp>
          <p:nvSpPr>
            <p:cNvPr id="125" name="TextBox 125"/>
            <p:cNvSpPr txBox="1"/>
            <p:nvPr/>
          </p:nvSpPr>
          <p:spPr>
            <a:xfrm>
              <a:off x="4332338" y="3934539"/>
              <a:ext cx="860323" cy="154781"/>
            </a:xfrm>
            <a:prstGeom prst="rect">
              <a:avLst/>
            </a:prstGeom>
            <a:noFill/>
            <a:ln>
              <a:noFill/>
            </a:ln>
          </p:spPr>
          <p:txBody>
            <a:bodyPr wrap="none" lIns="0" tIns="0" rIns="0" bIns="0" anchor="t" anchorCtr="0">
              <a:spAutoFit/>
            </a:bodyPr>
            <a:lstStyle/>
            <a:p>
              <a:pPr algn="ctr"/>
              <a:r>
                <a:rPr lang="zh-CN" sz="790" b="1" dirty="0">
                  <a:solidFill>
                    <a:srgbClr val="8F1C08"/>
                  </a:solidFill>
                  <a:latin typeface="+mn-lt"/>
                  <a:ea typeface="+mn-ea"/>
                  <a:cs typeface="+mn-cs"/>
                </a:rPr>
                <a:t>当前表现（示例）</a:t>
              </a:r>
            </a:p>
          </p:txBody>
        </p:sp>
        <p:sp>
          <p:nvSpPr>
            <p:cNvPr id="126" name="TextBox 126"/>
            <p:cNvSpPr txBox="1"/>
            <p:nvPr/>
          </p:nvSpPr>
          <p:spPr>
            <a:xfrm>
              <a:off x="5907113" y="3934539"/>
              <a:ext cx="434924" cy="154781"/>
            </a:xfrm>
            <a:prstGeom prst="rect">
              <a:avLst/>
            </a:prstGeom>
            <a:noFill/>
            <a:ln>
              <a:noFill/>
            </a:ln>
          </p:spPr>
          <p:txBody>
            <a:bodyPr wrap="none" lIns="0" tIns="0" rIns="0" bIns="0" anchor="t" anchorCtr="0">
              <a:spAutoFit/>
            </a:bodyPr>
            <a:lstStyle/>
            <a:p>
              <a:pPr algn="ctr"/>
              <a:r>
                <a:rPr lang="zh-CN" sz="790" b="1" dirty="0">
                  <a:solidFill>
                    <a:srgbClr val="8F1C08"/>
                  </a:solidFill>
                  <a:latin typeface="+mn-lt"/>
                  <a:ea typeface="+mn-ea"/>
                  <a:cs typeface="+mn-cs"/>
                </a:rPr>
                <a:t>未来挑战</a:t>
              </a:r>
            </a:p>
          </p:txBody>
        </p:sp>
        <p:sp>
          <p:nvSpPr>
            <p:cNvPr id="127" name="Line 127"/>
            <p:cNvSpPr/>
            <p:nvPr/>
          </p:nvSpPr>
          <p:spPr>
            <a:xfrm>
              <a:off x="3048000" y="4095750"/>
              <a:ext cx="3771900" cy="9525"/>
            </a:xfrm>
            <a:custGeom>
              <a:avLst/>
              <a:gdLst/>
              <a:ahLst/>
              <a:cxnLst/>
              <a:rect l="l" t="t" r="r" b="b"/>
              <a:pathLst>
                <a:path w="3771900" h="9525">
                  <a:moveTo>
                    <a:pt x="0" y="0"/>
                  </a:moveTo>
                  <a:lnTo>
                    <a:pt x="3771900" y="0"/>
                  </a:lnTo>
                </a:path>
              </a:pathLst>
            </a:custGeom>
            <a:noFill/>
            <a:ln w="9525">
              <a:solidFill>
                <a:srgbClr val="F0B8AE"/>
              </a:solidFill>
            </a:ln>
          </p:spPr>
        </p:sp>
        <p:sp>
          <p:nvSpPr>
            <p:cNvPr id="128" name="Line 128"/>
            <p:cNvSpPr/>
            <p:nvPr/>
          </p:nvSpPr>
          <p:spPr>
            <a:xfrm>
              <a:off x="4095750" y="4095750"/>
              <a:ext cx="9525" cy="2609850"/>
            </a:xfrm>
            <a:custGeom>
              <a:avLst/>
              <a:gdLst/>
              <a:ahLst/>
              <a:cxnLst/>
              <a:rect l="l" t="t" r="r" b="b"/>
              <a:pathLst>
                <a:path w="9525" h="2609850">
                  <a:moveTo>
                    <a:pt x="0" y="0"/>
                  </a:moveTo>
                  <a:lnTo>
                    <a:pt x="0" y="2609850"/>
                  </a:lnTo>
                </a:path>
              </a:pathLst>
            </a:custGeom>
            <a:noFill/>
            <a:ln w="9525">
              <a:solidFill>
                <a:srgbClr val="EADBCE"/>
              </a:solidFill>
            </a:ln>
          </p:spPr>
        </p:sp>
        <p:sp>
          <p:nvSpPr>
            <p:cNvPr id="129" name="Line 129"/>
            <p:cNvSpPr/>
            <p:nvPr/>
          </p:nvSpPr>
          <p:spPr>
            <a:xfrm>
              <a:off x="5429250" y="4095750"/>
              <a:ext cx="9525" cy="2609850"/>
            </a:xfrm>
            <a:custGeom>
              <a:avLst/>
              <a:gdLst/>
              <a:ahLst/>
              <a:cxnLst/>
              <a:rect l="l" t="t" r="r" b="b"/>
              <a:pathLst>
                <a:path w="9525" h="2609850">
                  <a:moveTo>
                    <a:pt x="0" y="0"/>
                  </a:moveTo>
                  <a:lnTo>
                    <a:pt x="0" y="2609850"/>
                  </a:lnTo>
                </a:path>
              </a:pathLst>
            </a:custGeom>
            <a:noFill/>
            <a:ln w="9525">
              <a:solidFill>
                <a:srgbClr val="EADBCE"/>
              </a:solidFill>
            </a:ln>
          </p:spPr>
        </p:sp>
        <p:grpSp>
          <p:nvGrpSpPr>
            <p:cNvPr id="133" name="Group 133"/>
            <p:cNvGrpSpPr/>
            <p:nvPr/>
          </p:nvGrpSpPr>
          <p:grpSpPr>
            <a:xfrm>
              <a:off x="3195638" y="4331494"/>
              <a:ext cx="130969" cy="157163"/>
              <a:chOff x="3195638" y="4331494"/>
              <a:chExt cx="130969" cy="157163"/>
            </a:xfrm>
          </p:grpSpPr>
          <p:sp>
            <p:nvSpPr>
              <p:cNvPr id="130" name="Freeform 130"/>
              <p:cNvSpPr/>
              <p:nvPr/>
            </p:nvSpPr>
            <p:spPr>
              <a:xfrm>
                <a:off x="3213100" y="43314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D82000"/>
                </a:solidFill>
              </a:ln>
            </p:spPr>
          </p:sp>
          <p:sp>
            <p:nvSpPr>
              <p:cNvPr id="131" name="Freeform 131"/>
              <p:cNvSpPr/>
              <p:nvPr/>
            </p:nvSpPr>
            <p:spPr>
              <a:xfrm>
                <a:off x="3195638" y="44362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D82000"/>
                </a:solidFill>
              </a:ln>
            </p:spPr>
          </p:sp>
          <p:sp>
            <p:nvSpPr>
              <p:cNvPr id="132" name="Freeform 132"/>
              <p:cNvSpPr/>
              <p:nvPr/>
            </p:nvSpPr>
            <p:spPr>
              <a:xfrm>
                <a:off x="3274219" y="4453731"/>
                <a:ext cx="52388" cy="34925"/>
              </a:xfrm>
              <a:custGeom>
                <a:avLst/>
                <a:gdLst/>
                <a:ahLst/>
                <a:cxnLst/>
                <a:rect l="l" t="t" r="r" b="b"/>
                <a:pathLst>
                  <a:path w="52388" h="34925">
                    <a:moveTo>
                      <a:pt x="0" y="17463"/>
                    </a:moveTo>
                    <a:lnTo>
                      <a:pt x="17463" y="34925"/>
                    </a:lnTo>
                    <a:lnTo>
                      <a:pt x="52388" y="0"/>
                    </a:lnTo>
                  </a:path>
                </a:pathLst>
              </a:custGeom>
              <a:noFill/>
              <a:ln w="17463">
                <a:solidFill>
                  <a:srgbClr val="D82000"/>
                </a:solidFill>
              </a:ln>
            </p:spPr>
          </p:sp>
        </p:grpSp>
        <p:sp>
          <p:nvSpPr>
            <p:cNvPr id="134" name="TextBox 134"/>
            <p:cNvSpPr txBox="1"/>
            <p:nvPr/>
          </p:nvSpPr>
          <p:spPr>
            <a:xfrm>
              <a:off x="3424238" y="4368641"/>
              <a:ext cx="451079" cy="161925"/>
            </a:xfrm>
            <a:prstGeom prst="rect">
              <a:avLst/>
            </a:prstGeom>
            <a:noFill/>
            <a:ln>
              <a:noFill/>
            </a:ln>
          </p:spPr>
          <p:txBody>
            <a:bodyPr wrap="none" lIns="0" tIns="0" rIns="0" bIns="0" anchor="t" anchorCtr="0">
              <a:spAutoFit/>
            </a:bodyPr>
            <a:lstStyle/>
            <a:p>
              <a:pPr algn="l"/>
              <a:r>
                <a:rPr lang="zh-CN" sz="820" b="1" dirty="0">
                  <a:solidFill>
                    <a:srgbClr val="C41D00"/>
                  </a:solidFill>
                  <a:latin typeface="+mn-lt"/>
                  <a:ea typeface="+mn-ea"/>
                  <a:cs typeface="+mn-cs"/>
                </a:rPr>
                <a:t>客户获取</a:t>
              </a:r>
            </a:p>
          </p:txBody>
        </p:sp>
        <p:sp>
          <p:nvSpPr>
            <p:cNvPr id="135" name="TextBox 135"/>
            <p:cNvSpPr txBox="1"/>
            <p:nvPr/>
          </p:nvSpPr>
          <p:spPr>
            <a:xfrm>
              <a:off x="4148138" y="4205288"/>
              <a:ext cx="1123950" cy="395288"/>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线上获客占比62%​​</a:t>
              </a:r>
              <a:br/>
              <a:r>
                <a:rPr lang="zh-CN" sz="750" dirty="0">
                  <a:solidFill>
                    <a:srgbClr val="3D3835"/>
                  </a:solidFill>
                  <a:latin typeface="+mn-lt"/>
                  <a:ea typeface="+mn-ea"/>
                  <a:cs typeface="+mn-cs"/>
                </a:rPr>
                <a:t>（2025H1）​​​</a:t>
              </a:r>
              <a:br/>
              <a:r>
                <a:rPr lang="zh-CN" sz="750" dirty="0">
                  <a:solidFill>
                    <a:srgbClr val="3D3835"/>
                  </a:solidFill>
                  <a:latin typeface="+mn-lt"/>
                  <a:ea typeface="+mn-ea"/>
                  <a:cs typeface="+mn-cs"/>
                </a:rPr>
                <a:t>较2022年提升21pcts​​​​</a:t>
              </a:r>
            </a:p>
          </p:txBody>
        </p:sp>
        <p:sp>
          <p:nvSpPr>
            <p:cNvPr id="136" name="TextBox 136"/>
            <p:cNvSpPr txBox="1"/>
            <p:nvPr/>
          </p:nvSpPr>
          <p:spPr>
            <a:xfrm>
              <a:off x="5481638" y="4271962"/>
              <a:ext cx="105727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流量成本上升，优质客群</a:t>
              </a:r>
              <a:br/>
              <a:r>
                <a:rPr lang="zh-CN" sz="750" dirty="0">
                  <a:solidFill>
                    <a:srgbClr val="3D3835"/>
                  </a:solidFill>
                  <a:latin typeface="+mn-lt"/>
                  <a:ea typeface="+mn-ea"/>
                  <a:cs typeface="+mn-cs"/>
                </a:rPr>
                <a:t>争夺加剧</a:t>
              </a:r>
            </a:p>
          </p:txBody>
        </p:sp>
        <p:sp>
          <p:nvSpPr>
            <p:cNvPr id="137" name="Line 137"/>
            <p:cNvSpPr/>
            <p:nvPr/>
          </p:nvSpPr>
          <p:spPr>
            <a:xfrm>
              <a:off x="3048000" y="4724400"/>
              <a:ext cx="3771900" cy="9525"/>
            </a:xfrm>
            <a:custGeom>
              <a:avLst/>
              <a:gdLst/>
              <a:ahLst/>
              <a:cxnLst/>
              <a:rect l="l" t="t" r="r" b="b"/>
              <a:pathLst>
                <a:path w="3771900" h="9525">
                  <a:moveTo>
                    <a:pt x="0" y="0"/>
                  </a:moveTo>
                  <a:lnTo>
                    <a:pt x="3771900" y="0"/>
                  </a:lnTo>
                </a:path>
              </a:pathLst>
            </a:custGeom>
            <a:noFill/>
            <a:ln w="9525">
              <a:solidFill>
                <a:srgbClr val="EADBCE"/>
              </a:solidFill>
            </a:ln>
          </p:spPr>
        </p:sp>
        <p:grpSp>
          <p:nvGrpSpPr>
            <p:cNvPr id="140" name="Group 140"/>
            <p:cNvGrpSpPr/>
            <p:nvPr/>
          </p:nvGrpSpPr>
          <p:grpSpPr>
            <a:xfrm>
              <a:off x="3167010" y="4961645"/>
              <a:ext cx="157850" cy="158095"/>
              <a:chOff x="3167010" y="4961645"/>
              <a:chExt cx="157850" cy="158095"/>
            </a:xfrm>
          </p:grpSpPr>
          <p:sp>
            <p:nvSpPr>
              <p:cNvPr id="138" name="Freeform 138"/>
              <p:cNvSpPr/>
              <p:nvPr/>
            </p:nvSpPr>
            <p:spPr>
              <a:xfrm>
                <a:off x="3167010" y="4961645"/>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D82000"/>
                </a:solidFill>
              </a:ln>
            </p:spPr>
          </p:sp>
          <p:sp>
            <p:nvSpPr>
              <p:cNvPr id="139" name="Freeform 139"/>
              <p:cNvSpPr/>
              <p:nvPr/>
            </p:nvSpPr>
            <p:spPr>
              <a:xfrm>
                <a:off x="3274219" y="4964509"/>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D82000"/>
                </a:solidFill>
              </a:ln>
            </p:spPr>
          </p:sp>
        </p:grpSp>
        <p:sp>
          <p:nvSpPr>
            <p:cNvPr id="141" name="TextBox 141"/>
            <p:cNvSpPr txBox="1"/>
            <p:nvPr/>
          </p:nvSpPr>
          <p:spPr>
            <a:xfrm>
              <a:off x="3424238" y="4997291"/>
              <a:ext cx="451079" cy="161925"/>
            </a:xfrm>
            <a:prstGeom prst="rect">
              <a:avLst/>
            </a:prstGeom>
            <a:noFill/>
            <a:ln>
              <a:noFill/>
            </a:ln>
          </p:spPr>
          <p:txBody>
            <a:bodyPr wrap="none" lIns="0" tIns="0" rIns="0" bIns="0" anchor="t" anchorCtr="0">
              <a:spAutoFit/>
            </a:bodyPr>
            <a:lstStyle/>
            <a:p>
              <a:pPr algn="l"/>
              <a:r>
                <a:rPr lang="zh-CN" sz="820" b="1" dirty="0">
                  <a:solidFill>
                    <a:srgbClr val="C41D00"/>
                  </a:solidFill>
                  <a:latin typeface="+mn-lt"/>
                  <a:ea typeface="+mn-ea"/>
                  <a:cs typeface="+mn-cs"/>
                </a:rPr>
                <a:t>客户经营</a:t>
              </a:r>
            </a:p>
          </p:txBody>
        </p:sp>
        <p:sp>
          <p:nvSpPr>
            <p:cNvPr id="142" name="TextBox 142"/>
            <p:cNvSpPr txBox="1"/>
            <p:nvPr/>
          </p:nvSpPr>
          <p:spPr>
            <a:xfrm>
              <a:off x="4148138" y="4900612"/>
              <a:ext cx="1333500"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客户月活渗透率28%​​</a:t>
              </a:r>
              <a:br/>
              <a:r>
                <a:rPr lang="zh-CN" sz="750" dirty="0">
                  <a:solidFill>
                    <a:srgbClr val="3D3835"/>
                  </a:solidFill>
                  <a:latin typeface="+mn-lt"/>
                  <a:ea typeface="+mn-ea"/>
                  <a:cs typeface="+mn-cs"/>
                </a:rPr>
                <a:t>头部20%客户贡献78%利润​​​​</a:t>
              </a:r>
            </a:p>
          </p:txBody>
        </p:sp>
        <p:sp>
          <p:nvSpPr>
            <p:cNvPr id="143" name="TextBox 143"/>
            <p:cNvSpPr txBox="1"/>
            <p:nvPr/>
          </p:nvSpPr>
          <p:spPr>
            <a:xfrm>
              <a:off x="5481638" y="4900612"/>
              <a:ext cx="105727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客户分层需更精细，经营</a:t>
              </a:r>
              <a:br/>
              <a:r>
                <a:rPr lang="zh-CN" sz="750" dirty="0">
                  <a:solidFill>
                    <a:srgbClr val="3D3835"/>
                  </a:solidFill>
                  <a:latin typeface="+mn-lt"/>
                  <a:ea typeface="+mn-ea"/>
                  <a:cs typeface="+mn-cs"/>
                </a:rPr>
                <a:t>效率要求更高</a:t>
              </a:r>
            </a:p>
          </p:txBody>
        </p:sp>
        <p:sp>
          <p:nvSpPr>
            <p:cNvPr id="144" name="Line 144"/>
            <p:cNvSpPr/>
            <p:nvPr/>
          </p:nvSpPr>
          <p:spPr>
            <a:xfrm>
              <a:off x="3048000" y="5353050"/>
              <a:ext cx="3771900" cy="9525"/>
            </a:xfrm>
            <a:custGeom>
              <a:avLst/>
              <a:gdLst/>
              <a:ahLst/>
              <a:cxnLst/>
              <a:rect l="l" t="t" r="r" b="b"/>
              <a:pathLst>
                <a:path w="3771900" h="9525">
                  <a:moveTo>
                    <a:pt x="0" y="0"/>
                  </a:moveTo>
                  <a:lnTo>
                    <a:pt x="3771900" y="0"/>
                  </a:lnTo>
                </a:path>
              </a:pathLst>
            </a:custGeom>
            <a:noFill/>
            <a:ln w="9525">
              <a:solidFill>
                <a:srgbClr val="EADBCE"/>
              </a:solidFill>
            </a:ln>
          </p:spPr>
        </p:sp>
        <p:sp>
          <p:nvSpPr>
            <p:cNvPr id="145" name="Freeform 145"/>
            <p:cNvSpPr/>
            <p:nvPr/>
          </p:nvSpPr>
          <p:spPr>
            <a:xfrm>
              <a:off x="3169444" y="5588794"/>
              <a:ext cx="157163" cy="157163"/>
            </a:xfrm>
            <a:custGeom>
              <a:avLst/>
              <a:gdLst/>
              <a:ahLst/>
              <a:cxnLst/>
              <a:rect l="l" t="t" r="r" b="b"/>
              <a:pathLst>
                <a:path w="157163" h="157163">
                  <a:moveTo>
                    <a:pt x="8731" y="34925"/>
                  </a:moveTo>
                  <a:lnTo>
                    <a:pt x="34925" y="34925"/>
                  </a:lnTo>
                  <a:cubicBezTo>
                    <a:pt x="39747" y="34925"/>
                    <a:pt x="43656" y="31016"/>
                    <a:pt x="43656" y="26194"/>
                  </a:cubicBezTo>
                  <a:lnTo>
                    <a:pt x="43656" y="17463"/>
                  </a:lnTo>
                  <a:cubicBezTo>
                    <a:pt x="43656" y="7818"/>
                    <a:pt x="51474" y="0"/>
                    <a:pt x="61119" y="0"/>
                  </a:cubicBezTo>
                  <a:cubicBezTo>
                    <a:pt x="70763" y="0"/>
                    <a:pt x="78581" y="7818"/>
                    <a:pt x="78581" y="17463"/>
                  </a:cubicBezTo>
                  <a:lnTo>
                    <a:pt x="78581" y="26194"/>
                  </a:lnTo>
                  <a:cubicBezTo>
                    <a:pt x="78581" y="31016"/>
                    <a:pt x="82490" y="34925"/>
                    <a:pt x="87313" y="34925"/>
                  </a:cubicBezTo>
                  <a:lnTo>
                    <a:pt x="113506" y="34925"/>
                  </a:lnTo>
                  <a:cubicBezTo>
                    <a:pt x="118328" y="34925"/>
                    <a:pt x="122238" y="38834"/>
                    <a:pt x="122238" y="43656"/>
                  </a:cubicBezTo>
                  <a:lnTo>
                    <a:pt x="122238" y="69850"/>
                  </a:lnTo>
                  <a:cubicBezTo>
                    <a:pt x="122238" y="74672"/>
                    <a:pt x="126147" y="78581"/>
                    <a:pt x="130969" y="78581"/>
                  </a:cubicBezTo>
                  <a:lnTo>
                    <a:pt x="139700" y="78581"/>
                  </a:lnTo>
                  <a:cubicBezTo>
                    <a:pt x="149344" y="78581"/>
                    <a:pt x="157163" y="86400"/>
                    <a:pt x="157163" y="96044"/>
                  </a:cubicBezTo>
                  <a:cubicBezTo>
                    <a:pt x="157163" y="105688"/>
                    <a:pt x="149344" y="113506"/>
                    <a:pt x="139700" y="113506"/>
                  </a:cubicBezTo>
                  <a:lnTo>
                    <a:pt x="130969" y="113506"/>
                  </a:lnTo>
                  <a:cubicBezTo>
                    <a:pt x="126147" y="113506"/>
                    <a:pt x="122238" y="117415"/>
                    <a:pt x="122238" y="122238"/>
                  </a:cubicBezTo>
                  <a:lnTo>
                    <a:pt x="122238" y="148431"/>
                  </a:lnTo>
                  <a:cubicBezTo>
                    <a:pt x="122238" y="153253"/>
                    <a:pt x="118328" y="157163"/>
                    <a:pt x="113506" y="157163"/>
                  </a:cubicBezTo>
                  <a:lnTo>
                    <a:pt x="87313" y="157163"/>
                  </a:lnTo>
                  <a:cubicBezTo>
                    <a:pt x="82490" y="157163"/>
                    <a:pt x="78581" y="153253"/>
                    <a:pt x="78581" y="148431"/>
                  </a:cubicBezTo>
                  <a:lnTo>
                    <a:pt x="78581" y="139700"/>
                  </a:lnTo>
                  <a:cubicBezTo>
                    <a:pt x="78581" y="130056"/>
                    <a:pt x="70763" y="122238"/>
                    <a:pt x="61119" y="122238"/>
                  </a:cubicBezTo>
                  <a:cubicBezTo>
                    <a:pt x="51474" y="122238"/>
                    <a:pt x="43656" y="130056"/>
                    <a:pt x="43656" y="139700"/>
                  </a:cubicBezTo>
                  <a:lnTo>
                    <a:pt x="43656" y="148431"/>
                  </a:lnTo>
                  <a:cubicBezTo>
                    <a:pt x="43656" y="153253"/>
                    <a:pt x="39747" y="157163"/>
                    <a:pt x="34925" y="157163"/>
                  </a:cubicBezTo>
                  <a:lnTo>
                    <a:pt x="8731" y="157163"/>
                  </a:lnTo>
                  <a:cubicBezTo>
                    <a:pt x="3909" y="157163"/>
                    <a:pt x="0" y="153253"/>
                    <a:pt x="0" y="148431"/>
                  </a:cubicBezTo>
                  <a:lnTo>
                    <a:pt x="0" y="122238"/>
                  </a:lnTo>
                  <a:cubicBezTo>
                    <a:pt x="0" y="117415"/>
                    <a:pt x="3909" y="113506"/>
                    <a:pt x="8731" y="113506"/>
                  </a:cubicBezTo>
                  <a:lnTo>
                    <a:pt x="17463" y="113506"/>
                  </a:lnTo>
                  <a:cubicBezTo>
                    <a:pt x="27107" y="113506"/>
                    <a:pt x="34925" y="105688"/>
                    <a:pt x="34925" y="96044"/>
                  </a:cubicBezTo>
                  <a:cubicBezTo>
                    <a:pt x="34925" y="86400"/>
                    <a:pt x="27107" y="78581"/>
                    <a:pt x="17463" y="78581"/>
                  </a:cubicBezTo>
                  <a:lnTo>
                    <a:pt x="8731" y="78581"/>
                  </a:lnTo>
                  <a:cubicBezTo>
                    <a:pt x="3909" y="78581"/>
                    <a:pt x="0" y="74672"/>
                    <a:pt x="0" y="69850"/>
                  </a:cubicBezTo>
                  <a:lnTo>
                    <a:pt x="0" y="43656"/>
                  </a:lnTo>
                  <a:cubicBezTo>
                    <a:pt x="0" y="38834"/>
                    <a:pt x="3909" y="34925"/>
                    <a:pt x="8731" y="34925"/>
                  </a:cubicBezTo>
                </a:path>
              </a:pathLst>
            </a:custGeom>
            <a:noFill/>
            <a:ln w="17463">
              <a:solidFill>
                <a:srgbClr val="D82000"/>
              </a:solidFill>
            </a:ln>
          </p:spPr>
        </p:sp>
        <p:sp>
          <p:nvSpPr>
            <p:cNvPr id="146" name="TextBox 146"/>
            <p:cNvSpPr txBox="1"/>
            <p:nvPr/>
          </p:nvSpPr>
          <p:spPr>
            <a:xfrm>
              <a:off x="3424238" y="5625941"/>
              <a:ext cx="451079" cy="161925"/>
            </a:xfrm>
            <a:prstGeom prst="rect">
              <a:avLst/>
            </a:prstGeom>
            <a:noFill/>
            <a:ln>
              <a:noFill/>
            </a:ln>
          </p:spPr>
          <p:txBody>
            <a:bodyPr wrap="none" lIns="0" tIns="0" rIns="0" bIns="0" anchor="t" anchorCtr="0">
              <a:spAutoFit/>
            </a:bodyPr>
            <a:lstStyle/>
            <a:p>
              <a:pPr algn="l"/>
              <a:r>
                <a:rPr lang="zh-CN" sz="820" b="1" dirty="0">
                  <a:solidFill>
                    <a:srgbClr val="C41D00"/>
                  </a:solidFill>
                  <a:latin typeface="+mn-lt"/>
                  <a:ea typeface="+mn-ea"/>
                  <a:cs typeface="+mn-cs"/>
                </a:rPr>
                <a:t>产品服务</a:t>
              </a:r>
            </a:p>
          </p:txBody>
        </p:sp>
        <p:sp>
          <p:nvSpPr>
            <p:cNvPr id="147" name="TextBox 147"/>
            <p:cNvSpPr txBox="1"/>
            <p:nvPr/>
          </p:nvSpPr>
          <p:spPr>
            <a:xfrm>
              <a:off x="4148138" y="5634038"/>
              <a:ext cx="1216057"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标准化产品占比仍达71%​​</a:t>
              </a:r>
            </a:p>
          </p:txBody>
        </p:sp>
        <p:sp>
          <p:nvSpPr>
            <p:cNvPr id="148" name="TextBox 148"/>
            <p:cNvSpPr txBox="1"/>
            <p:nvPr/>
          </p:nvSpPr>
          <p:spPr>
            <a:xfrm>
              <a:off x="5481638" y="5529262"/>
              <a:ext cx="115252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场景化、个性化供给不足，</a:t>
              </a:r>
              <a:br/>
              <a:r>
                <a:rPr lang="zh-CN" sz="750" dirty="0">
                  <a:solidFill>
                    <a:srgbClr val="3D3835"/>
                  </a:solidFill>
                  <a:latin typeface="+mn-lt"/>
                  <a:ea typeface="+mn-ea"/>
                  <a:cs typeface="+mn-cs"/>
                </a:rPr>
                <a:t>满足度提升空间大</a:t>
              </a:r>
            </a:p>
          </p:txBody>
        </p:sp>
        <p:sp>
          <p:nvSpPr>
            <p:cNvPr id="149" name="Line 149"/>
            <p:cNvSpPr/>
            <p:nvPr/>
          </p:nvSpPr>
          <p:spPr>
            <a:xfrm>
              <a:off x="3048000" y="5981700"/>
              <a:ext cx="3771900" cy="9525"/>
            </a:xfrm>
            <a:custGeom>
              <a:avLst/>
              <a:gdLst/>
              <a:ahLst/>
              <a:cxnLst/>
              <a:rect l="l" t="t" r="r" b="b"/>
              <a:pathLst>
                <a:path w="3771900" h="9525">
                  <a:moveTo>
                    <a:pt x="0" y="0"/>
                  </a:moveTo>
                  <a:lnTo>
                    <a:pt x="3771900" y="0"/>
                  </a:lnTo>
                </a:path>
              </a:pathLst>
            </a:custGeom>
            <a:noFill/>
            <a:ln w="9525">
              <a:solidFill>
                <a:srgbClr val="EADBCE"/>
              </a:solidFill>
            </a:ln>
          </p:spPr>
        </p:sp>
        <p:grpSp>
          <p:nvGrpSpPr>
            <p:cNvPr id="152" name="Group 152"/>
            <p:cNvGrpSpPr/>
            <p:nvPr/>
          </p:nvGrpSpPr>
          <p:grpSpPr>
            <a:xfrm>
              <a:off x="3157660" y="6217444"/>
              <a:ext cx="170506" cy="157162"/>
              <a:chOff x="3157660" y="6217444"/>
              <a:chExt cx="170506" cy="157162"/>
            </a:xfrm>
          </p:grpSpPr>
          <p:sp>
            <p:nvSpPr>
              <p:cNvPr id="150" name="Freeform 150"/>
              <p:cNvSpPr/>
              <p:nvPr/>
            </p:nvSpPr>
            <p:spPr>
              <a:xfrm>
                <a:off x="3157660" y="621744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D82000"/>
                </a:solidFill>
              </a:ln>
            </p:spPr>
          </p:sp>
          <p:sp>
            <p:nvSpPr>
              <p:cNvPr id="151" name="Freeform 151"/>
              <p:cNvSpPr/>
              <p:nvPr/>
            </p:nvSpPr>
            <p:spPr>
              <a:xfrm>
                <a:off x="3274219" y="6339681"/>
                <a:ext cx="52388" cy="34925"/>
              </a:xfrm>
              <a:custGeom>
                <a:avLst/>
                <a:gdLst/>
                <a:ahLst/>
                <a:cxnLst/>
                <a:rect l="l" t="t" r="r" b="b"/>
                <a:pathLst>
                  <a:path w="52388" h="34925">
                    <a:moveTo>
                      <a:pt x="0" y="17463"/>
                    </a:moveTo>
                    <a:lnTo>
                      <a:pt x="17463" y="34925"/>
                    </a:lnTo>
                    <a:lnTo>
                      <a:pt x="52388" y="0"/>
                    </a:lnTo>
                  </a:path>
                </a:pathLst>
              </a:custGeom>
              <a:noFill/>
              <a:ln w="17463">
                <a:solidFill>
                  <a:srgbClr val="D82000"/>
                </a:solidFill>
              </a:ln>
            </p:spPr>
          </p:sp>
        </p:grpSp>
        <p:sp>
          <p:nvSpPr>
            <p:cNvPr id="153" name="TextBox 153"/>
            <p:cNvSpPr txBox="1"/>
            <p:nvPr/>
          </p:nvSpPr>
          <p:spPr>
            <a:xfrm>
              <a:off x="3424238" y="6254591"/>
              <a:ext cx="451079" cy="161925"/>
            </a:xfrm>
            <a:prstGeom prst="rect">
              <a:avLst/>
            </a:prstGeom>
            <a:noFill/>
            <a:ln>
              <a:noFill/>
            </a:ln>
          </p:spPr>
          <p:txBody>
            <a:bodyPr wrap="none" lIns="0" tIns="0" rIns="0" bIns="0" anchor="t" anchorCtr="0">
              <a:spAutoFit/>
            </a:bodyPr>
            <a:lstStyle/>
            <a:p>
              <a:pPr algn="l"/>
              <a:r>
                <a:rPr lang="zh-CN" sz="820" b="1" dirty="0">
                  <a:solidFill>
                    <a:srgbClr val="C41D00"/>
                  </a:solidFill>
                  <a:latin typeface="+mn-lt"/>
                  <a:ea typeface="+mn-ea"/>
                  <a:cs typeface="+mn-cs"/>
                </a:rPr>
                <a:t>风险管理</a:t>
              </a:r>
            </a:p>
          </p:txBody>
        </p:sp>
        <p:sp>
          <p:nvSpPr>
            <p:cNvPr id="154" name="TextBox 154"/>
            <p:cNvSpPr txBox="1"/>
            <p:nvPr/>
          </p:nvSpPr>
          <p:spPr>
            <a:xfrm>
              <a:off x="4148138" y="6262688"/>
              <a:ext cx="1216057"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线上风险模型覆盖率65%​​</a:t>
              </a:r>
            </a:p>
          </p:txBody>
        </p:sp>
        <p:sp>
          <p:nvSpPr>
            <p:cNvPr id="155" name="TextBox 155"/>
            <p:cNvSpPr txBox="1"/>
            <p:nvPr/>
          </p:nvSpPr>
          <p:spPr>
            <a:xfrm>
              <a:off x="5481638" y="6157912"/>
              <a:ext cx="1057275" cy="271462"/>
            </a:xfrm>
            <a:prstGeom prst="rect">
              <a:avLst/>
            </a:prstGeom>
            <a:noFill/>
            <a:ln>
              <a:noFill/>
            </a:ln>
          </p:spPr>
          <p:txBody>
            <a:bodyPr wrap="none" lIns="0" tIns="0" rIns="0" bIns="0" anchor="t" anchorCtr="0">
              <a:spAutoFit/>
            </a:bodyPr>
            <a:lstStyle/>
            <a:p>
              <a:pPr algn="l">
                <a:lnSpc>
                  <a:spcPts val="975"/>
                </a:lnSpc>
              </a:pPr>
              <a:r>
                <a:rPr lang="zh-CN" sz="750" dirty="0">
                  <a:solidFill>
                    <a:srgbClr val="3D3835"/>
                  </a:solidFill>
                  <a:latin typeface="+mn-lt"/>
                  <a:ea typeface="+mn-ea"/>
                  <a:cs typeface="+mn-cs"/>
                </a:rPr>
                <a:t>数据安全与隐私保护要求</a:t>
              </a:r>
              <a:br/>
              <a:r>
                <a:rPr lang="zh-CN" sz="750" dirty="0">
                  <a:solidFill>
                    <a:srgbClr val="3D3835"/>
                  </a:solidFill>
                  <a:latin typeface="+mn-lt"/>
                  <a:ea typeface="+mn-ea"/>
                  <a:cs typeface="+mn-cs"/>
                </a:rPr>
                <a:t>提升，合规成本上升</a:t>
              </a:r>
            </a:p>
          </p:txBody>
        </p:sp>
      </p:grpSp>
      <p:grpSp>
        <p:nvGrpSpPr>
          <p:cNvPr id="286" name="expectation-matrix"/>
          <p:cNvGrpSpPr/>
          <p:nvPr/>
        </p:nvGrpSpPr>
        <p:grpSpPr>
          <a:xfrm>
            <a:off x="6877050" y="666750"/>
            <a:ext cx="4933950" cy="5765720"/>
            <a:chOff x="6877050" y="666750"/>
            <a:chExt cx="4933950" cy="5765720"/>
          </a:xfrm>
        </p:grpSpPr>
        <p:sp>
          <p:nvSpPr>
            <p:cNvPr id="157" name="Rectangle 157"/>
            <p:cNvSpPr/>
            <p:nvPr/>
          </p:nvSpPr>
          <p:spPr>
            <a:xfrm>
              <a:off x="6877050" y="666750"/>
              <a:ext cx="4933950" cy="228600"/>
            </a:xfrm>
            <a:prstGeom prst="roundRect">
              <a:avLst>
                <a:gd name="adj" fmla="val 12500"/>
              </a:avLst>
            </a:prstGeom>
            <a:solidFill>
              <a:srgbClr val="C41D00"/>
            </a:solidFill>
            <a:ln>
              <a:noFill/>
            </a:ln>
          </p:spPr>
        </p:sp>
        <p:sp>
          <p:nvSpPr>
            <p:cNvPr id="158" name="TextBox 158"/>
            <p:cNvSpPr txBox="1"/>
            <p:nvPr/>
          </p:nvSpPr>
          <p:spPr>
            <a:xfrm>
              <a:off x="6986588" y="727472"/>
              <a:ext cx="14014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客户期望矩阵（按场景）</a:t>
              </a:r>
            </a:p>
          </p:txBody>
        </p:sp>
        <p:sp>
          <p:nvSpPr>
            <p:cNvPr id="159" name="TextBox 159"/>
            <p:cNvSpPr txBox="1"/>
            <p:nvPr/>
          </p:nvSpPr>
          <p:spPr>
            <a:xfrm>
              <a:off x="6986588" y="1019889"/>
              <a:ext cx="1285723"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客户对四大场景的核心期望</a:t>
              </a:r>
            </a:p>
          </p:txBody>
        </p:sp>
        <p:sp>
          <p:nvSpPr>
            <p:cNvPr id="160" name="Rectangle 160"/>
            <p:cNvSpPr/>
            <p:nvPr/>
          </p:nvSpPr>
          <p:spPr>
            <a:xfrm>
              <a:off x="7620000" y="1181100"/>
              <a:ext cx="4152900" cy="685800"/>
            </a:xfrm>
            <a:prstGeom prst="rect">
              <a:avLst/>
            </a:prstGeom>
            <a:solidFill>
              <a:srgbClr val="FFFFFF"/>
            </a:solidFill>
            <a:ln w="9525">
              <a:solidFill>
                <a:srgbClr val="F0B8AE"/>
              </a:solidFill>
            </a:ln>
          </p:spPr>
        </p:sp>
        <p:sp>
          <p:nvSpPr>
            <p:cNvPr id="161" name="Line 161"/>
            <p:cNvSpPr/>
            <p:nvPr/>
          </p:nvSpPr>
          <p:spPr>
            <a:xfrm>
              <a:off x="8658225" y="1181100"/>
              <a:ext cx="9525" cy="4876800"/>
            </a:xfrm>
            <a:custGeom>
              <a:avLst/>
              <a:gdLst/>
              <a:ahLst/>
              <a:cxnLst/>
              <a:rect l="l" t="t" r="r" b="b"/>
              <a:pathLst>
                <a:path w="9525" h="4876800">
                  <a:moveTo>
                    <a:pt x="0" y="0"/>
                  </a:moveTo>
                  <a:lnTo>
                    <a:pt x="0" y="4876800"/>
                  </a:lnTo>
                </a:path>
              </a:pathLst>
            </a:custGeom>
            <a:noFill/>
            <a:ln w="9525">
              <a:solidFill>
                <a:srgbClr val="F0B8AE"/>
              </a:solidFill>
            </a:ln>
          </p:spPr>
        </p:sp>
        <p:sp>
          <p:nvSpPr>
            <p:cNvPr id="162" name="Line 162"/>
            <p:cNvSpPr/>
            <p:nvPr/>
          </p:nvSpPr>
          <p:spPr>
            <a:xfrm>
              <a:off x="9696450" y="1181100"/>
              <a:ext cx="9525" cy="4876800"/>
            </a:xfrm>
            <a:custGeom>
              <a:avLst/>
              <a:gdLst/>
              <a:ahLst/>
              <a:cxnLst/>
              <a:rect l="l" t="t" r="r" b="b"/>
              <a:pathLst>
                <a:path w="9525" h="4876800">
                  <a:moveTo>
                    <a:pt x="0" y="0"/>
                  </a:moveTo>
                  <a:lnTo>
                    <a:pt x="0" y="4876800"/>
                  </a:lnTo>
                </a:path>
              </a:pathLst>
            </a:custGeom>
            <a:noFill/>
            <a:ln w="9525">
              <a:solidFill>
                <a:srgbClr val="F0B8AE"/>
              </a:solidFill>
            </a:ln>
          </p:spPr>
        </p:sp>
        <p:sp>
          <p:nvSpPr>
            <p:cNvPr id="163" name="Line 163"/>
            <p:cNvSpPr/>
            <p:nvPr/>
          </p:nvSpPr>
          <p:spPr>
            <a:xfrm>
              <a:off x="10734675" y="1181100"/>
              <a:ext cx="9525" cy="4876800"/>
            </a:xfrm>
            <a:custGeom>
              <a:avLst/>
              <a:gdLst/>
              <a:ahLst/>
              <a:cxnLst/>
              <a:rect l="l" t="t" r="r" b="b"/>
              <a:pathLst>
                <a:path w="9525" h="4876800">
                  <a:moveTo>
                    <a:pt x="0" y="0"/>
                  </a:moveTo>
                  <a:lnTo>
                    <a:pt x="0" y="4876800"/>
                  </a:lnTo>
                </a:path>
              </a:pathLst>
            </a:custGeom>
            <a:noFill/>
            <a:ln w="9525">
              <a:solidFill>
                <a:srgbClr val="F0B8AE"/>
              </a:solidFill>
            </a:ln>
          </p:spPr>
        </p:sp>
        <p:grpSp>
          <p:nvGrpSpPr>
            <p:cNvPr id="168" name="Group 168"/>
            <p:cNvGrpSpPr/>
            <p:nvPr/>
          </p:nvGrpSpPr>
          <p:grpSpPr>
            <a:xfrm>
              <a:off x="8036719" y="1335881"/>
              <a:ext cx="214312" cy="166688"/>
              <a:chOff x="8036719" y="1335881"/>
              <a:chExt cx="214312" cy="166688"/>
            </a:xfrm>
          </p:grpSpPr>
          <p:sp>
            <p:nvSpPr>
              <p:cNvPr id="164" name="Freeform 164"/>
              <p:cNvSpPr/>
              <p:nvPr/>
            </p:nvSpPr>
            <p:spPr>
              <a:xfrm>
                <a:off x="8036719" y="1335881"/>
                <a:ext cx="214312" cy="166688"/>
              </a:xfrm>
              <a:custGeom>
                <a:avLst/>
                <a:gdLst/>
                <a:ahLst/>
                <a:cxnLst/>
                <a:rect l="l" t="t" r="r" b="b"/>
                <a:pathLst>
                  <a:path w="214312" h="166688">
                    <a:moveTo>
                      <a:pt x="0" y="35719"/>
                    </a:moveTo>
                    <a:cubicBezTo>
                      <a:pt x="0" y="15992"/>
                      <a:pt x="15992" y="0"/>
                      <a:pt x="35719" y="0"/>
                    </a:cubicBezTo>
                    <a:lnTo>
                      <a:pt x="178594" y="0"/>
                    </a:lnTo>
                    <a:cubicBezTo>
                      <a:pt x="198321" y="0"/>
                      <a:pt x="214312" y="15992"/>
                      <a:pt x="214312" y="35719"/>
                    </a:cubicBezTo>
                    <a:lnTo>
                      <a:pt x="214312" y="130969"/>
                    </a:lnTo>
                    <a:cubicBezTo>
                      <a:pt x="214312" y="150696"/>
                      <a:pt x="198321" y="166688"/>
                      <a:pt x="178594" y="166688"/>
                    </a:cubicBezTo>
                    <a:lnTo>
                      <a:pt x="35719" y="166688"/>
                    </a:lnTo>
                    <a:cubicBezTo>
                      <a:pt x="15992" y="166688"/>
                      <a:pt x="0" y="150696"/>
                      <a:pt x="0" y="130969"/>
                    </a:cubicBezTo>
                    <a:lnTo>
                      <a:pt x="0" y="35719"/>
                    </a:lnTo>
                  </a:path>
                </a:pathLst>
              </a:custGeom>
              <a:noFill/>
              <a:ln w="23812">
                <a:solidFill>
                  <a:srgbClr val="D82000"/>
                </a:solidFill>
              </a:ln>
            </p:spPr>
          </p:sp>
          <p:sp>
            <p:nvSpPr>
              <p:cNvPr id="165" name="Freeform 165"/>
              <p:cNvSpPr/>
              <p:nvPr/>
            </p:nvSpPr>
            <p:spPr>
              <a:xfrm>
                <a:off x="8036719" y="1395412"/>
                <a:ext cx="214312" cy="9525"/>
              </a:xfrm>
              <a:custGeom>
                <a:avLst/>
                <a:gdLst/>
                <a:ahLst/>
                <a:cxnLst/>
                <a:rect l="l" t="t" r="r" b="b"/>
                <a:pathLst>
                  <a:path w="214312" h="9525">
                    <a:moveTo>
                      <a:pt x="0" y="0"/>
                    </a:moveTo>
                    <a:lnTo>
                      <a:pt x="214312" y="0"/>
                    </a:lnTo>
                  </a:path>
                </a:pathLst>
              </a:custGeom>
              <a:noFill/>
              <a:ln w="23812">
                <a:solidFill>
                  <a:srgbClr val="D82000"/>
                </a:solidFill>
              </a:ln>
            </p:spPr>
          </p:sp>
          <p:sp>
            <p:nvSpPr>
              <p:cNvPr id="166" name="Freeform 166"/>
              <p:cNvSpPr/>
              <p:nvPr/>
            </p:nvSpPr>
            <p:spPr>
              <a:xfrm>
                <a:off x="8084344" y="1454944"/>
                <a:ext cx="9525" cy="9525"/>
              </a:xfrm>
              <a:custGeom>
                <a:avLst/>
                <a:gdLst/>
                <a:ahLst/>
                <a:cxnLst/>
                <a:rect l="l" t="t" r="r" b="b"/>
                <a:pathLst>
                  <a:path w="9525" h="9525">
                    <a:moveTo>
                      <a:pt x="0" y="0"/>
                    </a:moveTo>
                    <a:lnTo>
                      <a:pt x="119" y="0"/>
                    </a:lnTo>
                  </a:path>
                </a:pathLst>
              </a:custGeom>
              <a:noFill/>
              <a:ln w="23812">
                <a:solidFill>
                  <a:srgbClr val="D82000"/>
                </a:solidFill>
              </a:ln>
            </p:spPr>
          </p:sp>
          <p:sp>
            <p:nvSpPr>
              <p:cNvPr id="167" name="Freeform 167"/>
              <p:cNvSpPr/>
              <p:nvPr/>
            </p:nvSpPr>
            <p:spPr>
              <a:xfrm>
                <a:off x="8131969" y="1454944"/>
                <a:ext cx="23812" cy="9525"/>
              </a:xfrm>
              <a:custGeom>
                <a:avLst/>
                <a:gdLst/>
                <a:ahLst/>
                <a:cxnLst/>
                <a:rect l="l" t="t" r="r" b="b"/>
                <a:pathLst>
                  <a:path w="23812" h="9525">
                    <a:moveTo>
                      <a:pt x="0" y="0"/>
                    </a:moveTo>
                    <a:lnTo>
                      <a:pt x="23812" y="0"/>
                    </a:lnTo>
                  </a:path>
                </a:pathLst>
              </a:custGeom>
              <a:noFill/>
              <a:ln w="23812">
                <a:solidFill>
                  <a:srgbClr val="D82000"/>
                </a:solidFill>
              </a:ln>
            </p:spPr>
          </p:sp>
        </p:grpSp>
        <p:sp>
          <p:nvSpPr>
            <p:cNvPr id="169" name="TextBox 169"/>
            <p:cNvSpPr txBox="1"/>
            <p:nvPr/>
          </p:nvSpPr>
          <p:spPr>
            <a:xfrm>
              <a:off x="7908811" y="1663541"/>
              <a:ext cx="451079" cy="161925"/>
            </a:xfrm>
            <a:prstGeom prst="rect">
              <a:avLst/>
            </a:prstGeom>
            <a:noFill/>
            <a:ln>
              <a:noFill/>
            </a:ln>
          </p:spPr>
          <p:txBody>
            <a:bodyPr wrap="none" lIns="0" tIns="0" rIns="0" bIns="0" anchor="t" anchorCtr="0">
              <a:spAutoFit/>
            </a:bodyPr>
            <a:lstStyle/>
            <a:p>
              <a:pPr algn="ctr"/>
              <a:r>
                <a:rPr lang="zh-CN" sz="820" b="1" dirty="0">
                  <a:solidFill>
                    <a:srgbClr val="4A130A"/>
                  </a:solidFill>
                  <a:latin typeface="+mn-lt"/>
                  <a:ea typeface="+mn-ea"/>
                  <a:cs typeface="+mn-cs"/>
                </a:rPr>
                <a:t>日常交易</a:t>
              </a:r>
            </a:p>
          </p:txBody>
        </p:sp>
        <p:grpSp>
          <p:nvGrpSpPr>
            <p:cNvPr id="174" name="Group 174"/>
            <p:cNvGrpSpPr/>
            <p:nvPr/>
          </p:nvGrpSpPr>
          <p:grpSpPr>
            <a:xfrm>
              <a:off x="9074944" y="1323975"/>
              <a:ext cx="214313" cy="200025"/>
              <a:chOff x="9074944" y="1323975"/>
              <a:chExt cx="214313" cy="200025"/>
            </a:xfrm>
          </p:grpSpPr>
          <p:sp>
            <p:nvSpPr>
              <p:cNvPr id="170" name="Freeform 170"/>
              <p:cNvSpPr/>
              <p:nvPr/>
            </p:nvSpPr>
            <p:spPr>
              <a:xfrm>
                <a:off x="9074944" y="1419225"/>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D82000"/>
                </a:solidFill>
              </a:ln>
            </p:spPr>
          </p:sp>
          <p:sp>
            <p:nvSpPr>
              <p:cNvPr id="171" name="Freeform 171"/>
              <p:cNvSpPr/>
              <p:nvPr/>
            </p:nvSpPr>
            <p:spPr>
              <a:xfrm>
                <a:off x="9217819" y="1371600"/>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D82000"/>
                </a:solidFill>
              </a:ln>
            </p:spPr>
          </p:sp>
          <p:sp>
            <p:nvSpPr>
              <p:cNvPr id="172" name="Freeform 172"/>
              <p:cNvSpPr/>
              <p:nvPr/>
            </p:nvSpPr>
            <p:spPr>
              <a:xfrm>
                <a:off x="9146381" y="1323975"/>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D82000"/>
                </a:solidFill>
              </a:ln>
            </p:spPr>
          </p:sp>
          <p:sp>
            <p:nvSpPr>
              <p:cNvPr id="173" name="Freeform 173"/>
              <p:cNvSpPr/>
              <p:nvPr/>
            </p:nvSpPr>
            <p:spPr>
              <a:xfrm>
                <a:off x="9086850" y="1514475"/>
                <a:ext cx="166688" cy="9525"/>
              </a:xfrm>
              <a:custGeom>
                <a:avLst/>
                <a:gdLst/>
                <a:ahLst/>
                <a:cxnLst/>
                <a:rect l="l" t="t" r="r" b="b"/>
                <a:pathLst>
                  <a:path w="166688" h="9525">
                    <a:moveTo>
                      <a:pt x="0" y="0"/>
                    </a:moveTo>
                    <a:lnTo>
                      <a:pt x="166688" y="0"/>
                    </a:lnTo>
                  </a:path>
                </a:pathLst>
              </a:custGeom>
              <a:noFill/>
              <a:ln w="23812">
                <a:solidFill>
                  <a:srgbClr val="D82000"/>
                </a:solidFill>
              </a:ln>
            </p:spPr>
          </p:sp>
        </p:grpSp>
        <p:sp>
          <p:nvSpPr>
            <p:cNvPr id="175" name="TextBox 175"/>
            <p:cNvSpPr txBox="1"/>
            <p:nvPr/>
          </p:nvSpPr>
          <p:spPr>
            <a:xfrm>
              <a:off x="8947036" y="1663541"/>
              <a:ext cx="451079" cy="161925"/>
            </a:xfrm>
            <a:prstGeom prst="rect">
              <a:avLst/>
            </a:prstGeom>
            <a:noFill/>
            <a:ln>
              <a:noFill/>
            </a:ln>
          </p:spPr>
          <p:txBody>
            <a:bodyPr wrap="none" lIns="0" tIns="0" rIns="0" bIns="0" anchor="t" anchorCtr="0">
              <a:spAutoFit/>
            </a:bodyPr>
            <a:lstStyle/>
            <a:p>
              <a:pPr algn="ctr"/>
              <a:r>
                <a:rPr lang="zh-CN" sz="820" b="1" dirty="0">
                  <a:solidFill>
                    <a:srgbClr val="4A130A"/>
                  </a:solidFill>
                  <a:latin typeface="+mn-lt"/>
                  <a:ea typeface="+mn-ea"/>
                  <a:cs typeface="+mn-cs"/>
                </a:rPr>
                <a:t>财富管理</a:t>
              </a:r>
            </a:p>
          </p:txBody>
        </p:sp>
        <p:grpSp>
          <p:nvGrpSpPr>
            <p:cNvPr id="179" name="Group 179"/>
            <p:cNvGrpSpPr/>
            <p:nvPr/>
          </p:nvGrpSpPr>
          <p:grpSpPr>
            <a:xfrm>
              <a:off x="10113169" y="1312069"/>
              <a:ext cx="214312" cy="214312"/>
              <a:chOff x="10113169" y="1312069"/>
              <a:chExt cx="214312" cy="214312"/>
            </a:xfrm>
          </p:grpSpPr>
          <p:sp>
            <p:nvSpPr>
              <p:cNvPr id="176" name="Freeform 176"/>
              <p:cNvSpPr/>
              <p:nvPr/>
            </p:nvSpPr>
            <p:spPr>
              <a:xfrm>
                <a:off x="10113169" y="1312069"/>
                <a:ext cx="214312" cy="107156"/>
              </a:xfrm>
              <a:custGeom>
                <a:avLst/>
                <a:gdLst/>
                <a:ahLst/>
                <a:cxnLst/>
                <a:rect l="l" t="t" r="r" b="b"/>
                <a:pathLst>
                  <a:path w="214312" h="107156">
                    <a:moveTo>
                      <a:pt x="23812" y="107156"/>
                    </a:moveTo>
                    <a:lnTo>
                      <a:pt x="0" y="107156"/>
                    </a:lnTo>
                    <a:lnTo>
                      <a:pt x="107156" y="0"/>
                    </a:lnTo>
                    <a:lnTo>
                      <a:pt x="214312" y="107156"/>
                    </a:lnTo>
                    <a:lnTo>
                      <a:pt x="190500" y="107156"/>
                    </a:lnTo>
                  </a:path>
                </a:pathLst>
              </a:custGeom>
              <a:noFill/>
              <a:ln w="23812">
                <a:solidFill>
                  <a:srgbClr val="D82000"/>
                </a:solidFill>
              </a:ln>
            </p:spPr>
          </p:sp>
          <p:sp>
            <p:nvSpPr>
              <p:cNvPr id="177" name="Freeform 177"/>
              <p:cNvSpPr/>
              <p:nvPr/>
            </p:nvSpPr>
            <p:spPr>
              <a:xfrm>
                <a:off x="10136981" y="1419225"/>
                <a:ext cx="166688" cy="107156"/>
              </a:xfrm>
              <a:custGeom>
                <a:avLst/>
                <a:gdLst/>
                <a:ahLst/>
                <a:cxnLst/>
                <a:rect l="l" t="t" r="r" b="b"/>
                <a:pathLst>
                  <a:path w="166688" h="107156">
                    <a:moveTo>
                      <a:pt x="0" y="0"/>
                    </a:moveTo>
                    <a:lnTo>
                      <a:pt x="0" y="83344"/>
                    </a:lnTo>
                    <a:cubicBezTo>
                      <a:pt x="0" y="96495"/>
                      <a:pt x="10661" y="107156"/>
                      <a:pt x="23812" y="107156"/>
                    </a:cubicBezTo>
                    <a:lnTo>
                      <a:pt x="142875" y="107156"/>
                    </a:lnTo>
                    <a:cubicBezTo>
                      <a:pt x="156026" y="107156"/>
                      <a:pt x="166688" y="96495"/>
                      <a:pt x="166688" y="83344"/>
                    </a:cubicBezTo>
                    <a:lnTo>
                      <a:pt x="166688" y="0"/>
                    </a:lnTo>
                  </a:path>
                </a:pathLst>
              </a:custGeom>
              <a:noFill/>
              <a:ln w="23812">
                <a:solidFill>
                  <a:srgbClr val="D82000"/>
                </a:solidFill>
              </a:ln>
            </p:spPr>
          </p:sp>
          <p:sp>
            <p:nvSpPr>
              <p:cNvPr id="178" name="Freeform 178"/>
              <p:cNvSpPr/>
              <p:nvPr/>
            </p:nvSpPr>
            <p:spPr>
              <a:xfrm>
                <a:off x="10184606" y="1431131"/>
                <a:ext cx="71438" cy="95250"/>
              </a:xfrm>
              <a:custGeom>
                <a:avLst/>
                <a:gdLst/>
                <a:ahLst/>
                <a:cxnLst/>
                <a:rect l="l" t="t" r="r" b="b"/>
                <a:pathLst>
                  <a:path w="71438" h="95250">
                    <a:moveTo>
                      <a:pt x="0" y="95250"/>
                    </a:moveTo>
                    <a:lnTo>
                      <a:pt x="0" y="23812"/>
                    </a:lnTo>
                    <a:cubicBezTo>
                      <a:pt x="0" y="10661"/>
                      <a:pt x="10661" y="0"/>
                      <a:pt x="23812" y="0"/>
                    </a:cubicBezTo>
                    <a:lnTo>
                      <a:pt x="47625" y="0"/>
                    </a:lnTo>
                    <a:cubicBezTo>
                      <a:pt x="60776" y="0"/>
                      <a:pt x="71438" y="10661"/>
                      <a:pt x="71438" y="23812"/>
                    </a:cubicBezTo>
                    <a:lnTo>
                      <a:pt x="71438" y="95250"/>
                    </a:lnTo>
                  </a:path>
                </a:pathLst>
              </a:custGeom>
              <a:noFill/>
              <a:ln w="23812">
                <a:solidFill>
                  <a:srgbClr val="D82000"/>
                </a:solidFill>
              </a:ln>
            </p:spPr>
          </p:sp>
        </p:grpSp>
        <p:sp>
          <p:nvSpPr>
            <p:cNvPr id="180" name="TextBox 180"/>
            <p:cNvSpPr txBox="1"/>
            <p:nvPr/>
          </p:nvSpPr>
          <p:spPr>
            <a:xfrm>
              <a:off x="9985261" y="1663541"/>
              <a:ext cx="451079" cy="161925"/>
            </a:xfrm>
            <a:prstGeom prst="rect">
              <a:avLst/>
            </a:prstGeom>
            <a:noFill/>
            <a:ln>
              <a:noFill/>
            </a:ln>
          </p:spPr>
          <p:txBody>
            <a:bodyPr wrap="none" lIns="0" tIns="0" rIns="0" bIns="0" anchor="t" anchorCtr="0">
              <a:spAutoFit/>
            </a:bodyPr>
            <a:lstStyle/>
            <a:p>
              <a:pPr algn="ctr"/>
              <a:r>
                <a:rPr lang="zh-CN" sz="820" b="1" dirty="0">
                  <a:solidFill>
                    <a:srgbClr val="4A130A"/>
                  </a:solidFill>
                  <a:latin typeface="+mn-lt"/>
                  <a:ea typeface="+mn-ea"/>
                  <a:cs typeface="+mn-cs"/>
                </a:rPr>
                <a:t>住房金融</a:t>
              </a:r>
            </a:p>
          </p:txBody>
        </p:sp>
        <p:grpSp>
          <p:nvGrpSpPr>
            <p:cNvPr id="185" name="Group 185"/>
            <p:cNvGrpSpPr/>
            <p:nvPr/>
          </p:nvGrpSpPr>
          <p:grpSpPr>
            <a:xfrm>
              <a:off x="11163300" y="1312069"/>
              <a:ext cx="190500" cy="214312"/>
              <a:chOff x="11163300" y="1312069"/>
              <a:chExt cx="190500" cy="214312"/>
            </a:xfrm>
          </p:grpSpPr>
          <p:sp>
            <p:nvSpPr>
              <p:cNvPr id="181" name="Freeform 181"/>
              <p:cNvSpPr/>
              <p:nvPr/>
            </p:nvSpPr>
            <p:spPr>
              <a:xfrm>
                <a:off x="11163300" y="147875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D82000"/>
                </a:solidFill>
              </a:ln>
            </p:spPr>
          </p:sp>
          <p:sp>
            <p:nvSpPr>
              <p:cNvPr id="182" name="Freeform 182"/>
              <p:cNvSpPr/>
              <p:nvPr/>
            </p:nvSpPr>
            <p:spPr>
              <a:xfrm>
                <a:off x="11294269" y="147875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D82000"/>
                </a:solidFill>
              </a:ln>
            </p:spPr>
          </p:sp>
          <p:sp>
            <p:nvSpPr>
              <p:cNvPr id="183" name="Freeform 183"/>
              <p:cNvSpPr/>
              <p:nvPr/>
            </p:nvSpPr>
            <p:spPr>
              <a:xfrm>
                <a:off x="11163300" y="1312069"/>
                <a:ext cx="154781" cy="166688"/>
              </a:xfrm>
              <a:custGeom>
                <a:avLst/>
                <a:gdLst/>
                <a:ahLst/>
                <a:cxnLst/>
                <a:rect l="l" t="t" r="r" b="b"/>
                <a:pathLst>
                  <a:path w="154781" h="166688">
                    <a:moveTo>
                      <a:pt x="154781" y="166688"/>
                    </a:moveTo>
                    <a:lnTo>
                      <a:pt x="23812" y="166688"/>
                    </a:lnTo>
                    <a:lnTo>
                      <a:pt x="23812" y="0"/>
                    </a:lnTo>
                    <a:lnTo>
                      <a:pt x="0" y="0"/>
                    </a:lnTo>
                  </a:path>
                </a:pathLst>
              </a:custGeom>
              <a:noFill/>
              <a:ln w="23812">
                <a:solidFill>
                  <a:srgbClr val="D82000"/>
                </a:solidFill>
              </a:ln>
            </p:spPr>
          </p:sp>
          <p:sp>
            <p:nvSpPr>
              <p:cNvPr id="184" name="Freeform 184"/>
              <p:cNvSpPr/>
              <p:nvPr/>
            </p:nvSpPr>
            <p:spPr>
              <a:xfrm>
                <a:off x="11187112" y="1335881"/>
                <a:ext cx="166688" cy="95250"/>
              </a:xfrm>
              <a:custGeom>
                <a:avLst/>
                <a:gdLst/>
                <a:ahLst/>
                <a:cxnLst/>
                <a:rect l="l" t="t" r="r" b="b"/>
                <a:pathLst>
                  <a:path w="166688" h="95250">
                    <a:moveTo>
                      <a:pt x="0" y="0"/>
                    </a:moveTo>
                    <a:lnTo>
                      <a:pt x="166688" y="11906"/>
                    </a:lnTo>
                    <a:lnTo>
                      <a:pt x="154781" y="95250"/>
                    </a:lnTo>
                    <a:lnTo>
                      <a:pt x="0" y="95250"/>
                    </a:lnTo>
                  </a:path>
                </a:pathLst>
              </a:custGeom>
              <a:noFill/>
              <a:ln w="23812">
                <a:solidFill>
                  <a:srgbClr val="D82000"/>
                </a:solidFill>
              </a:ln>
            </p:spPr>
          </p:sp>
        </p:grpSp>
        <p:sp>
          <p:nvSpPr>
            <p:cNvPr id="186" name="TextBox 186"/>
            <p:cNvSpPr txBox="1"/>
            <p:nvPr/>
          </p:nvSpPr>
          <p:spPr>
            <a:xfrm>
              <a:off x="11023486" y="1663541"/>
              <a:ext cx="451079" cy="161925"/>
            </a:xfrm>
            <a:prstGeom prst="rect">
              <a:avLst/>
            </a:prstGeom>
            <a:noFill/>
            <a:ln>
              <a:noFill/>
            </a:ln>
          </p:spPr>
          <p:txBody>
            <a:bodyPr wrap="none" lIns="0" tIns="0" rIns="0" bIns="0" anchor="t" anchorCtr="0">
              <a:spAutoFit/>
            </a:bodyPr>
            <a:lstStyle/>
            <a:p>
              <a:pPr algn="ctr"/>
              <a:r>
                <a:rPr lang="zh-CN" sz="820" b="1" dirty="0">
                  <a:solidFill>
                    <a:srgbClr val="4A130A"/>
                  </a:solidFill>
                  <a:latin typeface="+mn-lt"/>
                  <a:ea typeface="+mn-ea"/>
                  <a:cs typeface="+mn-cs"/>
                </a:rPr>
                <a:t>消费信贷</a:t>
              </a:r>
            </a:p>
          </p:txBody>
        </p:sp>
        <p:sp>
          <p:nvSpPr>
            <p:cNvPr id="187" name="Rectangle 187"/>
            <p:cNvSpPr/>
            <p:nvPr/>
          </p:nvSpPr>
          <p:spPr>
            <a:xfrm>
              <a:off x="6953250" y="1866900"/>
              <a:ext cx="666750" cy="1047750"/>
            </a:xfrm>
            <a:prstGeom prst="rect">
              <a:avLst/>
            </a:prstGeom>
            <a:solidFill>
              <a:srgbClr val="5A1E14"/>
            </a:solidFill>
            <a:ln>
              <a:noFill/>
            </a:ln>
          </p:spPr>
        </p:sp>
        <p:sp>
          <p:nvSpPr>
            <p:cNvPr id="188" name="TextBox 188"/>
            <p:cNvSpPr txBox="1"/>
            <p:nvPr/>
          </p:nvSpPr>
          <p:spPr>
            <a:xfrm>
              <a:off x="7081202" y="2258139"/>
              <a:ext cx="410845" cy="307181"/>
            </a:xfrm>
            <a:prstGeom prst="rect">
              <a:avLst/>
            </a:prstGeom>
            <a:noFill/>
            <a:ln>
              <a:noFill/>
            </a:ln>
          </p:spPr>
          <p:txBody>
            <a:bodyPr wrap="none" lIns="0" tIns="0" rIns="0" bIns="0" anchor="t" anchorCtr="0">
              <a:spAutoFit/>
            </a:bodyPr>
            <a:lstStyle/>
            <a:p>
              <a:pPr algn="ctr">
                <a:lnSpc>
                  <a:spcPts val="1200"/>
                </a:lnSpc>
              </a:pPr>
              <a:r>
                <a:rPr lang="zh-CN" sz="790" b="1" dirty="0">
                  <a:solidFill>
                    <a:srgbClr val="FFFFFF"/>
                  </a:solidFill>
                  <a:latin typeface="+mn-lt"/>
                  <a:ea typeface="+mn-ea"/>
                  <a:cs typeface="+mn-cs"/>
                </a:rPr>
                <a:t>便捷性</a:t>
              </a:r>
              <a:br/>
              <a:r>
                <a:rPr lang="zh-CN" sz="790" b="1" dirty="0">
                  <a:solidFill>
                    <a:srgbClr val="FFFFFF"/>
                  </a:solidFill>
                  <a:latin typeface="+mn-lt"/>
                  <a:ea typeface="+mn-ea"/>
                  <a:cs typeface="+mn-cs"/>
                </a:rPr>
                <a:t>（体验）</a:t>
              </a:r>
            </a:p>
          </p:txBody>
        </p:sp>
        <p:sp>
          <p:nvSpPr>
            <p:cNvPr id="189" name="Rectangle 189"/>
            <p:cNvSpPr/>
            <p:nvPr/>
          </p:nvSpPr>
          <p:spPr>
            <a:xfrm>
              <a:off x="7620000" y="1866900"/>
              <a:ext cx="4152900" cy="1047750"/>
            </a:xfrm>
            <a:prstGeom prst="rect">
              <a:avLst/>
            </a:prstGeom>
            <a:solidFill>
              <a:srgbClr val="FFF8F2"/>
            </a:solidFill>
            <a:ln w="9525">
              <a:solidFill>
                <a:srgbClr val="F0B8AE"/>
              </a:solidFill>
            </a:ln>
          </p:spPr>
        </p:sp>
        <p:sp>
          <p:nvSpPr>
            <p:cNvPr id="190" name="Rectangle 190"/>
            <p:cNvSpPr/>
            <p:nvPr/>
          </p:nvSpPr>
          <p:spPr>
            <a:xfrm>
              <a:off x="6953250" y="2914650"/>
              <a:ext cx="666750" cy="1047750"/>
            </a:xfrm>
            <a:prstGeom prst="rect">
              <a:avLst/>
            </a:prstGeom>
            <a:solidFill>
              <a:srgbClr val="5A1E14"/>
            </a:solidFill>
            <a:ln>
              <a:noFill/>
            </a:ln>
          </p:spPr>
        </p:sp>
        <p:sp>
          <p:nvSpPr>
            <p:cNvPr id="191" name="TextBox 191"/>
            <p:cNvSpPr txBox="1"/>
            <p:nvPr/>
          </p:nvSpPr>
          <p:spPr>
            <a:xfrm>
              <a:off x="7081202" y="3305889"/>
              <a:ext cx="410845" cy="307181"/>
            </a:xfrm>
            <a:prstGeom prst="rect">
              <a:avLst/>
            </a:prstGeom>
            <a:noFill/>
            <a:ln>
              <a:noFill/>
            </a:ln>
          </p:spPr>
          <p:txBody>
            <a:bodyPr wrap="none" lIns="0" tIns="0" rIns="0" bIns="0" anchor="t" anchorCtr="0">
              <a:spAutoFit/>
            </a:bodyPr>
            <a:lstStyle/>
            <a:p>
              <a:pPr algn="ctr">
                <a:lnSpc>
                  <a:spcPts val="1200"/>
                </a:lnSpc>
              </a:pPr>
              <a:r>
                <a:rPr lang="zh-CN" sz="790" b="1" dirty="0">
                  <a:solidFill>
                    <a:srgbClr val="FFFFFF"/>
                  </a:solidFill>
                  <a:latin typeface="+mn-lt"/>
                  <a:ea typeface="+mn-ea"/>
                  <a:cs typeface="+mn-cs"/>
                </a:rPr>
                <a:t>专业建议</a:t>
              </a:r>
              <a:br/>
              <a:r>
                <a:rPr lang="zh-CN" sz="790" b="1" dirty="0">
                  <a:solidFill>
                    <a:srgbClr val="FFFFFF"/>
                  </a:solidFill>
                  <a:latin typeface="+mn-lt"/>
                  <a:ea typeface="+mn-ea"/>
                  <a:cs typeface="+mn-cs"/>
                </a:rPr>
                <a:t>（价值）</a:t>
              </a:r>
            </a:p>
          </p:txBody>
        </p:sp>
        <p:sp>
          <p:nvSpPr>
            <p:cNvPr id="192" name="Rectangle 192"/>
            <p:cNvSpPr/>
            <p:nvPr/>
          </p:nvSpPr>
          <p:spPr>
            <a:xfrm>
              <a:off x="7620000" y="2914650"/>
              <a:ext cx="4152900" cy="1047750"/>
            </a:xfrm>
            <a:prstGeom prst="rect">
              <a:avLst/>
            </a:prstGeom>
            <a:solidFill>
              <a:srgbClr val="FFFFFF"/>
            </a:solidFill>
            <a:ln w="9525">
              <a:solidFill>
                <a:srgbClr val="F0B8AE"/>
              </a:solidFill>
            </a:ln>
          </p:spPr>
        </p:sp>
        <p:sp>
          <p:nvSpPr>
            <p:cNvPr id="193" name="Rectangle 193"/>
            <p:cNvSpPr/>
            <p:nvPr/>
          </p:nvSpPr>
          <p:spPr>
            <a:xfrm>
              <a:off x="6953250" y="3962400"/>
              <a:ext cx="666750" cy="1047750"/>
            </a:xfrm>
            <a:prstGeom prst="rect">
              <a:avLst/>
            </a:prstGeom>
            <a:solidFill>
              <a:srgbClr val="5A1E14"/>
            </a:solidFill>
            <a:ln>
              <a:noFill/>
            </a:ln>
          </p:spPr>
        </p:sp>
        <p:sp>
          <p:nvSpPr>
            <p:cNvPr id="194" name="TextBox 194"/>
            <p:cNvSpPr txBox="1"/>
            <p:nvPr/>
          </p:nvSpPr>
          <p:spPr>
            <a:xfrm>
              <a:off x="7081202" y="4353639"/>
              <a:ext cx="410845" cy="307181"/>
            </a:xfrm>
            <a:prstGeom prst="rect">
              <a:avLst/>
            </a:prstGeom>
            <a:noFill/>
            <a:ln>
              <a:noFill/>
            </a:ln>
          </p:spPr>
          <p:txBody>
            <a:bodyPr wrap="none" lIns="0" tIns="0" rIns="0" bIns="0" anchor="t" anchorCtr="0">
              <a:spAutoFit/>
            </a:bodyPr>
            <a:lstStyle/>
            <a:p>
              <a:pPr algn="ctr">
                <a:lnSpc>
                  <a:spcPts val="1200"/>
                </a:lnSpc>
              </a:pPr>
              <a:r>
                <a:rPr lang="zh-CN" sz="790" b="1" dirty="0">
                  <a:solidFill>
                    <a:srgbClr val="FFFFFF"/>
                  </a:solidFill>
                  <a:latin typeface="+mn-lt"/>
                  <a:ea typeface="+mn-ea"/>
                  <a:cs typeface="+mn-cs"/>
                </a:rPr>
                <a:t>信任安全</a:t>
              </a:r>
              <a:br/>
              <a:r>
                <a:rPr lang="zh-CN" sz="790" b="1" dirty="0">
                  <a:solidFill>
                    <a:srgbClr val="FFFFFF"/>
                  </a:solidFill>
                  <a:latin typeface="+mn-lt"/>
                  <a:ea typeface="+mn-ea"/>
                  <a:cs typeface="+mn-cs"/>
                </a:rPr>
                <a:t>（信心）</a:t>
              </a:r>
            </a:p>
          </p:txBody>
        </p:sp>
        <p:sp>
          <p:nvSpPr>
            <p:cNvPr id="195" name="Rectangle 195"/>
            <p:cNvSpPr/>
            <p:nvPr/>
          </p:nvSpPr>
          <p:spPr>
            <a:xfrm>
              <a:off x="7620000" y="3962400"/>
              <a:ext cx="4152900" cy="1047750"/>
            </a:xfrm>
            <a:prstGeom prst="rect">
              <a:avLst/>
            </a:prstGeom>
            <a:solidFill>
              <a:srgbClr val="FFF8F2"/>
            </a:solidFill>
            <a:ln w="9525">
              <a:solidFill>
                <a:srgbClr val="F0B8AE"/>
              </a:solidFill>
            </a:ln>
          </p:spPr>
        </p:sp>
        <p:sp>
          <p:nvSpPr>
            <p:cNvPr id="196" name="Rectangle 196"/>
            <p:cNvSpPr/>
            <p:nvPr/>
          </p:nvSpPr>
          <p:spPr>
            <a:xfrm>
              <a:off x="6953250" y="5010150"/>
              <a:ext cx="666750" cy="1047750"/>
            </a:xfrm>
            <a:prstGeom prst="rect">
              <a:avLst/>
            </a:prstGeom>
            <a:solidFill>
              <a:srgbClr val="5A1E14"/>
            </a:solidFill>
            <a:ln>
              <a:noFill/>
            </a:ln>
          </p:spPr>
        </p:sp>
        <p:sp>
          <p:nvSpPr>
            <p:cNvPr id="197" name="TextBox 197"/>
            <p:cNvSpPr txBox="1"/>
            <p:nvPr/>
          </p:nvSpPr>
          <p:spPr>
            <a:xfrm>
              <a:off x="7031038" y="5401389"/>
              <a:ext cx="511175" cy="307181"/>
            </a:xfrm>
            <a:prstGeom prst="rect">
              <a:avLst/>
            </a:prstGeom>
            <a:noFill/>
            <a:ln>
              <a:noFill/>
            </a:ln>
          </p:spPr>
          <p:txBody>
            <a:bodyPr wrap="none" lIns="0" tIns="0" rIns="0" bIns="0" anchor="t" anchorCtr="0">
              <a:spAutoFit/>
            </a:bodyPr>
            <a:lstStyle/>
            <a:p>
              <a:pPr algn="ctr">
                <a:lnSpc>
                  <a:spcPts val="1200"/>
                </a:lnSpc>
              </a:pPr>
              <a:r>
                <a:rPr lang="zh-CN" sz="790" b="1" dirty="0">
                  <a:solidFill>
                    <a:srgbClr val="FFFFFF"/>
                  </a:solidFill>
                  <a:latin typeface="+mn-lt"/>
                  <a:ea typeface="+mn-ea"/>
                  <a:cs typeface="+mn-cs"/>
                </a:rPr>
                <a:t>个性化</a:t>
              </a:r>
              <a:br/>
              <a:r>
                <a:rPr lang="zh-CN" sz="790" b="1" dirty="0">
                  <a:solidFill>
                    <a:srgbClr val="FFFFFF"/>
                  </a:solidFill>
                  <a:latin typeface="+mn-lt"/>
                  <a:ea typeface="+mn-ea"/>
                  <a:cs typeface="+mn-cs"/>
                </a:rPr>
                <a:t>（匹配度）</a:t>
              </a:r>
            </a:p>
          </p:txBody>
        </p:sp>
        <p:sp>
          <p:nvSpPr>
            <p:cNvPr id="198" name="Rectangle 198"/>
            <p:cNvSpPr/>
            <p:nvPr/>
          </p:nvSpPr>
          <p:spPr>
            <a:xfrm>
              <a:off x="7620000" y="5010150"/>
              <a:ext cx="4152900" cy="1047750"/>
            </a:xfrm>
            <a:prstGeom prst="rect">
              <a:avLst/>
            </a:prstGeom>
            <a:solidFill>
              <a:srgbClr val="FFFFFF"/>
            </a:solidFill>
            <a:ln w="9525">
              <a:solidFill>
                <a:srgbClr val="F0B8AE"/>
              </a:solidFill>
            </a:ln>
          </p:spPr>
        </p:sp>
        <p:sp>
          <p:nvSpPr>
            <p:cNvPr id="199" name="Line 199"/>
            <p:cNvSpPr/>
            <p:nvPr/>
          </p:nvSpPr>
          <p:spPr>
            <a:xfrm>
              <a:off x="8658225" y="1866900"/>
              <a:ext cx="9525" cy="4191000"/>
            </a:xfrm>
            <a:custGeom>
              <a:avLst/>
              <a:gdLst/>
              <a:ahLst/>
              <a:cxnLst/>
              <a:rect l="l" t="t" r="r" b="b"/>
              <a:pathLst>
                <a:path w="9525" h="4191000">
                  <a:moveTo>
                    <a:pt x="0" y="0"/>
                  </a:moveTo>
                  <a:lnTo>
                    <a:pt x="0" y="4191000"/>
                  </a:lnTo>
                </a:path>
              </a:pathLst>
            </a:custGeom>
            <a:noFill/>
            <a:ln w="9525">
              <a:solidFill>
                <a:srgbClr val="F0B8AE"/>
              </a:solidFill>
            </a:ln>
          </p:spPr>
        </p:sp>
        <p:sp>
          <p:nvSpPr>
            <p:cNvPr id="200" name="Line 200"/>
            <p:cNvSpPr/>
            <p:nvPr/>
          </p:nvSpPr>
          <p:spPr>
            <a:xfrm>
              <a:off x="9696450" y="1866900"/>
              <a:ext cx="9525" cy="4191000"/>
            </a:xfrm>
            <a:custGeom>
              <a:avLst/>
              <a:gdLst/>
              <a:ahLst/>
              <a:cxnLst/>
              <a:rect l="l" t="t" r="r" b="b"/>
              <a:pathLst>
                <a:path w="9525" h="4191000">
                  <a:moveTo>
                    <a:pt x="0" y="0"/>
                  </a:moveTo>
                  <a:lnTo>
                    <a:pt x="0" y="4191000"/>
                  </a:lnTo>
                </a:path>
              </a:pathLst>
            </a:custGeom>
            <a:noFill/>
            <a:ln w="9525">
              <a:solidFill>
                <a:srgbClr val="F0B8AE"/>
              </a:solidFill>
            </a:ln>
          </p:spPr>
        </p:sp>
        <p:sp>
          <p:nvSpPr>
            <p:cNvPr id="201" name="Line 201"/>
            <p:cNvSpPr/>
            <p:nvPr/>
          </p:nvSpPr>
          <p:spPr>
            <a:xfrm>
              <a:off x="10734675" y="1866900"/>
              <a:ext cx="9525" cy="4191000"/>
            </a:xfrm>
            <a:custGeom>
              <a:avLst/>
              <a:gdLst/>
              <a:ahLst/>
              <a:cxnLst/>
              <a:rect l="l" t="t" r="r" b="b"/>
              <a:pathLst>
                <a:path w="9525" h="4191000">
                  <a:moveTo>
                    <a:pt x="0" y="0"/>
                  </a:moveTo>
                  <a:lnTo>
                    <a:pt x="0" y="4191000"/>
                  </a:lnTo>
                </a:path>
              </a:pathLst>
            </a:custGeom>
            <a:noFill/>
            <a:ln w="9525">
              <a:solidFill>
                <a:srgbClr val="F0B8AE"/>
              </a:solidFill>
            </a:ln>
          </p:spPr>
        </p:sp>
        <p:sp>
          <p:nvSpPr>
            <p:cNvPr id="202" name="Ellipse 202"/>
            <p:cNvSpPr/>
            <p:nvPr/>
          </p:nvSpPr>
          <p:spPr>
            <a:xfrm>
              <a:off x="7815262" y="2338388"/>
              <a:ext cx="104775" cy="104775"/>
            </a:xfrm>
            <a:prstGeom prst="ellipse">
              <a:avLst/>
            </a:prstGeom>
            <a:solidFill>
              <a:srgbClr val="D82000"/>
            </a:solidFill>
            <a:ln>
              <a:noFill/>
            </a:ln>
          </p:spPr>
        </p:sp>
        <p:sp>
          <p:nvSpPr>
            <p:cNvPr id="203" name="Ellipse 203"/>
            <p:cNvSpPr/>
            <p:nvPr/>
          </p:nvSpPr>
          <p:spPr>
            <a:xfrm>
              <a:off x="7948612" y="2338388"/>
              <a:ext cx="104775" cy="104775"/>
            </a:xfrm>
            <a:prstGeom prst="ellipse">
              <a:avLst/>
            </a:prstGeom>
            <a:solidFill>
              <a:srgbClr val="D82000"/>
            </a:solidFill>
            <a:ln>
              <a:noFill/>
            </a:ln>
          </p:spPr>
        </p:sp>
        <p:sp>
          <p:nvSpPr>
            <p:cNvPr id="204" name="Ellipse 204"/>
            <p:cNvSpPr/>
            <p:nvPr/>
          </p:nvSpPr>
          <p:spPr>
            <a:xfrm>
              <a:off x="8081962" y="2338388"/>
              <a:ext cx="104775" cy="104775"/>
            </a:xfrm>
            <a:prstGeom prst="ellipse">
              <a:avLst/>
            </a:prstGeom>
            <a:solidFill>
              <a:srgbClr val="D82000"/>
            </a:solidFill>
            <a:ln>
              <a:noFill/>
            </a:ln>
          </p:spPr>
        </p:sp>
        <p:sp>
          <p:nvSpPr>
            <p:cNvPr id="205" name="Ellipse 205"/>
            <p:cNvSpPr/>
            <p:nvPr/>
          </p:nvSpPr>
          <p:spPr>
            <a:xfrm>
              <a:off x="8215312" y="2338388"/>
              <a:ext cx="104775" cy="104775"/>
            </a:xfrm>
            <a:prstGeom prst="ellipse">
              <a:avLst/>
            </a:prstGeom>
            <a:solidFill>
              <a:srgbClr val="D82000"/>
            </a:solidFill>
            <a:ln>
              <a:noFill/>
            </a:ln>
          </p:spPr>
        </p:sp>
        <p:sp>
          <p:nvSpPr>
            <p:cNvPr id="206" name="Ellipse 206"/>
            <p:cNvSpPr/>
            <p:nvPr/>
          </p:nvSpPr>
          <p:spPr>
            <a:xfrm>
              <a:off x="8348662" y="2338388"/>
              <a:ext cx="104775" cy="104775"/>
            </a:xfrm>
            <a:prstGeom prst="ellipse">
              <a:avLst/>
            </a:prstGeom>
            <a:solidFill>
              <a:srgbClr val="D82000"/>
            </a:solidFill>
            <a:ln>
              <a:noFill/>
            </a:ln>
          </p:spPr>
        </p:sp>
        <p:sp>
          <p:nvSpPr>
            <p:cNvPr id="207" name="Ellipse 207"/>
            <p:cNvSpPr/>
            <p:nvPr/>
          </p:nvSpPr>
          <p:spPr>
            <a:xfrm>
              <a:off x="8853488" y="2338388"/>
              <a:ext cx="104775" cy="104775"/>
            </a:xfrm>
            <a:prstGeom prst="ellipse">
              <a:avLst/>
            </a:prstGeom>
            <a:solidFill>
              <a:srgbClr val="D82000"/>
            </a:solidFill>
            <a:ln>
              <a:noFill/>
            </a:ln>
          </p:spPr>
        </p:sp>
        <p:sp>
          <p:nvSpPr>
            <p:cNvPr id="208" name="Ellipse 208"/>
            <p:cNvSpPr/>
            <p:nvPr/>
          </p:nvSpPr>
          <p:spPr>
            <a:xfrm>
              <a:off x="8986838" y="2338388"/>
              <a:ext cx="104775" cy="104775"/>
            </a:xfrm>
            <a:prstGeom prst="ellipse">
              <a:avLst/>
            </a:prstGeom>
            <a:solidFill>
              <a:srgbClr val="D82000"/>
            </a:solidFill>
            <a:ln>
              <a:noFill/>
            </a:ln>
          </p:spPr>
        </p:sp>
        <p:sp>
          <p:nvSpPr>
            <p:cNvPr id="209" name="Ellipse 209"/>
            <p:cNvSpPr/>
            <p:nvPr/>
          </p:nvSpPr>
          <p:spPr>
            <a:xfrm>
              <a:off x="9120188" y="2338388"/>
              <a:ext cx="104775" cy="104775"/>
            </a:xfrm>
            <a:prstGeom prst="ellipse">
              <a:avLst/>
            </a:prstGeom>
            <a:solidFill>
              <a:srgbClr val="D82000"/>
            </a:solidFill>
            <a:ln>
              <a:noFill/>
            </a:ln>
          </p:spPr>
        </p:sp>
        <p:sp>
          <p:nvSpPr>
            <p:cNvPr id="210" name="Ellipse 210"/>
            <p:cNvSpPr/>
            <p:nvPr/>
          </p:nvSpPr>
          <p:spPr>
            <a:xfrm>
              <a:off x="9253538" y="2338388"/>
              <a:ext cx="104775" cy="104775"/>
            </a:xfrm>
            <a:prstGeom prst="ellipse">
              <a:avLst/>
            </a:prstGeom>
            <a:solidFill>
              <a:srgbClr val="FFFFFF"/>
            </a:solidFill>
            <a:ln w="14288">
              <a:solidFill>
                <a:srgbClr val="EE492C"/>
              </a:solidFill>
            </a:ln>
          </p:spPr>
        </p:sp>
        <p:sp>
          <p:nvSpPr>
            <p:cNvPr id="211" name="Ellipse 211"/>
            <p:cNvSpPr/>
            <p:nvPr/>
          </p:nvSpPr>
          <p:spPr>
            <a:xfrm>
              <a:off x="9386888" y="2338388"/>
              <a:ext cx="104775" cy="104775"/>
            </a:xfrm>
            <a:prstGeom prst="ellipse">
              <a:avLst/>
            </a:prstGeom>
            <a:solidFill>
              <a:srgbClr val="FFFFFF"/>
            </a:solidFill>
            <a:ln w="14288">
              <a:solidFill>
                <a:srgbClr val="EE492C"/>
              </a:solidFill>
            </a:ln>
          </p:spPr>
        </p:sp>
        <p:sp>
          <p:nvSpPr>
            <p:cNvPr id="212" name="Ellipse 212"/>
            <p:cNvSpPr/>
            <p:nvPr/>
          </p:nvSpPr>
          <p:spPr>
            <a:xfrm>
              <a:off x="9891712" y="2338388"/>
              <a:ext cx="104775" cy="104775"/>
            </a:xfrm>
            <a:prstGeom prst="ellipse">
              <a:avLst/>
            </a:prstGeom>
            <a:solidFill>
              <a:srgbClr val="D82000"/>
            </a:solidFill>
            <a:ln>
              <a:noFill/>
            </a:ln>
          </p:spPr>
        </p:sp>
        <p:sp>
          <p:nvSpPr>
            <p:cNvPr id="213" name="Ellipse 213"/>
            <p:cNvSpPr/>
            <p:nvPr/>
          </p:nvSpPr>
          <p:spPr>
            <a:xfrm>
              <a:off x="10025062" y="2338388"/>
              <a:ext cx="104775" cy="104775"/>
            </a:xfrm>
            <a:prstGeom prst="ellipse">
              <a:avLst/>
            </a:prstGeom>
            <a:solidFill>
              <a:srgbClr val="D82000"/>
            </a:solidFill>
            <a:ln>
              <a:noFill/>
            </a:ln>
          </p:spPr>
        </p:sp>
        <p:sp>
          <p:nvSpPr>
            <p:cNvPr id="214" name="Ellipse 214"/>
            <p:cNvSpPr/>
            <p:nvPr/>
          </p:nvSpPr>
          <p:spPr>
            <a:xfrm>
              <a:off x="10158412" y="2338388"/>
              <a:ext cx="104775" cy="104775"/>
            </a:xfrm>
            <a:prstGeom prst="ellipse">
              <a:avLst/>
            </a:prstGeom>
            <a:solidFill>
              <a:srgbClr val="D82000"/>
            </a:solidFill>
            <a:ln>
              <a:noFill/>
            </a:ln>
          </p:spPr>
        </p:sp>
        <p:sp>
          <p:nvSpPr>
            <p:cNvPr id="215" name="Ellipse 215"/>
            <p:cNvSpPr/>
            <p:nvPr/>
          </p:nvSpPr>
          <p:spPr>
            <a:xfrm>
              <a:off x="10291762" y="2338388"/>
              <a:ext cx="104775" cy="104775"/>
            </a:xfrm>
            <a:prstGeom prst="ellipse">
              <a:avLst/>
            </a:prstGeom>
            <a:solidFill>
              <a:srgbClr val="D82000"/>
            </a:solidFill>
            <a:ln>
              <a:noFill/>
            </a:ln>
          </p:spPr>
        </p:sp>
        <p:sp>
          <p:nvSpPr>
            <p:cNvPr id="216" name="Ellipse 216"/>
            <p:cNvSpPr/>
            <p:nvPr/>
          </p:nvSpPr>
          <p:spPr>
            <a:xfrm>
              <a:off x="10425112" y="2338388"/>
              <a:ext cx="104775" cy="104775"/>
            </a:xfrm>
            <a:prstGeom prst="ellipse">
              <a:avLst/>
            </a:prstGeom>
            <a:solidFill>
              <a:srgbClr val="FFFFFF"/>
            </a:solidFill>
            <a:ln w="14288">
              <a:solidFill>
                <a:srgbClr val="EE492C"/>
              </a:solidFill>
            </a:ln>
          </p:spPr>
        </p:sp>
        <p:sp>
          <p:nvSpPr>
            <p:cNvPr id="217" name="Ellipse 217"/>
            <p:cNvSpPr/>
            <p:nvPr/>
          </p:nvSpPr>
          <p:spPr>
            <a:xfrm>
              <a:off x="10929938" y="2338388"/>
              <a:ext cx="104775" cy="104775"/>
            </a:xfrm>
            <a:prstGeom prst="ellipse">
              <a:avLst/>
            </a:prstGeom>
            <a:solidFill>
              <a:srgbClr val="D82000"/>
            </a:solidFill>
            <a:ln>
              <a:noFill/>
            </a:ln>
          </p:spPr>
        </p:sp>
        <p:sp>
          <p:nvSpPr>
            <p:cNvPr id="218" name="Ellipse 218"/>
            <p:cNvSpPr/>
            <p:nvPr/>
          </p:nvSpPr>
          <p:spPr>
            <a:xfrm>
              <a:off x="11063288" y="2338388"/>
              <a:ext cx="104775" cy="104775"/>
            </a:xfrm>
            <a:prstGeom prst="ellipse">
              <a:avLst/>
            </a:prstGeom>
            <a:solidFill>
              <a:srgbClr val="D82000"/>
            </a:solidFill>
            <a:ln>
              <a:noFill/>
            </a:ln>
          </p:spPr>
        </p:sp>
        <p:sp>
          <p:nvSpPr>
            <p:cNvPr id="219" name="Ellipse 219"/>
            <p:cNvSpPr/>
            <p:nvPr/>
          </p:nvSpPr>
          <p:spPr>
            <a:xfrm>
              <a:off x="11196638" y="2338388"/>
              <a:ext cx="104775" cy="104775"/>
            </a:xfrm>
            <a:prstGeom prst="ellipse">
              <a:avLst/>
            </a:prstGeom>
            <a:solidFill>
              <a:srgbClr val="D82000"/>
            </a:solidFill>
            <a:ln>
              <a:noFill/>
            </a:ln>
          </p:spPr>
        </p:sp>
        <p:sp>
          <p:nvSpPr>
            <p:cNvPr id="220" name="Ellipse 220"/>
            <p:cNvSpPr/>
            <p:nvPr/>
          </p:nvSpPr>
          <p:spPr>
            <a:xfrm>
              <a:off x="11329988" y="2338388"/>
              <a:ext cx="104775" cy="104775"/>
            </a:xfrm>
            <a:prstGeom prst="ellipse">
              <a:avLst/>
            </a:prstGeom>
            <a:solidFill>
              <a:srgbClr val="D82000"/>
            </a:solidFill>
            <a:ln>
              <a:noFill/>
            </a:ln>
          </p:spPr>
        </p:sp>
        <p:sp>
          <p:nvSpPr>
            <p:cNvPr id="221" name="Ellipse 221"/>
            <p:cNvSpPr/>
            <p:nvPr/>
          </p:nvSpPr>
          <p:spPr>
            <a:xfrm>
              <a:off x="11463338" y="2338388"/>
              <a:ext cx="104775" cy="104775"/>
            </a:xfrm>
            <a:prstGeom prst="ellipse">
              <a:avLst/>
            </a:prstGeom>
            <a:solidFill>
              <a:srgbClr val="FFFFFF"/>
            </a:solidFill>
            <a:ln w="14288">
              <a:solidFill>
                <a:srgbClr val="EE492C"/>
              </a:solidFill>
            </a:ln>
          </p:spPr>
        </p:sp>
        <p:sp>
          <p:nvSpPr>
            <p:cNvPr id="222" name="Ellipse 222"/>
            <p:cNvSpPr/>
            <p:nvPr/>
          </p:nvSpPr>
          <p:spPr>
            <a:xfrm>
              <a:off x="7815262" y="3386138"/>
              <a:ext cx="104775" cy="104775"/>
            </a:xfrm>
            <a:prstGeom prst="ellipse">
              <a:avLst/>
            </a:prstGeom>
            <a:solidFill>
              <a:srgbClr val="D82000"/>
            </a:solidFill>
            <a:ln>
              <a:noFill/>
            </a:ln>
          </p:spPr>
        </p:sp>
        <p:sp>
          <p:nvSpPr>
            <p:cNvPr id="223" name="Ellipse 223"/>
            <p:cNvSpPr/>
            <p:nvPr/>
          </p:nvSpPr>
          <p:spPr>
            <a:xfrm>
              <a:off x="7948612" y="3386138"/>
              <a:ext cx="104775" cy="104775"/>
            </a:xfrm>
            <a:prstGeom prst="ellipse">
              <a:avLst/>
            </a:prstGeom>
            <a:solidFill>
              <a:srgbClr val="D82000"/>
            </a:solidFill>
            <a:ln>
              <a:noFill/>
            </a:ln>
          </p:spPr>
        </p:sp>
        <p:sp>
          <p:nvSpPr>
            <p:cNvPr id="224" name="Ellipse 224"/>
            <p:cNvSpPr/>
            <p:nvPr/>
          </p:nvSpPr>
          <p:spPr>
            <a:xfrm>
              <a:off x="8081962" y="3386138"/>
              <a:ext cx="104775" cy="104775"/>
            </a:xfrm>
            <a:prstGeom prst="ellipse">
              <a:avLst/>
            </a:prstGeom>
            <a:solidFill>
              <a:srgbClr val="FFFFFF"/>
            </a:solidFill>
            <a:ln w="14288">
              <a:solidFill>
                <a:srgbClr val="EE492C"/>
              </a:solidFill>
            </a:ln>
          </p:spPr>
        </p:sp>
        <p:sp>
          <p:nvSpPr>
            <p:cNvPr id="225" name="Ellipse 225"/>
            <p:cNvSpPr/>
            <p:nvPr/>
          </p:nvSpPr>
          <p:spPr>
            <a:xfrm>
              <a:off x="8215312" y="3386138"/>
              <a:ext cx="104775" cy="104775"/>
            </a:xfrm>
            <a:prstGeom prst="ellipse">
              <a:avLst/>
            </a:prstGeom>
            <a:solidFill>
              <a:srgbClr val="FFFFFF"/>
            </a:solidFill>
            <a:ln w="14288">
              <a:solidFill>
                <a:srgbClr val="EE492C"/>
              </a:solidFill>
            </a:ln>
          </p:spPr>
        </p:sp>
        <p:sp>
          <p:nvSpPr>
            <p:cNvPr id="226" name="Ellipse 226"/>
            <p:cNvSpPr/>
            <p:nvPr/>
          </p:nvSpPr>
          <p:spPr>
            <a:xfrm>
              <a:off x="8348662" y="3386138"/>
              <a:ext cx="104775" cy="104775"/>
            </a:xfrm>
            <a:prstGeom prst="ellipse">
              <a:avLst/>
            </a:prstGeom>
            <a:solidFill>
              <a:srgbClr val="FFFFFF"/>
            </a:solidFill>
            <a:ln w="14288">
              <a:solidFill>
                <a:srgbClr val="EE492C"/>
              </a:solidFill>
            </a:ln>
          </p:spPr>
        </p:sp>
        <p:sp>
          <p:nvSpPr>
            <p:cNvPr id="227" name="Ellipse 227"/>
            <p:cNvSpPr/>
            <p:nvPr/>
          </p:nvSpPr>
          <p:spPr>
            <a:xfrm>
              <a:off x="8853488" y="3386138"/>
              <a:ext cx="104775" cy="104775"/>
            </a:xfrm>
            <a:prstGeom prst="ellipse">
              <a:avLst/>
            </a:prstGeom>
            <a:solidFill>
              <a:srgbClr val="D82000"/>
            </a:solidFill>
            <a:ln>
              <a:noFill/>
            </a:ln>
          </p:spPr>
        </p:sp>
        <p:sp>
          <p:nvSpPr>
            <p:cNvPr id="228" name="Ellipse 228"/>
            <p:cNvSpPr/>
            <p:nvPr/>
          </p:nvSpPr>
          <p:spPr>
            <a:xfrm>
              <a:off x="8986838" y="3386138"/>
              <a:ext cx="104775" cy="104775"/>
            </a:xfrm>
            <a:prstGeom prst="ellipse">
              <a:avLst/>
            </a:prstGeom>
            <a:solidFill>
              <a:srgbClr val="D82000"/>
            </a:solidFill>
            <a:ln>
              <a:noFill/>
            </a:ln>
          </p:spPr>
        </p:sp>
        <p:sp>
          <p:nvSpPr>
            <p:cNvPr id="229" name="Ellipse 229"/>
            <p:cNvSpPr/>
            <p:nvPr/>
          </p:nvSpPr>
          <p:spPr>
            <a:xfrm>
              <a:off x="9120188" y="3386138"/>
              <a:ext cx="104775" cy="104775"/>
            </a:xfrm>
            <a:prstGeom prst="ellipse">
              <a:avLst/>
            </a:prstGeom>
            <a:solidFill>
              <a:srgbClr val="D82000"/>
            </a:solidFill>
            <a:ln>
              <a:noFill/>
            </a:ln>
          </p:spPr>
        </p:sp>
        <p:sp>
          <p:nvSpPr>
            <p:cNvPr id="230" name="Ellipse 230"/>
            <p:cNvSpPr/>
            <p:nvPr/>
          </p:nvSpPr>
          <p:spPr>
            <a:xfrm>
              <a:off x="9253538" y="3386138"/>
              <a:ext cx="104775" cy="104775"/>
            </a:xfrm>
            <a:prstGeom prst="ellipse">
              <a:avLst/>
            </a:prstGeom>
            <a:solidFill>
              <a:srgbClr val="D82000"/>
            </a:solidFill>
            <a:ln>
              <a:noFill/>
            </a:ln>
          </p:spPr>
        </p:sp>
        <p:sp>
          <p:nvSpPr>
            <p:cNvPr id="231" name="Ellipse 231"/>
            <p:cNvSpPr/>
            <p:nvPr/>
          </p:nvSpPr>
          <p:spPr>
            <a:xfrm>
              <a:off x="9386888" y="3386138"/>
              <a:ext cx="104775" cy="104775"/>
            </a:xfrm>
            <a:prstGeom prst="ellipse">
              <a:avLst/>
            </a:prstGeom>
            <a:solidFill>
              <a:srgbClr val="D82000"/>
            </a:solidFill>
            <a:ln>
              <a:noFill/>
            </a:ln>
          </p:spPr>
        </p:sp>
        <p:sp>
          <p:nvSpPr>
            <p:cNvPr id="232" name="Ellipse 232"/>
            <p:cNvSpPr/>
            <p:nvPr/>
          </p:nvSpPr>
          <p:spPr>
            <a:xfrm>
              <a:off x="9891712" y="3386138"/>
              <a:ext cx="104775" cy="104775"/>
            </a:xfrm>
            <a:prstGeom prst="ellipse">
              <a:avLst/>
            </a:prstGeom>
            <a:solidFill>
              <a:srgbClr val="D82000"/>
            </a:solidFill>
            <a:ln>
              <a:noFill/>
            </a:ln>
          </p:spPr>
        </p:sp>
        <p:sp>
          <p:nvSpPr>
            <p:cNvPr id="233" name="Ellipse 233"/>
            <p:cNvSpPr/>
            <p:nvPr/>
          </p:nvSpPr>
          <p:spPr>
            <a:xfrm>
              <a:off x="10025062" y="3386138"/>
              <a:ext cx="104775" cy="104775"/>
            </a:xfrm>
            <a:prstGeom prst="ellipse">
              <a:avLst/>
            </a:prstGeom>
            <a:solidFill>
              <a:srgbClr val="D82000"/>
            </a:solidFill>
            <a:ln>
              <a:noFill/>
            </a:ln>
          </p:spPr>
        </p:sp>
        <p:sp>
          <p:nvSpPr>
            <p:cNvPr id="234" name="Ellipse 234"/>
            <p:cNvSpPr/>
            <p:nvPr/>
          </p:nvSpPr>
          <p:spPr>
            <a:xfrm>
              <a:off x="10158412" y="3386138"/>
              <a:ext cx="104775" cy="104775"/>
            </a:xfrm>
            <a:prstGeom prst="ellipse">
              <a:avLst/>
            </a:prstGeom>
            <a:solidFill>
              <a:srgbClr val="D82000"/>
            </a:solidFill>
            <a:ln>
              <a:noFill/>
            </a:ln>
          </p:spPr>
        </p:sp>
        <p:sp>
          <p:nvSpPr>
            <p:cNvPr id="235" name="Ellipse 235"/>
            <p:cNvSpPr/>
            <p:nvPr/>
          </p:nvSpPr>
          <p:spPr>
            <a:xfrm>
              <a:off x="10291762" y="3386138"/>
              <a:ext cx="104775" cy="104775"/>
            </a:xfrm>
            <a:prstGeom prst="ellipse">
              <a:avLst/>
            </a:prstGeom>
            <a:solidFill>
              <a:srgbClr val="D82000"/>
            </a:solidFill>
            <a:ln>
              <a:noFill/>
            </a:ln>
          </p:spPr>
        </p:sp>
        <p:sp>
          <p:nvSpPr>
            <p:cNvPr id="236" name="Ellipse 236"/>
            <p:cNvSpPr/>
            <p:nvPr/>
          </p:nvSpPr>
          <p:spPr>
            <a:xfrm>
              <a:off x="10425112" y="3386138"/>
              <a:ext cx="104775" cy="104775"/>
            </a:xfrm>
            <a:prstGeom prst="ellipse">
              <a:avLst/>
            </a:prstGeom>
            <a:solidFill>
              <a:srgbClr val="FFFFFF"/>
            </a:solidFill>
            <a:ln w="14288">
              <a:solidFill>
                <a:srgbClr val="EE492C"/>
              </a:solidFill>
            </a:ln>
          </p:spPr>
        </p:sp>
        <p:sp>
          <p:nvSpPr>
            <p:cNvPr id="237" name="Ellipse 237"/>
            <p:cNvSpPr/>
            <p:nvPr/>
          </p:nvSpPr>
          <p:spPr>
            <a:xfrm>
              <a:off x="10929938" y="3386138"/>
              <a:ext cx="104775" cy="104775"/>
            </a:xfrm>
            <a:prstGeom prst="ellipse">
              <a:avLst/>
            </a:prstGeom>
            <a:solidFill>
              <a:srgbClr val="D82000"/>
            </a:solidFill>
            <a:ln>
              <a:noFill/>
            </a:ln>
          </p:spPr>
        </p:sp>
        <p:sp>
          <p:nvSpPr>
            <p:cNvPr id="238" name="Ellipse 238"/>
            <p:cNvSpPr/>
            <p:nvPr/>
          </p:nvSpPr>
          <p:spPr>
            <a:xfrm>
              <a:off x="11063288" y="3386138"/>
              <a:ext cx="104775" cy="104775"/>
            </a:xfrm>
            <a:prstGeom prst="ellipse">
              <a:avLst/>
            </a:prstGeom>
            <a:solidFill>
              <a:srgbClr val="D82000"/>
            </a:solidFill>
            <a:ln>
              <a:noFill/>
            </a:ln>
          </p:spPr>
        </p:sp>
        <p:sp>
          <p:nvSpPr>
            <p:cNvPr id="239" name="Ellipse 239"/>
            <p:cNvSpPr/>
            <p:nvPr/>
          </p:nvSpPr>
          <p:spPr>
            <a:xfrm>
              <a:off x="11196638" y="3386138"/>
              <a:ext cx="104775" cy="104775"/>
            </a:xfrm>
            <a:prstGeom prst="ellipse">
              <a:avLst/>
            </a:prstGeom>
            <a:solidFill>
              <a:srgbClr val="D82000"/>
            </a:solidFill>
            <a:ln>
              <a:noFill/>
            </a:ln>
          </p:spPr>
        </p:sp>
        <p:sp>
          <p:nvSpPr>
            <p:cNvPr id="240" name="Ellipse 240"/>
            <p:cNvSpPr/>
            <p:nvPr/>
          </p:nvSpPr>
          <p:spPr>
            <a:xfrm>
              <a:off x="11329988" y="3386138"/>
              <a:ext cx="104775" cy="104775"/>
            </a:xfrm>
            <a:prstGeom prst="ellipse">
              <a:avLst/>
            </a:prstGeom>
            <a:solidFill>
              <a:srgbClr val="FFFFFF"/>
            </a:solidFill>
            <a:ln w="14288">
              <a:solidFill>
                <a:srgbClr val="EE492C"/>
              </a:solidFill>
            </a:ln>
          </p:spPr>
        </p:sp>
        <p:sp>
          <p:nvSpPr>
            <p:cNvPr id="241" name="Ellipse 241"/>
            <p:cNvSpPr/>
            <p:nvPr/>
          </p:nvSpPr>
          <p:spPr>
            <a:xfrm>
              <a:off x="11463338" y="3386138"/>
              <a:ext cx="104775" cy="104775"/>
            </a:xfrm>
            <a:prstGeom prst="ellipse">
              <a:avLst/>
            </a:prstGeom>
            <a:solidFill>
              <a:srgbClr val="FFFFFF"/>
            </a:solidFill>
            <a:ln w="14288">
              <a:solidFill>
                <a:srgbClr val="EE492C"/>
              </a:solidFill>
            </a:ln>
          </p:spPr>
        </p:sp>
        <p:sp>
          <p:nvSpPr>
            <p:cNvPr id="242" name="Ellipse 242"/>
            <p:cNvSpPr/>
            <p:nvPr/>
          </p:nvSpPr>
          <p:spPr>
            <a:xfrm>
              <a:off x="7815262" y="4433888"/>
              <a:ext cx="104775" cy="104775"/>
            </a:xfrm>
            <a:prstGeom prst="ellipse">
              <a:avLst/>
            </a:prstGeom>
            <a:solidFill>
              <a:srgbClr val="D82000"/>
            </a:solidFill>
            <a:ln>
              <a:noFill/>
            </a:ln>
          </p:spPr>
        </p:sp>
        <p:sp>
          <p:nvSpPr>
            <p:cNvPr id="243" name="Ellipse 243"/>
            <p:cNvSpPr/>
            <p:nvPr/>
          </p:nvSpPr>
          <p:spPr>
            <a:xfrm>
              <a:off x="7948612" y="4433888"/>
              <a:ext cx="104775" cy="104775"/>
            </a:xfrm>
            <a:prstGeom prst="ellipse">
              <a:avLst/>
            </a:prstGeom>
            <a:solidFill>
              <a:srgbClr val="D82000"/>
            </a:solidFill>
            <a:ln>
              <a:noFill/>
            </a:ln>
          </p:spPr>
        </p:sp>
        <p:sp>
          <p:nvSpPr>
            <p:cNvPr id="244" name="Ellipse 244"/>
            <p:cNvSpPr/>
            <p:nvPr/>
          </p:nvSpPr>
          <p:spPr>
            <a:xfrm>
              <a:off x="8081962" y="4433888"/>
              <a:ext cx="104775" cy="104775"/>
            </a:xfrm>
            <a:prstGeom prst="ellipse">
              <a:avLst/>
            </a:prstGeom>
            <a:solidFill>
              <a:srgbClr val="D82000"/>
            </a:solidFill>
            <a:ln>
              <a:noFill/>
            </a:ln>
          </p:spPr>
        </p:sp>
        <p:sp>
          <p:nvSpPr>
            <p:cNvPr id="245" name="Ellipse 245"/>
            <p:cNvSpPr/>
            <p:nvPr/>
          </p:nvSpPr>
          <p:spPr>
            <a:xfrm>
              <a:off x="8215312" y="4433888"/>
              <a:ext cx="104775" cy="104775"/>
            </a:xfrm>
            <a:prstGeom prst="ellipse">
              <a:avLst/>
            </a:prstGeom>
            <a:solidFill>
              <a:srgbClr val="D82000"/>
            </a:solidFill>
            <a:ln>
              <a:noFill/>
            </a:ln>
          </p:spPr>
        </p:sp>
        <p:sp>
          <p:nvSpPr>
            <p:cNvPr id="246" name="Ellipse 246"/>
            <p:cNvSpPr/>
            <p:nvPr/>
          </p:nvSpPr>
          <p:spPr>
            <a:xfrm>
              <a:off x="8348662" y="4433888"/>
              <a:ext cx="104775" cy="104775"/>
            </a:xfrm>
            <a:prstGeom prst="ellipse">
              <a:avLst/>
            </a:prstGeom>
            <a:solidFill>
              <a:srgbClr val="FFFFFF"/>
            </a:solidFill>
            <a:ln w="14288">
              <a:solidFill>
                <a:srgbClr val="EE492C"/>
              </a:solidFill>
            </a:ln>
          </p:spPr>
        </p:sp>
        <p:sp>
          <p:nvSpPr>
            <p:cNvPr id="247" name="Ellipse 247"/>
            <p:cNvSpPr/>
            <p:nvPr/>
          </p:nvSpPr>
          <p:spPr>
            <a:xfrm>
              <a:off x="8853488" y="4433888"/>
              <a:ext cx="104775" cy="104775"/>
            </a:xfrm>
            <a:prstGeom prst="ellipse">
              <a:avLst/>
            </a:prstGeom>
            <a:solidFill>
              <a:srgbClr val="D82000"/>
            </a:solidFill>
            <a:ln>
              <a:noFill/>
            </a:ln>
          </p:spPr>
        </p:sp>
        <p:sp>
          <p:nvSpPr>
            <p:cNvPr id="248" name="Ellipse 248"/>
            <p:cNvSpPr/>
            <p:nvPr/>
          </p:nvSpPr>
          <p:spPr>
            <a:xfrm>
              <a:off x="8986838" y="4433888"/>
              <a:ext cx="104775" cy="104775"/>
            </a:xfrm>
            <a:prstGeom prst="ellipse">
              <a:avLst/>
            </a:prstGeom>
            <a:solidFill>
              <a:srgbClr val="D82000"/>
            </a:solidFill>
            <a:ln>
              <a:noFill/>
            </a:ln>
          </p:spPr>
        </p:sp>
        <p:sp>
          <p:nvSpPr>
            <p:cNvPr id="249" name="Ellipse 249"/>
            <p:cNvSpPr/>
            <p:nvPr/>
          </p:nvSpPr>
          <p:spPr>
            <a:xfrm>
              <a:off x="9120188" y="4433888"/>
              <a:ext cx="104775" cy="104775"/>
            </a:xfrm>
            <a:prstGeom prst="ellipse">
              <a:avLst/>
            </a:prstGeom>
            <a:solidFill>
              <a:srgbClr val="D82000"/>
            </a:solidFill>
            <a:ln>
              <a:noFill/>
            </a:ln>
          </p:spPr>
        </p:sp>
        <p:sp>
          <p:nvSpPr>
            <p:cNvPr id="250" name="Ellipse 250"/>
            <p:cNvSpPr/>
            <p:nvPr/>
          </p:nvSpPr>
          <p:spPr>
            <a:xfrm>
              <a:off x="9253538" y="4433888"/>
              <a:ext cx="104775" cy="104775"/>
            </a:xfrm>
            <a:prstGeom prst="ellipse">
              <a:avLst/>
            </a:prstGeom>
            <a:solidFill>
              <a:srgbClr val="D82000"/>
            </a:solidFill>
            <a:ln>
              <a:noFill/>
            </a:ln>
          </p:spPr>
        </p:sp>
        <p:sp>
          <p:nvSpPr>
            <p:cNvPr id="251" name="Ellipse 251"/>
            <p:cNvSpPr/>
            <p:nvPr/>
          </p:nvSpPr>
          <p:spPr>
            <a:xfrm>
              <a:off x="9386888" y="4433888"/>
              <a:ext cx="104775" cy="104775"/>
            </a:xfrm>
            <a:prstGeom prst="ellipse">
              <a:avLst/>
            </a:prstGeom>
            <a:solidFill>
              <a:srgbClr val="D82000"/>
            </a:solidFill>
            <a:ln>
              <a:noFill/>
            </a:ln>
          </p:spPr>
        </p:sp>
        <p:sp>
          <p:nvSpPr>
            <p:cNvPr id="252" name="Ellipse 252"/>
            <p:cNvSpPr/>
            <p:nvPr/>
          </p:nvSpPr>
          <p:spPr>
            <a:xfrm>
              <a:off x="9891712" y="4433888"/>
              <a:ext cx="104775" cy="104775"/>
            </a:xfrm>
            <a:prstGeom prst="ellipse">
              <a:avLst/>
            </a:prstGeom>
            <a:solidFill>
              <a:srgbClr val="D82000"/>
            </a:solidFill>
            <a:ln>
              <a:noFill/>
            </a:ln>
          </p:spPr>
        </p:sp>
        <p:sp>
          <p:nvSpPr>
            <p:cNvPr id="253" name="Ellipse 253"/>
            <p:cNvSpPr/>
            <p:nvPr/>
          </p:nvSpPr>
          <p:spPr>
            <a:xfrm>
              <a:off x="10025062" y="4433888"/>
              <a:ext cx="104775" cy="104775"/>
            </a:xfrm>
            <a:prstGeom prst="ellipse">
              <a:avLst/>
            </a:prstGeom>
            <a:solidFill>
              <a:srgbClr val="D82000"/>
            </a:solidFill>
            <a:ln>
              <a:noFill/>
            </a:ln>
          </p:spPr>
        </p:sp>
        <p:sp>
          <p:nvSpPr>
            <p:cNvPr id="254" name="Ellipse 254"/>
            <p:cNvSpPr/>
            <p:nvPr/>
          </p:nvSpPr>
          <p:spPr>
            <a:xfrm>
              <a:off x="10158412" y="4433888"/>
              <a:ext cx="104775" cy="104775"/>
            </a:xfrm>
            <a:prstGeom prst="ellipse">
              <a:avLst/>
            </a:prstGeom>
            <a:solidFill>
              <a:srgbClr val="D82000"/>
            </a:solidFill>
            <a:ln>
              <a:noFill/>
            </a:ln>
          </p:spPr>
        </p:sp>
        <p:sp>
          <p:nvSpPr>
            <p:cNvPr id="255" name="Ellipse 255"/>
            <p:cNvSpPr/>
            <p:nvPr/>
          </p:nvSpPr>
          <p:spPr>
            <a:xfrm>
              <a:off x="10291762" y="4433888"/>
              <a:ext cx="104775" cy="104775"/>
            </a:xfrm>
            <a:prstGeom prst="ellipse">
              <a:avLst/>
            </a:prstGeom>
            <a:solidFill>
              <a:srgbClr val="D82000"/>
            </a:solidFill>
            <a:ln>
              <a:noFill/>
            </a:ln>
          </p:spPr>
        </p:sp>
        <p:sp>
          <p:nvSpPr>
            <p:cNvPr id="256" name="Ellipse 256"/>
            <p:cNvSpPr/>
            <p:nvPr/>
          </p:nvSpPr>
          <p:spPr>
            <a:xfrm>
              <a:off x="10425112" y="4433888"/>
              <a:ext cx="104775" cy="104775"/>
            </a:xfrm>
            <a:prstGeom prst="ellipse">
              <a:avLst/>
            </a:prstGeom>
            <a:solidFill>
              <a:srgbClr val="D82000"/>
            </a:solidFill>
            <a:ln>
              <a:noFill/>
            </a:ln>
          </p:spPr>
        </p:sp>
        <p:sp>
          <p:nvSpPr>
            <p:cNvPr id="257" name="Ellipse 257"/>
            <p:cNvSpPr/>
            <p:nvPr/>
          </p:nvSpPr>
          <p:spPr>
            <a:xfrm>
              <a:off x="10929938" y="4433888"/>
              <a:ext cx="104775" cy="104775"/>
            </a:xfrm>
            <a:prstGeom prst="ellipse">
              <a:avLst/>
            </a:prstGeom>
            <a:solidFill>
              <a:srgbClr val="D82000"/>
            </a:solidFill>
            <a:ln>
              <a:noFill/>
            </a:ln>
          </p:spPr>
        </p:sp>
        <p:sp>
          <p:nvSpPr>
            <p:cNvPr id="258" name="Ellipse 258"/>
            <p:cNvSpPr/>
            <p:nvPr/>
          </p:nvSpPr>
          <p:spPr>
            <a:xfrm>
              <a:off x="11063288" y="4433888"/>
              <a:ext cx="104775" cy="104775"/>
            </a:xfrm>
            <a:prstGeom prst="ellipse">
              <a:avLst/>
            </a:prstGeom>
            <a:solidFill>
              <a:srgbClr val="D82000"/>
            </a:solidFill>
            <a:ln>
              <a:noFill/>
            </a:ln>
          </p:spPr>
        </p:sp>
        <p:sp>
          <p:nvSpPr>
            <p:cNvPr id="259" name="Ellipse 259"/>
            <p:cNvSpPr/>
            <p:nvPr/>
          </p:nvSpPr>
          <p:spPr>
            <a:xfrm>
              <a:off x="11196638" y="4433888"/>
              <a:ext cx="104775" cy="104775"/>
            </a:xfrm>
            <a:prstGeom prst="ellipse">
              <a:avLst/>
            </a:prstGeom>
            <a:solidFill>
              <a:srgbClr val="D82000"/>
            </a:solidFill>
            <a:ln>
              <a:noFill/>
            </a:ln>
          </p:spPr>
        </p:sp>
        <p:sp>
          <p:nvSpPr>
            <p:cNvPr id="260" name="Ellipse 260"/>
            <p:cNvSpPr/>
            <p:nvPr/>
          </p:nvSpPr>
          <p:spPr>
            <a:xfrm>
              <a:off x="11329988" y="4433888"/>
              <a:ext cx="104775" cy="104775"/>
            </a:xfrm>
            <a:prstGeom prst="ellipse">
              <a:avLst/>
            </a:prstGeom>
            <a:solidFill>
              <a:srgbClr val="D82000"/>
            </a:solidFill>
            <a:ln>
              <a:noFill/>
            </a:ln>
          </p:spPr>
        </p:sp>
        <p:sp>
          <p:nvSpPr>
            <p:cNvPr id="261" name="Ellipse 261"/>
            <p:cNvSpPr/>
            <p:nvPr/>
          </p:nvSpPr>
          <p:spPr>
            <a:xfrm>
              <a:off x="11463338" y="4433888"/>
              <a:ext cx="104775" cy="104775"/>
            </a:xfrm>
            <a:prstGeom prst="ellipse">
              <a:avLst/>
            </a:prstGeom>
            <a:solidFill>
              <a:srgbClr val="FFFFFF"/>
            </a:solidFill>
            <a:ln w="14288">
              <a:solidFill>
                <a:srgbClr val="EE492C"/>
              </a:solidFill>
            </a:ln>
          </p:spPr>
        </p:sp>
        <p:sp>
          <p:nvSpPr>
            <p:cNvPr id="262" name="Ellipse 262"/>
            <p:cNvSpPr/>
            <p:nvPr/>
          </p:nvSpPr>
          <p:spPr>
            <a:xfrm>
              <a:off x="7815262" y="5481638"/>
              <a:ext cx="104775" cy="104775"/>
            </a:xfrm>
            <a:prstGeom prst="ellipse">
              <a:avLst/>
            </a:prstGeom>
            <a:solidFill>
              <a:srgbClr val="D82000"/>
            </a:solidFill>
            <a:ln>
              <a:noFill/>
            </a:ln>
          </p:spPr>
        </p:sp>
        <p:sp>
          <p:nvSpPr>
            <p:cNvPr id="263" name="Ellipse 263"/>
            <p:cNvSpPr/>
            <p:nvPr/>
          </p:nvSpPr>
          <p:spPr>
            <a:xfrm>
              <a:off x="7948612" y="5481638"/>
              <a:ext cx="104775" cy="104775"/>
            </a:xfrm>
            <a:prstGeom prst="ellipse">
              <a:avLst/>
            </a:prstGeom>
            <a:solidFill>
              <a:srgbClr val="D82000"/>
            </a:solidFill>
            <a:ln>
              <a:noFill/>
            </a:ln>
          </p:spPr>
        </p:sp>
        <p:sp>
          <p:nvSpPr>
            <p:cNvPr id="264" name="Ellipse 264"/>
            <p:cNvSpPr/>
            <p:nvPr/>
          </p:nvSpPr>
          <p:spPr>
            <a:xfrm>
              <a:off x="8081962" y="5481638"/>
              <a:ext cx="104775" cy="104775"/>
            </a:xfrm>
            <a:prstGeom prst="ellipse">
              <a:avLst/>
            </a:prstGeom>
            <a:solidFill>
              <a:srgbClr val="FFFFFF"/>
            </a:solidFill>
            <a:ln w="14288">
              <a:solidFill>
                <a:srgbClr val="EE492C"/>
              </a:solidFill>
            </a:ln>
          </p:spPr>
        </p:sp>
        <p:sp>
          <p:nvSpPr>
            <p:cNvPr id="265" name="Ellipse 265"/>
            <p:cNvSpPr/>
            <p:nvPr/>
          </p:nvSpPr>
          <p:spPr>
            <a:xfrm>
              <a:off x="8215312" y="5481638"/>
              <a:ext cx="104775" cy="104775"/>
            </a:xfrm>
            <a:prstGeom prst="ellipse">
              <a:avLst/>
            </a:prstGeom>
            <a:solidFill>
              <a:srgbClr val="FFFFFF"/>
            </a:solidFill>
            <a:ln w="14288">
              <a:solidFill>
                <a:srgbClr val="EE492C"/>
              </a:solidFill>
            </a:ln>
          </p:spPr>
        </p:sp>
        <p:sp>
          <p:nvSpPr>
            <p:cNvPr id="266" name="Ellipse 266"/>
            <p:cNvSpPr/>
            <p:nvPr/>
          </p:nvSpPr>
          <p:spPr>
            <a:xfrm>
              <a:off x="8348662" y="5481638"/>
              <a:ext cx="104775" cy="104775"/>
            </a:xfrm>
            <a:prstGeom prst="ellipse">
              <a:avLst/>
            </a:prstGeom>
            <a:solidFill>
              <a:srgbClr val="FFFFFF"/>
            </a:solidFill>
            <a:ln w="14288">
              <a:solidFill>
                <a:srgbClr val="EE492C"/>
              </a:solidFill>
            </a:ln>
          </p:spPr>
        </p:sp>
        <p:sp>
          <p:nvSpPr>
            <p:cNvPr id="267" name="Ellipse 267"/>
            <p:cNvSpPr/>
            <p:nvPr/>
          </p:nvSpPr>
          <p:spPr>
            <a:xfrm>
              <a:off x="8853488" y="5481638"/>
              <a:ext cx="104775" cy="104775"/>
            </a:xfrm>
            <a:prstGeom prst="ellipse">
              <a:avLst/>
            </a:prstGeom>
            <a:solidFill>
              <a:srgbClr val="D82000"/>
            </a:solidFill>
            <a:ln>
              <a:noFill/>
            </a:ln>
          </p:spPr>
        </p:sp>
        <p:sp>
          <p:nvSpPr>
            <p:cNvPr id="268" name="Ellipse 268"/>
            <p:cNvSpPr/>
            <p:nvPr/>
          </p:nvSpPr>
          <p:spPr>
            <a:xfrm>
              <a:off x="8986838" y="5481638"/>
              <a:ext cx="104775" cy="104775"/>
            </a:xfrm>
            <a:prstGeom prst="ellipse">
              <a:avLst/>
            </a:prstGeom>
            <a:solidFill>
              <a:srgbClr val="D82000"/>
            </a:solidFill>
            <a:ln>
              <a:noFill/>
            </a:ln>
          </p:spPr>
        </p:sp>
        <p:sp>
          <p:nvSpPr>
            <p:cNvPr id="269" name="Ellipse 269"/>
            <p:cNvSpPr/>
            <p:nvPr/>
          </p:nvSpPr>
          <p:spPr>
            <a:xfrm>
              <a:off x="9120188" y="5481638"/>
              <a:ext cx="104775" cy="104775"/>
            </a:xfrm>
            <a:prstGeom prst="ellipse">
              <a:avLst/>
            </a:prstGeom>
            <a:solidFill>
              <a:srgbClr val="D82000"/>
            </a:solidFill>
            <a:ln>
              <a:noFill/>
            </a:ln>
          </p:spPr>
        </p:sp>
        <p:sp>
          <p:nvSpPr>
            <p:cNvPr id="270" name="Ellipse 270"/>
            <p:cNvSpPr/>
            <p:nvPr/>
          </p:nvSpPr>
          <p:spPr>
            <a:xfrm>
              <a:off x="9253538" y="5481638"/>
              <a:ext cx="104775" cy="104775"/>
            </a:xfrm>
            <a:prstGeom prst="ellipse">
              <a:avLst/>
            </a:prstGeom>
            <a:solidFill>
              <a:srgbClr val="D82000"/>
            </a:solidFill>
            <a:ln>
              <a:noFill/>
            </a:ln>
          </p:spPr>
        </p:sp>
        <p:sp>
          <p:nvSpPr>
            <p:cNvPr id="271" name="Ellipse 271"/>
            <p:cNvSpPr/>
            <p:nvPr/>
          </p:nvSpPr>
          <p:spPr>
            <a:xfrm>
              <a:off x="9386888" y="5481638"/>
              <a:ext cx="104775" cy="104775"/>
            </a:xfrm>
            <a:prstGeom prst="ellipse">
              <a:avLst/>
            </a:prstGeom>
            <a:solidFill>
              <a:srgbClr val="FFFFFF"/>
            </a:solidFill>
            <a:ln w="14288">
              <a:solidFill>
                <a:srgbClr val="EE492C"/>
              </a:solidFill>
            </a:ln>
          </p:spPr>
        </p:sp>
        <p:sp>
          <p:nvSpPr>
            <p:cNvPr id="272" name="Ellipse 272"/>
            <p:cNvSpPr/>
            <p:nvPr/>
          </p:nvSpPr>
          <p:spPr>
            <a:xfrm>
              <a:off x="9891712" y="5481638"/>
              <a:ext cx="104775" cy="104775"/>
            </a:xfrm>
            <a:prstGeom prst="ellipse">
              <a:avLst/>
            </a:prstGeom>
            <a:solidFill>
              <a:srgbClr val="D82000"/>
            </a:solidFill>
            <a:ln>
              <a:noFill/>
            </a:ln>
          </p:spPr>
        </p:sp>
        <p:sp>
          <p:nvSpPr>
            <p:cNvPr id="273" name="Ellipse 273"/>
            <p:cNvSpPr/>
            <p:nvPr/>
          </p:nvSpPr>
          <p:spPr>
            <a:xfrm>
              <a:off x="10025062" y="5481638"/>
              <a:ext cx="104775" cy="104775"/>
            </a:xfrm>
            <a:prstGeom prst="ellipse">
              <a:avLst/>
            </a:prstGeom>
            <a:solidFill>
              <a:srgbClr val="D82000"/>
            </a:solidFill>
            <a:ln>
              <a:noFill/>
            </a:ln>
          </p:spPr>
        </p:sp>
        <p:sp>
          <p:nvSpPr>
            <p:cNvPr id="274" name="Ellipse 274"/>
            <p:cNvSpPr/>
            <p:nvPr/>
          </p:nvSpPr>
          <p:spPr>
            <a:xfrm>
              <a:off x="10158412" y="5481638"/>
              <a:ext cx="104775" cy="104775"/>
            </a:xfrm>
            <a:prstGeom prst="ellipse">
              <a:avLst/>
            </a:prstGeom>
            <a:solidFill>
              <a:srgbClr val="D82000"/>
            </a:solidFill>
            <a:ln>
              <a:noFill/>
            </a:ln>
          </p:spPr>
        </p:sp>
        <p:sp>
          <p:nvSpPr>
            <p:cNvPr id="275" name="Ellipse 275"/>
            <p:cNvSpPr/>
            <p:nvPr/>
          </p:nvSpPr>
          <p:spPr>
            <a:xfrm>
              <a:off x="10291762" y="5481638"/>
              <a:ext cx="104775" cy="104775"/>
            </a:xfrm>
            <a:prstGeom prst="ellipse">
              <a:avLst/>
            </a:prstGeom>
            <a:solidFill>
              <a:srgbClr val="D82000"/>
            </a:solidFill>
            <a:ln>
              <a:noFill/>
            </a:ln>
          </p:spPr>
        </p:sp>
        <p:sp>
          <p:nvSpPr>
            <p:cNvPr id="276" name="Ellipse 276"/>
            <p:cNvSpPr/>
            <p:nvPr/>
          </p:nvSpPr>
          <p:spPr>
            <a:xfrm>
              <a:off x="10425112" y="5481638"/>
              <a:ext cx="104775" cy="104775"/>
            </a:xfrm>
            <a:prstGeom prst="ellipse">
              <a:avLst/>
            </a:prstGeom>
            <a:solidFill>
              <a:srgbClr val="FFFFFF"/>
            </a:solidFill>
            <a:ln w="14288">
              <a:solidFill>
                <a:srgbClr val="EE492C"/>
              </a:solidFill>
            </a:ln>
          </p:spPr>
        </p:sp>
        <p:sp>
          <p:nvSpPr>
            <p:cNvPr id="277" name="Ellipse 277"/>
            <p:cNvSpPr/>
            <p:nvPr/>
          </p:nvSpPr>
          <p:spPr>
            <a:xfrm>
              <a:off x="10929938" y="5481638"/>
              <a:ext cx="104775" cy="104775"/>
            </a:xfrm>
            <a:prstGeom prst="ellipse">
              <a:avLst/>
            </a:prstGeom>
            <a:solidFill>
              <a:srgbClr val="D82000"/>
            </a:solidFill>
            <a:ln>
              <a:noFill/>
            </a:ln>
          </p:spPr>
        </p:sp>
        <p:sp>
          <p:nvSpPr>
            <p:cNvPr id="278" name="Ellipse 278"/>
            <p:cNvSpPr/>
            <p:nvPr/>
          </p:nvSpPr>
          <p:spPr>
            <a:xfrm>
              <a:off x="11063288" y="5481638"/>
              <a:ext cx="104775" cy="104775"/>
            </a:xfrm>
            <a:prstGeom prst="ellipse">
              <a:avLst/>
            </a:prstGeom>
            <a:solidFill>
              <a:srgbClr val="D82000"/>
            </a:solidFill>
            <a:ln>
              <a:noFill/>
            </a:ln>
          </p:spPr>
        </p:sp>
        <p:sp>
          <p:nvSpPr>
            <p:cNvPr id="279" name="Ellipse 279"/>
            <p:cNvSpPr/>
            <p:nvPr/>
          </p:nvSpPr>
          <p:spPr>
            <a:xfrm>
              <a:off x="11196638" y="5481638"/>
              <a:ext cx="104775" cy="104775"/>
            </a:xfrm>
            <a:prstGeom prst="ellipse">
              <a:avLst/>
            </a:prstGeom>
            <a:solidFill>
              <a:srgbClr val="D82000"/>
            </a:solidFill>
            <a:ln>
              <a:noFill/>
            </a:ln>
          </p:spPr>
        </p:sp>
        <p:sp>
          <p:nvSpPr>
            <p:cNvPr id="280" name="Ellipse 280"/>
            <p:cNvSpPr/>
            <p:nvPr/>
          </p:nvSpPr>
          <p:spPr>
            <a:xfrm>
              <a:off x="11329988" y="5481638"/>
              <a:ext cx="104775" cy="104775"/>
            </a:xfrm>
            <a:prstGeom prst="ellipse">
              <a:avLst/>
            </a:prstGeom>
            <a:solidFill>
              <a:srgbClr val="FFFFFF"/>
            </a:solidFill>
            <a:ln w="14288">
              <a:solidFill>
                <a:srgbClr val="EE492C"/>
              </a:solidFill>
            </a:ln>
          </p:spPr>
        </p:sp>
        <p:sp>
          <p:nvSpPr>
            <p:cNvPr id="281" name="Ellipse 281"/>
            <p:cNvSpPr/>
            <p:nvPr/>
          </p:nvSpPr>
          <p:spPr>
            <a:xfrm>
              <a:off x="11463338" y="5481638"/>
              <a:ext cx="104775" cy="104775"/>
            </a:xfrm>
            <a:prstGeom prst="ellipse">
              <a:avLst/>
            </a:prstGeom>
            <a:solidFill>
              <a:srgbClr val="FFFFFF"/>
            </a:solidFill>
            <a:ln w="14288">
              <a:solidFill>
                <a:srgbClr val="EE492C"/>
              </a:solidFill>
            </a:ln>
          </p:spPr>
        </p:sp>
        <p:sp>
          <p:nvSpPr>
            <p:cNvPr id="282" name="Ellipse 282"/>
            <p:cNvSpPr/>
            <p:nvPr/>
          </p:nvSpPr>
          <p:spPr>
            <a:xfrm>
              <a:off x="8520112" y="6272212"/>
              <a:ext cx="104775" cy="104775"/>
            </a:xfrm>
            <a:prstGeom prst="ellipse">
              <a:avLst/>
            </a:prstGeom>
            <a:solidFill>
              <a:srgbClr val="D82000"/>
            </a:solidFill>
            <a:ln>
              <a:noFill/>
            </a:ln>
          </p:spPr>
        </p:sp>
        <p:sp>
          <p:nvSpPr>
            <p:cNvPr id="283" name="TextBox 283"/>
            <p:cNvSpPr txBox="1"/>
            <p:nvPr/>
          </p:nvSpPr>
          <p:spPr>
            <a:xfrm>
              <a:off x="8682038" y="6277689"/>
              <a:ext cx="541274"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满足程度高</a:t>
              </a:r>
            </a:p>
          </p:txBody>
        </p:sp>
        <p:sp>
          <p:nvSpPr>
            <p:cNvPr id="284" name="Ellipse 284"/>
            <p:cNvSpPr/>
            <p:nvPr/>
          </p:nvSpPr>
          <p:spPr>
            <a:xfrm>
              <a:off x="9567862" y="6272212"/>
              <a:ext cx="104775" cy="104775"/>
            </a:xfrm>
            <a:prstGeom prst="ellipse">
              <a:avLst/>
            </a:prstGeom>
            <a:solidFill>
              <a:srgbClr val="FFFFFF"/>
            </a:solidFill>
            <a:ln w="14288">
              <a:solidFill>
                <a:srgbClr val="EE492C"/>
              </a:solidFill>
            </a:ln>
          </p:spPr>
        </p:sp>
        <p:sp>
          <p:nvSpPr>
            <p:cNvPr id="285" name="TextBox 285"/>
            <p:cNvSpPr txBox="1"/>
            <p:nvPr/>
          </p:nvSpPr>
          <p:spPr>
            <a:xfrm>
              <a:off x="9729788" y="6277689"/>
              <a:ext cx="823101" cy="154781"/>
            </a:xfrm>
            <a:prstGeom prst="rect">
              <a:avLst/>
            </a:prstGeom>
            <a:noFill/>
            <a:ln>
              <a:noFill/>
            </a:ln>
          </p:spPr>
          <p:txBody>
            <a:bodyPr wrap="none" lIns="0" tIns="0" rIns="0" bIns="0" anchor="t" anchorCtr="0">
              <a:spAutoFit/>
            </a:bodyPr>
            <a:lstStyle/>
            <a:p>
              <a:pPr algn="l"/>
              <a:r>
                <a:rPr lang="zh-CN" sz="790" dirty="0">
                  <a:solidFill>
                    <a:srgbClr val="3D3835"/>
                  </a:solidFill>
                  <a:latin typeface="+mn-lt"/>
                  <a:ea typeface="+mn-ea"/>
                  <a:cs typeface="+mn-cs"/>
                </a:rPr>
                <a:t>满足程度中/低​​</a:t>
              </a:r>
            </a:p>
          </p:txBody>
        </p:sp>
      </p:gr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03</a:t>
              </a:r>
            </a:p>
          </p:txBody>
        </p:sp>
        <p:sp>
          <p:nvSpPr>
            <p:cNvPr id="4" name="TextBox 4"/>
            <p:cNvSpPr txBox="1"/>
            <p:nvPr/>
          </p:nvSpPr>
          <p:spPr>
            <a:xfrm>
              <a:off x="904494" y="170498"/>
              <a:ext cx="6582537"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现状诊断</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客户规模不等于经营价值，四类断点制约增长</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68" name="kpi-evidence"/>
          <p:cNvGrpSpPr/>
          <p:nvPr/>
        </p:nvGrpSpPr>
        <p:grpSpPr>
          <a:xfrm>
            <a:off x="342900" y="666750"/>
            <a:ext cx="2286000" cy="5962650"/>
            <a:chOff x="342900" y="666750"/>
            <a:chExt cx="2286000" cy="5962650"/>
          </a:xfrm>
        </p:grpSpPr>
        <p:sp>
          <p:nvSpPr>
            <p:cNvPr id="7" name="Rectangle 7"/>
            <p:cNvSpPr/>
            <p:nvPr/>
          </p:nvSpPr>
          <p:spPr>
            <a:xfrm>
              <a:off x="342900" y="666750"/>
              <a:ext cx="2286000" cy="228600"/>
            </a:xfrm>
            <a:prstGeom prst="roundRect">
              <a:avLst>
                <a:gd name="adj" fmla="val 12500"/>
              </a:avLst>
            </a:prstGeom>
            <a:solidFill>
              <a:srgbClr val="C41D00"/>
            </a:solidFill>
            <a:ln>
              <a:noFill/>
            </a:ln>
          </p:spPr>
        </p:sp>
        <p:sp>
          <p:nvSpPr>
            <p:cNvPr id="8" name="TextBox 8"/>
            <p:cNvSpPr txBox="1"/>
            <p:nvPr/>
          </p:nvSpPr>
          <p:spPr>
            <a:xfrm>
              <a:off x="730536" y="727472"/>
              <a:ext cx="151072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​​现状证据（关键KPI）​​</a:t>
              </a:r>
            </a:p>
          </p:txBody>
        </p:sp>
        <p:sp>
          <p:nvSpPr>
            <p:cNvPr id="9" name="Rectangle 9"/>
            <p:cNvSpPr/>
            <p:nvPr/>
          </p:nvSpPr>
          <p:spPr>
            <a:xfrm>
              <a:off x="342900" y="952500"/>
              <a:ext cx="2286000" cy="1104900"/>
            </a:xfrm>
            <a:prstGeom prst="roundRect">
              <a:avLst>
                <a:gd name="adj" fmla="val 3448"/>
              </a:avLst>
            </a:prstGeom>
            <a:solidFill>
              <a:srgbClr val="FFF8F2"/>
            </a:solidFill>
            <a:ln w="9525">
              <a:solidFill>
                <a:srgbClr val="F0B8AE"/>
              </a:solidFill>
            </a:ln>
          </p:spPr>
        </p:sp>
        <p:sp>
          <p:nvSpPr>
            <p:cNvPr id="10" name="Rectangle 10"/>
            <p:cNvSpPr/>
            <p:nvPr/>
          </p:nvSpPr>
          <p:spPr>
            <a:xfrm>
              <a:off x="419100" y="1143000"/>
              <a:ext cx="438150" cy="438150"/>
            </a:xfrm>
            <a:prstGeom prst="roundRect">
              <a:avLst>
                <a:gd name="adj" fmla="val 13043"/>
              </a:avLst>
            </a:prstGeom>
            <a:solidFill>
              <a:srgbClr val="FFFFFF"/>
            </a:solidFill>
            <a:ln w="9525">
              <a:solidFill>
                <a:srgbClr val="F0B8AE"/>
              </a:solidFill>
            </a:ln>
          </p:spPr>
        </p:sp>
        <p:grpSp>
          <p:nvGrpSpPr>
            <p:cNvPr id="15" name="Group 15"/>
            <p:cNvGrpSpPr/>
            <p:nvPr/>
          </p:nvGrpSpPr>
          <p:grpSpPr>
            <a:xfrm>
              <a:off x="538163" y="1262063"/>
              <a:ext cx="200026" cy="200025"/>
              <a:chOff x="538163" y="1262063"/>
              <a:chExt cx="200026" cy="200025"/>
            </a:xfrm>
          </p:grpSpPr>
          <p:sp>
            <p:nvSpPr>
              <p:cNvPr id="11" name="Freeform 11"/>
              <p:cNvSpPr/>
              <p:nvPr/>
            </p:nvSpPr>
            <p:spPr>
              <a:xfrm>
                <a:off x="560388" y="126206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D82000"/>
                </a:solidFill>
              </a:ln>
            </p:spPr>
          </p:sp>
          <p:sp>
            <p:nvSpPr>
              <p:cNvPr id="12" name="Freeform 12"/>
              <p:cNvSpPr/>
              <p:nvPr/>
            </p:nvSpPr>
            <p:spPr>
              <a:xfrm>
                <a:off x="538163" y="1395413"/>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D82000"/>
                </a:solidFill>
              </a:ln>
            </p:spPr>
          </p:sp>
          <p:sp>
            <p:nvSpPr>
              <p:cNvPr id="13" name="Freeform 13"/>
              <p:cNvSpPr/>
              <p:nvPr/>
            </p:nvSpPr>
            <p:spPr>
              <a:xfrm>
                <a:off x="682626" y="1263507"/>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D82000"/>
                </a:solidFill>
              </a:ln>
            </p:spPr>
          </p:sp>
          <p:sp>
            <p:nvSpPr>
              <p:cNvPr id="14" name="Freeform 14"/>
              <p:cNvSpPr/>
              <p:nvPr/>
            </p:nvSpPr>
            <p:spPr>
              <a:xfrm>
                <a:off x="704851" y="1397080"/>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D82000"/>
                </a:solidFill>
              </a:ln>
            </p:spPr>
          </p:sp>
        </p:grpSp>
        <p:sp>
          <p:nvSpPr>
            <p:cNvPr id="16" name="TextBox 16"/>
            <p:cNvSpPr txBox="1"/>
            <p:nvPr/>
          </p:nvSpPr>
          <p:spPr>
            <a:xfrm>
              <a:off x="947738" y="1102995"/>
              <a:ext cx="736473"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沉睡客户占比</a:t>
              </a:r>
            </a:p>
          </p:txBody>
        </p:sp>
        <p:sp>
          <p:nvSpPr>
            <p:cNvPr id="17" name="TextBox 17"/>
            <p:cNvSpPr txBox="1"/>
            <p:nvPr/>
          </p:nvSpPr>
          <p:spPr>
            <a:xfrm>
              <a:off x="942213" y="1305401"/>
              <a:ext cx="862885" cy="396050"/>
            </a:xfrm>
            <a:prstGeom prst="rect">
              <a:avLst/>
            </a:prstGeom>
            <a:noFill/>
            <a:ln>
              <a:noFill/>
            </a:ln>
          </p:spPr>
          <p:txBody>
            <a:bodyPr wrap="none" lIns="0" tIns="0" rIns="0" bIns="0" anchor="t" anchorCtr="0">
              <a:spAutoFit/>
            </a:bodyPr>
            <a:lstStyle/>
            <a:p>
              <a:pPr algn="l"/>
              <a:r>
                <a:rPr lang="zh-CN" sz="2020" b="1" dirty="0">
                  <a:solidFill>
                    <a:srgbClr val="C41D00"/>
                  </a:solidFill>
                  <a:latin typeface="+mn-lt"/>
                  <a:ea typeface="+mn-ea"/>
                  <a:cs typeface="+mn-cs"/>
                </a:rPr>
                <a:t>31%​​</a:t>
              </a:r>
            </a:p>
          </p:txBody>
        </p:sp>
        <p:sp>
          <p:nvSpPr>
            <p:cNvPr id="18" name="TextBox 18"/>
            <p:cNvSpPr txBox="1"/>
            <p:nvPr/>
          </p:nvSpPr>
          <p:spPr>
            <a:xfrm>
              <a:off x="1862138" y="1252538"/>
              <a:ext cx="312420"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较上年</a:t>
              </a:r>
            </a:p>
          </p:txBody>
        </p:sp>
        <p:sp>
          <p:nvSpPr>
            <p:cNvPr id="19" name="TextBox 19"/>
            <p:cNvSpPr txBox="1"/>
            <p:nvPr/>
          </p:nvSpPr>
          <p:spPr>
            <a:xfrm>
              <a:off x="1862138" y="1430893"/>
              <a:ext cx="580866" cy="169069"/>
            </a:xfrm>
            <a:prstGeom prst="rect">
              <a:avLst/>
            </a:prstGeom>
            <a:noFill/>
            <a:ln>
              <a:noFill/>
            </a:ln>
          </p:spPr>
          <p:txBody>
            <a:bodyPr wrap="none" lIns="0" tIns="0" rIns="0" bIns="0" anchor="t" anchorCtr="0">
              <a:spAutoFit/>
            </a:bodyPr>
            <a:lstStyle/>
            <a:p>
              <a:pPr algn="l"/>
              <a:r>
                <a:rPr lang="en-US" sz="860" b="1" dirty="0">
                  <a:solidFill>
                    <a:srgbClr val="D82000"/>
                  </a:solidFill>
                  <a:latin typeface="+mn-lt"/>
                  <a:ea typeface="+mn-ea"/>
                  <a:cs typeface="+mn-cs"/>
                </a:rPr>
                <a:t>▲ 4.2pp​​</a:t>
              </a:r>
            </a:p>
          </p:txBody>
        </p:sp>
        <p:sp>
          <p:nvSpPr>
            <p:cNvPr id="20" name="TextBox 20"/>
            <p:cNvSpPr txBox="1"/>
            <p:nvPr/>
          </p:nvSpPr>
          <p:spPr>
            <a:xfrm>
              <a:off x="947738" y="1675686"/>
              <a:ext cx="1557924"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近12个月无交易且无互动客户占比​​</a:t>
              </a:r>
            </a:p>
          </p:txBody>
        </p:sp>
        <p:sp>
          <p:nvSpPr>
            <p:cNvPr id="21" name="Rectangle 21"/>
            <p:cNvSpPr/>
            <p:nvPr/>
          </p:nvSpPr>
          <p:spPr>
            <a:xfrm>
              <a:off x="342900" y="2095500"/>
              <a:ext cx="2286000" cy="1104900"/>
            </a:xfrm>
            <a:prstGeom prst="roundRect">
              <a:avLst>
                <a:gd name="adj" fmla="val 3448"/>
              </a:avLst>
            </a:prstGeom>
            <a:solidFill>
              <a:srgbClr val="FFF8F2"/>
            </a:solidFill>
            <a:ln w="9525">
              <a:solidFill>
                <a:srgbClr val="F0B8AE"/>
              </a:solidFill>
            </a:ln>
          </p:spPr>
        </p:sp>
        <p:sp>
          <p:nvSpPr>
            <p:cNvPr id="22" name="Rectangle 22"/>
            <p:cNvSpPr/>
            <p:nvPr/>
          </p:nvSpPr>
          <p:spPr>
            <a:xfrm>
              <a:off x="419100" y="2286000"/>
              <a:ext cx="438150" cy="438150"/>
            </a:xfrm>
            <a:prstGeom prst="roundRect">
              <a:avLst>
                <a:gd name="adj" fmla="val 13043"/>
              </a:avLst>
            </a:prstGeom>
            <a:solidFill>
              <a:srgbClr val="FFFFFF"/>
            </a:solidFill>
            <a:ln w="9525">
              <a:solidFill>
                <a:srgbClr val="F0B8AE"/>
              </a:solidFill>
            </a:ln>
          </p:spPr>
        </p:sp>
        <p:grpSp>
          <p:nvGrpSpPr>
            <p:cNvPr id="31" name="Group 31"/>
            <p:cNvGrpSpPr/>
            <p:nvPr/>
          </p:nvGrpSpPr>
          <p:grpSpPr>
            <a:xfrm>
              <a:off x="538163" y="2405063"/>
              <a:ext cx="200026" cy="209550"/>
              <a:chOff x="538163" y="2405063"/>
              <a:chExt cx="200026" cy="209550"/>
            </a:xfrm>
          </p:grpSpPr>
          <p:sp>
            <p:nvSpPr>
              <p:cNvPr id="23" name="Freeform 23"/>
              <p:cNvSpPr/>
              <p:nvPr/>
            </p:nvSpPr>
            <p:spPr>
              <a:xfrm>
                <a:off x="538163" y="2605088"/>
                <a:ext cx="200026" cy="9525"/>
              </a:xfrm>
              <a:custGeom>
                <a:avLst/>
                <a:gdLst/>
                <a:ahLst/>
                <a:cxnLst/>
                <a:rect l="l" t="t" r="r" b="b"/>
                <a:pathLst>
                  <a:path w="200026" h="9525">
                    <a:moveTo>
                      <a:pt x="0" y="0"/>
                    </a:moveTo>
                    <a:lnTo>
                      <a:pt x="200026" y="0"/>
                    </a:lnTo>
                  </a:path>
                </a:pathLst>
              </a:custGeom>
              <a:noFill/>
              <a:ln w="22225">
                <a:solidFill>
                  <a:srgbClr val="D82000"/>
                </a:solidFill>
              </a:ln>
            </p:spPr>
          </p:sp>
          <p:sp>
            <p:nvSpPr>
              <p:cNvPr id="24" name="Freeform 24"/>
              <p:cNvSpPr/>
              <p:nvPr/>
            </p:nvSpPr>
            <p:spPr>
              <a:xfrm>
                <a:off x="538163" y="2482850"/>
                <a:ext cx="200026" cy="9525"/>
              </a:xfrm>
              <a:custGeom>
                <a:avLst/>
                <a:gdLst/>
                <a:ahLst/>
                <a:cxnLst/>
                <a:rect l="l" t="t" r="r" b="b"/>
                <a:pathLst>
                  <a:path w="200026" h="9525">
                    <a:moveTo>
                      <a:pt x="0" y="0"/>
                    </a:moveTo>
                    <a:lnTo>
                      <a:pt x="200026" y="0"/>
                    </a:lnTo>
                  </a:path>
                </a:pathLst>
              </a:custGeom>
              <a:noFill/>
              <a:ln w="22225">
                <a:solidFill>
                  <a:srgbClr val="D82000"/>
                </a:solidFill>
              </a:ln>
            </p:spPr>
          </p:sp>
          <p:sp>
            <p:nvSpPr>
              <p:cNvPr id="25" name="Freeform 25"/>
              <p:cNvSpPr/>
              <p:nvPr/>
            </p:nvSpPr>
            <p:spPr>
              <a:xfrm>
                <a:off x="560388" y="2405063"/>
                <a:ext cx="155575" cy="33338"/>
              </a:xfrm>
              <a:custGeom>
                <a:avLst/>
                <a:gdLst/>
                <a:ahLst/>
                <a:cxnLst/>
                <a:rect l="l" t="t" r="r" b="b"/>
                <a:pathLst>
                  <a:path w="155575" h="33338">
                    <a:moveTo>
                      <a:pt x="0" y="33338"/>
                    </a:moveTo>
                    <a:lnTo>
                      <a:pt x="77788" y="0"/>
                    </a:lnTo>
                    <a:lnTo>
                      <a:pt x="155575" y="33338"/>
                    </a:lnTo>
                  </a:path>
                </a:pathLst>
              </a:custGeom>
              <a:noFill/>
              <a:ln w="22225">
                <a:solidFill>
                  <a:srgbClr val="D82000"/>
                </a:solidFill>
              </a:ln>
            </p:spPr>
          </p:sp>
          <p:sp>
            <p:nvSpPr>
              <p:cNvPr id="26" name="Freeform 26"/>
              <p:cNvSpPr/>
              <p:nvPr/>
            </p:nvSpPr>
            <p:spPr>
              <a:xfrm>
                <a:off x="549275" y="2482850"/>
                <a:ext cx="9525" cy="122238"/>
              </a:xfrm>
              <a:custGeom>
                <a:avLst/>
                <a:gdLst/>
                <a:ahLst/>
                <a:cxnLst/>
                <a:rect l="l" t="t" r="r" b="b"/>
                <a:pathLst>
                  <a:path w="9525" h="122238">
                    <a:moveTo>
                      <a:pt x="0" y="0"/>
                    </a:moveTo>
                    <a:lnTo>
                      <a:pt x="0" y="122238"/>
                    </a:lnTo>
                  </a:path>
                </a:pathLst>
              </a:custGeom>
              <a:noFill/>
              <a:ln w="22225">
                <a:solidFill>
                  <a:srgbClr val="D82000"/>
                </a:solidFill>
              </a:ln>
            </p:spPr>
          </p:sp>
          <p:sp>
            <p:nvSpPr>
              <p:cNvPr id="27" name="Freeform 27"/>
              <p:cNvSpPr/>
              <p:nvPr/>
            </p:nvSpPr>
            <p:spPr>
              <a:xfrm>
                <a:off x="727076" y="2482850"/>
                <a:ext cx="9525" cy="122238"/>
              </a:xfrm>
              <a:custGeom>
                <a:avLst/>
                <a:gdLst/>
                <a:ahLst/>
                <a:cxnLst/>
                <a:rect l="l" t="t" r="r" b="b"/>
                <a:pathLst>
                  <a:path w="9525" h="122238">
                    <a:moveTo>
                      <a:pt x="0" y="0"/>
                    </a:moveTo>
                    <a:lnTo>
                      <a:pt x="0" y="122238"/>
                    </a:lnTo>
                  </a:path>
                </a:pathLst>
              </a:custGeom>
              <a:noFill/>
              <a:ln w="22225">
                <a:solidFill>
                  <a:srgbClr val="D82000"/>
                </a:solidFill>
              </a:ln>
            </p:spPr>
          </p:sp>
          <p:sp>
            <p:nvSpPr>
              <p:cNvPr id="28" name="Freeform 28"/>
              <p:cNvSpPr/>
              <p:nvPr/>
            </p:nvSpPr>
            <p:spPr>
              <a:xfrm>
                <a:off x="593725" y="2527300"/>
                <a:ext cx="9525" cy="33338"/>
              </a:xfrm>
              <a:custGeom>
                <a:avLst/>
                <a:gdLst/>
                <a:ahLst/>
                <a:cxnLst/>
                <a:rect l="l" t="t" r="r" b="b"/>
                <a:pathLst>
                  <a:path w="9525" h="33338">
                    <a:moveTo>
                      <a:pt x="0" y="0"/>
                    </a:moveTo>
                    <a:lnTo>
                      <a:pt x="0" y="33338"/>
                    </a:lnTo>
                  </a:path>
                </a:pathLst>
              </a:custGeom>
              <a:noFill/>
              <a:ln w="22225">
                <a:solidFill>
                  <a:srgbClr val="D82000"/>
                </a:solidFill>
              </a:ln>
            </p:spPr>
          </p:sp>
          <p:sp>
            <p:nvSpPr>
              <p:cNvPr id="29" name="Freeform 29"/>
              <p:cNvSpPr/>
              <p:nvPr/>
            </p:nvSpPr>
            <p:spPr>
              <a:xfrm>
                <a:off x="638175" y="2527300"/>
                <a:ext cx="9525" cy="33338"/>
              </a:xfrm>
              <a:custGeom>
                <a:avLst/>
                <a:gdLst/>
                <a:ahLst/>
                <a:cxnLst/>
                <a:rect l="l" t="t" r="r" b="b"/>
                <a:pathLst>
                  <a:path w="9525" h="33338">
                    <a:moveTo>
                      <a:pt x="0" y="0"/>
                    </a:moveTo>
                    <a:lnTo>
                      <a:pt x="0" y="33338"/>
                    </a:lnTo>
                  </a:path>
                </a:pathLst>
              </a:custGeom>
              <a:noFill/>
              <a:ln w="22225">
                <a:solidFill>
                  <a:srgbClr val="D82000"/>
                </a:solidFill>
              </a:ln>
            </p:spPr>
          </p:sp>
          <p:sp>
            <p:nvSpPr>
              <p:cNvPr id="30" name="Freeform 30"/>
              <p:cNvSpPr/>
              <p:nvPr/>
            </p:nvSpPr>
            <p:spPr>
              <a:xfrm>
                <a:off x="682626" y="2527300"/>
                <a:ext cx="9525" cy="33338"/>
              </a:xfrm>
              <a:custGeom>
                <a:avLst/>
                <a:gdLst/>
                <a:ahLst/>
                <a:cxnLst/>
                <a:rect l="l" t="t" r="r" b="b"/>
                <a:pathLst>
                  <a:path w="9525" h="33338">
                    <a:moveTo>
                      <a:pt x="0" y="0"/>
                    </a:moveTo>
                    <a:lnTo>
                      <a:pt x="0" y="33338"/>
                    </a:lnTo>
                  </a:path>
                </a:pathLst>
              </a:custGeom>
              <a:noFill/>
              <a:ln w="22225">
                <a:solidFill>
                  <a:srgbClr val="D82000"/>
                </a:solidFill>
              </a:ln>
            </p:spPr>
          </p:sp>
        </p:grpSp>
        <p:sp>
          <p:nvSpPr>
            <p:cNvPr id="32" name="TextBox 32"/>
            <p:cNvSpPr txBox="1"/>
            <p:nvPr/>
          </p:nvSpPr>
          <p:spPr>
            <a:xfrm>
              <a:off x="947738" y="2245995"/>
              <a:ext cx="857631"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主办行客户占比</a:t>
              </a:r>
            </a:p>
          </p:txBody>
        </p:sp>
        <p:sp>
          <p:nvSpPr>
            <p:cNvPr id="33" name="TextBox 33"/>
            <p:cNvSpPr txBox="1"/>
            <p:nvPr/>
          </p:nvSpPr>
          <p:spPr>
            <a:xfrm>
              <a:off x="942213" y="2448401"/>
              <a:ext cx="862885" cy="396050"/>
            </a:xfrm>
            <a:prstGeom prst="rect">
              <a:avLst/>
            </a:prstGeom>
            <a:noFill/>
            <a:ln>
              <a:noFill/>
            </a:ln>
          </p:spPr>
          <p:txBody>
            <a:bodyPr wrap="none" lIns="0" tIns="0" rIns="0" bIns="0" anchor="t" anchorCtr="0">
              <a:spAutoFit/>
            </a:bodyPr>
            <a:lstStyle/>
            <a:p>
              <a:pPr algn="l"/>
              <a:r>
                <a:rPr lang="zh-CN" sz="2020" b="1" dirty="0">
                  <a:solidFill>
                    <a:srgbClr val="C41D00"/>
                  </a:solidFill>
                  <a:latin typeface="+mn-lt"/>
                  <a:ea typeface="+mn-ea"/>
                  <a:cs typeface="+mn-cs"/>
                </a:rPr>
                <a:t>27%​​</a:t>
              </a:r>
            </a:p>
          </p:txBody>
        </p:sp>
        <p:sp>
          <p:nvSpPr>
            <p:cNvPr id="34" name="TextBox 34"/>
            <p:cNvSpPr txBox="1"/>
            <p:nvPr/>
          </p:nvSpPr>
          <p:spPr>
            <a:xfrm>
              <a:off x="1862138" y="2395538"/>
              <a:ext cx="312420"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较上年</a:t>
              </a:r>
            </a:p>
          </p:txBody>
        </p:sp>
        <p:sp>
          <p:nvSpPr>
            <p:cNvPr id="35" name="TextBox 35"/>
            <p:cNvSpPr txBox="1"/>
            <p:nvPr/>
          </p:nvSpPr>
          <p:spPr>
            <a:xfrm>
              <a:off x="1862138" y="2573893"/>
              <a:ext cx="580866" cy="169069"/>
            </a:xfrm>
            <a:prstGeom prst="rect">
              <a:avLst/>
            </a:prstGeom>
            <a:noFill/>
            <a:ln>
              <a:noFill/>
            </a:ln>
          </p:spPr>
          <p:txBody>
            <a:bodyPr wrap="none" lIns="0" tIns="0" rIns="0" bIns="0" anchor="t" anchorCtr="0">
              <a:spAutoFit/>
            </a:bodyPr>
            <a:lstStyle/>
            <a:p>
              <a:pPr algn="l"/>
              <a:r>
                <a:rPr lang="en-US" sz="860" b="1" dirty="0">
                  <a:solidFill>
                    <a:srgbClr val="D82000"/>
                  </a:solidFill>
                  <a:latin typeface="+mn-lt"/>
                  <a:ea typeface="+mn-ea"/>
                  <a:cs typeface="+mn-cs"/>
                </a:rPr>
                <a:t>▼ 2.1pp​​</a:t>
              </a:r>
            </a:p>
          </p:txBody>
        </p:sp>
        <p:sp>
          <p:nvSpPr>
            <p:cNvPr id="36" name="TextBox 36"/>
            <p:cNvSpPr txBox="1"/>
            <p:nvPr/>
          </p:nvSpPr>
          <p:spPr>
            <a:xfrm>
              <a:off x="947738" y="2818686"/>
              <a:ext cx="164439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在我行AUM占比≥50%的客户占比​​​​​</a:t>
              </a:r>
            </a:p>
          </p:txBody>
        </p:sp>
        <p:sp>
          <p:nvSpPr>
            <p:cNvPr id="37" name="Rectangle 37"/>
            <p:cNvSpPr/>
            <p:nvPr/>
          </p:nvSpPr>
          <p:spPr>
            <a:xfrm>
              <a:off x="342900" y="3238500"/>
              <a:ext cx="2286000" cy="1104900"/>
            </a:xfrm>
            <a:prstGeom prst="roundRect">
              <a:avLst>
                <a:gd name="adj" fmla="val 3448"/>
              </a:avLst>
            </a:prstGeom>
            <a:solidFill>
              <a:srgbClr val="FFF8F2"/>
            </a:solidFill>
            <a:ln w="9525">
              <a:solidFill>
                <a:srgbClr val="F0B8AE"/>
              </a:solidFill>
            </a:ln>
          </p:spPr>
        </p:sp>
        <p:sp>
          <p:nvSpPr>
            <p:cNvPr id="38" name="Rectangle 38"/>
            <p:cNvSpPr/>
            <p:nvPr/>
          </p:nvSpPr>
          <p:spPr>
            <a:xfrm>
              <a:off x="419100" y="3429000"/>
              <a:ext cx="438150" cy="438150"/>
            </a:xfrm>
            <a:prstGeom prst="roundRect">
              <a:avLst>
                <a:gd name="adj" fmla="val 13043"/>
              </a:avLst>
            </a:prstGeom>
            <a:solidFill>
              <a:srgbClr val="FFFFFF"/>
            </a:solidFill>
            <a:ln w="9525">
              <a:solidFill>
                <a:srgbClr val="F0B8AE"/>
              </a:solidFill>
            </a:ln>
          </p:spPr>
        </p:sp>
        <p:grpSp>
          <p:nvGrpSpPr>
            <p:cNvPr id="43" name="Group 43"/>
            <p:cNvGrpSpPr/>
            <p:nvPr/>
          </p:nvGrpSpPr>
          <p:grpSpPr>
            <a:xfrm>
              <a:off x="549275" y="3548063"/>
              <a:ext cx="177800" cy="200025"/>
              <a:chOff x="549275" y="3548063"/>
              <a:chExt cx="177800" cy="200025"/>
            </a:xfrm>
          </p:grpSpPr>
          <p:sp>
            <p:nvSpPr>
              <p:cNvPr id="39" name="Freeform 39"/>
              <p:cNvSpPr/>
              <p:nvPr/>
            </p:nvSpPr>
            <p:spPr>
              <a:xfrm>
                <a:off x="549275" y="37036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D82000"/>
                </a:solidFill>
              </a:ln>
            </p:spPr>
          </p:sp>
          <p:sp>
            <p:nvSpPr>
              <p:cNvPr id="40" name="Freeform 40"/>
              <p:cNvSpPr/>
              <p:nvPr/>
            </p:nvSpPr>
            <p:spPr>
              <a:xfrm>
                <a:off x="671513" y="37036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D82000"/>
                </a:solidFill>
              </a:ln>
            </p:spPr>
          </p:sp>
          <p:sp>
            <p:nvSpPr>
              <p:cNvPr id="41" name="Freeform 41"/>
              <p:cNvSpPr/>
              <p:nvPr/>
            </p:nvSpPr>
            <p:spPr>
              <a:xfrm>
                <a:off x="549275" y="3548063"/>
                <a:ext cx="144463" cy="155575"/>
              </a:xfrm>
              <a:custGeom>
                <a:avLst/>
                <a:gdLst/>
                <a:ahLst/>
                <a:cxnLst/>
                <a:rect l="l" t="t" r="r" b="b"/>
                <a:pathLst>
                  <a:path w="144463" h="155575">
                    <a:moveTo>
                      <a:pt x="144463" y="155575"/>
                    </a:moveTo>
                    <a:lnTo>
                      <a:pt x="22225" y="155575"/>
                    </a:lnTo>
                    <a:lnTo>
                      <a:pt x="22225" y="0"/>
                    </a:lnTo>
                    <a:lnTo>
                      <a:pt x="0" y="0"/>
                    </a:lnTo>
                  </a:path>
                </a:pathLst>
              </a:custGeom>
              <a:noFill/>
              <a:ln w="22225">
                <a:solidFill>
                  <a:srgbClr val="D82000"/>
                </a:solidFill>
              </a:ln>
            </p:spPr>
          </p:sp>
          <p:sp>
            <p:nvSpPr>
              <p:cNvPr id="42" name="Freeform 42"/>
              <p:cNvSpPr/>
              <p:nvPr/>
            </p:nvSpPr>
            <p:spPr>
              <a:xfrm>
                <a:off x="571500" y="3570288"/>
                <a:ext cx="155575" cy="88900"/>
              </a:xfrm>
              <a:custGeom>
                <a:avLst/>
                <a:gdLst/>
                <a:ahLst/>
                <a:cxnLst/>
                <a:rect l="l" t="t" r="r" b="b"/>
                <a:pathLst>
                  <a:path w="155575" h="88900">
                    <a:moveTo>
                      <a:pt x="0" y="0"/>
                    </a:moveTo>
                    <a:lnTo>
                      <a:pt x="155575" y="11113"/>
                    </a:lnTo>
                    <a:lnTo>
                      <a:pt x="144463" y="88900"/>
                    </a:lnTo>
                    <a:lnTo>
                      <a:pt x="0" y="88900"/>
                    </a:lnTo>
                  </a:path>
                </a:pathLst>
              </a:custGeom>
              <a:noFill/>
              <a:ln w="22225">
                <a:solidFill>
                  <a:srgbClr val="D82000"/>
                </a:solidFill>
              </a:ln>
            </p:spPr>
          </p:sp>
        </p:grpSp>
        <p:sp>
          <p:nvSpPr>
            <p:cNvPr id="44" name="TextBox 44"/>
            <p:cNvSpPr txBox="1"/>
            <p:nvPr/>
          </p:nvSpPr>
          <p:spPr>
            <a:xfrm>
              <a:off x="947738" y="3388995"/>
              <a:ext cx="857631"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交叉销售转化率</a:t>
              </a:r>
            </a:p>
          </p:txBody>
        </p:sp>
        <p:sp>
          <p:nvSpPr>
            <p:cNvPr id="45" name="TextBox 45"/>
            <p:cNvSpPr txBox="1"/>
            <p:nvPr/>
          </p:nvSpPr>
          <p:spPr>
            <a:xfrm>
              <a:off x="942213" y="3591401"/>
              <a:ext cx="1019926" cy="396050"/>
            </a:xfrm>
            <a:prstGeom prst="rect">
              <a:avLst/>
            </a:prstGeom>
            <a:noFill/>
            <a:ln>
              <a:noFill/>
            </a:ln>
          </p:spPr>
          <p:txBody>
            <a:bodyPr wrap="none" lIns="0" tIns="0" rIns="0" bIns="0" anchor="t" anchorCtr="0">
              <a:spAutoFit/>
            </a:bodyPr>
            <a:lstStyle/>
            <a:p>
              <a:pPr algn="l"/>
              <a:r>
                <a:rPr lang="zh-CN" sz="2020" b="1" dirty="0">
                  <a:solidFill>
                    <a:srgbClr val="C41D00"/>
                  </a:solidFill>
                  <a:latin typeface="+mn-lt"/>
                  <a:ea typeface="+mn-ea"/>
                  <a:cs typeface="+mn-cs"/>
                </a:rPr>
                <a:t>3.8%​​</a:t>
              </a:r>
            </a:p>
          </p:txBody>
        </p:sp>
        <p:sp>
          <p:nvSpPr>
            <p:cNvPr id="46" name="TextBox 46"/>
            <p:cNvSpPr txBox="1"/>
            <p:nvPr/>
          </p:nvSpPr>
          <p:spPr>
            <a:xfrm>
              <a:off x="1862138" y="3538538"/>
              <a:ext cx="312420"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较上年</a:t>
              </a:r>
            </a:p>
          </p:txBody>
        </p:sp>
        <p:sp>
          <p:nvSpPr>
            <p:cNvPr id="47" name="TextBox 47"/>
            <p:cNvSpPr txBox="1"/>
            <p:nvPr/>
          </p:nvSpPr>
          <p:spPr>
            <a:xfrm>
              <a:off x="1862138" y="3716893"/>
              <a:ext cx="580866" cy="169069"/>
            </a:xfrm>
            <a:prstGeom prst="rect">
              <a:avLst/>
            </a:prstGeom>
            <a:noFill/>
            <a:ln>
              <a:noFill/>
            </a:ln>
          </p:spPr>
          <p:txBody>
            <a:bodyPr wrap="none" lIns="0" tIns="0" rIns="0" bIns="0" anchor="t" anchorCtr="0">
              <a:spAutoFit/>
            </a:bodyPr>
            <a:lstStyle/>
            <a:p>
              <a:pPr algn="l"/>
              <a:r>
                <a:rPr lang="en-US" sz="860" b="1" dirty="0">
                  <a:solidFill>
                    <a:srgbClr val="D82000"/>
                  </a:solidFill>
                  <a:latin typeface="+mn-lt"/>
                  <a:ea typeface="+mn-ea"/>
                  <a:cs typeface="+mn-cs"/>
                </a:rPr>
                <a:t>▲ 0.6pp​​</a:t>
              </a:r>
            </a:p>
          </p:txBody>
        </p:sp>
        <p:sp>
          <p:nvSpPr>
            <p:cNvPr id="48" name="TextBox 48"/>
            <p:cNvSpPr txBox="1"/>
            <p:nvPr/>
          </p:nvSpPr>
          <p:spPr>
            <a:xfrm>
              <a:off x="947738" y="3961686"/>
              <a:ext cx="125206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具备多产品需求客户的转化率</a:t>
              </a:r>
            </a:p>
          </p:txBody>
        </p:sp>
        <p:sp>
          <p:nvSpPr>
            <p:cNvPr id="49" name="Rectangle 49"/>
            <p:cNvSpPr/>
            <p:nvPr/>
          </p:nvSpPr>
          <p:spPr>
            <a:xfrm>
              <a:off x="342900" y="4381500"/>
              <a:ext cx="2286000" cy="1104900"/>
            </a:xfrm>
            <a:prstGeom prst="roundRect">
              <a:avLst>
                <a:gd name="adj" fmla="val 3448"/>
              </a:avLst>
            </a:prstGeom>
            <a:solidFill>
              <a:srgbClr val="FFF8F2"/>
            </a:solidFill>
            <a:ln w="9525">
              <a:solidFill>
                <a:srgbClr val="F0B8AE"/>
              </a:solidFill>
            </a:ln>
          </p:spPr>
        </p:sp>
        <p:sp>
          <p:nvSpPr>
            <p:cNvPr id="50" name="Rectangle 50"/>
            <p:cNvSpPr/>
            <p:nvPr/>
          </p:nvSpPr>
          <p:spPr>
            <a:xfrm>
              <a:off x="419100" y="4572000"/>
              <a:ext cx="438150" cy="438150"/>
            </a:xfrm>
            <a:prstGeom prst="roundRect">
              <a:avLst>
                <a:gd name="adj" fmla="val 13043"/>
              </a:avLst>
            </a:prstGeom>
            <a:solidFill>
              <a:srgbClr val="FFFFFF"/>
            </a:solidFill>
            <a:ln w="9525">
              <a:solidFill>
                <a:srgbClr val="F0B8AE"/>
              </a:solidFill>
            </a:ln>
          </p:spPr>
        </p:sp>
        <p:grpSp>
          <p:nvGrpSpPr>
            <p:cNvPr id="54" name="Group 54"/>
            <p:cNvGrpSpPr/>
            <p:nvPr/>
          </p:nvGrpSpPr>
          <p:grpSpPr>
            <a:xfrm>
              <a:off x="545765" y="4702175"/>
              <a:ext cx="181311" cy="181310"/>
              <a:chOff x="545765" y="4702175"/>
              <a:chExt cx="181311" cy="181310"/>
            </a:xfrm>
          </p:grpSpPr>
          <p:sp>
            <p:nvSpPr>
              <p:cNvPr id="51" name="Freeform 51"/>
              <p:cNvSpPr/>
              <p:nvPr/>
            </p:nvSpPr>
            <p:spPr>
              <a:xfrm>
                <a:off x="549275" y="4702175"/>
                <a:ext cx="177801" cy="177801"/>
              </a:xfrm>
              <a:custGeom>
                <a:avLst/>
                <a:gdLst/>
                <a:ahLst/>
                <a:cxnLst/>
                <a:rect l="l" t="t" r="r" b="b"/>
                <a:pathLst>
                  <a:path w="177801" h="177801">
                    <a:moveTo>
                      <a:pt x="0" y="100013"/>
                    </a:moveTo>
                    <a:cubicBezTo>
                      <a:pt x="40785" y="104860"/>
                      <a:pt x="72941" y="137015"/>
                      <a:pt x="77788" y="177801"/>
                    </a:cubicBezTo>
                    <a:cubicBezTo>
                      <a:pt x="97758" y="166288"/>
                      <a:pt x="110364" y="145276"/>
                      <a:pt x="111125" y="122238"/>
                    </a:cubicBezTo>
                    <a:cubicBezTo>
                      <a:pt x="149283" y="108814"/>
                      <a:pt x="175598" y="73728"/>
                      <a:pt x="177801" y="33338"/>
                    </a:cubicBezTo>
                    <a:cubicBezTo>
                      <a:pt x="177801" y="14926"/>
                      <a:pt x="162875" y="0"/>
                      <a:pt x="144463" y="0"/>
                    </a:cubicBezTo>
                    <a:cubicBezTo>
                      <a:pt x="104073" y="2202"/>
                      <a:pt x="68986" y="28517"/>
                      <a:pt x="55563" y="66675"/>
                    </a:cubicBezTo>
                    <a:cubicBezTo>
                      <a:pt x="32524" y="67436"/>
                      <a:pt x="11513" y="80043"/>
                      <a:pt x="0" y="100013"/>
                    </a:cubicBezTo>
                  </a:path>
                </a:pathLst>
              </a:custGeom>
              <a:noFill/>
              <a:ln w="22225">
                <a:solidFill>
                  <a:srgbClr val="D82000"/>
                </a:solidFill>
              </a:ln>
            </p:spPr>
          </p:sp>
          <p:sp>
            <p:nvSpPr>
              <p:cNvPr id="52" name="Freeform 52"/>
              <p:cNvSpPr/>
              <p:nvPr/>
            </p:nvSpPr>
            <p:spPr>
              <a:xfrm>
                <a:off x="545765" y="4813300"/>
                <a:ext cx="70185" cy="70185"/>
              </a:xfrm>
              <a:custGeom>
                <a:avLst/>
                <a:gdLst/>
                <a:ahLst/>
                <a:cxnLst/>
                <a:rect l="l" t="t" r="r" b="b"/>
                <a:pathLst>
                  <a:path w="70185" h="70185">
                    <a:moveTo>
                      <a:pt x="36848" y="0"/>
                    </a:moveTo>
                    <a:cubicBezTo>
                      <a:pt x="13188" y="13357"/>
                      <a:pt x="0" y="39734"/>
                      <a:pt x="3510" y="66675"/>
                    </a:cubicBezTo>
                    <a:cubicBezTo>
                      <a:pt x="30452" y="70185"/>
                      <a:pt x="56828" y="56997"/>
                      <a:pt x="70185" y="33338"/>
                    </a:cubicBezTo>
                  </a:path>
                </a:pathLst>
              </a:custGeom>
              <a:noFill/>
              <a:ln w="22225">
                <a:solidFill>
                  <a:srgbClr val="D82000"/>
                </a:solidFill>
              </a:ln>
            </p:spPr>
          </p:sp>
          <p:sp>
            <p:nvSpPr>
              <p:cNvPr id="53" name="Freeform 53"/>
              <p:cNvSpPr/>
              <p:nvPr/>
            </p:nvSpPr>
            <p:spPr>
              <a:xfrm>
                <a:off x="660400" y="4746625"/>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D82000"/>
                </a:solidFill>
              </a:ln>
            </p:spPr>
          </p:sp>
        </p:grpSp>
        <p:sp>
          <p:nvSpPr>
            <p:cNvPr id="55" name="TextBox 55"/>
            <p:cNvSpPr txBox="1"/>
            <p:nvPr/>
          </p:nvSpPr>
          <p:spPr>
            <a:xfrm>
              <a:off x="947738" y="4531995"/>
              <a:ext cx="857631"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营销活动响应率</a:t>
              </a:r>
            </a:p>
          </p:txBody>
        </p:sp>
        <p:sp>
          <p:nvSpPr>
            <p:cNvPr id="56" name="TextBox 56"/>
            <p:cNvSpPr txBox="1"/>
            <p:nvPr/>
          </p:nvSpPr>
          <p:spPr>
            <a:xfrm>
              <a:off x="942213" y="4734401"/>
              <a:ext cx="1019926" cy="396050"/>
            </a:xfrm>
            <a:prstGeom prst="rect">
              <a:avLst/>
            </a:prstGeom>
            <a:noFill/>
            <a:ln>
              <a:noFill/>
            </a:ln>
          </p:spPr>
          <p:txBody>
            <a:bodyPr wrap="none" lIns="0" tIns="0" rIns="0" bIns="0" anchor="t" anchorCtr="0">
              <a:spAutoFit/>
            </a:bodyPr>
            <a:lstStyle/>
            <a:p>
              <a:pPr algn="l"/>
              <a:r>
                <a:rPr lang="zh-CN" sz="2020" b="1" dirty="0">
                  <a:solidFill>
                    <a:srgbClr val="C41D00"/>
                  </a:solidFill>
                  <a:latin typeface="+mn-lt"/>
                  <a:ea typeface="+mn-ea"/>
                  <a:cs typeface="+mn-cs"/>
                </a:rPr>
                <a:t>2.6%​​</a:t>
              </a:r>
            </a:p>
          </p:txBody>
        </p:sp>
        <p:sp>
          <p:nvSpPr>
            <p:cNvPr id="57" name="TextBox 57"/>
            <p:cNvSpPr txBox="1"/>
            <p:nvPr/>
          </p:nvSpPr>
          <p:spPr>
            <a:xfrm>
              <a:off x="1862138" y="4681538"/>
              <a:ext cx="312420"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较上年</a:t>
              </a:r>
            </a:p>
          </p:txBody>
        </p:sp>
        <p:sp>
          <p:nvSpPr>
            <p:cNvPr id="58" name="TextBox 58"/>
            <p:cNvSpPr txBox="1"/>
            <p:nvPr/>
          </p:nvSpPr>
          <p:spPr>
            <a:xfrm>
              <a:off x="1862138" y="4859893"/>
              <a:ext cx="580866" cy="169069"/>
            </a:xfrm>
            <a:prstGeom prst="rect">
              <a:avLst/>
            </a:prstGeom>
            <a:noFill/>
            <a:ln>
              <a:noFill/>
            </a:ln>
          </p:spPr>
          <p:txBody>
            <a:bodyPr wrap="none" lIns="0" tIns="0" rIns="0" bIns="0" anchor="t" anchorCtr="0">
              <a:spAutoFit/>
            </a:bodyPr>
            <a:lstStyle/>
            <a:p>
              <a:pPr algn="l"/>
              <a:r>
                <a:rPr lang="en-US" sz="860" b="1" dirty="0">
                  <a:solidFill>
                    <a:srgbClr val="D82000"/>
                  </a:solidFill>
                  <a:latin typeface="+mn-lt"/>
                  <a:ea typeface="+mn-ea"/>
                  <a:cs typeface="+mn-cs"/>
                </a:rPr>
                <a:t>▼ 0.7pp​​</a:t>
              </a:r>
            </a:p>
          </p:txBody>
        </p:sp>
        <p:sp>
          <p:nvSpPr>
            <p:cNvPr id="59" name="TextBox 59"/>
            <p:cNvSpPr txBox="1"/>
            <p:nvPr/>
          </p:nvSpPr>
          <p:spPr>
            <a:xfrm>
              <a:off x="947738" y="5104686"/>
              <a:ext cx="134764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触达客户中产生任一互动的占比</a:t>
              </a:r>
            </a:p>
          </p:txBody>
        </p:sp>
        <p:sp>
          <p:nvSpPr>
            <p:cNvPr id="60" name="Rectangle 60"/>
            <p:cNvSpPr/>
            <p:nvPr/>
          </p:nvSpPr>
          <p:spPr>
            <a:xfrm>
              <a:off x="342900" y="5524500"/>
              <a:ext cx="2286000" cy="1104900"/>
            </a:xfrm>
            <a:prstGeom prst="roundRect">
              <a:avLst>
                <a:gd name="adj" fmla="val 3448"/>
              </a:avLst>
            </a:prstGeom>
            <a:solidFill>
              <a:srgbClr val="FFF8F2"/>
            </a:solidFill>
            <a:ln w="9525">
              <a:solidFill>
                <a:srgbClr val="F0B8AE"/>
              </a:solidFill>
            </a:ln>
          </p:spPr>
        </p:sp>
        <p:sp>
          <p:nvSpPr>
            <p:cNvPr id="61" name="Rectangle 61"/>
            <p:cNvSpPr/>
            <p:nvPr/>
          </p:nvSpPr>
          <p:spPr>
            <a:xfrm>
              <a:off x="419100" y="5715000"/>
              <a:ext cx="438150" cy="438150"/>
            </a:xfrm>
            <a:prstGeom prst="roundRect">
              <a:avLst>
                <a:gd name="adj" fmla="val 13043"/>
              </a:avLst>
            </a:prstGeom>
            <a:solidFill>
              <a:srgbClr val="FFFFFF"/>
            </a:solidFill>
            <a:ln w="9525">
              <a:solidFill>
                <a:srgbClr val="F0B8AE"/>
              </a:solidFill>
            </a:ln>
          </p:spPr>
        </p:sp>
        <p:sp>
          <p:nvSpPr>
            <p:cNvPr id="62" name="Freeform 62"/>
            <p:cNvSpPr/>
            <p:nvPr/>
          </p:nvSpPr>
          <p:spPr>
            <a:xfrm>
              <a:off x="526783" y="5836563"/>
              <a:ext cx="221851" cy="196658"/>
            </a:xfrm>
            <a:custGeom>
              <a:avLst/>
              <a:gdLst/>
              <a:ahLst/>
              <a:cxnLst/>
              <a:rect l="l" t="t" r="r" b="b"/>
              <a:pathLst>
                <a:path w="221851" h="196658">
                  <a:moveTo>
                    <a:pt x="11379" y="186413"/>
                  </a:moveTo>
                  <a:lnTo>
                    <a:pt x="25826" y="143074"/>
                  </a:lnTo>
                  <a:cubicBezTo>
                    <a:pt x="0" y="104880"/>
                    <a:pt x="9979" y="55596"/>
                    <a:pt x="49162" y="27792"/>
                  </a:cubicBezTo>
                  <a:cubicBezTo>
                    <a:pt x="88345" y="0"/>
                    <a:pt x="144618" y="2278"/>
                    <a:pt x="180790" y="33126"/>
                  </a:cubicBezTo>
                  <a:cubicBezTo>
                    <a:pt x="216961" y="63986"/>
                    <a:pt x="221851" y="113870"/>
                    <a:pt x="192225" y="149819"/>
                  </a:cubicBezTo>
                  <a:cubicBezTo>
                    <a:pt x="162599" y="185768"/>
                    <a:pt x="107603" y="196658"/>
                    <a:pt x="63608" y="175300"/>
                  </a:cubicBezTo>
                  <a:lnTo>
                    <a:pt x="11379" y="186413"/>
                  </a:lnTo>
                </a:path>
              </a:pathLst>
            </a:custGeom>
            <a:noFill/>
            <a:ln w="22225">
              <a:solidFill>
                <a:srgbClr val="D82000"/>
              </a:solidFill>
            </a:ln>
          </p:spPr>
        </p:sp>
        <p:sp>
          <p:nvSpPr>
            <p:cNvPr id="63" name="TextBox 63"/>
            <p:cNvSpPr txBox="1"/>
            <p:nvPr/>
          </p:nvSpPr>
          <p:spPr>
            <a:xfrm>
              <a:off x="947738" y="5674995"/>
              <a:ext cx="857631"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投诉重复发生率</a:t>
              </a:r>
            </a:p>
          </p:txBody>
        </p:sp>
        <p:sp>
          <p:nvSpPr>
            <p:cNvPr id="64" name="TextBox 64"/>
            <p:cNvSpPr txBox="1"/>
            <p:nvPr/>
          </p:nvSpPr>
          <p:spPr>
            <a:xfrm>
              <a:off x="942213" y="5877401"/>
              <a:ext cx="862885" cy="396050"/>
            </a:xfrm>
            <a:prstGeom prst="rect">
              <a:avLst/>
            </a:prstGeom>
            <a:noFill/>
            <a:ln>
              <a:noFill/>
            </a:ln>
          </p:spPr>
          <p:txBody>
            <a:bodyPr wrap="none" lIns="0" tIns="0" rIns="0" bIns="0" anchor="t" anchorCtr="0">
              <a:spAutoFit/>
            </a:bodyPr>
            <a:lstStyle/>
            <a:p>
              <a:pPr algn="l"/>
              <a:r>
                <a:rPr lang="zh-CN" sz="2020" b="1" dirty="0">
                  <a:solidFill>
                    <a:srgbClr val="C41D00"/>
                  </a:solidFill>
                  <a:latin typeface="+mn-lt"/>
                  <a:ea typeface="+mn-ea"/>
                  <a:cs typeface="+mn-cs"/>
                </a:rPr>
                <a:t>12%​​</a:t>
              </a:r>
            </a:p>
          </p:txBody>
        </p:sp>
        <p:sp>
          <p:nvSpPr>
            <p:cNvPr id="65" name="TextBox 65"/>
            <p:cNvSpPr txBox="1"/>
            <p:nvPr/>
          </p:nvSpPr>
          <p:spPr>
            <a:xfrm>
              <a:off x="1862138" y="5824538"/>
              <a:ext cx="312420"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较上年</a:t>
              </a:r>
            </a:p>
          </p:txBody>
        </p:sp>
        <p:sp>
          <p:nvSpPr>
            <p:cNvPr id="66" name="TextBox 66"/>
            <p:cNvSpPr txBox="1"/>
            <p:nvPr/>
          </p:nvSpPr>
          <p:spPr>
            <a:xfrm>
              <a:off x="1862138" y="6002893"/>
              <a:ext cx="580866" cy="169069"/>
            </a:xfrm>
            <a:prstGeom prst="rect">
              <a:avLst/>
            </a:prstGeom>
            <a:noFill/>
            <a:ln>
              <a:noFill/>
            </a:ln>
          </p:spPr>
          <p:txBody>
            <a:bodyPr wrap="none" lIns="0" tIns="0" rIns="0" bIns="0" anchor="t" anchorCtr="0">
              <a:spAutoFit/>
            </a:bodyPr>
            <a:lstStyle/>
            <a:p>
              <a:pPr algn="l"/>
              <a:r>
                <a:rPr lang="en-US" sz="860" b="1" dirty="0">
                  <a:solidFill>
                    <a:srgbClr val="D82000"/>
                  </a:solidFill>
                  <a:latin typeface="+mn-lt"/>
                  <a:ea typeface="+mn-ea"/>
                  <a:cs typeface="+mn-cs"/>
                </a:rPr>
                <a:t>▲ 2.3pp​​</a:t>
              </a:r>
            </a:p>
          </p:txBody>
        </p:sp>
        <p:sp>
          <p:nvSpPr>
            <p:cNvPr id="67" name="TextBox 67"/>
            <p:cNvSpPr txBox="1"/>
            <p:nvPr/>
          </p:nvSpPr>
          <p:spPr>
            <a:xfrm>
              <a:off x="947738" y="6247686"/>
              <a:ext cx="1366764"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同一客户30天内重复投诉占比​​</a:t>
              </a:r>
            </a:p>
          </p:txBody>
        </p:sp>
      </p:grpSp>
      <p:grpSp>
        <p:nvGrpSpPr>
          <p:cNvPr id="146" name="problem-tree"/>
          <p:cNvGrpSpPr/>
          <p:nvPr/>
        </p:nvGrpSpPr>
        <p:grpSpPr>
          <a:xfrm>
            <a:off x="2686050" y="666750"/>
            <a:ext cx="5334000" cy="6038850"/>
            <a:chOff x="2686050" y="666750"/>
            <a:chExt cx="5334000" cy="6038850"/>
          </a:xfrm>
        </p:grpSpPr>
        <p:sp>
          <p:nvSpPr>
            <p:cNvPr id="69" name="Rectangle 69"/>
            <p:cNvSpPr/>
            <p:nvPr/>
          </p:nvSpPr>
          <p:spPr>
            <a:xfrm>
              <a:off x="2686050" y="666750"/>
              <a:ext cx="5334000" cy="228600"/>
            </a:xfrm>
            <a:prstGeom prst="roundRect">
              <a:avLst>
                <a:gd name="adj" fmla="val 12500"/>
              </a:avLst>
            </a:prstGeom>
            <a:solidFill>
              <a:srgbClr val="C41D00"/>
            </a:solidFill>
            <a:ln>
              <a:noFill/>
            </a:ln>
          </p:spPr>
        </p:sp>
        <p:sp>
          <p:nvSpPr>
            <p:cNvPr id="70" name="TextBox 70"/>
            <p:cNvSpPr txBox="1"/>
            <p:nvPr/>
          </p:nvSpPr>
          <p:spPr>
            <a:xfrm>
              <a:off x="4146131" y="727472"/>
              <a:ext cx="2413838"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核心问题树：客户价值转化不足的四类断点</a:t>
              </a:r>
            </a:p>
          </p:txBody>
        </p:sp>
        <p:sp>
          <p:nvSpPr>
            <p:cNvPr id="71" name="Rectangle 71"/>
            <p:cNvSpPr/>
            <p:nvPr/>
          </p:nvSpPr>
          <p:spPr>
            <a:xfrm>
              <a:off x="2686050" y="952500"/>
              <a:ext cx="5334000" cy="5753100"/>
            </a:xfrm>
            <a:prstGeom prst="roundRect">
              <a:avLst>
                <a:gd name="adj" fmla="val 714"/>
              </a:avLst>
            </a:prstGeom>
            <a:solidFill>
              <a:srgbClr val="FFFFFF"/>
            </a:solidFill>
            <a:ln w="9525">
              <a:solidFill>
                <a:srgbClr val="F0B8AE"/>
              </a:solidFill>
            </a:ln>
          </p:spPr>
        </p:sp>
        <p:sp>
          <p:nvSpPr>
            <p:cNvPr id="72" name="Rectangle 72"/>
            <p:cNvSpPr/>
            <p:nvPr/>
          </p:nvSpPr>
          <p:spPr>
            <a:xfrm>
              <a:off x="3924300" y="1009650"/>
              <a:ext cx="2857500" cy="438150"/>
            </a:xfrm>
            <a:prstGeom prst="roundRect">
              <a:avLst>
                <a:gd name="adj" fmla="val 10870"/>
              </a:avLst>
            </a:prstGeom>
            <a:gradFill>
              <a:gsLst>
                <a:gs pos="0">
                  <a:srgbClr val="8F1C08"/>
                </a:gs>
                <a:gs pos="100000">
                  <a:srgbClr val="D82000"/>
                </a:gs>
              </a:gsLst>
              <a:lin ang="0" scaled="1"/>
            </a:gradFill>
            <a:ln>
              <a:noFill/>
            </a:ln>
          </p:spPr>
        </p:sp>
        <p:grpSp>
          <p:nvGrpSpPr>
            <p:cNvPr id="76" name="Group 76"/>
            <p:cNvGrpSpPr/>
            <p:nvPr/>
          </p:nvGrpSpPr>
          <p:grpSpPr>
            <a:xfrm>
              <a:off x="4314825" y="1128713"/>
              <a:ext cx="166688" cy="200025"/>
              <a:chOff x="4314825" y="1128713"/>
              <a:chExt cx="166688" cy="200025"/>
            </a:xfrm>
          </p:grpSpPr>
          <p:sp>
            <p:nvSpPr>
              <p:cNvPr id="73" name="Freeform 73"/>
              <p:cNvSpPr/>
              <p:nvPr/>
            </p:nvSpPr>
            <p:spPr>
              <a:xfrm>
                <a:off x="4337050" y="112871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74" name="Freeform 74"/>
              <p:cNvSpPr/>
              <p:nvPr/>
            </p:nvSpPr>
            <p:spPr>
              <a:xfrm>
                <a:off x="4314825" y="1262063"/>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FFFFFF"/>
                </a:solidFill>
              </a:ln>
            </p:spPr>
          </p:sp>
          <p:sp>
            <p:nvSpPr>
              <p:cNvPr id="75" name="Freeform 75"/>
              <p:cNvSpPr/>
              <p:nvPr/>
            </p:nvSpPr>
            <p:spPr>
              <a:xfrm>
                <a:off x="4414838" y="1284288"/>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77" name="TextBox 77"/>
            <p:cNvSpPr txBox="1"/>
            <p:nvPr/>
          </p:nvSpPr>
          <p:spPr>
            <a:xfrm>
              <a:off x="4828769" y="1157764"/>
              <a:ext cx="1391463"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客户价值转化不足</a:t>
              </a:r>
            </a:p>
          </p:txBody>
        </p:sp>
        <p:sp>
          <p:nvSpPr>
            <p:cNvPr id="78" name="Line 78"/>
            <p:cNvSpPr/>
            <p:nvPr/>
          </p:nvSpPr>
          <p:spPr>
            <a:xfrm>
              <a:off x="5353050" y="1447800"/>
              <a:ext cx="9525" cy="171450"/>
            </a:xfrm>
            <a:custGeom>
              <a:avLst/>
              <a:gdLst/>
              <a:ahLst/>
              <a:cxnLst/>
              <a:rect l="l" t="t" r="r" b="b"/>
              <a:pathLst>
                <a:path w="9525" h="171450">
                  <a:moveTo>
                    <a:pt x="0" y="0"/>
                  </a:moveTo>
                  <a:lnTo>
                    <a:pt x="0" y="171450"/>
                  </a:lnTo>
                </a:path>
              </a:pathLst>
            </a:custGeom>
            <a:noFill/>
            <a:ln w="14288">
              <a:solidFill>
                <a:srgbClr val="C41D00"/>
              </a:solidFill>
            </a:ln>
          </p:spPr>
        </p:sp>
        <p:sp>
          <p:nvSpPr>
            <p:cNvPr id="79" name="Line 79"/>
            <p:cNvSpPr/>
            <p:nvPr/>
          </p:nvSpPr>
          <p:spPr>
            <a:xfrm>
              <a:off x="3362325" y="1619250"/>
              <a:ext cx="3981450" cy="9525"/>
            </a:xfrm>
            <a:custGeom>
              <a:avLst/>
              <a:gdLst/>
              <a:ahLst/>
              <a:cxnLst/>
              <a:rect l="l" t="t" r="r" b="b"/>
              <a:pathLst>
                <a:path w="3981450" h="9525">
                  <a:moveTo>
                    <a:pt x="0" y="0"/>
                  </a:moveTo>
                  <a:lnTo>
                    <a:pt x="3981450" y="0"/>
                  </a:lnTo>
                </a:path>
              </a:pathLst>
            </a:custGeom>
            <a:noFill/>
            <a:ln w="14288">
              <a:solidFill>
                <a:srgbClr val="C41D00"/>
              </a:solidFill>
            </a:ln>
          </p:spPr>
        </p:sp>
        <p:sp>
          <p:nvSpPr>
            <p:cNvPr id="80" name="Line 80"/>
            <p:cNvSpPr/>
            <p:nvPr/>
          </p:nvSpPr>
          <p:spPr>
            <a:xfrm>
              <a:off x="3362325" y="1619250"/>
              <a:ext cx="9525" cy="209550"/>
            </a:xfrm>
            <a:custGeom>
              <a:avLst/>
              <a:gdLst/>
              <a:ahLst/>
              <a:cxnLst/>
              <a:rect l="l" t="t" r="r" b="b"/>
              <a:pathLst>
                <a:path w="9525" h="209550">
                  <a:moveTo>
                    <a:pt x="0" y="0"/>
                  </a:moveTo>
                  <a:lnTo>
                    <a:pt x="0" y="209550"/>
                  </a:lnTo>
                </a:path>
              </a:pathLst>
            </a:custGeom>
            <a:noFill/>
            <a:ln w="14288">
              <a:solidFill>
                <a:srgbClr val="C41D00"/>
              </a:solidFill>
            </a:ln>
          </p:spPr>
        </p:sp>
        <p:sp>
          <p:nvSpPr>
            <p:cNvPr id="81" name="Line 81"/>
            <p:cNvSpPr/>
            <p:nvPr/>
          </p:nvSpPr>
          <p:spPr>
            <a:xfrm>
              <a:off x="4686300" y="1619250"/>
              <a:ext cx="9525" cy="209550"/>
            </a:xfrm>
            <a:custGeom>
              <a:avLst/>
              <a:gdLst/>
              <a:ahLst/>
              <a:cxnLst/>
              <a:rect l="l" t="t" r="r" b="b"/>
              <a:pathLst>
                <a:path w="9525" h="209550">
                  <a:moveTo>
                    <a:pt x="0" y="0"/>
                  </a:moveTo>
                  <a:lnTo>
                    <a:pt x="0" y="209550"/>
                  </a:lnTo>
                </a:path>
              </a:pathLst>
            </a:custGeom>
            <a:noFill/>
            <a:ln w="14288">
              <a:solidFill>
                <a:srgbClr val="C41D00"/>
              </a:solidFill>
            </a:ln>
          </p:spPr>
        </p:sp>
        <p:sp>
          <p:nvSpPr>
            <p:cNvPr id="82" name="Line 82"/>
            <p:cNvSpPr/>
            <p:nvPr/>
          </p:nvSpPr>
          <p:spPr>
            <a:xfrm>
              <a:off x="6019800" y="1619250"/>
              <a:ext cx="9525" cy="209550"/>
            </a:xfrm>
            <a:custGeom>
              <a:avLst/>
              <a:gdLst/>
              <a:ahLst/>
              <a:cxnLst/>
              <a:rect l="l" t="t" r="r" b="b"/>
              <a:pathLst>
                <a:path w="9525" h="209550">
                  <a:moveTo>
                    <a:pt x="0" y="0"/>
                  </a:moveTo>
                  <a:lnTo>
                    <a:pt x="0" y="209550"/>
                  </a:lnTo>
                </a:path>
              </a:pathLst>
            </a:custGeom>
            <a:noFill/>
            <a:ln w="14288">
              <a:solidFill>
                <a:srgbClr val="C41D00"/>
              </a:solidFill>
            </a:ln>
          </p:spPr>
        </p:sp>
        <p:sp>
          <p:nvSpPr>
            <p:cNvPr id="83" name="Line 83"/>
            <p:cNvSpPr/>
            <p:nvPr/>
          </p:nvSpPr>
          <p:spPr>
            <a:xfrm>
              <a:off x="7343775" y="1619250"/>
              <a:ext cx="9525" cy="209550"/>
            </a:xfrm>
            <a:custGeom>
              <a:avLst/>
              <a:gdLst/>
              <a:ahLst/>
              <a:cxnLst/>
              <a:rect l="l" t="t" r="r" b="b"/>
              <a:pathLst>
                <a:path w="9525" h="209550">
                  <a:moveTo>
                    <a:pt x="0" y="0"/>
                  </a:moveTo>
                  <a:lnTo>
                    <a:pt x="0" y="209550"/>
                  </a:lnTo>
                </a:path>
              </a:pathLst>
            </a:custGeom>
            <a:noFill/>
            <a:ln w="14288">
              <a:solidFill>
                <a:srgbClr val="C41D00"/>
              </a:solidFill>
            </a:ln>
          </p:spPr>
        </p:sp>
        <p:sp>
          <p:nvSpPr>
            <p:cNvPr id="84" name="Ellipse 84"/>
            <p:cNvSpPr/>
            <p:nvPr/>
          </p:nvSpPr>
          <p:spPr>
            <a:xfrm>
              <a:off x="3152775" y="1828800"/>
              <a:ext cx="419100" cy="419100"/>
            </a:xfrm>
            <a:prstGeom prst="ellipse">
              <a:avLst/>
            </a:prstGeom>
            <a:solidFill>
              <a:srgbClr val="FFFFFF"/>
            </a:solidFill>
            <a:ln w="14288">
              <a:solidFill>
                <a:srgbClr val="EE492C"/>
              </a:solidFill>
            </a:ln>
          </p:spPr>
        </p:sp>
        <p:grpSp>
          <p:nvGrpSpPr>
            <p:cNvPr id="87" name="Group 87"/>
            <p:cNvGrpSpPr/>
            <p:nvPr/>
          </p:nvGrpSpPr>
          <p:grpSpPr>
            <a:xfrm>
              <a:off x="3269456" y="1945481"/>
              <a:ext cx="185737" cy="185737"/>
              <a:chOff x="3269456" y="1945481"/>
              <a:chExt cx="185737" cy="185737"/>
            </a:xfrm>
          </p:grpSpPr>
          <p:sp>
            <p:nvSpPr>
              <p:cNvPr id="85" name="Freeform 85"/>
              <p:cNvSpPr/>
              <p:nvPr/>
            </p:nvSpPr>
            <p:spPr>
              <a:xfrm>
                <a:off x="3269456" y="1945481"/>
                <a:ext cx="144462" cy="144462"/>
              </a:xfrm>
              <a:custGeom>
                <a:avLst/>
                <a:gdLst/>
                <a:ahLst/>
                <a:cxnLst/>
                <a:rect l="l" t="t" r="r" b="b"/>
                <a:pathLst>
                  <a:path w="144462" h="144462">
                    <a:moveTo>
                      <a:pt x="0" y="72231"/>
                    </a:moveTo>
                    <a:cubicBezTo>
                      <a:pt x="0" y="112123"/>
                      <a:pt x="32339" y="144462"/>
                      <a:pt x="72231" y="144462"/>
                    </a:cubicBezTo>
                    <a:cubicBezTo>
                      <a:pt x="112123" y="144462"/>
                      <a:pt x="144462" y="112123"/>
                      <a:pt x="144462" y="72231"/>
                    </a:cubicBezTo>
                    <a:cubicBezTo>
                      <a:pt x="144462" y="32339"/>
                      <a:pt x="112123" y="0"/>
                      <a:pt x="72231" y="0"/>
                    </a:cubicBezTo>
                    <a:cubicBezTo>
                      <a:pt x="32339" y="0"/>
                      <a:pt x="0" y="32339"/>
                      <a:pt x="0" y="72231"/>
                    </a:cubicBezTo>
                  </a:path>
                </a:pathLst>
              </a:custGeom>
              <a:noFill/>
              <a:ln w="20637">
                <a:solidFill>
                  <a:srgbClr val="D82000"/>
                </a:solidFill>
              </a:ln>
            </p:spPr>
          </p:sp>
          <p:sp>
            <p:nvSpPr>
              <p:cNvPr id="86" name="Freeform 86"/>
              <p:cNvSpPr/>
              <p:nvPr/>
            </p:nvSpPr>
            <p:spPr>
              <a:xfrm>
                <a:off x="3393281" y="2069306"/>
                <a:ext cx="61912" cy="61912"/>
              </a:xfrm>
              <a:custGeom>
                <a:avLst/>
                <a:gdLst/>
                <a:ahLst/>
                <a:cxnLst/>
                <a:rect l="l" t="t" r="r" b="b"/>
                <a:pathLst>
                  <a:path w="61912" h="61912">
                    <a:moveTo>
                      <a:pt x="61912" y="61912"/>
                    </a:moveTo>
                    <a:lnTo>
                      <a:pt x="0" y="0"/>
                    </a:lnTo>
                  </a:path>
                </a:pathLst>
              </a:custGeom>
              <a:noFill/>
              <a:ln w="20637">
                <a:solidFill>
                  <a:srgbClr val="D82000"/>
                </a:solidFill>
              </a:ln>
            </p:spPr>
          </p:sp>
        </p:grpSp>
        <p:sp>
          <p:nvSpPr>
            <p:cNvPr id="88" name="Rectangle 88"/>
            <p:cNvSpPr/>
            <p:nvPr/>
          </p:nvSpPr>
          <p:spPr>
            <a:xfrm>
              <a:off x="2762250" y="2343150"/>
              <a:ext cx="1200150" cy="285750"/>
            </a:xfrm>
            <a:prstGeom prst="roundRect">
              <a:avLst>
                <a:gd name="adj" fmla="val 13333"/>
              </a:avLst>
            </a:prstGeom>
            <a:solidFill>
              <a:srgbClr val="5A1E14"/>
            </a:solidFill>
            <a:ln>
              <a:noFill/>
            </a:ln>
          </p:spPr>
        </p:sp>
        <p:sp>
          <p:nvSpPr>
            <p:cNvPr id="89" name="TextBox 89"/>
            <p:cNvSpPr txBox="1"/>
            <p:nvPr/>
          </p:nvSpPr>
          <p:spPr>
            <a:xfrm>
              <a:off x="2977934" y="243244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客户识别断点</a:t>
              </a:r>
            </a:p>
          </p:txBody>
        </p:sp>
        <p:sp>
          <p:nvSpPr>
            <p:cNvPr id="90" name="TextBox 90"/>
            <p:cNvSpPr txBox="1"/>
            <p:nvPr/>
          </p:nvSpPr>
          <p:spPr>
            <a:xfrm>
              <a:off x="2831871" y="2723436"/>
              <a:ext cx="1060907" cy="140494"/>
            </a:xfrm>
            <a:prstGeom prst="rect">
              <a:avLst/>
            </a:prstGeom>
            <a:noFill/>
            <a:ln>
              <a:noFill/>
            </a:ln>
          </p:spPr>
          <p:txBody>
            <a:bodyPr wrap="none" lIns="0" tIns="0" rIns="0" bIns="0" anchor="t" anchorCtr="0">
              <a:spAutoFit/>
            </a:bodyPr>
            <a:lstStyle/>
            <a:p>
              <a:pPr algn="ctr"/>
              <a:r>
                <a:rPr lang="zh-CN" sz="710" dirty="0">
                  <a:solidFill>
                    <a:srgbClr val="D82000"/>
                  </a:solidFill>
                  <a:latin typeface="+mn-lt"/>
                  <a:ea typeface="+mn-ea"/>
                  <a:cs typeface="+mn-cs"/>
                </a:rPr>
                <a:t>识不全、看不清、触不准</a:t>
              </a:r>
            </a:p>
          </p:txBody>
        </p:sp>
        <p:sp>
          <p:nvSpPr>
            <p:cNvPr id="91" name="Rectangle 91"/>
            <p:cNvSpPr/>
            <p:nvPr/>
          </p:nvSpPr>
          <p:spPr>
            <a:xfrm>
              <a:off x="2762250" y="2914650"/>
              <a:ext cx="1200150" cy="838200"/>
            </a:xfrm>
            <a:prstGeom prst="roundRect">
              <a:avLst>
                <a:gd name="adj" fmla="val 4545"/>
              </a:avLst>
            </a:prstGeom>
            <a:solidFill>
              <a:srgbClr val="FEF2E6"/>
            </a:solidFill>
            <a:ln>
              <a:noFill/>
            </a:ln>
          </p:spPr>
        </p:sp>
        <p:sp>
          <p:nvSpPr>
            <p:cNvPr id="92" name="TextBox 92"/>
            <p:cNvSpPr txBox="1"/>
            <p:nvPr/>
          </p:nvSpPr>
          <p:spPr>
            <a:xfrm>
              <a:off x="2993072" y="32065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客户分群粗放</a:t>
              </a:r>
              <a:br/>
              <a:r>
                <a:rPr lang="zh-CN" sz="820" dirty="0">
                  <a:solidFill>
                    <a:srgbClr val="3D3835"/>
                  </a:solidFill>
                  <a:latin typeface="+mn-lt"/>
                  <a:ea typeface="+mn-ea"/>
                  <a:cs typeface="+mn-cs"/>
                </a:rPr>
                <a:t>价值识别不精准</a:t>
              </a:r>
            </a:p>
          </p:txBody>
        </p:sp>
        <p:sp>
          <p:nvSpPr>
            <p:cNvPr id="93" name="Rectangle 93"/>
            <p:cNvSpPr/>
            <p:nvPr/>
          </p:nvSpPr>
          <p:spPr>
            <a:xfrm>
              <a:off x="2762250" y="3829050"/>
              <a:ext cx="1200150" cy="838200"/>
            </a:xfrm>
            <a:prstGeom prst="roundRect">
              <a:avLst>
                <a:gd name="adj" fmla="val 4545"/>
              </a:avLst>
            </a:prstGeom>
            <a:solidFill>
              <a:srgbClr val="FEF2E6"/>
            </a:solidFill>
            <a:ln>
              <a:noFill/>
            </a:ln>
          </p:spPr>
        </p:sp>
        <p:sp>
          <p:nvSpPr>
            <p:cNvPr id="94" name="TextBox 94"/>
            <p:cNvSpPr txBox="1"/>
            <p:nvPr/>
          </p:nvSpPr>
          <p:spPr>
            <a:xfrm>
              <a:off x="2993072" y="41209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需求洞察不足</a:t>
              </a:r>
              <a:br/>
              <a:r>
                <a:rPr lang="zh-CN" sz="820" dirty="0">
                  <a:solidFill>
                    <a:srgbClr val="3D3835"/>
                  </a:solidFill>
                  <a:latin typeface="+mn-lt"/>
                  <a:ea typeface="+mn-ea"/>
                  <a:cs typeface="+mn-cs"/>
                </a:rPr>
                <a:t>潜在机会识别弱</a:t>
              </a:r>
            </a:p>
          </p:txBody>
        </p:sp>
        <p:sp>
          <p:nvSpPr>
            <p:cNvPr id="95" name="Rectangle 95"/>
            <p:cNvSpPr/>
            <p:nvPr/>
          </p:nvSpPr>
          <p:spPr>
            <a:xfrm>
              <a:off x="2762250" y="4743450"/>
              <a:ext cx="1200150" cy="838200"/>
            </a:xfrm>
            <a:prstGeom prst="roundRect">
              <a:avLst>
                <a:gd name="adj" fmla="val 4545"/>
              </a:avLst>
            </a:prstGeom>
            <a:solidFill>
              <a:srgbClr val="FEF2E6"/>
            </a:solidFill>
            <a:ln>
              <a:noFill/>
            </a:ln>
          </p:spPr>
        </p:sp>
        <p:sp>
          <p:nvSpPr>
            <p:cNvPr id="96" name="TextBox 96"/>
            <p:cNvSpPr txBox="1"/>
            <p:nvPr/>
          </p:nvSpPr>
          <p:spPr>
            <a:xfrm>
              <a:off x="2993072" y="50353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标签体系不完善</a:t>
              </a:r>
              <a:br/>
              <a:r>
                <a:rPr lang="zh-CN" sz="820" dirty="0">
                  <a:solidFill>
                    <a:srgbClr val="3D3835"/>
                  </a:solidFill>
                  <a:latin typeface="+mn-lt"/>
                  <a:ea typeface="+mn-ea"/>
                  <a:cs typeface="+mn-cs"/>
                </a:rPr>
                <a:t>关键特征缺失</a:t>
              </a:r>
            </a:p>
          </p:txBody>
        </p:sp>
        <p:sp>
          <p:nvSpPr>
            <p:cNvPr id="97" name="Rectangle 97"/>
            <p:cNvSpPr/>
            <p:nvPr/>
          </p:nvSpPr>
          <p:spPr>
            <a:xfrm>
              <a:off x="2762250" y="5657850"/>
              <a:ext cx="1200150" cy="838200"/>
            </a:xfrm>
            <a:prstGeom prst="roundRect">
              <a:avLst>
                <a:gd name="adj" fmla="val 4545"/>
              </a:avLst>
            </a:prstGeom>
            <a:solidFill>
              <a:srgbClr val="FEF2E6"/>
            </a:solidFill>
            <a:ln>
              <a:noFill/>
            </a:ln>
          </p:spPr>
        </p:sp>
        <p:sp>
          <p:nvSpPr>
            <p:cNvPr id="98" name="TextBox 98"/>
            <p:cNvSpPr txBox="1"/>
            <p:nvPr/>
          </p:nvSpPr>
          <p:spPr>
            <a:xfrm>
              <a:off x="3045142" y="5949791"/>
              <a:ext cx="63436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名单质量不高</a:t>
              </a:r>
              <a:br/>
              <a:r>
                <a:rPr lang="zh-CN" sz="820" dirty="0">
                  <a:solidFill>
                    <a:srgbClr val="3D3835"/>
                  </a:solidFill>
                  <a:latin typeface="+mn-lt"/>
                  <a:ea typeface="+mn-ea"/>
                  <a:cs typeface="+mn-cs"/>
                </a:rPr>
                <a:t>触达资源浪费</a:t>
              </a:r>
            </a:p>
          </p:txBody>
        </p:sp>
        <p:sp>
          <p:nvSpPr>
            <p:cNvPr id="99" name="Ellipse 99"/>
            <p:cNvSpPr/>
            <p:nvPr/>
          </p:nvSpPr>
          <p:spPr>
            <a:xfrm>
              <a:off x="4476750" y="1828800"/>
              <a:ext cx="419100" cy="419100"/>
            </a:xfrm>
            <a:prstGeom prst="ellipse">
              <a:avLst/>
            </a:prstGeom>
            <a:solidFill>
              <a:srgbClr val="FFFFFF"/>
            </a:solidFill>
            <a:ln w="14288">
              <a:solidFill>
                <a:srgbClr val="EE492C"/>
              </a:solidFill>
            </a:ln>
          </p:spPr>
        </p:sp>
        <p:grpSp>
          <p:nvGrpSpPr>
            <p:cNvPr id="103" name="Group 103"/>
            <p:cNvGrpSpPr/>
            <p:nvPr/>
          </p:nvGrpSpPr>
          <p:grpSpPr>
            <a:xfrm>
              <a:off x="4614069" y="1945481"/>
              <a:ext cx="144462" cy="185737"/>
              <a:chOff x="4614069" y="1945481"/>
              <a:chExt cx="144462" cy="185737"/>
            </a:xfrm>
          </p:grpSpPr>
          <p:sp>
            <p:nvSpPr>
              <p:cNvPr id="100" name="Freeform 100"/>
              <p:cNvSpPr/>
              <p:nvPr/>
            </p:nvSpPr>
            <p:spPr>
              <a:xfrm>
                <a:off x="4614069" y="2007393"/>
                <a:ext cx="144462" cy="123825"/>
              </a:xfrm>
              <a:custGeom>
                <a:avLst/>
                <a:gdLst/>
                <a:ahLst/>
                <a:cxnLst/>
                <a:rect l="l" t="t" r="r" b="b"/>
                <a:pathLst>
                  <a:path w="144462" h="123825">
                    <a:moveTo>
                      <a:pt x="30956" y="0"/>
                    </a:moveTo>
                    <a:lnTo>
                      <a:pt x="20637" y="0"/>
                    </a:lnTo>
                    <a:cubicBezTo>
                      <a:pt x="9240" y="0"/>
                      <a:pt x="0" y="9240"/>
                      <a:pt x="0" y="20637"/>
                    </a:cubicBezTo>
                    <a:lnTo>
                      <a:pt x="0" y="103187"/>
                    </a:lnTo>
                    <a:cubicBezTo>
                      <a:pt x="0" y="114585"/>
                      <a:pt x="9240" y="123825"/>
                      <a:pt x="20637" y="123825"/>
                    </a:cubicBezTo>
                    <a:lnTo>
                      <a:pt x="123825" y="123825"/>
                    </a:lnTo>
                    <a:cubicBezTo>
                      <a:pt x="135222" y="123825"/>
                      <a:pt x="144462" y="114585"/>
                      <a:pt x="144462" y="103187"/>
                    </a:cubicBezTo>
                    <a:lnTo>
                      <a:pt x="144462" y="20637"/>
                    </a:lnTo>
                    <a:cubicBezTo>
                      <a:pt x="144462" y="9240"/>
                      <a:pt x="135222" y="0"/>
                      <a:pt x="123825" y="0"/>
                    </a:cubicBezTo>
                    <a:lnTo>
                      <a:pt x="113506" y="0"/>
                    </a:lnTo>
                  </a:path>
                </a:pathLst>
              </a:custGeom>
              <a:noFill/>
              <a:ln w="20637">
                <a:solidFill>
                  <a:srgbClr val="D82000"/>
                </a:solidFill>
              </a:ln>
            </p:spPr>
          </p:sp>
          <p:sp>
            <p:nvSpPr>
              <p:cNvPr id="101" name="Freeform 101"/>
              <p:cNvSpPr/>
              <p:nvPr/>
            </p:nvSpPr>
            <p:spPr>
              <a:xfrm>
                <a:off x="4686300" y="1945481"/>
                <a:ext cx="9525" cy="113506"/>
              </a:xfrm>
              <a:custGeom>
                <a:avLst/>
                <a:gdLst/>
                <a:ahLst/>
                <a:cxnLst/>
                <a:rect l="l" t="t" r="r" b="b"/>
                <a:pathLst>
                  <a:path w="9525" h="113506">
                    <a:moveTo>
                      <a:pt x="0" y="113506"/>
                    </a:moveTo>
                    <a:lnTo>
                      <a:pt x="0" y="0"/>
                    </a:lnTo>
                  </a:path>
                </a:pathLst>
              </a:custGeom>
              <a:noFill/>
              <a:ln w="20637">
                <a:solidFill>
                  <a:srgbClr val="D82000"/>
                </a:solidFill>
              </a:ln>
            </p:spPr>
          </p:sp>
          <p:sp>
            <p:nvSpPr>
              <p:cNvPr id="102" name="Freeform 102"/>
              <p:cNvSpPr/>
              <p:nvPr/>
            </p:nvSpPr>
            <p:spPr>
              <a:xfrm>
                <a:off x="4655343" y="1945481"/>
                <a:ext cx="61912" cy="30956"/>
              </a:xfrm>
              <a:custGeom>
                <a:avLst/>
                <a:gdLst/>
                <a:ahLst/>
                <a:cxnLst/>
                <a:rect l="l" t="t" r="r" b="b"/>
                <a:pathLst>
                  <a:path w="61912" h="30956">
                    <a:moveTo>
                      <a:pt x="0" y="30956"/>
                    </a:moveTo>
                    <a:lnTo>
                      <a:pt x="30956" y="0"/>
                    </a:lnTo>
                    <a:lnTo>
                      <a:pt x="61912" y="30956"/>
                    </a:lnTo>
                  </a:path>
                </a:pathLst>
              </a:custGeom>
              <a:noFill/>
              <a:ln w="20637">
                <a:solidFill>
                  <a:srgbClr val="D82000"/>
                </a:solidFill>
              </a:ln>
            </p:spPr>
          </p:sp>
        </p:grpSp>
        <p:sp>
          <p:nvSpPr>
            <p:cNvPr id="104" name="Rectangle 104"/>
            <p:cNvSpPr/>
            <p:nvPr/>
          </p:nvSpPr>
          <p:spPr>
            <a:xfrm>
              <a:off x="4086225" y="2343150"/>
              <a:ext cx="1200150" cy="285750"/>
            </a:xfrm>
            <a:prstGeom prst="roundRect">
              <a:avLst>
                <a:gd name="adj" fmla="val 13333"/>
              </a:avLst>
            </a:prstGeom>
            <a:solidFill>
              <a:srgbClr val="5A1E14"/>
            </a:solidFill>
            <a:ln>
              <a:noFill/>
            </a:ln>
          </p:spPr>
        </p:sp>
        <p:sp>
          <p:nvSpPr>
            <p:cNvPr id="105" name="TextBox 105"/>
            <p:cNvSpPr txBox="1"/>
            <p:nvPr/>
          </p:nvSpPr>
          <p:spPr>
            <a:xfrm>
              <a:off x="4301909" y="243244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渠道协同断点</a:t>
              </a:r>
            </a:p>
          </p:txBody>
        </p:sp>
        <p:sp>
          <p:nvSpPr>
            <p:cNvPr id="106" name="TextBox 106"/>
            <p:cNvSpPr txBox="1"/>
            <p:nvPr/>
          </p:nvSpPr>
          <p:spPr>
            <a:xfrm>
              <a:off x="4108056" y="2723436"/>
              <a:ext cx="1156487" cy="140494"/>
            </a:xfrm>
            <a:prstGeom prst="rect">
              <a:avLst/>
            </a:prstGeom>
            <a:noFill/>
            <a:ln>
              <a:noFill/>
            </a:ln>
          </p:spPr>
          <p:txBody>
            <a:bodyPr wrap="none" lIns="0" tIns="0" rIns="0" bIns="0" anchor="t" anchorCtr="0">
              <a:spAutoFit/>
            </a:bodyPr>
            <a:lstStyle/>
            <a:p>
              <a:pPr algn="ctr"/>
              <a:r>
                <a:rPr lang="zh-CN" sz="710" dirty="0">
                  <a:solidFill>
                    <a:srgbClr val="D82000"/>
                  </a:solidFill>
                  <a:latin typeface="+mn-lt"/>
                  <a:ea typeface="+mn-ea"/>
                  <a:cs typeface="+mn-cs"/>
                </a:rPr>
                <a:t>各自为战、协同弱、效率低</a:t>
              </a:r>
            </a:p>
          </p:txBody>
        </p:sp>
        <p:sp>
          <p:nvSpPr>
            <p:cNvPr id="107" name="Rectangle 107"/>
            <p:cNvSpPr/>
            <p:nvPr/>
          </p:nvSpPr>
          <p:spPr>
            <a:xfrm>
              <a:off x="4086225" y="2914650"/>
              <a:ext cx="1200150" cy="838200"/>
            </a:xfrm>
            <a:prstGeom prst="roundRect">
              <a:avLst>
                <a:gd name="adj" fmla="val 4545"/>
              </a:avLst>
            </a:prstGeom>
            <a:solidFill>
              <a:srgbClr val="FEF2E6"/>
            </a:solidFill>
            <a:ln>
              <a:noFill/>
            </a:ln>
          </p:spPr>
        </p:sp>
        <p:sp>
          <p:nvSpPr>
            <p:cNvPr id="108" name="TextBox 108"/>
            <p:cNvSpPr txBox="1"/>
            <p:nvPr/>
          </p:nvSpPr>
          <p:spPr>
            <a:xfrm>
              <a:off x="4317048" y="32065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渠道目标不协同</a:t>
              </a:r>
              <a:br/>
              <a:r>
                <a:rPr lang="zh-CN" sz="820" dirty="0">
                  <a:solidFill>
                    <a:srgbClr val="3D3835"/>
                  </a:solidFill>
                  <a:latin typeface="+mn-lt"/>
                  <a:ea typeface="+mn-ea"/>
                  <a:cs typeface="+mn-cs"/>
                </a:rPr>
                <a:t>策略口径不一致</a:t>
              </a:r>
            </a:p>
          </p:txBody>
        </p:sp>
        <p:sp>
          <p:nvSpPr>
            <p:cNvPr id="109" name="Rectangle 109"/>
            <p:cNvSpPr/>
            <p:nvPr/>
          </p:nvSpPr>
          <p:spPr>
            <a:xfrm>
              <a:off x="4086225" y="3829050"/>
              <a:ext cx="1200150" cy="838200"/>
            </a:xfrm>
            <a:prstGeom prst="roundRect">
              <a:avLst>
                <a:gd name="adj" fmla="val 4545"/>
              </a:avLst>
            </a:prstGeom>
            <a:solidFill>
              <a:srgbClr val="FEF2E6"/>
            </a:solidFill>
            <a:ln>
              <a:noFill/>
            </a:ln>
          </p:spPr>
        </p:sp>
        <p:sp>
          <p:nvSpPr>
            <p:cNvPr id="110" name="TextBox 110"/>
            <p:cNvSpPr txBox="1"/>
            <p:nvPr/>
          </p:nvSpPr>
          <p:spPr>
            <a:xfrm>
              <a:off x="4317048" y="41209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客户信息不互通</a:t>
              </a:r>
              <a:br/>
              <a:r>
                <a:rPr lang="zh-CN" sz="820" dirty="0">
                  <a:solidFill>
                    <a:srgbClr val="3D3835"/>
                  </a:solidFill>
                  <a:latin typeface="+mn-lt"/>
                  <a:ea typeface="+mn-ea"/>
                  <a:cs typeface="+mn-cs"/>
                </a:rPr>
                <a:t>重复触达与骚扰</a:t>
              </a:r>
            </a:p>
          </p:txBody>
        </p:sp>
        <p:sp>
          <p:nvSpPr>
            <p:cNvPr id="111" name="Rectangle 111"/>
            <p:cNvSpPr/>
            <p:nvPr/>
          </p:nvSpPr>
          <p:spPr>
            <a:xfrm>
              <a:off x="4086225" y="4743450"/>
              <a:ext cx="1200150" cy="838200"/>
            </a:xfrm>
            <a:prstGeom prst="roundRect">
              <a:avLst>
                <a:gd name="adj" fmla="val 4545"/>
              </a:avLst>
            </a:prstGeom>
            <a:solidFill>
              <a:srgbClr val="FEF2E6"/>
            </a:solidFill>
            <a:ln>
              <a:noFill/>
            </a:ln>
          </p:spPr>
        </p:sp>
        <p:sp>
          <p:nvSpPr>
            <p:cNvPr id="112" name="TextBox 112"/>
            <p:cNvSpPr txBox="1"/>
            <p:nvPr/>
          </p:nvSpPr>
          <p:spPr>
            <a:xfrm>
              <a:off x="4317048" y="50353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资源分配不均衡</a:t>
              </a:r>
              <a:br/>
              <a:r>
                <a:rPr lang="zh-CN" sz="820" dirty="0">
                  <a:solidFill>
                    <a:srgbClr val="3D3835"/>
                  </a:solidFill>
                  <a:latin typeface="+mn-lt"/>
                  <a:ea typeface="+mn-ea"/>
                  <a:cs typeface="+mn-cs"/>
                </a:rPr>
                <a:t>重点客户覆盖弱</a:t>
              </a:r>
            </a:p>
          </p:txBody>
        </p:sp>
        <p:sp>
          <p:nvSpPr>
            <p:cNvPr id="113" name="Rectangle 113"/>
            <p:cNvSpPr/>
            <p:nvPr/>
          </p:nvSpPr>
          <p:spPr>
            <a:xfrm>
              <a:off x="4086225" y="5657850"/>
              <a:ext cx="1200150" cy="838200"/>
            </a:xfrm>
            <a:prstGeom prst="roundRect">
              <a:avLst>
                <a:gd name="adj" fmla="val 4545"/>
              </a:avLst>
            </a:prstGeom>
            <a:solidFill>
              <a:srgbClr val="FEF2E6"/>
            </a:solidFill>
            <a:ln>
              <a:noFill/>
            </a:ln>
          </p:spPr>
        </p:sp>
        <p:sp>
          <p:nvSpPr>
            <p:cNvPr id="114" name="TextBox 114"/>
            <p:cNvSpPr txBox="1"/>
            <p:nvPr/>
          </p:nvSpPr>
          <p:spPr>
            <a:xfrm>
              <a:off x="4369118" y="5949791"/>
              <a:ext cx="63436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协同动作少</a:t>
              </a:r>
              <a:br/>
              <a:r>
                <a:rPr lang="zh-CN" sz="820" dirty="0">
                  <a:solidFill>
                    <a:srgbClr val="3D3835"/>
                  </a:solidFill>
                  <a:latin typeface="+mn-lt"/>
                  <a:ea typeface="+mn-ea"/>
                  <a:cs typeface="+mn-cs"/>
                </a:rPr>
                <a:t>联合经营不足</a:t>
              </a:r>
            </a:p>
          </p:txBody>
        </p:sp>
        <p:sp>
          <p:nvSpPr>
            <p:cNvPr id="115" name="Ellipse 115"/>
            <p:cNvSpPr/>
            <p:nvPr/>
          </p:nvSpPr>
          <p:spPr>
            <a:xfrm>
              <a:off x="5810250" y="1828800"/>
              <a:ext cx="419100" cy="419100"/>
            </a:xfrm>
            <a:prstGeom prst="ellipse">
              <a:avLst/>
            </a:prstGeom>
            <a:solidFill>
              <a:srgbClr val="FFFFFF"/>
            </a:solidFill>
            <a:ln w="14288">
              <a:solidFill>
                <a:srgbClr val="EE492C"/>
              </a:solidFill>
            </a:ln>
          </p:spPr>
        </p:sp>
        <p:grpSp>
          <p:nvGrpSpPr>
            <p:cNvPr id="118" name="Group 118"/>
            <p:cNvGrpSpPr/>
            <p:nvPr/>
          </p:nvGrpSpPr>
          <p:grpSpPr>
            <a:xfrm>
              <a:off x="5947569" y="1946454"/>
              <a:ext cx="144462" cy="184764"/>
              <a:chOff x="5947569" y="1946454"/>
              <a:chExt cx="144462" cy="184764"/>
            </a:xfrm>
          </p:grpSpPr>
          <p:sp>
            <p:nvSpPr>
              <p:cNvPr id="116" name="Freeform 116"/>
              <p:cNvSpPr/>
              <p:nvPr/>
            </p:nvSpPr>
            <p:spPr>
              <a:xfrm>
                <a:off x="5947569" y="1946454"/>
                <a:ext cx="144462" cy="132198"/>
              </a:xfrm>
              <a:custGeom>
                <a:avLst/>
                <a:gdLst/>
                <a:ahLst/>
                <a:cxnLst/>
                <a:rect l="l" t="t" r="r" b="b"/>
                <a:pathLst>
                  <a:path w="144462" h="132198">
                    <a:moveTo>
                      <a:pt x="0" y="19665"/>
                    </a:moveTo>
                    <a:cubicBezTo>
                      <a:pt x="20062" y="0"/>
                      <a:pt x="52169" y="0"/>
                      <a:pt x="72231" y="19665"/>
                    </a:cubicBezTo>
                    <a:cubicBezTo>
                      <a:pt x="92293" y="39329"/>
                      <a:pt x="124400" y="39329"/>
                      <a:pt x="144462" y="19665"/>
                    </a:cubicBezTo>
                    <a:lnTo>
                      <a:pt x="144462" y="112533"/>
                    </a:lnTo>
                    <a:cubicBezTo>
                      <a:pt x="124400" y="132198"/>
                      <a:pt x="92293" y="132198"/>
                      <a:pt x="72231" y="112533"/>
                    </a:cubicBezTo>
                    <a:cubicBezTo>
                      <a:pt x="52169" y="92868"/>
                      <a:pt x="20062" y="92868"/>
                      <a:pt x="0" y="112533"/>
                    </a:cubicBezTo>
                    <a:lnTo>
                      <a:pt x="0" y="19665"/>
                    </a:lnTo>
                  </a:path>
                </a:pathLst>
              </a:custGeom>
              <a:noFill/>
              <a:ln w="20637">
                <a:solidFill>
                  <a:srgbClr val="D82000"/>
                </a:solidFill>
              </a:ln>
            </p:spPr>
          </p:sp>
          <p:sp>
            <p:nvSpPr>
              <p:cNvPr id="117" name="Freeform 117"/>
              <p:cNvSpPr/>
              <p:nvPr/>
            </p:nvSpPr>
            <p:spPr>
              <a:xfrm>
                <a:off x="5947569" y="2058987"/>
                <a:ext cx="9525" cy="72231"/>
              </a:xfrm>
              <a:custGeom>
                <a:avLst/>
                <a:gdLst/>
                <a:ahLst/>
                <a:cxnLst/>
                <a:rect l="l" t="t" r="r" b="b"/>
                <a:pathLst>
                  <a:path w="9525" h="72231">
                    <a:moveTo>
                      <a:pt x="0" y="72231"/>
                    </a:moveTo>
                    <a:lnTo>
                      <a:pt x="0" y="0"/>
                    </a:lnTo>
                  </a:path>
                </a:pathLst>
              </a:custGeom>
              <a:noFill/>
              <a:ln w="20637">
                <a:solidFill>
                  <a:srgbClr val="D82000"/>
                </a:solidFill>
              </a:ln>
            </p:spPr>
          </p:sp>
        </p:grpSp>
        <p:sp>
          <p:nvSpPr>
            <p:cNvPr id="119" name="Rectangle 119"/>
            <p:cNvSpPr/>
            <p:nvPr/>
          </p:nvSpPr>
          <p:spPr>
            <a:xfrm>
              <a:off x="5419725" y="2343150"/>
              <a:ext cx="1200150" cy="285750"/>
            </a:xfrm>
            <a:prstGeom prst="roundRect">
              <a:avLst>
                <a:gd name="adj" fmla="val 13333"/>
              </a:avLst>
            </a:prstGeom>
            <a:solidFill>
              <a:srgbClr val="5A1E14"/>
            </a:solidFill>
            <a:ln>
              <a:noFill/>
            </a:ln>
          </p:spPr>
        </p:sp>
        <p:sp>
          <p:nvSpPr>
            <p:cNvPr id="120" name="TextBox 120"/>
            <p:cNvSpPr txBox="1"/>
            <p:nvPr/>
          </p:nvSpPr>
          <p:spPr>
            <a:xfrm>
              <a:off x="5635409" y="243244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旅程运营断点</a:t>
              </a:r>
            </a:p>
          </p:txBody>
        </p:sp>
        <p:sp>
          <p:nvSpPr>
            <p:cNvPr id="121" name="TextBox 121"/>
            <p:cNvSpPr txBox="1"/>
            <p:nvPr/>
          </p:nvSpPr>
          <p:spPr>
            <a:xfrm>
              <a:off x="5441556" y="2723436"/>
              <a:ext cx="1156487" cy="140494"/>
            </a:xfrm>
            <a:prstGeom prst="rect">
              <a:avLst/>
            </a:prstGeom>
            <a:noFill/>
            <a:ln>
              <a:noFill/>
            </a:ln>
          </p:spPr>
          <p:txBody>
            <a:bodyPr wrap="none" lIns="0" tIns="0" rIns="0" bIns="0" anchor="t" anchorCtr="0">
              <a:spAutoFit/>
            </a:bodyPr>
            <a:lstStyle/>
            <a:p>
              <a:pPr algn="ctr"/>
              <a:r>
                <a:rPr lang="zh-CN" sz="710" dirty="0">
                  <a:solidFill>
                    <a:srgbClr val="D82000"/>
                  </a:solidFill>
                  <a:latin typeface="+mn-lt"/>
                  <a:ea typeface="+mn-ea"/>
                  <a:cs typeface="+mn-cs"/>
                </a:rPr>
                <a:t>旅程断裂、体验差、转化低</a:t>
              </a:r>
            </a:p>
          </p:txBody>
        </p:sp>
        <p:sp>
          <p:nvSpPr>
            <p:cNvPr id="122" name="Rectangle 122"/>
            <p:cNvSpPr/>
            <p:nvPr/>
          </p:nvSpPr>
          <p:spPr>
            <a:xfrm>
              <a:off x="5419725" y="2914650"/>
              <a:ext cx="1200150" cy="838200"/>
            </a:xfrm>
            <a:prstGeom prst="roundRect">
              <a:avLst>
                <a:gd name="adj" fmla="val 4545"/>
              </a:avLst>
            </a:prstGeom>
            <a:solidFill>
              <a:srgbClr val="FEF2E6"/>
            </a:solidFill>
            <a:ln>
              <a:noFill/>
            </a:ln>
          </p:spPr>
        </p:sp>
        <p:sp>
          <p:nvSpPr>
            <p:cNvPr id="123" name="TextBox 123"/>
            <p:cNvSpPr txBox="1"/>
            <p:nvPr/>
          </p:nvSpPr>
          <p:spPr>
            <a:xfrm>
              <a:off x="5650548" y="32065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旅程设计不完整</a:t>
              </a:r>
              <a:br/>
              <a:r>
                <a:rPr lang="zh-CN" sz="820" dirty="0">
                  <a:solidFill>
                    <a:srgbClr val="3D3835"/>
                  </a:solidFill>
                  <a:latin typeface="+mn-lt"/>
                  <a:ea typeface="+mn-ea"/>
                  <a:cs typeface="+mn-cs"/>
                </a:rPr>
                <a:t>关键触点缺失</a:t>
              </a:r>
            </a:p>
          </p:txBody>
        </p:sp>
        <p:sp>
          <p:nvSpPr>
            <p:cNvPr id="124" name="Rectangle 124"/>
            <p:cNvSpPr/>
            <p:nvPr/>
          </p:nvSpPr>
          <p:spPr>
            <a:xfrm>
              <a:off x="5419725" y="3829050"/>
              <a:ext cx="1200150" cy="838200"/>
            </a:xfrm>
            <a:prstGeom prst="roundRect">
              <a:avLst>
                <a:gd name="adj" fmla="val 4545"/>
              </a:avLst>
            </a:prstGeom>
            <a:solidFill>
              <a:srgbClr val="FEF2E6"/>
            </a:solidFill>
            <a:ln>
              <a:noFill/>
            </a:ln>
          </p:spPr>
        </p:sp>
        <p:sp>
          <p:nvSpPr>
            <p:cNvPr id="125" name="TextBox 125"/>
            <p:cNvSpPr txBox="1"/>
            <p:nvPr/>
          </p:nvSpPr>
          <p:spPr>
            <a:xfrm>
              <a:off x="5650548" y="41209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触点衔接不顺畅</a:t>
              </a:r>
              <a:br/>
              <a:r>
                <a:rPr lang="zh-CN" sz="820" dirty="0">
                  <a:solidFill>
                    <a:srgbClr val="3D3835"/>
                  </a:solidFill>
                  <a:latin typeface="+mn-lt"/>
                  <a:ea typeface="+mn-ea"/>
                  <a:cs typeface="+mn-cs"/>
                </a:rPr>
                <a:t>客户体验割裂</a:t>
              </a:r>
            </a:p>
          </p:txBody>
        </p:sp>
        <p:sp>
          <p:nvSpPr>
            <p:cNvPr id="126" name="Rectangle 126"/>
            <p:cNvSpPr/>
            <p:nvPr/>
          </p:nvSpPr>
          <p:spPr>
            <a:xfrm>
              <a:off x="5419725" y="4743450"/>
              <a:ext cx="1200150" cy="838200"/>
            </a:xfrm>
            <a:prstGeom prst="roundRect">
              <a:avLst>
                <a:gd name="adj" fmla="val 4545"/>
              </a:avLst>
            </a:prstGeom>
            <a:solidFill>
              <a:srgbClr val="FEF2E6"/>
            </a:solidFill>
            <a:ln>
              <a:noFill/>
            </a:ln>
          </p:spPr>
        </p:sp>
        <p:sp>
          <p:nvSpPr>
            <p:cNvPr id="127" name="TextBox 127"/>
            <p:cNvSpPr txBox="1"/>
            <p:nvPr/>
          </p:nvSpPr>
          <p:spPr>
            <a:xfrm>
              <a:off x="5598478" y="5035391"/>
              <a:ext cx="84264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内容与时机不匹配</a:t>
              </a:r>
              <a:br/>
              <a:r>
                <a:rPr lang="zh-CN" sz="820" dirty="0">
                  <a:solidFill>
                    <a:srgbClr val="3D3835"/>
                  </a:solidFill>
                  <a:latin typeface="+mn-lt"/>
                  <a:ea typeface="+mn-ea"/>
                  <a:cs typeface="+mn-cs"/>
                </a:rPr>
                <a:t>吸引力不足</a:t>
              </a:r>
            </a:p>
          </p:txBody>
        </p:sp>
        <p:sp>
          <p:nvSpPr>
            <p:cNvPr id="128" name="Rectangle 128"/>
            <p:cNvSpPr/>
            <p:nvPr/>
          </p:nvSpPr>
          <p:spPr>
            <a:xfrm>
              <a:off x="5419725" y="5657850"/>
              <a:ext cx="1200150" cy="838200"/>
            </a:xfrm>
            <a:prstGeom prst="roundRect">
              <a:avLst>
                <a:gd name="adj" fmla="val 4545"/>
              </a:avLst>
            </a:prstGeom>
            <a:solidFill>
              <a:srgbClr val="FEF2E6"/>
            </a:solidFill>
            <a:ln>
              <a:noFill/>
            </a:ln>
          </p:spPr>
        </p:sp>
        <p:sp>
          <p:nvSpPr>
            <p:cNvPr id="129" name="TextBox 129"/>
            <p:cNvSpPr txBox="1"/>
            <p:nvPr/>
          </p:nvSpPr>
          <p:spPr>
            <a:xfrm>
              <a:off x="5650548" y="59497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运营动作触发弱</a:t>
              </a:r>
              <a:br/>
              <a:r>
                <a:rPr lang="zh-CN" sz="820" dirty="0">
                  <a:solidFill>
                    <a:srgbClr val="3D3835"/>
                  </a:solidFill>
                  <a:latin typeface="+mn-lt"/>
                  <a:ea typeface="+mn-ea"/>
                  <a:cs typeface="+mn-cs"/>
                </a:rPr>
                <a:t>转化闭环断裂</a:t>
              </a:r>
            </a:p>
          </p:txBody>
        </p:sp>
        <p:sp>
          <p:nvSpPr>
            <p:cNvPr id="130" name="Ellipse 130"/>
            <p:cNvSpPr/>
            <p:nvPr/>
          </p:nvSpPr>
          <p:spPr>
            <a:xfrm>
              <a:off x="7134225" y="1828800"/>
              <a:ext cx="419100" cy="419100"/>
            </a:xfrm>
            <a:prstGeom prst="ellipse">
              <a:avLst/>
            </a:prstGeom>
            <a:solidFill>
              <a:srgbClr val="FFFFFF"/>
            </a:solidFill>
            <a:ln w="14288">
              <a:solidFill>
                <a:srgbClr val="EE492C"/>
              </a:solidFill>
            </a:ln>
          </p:spPr>
        </p:sp>
        <p:grpSp>
          <p:nvGrpSpPr>
            <p:cNvPr id="134" name="Group 134"/>
            <p:cNvGrpSpPr/>
            <p:nvPr/>
          </p:nvGrpSpPr>
          <p:grpSpPr>
            <a:xfrm>
              <a:off x="7261225" y="1945481"/>
              <a:ext cx="165099" cy="185737"/>
              <a:chOff x="7261225" y="1945481"/>
              <a:chExt cx="165099" cy="185737"/>
            </a:xfrm>
          </p:grpSpPr>
          <p:sp>
            <p:nvSpPr>
              <p:cNvPr id="131" name="Freeform 131"/>
              <p:cNvSpPr/>
              <p:nvPr/>
            </p:nvSpPr>
            <p:spPr>
              <a:xfrm>
                <a:off x="7261225" y="1945481"/>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D82000"/>
                </a:solidFill>
              </a:ln>
            </p:spPr>
          </p:sp>
          <p:sp>
            <p:nvSpPr>
              <p:cNvPr id="132" name="Freeform 132"/>
              <p:cNvSpPr/>
              <p:nvPr/>
            </p:nvSpPr>
            <p:spPr>
              <a:xfrm>
                <a:off x="7261225" y="1976437"/>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D82000"/>
                </a:solidFill>
              </a:ln>
            </p:spPr>
          </p:sp>
          <p:sp>
            <p:nvSpPr>
              <p:cNvPr id="133" name="Freeform 133"/>
              <p:cNvSpPr/>
              <p:nvPr/>
            </p:nvSpPr>
            <p:spPr>
              <a:xfrm>
                <a:off x="7261225" y="2038350"/>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D82000"/>
                </a:solidFill>
              </a:ln>
            </p:spPr>
          </p:sp>
        </p:grpSp>
        <p:sp>
          <p:nvSpPr>
            <p:cNvPr id="135" name="Rectangle 135"/>
            <p:cNvSpPr/>
            <p:nvPr/>
          </p:nvSpPr>
          <p:spPr>
            <a:xfrm>
              <a:off x="6743700" y="2343150"/>
              <a:ext cx="1200150" cy="285750"/>
            </a:xfrm>
            <a:prstGeom prst="roundRect">
              <a:avLst>
                <a:gd name="adj" fmla="val 13333"/>
              </a:avLst>
            </a:prstGeom>
            <a:solidFill>
              <a:srgbClr val="5A1E14"/>
            </a:solidFill>
            <a:ln>
              <a:noFill/>
            </a:ln>
          </p:spPr>
        </p:sp>
        <p:sp>
          <p:nvSpPr>
            <p:cNvPr id="136" name="TextBox 136"/>
            <p:cNvSpPr txBox="1"/>
            <p:nvPr/>
          </p:nvSpPr>
          <p:spPr>
            <a:xfrm>
              <a:off x="6959384" y="243244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数据机制断点</a:t>
              </a:r>
            </a:p>
          </p:txBody>
        </p:sp>
        <p:sp>
          <p:nvSpPr>
            <p:cNvPr id="137" name="TextBox 137"/>
            <p:cNvSpPr txBox="1"/>
            <p:nvPr/>
          </p:nvSpPr>
          <p:spPr>
            <a:xfrm>
              <a:off x="6813321" y="2723436"/>
              <a:ext cx="1060907" cy="140494"/>
            </a:xfrm>
            <a:prstGeom prst="rect">
              <a:avLst/>
            </a:prstGeom>
            <a:noFill/>
            <a:ln>
              <a:noFill/>
            </a:ln>
          </p:spPr>
          <p:txBody>
            <a:bodyPr wrap="none" lIns="0" tIns="0" rIns="0" bIns="0" anchor="t" anchorCtr="0">
              <a:spAutoFit/>
            </a:bodyPr>
            <a:lstStyle/>
            <a:p>
              <a:pPr algn="ctr"/>
              <a:r>
                <a:rPr lang="zh-CN" sz="710" dirty="0">
                  <a:solidFill>
                    <a:srgbClr val="D82000"/>
                  </a:solidFill>
                  <a:latin typeface="+mn-lt"/>
                  <a:ea typeface="+mn-ea"/>
                  <a:cs typeface="+mn-cs"/>
                </a:rPr>
                <a:t>数据散、口径乱、机制弱</a:t>
              </a:r>
            </a:p>
          </p:txBody>
        </p:sp>
        <p:sp>
          <p:nvSpPr>
            <p:cNvPr id="138" name="Rectangle 138"/>
            <p:cNvSpPr/>
            <p:nvPr/>
          </p:nvSpPr>
          <p:spPr>
            <a:xfrm>
              <a:off x="6743700" y="2914650"/>
              <a:ext cx="1200150" cy="838200"/>
            </a:xfrm>
            <a:prstGeom prst="roundRect">
              <a:avLst>
                <a:gd name="adj" fmla="val 4545"/>
              </a:avLst>
            </a:prstGeom>
            <a:solidFill>
              <a:srgbClr val="FEF2E6"/>
            </a:solidFill>
            <a:ln>
              <a:noFill/>
            </a:ln>
          </p:spPr>
        </p:sp>
        <p:sp>
          <p:nvSpPr>
            <p:cNvPr id="139" name="TextBox 139"/>
            <p:cNvSpPr txBox="1"/>
            <p:nvPr/>
          </p:nvSpPr>
          <p:spPr>
            <a:xfrm>
              <a:off x="6974522" y="32065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数据孤岛严重</a:t>
              </a:r>
              <a:br/>
              <a:r>
                <a:rPr lang="zh-CN" sz="820" dirty="0">
                  <a:solidFill>
                    <a:srgbClr val="3D3835"/>
                  </a:solidFill>
                  <a:latin typeface="+mn-lt"/>
                  <a:ea typeface="+mn-ea"/>
                  <a:cs typeface="+mn-cs"/>
                </a:rPr>
                <a:t>整合与共享不足</a:t>
              </a:r>
            </a:p>
          </p:txBody>
        </p:sp>
        <p:sp>
          <p:nvSpPr>
            <p:cNvPr id="140" name="Rectangle 140"/>
            <p:cNvSpPr/>
            <p:nvPr/>
          </p:nvSpPr>
          <p:spPr>
            <a:xfrm>
              <a:off x="6743700" y="3829050"/>
              <a:ext cx="1200150" cy="838200"/>
            </a:xfrm>
            <a:prstGeom prst="roundRect">
              <a:avLst>
                <a:gd name="adj" fmla="val 4545"/>
              </a:avLst>
            </a:prstGeom>
            <a:solidFill>
              <a:srgbClr val="FEF2E6"/>
            </a:solidFill>
            <a:ln>
              <a:noFill/>
            </a:ln>
          </p:spPr>
        </p:sp>
        <p:sp>
          <p:nvSpPr>
            <p:cNvPr id="141" name="TextBox 141"/>
            <p:cNvSpPr txBox="1"/>
            <p:nvPr/>
          </p:nvSpPr>
          <p:spPr>
            <a:xfrm>
              <a:off x="6974522" y="41209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指标口径不统一</a:t>
              </a:r>
              <a:br/>
              <a:r>
                <a:rPr lang="zh-CN" sz="820" dirty="0">
                  <a:solidFill>
                    <a:srgbClr val="3D3835"/>
                  </a:solidFill>
                  <a:latin typeface="+mn-lt"/>
                  <a:ea typeface="+mn-ea"/>
                  <a:cs typeface="+mn-cs"/>
                </a:rPr>
                <a:t>数据质量参差</a:t>
              </a:r>
            </a:p>
          </p:txBody>
        </p:sp>
        <p:sp>
          <p:nvSpPr>
            <p:cNvPr id="142" name="Rectangle 142"/>
            <p:cNvSpPr/>
            <p:nvPr/>
          </p:nvSpPr>
          <p:spPr>
            <a:xfrm>
              <a:off x="6743700" y="4743450"/>
              <a:ext cx="1200150" cy="838200"/>
            </a:xfrm>
            <a:prstGeom prst="roundRect">
              <a:avLst>
                <a:gd name="adj" fmla="val 4545"/>
              </a:avLst>
            </a:prstGeom>
            <a:solidFill>
              <a:srgbClr val="FEF2E6"/>
            </a:solidFill>
            <a:ln>
              <a:noFill/>
            </a:ln>
          </p:spPr>
        </p:sp>
        <p:sp>
          <p:nvSpPr>
            <p:cNvPr id="143" name="TextBox 143"/>
            <p:cNvSpPr txBox="1"/>
            <p:nvPr/>
          </p:nvSpPr>
          <p:spPr>
            <a:xfrm>
              <a:off x="6974522" y="50353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规则与权限不清</a:t>
              </a:r>
              <a:br/>
              <a:r>
                <a:rPr lang="zh-CN" sz="820" dirty="0">
                  <a:solidFill>
                    <a:srgbClr val="3D3835"/>
                  </a:solidFill>
                  <a:latin typeface="+mn-lt"/>
                  <a:ea typeface="+mn-ea"/>
                  <a:cs typeface="+mn-cs"/>
                </a:rPr>
                <a:t>使用受限</a:t>
              </a:r>
            </a:p>
          </p:txBody>
        </p:sp>
        <p:sp>
          <p:nvSpPr>
            <p:cNvPr id="144" name="Rectangle 144"/>
            <p:cNvSpPr/>
            <p:nvPr/>
          </p:nvSpPr>
          <p:spPr>
            <a:xfrm>
              <a:off x="6743700" y="5657850"/>
              <a:ext cx="1200150" cy="838200"/>
            </a:xfrm>
            <a:prstGeom prst="roundRect">
              <a:avLst>
                <a:gd name="adj" fmla="val 4545"/>
              </a:avLst>
            </a:prstGeom>
            <a:solidFill>
              <a:srgbClr val="FEF2E6"/>
            </a:solidFill>
            <a:ln>
              <a:noFill/>
            </a:ln>
          </p:spPr>
        </p:sp>
        <p:sp>
          <p:nvSpPr>
            <p:cNvPr id="145" name="TextBox 145"/>
            <p:cNvSpPr txBox="1"/>
            <p:nvPr/>
          </p:nvSpPr>
          <p:spPr>
            <a:xfrm>
              <a:off x="6974522" y="5949791"/>
              <a:ext cx="738505" cy="323850"/>
            </a:xfrm>
            <a:prstGeom prst="rect">
              <a:avLst/>
            </a:prstGeom>
            <a:noFill/>
            <a:ln>
              <a:noFill/>
            </a:ln>
          </p:spPr>
          <p:txBody>
            <a:bodyPr wrap="none" lIns="0" tIns="0" rIns="0" bIns="0" anchor="t" anchorCtr="0">
              <a:spAutoFit/>
            </a:bodyPr>
            <a:lstStyle/>
            <a:p>
              <a:pPr algn="ctr">
                <a:lnSpc>
                  <a:spcPts val="1275"/>
                </a:lnSpc>
              </a:pPr>
              <a:r>
                <a:rPr lang="zh-CN" sz="820" dirty="0">
                  <a:solidFill>
                    <a:srgbClr val="3D3835"/>
                  </a:solidFill>
                  <a:latin typeface="+mn-lt"/>
                  <a:ea typeface="+mn-ea"/>
                  <a:cs typeface="+mn-cs"/>
                </a:rPr>
                <a:t>数据驱动机制弱</a:t>
              </a:r>
              <a:br/>
              <a:r>
                <a:rPr lang="zh-CN" sz="820" dirty="0">
                  <a:solidFill>
                    <a:srgbClr val="3D3835"/>
                  </a:solidFill>
                  <a:latin typeface="+mn-lt"/>
                  <a:ea typeface="+mn-ea"/>
                  <a:cs typeface="+mn-cs"/>
                </a:rPr>
                <a:t>应用场景有限</a:t>
              </a:r>
            </a:p>
          </p:txBody>
        </p:sp>
      </p:grpSp>
      <p:grpSp>
        <p:nvGrpSpPr>
          <p:cNvPr id="179" name="priority-matrix"/>
          <p:cNvGrpSpPr/>
          <p:nvPr/>
        </p:nvGrpSpPr>
        <p:grpSpPr>
          <a:xfrm>
            <a:off x="8077200" y="666750"/>
            <a:ext cx="3752850" cy="3232070"/>
            <a:chOff x="8077200" y="666750"/>
            <a:chExt cx="3752850" cy="3232070"/>
          </a:xfrm>
        </p:grpSpPr>
        <p:sp>
          <p:nvSpPr>
            <p:cNvPr id="147" name="Rectangle 147"/>
            <p:cNvSpPr/>
            <p:nvPr/>
          </p:nvSpPr>
          <p:spPr>
            <a:xfrm>
              <a:off x="8077200" y="666750"/>
              <a:ext cx="3733800" cy="228600"/>
            </a:xfrm>
            <a:prstGeom prst="roundRect">
              <a:avLst>
                <a:gd name="adj" fmla="val 12500"/>
              </a:avLst>
            </a:prstGeom>
            <a:solidFill>
              <a:srgbClr val="C41D00"/>
            </a:solidFill>
            <a:ln>
              <a:noFill/>
            </a:ln>
          </p:spPr>
        </p:sp>
        <p:sp>
          <p:nvSpPr>
            <p:cNvPr id="148" name="TextBox 148"/>
            <p:cNvSpPr txBox="1"/>
            <p:nvPr/>
          </p:nvSpPr>
          <p:spPr>
            <a:xfrm>
              <a:off x="8840788" y="727472"/>
              <a:ext cx="220662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​影响度 × 可控性矩阵（优先级选择）​</a:t>
              </a:r>
            </a:p>
          </p:txBody>
        </p:sp>
        <p:sp>
          <p:nvSpPr>
            <p:cNvPr id="149" name="Rectangle 149"/>
            <p:cNvSpPr/>
            <p:nvPr/>
          </p:nvSpPr>
          <p:spPr>
            <a:xfrm>
              <a:off x="8763000" y="1066800"/>
              <a:ext cx="1009650" cy="800100"/>
            </a:xfrm>
            <a:prstGeom prst="rect">
              <a:avLst/>
            </a:prstGeom>
            <a:solidFill>
              <a:srgbClr val="FDE9D6"/>
            </a:solidFill>
            <a:ln w="9525">
              <a:solidFill>
                <a:srgbClr val="FFFFFF"/>
              </a:solidFill>
            </a:ln>
          </p:spPr>
        </p:sp>
        <p:sp>
          <p:nvSpPr>
            <p:cNvPr id="150" name="TextBox 150"/>
            <p:cNvSpPr txBox="1"/>
            <p:nvPr/>
          </p:nvSpPr>
          <p:spPr>
            <a:xfrm>
              <a:off x="8833961" y="1423988"/>
              <a:ext cx="867728"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 客户分群粗放​</a:t>
              </a:r>
            </a:p>
          </p:txBody>
        </p:sp>
        <p:sp>
          <p:nvSpPr>
            <p:cNvPr id="151" name="Rectangle 151"/>
            <p:cNvSpPr/>
            <p:nvPr/>
          </p:nvSpPr>
          <p:spPr>
            <a:xfrm>
              <a:off x="9772650" y="1066800"/>
              <a:ext cx="1009650" cy="800100"/>
            </a:xfrm>
            <a:prstGeom prst="rect">
              <a:avLst/>
            </a:prstGeom>
            <a:solidFill>
              <a:srgbClr val="F9A89A"/>
            </a:solidFill>
            <a:ln w="9525">
              <a:solidFill>
                <a:srgbClr val="FFFFFF"/>
              </a:solidFill>
            </a:ln>
          </p:spPr>
        </p:sp>
        <p:sp>
          <p:nvSpPr>
            <p:cNvPr id="152" name="TextBox 152"/>
            <p:cNvSpPr txBox="1"/>
            <p:nvPr/>
          </p:nvSpPr>
          <p:spPr>
            <a:xfrm>
              <a:off x="9793129" y="1423988"/>
              <a:ext cx="968692"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 渠道信息不互通​</a:t>
              </a:r>
            </a:p>
          </p:txBody>
        </p:sp>
        <p:sp>
          <p:nvSpPr>
            <p:cNvPr id="153" name="Rectangle 153"/>
            <p:cNvSpPr/>
            <p:nvPr/>
          </p:nvSpPr>
          <p:spPr>
            <a:xfrm>
              <a:off x="10782300" y="1066800"/>
              <a:ext cx="1009650" cy="800100"/>
            </a:xfrm>
            <a:prstGeom prst="rect">
              <a:avLst/>
            </a:prstGeom>
            <a:solidFill>
              <a:srgbClr val="C41D00"/>
            </a:solidFill>
            <a:ln w="9525">
              <a:solidFill>
                <a:srgbClr val="FFFFFF"/>
              </a:solidFill>
            </a:ln>
          </p:spPr>
        </p:sp>
        <p:sp>
          <p:nvSpPr>
            <p:cNvPr id="154" name="TextBox 154"/>
            <p:cNvSpPr txBox="1"/>
            <p:nvPr/>
          </p:nvSpPr>
          <p:spPr>
            <a:xfrm>
              <a:off x="10802779" y="1423988"/>
              <a:ext cx="968692"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​3. 旅程设计不完整​</a:t>
              </a:r>
            </a:p>
          </p:txBody>
        </p:sp>
        <p:sp>
          <p:nvSpPr>
            <p:cNvPr id="155" name="Rectangle 155"/>
            <p:cNvSpPr/>
            <p:nvPr/>
          </p:nvSpPr>
          <p:spPr>
            <a:xfrm>
              <a:off x="8763000" y="1866900"/>
              <a:ext cx="1009650" cy="800100"/>
            </a:xfrm>
            <a:prstGeom prst="rect">
              <a:avLst/>
            </a:prstGeom>
            <a:solidFill>
              <a:srgbClr val="FDE9D6"/>
            </a:solidFill>
            <a:ln w="9525">
              <a:solidFill>
                <a:srgbClr val="FFFFFF"/>
              </a:solidFill>
            </a:ln>
          </p:spPr>
        </p:sp>
        <p:sp>
          <p:nvSpPr>
            <p:cNvPr id="156" name="TextBox 156"/>
            <p:cNvSpPr txBox="1"/>
            <p:nvPr/>
          </p:nvSpPr>
          <p:spPr>
            <a:xfrm>
              <a:off x="8833961" y="2224088"/>
              <a:ext cx="867728"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​4. 数据孤岛严重​</a:t>
              </a:r>
            </a:p>
          </p:txBody>
        </p:sp>
        <p:sp>
          <p:nvSpPr>
            <p:cNvPr id="157" name="Rectangle 157"/>
            <p:cNvSpPr/>
            <p:nvPr/>
          </p:nvSpPr>
          <p:spPr>
            <a:xfrm>
              <a:off x="9772650" y="1866900"/>
              <a:ext cx="1009650" cy="800100"/>
            </a:xfrm>
            <a:prstGeom prst="rect">
              <a:avLst/>
            </a:prstGeom>
            <a:solidFill>
              <a:srgbClr val="FBBFB5"/>
            </a:solidFill>
            <a:ln w="9525">
              <a:solidFill>
                <a:srgbClr val="FFFFFF"/>
              </a:solidFill>
            </a:ln>
          </p:spPr>
        </p:sp>
        <p:sp>
          <p:nvSpPr>
            <p:cNvPr id="158" name="TextBox 158"/>
            <p:cNvSpPr txBox="1"/>
            <p:nvPr/>
          </p:nvSpPr>
          <p:spPr>
            <a:xfrm>
              <a:off x="9915525" y="2157412"/>
              <a:ext cx="723900"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3D3835"/>
                  </a:solidFill>
                  <a:latin typeface="+mn-lt"/>
                  <a:ea typeface="+mn-ea"/>
                  <a:cs typeface="+mn-cs"/>
                </a:rPr>
                <a:t>​5. 内容与时机​</a:t>
              </a:r>
              <a:br/>
              <a:r>
                <a:rPr lang="zh-CN" sz="750" dirty="0">
                  <a:solidFill>
                    <a:srgbClr val="3D3835"/>
                  </a:solidFill>
                  <a:latin typeface="+mn-lt"/>
                  <a:ea typeface="+mn-ea"/>
                  <a:cs typeface="+mn-cs"/>
                </a:rPr>
                <a:t>不匹配</a:t>
              </a:r>
            </a:p>
          </p:txBody>
        </p:sp>
        <p:sp>
          <p:nvSpPr>
            <p:cNvPr id="159" name="Rectangle 159"/>
            <p:cNvSpPr/>
            <p:nvPr/>
          </p:nvSpPr>
          <p:spPr>
            <a:xfrm>
              <a:off x="10782300" y="1866900"/>
              <a:ext cx="1009650" cy="800100"/>
            </a:xfrm>
            <a:prstGeom prst="rect">
              <a:avLst/>
            </a:prstGeom>
            <a:solidFill>
              <a:srgbClr val="F57E6A"/>
            </a:solidFill>
            <a:ln w="9525">
              <a:solidFill>
                <a:srgbClr val="FFFFFF"/>
              </a:solidFill>
            </a:ln>
          </p:spPr>
        </p:sp>
        <p:sp>
          <p:nvSpPr>
            <p:cNvPr id="160" name="TextBox 160"/>
            <p:cNvSpPr txBox="1"/>
            <p:nvPr/>
          </p:nvSpPr>
          <p:spPr>
            <a:xfrm>
              <a:off x="10972800" y="2157412"/>
              <a:ext cx="628650"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3D3835"/>
                  </a:solidFill>
                  <a:latin typeface="+mn-lt"/>
                  <a:ea typeface="+mn-ea"/>
                  <a:cs typeface="+mn-cs"/>
                </a:rPr>
                <a:t>​6. 运营动作​</a:t>
              </a:r>
              <a:br/>
              <a:r>
                <a:rPr lang="zh-CN" sz="750" dirty="0">
                  <a:solidFill>
                    <a:srgbClr val="3D3835"/>
                  </a:solidFill>
                  <a:latin typeface="+mn-lt"/>
                  <a:ea typeface="+mn-ea"/>
                  <a:cs typeface="+mn-cs"/>
                </a:rPr>
                <a:t>触发弱</a:t>
              </a:r>
            </a:p>
          </p:txBody>
        </p:sp>
        <p:sp>
          <p:nvSpPr>
            <p:cNvPr id="161" name="Rectangle 161"/>
            <p:cNvSpPr/>
            <p:nvPr/>
          </p:nvSpPr>
          <p:spPr>
            <a:xfrm>
              <a:off x="8763000" y="2667000"/>
              <a:ext cx="1009650" cy="800100"/>
            </a:xfrm>
            <a:prstGeom prst="rect">
              <a:avLst/>
            </a:prstGeom>
            <a:solidFill>
              <a:srgbClr val="FFF3EA"/>
            </a:solidFill>
            <a:ln w="9525">
              <a:solidFill>
                <a:srgbClr val="FFFFFF"/>
              </a:solidFill>
            </a:ln>
          </p:spPr>
        </p:sp>
        <p:sp>
          <p:nvSpPr>
            <p:cNvPr id="162" name="TextBox 162"/>
            <p:cNvSpPr txBox="1"/>
            <p:nvPr/>
          </p:nvSpPr>
          <p:spPr>
            <a:xfrm>
              <a:off x="9024938" y="2957512"/>
              <a:ext cx="48577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7A716B"/>
                  </a:solidFill>
                  <a:latin typeface="+mn-lt"/>
                  <a:ea typeface="+mn-ea"/>
                  <a:cs typeface="+mn-cs"/>
                </a:rPr>
                <a:t>其他低影响</a:t>
              </a:r>
              <a:br/>
              <a:r>
                <a:rPr lang="zh-CN" sz="750" dirty="0">
                  <a:solidFill>
                    <a:srgbClr val="7A716B"/>
                  </a:solidFill>
                  <a:latin typeface="+mn-lt"/>
                  <a:ea typeface="+mn-ea"/>
                  <a:cs typeface="+mn-cs"/>
                </a:rPr>
                <a:t>低可控问题</a:t>
              </a:r>
            </a:p>
          </p:txBody>
        </p:sp>
        <p:sp>
          <p:nvSpPr>
            <p:cNvPr id="163" name="Rectangle 163"/>
            <p:cNvSpPr/>
            <p:nvPr/>
          </p:nvSpPr>
          <p:spPr>
            <a:xfrm>
              <a:off x="9772650" y="2667000"/>
              <a:ext cx="1009650" cy="800100"/>
            </a:xfrm>
            <a:prstGeom prst="rect">
              <a:avLst/>
            </a:prstGeom>
            <a:solidFill>
              <a:srgbClr val="FFF3EA"/>
            </a:solidFill>
            <a:ln w="9525">
              <a:solidFill>
                <a:srgbClr val="FFFFFF"/>
              </a:solidFill>
            </a:ln>
          </p:spPr>
        </p:sp>
        <p:sp>
          <p:nvSpPr>
            <p:cNvPr id="164" name="TextBox 164"/>
            <p:cNvSpPr txBox="1"/>
            <p:nvPr/>
          </p:nvSpPr>
          <p:spPr>
            <a:xfrm>
              <a:off x="10034588" y="2957512"/>
              <a:ext cx="48577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7A716B"/>
                  </a:solidFill>
                  <a:latin typeface="+mn-lt"/>
                  <a:ea typeface="+mn-ea"/>
                  <a:cs typeface="+mn-cs"/>
                </a:rPr>
                <a:t>其他低影响</a:t>
              </a:r>
              <a:br/>
              <a:r>
                <a:rPr lang="zh-CN" sz="750" dirty="0">
                  <a:solidFill>
                    <a:srgbClr val="7A716B"/>
                  </a:solidFill>
                  <a:latin typeface="+mn-lt"/>
                  <a:ea typeface="+mn-ea"/>
                  <a:cs typeface="+mn-cs"/>
                </a:rPr>
                <a:t>中可控问题</a:t>
              </a:r>
            </a:p>
          </p:txBody>
        </p:sp>
        <p:sp>
          <p:nvSpPr>
            <p:cNvPr id="165" name="Rectangle 165"/>
            <p:cNvSpPr/>
            <p:nvPr/>
          </p:nvSpPr>
          <p:spPr>
            <a:xfrm>
              <a:off x="10782300" y="2667000"/>
              <a:ext cx="1009650" cy="800100"/>
            </a:xfrm>
            <a:prstGeom prst="rect">
              <a:avLst/>
            </a:prstGeom>
            <a:solidFill>
              <a:srgbClr val="FFF3EA"/>
            </a:solidFill>
            <a:ln w="9525">
              <a:solidFill>
                <a:srgbClr val="FFFFFF"/>
              </a:solidFill>
            </a:ln>
          </p:spPr>
        </p:sp>
        <p:sp>
          <p:nvSpPr>
            <p:cNvPr id="166" name="TextBox 166"/>
            <p:cNvSpPr txBox="1"/>
            <p:nvPr/>
          </p:nvSpPr>
          <p:spPr>
            <a:xfrm>
              <a:off x="11044238" y="2957512"/>
              <a:ext cx="48577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7A716B"/>
                  </a:solidFill>
                  <a:latin typeface="+mn-lt"/>
                  <a:ea typeface="+mn-ea"/>
                  <a:cs typeface="+mn-cs"/>
                </a:rPr>
                <a:t>其他低影响</a:t>
              </a:r>
              <a:br/>
              <a:r>
                <a:rPr lang="zh-CN" sz="750" dirty="0">
                  <a:solidFill>
                    <a:srgbClr val="7A716B"/>
                  </a:solidFill>
                  <a:latin typeface="+mn-lt"/>
                  <a:ea typeface="+mn-ea"/>
                  <a:cs typeface="+mn-cs"/>
                </a:rPr>
                <a:t>高可控问题</a:t>
              </a:r>
            </a:p>
          </p:txBody>
        </p:sp>
        <p:sp>
          <p:nvSpPr>
            <p:cNvPr id="167" name="Line 167"/>
            <p:cNvSpPr/>
            <p:nvPr/>
          </p:nvSpPr>
          <p:spPr>
            <a:xfrm>
              <a:off x="8686800" y="1028700"/>
              <a:ext cx="9525" cy="2457450"/>
            </a:xfrm>
            <a:custGeom>
              <a:avLst/>
              <a:gdLst/>
              <a:ahLst/>
              <a:cxnLst/>
              <a:rect l="l" t="t" r="r" b="b"/>
              <a:pathLst>
                <a:path w="9525" h="2457450">
                  <a:moveTo>
                    <a:pt x="0" y="2457450"/>
                  </a:moveTo>
                  <a:lnTo>
                    <a:pt x="0" y="0"/>
                  </a:lnTo>
                </a:path>
              </a:pathLst>
            </a:custGeom>
            <a:noFill/>
            <a:ln w="14288">
              <a:solidFill>
                <a:srgbClr val="7A716B"/>
              </a:solidFill>
            </a:ln>
          </p:spPr>
        </p:sp>
        <p:sp>
          <p:nvSpPr>
            <p:cNvPr id="168" name="Polygon 168"/>
            <p:cNvSpPr/>
            <p:nvPr/>
          </p:nvSpPr>
          <p:spPr>
            <a:xfrm>
              <a:off x="8648700" y="971550"/>
              <a:ext cx="76200" cy="76200"/>
            </a:xfrm>
            <a:custGeom>
              <a:avLst/>
              <a:gdLst/>
              <a:ahLst/>
              <a:cxnLst/>
              <a:rect l="l" t="t" r="r" b="b"/>
              <a:pathLst>
                <a:path w="76200" h="76200">
                  <a:moveTo>
                    <a:pt x="0" y="76200"/>
                  </a:moveTo>
                  <a:lnTo>
                    <a:pt x="38100" y="0"/>
                  </a:lnTo>
                  <a:lnTo>
                    <a:pt x="76200" y="76200"/>
                  </a:lnTo>
                  <a:close/>
                </a:path>
              </a:pathLst>
            </a:custGeom>
            <a:solidFill>
              <a:srgbClr val="7A716B"/>
            </a:solidFill>
            <a:ln>
              <a:noFill/>
            </a:ln>
          </p:spPr>
        </p:sp>
        <p:sp>
          <p:nvSpPr>
            <p:cNvPr id="169" name="Line 169"/>
            <p:cNvSpPr/>
            <p:nvPr/>
          </p:nvSpPr>
          <p:spPr>
            <a:xfrm>
              <a:off x="8686800" y="3486150"/>
              <a:ext cx="3086100" cy="9525"/>
            </a:xfrm>
            <a:custGeom>
              <a:avLst/>
              <a:gdLst/>
              <a:ahLst/>
              <a:cxnLst/>
              <a:rect l="l" t="t" r="r" b="b"/>
              <a:pathLst>
                <a:path w="3086100" h="9525">
                  <a:moveTo>
                    <a:pt x="0" y="0"/>
                  </a:moveTo>
                  <a:lnTo>
                    <a:pt x="3086100" y="0"/>
                  </a:lnTo>
                </a:path>
              </a:pathLst>
            </a:custGeom>
            <a:noFill/>
            <a:ln w="14288">
              <a:solidFill>
                <a:srgbClr val="7A716B"/>
              </a:solidFill>
            </a:ln>
          </p:spPr>
        </p:sp>
        <p:sp>
          <p:nvSpPr>
            <p:cNvPr id="170" name="Polygon 170"/>
            <p:cNvSpPr/>
            <p:nvPr/>
          </p:nvSpPr>
          <p:spPr>
            <a:xfrm>
              <a:off x="11753850" y="3448050"/>
              <a:ext cx="76200" cy="76200"/>
            </a:xfrm>
            <a:custGeom>
              <a:avLst/>
              <a:gdLst/>
              <a:ahLst/>
              <a:cxnLst/>
              <a:rect l="l" t="t" r="r" b="b"/>
              <a:pathLst>
                <a:path w="76200" h="76200">
                  <a:moveTo>
                    <a:pt x="0" y="0"/>
                  </a:moveTo>
                  <a:lnTo>
                    <a:pt x="76200" y="38100"/>
                  </a:lnTo>
                  <a:lnTo>
                    <a:pt x="0" y="76200"/>
                  </a:lnTo>
                  <a:close/>
                </a:path>
              </a:pathLst>
            </a:custGeom>
            <a:solidFill>
              <a:srgbClr val="7A716B"/>
            </a:solidFill>
            <a:ln>
              <a:noFill/>
            </a:ln>
          </p:spPr>
        </p:sp>
        <p:sp>
          <p:nvSpPr>
            <p:cNvPr id="171" name="TextBox 171"/>
            <p:cNvSpPr txBox="1"/>
            <p:nvPr/>
          </p:nvSpPr>
          <p:spPr>
            <a:xfrm>
              <a:off x="8498205" y="1423988"/>
              <a:ext cx="11049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高</a:t>
              </a:r>
            </a:p>
          </p:txBody>
        </p:sp>
        <p:sp>
          <p:nvSpPr>
            <p:cNvPr id="172" name="TextBox 172"/>
            <p:cNvSpPr txBox="1"/>
            <p:nvPr/>
          </p:nvSpPr>
          <p:spPr>
            <a:xfrm>
              <a:off x="8498205" y="2224088"/>
              <a:ext cx="11049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中</a:t>
              </a:r>
            </a:p>
          </p:txBody>
        </p:sp>
        <p:sp>
          <p:nvSpPr>
            <p:cNvPr id="173" name="TextBox 173"/>
            <p:cNvSpPr txBox="1"/>
            <p:nvPr/>
          </p:nvSpPr>
          <p:spPr>
            <a:xfrm>
              <a:off x="8498205" y="3024188"/>
              <a:ext cx="11049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低</a:t>
              </a:r>
            </a:p>
          </p:txBody>
        </p:sp>
        <p:sp>
          <p:nvSpPr>
            <p:cNvPr id="174" name="TextBox 174"/>
            <p:cNvSpPr txBox="1"/>
            <p:nvPr/>
          </p:nvSpPr>
          <p:spPr>
            <a:xfrm>
              <a:off x="8269922" y="2029539"/>
              <a:ext cx="109855" cy="440531"/>
            </a:xfrm>
            <a:prstGeom prst="rect">
              <a:avLst/>
            </a:prstGeom>
            <a:noFill/>
            <a:ln>
              <a:noFill/>
            </a:ln>
          </p:spPr>
          <p:txBody>
            <a:bodyPr wrap="none" lIns="0" tIns="0" rIns="0" bIns="0" anchor="t" anchorCtr="0">
              <a:spAutoFit/>
            </a:bodyPr>
            <a:lstStyle/>
            <a:p>
              <a:pPr algn="ctr">
                <a:lnSpc>
                  <a:spcPts val="1125"/>
                </a:lnSpc>
              </a:pPr>
              <a:r>
                <a:rPr lang="zh-CN" sz="790" b="1" dirty="0">
                  <a:solidFill>
                    <a:srgbClr val="3D3835"/>
                  </a:solidFill>
                  <a:latin typeface="+mn-lt"/>
                  <a:ea typeface="+mn-ea"/>
                  <a:cs typeface="+mn-cs"/>
                </a:rPr>
                <a:t>影</a:t>
              </a:r>
              <a:br/>
              <a:r>
                <a:rPr lang="zh-CN" sz="790" b="1" dirty="0">
                  <a:solidFill>
                    <a:srgbClr val="3D3835"/>
                  </a:solidFill>
                  <a:latin typeface="+mn-lt"/>
                  <a:ea typeface="+mn-ea"/>
                  <a:cs typeface="+mn-cs"/>
                </a:rPr>
                <a:t>响</a:t>
              </a:r>
              <a:br/>
              <a:r>
                <a:rPr lang="zh-CN" sz="790" b="1" dirty="0">
                  <a:solidFill>
                    <a:srgbClr val="3D3835"/>
                  </a:solidFill>
                  <a:latin typeface="+mn-lt"/>
                  <a:ea typeface="+mn-ea"/>
                  <a:cs typeface="+mn-cs"/>
                </a:rPr>
                <a:t>度</a:t>
              </a:r>
            </a:p>
          </p:txBody>
        </p:sp>
        <p:sp>
          <p:nvSpPr>
            <p:cNvPr id="175" name="TextBox 175"/>
            <p:cNvSpPr txBox="1"/>
            <p:nvPr/>
          </p:nvSpPr>
          <p:spPr>
            <a:xfrm>
              <a:off x="9212580" y="3576638"/>
              <a:ext cx="11049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低</a:t>
              </a:r>
            </a:p>
          </p:txBody>
        </p:sp>
        <p:sp>
          <p:nvSpPr>
            <p:cNvPr id="176" name="TextBox 176"/>
            <p:cNvSpPr txBox="1"/>
            <p:nvPr/>
          </p:nvSpPr>
          <p:spPr>
            <a:xfrm>
              <a:off x="10222230" y="3576638"/>
              <a:ext cx="11049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中</a:t>
              </a:r>
            </a:p>
          </p:txBody>
        </p:sp>
        <p:sp>
          <p:nvSpPr>
            <p:cNvPr id="177" name="TextBox 177"/>
            <p:cNvSpPr txBox="1"/>
            <p:nvPr/>
          </p:nvSpPr>
          <p:spPr>
            <a:xfrm>
              <a:off x="11231880" y="3576638"/>
              <a:ext cx="11049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高</a:t>
              </a:r>
            </a:p>
          </p:txBody>
        </p:sp>
        <p:sp>
          <p:nvSpPr>
            <p:cNvPr id="178" name="TextBox 178"/>
            <p:cNvSpPr txBox="1"/>
            <p:nvPr/>
          </p:nvSpPr>
          <p:spPr>
            <a:xfrm>
              <a:off x="10113188" y="3744039"/>
              <a:ext cx="328574" cy="154781"/>
            </a:xfrm>
            <a:prstGeom prst="rect">
              <a:avLst/>
            </a:prstGeom>
            <a:noFill/>
            <a:ln>
              <a:noFill/>
            </a:ln>
          </p:spPr>
          <p:txBody>
            <a:bodyPr wrap="none" lIns="0" tIns="0" rIns="0" bIns="0" anchor="t" anchorCtr="0">
              <a:spAutoFit/>
            </a:bodyPr>
            <a:lstStyle/>
            <a:p>
              <a:pPr algn="ctr"/>
              <a:r>
                <a:rPr lang="zh-CN" sz="790" b="1" dirty="0">
                  <a:solidFill>
                    <a:srgbClr val="3D3835"/>
                  </a:solidFill>
                  <a:latin typeface="+mn-lt"/>
                  <a:ea typeface="+mn-ea"/>
                  <a:cs typeface="+mn-cs"/>
                </a:rPr>
                <a:t>可控性</a:t>
              </a:r>
            </a:p>
          </p:txBody>
        </p:sp>
      </p:grpSp>
      <p:grpSp>
        <p:nvGrpSpPr>
          <p:cNvPr id="210" name="priority-list"/>
          <p:cNvGrpSpPr/>
          <p:nvPr/>
        </p:nvGrpSpPr>
        <p:grpSpPr>
          <a:xfrm>
            <a:off x="8077200" y="3962400"/>
            <a:ext cx="3733800" cy="2743200"/>
            <a:chOff x="8077200" y="3962400"/>
            <a:chExt cx="3733800" cy="2743200"/>
          </a:xfrm>
        </p:grpSpPr>
        <p:sp>
          <p:nvSpPr>
            <p:cNvPr id="180" name="Rectangle 180"/>
            <p:cNvSpPr/>
            <p:nvPr/>
          </p:nvSpPr>
          <p:spPr>
            <a:xfrm>
              <a:off x="8077200" y="3962400"/>
              <a:ext cx="3733800" cy="228600"/>
            </a:xfrm>
            <a:prstGeom prst="roundRect">
              <a:avLst>
                <a:gd name="adj" fmla="val 12500"/>
              </a:avLst>
            </a:prstGeom>
            <a:solidFill>
              <a:srgbClr val="C41D00"/>
            </a:solidFill>
            <a:ln>
              <a:noFill/>
            </a:ln>
          </p:spPr>
        </p:sp>
        <p:sp>
          <p:nvSpPr>
            <p:cNvPr id="181" name="TextBox 181"/>
            <p:cNvSpPr txBox="1"/>
            <p:nvPr/>
          </p:nvSpPr>
          <p:spPr>
            <a:xfrm>
              <a:off x="8600844" y="4027170"/>
              <a:ext cx="268651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​​优先突破的六大断点（高影响 × 高/中可控）​​</a:t>
              </a:r>
            </a:p>
          </p:txBody>
        </p:sp>
        <p:sp>
          <p:nvSpPr>
            <p:cNvPr id="182" name="Rectangle 182"/>
            <p:cNvSpPr/>
            <p:nvPr/>
          </p:nvSpPr>
          <p:spPr>
            <a:xfrm>
              <a:off x="8077200" y="4248150"/>
              <a:ext cx="3733800" cy="2457450"/>
            </a:xfrm>
            <a:prstGeom prst="roundRect">
              <a:avLst>
                <a:gd name="adj" fmla="val 1550"/>
              </a:avLst>
            </a:prstGeom>
            <a:solidFill>
              <a:srgbClr val="FFF8F2"/>
            </a:solidFill>
            <a:ln w="9525">
              <a:solidFill>
                <a:srgbClr val="F0B8AE"/>
              </a:solidFill>
            </a:ln>
          </p:spPr>
        </p:sp>
        <p:sp>
          <p:nvSpPr>
            <p:cNvPr id="183" name="Line 183"/>
            <p:cNvSpPr/>
            <p:nvPr/>
          </p:nvSpPr>
          <p:spPr>
            <a:xfrm>
              <a:off x="9944100" y="4305300"/>
              <a:ext cx="9525" cy="2343150"/>
            </a:xfrm>
            <a:custGeom>
              <a:avLst/>
              <a:gdLst/>
              <a:ahLst/>
              <a:cxnLst/>
              <a:rect l="l" t="t" r="r" b="b"/>
              <a:pathLst>
                <a:path w="9525" h="2343150">
                  <a:moveTo>
                    <a:pt x="0" y="0"/>
                  </a:moveTo>
                  <a:lnTo>
                    <a:pt x="0" y="2343150"/>
                  </a:lnTo>
                </a:path>
              </a:pathLst>
            </a:custGeom>
            <a:noFill/>
            <a:ln w="9525">
              <a:solidFill>
                <a:srgbClr val="EADBCE"/>
              </a:solidFill>
              <a:custDash>
                <a:ds d="300000" sp="300000"/>
              </a:custDash>
            </a:ln>
          </p:spPr>
        </p:sp>
        <p:sp>
          <p:nvSpPr>
            <p:cNvPr id="184" name="Line 184"/>
            <p:cNvSpPr/>
            <p:nvPr/>
          </p:nvSpPr>
          <p:spPr>
            <a:xfrm>
              <a:off x="8153400" y="5067300"/>
              <a:ext cx="3581400" cy="9525"/>
            </a:xfrm>
            <a:custGeom>
              <a:avLst/>
              <a:gdLst/>
              <a:ahLst/>
              <a:cxnLst/>
              <a:rect l="l" t="t" r="r" b="b"/>
              <a:pathLst>
                <a:path w="3581400" h="9525">
                  <a:moveTo>
                    <a:pt x="0" y="0"/>
                  </a:moveTo>
                  <a:lnTo>
                    <a:pt x="3581400" y="0"/>
                  </a:lnTo>
                </a:path>
              </a:pathLst>
            </a:custGeom>
            <a:noFill/>
            <a:ln w="9525">
              <a:solidFill>
                <a:srgbClr val="EADBCE"/>
              </a:solidFill>
              <a:custDash>
                <a:ds d="300000" sp="300000"/>
              </a:custDash>
            </a:ln>
          </p:spPr>
        </p:sp>
        <p:sp>
          <p:nvSpPr>
            <p:cNvPr id="185" name="Line 185"/>
            <p:cNvSpPr/>
            <p:nvPr/>
          </p:nvSpPr>
          <p:spPr>
            <a:xfrm>
              <a:off x="8153400" y="5867400"/>
              <a:ext cx="3581400" cy="9525"/>
            </a:xfrm>
            <a:custGeom>
              <a:avLst/>
              <a:gdLst/>
              <a:ahLst/>
              <a:cxnLst/>
              <a:rect l="l" t="t" r="r" b="b"/>
              <a:pathLst>
                <a:path w="3581400" h="9525">
                  <a:moveTo>
                    <a:pt x="0" y="0"/>
                  </a:moveTo>
                  <a:lnTo>
                    <a:pt x="3581400" y="0"/>
                  </a:lnTo>
                </a:path>
              </a:pathLst>
            </a:custGeom>
            <a:noFill/>
            <a:ln w="9525">
              <a:solidFill>
                <a:srgbClr val="EADBCE"/>
              </a:solidFill>
              <a:custDash>
                <a:ds d="300000" sp="300000"/>
              </a:custDash>
            </a:ln>
          </p:spPr>
        </p:sp>
        <p:sp>
          <p:nvSpPr>
            <p:cNvPr id="186" name="Rectangle 186"/>
            <p:cNvSpPr/>
            <p:nvPr/>
          </p:nvSpPr>
          <p:spPr>
            <a:xfrm>
              <a:off x="8172450" y="4476750"/>
              <a:ext cx="228600" cy="228600"/>
            </a:xfrm>
            <a:prstGeom prst="roundRect">
              <a:avLst>
                <a:gd name="adj" fmla="val 12500"/>
              </a:avLst>
            </a:prstGeom>
            <a:solidFill>
              <a:srgbClr val="C41D00"/>
            </a:solidFill>
            <a:ln>
              <a:noFill/>
            </a:ln>
          </p:spPr>
        </p:sp>
        <p:sp>
          <p:nvSpPr>
            <p:cNvPr id="187" name="TextBox 187"/>
            <p:cNvSpPr txBox="1"/>
            <p:nvPr/>
          </p:nvSpPr>
          <p:spPr>
            <a:xfrm>
              <a:off x="8172370" y="4537472"/>
              <a:ext cx="22876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​1​</a:t>
              </a:r>
            </a:p>
          </p:txBody>
        </p:sp>
        <p:sp>
          <p:nvSpPr>
            <p:cNvPr id="188" name="TextBox 188"/>
            <p:cNvSpPr txBox="1"/>
            <p:nvPr/>
          </p:nvSpPr>
          <p:spPr>
            <a:xfrm>
              <a:off x="8491538" y="4488418"/>
              <a:ext cx="704164"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客户分群粗放</a:t>
              </a:r>
            </a:p>
          </p:txBody>
        </p:sp>
        <p:sp>
          <p:nvSpPr>
            <p:cNvPr id="189" name="TextBox 189"/>
            <p:cNvSpPr txBox="1"/>
            <p:nvPr/>
          </p:nvSpPr>
          <p:spPr>
            <a:xfrm>
              <a:off x="8491538" y="4677489"/>
              <a:ext cx="753974" cy="154781"/>
            </a:xfrm>
            <a:prstGeom prst="rect">
              <a:avLst/>
            </a:prstGeom>
            <a:noFill/>
            <a:ln>
              <a:noFill/>
            </a:ln>
          </p:spPr>
          <p:txBody>
            <a:bodyPr wrap="none" lIns="0" tIns="0" rIns="0" bIns="0" anchor="t" anchorCtr="0">
              <a:spAutoFit/>
            </a:bodyPr>
            <a:lstStyle/>
            <a:p>
              <a:pPr algn="l"/>
              <a:r>
                <a:rPr lang="zh-CN" sz="790" dirty="0">
                  <a:solidFill>
                    <a:srgbClr val="7A716B"/>
                  </a:solidFill>
                  <a:latin typeface="+mn-lt"/>
                  <a:ea typeface="+mn-ea"/>
                  <a:cs typeface="+mn-cs"/>
                </a:rPr>
                <a:t>价值识别不精准</a:t>
              </a:r>
            </a:p>
          </p:txBody>
        </p:sp>
        <p:sp>
          <p:nvSpPr>
            <p:cNvPr id="190" name="Rectangle 190"/>
            <p:cNvSpPr/>
            <p:nvPr/>
          </p:nvSpPr>
          <p:spPr>
            <a:xfrm>
              <a:off x="8172450" y="5276850"/>
              <a:ext cx="228600" cy="228600"/>
            </a:xfrm>
            <a:prstGeom prst="roundRect">
              <a:avLst>
                <a:gd name="adj" fmla="val 12500"/>
              </a:avLst>
            </a:prstGeom>
            <a:solidFill>
              <a:srgbClr val="C41D00"/>
            </a:solidFill>
            <a:ln>
              <a:noFill/>
            </a:ln>
          </p:spPr>
        </p:sp>
        <p:sp>
          <p:nvSpPr>
            <p:cNvPr id="191" name="TextBox 191"/>
            <p:cNvSpPr txBox="1"/>
            <p:nvPr/>
          </p:nvSpPr>
          <p:spPr>
            <a:xfrm>
              <a:off x="8172370" y="5337572"/>
              <a:ext cx="22876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​2​</a:t>
              </a:r>
            </a:p>
          </p:txBody>
        </p:sp>
        <p:sp>
          <p:nvSpPr>
            <p:cNvPr id="192" name="TextBox 192"/>
            <p:cNvSpPr txBox="1"/>
            <p:nvPr/>
          </p:nvSpPr>
          <p:spPr>
            <a:xfrm>
              <a:off x="8491538" y="5288518"/>
              <a:ext cx="819937"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渠道信息不互通</a:t>
              </a:r>
            </a:p>
          </p:txBody>
        </p:sp>
        <p:sp>
          <p:nvSpPr>
            <p:cNvPr id="193" name="TextBox 193"/>
            <p:cNvSpPr txBox="1"/>
            <p:nvPr/>
          </p:nvSpPr>
          <p:spPr>
            <a:xfrm>
              <a:off x="8491538" y="5477589"/>
              <a:ext cx="647624" cy="154781"/>
            </a:xfrm>
            <a:prstGeom prst="rect">
              <a:avLst/>
            </a:prstGeom>
            <a:noFill/>
            <a:ln>
              <a:noFill/>
            </a:ln>
          </p:spPr>
          <p:txBody>
            <a:bodyPr wrap="none" lIns="0" tIns="0" rIns="0" bIns="0" anchor="t" anchorCtr="0">
              <a:spAutoFit/>
            </a:bodyPr>
            <a:lstStyle/>
            <a:p>
              <a:pPr algn="l"/>
              <a:r>
                <a:rPr lang="zh-CN" sz="790" dirty="0">
                  <a:solidFill>
                    <a:srgbClr val="7A716B"/>
                  </a:solidFill>
                  <a:latin typeface="+mn-lt"/>
                  <a:ea typeface="+mn-ea"/>
                  <a:cs typeface="+mn-cs"/>
                </a:rPr>
                <a:t>客户重复触达</a:t>
              </a:r>
            </a:p>
          </p:txBody>
        </p:sp>
        <p:sp>
          <p:nvSpPr>
            <p:cNvPr id="194" name="Rectangle 194"/>
            <p:cNvSpPr/>
            <p:nvPr/>
          </p:nvSpPr>
          <p:spPr>
            <a:xfrm>
              <a:off x="8172450" y="6076950"/>
              <a:ext cx="228600" cy="228600"/>
            </a:xfrm>
            <a:prstGeom prst="roundRect">
              <a:avLst>
                <a:gd name="adj" fmla="val 12500"/>
              </a:avLst>
            </a:prstGeom>
            <a:solidFill>
              <a:srgbClr val="C41D00"/>
            </a:solidFill>
            <a:ln>
              <a:noFill/>
            </a:ln>
          </p:spPr>
        </p:sp>
        <p:sp>
          <p:nvSpPr>
            <p:cNvPr id="195" name="TextBox 195"/>
            <p:cNvSpPr txBox="1"/>
            <p:nvPr/>
          </p:nvSpPr>
          <p:spPr>
            <a:xfrm>
              <a:off x="8172370" y="6137672"/>
              <a:ext cx="22876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​3​</a:t>
              </a:r>
            </a:p>
          </p:txBody>
        </p:sp>
        <p:sp>
          <p:nvSpPr>
            <p:cNvPr id="196" name="TextBox 196"/>
            <p:cNvSpPr txBox="1"/>
            <p:nvPr/>
          </p:nvSpPr>
          <p:spPr>
            <a:xfrm>
              <a:off x="8491538" y="6088618"/>
              <a:ext cx="819937"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旅程设计不完整</a:t>
              </a:r>
            </a:p>
          </p:txBody>
        </p:sp>
        <p:sp>
          <p:nvSpPr>
            <p:cNvPr id="197" name="TextBox 197"/>
            <p:cNvSpPr txBox="1"/>
            <p:nvPr/>
          </p:nvSpPr>
          <p:spPr>
            <a:xfrm>
              <a:off x="8491538" y="6277689"/>
              <a:ext cx="647624" cy="154781"/>
            </a:xfrm>
            <a:prstGeom prst="rect">
              <a:avLst/>
            </a:prstGeom>
            <a:noFill/>
            <a:ln>
              <a:noFill/>
            </a:ln>
          </p:spPr>
          <p:txBody>
            <a:bodyPr wrap="none" lIns="0" tIns="0" rIns="0" bIns="0" anchor="t" anchorCtr="0">
              <a:spAutoFit/>
            </a:bodyPr>
            <a:lstStyle/>
            <a:p>
              <a:pPr algn="l"/>
              <a:r>
                <a:rPr lang="zh-CN" sz="790" dirty="0">
                  <a:solidFill>
                    <a:srgbClr val="7A716B"/>
                  </a:solidFill>
                  <a:latin typeface="+mn-lt"/>
                  <a:ea typeface="+mn-ea"/>
                  <a:cs typeface="+mn-cs"/>
                </a:rPr>
                <a:t>关键触点缺失</a:t>
              </a:r>
            </a:p>
          </p:txBody>
        </p:sp>
        <p:sp>
          <p:nvSpPr>
            <p:cNvPr id="198" name="Rectangle 198"/>
            <p:cNvSpPr/>
            <p:nvPr/>
          </p:nvSpPr>
          <p:spPr>
            <a:xfrm>
              <a:off x="10058400" y="4476750"/>
              <a:ext cx="228600" cy="228600"/>
            </a:xfrm>
            <a:prstGeom prst="roundRect">
              <a:avLst>
                <a:gd name="adj" fmla="val 12500"/>
              </a:avLst>
            </a:prstGeom>
            <a:solidFill>
              <a:srgbClr val="C41D00"/>
            </a:solidFill>
            <a:ln>
              <a:noFill/>
            </a:ln>
          </p:spPr>
        </p:sp>
        <p:sp>
          <p:nvSpPr>
            <p:cNvPr id="199" name="TextBox 199"/>
            <p:cNvSpPr txBox="1"/>
            <p:nvPr/>
          </p:nvSpPr>
          <p:spPr>
            <a:xfrm>
              <a:off x="10058320" y="4537472"/>
              <a:ext cx="22876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​4​</a:t>
              </a:r>
            </a:p>
          </p:txBody>
        </p:sp>
        <p:sp>
          <p:nvSpPr>
            <p:cNvPr id="200" name="TextBox 200"/>
            <p:cNvSpPr txBox="1"/>
            <p:nvPr/>
          </p:nvSpPr>
          <p:spPr>
            <a:xfrm>
              <a:off x="10377488" y="4488418"/>
              <a:ext cx="704164"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数据孤岛严重</a:t>
              </a:r>
            </a:p>
          </p:txBody>
        </p:sp>
        <p:sp>
          <p:nvSpPr>
            <p:cNvPr id="201" name="TextBox 201"/>
            <p:cNvSpPr txBox="1"/>
            <p:nvPr/>
          </p:nvSpPr>
          <p:spPr>
            <a:xfrm>
              <a:off x="10377488" y="4677489"/>
              <a:ext cx="753974" cy="154781"/>
            </a:xfrm>
            <a:prstGeom prst="rect">
              <a:avLst/>
            </a:prstGeom>
            <a:noFill/>
            <a:ln>
              <a:noFill/>
            </a:ln>
          </p:spPr>
          <p:txBody>
            <a:bodyPr wrap="none" lIns="0" tIns="0" rIns="0" bIns="0" anchor="t" anchorCtr="0">
              <a:spAutoFit/>
            </a:bodyPr>
            <a:lstStyle/>
            <a:p>
              <a:pPr algn="l"/>
              <a:r>
                <a:rPr lang="zh-CN" sz="790" dirty="0">
                  <a:solidFill>
                    <a:srgbClr val="7A716B"/>
                  </a:solidFill>
                  <a:latin typeface="+mn-lt"/>
                  <a:ea typeface="+mn-ea"/>
                  <a:cs typeface="+mn-cs"/>
                </a:rPr>
                <a:t>整合与共享不足</a:t>
              </a:r>
            </a:p>
          </p:txBody>
        </p:sp>
        <p:sp>
          <p:nvSpPr>
            <p:cNvPr id="202" name="Rectangle 202"/>
            <p:cNvSpPr/>
            <p:nvPr/>
          </p:nvSpPr>
          <p:spPr>
            <a:xfrm>
              <a:off x="10058400" y="5276850"/>
              <a:ext cx="228600" cy="228600"/>
            </a:xfrm>
            <a:prstGeom prst="roundRect">
              <a:avLst>
                <a:gd name="adj" fmla="val 12500"/>
              </a:avLst>
            </a:prstGeom>
            <a:solidFill>
              <a:srgbClr val="C41D00"/>
            </a:solidFill>
            <a:ln>
              <a:noFill/>
            </a:ln>
          </p:spPr>
        </p:sp>
        <p:sp>
          <p:nvSpPr>
            <p:cNvPr id="203" name="TextBox 203"/>
            <p:cNvSpPr txBox="1"/>
            <p:nvPr/>
          </p:nvSpPr>
          <p:spPr>
            <a:xfrm>
              <a:off x="10058320" y="5337572"/>
              <a:ext cx="22876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​5​</a:t>
              </a:r>
            </a:p>
          </p:txBody>
        </p:sp>
        <p:sp>
          <p:nvSpPr>
            <p:cNvPr id="204" name="TextBox 204"/>
            <p:cNvSpPr txBox="1"/>
            <p:nvPr/>
          </p:nvSpPr>
          <p:spPr>
            <a:xfrm>
              <a:off x="10377488" y="5288518"/>
              <a:ext cx="935711"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内容与时机不匹配</a:t>
              </a:r>
            </a:p>
          </p:txBody>
        </p:sp>
        <p:sp>
          <p:nvSpPr>
            <p:cNvPr id="205" name="TextBox 205"/>
            <p:cNvSpPr txBox="1"/>
            <p:nvPr/>
          </p:nvSpPr>
          <p:spPr>
            <a:xfrm>
              <a:off x="10377488" y="5477589"/>
              <a:ext cx="541274" cy="154781"/>
            </a:xfrm>
            <a:prstGeom prst="rect">
              <a:avLst/>
            </a:prstGeom>
            <a:noFill/>
            <a:ln>
              <a:noFill/>
            </a:ln>
          </p:spPr>
          <p:txBody>
            <a:bodyPr wrap="none" lIns="0" tIns="0" rIns="0" bIns="0" anchor="t" anchorCtr="0">
              <a:spAutoFit/>
            </a:bodyPr>
            <a:lstStyle/>
            <a:p>
              <a:pPr algn="l"/>
              <a:r>
                <a:rPr lang="zh-CN" sz="790" dirty="0">
                  <a:solidFill>
                    <a:srgbClr val="7A716B"/>
                  </a:solidFill>
                  <a:latin typeface="+mn-lt"/>
                  <a:ea typeface="+mn-ea"/>
                  <a:cs typeface="+mn-cs"/>
                </a:rPr>
                <a:t>吸引力不足</a:t>
              </a:r>
            </a:p>
          </p:txBody>
        </p:sp>
        <p:sp>
          <p:nvSpPr>
            <p:cNvPr id="206" name="Rectangle 206"/>
            <p:cNvSpPr/>
            <p:nvPr/>
          </p:nvSpPr>
          <p:spPr>
            <a:xfrm>
              <a:off x="10058400" y="6076950"/>
              <a:ext cx="228600" cy="228600"/>
            </a:xfrm>
            <a:prstGeom prst="roundRect">
              <a:avLst>
                <a:gd name="adj" fmla="val 12500"/>
              </a:avLst>
            </a:prstGeom>
            <a:solidFill>
              <a:srgbClr val="C41D00"/>
            </a:solidFill>
            <a:ln>
              <a:noFill/>
            </a:ln>
          </p:spPr>
        </p:sp>
        <p:sp>
          <p:nvSpPr>
            <p:cNvPr id="207" name="TextBox 207"/>
            <p:cNvSpPr txBox="1"/>
            <p:nvPr/>
          </p:nvSpPr>
          <p:spPr>
            <a:xfrm>
              <a:off x="10058320" y="6137672"/>
              <a:ext cx="22876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​6​</a:t>
              </a:r>
            </a:p>
          </p:txBody>
        </p:sp>
        <p:sp>
          <p:nvSpPr>
            <p:cNvPr id="208" name="TextBox 208"/>
            <p:cNvSpPr txBox="1"/>
            <p:nvPr/>
          </p:nvSpPr>
          <p:spPr>
            <a:xfrm>
              <a:off x="10377488" y="6088618"/>
              <a:ext cx="819937"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运营动作触发弱</a:t>
              </a:r>
            </a:p>
          </p:txBody>
        </p:sp>
        <p:sp>
          <p:nvSpPr>
            <p:cNvPr id="209" name="TextBox 209"/>
            <p:cNvSpPr txBox="1"/>
            <p:nvPr/>
          </p:nvSpPr>
          <p:spPr>
            <a:xfrm>
              <a:off x="10377488" y="6277689"/>
              <a:ext cx="647624" cy="154781"/>
            </a:xfrm>
            <a:prstGeom prst="rect">
              <a:avLst/>
            </a:prstGeom>
            <a:noFill/>
            <a:ln>
              <a:noFill/>
            </a:ln>
          </p:spPr>
          <p:txBody>
            <a:bodyPr wrap="none" lIns="0" tIns="0" rIns="0" bIns="0" anchor="t" anchorCtr="0">
              <a:spAutoFit/>
            </a:bodyPr>
            <a:lstStyle/>
            <a:p>
              <a:pPr algn="l"/>
              <a:r>
                <a:rPr lang="zh-CN" sz="790" dirty="0">
                  <a:solidFill>
                    <a:srgbClr val="7A716B"/>
                  </a:solidFill>
                  <a:latin typeface="+mn-lt"/>
                  <a:ea typeface="+mn-ea"/>
                  <a:cs typeface="+mn-cs"/>
                </a:rPr>
                <a:t>转化闭环断裂</a:t>
              </a:r>
            </a:p>
          </p:txBody>
        </p:sp>
      </p:gr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04</a:t>
              </a:r>
            </a:p>
          </p:txBody>
        </p:sp>
        <p:sp>
          <p:nvSpPr>
            <p:cNvPr id="4" name="TextBox 4"/>
            <p:cNvSpPr txBox="1"/>
            <p:nvPr/>
          </p:nvSpPr>
          <p:spPr>
            <a:xfrm>
              <a:off x="904494" y="170498"/>
              <a:ext cx="6320028"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价值模型</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以客户终身价值统一增长、服务与风险目标</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55" name="clv-formula"/>
          <p:cNvGrpSpPr/>
          <p:nvPr/>
        </p:nvGrpSpPr>
        <p:grpSpPr>
          <a:xfrm>
            <a:off x="376238" y="706993"/>
            <a:ext cx="11434762" cy="588407"/>
            <a:chOff x="376238" y="706993"/>
            <a:chExt cx="11434762" cy="588407"/>
          </a:xfrm>
        </p:grpSpPr>
        <p:sp>
          <p:nvSpPr>
            <p:cNvPr id="7" name="TextBox 7"/>
            <p:cNvSpPr txBox="1"/>
            <p:nvPr/>
          </p:nvSpPr>
          <p:spPr>
            <a:xfrm>
              <a:off x="376238" y="706993"/>
              <a:ext cx="1579765" cy="169069"/>
            </a:xfrm>
            <a:prstGeom prst="rect">
              <a:avLst/>
            </a:prstGeom>
            <a:noFill/>
            <a:ln>
              <a:noFill/>
            </a:ln>
          </p:spPr>
          <p:txBody>
            <a:bodyPr wrap="none" lIns="0" tIns="0" rIns="0" bIns="0" anchor="t" anchorCtr="0">
              <a:spAutoFit/>
            </a:bodyPr>
            <a:lstStyle/>
            <a:p>
              <a:pPr algn="l"/>
              <a:r>
                <a:rPr lang="zh-CN" sz="860" b="1" dirty="0">
                  <a:solidFill>
                    <a:srgbClr val="C41D00"/>
                  </a:solidFill>
                  <a:latin typeface="+mn-lt"/>
                  <a:ea typeface="+mn-ea"/>
                  <a:cs typeface="+mn-cs"/>
                </a:rPr>
                <a:t>客户终身价值（CLV）公式​​​</a:t>
              </a:r>
            </a:p>
          </p:txBody>
        </p:sp>
        <p:sp>
          <p:nvSpPr>
            <p:cNvPr id="8" name="Rectangle 8"/>
            <p:cNvSpPr/>
            <p:nvPr/>
          </p:nvSpPr>
          <p:spPr>
            <a:xfrm>
              <a:off x="381000" y="876300"/>
              <a:ext cx="1638300" cy="419100"/>
            </a:xfrm>
            <a:prstGeom prst="roundRect">
              <a:avLst>
                <a:gd name="adj" fmla="val 11364"/>
              </a:avLst>
            </a:prstGeom>
            <a:solidFill>
              <a:srgbClr val="FFF8F2"/>
            </a:solidFill>
            <a:ln w="9525">
              <a:solidFill>
                <a:srgbClr val="F0B8AE"/>
              </a:solidFill>
            </a:ln>
          </p:spPr>
        </p:sp>
        <p:grpSp>
          <p:nvGrpSpPr>
            <p:cNvPr id="15" name="Group 15"/>
            <p:cNvGrpSpPr/>
            <p:nvPr/>
          </p:nvGrpSpPr>
          <p:grpSpPr>
            <a:xfrm>
              <a:off x="530225" y="1007269"/>
              <a:ext cx="139700" cy="157162"/>
              <a:chOff x="530225" y="1007269"/>
              <a:chExt cx="139700" cy="157162"/>
            </a:xfrm>
          </p:grpSpPr>
          <p:sp>
            <p:nvSpPr>
              <p:cNvPr id="9" name="Freeform 9"/>
              <p:cNvSpPr/>
              <p:nvPr/>
            </p:nvSpPr>
            <p:spPr>
              <a:xfrm>
                <a:off x="530225" y="1024731"/>
                <a:ext cx="139700" cy="139700"/>
              </a:xfrm>
              <a:custGeom>
                <a:avLst/>
                <a:gdLst/>
                <a:ahLst/>
                <a:cxnLst/>
                <a:rect l="l" t="t" r="r" b="b"/>
                <a:pathLst>
                  <a:path w="139700" h="139700">
                    <a:moveTo>
                      <a:pt x="0" y="17463"/>
                    </a:moveTo>
                    <a:cubicBezTo>
                      <a:pt x="0" y="7818"/>
                      <a:pt x="7818" y="0"/>
                      <a:pt x="17463" y="0"/>
                    </a:cubicBezTo>
                    <a:lnTo>
                      <a:pt x="122238" y="0"/>
                    </a:lnTo>
                    <a:cubicBezTo>
                      <a:pt x="131882" y="0"/>
                      <a:pt x="139700" y="7818"/>
                      <a:pt x="139700" y="17463"/>
                    </a:cubicBezTo>
                    <a:lnTo>
                      <a:pt x="139700" y="122238"/>
                    </a:lnTo>
                    <a:cubicBezTo>
                      <a:pt x="139700" y="131882"/>
                      <a:pt x="131882" y="139700"/>
                      <a:pt x="122238" y="139700"/>
                    </a:cubicBezTo>
                    <a:lnTo>
                      <a:pt x="17463" y="139700"/>
                    </a:lnTo>
                    <a:cubicBezTo>
                      <a:pt x="7818" y="139700"/>
                      <a:pt x="0" y="131882"/>
                      <a:pt x="0" y="122238"/>
                    </a:cubicBezTo>
                    <a:lnTo>
                      <a:pt x="0" y="17463"/>
                    </a:lnTo>
                  </a:path>
                </a:pathLst>
              </a:custGeom>
              <a:noFill/>
              <a:ln w="17463">
                <a:solidFill>
                  <a:srgbClr val="D82000"/>
                </a:solidFill>
              </a:ln>
            </p:spPr>
          </p:sp>
          <p:sp>
            <p:nvSpPr>
              <p:cNvPr id="10" name="Freeform 10"/>
              <p:cNvSpPr/>
              <p:nvPr/>
            </p:nvSpPr>
            <p:spPr>
              <a:xfrm>
                <a:off x="635000" y="1007269"/>
                <a:ext cx="9525" cy="34925"/>
              </a:xfrm>
              <a:custGeom>
                <a:avLst/>
                <a:gdLst/>
                <a:ahLst/>
                <a:cxnLst/>
                <a:rect l="l" t="t" r="r" b="b"/>
                <a:pathLst>
                  <a:path w="9525" h="34925">
                    <a:moveTo>
                      <a:pt x="0" y="0"/>
                    </a:moveTo>
                    <a:lnTo>
                      <a:pt x="0" y="34925"/>
                    </a:lnTo>
                  </a:path>
                </a:pathLst>
              </a:custGeom>
              <a:noFill/>
              <a:ln w="17463">
                <a:solidFill>
                  <a:srgbClr val="D82000"/>
                </a:solidFill>
              </a:ln>
            </p:spPr>
          </p:sp>
          <p:sp>
            <p:nvSpPr>
              <p:cNvPr id="11" name="Freeform 11"/>
              <p:cNvSpPr/>
              <p:nvPr/>
            </p:nvSpPr>
            <p:spPr>
              <a:xfrm>
                <a:off x="565150" y="1007269"/>
                <a:ext cx="9525" cy="34925"/>
              </a:xfrm>
              <a:custGeom>
                <a:avLst/>
                <a:gdLst/>
                <a:ahLst/>
                <a:cxnLst/>
                <a:rect l="l" t="t" r="r" b="b"/>
                <a:pathLst>
                  <a:path w="9525" h="34925">
                    <a:moveTo>
                      <a:pt x="0" y="0"/>
                    </a:moveTo>
                    <a:lnTo>
                      <a:pt x="0" y="34925"/>
                    </a:lnTo>
                  </a:path>
                </a:pathLst>
              </a:custGeom>
              <a:noFill/>
              <a:ln w="17463">
                <a:solidFill>
                  <a:srgbClr val="D82000"/>
                </a:solidFill>
              </a:ln>
            </p:spPr>
          </p:sp>
          <p:sp>
            <p:nvSpPr>
              <p:cNvPr id="12" name="Freeform 12"/>
              <p:cNvSpPr/>
              <p:nvPr/>
            </p:nvSpPr>
            <p:spPr>
              <a:xfrm>
                <a:off x="530225" y="1077119"/>
                <a:ext cx="139700" cy="9525"/>
              </a:xfrm>
              <a:custGeom>
                <a:avLst/>
                <a:gdLst/>
                <a:ahLst/>
                <a:cxnLst/>
                <a:rect l="l" t="t" r="r" b="b"/>
                <a:pathLst>
                  <a:path w="139700" h="9525">
                    <a:moveTo>
                      <a:pt x="0" y="0"/>
                    </a:moveTo>
                    <a:lnTo>
                      <a:pt x="139700" y="0"/>
                    </a:lnTo>
                  </a:path>
                </a:pathLst>
              </a:custGeom>
              <a:noFill/>
              <a:ln w="17463">
                <a:solidFill>
                  <a:srgbClr val="D82000"/>
                </a:solidFill>
              </a:ln>
            </p:spPr>
          </p:sp>
          <p:sp>
            <p:nvSpPr>
              <p:cNvPr id="13" name="Freeform 13"/>
              <p:cNvSpPr/>
              <p:nvPr/>
            </p:nvSpPr>
            <p:spPr>
              <a:xfrm>
                <a:off x="591344" y="1112044"/>
                <a:ext cx="9525" cy="9525"/>
              </a:xfrm>
              <a:custGeom>
                <a:avLst/>
                <a:gdLst/>
                <a:ahLst/>
                <a:cxnLst/>
                <a:rect l="l" t="t" r="r" b="b"/>
                <a:pathLst>
                  <a:path w="9525" h="9525">
                    <a:moveTo>
                      <a:pt x="0" y="0"/>
                    </a:moveTo>
                    <a:lnTo>
                      <a:pt x="8731" y="0"/>
                    </a:lnTo>
                  </a:path>
                </a:pathLst>
              </a:custGeom>
              <a:noFill/>
              <a:ln w="17463">
                <a:solidFill>
                  <a:srgbClr val="D82000"/>
                </a:solidFill>
              </a:ln>
            </p:spPr>
          </p:sp>
          <p:sp>
            <p:nvSpPr>
              <p:cNvPr id="14" name="Freeform 14"/>
              <p:cNvSpPr/>
              <p:nvPr/>
            </p:nvSpPr>
            <p:spPr>
              <a:xfrm>
                <a:off x="600075" y="1112044"/>
                <a:ext cx="9525" cy="26194"/>
              </a:xfrm>
              <a:custGeom>
                <a:avLst/>
                <a:gdLst/>
                <a:ahLst/>
                <a:cxnLst/>
                <a:rect l="l" t="t" r="r" b="b"/>
                <a:pathLst>
                  <a:path w="9525" h="26194">
                    <a:moveTo>
                      <a:pt x="0" y="0"/>
                    </a:moveTo>
                    <a:lnTo>
                      <a:pt x="0" y="26194"/>
                    </a:lnTo>
                  </a:path>
                </a:pathLst>
              </a:custGeom>
              <a:noFill/>
              <a:ln w="17463">
                <a:solidFill>
                  <a:srgbClr val="D82000"/>
                </a:solidFill>
              </a:ln>
            </p:spPr>
          </p:sp>
        </p:grpSp>
        <p:sp>
          <p:nvSpPr>
            <p:cNvPr id="16" name="TextBox 16"/>
            <p:cNvSpPr txBox="1"/>
            <p:nvPr/>
          </p:nvSpPr>
          <p:spPr>
            <a:xfrm>
              <a:off x="795338" y="950595"/>
              <a:ext cx="615315"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关系持续期</a:t>
              </a:r>
            </a:p>
          </p:txBody>
        </p:sp>
        <p:sp>
          <p:nvSpPr>
            <p:cNvPr id="17" name="TextBox 17"/>
            <p:cNvSpPr txBox="1"/>
            <p:nvPr/>
          </p:nvSpPr>
          <p:spPr>
            <a:xfrm>
              <a:off x="795338" y="1123236"/>
              <a:ext cx="29626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（年）</a:t>
              </a:r>
            </a:p>
          </p:txBody>
        </p:sp>
        <p:sp>
          <p:nvSpPr>
            <p:cNvPr id="18" name="TextBox 18"/>
            <p:cNvSpPr txBox="1"/>
            <p:nvPr/>
          </p:nvSpPr>
          <p:spPr>
            <a:xfrm>
              <a:off x="1960583" y="1000125"/>
              <a:ext cx="365084" cy="293370"/>
            </a:xfrm>
            <a:prstGeom prst="rect">
              <a:avLst/>
            </a:prstGeom>
            <a:noFill/>
            <a:ln>
              <a:noFill/>
            </a:ln>
          </p:spPr>
          <p:txBody>
            <a:bodyPr wrap="none" lIns="0" tIns="0" rIns="0" bIns="0" anchor="t" anchorCtr="0">
              <a:spAutoFit/>
            </a:bodyPr>
            <a:lstStyle/>
            <a:p>
              <a:pPr algn="ctr"/>
              <a:r>
                <a:rPr lang="zh-CN" sz="1500" b="1" dirty="0">
                  <a:solidFill>
                    <a:srgbClr val="C41D00"/>
                  </a:solidFill>
                  <a:latin typeface="+mn-lt"/>
                  <a:ea typeface="+mn-ea"/>
                  <a:cs typeface="+mn-cs"/>
                </a:rPr>
                <a:t>​×​</a:t>
              </a:r>
            </a:p>
          </p:txBody>
        </p:sp>
        <p:sp>
          <p:nvSpPr>
            <p:cNvPr id="19" name="Rectangle 19"/>
            <p:cNvSpPr/>
            <p:nvPr/>
          </p:nvSpPr>
          <p:spPr>
            <a:xfrm>
              <a:off x="2266950" y="876300"/>
              <a:ext cx="1638300" cy="419100"/>
            </a:xfrm>
            <a:prstGeom prst="roundRect">
              <a:avLst>
                <a:gd name="adj" fmla="val 11364"/>
              </a:avLst>
            </a:prstGeom>
            <a:solidFill>
              <a:srgbClr val="FFF8F2"/>
            </a:solidFill>
            <a:ln w="9525">
              <a:solidFill>
                <a:srgbClr val="F0B8AE"/>
              </a:solidFill>
            </a:ln>
          </p:spPr>
        </p:sp>
        <p:grpSp>
          <p:nvGrpSpPr>
            <p:cNvPr id="24" name="Group 24"/>
            <p:cNvGrpSpPr/>
            <p:nvPr/>
          </p:nvGrpSpPr>
          <p:grpSpPr>
            <a:xfrm>
              <a:off x="2407444" y="1016000"/>
              <a:ext cx="157163" cy="149225"/>
              <a:chOff x="2407444" y="1016000"/>
              <a:chExt cx="157163" cy="149225"/>
            </a:xfrm>
          </p:grpSpPr>
          <p:sp>
            <p:nvSpPr>
              <p:cNvPr id="20" name="Freeform 20"/>
              <p:cNvSpPr/>
              <p:nvPr/>
            </p:nvSpPr>
            <p:spPr>
              <a:xfrm>
                <a:off x="2407444" y="10858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D82000"/>
                </a:solidFill>
              </a:ln>
            </p:spPr>
          </p:sp>
          <p:sp>
            <p:nvSpPr>
              <p:cNvPr id="21" name="Freeform 21"/>
              <p:cNvSpPr/>
              <p:nvPr/>
            </p:nvSpPr>
            <p:spPr>
              <a:xfrm>
                <a:off x="2512219" y="10509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D82000"/>
                </a:solidFill>
              </a:ln>
            </p:spPr>
          </p:sp>
          <p:sp>
            <p:nvSpPr>
              <p:cNvPr id="22" name="Freeform 22"/>
              <p:cNvSpPr/>
              <p:nvPr/>
            </p:nvSpPr>
            <p:spPr>
              <a:xfrm>
                <a:off x="2459831" y="10160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D82000"/>
                </a:solidFill>
              </a:ln>
            </p:spPr>
          </p:sp>
          <p:sp>
            <p:nvSpPr>
              <p:cNvPr id="23" name="Freeform 23"/>
              <p:cNvSpPr/>
              <p:nvPr/>
            </p:nvSpPr>
            <p:spPr>
              <a:xfrm>
                <a:off x="2416175" y="1155700"/>
                <a:ext cx="122238" cy="9525"/>
              </a:xfrm>
              <a:custGeom>
                <a:avLst/>
                <a:gdLst/>
                <a:ahLst/>
                <a:cxnLst/>
                <a:rect l="l" t="t" r="r" b="b"/>
                <a:pathLst>
                  <a:path w="122238" h="9525">
                    <a:moveTo>
                      <a:pt x="0" y="0"/>
                    </a:moveTo>
                    <a:lnTo>
                      <a:pt x="122238" y="0"/>
                    </a:lnTo>
                  </a:path>
                </a:pathLst>
              </a:custGeom>
              <a:noFill/>
              <a:ln w="17463">
                <a:solidFill>
                  <a:srgbClr val="D82000"/>
                </a:solidFill>
              </a:ln>
            </p:spPr>
          </p:sp>
        </p:grpSp>
        <p:sp>
          <p:nvSpPr>
            <p:cNvPr id="25" name="TextBox 25"/>
            <p:cNvSpPr txBox="1"/>
            <p:nvPr/>
          </p:nvSpPr>
          <p:spPr>
            <a:xfrm>
              <a:off x="2681288" y="950595"/>
              <a:ext cx="494157"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收入贡献</a:t>
              </a:r>
            </a:p>
          </p:txBody>
        </p:sp>
        <p:sp>
          <p:nvSpPr>
            <p:cNvPr id="26" name="TextBox 26"/>
            <p:cNvSpPr txBox="1"/>
            <p:nvPr/>
          </p:nvSpPr>
          <p:spPr>
            <a:xfrm>
              <a:off x="2681288" y="1123236"/>
              <a:ext cx="77416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（年均贡献，元）</a:t>
              </a:r>
            </a:p>
          </p:txBody>
        </p:sp>
        <p:sp>
          <p:nvSpPr>
            <p:cNvPr id="27" name="TextBox 27"/>
            <p:cNvSpPr txBox="1"/>
            <p:nvPr/>
          </p:nvSpPr>
          <p:spPr>
            <a:xfrm>
              <a:off x="3846533" y="1000125"/>
              <a:ext cx="365084" cy="293370"/>
            </a:xfrm>
            <a:prstGeom prst="rect">
              <a:avLst/>
            </a:prstGeom>
            <a:noFill/>
            <a:ln>
              <a:noFill/>
            </a:ln>
          </p:spPr>
          <p:txBody>
            <a:bodyPr wrap="none" lIns="0" tIns="0" rIns="0" bIns="0" anchor="t" anchorCtr="0">
              <a:spAutoFit/>
            </a:bodyPr>
            <a:lstStyle/>
            <a:p>
              <a:pPr algn="ctr"/>
              <a:r>
                <a:rPr lang="zh-CN" sz="1500" b="1" dirty="0">
                  <a:solidFill>
                    <a:srgbClr val="C41D00"/>
                  </a:solidFill>
                  <a:latin typeface="+mn-lt"/>
                  <a:ea typeface="+mn-ea"/>
                  <a:cs typeface="+mn-cs"/>
                </a:rPr>
                <a:t>​×​</a:t>
              </a:r>
            </a:p>
          </p:txBody>
        </p:sp>
        <p:sp>
          <p:nvSpPr>
            <p:cNvPr id="28" name="Rectangle 28"/>
            <p:cNvSpPr/>
            <p:nvPr/>
          </p:nvSpPr>
          <p:spPr>
            <a:xfrm>
              <a:off x="4152900" y="876300"/>
              <a:ext cx="1638300" cy="419100"/>
            </a:xfrm>
            <a:prstGeom prst="roundRect">
              <a:avLst>
                <a:gd name="adj" fmla="val 11364"/>
              </a:avLst>
            </a:prstGeom>
            <a:solidFill>
              <a:srgbClr val="FFF8F2"/>
            </a:solidFill>
            <a:ln w="9525">
              <a:solidFill>
                <a:srgbClr val="F0B8AE"/>
              </a:solidFill>
            </a:ln>
          </p:spPr>
        </p:sp>
        <p:grpSp>
          <p:nvGrpSpPr>
            <p:cNvPr id="31" name="Group 31"/>
            <p:cNvGrpSpPr/>
            <p:nvPr/>
          </p:nvGrpSpPr>
          <p:grpSpPr>
            <a:xfrm>
              <a:off x="4281610" y="1007269"/>
              <a:ext cx="170506" cy="157162"/>
              <a:chOff x="4281610" y="1007269"/>
              <a:chExt cx="170506" cy="157162"/>
            </a:xfrm>
          </p:grpSpPr>
          <p:sp>
            <p:nvSpPr>
              <p:cNvPr id="29" name="Freeform 29"/>
              <p:cNvSpPr/>
              <p:nvPr/>
            </p:nvSpPr>
            <p:spPr>
              <a:xfrm>
                <a:off x="4281610" y="100726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D82000"/>
                </a:solidFill>
              </a:ln>
            </p:spPr>
          </p:sp>
          <p:sp>
            <p:nvSpPr>
              <p:cNvPr id="30" name="Freeform 30"/>
              <p:cNvSpPr/>
              <p:nvPr/>
            </p:nvSpPr>
            <p:spPr>
              <a:xfrm>
                <a:off x="4398169" y="1129506"/>
                <a:ext cx="52388" cy="34925"/>
              </a:xfrm>
              <a:custGeom>
                <a:avLst/>
                <a:gdLst/>
                <a:ahLst/>
                <a:cxnLst/>
                <a:rect l="l" t="t" r="r" b="b"/>
                <a:pathLst>
                  <a:path w="52388" h="34925">
                    <a:moveTo>
                      <a:pt x="0" y="17463"/>
                    </a:moveTo>
                    <a:lnTo>
                      <a:pt x="17463" y="34925"/>
                    </a:lnTo>
                    <a:lnTo>
                      <a:pt x="52388" y="0"/>
                    </a:lnTo>
                  </a:path>
                </a:pathLst>
              </a:custGeom>
              <a:noFill/>
              <a:ln w="17463">
                <a:solidFill>
                  <a:srgbClr val="D82000"/>
                </a:solidFill>
              </a:ln>
            </p:spPr>
          </p:sp>
        </p:grpSp>
        <p:sp>
          <p:nvSpPr>
            <p:cNvPr id="32" name="TextBox 32"/>
            <p:cNvSpPr txBox="1"/>
            <p:nvPr/>
          </p:nvSpPr>
          <p:spPr>
            <a:xfrm>
              <a:off x="4567238" y="950595"/>
              <a:ext cx="494157"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留存概率</a:t>
              </a:r>
            </a:p>
          </p:txBody>
        </p:sp>
        <p:sp>
          <p:nvSpPr>
            <p:cNvPr id="33" name="TextBox 33"/>
            <p:cNvSpPr txBox="1"/>
            <p:nvPr/>
          </p:nvSpPr>
          <p:spPr>
            <a:xfrm>
              <a:off x="4567238" y="1123236"/>
              <a:ext cx="377509"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a:t>
              </a:r>
            </a:p>
          </p:txBody>
        </p:sp>
        <p:sp>
          <p:nvSpPr>
            <p:cNvPr id="34" name="TextBox 34"/>
            <p:cNvSpPr txBox="1"/>
            <p:nvPr/>
          </p:nvSpPr>
          <p:spPr>
            <a:xfrm>
              <a:off x="5732483" y="1000125"/>
              <a:ext cx="365084" cy="293370"/>
            </a:xfrm>
            <a:prstGeom prst="rect">
              <a:avLst/>
            </a:prstGeom>
            <a:noFill/>
            <a:ln>
              <a:noFill/>
            </a:ln>
          </p:spPr>
          <p:txBody>
            <a:bodyPr wrap="none" lIns="0" tIns="0" rIns="0" bIns="0" anchor="t" anchorCtr="0">
              <a:spAutoFit/>
            </a:bodyPr>
            <a:lstStyle/>
            <a:p>
              <a:pPr algn="ctr"/>
              <a:r>
                <a:rPr lang="zh-CN" sz="1500" b="1" dirty="0">
                  <a:solidFill>
                    <a:srgbClr val="C41D00"/>
                  </a:solidFill>
                  <a:latin typeface="+mn-lt"/>
                  <a:ea typeface="+mn-ea"/>
                  <a:cs typeface="+mn-cs"/>
                </a:rPr>
                <a:t>​−​</a:t>
              </a:r>
            </a:p>
          </p:txBody>
        </p:sp>
        <p:sp>
          <p:nvSpPr>
            <p:cNvPr id="35" name="Rectangle 35"/>
            <p:cNvSpPr/>
            <p:nvPr/>
          </p:nvSpPr>
          <p:spPr>
            <a:xfrm>
              <a:off x="6038850" y="876300"/>
              <a:ext cx="1638300" cy="419100"/>
            </a:xfrm>
            <a:prstGeom prst="roundRect">
              <a:avLst>
                <a:gd name="adj" fmla="val 11364"/>
              </a:avLst>
            </a:prstGeom>
            <a:solidFill>
              <a:srgbClr val="FFF8F2"/>
            </a:solidFill>
            <a:ln w="9525">
              <a:solidFill>
                <a:srgbClr val="F0B8AE"/>
              </a:solidFill>
            </a:ln>
          </p:spPr>
        </p:sp>
        <p:grpSp>
          <p:nvGrpSpPr>
            <p:cNvPr id="40" name="Group 40"/>
            <p:cNvGrpSpPr/>
            <p:nvPr/>
          </p:nvGrpSpPr>
          <p:grpSpPr>
            <a:xfrm>
              <a:off x="6179344" y="1007269"/>
              <a:ext cx="157163" cy="157163"/>
              <a:chOff x="6179344" y="1007269"/>
              <a:chExt cx="157163" cy="157163"/>
            </a:xfrm>
          </p:grpSpPr>
          <p:sp>
            <p:nvSpPr>
              <p:cNvPr id="36" name="Freeform 36"/>
              <p:cNvSpPr/>
              <p:nvPr/>
            </p:nvSpPr>
            <p:spPr>
              <a:xfrm>
                <a:off x="6196806" y="10072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D82000"/>
                </a:solidFill>
              </a:ln>
            </p:spPr>
          </p:sp>
          <p:sp>
            <p:nvSpPr>
              <p:cNvPr id="37" name="Freeform 37"/>
              <p:cNvSpPr/>
              <p:nvPr/>
            </p:nvSpPr>
            <p:spPr>
              <a:xfrm>
                <a:off x="6179344" y="111204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D82000"/>
                </a:solidFill>
              </a:ln>
            </p:spPr>
          </p:sp>
          <p:sp>
            <p:nvSpPr>
              <p:cNvPr id="38" name="Freeform 38"/>
              <p:cNvSpPr/>
              <p:nvPr/>
            </p:nvSpPr>
            <p:spPr>
              <a:xfrm>
                <a:off x="6292850" y="100840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D82000"/>
                </a:solidFill>
              </a:ln>
            </p:spPr>
          </p:sp>
          <p:sp>
            <p:nvSpPr>
              <p:cNvPr id="39" name="Freeform 39"/>
              <p:cNvSpPr/>
              <p:nvPr/>
            </p:nvSpPr>
            <p:spPr>
              <a:xfrm>
                <a:off x="6310313" y="111335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D82000"/>
                </a:solidFill>
              </a:ln>
            </p:spPr>
          </p:sp>
        </p:grpSp>
        <p:sp>
          <p:nvSpPr>
            <p:cNvPr id="41" name="TextBox 41"/>
            <p:cNvSpPr txBox="1"/>
            <p:nvPr/>
          </p:nvSpPr>
          <p:spPr>
            <a:xfrm>
              <a:off x="6453188" y="950595"/>
              <a:ext cx="494157"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服务成本</a:t>
              </a:r>
            </a:p>
          </p:txBody>
        </p:sp>
        <p:sp>
          <p:nvSpPr>
            <p:cNvPr id="42" name="TextBox 42"/>
            <p:cNvSpPr txBox="1"/>
            <p:nvPr/>
          </p:nvSpPr>
          <p:spPr>
            <a:xfrm>
              <a:off x="6453188" y="1123236"/>
              <a:ext cx="77416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（年均成本，元）</a:t>
              </a:r>
            </a:p>
          </p:txBody>
        </p:sp>
        <p:sp>
          <p:nvSpPr>
            <p:cNvPr id="43" name="TextBox 43"/>
            <p:cNvSpPr txBox="1"/>
            <p:nvPr/>
          </p:nvSpPr>
          <p:spPr>
            <a:xfrm>
              <a:off x="7618433" y="1000125"/>
              <a:ext cx="365084" cy="293370"/>
            </a:xfrm>
            <a:prstGeom prst="rect">
              <a:avLst/>
            </a:prstGeom>
            <a:noFill/>
            <a:ln>
              <a:noFill/>
            </a:ln>
          </p:spPr>
          <p:txBody>
            <a:bodyPr wrap="none" lIns="0" tIns="0" rIns="0" bIns="0" anchor="t" anchorCtr="0">
              <a:spAutoFit/>
            </a:bodyPr>
            <a:lstStyle/>
            <a:p>
              <a:pPr algn="ctr"/>
              <a:r>
                <a:rPr lang="zh-CN" sz="1500" b="1" dirty="0">
                  <a:solidFill>
                    <a:srgbClr val="C41D00"/>
                  </a:solidFill>
                  <a:latin typeface="+mn-lt"/>
                  <a:ea typeface="+mn-ea"/>
                  <a:cs typeface="+mn-cs"/>
                </a:rPr>
                <a:t>​−​</a:t>
              </a:r>
            </a:p>
          </p:txBody>
        </p:sp>
        <p:sp>
          <p:nvSpPr>
            <p:cNvPr id="44" name="Rectangle 44"/>
            <p:cNvSpPr/>
            <p:nvPr/>
          </p:nvSpPr>
          <p:spPr>
            <a:xfrm>
              <a:off x="7924800" y="876300"/>
              <a:ext cx="1638300" cy="419100"/>
            </a:xfrm>
            <a:prstGeom prst="roundRect">
              <a:avLst>
                <a:gd name="adj" fmla="val 11364"/>
              </a:avLst>
            </a:prstGeom>
            <a:solidFill>
              <a:srgbClr val="FFF8F2"/>
            </a:solidFill>
            <a:ln w="9525">
              <a:solidFill>
                <a:srgbClr val="F0B8AE"/>
              </a:solidFill>
            </a:ln>
          </p:spPr>
        </p:sp>
        <p:grpSp>
          <p:nvGrpSpPr>
            <p:cNvPr id="48" name="Group 48"/>
            <p:cNvGrpSpPr/>
            <p:nvPr/>
          </p:nvGrpSpPr>
          <p:grpSpPr>
            <a:xfrm>
              <a:off x="8055819" y="1004368"/>
              <a:ext cx="176105" cy="151297"/>
              <a:chOff x="8055819" y="1004368"/>
              <a:chExt cx="176105" cy="151297"/>
            </a:xfrm>
          </p:grpSpPr>
          <p:sp>
            <p:nvSpPr>
              <p:cNvPr id="45" name="Freeform 45"/>
              <p:cNvSpPr/>
              <p:nvPr/>
            </p:nvSpPr>
            <p:spPr>
              <a:xfrm>
                <a:off x="8143875" y="1059656"/>
                <a:ext cx="9525" cy="34925"/>
              </a:xfrm>
              <a:custGeom>
                <a:avLst/>
                <a:gdLst/>
                <a:ahLst/>
                <a:cxnLst/>
                <a:rect l="l" t="t" r="r" b="b"/>
                <a:pathLst>
                  <a:path w="9525" h="34925">
                    <a:moveTo>
                      <a:pt x="0" y="0"/>
                    </a:moveTo>
                    <a:lnTo>
                      <a:pt x="0" y="34925"/>
                    </a:lnTo>
                  </a:path>
                </a:pathLst>
              </a:custGeom>
              <a:noFill/>
              <a:ln w="17463">
                <a:solidFill>
                  <a:srgbClr val="D82000"/>
                </a:solidFill>
              </a:ln>
            </p:spPr>
          </p:sp>
          <p:sp>
            <p:nvSpPr>
              <p:cNvPr id="46" name="Freeform 46"/>
              <p:cNvSpPr/>
              <p:nvPr/>
            </p:nvSpPr>
            <p:spPr>
              <a:xfrm>
                <a:off x="8055819" y="1004368"/>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D82000"/>
                </a:solidFill>
              </a:ln>
            </p:spPr>
          </p:sp>
          <p:sp>
            <p:nvSpPr>
              <p:cNvPr id="47" name="Freeform 47"/>
              <p:cNvSpPr/>
              <p:nvPr/>
            </p:nvSpPr>
            <p:spPr>
              <a:xfrm>
                <a:off x="8143875" y="1120775"/>
                <a:ext cx="9525" cy="9525"/>
              </a:xfrm>
              <a:custGeom>
                <a:avLst/>
                <a:gdLst/>
                <a:ahLst/>
                <a:cxnLst/>
                <a:rect l="l" t="t" r="r" b="b"/>
                <a:pathLst>
                  <a:path w="9525" h="9525">
                    <a:moveTo>
                      <a:pt x="0" y="0"/>
                    </a:moveTo>
                    <a:lnTo>
                      <a:pt x="87" y="0"/>
                    </a:lnTo>
                  </a:path>
                </a:pathLst>
              </a:custGeom>
              <a:noFill/>
              <a:ln w="17463">
                <a:solidFill>
                  <a:srgbClr val="D82000"/>
                </a:solidFill>
              </a:ln>
            </p:spPr>
          </p:sp>
        </p:grpSp>
        <p:sp>
          <p:nvSpPr>
            <p:cNvPr id="49" name="TextBox 49"/>
            <p:cNvSpPr txBox="1"/>
            <p:nvPr/>
          </p:nvSpPr>
          <p:spPr>
            <a:xfrm>
              <a:off x="8339138" y="950595"/>
              <a:ext cx="494157" cy="176212"/>
            </a:xfrm>
            <a:prstGeom prst="rect">
              <a:avLst/>
            </a:prstGeom>
            <a:noFill/>
            <a:ln>
              <a:noFill/>
            </a:ln>
          </p:spPr>
          <p:txBody>
            <a:bodyPr wrap="none" lIns="0" tIns="0" rIns="0" bIns="0" anchor="t" anchorCtr="0">
              <a:spAutoFit/>
            </a:bodyPr>
            <a:lstStyle/>
            <a:p>
              <a:pPr algn="l"/>
              <a:r>
                <a:rPr lang="zh-CN" sz="900" b="1" dirty="0">
                  <a:solidFill>
                    <a:srgbClr val="3D3835"/>
                  </a:solidFill>
                  <a:latin typeface="+mn-lt"/>
                  <a:ea typeface="+mn-ea"/>
                  <a:cs typeface="+mn-cs"/>
                </a:rPr>
                <a:t>风险成本</a:t>
              </a:r>
            </a:p>
          </p:txBody>
        </p:sp>
        <p:sp>
          <p:nvSpPr>
            <p:cNvPr id="50" name="TextBox 50"/>
            <p:cNvSpPr txBox="1"/>
            <p:nvPr/>
          </p:nvSpPr>
          <p:spPr>
            <a:xfrm>
              <a:off x="8339138" y="1123236"/>
              <a:ext cx="77416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（年均成本，元）</a:t>
              </a:r>
            </a:p>
          </p:txBody>
        </p:sp>
        <p:sp>
          <p:nvSpPr>
            <p:cNvPr id="51" name="TextBox 51"/>
            <p:cNvSpPr txBox="1"/>
            <p:nvPr/>
          </p:nvSpPr>
          <p:spPr>
            <a:xfrm>
              <a:off x="9504383" y="1000125"/>
              <a:ext cx="365084" cy="293370"/>
            </a:xfrm>
            <a:prstGeom prst="rect">
              <a:avLst/>
            </a:prstGeom>
            <a:noFill/>
            <a:ln>
              <a:noFill/>
            </a:ln>
          </p:spPr>
          <p:txBody>
            <a:bodyPr wrap="none" lIns="0" tIns="0" rIns="0" bIns="0" anchor="t" anchorCtr="0">
              <a:spAutoFit/>
            </a:bodyPr>
            <a:lstStyle/>
            <a:p>
              <a:pPr algn="ctr"/>
              <a:r>
                <a:rPr lang="zh-CN" sz="1500" b="1" dirty="0">
                  <a:solidFill>
                    <a:srgbClr val="C41D00"/>
                  </a:solidFill>
                  <a:latin typeface="+mn-lt"/>
                  <a:ea typeface="+mn-ea"/>
                  <a:cs typeface="+mn-cs"/>
                </a:rPr>
                <a:t>​=​</a:t>
              </a:r>
            </a:p>
          </p:txBody>
        </p:sp>
        <p:sp>
          <p:nvSpPr>
            <p:cNvPr id="52" name="Rectangle 52"/>
            <p:cNvSpPr/>
            <p:nvPr/>
          </p:nvSpPr>
          <p:spPr>
            <a:xfrm>
              <a:off x="9810750" y="876300"/>
              <a:ext cx="2000250" cy="419100"/>
            </a:xfrm>
            <a:prstGeom prst="roundRect">
              <a:avLst>
                <a:gd name="adj" fmla="val 11364"/>
              </a:avLst>
            </a:prstGeom>
            <a:solidFill>
              <a:srgbClr val="C41D00"/>
            </a:solidFill>
            <a:ln>
              <a:noFill/>
            </a:ln>
          </p:spPr>
        </p:sp>
        <p:sp>
          <p:nvSpPr>
            <p:cNvPr id="53" name="TextBox 53"/>
            <p:cNvSpPr txBox="1"/>
            <p:nvPr/>
          </p:nvSpPr>
          <p:spPr>
            <a:xfrm>
              <a:off x="10410139" y="94249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客户终身价值</a:t>
              </a:r>
            </a:p>
          </p:txBody>
        </p:sp>
        <p:sp>
          <p:nvSpPr>
            <p:cNvPr id="54" name="TextBox 54"/>
            <p:cNvSpPr txBox="1"/>
            <p:nvPr/>
          </p:nvSpPr>
          <p:spPr>
            <a:xfrm>
              <a:off x="10419441" y="1120616"/>
              <a:ext cx="78286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​​CLV（元）​​</a:t>
              </a:r>
            </a:p>
          </p:txBody>
        </p:sp>
      </p:grpSp>
      <p:grpSp>
        <p:nvGrpSpPr>
          <p:cNvPr id="96" name="value-composition"/>
          <p:cNvGrpSpPr/>
          <p:nvPr/>
        </p:nvGrpSpPr>
        <p:grpSpPr>
          <a:xfrm>
            <a:off x="376238" y="1411843"/>
            <a:ext cx="2462212" cy="2321957"/>
            <a:chOff x="376238" y="1411843"/>
            <a:chExt cx="2462212" cy="2321957"/>
          </a:xfrm>
        </p:grpSpPr>
        <p:sp>
          <p:nvSpPr>
            <p:cNvPr id="56" name="TextBox 56"/>
            <p:cNvSpPr txBox="1"/>
            <p:nvPr/>
          </p:nvSpPr>
          <p:spPr>
            <a:xfrm>
              <a:off x="376238" y="1411843"/>
              <a:ext cx="704164" cy="169069"/>
            </a:xfrm>
            <a:prstGeom prst="rect">
              <a:avLst/>
            </a:prstGeom>
            <a:noFill/>
            <a:ln>
              <a:noFill/>
            </a:ln>
          </p:spPr>
          <p:txBody>
            <a:bodyPr wrap="none" lIns="0" tIns="0" rIns="0" bIns="0" anchor="t" anchorCtr="0">
              <a:spAutoFit/>
            </a:bodyPr>
            <a:lstStyle/>
            <a:p>
              <a:pPr algn="l"/>
              <a:r>
                <a:rPr lang="zh-CN" sz="860" b="1" dirty="0">
                  <a:solidFill>
                    <a:srgbClr val="C41D00"/>
                  </a:solidFill>
                  <a:latin typeface="+mn-lt"/>
                  <a:ea typeface="+mn-ea"/>
                  <a:cs typeface="+mn-cs"/>
                </a:rPr>
                <a:t>价值贡献构成</a:t>
              </a:r>
            </a:p>
          </p:txBody>
        </p:sp>
        <p:sp>
          <p:nvSpPr>
            <p:cNvPr id="57" name="Rectangle 57"/>
            <p:cNvSpPr/>
            <p:nvPr/>
          </p:nvSpPr>
          <p:spPr>
            <a:xfrm>
              <a:off x="381000" y="1581150"/>
              <a:ext cx="2457450" cy="400050"/>
            </a:xfrm>
            <a:prstGeom prst="roundRect">
              <a:avLst>
                <a:gd name="adj" fmla="val 9524"/>
              </a:avLst>
            </a:prstGeom>
            <a:solidFill>
              <a:srgbClr val="FFF8F2"/>
            </a:solidFill>
            <a:ln w="9525">
              <a:solidFill>
                <a:srgbClr val="F0B8AE"/>
              </a:solidFill>
            </a:ln>
          </p:spPr>
        </p:sp>
        <p:grpSp>
          <p:nvGrpSpPr>
            <p:cNvPr id="63" name="Group 63"/>
            <p:cNvGrpSpPr/>
            <p:nvPr/>
          </p:nvGrpSpPr>
          <p:grpSpPr>
            <a:xfrm>
              <a:off x="483394" y="1701424"/>
              <a:ext cx="157162" cy="158333"/>
              <a:chOff x="483394" y="1701424"/>
              <a:chExt cx="157162" cy="158333"/>
            </a:xfrm>
          </p:grpSpPr>
          <p:sp>
            <p:nvSpPr>
              <p:cNvPr id="58" name="Freeform 58"/>
              <p:cNvSpPr/>
              <p:nvPr/>
            </p:nvSpPr>
            <p:spPr>
              <a:xfrm>
                <a:off x="535781" y="1772444"/>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D82000"/>
                </a:solidFill>
              </a:ln>
            </p:spPr>
          </p:sp>
          <p:sp>
            <p:nvSpPr>
              <p:cNvPr id="59" name="Freeform 59"/>
              <p:cNvSpPr/>
              <p:nvPr/>
            </p:nvSpPr>
            <p:spPr>
              <a:xfrm>
                <a:off x="535781" y="1798638"/>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D82000"/>
                </a:solidFill>
              </a:ln>
            </p:spPr>
          </p:sp>
          <p:sp>
            <p:nvSpPr>
              <p:cNvPr id="60" name="Freeform 60"/>
              <p:cNvSpPr/>
              <p:nvPr/>
            </p:nvSpPr>
            <p:spPr>
              <a:xfrm>
                <a:off x="483394" y="1701424"/>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D82000"/>
                </a:solidFill>
              </a:ln>
            </p:spPr>
          </p:sp>
          <p:sp>
            <p:nvSpPr>
              <p:cNvPr id="61" name="Freeform 61"/>
              <p:cNvSpPr/>
              <p:nvPr/>
            </p:nvSpPr>
            <p:spPr>
              <a:xfrm>
                <a:off x="483394" y="1728788"/>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D82000"/>
                </a:solidFill>
              </a:ln>
            </p:spPr>
          </p:sp>
          <p:sp>
            <p:nvSpPr>
              <p:cNvPr id="62" name="Freeform 62"/>
              <p:cNvSpPr/>
              <p:nvPr/>
            </p:nvSpPr>
            <p:spPr>
              <a:xfrm>
                <a:off x="483394" y="1772444"/>
                <a:ext cx="17463" cy="17463"/>
              </a:xfrm>
              <a:custGeom>
                <a:avLst/>
                <a:gdLst/>
                <a:ahLst/>
                <a:cxnLst/>
                <a:rect l="l" t="t" r="r" b="b"/>
                <a:pathLst>
                  <a:path w="17463" h="17463">
                    <a:moveTo>
                      <a:pt x="0" y="0"/>
                    </a:moveTo>
                    <a:cubicBezTo>
                      <a:pt x="0" y="7753"/>
                      <a:pt x="6741" y="12660"/>
                      <a:pt x="17463" y="17463"/>
                    </a:cubicBezTo>
                  </a:path>
                </a:pathLst>
              </a:custGeom>
              <a:noFill/>
              <a:ln w="17463">
                <a:solidFill>
                  <a:srgbClr val="D82000"/>
                </a:solidFill>
              </a:ln>
            </p:spPr>
          </p:sp>
        </p:grpSp>
        <p:sp>
          <p:nvSpPr>
            <p:cNvPr id="64" name="TextBox 64"/>
            <p:cNvSpPr txBox="1"/>
            <p:nvPr/>
          </p:nvSpPr>
          <p:spPr>
            <a:xfrm>
              <a:off x="776288" y="1644491"/>
              <a:ext cx="451079" cy="161925"/>
            </a:xfrm>
            <a:prstGeom prst="rect">
              <a:avLst/>
            </a:prstGeom>
            <a:noFill/>
            <a:ln>
              <a:noFill/>
            </a:ln>
          </p:spPr>
          <p:txBody>
            <a:bodyPr wrap="none" lIns="0" tIns="0" rIns="0" bIns="0" anchor="t" anchorCtr="0">
              <a:spAutoFit/>
            </a:bodyPr>
            <a:lstStyle/>
            <a:p>
              <a:pPr algn="l"/>
              <a:r>
                <a:rPr lang="zh-CN" sz="820" b="1" dirty="0">
                  <a:solidFill>
                    <a:srgbClr val="3D3835"/>
                  </a:solidFill>
                  <a:latin typeface="+mn-lt"/>
                  <a:ea typeface="+mn-ea"/>
                  <a:cs typeface="+mn-cs"/>
                </a:rPr>
                <a:t>存款贡献</a:t>
              </a:r>
            </a:p>
          </p:txBody>
        </p:sp>
        <p:sp>
          <p:nvSpPr>
            <p:cNvPr id="65" name="TextBox 65"/>
            <p:cNvSpPr txBox="1"/>
            <p:nvPr/>
          </p:nvSpPr>
          <p:spPr>
            <a:xfrm>
              <a:off x="776288" y="1809036"/>
              <a:ext cx="1084802"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存款余额 × 净息差贡献​​</a:t>
              </a:r>
            </a:p>
          </p:txBody>
        </p:sp>
        <p:sp>
          <p:nvSpPr>
            <p:cNvPr id="66" name="Rectangle 66"/>
            <p:cNvSpPr/>
            <p:nvPr/>
          </p:nvSpPr>
          <p:spPr>
            <a:xfrm>
              <a:off x="381000" y="2019300"/>
              <a:ext cx="2457450" cy="400050"/>
            </a:xfrm>
            <a:prstGeom prst="roundRect">
              <a:avLst>
                <a:gd name="adj" fmla="val 9524"/>
              </a:avLst>
            </a:prstGeom>
            <a:solidFill>
              <a:srgbClr val="FFF8F2"/>
            </a:solidFill>
            <a:ln w="9525">
              <a:solidFill>
                <a:srgbClr val="F0B8AE"/>
              </a:solidFill>
            </a:ln>
          </p:spPr>
        </p:sp>
        <p:grpSp>
          <p:nvGrpSpPr>
            <p:cNvPr id="71" name="Group 71"/>
            <p:cNvGrpSpPr/>
            <p:nvPr/>
          </p:nvGrpSpPr>
          <p:grpSpPr>
            <a:xfrm>
              <a:off x="500856" y="2140744"/>
              <a:ext cx="122238" cy="157162"/>
              <a:chOff x="500856" y="2140744"/>
              <a:chExt cx="122238" cy="157162"/>
            </a:xfrm>
          </p:grpSpPr>
          <p:sp>
            <p:nvSpPr>
              <p:cNvPr id="67" name="Freeform 67"/>
              <p:cNvSpPr/>
              <p:nvPr/>
            </p:nvSpPr>
            <p:spPr>
              <a:xfrm>
                <a:off x="5008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rgbClr val="D82000"/>
                </a:solidFill>
              </a:ln>
            </p:spPr>
          </p:sp>
          <p:sp>
            <p:nvSpPr>
              <p:cNvPr id="68" name="Freeform 68"/>
              <p:cNvSpPr/>
              <p:nvPr/>
            </p:nvSpPr>
            <p:spPr>
              <a:xfrm>
                <a:off x="5357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rgbClr val="D82000"/>
                </a:solidFill>
              </a:ln>
            </p:spPr>
          </p:sp>
          <p:sp>
            <p:nvSpPr>
              <p:cNvPr id="69" name="Freeform 69"/>
              <p:cNvSpPr/>
              <p:nvPr/>
            </p:nvSpPr>
            <p:spPr>
              <a:xfrm>
                <a:off x="544513" y="2210594"/>
                <a:ext cx="34925" cy="52388"/>
              </a:xfrm>
              <a:custGeom>
                <a:avLst/>
                <a:gdLst/>
                <a:ahLst/>
                <a:cxnLst/>
                <a:rect l="l" t="t" r="r" b="b"/>
                <a:pathLst>
                  <a:path w="34925" h="52388">
                    <a:moveTo>
                      <a:pt x="34925" y="0"/>
                    </a:moveTo>
                    <a:lnTo>
                      <a:pt x="13097" y="0"/>
                    </a:lnTo>
                    <a:cubicBezTo>
                      <a:pt x="5864" y="0"/>
                      <a:pt x="0" y="5864"/>
                      <a:pt x="0" y="13097"/>
                    </a:cubicBezTo>
                    <a:cubicBezTo>
                      <a:pt x="0" y="20330"/>
                      <a:pt x="5864" y="26194"/>
                      <a:pt x="13097" y="26194"/>
                    </a:cubicBezTo>
                    <a:lnTo>
                      <a:pt x="21828" y="26194"/>
                    </a:lnTo>
                    <a:cubicBezTo>
                      <a:pt x="29061" y="26194"/>
                      <a:pt x="34925" y="32057"/>
                      <a:pt x="34925" y="39291"/>
                    </a:cubicBezTo>
                    <a:cubicBezTo>
                      <a:pt x="34925" y="46524"/>
                      <a:pt x="29061" y="52388"/>
                      <a:pt x="21828" y="52388"/>
                    </a:cubicBezTo>
                    <a:lnTo>
                      <a:pt x="0" y="52388"/>
                    </a:lnTo>
                  </a:path>
                </a:pathLst>
              </a:custGeom>
              <a:noFill/>
              <a:ln w="17463">
                <a:solidFill>
                  <a:srgbClr val="D82000"/>
                </a:solidFill>
              </a:ln>
            </p:spPr>
          </p:sp>
          <p:sp>
            <p:nvSpPr>
              <p:cNvPr id="70" name="Freeform 70"/>
              <p:cNvSpPr/>
              <p:nvPr/>
            </p:nvSpPr>
            <p:spPr>
              <a:xfrm>
                <a:off x="561975" y="2201863"/>
                <a:ext cx="9525" cy="69850"/>
              </a:xfrm>
              <a:custGeom>
                <a:avLst/>
                <a:gdLst/>
                <a:ahLst/>
                <a:cxnLst/>
                <a:rect l="l" t="t" r="r" b="b"/>
                <a:pathLst>
                  <a:path w="9525" h="69850">
                    <a:moveTo>
                      <a:pt x="0" y="61119"/>
                    </a:moveTo>
                    <a:lnTo>
                      <a:pt x="0" y="69850"/>
                    </a:lnTo>
                    <a:moveTo>
                      <a:pt x="0" y="0"/>
                    </a:moveTo>
                    <a:lnTo>
                      <a:pt x="0" y="8731"/>
                    </a:lnTo>
                  </a:path>
                </a:pathLst>
              </a:custGeom>
              <a:noFill/>
              <a:ln w="17463">
                <a:solidFill>
                  <a:srgbClr val="D82000"/>
                </a:solidFill>
              </a:ln>
            </p:spPr>
          </p:sp>
        </p:grpSp>
        <p:sp>
          <p:nvSpPr>
            <p:cNvPr id="72" name="TextBox 72"/>
            <p:cNvSpPr txBox="1"/>
            <p:nvPr/>
          </p:nvSpPr>
          <p:spPr>
            <a:xfrm>
              <a:off x="776288" y="2082641"/>
              <a:ext cx="451079" cy="161925"/>
            </a:xfrm>
            <a:prstGeom prst="rect">
              <a:avLst/>
            </a:prstGeom>
            <a:noFill/>
            <a:ln>
              <a:noFill/>
            </a:ln>
          </p:spPr>
          <p:txBody>
            <a:bodyPr wrap="none" lIns="0" tIns="0" rIns="0" bIns="0" anchor="t" anchorCtr="0">
              <a:spAutoFit/>
            </a:bodyPr>
            <a:lstStyle/>
            <a:p>
              <a:pPr algn="l"/>
              <a:r>
                <a:rPr lang="zh-CN" sz="820" b="1" dirty="0">
                  <a:solidFill>
                    <a:srgbClr val="3D3835"/>
                  </a:solidFill>
                  <a:latin typeface="+mn-lt"/>
                  <a:ea typeface="+mn-ea"/>
                  <a:cs typeface="+mn-cs"/>
                </a:rPr>
                <a:t>财富中收</a:t>
              </a:r>
            </a:p>
          </p:txBody>
        </p:sp>
        <p:sp>
          <p:nvSpPr>
            <p:cNvPr id="73" name="TextBox 73"/>
            <p:cNvSpPr txBox="1"/>
            <p:nvPr/>
          </p:nvSpPr>
          <p:spPr>
            <a:xfrm>
              <a:off x="776288" y="2247186"/>
              <a:ext cx="1132592"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理财/基金/保险等中收​​​</a:t>
              </a:r>
            </a:p>
          </p:txBody>
        </p:sp>
        <p:sp>
          <p:nvSpPr>
            <p:cNvPr id="74" name="Rectangle 74"/>
            <p:cNvSpPr/>
            <p:nvPr/>
          </p:nvSpPr>
          <p:spPr>
            <a:xfrm>
              <a:off x="381000" y="2457450"/>
              <a:ext cx="2457450" cy="400050"/>
            </a:xfrm>
            <a:prstGeom prst="roundRect">
              <a:avLst>
                <a:gd name="adj" fmla="val 9524"/>
              </a:avLst>
            </a:prstGeom>
            <a:solidFill>
              <a:srgbClr val="FFF8F2"/>
            </a:solidFill>
            <a:ln w="9525">
              <a:solidFill>
                <a:srgbClr val="F0B8AE"/>
              </a:solidFill>
            </a:ln>
          </p:spPr>
        </p:sp>
        <p:grpSp>
          <p:nvGrpSpPr>
            <p:cNvPr id="78" name="Group 78"/>
            <p:cNvGrpSpPr/>
            <p:nvPr/>
          </p:nvGrpSpPr>
          <p:grpSpPr>
            <a:xfrm>
              <a:off x="483394" y="2596356"/>
              <a:ext cx="157163" cy="122238"/>
              <a:chOff x="483394" y="2596356"/>
              <a:chExt cx="157163" cy="122238"/>
            </a:xfrm>
          </p:grpSpPr>
          <p:sp>
            <p:nvSpPr>
              <p:cNvPr id="75" name="Freeform 75"/>
              <p:cNvSpPr/>
              <p:nvPr/>
            </p:nvSpPr>
            <p:spPr>
              <a:xfrm>
                <a:off x="483394" y="2596356"/>
                <a:ext cx="122238" cy="87313"/>
              </a:xfrm>
              <a:custGeom>
                <a:avLst/>
                <a:gdLst/>
                <a:ahLst/>
                <a:cxnLst/>
                <a:rect l="l" t="t" r="r" b="b"/>
                <a:pathLst>
                  <a:path w="122238" h="87313">
                    <a:moveTo>
                      <a:pt x="34925" y="87313"/>
                    </a:moveTo>
                    <a:lnTo>
                      <a:pt x="8731" y="87313"/>
                    </a:lnTo>
                    <a:cubicBezTo>
                      <a:pt x="3909" y="87313"/>
                      <a:pt x="0" y="83403"/>
                      <a:pt x="0" y="78581"/>
                    </a:cubicBezTo>
                    <a:lnTo>
                      <a:pt x="0" y="8731"/>
                    </a:lnTo>
                    <a:cubicBezTo>
                      <a:pt x="0" y="3909"/>
                      <a:pt x="3909" y="0"/>
                      <a:pt x="8731" y="0"/>
                    </a:cubicBezTo>
                    <a:lnTo>
                      <a:pt x="113506" y="0"/>
                    </a:lnTo>
                    <a:cubicBezTo>
                      <a:pt x="118328" y="0"/>
                      <a:pt x="122238" y="3909"/>
                      <a:pt x="122238" y="8731"/>
                    </a:cubicBezTo>
                    <a:lnTo>
                      <a:pt x="122238" y="34925"/>
                    </a:lnTo>
                  </a:path>
                </a:pathLst>
              </a:custGeom>
              <a:noFill/>
              <a:ln w="17463">
                <a:solidFill>
                  <a:srgbClr val="D82000"/>
                </a:solidFill>
              </a:ln>
            </p:spPr>
          </p:sp>
          <p:sp>
            <p:nvSpPr>
              <p:cNvPr id="76" name="Freeform 76"/>
              <p:cNvSpPr/>
              <p:nvPr/>
            </p:nvSpPr>
            <p:spPr>
              <a:xfrm>
                <a:off x="518319" y="2631281"/>
                <a:ext cx="122238" cy="87313"/>
              </a:xfrm>
              <a:custGeom>
                <a:avLst/>
                <a:gdLst/>
                <a:ahLst/>
                <a:cxnLst/>
                <a:rect l="l" t="t" r="r" b="b"/>
                <a:pathLst>
                  <a:path w="122238" h="87313">
                    <a:moveTo>
                      <a:pt x="0" y="8731"/>
                    </a:moveTo>
                    <a:cubicBezTo>
                      <a:pt x="0" y="3909"/>
                      <a:pt x="3909" y="0"/>
                      <a:pt x="8731" y="0"/>
                    </a:cubicBezTo>
                    <a:lnTo>
                      <a:pt x="113506" y="0"/>
                    </a:lnTo>
                    <a:cubicBezTo>
                      <a:pt x="118328" y="0"/>
                      <a:pt x="122238" y="3909"/>
                      <a:pt x="122238" y="8731"/>
                    </a:cubicBezTo>
                    <a:lnTo>
                      <a:pt x="122238" y="78581"/>
                    </a:lnTo>
                    <a:cubicBezTo>
                      <a:pt x="122238" y="83403"/>
                      <a:pt x="118328" y="87313"/>
                      <a:pt x="113506" y="87313"/>
                    </a:cubicBezTo>
                    <a:lnTo>
                      <a:pt x="8731" y="87313"/>
                    </a:lnTo>
                    <a:cubicBezTo>
                      <a:pt x="3909" y="87313"/>
                      <a:pt x="0" y="83403"/>
                      <a:pt x="0" y="78581"/>
                    </a:cubicBezTo>
                    <a:lnTo>
                      <a:pt x="0" y="8731"/>
                    </a:lnTo>
                  </a:path>
                </a:pathLst>
              </a:custGeom>
              <a:noFill/>
              <a:ln w="17463">
                <a:solidFill>
                  <a:srgbClr val="D82000"/>
                </a:solidFill>
              </a:ln>
            </p:spPr>
          </p:sp>
          <p:sp>
            <p:nvSpPr>
              <p:cNvPr id="77" name="Freeform 77"/>
              <p:cNvSpPr/>
              <p:nvPr/>
            </p:nvSpPr>
            <p:spPr>
              <a:xfrm>
                <a:off x="561975" y="2657475"/>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D82000"/>
                </a:solidFill>
              </a:ln>
            </p:spPr>
          </p:sp>
        </p:grpSp>
        <p:sp>
          <p:nvSpPr>
            <p:cNvPr id="79" name="TextBox 79"/>
            <p:cNvSpPr txBox="1"/>
            <p:nvPr/>
          </p:nvSpPr>
          <p:spPr>
            <a:xfrm>
              <a:off x="776288" y="2520791"/>
              <a:ext cx="451079" cy="161925"/>
            </a:xfrm>
            <a:prstGeom prst="rect">
              <a:avLst/>
            </a:prstGeom>
            <a:noFill/>
            <a:ln>
              <a:noFill/>
            </a:ln>
          </p:spPr>
          <p:txBody>
            <a:bodyPr wrap="none" lIns="0" tIns="0" rIns="0" bIns="0" anchor="t" anchorCtr="0">
              <a:spAutoFit/>
            </a:bodyPr>
            <a:lstStyle/>
            <a:p>
              <a:pPr algn="l"/>
              <a:r>
                <a:rPr lang="zh-CN" sz="820" b="1" dirty="0">
                  <a:solidFill>
                    <a:srgbClr val="3D3835"/>
                  </a:solidFill>
                  <a:latin typeface="+mn-lt"/>
                  <a:ea typeface="+mn-ea"/>
                  <a:cs typeface="+mn-cs"/>
                </a:rPr>
                <a:t>信贷收益</a:t>
              </a:r>
            </a:p>
          </p:txBody>
        </p:sp>
        <p:sp>
          <p:nvSpPr>
            <p:cNvPr id="80" name="TextBox 80"/>
            <p:cNvSpPr txBox="1"/>
            <p:nvPr/>
          </p:nvSpPr>
          <p:spPr>
            <a:xfrm>
              <a:off x="776288" y="2685336"/>
              <a:ext cx="1275963"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贷款余额 × 风险调整收益率​​</a:t>
              </a:r>
            </a:p>
          </p:txBody>
        </p:sp>
        <p:sp>
          <p:nvSpPr>
            <p:cNvPr id="81" name="Rectangle 81"/>
            <p:cNvSpPr/>
            <p:nvPr/>
          </p:nvSpPr>
          <p:spPr>
            <a:xfrm>
              <a:off x="381000" y="2895600"/>
              <a:ext cx="2457450" cy="400050"/>
            </a:xfrm>
            <a:prstGeom prst="roundRect">
              <a:avLst>
                <a:gd name="adj" fmla="val 9524"/>
              </a:avLst>
            </a:prstGeom>
            <a:solidFill>
              <a:srgbClr val="FFF8F2"/>
            </a:solidFill>
            <a:ln w="9525">
              <a:solidFill>
                <a:srgbClr val="F0B8AE"/>
              </a:solidFill>
            </a:ln>
          </p:spPr>
        </p:sp>
        <p:grpSp>
          <p:nvGrpSpPr>
            <p:cNvPr id="86" name="Group 86"/>
            <p:cNvGrpSpPr/>
            <p:nvPr/>
          </p:nvGrpSpPr>
          <p:grpSpPr>
            <a:xfrm>
              <a:off x="483394" y="3034506"/>
              <a:ext cx="157163" cy="122238"/>
              <a:chOff x="483394" y="3034506"/>
              <a:chExt cx="157163" cy="122238"/>
            </a:xfrm>
          </p:grpSpPr>
          <p:sp>
            <p:nvSpPr>
              <p:cNvPr id="82" name="Freeform 82"/>
              <p:cNvSpPr/>
              <p:nvPr/>
            </p:nvSpPr>
            <p:spPr>
              <a:xfrm>
                <a:off x="483394" y="3034506"/>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7463">
                <a:solidFill>
                  <a:srgbClr val="D82000"/>
                </a:solidFill>
              </a:ln>
            </p:spPr>
          </p:sp>
          <p:sp>
            <p:nvSpPr>
              <p:cNvPr id="83" name="Freeform 83"/>
              <p:cNvSpPr/>
              <p:nvPr/>
            </p:nvSpPr>
            <p:spPr>
              <a:xfrm>
                <a:off x="483394" y="3078163"/>
                <a:ext cx="157163" cy="9525"/>
              </a:xfrm>
              <a:custGeom>
                <a:avLst/>
                <a:gdLst/>
                <a:ahLst/>
                <a:cxnLst/>
                <a:rect l="l" t="t" r="r" b="b"/>
                <a:pathLst>
                  <a:path w="157163" h="9525">
                    <a:moveTo>
                      <a:pt x="0" y="0"/>
                    </a:moveTo>
                    <a:lnTo>
                      <a:pt x="157163" y="0"/>
                    </a:lnTo>
                  </a:path>
                </a:pathLst>
              </a:custGeom>
              <a:noFill/>
              <a:ln w="17463">
                <a:solidFill>
                  <a:srgbClr val="D82000"/>
                </a:solidFill>
              </a:ln>
            </p:spPr>
          </p:sp>
          <p:sp>
            <p:nvSpPr>
              <p:cNvPr id="84" name="Freeform 84"/>
              <p:cNvSpPr/>
              <p:nvPr/>
            </p:nvSpPr>
            <p:spPr>
              <a:xfrm>
                <a:off x="518319" y="3121819"/>
                <a:ext cx="9525" cy="9525"/>
              </a:xfrm>
              <a:custGeom>
                <a:avLst/>
                <a:gdLst/>
                <a:ahLst/>
                <a:cxnLst/>
                <a:rect l="l" t="t" r="r" b="b"/>
                <a:pathLst>
                  <a:path w="9525" h="9525">
                    <a:moveTo>
                      <a:pt x="0" y="0"/>
                    </a:moveTo>
                    <a:lnTo>
                      <a:pt x="87" y="0"/>
                    </a:lnTo>
                  </a:path>
                </a:pathLst>
              </a:custGeom>
              <a:noFill/>
              <a:ln w="17463">
                <a:solidFill>
                  <a:srgbClr val="D82000"/>
                </a:solidFill>
              </a:ln>
            </p:spPr>
          </p:sp>
          <p:sp>
            <p:nvSpPr>
              <p:cNvPr id="85" name="Freeform 85"/>
              <p:cNvSpPr/>
              <p:nvPr/>
            </p:nvSpPr>
            <p:spPr>
              <a:xfrm>
                <a:off x="553244" y="3121819"/>
                <a:ext cx="17463" cy="9525"/>
              </a:xfrm>
              <a:custGeom>
                <a:avLst/>
                <a:gdLst/>
                <a:ahLst/>
                <a:cxnLst/>
                <a:rect l="l" t="t" r="r" b="b"/>
                <a:pathLst>
                  <a:path w="17463" h="9525">
                    <a:moveTo>
                      <a:pt x="0" y="0"/>
                    </a:moveTo>
                    <a:lnTo>
                      <a:pt x="17463" y="0"/>
                    </a:lnTo>
                  </a:path>
                </a:pathLst>
              </a:custGeom>
              <a:noFill/>
              <a:ln w="17463">
                <a:solidFill>
                  <a:srgbClr val="D82000"/>
                </a:solidFill>
              </a:ln>
            </p:spPr>
          </p:sp>
        </p:grpSp>
        <p:sp>
          <p:nvSpPr>
            <p:cNvPr id="87" name="TextBox 87"/>
            <p:cNvSpPr txBox="1"/>
            <p:nvPr/>
          </p:nvSpPr>
          <p:spPr>
            <a:xfrm>
              <a:off x="776288" y="2958941"/>
              <a:ext cx="451079" cy="161925"/>
            </a:xfrm>
            <a:prstGeom prst="rect">
              <a:avLst/>
            </a:prstGeom>
            <a:noFill/>
            <a:ln>
              <a:noFill/>
            </a:ln>
          </p:spPr>
          <p:txBody>
            <a:bodyPr wrap="none" lIns="0" tIns="0" rIns="0" bIns="0" anchor="t" anchorCtr="0">
              <a:spAutoFit/>
            </a:bodyPr>
            <a:lstStyle/>
            <a:p>
              <a:pPr algn="l"/>
              <a:r>
                <a:rPr lang="zh-CN" sz="820" b="1" dirty="0">
                  <a:solidFill>
                    <a:srgbClr val="3D3835"/>
                  </a:solidFill>
                  <a:latin typeface="+mn-lt"/>
                  <a:ea typeface="+mn-ea"/>
                  <a:cs typeface="+mn-cs"/>
                </a:rPr>
                <a:t>支付结算</a:t>
              </a:r>
            </a:p>
          </p:txBody>
        </p:sp>
        <p:sp>
          <p:nvSpPr>
            <p:cNvPr id="88" name="TextBox 88"/>
            <p:cNvSpPr txBox="1"/>
            <p:nvPr/>
          </p:nvSpPr>
          <p:spPr>
            <a:xfrm>
              <a:off x="776288" y="3123486"/>
              <a:ext cx="989222"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交易笔数 × 单笔贡献​​</a:t>
              </a:r>
            </a:p>
          </p:txBody>
        </p:sp>
        <p:sp>
          <p:nvSpPr>
            <p:cNvPr id="89" name="Rectangle 89"/>
            <p:cNvSpPr/>
            <p:nvPr/>
          </p:nvSpPr>
          <p:spPr>
            <a:xfrm>
              <a:off x="381000" y="3333750"/>
              <a:ext cx="2457450" cy="400050"/>
            </a:xfrm>
            <a:prstGeom prst="roundRect">
              <a:avLst>
                <a:gd name="adj" fmla="val 9524"/>
              </a:avLst>
            </a:prstGeom>
            <a:solidFill>
              <a:srgbClr val="FFF8F2"/>
            </a:solidFill>
            <a:ln w="9525">
              <a:solidFill>
                <a:srgbClr val="F0B8AE"/>
              </a:solidFill>
            </a:ln>
          </p:spPr>
        </p:sp>
        <p:grpSp>
          <p:nvGrpSpPr>
            <p:cNvPr id="93" name="Group 93"/>
            <p:cNvGrpSpPr/>
            <p:nvPr/>
          </p:nvGrpSpPr>
          <p:grpSpPr>
            <a:xfrm>
              <a:off x="500856" y="3455194"/>
              <a:ext cx="122238" cy="157162"/>
              <a:chOff x="500856" y="3455194"/>
              <a:chExt cx="122238" cy="157162"/>
            </a:xfrm>
          </p:grpSpPr>
          <p:sp>
            <p:nvSpPr>
              <p:cNvPr id="90" name="Freeform 90"/>
              <p:cNvSpPr/>
              <p:nvPr/>
            </p:nvSpPr>
            <p:spPr>
              <a:xfrm>
                <a:off x="500856" y="3507581"/>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D82000"/>
                </a:solidFill>
              </a:ln>
            </p:spPr>
          </p:sp>
          <p:sp>
            <p:nvSpPr>
              <p:cNvPr id="91" name="Freeform 91"/>
              <p:cNvSpPr/>
              <p:nvPr/>
            </p:nvSpPr>
            <p:spPr>
              <a:xfrm>
                <a:off x="561975" y="3455194"/>
                <a:ext cx="9525" cy="96044"/>
              </a:xfrm>
              <a:custGeom>
                <a:avLst/>
                <a:gdLst/>
                <a:ahLst/>
                <a:cxnLst/>
                <a:rect l="l" t="t" r="r" b="b"/>
                <a:pathLst>
                  <a:path w="9525" h="96044">
                    <a:moveTo>
                      <a:pt x="0" y="96044"/>
                    </a:moveTo>
                    <a:lnTo>
                      <a:pt x="0" y="0"/>
                    </a:lnTo>
                  </a:path>
                </a:pathLst>
              </a:custGeom>
              <a:noFill/>
              <a:ln w="17463">
                <a:solidFill>
                  <a:srgbClr val="D82000"/>
                </a:solidFill>
              </a:ln>
            </p:spPr>
          </p:sp>
          <p:sp>
            <p:nvSpPr>
              <p:cNvPr id="92" name="Freeform 92"/>
              <p:cNvSpPr/>
              <p:nvPr/>
            </p:nvSpPr>
            <p:spPr>
              <a:xfrm>
                <a:off x="535781" y="3455194"/>
                <a:ext cx="52388" cy="26194"/>
              </a:xfrm>
              <a:custGeom>
                <a:avLst/>
                <a:gdLst/>
                <a:ahLst/>
                <a:cxnLst/>
                <a:rect l="l" t="t" r="r" b="b"/>
                <a:pathLst>
                  <a:path w="52388" h="26194">
                    <a:moveTo>
                      <a:pt x="0" y="26194"/>
                    </a:moveTo>
                    <a:lnTo>
                      <a:pt x="26194" y="0"/>
                    </a:lnTo>
                    <a:lnTo>
                      <a:pt x="52388" y="26194"/>
                    </a:lnTo>
                  </a:path>
                </a:pathLst>
              </a:custGeom>
              <a:noFill/>
              <a:ln w="17463">
                <a:solidFill>
                  <a:srgbClr val="D82000"/>
                </a:solidFill>
              </a:ln>
            </p:spPr>
          </p:sp>
        </p:grpSp>
        <p:sp>
          <p:nvSpPr>
            <p:cNvPr id="94" name="TextBox 94"/>
            <p:cNvSpPr txBox="1"/>
            <p:nvPr/>
          </p:nvSpPr>
          <p:spPr>
            <a:xfrm>
              <a:off x="776288" y="3397091"/>
              <a:ext cx="451079" cy="161925"/>
            </a:xfrm>
            <a:prstGeom prst="rect">
              <a:avLst/>
            </a:prstGeom>
            <a:noFill/>
            <a:ln>
              <a:noFill/>
            </a:ln>
          </p:spPr>
          <p:txBody>
            <a:bodyPr wrap="none" lIns="0" tIns="0" rIns="0" bIns="0" anchor="t" anchorCtr="0">
              <a:spAutoFit/>
            </a:bodyPr>
            <a:lstStyle/>
            <a:p>
              <a:pPr algn="l"/>
              <a:r>
                <a:rPr lang="zh-CN" sz="820" b="1" dirty="0">
                  <a:solidFill>
                    <a:srgbClr val="3D3835"/>
                  </a:solidFill>
                  <a:latin typeface="+mn-lt"/>
                  <a:ea typeface="+mn-ea"/>
                  <a:cs typeface="+mn-cs"/>
                </a:rPr>
                <a:t>生态价值</a:t>
              </a:r>
            </a:p>
          </p:txBody>
        </p:sp>
        <p:sp>
          <p:nvSpPr>
            <p:cNvPr id="95" name="TextBox 95"/>
            <p:cNvSpPr txBox="1"/>
            <p:nvPr/>
          </p:nvSpPr>
          <p:spPr>
            <a:xfrm>
              <a:off x="776288" y="3561636"/>
              <a:ext cx="125206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生态权益使用与交叉销售贡献</a:t>
              </a:r>
            </a:p>
          </p:txBody>
        </p:sp>
      </p:grpSp>
      <p:grpSp>
        <p:nvGrpSpPr>
          <p:cNvPr id="143" name="pyramid-strategy"/>
          <p:cNvGrpSpPr/>
          <p:nvPr/>
        </p:nvGrpSpPr>
        <p:grpSpPr>
          <a:xfrm>
            <a:off x="2895600" y="1411843"/>
            <a:ext cx="5076482" cy="2321957"/>
            <a:chOff x="2895600" y="1411843"/>
            <a:chExt cx="5076482" cy="2321957"/>
          </a:xfrm>
        </p:grpSpPr>
        <p:sp>
          <p:nvSpPr>
            <p:cNvPr id="97" name="TextBox 97"/>
            <p:cNvSpPr txBox="1"/>
            <p:nvPr/>
          </p:nvSpPr>
          <p:spPr>
            <a:xfrm>
              <a:off x="3876281" y="1411843"/>
              <a:ext cx="819937" cy="169069"/>
            </a:xfrm>
            <a:prstGeom prst="rect">
              <a:avLst/>
            </a:prstGeom>
            <a:noFill/>
            <a:ln>
              <a:noFill/>
            </a:ln>
          </p:spPr>
          <p:txBody>
            <a:bodyPr wrap="none" lIns="0" tIns="0" rIns="0" bIns="0" anchor="t" anchorCtr="0">
              <a:spAutoFit/>
            </a:bodyPr>
            <a:lstStyle/>
            <a:p>
              <a:pPr algn="ctr"/>
              <a:r>
                <a:rPr lang="zh-CN" sz="860" b="1" dirty="0">
                  <a:solidFill>
                    <a:srgbClr val="C41D00"/>
                  </a:solidFill>
                  <a:latin typeface="+mn-lt"/>
                  <a:ea typeface="+mn-ea"/>
                  <a:cs typeface="+mn-cs"/>
                </a:rPr>
                <a:t>客户价值金字塔</a:t>
              </a:r>
            </a:p>
          </p:txBody>
        </p:sp>
        <p:sp>
          <p:nvSpPr>
            <p:cNvPr id="98" name="TextBox 98"/>
            <p:cNvSpPr txBox="1"/>
            <p:nvPr/>
          </p:nvSpPr>
          <p:spPr>
            <a:xfrm>
              <a:off x="7267918" y="1411843"/>
              <a:ext cx="704164" cy="169069"/>
            </a:xfrm>
            <a:prstGeom prst="rect">
              <a:avLst/>
            </a:prstGeom>
            <a:noFill/>
            <a:ln>
              <a:noFill/>
            </a:ln>
          </p:spPr>
          <p:txBody>
            <a:bodyPr wrap="none" lIns="0" tIns="0" rIns="0" bIns="0" anchor="t" anchorCtr="0">
              <a:spAutoFit/>
            </a:bodyPr>
            <a:lstStyle/>
            <a:p>
              <a:pPr algn="ctr"/>
              <a:r>
                <a:rPr lang="zh-CN" sz="860" b="1" dirty="0">
                  <a:solidFill>
                    <a:srgbClr val="C41D00"/>
                  </a:solidFill>
                  <a:latin typeface="+mn-lt"/>
                  <a:ea typeface="+mn-ea"/>
                  <a:cs typeface="+mn-cs"/>
                </a:rPr>
                <a:t>客户分层策略</a:t>
              </a:r>
            </a:p>
          </p:txBody>
        </p:sp>
        <p:sp>
          <p:nvSpPr>
            <p:cNvPr id="99" name="Freeform 99"/>
            <p:cNvSpPr/>
            <p:nvPr/>
          </p:nvSpPr>
          <p:spPr>
            <a:xfrm>
              <a:off x="2895600" y="2152650"/>
              <a:ext cx="209550" cy="857250"/>
            </a:xfrm>
            <a:prstGeom prst="chevron">
              <a:avLst>
                <a:gd name="adj" fmla="val 50000"/>
              </a:avLst>
            </a:prstGeom>
            <a:solidFill>
              <a:srgbClr val="F57E6A"/>
            </a:solidFill>
            <a:ln>
              <a:noFill/>
            </a:ln>
          </p:spPr>
        </p:sp>
        <p:sp>
          <p:nvSpPr>
            <p:cNvPr id="100" name="Freeform 100"/>
            <p:cNvSpPr/>
            <p:nvPr/>
          </p:nvSpPr>
          <p:spPr>
            <a:xfrm>
              <a:off x="4057650" y="1600200"/>
              <a:ext cx="457200" cy="419100"/>
            </a:xfrm>
            <a:prstGeom prst="triangle">
              <a:avLst/>
            </a:prstGeom>
            <a:solidFill>
              <a:srgbClr val="8F1C08"/>
            </a:solidFill>
            <a:ln>
              <a:noFill/>
            </a:ln>
          </p:spPr>
        </p:sp>
        <p:sp>
          <p:nvSpPr>
            <p:cNvPr id="101" name="Freeform 101"/>
            <p:cNvSpPr/>
            <p:nvPr/>
          </p:nvSpPr>
          <p:spPr>
            <a:xfrm>
              <a:off x="3829050" y="2028825"/>
              <a:ext cx="914400" cy="419100"/>
            </a:xfrm>
            <a:prstGeom prst="trapezoid">
              <a:avLst>
                <a:gd name="adj" fmla="val 54545"/>
              </a:avLst>
            </a:prstGeom>
            <a:solidFill>
              <a:srgbClr val="C41D00"/>
            </a:solidFill>
            <a:ln>
              <a:noFill/>
            </a:ln>
          </p:spPr>
        </p:sp>
        <p:sp>
          <p:nvSpPr>
            <p:cNvPr id="102" name="Freeform 102"/>
            <p:cNvSpPr/>
            <p:nvPr/>
          </p:nvSpPr>
          <p:spPr>
            <a:xfrm>
              <a:off x="3600450" y="2457450"/>
              <a:ext cx="1371600" cy="419100"/>
            </a:xfrm>
            <a:prstGeom prst="trapezoid">
              <a:avLst>
                <a:gd name="adj" fmla="val 54545"/>
              </a:avLst>
            </a:prstGeom>
            <a:solidFill>
              <a:srgbClr val="D82000"/>
            </a:solidFill>
            <a:ln>
              <a:noFill/>
            </a:ln>
          </p:spPr>
        </p:sp>
        <p:sp>
          <p:nvSpPr>
            <p:cNvPr id="103" name="Freeform 103"/>
            <p:cNvSpPr/>
            <p:nvPr/>
          </p:nvSpPr>
          <p:spPr>
            <a:xfrm>
              <a:off x="3371850" y="2886075"/>
              <a:ext cx="1828800" cy="419100"/>
            </a:xfrm>
            <a:prstGeom prst="trapezoid">
              <a:avLst>
                <a:gd name="adj" fmla="val 54545"/>
              </a:avLst>
            </a:prstGeom>
            <a:solidFill>
              <a:srgbClr val="EE492C"/>
            </a:solidFill>
            <a:ln>
              <a:noFill/>
            </a:ln>
          </p:spPr>
        </p:sp>
        <p:sp>
          <p:nvSpPr>
            <p:cNvPr id="104" name="Freeform 104"/>
            <p:cNvSpPr/>
            <p:nvPr/>
          </p:nvSpPr>
          <p:spPr>
            <a:xfrm>
              <a:off x="3143250" y="3314700"/>
              <a:ext cx="2286000" cy="419100"/>
            </a:xfrm>
            <a:prstGeom prst="trapezoid">
              <a:avLst>
                <a:gd name="adj" fmla="val 54545"/>
              </a:avLst>
            </a:prstGeom>
            <a:solidFill>
              <a:srgbClr val="F57E6A"/>
            </a:solidFill>
            <a:ln>
              <a:noFill/>
            </a:ln>
          </p:spPr>
        </p:sp>
        <p:sp>
          <p:nvSpPr>
            <p:cNvPr id="105" name="Freeform 105"/>
            <p:cNvSpPr/>
            <p:nvPr/>
          </p:nvSpPr>
          <p:spPr>
            <a:xfrm>
              <a:off x="4221956" y="2195512"/>
              <a:ext cx="128588" cy="85725"/>
            </a:xfrm>
            <a:custGeom>
              <a:avLst/>
              <a:gdLst/>
              <a:ahLst/>
              <a:cxnLst/>
              <a:rect l="l" t="t" r="r" b="b"/>
              <a:pathLst>
                <a:path w="128588" h="85725">
                  <a:moveTo>
                    <a:pt x="64294" y="0"/>
                  </a:moveTo>
                  <a:lnTo>
                    <a:pt x="92869" y="42862"/>
                  </a:lnTo>
                  <a:lnTo>
                    <a:pt x="128588" y="14288"/>
                  </a:lnTo>
                  <a:lnTo>
                    <a:pt x="114300" y="85725"/>
                  </a:lnTo>
                  <a:lnTo>
                    <a:pt x="14288" y="85725"/>
                  </a:lnTo>
                  <a:lnTo>
                    <a:pt x="0" y="14288"/>
                  </a:lnTo>
                  <a:lnTo>
                    <a:pt x="35719" y="42862"/>
                  </a:lnTo>
                  <a:lnTo>
                    <a:pt x="64294" y="0"/>
                  </a:lnTo>
                </a:path>
              </a:pathLst>
            </a:custGeom>
            <a:noFill/>
            <a:ln w="14288">
              <a:solidFill>
                <a:srgbClr val="FFFFFF"/>
              </a:solidFill>
            </a:ln>
          </p:spPr>
        </p:sp>
        <p:grpSp>
          <p:nvGrpSpPr>
            <p:cNvPr id="110" name="Group 110"/>
            <p:cNvGrpSpPr/>
            <p:nvPr/>
          </p:nvGrpSpPr>
          <p:grpSpPr>
            <a:xfrm>
              <a:off x="4221956" y="2602706"/>
              <a:ext cx="128587" cy="128588"/>
              <a:chOff x="4221956" y="2602706"/>
              <a:chExt cx="128587" cy="128588"/>
            </a:xfrm>
          </p:grpSpPr>
          <p:sp>
            <p:nvSpPr>
              <p:cNvPr id="106" name="Freeform 106"/>
              <p:cNvSpPr/>
              <p:nvPr/>
            </p:nvSpPr>
            <p:spPr>
              <a:xfrm>
                <a:off x="4236244" y="26027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07" name="Freeform 107"/>
              <p:cNvSpPr/>
              <p:nvPr/>
            </p:nvSpPr>
            <p:spPr>
              <a:xfrm>
                <a:off x="4221956" y="26884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108" name="Freeform 108"/>
              <p:cNvSpPr/>
              <p:nvPr/>
            </p:nvSpPr>
            <p:spPr>
              <a:xfrm>
                <a:off x="4314825" y="26036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109" name="Freeform 109"/>
              <p:cNvSpPr/>
              <p:nvPr/>
            </p:nvSpPr>
            <p:spPr>
              <a:xfrm>
                <a:off x="4329112" y="26895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grpSp>
          <p:nvGrpSpPr>
            <p:cNvPr id="113" name="Group 113"/>
            <p:cNvGrpSpPr/>
            <p:nvPr/>
          </p:nvGrpSpPr>
          <p:grpSpPr>
            <a:xfrm>
              <a:off x="4221956" y="3059906"/>
              <a:ext cx="128588" cy="71438"/>
              <a:chOff x="4221956" y="3059906"/>
              <a:chExt cx="128588" cy="71438"/>
            </a:xfrm>
          </p:grpSpPr>
          <p:sp>
            <p:nvSpPr>
              <p:cNvPr id="111" name="Freeform 111"/>
              <p:cNvSpPr/>
              <p:nvPr/>
            </p:nvSpPr>
            <p:spPr>
              <a:xfrm>
                <a:off x="4221956" y="305990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FFFFFF"/>
                </a:solidFill>
              </a:ln>
            </p:spPr>
          </p:sp>
          <p:sp>
            <p:nvSpPr>
              <p:cNvPr id="112" name="Freeform 112"/>
              <p:cNvSpPr/>
              <p:nvPr/>
            </p:nvSpPr>
            <p:spPr>
              <a:xfrm>
                <a:off x="4300538" y="3059906"/>
                <a:ext cx="50006" cy="50006"/>
              </a:xfrm>
              <a:custGeom>
                <a:avLst/>
                <a:gdLst/>
                <a:ahLst/>
                <a:cxnLst/>
                <a:rect l="l" t="t" r="r" b="b"/>
                <a:pathLst>
                  <a:path w="50006" h="50006">
                    <a:moveTo>
                      <a:pt x="0" y="0"/>
                    </a:moveTo>
                    <a:lnTo>
                      <a:pt x="50006" y="0"/>
                    </a:lnTo>
                    <a:lnTo>
                      <a:pt x="50006" y="50006"/>
                    </a:lnTo>
                  </a:path>
                </a:pathLst>
              </a:custGeom>
              <a:noFill/>
              <a:ln w="14288">
                <a:solidFill>
                  <a:srgbClr val="FFFFFF"/>
                </a:solidFill>
              </a:ln>
            </p:spPr>
          </p:sp>
        </p:grpSp>
        <p:grpSp>
          <p:nvGrpSpPr>
            <p:cNvPr id="117" name="Group 117"/>
            <p:cNvGrpSpPr/>
            <p:nvPr/>
          </p:nvGrpSpPr>
          <p:grpSpPr>
            <a:xfrm>
              <a:off x="4243388" y="3459956"/>
              <a:ext cx="107155" cy="128588"/>
              <a:chOff x="4243388" y="3459956"/>
              <a:chExt cx="107155" cy="128588"/>
            </a:xfrm>
          </p:grpSpPr>
          <p:sp>
            <p:nvSpPr>
              <p:cNvPr id="114" name="Freeform 114"/>
              <p:cNvSpPr/>
              <p:nvPr/>
            </p:nvSpPr>
            <p:spPr>
              <a:xfrm>
                <a:off x="4257675" y="34599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15" name="Freeform 115"/>
              <p:cNvSpPr/>
              <p:nvPr/>
            </p:nvSpPr>
            <p:spPr>
              <a:xfrm>
                <a:off x="4243388" y="3545681"/>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FFFFFF"/>
                </a:solidFill>
              </a:ln>
            </p:spPr>
          </p:sp>
          <p:sp>
            <p:nvSpPr>
              <p:cNvPr id="116" name="Freeform 116"/>
              <p:cNvSpPr/>
              <p:nvPr/>
            </p:nvSpPr>
            <p:spPr>
              <a:xfrm>
                <a:off x="4307681" y="355996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118" name="TextBox 118"/>
            <p:cNvSpPr txBox="1"/>
            <p:nvPr/>
          </p:nvSpPr>
          <p:spPr>
            <a:xfrm>
              <a:off x="5519738" y="1678543"/>
              <a:ext cx="588391"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高价值客户</a:t>
              </a:r>
            </a:p>
          </p:txBody>
        </p:sp>
        <p:sp>
          <p:nvSpPr>
            <p:cNvPr id="119" name="TextBox 119"/>
            <p:cNvSpPr txBox="1"/>
            <p:nvPr/>
          </p:nvSpPr>
          <p:spPr>
            <a:xfrm>
              <a:off x="5519738" y="1824038"/>
              <a:ext cx="927830"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CLV ≥ 50,000元​​​</a:t>
              </a:r>
            </a:p>
          </p:txBody>
        </p:sp>
        <p:sp>
          <p:nvSpPr>
            <p:cNvPr id="120" name="TextBox 120"/>
            <p:cNvSpPr txBox="1"/>
            <p:nvPr/>
          </p:nvSpPr>
          <p:spPr>
            <a:xfrm>
              <a:off x="5519738" y="2107168"/>
              <a:ext cx="704164"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重点发展客户</a:t>
              </a:r>
            </a:p>
          </p:txBody>
        </p:sp>
        <p:sp>
          <p:nvSpPr>
            <p:cNvPr id="121" name="TextBox 121"/>
            <p:cNvSpPr txBox="1"/>
            <p:nvPr/>
          </p:nvSpPr>
          <p:spPr>
            <a:xfrm>
              <a:off x="5519738" y="2252662"/>
              <a:ext cx="1458087"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10,000 ≤ CLV &lt; 50,000元​​​​</a:t>
              </a:r>
            </a:p>
          </p:txBody>
        </p:sp>
        <p:sp>
          <p:nvSpPr>
            <p:cNvPr id="122" name="TextBox 122"/>
            <p:cNvSpPr txBox="1"/>
            <p:nvPr/>
          </p:nvSpPr>
          <p:spPr>
            <a:xfrm>
              <a:off x="5519738" y="2535793"/>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潜力客户</a:t>
              </a:r>
            </a:p>
          </p:txBody>
        </p:sp>
        <p:sp>
          <p:nvSpPr>
            <p:cNvPr id="123" name="TextBox 123"/>
            <p:cNvSpPr txBox="1"/>
            <p:nvPr/>
          </p:nvSpPr>
          <p:spPr>
            <a:xfrm>
              <a:off x="5519738" y="2681288"/>
              <a:ext cx="1399413"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2,000 ≤ CLV &lt; 10,000元​​​​</a:t>
              </a:r>
            </a:p>
          </p:txBody>
        </p:sp>
        <p:sp>
          <p:nvSpPr>
            <p:cNvPr id="124" name="TextBox 124"/>
            <p:cNvSpPr txBox="1"/>
            <p:nvPr/>
          </p:nvSpPr>
          <p:spPr>
            <a:xfrm>
              <a:off x="5519738" y="2964418"/>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一般客户</a:t>
              </a:r>
            </a:p>
          </p:txBody>
        </p:sp>
        <p:sp>
          <p:nvSpPr>
            <p:cNvPr id="125" name="TextBox 125"/>
            <p:cNvSpPr txBox="1"/>
            <p:nvPr/>
          </p:nvSpPr>
          <p:spPr>
            <a:xfrm>
              <a:off x="5519738" y="3109912"/>
              <a:ext cx="1106043"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0 &lt; CLV &lt; 2,000元​​​​</a:t>
              </a:r>
            </a:p>
          </p:txBody>
        </p:sp>
        <p:sp>
          <p:nvSpPr>
            <p:cNvPr id="126" name="TextBox 126"/>
            <p:cNvSpPr txBox="1"/>
            <p:nvPr/>
          </p:nvSpPr>
          <p:spPr>
            <a:xfrm>
              <a:off x="5519738" y="3393043"/>
              <a:ext cx="113628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低价值/高风险客户​​</a:t>
              </a:r>
            </a:p>
          </p:txBody>
        </p:sp>
        <p:sp>
          <p:nvSpPr>
            <p:cNvPr id="127" name="TextBox 127"/>
            <p:cNvSpPr txBox="1"/>
            <p:nvPr/>
          </p:nvSpPr>
          <p:spPr>
            <a:xfrm>
              <a:off x="5519738" y="3538538"/>
              <a:ext cx="634460" cy="147638"/>
            </a:xfrm>
            <a:prstGeom prst="rect">
              <a:avLst/>
            </a:prstGeom>
            <a:noFill/>
            <a:ln>
              <a:noFill/>
            </a:ln>
          </p:spPr>
          <p:txBody>
            <a:bodyPr wrap="none" lIns="0" tIns="0" rIns="0" bIns="0" anchor="t" anchorCtr="0">
              <a:spAutoFit/>
            </a:bodyPr>
            <a:lstStyle/>
            <a:p>
              <a:pPr algn="l"/>
              <a:r>
                <a:rPr lang="zh-CN" sz="750" dirty="0">
                  <a:solidFill>
                    <a:srgbClr val="7A716B"/>
                  </a:solidFill>
                  <a:latin typeface="+mn-lt"/>
                  <a:ea typeface="+mn-ea"/>
                  <a:cs typeface="+mn-cs"/>
                </a:rPr>
                <a:t>CLV ≤ 0元​​​</a:t>
              </a:r>
            </a:p>
          </p:txBody>
        </p:sp>
        <p:sp>
          <p:nvSpPr>
            <p:cNvPr id="128" name="Line 128"/>
            <p:cNvSpPr/>
            <p:nvPr/>
          </p:nvSpPr>
          <p:spPr>
            <a:xfrm>
              <a:off x="6667500" y="1828800"/>
              <a:ext cx="114300" cy="9525"/>
            </a:xfrm>
            <a:custGeom>
              <a:avLst/>
              <a:gdLst/>
              <a:ahLst/>
              <a:cxnLst/>
              <a:rect l="l" t="t" r="r" b="b"/>
              <a:pathLst>
                <a:path w="114300" h="9525">
                  <a:moveTo>
                    <a:pt x="0" y="0"/>
                  </a:moveTo>
                  <a:lnTo>
                    <a:pt x="114300" y="0"/>
                  </a:lnTo>
                </a:path>
              </a:pathLst>
            </a:custGeom>
            <a:noFill/>
            <a:ln w="9525">
              <a:solidFill>
                <a:srgbClr val="EE492C"/>
              </a:solidFill>
              <a:prstDash val="sysDot"/>
            </a:ln>
          </p:spPr>
        </p:sp>
        <p:sp>
          <p:nvSpPr>
            <p:cNvPr id="129" name="Line 129"/>
            <p:cNvSpPr/>
            <p:nvPr/>
          </p:nvSpPr>
          <p:spPr>
            <a:xfrm>
              <a:off x="6667500" y="2257425"/>
              <a:ext cx="114300" cy="9525"/>
            </a:xfrm>
            <a:custGeom>
              <a:avLst/>
              <a:gdLst/>
              <a:ahLst/>
              <a:cxnLst/>
              <a:rect l="l" t="t" r="r" b="b"/>
              <a:pathLst>
                <a:path w="114300" h="9525">
                  <a:moveTo>
                    <a:pt x="0" y="0"/>
                  </a:moveTo>
                  <a:lnTo>
                    <a:pt x="114300" y="0"/>
                  </a:lnTo>
                </a:path>
              </a:pathLst>
            </a:custGeom>
            <a:noFill/>
            <a:ln w="9525">
              <a:solidFill>
                <a:srgbClr val="EE492C"/>
              </a:solidFill>
              <a:prstDash val="sysDot"/>
            </a:ln>
          </p:spPr>
        </p:sp>
        <p:sp>
          <p:nvSpPr>
            <p:cNvPr id="130" name="Line 130"/>
            <p:cNvSpPr/>
            <p:nvPr/>
          </p:nvSpPr>
          <p:spPr>
            <a:xfrm>
              <a:off x="6667500" y="2686050"/>
              <a:ext cx="114300" cy="9525"/>
            </a:xfrm>
            <a:custGeom>
              <a:avLst/>
              <a:gdLst/>
              <a:ahLst/>
              <a:cxnLst/>
              <a:rect l="l" t="t" r="r" b="b"/>
              <a:pathLst>
                <a:path w="114300" h="9525">
                  <a:moveTo>
                    <a:pt x="0" y="0"/>
                  </a:moveTo>
                  <a:lnTo>
                    <a:pt x="114300" y="0"/>
                  </a:lnTo>
                </a:path>
              </a:pathLst>
            </a:custGeom>
            <a:noFill/>
            <a:ln w="9525">
              <a:solidFill>
                <a:srgbClr val="EE492C"/>
              </a:solidFill>
              <a:prstDash val="sysDot"/>
            </a:ln>
          </p:spPr>
        </p:sp>
        <p:sp>
          <p:nvSpPr>
            <p:cNvPr id="131" name="Line 131"/>
            <p:cNvSpPr/>
            <p:nvPr/>
          </p:nvSpPr>
          <p:spPr>
            <a:xfrm>
              <a:off x="6667500" y="3114675"/>
              <a:ext cx="114300" cy="9525"/>
            </a:xfrm>
            <a:custGeom>
              <a:avLst/>
              <a:gdLst/>
              <a:ahLst/>
              <a:cxnLst/>
              <a:rect l="l" t="t" r="r" b="b"/>
              <a:pathLst>
                <a:path w="114300" h="9525">
                  <a:moveTo>
                    <a:pt x="0" y="0"/>
                  </a:moveTo>
                  <a:lnTo>
                    <a:pt x="114300" y="0"/>
                  </a:lnTo>
                </a:path>
              </a:pathLst>
            </a:custGeom>
            <a:noFill/>
            <a:ln w="9525">
              <a:solidFill>
                <a:srgbClr val="EE492C"/>
              </a:solidFill>
              <a:prstDash val="sysDot"/>
            </a:ln>
          </p:spPr>
        </p:sp>
        <p:sp>
          <p:nvSpPr>
            <p:cNvPr id="132" name="Line 132"/>
            <p:cNvSpPr/>
            <p:nvPr/>
          </p:nvSpPr>
          <p:spPr>
            <a:xfrm>
              <a:off x="6667500" y="3543300"/>
              <a:ext cx="114300" cy="9525"/>
            </a:xfrm>
            <a:custGeom>
              <a:avLst/>
              <a:gdLst/>
              <a:ahLst/>
              <a:cxnLst/>
              <a:rect l="l" t="t" r="r" b="b"/>
              <a:pathLst>
                <a:path w="114300" h="9525">
                  <a:moveTo>
                    <a:pt x="0" y="0"/>
                  </a:moveTo>
                  <a:lnTo>
                    <a:pt x="114300" y="0"/>
                  </a:lnTo>
                </a:path>
              </a:pathLst>
            </a:custGeom>
            <a:noFill/>
            <a:ln w="9525">
              <a:solidFill>
                <a:srgbClr val="EE492C"/>
              </a:solidFill>
              <a:prstDash val="sysDot"/>
            </a:ln>
          </p:spPr>
        </p:sp>
        <p:sp>
          <p:nvSpPr>
            <p:cNvPr id="133" name="TextBox 133"/>
            <p:cNvSpPr txBox="1"/>
            <p:nvPr/>
          </p:nvSpPr>
          <p:spPr>
            <a:xfrm>
              <a:off x="6815138" y="1686639"/>
              <a:ext cx="966673"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专属经营，深度绑定</a:t>
              </a:r>
            </a:p>
          </p:txBody>
        </p:sp>
        <p:sp>
          <p:nvSpPr>
            <p:cNvPr id="134" name="TextBox 134"/>
            <p:cNvSpPr txBox="1"/>
            <p:nvPr/>
          </p:nvSpPr>
          <p:spPr>
            <a:xfrm>
              <a:off x="6815138" y="1828086"/>
              <a:ext cx="115648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资源倾斜，提升份额与粘性</a:t>
              </a:r>
            </a:p>
          </p:txBody>
        </p:sp>
        <p:sp>
          <p:nvSpPr>
            <p:cNvPr id="135" name="TextBox 135"/>
            <p:cNvSpPr txBox="1"/>
            <p:nvPr/>
          </p:nvSpPr>
          <p:spPr>
            <a:xfrm>
              <a:off x="6815138" y="2115264"/>
              <a:ext cx="966673"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重点培育，提升价值</a:t>
              </a:r>
            </a:p>
          </p:txBody>
        </p:sp>
        <p:sp>
          <p:nvSpPr>
            <p:cNvPr id="136" name="TextBox 136"/>
            <p:cNvSpPr txBox="1"/>
            <p:nvPr/>
          </p:nvSpPr>
          <p:spPr>
            <a:xfrm>
              <a:off x="6815138" y="2256711"/>
              <a:ext cx="106090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产品组合，提升交叉销售</a:t>
              </a:r>
            </a:p>
          </p:txBody>
        </p:sp>
        <p:sp>
          <p:nvSpPr>
            <p:cNvPr id="137" name="TextBox 137"/>
            <p:cNvSpPr txBox="1"/>
            <p:nvPr/>
          </p:nvSpPr>
          <p:spPr>
            <a:xfrm>
              <a:off x="6815138" y="2543889"/>
              <a:ext cx="966673"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潜力挖掘，激活需求</a:t>
              </a:r>
            </a:p>
          </p:txBody>
        </p:sp>
        <p:sp>
          <p:nvSpPr>
            <p:cNvPr id="138" name="TextBox 138"/>
            <p:cNvSpPr txBox="1"/>
            <p:nvPr/>
          </p:nvSpPr>
          <p:spPr>
            <a:xfrm>
              <a:off x="6815138" y="2685336"/>
              <a:ext cx="115648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场景触达，提升活跃与转化</a:t>
              </a:r>
            </a:p>
          </p:txBody>
        </p:sp>
        <p:sp>
          <p:nvSpPr>
            <p:cNvPr id="139" name="TextBox 139"/>
            <p:cNvSpPr txBox="1"/>
            <p:nvPr/>
          </p:nvSpPr>
          <p:spPr>
            <a:xfrm>
              <a:off x="6815138" y="2972514"/>
              <a:ext cx="966673"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效率服务，成本可控</a:t>
              </a:r>
            </a:p>
          </p:txBody>
        </p:sp>
        <p:sp>
          <p:nvSpPr>
            <p:cNvPr id="140" name="TextBox 140"/>
            <p:cNvSpPr txBox="1"/>
            <p:nvPr/>
          </p:nvSpPr>
          <p:spPr>
            <a:xfrm>
              <a:off x="6815138" y="3113961"/>
              <a:ext cx="115648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标准化服务，优化成本结构</a:t>
              </a:r>
            </a:p>
          </p:txBody>
        </p:sp>
        <p:sp>
          <p:nvSpPr>
            <p:cNvPr id="141" name="TextBox 141"/>
            <p:cNvSpPr txBox="1"/>
            <p:nvPr/>
          </p:nvSpPr>
          <p:spPr>
            <a:xfrm>
              <a:off x="6815138" y="3401139"/>
              <a:ext cx="966673"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风险管控，动态清理</a:t>
              </a:r>
            </a:p>
          </p:txBody>
        </p:sp>
        <p:sp>
          <p:nvSpPr>
            <p:cNvPr id="142" name="TextBox 142"/>
            <p:cNvSpPr txBox="1"/>
            <p:nvPr/>
          </p:nvSpPr>
          <p:spPr>
            <a:xfrm>
              <a:off x="6815138" y="3542586"/>
              <a:ext cx="106090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降低敞口，控制风险成本</a:t>
              </a:r>
            </a:p>
          </p:txBody>
        </p:sp>
      </p:grpSp>
      <p:grpSp>
        <p:nvGrpSpPr>
          <p:cNvPr id="208" name="scorecard"/>
          <p:cNvGrpSpPr/>
          <p:nvPr/>
        </p:nvGrpSpPr>
        <p:grpSpPr>
          <a:xfrm>
            <a:off x="8472488" y="1411843"/>
            <a:ext cx="3324225" cy="2321957"/>
            <a:chOff x="8472488" y="1411843"/>
            <a:chExt cx="3324225" cy="2321957"/>
          </a:xfrm>
        </p:grpSpPr>
        <p:sp>
          <p:nvSpPr>
            <p:cNvPr id="144" name="TextBox 144"/>
            <p:cNvSpPr txBox="1"/>
            <p:nvPr/>
          </p:nvSpPr>
          <p:spPr>
            <a:xfrm>
              <a:off x="8472488" y="1411843"/>
              <a:ext cx="2209216" cy="169069"/>
            </a:xfrm>
            <a:prstGeom prst="rect">
              <a:avLst/>
            </a:prstGeom>
            <a:noFill/>
            <a:ln>
              <a:noFill/>
            </a:ln>
          </p:spPr>
          <p:txBody>
            <a:bodyPr wrap="none" lIns="0" tIns="0" rIns="0" bIns="0" anchor="t" anchorCtr="0">
              <a:spAutoFit/>
            </a:bodyPr>
            <a:lstStyle/>
            <a:p>
              <a:pPr algn="l"/>
              <a:r>
                <a:rPr lang="zh-CN" sz="860" b="1" dirty="0">
                  <a:solidFill>
                    <a:srgbClr val="C41D00"/>
                  </a:solidFill>
                  <a:latin typeface="+mn-lt"/>
                  <a:ea typeface="+mn-ea"/>
                  <a:cs typeface="+mn-cs"/>
                </a:rPr>
                <a:t>价值平衡计分卡（平衡增长、体验与风险）</a:t>
              </a:r>
            </a:p>
          </p:txBody>
        </p:sp>
        <p:sp>
          <p:nvSpPr>
            <p:cNvPr id="145" name="Rectangle 145"/>
            <p:cNvSpPr/>
            <p:nvPr/>
          </p:nvSpPr>
          <p:spPr>
            <a:xfrm>
              <a:off x="8477250" y="1581150"/>
              <a:ext cx="1847850" cy="400050"/>
            </a:xfrm>
            <a:prstGeom prst="roundRect">
              <a:avLst>
                <a:gd name="adj" fmla="val 9524"/>
              </a:avLst>
            </a:prstGeom>
            <a:solidFill>
              <a:srgbClr val="FFF8F2"/>
            </a:solidFill>
            <a:ln w="9525">
              <a:solidFill>
                <a:srgbClr val="F0B8AE"/>
              </a:solidFill>
            </a:ln>
          </p:spPr>
        </p:sp>
        <p:sp>
          <p:nvSpPr>
            <p:cNvPr id="146" name="Ellipse 146"/>
            <p:cNvSpPr/>
            <p:nvPr/>
          </p:nvSpPr>
          <p:spPr>
            <a:xfrm>
              <a:off x="8543925" y="1638300"/>
              <a:ext cx="285750" cy="285750"/>
            </a:xfrm>
            <a:prstGeom prst="ellipse">
              <a:avLst/>
            </a:prstGeom>
            <a:solidFill>
              <a:srgbClr val="FFFFFF"/>
            </a:solidFill>
            <a:ln w="14288">
              <a:solidFill>
                <a:srgbClr val="EE492C"/>
              </a:solidFill>
            </a:ln>
          </p:spPr>
        </p:sp>
        <p:grpSp>
          <p:nvGrpSpPr>
            <p:cNvPr id="151" name="Group 151"/>
            <p:cNvGrpSpPr/>
            <p:nvPr/>
          </p:nvGrpSpPr>
          <p:grpSpPr>
            <a:xfrm>
              <a:off x="8622506" y="1724025"/>
              <a:ext cx="128587" cy="123825"/>
              <a:chOff x="8622506" y="1724025"/>
              <a:chExt cx="128587" cy="123825"/>
            </a:xfrm>
          </p:grpSpPr>
          <p:sp>
            <p:nvSpPr>
              <p:cNvPr id="147" name="Freeform 147"/>
              <p:cNvSpPr/>
              <p:nvPr/>
            </p:nvSpPr>
            <p:spPr>
              <a:xfrm>
                <a:off x="8622506" y="178117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D82000"/>
                </a:solidFill>
              </a:ln>
            </p:spPr>
          </p:sp>
          <p:sp>
            <p:nvSpPr>
              <p:cNvPr id="148" name="Freeform 148"/>
              <p:cNvSpPr/>
              <p:nvPr/>
            </p:nvSpPr>
            <p:spPr>
              <a:xfrm>
                <a:off x="8708231" y="175260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D82000"/>
                </a:solidFill>
              </a:ln>
            </p:spPr>
          </p:sp>
          <p:sp>
            <p:nvSpPr>
              <p:cNvPr id="149" name="Freeform 149"/>
              <p:cNvSpPr/>
              <p:nvPr/>
            </p:nvSpPr>
            <p:spPr>
              <a:xfrm>
                <a:off x="8665369" y="172402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D82000"/>
                </a:solidFill>
              </a:ln>
            </p:spPr>
          </p:sp>
          <p:sp>
            <p:nvSpPr>
              <p:cNvPr id="150" name="Freeform 150"/>
              <p:cNvSpPr/>
              <p:nvPr/>
            </p:nvSpPr>
            <p:spPr>
              <a:xfrm>
                <a:off x="8629650" y="1838325"/>
                <a:ext cx="100012" cy="9525"/>
              </a:xfrm>
              <a:custGeom>
                <a:avLst/>
                <a:gdLst/>
                <a:ahLst/>
                <a:cxnLst/>
                <a:rect l="l" t="t" r="r" b="b"/>
                <a:pathLst>
                  <a:path w="100012" h="9525">
                    <a:moveTo>
                      <a:pt x="0" y="0"/>
                    </a:moveTo>
                    <a:lnTo>
                      <a:pt x="100012" y="0"/>
                    </a:lnTo>
                  </a:path>
                </a:pathLst>
              </a:custGeom>
              <a:noFill/>
              <a:ln w="14288">
                <a:solidFill>
                  <a:srgbClr val="D82000"/>
                </a:solidFill>
              </a:ln>
            </p:spPr>
          </p:sp>
        </p:grpSp>
        <p:sp>
          <p:nvSpPr>
            <p:cNvPr id="152" name="TextBox 152"/>
            <p:cNvSpPr txBox="1"/>
            <p:nvPr/>
          </p:nvSpPr>
          <p:spPr>
            <a:xfrm>
              <a:off x="8910638" y="1649968"/>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财务价值</a:t>
              </a:r>
            </a:p>
          </p:txBody>
        </p:sp>
        <p:sp>
          <p:nvSpPr>
            <p:cNvPr id="153" name="TextBox 153"/>
            <p:cNvSpPr txBox="1"/>
            <p:nvPr/>
          </p:nvSpPr>
          <p:spPr>
            <a:xfrm>
              <a:off x="8910638" y="1809036"/>
              <a:ext cx="106090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衡量客户带来的财务回报</a:t>
              </a:r>
            </a:p>
          </p:txBody>
        </p:sp>
        <p:sp>
          <p:nvSpPr>
            <p:cNvPr id="154" name="TextBox 154"/>
            <p:cNvSpPr txBox="1"/>
            <p:nvPr/>
          </p:nvSpPr>
          <p:spPr>
            <a:xfrm>
              <a:off x="10396538" y="1656636"/>
              <a:ext cx="697252"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CLV（元）​​​</a:t>
              </a:r>
            </a:p>
          </p:txBody>
        </p:sp>
        <p:sp>
          <p:nvSpPr>
            <p:cNvPr id="155" name="TextBox 155"/>
            <p:cNvSpPr txBox="1"/>
            <p:nvPr/>
          </p:nvSpPr>
          <p:spPr>
            <a:xfrm>
              <a:off x="11295851" y="1648539"/>
              <a:ext cx="500861"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​​18,750</a:t>
              </a:r>
            </a:p>
          </p:txBody>
        </p:sp>
        <p:sp>
          <p:nvSpPr>
            <p:cNvPr id="156" name="TextBox 156"/>
            <p:cNvSpPr txBox="1"/>
            <p:nvPr/>
          </p:nvSpPr>
          <p:spPr>
            <a:xfrm>
              <a:off x="10396538" y="1809036"/>
              <a:ext cx="860369"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年均贡献（元）​​</a:t>
              </a:r>
            </a:p>
          </p:txBody>
        </p:sp>
        <p:sp>
          <p:nvSpPr>
            <p:cNvPr id="157" name="TextBox 157"/>
            <p:cNvSpPr txBox="1"/>
            <p:nvPr/>
          </p:nvSpPr>
          <p:spPr>
            <a:xfrm>
              <a:off x="11357268" y="1800939"/>
              <a:ext cx="439444"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​​3,520</a:t>
              </a:r>
            </a:p>
          </p:txBody>
        </p:sp>
        <p:sp>
          <p:nvSpPr>
            <p:cNvPr id="158" name="Rectangle 158"/>
            <p:cNvSpPr/>
            <p:nvPr/>
          </p:nvSpPr>
          <p:spPr>
            <a:xfrm>
              <a:off x="8477250" y="2019300"/>
              <a:ext cx="1847850" cy="400050"/>
            </a:xfrm>
            <a:prstGeom prst="roundRect">
              <a:avLst>
                <a:gd name="adj" fmla="val 9524"/>
              </a:avLst>
            </a:prstGeom>
            <a:solidFill>
              <a:srgbClr val="FFF8F2"/>
            </a:solidFill>
            <a:ln w="9525">
              <a:solidFill>
                <a:srgbClr val="F0B8AE"/>
              </a:solidFill>
            </a:ln>
          </p:spPr>
        </p:sp>
        <p:sp>
          <p:nvSpPr>
            <p:cNvPr id="159" name="Ellipse 159"/>
            <p:cNvSpPr/>
            <p:nvPr/>
          </p:nvSpPr>
          <p:spPr>
            <a:xfrm>
              <a:off x="8543925" y="2076450"/>
              <a:ext cx="285750" cy="285750"/>
            </a:xfrm>
            <a:prstGeom prst="ellipse">
              <a:avLst/>
            </a:prstGeom>
            <a:solidFill>
              <a:srgbClr val="FFFFFF"/>
            </a:solidFill>
            <a:ln w="14288">
              <a:solidFill>
                <a:srgbClr val="EE492C"/>
              </a:solidFill>
            </a:ln>
          </p:spPr>
        </p:sp>
        <p:grpSp>
          <p:nvGrpSpPr>
            <p:cNvPr id="166" name="Group 166"/>
            <p:cNvGrpSpPr/>
            <p:nvPr/>
          </p:nvGrpSpPr>
          <p:grpSpPr>
            <a:xfrm>
              <a:off x="8622506" y="2155031"/>
              <a:ext cx="128588" cy="128588"/>
              <a:chOff x="8622506" y="2155031"/>
              <a:chExt cx="128588" cy="128588"/>
            </a:xfrm>
          </p:grpSpPr>
          <p:sp>
            <p:nvSpPr>
              <p:cNvPr id="160" name="Freeform 160"/>
              <p:cNvSpPr/>
              <p:nvPr/>
            </p:nvSpPr>
            <p:spPr>
              <a:xfrm>
                <a:off x="8672512" y="22121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161" name="Freeform 161"/>
              <p:cNvSpPr/>
              <p:nvPr/>
            </p:nvSpPr>
            <p:spPr>
              <a:xfrm>
                <a:off x="8658225" y="226218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D82000"/>
                </a:solidFill>
              </a:ln>
            </p:spPr>
          </p:sp>
          <p:sp>
            <p:nvSpPr>
              <p:cNvPr id="162" name="Freeform 162"/>
              <p:cNvSpPr/>
              <p:nvPr/>
            </p:nvSpPr>
            <p:spPr>
              <a:xfrm>
                <a:off x="8708231" y="21550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163" name="Freeform 163"/>
              <p:cNvSpPr/>
              <p:nvPr/>
            </p:nvSpPr>
            <p:spPr>
              <a:xfrm>
                <a:off x="8722519" y="220503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D82000"/>
                </a:solidFill>
              </a:ln>
            </p:spPr>
          </p:sp>
          <p:sp>
            <p:nvSpPr>
              <p:cNvPr id="164" name="Freeform 164"/>
              <p:cNvSpPr/>
              <p:nvPr/>
            </p:nvSpPr>
            <p:spPr>
              <a:xfrm>
                <a:off x="8636794" y="21550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165" name="Freeform 165"/>
              <p:cNvSpPr/>
              <p:nvPr/>
            </p:nvSpPr>
            <p:spPr>
              <a:xfrm>
                <a:off x="8622506" y="220503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D82000"/>
                </a:solidFill>
              </a:ln>
            </p:spPr>
          </p:sp>
        </p:grpSp>
        <p:sp>
          <p:nvSpPr>
            <p:cNvPr id="167" name="TextBox 167"/>
            <p:cNvSpPr txBox="1"/>
            <p:nvPr/>
          </p:nvSpPr>
          <p:spPr>
            <a:xfrm>
              <a:off x="8910638" y="2088118"/>
              <a:ext cx="588391"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客户参与度</a:t>
              </a:r>
            </a:p>
          </p:txBody>
        </p:sp>
        <p:sp>
          <p:nvSpPr>
            <p:cNvPr id="168" name="TextBox 168"/>
            <p:cNvSpPr txBox="1"/>
            <p:nvPr/>
          </p:nvSpPr>
          <p:spPr>
            <a:xfrm>
              <a:off x="8910638" y="2247186"/>
              <a:ext cx="86974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衡量客户活跃与互动</a:t>
              </a:r>
            </a:p>
          </p:txBody>
        </p:sp>
        <p:sp>
          <p:nvSpPr>
            <p:cNvPr id="169" name="TextBox 169"/>
            <p:cNvSpPr txBox="1"/>
            <p:nvPr/>
          </p:nvSpPr>
          <p:spPr>
            <a:xfrm>
              <a:off x="10396538" y="2094786"/>
              <a:ext cx="793463"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月活率（%）​​​</a:t>
              </a:r>
            </a:p>
          </p:txBody>
        </p:sp>
        <p:sp>
          <p:nvSpPr>
            <p:cNvPr id="170" name="TextBox 170"/>
            <p:cNvSpPr txBox="1"/>
            <p:nvPr/>
          </p:nvSpPr>
          <p:spPr>
            <a:xfrm>
              <a:off x="11457769" y="2086689"/>
              <a:ext cx="338944"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​​68%</a:t>
              </a:r>
            </a:p>
          </p:txBody>
        </p:sp>
        <p:sp>
          <p:nvSpPr>
            <p:cNvPr id="171" name="TextBox 171"/>
            <p:cNvSpPr txBox="1"/>
            <p:nvPr/>
          </p:nvSpPr>
          <p:spPr>
            <a:xfrm>
              <a:off x="10396538" y="2247186"/>
              <a:ext cx="1061088"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登录频次（次/月）​​​</a:t>
              </a:r>
            </a:p>
          </p:txBody>
        </p:sp>
        <p:sp>
          <p:nvSpPr>
            <p:cNvPr id="172" name="TextBox 172"/>
            <p:cNvSpPr txBox="1"/>
            <p:nvPr/>
          </p:nvSpPr>
          <p:spPr>
            <a:xfrm>
              <a:off x="11480102" y="2239089"/>
              <a:ext cx="316610"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​​2.8</a:t>
              </a:r>
            </a:p>
          </p:txBody>
        </p:sp>
        <p:sp>
          <p:nvSpPr>
            <p:cNvPr id="173" name="Rectangle 173"/>
            <p:cNvSpPr/>
            <p:nvPr/>
          </p:nvSpPr>
          <p:spPr>
            <a:xfrm>
              <a:off x="8477250" y="2457450"/>
              <a:ext cx="1847850" cy="400050"/>
            </a:xfrm>
            <a:prstGeom prst="roundRect">
              <a:avLst>
                <a:gd name="adj" fmla="val 9524"/>
              </a:avLst>
            </a:prstGeom>
            <a:solidFill>
              <a:srgbClr val="FFF8F2"/>
            </a:solidFill>
            <a:ln w="9525">
              <a:solidFill>
                <a:srgbClr val="F0B8AE"/>
              </a:solidFill>
            </a:ln>
          </p:spPr>
        </p:sp>
        <p:sp>
          <p:nvSpPr>
            <p:cNvPr id="174" name="Ellipse 174"/>
            <p:cNvSpPr/>
            <p:nvPr/>
          </p:nvSpPr>
          <p:spPr>
            <a:xfrm>
              <a:off x="8543925" y="2514600"/>
              <a:ext cx="285750" cy="285750"/>
            </a:xfrm>
            <a:prstGeom prst="ellipse">
              <a:avLst/>
            </a:prstGeom>
            <a:solidFill>
              <a:srgbClr val="FFFFFF"/>
            </a:solidFill>
            <a:ln w="14288">
              <a:solidFill>
                <a:srgbClr val="EE492C"/>
              </a:solidFill>
            </a:ln>
          </p:spPr>
        </p:sp>
        <p:grpSp>
          <p:nvGrpSpPr>
            <p:cNvPr id="178" name="Group 178"/>
            <p:cNvGrpSpPr/>
            <p:nvPr/>
          </p:nvGrpSpPr>
          <p:grpSpPr>
            <a:xfrm>
              <a:off x="8629649" y="2596835"/>
              <a:ext cx="117780" cy="121265"/>
              <a:chOff x="8629649" y="2596835"/>
              <a:chExt cx="117780" cy="121265"/>
            </a:xfrm>
          </p:grpSpPr>
          <p:sp>
            <p:nvSpPr>
              <p:cNvPr id="175" name="Freeform 175"/>
              <p:cNvSpPr/>
              <p:nvPr/>
            </p:nvSpPr>
            <p:spPr>
              <a:xfrm>
                <a:off x="8665369" y="2636044"/>
                <a:ext cx="42862" cy="42862"/>
              </a:xfrm>
              <a:custGeom>
                <a:avLst/>
                <a:gdLst/>
                <a:ahLst/>
                <a:cxnLst/>
                <a:rect l="l" t="t" r="r" b="b"/>
                <a:pathLst>
                  <a:path w="42862" h="42862">
                    <a:moveTo>
                      <a:pt x="0" y="42862"/>
                    </a:moveTo>
                    <a:lnTo>
                      <a:pt x="42862" y="0"/>
                    </a:lnTo>
                  </a:path>
                </a:pathLst>
              </a:custGeom>
              <a:noFill/>
              <a:ln w="14288">
                <a:solidFill>
                  <a:srgbClr val="D82000"/>
                </a:solidFill>
              </a:ln>
            </p:spPr>
          </p:sp>
          <p:sp>
            <p:nvSpPr>
              <p:cNvPr id="176" name="Freeform 176"/>
              <p:cNvSpPr/>
              <p:nvPr/>
            </p:nvSpPr>
            <p:spPr>
              <a:xfrm>
                <a:off x="8679656" y="2596835"/>
                <a:ext cx="67773" cy="67784"/>
              </a:xfrm>
              <a:custGeom>
                <a:avLst/>
                <a:gdLst/>
                <a:ahLst/>
                <a:cxnLst/>
                <a:rect l="l" t="t" r="r" b="b"/>
                <a:pathLst>
                  <a:path w="67773" h="67784">
                    <a:moveTo>
                      <a:pt x="0" y="17778"/>
                    </a:moveTo>
                    <a:lnTo>
                      <a:pt x="3308" y="13949"/>
                    </a:lnTo>
                    <a:cubicBezTo>
                      <a:pt x="17258" y="0"/>
                      <a:pt x="39876" y="2"/>
                      <a:pt x="53825" y="13952"/>
                    </a:cubicBezTo>
                    <a:cubicBezTo>
                      <a:pt x="67773" y="27903"/>
                      <a:pt x="67772" y="50521"/>
                      <a:pt x="53821" y="64470"/>
                    </a:cubicBezTo>
                    <a:lnTo>
                      <a:pt x="50006" y="67784"/>
                    </a:lnTo>
                  </a:path>
                </a:pathLst>
              </a:custGeom>
              <a:noFill/>
              <a:ln w="14288">
                <a:solidFill>
                  <a:srgbClr val="D82000"/>
                </a:solidFill>
              </a:ln>
            </p:spPr>
          </p:sp>
          <p:sp>
            <p:nvSpPr>
              <p:cNvPr id="177" name="Freeform 177"/>
              <p:cNvSpPr/>
              <p:nvPr/>
            </p:nvSpPr>
            <p:spPr>
              <a:xfrm>
                <a:off x="8629649" y="2650331"/>
                <a:ext cx="64295" cy="67769"/>
              </a:xfrm>
              <a:custGeom>
                <a:avLst/>
                <a:gdLst/>
                <a:ahLst/>
                <a:cxnLst/>
                <a:rect l="l" t="t" r="r" b="b"/>
                <a:pathLst>
                  <a:path w="64295" h="67769">
                    <a:moveTo>
                      <a:pt x="64295" y="50006"/>
                    </a:moveTo>
                    <a:lnTo>
                      <a:pt x="61459" y="53821"/>
                    </a:lnTo>
                    <a:cubicBezTo>
                      <a:pt x="47353" y="67769"/>
                      <a:pt x="24650" y="67769"/>
                      <a:pt x="10545" y="53821"/>
                    </a:cubicBezTo>
                    <a:cubicBezTo>
                      <a:pt x="3797" y="47149"/>
                      <a:pt x="0" y="38054"/>
                      <a:pt x="0" y="28564"/>
                    </a:cubicBezTo>
                    <a:cubicBezTo>
                      <a:pt x="0" y="19075"/>
                      <a:pt x="3797" y="9980"/>
                      <a:pt x="10545" y="3308"/>
                    </a:cubicBezTo>
                    <a:lnTo>
                      <a:pt x="14289" y="0"/>
                    </a:lnTo>
                  </a:path>
                </a:pathLst>
              </a:custGeom>
              <a:noFill/>
              <a:ln w="14288">
                <a:solidFill>
                  <a:srgbClr val="D82000"/>
                </a:solidFill>
              </a:ln>
            </p:spPr>
          </p:sp>
        </p:grpSp>
        <p:sp>
          <p:nvSpPr>
            <p:cNvPr id="179" name="TextBox 179"/>
            <p:cNvSpPr txBox="1"/>
            <p:nvPr/>
          </p:nvSpPr>
          <p:spPr>
            <a:xfrm>
              <a:off x="8910638" y="2526268"/>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关系深度</a:t>
              </a:r>
            </a:p>
          </p:txBody>
        </p:sp>
        <p:sp>
          <p:nvSpPr>
            <p:cNvPr id="180" name="TextBox 180"/>
            <p:cNvSpPr txBox="1"/>
            <p:nvPr/>
          </p:nvSpPr>
          <p:spPr>
            <a:xfrm>
              <a:off x="8910638" y="2685336"/>
              <a:ext cx="106090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衡量客户业务粘性与份额</a:t>
              </a:r>
            </a:p>
          </p:txBody>
        </p:sp>
        <p:sp>
          <p:nvSpPr>
            <p:cNvPr id="181" name="TextBox 181"/>
            <p:cNvSpPr txBox="1"/>
            <p:nvPr/>
          </p:nvSpPr>
          <p:spPr>
            <a:xfrm>
              <a:off x="10396538" y="2532936"/>
              <a:ext cx="1147110"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交叉持有产品数（个）​​</a:t>
              </a:r>
            </a:p>
          </p:txBody>
        </p:sp>
        <p:sp>
          <p:nvSpPr>
            <p:cNvPr id="182" name="TextBox 182"/>
            <p:cNvSpPr txBox="1"/>
            <p:nvPr/>
          </p:nvSpPr>
          <p:spPr>
            <a:xfrm>
              <a:off x="11480102" y="2524839"/>
              <a:ext cx="316610"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​​3.6</a:t>
              </a:r>
            </a:p>
          </p:txBody>
        </p:sp>
        <p:sp>
          <p:nvSpPr>
            <p:cNvPr id="183" name="TextBox 183"/>
            <p:cNvSpPr txBox="1"/>
            <p:nvPr/>
          </p:nvSpPr>
          <p:spPr>
            <a:xfrm>
              <a:off x="10396538" y="2685336"/>
              <a:ext cx="1080204"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主办业务份额（%）​​​</a:t>
              </a:r>
            </a:p>
          </p:txBody>
        </p:sp>
        <p:sp>
          <p:nvSpPr>
            <p:cNvPr id="184" name="TextBox 184"/>
            <p:cNvSpPr txBox="1"/>
            <p:nvPr/>
          </p:nvSpPr>
          <p:spPr>
            <a:xfrm>
              <a:off x="11457769" y="2677239"/>
              <a:ext cx="338944"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​​42%</a:t>
              </a:r>
            </a:p>
          </p:txBody>
        </p:sp>
        <p:sp>
          <p:nvSpPr>
            <p:cNvPr id="185" name="Rectangle 185"/>
            <p:cNvSpPr/>
            <p:nvPr/>
          </p:nvSpPr>
          <p:spPr>
            <a:xfrm>
              <a:off x="8477250" y="2895600"/>
              <a:ext cx="1847850" cy="400050"/>
            </a:xfrm>
            <a:prstGeom prst="roundRect">
              <a:avLst>
                <a:gd name="adj" fmla="val 9524"/>
              </a:avLst>
            </a:prstGeom>
            <a:solidFill>
              <a:srgbClr val="FFF8F2"/>
            </a:solidFill>
            <a:ln w="9525">
              <a:solidFill>
                <a:srgbClr val="F0B8AE"/>
              </a:solidFill>
            </a:ln>
          </p:spPr>
        </p:sp>
        <p:sp>
          <p:nvSpPr>
            <p:cNvPr id="186" name="Ellipse 186"/>
            <p:cNvSpPr/>
            <p:nvPr/>
          </p:nvSpPr>
          <p:spPr>
            <a:xfrm>
              <a:off x="8543925" y="2952750"/>
              <a:ext cx="285750" cy="285750"/>
            </a:xfrm>
            <a:prstGeom prst="ellipse">
              <a:avLst/>
            </a:prstGeom>
            <a:solidFill>
              <a:srgbClr val="FFFFFF"/>
            </a:solidFill>
            <a:ln w="14288">
              <a:solidFill>
                <a:srgbClr val="EE492C"/>
              </a:solidFill>
            </a:ln>
          </p:spPr>
        </p:sp>
        <p:grpSp>
          <p:nvGrpSpPr>
            <p:cNvPr id="190" name="Group 190"/>
            <p:cNvGrpSpPr/>
            <p:nvPr/>
          </p:nvGrpSpPr>
          <p:grpSpPr>
            <a:xfrm>
              <a:off x="8625378" y="3031331"/>
              <a:ext cx="122830" cy="127802"/>
              <a:chOff x="8625378" y="3031331"/>
              <a:chExt cx="122830" cy="127802"/>
            </a:xfrm>
          </p:grpSpPr>
          <p:sp>
            <p:nvSpPr>
              <p:cNvPr id="187" name="Freeform 187"/>
              <p:cNvSpPr/>
              <p:nvPr/>
            </p:nvSpPr>
            <p:spPr>
              <a:xfrm>
                <a:off x="8643938" y="3031331"/>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D82000"/>
                </a:solidFill>
              </a:ln>
            </p:spPr>
          </p:sp>
          <p:sp>
            <p:nvSpPr>
              <p:cNvPr id="188" name="Freeform 188"/>
              <p:cNvSpPr/>
              <p:nvPr/>
            </p:nvSpPr>
            <p:spPr>
              <a:xfrm>
                <a:off x="8686800" y="3095625"/>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D82000"/>
                </a:solidFill>
              </a:ln>
            </p:spPr>
          </p:sp>
          <p:sp>
            <p:nvSpPr>
              <p:cNvPr id="189" name="Freeform 189"/>
              <p:cNvSpPr/>
              <p:nvPr/>
            </p:nvSpPr>
            <p:spPr>
              <a:xfrm>
                <a:off x="8625378" y="3095625"/>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D82000"/>
                </a:solidFill>
              </a:ln>
            </p:spPr>
          </p:sp>
        </p:grpSp>
        <p:sp>
          <p:nvSpPr>
            <p:cNvPr id="191" name="TextBox 191"/>
            <p:cNvSpPr txBox="1"/>
            <p:nvPr/>
          </p:nvSpPr>
          <p:spPr>
            <a:xfrm>
              <a:off x="8910638" y="2964418"/>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客户体验</a:t>
              </a:r>
            </a:p>
          </p:txBody>
        </p:sp>
        <p:sp>
          <p:nvSpPr>
            <p:cNvPr id="192" name="TextBox 192"/>
            <p:cNvSpPr txBox="1"/>
            <p:nvPr/>
          </p:nvSpPr>
          <p:spPr>
            <a:xfrm>
              <a:off x="8910638" y="3123486"/>
              <a:ext cx="96532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衡量服务体验与满意度</a:t>
              </a:r>
            </a:p>
          </p:txBody>
        </p:sp>
        <p:sp>
          <p:nvSpPr>
            <p:cNvPr id="193" name="TextBox 193"/>
            <p:cNvSpPr txBox="1"/>
            <p:nvPr/>
          </p:nvSpPr>
          <p:spPr>
            <a:xfrm>
              <a:off x="10396538" y="2971086"/>
              <a:ext cx="697252"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NPS（分）​​​</a:t>
              </a:r>
            </a:p>
          </p:txBody>
        </p:sp>
        <p:sp>
          <p:nvSpPr>
            <p:cNvPr id="194" name="TextBox 194"/>
            <p:cNvSpPr txBox="1"/>
            <p:nvPr/>
          </p:nvSpPr>
          <p:spPr>
            <a:xfrm>
              <a:off x="11541519" y="2962989"/>
              <a:ext cx="255193"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​​62</a:t>
              </a:r>
            </a:p>
          </p:txBody>
        </p:sp>
        <p:sp>
          <p:nvSpPr>
            <p:cNvPr id="195" name="TextBox 195"/>
            <p:cNvSpPr txBox="1"/>
            <p:nvPr/>
          </p:nvSpPr>
          <p:spPr>
            <a:xfrm>
              <a:off x="10396538" y="3123486"/>
              <a:ext cx="793463"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满意度（%）​​​</a:t>
              </a:r>
            </a:p>
          </p:txBody>
        </p:sp>
        <p:sp>
          <p:nvSpPr>
            <p:cNvPr id="196" name="TextBox 196"/>
            <p:cNvSpPr txBox="1"/>
            <p:nvPr/>
          </p:nvSpPr>
          <p:spPr>
            <a:xfrm>
              <a:off x="11457769" y="3115389"/>
              <a:ext cx="338944"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​​91%</a:t>
              </a:r>
            </a:p>
          </p:txBody>
        </p:sp>
        <p:sp>
          <p:nvSpPr>
            <p:cNvPr id="197" name="Rectangle 197"/>
            <p:cNvSpPr/>
            <p:nvPr/>
          </p:nvSpPr>
          <p:spPr>
            <a:xfrm>
              <a:off x="8477250" y="3333750"/>
              <a:ext cx="1847850" cy="400050"/>
            </a:xfrm>
            <a:prstGeom prst="roundRect">
              <a:avLst>
                <a:gd name="adj" fmla="val 9524"/>
              </a:avLst>
            </a:prstGeom>
            <a:solidFill>
              <a:srgbClr val="FFF8F2"/>
            </a:solidFill>
            <a:ln w="9525">
              <a:solidFill>
                <a:srgbClr val="F0B8AE"/>
              </a:solidFill>
            </a:ln>
          </p:spPr>
        </p:sp>
        <p:sp>
          <p:nvSpPr>
            <p:cNvPr id="198" name="Ellipse 198"/>
            <p:cNvSpPr/>
            <p:nvPr/>
          </p:nvSpPr>
          <p:spPr>
            <a:xfrm>
              <a:off x="8543925" y="3390900"/>
              <a:ext cx="285750" cy="285750"/>
            </a:xfrm>
            <a:prstGeom prst="ellipse">
              <a:avLst/>
            </a:prstGeom>
            <a:solidFill>
              <a:srgbClr val="FFFFFF"/>
            </a:solidFill>
            <a:ln w="14288">
              <a:solidFill>
                <a:srgbClr val="EE492C"/>
              </a:solidFill>
            </a:ln>
          </p:spPr>
        </p:sp>
        <p:grpSp>
          <p:nvGrpSpPr>
            <p:cNvPr id="201" name="Group 201"/>
            <p:cNvGrpSpPr/>
            <p:nvPr/>
          </p:nvGrpSpPr>
          <p:grpSpPr>
            <a:xfrm>
              <a:off x="8612865" y="3469481"/>
              <a:ext cx="139505" cy="128588"/>
              <a:chOff x="8612865" y="3469481"/>
              <a:chExt cx="139505" cy="128588"/>
            </a:xfrm>
          </p:grpSpPr>
          <p:sp>
            <p:nvSpPr>
              <p:cNvPr id="199" name="Freeform 199"/>
              <p:cNvSpPr/>
              <p:nvPr/>
            </p:nvSpPr>
            <p:spPr>
              <a:xfrm>
                <a:off x="8612865" y="346948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D82000"/>
                </a:solidFill>
              </a:ln>
            </p:spPr>
          </p:sp>
          <p:sp>
            <p:nvSpPr>
              <p:cNvPr id="200" name="Freeform 200"/>
              <p:cNvSpPr/>
              <p:nvPr/>
            </p:nvSpPr>
            <p:spPr>
              <a:xfrm>
                <a:off x="8708231" y="3569494"/>
                <a:ext cx="42862" cy="28575"/>
              </a:xfrm>
              <a:custGeom>
                <a:avLst/>
                <a:gdLst/>
                <a:ahLst/>
                <a:cxnLst/>
                <a:rect l="l" t="t" r="r" b="b"/>
                <a:pathLst>
                  <a:path w="42862" h="28575">
                    <a:moveTo>
                      <a:pt x="0" y="14288"/>
                    </a:moveTo>
                    <a:lnTo>
                      <a:pt x="14288" y="28575"/>
                    </a:lnTo>
                    <a:lnTo>
                      <a:pt x="42862" y="0"/>
                    </a:lnTo>
                  </a:path>
                </a:pathLst>
              </a:custGeom>
              <a:noFill/>
              <a:ln w="14288">
                <a:solidFill>
                  <a:srgbClr val="D82000"/>
                </a:solidFill>
              </a:ln>
            </p:spPr>
          </p:sp>
        </p:grpSp>
        <p:sp>
          <p:nvSpPr>
            <p:cNvPr id="202" name="TextBox 202"/>
            <p:cNvSpPr txBox="1"/>
            <p:nvPr/>
          </p:nvSpPr>
          <p:spPr>
            <a:xfrm>
              <a:off x="8910638" y="3402568"/>
              <a:ext cx="472618" cy="169069"/>
            </a:xfrm>
            <a:prstGeom prst="rect">
              <a:avLst/>
            </a:prstGeom>
            <a:noFill/>
            <a:ln>
              <a:noFill/>
            </a:ln>
          </p:spPr>
          <p:txBody>
            <a:bodyPr wrap="none" lIns="0" tIns="0" rIns="0" bIns="0" anchor="t" anchorCtr="0">
              <a:spAutoFit/>
            </a:bodyPr>
            <a:lstStyle/>
            <a:p>
              <a:pPr algn="l"/>
              <a:r>
                <a:rPr lang="zh-CN" sz="860" b="1" dirty="0">
                  <a:solidFill>
                    <a:srgbClr val="4A130A"/>
                  </a:solidFill>
                  <a:latin typeface="+mn-lt"/>
                  <a:ea typeface="+mn-ea"/>
                  <a:cs typeface="+mn-cs"/>
                </a:rPr>
                <a:t>风险状况</a:t>
              </a:r>
            </a:p>
          </p:txBody>
        </p:sp>
        <p:sp>
          <p:nvSpPr>
            <p:cNvPr id="203" name="TextBox 203"/>
            <p:cNvSpPr txBox="1"/>
            <p:nvPr/>
          </p:nvSpPr>
          <p:spPr>
            <a:xfrm>
              <a:off x="8910638" y="3561636"/>
              <a:ext cx="965327"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衡量风险水平与稳定性</a:t>
              </a:r>
            </a:p>
          </p:txBody>
        </p:sp>
        <p:sp>
          <p:nvSpPr>
            <p:cNvPr id="204" name="TextBox 204"/>
            <p:cNvSpPr txBox="1"/>
            <p:nvPr/>
          </p:nvSpPr>
          <p:spPr>
            <a:xfrm>
              <a:off x="10396538" y="3409236"/>
              <a:ext cx="1185342"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90天以上逾期率（%）​​​</a:t>
              </a:r>
            </a:p>
          </p:txBody>
        </p:sp>
        <p:sp>
          <p:nvSpPr>
            <p:cNvPr id="205" name="TextBox 205"/>
            <p:cNvSpPr txBox="1"/>
            <p:nvPr/>
          </p:nvSpPr>
          <p:spPr>
            <a:xfrm>
              <a:off x="11334935" y="3401139"/>
              <a:ext cx="461778"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​​0.78%</a:t>
              </a:r>
            </a:p>
          </p:txBody>
        </p:sp>
        <p:sp>
          <p:nvSpPr>
            <p:cNvPr id="206" name="TextBox 206"/>
            <p:cNvSpPr txBox="1"/>
            <p:nvPr/>
          </p:nvSpPr>
          <p:spPr>
            <a:xfrm>
              <a:off x="10396538" y="3561636"/>
              <a:ext cx="1147110" cy="140494"/>
            </a:xfrm>
            <a:prstGeom prst="rect">
              <a:avLst/>
            </a:prstGeom>
            <a:noFill/>
            <a:ln>
              <a:noFill/>
            </a:ln>
          </p:spPr>
          <p:txBody>
            <a:bodyPr wrap="none" lIns="0" tIns="0" rIns="0" bIns="0" anchor="t" anchorCtr="0">
              <a:spAutoFit/>
            </a:bodyPr>
            <a:lstStyle/>
            <a:p>
              <a:pPr algn="l" marL="76644" indent="-76644">
                <a:buClr>
                  <a:srgbClr val="3D3835"/>
                </a:buClr>
                <a:buSzTx/>
                <a:buFontTx/>
                <a:buChar char="•"/>
              </a:pPr>
              <a:r>
                <a:rPr lang="zh-CN" sz="710" dirty="0">
                  <a:solidFill>
                    <a:srgbClr val="3D3835"/>
                  </a:solidFill>
                  <a:latin typeface="+mn-lt"/>
                  <a:ea typeface="+mn-ea"/>
                  <a:cs typeface="+mn-cs"/>
                </a:rPr>
                <a:t>风险成本（年均，元）​​</a:t>
              </a:r>
            </a:p>
          </p:txBody>
        </p:sp>
        <p:sp>
          <p:nvSpPr>
            <p:cNvPr id="207" name="TextBox 207"/>
            <p:cNvSpPr txBox="1"/>
            <p:nvPr/>
          </p:nvSpPr>
          <p:spPr>
            <a:xfrm>
              <a:off x="11480102" y="3553539"/>
              <a:ext cx="316610"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​​320</a:t>
              </a:r>
            </a:p>
          </p:txBody>
        </p:sp>
      </p:grpSp>
      <p:grpSp>
        <p:nvGrpSpPr>
          <p:cNvPr id="304" name="kpi-table"/>
          <p:cNvGrpSpPr/>
          <p:nvPr/>
        </p:nvGrpSpPr>
        <p:grpSpPr>
          <a:xfrm>
            <a:off x="376238" y="3831193"/>
            <a:ext cx="11434762" cy="2760107"/>
            <a:chOff x="376238" y="3831193"/>
            <a:chExt cx="11434762" cy="2760107"/>
          </a:xfrm>
        </p:grpSpPr>
        <p:sp>
          <p:nvSpPr>
            <p:cNvPr id="209" name="TextBox 209"/>
            <p:cNvSpPr txBox="1"/>
            <p:nvPr/>
          </p:nvSpPr>
          <p:spPr>
            <a:xfrm>
              <a:off x="376238" y="3831193"/>
              <a:ext cx="1238867" cy="169069"/>
            </a:xfrm>
            <a:prstGeom prst="rect">
              <a:avLst/>
            </a:prstGeom>
            <a:noFill/>
            <a:ln>
              <a:noFill/>
            </a:ln>
          </p:spPr>
          <p:txBody>
            <a:bodyPr wrap="none" lIns="0" tIns="0" rIns="0" bIns="0" anchor="t" anchorCtr="0">
              <a:spAutoFit/>
            </a:bodyPr>
            <a:lstStyle/>
            <a:p>
              <a:pPr algn="l"/>
              <a:r>
                <a:rPr lang="zh-CN" sz="860" b="1" dirty="0">
                  <a:solidFill>
                    <a:srgbClr val="C41D00"/>
                  </a:solidFill>
                  <a:latin typeface="+mn-lt"/>
                  <a:ea typeface="+mn-ea"/>
                  <a:cs typeface="+mn-cs"/>
                </a:rPr>
                <a:t>KPI 定义与计算口径​​​</a:t>
              </a:r>
            </a:p>
          </p:txBody>
        </p:sp>
        <p:sp>
          <p:nvSpPr>
            <p:cNvPr id="210" name="Rectangle 210"/>
            <p:cNvSpPr/>
            <p:nvPr/>
          </p:nvSpPr>
          <p:spPr>
            <a:xfrm>
              <a:off x="381000" y="3981450"/>
              <a:ext cx="11430000" cy="209550"/>
            </a:xfrm>
            <a:prstGeom prst="rect">
              <a:avLst/>
            </a:prstGeom>
            <a:solidFill>
              <a:srgbClr val="C41D00"/>
            </a:solidFill>
            <a:ln>
              <a:noFill/>
            </a:ln>
          </p:spPr>
        </p:sp>
        <p:sp>
          <p:nvSpPr>
            <p:cNvPr id="211" name="TextBox 211"/>
            <p:cNvSpPr txBox="1"/>
            <p:nvPr/>
          </p:nvSpPr>
          <p:spPr>
            <a:xfrm>
              <a:off x="727088" y="40488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维度</a:t>
              </a:r>
            </a:p>
          </p:txBody>
        </p:sp>
        <p:sp>
          <p:nvSpPr>
            <p:cNvPr id="212" name="TextBox 212"/>
            <p:cNvSpPr txBox="1"/>
            <p:nvPr/>
          </p:nvSpPr>
          <p:spPr>
            <a:xfrm>
              <a:off x="1848002" y="4048839"/>
              <a:ext cx="304495" cy="154781"/>
            </a:xfrm>
            <a:prstGeom prst="rect">
              <a:avLst/>
            </a:prstGeom>
            <a:noFill/>
            <a:ln>
              <a:noFill/>
            </a:ln>
          </p:spPr>
          <p:txBody>
            <a:bodyPr wrap="none" lIns="0" tIns="0" rIns="0" bIns="0" anchor="t" anchorCtr="0">
              <a:spAutoFit/>
            </a:bodyPr>
            <a:lstStyle/>
            <a:p>
              <a:pPr algn="ctr"/>
              <a:r>
                <a:rPr lang="en-US" sz="790" b="1" dirty="0">
                  <a:solidFill>
                    <a:srgbClr val="FFFFFF"/>
                  </a:solidFill>
                  <a:latin typeface="+mn-lt"/>
                  <a:ea typeface="+mn-ea"/>
                  <a:cs typeface="+mn-cs"/>
                </a:rPr>
                <a:t>​KPI​</a:t>
              </a:r>
            </a:p>
          </p:txBody>
        </p:sp>
        <p:sp>
          <p:nvSpPr>
            <p:cNvPr id="213" name="TextBox 213"/>
            <p:cNvSpPr txBox="1"/>
            <p:nvPr/>
          </p:nvSpPr>
          <p:spPr>
            <a:xfrm>
              <a:off x="3870338" y="40488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定义</a:t>
              </a:r>
            </a:p>
          </p:txBody>
        </p:sp>
        <p:sp>
          <p:nvSpPr>
            <p:cNvPr id="214" name="TextBox 214"/>
            <p:cNvSpPr txBox="1"/>
            <p:nvPr/>
          </p:nvSpPr>
          <p:spPr>
            <a:xfrm>
              <a:off x="6392888" y="404883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计算公式</a:t>
              </a:r>
            </a:p>
          </p:txBody>
        </p:sp>
        <p:sp>
          <p:nvSpPr>
            <p:cNvPr id="215" name="TextBox 215"/>
            <p:cNvSpPr txBox="1"/>
            <p:nvPr/>
          </p:nvSpPr>
          <p:spPr>
            <a:xfrm>
              <a:off x="8478863" y="404883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数据来源</a:t>
              </a:r>
            </a:p>
          </p:txBody>
        </p:sp>
        <p:sp>
          <p:nvSpPr>
            <p:cNvPr id="216" name="TextBox 216"/>
            <p:cNvSpPr txBox="1"/>
            <p:nvPr/>
          </p:nvSpPr>
          <p:spPr>
            <a:xfrm>
              <a:off x="9983813" y="404883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口径说明</a:t>
              </a:r>
            </a:p>
          </p:txBody>
        </p:sp>
        <p:sp>
          <p:nvSpPr>
            <p:cNvPr id="217" name="TextBox 217"/>
            <p:cNvSpPr txBox="1"/>
            <p:nvPr/>
          </p:nvSpPr>
          <p:spPr>
            <a:xfrm>
              <a:off x="10778021" y="4048839"/>
              <a:ext cx="999642" cy="154781"/>
            </a:xfrm>
            <a:prstGeom prst="rect">
              <a:avLst/>
            </a:prstGeom>
            <a:noFill/>
            <a:ln>
              <a:noFill/>
            </a:ln>
          </p:spPr>
          <p:txBody>
            <a:bodyPr wrap="none" lIns="0" tIns="0" rIns="0" bIns="0" anchor="t" anchorCtr="0">
              <a:spAutoFit/>
            </a:bodyPr>
            <a:lstStyle/>
            <a:p>
              <a:pPr algn="r"/>
              <a:r>
                <a:rPr lang="zh-CN" sz="790" b="1" dirty="0">
                  <a:solidFill>
                    <a:srgbClr val="FFFFFF"/>
                  </a:solidFill>
                  <a:latin typeface="+mn-lt"/>
                  <a:ea typeface="+mn-ea"/>
                  <a:cs typeface="+mn-cs"/>
                </a:rPr>
                <a:t>​​示例（近12个月）</a:t>
              </a:r>
            </a:p>
          </p:txBody>
        </p:sp>
        <p:sp>
          <p:nvSpPr>
            <p:cNvPr id="218" name="Rectangle 218"/>
            <p:cNvSpPr/>
            <p:nvPr/>
          </p:nvSpPr>
          <p:spPr>
            <a:xfrm>
              <a:off x="381000" y="4191000"/>
              <a:ext cx="11430000" cy="2400300"/>
            </a:xfrm>
            <a:prstGeom prst="rect">
              <a:avLst/>
            </a:prstGeom>
            <a:solidFill>
              <a:srgbClr val="FFFFFF"/>
            </a:solidFill>
            <a:ln w="9525">
              <a:solidFill>
                <a:srgbClr val="F0B8AE"/>
              </a:solidFill>
            </a:ln>
          </p:spPr>
        </p:sp>
        <p:sp>
          <p:nvSpPr>
            <p:cNvPr id="219" name="Rectangle 219"/>
            <p:cNvSpPr/>
            <p:nvPr/>
          </p:nvSpPr>
          <p:spPr>
            <a:xfrm>
              <a:off x="381000" y="4191000"/>
              <a:ext cx="11430000" cy="685800"/>
            </a:xfrm>
            <a:prstGeom prst="rect">
              <a:avLst/>
            </a:prstGeom>
            <a:solidFill>
              <a:srgbClr val="FFF8F2"/>
            </a:solidFill>
            <a:ln>
              <a:noFill/>
            </a:ln>
          </p:spPr>
        </p:sp>
        <p:sp>
          <p:nvSpPr>
            <p:cNvPr id="220" name="Rectangle 220"/>
            <p:cNvSpPr/>
            <p:nvPr/>
          </p:nvSpPr>
          <p:spPr>
            <a:xfrm>
              <a:off x="381000" y="5219700"/>
              <a:ext cx="11430000" cy="342900"/>
            </a:xfrm>
            <a:prstGeom prst="rect">
              <a:avLst/>
            </a:prstGeom>
            <a:solidFill>
              <a:srgbClr val="FFF8F2"/>
            </a:solidFill>
            <a:ln>
              <a:noFill/>
            </a:ln>
          </p:spPr>
        </p:sp>
        <p:sp>
          <p:nvSpPr>
            <p:cNvPr id="221" name="Rectangle 221"/>
            <p:cNvSpPr/>
            <p:nvPr/>
          </p:nvSpPr>
          <p:spPr>
            <a:xfrm>
              <a:off x="381000" y="5905500"/>
              <a:ext cx="11430000" cy="685800"/>
            </a:xfrm>
            <a:prstGeom prst="rect">
              <a:avLst/>
            </a:prstGeom>
            <a:solidFill>
              <a:srgbClr val="FFF8F2"/>
            </a:solidFill>
            <a:ln>
              <a:noFill/>
            </a:ln>
          </p:spPr>
        </p:sp>
        <p:sp>
          <p:nvSpPr>
            <p:cNvPr id="222" name="Line 222"/>
            <p:cNvSpPr/>
            <p:nvPr/>
          </p:nvSpPr>
          <p:spPr>
            <a:xfrm>
              <a:off x="381000" y="4533900"/>
              <a:ext cx="11430000" cy="9525"/>
            </a:xfrm>
            <a:custGeom>
              <a:avLst/>
              <a:gdLst/>
              <a:ahLst/>
              <a:cxnLst/>
              <a:rect l="l" t="t" r="r" b="b"/>
              <a:pathLst>
                <a:path w="11430000" h="9525">
                  <a:moveTo>
                    <a:pt x="0" y="0"/>
                  </a:moveTo>
                  <a:lnTo>
                    <a:pt x="11430000" y="0"/>
                  </a:lnTo>
                </a:path>
              </a:pathLst>
            </a:custGeom>
            <a:noFill/>
            <a:ln w="9525">
              <a:solidFill>
                <a:srgbClr val="EADBCE"/>
              </a:solidFill>
            </a:ln>
          </p:spPr>
        </p:sp>
        <p:sp>
          <p:nvSpPr>
            <p:cNvPr id="223" name="Line 223"/>
            <p:cNvSpPr/>
            <p:nvPr/>
          </p:nvSpPr>
          <p:spPr>
            <a:xfrm>
              <a:off x="381000" y="4876800"/>
              <a:ext cx="11430000" cy="9525"/>
            </a:xfrm>
            <a:custGeom>
              <a:avLst/>
              <a:gdLst/>
              <a:ahLst/>
              <a:cxnLst/>
              <a:rect l="l" t="t" r="r" b="b"/>
              <a:pathLst>
                <a:path w="11430000" h="9525">
                  <a:moveTo>
                    <a:pt x="0" y="0"/>
                  </a:moveTo>
                  <a:lnTo>
                    <a:pt x="11430000" y="0"/>
                  </a:lnTo>
                </a:path>
              </a:pathLst>
            </a:custGeom>
            <a:noFill/>
            <a:ln w="9525">
              <a:solidFill>
                <a:srgbClr val="EADBCE"/>
              </a:solidFill>
            </a:ln>
          </p:spPr>
        </p:sp>
        <p:sp>
          <p:nvSpPr>
            <p:cNvPr id="224" name="Line 224"/>
            <p:cNvSpPr/>
            <p:nvPr/>
          </p:nvSpPr>
          <p:spPr>
            <a:xfrm>
              <a:off x="381000" y="5219700"/>
              <a:ext cx="11430000" cy="9525"/>
            </a:xfrm>
            <a:custGeom>
              <a:avLst/>
              <a:gdLst/>
              <a:ahLst/>
              <a:cxnLst/>
              <a:rect l="l" t="t" r="r" b="b"/>
              <a:pathLst>
                <a:path w="11430000" h="9525">
                  <a:moveTo>
                    <a:pt x="0" y="0"/>
                  </a:moveTo>
                  <a:lnTo>
                    <a:pt x="11430000" y="0"/>
                  </a:lnTo>
                </a:path>
              </a:pathLst>
            </a:custGeom>
            <a:noFill/>
            <a:ln w="9525">
              <a:solidFill>
                <a:srgbClr val="EADBCE"/>
              </a:solidFill>
            </a:ln>
          </p:spPr>
        </p:sp>
        <p:sp>
          <p:nvSpPr>
            <p:cNvPr id="225" name="Line 225"/>
            <p:cNvSpPr/>
            <p:nvPr/>
          </p:nvSpPr>
          <p:spPr>
            <a:xfrm>
              <a:off x="381000" y="5562600"/>
              <a:ext cx="11430000" cy="9525"/>
            </a:xfrm>
            <a:custGeom>
              <a:avLst/>
              <a:gdLst/>
              <a:ahLst/>
              <a:cxnLst/>
              <a:rect l="l" t="t" r="r" b="b"/>
              <a:pathLst>
                <a:path w="11430000" h="9525">
                  <a:moveTo>
                    <a:pt x="0" y="0"/>
                  </a:moveTo>
                  <a:lnTo>
                    <a:pt x="11430000" y="0"/>
                  </a:lnTo>
                </a:path>
              </a:pathLst>
            </a:custGeom>
            <a:noFill/>
            <a:ln w="9525">
              <a:solidFill>
                <a:srgbClr val="EADBCE"/>
              </a:solidFill>
            </a:ln>
          </p:spPr>
        </p:sp>
        <p:sp>
          <p:nvSpPr>
            <p:cNvPr id="226" name="Line 226"/>
            <p:cNvSpPr/>
            <p:nvPr/>
          </p:nvSpPr>
          <p:spPr>
            <a:xfrm>
              <a:off x="381000" y="5905500"/>
              <a:ext cx="11430000" cy="9525"/>
            </a:xfrm>
            <a:custGeom>
              <a:avLst/>
              <a:gdLst/>
              <a:ahLst/>
              <a:cxnLst/>
              <a:rect l="l" t="t" r="r" b="b"/>
              <a:pathLst>
                <a:path w="11430000" h="9525">
                  <a:moveTo>
                    <a:pt x="0" y="0"/>
                  </a:moveTo>
                  <a:lnTo>
                    <a:pt x="11430000" y="0"/>
                  </a:lnTo>
                </a:path>
              </a:pathLst>
            </a:custGeom>
            <a:noFill/>
            <a:ln w="9525">
              <a:solidFill>
                <a:srgbClr val="EADBCE"/>
              </a:solidFill>
            </a:ln>
          </p:spPr>
        </p:sp>
        <p:sp>
          <p:nvSpPr>
            <p:cNvPr id="227" name="Line 227"/>
            <p:cNvSpPr/>
            <p:nvPr/>
          </p:nvSpPr>
          <p:spPr>
            <a:xfrm>
              <a:off x="381000" y="6248400"/>
              <a:ext cx="11430000" cy="9525"/>
            </a:xfrm>
            <a:custGeom>
              <a:avLst/>
              <a:gdLst/>
              <a:ahLst/>
              <a:cxnLst/>
              <a:rect l="l" t="t" r="r" b="b"/>
              <a:pathLst>
                <a:path w="11430000" h="9525">
                  <a:moveTo>
                    <a:pt x="0" y="0"/>
                  </a:moveTo>
                  <a:lnTo>
                    <a:pt x="11430000" y="0"/>
                  </a:lnTo>
                </a:path>
              </a:pathLst>
            </a:custGeom>
            <a:noFill/>
            <a:ln w="9525">
              <a:solidFill>
                <a:srgbClr val="EADBCE"/>
              </a:solidFill>
            </a:ln>
          </p:spPr>
        </p:sp>
        <p:sp>
          <p:nvSpPr>
            <p:cNvPr id="228" name="Line 228"/>
            <p:cNvSpPr/>
            <p:nvPr/>
          </p:nvSpPr>
          <p:spPr>
            <a:xfrm>
              <a:off x="1295400" y="4191000"/>
              <a:ext cx="9525" cy="2400300"/>
            </a:xfrm>
            <a:custGeom>
              <a:avLst/>
              <a:gdLst/>
              <a:ahLst/>
              <a:cxnLst/>
              <a:rect l="l" t="t" r="r" b="b"/>
              <a:pathLst>
                <a:path w="9525" h="2400300">
                  <a:moveTo>
                    <a:pt x="0" y="0"/>
                  </a:moveTo>
                  <a:lnTo>
                    <a:pt x="0" y="2400300"/>
                  </a:lnTo>
                </a:path>
              </a:pathLst>
            </a:custGeom>
            <a:noFill/>
            <a:ln w="9525">
              <a:solidFill>
                <a:srgbClr val="EADBCE"/>
              </a:solidFill>
            </a:ln>
          </p:spPr>
        </p:sp>
        <p:sp>
          <p:nvSpPr>
            <p:cNvPr id="229" name="Line 229"/>
            <p:cNvSpPr/>
            <p:nvPr/>
          </p:nvSpPr>
          <p:spPr>
            <a:xfrm>
              <a:off x="2705100" y="4191000"/>
              <a:ext cx="9525" cy="2400300"/>
            </a:xfrm>
            <a:custGeom>
              <a:avLst/>
              <a:gdLst/>
              <a:ahLst/>
              <a:cxnLst/>
              <a:rect l="l" t="t" r="r" b="b"/>
              <a:pathLst>
                <a:path w="9525" h="2400300">
                  <a:moveTo>
                    <a:pt x="0" y="0"/>
                  </a:moveTo>
                  <a:lnTo>
                    <a:pt x="0" y="2400300"/>
                  </a:lnTo>
                </a:path>
              </a:pathLst>
            </a:custGeom>
            <a:noFill/>
            <a:ln w="9525">
              <a:solidFill>
                <a:srgbClr val="EADBCE"/>
              </a:solidFill>
            </a:ln>
          </p:spPr>
        </p:sp>
        <p:sp>
          <p:nvSpPr>
            <p:cNvPr id="230" name="Line 230"/>
            <p:cNvSpPr/>
            <p:nvPr/>
          </p:nvSpPr>
          <p:spPr>
            <a:xfrm>
              <a:off x="5257800" y="4191000"/>
              <a:ext cx="9525" cy="2400300"/>
            </a:xfrm>
            <a:custGeom>
              <a:avLst/>
              <a:gdLst/>
              <a:ahLst/>
              <a:cxnLst/>
              <a:rect l="l" t="t" r="r" b="b"/>
              <a:pathLst>
                <a:path w="9525" h="2400300">
                  <a:moveTo>
                    <a:pt x="0" y="0"/>
                  </a:moveTo>
                  <a:lnTo>
                    <a:pt x="0" y="2400300"/>
                  </a:lnTo>
                </a:path>
              </a:pathLst>
            </a:custGeom>
            <a:noFill/>
            <a:ln w="9525">
              <a:solidFill>
                <a:srgbClr val="EADBCE"/>
              </a:solidFill>
            </a:ln>
          </p:spPr>
        </p:sp>
        <p:sp>
          <p:nvSpPr>
            <p:cNvPr id="231" name="Line 231"/>
            <p:cNvSpPr/>
            <p:nvPr/>
          </p:nvSpPr>
          <p:spPr>
            <a:xfrm>
              <a:off x="7962900" y="4191000"/>
              <a:ext cx="9525" cy="2400300"/>
            </a:xfrm>
            <a:custGeom>
              <a:avLst/>
              <a:gdLst/>
              <a:ahLst/>
              <a:cxnLst/>
              <a:rect l="l" t="t" r="r" b="b"/>
              <a:pathLst>
                <a:path w="9525" h="2400300">
                  <a:moveTo>
                    <a:pt x="0" y="0"/>
                  </a:moveTo>
                  <a:lnTo>
                    <a:pt x="0" y="2400300"/>
                  </a:lnTo>
                </a:path>
              </a:pathLst>
            </a:custGeom>
            <a:noFill/>
            <a:ln w="9525">
              <a:solidFill>
                <a:srgbClr val="EADBCE"/>
              </a:solidFill>
            </a:ln>
          </p:spPr>
        </p:sp>
        <p:sp>
          <p:nvSpPr>
            <p:cNvPr id="232" name="Line 232"/>
            <p:cNvSpPr/>
            <p:nvPr/>
          </p:nvSpPr>
          <p:spPr>
            <a:xfrm>
              <a:off x="9429750" y="4191000"/>
              <a:ext cx="9525" cy="2400300"/>
            </a:xfrm>
            <a:custGeom>
              <a:avLst/>
              <a:gdLst/>
              <a:ahLst/>
              <a:cxnLst/>
              <a:rect l="l" t="t" r="r" b="b"/>
              <a:pathLst>
                <a:path w="9525" h="2400300">
                  <a:moveTo>
                    <a:pt x="0" y="0"/>
                  </a:moveTo>
                  <a:lnTo>
                    <a:pt x="0" y="2400300"/>
                  </a:lnTo>
                </a:path>
              </a:pathLst>
            </a:custGeom>
            <a:noFill/>
            <a:ln w="9525">
              <a:solidFill>
                <a:srgbClr val="EADBCE"/>
              </a:solidFill>
            </a:ln>
          </p:spPr>
        </p:sp>
        <p:sp>
          <p:nvSpPr>
            <p:cNvPr id="233" name="Line 233"/>
            <p:cNvSpPr/>
            <p:nvPr/>
          </p:nvSpPr>
          <p:spPr>
            <a:xfrm>
              <a:off x="10972800" y="4191000"/>
              <a:ext cx="9525" cy="2400300"/>
            </a:xfrm>
            <a:custGeom>
              <a:avLst/>
              <a:gdLst/>
              <a:ahLst/>
              <a:cxnLst/>
              <a:rect l="l" t="t" r="r" b="b"/>
              <a:pathLst>
                <a:path w="9525" h="2400300">
                  <a:moveTo>
                    <a:pt x="0" y="0"/>
                  </a:moveTo>
                  <a:lnTo>
                    <a:pt x="0" y="2400300"/>
                  </a:lnTo>
                </a:path>
              </a:pathLst>
            </a:custGeom>
            <a:noFill/>
            <a:ln w="9525">
              <a:solidFill>
                <a:srgbClr val="EADBCE"/>
              </a:solidFill>
            </a:ln>
          </p:spPr>
        </p:sp>
        <p:grpSp>
          <p:nvGrpSpPr>
            <p:cNvPr id="238" name="Group 238"/>
            <p:cNvGrpSpPr/>
            <p:nvPr/>
          </p:nvGrpSpPr>
          <p:grpSpPr>
            <a:xfrm>
              <a:off x="497681" y="4476750"/>
              <a:ext cx="128587" cy="123825"/>
              <a:chOff x="497681" y="4476750"/>
              <a:chExt cx="128587" cy="123825"/>
            </a:xfrm>
          </p:grpSpPr>
          <p:sp>
            <p:nvSpPr>
              <p:cNvPr id="234" name="Freeform 234"/>
              <p:cNvSpPr/>
              <p:nvPr/>
            </p:nvSpPr>
            <p:spPr>
              <a:xfrm>
                <a:off x="497681" y="453390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D82000"/>
                </a:solidFill>
              </a:ln>
            </p:spPr>
          </p:sp>
          <p:sp>
            <p:nvSpPr>
              <p:cNvPr id="235" name="Freeform 235"/>
              <p:cNvSpPr/>
              <p:nvPr/>
            </p:nvSpPr>
            <p:spPr>
              <a:xfrm>
                <a:off x="583406" y="450532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D82000"/>
                </a:solidFill>
              </a:ln>
            </p:spPr>
          </p:sp>
          <p:sp>
            <p:nvSpPr>
              <p:cNvPr id="236" name="Freeform 236"/>
              <p:cNvSpPr/>
              <p:nvPr/>
            </p:nvSpPr>
            <p:spPr>
              <a:xfrm>
                <a:off x="540544" y="447675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D82000"/>
                </a:solidFill>
              </a:ln>
            </p:spPr>
          </p:sp>
          <p:sp>
            <p:nvSpPr>
              <p:cNvPr id="237" name="Freeform 237"/>
              <p:cNvSpPr/>
              <p:nvPr/>
            </p:nvSpPr>
            <p:spPr>
              <a:xfrm>
                <a:off x="504825" y="4591050"/>
                <a:ext cx="100012" cy="9525"/>
              </a:xfrm>
              <a:custGeom>
                <a:avLst/>
                <a:gdLst/>
                <a:ahLst/>
                <a:cxnLst/>
                <a:rect l="l" t="t" r="r" b="b"/>
                <a:pathLst>
                  <a:path w="100012" h="9525">
                    <a:moveTo>
                      <a:pt x="0" y="0"/>
                    </a:moveTo>
                    <a:lnTo>
                      <a:pt x="100012" y="0"/>
                    </a:lnTo>
                  </a:path>
                </a:pathLst>
              </a:custGeom>
              <a:noFill/>
              <a:ln w="14288">
                <a:solidFill>
                  <a:srgbClr val="D82000"/>
                </a:solidFill>
              </a:ln>
            </p:spPr>
          </p:sp>
        </p:grpSp>
        <p:sp>
          <p:nvSpPr>
            <p:cNvPr id="239" name="TextBox 239"/>
            <p:cNvSpPr txBox="1"/>
            <p:nvPr/>
          </p:nvSpPr>
          <p:spPr>
            <a:xfrm>
              <a:off x="700088" y="4491038"/>
              <a:ext cx="413385"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财务价值</a:t>
              </a:r>
            </a:p>
          </p:txBody>
        </p:sp>
        <p:sp>
          <p:nvSpPr>
            <p:cNvPr id="240" name="TextBox 240"/>
            <p:cNvSpPr txBox="1"/>
            <p:nvPr/>
          </p:nvSpPr>
          <p:spPr>
            <a:xfrm>
              <a:off x="1366838" y="4319588"/>
              <a:ext cx="655034"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CLV（元）​​​</a:t>
              </a:r>
            </a:p>
          </p:txBody>
        </p:sp>
        <p:sp>
          <p:nvSpPr>
            <p:cNvPr id="241" name="TextBox 241"/>
            <p:cNvSpPr txBox="1"/>
            <p:nvPr/>
          </p:nvSpPr>
          <p:spPr>
            <a:xfrm>
              <a:off x="2776538" y="4319588"/>
              <a:ext cx="192786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客户在未来生命周期内为银行带来的净现值</a:t>
              </a:r>
            </a:p>
          </p:txBody>
        </p:sp>
        <p:sp>
          <p:nvSpPr>
            <p:cNvPr id="242" name="TextBox 242"/>
            <p:cNvSpPr txBox="1"/>
            <p:nvPr/>
          </p:nvSpPr>
          <p:spPr>
            <a:xfrm>
              <a:off x="5329238" y="4266486"/>
              <a:ext cx="2378266" cy="264319"/>
            </a:xfrm>
            <a:prstGeom prst="rect">
              <a:avLst/>
            </a:prstGeom>
            <a:noFill/>
            <a:ln>
              <a:noFill/>
            </a:ln>
          </p:spPr>
          <p:txBody>
            <a:bodyPr wrap="none" lIns="0" tIns="0" rIns="0" bIns="0" anchor="t" anchorCtr="0">
              <a:spAutoFit/>
            </a:bodyPr>
            <a:lstStyle/>
            <a:p>
              <a:pPr algn="l">
                <a:lnSpc>
                  <a:spcPts val="975"/>
                </a:lnSpc>
              </a:pPr>
              <a:r>
                <a:rPr lang="el-GR" sz="710" dirty="0">
                  <a:solidFill>
                    <a:srgbClr val="3D3835"/>
                  </a:solidFill>
                  <a:latin typeface="+mn-lt"/>
                  <a:ea typeface="+mn-ea"/>
                  <a:cs typeface="+mn-cs"/>
                </a:rPr>
                <a:t>CLV = Σ</a:t>
              </a:r>
              <a:r>
                <a:rPr lang="en-US" sz="520" baseline="-25000" dirty="0">
                  <a:solidFill>
                    <a:srgbClr val="3D3835"/>
                  </a:solidFill>
                  <a:latin typeface="+mn-lt"/>
                  <a:ea typeface="+mn-ea"/>
                  <a:cs typeface="+mn-cs"/>
                </a:rPr>
                <a:t>t=1</a:t>
              </a:r>
              <a:r>
                <a:rPr lang="en-US" sz="520" baseline="30000" dirty="0">
                  <a:solidFill>
                    <a:srgbClr val="3D3835"/>
                  </a:solidFill>
                  <a:latin typeface="+mn-lt"/>
                  <a:ea typeface="+mn-ea"/>
                  <a:cs typeface="+mn-cs"/>
                </a:rPr>
                <a:t>T</a:t>
              </a:r>
              <a:r>
                <a:rPr lang="zh-CN" sz="710" dirty="0">
                  <a:solidFill>
                    <a:srgbClr val="3D3835"/>
                  </a:solidFill>
                  <a:latin typeface="+mn-lt"/>
                  <a:ea typeface="+mn-ea"/>
                  <a:cs typeface="+mn-cs"/>
                </a:rPr>
                <a:t xml:space="preserve"> [(收入贡献</a:t>
              </a:r>
              <a:r>
                <a:rPr lang="en-US" sz="520" baseline="-25000" dirty="0">
                  <a:solidFill>
                    <a:srgbClr val="3D3835"/>
                  </a:solidFill>
                  <a:latin typeface="+mn-lt"/>
                  <a:ea typeface="+mn-ea"/>
                  <a:cs typeface="+mn-cs"/>
                </a:rPr>
                <a:t>t</a:t>
              </a:r>
              <a:r>
                <a:rPr lang="zh-CN" sz="710" dirty="0">
                  <a:solidFill>
                    <a:srgbClr val="3D3835"/>
                  </a:solidFill>
                  <a:latin typeface="+mn-lt"/>
                  <a:ea typeface="+mn-ea"/>
                  <a:cs typeface="+mn-cs"/>
                </a:rPr>
                <a:t xml:space="preserve"> − 服务成本</a:t>
              </a:r>
              <a:r>
                <a:rPr lang="en-US" sz="520" baseline="-25000" dirty="0">
                  <a:solidFill>
                    <a:srgbClr val="3D3835"/>
                  </a:solidFill>
                  <a:latin typeface="+mn-lt"/>
                  <a:ea typeface="+mn-ea"/>
                  <a:cs typeface="+mn-cs"/>
                </a:rPr>
                <a:t>t</a:t>
              </a:r>
              <a:r>
                <a:rPr lang="zh-CN" sz="710" dirty="0">
                  <a:solidFill>
                    <a:srgbClr val="3D3835"/>
                  </a:solidFill>
                  <a:latin typeface="+mn-lt"/>
                  <a:ea typeface="+mn-ea"/>
                  <a:cs typeface="+mn-cs"/>
                </a:rPr>
                <a:t xml:space="preserve"> − 风险成本</a:t>
              </a:r>
              <a:r>
                <a:rPr lang="en-US" sz="520" baseline="-25000" dirty="0">
                  <a:solidFill>
                    <a:srgbClr val="3D3835"/>
                  </a:solidFill>
                  <a:latin typeface="+mn-lt"/>
                  <a:ea typeface="+mn-ea"/>
                  <a:cs typeface="+mn-cs"/>
                </a:rPr>
                <a:t>t</a:t>
              </a:r>
              <a:r>
                <a:rPr lang="zh-CN" sz="710" dirty="0">
                  <a:solidFill>
                    <a:srgbClr val="3D3835"/>
                  </a:solidFill>
                  <a:latin typeface="+mn-lt"/>
                  <a:ea typeface="+mn-ea"/>
                  <a:cs typeface="+mn-cs"/>
                </a:rPr>
                <a:t>)​​​​​​​</a:t>
              </a:r>
              <a:br/>
              <a:r>
                <a:rPr lang="zh-CN" sz="710" dirty="0">
                  <a:solidFill>
                    <a:srgbClr val="3D3835"/>
                  </a:solidFill>
                  <a:latin typeface="+mn-lt"/>
                  <a:ea typeface="+mn-ea"/>
                  <a:cs typeface="+mn-cs"/>
                </a:rPr>
                <a:t>× 留存概率</a:t>
              </a:r>
              <a:r>
                <a:rPr lang="en-US" sz="520" baseline="-25000" dirty="0">
                  <a:solidFill>
                    <a:srgbClr val="3D3835"/>
                  </a:solidFill>
                  <a:latin typeface="+mn-lt"/>
                  <a:ea typeface="+mn-ea"/>
                  <a:cs typeface="+mn-cs"/>
                </a:rPr>
                <a:t>t</a:t>
              </a:r>
              <a:r>
                <a:rPr lang="en-US" sz="710" dirty="0">
                  <a:solidFill>
                    <a:srgbClr val="3D3835"/>
                  </a:solidFill>
                  <a:latin typeface="+mn-lt"/>
                  <a:ea typeface="+mn-ea"/>
                  <a:cs typeface="+mn-cs"/>
                </a:rPr>
                <a:t>] / (1+r)</a:t>
              </a:r>
              <a:r>
                <a:rPr lang="en-US" sz="520" baseline="30000" dirty="0">
                  <a:solidFill>
                    <a:srgbClr val="3D3835"/>
                  </a:solidFill>
                  <a:latin typeface="+mn-lt"/>
                  <a:ea typeface="+mn-ea"/>
                  <a:cs typeface="+mn-cs"/>
                </a:rPr>
                <a:t>t​​​</a:t>
              </a:r>
            </a:p>
          </p:txBody>
        </p:sp>
        <p:sp>
          <p:nvSpPr>
            <p:cNvPr id="243" name="TextBox 243"/>
            <p:cNvSpPr txBox="1"/>
            <p:nvPr/>
          </p:nvSpPr>
          <p:spPr>
            <a:xfrm>
              <a:off x="8034338" y="4323636"/>
              <a:ext cx="1347648"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核心系统、财务系统、风控系统</a:t>
              </a:r>
            </a:p>
          </p:txBody>
        </p:sp>
        <p:sp>
          <p:nvSpPr>
            <p:cNvPr id="244" name="TextBox 244"/>
            <p:cNvSpPr txBox="1"/>
            <p:nvPr/>
          </p:nvSpPr>
          <p:spPr>
            <a:xfrm>
              <a:off x="9501188" y="4266486"/>
              <a:ext cx="1312482"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3D3835"/>
                  </a:solidFill>
                  <a:latin typeface="+mn-lt"/>
                  <a:ea typeface="+mn-ea"/>
                  <a:cs typeface="+mn-cs"/>
                </a:rPr>
                <a:t>T：预测期（通常5年）；​​​</a:t>
              </a:r>
              <a:br/>
              <a:r>
                <a:rPr lang="zh-CN" sz="710" dirty="0">
                  <a:solidFill>
                    <a:srgbClr val="3D3835"/>
                  </a:solidFill>
                  <a:latin typeface="+mn-lt"/>
                  <a:ea typeface="+mn-ea"/>
                  <a:cs typeface="+mn-cs"/>
                </a:rPr>
                <a:t>r：贴现率（建议8%–12%）​​​​</a:t>
              </a:r>
            </a:p>
          </p:txBody>
        </p:sp>
        <p:sp>
          <p:nvSpPr>
            <p:cNvPr id="245" name="TextBox 245"/>
            <p:cNvSpPr txBox="1"/>
            <p:nvPr/>
          </p:nvSpPr>
          <p:spPr>
            <a:xfrm>
              <a:off x="11132140" y="4311491"/>
              <a:ext cx="519519"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​18,750​</a:t>
              </a:r>
            </a:p>
          </p:txBody>
        </p:sp>
        <p:sp>
          <p:nvSpPr>
            <p:cNvPr id="246" name="TextBox 246"/>
            <p:cNvSpPr txBox="1"/>
            <p:nvPr/>
          </p:nvSpPr>
          <p:spPr>
            <a:xfrm>
              <a:off x="1366838" y="4662488"/>
              <a:ext cx="71628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年均贡献（元）</a:t>
              </a:r>
            </a:p>
          </p:txBody>
        </p:sp>
        <p:sp>
          <p:nvSpPr>
            <p:cNvPr id="247" name="TextBox 247"/>
            <p:cNvSpPr txBox="1"/>
            <p:nvPr/>
          </p:nvSpPr>
          <p:spPr>
            <a:xfrm>
              <a:off x="2776538" y="4662488"/>
              <a:ext cx="1902619"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客户年均贡献（收入-成本-风险成本）​​​</a:t>
              </a:r>
            </a:p>
          </p:txBody>
        </p:sp>
        <p:sp>
          <p:nvSpPr>
            <p:cNvPr id="248" name="TextBox 248"/>
            <p:cNvSpPr txBox="1"/>
            <p:nvPr/>
          </p:nvSpPr>
          <p:spPr>
            <a:xfrm>
              <a:off x="5329238" y="4662488"/>
              <a:ext cx="2124742"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（年收入贡献 - 年服务成本 - 年风险成本）​​​</a:t>
              </a:r>
            </a:p>
          </p:txBody>
        </p:sp>
        <p:sp>
          <p:nvSpPr>
            <p:cNvPr id="249" name="TextBox 249"/>
            <p:cNvSpPr txBox="1"/>
            <p:nvPr/>
          </p:nvSpPr>
          <p:spPr>
            <a:xfrm>
              <a:off x="8034338" y="4666536"/>
              <a:ext cx="869747"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核心系统、财务系统</a:t>
              </a:r>
            </a:p>
          </p:txBody>
        </p:sp>
        <p:sp>
          <p:nvSpPr>
            <p:cNvPr id="250" name="TextBox 250"/>
            <p:cNvSpPr txBox="1"/>
            <p:nvPr/>
          </p:nvSpPr>
          <p:spPr>
            <a:xfrm>
              <a:off x="9501188" y="4666536"/>
              <a:ext cx="583006"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按自然年统计</a:t>
              </a:r>
            </a:p>
          </p:txBody>
        </p:sp>
        <p:sp>
          <p:nvSpPr>
            <p:cNvPr id="251" name="TextBox 251"/>
            <p:cNvSpPr txBox="1"/>
            <p:nvPr/>
          </p:nvSpPr>
          <p:spPr>
            <a:xfrm>
              <a:off x="11164015" y="4654391"/>
              <a:ext cx="455770"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​3,520​</a:t>
              </a:r>
            </a:p>
          </p:txBody>
        </p:sp>
        <p:grpSp>
          <p:nvGrpSpPr>
            <p:cNvPr id="258" name="Group 258"/>
            <p:cNvGrpSpPr/>
            <p:nvPr/>
          </p:nvGrpSpPr>
          <p:grpSpPr>
            <a:xfrm>
              <a:off x="497681" y="4983956"/>
              <a:ext cx="128588" cy="128587"/>
              <a:chOff x="497681" y="4983956"/>
              <a:chExt cx="128588" cy="128587"/>
            </a:xfrm>
          </p:grpSpPr>
          <p:sp>
            <p:nvSpPr>
              <p:cNvPr id="252" name="Freeform 252"/>
              <p:cNvSpPr/>
              <p:nvPr/>
            </p:nvSpPr>
            <p:spPr>
              <a:xfrm>
                <a:off x="547688" y="50411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253" name="Freeform 253"/>
              <p:cNvSpPr/>
              <p:nvPr/>
            </p:nvSpPr>
            <p:spPr>
              <a:xfrm>
                <a:off x="533400" y="509111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D82000"/>
                </a:solidFill>
              </a:ln>
            </p:spPr>
          </p:sp>
          <p:sp>
            <p:nvSpPr>
              <p:cNvPr id="254" name="Freeform 254"/>
              <p:cNvSpPr/>
              <p:nvPr/>
            </p:nvSpPr>
            <p:spPr>
              <a:xfrm>
                <a:off x="583406" y="49839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255" name="Freeform 255"/>
              <p:cNvSpPr/>
              <p:nvPr/>
            </p:nvSpPr>
            <p:spPr>
              <a:xfrm>
                <a:off x="597694" y="503396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D82000"/>
                </a:solidFill>
              </a:ln>
            </p:spPr>
          </p:sp>
          <p:sp>
            <p:nvSpPr>
              <p:cNvPr id="256" name="Freeform 256"/>
              <p:cNvSpPr/>
              <p:nvPr/>
            </p:nvSpPr>
            <p:spPr>
              <a:xfrm>
                <a:off x="511969" y="49839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257" name="Freeform 257"/>
              <p:cNvSpPr/>
              <p:nvPr/>
            </p:nvSpPr>
            <p:spPr>
              <a:xfrm>
                <a:off x="497681" y="503396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D82000"/>
                </a:solidFill>
              </a:ln>
            </p:spPr>
          </p:sp>
        </p:grpSp>
        <p:sp>
          <p:nvSpPr>
            <p:cNvPr id="259" name="TextBox 259"/>
            <p:cNvSpPr txBox="1"/>
            <p:nvPr/>
          </p:nvSpPr>
          <p:spPr>
            <a:xfrm>
              <a:off x="700088" y="5005388"/>
              <a:ext cx="514350"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客户参与度</a:t>
              </a:r>
            </a:p>
          </p:txBody>
        </p:sp>
        <p:sp>
          <p:nvSpPr>
            <p:cNvPr id="260" name="TextBox 260"/>
            <p:cNvSpPr txBox="1"/>
            <p:nvPr/>
          </p:nvSpPr>
          <p:spPr>
            <a:xfrm>
              <a:off x="1366838" y="5005388"/>
              <a:ext cx="70113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月活率（%）​​</a:t>
              </a:r>
            </a:p>
          </p:txBody>
        </p:sp>
        <p:sp>
          <p:nvSpPr>
            <p:cNvPr id="261" name="TextBox 261"/>
            <p:cNvSpPr txBox="1"/>
            <p:nvPr/>
          </p:nvSpPr>
          <p:spPr>
            <a:xfrm>
              <a:off x="2776538" y="5005388"/>
              <a:ext cx="162496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当月至少一次登录或交易的客户占比</a:t>
              </a:r>
            </a:p>
          </p:txBody>
        </p:sp>
        <p:sp>
          <p:nvSpPr>
            <p:cNvPr id="262" name="TextBox 262"/>
            <p:cNvSpPr txBox="1"/>
            <p:nvPr/>
          </p:nvSpPr>
          <p:spPr>
            <a:xfrm>
              <a:off x="5329238" y="5005388"/>
              <a:ext cx="1347311"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月活客户数 / 月末客户总数​​</a:t>
              </a:r>
            </a:p>
          </p:txBody>
        </p:sp>
        <p:sp>
          <p:nvSpPr>
            <p:cNvPr id="263" name="TextBox 263"/>
            <p:cNvSpPr txBox="1"/>
            <p:nvPr/>
          </p:nvSpPr>
          <p:spPr>
            <a:xfrm>
              <a:off x="8034338" y="5009436"/>
              <a:ext cx="1002928"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渠道系统、APP日志​​​</a:t>
              </a:r>
            </a:p>
          </p:txBody>
        </p:sp>
        <p:sp>
          <p:nvSpPr>
            <p:cNvPr id="264" name="TextBox 264"/>
            <p:cNvSpPr txBox="1"/>
            <p:nvPr/>
          </p:nvSpPr>
          <p:spPr>
            <a:xfrm>
              <a:off x="9501188" y="5009436"/>
              <a:ext cx="391846"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去重客户</a:t>
              </a:r>
            </a:p>
          </p:txBody>
        </p:sp>
        <p:sp>
          <p:nvSpPr>
            <p:cNvPr id="265" name="TextBox 265"/>
            <p:cNvSpPr txBox="1"/>
            <p:nvPr/>
          </p:nvSpPr>
          <p:spPr>
            <a:xfrm>
              <a:off x="11216173" y="4997291"/>
              <a:ext cx="351453"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​68%​</a:t>
              </a:r>
            </a:p>
          </p:txBody>
        </p:sp>
        <p:grpSp>
          <p:nvGrpSpPr>
            <p:cNvPr id="269" name="Group 269"/>
            <p:cNvGrpSpPr/>
            <p:nvPr/>
          </p:nvGrpSpPr>
          <p:grpSpPr>
            <a:xfrm>
              <a:off x="504824" y="5330510"/>
              <a:ext cx="117780" cy="121265"/>
              <a:chOff x="504824" y="5330510"/>
              <a:chExt cx="117780" cy="121265"/>
            </a:xfrm>
          </p:grpSpPr>
          <p:sp>
            <p:nvSpPr>
              <p:cNvPr id="266" name="Freeform 266"/>
              <p:cNvSpPr/>
              <p:nvPr/>
            </p:nvSpPr>
            <p:spPr>
              <a:xfrm>
                <a:off x="540544" y="5369719"/>
                <a:ext cx="42862" cy="42862"/>
              </a:xfrm>
              <a:custGeom>
                <a:avLst/>
                <a:gdLst/>
                <a:ahLst/>
                <a:cxnLst/>
                <a:rect l="l" t="t" r="r" b="b"/>
                <a:pathLst>
                  <a:path w="42862" h="42862">
                    <a:moveTo>
                      <a:pt x="0" y="42862"/>
                    </a:moveTo>
                    <a:lnTo>
                      <a:pt x="42862" y="0"/>
                    </a:lnTo>
                  </a:path>
                </a:pathLst>
              </a:custGeom>
              <a:noFill/>
              <a:ln w="14288">
                <a:solidFill>
                  <a:srgbClr val="D82000"/>
                </a:solidFill>
              </a:ln>
            </p:spPr>
          </p:sp>
          <p:sp>
            <p:nvSpPr>
              <p:cNvPr id="267" name="Freeform 267"/>
              <p:cNvSpPr/>
              <p:nvPr/>
            </p:nvSpPr>
            <p:spPr>
              <a:xfrm>
                <a:off x="554831" y="5330510"/>
                <a:ext cx="67773" cy="67784"/>
              </a:xfrm>
              <a:custGeom>
                <a:avLst/>
                <a:gdLst/>
                <a:ahLst/>
                <a:cxnLst/>
                <a:rect l="l" t="t" r="r" b="b"/>
                <a:pathLst>
                  <a:path w="67773" h="67784">
                    <a:moveTo>
                      <a:pt x="0" y="17778"/>
                    </a:moveTo>
                    <a:lnTo>
                      <a:pt x="3308" y="13949"/>
                    </a:lnTo>
                    <a:cubicBezTo>
                      <a:pt x="17258" y="0"/>
                      <a:pt x="39876" y="2"/>
                      <a:pt x="53825" y="13952"/>
                    </a:cubicBezTo>
                    <a:cubicBezTo>
                      <a:pt x="67773" y="27903"/>
                      <a:pt x="67772" y="50521"/>
                      <a:pt x="53821" y="64470"/>
                    </a:cubicBezTo>
                    <a:lnTo>
                      <a:pt x="50006" y="67784"/>
                    </a:lnTo>
                  </a:path>
                </a:pathLst>
              </a:custGeom>
              <a:noFill/>
              <a:ln w="14288">
                <a:solidFill>
                  <a:srgbClr val="D82000"/>
                </a:solidFill>
              </a:ln>
            </p:spPr>
          </p:sp>
          <p:sp>
            <p:nvSpPr>
              <p:cNvPr id="268" name="Freeform 268"/>
              <p:cNvSpPr/>
              <p:nvPr/>
            </p:nvSpPr>
            <p:spPr>
              <a:xfrm>
                <a:off x="504824" y="5384006"/>
                <a:ext cx="64295" cy="67769"/>
              </a:xfrm>
              <a:custGeom>
                <a:avLst/>
                <a:gdLst/>
                <a:ahLst/>
                <a:cxnLst/>
                <a:rect l="l" t="t" r="r" b="b"/>
                <a:pathLst>
                  <a:path w="64295" h="67769">
                    <a:moveTo>
                      <a:pt x="64295" y="50006"/>
                    </a:moveTo>
                    <a:lnTo>
                      <a:pt x="61459" y="53821"/>
                    </a:lnTo>
                    <a:cubicBezTo>
                      <a:pt x="47353" y="67769"/>
                      <a:pt x="24650" y="67769"/>
                      <a:pt x="10545" y="53821"/>
                    </a:cubicBezTo>
                    <a:cubicBezTo>
                      <a:pt x="3797" y="47149"/>
                      <a:pt x="0" y="38054"/>
                      <a:pt x="0" y="28564"/>
                    </a:cubicBezTo>
                    <a:cubicBezTo>
                      <a:pt x="0" y="19075"/>
                      <a:pt x="3797" y="9980"/>
                      <a:pt x="10545" y="3308"/>
                    </a:cubicBezTo>
                    <a:lnTo>
                      <a:pt x="14289" y="0"/>
                    </a:lnTo>
                  </a:path>
                </a:pathLst>
              </a:custGeom>
              <a:noFill/>
              <a:ln w="14288">
                <a:solidFill>
                  <a:srgbClr val="D82000"/>
                </a:solidFill>
              </a:ln>
            </p:spPr>
          </p:sp>
        </p:grpSp>
        <p:sp>
          <p:nvSpPr>
            <p:cNvPr id="270" name="TextBox 270"/>
            <p:cNvSpPr txBox="1"/>
            <p:nvPr/>
          </p:nvSpPr>
          <p:spPr>
            <a:xfrm>
              <a:off x="700088" y="5348288"/>
              <a:ext cx="413385"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关系深度</a:t>
              </a:r>
            </a:p>
          </p:txBody>
        </p:sp>
        <p:sp>
          <p:nvSpPr>
            <p:cNvPr id="271" name="TextBox 271"/>
            <p:cNvSpPr txBox="1"/>
            <p:nvPr/>
          </p:nvSpPr>
          <p:spPr>
            <a:xfrm>
              <a:off x="1366838" y="5348288"/>
              <a:ext cx="101917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交叉持有产品数（个）</a:t>
              </a:r>
            </a:p>
          </p:txBody>
        </p:sp>
        <p:sp>
          <p:nvSpPr>
            <p:cNvPr id="272" name="TextBox 272"/>
            <p:cNvSpPr txBox="1"/>
            <p:nvPr/>
          </p:nvSpPr>
          <p:spPr>
            <a:xfrm>
              <a:off x="2776538" y="5348288"/>
              <a:ext cx="122110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客户名下持有的不同产品数</a:t>
              </a:r>
            </a:p>
          </p:txBody>
        </p:sp>
        <p:sp>
          <p:nvSpPr>
            <p:cNvPr id="273" name="TextBox 273"/>
            <p:cNvSpPr txBox="1"/>
            <p:nvPr/>
          </p:nvSpPr>
          <p:spPr>
            <a:xfrm>
              <a:off x="5329238" y="5348288"/>
              <a:ext cx="101917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客户名下产品去重数量</a:t>
              </a:r>
            </a:p>
          </p:txBody>
        </p:sp>
        <p:sp>
          <p:nvSpPr>
            <p:cNvPr id="274" name="TextBox 274"/>
            <p:cNvSpPr txBox="1"/>
            <p:nvPr/>
          </p:nvSpPr>
          <p:spPr>
            <a:xfrm>
              <a:off x="8034338" y="5352336"/>
              <a:ext cx="391846"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核心系统</a:t>
              </a:r>
            </a:p>
          </p:txBody>
        </p:sp>
        <p:sp>
          <p:nvSpPr>
            <p:cNvPr id="275" name="TextBox 275"/>
            <p:cNvSpPr txBox="1"/>
            <p:nvPr/>
          </p:nvSpPr>
          <p:spPr>
            <a:xfrm>
              <a:off x="9501188" y="5352336"/>
              <a:ext cx="1347648"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含存款、理财、信贷、信用卡等</a:t>
              </a:r>
            </a:p>
          </p:txBody>
        </p:sp>
        <p:sp>
          <p:nvSpPr>
            <p:cNvPr id="276" name="TextBox 276"/>
            <p:cNvSpPr txBox="1"/>
            <p:nvPr/>
          </p:nvSpPr>
          <p:spPr>
            <a:xfrm>
              <a:off x="11227764" y="5340191"/>
              <a:ext cx="328272"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​3.6​</a:t>
              </a:r>
            </a:p>
          </p:txBody>
        </p:sp>
        <p:grpSp>
          <p:nvGrpSpPr>
            <p:cNvPr id="280" name="Group 280"/>
            <p:cNvGrpSpPr/>
            <p:nvPr/>
          </p:nvGrpSpPr>
          <p:grpSpPr>
            <a:xfrm>
              <a:off x="500553" y="5669756"/>
              <a:ext cx="122830" cy="127802"/>
              <a:chOff x="500553" y="5669756"/>
              <a:chExt cx="122830" cy="127802"/>
            </a:xfrm>
          </p:grpSpPr>
          <p:sp>
            <p:nvSpPr>
              <p:cNvPr id="277" name="Freeform 277"/>
              <p:cNvSpPr/>
              <p:nvPr/>
            </p:nvSpPr>
            <p:spPr>
              <a:xfrm>
                <a:off x="519112" y="5669756"/>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D82000"/>
                </a:solidFill>
              </a:ln>
            </p:spPr>
          </p:sp>
          <p:sp>
            <p:nvSpPr>
              <p:cNvPr id="278" name="Freeform 278"/>
              <p:cNvSpPr/>
              <p:nvPr/>
            </p:nvSpPr>
            <p:spPr>
              <a:xfrm>
                <a:off x="561975" y="5734050"/>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D82000"/>
                </a:solidFill>
              </a:ln>
            </p:spPr>
          </p:sp>
          <p:sp>
            <p:nvSpPr>
              <p:cNvPr id="279" name="Freeform 279"/>
              <p:cNvSpPr/>
              <p:nvPr/>
            </p:nvSpPr>
            <p:spPr>
              <a:xfrm>
                <a:off x="500553" y="5734050"/>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D82000"/>
                </a:solidFill>
              </a:ln>
            </p:spPr>
          </p:sp>
        </p:grpSp>
        <p:sp>
          <p:nvSpPr>
            <p:cNvPr id="281" name="TextBox 281"/>
            <p:cNvSpPr txBox="1"/>
            <p:nvPr/>
          </p:nvSpPr>
          <p:spPr>
            <a:xfrm>
              <a:off x="700088" y="5691188"/>
              <a:ext cx="413385"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客户体验</a:t>
              </a:r>
            </a:p>
          </p:txBody>
        </p:sp>
        <p:sp>
          <p:nvSpPr>
            <p:cNvPr id="282" name="TextBox 282"/>
            <p:cNvSpPr txBox="1"/>
            <p:nvPr/>
          </p:nvSpPr>
          <p:spPr>
            <a:xfrm>
              <a:off x="1366838" y="5691188"/>
              <a:ext cx="655034"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NPS（分）​​​</a:t>
              </a:r>
            </a:p>
          </p:txBody>
        </p:sp>
        <p:sp>
          <p:nvSpPr>
            <p:cNvPr id="283" name="TextBox 283"/>
            <p:cNvSpPr txBox="1"/>
            <p:nvPr/>
          </p:nvSpPr>
          <p:spPr>
            <a:xfrm>
              <a:off x="2776538" y="5691188"/>
              <a:ext cx="140789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净推荐值（推荐者%贬损者）​​</a:t>
              </a:r>
            </a:p>
          </p:txBody>
        </p:sp>
        <p:sp>
          <p:nvSpPr>
            <p:cNvPr id="284" name="TextBox 284"/>
            <p:cNvSpPr txBox="1"/>
            <p:nvPr/>
          </p:nvSpPr>
          <p:spPr>
            <a:xfrm>
              <a:off x="5329238" y="5691188"/>
              <a:ext cx="2180273"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%推荐者（9-10分）- %贬损者（0-6分）​​​​​​</a:t>
              </a:r>
            </a:p>
          </p:txBody>
        </p:sp>
        <p:sp>
          <p:nvSpPr>
            <p:cNvPr id="285" name="TextBox 285"/>
            <p:cNvSpPr txBox="1"/>
            <p:nvPr/>
          </p:nvSpPr>
          <p:spPr>
            <a:xfrm>
              <a:off x="8034338" y="5695236"/>
              <a:ext cx="391846"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调研系统</a:t>
              </a:r>
            </a:p>
          </p:txBody>
        </p:sp>
        <p:sp>
          <p:nvSpPr>
            <p:cNvPr id="286" name="TextBox 286"/>
            <p:cNvSpPr txBox="1"/>
            <p:nvPr/>
          </p:nvSpPr>
          <p:spPr>
            <a:xfrm>
              <a:off x="9501188" y="5695236"/>
              <a:ext cx="1175603"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按季度调研，滚动12个月​​</a:t>
              </a:r>
            </a:p>
          </p:txBody>
        </p:sp>
        <p:sp>
          <p:nvSpPr>
            <p:cNvPr id="287" name="TextBox 287"/>
            <p:cNvSpPr txBox="1"/>
            <p:nvPr/>
          </p:nvSpPr>
          <p:spPr>
            <a:xfrm>
              <a:off x="11259639" y="5683091"/>
              <a:ext cx="264522"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​62​</a:t>
              </a:r>
            </a:p>
          </p:txBody>
        </p:sp>
        <p:grpSp>
          <p:nvGrpSpPr>
            <p:cNvPr id="290" name="Group 290"/>
            <p:cNvGrpSpPr/>
            <p:nvPr/>
          </p:nvGrpSpPr>
          <p:grpSpPr>
            <a:xfrm>
              <a:off x="488040" y="6184106"/>
              <a:ext cx="139505" cy="128588"/>
              <a:chOff x="488040" y="6184106"/>
              <a:chExt cx="139505" cy="128588"/>
            </a:xfrm>
          </p:grpSpPr>
          <p:sp>
            <p:nvSpPr>
              <p:cNvPr id="288" name="Freeform 288"/>
              <p:cNvSpPr/>
              <p:nvPr/>
            </p:nvSpPr>
            <p:spPr>
              <a:xfrm>
                <a:off x="488040" y="618410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D82000"/>
                </a:solidFill>
              </a:ln>
            </p:spPr>
          </p:sp>
          <p:sp>
            <p:nvSpPr>
              <p:cNvPr id="289" name="Freeform 289"/>
              <p:cNvSpPr/>
              <p:nvPr/>
            </p:nvSpPr>
            <p:spPr>
              <a:xfrm>
                <a:off x="583406" y="6284119"/>
                <a:ext cx="42862" cy="28575"/>
              </a:xfrm>
              <a:custGeom>
                <a:avLst/>
                <a:gdLst/>
                <a:ahLst/>
                <a:cxnLst/>
                <a:rect l="l" t="t" r="r" b="b"/>
                <a:pathLst>
                  <a:path w="42862" h="28575">
                    <a:moveTo>
                      <a:pt x="0" y="14288"/>
                    </a:moveTo>
                    <a:lnTo>
                      <a:pt x="14288" y="28575"/>
                    </a:lnTo>
                    <a:lnTo>
                      <a:pt x="42862" y="0"/>
                    </a:lnTo>
                  </a:path>
                </a:pathLst>
              </a:custGeom>
              <a:noFill/>
              <a:ln w="14288">
                <a:solidFill>
                  <a:srgbClr val="D82000"/>
                </a:solidFill>
              </a:ln>
            </p:spPr>
          </p:sp>
        </p:grpSp>
        <p:sp>
          <p:nvSpPr>
            <p:cNvPr id="291" name="TextBox 291"/>
            <p:cNvSpPr txBox="1"/>
            <p:nvPr/>
          </p:nvSpPr>
          <p:spPr>
            <a:xfrm>
              <a:off x="700088" y="6205538"/>
              <a:ext cx="413385"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风险状况</a:t>
              </a:r>
            </a:p>
          </p:txBody>
        </p:sp>
        <p:sp>
          <p:nvSpPr>
            <p:cNvPr id="292" name="TextBox 292"/>
            <p:cNvSpPr txBox="1"/>
            <p:nvPr/>
          </p:nvSpPr>
          <p:spPr>
            <a:xfrm>
              <a:off x="1366838" y="6034088"/>
              <a:ext cx="1170622"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90天以上逾期率（%）​​​</a:t>
              </a:r>
            </a:p>
          </p:txBody>
        </p:sp>
        <p:sp>
          <p:nvSpPr>
            <p:cNvPr id="293" name="TextBox 293"/>
            <p:cNvSpPr txBox="1"/>
            <p:nvPr/>
          </p:nvSpPr>
          <p:spPr>
            <a:xfrm>
              <a:off x="2776538" y="6034088"/>
              <a:ext cx="1342263"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90天以上逾期贷款余额占比​​</a:t>
              </a:r>
            </a:p>
          </p:txBody>
        </p:sp>
        <p:sp>
          <p:nvSpPr>
            <p:cNvPr id="294" name="TextBox 294"/>
            <p:cNvSpPr txBox="1"/>
            <p:nvPr/>
          </p:nvSpPr>
          <p:spPr>
            <a:xfrm>
              <a:off x="5329238" y="6034088"/>
              <a:ext cx="1715834"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90天以上逾期贷款余额 / 贷款余额​​​</a:t>
              </a:r>
            </a:p>
          </p:txBody>
        </p:sp>
        <p:sp>
          <p:nvSpPr>
            <p:cNvPr id="295" name="TextBox 295"/>
            <p:cNvSpPr txBox="1"/>
            <p:nvPr/>
          </p:nvSpPr>
          <p:spPr>
            <a:xfrm>
              <a:off x="8034338" y="6038136"/>
              <a:ext cx="869747"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信贷系统、风控系统</a:t>
              </a:r>
            </a:p>
          </p:txBody>
        </p:sp>
        <p:sp>
          <p:nvSpPr>
            <p:cNvPr id="296" name="TextBox 296"/>
            <p:cNvSpPr txBox="1"/>
            <p:nvPr/>
          </p:nvSpPr>
          <p:spPr>
            <a:xfrm>
              <a:off x="9501188" y="6038136"/>
              <a:ext cx="678586"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不含贴现与表外</a:t>
              </a:r>
            </a:p>
          </p:txBody>
        </p:sp>
        <p:sp>
          <p:nvSpPr>
            <p:cNvPr id="297" name="TextBox 297"/>
            <p:cNvSpPr txBox="1"/>
            <p:nvPr/>
          </p:nvSpPr>
          <p:spPr>
            <a:xfrm>
              <a:off x="11152424" y="6025991"/>
              <a:ext cx="478952"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​0.78%​</a:t>
              </a:r>
            </a:p>
          </p:txBody>
        </p:sp>
        <p:sp>
          <p:nvSpPr>
            <p:cNvPr id="298" name="TextBox 298"/>
            <p:cNvSpPr txBox="1"/>
            <p:nvPr/>
          </p:nvSpPr>
          <p:spPr>
            <a:xfrm>
              <a:off x="1366838" y="6376988"/>
              <a:ext cx="101917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风险成本（年均，元）</a:t>
              </a:r>
            </a:p>
          </p:txBody>
        </p:sp>
        <p:sp>
          <p:nvSpPr>
            <p:cNvPr id="299" name="TextBox 299"/>
            <p:cNvSpPr txBox="1"/>
            <p:nvPr/>
          </p:nvSpPr>
          <p:spPr>
            <a:xfrm>
              <a:off x="2776538" y="6376988"/>
              <a:ext cx="1387697"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预期信用损失+其他风险成本​​</a:t>
              </a:r>
            </a:p>
          </p:txBody>
        </p:sp>
        <p:sp>
          <p:nvSpPr>
            <p:cNvPr id="300" name="TextBox 300"/>
            <p:cNvSpPr txBox="1"/>
            <p:nvPr/>
          </p:nvSpPr>
          <p:spPr>
            <a:xfrm>
              <a:off x="5329238" y="6376988"/>
              <a:ext cx="2195417"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预期信用损失+ 操作风险成本 + 其他风险成本​​​</a:t>
              </a:r>
            </a:p>
          </p:txBody>
        </p:sp>
        <p:sp>
          <p:nvSpPr>
            <p:cNvPr id="301" name="TextBox 301"/>
            <p:cNvSpPr txBox="1"/>
            <p:nvPr/>
          </p:nvSpPr>
          <p:spPr>
            <a:xfrm>
              <a:off x="8034338" y="6381036"/>
              <a:ext cx="1060907"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风险管理系统、财务系统</a:t>
              </a:r>
            </a:p>
          </p:txBody>
        </p:sp>
        <p:sp>
          <p:nvSpPr>
            <p:cNvPr id="302" name="TextBox 302"/>
            <p:cNvSpPr txBox="1"/>
            <p:nvPr/>
          </p:nvSpPr>
          <p:spPr>
            <a:xfrm>
              <a:off x="9501188" y="6381036"/>
              <a:ext cx="583006"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按自然年统计</a:t>
              </a:r>
            </a:p>
          </p:txBody>
        </p:sp>
        <p:sp>
          <p:nvSpPr>
            <p:cNvPr id="303" name="TextBox 303"/>
            <p:cNvSpPr txBox="1"/>
            <p:nvPr/>
          </p:nvSpPr>
          <p:spPr>
            <a:xfrm>
              <a:off x="11227764" y="6368891"/>
              <a:ext cx="328272"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​320​</a:t>
              </a:r>
            </a:p>
          </p:txBody>
        </p:sp>
      </p:gr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05</a:t>
              </a:r>
            </a:p>
          </p:txBody>
        </p:sp>
        <p:sp>
          <p:nvSpPr>
            <p:cNvPr id="4" name="TextBox 4"/>
            <p:cNvSpPr txBox="1"/>
            <p:nvPr/>
          </p:nvSpPr>
          <p:spPr>
            <a:xfrm>
              <a:off x="904494" y="170498"/>
              <a:ext cx="7107555"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客户分层</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从静态资产分层升级为价值、需求与行为三维分群</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47" name="cube-model"/>
          <p:cNvGrpSpPr/>
          <p:nvPr/>
        </p:nvGrpSpPr>
        <p:grpSpPr>
          <a:xfrm>
            <a:off x="376238" y="717947"/>
            <a:ext cx="2862262" cy="4098608"/>
            <a:chOff x="376238" y="717947"/>
            <a:chExt cx="2862262" cy="4098608"/>
          </a:xfrm>
        </p:grpSpPr>
        <p:sp>
          <p:nvSpPr>
            <p:cNvPr id="7" name="TextBox 7"/>
            <p:cNvSpPr txBox="1"/>
            <p:nvPr/>
          </p:nvSpPr>
          <p:spPr>
            <a:xfrm>
              <a:off x="1425359" y="717947"/>
              <a:ext cx="768782" cy="183356"/>
            </a:xfrm>
            <a:prstGeom prst="rect">
              <a:avLst/>
            </a:prstGeom>
            <a:noFill/>
            <a:ln>
              <a:noFill/>
            </a:ln>
          </p:spPr>
          <p:txBody>
            <a:bodyPr wrap="none" lIns="0" tIns="0" rIns="0" bIns="0" anchor="t" anchorCtr="0">
              <a:spAutoFit/>
            </a:bodyPr>
            <a:lstStyle/>
            <a:p>
              <a:pPr algn="ctr"/>
              <a:r>
                <a:rPr lang="zh-CN" sz="940" b="1" dirty="0">
                  <a:solidFill>
                    <a:srgbClr val="C41D00"/>
                  </a:solidFill>
                  <a:latin typeface="+mn-lt"/>
                  <a:ea typeface="+mn-ea"/>
                  <a:cs typeface="+mn-cs"/>
                </a:rPr>
                <a:t>三维分群模型</a:t>
              </a:r>
            </a:p>
          </p:txBody>
        </p:sp>
        <p:sp>
          <p:nvSpPr>
            <p:cNvPr id="8" name="Rectangle 8"/>
            <p:cNvSpPr/>
            <p:nvPr/>
          </p:nvSpPr>
          <p:spPr>
            <a:xfrm>
              <a:off x="2076450" y="914400"/>
              <a:ext cx="1066800" cy="457200"/>
            </a:xfrm>
            <a:prstGeom prst="roundRect">
              <a:avLst>
                <a:gd name="adj" fmla="val 8333"/>
              </a:avLst>
            </a:prstGeom>
            <a:solidFill>
              <a:srgbClr val="FFF8F2"/>
            </a:solidFill>
            <a:ln w="9525">
              <a:solidFill>
                <a:srgbClr val="EE492C"/>
              </a:solidFill>
              <a:custDash>
                <a:ds d="300000" sp="200000"/>
              </a:custDash>
            </a:ln>
          </p:spPr>
        </p:sp>
        <p:sp>
          <p:nvSpPr>
            <p:cNvPr id="9" name="TextBox 9"/>
            <p:cNvSpPr txBox="1"/>
            <p:nvPr/>
          </p:nvSpPr>
          <p:spPr>
            <a:xfrm>
              <a:off x="2289492" y="970836"/>
              <a:ext cx="640715" cy="388144"/>
            </a:xfrm>
            <a:prstGeom prst="rect">
              <a:avLst/>
            </a:prstGeom>
            <a:noFill/>
            <a:ln>
              <a:noFill/>
            </a:ln>
          </p:spPr>
          <p:txBody>
            <a:bodyPr wrap="none" lIns="0" tIns="0" rIns="0" bIns="0" anchor="t" anchorCtr="0">
              <a:spAutoFit/>
            </a:bodyPr>
            <a:lstStyle/>
            <a:p>
              <a:pPr algn="ctr">
                <a:lnSpc>
                  <a:spcPts val="975"/>
                </a:lnSpc>
              </a:pPr>
              <a:r>
                <a:rPr lang="zh-CN" sz="710" dirty="0">
                  <a:solidFill>
                    <a:srgbClr val="C41D00"/>
                  </a:solidFill>
                  <a:latin typeface="+mn-lt"/>
                  <a:ea typeface="+mn-ea"/>
                  <a:cs typeface="+mn-cs"/>
                </a:rPr>
                <a:t>客户在三维空间</a:t>
              </a:r>
              <a:br/>
              <a:r>
                <a:rPr lang="zh-CN" sz="710" dirty="0">
                  <a:solidFill>
                    <a:srgbClr val="C41D00"/>
                  </a:solidFill>
                  <a:latin typeface="+mn-lt"/>
                  <a:ea typeface="+mn-ea"/>
                  <a:cs typeface="+mn-cs"/>
                </a:rPr>
                <a:t>中的相对位置，</a:t>
              </a:r>
              <a:br/>
              <a:r>
                <a:rPr lang="zh-CN" sz="710" dirty="0">
                  <a:solidFill>
                    <a:srgbClr val="C41D00"/>
                  </a:solidFill>
                  <a:latin typeface="+mn-lt"/>
                  <a:ea typeface="+mn-ea"/>
                  <a:cs typeface="+mn-cs"/>
                </a:rPr>
                <a:t>决定分群归属</a:t>
              </a:r>
            </a:p>
          </p:txBody>
        </p:sp>
        <p:sp>
          <p:nvSpPr>
            <p:cNvPr id="10" name="Line 10"/>
            <p:cNvSpPr/>
            <p:nvPr/>
          </p:nvSpPr>
          <p:spPr>
            <a:xfrm>
              <a:off x="2857500" y="1371600"/>
              <a:ext cx="57150" cy="76200"/>
            </a:xfrm>
            <a:custGeom>
              <a:avLst/>
              <a:gdLst/>
              <a:ahLst/>
              <a:cxnLst/>
              <a:rect l="l" t="t" r="r" b="b"/>
              <a:pathLst>
                <a:path w="57150" h="76200">
                  <a:moveTo>
                    <a:pt x="0" y="0"/>
                  </a:moveTo>
                  <a:lnTo>
                    <a:pt x="57150" y="76200"/>
                  </a:lnTo>
                </a:path>
              </a:pathLst>
            </a:custGeom>
            <a:noFill/>
            <a:ln w="9525">
              <a:solidFill>
                <a:srgbClr val="EE492C"/>
              </a:solidFill>
              <a:custDash>
                <a:ds d="300000" sp="200000"/>
              </a:custDash>
            </a:ln>
          </p:spPr>
        </p:sp>
        <p:sp>
          <p:nvSpPr>
            <p:cNvPr id="11" name="Freeform 11"/>
            <p:cNvSpPr/>
            <p:nvPr/>
          </p:nvSpPr>
          <p:spPr>
            <a:xfrm>
              <a:off x="1047750" y="1428750"/>
              <a:ext cx="1905000" cy="2095500"/>
            </a:xfrm>
            <a:prstGeom prst="cube">
              <a:avLst>
                <a:gd name="adj" fmla="val 25000"/>
              </a:avLst>
            </a:prstGeom>
            <a:solidFill>
              <a:srgbClr val="F57E6A">
                <a:alpha val="32000"/>
              </a:srgbClr>
            </a:solidFill>
            <a:ln w="9525">
              <a:solidFill>
                <a:srgbClr val="EE492C"/>
              </a:solidFill>
            </a:ln>
          </p:spPr>
        </p:sp>
        <p:sp>
          <p:nvSpPr>
            <p:cNvPr id="12" name="Line 12"/>
            <p:cNvSpPr/>
            <p:nvPr/>
          </p:nvSpPr>
          <p:spPr>
            <a:xfrm>
              <a:off x="1524000" y="1905000"/>
              <a:ext cx="9525" cy="1619250"/>
            </a:xfrm>
            <a:custGeom>
              <a:avLst/>
              <a:gdLst/>
              <a:ahLst/>
              <a:cxnLst/>
              <a:rect l="l" t="t" r="r" b="b"/>
              <a:pathLst>
                <a:path w="9525" h="1619250">
                  <a:moveTo>
                    <a:pt x="0" y="0"/>
                  </a:moveTo>
                  <a:lnTo>
                    <a:pt x="0" y="1619250"/>
                  </a:lnTo>
                </a:path>
              </a:pathLst>
            </a:custGeom>
            <a:noFill/>
            <a:ln w="9525">
              <a:solidFill>
                <a:srgbClr val="EE492C">
                  <a:alpha val="60000"/>
                </a:srgbClr>
              </a:solidFill>
              <a:custDash>
                <a:ds d="300000" sp="200000"/>
              </a:custDash>
            </a:ln>
          </p:spPr>
        </p:sp>
        <p:sp>
          <p:nvSpPr>
            <p:cNvPr id="13" name="Line 13"/>
            <p:cNvSpPr/>
            <p:nvPr/>
          </p:nvSpPr>
          <p:spPr>
            <a:xfrm>
              <a:off x="2000250" y="1905000"/>
              <a:ext cx="9525" cy="1619250"/>
            </a:xfrm>
            <a:custGeom>
              <a:avLst/>
              <a:gdLst/>
              <a:ahLst/>
              <a:cxnLst/>
              <a:rect l="l" t="t" r="r" b="b"/>
              <a:pathLst>
                <a:path w="9525" h="1619250">
                  <a:moveTo>
                    <a:pt x="0" y="0"/>
                  </a:moveTo>
                  <a:lnTo>
                    <a:pt x="0" y="1619250"/>
                  </a:lnTo>
                </a:path>
              </a:pathLst>
            </a:custGeom>
            <a:noFill/>
            <a:ln w="9525">
              <a:solidFill>
                <a:srgbClr val="EE492C">
                  <a:alpha val="60000"/>
                </a:srgbClr>
              </a:solidFill>
              <a:custDash>
                <a:ds d="300000" sp="200000"/>
              </a:custDash>
            </a:ln>
          </p:spPr>
        </p:sp>
        <p:sp>
          <p:nvSpPr>
            <p:cNvPr id="14" name="Line 14"/>
            <p:cNvSpPr/>
            <p:nvPr/>
          </p:nvSpPr>
          <p:spPr>
            <a:xfrm>
              <a:off x="1047750" y="2445068"/>
              <a:ext cx="1428750" cy="9525"/>
            </a:xfrm>
            <a:custGeom>
              <a:avLst/>
              <a:gdLst/>
              <a:ahLst/>
              <a:cxnLst/>
              <a:rect l="l" t="t" r="r" b="b"/>
              <a:pathLst>
                <a:path w="1428750" h="9525">
                  <a:moveTo>
                    <a:pt x="0" y="0"/>
                  </a:moveTo>
                  <a:lnTo>
                    <a:pt x="1428750" y="0"/>
                  </a:lnTo>
                </a:path>
              </a:pathLst>
            </a:custGeom>
            <a:noFill/>
            <a:ln w="9525">
              <a:solidFill>
                <a:srgbClr val="EE492C">
                  <a:alpha val="60000"/>
                </a:srgbClr>
              </a:solidFill>
              <a:custDash>
                <a:ds d="300000" sp="200000"/>
              </a:custDash>
            </a:ln>
          </p:spPr>
        </p:sp>
        <p:sp>
          <p:nvSpPr>
            <p:cNvPr id="15" name="Line 15"/>
            <p:cNvSpPr/>
            <p:nvPr/>
          </p:nvSpPr>
          <p:spPr>
            <a:xfrm>
              <a:off x="1047750" y="2984182"/>
              <a:ext cx="1428750" cy="9525"/>
            </a:xfrm>
            <a:custGeom>
              <a:avLst/>
              <a:gdLst/>
              <a:ahLst/>
              <a:cxnLst/>
              <a:rect l="l" t="t" r="r" b="b"/>
              <a:pathLst>
                <a:path w="1428750" h="9525">
                  <a:moveTo>
                    <a:pt x="0" y="0"/>
                  </a:moveTo>
                  <a:lnTo>
                    <a:pt x="1428750" y="0"/>
                  </a:lnTo>
                </a:path>
              </a:pathLst>
            </a:custGeom>
            <a:noFill/>
            <a:ln w="9525">
              <a:solidFill>
                <a:srgbClr val="EE492C">
                  <a:alpha val="60000"/>
                </a:srgbClr>
              </a:solidFill>
              <a:custDash>
                <a:ds d="300000" sp="200000"/>
              </a:custDash>
            </a:ln>
          </p:spPr>
        </p:sp>
        <p:sp>
          <p:nvSpPr>
            <p:cNvPr id="16" name="Line 16"/>
            <p:cNvSpPr/>
            <p:nvPr/>
          </p:nvSpPr>
          <p:spPr>
            <a:xfrm>
              <a:off x="1524000" y="1428750"/>
              <a:ext cx="476250" cy="476250"/>
            </a:xfrm>
            <a:custGeom>
              <a:avLst/>
              <a:gdLst/>
              <a:ahLst/>
              <a:cxnLst/>
              <a:rect l="l" t="t" r="r" b="b"/>
              <a:pathLst>
                <a:path w="476250" h="476250">
                  <a:moveTo>
                    <a:pt x="0" y="476250"/>
                  </a:moveTo>
                  <a:lnTo>
                    <a:pt x="476250" y="0"/>
                  </a:lnTo>
                </a:path>
              </a:pathLst>
            </a:custGeom>
            <a:noFill/>
            <a:ln w="9525">
              <a:solidFill>
                <a:srgbClr val="EE492C">
                  <a:alpha val="60000"/>
                </a:srgbClr>
              </a:solidFill>
              <a:custDash>
                <a:ds d="300000" sp="200000"/>
              </a:custDash>
            </a:ln>
          </p:spPr>
        </p:sp>
        <p:sp>
          <p:nvSpPr>
            <p:cNvPr id="17" name="Line 17"/>
            <p:cNvSpPr/>
            <p:nvPr/>
          </p:nvSpPr>
          <p:spPr>
            <a:xfrm>
              <a:off x="2000250" y="1428750"/>
              <a:ext cx="476250" cy="476250"/>
            </a:xfrm>
            <a:custGeom>
              <a:avLst/>
              <a:gdLst/>
              <a:ahLst/>
              <a:cxnLst/>
              <a:rect l="l" t="t" r="r" b="b"/>
              <a:pathLst>
                <a:path w="476250" h="476250">
                  <a:moveTo>
                    <a:pt x="0" y="476250"/>
                  </a:moveTo>
                  <a:lnTo>
                    <a:pt x="476250" y="0"/>
                  </a:lnTo>
                </a:path>
              </a:pathLst>
            </a:custGeom>
            <a:noFill/>
            <a:ln w="9525">
              <a:solidFill>
                <a:srgbClr val="EE492C">
                  <a:alpha val="60000"/>
                </a:srgbClr>
              </a:solidFill>
              <a:custDash>
                <a:ds d="300000" sp="200000"/>
              </a:custDash>
            </a:ln>
          </p:spPr>
        </p:sp>
        <p:sp>
          <p:nvSpPr>
            <p:cNvPr id="18" name="Line 18"/>
            <p:cNvSpPr/>
            <p:nvPr/>
          </p:nvSpPr>
          <p:spPr>
            <a:xfrm>
              <a:off x="1206818" y="1745932"/>
              <a:ext cx="1428750" cy="9525"/>
            </a:xfrm>
            <a:custGeom>
              <a:avLst/>
              <a:gdLst/>
              <a:ahLst/>
              <a:cxnLst/>
              <a:rect l="l" t="t" r="r" b="b"/>
              <a:pathLst>
                <a:path w="1428750" h="9525">
                  <a:moveTo>
                    <a:pt x="0" y="0"/>
                  </a:moveTo>
                  <a:lnTo>
                    <a:pt x="1428750" y="0"/>
                  </a:lnTo>
                </a:path>
              </a:pathLst>
            </a:custGeom>
            <a:noFill/>
            <a:ln w="9525">
              <a:solidFill>
                <a:srgbClr val="EE492C">
                  <a:alpha val="60000"/>
                </a:srgbClr>
              </a:solidFill>
              <a:custDash>
                <a:ds d="300000" sp="200000"/>
              </a:custDash>
            </a:ln>
          </p:spPr>
        </p:sp>
        <p:sp>
          <p:nvSpPr>
            <p:cNvPr id="19" name="Line 19"/>
            <p:cNvSpPr/>
            <p:nvPr/>
          </p:nvSpPr>
          <p:spPr>
            <a:xfrm>
              <a:off x="1364932" y="1587818"/>
              <a:ext cx="1428750" cy="9525"/>
            </a:xfrm>
            <a:custGeom>
              <a:avLst/>
              <a:gdLst/>
              <a:ahLst/>
              <a:cxnLst/>
              <a:rect l="l" t="t" r="r" b="b"/>
              <a:pathLst>
                <a:path w="1428750" h="9525">
                  <a:moveTo>
                    <a:pt x="0" y="0"/>
                  </a:moveTo>
                  <a:lnTo>
                    <a:pt x="1428750" y="0"/>
                  </a:lnTo>
                </a:path>
              </a:pathLst>
            </a:custGeom>
            <a:noFill/>
            <a:ln w="9525">
              <a:solidFill>
                <a:srgbClr val="EE492C">
                  <a:alpha val="60000"/>
                </a:srgbClr>
              </a:solidFill>
              <a:custDash>
                <a:ds d="300000" sp="200000"/>
              </a:custDash>
            </a:ln>
          </p:spPr>
        </p:sp>
        <p:sp>
          <p:nvSpPr>
            <p:cNvPr id="20" name="Line 20"/>
            <p:cNvSpPr/>
            <p:nvPr/>
          </p:nvSpPr>
          <p:spPr>
            <a:xfrm>
              <a:off x="2476500" y="1968818"/>
              <a:ext cx="476250" cy="476250"/>
            </a:xfrm>
            <a:custGeom>
              <a:avLst/>
              <a:gdLst/>
              <a:ahLst/>
              <a:cxnLst/>
              <a:rect l="l" t="t" r="r" b="b"/>
              <a:pathLst>
                <a:path w="476250" h="476250">
                  <a:moveTo>
                    <a:pt x="0" y="476250"/>
                  </a:moveTo>
                  <a:lnTo>
                    <a:pt x="476250" y="0"/>
                  </a:lnTo>
                </a:path>
              </a:pathLst>
            </a:custGeom>
            <a:noFill/>
            <a:ln w="9525">
              <a:solidFill>
                <a:srgbClr val="EE492C">
                  <a:alpha val="60000"/>
                </a:srgbClr>
              </a:solidFill>
              <a:custDash>
                <a:ds d="300000" sp="200000"/>
              </a:custDash>
            </a:ln>
          </p:spPr>
        </p:sp>
        <p:sp>
          <p:nvSpPr>
            <p:cNvPr id="21" name="Line 21"/>
            <p:cNvSpPr/>
            <p:nvPr/>
          </p:nvSpPr>
          <p:spPr>
            <a:xfrm>
              <a:off x="2476500" y="2507932"/>
              <a:ext cx="476250" cy="476250"/>
            </a:xfrm>
            <a:custGeom>
              <a:avLst/>
              <a:gdLst/>
              <a:ahLst/>
              <a:cxnLst/>
              <a:rect l="l" t="t" r="r" b="b"/>
              <a:pathLst>
                <a:path w="476250" h="476250">
                  <a:moveTo>
                    <a:pt x="0" y="476250"/>
                  </a:moveTo>
                  <a:lnTo>
                    <a:pt x="476250" y="0"/>
                  </a:lnTo>
                </a:path>
              </a:pathLst>
            </a:custGeom>
            <a:noFill/>
            <a:ln w="9525">
              <a:solidFill>
                <a:srgbClr val="EE492C">
                  <a:alpha val="60000"/>
                </a:srgbClr>
              </a:solidFill>
              <a:custDash>
                <a:ds d="300000" sp="200000"/>
              </a:custDash>
            </a:ln>
          </p:spPr>
        </p:sp>
        <p:sp>
          <p:nvSpPr>
            <p:cNvPr id="22" name="Line 22"/>
            <p:cNvSpPr/>
            <p:nvPr/>
          </p:nvSpPr>
          <p:spPr>
            <a:xfrm>
              <a:off x="2635568" y="1745932"/>
              <a:ext cx="9525" cy="1619250"/>
            </a:xfrm>
            <a:custGeom>
              <a:avLst/>
              <a:gdLst/>
              <a:ahLst/>
              <a:cxnLst/>
              <a:rect l="l" t="t" r="r" b="b"/>
              <a:pathLst>
                <a:path w="9525" h="1619250">
                  <a:moveTo>
                    <a:pt x="0" y="0"/>
                  </a:moveTo>
                  <a:lnTo>
                    <a:pt x="0" y="1619250"/>
                  </a:lnTo>
                </a:path>
              </a:pathLst>
            </a:custGeom>
            <a:noFill/>
            <a:ln w="9525">
              <a:solidFill>
                <a:srgbClr val="EE492C">
                  <a:alpha val="60000"/>
                </a:srgbClr>
              </a:solidFill>
              <a:custDash>
                <a:ds d="300000" sp="200000"/>
              </a:custDash>
            </a:ln>
          </p:spPr>
        </p:sp>
        <p:sp>
          <p:nvSpPr>
            <p:cNvPr id="23" name="Line 23"/>
            <p:cNvSpPr/>
            <p:nvPr/>
          </p:nvSpPr>
          <p:spPr>
            <a:xfrm>
              <a:off x="2793682" y="1587818"/>
              <a:ext cx="9525" cy="1619250"/>
            </a:xfrm>
            <a:custGeom>
              <a:avLst/>
              <a:gdLst/>
              <a:ahLst/>
              <a:cxnLst/>
              <a:rect l="l" t="t" r="r" b="b"/>
              <a:pathLst>
                <a:path w="9525" h="1619250">
                  <a:moveTo>
                    <a:pt x="0" y="0"/>
                  </a:moveTo>
                  <a:lnTo>
                    <a:pt x="0" y="1619250"/>
                  </a:lnTo>
                </a:path>
              </a:pathLst>
            </a:custGeom>
            <a:noFill/>
            <a:ln w="9525">
              <a:solidFill>
                <a:srgbClr val="EE492C">
                  <a:alpha val="60000"/>
                </a:srgbClr>
              </a:solidFill>
              <a:custDash>
                <a:ds d="300000" sp="200000"/>
              </a:custDash>
            </a:ln>
          </p:spPr>
        </p:sp>
        <p:sp>
          <p:nvSpPr>
            <p:cNvPr id="24" name="Freeform 24"/>
            <p:cNvSpPr/>
            <p:nvPr/>
          </p:nvSpPr>
          <p:spPr>
            <a:xfrm>
              <a:off x="1683068" y="2126932"/>
              <a:ext cx="635318" cy="698182"/>
            </a:xfrm>
            <a:prstGeom prst="cube">
              <a:avLst>
                <a:gd name="adj" fmla="val 25000"/>
              </a:avLst>
            </a:prstGeom>
            <a:solidFill>
              <a:srgbClr val="D82000"/>
            </a:solidFill>
            <a:ln>
              <a:noFill/>
            </a:ln>
          </p:spPr>
        </p:sp>
        <p:sp>
          <p:nvSpPr>
            <p:cNvPr id="25" name="TextBox 25"/>
            <p:cNvSpPr txBox="1"/>
            <p:nvPr/>
          </p:nvSpPr>
          <p:spPr>
            <a:xfrm>
              <a:off x="1715770" y="2429589"/>
              <a:ext cx="41084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FFFFFF"/>
                  </a:solidFill>
                  <a:latin typeface="+mn-lt"/>
                  <a:ea typeface="+mn-ea"/>
                  <a:cs typeface="+mn-cs"/>
                </a:rPr>
                <a:t>三维交叉</a:t>
              </a:r>
              <a:br/>
              <a:r>
                <a:rPr lang="zh-CN" sz="790" b="1" dirty="0">
                  <a:solidFill>
                    <a:srgbClr val="FFFFFF"/>
                  </a:solidFill>
                  <a:latin typeface="+mn-lt"/>
                  <a:ea typeface="+mn-ea"/>
                  <a:cs typeface="+mn-cs"/>
                </a:rPr>
                <a:t>精细分群</a:t>
              </a:r>
            </a:p>
          </p:txBody>
        </p:sp>
        <p:sp>
          <p:nvSpPr>
            <p:cNvPr id="26" name="Line 26"/>
            <p:cNvSpPr/>
            <p:nvPr/>
          </p:nvSpPr>
          <p:spPr>
            <a:xfrm>
              <a:off x="914400" y="1352550"/>
              <a:ext cx="9525" cy="2228850"/>
            </a:xfrm>
            <a:custGeom>
              <a:avLst/>
              <a:gdLst/>
              <a:ahLst/>
              <a:cxnLst/>
              <a:rect l="l" t="t" r="r" b="b"/>
              <a:pathLst>
                <a:path w="9525" h="2228850">
                  <a:moveTo>
                    <a:pt x="0" y="2228850"/>
                  </a:moveTo>
                  <a:lnTo>
                    <a:pt x="0" y="0"/>
                  </a:lnTo>
                </a:path>
              </a:pathLst>
            </a:custGeom>
            <a:noFill/>
            <a:ln w="19050">
              <a:solidFill>
                <a:srgbClr val="C41D00"/>
              </a:solidFill>
            </a:ln>
          </p:spPr>
        </p:sp>
        <p:sp>
          <p:nvSpPr>
            <p:cNvPr id="27" name="Polygon 27"/>
            <p:cNvSpPr/>
            <p:nvPr/>
          </p:nvSpPr>
          <p:spPr>
            <a:xfrm>
              <a:off x="857250" y="1257300"/>
              <a:ext cx="114300" cy="133350"/>
            </a:xfrm>
            <a:custGeom>
              <a:avLst/>
              <a:gdLst/>
              <a:ahLst/>
              <a:cxnLst/>
              <a:rect l="l" t="t" r="r" b="b"/>
              <a:pathLst>
                <a:path w="114300" h="133350">
                  <a:moveTo>
                    <a:pt x="0" y="133350"/>
                  </a:moveTo>
                  <a:lnTo>
                    <a:pt x="57150" y="0"/>
                  </a:lnTo>
                  <a:lnTo>
                    <a:pt x="114300" y="133350"/>
                  </a:lnTo>
                  <a:close/>
                </a:path>
              </a:pathLst>
            </a:custGeom>
            <a:solidFill>
              <a:srgbClr val="C41D00"/>
            </a:solidFill>
            <a:ln>
              <a:noFill/>
            </a:ln>
          </p:spPr>
        </p:sp>
        <p:sp>
          <p:nvSpPr>
            <p:cNvPr id="28" name="TextBox 28"/>
            <p:cNvSpPr txBox="1"/>
            <p:nvPr/>
          </p:nvSpPr>
          <p:spPr>
            <a:xfrm>
              <a:off x="713422" y="2005012"/>
              <a:ext cx="110490" cy="147638"/>
            </a:xfrm>
            <a:prstGeom prst="rect">
              <a:avLst/>
            </a:prstGeom>
            <a:noFill/>
            <a:ln>
              <a:noFill/>
            </a:ln>
          </p:spPr>
          <p:txBody>
            <a:bodyPr wrap="none" lIns="0" tIns="0" rIns="0" bIns="0" anchor="t" anchorCtr="0">
              <a:spAutoFit/>
            </a:bodyPr>
            <a:lstStyle/>
            <a:p>
              <a:pPr algn="r"/>
              <a:r>
                <a:rPr lang="zh-CN" sz="750" dirty="0">
                  <a:solidFill>
                    <a:srgbClr val="3D3835"/>
                  </a:solidFill>
                  <a:latin typeface="+mn-lt"/>
                  <a:ea typeface="+mn-ea"/>
                  <a:cs typeface="+mn-cs"/>
                </a:rPr>
                <a:t>高</a:t>
              </a:r>
            </a:p>
          </p:txBody>
        </p:sp>
        <p:sp>
          <p:nvSpPr>
            <p:cNvPr id="29" name="TextBox 29"/>
            <p:cNvSpPr txBox="1"/>
            <p:nvPr/>
          </p:nvSpPr>
          <p:spPr>
            <a:xfrm>
              <a:off x="713422" y="2671762"/>
              <a:ext cx="110490" cy="147638"/>
            </a:xfrm>
            <a:prstGeom prst="rect">
              <a:avLst/>
            </a:prstGeom>
            <a:noFill/>
            <a:ln>
              <a:noFill/>
            </a:ln>
          </p:spPr>
          <p:txBody>
            <a:bodyPr wrap="none" lIns="0" tIns="0" rIns="0" bIns="0" anchor="t" anchorCtr="0">
              <a:spAutoFit/>
            </a:bodyPr>
            <a:lstStyle/>
            <a:p>
              <a:pPr algn="r"/>
              <a:r>
                <a:rPr lang="zh-CN" sz="750" dirty="0">
                  <a:solidFill>
                    <a:srgbClr val="3D3835"/>
                  </a:solidFill>
                  <a:latin typeface="+mn-lt"/>
                  <a:ea typeface="+mn-ea"/>
                  <a:cs typeface="+mn-cs"/>
                </a:rPr>
                <a:t>中</a:t>
              </a:r>
            </a:p>
          </p:txBody>
        </p:sp>
        <p:sp>
          <p:nvSpPr>
            <p:cNvPr id="30" name="TextBox 30"/>
            <p:cNvSpPr txBox="1"/>
            <p:nvPr/>
          </p:nvSpPr>
          <p:spPr>
            <a:xfrm>
              <a:off x="713422" y="3309938"/>
              <a:ext cx="110490" cy="147638"/>
            </a:xfrm>
            <a:prstGeom prst="rect">
              <a:avLst/>
            </a:prstGeom>
            <a:noFill/>
            <a:ln>
              <a:noFill/>
            </a:ln>
          </p:spPr>
          <p:txBody>
            <a:bodyPr wrap="none" lIns="0" tIns="0" rIns="0" bIns="0" anchor="t" anchorCtr="0">
              <a:spAutoFit/>
            </a:bodyPr>
            <a:lstStyle/>
            <a:p>
              <a:pPr algn="r"/>
              <a:r>
                <a:rPr lang="zh-CN" sz="750" dirty="0">
                  <a:solidFill>
                    <a:srgbClr val="3D3835"/>
                  </a:solidFill>
                  <a:latin typeface="+mn-lt"/>
                  <a:ea typeface="+mn-ea"/>
                  <a:cs typeface="+mn-cs"/>
                </a:rPr>
                <a:t>低</a:t>
              </a:r>
            </a:p>
          </p:txBody>
        </p:sp>
        <p:sp>
          <p:nvSpPr>
            <p:cNvPr id="31" name="TextBox 31"/>
            <p:cNvSpPr txBox="1"/>
            <p:nvPr/>
          </p:nvSpPr>
          <p:spPr>
            <a:xfrm>
              <a:off x="376238" y="1034891"/>
              <a:ext cx="451079" cy="161925"/>
            </a:xfrm>
            <a:prstGeom prst="rect">
              <a:avLst/>
            </a:prstGeom>
            <a:noFill/>
            <a:ln>
              <a:noFill/>
            </a:ln>
          </p:spPr>
          <p:txBody>
            <a:bodyPr wrap="none" lIns="0" tIns="0" rIns="0" bIns="0" anchor="t" anchorCtr="0">
              <a:spAutoFit/>
            </a:bodyPr>
            <a:lstStyle/>
            <a:p>
              <a:pPr algn="l"/>
              <a:r>
                <a:rPr lang="zh-CN" sz="820" b="1" dirty="0">
                  <a:solidFill>
                    <a:srgbClr val="C41D00"/>
                  </a:solidFill>
                  <a:latin typeface="+mn-lt"/>
                  <a:ea typeface="+mn-ea"/>
                  <a:cs typeface="+mn-cs"/>
                </a:rPr>
                <a:t>价值维度</a:t>
              </a:r>
            </a:p>
          </p:txBody>
        </p:sp>
        <p:sp>
          <p:nvSpPr>
            <p:cNvPr id="32" name="TextBox 32"/>
            <p:cNvSpPr txBox="1"/>
            <p:nvPr/>
          </p:nvSpPr>
          <p:spPr>
            <a:xfrm>
              <a:off x="376238" y="1180386"/>
              <a:ext cx="46037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7A716B"/>
                  </a:solidFill>
                  <a:latin typeface="+mn-lt"/>
                  <a:ea typeface="+mn-ea"/>
                  <a:cs typeface="+mn-cs"/>
                </a:rPr>
                <a:t>当前价值</a:t>
              </a:r>
              <a:br/>
              <a:r>
                <a:rPr lang="zh-CN" sz="710" dirty="0">
                  <a:solidFill>
                    <a:srgbClr val="7A716B"/>
                  </a:solidFill>
                  <a:latin typeface="+mn-lt"/>
                  <a:ea typeface="+mn-ea"/>
                  <a:cs typeface="+mn-cs"/>
                </a:rPr>
                <a:t>（贡献度）</a:t>
              </a:r>
            </a:p>
          </p:txBody>
        </p:sp>
        <p:sp>
          <p:nvSpPr>
            <p:cNvPr id="33" name="Line 33"/>
            <p:cNvSpPr/>
            <p:nvPr/>
          </p:nvSpPr>
          <p:spPr>
            <a:xfrm>
              <a:off x="990600" y="3619500"/>
              <a:ext cx="2152650" cy="9525"/>
            </a:xfrm>
            <a:custGeom>
              <a:avLst/>
              <a:gdLst/>
              <a:ahLst/>
              <a:cxnLst/>
              <a:rect l="l" t="t" r="r" b="b"/>
              <a:pathLst>
                <a:path w="2152650" h="9525">
                  <a:moveTo>
                    <a:pt x="0" y="0"/>
                  </a:moveTo>
                  <a:lnTo>
                    <a:pt x="2152650" y="0"/>
                  </a:lnTo>
                </a:path>
              </a:pathLst>
            </a:custGeom>
            <a:noFill/>
            <a:ln w="19050">
              <a:solidFill>
                <a:srgbClr val="C41D00"/>
              </a:solidFill>
            </a:ln>
          </p:spPr>
        </p:sp>
        <p:sp>
          <p:nvSpPr>
            <p:cNvPr id="34" name="Polygon 34"/>
            <p:cNvSpPr/>
            <p:nvPr/>
          </p:nvSpPr>
          <p:spPr>
            <a:xfrm>
              <a:off x="3105150" y="3562350"/>
              <a:ext cx="133350" cy="114300"/>
            </a:xfrm>
            <a:custGeom>
              <a:avLst/>
              <a:gdLst/>
              <a:ahLst/>
              <a:cxnLst/>
              <a:rect l="l" t="t" r="r" b="b"/>
              <a:pathLst>
                <a:path w="133350" h="114300">
                  <a:moveTo>
                    <a:pt x="0" y="0"/>
                  </a:moveTo>
                  <a:lnTo>
                    <a:pt x="133350" y="57150"/>
                  </a:lnTo>
                  <a:lnTo>
                    <a:pt x="0" y="114300"/>
                  </a:lnTo>
                  <a:close/>
                </a:path>
              </a:pathLst>
            </a:custGeom>
            <a:solidFill>
              <a:srgbClr val="C41D00"/>
            </a:solidFill>
            <a:ln>
              <a:noFill/>
            </a:ln>
          </p:spPr>
        </p:sp>
        <p:sp>
          <p:nvSpPr>
            <p:cNvPr id="35" name="TextBox 35"/>
            <p:cNvSpPr txBox="1"/>
            <p:nvPr/>
          </p:nvSpPr>
          <p:spPr>
            <a:xfrm>
              <a:off x="1144905" y="3690938"/>
              <a:ext cx="11049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低</a:t>
              </a:r>
            </a:p>
          </p:txBody>
        </p:sp>
        <p:sp>
          <p:nvSpPr>
            <p:cNvPr id="36" name="TextBox 36"/>
            <p:cNvSpPr txBox="1"/>
            <p:nvPr/>
          </p:nvSpPr>
          <p:spPr>
            <a:xfrm>
              <a:off x="1992630" y="3690938"/>
              <a:ext cx="11049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中</a:t>
              </a:r>
            </a:p>
          </p:txBody>
        </p:sp>
        <p:sp>
          <p:nvSpPr>
            <p:cNvPr id="37" name="TextBox 37"/>
            <p:cNvSpPr txBox="1"/>
            <p:nvPr/>
          </p:nvSpPr>
          <p:spPr>
            <a:xfrm>
              <a:off x="2802255" y="3690938"/>
              <a:ext cx="11049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高</a:t>
              </a:r>
            </a:p>
          </p:txBody>
        </p:sp>
        <p:sp>
          <p:nvSpPr>
            <p:cNvPr id="38" name="TextBox 38"/>
            <p:cNvSpPr txBox="1"/>
            <p:nvPr/>
          </p:nvSpPr>
          <p:spPr>
            <a:xfrm>
              <a:off x="2052638" y="3873341"/>
              <a:ext cx="451079" cy="161925"/>
            </a:xfrm>
            <a:prstGeom prst="rect">
              <a:avLst/>
            </a:prstGeom>
            <a:noFill/>
            <a:ln>
              <a:noFill/>
            </a:ln>
          </p:spPr>
          <p:txBody>
            <a:bodyPr wrap="none" lIns="0" tIns="0" rIns="0" bIns="0" anchor="t" anchorCtr="0">
              <a:spAutoFit/>
            </a:bodyPr>
            <a:lstStyle/>
            <a:p>
              <a:pPr algn="l"/>
              <a:r>
                <a:rPr lang="zh-CN" sz="820" b="1" dirty="0">
                  <a:solidFill>
                    <a:srgbClr val="C41D00"/>
                  </a:solidFill>
                  <a:latin typeface="+mn-lt"/>
                  <a:ea typeface="+mn-ea"/>
                  <a:cs typeface="+mn-cs"/>
                </a:rPr>
                <a:t>成长维度</a:t>
              </a:r>
            </a:p>
          </p:txBody>
        </p:sp>
        <p:sp>
          <p:nvSpPr>
            <p:cNvPr id="39" name="TextBox 39"/>
            <p:cNvSpPr txBox="1"/>
            <p:nvPr/>
          </p:nvSpPr>
          <p:spPr>
            <a:xfrm>
              <a:off x="2052638" y="4018836"/>
              <a:ext cx="64071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7A716B"/>
                  </a:solidFill>
                  <a:latin typeface="+mn-lt"/>
                  <a:ea typeface="+mn-ea"/>
                  <a:cs typeface="+mn-cs"/>
                </a:rPr>
                <a:t>成长潜力</a:t>
              </a:r>
              <a:br/>
              <a:r>
                <a:rPr lang="zh-CN" sz="710" dirty="0">
                  <a:solidFill>
                    <a:srgbClr val="7A716B"/>
                  </a:solidFill>
                  <a:latin typeface="+mn-lt"/>
                  <a:ea typeface="+mn-ea"/>
                  <a:cs typeface="+mn-cs"/>
                </a:rPr>
                <a:t>（趋势与空间）</a:t>
              </a:r>
            </a:p>
          </p:txBody>
        </p:sp>
        <p:sp>
          <p:nvSpPr>
            <p:cNvPr id="40" name="Line 40"/>
            <p:cNvSpPr/>
            <p:nvPr/>
          </p:nvSpPr>
          <p:spPr>
            <a:xfrm>
              <a:off x="514350" y="3619500"/>
              <a:ext cx="476250" cy="533400"/>
            </a:xfrm>
            <a:custGeom>
              <a:avLst/>
              <a:gdLst/>
              <a:ahLst/>
              <a:cxnLst/>
              <a:rect l="l" t="t" r="r" b="b"/>
              <a:pathLst>
                <a:path w="476250" h="533400">
                  <a:moveTo>
                    <a:pt x="476250" y="0"/>
                  </a:moveTo>
                  <a:lnTo>
                    <a:pt x="0" y="533400"/>
                  </a:lnTo>
                </a:path>
              </a:pathLst>
            </a:custGeom>
            <a:noFill/>
            <a:ln w="19050">
              <a:solidFill>
                <a:srgbClr val="C41D00"/>
              </a:solidFill>
            </a:ln>
          </p:spPr>
        </p:sp>
        <p:sp>
          <p:nvSpPr>
            <p:cNvPr id="41" name="Polygon 41"/>
            <p:cNvSpPr/>
            <p:nvPr/>
          </p:nvSpPr>
          <p:spPr>
            <a:xfrm>
              <a:off x="438009" y="4126187"/>
              <a:ext cx="111874" cy="116809"/>
            </a:xfrm>
            <a:custGeom>
              <a:avLst/>
              <a:gdLst/>
              <a:ahLst/>
              <a:cxnLst/>
              <a:rect l="l" t="t" r="r" b="b"/>
              <a:pathLst>
                <a:path w="111874" h="116809">
                  <a:moveTo>
                    <a:pt x="111874" y="63735"/>
                  </a:moveTo>
                  <a:lnTo>
                    <a:pt x="0" y="116809"/>
                  </a:lnTo>
                  <a:lnTo>
                    <a:pt x="41089" y="0"/>
                  </a:lnTo>
                  <a:close/>
                </a:path>
              </a:pathLst>
            </a:custGeom>
            <a:solidFill>
              <a:srgbClr val="C41D00"/>
            </a:solidFill>
            <a:ln>
              <a:noFill/>
            </a:ln>
          </p:spPr>
        </p:sp>
        <p:sp>
          <p:nvSpPr>
            <p:cNvPr id="42" name="TextBox 42"/>
            <p:cNvSpPr txBox="1"/>
            <p:nvPr/>
          </p:nvSpPr>
          <p:spPr>
            <a:xfrm>
              <a:off x="1042988" y="3824288"/>
              <a:ext cx="11049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低</a:t>
              </a:r>
            </a:p>
          </p:txBody>
        </p:sp>
        <p:sp>
          <p:nvSpPr>
            <p:cNvPr id="43" name="TextBox 43"/>
            <p:cNvSpPr txBox="1"/>
            <p:nvPr/>
          </p:nvSpPr>
          <p:spPr>
            <a:xfrm>
              <a:off x="871538" y="3995738"/>
              <a:ext cx="11049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中</a:t>
              </a:r>
            </a:p>
          </p:txBody>
        </p:sp>
        <p:sp>
          <p:nvSpPr>
            <p:cNvPr id="44" name="TextBox 44"/>
            <p:cNvSpPr txBox="1"/>
            <p:nvPr/>
          </p:nvSpPr>
          <p:spPr>
            <a:xfrm>
              <a:off x="700088" y="4167188"/>
              <a:ext cx="110490"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高</a:t>
              </a:r>
            </a:p>
          </p:txBody>
        </p:sp>
        <p:sp>
          <p:nvSpPr>
            <p:cNvPr id="45" name="TextBox 45"/>
            <p:cNvSpPr txBox="1"/>
            <p:nvPr/>
          </p:nvSpPr>
          <p:spPr>
            <a:xfrm>
              <a:off x="376238" y="4406741"/>
              <a:ext cx="451079" cy="161925"/>
            </a:xfrm>
            <a:prstGeom prst="rect">
              <a:avLst/>
            </a:prstGeom>
            <a:noFill/>
            <a:ln>
              <a:noFill/>
            </a:ln>
          </p:spPr>
          <p:txBody>
            <a:bodyPr wrap="none" lIns="0" tIns="0" rIns="0" bIns="0" anchor="t" anchorCtr="0">
              <a:spAutoFit/>
            </a:bodyPr>
            <a:lstStyle/>
            <a:p>
              <a:pPr algn="l"/>
              <a:r>
                <a:rPr lang="zh-CN" sz="820" b="1" dirty="0">
                  <a:solidFill>
                    <a:srgbClr val="C41D00"/>
                  </a:solidFill>
                  <a:latin typeface="+mn-lt"/>
                  <a:ea typeface="+mn-ea"/>
                  <a:cs typeface="+mn-cs"/>
                </a:rPr>
                <a:t>需求维度</a:t>
              </a:r>
            </a:p>
          </p:txBody>
        </p:sp>
        <p:sp>
          <p:nvSpPr>
            <p:cNvPr id="46" name="TextBox 46"/>
            <p:cNvSpPr txBox="1"/>
            <p:nvPr/>
          </p:nvSpPr>
          <p:spPr>
            <a:xfrm>
              <a:off x="376238" y="4552236"/>
              <a:ext cx="64071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7A716B"/>
                  </a:solidFill>
                  <a:latin typeface="+mn-lt"/>
                  <a:ea typeface="+mn-ea"/>
                  <a:cs typeface="+mn-cs"/>
                </a:rPr>
                <a:t>金融需求强度</a:t>
              </a:r>
              <a:br/>
              <a:r>
                <a:rPr lang="zh-CN" sz="710" dirty="0">
                  <a:solidFill>
                    <a:srgbClr val="7A716B"/>
                  </a:solidFill>
                  <a:latin typeface="+mn-lt"/>
                  <a:ea typeface="+mn-ea"/>
                  <a:cs typeface="+mn-cs"/>
                </a:rPr>
                <a:t>（广度与深度）</a:t>
              </a:r>
            </a:p>
          </p:txBody>
        </p:sp>
      </p:grpSp>
      <p:grpSp>
        <p:nvGrpSpPr>
          <p:cNvPr id="175" name="segment-cards"/>
          <p:cNvGrpSpPr/>
          <p:nvPr/>
        </p:nvGrpSpPr>
        <p:grpSpPr>
          <a:xfrm>
            <a:off x="3333750" y="717947"/>
            <a:ext cx="3333750" cy="5987653"/>
            <a:chOff x="3333750" y="717947"/>
            <a:chExt cx="3333750" cy="5987653"/>
          </a:xfrm>
        </p:grpSpPr>
        <p:sp>
          <p:nvSpPr>
            <p:cNvPr id="48" name="TextBox 48"/>
            <p:cNvSpPr txBox="1"/>
            <p:nvPr/>
          </p:nvSpPr>
          <p:spPr>
            <a:xfrm>
              <a:off x="4173334" y="717947"/>
              <a:ext cx="1654581" cy="183356"/>
            </a:xfrm>
            <a:prstGeom prst="rect">
              <a:avLst/>
            </a:prstGeom>
            <a:noFill/>
            <a:ln>
              <a:noFill/>
            </a:ln>
          </p:spPr>
          <p:txBody>
            <a:bodyPr wrap="none" lIns="0" tIns="0" rIns="0" bIns="0" anchor="t" anchorCtr="0">
              <a:spAutoFit/>
            </a:bodyPr>
            <a:lstStyle/>
            <a:p>
              <a:pPr algn="ctr"/>
              <a:r>
                <a:rPr lang="zh-CN" sz="940" b="1" dirty="0">
                  <a:solidFill>
                    <a:srgbClr val="C41D00"/>
                  </a:solidFill>
                  <a:latin typeface="+mn-lt"/>
                  <a:ea typeface="+mn-ea"/>
                  <a:cs typeface="+mn-cs"/>
                </a:rPr>
                <a:t>六大分群概览（规模与特征）</a:t>
              </a:r>
            </a:p>
          </p:txBody>
        </p:sp>
        <p:sp>
          <p:nvSpPr>
            <p:cNvPr id="49" name="Rectangle 49"/>
            <p:cNvSpPr/>
            <p:nvPr/>
          </p:nvSpPr>
          <p:spPr>
            <a:xfrm>
              <a:off x="3333750" y="914400"/>
              <a:ext cx="1047750" cy="2838450"/>
            </a:xfrm>
            <a:prstGeom prst="roundRect">
              <a:avLst>
                <a:gd name="adj" fmla="val 5455"/>
              </a:avLst>
            </a:prstGeom>
            <a:solidFill>
              <a:srgbClr val="FFF8F2"/>
            </a:solidFill>
            <a:ln w="9525">
              <a:solidFill>
                <a:srgbClr val="F0B8AE"/>
              </a:solidFill>
            </a:ln>
          </p:spPr>
        </p:sp>
        <p:sp>
          <p:nvSpPr>
            <p:cNvPr id="50" name="Ellipse 50"/>
            <p:cNvSpPr/>
            <p:nvPr/>
          </p:nvSpPr>
          <p:spPr>
            <a:xfrm>
              <a:off x="3390900" y="990600"/>
              <a:ext cx="190500" cy="190500"/>
            </a:xfrm>
            <a:prstGeom prst="ellipse">
              <a:avLst/>
            </a:prstGeom>
            <a:solidFill>
              <a:srgbClr val="D82000"/>
            </a:solidFill>
            <a:ln>
              <a:noFill/>
            </a:ln>
          </p:spPr>
        </p:sp>
        <p:sp>
          <p:nvSpPr>
            <p:cNvPr id="51" name="TextBox 51"/>
            <p:cNvSpPr txBox="1"/>
            <p:nvPr/>
          </p:nvSpPr>
          <p:spPr>
            <a:xfrm>
              <a:off x="3449513" y="10348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a:t>
              </a:r>
            </a:p>
          </p:txBody>
        </p:sp>
        <p:grpSp>
          <p:nvGrpSpPr>
            <p:cNvPr id="54" name="Group 54"/>
            <p:cNvGrpSpPr/>
            <p:nvPr/>
          </p:nvGrpSpPr>
          <p:grpSpPr>
            <a:xfrm>
              <a:off x="4031456" y="1042194"/>
              <a:ext cx="185737" cy="151789"/>
              <a:chOff x="4031456" y="1042194"/>
              <a:chExt cx="185737" cy="151789"/>
            </a:xfrm>
          </p:grpSpPr>
          <p:sp>
            <p:nvSpPr>
              <p:cNvPr id="52" name="Freeform 52"/>
              <p:cNvSpPr/>
              <p:nvPr/>
            </p:nvSpPr>
            <p:spPr>
              <a:xfrm>
                <a:off x="4031456" y="1042194"/>
                <a:ext cx="185737" cy="151789"/>
              </a:xfrm>
              <a:custGeom>
                <a:avLst/>
                <a:gdLst/>
                <a:ahLst/>
                <a:cxnLst/>
                <a:rect l="l" t="t" r="r" b="b"/>
                <a:pathLst>
                  <a:path w="185737" h="151789">
                    <a:moveTo>
                      <a:pt x="30956" y="0"/>
                    </a:moveTo>
                    <a:lnTo>
                      <a:pt x="154781" y="0"/>
                    </a:lnTo>
                    <a:lnTo>
                      <a:pt x="185737" y="51594"/>
                    </a:lnTo>
                    <a:lnTo>
                      <a:pt x="98028" y="149621"/>
                    </a:lnTo>
                    <a:cubicBezTo>
                      <a:pt x="96669" y="151008"/>
                      <a:pt x="94810" y="151789"/>
                      <a:pt x="92868" y="151789"/>
                    </a:cubicBezTo>
                    <a:cubicBezTo>
                      <a:pt x="90927" y="151789"/>
                      <a:pt x="89068" y="151008"/>
                      <a:pt x="87709" y="149621"/>
                    </a:cubicBezTo>
                    <a:lnTo>
                      <a:pt x="0" y="51594"/>
                    </a:lnTo>
                    <a:lnTo>
                      <a:pt x="30956" y="0"/>
                    </a:lnTo>
                  </a:path>
                </a:pathLst>
              </a:custGeom>
              <a:noFill/>
              <a:ln w="20637">
                <a:solidFill>
                  <a:srgbClr val="D82000"/>
                </a:solidFill>
              </a:ln>
            </p:spPr>
          </p:sp>
          <p:sp>
            <p:nvSpPr>
              <p:cNvPr id="53" name="Freeform 53"/>
              <p:cNvSpPr/>
              <p:nvPr/>
            </p:nvSpPr>
            <p:spPr>
              <a:xfrm>
                <a:off x="4083050" y="1081405"/>
                <a:ext cx="20637" cy="33020"/>
              </a:xfrm>
              <a:custGeom>
                <a:avLst/>
                <a:gdLst/>
                <a:ahLst/>
                <a:cxnLst/>
                <a:rect l="l" t="t" r="r" b="b"/>
                <a:pathLst>
                  <a:path w="20637" h="33020">
                    <a:moveTo>
                      <a:pt x="20637" y="33020"/>
                    </a:moveTo>
                    <a:lnTo>
                      <a:pt x="0" y="10319"/>
                    </a:lnTo>
                    <a:lnTo>
                      <a:pt x="6191" y="0"/>
                    </a:lnTo>
                  </a:path>
                </a:pathLst>
              </a:custGeom>
              <a:noFill/>
              <a:ln w="20637">
                <a:solidFill>
                  <a:srgbClr val="D82000"/>
                </a:solidFill>
              </a:ln>
            </p:spPr>
          </p:sp>
        </p:grpSp>
        <p:sp>
          <p:nvSpPr>
            <p:cNvPr id="55" name="TextBox 55"/>
            <p:cNvSpPr txBox="1"/>
            <p:nvPr/>
          </p:nvSpPr>
          <p:spPr>
            <a:xfrm>
              <a:off x="3536506" y="1346597"/>
              <a:ext cx="642239" cy="183356"/>
            </a:xfrm>
            <a:prstGeom prst="rect">
              <a:avLst/>
            </a:prstGeom>
            <a:noFill/>
            <a:ln>
              <a:noFill/>
            </a:ln>
          </p:spPr>
          <p:txBody>
            <a:bodyPr wrap="none" lIns="0" tIns="0" rIns="0" bIns="0" anchor="t" anchorCtr="0">
              <a:spAutoFit/>
            </a:bodyPr>
            <a:lstStyle/>
            <a:p>
              <a:pPr algn="ctr"/>
              <a:r>
                <a:rPr lang="zh-CN" sz="940" b="1" dirty="0">
                  <a:solidFill>
                    <a:srgbClr val="4A130A"/>
                  </a:solidFill>
                  <a:latin typeface="+mn-lt"/>
                  <a:ea typeface="+mn-ea"/>
                  <a:cs typeface="+mn-cs"/>
                </a:rPr>
                <a:t>高净值深耕</a:t>
              </a:r>
            </a:p>
          </p:txBody>
        </p:sp>
        <p:sp>
          <p:nvSpPr>
            <p:cNvPr id="56" name="Line 56"/>
            <p:cNvSpPr/>
            <p:nvPr/>
          </p:nvSpPr>
          <p:spPr>
            <a:xfrm>
              <a:off x="3409950" y="1543050"/>
              <a:ext cx="895350" cy="9525"/>
            </a:xfrm>
            <a:custGeom>
              <a:avLst/>
              <a:gdLst/>
              <a:ahLst/>
              <a:cxnLst/>
              <a:rect l="l" t="t" r="r" b="b"/>
              <a:pathLst>
                <a:path w="895350" h="9525">
                  <a:moveTo>
                    <a:pt x="0" y="0"/>
                  </a:moveTo>
                  <a:lnTo>
                    <a:pt x="895350" y="0"/>
                  </a:lnTo>
                </a:path>
              </a:pathLst>
            </a:custGeom>
            <a:noFill/>
            <a:ln w="9525">
              <a:solidFill>
                <a:srgbClr val="F0B8AE"/>
              </a:solidFill>
            </a:ln>
          </p:spPr>
        </p:sp>
        <p:sp>
          <p:nvSpPr>
            <p:cNvPr id="57" name="TextBox 57"/>
            <p:cNvSpPr txBox="1"/>
            <p:nvPr/>
          </p:nvSpPr>
          <p:spPr>
            <a:xfrm>
              <a:off x="3424238" y="167568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客户数（人）</a:t>
              </a:r>
            </a:p>
          </p:txBody>
        </p:sp>
        <p:sp>
          <p:nvSpPr>
            <p:cNvPr id="58" name="TextBox 58"/>
            <p:cNvSpPr txBox="1"/>
            <p:nvPr/>
          </p:nvSpPr>
          <p:spPr>
            <a:xfrm>
              <a:off x="3912985" y="1667589"/>
              <a:ext cx="378027"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86,000</a:t>
              </a:r>
            </a:p>
          </p:txBody>
        </p:sp>
        <p:sp>
          <p:nvSpPr>
            <p:cNvPr id="59" name="TextBox 59"/>
            <p:cNvSpPr txBox="1"/>
            <p:nvPr/>
          </p:nvSpPr>
          <p:spPr>
            <a:xfrm>
              <a:off x="3424238" y="201858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AUM规模（亿）</a:t>
              </a:r>
            </a:p>
          </p:txBody>
        </p:sp>
        <p:sp>
          <p:nvSpPr>
            <p:cNvPr id="60" name="TextBox 60"/>
            <p:cNvSpPr txBox="1"/>
            <p:nvPr/>
          </p:nvSpPr>
          <p:spPr>
            <a:xfrm>
              <a:off x="3974402" y="2010489"/>
              <a:ext cx="316610"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2,860</a:t>
              </a:r>
            </a:p>
          </p:txBody>
        </p:sp>
        <p:sp>
          <p:nvSpPr>
            <p:cNvPr id="61" name="TextBox 61"/>
            <p:cNvSpPr txBox="1"/>
            <p:nvPr/>
          </p:nvSpPr>
          <p:spPr>
            <a:xfrm>
              <a:off x="3424238" y="236148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人均AUM（万）</a:t>
              </a:r>
            </a:p>
          </p:txBody>
        </p:sp>
        <p:sp>
          <p:nvSpPr>
            <p:cNvPr id="62" name="TextBox 62"/>
            <p:cNvSpPr txBox="1"/>
            <p:nvPr/>
          </p:nvSpPr>
          <p:spPr>
            <a:xfrm>
              <a:off x="4097236" y="2353389"/>
              <a:ext cx="193776"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332</a:t>
              </a:r>
            </a:p>
          </p:txBody>
        </p:sp>
        <p:sp>
          <p:nvSpPr>
            <p:cNvPr id="63" name="TextBox 63"/>
            <p:cNvSpPr txBox="1"/>
            <p:nvPr/>
          </p:nvSpPr>
          <p:spPr>
            <a:xfrm>
              <a:off x="3424238" y="270438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金融需求强度</a:t>
              </a:r>
            </a:p>
          </p:txBody>
        </p:sp>
        <p:sp>
          <p:nvSpPr>
            <p:cNvPr id="64" name="TextBox 64"/>
            <p:cNvSpPr txBox="1"/>
            <p:nvPr/>
          </p:nvSpPr>
          <p:spPr>
            <a:xfrm>
              <a:off x="4175138" y="269628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高</a:t>
              </a:r>
            </a:p>
          </p:txBody>
        </p:sp>
        <p:sp>
          <p:nvSpPr>
            <p:cNvPr id="65" name="TextBox 65"/>
            <p:cNvSpPr txBox="1"/>
            <p:nvPr/>
          </p:nvSpPr>
          <p:spPr>
            <a:xfrm>
              <a:off x="3424238" y="3047286"/>
              <a:ext cx="39184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成长潜力</a:t>
              </a:r>
            </a:p>
          </p:txBody>
        </p:sp>
        <p:sp>
          <p:nvSpPr>
            <p:cNvPr id="66" name="TextBox 66"/>
            <p:cNvSpPr txBox="1"/>
            <p:nvPr/>
          </p:nvSpPr>
          <p:spPr>
            <a:xfrm>
              <a:off x="4175138" y="303918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中</a:t>
              </a:r>
            </a:p>
          </p:txBody>
        </p:sp>
        <p:sp>
          <p:nvSpPr>
            <p:cNvPr id="67" name="TextBox 67"/>
            <p:cNvSpPr txBox="1"/>
            <p:nvPr/>
          </p:nvSpPr>
          <p:spPr>
            <a:xfrm>
              <a:off x="3424238" y="3390186"/>
              <a:ext cx="48742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贡献度占比</a:t>
              </a:r>
            </a:p>
          </p:txBody>
        </p:sp>
        <p:sp>
          <p:nvSpPr>
            <p:cNvPr id="68" name="TextBox 68"/>
            <p:cNvSpPr txBox="1"/>
            <p:nvPr/>
          </p:nvSpPr>
          <p:spPr>
            <a:xfrm>
              <a:off x="4074903" y="3382089"/>
              <a:ext cx="216109"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28%</a:t>
              </a:r>
            </a:p>
          </p:txBody>
        </p:sp>
        <p:sp>
          <p:nvSpPr>
            <p:cNvPr id="69" name="Rectangle 69"/>
            <p:cNvSpPr/>
            <p:nvPr/>
          </p:nvSpPr>
          <p:spPr>
            <a:xfrm>
              <a:off x="4476750" y="914400"/>
              <a:ext cx="1047750" cy="2838450"/>
            </a:xfrm>
            <a:prstGeom prst="roundRect">
              <a:avLst>
                <a:gd name="adj" fmla="val 5455"/>
              </a:avLst>
            </a:prstGeom>
            <a:solidFill>
              <a:srgbClr val="FFF8F2"/>
            </a:solidFill>
            <a:ln w="9525">
              <a:solidFill>
                <a:srgbClr val="F0B8AE"/>
              </a:solidFill>
            </a:ln>
          </p:spPr>
        </p:sp>
        <p:sp>
          <p:nvSpPr>
            <p:cNvPr id="70" name="Ellipse 70"/>
            <p:cNvSpPr/>
            <p:nvPr/>
          </p:nvSpPr>
          <p:spPr>
            <a:xfrm>
              <a:off x="4533900" y="990600"/>
              <a:ext cx="190500" cy="190500"/>
            </a:xfrm>
            <a:prstGeom prst="ellipse">
              <a:avLst/>
            </a:prstGeom>
            <a:solidFill>
              <a:srgbClr val="D82000"/>
            </a:solidFill>
            <a:ln>
              <a:noFill/>
            </a:ln>
          </p:spPr>
        </p:sp>
        <p:sp>
          <p:nvSpPr>
            <p:cNvPr id="71" name="TextBox 71"/>
            <p:cNvSpPr txBox="1"/>
            <p:nvPr/>
          </p:nvSpPr>
          <p:spPr>
            <a:xfrm>
              <a:off x="4592513" y="10348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a:t>
              </a:r>
            </a:p>
          </p:txBody>
        </p:sp>
        <p:grpSp>
          <p:nvGrpSpPr>
            <p:cNvPr id="74" name="Group 74"/>
            <p:cNvGrpSpPr/>
            <p:nvPr/>
          </p:nvGrpSpPr>
          <p:grpSpPr>
            <a:xfrm>
              <a:off x="5174456" y="1062831"/>
              <a:ext cx="185737" cy="103187"/>
              <a:chOff x="5174456" y="1062831"/>
              <a:chExt cx="185737" cy="103187"/>
            </a:xfrm>
          </p:grpSpPr>
          <p:sp>
            <p:nvSpPr>
              <p:cNvPr id="72" name="Freeform 72"/>
              <p:cNvSpPr/>
              <p:nvPr/>
            </p:nvSpPr>
            <p:spPr>
              <a:xfrm>
                <a:off x="5174456" y="1062831"/>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D82000"/>
                </a:solidFill>
              </a:ln>
            </p:spPr>
          </p:sp>
          <p:sp>
            <p:nvSpPr>
              <p:cNvPr id="73" name="Freeform 73"/>
              <p:cNvSpPr/>
              <p:nvPr/>
            </p:nvSpPr>
            <p:spPr>
              <a:xfrm>
                <a:off x="5287962" y="1062831"/>
                <a:ext cx="72231" cy="72231"/>
              </a:xfrm>
              <a:custGeom>
                <a:avLst/>
                <a:gdLst/>
                <a:ahLst/>
                <a:cxnLst/>
                <a:rect l="l" t="t" r="r" b="b"/>
                <a:pathLst>
                  <a:path w="72231" h="72231">
                    <a:moveTo>
                      <a:pt x="0" y="0"/>
                    </a:moveTo>
                    <a:lnTo>
                      <a:pt x="72231" y="0"/>
                    </a:lnTo>
                    <a:lnTo>
                      <a:pt x="72231" y="72231"/>
                    </a:lnTo>
                  </a:path>
                </a:pathLst>
              </a:custGeom>
              <a:noFill/>
              <a:ln w="20637">
                <a:solidFill>
                  <a:srgbClr val="D82000"/>
                </a:solidFill>
              </a:ln>
            </p:spPr>
          </p:sp>
        </p:grpSp>
        <p:sp>
          <p:nvSpPr>
            <p:cNvPr id="75" name="TextBox 75"/>
            <p:cNvSpPr txBox="1"/>
            <p:nvPr/>
          </p:nvSpPr>
          <p:spPr>
            <a:xfrm>
              <a:off x="4742777" y="1346597"/>
              <a:ext cx="515696" cy="183356"/>
            </a:xfrm>
            <a:prstGeom prst="rect">
              <a:avLst/>
            </a:prstGeom>
            <a:noFill/>
            <a:ln>
              <a:noFill/>
            </a:ln>
          </p:spPr>
          <p:txBody>
            <a:bodyPr wrap="none" lIns="0" tIns="0" rIns="0" bIns="0" anchor="t" anchorCtr="0">
              <a:spAutoFit/>
            </a:bodyPr>
            <a:lstStyle/>
            <a:p>
              <a:pPr algn="ctr"/>
              <a:r>
                <a:rPr lang="zh-CN" sz="940" b="1" dirty="0">
                  <a:solidFill>
                    <a:srgbClr val="4A130A"/>
                  </a:solidFill>
                  <a:latin typeface="+mn-lt"/>
                  <a:ea typeface="+mn-ea"/>
                  <a:cs typeface="+mn-cs"/>
                </a:rPr>
                <a:t>财富成长</a:t>
              </a:r>
            </a:p>
          </p:txBody>
        </p:sp>
        <p:sp>
          <p:nvSpPr>
            <p:cNvPr id="76" name="Line 76"/>
            <p:cNvSpPr/>
            <p:nvPr/>
          </p:nvSpPr>
          <p:spPr>
            <a:xfrm>
              <a:off x="4552950" y="1543050"/>
              <a:ext cx="895350" cy="9525"/>
            </a:xfrm>
            <a:custGeom>
              <a:avLst/>
              <a:gdLst/>
              <a:ahLst/>
              <a:cxnLst/>
              <a:rect l="l" t="t" r="r" b="b"/>
              <a:pathLst>
                <a:path w="895350" h="9525">
                  <a:moveTo>
                    <a:pt x="0" y="0"/>
                  </a:moveTo>
                  <a:lnTo>
                    <a:pt x="895350" y="0"/>
                  </a:lnTo>
                </a:path>
              </a:pathLst>
            </a:custGeom>
            <a:noFill/>
            <a:ln w="9525">
              <a:solidFill>
                <a:srgbClr val="F0B8AE"/>
              </a:solidFill>
            </a:ln>
          </p:spPr>
        </p:sp>
        <p:sp>
          <p:nvSpPr>
            <p:cNvPr id="77" name="TextBox 77"/>
            <p:cNvSpPr txBox="1"/>
            <p:nvPr/>
          </p:nvSpPr>
          <p:spPr>
            <a:xfrm>
              <a:off x="4567238" y="167568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客户数（人）</a:t>
              </a:r>
            </a:p>
          </p:txBody>
        </p:sp>
        <p:sp>
          <p:nvSpPr>
            <p:cNvPr id="78" name="TextBox 78"/>
            <p:cNvSpPr txBox="1"/>
            <p:nvPr/>
          </p:nvSpPr>
          <p:spPr>
            <a:xfrm>
              <a:off x="4994568" y="1667589"/>
              <a:ext cx="439444"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210,000</a:t>
              </a:r>
            </a:p>
          </p:txBody>
        </p:sp>
        <p:sp>
          <p:nvSpPr>
            <p:cNvPr id="79" name="TextBox 79"/>
            <p:cNvSpPr txBox="1"/>
            <p:nvPr/>
          </p:nvSpPr>
          <p:spPr>
            <a:xfrm>
              <a:off x="4567238" y="201858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AUM规模（亿）</a:t>
              </a:r>
            </a:p>
          </p:txBody>
        </p:sp>
        <p:sp>
          <p:nvSpPr>
            <p:cNvPr id="80" name="TextBox 80"/>
            <p:cNvSpPr txBox="1"/>
            <p:nvPr/>
          </p:nvSpPr>
          <p:spPr>
            <a:xfrm>
              <a:off x="5240236" y="2010489"/>
              <a:ext cx="193776"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950</a:t>
              </a:r>
            </a:p>
          </p:txBody>
        </p:sp>
        <p:sp>
          <p:nvSpPr>
            <p:cNvPr id="81" name="TextBox 81"/>
            <p:cNvSpPr txBox="1"/>
            <p:nvPr/>
          </p:nvSpPr>
          <p:spPr>
            <a:xfrm>
              <a:off x="4567238" y="236148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人均AUM（万）</a:t>
              </a:r>
            </a:p>
          </p:txBody>
        </p:sp>
        <p:sp>
          <p:nvSpPr>
            <p:cNvPr id="82" name="TextBox 82"/>
            <p:cNvSpPr txBox="1"/>
            <p:nvPr/>
          </p:nvSpPr>
          <p:spPr>
            <a:xfrm>
              <a:off x="5301653" y="2353389"/>
              <a:ext cx="132359"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45</a:t>
              </a:r>
            </a:p>
          </p:txBody>
        </p:sp>
        <p:sp>
          <p:nvSpPr>
            <p:cNvPr id="83" name="TextBox 83"/>
            <p:cNvSpPr txBox="1"/>
            <p:nvPr/>
          </p:nvSpPr>
          <p:spPr>
            <a:xfrm>
              <a:off x="4567238" y="270438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金融需求强度</a:t>
              </a:r>
            </a:p>
          </p:txBody>
        </p:sp>
        <p:sp>
          <p:nvSpPr>
            <p:cNvPr id="84" name="TextBox 84"/>
            <p:cNvSpPr txBox="1"/>
            <p:nvPr/>
          </p:nvSpPr>
          <p:spPr>
            <a:xfrm>
              <a:off x="5318138" y="269628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高</a:t>
              </a:r>
            </a:p>
          </p:txBody>
        </p:sp>
        <p:sp>
          <p:nvSpPr>
            <p:cNvPr id="85" name="TextBox 85"/>
            <p:cNvSpPr txBox="1"/>
            <p:nvPr/>
          </p:nvSpPr>
          <p:spPr>
            <a:xfrm>
              <a:off x="4567238" y="3047286"/>
              <a:ext cx="39184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成长潜力</a:t>
              </a:r>
            </a:p>
          </p:txBody>
        </p:sp>
        <p:sp>
          <p:nvSpPr>
            <p:cNvPr id="86" name="TextBox 86"/>
            <p:cNvSpPr txBox="1"/>
            <p:nvPr/>
          </p:nvSpPr>
          <p:spPr>
            <a:xfrm>
              <a:off x="5318138" y="303918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高</a:t>
              </a:r>
            </a:p>
          </p:txBody>
        </p:sp>
        <p:sp>
          <p:nvSpPr>
            <p:cNvPr id="87" name="TextBox 87"/>
            <p:cNvSpPr txBox="1"/>
            <p:nvPr/>
          </p:nvSpPr>
          <p:spPr>
            <a:xfrm>
              <a:off x="4567238" y="3390186"/>
              <a:ext cx="48742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贡献度占比</a:t>
              </a:r>
            </a:p>
          </p:txBody>
        </p:sp>
        <p:sp>
          <p:nvSpPr>
            <p:cNvPr id="88" name="TextBox 88"/>
            <p:cNvSpPr txBox="1"/>
            <p:nvPr/>
          </p:nvSpPr>
          <p:spPr>
            <a:xfrm>
              <a:off x="5217903" y="3382089"/>
              <a:ext cx="216109"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20%</a:t>
              </a:r>
            </a:p>
          </p:txBody>
        </p:sp>
        <p:sp>
          <p:nvSpPr>
            <p:cNvPr id="89" name="Rectangle 89"/>
            <p:cNvSpPr/>
            <p:nvPr/>
          </p:nvSpPr>
          <p:spPr>
            <a:xfrm>
              <a:off x="5619750" y="914400"/>
              <a:ext cx="1047750" cy="2838450"/>
            </a:xfrm>
            <a:prstGeom prst="roundRect">
              <a:avLst>
                <a:gd name="adj" fmla="val 5455"/>
              </a:avLst>
            </a:prstGeom>
            <a:solidFill>
              <a:srgbClr val="FFF8F2"/>
            </a:solidFill>
            <a:ln w="9525">
              <a:solidFill>
                <a:srgbClr val="F0B8AE"/>
              </a:solidFill>
            </a:ln>
          </p:spPr>
        </p:sp>
        <p:sp>
          <p:nvSpPr>
            <p:cNvPr id="90" name="Ellipse 90"/>
            <p:cNvSpPr/>
            <p:nvPr/>
          </p:nvSpPr>
          <p:spPr>
            <a:xfrm>
              <a:off x="5676900" y="990600"/>
              <a:ext cx="190500" cy="190500"/>
            </a:xfrm>
            <a:prstGeom prst="ellipse">
              <a:avLst/>
            </a:prstGeom>
            <a:solidFill>
              <a:srgbClr val="D82000"/>
            </a:solidFill>
            <a:ln>
              <a:noFill/>
            </a:ln>
          </p:spPr>
        </p:sp>
        <p:sp>
          <p:nvSpPr>
            <p:cNvPr id="91" name="TextBox 91"/>
            <p:cNvSpPr txBox="1"/>
            <p:nvPr/>
          </p:nvSpPr>
          <p:spPr>
            <a:xfrm>
              <a:off x="5735513" y="10348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a:t>
              </a:r>
            </a:p>
          </p:txBody>
        </p:sp>
        <p:grpSp>
          <p:nvGrpSpPr>
            <p:cNvPr id="95" name="Group 95"/>
            <p:cNvGrpSpPr/>
            <p:nvPr/>
          </p:nvGrpSpPr>
          <p:grpSpPr>
            <a:xfrm>
              <a:off x="6317456" y="1021556"/>
              <a:ext cx="185737" cy="185737"/>
              <a:chOff x="6317456" y="1021556"/>
              <a:chExt cx="185737" cy="185737"/>
            </a:xfrm>
          </p:grpSpPr>
          <p:sp>
            <p:nvSpPr>
              <p:cNvPr id="92" name="Freeform 92"/>
              <p:cNvSpPr/>
              <p:nvPr/>
            </p:nvSpPr>
            <p:spPr>
              <a:xfrm>
                <a:off x="6317456" y="1021556"/>
                <a:ext cx="185737" cy="92868"/>
              </a:xfrm>
              <a:custGeom>
                <a:avLst/>
                <a:gdLst/>
                <a:ahLst/>
                <a:cxnLst/>
                <a:rect l="l" t="t" r="r" b="b"/>
                <a:pathLst>
                  <a:path w="185737" h="92868">
                    <a:moveTo>
                      <a:pt x="20637" y="92868"/>
                    </a:moveTo>
                    <a:lnTo>
                      <a:pt x="0" y="92868"/>
                    </a:lnTo>
                    <a:lnTo>
                      <a:pt x="92868" y="0"/>
                    </a:lnTo>
                    <a:lnTo>
                      <a:pt x="185737" y="92868"/>
                    </a:lnTo>
                    <a:lnTo>
                      <a:pt x="165099" y="92868"/>
                    </a:lnTo>
                  </a:path>
                </a:pathLst>
              </a:custGeom>
              <a:noFill/>
              <a:ln w="20637">
                <a:solidFill>
                  <a:srgbClr val="D82000"/>
                </a:solidFill>
              </a:ln>
            </p:spPr>
          </p:sp>
          <p:sp>
            <p:nvSpPr>
              <p:cNvPr id="93" name="Freeform 93"/>
              <p:cNvSpPr/>
              <p:nvPr/>
            </p:nvSpPr>
            <p:spPr>
              <a:xfrm>
                <a:off x="6338094" y="1114425"/>
                <a:ext cx="144462" cy="92868"/>
              </a:xfrm>
              <a:custGeom>
                <a:avLst/>
                <a:gdLst/>
                <a:ahLst/>
                <a:cxnLst/>
                <a:rect l="l" t="t" r="r" b="b"/>
                <a:pathLst>
                  <a:path w="144462" h="92868">
                    <a:moveTo>
                      <a:pt x="0" y="0"/>
                    </a:moveTo>
                    <a:lnTo>
                      <a:pt x="0" y="72231"/>
                    </a:lnTo>
                    <a:cubicBezTo>
                      <a:pt x="0" y="83629"/>
                      <a:pt x="9240" y="92868"/>
                      <a:pt x="20637" y="92868"/>
                    </a:cubicBezTo>
                    <a:lnTo>
                      <a:pt x="123825" y="92868"/>
                    </a:lnTo>
                    <a:cubicBezTo>
                      <a:pt x="135222" y="92868"/>
                      <a:pt x="144462" y="83629"/>
                      <a:pt x="144462" y="72231"/>
                    </a:cubicBezTo>
                    <a:lnTo>
                      <a:pt x="144462" y="0"/>
                    </a:lnTo>
                  </a:path>
                </a:pathLst>
              </a:custGeom>
              <a:noFill/>
              <a:ln w="20637">
                <a:solidFill>
                  <a:srgbClr val="D82000"/>
                </a:solidFill>
              </a:ln>
            </p:spPr>
          </p:sp>
          <p:sp>
            <p:nvSpPr>
              <p:cNvPr id="94" name="Freeform 94"/>
              <p:cNvSpPr/>
              <p:nvPr/>
            </p:nvSpPr>
            <p:spPr>
              <a:xfrm>
                <a:off x="6379368" y="1124743"/>
                <a:ext cx="61912" cy="82550"/>
              </a:xfrm>
              <a:custGeom>
                <a:avLst/>
                <a:gdLst/>
                <a:ahLst/>
                <a:cxnLst/>
                <a:rect l="l" t="t" r="r" b="b"/>
                <a:pathLst>
                  <a:path w="61912" h="82550">
                    <a:moveTo>
                      <a:pt x="0" y="82550"/>
                    </a:moveTo>
                    <a:lnTo>
                      <a:pt x="0" y="20637"/>
                    </a:lnTo>
                    <a:cubicBezTo>
                      <a:pt x="0" y="9240"/>
                      <a:pt x="9240" y="0"/>
                      <a:pt x="20637" y="0"/>
                    </a:cubicBezTo>
                    <a:lnTo>
                      <a:pt x="41275" y="0"/>
                    </a:lnTo>
                    <a:cubicBezTo>
                      <a:pt x="52673" y="0"/>
                      <a:pt x="61912" y="9240"/>
                      <a:pt x="61912" y="20637"/>
                    </a:cubicBezTo>
                    <a:lnTo>
                      <a:pt x="61912" y="82550"/>
                    </a:lnTo>
                  </a:path>
                </a:pathLst>
              </a:custGeom>
              <a:noFill/>
              <a:ln w="20637">
                <a:solidFill>
                  <a:srgbClr val="D82000"/>
                </a:solidFill>
              </a:ln>
            </p:spPr>
          </p:sp>
        </p:grpSp>
        <p:sp>
          <p:nvSpPr>
            <p:cNvPr id="96" name="TextBox 96"/>
            <p:cNvSpPr txBox="1"/>
            <p:nvPr/>
          </p:nvSpPr>
          <p:spPr>
            <a:xfrm>
              <a:off x="5885777" y="1346597"/>
              <a:ext cx="515696" cy="183356"/>
            </a:xfrm>
            <a:prstGeom prst="rect">
              <a:avLst/>
            </a:prstGeom>
            <a:noFill/>
            <a:ln>
              <a:noFill/>
            </a:ln>
          </p:spPr>
          <p:txBody>
            <a:bodyPr wrap="none" lIns="0" tIns="0" rIns="0" bIns="0" anchor="t" anchorCtr="0">
              <a:spAutoFit/>
            </a:bodyPr>
            <a:lstStyle/>
            <a:p>
              <a:pPr algn="ctr"/>
              <a:r>
                <a:rPr lang="zh-CN" sz="940" b="1" dirty="0">
                  <a:solidFill>
                    <a:srgbClr val="4A130A"/>
                  </a:solidFill>
                  <a:latin typeface="+mn-lt"/>
                  <a:ea typeface="+mn-ea"/>
                  <a:cs typeface="+mn-cs"/>
                </a:rPr>
                <a:t>家庭综合</a:t>
              </a:r>
            </a:p>
          </p:txBody>
        </p:sp>
        <p:sp>
          <p:nvSpPr>
            <p:cNvPr id="97" name="Line 97"/>
            <p:cNvSpPr/>
            <p:nvPr/>
          </p:nvSpPr>
          <p:spPr>
            <a:xfrm>
              <a:off x="5695950" y="1543050"/>
              <a:ext cx="895350" cy="9525"/>
            </a:xfrm>
            <a:custGeom>
              <a:avLst/>
              <a:gdLst/>
              <a:ahLst/>
              <a:cxnLst/>
              <a:rect l="l" t="t" r="r" b="b"/>
              <a:pathLst>
                <a:path w="895350" h="9525">
                  <a:moveTo>
                    <a:pt x="0" y="0"/>
                  </a:moveTo>
                  <a:lnTo>
                    <a:pt x="895350" y="0"/>
                  </a:lnTo>
                </a:path>
              </a:pathLst>
            </a:custGeom>
            <a:noFill/>
            <a:ln w="9525">
              <a:solidFill>
                <a:srgbClr val="F0B8AE"/>
              </a:solidFill>
            </a:ln>
          </p:spPr>
        </p:sp>
        <p:sp>
          <p:nvSpPr>
            <p:cNvPr id="98" name="TextBox 98"/>
            <p:cNvSpPr txBox="1"/>
            <p:nvPr/>
          </p:nvSpPr>
          <p:spPr>
            <a:xfrm>
              <a:off x="5710238" y="167568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客户数（人）</a:t>
              </a:r>
            </a:p>
          </p:txBody>
        </p:sp>
        <p:sp>
          <p:nvSpPr>
            <p:cNvPr id="99" name="TextBox 99"/>
            <p:cNvSpPr txBox="1"/>
            <p:nvPr/>
          </p:nvSpPr>
          <p:spPr>
            <a:xfrm>
              <a:off x="6137568" y="1667589"/>
              <a:ext cx="439444"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380,000</a:t>
              </a:r>
            </a:p>
          </p:txBody>
        </p:sp>
        <p:sp>
          <p:nvSpPr>
            <p:cNvPr id="100" name="TextBox 100"/>
            <p:cNvSpPr txBox="1"/>
            <p:nvPr/>
          </p:nvSpPr>
          <p:spPr>
            <a:xfrm>
              <a:off x="5710238" y="201858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AUM规模（亿）</a:t>
              </a:r>
            </a:p>
          </p:txBody>
        </p:sp>
        <p:sp>
          <p:nvSpPr>
            <p:cNvPr id="101" name="TextBox 101"/>
            <p:cNvSpPr txBox="1"/>
            <p:nvPr/>
          </p:nvSpPr>
          <p:spPr>
            <a:xfrm>
              <a:off x="6383236" y="2010489"/>
              <a:ext cx="193776"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760</a:t>
              </a:r>
            </a:p>
          </p:txBody>
        </p:sp>
        <p:sp>
          <p:nvSpPr>
            <p:cNvPr id="102" name="TextBox 102"/>
            <p:cNvSpPr txBox="1"/>
            <p:nvPr/>
          </p:nvSpPr>
          <p:spPr>
            <a:xfrm>
              <a:off x="5710238" y="236148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人均AUM（万）</a:t>
              </a:r>
            </a:p>
          </p:txBody>
        </p:sp>
        <p:sp>
          <p:nvSpPr>
            <p:cNvPr id="103" name="TextBox 103"/>
            <p:cNvSpPr txBox="1"/>
            <p:nvPr/>
          </p:nvSpPr>
          <p:spPr>
            <a:xfrm>
              <a:off x="6444653" y="2353389"/>
              <a:ext cx="132359"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20</a:t>
              </a:r>
            </a:p>
          </p:txBody>
        </p:sp>
        <p:sp>
          <p:nvSpPr>
            <p:cNvPr id="104" name="TextBox 104"/>
            <p:cNvSpPr txBox="1"/>
            <p:nvPr/>
          </p:nvSpPr>
          <p:spPr>
            <a:xfrm>
              <a:off x="5710238" y="270438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金融需求强度</a:t>
              </a:r>
            </a:p>
          </p:txBody>
        </p:sp>
        <p:sp>
          <p:nvSpPr>
            <p:cNvPr id="105" name="TextBox 105"/>
            <p:cNvSpPr txBox="1"/>
            <p:nvPr/>
          </p:nvSpPr>
          <p:spPr>
            <a:xfrm>
              <a:off x="6461138" y="269628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中</a:t>
              </a:r>
            </a:p>
          </p:txBody>
        </p:sp>
        <p:sp>
          <p:nvSpPr>
            <p:cNvPr id="106" name="TextBox 106"/>
            <p:cNvSpPr txBox="1"/>
            <p:nvPr/>
          </p:nvSpPr>
          <p:spPr>
            <a:xfrm>
              <a:off x="5710238" y="3047286"/>
              <a:ext cx="39184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成长潜力</a:t>
              </a:r>
            </a:p>
          </p:txBody>
        </p:sp>
        <p:sp>
          <p:nvSpPr>
            <p:cNvPr id="107" name="TextBox 107"/>
            <p:cNvSpPr txBox="1"/>
            <p:nvPr/>
          </p:nvSpPr>
          <p:spPr>
            <a:xfrm>
              <a:off x="6461138" y="303918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高</a:t>
              </a:r>
            </a:p>
          </p:txBody>
        </p:sp>
        <p:sp>
          <p:nvSpPr>
            <p:cNvPr id="108" name="TextBox 108"/>
            <p:cNvSpPr txBox="1"/>
            <p:nvPr/>
          </p:nvSpPr>
          <p:spPr>
            <a:xfrm>
              <a:off x="5710238" y="3390186"/>
              <a:ext cx="48742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贡献度占比</a:t>
              </a:r>
            </a:p>
          </p:txBody>
        </p:sp>
        <p:sp>
          <p:nvSpPr>
            <p:cNvPr id="109" name="TextBox 109"/>
            <p:cNvSpPr txBox="1"/>
            <p:nvPr/>
          </p:nvSpPr>
          <p:spPr>
            <a:xfrm>
              <a:off x="6360903" y="3382089"/>
              <a:ext cx="216109"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18%</a:t>
              </a:r>
            </a:p>
          </p:txBody>
        </p:sp>
        <p:sp>
          <p:nvSpPr>
            <p:cNvPr id="110" name="Rectangle 110"/>
            <p:cNvSpPr/>
            <p:nvPr/>
          </p:nvSpPr>
          <p:spPr>
            <a:xfrm>
              <a:off x="3333750" y="3867150"/>
              <a:ext cx="1047750" cy="2838450"/>
            </a:xfrm>
            <a:prstGeom prst="roundRect">
              <a:avLst>
                <a:gd name="adj" fmla="val 5455"/>
              </a:avLst>
            </a:prstGeom>
            <a:solidFill>
              <a:srgbClr val="FFF8F2"/>
            </a:solidFill>
            <a:ln w="9525">
              <a:solidFill>
                <a:srgbClr val="F0B8AE"/>
              </a:solidFill>
            </a:ln>
          </p:spPr>
        </p:sp>
        <p:sp>
          <p:nvSpPr>
            <p:cNvPr id="111" name="Ellipse 111"/>
            <p:cNvSpPr/>
            <p:nvPr/>
          </p:nvSpPr>
          <p:spPr>
            <a:xfrm>
              <a:off x="3390900" y="3943350"/>
              <a:ext cx="190500" cy="190500"/>
            </a:xfrm>
            <a:prstGeom prst="ellipse">
              <a:avLst/>
            </a:prstGeom>
            <a:solidFill>
              <a:srgbClr val="D82000"/>
            </a:solidFill>
            <a:ln>
              <a:noFill/>
            </a:ln>
          </p:spPr>
        </p:sp>
        <p:sp>
          <p:nvSpPr>
            <p:cNvPr id="112" name="TextBox 112"/>
            <p:cNvSpPr txBox="1"/>
            <p:nvPr/>
          </p:nvSpPr>
          <p:spPr>
            <a:xfrm>
              <a:off x="3449513" y="398764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4</a:t>
              </a:r>
            </a:p>
          </p:txBody>
        </p:sp>
        <p:grpSp>
          <p:nvGrpSpPr>
            <p:cNvPr id="116" name="Group 116"/>
            <p:cNvGrpSpPr/>
            <p:nvPr/>
          </p:nvGrpSpPr>
          <p:grpSpPr>
            <a:xfrm>
              <a:off x="4031456" y="3994944"/>
              <a:ext cx="185737" cy="144461"/>
              <a:chOff x="4031456" y="3994944"/>
              <a:chExt cx="185737" cy="144461"/>
            </a:xfrm>
          </p:grpSpPr>
          <p:sp>
            <p:nvSpPr>
              <p:cNvPr id="113" name="Freeform 113"/>
              <p:cNvSpPr/>
              <p:nvPr/>
            </p:nvSpPr>
            <p:spPr>
              <a:xfrm>
                <a:off x="4031456" y="3994944"/>
                <a:ext cx="144462" cy="103187"/>
              </a:xfrm>
              <a:custGeom>
                <a:avLst/>
                <a:gdLst/>
                <a:ahLst/>
                <a:cxnLst/>
                <a:rect l="l" t="t" r="r" b="b"/>
                <a:pathLst>
                  <a:path w="144462" h="103187">
                    <a:moveTo>
                      <a:pt x="41275" y="103187"/>
                    </a:moveTo>
                    <a:lnTo>
                      <a:pt x="10319" y="103187"/>
                    </a:lnTo>
                    <a:cubicBezTo>
                      <a:pt x="4620" y="103187"/>
                      <a:pt x="0" y="98567"/>
                      <a:pt x="0" y="92868"/>
                    </a:cubicBezTo>
                    <a:lnTo>
                      <a:pt x="0" y="10319"/>
                    </a:lnTo>
                    <a:cubicBezTo>
                      <a:pt x="0" y="4620"/>
                      <a:pt x="4620" y="0"/>
                      <a:pt x="10319" y="0"/>
                    </a:cubicBezTo>
                    <a:lnTo>
                      <a:pt x="134143" y="0"/>
                    </a:lnTo>
                    <a:cubicBezTo>
                      <a:pt x="139842" y="0"/>
                      <a:pt x="144462" y="4620"/>
                      <a:pt x="144462" y="10319"/>
                    </a:cubicBezTo>
                    <a:lnTo>
                      <a:pt x="144462" y="41275"/>
                    </a:lnTo>
                  </a:path>
                </a:pathLst>
              </a:custGeom>
              <a:noFill/>
              <a:ln w="20637">
                <a:solidFill>
                  <a:srgbClr val="D82000"/>
                </a:solidFill>
              </a:ln>
            </p:spPr>
          </p:sp>
          <p:sp>
            <p:nvSpPr>
              <p:cNvPr id="114" name="Freeform 114"/>
              <p:cNvSpPr/>
              <p:nvPr/>
            </p:nvSpPr>
            <p:spPr>
              <a:xfrm>
                <a:off x="4072731" y="4036218"/>
                <a:ext cx="144462" cy="103187"/>
              </a:xfrm>
              <a:custGeom>
                <a:avLst/>
                <a:gdLst/>
                <a:ahLst/>
                <a:cxnLst/>
                <a:rect l="l" t="t" r="r" b="b"/>
                <a:pathLst>
                  <a:path w="144462" h="103187">
                    <a:moveTo>
                      <a:pt x="0" y="10319"/>
                    </a:moveTo>
                    <a:cubicBezTo>
                      <a:pt x="0" y="4620"/>
                      <a:pt x="4620" y="0"/>
                      <a:pt x="10319" y="0"/>
                    </a:cubicBezTo>
                    <a:lnTo>
                      <a:pt x="134143" y="0"/>
                    </a:lnTo>
                    <a:cubicBezTo>
                      <a:pt x="139842" y="0"/>
                      <a:pt x="144462" y="4620"/>
                      <a:pt x="144462" y="10319"/>
                    </a:cubicBezTo>
                    <a:lnTo>
                      <a:pt x="144462" y="92868"/>
                    </a:lnTo>
                    <a:cubicBezTo>
                      <a:pt x="144462" y="98567"/>
                      <a:pt x="139842" y="103187"/>
                      <a:pt x="134143" y="103187"/>
                    </a:cubicBezTo>
                    <a:lnTo>
                      <a:pt x="10319" y="103187"/>
                    </a:lnTo>
                    <a:cubicBezTo>
                      <a:pt x="4620" y="103187"/>
                      <a:pt x="0" y="98567"/>
                      <a:pt x="0" y="92868"/>
                    </a:cubicBezTo>
                    <a:lnTo>
                      <a:pt x="0" y="10319"/>
                    </a:lnTo>
                  </a:path>
                </a:pathLst>
              </a:custGeom>
              <a:noFill/>
              <a:ln w="20637">
                <a:solidFill>
                  <a:srgbClr val="D82000"/>
                </a:solidFill>
              </a:ln>
            </p:spPr>
          </p:sp>
          <p:sp>
            <p:nvSpPr>
              <p:cNvPr id="115" name="Freeform 115"/>
              <p:cNvSpPr/>
              <p:nvPr/>
            </p:nvSpPr>
            <p:spPr>
              <a:xfrm>
                <a:off x="4124325" y="4067175"/>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D82000"/>
                </a:solidFill>
              </a:ln>
            </p:spPr>
          </p:sp>
        </p:grpSp>
        <p:sp>
          <p:nvSpPr>
            <p:cNvPr id="117" name="TextBox 117"/>
            <p:cNvSpPr txBox="1"/>
            <p:nvPr/>
          </p:nvSpPr>
          <p:spPr>
            <a:xfrm>
              <a:off x="3599777" y="4299347"/>
              <a:ext cx="515696" cy="183356"/>
            </a:xfrm>
            <a:prstGeom prst="rect">
              <a:avLst/>
            </a:prstGeom>
            <a:noFill/>
            <a:ln>
              <a:noFill/>
            </a:ln>
          </p:spPr>
          <p:txBody>
            <a:bodyPr wrap="none" lIns="0" tIns="0" rIns="0" bIns="0" anchor="t" anchorCtr="0">
              <a:spAutoFit/>
            </a:bodyPr>
            <a:lstStyle/>
            <a:p>
              <a:pPr algn="ctr"/>
              <a:r>
                <a:rPr lang="zh-CN" sz="940" b="1" dirty="0">
                  <a:solidFill>
                    <a:srgbClr val="4A130A"/>
                  </a:solidFill>
                  <a:latin typeface="+mn-lt"/>
                  <a:ea typeface="+mn-ea"/>
                  <a:cs typeface="+mn-cs"/>
                </a:rPr>
                <a:t>信贷活跃</a:t>
              </a:r>
            </a:p>
          </p:txBody>
        </p:sp>
        <p:sp>
          <p:nvSpPr>
            <p:cNvPr id="118" name="Line 118"/>
            <p:cNvSpPr/>
            <p:nvPr/>
          </p:nvSpPr>
          <p:spPr>
            <a:xfrm>
              <a:off x="3409950" y="4495800"/>
              <a:ext cx="895350" cy="9525"/>
            </a:xfrm>
            <a:custGeom>
              <a:avLst/>
              <a:gdLst/>
              <a:ahLst/>
              <a:cxnLst/>
              <a:rect l="l" t="t" r="r" b="b"/>
              <a:pathLst>
                <a:path w="895350" h="9525">
                  <a:moveTo>
                    <a:pt x="0" y="0"/>
                  </a:moveTo>
                  <a:lnTo>
                    <a:pt x="895350" y="0"/>
                  </a:lnTo>
                </a:path>
              </a:pathLst>
            </a:custGeom>
            <a:noFill/>
            <a:ln w="9525">
              <a:solidFill>
                <a:srgbClr val="F0B8AE"/>
              </a:solidFill>
            </a:ln>
          </p:spPr>
        </p:sp>
        <p:sp>
          <p:nvSpPr>
            <p:cNvPr id="119" name="TextBox 119"/>
            <p:cNvSpPr txBox="1"/>
            <p:nvPr/>
          </p:nvSpPr>
          <p:spPr>
            <a:xfrm>
              <a:off x="3424238" y="462843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客户数（人）</a:t>
              </a:r>
            </a:p>
          </p:txBody>
        </p:sp>
        <p:sp>
          <p:nvSpPr>
            <p:cNvPr id="120" name="TextBox 120"/>
            <p:cNvSpPr txBox="1"/>
            <p:nvPr/>
          </p:nvSpPr>
          <p:spPr>
            <a:xfrm>
              <a:off x="3851568" y="4620339"/>
              <a:ext cx="439444"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240,000</a:t>
              </a:r>
            </a:p>
          </p:txBody>
        </p:sp>
        <p:sp>
          <p:nvSpPr>
            <p:cNvPr id="121" name="TextBox 121"/>
            <p:cNvSpPr txBox="1"/>
            <p:nvPr/>
          </p:nvSpPr>
          <p:spPr>
            <a:xfrm>
              <a:off x="3424238" y="497133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AUM规模（亿）</a:t>
              </a:r>
            </a:p>
          </p:txBody>
        </p:sp>
        <p:sp>
          <p:nvSpPr>
            <p:cNvPr id="122" name="TextBox 122"/>
            <p:cNvSpPr txBox="1"/>
            <p:nvPr/>
          </p:nvSpPr>
          <p:spPr>
            <a:xfrm>
              <a:off x="4097236" y="4963239"/>
              <a:ext cx="193776"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540</a:t>
              </a:r>
            </a:p>
          </p:txBody>
        </p:sp>
        <p:sp>
          <p:nvSpPr>
            <p:cNvPr id="123" name="TextBox 123"/>
            <p:cNvSpPr txBox="1"/>
            <p:nvPr/>
          </p:nvSpPr>
          <p:spPr>
            <a:xfrm>
              <a:off x="3424238" y="531423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人均AUM（万）</a:t>
              </a:r>
            </a:p>
          </p:txBody>
        </p:sp>
        <p:sp>
          <p:nvSpPr>
            <p:cNvPr id="124" name="TextBox 124"/>
            <p:cNvSpPr txBox="1"/>
            <p:nvPr/>
          </p:nvSpPr>
          <p:spPr>
            <a:xfrm>
              <a:off x="4158653" y="5306139"/>
              <a:ext cx="132359"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22</a:t>
              </a:r>
            </a:p>
          </p:txBody>
        </p:sp>
        <p:sp>
          <p:nvSpPr>
            <p:cNvPr id="125" name="TextBox 125"/>
            <p:cNvSpPr txBox="1"/>
            <p:nvPr/>
          </p:nvSpPr>
          <p:spPr>
            <a:xfrm>
              <a:off x="3424238" y="565713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金融需求强度</a:t>
              </a:r>
            </a:p>
          </p:txBody>
        </p:sp>
        <p:sp>
          <p:nvSpPr>
            <p:cNvPr id="126" name="TextBox 126"/>
            <p:cNvSpPr txBox="1"/>
            <p:nvPr/>
          </p:nvSpPr>
          <p:spPr>
            <a:xfrm>
              <a:off x="4175138" y="564903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高</a:t>
              </a:r>
            </a:p>
          </p:txBody>
        </p:sp>
        <p:sp>
          <p:nvSpPr>
            <p:cNvPr id="127" name="TextBox 127"/>
            <p:cNvSpPr txBox="1"/>
            <p:nvPr/>
          </p:nvSpPr>
          <p:spPr>
            <a:xfrm>
              <a:off x="3424238" y="6000036"/>
              <a:ext cx="39184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成长潜力</a:t>
              </a:r>
            </a:p>
          </p:txBody>
        </p:sp>
        <p:sp>
          <p:nvSpPr>
            <p:cNvPr id="128" name="TextBox 128"/>
            <p:cNvSpPr txBox="1"/>
            <p:nvPr/>
          </p:nvSpPr>
          <p:spPr>
            <a:xfrm>
              <a:off x="4175138" y="599193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中</a:t>
              </a:r>
            </a:p>
          </p:txBody>
        </p:sp>
        <p:sp>
          <p:nvSpPr>
            <p:cNvPr id="129" name="TextBox 129"/>
            <p:cNvSpPr txBox="1"/>
            <p:nvPr/>
          </p:nvSpPr>
          <p:spPr>
            <a:xfrm>
              <a:off x="3424238" y="6342936"/>
              <a:ext cx="48742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贡献度占比</a:t>
              </a:r>
            </a:p>
          </p:txBody>
        </p:sp>
        <p:sp>
          <p:nvSpPr>
            <p:cNvPr id="130" name="TextBox 130"/>
            <p:cNvSpPr txBox="1"/>
            <p:nvPr/>
          </p:nvSpPr>
          <p:spPr>
            <a:xfrm>
              <a:off x="4074903" y="6334839"/>
              <a:ext cx="216109"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15%</a:t>
              </a:r>
            </a:p>
          </p:txBody>
        </p:sp>
        <p:sp>
          <p:nvSpPr>
            <p:cNvPr id="131" name="Rectangle 131"/>
            <p:cNvSpPr/>
            <p:nvPr/>
          </p:nvSpPr>
          <p:spPr>
            <a:xfrm>
              <a:off x="4476750" y="3867150"/>
              <a:ext cx="1047750" cy="2838450"/>
            </a:xfrm>
            <a:prstGeom prst="roundRect">
              <a:avLst>
                <a:gd name="adj" fmla="val 5455"/>
              </a:avLst>
            </a:prstGeom>
            <a:solidFill>
              <a:srgbClr val="FFF8F2"/>
            </a:solidFill>
            <a:ln w="9525">
              <a:solidFill>
                <a:srgbClr val="F0B8AE"/>
              </a:solidFill>
            </a:ln>
          </p:spPr>
        </p:sp>
        <p:sp>
          <p:nvSpPr>
            <p:cNvPr id="132" name="Ellipse 132"/>
            <p:cNvSpPr/>
            <p:nvPr/>
          </p:nvSpPr>
          <p:spPr>
            <a:xfrm>
              <a:off x="4533900" y="3943350"/>
              <a:ext cx="190500" cy="190500"/>
            </a:xfrm>
            <a:prstGeom prst="ellipse">
              <a:avLst/>
            </a:prstGeom>
            <a:solidFill>
              <a:srgbClr val="D82000"/>
            </a:solidFill>
            <a:ln>
              <a:noFill/>
            </a:ln>
          </p:spPr>
        </p:sp>
        <p:sp>
          <p:nvSpPr>
            <p:cNvPr id="133" name="TextBox 133"/>
            <p:cNvSpPr txBox="1"/>
            <p:nvPr/>
          </p:nvSpPr>
          <p:spPr>
            <a:xfrm>
              <a:off x="4592513" y="398764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5</a:t>
              </a:r>
            </a:p>
          </p:txBody>
        </p:sp>
        <p:grpSp>
          <p:nvGrpSpPr>
            <p:cNvPr id="138" name="Group 138"/>
            <p:cNvGrpSpPr/>
            <p:nvPr/>
          </p:nvGrpSpPr>
          <p:grpSpPr>
            <a:xfrm>
              <a:off x="5174456" y="3994944"/>
              <a:ext cx="185737" cy="144462"/>
              <a:chOff x="5174456" y="3994944"/>
              <a:chExt cx="185737" cy="144462"/>
            </a:xfrm>
          </p:grpSpPr>
          <p:sp>
            <p:nvSpPr>
              <p:cNvPr id="134" name="Freeform 134"/>
              <p:cNvSpPr/>
              <p:nvPr/>
            </p:nvSpPr>
            <p:spPr>
              <a:xfrm>
                <a:off x="5174456" y="3994944"/>
                <a:ext cx="185737" cy="144462"/>
              </a:xfrm>
              <a:custGeom>
                <a:avLst/>
                <a:gdLst/>
                <a:ahLst/>
                <a:cxnLst/>
                <a:rect l="l" t="t" r="r" b="b"/>
                <a:pathLst>
                  <a:path w="185737" h="144462">
                    <a:moveTo>
                      <a:pt x="0" y="30956"/>
                    </a:moveTo>
                    <a:cubicBezTo>
                      <a:pt x="0" y="13860"/>
                      <a:pt x="13860" y="0"/>
                      <a:pt x="30956" y="0"/>
                    </a:cubicBezTo>
                    <a:lnTo>
                      <a:pt x="154781" y="0"/>
                    </a:lnTo>
                    <a:cubicBezTo>
                      <a:pt x="171877" y="0"/>
                      <a:pt x="185737" y="13860"/>
                      <a:pt x="185737" y="30956"/>
                    </a:cubicBezTo>
                    <a:lnTo>
                      <a:pt x="185737" y="113506"/>
                    </a:lnTo>
                    <a:cubicBezTo>
                      <a:pt x="185737" y="130603"/>
                      <a:pt x="171877" y="144462"/>
                      <a:pt x="154781" y="144462"/>
                    </a:cubicBezTo>
                    <a:lnTo>
                      <a:pt x="30956" y="144462"/>
                    </a:lnTo>
                    <a:cubicBezTo>
                      <a:pt x="13860" y="144462"/>
                      <a:pt x="0" y="130603"/>
                      <a:pt x="0" y="113506"/>
                    </a:cubicBezTo>
                    <a:lnTo>
                      <a:pt x="0" y="30956"/>
                    </a:lnTo>
                  </a:path>
                </a:pathLst>
              </a:custGeom>
              <a:noFill/>
              <a:ln w="20637">
                <a:solidFill>
                  <a:srgbClr val="D82000"/>
                </a:solidFill>
              </a:ln>
            </p:spPr>
          </p:sp>
          <p:sp>
            <p:nvSpPr>
              <p:cNvPr id="135" name="Freeform 135"/>
              <p:cNvSpPr/>
              <p:nvPr/>
            </p:nvSpPr>
            <p:spPr>
              <a:xfrm>
                <a:off x="5174456" y="4046537"/>
                <a:ext cx="185737" cy="9525"/>
              </a:xfrm>
              <a:custGeom>
                <a:avLst/>
                <a:gdLst/>
                <a:ahLst/>
                <a:cxnLst/>
                <a:rect l="l" t="t" r="r" b="b"/>
                <a:pathLst>
                  <a:path w="185737" h="9525">
                    <a:moveTo>
                      <a:pt x="0" y="0"/>
                    </a:moveTo>
                    <a:lnTo>
                      <a:pt x="185737" y="0"/>
                    </a:lnTo>
                  </a:path>
                </a:pathLst>
              </a:custGeom>
              <a:noFill/>
              <a:ln w="20637">
                <a:solidFill>
                  <a:srgbClr val="D82000"/>
                </a:solidFill>
              </a:ln>
            </p:spPr>
          </p:sp>
          <p:sp>
            <p:nvSpPr>
              <p:cNvPr id="136" name="Freeform 136"/>
              <p:cNvSpPr/>
              <p:nvPr/>
            </p:nvSpPr>
            <p:spPr>
              <a:xfrm>
                <a:off x="5215731" y="4098131"/>
                <a:ext cx="9525" cy="9525"/>
              </a:xfrm>
              <a:custGeom>
                <a:avLst/>
                <a:gdLst/>
                <a:ahLst/>
                <a:cxnLst/>
                <a:rect l="l" t="t" r="r" b="b"/>
                <a:pathLst>
                  <a:path w="9525" h="9525">
                    <a:moveTo>
                      <a:pt x="0" y="0"/>
                    </a:moveTo>
                    <a:lnTo>
                      <a:pt x="103" y="0"/>
                    </a:lnTo>
                  </a:path>
                </a:pathLst>
              </a:custGeom>
              <a:noFill/>
              <a:ln w="20637">
                <a:solidFill>
                  <a:srgbClr val="D82000"/>
                </a:solidFill>
              </a:ln>
            </p:spPr>
          </p:sp>
          <p:sp>
            <p:nvSpPr>
              <p:cNvPr id="137" name="Freeform 137"/>
              <p:cNvSpPr/>
              <p:nvPr/>
            </p:nvSpPr>
            <p:spPr>
              <a:xfrm>
                <a:off x="5257006" y="4098131"/>
                <a:ext cx="20637" cy="9525"/>
              </a:xfrm>
              <a:custGeom>
                <a:avLst/>
                <a:gdLst/>
                <a:ahLst/>
                <a:cxnLst/>
                <a:rect l="l" t="t" r="r" b="b"/>
                <a:pathLst>
                  <a:path w="20637" h="9525">
                    <a:moveTo>
                      <a:pt x="0" y="0"/>
                    </a:moveTo>
                    <a:lnTo>
                      <a:pt x="20637" y="0"/>
                    </a:lnTo>
                  </a:path>
                </a:pathLst>
              </a:custGeom>
              <a:noFill/>
              <a:ln w="20637">
                <a:solidFill>
                  <a:srgbClr val="D82000"/>
                </a:solidFill>
              </a:ln>
            </p:spPr>
          </p:sp>
        </p:grpSp>
        <p:sp>
          <p:nvSpPr>
            <p:cNvPr id="139" name="TextBox 139"/>
            <p:cNvSpPr txBox="1"/>
            <p:nvPr/>
          </p:nvSpPr>
          <p:spPr>
            <a:xfrm>
              <a:off x="4742777" y="4299347"/>
              <a:ext cx="515696" cy="183356"/>
            </a:xfrm>
            <a:prstGeom prst="rect">
              <a:avLst/>
            </a:prstGeom>
            <a:noFill/>
            <a:ln>
              <a:noFill/>
            </a:ln>
          </p:spPr>
          <p:txBody>
            <a:bodyPr wrap="none" lIns="0" tIns="0" rIns="0" bIns="0" anchor="t" anchorCtr="0">
              <a:spAutoFit/>
            </a:bodyPr>
            <a:lstStyle/>
            <a:p>
              <a:pPr algn="ctr"/>
              <a:r>
                <a:rPr lang="zh-CN" sz="940" b="1" dirty="0">
                  <a:solidFill>
                    <a:srgbClr val="4A130A"/>
                  </a:solidFill>
                  <a:latin typeface="+mn-lt"/>
                  <a:ea typeface="+mn-ea"/>
                  <a:cs typeface="+mn-cs"/>
                </a:rPr>
                <a:t>支付高频</a:t>
              </a:r>
            </a:p>
          </p:txBody>
        </p:sp>
        <p:sp>
          <p:nvSpPr>
            <p:cNvPr id="140" name="Line 140"/>
            <p:cNvSpPr/>
            <p:nvPr/>
          </p:nvSpPr>
          <p:spPr>
            <a:xfrm>
              <a:off x="4552950" y="4495800"/>
              <a:ext cx="895350" cy="9525"/>
            </a:xfrm>
            <a:custGeom>
              <a:avLst/>
              <a:gdLst/>
              <a:ahLst/>
              <a:cxnLst/>
              <a:rect l="l" t="t" r="r" b="b"/>
              <a:pathLst>
                <a:path w="895350" h="9525">
                  <a:moveTo>
                    <a:pt x="0" y="0"/>
                  </a:moveTo>
                  <a:lnTo>
                    <a:pt x="895350" y="0"/>
                  </a:lnTo>
                </a:path>
              </a:pathLst>
            </a:custGeom>
            <a:noFill/>
            <a:ln w="9525">
              <a:solidFill>
                <a:srgbClr val="F0B8AE"/>
              </a:solidFill>
            </a:ln>
          </p:spPr>
        </p:sp>
        <p:sp>
          <p:nvSpPr>
            <p:cNvPr id="141" name="TextBox 141"/>
            <p:cNvSpPr txBox="1"/>
            <p:nvPr/>
          </p:nvSpPr>
          <p:spPr>
            <a:xfrm>
              <a:off x="4567238" y="462843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客户数（人）</a:t>
              </a:r>
            </a:p>
          </p:txBody>
        </p:sp>
        <p:sp>
          <p:nvSpPr>
            <p:cNvPr id="142" name="TextBox 142"/>
            <p:cNvSpPr txBox="1"/>
            <p:nvPr/>
          </p:nvSpPr>
          <p:spPr>
            <a:xfrm>
              <a:off x="4994568" y="4620339"/>
              <a:ext cx="439444"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560,000</a:t>
              </a:r>
            </a:p>
          </p:txBody>
        </p:sp>
        <p:sp>
          <p:nvSpPr>
            <p:cNvPr id="143" name="TextBox 143"/>
            <p:cNvSpPr txBox="1"/>
            <p:nvPr/>
          </p:nvSpPr>
          <p:spPr>
            <a:xfrm>
              <a:off x="4567238" y="497133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AUM规模（亿）</a:t>
              </a:r>
            </a:p>
          </p:txBody>
        </p:sp>
        <p:sp>
          <p:nvSpPr>
            <p:cNvPr id="144" name="TextBox 144"/>
            <p:cNvSpPr txBox="1"/>
            <p:nvPr/>
          </p:nvSpPr>
          <p:spPr>
            <a:xfrm>
              <a:off x="5240236" y="4963239"/>
              <a:ext cx="193776"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280</a:t>
              </a:r>
            </a:p>
          </p:txBody>
        </p:sp>
        <p:sp>
          <p:nvSpPr>
            <p:cNvPr id="145" name="TextBox 145"/>
            <p:cNvSpPr txBox="1"/>
            <p:nvPr/>
          </p:nvSpPr>
          <p:spPr>
            <a:xfrm>
              <a:off x="4567238" y="531423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人均AUM（万）</a:t>
              </a:r>
            </a:p>
          </p:txBody>
        </p:sp>
        <p:sp>
          <p:nvSpPr>
            <p:cNvPr id="146" name="TextBox 146"/>
            <p:cNvSpPr txBox="1"/>
            <p:nvPr/>
          </p:nvSpPr>
          <p:spPr>
            <a:xfrm>
              <a:off x="5363070" y="5306139"/>
              <a:ext cx="70942"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5</a:t>
              </a:r>
            </a:p>
          </p:txBody>
        </p:sp>
        <p:sp>
          <p:nvSpPr>
            <p:cNvPr id="147" name="TextBox 147"/>
            <p:cNvSpPr txBox="1"/>
            <p:nvPr/>
          </p:nvSpPr>
          <p:spPr>
            <a:xfrm>
              <a:off x="4567238" y="565713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金融需求强度</a:t>
              </a:r>
            </a:p>
          </p:txBody>
        </p:sp>
        <p:sp>
          <p:nvSpPr>
            <p:cNvPr id="148" name="TextBox 148"/>
            <p:cNvSpPr txBox="1"/>
            <p:nvPr/>
          </p:nvSpPr>
          <p:spPr>
            <a:xfrm>
              <a:off x="5150371" y="5649039"/>
              <a:ext cx="283642"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低-中</a:t>
              </a:r>
            </a:p>
          </p:txBody>
        </p:sp>
        <p:sp>
          <p:nvSpPr>
            <p:cNvPr id="149" name="TextBox 149"/>
            <p:cNvSpPr txBox="1"/>
            <p:nvPr/>
          </p:nvSpPr>
          <p:spPr>
            <a:xfrm>
              <a:off x="4567238" y="6000036"/>
              <a:ext cx="39184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成长潜力</a:t>
              </a:r>
            </a:p>
          </p:txBody>
        </p:sp>
        <p:sp>
          <p:nvSpPr>
            <p:cNvPr id="150" name="TextBox 150"/>
            <p:cNvSpPr txBox="1"/>
            <p:nvPr/>
          </p:nvSpPr>
          <p:spPr>
            <a:xfrm>
              <a:off x="5318138" y="599193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中</a:t>
              </a:r>
            </a:p>
          </p:txBody>
        </p:sp>
        <p:sp>
          <p:nvSpPr>
            <p:cNvPr id="151" name="TextBox 151"/>
            <p:cNvSpPr txBox="1"/>
            <p:nvPr/>
          </p:nvSpPr>
          <p:spPr>
            <a:xfrm>
              <a:off x="4567238" y="6342936"/>
              <a:ext cx="48742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贡献度占比</a:t>
              </a:r>
            </a:p>
          </p:txBody>
        </p:sp>
        <p:sp>
          <p:nvSpPr>
            <p:cNvPr id="152" name="TextBox 152"/>
            <p:cNvSpPr txBox="1"/>
            <p:nvPr/>
          </p:nvSpPr>
          <p:spPr>
            <a:xfrm>
              <a:off x="5217903" y="6334839"/>
              <a:ext cx="216109"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12%</a:t>
              </a:r>
            </a:p>
          </p:txBody>
        </p:sp>
        <p:sp>
          <p:nvSpPr>
            <p:cNvPr id="153" name="Rectangle 153"/>
            <p:cNvSpPr/>
            <p:nvPr/>
          </p:nvSpPr>
          <p:spPr>
            <a:xfrm>
              <a:off x="5619750" y="3867150"/>
              <a:ext cx="1047750" cy="2838450"/>
            </a:xfrm>
            <a:prstGeom prst="roundRect">
              <a:avLst>
                <a:gd name="adj" fmla="val 5455"/>
              </a:avLst>
            </a:prstGeom>
            <a:solidFill>
              <a:srgbClr val="FFF8F2"/>
            </a:solidFill>
            <a:ln w="9525">
              <a:solidFill>
                <a:srgbClr val="F0B8AE"/>
              </a:solidFill>
            </a:ln>
          </p:spPr>
        </p:sp>
        <p:sp>
          <p:nvSpPr>
            <p:cNvPr id="154" name="Ellipse 154"/>
            <p:cNvSpPr/>
            <p:nvPr/>
          </p:nvSpPr>
          <p:spPr>
            <a:xfrm>
              <a:off x="5676900" y="3943350"/>
              <a:ext cx="190500" cy="190500"/>
            </a:xfrm>
            <a:prstGeom prst="ellipse">
              <a:avLst/>
            </a:prstGeom>
            <a:solidFill>
              <a:srgbClr val="D82000"/>
            </a:solidFill>
            <a:ln>
              <a:noFill/>
            </a:ln>
          </p:spPr>
        </p:sp>
        <p:sp>
          <p:nvSpPr>
            <p:cNvPr id="155" name="TextBox 155"/>
            <p:cNvSpPr txBox="1"/>
            <p:nvPr/>
          </p:nvSpPr>
          <p:spPr>
            <a:xfrm>
              <a:off x="5735513" y="398764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6</a:t>
              </a:r>
            </a:p>
          </p:txBody>
        </p:sp>
        <p:grpSp>
          <p:nvGrpSpPr>
            <p:cNvPr id="160" name="Group 160"/>
            <p:cNvGrpSpPr/>
            <p:nvPr/>
          </p:nvGrpSpPr>
          <p:grpSpPr>
            <a:xfrm>
              <a:off x="6317456" y="3974306"/>
              <a:ext cx="185737" cy="185738"/>
              <a:chOff x="6317456" y="3974306"/>
              <a:chExt cx="185737" cy="185738"/>
            </a:xfrm>
          </p:grpSpPr>
          <p:sp>
            <p:nvSpPr>
              <p:cNvPr id="156" name="Freeform 156"/>
              <p:cNvSpPr/>
              <p:nvPr/>
            </p:nvSpPr>
            <p:spPr>
              <a:xfrm>
                <a:off x="6338094" y="39743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D82000"/>
                </a:solidFill>
              </a:ln>
            </p:spPr>
          </p:sp>
          <p:sp>
            <p:nvSpPr>
              <p:cNvPr id="157" name="Freeform 157"/>
              <p:cNvSpPr/>
              <p:nvPr/>
            </p:nvSpPr>
            <p:spPr>
              <a:xfrm>
                <a:off x="6317456" y="409813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D82000"/>
                </a:solidFill>
              </a:ln>
            </p:spPr>
          </p:sp>
          <p:sp>
            <p:nvSpPr>
              <p:cNvPr id="158" name="Freeform 158"/>
              <p:cNvSpPr/>
              <p:nvPr/>
            </p:nvSpPr>
            <p:spPr>
              <a:xfrm>
                <a:off x="6451599" y="397564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D82000"/>
                </a:solidFill>
              </a:ln>
            </p:spPr>
          </p:sp>
          <p:sp>
            <p:nvSpPr>
              <p:cNvPr id="159" name="Freeform 159"/>
              <p:cNvSpPr/>
              <p:nvPr/>
            </p:nvSpPr>
            <p:spPr>
              <a:xfrm>
                <a:off x="6472237" y="409967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D82000"/>
                </a:solidFill>
              </a:ln>
            </p:spPr>
          </p:sp>
        </p:grpSp>
        <p:sp>
          <p:nvSpPr>
            <p:cNvPr id="161" name="TextBox 161"/>
            <p:cNvSpPr txBox="1"/>
            <p:nvPr/>
          </p:nvSpPr>
          <p:spPr>
            <a:xfrm>
              <a:off x="5822506" y="4299347"/>
              <a:ext cx="642239" cy="183356"/>
            </a:xfrm>
            <a:prstGeom prst="rect">
              <a:avLst/>
            </a:prstGeom>
            <a:noFill/>
            <a:ln>
              <a:noFill/>
            </a:ln>
          </p:spPr>
          <p:txBody>
            <a:bodyPr wrap="none" lIns="0" tIns="0" rIns="0" bIns="0" anchor="t" anchorCtr="0">
              <a:spAutoFit/>
            </a:bodyPr>
            <a:lstStyle/>
            <a:p>
              <a:pPr algn="ctr"/>
              <a:r>
                <a:rPr lang="zh-CN" sz="940" b="1" dirty="0">
                  <a:solidFill>
                    <a:srgbClr val="4A130A"/>
                  </a:solidFill>
                  <a:latin typeface="+mn-lt"/>
                  <a:ea typeface="+mn-ea"/>
                  <a:cs typeface="+mn-cs"/>
                </a:rPr>
                <a:t>沉睡待唤醒</a:t>
              </a:r>
            </a:p>
          </p:txBody>
        </p:sp>
        <p:sp>
          <p:nvSpPr>
            <p:cNvPr id="162" name="Line 162"/>
            <p:cNvSpPr/>
            <p:nvPr/>
          </p:nvSpPr>
          <p:spPr>
            <a:xfrm>
              <a:off x="5695950" y="4495800"/>
              <a:ext cx="895350" cy="9525"/>
            </a:xfrm>
            <a:custGeom>
              <a:avLst/>
              <a:gdLst/>
              <a:ahLst/>
              <a:cxnLst/>
              <a:rect l="l" t="t" r="r" b="b"/>
              <a:pathLst>
                <a:path w="895350" h="9525">
                  <a:moveTo>
                    <a:pt x="0" y="0"/>
                  </a:moveTo>
                  <a:lnTo>
                    <a:pt x="895350" y="0"/>
                  </a:lnTo>
                </a:path>
              </a:pathLst>
            </a:custGeom>
            <a:noFill/>
            <a:ln w="9525">
              <a:solidFill>
                <a:srgbClr val="F0B8AE"/>
              </a:solidFill>
            </a:ln>
          </p:spPr>
        </p:sp>
        <p:sp>
          <p:nvSpPr>
            <p:cNvPr id="163" name="TextBox 163"/>
            <p:cNvSpPr txBox="1"/>
            <p:nvPr/>
          </p:nvSpPr>
          <p:spPr>
            <a:xfrm>
              <a:off x="5710238" y="462843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客户数（人）</a:t>
              </a:r>
            </a:p>
          </p:txBody>
        </p:sp>
        <p:sp>
          <p:nvSpPr>
            <p:cNvPr id="164" name="TextBox 164"/>
            <p:cNvSpPr txBox="1"/>
            <p:nvPr/>
          </p:nvSpPr>
          <p:spPr>
            <a:xfrm>
              <a:off x="6137568" y="4620339"/>
              <a:ext cx="439444"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240,000</a:t>
              </a:r>
            </a:p>
          </p:txBody>
        </p:sp>
        <p:sp>
          <p:nvSpPr>
            <p:cNvPr id="165" name="TextBox 165"/>
            <p:cNvSpPr txBox="1"/>
            <p:nvPr/>
          </p:nvSpPr>
          <p:spPr>
            <a:xfrm>
              <a:off x="5710238" y="497133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AUM规模（亿）</a:t>
              </a:r>
            </a:p>
          </p:txBody>
        </p:sp>
        <p:sp>
          <p:nvSpPr>
            <p:cNvPr id="166" name="TextBox 166"/>
            <p:cNvSpPr txBox="1"/>
            <p:nvPr/>
          </p:nvSpPr>
          <p:spPr>
            <a:xfrm>
              <a:off x="6383236" y="4963239"/>
              <a:ext cx="193776"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120</a:t>
              </a:r>
            </a:p>
          </p:txBody>
        </p:sp>
        <p:sp>
          <p:nvSpPr>
            <p:cNvPr id="167" name="TextBox 167"/>
            <p:cNvSpPr txBox="1"/>
            <p:nvPr/>
          </p:nvSpPr>
          <p:spPr>
            <a:xfrm>
              <a:off x="5710238" y="5314236"/>
              <a:ext cx="674258"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人均AUM（万）</a:t>
              </a:r>
            </a:p>
          </p:txBody>
        </p:sp>
        <p:sp>
          <p:nvSpPr>
            <p:cNvPr id="168" name="TextBox 168"/>
            <p:cNvSpPr txBox="1"/>
            <p:nvPr/>
          </p:nvSpPr>
          <p:spPr>
            <a:xfrm>
              <a:off x="6506070" y="5306139"/>
              <a:ext cx="70942"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3</a:t>
              </a:r>
            </a:p>
          </p:txBody>
        </p:sp>
        <p:sp>
          <p:nvSpPr>
            <p:cNvPr id="169" name="TextBox 169"/>
            <p:cNvSpPr txBox="1"/>
            <p:nvPr/>
          </p:nvSpPr>
          <p:spPr>
            <a:xfrm>
              <a:off x="5710238" y="5657136"/>
              <a:ext cx="58300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金融需求强度</a:t>
              </a:r>
            </a:p>
          </p:txBody>
        </p:sp>
        <p:sp>
          <p:nvSpPr>
            <p:cNvPr id="170" name="TextBox 170"/>
            <p:cNvSpPr txBox="1"/>
            <p:nvPr/>
          </p:nvSpPr>
          <p:spPr>
            <a:xfrm>
              <a:off x="6461138" y="5649039"/>
              <a:ext cx="115875"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低</a:t>
              </a:r>
            </a:p>
          </p:txBody>
        </p:sp>
        <p:sp>
          <p:nvSpPr>
            <p:cNvPr id="171" name="TextBox 171"/>
            <p:cNvSpPr txBox="1"/>
            <p:nvPr/>
          </p:nvSpPr>
          <p:spPr>
            <a:xfrm>
              <a:off x="5710238" y="6000036"/>
              <a:ext cx="39184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成长潜力</a:t>
              </a:r>
            </a:p>
          </p:txBody>
        </p:sp>
        <p:sp>
          <p:nvSpPr>
            <p:cNvPr id="172" name="TextBox 172"/>
            <p:cNvSpPr txBox="1"/>
            <p:nvPr/>
          </p:nvSpPr>
          <p:spPr>
            <a:xfrm>
              <a:off x="6293371" y="5991939"/>
              <a:ext cx="283642" cy="154781"/>
            </a:xfrm>
            <a:prstGeom prst="rect">
              <a:avLst/>
            </a:prstGeom>
            <a:noFill/>
            <a:ln>
              <a:noFill/>
            </a:ln>
          </p:spPr>
          <p:txBody>
            <a:bodyPr wrap="none" lIns="0" tIns="0" rIns="0" bIns="0" anchor="t" anchorCtr="0">
              <a:spAutoFit/>
            </a:bodyPr>
            <a:lstStyle/>
            <a:p>
              <a:pPr algn="r"/>
              <a:r>
                <a:rPr lang="zh-CN" sz="790" b="1" dirty="0">
                  <a:solidFill>
                    <a:srgbClr val="3D3835"/>
                  </a:solidFill>
                  <a:latin typeface="+mn-lt"/>
                  <a:ea typeface="+mn-ea"/>
                  <a:cs typeface="+mn-cs"/>
                </a:rPr>
                <a:t>低-中</a:t>
              </a:r>
            </a:p>
          </p:txBody>
        </p:sp>
        <p:sp>
          <p:nvSpPr>
            <p:cNvPr id="173" name="TextBox 173"/>
            <p:cNvSpPr txBox="1"/>
            <p:nvPr/>
          </p:nvSpPr>
          <p:spPr>
            <a:xfrm>
              <a:off x="5710238" y="6342936"/>
              <a:ext cx="487426" cy="140494"/>
            </a:xfrm>
            <a:prstGeom prst="rect">
              <a:avLst/>
            </a:prstGeom>
            <a:noFill/>
            <a:ln>
              <a:noFill/>
            </a:ln>
          </p:spPr>
          <p:txBody>
            <a:bodyPr wrap="none" lIns="0" tIns="0" rIns="0" bIns="0" anchor="t" anchorCtr="0">
              <a:spAutoFit/>
            </a:bodyPr>
            <a:lstStyle/>
            <a:p>
              <a:pPr algn="l"/>
              <a:r>
                <a:rPr lang="zh-CN" sz="710" dirty="0">
                  <a:solidFill>
                    <a:srgbClr val="7A716B"/>
                  </a:solidFill>
                  <a:latin typeface="+mn-lt"/>
                  <a:ea typeface="+mn-ea"/>
                  <a:cs typeface="+mn-cs"/>
                </a:rPr>
                <a:t>贡献度占比</a:t>
              </a:r>
            </a:p>
          </p:txBody>
        </p:sp>
        <p:sp>
          <p:nvSpPr>
            <p:cNvPr id="174" name="TextBox 174"/>
            <p:cNvSpPr txBox="1"/>
            <p:nvPr/>
          </p:nvSpPr>
          <p:spPr>
            <a:xfrm>
              <a:off x="6422320" y="6334839"/>
              <a:ext cx="154692" cy="154781"/>
            </a:xfrm>
            <a:prstGeom prst="rect">
              <a:avLst/>
            </a:prstGeom>
            <a:noFill/>
            <a:ln>
              <a:noFill/>
            </a:ln>
          </p:spPr>
          <p:txBody>
            <a:bodyPr wrap="none" lIns="0" tIns="0" rIns="0" bIns="0" anchor="t" anchorCtr="0">
              <a:spAutoFit/>
            </a:bodyPr>
            <a:lstStyle/>
            <a:p>
              <a:pPr algn="r"/>
              <a:r>
                <a:rPr lang="zh-CN" sz="790" b="1" dirty="0">
                  <a:solidFill>
                    <a:srgbClr val="C41D00"/>
                  </a:solidFill>
                  <a:latin typeface="+mn-lt"/>
                  <a:ea typeface="+mn-ea"/>
                  <a:cs typeface="+mn-cs"/>
                </a:rPr>
                <a:t>7%</a:t>
              </a:r>
            </a:p>
          </p:txBody>
        </p:sp>
      </p:grpSp>
      <p:grpSp>
        <p:nvGrpSpPr>
          <p:cNvPr id="313" name="strategy-table"/>
          <p:cNvGrpSpPr/>
          <p:nvPr/>
        </p:nvGrpSpPr>
        <p:grpSpPr>
          <a:xfrm>
            <a:off x="6762750" y="717947"/>
            <a:ext cx="5048250" cy="5968603"/>
            <a:chOff x="6762750" y="717947"/>
            <a:chExt cx="5048250" cy="5968603"/>
          </a:xfrm>
        </p:grpSpPr>
        <p:sp>
          <p:nvSpPr>
            <p:cNvPr id="176" name="TextBox 176"/>
            <p:cNvSpPr txBox="1"/>
            <p:nvPr/>
          </p:nvSpPr>
          <p:spPr>
            <a:xfrm>
              <a:off x="8459584" y="717947"/>
              <a:ext cx="1654581" cy="183356"/>
            </a:xfrm>
            <a:prstGeom prst="rect">
              <a:avLst/>
            </a:prstGeom>
            <a:noFill/>
            <a:ln>
              <a:noFill/>
            </a:ln>
          </p:spPr>
          <p:txBody>
            <a:bodyPr wrap="none" lIns="0" tIns="0" rIns="0" bIns="0" anchor="t" anchorCtr="0">
              <a:spAutoFit/>
            </a:bodyPr>
            <a:lstStyle/>
            <a:p>
              <a:pPr algn="ctr"/>
              <a:r>
                <a:rPr lang="zh-CN" sz="940" b="1" dirty="0">
                  <a:solidFill>
                    <a:srgbClr val="C41D00"/>
                  </a:solidFill>
                  <a:latin typeface="+mn-lt"/>
                  <a:ea typeface="+mn-ea"/>
                  <a:cs typeface="+mn-cs"/>
                </a:rPr>
                <a:t>分群经营策略与行动（示例）</a:t>
              </a:r>
            </a:p>
          </p:txBody>
        </p:sp>
        <p:sp>
          <p:nvSpPr>
            <p:cNvPr id="177" name="Rectangle 177"/>
            <p:cNvSpPr/>
            <p:nvPr/>
          </p:nvSpPr>
          <p:spPr>
            <a:xfrm>
              <a:off x="6762750" y="914400"/>
              <a:ext cx="5048250" cy="228600"/>
            </a:xfrm>
            <a:prstGeom prst="rect">
              <a:avLst/>
            </a:prstGeom>
            <a:solidFill>
              <a:srgbClr val="C41D00"/>
            </a:solidFill>
            <a:ln>
              <a:noFill/>
            </a:ln>
          </p:spPr>
        </p:sp>
        <p:sp>
          <p:nvSpPr>
            <p:cNvPr id="178" name="TextBox 178"/>
            <p:cNvSpPr txBox="1"/>
            <p:nvPr/>
          </p:nvSpPr>
          <p:spPr>
            <a:xfrm>
              <a:off x="6965963" y="991314"/>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分群</a:t>
              </a:r>
            </a:p>
          </p:txBody>
        </p:sp>
        <p:sp>
          <p:nvSpPr>
            <p:cNvPr id="179" name="TextBox 179"/>
            <p:cNvSpPr txBox="1"/>
            <p:nvPr/>
          </p:nvSpPr>
          <p:spPr>
            <a:xfrm>
              <a:off x="7554938" y="9913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价值主张</a:t>
              </a:r>
            </a:p>
          </p:txBody>
        </p:sp>
        <p:sp>
          <p:nvSpPr>
            <p:cNvPr id="180" name="TextBox 180"/>
            <p:cNvSpPr txBox="1"/>
            <p:nvPr/>
          </p:nvSpPr>
          <p:spPr>
            <a:xfrm>
              <a:off x="8507438" y="9913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优选渠道</a:t>
              </a:r>
            </a:p>
          </p:txBody>
        </p:sp>
        <p:sp>
          <p:nvSpPr>
            <p:cNvPr id="181" name="TextBox 181"/>
            <p:cNvSpPr txBox="1"/>
            <p:nvPr/>
          </p:nvSpPr>
          <p:spPr>
            <a:xfrm>
              <a:off x="9492798" y="991314"/>
              <a:ext cx="105500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下一最佳行动（NBA）</a:t>
              </a:r>
            </a:p>
          </p:txBody>
        </p:sp>
        <p:sp>
          <p:nvSpPr>
            <p:cNvPr id="182" name="TextBox 182"/>
            <p:cNvSpPr txBox="1"/>
            <p:nvPr/>
          </p:nvSpPr>
          <p:spPr>
            <a:xfrm>
              <a:off x="11083896" y="991314"/>
              <a:ext cx="387408"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关键KPI</a:t>
              </a:r>
            </a:p>
          </p:txBody>
        </p:sp>
        <p:sp>
          <p:nvSpPr>
            <p:cNvPr id="183" name="Rectangle 183"/>
            <p:cNvSpPr/>
            <p:nvPr/>
          </p:nvSpPr>
          <p:spPr>
            <a:xfrm>
              <a:off x="6762750" y="1143000"/>
              <a:ext cx="5048250" cy="5543550"/>
            </a:xfrm>
            <a:prstGeom prst="rect">
              <a:avLst/>
            </a:prstGeom>
            <a:solidFill>
              <a:srgbClr val="FFFFFF"/>
            </a:solidFill>
            <a:ln w="9525">
              <a:solidFill>
                <a:srgbClr val="F0B8AE"/>
              </a:solidFill>
            </a:ln>
          </p:spPr>
        </p:sp>
        <p:sp>
          <p:nvSpPr>
            <p:cNvPr id="184" name="Rectangle 184"/>
            <p:cNvSpPr/>
            <p:nvPr/>
          </p:nvSpPr>
          <p:spPr>
            <a:xfrm>
              <a:off x="6762750" y="1143000"/>
              <a:ext cx="5048250" cy="923925"/>
            </a:xfrm>
            <a:prstGeom prst="rect">
              <a:avLst/>
            </a:prstGeom>
            <a:solidFill>
              <a:srgbClr val="FFF8F2"/>
            </a:solidFill>
            <a:ln>
              <a:noFill/>
            </a:ln>
          </p:spPr>
        </p:sp>
        <p:sp>
          <p:nvSpPr>
            <p:cNvPr id="185" name="Rectangle 185"/>
            <p:cNvSpPr/>
            <p:nvPr/>
          </p:nvSpPr>
          <p:spPr>
            <a:xfrm>
              <a:off x="6762750" y="2990850"/>
              <a:ext cx="5048250" cy="923925"/>
            </a:xfrm>
            <a:prstGeom prst="rect">
              <a:avLst/>
            </a:prstGeom>
            <a:solidFill>
              <a:srgbClr val="FFF8F2"/>
            </a:solidFill>
            <a:ln>
              <a:noFill/>
            </a:ln>
          </p:spPr>
        </p:sp>
        <p:sp>
          <p:nvSpPr>
            <p:cNvPr id="186" name="Rectangle 186"/>
            <p:cNvSpPr/>
            <p:nvPr/>
          </p:nvSpPr>
          <p:spPr>
            <a:xfrm>
              <a:off x="6762750" y="4838700"/>
              <a:ext cx="5048250" cy="923925"/>
            </a:xfrm>
            <a:prstGeom prst="rect">
              <a:avLst/>
            </a:prstGeom>
            <a:solidFill>
              <a:srgbClr val="FFF8F2"/>
            </a:solidFill>
            <a:ln>
              <a:noFill/>
            </a:ln>
          </p:spPr>
        </p:sp>
        <p:sp>
          <p:nvSpPr>
            <p:cNvPr id="187" name="Line 187"/>
            <p:cNvSpPr/>
            <p:nvPr/>
          </p:nvSpPr>
          <p:spPr>
            <a:xfrm>
              <a:off x="7391400" y="1143000"/>
              <a:ext cx="9525" cy="5543550"/>
            </a:xfrm>
            <a:custGeom>
              <a:avLst/>
              <a:gdLst/>
              <a:ahLst/>
              <a:cxnLst/>
              <a:rect l="l" t="t" r="r" b="b"/>
              <a:pathLst>
                <a:path w="9525" h="5543550">
                  <a:moveTo>
                    <a:pt x="0" y="0"/>
                  </a:moveTo>
                  <a:lnTo>
                    <a:pt x="0" y="5543550"/>
                  </a:lnTo>
                </a:path>
              </a:pathLst>
            </a:custGeom>
            <a:noFill/>
            <a:ln w="9525">
              <a:solidFill>
                <a:srgbClr val="EADBCE"/>
              </a:solidFill>
            </a:ln>
          </p:spPr>
        </p:sp>
        <p:sp>
          <p:nvSpPr>
            <p:cNvPr id="188" name="Line 188"/>
            <p:cNvSpPr/>
            <p:nvPr/>
          </p:nvSpPr>
          <p:spPr>
            <a:xfrm>
              <a:off x="8153400" y="1143000"/>
              <a:ext cx="9525" cy="5543550"/>
            </a:xfrm>
            <a:custGeom>
              <a:avLst/>
              <a:gdLst/>
              <a:ahLst/>
              <a:cxnLst/>
              <a:rect l="l" t="t" r="r" b="b"/>
              <a:pathLst>
                <a:path w="9525" h="5543550">
                  <a:moveTo>
                    <a:pt x="0" y="0"/>
                  </a:moveTo>
                  <a:lnTo>
                    <a:pt x="0" y="5543550"/>
                  </a:lnTo>
                </a:path>
              </a:pathLst>
            </a:custGeom>
            <a:noFill/>
            <a:ln w="9525">
              <a:solidFill>
                <a:srgbClr val="EADBCE"/>
              </a:solidFill>
            </a:ln>
          </p:spPr>
        </p:sp>
        <p:sp>
          <p:nvSpPr>
            <p:cNvPr id="189" name="Line 189"/>
            <p:cNvSpPr/>
            <p:nvPr/>
          </p:nvSpPr>
          <p:spPr>
            <a:xfrm>
              <a:off x="9296400" y="1143000"/>
              <a:ext cx="9525" cy="5543550"/>
            </a:xfrm>
            <a:custGeom>
              <a:avLst/>
              <a:gdLst/>
              <a:ahLst/>
              <a:cxnLst/>
              <a:rect l="l" t="t" r="r" b="b"/>
              <a:pathLst>
                <a:path w="9525" h="5543550">
                  <a:moveTo>
                    <a:pt x="0" y="0"/>
                  </a:moveTo>
                  <a:lnTo>
                    <a:pt x="0" y="5543550"/>
                  </a:lnTo>
                </a:path>
              </a:pathLst>
            </a:custGeom>
            <a:noFill/>
            <a:ln w="9525">
              <a:solidFill>
                <a:srgbClr val="EADBCE"/>
              </a:solidFill>
            </a:ln>
          </p:spPr>
        </p:sp>
        <p:sp>
          <p:nvSpPr>
            <p:cNvPr id="190" name="Line 190"/>
            <p:cNvSpPr/>
            <p:nvPr/>
          </p:nvSpPr>
          <p:spPr>
            <a:xfrm>
              <a:off x="10744200" y="1143000"/>
              <a:ext cx="9525" cy="5543550"/>
            </a:xfrm>
            <a:custGeom>
              <a:avLst/>
              <a:gdLst/>
              <a:ahLst/>
              <a:cxnLst/>
              <a:rect l="l" t="t" r="r" b="b"/>
              <a:pathLst>
                <a:path w="9525" h="5543550">
                  <a:moveTo>
                    <a:pt x="0" y="0"/>
                  </a:moveTo>
                  <a:lnTo>
                    <a:pt x="0" y="5543550"/>
                  </a:lnTo>
                </a:path>
              </a:pathLst>
            </a:custGeom>
            <a:noFill/>
            <a:ln w="9525">
              <a:solidFill>
                <a:srgbClr val="EADBCE"/>
              </a:solidFill>
            </a:ln>
          </p:spPr>
        </p:sp>
        <p:sp>
          <p:nvSpPr>
            <p:cNvPr id="191" name="Line 191"/>
            <p:cNvSpPr/>
            <p:nvPr/>
          </p:nvSpPr>
          <p:spPr>
            <a:xfrm>
              <a:off x="6762750" y="2066925"/>
              <a:ext cx="5048250" cy="9525"/>
            </a:xfrm>
            <a:custGeom>
              <a:avLst/>
              <a:gdLst/>
              <a:ahLst/>
              <a:cxnLst/>
              <a:rect l="l" t="t" r="r" b="b"/>
              <a:pathLst>
                <a:path w="5048250" h="9525">
                  <a:moveTo>
                    <a:pt x="0" y="0"/>
                  </a:moveTo>
                  <a:lnTo>
                    <a:pt x="5048250" y="0"/>
                  </a:lnTo>
                </a:path>
              </a:pathLst>
            </a:custGeom>
            <a:noFill/>
            <a:ln w="9525">
              <a:solidFill>
                <a:srgbClr val="EADBCE"/>
              </a:solidFill>
            </a:ln>
          </p:spPr>
        </p:sp>
        <p:sp>
          <p:nvSpPr>
            <p:cNvPr id="192" name="Line 192"/>
            <p:cNvSpPr/>
            <p:nvPr/>
          </p:nvSpPr>
          <p:spPr>
            <a:xfrm>
              <a:off x="6762750" y="2990850"/>
              <a:ext cx="5048250" cy="9525"/>
            </a:xfrm>
            <a:custGeom>
              <a:avLst/>
              <a:gdLst/>
              <a:ahLst/>
              <a:cxnLst/>
              <a:rect l="l" t="t" r="r" b="b"/>
              <a:pathLst>
                <a:path w="5048250" h="9525">
                  <a:moveTo>
                    <a:pt x="0" y="0"/>
                  </a:moveTo>
                  <a:lnTo>
                    <a:pt x="5048250" y="0"/>
                  </a:lnTo>
                </a:path>
              </a:pathLst>
            </a:custGeom>
            <a:noFill/>
            <a:ln w="9525">
              <a:solidFill>
                <a:srgbClr val="EADBCE"/>
              </a:solidFill>
            </a:ln>
          </p:spPr>
        </p:sp>
        <p:sp>
          <p:nvSpPr>
            <p:cNvPr id="193" name="Line 193"/>
            <p:cNvSpPr/>
            <p:nvPr/>
          </p:nvSpPr>
          <p:spPr>
            <a:xfrm>
              <a:off x="6762750" y="3914775"/>
              <a:ext cx="5048250" cy="9525"/>
            </a:xfrm>
            <a:custGeom>
              <a:avLst/>
              <a:gdLst/>
              <a:ahLst/>
              <a:cxnLst/>
              <a:rect l="l" t="t" r="r" b="b"/>
              <a:pathLst>
                <a:path w="5048250" h="9525">
                  <a:moveTo>
                    <a:pt x="0" y="0"/>
                  </a:moveTo>
                  <a:lnTo>
                    <a:pt x="5048250" y="0"/>
                  </a:lnTo>
                </a:path>
              </a:pathLst>
            </a:custGeom>
            <a:noFill/>
            <a:ln w="9525">
              <a:solidFill>
                <a:srgbClr val="EADBCE"/>
              </a:solidFill>
            </a:ln>
          </p:spPr>
        </p:sp>
        <p:sp>
          <p:nvSpPr>
            <p:cNvPr id="194" name="Line 194"/>
            <p:cNvSpPr/>
            <p:nvPr/>
          </p:nvSpPr>
          <p:spPr>
            <a:xfrm>
              <a:off x="6762750" y="4838700"/>
              <a:ext cx="5048250" cy="9525"/>
            </a:xfrm>
            <a:custGeom>
              <a:avLst/>
              <a:gdLst/>
              <a:ahLst/>
              <a:cxnLst/>
              <a:rect l="l" t="t" r="r" b="b"/>
              <a:pathLst>
                <a:path w="5048250" h="9525">
                  <a:moveTo>
                    <a:pt x="0" y="0"/>
                  </a:moveTo>
                  <a:lnTo>
                    <a:pt x="5048250" y="0"/>
                  </a:lnTo>
                </a:path>
              </a:pathLst>
            </a:custGeom>
            <a:noFill/>
            <a:ln w="9525">
              <a:solidFill>
                <a:srgbClr val="EADBCE"/>
              </a:solidFill>
            </a:ln>
          </p:spPr>
        </p:sp>
        <p:sp>
          <p:nvSpPr>
            <p:cNvPr id="195" name="Line 195"/>
            <p:cNvSpPr/>
            <p:nvPr/>
          </p:nvSpPr>
          <p:spPr>
            <a:xfrm>
              <a:off x="6762750" y="5762625"/>
              <a:ext cx="5048250" cy="9525"/>
            </a:xfrm>
            <a:custGeom>
              <a:avLst/>
              <a:gdLst/>
              <a:ahLst/>
              <a:cxnLst/>
              <a:rect l="l" t="t" r="r" b="b"/>
              <a:pathLst>
                <a:path w="5048250" h="9525">
                  <a:moveTo>
                    <a:pt x="0" y="0"/>
                  </a:moveTo>
                  <a:lnTo>
                    <a:pt x="5048250" y="0"/>
                  </a:lnTo>
                </a:path>
              </a:pathLst>
            </a:custGeom>
            <a:noFill/>
            <a:ln w="9525">
              <a:solidFill>
                <a:srgbClr val="EADBCE"/>
              </a:solidFill>
            </a:ln>
          </p:spPr>
        </p:sp>
        <p:sp>
          <p:nvSpPr>
            <p:cNvPr id="196" name="Ellipse 196"/>
            <p:cNvSpPr/>
            <p:nvPr/>
          </p:nvSpPr>
          <p:spPr>
            <a:xfrm>
              <a:off x="6991350" y="1304925"/>
              <a:ext cx="171450" cy="171450"/>
            </a:xfrm>
            <a:prstGeom prst="ellipse">
              <a:avLst/>
            </a:prstGeom>
            <a:solidFill>
              <a:srgbClr val="D82000"/>
            </a:solidFill>
            <a:ln>
              <a:noFill/>
            </a:ln>
          </p:spPr>
        </p:sp>
        <p:sp>
          <p:nvSpPr>
            <p:cNvPr id="197" name="TextBox 197"/>
            <p:cNvSpPr txBox="1"/>
            <p:nvPr/>
          </p:nvSpPr>
          <p:spPr>
            <a:xfrm>
              <a:off x="7043159" y="13477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198" name="TextBox 198"/>
            <p:cNvSpPr txBox="1"/>
            <p:nvPr/>
          </p:nvSpPr>
          <p:spPr>
            <a:xfrm>
              <a:off x="6916102" y="1549241"/>
              <a:ext cx="321945" cy="314325"/>
            </a:xfrm>
            <a:prstGeom prst="rect">
              <a:avLst/>
            </a:prstGeom>
            <a:noFill/>
            <a:ln>
              <a:noFill/>
            </a:ln>
          </p:spPr>
          <p:txBody>
            <a:bodyPr wrap="none" lIns="0" tIns="0" rIns="0" bIns="0" anchor="t" anchorCtr="0">
              <a:spAutoFit/>
            </a:bodyPr>
            <a:lstStyle/>
            <a:p>
              <a:pPr algn="ctr">
                <a:lnSpc>
                  <a:spcPts val="1200"/>
                </a:lnSpc>
              </a:pPr>
              <a:r>
                <a:rPr lang="zh-CN" sz="820" b="1" dirty="0">
                  <a:solidFill>
                    <a:srgbClr val="4A130A"/>
                  </a:solidFill>
                  <a:latin typeface="+mn-lt"/>
                  <a:ea typeface="+mn-ea"/>
                  <a:cs typeface="+mn-cs"/>
                </a:rPr>
                <a:t>高净值</a:t>
              </a:r>
              <a:br/>
              <a:r>
                <a:rPr lang="zh-CN" sz="820" b="1" dirty="0">
                  <a:solidFill>
                    <a:srgbClr val="4A130A"/>
                  </a:solidFill>
                  <a:latin typeface="+mn-lt"/>
                  <a:ea typeface="+mn-ea"/>
                  <a:cs typeface="+mn-cs"/>
                </a:rPr>
                <a:t>深耕</a:t>
              </a:r>
            </a:p>
          </p:txBody>
        </p:sp>
        <p:sp>
          <p:nvSpPr>
            <p:cNvPr id="199" name="TextBox 199"/>
            <p:cNvSpPr txBox="1"/>
            <p:nvPr/>
          </p:nvSpPr>
          <p:spPr>
            <a:xfrm>
              <a:off x="7462838" y="1347788"/>
              <a:ext cx="390525"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专业配置</a:t>
              </a:r>
              <a:br/>
              <a:r>
                <a:rPr lang="zh-CN" sz="750" dirty="0">
                  <a:solidFill>
                    <a:srgbClr val="3D3835"/>
                  </a:solidFill>
                  <a:latin typeface="+mn-lt"/>
                  <a:ea typeface="+mn-ea"/>
                  <a:cs typeface="+mn-cs"/>
                </a:rPr>
                <a:t>传承保障</a:t>
              </a:r>
              <a:br/>
              <a:r>
                <a:rPr lang="zh-CN" sz="750" dirty="0">
                  <a:solidFill>
                    <a:srgbClr val="3D3835"/>
                  </a:solidFill>
                  <a:latin typeface="+mn-lt"/>
                  <a:ea typeface="+mn-ea"/>
                  <a:cs typeface="+mn-cs"/>
                </a:rPr>
                <a:t>全球服务</a:t>
              </a:r>
            </a:p>
          </p:txBody>
        </p:sp>
        <p:grpSp>
          <p:nvGrpSpPr>
            <p:cNvPr id="204" name="Group 204"/>
            <p:cNvGrpSpPr/>
            <p:nvPr/>
          </p:nvGrpSpPr>
          <p:grpSpPr>
            <a:xfrm>
              <a:off x="8227219" y="1340644"/>
              <a:ext cx="100012" cy="100012"/>
              <a:chOff x="8227219" y="1340644"/>
              <a:chExt cx="100012" cy="100012"/>
            </a:xfrm>
          </p:grpSpPr>
          <p:sp>
            <p:nvSpPr>
              <p:cNvPr id="200" name="Freeform 200"/>
              <p:cNvSpPr/>
              <p:nvPr/>
            </p:nvSpPr>
            <p:spPr>
              <a:xfrm>
                <a:off x="8238331" y="134064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D82000"/>
                </a:solidFill>
              </a:ln>
            </p:spPr>
          </p:sp>
          <p:sp>
            <p:nvSpPr>
              <p:cNvPr id="201" name="Freeform 201"/>
              <p:cNvSpPr/>
              <p:nvPr/>
            </p:nvSpPr>
            <p:spPr>
              <a:xfrm>
                <a:off x="8227219" y="140731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D82000"/>
                </a:solidFill>
              </a:ln>
            </p:spPr>
          </p:sp>
          <p:sp>
            <p:nvSpPr>
              <p:cNvPr id="202" name="Freeform 202"/>
              <p:cNvSpPr/>
              <p:nvPr/>
            </p:nvSpPr>
            <p:spPr>
              <a:xfrm>
                <a:off x="8299450" y="134136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D82000"/>
                </a:solidFill>
              </a:ln>
            </p:spPr>
          </p:sp>
          <p:sp>
            <p:nvSpPr>
              <p:cNvPr id="203" name="Freeform 203"/>
              <p:cNvSpPr/>
              <p:nvPr/>
            </p:nvSpPr>
            <p:spPr>
              <a:xfrm>
                <a:off x="8310562" y="140815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D82000"/>
                </a:solidFill>
              </a:ln>
            </p:spPr>
          </p:sp>
        </p:grpSp>
        <p:grpSp>
          <p:nvGrpSpPr>
            <p:cNvPr id="213" name="Group 213"/>
            <p:cNvGrpSpPr/>
            <p:nvPr/>
          </p:nvGrpSpPr>
          <p:grpSpPr>
            <a:xfrm>
              <a:off x="8227219" y="1569244"/>
              <a:ext cx="103981" cy="109537"/>
              <a:chOff x="8227219" y="1569244"/>
              <a:chExt cx="103981" cy="109537"/>
            </a:xfrm>
          </p:grpSpPr>
          <p:sp>
            <p:nvSpPr>
              <p:cNvPr id="205" name="Freeform 205"/>
              <p:cNvSpPr/>
              <p:nvPr/>
            </p:nvSpPr>
            <p:spPr>
              <a:xfrm>
                <a:off x="8227219" y="1669256"/>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206" name="Freeform 206"/>
              <p:cNvSpPr/>
              <p:nvPr/>
            </p:nvSpPr>
            <p:spPr>
              <a:xfrm>
                <a:off x="8227219" y="1608137"/>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207" name="Freeform 207"/>
              <p:cNvSpPr/>
              <p:nvPr/>
            </p:nvSpPr>
            <p:spPr>
              <a:xfrm>
                <a:off x="8238331" y="1569244"/>
                <a:ext cx="77787" cy="16669"/>
              </a:xfrm>
              <a:custGeom>
                <a:avLst/>
                <a:gdLst/>
                <a:ahLst/>
                <a:cxnLst/>
                <a:rect l="l" t="t" r="r" b="b"/>
                <a:pathLst>
                  <a:path w="77787" h="16669">
                    <a:moveTo>
                      <a:pt x="0" y="16669"/>
                    </a:moveTo>
                    <a:lnTo>
                      <a:pt x="38894" y="0"/>
                    </a:lnTo>
                    <a:lnTo>
                      <a:pt x="77787" y="16669"/>
                    </a:lnTo>
                  </a:path>
                </a:pathLst>
              </a:custGeom>
              <a:noFill/>
              <a:ln w="11112">
                <a:solidFill>
                  <a:srgbClr val="D82000"/>
                </a:solidFill>
              </a:ln>
            </p:spPr>
          </p:sp>
          <p:sp>
            <p:nvSpPr>
              <p:cNvPr id="208" name="Freeform 208"/>
              <p:cNvSpPr/>
              <p:nvPr/>
            </p:nvSpPr>
            <p:spPr>
              <a:xfrm>
                <a:off x="8232775" y="1608137"/>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209" name="Freeform 209"/>
              <p:cNvSpPr/>
              <p:nvPr/>
            </p:nvSpPr>
            <p:spPr>
              <a:xfrm>
                <a:off x="8321675" y="1608137"/>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210" name="Freeform 210"/>
              <p:cNvSpPr/>
              <p:nvPr/>
            </p:nvSpPr>
            <p:spPr>
              <a:xfrm>
                <a:off x="8255000" y="1630362"/>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211" name="Freeform 211"/>
              <p:cNvSpPr/>
              <p:nvPr/>
            </p:nvSpPr>
            <p:spPr>
              <a:xfrm>
                <a:off x="8277225" y="1630362"/>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212" name="Freeform 212"/>
              <p:cNvSpPr/>
              <p:nvPr/>
            </p:nvSpPr>
            <p:spPr>
              <a:xfrm>
                <a:off x="8299450" y="1630362"/>
                <a:ext cx="9525" cy="16669"/>
              </a:xfrm>
              <a:custGeom>
                <a:avLst/>
                <a:gdLst/>
                <a:ahLst/>
                <a:cxnLst/>
                <a:rect l="l" t="t" r="r" b="b"/>
                <a:pathLst>
                  <a:path w="9525" h="16669">
                    <a:moveTo>
                      <a:pt x="0" y="0"/>
                    </a:moveTo>
                    <a:lnTo>
                      <a:pt x="0" y="16669"/>
                    </a:lnTo>
                  </a:path>
                </a:pathLst>
              </a:custGeom>
              <a:noFill/>
              <a:ln w="11112">
                <a:solidFill>
                  <a:srgbClr val="D82000"/>
                </a:solidFill>
              </a:ln>
            </p:spPr>
          </p:sp>
        </p:grpSp>
        <p:grpSp>
          <p:nvGrpSpPr>
            <p:cNvPr id="217" name="Group 217"/>
            <p:cNvGrpSpPr/>
            <p:nvPr/>
          </p:nvGrpSpPr>
          <p:grpSpPr>
            <a:xfrm>
              <a:off x="8243887" y="1797844"/>
              <a:ext cx="66675" cy="100012"/>
              <a:chOff x="8243887" y="1797844"/>
              <a:chExt cx="66675" cy="100012"/>
            </a:xfrm>
          </p:grpSpPr>
          <p:sp>
            <p:nvSpPr>
              <p:cNvPr id="214" name="Freeform 214"/>
              <p:cNvSpPr/>
              <p:nvPr/>
            </p:nvSpPr>
            <p:spPr>
              <a:xfrm>
                <a:off x="8243887" y="179784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D82000"/>
                </a:solidFill>
              </a:ln>
            </p:spPr>
          </p:sp>
          <p:sp>
            <p:nvSpPr>
              <p:cNvPr id="215" name="Freeform 215"/>
              <p:cNvSpPr/>
              <p:nvPr/>
            </p:nvSpPr>
            <p:spPr>
              <a:xfrm>
                <a:off x="8271669" y="1803400"/>
                <a:ext cx="11112" cy="9525"/>
              </a:xfrm>
              <a:custGeom>
                <a:avLst/>
                <a:gdLst/>
                <a:ahLst/>
                <a:cxnLst/>
                <a:rect l="l" t="t" r="r" b="b"/>
                <a:pathLst>
                  <a:path w="11112" h="9525">
                    <a:moveTo>
                      <a:pt x="0" y="0"/>
                    </a:moveTo>
                    <a:lnTo>
                      <a:pt x="11112" y="0"/>
                    </a:lnTo>
                  </a:path>
                </a:pathLst>
              </a:custGeom>
              <a:noFill/>
              <a:ln w="11112">
                <a:solidFill>
                  <a:srgbClr val="D82000"/>
                </a:solidFill>
              </a:ln>
            </p:spPr>
          </p:sp>
          <p:sp>
            <p:nvSpPr>
              <p:cNvPr id="216" name="Freeform 216"/>
              <p:cNvSpPr/>
              <p:nvPr/>
            </p:nvSpPr>
            <p:spPr>
              <a:xfrm>
                <a:off x="8277225" y="1875631"/>
                <a:ext cx="9525" cy="9525"/>
              </a:xfrm>
              <a:custGeom>
                <a:avLst/>
                <a:gdLst/>
                <a:ahLst/>
                <a:cxnLst/>
                <a:rect l="l" t="t" r="r" b="b"/>
                <a:pathLst>
                  <a:path w="9525" h="9525">
                    <a:moveTo>
                      <a:pt x="0" y="0"/>
                    </a:moveTo>
                    <a:lnTo>
                      <a:pt x="0" y="56"/>
                    </a:lnTo>
                  </a:path>
                </a:pathLst>
              </a:custGeom>
              <a:noFill/>
              <a:ln w="11112">
                <a:solidFill>
                  <a:srgbClr val="D82000"/>
                </a:solidFill>
              </a:ln>
            </p:spPr>
          </p:sp>
        </p:grpSp>
        <p:sp>
          <p:nvSpPr>
            <p:cNvPr id="218" name="TextBox 218"/>
            <p:cNvSpPr txBox="1"/>
            <p:nvPr/>
          </p:nvSpPr>
          <p:spPr>
            <a:xfrm>
              <a:off x="8396288" y="1347788"/>
              <a:ext cx="581025"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专属客户经理</a:t>
              </a:r>
              <a:br/>
              <a:r>
                <a:rPr lang="zh-CN" sz="750" dirty="0">
                  <a:solidFill>
                    <a:srgbClr val="3D3835"/>
                  </a:solidFill>
                  <a:latin typeface="+mn-lt"/>
                  <a:ea typeface="+mn-ea"/>
                  <a:cs typeface="+mn-cs"/>
                </a:rPr>
                <a:t>私行中心</a:t>
              </a:r>
              <a:br/>
              <a:r>
                <a:rPr lang="zh-CN" sz="750" dirty="0">
                  <a:solidFill>
                    <a:srgbClr val="3D3835"/>
                  </a:solidFill>
                  <a:latin typeface="+mn-lt"/>
                  <a:ea typeface="+mn-ea"/>
                  <a:cs typeface="+mn-cs"/>
                </a:rPr>
                <a:t>线上私享平台</a:t>
              </a:r>
            </a:p>
          </p:txBody>
        </p:sp>
        <p:sp>
          <p:nvSpPr>
            <p:cNvPr id="219" name="TextBox 219"/>
            <p:cNvSpPr txBox="1"/>
            <p:nvPr/>
          </p:nvSpPr>
          <p:spPr>
            <a:xfrm>
              <a:off x="9348788" y="1347788"/>
              <a:ext cx="1042988"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资产配置检视与再平衡</a:t>
              </a:r>
            </a:p>
            <a:p>
              <a:pPr algn="l" marL="80962" indent="-80962">
                <a:lnSpc>
                  <a:spcPts val="1800"/>
                </a:lnSpc>
                <a:buClr>
                  <a:srgbClr val="3D3835"/>
                </a:buClr>
                <a:buSzTx/>
                <a:buFontTx/>
                <a:buChar char="•"/>
              </a:pPr>
              <a:r>
                <a:rPr lang="zh-CN" sz="750" dirty="0">
                  <a:solidFill>
                    <a:srgbClr val="3D3835"/>
                  </a:solidFill>
                  <a:latin typeface="+mn-lt"/>
                  <a:ea typeface="+mn-ea"/>
                  <a:cs typeface="+mn-cs"/>
                </a:rPr>
                <a:t>家族信托/保险规划</a:t>
              </a:r>
            </a:p>
            <a:p>
              <a:pPr algn="l" marL="80962" indent="-80962">
                <a:lnSpc>
                  <a:spcPts val="1800"/>
                </a:lnSpc>
                <a:buClr>
                  <a:srgbClr val="3D3835"/>
                </a:buClr>
                <a:buSzTx/>
                <a:buFontTx/>
                <a:buChar char="•"/>
              </a:pPr>
              <a:r>
                <a:rPr lang="zh-CN" sz="750" dirty="0">
                  <a:solidFill>
                    <a:srgbClr val="3D3835"/>
                  </a:solidFill>
                  <a:latin typeface="+mn-lt"/>
                  <a:ea typeface="+mn-ea"/>
                  <a:cs typeface="+mn-cs"/>
                </a:rPr>
                <a:t>全球资产配置方案</a:t>
              </a:r>
            </a:p>
          </p:txBody>
        </p:sp>
        <p:sp>
          <p:nvSpPr>
            <p:cNvPr id="220" name="TextBox 220"/>
            <p:cNvSpPr txBox="1"/>
            <p:nvPr/>
          </p:nvSpPr>
          <p:spPr>
            <a:xfrm>
              <a:off x="10796588" y="1347788"/>
              <a:ext cx="552450"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AUM增长率</a:t>
              </a:r>
            </a:p>
            <a:p>
              <a:pPr algn="l" marL="80962" indent="-80962">
                <a:lnSpc>
                  <a:spcPts val="1800"/>
                </a:lnSpc>
                <a:buClr>
                  <a:srgbClr val="3D3835"/>
                </a:buClr>
                <a:buSzTx/>
                <a:buFontTx/>
                <a:buChar char="•"/>
              </a:pPr>
              <a:r>
                <a:rPr lang="zh-CN" sz="750" dirty="0">
                  <a:solidFill>
                    <a:srgbClr val="3D3835"/>
                  </a:solidFill>
                  <a:latin typeface="+mn-lt"/>
                  <a:ea typeface="+mn-ea"/>
                  <a:cs typeface="+mn-cs"/>
                </a:rPr>
                <a:t>人均AUM</a:t>
              </a:r>
            </a:p>
            <a:p>
              <a:pPr algn="l" marL="80962" indent="-80962">
                <a:lnSpc>
                  <a:spcPts val="1800"/>
                </a:lnSpc>
                <a:buClr>
                  <a:srgbClr val="3D3835"/>
                </a:buClr>
                <a:buSzTx/>
                <a:buFontTx/>
                <a:buChar char="•"/>
              </a:pPr>
              <a:r>
                <a:rPr lang="zh-CN" sz="750" dirty="0">
                  <a:solidFill>
                    <a:srgbClr val="3D3835"/>
                  </a:solidFill>
                  <a:latin typeface="+mn-lt"/>
                  <a:ea typeface="+mn-ea"/>
                  <a:cs typeface="+mn-cs"/>
                </a:rPr>
                <a:t>关系深度</a:t>
              </a:r>
            </a:p>
          </p:txBody>
        </p:sp>
        <p:sp>
          <p:nvSpPr>
            <p:cNvPr id="221" name="Ellipse 221"/>
            <p:cNvSpPr/>
            <p:nvPr/>
          </p:nvSpPr>
          <p:spPr>
            <a:xfrm>
              <a:off x="6991350" y="2228850"/>
              <a:ext cx="171450" cy="171450"/>
            </a:xfrm>
            <a:prstGeom prst="ellipse">
              <a:avLst/>
            </a:prstGeom>
            <a:solidFill>
              <a:srgbClr val="D82000"/>
            </a:solidFill>
            <a:ln>
              <a:noFill/>
            </a:ln>
          </p:spPr>
        </p:sp>
        <p:sp>
          <p:nvSpPr>
            <p:cNvPr id="222" name="TextBox 222"/>
            <p:cNvSpPr txBox="1"/>
            <p:nvPr/>
          </p:nvSpPr>
          <p:spPr>
            <a:xfrm>
              <a:off x="7043159" y="2271712"/>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223" name="TextBox 223"/>
            <p:cNvSpPr txBox="1"/>
            <p:nvPr/>
          </p:nvSpPr>
          <p:spPr>
            <a:xfrm>
              <a:off x="6968173" y="2473166"/>
              <a:ext cx="217805" cy="314325"/>
            </a:xfrm>
            <a:prstGeom prst="rect">
              <a:avLst/>
            </a:prstGeom>
            <a:noFill/>
            <a:ln>
              <a:noFill/>
            </a:ln>
          </p:spPr>
          <p:txBody>
            <a:bodyPr wrap="none" lIns="0" tIns="0" rIns="0" bIns="0" anchor="t" anchorCtr="0">
              <a:spAutoFit/>
            </a:bodyPr>
            <a:lstStyle/>
            <a:p>
              <a:pPr algn="ctr">
                <a:lnSpc>
                  <a:spcPts val="1200"/>
                </a:lnSpc>
              </a:pPr>
              <a:r>
                <a:rPr lang="zh-CN" sz="820" b="1" dirty="0">
                  <a:solidFill>
                    <a:srgbClr val="4A130A"/>
                  </a:solidFill>
                  <a:latin typeface="+mn-lt"/>
                  <a:ea typeface="+mn-ea"/>
                  <a:cs typeface="+mn-cs"/>
                </a:rPr>
                <a:t>财富</a:t>
              </a:r>
              <a:br/>
              <a:r>
                <a:rPr lang="zh-CN" sz="820" b="1" dirty="0">
                  <a:solidFill>
                    <a:srgbClr val="4A130A"/>
                  </a:solidFill>
                  <a:latin typeface="+mn-lt"/>
                  <a:ea typeface="+mn-ea"/>
                  <a:cs typeface="+mn-cs"/>
                </a:rPr>
                <a:t>成长</a:t>
              </a:r>
            </a:p>
          </p:txBody>
        </p:sp>
        <p:sp>
          <p:nvSpPr>
            <p:cNvPr id="224" name="TextBox 224"/>
            <p:cNvSpPr txBox="1"/>
            <p:nvPr/>
          </p:nvSpPr>
          <p:spPr>
            <a:xfrm>
              <a:off x="7462838" y="2271712"/>
              <a:ext cx="390525"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财富增值</a:t>
              </a:r>
              <a:br/>
              <a:r>
                <a:rPr lang="zh-CN" sz="750" dirty="0">
                  <a:solidFill>
                    <a:srgbClr val="3D3835"/>
                  </a:solidFill>
                  <a:latin typeface="+mn-lt"/>
                  <a:ea typeface="+mn-ea"/>
                  <a:cs typeface="+mn-cs"/>
                </a:rPr>
                <a:t>稳健进阶</a:t>
              </a:r>
              <a:br/>
              <a:r>
                <a:rPr lang="zh-CN" sz="750" dirty="0">
                  <a:solidFill>
                    <a:srgbClr val="3D3835"/>
                  </a:solidFill>
                  <a:latin typeface="+mn-lt"/>
                  <a:ea typeface="+mn-ea"/>
                  <a:cs typeface="+mn-cs"/>
                </a:rPr>
                <a:t>权益机会</a:t>
              </a:r>
            </a:p>
          </p:txBody>
        </p:sp>
        <p:grpSp>
          <p:nvGrpSpPr>
            <p:cNvPr id="228" name="Group 228"/>
            <p:cNvGrpSpPr/>
            <p:nvPr/>
          </p:nvGrpSpPr>
          <p:grpSpPr>
            <a:xfrm>
              <a:off x="8243887" y="2264569"/>
              <a:ext cx="83344" cy="100012"/>
              <a:chOff x="8243887" y="2264569"/>
              <a:chExt cx="83344" cy="100012"/>
            </a:xfrm>
          </p:grpSpPr>
          <p:sp>
            <p:nvSpPr>
              <p:cNvPr id="225" name="Freeform 225"/>
              <p:cNvSpPr/>
              <p:nvPr/>
            </p:nvSpPr>
            <p:spPr>
              <a:xfrm>
                <a:off x="8255000" y="22645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D82000"/>
                </a:solidFill>
              </a:ln>
            </p:spPr>
          </p:sp>
          <p:sp>
            <p:nvSpPr>
              <p:cNvPr id="226" name="Freeform 226"/>
              <p:cNvSpPr/>
              <p:nvPr/>
            </p:nvSpPr>
            <p:spPr>
              <a:xfrm>
                <a:off x="8243887" y="233124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D82000"/>
                </a:solidFill>
              </a:ln>
            </p:spPr>
          </p:sp>
          <p:sp>
            <p:nvSpPr>
              <p:cNvPr id="227" name="Freeform 227"/>
              <p:cNvSpPr/>
              <p:nvPr/>
            </p:nvSpPr>
            <p:spPr>
              <a:xfrm>
                <a:off x="8293894" y="2342356"/>
                <a:ext cx="33337" cy="22225"/>
              </a:xfrm>
              <a:custGeom>
                <a:avLst/>
                <a:gdLst/>
                <a:ahLst/>
                <a:cxnLst/>
                <a:rect l="l" t="t" r="r" b="b"/>
                <a:pathLst>
                  <a:path w="33337" h="22225">
                    <a:moveTo>
                      <a:pt x="0" y="11112"/>
                    </a:moveTo>
                    <a:lnTo>
                      <a:pt x="11112" y="22225"/>
                    </a:lnTo>
                    <a:lnTo>
                      <a:pt x="33337" y="0"/>
                    </a:lnTo>
                  </a:path>
                </a:pathLst>
              </a:custGeom>
              <a:noFill/>
              <a:ln w="11112">
                <a:solidFill>
                  <a:srgbClr val="D82000"/>
                </a:solidFill>
              </a:ln>
            </p:spPr>
          </p:sp>
        </p:grpSp>
        <p:grpSp>
          <p:nvGrpSpPr>
            <p:cNvPr id="232" name="Group 232"/>
            <p:cNvGrpSpPr/>
            <p:nvPr/>
          </p:nvGrpSpPr>
          <p:grpSpPr>
            <a:xfrm>
              <a:off x="8243887" y="2493169"/>
              <a:ext cx="66675" cy="100012"/>
              <a:chOff x="8243887" y="2493169"/>
              <a:chExt cx="66675" cy="100012"/>
            </a:xfrm>
          </p:grpSpPr>
          <p:sp>
            <p:nvSpPr>
              <p:cNvPr id="229" name="Freeform 229"/>
              <p:cNvSpPr/>
              <p:nvPr/>
            </p:nvSpPr>
            <p:spPr>
              <a:xfrm>
                <a:off x="8243887" y="249316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D82000"/>
                </a:solidFill>
              </a:ln>
            </p:spPr>
          </p:sp>
          <p:sp>
            <p:nvSpPr>
              <p:cNvPr id="230" name="Freeform 230"/>
              <p:cNvSpPr/>
              <p:nvPr/>
            </p:nvSpPr>
            <p:spPr>
              <a:xfrm>
                <a:off x="8271669" y="2498725"/>
                <a:ext cx="11112" cy="9525"/>
              </a:xfrm>
              <a:custGeom>
                <a:avLst/>
                <a:gdLst/>
                <a:ahLst/>
                <a:cxnLst/>
                <a:rect l="l" t="t" r="r" b="b"/>
                <a:pathLst>
                  <a:path w="11112" h="9525">
                    <a:moveTo>
                      <a:pt x="0" y="0"/>
                    </a:moveTo>
                    <a:lnTo>
                      <a:pt x="11112" y="0"/>
                    </a:lnTo>
                  </a:path>
                </a:pathLst>
              </a:custGeom>
              <a:noFill/>
              <a:ln w="11112">
                <a:solidFill>
                  <a:srgbClr val="D82000"/>
                </a:solidFill>
              </a:ln>
            </p:spPr>
          </p:sp>
          <p:sp>
            <p:nvSpPr>
              <p:cNvPr id="231" name="Freeform 231"/>
              <p:cNvSpPr/>
              <p:nvPr/>
            </p:nvSpPr>
            <p:spPr>
              <a:xfrm>
                <a:off x="8277225" y="2570956"/>
                <a:ext cx="9525" cy="9525"/>
              </a:xfrm>
              <a:custGeom>
                <a:avLst/>
                <a:gdLst/>
                <a:ahLst/>
                <a:cxnLst/>
                <a:rect l="l" t="t" r="r" b="b"/>
                <a:pathLst>
                  <a:path w="9525" h="9525">
                    <a:moveTo>
                      <a:pt x="0" y="0"/>
                    </a:moveTo>
                    <a:lnTo>
                      <a:pt x="0" y="56"/>
                    </a:lnTo>
                  </a:path>
                </a:pathLst>
              </a:custGeom>
              <a:noFill/>
              <a:ln w="11112">
                <a:solidFill>
                  <a:srgbClr val="D82000"/>
                </a:solidFill>
              </a:ln>
            </p:spPr>
          </p:sp>
        </p:grpSp>
        <p:grpSp>
          <p:nvGrpSpPr>
            <p:cNvPr id="235" name="Group 235"/>
            <p:cNvGrpSpPr/>
            <p:nvPr/>
          </p:nvGrpSpPr>
          <p:grpSpPr>
            <a:xfrm>
              <a:off x="8227219" y="2738437"/>
              <a:ext cx="100012" cy="66675"/>
              <a:chOff x="8227219" y="2738437"/>
              <a:chExt cx="100012" cy="66675"/>
            </a:xfrm>
          </p:grpSpPr>
          <p:sp>
            <p:nvSpPr>
              <p:cNvPr id="233" name="Freeform 233"/>
              <p:cNvSpPr/>
              <p:nvPr/>
            </p:nvSpPr>
            <p:spPr>
              <a:xfrm>
                <a:off x="8293894" y="2747156"/>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D82000"/>
                </a:solidFill>
              </a:ln>
            </p:spPr>
          </p:sp>
          <p:sp>
            <p:nvSpPr>
              <p:cNvPr id="234" name="Freeform 234"/>
              <p:cNvSpPr/>
              <p:nvPr/>
            </p:nvSpPr>
            <p:spPr>
              <a:xfrm>
                <a:off x="8227219" y="2738437"/>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D82000"/>
                </a:solidFill>
              </a:ln>
            </p:spPr>
          </p:sp>
        </p:grpSp>
        <p:sp>
          <p:nvSpPr>
            <p:cNvPr id="236" name="TextBox 236"/>
            <p:cNvSpPr txBox="1"/>
            <p:nvPr/>
          </p:nvSpPr>
          <p:spPr>
            <a:xfrm>
              <a:off x="8396288" y="2271712"/>
              <a:ext cx="581025"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理财顾问</a:t>
              </a:r>
              <a:br/>
              <a:r>
                <a:rPr lang="zh-CN" sz="750" dirty="0">
                  <a:solidFill>
                    <a:srgbClr val="3D3835"/>
                  </a:solidFill>
                  <a:latin typeface="+mn-lt"/>
                  <a:ea typeface="+mn-ea"/>
                  <a:cs typeface="+mn-cs"/>
                </a:rPr>
                <a:t>线上财富中心</a:t>
              </a:r>
              <a:br/>
              <a:r>
                <a:rPr lang="zh-CN" sz="750" dirty="0">
                  <a:solidFill>
                    <a:srgbClr val="3D3835"/>
                  </a:solidFill>
                  <a:latin typeface="+mn-lt"/>
                  <a:ea typeface="+mn-ea"/>
                  <a:cs typeface="+mn-cs"/>
                </a:rPr>
                <a:t>视频面签</a:t>
              </a:r>
            </a:p>
          </p:txBody>
        </p:sp>
        <p:sp>
          <p:nvSpPr>
            <p:cNvPr id="237" name="TextBox 237"/>
            <p:cNvSpPr txBox="1"/>
            <p:nvPr/>
          </p:nvSpPr>
          <p:spPr>
            <a:xfrm>
              <a:off x="9348788" y="2271712"/>
              <a:ext cx="904875"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资产配置建议</a:t>
              </a:r>
            </a:p>
            <a:p>
              <a:pPr algn="l" marL="80962" indent="-80962">
                <a:lnSpc>
                  <a:spcPts val="1800"/>
                </a:lnSpc>
                <a:buClr>
                  <a:srgbClr val="3D3835"/>
                </a:buClr>
                <a:buSzTx/>
                <a:buFontTx/>
                <a:buChar char="•"/>
              </a:pPr>
              <a:r>
                <a:rPr lang="zh-CN" sz="750" dirty="0">
                  <a:solidFill>
                    <a:srgbClr val="3D3835"/>
                  </a:solidFill>
                  <a:latin typeface="+mn-lt"/>
                  <a:ea typeface="+mn-ea"/>
                  <a:cs typeface="+mn-cs"/>
                </a:rPr>
                <a:t>热门理财/基金推荐</a:t>
              </a:r>
            </a:p>
            <a:p>
              <a:pPr algn="l" marL="80962" indent="-80962">
                <a:lnSpc>
                  <a:spcPts val="1800"/>
                </a:lnSpc>
                <a:buClr>
                  <a:srgbClr val="3D3835"/>
                </a:buClr>
                <a:buSzTx/>
                <a:buFontTx/>
                <a:buChar char="•"/>
              </a:pPr>
              <a:r>
                <a:rPr lang="zh-CN" sz="750" dirty="0">
                  <a:solidFill>
                    <a:srgbClr val="3D3835"/>
                  </a:solidFill>
                  <a:latin typeface="+mn-lt"/>
                  <a:ea typeface="+mn-ea"/>
                  <a:cs typeface="+mn-cs"/>
                </a:rPr>
                <a:t>权益市场机会触达</a:t>
              </a:r>
            </a:p>
          </p:txBody>
        </p:sp>
        <p:sp>
          <p:nvSpPr>
            <p:cNvPr id="238" name="TextBox 238"/>
            <p:cNvSpPr txBox="1"/>
            <p:nvPr/>
          </p:nvSpPr>
          <p:spPr>
            <a:xfrm>
              <a:off x="10796588" y="2271712"/>
              <a:ext cx="566738"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AUM增长率</a:t>
              </a:r>
            </a:p>
            <a:p>
              <a:pPr algn="l" marL="80962" indent="-80962">
                <a:lnSpc>
                  <a:spcPts val="1800"/>
                </a:lnSpc>
                <a:buClr>
                  <a:srgbClr val="3D3835"/>
                </a:buClr>
                <a:buSzTx/>
                <a:buFontTx/>
                <a:buChar char="•"/>
              </a:pPr>
              <a:r>
                <a:rPr lang="zh-CN" sz="750" dirty="0">
                  <a:solidFill>
                    <a:srgbClr val="3D3835"/>
                  </a:solidFill>
                  <a:latin typeface="+mn-lt"/>
                  <a:ea typeface="+mn-ea"/>
                  <a:cs typeface="+mn-cs"/>
                </a:rPr>
                <a:t>购买转化率</a:t>
              </a:r>
            </a:p>
            <a:p>
              <a:pPr algn="l" marL="80962" indent="-80962">
                <a:lnSpc>
                  <a:spcPts val="1800"/>
                </a:lnSpc>
                <a:buClr>
                  <a:srgbClr val="3D3835"/>
                </a:buClr>
                <a:buSzTx/>
                <a:buFontTx/>
                <a:buChar char="•"/>
              </a:pPr>
              <a:r>
                <a:rPr lang="zh-CN" sz="750" dirty="0">
                  <a:solidFill>
                    <a:srgbClr val="3D3835"/>
                  </a:solidFill>
                  <a:latin typeface="+mn-lt"/>
                  <a:ea typeface="+mn-ea"/>
                  <a:cs typeface="+mn-cs"/>
                </a:rPr>
                <a:t>产品持有数</a:t>
              </a:r>
            </a:p>
          </p:txBody>
        </p:sp>
        <p:sp>
          <p:nvSpPr>
            <p:cNvPr id="239" name="Ellipse 239"/>
            <p:cNvSpPr/>
            <p:nvPr/>
          </p:nvSpPr>
          <p:spPr>
            <a:xfrm>
              <a:off x="6991350" y="3152775"/>
              <a:ext cx="171450" cy="171450"/>
            </a:xfrm>
            <a:prstGeom prst="ellipse">
              <a:avLst/>
            </a:prstGeom>
            <a:solidFill>
              <a:srgbClr val="D82000"/>
            </a:solidFill>
            <a:ln>
              <a:noFill/>
            </a:ln>
          </p:spPr>
        </p:sp>
        <p:sp>
          <p:nvSpPr>
            <p:cNvPr id="240" name="TextBox 240"/>
            <p:cNvSpPr txBox="1"/>
            <p:nvPr/>
          </p:nvSpPr>
          <p:spPr>
            <a:xfrm>
              <a:off x="7043159" y="31956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241" name="TextBox 241"/>
            <p:cNvSpPr txBox="1"/>
            <p:nvPr/>
          </p:nvSpPr>
          <p:spPr>
            <a:xfrm>
              <a:off x="6968173" y="3397091"/>
              <a:ext cx="217805" cy="314325"/>
            </a:xfrm>
            <a:prstGeom prst="rect">
              <a:avLst/>
            </a:prstGeom>
            <a:noFill/>
            <a:ln>
              <a:noFill/>
            </a:ln>
          </p:spPr>
          <p:txBody>
            <a:bodyPr wrap="none" lIns="0" tIns="0" rIns="0" bIns="0" anchor="t" anchorCtr="0">
              <a:spAutoFit/>
            </a:bodyPr>
            <a:lstStyle/>
            <a:p>
              <a:pPr algn="ctr">
                <a:lnSpc>
                  <a:spcPts val="1200"/>
                </a:lnSpc>
              </a:pPr>
              <a:r>
                <a:rPr lang="zh-CN" sz="820" b="1" dirty="0">
                  <a:solidFill>
                    <a:srgbClr val="4A130A"/>
                  </a:solidFill>
                  <a:latin typeface="+mn-lt"/>
                  <a:ea typeface="+mn-ea"/>
                  <a:cs typeface="+mn-cs"/>
                </a:rPr>
                <a:t>家庭</a:t>
              </a:r>
              <a:br/>
              <a:r>
                <a:rPr lang="zh-CN" sz="820" b="1" dirty="0">
                  <a:solidFill>
                    <a:srgbClr val="4A130A"/>
                  </a:solidFill>
                  <a:latin typeface="+mn-lt"/>
                  <a:ea typeface="+mn-ea"/>
                  <a:cs typeface="+mn-cs"/>
                </a:rPr>
                <a:t>综合</a:t>
              </a:r>
            </a:p>
          </p:txBody>
        </p:sp>
        <p:sp>
          <p:nvSpPr>
            <p:cNvPr id="242" name="TextBox 242"/>
            <p:cNvSpPr txBox="1"/>
            <p:nvPr/>
          </p:nvSpPr>
          <p:spPr>
            <a:xfrm>
              <a:off x="7462838" y="3195638"/>
              <a:ext cx="390525"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家庭优选</a:t>
              </a:r>
              <a:br/>
              <a:r>
                <a:rPr lang="zh-CN" sz="750" dirty="0">
                  <a:solidFill>
                    <a:srgbClr val="3D3835"/>
                  </a:solidFill>
                  <a:latin typeface="+mn-lt"/>
                  <a:ea typeface="+mn-ea"/>
                  <a:cs typeface="+mn-cs"/>
                </a:rPr>
                <a:t>综合保障</a:t>
              </a:r>
              <a:br/>
              <a:r>
                <a:rPr lang="zh-CN" sz="750" dirty="0">
                  <a:solidFill>
                    <a:srgbClr val="3D3835"/>
                  </a:solidFill>
                  <a:latin typeface="+mn-lt"/>
                  <a:ea typeface="+mn-ea"/>
                  <a:cs typeface="+mn-cs"/>
                </a:rPr>
                <a:t>便捷省心</a:t>
              </a:r>
            </a:p>
          </p:txBody>
        </p:sp>
        <p:grpSp>
          <p:nvGrpSpPr>
            <p:cNvPr id="247" name="Group 247"/>
            <p:cNvGrpSpPr/>
            <p:nvPr/>
          </p:nvGrpSpPr>
          <p:grpSpPr>
            <a:xfrm>
              <a:off x="8227219" y="3188494"/>
              <a:ext cx="100012" cy="100012"/>
              <a:chOff x="8227219" y="3188494"/>
              <a:chExt cx="100012" cy="100012"/>
            </a:xfrm>
          </p:grpSpPr>
          <p:sp>
            <p:nvSpPr>
              <p:cNvPr id="243" name="Freeform 243"/>
              <p:cNvSpPr/>
              <p:nvPr/>
            </p:nvSpPr>
            <p:spPr>
              <a:xfrm>
                <a:off x="8238331" y="318849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D82000"/>
                </a:solidFill>
              </a:ln>
            </p:spPr>
          </p:sp>
          <p:sp>
            <p:nvSpPr>
              <p:cNvPr id="244" name="Freeform 244"/>
              <p:cNvSpPr/>
              <p:nvPr/>
            </p:nvSpPr>
            <p:spPr>
              <a:xfrm>
                <a:off x="8227219" y="325516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D82000"/>
                </a:solidFill>
              </a:ln>
            </p:spPr>
          </p:sp>
          <p:sp>
            <p:nvSpPr>
              <p:cNvPr id="245" name="Freeform 245"/>
              <p:cNvSpPr/>
              <p:nvPr/>
            </p:nvSpPr>
            <p:spPr>
              <a:xfrm>
                <a:off x="8299450" y="318921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D82000"/>
                </a:solidFill>
              </a:ln>
            </p:spPr>
          </p:sp>
          <p:sp>
            <p:nvSpPr>
              <p:cNvPr id="246" name="Freeform 246"/>
              <p:cNvSpPr/>
              <p:nvPr/>
            </p:nvSpPr>
            <p:spPr>
              <a:xfrm>
                <a:off x="8310562" y="325600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D82000"/>
                </a:solidFill>
              </a:ln>
            </p:spPr>
          </p:sp>
        </p:grpSp>
        <p:grpSp>
          <p:nvGrpSpPr>
            <p:cNvPr id="251" name="Group 251"/>
            <p:cNvGrpSpPr/>
            <p:nvPr/>
          </p:nvGrpSpPr>
          <p:grpSpPr>
            <a:xfrm>
              <a:off x="8243887" y="3417094"/>
              <a:ext cx="66675" cy="100012"/>
              <a:chOff x="8243887" y="3417094"/>
              <a:chExt cx="66675" cy="100012"/>
            </a:xfrm>
          </p:grpSpPr>
          <p:sp>
            <p:nvSpPr>
              <p:cNvPr id="248" name="Freeform 248"/>
              <p:cNvSpPr/>
              <p:nvPr/>
            </p:nvSpPr>
            <p:spPr>
              <a:xfrm>
                <a:off x="8243887" y="341709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D82000"/>
                </a:solidFill>
              </a:ln>
            </p:spPr>
          </p:sp>
          <p:sp>
            <p:nvSpPr>
              <p:cNvPr id="249" name="Freeform 249"/>
              <p:cNvSpPr/>
              <p:nvPr/>
            </p:nvSpPr>
            <p:spPr>
              <a:xfrm>
                <a:off x="8271669" y="3422650"/>
                <a:ext cx="11112" cy="9525"/>
              </a:xfrm>
              <a:custGeom>
                <a:avLst/>
                <a:gdLst/>
                <a:ahLst/>
                <a:cxnLst/>
                <a:rect l="l" t="t" r="r" b="b"/>
                <a:pathLst>
                  <a:path w="11112" h="9525">
                    <a:moveTo>
                      <a:pt x="0" y="0"/>
                    </a:moveTo>
                    <a:lnTo>
                      <a:pt x="11112" y="0"/>
                    </a:lnTo>
                  </a:path>
                </a:pathLst>
              </a:custGeom>
              <a:noFill/>
              <a:ln w="11112">
                <a:solidFill>
                  <a:srgbClr val="D82000"/>
                </a:solidFill>
              </a:ln>
            </p:spPr>
          </p:sp>
          <p:sp>
            <p:nvSpPr>
              <p:cNvPr id="250" name="Freeform 250"/>
              <p:cNvSpPr/>
              <p:nvPr/>
            </p:nvSpPr>
            <p:spPr>
              <a:xfrm>
                <a:off x="8277225" y="3494881"/>
                <a:ext cx="9525" cy="9525"/>
              </a:xfrm>
              <a:custGeom>
                <a:avLst/>
                <a:gdLst/>
                <a:ahLst/>
                <a:cxnLst/>
                <a:rect l="l" t="t" r="r" b="b"/>
                <a:pathLst>
                  <a:path w="9525" h="9525">
                    <a:moveTo>
                      <a:pt x="0" y="0"/>
                    </a:moveTo>
                    <a:lnTo>
                      <a:pt x="0" y="56"/>
                    </a:lnTo>
                  </a:path>
                </a:pathLst>
              </a:custGeom>
              <a:noFill/>
              <a:ln w="11112">
                <a:solidFill>
                  <a:srgbClr val="D82000"/>
                </a:solidFill>
              </a:ln>
            </p:spPr>
          </p:sp>
        </p:grpSp>
        <p:grpSp>
          <p:nvGrpSpPr>
            <p:cNvPr id="255" name="Group 255"/>
            <p:cNvGrpSpPr/>
            <p:nvPr/>
          </p:nvGrpSpPr>
          <p:grpSpPr>
            <a:xfrm>
              <a:off x="8227219" y="3645694"/>
              <a:ext cx="100012" cy="100012"/>
              <a:chOff x="8227219" y="3645694"/>
              <a:chExt cx="100012" cy="100012"/>
            </a:xfrm>
          </p:grpSpPr>
          <p:sp>
            <p:nvSpPr>
              <p:cNvPr id="252" name="Freeform 252"/>
              <p:cNvSpPr/>
              <p:nvPr/>
            </p:nvSpPr>
            <p:spPr>
              <a:xfrm>
                <a:off x="8227219" y="3645694"/>
                <a:ext cx="100012" cy="50006"/>
              </a:xfrm>
              <a:custGeom>
                <a:avLst/>
                <a:gdLst/>
                <a:ahLst/>
                <a:cxnLst/>
                <a:rect l="l" t="t" r="r" b="b"/>
                <a:pathLst>
                  <a:path w="100012" h="50006">
                    <a:moveTo>
                      <a:pt x="11112" y="50006"/>
                    </a:moveTo>
                    <a:lnTo>
                      <a:pt x="0" y="50006"/>
                    </a:lnTo>
                    <a:lnTo>
                      <a:pt x="50006" y="0"/>
                    </a:lnTo>
                    <a:lnTo>
                      <a:pt x="100012" y="50006"/>
                    </a:lnTo>
                    <a:lnTo>
                      <a:pt x="88900" y="50006"/>
                    </a:lnTo>
                  </a:path>
                </a:pathLst>
              </a:custGeom>
              <a:noFill/>
              <a:ln w="11112">
                <a:solidFill>
                  <a:srgbClr val="D82000"/>
                </a:solidFill>
              </a:ln>
            </p:spPr>
          </p:sp>
          <p:sp>
            <p:nvSpPr>
              <p:cNvPr id="253" name="Freeform 253"/>
              <p:cNvSpPr/>
              <p:nvPr/>
            </p:nvSpPr>
            <p:spPr>
              <a:xfrm>
                <a:off x="8238331" y="3695700"/>
                <a:ext cx="77787" cy="50006"/>
              </a:xfrm>
              <a:custGeom>
                <a:avLst/>
                <a:gdLst/>
                <a:ahLst/>
                <a:cxnLst/>
                <a:rect l="l" t="t" r="r" b="b"/>
                <a:pathLst>
                  <a:path w="77787" h="50006">
                    <a:moveTo>
                      <a:pt x="0" y="0"/>
                    </a:moveTo>
                    <a:lnTo>
                      <a:pt x="0" y="38894"/>
                    </a:lnTo>
                    <a:cubicBezTo>
                      <a:pt x="0" y="45031"/>
                      <a:pt x="4975" y="50006"/>
                      <a:pt x="11112" y="50006"/>
                    </a:cubicBezTo>
                    <a:lnTo>
                      <a:pt x="66675" y="50006"/>
                    </a:lnTo>
                    <a:cubicBezTo>
                      <a:pt x="72812" y="50006"/>
                      <a:pt x="77787" y="45031"/>
                      <a:pt x="77787" y="38894"/>
                    </a:cubicBezTo>
                    <a:lnTo>
                      <a:pt x="77787" y="0"/>
                    </a:lnTo>
                  </a:path>
                </a:pathLst>
              </a:custGeom>
              <a:noFill/>
              <a:ln w="11112">
                <a:solidFill>
                  <a:srgbClr val="D82000"/>
                </a:solidFill>
              </a:ln>
            </p:spPr>
          </p:sp>
          <p:sp>
            <p:nvSpPr>
              <p:cNvPr id="254" name="Freeform 254"/>
              <p:cNvSpPr/>
              <p:nvPr/>
            </p:nvSpPr>
            <p:spPr>
              <a:xfrm>
                <a:off x="8260556" y="3701256"/>
                <a:ext cx="33337" cy="44450"/>
              </a:xfrm>
              <a:custGeom>
                <a:avLst/>
                <a:gdLst/>
                <a:ahLst/>
                <a:cxnLst/>
                <a:rect l="l" t="t" r="r" b="b"/>
                <a:pathLst>
                  <a:path w="33337" h="44450">
                    <a:moveTo>
                      <a:pt x="0" y="44450"/>
                    </a:moveTo>
                    <a:lnTo>
                      <a:pt x="0" y="11112"/>
                    </a:lnTo>
                    <a:cubicBezTo>
                      <a:pt x="0" y="4975"/>
                      <a:pt x="4975" y="0"/>
                      <a:pt x="11112" y="0"/>
                    </a:cubicBezTo>
                    <a:lnTo>
                      <a:pt x="22225" y="0"/>
                    </a:lnTo>
                    <a:cubicBezTo>
                      <a:pt x="28362" y="0"/>
                      <a:pt x="33337" y="4975"/>
                      <a:pt x="33337" y="11112"/>
                    </a:cubicBezTo>
                    <a:lnTo>
                      <a:pt x="33337" y="44450"/>
                    </a:lnTo>
                  </a:path>
                </a:pathLst>
              </a:custGeom>
              <a:noFill/>
              <a:ln w="11112">
                <a:solidFill>
                  <a:srgbClr val="D82000"/>
                </a:solidFill>
              </a:ln>
            </p:spPr>
          </p:sp>
        </p:grpSp>
        <p:sp>
          <p:nvSpPr>
            <p:cNvPr id="256" name="TextBox 256"/>
            <p:cNvSpPr txBox="1"/>
            <p:nvPr/>
          </p:nvSpPr>
          <p:spPr>
            <a:xfrm>
              <a:off x="8396288" y="3195638"/>
              <a:ext cx="442912"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客户经理</a:t>
              </a:r>
              <a:br/>
              <a:r>
                <a:rPr lang="zh-CN" sz="750" dirty="0">
                  <a:solidFill>
                    <a:srgbClr val="3D3835"/>
                  </a:solidFill>
                  <a:latin typeface="+mn-lt"/>
                  <a:ea typeface="+mn-ea"/>
                  <a:cs typeface="+mn-cs"/>
                </a:rPr>
                <a:t>手机银行</a:t>
              </a:r>
              <a:br/>
              <a:r>
                <a:rPr lang="zh-CN" sz="750" dirty="0">
                  <a:solidFill>
                    <a:srgbClr val="3D3835"/>
                  </a:solidFill>
                  <a:latin typeface="+mn-lt"/>
                  <a:ea typeface="+mn-ea"/>
                  <a:cs typeface="+mn-cs"/>
                </a:rPr>
                <a:t>社区/网点</a:t>
              </a:r>
            </a:p>
          </p:txBody>
        </p:sp>
        <p:sp>
          <p:nvSpPr>
            <p:cNvPr id="257" name="TextBox 257"/>
            <p:cNvSpPr txBox="1"/>
            <p:nvPr/>
          </p:nvSpPr>
          <p:spPr>
            <a:xfrm>
              <a:off x="9348788" y="3195638"/>
              <a:ext cx="1000125"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家庭保障方案</a:t>
              </a:r>
            </a:p>
            <a:p>
              <a:pPr algn="l" marL="80962" indent="-80962">
                <a:lnSpc>
                  <a:spcPts val="1800"/>
                </a:lnSpc>
                <a:buClr>
                  <a:srgbClr val="3D3835"/>
                </a:buClr>
                <a:buSzTx/>
                <a:buFontTx/>
                <a:buChar char="•"/>
              </a:pPr>
              <a:r>
                <a:rPr lang="zh-CN" sz="750" dirty="0">
                  <a:solidFill>
                    <a:srgbClr val="3D3835"/>
                  </a:solidFill>
                  <a:latin typeface="+mn-lt"/>
                  <a:ea typeface="+mn-ea"/>
                  <a:cs typeface="+mn-cs"/>
                </a:rPr>
                <a:t>子女教育金规划</a:t>
              </a:r>
            </a:p>
            <a:p>
              <a:pPr algn="l" marL="80962" indent="-80962">
                <a:lnSpc>
                  <a:spcPts val="1800"/>
                </a:lnSpc>
                <a:buClr>
                  <a:srgbClr val="3D3835"/>
                </a:buClr>
                <a:buSzTx/>
                <a:buFontTx/>
                <a:buChar char="•"/>
              </a:pPr>
              <a:r>
                <a:rPr lang="zh-CN" sz="750" dirty="0">
                  <a:solidFill>
                    <a:srgbClr val="3D3835"/>
                  </a:solidFill>
                  <a:latin typeface="+mn-lt"/>
                  <a:ea typeface="+mn-ea"/>
                  <a:cs typeface="+mn-cs"/>
                </a:rPr>
                <a:t>信用卡/消费分期推荐</a:t>
              </a:r>
            </a:p>
          </p:txBody>
        </p:sp>
        <p:sp>
          <p:nvSpPr>
            <p:cNvPr id="258" name="TextBox 258"/>
            <p:cNvSpPr txBox="1"/>
            <p:nvPr/>
          </p:nvSpPr>
          <p:spPr>
            <a:xfrm>
              <a:off x="10796588" y="3195638"/>
              <a:ext cx="566738"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交叉销售率</a:t>
              </a:r>
            </a:p>
            <a:p>
              <a:pPr algn="l" marL="80962" indent="-80962">
                <a:lnSpc>
                  <a:spcPts val="1800"/>
                </a:lnSpc>
                <a:buClr>
                  <a:srgbClr val="3D3835"/>
                </a:buClr>
                <a:buSzTx/>
                <a:buFontTx/>
                <a:buChar char="•"/>
              </a:pPr>
              <a:r>
                <a:rPr lang="zh-CN" sz="750" dirty="0">
                  <a:solidFill>
                    <a:srgbClr val="3D3835"/>
                  </a:solidFill>
                  <a:latin typeface="+mn-lt"/>
                  <a:ea typeface="+mn-ea"/>
                  <a:cs typeface="+mn-cs"/>
                </a:rPr>
                <a:t>活跃度</a:t>
              </a:r>
            </a:p>
            <a:p>
              <a:pPr algn="l" marL="80962" indent="-80962">
                <a:lnSpc>
                  <a:spcPts val="1800"/>
                </a:lnSpc>
                <a:buClr>
                  <a:srgbClr val="3D3835"/>
                </a:buClr>
                <a:buSzTx/>
                <a:buFontTx/>
                <a:buChar char="•"/>
              </a:pPr>
              <a:r>
                <a:rPr lang="zh-CN" sz="750" dirty="0">
                  <a:solidFill>
                    <a:srgbClr val="3D3835"/>
                  </a:solidFill>
                  <a:latin typeface="+mn-lt"/>
                  <a:ea typeface="+mn-ea"/>
                  <a:cs typeface="+mn-cs"/>
                </a:rPr>
                <a:t>客户满意度</a:t>
              </a:r>
            </a:p>
          </p:txBody>
        </p:sp>
        <p:sp>
          <p:nvSpPr>
            <p:cNvPr id="259" name="Ellipse 259"/>
            <p:cNvSpPr/>
            <p:nvPr/>
          </p:nvSpPr>
          <p:spPr>
            <a:xfrm>
              <a:off x="6991350" y="4076700"/>
              <a:ext cx="171450" cy="171450"/>
            </a:xfrm>
            <a:prstGeom prst="ellipse">
              <a:avLst/>
            </a:prstGeom>
            <a:solidFill>
              <a:srgbClr val="D82000"/>
            </a:solidFill>
            <a:ln>
              <a:noFill/>
            </a:ln>
          </p:spPr>
        </p:sp>
        <p:sp>
          <p:nvSpPr>
            <p:cNvPr id="260" name="TextBox 260"/>
            <p:cNvSpPr txBox="1"/>
            <p:nvPr/>
          </p:nvSpPr>
          <p:spPr>
            <a:xfrm>
              <a:off x="7043159" y="4119562"/>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261" name="TextBox 261"/>
            <p:cNvSpPr txBox="1"/>
            <p:nvPr/>
          </p:nvSpPr>
          <p:spPr>
            <a:xfrm>
              <a:off x="6968173" y="4321016"/>
              <a:ext cx="217805" cy="314325"/>
            </a:xfrm>
            <a:prstGeom prst="rect">
              <a:avLst/>
            </a:prstGeom>
            <a:noFill/>
            <a:ln>
              <a:noFill/>
            </a:ln>
          </p:spPr>
          <p:txBody>
            <a:bodyPr wrap="none" lIns="0" tIns="0" rIns="0" bIns="0" anchor="t" anchorCtr="0">
              <a:spAutoFit/>
            </a:bodyPr>
            <a:lstStyle/>
            <a:p>
              <a:pPr algn="ctr">
                <a:lnSpc>
                  <a:spcPts val="1200"/>
                </a:lnSpc>
              </a:pPr>
              <a:r>
                <a:rPr lang="zh-CN" sz="820" b="1" dirty="0">
                  <a:solidFill>
                    <a:srgbClr val="4A130A"/>
                  </a:solidFill>
                  <a:latin typeface="+mn-lt"/>
                  <a:ea typeface="+mn-ea"/>
                  <a:cs typeface="+mn-cs"/>
                </a:rPr>
                <a:t>信贷</a:t>
              </a:r>
              <a:br/>
              <a:r>
                <a:rPr lang="zh-CN" sz="820" b="1" dirty="0">
                  <a:solidFill>
                    <a:srgbClr val="4A130A"/>
                  </a:solidFill>
                  <a:latin typeface="+mn-lt"/>
                  <a:ea typeface="+mn-ea"/>
                  <a:cs typeface="+mn-cs"/>
                </a:rPr>
                <a:t>活跃</a:t>
              </a:r>
            </a:p>
          </p:txBody>
        </p:sp>
        <p:sp>
          <p:nvSpPr>
            <p:cNvPr id="262" name="TextBox 262"/>
            <p:cNvSpPr txBox="1"/>
            <p:nvPr/>
          </p:nvSpPr>
          <p:spPr>
            <a:xfrm>
              <a:off x="7462838" y="4119562"/>
              <a:ext cx="390525"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融资支持</a:t>
              </a:r>
              <a:br/>
              <a:r>
                <a:rPr lang="zh-CN" sz="750" dirty="0">
                  <a:solidFill>
                    <a:srgbClr val="3D3835"/>
                  </a:solidFill>
                  <a:latin typeface="+mn-lt"/>
                  <a:ea typeface="+mn-ea"/>
                  <a:cs typeface="+mn-cs"/>
                </a:rPr>
                <a:t>灵活周转</a:t>
              </a:r>
              <a:br/>
              <a:r>
                <a:rPr lang="zh-CN" sz="750" dirty="0">
                  <a:solidFill>
                    <a:srgbClr val="3D3835"/>
                  </a:solidFill>
                  <a:latin typeface="+mn-lt"/>
                  <a:ea typeface="+mn-ea"/>
                  <a:cs typeface="+mn-cs"/>
                </a:rPr>
                <a:t>降本增效</a:t>
              </a:r>
            </a:p>
          </p:txBody>
        </p:sp>
        <p:grpSp>
          <p:nvGrpSpPr>
            <p:cNvPr id="267" name="Group 267"/>
            <p:cNvGrpSpPr/>
            <p:nvPr/>
          </p:nvGrpSpPr>
          <p:grpSpPr>
            <a:xfrm>
              <a:off x="8227219" y="4112419"/>
              <a:ext cx="100012" cy="100012"/>
              <a:chOff x="8227219" y="4112419"/>
              <a:chExt cx="100012" cy="100012"/>
            </a:xfrm>
          </p:grpSpPr>
          <p:sp>
            <p:nvSpPr>
              <p:cNvPr id="263" name="Freeform 263"/>
              <p:cNvSpPr/>
              <p:nvPr/>
            </p:nvSpPr>
            <p:spPr>
              <a:xfrm>
                <a:off x="8238331" y="41124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D82000"/>
                </a:solidFill>
              </a:ln>
            </p:spPr>
          </p:sp>
          <p:sp>
            <p:nvSpPr>
              <p:cNvPr id="264" name="Freeform 264"/>
              <p:cNvSpPr/>
              <p:nvPr/>
            </p:nvSpPr>
            <p:spPr>
              <a:xfrm>
                <a:off x="8227219" y="417909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D82000"/>
                </a:solidFill>
              </a:ln>
            </p:spPr>
          </p:sp>
          <p:sp>
            <p:nvSpPr>
              <p:cNvPr id="265" name="Freeform 265"/>
              <p:cNvSpPr/>
              <p:nvPr/>
            </p:nvSpPr>
            <p:spPr>
              <a:xfrm>
                <a:off x="8299450" y="411314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D82000"/>
                </a:solidFill>
              </a:ln>
            </p:spPr>
          </p:sp>
          <p:sp>
            <p:nvSpPr>
              <p:cNvPr id="266" name="Freeform 266"/>
              <p:cNvSpPr/>
              <p:nvPr/>
            </p:nvSpPr>
            <p:spPr>
              <a:xfrm>
                <a:off x="8310562" y="417992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D82000"/>
                </a:solidFill>
              </a:ln>
            </p:spPr>
          </p:sp>
        </p:grpSp>
        <p:grpSp>
          <p:nvGrpSpPr>
            <p:cNvPr id="272" name="Group 272"/>
            <p:cNvGrpSpPr/>
            <p:nvPr/>
          </p:nvGrpSpPr>
          <p:grpSpPr>
            <a:xfrm>
              <a:off x="8227219" y="4341019"/>
              <a:ext cx="100012" cy="94456"/>
              <a:chOff x="8227219" y="4341019"/>
              <a:chExt cx="100012" cy="94456"/>
            </a:xfrm>
          </p:grpSpPr>
          <p:sp>
            <p:nvSpPr>
              <p:cNvPr id="268" name="Freeform 268"/>
              <p:cNvSpPr/>
              <p:nvPr/>
            </p:nvSpPr>
            <p:spPr>
              <a:xfrm>
                <a:off x="8227219" y="4363244"/>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D82000"/>
                </a:solidFill>
              </a:ln>
            </p:spPr>
          </p:sp>
          <p:sp>
            <p:nvSpPr>
              <p:cNvPr id="269" name="Freeform 269"/>
              <p:cNvSpPr/>
              <p:nvPr/>
            </p:nvSpPr>
            <p:spPr>
              <a:xfrm>
                <a:off x="8255000" y="4341019"/>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D82000"/>
                </a:solidFill>
              </a:ln>
            </p:spPr>
          </p:sp>
          <p:sp>
            <p:nvSpPr>
              <p:cNvPr id="270" name="Freeform 270"/>
              <p:cNvSpPr/>
              <p:nvPr/>
            </p:nvSpPr>
            <p:spPr>
              <a:xfrm>
                <a:off x="8277225" y="4391025"/>
                <a:ext cx="9525" cy="9525"/>
              </a:xfrm>
              <a:custGeom>
                <a:avLst/>
                <a:gdLst/>
                <a:ahLst/>
                <a:cxnLst/>
                <a:rect l="l" t="t" r="r" b="b"/>
                <a:pathLst>
                  <a:path w="9525" h="9525">
                    <a:moveTo>
                      <a:pt x="0" y="0"/>
                    </a:moveTo>
                    <a:lnTo>
                      <a:pt x="0" y="56"/>
                    </a:lnTo>
                  </a:path>
                </a:pathLst>
              </a:custGeom>
              <a:noFill/>
              <a:ln w="11112">
                <a:solidFill>
                  <a:srgbClr val="D82000"/>
                </a:solidFill>
              </a:ln>
            </p:spPr>
          </p:sp>
          <p:sp>
            <p:nvSpPr>
              <p:cNvPr id="271" name="Freeform 271"/>
              <p:cNvSpPr/>
              <p:nvPr/>
            </p:nvSpPr>
            <p:spPr>
              <a:xfrm>
                <a:off x="8227219" y="4396581"/>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D82000"/>
                </a:solidFill>
              </a:ln>
            </p:spPr>
          </p:sp>
        </p:grpSp>
        <p:grpSp>
          <p:nvGrpSpPr>
            <p:cNvPr id="276" name="Group 276"/>
            <p:cNvGrpSpPr/>
            <p:nvPr/>
          </p:nvGrpSpPr>
          <p:grpSpPr>
            <a:xfrm>
              <a:off x="8243887" y="4569619"/>
              <a:ext cx="66675" cy="100012"/>
              <a:chOff x="8243887" y="4569619"/>
              <a:chExt cx="66675" cy="100012"/>
            </a:xfrm>
          </p:grpSpPr>
          <p:sp>
            <p:nvSpPr>
              <p:cNvPr id="273" name="Freeform 273"/>
              <p:cNvSpPr/>
              <p:nvPr/>
            </p:nvSpPr>
            <p:spPr>
              <a:xfrm>
                <a:off x="8243887" y="456961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D82000"/>
                </a:solidFill>
              </a:ln>
            </p:spPr>
          </p:sp>
          <p:sp>
            <p:nvSpPr>
              <p:cNvPr id="274" name="Freeform 274"/>
              <p:cNvSpPr/>
              <p:nvPr/>
            </p:nvSpPr>
            <p:spPr>
              <a:xfrm>
                <a:off x="8271669" y="4575175"/>
                <a:ext cx="11112" cy="9525"/>
              </a:xfrm>
              <a:custGeom>
                <a:avLst/>
                <a:gdLst/>
                <a:ahLst/>
                <a:cxnLst/>
                <a:rect l="l" t="t" r="r" b="b"/>
                <a:pathLst>
                  <a:path w="11112" h="9525">
                    <a:moveTo>
                      <a:pt x="0" y="0"/>
                    </a:moveTo>
                    <a:lnTo>
                      <a:pt x="11112" y="0"/>
                    </a:lnTo>
                  </a:path>
                </a:pathLst>
              </a:custGeom>
              <a:noFill/>
              <a:ln w="11112">
                <a:solidFill>
                  <a:srgbClr val="D82000"/>
                </a:solidFill>
              </a:ln>
            </p:spPr>
          </p:sp>
          <p:sp>
            <p:nvSpPr>
              <p:cNvPr id="275" name="Freeform 275"/>
              <p:cNvSpPr/>
              <p:nvPr/>
            </p:nvSpPr>
            <p:spPr>
              <a:xfrm>
                <a:off x="8277225" y="4647406"/>
                <a:ext cx="9525" cy="9525"/>
              </a:xfrm>
              <a:custGeom>
                <a:avLst/>
                <a:gdLst/>
                <a:ahLst/>
                <a:cxnLst/>
                <a:rect l="l" t="t" r="r" b="b"/>
                <a:pathLst>
                  <a:path w="9525" h="9525">
                    <a:moveTo>
                      <a:pt x="0" y="0"/>
                    </a:moveTo>
                    <a:lnTo>
                      <a:pt x="0" y="56"/>
                    </a:lnTo>
                  </a:path>
                </a:pathLst>
              </a:custGeom>
              <a:noFill/>
              <a:ln w="11112">
                <a:solidFill>
                  <a:srgbClr val="D82000"/>
                </a:solidFill>
              </a:ln>
            </p:spPr>
          </p:sp>
        </p:grpSp>
        <p:sp>
          <p:nvSpPr>
            <p:cNvPr id="277" name="TextBox 277"/>
            <p:cNvSpPr txBox="1"/>
            <p:nvPr/>
          </p:nvSpPr>
          <p:spPr>
            <a:xfrm>
              <a:off x="8396288" y="4119562"/>
              <a:ext cx="633412"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客户经理</a:t>
              </a:r>
              <a:br/>
              <a:r>
                <a:rPr lang="zh-CN" sz="750" dirty="0">
                  <a:solidFill>
                    <a:srgbClr val="3D3835"/>
                  </a:solidFill>
                  <a:latin typeface="+mn-lt"/>
                  <a:ea typeface="+mn-ea"/>
                  <a:cs typeface="+mn-cs"/>
                </a:rPr>
                <a:t>企业/信贷专线</a:t>
              </a:r>
              <a:br/>
              <a:r>
                <a:rPr lang="zh-CN" sz="750" dirty="0">
                  <a:solidFill>
                    <a:srgbClr val="3D3835"/>
                  </a:solidFill>
                  <a:latin typeface="+mn-lt"/>
                  <a:ea typeface="+mn-ea"/>
                  <a:cs typeface="+mn-cs"/>
                </a:rPr>
                <a:t>线上信贷平台</a:t>
              </a:r>
            </a:p>
          </p:txBody>
        </p:sp>
        <p:sp>
          <p:nvSpPr>
            <p:cNvPr id="278" name="TextBox 278"/>
            <p:cNvSpPr txBox="1"/>
            <p:nvPr/>
          </p:nvSpPr>
          <p:spPr>
            <a:xfrm>
              <a:off x="9348788" y="4119562"/>
              <a:ext cx="947738"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信贷额度提升</a:t>
              </a:r>
            </a:p>
            <a:p>
              <a:pPr algn="l" marL="80962" indent="-80962">
                <a:lnSpc>
                  <a:spcPts val="1800"/>
                </a:lnSpc>
                <a:buClr>
                  <a:srgbClr val="3D3835"/>
                </a:buClr>
                <a:buSzTx/>
                <a:buFontTx/>
                <a:buChar char="•"/>
              </a:pPr>
              <a:r>
                <a:rPr lang="zh-CN" sz="750" dirty="0">
                  <a:solidFill>
                    <a:srgbClr val="3D3835"/>
                  </a:solidFill>
                  <a:latin typeface="+mn-lt"/>
                  <a:ea typeface="+mn-ea"/>
                  <a:cs typeface="+mn-cs"/>
                </a:rPr>
                <a:t>经营贷款/票据方案</a:t>
              </a:r>
            </a:p>
            <a:p>
              <a:pPr algn="l" marL="80962" indent="-80962">
                <a:lnSpc>
                  <a:spcPts val="1800"/>
                </a:lnSpc>
                <a:buClr>
                  <a:srgbClr val="3D3835"/>
                </a:buClr>
                <a:buSzTx/>
                <a:buFontTx/>
                <a:buChar char="•"/>
              </a:pPr>
              <a:r>
                <a:rPr lang="zh-CN" sz="750" dirty="0">
                  <a:solidFill>
                    <a:srgbClr val="3D3835"/>
                  </a:solidFill>
                  <a:latin typeface="+mn-lt"/>
                  <a:ea typeface="+mn-ea"/>
                  <a:cs typeface="+mn-cs"/>
                </a:rPr>
                <a:t>结算与现金管理方案</a:t>
              </a:r>
            </a:p>
          </p:txBody>
        </p:sp>
        <p:sp>
          <p:nvSpPr>
            <p:cNvPr id="279" name="TextBox 279"/>
            <p:cNvSpPr txBox="1"/>
            <p:nvPr/>
          </p:nvSpPr>
          <p:spPr>
            <a:xfrm>
              <a:off x="10796588" y="4119562"/>
              <a:ext cx="471488"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信贷余额</a:t>
              </a:r>
            </a:p>
            <a:p>
              <a:pPr algn="l" marL="80962" indent="-80962">
                <a:lnSpc>
                  <a:spcPts val="1800"/>
                </a:lnSpc>
                <a:buClr>
                  <a:srgbClr val="3D3835"/>
                </a:buClr>
                <a:buSzTx/>
                <a:buFontTx/>
                <a:buChar char="•"/>
              </a:pPr>
              <a:r>
                <a:rPr lang="zh-CN" sz="750" dirty="0">
                  <a:solidFill>
                    <a:srgbClr val="3D3835"/>
                  </a:solidFill>
                  <a:latin typeface="+mn-lt"/>
                  <a:ea typeface="+mn-ea"/>
                  <a:cs typeface="+mn-cs"/>
                </a:rPr>
                <a:t>利息收入</a:t>
              </a:r>
            </a:p>
            <a:p>
              <a:pPr algn="l" marL="80962" indent="-80962">
                <a:lnSpc>
                  <a:spcPts val="1800"/>
                </a:lnSpc>
                <a:buClr>
                  <a:srgbClr val="3D3835"/>
                </a:buClr>
                <a:buSzTx/>
                <a:buFontTx/>
                <a:buChar char="•"/>
              </a:pPr>
              <a:r>
                <a:rPr lang="zh-CN" sz="750" dirty="0">
                  <a:solidFill>
                    <a:srgbClr val="3D3835"/>
                  </a:solidFill>
                  <a:latin typeface="+mn-lt"/>
                  <a:ea typeface="+mn-ea"/>
                  <a:cs typeface="+mn-cs"/>
                </a:rPr>
                <a:t>续贷率</a:t>
              </a:r>
            </a:p>
          </p:txBody>
        </p:sp>
        <p:sp>
          <p:nvSpPr>
            <p:cNvPr id="280" name="Ellipse 280"/>
            <p:cNvSpPr/>
            <p:nvPr/>
          </p:nvSpPr>
          <p:spPr>
            <a:xfrm>
              <a:off x="6991350" y="5000625"/>
              <a:ext cx="171450" cy="171450"/>
            </a:xfrm>
            <a:prstGeom prst="ellipse">
              <a:avLst/>
            </a:prstGeom>
            <a:solidFill>
              <a:srgbClr val="D82000"/>
            </a:solidFill>
            <a:ln>
              <a:noFill/>
            </a:ln>
          </p:spPr>
        </p:sp>
        <p:sp>
          <p:nvSpPr>
            <p:cNvPr id="281" name="TextBox 281"/>
            <p:cNvSpPr txBox="1"/>
            <p:nvPr/>
          </p:nvSpPr>
          <p:spPr>
            <a:xfrm>
              <a:off x="7043159" y="50434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282" name="TextBox 282"/>
            <p:cNvSpPr txBox="1"/>
            <p:nvPr/>
          </p:nvSpPr>
          <p:spPr>
            <a:xfrm>
              <a:off x="6968173" y="5244941"/>
              <a:ext cx="217805" cy="314325"/>
            </a:xfrm>
            <a:prstGeom prst="rect">
              <a:avLst/>
            </a:prstGeom>
            <a:noFill/>
            <a:ln>
              <a:noFill/>
            </a:ln>
          </p:spPr>
          <p:txBody>
            <a:bodyPr wrap="none" lIns="0" tIns="0" rIns="0" bIns="0" anchor="t" anchorCtr="0">
              <a:spAutoFit/>
            </a:bodyPr>
            <a:lstStyle/>
            <a:p>
              <a:pPr algn="ctr">
                <a:lnSpc>
                  <a:spcPts val="1200"/>
                </a:lnSpc>
              </a:pPr>
              <a:r>
                <a:rPr lang="zh-CN" sz="820" b="1" dirty="0">
                  <a:solidFill>
                    <a:srgbClr val="4A130A"/>
                  </a:solidFill>
                  <a:latin typeface="+mn-lt"/>
                  <a:ea typeface="+mn-ea"/>
                  <a:cs typeface="+mn-cs"/>
                </a:rPr>
                <a:t>支付</a:t>
              </a:r>
              <a:br/>
              <a:r>
                <a:rPr lang="zh-CN" sz="820" b="1" dirty="0">
                  <a:solidFill>
                    <a:srgbClr val="4A130A"/>
                  </a:solidFill>
                  <a:latin typeface="+mn-lt"/>
                  <a:ea typeface="+mn-ea"/>
                  <a:cs typeface="+mn-cs"/>
                </a:rPr>
                <a:t>高频</a:t>
              </a:r>
            </a:p>
          </p:txBody>
        </p:sp>
        <p:sp>
          <p:nvSpPr>
            <p:cNvPr id="283" name="TextBox 283"/>
            <p:cNvSpPr txBox="1"/>
            <p:nvPr/>
          </p:nvSpPr>
          <p:spPr>
            <a:xfrm>
              <a:off x="7462838" y="5043488"/>
              <a:ext cx="390525"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便捷支付</a:t>
              </a:r>
              <a:br/>
              <a:r>
                <a:rPr lang="zh-CN" sz="750" dirty="0">
                  <a:solidFill>
                    <a:srgbClr val="3D3835"/>
                  </a:solidFill>
                  <a:latin typeface="+mn-lt"/>
                  <a:ea typeface="+mn-ea"/>
                  <a:cs typeface="+mn-cs"/>
                </a:rPr>
                <a:t>生活优惠</a:t>
              </a:r>
              <a:br/>
              <a:r>
                <a:rPr lang="zh-CN" sz="750" dirty="0">
                  <a:solidFill>
                    <a:srgbClr val="3D3835"/>
                  </a:solidFill>
                  <a:latin typeface="+mn-lt"/>
                  <a:ea typeface="+mn-ea"/>
                  <a:cs typeface="+mn-cs"/>
                </a:rPr>
                <a:t>轻松理财</a:t>
              </a:r>
            </a:p>
          </p:txBody>
        </p:sp>
        <p:grpSp>
          <p:nvGrpSpPr>
            <p:cNvPr id="287" name="Group 287"/>
            <p:cNvGrpSpPr/>
            <p:nvPr/>
          </p:nvGrpSpPr>
          <p:grpSpPr>
            <a:xfrm>
              <a:off x="8243887" y="5036344"/>
              <a:ext cx="66675" cy="100012"/>
              <a:chOff x="8243887" y="5036344"/>
              <a:chExt cx="66675" cy="100012"/>
            </a:xfrm>
          </p:grpSpPr>
          <p:sp>
            <p:nvSpPr>
              <p:cNvPr id="284" name="Freeform 284"/>
              <p:cNvSpPr/>
              <p:nvPr/>
            </p:nvSpPr>
            <p:spPr>
              <a:xfrm>
                <a:off x="8243887" y="503634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D82000"/>
                </a:solidFill>
              </a:ln>
            </p:spPr>
          </p:sp>
          <p:sp>
            <p:nvSpPr>
              <p:cNvPr id="285" name="Freeform 285"/>
              <p:cNvSpPr/>
              <p:nvPr/>
            </p:nvSpPr>
            <p:spPr>
              <a:xfrm>
                <a:off x="8271669" y="5041900"/>
                <a:ext cx="11112" cy="9525"/>
              </a:xfrm>
              <a:custGeom>
                <a:avLst/>
                <a:gdLst/>
                <a:ahLst/>
                <a:cxnLst/>
                <a:rect l="l" t="t" r="r" b="b"/>
                <a:pathLst>
                  <a:path w="11112" h="9525">
                    <a:moveTo>
                      <a:pt x="0" y="0"/>
                    </a:moveTo>
                    <a:lnTo>
                      <a:pt x="11112" y="0"/>
                    </a:lnTo>
                  </a:path>
                </a:pathLst>
              </a:custGeom>
              <a:noFill/>
              <a:ln w="11112">
                <a:solidFill>
                  <a:srgbClr val="D82000"/>
                </a:solidFill>
              </a:ln>
            </p:spPr>
          </p:sp>
          <p:sp>
            <p:nvSpPr>
              <p:cNvPr id="286" name="Freeform 286"/>
              <p:cNvSpPr/>
              <p:nvPr/>
            </p:nvSpPr>
            <p:spPr>
              <a:xfrm>
                <a:off x="8277225" y="5114131"/>
                <a:ext cx="9525" cy="9525"/>
              </a:xfrm>
              <a:custGeom>
                <a:avLst/>
                <a:gdLst/>
                <a:ahLst/>
                <a:cxnLst/>
                <a:rect l="l" t="t" r="r" b="b"/>
                <a:pathLst>
                  <a:path w="9525" h="9525">
                    <a:moveTo>
                      <a:pt x="0" y="0"/>
                    </a:moveTo>
                    <a:lnTo>
                      <a:pt x="0" y="56"/>
                    </a:lnTo>
                  </a:path>
                </a:pathLst>
              </a:custGeom>
              <a:noFill/>
              <a:ln w="11112">
                <a:solidFill>
                  <a:srgbClr val="D82000"/>
                </a:solidFill>
              </a:ln>
            </p:spPr>
          </p:sp>
        </p:grpSp>
        <p:sp>
          <p:nvSpPr>
            <p:cNvPr id="288" name="Freeform 288"/>
            <p:cNvSpPr/>
            <p:nvPr/>
          </p:nvSpPr>
          <p:spPr>
            <a:xfrm>
              <a:off x="8221529" y="5266194"/>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D82000"/>
              </a:solidFill>
            </a:ln>
          </p:spPr>
        </p:sp>
        <p:grpSp>
          <p:nvGrpSpPr>
            <p:cNvPr id="292" name="Group 292"/>
            <p:cNvGrpSpPr/>
            <p:nvPr/>
          </p:nvGrpSpPr>
          <p:grpSpPr>
            <a:xfrm>
              <a:off x="8238331" y="5493544"/>
              <a:ext cx="77787" cy="100012"/>
              <a:chOff x="8238331" y="5493544"/>
              <a:chExt cx="77787" cy="100012"/>
            </a:xfrm>
          </p:grpSpPr>
          <p:sp>
            <p:nvSpPr>
              <p:cNvPr id="289" name="Freeform 289"/>
              <p:cNvSpPr/>
              <p:nvPr/>
            </p:nvSpPr>
            <p:spPr>
              <a:xfrm>
                <a:off x="8238331" y="5526881"/>
                <a:ext cx="77787" cy="66675"/>
              </a:xfrm>
              <a:custGeom>
                <a:avLst/>
                <a:gdLst/>
                <a:ahLst/>
                <a:cxnLst/>
                <a:rect l="l" t="t" r="r" b="b"/>
                <a:pathLst>
                  <a:path w="77787" h="66675">
                    <a:moveTo>
                      <a:pt x="16669" y="0"/>
                    </a:moveTo>
                    <a:lnTo>
                      <a:pt x="11112" y="0"/>
                    </a:lnTo>
                    <a:cubicBezTo>
                      <a:pt x="4975" y="0"/>
                      <a:pt x="0" y="4975"/>
                      <a:pt x="0" y="11112"/>
                    </a:cubicBezTo>
                    <a:lnTo>
                      <a:pt x="0" y="55562"/>
                    </a:lnTo>
                    <a:cubicBezTo>
                      <a:pt x="0" y="61700"/>
                      <a:pt x="4975" y="66675"/>
                      <a:pt x="11112" y="66675"/>
                    </a:cubicBezTo>
                    <a:lnTo>
                      <a:pt x="66675" y="66675"/>
                    </a:lnTo>
                    <a:cubicBezTo>
                      <a:pt x="72812" y="66675"/>
                      <a:pt x="77787" y="61700"/>
                      <a:pt x="77787" y="55562"/>
                    </a:cubicBezTo>
                    <a:lnTo>
                      <a:pt x="77787" y="11112"/>
                    </a:lnTo>
                    <a:cubicBezTo>
                      <a:pt x="77787" y="4975"/>
                      <a:pt x="72812" y="0"/>
                      <a:pt x="66675" y="0"/>
                    </a:cubicBezTo>
                    <a:lnTo>
                      <a:pt x="61119" y="0"/>
                    </a:lnTo>
                  </a:path>
                </a:pathLst>
              </a:custGeom>
              <a:noFill/>
              <a:ln w="11112">
                <a:solidFill>
                  <a:srgbClr val="D82000"/>
                </a:solidFill>
              </a:ln>
            </p:spPr>
          </p:sp>
          <p:sp>
            <p:nvSpPr>
              <p:cNvPr id="290" name="Freeform 290"/>
              <p:cNvSpPr/>
              <p:nvPr/>
            </p:nvSpPr>
            <p:spPr>
              <a:xfrm>
                <a:off x="8277225" y="5493544"/>
                <a:ext cx="9525" cy="61119"/>
              </a:xfrm>
              <a:custGeom>
                <a:avLst/>
                <a:gdLst/>
                <a:ahLst/>
                <a:cxnLst/>
                <a:rect l="l" t="t" r="r" b="b"/>
                <a:pathLst>
                  <a:path w="9525" h="61119">
                    <a:moveTo>
                      <a:pt x="0" y="61119"/>
                    </a:moveTo>
                    <a:lnTo>
                      <a:pt x="0" y="0"/>
                    </a:lnTo>
                  </a:path>
                </a:pathLst>
              </a:custGeom>
              <a:noFill/>
              <a:ln w="11112">
                <a:solidFill>
                  <a:srgbClr val="D82000"/>
                </a:solidFill>
              </a:ln>
            </p:spPr>
          </p:sp>
          <p:sp>
            <p:nvSpPr>
              <p:cNvPr id="291" name="Freeform 291"/>
              <p:cNvSpPr/>
              <p:nvPr/>
            </p:nvSpPr>
            <p:spPr>
              <a:xfrm>
                <a:off x="8260556" y="5493544"/>
                <a:ext cx="33337" cy="16669"/>
              </a:xfrm>
              <a:custGeom>
                <a:avLst/>
                <a:gdLst/>
                <a:ahLst/>
                <a:cxnLst/>
                <a:rect l="l" t="t" r="r" b="b"/>
                <a:pathLst>
                  <a:path w="33337" h="16669">
                    <a:moveTo>
                      <a:pt x="0" y="16669"/>
                    </a:moveTo>
                    <a:lnTo>
                      <a:pt x="16669" y="0"/>
                    </a:lnTo>
                    <a:lnTo>
                      <a:pt x="33337" y="16669"/>
                    </a:lnTo>
                  </a:path>
                </a:pathLst>
              </a:custGeom>
              <a:noFill/>
              <a:ln w="11112">
                <a:solidFill>
                  <a:srgbClr val="D82000"/>
                </a:solidFill>
              </a:ln>
            </p:spPr>
          </p:sp>
        </p:grpSp>
        <p:sp>
          <p:nvSpPr>
            <p:cNvPr id="293" name="TextBox 293"/>
            <p:cNvSpPr txBox="1"/>
            <p:nvPr/>
          </p:nvSpPr>
          <p:spPr>
            <a:xfrm>
              <a:off x="8396288" y="5043488"/>
              <a:ext cx="485775"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手机银行</a:t>
              </a:r>
              <a:br/>
              <a:r>
                <a:rPr lang="zh-CN" sz="750" dirty="0">
                  <a:solidFill>
                    <a:srgbClr val="3D3835"/>
                  </a:solidFill>
                  <a:latin typeface="+mn-lt"/>
                  <a:ea typeface="+mn-ea"/>
                  <a:cs typeface="+mn-cs"/>
                </a:rPr>
                <a:t>微信公众号</a:t>
              </a:r>
              <a:br/>
              <a:r>
                <a:rPr lang="zh-CN" sz="750" dirty="0">
                  <a:solidFill>
                    <a:srgbClr val="3D3835"/>
                  </a:solidFill>
                  <a:latin typeface="+mn-lt"/>
                  <a:ea typeface="+mn-ea"/>
                  <a:cs typeface="+mn-cs"/>
                </a:rPr>
                <a:t>第三方生态</a:t>
              </a:r>
            </a:p>
          </p:txBody>
        </p:sp>
        <p:sp>
          <p:nvSpPr>
            <p:cNvPr id="294" name="TextBox 294"/>
            <p:cNvSpPr txBox="1"/>
            <p:nvPr/>
          </p:nvSpPr>
          <p:spPr>
            <a:xfrm>
              <a:off x="9348788" y="5043488"/>
              <a:ext cx="904875"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生活缴费/优惠权益</a:t>
              </a:r>
            </a:p>
            <a:p>
              <a:pPr algn="l" marL="80962" indent="-80962">
                <a:lnSpc>
                  <a:spcPts val="1800"/>
                </a:lnSpc>
                <a:buClr>
                  <a:srgbClr val="3D3835"/>
                </a:buClr>
                <a:buSzTx/>
                <a:buFontTx/>
                <a:buChar char="•"/>
              </a:pPr>
              <a:r>
                <a:rPr lang="zh-CN" sz="750" dirty="0">
                  <a:solidFill>
                    <a:srgbClr val="3D3835"/>
                  </a:solidFill>
                  <a:latin typeface="+mn-lt"/>
                  <a:ea typeface="+mn-ea"/>
                  <a:cs typeface="+mn-cs"/>
                </a:rPr>
                <a:t>货币基金/零钱理财</a:t>
              </a:r>
            </a:p>
            <a:p>
              <a:pPr algn="l" marL="80962" indent="-80962">
                <a:lnSpc>
                  <a:spcPts val="1800"/>
                </a:lnSpc>
                <a:buClr>
                  <a:srgbClr val="3D3835"/>
                </a:buClr>
                <a:buSzTx/>
                <a:buFontTx/>
                <a:buChar char="•"/>
              </a:pPr>
              <a:r>
                <a:rPr lang="zh-CN" sz="750" dirty="0">
                  <a:solidFill>
                    <a:srgbClr val="3D3835"/>
                  </a:solidFill>
                  <a:latin typeface="+mn-lt"/>
                  <a:ea typeface="+mn-ea"/>
                  <a:cs typeface="+mn-cs"/>
                </a:rPr>
                <a:t>数字卡/快捷支付</a:t>
              </a:r>
            </a:p>
          </p:txBody>
        </p:sp>
        <p:sp>
          <p:nvSpPr>
            <p:cNvPr id="295" name="TextBox 295"/>
            <p:cNvSpPr txBox="1"/>
            <p:nvPr/>
          </p:nvSpPr>
          <p:spPr>
            <a:xfrm>
              <a:off x="10796588" y="5043488"/>
              <a:ext cx="471488"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en-US" sz="750" dirty="0">
                  <a:solidFill>
                    <a:srgbClr val="3D3835"/>
                  </a:solidFill>
                  <a:latin typeface="+mn-lt"/>
                  <a:ea typeface="+mn-ea"/>
                  <a:cs typeface="+mn-cs"/>
                </a:rPr>
                <a:t>MAU</a:t>
              </a:r>
            </a:p>
            <a:p>
              <a:pPr algn="l" marL="80962" indent="-80962">
                <a:lnSpc>
                  <a:spcPts val="1800"/>
                </a:lnSpc>
                <a:buClr>
                  <a:srgbClr val="3D3835"/>
                </a:buClr>
                <a:buSzTx/>
                <a:buFontTx/>
                <a:buChar char="•"/>
              </a:pPr>
              <a:r>
                <a:rPr lang="zh-CN" sz="750" dirty="0">
                  <a:solidFill>
                    <a:srgbClr val="3D3835"/>
                  </a:solidFill>
                  <a:latin typeface="+mn-lt"/>
                  <a:ea typeface="+mn-ea"/>
                  <a:cs typeface="+mn-cs"/>
                </a:rPr>
                <a:t>支付笔数</a:t>
              </a:r>
            </a:p>
            <a:p>
              <a:pPr algn="l" marL="80962" indent="-80962">
                <a:lnSpc>
                  <a:spcPts val="1800"/>
                </a:lnSpc>
                <a:buClr>
                  <a:srgbClr val="3D3835"/>
                </a:buClr>
                <a:buSzTx/>
                <a:buFontTx/>
                <a:buChar char="•"/>
              </a:pPr>
              <a:r>
                <a:rPr lang="zh-CN" sz="750" dirty="0">
                  <a:solidFill>
                    <a:srgbClr val="3D3835"/>
                  </a:solidFill>
                  <a:latin typeface="+mn-lt"/>
                  <a:ea typeface="+mn-ea"/>
                  <a:cs typeface="+mn-cs"/>
                </a:rPr>
                <a:t>活跃天数</a:t>
              </a:r>
            </a:p>
          </p:txBody>
        </p:sp>
        <p:sp>
          <p:nvSpPr>
            <p:cNvPr id="296" name="Ellipse 296"/>
            <p:cNvSpPr/>
            <p:nvPr/>
          </p:nvSpPr>
          <p:spPr>
            <a:xfrm>
              <a:off x="6991350" y="5924550"/>
              <a:ext cx="171450" cy="171450"/>
            </a:xfrm>
            <a:prstGeom prst="ellipse">
              <a:avLst/>
            </a:prstGeom>
            <a:solidFill>
              <a:srgbClr val="D82000"/>
            </a:solidFill>
            <a:ln>
              <a:noFill/>
            </a:ln>
          </p:spPr>
        </p:sp>
        <p:sp>
          <p:nvSpPr>
            <p:cNvPr id="297" name="TextBox 297"/>
            <p:cNvSpPr txBox="1"/>
            <p:nvPr/>
          </p:nvSpPr>
          <p:spPr>
            <a:xfrm>
              <a:off x="7043159" y="5967412"/>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a:t>
              </a:r>
            </a:p>
          </p:txBody>
        </p:sp>
        <p:sp>
          <p:nvSpPr>
            <p:cNvPr id="298" name="TextBox 298"/>
            <p:cNvSpPr txBox="1"/>
            <p:nvPr/>
          </p:nvSpPr>
          <p:spPr>
            <a:xfrm>
              <a:off x="6916102" y="6168866"/>
              <a:ext cx="321945" cy="314325"/>
            </a:xfrm>
            <a:prstGeom prst="rect">
              <a:avLst/>
            </a:prstGeom>
            <a:noFill/>
            <a:ln>
              <a:noFill/>
            </a:ln>
          </p:spPr>
          <p:txBody>
            <a:bodyPr wrap="none" lIns="0" tIns="0" rIns="0" bIns="0" anchor="t" anchorCtr="0">
              <a:spAutoFit/>
            </a:bodyPr>
            <a:lstStyle/>
            <a:p>
              <a:pPr algn="ctr">
                <a:lnSpc>
                  <a:spcPts val="1200"/>
                </a:lnSpc>
              </a:pPr>
              <a:r>
                <a:rPr lang="zh-CN" sz="820" b="1" dirty="0">
                  <a:solidFill>
                    <a:srgbClr val="4A130A"/>
                  </a:solidFill>
                  <a:latin typeface="+mn-lt"/>
                  <a:ea typeface="+mn-ea"/>
                  <a:cs typeface="+mn-cs"/>
                </a:rPr>
                <a:t>沉睡</a:t>
              </a:r>
              <a:br/>
              <a:r>
                <a:rPr lang="zh-CN" sz="820" b="1" dirty="0">
                  <a:solidFill>
                    <a:srgbClr val="4A130A"/>
                  </a:solidFill>
                  <a:latin typeface="+mn-lt"/>
                  <a:ea typeface="+mn-ea"/>
                  <a:cs typeface="+mn-cs"/>
                </a:rPr>
                <a:t>待唤醒</a:t>
              </a:r>
            </a:p>
          </p:txBody>
        </p:sp>
        <p:sp>
          <p:nvSpPr>
            <p:cNvPr id="299" name="TextBox 299"/>
            <p:cNvSpPr txBox="1"/>
            <p:nvPr/>
          </p:nvSpPr>
          <p:spPr>
            <a:xfrm>
              <a:off x="7462838" y="5967412"/>
              <a:ext cx="390525"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唤醒连接</a:t>
              </a:r>
              <a:br/>
              <a:r>
                <a:rPr lang="zh-CN" sz="750" dirty="0">
                  <a:solidFill>
                    <a:srgbClr val="3D3835"/>
                  </a:solidFill>
                  <a:latin typeface="+mn-lt"/>
                  <a:ea typeface="+mn-ea"/>
                  <a:cs typeface="+mn-cs"/>
                </a:rPr>
                <a:t>激活价值</a:t>
              </a:r>
              <a:br/>
              <a:r>
                <a:rPr lang="zh-CN" sz="750" dirty="0">
                  <a:solidFill>
                    <a:srgbClr val="3D3835"/>
                  </a:solidFill>
                  <a:latin typeface="+mn-lt"/>
                  <a:ea typeface="+mn-ea"/>
                  <a:cs typeface="+mn-cs"/>
                </a:rPr>
                <a:t>重建关系</a:t>
              </a:r>
            </a:p>
          </p:txBody>
        </p:sp>
        <p:sp>
          <p:nvSpPr>
            <p:cNvPr id="300" name="Freeform 300"/>
            <p:cNvSpPr/>
            <p:nvPr/>
          </p:nvSpPr>
          <p:spPr>
            <a:xfrm>
              <a:off x="8221529" y="59615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D82000"/>
              </a:solidFill>
            </a:ln>
          </p:spPr>
        </p:sp>
        <p:grpSp>
          <p:nvGrpSpPr>
            <p:cNvPr id="305" name="Group 305"/>
            <p:cNvGrpSpPr/>
            <p:nvPr/>
          </p:nvGrpSpPr>
          <p:grpSpPr>
            <a:xfrm>
              <a:off x="8227219" y="6188869"/>
              <a:ext cx="100012" cy="100012"/>
              <a:chOff x="8227219" y="6188869"/>
              <a:chExt cx="100012" cy="100012"/>
            </a:xfrm>
          </p:grpSpPr>
          <p:sp>
            <p:nvSpPr>
              <p:cNvPr id="301" name="Freeform 301"/>
              <p:cNvSpPr/>
              <p:nvPr/>
            </p:nvSpPr>
            <p:spPr>
              <a:xfrm>
                <a:off x="8238331" y="61888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D82000"/>
                </a:solidFill>
              </a:ln>
            </p:spPr>
          </p:sp>
          <p:sp>
            <p:nvSpPr>
              <p:cNvPr id="302" name="Freeform 302"/>
              <p:cNvSpPr/>
              <p:nvPr/>
            </p:nvSpPr>
            <p:spPr>
              <a:xfrm>
                <a:off x="8227219" y="62555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D82000"/>
                </a:solidFill>
              </a:ln>
            </p:spPr>
          </p:sp>
          <p:sp>
            <p:nvSpPr>
              <p:cNvPr id="303" name="Freeform 303"/>
              <p:cNvSpPr/>
              <p:nvPr/>
            </p:nvSpPr>
            <p:spPr>
              <a:xfrm>
                <a:off x="8299450" y="61895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D82000"/>
                </a:solidFill>
              </a:ln>
            </p:spPr>
          </p:sp>
          <p:sp>
            <p:nvSpPr>
              <p:cNvPr id="304" name="Freeform 304"/>
              <p:cNvSpPr/>
              <p:nvPr/>
            </p:nvSpPr>
            <p:spPr>
              <a:xfrm>
                <a:off x="8310562" y="62563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D82000"/>
                </a:solidFill>
              </a:ln>
            </p:spPr>
          </p:sp>
        </p:grpSp>
        <p:grpSp>
          <p:nvGrpSpPr>
            <p:cNvPr id="309" name="Group 309"/>
            <p:cNvGrpSpPr/>
            <p:nvPr/>
          </p:nvGrpSpPr>
          <p:grpSpPr>
            <a:xfrm>
              <a:off x="8243887" y="6417469"/>
              <a:ext cx="66675" cy="100012"/>
              <a:chOff x="8243887" y="6417469"/>
              <a:chExt cx="66675" cy="100012"/>
            </a:xfrm>
          </p:grpSpPr>
          <p:sp>
            <p:nvSpPr>
              <p:cNvPr id="306" name="Freeform 306"/>
              <p:cNvSpPr/>
              <p:nvPr/>
            </p:nvSpPr>
            <p:spPr>
              <a:xfrm>
                <a:off x="8243887" y="641746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D82000"/>
                </a:solidFill>
              </a:ln>
            </p:spPr>
          </p:sp>
          <p:sp>
            <p:nvSpPr>
              <p:cNvPr id="307" name="Freeform 307"/>
              <p:cNvSpPr/>
              <p:nvPr/>
            </p:nvSpPr>
            <p:spPr>
              <a:xfrm>
                <a:off x="8271669" y="6423025"/>
                <a:ext cx="11112" cy="9525"/>
              </a:xfrm>
              <a:custGeom>
                <a:avLst/>
                <a:gdLst/>
                <a:ahLst/>
                <a:cxnLst/>
                <a:rect l="l" t="t" r="r" b="b"/>
                <a:pathLst>
                  <a:path w="11112" h="9525">
                    <a:moveTo>
                      <a:pt x="0" y="0"/>
                    </a:moveTo>
                    <a:lnTo>
                      <a:pt x="11112" y="0"/>
                    </a:lnTo>
                  </a:path>
                </a:pathLst>
              </a:custGeom>
              <a:noFill/>
              <a:ln w="11112">
                <a:solidFill>
                  <a:srgbClr val="D82000"/>
                </a:solidFill>
              </a:ln>
            </p:spPr>
          </p:sp>
          <p:sp>
            <p:nvSpPr>
              <p:cNvPr id="308" name="Freeform 308"/>
              <p:cNvSpPr/>
              <p:nvPr/>
            </p:nvSpPr>
            <p:spPr>
              <a:xfrm>
                <a:off x="8277225" y="6495256"/>
                <a:ext cx="9525" cy="9525"/>
              </a:xfrm>
              <a:custGeom>
                <a:avLst/>
                <a:gdLst/>
                <a:ahLst/>
                <a:cxnLst/>
                <a:rect l="l" t="t" r="r" b="b"/>
                <a:pathLst>
                  <a:path w="9525" h="9525">
                    <a:moveTo>
                      <a:pt x="0" y="0"/>
                    </a:moveTo>
                    <a:lnTo>
                      <a:pt x="0" y="56"/>
                    </a:lnTo>
                  </a:path>
                </a:pathLst>
              </a:custGeom>
              <a:noFill/>
              <a:ln w="11112">
                <a:solidFill>
                  <a:srgbClr val="D82000"/>
                </a:solidFill>
              </a:ln>
            </p:spPr>
          </p:sp>
        </p:grpSp>
        <p:sp>
          <p:nvSpPr>
            <p:cNvPr id="310" name="TextBox 310"/>
            <p:cNvSpPr txBox="1"/>
            <p:nvPr/>
          </p:nvSpPr>
          <p:spPr>
            <a:xfrm>
              <a:off x="8396288" y="5967412"/>
              <a:ext cx="461962" cy="604838"/>
            </a:xfrm>
            <a:prstGeom prst="rect">
              <a:avLst/>
            </a:prstGeom>
            <a:noFill/>
            <a:ln>
              <a:noFill/>
            </a:ln>
          </p:spPr>
          <p:txBody>
            <a:bodyPr wrap="none" lIns="0" tIns="0" rIns="0" bIns="0" anchor="t" anchorCtr="0">
              <a:spAutoFit/>
            </a:bodyPr>
            <a:lstStyle/>
            <a:p>
              <a:pPr algn="l">
                <a:lnSpc>
                  <a:spcPts val="1800"/>
                </a:lnSpc>
              </a:pPr>
              <a:r>
                <a:rPr lang="zh-CN" sz="750" dirty="0">
                  <a:solidFill>
                    <a:srgbClr val="3D3835"/>
                  </a:solidFill>
                  <a:latin typeface="+mn-lt"/>
                  <a:ea typeface="+mn-ea"/>
                  <a:cs typeface="+mn-cs"/>
                </a:rPr>
                <a:t>短信/Push</a:t>
              </a:r>
              <a:br/>
              <a:r>
                <a:rPr lang="zh-CN" sz="750" dirty="0">
                  <a:solidFill>
                    <a:srgbClr val="3D3835"/>
                  </a:solidFill>
                  <a:latin typeface="+mn-lt"/>
                  <a:ea typeface="+mn-ea"/>
                  <a:cs typeface="+mn-cs"/>
                </a:rPr>
                <a:t>电话外呼</a:t>
              </a:r>
              <a:br/>
              <a:r>
                <a:rPr lang="zh-CN" sz="750" dirty="0">
                  <a:solidFill>
                    <a:srgbClr val="3D3835"/>
                  </a:solidFill>
                  <a:latin typeface="+mn-lt"/>
                  <a:ea typeface="+mn-ea"/>
                  <a:cs typeface="+mn-cs"/>
                </a:rPr>
                <a:t>互动活动</a:t>
              </a:r>
            </a:p>
          </p:txBody>
        </p:sp>
        <p:sp>
          <p:nvSpPr>
            <p:cNvPr id="311" name="TextBox 311"/>
            <p:cNvSpPr txBox="1"/>
            <p:nvPr/>
          </p:nvSpPr>
          <p:spPr>
            <a:xfrm>
              <a:off x="9348788" y="5967412"/>
              <a:ext cx="852488"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账户激活引导</a:t>
              </a:r>
            </a:p>
            <a:p>
              <a:pPr algn="l" marL="80962" indent="-80962">
                <a:lnSpc>
                  <a:spcPts val="1800"/>
                </a:lnSpc>
                <a:buClr>
                  <a:srgbClr val="3D3835"/>
                </a:buClr>
                <a:buSzTx/>
                <a:buFontTx/>
                <a:buChar char="•"/>
              </a:pPr>
              <a:r>
                <a:rPr lang="zh-CN" sz="750" dirty="0">
                  <a:solidFill>
                    <a:srgbClr val="3D3835"/>
                  </a:solidFill>
                  <a:latin typeface="+mn-lt"/>
                  <a:ea typeface="+mn-ea"/>
                  <a:cs typeface="+mn-cs"/>
                </a:rPr>
                <a:t>专属权益礼包</a:t>
              </a:r>
            </a:p>
            <a:p>
              <a:pPr algn="l" marL="80962" indent="-80962">
                <a:lnSpc>
                  <a:spcPts val="1800"/>
                </a:lnSpc>
                <a:buClr>
                  <a:srgbClr val="3D3835"/>
                </a:buClr>
                <a:buSzTx/>
                <a:buFontTx/>
                <a:buChar char="•"/>
              </a:pPr>
              <a:r>
                <a:rPr lang="zh-CN" sz="750" dirty="0">
                  <a:solidFill>
                    <a:srgbClr val="3D3835"/>
                  </a:solidFill>
                  <a:latin typeface="+mn-lt"/>
                  <a:ea typeface="+mn-ea"/>
                  <a:cs typeface="+mn-cs"/>
                </a:rPr>
                <a:t>简单理财入门推荐</a:t>
              </a:r>
            </a:p>
          </p:txBody>
        </p:sp>
        <p:sp>
          <p:nvSpPr>
            <p:cNvPr id="312" name="TextBox 312"/>
            <p:cNvSpPr txBox="1"/>
            <p:nvPr/>
          </p:nvSpPr>
          <p:spPr>
            <a:xfrm>
              <a:off x="10796588" y="5967412"/>
              <a:ext cx="576262" cy="604838"/>
            </a:xfrm>
            <a:prstGeom prst="rect">
              <a:avLst/>
            </a:prstGeom>
            <a:noFill/>
            <a:ln>
              <a:noFill/>
            </a:ln>
          </p:spPr>
          <p:txBody>
            <a:bodyPr wrap="none" lIns="0" tIns="0" rIns="0" bIns="0" anchor="t" anchorCtr="0">
              <a:spAutoFit/>
            </a:bodyPr>
            <a:lstStyle/>
            <a:p>
              <a:pPr algn="l" marL="80962" indent="-80962">
                <a:lnSpc>
                  <a:spcPts val="1800"/>
                </a:lnSpc>
                <a:buClr>
                  <a:srgbClr val="3D3835"/>
                </a:buClr>
                <a:buSzTx/>
                <a:buFontTx/>
                <a:buChar char="•"/>
              </a:pPr>
              <a:r>
                <a:rPr lang="zh-CN" sz="750" dirty="0">
                  <a:solidFill>
                    <a:srgbClr val="3D3835"/>
                  </a:solidFill>
                  <a:latin typeface="+mn-lt"/>
                  <a:ea typeface="+mn-ea"/>
                  <a:cs typeface="+mn-cs"/>
                </a:rPr>
                <a:t>激活率</a:t>
              </a:r>
            </a:p>
            <a:p>
              <a:pPr algn="l" marL="80962" indent="-80962">
                <a:lnSpc>
                  <a:spcPts val="1800"/>
                </a:lnSpc>
                <a:buClr>
                  <a:srgbClr val="3D3835"/>
                </a:buClr>
                <a:buSzTx/>
                <a:buFontTx/>
                <a:buChar char="•"/>
              </a:pPr>
              <a:r>
                <a:rPr lang="zh-CN" sz="750" dirty="0">
                  <a:solidFill>
                    <a:srgbClr val="3D3835"/>
                  </a:solidFill>
                  <a:latin typeface="+mn-lt"/>
                  <a:ea typeface="+mn-ea"/>
                  <a:cs typeface="+mn-cs"/>
                </a:rPr>
                <a:t>首次交易率</a:t>
              </a:r>
            </a:p>
            <a:p>
              <a:pPr algn="l" marL="80962" indent="-80962">
                <a:lnSpc>
                  <a:spcPts val="1800"/>
                </a:lnSpc>
                <a:buClr>
                  <a:srgbClr val="3D3835"/>
                </a:buClr>
                <a:buSzTx/>
                <a:buFontTx/>
                <a:buChar char="•"/>
              </a:pPr>
              <a:r>
                <a:rPr lang="zh-CN" sz="750" dirty="0">
                  <a:solidFill>
                    <a:srgbClr val="3D3835"/>
                  </a:solidFill>
                  <a:latin typeface="+mn-lt"/>
                  <a:ea typeface="+mn-ea"/>
                  <a:cs typeface="+mn-cs"/>
                </a:rPr>
                <a:t>30天留存率</a:t>
              </a:r>
            </a:p>
          </p:txBody>
        </p:sp>
      </p:gr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06</a:t>
              </a:r>
            </a:p>
          </p:txBody>
        </p:sp>
        <p:sp>
          <p:nvSpPr>
            <p:cNvPr id="4" name="TextBox 4"/>
            <p:cNvSpPr txBox="1"/>
            <p:nvPr/>
          </p:nvSpPr>
          <p:spPr>
            <a:xfrm>
              <a:off x="904494" y="170498"/>
              <a:ext cx="7784172"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生命周期</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围绕关系建立、成长、成熟与流失建立差异化运营机制​</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62" name="stage-curve"/>
          <p:cNvGrpSpPr/>
          <p:nvPr/>
        </p:nvGrpSpPr>
        <p:grpSpPr>
          <a:xfrm>
            <a:off x="376238" y="717947"/>
            <a:ext cx="5033962" cy="2641283"/>
            <a:chOff x="376238" y="717947"/>
            <a:chExt cx="5033962" cy="2641283"/>
          </a:xfrm>
        </p:grpSpPr>
        <p:sp>
          <p:nvSpPr>
            <p:cNvPr id="7" name="TextBox 7"/>
            <p:cNvSpPr txBox="1"/>
            <p:nvPr/>
          </p:nvSpPr>
          <p:spPr>
            <a:xfrm>
              <a:off x="376238" y="717947"/>
              <a:ext cx="1474574" cy="183356"/>
            </a:xfrm>
            <a:prstGeom prst="rect">
              <a:avLst/>
            </a:prstGeom>
            <a:noFill/>
            <a:ln>
              <a:noFill/>
            </a:ln>
          </p:spPr>
          <p:txBody>
            <a:bodyPr wrap="none" lIns="0" tIns="0" rIns="0" bIns="0" anchor="t" anchorCtr="0">
              <a:spAutoFit/>
            </a:bodyPr>
            <a:lstStyle/>
            <a:p>
              <a:pPr algn="l"/>
              <a:r>
                <a:rPr lang="zh-CN" sz="940" b="1" dirty="0">
                  <a:solidFill>
                    <a:srgbClr val="C41D00"/>
                  </a:solidFill>
                  <a:latin typeface="+mn-lt"/>
                  <a:ea typeface="+mn-ea"/>
                  <a:cs typeface="+mn-cs"/>
                </a:rPr>
                <a:t>客户生命周期六阶段模型​</a:t>
              </a:r>
            </a:p>
          </p:txBody>
        </p:sp>
        <p:sp>
          <p:nvSpPr>
            <p:cNvPr id="8" name="Line 8"/>
            <p:cNvSpPr/>
            <p:nvPr/>
          </p:nvSpPr>
          <p:spPr>
            <a:xfrm>
              <a:off x="571500" y="1066800"/>
              <a:ext cx="9525" cy="2076450"/>
            </a:xfrm>
            <a:custGeom>
              <a:avLst/>
              <a:gdLst/>
              <a:ahLst/>
              <a:cxnLst/>
              <a:rect l="l" t="t" r="r" b="b"/>
              <a:pathLst>
                <a:path w="9525" h="2076450">
                  <a:moveTo>
                    <a:pt x="0" y="2076450"/>
                  </a:moveTo>
                  <a:lnTo>
                    <a:pt x="0" y="0"/>
                  </a:lnTo>
                </a:path>
              </a:pathLst>
            </a:custGeom>
            <a:noFill/>
            <a:ln w="11430">
              <a:solidFill>
                <a:srgbClr val="7A716B"/>
              </a:solidFill>
            </a:ln>
          </p:spPr>
        </p:sp>
        <p:sp>
          <p:nvSpPr>
            <p:cNvPr id="9" name="Polygon 9"/>
            <p:cNvSpPr/>
            <p:nvPr/>
          </p:nvSpPr>
          <p:spPr>
            <a:xfrm>
              <a:off x="533400" y="1009650"/>
              <a:ext cx="76200" cy="95250"/>
            </a:xfrm>
            <a:custGeom>
              <a:avLst/>
              <a:gdLst/>
              <a:ahLst/>
              <a:cxnLst/>
              <a:rect l="l" t="t" r="r" b="b"/>
              <a:pathLst>
                <a:path w="76200" h="95250">
                  <a:moveTo>
                    <a:pt x="0" y="95250"/>
                  </a:moveTo>
                  <a:lnTo>
                    <a:pt x="38100" y="0"/>
                  </a:lnTo>
                  <a:lnTo>
                    <a:pt x="76200" y="95250"/>
                  </a:lnTo>
                  <a:close/>
                </a:path>
              </a:pathLst>
            </a:custGeom>
            <a:solidFill>
              <a:srgbClr val="7A716B"/>
            </a:solidFill>
            <a:ln>
              <a:noFill/>
            </a:ln>
          </p:spPr>
        </p:sp>
        <p:sp>
          <p:nvSpPr>
            <p:cNvPr id="10" name="TextBox 10"/>
            <p:cNvSpPr txBox="1"/>
            <p:nvPr/>
          </p:nvSpPr>
          <p:spPr>
            <a:xfrm>
              <a:off x="432727" y="913686"/>
              <a:ext cx="391846" cy="140494"/>
            </a:xfrm>
            <a:prstGeom prst="rect">
              <a:avLst/>
            </a:prstGeom>
            <a:noFill/>
            <a:ln>
              <a:noFill/>
            </a:ln>
          </p:spPr>
          <p:txBody>
            <a:bodyPr wrap="none" lIns="0" tIns="0" rIns="0" bIns="0" anchor="t" anchorCtr="0">
              <a:spAutoFit/>
            </a:bodyPr>
            <a:lstStyle/>
            <a:p>
              <a:pPr algn="ctr"/>
              <a:r>
                <a:rPr lang="zh-CN" sz="710" dirty="0">
                  <a:solidFill>
                    <a:srgbClr val="7A716B"/>
                  </a:solidFill>
                  <a:latin typeface="+mn-lt"/>
                  <a:ea typeface="+mn-ea"/>
                  <a:cs typeface="+mn-cs"/>
                </a:rPr>
                <a:t>客户价值</a:t>
              </a:r>
            </a:p>
          </p:txBody>
        </p:sp>
        <p:sp>
          <p:nvSpPr>
            <p:cNvPr id="11" name="Line 11"/>
            <p:cNvSpPr/>
            <p:nvPr/>
          </p:nvSpPr>
          <p:spPr>
            <a:xfrm>
              <a:off x="571500" y="3143250"/>
              <a:ext cx="4781550" cy="9525"/>
            </a:xfrm>
            <a:custGeom>
              <a:avLst/>
              <a:gdLst/>
              <a:ahLst/>
              <a:cxnLst/>
              <a:rect l="l" t="t" r="r" b="b"/>
              <a:pathLst>
                <a:path w="4781550" h="9525">
                  <a:moveTo>
                    <a:pt x="0" y="0"/>
                  </a:moveTo>
                  <a:lnTo>
                    <a:pt x="4781550" y="0"/>
                  </a:lnTo>
                </a:path>
              </a:pathLst>
            </a:custGeom>
            <a:noFill/>
            <a:ln w="11430">
              <a:solidFill>
                <a:srgbClr val="7A716B"/>
              </a:solidFill>
            </a:ln>
          </p:spPr>
        </p:sp>
        <p:sp>
          <p:nvSpPr>
            <p:cNvPr id="12" name="Polygon 12"/>
            <p:cNvSpPr/>
            <p:nvPr/>
          </p:nvSpPr>
          <p:spPr>
            <a:xfrm>
              <a:off x="5314950" y="3105150"/>
              <a:ext cx="95250" cy="76200"/>
            </a:xfrm>
            <a:custGeom>
              <a:avLst/>
              <a:gdLst/>
              <a:ahLst/>
              <a:cxnLst/>
              <a:rect l="l" t="t" r="r" b="b"/>
              <a:pathLst>
                <a:path w="95250" h="76200">
                  <a:moveTo>
                    <a:pt x="0" y="0"/>
                  </a:moveTo>
                  <a:lnTo>
                    <a:pt x="95250" y="38100"/>
                  </a:lnTo>
                  <a:lnTo>
                    <a:pt x="0" y="76200"/>
                  </a:lnTo>
                  <a:close/>
                </a:path>
              </a:pathLst>
            </a:custGeom>
            <a:solidFill>
              <a:srgbClr val="7A716B"/>
            </a:solidFill>
            <a:ln>
              <a:noFill/>
            </a:ln>
          </p:spPr>
        </p:sp>
        <p:sp>
          <p:nvSpPr>
            <p:cNvPr id="13" name="TextBox 13"/>
            <p:cNvSpPr txBox="1"/>
            <p:nvPr/>
          </p:nvSpPr>
          <p:spPr>
            <a:xfrm>
              <a:off x="5157127" y="3218736"/>
              <a:ext cx="200685"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时间</a:t>
              </a:r>
            </a:p>
          </p:txBody>
        </p:sp>
        <p:sp>
          <p:nvSpPr>
            <p:cNvPr id="14" name="Freeform 14"/>
            <p:cNvSpPr/>
            <p:nvPr/>
          </p:nvSpPr>
          <p:spPr>
            <a:xfrm>
              <a:off x="609600" y="1390650"/>
              <a:ext cx="4667250" cy="1676400"/>
            </a:xfrm>
            <a:custGeom>
              <a:avLst/>
              <a:gdLst/>
              <a:ahLst/>
              <a:cxnLst/>
              <a:rect l="l" t="t" r="r" b="b"/>
              <a:pathLst>
                <a:path w="4667250" h="1676400">
                  <a:moveTo>
                    <a:pt x="0" y="1676400"/>
                  </a:moveTo>
                  <a:cubicBezTo>
                    <a:pt x="438150" y="1428750"/>
                    <a:pt x="676275" y="1104900"/>
                    <a:pt x="895350" y="895350"/>
                  </a:cubicBezTo>
                  <a:cubicBezTo>
                    <a:pt x="1114425" y="685800"/>
                    <a:pt x="1581150" y="628650"/>
                    <a:pt x="1790700" y="476250"/>
                  </a:cubicBezTo>
                  <a:cubicBezTo>
                    <a:pt x="2000250" y="323850"/>
                    <a:pt x="2400300" y="247650"/>
                    <a:pt x="2628900" y="171450"/>
                  </a:cubicBezTo>
                  <a:cubicBezTo>
                    <a:pt x="2857500" y="95250"/>
                    <a:pt x="3162300" y="38100"/>
                    <a:pt x="3371850" y="19050"/>
                  </a:cubicBezTo>
                  <a:cubicBezTo>
                    <a:pt x="3581400" y="0"/>
                    <a:pt x="3829050" y="0"/>
                    <a:pt x="3981450" y="57150"/>
                  </a:cubicBezTo>
                  <a:cubicBezTo>
                    <a:pt x="4133850" y="114300"/>
                    <a:pt x="4419600" y="323850"/>
                    <a:pt x="4552950" y="647700"/>
                  </a:cubicBezTo>
                  <a:lnTo>
                    <a:pt x="4667250" y="819150"/>
                  </a:lnTo>
                </a:path>
              </a:pathLst>
            </a:custGeom>
            <a:noFill/>
            <a:ln w="23812">
              <a:solidFill>
                <a:srgbClr val="EE492C"/>
              </a:solidFill>
            </a:ln>
          </p:spPr>
        </p:sp>
        <p:sp>
          <p:nvSpPr>
            <p:cNvPr id="15" name="Polygon 15"/>
            <p:cNvSpPr/>
            <p:nvPr/>
          </p:nvSpPr>
          <p:spPr>
            <a:xfrm>
              <a:off x="5219700" y="2171700"/>
              <a:ext cx="133350" cy="133350"/>
            </a:xfrm>
            <a:custGeom>
              <a:avLst/>
              <a:gdLst/>
              <a:ahLst/>
              <a:cxnLst/>
              <a:rect l="l" t="t" r="r" b="b"/>
              <a:pathLst>
                <a:path w="133350" h="133350">
                  <a:moveTo>
                    <a:pt x="0" y="19050"/>
                  </a:moveTo>
                  <a:lnTo>
                    <a:pt x="95250" y="133350"/>
                  </a:lnTo>
                  <a:lnTo>
                    <a:pt x="133350" y="0"/>
                  </a:lnTo>
                  <a:close/>
                </a:path>
              </a:pathLst>
            </a:custGeom>
            <a:solidFill>
              <a:srgbClr val="EE492C"/>
            </a:solidFill>
            <a:ln>
              <a:noFill/>
            </a:ln>
          </p:spPr>
        </p:sp>
        <p:sp>
          <p:nvSpPr>
            <p:cNvPr id="16" name="Ellipse 16"/>
            <p:cNvSpPr/>
            <p:nvPr/>
          </p:nvSpPr>
          <p:spPr>
            <a:xfrm>
              <a:off x="1419225" y="2200275"/>
              <a:ext cx="171450" cy="171450"/>
            </a:xfrm>
            <a:prstGeom prst="ellipse">
              <a:avLst/>
            </a:prstGeom>
            <a:solidFill>
              <a:srgbClr val="C41D00"/>
            </a:solidFill>
            <a:ln>
              <a:noFill/>
            </a:ln>
          </p:spPr>
        </p:sp>
        <p:sp>
          <p:nvSpPr>
            <p:cNvPr id="17" name="TextBox 17"/>
            <p:cNvSpPr txBox="1"/>
            <p:nvPr/>
          </p:nvSpPr>
          <p:spPr>
            <a:xfrm>
              <a:off x="1412727" y="22431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18" name="TextBox 18"/>
            <p:cNvSpPr txBox="1"/>
            <p:nvPr/>
          </p:nvSpPr>
          <p:spPr>
            <a:xfrm>
              <a:off x="1257872" y="2436495"/>
              <a:ext cx="494157" cy="176212"/>
            </a:xfrm>
            <a:prstGeom prst="rect">
              <a:avLst/>
            </a:prstGeom>
            <a:noFill/>
            <a:ln>
              <a:noFill/>
            </a:ln>
          </p:spPr>
          <p:txBody>
            <a:bodyPr wrap="none" lIns="0" tIns="0" rIns="0" bIns="0" anchor="t" anchorCtr="0">
              <a:spAutoFit/>
            </a:bodyPr>
            <a:lstStyle/>
            <a:p>
              <a:pPr algn="ctr"/>
              <a:r>
                <a:rPr lang="zh-CN" sz="900" b="1" dirty="0">
                  <a:solidFill>
                    <a:srgbClr val="4A130A"/>
                  </a:solidFill>
                  <a:latin typeface="+mn-lt"/>
                  <a:ea typeface="+mn-ea"/>
                  <a:cs typeface="+mn-cs"/>
                </a:rPr>
                <a:t>新客导入</a:t>
              </a:r>
            </a:p>
          </p:txBody>
        </p:sp>
        <p:grpSp>
          <p:nvGrpSpPr>
            <p:cNvPr id="23" name="Group 23"/>
            <p:cNvGrpSpPr/>
            <p:nvPr/>
          </p:nvGrpSpPr>
          <p:grpSpPr>
            <a:xfrm>
              <a:off x="1440656" y="2612231"/>
              <a:ext cx="128588" cy="128588"/>
              <a:chOff x="1440656" y="2612231"/>
              <a:chExt cx="128588" cy="128588"/>
            </a:xfrm>
          </p:grpSpPr>
          <p:sp>
            <p:nvSpPr>
              <p:cNvPr id="19" name="Freeform 19"/>
              <p:cNvSpPr/>
              <p:nvPr/>
            </p:nvSpPr>
            <p:spPr>
              <a:xfrm>
                <a:off x="1454944" y="26122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D82000"/>
                </a:solidFill>
              </a:ln>
            </p:spPr>
          </p:sp>
          <p:sp>
            <p:nvSpPr>
              <p:cNvPr id="20" name="Freeform 20"/>
              <p:cNvSpPr/>
              <p:nvPr/>
            </p:nvSpPr>
            <p:spPr>
              <a:xfrm>
                <a:off x="1440656" y="26979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D82000"/>
                </a:solidFill>
              </a:ln>
            </p:spPr>
          </p:sp>
          <p:sp>
            <p:nvSpPr>
              <p:cNvPr id="21" name="Freeform 21"/>
              <p:cNvSpPr/>
              <p:nvPr/>
            </p:nvSpPr>
            <p:spPr>
              <a:xfrm>
                <a:off x="1533525" y="26131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D82000"/>
                </a:solidFill>
              </a:ln>
            </p:spPr>
          </p:sp>
          <p:sp>
            <p:nvSpPr>
              <p:cNvPr id="22" name="Freeform 22"/>
              <p:cNvSpPr/>
              <p:nvPr/>
            </p:nvSpPr>
            <p:spPr>
              <a:xfrm>
                <a:off x="1547813" y="26990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D82000"/>
                </a:solidFill>
              </a:ln>
            </p:spPr>
          </p:sp>
        </p:grpSp>
        <p:sp>
          <p:nvSpPr>
            <p:cNvPr id="24" name="TextBox 24"/>
            <p:cNvSpPr txBox="1"/>
            <p:nvPr/>
          </p:nvSpPr>
          <p:spPr>
            <a:xfrm>
              <a:off x="1319848" y="2818686"/>
              <a:ext cx="37020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建立认知</a:t>
              </a:r>
              <a:br/>
              <a:r>
                <a:rPr lang="zh-CN" sz="710" dirty="0">
                  <a:solidFill>
                    <a:srgbClr val="7A716B"/>
                  </a:solidFill>
                  <a:latin typeface="+mn-lt"/>
                  <a:ea typeface="+mn-ea"/>
                  <a:cs typeface="+mn-cs"/>
                </a:rPr>
                <a:t>完成开户</a:t>
              </a:r>
            </a:p>
          </p:txBody>
        </p:sp>
        <p:sp>
          <p:nvSpPr>
            <p:cNvPr id="25" name="Ellipse 25"/>
            <p:cNvSpPr/>
            <p:nvPr/>
          </p:nvSpPr>
          <p:spPr>
            <a:xfrm>
              <a:off x="2314575" y="1781175"/>
              <a:ext cx="171450" cy="171450"/>
            </a:xfrm>
            <a:prstGeom prst="ellipse">
              <a:avLst/>
            </a:prstGeom>
            <a:solidFill>
              <a:srgbClr val="C41D00"/>
            </a:solidFill>
            <a:ln>
              <a:noFill/>
            </a:ln>
          </p:spPr>
        </p:sp>
        <p:sp>
          <p:nvSpPr>
            <p:cNvPr id="26" name="TextBox 26"/>
            <p:cNvSpPr txBox="1"/>
            <p:nvPr/>
          </p:nvSpPr>
          <p:spPr>
            <a:xfrm>
              <a:off x="2308077" y="18240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27" name="TextBox 27"/>
            <p:cNvSpPr txBox="1"/>
            <p:nvPr/>
          </p:nvSpPr>
          <p:spPr>
            <a:xfrm>
              <a:off x="2153222" y="2017395"/>
              <a:ext cx="494157" cy="176212"/>
            </a:xfrm>
            <a:prstGeom prst="rect">
              <a:avLst/>
            </a:prstGeom>
            <a:noFill/>
            <a:ln>
              <a:noFill/>
            </a:ln>
          </p:spPr>
          <p:txBody>
            <a:bodyPr wrap="none" lIns="0" tIns="0" rIns="0" bIns="0" anchor="t" anchorCtr="0">
              <a:spAutoFit/>
            </a:bodyPr>
            <a:lstStyle/>
            <a:p>
              <a:pPr algn="ctr"/>
              <a:r>
                <a:rPr lang="zh-CN" sz="900" b="1" dirty="0">
                  <a:solidFill>
                    <a:srgbClr val="4A130A"/>
                  </a:solidFill>
                  <a:latin typeface="+mn-lt"/>
                  <a:ea typeface="+mn-ea"/>
                  <a:cs typeface="+mn-cs"/>
                </a:rPr>
                <a:t>首次激活</a:t>
              </a:r>
            </a:p>
          </p:txBody>
        </p:sp>
        <p:grpSp>
          <p:nvGrpSpPr>
            <p:cNvPr id="31" name="Group 31"/>
            <p:cNvGrpSpPr/>
            <p:nvPr/>
          </p:nvGrpSpPr>
          <p:grpSpPr>
            <a:xfrm>
              <a:off x="2357438" y="2193131"/>
              <a:ext cx="85725" cy="128588"/>
              <a:chOff x="2357438" y="2193131"/>
              <a:chExt cx="85725" cy="128588"/>
            </a:xfrm>
          </p:grpSpPr>
          <p:sp>
            <p:nvSpPr>
              <p:cNvPr id="28" name="Freeform 28"/>
              <p:cNvSpPr/>
              <p:nvPr/>
            </p:nvSpPr>
            <p:spPr>
              <a:xfrm>
                <a:off x="2357438" y="2193131"/>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D82000"/>
                </a:solidFill>
              </a:ln>
            </p:spPr>
          </p:sp>
          <p:sp>
            <p:nvSpPr>
              <p:cNvPr id="29" name="Freeform 29"/>
              <p:cNvSpPr/>
              <p:nvPr/>
            </p:nvSpPr>
            <p:spPr>
              <a:xfrm>
                <a:off x="2393156" y="2200275"/>
                <a:ext cx="14288" cy="9525"/>
              </a:xfrm>
              <a:custGeom>
                <a:avLst/>
                <a:gdLst/>
                <a:ahLst/>
                <a:cxnLst/>
                <a:rect l="l" t="t" r="r" b="b"/>
                <a:pathLst>
                  <a:path w="14288" h="9525">
                    <a:moveTo>
                      <a:pt x="0" y="0"/>
                    </a:moveTo>
                    <a:lnTo>
                      <a:pt x="14288" y="0"/>
                    </a:lnTo>
                  </a:path>
                </a:pathLst>
              </a:custGeom>
              <a:noFill/>
              <a:ln w="14288">
                <a:solidFill>
                  <a:srgbClr val="D82000"/>
                </a:solidFill>
              </a:ln>
            </p:spPr>
          </p:sp>
          <p:sp>
            <p:nvSpPr>
              <p:cNvPr id="30" name="Freeform 30"/>
              <p:cNvSpPr/>
              <p:nvPr/>
            </p:nvSpPr>
            <p:spPr>
              <a:xfrm>
                <a:off x="2400300" y="2293144"/>
                <a:ext cx="9525" cy="9525"/>
              </a:xfrm>
              <a:custGeom>
                <a:avLst/>
                <a:gdLst/>
                <a:ahLst/>
                <a:cxnLst/>
                <a:rect l="l" t="t" r="r" b="b"/>
                <a:pathLst>
                  <a:path w="9525" h="9525">
                    <a:moveTo>
                      <a:pt x="0" y="0"/>
                    </a:moveTo>
                    <a:lnTo>
                      <a:pt x="0" y="71"/>
                    </a:lnTo>
                  </a:path>
                </a:pathLst>
              </a:custGeom>
              <a:noFill/>
              <a:ln w="14288">
                <a:solidFill>
                  <a:srgbClr val="D82000"/>
                </a:solidFill>
              </a:ln>
            </p:spPr>
          </p:sp>
        </p:grpSp>
        <p:sp>
          <p:nvSpPr>
            <p:cNvPr id="32" name="TextBox 32"/>
            <p:cNvSpPr txBox="1"/>
            <p:nvPr/>
          </p:nvSpPr>
          <p:spPr>
            <a:xfrm>
              <a:off x="2215198" y="2399586"/>
              <a:ext cx="37020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首次交易</a:t>
              </a:r>
              <a:br/>
              <a:r>
                <a:rPr lang="zh-CN" sz="710" dirty="0">
                  <a:solidFill>
                    <a:srgbClr val="7A716B"/>
                  </a:solidFill>
                  <a:latin typeface="+mn-lt"/>
                  <a:ea typeface="+mn-ea"/>
                  <a:cs typeface="+mn-cs"/>
                </a:rPr>
                <a:t>体验产品</a:t>
              </a:r>
            </a:p>
          </p:txBody>
        </p:sp>
        <p:sp>
          <p:nvSpPr>
            <p:cNvPr id="33" name="Ellipse 33"/>
            <p:cNvSpPr/>
            <p:nvPr/>
          </p:nvSpPr>
          <p:spPr>
            <a:xfrm>
              <a:off x="3152775" y="1476375"/>
              <a:ext cx="171450" cy="171450"/>
            </a:xfrm>
            <a:prstGeom prst="ellipse">
              <a:avLst/>
            </a:prstGeom>
            <a:solidFill>
              <a:srgbClr val="C41D00"/>
            </a:solidFill>
            <a:ln>
              <a:noFill/>
            </a:ln>
          </p:spPr>
        </p:sp>
        <p:sp>
          <p:nvSpPr>
            <p:cNvPr id="34" name="TextBox 34"/>
            <p:cNvSpPr txBox="1"/>
            <p:nvPr/>
          </p:nvSpPr>
          <p:spPr>
            <a:xfrm>
              <a:off x="3146277" y="15192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35" name="TextBox 35"/>
            <p:cNvSpPr txBox="1"/>
            <p:nvPr/>
          </p:nvSpPr>
          <p:spPr>
            <a:xfrm>
              <a:off x="2991422" y="1712595"/>
              <a:ext cx="494157" cy="176212"/>
            </a:xfrm>
            <a:prstGeom prst="rect">
              <a:avLst/>
            </a:prstGeom>
            <a:noFill/>
            <a:ln>
              <a:noFill/>
            </a:ln>
          </p:spPr>
          <p:txBody>
            <a:bodyPr wrap="none" lIns="0" tIns="0" rIns="0" bIns="0" anchor="t" anchorCtr="0">
              <a:spAutoFit/>
            </a:bodyPr>
            <a:lstStyle/>
            <a:p>
              <a:pPr algn="ctr"/>
              <a:r>
                <a:rPr lang="zh-CN" sz="900" b="1" dirty="0">
                  <a:solidFill>
                    <a:srgbClr val="4A130A"/>
                  </a:solidFill>
                  <a:latin typeface="+mn-lt"/>
                  <a:ea typeface="+mn-ea"/>
                  <a:cs typeface="+mn-cs"/>
                </a:rPr>
                <a:t>关系成长</a:t>
              </a:r>
            </a:p>
          </p:txBody>
        </p:sp>
        <p:grpSp>
          <p:nvGrpSpPr>
            <p:cNvPr id="38" name="Group 38"/>
            <p:cNvGrpSpPr/>
            <p:nvPr/>
          </p:nvGrpSpPr>
          <p:grpSpPr>
            <a:xfrm>
              <a:off x="3181350" y="1909762"/>
              <a:ext cx="114300" cy="102394"/>
              <a:chOff x="3181350" y="1909762"/>
              <a:chExt cx="114300" cy="102394"/>
            </a:xfrm>
          </p:grpSpPr>
          <p:sp>
            <p:nvSpPr>
              <p:cNvPr id="36" name="Freeform 36"/>
              <p:cNvSpPr/>
              <p:nvPr/>
            </p:nvSpPr>
            <p:spPr>
              <a:xfrm>
                <a:off x="3181350" y="2002631"/>
                <a:ext cx="114300" cy="9525"/>
              </a:xfrm>
              <a:custGeom>
                <a:avLst/>
                <a:gdLst/>
                <a:ahLst/>
                <a:cxnLst/>
                <a:rect l="l" t="t" r="r" b="b"/>
                <a:pathLst>
                  <a:path w="114300" h="9525">
                    <a:moveTo>
                      <a:pt x="0" y="0"/>
                    </a:moveTo>
                    <a:lnTo>
                      <a:pt x="114300" y="0"/>
                    </a:lnTo>
                  </a:path>
                </a:pathLst>
              </a:custGeom>
              <a:noFill/>
              <a:ln w="14288">
                <a:solidFill>
                  <a:srgbClr val="D82000"/>
                </a:solidFill>
              </a:ln>
            </p:spPr>
          </p:sp>
          <p:sp>
            <p:nvSpPr>
              <p:cNvPr id="37" name="Freeform 37"/>
              <p:cNvSpPr/>
              <p:nvPr/>
            </p:nvSpPr>
            <p:spPr>
              <a:xfrm>
                <a:off x="3181350" y="1909762"/>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D82000"/>
                </a:solidFill>
              </a:ln>
            </p:spPr>
          </p:sp>
        </p:grpSp>
        <p:sp>
          <p:nvSpPr>
            <p:cNvPr id="39" name="TextBox 39"/>
            <p:cNvSpPr txBox="1"/>
            <p:nvPr/>
          </p:nvSpPr>
          <p:spPr>
            <a:xfrm>
              <a:off x="3053398" y="2094786"/>
              <a:ext cx="37020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使用增多</a:t>
              </a:r>
              <a:br/>
              <a:r>
                <a:rPr lang="zh-CN" sz="710" dirty="0">
                  <a:solidFill>
                    <a:srgbClr val="7A716B"/>
                  </a:solidFill>
                  <a:latin typeface="+mn-lt"/>
                  <a:ea typeface="+mn-ea"/>
                  <a:cs typeface="+mn-cs"/>
                </a:rPr>
                <a:t>信任建立</a:t>
              </a:r>
            </a:p>
          </p:txBody>
        </p:sp>
        <p:sp>
          <p:nvSpPr>
            <p:cNvPr id="40" name="Ellipse 40"/>
            <p:cNvSpPr/>
            <p:nvPr/>
          </p:nvSpPr>
          <p:spPr>
            <a:xfrm>
              <a:off x="3895725" y="1323975"/>
              <a:ext cx="171450" cy="171450"/>
            </a:xfrm>
            <a:prstGeom prst="ellipse">
              <a:avLst/>
            </a:prstGeom>
            <a:solidFill>
              <a:srgbClr val="C41D00"/>
            </a:solidFill>
            <a:ln>
              <a:noFill/>
            </a:ln>
          </p:spPr>
        </p:sp>
        <p:sp>
          <p:nvSpPr>
            <p:cNvPr id="41" name="TextBox 41"/>
            <p:cNvSpPr txBox="1"/>
            <p:nvPr/>
          </p:nvSpPr>
          <p:spPr>
            <a:xfrm>
              <a:off x="3889227" y="13668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42" name="TextBox 42"/>
            <p:cNvSpPr txBox="1"/>
            <p:nvPr/>
          </p:nvSpPr>
          <p:spPr>
            <a:xfrm>
              <a:off x="3734372" y="1560195"/>
              <a:ext cx="494157" cy="176212"/>
            </a:xfrm>
            <a:prstGeom prst="rect">
              <a:avLst/>
            </a:prstGeom>
            <a:noFill/>
            <a:ln>
              <a:noFill/>
            </a:ln>
          </p:spPr>
          <p:txBody>
            <a:bodyPr wrap="none" lIns="0" tIns="0" rIns="0" bIns="0" anchor="t" anchorCtr="0">
              <a:spAutoFit/>
            </a:bodyPr>
            <a:lstStyle/>
            <a:p>
              <a:pPr algn="ctr"/>
              <a:r>
                <a:rPr lang="zh-CN" sz="900" b="1" dirty="0">
                  <a:solidFill>
                    <a:srgbClr val="4A130A"/>
                  </a:solidFill>
                  <a:latin typeface="+mn-lt"/>
                  <a:ea typeface="+mn-ea"/>
                  <a:cs typeface="+mn-cs"/>
                </a:rPr>
                <a:t>综合经营</a:t>
              </a:r>
            </a:p>
          </p:txBody>
        </p:sp>
        <p:grpSp>
          <p:nvGrpSpPr>
            <p:cNvPr id="48" name="Group 48"/>
            <p:cNvGrpSpPr/>
            <p:nvPr/>
          </p:nvGrpSpPr>
          <p:grpSpPr>
            <a:xfrm>
              <a:off x="3917156" y="1735931"/>
              <a:ext cx="128588" cy="128588"/>
              <a:chOff x="3917156" y="1735931"/>
              <a:chExt cx="128588" cy="128588"/>
            </a:xfrm>
          </p:grpSpPr>
          <p:sp>
            <p:nvSpPr>
              <p:cNvPr id="43" name="Freeform 43"/>
              <p:cNvSpPr/>
              <p:nvPr/>
            </p:nvSpPr>
            <p:spPr>
              <a:xfrm>
                <a:off x="3967162" y="17359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44" name="Freeform 44"/>
              <p:cNvSpPr/>
              <p:nvPr/>
            </p:nvSpPr>
            <p:spPr>
              <a:xfrm>
                <a:off x="3917156" y="183594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45" name="Freeform 45"/>
              <p:cNvSpPr/>
              <p:nvPr/>
            </p:nvSpPr>
            <p:spPr>
              <a:xfrm>
                <a:off x="4017169" y="183594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46" name="Freeform 46"/>
              <p:cNvSpPr/>
              <p:nvPr/>
            </p:nvSpPr>
            <p:spPr>
              <a:xfrm>
                <a:off x="3942159" y="1807369"/>
                <a:ext cx="78581" cy="32147"/>
              </a:xfrm>
              <a:custGeom>
                <a:avLst/>
                <a:gdLst/>
                <a:ahLst/>
                <a:cxnLst/>
                <a:rect l="l" t="t" r="r" b="b"/>
                <a:pathLst>
                  <a:path w="78581" h="32147">
                    <a:moveTo>
                      <a:pt x="0" y="32147"/>
                    </a:moveTo>
                    <a:lnTo>
                      <a:pt x="39291" y="0"/>
                    </a:lnTo>
                    <a:lnTo>
                      <a:pt x="78581" y="32147"/>
                    </a:lnTo>
                  </a:path>
                </a:pathLst>
              </a:custGeom>
              <a:noFill/>
              <a:ln w="14288">
                <a:solidFill>
                  <a:srgbClr val="D82000"/>
                </a:solidFill>
              </a:ln>
            </p:spPr>
          </p:sp>
          <p:sp>
            <p:nvSpPr>
              <p:cNvPr id="47" name="Freeform 47"/>
              <p:cNvSpPr/>
              <p:nvPr/>
            </p:nvSpPr>
            <p:spPr>
              <a:xfrm>
                <a:off x="3981450" y="1764506"/>
                <a:ext cx="9525" cy="42862"/>
              </a:xfrm>
              <a:custGeom>
                <a:avLst/>
                <a:gdLst/>
                <a:ahLst/>
                <a:cxnLst/>
                <a:rect l="l" t="t" r="r" b="b"/>
                <a:pathLst>
                  <a:path w="9525" h="42862">
                    <a:moveTo>
                      <a:pt x="0" y="0"/>
                    </a:moveTo>
                    <a:lnTo>
                      <a:pt x="0" y="42862"/>
                    </a:lnTo>
                  </a:path>
                </a:pathLst>
              </a:custGeom>
              <a:noFill/>
              <a:ln w="14288">
                <a:solidFill>
                  <a:srgbClr val="D82000"/>
                </a:solidFill>
              </a:ln>
            </p:spPr>
          </p:sp>
        </p:grpSp>
        <p:sp>
          <p:nvSpPr>
            <p:cNvPr id="49" name="TextBox 49"/>
            <p:cNvSpPr txBox="1"/>
            <p:nvPr/>
          </p:nvSpPr>
          <p:spPr>
            <a:xfrm>
              <a:off x="3751262" y="1942386"/>
              <a:ext cx="46037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多产品持有</a:t>
              </a:r>
              <a:br/>
              <a:r>
                <a:rPr lang="zh-CN" sz="710" dirty="0">
                  <a:solidFill>
                    <a:srgbClr val="7A716B"/>
                  </a:solidFill>
                  <a:latin typeface="+mn-lt"/>
                  <a:ea typeface="+mn-ea"/>
                  <a:cs typeface="+mn-cs"/>
                </a:rPr>
                <a:t>价值提升</a:t>
              </a:r>
            </a:p>
          </p:txBody>
        </p:sp>
        <p:sp>
          <p:nvSpPr>
            <p:cNvPr id="50" name="Ellipse 50"/>
            <p:cNvSpPr/>
            <p:nvPr/>
          </p:nvSpPr>
          <p:spPr>
            <a:xfrm>
              <a:off x="4505325" y="1362075"/>
              <a:ext cx="171450" cy="171450"/>
            </a:xfrm>
            <a:prstGeom prst="ellipse">
              <a:avLst/>
            </a:prstGeom>
            <a:solidFill>
              <a:srgbClr val="C41D00"/>
            </a:solidFill>
            <a:ln>
              <a:noFill/>
            </a:ln>
          </p:spPr>
        </p:sp>
        <p:sp>
          <p:nvSpPr>
            <p:cNvPr id="51" name="TextBox 51"/>
            <p:cNvSpPr txBox="1"/>
            <p:nvPr/>
          </p:nvSpPr>
          <p:spPr>
            <a:xfrm>
              <a:off x="4498827" y="14049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52" name="TextBox 52"/>
            <p:cNvSpPr txBox="1"/>
            <p:nvPr/>
          </p:nvSpPr>
          <p:spPr>
            <a:xfrm>
              <a:off x="4343972" y="1598295"/>
              <a:ext cx="494157" cy="176212"/>
            </a:xfrm>
            <a:prstGeom prst="rect">
              <a:avLst/>
            </a:prstGeom>
            <a:noFill/>
            <a:ln>
              <a:noFill/>
            </a:ln>
          </p:spPr>
          <p:txBody>
            <a:bodyPr wrap="none" lIns="0" tIns="0" rIns="0" bIns="0" anchor="t" anchorCtr="0">
              <a:spAutoFit/>
            </a:bodyPr>
            <a:lstStyle/>
            <a:p>
              <a:pPr algn="ctr"/>
              <a:r>
                <a:rPr lang="zh-CN" sz="900" b="1" dirty="0">
                  <a:solidFill>
                    <a:srgbClr val="4A130A"/>
                  </a:solidFill>
                  <a:latin typeface="+mn-lt"/>
                  <a:ea typeface="+mn-ea"/>
                  <a:cs typeface="+mn-cs"/>
                </a:rPr>
                <a:t>忠诚维系</a:t>
              </a:r>
            </a:p>
          </p:txBody>
        </p:sp>
        <p:sp>
          <p:nvSpPr>
            <p:cNvPr id="53" name="Freeform 53"/>
            <p:cNvSpPr/>
            <p:nvPr/>
          </p:nvSpPr>
          <p:spPr>
            <a:xfrm>
              <a:off x="4526756" y="1795462"/>
              <a:ext cx="128588" cy="85725"/>
            </a:xfrm>
            <a:custGeom>
              <a:avLst/>
              <a:gdLst/>
              <a:ahLst/>
              <a:cxnLst/>
              <a:rect l="l" t="t" r="r" b="b"/>
              <a:pathLst>
                <a:path w="128588" h="85725">
                  <a:moveTo>
                    <a:pt x="64294" y="0"/>
                  </a:moveTo>
                  <a:lnTo>
                    <a:pt x="92869" y="42862"/>
                  </a:lnTo>
                  <a:lnTo>
                    <a:pt x="128588" y="14288"/>
                  </a:lnTo>
                  <a:lnTo>
                    <a:pt x="114300" y="85725"/>
                  </a:lnTo>
                  <a:lnTo>
                    <a:pt x="14288" y="85725"/>
                  </a:lnTo>
                  <a:lnTo>
                    <a:pt x="0" y="14288"/>
                  </a:lnTo>
                  <a:lnTo>
                    <a:pt x="35719" y="42862"/>
                  </a:lnTo>
                  <a:lnTo>
                    <a:pt x="64294" y="0"/>
                  </a:lnTo>
                </a:path>
              </a:pathLst>
            </a:custGeom>
            <a:noFill/>
            <a:ln w="14288">
              <a:solidFill>
                <a:srgbClr val="D82000"/>
              </a:solidFill>
            </a:ln>
          </p:spPr>
        </p:sp>
        <p:sp>
          <p:nvSpPr>
            <p:cNvPr id="54" name="TextBox 54"/>
            <p:cNvSpPr txBox="1"/>
            <p:nvPr/>
          </p:nvSpPr>
          <p:spPr>
            <a:xfrm>
              <a:off x="4405948" y="1980486"/>
              <a:ext cx="37020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稳定使用</a:t>
              </a:r>
              <a:br/>
              <a:r>
                <a:rPr lang="zh-CN" sz="710" dirty="0">
                  <a:solidFill>
                    <a:srgbClr val="7A716B"/>
                  </a:solidFill>
                  <a:latin typeface="+mn-lt"/>
                  <a:ea typeface="+mn-ea"/>
                  <a:cs typeface="+mn-cs"/>
                </a:rPr>
                <a:t>高贡献</a:t>
              </a:r>
            </a:p>
          </p:txBody>
        </p:sp>
        <p:sp>
          <p:nvSpPr>
            <p:cNvPr id="55" name="Ellipse 55"/>
            <p:cNvSpPr/>
            <p:nvPr/>
          </p:nvSpPr>
          <p:spPr>
            <a:xfrm>
              <a:off x="5076825" y="1952625"/>
              <a:ext cx="171450" cy="171450"/>
            </a:xfrm>
            <a:prstGeom prst="ellipse">
              <a:avLst/>
            </a:prstGeom>
            <a:solidFill>
              <a:srgbClr val="C41D00"/>
            </a:solidFill>
            <a:ln>
              <a:noFill/>
            </a:ln>
          </p:spPr>
        </p:sp>
        <p:sp>
          <p:nvSpPr>
            <p:cNvPr id="56" name="TextBox 56"/>
            <p:cNvSpPr txBox="1"/>
            <p:nvPr/>
          </p:nvSpPr>
          <p:spPr>
            <a:xfrm>
              <a:off x="5070327" y="19954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a:t>
              </a:r>
            </a:p>
          </p:txBody>
        </p:sp>
        <p:sp>
          <p:nvSpPr>
            <p:cNvPr id="57" name="TextBox 57"/>
            <p:cNvSpPr txBox="1"/>
            <p:nvPr/>
          </p:nvSpPr>
          <p:spPr>
            <a:xfrm>
              <a:off x="4915471" y="2188845"/>
              <a:ext cx="494157" cy="176212"/>
            </a:xfrm>
            <a:prstGeom prst="rect">
              <a:avLst/>
            </a:prstGeom>
            <a:noFill/>
            <a:ln>
              <a:noFill/>
            </a:ln>
          </p:spPr>
          <p:txBody>
            <a:bodyPr wrap="none" lIns="0" tIns="0" rIns="0" bIns="0" anchor="t" anchorCtr="0">
              <a:spAutoFit/>
            </a:bodyPr>
            <a:lstStyle/>
            <a:p>
              <a:pPr algn="ctr"/>
              <a:r>
                <a:rPr lang="zh-CN" sz="900" b="1" dirty="0">
                  <a:solidFill>
                    <a:srgbClr val="4A130A"/>
                  </a:solidFill>
                  <a:latin typeface="+mn-lt"/>
                  <a:ea typeface="+mn-ea"/>
                  <a:cs typeface="+mn-cs"/>
                </a:rPr>
                <a:t>流失挽回</a:t>
              </a:r>
            </a:p>
          </p:txBody>
        </p:sp>
        <p:grpSp>
          <p:nvGrpSpPr>
            <p:cNvPr id="60" name="Group 60"/>
            <p:cNvGrpSpPr/>
            <p:nvPr/>
          </p:nvGrpSpPr>
          <p:grpSpPr>
            <a:xfrm>
              <a:off x="5105400" y="2368969"/>
              <a:ext cx="114300" cy="119813"/>
              <a:chOff x="5105400" y="2368969"/>
              <a:chExt cx="114300" cy="119813"/>
            </a:xfrm>
          </p:grpSpPr>
          <p:sp>
            <p:nvSpPr>
              <p:cNvPr id="58" name="Freeform 58"/>
              <p:cNvSpPr/>
              <p:nvPr/>
            </p:nvSpPr>
            <p:spPr>
              <a:xfrm>
                <a:off x="5105400" y="2368969"/>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D82000"/>
                </a:solidFill>
              </a:ln>
            </p:spPr>
          </p:sp>
          <p:sp>
            <p:nvSpPr>
              <p:cNvPr id="59" name="Freeform 59"/>
              <p:cNvSpPr/>
              <p:nvPr/>
            </p:nvSpPr>
            <p:spPr>
              <a:xfrm>
                <a:off x="5105400" y="2436019"/>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D82000"/>
                </a:solidFill>
              </a:ln>
            </p:spPr>
          </p:sp>
        </p:grpSp>
        <p:sp>
          <p:nvSpPr>
            <p:cNvPr id="61" name="TextBox 61"/>
            <p:cNvSpPr txBox="1"/>
            <p:nvPr/>
          </p:nvSpPr>
          <p:spPr>
            <a:xfrm>
              <a:off x="4977448" y="2571036"/>
              <a:ext cx="37020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行为降低</a:t>
              </a:r>
              <a:br/>
              <a:r>
                <a:rPr lang="zh-CN" sz="710" dirty="0">
                  <a:solidFill>
                    <a:srgbClr val="7A716B"/>
                  </a:solidFill>
                  <a:latin typeface="+mn-lt"/>
                  <a:ea typeface="+mn-ea"/>
                  <a:cs typeface="+mn-cs"/>
                </a:rPr>
                <a:t>尝试挽回</a:t>
              </a:r>
            </a:p>
          </p:txBody>
        </p:sp>
      </p:grpSp>
      <p:grpSp>
        <p:nvGrpSpPr>
          <p:cNvPr id="164" name="transfer-matrix"/>
          <p:cNvGrpSpPr/>
          <p:nvPr/>
        </p:nvGrpSpPr>
        <p:grpSpPr>
          <a:xfrm>
            <a:off x="5595938" y="717947"/>
            <a:ext cx="6219824" cy="2482453"/>
            <a:chOff x="5595938" y="717947"/>
            <a:chExt cx="6219824" cy="2482453"/>
          </a:xfrm>
        </p:grpSpPr>
        <p:sp>
          <p:nvSpPr>
            <p:cNvPr id="63" name="TextBox 63"/>
            <p:cNvSpPr txBox="1"/>
            <p:nvPr/>
          </p:nvSpPr>
          <p:spPr>
            <a:xfrm>
              <a:off x="5595938" y="717947"/>
              <a:ext cx="1520762" cy="183356"/>
            </a:xfrm>
            <a:prstGeom prst="rect">
              <a:avLst/>
            </a:prstGeom>
            <a:noFill/>
            <a:ln>
              <a:noFill/>
            </a:ln>
          </p:spPr>
          <p:txBody>
            <a:bodyPr wrap="none" lIns="0" tIns="0" rIns="0" bIns="0" anchor="t" anchorCtr="0">
              <a:spAutoFit/>
            </a:bodyPr>
            <a:lstStyle/>
            <a:p>
              <a:pPr algn="l"/>
              <a:r>
                <a:rPr lang="zh-CN" sz="940" b="1" dirty="0">
                  <a:solidFill>
                    <a:srgbClr val="C41D00"/>
                  </a:solidFill>
                  <a:latin typeface="+mn-lt"/>
                  <a:ea typeface="+mn-ea"/>
                  <a:cs typeface="+mn-cs"/>
                </a:rPr>
                <a:t>阶段转移概率矩阵（%）​​</a:t>
              </a:r>
            </a:p>
          </p:txBody>
        </p:sp>
        <p:sp>
          <p:nvSpPr>
            <p:cNvPr id="64" name="TextBox 64"/>
            <p:cNvSpPr txBox="1"/>
            <p:nvPr/>
          </p:nvSpPr>
          <p:spPr>
            <a:xfrm>
              <a:off x="10831319" y="742236"/>
              <a:ext cx="984443"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​​数据周期：近12个月</a:t>
              </a:r>
            </a:p>
          </p:txBody>
        </p:sp>
        <p:sp>
          <p:nvSpPr>
            <p:cNvPr id="65" name="Rectangle 65"/>
            <p:cNvSpPr/>
            <p:nvPr/>
          </p:nvSpPr>
          <p:spPr>
            <a:xfrm>
              <a:off x="5600700" y="914400"/>
              <a:ext cx="6210300" cy="571500"/>
            </a:xfrm>
            <a:prstGeom prst="rect">
              <a:avLst/>
            </a:prstGeom>
            <a:solidFill>
              <a:srgbClr val="FEF2E6"/>
            </a:solidFill>
            <a:ln w="9525">
              <a:solidFill>
                <a:srgbClr val="F0B8AE"/>
              </a:solidFill>
            </a:ln>
          </p:spPr>
        </p:sp>
        <p:sp>
          <p:nvSpPr>
            <p:cNvPr id="66" name="Line 66"/>
            <p:cNvSpPr/>
            <p:nvPr/>
          </p:nvSpPr>
          <p:spPr>
            <a:xfrm>
              <a:off x="6553200" y="914400"/>
              <a:ext cx="9525" cy="2286000"/>
            </a:xfrm>
            <a:custGeom>
              <a:avLst/>
              <a:gdLst/>
              <a:ahLst/>
              <a:cxnLst/>
              <a:rect l="l" t="t" r="r" b="b"/>
              <a:pathLst>
                <a:path w="9525" h="2286000">
                  <a:moveTo>
                    <a:pt x="0" y="0"/>
                  </a:moveTo>
                  <a:lnTo>
                    <a:pt x="0" y="2286000"/>
                  </a:lnTo>
                </a:path>
              </a:pathLst>
            </a:custGeom>
            <a:noFill/>
            <a:ln w="9525">
              <a:solidFill>
                <a:srgbClr val="F0B8AE"/>
              </a:solidFill>
            </a:ln>
          </p:spPr>
        </p:sp>
        <p:sp>
          <p:nvSpPr>
            <p:cNvPr id="67" name="TextBox 67"/>
            <p:cNvSpPr txBox="1"/>
            <p:nvPr/>
          </p:nvSpPr>
          <p:spPr>
            <a:xfrm>
              <a:off x="5881688" y="1081088"/>
              <a:ext cx="390525" cy="271462"/>
            </a:xfrm>
            <a:prstGeom prst="rect">
              <a:avLst/>
            </a:prstGeom>
            <a:noFill/>
            <a:ln>
              <a:noFill/>
            </a:ln>
          </p:spPr>
          <p:txBody>
            <a:bodyPr wrap="none" lIns="0" tIns="0" rIns="0" bIns="0" anchor="t" anchorCtr="0">
              <a:spAutoFit/>
            </a:bodyPr>
            <a:lstStyle/>
            <a:p>
              <a:pPr algn="ctr">
                <a:lnSpc>
                  <a:spcPts val="975"/>
                </a:lnSpc>
              </a:pPr>
              <a:r>
                <a:rPr lang="zh-CN" sz="750" b="1" dirty="0">
                  <a:solidFill>
                    <a:srgbClr val="4A130A"/>
                  </a:solidFill>
                  <a:latin typeface="+mn-lt"/>
                  <a:ea typeface="+mn-ea"/>
                  <a:cs typeface="+mn-cs"/>
                </a:rPr>
                <a:t>当前阶段</a:t>
              </a:r>
              <a:br/>
              <a:r>
                <a:rPr lang="zh-CN" sz="750" b="1" dirty="0">
                  <a:solidFill>
                    <a:srgbClr val="4A130A"/>
                  </a:solidFill>
                  <a:latin typeface="+mn-lt"/>
                  <a:ea typeface="+mn-ea"/>
                  <a:cs typeface="+mn-cs"/>
                </a:rPr>
                <a:t>​↓​</a:t>
              </a:r>
            </a:p>
          </p:txBody>
        </p:sp>
        <p:sp>
          <p:nvSpPr>
            <p:cNvPr id="68" name="TextBox 68"/>
            <p:cNvSpPr txBox="1"/>
            <p:nvPr/>
          </p:nvSpPr>
          <p:spPr>
            <a:xfrm>
              <a:off x="8872045" y="966788"/>
              <a:ext cx="620111"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​下一阶段 →​</a:t>
              </a:r>
            </a:p>
          </p:txBody>
        </p:sp>
        <p:sp>
          <p:nvSpPr>
            <p:cNvPr id="69" name="Line 69"/>
            <p:cNvSpPr/>
            <p:nvPr/>
          </p:nvSpPr>
          <p:spPr>
            <a:xfrm>
              <a:off x="5600700" y="1257300"/>
              <a:ext cx="6210300" cy="9525"/>
            </a:xfrm>
            <a:custGeom>
              <a:avLst/>
              <a:gdLst/>
              <a:ahLst/>
              <a:cxnLst/>
              <a:rect l="l" t="t" r="r" b="b"/>
              <a:pathLst>
                <a:path w="6210300" h="9525">
                  <a:moveTo>
                    <a:pt x="0" y="0"/>
                  </a:moveTo>
                  <a:lnTo>
                    <a:pt x="6210300" y="0"/>
                  </a:lnTo>
                </a:path>
              </a:pathLst>
            </a:custGeom>
            <a:noFill/>
            <a:ln w="9525">
              <a:solidFill>
                <a:srgbClr val="F0B8AE"/>
              </a:solidFill>
            </a:ln>
          </p:spPr>
        </p:sp>
        <p:sp>
          <p:nvSpPr>
            <p:cNvPr id="70" name="Ellipse 70"/>
            <p:cNvSpPr/>
            <p:nvPr/>
          </p:nvSpPr>
          <p:spPr>
            <a:xfrm>
              <a:off x="6738938" y="1281112"/>
              <a:ext cx="123825" cy="123825"/>
            </a:xfrm>
            <a:prstGeom prst="ellipse">
              <a:avLst/>
            </a:prstGeom>
            <a:solidFill>
              <a:srgbClr val="C41D00"/>
            </a:solidFill>
            <a:ln>
              <a:noFill/>
            </a:ln>
          </p:spPr>
        </p:sp>
        <p:sp>
          <p:nvSpPr>
            <p:cNvPr id="71" name="TextBox 71"/>
            <p:cNvSpPr txBox="1"/>
            <p:nvPr/>
          </p:nvSpPr>
          <p:spPr>
            <a:xfrm>
              <a:off x="6721454" y="13075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a:t>
              </a:r>
            </a:p>
          </p:txBody>
        </p:sp>
        <p:sp>
          <p:nvSpPr>
            <p:cNvPr id="72" name="TextBox 72"/>
            <p:cNvSpPr txBox="1"/>
            <p:nvPr/>
          </p:nvSpPr>
          <p:spPr>
            <a:xfrm>
              <a:off x="6900227" y="1308259"/>
              <a:ext cx="182245" cy="219075"/>
            </a:xfrm>
            <a:prstGeom prst="rect">
              <a:avLst/>
            </a:prstGeom>
            <a:noFill/>
            <a:ln>
              <a:noFill/>
            </a:ln>
          </p:spPr>
          <p:txBody>
            <a:bodyPr wrap="none" lIns="0" tIns="0" rIns="0" bIns="0" anchor="t" anchorCtr="0">
              <a:spAutoFit/>
            </a:bodyPr>
            <a:lstStyle/>
            <a:p>
              <a:pPr algn="ctr">
                <a:lnSpc>
                  <a:spcPts val="675"/>
                </a:lnSpc>
              </a:pPr>
              <a:r>
                <a:rPr lang="zh-CN" sz="680" b="1" dirty="0">
                  <a:solidFill>
                    <a:srgbClr val="4A130A"/>
                  </a:solidFill>
                  <a:latin typeface="+mn-lt"/>
                  <a:ea typeface="+mn-ea"/>
                  <a:cs typeface="+mn-cs"/>
                </a:rPr>
                <a:t>新客</a:t>
              </a:r>
              <a:br/>
              <a:r>
                <a:rPr lang="zh-CN" sz="680" b="1" dirty="0">
                  <a:solidFill>
                    <a:srgbClr val="4A130A"/>
                  </a:solidFill>
                  <a:latin typeface="+mn-lt"/>
                  <a:ea typeface="+mn-ea"/>
                  <a:cs typeface="+mn-cs"/>
                </a:rPr>
                <a:t>导入</a:t>
              </a:r>
            </a:p>
          </p:txBody>
        </p:sp>
        <p:sp>
          <p:nvSpPr>
            <p:cNvPr id="73" name="Ellipse 73"/>
            <p:cNvSpPr/>
            <p:nvPr/>
          </p:nvSpPr>
          <p:spPr>
            <a:xfrm>
              <a:off x="7615238" y="1281112"/>
              <a:ext cx="123825" cy="123825"/>
            </a:xfrm>
            <a:prstGeom prst="ellipse">
              <a:avLst/>
            </a:prstGeom>
            <a:solidFill>
              <a:srgbClr val="C41D00"/>
            </a:solidFill>
            <a:ln>
              <a:noFill/>
            </a:ln>
          </p:spPr>
        </p:sp>
        <p:sp>
          <p:nvSpPr>
            <p:cNvPr id="74" name="TextBox 74"/>
            <p:cNvSpPr txBox="1"/>
            <p:nvPr/>
          </p:nvSpPr>
          <p:spPr>
            <a:xfrm>
              <a:off x="7597754" y="13075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a:t>
              </a:r>
            </a:p>
          </p:txBody>
        </p:sp>
        <p:sp>
          <p:nvSpPr>
            <p:cNvPr id="75" name="TextBox 75"/>
            <p:cNvSpPr txBox="1"/>
            <p:nvPr/>
          </p:nvSpPr>
          <p:spPr>
            <a:xfrm>
              <a:off x="7776527" y="1308259"/>
              <a:ext cx="182245" cy="219075"/>
            </a:xfrm>
            <a:prstGeom prst="rect">
              <a:avLst/>
            </a:prstGeom>
            <a:noFill/>
            <a:ln>
              <a:noFill/>
            </a:ln>
          </p:spPr>
          <p:txBody>
            <a:bodyPr wrap="none" lIns="0" tIns="0" rIns="0" bIns="0" anchor="t" anchorCtr="0">
              <a:spAutoFit/>
            </a:bodyPr>
            <a:lstStyle/>
            <a:p>
              <a:pPr algn="ctr">
                <a:lnSpc>
                  <a:spcPts val="675"/>
                </a:lnSpc>
              </a:pPr>
              <a:r>
                <a:rPr lang="zh-CN" sz="680" b="1" dirty="0">
                  <a:solidFill>
                    <a:srgbClr val="4A130A"/>
                  </a:solidFill>
                  <a:latin typeface="+mn-lt"/>
                  <a:ea typeface="+mn-ea"/>
                  <a:cs typeface="+mn-cs"/>
                </a:rPr>
                <a:t>首次</a:t>
              </a:r>
              <a:br/>
              <a:r>
                <a:rPr lang="zh-CN" sz="680" b="1" dirty="0">
                  <a:solidFill>
                    <a:srgbClr val="4A130A"/>
                  </a:solidFill>
                  <a:latin typeface="+mn-lt"/>
                  <a:ea typeface="+mn-ea"/>
                  <a:cs typeface="+mn-cs"/>
                </a:rPr>
                <a:t>激活</a:t>
              </a:r>
            </a:p>
          </p:txBody>
        </p:sp>
        <p:sp>
          <p:nvSpPr>
            <p:cNvPr id="76" name="Ellipse 76"/>
            <p:cNvSpPr/>
            <p:nvPr/>
          </p:nvSpPr>
          <p:spPr>
            <a:xfrm>
              <a:off x="8491538" y="1281112"/>
              <a:ext cx="123825" cy="123825"/>
            </a:xfrm>
            <a:prstGeom prst="ellipse">
              <a:avLst/>
            </a:prstGeom>
            <a:solidFill>
              <a:srgbClr val="C41D00"/>
            </a:solidFill>
            <a:ln>
              <a:noFill/>
            </a:ln>
          </p:spPr>
        </p:sp>
        <p:sp>
          <p:nvSpPr>
            <p:cNvPr id="77" name="TextBox 77"/>
            <p:cNvSpPr txBox="1"/>
            <p:nvPr/>
          </p:nvSpPr>
          <p:spPr>
            <a:xfrm>
              <a:off x="8474054" y="13075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a:t>
              </a:r>
            </a:p>
          </p:txBody>
        </p:sp>
        <p:sp>
          <p:nvSpPr>
            <p:cNvPr id="78" name="TextBox 78"/>
            <p:cNvSpPr txBox="1"/>
            <p:nvPr/>
          </p:nvSpPr>
          <p:spPr>
            <a:xfrm>
              <a:off x="8652828" y="1308259"/>
              <a:ext cx="182245" cy="219075"/>
            </a:xfrm>
            <a:prstGeom prst="rect">
              <a:avLst/>
            </a:prstGeom>
            <a:noFill/>
            <a:ln>
              <a:noFill/>
            </a:ln>
          </p:spPr>
          <p:txBody>
            <a:bodyPr wrap="none" lIns="0" tIns="0" rIns="0" bIns="0" anchor="t" anchorCtr="0">
              <a:spAutoFit/>
            </a:bodyPr>
            <a:lstStyle/>
            <a:p>
              <a:pPr algn="ctr">
                <a:lnSpc>
                  <a:spcPts val="675"/>
                </a:lnSpc>
              </a:pPr>
              <a:r>
                <a:rPr lang="zh-CN" sz="680" b="1" dirty="0">
                  <a:solidFill>
                    <a:srgbClr val="4A130A"/>
                  </a:solidFill>
                  <a:latin typeface="+mn-lt"/>
                  <a:ea typeface="+mn-ea"/>
                  <a:cs typeface="+mn-cs"/>
                </a:rPr>
                <a:t>关系</a:t>
              </a:r>
              <a:br/>
              <a:r>
                <a:rPr lang="zh-CN" sz="680" b="1" dirty="0">
                  <a:solidFill>
                    <a:srgbClr val="4A130A"/>
                  </a:solidFill>
                  <a:latin typeface="+mn-lt"/>
                  <a:ea typeface="+mn-ea"/>
                  <a:cs typeface="+mn-cs"/>
                </a:rPr>
                <a:t>成长</a:t>
              </a:r>
            </a:p>
          </p:txBody>
        </p:sp>
        <p:sp>
          <p:nvSpPr>
            <p:cNvPr id="79" name="Ellipse 79"/>
            <p:cNvSpPr/>
            <p:nvPr/>
          </p:nvSpPr>
          <p:spPr>
            <a:xfrm>
              <a:off x="9367838" y="1281112"/>
              <a:ext cx="123825" cy="123825"/>
            </a:xfrm>
            <a:prstGeom prst="ellipse">
              <a:avLst/>
            </a:prstGeom>
            <a:solidFill>
              <a:srgbClr val="C41D00"/>
            </a:solidFill>
            <a:ln>
              <a:noFill/>
            </a:ln>
          </p:spPr>
        </p:sp>
        <p:sp>
          <p:nvSpPr>
            <p:cNvPr id="80" name="TextBox 80"/>
            <p:cNvSpPr txBox="1"/>
            <p:nvPr/>
          </p:nvSpPr>
          <p:spPr>
            <a:xfrm>
              <a:off x="9350354" y="13075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​4​</a:t>
              </a:r>
            </a:p>
          </p:txBody>
        </p:sp>
        <p:sp>
          <p:nvSpPr>
            <p:cNvPr id="81" name="TextBox 81"/>
            <p:cNvSpPr txBox="1"/>
            <p:nvPr/>
          </p:nvSpPr>
          <p:spPr>
            <a:xfrm>
              <a:off x="9529128" y="1308259"/>
              <a:ext cx="182245" cy="219075"/>
            </a:xfrm>
            <a:prstGeom prst="rect">
              <a:avLst/>
            </a:prstGeom>
            <a:noFill/>
            <a:ln>
              <a:noFill/>
            </a:ln>
          </p:spPr>
          <p:txBody>
            <a:bodyPr wrap="none" lIns="0" tIns="0" rIns="0" bIns="0" anchor="t" anchorCtr="0">
              <a:spAutoFit/>
            </a:bodyPr>
            <a:lstStyle/>
            <a:p>
              <a:pPr algn="ctr">
                <a:lnSpc>
                  <a:spcPts val="675"/>
                </a:lnSpc>
              </a:pPr>
              <a:r>
                <a:rPr lang="zh-CN" sz="680" b="1" dirty="0">
                  <a:solidFill>
                    <a:srgbClr val="4A130A"/>
                  </a:solidFill>
                  <a:latin typeface="+mn-lt"/>
                  <a:ea typeface="+mn-ea"/>
                  <a:cs typeface="+mn-cs"/>
                </a:rPr>
                <a:t>综合</a:t>
              </a:r>
              <a:br/>
              <a:r>
                <a:rPr lang="zh-CN" sz="680" b="1" dirty="0">
                  <a:solidFill>
                    <a:srgbClr val="4A130A"/>
                  </a:solidFill>
                  <a:latin typeface="+mn-lt"/>
                  <a:ea typeface="+mn-ea"/>
                  <a:cs typeface="+mn-cs"/>
                </a:rPr>
                <a:t>经营</a:t>
              </a:r>
            </a:p>
          </p:txBody>
        </p:sp>
        <p:sp>
          <p:nvSpPr>
            <p:cNvPr id="82" name="Ellipse 82"/>
            <p:cNvSpPr/>
            <p:nvPr/>
          </p:nvSpPr>
          <p:spPr>
            <a:xfrm>
              <a:off x="10244138" y="1281112"/>
              <a:ext cx="123825" cy="123825"/>
            </a:xfrm>
            <a:prstGeom prst="ellipse">
              <a:avLst/>
            </a:prstGeom>
            <a:solidFill>
              <a:srgbClr val="C41D00"/>
            </a:solidFill>
            <a:ln>
              <a:noFill/>
            </a:ln>
          </p:spPr>
        </p:sp>
        <p:sp>
          <p:nvSpPr>
            <p:cNvPr id="83" name="TextBox 83"/>
            <p:cNvSpPr txBox="1"/>
            <p:nvPr/>
          </p:nvSpPr>
          <p:spPr>
            <a:xfrm>
              <a:off x="10226654" y="13075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a:t>
              </a:r>
            </a:p>
          </p:txBody>
        </p:sp>
        <p:sp>
          <p:nvSpPr>
            <p:cNvPr id="84" name="TextBox 84"/>
            <p:cNvSpPr txBox="1"/>
            <p:nvPr/>
          </p:nvSpPr>
          <p:spPr>
            <a:xfrm>
              <a:off x="10405428" y="1308259"/>
              <a:ext cx="182245" cy="219075"/>
            </a:xfrm>
            <a:prstGeom prst="rect">
              <a:avLst/>
            </a:prstGeom>
            <a:noFill/>
            <a:ln>
              <a:noFill/>
            </a:ln>
          </p:spPr>
          <p:txBody>
            <a:bodyPr wrap="none" lIns="0" tIns="0" rIns="0" bIns="0" anchor="t" anchorCtr="0">
              <a:spAutoFit/>
            </a:bodyPr>
            <a:lstStyle/>
            <a:p>
              <a:pPr algn="ctr">
                <a:lnSpc>
                  <a:spcPts val="675"/>
                </a:lnSpc>
              </a:pPr>
              <a:r>
                <a:rPr lang="zh-CN" sz="680" b="1" dirty="0">
                  <a:solidFill>
                    <a:srgbClr val="4A130A"/>
                  </a:solidFill>
                  <a:latin typeface="+mn-lt"/>
                  <a:ea typeface="+mn-ea"/>
                  <a:cs typeface="+mn-cs"/>
                </a:rPr>
                <a:t>忠诚</a:t>
              </a:r>
              <a:br/>
              <a:r>
                <a:rPr lang="zh-CN" sz="680" b="1" dirty="0">
                  <a:solidFill>
                    <a:srgbClr val="4A130A"/>
                  </a:solidFill>
                  <a:latin typeface="+mn-lt"/>
                  <a:ea typeface="+mn-ea"/>
                  <a:cs typeface="+mn-cs"/>
                </a:rPr>
                <a:t>维系</a:t>
              </a:r>
            </a:p>
          </p:txBody>
        </p:sp>
        <p:sp>
          <p:nvSpPr>
            <p:cNvPr id="85" name="Ellipse 85"/>
            <p:cNvSpPr/>
            <p:nvPr/>
          </p:nvSpPr>
          <p:spPr>
            <a:xfrm>
              <a:off x="11120438" y="1281112"/>
              <a:ext cx="123825" cy="123825"/>
            </a:xfrm>
            <a:prstGeom prst="ellipse">
              <a:avLst/>
            </a:prstGeom>
            <a:solidFill>
              <a:srgbClr val="C41D00"/>
            </a:solidFill>
            <a:ln>
              <a:noFill/>
            </a:ln>
          </p:spPr>
        </p:sp>
        <p:sp>
          <p:nvSpPr>
            <p:cNvPr id="86" name="TextBox 86"/>
            <p:cNvSpPr txBox="1"/>
            <p:nvPr/>
          </p:nvSpPr>
          <p:spPr>
            <a:xfrm>
              <a:off x="11102954" y="13075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​6​</a:t>
              </a:r>
            </a:p>
          </p:txBody>
        </p:sp>
        <p:sp>
          <p:nvSpPr>
            <p:cNvPr id="87" name="TextBox 87"/>
            <p:cNvSpPr txBox="1"/>
            <p:nvPr/>
          </p:nvSpPr>
          <p:spPr>
            <a:xfrm>
              <a:off x="11281728" y="1308259"/>
              <a:ext cx="182245" cy="219075"/>
            </a:xfrm>
            <a:prstGeom prst="rect">
              <a:avLst/>
            </a:prstGeom>
            <a:noFill/>
            <a:ln>
              <a:noFill/>
            </a:ln>
          </p:spPr>
          <p:txBody>
            <a:bodyPr wrap="none" lIns="0" tIns="0" rIns="0" bIns="0" anchor="t" anchorCtr="0">
              <a:spAutoFit/>
            </a:bodyPr>
            <a:lstStyle/>
            <a:p>
              <a:pPr algn="ctr">
                <a:lnSpc>
                  <a:spcPts val="675"/>
                </a:lnSpc>
              </a:pPr>
              <a:r>
                <a:rPr lang="zh-CN" sz="680" b="1" dirty="0">
                  <a:solidFill>
                    <a:srgbClr val="4A130A"/>
                  </a:solidFill>
                  <a:latin typeface="+mn-lt"/>
                  <a:ea typeface="+mn-ea"/>
                  <a:cs typeface="+mn-cs"/>
                </a:rPr>
                <a:t>流失</a:t>
              </a:r>
              <a:br/>
              <a:r>
                <a:rPr lang="zh-CN" sz="680" b="1" dirty="0">
                  <a:solidFill>
                    <a:srgbClr val="4A130A"/>
                  </a:solidFill>
                  <a:latin typeface="+mn-lt"/>
                  <a:ea typeface="+mn-ea"/>
                  <a:cs typeface="+mn-cs"/>
                </a:rPr>
                <a:t>挽回</a:t>
              </a:r>
            </a:p>
          </p:txBody>
        </p:sp>
        <p:sp>
          <p:nvSpPr>
            <p:cNvPr id="88" name="Rectangle 88"/>
            <p:cNvSpPr/>
            <p:nvPr/>
          </p:nvSpPr>
          <p:spPr>
            <a:xfrm>
              <a:off x="5600700" y="1485900"/>
              <a:ext cx="6210300" cy="1714500"/>
            </a:xfrm>
            <a:prstGeom prst="rect">
              <a:avLst/>
            </a:prstGeom>
            <a:solidFill>
              <a:srgbClr val="FFFFFF"/>
            </a:solidFill>
            <a:ln w="9525">
              <a:solidFill>
                <a:srgbClr val="EADBCE"/>
              </a:solidFill>
            </a:ln>
          </p:spPr>
        </p:sp>
        <p:sp>
          <p:nvSpPr>
            <p:cNvPr id="89" name="Rectangle 89"/>
            <p:cNvSpPr/>
            <p:nvPr/>
          </p:nvSpPr>
          <p:spPr>
            <a:xfrm>
              <a:off x="5600700" y="1485900"/>
              <a:ext cx="952500" cy="1714500"/>
            </a:xfrm>
            <a:prstGeom prst="rect">
              <a:avLst/>
            </a:prstGeom>
            <a:solidFill>
              <a:srgbClr val="FFF8F2"/>
            </a:solidFill>
            <a:ln>
              <a:noFill/>
            </a:ln>
          </p:spPr>
        </p:sp>
        <p:sp>
          <p:nvSpPr>
            <p:cNvPr id="90" name="Rectangle 90"/>
            <p:cNvSpPr/>
            <p:nvPr/>
          </p:nvSpPr>
          <p:spPr>
            <a:xfrm>
              <a:off x="7429500" y="1485900"/>
              <a:ext cx="876300" cy="285750"/>
            </a:xfrm>
            <a:prstGeom prst="rect">
              <a:avLst/>
            </a:prstGeom>
            <a:solidFill>
              <a:srgbClr val="D82000"/>
            </a:solidFill>
            <a:ln>
              <a:noFill/>
            </a:ln>
          </p:spPr>
        </p:sp>
        <p:sp>
          <p:nvSpPr>
            <p:cNvPr id="91" name="Rectangle 91"/>
            <p:cNvSpPr/>
            <p:nvPr/>
          </p:nvSpPr>
          <p:spPr>
            <a:xfrm>
              <a:off x="8305800" y="1485900"/>
              <a:ext cx="876300" cy="285750"/>
            </a:xfrm>
            <a:prstGeom prst="rect">
              <a:avLst/>
            </a:prstGeom>
            <a:solidFill>
              <a:srgbClr val="FBBFB5"/>
            </a:solidFill>
            <a:ln>
              <a:noFill/>
            </a:ln>
          </p:spPr>
        </p:sp>
        <p:sp>
          <p:nvSpPr>
            <p:cNvPr id="92" name="Rectangle 92"/>
            <p:cNvSpPr/>
            <p:nvPr/>
          </p:nvSpPr>
          <p:spPr>
            <a:xfrm>
              <a:off x="8305800" y="1771650"/>
              <a:ext cx="876300" cy="285750"/>
            </a:xfrm>
            <a:prstGeom prst="rect">
              <a:avLst/>
            </a:prstGeom>
            <a:solidFill>
              <a:srgbClr val="D82000"/>
            </a:solidFill>
            <a:ln>
              <a:noFill/>
            </a:ln>
          </p:spPr>
        </p:sp>
        <p:sp>
          <p:nvSpPr>
            <p:cNvPr id="93" name="Rectangle 93"/>
            <p:cNvSpPr/>
            <p:nvPr/>
          </p:nvSpPr>
          <p:spPr>
            <a:xfrm>
              <a:off x="9182100" y="1771650"/>
              <a:ext cx="876300" cy="285750"/>
            </a:xfrm>
            <a:prstGeom prst="rect">
              <a:avLst/>
            </a:prstGeom>
            <a:solidFill>
              <a:srgbClr val="FBBFB5"/>
            </a:solidFill>
            <a:ln>
              <a:noFill/>
            </a:ln>
          </p:spPr>
        </p:sp>
        <p:sp>
          <p:nvSpPr>
            <p:cNvPr id="94" name="Rectangle 94"/>
            <p:cNvSpPr/>
            <p:nvPr/>
          </p:nvSpPr>
          <p:spPr>
            <a:xfrm>
              <a:off x="9182100" y="2057400"/>
              <a:ext cx="876300" cy="285750"/>
            </a:xfrm>
            <a:prstGeom prst="rect">
              <a:avLst/>
            </a:prstGeom>
            <a:solidFill>
              <a:srgbClr val="D82000"/>
            </a:solidFill>
            <a:ln>
              <a:noFill/>
            </a:ln>
          </p:spPr>
        </p:sp>
        <p:sp>
          <p:nvSpPr>
            <p:cNvPr id="95" name="Rectangle 95"/>
            <p:cNvSpPr/>
            <p:nvPr/>
          </p:nvSpPr>
          <p:spPr>
            <a:xfrm>
              <a:off x="10058400" y="2057400"/>
              <a:ext cx="876300" cy="285750"/>
            </a:xfrm>
            <a:prstGeom prst="rect">
              <a:avLst/>
            </a:prstGeom>
            <a:solidFill>
              <a:srgbClr val="FBBFB5"/>
            </a:solidFill>
            <a:ln>
              <a:noFill/>
            </a:ln>
          </p:spPr>
        </p:sp>
        <p:sp>
          <p:nvSpPr>
            <p:cNvPr id="96" name="Rectangle 96"/>
            <p:cNvSpPr/>
            <p:nvPr/>
          </p:nvSpPr>
          <p:spPr>
            <a:xfrm>
              <a:off x="10058400" y="2343150"/>
              <a:ext cx="876300" cy="285750"/>
            </a:xfrm>
            <a:prstGeom prst="rect">
              <a:avLst/>
            </a:prstGeom>
            <a:solidFill>
              <a:srgbClr val="D82000"/>
            </a:solidFill>
            <a:ln>
              <a:noFill/>
            </a:ln>
          </p:spPr>
        </p:sp>
        <p:sp>
          <p:nvSpPr>
            <p:cNvPr id="97" name="Rectangle 97"/>
            <p:cNvSpPr/>
            <p:nvPr/>
          </p:nvSpPr>
          <p:spPr>
            <a:xfrm>
              <a:off x="10934700" y="2343150"/>
              <a:ext cx="876300" cy="285750"/>
            </a:xfrm>
            <a:prstGeom prst="rect">
              <a:avLst/>
            </a:prstGeom>
            <a:solidFill>
              <a:srgbClr val="FBBFB5"/>
            </a:solidFill>
            <a:ln>
              <a:noFill/>
            </a:ln>
          </p:spPr>
        </p:sp>
        <p:sp>
          <p:nvSpPr>
            <p:cNvPr id="98" name="Rectangle 98"/>
            <p:cNvSpPr/>
            <p:nvPr/>
          </p:nvSpPr>
          <p:spPr>
            <a:xfrm>
              <a:off x="10934700" y="2628900"/>
              <a:ext cx="876300" cy="285750"/>
            </a:xfrm>
            <a:prstGeom prst="rect">
              <a:avLst/>
            </a:prstGeom>
            <a:solidFill>
              <a:srgbClr val="C8371E"/>
            </a:solidFill>
            <a:ln>
              <a:noFill/>
            </a:ln>
          </p:spPr>
        </p:sp>
        <p:sp>
          <p:nvSpPr>
            <p:cNvPr id="99" name="Rectangle 99"/>
            <p:cNvSpPr/>
            <p:nvPr/>
          </p:nvSpPr>
          <p:spPr>
            <a:xfrm>
              <a:off x="10934700" y="2914650"/>
              <a:ext cx="876300" cy="285750"/>
            </a:xfrm>
            <a:prstGeom prst="rect">
              <a:avLst/>
            </a:prstGeom>
            <a:solidFill>
              <a:srgbClr val="FBBFB5"/>
            </a:solidFill>
            <a:ln>
              <a:noFill/>
            </a:ln>
          </p:spPr>
        </p:sp>
        <p:sp>
          <p:nvSpPr>
            <p:cNvPr id="100" name="Ellipse 100"/>
            <p:cNvSpPr/>
            <p:nvPr/>
          </p:nvSpPr>
          <p:spPr>
            <a:xfrm>
              <a:off x="5667375" y="1562100"/>
              <a:ext cx="133350" cy="133350"/>
            </a:xfrm>
            <a:prstGeom prst="ellipse">
              <a:avLst/>
            </a:prstGeom>
            <a:solidFill>
              <a:srgbClr val="C41D00"/>
            </a:solidFill>
            <a:ln>
              <a:noFill/>
            </a:ln>
          </p:spPr>
        </p:sp>
        <p:sp>
          <p:nvSpPr>
            <p:cNvPr id="101" name="TextBox 101"/>
            <p:cNvSpPr txBox="1"/>
            <p:nvPr/>
          </p:nvSpPr>
          <p:spPr>
            <a:xfrm>
              <a:off x="5654654" y="159329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a:t>
              </a:r>
            </a:p>
          </p:txBody>
        </p:sp>
        <p:sp>
          <p:nvSpPr>
            <p:cNvPr id="102" name="TextBox 102"/>
            <p:cNvSpPr txBox="1"/>
            <p:nvPr/>
          </p:nvSpPr>
          <p:spPr>
            <a:xfrm>
              <a:off x="5843588" y="1585912"/>
              <a:ext cx="41338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新客导入</a:t>
              </a:r>
            </a:p>
          </p:txBody>
        </p:sp>
        <p:sp>
          <p:nvSpPr>
            <p:cNvPr id="103" name="Ellipse 103"/>
            <p:cNvSpPr/>
            <p:nvPr/>
          </p:nvSpPr>
          <p:spPr>
            <a:xfrm>
              <a:off x="5667375" y="1847850"/>
              <a:ext cx="133350" cy="133350"/>
            </a:xfrm>
            <a:prstGeom prst="ellipse">
              <a:avLst/>
            </a:prstGeom>
            <a:solidFill>
              <a:srgbClr val="C41D00"/>
            </a:solidFill>
            <a:ln>
              <a:noFill/>
            </a:ln>
          </p:spPr>
        </p:sp>
        <p:sp>
          <p:nvSpPr>
            <p:cNvPr id="104" name="TextBox 104"/>
            <p:cNvSpPr txBox="1"/>
            <p:nvPr/>
          </p:nvSpPr>
          <p:spPr>
            <a:xfrm>
              <a:off x="5654654" y="18790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a:t>
              </a:r>
            </a:p>
          </p:txBody>
        </p:sp>
        <p:sp>
          <p:nvSpPr>
            <p:cNvPr id="105" name="TextBox 105"/>
            <p:cNvSpPr txBox="1"/>
            <p:nvPr/>
          </p:nvSpPr>
          <p:spPr>
            <a:xfrm>
              <a:off x="5843588" y="1871662"/>
              <a:ext cx="41338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首次激活</a:t>
              </a:r>
            </a:p>
          </p:txBody>
        </p:sp>
        <p:sp>
          <p:nvSpPr>
            <p:cNvPr id="106" name="Ellipse 106"/>
            <p:cNvSpPr/>
            <p:nvPr/>
          </p:nvSpPr>
          <p:spPr>
            <a:xfrm>
              <a:off x="5667375" y="2133600"/>
              <a:ext cx="133350" cy="133350"/>
            </a:xfrm>
            <a:prstGeom prst="ellipse">
              <a:avLst/>
            </a:prstGeom>
            <a:solidFill>
              <a:srgbClr val="C41D00"/>
            </a:solidFill>
            <a:ln>
              <a:noFill/>
            </a:ln>
          </p:spPr>
        </p:sp>
        <p:sp>
          <p:nvSpPr>
            <p:cNvPr id="107" name="TextBox 107"/>
            <p:cNvSpPr txBox="1"/>
            <p:nvPr/>
          </p:nvSpPr>
          <p:spPr>
            <a:xfrm>
              <a:off x="5654654" y="216479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a:t>
              </a:r>
            </a:p>
          </p:txBody>
        </p:sp>
        <p:sp>
          <p:nvSpPr>
            <p:cNvPr id="108" name="TextBox 108"/>
            <p:cNvSpPr txBox="1"/>
            <p:nvPr/>
          </p:nvSpPr>
          <p:spPr>
            <a:xfrm>
              <a:off x="5843588" y="2157412"/>
              <a:ext cx="41338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关系成长</a:t>
              </a:r>
            </a:p>
          </p:txBody>
        </p:sp>
        <p:sp>
          <p:nvSpPr>
            <p:cNvPr id="109" name="Ellipse 109"/>
            <p:cNvSpPr/>
            <p:nvPr/>
          </p:nvSpPr>
          <p:spPr>
            <a:xfrm>
              <a:off x="5667375" y="2419350"/>
              <a:ext cx="133350" cy="133350"/>
            </a:xfrm>
            <a:prstGeom prst="ellipse">
              <a:avLst/>
            </a:prstGeom>
            <a:solidFill>
              <a:srgbClr val="C41D00"/>
            </a:solidFill>
            <a:ln>
              <a:noFill/>
            </a:ln>
          </p:spPr>
        </p:sp>
        <p:sp>
          <p:nvSpPr>
            <p:cNvPr id="110" name="TextBox 110"/>
            <p:cNvSpPr txBox="1"/>
            <p:nvPr/>
          </p:nvSpPr>
          <p:spPr>
            <a:xfrm>
              <a:off x="5654654" y="24505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​4​</a:t>
              </a:r>
            </a:p>
          </p:txBody>
        </p:sp>
        <p:sp>
          <p:nvSpPr>
            <p:cNvPr id="111" name="TextBox 111"/>
            <p:cNvSpPr txBox="1"/>
            <p:nvPr/>
          </p:nvSpPr>
          <p:spPr>
            <a:xfrm>
              <a:off x="5843588" y="2443162"/>
              <a:ext cx="41338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综合经营</a:t>
              </a:r>
            </a:p>
          </p:txBody>
        </p:sp>
        <p:sp>
          <p:nvSpPr>
            <p:cNvPr id="112" name="Ellipse 112"/>
            <p:cNvSpPr/>
            <p:nvPr/>
          </p:nvSpPr>
          <p:spPr>
            <a:xfrm>
              <a:off x="5667375" y="2705100"/>
              <a:ext cx="133350" cy="133350"/>
            </a:xfrm>
            <a:prstGeom prst="ellipse">
              <a:avLst/>
            </a:prstGeom>
            <a:solidFill>
              <a:srgbClr val="C41D00"/>
            </a:solidFill>
            <a:ln>
              <a:noFill/>
            </a:ln>
          </p:spPr>
        </p:sp>
        <p:sp>
          <p:nvSpPr>
            <p:cNvPr id="113" name="TextBox 113"/>
            <p:cNvSpPr txBox="1"/>
            <p:nvPr/>
          </p:nvSpPr>
          <p:spPr>
            <a:xfrm>
              <a:off x="5654654" y="273629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a:t>
              </a:r>
            </a:p>
          </p:txBody>
        </p:sp>
        <p:sp>
          <p:nvSpPr>
            <p:cNvPr id="114" name="TextBox 114"/>
            <p:cNvSpPr txBox="1"/>
            <p:nvPr/>
          </p:nvSpPr>
          <p:spPr>
            <a:xfrm>
              <a:off x="5843588" y="2728912"/>
              <a:ext cx="41338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忠诚维系</a:t>
              </a:r>
            </a:p>
          </p:txBody>
        </p:sp>
        <p:sp>
          <p:nvSpPr>
            <p:cNvPr id="115" name="Ellipse 115"/>
            <p:cNvSpPr/>
            <p:nvPr/>
          </p:nvSpPr>
          <p:spPr>
            <a:xfrm>
              <a:off x="5667375" y="2990850"/>
              <a:ext cx="133350" cy="133350"/>
            </a:xfrm>
            <a:prstGeom prst="ellipse">
              <a:avLst/>
            </a:prstGeom>
            <a:solidFill>
              <a:srgbClr val="C41D00"/>
            </a:solidFill>
            <a:ln>
              <a:noFill/>
            </a:ln>
          </p:spPr>
        </p:sp>
        <p:sp>
          <p:nvSpPr>
            <p:cNvPr id="116" name="TextBox 116"/>
            <p:cNvSpPr txBox="1"/>
            <p:nvPr/>
          </p:nvSpPr>
          <p:spPr>
            <a:xfrm>
              <a:off x="5654654" y="30220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​6​</a:t>
              </a:r>
            </a:p>
          </p:txBody>
        </p:sp>
        <p:sp>
          <p:nvSpPr>
            <p:cNvPr id="117" name="TextBox 117"/>
            <p:cNvSpPr txBox="1"/>
            <p:nvPr/>
          </p:nvSpPr>
          <p:spPr>
            <a:xfrm>
              <a:off x="5843588" y="3014662"/>
              <a:ext cx="413385" cy="147638"/>
            </a:xfrm>
            <a:prstGeom prst="rect">
              <a:avLst/>
            </a:prstGeom>
            <a:noFill/>
            <a:ln>
              <a:noFill/>
            </a:ln>
          </p:spPr>
          <p:txBody>
            <a:bodyPr wrap="none" lIns="0" tIns="0" rIns="0" bIns="0" anchor="t" anchorCtr="0">
              <a:spAutoFit/>
            </a:bodyPr>
            <a:lstStyle/>
            <a:p>
              <a:pPr algn="l"/>
              <a:r>
                <a:rPr lang="zh-CN" sz="750" dirty="0">
                  <a:solidFill>
                    <a:srgbClr val="3D3835"/>
                  </a:solidFill>
                  <a:latin typeface="+mn-lt"/>
                  <a:ea typeface="+mn-ea"/>
                  <a:cs typeface="+mn-cs"/>
                </a:rPr>
                <a:t>流失挽回</a:t>
              </a:r>
            </a:p>
          </p:txBody>
        </p:sp>
        <p:sp>
          <p:nvSpPr>
            <p:cNvPr id="118" name="TextBox 118"/>
            <p:cNvSpPr txBox="1"/>
            <p:nvPr/>
          </p:nvSpPr>
          <p:spPr>
            <a:xfrm>
              <a:off x="6898849" y="1581864"/>
              <a:ext cx="185002" cy="154781"/>
            </a:xfrm>
            <a:prstGeom prst="rect">
              <a:avLst/>
            </a:prstGeom>
            <a:noFill/>
            <a:ln>
              <a:noFill/>
            </a:ln>
          </p:spPr>
          <p:txBody>
            <a:bodyPr wrap="none" lIns="0" tIns="0" rIns="0" bIns="0" anchor="t" anchorCtr="0">
              <a:spAutoFit/>
            </a:bodyPr>
            <a:lstStyle/>
            <a:p>
              <a:pPr algn="ctr"/>
              <a:r>
                <a:rPr lang="zh-CN" sz="790" dirty="0">
                  <a:solidFill>
                    <a:srgbClr val="7A716B"/>
                  </a:solidFill>
                  <a:latin typeface="+mn-lt"/>
                  <a:ea typeface="+mn-ea"/>
                  <a:cs typeface="+mn-cs"/>
                </a:rPr>
                <a:t>​—​</a:t>
              </a:r>
            </a:p>
          </p:txBody>
        </p:sp>
        <p:sp>
          <p:nvSpPr>
            <p:cNvPr id="119" name="TextBox 119"/>
            <p:cNvSpPr txBox="1"/>
            <p:nvPr/>
          </p:nvSpPr>
          <p:spPr>
            <a:xfrm>
              <a:off x="7678636" y="158186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​58.4​</a:t>
              </a:r>
            </a:p>
          </p:txBody>
        </p:sp>
        <p:sp>
          <p:nvSpPr>
            <p:cNvPr id="120" name="TextBox 120"/>
            <p:cNvSpPr txBox="1"/>
            <p:nvPr/>
          </p:nvSpPr>
          <p:spPr>
            <a:xfrm>
              <a:off x="8563710" y="158186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​28.6​</a:t>
              </a:r>
            </a:p>
          </p:txBody>
        </p:sp>
        <p:sp>
          <p:nvSpPr>
            <p:cNvPr id="121" name="TextBox 121"/>
            <p:cNvSpPr txBox="1"/>
            <p:nvPr/>
          </p:nvSpPr>
          <p:spPr>
            <a:xfrm>
              <a:off x="9469257" y="158186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​9.7​</a:t>
              </a:r>
            </a:p>
          </p:txBody>
        </p:sp>
        <p:sp>
          <p:nvSpPr>
            <p:cNvPr id="122" name="TextBox 122"/>
            <p:cNvSpPr txBox="1"/>
            <p:nvPr/>
          </p:nvSpPr>
          <p:spPr>
            <a:xfrm>
              <a:off x="10345557" y="158186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​2.3​</a:t>
              </a:r>
            </a:p>
          </p:txBody>
        </p:sp>
        <p:sp>
          <p:nvSpPr>
            <p:cNvPr id="123" name="TextBox 123"/>
            <p:cNvSpPr txBox="1"/>
            <p:nvPr/>
          </p:nvSpPr>
          <p:spPr>
            <a:xfrm>
              <a:off x="11221857" y="158186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​0.9​</a:t>
              </a:r>
            </a:p>
          </p:txBody>
        </p:sp>
        <p:sp>
          <p:nvSpPr>
            <p:cNvPr id="124" name="TextBox 124"/>
            <p:cNvSpPr txBox="1"/>
            <p:nvPr/>
          </p:nvSpPr>
          <p:spPr>
            <a:xfrm>
              <a:off x="6840357" y="186761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​7.4​</a:t>
              </a:r>
            </a:p>
          </p:txBody>
        </p:sp>
        <p:sp>
          <p:nvSpPr>
            <p:cNvPr id="125" name="TextBox 125"/>
            <p:cNvSpPr txBox="1"/>
            <p:nvPr/>
          </p:nvSpPr>
          <p:spPr>
            <a:xfrm>
              <a:off x="7775149" y="1867614"/>
              <a:ext cx="185002" cy="154781"/>
            </a:xfrm>
            <a:prstGeom prst="rect">
              <a:avLst/>
            </a:prstGeom>
            <a:noFill/>
            <a:ln>
              <a:noFill/>
            </a:ln>
          </p:spPr>
          <p:txBody>
            <a:bodyPr wrap="none" lIns="0" tIns="0" rIns="0" bIns="0" anchor="t" anchorCtr="0">
              <a:spAutoFit/>
            </a:bodyPr>
            <a:lstStyle/>
            <a:p>
              <a:pPr algn="ctr"/>
              <a:r>
                <a:rPr lang="zh-CN" sz="790" dirty="0">
                  <a:solidFill>
                    <a:srgbClr val="7A716B"/>
                  </a:solidFill>
                  <a:latin typeface="+mn-lt"/>
                  <a:ea typeface="+mn-ea"/>
                  <a:cs typeface="+mn-cs"/>
                </a:rPr>
                <a:t>​—​</a:t>
              </a:r>
            </a:p>
          </p:txBody>
        </p:sp>
        <p:sp>
          <p:nvSpPr>
            <p:cNvPr id="126" name="TextBox 126"/>
            <p:cNvSpPr txBox="1"/>
            <p:nvPr/>
          </p:nvSpPr>
          <p:spPr>
            <a:xfrm>
              <a:off x="8554936" y="186761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​52.1​</a:t>
              </a:r>
            </a:p>
          </p:txBody>
        </p:sp>
        <p:sp>
          <p:nvSpPr>
            <p:cNvPr id="127" name="TextBox 127"/>
            <p:cNvSpPr txBox="1"/>
            <p:nvPr/>
          </p:nvSpPr>
          <p:spPr>
            <a:xfrm>
              <a:off x="9440010" y="18676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​26.2​</a:t>
              </a:r>
            </a:p>
          </p:txBody>
        </p:sp>
        <p:sp>
          <p:nvSpPr>
            <p:cNvPr id="128" name="TextBox 128"/>
            <p:cNvSpPr txBox="1"/>
            <p:nvPr/>
          </p:nvSpPr>
          <p:spPr>
            <a:xfrm>
              <a:off x="10316310" y="18676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​11.5​</a:t>
              </a:r>
            </a:p>
          </p:txBody>
        </p:sp>
        <p:sp>
          <p:nvSpPr>
            <p:cNvPr id="129" name="TextBox 129"/>
            <p:cNvSpPr txBox="1"/>
            <p:nvPr/>
          </p:nvSpPr>
          <p:spPr>
            <a:xfrm>
              <a:off x="11221857" y="186761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​2.8​</a:t>
              </a:r>
            </a:p>
          </p:txBody>
        </p:sp>
        <p:sp>
          <p:nvSpPr>
            <p:cNvPr id="130" name="TextBox 130"/>
            <p:cNvSpPr txBox="1"/>
            <p:nvPr/>
          </p:nvSpPr>
          <p:spPr>
            <a:xfrm>
              <a:off x="6840357" y="215336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​3.6​</a:t>
              </a:r>
            </a:p>
          </p:txBody>
        </p:sp>
        <p:sp>
          <p:nvSpPr>
            <p:cNvPr id="131" name="TextBox 131"/>
            <p:cNvSpPr txBox="1"/>
            <p:nvPr/>
          </p:nvSpPr>
          <p:spPr>
            <a:xfrm>
              <a:off x="7716657" y="215336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​8.9​</a:t>
              </a:r>
            </a:p>
          </p:txBody>
        </p:sp>
        <p:sp>
          <p:nvSpPr>
            <p:cNvPr id="132" name="TextBox 132"/>
            <p:cNvSpPr txBox="1"/>
            <p:nvPr/>
          </p:nvSpPr>
          <p:spPr>
            <a:xfrm>
              <a:off x="8651449" y="2153364"/>
              <a:ext cx="185002" cy="154781"/>
            </a:xfrm>
            <a:prstGeom prst="rect">
              <a:avLst/>
            </a:prstGeom>
            <a:noFill/>
            <a:ln>
              <a:noFill/>
            </a:ln>
          </p:spPr>
          <p:txBody>
            <a:bodyPr wrap="none" lIns="0" tIns="0" rIns="0" bIns="0" anchor="t" anchorCtr="0">
              <a:spAutoFit/>
            </a:bodyPr>
            <a:lstStyle/>
            <a:p>
              <a:pPr algn="ctr"/>
              <a:r>
                <a:rPr lang="zh-CN" sz="790" dirty="0">
                  <a:solidFill>
                    <a:srgbClr val="7A716B"/>
                  </a:solidFill>
                  <a:latin typeface="+mn-lt"/>
                  <a:ea typeface="+mn-ea"/>
                  <a:cs typeface="+mn-cs"/>
                </a:rPr>
                <a:t>​—​</a:t>
              </a:r>
            </a:p>
          </p:txBody>
        </p:sp>
        <p:sp>
          <p:nvSpPr>
            <p:cNvPr id="133" name="TextBox 133"/>
            <p:cNvSpPr txBox="1"/>
            <p:nvPr/>
          </p:nvSpPr>
          <p:spPr>
            <a:xfrm>
              <a:off x="9431236" y="215336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​46.0​</a:t>
              </a:r>
            </a:p>
          </p:txBody>
        </p:sp>
        <p:sp>
          <p:nvSpPr>
            <p:cNvPr id="134" name="TextBox 134"/>
            <p:cNvSpPr txBox="1"/>
            <p:nvPr/>
          </p:nvSpPr>
          <p:spPr>
            <a:xfrm>
              <a:off x="10316310" y="215336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​30.7​</a:t>
              </a:r>
            </a:p>
          </p:txBody>
        </p:sp>
        <p:sp>
          <p:nvSpPr>
            <p:cNvPr id="135" name="TextBox 135"/>
            <p:cNvSpPr txBox="1"/>
            <p:nvPr/>
          </p:nvSpPr>
          <p:spPr>
            <a:xfrm>
              <a:off x="11192610" y="215336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​10.8​</a:t>
              </a:r>
            </a:p>
          </p:txBody>
        </p:sp>
        <p:sp>
          <p:nvSpPr>
            <p:cNvPr id="136" name="TextBox 136"/>
            <p:cNvSpPr txBox="1"/>
            <p:nvPr/>
          </p:nvSpPr>
          <p:spPr>
            <a:xfrm>
              <a:off x="6840357" y="243911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​1.7​</a:t>
              </a:r>
            </a:p>
          </p:txBody>
        </p:sp>
        <p:sp>
          <p:nvSpPr>
            <p:cNvPr id="137" name="TextBox 137"/>
            <p:cNvSpPr txBox="1"/>
            <p:nvPr/>
          </p:nvSpPr>
          <p:spPr>
            <a:xfrm>
              <a:off x="7716657" y="243911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​3.2​</a:t>
              </a:r>
            </a:p>
          </p:txBody>
        </p:sp>
        <p:sp>
          <p:nvSpPr>
            <p:cNvPr id="138" name="TextBox 138"/>
            <p:cNvSpPr txBox="1"/>
            <p:nvPr/>
          </p:nvSpPr>
          <p:spPr>
            <a:xfrm>
              <a:off x="8563710" y="24391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​15.1​</a:t>
              </a:r>
            </a:p>
          </p:txBody>
        </p:sp>
        <p:sp>
          <p:nvSpPr>
            <p:cNvPr id="139" name="TextBox 139"/>
            <p:cNvSpPr txBox="1"/>
            <p:nvPr/>
          </p:nvSpPr>
          <p:spPr>
            <a:xfrm>
              <a:off x="9527749" y="2439114"/>
              <a:ext cx="185002" cy="154781"/>
            </a:xfrm>
            <a:prstGeom prst="rect">
              <a:avLst/>
            </a:prstGeom>
            <a:noFill/>
            <a:ln>
              <a:noFill/>
            </a:ln>
          </p:spPr>
          <p:txBody>
            <a:bodyPr wrap="none" lIns="0" tIns="0" rIns="0" bIns="0" anchor="t" anchorCtr="0">
              <a:spAutoFit/>
            </a:bodyPr>
            <a:lstStyle/>
            <a:p>
              <a:pPr algn="ctr"/>
              <a:r>
                <a:rPr lang="zh-CN" sz="790" dirty="0">
                  <a:solidFill>
                    <a:srgbClr val="7A716B"/>
                  </a:solidFill>
                  <a:latin typeface="+mn-lt"/>
                  <a:ea typeface="+mn-ea"/>
                  <a:cs typeface="+mn-cs"/>
                </a:rPr>
                <a:t>​—​</a:t>
              </a:r>
            </a:p>
          </p:txBody>
        </p:sp>
        <p:sp>
          <p:nvSpPr>
            <p:cNvPr id="140" name="TextBox 140"/>
            <p:cNvSpPr txBox="1"/>
            <p:nvPr/>
          </p:nvSpPr>
          <p:spPr>
            <a:xfrm>
              <a:off x="10307536" y="243911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​55.6​</a:t>
              </a:r>
            </a:p>
          </p:txBody>
        </p:sp>
        <p:sp>
          <p:nvSpPr>
            <p:cNvPr id="141" name="TextBox 141"/>
            <p:cNvSpPr txBox="1"/>
            <p:nvPr/>
          </p:nvSpPr>
          <p:spPr>
            <a:xfrm>
              <a:off x="11192610" y="24391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​24.4​</a:t>
              </a:r>
            </a:p>
          </p:txBody>
        </p:sp>
        <p:sp>
          <p:nvSpPr>
            <p:cNvPr id="142" name="TextBox 142"/>
            <p:cNvSpPr txBox="1"/>
            <p:nvPr/>
          </p:nvSpPr>
          <p:spPr>
            <a:xfrm>
              <a:off x="6840357" y="272486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​0.8​</a:t>
              </a:r>
            </a:p>
          </p:txBody>
        </p:sp>
        <p:sp>
          <p:nvSpPr>
            <p:cNvPr id="143" name="TextBox 143"/>
            <p:cNvSpPr txBox="1"/>
            <p:nvPr/>
          </p:nvSpPr>
          <p:spPr>
            <a:xfrm>
              <a:off x="7716657" y="272486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​1.6​</a:t>
              </a:r>
            </a:p>
          </p:txBody>
        </p:sp>
        <p:sp>
          <p:nvSpPr>
            <p:cNvPr id="144" name="TextBox 144"/>
            <p:cNvSpPr txBox="1"/>
            <p:nvPr/>
          </p:nvSpPr>
          <p:spPr>
            <a:xfrm>
              <a:off x="8592957" y="272486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​6.5​</a:t>
              </a:r>
            </a:p>
          </p:txBody>
        </p:sp>
        <p:sp>
          <p:nvSpPr>
            <p:cNvPr id="145" name="TextBox 145"/>
            <p:cNvSpPr txBox="1"/>
            <p:nvPr/>
          </p:nvSpPr>
          <p:spPr>
            <a:xfrm>
              <a:off x="9440010" y="272486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​21.4​</a:t>
              </a:r>
            </a:p>
          </p:txBody>
        </p:sp>
        <p:sp>
          <p:nvSpPr>
            <p:cNvPr id="146" name="TextBox 146"/>
            <p:cNvSpPr txBox="1"/>
            <p:nvPr/>
          </p:nvSpPr>
          <p:spPr>
            <a:xfrm>
              <a:off x="10404049" y="2724864"/>
              <a:ext cx="185002" cy="154781"/>
            </a:xfrm>
            <a:prstGeom prst="rect">
              <a:avLst/>
            </a:prstGeom>
            <a:noFill/>
            <a:ln>
              <a:noFill/>
            </a:ln>
          </p:spPr>
          <p:txBody>
            <a:bodyPr wrap="none" lIns="0" tIns="0" rIns="0" bIns="0" anchor="t" anchorCtr="0">
              <a:spAutoFit/>
            </a:bodyPr>
            <a:lstStyle/>
            <a:p>
              <a:pPr algn="ctr"/>
              <a:r>
                <a:rPr lang="zh-CN" sz="790" dirty="0">
                  <a:solidFill>
                    <a:srgbClr val="7A716B"/>
                  </a:solidFill>
                  <a:latin typeface="+mn-lt"/>
                  <a:ea typeface="+mn-ea"/>
                  <a:cs typeface="+mn-cs"/>
                </a:rPr>
                <a:t>​—​</a:t>
              </a:r>
            </a:p>
          </p:txBody>
        </p:sp>
        <p:sp>
          <p:nvSpPr>
            <p:cNvPr id="147" name="TextBox 147"/>
            <p:cNvSpPr txBox="1"/>
            <p:nvPr/>
          </p:nvSpPr>
          <p:spPr>
            <a:xfrm>
              <a:off x="11183836" y="272486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​69.7​</a:t>
              </a:r>
            </a:p>
          </p:txBody>
        </p:sp>
        <p:sp>
          <p:nvSpPr>
            <p:cNvPr id="148" name="TextBox 148"/>
            <p:cNvSpPr txBox="1"/>
            <p:nvPr/>
          </p:nvSpPr>
          <p:spPr>
            <a:xfrm>
              <a:off x="6811110" y="30106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​20.3​</a:t>
              </a:r>
            </a:p>
          </p:txBody>
        </p:sp>
        <p:sp>
          <p:nvSpPr>
            <p:cNvPr id="149" name="TextBox 149"/>
            <p:cNvSpPr txBox="1"/>
            <p:nvPr/>
          </p:nvSpPr>
          <p:spPr>
            <a:xfrm>
              <a:off x="7687410" y="30106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​18.6​</a:t>
              </a:r>
            </a:p>
          </p:txBody>
        </p:sp>
        <p:sp>
          <p:nvSpPr>
            <p:cNvPr id="150" name="TextBox 150"/>
            <p:cNvSpPr txBox="1"/>
            <p:nvPr/>
          </p:nvSpPr>
          <p:spPr>
            <a:xfrm>
              <a:off x="8563710" y="30106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​21.7​</a:t>
              </a:r>
            </a:p>
          </p:txBody>
        </p:sp>
        <p:sp>
          <p:nvSpPr>
            <p:cNvPr id="151" name="TextBox 151"/>
            <p:cNvSpPr txBox="1"/>
            <p:nvPr/>
          </p:nvSpPr>
          <p:spPr>
            <a:xfrm>
              <a:off x="9440010" y="30106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​16.2​</a:t>
              </a:r>
            </a:p>
          </p:txBody>
        </p:sp>
        <p:sp>
          <p:nvSpPr>
            <p:cNvPr id="152" name="TextBox 152"/>
            <p:cNvSpPr txBox="1"/>
            <p:nvPr/>
          </p:nvSpPr>
          <p:spPr>
            <a:xfrm>
              <a:off x="10345557" y="301061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​8.4​</a:t>
              </a:r>
            </a:p>
          </p:txBody>
        </p:sp>
        <p:sp>
          <p:nvSpPr>
            <p:cNvPr id="153" name="TextBox 153"/>
            <p:cNvSpPr txBox="1"/>
            <p:nvPr/>
          </p:nvSpPr>
          <p:spPr>
            <a:xfrm>
              <a:off x="11192610" y="30106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​14.8​</a:t>
              </a:r>
            </a:p>
          </p:txBody>
        </p:sp>
        <p:sp>
          <p:nvSpPr>
            <p:cNvPr id="154" name="Line 154"/>
            <p:cNvSpPr/>
            <p:nvPr/>
          </p:nvSpPr>
          <p:spPr>
            <a:xfrm>
              <a:off x="5600700" y="1771650"/>
              <a:ext cx="6210300" cy="9525"/>
            </a:xfrm>
            <a:custGeom>
              <a:avLst/>
              <a:gdLst/>
              <a:ahLst/>
              <a:cxnLst/>
              <a:rect l="l" t="t" r="r" b="b"/>
              <a:pathLst>
                <a:path w="6210300" h="9525">
                  <a:moveTo>
                    <a:pt x="0" y="0"/>
                  </a:moveTo>
                  <a:lnTo>
                    <a:pt x="6210300" y="0"/>
                  </a:lnTo>
                </a:path>
              </a:pathLst>
            </a:custGeom>
            <a:noFill/>
            <a:ln w="9525">
              <a:solidFill>
                <a:srgbClr val="EADBCE"/>
              </a:solidFill>
            </a:ln>
          </p:spPr>
        </p:sp>
        <p:sp>
          <p:nvSpPr>
            <p:cNvPr id="155" name="Line 155"/>
            <p:cNvSpPr/>
            <p:nvPr/>
          </p:nvSpPr>
          <p:spPr>
            <a:xfrm>
              <a:off x="5600700" y="2057400"/>
              <a:ext cx="6210300" cy="9525"/>
            </a:xfrm>
            <a:custGeom>
              <a:avLst/>
              <a:gdLst/>
              <a:ahLst/>
              <a:cxnLst/>
              <a:rect l="l" t="t" r="r" b="b"/>
              <a:pathLst>
                <a:path w="6210300" h="9525">
                  <a:moveTo>
                    <a:pt x="0" y="0"/>
                  </a:moveTo>
                  <a:lnTo>
                    <a:pt x="6210300" y="0"/>
                  </a:lnTo>
                </a:path>
              </a:pathLst>
            </a:custGeom>
            <a:noFill/>
            <a:ln w="9525">
              <a:solidFill>
                <a:srgbClr val="EADBCE"/>
              </a:solidFill>
            </a:ln>
          </p:spPr>
        </p:sp>
        <p:sp>
          <p:nvSpPr>
            <p:cNvPr id="156" name="Line 156"/>
            <p:cNvSpPr/>
            <p:nvPr/>
          </p:nvSpPr>
          <p:spPr>
            <a:xfrm>
              <a:off x="5600700" y="2343150"/>
              <a:ext cx="6210300" cy="9525"/>
            </a:xfrm>
            <a:custGeom>
              <a:avLst/>
              <a:gdLst/>
              <a:ahLst/>
              <a:cxnLst/>
              <a:rect l="l" t="t" r="r" b="b"/>
              <a:pathLst>
                <a:path w="6210300" h="9525">
                  <a:moveTo>
                    <a:pt x="0" y="0"/>
                  </a:moveTo>
                  <a:lnTo>
                    <a:pt x="6210300" y="0"/>
                  </a:lnTo>
                </a:path>
              </a:pathLst>
            </a:custGeom>
            <a:noFill/>
            <a:ln w="9525">
              <a:solidFill>
                <a:srgbClr val="EADBCE"/>
              </a:solidFill>
            </a:ln>
          </p:spPr>
        </p:sp>
        <p:sp>
          <p:nvSpPr>
            <p:cNvPr id="157" name="Line 157"/>
            <p:cNvSpPr/>
            <p:nvPr/>
          </p:nvSpPr>
          <p:spPr>
            <a:xfrm>
              <a:off x="5600700" y="2628900"/>
              <a:ext cx="6210300" cy="9525"/>
            </a:xfrm>
            <a:custGeom>
              <a:avLst/>
              <a:gdLst/>
              <a:ahLst/>
              <a:cxnLst/>
              <a:rect l="l" t="t" r="r" b="b"/>
              <a:pathLst>
                <a:path w="6210300" h="9525">
                  <a:moveTo>
                    <a:pt x="0" y="0"/>
                  </a:moveTo>
                  <a:lnTo>
                    <a:pt x="6210300" y="0"/>
                  </a:lnTo>
                </a:path>
              </a:pathLst>
            </a:custGeom>
            <a:noFill/>
            <a:ln w="9525">
              <a:solidFill>
                <a:srgbClr val="EADBCE"/>
              </a:solidFill>
            </a:ln>
          </p:spPr>
        </p:sp>
        <p:sp>
          <p:nvSpPr>
            <p:cNvPr id="158" name="Line 158"/>
            <p:cNvSpPr/>
            <p:nvPr/>
          </p:nvSpPr>
          <p:spPr>
            <a:xfrm>
              <a:off x="5600700" y="2914650"/>
              <a:ext cx="6210300" cy="9525"/>
            </a:xfrm>
            <a:custGeom>
              <a:avLst/>
              <a:gdLst/>
              <a:ahLst/>
              <a:cxnLst/>
              <a:rect l="l" t="t" r="r" b="b"/>
              <a:pathLst>
                <a:path w="6210300" h="9525">
                  <a:moveTo>
                    <a:pt x="0" y="0"/>
                  </a:moveTo>
                  <a:lnTo>
                    <a:pt x="6210300" y="0"/>
                  </a:lnTo>
                </a:path>
              </a:pathLst>
            </a:custGeom>
            <a:noFill/>
            <a:ln w="9525">
              <a:solidFill>
                <a:srgbClr val="EADBCE"/>
              </a:solidFill>
            </a:ln>
          </p:spPr>
        </p:sp>
        <p:sp>
          <p:nvSpPr>
            <p:cNvPr id="159" name="Line 159"/>
            <p:cNvSpPr/>
            <p:nvPr/>
          </p:nvSpPr>
          <p:spPr>
            <a:xfrm>
              <a:off x="7429500" y="1485900"/>
              <a:ext cx="9525" cy="1714500"/>
            </a:xfrm>
            <a:custGeom>
              <a:avLst/>
              <a:gdLst/>
              <a:ahLst/>
              <a:cxnLst/>
              <a:rect l="l" t="t" r="r" b="b"/>
              <a:pathLst>
                <a:path w="9525" h="1714500">
                  <a:moveTo>
                    <a:pt x="0" y="0"/>
                  </a:moveTo>
                  <a:lnTo>
                    <a:pt x="0" y="1714500"/>
                  </a:lnTo>
                </a:path>
              </a:pathLst>
            </a:custGeom>
            <a:noFill/>
            <a:ln w="9525">
              <a:solidFill>
                <a:srgbClr val="EADBCE"/>
              </a:solidFill>
            </a:ln>
          </p:spPr>
        </p:sp>
        <p:sp>
          <p:nvSpPr>
            <p:cNvPr id="160" name="Line 160"/>
            <p:cNvSpPr/>
            <p:nvPr/>
          </p:nvSpPr>
          <p:spPr>
            <a:xfrm>
              <a:off x="8305800" y="1485900"/>
              <a:ext cx="9525" cy="1714500"/>
            </a:xfrm>
            <a:custGeom>
              <a:avLst/>
              <a:gdLst/>
              <a:ahLst/>
              <a:cxnLst/>
              <a:rect l="l" t="t" r="r" b="b"/>
              <a:pathLst>
                <a:path w="9525" h="1714500">
                  <a:moveTo>
                    <a:pt x="0" y="0"/>
                  </a:moveTo>
                  <a:lnTo>
                    <a:pt x="0" y="1714500"/>
                  </a:lnTo>
                </a:path>
              </a:pathLst>
            </a:custGeom>
            <a:noFill/>
            <a:ln w="9525">
              <a:solidFill>
                <a:srgbClr val="EADBCE"/>
              </a:solidFill>
            </a:ln>
          </p:spPr>
        </p:sp>
        <p:sp>
          <p:nvSpPr>
            <p:cNvPr id="161" name="Line 161"/>
            <p:cNvSpPr/>
            <p:nvPr/>
          </p:nvSpPr>
          <p:spPr>
            <a:xfrm>
              <a:off x="9182100" y="1485900"/>
              <a:ext cx="9525" cy="1714500"/>
            </a:xfrm>
            <a:custGeom>
              <a:avLst/>
              <a:gdLst/>
              <a:ahLst/>
              <a:cxnLst/>
              <a:rect l="l" t="t" r="r" b="b"/>
              <a:pathLst>
                <a:path w="9525" h="1714500">
                  <a:moveTo>
                    <a:pt x="0" y="0"/>
                  </a:moveTo>
                  <a:lnTo>
                    <a:pt x="0" y="1714500"/>
                  </a:lnTo>
                </a:path>
              </a:pathLst>
            </a:custGeom>
            <a:noFill/>
            <a:ln w="9525">
              <a:solidFill>
                <a:srgbClr val="EADBCE"/>
              </a:solidFill>
            </a:ln>
          </p:spPr>
        </p:sp>
        <p:sp>
          <p:nvSpPr>
            <p:cNvPr id="162" name="Line 162"/>
            <p:cNvSpPr/>
            <p:nvPr/>
          </p:nvSpPr>
          <p:spPr>
            <a:xfrm>
              <a:off x="10058400" y="1485900"/>
              <a:ext cx="9525" cy="1714500"/>
            </a:xfrm>
            <a:custGeom>
              <a:avLst/>
              <a:gdLst/>
              <a:ahLst/>
              <a:cxnLst/>
              <a:rect l="l" t="t" r="r" b="b"/>
              <a:pathLst>
                <a:path w="9525" h="1714500">
                  <a:moveTo>
                    <a:pt x="0" y="0"/>
                  </a:moveTo>
                  <a:lnTo>
                    <a:pt x="0" y="1714500"/>
                  </a:lnTo>
                </a:path>
              </a:pathLst>
            </a:custGeom>
            <a:noFill/>
            <a:ln w="9525">
              <a:solidFill>
                <a:srgbClr val="EADBCE"/>
              </a:solidFill>
            </a:ln>
          </p:spPr>
        </p:sp>
        <p:sp>
          <p:nvSpPr>
            <p:cNvPr id="163" name="Line 163"/>
            <p:cNvSpPr/>
            <p:nvPr/>
          </p:nvSpPr>
          <p:spPr>
            <a:xfrm>
              <a:off x="10934700" y="1485900"/>
              <a:ext cx="9525" cy="1714500"/>
            </a:xfrm>
            <a:custGeom>
              <a:avLst/>
              <a:gdLst/>
              <a:ahLst/>
              <a:cxnLst/>
              <a:rect l="l" t="t" r="r" b="b"/>
              <a:pathLst>
                <a:path w="9525" h="1714500">
                  <a:moveTo>
                    <a:pt x="0" y="0"/>
                  </a:moveTo>
                  <a:lnTo>
                    <a:pt x="0" y="1714500"/>
                  </a:lnTo>
                </a:path>
              </a:pathLst>
            </a:custGeom>
            <a:noFill/>
            <a:ln w="9525">
              <a:solidFill>
                <a:srgbClr val="EADBCE"/>
              </a:solidFill>
            </a:ln>
          </p:spPr>
        </p:sp>
      </p:grpSp>
      <p:grpSp>
        <p:nvGrpSpPr>
          <p:cNvPr id="261" name="mechanism-table"/>
          <p:cNvGrpSpPr/>
          <p:nvPr/>
        </p:nvGrpSpPr>
        <p:grpSpPr>
          <a:xfrm>
            <a:off x="342900" y="3842147"/>
            <a:ext cx="6667500" cy="2863453"/>
            <a:chOff x="342900" y="3842147"/>
            <a:chExt cx="6667500" cy="2863453"/>
          </a:xfrm>
        </p:grpSpPr>
        <p:sp>
          <p:nvSpPr>
            <p:cNvPr id="165" name="TextBox 165"/>
            <p:cNvSpPr txBox="1"/>
            <p:nvPr/>
          </p:nvSpPr>
          <p:spPr>
            <a:xfrm>
              <a:off x="376238" y="3842147"/>
              <a:ext cx="1474574" cy="183356"/>
            </a:xfrm>
            <a:prstGeom prst="rect">
              <a:avLst/>
            </a:prstGeom>
            <a:noFill/>
            <a:ln>
              <a:noFill/>
            </a:ln>
          </p:spPr>
          <p:txBody>
            <a:bodyPr wrap="none" lIns="0" tIns="0" rIns="0" bIns="0" anchor="t" anchorCtr="0">
              <a:spAutoFit/>
            </a:bodyPr>
            <a:lstStyle/>
            <a:p>
              <a:pPr algn="l"/>
              <a:r>
                <a:rPr lang="zh-CN" sz="940" b="1" dirty="0">
                  <a:solidFill>
                    <a:srgbClr val="C41D00"/>
                  </a:solidFill>
                  <a:latin typeface="+mn-lt"/>
                  <a:ea typeface="+mn-ea"/>
                  <a:cs typeface="+mn-cs"/>
                </a:rPr>
                <a:t>生命周期六阶段运营机制​</a:t>
              </a:r>
            </a:p>
          </p:txBody>
        </p:sp>
        <p:sp>
          <p:nvSpPr>
            <p:cNvPr id="166" name="Rectangle 166"/>
            <p:cNvSpPr/>
            <p:nvPr/>
          </p:nvSpPr>
          <p:spPr>
            <a:xfrm>
              <a:off x="342900" y="4019550"/>
              <a:ext cx="6667500" cy="266700"/>
            </a:xfrm>
            <a:prstGeom prst="rect">
              <a:avLst/>
            </a:prstGeom>
            <a:solidFill>
              <a:srgbClr val="FEF2E6"/>
            </a:solidFill>
            <a:ln w="9525">
              <a:solidFill>
                <a:srgbClr val="F0B8AE"/>
              </a:solidFill>
            </a:ln>
          </p:spPr>
        </p:sp>
        <p:sp>
          <p:nvSpPr>
            <p:cNvPr id="167" name="TextBox 167"/>
            <p:cNvSpPr txBox="1"/>
            <p:nvPr/>
          </p:nvSpPr>
          <p:spPr>
            <a:xfrm>
              <a:off x="574688" y="4115514"/>
              <a:ext cx="222225" cy="154781"/>
            </a:xfrm>
            <a:prstGeom prst="rect">
              <a:avLst/>
            </a:prstGeom>
            <a:noFill/>
            <a:ln>
              <a:noFill/>
            </a:ln>
          </p:spPr>
          <p:txBody>
            <a:bodyPr wrap="none" lIns="0" tIns="0" rIns="0" bIns="0" anchor="t" anchorCtr="0">
              <a:spAutoFit/>
            </a:bodyPr>
            <a:lstStyle/>
            <a:p>
              <a:pPr algn="ctr"/>
              <a:r>
                <a:rPr lang="zh-CN" sz="790" b="1" dirty="0">
                  <a:solidFill>
                    <a:srgbClr val="4A130A"/>
                  </a:solidFill>
                  <a:latin typeface="+mn-lt"/>
                  <a:ea typeface="+mn-ea"/>
                  <a:cs typeface="+mn-cs"/>
                </a:rPr>
                <a:t>阶段</a:t>
              </a:r>
            </a:p>
          </p:txBody>
        </p:sp>
        <p:sp>
          <p:nvSpPr>
            <p:cNvPr id="168" name="Ellipse 168"/>
            <p:cNvSpPr/>
            <p:nvPr/>
          </p:nvSpPr>
          <p:spPr>
            <a:xfrm>
              <a:off x="1190625" y="4076700"/>
              <a:ext cx="152400" cy="152400"/>
            </a:xfrm>
            <a:prstGeom prst="ellipse">
              <a:avLst/>
            </a:prstGeom>
            <a:solidFill>
              <a:srgbClr val="C41D00"/>
            </a:solidFill>
            <a:ln>
              <a:noFill/>
            </a:ln>
          </p:spPr>
        </p:sp>
        <p:sp>
          <p:nvSpPr>
            <p:cNvPr id="169" name="TextBox 169"/>
            <p:cNvSpPr txBox="1"/>
            <p:nvPr/>
          </p:nvSpPr>
          <p:spPr>
            <a:xfrm>
              <a:off x="1182765" y="41133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sp>
          <p:nvSpPr>
            <p:cNvPr id="170" name="TextBox 170"/>
            <p:cNvSpPr txBox="1"/>
            <p:nvPr/>
          </p:nvSpPr>
          <p:spPr>
            <a:xfrm>
              <a:off x="1376362" y="411551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新客导入</a:t>
              </a:r>
            </a:p>
          </p:txBody>
        </p:sp>
        <p:sp>
          <p:nvSpPr>
            <p:cNvPr id="171" name="Ellipse 171"/>
            <p:cNvSpPr/>
            <p:nvPr/>
          </p:nvSpPr>
          <p:spPr>
            <a:xfrm>
              <a:off x="2181225" y="4076700"/>
              <a:ext cx="152400" cy="152400"/>
            </a:xfrm>
            <a:prstGeom prst="ellipse">
              <a:avLst/>
            </a:prstGeom>
            <a:solidFill>
              <a:srgbClr val="C41D00"/>
            </a:solidFill>
            <a:ln>
              <a:noFill/>
            </a:ln>
          </p:spPr>
        </p:sp>
        <p:sp>
          <p:nvSpPr>
            <p:cNvPr id="172" name="TextBox 172"/>
            <p:cNvSpPr txBox="1"/>
            <p:nvPr/>
          </p:nvSpPr>
          <p:spPr>
            <a:xfrm>
              <a:off x="2173365" y="41133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sp>
          <p:nvSpPr>
            <p:cNvPr id="173" name="TextBox 173"/>
            <p:cNvSpPr txBox="1"/>
            <p:nvPr/>
          </p:nvSpPr>
          <p:spPr>
            <a:xfrm>
              <a:off x="2366962" y="411551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首次激活</a:t>
              </a:r>
            </a:p>
          </p:txBody>
        </p:sp>
        <p:sp>
          <p:nvSpPr>
            <p:cNvPr id="174" name="Ellipse 174"/>
            <p:cNvSpPr/>
            <p:nvPr/>
          </p:nvSpPr>
          <p:spPr>
            <a:xfrm>
              <a:off x="3171825" y="4076700"/>
              <a:ext cx="152400" cy="152400"/>
            </a:xfrm>
            <a:prstGeom prst="ellipse">
              <a:avLst/>
            </a:prstGeom>
            <a:solidFill>
              <a:srgbClr val="C41D00"/>
            </a:solidFill>
            <a:ln>
              <a:noFill/>
            </a:ln>
          </p:spPr>
        </p:sp>
        <p:sp>
          <p:nvSpPr>
            <p:cNvPr id="175" name="TextBox 175"/>
            <p:cNvSpPr txBox="1"/>
            <p:nvPr/>
          </p:nvSpPr>
          <p:spPr>
            <a:xfrm>
              <a:off x="3163965" y="41133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sp>
          <p:nvSpPr>
            <p:cNvPr id="176" name="TextBox 176"/>
            <p:cNvSpPr txBox="1"/>
            <p:nvPr/>
          </p:nvSpPr>
          <p:spPr>
            <a:xfrm>
              <a:off x="3357562" y="411551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关系成长</a:t>
              </a:r>
            </a:p>
          </p:txBody>
        </p:sp>
        <p:sp>
          <p:nvSpPr>
            <p:cNvPr id="177" name="Ellipse 177"/>
            <p:cNvSpPr/>
            <p:nvPr/>
          </p:nvSpPr>
          <p:spPr>
            <a:xfrm>
              <a:off x="4162425" y="4076700"/>
              <a:ext cx="152400" cy="152400"/>
            </a:xfrm>
            <a:prstGeom prst="ellipse">
              <a:avLst/>
            </a:prstGeom>
            <a:solidFill>
              <a:srgbClr val="C41D00"/>
            </a:solidFill>
            <a:ln>
              <a:noFill/>
            </a:ln>
          </p:spPr>
        </p:sp>
        <p:sp>
          <p:nvSpPr>
            <p:cNvPr id="178" name="TextBox 178"/>
            <p:cNvSpPr txBox="1"/>
            <p:nvPr/>
          </p:nvSpPr>
          <p:spPr>
            <a:xfrm>
              <a:off x="4154565" y="41133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sp>
          <p:nvSpPr>
            <p:cNvPr id="179" name="TextBox 179"/>
            <p:cNvSpPr txBox="1"/>
            <p:nvPr/>
          </p:nvSpPr>
          <p:spPr>
            <a:xfrm>
              <a:off x="4348162" y="411551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综合经营</a:t>
              </a:r>
            </a:p>
          </p:txBody>
        </p:sp>
        <p:sp>
          <p:nvSpPr>
            <p:cNvPr id="180" name="Ellipse 180"/>
            <p:cNvSpPr/>
            <p:nvPr/>
          </p:nvSpPr>
          <p:spPr>
            <a:xfrm>
              <a:off x="5153025" y="4076700"/>
              <a:ext cx="152400" cy="152400"/>
            </a:xfrm>
            <a:prstGeom prst="ellipse">
              <a:avLst/>
            </a:prstGeom>
            <a:solidFill>
              <a:srgbClr val="C41D00"/>
            </a:solidFill>
            <a:ln>
              <a:noFill/>
            </a:ln>
          </p:spPr>
        </p:sp>
        <p:sp>
          <p:nvSpPr>
            <p:cNvPr id="181" name="TextBox 181"/>
            <p:cNvSpPr txBox="1"/>
            <p:nvPr/>
          </p:nvSpPr>
          <p:spPr>
            <a:xfrm>
              <a:off x="5145165" y="41133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​5​</a:t>
              </a:r>
            </a:p>
          </p:txBody>
        </p:sp>
        <p:sp>
          <p:nvSpPr>
            <p:cNvPr id="182" name="TextBox 182"/>
            <p:cNvSpPr txBox="1"/>
            <p:nvPr/>
          </p:nvSpPr>
          <p:spPr>
            <a:xfrm>
              <a:off x="5338762" y="411551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忠诚维系</a:t>
              </a:r>
            </a:p>
          </p:txBody>
        </p:sp>
        <p:sp>
          <p:nvSpPr>
            <p:cNvPr id="183" name="Ellipse 183"/>
            <p:cNvSpPr/>
            <p:nvPr/>
          </p:nvSpPr>
          <p:spPr>
            <a:xfrm>
              <a:off x="6143625" y="4076700"/>
              <a:ext cx="152400" cy="152400"/>
            </a:xfrm>
            <a:prstGeom prst="ellipse">
              <a:avLst/>
            </a:prstGeom>
            <a:solidFill>
              <a:srgbClr val="C41D00"/>
            </a:solidFill>
            <a:ln>
              <a:noFill/>
            </a:ln>
          </p:spPr>
        </p:sp>
        <p:sp>
          <p:nvSpPr>
            <p:cNvPr id="184" name="TextBox 184"/>
            <p:cNvSpPr txBox="1"/>
            <p:nvPr/>
          </p:nvSpPr>
          <p:spPr>
            <a:xfrm>
              <a:off x="6135765" y="41133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​6​</a:t>
              </a:r>
            </a:p>
          </p:txBody>
        </p:sp>
        <p:sp>
          <p:nvSpPr>
            <p:cNvPr id="185" name="TextBox 185"/>
            <p:cNvSpPr txBox="1"/>
            <p:nvPr/>
          </p:nvSpPr>
          <p:spPr>
            <a:xfrm>
              <a:off x="6329362" y="411551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流失挽回</a:t>
              </a:r>
            </a:p>
          </p:txBody>
        </p:sp>
        <p:sp>
          <p:nvSpPr>
            <p:cNvPr id="186" name="Rectangle 186"/>
            <p:cNvSpPr/>
            <p:nvPr/>
          </p:nvSpPr>
          <p:spPr>
            <a:xfrm>
              <a:off x="342900" y="4286250"/>
              <a:ext cx="6667500" cy="2419350"/>
            </a:xfrm>
            <a:prstGeom prst="rect">
              <a:avLst/>
            </a:prstGeom>
            <a:solidFill>
              <a:srgbClr val="FFFFFF"/>
            </a:solidFill>
            <a:ln w="9525">
              <a:solidFill>
                <a:srgbClr val="F0B8AE"/>
              </a:solidFill>
            </a:ln>
          </p:spPr>
        </p:sp>
        <p:sp>
          <p:nvSpPr>
            <p:cNvPr id="187" name="Rectangle 187"/>
            <p:cNvSpPr/>
            <p:nvPr/>
          </p:nvSpPr>
          <p:spPr>
            <a:xfrm>
              <a:off x="342900" y="5162550"/>
              <a:ext cx="6667500" cy="495300"/>
            </a:xfrm>
            <a:prstGeom prst="rect">
              <a:avLst/>
            </a:prstGeom>
            <a:solidFill>
              <a:srgbClr val="FFF8F2"/>
            </a:solidFill>
            <a:ln>
              <a:noFill/>
            </a:ln>
          </p:spPr>
        </p:sp>
        <p:sp>
          <p:nvSpPr>
            <p:cNvPr id="188" name="Rectangle 188"/>
            <p:cNvSpPr/>
            <p:nvPr/>
          </p:nvSpPr>
          <p:spPr>
            <a:xfrm>
              <a:off x="342900" y="6096000"/>
              <a:ext cx="6667500" cy="609600"/>
            </a:xfrm>
            <a:prstGeom prst="rect">
              <a:avLst/>
            </a:prstGeom>
            <a:solidFill>
              <a:srgbClr val="FFF8F2"/>
            </a:solidFill>
            <a:ln>
              <a:noFill/>
            </a:ln>
          </p:spPr>
        </p:sp>
        <p:grpSp>
          <p:nvGrpSpPr>
            <p:cNvPr id="192" name="Group 192"/>
            <p:cNvGrpSpPr/>
            <p:nvPr/>
          </p:nvGrpSpPr>
          <p:grpSpPr>
            <a:xfrm>
              <a:off x="454819" y="4407694"/>
              <a:ext cx="100012" cy="100012"/>
              <a:chOff x="454819" y="4407694"/>
              <a:chExt cx="100012" cy="100012"/>
            </a:xfrm>
          </p:grpSpPr>
          <p:sp>
            <p:nvSpPr>
              <p:cNvPr id="189" name="Freeform 189"/>
              <p:cNvSpPr/>
              <p:nvPr/>
            </p:nvSpPr>
            <p:spPr>
              <a:xfrm>
                <a:off x="499269" y="445214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D82000"/>
                </a:solidFill>
              </a:ln>
            </p:spPr>
          </p:sp>
          <p:sp>
            <p:nvSpPr>
              <p:cNvPr id="190" name="Freeform 190"/>
              <p:cNvSpPr/>
              <p:nvPr/>
            </p:nvSpPr>
            <p:spPr>
              <a:xfrm>
                <a:off x="477044" y="4429919"/>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D82000"/>
                </a:solidFill>
              </a:ln>
            </p:spPr>
          </p:sp>
          <p:sp>
            <p:nvSpPr>
              <p:cNvPr id="191" name="Freeform 191"/>
              <p:cNvSpPr/>
              <p:nvPr/>
            </p:nvSpPr>
            <p:spPr>
              <a:xfrm>
                <a:off x="454819" y="44076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82000"/>
                </a:solidFill>
              </a:ln>
            </p:spPr>
          </p:sp>
        </p:grpSp>
        <p:sp>
          <p:nvSpPr>
            <p:cNvPr id="193" name="TextBox 193"/>
            <p:cNvSpPr txBox="1"/>
            <p:nvPr/>
          </p:nvSpPr>
          <p:spPr>
            <a:xfrm>
              <a:off x="604838" y="4414838"/>
              <a:ext cx="413385"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客户目标</a:t>
              </a:r>
            </a:p>
          </p:txBody>
        </p:sp>
        <p:grpSp>
          <p:nvGrpSpPr>
            <p:cNvPr id="202" name="Group 202"/>
            <p:cNvGrpSpPr/>
            <p:nvPr/>
          </p:nvGrpSpPr>
          <p:grpSpPr>
            <a:xfrm>
              <a:off x="454819" y="4845844"/>
              <a:ext cx="103981" cy="109537"/>
              <a:chOff x="454819" y="4845844"/>
              <a:chExt cx="103981" cy="109537"/>
            </a:xfrm>
          </p:grpSpPr>
          <p:sp>
            <p:nvSpPr>
              <p:cNvPr id="194" name="Freeform 194"/>
              <p:cNvSpPr/>
              <p:nvPr/>
            </p:nvSpPr>
            <p:spPr>
              <a:xfrm>
                <a:off x="454819" y="4945856"/>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195" name="Freeform 195"/>
              <p:cNvSpPr/>
              <p:nvPr/>
            </p:nvSpPr>
            <p:spPr>
              <a:xfrm>
                <a:off x="454819" y="4884737"/>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196" name="Freeform 196"/>
              <p:cNvSpPr/>
              <p:nvPr/>
            </p:nvSpPr>
            <p:spPr>
              <a:xfrm>
                <a:off x="465931" y="4845844"/>
                <a:ext cx="77787" cy="16669"/>
              </a:xfrm>
              <a:custGeom>
                <a:avLst/>
                <a:gdLst/>
                <a:ahLst/>
                <a:cxnLst/>
                <a:rect l="l" t="t" r="r" b="b"/>
                <a:pathLst>
                  <a:path w="77787" h="16669">
                    <a:moveTo>
                      <a:pt x="0" y="16669"/>
                    </a:moveTo>
                    <a:lnTo>
                      <a:pt x="38894" y="0"/>
                    </a:lnTo>
                    <a:lnTo>
                      <a:pt x="77787" y="16669"/>
                    </a:lnTo>
                  </a:path>
                </a:pathLst>
              </a:custGeom>
              <a:noFill/>
              <a:ln w="11112">
                <a:solidFill>
                  <a:srgbClr val="D82000"/>
                </a:solidFill>
              </a:ln>
            </p:spPr>
          </p:sp>
          <p:sp>
            <p:nvSpPr>
              <p:cNvPr id="197" name="Freeform 197"/>
              <p:cNvSpPr/>
              <p:nvPr/>
            </p:nvSpPr>
            <p:spPr>
              <a:xfrm>
                <a:off x="460375" y="4884737"/>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198" name="Freeform 198"/>
              <p:cNvSpPr/>
              <p:nvPr/>
            </p:nvSpPr>
            <p:spPr>
              <a:xfrm>
                <a:off x="549275" y="4884737"/>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199" name="Freeform 199"/>
              <p:cNvSpPr/>
              <p:nvPr/>
            </p:nvSpPr>
            <p:spPr>
              <a:xfrm>
                <a:off x="482600" y="4906962"/>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200" name="Freeform 200"/>
              <p:cNvSpPr/>
              <p:nvPr/>
            </p:nvSpPr>
            <p:spPr>
              <a:xfrm>
                <a:off x="504825" y="4906962"/>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201" name="Freeform 201"/>
              <p:cNvSpPr/>
              <p:nvPr/>
            </p:nvSpPr>
            <p:spPr>
              <a:xfrm>
                <a:off x="527050" y="4906962"/>
                <a:ext cx="9525" cy="16669"/>
              </a:xfrm>
              <a:custGeom>
                <a:avLst/>
                <a:gdLst/>
                <a:ahLst/>
                <a:cxnLst/>
                <a:rect l="l" t="t" r="r" b="b"/>
                <a:pathLst>
                  <a:path w="9525" h="16669">
                    <a:moveTo>
                      <a:pt x="0" y="0"/>
                    </a:moveTo>
                    <a:lnTo>
                      <a:pt x="0" y="16669"/>
                    </a:lnTo>
                  </a:path>
                </a:pathLst>
              </a:custGeom>
              <a:noFill/>
              <a:ln w="11112">
                <a:solidFill>
                  <a:srgbClr val="D82000"/>
                </a:solidFill>
              </a:ln>
            </p:spPr>
          </p:sp>
        </p:grpSp>
        <p:sp>
          <p:nvSpPr>
            <p:cNvPr id="203" name="TextBox 203"/>
            <p:cNvSpPr txBox="1"/>
            <p:nvPr/>
          </p:nvSpPr>
          <p:spPr>
            <a:xfrm>
              <a:off x="604838" y="4852988"/>
              <a:ext cx="413385"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银行目标</a:t>
              </a:r>
            </a:p>
          </p:txBody>
        </p:sp>
        <p:grpSp>
          <p:nvGrpSpPr>
            <p:cNvPr id="206" name="Group 206"/>
            <p:cNvGrpSpPr/>
            <p:nvPr/>
          </p:nvGrpSpPr>
          <p:grpSpPr>
            <a:xfrm>
              <a:off x="465931" y="5332143"/>
              <a:ext cx="77787" cy="99488"/>
              <a:chOff x="465931" y="5332143"/>
              <a:chExt cx="77787" cy="99488"/>
            </a:xfrm>
          </p:grpSpPr>
          <p:sp>
            <p:nvSpPr>
              <p:cNvPr id="204" name="Freeform 204"/>
              <p:cNvSpPr/>
              <p:nvPr/>
            </p:nvSpPr>
            <p:spPr>
              <a:xfrm>
                <a:off x="465931" y="5332143"/>
                <a:ext cx="77787" cy="71183"/>
              </a:xfrm>
              <a:custGeom>
                <a:avLst/>
                <a:gdLst/>
                <a:ahLst/>
                <a:cxnLst/>
                <a:rect l="l" t="t" r="r" b="b"/>
                <a:pathLst>
                  <a:path w="77787" h="71183">
                    <a:moveTo>
                      <a:pt x="0" y="10589"/>
                    </a:moveTo>
                    <a:cubicBezTo>
                      <a:pt x="10803" y="0"/>
                      <a:pt x="28091" y="0"/>
                      <a:pt x="38894" y="10589"/>
                    </a:cubicBezTo>
                    <a:cubicBezTo>
                      <a:pt x="49696" y="21177"/>
                      <a:pt x="66985" y="21177"/>
                      <a:pt x="77787" y="10589"/>
                    </a:cubicBezTo>
                    <a:lnTo>
                      <a:pt x="77787" y="60595"/>
                    </a:lnTo>
                    <a:cubicBezTo>
                      <a:pt x="66985" y="71183"/>
                      <a:pt x="49696" y="71183"/>
                      <a:pt x="38894" y="60595"/>
                    </a:cubicBezTo>
                    <a:cubicBezTo>
                      <a:pt x="28091" y="50006"/>
                      <a:pt x="10803" y="50006"/>
                      <a:pt x="0" y="60595"/>
                    </a:cubicBezTo>
                    <a:lnTo>
                      <a:pt x="0" y="10589"/>
                    </a:lnTo>
                  </a:path>
                </a:pathLst>
              </a:custGeom>
              <a:noFill/>
              <a:ln w="11112">
                <a:solidFill>
                  <a:srgbClr val="D82000"/>
                </a:solidFill>
              </a:ln>
            </p:spPr>
          </p:sp>
          <p:sp>
            <p:nvSpPr>
              <p:cNvPr id="205" name="Freeform 205"/>
              <p:cNvSpPr/>
              <p:nvPr/>
            </p:nvSpPr>
            <p:spPr>
              <a:xfrm>
                <a:off x="465931" y="5392737"/>
                <a:ext cx="9525" cy="38894"/>
              </a:xfrm>
              <a:custGeom>
                <a:avLst/>
                <a:gdLst/>
                <a:ahLst/>
                <a:cxnLst/>
                <a:rect l="l" t="t" r="r" b="b"/>
                <a:pathLst>
                  <a:path w="9525" h="38894">
                    <a:moveTo>
                      <a:pt x="0" y="38894"/>
                    </a:moveTo>
                    <a:lnTo>
                      <a:pt x="0" y="0"/>
                    </a:lnTo>
                  </a:path>
                </a:pathLst>
              </a:custGeom>
              <a:noFill/>
              <a:ln w="11112">
                <a:solidFill>
                  <a:srgbClr val="D82000"/>
                </a:solidFill>
              </a:ln>
            </p:spPr>
          </p:sp>
        </p:grpSp>
        <p:sp>
          <p:nvSpPr>
            <p:cNvPr id="207" name="TextBox 207"/>
            <p:cNvSpPr txBox="1"/>
            <p:nvPr/>
          </p:nvSpPr>
          <p:spPr>
            <a:xfrm>
              <a:off x="604838" y="5338762"/>
              <a:ext cx="413385"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触发事件</a:t>
              </a:r>
            </a:p>
          </p:txBody>
        </p:sp>
        <p:grpSp>
          <p:nvGrpSpPr>
            <p:cNvPr id="213" name="Group 213"/>
            <p:cNvGrpSpPr/>
            <p:nvPr/>
          </p:nvGrpSpPr>
          <p:grpSpPr>
            <a:xfrm>
              <a:off x="454819" y="5778549"/>
              <a:ext cx="100012" cy="100757"/>
              <a:chOff x="454819" y="5778549"/>
              <a:chExt cx="100012" cy="100757"/>
            </a:xfrm>
          </p:grpSpPr>
          <p:sp>
            <p:nvSpPr>
              <p:cNvPr id="208" name="Freeform 208"/>
              <p:cNvSpPr/>
              <p:nvPr/>
            </p:nvSpPr>
            <p:spPr>
              <a:xfrm>
                <a:off x="488156" y="5823744"/>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D82000"/>
                </a:solidFill>
              </a:ln>
            </p:spPr>
          </p:sp>
          <p:sp>
            <p:nvSpPr>
              <p:cNvPr id="209" name="Freeform 209"/>
              <p:cNvSpPr/>
              <p:nvPr/>
            </p:nvSpPr>
            <p:spPr>
              <a:xfrm>
                <a:off x="488156" y="5840412"/>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D82000"/>
                </a:solidFill>
              </a:ln>
            </p:spPr>
          </p:sp>
          <p:sp>
            <p:nvSpPr>
              <p:cNvPr id="210" name="Freeform 210"/>
              <p:cNvSpPr/>
              <p:nvPr/>
            </p:nvSpPr>
            <p:spPr>
              <a:xfrm>
                <a:off x="454819" y="5778549"/>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D82000"/>
                </a:solidFill>
              </a:ln>
            </p:spPr>
          </p:sp>
          <p:sp>
            <p:nvSpPr>
              <p:cNvPr id="211" name="Freeform 211"/>
              <p:cNvSpPr/>
              <p:nvPr/>
            </p:nvSpPr>
            <p:spPr>
              <a:xfrm>
                <a:off x="454819" y="5795962"/>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D82000"/>
                </a:solidFill>
              </a:ln>
            </p:spPr>
          </p:sp>
          <p:sp>
            <p:nvSpPr>
              <p:cNvPr id="212" name="Freeform 212"/>
              <p:cNvSpPr/>
              <p:nvPr/>
            </p:nvSpPr>
            <p:spPr>
              <a:xfrm>
                <a:off x="454819" y="5823744"/>
                <a:ext cx="11112" cy="11112"/>
              </a:xfrm>
              <a:custGeom>
                <a:avLst/>
                <a:gdLst/>
                <a:ahLst/>
                <a:cxnLst/>
                <a:rect l="l" t="t" r="r" b="b"/>
                <a:pathLst>
                  <a:path w="11112" h="11112">
                    <a:moveTo>
                      <a:pt x="0" y="0"/>
                    </a:moveTo>
                    <a:cubicBezTo>
                      <a:pt x="0" y="4934"/>
                      <a:pt x="4289" y="8057"/>
                      <a:pt x="11112" y="11112"/>
                    </a:cubicBezTo>
                  </a:path>
                </a:pathLst>
              </a:custGeom>
              <a:noFill/>
              <a:ln w="11112">
                <a:solidFill>
                  <a:srgbClr val="D82000"/>
                </a:solidFill>
              </a:ln>
            </p:spPr>
          </p:sp>
        </p:grpSp>
        <p:sp>
          <p:nvSpPr>
            <p:cNvPr id="214" name="TextBox 214"/>
            <p:cNvSpPr txBox="1"/>
            <p:nvPr/>
          </p:nvSpPr>
          <p:spPr>
            <a:xfrm>
              <a:off x="604838" y="5786438"/>
              <a:ext cx="413385"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核心产品</a:t>
              </a:r>
            </a:p>
          </p:txBody>
        </p:sp>
        <p:grpSp>
          <p:nvGrpSpPr>
            <p:cNvPr id="219" name="Group 219"/>
            <p:cNvGrpSpPr/>
            <p:nvPr/>
          </p:nvGrpSpPr>
          <p:grpSpPr>
            <a:xfrm>
              <a:off x="454819" y="6308725"/>
              <a:ext cx="100012" cy="98425"/>
              <a:chOff x="454819" y="6308725"/>
              <a:chExt cx="100012" cy="98425"/>
            </a:xfrm>
          </p:grpSpPr>
          <p:sp>
            <p:nvSpPr>
              <p:cNvPr id="215" name="Freeform 215"/>
              <p:cNvSpPr/>
              <p:nvPr/>
            </p:nvSpPr>
            <p:spPr>
              <a:xfrm>
                <a:off x="454819" y="6353175"/>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D82000"/>
                </a:solidFill>
              </a:ln>
            </p:spPr>
          </p:sp>
          <p:sp>
            <p:nvSpPr>
              <p:cNvPr id="216" name="Freeform 216"/>
              <p:cNvSpPr/>
              <p:nvPr/>
            </p:nvSpPr>
            <p:spPr>
              <a:xfrm>
                <a:off x="521494" y="6330950"/>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D82000"/>
                </a:solidFill>
              </a:ln>
            </p:spPr>
          </p:sp>
          <p:sp>
            <p:nvSpPr>
              <p:cNvPr id="217" name="Freeform 217"/>
              <p:cNvSpPr/>
              <p:nvPr/>
            </p:nvSpPr>
            <p:spPr>
              <a:xfrm>
                <a:off x="488156" y="6308725"/>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D82000"/>
                </a:solidFill>
              </a:ln>
            </p:spPr>
          </p:sp>
          <p:sp>
            <p:nvSpPr>
              <p:cNvPr id="218" name="Freeform 218"/>
              <p:cNvSpPr/>
              <p:nvPr/>
            </p:nvSpPr>
            <p:spPr>
              <a:xfrm>
                <a:off x="460375" y="6397625"/>
                <a:ext cx="77787" cy="9525"/>
              </a:xfrm>
              <a:custGeom>
                <a:avLst/>
                <a:gdLst/>
                <a:ahLst/>
                <a:cxnLst/>
                <a:rect l="l" t="t" r="r" b="b"/>
                <a:pathLst>
                  <a:path w="77787" h="9525">
                    <a:moveTo>
                      <a:pt x="0" y="0"/>
                    </a:moveTo>
                    <a:lnTo>
                      <a:pt x="77787" y="0"/>
                    </a:lnTo>
                  </a:path>
                </a:pathLst>
              </a:custGeom>
              <a:noFill/>
              <a:ln w="11112">
                <a:solidFill>
                  <a:srgbClr val="D82000"/>
                </a:solidFill>
              </a:ln>
            </p:spPr>
          </p:sp>
        </p:grpSp>
        <p:sp>
          <p:nvSpPr>
            <p:cNvPr id="220" name="TextBox 220"/>
            <p:cNvSpPr txBox="1"/>
            <p:nvPr/>
          </p:nvSpPr>
          <p:spPr>
            <a:xfrm>
              <a:off x="604838" y="6310312"/>
              <a:ext cx="553098" cy="147638"/>
            </a:xfrm>
            <a:prstGeom prst="rect">
              <a:avLst/>
            </a:prstGeom>
            <a:noFill/>
            <a:ln>
              <a:noFill/>
            </a:ln>
          </p:spPr>
          <p:txBody>
            <a:bodyPr wrap="none" lIns="0" tIns="0" rIns="0" bIns="0" anchor="t" anchorCtr="0">
              <a:spAutoFit/>
            </a:bodyPr>
            <a:lstStyle/>
            <a:p>
              <a:pPr algn="l"/>
              <a:r>
                <a:rPr lang="zh-CN" sz="750" b="1" dirty="0">
                  <a:solidFill>
                    <a:srgbClr val="3D3835"/>
                  </a:solidFill>
                  <a:latin typeface="+mn-lt"/>
                  <a:ea typeface="+mn-ea"/>
                  <a:cs typeface="+mn-cs"/>
                </a:rPr>
                <a:t>核心KPI​​​</a:t>
              </a:r>
            </a:p>
          </p:txBody>
        </p:sp>
        <p:sp>
          <p:nvSpPr>
            <p:cNvPr id="221" name="TextBox 221"/>
            <p:cNvSpPr txBox="1"/>
            <p:nvPr/>
          </p:nvSpPr>
          <p:spPr>
            <a:xfrm>
              <a:off x="1154049" y="4380786"/>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​了解并信任银行​</a:t>
              </a:r>
              <a:br/>
              <a:r>
                <a:rPr lang="zh-CN" sz="710" dirty="0">
                  <a:solidFill>
                    <a:srgbClr val="3D3835"/>
                  </a:solidFill>
                  <a:latin typeface="+mn-lt"/>
                  <a:ea typeface="+mn-ea"/>
                  <a:cs typeface="+mn-cs"/>
                </a:rPr>
                <a:t>完成开户</a:t>
              </a:r>
            </a:p>
          </p:txBody>
        </p:sp>
        <p:sp>
          <p:nvSpPr>
            <p:cNvPr id="222" name="TextBox 222"/>
            <p:cNvSpPr txBox="1"/>
            <p:nvPr/>
          </p:nvSpPr>
          <p:spPr>
            <a:xfrm>
              <a:off x="2189734" y="438078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​完成首笔交易​</a:t>
              </a:r>
              <a:br/>
              <a:r>
                <a:rPr lang="zh-CN" sz="710" dirty="0">
                  <a:solidFill>
                    <a:srgbClr val="3D3835"/>
                  </a:solidFill>
                  <a:latin typeface="+mn-lt"/>
                  <a:ea typeface="+mn-ea"/>
                  <a:cs typeface="+mn-cs"/>
                </a:rPr>
                <a:t>​体验便捷服务​</a:t>
              </a:r>
            </a:p>
          </p:txBody>
        </p:sp>
        <p:sp>
          <p:nvSpPr>
            <p:cNvPr id="223" name="TextBox 223"/>
            <p:cNvSpPr txBox="1"/>
            <p:nvPr/>
          </p:nvSpPr>
          <p:spPr>
            <a:xfrm>
              <a:off x="3180334" y="438078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​满足日常需求​</a:t>
              </a:r>
              <a:br/>
              <a:r>
                <a:rPr lang="zh-CN" sz="710" dirty="0">
                  <a:solidFill>
                    <a:srgbClr val="3D3835"/>
                  </a:solidFill>
                  <a:latin typeface="+mn-lt"/>
                  <a:ea typeface="+mn-ea"/>
                  <a:cs typeface="+mn-cs"/>
                </a:rPr>
                <a:t>感受价值</a:t>
              </a:r>
            </a:p>
          </p:txBody>
        </p:sp>
        <p:sp>
          <p:nvSpPr>
            <p:cNvPr id="224" name="TextBox 224"/>
            <p:cNvSpPr txBox="1"/>
            <p:nvPr/>
          </p:nvSpPr>
          <p:spPr>
            <a:xfrm>
              <a:off x="4125849" y="4380786"/>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​一站式满足需求​</a:t>
              </a:r>
              <a:br/>
              <a:r>
                <a:rPr lang="zh-CN" sz="710" dirty="0">
                  <a:solidFill>
                    <a:srgbClr val="3D3835"/>
                  </a:solidFill>
                  <a:latin typeface="+mn-lt"/>
                  <a:ea typeface="+mn-ea"/>
                  <a:cs typeface="+mn-cs"/>
                </a:rPr>
                <a:t>​获得综合收益​</a:t>
              </a:r>
            </a:p>
          </p:txBody>
        </p:sp>
        <p:sp>
          <p:nvSpPr>
            <p:cNvPr id="225" name="TextBox 225"/>
            <p:cNvSpPr txBox="1"/>
            <p:nvPr/>
          </p:nvSpPr>
          <p:spPr>
            <a:xfrm>
              <a:off x="5071364" y="4380786"/>
              <a:ext cx="83007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​持续获得优质体验​</a:t>
              </a:r>
              <a:br/>
              <a:r>
                <a:rPr lang="zh-CN" sz="710" dirty="0">
                  <a:solidFill>
                    <a:srgbClr val="3D3835"/>
                  </a:solidFill>
                  <a:latin typeface="+mn-lt"/>
                  <a:ea typeface="+mn-ea"/>
                  <a:cs typeface="+mn-cs"/>
                </a:rPr>
                <a:t>​享受专属权益​</a:t>
              </a:r>
            </a:p>
          </p:txBody>
        </p:sp>
        <p:sp>
          <p:nvSpPr>
            <p:cNvPr id="226" name="TextBox 226"/>
            <p:cNvSpPr txBox="1"/>
            <p:nvPr/>
          </p:nvSpPr>
          <p:spPr>
            <a:xfrm>
              <a:off x="6291898" y="4380786"/>
              <a:ext cx="37020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解决问题</a:t>
              </a:r>
              <a:br/>
              <a:r>
                <a:rPr lang="zh-CN" sz="710" dirty="0">
                  <a:solidFill>
                    <a:srgbClr val="3D3835"/>
                  </a:solidFill>
                  <a:latin typeface="+mn-lt"/>
                  <a:ea typeface="+mn-ea"/>
                  <a:cs typeface="+mn-cs"/>
                </a:rPr>
                <a:t>恢复使用</a:t>
              </a:r>
            </a:p>
          </p:txBody>
        </p:sp>
        <p:sp>
          <p:nvSpPr>
            <p:cNvPr id="227" name="TextBox 227"/>
            <p:cNvSpPr txBox="1"/>
            <p:nvPr/>
          </p:nvSpPr>
          <p:spPr>
            <a:xfrm>
              <a:off x="1199134" y="481893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获取客户</a:t>
              </a:r>
              <a:br/>
              <a:r>
                <a:rPr lang="zh-CN" sz="710" dirty="0">
                  <a:solidFill>
                    <a:srgbClr val="3D3835"/>
                  </a:solidFill>
                  <a:latin typeface="+mn-lt"/>
                  <a:ea typeface="+mn-ea"/>
                  <a:cs typeface="+mn-cs"/>
                </a:rPr>
                <a:t>​建立基础信息​</a:t>
              </a:r>
            </a:p>
          </p:txBody>
        </p:sp>
        <p:sp>
          <p:nvSpPr>
            <p:cNvPr id="228" name="TextBox 228"/>
            <p:cNvSpPr txBox="1"/>
            <p:nvPr/>
          </p:nvSpPr>
          <p:spPr>
            <a:xfrm>
              <a:off x="2189734" y="481893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激活使用</a:t>
              </a:r>
              <a:br/>
              <a:r>
                <a:rPr lang="zh-CN" sz="710" dirty="0">
                  <a:solidFill>
                    <a:srgbClr val="3D3835"/>
                  </a:solidFill>
                  <a:latin typeface="+mn-lt"/>
                  <a:ea typeface="+mn-ea"/>
                  <a:cs typeface="+mn-cs"/>
                </a:rPr>
                <a:t>​建立初步习惯​</a:t>
              </a:r>
            </a:p>
          </p:txBody>
        </p:sp>
        <p:sp>
          <p:nvSpPr>
            <p:cNvPr id="229" name="TextBox 229"/>
            <p:cNvSpPr txBox="1"/>
            <p:nvPr/>
          </p:nvSpPr>
          <p:spPr>
            <a:xfrm>
              <a:off x="3275012" y="4818936"/>
              <a:ext cx="46037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提升活跃度</a:t>
              </a:r>
              <a:br/>
              <a:r>
                <a:rPr lang="zh-CN" sz="710" dirty="0">
                  <a:solidFill>
                    <a:srgbClr val="3D3835"/>
                  </a:solidFill>
                  <a:latin typeface="+mn-lt"/>
                  <a:ea typeface="+mn-ea"/>
                  <a:cs typeface="+mn-cs"/>
                </a:rPr>
                <a:t>提高粘性</a:t>
              </a:r>
            </a:p>
          </p:txBody>
        </p:sp>
        <p:sp>
          <p:nvSpPr>
            <p:cNvPr id="230" name="TextBox 230"/>
            <p:cNvSpPr txBox="1"/>
            <p:nvPr/>
          </p:nvSpPr>
          <p:spPr>
            <a:xfrm>
              <a:off x="4170934" y="481893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​提升客户价值​</a:t>
              </a:r>
              <a:br/>
              <a:r>
                <a:rPr lang="zh-CN" sz="710" dirty="0">
                  <a:solidFill>
                    <a:srgbClr val="3D3835"/>
                  </a:solidFill>
                  <a:latin typeface="+mn-lt"/>
                  <a:ea typeface="+mn-ea"/>
                  <a:cs typeface="+mn-cs"/>
                </a:rPr>
                <a:t>交叉销售</a:t>
              </a:r>
            </a:p>
          </p:txBody>
        </p:sp>
        <p:sp>
          <p:nvSpPr>
            <p:cNvPr id="231" name="TextBox 231"/>
            <p:cNvSpPr txBox="1"/>
            <p:nvPr/>
          </p:nvSpPr>
          <p:spPr>
            <a:xfrm>
              <a:off x="5301298" y="4818936"/>
              <a:ext cx="37020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稳固关系</a:t>
              </a:r>
              <a:br/>
              <a:r>
                <a:rPr lang="zh-CN" sz="710" dirty="0">
                  <a:solidFill>
                    <a:srgbClr val="3D3835"/>
                  </a:solidFill>
                  <a:latin typeface="+mn-lt"/>
                  <a:ea typeface="+mn-ea"/>
                  <a:cs typeface="+mn-cs"/>
                </a:rPr>
                <a:t>提升贡献</a:t>
              </a:r>
            </a:p>
          </p:txBody>
        </p:sp>
        <p:sp>
          <p:nvSpPr>
            <p:cNvPr id="232" name="TextBox 232"/>
            <p:cNvSpPr txBox="1"/>
            <p:nvPr/>
          </p:nvSpPr>
          <p:spPr>
            <a:xfrm>
              <a:off x="6291898" y="4818936"/>
              <a:ext cx="37020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减少流失</a:t>
              </a:r>
              <a:br/>
              <a:r>
                <a:rPr lang="zh-CN" sz="710" dirty="0">
                  <a:solidFill>
                    <a:srgbClr val="3D3835"/>
                  </a:solidFill>
                  <a:latin typeface="+mn-lt"/>
                  <a:ea typeface="+mn-ea"/>
                  <a:cs typeface="+mn-cs"/>
                </a:rPr>
                <a:t>恢复价值</a:t>
              </a:r>
            </a:p>
          </p:txBody>
        </p:sp>
        <p:sp>
          <p:nvSpPr>
            <p:cNvPr id="233" name="TextBox 233"/>
            <p:cNvSpPr txBox="1"/>
            <p:nvPr/>
          </p:nvSpPr>
          <p:spPr>
            <a:xfrm>
              <a:off x="1199134" y="527613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​广告投放触达​</a:t>
              </a:r>
              <a:br/>
              <a:r>
                <a:rPr lang="zh-CN" sz="710" dirty="0">
                  <a:solidFill>
                    <a:srgbClr val="3D3835"/>
                  </a:solidFill>
                  <a:latin typeface="+mn-lt"/>
                  <a:ea typeface="+mn-ea"/>
                  <a:cs typeface="+mn-cs"/>
                </a:rPr>
                <a:t>渠道引流</a:t>
              </a:r>
            </a:p>
          </p:txBody>
        </p:sp>
        <p:sp>
          <p:nvSpPr>
            <p:cNvPr id="234" name="TextBox 234"/>
            <p:cNvSpPr txBox="1"/>
            <p:nvPr/>
          </p:nvSpPr>
          <p:spPr>
            <a:xfrm>
              <a:off x="2164937" y="5276136"/>
              <a:ext cx="699326"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​账户开立成功​</a:t>
              </a:r>
              <a:br/>
              <a:r>
                <a:rPr lang="zh-CN" sz="710" dirty="0">
                  <a:solidFill>
                    <a:srgbClr val="3D3835"/>
                  </a:solidFill>
                  <a:latin typeface="+mn-lt"/>
                  <a:ea typeface="+mn-ea"/>
                  <a:cs typeface="+mn-cs"/>
                </a:rPr>
                <a:t>​绑卡/存入资金​</a:t>
              </a:r>
            </a:p>
          </p:txBody>
        </p:sp>
        <p:sp>
          <p:nvSpPr>
            <p:cNvPr id="235" name="TextBox 235"/>
            <p:cNvSpPr txBox="1"/>
            <p:nvPr/>
          </p:nvSpPr>
          <p:spPr>
            <a:xfrm>
              <a:off x="3065367" y="5276136"/>
              <a:ext cx="879666"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​交易达标/产品到期​</a:t>
              </a:r>
              <a:br/>
              <a:r>
                <a:rPr lang="zh-CN" sz="710" dirty="0">
                  <a:solidFill>
                    <a:srgbClr val="3D3835"/>
                  </a:solidFill>
                  <a:latin typeface="+mn-lt"/>
                  <a:ea typeface="+mn-ea"/>
                  <a:cs typeface="+mn-cs"/>
                </a:rPr>
                <a:t>​产品到期/咨询​</a:t>
              </a:r>
            </a:p>
          </p:txBody>
        </p:sp>
        <p:sp>
          <p:nvSpPr>
            <p:cNvPr id="236" name="TextBox 236"/>
            <p:cNvSpPr txBox="1"/>
            <p:nvPr/>
          </p:nvSpPr>
          <p:spPr>
            <a:xfrm>
              <a:off x="4170934" y="527613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​资产达到阈值​</a:t>
              </a:r>
              <a:br/>
              <a:r>
                <a:rPr lang="zh-CN" sz="710" dirty="0">
                  <a:solidFill>
                    <a:srgbClr val="3D3835"/>
                  </a:solidFill>
                  <a:latin typeface="+mn-lt"/>
                  <a:ea typeface="+mn-ea"/>
                  <a:cs typeface="+mn-cs"/>
                </a:rPr>
                <a:t>​产品到期推荐​</a:t>
              </a:r>
            </a:p>
          </p:txBody>
        </p:sp>
        <p:sp>
          <p:nvSpPr>
            <p:cNvPr id="237" name="TextBox 237"/>
            <p:cNvSpPr txBox="1"/>
            <p:nvPr/>
          </p:nvSpPr>
          <p:spPr>
            <a:xfrm>
              <a:off x="5136737" y="5276136"/>
              <a:ext cx="699326"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​生日/节日关怀​</a:t>
              </a:r>
              <a:br/>
              <a:r>
                <a:rPr lang="zh-CN" sz="710" dirty="0">
                  <a:solidFill>
                    <a:srgbClr val="3D3835"/>
                  </a:solidFill>
                  <a:latin typeface="+mn-lt"/>
                  <a:ea typeface="+mn-ea"/>
                  <a:cs typeface="+mn-cs"/>
                </a:rPr>
                <a:t>​产品到期提醒​</a:t>
              </a:r>
            </a:p>
          </p:txBody>
        </p:sp>
        <p:sp>
          <p:nvSpPr>
            <p:cNvPr id="238" name="TextBox 238"/>
            <p:cNvSpPr txBox="1"/>
            <p:nvPr/>
          </p:nvSpPr>
          <p:spPr>
            <a:xfrm>
              <a:off x="6127337" y="5276136"/>
              <a:ext cx="699326"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​交易/登录减少​</a:t>
              </a:r>
              <a:br/>
              <a:r>
                <a:rPr lang="zh-CN" sz="710" dirty="0">
                  <a:solidFill>
                    <a:srgbClr val="3D3835"/>
                  </a:solidFill>
                  <a:latin typeface="+mn-lt"/>
                  <a:ea typeface="+mn-ea"/>
                  <a:cs typeface="+mn-cs"/>
                </a:rPr>
                <a:t>​产品到期未续​</a:t>
              </a:r>
            </a:p>
          </p:txBody>
        </p:sp>
        <p:sp>
          <p:nvSpPr>
            <p:cNvPr id="239" name="TextBox 239"/>
            <p:cNvSpPr txBox="1"/>
            <p:nvPr/>
          </p:nvSpPr>
          <p:spPr>
            <a:xfrm>
              <a:off x="1199134" y="573333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借记卡</a:t>
              </a:r>
              <a:br/>
              <a:r>
                <a:rPr lang="zh-CN" sz="710" dirty="0">
                  <a:solidFill>
                    <a:srgbClr val="3D3835"/>
                  </a:solidFill>
                  <a:latin typeface="+mn-lt"/>
                  <a:ea typeface="+mn-ea"/>
                  <a:cs typeface="+mn-cs"/>
                </a:rPr>
                <a:t>​手机银行开户​</a:t>
              </a:r>
            </a:p>
          </p:txBody>
        </p:sp>
        <p:sp>
          <p:nvSpPr>
            <p:cNvPr id="240" name="TextBox 240"/>
            <p:cNvSpPr txBox="1"/>
            <p:nvPr/>
          </p:nvSpPr>
          <p:spPr>
            <a:xfrm>
              <a:off x="2255107" y="5733336"/>
              <a:ext cx="518986"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存款产品</a:t>
              </a:r>
              <a:br/>
              <a:r>
                <a:rPr lang="zh-CN" sz="710" dirty="0">
                  <a:solidFill>
                    <a:srgbClr val="3D3835"/>
                  </a:solidFill>
                  <a:latin typeface="+mn-lt"/>
                  <a:ea typeface="+mn-ea"/>
                  <a:cs typeface="+mn-cs"/>
                </a:rPr>
                <a:t>​支付/转账​</a:t>
              </a:r>
            </a:p>
          </p:txBody>
        </p:sp>
        <p:sp>
          <p:nvSpPr>
            <p:cNvPr id="241" name="TextBox 241"/>
            <p:cNvSpPr txBox="1"/>
            <p:nvPr/>
          </p:nvSpPr>
          <p:spPr>
            <a:xfrm>
              <a:off x="3320098" y="5733336"/>
              <a:ext cx="37020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理财产品</a:t>
              </a:r>
              <a:br/>
              <a:r>
                <a:rPr lang="zh-CN" sz="710" dirty="0">
                  <a:solidFill>
                    <a:srgbClr val="3D3835"/>
                  </a:solidFill>
                  <a:latin typeface="+mn-lt"/>
                  <a:ea typeface="+mn-ea"/>
                  <a:cs typeface="+mn-cs"/>
                </a:rPr>
                <a:t>信用卡</a:t>
              </a:r>
            </a:p>
          </p:txBody>
        </p:sp>
        <p:sp>
          <p:nvSpPr>
            <p:cNvPr id="242" name="TextBox 242"/>
            <p:cNvSpPr txBox="1"/>
            <p:nvPr/>
          </p:nvSpPr>
          <p:spPr>
            <a:xfrm>
              <a:off x="4236307" y="5733336"/>
              <a:ext cx="518986"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贷款产品</a:t>
              </a:r>
              <a:br/>
              <a:r>
                <a:rPr lang="zh-CN" sz="710" dirty="0">
                  <a:solidFill>
                    <a:srgbClr val="3D3835"/>
                  </a:solidFill>
                  <a:latin typeface="+mn-lt"/>
                  <a:ea typeface="+mn-ea"/>
                  <a:cs typeface="+mn-cs"/>
                </a:rPr>
                <a:t>​保险/基金​</a:t>
              </a:r>
            </a:p>
          </p:txBody>
        </p:sp>
        <p:sp>
          <p:nvSpPr>
            <p:cNvPr id="243" name="TextBox 243"/>
            <p:cNvSpPr txBox="1"/>
            <p:nvPr/>
          </p:nvSpPr>
          <p:spPr>
            <a:xfrm>
              <a:off x="5301298" y="5733336"/>
              <a:ext cx="37020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私人银行</a:t>
              </a:r>
              <a:br/>
              <a:r>
                <a:rPr lang="zh-CN" sz="710" dirty="0">
                  <a:solidFill>
                    <a:srgbClr val="3D3835"/>
                  </a:solidFill>
                  <a:latin typeface="+mn-lt"/>
                  <a:ea typeface="+mn-ea"/>
                  <a:cs typeface="+mn-cs"/>
                </a:rPr>
                <a:t>专属理财</a:t>
              </a:r>
            </a:p>
          </p:txBody>
        </p:sp>
        <p:sp>
          <p:nvSpPr>
            <p:cNvPr id="244" name="TextBox 244"/>
            <p:cNvSpPr txBox="1"/>
            <p:nvPr/>
          </p:nvSpPr>
          <p:spPr>
            <a:xfrm>
              <a:off x="6291898" y="5733336"/>
              <a:ext cx="37020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权益包</a:t>
              </a:r>
              <a:br/>
              <a:r>
                <a:rPr lang="zh-CN" sz="710" dirty="0">
                  <a:solidFill>
                    <a:srgbClr val="3D3835"/>
                  </a:solidFill>
                  <a:latin typeface="+mn-lt"/>
                  <a:ea typeface="+mn-ea"/>
                  <a:cs typeface="+mn-cs"/>
                </a:rPr>
                <a:t>定向理财</a:t>
              </a:r>
            </a:p>
          </p:txBody>
        </p:sp>
        <p:sp>
          <p:nvSpPr>
            <p:cNvPr id="245" name="TextBox 245"/>
            <p:cNvSpPr txBox="1"/>
            <p:nvPr/>
          </p:nvSpPr>
          <p:spPr>
            <a:xfrm>
              <a:off x="1187750" y="6152436"/>
              <a:ext cx="672500" cy="388144"/>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新客开户数</a:t>
              </a:r>
              <a:br/>
              <a:r>
                <a:rPr lang="zh-CN" sz="710" b="1" dirty="0">
                  <a:solidFill>
                    <a:srgbClr val="C41D00"/>
                  </a:solidFill>
                  <a:latin typeface="+mn-lt"/>
                  <a:ea typeface="+mn-ea"/>
                  <a:cs typeface="+mn-cs"/>
                </a:rPr>
                <a:t>​​128,560户​​</a:t>
              </a:r>
              <a:br/>
              <a:r>
                <a:rPr lang="zh-CN" sz="710" dirty="0">
                  <a:solidFill>
                    <a:srgbClr val="3D3835"/>
                  </a:solidFill>
                  <a:latin typeface="+mn-lt"/>
                  <a:ea typeface="+mn-ea"/>
                  <a:cs typeface="+mn-cs"/>
                </a:rPr>
                <a:t>​转化率18.7%​</a:t>
              </a:r>
            </a:p>
          </p:txBody>
        </p:sp>
        <p:sp>
          <p:nvSpPr>
            <p:cNvPr id="246" name="TextBox 246"/>
            <p:cNvSpPr txBox="1"/>
            <p:nvPr/>
          </p:nvSpPr>
          <p:spPr>
            <a:xfrm>
              <a:off x="2144649" y="6152436"/>
              <a:ext cx="739902" cy="51196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首贷率</a:t>
              </a:r>
              <a:br/>
              <a:r>
                <a:rPr lang="zh-CN" sz="710" b="1" dirty="0">
                  <a:solidFill>
                    <a:srgbClr val="C41D00"/>
                  </a:solidFill>
                  <a:latin typeface="+mn-lt"/>
                  <a:ea typeface="+mn-ea"/>
                  <a:cs typeface="+mn-cs"/>
                </a:rPr>
                <a:t>​58.4%​</a:t>
              </a:r>
              <a:br/>
              <a:r>
                <a:rPr lang="zh-CN" sz="710" dirty="0">
                  <a:solidFill>
                    <a:srgbClr val="3D3835"/>
                  </a:solidFill>
                  <a:latin typeface="+mn-lt"/>
                  <a:ea typeface="+mn-ea"/>
                  <a:cs typeface="+mn-cs"/>
                </a:rPr>
                <a:t>​首笔交易日占比​</a:t>
              </a:r>
              <a:br/>
              <a:r>
                <a:rPr lang="zh-CN" sz="710" b="1" dirty="0">
                  <a:solidFill>
                    <a:srgbClr val="C41D00"/>
                  </a:solidFill>
                  <a:latin typeface="+mn-lt"/>
                  <a:ea typeface="+mn-ea"/>
                  <a:cs typeface="+mn-cs"/>
                </a:rPr>
                <a:t>​55.1%​</a:t>
              </a:r>
            </a:p>
          </p:txBody>
        </p:sp>
        <p:sp>
          <p:nvSpPr>
            <p:cNvPr id="247" name="TextBox 247"/>
            <p:cNvSpPr txBox="1"/>
            <p:nvPr/>
          </p:nvSpPr>
          <p:spPr>
            <a:xfrm>
              <a:off x="3180334" y="6152436"/>
              <a:ext cx="649732" cy="51196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​活跃客户占比​</a:t>
              </a:r>
              <a:br/>
              <a:r>
                <a:rPr lang="zh-CN" sz="710" b="1" dirty="0">
                  <a:solidFill>
                    <a:srgbClr val="C41D00"/>
                  </a:solidFill>
                  <a:latin typeface="+mn-lt"/>
                  <a:ea typeface="+mn-ea"/>
                  <a:cs typeface="+mn-cs"/>
                </a:rPr>
                <a:t>​62.3%​</a:t>
              </a:r>
              <a:br/>
              <a:r>
                <a:rPr lang="zh-CN" sz="710" dirty="0">
                  <a:solidFill>
                    <a:srgbClr val="3D3835"/>
                  </a:solidFill>
                  <a:latin typeface="+mn-lt"/>
                  <a:ea typeface="+mn-ea"/>
                  <a:cs typeface="+mn-cs"/>
                </a:rPr>
                <a:t>​月均交易笔数​</a:t>
              </a:r>
              <a:br/>
              <a:r>
                <a:rPr lang="zh-CN" sz="710" b="1" dirty="0">
                  <a:solidFill>
                    <a:srgbClr val="C41D00"/>
                  </a:solidFill>
                  <a:latin typeface="+mn-lt"/>
                  <a:ea typeface="+mn-ea"/>
                  <a:cs typeface="+mn-cs"/>
                </a:rPr>
                <a:t>​6.2笔​</a:t>
              </a:r>
            </a:p>
          </p:txBody>
        </p:sp>
        <p:sp>
          <p:nvSpPr>
            <p:cNvPr id="248" name="TextBox 248"/>
            <p:cNvSpPr txBox="1"/>
            <p:nvPr/>
          </p:nvSpPr>
          <p:spPr>
            <a:xfrm>
              <a:off x="4125849" y="6152436"/>
              <a:ext cx="739902" cy="51196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​​AUM贡献占比​​</a:t>
              </a:r>
              <a:br/>
              <a:r>
                <a:rPr lang="zh-CN" sz="710" b="1" dirty="0">
                  <a:solidFill>
                    <a:srgbClr val="C41D00"/>
                  </a:solidFill>
                  <a:latin typeface="+mn-lt"/>
                  <a:ea typeface="+mn-ea"/>
                  <a:cs typeface="+mn-cs"/>
                </a:rPr>
                <a:t>​45.6%​</a:t>
              </a:r>
              <a:br/>
              <a:r>
                <a:rPr lang="zh-CN" sz="710" dirty="0">
                  <a:solidFill>
                    <a:srgbClr val="3D3835"/>
                  </a:solidFill>
                  <a:latin typeface="+mn-lt"/>
                  <a:ea typeface="+mn-ea"/>
                  <a:cs typeface="+mn-cs"/>
                </a:rPr>
                <a:t>​交叉产品持有数​</a:t>
              </a:r>
              <a:br/>
              <a:r>
                <a:rPr lang="zh-CN" sz="710" b="1" dirty="0">
                  <a:solidFill>
                    <a:srgbClr val="C41D00"/>
                  </a:solidFill>
                  <a:latin typeface="+mn-lt"/>
                  <a:ea typeface="+mn-ea"/>
                  <a:cs typeface="+mn-cs"/>
                </a:rPr>
                <a:t>​2.7个​</a:t>
              </a:r>
            </a:p>
          </p:txBody>
        </p:sp>
        <p:sp>
          <p:nvSpPr>
            <p:cNvPr id="249" name="TextBox 249"/>
            <p:cNvSpPr txBox="1"/>
            <p:nvPr/>
          </p:nvSpPr>
          <p:spPr>
            <a:xfrm>
              <a:off x="5111941" y="6152436"/>
              <a:ext cx="748919" cy="51196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​留存率（90天）​</a:t>
              </a:r>
              <a:br/>
              <a:r>
                <a:rPr lang="zh-CN" sz="710" b="1" dirty="0">
                  <a:solidFill>
                    <a:srgbClr val="C41D00"/>
                  </a:solidFill>
                  <a:latin typeface="+mn-lt"/>
                  <a:ea typeface="+mn-ea"/>
                  <a:cs typeface="+mn-cs"/>
                </a:rPr>
                <a:t>​92.1%​</a:t>
              </a:r>
              <a:br/>
              <a:r>
                <a:rPr lang="zh-CN" sz="710" dirty="0">
                  <a:solidFill>
                    <a:srgbClr val="3D3835"/>
                  </a:solidFill>
                  <a:latin typeface="+mn-lt"/>
                  <a:ea typeface="+mn-ea"/>
                  <a:cs typeface="+mn-cs"/>
                </a:rPr>
                <a:t>​人均贡献利润​</a:t>
              </a:r>
              <a:br/>
              <a:r>
                <a:rPr lang="zh-CN" sz="710" b="1" dirty="0">
                  <a:solidFill>
                    <a:srgbClr val="C41D00"/>
                  </a:solidFill>
                  <a:latin typeface="+mn-lt"/>
                  <a:ea typeface="+mn-ea"/>
                  <a:cs typeface="+mn-cs"/>
                </a:rPr>
                <a:t>​1,245元​</a:t>
              </a:r>
            </a:p>
          </p:txBody>
        </p:sp>
        <p:sp>
          <p:nvSpPr>
            <p:cNvPr id="250" name="TextBox 250"/>
            <p:cNvSpPr txBox="1"/>
            <p:nvPr/>
          </p:nvSpPr>
          <p:spPr>
            <a:xfrm>
              <a:off x="6102541" y="6152436"/>
              <a:ext cx="748919" cy="51196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​召回率（30天）​</a:t>
              </a:r>
              <a:br/>
              <a:r>
                <a:rPr lang="zh-CN" sz="710" b="1" dirty="0">
                  <a:solidFill>
                    <a:srgbClr val="C41D00"/>
                  </a:solidFill>
                  <a:latin typeface="+mn-lt"/>
                  <a:ea typeface="+mn-ea"/>
                  <a:cs typeface="+mn-cs"/>
                </a:rPr>
                <a:t>​19.6%​</a:t>
              </a:r>
              <a:br/>
              <a:r>
                <a:rPr lang="zh-CN" sz="710" dirty="0">
                  <a:solidFill>
                    <a:srgbClr val="3D3835"/>
                  </a:solidFill>
                  <a:latin typeface="+mn-lt"/>
                  <a:ea typeface="+mn-ea"/>
                  <a:cs typeface="+mn-cs"/>
                </a:rPr>
                <a:t>​召回后活跃率​</a:t>
              </a:r>
              <a:br/>
              <a:r>
                <a:rPr lang="zh-CN" sz="710" b="1" dirty="0">
                  <a:solidFill>
                    <a:srgbClr val="C41D00"/>
                  </a:solidFill>
                  <a:latin typeface="+mn-lt"/>
                  <a:ea typeface="+mn-ea"/>
                  <a:cs typeface="+mn-cs"/>
                </a:rPr>
                <a:t>​61.3%​</a:t>
              </a:r>
            </a:p>
          </p:txBody>
        </p:sp>
        <p:sp>
          <p:nvSpPr>
            <p:cNvPr id="251" name="Line 251"/>
            <p:cNvSpPr/>
            <p:nvPr/>
          </p:nvSpPr>
          <p:spPr>
            <a:xfrm>
              <a:off x="342900" y="4724400"/>
              <a:ext cx="6667500" cy="9525"/>
            </a:xfrm>
            <a:custGeom>
              <a:avLst/>
              <a:gdLst/>
              <a:ahLst/>
              <a:cxnLst/>
              <a:rect l="l" t="t" r="r" b="b"/>
              <a:pathLst>
                <a:path w="6667500" h="9525">
                  <a:moveTo>
                    <a:pt x="0" y="0"/>
                  </a:moveTo>
                  <a:lnTo>
                    <a:pt x="6667500" y="0"/>
                  </a:lnTo>
                </a:path>
              </a:pathLst>
            </a:custGeom>
            <a:noFill/>
            <a:ln w="9525">
              <a:solidFill>
                <a:srgbClr val="EADBCE"/>
              </a:solidFill>
            </a:ln>
          </p:spPr>
        </p:sp>
        <p:sp>
          <p:nvSpPr>
            <p:cNvPr id="252" name="Line 252"/>
            <p:cNvSpPr/>
            <p:nvPr/>
          </p:nvSpPr>
          <p:spPr>
            <a:xfrm>
              <a:off x="342900" y="5162550"/>
              <a:ext cx="6667500" cy="9525"/>
            </a:xfrm>
            <a:custGeom>
              <a:avLst/>
              <a:gdLst/>
              <a:ahLst/>
              <a:cxnLst/>
              <a:rect l="l" t="t" r="r" b="b"/>
              <a:pathLst>
                <a:path w="6667500" h="9525">
                  <a:moveTo>
                    <a:pt x="0" y="0"/>
                  </a:moveTo>
                  <a:lnTo>
                    <a:pt x="6667500" y="0"/>
                  </a:lnTo>
                </a:path>
              </a:pathLst>
            </a:custGeom>
            <a:noFill/>
            <a:ln w="9525">
              <a:solidFill>
                <a:srgbClr val="EADBCE"/>
              </a:solidFill>
            </a:ln>
          </p:spPr>
        </p:sp>
        <p:sp>
          <p:nvSpPr>
            <p:cNvPr id="253" name="Line 253"/>
            <p:cNvSpPr/>
            <p:nvPr/>
          </p:nvSpPr>
          <p:spPr>
            <a:xfrm>
              <a:off x="342900" y="5657850"/>
              <a:ext cx="6667500" cy="9525"/>
            </a:xfrm>
            <a:custGeom>
              <a:avLst/>
              <a:gdLst/>
              <a:ahLst/>
              <a:cxnLst/>
              <a:rect l="l" t="t" r="r" b="b"/>
              <a:pathLst>
                <a:path w="6667500" h="9525">
                  <a:moveTo>
                    <a:pt x="0" y="0"/>
                  </a:moveTo>
                  <a:lnTo>
                    <a:pt x="6667500" y="0"/>
                  </a:lnTo>
                </a:path>
              </a:pathLst>
            </a:custGeom>
            <a:noFill/>
            <a:ln w="9525">
              <a:solidFill>
                <a:srgbClr val="EADBCE"/>
              </a:solidFill>
            </a:ln>
          </p:spPr>
        </p:sp>
        <p:sp>
          <p:nvSpPr>
            <p:cNvPr id="254" name="Line 254"/>
            <p:cNvSpPr/>
            <p:nvPr/>
          </p:nvSpPr>
          <p:spPr>
            <a:xfrm>
              <a:off x="342900" y="6096000"/>
              <a:ext cx="6667500" cy="9525"/>
            </a:xfrm>
            <a:custGeom>
              <a:avLst/>
              <a:gdLst/>
              <a:ahLst/>
              <a:cxnLst/>
              <a:rect l="l" t="t" r="r" b="b"/>
              <a:pathLst>
                <a:path w="6667500" h="9525">
                  <a:moveTo>
                    <a:pt x="0" y="0"/>
                  </a:moveTo>
                  <a:lnTo>
                    <a:pt x="6667500" y="0"/>
                  </a:lnTo>
                </a:path>
              </a:pathLst>
            </a:custGeom>
            <a:noFill/>
            <a:ln w="9525">
              <a:solidFill>
                <a:srgbClr val="EADBCE"/>
              </a:solidFill>
            </a:ln>
          </p:spPr>
        </p:sp>
        <p:sp>
          <p:nvSpPr>
            <p:cNvPr id="255" name="Line 255"/>
            <p:cNvSpPr/>
            <p:nvPr/>
          </p:nvSpPr>
          <p:spPr>
            <a:xfrm>
              <a:off x="1028700" y="4019550"/>
              <a:ext cx="9525" cy="2686050"/>
            </a:xfrm>
            <a:custGeom>
              <a:avLst/>
              <a:gdLst/>
              <a:ahLst/>
              <a:cxnLst/>
              <a:rect l="l" t="t" r="r" b="b"/>
              <a:pathLst>
                <a:path w="9525" h="2686050">
                  <a:moveTo>
                    <a:pt x="0" y="0"/>
                  </a:moveTo>
                  <a:lnTo>
                    <a:pt x="0" y="2686050"/>
                  </a:lnTo>
                </a:path>
              </a:pathLst>
            </a:custGeom>
            <a:noFill/>
            <a:ln w="9525">
              <a:solidFill>
                <a:srgbClr val="EADBCE"/>
              </a:solidFill>
            </a:ln>
          </p:spPr>
        </p:sp>
        <p:sp>
          <p:nvSpPr>
            <p:cNvPr id="256" name="Line 256"/>
            <p:cNvSpPr/>
            <p:nvPr/>
          </p:nvSpPr>
          <p:spPr>
            <a:xfrm>
              <a:off x="2019300" y="4019550"/>
              <a:ext cx="9525" cy="2686050"/>
            </a:xfrm>
            <a:custGeom>
              <a:avLst/>
              <a:gdLst/>
              <a:ahLst/>
              <a:cxnLst/>
              <a:rect l="l" t="t" r="r" b="b"/>
              <a:pathLst>
                <a:path w="9525" h="2686050">
                  <a:moveTo>
                    <a:pt x="0" y="0"/>
                  </a:moveTo>
                  <a:lnTo>
                    <a:pt x="0" y="2686050"/>
                  </a:lnTo>
                </a:path>
              </a:pathLst>
            </a:custGeom>
            <a:noFill/>
            <a:ln w="9525">
              <a:solidFill>
                <a:srgbClr val="EADBCE"/>
              </a:solidFill>
            </a:ln>
          </p:spPr>
        </p:sp>
        <p:sp>
          <p:nvSpPr>
            <p:cNvPr id="257" name="Line 257"/>
            <p:cNvSpPr/>
            <p:nvPr/>
          </p:nvSpPr>
          <p:spPr>
            <a:xfrm>
              <a:off x="3009900" y="4019550"/>
              <a:ext cx="9525" cy="2686050"/>
            </a:xfrm>
            <a:custGeom>
              <a:avLst/>
              <a:gdLst/>
              <a:ahLst/>
              <a:cxnLst/>
              <a:rect l="l" t="t" r="r" b="b"/>
              <a:pathLst>
                <a:path w="9525" h="2686050">
                  <a:moveTo>
                    <a:pt x="0" y="0"/>
                  </a:moveTo>
                  <a:lnTo>
                    <a:pt x="0" y="2686050"/>
                  </a:lnTo>
                </a:path>
              </a:pathLst>
            </a:custGeom>
            <a:noFill/>
            <a:ln w="9525">
              <a:solidFill>
                <a:srgbClr val="EADBCE"/>
              </a:solidFill>
            </a:ln>
          </p:spPr>
        </p:sp>
        <p:sp>
          <p:nvSpPr>
            <p:cNvPr id="258" name="Line 258"/>
            <p:cNvSpPr/>
            <p:nvPr/>
          </p:nvSpPr>
          <p:spPr>
            <a:xfrm>
              <a:off x="4000500" y="4019550"/>
              <a:ext cx="9525" cy="2686050"/>
            </a:xfrm>
            <a:custGeom>
              <a:avLst/>
              <a:gdLst/>
              <a:ahLst/>
              <a:cxnLst/>
              <a:rect l="l" t="t" r="r" b="b"/>
              <a:pathLst>
                <a:path w="9525" h="2686050">
                  <a:moveTo>
                    <a:pt x="0" y="0"/>
                  </a:moveTo>
                  <a:lnTo>
                    <a:pt x="0" y="2686050"/>
                  </a:lnTo>
                </a:path>
              </a:pathLst>
            </a:custGeom>
            <a:noFill/>
            <a:ln w="9525">
              <a:solidFill>
                <a:srgbClr val="EADBCE"/>
              </a:solidFill>
            </a:ln>
          </p:spPr>
        </p:sp>
        <p:sp>
          <p:nvSpPr>
            <p:cNvPr id="259" name="Line 259"/>
            <p:cNvSpPr/>
            <p:nvPr/>
          </p:nvSpPr>
          <p:spPr>
            <a:xfrm>
              <a:off x="4991100" y="4019550"/>
              <a:ext cx="9525" cy="2686050"/>
            </a:xfrm>
            <a:custGeom>
              <a:avLst/>
              <a:gdLst/>
              <a:ahLst/>
              <a:cxnLst/>
              <a:rect l="l" t="t" r="r" b="b"/>
              <a:pathLst>
                <a:path w="9525" h="2686050">
                  <a:moveTo>
                    <a:pt x="0" y="0"/>
                  </a:moveTo>
                  <a:lnTo>
                    <a:pt x="0" y="2686050"/>
                  </a:lnTo>
                </a:path>
              </a:pathLst>
            </a:custGeom>
            <a:noFill/>
            <a:ln w="9525">
              <a:solidFill>
                <a:srgbClr val="EADBCE"/>
              </a:solidFill>
            </a:ln>
          </p:spPr>
        </p:sp>
        <p:sp>
          <p:nvSpPr>
            <p:cNvPr id="260" name="Line 260"/>
            <p:cNvSpPr/>
            <p:nvPr/>
          </p:nvSpPr>
          <p:spPr>
            <a:xfrm>
              <a:off x="5981700" y="4019550"/>
              <a:ext cx="9525" cy="2686050"/>
            </a:xfrm>
            <a:custGeom>
              <a:avLst/>
              <a:gdLst/>
              <a:ahLst/>
              <a:cxnLst/>
              <a:rect l="l" t="t" r="r" b="b"/>
              <a:pathLst>
                <a:path w="9525" h="2686050">
                  <a:moveTo>
                    <a:pt x="0" y="0"/>
                  </a:moveTo>
                  <a:lnTo>
                    <a:pt x="0" y="2686050"/>
                  </a:lnTo>
                </a:path>
              </a:pathLst>
            </a:custGeom>
            <a:noFill/>
            <a:ln w="9525">
              <a:solidFill>
                <a:srgbClr val="EADBCE"/>
              </a:solidFill>
            </a:ln>
          </p:spPr>
        </p:sp>
      </p:grpSp>
      <p:grpSp>
        <p:nvGrpSpPr>
          <p:cNvPr id="316" name="churn-table"/>
          <p:cNvGrpSpPr/>
          <p:nvPr/>
        </p:nvGrpSpPr>
        <p:grpSpPr>
          <a:xfrm>
            <a:off x="7086600" y="3842147"/>
            <a:ext cx="4734932" cy="2596753"/>
            <a:chOff x="7086600" y="3842147"/>
            <a:chExt cx="4734932" cy="2596753"/>
          </a:xfrm>
        </p:grpSpPr>
        <p:sp>
          <p:nvSpPr>
            <p:cNvPr id="262" name="TextBox 262"/>
            <p:cNvSpPr txBox="1"/>
            <p:nvPr/>
          </p:nvSpPr>
          <p:spPr>
            <a:xfrm>
              <a:off x="7119938" y="3842147"/>
              <a:ext cx="1601117" cy="183356"/>
            </a:xfrm>
            <a:prstGeom prst="rect">
              <a:avLst/>
            </a:prstGeom>
            <a:noFill/>
            <a:ln>
              <a:noFill/>
            </a:ln>
          </p:spPr>
          <p:txBody>
            <a:bodyPr wrap="none" lIns="0" tIns="0" rIns="0" bIns="0" anchor="t" anchorCtr="0">
              <a:spAutoFit/>
            </a:bodyPr>
            <a:lstStyle/>
            <a:p>
              <a:pPr algn="l"/>
              <a:r>
                <a:rPr lang="zh-CN" sz="940" b="1" dirty="0">
                  <a:solidFill>
                    <a:srgbClr val="C41D00"/>
                  </a:solidFill>
                  <a:latin typeface="+mn-lt"/>
                  <a:ea typeface="+mn-ea"/>
                  <a:cs typeface="+mn-cs"/>
                </a:rPr>
                <a:t>关键流失点识别与改善方向​</a:t>
              </a:r>
            </a:p>
          </p:txBody>
        </p:sp>
        <p:sp>
          <p:nvSpPr>
            <p:cNvPr id="263" name="Rectangle 263"/>
            <p:cNvSpPr/>
            <p:nvPr/>
          </p:nvSpPr>
          <p:spPr>
            <a:xfrm>
              <a:off x="7086600" y="4019550"/>
              <a:ext cx="4724400" cy="228600"/>
            </a:xfrm>
            <a:prstGeom prst="rect">
              <a:avLst/>
            </a:prstGeom>
            <a:solidFill>
              <a:srgbClr val="FEF2E6"/>
            </a:solidFill>
            <a:ln w="9525">
              <a:solidFill>
                <a:srgbClr val="F0B8AE"/>
              </a:solidFill>
            </a:ln>
          </p:spPr>
        </p:sp>
        <p:sp>
          <p:nvSpPr>
            <p:cNvPr id="264" name="TextBox 264"/>
            <p:cNvSpPr txBox="1"/>
            <p:nvPr/>
          </p:nvSpPr>
          <p:spPr>
            <a:xfrm>
              <a:off x="7383949" y="4090988"/>
              <a:ext cx="891202"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​流失点（从→到）​</a:t>
              </a:r>
            </a:p>
          </p:txBody>
        </p:sp>
        <p:sp>
          <p:nvSpPr>
            <p:cNvPr id="265" name="TextBox 265"/>
            <p:cNvSpPr txBox="1"/>
            <p:nvPr/>
          </p:nvSpPr>
          <p:spPr>
            <a:xfrm>
              <a:off x="8692515" y="4090988"/>
              <a:ext cx="312420"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流失率</a:t>
              </a:r>
            </a:p>
          </p:txBody>
        </p:sp>
        <p:sp>
          <p:nvSpPr>
            <p:cNvPr id="266" name="TextBox 266"/>
            <p:cNvSpPr txBox="1"/>
            <p:nvPr/>
          </p:nvSpPr>
          <p:spPr>
            <a:xfrm>
              <a:off x="9461182" y="4090988"/>
              <a:ext cx="413385"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主要原因</a:t>
              </a:r>
            </a:p>
          </p:txBody>
        </p:sp>
        <p:sp>
          <p:nvSpPr>
            <p:cNvPr id="267" name="TextBox 267"/>
            <p:cNvSpPr txBox="1"/>
            <p:nvPr/>
          </p:nvSpPr>
          <p:spPr>
            <a:xfrm>
              <a:off x="10547032" y="4090988"/>
              <a:ext cx="413385"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改善方向</a:t>
              </a:r>
            </a:p>
          </p:txBody>
        </p:sp>
        <p:sp>
          <p:nvSpPr>
            <p:cNvPr id="268" name="TextBox 268"/>
            <p:cNvSpPr txBox="1"/>
            <p:nvPr/>
          </p:nvSpPr>
          <p:spPr>
            <a:xfrm>
              <a:off x="11397615" y="4090988"/>
              <a:ext cx="312420"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优先级</a:t>
              </a:r>
            </a:p>
          </p:txBody>
        </p:sp>
        <p:sp>
          <p:nvSpPr>
            <p:cNvPr id="269" name="Rectangle 269"/>
            <p:cNvSpPr/>
            <p:nvPr/>
          </p:nvSpPr>
          <p:spPr>
            <a:xfrm>
              <a:off x="7086600" y="4248150"/>
              <a:ext cx="4724400" cy="2190750"/>
            </a:xfrm>
            <a:prstGeom prst="rect">
              <a:avLst/>
            </a:prstGeom>
            <a:solidFill>
              <a:srgbClr val="FFFFFF"/>
            </a:solidFill>
            <a:ln w="9525">
              <a:solidFill>
                <a:srgbClr val="F0B8AE"/>
              </a:solidFill>
            </a:ln>
          </p:spPr>
        </p:sp>
        <p:sp>
          <p:nvSpPr>
            <p:cNvPr id="270" name="Rectangle 270"/>
            <p:cNvSpPr/>
            <p:nvPr/>
          </p:nvSpPr>
          <p:spPr>
            <a:xfrm>
              <a:off x="7086600" y="4686300"/>
              <a:ext cx="4724400" cy="438150"/>
            </a:xfrm>
            <a:prstGeom prst="rect">
              <a:avLst/>
            </a:prstGeom>
            <a:solidFill>
              <a:srgbClr val="FFF8F2"/>
            </a:solidFill>
            <a:ln>
              <a:noFill/>
            </a:ln>
          </p:spPr>
        </p:sp>
        <p:sp>
          <p:nvSpPr>
            <p:cNvPr id="271" name="Rectangle 271"/>
            <p:cNvSpPr/>
            <p:nvPr/>
          </p:nvSpPr>
          <p:spPr>
            <a:xfrm>
              <a:off x="7086600" y="5562600"/>
              <a:ext cx="4724400" cy="438150"/>
            </a:xfrm>
            <a:prstGeom prst="rect">
              <a:avLst/>
            </a:prstGeom>
            <a:solidFill>
              <a:srgbClr val="FFF8F2"/>
            </a:solidFill>
            <a:ln>
              <a:noFill/>
            </a:ln>
          </p:spPr>
        </p:sp>
        <p:sp>
          <p:nvSpPr>
            <p:cNvPr id="272" name="Rectangle 272"/>
            <p:cNvSpPr/>
            <p:nvPr/>
          </p:nvSpPr>
          <p:spPr>
            <a:xfrm>
              <a:off x="7086600" y="6000750"/>
              <a:ext cx="4724400" cy="438150"/>
            </a:xfrm>
            <a:prstGeom prst="rect">
              <a:avLst/>
            </a:prstGeom>
            <a:solidFill>
              <a:srgbClr val="FFF8F2"/>
            </a:solidFill>
            <a:ln>
              <a:noFill/>
            </a:ln>
          </p:spPr>
        </p:sp>
        <p:sp>
          <p:nvSpPr>
            <p:cNvPr id="273" name="Ellipse 273"/>
            <p:cNvSpPr/>
            <p:nvPr/>
          </p:nvSpPr>
          <p:spPr>
            <a:xfrm>
              <a:off x="7172325" y="4343400"/>
              <a:ext cx="133350" cy="133350"/>
            </a:xfrm>
            <a:prstGeom prst="ellipse">
              <a:avLst/>
            </a:prstGeom>
            <a:solidFill>
              <a:srgbClr val="C41D00"/>
            </a:solidFill>
            <a:ln>
              <a:noFill/>
            </a:ln>
          </p:spPr>
        </p:sp>
        <p:sp>
          <p:nvSpPr>
            <p:cNvPr id="274" name="TextBox 274"/>
            <p:cNvSpPr txBox="1"/>
            <p:nvPr/>
          </p:nvSpPr>
          <p:spPr>
            <a:xfrm>
              <a:off x="7159604" y="437459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a:t>
              </a:r>
            </a:p>
          </p:txBody>
        </p:sp>
        <p:sp>
          <p:nvSpPr>
            <p:cNvPr id="275" name="TextBox 275"/>
            <p:cNvSpPr txBox="1"/>
            <p:nvPr/>
          </p:nvSpPr>
          <p:spPr>
            <a:xfrm>
              <a:off x="7348538" y="4314111"/>
              <a:ext cx="546036"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D3835"/>
                  </a:solidFill>
                  <a:latin typeface="+mn-lt"/>
                  <a:ea typeface="+mn-ea"/>
                  <a:cs typeface="+mn-cs"/>
                </a:rPr>
                <a:t>忠诚维系</a:t>
              </a:r>
              <a:br/>
              <a:r>
                <a:rPr lang="zh-CN" sz="710" dirty="0">
                  <a:solidFill>
                    <a:srgbClr val="3D3835"/>
                  </a:solidFill>
                  <a:latin typeface="+mn-lt"/>
                  <a:ea typeface="+mn-ea"/>
                  <a:cs typeface="+mn-cs"/>
                </a:rPr>
                <a:t>→ 流失挽回​​</a:t>
              </a:r>
            </a:p>
          </p:txBody>
        </p:sp>
        <p:sp>
          <p:nvSpPr>
            <p:cNvPr id="276" name="TextBox 276"/>
            <p:cNvSpPr txBox="1"/>
            <p:nvPr/>
          </p:nvSpPr>
          <p:spPr>
            <a:xfrm>
              <a:off x="8609249" y="4387691"/>
              <a:ext cx="478952"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​69.7%​</a:t>
              </a:r>
            </a:p>
          </p:txBody>
        </p:sp>
        <p:sp>
          <p:nvSpPr>
            <p:cNvPr id="277" name="TextBox 277"/>
            <p:cNvSpPr txBox="1"/>
            <p:nvPr/>
          </p:nvSpPr>
          <p:spPr>
            <a:xfrm>
              <a:off x="9297924" y="4314111"/>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高收益替代</a:t>
              </a:r>
              <a:br/>
              <a:r>
                <a:rPr lang="zh-CN" sz="710" dirty="0">
                  <a:solidFill>
                    <a:srgbClr val="3D3835"/>
                  </a:solidFill>
                  <a:latin typeface="+mn-lt"/>
                  <a:ea typeface="+mn-ea"/>
                  <a:cs typeface="+mn-cs"/>
                </a:rPr>
                <a:t>​权益吸引力不足​</a:t>
              </a:r>
            </a:p>
          </p:txBody>
        </p:sp>
        <p:sp>
          <p:nvSpPr>
            <p:cNvPr id="278" name="TextBox 278"/>
            <p:cNvSpPr txBox="1"/>
            <p:nvPr/>
          </p:nvSpPr>
          <p:spPr>
            <a:xfrm>
              <a:off x="10428859" y="4314111"/>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​提升权益价值​</a:t>
              </a:r>
              <a:br/>
              <a:r>
                <a:rPr lang="zh-CN" sz="710" dirty="0">
                  <a:solidFill>
                    <a:srgbClr val="3D3835"/>
                  </a:solidFill>
                  <a:latin typeface="+mn-lt"/>
                  <a:ea typeface="+mn-ea"/>
                  <a:cs typeface="+mn-cs"/>
                </a:rPr>
                <a:t>​加强专属服务​</a:t>
              </a:r>
            </a:p>
          </p:txBody>
        </p:sp>
        <p:sp>
          <p:nvSpPr>
            <p:cNvPr id="279" name="TextBox 279"/>
            <p:cNvSpPr txBox="1"/>
            <p:nvPr/>
          </p:nvSpPr>
          <p:spPr>
            <a:xfrm>
              <a:off x="11228968" y="4380786"/>
              <a:ext cx="592564" cy="140494"/>
            </a:xfrm>
            <a:prstGeom prst="rect">
              <a:avLst/>
            </a:prstGeom>
            <a:noFill/>
            <a:ln>
              <a:noFill/>
            </a:ln>
          </p:spPr>
          <p:txBody>
            <a:bodyPr wrap="none" lIns="0" tIns="0" rIns="0" bIns="0" anchor="t" anchorCtr="0">
              <a:spAutoFit/>
            </a:bodyPr>
            <a:lstStyle/>
            <a:p>
              <a:pPr algn="ctr"/>
              <a:r>
                <a:rPr lang="zh-CN" sz="710" dirty="0">
                  <a:solidFill>
                    <a:srgbClr val="EE492C"/>
                  </a:solidFill>
                  <a:latin typeface="+mn-lt"/>
                  <a:ea typeface="+mn-ea"/>
                  <a:cs typeface="+mn-cs"/>
                </a:rPr>
                <a:t>​★★★★★​</a:t>
              </a:r>
            </a:p>
          </p:txBody>
        </p:sp>
        <p:sp>
          <p:nvSpPr>
            <p:cNvPr id="280" name="Ellipse 280"/>
            <p:cNvSpPr/>
            <p:nvPr/>
          </p:nvSpPr>
          <p:spPr>
            <a:xfrm>
              <a:off x="7172325" y="4781550"/>
              <a:ext cx="133350" cy="133350"/>
            </a:xfrm>
            <a:prstGeom prst="ellipse">
              <a:avLst/>
            </a:prstGeom>
            <a:solidFill>
              <a:srgbClr val="C41D00"/>
            </a:solidFill>
            <a:ln>
              <a:noFill/>
            </a:ln>
          </p:spPr>
        </p:sp>
        <p:sp>
          <p:nvSpPr>
            <p:cNvPr id="281" name="TextBox 281"/>
            <p:cNvSpPr txBox="1"/>
            <p:nvPr/>
          </p:nvSpPr>
          <p:spPr>
            <a:xfrm>
              <a:off x="7159604" y="48127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​4​</a:t>
              </a:r>
            </a:p>
          </p:txBody>
        </p:sp>
        <p:sp>
          <p:nvSpPr>
            <p:cNvPr id="282" name="TextBox 282"/>
            <p:cNvSpPr txBox="1"/>
            <p:nvPr/>
          </p:nvSpPr>
          <p:spPr>
            <a:xfrm>
              <a:off x="7348538" y="4752261"/>
              <a:ext cx="546036"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D3835"/>
                  </a:solidFill>
                  <a:latin typeface="+mn-lt"/>
                  <a:ea typeface="+mn-ea"/>
                  <a:cs typeface="+mn-cs"/>
                </a:rPr>
                <a:t>综合经营</a:t>
              </a:r>
              <a:br/>
              <a:r>
                <a:rPr lang="zh-CN" sz="710" dirty="0">
                  <a:solidFill>
                    <a:srgbClr val="3D3835"/>
                  </a:solidFill>
                  <a:latin typeface="+mn-lt"/>
                  <a:ea typeface="+mn-ea"/>
                  <a:cs typeface="+mn-cs"/>
                </a:rPr>
                <a:t>→ 流失挽回​​</a:t>
              </a:r>
            </a:p>
          </p:txBody>
        </p:sp>
        <p:sp>
          <p:nvSpPr>
            <p:cNvPr id="283" name="TextBox 283"/>
            <p:cNvSpPr txBox="1"/>
            <p:nvPr/>
          </p:nvSpPr>
          <p:spPr>
            <a:xfrm>
              <a:off x="8609249" y="4825841"/>
              <a:ext cx="478952"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​24.4%​</a:t>
              </a:r>
            </a:p>
          </p:txBody>
        </p:sp>
        <p:sp>
          <p:nvSpPr>
            <p:cNvPr id="284" name="TextBox 284"/>
            <p:cNvSpPr txBox="1"/>
            <p:nvPr/>
          </p:nvSpPr>
          <p:spPr>
            <a:xfrm>
              <a:off x="9343009" y="4752261"/>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资产流失</a:t>
              </a:r>
              <a:br/>
              <a:r>
                <a:rPr lang="zh-CN" sz="710" dirty="0">
                  <a:solidFill>
                    <a:srgbClr val="3D3835"/>
                  </a:solidFill>
                  <a:latin typeface="+mn-lt"/>
                  <a:ea typeface="+mn-ea"/>
                  <a:cs typeface="+mn-cs"/>
                </a:rPr>
                <a:t>​服务体验下降​</a:t>
              </a:r>
            </a:p>
          </p:txBody>
        </p:sp>
        <p:sp>
          <p:nvSpPr>
            <p:cNvPr id="285" name="TextBox 285"/>
            <p:cNvSpPr txBox="1"/>
            <p:nvPr/>
          </p:nvSpPr>
          <p:spPr>
            <a:xfrm>
              <a:off x="10383774" y="4752261"/>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​资产配置服务​</a:t>
              </a:r>
              <a:br/>
              <a:r>
                <a:rPr lang="zh-CN" sz="710" dirty="0">
                  <a:solidFill>
                    <a:srgbClr val="3D3835"/>
                  </a:solidFill>
                  <a:latin typeface="+mn-lt"/>
                  <a:ea typeface="+mn-ea"/>
                  <a:cs typeface="+mn-cs"/>
                </a:rPr>
                <a:t>​预警与专项管理​</a:t>
              </a:r>
            </a:p>
          </p:txBody>
        </p:sp>
        <p:sp>
          <p:nvSpPr>
            <p:cNvPr id="286" name="TextBox 286"/>
            <p:cNvSpPr txBox="1"/>
            <p:nvPr/>
          </p:nvSpPr>
          <p:spPr>
            <a:xfrm>
              <a:off x="11228968" y="4818936"/>
              <a:ext cx="592564" cy="140494"/>
            </a:xfrm>
            <a:prstGeom prst="rect">
              <a:avLst/>
            </a:prstGeom>
            <a:noFill/>
            <a:ln>
              <a:noFill/>
            </a:ln>
          </p:spPr>
          <p:txBody>
            <a:bodyPr wrap="none" lIns="0" tIns="0" rIns="0" bIns="0" anchor="t" anchorCtr="0">
              <a:spAutoFit/>
            </a:bodyPr>
            <a:lstStyle/>
            <a:p>
              <a:pPr algn="ctr"/>
              <a:r>
                <a:rPr lang="zh-CN" sz="710" dirty="0">
                  <a:solidFill>
                    <a:srgbClr val="EE492C"/>
                  </a:solidFill>
                  <a:latin typeface="+mn-lt"/>
                  <a:ea typeface="+mn-ea"/>
                  <a:cs typeface="+mn-cs"/>
                </a:rPr>
                <a:t>​★★★★☆​</a:t>
              </a:r>
            </a:p>
          </p:txBody>
        </p:sp>
        <p:sp>
          <p:nvSpPr>
            <p:cNvPr id="287" name="Ellipse 287"/>
            <p:cNvSpPr/>
            <p:nvPr/>
          </p:nvSpPr>
          <p:spPr>
            <a:xfrm>
              <a:off x="7172325" y="5219700"/>
              <a:ext cx="133350" cy="133350"/>
            </a:xfrm>
            <a:prstGeom prst="ellipse">
              <a:avLst/>
            </a:prstGeom>
            <a:solidFill>
              <a:srgbClr val="C41D00"/>
            </a:solidFill>
            <a:ln>
              <a:noFill/>
            </a:ln>
          </p:spPr>
        </p:sp>
        <p:sp>
          <p:nvSpPr>
            <p:cNvPr id="288" name="TextBox 288"/>
            <p:cNvSpPr txBox="1"/>
            <p:nvPr/>
          </p:nvSpPr>
          <p:spPr>
            <a:xfrm>
              <a:off x="7159604" y="525089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a:t>
              </a:r>
            </a:p>
          </p:txBody>
        </p:sp>
        <p:sp>
          <p:nvSpPr>
            <p:cNvPr id="289" name="TextBox 289"/>
            <p:cNvSpPr txBox="1"/>
            <p:nvPr/>
          </p:nvSpPr>
          <p:spPr>
            <a:xfrm>
              <a:off x="7348538" y="5190411"/>
              <a:ext cx="546036"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D3835"/>
                  </a:solidFill>
                  <a:latin typeface="+mn-lt"/>
                  <a:ea typeface="+mn-ea"/>
                  <a:cs typeface="+mn-cs"/>
                </a:rPr>
                <a:t>关系成长</a:t>
              </a:r>
              <a:br/>
              <a:r>
                <a:rPr lang="zh-CN" sz="710" dirty="0">
                  <a:solidFill>
                    <a:srgbClr val="3D3835"/>
                  </a:solidFill>
                  <a:latin typeface="+mn-lt"/>
                  <a:ea typeface="+mn-ea"/>
                  <a:cs typeface="+mn-cs"/>
                </a:rPr>
                <a:t>→ 流失挽回​​</a:t>
              </a:r>
            </a:p>
          </p:txBody>
        </p:sp>
        <p:sp>
          <p:nvSpPr>
            <p:cNvPr id="290" name="TextBox 290"/>
            <p:cNvSpPr txBox="1"/>
            <p:nvPr/>
          </p:nvSpPr>
          <p:spPr>
            <a:xfrm>
              <a:off x="8609249" y="5263991"/>
              <a:ext cx="478952"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​10.8%​</a:t>
              </a:r>
            </a:p>
          </p:txBody>
        </p:sp>
        <p:sp>
          <p:nvSpPr>
            <p:cNvPr id="291" name="TextBox 291"/>
            <p:cNvSpPr txBox="1"/>
            <p:nvPr/>
          </p:nvSpPr>
          <p:spPr>
            <a:xfrm>
              <a:off x="9482772" y="5190411"/>
              <a:ext cx="37020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竞品诱导</a:t>
              </a:r>
              <a:br/>
              <a:r>
                <a:rPr lang="zh-CN" sz="710" dirty="0">
                  <a:solidFill>
                    <a:srgbClr val="3D3835"/>
                  </a:solidFill>
                  <a:latin typeface="+mn-lt"/>
                  <a:ea typeface="+mn-ea"/>
                  <a:cs typeface="+mn-cs"/>
                </a:rPr>
                <a:t>产品单一</a:t>
              </a:r>
            </a:p>
          </p:txBody>
        </p:sp>
        <p:sp>
          <p:nvSpPr>
            <p:cNvPr id="292" name="TextBox 292"/>
            <p:cNvSpPr txBox="1"/>
            <p:nvPr/>
          </p:nvSpPr>
          <p:spPr>
            <a:xfrm>
              <a:off x="10428859" y="5190411"/>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​丰富产品组合​</a:t>
              </a:r>
              <a:br/>
              <a:r>
                <a:rPr lang="zh-CN" sz="710" dirty="0">
                  <a:solidFill>
                    <a:srgbClr val="3D3835"/>
                  </a:solidFill>
                  <a:latin typeface="+mn-lt"/>
                  <a:ea typeface="+mn-ea"/>
                  <a:cs typeface="+mn-cs"/>
                </a:rPr>
                <a:t>个性化推荐</a:t>
              </a:r>
            </a:p>
          </p:txBody>
        </p:sp>
        <p:sp>
          <p:nvSpPr>
            <p:cNvPr id="293" name="TextBox 293"/>
            <p:cNvSpPr txBox="1"/>
            <p:nvPr/>
          </p:nvSpPr>
          <p:spPr>
            <a:xfrm>
              <a:off x="11228968" y="5257086"/>
              <a:ext cx="592564" cy="140494"/>
            </a:xfrm>
            <a:prstGeom prst="rect">
              <a:avLst/>
            </a:prstGeom>
            <a:noFill/>
            <a:ln>
              <a:noFill/>
            </a:ln>
          </p:spPr>
          <p:txBody>
            <a:bodyPr wrap="none" lIns="0" tIns="0" rIns="0" bIns="0" anchor="t" anchorCtr="0">
              <a:spAutoFit/>
            </a:bodyPr>
            <a:lstStyle/>
            <a:p>
              <a:pPr algn="ctr"/>
              <a:r>
                <a:rPr lang="zh-CN" sz="710" dirty="0">
                  <a:solidFill>
                    <a:srgbClr val="EE492C"/>
                  </a:solidFill>
                  <a:latin typeface="+mn-lt"/>
                  <a:ea typeface="+mn-ea"/>
                  <a:cs typeface="+mn-cs"/>
                </a:rPr>
                <a:t>​★★★☆☆​</a:t>
              </a:r>
            </a:p>
          </p:txBody>
        </p:sp>
        <p:sp>
          <p:nvSpPr>
            <p:cNvPr id="294" name="Ellipse 294"/>
            <p:cNvSpPr/>
            <p:nvPr/>
          </p:nvSpPr>
          <p:spPr>
            <a:xfrm>
              <a:off x="7172325" y="5657850"/>
              <a:ext cx="133350" cy="133350"/>
            </a:xfrm>
            <a:prstGeom prst="ellipse">
              <a:avLst/>
            </a:prstGeom>
            <a:solidFill>
              <a:srgbClr val="C41D00"/>
            </a:solidFill>
            <a:ln>
              <a:noFill/>
            </a:ln>
          </p:spPr>
        </p:sp>
        <p:sp>
          <p:nvSpPr>
            <p:cNvPr id="295" name="TextBox 295"/>
            <p:cNvSpPr txBox="1"/>
            <p:nvPr/>
          </p:nvSpPr>
          <p:spPr>
            <a:xfrm>
              <a:off x="7159604" y="568904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a:t>
              </a:r>
            </a:p>
          </p:txBody>
        </p:sp>
        <p:sp>
          <p:nvSpPr>
            <p:cNvPr id="296" name="TextBox 296"/>
            <p:cNvSpPr txBox="1"/>
            <p:nvPr/>
          </p:nvSpPr>
          <p:spPr>
            <a:xfrm>
              <a:off x="7348538" y="5628561"/>
              <a:ext cx="546036"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D3835"/>
                  </a:solidFill>
                  <a:latin typeface="+mn-lt"/>
                  <a:ea typeface="+mn-ea"/>
                  <a:cs typeface="+mn-cs"/>
                </a:rPr>
                <a:t>首次激活</a:t>
              </a:r>
              <a:br/>
              <a:r>
                <a:rPr lang="zh-CN" sz="710" dirty="0">
                  <a:solidFill>
                    <a:srgbClr val="3D3835"/>
                  </a:solidFill>
                  <a:latin typeface="+mn-lt"/>
                  <a:ea typeface="+mn-ea"/>
                  <a:cs typeface="+mn-cs"/>
                </a:rPr>
                <a:t>→ 流失挽回​​</a:t>
              </a:r>
            </a:p>
          </p:txBody>
        </p:sp>
        <p:sp>
          <p:nvSpPr>
            <p:cNvPr id="297" name="TextBox 297"/>
            <p:cNvSpPr txBox="1"/>
            <p:nvPr/>
          </p:nvSpPr>
          <p:spPr>
            <a:xfrm>
              <a:off x="8641124" y="5702141"/>
              <a:ext cx="415202"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​2.8%​</a:t>
              </a:r>
            </a:p>
          </p:txBody>
        </p:sp>
        <p:sp>
          <p:nvSpPr>
            <p:cNvPr id="298" name="TextBox 298"/>
            <p:cNvSpPr txBox="1"/>
            <p:nvPr/>
          </p:nvSpPr>
          <p:spPr>
            <a:xfrm>
              <a:off x="9343009" y="5628561"/>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​激活后无引导​</a:t>
              </a:r>
              <a:br/>
              <a:r>
                <a:rPr lang="zh-CN" sz="710" dirty="0">
                  <a:solidFill>
                    <a:srgbClr val="3D3835"/>
                  </a:solidFill>
                  <a:latin typeface="+mn-lt"/>
                  <a:ea typeface="+mn-ea"/>
                  <a:cs typeface="+mn-cs"/>
                </a:rPr>
                <a:t>体验不佳</a:t>
              </a:r>
            </a:p>
          </p:txBody>
        </p:sp>
        <p:sp>
          <p:nvSpPr>
            <p:cNvPr id="299" name="TextBox 299"/>
            <p:cNvSpPr txBox="1"/>
            <p:nvPr/>
          </p:nvSpPr>
          <p:spPr>
            <a:xfrm>
              <a:off x="10338689" y="5628561"/>
              <a:ext cx="83007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​新手引导流程优化​</a:t>
              </a:r>
              <a:br/>
              <a:r>
                <a:rPr lang="zh-CN" sz="710" dirty="0">
                  <a:solidFill>
                    <a:srgbClr val="3D3835"/>
                  </a:solidFill>
                  <a:latin typeface="+mn-lt"/>
                  <a:ea typeface="+mn-ea"/>
                  <a:cs typeface="+mn-cs"/>
                </a:rPr>
                <a:t>​首日权益触达​</a:t>
              </a:r>
            </a:p>
          </p:txBody>
        </p:sp>
        <p:sp>
          <p:nvSpPr>
            <p:cNvPr id="300" name="TextBox 300"/>
            <p:cNvSpPr txBox="1"/>
            <p:nvPr/>
          </p:nvSpPr>
          <p:spPr>
            <a:xfrm>
              <a:off x="11228968" y="5695236"/>
              <a:ext cx="592564" cy="140494"/>
            </a:xfrm>
            <a:prstGeom prst="rect">
              <a:avLst/>
            </a:prstGeom>
            <a:noFill/>
            <a:ln>
              <a:noFill/>
            </a:ln>
          </p:spPr>
          <p:txBody>
            <a:bodyPr wrap="none" lIns="0" tIns="0" rIns="0" bIns="0" anchor="t" anchorCtr="0">
              <a:spAutoFit/>
            </a:bodyPr>
            <a:lstStyle/>
            <a:p>
              <a:pPr algn="ctr"/>
              <a:r>
                <a:rPr lang="zh-CN" sz="710" dirty="0">
                  <a:solidFill>
                    <a:srgbClr val="EE492C"/>
                  </a:solidFill>
                  <a:latin typeface="+mn-lt"/>
                  <a:ea typeface="+mn-ea"/>
                  <a:cs typeface="+mn-cs"/>
                </a:rPr>
                <a:t>​★★☆☆☆​</a:t>
              </a:r>
            </a:p>
          </p:txBody>
        </p:sp>
        <p:sp>
          <p:nvSpPr>
            <p:cNvPr id="301" name="Ellipse 301"/>
            <p:cNvSpPr/>
            <p:nvPr/>
          </p:nvSpPr>
          <p:spPr>
            <a:xfrm>
              <a:off x="7172325" y="6096000"/>
              <a:ext cx="133350" cy="133350"/>
            </a:xfrm>
            <a:prstGeom prst="ellipse">
              <a:avLst/>
            </a:prstGeom>
            <a:solidFill>
              <a:srgbClr val="C41D00"/>
            </a:solidFill>
            <a:ln>
              <a:noFill/>
            </a:ln>
          </p:spPr>
        </p:sp>
        <p:sp>
          <p:nvSpPr>
            <p:cNvPr id="302" name="TextBox 302"/>
            <p:cNvSpPr txBox="1"/>
            <p:nvPr/>
          </p:nvSpPr>
          <p:spPr>
            <a:xfrm>
              <a:off x="7159604" y="6127194"/>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a:t>
              </a:r>
            </a:p>
          </p:txBody>
        </p:sp>
        <p:sp>
          <p:nvSpPr>
            <p:cNvPr id="303" name="TextBox 303"/>
            <p:cNvSpPr txBox="1"/>
            <p:nvPr/>
          </p:nvSpPr>
          <p:spPr>
            <a:xfrm>
              <a:off x="7348538" y="6066711"/>
              <a:ext cx="546036"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D3835"/>
                  </a:solidFill>
                  <a:latin typeface="+mn-lt"/>
                  <a:ea typeface="+mn-ea"/>
                  <a:cs typeface="+mn-cs"/>
                </a:rPr>
                <a:t>新客导入</a:t>
              </a:r>
              <a:br/>
              <a:r>
                <a:rPr lang="zh-CN" sz="710" dirty="0">
                  <a:solidFill>
                    <a:srgbClr val="3D3835"/>
                  </a:solidFill>
                  <a:latin typeface="+mn-lt"/>
                  <a:ea typeface="+mn-ea"/>
                  <a:cs typeface="+mn-cs"/>
                </a:rPr>
                <a:t>→ 流失挽回​​</a:t>
              </a:r>
            </a:p>
          </p:txBody>
        </p:sp>
        <p:sp>
          <p:nvSpPr>
            <p:cNvPr id="304" name="TextBox 304"/>
            <p:cNvSpPr txBox="1"/>
            <p:nvPr/>
          </p:nvSpPr>
          <p:spPr>
            <a:xfrm>
              <a:off x="8641124" y="6140291"/>
              <a:ext cx="415202"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​0.9%​</a:t>
              </a:r>
            </a:p>
          </p:txBody>
        </p:sp>
        <p:sp>
          <p:nvSpPr>
            <p:cNvPr id="305" name="TextBox 305"/>
            <p:cNvSpPr txBox="1"/>
            <p:nvPr/>
          </p:nvSpPr>
          <p:spPr>
            <a:xfrm>
              <a:off x="9437688" y="6066711"/>
              <a:ext cx="46037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开户机制</a:t>
              </a:r>
              <a:br/>
              <a:r>
                <a:rPr lang="zh-CN" sz="710" dirty="0">
                  <a:solidFill>
                    <a:srgbClr val="3D3835"/>
                  </a:solidFill>
                  <a:latin typeface="+mn-lt"/>
                  <a:ea typeface="+mn-ea"/>
                  <a:cs typeface="+mn-cs"/>
                </a:rPr>
                <a:t>信息不匹配</a:t>
              </a:r>
            </a:p>
          </p:txBody>
        </p:sp>
        <p:sp>
          <p:nvSpPr>
            <p:cNvPr id="306" name="TextBox 306"/>
            <p:cNvSpPr txBox="1"/>
            <p:nvPr/>
          </p:nvSpPr>
          <p:spPr>
            <a:xfrm>
              <a:off x="10383774" y="6066711"/>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静默获取</a:t>
              </a:r>
              <a:br/>
              <a:r>
                <a:rPr lang="zh-CN" sz="710" dirty="0">
                  <a:solidFill>
                    <a:srgbClr val="3D3835"/>
                  </a:solidFill>
                  <a:latin typeface="+mn-lt"/>
                  <a:ea typeface="+mn-ea"/>
                  <a:cs typeface="+mn-cs"/>
                </a:rPr>
                <a:t>​开户前预期管理​</a:t>
              </a:r>
            </a:p>
          </p:txBody>
        </p:sp>
        <p:sp>
          <p:nvSpPr>
            <p:cNvPr id="307" name="TextBox 307"/>
            <p:cNvSpPr txBox="1"/>
            <p:nvPr/>
          </p:nvSpPr>
          <p:spPr>
            <a:xfrm>
              <a:off x="11228968" y="6133386"/>
              <a:ext cx="592564" cy="140494"/>
            </a:xfrm>
            <a:prstGeom prst="rect">
              <a:avLst/>
            </a:prstGeom>
            <a:noFill/>
            <a:ln>
              <a:noFill/>
            </a:ln>
          </p:spPr>
          <p:txBody>
            <a:bodyPr wrap="none" lIns="0" tIns="0" rIns="0" bIns="0" anchor="t" anchorCtr="0">
              <a:spAutoFit/>
            </a:bodyPr>
            <a:lstStyle/>
            <a:p>
              <a:pPr algn="ctr"/>
              <a:r>
                <a:rPr lang="zh-CN" sz="710" dirty="0">
                  <a:solidFill>
                    <a:srgbClr val="EE492C"/>
                  </a:solidFill>
                  <a:latin typeface="+mn-lt"/>
                  <a:ea typeface="+mn-ea"/>
                  <a:cs typeface="+mn-cs"/>
                </a:rPr>
                <a:t>​★☆☆☆☆​</a:t>
              </a:r>
            </a:p>
          </p:txBody>
        </p:sp>
        <p:sp>
          <p:nvSpPr>
            <p:cNvPr id="308" name="Line 308"/>
            <p:cNvSpPr/>
            <p:nvPr/>
          </p:nvSpPr>
          <p:spPr>
            <a:xfrm>
              <a:off x="8572500" y="4248150"/>
              <a:ext cx="9525" cy="2190750"/>
            </a:xfrm>
            <a:custGeom>
              <a:avLst/>
              <a:gdLst/>
              <a:ahLst/>
              <a:cxnLst/>
              <a:rect l="l" t="t" r="r" b="b"/>
              <a:pathLst>
                <a:path w="9525" h="2190750">
                  <a:moveTo>
                    <a:pt x="0" y="0"/>
                  </a:moveTo>
                  <a:lnTo>
                    <a:pt x="0" y="2190750"/>
                  </a:lnTo>
                </a:path>
              </a:pathLst>
            </a:custGeom>
            <a:noFill/>
            <a:ln w="9525">
              <a:solidFill>
                <a:srgbClr val="EADBCE"/>
              </a:solidFill>
            </a:ln>
          </p:spPr>
        </p:sp>
        <p:sp>
          <p:nvSpPr>
            <p:cNvPr id="309" name="Line 309"/>
            <p:cNvSpPr/>
            <p:nvPr/>
          </p:nvSpPr>
          <p:spPr>
            <a:xfrm>
              <a:off x="9124950" y="4248150"/>
              <a:ext cx="9525" cy="2190750"/>
            </a:xfrm>
            <a:custGeom>
              <a:avLst/>
              <a:gdLst/>
              <a:ahLst/>
              <a:cxnLst/>
              <a:rect l="l" t="t" r="r" b="b"/>
              <a:pathLst>
                <a:path w="9525" h="2190750">
                  <a:moveTo>
                    <a:pt x="0" y="0"/>
                  </a:moveTo>
                  <a:lnTo>
                    <a:pt x="0" y="2190750"/>
                  </a:lnTo>
                </a:path>
              </a:pathLst>
            </a:custGeom>
            <a:noFill/>
            <a:ln w="9525">
              <a:solidFill>
                <a:srgbClr val="EADBCE"/>
              </a:solidFill>
            </a:ln>
          </p:spPr>
        </p:sp>
        <p:sp>
          <p:nvSpPr>
            <p:cNvPr id="310" name="Line 310"/>
            <p:cNvSpPr/>
            <p:nvPr/>
          </p:nvSpPr>
          <p:spPr>
            <a:xfrm>
              <a:off x="10210800" y="4248150"/>
              <a:ext cx="9525" cy="2190750"/>
            </a:xfrm>
            <a:custGeom>
              <a:avLst/>
              <a:gdLst/>
              <a:ahLst/>
              <a:cxnLst/>
              <a:rect l="l" t="t" r="r" b="b"/>
              <a:pathLst>
                <a:path w="9525" h="2190750">
                  <a:moveTo>
                    <a:pt x="0" y="0"/>
                  </a:moveTo>
                  <a:lnTo>
                    <a:pt x="0" y="2190750"/>
                  </a:lnTo>
                </a:path>
              </a:pathLst>
            </a:custGeom>
            <a:noFill/>
            <a:ln w="9525">
              <a:solidFill>
                <a:srgbClr val="EADBCE"/>
              </a:solidFill>
            </a:ln>
          </p:spPr>
        </p:sp>
        <p:sp>
          <p:nvSpPr>
            <p:cNvPr id="311" name="Line 311"/>
            <p:cNvSpPr/>
            <p:nvPr/>
          </p:nvSpPr>
          <p:spPr>
            <a:xfrm>
              <a:off x="11296650" y="4248150"/>
              <a:ext cx="9525" cy="2190750"/>
            </a:xfrm>
            <a:custGeom>
              <a:avLst/>
              <a:gdLst/>
              <a:ahLst/>
              <a:cxnLst/>
              <a:rect l="l" t="t" r="r" b="b"/>
              <a:pathLst>
                <a:path w="9525" h="2190750">
                  <a:moveTo>
                    <a:pt x="0" y="0"/>
                  </a:moveTo>
                  <a:lnTo>
                    <a:pt x="0" y="2190750"/>
                  </a:lnTo>
                </a:path>
              </a:pathLst>
            </a:custGeom>
            <a:noFill/>
            <a:ln w="9525">
              <a:solidFill>
                <a:srgbClr val="EADBCE"/>
              </a:solidFill>
            </a:ln>
          </p:spPr>
        </p:sp>
        <p:sp>
          <p:nvSpPr>
            <p:cNvPr id="312" name="Line 312"/>
            <p:cNvSpPr/>
            <p:nvPr/>
          </p:nvSpPr>
          <p:spPr>
            <a:xfrm>
              <a:off x="7086600" y="4686300"/>
              <a:ext cx="4724400" cy="9525"/>
            </a:xfrm>
            <a:custGeom>
              <a:avLst/>
              <a:gdLst/>
              <a:ahLst/>
              <a:cxnLst/>
              <a:rect l="l" t="t" r="r" b="b"/>
              <a:pathLst>
                <a:path w="4724400" h="9525">
                  <a:moveTo>
                    <a:pt x="0" y="0"/>
                  </a:moveTo>
                  <a:lnTo>
                    <a:pt x="4724400" y="0"/>
                  </a:lnTo>
                </a:path>
              </a:pathLst>
            </a:custGeom>
            <a:noFill/>
            <a:ln w="9525">
              <a:solidFill>
                <a:srgbClr val="EADBCE"/>
              </a:solidFill>
            </a:ln>
          </p:spPr>
        </p:sp>
        <p:sp>
          <p:nvSpPr>
            <p:cNvPr id="313" name="Line 313"/>
            <p:cNvSpPr/>
            <p:nvPr/>
          </p:nvSpPr>
          <p:spPr>
            <a:xfrm>
              <a:off x="7086600" y="5124450"/>
              <a:ext cx="4724400" cy="9525"/>
            </a:xfrm>
            <a:custGeom>
              <a:avLst/>
              <a:gdLst/>
              <a:ahLst/>
              <a:cxnLst/>
              <a:rect l="l" t="t" r="r" b="b"/>
              <a:pathLst>
                <a:path w="4724400" h="9525">
                  <a:moveTo>
                    <a:pt x="0" y="0"/>
                  </a:moveTo>
                  <a:lnTo>
                    <a:pt x="4724400" y="0"/>
                  </a:lnTo>
                </a:path>
              </a:pathLst>
            </a:custGeom>
            <a:noFill/>
            <a:ln w="9525">
              <a:solidFill>
                <a:srgbClr val="EADBCE"/>
              </a:solidFill>
            </a:ln>
          </p:spPr>
        </p:sp>
        <p:sp>
          <p:nvSpPr>
            <p:cNvPr id="314" name="Line 314"/>
            <p:cNvSpPr/>
            <p:nvPr/>
          </p:nvSpPr>
          <p:spPr>
            <a:xfrm>
              <a:off x="7086600" y="5562600"/>
              <a:ext cx="4724400" cy="9525"/>
            </a:xfrm>
            <a:custGeom>
              <a:avLst/>
              <a:gdLst/>
              <a:ahLst/>
              <a:cxnLst/>
              <a:rect l="l" t="t" r="r" b="b"/>
              <a:pathLst>
                <a:path w="4724400" h="9525">
                  <a:moveTo>
                    <a:pt x="0" y="0"/>
                  </a:moveTo>
                  <a:lnTo>
                    <a:pt x="4724400" y="0"/>
                  </a:lnTo>
                </a:path>
              </a:pathLst>
            </a:custGeom>
            <a:noFill/>
            <a:ln w="9525">
              <a:solidFill>
                <a:srgbClr val="EADBCE"/>
              </a:solidFill>
            </a:ln>
          </p:spPr>
        </p:sp>
        <p:sp>
          <p:nvSpPr>
            <p:cNvPr id="315" name="Line 315"/>
            <p:cNvSpPr/>
            <p:nvPr/>
          </p:nvSpPr>
          <p:spPr>
            <a:xfrm>
              <a:off x="7086600" y="6000750"/>
              <a:ext cx="4724400" cy="9525"/>
            </a:xfrm>
            <a:custGeom>
              <a:avLst/>
              <a:gdLst/>
              <a:ahLst/>
              <a:cxnLst/>
              <a:rect l="l" t="t" r="r" b="b"/>
              <a:pathLst>
                <a:path w="4724400" h="9525">
                  <a:moveTo>
                    <a:pt x="0" y="0"/>
                  </a:moveTo>
                  <a:lnTo>
                    <a:pt x="4724400" y="0"/>
                  </a:lnTo>
                </a:path>
              </a:pathLst>
            </a:custGeom>
            <a:noFill/>
            <a:ln w="9525">
              <a:solidFill>
                <a:srgbClr val="EADBCE"/>
              </a:solidFill>
            </a:ln>
          </p:spPr>
        </p:sp>
      </p:gr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07</a:t>
              </a:r>
            </a:p>
          </p:txBody>
        </p:sp>
        <p:sp>
          <p:nvSpPr>
            <p:cNvPr id="4" name="TextBox 4"/>
            <p:cNvSpPr txBox="1"/>
            <p:nvPr/>
          </p:nvSpPr>
          <p:spPr>
            <a:xfrm>
              <a:off x="904494" y="170498"/>
              <a:ext cx="6209118"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旅程体系</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用八条关键旅程承接客户需求与经营目标​</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57" name="journey-map"/>
          <p:cNvGrpSpPr/>
          <p:nvPr/>
        </p:nvGrpSpPr>
        <p:grpSpPr>
          <a:xfrm>
            <a:off x="342900" y="685800"/>
            <a:ext cx="3390900" cy="5816680"/>
            <a:chOff x="342900" y="685800"/>
            <a:chExt cx="3390900" cy="5816680"/>
          </a:xfrm>
        </p:grpSpPr>
        <p:sp>
          <p:nvSpPr>
            <p:cNvPr id="7" name="Rectangle 7"/>
            <p:cNvSpPr/>
            <p:nvPr/>
          </p:nvSpPr>
          <p:spPr>
            <a:xfrm>
              <a:off x="342900" y="685800"/>
              <a:ext cx="3390900" cy="247650"/>
            </a:xfrm>
            <a:prstGeom prst="roundRect">
              <a:avLst>
                <a:gd name="adj" fmla="val 11538"/>
              </a:avLst>
            </a:prstGeom>
            <a:solidFill>
              <a:srgbClr val="C41D00"/>
            </a:solidFill>
            <a:ln>
              <a:noFill/>
            </a:ln>
          </p:spPr>
        </p:sp>
        <p:sp>
          <p:nvSpPr>
            <p:cNvPr id="8" name="TextBox 8"/>
            <p:cNvSpPr txBox="1"/>
            <p:nvPr/>
          </p:nvSpPr>
          <p:spPr>
            <a:xfrm>
              <a:off x="1164713" y="756047"/>
              <a:ext cx="174727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​旅程组合地图（价值×频次）​</a:t>
              </a:r>
            </a:p>
          </p:txBody>
        </p:sp>
        <p:sp>
          <p:nvSpPr>
            <p:cNvPr id="9" name="TextBox 9"/>
            <p:cNvSpPr txBox="1"/>
            <p:nvPr/>
          </p:nvSpPr>
          <p:spPr>
            <a:xfrm>
              <a:off x="793199" y="1012984"/>
              <a:ext cx="2490302" cy="133350"/>
            </a:xfrm>
            <a:prstGeom prst="rect">
              <a:avLst/>
            </a:prstGeom>
            <a:noFill/>
            <a:ln>
              <a:noFill/>
            </a:ln>
          </p:spPr>
          <p:txBody>
            <a:bodyPr wrap="none" lIns="0" tIns="0" rIns="0" bIns="0" anchor="t" anchorCtr="0">
              <a:spAutoFit/>
            </a:bodyPr>
            <a:lstStyle/>
            <a:p>
              <a:pPr algn="ctr"/>
              <a:r>
                <a:rPr lang="zh-CN" sz="680" dirty="0">
                  <a:solidFill>
                    <a:srgbClr val="7A716B"/>
                  </a:solidFill>
                  <a:latin typeface="+mn-lt"/>
                  <a:ea typeface="+mn-ea"/>
                  <a:cs typeface="+mn-cs"/>
                </a:rPr>
                <a:t>​价值：对客户与银行的综合价值贡献　频次：客户发生频率​</a:t>
              </a:r>
            </a:p>
          </p:txBody>
        </p:sp>
        <p:sp>
          <p:nvSpPr>
            <p:cNvPr id="10" name="Line 10"/>
            <p:cNvSpPr/>
            <p:nvPr/>
          </p:nvSpPr>
          <p:spPr>
            <a:xfrm>
              <a:off x="609600" y="1276350"/>
              <a:ext cx="9525" cy="5010150"/>
            </a:xfrm>
            <a:custGeom>
              <a:avLst/>
              <a:gdLst/>
              <a:ahLst/>
              <a:cxnLst/>
              <a:rect l="l" t="t" r="r" b="b"/>
              <a:pathLst>
                <a:path w="9525" h="5010150">
                  <a:moveTo>
                    <a:pt x="0" y="5010150"/>
                  </a:moveTo>
                  <a:lnTo>
                    <a:pt x="0" y="0"/>
                  </a:lnTo>
                </a:path>
              </a:pathLst>
            </a:custGeom>
            <a:noFill/>
            <a:ln w="11430">
              <a:solidFill>
                <a:srgbClr val="7A716B"/>
              </a:solidFill>
            </a:ln>
          </p:spPr>
        </p:sp>
        <p:sp>
          <p:nvSpPr>
            <p:cNvPr id="11" name="Polygon 11"/>
            <p:cNvSpPr/>
            <p:nvPr/>
          </p:nvSpPr>
          <p:spPr>
            <a:xfrm>
              <a:off x="571500" y="1219200"/>
              <a:ext cx="76200" cy="95250"/>
            </a:xfrm>
            <a:custGeom>
              <a:avLst/>
              <a:gdLst/>
              <a:ahLst/>
              <a:cxnLst/>
              <a:rect l="l" t="t" r="r" b="b"/>
              <a:pathLst>
                <a:path w="76200" h="95250">
                  <a:moveTo>
                    <a:pt x="0" y="95250"/>
                  </a:moveTo>
                  <a:lnTo>
                    <a:pt x="38100" y="0"/>
                  </a:lnTo>
                  <a:lnTo>
                    <a:pt x="76200" y="95250"/>
                  </a:lnTo>
                  <a:close/>
                </a:path>
              </a:pathLst>
            </a:custGeom>
            <a:solidFill>
              <a:srgbClr val="7A716B"/>
            </a:solidFill>
            <a:ln>
              <a:noFill/>
            </a:ln>
          </p:spPr>
        </p:sp>
        <p:sp>
          <p:nvSpPr>
            <p:cNvPr id="12" name="Line 12"/>
            <p:cNvSpPr/>
            <p:nvPr/>
          </p:nvSpPr>
          <p:spPr>
            <a:xfrm>
              <a:off x="609600" y="6286500"/>
              <a:ext cx="2990850" cy="9525"/>
            </a:xfrm>
            <a:custGeom>
              <a:avLst/>
              <a:gdLst/>
              <a:ahLst/>
              <a:cxnLst/>
              <a:rect l="l" t="t" r="r" b="b"/>
              <a:pathLst>
                <a:path w="2990850" h="9525">
                  <a:moveTo>
                    <a:pt x="0" y="0"/>
                  </a:moveTo>
                  <a:lnTo>
                    <a:pt x="2990850" y="0"/>
                  </a:lnTo>
                </a:path>
              </a:pathLst>
            </a:custGeom>
            <a:noFill/>
            <a:ln w="11430">
              <a:solidFill>
                <a:srgbClr val="7A716B"/>
              </a:solidFill>
            </a:ln>
          </p:spPr>
        </p:sp>
        <p:sp>
          <p:nvSpPr>
            <p:cNvPr id="13" name="Polygon 13"/>
            <p:cNvSpPr/>
            <p:nvPr/>
          </p:nvSpPr>
          <p:spPr>
            <a:xfrm>
              <a:off x="3562350" y="6248400"/>
              <a:ext cx="95250" cy="76200"/>
            </a:xfrm>
            <a:custGeom>
              <a:avLst/>
              <a:gdLst/>
              <a:ahLst/>
              <a:cxnLst/>
              <a:rect l="l" t="t" r="r" b="b"/>
              <a:pathLst>
                <a:path w="95250" h="76200">
                  <a:moveTo>
                    <a:pt x="0" y="0"/>
                  </a:moveTo>
                  <a:lnTo>
                    <a:pt x="95250" y="38100"/>
                  </a:lnTo>
                  <a:lnTo>
                    <a:pt x="0" y="76200"/>
                  </a:lnTo>
                  <a:close/>
                </a:path>
              </a:pathLst>
            </a:custGeom>
            <a:solidFill>
              <a:srgbClr val="7A716B"/>
            </a:solidFill>
            <a:ln>
              <a:noFill/>
            </a:ln>
          </p:spPr>
        </p:sp>
        <p:sp>
          <p:nvSpPr>
            <p:cNvPr id="14" name="TextBox 14"/>
            <p:cNvSpPr txBox="1"/>
            <p:nvPr/>
          </p:nvSpPr>
          <p:spPr>
            <a:xfrm>
              <a:off x="461467" y="1104186"/>
              <a:ext cx="296266"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价值高</a:t>
              </a:r>
            </a:p>
          </p:txBody>
        </p:sp>
        <p:sp>
          <p:nvSpPr>
            <p:cNvPr id="15" name="TextBox 15"/>
            <p:cNvSpPr txBox="1"/>
            <p:nvPr/>
          </p:nvSpPr>
          <p:spPr>
            <a:xfrm>
              <a:off x="3327997" y="6361986"/>
              <a:ext cx="296266" cy="140494"/>
            </a:xfrm>
            <a:prstGeom prst="rect">
              <a:avLst/>
            </a:prstGeom>
            <a:noFill/>
            <a:ln>
              <a:noFill/>
            </a:ln>
          </p:spPr>
          <p:txBody>
            <a:bodyPr wrap="none" lIns="0" tIns="0" rIns="0" bIns="0" anchor="t" anchorCtr="0">
              <a:spAutoFit/>
            </a:bodyPr>
            <a:lstStyle/>
            <a:p>
              <a:pPr algn="r"/>
              <a:r>
                <a:rPr lang="zh-CN" sz="710" b="1" dirty="0">
                  <a:solidFill>
                    <a:srgbClr val="3D3835"/>
                  </a:solidFill>
                  <a:latin typeface="+mn-lt"/>
                  <a:ea typeface="+mn-ea"/>
                  <a:cs typeface="+mn-cs"/>
                </a:rPr>
                <a:t>频次高</a:t>
              </a:r>
            </a:p>
          </p:txBody>
        </p:sp>
        <p:sp>
          <p:nvSpPr>
            <p:cNvPr id="16" name="TextBox 16"/>
            <p:cNvSpPr txBox="1"/>
            <p:nvPr/>
          </p:nvSpPr>
          <p:spPr>
            <a:xfrm>
              <a:off x="604507" y="1370886"/>
              <a:ext cx="105105"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高</a:t>
              </a:r>
            </a:p>
          </p:txBody>
        </p:sp>
        <p:sp>
          <p:nvSpPr>
            <p:cNvPr id="17" name="TextBox 17"/>
            <p:cNvSpPr txBox="1"/>
            <p:nvPr/>
          </p:nvSpPr>
          <p:spPr>
            <a:xfrm>
              <a:off x="604507" y="2894886"/>
              <a:ext cx="105105"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中</a:t>
              </a:r>
            </a:p>
          </p:txBody>
        </p:sp>
        <p:sp>
          <p:nvSpPr>
            <p:cNvPr id="18" name="TextBox 18"/>
            <p:cNvSpPr txBox="1"/>
            <p:nvPr/>
          </p:nvSpPr>
          <p:spPr>
            <a:xfrm>
              <a:off x="604507" y="6076236"/>
              <a:ext cx="105105" cy="140494"/>
            </a:xfrm>
            <a:prstGeom prst="rect">
              <a:avLst/>
            </a:prstGeom>
            <a:noFill/>
            <a:ln>
              <a:noFill/>
            </a:ln>
          </p:spPr>
          <p:txBody>
            <a:bodyPr wrap="none" lIns="0" tIns="0" rIns="0" bIns="0" anchor="t" anchorCtr="0">
              <a:spAutoFit/>
            </a:bodyPr>
            <a:lstStyle/>
            <a:p>
              <a:pPr algn="r"/>
              <a:r>
                <a:rPr lang="zh-CN" sz="710" dirty="0">
                  <a:solidFill>
                    <a:srgbClr val="7A716B"/>
                  </a:solidFill>
                  <a:latin typeface="+mn-lt"/>
                  <a:ea typeface="+mn-ea"/>
                  <a:cs typeface="+mn-cs"/>
                </a:rPr>
                <a:t>低</a:t>
              </a:r>
            </a:p>
          </p:txBody>
        </p:sp>
        <p:sp>
          <p:nvSpPr>
            <p:cNvPr id="19" name="TextBox 19"/>
            <p:cNvSpPr txBox="1"/>
            <p:nvPr/>
          </p:nvSpPr>
          <p:spPr>
            <a:xfrm>
              <a:off x="1414297" y="6361986"/>
              <a:ext cx="105105" cy="140494"/>
            </a:xfrm>
            <a:prstGeom prst="rect">
              <a:avLst/>
            </a:prstGeom>
            <a:noFill/>
            <a:ln>
              <a:noFill/>
            </a:ln>
          </p:spPr>
          <p:txBody>
            <a:bodyPr wrap="none" lIns="0" tIns="0" rIns="0" bIns="0" anchor="t" anchorCtr="0">
              <a:spAutoFit/>
            </a:bodyPr>
            <a:lstStyle/>
            <a:p>
              <a:pPr algn="ctr"/>
              <a:r>
                <a:rPr lang="zh-CN" sz="710" dirty="0">
                  <a:solidFill>
                    <a:srgbClr val="7A716B"/>
                  </a:solidFill>
                  <a:latin typeface="+mn-lt"/>
                  <a:ea typeface="+mn-ea"/>
                  <a:cs typeface="+mn-cs"/>
                </a:rPr>
                <a:t>低</a:t>
              </a:r>
            </a:p>
          </p:txBody>
        </p:sp>
        <p:sp>
          <p:nvSpPr>
            <p:cNvPr id="20" name="TextBox 20"/>
            <p:cNvSpPr txBox="1"/>
            <p:nvPr/>
          </p:nvSpPr>
          <p:spPr>
            <a:xfrm>
              <a:off x="2119147" y="6361986"/>
              <a:ext cx="105105" cy="140494"/>
            </a:xfrm>
            <a:prstGeom prst="rect">
              <a:avLst/>
            </a:prstGeom>
            <a:noFill/>
            <a:ln>
              <a:noFill/>
            </a:ln>
          </p:spPr>
          <p:txBody>
            <a:bodyPr wrap="none" lIns="0" tIns="0" rIns="0" bIns="0" anchor="t" anchorCtr="0">
              <a:spAutoFit/>
            </a:bodyPr>
            <a:lstStyle/>
            <a:p>
              <a:pPr algn="ctr"/>
              <a:r>
                <a:rPr lang="zh-CN" sz="710" dirty="0">
                  <a:solidFill>
                    <a:srgbClr val="7A716B"/>
                  </a:solidFill>
                  <a:latin typeface="+mn-lt"/>
                  <a:ea typeface="+mn-ea"/>
                  <a:cs typeface="+mn-cs"/>
                </a:rPr>
                <a:t>中</a:t>
              </a:r>
            </a:p>
          </p:txBody>
        </p:sp>
        <p:sp>
          <p:nvSpPr>
            <p:cNvPr id="21" name="TextBox 21"/>
            <p:cNvSpPr txBox="1"/>
            <p:nvPr/>
          </p:nvSpPr>
          <p:spPr>
            <a:xfrm>
              <a:off x="2823997" y="6361986"/>
              <a:ext cx="105105" cy="140494"/>
            </a:xfrm>
            <a:prstGeom prst="rect">
              <a:avLst/>
            </a:prstGeom>
            <a:noFill/>
            <a:ln>
              <a:noFill/>
            </a:ln>
          </p:spPr>
          <p:txBody>
            <a:bodyPr wrap="none" lIns="0" tIns="0" rIns="0" bIns="0" anchor="t" anchorCtr="0">
              <a:spAutoFit/>
            </a:bodyPr>
            <a:lstStyle/>
            <a:p>
              <a:pPr algn="ctr"/>
              <a:r>
                <a:rPr lang="zh-CN" sz="710" dirty="0">
                  <a:solidFill>
                    <a:srgbClr val="7A716B"/>
                  </a:solidFill>
                  <a:latin typeface="+mn-lt"/>
                  <a:ea typeface="+mn-ea"/>
                  <a:cs typeface="+mn-cs"/>
                </a:rPr>
                <a:t>高</a:t>
              </a:r>
            </a:p>
          </p:txBody>
        </p:sp>
        <p:sp>
          <p:nvSpPr>
            <p:cNvPr id="22" name="Rectangle 22"/>
            <p:cNvSpPr/>
            <p:nvPr/>
          </p:nvSpPr>
          <p:spPr>
            <a:xfrm>
              <a:off x="762000" y="1295400"/>
              <a:ext cx="2819400" cy="4876800"/>
            </a:xfrm>
            <a:prstGeom prst="rect">
              <a:avLst/>
            </a:prstGeom>
            <a:solidFill>
              <a:srgbClr val="FFF8F2"/>
            </a:solidFill>
            <a:ln w="9525">
              <a:solidFill>
                <a:srgbClr val="F0B8AE"/>
              </a:solidFill>
            </a:ln>
          </p:spPr>
        </p:sp>
        <p:sp>
          <p:nvSpPr>
            <p:cNvPr id="23" name="Rectangle 23"/>
            <p:cNvSpPr/>
            <p:nvPr/>
          </p:nvSpPr>
          <p:spPr>
            <a:xfrm>
              <a:off x="2171700" y="1295400"/>
              <a:ext cx="1409700" cy="1619250"/>
            </a:xfrm>
            <a:prstGeom prst="rect">
              <a:avLst/>
            </a:prstGeom>
            <a:solidFill>
              <a:srgbClr val="FEF2E6"/>
            </a:solidFill>
            <a:ln>
              <a:noFill/>
            </a:ln>
          </p:spPr>
        </p:sp>
        <p:sp>
          <p:nvSpPr>
            <p:cNvPr id="24" name="Line 24"/>
            <p:cNvSpPr/>
            <p:nvPr/>
          </p:nvSpPr>
          <p:spPr>
            <a:xfrm>
              <a:off x="2171700" y="1295400"/>
              <a:ext cx="9525" cy="4876800"/>
            </a:xfrm>
            <a:custGeom>
              <a:avLst/>
              <a:gdLst/>
              <a:ahLst/>
              <a:cxnLst/>
              <a:rect l="l" t="t" r="r" b="b"/>
              <a:pathLst>
                <a:path w="9525" h="4876800">
                  <a:moveTo>
                    <a:pt x="0" y="0"/>
                  </a:moveTo>
                  <a:lnTo>
                    <a:pt x="0" y="4876800"/>
                  </a:lnTo>
                </a:path>
              </a:pathLst>
            </a:custGeom>
            <a:noFill/>
            <a:ln w="9525">
              <a:solidFill>
                <a:srgbClr val="F0B8AE"/>
              </a:solidFill>
              <a:custDash>
                <a:ds d="400000" sp="300000"/>
              </a:custDash>
            </a:ln>
          </p:spPr>
        </p:sp>
        <p:sp>
          <p:nvSpPr>
            <p:cNvPr id="25" name="Line 25"/>
            <p:cNvSpPr/>
            <p:nvPr/>
          </p:nvSpPr>
          <p:spPr>
            <a:xfrm>
              <a:off x="762000" y="2914650"/>
              <a:ext cx="2819400" cy="9525"/>
            </a:xfrm>
            <a:custGeom>
              <a:avLst/>
              <a:gdLst/>
              <a:ahLst/>
              <a:cxnLst/>
              <a:rect l="l" t="t" r="r" b="b"/>
              <a:pathLst>
                <a:path w="2819400" h="9525">
                  <a:moveTo>
                    <a:pt x="0" y="0"/>
                  </a:moveTo>
                  <a:lnTo>
                    <a:pt x="2819400" y="0"/>
                  </a:lnTo>
                </a:path>
              </a:pathLst>
            </a:custGeom>
            <a:noFill/>
            <a:ln w="9525">
              <a:solidFill>
                <a:srgbClr val="F0B8AE"/>
              </a:solidFill>
              <a:custDash>
                <a:ds d="400000" sp="300000"/>
              </a:custDash>
            </a:ln>
          </p:spPr>
        </p:sp>
        <p:sp>
          <p:nvSpPr>
            <p:cNvPr id="26" name="Line 26"/>
            <p:cNvSpPr/>
            <p:nvPr/>
          </p:nvSpPr>
          <p:spPr>
            <a:xfrm>
              <a:off x="762000" y="4543425"/>
              <a:ext cx="2819400" cy="9525"/>
            </a:xfrm>
            <a:custGeom>
              <a:avLst/>
              <a:gdLst/>
              <a:ahLst/>
              <a:cxnLst/>
              <a:rect l="l" t="t" r="r" b="b"/>
              <a:pathLst>
                <a:path w="2819400" h="9525">
                  <a:moveTo>
                    <a:pt x="0" y="0"/>
                  </a:moveTo>
                  <a:lnTo>
                    <a:pt x="2819400" y="0"/>
                  </a:lnTo>
                </a:path>
              </a:pathLst>
            </a:custGeom>
            <a:noFill/>
            <a:ln w="9525">
              <a:solidFill>
                <a:srgbClr val="F0B8AE"/>
              </a:solidFill>
              <a:custDash>
                <a:ds d="400000" sp="300000"/>
              </a:custDash>
            </a:ln>
          </p:spPr>
        </p:sp>
        <p:sp>
          <p:nvSpPr>
            <p:cNvPr id="27" name="TextBox 27"/>
            <p:cNvSpPr txBox="1"/>
            <p:nvPr/>
          </p:nvSpPr>
          <p:spPr>
            <a:xfrm>
              <a:off x="1093827" y="1443038"/>
              <a:ext cx="746046"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C41D00"/>
                  </a:solidFill>
                  <a:latin typeface="+mn-lt"/>
                  <a:ea typeface="+mn-ea"/>
                  <a:cs typeface="+mn-cs"/>
                </a:rPr>
                <a:t>​高价值/低频次​</a:t>
              </a:r>
              <a:br/>
              <a:r>
                <a:rPr lang="zh-CN" sz="750" b="1" dirty="0">
                  <a:solidFill>
                    <a:srgbClr val="C41D00"/>
                  </a:solidFill>
                  <a:latin typeface="+mn-lt"/>
                  <a:ea typeface="+mn-ea"/>
                  <a:cs typeface="+mn-cs"/>
                </a:rPr>
                <a:t>重点经营</a:t>
              </a:r>
            </a:p>
          </p:txBody>
        </p:sp>
        <p:sp>
          <p:nvSpPr>
            <p:cNvPr id="28" name="Ellipse 28"/>
            <p:cNvSpPr/>
            <p:nvPr/>
          </p:nvSpPr>
          <p:spPr>
            <a:xfrm>
              <a:off x="1095375" y="2085975"/>
              <a:ext cx="171450" cy="171450"/>
            </a:xfrm>
            <a:prstGeom prst="ellipse">
              <a:avLst/>
            </a:prstGeom>
            <a:solidFill>
              <a:srgbClr val="D82000"/>
            </a:solidFill>
            <a:ln>
              <a:noFill/>
            </a:ln>
          </p:spPr>
        </p:sp>
        <p:sp>
          <p:nvSpPr>
            <p:cNvPr id="29" name="TextBox 29"/>
            <p:cNvSpPr txBox="1"/>
            <p:nvPr/>
          </p:nvSpPr>
          <p:spPr>
            <a:xfrm>
              <a:off x="1088877" y="21288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a:t>
              </a:r>
            </a:p>
          </p:txBody>
        </p:sp>
        <p:sp>
          <p:nvSpPr>
            <p:cNvPr id="30" name="TextBox 30"/>
            <p:cNvSpPr txBox="1"/>
            <p:nvPr/>
          </p:nvSpPr>
          <p:spPr>
            <a:xfrm>
              <a:off x="1309688" y="2120741"/>
              <a:ext cx="340690"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房　贷</a:t>
              </a:r>
            </a:p>
          </p:txBody>
        </p:sp>
        <p:sp>
          <p:nvSpPr>
            <p:cNvPr id="31" name="TextBox 31"/>
            <p:cNvSpPr txBox="1"/>
            <p:nvPr/>
          </p:nvSpPr>
          <p:spPr>
            <a:xfrm>
              <a:off x="2503527" y="1443038"/>
              <a:ext cx="746046"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C41D00"/>
                  </a:solidFill>
                  <a:latin typeface="+mn-lt"/>
                  <a:ea typeface="+mn-ea"/>
                  <a:cs typeface="+mn-cs"/>
                </a:rPr>
                <a:t>​高价值/高频次​</a:t>
              </a:r>
              <a:br/>
              <a:r>
                <a:rPr lang="zh-CN" sz="750" b="1" dirty="0">
                  <a:solidFill>
                    <a:srgbClr val="C41D00"/>
                  </a:solidFill>
                  <a:latin typeface="+mn-lt"/>
                  <a:ea typeface="+mn-ea"/>
                  <a:cs typeface="+mn-cs"/>
                </a:rPr>
                <a:t>规模化运营</a:t>
              </a:r>
            </a:p>
          </p:txBody>
        </p:sp>
        <p:sp>
          <p:nvSpPr>
            <p:cNvPr id="32" name="Ellipse 32"/>
            <p:cNvSpPr/>
            <p:nvPr/>
          </p:nvSpPr>
          <p:spPr>
            <a:xfrm>
              <a:off x="2505075" y="1990725"/>
              <a:ext cx="171450" cy="171450"/>
            </a:xfrm>
            <a:prstGeom prst="ellipse">
              <a:avLst/>
            </a:prstGeom>
            <a:solidFill>
              <a:srgbClr val="D82000"/>
            </a:solidFill>
            <a:ln>
              <a:noFill/>
            </a:ln>
          </p:spPr>
        </p:sp>
        <p:sp>
          <p:nvSpPr>
            <p:cNvPr id="33" name="TextBox 33"/>
            <p:cNvSpPr txBox="1"/>
            <p:nvPr/>
          </p:nvSpPr>
          <p:spPr>
            <a:xfrm>
              <a:off x="2498577" y="20335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34" name="TextBox 34"/>
            <p:cNvSpPr txBox="1"/>
            <p:nvPr/>
          </p:nvSpPr>
          <p:spPr>
            <a:xfrm>
              <a:off x="2719388" y="2025491"/>
              <a:ext cx="451079"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工资代发</a:t>
              </a:r>
            </a:p>
          </p:txBody>
        </p:sp>
        <p:sp>
          <p:nvSpPr>
            <p:cNvPr id="35" name="Ellipse 35"/>
            <p:cNvSpPr/>
            <p:nvPr/>
          </p:nvSpPr>
          <p:spPr>
            <a:xfrm>
              <a:off x="2505075" y="2352675"/>
              <a:ext cx="171450" cy="171450"/>
            </a:xfrm>
            <a:prstGeom prst="ellipse">
              <a:avLst/>
            </a:prstGeom>
            <a:solidFill>
              <a:srgbClr val="D82000"/>
            </a:solidFill>
            <a:ln>
              <a:noFill/>
            </a:ln>
          </p:spPr>
        </p:sp>
        <p:sp>
          <p:nvSpPr>
            <p:cNvPr id="36" name="TextBox 36"/>
            <p:cNvSpPr txBox="1"/>
            <p:nvPr/>
          </p:nvSpPr>
          <p:spPr>
            <a:xfrm>
              <a:off x="2498577" y="23955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​7​</a:t>
              </a:r>
            </a:p>
          </p:txBody>
        </p:sp>
        <p:sp>
          <p:nvSpPr>
            <p:cNvPr id="37" name="TextBox 37"/>
            <p:cNvSpPr txBox="1"/>
            <p:nvPr/>
          </p:nvSpPr>
          <p:spPr>
            <a:xfrm>
              <a:off x="2719388" y="2387441"/>
              <a:ext cx="451079"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财富升级</a:t>
              </a:r>
            </a:p>
          </p:txBody>
        </p:sp>
        <p:sp>
          <p:nvSpPr>
            <p:cNvPr id="38" name="TextBox 38"/>
            <p:cNvSpPr txBox="1"/>
            <p:nvPr/>
          </p:nvSpPr>
          <p:spPr>
            <a:xfrm>
              <a:off x="1046202" y="3062288"/>
              <a:ext cx="841296"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C41D00"/>
                  </a:solidFill>
                  <a:latin typeface="+mn-lt"/>
                  <a:ea typeface="+mn-ea"/>
                  <a:cs typeface="+mn-cs"/>
                </a:rPr>
                <a:t>​中等价值/低频次​</a:t>
              </a:r>
              <a:br/>
              <a:r>
                <a:rPr lang="zh-CN" sz="750" b="1" dirty="0">
                  <a:solidFill>
                    <a:srgbClr val="C41D00"/>
                  </a:solidFill>
                  <a:latin typeface="+mn-lt"/>
                  <a:ea typeface="+mn-ea"/>
                  <a:cs typeface="+mn-cs"/>
                </a:rPr>
                <a:t>差异化运营</a:t>
              </a:r>
            </a:p>
          </p:txBody>
        </p:sp>
        <p:sp>
          <p:nvSpPr>
            <p:cNvPr id="39" name="Ellipse 39"/>
            <p:cNvSpPr/>
            <p:nvPr/>
          </p:nvSpPr>
          <p:spPr>
            <a:xfrm>
              <a:off x="1095375" y="3724275"/>
              <a:ext cx="171450" cy="171450"/>
            </a:xfrm>
            <a:prstGeom prst="ellipse">
              <a:avLst/>
            </a:prstGeom>
            <a:solidFill>
              <a:srgbClr val="D82000"/>
            </a:solidFill>
            <a:ln>
              <a:noFill/>
            </a:ln>
          </p:spPr>
        </p:sp>
        <p:sp>
          <p:nvSpPr>
            <p:cNvPr id="40" name="TextBox 40"/>
            <p:cNvSpPr txBox="1"/>
            <p:nvPr/>
          </p:nvSpPr>
          <p:spPr>
            <a:xfrm>
              <a:off x="1088877" y="37671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41" name="TextBox 41"/>
            <p:cNvSpPr txBox="1"/>
            <p:nvPr/>
          </p:nvSpPr>
          <p:spPr>
            <a:xfrm>
              <a:off x="1309688" y="3759041"/>
              <a:ext cx="340690"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开　户</a:t>
              </a:r>
            </a:p>
          </p:txBody>
        </p:sp>
        <p:sp>
          <p:nvSpPr>
            <p:cNvPr id="42" name="TextBox 42"/>
            <p:cNvSpPr txBox="1"/>
            <p:nvPr/>
          </p:nvSpPr>
          <p:spPr>
            <a:xfrm>
              <a:off x="2455902" y="3062288"/>
              <a:ext cx="841296"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C41D00"/>
                  </a:solidFill>
                  <a:latin typeface="+mn-lt"/>
                  <a:ea typeface="+mn-ea"/>
                  <a:cs typeface="+mn-cs"/>
                </a:rPr>
                <a:t>​中等价值/高频次​</a:t>
              </a:r>
              <a:br/>
              <a:r>
                <a:rPr lang="zh-CN" sz="750" b="1" dirty="0">
                  <a:solidFill>
                    <a:srgbClr val="C41D00"/>
                  </a:solidFill>
                  <a:latin typeface="+mn-lt"/>
                  <a:ea typeface="+mn-ea"/>
                  <a:cs typeface="+mn-cs"/>
                </a:rPr>
                <a:t>效率提升</a:t>
              </a:r>
            </a:p>
          </p:txBody>
        </p:sp>
        <p:sp>
          <p:nvSpPr>
            <p:cNvPr id="43" name="Ellipse 43"/>
            <p:cNvSpPr/>
            <p:nvPr/>
          </p:nvSpPr>
          <p:spPr>
            <a:xfrm>
              <a:off x="2505075" y="3609975"/>
              <a:ext cx="171450" cy="171450"/>
            </a:xfrm>
            <a:prstGeom prst="ellipse">
              <a:avLst/>
            </a:prstGeom>
            <a:solidFill>
              <a:srgbClr val="D82000"/>
            </a:solidFill>
            <a:ln>
              <a:noFill/>
            </a:ln>
          </p:spPr>
        </p:sp>
        <p:sp>
          <p:nvSpPr>
            <p:cNvPr id="44" name="TextBox 44"/>
            <p:cNvSpPr txBox="1"/>
            <p:nvPr/>
          </p:nvSpPr>
          <p:spPr>
            <a:xfrm>
              <a:off x="2498577" y="36528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45" name="TextBox 45"/>
            <p:cNvSpPr txBox="1"/>
            <p:nvPr/>
          </p:nvSpPr>
          <p:spPr>
            <a:xfrm>
              <a:off x="2719388" y="3644741"/>
              <a:ext cx="451079"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首笔理财</a:t>
              </a:r>
            </a:p>
          </p:txBody>
        </p:sp>
        <p:sp>
          <p:nvSpPr>
            <p:cNvPr id="46" name="Ellipse 46"/>
            <p:cNvSpPr/>
            <p:nvPr/>
          </p:nvSpPr>
          <p:spPr>
            <a:xfrm>
              <a:off x="2505075" y="3971925"/>
              <a:ext cx="171450" cy="171450"/>
            </a:xfrm>
            <a:prstGeom prst="ellipse">
              <a:avLst/>
            </a:prstGeom>
            <a:solidFill>
              <a:srgbClr val="D82000"/>
            </a:solidFill>
            <a:ln>
              <a:noFill/>
            </a:ln>
          </p:spPr>
        </p:sp>
        <p:sp>
          <p:nvSpPr>
            <p:cNvPr id="47" name="TextBox 47"/>
            <p:cNvSpPr txBox="1"/>
            <p:nvPr/>
          </p:nvSpPr>
          <p:spPr>
            <a:xfrm>
              <a:off x="2498577" y="40147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48" name="TextBox 48"/>
            <p:cNvSpPr txBox="1"/>
            <p:nvPr/>
          </p:nvSpPr>
          <p:spPr>
            <a:xfrm>
              <a:off x="2719388" y="4006691"/>
              <a:ext cx="561467"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信用卡首刷</a:t>
              </a:r>
            </a:p>
          </p:txBody>
        </p:sp>
        <p:sp>
          <p:nvSpPr>
            <p:cNvPr id="49" name="TextBox 49"/>
            <p:cNvSpPr txBox="1"/>
            <p:nvPr/>
          </p:nvSpPr>
          <p:spPr>
            <a:xfrm>
              <a:off x="1093827" y="4691062"/>
              <a:ext cx="746046"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C41D00"/>
                  </a:solidFill>
                  <a:latin typeface="+mn-lt"/>
                  <a:ea typeface="+mn-ea"/>
                  <a:cs typeface="+mn-cs"/>
                </a:rPr>
                <a:t>​低价值/低频次​</a:t>
              </a:r>
              <a:br/>
              <a:r>
                <a:rPr lang="zh-CN" sz="750" b="1" dirty="0">
                  <a:solidFill>
                    <a:srgbClr val="C41D00"/>
                  </a:solidFill>
                  <a:latin typeface="+mn-lt"/>
                  <a:ea typeface="+mn-ea"/>
                  <a:cs typeface="+mn-cs"/>
                </a:rPr>
                <a:t>选择性投入</a:t>
              </a:r>
            </a:p>
          </p:txBody>
        </p:sp>
        <p:sp>
          <p:nvSpPr>
            <p:cNvPr id="50" name="Ellipse 50"/>
            <p:cNvSpPr/>
            <p:nvPr/>
          </p:nvSpPr>
          <p:spPr>
            <a:xfrm>
              <a:off x="1095375" y="5343525"/>
              <a:ext cx="171450" cy="171450"/>
            </a:xfrm>
            <a:prstGeom prst="ellipse">
              <a:avLst/>
            </a:prstGeom>
            <a:solidFill>
              <a:srgbClr val="D82000"/>
            </a:solidFill>
            <a:ln>
              <a:noFill/>
            </a:ln>
          </p:spPr>
        </p:sp>
        <p:sp>
          <p:nvSpPr>
            <p:cNvPr id="51" name="TextBox 51"/>
            <p:cNvSpPr txBox="1"/>
            <p:nvPr/>
          </p:nvSpPr>
          <p:spPr>
            <a:xfrm>
              <a:off x="1088877" y="53863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​8​</a:t>
              </a:r>
            </a:p>
          </p:txBody>
        </p:sp>
        <p:sp>
          <p:nvSpPr>
            <p:cNvPr id="52" name="TextBox 52"/>
            <p:cNvSpPr txBox="1"/>
            <p:nvPr/>
          </p:nvSpPr>
          <p:spPr>
            <a:xfrm>
              <a:off x="1309688" y="5378291"/>
              <a:ext cx="451079"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投诉修复</a:t>
              </a:r>
            </a:p>
          </p:txBody>
        </p:sp>
        <p:sp>
          <p:nvSpPr>
            <p:cNvPr id="53" name="TextBox 53"/>
            <p:cNvSpPr txBox="1"/>
            <p:nvPr/>
          </p:nvSpPr>
          <p:spPr>
            <a:xfrm>
              <a:off x="2503527" y="4691062"/>
              <a:ext cx="746046"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C41D00"/>
                  </a:solidFill>
                  <a:latin typeface="+mn-lt"/>
                  <a:ea typeface="+mn-ea"/>
                  <a:cs typeface="+mn-cs"/>
                </a:rPr>
                <a:t>​低价值/高频次​</a:t>
              </a:r>
              <a:br/>
              <a:r>
                <a:rPr lang="zh-CN" sz="750" b="1" dirty="0">
                  <a:solidFill>
                    <a:srgbClr val="C41D00"/>
                  </a:solidFill>
                  <a:latin typeface="+mn-lt"/>
                  <a:ea typeface="+mn-ea"/>
                  <a:cs typeface="+mn-cs"/>
                </a:rPr>
                <a:t>自动化承接</a:t>
              </a:r>
            </a:p>
          </p:txBody>
        </p:sp>
        <p:sp>
          <p:nvSpPr>
            <p:cNvPr id="54" name="Ellipse 54"/>
            <p:cNvSpPr/>
            <p:nvPr/>
          </p:nvSpPr>
          <p:spPr>
            <a:xfrm>
              <a:off x="2505075" y="5343525"/>
              <a:ext cx="171450" cy="171450"/>
            </a:xfrm>
            <a:prstGeom prst="ellipse">
              <a:avLst/>
            </a:prstGeom>
            <a:solidFill>
              <a:srgbClr val="D82000"/>
            </a:solidFill>
            <a:ln>
              <a:noFill/>
            </a:ln>
          </p:spPr>
        </p:sp>
        <p:sp>
          <p:nvSpPr>
            <p:cNvPr id="55" name="TextBox 55"/>
            <p:cNvSpPr txBox="1"/>
            <p:nvPr/>
          </p:nvSpPr>
          <p:spPr>
            <a:xfrm>
              <a:off x="2498577" y="53863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56" name="TextBox 56"/>
            <p:cNvSpPr txBox="1"/>
            <p:nvPr/>
          </p:nvSpPr>
          <p:spPr>
            <a:xfrm>
              <a:off x="2719388" y="5378291"/>
              <a:ext cx="340690"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消费贷</a:t>
              </a:r>
            </a:p>
          </p:txBody>
        </p:sp>
      </p:grpSp>
      <p:grpSp>
        <p:nvGrpSpPr>
          <p:cNvPr id="123" name="journey-loop"/>
          <p:cNvGrpSpPr/>
          <p:nvPr/>
        </p:nvGrpSpPr>
        <p:grpSpPr>
          <a:xfrm>
            <a:off x="3790950" y="685800"/>
            <a:ext cx="3448050" cy="5251450"/>
            <a:chOff x="3790950" y="685800"/>
            <a:chExt cx="3448050" cy="5251450"/>
          </a:xfrm>
        </p:grpSpPr>
        <p:sp>
          <p:nvSpPr>
            <p:cNvPr id="58" name="Rectangle 58"/>
            <p:cNvSpPr/>
            <p:nvPr/>
          </p:nvSpPr>
          <p:spPr>
            <a:xfrm>
              <a:off x="3790950" y="685800"/>
              <a:ext cx="3448050" cy="247650"/>
            </a:xfrm>
            <a:prstGeom prst="roundRect">
              <a:avLst>
                <a:gd name="adj" fmla="val 11538"/>
              </a:avLst>
            </a:prstGeom>
            <a:solidFill>
              <a:srgbClr val="C41D00"/>
            </a:solidFill>
            <a:ln>
              <a:noFill/>
            </a:ln>
          </p:spPr>
        </p:sp>
        <p:sp>
          <p:nvSpPr>
            <p:cNvPr id="59" name="TextBox 59"/>
            <p:cNvSpPr txBox="1"/>
            <p:nvPr/>
          </p:nvSpPr>
          <p:spPr>
            <a:xfrm>
              <a:off x="5057506" y="756047"/>
              <a:ext cx="9149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​旅程运营闭环​</a:t>
              </a:r>
            </a:p>
          </p:txBody>
        </p:sp>
        <p:sp>
          <p:nvSpPr>
            <p:cNvPr id="60" name="Freeform 60"/>
            <p:cNvSpPr/>
            <p:nvPr/>
          </p:nvSpPr>
          <p:spPr>
            <a:xfrm>
              <a:off x="5772150" y="2266950"/>
              <a:ext cx="552450" cy="476250"/>
            </a:xfrm>
            <a:custGeom>
              <a:avLst/>
              <a:gdLst/>
              <a:ahLst/>
              <a:cxnLst/>
              <a:rect l="l" t="t" r="r" b="b"/>
              <a:pathLst>
                <a:path w="552450" h="476250">
                  <a:moveTo>
                    <a:pt x="0" y="0"/>
                  </a:moveTo>
                  <a:cubicBezTo>
                    <a:pt x="215900" y="101600"/>
                    <a:pt x="400050" y="260350"/>
                    <a:pt x="552450" y="476250"/>
                  </a:cubicBezTo>
                </a:path>
              </a:pathLst>
            </a:custGeom>
            <a:noFill/>
            <a:ln w="19050">
              <a:solidFill>
                <a:srgbClr val="EE492C"/>
              </a:solidFill>
            </a:ln>
          </p:spPr>
        </p:sp>
        <p:sp>
          <p:nvSpPr>
            <p:cNvPr id="61" name="Polygon 61"/>
            <p:cNvSpPr/>
            <p:nvPr/>
          </p:nvSpPr>
          <p:spPr>
            <a:xfrm>
              <a:off x="6267450" y="2705100"/>
              <a:ext cx="133350" cy="133350"/>
            </a:xfrm>
            <a:custGeom>
              <a:avLst/>
              <a:gdLst/>
              <a:ahLst/>
              <a:cxnLst/>
              <a:rect l="l" t="t" r="r" b="b"/>
              <a:pathLst>
                <a:path w="133350" h="133350">
                  <a:moveTo>
                    <a:pt x="0" y="57150"/>
                  </a:moveTo>
                  <a:lnTo>
                    <a:pt x="133350" y="133350"/>
                  </a:lnTo>
                  <a:lnTo>
                    <a:pt x="95250" y="0"/>
                  </a:lnTo>
                  <a:close/>
                </a:path>
              </a:pathLst>
            </a:custGeom>
            <a:solidFill>
              <a:srgbClr val="EE492C"/>
            </a:solidFill>
            <a:ln>
              <a:noFill/>
            </a:ln>
          </p:spPr>
        </p:sp>
        <p:sp>
          <p:nvSpPr>
            <p:cNvPr id="62" name="Freeform 62"/>
            <p:cNvSpPr/>
            <p:nvPr/>
          </p:nvSpPr>
          <p:spPr>
            <a:xfrm>
              <a:off x="6667500" y="3771900"/>
              <a:ext cx="76200" cy="895350"/>
            </a:xfrm>
            <a:custGeom>
              <a:avLst/>
              <a:gdLst/>
              <a:ahLst/>
              <a:cxnLst/>
              <a:rect l="l" t="t" r="r" b="b"/>
              <a:pathLst>
                <a:path w="76200" h="895350">
                  <a:moveTo>
                    <a:pt x="0" y="0"/>
                  </a:moveTo>
                  <a:cubicBezTo>
                    <a:pt x="76200" y="317500"/>
                    <a:pt x="76200" y="615950"/>
                    <a:pt x="0" y="895350"/>
                  </a:cubicBezTo>
                </a:path>
              </a:pathLst>
            </a:custGeom>
            <a:noFill/>
            <a:ln w="19050">
              <a:solidFill>
                <a:srgbClr val="EE492C"/>
              </a:solidFill>
            </a:ln>
          </p:spPr>
        </p:sp>
        <p:sp>
          <p:nvSpPr>
            <p:cNvPr id="63" name="Polygon 63"/>
            <p:cNvSpPr/>
            <p:nvPr/>
          </p:nvSpPr>
          <p:spPr>
            <a:xfrm>
              <a:off x="6610350" y="4629150"/>
              <a:ext cx="123825" cy="114300"/>
            </a:xfrm>
            <a:custGeom>
              <a:avLst/>
              <a:gdLst/>
              <a:ahLst/>
              <a:cxnLst/>
              <a:rect l="l" t="t" r="r" b="b"/>
              <a:pathLst>
                <a:path w="123825" h="114300">
                  <a:moveTo>
                    <a:pt x="0" y="0"/>
                  </a:moveTo>
                  <a:lnTo>
                    <a:pt x="57150" y="114300"/>
                  </a:lnTo>
                  <a:lnTo>
                    <a:pt x="123825" y="9525"/>
                  </a:lnTo>
                  <a:close/>
                </a:path>
              </a:pathLst>
            </a:custGeom>
            <a:solidFill>
              <a:srgbClr val="EE492C"/>
            </a:solidFill>
            <a:ln>
              <a:noFill/>
            </a:ln>
          </p:spPr>
        </p:sp>
        <p:sp>
          <p:nvSpPr>
            <p:cNvPr id="64" name="Freeform 64"/>
            <p:cNvSpPr/>
            <p:nvPr/>
          </p:nvSpPr>
          <p:spPr>
            <a:xfrm>
              <a:off x="4724400" y="5715000"/>
              <a:ext cx="1600200" cy="222250"/>
            </a:xfrm>
            <a:custGeom>
              <a:avLst/>
              <a:gdLst/>
              <a:ahLst/>
              <a:cxnLst/>
              <a:rect l="l" t="t" r="r" b="b"/>
              <a:pathLst>
                <a:path w="1600200" h="222250">
                  <a:moveTo>
                    <a:pt x="1600200" y="0"/>
                  </a:moveTo>
                  <a:cubicBezTo>
                    <a:pt x="1060450" y="215900"/>
                    <a:pt x="527050" y="222250"/>
                    <a:pt x="0" y="19050"/>
                  </a:cubicBezTo>
                </a:path>
              </a:pathLst>
            </a:custGeom>
            <a:noFill/>
            <a:ln w="19050">
              <a:solidFill>
                <a:srgbClr val="EE492C"/>
              </a:solidFill>
            </a:ln>
          </p:spPr>
        </p:sp>
        <p:sp>
          <p:nvSpPr>
            <p:cNvPr id="65" name="Polygon 65"/>
            <p:cNvSpPr/>
            <p:nvPr/>
          </p:nvSpPr>
          <p:spPr>
            <a:xfrm>
              <a:off x="4648200" y="5676900"/>
              <a:ext cx="133350" cy="133350"/>
            </a:xfrm>
            <a:custGeom>
              <a:avLst/>
              <a:gdLst/>
              <a:ahLst/>
              <a:cxnLst/>
              <a:rect l="l" t="t" r="r" b="b"/>
              <a:pathLst>
                <a:path w="133350" h="133350">
                  <a:moveTo>
                    <a:pt x="133350" y="0"/>
                  </a:moveTo>
                  <a:lnTo>
                    <a:pt x="0" y="38100"/>
                  </a:lnTo>
                  <a:lnTo>
                    <a:pt x="114300" y="133350"/>
                  </a:lnTo>
                  <a:close/>
                </a:path>
              </a:pathLst>
            </a:custGeom>
            <a:solidFill>
              <a:srgbClr val="EE492C"/>
            </a:solidFill>
            <a:ln>
              <a:noFill/>
            </a:ln>
          </p:spPr>
        </p:sp>
        <p:sp>
          <p:nvSpPr>
            <p:cNvPr id="66" name="Freeform 66"/>
            <p:cNvSpPr/>
            <p:nvPr/>
          </p:nvSpPr>
          <p:spPr>
            <a:xfrm>
              <a:off x="4286250" y="3810000"/>
              <a:ext cx="76200" cy="895350"/>
            </a:xfrm>
            <a:custGeom>
              <a:avLst/>
              <a:gdLst/>
              <a:ahLst/>
              <a:cxnLst/>
              <a:rect l="l" t="t" r="r" b="b"/>
              <a:pathLst>
                <a:path w="76200" h="895350">
                  <a:moveTo>
                    <a:pt x="76200" y="895350"/>
                  </a:moveTo>
                  <a:cubicBezTo>
                    <a:pt x="0" y="590550"/>
                    <a:pt x="0" y="292100"/>
                    <a:pt x="76200" y="0"/>
                  </a:cubicBezTo>
                </a:path>
              </a:pathLst>
            </a:custGeom>
            <a:noFill/>
            <a:ln w="19050">
              <a:solidFill>
                <a:srgbClr val="EE492C"/>
              </a:solidFill>
            </a:ln>
          </p:spPr>
        </p:sp>
        <p:sp>
          <p:nvSpPr>
            <p:cNvPr id="67" name="Polygon 67"/>
            <p:cNvSpPr/>
            <p:nvPr/>
          </p:nvSpPr>
          <p:spPr>
            <a:xfrm>
              <a:off x="4305300" y="3714750"/>
              <a:ext cx="123825" cy="133350"/>
            </a:xfrm>
            <a:custGeom>
              <a:avLst/>
              <a:gdLst/>
              <a:ahLst/>
              <a:cxnLst/>
              <a:rect l="l" t="t" r="r" b="b"/>
              <a:pathLst>
                <a:path w="123825" h="133350">
                  <a:moveTo>
                    <a:pt x="0" y="133350"/>
                  </a:moveTo>
                  <a:lnTo>
                    <a:pt x="57150" y="0"/>
                  </a:lnTo>
                  <a:lnTo>
                    <a:pt x="123825" y="123825"/>
                  </a:lnTo>
                  <a:close/>
                </a:path>
              </a:pathLst>
            </a:custGeom>
            <a:solidFill>
              <a:srgbClr val="EE492C"/>
            </a:solidFill>
            <a:ln>
              <a:noFill/>
            </a:ln>
          </p:spPr>
        </p:sp>
        <p:sp>
          <p:nvSpPr>
            <p:cNvPr id="68" name="Freeform 68"/>
            <p:cNvSpPr/>
            <p:nvPr/>
          </p:nvSpPr>
          <p:spPr>
            <a:xfrm>
              <a:off x="4819650" y="2247900"/>
              <a:ext cx="438150" cy="533400"/>
            </a:xfrm>
            <a:custGeom>
              <a:avLst/>
              <a:gdLst/>
              <a:ahLst/>
              <a:cxnLst/>
              <a:rect l="l" t="t" r="r" b="b"/>
              <a:pathLst>
                <a:path w="438150" h="533400">
                  <a:moveTo>
                    <a:pt x="0" y="533400"/>
                  </a:moveTo>
                  <a:cubicBezTo>
                    <a:pt x="152400" y="279400"/>
                    <a:pt x="298450" y="101600"/>
                    <a:pt x="438150" y="0"/>
                  </a:cubicBezTo>
                </a:path>
              </a:pathLst>
            </a:custGeom>
            <a:noFill/>
            <a:ln w="19050">
              <a:solidFill>
                <a:srgbClr val="EE492C"/>
              </a:solidFill>
            </a:ln>
          </p:spPr>
        </p:sp>
        <p:sp>
          <p:nvSpPr>
            <p:cNvPr id="69" name="Polygon 69"/>
            <p:cNvSpPr/>
            <p:nvPr/>
          </p:nvSpPr>
          <p:spPr>
            <a:xfrm>
              <a:off x="5200650" y="2190750"/>
              <a:ext cx="133350" cy="133350"/>
            </a:xfrm>
            <a:custGeom>
              <a:avLst/>
              <a:gdLst/>
              <a:ahLst/>
              <a:cxnLst/>
              <a:rect l="l" t="t" r="r" b="b"/>
              <a:pathLst>
                <a:path w="133350" h="133350">
                  <a:moveTo>
                    <a:pt x="0" y="57150"/>
                  </a:moveTo>
                  <a:lnTo>
                    <a:pt x="133350" y="0"/>
                  </a:lnTo>
                  <a:lnTo>
                    <a:pt x="76200" y="133350"/>
                  </a:lnTo>
                  <a:close/>
                </a:path>
              </a:pathLst>
            </a:custGeom>
            <a:solidFill>
              <a:srgbClr val="EE492C"/>
            </a:solidFill>
            <a:ln>
              <a:noFill/>
            </a:ln>
          </p:spPr>
        </p:sp>
        <p:sp>
          <p:nvSpPr>
            <p:cNvPr id="70" name="Ellipse 70"/>
            <p:cNvSpPr/>
            <p:nvPr/>
          </p:nvSpPr>
          <p:spPr>
            <a:xfrm>
              <a:off x="5076825" y="3390900"/>
              <a:ext cx="876300" cy="876300"/>
            </a:xfrm>
            <a:prstGeom prst="ellipse">
              <a:avLst/>
            </a:prstGeom>
            <a:solidFill>
              <a:srgbClr val="FEF2E6"/>
            </a:solidFill>
            <a:ln w="14288">
              <a:solidFill>
                <a:srgbClr val="EE492C"/>
              </a:solidFill>
            </a:ln>
          </p:spPr>
        </p:sp>
        <p:grpSp>
          <p:nvGrpSpPr>
            <p:cNvPr id="75" name="Group 75"/>
            <p:cNvGrpSpPr/>
            <p:nvPr/>
          </p:nvGrpSpPr>
          <p:grpSpPr>
            <a:xfrm>
              <a:off x="5429250" y="3629025"/>
              <a:ext cx="171450" cy="171450"/>
              <a:chOff x="5429250" y="3629025"/>
              <a:chExt cx="171450" cy="171450"/>
            </a:xfrm>
          </p:grpSpPr>
          <p:sp>
            <p:nvSpPr>
              <p:cNvPr id="71" name="Freeform 71"/>
              <p:cNvSpPr/>
              <p:nvPr/>
            </p:nvSpPr>
            <p:spPr>
              <a:xfrm>
                <a:off x="5448300" y="36290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D82000"/>
                </a:solidFill>
              </a:ln>
            </p:spPr>
          </p:sp>
          <p:sp>
            <p:nvSpPr>
              <p:cNvPr id="72" name="Freeform 72"/>
              <p:cNvSpPr/>
              <p:nvPr/>
            </p:nvSpPr>
            <p:spPr>
              <a:xfrm>
                <a:off x="5429250" y="37433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D82000"/>
                </a:solidFill>
              </a:ln>
            </p:spPr>
          </p:sp>
          <p:sp>
            <p:nvSpPr>
              <p:cNvPr id="73" name="Freeform 73"/>
              <p:cNvSpPr/>
              <p:nvPr/>
            </p:nvSpPr>
            <p:spPr>
              <a:xfrm>
                <a:off x="5553075" y="36302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D82000"/>
                </a:solidFill>
              </a:ln>
            </p:spPr>
          </p:sp>
          <p:sp>
            <p:nvSpPr>
              <p:cNvPr id="74" name="Freeform 74"/>
              <p:cNvSpPr/>
              <p:nvPr/>
            </p:nvSpPr>
            <p:spPr>
              <a:xfrm>
                <a:off x="5572125" y="37447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D82000"/>
                </a:solidFill>
              </a:ln>
            </p:spPr>
          </p:sp>
        </p:grpSp>
        <p:sp>
          <p:nvSpPr>
            <p:cNvPr id="76" name="TextBox 76"/>
            <p:cNvSpPr txBox="1"/>
            <p:nvPr/>
          </p:nvSpPr>
          <p:spPr>
            <a:xfrm>
              <a:off x="5220780" y="3926443"/>
              <a:ext cx="588391" cy="169069"/>
            </a:xfrm>
            <a:prstGeom prst="rect">
              <a:avLst/>
            </a:prstGeom>
            <a:noFill/>
            <a:ln>
              <a:noFill/>
            </a:ln>
          </p:spPr>
          <p:txBody>
            <a:bodyPr wrap="none" lIns="0" tIns="0" rIns="0" bIns="0" anchor="t" anchorCtr="0">
              <a:spAutoFit/>
            </a:bodyPr>
            <a:lstStyle/>
            <a:p>
              <a:pPr algn="ctr"/>
              <a:r>
                <a:rPr lang="zh-CN" sz="860" b="1" dirty="0">
                  <a:solidFill>
                    <a:srgbClr val="4A130A"/>
                  </a:solidFill>
                  <a:latin typeface="+mn-lt"/>
                  <a:ea typeface="+mn-ea"/>
                  <a:cs typeface="+mn-cs"/>
                </a:rPr>
                <a:t>客户为中心</a:t>
              </a:r>
            </a:p>
          </p:txBody>
        </p:sp>
        <p:sp>
          <p:nvSpPr>
            <p:cNvPr id="77" name="Ellipse 77"/>
            <p:cNvSpPr/>
            <p:nvPr/>
          </p:nvSpPr>
          <p:spPr>
            <a:xfrm>
              <a:off x="5076825" y="1428750"/>
              <a:ext cx="152400" cy="152400"/>
            </a:xfrm>
            <a:prstGeom prst="ellipse">
              <a:avLst/>
            </a:prstGeom>
            <a:solidFill>
              <a:srgbClr val="D82000"/>
            </a:solidFill>
            <a:ln>
              <a:noFill/>
            </a:ln>
          </p:spPr>
        </p:sp>
        <p:sp>
          <p:nvSpPr>
            <p:cNvPr id="78" name="TextBox 78"/>
            <p:cNvSpPr txBox="1"/>
            <p:nvPr/>
          </p:nvSpPr>
          <p:spPr>
            <a:xfrm>
              <a:off x="5068965" y="146542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sp>
          <p:nvSpPr>
            <p:cNvPr id="79" name="TextBox 79"/>
            <p:cNvSpPr txBox="1"/>
            <p:nvPr/>
          </p:nvSpPr>
          <p:spPr>
            <a:xfrm>
              <a:off x="5262562" y="1453991"/>
              <a:ext cx="451079"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感知事件</a:t>
              </a:r>
            </a:p>
          </p:txBody>
        </p:sp>
        <p:sp>
          <p:nvSpPr>
            <p:cNvPr id="80" name="TextBox 80"/>
            <p:cNvSpPr txBox="1"/>
            <p:nvPr/>
          </p:nvSpPr>
          <p:spPr>
            <a:xfrm>
              <a:off x="5183467" y="1630680"/>
              <a:ext cx="663016" cy="119062"/>
            </a:xfrm>
            <a:prstGeom prst="rect">
              <a:avLst/>
            </a:prstGeom>
            <a:noFill/>
            <a:ln>
              <a:noFill/>
            </a:ln>
          </p:spPr>
          <p:txBody>
            <a:bodyPr wrap="none" lIns="0" tIns="0" rIns="0" bIns="0" anchor="t" anchorCtr="0">
              <a:spAutoFit/>
            </a:bodyPr>
            <a:lstStyle/>
            <a:p>
              <a:pPr algn="ctr"/>
              <a:r>
                <a:rPr lang="en-US" sz="600" dirty="0">
                  <a:solidFill>
                    <a:srgbClr val="7A716B"/>
                  </a:solidFill>
                  <a:latin typeface="+mn-lt"/>
                  <a:ea typeface="+mn-ea"/>
                  <a:cs typeface="+mn-cs"/>
                </a:rPr>
                <a:t>​​Sense Event​​</a:t>
              </a:r>
            </a:p>
          </p:txBody>
        </p:sp>
        <p:sp>
          <p:nvSpPr>
            <p:cNvPr id="81" name="TextBox 81"/>
            <p:cNvSpPr txBox="1"/>
            <p:nvPr/>
          </p:nvSpPr>
          <p:spPr>
            <a:xfrm>
              <a:off x="5009769" y="1761411"/>
              <a:ext cx="1010412"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​多源数据实时感知客户​</a:t>
              </a:r>
              <a:br/>
              <a:r>
                <a:rPr lang="zh-CN" sz="710" dirty="0">
                  <a:solidFill>
                    <a:srgbClr val="7A716B"/>
                  </a:solidFill>
                  <a:latin typeface="+mn-lt"/>
                  <a:ea typeface="+mn-ea"/>
                  <a:cs typeface="+mn-cs"/>
                </a:rPr>
                <a:t>​行为与业务事件​</a:t>
              </a:r>
            </a:p>
          </p:txBody>
        </p:sp>
        <p:sp>
          <p:nvSpPr>
            <p:cNvPr id="82" name="Ellipse 82"/>
            <p:cNvSpPr/>
            <p:nvPr/>
          </p:nvSpPr>
          <p:spPr>
            <a:xfrm>
              <a:off x="5372100" y="2066925"/>
              <a:ext cx="285750" cy="285750"/>
            </a:xfrm>
            <a:prstGeom prst="ellipse">
              <a:avLst/>
            </a:prstGeom>
            <a:solidFill>
              <a:srgbClr val="FFF8F2"/>
            </a:solidFill>
            <a:ln w="9525">
              <a:solidFill>
                <a:srgbClr val="F0B8AE"/>
              </a:solidFill>
            </a:ln>
          </p:spPr>
        </p:sp>
        <p:grpSp>
          <p:nvGrpSpPr>
            <p:cNvPr id="85" name="Group 85"/>
            <p:cNvGrpSpPr/>
            <p:nvPr/>
          </p:nvGrpSpPr>
          <p:grpSpPr>
            <a:xfrm>
              <a:off x="5457825" y="2171700"/>
              <a:ext cx="114300" cy="76200"/>
              <a:chOff x="5457825" y="2171700"/>
              <a:chExt cx="114300" cy="76200"/>
            </a:xfrm>
          </p:grpSpPr>
          <p:sp>
            <p:nvSpPr>
              <p:cNvPr id="83" name="Freeform 83"/>
              <p:cNvSpPr/>
              <p:nvPr/>
            </p:nvSpPr>
            <p:spPr>
              <a:xfrm>
                <a:off x="5502275" y="2197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82000"/>
                </a:solidFill>
              </a:ln>
            </p:spPr>
          </p:sp>
          <p:sp>
            <p:nvSpPr>
              <p:cNvPr id="84" name="Freeform 84"/>
              <p:cNvSpPr/>
              <p:nvPr/>
            </p:nvSpPr>
            <p:spPr>
              <a:xfrm>
                <a:off x="5457825" y="2171700"/>
                <a:ext cx="114300" cy="76200"/>
              </a:xfrm>
              <a:custGeom>
                <a:avLst/>
                <a:gdLst/>
                <a:ahLst/>
                <a:cxnLst/>
                <a:rect l="l" t="t" r="r" b="b"/>
                <a:pathLst>
                  <a:path w="114300" h="76200">
                    <a:moveTo>
                      <a:pt x="114300" y="38100"/>
                    </a:moveTo>
                    <a:cubicBezTo>
                      <a:pt x="99060" y="63500"/>
                      <a:pt x="80010" y="76200"/>
                      <a:pt x="57150" y="76200"/>
                    </a:cubicBezTo>
                    <a:cubicBezTo>
                      <a:pt x="34290" y="76200"/>
                      <a:pt x="15240" y="63500"/>
                      <a:pt x="0" y="38100"/>
                    </a:cubicBezTo>
                    <a:cubicBezTo>
                      <a:pt x="15240" y="12700"/>
                      <a:pt x="34290" y="0"/>
                      <a:pt x="57150" y="0"/>
                    </a:cubicBezTo>
                    <a:cubicBezTo>
                      <a:pt x="80010" y="0"/>
                      <a:pt x="99060" y="12700"/>
                      <a:pt x="114300" y="38100"/>
                    </a:cubicBezTo>
                  </a:path>
                </a:pathLst>
              </a:custGeom>
              <a:noFill/>
              <a:ln w="12700">
                <a:solidFill>
                  <a:srgbClr val="D82000"/>
                </a:solidFill>
              </a:ln>
            </p:spPr>
          </p:sp>
        </p:grpSp>
        <p:sp>
          <p:nvSpPr>
            <p:cNvPr id="86" name="Ellipse 86"/>
            <p:cNvSpPr/>
            <p:nvPr/>
          </p:nvSpPr>
          <p:spPr>
            <a:xfrm>
              <a:off x="6477000" y="2800350"/>
              <a:ext cx="152400" cy="152400"/>
            </a:xfrm>
            <a:prstGeom prst="ellipse">
              <a:avLst/>
            </a:prstGeom>
            <a:solidFill>
              <a:srgbClr val="D82000"/>
            </a:solidFill>
            <a:ln>
              <a:noFill/>
            </a:ln>
          </p:spPr>
        </p:sp>
        <p:sp>
          <p:nvSpPr>
            <p:cNvPr id="87" name="TextBox 87"/>
            <p:cNvSpPr txBox="1"/>
            <p:nvPr/>
          </p:nvSpPr>
          <p:spPr>
            <a:xfrm>
              <a:off x="6469140" y="283702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sp>
          <p:nvSpPr>
            <p:cNvPr id="88" name="TextBox 88"/>
            <p:cNvSpPr txBox="1"/>
            <p:nvPr/>
          </p:nvSpPr>
          <p:spPr>
            <a:xfrm>
              <a:off x="6662738" y="2825591"/>
              <a:ext cx="451079"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识别需求</a:t>
              </a:r>
            </a:p>
          </p:txBody>
        </p:sp>
        <p:sp>
          <p:nvSpPr>
            <p:cNvPr id="89" name="TextBox 89"/>
            <p:cNvSpPr txBox="1"/>
            <p:nvPr/>
          </p:nvSpPr>
          <p:spPr>
            <a:xfrm>
              <a:off x="6197841" y="3002280"/>
              <a:ext cx="710717" cy="119062"/>
            </a:xfrm>
            <a:prstGeom prst="rect">
              <a:avLst/>
            </a:prstGeom>
            <a:noFill/>
            <a:ln>
              <a:noFill/>
            </a:ln>
          </p:spPr>
          <p:txBody>
            <a:bodyPr wrap="none" lIns="0" tIns="0" rIns="0" bIns="0" anchor="t" anchorCtr="0">
              <a:spAutoFit/>
            </a:bodyPr>
            <a:lstStyle/>
            <a:p>
              <a:pPr algn="ctr"/>
              <a:r>
                <a:rPr lang="en-US" sz="600" dirty="0">
                  <a:solidFill>
                    <a:srgbClr val="7A716B"/>
                  </a:solidFill>
                  <a:latin typeface="+mn-lt"/>
                  <a:ea typeface="+mn-ea"/>
                  <a:cs typeface="+mn-cs"/>
                </a:rPr>
                <a:t>​​Identify Need​​</a:t>
              </a:r>
            </a:p>
          </p:txBody>
        </p:sp>
        <p:sp>
          <p:nvSpPr>
            <p:cNvPr id="90" name="TextBox 90"/>
            <p:cNvSpPr txBox="1"/>
            <p:nvPr/>
          </p:nvSpPr>
          <p:spPr>
            <a:xfrm>
              <a:off x="6002909" y="3133011"/>
              <a:ext cx="1100582"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​洞察客户需求与场景、​</a:t>
              </a:r>
              <a:br/>
              <a:r>
                <a:rPr lang="zh-CN" sz="710" dirty="0">
                  <a:solidFill>
                    <a:srgbClr val="7A716B"/>
                  </a:solidFill>
                  <a:latin typeface="+mn-lt"/>
                  <a:ea typeface="+mn-ea"/>
                  <a:cs typeface="+mn-cs"/>
                </a:rPr>
                <a:t>​判断旅程触发点与优先级​</a:t>
              </a:r>
            </a:p>
          </p:txBody>
        </p:sp>
        <p:sp>
          <p:nvSpPr>
            <p:cNvPr id="91" name="Ellipse 91"/>
            <p:cNvSpPr/>
            <p:nvPr/>
          </p:nvSpPr>
          <p:spPr>
            <a:xfrm>
              <a:off x="6410325" y="3438525"/>
              <a:ext cx="285750" cy="285750"/>
            </a:xfrm>
            <a:prstGeom prst="ellipse">
              <a:avLst/>
            </a:prstGeom>
            <a:solidFill>
              <a:srgbClr val="FFF8F2"/>
            </a:solidFill>
            <a:ln w="9525">
              <a:solidFill>
                <a:srgbClr val="F0B8AE"/>
              </a:solidFill>
            </a:ln>
          </p:spPr>
        </p:sp>
        <p:grpSp>
          <p:nvGrpSpPr>
            <p:cNvPr id="94" name="Group 94"/>
            <p:cNvGrpSpPr/>
            <p:nvPr/>
          </p:nvGrpSpPr>
          <p:grpSpPr>
            <a:xfrm>
              <a:off x="6496050" y="3524250"/>
              <a:ext cx="114300" cy="114300"/>
              <a:chOff x="6496050" y="3524250"/>
              <a:chExt cx="114300" cy="114300"/>
            </a:xfrm>
          </p:grpSpPr>
          <p:sp>
            <p:nvSpPr>
              <p:cNvPr id="92" name="Freeform 92"/>
              <p:cNvSpPr/>
              <p:nvPr/>
            </p:nvSpPr>
            <p:spPr>
              <a:xfrm>
                <a:off x="6496050" y="352425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D82000"/>
                </a:solidFill>
              </a:ln>
            </p:spPr>
          </p:sp>
          <p:sp>
            <p:nvSpPr>
              <p:cNvPr id="93" name="Freeform 93"/>
              <p:cNvSpPr/>
              <p:nvPr/>
            </p:nvSpPr>
            <p:spPr>
              <a:xfrm>
                <a:off x="6572250" y="3600450"/>
                <a:ext cx="38100" cy="38100"/>
              </a:xfrm>
              <a:custGeom>
                <a:avLst/>
                <a:gdLst/>
                <a:ahLst/>
                <a:cxnLst/>
                <a:rect l="l" t="t" r="r" b="b"/>
                <a:pathLst>
                  <a:path w="38100" h="38100">
                    <a:moveTo>
                      <a:pt x="38100" y="38100"/>
                    </a:moveTo>
                    <a:lnTo>
                      <a:pt x="0" y="0"/>
                    </a:lnTo>
                  </a:path>
                </a:pathLst>
              </a:custGeom>
              <a:noFill/>
              <a:ln w="12700">
                <a:solidFill>
                  <a:srgbClr val="D82000"/>
                </a:solidFill>
              </a:ln>
            </p:spPr>
          </p:sp>
        </p:grpSp>
        <p:sp>
          <p:nvSpPr>
            <p:cNvPr id="95" name="Ellipse 95"/>
            <p:cNvSpPr/>
            <p:nvPr/>
          </p:nvSpPr>
          <p:spPr>
            <a:xfrm>
              <a:off x="6477000" y="4762500"/>
              <a:ext cx="152400" cy="152400"/>
            </a:xfrm>
            <a:prstGeom prst="ellipse">
              <a:avLst/>
            </a:prstGeom>
            <a:solidFill>
              <a:srgbClr val="D82000"/>
            </a:solidFill>
            <a:ln>
              <a:noFill/>
            </a:ln>
          </p:spPr>
        </p:sp>
        <p:sp>
          <p:nvSpPr>
            <p:cNvPr id="96" name="TextBox 96"/>
            <p:cNvSpPr txBox="1"/>
            <p:nvPr/>
          </p:nvSpPr>
          <p:spPr>
            <a:xfrm>
              <a:off x="6469140" y="47991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sp>
          <p:nvSpPr>
            <p:cNvPr id="97" name="TextBox 97"/>
            <p:cNvSpPr txBox="1"/>
            <p:nvPr/>
          </p:nvSpPr>
          <p:spPr>
            <a:xfrm>
              <a:off x="6662738" y="4787741"/>
              <a:ext cx="451079"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编排任务</a:t>
              </a:r>
            </a:p>
          </p:txBody>
        </p:sp>
        <p:sp>
          <p:nvSpPr>
            <p:cNvPr id="98" name="TextBox 98"/>
            <p:cNvSpPr txBox="1"/>
            <p:nvPr/>
          </p:nvSpPr>
          <p:spPr>
            <a:xfrm>
              <a:off x="6102873" y="4964430"/>
              <a:ext cx="900654" cy="119062"/>
            </a:xfrm>
            <a:prstGeom prst="rect">
              <a:avLst/>
            </a:prstGeom>
            <a:noFill/>
            <a:ln>
              <a:noFill/>
            </a:ln>
          </p:spPr>
          <p:txBody>
            <a:bodyPr wrap="none" lIns="0" tIns="0" rIns="0" bIns="0" anchor="t" anchorCtr="0">
              <a:spAutoFit/>
            </a:bodyPr>
            <a:lstStyle/>
            <a:p>
              <a:pPr algn="ctr"/>
              <a:r>
                <a:rPr lang="en-US" sz="600" dirty="0">
                  <a:solidFill>
                    <a:srgbClr val="7A716B"/>
                  </a:solidFill>
                  <a:latin typeface="+mn-lt"/>
                  <a:ea typeface="+mn-ea"/>
                  <a:cs typeface="+mn-cs"/>
                </a:rPr>
                <a:t>​​Orchestrate Task​​</a:t>
              </a:r>
            </a:p>
          </p:txBody>
        </p:sp>
        <p:sp>
          <p:nvSpPr>
            <p:cNvPr id="99" name="TextBox 99"/>
            <p:cNvSpPr txBox="1"/>
            <p:nvPr/>
          </p:nvSpPr>
          <p:spPr>
            <a:xfrm>
              <a:off x="6002909" y="5095161"/>
              <a:ext cx="1100582"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​匹配产品、权益与策略，​</a:t>
              </a:r>
              <a:br/>
              <a:r>
                <a:rPr lang="zh-CN" sz="710" dirty="0">
                  <a:solidFill>
                    <a:srgbClr val="7A716B"/>
                  </a:solidFill>
                  <a:latin typeface="+mn-lt"/>
                  <a:ea typeface="+mn-ea"/>
                  <a:cs typeface="+mn-cs"/>
                </a:rPr>
                <a:t>​生成个性化任务编排​</a:t>
              </a:r>
            </a:p>
          </p:txBody>
        </p:sp>
        <p:sp>
          <p:nvSpPr>
            <p:cNvPr id="100" name="Ellipse 100"/>
            <p:cNvSpPr/>
            <p:nvPr/>
          </p:nvSpPr>
          <p:spPr>
            <a:xfrm>
              <a:off x="6410325" y="5400675"/>
              <a:ext cx="285750" cy="285750"/>
            </a:xfrm>
            <a:prstGeom prst="ellipse">
              <a:avLst/>
            </a:prstGeom>
            <a:solidFill>
              <a:srgbClr val="FFF8F2"/>
            </a:solidFill>
            <a:ln w="9525">
              <a:solidFill>
                <a:srgbClr val="F0B8AE"/>
              </a:solidFill>
            </a:ln>
          </p:spPr>
        </p:sp>
        <p:sp>
          <p:nvSpPr>
            <p:cNvPr id="101" name="Freeform 101"/>
            <p:cNvSpPr/>
            <p:nvPr/>
          </p:nvSpPr>
          <p:spPr>
            <a:xfrm>
              <a:off x="6496050" y="548640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D82000"/>
              </a:solidFill>
            </a:ln>
          </p:spPr>
        </p:sp>
        <p:sp>
          <p:nvSpPr>
            <p:cNvPr id="102" name="Ellipse 102"/>
            <p:cNvSpPr/>
            <p:nvPr/>
          </p:nvSpPr>
          <p:spPr>
            <a:xfrm>
              <a:off x="4400550" y="4762500"/>
              <a:ext cx="152400" cy="152400"/>
            </a:xfrm>
            <a:prstGeom prst="ellipse">
              <a:avLst/>
            </a:prstGeom>
            <a:solidFill>
              <a:srgbClr val="D82000"/>
            </a:solidFill>
            <a:ln>
              <a:noFill/>
            </a:ln>
          </p:spPr>
        </p:sp>
        <p:sp>
          <p:nvSpPr>
            <p:cNvPr id="103" name="TextBox 103"/>
            <p:cNvSpPr txBox="1"/>
            <p:nvPr/>
          </p:nvSpPr>
          <p:spPr>
            <a:xfrm>
              <a:off x="4392690" y="47991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sp>
          <p:nvSpPr>
            <p:cNvPr id="104" name="TextBox 104"/>
            <p:cNvSpPr txBox="1"/>
            <p:nvPr/>
          </p:nvSpPr>
          <p:spPr>
            <a:xfrm>
              <a:off x="4586288" y="4787741"/>
              <a:ext cx="561467"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跨渠道服务</a:t>
              </a:r>
            </a:p>
          </p:txBody>
        </p:sp>
        <p:sp>
          <p:nvSpPr>
            <p:cNvPr id="105" name="TextBox 105"/>
            <p:cNvSpPr txBox="1"/>
            <p:nvPr/>
          </p:nvSpPr>
          <p:spPr>
            <a:xfrm>
              <a:off x="3964438" y="4964430"/>
              <a:ext cx="1024623" cy="119062"/>
            </a:xfrm>
            <a:prstGeom prst="rect">
              <a:avLst/>
            </a:prstGeom>
            <a:noFill/>
            <a:ln>
              <a:noFill/>
            </a:ln>
          </p:spPr>
          <p:txBody>
            <a:bodyPr wrap="none" lIns="0" tIns="0" rIns="0" bIns="0" anchor="t" anchorCtr="0">
              <a:spAutoFit/>
            </a:bodyPr>
            <a:lstStyle/>
            <a:p>
              <a:pPr algn="ctr"/>
              <a:r>
                <a:rPr lang="en-US" sz="600" dirty="0">
                  <a:solidFill>
                    <a:srgbClr val="7A716B"/>
                  </a:solidFill>
                  <a:latin typeface="+mn-lt"/>
                  <a:ea typeface="+mn-ea"/>
                  <a:cs typeface="+mn-cs"/>
                </a:rPr>
                <a:t>​​Serve Across Channel​​</a:t>
              </a:r>
            </a:p>
          </p:txBody>
        </p:sp>
        <p:sp>
          <p:nvSpPr>
            <p:cNvPr id="106" name="TextBox 106"/>
            <p:cNvSpPr txBox="1"/>
            <p:nvPr/>
          </p:nvSpPr>
          <p:spPr>
            <a:xfrm>
              <a:off x="3926459" y="5095161"/>
              <a:ext cx="1100582"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​通过最优渠道触达客户、​</a:t>
              </a:r>
              <a:br/>
              <a:r>
                <a:rPr lang="zh-CN" sz="710" dirty="0">
                  <a:solidFill>
                    <a:srgbClr val="7A716B"/>
                  </a:solidFill>
                  <a:latin typeface="+mn-lt"/>
                  <a:ea typeface="+mn-ea"/>
                  <a:cs typeface="+mn-cs"/>
                </a:rPr>
                <a:t>​无缝交付体验​</a:t>
              </a:r>
            </a:p>
          </p:txBody>
        </p:sp>
        <p:sp>
          <p:nvSpPr>
            <p:cNvPr id="107" name="Ellipse 107"/>
            <p:cNvSpPr/>
            <p:nvPr/>
          </p:nvSpPr>
          <p:spPr>
            <a:xfrm>
              <a:off x="4333875" y="5400675"/>
              <a:ext cx="285750" cy="285750"/>
            </a:xfrm>
            <a:prstGeom prst="ellipse">
              <a:avLst/>
            </a:prstGeom>
            <a:solidFill>
              <a:srgbClr val="FFF8F2"/>
            </a:solidFill>
            <a:ln w="9525">
              <a:solidFill>
                <a:srgbClr val="F0B8AE"/>
              </a:solidFill>
            </a:ln>
          </p:spPr>
        </p:sp>
        <p:grpSp>
          <p:nvGrpSpPr>
            <p:cNvPr id="111" name="Group 111"/>
            <p:cNvGrpSpPr/>
            <p:nvPr/>
          </p:nvGrpSpPr>
          <p:grpSpPr>
            <a:xfrm>
              <a:off x="4438650" y="5486400"/>
              <a:ext cx="76200" cy="114300"/>
              <a:chOff x="4438650" y="5486400"/>
              <a:chExt cx="76200" cy="114300"/>
            </a:xfrm>
          </p:grpSpPr>
          <p:sp>
            <p:nvSpPr>
              <p:cNvPr id="108" name="Freeform 108"/>
              <p:cNvSpPr/>
              <p:nvPr/>
            </p:nvSpPr>
            <p:spPr>
              <a:xfrm>
                <a:off x="4438650" y="548640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D82000"/>
                </a:solidFill>
              </a:ln>
            </p:spPr>
          </p:sp>
          <p:sp>
            <p:nvSpPr>
              <p:cNvPr id="109" name="Freeform 109"/>
              <p:cNvSpPr/>
              <p:nvPr/>
            </p:nvSpPr>
            <p:spPr>
              <a:xfrm>
                <a:off x="4470400" y="5492750"/>
                <a:ext cx="12700" cy="9525"/>
              </a:xfrm>
              <a:custGeom>
                <a:avLst/>
                <a:gdLst/>
                <a:ahLst/>
                <a:cxnLst/>
                <a:rect l="l" t="t" r="r" b="b"/>
                <a:pathLst>
                  <a:path w="12700" h="9525">
                    <a:moveTo>
                      <a:pt x="0" y="0"/>
                    </a:moveTo>
                    <a:lnTo>
                      <a:pt x="12700" y="0"/>
                    </a:lnTo>
                  </a:path>
                </a:pathLst>
              </a:custGeom>
              <a:noFill/>
              <a:ln w="12700">
                <a:solidFill>
                  <a:srgbClr val="D82000"/>
                </a:solidFill>
              </a:ln>
            </p:spPr>
          </p:sp>
          <p:sp>
            <p:nvSpPr>
              <p:cNvPr id="110" name="Freeform 110"/>
              <p:cNvSpPr/>
              <p:nvPr/>
            </p:nvSpPr>
            <p:spPr>
              <a:xfrm>
                <a:off x="4476750" y="5575300"/>
                <a:ext cx="9525" cy="9525"/>
              </a:xfrm>
              <a:custGeom>
                <a:avLst/>
                <a:gdLst/>
                <a:ahLst/>
                <a:cxnLst/>
                <a:rect l="l" t="t" r="r" b="b"/>
                <a:pathLst>
                  <a:path w="9525" h="9525">
                    <a:moveTo>
                      <a:pt x="0" y="0"/>
                    </a:moveTo>
                    <a:lnTo>
                      <a:pt x="0" y="64"/>
                    </a:lnTo>
                  </a:path>
                </a:pathLst>
              </a:custGeom>
              <a:noFill/>
              <a:ln w="12700">
                <a:solidFill>
                  <a:srgbClr val="D82000"/>
                </a:solidFill>
              </a:ln>
            </p:spPr>
          </p:sp>
        </p:grpSp>
        <p:sp>
          <p:nvSpPr>
            <p:cNvPr id="112" name="Ellipse 112"/>
            <p:cNvSpPr/>
            <p:nvPr/>
          </p:nvSpPr>
          <p:spPr>
            <a:xfrm>
              <a:off x="4400550" y="2800350"/>
              <a:ext cx="152400" cy="152400"/>
            </a:xfrm>
            <a:prstGeom prst="ellipse">
              <a:avLst/>
            </a:prstGeom>
            <a:solidFill>
              <a:srgbClr val="D82000"/>
            </a:solidFill>
            <a:ln>
              <a:noFill/>
            </a:ln>
          </p:spPr>
        </p:sp>
        <p:sp>
          <p:nvSpPr>
            <p:cNvPr id="113" name="TextBox 113"/>
            <p:cNvSpPr txBox="1"/>
            <p:nvPr/>
          </p:nvSpPr>
          <p:spPr>
            <a:xfrm>
              <a:off x="4392690" y="283702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​5​</a:t>
              </a:r>
            </a:p>
          </p:txBody>
        </p:sp>
        <p:sp>
          <p:nvSpPr>
            <p:cNvPr id="114" name="TextBox 114"/>
            <p:cNvSpPr txBox="1"/>
            <p:nvPr/>
          </p:nvSpPr>
          <p:spPr>
            <a:xfrm>
              <a:off x="4586288" y="2825591"/>
              <a:ext cx="451079" cy="161925"/>
            </a:xfrm>
            <a:prstGeom prst="rect">
              <a:avLst/>
            </a:prstGeom>
            <a:noFill/>
            <a:ln>
              <a:noFill/>
            </a:ln>
          </p:spPr>
          <p:txBody>
            <a:bodyPr wrap="none" lIns="0" tIns="0" rIns="0" bIns="0" anchor="t" anchorCtr="0">
              <a:spAutoFit/>
            </a:bodyPr>
            <a:lstStyle/>
            <a:p>
              <a:pPr algn="l"/>
              <a:r>
                <a:rPr lang="zh-CN" sz="820" b="1" dirty="0">
                  <a:solidFill>
                    <a:srgbClr val="4A130A"/>
                  </a:solidFill>
                  <a:latin typeface="+mn-lt"/>
                  <a:ea typeface="+mn-ea"/>
                  <a:cs typeface="+mn-cs"/>
                </a:rPr>
                <a:t>评估结果</a:t>
              </a:r>
            </a:p>
          </p:txBody>
        </p:sp>
        <p:sp>
          <p:nvSpPr>
            <p:cNvPr id="115" name="TextBox 115"/>
            <p:cNvSpPr txBox="1"/>
            <p:nvPr/>
          </p:nvSpPr>
          <p:spPr>
            <a:xfrm>
              <a:off x="4032292" y="3002280"/>
              <a:ext cx="888917" cy="119062"/>
            </a:xfrm>
            <a:prstGeom prst="rect">
              <a:avLst/>
            </a:prstGeom>
            <a:noFill/>
            <a:ln>
              <a:noFill/>
            </a:ln>
          </p:spPr>
          <p:txBody>
            <a:bodyPr wrap="none" lIns="0" tIns="0" rIns="0" bIns="0" anchor="t" anchorCtr="0">
              <a:spAutoFit/>
            </a:bodyPr>
            <a:lstStyle/>
            <a:p>
              <a:pPr algn="ctr"/>
              <a:r>
                <a:rPr lang="en-US" sz="600" dirty="0">
                  <a:solidFill>
                    <a:srgbClr val="7A716B"/>
                  </a:solidFill>
                  <a:latin typeface="+mn-lt"/>
                  <a:ea typeface="+mn-ea"/>
                  <a:cs typeface="+mn-cs"/>
                </a:rPr>
                <a:t>​​Measure Outcome​​</a:t>
              </a:r>
            </a:p>
          </p:txBody>
        </p:sp>
        <p:sp>
          <p:nvSpPr>
            <p:cNvPr id="116" name="TextBox 116"/>
            <p:cNvSpPr txBox="1"/>
            <p:nvPr/>
          </p:nvSpPr>
          <p:spPr>
            <a:xfrm>
              <a:off x="3881374" y="3133011"/>
              <a:ext cx="1190752"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7A716B"/>
                  </a:solidFill>
                  <a:latin typeface="+mn-lt"/>
                  <a:ea typeface="+mn-ea"/>
                  <a:cs typeface="+mn-cs"/>
                </a:rPr>
                <a:t>​度量旅程效果与客户反馈、​</a:t>
              </a:r>
              <a:br/>
              <a:r>
                <a:rPr lang="zh-CN" sz="710" dirty="0">
                  <a:solidFill>
                    <a:srgbClr val="7A716B"/>
                  </a:solidFill>
                  <a:latin typeface="+mn-lt"/>
                  <a:ea typeface="+mn-ea"/>
                  <a:cs typeface="+mn-cs"/>
                </a:rPr>
                <a:t>​沉淀数据资产转化​</a:t>
              </a:r>
            </a:p>
          </p:txBody>
        </p:sp>
        <p:sp>
          <p:nvSpPr>
            <p:cNvPr id="117" name="Ellipse 117"/>
            <p:cNvSpPr/>
            <p:nvPr/>
          </p:nvSpPr>
          <p:spPr>
            <a:xfrm>
              <a:off x="4333875" y="3438525"/>
              <a:ext cx="285750" cy="285750"/>
            </a:xfrm>
            <a:prstGeom prst="ellipse">
              <a:avLst/>
            </a:prstGeom>
            <a:solidFill>
              <a:srgbClr val="FFF8F2"/>
            </a:solidFill>
            <a:ln w="9525">
              <a:solidFill>
                <a:srgbClr val="F0B8AE"/>
              </a:solidFill>
            </a:ln>
          </p:spPr>
        </p:sp>
        <p:grpSp>
          <p:nvGrpSpPr>
            <p:cNvPr id="122" name="Group 122"/>
            <p:cNvGrpSpPr/>
            <p:nvPr/>
          </p:nvGrpSpPr>
          <p:grpSpPr>
            <a:xfrm>
              <a:off x="4419600" y="3530600"/>
              <a:ext cx="114300" cy="111125"/>
              <a:chOff x="4419600" y="3530600"/>
              <a:chExt cx="114300" cy="111125"/>
            </a:xfrm>
          </p:grpSpPr>
          <p:sp>
            <p:nvSpPr>
              <p:cNvPr id="118" name="Freeform 118"/>
              <p:cNvSpPr/>
              <p:nvPr/>
            </p:nvSpPr>
            <p:spPr>
              <a:xfrm>
                <a:off x="4419600" y="35814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D82000"/>
                </a:solidFill>
              </a:ln>
            </p:spPr>
          </p:sp>
          <p:sp>
            <p:nvSpPr>
              <p:cNvPr id="119" name="Freeform 119"/>
              <p:cNvSpPr/>
              <p:nvPr/>
            </p:nvSpPr>
            <p:spPr>
              <a:xfrm>
                <a:off x="4495800" y="35560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D82000"/>
                </a:solidFill>
              </a:ln>
            </p:spPr>
          </p:sp>
          <p:sp>
            <p:nvSpPr>
              <p:cNvPr id="120" name="Freeform 120"/>
              <p:cNvSpPr/>
              <p:nvPr/>
            </p:nvSpPr>
            <p:spPr>
              <a:xfrm>
                <a:off x="4457700" y="35306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D82000"/>
                </a:solidFill>
              </a:ln>
            </p:spPr>
          </p:sp>
          <p:sp>
            <p:nvSpPr>
              <p:cNvPr id="121" name="Freeform 121"/>
              <p:cNvSpPr/>
              <p:nvPr/>
            </p:nvSpPr>
            <p:spPr>
              <a:xfrm>
                <a:off x="4425950" y="3632200"/>
                <a:ext cx="88900" cy="9525"/>
              </a:xfrm>
              <a:custGeom>
                <a:avLst/>
                <a:gdLst/>
                <a:ahLst/>
                <a:cxnLst/>
                <a:rect l="l" t="t" r="r" b="b"/>
                <a:pathLst>
                  <a:path w="88900" h="9525">
                    <a:moveTo>
                      <a:pt x="0" y="0"/>
                    </a:moveTo>
                    <a:lnTo>
                      <a:pt x="88900" y="0"/>
                    </a:lnTo>
                  </a:path>
                </a:pathLst>
              </a:custGeom>
              <a:noFill/>
              <a:ln w="12700">
                <a:solidFill>
                  <a:srgbClr val="D82000"/>
                </a:solidFill>
              </a:ln>
            </p:spPr>
          </p:sp>
        </p:grpSp>
      </p:grpSp>
      <p:grpSp>
        <p:nvGrpSpPr>
          <p:cNvPr id="204" name="journey-raci"/>
          <p:cNvGrpSpPr/>
          <p:nvPr/>
        </p:nvGrpSpPr>
        <p:grpSpPr>
          <a:xfrm>
            <a:off x="7315200" y="685800"/>
            <a:ext cx="4495800" cy="5943600"/>
            <a:chOff x="7315200" y="685800"/>
            <a:chExt cx="4495800" cy="5943600"/>
          </a:xfrm>
        </p:grpSpPr>
        <p:sp>
          <p:nvSpPr>
            <p:cNvPr id="124" name="Rectangle 124"/>
            <p:cNvSpPr/>
            <p:nvPr/>
          </p:nvSpPr>
          <p:spPr>
            <a:xfrm>
              <a:off x="7315200" y="685800"/>
              <a:ext cx="4495800" cy="247650"/>
            </a:xfrm>
            <a:prstGeom prst="roundRect">
              <a:avLst>
                <a:gd name="adj" fmla="val 11538"/>
              </a:avLst>
            </a:prstGeom>
            <a:solidFill>
              <a:srgbClr val="C41D00"/>
            </a:solidFill>
            <a:ln>
              <a:noFill/>
            </a:ln>
          </p:spPr>
        </p:sp>
        <p:sp>
          <p:nvSpPr>
            <p:cNvPr id="125" name="TextBox 125"/>
            <p:cNvSpPr txBox="1"/>
            <p:nvPr/>
          </p:nvSpPr>
          <p:spPr>
            <a:xfrm>
              <a:off x="8915816" y="756047"/>
              <a:ext cx="129456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​旅程责任与指标体系​</a:t>
              </a:r>
            </a:p>
          </p:txBody>
        </p:sp>
        <p:sp>
          <p:nvSpPr>
            <p:cNvPr id="126" name="Rectangle 126"/>
            <p:cNvSpPr/>
            <p:nvPr/>
          </p:nvSpPr>
          <p:spPr>
            <a:xfrm>
              <a:off x="7315200" y="990600"/>
              <a:ext cx="4495800" cy="228600"/>
            </a:xfrm>
            <a:prstGeom prst="rect">
              <a:avLst/>
            </a:prstGeom>
            <a:solidFill>
              <a:srgbClr val="C41D00"/>
            </a:solidFill>
            <a:ln>
              <a:noFill/>
            </a:ln>
          </p:spPr>
        </p:sp>
        <p:sp>
          <p:nvSpPr>
            <p:cNvPr id="127" name="TextBox 127"/>
            <p:cNvSpPr txBox="1"/>
            <p:nvPr/>
          </p:nvSpPr>
          <p:spPr>
            <a:xfrm>
              <a:off x="7605382" y="106608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旅程</a:t>
              </a:r>
            </a:p>
          </p:txBody>
        </p:sp>
        <p:sp>
          <p:nvSpPr>
            <p:cNvPr id="128" name="TextBox 128"/>
            <p:cNvSpPr txBox="1"/>
            <p:nvPr/>
          </p:nvSpPr>
          <p:spPr>
            <a:xfrm>
              <a:off x="8186203" y="1008936"/>
              <a:ext cx="696395" cy="235744"/>
            </a:xfrm>
            <a:prstGeom prst="rect">
              <a:avLst/>
            </a:prstGeom>
            <a:noFill/>
            <a:ln>
              <a:noFill/>
            </a:ln>
          </p:spPr>
          <p:txBody>
            <a:bodyPr wrap="none" lIns="0" tIns="0" rIns="0" bIns="0" anchor="t" anchorCtr="0">
              <a:spAutoFit/>
            </a:bodyPr>
            <a:lstStyle/>
            <a:p>
              <a:pPr algn="ctr">
                <a:lnSpc>
                  <a:spcPts val="750"/>
                </a:lnSpc>
              </a:pPr>
              <a:r>
                <a:rPr lang="zh-CN" sz="710" b="1" dirty="0">
                  <a:solidFill>
                    <a:srgbClr val="FFFFFF"/>
                  </a:solidFill>
                  <a:latin typeface="+mn-lt"/>
                  <a:ea typeface="+mn-ea"/>
                  <a:cs typeface="+mn-cs"/>
                </a:rPr>
                <a:t>旅程负责人</a:t>
              </a:r>
              <a:br/>
              <a:r>
                <a:rPr lang="zh-CN" sz="710" b="1" dirty="0">
                  <a:solidFill>
                    <a:srgbClr val="FFFFFF"/>
                  </a:solidFill>
                  <a:latin typeface="+mn-lt"/>
                  <a:ea typeface="+mn-ea"/>
                  <a:cs typeface="+mn-cs"/>
                </a:rPr>
                <a:t>​​（Owner）​​</a:t>
              </a:r>
            </a:p>
          </p:txBody>
        </p:sp>
        <p:sp>
          <p:nvSpPr>
            <p:cNvPr id="129" name="TextBox 129"/>
            <p:cNvSpPr txBox="1"/>
            <p:nvPr/>
          </p:nvSpPr>
          <p:spPr>
            <a:xfrm>
              <a:off x="9083354" y="1008936"/>
              <a:ext cx="654691" cy="235744"/>
            </a:xfrm>
            <a:prstGeom prst="rect">
              <a:avLst/>
            </a:prstGeom>
            <a:noFill/>
            <a:ln>
              <a:noFill/>
            </a:ln>
          </p:spPr>
          <p:txBody>
            <a:bodyPr wrap="none" lIns="0" tIns="0" rIns="0" bIns="0" anchor="t" anchorCtr="0">
              <a:spAutoFit/>
            </a:bodyPr>
            <a:lstStyle/>
            <a:p>
              <a:pPr algn="ctr">
                <a:lnSpc>
                  <a:spcPts val="750"/>
                </a:lnSpc>
              </a:pPr>
              <a:r>
                <a:rPr lang="en-US" sz="710" b="1" dirty="0">
                  <a:solidFill>
                    <a:srgbClr val="FFFFFF"/>
                  </a:solidFill>
                  <a:latin typeface="+mn-lt"/>
                  <a:ea typeface="+mn-ea"/>
                  <a:cs typeface="+mn-cs"/>
                </a:rPr>
                <a:t>​SLA​</a:t>
              </a:r>
              <a:br/>
              <a:r>
                <a:rPr lang="zh-CN" sz="710" b="1" dirty="0">
                  <a:solidFill>
                    <a:srgbClr val="FFFFFF"/>
                  </a:solidFill>
                  <a:latin typeface="+mn-lt"/>
                  <a:ea typeface="+mn-ea"/>
                  <a:cs typeface="+mn-cs"/>
                </a:rPr>
                <a:t>​（目标时效）​</a:t>
              </a:r>
            </a:p>
          </p:txBody>
        </p:sp>
        <p:sp>
          <p:nvSpPr>
            <p:cNvPr id="130" name="TextBox 130"/>
            <p:cNvSpPr txBox="1"/>
            <p:nvPr/>
          </p:nvSpPr>
          <p:spPr>
            <a:xfrm>
              <a:off x="10065585" y="1066086"/>
              <a:ext cx="576180"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​​核心KPI​​</a:t>
              </a:r>
            </a:p>
          </p:txBody>
        </p:sp>
        <p:sp>
          <p:nvSpPr>
            <p:cNvPr id="131" name="TextBox 131"/>
            <p:cNvSpPr txBox="1"/>
            <p:nvPr/>
          </p:nvSpPr>
          <p:spPr>
            <a:xfrm>
              <a:off x="10988049" y="1066086"/>
              <a:ext cx="693401"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​数据触发条件​</a:t>
              </a:r>
            </a:p>
          </p:txBody>
        </p:sp>
        <p:sp>
          <p:nvSpPr>
            <p:cNvPr id="132" name="Rectangle 132"/>
            <p:cNvSpPr/>
            <p:nvPr/>
          </p:nvSpPr>
          <p:spPr>
            <a:xfrm>
              <a:off x="7315200" y="1219200"/>
              <a:ext cx="4495800" cy="5410200"/>
            </a:xfrm>
            <a:prstGeom prst="rect">
              <a:avLst/>
            </a:prstGeom>
            <a:solidFill>
              <a:srgbClr val="FFFFFF"/>
            </a:solidFill>
            <a:ln w="9525">
              <a:solidFill>
                <a:srgbClr val="F0B8AE"/>
              </a:solidFill>
            </a:ln>
          </p:spPr>
        </p:sp>
        <p:sp>
          <p:nvSpPr>
            <p:cNvPr id="133" name="Rectangle 133"/>
            <p:cNvSpPr/>
            <p:nvPr/>
          </p:nvSpPr>
          <p:spPr>
            <a:xfrm>
              <a:off x="7315200" y="1895475"/>
              <a:ext cx="4495800" cy="676275"/>
            </a:xfrm>
            <a:prstGeom prst="rect">
              <a:avLst/>
            </a:prstGeom>
            <a:solidFill>
              <a:srgbClr val="FFF8F2"/>
            </a:solidFill>
            <a:ln>
              <a:noFill/>
            </a:ln>
          </p:spPr>
        </p:sp>
        <p:sp>
          <p:nvSpPr>
            <p:cNvPr id="134" name="Rectangle 134"/>
            <p:cNvSpPr/>
            <p:nvPr/>
          </p:nvSpPr>
          <p:spPr>
            <a:xfrm>
              <a:off x="7315200" y="3248025"/>
              <a:ext cx="4495800" cy="676275"/>
            </a:xfrm>
            <a:prstGeom prst="rect">
              <a:avLst/>
            </a:prstGeom>
            <a:solidFill>
              <a:srgbClr val="FFF8F2"/>
            </a:solidFill>
            <a:ln>
              <a:noFill/>
            </a:ln>
          </p:spPr>
        </p:sp>
        <p:sp>
          <p:nvSpPr>
            <p:cNvPr id="135" name="Rectangle 135"/>
            <p:cNvSpPr/>
            <p:nvPr/>
          </p:nvSpPr>
          <p:spPr>
            <a:xfrm>
              <a:off x="7315200" y="4600575"/>
              <a:ext cx="4495800" cy="676275"/>
            </a:xfrm>
            <a:prstGeom prst="rect">
              <a:avLst/>
            </a:prstGeom>
            <a:solidFill>
              <a:srgbClr val="FFF8F2"/>
            </a:solidFill>
            <a:ln>
              <a:noFill/>
            </a:ln>
          </p:spPr>
        </p:sp>
        <p:sp>
          <p:nvSpPr>
            <p:cNvPr id="136" name="Rectangle 136"/>
            <p:cNvSpPr/>
            <p:nvPr/>
          </p:nvSpPr>
          <p:spPr>
            <a:xfrm>
              <a:off x="7315200" y="5953125"/>
              <a:ext cx="4495800" cy="676275"/>
            </a:xfrm>
            <a:prstGeom prst="rect">
              <a:avLst/>
            </a:prstGeom>
            <a:solidFill>
              <a:srgbClr val="FFF8F2"/>
            </a:solidFill>
            <a:ln>
              <a:noFill/>
            </a:ln>
          </p:spPr>
        </p:sp>
        <p:sp>
          <p:nvSpPr>
            <p:cNvPr id="137" name="Ellipse 137"/>
            <p:cNvSpPr/>
            <p:nvPr/>
          </p:nvSpPr>
          <p:spPr>
            <a:xfrm>
              <a:off x="7400925" y="1495425"/>
              <a:ext cx="171450" cy="171450"/>
            </a:xfrm>
            <a:prstGeom prst="ellipse">
              <a:avLst/>
            </a:prstGeom>
            <a:solidFill>
              <a:srgbClr val="D82000"/>
            </a:solidFill>
            <a:ln>
              <a:noFill/>
            </a:ln>
          </p:spPr>
        </p:sp>
        <p:sp>
          <p:nvSpPr>
            <p:cNvPr id="138" name="TextBox 138"/>
            <p:cNvSpPr txBox="1"/>
            <p:nvPr/>
          </p:nvSpPr>
          <p:spPr>
            <a:xfrm>
              <a:off x="7394427" y="15382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139" name="TextBox 139"/>
            <p:cNvSpPr txBox="1"/>
            <p:nvPr/>
          </p:nvSpPr>
          <p:spPr>
            <a:xfrm>
              <a:off x="7615238" y="1534239"/>
              <a:ext cx="222225"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开户</a:t>
              </a:r>
            </a:p>
          </p:txBody>
        </p:sp>
        <p:sp>
          <p:nvSpPr>
            <p:cNvPr id="140" name="TextBox 140"/>
            <p:cNvSpPr txBox="1"/>
            <p:nvPr/>
          </p:nvSpPr>
          <p:spPr>
            <a:xfrm>
              <a:off x="8290687" y="1542336"/>
              <a:ext cx="48742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零售银行部</a:t>
              </a:r>
            </a:p>
          </p:txBody>
        </p:sp>
        <p:sp>
          <p:nvSpPr>
            <p:cNvPr id="141" name="TextBox 141"/>
            <p:cNvSpPr txBox="1"/>
            <p:nvPr/>
          </p:nvSpPr>
          <p:spPr>
            <a:xfrm>
              <a:off x="9126410" y="1475661"/>
              <a:ext cx="568579" cy="273844"/>
            </a:xfrm>
            <a:prstGeom prst="rect">
              <a:avLst/>
            </a:prstGeom>
            <a:noFill/>
            <a:ln>
              <a:noFill/>
            </a:ln>
          </p:spPr>
          <p:txBody>
            <a:bodyPr wrap="none" lIns="0" tIns="0" rIns="0" bIns="0" anchor="t" anchorCtr="0">
              <a:spAutoFit/>
            </a:bodyPr>
            <a:lstStyle/>
            <a:p>
              <a:pPr algn="ctr">
                <a:lnSpc>
                  <a:spcPts val="1050"/>
                </a:lnSpc>
              </a:pPr>
              <a:r>
                <a:rPr lang="en-US" sz="710" b="1" dirty="0">
                  <a:solidFill>
                    <a:srgbClr val="C41D00"/>
                  </a:solidFill>
                  <a:latin typeface="+mn-lt"/>
                  <a:ea typeface="+mn-ea"/>
                  <a:cs typeface="+mn-cs"/>
                </a:rPr>
                <a:t>​T+0​</a:t>
              </a:r>
              <a:br/>
              <a:r>
                <a:rPr lang="zh-CN" sz="710" dirty="0">
                  <a:solidFill>
                    <a:srgbClr val="3D3835"/>
                  </a:solidFill>
                  <a:latin typeface="+mn-lt"/>
                  <a:ea typeface="+mn-ea"/>
                  <a:cs typeface="+mn-cs"/>
                </a:rPr>
                <a:t>​（10分钟）​</a:t>
              </a:r>
            </a:p>
          </p:txBody>
        </p:sp>
        <p:sp>
          <p:nvSpPr>
            <p:cNvPr id="142" name="TextBox 142"/>
            <p:cNvSpPr txBox="1"/>
            <p:nvPr/>
          </p:nvSpPr>
          <p:spPr>
            <a:xfrm>
              <a:off x="9983724" y="1475661"/>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​开户转化率、​</a:t>
              </a:r>
              <a:br/>
              <a:r>
                <a:rPr lang="zh-CN" sz="710" dirty="0">
                  <a:solidFill>
                    <a:srgbClr val="3D3835"/>
                  </a:solidFill>
                  <a:latin typeface="+mn-lt"/>
                  <a:ea typeface="+mn-ea"/>
                  <a:cs typeface="+mn-cs"/>
                </a:rPr>
                <a:t>​资料一次通过率​</a:t>
              </a:r>
            </a:p>
          </p:txBody>
        </p:sp>
        <p:sp>
          <p:nvSpPr>
            <p:cNvPr id="143" name="TextBox 143"/>
            <p:cNvSpPr txBox="1"/>
            <p:nvPr/>
          </p:nvSpPr>
          <p:spPr>
            <a:xfrm>
              <a:off x="11009884" y="1475661"/>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新客注册、</a:t>
              </a:r>
              <a:br/>
              <a:r>
                <a:rPr lang="zh-CN" sz="710" dirty="0">
                  <a:solidFill>
                    <a:srgbClr val="3D3835"/>
                  </a:solidFill>
                  <a:latin typeface="+mn-lt"/>
                  <a:ea typeface="+mn-ea"/>
                  <a:cs typeface="+mn-cs"/>
                </a:rPr>
                <a:t>​身份核验通过​</a:t>
              </a:r>
            </a:p>
          </p:txBody>
        </p:sp>
        <p:sp>
          <p:nvSpPr>
            <p:cNvPr id="144" name="Ellipse 144"/>
            <p:cNvSpPr/>
            <p:nvPr/>
          </p:nvSpPr>
          <p:spPr>
            <a:xfrm>
              <a:off x="7400925" y="2171700"/>
              <a:ext cx="171450" cy="171450"/>
            </a:xfrm>
            <a:prstGeom prst="ellipse">
              <a:avLst/>
            </a:prstGeom>
            <a:solidFill>
              <a:srgbClr val="D82000"/>
            </a:solidFill>
            <a:ln>
              <a:noFill/>
            </a:ln>
          </p:spPr>
        </p:sp>
        <p:sp>
          <p:nvSpPr>
            <p:cNvPr id="145" name="TextBox 145"/>
            <p:cNvSpPr txBox="1"/>
            <p:nvPr/>
          </p:nvSpPr>
          <p:spPr>
            <a:xfrm>
              <a:off x="7394427" y="2214562"/>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146" name="TextBox 146"/>
            <p:cNvSpPr txBox="1"/>
            <p:nvPr/>
          </p:nvSpPr>
          <p:spPr>
            <a:xfrm>
              <a:off x="7615238" y="221051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工资代发</a:t>
              </a:r>
            </a:p>
          </p:txBody>
        </p:sp>
        <p:sp>
          <p:nvSpPr>
            <p:cNvPr id="147" name="TextBox 147"/>
            <p:cNvSpPr txBox="1"/>
            <p:nvPr/>
          </p:nvSpPr>
          <p:spPr>
            <a:xfrm>
              <a:off x="8290687" y="2218611"/>
              <a:ext cx="48742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对公业务部</a:t>
              </a:r>
            </a:p>
          </p:txBody>
        </p:sp>
        <p:sp>
          <p:nvSpPr>
            <p:cNvPr id="148" name="TextBox 148"/>
            <p:cNvSpPr txBox="1"/>
            <p:nvPr/>
          </p:nvSpPr>
          <p:spPr>
            <a:xfrm>
              <a:off x="9061037" y="2151936"/>
              <a:ext cx="699326" cy="273844"/>
            </a:xfrm>
            <a:prstGeom prst="rect">
              <a:avLst/>
            </a:prstGeom>
            <a:noFill/>
            <a:ln>
              <a:noFill/>
            </a:ln>
          </p:spPr>
          <p:txBody>
            <a:bodyPr wrap="none" lIns="0" tIns="0" rIns="0" bIns="0" anchor="t" anchorCtr="0">
              <a:spAutoFit/>
            </a:bodyPr>
            <a:lstStyle/>
            <a:p>
              <a:pPr algn="ctr">
                <a:lnSpc>
                  <a:spcPts val="1050"/>
                </a:lnSpc>
              </a:pPr>
              <a:r>
                <a:rPr lang="en-US" sz="710" b="1" dirty="0">
                  <a:solidFill>
                    <a:srgbClr val="C41D00"/>
                  </a:solidFill>
                  <a:latin typeface="+mn-lt"/>
                  <a:ea typeface="+mn-ea"/>
                  <a:cs typeface="+mn-cs"/>
                </a:rPr>
                <a:t>​T+1​</a:t>
              </a:r>
              <a:br/>
              <a:r>
                <a:rPr lang="zh-CN" sz="710" dirty="0">
                  <a:solidFill>
                    <a:srgbClr val="3D3835"/>
                  </a:solidFill>
                  <a:latin typeface="+mn-lt"/>
                  <a:ea typeface="+mn-ea"/>
                  <a:cs typeface="+mn-cs"/>
                </a:rPr>
                <a:t>​（1个工作日）​</a:t>
              </a:r>
            </a:p>
          </p:txBody>
        </p:sp>
        <p:sp>
          <p:nvSpPr>
            <p:cNvPr id="149" name="TextBox 149"/>
            <p:cNvSpPr txBox="1"/>
            <p:nvPr/>
          </p:nvSpPr>
          <p:spPr>
            <a:xfrm>
              <a:off x="10028809" y="215193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​代发覆盖率、​</a:t>
              </a:r>
              <a:br/>
              <a:r>
                <a:rPr lang="zh-CN" sz="710" dirty="0">
                  <a:solidFill>
                    <a:srgbClr val="3D3835"/>
                  </a:solidFill>
                  <a:latin typeface="+mn-lt"/>
                  <a:ea typeface="+mn-ea"/>
                  <a:cs typeface="+mn-cs"/>
                </a:rPr>
                <a:t>客户活跃率</a:t>
              </a:r>
            </a:p>
          </p:txBody>
        </p:sp>
        <p:sp>
          <p:nvSpPr>
            <p:cNvPr id="150" name="TextBox 150"/>
            <p:cNvSpPr txBox="1"/>
            <p:nvPr/>
          </p:nvSpPr>
          <p:spPr>
            <a:xfrm>
              <a:off x="10964799" y="2151936"/>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​企业代发签约、​</a:t>
              </a:r>
              <a:br/>
              <a:r>
                <a:rPr lang="zh-CN" sz="710" dirty="0">
                  <a:solidFill>
                    <a:srgbClr val="3D3835"/>
                  </a:solidFill>
                  <a:latin typeface="+mn-lt"/>
                  <a:ea typeface="+mn-ea"/>
                  <a:cs typeface="+mn-cs"/>
                </a:rPr>
                <a:t>​首笔代发入账​</a:t>
              </a:r>
            </a:p>
          </p:txBody>
        </p:sp>
        <p:sp>
          <p:nvSpPr>
            <p:cNvPr id="151" name="Ellipse 151"/>
            <p:cNvSpPr/>
            <p:nvPr/>
          </p:nvSpPr>
          <p:spPr>
            <a:xfrm>
              <a:off x="7400925" y="2847975"/>
              <a:ext cx="171450" cy="171450"/>
            </a:xfrm>
            <a:prstGeom prst="ellipse">
              <a:avLst/>
            </a:prstGeom>
            <a:solidFill>
              <a:srgbClr val="D82000"/>
            </a:solidFill>
            <a:ln>
              <a:noFill/>
            </a:ln>
          </p:spPr>
        </p:sp>
        <p:sp>
          <p:nvSpPr>
            <p:cNvPr id="152" name="TextBox 152"/>
            <p:cNvSpPr txBox="1"/>
            <p:nvPr/>
          </p:nvSpPr>
          <p:spPr>
            <a:xfrm>
              <a:off x="7394427" y="28908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153" name="TextBox 153"/>
            <p:cNvSpPr txBox="1"/>
            <p:nvPr/>
          </p:nvSpPr>
          <p:spPr>
            <a:xfrm>
              <a:off x="7615238" y="2886789"/>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首笔理财</a:t>
              </a:r>
            </a:p>
          </p:txBody>
        </p:sp>
        <p:sp>
          <p:nvSpPr>
            <p:cNvPr id="154" name="TextBox 154"/>
            <p:cNvSpPr txBox="1"/>
            <p:nvPr/>
          </p:nvSpPr>
          <p:spPr>
            <a:xfrm>
              <a:off x="8290687" y="2894886"/>
              <a:ext cx="48742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财富管理部</a:t>
              </a:r>
            </a:p>
          </p:txBody>
        </p:sp>
        <p:sp>
          <p:nvSpPr>
            <p:cNvPr id="155" name="TextBox 155"/>
            <p:cNvSpPr txBox="1"/>
            <p:nvPr/>
          </p:nvSpPr>
          <p:spPr>
            <a:xfrm>
              <a:off x="9126410" y="2828211"/>
              <a:ext cx="568579" cy="273844"/>
            </a:xfrm>
            <a:prstGeom prst="rect">
              <a:avLst/>
            </a:prstGeom>
            <a:noFill/>
            <a:ln>
              <a:noFill/>
            </a:ln>
          </p:spPr>
          <p:txBody>
            <a:bodyPr wrap="none" lIns="0" tIns="0" rIns="0" bIns="0" anchor="t" anchorCtr="0">
              <a:spAutoFit/>
            </a:bodyPr>
            <a:lstStyle/>
            <a:p>
              <a:pPr algn="ctr">
                <a:lnSpc>
                  <a:spcPts val="1050"/>
                </a:lnSpc>
              </a:pPr>
              <a:r>
                <a:rPr lang="en-US" sz="710" b="1" dirty="0">
                  <a:solidFill>
                    <a:srgbClr val="C41D00"/>
                  </a:solidFill>
                  <a:latin typeface="+mn-lt"/>
                  <a:ea typeface="+mn-ea"/>
                  <a:cs typeface="+mn-cs"/>
                </a:rPr>
                <a:t>​T+0​</a:t>
              </a:r>
              <a:br/>
              <a:r>
                <a:rPr lang="zh-CN" sz="710" dirty="0">
                  <a:solidFill>
                    <a:srgbClr val="3D3835"/>
                  </a:solidFill>
                  <a:latin typeface="+mn-lt"/>
                  <a:ea typeface="+mn-ea"/>
                  <a:cs typeface="+mn-cs"/>
                </a:rPr>
                <a:t>​（30分钟）​</a:t>
              </a:r>
            </a:p>
          </p:txBody>
        </p:sp>
        <p:sp>
          <p:nvSpPr>
            <p:cNvPr id="156" name="TextBox 156"/>
            <p:cNvSpPr txBox="1"/>
            <p:nvPr/>
          </p:nvSpPr>
          <p:spPr>
            <a:xfrm>
              <a:off x="10028809" y="2828211"/>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​咨询转化率、​</a:t>
              </a:r>
              <a:br/>
              <a:r>
                <a:rPr lang="zh-CN" sz="710" dirty="0">
                  <a:solidFill>
                    <a:srgbClr val="3D3835"/>
                  </a:solidFill>
                  <a:latin typeface="+mn-lt"/>
                  <a:ea typeface="+mn-ea"/>
                  <a:cs typeface="+mn-cs"/>
                </a:rPr>
                <a:t>持有留存率</a:t>
              </a:r>
            </a:p>
          </p:txBody>
        </p:sp>
        <p:sp>
          <p:nvSpPr>
            <p:cNvPr id="157" name="TextBox 157"/>
            <p:cNvSpPr txBox="1"/>
            <p:nvPr/>
          </p:nvSpPr>
          <p:spPr>
            <a:xfrm>
              <a:off x="10964799" y="2828211"/>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​风险评估完成、​</a:t>
              </a:r>
              <a:br/>
              <a:r>
                <a:rPr lang="zh-CN" sz="710" dirty="0">
                  <a:solidFill>
                    <a:srgbClr val="3D3835"/>
                  </a:solidFill>
                  <a:latin typeface="+mn-lt"/>
                  <a:ea typeface="+mn-ea"/>
                  <a:cs typeface="+mn-cs"/>
                </a:rPr>
                <a:t>​账户有可投资金​</a:t>
              </a:r>
            </a:p>
          </p:txBody>
        </p:sp>
        <p:sp>
          <p:nvSpPr>
            <p:cNvPr id="158" name="Ellipse 158"/>
            <p:cNvSpPr/>
            <p:nvPr/>
          </p:nvSpPr>
          <p:spPr>
            <a:xfrm>
              <a:off x="7400925" y="3524250"/>
              <a:ext cx="171450" cy="171450"/>
            </a:xfrm>
            <a:prstGeom prst="ellipse">
              <a:avLst/>
            </a:prstGeom>
            <a:solidFill>
              <a:srgbClr val="D82000"/>
            </a:solidFill>
            <a:ln>
              <a:noFill/>
            </a:ln>
          </p:spPr>
        </p:sp>
        <p:sp>
          <p:nvSpPr>
            <p:cNvPr id="159" name="TextBox 159"/>
            <p:cNvSpPr txBox="1"/>
            <p:nvPr/>
          </p:nvSpPr>
          <p:spPr>
            <a:xfrm>
              <a:off x="7394427" y="3567112"/>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60" name="TextBox 160"/>
            <p:cNvSpPr txBox="1"/>
            <p:nvPr/>
          </p:nvSpPr>
          <p:spPr>
            <a:xfrm>
              <a:off x="7615238" y="3563064"/>
              <a:ext cx="54127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信用卡首刷</a:t>
              </a:r>
            </a:p>
          </p:txBody>
        </p:sp>
        <p:sp>
          <p:nvSpPr>
            <p:cNvPr id="161" name="TextBox 161"/>
            <p:cNvSpPr txBox="1"/>
            <p:nvPr/>
          </p:nvSpPr>
          <p:spPr>
            <a:xfrm>
              <a:off x="8290687" y="3571161"/>
              <a:ext cx="48742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信用卡中心</a:t>
              </a:r>
            </a:p>
          </p:txBody>
        </p:sp>
        <p:sp>
          <p:nvSpPr>
            <p:cNvPr id="162" name="TextBox 162"/>
            <p:cNvSpPr txBox="1"/>
            <p:nvPr/>
          </p:nvSpPr>
          <p:spPr>
            <a:xfrm>
              <a:off x="9196292" y="3504486"/>
              <a:ext cx="428816" cy="273844"/>
            </a:xfrm>
            <a:prstGeom prst="rect">
              <a:avLst/>
            </a:prstGeom>
            <a:noFill/>
            <a:ln>
              <a:noFill/>
            </a:ln>
          </p:spPr>
          <p:txBody>
            <a:bodyPr wrap="none" lIns="0" tIns="0" rIns="0" bIns="0" anchor="t" anchorCtr="0">
              <a:spAutoFit/>
            </a:bodyPr>
            <a:lstStyle/>
            <a:p>
              <a:pPr algn="ctr">
                <a:lnSpc>
                  <a:spcPts val="1050"/>
                </a:lnSpc>
              </a:pPr>
              <a:r>
                <a:rPr lang="en-US" sz="710" b="1" dirty="0">
                  <a:solidFill>
                    <a:srgbClr val="C41D00"/>
                  </a:solidFill>
                  <a:latin typeface="+mn-lt"/>
                  <a:ea typeface="+mn-ea"/>
                  <a:cs typeface="+mn-cs"/>
                </a:rPr>
                <a:t>​T+7​</a:t>
              </a:r>
              <a:br/>
              <a:r>
                <a:rPr lang="zh-CN" sz="710" dirty="0">
                  <a:solidFill>
                    <a:srgbClr val="3D3835"/>
                  </a:solidFill>
                  <a:latin typeface="+mn-lt"/>
                  <a:ea typeface="+mn-ea"/>
                  <a:cs typeface="+mn-cs"/>
                </a:rPr>
                <a:t>​（7天）​</a:t>
              </a:r>
            </a:p>
          </p:txBody>
        </p:sp>
        <p:sp>
          <p:nvSpPr>
            <p:cNvPr id="163" name="TextBox 163"/>
            <p:cNvSpPr txBox="1"/>
            <p:nvPr/>
          </p:nvSpPr>
          <p:spPr>
            <a:xfrm>
              <a:off x="10028809" y="350448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​首刷达标率、​</a:t>
              </a:r>
              <a:br/>
              <a:r>
                <a:rPr lang="zh-CN" sz="710" dirty="0">
                  <a:solidFill>
                    <a:srgbClr val="3D3835"/>
                  </a:solidFill>
                  <a:latin typeface="+mn-lt"/>
                  <a:ea typeface="+mn-ea"/>
                  <a:cs typeface="+mn-cs"/>
                </a:rPr>
                <a:t>早期活跃率</a:t>
              </a:r>
            </a:p>
          </p:txBody>
        </p:sp>
        <p:sp>
          <p:nvSpPr>
            <p:cNvPr id="164" name="TextBox 164"/>
            <p:cNvSpPr txBox="1"/>
            <p:nvPr/>
          </p:nvSpPr>
          <p:spPr>
            <a:xfrm>
              <a:off x="10964799" y="3504486"/>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​卡片核发成功、​</a:t>
              </a:r>
              <a:br/>
              <a:r>
                <a:rPr lang="zh-CN" sz="710" dirty="0">
                  <a:solidFill>
                    <a:srgbClr val="3D3835"/>
                  </a:solidFill>
                  <a:latin typeface="+mn-lt"/>
                  <a:ea typeface="+mn-ea"/>
                  <a:cs typeface="+mn-cs"/>
                </a:rPr>
                <a:t>​客户激活卡片​</a:t>
              </a:r>
            </a:p>
          </p:txBody>
        </p:sp>
        <p:sp>
          <p:nvSpPr>
            <p:cNvPr id="165" name="Ellipse 165"/>
            <p:cNvSpPr/>
            <p:nvPr/>
          </p:nvSpPr>
          <p:spPr>
            <a:xfrm>
              <a:off x="7400925" y="4200525"/>
              <a:ext cx="171450" cy="171450"/>
            </a:xfrm>
            <a:prstGeom prst="ellipse">
              <a:avLst/>
            </a:prstGeom>
            <a:solidFill>
              <a:srgbClr val="D82000"/>
            </a:solidFill>
            <a:ln>
              <a:noFill/>
            </a:ln>
          </p:spPr>
        </p:sp>
        <p:sp>
          <p:nvSpPr>
            <p:cNvPr id="166" name="TextBox 166"/>
            <p:cNvSpPr txBox="1"/>
            <p:nvPr/>
          </p:nvSpPr>
          <p:spPr>
            <a:xfrm>
              <a:off x="7394427" y="42433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167" name="TextBox 167"/>
            <p:cNvSpPr txBox="1"/>
            <p:nvPr/>
          </p:nvSpPr>
          <p:spPr>
            <a:xfrm>
              <a:off x="7615238" y="4239339"/>
              <a:ext cx="32857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消费贷</a:t>
              </a:r>
            </a:p>
          </p:txBody>
        </p:sp>
        <p:sp>
          <p:nvSpPr>
            <p:cNvPr id="168" name="TextBox 168"/>
            <p:cNvSpPr txBox="1"/>
            <p:nvPr/>
          </p:nvSpPr>
          <p:spPr>
            <a:xfrm>
              <a:off x="8290687" y="4247436"/>
              <a:ext cx="48742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个人信贷部</a:t>
              </a:r>
            </a:p>
          </p:txBody>
        </p:sp>
        <p:sp>
          <p:nvSpPr>
            <p:cNvPr id="169" name="TextBox 169"/>
            <p:cNvSpPr txBox="1"/>
            <p:nvPr/>
          </p:nvSpPr>
          <p:spPr>
            <a:xfrm>
              <a:off x="9151207" y="4180761"/>
              <a:ext cx="518986" cy="273844"/>
            </a:xfrm>
            <a:prstGeom prst="rect">
              <a:avLst/>
            </a:prstGeom>
            <a:noFill/>
            <a:ln>
              <a:noFill/>
            </a:ln>
          </p:spPr>
          <p:txBody>
            <a:bodyPr wrap="none" lIns="0" tIns="0" rIns="0" bIns="0" anchor="t" anchorCtr="0">
              <a:spAutoFit/>
            </a:bodyPr>
            <a:lstStyle/>
            <a:p>
              <a:pPr algn="ctr">
                <a:lnSpc>
                  <a:spcPts val="1050"/>
                </a:lnSpc>
              </a:pPr>
              <a:r>
                <a:rPr lang="en-US" sz="710" b="1" dirty="0">
                  <a:solidFill>
                    <a:srgbClr val="C41D00"/>
                  </a:solidFill>
                  <a:latin typeface="+mn-lt"/>
                  <a:ea typeface="+mn-ea"/>
                  <a:cs typeface="+mn-cs"/>
                </a:rPr>
                <a:t>​T+0​</a:t>
              </a:r>
              <a:br/>
              <a:r>
                <a:rPr lang="zh-CN" sz="710" dirty="0">
                  <a:solidFill>
                    <a:srgbClr val="3D3835"/>
                  </a:solidFill>
                  <a:latin typeface="+mn-lt"/>
                  <a:ea typeface="+mn-ea"/>
                  <a:cs typeface="+mn-cs"/>
                </a:rPr>
                <a:t>​（2小时）​</a:t>
              </a:r>
            </a:p>
          </p:txBody>
        </p:sp>
        <p:sp>
          <p:nvSpPr>
            <p:cNvPr id="170" name="TextBox 170"/>
            <p:cNvSpPr txBox="1"/>
            <p:nvPr/>
          </p:nvSpPr>
          <p:spPr>
            <a:xfrm>
              <a:off x="10028809" y="4180761"/>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​申请转化率、​</a:t>
              </a:r>
              <a:br/>
              <a:r>
                <a:rPr lang="zh-CN" sz="710" dirty="0">
                  <a:solidFill>
                    <a:srgbClr val="3D3835"/>
                  </a:solidFill>
                  <a:latin typeface="+mn-lt"/>
                  <a:ea typeface="+mn-ea"/>
                  <a:cs typeface="+mn-cs"/>
                </a:rPr>
                <a:t>审批通过率</a:t>
              </a:r>
            </a:p>
          </p:txBody>
        </p:sp>
        <p:sp>
          <p:nvSpPr>
            <p:cNvPr id="171" name="TextBox 171"/>
            <p:cNvSpPr txBox="1"/>
            <p:nvPr/>
          </p:nvSpPr>
          <p:spPr>
            <a:xfrm>
              <a:off x="11009884" y="4180761"/>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​额度预授信、​</a:t>
              </a:r>
              <a:br/>
              <a:r>
                <a:rPr lang="zh-CN" sz="710" dirty="0">
                  <a:solidFill>
                    <a:srgbClr val="3D3835"/>
                  </a:solidFill>
                  <a:latin typeface="+mn-lt"/>
                  <a:ea typeface="+mn-ea"/>
                  <a:cs typeface="+mn-cs"/>
                </a:rPr>
                <a:t>​客户发起申请​</a:t>
              </a:r>
            </a:p>
          </p:txBody>
        </p:sp>
        <p:sp>
          <p:nvSpPr>
            <p:cNvPr id="172" name="Ellipse 172"/>
            <p:cNvSpPr/>
            <p:nvPr/>
          </p:nvSpPr>
          <p:spPr>
            <a:xfrm>
              <a:off x="7400925" y="4876800"/>
              <a:ext cx="171450" cy="171450"/>
            </a:xfrm>
            <a:prstGeom prst="ellipse">
              <a:avLst/>
            </a:prstGeom>
            <a:solidFill>
              <a:srgbClr val="D82000"/>
            </a:solidFill>
            <a:ln>
              <a:noFill/>
            </a:ln>
          </p:spPr>
        </p:sp>
        <p:sp>
          <p:nvSpPr>
            <p:cNvPr id="173" name="TextBox 173"/>
            <p:cNvSpPr txBox="1"/>
            <p:nvPr/>
          </p:nvSpPr>
          <p:spPr>
            <a:xfrm>
              <a:off x="7394427" y="4919662"/>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a:t>
              </a:r>
            </a:p>
          </p:txBody>
        </p:sp>
        <p:sp>
          <p:nvSpPr>
            <p:cNvPr id="174" name="TextBox 174"/>
            <p:cNvSpPr txBox="1"/>
            <p:nvPr/>
          </p:nvSpPr>
          <p:spPr>
            <a:xfrm>
              <a:off x="7615238" y="4915614"/>
              <a:ext cx="32857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房　贷</a:t>
              </a:r>
            </a:p>
          </p:txBody>
        </p:sp>
        <p:sp>
          <p:nvSpPr>
            <p:cNvPr id="175" name="TextBox 175"/>
            <p:cNvSpPr txBox="1"/>
            <p:nvPr/>
          </p:nvSpPr>
          <p:spPr>
            <a:xfrm>
              <a:off x="8290687" y="4923711"/>
              <a:ext cx="48742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个人信贷部</a:t>
              </a:r>
            </a:p>
          </p:txBody>
        </p:sp>
        <p:sp>
          <p:nvSpPr>
            <p:cNvPr id="176" name="TextBox 176"/>
            <p:cNvSpPr txBox="1"/>
            <p:nvPr/>
          </p:nvSpPr>
          <p:spPr>
            <a:xfrm>
              <a:off x="9061037" y="4857036"/>
              <a:ext cx="699326" cy="273844"/>
            </a:xfrm>
            <a:prstGeom prst="rect">
              <a:avLst/>
            </a:prstGeom>
            <a:noFill/>
            <a:ln>
              <a:noFill/>
            </a:ln>
          </p:spPr>
          <p:txBody>
            <a:bodyPr wrap="none" lIns="0" tIns="0" rIns="0" bIns="0" anchor="t" anchorCtr="0">
              <a:spAutoFit/>
            </a:bodyPr>
            <a:lstStyle/>
            <a:p>
              <a:pPr algn="ctr">
                <a:lnSpc>
                  <a:spcPts val="1050"/>
                </a:lnSpc>
              </a:pPr>
              <a:r>
                <a:rPr lang="en-US" sz="710" b="1" dirty="0">
                  <a:solidFill>
                    <a:srgbClr val="C41D00"/>
                  </a:solidFill>
                  <a:latin typeface="+mn-lt"/>
                  <a:ea typeface="+mn-ea"/>
                  <a:cs typeface="+mn-cs"/>
                </a:rPr>
                <a:t>​T+3​</a:t>
              </a:r>
              <a:br/>
              <a:r>
                <a:rPr lang="zh-CN" sz="710" dirty="0">
                  <a:solidFill>
                    <a:srgbClr val="3D3835"/>
                  </a:solidFill>
                  <a:latin typeface="+mn-lt"/>
                  <a:ea typeface="+mn-ea"/>
                  <a:cs typeface="+mn-cs"/>
                </a:rPr>
                <a:t>​（3个工作日）​</a:t>
              </a:r>
            </a:p>
          </p:txBody>
        </p:sp>
        <p:sp>
          <p:nvSpPr>
            <p:cNvPr id="177" name="TextBox 177"/>
            <p:cNvSpPr txBox="1"/>
            <p:nvPr/>
          </p:nvSpPr>
          <p:spPr>
            <a:xfrm>
              <a:off x="10028809" y="485703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​审批通过率、​</a:t>
              </a:r>
              <a:br/>
              <a:r>
                <a:rPr lang="zh-CN" sz="710" dirty="0">
                  <a:solidFill>
                    <a:srgbClr val="3D3835"/>
                  </a:solidFill>
                  <a:latin typeface="+mn-lt"/>
                  <a:ea typeface="+mn-ea"/>
                  <a:cs typeface="+mn-cs"/>
                </a:rPr>
                <a:t>放款达成率</a:t>
              </a:r>
            </a:p>
          </p:txBody>
        </p:sp>
        <p:sp>
          <p:nvSpPr>
            <p:cNvPr id="178" name="TextBox 178"/>
            <p:cNvSpPr txBox="1"/>
            <p:nvPr/>
          </p:nvSpPr>
          <p:spPr>
            <a:xfrm>
              <a:off x="10964799" y="4857036"/>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​购房意向登记、​</a:t>
              </a:r>
              <a:br/>
              <a:r>
                <a:rPr lang="zh-CN" sz="710" dirty="0">
                  <a:solidFill>
                    <a:srgbClr val="3D3835"/>
                  </a:solidFill>
                  <a:latin typeface="+mn-lt"/>
                  <a:ea typeface="+mn-ea"/>
                  <a:cs typeface="+mn-cs"/>
                </a:rPr>
                <a:t>​按揭资料齐全​</a:t>
              </a:r>
            </a:p>
          </p:txBody>
        </p:sp>
        <p:sp>
          <p:nvSpPr>
            <p:cNvPr id="179" name="Ellipse 179"/>
            <p:cNvSpPr/>
            <p:nvPr/>
          </p:nvSpPr>
          <p:spPr>
            <a:xfrm>
              <a:off x="7400925" y="5553075"/>
              <a:ext cx="171450" cy="171450"/>
            </a:xfrm>
            <a:prstGeom prst="ellipse">
              <a:avLst/>
            </a:prstGeom>
            <a:solidFill>
              <a:srgbClr val="D82000"/>
            </a:solidFill>
            <a:ln>
              <a:noFill/>
            </a:ln>
          </p:spPr>
        </p:sp>
        <p:sp>
          <p:nvSpPr>
            <p:cNvPr id="180" name="TextBox 180"/>
            <p:cNvSpPr txBox="1"/>
            <p:nvPr/>
          </p:nvSpPr>
          <p:spPr>
            <a:xfrm>
              <a:off x="7394427" y="55959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​7​</a:t>
              </a:r>
            </a:p>
          </p:txBody>
        </p:sp>
        <p:sp>
          <p:nvSpPr>
            <p:cNvPr id="181" name="TextBox 181"/>
            <p:cNvSpPr txBox="1"/>
            <p:nvPr/>
          </p:nvSpPr>
          <p:spPr>
            <a:xfrm>
              <a:off x="7615238" y="5591889"/>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财富升级</a:t>
              </a:r>
            </a:p>
          </p:txBody>
        </p:sp>
        <p:sp>
          <p:nvSpPr>
            <p:cNvPr id="182" name="TextBox 182"/>
            <p:cNvSpPr txBox="1"/>
            <p:nvPr/>
          </p:nvSpPr>
          <p:spPr>
            <a:xfrm>
              <a:off x="8290687" y="5599986"/>
              <a:ext cx="48742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财富管理部</a:t>
              </a:r>
            </a:p>
          </p:txBody>
        </p:sp>
        <p:sp>
          <p:nvSpPr>
            <p:cNvPr id="183" name="TextBox 183"/>
            <p:cNvSpPr txBox="1"/>
            <p:nvPr/>
          </p:nvSpPr>
          <p:spPr>
            <a:xfrm>
              <a:off x="9196292" y="5533311"/>
              <a:ext cx="428816" cy="273844"/>
            </a:xfrm>
            <a:prstGeom prst="rect">
              <a:avLst/>
            </a:prstGeom>
            <a:noFill/>
            <a:ln>
              <a:noFill/>
            </a:ln>
          </p:spPr>
          <p:txBody>
            <a:bodyPr wrap="none" lIns="0" tIns="0" rIns="0" bIns="0" anchor="t" anchorCtr="0">
              <a:spAutoFit/>
            </a:bodyPr>
            <a:lstStyle/>
            <a:p>
              <a:pPr algn="ctr">
                <a:lnSpc>
                  <a:spcPts val="1050"/>
                </a:lnSpc>
              </a:pPr>
              <a:r>
                <a:rPr lang="en-US" sz="710" b="1" dirty="0">
                  <a:solidFill>
                    <a:srgbClr val="C41D00"/>
                  </a:solidFill>
                  <a:latin typeface="+mn-lt"/>
                  <a:ea typeface="+mn-ea"/>
                  <a:cs typeface="+mn-cs"/>
                </a:rPr>
                <a:t>​T+7​</a:t>
              </a:r>
              <a:br/>
              <a:r>
                <a:rPr lang="zh-CN" sz="710" dirty="0">
                  <a:solidFill>
                    <a:srgbClr val="3D3835"/>
                  </a:solidFill>
                  <a:latin typeface="+mn-lt"/>
                  <a:ea typeface="+mn-ea"/>
                  <a:cs typeface="+mn-cs"/>
                </a:rPr>
                <a:t>​（7天）​</a:t>
              </a:r>
            </a:p>
          </p:txBody>
        </p:sp>
        <p:sp>
          <p:nvSpPr>
            <p:cNvPr id="184" name="TextBox 184"/>
            <p:cNvSpPr txBox="1"/>
            <p:nvPr/>
          </p:nvSpPr>
          <p:spPr>
            <a:xfrm>
              <a:off x="9985978" y="5533311"/>
              <a:ext cx="735394"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​​AUM提升率、​​</a:t>
              </a:r>
              <a:br/>
              <a:r>
                <a:rPr lang="zh-CN" sz="710" dirty="0">
                  <a:solidFill>
                    <a:srgbClr val="3D3835"/>
                  </a:solidFill>
                  <a:latin typeface="+mn-lt"/>
                  <a:ea typeface="+mn-ea"/>
                  <a:cs typeface="+mn-cs"/>
                </a:rPr>
                <a:t>​客户分层提升​</a:t>
              </a:r>
            </a:p>
          </p:txBody>
        </p:sp>
        <p:sp>
          <p:nvSpPr>
            <p:cNvPr id="185" name="TextBox 185"/>
            <p:cNvSpPr txBox="1"/>
            <p:nvPr/>
          </p:nvSpPr>
          <p:spPr>
            <a:xfrm>
              <a:off x="11009884" y="5533311"/>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​​AUM阈值、​​</a:t>
              </a:r>
              <a:br/>
              <a:r>
                <a:rPr lang="zh-CN" sz="710" dirty="0">
                  <a:solidFill>
                    <a:srgbClr val="3D3835"/>
                  </a:solidFill>
                  <a:latin typeface="+mn-lt"/>
                  <a:ea typeface="+mn-ea"/>
                  <a:cs typeface="+mn-cs"/>
                </a:rPr>
                <a:t>​投资偏好变化​</a:t>
              </a:r>
            </a:p>
          </p:txBody>
        </p:sp>
        <p:sp>
          <p:nvSpPr>
            <p:cNvPr id="186" name="Ellipse 186"/>
            <p:cNvSpPr/>
            <p:nvPr/>
          </p:nvSpPr>
          <p:spPr>
            <a:xfrm>
              <a:off x="7400925" y="6229350"/>
              <a:ext cx="171450" cy="171450"/>
            </a:xfrm>
            <a:prstGeom prst="ellipse">
              <a:avLst/>
            </a:prstGeom>
            <a:solidFill>
              <a:srgbClr val="D82000"/>
            </a:solidFill>
            <a:ln>
              <a:noFill/>
            </a:ln>
          </p:spPr>
        </p:sp>
        <p:sp>
          <p:nvSpPr>
            <p:cNvPr id="187" name="TextBox 187"/>
            <p:cNvSpPr txBox="1"/>
            <p:nvPr/>
          </p:nvSpPr>
          <p:spPr>
            <a:xfrm>
              <a:off x="7394427" y="6272212"/>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​8​</a:t>
              </a:r>
            </a:p>
          </p:txBody>
        </p:sp>
        <p:sp>
          <p:nvSpPr>
            <p:cNvPr id="188" name="TextBox 188"/>
            <p:cNvSpPr txBox="1"/>
            <p:nvPr/>
          </p:nvSpPr>
          <p:spPr>
            <a:xfrm>
              <a:off x="7615238" y="6268164"/>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投诉修复</a:t>
              </a:r>
            </a:p>
          </p:txBody>
        </p:sp>
        <p:sp>
          <p:nvSpPr>
            <p:cNvPr id="189" name="TextBox 189"/>
            <p:cNvSpPr txBox="1"/>
            <p:nvPr/>
          </p:nvSpPr>
          <p:spPr>
            <a:xfrm>
              <a:off x="8290687" y="6276261"/>
              <a:ext cx="48742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客服管理部</a:t>
              </a:r>
            </a:p>
          </p:txBody>
        </p:sp>
        <p:sp>
          <p:nvSpPr>
            <p:cNvPr id="190" name="TextBox 190"/>
            <p:cNvSpPr txBox="1"/>
            <p:nvPr/>
          </p:nvSpPr>
          <p:spPr>
            <a:xfrm>
              <a:off x="9061037" y="6209586"/>
              <a:ext cx="699326" cy="273844"/>
            </a:xfrm>
            <a:prstGeom prst="rect">
              <a:avLst/>
            </a:prstGeom>
            <a:noFill/>
            <a:ln>
              <a:noFill/>
            </a:ln>
          </p:spPr>
          <p:txBody>
            <a:bodyPr wrap="none" lIns="0" tIns="0" rIns="0" bIns="0" anchor="t" anchorCtr="0">
              <a:spAutoFit/>
            </a:bodyPr>
            <a:lstStyle/>
            <a:p>
              <a:pPr algn="ctr">
                <a:lnSpc>
                  <a:spcPts val="1050"/>
                </a:lnSpc>
              </a:pPr>
              <a:r>
                <a:rPr lang="en-US" sz="710" b="1" dirty="0">
                  <a:solidFill>
                    <a:srgbClr val="C41D00"/>
                  </a:solidFill>
                  <a:latin typeface="+mn-lt"/>
                  <a:ea typeface="+mn-ea"/>
                  <a:cs typeface="+mn-cs"/>
                </a:rPr>
                <a:t>​T+2​</a:t>
              </a:r>
              <a:br/>
              <a:r>
                <a:rPr lang="zh-CN" sz="710" dirty="0">
                  <a:solidFill>
                    <a:srgbClr val="3D3835"/>
                  </a:solidFill>
                  <a:latin typeface="+mn-lt"/>
                  <a:ea typeface="+mn-ea"/>
                  <a:cs typeface="+mn-cs"/>
                </a:rPr>
                <a:t>​（2个工作日）​</a:t>
              </a:r>
            </a:p>
          </p:txBody>
        </p:sp>
        <p:sp>
          <p:nvSpPr>
            <p:cNvPr id="191" name="TextBox 191"/>
            <p:cNvSpPr txBox="1"/>
            <p:nvPr/>
          </p:nvSpPr>
          <p:spPr>
            <a:xfrm>
              <a:off x="10028809" y="6209586"/>
              <a:ext cx="64973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​首次解决率、​</a:t>
              </a:r>
              <a:br/>
              <a:r>
                <a:rPr lang="zh-CN" sz="710" dirty="0">
                  <a:solidFill>
                    <a:srgbClr val="3D3835"/>
                  </a:solidFill>
                  <a:latin typeface="+mn-lt"/>
                  <a:ea typeface="+mn-ea"/>
                  <a:cs typeface="+mn-cs"/>
                </a:rPr>
                <a:t>​​NPS提升​​</a:t>
              </a:r>
            </a:p>
          </p:txBody>
        </p:sp>
        <p:sp>
          <p:nvSpPr>
            <p:cNvPr id="192" name="TextBox 192"/>
            <p:cNvSpPr txBox="1"/>
            <p:nvPr/>
          </p:nvSpPr>
          <p:spPr>
            <a:xfrm>
              <a:off x="10964799" y="6209586"/>
              <a:ext cx="739902"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D3835"/>
                  </a:solidFill>
                  <a:latin typeface="+mn-lt"/>
                  <a:ea typeface="+mn-ea"/>
                  <a:cs typeface="+mn-cs"/>
                </a:rPr>
                <a:t>​客户投诉发生、​</a:t>
              </a:r>
              <a:br/>
              <a:r>
                <a:rPr lang="zh-CN" sz="710" dirty="0">
                  <a:solidFill>
                    <a:srgbClr val="3D3835"/>
                  </a:solidFill>
                  <a:latin typeface="+mn-lt"/>
                  <a:ea typeface="+mn-ea"/>
                  <a:cs typeface="+mn-cs"/>
                </a:rPr>
                <a:t>​工单反馈闭环​</a:t>
              </a:r>
            </a:p>
          </p:txBody>
        </p:sp>
        <p:sp>
          <p:nvSpPr>
            <p:cNvPr id="193" name="Line 193"/>
            <p:cNvSpPr/>
            <p:nvPr/>
          </p:nvSpPr>
          <p:spPr>
            <a:xfrm>
              <a:off x="8096250" y="1219200"/>
              <a:ext cx="9525" cy="5410200"/>
            </a:xfrm>
            <a:custGeom>
              <a:avLst/>
              <a:gdLst/>
              <a:ahLst/>
              <a:cxnLst/>
              <a:rect l="l" t="t" r="r" b="b"/>
              <a:pathLst>
                <a:path w="9525" h="5410200">
                  <a:moveTo>
                    <a:pt x="0" y="0"/>
                  </a:moveTo>
                  <a:lnTo>
                    <a:pt x="0" y="5410200"/>
                  </a:lnTo>
                </a:path>
              </a:pathLst>
            </a:custGeom>
            <a:noFill/>
            <a:ln w="9525">
              <a:solidFill>
                <a:srgbClr val="EADBCE"/>
              </a:solidFill>
            </a:ln>
          </p:spPr>
        </p:sp>
        <p:sp>
          <p:nvSpPr>
            <p:cNvPr id="194" name="Line 194"/>
            <p:cNvSpPr/>
            <p:nvPr/>
          </p:nvSpPr>
          <p:spPr>
            <a:xfrm>
              <a:off x="8972550" y="1219200"/>
              <a:ext cx="9525" cy="5410200"/>
            </a:xfrm>
            <a:custGeom>
              <a:avLst/>
              <a:gdLst/>
              <a:ahLst/>
              <a:cxnLst/>
              <a:rect l="l" t="t" r="r" b="b"/>
              <a:pathLst>
                <a:path w="9525" h="5410200">
                  <a:moveTo>
                    <a:pt x="0" y="0"/>
                  </a:moveTo>
                  <a:lnTo>
                    <a:pt x="0" y="5410200"/>
                  </a:lnTo>
                </a:path>
              </a:pathLst>
            </a:custGeom>
            <a:noFill/>
            <a:ln w="9525">
              <a:solidFill>
                <a:srgbClr val="EADBCE"/>
              </a:solidFill>
            </a:ln>
          </p:spPr>
        </p:sp>
        <p:sp>
          <p:nvSpPr>
            <p:cNvPr id="195" name="Line 195"/>
            <p:cNvSpPr/>
            <p:nvPr/>
          </p:nvSpPr>
          <p:spPr>
            <a:xfrm>
              <a:off x="9848850" y="1219200"/>
              <a:ext cx="9525" cy="5410200"/>
            </a:xfrm>
            <a:custGeom>
              <a:avLst/>
              <a:gdLst/>
              <a:ahLst/>
              <a:cxnLst/>
              <a:rect l="l" t="t" r="r" b="b"/>
              <a:pathLst>
                <a:path w="9525" h="5410200">
                  <a:moveTo>
                    <a:pt x="0" y="0"/>
                  </a:moveTo>
                  <a:lnTo>
                    <a:pt x="0" y="5410200"/>
                  </a:lnTo>
                </a:path>
              </a:pathLst>
            </a:custGeom>
            <a:noFill/>
            <a:ln w="9525">
              <a:solidFill>
                <a:srgbClr val="EADBCE"/>
              </a:solidFill>
            </a:ln>
          </p:spPr>
        </p:sp>
        <p:sp>
          <p:nvSpPr>
            <p:cNvPr id="196" name="Line 196"/>
            <p:cNvSpPr/>
            <p:nvPr/>
          </p:nvSpPr>
          <p:spPr>
            <a:xfrm>
              <a:off x="10858500" y="1219200"/>
              <a:ext cx="9525" cy="5410200"/>
            </a:xfrm>
            <a:custGeom>
              <a:avLst/>
              <a:gdLst/>
              <a:ahLst/>
              <a:cxnLst/>
              <a:rect l="l" t="t" r="r" b="b"/>
              <a:pathLst>
                <a:path w="9525" h="5410200">
                  <a:moveTo>
                    <a:pt x="0" y="0"/>
                  </a:moveTo>
                  <a:lnTo>
                    <a:pt x="0" y="5410200"/>
                  </a:lnTo>
                </a:path>
              </a:pathLst>
            </a:custGeom>
            <a:noFill/>
            <a:ln w="9525">
              <a:solidFill>
                <a:srgbClr val="EADBCE"/>
              </a:solidFill>
            </a:ln>
          </p:spPr>
        </p:sp>
        <p:sp>
          <p:nvSpPr>
            <p:cNvPr id="197" name="Line 197"/>
            <p:cNvSpPr/>
            <p:nvPr/>
          </p:nvSpPr>
          <p:spPr>
            <a:xfrm>
              <a:off x="7315200" y="1895475"/>
              <a:ext cx="4495800" cy="9525"/>
            </a:xfrm>
            <a:custGeom>
              <a:avLst/>
              <a:gdLst/>
              <a:ahLst/>
              <a:cxnLst/>
              <a:rect l="l" t="t" r="r" b="b"/>
              <a:pathLst>
                <a:path w="4495800" h="9525">
                  <a:moveTo>
                    <a:pt x="0" y="0"/>
                  </a:moveTo>
                  <a:lnTo>
                    <a:pt x="4495800" y="0"/>
                  </a:lnTo>
                </a:path>
              </a:pathLst>
            </a:custGeom>
            <a:noFill/>
            <a:ln w="9525">
              <a:solidFill>
                <a:srgbClr val="EADBCE"/>
              </a:solidFill>
            </a:ln>
          </p:spPr>
        </p:sp>
        <p:sp>
          <p:nvSpPr>
            <p:cNvPr id="198" name="Line 198"/>
            <p:cNvSpPr/>
            <p:nvPr/>
          </p:nvSpPr>
          <p:spPr>
            <a:xfrm>
              <a:off x="7315200" y="2571750"/>
              <a:ext cx="4495800" cy="9525"/>
            </a:xfrm>
            <a:custGeom>
              <a:avLst/>
              <a:gdLst/>
              <a:ahLst/>
              <a:cxnLst/>
              <a:rect l="l" t="t" r="r" b="b"/>
              <a:pathLst>
                <a:path w="4495800" h="9525">
                  <a:moveTo>
                    <a:pt x="0" y="0"/>
                  </a:moveTo>
                  <a:lnTo>
                    <a:pt x="4495800" y="0"/>
                  </a:lnTo>
                </a:path>
              </a:pathLst>
            </a:custGeom>
            <a:noFill/>
            <a:ln w="9525">
              <a:solidFill>
                <a:srgbClr val="EADBCE"/>
              </a:solidFill>
            </a:ln>
          </p:spPr>
        </p:sp>
        <p:sp>
          <p:nvSpPr>
            <p:cNvPr id="199" name="Line 199"/>
            <p:cNvSpPr/>
            <p:nvPr/>
          </p:nvSpPr>
          <p:spPr>
            <a:xfrm>
              <a:off x="7315200" y="3248025"/>
              <a:ext cx="4495800" cy="9525"/>
            </a:xfrm>
            <a:custGeom>
              <a:avLst/>
              <a:gdLst/>
              <a:ahLst/>
              <a:cxnLst/>
              <a:rect l="l" t="t" r="r" b="b"/>
              <a:pathLst>
                <a:path w="4495800" h="9525">
                  <a:moveTo>
                    <a:pt x="0" y="0"/>
                  </a:moveTo>
                  <a:lnTo>
                    <a:pt x="4495800" y="0"/>
                  </a:lnTo>
                </a:path>
              </a:pathLst>
            </a:custGeom>
            <a:noFill/>
            <a:ln w="9525">
              <a:solidFill>
                <a:srgbClr val="EADBCE"/>
              </a:solidFill>
            </a:ln>
          </p:spPr>
        </p:sp>
        <p:sp>
          <p:nvSpPr>
            <p:cNvPr id="200" name="Line 200"/>
            <p:cNvSpPr/>
            <p:nvPr/>
          </p:nvSpPr>
          <p:spPr>
            <a:xfrm>
              <a:off x="7315200" y="3924300"/>
              <a:ext cx="4495800" cy="9525"/>
            </a:xfrm>
            <a:custGeom>
              <a:avLst/>
              <a:gdLst/>
              <a:ahLst/>
              <a:cxnLst/>
              <a:rect l="l" t="t" r="r" b="b"/>
              <a:pathLst>
                <a:path w="4495800" h="9525">
                  <a:moveTo>
                    <a:pt x="0" y="0"/>
                  </a:moveTo>
                  <a:lnTo>
                    <a:pt x="4495800" y="0"/>
                  </a:lnTo>
                </a:path>
              </a:pathLst>
            </a:custGeom>
            <a:noFill/>
            <a:ln w="9525">
              <a:solidFill>
                <a:srgbClr val="EADBCE"/>
              </a:solidFill>
            </a:ln>
          </p:spPr>
        </p:sp>
        <p:sp>
          <p:nvSpPr>
            <p:cNvPr id="201" name="Line 201"/>
            <p:cNvSpPr/>
            <p:nvPr/>
          </p:nvSpPr>
          <p:spPr>
            <a:xfrm>
              <a:off x="7315200" y="4600575"/>
              <a:ext cx="4495800" cy="9525"/>
            </a:xfrm>
            <a:custGeom>
              <a:avLst/>
              <a:gdLst/>
              <a:ahLst/>
              <a:cxnLst/>
              <a:rect l="l" t="t" r="r" b="b"/>
              <a:pathLst>
                <a:path w="4495800" h="9525">
                  <a:moveTo>
                    <a:pt x="0" y="0"/>
                  </a:moveTo>
                  <a:lnTo>
                    <a:pt x="4495800" y="0"/>
                  </a:lnTo>
                </a:path>
              </a:pathLst>
            </a:custGeom>
            <a:noFill/>
            <a:ln w="9525">
              <a:solidFill>
                <a:srgbClr val="EADBCE"/>
              </a:solidFill>
            </a:ln>
          </p:spPr>
        </p:sp>
        <p:sp>
          <p:nvSpPr>
            <p:cNvPr id="202" name="Line 202"/>
            <p:cNvSpPr/>
            <p:nvPr/>
          </p:nvSpPr>
          <p:spPr>
            <a:xfrm>
              <a:off x="7315200" y="5276850"/>
              <a:ext cx="4495800" cy="9525"/>
            </a:xfrm>
            <a:custGeom>
              <a:avLst/>
              <a:gdLst/>
              <a:ahLst/>
              <a:cxnLst/>
              <a:rect l="l" t="t" r="r" b="b"/>
              <a:pathLst>
                <a:path w="4495800" h="9525">
                  <a:moveTo>
                    <a:pt x="0" y="0"/>
                  </a:moveTo>
                  <a:lnTo>
                    <a:pt x="4495800" y="0"/>
                  </a:lnTo>
                </a:path>
              </a:pathLst>
            </a:custGeom>
            <a:noFill/>
            <a:ln w="9525">
              <a:solidFill>
                <a:srgbClr val="EADBCE"/>
              </a:solidFill>
            </a:ln>
          </p:spPr>
        </p:sp>
        <p:sp>
          <p:nvSpPr>
            <p:cNvPr id="203" name="Line 203"/>
            <p:cNvSpPr/>
            <p:nvPr/>
          </p:nvSpPr>
          <p:spPr>
            <a:xfrm>
              <a:off x="7315200" y="5953125"/>
              <a:ext cx="4495800" cy="9525"/>
            </a:xfrm>
            <a:custGeom>
              <a:avLst/>
              <a:gdLst/>
              <a:ahLst/>
              <a:cxnLst/>
              <a:rect l="l" t="t" r="r" b="b"/>
              <a:pathLst>
                <a:path w="4495800" h="9525">
                  <a:moveTo>
                    <a:pt x="0" y="0"/>
                  </a:moveTo>
                  <a:lnTo>
                    <a:pt x="4495800" y="0"/>
                  </a:lnTo>
                </a:path>
              </a:pathLst>
            </a:custGeom>
            <a:noFill/>
            <a:ln w="9525">
              <a:solidFill>
                <a:srgbClr val="EADBCE"/>
              </a:solidFill>
            </a:ln>
          </p:spPr>
        </p:sp>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08</a:t>
              </a:r>
            </a:p>
          </p:txBody>
        </p:sp>
        <p:sp>
          <p:nvSpPr>
            <p:cNvPr id="4" name="TextBox 4"/>
            <p:cNvSpPr txBox="1"/>
            <p:nvPr/>
          </p:nvSpPr>
          <p:spPr>
            <a:xfrm>
              <a:off x="904494" y="170498"/>
              <a:ext cx="6734136"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获客运营</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从流量采购转向高质量客户与主办行关系获取​</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75" name="acq-funnel"/>
          <p:cNvGrpSpPr/>
          <p:nvPr/>
        </p:nvGrpSpPr>
        <p:grpSpPr>
          <a:xfrm>
            <a:off x="342900" y="685800"/>
            <a:ext cx="2389823" cy="5943600"/>
            <a:chOff x="342900" y="685800"/>
            <a:chExt cx="2389823" cy="5943600"/>
          </a:xfrm>
        </p:grpSpPr>
        <p:sp>
          <p:nvSpPr>
            <p:cNvPr id="7" name="Rectangle 7"/>
            <p:cNvSpPr/>
            <p:nvPr/>
          </p:nvSpPr>
          <p:spPr>
            <a:xfrm>
              <a:off x="342900" y="685800"/>
              <a:ext cx="2362200" cy="228600"/>
            </a:xfrm>
            <a:prstGeom prst="roundRect">
              <a:avLst>
                <a:gd name="adj" fmla="val 12500"/>
              </a:avLst>
            </a:prstGeom>
            <a:solidFill>
              <a:srgbClr val="C41D00"/>
            </a:solidFill>
            <a:ln>
              <a:noFill/>
            </a:ln>
          </p:spPr>
        </p:sp>
        <p:sp>
          <p:nvSpPr>
            <p:cNvPr id="8" name="TextBox 8"/>
            <p:cNvSpPr txBox="1"/>
            <p:nvPr/>
          </p:nvSpPr>
          <p:spPr>
            <a:xfrm>
              <a:off x="894668" y="750570"/>
              <a:ext cx="125866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​获客漏斗（近30天）​</a:t>
              </a:r>
            </a:p>
          </p:txBody>
        </p:sp>
        <p:sp>
          <p:nvSpPr>
            <p:cNvPr id="9" name="Rectangle 9"/>
            <p:cNvSpPr/>
            <p:nvPr/>
          </p:nvSpPr>
          <p:spPr>
            <a:xfrm>
              <a:off x="342900" y="914400"/>
              <a:ext cx="2362200" cy="4267200"/>
            </a:xfrm>
            <a:prstGeom prst="rect">
              <a:avLst/>
            </a:prstGeom>
            <a:solidFill>
              <a:srgbClr val="FFFFFF"/>
            </a:solidFill>
            <a:ln w="9525">
              <a:solidFill>
                <a:srgbClr val="F0B8AE"/>
              </a:solidFill>
            </a:ln>
          </p:spPr>
        </p:sp>
        <p:sp>
          <p:nvSpPr>
            <p:cNvPr id="10" name="TextBox 10"/>
            <p:cNvSpPr txBox="1"/>
            <p:nvPr/>
          </p:nvSpPr>
          <p:spPr>
            <a:xfrm>
              <a:off x="452438" y="993934"/>
              <a:ext cx="192608" cy="133350"/>
            </a:xfrm>
            <a:prstGeom prst="rect">
              <a:avLst/>
            </a:prstGeom>
            <a:noFill/>
            <a:ln>
              <a:noFill/>
            </a:ln>
          </p:spPr>
          <p:txBody>
            <a:bodyPr wrap="none" lIns="0" tIns="0" rIns="0" bIns="0" anchor="t" anchorCtr="0">
              <a:spAutoFit/>
            </a:bodyPr>
            <a:lstStyle/>
            <a:p>
              <a:pPr algn="l"/>
              <a:r>
                <a:rPr lang="zh-CN" sz="680" dirty="0">
                  <a:solidFill>
                    <a:srgbClr val="7A716B"/>
                  </a:solidFill>
                  <a:latin typeface="+mn-lt"/>
                  <a:ea typeface="+mn-ea"/>
                  <a:cs typeface="+mn-cs"/>
                </a:rPr>
                <a:t>阶段</a:t>
              </a:r>
            </a:p>
          </p:txBody>
        </p:sp>
        <p:sp>
          <p:nvSpPr>
            <p:cNvPr id="11" name="TextBox 11"/>
            <p:cNvSpPr txBox="1"/>
            <p:nvPr/>
          </p:nvSpPr>
          <p:spPr>
            <a:xfrm>
              <a:off x="1930413" y="993934"/>
              <a:ext cx="284150" cy="133350"/>
            </a:xfrm>
            <a:prstGeom prst="rect">
              <a:avLst/>
            </a:prstGeom>
            <a:noFill/>
            <a:ln>
              <a:noFill/>
            </a:ln>
          </p:spPr>
          <p:txBody>
            <a:bodyPr wrap="none" lIns="0" tIns="0" rIns="0" bIns="0" anchor="t" anchorCtr="0">
              <a:spAutoFit/>
            </a:bodyPr>
            <a:lstStyle/>
            <a:p>
              <a:pPr algn="r"/>
              <a:r>
                <a:rPr lang="zh-CN" sz="680" dirty="0">
                  <a:solidFill>
                    <a:srgbClr val="7A716B"/>
                  </a:solidFill>
                  <a:latin typeface="+mn-lt"/>
                  <a:ea typeface="+mn-ea"/>
                  <a:cs typeface="+mn-cs"/>
                </a:rPr>
                <a:t>客户数</a:t>
              </a:r>
            </a:p>
          </p:txBody>
        </p:sp>
        <p:sp>
          <p:nvSpPr>
            <p:cNvPr id="12" name="TextBox 12"/>
            <p:cNvSpPr txBox="1"/>
            <p:nvPr/>
          </p:nvSpPr>
          <p:spPr>
            <a:xfrm>
              <a:off x="2105978" y="944880"/>
              <a:ext cx="626745" cy="214312"/>
            </a:xfrm>
            <a:prstGeom prst="rect">
              <a:avLst/>
            </a:prstGeom>
            <a:noFill/>
            <a:ln>
              <a:noFill/>
            </a:ln>
          </p:spPr>
          <p:txBody>
            <a:bodyPr wrap="none" lIns="0" tIns="0" rIns="0" bIns="0" anchor="t" anchorCtr="0">
              <a:spAutoFit/>
            </a:bodyPr>
            <a:lstStyle/>
            <a:p>
              <a:pPr algn="ctr">
                <a:lnSpc>
                  <a:spcPts val="750"/>
                </a:lnSpc>
              </a:pPr>
              <a:r>
                <a:rPr lang="zh-CN" sz="600" dirty="0">
                  <a:solidFill>
                    <a:srgbClr val="7A716B"/>
                  </a:solidFill>
                  <a:latin typeface="+mn-lt"/>
                  <a:ea typeface="+mn-ea"/>
                  <a:cs typeface="+mn-cs"/>
                </a:rPr>
                <a:t>转化率</a:t>
              </a:r>
              <a:br/>
              <a:r>
                <a:rPr lang="zh-CN" sz="600" dirty="0">
                  <a:solidFill>
                    <a:srgbClr val="7A716B"/>
                  </a:solidFill>
                  <a:latin typeface="+mn-lt"/>
                  <a:ea typeface="+mn-ea"/>
                  <a:cs typeface="+mn-cs"/>
                </a:rPr>
                <a:t>​（相对上一步）​</a:t>
              </a:r>
            </a:p>
          </p:txBody>
        </p:sp>
        <p:sp>
          <p:nvSpPr>
            <p:cNvPr id="13" name="Rectangle 13"/>
            <p:cNvSpPr/>
            <p:nvPr/>
          </p:nvSpPr>
          <p:spPr>
            <a:xfrm>
              <a:off x="400050" y="1181100"/>
              <a:ext cx="1104900" cy="571500"/>
            </a:xfrm>
            <a:prstGeom prst="roundRect">
              <a:avLst>
                <a:gd name="adj" fmla="val 5000"/>
              </a:avLst>
            </a:prstGeom>
            <a:solidFill>
              <a:srgbClr val="B31A00"/>
            </a:solidFill>
            <a:ln>
              <a:noFill/>
            </a:ln>
          </p:spPr>
        </p:sp>
        <p:grpSp>
          <p:nvGrpSpPr>
            <p:cNvPr id="16" name="Group 16"/>
            <p:cNvGrpSpPr/>
            <p:nvPr/>
          </p:nvGrpSpPr>
          <p:grpSpPr>
            <a:xfrm>
              <a:off x="516731" y="1423988"/>
              <a:ext cx="128588" cy="85725"/>
              <a:chOff x="516731" y="1423988"/>
              <a:chExt cx="128588" cy="85725"/>
            </a:xfrm>
          </p:grpSpPr>
          <p:sp>
            <p:nvSpPr>
              <p:cNvPr id="14" name="Freeform 14"/>
              <p:cNvSpPr/>
              <p:nvPr/>
            </p:nvSpPr>
            <p:spPr>
              <a:xfrm>
                <a:off x="566738" y="145256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15" name="Freeform 15"/>
              <p:cNvSpPr/>
              <p:nvPr/>
            </p:nvSpPr>
            <p:spPr>
              <a:xfrm>
                <a:off x="516731" y="1423988"/>
                <a:ext cx="128588" cy="85725"/>
              </a:xfrm>
              <a:custGeom>
                <a:avLst/>
                <a:gdLst/>
                <a:ahLst/>
                <a:cxnLst/>
                <a:rect l="l" t="t" r="r" b="b"/>
                <a:pathLst>
                  <a:path w="128588" h="85725">
                    <a:moveTo>
                      <a:pt x="128588" y="42862"/>
                    </a:moveTo>
                    <a:cubicBezTo>
                      <a:pt x="111443" y="71438"/>
                      <a:pt x="90011" y="85725"/>
                      <a:pt x="64294" y="85725"/>
                    </a:cubicBezTo>
                    <a:cubicBezTo>
                      <a:pt x="38576" y="85725"/>
                      <a:pt x="17145" y="71438"/>
                      <a:pt x="0" y="42862"/>
                    </a:cubicBezTo>
                    <a:cubicBezTo>
                      <a:pt x="17145" y="14288"/>
                      <a:pt x="38576" y="0"/>
                      <a:pt x="64294" y="0"/>
                    </a:cubicBezTo>
                    <a:cubicBezTo>
                      <a:pt x="90011" y="0"/>
                      <a:pt x="111443" y="14288"/>
                      <a:pt x="128588" y="42862"/>
                    </a:cubicBezTo>
                  </a:path>
                </a:pathLst>
              </a:custGeom>
              <a:noFill/>
              <a:ln w="14288">
                <a:solidFill>
                  <a:srgbClr val="FFFFFF"/>
                </a:solidFill>
              </a:ln>
            </p:spPr>
          </p:sp>
        </p:grpSp>
        <p:sp>
          <p:nvSpPr>
            <p:cNvPr id="17" name="TextBox 17"/>
            <p:cNvSpPr txBox="1"/>
            <p:nvPr/>
          </p:nvSpPr>
          <p:spPr>
            <a:xfrm>
              <a:off x="738188" y="1415891"/>
              <a:ext cx="230302"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曝光</a:t>
              </a:r>
            </a:p>
          </p:txBody>
        </p:sp>
        <p:sp>
          <p:nvSpPr>
            <p:cNvPr id="18" name="TextBox 18"/>
            <p:cNvSpPr txBox="1"/>
            <p:nvPr/>
          </p:nvSpPr>
          <p:spPr>
            <a:xfrm>
              <a:off x="1376297" y="1415891"/>
              <a:ext cx="838266" cy="161925"/>
            </a:xfrm>
            <a:prstGeom prst="rect">
              <a:avLst/>
            </a:prstGeom>
            <a:noFill/>
            <a:ln>
              <a:noFill/>
            </a:ln>
          </p:spPr>
          <p:txBody>
            <a:bodyPr wrap="none" lIns="0" tIns="0" rIns="0" bIns="0" anchor="t" anchorCtr="0">
              <a:spAutoFit/>
            </a:bodyPr>
            <a:lstStyle/>
            <a:p>
              <a:pPr algn="r"/>
              <a:r>
                <a:rPr lang="zh-CN" sz="820" b="1" dirty="0">
                  <a:solidFill>
                    <a:srgbClr val="3D3835"/>
                  </a:solidFill>
                  <a:latin typeface="+mn-lt"/>
                  <a:ea typeface="+mn-ea"/>
                  <a:cs typeface="+mn-cs"/>
                </a:rPr>
                <a:t>​​​12,845,210</a:t>
              </a:r>
            </a:p>
          </p:txBody>
        </p:sp>
        <p:sp>
          <p:nvSpPr>
            <p:cNvPr id="19" name="TextBox 19"/>
            <p:cNvSpPr txBox="1"/>
            <p:nvPr/>
          </p:nvSpPr>
          <p:spPr>
            <a:xfrm>
              <a:off x="2364949" y="1419939"/>
              <a:ext cx="185002" cy="154781"/>
            </a:xfrm>
            <a:prstGeom prst="rect">
              <a:avLst/>
            </a:prstGeom>
            <a:noFill/>
            <a:ln>
              <a:noFill/>
            </a:ln>
          </p:spPr>
          <p:txBody>
            <a:bodyPr wrap="none" lIns="0" tIns="0" rIns="0" bIns="0" anchor="t" anchorCtr="0">
              <a:spAutoFit/>
            </a:bodyPr>
            <a:lstStyle/>
            <a:p>
              <a:pPr algn="ctr"/>
              <a:r>
                <a:rPr lang="zh-CN" sz="790" dirty="0">
                  <a:solidFill>
                    <a:srgbClr val="7A716B"/>
                  </a:solidFill>
                  <a:latin typeface="+mn-lt"/>
                  <a:ea typeface="+mn-ea"/>
                  <a:cs typeface="+mn-cs"/>
                </a:rPr>
                <a:t>​—​</a:t>
              </a:r>
            </a:p>
          </p:txBody>
        </p:sp>
        <p:sp>
          <p:nvSpPr>
            <p:cNvPr id="20" name="Rectangle 20"/>
            <p:cNvSpPr/>
            <p:nvPr/>
          </p:nvSpPr>
          <p:spPr>
            <a:xfrm>
              <a:off x="457200" y="1809750"/>
              <a:ext cx="990600" cy="571500"/>
            </a:xfrm>
            <a:prstGeom prst="roundRect">
              <a:avLst>
                <a:gd name="adj" fmla="val 5000"/>
              </a:avLst>
            </a:prstGeom>
            <a:solidFill>
              <a:srgbClr val="C41D00"/>
            </a:solidFill>
            <a:ln>
              <a:noFill/>
            </a:ln>
          </p:spPr>
        </p:sp>
        <p:grpSp>
          <p:nvGrpSpPr>
            <p:cNvPr id="25" name="Group 25"/>
            <p:cNvGrpSpPr/>
            <p:nvPr/>
          </p:nvGrpSpPr>
          <p:grpSpPr>
            <a:xfrm>
              <a:off x="573881" y="2031206"/>
              <a:ext cx="128588" cy="128588"/>
              <a:chOff x="573881" y="2031206"/>
              <a:chExt cx="128588" cy="128588"/>
            </a:xfrm>
          </p:grpSpPr>
          <p:sp>
            <p:nvSpPr>
              <p:cNvPr id="21" name="Freeform 21"/>
              <p:cNvSpPr/>
              <p:nvPr/>
            </p:nvSpPr>
            <p:spPr>
              <a:xfrm>
                <a:off x="588169" y="20312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22" name="Freeform 22"/>
              <p:cNvSpPr/>
              <p:nvPr/>
            </p:nvSpPr>
            <p:spPr>
              <a:xfrm>
                <a:off x="573881" y="21169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23" name="Freeform 23"/>
              <p:cNvSpPr/>
              <p:nvPr/>
            </p:nvSpPr>
            <p:spPr>
              <a:xfrm>
                <a:off x="666750" y="20321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24" name="Freeform 24"/>
              <p:cNvSpPr/>
              <p:nvPr/>
            </p:nvSpPr>
            <p:spPr>
              <a:xfrm>
                <a:off x="681038" y="21180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26" name="TextBox 26"/>
            <p:cNvSpPr txBox="1"/>
            <p:nvPr/>
          </p:nvSpPr>
          <p:spPr>
            <a:xfrm>
              <a:off x="795338" y="2044541"/>
              <a:ext cx="230302"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线索</a:t>
              </a:r>
            </a:p>
          </p:txBody>
        </p:sp>
        <p:sp>
          <p:nvSpPr>
            <p:cNvPr id="27" name="TextBox 27"/>
            <p:cNvSpPr txBox="1"/>
            <p:nvPr/>
          </p:nvSpPr>
          <p:spPr>
            <a:xfrm>
              <a:off x="1440046" y="2044541"/>
              <a:ext cx="774517" cy="161925"/>
            </a:xfrm>
            <a:prstGeom prst="rect">
              <a:avLst/>
            </a:prstGeom>
            <a:noFill/>
            <a:ln>
              <a:noFill/>
            </a:ln>
          </p:spPr>
          <p:txBody>
            <a:bodyPr wrap="none" lIns="0" tIns="0" rIns="0" bIns="0" anchor="t" anchorCtr="0">
              <a:spAutoFit/>
            </a:bodyPr>
            <a:lstStyle/>
            <a:p>
              <a:pPr algn="r"/>
              <a:r>
                <a:rPr lang="zh-CN" sz="820" b="1" dirty="0">
                  <a:solidFill>
                    <a:srgbClr val="3D3835"/>
                  </a:solidFill>
                  <a:latin typeface="+mn-lt"/>
                  <a:ea typeface="+mn-ea"/>
                  <a:cs typeface="+mn-cs"/>
                </a:rPr>
                <a:t>​​​1,284,521</a:t>
              </a:r>
            </a:p>
          </p:txBody>
        </p:sp>
        <p:sp>
          <p:nvSpPr>
            <p:cNvPr id="28" name="TextBox 28"/>
            <p:cNvSpPr txBox="1"/>
            <p:nvPr/>
          </p:nvSpPr>
          <p:spPr>
            <a:xfrm>
              <a:off x="2237329" y="2048589"/>
              <a:ext cx="440242"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​10.0%​</a:t>
              </a:r>
            </a:p>
          </p:txBody>
        </p:sp>
        <p:sp>
          <p:nvSpPr>
            <p:cNvPr id="29" name="Rectangle 29"/>
            <p:cNvSpPr/>
            <p:nvPr/>
          </p:nvSpPr>
          <p:spPr>
            <a:xfrm>
              <a:off x="514350" y="2438400"/>
              <a:ext cx="876300" cy="571500"/>
            </a:xfrm>
            <a:prstGeom prst="roundRect">
              <a:avLst>
                <a:gd name="adj" fmla="val 5000"/>
              </a:avLst>
            </a:prstGeom>
            <a:solidFill>
              <a:srgbClr val="D82000"/>
            </a:solidFill>
            <a:ln>
              <a:noFill/>
            </a:ln>
          </p:spPr>
        </p:sp>
        <p:grpSp>
          <p:nvGrpSpPr>
            <p:cNvPr id="35" name="Group 35"/>
            <p:cNvGrpSpPr/>
            <p:nvPr/>
          </p:nvGrpSpPr>
          <p:grpSpPr>
            <a:xfrm>
              <a:off x="626269" y="2659856"/>
              <a:ext cx="100012" cy="128588"/>
              <a:chOff x="626269" y="2659856"/>
              <a:chExt cx="100012" cy="128588"/>
            </a:xfrm>
          </p:grpSpPr>
          <p:sp>
            <p:nvSpPr>
              <p:cNvPr id="30" name="Freeform 30"/>
              <p:cNvSpPr/>
              <p:nvPr/>
            </p:nvSpPr>
            <p:spPr>
              <a:xfrm>
                <a:off x="690562" y="265985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31" name="Freeform 31"/>
              <p:cNvSpPr/>
              <p:nvPr/>
            </p:nvSpPr>
            <p:spPr>
              <a:xfrm>
                <a:off x="626269" y="265985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32" name="Freeform 32"/>
              <p:cNvSpPr/>
              <p:nvPr/>
            </p:nvSpPr>
            <p:spPr>
              <a:xfrm>
                <a:off x="654844" y="2702719"/>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33" name="Freeform 33"/>
              <p:cNvSpPr/>
              <p:nvPr/>
            </p:nvSpPr>
            <p:spPr>
              <a:xfrm>
                <a:off x="654844" y="2731294"/>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34" name="Freeform 34"/>
              <p:cNvSpPr/>
              <p:nvPr/>
            </p:nvSpPr>
            <p:spPr>
              <a:xfrm>
                <a:off x="654844" y="2759869"/>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36" name="TextBox 36"/>
            <p:cNvSpPr txBox="1"/>
            <p:nvPr/>
          </p:nvSpPr>
          <p:spPr>
            <a:xfrm>
              <a:off x="833438" y="2673191"/>
              <a:ext cx="230302"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申请</a:t>
              </a:r>
            </a:p>
          </p:txBody>
        </p:sp>
        <p:sp>
          <p:nvSpPr>
            <p:cNvPr id="37" name="TextBox 37"/>
            <p:cNvSpPr txBox="1"/>
            <p:nvPr/>
          </p:nvSpPr>
          <p:spPr>
            <a:xfrm>
              <a:off x="1631294" y="2673191"/>
              <a:ext cx="583269" cy="161925"/>
            </a:xfrm>
            <a:prstGeom prst="rect">
              <a:avLst/>
            </a:prstGeom>
            <a:noFill/>
            <a:ln>
              <a:noFill/>
            </a:ln>
          </p:spPr>
          <p:txBody>
            <a:bodyPr wrap="none" lIns="0" tIns="0" rIns="0" bIns="0" anchor="t" anchorCtr="0">
              <a:spAutoFit/>
            </a:bodyPr>
            <a:lstStyle/>
            <a:p>
              <a:pPr algn="r"/>
              <a:r>
                <a:rPr lang="zh-CN" sz="820" b="1" dirty="0">
                  <a:solidFill>
                    <a:srgbClr val="3D3835"/>
                  </a:solidFill>
                  <a:latin typeface="+mn-lt"/>
                  <a:ea typeface="+mn-ea"/>
                  <a:cs typeface="+mn-cs"/>
                </a:rPr>
                <a:t>​​286,315</a:t>
              </a:r>
            </a:p>
          </p:txBody>
        </p:sp>
        <p:sp>
          <p:nvSpPr>
            <p:cNvPr id="38" name="TextBox 38"/>
            <p:cNvSpPr txBox="1"/>
            <p:nvPr/>
          </p:nvSpPr>
          <p:spPr>
            <a:xfrm>
              <a:off x="2237329" y="2677239"/>
              <a:ext cx="440242"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​22.3%​</a:t>
              </a:r>
            </a:p>
          </p:txBody>
        </p:sp>
        <p:sp>
          <p:nvSpPr>
            <p:cNvPr id="39" name="Rectangle 39"/>
            <p:cNvSpPr/>
            <p:nvPr/>
          </p:nvSpPr>
          <p:spPr>
            <a:xfrm>
              <a:off x="571500" y="3067050"/>
              <a:ext cx="762000" cy="571500"/>
            </a:xfrm>
            <a:prstGeom prst="roundRect">
              <a:avLst>
                <a:gd name="adj" fmla="val 5000"/>
              </a:avLst>
            </a:prstGeom>
            <a:solidFill>
              <a:srgbClr val="E0371A"/>
            </a:solidFill>
            <a:ln>
              <a:noFill/>
            </a:ln>
          </p:spPr>
        </p:sp>
        <p:grpSp>
          <p:nvGrpSpPr>
            <p:cNvPr id="48" name="Group 48"/>
            <p:cNvGrpSpPr/>
            <p:nvPr/>
          </p:nvGrpSpPr>
          <p:grpSpPr>
            <a:xfrm>
              <a:off x="628650" y="3286125"/>
              <a:ext cx="117475" cy="123825"/>
              <a:chOff x="628650" y="3286125"/>
              <a:chExt cx="117475" cy="123825"/>
            </a:xfrm>
          </p:grpSpPr>
          <p:sp>
            <p:nvSpPr>
              <p:cNvPr id="40" name="Freeform 40"/>
              <p:cNvSpPr/>
              <p:nvPr/>
            </p:nvSpPr>
            <p:spPr>
              <a:xfrm>
                <a:off x="628650" y="3400425"/>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41" name="Freeform 41"/>
              <p:cNvSpPr/>
              <p:nvPr/>
            </p:nvSpPr>
            <p:spPr>
              <a:xfrm>
                <a:off x="628650" y="3330575"/>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42" name="Freeform 42"/>
              <p:cNvSpPr/>
              <p:nvPr/>
            </p:nvSpPr>
            <p:spPr>
              <a:xfrm>
                <a:off x="641350" y="3286125"/>
                <a:ext cx="88900" cy="19050"/>
              </a:xfrm>
              <a:custGeom>
                <a:avLst/>
                <a:gdLst/>
                <a:ahLst/>
                <a:cxnLst/>
                <a:rect l="l" t="t" r="r" b="b"/>
                <a:pathLst>
                  <a:path w="88900" h="19050">
                    <a:moveTo>
                      <a:pt x="0" y="19050"/>
                    </a:moveTo>
                    <a:lnTo>
                      <a:pt x="44450" y="0"/>
                    </a:lnTo>
                    <a:lnTo>
                      <a:pt x="88900" y="19050"/>
                    </a:lnTo>
                  </a:path>
                </a:pathLst>
              </a:custGeom>
              <a:noFill/>
              <a:ln w="12700">
                <a:solidFill>
                  <a:srgbClr val="FFFFFF"/>
                </a:solidFill>
              </a:ln>
            </p:spPr>
          </p:sp>
          <p:sp>
            <p:nvSpPr>
              <p:cNvPr id="43" name="Freeform 43"/>
              <p:cNvSpPr/>
              <p:nvPr/>
            </p:nvSpPr>
            <p:spPr>
              <a:xfrm>
                <a:off x="635000" y="3330575"/>
                <a:ext cx="9525" cy="69850"/>
              </a:xfrm>
              <a:custGeom>
                <a:avLst/>
                <a:gdLst/>
                <a:ahLst/>
                <a:cxnLst/>
                <a:rect l="l" t="t" r="r" b="b"/>
                <a:pathLst>
                  <a:path w="9525" h="69850">
                    <a:moveTo>
                      <a:pt x="0" y="0"/>
                    </a:moveTo>
                    <a:lnTo>
                      <a:pt x="0" y="69850"/>
                    </a:lnTo>
                  </a:path>
                </a:pathLst>
              </a:custGeom>
              <a:noFill/>
              <a:ln w="12700">
                <a:solidFill>
                  <a:srgbClr val="FFFFFF"/>
                </a:solidFill>
              </a:ln>
            </p:spPr>
          </p:sp>
          <p:sp>
            <p:nvSpPr>
              <p:cNvPr id="44" name="Freeform 44"/>
              <p:cNvSpPr/>
              <p:nvPr/>
            </p:nvSpPr>
            <p:spPr>
              <a:xfrm>
                <a:off x="736600" y="3330575"/>
                <a:ext cx="9525" cy="69850"/>
              </a:xfrm>
              <a:custGeom>
                <a:avLst/>
                <a:gdLst/>
                <a:ahLst/>
                <a:cxnLst/>
                <a:rect l="l" t="t" r="r" b="b"/>
                <a:pathLst>
                  <a:path w="9525" h="69850">
                    <a:moveTo>
                      <a:pt x="0" y="0"/>
                    </a:moveTo>
                    <a:lnTo>
                      <a:pt x="0" y="69850"/>
                    </a:lnTo>
                  </a:path>
                </a:pathLst>
              </a:custGeom>
              <a:noFill/>
              <a:ln w="12700">
                <a:solidFill>
                  <a:srgbClr val="FFFFFF"/>
                </a:solidFill>
              </a:ln>
            </p:spPr>
          </p:sp>
          <p:sp>
            <p:nvSpPr>
              <p:cNvPr id="45" name="Freeform 45"/>
              <p:cNvSpPr/>
              <p:nvPr/>
            </p:nvSpPr>
            <p:spPr>
              <a:xfrm>
                <a:off x="660400" y="3355975"/>
                <a:ext cx="9525" cy="19050"/>
              </a:xfrm>
              <a:custGeom>
                <a:avLst/>
                <a:gdLst/>
                <a:ahLst/>
                <a:cxnLst/>
                <a:rect l="l" t="t" r="r" b="b"/>
                <a:pathLst>
                  <a:path w="9525" h="19050">
                    <a:moveTo>
                      <a:pt x="0" y="0"/>
                    </a:moveTo>
                    <a:lnTo>
                      <a:pt x="0" y="19050"/>
                    </a:lnTo>
                  </a:path>
                </a:pathLst>
              </a:custGeom>
              <a:noFill/>
              <a:ln w="12700">
                <a:solidFill>
                  <a:srgbClr val="FFFFFF"/>
                </a:solidFill>
              </a:ln>
            </p:spPr>
          </p:sp>
          <p:sp>
            <p:nvSpPr>
              <p:cNvPr id="46" name="Freeform 46"/>
              <p:cNvSpPr/>
              <p:nvPr/>
            </p:nvSpPr>
            <p:spPr>
              <a:xfrm>
                <a:off x="685800" y="3355975"/>
                <a:ext cx="9525" cy="19050"/>
              </a:xfrm>
              <a:custGeom>
                <a:avLst/>
                <a:gdLst/>
                <a:ahLst/>
                <a:cxnLst/>
                <a:rect l="l" t="t" r="r" b="b"/>
                <a:pathLst>
                  <a:path w="9525" h="19050">
                    <a:moveTo>
                      <a:pt x="0" y="0"/>
                    </a:moveTo>
                    <a:lnTo>
                      <a:pt x="0" y="19050"/>
                    </a:lnTo>
                  </a:path>
                </a:pathLst>
              </a:custGeom>
              <a:noFill/>
              <a:ln w="12700">
                <a:solidFill>
                  <a:srgbClr val="FFFFFF"/>
                </a:solidFill>
              </a:ln>
            </p:spPr>
          </p:sp>
          <p:sp>
            <p:nvSpPr>
              <p:cNvPr id="47" name="Freeform 47"/>
              <p:cNvSpPr/>
              <p:nvPr/>
            </p:nvSpPr>
            <p:spPr>
              <a:xfrm>
                <a:off x="711200" y="3355975"/>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49" name="TextBox 49"/>
            <p:cNvSpPr txBox="1"/>
            <p:nvPr/>
          </p:nvSpPr>
          <p:spPr>
            <a:xfrm>
              <a:off x="795338" y="33058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开户成功</a:t>
              </a:r>
            </a:p>
          </p:txBody>
        </p:sp>
        <p:sp>
          <p:nvSpPr>
            <p:cNvPr id="50" name="TextBox 50"/>
            <p:cNvSpPr txBox="1"/>
            <p:nvPr/>
          </p:nvSpPr>
          <p:spPr>
            <a:xfrm>
              <a:off x="1695043" y="3301841"/>
              <a:ext cx="519519" cy="161925"/>
            </a:xfrm>
            <a:prstGeom prst="rect">
              <a:avLst/>
            </a:prstGeom>
            <a:noFill/>
            <a:ln>
              <a:noFill/>
            </a:ln>
          </p:spPr>
          <p:txBody>
            <a:bodyPr wrap="none" lIns="0" tIns="0" rIns="0" bIns="0" anchor="t" anchorCtr="0">
              <a:spAutoFit/>
            </a:bodyPr>
            <a:lstStyle/>
            <a:p>
              <a:pPr algn="r"/>
              <a:r>
                <a:rPr lang="zh-CN" sz="820" b="1" dirty="0">
                  <a:solidFill>
                    <a:srgbClr val="3D3835"/>
                  </a:solidFill>
                  <a:latin typeface="+mn-lt"/>
                  <a:ea typeface="+mn-ea"/>
                  <a:cs typeface="+mn-cs"/>
                </a:rPr>
                <a:t>​​86,742</a:t>
              </a:r>
            </a:p>
          </p:txBody>
        </p:sp>
        <p:sp>
          <p:nvSpPr>
            <p:cNvPr id="51" name="TextBox 51"/>
            <p:cNvSpPr txBox="1"/>
            <p:nvPr/>
          </p:nvSpPr>
          <p:spPr>
            <a:xfrm>
              <a:off x="2237329" y="3305889"/>
              <a:ext cx="440242"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​30.3%​</a:t>
              </a:r>
            </a:p>
          </p:txBody>
        </p:sp>
        <p:sp>
          <p:nvSpPr>
            <p:cNvPr id="52" name="Rectangle 52"/>
            <p:cNvSpPr/>
            <p:nvPr/>
          </p:nvSpPr>
          <p:spPr>
            <a:xfrm>
              <a:off x="628650" y="3695700"/>
              <a:ext cx="647700" cy="571500"/>
            </a:xfrm>
            <a:prstGeom prst="roundRect">
              <a:avLst>
                <a:gd name="adj" fmla="val 5000"/>
              </a:avLst>
            </a:prstGeom>
            <a:solidFill>
              <a:srgbClr val="EE492C"/>
            </a:solidFill>
            <a:ln>
              <a:noFill/>
            </a:ln>
          </p:spPr>
        </p:sp>
        <p:grpSp>
          <p:nvGrpSpPr>
            <p:cNvPr id="55" name="Group 55"/>
            <p:cNvGrpSpPr/>
            <p:nvPr/>
          </p:nvGrpSpPr>
          <p:grpSpPr>
            <a:xfrm>
              <a:off x="901700" y="3797300"/>
              <a:ext cx="101600" cy="101600"/>
              <a:chOff x="901700" y="3797300"/>
              <a:chExt cx="101600" cy="101600"/>
            </a:xfrm>
          </p:grpSpPr>
          <p:sp>
            <p:nvSpPr>
              <p:cNvPr id="53" name="Freeform 53"/>
              <p:cNvSpPr/>
              <p:nvPr/>
            </p:nvSpPr>
            <p:spPr>
              <a:xfrm>
                <a:off x="901700" y="3797300"/>
                <a:ext cx="95250" cy="101600"/>
              </a:xfrm>
              <a:custGeom>
                <a:avLst/>
                <a:gdLst/>
                <a:ahLst/>
                <a:cxnLst/>
                <a:rect l="l" t="t" r="r" b="b"/>
                <a:pathLst>
                  <a:path w="95250" h="101600">
                    <a:moveTo>
                      <a:pt x="82550" y="25400"/>
                    </a:moveTo>
                    <a:lnTo>
                      <a:pt x="82550" y="6350"/>
                    </a:lnTo>
                    <a:cubicBezTo>
                      <a:pt x="82550" y="2843"/>
                      <a:pt x="79707" y="0"/>
                      <a:pt x="76200" y="0"/>
                    </a:cubicBezTo>
                    <a:lnTo>
                      <a:pt x="12700" y="0"/>
                    </a:lnTo>
                    <a:cubicBezTo>
                      <a:pt x="5686" y="0"/>
                      <a:pt x="0" y="5686"/>
                      <a:pt x="0" y="12700"/>
                    </a:cubicBezTo>
                    <a:cubicBezTo>
                      <a:pt x="0" y="19714"/>
                      <a:pt x="5686" y="25400"/>
                      <a:pt x="12700" y="25400"/>
                    </a:cubicBezTo>
                    <a:lnTo>
                      <a:pt x="88900" y="25400"/>
                    </a:lnTo>
                    <a:cubicBezTo>
                      <a:pt x="92407" y="25400"/>
                      <a:pt x="95250" y="28243"/>
                      <a:pt x="95250" y="31750"/>
                    </a:cubicBezTo>
                    <a:lnTo>
                      <a:pt x="95250" y="50800"/>
                    </a:lnTo>
                    <a:moveTo>
                      <a:pt x="95250" y="76200"/>
                    </a:moveTo>
                    <a:lnTo>
                      <a:pt x="95250" y="95250"/>
                    </a:lnTo>
                    <a:cubicBezTo>
                      <a:pt x="95250" y="98757"/>
                      <a:pt x="92407" y="101600"/>
                      <a:pt x="88900" y="101600"/>
                    </a:cubicBezTo>
                    <a:lnTo>
                      <a:pt x="12700" y="101600"/>
                    </a:lnTo>
                    <a:cubicBezTo>
                      <a:pt x="5686" y="101600"/>
                      <a:pt x="0" y="95914"/>
                      <a:pt x="0" y="88900"/>
                    </a:cubicBezTo>
                    <a:lnTo>
                      <a:pt x="0" y="12700"/>
                    </a:lnTo>
                  </a:path>
                </a:pathLst>
              </a:custGeom>
              <a:noFill/>
              <a:ln w="12700">
                <a:solidFill>
                  <a:srgbClr val="FFFFFF"/>
                </a:solidFill>
              </a:ln>
            </p:spPr>
          </p:sp>
          <p:sp>
            <p:nvSpPr>
              <p:cNvPr id="54" name="Freeform 54"/>
              <p:cNvSpPr/>
              <p:nvPr/>
            </p:nvSpPr>
            <p:spPr>
              <a:xfrm>
                <a:off x="965200" y="3848100"/>
                <a:ext cx="38100" cy="25400"/>
              </a:xfrm>
              <a:custGeom>
                <a:avLst/>
                <a:gdLst/>
                <a:ahLst/>
                <a:cxnLst/>
                <a:rect l="l" t="t" r="r" b="b"/>
                <a:pathLst>
                  <a:path w="38100" h="25400">
                    <a:moveTo>
                      <a:pt x="38100" y="0"/>
                    </a:moveTo>
                    <a:lnTo>
                      <a:pt x="38100" y="25400"/>
                    </a:lnTo>
                    <a:lnTo>
                      <a:pt x="12700" y="25400"/>
                    </a:lnTo>
                    <a:cubicBezTo>
                      <a:pt x="5686" y="25400"/>
                      <a:pt x="0" y="19714"/>
                      <a:pt x="0" y="12700"/>
                    </a:cubicBezTo>
                    <a:cubicBezTo>
                      <a:pt x="0" y="5686"/>
                      <a:pt x="5686" y="0"/>
                      <a:pt x="12700" y="0"/>
                    </a:cubicBezTo>
                    <a:lnTo>
                      <a:pt x="38100" y="0"/>
                    </a:lnTo>
                  </a:path>
                </a:pathLst>
              </a:custGeom>
              <a:noFill/>
              <a:ln w="12700">
                <a:solidFill>
                  <a:srgbClr val="FFFFFF"/>
                </a:solidFill>
              </a:ln>
            </p:spPr>
          </p:sp>
        </p:grpSp>
        <p:sp>
          <p:nvSpPr>
            <p:cNvPr id="56" name="TextBox 56"/>
            <p:cNvSpPr txBox="1"/>
            <p:nvPr/>
          </p:nvSpPr>
          <p:spPr>
            <a:xfrm>
              <a:off x="745808" y="40338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首笔交易</a:t>
              </a:r>
            </a:p>
          </p:txBody>
        </p:sp>
        <p:sp>
          <p:nvSpPr>
            <p:cNvPr id="57" name="TextBox 57"/>
            <p:cNvSpPr txBox="1"/>
            <p:nvPr/>
          </p:nvSpPr>
          <p:spPr>
            <a:xfrm>
              <a:off x="1695043" y="3930491"/>
              <a:ext cx="519519" cy="161925"/>
            </a:xfrm>
            <a:prstGeom prst="rect">
              <a:avLst/>
            </a:prstGeom>
            <a:noFill/>
            <a:ln>
              <a:noFill/>
            </a:ln>
          </p:spPr>
          <p:txBody>
            <a:bodyPr wrap="none" lIns="0" tIns="0" rIns="0" bIns="0" anchor="t" anchorCtr="0">
              <a:spAutoFit/>
            </a:bodyPr>
            <a:lstStyle/>
            <a:p>
              <a:pPr algn="r"/>
              <a:r>
                <a:rPr lang="zh-CN" sz="820" b="1" dirty="0">
                  <a:solidFill>
                    <a:srgbClr val="3D3835"/>
                  </a:solidFill>
                  <a:latin typeface="+mn-lt"/>
                  <a:ea typeface="+mn-ea"/>
                  <a:cs typeface="+mn-cs"/>
                </a:rPr>
                <a:t>​​49,853</a:t>
              </a:r>
            </a:p>
          </p:txBody>
        </p:sp>
        <p:sp>
          <p:nvSpPr>
            <p:cNvPr id="58" name="TextBox 58"/>
            <p:cNvSpPr txBox="1"/>
            <p:nvPr/>
          </p:nvSpPr>
          <p:spPr>
            <a:xfrm>
              <a:off x="2237329" y="3934539"/>
              <a:ext cx="440242"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​57.4%​</a:t>
              </a:r>
            </a:p>
          </p:txBody>
        </p:sp>
        <p:sp>
          <p:nvSpPr>
            <p:cNvPr id="59" name="Rectangle 59"/>
            <p:cNvSpPr/>
            <p:nvPr/>
          </p:nvSpPr>
          <p:spPr>
            <a:xfrm>
              <a:off x="685800" y="4324350"/>
              <a:ext cx="533400" cy="571500"/>
            </a:xfrm>
            <a:prstGeom prst="roundRect">
              <a:avLst>
                <a:gd name="adj" fmla="val 5357"/>
              </a:avLst>
            </a:prstGeom>
            <a:solidFill>
              <a:srgbClr val="F57E6A"/>
            </a:solidFill>
            <a:ln>
              <a:noFill/>
            </a:ln>
          </p:spPr>
        </p:sp>
        <p:grpSp>
          <p:nvGrpSpPr>
            <p:cNvPr id="62" name="Group 62"/>
            <p:cNvGrpSpPr/>
            <p:nvPr/>
          </p:nvGrpSpPr>
          <p:grpSpPr>
            <a:xfrm>
              <a:off x="901700" y="4423500"/>
              <a:ext cx="101600" cy="106500"/>
              <a:chOff x="901700" y="4423500"/>
              <a:chExt cx="101600" cy="106500"/>
            </a:xfrm>
          </p:grpSpPr>
          <p:sp>
            <p:nvSpPr>
              <p:cNvPr id="60" name="Freeform 60"/>
              <p:cNvSpPr/>
              <p:nvPr/>
            </p:nvSpPr>
            <p:spPr>
              <a:xfrm>
                <a:off x="901700" y="442350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FFFFFF"/>
                </a:solidFill>
              </a:ln>
            </p:spPr>
          </p:sp>
          <p:sp>
            <p:nvSpPr>
              <p:cNvPr id="61" name="Freeform 61"/>
              <p:cNvSpPr/>
              <p:nvPr/>
            </p:nvSpPr>
            <p:spPr>
              <a:xfrm>
                <a:off x="901700" y="448310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FFFFFF"/>
                </a:solidFill>
              </a:ln>
            </p:spPr>
          </p:sp>
        </p:grpSp>
        <p:sp>
          <p:nvSpPr>
            <p:cNvPr id="63" name="TextBox 63"/>
            <p:cNvSpPr txBox="1"/>
            <p:nvPr/>
          </p:nvSpPr>
          <p:spPr>
            <a:xfrm>
              <a:off x="679675" y="4662488"/>
              <a:ext cx="545649"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​30日活跃​</a:t>
              </a:r>
            </a:p>
          </p:txBody>
        </p:sp>
        <p:sp>
          <p:nvSpPr>
            <p:cNvPr id="64" name="TextBox 64"/>
            <p:cNvSpPr txBox="1"/>
            <p:nvPr/>
          </p:nvSpPr>
          <p:spPr>
            <a:xfrm>
              <a:off x="1695043" y="4559141"/>
              <a:ext cx="519519" cy="161925"/>
            </a:xfrm>
            <a:prstGeom prst="rect">
              <a:avLst/>
            </a:prstGeom>
            <a:noFill/>
            <a:ln>
              <a:noFill/>
            </a:ln>
          </p:spPr>
          <p:txBody>
            <a:bodyPr wrap="none" lIns="0" tIns="0" rIns="0" bIns="0" anchor="t" anchorCtr="0">
              <a:spAutoFit/>
            </a:bodyPr>
            <a:lstStyle/>
            <a:p>
              <a:pPr algn="r"/>
              <a:r>
                <a:rPr lang="zh-CN" sz="820" b="1" dirty="0">
                  <a:solidFill>
                    <a:srgbClr val="3D3835"/>
                  </a:solidFill>
                  <a:latin typeface="+mn-lt"/>
                  <a:ea typeface="+mn-ea"/>
                  <a:cs typeface="+mn-cs"/>
                </a:rPr>
                <a:t>​​31,204</a:t>
              </a:r>
            </a:p>
          </p:txBody>
        </p:sp>
        <p:sp>
          <p:nvSpPr>
            <p:cNvPr id="65" name="TextBox 65"/>
            <p:cNvSpPr txBox="1"/>
            <p:nvPr/>
          </p:nvSpPr>
          <p:spPr>
            <a:xfrm>
              <a:off x="2237329" y="4563189"/>
              <a:ext cx="440242"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​62.6%​</a:t>
              </a:r>
            </a:p>
          </p:txBody>
        </p:sp>
        <p:sp>
          <p:nvSpPr>
            <p:cNvPr id="66" name="Rectangle 66"/>
            <p:cNvSpPr/>
            <p:nvPr/>
          </p:nvSpPr>
          <p:spPr>
            <a:xfrm>
              <a:off x="342900" y="5257800"/>
              <a:ext cx="2362200" cy="1371600"/>
            </a:xfrm>
            <a:prstGeom prst="roundRect">
              <a:avLst>
                <a:gd name="adj" fmla="val 2778"/>
              </a:avLst>
            </a:prstGeom>
            <a:solidFill>
              <a:srgbClr val="FFF8F2"/>
            </a:solidFill>
            <a:ln w="9525">
              <a:solidFill>
                <a:srgbClr val="F0B8AE"/>
              </a:solidFill>
            </a:ln>
          </p:spPr>
        </p:sp>
        <p:sp>
          <p:nvSpPr>
            <p:cNvPr id="67" name="Line 67"/>
            <p:cNvSpPr/>
            <p:nvPr/>
          </p:nvSpPr>
          <p:spPr>
            <a:xfrm>
              <a:off x="1133475" y="5353050"/>
              <a:ext cx="9525" cy="1181100"/>
            </a:xfrm>
            <a:custGeom>
              <a:avLst/>
              <a:gdLst/>
              <a:ahLst/>
              <a:cxnLst/>
              <a:rect l="l" t="t" r="r" b="b"/>
              <a:pathLst>
                <a:path w="9525" h="1181100">
                  <a:moveTo>
                    <a:pt x="0" y="0"/>
                  </a:moveTo>
                  <a:lnTo>
                    <a:pt x="0" y="1181100"/>
                  </a:lnTo>
                </a:path>
              </a:pathLst>
            </a:custGeom>
            <a:noFill/>
            <a:ln w="9525">
              <a:solidFill>
                <a:srgbClr val="EADBCE"/>
              </a:solidFill>
            </a:ln>
          </p:spPr>
        </p:sp>
        <p:sp>
          <p:nvSpPr>
            <p:cNvPr id="68" name="Line 68"/>
            <p:cNvSpPr/>
            <p:nvPr/>
          </p:nvSpPr>
          <p:spPr>
            <a:xfrm>
              <a:off x="1914525" y="5353050"/>
              <a:ext cx="9525" cy="1181100"/>
            </a:xfrm>
            <a:custGeom>
              <a:avLst/>
              <a:gdLst/>
              <a:ahLst/>
              <a:cxnLst/>
              <a:rect l="l" t="t" r="r" b="b"/>
              <a:pathLst>
                <a:path w="9525" h="1181100">
                  <a:moveTo>
                    <a:pt x="0" y="0"/>
                  </a:moveTo>
                  <a:lnTo>
                    <a:pt x="0" y="1181100"/>
                  </a:lnTo>
                </a:path>
              </a:pathLst>
            </a:custGeom>
            <a:noFill/>
            <a:ln w="9525">
              <a:solidFill>
                <a:srgbClr val="EADBCE"/>
              </a:solidFill>
            </a:ln>
          </p:spPr>
        </p:sp>
        <p:sp>
          <p:nvSpPr>
            <p:cNvPr id="69" name="TextBox 69"/>
            <p:cNvSpPr txBox="1"/>
            <p:nvPr/>
          </p:nvSpPr>
          <p:spPr>
            <a:xfrm>
              <a:off x="360998" y="5447586"/>
              <a:ext cx="802005" cy="273844"/>
            </a:xfrm>
            <a:prstGeom prst="rect">
              <a:avLst/>
            </a:prstGeom>
            <a:noFill/>
            <a:ln>
              <a:noFill/>
            </a:ln>
          </p:spPr>
          <p:txBody>
            <a:bodyPr wrap="none" lIns="0" tIns="0" rIns="0" bIns="0" anchor="t" anchorCtr="0">
              <a:spAutoFit/>
            </a:bodyPr>
            <a:lstStyle/>
            <a:p>
              <a:pPr algn="ctr">
                <a:lnSpc>
                  <a:spcPts val="1050"/>
                </a:lnSpc>
              </a:pPr>
              <a:r>
                <a:rPr lang="zh-CN" sz="710" b="1" dirty="0">
                  <a:solidFill>
                    <a:srgbClr val="4A130A"/>
                  </a:solidFill>
                  <a:latin typeface="+mn-lt"/>
                  <a:ea typeface="+mn-ea"/>
                  <a:cs typeface="+mn-cs"/>
                </a:rPr>
                <a:t>整体转化率</a:t>
              </a:r>
            </a:p>
            <a:p>
              <a:pPr algn="ctr">
                <a:lnSpc>
                  <a:spcPts val="1050"/>
                </a:lnSpc>
              </a:pPr>
              <a:r>
                <a:rPr lang="zh-CN" sz="640" dirty="0">
                  <a:solidFill>
                    <a:srgbClr val="7A716B"/>
                  </a:solidFill>
                  <a:latin typeface="+mn-lt"/>
                  <a:ea typeface="+mn-ea"/>
                  <a:cs typeface="+mn-cs"/>
                </a:rPr>
                <a:t>​（曝光→30日活跃）​</a:t>
              </a:r>
            </a:p>
          </p:txBody>
        </p:sp>
        <p:sp>
          <p:nvSpPr>
            <p:cNvPr id="70" name="TextBox 70"/>
            <p:cNvSpPr txBox="1"/>
            <p:nvPr/>
          </p:nvSpPr>
          <p:spPr>
            <a:xfrm>
              <a:off x="389141" y="5958364"/>
              <a:ext cx="745718"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​0.24%​</a:t>
              </a:r>
            </a:p>
          </p:txBody>
        </p:sp>
        <p:sp>
          <p:nvSpPr>
            <p:cNvPr id="71" name="TextBox 71"/>
            <p:cNvSpPr txBox="1"/>
            <p:nvPr/>
          </p:nvSpPr>
          <p:spPr>
            <a:xfrm>
              <a:off x="1041718" y="5447586"/>
              <a:ext cx="964565" cy="273844"/>
            </a:xfrm>
            <a:prstGeom prst="rect">
              <a:avLst/>
            </a:prstGeom>
            <a:noFill/>
            <a:ln>
              <a:noFill/>
            </a:ln>
          </p:spPr>
          <p:txBody>
            <a:bodyPr wrap="none" lIns="0" tIns="0" rIns="0" bIns="0" anchor="t" anchorCtr="0">
              <a:spAutoFit/>
            </a:bodyPr>
            <a:lstStyle/>
            <a:p>
              <a:pPr algn="ctr">
                <a:lnSpc>
                  <a:spcPts val="1050"/>
                </a:lnSpc>
              </a:pPr>
              <a:r>
                <a:rPr lang="zh-CN" sz="710" b="1" dirty="0">
                  <a:solidFill>
                    <a:srgbClr val="4A130A"/>
                  </a:solidFill>
                  <a:latin typeface="+mn-lt"/>
                  <a:ea typeface="+mn-ea"/>
                  <a:cs typeface="+mn-cs"/>
                </a:rPr>
                <a:t>​30日活跃率​</a:t>
              </a:r>
            </a:p>
            <a:p>
              <a:pPr algn="ctr">
                <a:lnSpc>
                  <a:spcPts val="1050"/>
                </a:lnSpc>
              </a:pPr>
              <a:r>
                <a:rPr lang="zh-CN" sz="640" dirty="0">
                  <a:solidFill>
                    <a:srgbClr val="7A716B"/>
                  </a:solidFill>
                  <a:latin typeface="+mn-lt"/>
                  <a:ea typeface="+mn-ea"/>
                  <a:cs typeface="+mn-cs"/>
                </a:rPr>
                <a:t>​（开户成功→30日活跃）​</a:t>
              </a:r>
            </a:p>
          </p:txBody>
        </p:sp>
        <p:sp>
          <p:nvSpPr>
            <p:cNvPr id="72" name="TextBox 72"/>
            <p:cNvSpPr txBox="1"/>
            <p:nvPr/>
          </p:nvSpPr>
          <p:spPr>
            <a:xfrm>
              <a:off x="1151141" y="5958364"/>
              <a:ext cx="745718"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​36.0%​</a:t>
              </a:r>
            </a:p>
          </p:txBody>
        </p:sp>
        <p:sp>
          <p:nvSpPr>
            <p:cNvPr id="73" name="TextBox 73"/>
            <p:cNvSpPr txBox="1"/>
            <p:nvPr/>
          </p:nvSpPr>
          <p:spPr>
            <a:xfrm>
              <a:off x="1926400" y="5447586"/>
              <a:ext cx="757301" cy="273844"/>
            </a:xfrm>
            <a:prstGeom prst="rect">
              <a:avLst/>
            </a:prstGeom>
            <a:noFill/>
            <a:ln>
              <a:noFill/>
            </a:ln>
          </p:spPr>
          <p:txBody>
            <a:bodyPr wrap="none" lIns="0" tIns="0" rIns="0" bIns="0" anchor="t" anchorCtr="0">
              <a:spAutoFit/>
            </a:bodyPr>
            <a:lstStyle/>
            <a:p>
              <a:pPr algn="ctr">
                <a:lnSpc>
                  <a:spcPts val="1050"/>
                </a:lnSpc>
              </a:pPr>
              <a:r>
                <a:rPr lang="zh-CN" sz="710" b="1" dirty="0">
                  <a:solidFill>
                    <a:srgbClr val="4A130A"/>
                  </a:solidFill>
                  <a:latin typeface="+mn-lt"/>
                  <a:ea typeface="+mn-ea"/>
                  <a:cs typeface="+mn-cs"/>
                </a:rPr>
                <a:t>​线上周期变化​</a:t>
              </a:r>
            </a:p>
            <a:p>
              <a:pPr algn="ctr">
                <a:lnSpc>
                  <a:spcPts val="1050"/>
                </a:lnSpc>
              </a:pPr>
              <a:r>
                <a:rPr lang="zh-CN" sz="640" dirty="0">
                  <a:solidFill>
                    <a:srgbClr val="7A716B"/>
                  </a:solidFill>
                  <a:latin typeface="+mn-lt"/>
                  <a:ea typeface="+mn-ea"/>
                  <a:cs typeface="+mn-cs"/>
                </a:rPr>
                <a:t>​（30日活跃客户）​</a:t>
              </a:r>
            </a:p>
          </p:txBody>
        </p:sp>
        <p:sp>
          <p:nvSpPr>
            <p:cNvPr id="74" name="TextBox 74"/>
            <p:cNvSpPr txBox="1"/>
            <p:nvPr/>
          </p:nvSpPr>
          <p:spPr>
            <a:xfrm>
              <a:off x="1882436" y="5958364"/>
              <a:ext cx="845229"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​↗12.6%​</a:t>
              </a:r>
            </a:p>
          </p:txBody>
        </p:sp>
      </p:grpSp>
      <p:grpSp>
        <p:nvGrpSpPr>
          <p:cNvPr id="145" name="channel-economy"/>
          <p:cNvGrpSpPr/>
          <p:nvPr/>
        </p:nvGrpSpPr>
        <p:grpSpPr>
          <a:xfrm>
            <a:off x="2781300" y="685800"/>
            <a:ext cx="4000500" cy="2959418"/>
            <a:chOff x="2781300" y="685800"/>
            <a:chExt cx="4000500" cy="2959418"/>
          </a:xfrm>
        </p:grpSpPr>
        <p:sp>
          <p:nvSpPr>
            <p:cNvPr id="76" name="Rectangle 76"/>
            <p:cNvSpPr/>
            <p:nvPr/>
          </p:nvSpPr>
          <p:spPr>
            <a:xfrm>
              <a:off x="2781300" y="685800"/>
              <a:ext cx="4000500" cy="228600"/>
            </a:xfrm>
            <a:prstGeom prst="roundRect">
              <a:avLst>
                <a:gd name="adj" fmla="val 12500"/>
              </a:avLst>
            </a:prstGeom>
            <a:solidFill>
              <a:srgbClr val="C41D00"/>
            </a:solidFill>
            <a:ln>
              <a:noFill/>
            </a:ln>
          </p:spPr>
        </p:sp>
        <p:sp>
          <p:nvSpPr>
            <p:cNvPr id="77" name="TextBox 77"/>
            <p:cNvSpPr txBox="1"/>
            <p:nvPr/>
          </p:nvSpPr>
          <p:spPr>
            <a:xfrm>
              <a:off x="4031060" y="750570"/>
              <a:ext cx="150098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​渠道单元经济（近30天）​</a:t>
              </a:r>
            </a:p>
          </p:txBody>
        </p:sp>
        <p:sp>
          <p:nvSpPr>
            <p:cNvPr id="78" name="Rectangle 78"/>
            <p:cNvSpPr/>
            <p:nvPr/>
          </p:nvSpPr>
          <p:spPr>
            <a:xfrm>
              <a:off x="2781300" y="971550"/>
              <a:ext cx="4000500" cy="285750"/>
            </a:xfrm>
            <a:prstGeom prst="rect">
              <a:avLst/>
            </a:prstGeom>
            <a:solidFill>
              <a:srgbClr val="C41D00"/>
            </a:solidFill>
            <a:ln>
              <a:noFill/>
            </a:ln>
          </p:spPr>
        </p:sp>
        <p:sp>
          <p:nvSpPr>
            <p:cNvPr id="79" name="TextBox 79"/>
            <p:cNvSpPr txBox="1"/>
            <p:nvPr/>
          </p:nvSpPr>
          <p:spPr>
            <a:xfrm>
              <a:off x="3104096" y="1079659"/>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渠道</a:t>
              </a:r>
            </a:p>
          </p:txBody>
        </p:sp>
        <p:sp>
          <p:nvSpPr>
            <p:cNvPr id="80" name="TextBox 80"/>
            <p:cNvSpPr txBox="1"/>
            <p:nvPr/>
          </p:nvSpPr>
          <p:spPr>
            <a:xfrm>
              <a:off x="3590728" y="1022509"/>
              <a:ext cx="590944" cy="238125"/>
            </a:xfrm>
            <a:prstGeom prst="rect">
              <a:avLst/>
            </a:prstGeom>
            <a:noFill/>
            <a:ln>
              <a:noFill/>
            </a:ln>
          </p:spPr>
          <p:txBody>
            <a:bodyPr wrap="none" lIns="0" tIns="0" rIns="0" bIns="0" anchor="t" anchorCtr="0">
              <a:spAutoFit/>
            </a:bodyPr>
            <a:lstStyle/>
            <a:p>
              <a:pPr algn="ctr">
                <a:lnSpc>
                  <a:spcPts val="825"/>
                </a:lnSpc>
              </a:pPr>
              <a:r>
                <a:rPr lang="en-US" sz="680" b="1" dirty="0">
                  <a:solidFill>
                    <a:srgbClr val="FFFFFF"/>
                  </a:solidFill>
                  <a:latin typeface="+mn-lt"/>
                  <a:ea typeface="+mn-ea"/>
                  <a:cs typeface="+mn-cs"/>
                </a:rPr>
                <a:t>​CAC​</a:t>
              </a:r>
              <a:br/>
              <a:r>
                <a:rPr lang="zh-CN" sz="680" b="1" dirty="0">
                  <a:solidFill>
                    <a:srgbClr val="FFFFFF"/>
                  </a:solidFill>
                  <a:latin typeface="+mn-lt"/>
                  <a:ea typeface="+mn-ea"/>
                  <a:cs typeface="+mn-cs"/>
                </a:rPr>
                <a:t>​（元/获客）​</a:t>
              </a:r>
            </a:p>
          </p:txBody>
        </p:sp>
        <p:sp>
          <p:nvSpPr>
            <p:cNvPr id="81" name="TextBox 81"/>
            <p:cNvSpPr txBox="1"/>
            <p:nvPr/>
          </p:nvSpPr>
          <p:spPr>
            <a:xfrm>
              <a:off x="4094112" y="1022509"/>
              <a:ext cx="727177"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激活率</a:t>
              </a:r>
              <a:br/>
              <a:r>
                <a:rPr lang="zh-CN" sz="680" b="1" dirty="0">
                  <a:solidFill>
                    <a:srgbClr val="FFFFFF"/>
                  </a:solidFill>
                  <a:latin typeface="+mn-lt"/>
                  <a:ea typeface="+mn-ea"/>
                  <a:cs typeface="+mn-cs"/>
                </a:rPr>
                <a:t>​（30日活跃率）​</a:t>
              </a:r>
            </a:p>
          </p:txBody>
        </p:sp>
        <p:sp>
          <p:nvSpPr>
            <p:cNvPr id="82" name="TextBox 82"/>
            <p:cNvSpPr txBox="1"/>
            <p:nvPr/>
          </p:nvSpPr>
          <p:spPr>
            <a:xfrm>
              <a:off x="4794517" y="1022509"/>
              <a:ext cx="640817"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​90日客户价值​</a:t>
              </a:r>
              <a:br/>
              <a:r>
                <a:rPr lang="zh-CN" sz="680" b="1" dirty="0">
                  <a:solidFill>
                    <a:srgbClr val="FFFFFF"/>
                  </a:solidFill>
                  <a:latin typeface="+mn-lt"/>
                  <a:ea typeface="+mn-ea"/>
                  <a:cs typeface="+mn-cs"/>
                </a:rPr>
                <a:t>​（元/客户）​</a:t>
              </a:r>
            </a:p>
          </p:txBody>
        </p:sp>
        <p:sp>
          <p:nvSpPr>
            <p:cNvPr id="83" name="TextBox 83"/>
            <p:cNvSpPr txBox="1"/>
            <p:nvPr/>
          </p:nvSpPr>
          <p:spPr>
            <a:xfrm>
              <a:off x="5466347" y="1022509"/>
              <a:ext cx="554457"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​90日回收期​</a:t>
              </a:r>
              <a:br/>
              <a:r>
                <a:rPr lang="zh-CN" sz="680" b="1" dirty="0">
                  <a:solidFill>
                    <a:srgbClr val="FFFFFF"/>
                  </a:solidFill>
                  <a:latin typeface="+mn-lt"/>
                  <a:ea typeface="+mn-ea"/>
                  <a:cs typeface="+mn-cs"/>
                </a:rPr>
                <a:t>（天）</a:t>
              </a:r>
            </a:p>
          </p:txBody>
        </p:sp>
        <p:sp>
          <p:nvSpPr>
            <p:cNvPr id="84" name="TextBox 84"/>
            <p:cNvSpPr txBox="1"/>
            <p:nvPr/>
          </p:nvSpPr>
          <p:spPr>
            <a:xfrm>
              <a:off x="6044336" y="1022509"/>
              <a:ext cx="712927"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​​ROI（90日）​​</a:t>
              </a:r>
            </a:p>
            <a:p>
              <a:pPr algn="ctr">
                <a:lnSpc>
                  <a:spcPts val="825"/>
                </a:lnSpc>
              </a:pPr>
              <a:r>
                <a:rPr lang="zh-CN" sz="600" b="1" dirty="0">
                  <a:solidFill>
                    <a:srgbClr val="FFFFFF"/>
                  </a:solidFill>
                  <a:latin typeface="+mn-lt"/>
                  <a:ea typeface="+mn-ea"/>
                  <a:cs typeface="+mn-cs"/>
                </a:rPr>
                <a:t>​​客户价值/CAC​​</a:t>
              </a:r>
            </a:p>
          </p:txBody>
        </p:sp>
        <p:sp>
          <p:nvSpPr>
            <p:cNvPr id="85" name="Rectangle 85"/>
            <p:cNvSpPr/>
            <p:nvPr/>
          </p:nvSpPr>
          <p:spPr>
            <a:xfrm>
              <a:off x="2781300" y="1257300"/>
              <a:ext cx="4000500" cy="2095500"/>
            </a:xfrm>
            <a:prstGeom prst="rect">
              <a:avLst/>
            </a:prstGeom>
            <a:solidFill>
              <a:srgbClr val="FFFFFF"/>
            </a:solidFill>
            <a:ln w="9525">
              <a:solidFill>
                <a:srgbClr val="F0B8AE"/>
              </a:solidFill>
            </a:ln>
          </p:spPr>
        </p:sp>
        <p:sp>
          <p:nvSpPr>
            <p:cNvPr id="86" name="Rectangle 86"/>
            <p:cNvSpPr/>
            <p:nvPr/>
          </p:nvSpPr>
          <p:spPr>
            <a:xfrm>
              <a:off x="2781300" y="1781175"/>
              <a:ext cx="4000500" cy="523875"/>
            </a:xfrm>
            <a:prstGeom prst="rect">
              <a:avLst/>
            </a:prstGeom>
            <a:solidFill>
              <a:srgbClr val="FFF8F2"/>
            </a:solidFill>
            <a:ln>
              <a:noFill/>
            </a:ln>
          </p:spPr>
        </p:sp>
        <p:sp>
          <p:nvSpPr>
            <p:cNvPr id="87" name="Rectangle 87"/>
            <p:cNvSpPr/>
            <p:nvPr/>
          </p:nvSpPr>
          <p:spPr>
            <a:xfrm>
              <a:off x="2781300" y="2828925"/>
              <a:ext cx="4000500" cy="523875"/>
            </a:xfrm>
            <a:prstGeom prst="rect">
              <a:avLst/>
            </a:prstGeom>
            <a:solidFill>
              <a:srgbClr val="FFF8F2"/>
            </a:solidFill>
            <a:ln>
              <a:noFill/>
            </a:ln>
          </p:spPr>
        </p:sp>
        <p:grpSp>
          <p:nvGrpSpPr>
            <p:cNvPr id="96" name="Group 96"/>
            <p:cNvGrpSpPr/>
            <p:nvPr/>
          </p:nvGrpSpPr>
          <p:grpSpPr>
            <a:xfrm>
              <a:off x="2878931" y="1450181"/>
              <a:ext cx="130969" cy="138113"/>
              <a:chOff x="2878931" y="1450181"/>
              <a:chExt cx="130969" cy="138113"/>
            </a:xfrm>
          </p:grpSpPr>
          <p:sp>
            <p:nvSpPr>
              <p:cNvPr id="88" name="Freeform 88"/>
              <p:cNvSpPr/>
              <p:nvPr/>
            </p:nvSpPr>
            <p:spPr>
              <a:xfrm>
                <a:off x="2878931" y="1578769"/>
                <a:ext cx="128588" cy="9525"/>
              </a:xfrm>
              <a:custGeom>
                <a:avLst/>
                <a:gdLst/>
                <a:ahLst/>
                <a:cxnLst/>
                <a:rect l="l" t="t" r="r" b="b"/>
                <a:pathLst>
                  <a:path w="128588" h="9525">
                    <a:moveTo>
                      <a:pt x="0" y="0"/>
                    </a:moveTo>
                    <a:lnTo>
                      <a:pt x="128588" y="0"/>
                    </a:lnTo>
                  </a:path>
                </a:pathLst>
              </a:custGeom>
              <a:noFill/>
              <a:ln w="14288">
                <a:solidFill>
                  <a:srgbClr val="D82000"/>
                </a:solidFill>
              </a:ln>
            </p:spPr>
          </p:sp>
          <p:sp>
            <p:nvSpPr>
              <p:cNvPr id="89" name="Freeform 89"/>
              <p:cNvSpPr/>
              <p:nvPr/>
            </p:nvSpPr>
            <p:spPr>
              <a:xfrm>
                <a:off x="2878931" y="1500188"/>
                <a:ext cx="128588" cy="9525"/>
              </a:xfrm>
              <a:custGeom>
                <a:avLst/>
                <a:gdLst/>
                <a:ahLst/>
                <a:cxnLst/>
                <a:rect l="l" t="t" r="r" b="b"/>
                <a:pathLst>
                  <a:path w="128588" h="9525">
                    <a:moveTo>
                      <a:pt x="0" y="0"/>
                    </a:moveTo>
                    <a:lnTo>
                      <a:pt x="128588" y="0"/>
                    </a:lnTo>
                  </a:path>
                </a:pathLst>
              </a:custGeom>
              <a:noFill/>
              <a:ln w="14288">
                <a:solidFill>
                  <a:srgbClr val="D82000"/>
                </a:solidFill>
              </a:ln>
            </p:spPr>
          </p:sp>
          <p:sp>
            <p:nvSpPr>
              <p:cNvPr id="90" name="Freeform 90"/>
              <p:cNvSpPr/>
              <p:nvPr/>
            </p:nvSpPr>
            <p:spPr>
              <a:xfrm>
                <a:off x="2893219" y="1450181"/>
                <a:ext cx="100012" cy="21431"/>
              </a:xfrm>
              <a:custGeom>
                <a:avLst/>
                <a:gdLst/>
                <a:ahLst/>
                <a:cxnLst/>
                <a:rect l="l" t="t" r="r" b="b"/>
                <a:pathLst>
                  <a:path w="100012" h="21431">
                    <a:moveTo>
                      <a:pt x="0" y="21431"/>
                    </a:moveTo>
                    <a:lnTo>
                      <a:pt x="50006" y="0"/>
                    </a:lnTo>
                    <a:lnTo>
                      <a:pt x="100012" y="21431"/>
                    </a:lnTo>
                  </a:path>
                </a:pathLst>
              </a:custGeom>
              <a:noFill/>
              <a:ln w="14288">
                <a:solidFill>
                  <a:srgbClr val="D82000"/>
                </a:solidFill>
              </a:ln>
            </p:spPr>
          </p:sp>
          <p:sp>
            <p:nvSpPr>
              <p:cNvPr id="91" name="Freeform 91"/>
              <p:cNvSpPr/>
              <p:nvPr/>
            </p:nvSpPr>
            <p:spPr>
              <a:xfrm>
                <a:off x="2886075" y="1500188"/>
                <a:ext cx="9525" cy="78581"/>
              </a:xfrm>
              <a:custGeom>
                <a:avLst/>
                <a:gdLst/>
                <a:ahLst/>
                <a:cxnLst/>
                <a:rect l="l" t="t" r="r" b="b"/>
                <a:pathLst>
                  <a:path w="9525" h="78581">
                    <a:moveTo>
                      <a:pt x="0" y="0"/>
                    </a:moveTo>
                    <a:lnTo>
                      <a:pt x="0" y="78581"/>
                    </a:lnTo>
                  </a:path>
                </a:pathLst>
              </a:custGeom>
              <a:noFill/>
              <a:ln w="14288">
                <a:solidFill>
                  <a:srgbClr val="D82000"/>
                </a:solidFill>
              </a:ln>
            </p:spPr>
          </p:sp>
          <p:sp>
            <p:nvSpPr>
              <p:cNvPr id="92" name="Freeform 92"/>
              <p:cNvSpPr/>
              <p:nvPr/>
            </p:nvSpPr>
            <p:spPr>
              <a:xfrm>
                <a:off x="3000375" y="1500188"/>
                <a:ext cx="9525" cy="78581"/>
              </a:xfrm>
              <a:custGeom>
                <a:avLst/>
                <a:gdLst/>
                <a:ahLst/>
                <a:cxnLst/>
                <a:rect l="l" t="t" r="r" b="b"/>
                <a:pathLst>
                  <a:path w="9525" h="78581">
                    <a:moveTo>
                      <a:pt x="0" y="0"/>
                    </a:moveTo>
                    <a:lnTo>
                      <a:pt x="0" y="78581"/>
                    </a:lnTo>
                  </a:path>
                </a:pathLst>
              </a:custGeom>
              <a:noFill/>
              <a:ln w="14288">
                <a:solidFill>
                  <a:srgbClr val="D82000"/>
                </a:solidFill>
              </a:ln>
            </p:spPr>
          </p:sp>
          <p:sp>
            <p:nvSpPr>
              <p:cNvPr id="93" name="Freeform 93"/>
              <p:cNvSpPr/>
              <p:nvPr/>
            </p:nvSpPr>
            <p:spPr>
              <a:xfrm>
                <a:off x="2914650" y="1528762"/>
                <a:ext cx="9525" cy="21431"/>
              </a:xfrm>
              <a:custGeom>
                <a:avLst/>
                <a:gdLst/>
                <a:ahLst/>
                <a:cxnLst/>
                <a:rect l="l" t="t" r="r" b="b"/>
                <a:pathLst>
                  <a:path w="9525" h="21431">
                    <a:moveTo>
                      <a:pt x="0" y="0"/>
                    </a:moveTo>
                    <a:lnTo>
                      <a:pt x="0" y="21431"/>
                    </a:lnTo>
                  </a:path>
                </a:pathLst>
              </a:custGeom>
              <a:noFill/>
              <a:ln w="14288">
                <a:solidFill>
                  <a:srgbClr val="D82000"/>
                </a:solidFill>
              </a:ln>
            </p:spPr>
          </p:sp>
          <p:sp>
            <p:nvSpPr>
              <p:cNvPr id="94" name="Freeform 94"/>
              <p:cNvSpPr/>
              <p:nvPr/>
            </p:nvSpPr>
            <p:spPr>
              <a:xfrm>
                <a:off x="2943225" y="1528762"/>
                <a:ext cx="9525" cy="21431"/>
              </a:xfrm>
              <a:custGeom>
                <a:avLst/>
                <a:gdLst/>
                <a:ahLst/>
                <a:cxnLst/>
                <a:rect l="l" t="t" r="r" b="b"/>
                <a:pathLst>
                  <a:path w="9525" h="21431">
                    <a:moveTo>
                      <a:pt x="0" y="0"/>
                    </a:moveTo>
                    <a:lnTo>
                      <a:pt x="0" y="21431"/>
                    </a:lnTo>
                  </a:path>
                </a:pathLst>
              </a:custGeom>
              <a:noFill/>
              <a:ln w="14288">
                <a:solidFill>
                  <a:srgbClr val="D82000"/>
                </a:solidFill>
              </a:ln>
            </p:spPr>
          </p:sp>
          <p:sp>
            <p:nvSpPr>
              <p:cNvPr id="95" name="Freeform 95"/>
              <p:cNvSpPr/>
              <p:nvPr/>
            </p:nvSpPr>
            <p:spPr>
              <a:xfrm>
                <a:off x="2971800" y="1528762"/>
                <a:ext cx="9525" cy="21431"/>
              </a:xfrm>
              <a:custGeom>
                <a:avLst/>
                <a:gdLst/>
                <a:ahLst/>
                <a:cxnLst/>
                <a:rect l="l" t="t" r="r" b="b"/>
                <a:pathLst>
                  <a:path w="9525" h="21431">
                    <a:moveTo>
                      <a:pt x="0" y="0"/>
                    </a:moveTo>
                    <a:lnTo>
                      <a:pt x="0" y="21431"/>
                    </a:lnTo>
                  </a:path>
                </a:pathLst>
              </a:custGeom>
              <a:noFill/>
              <a:ln w="14288">
                <a:solidFill>
                  <a:srgbClr val="D82000"/>
                </a:solidFill>
              </a:ln>
            </p:spPr>
          </p:sp>
        </p:grpSp>
        <p:sp>
          <p:nvSpPr>
            <p:cNvPr id="97" name="TextBox 97"/>
            <p:cNvSpPr txBox="1"/>
            <p:nvPr/>
          </p:nvSpPr>
          <p:spPr>
            <a:xfrm>
              <a:off x="3081338" y="1481138"/>
              <a:ext cx="413385" cy="147638"/>
            </a:xfrm>
            <a:prstGeom prst="rect">
              <a:avLst/>
            </a:prstGeom>
            <a:noFill/>
            <a:ln>
              <a:noFill/>
            </a:ln>
          </p:spPr>
          <p:txBody>
            <a:bodyPr wrap="none" lIns="0" tIns="0" rIns="0" bIns="0" anchor="t" anchorCtr="0">
              <a:spAutoFit/>
            </a:bodyPr>
            <a:lstStyle/>
            <a:p>
              <a:pPr algn="l"/>
              <a:r>
                <a:rPr lang="zh-CN" sz="750" b="1" dirty="0">
                  <a:solidFill>
                    <a:srgbClr val="4A130A"/>
                  </a:solidFill>
                  <a:latin typeface="+mn-lt"/>
                  <a:ea typeface="+mn-ea"/>
                  <a:cs typeface="+mn-cs"/>
                </a:rPr>
                <a:t>线下网点</a:t>
              </a:r>
            </a:p>
          </p:txBody>
        </p:sp>
        <p:sp>
          <p:nvSpPr>
            <p:cNvPr id="98" name="TextBox 98"/>
            <p:cNvSpPr txBox="1"/>
            <p:nvPr/>
          </p:nvSpPr>
          <p:spPr>
            <a:xfrm>
              <a:off x="3705960" y="1477089"/>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​98.6​</a:t>
              </a:r>
            </a:p>
          </p:txBody>
        </p:sp>
        <p:sp>
          <p:nvSpPr>
            <p:cNvPr id="99" name="TextBox 99"/>
            <p:cNvSpPr txBox="1"/>
            <p:nvPr/>
          </p:nvSpPr>
          <p:spPr>
            <a:xfrm>
              <a:off x="4237579" y="1477089"/>
              <a:ext cx="440242"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​38.5%​</a:t>
              </a:r>
            </a:p>
          </p:txBody>
        </p:sp>
        <p:sp>
          <p:nvSpPr>
            <p:cNvPr id="100" name="TextBox 100"/>
            <p:cNvSpPr txBox="1"/>
            <p:nvPr/>
          </p:nvSpPr>
          <p:spPr>
            <a:xfrm>
              <a:off x="4963932" y="1477089"/>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​268​</a:t>
              </a:r>
            </a:p>
          </p:txBody>
        </p:sp>
        <p:sp>
          <p:nvSpPr>
            <p:cNvPr id="101" name="TextBox 101"/>
            <p:cNvSpPr txBox="1"/>
            <p:nvPr/>
          </p:nvSpPr>
          <p:spPr>
            <a:xfrm>
              <a:off x="5621828" y="1477089"/>
              <a:ext cx="243495"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​36​</a:t>
              </a:r>
            </a:p>
          </p:txBody>
        </p:sp>
        <p:sp>
          <p:nvSpPr>
            <p:cNvPr id="102" name="TextBox 102"/>
            <p:cNvSpPr txBox="1"/>
            <p:nvPr/>
          </p:nvSpPr>
          <p:spPr>
            <a:xfrm>
              <a:off x="6162031" y="1468993"/>
              <a:ext cx="477538" cy="169069"/>
            </a:xfrm>
            <a:prstGeom prst="rect">
              <a:avLst/>
            </a:prstGeom>
            <a:noFill/>
            <a:ln>
              <a:noFill/>
            </a:ln>
          </p:spPr>
          <p:txBody>
            <a:bodyPr wrap="none" lIns="0" tIns="0" rIns="0" bIns="0" anchor="t" anchorCtr="0">
              <a:spAutoFit/>
            </a:bodyPr>
            <a:lstStyle/>
            <a:p>
              <a:pPr algn="ctr"/>
              <a:r>
                <a:rPr lang="en-US" sz="860" b="1" dirty="0">
                  <a:solidFill>
                    <a:srgbClr val="C41D00"/>
                  </a:solidFill>
                  <a:latin typeface="+mn-lt"/>
                  <a:ea typeface="+mn-ea"/>
                  <a:cs typeface="+mn-cs"/>
                </a:rPr>
                <a:t>​2.72x​</a:t>
              </a:r>
            </a:p>
          </p:txBody>
        </p:sp>
        <p:grpSp>
          <p:nvGrpSpPr>
            <p:cNvPr id="106" name="Group 106"/>
            <p:cNvGrpSpPr/>
            <p:nvPr/>
          </p:nvGrpSpPr>
          <p:grpSpPr>
            <a:xfrm>
              <a:off x="2900362" y="1974056"/>
              <a:ext cx="85725" cy="128588"/>
              <a:chOff x="2900362" y="1974056"/>
              <a:chExt cx="85725" cy="128588"/>
            </a:xfrm>
          </p:grpSpPr>
          <p:sp>
            <p:nvSpPr>
              <p:cNvPr id="103" name="Freeform 103"/>
              <p:cNvSpPr/>
              <p:nvPr/>
            </p:nvSpPr>
            <p:spPr>
              <a:xfrm>
                <a:off x="2900362" y="1974056"/>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D82000"/>
                </a:solidFill>
              </a:ln>
            </p:spPr>
          </p:sp>
          <p:sp>
            <p:nvSpPr>
              <p:cNvPr id="104" name="Freeform 104"/>
              <p:cNvSpPr/>
              <p:nvPr/>
            </p:nvSpPr>
            <p:spPr>
              <a:xfrm>
                <a:off x="2936081" y="1981200"/>
                <a:ext cx="14288" cy="9525"/>
              </a:xfrm>
              <a:custGeom>
                <a:avLst/>
                <a:gdLst/>
                <a:ahLst/>
                <a:cxnLst/>
                <a:rect l="l" t="t" r="r" b="b"/>
                <a:pathLst>
                  <a:path w="14288" h="9525">
                    <a:moveTo>
                      <a:pt x="0" y="0"/>
                    </a:moveTo>
                    <a:lnTo>
                      <a:pt x="14288" y="0"/>
                    </a:lnTo>
                  </a:path>
                </a:pathLst>
              </a:custGeom>
              <a:noFill/>
              <a:ln w="14288">
                <a:solidFill>
                  <a:srgbClr val="D82000"/>
                </a:solidFill>
              </a:ln>
            </p:spPr>
          </p:sp>
          <p:sp>
            <p:nvSpPr>
              <p:cNvPr id="105" name="Freeform 105"/>
              <p:cNvSpPr/>
              <p:nvPr/>
            </p:nvSpPr>
            <p:spPr>
              <a:xfrm>
                <a:off x="2943225" y="2074069"/>
                <a:ext cx="9525" cy="9525"/>
              </a:xfrm>
              <a:custGeom>
                <a:avLst/>
                <a:gdLst/>
                <a:ahLst/>
                <a:cxnLst/>
                <a:rect l="l" t="t" r="r" b="b"/>
                <a:pathLst>
                  <a:path w="9525" h="9525">
                    <a:moveTo>
                      <a:pt x="0" y="0"/>
                    </a:moveTo>
                    <a:lnTo>
                      <a:pt x="0" y="71"/>
                    </a:lnTo>
                  </a:path>
                </a:pathLst>
              </a:custGeom>
              <a:noFill/>
              <a:ln w="14288">
                <a:solidFill>
                  <a:srgbClr val="D82000"/>
                </a:solidFill>
              </a:ln>
            </p:spPr>
          </p:sp>
        </p:grpSp>
        <p:sp>
          <p:nvSpPr>
            <p:cNvPr id="107" name="TextBox 107"/>
            <p:cNvSpPr txBox="1"/>
            <p:nvPr/>
          </p:nvSpPr>
          <p:spPr>
            <a:xfrm>
              <a:off x="3081338" y="2005012"/>
              <a:ext cx="783031" cy="147638"/>
            </a:xfrm>
            <a:prstGeom prst="rect">
              <a:avLst/>
            </a:prstGeom>
            <a:noFill/>
            <a:ln>
              <a:noFill/>
            </a:ln>
          </p:spPr>
          <p:txBody>
            <a:bodyPr wrap="none" lIns="0" tIns="0" rIns="0" bIns="0" anchor="t" anchorCtr="0">
              <a:spAutoFit/>
            </a:bodyPr>
            <a:lstStyle/>
            <a:p>
              <a:pPr algn="l"/>
              <a:r>
                <a:rPr lang="zh-CN" sz="750" b="1" dirty="0">
                  <a:solidFill>
                    <a:srgbClr val="4A130A"/>
                  </a:solidFill>
                  <a:latin typeface="+mn-lt"/>
                  <a:ea typeface="+mn-ea"/>
                  <a:cs typeface="+mn-cs"/>
                </a:rPr>
                <a:t>手机银行APP​​​</a:t>
              </a:r>
            </a:p>
          </p:txBody>
        </p:sp>
        <p:sp>
          <p:nvSpPr>
            <p:cNvPr id="108" name="TextBox 108"/>
            <p:cNvSpPr txBox="1"/>
            <p:nvPr/>
          </p:nvSpPr>
          <p:spPr>
            <a:xfrm>
              <a:off x="3705960" y="200096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​42.1​</a:t>
              </a:r>
            </a:p>
          </p:txBody>
        </p:sp>
        <p:sp>
          <p:nvSpPr>
            <p:cNvPr id="109" name="TextBox 109"/>
            <p:cNvSpPr txBox="1"/>
            <p:nvPr/>
          </p:nvSpPr>
          <p:spPr>
            <a:xfrm>
              <a:off x="4237579" y="2000964"/>
              <a:ext cx="440242"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​42.7%​</a:t>
              </a:r>
            </a:p>
          </p:txBody>
        </p:sp>
        <p:sp>
          <p:nvSpPr>
            <p:cNvPr id="110" name="TextBox 110"/>
            <p:cNvSpPr txBox="1"/>
            <p:nvPr/>
          </p:nvSpPr>
          <p:spPr>
            <a:xfrm>
              <a:off x="4963932" y="200096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​241​</a:t>
              </a:r>
            </a:p>
          </p:txBody>
        </p:sp>
        <p:sp>
          <p:nvSpPr>
            <p:cNvPr id="111" name="TextBox 111"/>
            <p:cNvSpPr txBox="1"/>
            <p:nvPr/>
          </p:nvSpPr>
          <p:spPr>
            <a:xfrm>
              <a:off x="5621828" y="2000964"/>
              <a:ext cx="243495"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​25​</a:t>
              </a:r>
            </a:p>
          </p:txBody>
        </p:sp>
        <p:sp>
          <p:nvSpPr>
            <p:cNvPr id="112" name="TextBox 112"/>
            <p:cNvSpPr txBox="1"/>
            <p:nvPr/>
          </p:nvSpPr>
          <p:spPr>
            <a:xfrm>
              <a:off x="6162031" y="1992868"/>
              <a:ext cx="477538" cy="169069"/>
            </a:xfrm>
            <a:prstGeom prst="rect">
              <a:avLst/>
            </a:prstGeom>
            <a:noFill/>
            <a:ln>
              <a:noFill/>
            </a:ln>
          </p:spPr>
          <p:txBody>
            <a:bodyPr wrap="none" lIns="0" tIns="0" rIns="0" bIns="0" anchor="t" anchorCtr="0">
              <a:spAutoFit/>
            </a:bodyPr>
            <a:lstStyle/>
            <a:p>
              <a:pPr algn="ctr"/>
              <a:r>
                <a:rPr lang="en-US" sz="860" b="1" dirty="0">
                  <a:solidFill>
                    <a:srgbClr val="C41D00"/>
                  </a:solidFill>
                  <a:latin typeface="+mn-lt"/>
                  <a:ea typeface="+mn-ea"/>
                  <a:cs typeface="+mn-cs"/>
                </a:rPr>
                <a:t>​5.72x​</a:t>
              </a:r>
            </a:p>
          </p:txBody>
        </p:sp>
        <p:grpSp>
          <p:nvGrpSpPr>
            <p:cNvPr id="116" name="Group 116"/>
            <p:cNvGrpSpPr/>
            <p:nvPr/>
          </p:nvGrpSpPr>
          <p:grpSpPr>
            <a:xfrm>
              <a:off x="2886074" y="2501585"/>
              <a:ext cx="117780" cy="121265"/>
              <a:chOff x="2886074" y="2501585"/>
              <a:chExt cx="117780" cy="121265"/>
            </a:xfrm>
          </p:grpSpPr>
          <p:sp>
            <p:nvSpPr>
              <p:cNvPr id="113" name="Freeform 113"/>
              <p:cNvSpPr/>
              <p:nvPr/>
            </p:nvSpPr>
            <p:spPr>
              <a:xfrm>
                <a:off x="2921794" y="2540794"/>
                <a:ext cx="42862" cy="42862"/>
              </a:xfrm>
              <a:custGeom>
                <a:avLst/>
                <a:gdLst/>
                <a:ahLst/>
                <a:cxnLst/>
                <a:rect l="l" t="t" r="r" b="b"/>
                <a:pathLst>
                  <a:path w="42862" h="42862">
                    <a:moveTo>
                      <a:pt x="0" y="42862"/>
                    </a:moveTo>
                    <a:lnTo>
                      <a:pt x="42862" y="0"/>
                    </a:lnTo>
                  </a:path>
                </a:pathLst>
              </a:custGeom>
              <a:noFill/>
              <a:ln w="14288">
                <a:solidFill>
                  <a:srgbClr val="D82000"/>
                </a:solidFill>
              </a:ln>
            </p:spPr>
          </p:sp>
          <p:sp>
            <p:nvSpPr>
              <p:cNvPr id="114" name="Freeform 114"/>
              <p:cNvSpPr/>
              <p:nvPr/>
            </p:nvSpPr>
            <p:spPr>
              <a:xfrm>
                <a:off x="2936081" y="2501585"/>
                <a:ext cx="67773" cy="67784"/>
              </a:xfrm>
              <a:custGeom>
                <a:avLst/>
                <a:gdLst/>
                <a:ahLst/>
                <a:cxnLst/>
                <a:rect l="l" t="t" r="r" b="b"/>
                <a:pathLst>
                  <a:path w="67773" h="67784">
                    <a:moveTo>
                      <a:pt x="0" y="17778"/>
                    </a:moveTo>
                    <a:lnTo>
                      <a:pt x="3308" y="13949"/>
                    </a:lnTo>
                    <a:cubicBezTo>
                      <a:pt x="17258" y="0"/>
                      <a:pt x="39876" y="2"/>
                      <a:pt x="53825" y="13952"/>
                    </a:cubicBezTo>
                    <a:cubicBezTo>
                      <a:pt x="67773" y="27903"/>
                      <a:pt x="67772" y="50521"/>
                      <a:pt x="53821" y="64470"/>
                    </a:cubicBezTo>
                    <a:lnTo>
                      <a:pt x="50006" y="67784"/>
                    </a:lnTo>
                  </a:path>
                </a:pathLst>
              </a:custGeom>
              <a:noFill/>
              <a:ln w="14288">
                <a:solidFill>
                  <a:srgbClr val="D82000"/>
                </a:solidFill>
              </a:ln>
            </p:spPr>
          </p:sp>
          <p:sp>
            <p:nvSpPr>
              <p:cNvPr id="115" name="Freeform 115"/>
              <p:cNvSpPr/>
              <p:nvPr/>
            </p:nvSpPr>
            <p:spPr>
              <a:xfrm>
                <a:off x="2886074" y="2555081"/>
                <a:ext cx="64295" cy="67769"/>
              </a:xfrm>
              <a:custGeom>
                <a:avLst/>
                <a:gdLst/>
                <a:ahLst/>
                <a:cxnLst/>
                <a:rect l="l" t="t" r="r" b="b"/>
                <a:pathLst>
                  <a:path w="64295" h="67769">
                    <a:moveTo>
                      <a:pt x="64295" y="50006"/>
                    </a:moveTo>
                    <a:lnTo>
                      <a:pt x="61459" y="53821"/>
                    </a:lnTo>
                    <a:cubicBezTo>
                      <a:pt x="47353" y="67769"/>
                      <a:pt x="24650" y="67769"/>
                      <a:pt x="10545" y="53821"/>
                    </a:cubicBezTo>
                    <a:cubicBezTo>
                      <a:pt x="3797" y="47149"/>
                      <a:pt x="0" y="38054"/>
                      <a:pt x="0" y="28564"/>
                    </a:cubicBezTo>
                    <a:cubicBezTo>
                      <a:pt x="0" y="19075"/>
                      <a:pt x="3797" y="9980"/>
                      <a:pt x="10545" y="3308"/>
                    </a:cubicBezTo>
                    <a:lnTo>
                      <a:pt x="14289" y="0"/>
                    </a:lnTo>
                  </a:path>
                </a:pathLst>
              </a:custGeom>
              <a:noFill/>
              <a:ln w="14288">
                <a:solidFill>
                  <a:srgbClr val="D82000"/>
                </a:solidFill>
              </a:ln>
            </p:spPr>
          </p:sp>
        </p:grpSp>
        <p:sp>
          <p:nvSpPr>
            <p:cNvPr id="117" name="TextBox 117"/>
            <p:cNvSpPr txBox="1"/>
            <p:nvPr/>
          </p:nvSpPr>
          <p:spPr>
            <a:xfrm>
              <a:off x="3081338" y="2471738"/>
              <a:ext cx="631317" cy="271462"/>
            </a:xfrm>
            <a:prstGeom prst="rect">
              <a:avLst/>
            </a:prstGeom>
            <a:noFill/>
            <a:ln>
              <a:noFill/>
            </a:ln>
          </p:spPr>
          <p:txBody>
            <a:bodyPr wrap="none" lIns="0" tIns="0" rIns="0" bIns="0" anchor="t" anchorCtr="0">
              <a:spAutoFit/>
            </a:bodyPr>
            <a:lstStyle/>
            <a:p>
              <a:pPr algn="l">
                <a:lnSpc>
                  <a:spcPts val="975"/>
                </a:lnSpc>
              </a:pPr>
              <a:r>
                <a:rPr lang="zh-CN" sz="750" b="1" dirty="0">
                  <a:solidFill>
                    <a:srgbClr val="4A130A"/>
                  </a:solidFill>
                  <a:latin typeface="+mn-lt"/>
                  <a:ea typeface="+mn-ea"/>
                  <a:cs typeface="+mn-cs"/>
                </a:rPr>
                <a:t>生态合作</a:t>
              </a:r>
            </a:p>
            <a:p>
              <a:pPr algn="l">
                <a:lnSpc>
                  <a:spcPts val="975"/>
                </a:lnSpc>
              </a:pPr>
              <a:r>
                <a:rPr lang="zh-CN" sz="640" dirty="0">
                  <a:solidFill>
                    <a:srgbClr val="7A716B"/>
                  </a:solidFill>
                  <a:latin typeface="+mn-lt"/>
                  <a:ea typeface="+mn-ea"/>
                  <a:cs typeface="+mn-cs"/>
                </a:rPr>
                <a:t>（平台/场景）​​</a:t>
              </a:r>
            </a:p>
          </p:txBody>
        </p:sp>
        <p:sp>
          <p:nvSpPr>
            <p:cNvPr id="118" name="TextBox 118"/>
            <p:cNvSpPr txBox="1"/>
            <p:nvPr/>
          </p:nvSpPr>
          <p:spPr>
            <a:xfrm>
              <a:off x="3705960" y="2524839"/>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​35.8​</a:t>
              </a:r>
            </a:p>
          </p:txBody>
        </p:sp>
        <p:sp>
          <p:nvSpPr>
            <p:cNvPr id="119" name="TextBox 119"/>
            <p:cNvSpPr txBox="1"/>
            <p:nvPr/>
          </p:nvSpPr>
          <p:spPr>
            <a:xfrm>
              <a:off x="4237579" y="2524839"/>
              <a:ext cx="440242"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​34.2%​</a:t>
              </a:r>
            </a:p>
          </p:txBody>
        </p:sp>
        <p:sp>
          <p:nvSpPr>
            <p:cNvPr id="120" name="TextBox 120"/>
            <p:cNvSpPr txBox="1"/>
            <p:nvPr/>
          </p:nvSpPr>
          <p:spPr>
            <a:xfrm>
              <a:off x="4963932" y="2524839"/>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​219​</a:t>
              </a:r>
            </a:p>
          </p:txBody>
        </p:sp>
        <p:sp>
          <p:nvSpPr>
            <p:cNvPr id="121" name="TextBox 121"/>
            <p:cNvSpPr txBox="1"/>
            <p:nvPr/>
          </p:nvSpPr>
          <p:spPr>
            <a:xfrm>
              <a:off x="5621828" y="2524839"/>
              <a:ext cx="243495"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​30​</a:t>
              </a:r>
            </a:p>
          </p:txBody>
        </p:sp>
        <p:sp>
          <p:nvSpPr>
            <p:cNvPr id="122" name="TextBox 122"/>
            <p:cNvSpPr txBox="1"/>
            <p:nvPr/>
          </p:nvSpPr>
          <p:spPr>
            <a:xfrm>
              <a:off x="6162031" y="2516743"/>
              <a:ext cx="477538" cy="169069"/>
            </a:xfrm>
            <a:prstGeom prst="rect">
              <a:avLst/>
            </a:prstGeom>
            <a:noFill/>
            <a:ln>
              <a:noFill/>
            </a:ln>
          </p:spPr>
          <p:txBody>
            <a:bodyPr wrap="none" lIns="0" tIns="0" rIns="0" bIns="0" anchor="t" anchorCtr="0">
              <a:spAutoFit/>
            </a:bodyPr>
            <a:lstStyle/>
            <a:p>
              <a:pPr algn="ctr"/>
              <a:r>
                <a:rPr lang="en-US" sz="860" b="1" dirty="0">
                  <a:solidFill>
                    <a:srgbClr val="C41D00"/>
                  </a:solidFill>
                  <a:latin typeface="+mn-lt"/>
                  <a:ea typeface="+mn-ea"/>
                  <a:cs typeface="+mn-cs"/>
                </a:rPr>
                <a:t>​6.12x​</a:t>
              </a:r>
            </a:p>
          </p:txBody>
        </p:sp>
        <p:grpSp>
          <p:nvGrpSpPr>
            <p:cNvPr id="129" name="Group 129"/>
            <p:cNvGrpSpPr/>
            <p:nvPr/>
          </p:nvGrpSpPr>
          <p:grpSpPr>
            <a:xfrm>
              <a:off x="2878931" y="3021806"/>
              <a:ext cx="128588" cy="128587"/>
              <a:chOff x="2878931" y="3021806"/>
              <a:chExt cx="128588" cy="128587"/>
            </a:xfrm>
          </p:grpSpPr>
          <p:sp>
            <p:nvSpPr>
              <p:cNvPr id="123" name="Freeform 123"/>
              <p:cNvSpPr/>
              <p:nvPr/>
            </p:nvSpPr>
            <p:spPr>
              <a:xfrm>
                <a:off x="2928938" y="30789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124" name="Freeform 124"/>
              <p:cNvSpPr/>
              <p:nvPr/>
            </p:nvSpPr>
            <p:spPr>
              <a:xfrm>
                <a:off x="2914650" y="312896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D82000"/>
                </a:solidFill>
              </a:ln>
            </p:spPr>
          </p:sp>
          <p:sp>
            <p:nvSpPr>
              <p:cNvPr id="125" name="Freeform 125"/>
              <p:cNvSpPr/>
              <p:nvPr/>
            </p:nvSpPr>
            <p:spPr>
              <a:xfrm>
                <a:off x="2964656" y="30218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126" name="Freeform 126"/>
              <p:cNvSpPr/>
              <p:nvPr/>
            </p:nvSpPr>
            <p:spPr>
              <a:xfrm>
                <a:off x="2978944" y="307181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D82000"/>
                </a:solidFill>
              </a:ln>
            </p:spPr>
          </p:sp>
          <p:sp>
            <p:nvSpPr>
              <p:cNvPr id="127" name="Freeform 127"/>
              <p:cNvSpPr/>
              <p:nvPr/>
            </p:nvSpPr>
            <p:spPr>
              <a:xfrm>
                <a:off x="2893219" y="30218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128" name="Freeform 128"/>
              <p:cNvSpPr/>
              <p:nvPr/>
            </p:nvSpPr>
            <p:spPr>
              <a:xfrm>
                <a:off x="2878931" y="307181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D82000"/>
                </a:solidFill>
              </a:ln>
            </p:spPr>
          </p:sp>
        </p:grpSp>
        <p:sp>
          <p:nvSpPr>
            <p:cNvPr id="130" name="TextBox 130"/>
            <p:cNvSpPr txBox="1"/>
            <p:nvPr/>
          </p:nvSpPr>
          <p:spPr>
            <a:xfrm>
              <a:off x="3081338" y="2995612"/>
              <a:ext cx="541909" cy="271462"/>
            </a:xfrm>
            <a:prstGeom prst="rect">
              <a:avLst/>
            </a:prstGeom>
            <a:noFill/>
            <a:ln>
              <a:noFill/>
            </a:ln>
          </p:spPr>
          <p:txBody>
            <a:bodyPr wrap="none" lIns="0" tIns="0" rIns="0" bIns="0" anchor="t" anchorCtr="0">
              <a:spAutoFit/>
            </a:bodyPr>
            <a:lstStyle/>
            <a:p>
              <a:pPr algn="l">
                <a:lnSpc>
                  <a:spcPts val="975"/>
                </a:lnSpc>
              </a:pPr>
              <a:r>
                <a:rPr lang="zh-CN" sz="750" b="1" dirty="0">
                  <a:solidFill>
                    <a:srgbClr val="4A130A"/>
                  </a:solidFill>
                  <a:latin typeface="+mn-lt"/>
                  <a:ea typeface="+mn-ea"/>
                  <a:cs typeface="+mn-cs"/>
                </a:rPr>
                <a:t>客户推荐</a:t>
              </a:r>
            </a:p>
            <a:p>
              <a:pPr algn="l">
                <a:lnSpc>
                  <a:spcPts val="975"/>
                </a:lnSpc>
              </a:pPr>
              <a:r>
                <a:rPr lang="zh-CN" sz="640" dirty="0">
                  <a:solidFill>
                    <a:srgbClr val="7A716B"/>
                  </a:solidFill>
                  <a:latin typeface="+mn-lt"/>
                  <a:ea typeface="+mn-ea"/>
                  <a:cs typeface="+mn-cs"/>
                </a:rPr>
                <a:t>（存量带新）​</a:t>
              </a:r>
            </a:p>
          </p:txBody>
        </p:sp>
        <p:sp>
          <p:nvSpPr>
            <p:cNvPr id="131" name="TextBox 131"/>
            <p:cNvSpPr txBox="1"/>
            <p:nvPr/>
          </p:nvSpPr>
          <p:spPr>
            <a:xfrm>
              <a:off x="3705960" y="3048714"/>
              <a:ext cx="360479"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​22.4​</a:t>
              </a:r>
            </a:p>
          </p:txBody>
        </p:sp>
        <p:sp>
          <p:nvSpPr>
            <p:cNvPr id="132" name="TextBox 132"/>
            <p:cNvSpPr txBox="1"/>
            <p:nvPr/>
          </p:nvSpPr>
          <p:spPr>
            <a:xfrm>
              <a:off x="4237579" y="3048714"/>
              <a:ext cx="440242"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​58.1%​</a:t>
              </a:r>
            </a:p>
          </p:txBody>
        </p:sp>
        <p:sp>
          <p:nvSpPr>
            <p:cNvPr id="133" name="TextBox 133"/>
            <p:cNvSpPr txBox="1"/>
            <p:nvPr/>
          </p:nvSpPr>
          <p:spPr>
            <a:xfrm>
              <a:off x="4963932" y="3048714"/>
              <a:ext cx="301987"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​312​</a:t>
              </a:r>
            </a:p>
          </p:txBody>
        </p:sp>
        <p:sp>
          <p:nvSpPr>
            <p:cNvPr id="134" name="TextBox 134"/>
            <p:cNvSpPr txBox="1"/>
            <p:nvPr/>
          </p:nvSpPr>
          <p:spPr>
            <a:xfrm>
              <a:off x="5621828" y="3048714"/>
              <a:ext cx="243495" cy="154781"/>
            </a:xfrm>
            <a:prstGeom prst="rect">
              <a:avLst/>
            </a:prstGeom>
            <a:noFill/>
            <a:ln>
              <a:noFill/>
            </a:ln>
          </p:spPr>
          <p:txBody>
            <a:bodyPr wrap="none" lIns="0" tIns="0" rIns="0" bIns="0" anchor="t" anchorCtr="0">
              <a:spAutoFit/>
            </a:bodyPr>
            <a:lstStyle/>
            <a:p>
              <a:pPr algn="ctr"/>
              <a:r>
                <a:rPr lang="zh-CN" sz="790" dirty="0">
                  <a:solidFill>
                    <a:srgbClr val="3D3835"/>
                  </a:solidFill>
                  <a:latin typeface="+mn-lt"/>
                  <a:ea typeface="+mn-ea"/>
                  <a:cs typeface="+mn-cs"/>
                </a:rPr>
                <a:t>​17​</a:t>
              </a:r>
            </a:p>
          </p:txBody>
        </p:sp>
        <p:sp>
          <p:nvSpPr>
            <p:cNvPr id="135" name="TextBox 135"/>
            <p:cNvSpPr txBox="1"/>
            <p:nvPr/>
          </p:nvSpPr>
          <p:spPr>
            <a:xfrm>
              <a:off x="6128601" y="3040618"/>
              <a:ext cx="544397" cy="169069"/>
            </a:xfrm>
            <a:prstGeom prst="rect">
              <a:avLst/>
            </a:prstGeom>
            <a:noFill/>
            <a:ln>
              <a:noFill/>
            </a:ln>
          </p:spPr>
          <p:txBody>
            <a:bodyPr wrap="none" lIns="0" tIns="0" rIns="0" bIns="0" anchor="t" anchorCtr="0">
              <a:spAutoFit/>
            </a:bodyPr>
            <a:lstStyle/>
            <a:p>
              <a:pPr algn="ctr"/>
              <a:r>
                <a:rPr lang="en-US" sz="860" b="1" dirty="0">
                  <a:solidFill>
                    <a:srgbClr val="C41D00"/>
                  </a:solidFill>
                  <a:latin typeface="+mn-lt"/>
                  <a:ea typeface="+mn-ea"/>
                  <a:cs typeface="+mn-cs"/>
                </a:rPr>
                <a:t>​13.93x​</a:t>
              </a:r>
            </a:p>
          </p:txBody>
        </p:sp>
        <p:sp>
          <p:nvSpPr>
            <p:cNvPr id="136" name="Line 136"/>
            <p:cNvSpPr/>
            <p:nvPr/>
          </p:nvSpPr>
          <p:spPr>
            <a:xfrm>
              <a:off x="3619500" y="971550"/>
              <a:ext cx="9525" cy="2381250"/>
            </a:xfrm>
            <a:custGeom>
              <a:avLst/>
              <a:gdLst/>
              <a:ahLst/>
              <a:cxnLst/>
              <a:rect l="l" t="t" r="r" b="b"/>
              <a:pathLst>
                <a:path w="9525" h="2381250">
                  <a:moveTo>
                    <a:pt x="0" y="0"/>
                  </a:moveTo>
                  <a:lnTo>
                    <a:pt x="0" y="2381250"/>
                  </a:lnTo>
                </a:path>
              </a:pathLst>
            </a:custGeom>
            <a:noFill/>
            <a:ln w="9525">
              <a:solidFill>
                <a:srgbClr val="EADBCE"/>
              </a:solidFill>
            </a:ln>
          </p:spPr>
        </p:sp>
        <p:sp>
          <p:nvSpPr>
            <p:cNvPr id="137" name="Line 137"/>
            <p:cNvSpPr/>
            <p:nvPr/>
          </p:nvSpPr>
          <p:spPr>
            <a:xfrm>
              <a:off x="4152900" y="971550"/>
              <a:ext cx="9525" cy="2381250"/>
            </a:xfrm>
            <a:custGeom>
              <a:avLst/>
              <a:gdLst/>
              <a:ahLst/>
              <a:cxnLst/>
              <a:rect l="l" t="t" r="r" b="b"/>
              <a:pathLst>
                <a:path w="9525" h="2381250">
                  <a:moveTo>
                    <a:pt x="0" y="0"/>
                  </a:moveTo>
                  <a:lnTo>
                    <a:pt x="0" y="2381250"/>
                  </a:lnTo>
                </a:path>
              </a:pathLst>
            </a:custGeom>
            <a:noFill/>
            <a:ln w="9525">
              <a:solidFill>
                <a:srgbClr val="EADBCE"/>
              </a:solidFill>
            </a:ln>
          </p:spPr>
        </p:sp>
        <p:sp>
          <p:nvSpPr>
            <p:cNvPr id="138" name="Line 138"/>
            <p:cNvSpPr/>
            <p:nvPr/>
          </p:nvSpPr>
          <p:spPr>
            <a:xfrm>
              <a:off x="4762500" y="971550"/>
              <a:ext cx="9525" cy="2381250"/>
            </a:xfrm>
            <a:custGeom>
              <a:avLst/>
              <a:gdLst/>
              <a:ahLst/>
              <a:cxnLst/>
              <a:rect l="l" t="t" r="r" b="b"/>
              <a:pathLst>
                <a:path w="9525" h="2381250">
                  <a:moveTo>
                    <a:pt x="0" y="0"/>
                  </a:moveTo>
                  <a:lnTo>
                    <a:pt x="0" y="2381250"/>
                  </a:lnTo>
                </a:path>
              </a:pathLst>
            </a:custGeom>
            <a:noFill/>
            <a:ln w="9525">
              <a:solidFill>
                <a:srgbClr val="EADBCE"/>
              </a:solidFill>
            </a:ln>
          </p:spPr>
        </p:sp>
        <p:sp>
          <p:nvSpPr>
            <p:cNvPr id="139" name="Line 139"/>
            <p:cNvSpPr/>
            <p:nvPr/>
          </p:nvSpPr>
          <p:spPr>
            <a:xfrm>
              <a:off x="5467350" y="971550"/>
              <a:ext cx="9525" cy="2381250"/>
            </a:xfrm>
            <a:custGeom>
              <a:avLst/>
              <a:gdLst/>
              <a:ahLst/>
              <a:cxnLst/>
              <a:rect l="l" t="t" r="r" b="b"/>
              <a:pathLst>
                <a:path w="9525" h="2381250">
                  <a:moveTo>
                    <a:pt x="0" y="0"/>
                  </a:moveTo>
                  <a:lnTo>
                    <a:pt x="0" y="2381250"/>
                  </a:lnTo>
                </a:path>
              </a:pathLst>
            </a:custGeom>
            <a:noFill/>
            <a:ln w="9525">
              <a:solidFill>
                <a:srgbClr val="EADBCE"/>
              </a:solidFill>
            </a:ln>
          </p:spPr>
        </p:sp>
        <p:sp>
          <p:nvSpPr>
            <p:cNvPr id="140" name="Line 140"/>
            <p:cNvSpPr/>
            <p:nvPr/>
          </p:nvSpPr>
          <p:spPr>
            <a:xfrm>
              <a:off x="6019800" y="971550"/>
              <a:ext cx="9525" cy="2381250"/>
            </a:xfrm>
            <a:custGeom>
              <a:avLst/>
              <a:gdLst/>
              <a:ahLst/>
              <a:cxnLst/>
              <a:rect l="l" t="t" r="r" b="b"/>
              <a:pathLst>
                <a:path w="9525" h="2381250">
                  <a:moveTo>
                    <a:pt x="0" y="0"/>
                  </a:moveTo>
                  <a:lnTo>
                    <a:pt x="0" y="2381250"/>
                  </a:lnTo>
                </a:path>
              </a:pathLst>
            </a:custGeom>
            <a:noFill/>
            <a:ln w="9525">
              <a:solidFill>
                <a:srgbClr val="EADBCE"/>
              </a:solidFill>
            </a:ln>
          </p:spPr>
        </p:sp>
        <p:sp>
          <p:nvSpPr>
            <p:cNvPr id="141" name="Line 141"/>
            <p:cNvSpPr/>
            <p:nvPr/>
          </p:nvSpPr>
          <p:spPr>
            <a:xfrm>
              <a:off x="2781300" y="1781175"/>
              <a:ext cx="4000500" cy="9525"/>
            </a:xfrm>
            <a:custGeom>
              <a:avLst/>
              <a:gdLst/>
              <a:ahLst/>
              <a:cxnLst/>
              <a:rect l="l" t="t" r="r" b="b"/>
              <a:pathLst>
                <a:path w="4000500" h="9525">
                  <a:moveTo>
                    <a:pt x="0" y="0"/>
                  </a:moveTo>
                  <a:lnTo>
                    <a:pt x="4000500" y="0"/>
                  </a:lnTo>
                </a:path>
              </a:pathLst>
            </a:custGeom>
            <a:noFill/>
            <a:ln w="9525">
              <a:solidFill>
                <a:srgbClr val="EADBCE"/>
              </a:solidFill>
            </a:ln>
          </p:spPr>
        </p:sp>
        <p:sp>
          <p:nvSpPr>
            <p:cNvPr id="142" name="Line 142"/>
            <p:cNvSpPr/>
            <p:nvPr/>
          </p:nvSpPr>
          <p:spPr>
            <a:xfrm>
              <a:off x="2781300" y="2305050"/>
              <a:ext cx="4000500" cy="9525"/>
            </a:xfrm>
            <a:custGeom>
              <a:avLst/>
              <a:gdLst/>
              <a:ahLst/>
              <a:cxnLst/>
              <a:rect l="l" t="t" r="r" b="b"/>
              <a:pathLst>
                <a:path w="4000500" h="9525">
                  <a:moveTo>
                    <a:pt x="0" y="0"/>
                  </a:moveTo>
                  <a:lnTo>
                    <a:pt x="4000500" y="0"/>
                  </a:lnTo>
                </a:path>
              </a:pathLst>
            </a:custGeom>
            <a:noFill/>
            <a:ln w="9525">
              <a:solidFill>
                <a:srgbClr val="EADBCE"/>
              </a:solidFill>
            </a:ln>
          </p:spPr>
        </p:sp>
        <p:sp>
          <p:nvSpPr>
            <p:cNvPr id="143" name="Line 143"/>
            <p:cNvSpPr/>
            <p:nvPr/>
          </p:nvSpPr>
          <p:spPr>
            <a:xfrm>
              <a:off x="2781300" y="2828925"/>
              <a:ext cx="4000500" cy="9525"/>
            </a:xfrm>
            <a:custGeom>
              <a:avLst/>
              <a:gdLst/>
              <a:ahLst/>
              <a:cxnLst/>
              <a:rect l="l" t="t" r="r" b="b"/>
              <a:pathLst>
                <a:path w="4000500" h="9525">
                  <a:moveTo>
                    <a:pt x="0" y="0"/>
                  </a:moveTo>
                  <a:lnTo>
                    <a:pt x="4000500" y="0"/>
                  </a:lnTo>
                </a:path>
              </a:pathLst>
            </a:custGeom>
            <a:noFill/>
            <a:ln w="9525">
              <a:solidFill>
                <a:srgbClr val="EADBCE"/>
              </a:solidFill>
            </a:ln>
          </p:spPr>
        </p:sp>
        <p:sp>
          <p:nvSpPr>
            <p:cNvPr id="144" name="TextBox 144"/>
            <p:cNvSpPr txBox="1"/>
            <p:nvPr/>
          </p:nvSpPr>
          <p:spPr>
            <a:xfrm>
              <a:off x="2795588" y="3421380"/>
              <a:ext cx="273748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7A716B"/>
                  </a:solidFill>
                  <a:latin typeface="+mn-lt"/>
                  <a:ea typeface="+mn-ea"/>
                  <a:cs typeface="+mn-cs"/>
                </a:rPr>
                <a:t>注：CAC=渠道直接成本/获客数；激活率=30日活跃客户/开户成功客户；​​​​​​​</a:t>
              </a:r>
              <a:br/>
              <a:r>
                <a:rPr lang="zh-CN" sz="600" dirty="0">
                  <a:solidFill>
                    <a:srgbClr val="7A716B"/>
                  </a:solidFill>
                  <a:latin typeface="+mn-lt"/>
                  <a:ea typeface="+mn-ea"/>
                  <a:cs typeface="+mn-cs"/>
                </a:rPr>
                <a:t>客户价值为90日净贡献（利息+手续费+关联产品贡献－服务成本）​​​​</a:t>
              </a:r>
            </a:p>
          </p:txBody>
        </p:sp>
      </p:grpSp>
      <p:grpSp>
        <p:nvGrpSpPr>
          <p:cNvPr id="194" name="cohort-chart"/>
          <p:cNvGrpSpPr/>
          <p:nvPr/>
        </p:nvGrpSpPr>
        <p:grpSpPr>
          <a:xfrm>
            <a:off x="2781300" y="3695700"/>
            <a:ext cx="4005262" cy="2965609"/>
            <a:chOff x="2781300" y="3695700"/>
            <a:chExt cx="4005262" cy="2965609"/>
          </a:xfrm>
        </p:grpSpPr>
        <p:sp>
          <p:nvSpPr>
            <p:cNvPr id="146" name="Rectangle 146"/>
            <p:cNvSpPr/>
            <p:nvPr/>
          </p:nvSpPr>
          <p:spPr>
            <a:xfrm>
              <a:off x="2781300" y="3695700"/>
              <a:ext cx="4000500" cy="228600"/>
            </a:xfrm>
            <a:prstGeom prst="roundRect">
              <a:avLst>
                <a:gd name="adj" fmla="val 12500"/>
              </a:avLst>
            </a:prstGeom>
            <a:solidFill>
              <a:srgbClr val="C41D00"/>
            </a:solidFill>
            <a:ln>
              <a:noFill/>
            </a:ln>
          </p:spPr>
        </p:sp>
        <p:sp>
          <p:nvSpPr>
            <p:cNvPr id="147" name="TextBox 147"/>
            <p:cNvSpPr txBox="1"/>
            <p:nvPr/>
          </p:nvSpPr>
          <p:spPr>
            <a:xfrm>
              <a:off x="3516279" y="3760470"/>
              <a:ext cx="253054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​​获客队列（Cohort）回本曲线（分渠道）​​</a:t>
              </a:r>
            </a:p>
          </p:txBody>
        </p:sp>
        <p:sp>
          <p:nvSpPr>
            <p:cNvPr id="148" name="Line 148"/>
            <p:cNvSpPr/>
            <p:nvPr/>
          </p:nvSpPr>
          <p:spPr>
            <a:xfrm>
              <a:off x="2857500" y="4067175"/>
              <a:ext cx="152400" cy="9525"/>
            </a:xfrm>
            <a:custGeom>
              <a:avLst/>
              <a:gdLst/>
              <a:ahLst/>
              <a:cxnLst/>
              <a:rect l="l" t="t" r="r" b="b"/>
              <a:pathLst>
                <a:path w="152400" h="9525">
                  <a:moveTo>
                    <a:pt x="0" y="0"/>
                  </a:moveTo>
                  <a:lnTo>
                    <a:pt x="152400" y="0"/>
                  </a:lnTo>
                </a:path>
              </a:pathLst>
            </a:custGeom>
            <a:noFill/>
            <a:ln w="23812">
              <a:solidFill>
                <a:srgbClr val="8F1C08"/>
              </a:solidFill>
            </a:ln>
          </p:spPr>
        </p:sp>
        <p:sp>
          <p:nvSpPr>
            <p:cNvPr id="149" name="TextBox 149"/>
            <p:cNvSpPr txBox="1"/>
            <p:nvPr/>
          </p:nvSpPr>
          <p:spPr>
            <a:xfrm>
              <a:off x="3043238" y="4026932"/>
              <a:ext cx="832322"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客户推荐（老带新）​</a:t>
              </a:r>
            </a:p>
          </p:txBody>
        </p:sp>
        <p:sp>
          <p:nvSpPr>
            <p:cNvPr id="150" name="Line 150"/>
            <p:cNvSpPr/>
            <p:nvPr/>
          </p:nvSpPr>
          <p:spPr>
            <a:xfrm>
              <a:off x="3905250" y="4067175"/>
              <a:ext cx="152400" cy="9525"/>
            </a:xfrm>
            <a:custGeom>
              <a:avLst/>
              <a:gdLst/>
              <a:ahLst/>
              <a:cxnLst/>
              <a:rect l="l" t="t" r="r" b="b"/>
              <a:pathLst>
                <a:path w="152400" h="9525">
                  <a:moveTo>
                    <a:pt x="0" y="0"/>
                  </a:moveTo>
                  <a:lnTo>
                    <a:pt x="152400" y="0"/>
                  </a:lnTo>
                </a:path>
              </a:pathLst>
            </a:custGeom>
            <a:noFill/>
            <a:ln w="23812">
              <a:solidFill>
                <a:srgbClr val="C41D00"/>
              </a:solidFill>
            </a:ln>
          </p:spPr>
        </p:sp>
        <p:sp>
          <p:nvSpPr>
            <p:cNvPr id="151" name="TextBox 151"/>
            <p:cNvSpPr txBox="1"/>
            <p:nvPr/>
          </p:nvSpPr>
          <p:spPr>
            <a:xfrm>
              <a:off x="4090988" y="4026932"/>
              <a:ext cx="654563"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手机银行APP​​​</a:t>
              </a:r>
            </a:p>
          </p:txBody>
        </p:sp>
        <p:sp>
          <p:nvSpPr>
            <p:cNvPr id="152" name="Line 152"/>
            <p:cNvSpPr/>
            <p:nvPr/>
          </p:nvSpPr>
          <p:spPr>
            <a:xfrm>
              <a:off x="4743450" y="4067175"/>
              <a:ext cx="152400" cy="9525"/>
            </a:xfrm>
            <a:custGeom>
              <a:avLst/>
              <a:gdLst/>
              <a:ahLst/>
              <a:cxnLst/>
              <a:rect l="l" t="t" r="r" b="b"/>
              <a:pathLst>
                <a:path w="152400" h="9525">
                  <a:moveTo>
                    <a:pt x="0" y="0"/>
                  </a:moveTo>
                  <a:lnTo>
                    <a:pt x="152400" y="0"/>
                  </a:lnTo>
                </a:path>
              </a:pathLst>
            </a:custGeom>
            <a:noFill/>
            <a:ln w="23812">
              <a:solidFill>
                <a:srgbClr val="EE492C"/>
              </a:solidFill>
            </a:ln>
          </p:spPr>
        </p:sp>
        <p:sp>
          <p:nvSpPr>
            <p:cNvPr id="153" name="TextBox 153"/>
            <p:cNvSpPr txBox="1"/>
            <p:nvPr/>
          </p:nvSpPr>
          <p:spPr>
            <a:xfrm>
              <a:off x="4929188" y="4026932"/>
              <a:ext cx="1013252"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生态合作（平台/场景）​​</a:t>
              </a:r>
            </a:p>
          </p:txBody>
        </p:sp>
        <p:sp>
          <p:nvSpPr>
            <p:cNvPr id="154" name="Line 154"/>
            <p:cNvSpPr/>
            <p:nvPr/>
          </p:nvSpPr>
          <p:spPr>
            <a:xfrm>
              <a:off x="5924550" y="4067175"/>
              <a:ext cx="152400" cy="9525"/>
            </a:xfrm>
            <a:custGeom>
              <a:avLst/>
              <a:gdLst/>
              <a:ahLst/>
              <a:cxnLst/>
              <a:rect l="l" t="t" r="r" b="b"/>
              <a:pathLst>
                <a:path w="152400" h="9525">
                  <a:moveTo>
                    <a:pt x="0" y="0"/>
                  </a:moveTo>
                  <a:lnTo>
                    <a:pt x="152400" y="0"/>
                  </a:lnTo>
                </a:path>
              </a:pathLst>
            </a:custGeom>
            <a:noFill/>
            <a:ln w="23812">
              <a:solidFill>
                <a:srgbClr val="F57E6A"/>
              </a:solidFill>
            </a:ln>
          </p:spPr>
        </p:sp>
        <p:sp>
          <p:nvSpPr>
            <p:cNvPr id="155" name="TextBox 155"/>
            <p:cNvSpPr txBox="1"/>
            <p:nvPr/>
          </p:nvSpPr>
          <p:spPr>
            <a:xfrm>
              <a:off x="6110288" y="4026932"/>
              <a:ext cx="354152"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线下网点</a:t>
              </a:r>
            </a:p>
          </p:txBody>
        </p:sp>
        <p:sp>
          <p:nvSpPr>
            <p:cNvPr id="156" name="TextBox 156"/>
            <p:cNvSpPr txBox="1"/>
            <p:nvPr/>
          </p:nvSpPr>
          <p:spPr>
            <a:xfrm>
              <a:off x="2833688" y="4188857"/>
              <a:ext cx="1013252" cy="126206"/>
            </a:xfrm>
            <a:prstGeom prst="rect">
              <a:avLst/>
            </a:prstGeom>
            <a:noFill/>
            <a:ln>
              <a:noFill/>
            </a:ln>
          </p:spPr>
          <p:txBody>
            <a:bodyPr wrap="none" lIns="0" tIns="0" rIns="0" bIns="0" anchor="t" anchorCtr="0">
              <a:spAutoFit/>
            </a:bodyPr>
            <a:lstStyle/>
            <a:p>
              <a:pPr algn="l"/>
              <a:r>
                <a:rPr lang="zh-CN" sz="640" dirty="0">
                  <a:solidFill>
                    <a:srgbClr val="7A716B"/>
                  </a:solidFill>
                  <a:latin typeface="+mn-lt"/>
                  <a:ea typeface="+mn-ea"/>
                  <a:cs typeface="+mn-cs"/>
                </a:rPr>
                <a:t>累计净收益（元/客户）​​</a:t>
              </a:r>
            </a:p>
          </p:txBody>
        </p:sp>
        <p:sp>
          <p:nvSpPr>
            <p:cNvPr id="157" name="Line 157"/>
            <p:cNvSpPr/>
            <p:nvPr/>
          </p:nvSpPr>
          <p:spPr>
            <a:xfrm>
              <a:off x="3200400" y="4343400"/>
              <a:ext cx="3371850" cy="9525"/>
            </a:xfrm>
            <a:custGeom>
              <a:avLst/>
              <a:gdLst/>
              <a:ahLst/>
              <a:cxnLst/>
              <a:rect l="l" t="t" r="r" b="b"/>
              <a:pathLst>
                <a:path w="3371850" h="9525">
                  <a:moveTo>
                    <a:pt x="0" y="0"/>
                  </a:moveTo>
                  <a:lnTo>
                    <a:pt x="3371850" y="0"/>
                  </a:lnTo>
                </a:path>
              </a:pathLst>
            </a:custGeom>
            <a:noFill/>
            <a:ln w="9525">
              <a:solidFill>
                <a:srgbClr val="EADBCE"/>
              </a:solidFill>
            </a:ln>
          </p:spPr>
        </p:sp>
        <p:sp>
          <p:nvSpPr>
            <p:cNvPr id="158" name="Line 158"/>
            <p:cNvSpPr/>
            <p:nvPr/>
          </p:nvSpPr>
          <p:spPr>
            <a:xfrm>
              <a:off x="3200400" y="4693920"/>
              <a:ext cx="3371850" cy="9525"/>
            </a:xfrm>
            <a:custGeom>
              <a:avLst/>
              <a:gdLst/>
              <a:ahLst/>
              <a:cxnLst/>
              <a:rect l="l" t="t" r="r" b="b"/>
              <a:pathLst>
                <a:path w="3371850" h="9525">
                  <a:moveTo>
                    <a:pt x="0" y="0"/>
                  </a:moveTo>
                  <a:lnTo>
                    <a:pt x="3371850" y="0"/>
                  </a:lnTo>
                </a:path>
              </a:pathLst>
            </a:custGeom>
            <a:noFill/>
            <a:ln w="9525">
              <a:solidFill>
                <a:srgbClr val="EADBCE"/>
              </a:solidFill>
            </a:ln>
          </p:spPr>
        </p:sp>
        <p:sp>
          <p:nvSpPr>
            <p:cNvPr id="159" name="Line 159"/>
            <p:cNvSpPr/>
            <p:nvPr/>
          </p:nvSpPr>
          <p:spPr>
            <a:xfrm>
              <a:off x="3200400" y="5044440"/>
              <a:ext cx="3371850" cy="9525"/>
            </a:xfrm>
            <a:custGeom>
              <a:avLst/>
              <a:gdLst/>
              <a:ahLst/>
              <a:cxnLst/>
              <a:rect l="l" t="t" r="r" b="b"/>
              <a:pathLst>
                <a:path w="3371850" h="9525">
                  <a:moveTo>
                    <a:pt x="0" y="0"/>
                  </a:moveTo>
                  <a:lnTo>
                    <a:pt x="3371850" y="0"/>
                  </a:lnTo>
                </a:path>
              </a:pathLst>
            </a:custGeom>
            <a:noFill/>
            <a:ln w="9525">
              <a:solidFill>
                <a:srgbClr val="EADBCE"/>
              </a:solidFill>
            </a:ln>
          </p:spPr>
        </p:sp>
        <p:sp>
          <p:nvSpPr>
            <p:cNvPr id="160" name="Line 160"/>
            <p:cNvSpPr/>
            <p:nvPr/>
          </p:nvSpPr>
          <p:spPr>
            <a:xfrm>
              <a:off x="3200400" y="5394960"/>
              <a:ext cx="3371850" cy="9525"/>
            </a:xfrm>
            <a:custGeom>
              <a:avLst/>
              <a:gdLst/>
              <a:ahLst/>
              <a:cxnLst/>
              <a:rect l="l" t="t" r="r" b="b"/>
              <a:pathLst>
                <a:path w="3371850" h="9525">
                  <a:moveTo>
                    <a:pt x="0" y="0"/>
                  </a:moveTo>
                  <a:lnTo>
                    <a:pt x="3371850" y="0"/>
                  </a:lnTo>
                </a:path>
              </a:pathLst>
            </a:custGeom>
            <a:noFill/>
            <a:ln w="9525">
              <a:solidFill>
                <a:srgbClr val="EADBCE"/>
              </a:solidFill>
            </a:ln>
          </p:spPr>
        </p:sp>
        <p:sp>
          <p:nvSpPr>
            <p:cNvPr id="161" name="Line 161"/>
            <p:cNvSpPr/>
            <p:nvPr/>
          </p:nvSpPr>
          <p:spPr>
            <a:xfrm>
              <a:off x="3200400" y="5745480"/>
              <a:ext cx="3371850" cy="9525"/>
            </a:xfrm>
            <a:custGeom>
              <a:avLst/>
              <a:gdLst/>
              <a:ahLst/>
              <a:cxnLst/>
              <a:rect l="l" t="t" r="r" b="b"/>
              <a:pathLst>
                <a:path w="3371850" h="9525">
                  <a:moveTo>
                    <a:pt x="0" y="0"/>
                  </a:moveTo>
                  <a:lnTo>
                    <a:pt x="3371850" y="0"/>
                  </a:lnTo>
                </a:path>
              </a:pathLst>
            </a:custGeom>
            <a:noFill/>
            <a:ln w="9525">
              <a:solidFill>
                <a:srgbClr val="7A716B"/>
              </a:solidFill>
              <a:custDash>
                <a:ds d="300000" sp="200000"/>
              </a:custDash>
            </a:ln>
          </p:spPr>
        </p:sp>
        <p:sp>
          <p:nvSpPr>
            <p:cNvPr id="162" name="Line 162"/>
            <p:cNvSpPr/>
            <p:nvPr/>
          </p:nvSpPr>
          <p:spPr>
            <a:xfrm>
              <a:off x="3200400" y="6096000"/>
              <a:ext cx="3371850" cy="9525"/>
            </a:xfrm>
            <a:custGeom>
              <a:avLst/>
              <a:gdLst/>
              <a:ahLst/>
              <a:cxnLst/>
              <a:rect l="l" t="t" r="r" b="b"/>
              <a:pathLst>
                <a:path w="3371850" h="9525">
                  <a:moveTo>
                    <a:pt x="0" y="0"/>
                  </a:moveTo>
                  <a:lnTo>
                    <a:pt x="3371850" y="0"/>
                  </a:lnTo>
                </a:path>
              </a:pathLst>
            </a:custGeom>
            <a:noFill/>
            <a:ln w="9525">
              <a:solidFill>
                <a:srgbClr val="EADBCE"/>
              </a:solidFill>
            </a:ln>
          </p:spPr>
        </p:sp>
        <p:sp>
          <p:nvSpPr>
            <p:cNvPr id="163" name="Line 163"/>
            <p:cNvSpPr/>
            <p:nvPr/>
          </p:nvSpPr>
          <p:spPr>
            <a:xfrm>
              <a:off x="3200400" y="4343400"/>
              <a:ext cx="9525" cy="1752600"/>
            </a:xfrm>
            <a:custGeom>
              <a:avLst/>
              <a:gdLst/>
              <a:ahLst/>
              <a:cxnLst/>
              <a:rect l="l" t="t" r="r" b="b"/>
              <a:pathLst>
                <a:path w="9525" h="1752600">
                  <a:moveTo>
                    <a:pt x="0" y="0"/>
                  </a:moveTo>
                  <a:lnTo>
                    <a:pt x="0" y="1752600"/>
                  </a:lnTo>
                </a:path>
              </a:pathLst>
            </a:custGeom>
            <a:noFill/>
            <a:ln w="9525">
              <a:solidFill>
                <a:srgbClr val="7A716B"/>
              </a:solidFill>
            </a:ln>
          </p:spPr>
        </p:sp>
        <p:sp>
          <p:nvSpPr>
            <p:cNvPr id="164" name="TextBox 164"/>
            <p:cNvSpPr txBox="1"/>
            <p:nvPr/>
          </p:nvSpPr>
          <p:spPr>
            <a:xfrm>
              <a:off x="2901556" y="4303157"/>
              <a:ext cx="246456"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​​400</a:t>
              </a:r>
            </a:p>
          </p:txBody>
        </p:sp>
        <p:sp>
          <p:nvSpPr>
            <p:cNvPr id="165" name="TextBox 165"/>
            <p:cNvSpPr txBox="1"/>
            <p:nvPr/>
          </p:nvSpPr>
          <p:spPr>
            <a:xfrm>
              <a:off x="2901556" y="4655582"/>
              <a:ext cx="246456"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​​300</a:t>
              </a:r>
            </a:p>
          </p:txBody>
        </p:sp>
        <p:sp>
          <p:nvSpPr>
            <p:cNvPr id="166" name="TextBox 166"/>
            <p:cNvSpPr txBox="1"/>
            <p:nvPr/>
          </p:nvSpPr>
          <p:spPr>
            <a:xfrm>
              <a:off x="2901556" y="5008007"/>
              <a:ext cx="246456"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​​200</a:t>
              </a:r>
            </a:p>
          </p:txBody>
        </p:sp>
        <p:sp>
          <p:nvSpPr>
            <p:cNvPr id="167" name="TextBox 167"/>
            <p:cNvSpPr txBox="1"/>
            <p:nvPr/>
          </p:nvSpPr>
          <p:spPr>
            <a:xfrm>
              <a:off x="2901556" y="5360432"/>
              <a:ext cx="246456"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​​100</a:t>
              </a:r>
            </a:p>
          </p:txBody>
        </p:sp>
        <p:sp>
          <p:nvSpPr>
            <p:cNvPr id="168" name="TextBox 168"/>
            <p:cNvSpPr txBox="1"/>
            <p:nvPr/>
          </p:nvSpPr>
          <p:spPr>
            <a:xfrm>
              <a:off x="3043715" y="5703332"/>
              <a:ext cx="104297"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​0</a:t>
              </a:r>
            </a:p>
          </p:txBody>
        </p:sp>
        <p:sp>
          <p:nvSpPr>
            <p:cNvPr id="169" name="TextBox 169"/>
            <p:cNvSpPr txBox="1"/>
            <p:nvPr/>
          </p:nvSpPr>
          <p:spPr>
            <a:xfrm>
              <a:off x="2854170" y="6055757"/>
              <a:ext cx="293842"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​​-100</a:t>
              </a:r>
            </a:p>
          </p:txBody>
        </p:sp>
        <p:sp>
          <p:nvSpPr>
            <p:cNvPr id="170" name="TextBox 170"/>
            <p:cNvSpPr txBox="1"/>
            <p:nvPr/>
          </p:nvSpPr>
          <p:spPr>
            <a:xfrm>
              <a:off x="3124558" y="6160532"/>
              <a:ext cx="151684" cy="126206"/>
            </a:xfrm>
            <a:prstGeom prst="rect">
              <a:avLst/>
            </a:prstGeom>
            <a:noFill/>
            <a:ln>
              <a:noFill/>
            </a:ln>
          </p:spPr>
          <p:txBody>
            <a:bodyPr wrap="none" lIns="0" tIns="0" rIns="0" bIns="0" anchor="t" anchorCtr="0">
              <a:spAutoFit/>
            </a:bodyPr>
            <a:lstStyle/>
            <a:p>
              <a:pPr algn="ctr"/>
              <a:r>
                <a:rPr lang="zh-CN" sz="640" dirty="0">
                  <a:solidFill>
                    <a:srgbClr val="7A716B"/>
                  </a:solidFill>
                  <a:latin typeface="+mn-lt"/>
                  <a:ea typeface="+mn-ea"/>
                  <a:cs typeface="+mn-cs"/>
                </a:rPr>
                <a:t>​0​</a:t>
              </a:r>
            </a:p>
          </p:txBody>
        </p:sp>
        <p:sp>
          <p:nvSpPr>
            <p:cNvPr id="171" name="TextBox 171"/>
            <p:cNvSpPr txBox="1"/>
            <p:nvPr/>
          </p:nvSpPr>
          <p:spPr>
            <a:xfrm>
              <a:off x="3662840" y="6160532"/>
              <a:ext cx="199070" cy="126206"/>
            </a:xfrm>
            <a:prstGeom prst="rect">
              <a:avLst/>
            </a:prstGeom>
            <a:noFill/>
            <a:ln>
              <a:noFill/>
            </a:ln>
          </p:spPr>
          <p:txBody>
            <a:bodyPr wrap="none" lIns="0" tIns="0" rIns="0" bIns="0" anchor="t" anchorCtr="0">
              <a:spAutoFit/>
            </a:bodyPr>
            <a:lstStyle/>
            <a:p>
              <a:pPr algn="ctr"/>
              <a:r>
                <a:rPr lang="zh-CN" sz="640" dirty="0">
                  <a:solidFill>
                    <a:srgbClr val="7A716B"/>
                  </a:solidFill>
                  <a:latin typeface="+mn-lt"/>
                  <a:ea typeface="+mn-ea"/>
                  <a:cs typeface="+mn-cs"/>
                </a:rPr>
                <a:t>​15​</a:t>
              </a:r>
            </a:p>
          </p:txBody>
        </p:sp>
        <p:sp>
          <p:nvSpPr>
            <p:cNvPr id="172" name="TextBox 172"/>
            <p:cNvSpPr txBox="1"/>
            <p:nvPr/>
          </p:nvSpPr>
          <p:spPr>
            <a:xfrm>
              <a:off x="4224815" y="6160532"/>
              <a:ext cx="199070" cy="126206"/>
            </a:xfrm>
            <a:prstGeom prst="rect">
              <a:avLst/>
            </a:prstGeom>
            <a:noFill/>
            <a:ln>
              <a:noFill/>
            </a:ln>
          </p:spPr>
          <p:txBody>
            <a:bodyPr wrap="none" lIns="0" tIns="0" rIns="0" bIns="0" anchor="t" anchorCtr="0">
              <a:spAutoFit/>
            </a:bodyPr>
            <a:lstStyle/>
            <a:p>
              <a:pPr algn="ctr"/>
              <a:r>
                <a:rPr lang="zh-CN" sz="640" dirty="0">
                  <a:solidFill>
                    <a:srgbClr val="7A716B"/>
                  </a:solidFill>
                  <a:latin typeface="+mn-lt"/>
                  <a:ea typeface="+mn-ea"/>
                  <a:cs typeface="+mn-cs"/>
                </a:rPr>
                <a:t>​30​</a:t>
              </a:r>
            </a:p>
          </p:txBody>
        </p:sp>
        <p:sp>
          <p:nvSpPr>
            <p:cNvPr id="173" name="TextBox 173"/>
            <p:cNvSpPr txBox="1"/>
            <p:nvPr/>
          </p:nvSpPr>
          <p:spPr>
            <a:xfrm>
              <a:off x="4786790" y="6160532"/>
              <a:ext cx="199070" cy="126206"/>
            </a:xfrm>
            <a:prstGeom prst="rect">
              <a:avLst/>
            </a:prstGeom>
            <a:noFill/>
            <a:ln>
              <a:noFill/>
            </a:ln>
          </p:spPr>
          <p:txBody>
            <a:bodyPr wrap="none" lIns="0" tIns="0" rIns="0" bIns="0" anchor="t" anchorCtr="0">
              <a:spAutoFit/>
            </a:bodyPr>
            <a:lstStyle/>
            <a:p>
              <a:pPr algn="ctr"/>
              <a:r>
                <a:rPr lang="zh-CN" sz="640" dirty="0">
                  <a:solidFill>
                    <a:srgbClr val="7A716B"/>
                  </a:solidFill>
                  <a:latin typeface="+mn-lt"/>
                  <a:ea typeface="+mn-ea"/>
                  <a:cs typeface="+mn-cs"/>
                </a:rPr>
                <a:t>​45​</a:t>
              </a:r>
            </a:p>
          </p:txBody>
        </p:sp>
        <p:sp>
          <p:nvSpPr>
            <p:cNvPr id="174" name="TextBox 174"/>
            <p:cNvSpPr txBox="1"/>
            <p:nvPr/>
          </p:nvSpPr>
          <p:spPr>
            <a:xfrm>
              <a:off x="5348765" y="6160532"/>
              <a:ext cx="199070" cy="126206"/>
            </a:xfrm>
            <a:prstGeom prst="rect">
              <a:avLst/>
            </a:prstGeom>
            <a:noFill/>
            <a:ln>
              <a:noFill/>
            </a:ln>
          </p:spPr>
          <p:txBody>
            <a:bodyPr wrap="none" lIns="0" tIns="0" rIns="0" bIns="0" anchor="t" anchorCtr="0">
              <a:spAutoFit/>
            </a:bodyPr>
            <a:lstStyle/>
            <a:p>
              <a:pPr algn="ctr"/>
              <a:r>
                <a:rPr lang="zh-CN" sz="640" dirty="0">
                  <a:solidFill>
                    <a:srgbClr val="7A716B"/>
                  </a:solidFill>
                  <a:latin typeface="+mn-lt"/>
                  <a:ea typeface="+mn-ea"/>
                  <a:cs typeface="+mn-cs"/>
                </a:rPr>
                <a:t>​60​</a:t>
              </a:r>
            </a:p>
          </p:txBody>
        </p:sp>
        <p:sp>
          <p:nvSpPr>
            <p:cNvPr id="175" name="TextBox 175"/>
            <p:cNvSpPr txBox="1"/>
            <p:nvPr/>
          </p:nvSpPr>
          <p:spPr>
            <a:xfrm>
              <a:off x="5910740" y="6160532"/>
              <a:ext cx="199070" cy="126206"/>
            </a:xfrm>
            <a:prstGeom prst="rect">
              <a:avLst/>
            </a:prstGeom>
            <a:noFill/>
            <a:ln>
              <a:noFill/>
            </a:ln>
          </p:spPr>
          <p:txBody>
            <a:bodyPr wrap="none" lIns="0" tIns="0" rIns="0" bIns="0" anchor="t" anchorCtr="0">
              <a:spAutoFit/>
            </a:bodyPr>
            <a:lstStyle/>
            <a:p>
              <a:pPr algn="ctr"/>
              <a:r>
                <a:rPr lang="zh-CN" sz="640" dirty="0">
                  <a:solidFill>
                    <a:srgbClr val="7A716B"/>
                  </a:solidFill>
                  <a:latin typeface="+mn-lt"/>
                  <a:ea typeface="+mn-ea"/>
                  <a:cs typeface="+mn-cs"/>
                </a:rPr>
                <a:t>​75​</a:t>
              </a:r>
            </a:p>
          </p:txBody>
        </p:sp>
        <p:sp>
          <p:nvSpPr>
            <p:cNvPr id="176" name="TextBox 176"/>
            <p:cNvSpPr txBox="1"/>
            <p:nvPr/>
          </p:nvSpPr>
          <p:spPr>
            <a:xfrm>
              <a:off x="6472715" y="6160532"/>
              <a:ext cx="199070" cy="126206"/>
            </a:xfrm>
            <a:prstGeom prst="rect">
              <a:avLst/>
            </a:prstGeom>
            <a:noFill/>
            <a:ln>
              <a:noFill/>
            </a:ln>
          </p:spPr>
          <p:txBody>
            <a:bodyPr wrap="none" lIns="0" tIns="0" rIns="0" bIns="0" anchor="t" anchorCtr="0">
              <a:spAutoFit/>
            </a:bodyPr>
            <a:lstStyle/>
            <a:p>
              <a:pPr algn="ctr"/>
              <a:r>
                <a:rPr lang="zh-CN" sz="640" dirty="0">
                  <a:solidFill>
                    <a:srgbClr val="7A716B"/>
                  </a:solidFill>
                  <a:latin typeface="+mn-lt"/>
                  <a:ea typeface="+mn-ea"/>
                  <a:cs typeface="+mn-cs"/>
                </a:rPr>
                <a:t>​90​</a:t>
              </a:r>
            </a:p>
          </p:txBody>
        </p:sp>
        <p:sp>
          <p:nvSpPr>
            <p:cNvPr id="177" name="TextBox 177"/>
            <p:cNvSpPr txBox="1"/>
            <p:nvPr/>
          </p:nvSpPr>
          <p:spPr>
            <a:xfrm>
              <a:off x="5954240" y="6293882"/>
              <a:ext cx="832322"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​客户生命周期（天）</a:t>
              </a:r>
            </a:p>
          </p:txBody>
        </p:sp>
        <p:sp>
          <p:nvSpPr>
            <p:cNvPr id="178" name="Polyline 178"/>
            <p:cNvSpPr/>
            <p:nvPr/>
          </p:nvSpPr>
          <p:spPr>
            <a:xfrm>
              <a:off x="3200400" y="4343400"/>
              <a:ext cx="3371850" cy="1682115"/>
            </a:xfrm>
            <a:custGeom>
              <a:avLst/>
              <a:gdLst/>
              <a:ahLst/>
              <a:cxnLst/>
              <a:rect l="l" t="t" r="r" b="b"/>
              <a:pathLst>
                <a:path w="3371850" h="1682115">
                  <a:moveTo>
                    <a:pt x="0" y="1682115"/>
                  </a:moveTo>
                  <a:lnTo>
                    <a:pt x="374333" y="1506855"/>
                  </a:lnTo>
                  <a:lnTo>
                    <a:pt x="637222" y="1402080"/>
                  </a:lnTo>
                  <a:lnTo>
                    <a:pt x="1123950" y="981075"/>
                  </a:lnTo>
                  <a:lnTo>
                    <a:pt x="1685925" y="525780"/>
                  </a:lnTo>
                  <a:lnTo>
                    <a:pt x="2247900" y="175260"/>
                  </a:lnTo>
                  <a:lnTo>
                    <a:pt x="2809875" y="35242"/>
                  </a:lnTo>
                  <a:lnTo>
                    <a:pt x="3371850" y="0"/>
                  </a:lnTo>
                </a:path>
              </a:pathLst>
            </a:custGeom>
            <a:noFill/>
            <a:ln w="20955">
              <a:solidFill>
                <a:srgbClr val="8F1C08"/>
              </a:solidFill>
            </a:ln>
          </p:spPr>
        </p:sp>
        <p:sp>
          <p:nvSpPr>
            <p:cNvPr id="179" name="Polyline 179"/>
            <p:cNvSpPr/>
            <p:nvPr/>
          </p:nvSpPr>
          <p:spPr>
            <a:xfrm>
              <a:off x="3200400" y="4553902"/>
              <a:ext cx="3371850" cy="1437322"/>
            </a:xfrm>
            <a:custGeom>
              <a:avLst/>
              <a:gdLst/>
              <a:ahLst/>
              <a:cxnLst/>
              <a:rect l="l" t="t" r="r" b="b"/>
              <a:pathLst>
                <a:path w="3371850" h="1437322">
                  <a:moveTo>
                    <a:pt x="0" y="1437322"/>
                  </a:moveTo>
                  <a:lnTo>
                    <a:pt x="561975" y="1296353"/>
                  </a:lnTo>
                  <a:lnTo>
                    <a:pt x="936308" y="1191578"/>
                  </a:lnTo>
                  <a:lnTo>
                    <a:pt x="1498282" y="875347"/>
                  </a:lnTo>
                  <a:lnTo>
                    <a:pt x="2247900" y="420053"/>
                  </a:lnTo>
                  <a:lnTo>
                    <a:pt x="2809875" y="175260"/>
                  </a:lnTo>
                  <a:lnTo>
                    <a:pt x="3371850" y="0"/>
                  </a:lnTo>
                </a:path>
              </a:pathLst>
            </a:custGeom>
            <a:noFill/>
            <a:ln w="20955">
              <a:solidFill>
                <a:srgbClr val="C41D00"/>
              </a:solidFill>
            </a:ln>
          </p:spPr>
        </p:sp>
        <p:sp>
          <p:nvSpPr>
            <p:cNvPr id="180" name="Polyline 180"/>
            <p:cNvSpPr/>
            <p:nvPr/>
          </p:nvSpPr>
          <p:spPr>
            <a:xfrm>
              <a:off x="3200400" y="4764405"/>
              <a:ext cx="3371850" cy="1191577"/>
            </a:xfrm>
            <a:custGeom>
              <a:avLst/>
              <a:gdLst/>
              <a:ahLst/>
              <a:cxnLst/>
              <a:rect l="l" t="t" r="r" b="b"/>
              <a:pathLst>
                <a:path w="3371850" h="1191577">
                  <a:moveTo>
                    <a:pt x="0" y="1191577"/>
                  </a:moveTo>
                  <a:lnTo>
                    <a:pt x="561975" y="1102995"/>
                  </a:lnTo>
                  <a:lnTo>
                    <a:pt x="1123950" y="981075"/>
                  </a:lnTo>
                  <a:lnTo>
                    <a:pt x="1685925" y="701040"/>
                  </a:lnTo>
                  <a:lnTo>
                    <a:pt x="2247900" y="420052"/>
                  </a:lnTo>
                  <a:lnTo>
                    <a:pt x="2809875" y="175260"/>
                  </a:lnTo>
                  <a:lnTo>
                    <a:pt x="3371850" y="0"/>
                  </a:lnTo>
                </a:path>
              </a:pathLst>
            </a:custGeom>
            <a:noFill/>
            <a:ln w="20955">
              <a:solidFill>
                <a:srgbClr val="EE492C"/>
              </a:solidFill>
            </a:ln>
          </p:spPr>
        </p:sp>
        <p:sp>
          <p:nvSpPr>
            <p:cNvPr id="181" name="Polyline 181"/>
            <p:cNvSpPr/>
            <p:nvPr/>
          </p:nvSpPr>
          <p:spPr>
            <a:xfrm>
              <a:off x="3200400" y="5079682"/>
              <a:ext cx="3371850" cy="841058"/>
            </a:xfrm>
            <a:custGeom>
              <a:avLst/>
              <a:gdLst/>
              <a:ahLst/>
              <a:cxnLst/>
              <a:rect l="l" t="t" r="r" b="b"/>
              <a:pathLst>
                <a:path w="3371850" h="841058">
                  <a:moveTo>
                    <a:pt x="0" y="841058"/>
                  </a:moveTo>
                  <a:lnTo>
                    <a:pt x="749617" y="770573"/>
                  </a:lnTo>
                  <a:lnTo>
                    <a:pt x="1348740" y="665798"/>
                  </a:lnTo>
                  <a:lnTo>
                    <a:pt x="1873568" y="490538"/>
                  </a:lnTo>
                  <a:lnTo>
                    <a:pt x="2622232" y="244793"/>
                  </a:lnTo>
                  <a:lnTo>
                    <a:pt x="3371850" y="0"/>
                  </a:lnTo>
                </a:path>
              </a:pathLst>
            </a:custGeom>
            <a:noFill/>
            <a:ln w="20955">
              <a:solidFill>
                <a:srgbClr val="F57E6A"/>
              </a:solidFill>
            </a:ln>
          </p:spPr>
        </p:sp>
        <p:sp>
          <p:nvSpPr>
            <p:cNvPr id="182" name="Ellipse 182"/>
            <p:cNvSpPr/>
            <p:nvPr/>
          </p:nvSpPr>
          <p:spPr>
            <a:xfrm>
              <a:off x="3809048" y="5716905"/>
              <a:ext cx="57150" cy="57150"/>
            </a:xfrm>
            <a:prstGeom prst="ellipse">
              <a:avLst/>
            </a:prstGeom>
            <a:solidFill>
              <a:srgbClr val="8F1C08"/>
            </a:solidFill>
            <a:ln>
              <a:noFill/>
            </a:ln>
          </p:spPr>
        </p:sp>
        <p:sp>
          <p:nvSpPr>
            <p:cNvPr id="183" name="Ellipse 183"/>
            <p:cNvSpPr/>
            <p:nvPr/>
          </p:nvSpPr>
          <p:spPr>
            <a:xfrm>
              <a:off x="4108132" y="5716905"/>
              <a:ext cx="57150" cy="57150"/>
            </a:xfrm>
            <a:prstGeom prst="ellipse">
              <a:avLst/>
            </a:prstGeom>
            <a:solidFill>
              <a:srgbClr val="C41D00"/>
            </a:solidFill>
            <a:ln>
              <a:noFill/>
            </a:ln>
          </p:spPr>
        </p:sp>
        <p:sp>
          <p:nvSpPr>
            <p:cNvPr id="184" name="Ellipse 184"/>
            <p:cNvSpPr/>
            <p:nvPr/>
          </p:nvSpPr>
          <p:spPr>
            <a:xfrm>
              <a:off x="4295775" y="5716905"/>
              <a:ext cx="57150" cy="57150"/>
            </a:xfrm>
            <a:prstGeom prst="ellipse">
              <a:avLst/>
            </a:prstGeom>
            <a:solidFill>
              <a:srgbClr val="EE492C"/>
            </a:solidFill>
            <a:ln>
              <a:noFill/>
            </a:ln>
          </p:spPr>
        </p:sp>
        <p:sp>
          <p:nvSpPr>
            <p:cNvPr id="185" name="Ellipse 185"/>
            <p:cNvSpPr/>
            <p:nvPr/>
          </p:nvSpPr>
          <p:spPr>
            <a:xfrm>
              <a:off x="4520565" y="5716905"/>
              <a:ext cx="57150" cy="57150"/>
            </a:xfrm>
            <a:prstGeom prst="ellipse">
              <a:avLst/>
            </a:prstGeom>
            <a:solidFill>
              <a:srgbClr val="F57E6A"/>
            </a:solidFill>
            <a:ln>
              <a:noFill/>
            </a:ln>
          </p:spPr>
        </p:sp>
        <p:sp>
          <p:nvSpPr>
            <p:cNvPr id="186" name="Rectangle 186"/>
            <p:cNvSpPr/>
            <p:nvPr/>
          </p:nvSpPr>
          <p:spPr>
            <a:xfrm>
              <a:off x="3276600" y="6477000"/>
              <a:ext cx="628650" cy="171450"/>
            </a:xfrm>
            <a:prstGeom prst="roundRect">
              <a:avLst>
                <a:gd name="adj" fmla="val 16667"/>
              </a:avLst>
            </a:prstGeom>
            <a:solidFill>
              <a:srgbClr val="8F1C08"/>
            </a:solidFill>
            <a:ln>
              <a:noFill/>
            </a:ln>
          </p:spPr>
        </p:sp>
        <p:sp>
          <p:nvSpPr>
            <p:cNvPr id="187" name="TextBox 187"/>
            <p:cNvSpPr txBox="1"/>
            <p:nvPr/>
          </p:nvSpPr>
          <p:spPr>
            <a:xfrm>
              <a:off x="3297349" y="6527959"/>
              <a:ext cx="587152"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​回本：17天​</a:t>
              </a:r>
            </a:p>
          </p:txBody>
        </p:sp>
        <p:sp>
          <p:nvSpPr>
            <p:cNvPr id="188" name="Rectangle 188"/>
            <p:cNvSpPr/>
            <p:nvPr/>
          </p:nvSpPr>
          <p:spPr>
            <a:xfrm>
              <a:off x="4076700" y="6477000"/>
              <a:ext cx="628650" cy="171450"/>
            </a:xfrm>
            <a:prstGeom prst="roundRect">
              <a:avLst>
                <a:gd name="adj" fmla="val 16667"/>
              </a:avLst>
            </a:prstGeom>
            <a:solidFill>
              <a:srgbClr val="C41D00"/>
            </a:solidFill>
            <a:ln>
              <a:noFill/>
            </a:ln>
          </p:spPr>
        </p:sp>
        <p:sp>
          <p:nvSpPr>
            <p:cNvPr id="189" name="TextBox 189"/>
            <p:cNvSpPr txBox="1"/>
            <p:nvPr/>
          </p:nvSpPr>
          <p:spPr>
            <a:xfrm>
              <a:off x="4097449" y="6527959"/>
              <a:ext cx="587152"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​回本：25天​</a:t>
              </a:r>
            </a:p>
          </p:txBody>
        </p:sp>
        <p:sp>
          <p:nvSpPr>
            <p:cNvPr id="190" name="Rectangle 190"/>
            <p:cNvSpPr/>
            <p:nvPr/>
          </p:nvSpPr>
          <p:spPr>
            <a:xfrm>
              <a:off x="4876800" y="6477000"/>
              <a:ext cx="628650" cy="171450"/>
            </a:xfrm>
            <a:prstGeom prst="roundRect">
              <a:avLst>
                <a:gd name="adj" fmla="val 16667"/>
              </a:avLst>
            </a:prstGeom>
            <a:solidFill>
              <a:srgbClr val="EE492C"/>
            </a:solidFill>
            <a:ln>
              <a:noFill/>
            </a:ln>
          </p:spPr>
        </p:sp>
        <p:sp>
          <p:nvSpPr>
            <p:cNvPr id="191" name="TextBox 191"/>
            <p:cNvSpPr txBox="1"/>
            <p:nvPr/>
          </p:nvSpPr>
          <p:spPr>
            <a:xfrm>
              <a:off x="4897549" y="6527959"/>
              <a:ext cx="587152"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​回本：30天​</a:t>
              </a:r>
            </a:p>
          </p:txBody>
        </p:sp>
        <p:sp>
          <p:nvSpPr>
            <p:cNvPr id="192" name="Rectangle 192"/>
            <p:cNvSpPr/>
            <p:nvPr/>
          </p:nvSpPr>
          <p:spPr>
            <a:xfrm>
              <a:off x="5676900" y="6477000"/>
              <a:ext cx="628650" cy="171450"/>
            </a:xfrm>
            <a:prstGeom prst="roundRect">
              <a:avLst>
                <a:gd name="adj" fmla="val 16667"/>
              </a:avLst>
            </a:prstGeom>
            <a:solidFill>
              <a:srgbClr val="F57E6A"/>
            </a:solidFill>
            <a:ln>
              <a:noFill/>
            </a:ln>
          </p:spPr>
        </p:sp>
        <p:sp>
          <p:nvSpPr>
            <p:cNvPr id="193" name="TextBox 193"/>
            <p:cNvSpPr txBox="1"/>
            <p:nvPr/>
          </p:nvSpPr>
          <p:spPr>
            <a:xfrm>
              <a:off x="5697649" y="6527959"/>
              <a:ext cx="587152"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​回本：36天​</a:t>
              </a:r>
            </a:p>
          </p:txBody>
        </p:sp>
      </p:grpSp>
      <p:grpSp>
        <p:nvGrpSpPr>
          <p:cNvPr id="249" name="lookalike-model"/>
          <p:cNvGrpSpPr/>
          <p:nvPr/>
        </p:nvGrpSpPr>
        <p:grpSpPr>
          <a:xfrm>
            <a:off x="6858000" y="685800"/>
            <a:ext cx="4953000" cy="2076450"/>
            <a:chOff x="6858000" y="685800"/>
            <a:chExt cx="4953000" cy="2076450"/>
          </a:xfrm>
        </p:grpSpPr>
        <p:sp>
          <p:nvSpPr>
            <p:cNvPr id="195" name="Rectangle 195"/>
            <p:cNvSpPr/>
            <p:nvPr/>
          </p:nvSpPr>
          <p:spPr>
            <a:xfrm>
              <a:off x="6858000" y="685800"/>
              <a:ext cx="4953000" cy="228600"/>
            </a:xfrm>
            <a:prstGeom prst="roundRect">
              <a:avLst>
                <a:gd name="adj" fmla="val 12500"/>
              </a:avLst>
            </a:prstGeom>
            <a:solidFill>
              <a:srgbClr val="C41D00"/>
            </a:solidFill>
            <a:ln>
              <a:noFill/>
            </a:ln>
          </p:spPr>
        </p:sp>
        <p:sp>
          <p:nvSpPr>
            <p:cNvPr id="196" name="TextBox 196"/>
            <p:cNvSpPr txBox="1"/>
            <p:nvPr/>
          </p:nvSpPr>
          <p:spPr>
            <a:xfrm>
              <a:off x="8299174" y="750570"/>
              <a:ext cx="207065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​​相似人群（Lookalike）获客模型​​</a:t>
              </a:r>
            </a:p>
          </p:txBody>
        </p:sp>
        <p:sp>
          <p:nvSpPr>
            <p:cNvPr id="197" name="Ellipse 197"/>
            <p:cNvSpPr/>
            <p:nvPr/>
          </p:nvSpPr>
          <p:spPr>
            <a:xfrm>
              <a:off x="6877050" y="1047750"/>
              <a:ext cx="1714500" cy="1714500"/>
            </a:xfrm>
            <a:prstGeom prst="ellipse">
              <a:avLst/>
            </a:prstGeom>
            <a:solidFill>
              <a:srgbClr val="FBBFB5"/>
            </a:solidFill>
            <a:ln>
              <a:noFill/>
            </a:ln>
          </p:spPr>
        </p:sp>
        <p:sp>
          <p:nvSpPr>
            <p:cNvPr id="198" name="Ellipse 198"/>
            <p:cNvSpPr/>
            <p:nvPr/>
          </p:nvSpPr>
          <p:spPr>
            <a:xfrm>
              <a:off x="7067550" y="1238250"/>
              <a:ext cx="1333500" cy="1333500"/>
            </a:xfrm>
            <a:prstGeom prst="ellipse">
              <a:avLst/>
            </a:prstGeom>
            <a:solidFill>
              <a:srgbClr val="F57E6A"/>
            </a:solidFill>
            <a:ln>
              <a:noFill/>
            </a:ln>
          </p:spPr>
        </p:sp>
        <p:sp>
          <p:nvSpPr>
            <p:cNvPr id="199" name="Ellipse 199"/>
            <p:cNvSpPr/>
            <p:nvPr/>
          </p:nvSpPr>
          <p:spPr>
            <a:xfrm>
              <a:off x="7258050" y="1428750"/>
              <a:ext cx="952500" cy="952500"/>
            </a:xfrm>
            <a:prstGeom prst="ellipse">
              <a:avLst/>
            </a:prstGeom>
            <a:solidFill>
              <a:srgbClr val="EE492C"/>
            </a:solidFill>
            <a:ln>
              <a:noFill/>
            </a:ln>
          </p:spPr>
        </p:sp>
        <p:sp>
          <p:nvSpPr>
            <p:cNvPr id="200" name="Ellipse 200"/>
            <p:cNvSpPr/>
            <p:nvPr/>
          </p:nvSpPr>
          <p:spPr>
            <a:xfrm>
              <a:off x="7448550" y="1619250"/>
              <a:ext cx="571500" cy="571500"/>
            </a:xfrm>
            <a:prstGeom prst="ellipse">
              <a:avLst/>
            </a:prstGeom>
            <a:solidFill>
              <a:srgbClr val="C41D00"/>
            </a:solidFill>
            <a:ln>
              <a:noFill/>
            </a:ln>
          </p:spPr>
        </p:sp>
        <p:sp>
          <p:nvSpPr>
            <p:cNvPr id="201" name="TextBox 201"/>
            <p:cNvSpPr txBox="1"/>
            <p:nvPr/>
          </p:nvSpPr>
          <p:spPr>
            <a:xfrm>
              <a:off x="7384310" y="1068705"/>
              <a:ext cx="699979" cy="119062"/>
            </a:xfrm>
            <a:prstGeom prst="rect">
              <a:avLst/>
            </a:prstGeom>
            <a:noFill/>
            <a:ln>
              <a:noFill/>
            </a:ln>
          </p:spPr>
          <p:txBody>
            <a:bodyPr wrap="none" lIns="0" tIns="0" rIns="0" bIns="0" anchor="t" anchorCtr="0">
              <a:spAutoFit/>
            </a:bodyPr>
            <a:lstStyle/>
            <a:p>
              <a:pPr algn="ctr"/>
              <a:r>
                <a:rPr lang="en-US" sz="600" b="1" dirty="0">
                  <a:solidFill>
                    <a:srgbClr val="8F1C08"/>
                  </a:solidFill>
                  <a:latin typeface="+mn-lt"/>
                  <a:ea typeface="+mn-ea"/>
                  <a:cs typeface="+mn-cs"/>
                </a:rPr>
                <a:t>​​Lookalike L3​​</a:t>
              </a:r>
            </a:p>
          </p:txBody>
        </p:sp>
        <p:sp>
          <p:nvSpPr>
            <p:cNvPr id="202" name="TextBox 202"/>
            <p:cNvSpPr txBox="1"/>
            <p:nvPr/>
          </p:nvSpPr>
          <p:spPr>
            <a:xfrm>
              <a:off x="7373333" y="1158478"/>
              <a:ext cx="721934" cy="111919"/>
            </a:xfrm>
            <a:prstGeom prst="rect">
              <a:avLst/>
            </a:prstGeom>
            <a:noFill/>
            <a:ln>
              <a:noFill/>
            </a:ln>
          </p:spPr>
          <p:txBody>
            <a:bodyPr wrap="none" lIns="0" tIns="0" rIns="0" bIns="0" anchor="t" anchorCtr="0">
              <a:spAutoFit/>
            </a:bodyPr>
            <a:lstStyle/>
            <a:p>
              <a:pPr algn="ctr"/>
              <a:r>
                <a:rPr lang="zh-CN" sz="560" dirty="0">
                  <a:solidFill>
                    <a:srgbClr val="8F1C08"/>
                  </a:solidFill>
                  <a:latin typeface="+mn-lt"/>
                  <a:ea typeface="+mn-ea"/>
                  <a:cs typeface="+mn-cs"/>
                </a:rPr>
                <a:t>​​相似度20%-50%​​</a:t>
              </a:r>
            </a:p>
          </p:txBody>
        </p:sp>
        <p:sp>
          <p:nvSpPr>
            <p:cNvPr id="203" name="TextBox 203"/>
            <p:cNvSpPr txBox="1"/>
            <p:nvPr/>
          </p:nvSpPr>
          <p:spPr>
            <a:xfrm>
              <a:off x="7384310" y="1259205"/>
              <a:ext cx="699979"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​​Lookalike L2​​</a:t>
              </a:r>
            </a:p>
          </p:txBody>
        </p:sp>
        <p:sp>
          <p:nvSpPr>
            <p:cNvPr id="204" name="TextBox 204"/>
            <p:cNvSpPr txBox="1"/>
            <p:nvPr/>
          </p:nvSpPr>
          <p:spPr>
            <a:xfrm>
              <a:off x="7373333" y="1348978"/>
              <a:ext cx="721934"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​​相似度50%-80%​​</a:t>
              </a:r>
            </a:p>
          </p:txBody>
        </p:sp>
        <p:sp>
          <p:nvSpPr>
            <p:cNvPr id="205" name="TextBox 205"/>
            <p:cNvSpPr txBox="1"/>
            <p:nvPr/>
          </p:nvSpPr>
          <p:spPr>
            <a:xfrm>
              <a:off x="7384310" y="1449705"/>
              <a:ext cx="699979"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​​Lookalike L1​​</a:t>
              </a:r>
            </a:p>
          </p:txBody>
        </p:sp>
        <p:sp>
          <p:nvSpPr>
            <p:cNvPr id="206" name="TextBox 206"/>
            <p:cNvSpPr txBox="1"/>
            <p:nvPr/>
          </p:nvSpPr>
          <p:spPr>
            <a:xfrm>
              <a:off x="7484529" y="1539478"/>
              <a:ext cx="499542"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​相似度≥80%​</a:t>
              </a:r>
            </a:p>
          </p:txBody>
        </p:sp>
        <p:sp>
          <p:nvSpPr>
            <p:cNvPr id="207" name="TextBox 207"/>
            <p:cNvSpPr txBox="1"/>
            <p:nvPr/>
          </p:nvSpPr>
          <p:spPr>
            <a:xfrm>
              <a:off x="7557224" y="17504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种子人群</a:t>
              </a:r>
            </a:p>
          </p:txBody>
        </p:sp>
        <p:sp>
          <p:nvSpPr>
            <p:cNvPr id="208" name="TextBox 208"/>
            <p:cNvSpPr txBox="1"/>
            <p:nvPr/>
          </p:nvSpPr>
          <p:spPr>
            <a:xfrm>
              <a:off x="7424219" y="1853803"/>
              <a:ext cx="620161"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​（高价值客户）​</a:t>
              </a:r>
            </a:p>
          </p:txBody>
        </p:sp>
        <p:sp>
          <p:nvSpPr>
            <p:cNvPr id="209" name="TextBox 209"/>
            <p:cNvSpPr txBox="1"/>
            <p:nvPr/>
          </p:nvSpPr>
          <p:spPr>
            <a:xfrm>
              <a:off x="7495837" y="1939528"/>
              <a:ext cx="476926"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​近30日活跃​</a:t>
              </a:r>
            </a:p>
          </p:txBody>
        </p:sp>
        <p:sp>
          <p:nvSpPr>
            <p:cNvPr id="210" name="TextBox 210"/>
            <p:cNvSpPr txBox="1"/>
            <p:nvPr/>
          </p:nvSpPr>
          <p:spPr>
            <a:xfrm>
              <a:off x="7494557" y="2025253"/>
              <a:ext cx="479486" cy="111919"/>
            </a:xfrm>
            <a:prstGeom prst="rect">
              <a:avLst/>
            </a:prstGeom>
            <a:noFill/>
            <a:ln>
              <a:noFill/>
            </a:ln>
          </p:spPr>
          <p:txBody>
            <a:bodyPr wrap="none" lIns="0" tIns="0" rIns="0" bIns="0" anchor="t" anchorCtr="0">
              <a:spAutoFit/>
            </a:bodyPr>
            <a:lstStyle/>
            <a:p>
              <a:pPr algn="ctr"/>
              <a:r>
                <a:rPr lang="en-US" sz="560" dirty="0">
                  <a:solidFill>
                    <a:srgbClr val="FFFFFF"/>
                  </a:solidFill>
                  <a:latin typeface="+mn-lt"/>
                  <a:ea typeface="+mn-ea"/>
                  <a:cs typeface="+mn-cs"/>
                </a:rPr>
                <a:t>​​TOP20%​​</a:t>
              </a:r>
            </a:p>
          </p:txBody>
        </p:sp>
        <p:sp>
          <p:nvSpPr>
            <p:cNvPr id="211" name="TextBox 211"/>
            <p:cNvSpPr txBox="1"/>
            <p:nvPr/>
          </p:nvSpPr>
          <p:spPr>
            <a:xfrm>
              <a:off x="8777288" y="1023938"/>
              <a:ext cx="875552" cy="147638"/>
            </a:xfrm>
            <a:prstGeom prst="rect">
              <a:avLst/>
            </a:prstGeom>
            <a:noFill/>
            <a:ln>
              <a:noFill/>
            </a:ln>
          </p:spPr>
          <p:txBody>
            <a:bodyPr wrap="none" lIns="0" tIns="0" rIns="0" bIns="0" anchor="t" anchorCtr="0">
              <a:spAutoFit/>
            </a:bodyPr>
            <a:lstStyle/>
            <a:p>
              <a:pPr algn="l"/>
              <a:r>
                <a:rPr lang="zh-CN" sz="750" b="1" dirty="0">
                  <a:solidFill>
                    <a:srgbClr val="C41D00"/>
                  </a:solidFill>
                  <a:latin typeface="+mn-lt"/>
                  <a:ea typeface="+mn-ea"/>
                  <a:cs typeface="+mn-cs"/>
                </a:rPr>
                <a:t>核心特征（示例）​</a:t>
              </a:r>
            </a:p>
          </p:txBody>
        </p:sp>
        <p:grpSp>
          <p:nvGrpSpPr>
            <p:cNvPr id="214" name="Group 214"/>
            <p:cNvGrpSpPr/>
            <p:nvPr/>
          </p:nvGrpSpPr>
          <p:grpSpPr>
            <a:xfrm>
              <a:off x="8793162" y="1256506"/>
              <a:ext cx="111125" cy="77787"/>
              <a:chOff x="8793162" y="1256506"/>
              <a:chExt cx="111125" cy="77787"/>
            </a:xfrm>
          </p:grpSpPr>
          <p:sp>
            <p:nvSpPr>
              <p:cNvPr id="212" name="Freeform 212"/>
              <p:cNvSpPr/>
              <p:nvPr/>
            </p:nvSpPr>
            <p:spPr>
              <a:xfrm>
                <a:off x="8793162" y="1256506"/>
                <a:ext cx="111125" cy="55562"/>
              </a:xfrm>
              <a:custGeom>
                <a:avLst/>
                <a:gdLst/>
                <a:ahLst/>
                <a:cxnLst/>
                <a:rect l="l" t="t" r="r" b="b"/>
                <a:pathLst>
                  <a:path w="111125" h="55562">
                    <a:moveTo>
                      <a:pt x="111125" y="22225"/>
                    </a:moveTo>
                    <a:lnTo>
                      <a:pt x="55562" y="0"/>
                    </a:lnTo>
                    <a:lnTo>
                      <a:pt x="0" y="22225"/>
                    </a:lnTo>
                    <a:lnTo>
                      <a:pt x="55562" y="44450"/>
                    </a:lnTo>
                    <a:lnTo>
                      <a:pt x="111125" y="22225"/>
                    </a:lnTo>
                    <a:lnTo>
                      <a:pt x="111125" y="55562"/>
                    </a:lnTo>
                  </a:path>
                </a:pathLst>
              </a:custGeom>
              <a:noFill/>
              <a:ln w="11112">
                <a:solidFill>
                  <a:srgbClr val="D82000"/>
                </a:solidFill>
              </a:ln>
            </p:spPr>
          </p:sp>
          <p:sp>
            <p:nvSpPr>
              <p:cNvPr id="213" name="Freeform 213"/>
              <p:cNvSpPr/>
              <p:nvPr/>
            </p:nvSpPr>
            <p:spPr>
              <a:xfrm>
                <a:off x="8815387" y="1287621"/>
                <a:ext cx="66675" cy="46672"/>
              </a:xfrm>
              <a:custGeom>
                <a:avLst/>
                <a:gdLst/>
                <a:ahLst/>
                <a:cxnLst/>
                <a:rect l="l" t="t" r="r" b="b"/>
                <a:pathLst>
                  <a:path w="66675" h="46672">
                    <a:moveTo>
                      <a:pt x="0" y="0"/>
                    </a:moveTo>
                    <a:lnTo>
                      <a:pt x="0" y="30004"/>
                    </a:lnTo>
                    <a:cubicBezTo>
                      <a:pt x="0" y="39210"/>
                      <a:pt x="14926" y="46672"/>
                      <a:pt x="33337" y="46672"/>
                    </a:cubicBezTo>
                    <a:cubicBezTo>
                      <a:pt x="51749" y="46672"/>
                      <a:pt x="66675" y="39210"/>
                      <a:pt x="66675" y="30004"/>
                    </a:cubicBezTo>
                    <a:lnTo>
                      <a:pt x="66675" y="0"/>
                    </a:lnTo>
                  </a:path>
                </a:pathLst>
              </a:custGeom>
              <a:noFill/>
              <a:ln w="11112">
                <a:solidFill>
                  <a:srgbClr val="D82000"/>
                </a:solidFill>
              </a:ln>
            </p:spPr>
          </p:sp>
        </p:grpSp>
        <p:sp>
          <p:nvSpPr>
            <p:cNvPr id="215" name="TextBox 215"/>
            <p:cNvSpPr txBox="1"/>
            <p:nvPr/>
          </p:nvSpPr>
          <p:spPr>
            <a:xfrm>
              <a:off x="8986838" y="1256586"/>
              <a:ext cx="812399"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年龄：</a:t>
              </a:r>
              <a:r>
                <a:rPr lang="zh-CN" sz="710" dirty="0">
                  <a:solidFill>
                    <a:srgbClr val="3D3835"/>
                  </a:solidFill>
                  <a:latin typeface="+mn-lt"/>
                  <a:ea typeface="+mn-ea"/>
                  <a:cs typeface="+mn-cs"/>
                </a:rPr>
                <a:t>25-45岁​​​</a:t>
              </a:r>
            </a:p>
          </p:txBody>
        </p:sp>
        <p:grpSp>
          <p:nvGrpSpPr>
            <p:cNvPr id="221" name="Group 221"/>
            <p:cNvGrpSpPr/>
            <p:nvPr/>
          </p:nvGrpSpPr>
          <p:grpSpPr>
            <a:xfrm>
              <a:off x="8798719" y="1492299"/>
              <a:ext cx="100012" cy="100757"/>
              <a:chOff x="8798719" y="1492299"/>
              <a:chExt cx="100012" cy="100757"/>
            </a:xfrm>
          </p:grpSpPr>
          <p:sp>
            <p:nvSpPr>
              <p:cNvPr id="216" name="Freeform 216"/>
              <p:cNvSpPr/>
              <p:nvPr/>
            </p:nvSpPr>
            <p:spPr>
              <a:xfrm>
                <a:off x="8832056" y="1537494"/>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D82000"/>
                </a:solidFill>
              </a:ln>
            </p:spPr>
          </p:sp>
          <p:sp>
            <p:nvSpPr>
              <p:cNvPr id="217" name="Freeform 217"/>
              <p:cNvSpPr/>
              <p:nvPr/>
            </p:nvSpPr>
            <p:spPr>
              <a:xfrm>
                <a:off x="8832056" y="1554162"/>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D82000"/>
                </a:solidFill>
              </a:ln>
            </p:spPr>
          </p:sp>
          <p:sp>
            <p:nvSpPr>
              <p:cNvPr id="218" name="Freeform 218"/>
              <p:cNvSpPr/>
              <p:nvPr/>
            </p:nvSpPr>
            <p:spPr>
              <a:xfrm>
                <a:off x="8798719" y="1492299"/>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D82000"/>
                </a:solidFill>
              </a:ln>
            </p:spPr>
          </p:sp>
          <p:sp>
            <p:nvSpPr>
              <p:cNvPr id="219" name="Freeform 219"/>
              <p:cNvSpPr/>
              <p:nvPr/>
            </p:nvSpPr>
            <p:spPr>
              <a:xfrm>
                <a:off x="8798719" y="1509712"/>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D82000"/>
                </a:solidFill>
              </a:ln>
            </p:spPr>
          </p:sp>
          <p:sp>
            <p:nvSpPr>
              <p:cNvPr id="220" name="Freeform 220"/>
              <p:cNvSpPr/>
              <p:nvPr/>
            </p:nvSpPr>
            <p:spPr>
              <a:xfrm>
                <a:off x="8798719" y="1537494"/>
                <a:ext cx="11112" cy="11112"/>
              </a:xfrm>
              <a:custGeom>
                <a:avLst/>
                <a:gdLst/>
                <a:ahLst/>
                <a:cxnLst/>
                <a:rect l="l" t="t" r="r" b="b"/>
                <a:pathLst>
                  <a:path w="11112" h="11112">
                    <a:moveTo>
                      <a:pt x="0" y="0"/>
                    </a:moveTo>
                    <a:cubicBezTo>
                      <a:pt x="0" y="4934"/>
                      <a:pt x="4289" y="8057"/>
                      <a:pt x="11112" y="11112"/>
                    </a:cubicBezTo>
                  </a:path>
                </a:pathLst>
              </a:custGeom>
              <a:noFill/>
              <a:ln w="11112">
                <a:solidFill>
                  <a:srgbClr val="D82000"/>
                </a:solidFill>
              </a:ln>
            </p:spPr>
          </p:sp>
        </p:grpSp>
        <p:sp>
          <p:nvSpPr>
            <p:cNvPr id="222" name="TextBox 222"/>
            <p:cNvSpPr txBox="1"/>
            <p:nvPr/>
          </p:nvSpPr>
          <p:spPr>
            <a:xfrm>
              <a:off x="8986838" y="1504236"/>
              <a:ext cx="731156"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收入水平：</a:t>
              </a:r>
              <a:r>
                <a:rPr lang="zh-CN" sz="710" dirty="0">
                  <a:solidFill>
                    <a:srgbClr val="3D3835"/>
                  </a:solidFill>
                  <a:latin typeface="+mn-lt"/>
                  <a:ea typeface="+mn-ea"/>
                  <a:cs typeface="+mn-cs"/>
                </a:rPr>
                <a:t>中高​</a:t>
              </a:r>
            </a:p>
          </p:txBody>
        </p:sp>
        <p:grpSp>
          <p:nvGrpSpPr>
            <p:cNvPr id="227" name="Group 227"/>
            <p:cNvGrpSpPr/>
            <p:nvPr/>
          </p:nvGrpSpPr>
          <p:grpSpPr>
            <a:xfrm>
              <a:off x="8798719" y="1740694"/>
              <a:ext cx="100012" cy="94456"/>
              <a:chOff x="8798719" y="1740694"/>
              <a:chExt cx="100012" cy="94456"/>
            </a:xfrm>
          </p:grpSpPr>
          <p:sp>
            <p:nvSpPr>
              <p:cNvPr id="223" name="Freeform 223"/>
              <p:cNvSpPr/>
              <p:nvPr/>
            </p:nvSpPr>
            <p:spPr>
              <a:xfrm>
                <a:off x="8798719" y="1762919"/>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D82000"/>
                </a:solidFill>
              </a:ln>
            </p:spPr>
          </p:sp>
          <p:sp>
            <p:nvSpPr>
              <p:cNvPr id="224" name="Freeform 224"/>
              <p:cNvSpPr/>
              <p:nvPr/>
            </p:nvSpPr>
            <p:spPr>
              <a:xfrm>
                <a:off x="8826500" y="1740694"/>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D82000"/>
                </a:solidFill>
              </a:ln>
            </p:spPr>
          </p:sp>
          <p:sp>
            <p:nvSpPr>
              <p:cNvPr id="225" name="Freeform 225"/>
              <p:cNvSpPr/>
              <p:nvPr/>
            </p:nvSpPr>
            <p:spPr>
              <a:xfrm>
                <a:off x="8848725" y="1790700"/>
                <a:ext cx="9525" cy="9525"/>
              </a:xfrm>
              <a:custGeom>
                <a:avLst/>
                <a:gdLst/>
                <a:ahLst/>
                <a:cxnLst/>
                <a:rect l="l" t="t" r="r" b="b"/>
                <a:pathLst>
                  <a:path w="9525" h="9525">
                    <a:moveTo>
                      <a:pt x="0" y="0"/>
                    </a:moveTo>
                    <a:lnTo>
                      <a:pt x="0" y="56"/>
                    </a:lnTo>
                  </a:path>
                </a:pathLst>
              </a:custGeom>
              <a:noFill/>
              <a:ln w="11112">
                <a:solidFill>
                  <a:srgbClr val="D82000"/>
                </a:solidFill>
              </a:ln>
            </p:spPr>
          </p:sp>
          <p:sp>
            <p:nvSpPr>
              <p:cNvPr id="226" name="Freeform 226"/>
              <p:cNvSpPr/>
              <p:nvPr/>
            </p:nvSpPr>
            <p:spPr>
              <a:xfrm>
                <a:off x="8798719" y="1796256"/>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D82000"/>
                </a:solidFill>
              </a:ln>
            </p:spPr>
          </p:sp>
        </p:grpSp>
        <p:sp>
          <p:nvSpPr>
            <p:cNvPr id="228" name="TextBox 228"/>
            <p:cNvSpPr txBox="1"/>
            <p:nvPr/>
          </p:nvSpPr>
          <p:spPr>
            <a:xfrm>
              <a:off x="8986838" y="1751886"/>
              <a:ext cx="1228173"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职业：</a:t>
              </a:r>
              <a:r>
                <a:rPr lang="zh-CN" sz="710" dirty="0">
                  <a:solidFill>
                    <a:srgbClr val="3D3835"/>
                  </a:solidFill>
                  <a:latin typeface="+mn-lt"/>
                  <a:ea typeface="+mn-ea"/>
                  <a:cs typeface="+mn-cs"/>
                </a:rPr>
                <a:t>企业主/管理/白领​​​</a:t>
              </a:r>
            </a:p>
          </p:txBody>
        </p:sp>
        <p:grpSp>
          <p:nvGrpSpPr>
            <p:cNvPr id="232" name="Group 232"/>
            <p:cNvGrpSpPr/>
            <p:nvPr/>
          </p:nvGrpSpPr>
          <p:grpSpPr>
            <a:xfrm>
              <a:off x="8798719" y="1988344"/>
              <a:ext cx="100012" cy="100012"/>
              <a:chOff x="8798719" y="1988344"/>
              <a:chExt cx="100012" cy="100012"/>
            </a:xfrm>
          </p:grpSpPr>
          <p:sp>
            <p:nvSpPr>
              <p:cNvPr id="229" name="Freeform 229"/>
              <p:cNvSpPr/>
              <p:nvPr/>
            </p:nvSpPr>
            <p:spPr>
              <a:xfrm>
                <a:off x="8798719" y="1988344"/>
                <a:ext cx="100012" cy="50006"/>
              </a:xfrm>
              <a:custGeom>
                <a:avLst/>
                <a:gdLst/>
                <a:ahLst/>
                <a:cxnLst/>
                <a:rect l="l" t="t" r="r" b="b"/>
                <a:pathLst>
                  <a:path w="100012" h="50006">
                    <a:moveTo>
                      <a:pt x="11112" y="50006"/>
                    </a:moveTo>
                    <a:lnTo>
                      <a:pt x="0" y="50006"/>
                    </a:lnTo>
                    <a:lnTo>
                      <a:pt x="50006" y="0"/>
                    </a:lnTo>
                    <a:lnTo>
                      <a:pt x="100012" y="50006"/>
                    </a:lnTo>
                    <a:lnTo>
                      <a:pt x="88900" y="50006"/>
                    </a:lnTo>
                  </a:path>
                </a:pathLst>
              </a:custGeom>
              <a:noFill/>
              <a:ln w="11112">
                <a:solidFill>
                  <a:srgbClr val="D82000"/>
                </a:solidFill>
              </a:ln>
            </p:spPr>
          </p:sp>
          <p:sp>
            <p:nvSpPr>
              <p:cNvPr id="230" name="Freeform 230"/>
              <p:cNvSpPr/>
              <p:nvPr/>
            </p:nvSpPr>
            <p:spPr>
              <a:xfrm>
                <a:off x="8809831" y="2038350"/>
                <a:ext cx="77787" cy="50006"/>
              </a:xfrm>
              <a:custGeom>
                <a:avLst/>
                <a:gdLst/>
                <a:ahLst/>
                <a:cxnLst/>
                <a:rect l="l" t="t" r="r" b="b"/>
                <a:pathLst>
                  <a:path w="77787" h="50006">
                    <a:moveTo>
                      <a:pt x="0" y="0"/>
                    </a:moveTo>
                    <a:lnTo>
                      <a:pt x="0" y="38894"/>
                    </a:lnTo>
                    <a:cubicBezTo>
                      <a:pt x="0" y="45031"/>
                      <a:pt x="4975" y="50006"/>
                      <a:pt x="11112" y="50006"/>
                    </a:cubicBezTo>
                    <a:lnTo>
                      <a:pt x="66675" y="50006"/>
                    </a:lnTo>
                    <a:cubicBezTo>
                      <a:pt x="72812" y="50006"/>
                      <a:pt x="77787" y="45031"/>
                      <a:pt x="77787" y="38894"/>
                    </a:cubicBezTo>
                    <a:lnTo>
                      <a:pt x="77787" y="0"/>
                    </a:lnTo>
                  </a:path>
                </a:pathLst>
              </a:custGeom>
              <a:noFill/>
              <a:ln w="11112">
                <a:solidFill>
                  <a:srgbClr val="D82000"/>
                </a:solidFill>
              </a:ln>
            </p:spPr>
          </p:sp>
          <p:sp>
            <p:nvSpPr>
              <p:cNvPr id="231" name="Freeform 231"/>
              <p:cNvSpPr/>
              <p:nvPr/>
            </p:nvSpPr>
            <p:spPr>
              <a:xfrm>
                <a:off x="8832056" y="2043906"/>
                <a:ext cx="33337" cy="44450"/>
              </a:xfrm>
              <a:custGeom>
                <a:avLst/>
                <a:gdLst/>
                <a:ahLst/>
                <a:cxnLst/>
                <a:rect l="l" t="t" r="r" b="b"/>
                <a:pathLst>
                  <a:path w="33337" h="44450">
                    <a:moveTo>
                      <a:pt x="0" y="44450"/>
                    </a:moveTo>
                    <a:lnTo>
                      <a:pt x="0" y="11112"/>
                    </a:lnTo>
                    <a:cubicBezTo>
                      <a:pt x="0" y="4975"/>
                      <a:pt x="4975" y="0"/>
                      <a:pt x="11112" y="0"/>
                    </a:cubicBezTo>
                    <a:lnTo>
                      <a:pt x="22225" y="0"/>
                    </a:lnTo>
                    <a:cubicBezTo>
                      <a:pt x="28362" y="0"/>
                      <a:pt x="33337" y="4975"/>
                      <a:pt x="33337" y="11112"/>
                    </a:cubicBezTo>
                    <a:lnTo>
                      <a:pt x="33337" y="44450"/>
                    </a:lnTo>
                  </a:path>
                </a:pathLst>
              </a:custGeom>
              <a:noFill/>
              <a:ln w="11112">
                <a:solidFill>
                  <a:srgbClr val="D82000"/>
                </a:solidFill>
              </a:ln>
            </p:spPr>
          </p:sp>
        </p:grpSp>
        <p:sp>
          <p:nvSpPr>
            <p:cNvPr id="233" name="TextBox 233"/>
            <p:cNvSpPr txBox="1"/>
            <p:nvPr/>
          </p:nvSpPr>
          <p:spPr>
            <a:xfrm>
              <a:off x="8986838" y="1999536"/>
              <a:ext cx="1123034"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资产特征：</a:t>
              </a:r>
              <a:r>
                <a:rPr lang="zh-CN" sz="710" dirty="0">
                  <a:solidFill>
                    <a:srgbClr val="3D3835"/>
                  </a:solidFill>
                  <a:latin typeface="+mn-lt"/>
                  <a:ea typeface="+mn-ea"/>
                  <a:cs typeface="+mn-cs"/>
                </a:rPr>
                <a:t>有理财/房贷​​</a:t>
              </a:r>
            </a:p>
          </p:txBody>
        </p:sp>
        <p:grpSp>
          <p:nvGrpSpPr>
            <p:cNvPr id="237" name="Group 237"/>
            <p:cNvGrpSpPr/>
            <p:nvPr/>
          </p:nvGrpSpPr>
          <p:grpSpPr>
            <a:xfrm>
              <a:off x="8815387" y="2235994"/>
              <a:ext cx="66675" cy="100012"/>
              <a:chOff x="8815387" y="2235994"/>
              <a:chExt cx="66675" cy="100012"/>
            </a:xfrm>
          </p:grpSpPr>
          <p:sp>
            <p:nvSpPr>
              <p:cNvPr id="234" name="Freeform 234"/>
              <p:cNvSpPr/>
              <p:nvPr/>
            </p:nvSpPr>
            <p:spPr>
              <a:xfrm>
                <a:off x="8815387" y="223599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D82000"/>
                </a:solidFill>
              </a:ln>
            </p:spPr>
          </p:sp>
          <p:sp>
            <p:nvSpPr>
              <p:cNvPr id="235" name="Freeform 235"/>
              <p:cNvSpPr/>
              <p:nvPr/>
            </p:nvSpPr>
            <p:spPr>
              <a:xfrm>
                <a:off x="8843169" y="2241550"/>
                <a:ext cx="11112" cy="9525"/>
              </a:xfrm>
              <a:custGeom>
                <a:avLst/>
                <a:gdLst/>
                <a:ahLst/>
                <a:cxnLst/>
                <a:rect l="l" t="t" r="r" b="b"/>
                <a:pathLst>
                  <a:path w="11112" h="9525">
                    <a:moveTo>
                      <a:pt x="0" y="0"/>
                    </a:moveTo>
                    <a:lnTo>
                      <a:pt x="11112" y="0"/>
                    </a:lnTo>
                  </a:path>
                </a:pathLst>
              </a:custGeom>
              <a:noFill/>
              <a:ln w="11112">
                <a:solidFill>
                  <a:srgbClr val="D82000"/>
                </a:solidFill>
              </a:ln>
            </p:spPr>
          </p:sp>
          <p:sp>
            <p:nvSpPr>
              <p:cNvPr id="236" name="Freeform 236"/>
              <p:cNvSpPr/>
              <p:nvPr/>
            </p:nvSpPr>
            <p:spPr>
              <a:xfrm>
                <a:off x="8848725" y="2313781"/>
                <a:ext cx="9525" cy="9525"/>
              </a:xfrm>
              <a:custGeom>
                <a:avLst/>
                <a:gdLst/>
                <a:ahLst/>
                <a:cxnLst/>
                <a:rect l="l" t="t" r="r" b="b"/>
                <a:pathLst>
                  <a:path w="9525" h="9525">
                    <a:moveTo>
                      <a:pt x="0" y="0"/>
                    </a:moveTo>
                    <a:lnTo>
                      <a:pt x="0" y="56"/>
                    </a:lnTo>
                  </a:path>
                </a:pathLst>
              </a:custGeom>
              <a:noFill/>
              <a:ln w="11112">
                <a:solidFill>
                  <a:srgbClr val="D82000"/>
                </a:solidFill>
              </a:ln>
            </p:spPr>
          </p:sp>
        </p:grpSp>
        <p:sp>
          <p:nvSpPr>
            <p:cNvPr id="238" name="TextBox 238"/>
            <p:cNvSpPr txBox="1"/>
            <p:nvPr/>
          </p:nvSpPr>
          <p:spPr>
            <a:xfrm>
              <a:off x="8986838" y="2247186"/>
              <a:ext cx="1113476"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行为偏好：</a:t>
              </a:r>
              <a:r>
                <a:rPr lang="zh-CN" sz="710" dirty="0">
                  <a:solidFill>
                    <a:srgbClr val="3D3835"/>
                  </a:solidFill>
                  <a:latin typeface="+mn-lt"/>
                  <a:ea typeface="+mn-ea"/>
                  <a:cs typeface="+mn-cs"/>
                </a:rPr>
                <a:t>移动金融活跃​</a:t>
              </a:r>
            </a:p>
          </p:txBody>
        </p:sp>
        <p:grpSp>
          <p:nvGrpSpPr>
            <p:cNvPr id="247" name="Group 247"/>
            <p:cNvGrpSpPr/>
            <p:nvPr/>
          </p:nvGrpSpPr>
          <p:grpSpPr>
            <a:xfrm>
              <a:off x="8798719" y="2483644"/>
              <a:ext cx="103981" cy="109537"/>
              <a:chOff x="8798719" y="2483644"/>
              <a:chExt cx="103981" cy="109537"/>
            </a:xfrm>
          </p:grpSpPr>
          <p:sp>
            <p:nvSpPr>
              <p:cNvPr id="239" name="Freeform 239"/>
              <p:cNvSpPr/>
              <p:nvPr/>
            </p:nvSpPr>
            <p:spPr>
              <a:xfrm>
                <a:off x="8798719" y="2583656"/>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240" name="Freeform 240"/>
              <p:cNvSpPr/>
              <p:nvPr/>
            </p:nvSpPr>
            <p:spPr>
              <a:xfrm>
                <a:off x="8798719" y="2522537"/>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241" name="Freeform 241"/>
              <p:cNvSpPr/>
              <p:nvPr/>
            </p:nvSpPr>
            <p:spPr>
              <a:xfrm>
                <a:off x="8809831" y="2483644"/>
                <a:ext cx="77787" cy="16669"/>
              </a:xfrm>
              <a:custGeom>
                <a:avLst/>
                <a:gdLst/>
                <a:ahLst/>
                <a:cxnLst/>
                <a:rect l="l" t="t" r="r" b="b"/>
                <a:pathLst>
                  <a:path w="77787" h="16669">
                    <a:moveTo>
                      <a:pt x="0" y="16669"/>
                    </a:moveTo>
                    <a:lnTo>
                      <a:pt x="38894" y="0"/>
                    </a:lnTo>
                    <a:lnTo>
                      <a:pt x="77787" y="16669"/>
                    </a:lnTo>
                  </a:path>
                </a:pathLst>
              </a:custGeom>
              <a:noFill/>
              <a:ln w="11112">
                <a:solidFill>
                  <a:srgbClr val="D82000"/>
                </a:solidFill>
              </a:ln>
            </p:spPr>
          </p:sp>
          <p:sp>
            <p:nvSpPr>
              <p:cNvPr id="242" name="Freeform 242"/>
              <p:cNvSpPr/>
              <p:nvPr/>
            </p:nvSpPr>
            <p:spPr>
              <a:xfrm>
                <a:off x="8804275" y="2522537"/>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243" name="Freeform 243"/>
              <p:cNvSpPr/>
              <p:nvPr/>
            </p:nvSpPr>
            <p:spPr>
              <a:xfrm>
                <a:off x="8893175" y="2522537"/>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244" name="Freeform 244"/>
              <p:cNvSpPr/>
              <p:nvPr/>
            </p:nvSpPr>
            <p:spPr>
              <a:xfrm>
                <a:off x="8826500" y="2544762"/>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245" name="Freeform 245"/>
              <p:cNvSpPr/>
              <p:nvPr/>
            </p:nvSpPr>
            <p:spPr>
              <a:xfrm>
                <a:off x="8848725" y="2544762"/>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246" name="Freeform 246"/>
              <p:cNvSpPr/>
              <p:nvPr/>
            </p:nvSpPr>
            <p:spPr>
              <a:xfrm>
                <a:off x="8870950" y="2544762"/>
                <a:ext cx="9525" cy="16669"/>
              </a:xfrm>
              <a:custGeom>
                <a:avLst/>
                <a:gdLst/>
                <a:ahLst/>
                <a:cxnLst/>
                <a:rect l="l" t="t" r="r" b="b"/>
                <a:pathLst>
                  <a:path w="9525" h="16669">
                    <a:moveTo>
                      <a:pt x="0" y="0"/>
                    </a:moveTo>
                    <a:lnTo>
                      <a:pt x="0" y="16669"/>
                    </a:lnTo>
                  </a:path>
                </a:pathLst>
              </a:custGeom>
              <a:noFill/>
              <a:ln w="11112">
                <a:solidFill>
                  <a:srgbClr val="D82000"/>
                </a:solidFill>
              </a:ln>
            </p:spPr>
          </p:sp>
        </p:grpSp>
        <p:sp>
          <p:nvSpPr>
            <p:cNvPr id="248" name="TextBox 248"/>
            <p:cNvSpPr txBox="1"/>
            <p:nvPr/>
          </p:nvSpPr>
          <p:spPr>
            <a:xfrm>
              <a:off x="8986838" y="2494836"/>
              <a:ext cx="1209057"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地域：</a:t>
              </a:r>
              <a:r>
                <a:rPr lang="zh-CN" sz="710" dirty="0">
                  <a:solidFill>
                    <a:srgbClr val="3D3835"/>
                  </a:solidFill>
                  <a:latin typeface="+mn-lt"/>
                  <a:ea typeface="+mn-ea"/>
                  <a:cs typeface="+mn-cs"/>
                </a:rPr>
                <a:t>一二线及强三线城市​</a:t>
              </a:r>
            </a:p>
          </p:txBody>
        </p:sp>
      </p:grpSp>
      <p:grpSp>
        <p:nvGrpSpPr>
          <p:cNvPr id="290" name="audience-exclusion"/>
          <p:cNvGrpSpPr/>
          <p:nvPr/>
        </p:nvGrpSpPr>
        <p:grpSpPr>
          <a:xfrm>
            <a:off x="6858000" y="2914650"/>
            <a:ext cx="4953000" cy="1809750"/>
            <a:chOff x="6858000" y="2914650"/>
            <a:chExt cx="4953000" cy="1809750"/>
          </a:xfrm>
        </p:grpSpPr>
        <p:sp>
          <p:nvSpPr>
            <p:cNvPr id="250" name="Rectangle 250"/>
            <p:cNvSpPr/>
            <p:nvPr/>
          </p:nvSpPr>
          <p:spPr>
            <a:xfrm>
              <a:off x="6858000" y="2914650"/>
              <a:ext cx="4953000" cy="228600"/>
            </a:xfrm>
            <a:prstGeom prst="roundRect">
              <a:avLst>
                <a:gd name="adj" fmla="val 12500"/>
              </a:avLst>
            </a:prstGeom>
            <a:solidFill>
              <a:srgbClr val="C41D00"/>
            </a:solidFill>
            <a:ln>
              <a:noFill/>
            </a:ln>
          </p:spPr>
        </p:sp>
        <p:sp>
          <p:nvSpPr>
            <p:cNvPr id="251" name="TextBox 251"/>
            <p:cNvSpPr txBox="1"/>
            <p:nvPr/>
          </p:nvSpPr>
          <p:spPr>
            <a:xfrm>
              <a:off x="8065319" y="2979420"/>
              <a:ext cx="253836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​​​受众排除规则（Audience Exclusion）​​​</a:t>
              </a:r>
            </a:p>
          </p:txBody>
        </p:sp>
        <p:sp>
          <p:nvSpPr>
            <p:cNvPr id="252" name="Rectangle 252"/>
            <p:cNvSpPr/>
            <p:nvPr/>
          </p:nvSpPr>
          <p:spPr>
            <a:xfrm>
              <a:off x="6858000" y="3200400"/>
              <a:ext cx="4953000" cy="190500"/>
            </a:xfrm>
            <a:prstGeom prst="rect">
              <a:avLst/>
            </a:prstGeom>
            <a:solidFill>
              <a:srgbClr val="FEF2E6"/>
            </a:solidFill>
            <a:ln w="9525">
              <a:solidFill>
                <a:srgbClr val="F0B8AE"/>
              </a:solidFill>
            </a:ln>
          </p:spPr>
        </p:sp>
        <p:sp>
          <p:nvSpPr>
            <p:cNvPr id="253" name="TextBox 253"/>
            <p:cNvSpPr txBox="1"/>
            <p:nvPr/>
          </p:nvSpPr>
          <p:spPr>
            <a:xfrm>
              <a:off x="7424077" y="325683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排除规则</a:t>
              </a:r>
            </a:p>
          </p:txBody>
        </p:sp>
        <p:sp>
          <p:nvSpPr>
            <p:cNvPr id="254" name="TextBox 254"/>
            <p:cNvSpPr txBox="1"/>
            <p:nvPr/>
          </p:nvSpPr>
          <p:spPr>
            <a:xfrm>
              <a:off x="9996157" y="3256836"/>
              <a:ext cx="200685"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说明</a:t>
              </a:r>
            </a:p>
          </p:txBody>
        </p:sp>
        <p:sp>
          <p:nvSpPr>
            <p:cNvPr id="255" name="Rectangle 255"/>
            <p:cNvSpPr/>
            <p:nvPr/>
          </p:nvSpPr>
          <p:spPr>
            <a:xfrm>
              <a:off x="6858000" y="3390900"/>
              <a:ext cx="4953000" cy="1333500"/>
            </a:xfrm>
            <a:prstGeom prst="rect">
              <a:avLst/>
            </a:prstGeom>
            <a:solidFill>
              <a:srgbClr val="FFFFFF"/>
            </a:solidFill>
            <a:ln w="9525">
              <a:solidFill>
                <a:srgbClr val="F0B8AE"/>
              </a:solidFill>
            </a:ln>
          </p:spPr>
        </p:sp>
        <p:sp>
          <p:nvSpPr>
            <p:cNvPr id="256" name="Rectangle 256"/>
            <p:cNvSpPr/>
            <p:nvPr/>
          </p:nvSpPr>
          <p:spPr>
            <a:xfrm>
              <a:off x="6858000" y="3657600"/>
              <a:ext cx="4953000" cy="266700"/>
            </a:xfrm>
            <a:prstGeom prst="rect">
              <a:avLst/>
            </a:prstGeom>
            <a:solidFill>
              <a:srgbClr val="FFF8F2"/>
            </a:solidFill>
            <a:ln>
              <a:noFill/>
            </a:ln>
          </p:spPr>
        </p:sp>
        <p:sp>
          <p:nvSpPr>
            <p:cNvPr id="257" name="Rectangle 257"/>
            <p:cNvSpPr/>
            <p:nvPr/>
          </p:nvSpPr>
          <p:spPr>
            <a:xfrm>
              <a:off x="6858000" y="4191000"/>
              <a:ext cx="4953000" cy="266700"/>
            </a:xfrm>
            <a:prstGeom prst="rect">
              <a:avLst/>
            </a:prstGeom>
            <a:solidFill>
              <a:srgbClr val="FFF8F2"/>
            </a:solidFill>
            <a:ln>
              <a:noFill/>
            </a:ln>
          </p:spPr>
        </p:sp>
        <p:grpSp>
          <p:nvGrpSpPr>
            <p:cNvPr id="262" name="Group 262"/>
            <p:cNvGrpSpPr/>
            <p:nvPr/>
          </p:nvGrpSpPr>
          <p:grpSpPr>
            <a:xfrm>
              <a:off x="6968728" y="3473053"/>
              <a:ext cx="92869" cy="92869"/>
              <a:chOff x="6968728" y="3473053"/>
              <a:chExt cx="92869" cy="92869"/>
            </a:xfrm>
          </p:grpSpPr>
          <p:sp>
            <p:nvSpPr>
              <p:cNvPr id="258" name="Freeform 258"/>
              <p:cNvSpPr/>
              <p:nvPr/>
            </p:nvSpPr>
            <p:spPr>
              <a:xfrm>
                <a:off x="6979047" y="3473053"/>
                <a:ext cx="41275" cy="41275"/>
              </a:xfrm>
              <a:custGeom>
                <a:avLst/>
                <a:gdLst/>
                <a:ahLst/>
                <a:cxnLst/>
                <a:rect l="l" t="t" r="r" b="b"/>
                <a:pathLst>
                  <a:path w="41275" h="41275">
                    <a:moveTo>
                      <a:pt x="0" y="20638"/>
                    </a:moveTo>
                    <a:cubicBezTo>
                      <a:pt x="0" y="32035"/>
                      <a:pt x="9240" y="41275"/>
                      <a:pt x="20638" y="41275"/>
                    </a:cubicBezTo>
                    <a:cubicBezTo>
                      <a:pt x="32035" y="41275"/>
                      <a:pt x="41275" y="32035"/>
                      <a:pt x="41275" y="20638"/>
                    </a:cubicBezTo>
                    <a:cubicBezTo>
                      <a:pt x="41275" y="9240"/>
                      <a:pt x="32035" y="0"/>
                      <a:pt x="20638" y="0"/>
                    </a:cubicBezTo>
                    <a:cubicBezTo>
                      <a:pt x="9240" y="0"/>
                      <a:pt x="0" y="9240"/>
                      <a:pt x="0" y="20638"/>
                    </a:cubicBezTo>
                  </a:path>
                </a:pathLst>
              </a:custGeom>
              <a:noFill/>
              <a:ln w="10319">
                <a:solidFill>
                  <a:srgbClr val="D82000"/>
                </a:solidFill>
              </a:ln>
            </p:spPr>
          </p:sp>
          <p:sp>
            <p:nvSpPr>
              <p:cNvPr id="259" name="Freeform 259"/>
              <p:cNvSpPr/>
              <p:nvPr/>
            </p:nvSpPr>
            <p:spPr>
              <a:xfrm>
                <a:off x="6968728" y="3534966"/>
                <a:ext cx="61913" cy="30956"/>
              </a:xfrm>
              <a:custGeom>
                <a:avLst/>
                <a:gdLst/>
                <a:ahLst/>
                <a:cxnLst/>
                <a:rect l="l" t="t" r="r" b="b"/>
                <a:pathLst>
                  <a:path w="61913" h="30956">
                    <a:moveTo>
                      <a:pt x="0" y="30956"/>
                    </a:moveTo>
                    <a:lnTo>
                      <a:pt x="0" y="20638"/>
                    </a:lnTo>
                    <a:cubicBezTo>
                      <a:pt x="0" y="9240"/>
                      <a:pt x="9240" y="0"/>
                      <a:pt x="20638" y="0"/>
                    </a:cubicBezTo>
                    <a:lnTo>
                      <a:pt x="41275" y="0"/>
                    </a:lnTo>
                    <a:cubicBezTo>
                      <a:pt x="52673" y="0"/>
                      <a:pt x="61913" y="9240"/>
                      <a:pt x="61913" y="20638"/>
                    </a:cubicBezTo>
                    <a:lnTo>
                      <a:pt x="61913" y="30956"/>
                    </a:lnTo>
                  </a:path>
                </a:pathLst>
              </a:custGeom>
              <a:noFill/>
              <a:ln w="10319">
                <a:solidFill>
                  <a:srgbClr val="D82000"/>
                </a:solidFill>
              </a:ln>
            </p:spPr>
          </p:sp>
          <p:sp>
            <p:nvSpPr>
              <p:cNvPr id="260" name="Freeform 260"/>
              <p:cNvSpPr/>
              <p:nvPr/>
            </p:nvSpPr>
            <p:spPr>
              <a:xfrm>
                <a:off x="7035800" y="3473724"/>
                <a:ext cx="15519" cy="39985"/>
              </a:xfrm>
              <a:custGeom>
                <a:avLst/>
                <a:gdLst/>
                <a:ahLst/>
                <a:cxnLst/>
                <a:rect l="l" t="t" r="r" b="b"/>
                <a:pathLst>
                  <a:path w="15519" h="39985">
                    <a:moveTo>
                      <a:pt x="0" y="0"/>
                    </a:moveTo>
                    <a:cubicBezTo>
                      <a:pt x="9132" y="2338"/>
                      <a:pt x="15519" y="10566"/>
                      <a:pt x="15519" y="19993"/>
                    </a:cubicBezTo>
                    <a:cubicBezTo>
                      <a:pt x="15519" y="29419"/>
                      <a:pt x="9132" y="37647"/>
                      <a:pt x="0" y="39985"/>
                    </a:cubicBezTo>
                  </a:path>
                </a:pathLst>
              </a:custGeom>
              <a:noFill/>
              <a:ln w="10319">
                <a:solidFill>
                  <a:srgbClr val="D82000"/>
                </a:solidFill>
              </a:ln>
            </p:spPr>
          </p:sp>
          <p:sp>
            <p:nvSpPr>
              <p:cNvPr id="261" name="Freeform 261"/>
              <p:cNvSpPr/>
              <p:nvPr/>
            </p:nvSpPr>
            <p:spPr>
              <a:xfrm>
                <a:off x="7046119" y="3535740"/>
                <a:ext cx="15478" cy="30182"/>
              </a:xfrm>
              <a:custGeom>
                <a:avLst/>
                <a:gdLst/>
                <a:ahLst/>
                <a:cxnLst/>
                <a:rect l="l" t="t" r="r" b="b"/>
                <a:pathLst>
                  <a:path w="15478" h="30182">
                    <a:moveTo>
                      <a:pt x="15478" y="30182"/>
                    </a:moveTo>
                    <a:lnTo>
                      <a:pt x="15478" y="19864"/>
                    </a:lnTo>
                    <a:cubicBezTo>
                      <a:pt x="15424" y="10497"/>
                      <a:pt x="9069" y="2342"/>
                      <a:pt x="0" y="0"/>
                    </a:cubicBezTo>
                  </a:path>
                </a:pathLst>
              </a:custGeom>
              <a:noFill/>
              <a:ln w="10319">
                <a:solidFill>
                  <a:srgbClr val="D82000"/>
                </a:solidFill>
              </a:ln>
            </p:spPr>
          </p:sp>
        </p:grpSp>
        <p:sp>
          <p:nvSpPr>
            <p:cNvPr id="263" name="TextBox 263"/>
            <p:cNvSpPr txBox="1"/>
            <p:nvPr/>
          </p:nvSpPr>
          <p:spPr>
            <a:xfrm>
              <a:off x="7119938" y="3485436"/>
              <a:ext cx="638204"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存量客户排除​</a:t>
              </a:r>
            </a:p>
          </p:txBody>
        </p:sp>
        <p:sp>
          <p:nvSpPr>
            <p:cNvPr id="264" name="TextBox 264"/>
            <p:cNvSpPr txBox="1"/>
            <p:nvPr/>
          </p:nvSpPr>
          <p:spPr>
            <a:xfrm>
              <a:off x="8453438" y="3485436"/>
              <a:ext cx="1419333"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近180天有本行任一账户的客户​​</a:t>
              </a:r>
            </a:p>
          </p:txBody>
        </p:sp>
        <p:grpSp>
          <p:nvGrpSpPr>
            <p:cNvPr id="267" name="Group 267"/>
            <p:cNvGrpSpPr/>
            <p:nvPr/>
          </p:nvGrpSpPr>
          <p:grpSpPr>
            <a:xfrm>
              <a:off x="6961765" y="3739753"/>
              <a:ext cx="100753" cy="92869"/>
              <a:chOff x="6961765" y="3739753"/>
              <a:chExt cx="100753" cy="92869"/>
            </a:xfrm>
          </p:grpSpPr>
          <p:sp>
            <p:nvSpPr>
              <p:cNvPr id="265" name="Freeform 265"/>
              <p:cNvSpPr/>
              <p:nvPr/>
            </p:nvSpPr>
            <p:spPr>
              <a:xfrm>
                <a:off x="6961765" y="3739753"/>
                <a:ext cx="100753" cy="92074"/>
              </a:xfrm>
              <a:custGeom>
                <a:avLst/>
                <a:gdLst/>
                <a:ahLst/>
                <a:cxnLst/>
                <a:rect l="l" t="t" r="r" b="b"/>
                <a:pathLst>
                  <a:path w="100753" h="92074">
                    <a:moveTo>
                      <a:pt x="50611" y="92074"/>
                    </a:moveTo>
                    <a:cubicBezTo>
                      <a:pt x="18290" y="82055"/>
                      <a:pt x="0" y="47943"/>
                      <a:pt x="9543" y="15478"/>
                    </a:cubicBezTo>
                    <a:cubicBezTo>
                      <a:pt x="25617" y="16214"/>
                      <a:pt x="41346" y="10662"/>
                      <a:pt x="53397" y="0"/>
                    </a:cubicBezTo>
                    <a:cubicBezTo>
                      <a:pt x="65449" y="10662"/>
                      <a:pt x="81178" y="16214"/>
                      <a:pt x="97252" y="15478"/>
                    </a:cubicBezTo>
                    <a:cubicBezTo>
                      <a:pt x="100753" y="27392"/>
                      <a:pt x="100592" y="40083"/>
                      <a:pt x="96788" y="51903"/>
                    </a:cubicBezTo>
                  </a:path>
                </a:pathLst>
              </a:custGeom>
              <a:noFill/>
              <a:ln w="10319">
                <a:solidFill>
                  <a:srgbClr val="D82000"/>
                </a:solidFill>
              </a:ln>
            </p:spPr>
          </p:sp>
          <p:sp>
            <p:nvSpPr>
              <p:cNvPr id="266" name="Freeform 266"/>
              <p:cNvSpPr/>
              <p:nvPr/>
            </p:nvSpPr>
            <p:spPr>
              <a:xfrm>
                <a:off x="7030641" y="3811984"/>
                <a:ext cx="30956" cy="20638"/>
              </a:xfrm>
              <a:custGeom>
                <a:avLst/>
                <a:gdLst/>
                <a:ahLst/>
                <a:cxnLst/>
                <a:rect l="l" t="t" r="r" b="b"/>
                <a:pathLst>
                  <a:path w="30956" h="20638">
                    <a:moveTo>
                      <a:pt x="0" y="10319"/>
                    </a:moveTo>
                    <a:lnTo>
                      <a:pt x="10319" y="20638"/>
                    </a:lnTo>
                    <a:lnTo>
                      <a:pt x="30956" y="0"/>
                    </a:lnTo>
                  </a:path>
                </a:pathLst>
              </a:custGeom>
              <a:noFill/>
              <a:ln w="10319">
                <a:solidFill>
                  <a:srgbClr val="D82000"/>
                </a:solidFill>
              </a:ln>
            </p:spPr>
          </p:sp>
        </p:grpSp>
        <p:sp>
          <p:nvSpPr>
            <p:cNvPr id="268" name="TextBox 268"/>
            <p:cNvSpPr txBox="1"/>
            <p:nvPr/>
          </p:nvSpPr>
          <p:spPr>
            <a:xfrm>
              <a:off x="7119938" y="3752136"/>
              <a:ext cx="733784"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高风险名单排除​</a:t>
              </a:r>
            </a:p>
          </p:txBody>
        </p:sp>
        <p:sp>
          <p:nvSpPr>
            <p:cNvPr id="269" name="TextBox 269"/>
            <p:cNvSpPr txBox="1"/>
            <p:nvPr/>
          </p:nvSpPr>
          <p:spPr>
            <a:xfrm>
              <a:off x="8453438" y="3752136"/>
              <a:ext cx="1686958"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反洗钱高风险、黑名单、司法涉案名单​</a:t>
              </a:r>
            </a:p>
          </p:txBody>
        </p:sp>
        <p:grpSp>
          <p:nvGrpSpPr>
            <p:cNvPr id="272" name="Group 272"/>
            <p:cNvGrpSpPr/>
            <p:nvPr/>
          </p:nvGrpSpPr>
          <p:grpSpPr>
            <a:xfrm>
              <a:off x="6968728" y="4006453"/>
              <a:ext cx="92869" cy="92869"/>
              <a:chOff x="6968728" y="4006453"/>
              <a:chExt cx="92869" cy="92869"/>
            </a:xfrm>
          </p:grpSpPr>
          <p:sp>
            <p:nvSpPr>
              <p:cNvPr id="270" name="Freeform 270"/>
              <p:cNvSpPr/>
              <p:nvPr/>
            </p:nvSpPr>
            <p:spPr>
              <a:xfrm>
                <a:off x="6968728" y="4006453"/>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D82000"/>
                </a:solidFill>
              </a:ln>
            </p:spPr>
          </p:sp>
          <p:sp>
            <p:nvSpPr>
              <p:cNvPr id="271" name="Freeform 271"/>
              <p:cNvSpPr/>
              <p:nvPr/>
            </p:nvSpPr>
            <p:spPr>
              <a:xfrm>
                <a:off x="7015163" y="4027091"/>
                <a:ext cx="15478" cy="41275"/>
              </a:xfrm>
              <a:custGeom>
                <a:avLst/>
                <a:gdLst/>
                <a:ahLst/>
                <a:cxnLst/>
                <a:rect l="l" t="t" r="r" b="b"/>
                <a:pathLst>
                  <a:path w="15478" h="41275">
                    <a:moveTo>
                      <a:pt x="0" y="0"/>
                    </a:moveTo>
                    <a:lnTo>
                      <a:pt x="0" y="25797"/>
                    </a:lnTo>
                    <a:lnTo>
                      <a:pt x="15478" y="41275"/>
                    </a:lnTo>
                  </a:path>
                </a:pathLst>
              </a:custGeom>
              <a:noFill/>
              <a:ln w="10319">
                <a:solidFill>
                  <a:srgbClr val="D82000"/>
                </a:solidFill>
              </a:ln>
            </p:spPr>
          </p:sp>
        </p:grpSp>
        <p:sp>
          <p:nvSpPr>
            <p:cNvPr id="273" name="TextBox 273"/>
            <p:cNvSpPr txBox="1"/>
            <p:nvPr/>
          </p:nvSpPr>
          <p:spPr>
            <a:xfrm>
              <a:off x="7119938" y="4018836"/>
              <a:ext cx="733784"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近期已触达排除​</a:t>
              </a:r>
            </a:p>
          </p:txBody>
        </p:sp>
        <p:sp>
          <p:nvSpPr>
            <p:cNvPr id="274" name="TextBox 274"/>
            <p:cNvSpPr txBox="1"/>
            <p:nvPr/>
          </p:nvSpPr>
          <p:spPr>
            <a:xfrm>
              <a:off x="8453438" y="4018836"/>
              <a:ext cx="1863781"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近14天内已触达/已点击/已申请的人群​​​​</a:t>
              </a:r>
            </a:p>
          </p:txBody>
        </p:sp>
        <p:grpSp>
          <p:nvGrpSpPr>
            <p:cNvPr id="279" name="Group 279"/>
            <p:cNvGrpSpPr/>
            <p:nvPr/>
          </p:nvGrpSpPr>
          <p:grpSpPr>
            <a:xfrm>
              <a:off x="6968728" y="4278313"/>
              <a:ext cx="92869" cy="82549"/>
              <a:chOff x="6968728" y="4278313"/>
              <a:chExt cx="92869" cy="82549"/>
            </a:xfrm>
          </p:grpSpPr>
          <p:sp>
            <p:nvSpPr>
              <p:cNvPr id="275" name="Freeform 275"/>
              <p:cNvSpPr/>
              <p:nvPr/>
            </p:nvSpPr>
            <p:spPr>
              <a:xfrm>
                <a:off x="6968728" y="4293791"/>
                <a:ext cx="92869" cy="9525"/>
              </a:xfrm>
              <a:custGeom>
                <a:avLst/>
                <a:gdLst/>
                <a:ahLst/>
                <a:cxnLst/>
                <a:rect l="l" t="t" r="r" b="b"/>
                <a:pathLst>
                  <a:path w="92869" h="9525">
                    <a:moveTo>
                      <a:pt x="92869" y="0"/>
                    </a:moveTo>
                    <a:lnTo>
                      <a:pt x="0" y="0"/>
                    </a:lnTo>
                  </a:path>
                </a:pathLst>
              </a:custGeom>
              <a:noFill/>
              <a:ln w="10319">
                <a:solidFill>
                  <a:srgbClr val="D82000"/>
                </a:solidFill>
              </a:ln>
            </p:spPr>
          </p:sp>
          <p:sp>
            <p:nvSpPr>
              <p:cNvPr id="276" name="Freeform 276"/>
              <p:cNvSpPr/>
              <p:nvPr/>
            </p:nvSpPr>
            <p:spPr>
              <a:xfrm>
                <a:off x="7046119" y="4278313"/>
                <a:ext cx="15478" cy="30956"/>
              </a:xfrm>
              <a:custGeom>
                <a:avLst/>
                <a:gdLst/>
                <a:ahLst/>
                <a:cxnLst/>
                <a:rect l="l" t="t" r="r" b="b"/>
                <a:pathLst>
                  <a:path w="15478" h="30956">
                    <a:moveTo>
                      <a:pt x="0" y="30956"/>
                    </a:moveTo>
                    <a:lnTo>
                      <a:pt x="15478" y="15478"/>
                    </a:lnTo>
                    <a:lnTo>
                      <a:pt x="0" y="0"/>
                    </a:lnTo>
                  </a:path>
                </a:pathLst>
              </a:custGeom>
              <a:noFill/>
              <a:ln w="10319">
                <a:solidFill>
                  <a:srgbClr val="D82000"/>
                </a:solidFill>
              </a:ln>
            </p:spPr>
          </p:sp>
          <p:sp>
            <p:nvSpPr>
              <p:cNvPr id="277" name="Freeform 277"/>
              <p:cNvSpPr/>
              <p:nvPr/>
            </p:nvSpPr>
            <p:spPr>
              <a:xfrm>
                <a:off x="6968728" y="4329906"/>
                <a:ext cx="15478" cy="30956"/>
              </a:xfrm>
              <a:custGeom>
                <a:avLst/>
                <a:gdLst/>
                <a:ahLst/>
                <a:cxnLst/>
                <a:rect l="l" t="t" r="r" b="b"/>
                <a:pathLst>
                  <a:path w="15478" h="30956">
                    <a:moveTo>
                      <a:pt x="15478" y="30956"/>
                    </a:moveTo>
                    <a:lnTo>
                      <a:pt x="0" y="15478"/>
                    </a:lnTo>
                    <a:lnTo>
                      <a:pt x="15478" y="0"/>
                    </a:lnTo>
                  </a:path>
                </a:pathLst>
              </a:custGeom>
              <a:noFill/>
              <a:ln w="10319">
                <a:solidFill>
                  <a:srgbClr val="D82000"/>
                </a:solidFill>
              </a:ln>
            </p:spPr>
          </p:sp>
          <p:sp>
            <p:nvSpPr>
              <p:cNvPr id="278" name="Freeform 278"/>
              <p:cNvSpPr/>
              <p:nvPr/>
            </p:nvSpPr>
            <p:spPr>
              <a:xfrm>
                <a:off x="6968728" y="4345384"/>
                <a:ext cx="92869" cy="9525"/>
              </a:xfrm>
              <a:custGeom>
                <a:avLst/>
                <a:gdLst/>
                <a:ahLst/>
                <a:cxnLst/>
                <a:rect l="l" t="t" r="r" b="b"/>
                <a:pathLst>
                  <a:path w="92869" h="9525">
                    <a:moveTo>
                      <a:pt x="0" y="0"/>
                    </a:moveTo>
                    <a:lnTo>
                      <a:pt x="92869" y="0"/>
                    </a:lnTo>
                  </a:path>
                </a:pathLst>
              </a:custGeom>
              <a:noFill/>
              <a:ln w="10319">
                <a:solidFill>
                  <a:srgbClr val="D82000"/>
                </a:solidFill>
              </a:ln>
            </p:spPr>
          </p:sp>
        </p:grpSp>
        <p:sp>
          <p:nvSpPr>
            <p:cNvPr id="280" name="TextBox 280"/>
            <p:cNvSpPr txBox="1"/>
            <p:nvPr/>
          </p:nvSpPr>
          <p:spPr>
            <a:xfrm>
              <a:off x="7119938" y="4285536"/>
              <a:ext cx="487426"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跨渠道去重</a:t>
              </a:r>
            </a:p>
          </p:txBody>
        </p:sp>
        <p:sp>
          <p:nvSpPr>
            <p:cNvPr id="281" name="TextBox 281"/>
            <p:cNvSpPr txBox="1"/>
            <p:nvPr/>
          </p:nvSpPr>
          <p:spPr>
            <a:xfrm>
              <a:off x="8453438" y="4285536"/>
              <a:ext cx="1782538"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与其他渠道投放人群去重，避免重复成本​</a:t>
              </a:r>
            </a:p>
          </p:txBody>
        </p:sp>
        <p:sp>
          <p:nvSpPr>
            <p:cNvPr id="282" name="Freeform 282"/>
            <p:cNvSpPr/>
            <p:nvPr/>
          </p:nvSpPr>
          <p:spPr>
            <a:xfrm>
              <a:off x="6973888" y="4545013"/>
              <a:ext cx="82550" cy="87709"/>
            </a:xfrm>
            <a:custGeom>
              <a:avLst/>
              <a:gdLst/>
              <a:ahLst/>
              <a:cxnLst/>
              <a:rect l="l" t="t" r="r" b="b"/>
              <a:pathLst>
                <a:path w="82550" h="87709">
                  <a:moveTo>
                    <a:pt x="0" y="0"/>
                  </a:moveTo>
                  <a:lnTo>
                    <a:pt x="82550" y="0"/>
                  </a:lnTo>
                  <a:lnTo>
                    <a:pt x="82550" y="11206"/>
                  </a:lnTo>
                  <a:cubicBezTo>
                    <a:pt x="82549" y="13943"/>
                    <a:pt x="81462" y="16567"/>
                    <a:pt x="79527" y="18502"/>
                  </a:cubicBezTo>
                  <a:lnTo>
                    <a:pt x="56753" y="41275"/>
                  </a:lnTo>
                  <a:lnTo>
                    <a:pt x="56753" y="77391"/>
                  </a:lnTo>
                  <a:lnTo>
                    <a:pt x="25797" y="87709"/>
                  </a:lnTo>
                  <a:lnTo>
                    <a:pt x="25797" y="43855"/>
                  </a:lnTo>
                  <a:lnTo>
                    <a:pt x="2683" y="18429"/>
                  </a:lnTo>
                  <a:cubicBezTo>
                    <a:pt x="957" y="16530"/>
                    <a:pt x="0" y="14056"/>
                    <a:pt x="0" y="11490"/>
                  </a:cubicBezTo>
                  <a:lnTo>
                    <a:pt x="0" y="0"/>
                  </a:lnTo>
                </a:path>
              </a:pathLst>
            </a:custGeom>
            <a:noFill/>
            <a:ln w="10319">
              <a:solidFill>
                <a:srgbClr val="D82000"/>
              </a:solidFill>
            </a:ln>
          </p:spPr>
        </p:sp>
        <p:sp>
          <p:nvSpPr>
            <p:cNvPr id="283" name="TextBox 283"/>
            <p:cNvSpPr txBox="1"/>
            <p:nvPr/>
          </p:nvSpPr>
          <p:spPr>
            <a:xfrm>
              <a:off x="7119938" y="4552236"/>
              <a:ext cx="733784" cy="140494"/>
            </a:xfrm>
            <a:prstGeom prst="rect">
              <a:avLst/>
            </a:prstGeom>
            <a:noFill/>
            <a:ln>
              <a:noFill/>
            </a:ln>
          </p:spPr>
          <p:txBody>
            <a:bodyPr wrap="none" lIns="0" tIns="0" rIns="0" bIns="0" anchor="t" anchorCtr="0">
              <a:spAutoFit/>
            </a:bodyPr>
            <a:lstStyle/>
            <a:p>
              <a:pPr algn="l"/>
              <a:r>
                <a:rPr lang="zh-CN" sz="710" b="1" dirty="0">
                  <a:solidFill>
                    <a:srgbClr val="3D3835"/>
                  </a:solidFill>
                  <a:latin typeface="+mn-lt"/>
                  <a:ea typeface="+mn-ea"/>
                  <a:cs typeface="+mn-cs"/>
                </a:rPr>
                <a:t>低质量线索排除​</a:t>
              </a:r>
            </a:p>
          </p:txBody>
        </p:sp>
        <p:sp>
          <p:nvSpPr>
            <p:cNvPr id="284" name="TextBox 284"/>
            <p:cNvSpPr txBox="1"/>
            <p:nvPr/>
          </p:nvSpPr>
          <p:spPr>
            <a:xfrm>
              <a:off x="8453438" y="4552236"/>
              <a:ext cx="1992814"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历史为低质量线索（无效/接通/信息不实）​​​</a:t>
              </a:r>
            </a:p>
          </p:txBody>
        </p:sp>
        <p:sp>
          <p:nvSpPr>
            <p:cNvPr id="285" name="Line 285"/>
            <p:cNvSpPr/>
            <p:nvPr/>
          </p:nvSpPr>
          <p:spPr>
            <a:xfrm>
              <a:off x="8382000" y="3200400"/>
              <a:ext cx="9525" cy="1524000"/>
            </a:xfrm>
            <a:custGeom>
              <a:avLst/>
              <a:gdLst/>
              <a:ahLst/>
              <a:cxnLst/>
              <a:rect l="l" t="t" r="r" b="b"/>
              <a:pathLst>
                <a:path w="9525" h="1524000">
                  <a:moveTo>
                    <a:pt x="0" y="0"/>
                  </a:moveTo>
                  <a:lnTo>
                    <a:pt x="0" y="1524000"/>
                  </a:lnTo>
                </a:path>
              </a:pathLst>
            </a:custGeom>
            <a:noFill/>
            <a:ln w="9525">
              <a:solidFill>
                <a:srgbClr val="EADBCE"/>
              </a:solidFill>
            </a:ln>
          </p:spPr>
        </p:sp>
        <p:sp>
          <p:nvSpPr>
            <p:cNvPr id="286" name="Line 286"/>
            <p:cNvSpPr/>
            <p:nvPr/>
          </p:nvSpPr>
          <p:spPr>
            <a:xfrm>
              <a:off x="6858000" y="3657600"/>
              <a:ext cx="4953000" cy="9525"/>
            </a:xfrm>
            <a:custGeom>
              <a:avLst/>
              <a:gdLst/>
              <a:ahLst/>
              <a:cxnLst/>
              <a:rect l="l" t="t" r="r" b="b"/>
              <a:pathLst>
                <a:path w="4953000" h="9525">
                  <a:moveTo>
                    <a:pt x="0" y="0"/>
                  </a:moveTo>
                  <a:lnTo>
                    <a:pt x="4953000" y="0"/>
                  </a:lnTo>
                </a:path>
              </a:pathLst>
            </a:custGeom>
            <a:noFill/>
            <a:ln w="9525">
              <a:solidFill>
                <a:srgbClr val="EADBCE"/>
              </a:solidFill>
            </a:ln>
          </p:spPr>
        </p:sp>
        <p:sp>
          <p:nvSpPr>
            <p:cNvPr id="287" name="Line 287"/>
            <p:cNvSpPr/>
            <p:nvPr/>
          </p:nvSpPr>
          <p:spPr>
            <a:xfrm>
              <a:off x="6858000" y="3924300"/>
              <a:ext cx="4953000" cy="9525"/>
            </a:xfrm>
            <a:custGeom>
              <a:avLst/>
              <a:gdLst/>
              <a:ahLst/>
              <a:cxnLst/>
              <a:rect l="l" t="t" r="r" b="b"/>
              <a:pathLst>
                <a:path w="4953000" h="9525">
                  <a:moveTo>
                    <a:pt x="0" y="0"/>
                  </a:moveTo>
                  <a:lnTo>
                    <a:pt x="4953000" y="0"/>
                  </a:lnTo>
                </a:path>
              </a:pathLst>
            </a:custGeom>
            <a:noFill/>
            <a:ln w="9525">
              <a:solidFill>
                <a:srgbClr val="EADBCE"/>
              </a:solidFill>
            </a:ln>
          </p:spPr>
        </p:sp>
        <p:sp>
          <p:nvSpPr>
            <p:cNvPr id="288" name="Line 288"/>
            <p:cNvSpPr/>
            <p:nvPr/>
          </p:nvSpPr>
          <p:spPr>
            <a:xfrm>
              <a:off x="6858000" y="4191000"/>
              <a:ext cx="4953000" cy="9525"/>
            </a:xfrm>
            <a:custGeom>
              <a:avLst/>
              <a:gdLst/>
              <a:ahLst/>
              <a:cxnLst/>
              <a:rect l="l" t="t" r="r" b="b"/>
              <a:pathLst>
                <a:path w="4953000" h="9525">
                  <a:moveTo>
                    <a:pt x="0" y="0"/>
                  </a:moveTo>
                  <a:lnTo>
                    <a:pt x="4953000" y="0"/>
                  </a:lnTo>
                </a:path>
              </a:pathLst>
            </a:custGeom>
            <a:noFill/>
            <a:ln w="9525">
              <a:solidFill>
                <a:srgbClr val="EADBCE"/>
              </a:solidFill>
            </a:ln>
          </p:spPr>
        </p:sp>
        <p:sp>
          <p:nvSpPr>
            <p:cNvPr id="289" name="Line 289"/>
            <p:cNvSpPr/>
            <p:nvPr/>
          </p:nvSpPr>
          <p:spPr>
            <a:xfrm>
              <a:off x="6858000" y="4457700"/>
              <a:ext cx="4953000" cy="9525"/>
            </a:xfrm>
            <a:custGeom>
              <a:avLst/>
              <a:gdLst/>
              <a:ahLst/>
              <a:cxnLst/>
              <a:rect l="l" t="t" r="r" b="b"/>
              <a:pathLst>
                <a:path w="4953000" h="9525">
                  <a:moveTo>
                    <a:pt x="0" y="0"/>
                  </a:moveTo>
                  <a:lnTo>
                    <a:pt x="4953000" y="0"/>
                  </a:lnTo>
                </a:path>
              </a:pathLst>
            </a:custGeom>
            <a:noFill/>
            <a:ln w="9525">
              <a:solidFill>
                <a:srgbClr val="EADBCE"/>
              </a:solidFill>
            </a:ln>
          </p:spPr>
        </p:sp>
      </p:grpSp>
      <p:grpSp>
        <p:nvGrpSpPr>
          <p:cNvPr id="341" name="lookalike-effect"/>
          <p:cNvGrpSpPr/>
          <p:nvPr/>
        </p:nvGrpSpPr>
        <p:grpSpPr>
          <a:xfrm>
            <a:off x="6858000" y="4857750"/>
            <a:ext cx="4953000" cy="1828800"/>
            <a:chOff x="6858000" y="4857750"/>
            <a:chExt cx="4953000" cy="1828800"/>
          </a:xfrm>
        </p:grpSpPr>
        <p:sp>
          <p:nvSpPr>
            <p:cNvPr id="291" name="Rectangle 291"/>
            <p:cNvSpPr/>
            <p:nvPr/>
          </p:nvSpPr>
          <p:spPr>
            <a:xfrm>
              <a:off x="6858000" y="4857750"/>
              <a:ext cx="4953000" cy="228600"/>
            </a:xfrm>
            <a:prstGeom prst="roundRect">
              <a:avLst>
                <a:gd name="adj" fmla="val 12500"/>
              </a:avLst>
            </a:prstGeom>
            <a:solidFill>
              <a:srgbClr val="C41D00"/>
            </a:solidFill>
            <a:ln>
              <a:noFill/>
            </a:ln>
          </p:spPr>
        </p:sp>
        <p:sp>
          <p:nvSpPr>
            <p:cNvPr id="292" name="TextBox 292"/>
            <p:cNvSpPr txBox="1"/>
            <p:nvPr/>
          </p:nvSpPr>
          <p:spPr>
            <a:xfrm>
              <a:off x="8349924" y="4922520"/>
              <a:ext cx="196915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​​Lookalike模型效果（近30天）​​</a:t>
              </a:r>
            </a:p>
          </p:txBody>
        </p:sp>
        <p:sp>
          <p:nvSpPr>
            <p:cNvPr id="293" name="Rectangle 293"/>
            <p:cNvSpPr/>
            <p:nvPr/>
          </p:nvSpPr>
          <p:spPr>
            <a:xfrm>
              <a:off x="6858000" y="5143500"/>
              <a:ext cx="4953000" cy="247650"/>
            </a:xfrm>
            <a:prstGeom prst="rect">
              <a:avLst/>
            </a:prstGeom>
            <a:solidFill>
              <a:srgbClr val="C41D00"/>
            </a:solidFill>
            <a:ln>
              <a:noFill/>
            </a:ln>
          </p:spPr>
        </p:sp>
        <p:sp>
          <p:nvSpPr>
            <p:cNvPr id="294" name="TextBox 294"/>
            <p:cNvSpPr txBox="1"/>
            <p:nvPr/>
          </p:nvSpPr>
          <p:spPr>
            <a:xfrm>
              <a:off x="7194029" y="52325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人群层级</a:t>
              </a:r>
            </a:p>
          </p:txBody>
        </p:sp>
        <p:sp>
          <p:nvSpPr>
            <p:cNvPr id="295" name="TextBox 295"/>
            <p:cNvSpPr txBox="1"/>
            <p:nvPr/>
          </p:nvSpPr>
          <p:spPr>
            <a:xfrm>
              <a:off x="8089379" y="52325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触达人数</a:t>
              </a:r>
            </a:p>
          </p:txBody>
        </p:sp>
        <p:sp>
          <p:nvSpPr>
            <p:cNvPr id="296" name="TextBox 296"/>
            <p:cNvSpPr txBox="1"/>
            <p:nvPr/>
          </p:nvSpPr>
          <p:spPr>
            <a:xfrm>
              <a:off x="8811425" y="5232559"/>
              <a:ext cx="28415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获客数</a:t>
              </a:r>
            </a:p>
          </p:txBody>
        </p:sp>
        <p:sp>
          <p:nvSpPr>
            <p:cNvPr id="297" name="TextBox 297"/>
            <p:cNvSpPr txBox="1"/>
            <p:nvPr/>
          </p:nvSpPr>
          <p:spPr>
            <a:xfrm>
              <a:off x="9180891" y="5232559"/>
              <a:ext cx="669169"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​​CAC（元）​​</a:t>
              </a:r>
            </a:p>
          </p:txBody>
        </p:sp>
        <p:sp>
          <p:nvSpPr>
            <p:cNvPr id="298" name="TextBox 298"/>
            <p:cNvSpPr txBox="1"/>
            <p:nvPr/>
          </p:nvSpPr>
          <p:spPr>
            <a:xfrm>
              <a:off x="9939287" y="5184934"/>
              <a:ext cx="295377"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FFFFFF"/>
                  </a:solidFill>
                  <a:latin typeface="+mn-lt"/>
                  <a:ea typeface="+mn-ea"/>
                  <a:cs typeface="+mn-cs"/>
                </a:rPr>
                <a:t>​30日​</a:t>
              </a:r>
              <a:br/>
              <a:r>
                <a:rPr lang="zh-CN" sz="680" b="1" dirty="0">
                  <a:solidFill>
                    <a:srgbClr val="FFFFFF"/>
                  </a:solidFill>
                  <a:latin typeface="+mn-lt"/>
                  <a:ea typeface="+mn-ea"/>
                  <a:cs typeface="+mn-cs"/>
                </a:rPr>
                <a:t>活跃率</a:t>
              </a:r>
            </a:p>
          </p:txBody>
        </p:sp>
        <p:sp>
          <p:nvSpPr>
            <p:cNvPr id="299" name="TextBox 299"/>
            <p:cNvSpPr txBox="1"/>
            <p:nvPr/>
          </p:nvSpPr>
          <p:spPr>
            <a:xfrm>
              <a:off x="10480942" y="5184934"/>
              <a:ext cx="640817"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FFFFFF"/>
                  </a:solidFill>
                  <a:latin typeface="+mn-lt"/>
                  <a:ea typeface="+mn-ea"/>
                  <a:cs typeface="+mn-cs"/>
                </a:rPr>
                <a:t>​90日客户价值​</a:t>
              </a:r>
              <a:br/>
              <a:r>
                <a:rPr lang="zh-CN" sz="680" b="1" dirty="0">
                  <a:solidFill>
                    <a:srgbClr val="FFFFFF"/>
                  </a:solidFill>
                  <a:latin typeface="+mn-lt"/>
                  <a:ea typeface="+mn-ea"/>
                  <a:cs typeface="+mn-cs"/>
                </a:rPr>
                <a:t>（元）</a:t>
              </a:r>
            </a:p>
          </p:txBody>
        </p:sp>
        <p:sp>
          <p:nvSpPr>
            <p:cNvPr id="300" name="TextBox 300"/>
            <p:cNvSpPr txBox="1"/>
            <p:nvPr/>
          </p:nvSpPr>
          <p:spPr>
            <a:xfrm>
              <a:off x="11272152" y="5184934"/>
              <a:ext cx="468097" cy="228600"/>
            </a:xfrm>
            <a:prstGeom prst="rect">
              <a:avLst/>
            </a:prstGeom>
            <a:noFill/>
            <a:ln>
              <a:noFill/>
            </a:ln>
          </p:spPr>
          <p:txBody>
            <a:bodyPr wrap="none" lIns="0" tIns="0" rIns="0" bIns="0" anchor="t" anchorCtr="0">
              <a:spAutoFit/>
            </a:bodyPr>
            <a:lstStyle/>
            <a:p>
              <a:pPr algn="ctr">
                <a:lnSpc>
                  <a:spcPts val="750"/>
                </a:lnSpc>
              </a:pPr>
              <a:r>
                <a:rPr lang="en-US" sz="680" b="1" dirty="0">
                  <a:solidFill>
                    <a:srgbClr val="FFFFFF"/>
                  </a:solidFill>
                  <a:latin typeface="+mn-lt"/>
                  <a:ea typeface="+mn-ea"/>
                  <a:cs typeface="+mn-cs"/>
                </a:rPr>
                <a:t>​ROI​</a:t>
              </a:r>
              <a:br/>
              <a:r>
                <a:rPr lang="zh-CN" sz="680" b="1" dirty="0">
                  <a:solidFill>
                    <a:srgbClr val="FFFFFF"/>
                  </a:solidFill>
                  <a:latin typeface="+mn-lt"/>
                  <a:ea typeface="+mn-ea"/>
                  <a:cs typeface="+mn-cs"/>
                </a:rPr>
                <a:t>​（90日）​</a:t>
              </a:r>
            </a:p>
          </p:txBody>
        </p:sp>
        <p:sp>
          <p:nvSpPr>
            <p:cNvPr id="301" name="Rectangle 301"/>
            <p:cNvSpPr/>
            <p:nvPr/>
          </p:nvSpPr>
          <p:spPr>
            <a:xfrm>
              <a:off x="6858000" y="5391150"/>
              <a:ext cx="4953000" cy="1295400"/>
            </a:xfrm>
            <a:prstGeom prst="rect">
              <a:avLst/>
            </a:prstGeom>
            <a:solidFill>
              <a:srgbClr val="FFFFFF"/>
            </a:solidFill>
            <a:ln w="9525">
              <a:solidFill>
                <a:srgbClr val="F0B8AE"/>
              </a:solidFill>
            </a:ln>
          </p:spPr>
        </p:sp>
        <p:sp>
          <p:nvSpPr>
            <p:cNvPr id="302" name="Rectangle 302"/>
            <p:cNvSpPr/>
            <p:nvPr/>
          </p:nvSpPr>
          <p:spPr>
            <a:xfrm>
              <a:off x="6858000" y="5715000"/>
              <a:ext cx="4953000" cy="323850"/>
            </a:xfrm>
            <a:prstGeom prst="rect">
              <a:avLst/>
            </a:prstGeom>
            <a:solidFill>
              <a:srgbClr val="FFF8F2"/>
            </a:solidFill>
            <a:ln>
              <a:noFill/>
            </a:ln>
          </p:spPr>
        </p:sp>
        <p:sp>
          <p:nvSpPr>
            <p:cNvPr id="303" name="Rectangle 303"/>
            <p:cNvSpPr/>
            <p:nvPr/>
          </p:nvSpPr>
          <p:spPr>
            <a:xfrm>
              <a:off x="6858000" y="6362700"/>
              <a:ext cx="4953000" cy="323850"/>
            </a:xfrm>
            <a:prstGeom prst="rect">
              <a:avLst/>
            </a:prstGeom>
            <a:solidFill>
              <a:srgbClr val="FFF8F2"/>
            </a:solidFill>
            <a:ln>
              <a:noFill/>
            </a:ln>
          </p:spPr>
        </p:sp>
        <p:sp>
          <p:nvSpPr>
            <p:cNvPr id="304" name="TextBox 304"/>
            <p:cNvSpPr txBox="1"/>
            <p:nvPr/>
          </p:nvSpPr>
          <p:spPr>
            <a:xfrm>
              <a:off x="7204392" y="5451634"/>
              <a:ext cx="354965" cy="247650"/>
            </a:xfrm>
            <a:prstGeom prst="rect">
              <a:avLst/>
            </a:prstGeom>
            <a:noFill/>
            <a:ln>
              <a:noFill/>
            </a:ln>
          </p:spPr>
          <p:txBody>
            <a:bodyPr wrap="none" lIns="0" tIns="0" rIns="0" bIns="0" anchor="t" anchorCtr="0">
              <a:spAutoFit/>
            </a:bodyPr>
            <a:lstStyle/>
            <a:p>
              <a:pPr algn="ctr">
                <a:lnSpc>
                  <a:spcPts val="900"/>
                </a:lnSpc>
              </a:pPr>
              <a:r>
                <a:rPr lang="zh-CN" sz="680" b="1" dirty="0">
                  <a:solidFill>
                    <a:srgbClr val="4A130A"/>
                  </a:solidFill>
                  <a:latin typeface="+mn-lt"/>
                  <a:ea typeface="+mn-ea"/>
                  <a:cs typeface="+mn-cs"/>
                </a:rPr>
                <a:t>种子人群</a:t>
              </a:r>
              <a:br/>
              <a:r>
                <a:rPr lang="zh-CN" sz="680" dirty="0">
                  <a:solidFill>
                    <a:srgbClr val="7A716B"/>
                  </a:solidFill>
                  <a:latin typeface="+mn-lt"/>
                  <a:ea typeface="+mn-ea"/>
                  <a:cs typeface="+mn-cs"/>
                </a:rPr>
                <a:t>（基准）</a:t>
              </a:r>
            </a:p>
          </p:txBody>
        </p:sp>
        <p:sp>
          <p:nvSpPr>
            <p:cNvPr id="305" name="TextBox 305"/>
            <p:cNvSpPr txBox="1"/>
            <p:nvPr/>
          </p:nvSpPr>
          <p:spPr>
            <a:xfrm>
              <a:off x="8189166" y="5510212"/>
              <a:ext cx="176117" cy="147638"/>
            </a:xfrm>
            <a:prstGeom prst="rect">
              <a:avLst/>
            </a:prstGeom>
            <a:noFill/>
            <a:ln>
              <a:noFill/>
            </a:ln>
          </p:spPr>
          <p:txBody>
            <a:bodyPr wrap="none" lIns="0" tIns="0" rIns="0" bIns="0" anchor="t" anchorCtr="0">
              <a:spAutoFit/>
            </a:bodyPr>
            <a:lstStyle/>
            <a:p>
              <a:pPr algn="ctr"/>
              <a:r>
                <a:rPr lang="zh-CN" sz="750" dirty="0">
                  <a:solidFill>
                    <a:srgbClr val="7A716B"/>
                  </a:solidFill>
                  <a:latin typeface="+mn-lt"/>
                  <a:ea typeface="+mn-ea"/>
                  <a:cs typeface="+mn-cs"/>
                </a:rPr>
                <a:t>​—​</a:t>
              </a:r>
            </a:p>
          </p:txBody>
        </p:sp>
        <p:sp>
          <p:nvSpPr>
            <p:cNvPr id="306" name="TextBox 306"/>
            <p:cNvSpPr txBox="1"/>
            <p:nvPr/>
          </p:nvSpPr>
          <p:spPr>
            <a:xfrm>
              <a:off x="8865441" y="5510212"/>
              <a:ext cx="176117" cy="147638"/>
            </a:xfrm>
            <a:prstGeom prst="rect">
              <a:avLst/>
            </a:prstGeom>
            <a:noFill/>
            <a:ln>
              <a:noFill/>
            </a:ln>
          </p:spPr>
          <p:txBody>
            <a:bodyPr wrap="none" lIns="0" tIns="0" rIns="0" bIns="0" anchor="t" anchorCtr="0">
              <a:spAutoFit/>
            </a:bodyPr>
            <a:lstStyle/>
            <a:p>
              <a:pPr algn="ctr"/>
              <a:r>
                <a:rPr lang="zh-CN" sz="750" dirty="0">
                  <a:solidFill>
                    <a:srgbClr val="7A716B"/>
                  </a:solidFill>
                  <a:latin typeface="+mn-lt"/>
                  <a:ea typeface="+mn-ea"/>
                  <a:cs typeface="+mn-cs"/>
                </a:rPr>
                <a:t>​—​</a:t>
              </a:r>
            </a:p>
          </p:txBody>
        </p:sp>
        <p:sp>
          <p:nvSpPr>
            <p:cNvPr id="307" name="TextBox 307"/>
            <p:cNvSpPr txBox="1"/>
            <p:nvPr/>
          </p:nvSpPr>
          <p:spPr>
            <a:xfrm>
              <a:off x="9427416" y="5510212"/>
              <a:ext cx="176117" cy="147638"/>
            </a:xfrm>
            <a:prstGeom prst="rect">
              <a:avLst/>
            </a:prstGeom>
            <a:noFill/>
            <a:ln>
              <a:noFill/>
            </a:ln>
          </p:spPr>
          <p:txBody>
            <a:bodyPr wrap="none" lIns="0" tIns="0" rIns="0" bIns="0" anchor="t" anchorCtr="0">
              <a:spAutoFit/>
            </a:bodyPr>
            <a:lstStyle/>
            <a:p>
              <a:pPr algn="ctr"/>
              <a:r>
                <a:rPr lang="zh-CN" sz="750" dirty="0">
                  <a:solidFill>
                    <a:srgbClr val="7A716B"/>
                  </a:solidFill>
                  <a:latin typeface="+mn-lt"/>
                  <a:ea typeface="+mn-ea"/>
                  <a:cs typeface="+mn-cs"/>
                </a:rPr>
                <a:t>​—​</a:t>
              </a:r>
            </a:p>
          </p:txBody>
        </p:sp>
        <p:sp>
          <p:nvSpPr>
            <p:cNvPr id="308" name="TextBox 308"/>
            <p:cNvSpPr txBox="1"/>
            <p:nvPr/>
          </p:nvSpPr>
          <p:spPr>
            <a:xfrm>
              <a:off x="9998916" y="5510212"/>
              <a:ext cx="176117" cy="147638"/>
            </a:xfrm>
            <a:prstGeom prst="rect">
              <a:avLst/>
            </a:prstGeom>
            <a:noFill/>
            <a:ln>
              <a:noFill/>
            </a:ln>
          </p:spPr>
          <p:txBody>
            <a:bodyPr wrap="none" lIns="0" tIns="0" rIns="0" bIns="0" anchor="t" anchorCtr="0">
              <a:spAutoFit/>
            </a:bodyPr>
            <a:lstStyle/>
            <a:p>
              <a:pPr algn="ctr"/>
              <a:r>
                <a:rPr lang="zh-CN" sz="750" dirty="0">
                  <a:solidFill>
                    <a:srgbClr val="7A716B"/>
                  </a:solidFill>
                  <a:latin typeface="+mn-lt"/>
                  <a:ea typeface="+mn-ea"/>
                  <a:cs typeface="+mn-cs"/>
                </a:rPr>
                <a:t>​—​</a:t>
              </a:r>
            </a:p>
          </p:txBody>
        </p:sp>
        <p:sp>
          <p:nvSpPr>
            <p:cNvPr id="309" name="TextBox 309"/>
            <p:cNvSpPr txBox="1"/>
            <p:nvPr/>
          </p:nvSpPr>
          <p:spPr>
            <a:xfrm>
              <a:off x="10657761" y="5510212"/>
              <a:ext cx="287179"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​512​</a:t>
              </a:r>
            </a:p>
          </p:txBody>
        </p:sp>
        <p:sp>
          <p:nvSpPr>
            <p:cNvPr id="310" name="TextBox 310"/>
            <p:cNvSpPr txBox="1"/>
            <p:nvPr/>
          </p:nvSpPr>
          <p:spPr>
            <a:xfrm>
              <a:off x="11418141" y="5510212"/>
              <a:ext cx="176117" cy="147638"/>
            </a:xfrm>
            <a:prstGeom prst="rect">
              <a:avLst/>
            </a:prstGeom>
            <a:noFill/>
            <a:ln>
              <a:noFill/>
            </a:ln>
          </p:spPr>
          <p:txBody>
            <a:bodyPr wrap="none" lIns="0" tIns="0" rIns="0" bIns="0" anchor="t" anchorCtr="0">
              <a:spAutoFit/>
            </a:bodyPr>
            <a:lstStyle/>
            <a:p>
              <a:pPr algn="ctr"/>
              <a:r>
                <a:rPr lang="zh-CN" sz="750" dirty="0">
                  <a:solidFill>
                    <a:srgbClr val="7A716B"/>
                  </a:solidFill>
                  <a:latin typeface="+mn-lt"/>
                  <a:ea typeface="+mn-ea"/>
                  <a:cs typeface="+mn-cs"/>
                </a:rPr>
                <a:t>​—​</a:t>
              </a:r>
            </a:p>
          </p:txBody>
        </p:sp>
        <p:sp>
          <p:nvSpPr>
            <p:cNvPr id="311" name="TextBox 311"/>
            <p:cNvSpPr txBox="1"/>
            <p:nvPr/>
          </p:nvSpPr>
          <p:spPr>
            <a:xfrm>
              <a:off x="7012134" y="5775484"/>
              <a:ext cx="739483" cy="247650"/>
            </a:xfrm>
            <a:prstGeom prst="rect">
              <a:avLst/>
            </a:prstGeom>
            <a:noFill/>
            <a:ln>
              <a:noFill/>
            </a:ln>
          </p:spPr>
          <p:txBody>
            <a:bodyPr wrap="none" lIns="0" tIns="0" rIns="0" bIns="0" anchor="t" anchorCtr="0">
              <a:spAutoFit/>
            </a:bodyPr>
            <a:lstStyle/>
            <a:p>
              <a:pPr algn="ctr">
                <a:lnSpc>
                  <a:spcPts val="900"/>
                </a:lnSpc>
              </a:pPr>
              <a:r>
                <a:rPr lang="en-US" sz="680" b="1" dirty="0">
                  <a:solidFill>
                    <a:srgbClr val="4A130A"/>
                  </a:solidFill>
                  <a:latin typeface="+mn-lt"/>
                  <a:ea typeface="+mn-ea"/>
                  <a:cs typeface="+mn-cs"/>
                </a:rPr>
                <a:t>​​Lookalike L1​​</a:t>
              </a:r>
              <a:br/>
              <a:r>
                <a:rPr lang="zh-CN" sz="680" dirty="0">
                  <a:solidFill>
                    <a:srgbClr val="7A716B"/>
                  </a:solidFill>
                  <a:latin typeface="+mn-lt"/>
                  <a:ea typeface="+mn-ea"/>
                  <a:cs typeface="+mn-cs"/>
                </a:rPr>
                <a:t>​​（≥80%）​​</a:t>
              </a:r>
            </a:p>
          </p:txBody>
        </p:sp>
        <p:sp>
          <p:nvSpPr>
            <p:cNvPr id="312" name="TextBox 312"/>
            <p:cNvSpPr txBox="1"/>
            <p:nvPr/>
          </p:nvSpPr>
          <p:spPr>
            <a:xfrm>
              <a:off x="7967043" y="5834062"/>
              <a:ext cx="62036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​1,250,000​</a:t>
              </a:r>
            </a:p>
          </p:txBody>
        </p:sp>
        <p:sp>
          <p:nvSpPr>
            <p:cNvPr id="313" name="TextBox 313"/>
            <p:cNvSpPr txBox="1"/>
            <p:nvPr/>
          </p:nvSpPr>
          <p:spPr>
            <a:xfrm>
              <a:off x="8754380" y="5834062"/>
              <a:ext cx="39824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​7,842​</a:t>
              </a:r>
            </a:p>
          </p:txBody>
        </p:sp>
        <p:sp>
          <p:nvSpPr>
            <p:cNvPr id="314" name="TextBox 314"/>
            <p:cNvSpPr txBox="1"/>
            <p:nvPr/>
          </p:nvSpPr>
          <p:spPr>
            <a:xfrm>
              <a:off x="9344120" y="5834062"/>
              <a:ext cx="34271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​31.7​</a:t>
              </a:r>
            </a:p>
          </p:txBody>
        </p:sp>
        <p:sp>
          <p:nvSpPr>
            <p:cNvPr id="315" name="TextBox 315"/>
            <p:cNvSpPr txBox="1"/>
            <p:nvPr/>
          </p:nvSpPr>
          <p:spPr>
            <a:xfrm>
              <a:off x="9877758" y="5834062"/>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​44.5%​</a:t>
              </a:r>
            </a:p>
          </p:txBody>
        </p:sp>
        <p:sp>
          <p:nvSpPr>
            <p:cNvPr id="316" name="TextBox 316"/>
            <p:cNvSpPr txBox="1"/>
            <p:nvPr/>
          </p:nvSpPr>
          <p:spPr>
            <a:xfrm>
              <a:off x="10657761" y="5834062"/>
              <a:ext cx="287179"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​269​</a:t>
              </a:r>
            </a:p>
          </p:txBody>
        </p:sp>
        <p:sp>
          <p:nvSpPr>
            <p:cNvPr id="317" name="TextBox 317"/>
            <p:cNvSpPr txBox="1"/>
            <p:nvPr/>
          </p:nvSpPr>
          <p:spPr>
            <a:xfrm>
              <a:off x="11278315" y="5825966"/>
              <a:ext cx="455770" cy="161925"/>
            </a:xfrm>
            <a:prstGeom prst="rect">
              <a:avLst/>
            </a:prstGeom>
            <a:noFill/>
            <a:ln>
              <a:noFill/>
            </a:ln>
          </p:spPr>
          <p:txBody>
            <a:bodyPr wrap="none" lIns="0" tIns="0" rIns="0" bIns="0" anchor="t" anchorCtr="0">
              <a:spAutoFit/>
            </a:bodyPr>
            <a:lstStyle/>
            <a:p>
              <a:pPr algn="ctr"/>
              <a:r>
                <a:rPr lang="en-US" sz="820" b="1" dirty="0">
                  <a:solidFill>
                    <a:srgbClr val="C41D00"/>
                  </a:solidFill>
                  <a:latin typeface="+mn-lt"/>
                  <a:ea typeface="+mn-ea"/>
                  <a:cs typeface="+mn-cs"/>
                </a:rPr>
                <a:t>​8.49x​</a:t>
              </a:r>
            </a:p>
          </p:txBody>
        </p:sp>
        <p:sp>
          <p:nvSpPr>
            <p:cNvPr id="318" name="TextBox 318"/>
            <p:cNvSpPr txBox="1"/>
            <p:nvPr/>
          </p:nvSpPr>
          <p:spPr>
            <a:xfrm>
              <a:off x="7012134" y="6099334"/>
              <a:ext cx="739483" cy="247650"/>
            </a:xfrm>
            <a:prstGeom prst="rect">
              <a:avLst/>
            </a:prstGeom>
            <a:noFill/>
            <a:ln>
              <a:noFill/>
            </a:ln>
          </p:spPr>
          <p:txBody>
            <a:bodyPr wrap="none" lIns="0" tIns="0" rIns="0" bIns="0" anchor="t" anchorCtr="0">
              <a:spAutoFit/>
            </a:bodyPr>
            <a:lstStyle/>
            <a:p>
              <a:pPr algn="ctr">
                <a:lnSpc>
                  <a:spcPts val="900"/>
                </a:lnSpc>
              </a:pPr>
              <a:r>
                <a:rPr lang="en-US" sz="680" b="1" dirty="0">
                  <a:solidFill>
                    <a:srgbClr val="4A130A"/>
                  </a:solidFill>
                  <a:latin typeface="+mn-lt"/>
                  <a:ea typeface="+mn-ea"/>
                  <a:cs typeface="+mn-cs"/>
                </a:rPr>
                <a:t>​​Lookalike L2​​</a:t>
              </a:r>
              <a:br/>
              <a:r>
                <a:rPr lang="zh-CN" sz="680" dirty="0">
                  <a:solidFill>
                    <a:srgbClr val="7A716B"/>
                  </a:solidFill>
                  <a:latin typeface="+mn-lt"/>
                  <a:ea typeface="+mn-ea"/>
                  <a:cs typeface="+mn-cs"/>
                </a:rPr>
                <a:t>​​（50%-80%）​​</a:t>
              </a:r>
            </a:p>
          </p:txBody>
        </p:sp>
        <p:sp>
          <p:nvSpPr>
            <p:cNvPr id="319" name="TextBox 319"/>
            <p:cNvSpPr txBox="1"/>
            <p:nvPr/>
          </p:nvSpPr>
          <p:spPr>
            <a:xfrm>
              <a:off x="7967043" y="6157912"/>
              <a:ext cx="62036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​2,500,000​</a:t>
              </a:r>
            </a:p>
          </p:txBody>
        </p:sp>
        <p:sp>
          <p:nvSpPr>
            <p:cNvPr id="320" name="TextBox 320"/>
            <p:cNvSpPr txBox="1"/>
            <p:nvPr/>
          </p:nvSpPr>
          <p:spPr>
            <a:xfrm>
              <a:off x="8726614" y="6157912"/>
              <a:ext cx="453771"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​11,632​</a:t>
              </a:r>
            </a:p>
          </p:txBody>
        </p:sp>
        <p:sp>
          <p:nvSpPr>
            <p:cNvPr id="321" name="TextBox 321"/>
            <p:cNvSpPr txBox="1"/>
            <p:nvPr/>
          </p:nvSpPr>
          <p:spPr>
            <a:xfrm>
              <a:off x="9344120" y="6157912"/>
              <a:ext cx="34271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​38.4​</a:t>
              </a:r>
            </a:p>
          </p:txBody>
        </p:sp>
        <p:sp>
          <p:nvSpPr>
            <p:cNvPr id="322" name="TextBox 322"/>
            <p:cNvSpPr txBox="1"/>
            <p:nvPr/>
          </p:nvSpPr>
          <p:spPr>
            <a:xfrm>
              <a:off x="9877758" y="6157912"/>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​36.8%​</a:t>
              </a:r>
            </a:p>
          </p:txBody>
        </p:sp>
        <p:sp>
          <p:nvSpPr>
            <p:cNvPr id="323" name="TextBox 323"/>
            <p:cNvSpPr txBox="1"/>
            <p:nvPr/>
          </p:nvSpPr>
          <p:spPr>
            <a:xfrm>
              <a:off x="10657761" y="6157912"/>
              <a:ext cx="287179"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​231​</a:t>
              </a:r>
            </a:p>
          </p:txBody>
        </p:sp>
        <p:sp>
          <p:nvSpPr>
            <p:cNvPr id="324" name="TextBox 324"/>
            <p:cNvSpPr txBox="1"/>
            <p:nvPr/>
          </p:nvSpPr>
          <p:spPr>
            <a:xfrm>
              <a:off x="11278315" y="6149816"/>
              <a:ext cx="455770" cy="161925"/>
            </a:xfrm>
            <a:prstGeom prst="rect">
              <a:avLst/>
            </a:prstGeom>
            <a:noFill/>
            <a:ln>
              <a:noFill/>
            </a:ln>
          </p:spPr>
          <p:txBody>
            <a:bodyPr wrap="none" lIns="0" tIns="0" rIns="0" bIns="0" anchor="t" anchorCtr="0">
              <a:spAutoFit/>
            </a:bodyPr>
            <a:lstStyle/>
            <a:p>
              <a:pPr algn="ctr"/>
              <a:r>
                <a:rPr lang="en-US" sz="820" b="1" dirty="0">
                  <a:solidFill>
                    <a:srgbClr val="C41D00"/>
                  </a:solidFill>
                  <a:latin typeface="+mn-lt"/>
                  <a:ea typeface="+mn-ea"/>
                  <a:cs typeface="+mn-cs"/>
                </a:rPr>
                <a:t>​6.02x​</a:t>
              </a:r>
            </a:p>
          </p:txBody>
        </p:sp>
        <p:sp>
          <p:nvSpPr>
            <p:cNvPr id="325" name="TextBox 325"/>
            <p:cNvSpPr txBox="1"/>
            <p:nvPr/>
          </p:nvSpPr>
          <p:spPr>
            <a:xfrm>
              <a:off x="7012134" y="6423184"/>
              <a:ext cx="739483" cy="247650"/>
            </a:xfrm>
            <a:prstGeom prst="rect">
              <a:avLst/>
            </a:prstGeom>
            <a:noFill/>
            <a:ln>
              <a:noFill/>
            </a:ln>
          </p:spPr>
          <p:txBody>
            <a:bodyPr wrap="none" lIns="0" tIns="0" rIns="0" bIns="0" anchor="t" anchorCtr="0">
              <a:spAutoFit/>
            </a:bodyPr>
            <a:lstStyle/>
            <a:p>
              <a:pPr algn="ctr">
                <a:lnSpc>
                  <a:spcPts val="900"/>
                </a:lnSpc>
              </a:pPr>
              <a:r>
                <a:rPr lang="en-US" sz="680" b="1" dirty="0">
                  <a:solidFill>
                    <a:srgbClr val="4A130A"/>
                  </a:solidFill>
                  <a:latin typeface="+mn-lt"/>
                  <a:ea typeface="+mn-ea"/>
                  <a:cs typeface="+mn-cs"/>
                </a:rPr>
                <a:t>​​Lookalike L3​​</a:t>
              </a:r>
              <a:br/>
              <a:r>
                <a:rPr lang="zh-CN" sz="680" dirty="0">
                  <a:solidFill>
                    <a:srgbClr val="7A716B"/>
                  </a:solidFill>
                  <a:latin typeface="+mn-lt"/>
                  <a:ea typeface="+mn-ea"/>
                  <a:cs typeface="+mn-cs"/>
                </a:rPr>
                <a:t>​​（20%-50%）​​</a:t>
              </a:r>
            </a:p>
          </p:txBody>
        </p:sp>
        <p:sp>
          <p:nvSpPr>
            <p:cNvPr id="326" name="TextBox 326"/>
            <p:cNvSpPr txBox="1"/>
            <p:nvPr/>
          </p:nvSpPr>
          <p:spPr>
            <a:xfrm>
              <a:off x="7967043" y="6481762"/>
              <a:ext cx="62036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​3,750,000​</a:t>
              </a:r>
            </a:p>
          </p:txBody>
        </p:sp>
        <p:sp>
          <p:nvSpPr>
            <p:cNvPr id="327" name="TextBox 327"/>
            <p:cNvSpPr txBox="1"/>
            <p:nvPr/>
          </p:nvSpPr>
          <p:spPr>
            <a:xfrm>
              <a:off x="8726614" y="6481762"/>
              <a:ext cx="453771"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​12,105​</a:t>
              </a:r>
            </a:p>
          </p:txBody>
        </p:sp>
        <p:sp>
          <p:nvSpPr>
            <p:cNvPr id="328" name="TextBox 328"/>
            <p:cNvSpPr txBox="1"/>
            <p:nvPr/>
          </p:nvSpPr>
          <p:spPr>
            <a:xfrm>
              <a:off x="9344120" y="6481762"/>
              <a:ext cx="342710"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​42.6​</a:t>
              </a:r>
            </a:p>
          </p:txBody>
        </p:sp>
        <p:sp>
          <p:nvSpPr>
            <p:cNvPr id="329" name="TextBox 329"/>
            <p:cNvSpPr txBox="1"/>
            <p:nvPr/>
          </p:nvSpPr>
          <p:spPr>
            <a:xfrm>
              <a:off x="9877758" y="6481762"/>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​31.2%​</a:t>
              </a:r>
            </a:p>
          </p:txBody>
        </p:sp>
        <p:sp>
          <p:nvSpPr>
            <p:cNvPr id="330" name="TextBox 330"/>
            <p:cNvSpPr txBox="1"/>
            <p:nvPr/>
          </p:nvSpPr>
          <p:spPr>
            <a:xfrm>
              <a:off x="10657761" y="6481762"/>
              <a:ext cx="287179"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​196​</a:t>
              </a:r>
            </a:p>
          </p:txBody>
        </p:sp>
        <p:sp>
          <p:nvSpPr>
            <p:cNvPr id="331" name="TextBox 331"/>
            <p:cNvSpPr txBox="1"/>
            <p:nvPr/>
          </p:nvSpPr>
          <p:spPr>
            <a:xfrm>
              <a:off x="11278315" y="6473666"/>
              <a:ext cx="455770" cy="161925"/>
            </a:xfrm>
            <a:prstGeom prst="rect">
              <a:avLst/>
            </a:prstGeom>
            <a:noFill/>
            <a:ln>
              <a:noFill/>
            </a:ln>
          </p:spPr>
          <p:txBody>
            <a:bodyPr wrap="none" lIns="0" tIns="0" rIns="0" bIns="0" anchor="t" anchorCtr="0">
              <a:spAutoFit/>
            </a:bodyPr>
            <a:lstStyle/>
            <a:p>
              <a:pPr algn="ctr"/>
              <a:r>
                <a:rPr lang="en-US" sz="820" b="1" dirty="0">
                  <a:solidFill>
                    <a:srgbClr val="C41D00"/>
                  </a:solidFill>
                  <a:latin typeface="+mn-lt"/>
                  <a:ea typeface="+mn-ea"/>
                  <a:cs typeface="+mn-cs"/>
                </a:rPr>
                <a:t>​4.60x​</a:t>
              </a:r>
            </a:p>
          </p:txBody>
        </p:sp>
        <p:sp>
          <p:nvSpPr>
            <p:cNvPr id="332" name="Line 332"/>
            <p:cNvSpPr/>
            <p:nvPr/>
          </p:nvSpPr>
          <p:spPr>
            <a:xfrm>
              <a:off x="7905750" y="5143500"/>
              <a:ext cx="9525" cy="1543050"/>
            </a:xfrm>
            <a:custGeom>
              <a:avLst/>
              <a:gdLst/>
              <a:ahLst/>
              <a:cxnLst/>
              <a:rect l="l" t="t" r="r" b="b"/>
              <a:pathLst>
                <a:path w="9525" h="1543050">
                  <a:moveTo>
                    <a:pt x="0" y="0"/>
                  </a:moveTo>
                  <a:lnTo>
                    <a:pt x="0" y="1543050"/>
                  </a:lnTo>
                </a:path>
              </a:pathLst>
            </a:custGeom>
            <a:noFill/>
            <a:ln w="9525">
              <a:solidFill>
                <a:srgbClr val="EADBCE"/>
              </a:solidFill>
            </a:ln>
          </p:spPr>
        </p:sp>
        <p:sp>
          <p:nvSpPr>
            <p:cNvPr id="333" name="Line 333"/>
            <p:cNvSpPr/>
            <p:nvPr/>
          </p:nvSpPr>
          <p:spPr>
            <a:xfrm>
              <a:off x="8648700" y="5143500"/>
              <a:ext cx="9525" cy="1543050"/>
            </a:xfrm>
            <a:custGeom>
              <a:avLst/>
              <a:gdLst/>
              <a:ahLst/>
              <a:cxnLst/>
              <a:rect l="l" t="t" r="r" b="b"/>
              <a:pathLst>
                <a:path w="9525" h="1543050">
                  <a:moveTo>
                    <a:pt x="0" y="0"/>
                  </a:moveTo>
                  <a:lnTo>
                    <a:pt x="0" y="1543050"/>
                  </a:lnTo>
                </a:path>
              </a:pathLst>
            </a:custGeom>
            <a:noFill/>
            <a:ln w="9525">
              <a:solidFill>
                <a:srgbClr val="EADBCE"/>
              </a:solidFill>
            </a:ln>
          </p:spPr>
        </p:sp>
        <p:sp>
          <p:nvSpPr>
            <p:cNvPr id="334" name="Line 334"/>
            <p:cNvSpPr/>
            <p:nvPr/>
          </p:nvSpPr>
          <p:spPr>
            <a:xfrm>
              <a:off x="9258300" y="5143500"/>
              <a:ext cx="9525" cy="1543050"/>
            </a:xfrm>
            <a:custGeom>
              <a:avLst/>
              <a:gdLst/>
              <a:ahLst/>
              <a:cxnLst/>
              <a:rect l="l" t="t" r="r" b="b"/>
              <a:pathLst>
                <a:path w="9525" h="1543050">
                  <a:moveTo>
                    <a:pt x="0" y="0"/>
                  </a:moveTo>
                  <a:lnTo>
                    <a:pt x="0" y="1543050"/>
                  </a:lnTo>
                </a:path>
              </a:pathLst>
            </a:custGeom>
            <a:noFill/>
            <a:ln w="9525">
              <a:solidFill>
                <a:srgbClr val="EADBCE"/>
              </a:solidFill>
            </a:ln>
          </p:spPr>
        </p:sp>
        <p:sp>
          <p:nvSpPr>
            <p:cNvPr id="335" name="Line 335"/>
            <p:cNvSpPr/>
            <p:nvPr/>
          </p:nvSpPr>
          <p:spPr>
            <a:xfrm>
              <a:off x="9772650" y="5143500"/>
              <a:ext cx="9525" cy="1543050"/>
            </a:xfrm>
            <a:custGeom>
              <a:avLst/>
              <a:gdLst/>
              <a:ahLst/>
              <a:cxnLst/>
              <a:rect l="l" t="t" r="r" b="b"/>
              <a:pathLst>
                <a:path w="9525" h="1543050">
                  <a:moveTo>
                    <a:pt x="0" y="0"/>
                  </a:moveTo>
                  <a:lnTo>
                    <a:pt x="0" y="1543050"/>
                  </a:lnTo>
                </a:path>
              </a:pathLst>
            </a:custGeom>
            <a:noFill/>
            <a:ln w="9525">
              <a:solidFill>
                <a:srgbClr val="EADBCE"/>
              </a:solidFill>
            </a:ln>
          </p:spPr>
        </p:sp>
        <p:sp>
          <p:nvSpPr>
            <p:cNvPr id="336" name="Line 336"/>
            <p:cNvSpPr/>
            <p:nvPr/>
          </p:nvSpPr>
          <p:spPr>
            <a:xfrm>
              <a:off x="10401300" y="5143500"/>
              <a:ext cx="9525" cy="1543050"/>
            </a:xfrm>
            <a:custGeom>
              <a:avLst/>
              <a:gdLst/>
              <a:ahLst/>
              <a:cxnLst/>
              <a:rect l="l" t="t" r="r" b="b"/>
              <a:pathLst>
                <a:path w="9525" h="1543050">
                  <a:moveTo>
                    <a:pt x="0" y="0"/>
                  </a:moveTo>
                  <a:lnTo>
                    <a:pt x="0" y="1543050"/>
                  </a:lnTo>
                </a:path>
              </a:pathLst>
            </a:custGeom>
            <a:noFill/>
            <a:ln w="9525">
              <a:solidFill>
                <a:srgbClr val="EADBCE"/>
              </a:solidFill>
            </a:ln>
          </p:spPr>
        </p:sp>
        <p:sp>
          <p:nvSpPr>
            <p:cNvPr id="337" name="Line 337"/>
            <p:cNvSpPr/>
            <p:nvPr/>
          </p:nvSpPr>
          <p:spPr>
            <a:xfrm>
              <a:off x="11201400" y="5143500"/>
              <a:ext cx="9525" cy="1543050"/>
            </a:xfrm>
            <a:custGeom>
              <a:avLst/>
              <a:gdLst/>
              <a:ahLst/>
              <a:cxnLst/>
              <a:rect l="l" t="t" r="r" b="b"/>
              <a:pathLst>
                <a:path w="9525" h="1543050">
                  <a:moveTo>
                    <a:pt x="0" y="0"/>
                  </a:moveTo>
                  <a:lnTo>
                    <a:pt x="0" y="1543050"/>
                  </a:lnTo>
                </a:path>
              </a:pathLst>
            </a:custGeom>
            <a:noFill/>
            <a:ln w="9525">
              <a:solidFill>
                <a:srgbClr val="EADBCE"/>
              </a:solidFill>
            </a:ln>
          </p:spPr>
        </p:sp>
        <p:sp>
          <p:nvSpPr>
            <p:cNvPr id="338" name="Line 338"/>
            <p:cNvSpPr/>
            <p:nvPr/>
          </p:nvSpPr>
          <p:spPr>
            <a:xfrm>
              <a:off x="6858000" y="5715000"/>
              <a:ext cx="4953000" cy="9525"/>
            </a:xfrm>
            <a:custGeom>
              <a:avLst/>
              <a:gdLst/>
              <a:ahLst/>
              <a:cxnLst/>
              <a:rect l="l" t="t" r="r" b="b"/>
              <a:pathLst>
                <a:path w="4953000" h="9525">
                  <a:moveTo>
                    <a:pt x="0" y="0"/>
                  </a:moveTo>
                  <a:lnTo>
                    <a:pt x="4953000" y="0"/>
                  </a:lnTo>
                </a:path>
              </a:pathLst>
            </a:custGeom>
            <a:noFill/>
            <a:ln w="9525">
              <a:solidFill>
                <a:srgbClr val="EADBCE"/>
              </a:solidFill>
            </a:ln>
          </p:spPr>
        </p:sp>
        <p:sp>
          <p:nvSpPr>
            <p:cNvPr id="339" name="Line 339"/>
            <p:cNvSpPr/>
            <p:nvPr/>
          </p:nvSpPr>
          <p:spPr>
            <a:xfrm>
              <a:off x="6858000" y="6038850"/>
              <a:ext cx="4953000" cy="9525"/>
            </a:xfrm>
            <a:custGeom>
              <a:avLst/>
              <a:gdLst/>
              <a:ahLst/>
              <a:cxnLst/>
              <a:rect l="l" t="t" r="r" b="b"/>
              <a:pathLst>
                <a:path w="4953000" h="9525">
                  <a:moveTo>
                    <a:pt x="0" y="0"/>
                  </a:moveTo>
                  <a:lnTo>
                    <a:pt x="4953000" y="0"/>
                  </a:lnTo>
                </a:path>
              </a:pathLst>
            </a:custGeom>
            <a:noFill/>
            <a:ln w="9525">
              <a:solidFill>
                <a:srgbClr val="EADBCE"/>
              </a:solidFill>
            </a:ln>
          </p:spPr>
        </p:sp>
        <p:sp>
          <p:nvSpPr>
            <p:cNvPr id="340" name="Line 340"/>
            <p:cNvSpPr/>
            <p:nvPr/>
          </p:nvSpPr>
          <p:spPr>
            <a:xfrm>
              <a:off x="6858000" y="6362700"/>
              <a:ext cx="4953000" cy="9525"/>
            </a:xfrm>
            <a:custGeom>
              <a:avLst/>
              <a:gdLst/>
              <a:ahLst/>
              <a:cxnLst/>
              <a:rect l="l" t="t" r="r" b="b"/>
              <a:pathLst>
                <a:path w="4953000" h="9525">
                  <a:moveTo>
                    <a:pt x="0" y="0"/>
                  </a:moveTo>
                  <a:lnTo>
                    <a:pt x="4953000" y="0"/>
                  </a:lnTo>
                </a:path>
              </a:pathLst>
            </a:custGeom>
            <a:noFill/>
            <a:ln w="9525">
              <a:solidFill>
                <a:srgbClr val="EADBCE"/>
              </a:solidFill>
            </a:ln>
          </p:spPr>
        </p:sp>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09</a:t>
              </a:r>
            </a:p>
          </p:txBody>
        </p:sp>
        <p:sp>
          <p:nvSpPr>
            <p:cNvPr id="4" name="TextBox 4"/>
            <p:cNvSpPr txBox="1"/>
            <p:nvPr/>
          </p:nvSpPr>
          <p:spPr>
            <a:xfrm>
              <a:off x="904494" y="170498"/>
              <a:ext cx="7451442"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新客激活</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开户后30天是建立交易习惯与关系深度的关键窗口​​</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59" name="stage-timeline"/>
          <p:cNvGrpSpPr/>
          <p:nvPr/>
        </p:nvGrpSpPr>
        <p:grpSpPr>
          <a:xfrm>
            <a:off x="342900" y="704850"/>
            <a:ext cx="11430000" cy="1104900"/>
            <a:chOff x="342900" y="704850"/>
            <a:chExt cx="11430000" cy="1104900"/>
          </a:xfrm>
        </p:grpSpPr>
        <p:sp>
          <p:nvSpPr>
            <p:cNvPr id="7" name="Rectangle 7"/>
            <p:cNvSpPr/>
            <p:nvPr/>
          </p:nvSpPr>
          <p:spPr>
            <a:xfrm>
              <a:off x="342900" y="704850"/>
              <a:ext cx="1047750" cy="1104900"/>
            </a:xfrm>
            <a:prstGeom prst="roundRect">
              <a:avLst>
                <a:gd name="adj" fmla="val 3636"/>
              </a:avLst>
            </a:prstGeom>
            <a:solidFill>
              <a:srgbClr val="FEF2E6"/>
            </a:solidFill>
            <a:ln w="9525">
              <a:solidFill>
                <a:srgbClr val="F0B8AE"/>
              </a:solidFill>
            </a:ln>
          </p:spPr>
        </p:sp>
        <p:sp>
          <p:nvSpPr>
            <p:cNvPr id="8" name="TextBox 8"/>
            <p:cNvSpPr txBox="1"/>
            <p:nvPr/>
          </p:nvSpPr>
          <p:spPr>
            <a:xfrm>
              <a:off x="395383" y="1086802"/>
              <a:ext cx="942784" cy="395859"/>
            </a:xfrm>
            <a:prstGeom prst="rect">
              <a:avLst/>
            </a:prstGeom>
            <a:noFill/>
            <a:ln>
              <a:noFill/>
            </a:ln>
          </p:spPr>
          <p:txBody>
            <a:bodyPr wrap="none" lIns="0" tIns="0" rIns="0" bIns="0" anchor="t" anchorCtr="0">
              <a:spAutoFit/>
            </a:bodyPr>
            <a:lstStyle/>
            <a:p>
              <a:pPr algn="ctr">
                <a:lnSpc>
                  <a:spcPts val="1500"/>
                </a:lnSpc>
              </a:pPr>
              <a:r>
                <a:rPr lang="zh-CN" sz="1050" b="1" dirty="0">
                  <a:solidFill>
                    <a:srgbClr val="4A130A"/>
                  </a:solidFill>
                  <a:latin typeface="+mn-lt"/>
                  <a:ea typeface="+mn-ea"/>
                  <a:cs typeface="+mn-cs"/>
                </a:rPr>
                <a:t>​0–30天​</a:t>
              </a:r>
            </a:p>
            <a:p>
              <a:pPr algn="ctr">
                <a:lnSpc>
                  <a:spcPts val="1500"/>
                </a:lnSpc>
              </a:pPr>
              <a:r>
                <a:rPr lang="zh-CN" sz="900" b="1" dirty="0">
                  <a:solidFill>
                    <a:srgbClr val="4A130A"/>
                  </a:solidFill>
                  <a:latin typeface="+mn-lt"/>
                  <a:ea typeface="+mn-ea"/>
                  <a:cs typeface="+mn-cs"/>
                </a:rPr>
                <a:t>​分阶段运营编排​</a:t>
              </a:r>
            </a:p>
          </p:txBody>
        </p:sp>
        <p:sp>
          <p:nvSpPr>
            <p:cNvPr id="9" name="Freeform 9"/>
            <p:cNvSpPr/>
            <p:nvPr/>
          </p:nvSpPr>
          <p:spPr>
            <a:xfrm>
              <a:off x="1447800" y="704850"/>
              <a:ext cx="2019300" cy="228600"/>
            </a:xfrm>
            <a:prstGeom prst="homePlate">
              <a:avLst/>
            </a:prstGeom>
            <a:solidFill>
              <a:srgbClr val="C41D00"/>
            </a:solidFill>
            <a:ln>
              <a:noFill/>
            </a:ln>
          </p:spPr>
        </p:sp>
        <p:sp>
          <p:nvSpPr>
            <p:cNvPr id="10" name="Freeform 10"/>
            <p:cNvSpPr/>
            <p:nvPr/>
          </p:nvSpPr>
          <p:spPr>
            <a:xfrm>
              <a:off x="3524250" y="704850"/>
              <a:ext cx="2019300" cy="228600"/>
            </a:xfrm>
            <a:prstGeom prst="homePlate">
              <a:avLst/>
            </a:prstGeom>
            <a:solidFill>
              <a:srgbClr val="C41D00"/>
            </a:solidFill>
            <a:ln>
              <a:noFill/>
            </a:ln>
          </p:spPr>
        </p:sp>
        <p:sp>
          <p:nvSpPr>
            <p:cNvPr id="11" name="Freeform 11"/>
            <p:cNvSpPr/>
            <p:nvPr/>
          </p:nvSpPr>
          <p:spPr>
            <a:xfrm>
              <a:off x="5600700" y="704850"/>
              <a:ext cx="2019300" cy="228600"/>
            </a:xfrm>
            <a:prstGeom prst="homePlate">
              <a:avLst/>
            </a:prstGeom>
            <a:solidFill>
              <a:srgbClr val="C41D00"/>
            </a:solidFill>
            <a:ln>
              <a:noFill/>
            </a:ln>
          </p:spPr>
        </p:sp>
        <p:sp>
          <p:nvSpPr>
            <p:cNvPr id="12" name="Freeform 12"/>
            <p:cNvSpPr/>
            <p:nvPr/>
          </p:nvSpPr>
          <p:spPr>
            <a:xfrm>
              <a:off x="7677150" y="704850"/>
              <a:ext cx="2019300" cy="228600"/>
            </a:xfrm>
            <a:prstGeom prst="homePlate">
              <a:avLst/>
            </a:prstGeom>
            <a:solidFill>
              <a:srgbClr val="C41D00"/>
            </a:solidFill>
            <a:ln>
              <a:noFill/>
            </a:ln>
          </p:spPr>
        </p:sp>
        <p:sp>
          <p:nvSpPr>
            <p:cNvPr id="13" name="Freeform 13"/>
            <p:cNvSpPr/>
            <p:nvPr/>
          </p:nvSpPr>
          <p:spPr>
            <a:xfrm>
              <a:off x="9753600" y="704850"/>
              <a:ext cx="2019300" cy="228600"/>
            </a:xfrm>
            <a:prstGeom prst="homePlate">
              <a:avLst/>
            </a:prstGeom>
            <a:solidFill>
              <a:srgbClr val="C41D00"/>
            </a:solidFill>
            <a:ln>
              <a:noFill/>
            </a:ln>
          </p:spPr>
        </p:sp>
        <p:sp>
          <p:nvSpPr>
            <p:cNvPr id="14" name="TextBox 14"/>
            <p:cNvSpPr txBox="1"/>
            <p:nvPr/>
          </p:nvSpPr>
          <p:spPr>
            <a:xfrm>
              <a:off x="1968285" y="768191"/>
              <a:ext cx="86403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​D0 欢迎与安全​</a:t>
              </a:r>
            </a:p>
          </p:txBody>
        </p:sp>
        <p:sp>
          <p:nvSpPr>
            <p:cNvPr id="15" name="TextBox 15"/>
            <p:cNvSpPr txBox="1"/>
            <p:nvPr/>
          </p:nvSpPr>
          <p:spPr>
            <a:xfrm>
              <a:off x="3801435" y="768191"/>
              <a:ext cx="135063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​​D1–3 首次登录与绑卡​​</a:t>
              </a:r>
            </a:p>
          </p:txBody>
        </p:sp>
        <p:sp>
          <p:nvSpPr>
            <p:cNvPr id="16" name="TextBox 16"/>
            <p:cNvSpPr txBox="1"/>
            <p:nvPr/>
          </p:nvSpPr>
          <p:spPr>
            <a:xfrm>
              <a:off x="6043468" y="768191"/>
              <a:ext cx="101946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​​D4–7 首笔支付​​</a:t>
              </a:r>
            </a:p>
          </p:txBody>
        </p:sp>
        <p:sp>
          <p:nvSpPr>
            <p:cNvPr id="17" name="TextBox 17"/>
            <p:cNvSpPr txBox="1"/>
            <p:nvPr/>
          </p:nvSpPr>
          <p:spPr>
            <a:xfrm>
              <a:off x="7943976" y="768191"/>
              <a:ext cx="1371348"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​​D8–15 储蓄/投资启航​​</a:t>
              </a:r>
            </a:p>
          </p:txBody>
        </p:sp>
        <p:sp>
          <p:nvSpPr>
            <p:cNvPr id="18" name="TextBox 18"/>
            <p:cNvSpPr txBox="1"/>
            <p:nvPr/>
          </p:nvSpPr>
          <p:spPr>
            <a:xfrm>
              <a:off x="9986747" y="768191"/>
              <a:ext cx="143870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​​D16–30 工资/定期交易​​</a:t>
              </a:r>
            </a:p>
          </p:txBody>
        </p:sp>
        <p:sp>
          <p:nvSpPr>
            <p:cNvPr id="19" name="Rectangle 19"/>
            <p:cNvSpPr/>
            <p:nvPr/>
          </p:nvSpPr>
          <p:spPr>
            <a:xfrm>
              <a:off x="1447800" y="933450"/>
              <a:ext cx="2019300" cy="876300"/>
            </a:xfrm>
            <a:prstGeom prst="rect">
              <a:avLst/>
            </a:prstGeom>
            <a:solidFill>
              <a:srgbClr val="FFFFFF"/>
            </a:solidFill>
            <a:ln w="9525">
              <a:solidFill>
                <a:srgbClr val="F0B8AE"/>
              </a:solidFill>
            </a:ln>
          </p:spPr>
        </p:sp>
        <p:sp>
          <p:nvSpPr>
            <p:cNvPr id="20" name="Rectangle 20"/>
            <p:cNvSpPr/>
            <p:nvPr/>
          </p:nvSpPr>
          <p:spPr>
            <a:xfrm>
              <a:off x="3524250" y="933450"/>
              <a:ext cx="2019300" cy="876300"/>
            </a:xfrm>
            <a:prstGeom prst="rect">
              <a:avLst/>
            </a:prstGeom>
            <a:solidFill>
              <a:srgbClr val="FFFFFF"/>
            </a:solidFill>
            <a:ln w="9525">
              <a:solidFill>
                <a:srgbClr val="F0B8AE"/>
              </a:solidFill>
            </a:ln>
          </p:spPr>
        </p:sp>
        <p:sp>
          <p:nvSpPr>
            <p:cNvPr id="21" name="Rectangle 21"/>
            <p:cNvSpPr/>
            <p:nvPr/>
          </p:nvSpPr>
          <p:spPr>
            <a:xfrm>
              <a:off x="5600700" y="933450"/>
              <a:ext cx="2019300" cy="876300"/>
            </a:xfrm>
            <a:prstGeom prst="rect">
              <a:avLst/>
            </a:prstGeom>
            <a:solidFill>
              <a:srgbClr val="FFFFFF"/>
            </a:solidFill>
            <a:ln w="9525">
              <a:solidFill>
                <a:srgbClr val="F0B8AE"/>
              </a:solidFill>
            </a:ln>
          </p:spPr>
        </p:sp>
        <p:sp>
          <p:nvSpPr>
            <p:cNvPr id="22" name="Rectangle 22"/>
            <p:cNvSpPr/>
            <p:nvPr/>
          </p:nvSpPr>
          <p:spPr>
            <a:xfrm>
              <a:off x="7677150" y="933450"/>
              <a:ext cx="2019300" cy="876300"/>
            </a:xfrm>
            <a:prstGeom prst="rect">
              <a:avLst/>
            </a:prstGeom>
            <a:solidFill>
              <a:srgbClr val="FFFFFF"/>
            </a:solidFill>
            <a:ln w="9525">
              <a:solidFill>
                <a:srgbClr val="F0B8AE"/>
              </a:solidFill>
            </a:ln>
          </p:spPr>
        </p:sp>
        <p:sp>
          <p:nvSpPr>
            <p:cNvPr id="23" name="Rectangle 23"/>
            <p:cNvSpPr/>
            <p:nvPr/>
          </p:nvSpPr>
          <p:spPr>
            <a:xfrm>
              <a:off x="9753600" y="933450"/>
              <a:ext cx="2019300" cy="876300"/>
            </a:xfrm>
            <a:prstGeom prst="rect">
              <a:avLst/>
            </a:prstGeom>
            <a:solidFill>
              <a:srgbClr val="FFFFFF"/>
            </a:solidFill>
            <a:ln w="9525">
              <a:solidFill>
                <a:srgbClr val="F0B8AE"/>
              </a:solidFill>
            </a:ln>
          </p:spPr>
        </p:sp>
        <p:sp>
          <p:nvSpPr>
            <p:cNvPr id="24" name="Rectangle 24"/>
            <p:cNvSpPr/>
            <p:nvPr/>
          </p:nvSpPr>
          <p:spPr>
            <a:xfrm>
              <a:off x="1447800" y="1600200"/>
              <a:ext cx="2019300" cy="209550"/>
            </a:xfrm>
            <a:prstGeom prst="rect">
              <a:avLst/>
            </a:prstGeom>
            <a:solidFill>
              <a:srgbClr val="FEF2E6"/>
            </a:solidFill>
            <a:ln>
              <a:noFill/>
            </a:ln>
          </p:spPr>
        </p:sp>
        <p:sp>
          <p:nvSpPr>
            <p:cNvPr id="25" name="Rectangle 25"/>
            <p:cNvSpPr/>
            <p:nvPr/>
          </p:nvSpPr>
          <p:spPr>
            <a:xfrm>
              <a:off x="3524250" y="1600200"/>
              <a:ext cx="2019300" cy="209550"/>
            </a:xfrm>
            <a:prstGeom prst="rect">
              <a:avLst/>
            </a:prstGeom>
            <a:solidFill>
              <a:srgbClr val="FEF2E6"/>
            </a:solidFill>
            <a:ln>
              <a:noFill/>
            </a:ln>
          </p:spPr>
        </p:sp>
        <p:sp>
          <p:nvSpPr>
            <p:cNvPr id="26" name="Rectangle 26"/>
            <p:cNvSpPr/>
            <p:nvPr/>
          </p:nvSpPr>
          <p:spPr>
            <a:xfrm>
              <a:off x="5600700" y="1600200"/>
              <a:ext cx="2019300" cy="209550"/>
            </a:xfrm>
            <a:prstGeom prst="rect">
              <a:avLst/>
            </a:prstGeom>
            <a:solidFill>
              <a:srgbClr val="FEF2E6"/>
            </a:solidFill>
            <a:ln>
              <a:noFill/>
            </a:ln>
          </p:spPr>
        </p:sp>
        <p:sp>
          <p:nvSpPr>
            <p:cNvPr id="27" name="Rectangle 27"/>
            <p:cNvSpPr/>
            <p:nvPr/>
          </p:nvSpPr>
          <p:spPr>
            <a:xfrm>
              <a:off x="7677150" y="1600200"/>
              <a:ext cx="2019300" cy="209550"/>
            </a:xfrm>
            <a:prstGeom prst="rect">
              <a:avLst/>
            </a:prstGeom>
            <a:solidFill>
              <a:srgbClr val="FEF2E6"/>
            </a:solidFill>
            <a:ln>
              <a:noFill/>
            </a:ln>
          </p:spPr>
        </p:sp>
        <p:sp>
          <p:nvSpPr>
            <p:cNvPr id="28" name="Rectangle 28"/>
            <p:cNvSpPr/>
            <p:nvPr/>
          </p:nvSpPr>
          <p:spPr>
            <a:xfrm>
              <a:off x="9753600" y="1600200"/>
              <a:ext cx="2019300" cy="209550"/>
            </a:xfrm>
            <a:prstGeom prst="rect">
              <a:avLst/>
            </a:prstGeom>
            <a:solidFill>
              <a:srgbClr val="FEF2E6"/>
            </a:solidFill>
            <a:ln>
              <a:noFill/>
            </a:ln>
          </p:spPr>
        </p:sp>
        <p:grpSp>
          <p:nvGrpSpPr>
            <p:cNvPr id="31" name="Group 31"/>
            <p:cNvGrpSpPr/>
            <p:nvPr/>
          </p:nvGrpSpPr>
          <p:grpSpPr>
            <a:xfrm>
              <a:off x="1580441" y="1157288"/>
              <a:ext cx="217008" cy="200025"/>
              <a:chOff x="1580441" y="1157288"/>
              <a:chExt cx="217008" cy="200025"/>
            </a:xfrm>
          </p:grpSpPr>
          <p:sp>
            <p:nvSpPr>
              <p:cNvPr id="29" name="Freeform 29"/>
              <p:cNvSpPr/>
              <p:nvPr/>
            </p:nvSpPr>
            <p:spPr>
              <a:xfrm>
                <a:off x="1580441" y="115728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D82000"/>
                </a:solidFill>
              </a:ln>
            </p:spPr>
          </p:sp>
          <p:sp>
            <p:nvSpPr>
              <p:cNvPr id="30" name="Freeform 30"/>
              <p:cNvSpPr/>
              <p:nvPr/>
            </p:nvSpPr>
            <p:spPr>
              <a:xfrm>
                <a:off x="1728788" y="1312863"/>
                <a:ext cx="66675" cy="44450"/>
              </a:xfrm>
              <a:custGeom>
                <a:avLst/>
                <a:gdLst/>
                <a:ahLst/>
                <a:cxnLst/>
                <a:rect l="l" t="t" r="r" b="b"/>
                <a:pathLst>
                  <a:path w="66675" h="44450">
                    <a:moveTo>
                      <a:pt x="0" y="22225"/>
                    </a:moveTo>
                    <a:lnTo>
                      <a:pt x="22225" y="44450"/>
                    </a:lnTo>
                    <a:lnTo>
                      <a:pt x="66675" y="0"/>
                    </a:lnTo>
                  </a:path>
                </a:pathLst>
              </a:custGeom>
              <a:noFill/>
              <a:ln w="22225">
                <a:solidFill>
                  <a:srgbClr val="D82000"/>
                </a:solidFill>
              </a:ln>
            </p:spPr>
          </p:sp>
        </p:grpSp>
        <p:sp>
          <p:nvSpPr>
            <p:cNvPr id="32" name="TextBox 32"/>
            <p:cNvSpPr txBox="1"/>
            <p:nvPr/>
          </p:nvSpPr>
          <p:spPr>
            <a:xfrm>
              <a:off x="1938338" y="1047036"/>
              <a:ext cx="726376" cy="426244"/>
            </a:xfrm>
            <a:prstGeom prst="rect">
              <a:avLst/>
            </a:prstGeom>
            <a:noFill/>
            <a:ln>
              <a:noFill/>
            </a:ln>
          </p:spPr>
          <p:txBody>
            <a:bodyPr wrap="none" lIns="0" tIns="0" rIns="0" bIns="0" anchor="t" anchorCtr="0">
              <a:spAutoFit/>
            </a:bodyPr>
            <a:lstStyle/>
            <a:p>
              <a:pPr algn="l" marL="76644" indent="-76644">
                <a:lnSpc>
                  <a:spcPts val="1125"/>
                </a:lnSpc>
                <a:buClr>
                  <a:srgbClr val="3D3835"/>
                </a:buClr>
                <a:buSzTx/>
                <a:buFontTx/>
                <a:buChar char="•"/>
              </a:pPr>
              <a:r>
                <a:rPr lang="zh-CN" sz="710" dirty="0">
                  <a:solidFill>
                    <a:srgbClr val="3D3835"/>
                  </a:solidFill>
                  <a:latin typeface="+mn-lt"/>
                  <a:ea typeface="+mn-ea"/>
                  <a:cs typeface="+mn-cs"/>
                </a:rPr>
                <a:t>开户成功欢迎​​</a:t>
              </a:r>
            </a:p>
            <a:p>
              <a:pPr algn="l" marL="76644" indent="-76644">
                <a:lnSpc>
                  <a:spcPts val="1125"/>
                </a:lnSpc>
                <a:buClr>
                  <a:srgbClr val="3D3835"/>
                </a:buClr>
                <a:buSzTx/>
                <a:buFontTx/>
                <a:buChar char="•"/>
              </a:pPr>
              <a:r>
                <a:rPr lang="zh-CN" sz="710" dirty="0">
                  <a:solidFill>
                    <a:srgbClr val="3D3835"/>
                  </a:solidFill>
                  <a:latin typeface="+mn-lt"/>
                  <a:ea typeface="+mn-ea"/>
                  <a:cs typeface="+mn-cs"/>
                </a:rPr>
                <a:t>安全设置指引​​</a:t>
              </a:r>
            </a:p>
            <a:p>
              <a:pPr algn="l" marL="76644" indent="-76644">
                <a:lnSpc>
                  <a:spcPts val="1125"/>
                </a:lnSpc>
                <a:buClr>
                  <a:srgbClr val="3D3835"/>
                </a:buClr>
                <a:buSzTx/>
                <a:buFontTx/>
                <a:buChar char="•"/>
              </a:pPr>
              <a:r>
                <a:rPr lang="zh-CN" sz="710" dirty="0">
                  <a:solidFill>
                    <a:srgbClr val="3D3835"/>
                  </a:solidFill>
                  <a:latin typeface="+mn-lt"/>
                  <a:ea typeface="+mn-ea"/>
                  <a:cs typeface="+mn-cs"/>
                </a:rPr>
                <a:t>风险测评引导​​</a:t>
              </a:r>
            </a:p>
          </p:txBody>
        </p:sp>
        <p:sp>
          <p:nvSpPr>
            <p:cNvPr id="33" name="TextBox 33"/>
            <p:cNvSpPr txBox="1"/>
            <p:nvPr/>
          </p:nvSpPr>
          <p:spPr>
            <a:xfrm>
              <a:off x="1967379" y="1666161"/>
              <a:ext cx="980142"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​目标：建立安全信任​</a:t>
              </a:r>
            </a:p>
          </p:txBody>
        </p:sp>
        <p:grpSp>
          <p:nvGrpSpPr>
            <p:cNvPr id="37" name="Group 37"/>
            <p:cNvGrpSpPr/>
            <p:nvPr/>
          </p:nvGrpSpPr>
          <p:grpSpPr>
            <a:xfrm>
              <a:off x="3705225" y="1157288"/>
              <a:ext cx="133350" cy="200026"/>
              <a:chOff x="3705225" y="1157288"/>
              <a:chExt cx="133350" cy="200026"/>
            </a:xfrm>
          </p:grpSpPr>
          <p:sp>
            <p:nvSpPr>
              <p:cNvPr id="34" name="Freeform 34"/>
              <p:cNvSpPr/>
              <p:nvPr/>
            </p:nvSpPr>
            <p:spPr>
              <a:xfrm>
                <a:off x="3705225" y="1157288"/>
                <a:ext cx="133350" cy="200026"/>
              </a:xfrm>
              <a:custGeom>
                <a:avLst/>
                <a:gdLst/>
                <a:ahLst/>
                <a:cxnLst/>
                <a:rect l="l" t="t" r="r" b="b"/>
                <a:pathLst>
                  <a:path w="133350" h="200026">
                    <a:moveTo>
                      <a:pt x="0" y="22225"/>
                    </a:moveTo>
                    <a:cubicBezTo>
                      <a:pt x="0" y="9950"/>
                      <a:pt x="9950" y="0"/>
                      <a:pt x="22225" y="0"/>
                    </a:cubicBezTo>
                    <a:lnTo>
                      <a:pt x="111125" y="0"/>
                    </a:lnTo>
                    <a:cubicBezTo>
                      <a:pt x="123400" y="0"/>
                      <a:pt x="133350" y="9950"/>
                      <a:pt x="133350" y="22225"/>
                    </a:cubicBezTo>
                    <a:lnTo>
                      <a:pt x="133350" y="177801"/>
                    </a:lnTo>
                    <a:cubicBezTo>
                      <a:pt x="133350" y="190075"/>
                      <a:pt x="123400" y="200026"/>
                      <a:pt x="111125" y="200026"/>
                    </a:cubicBezTo>
                    <a:lnTo>
                      <a:pt x="22225" y="200026"/>
                    </a:lnTo>
                    <a:cubicBezTo>
                      <a:pt x="9950" y="200026"/>
                      <a:pt x="0" y="190075"/>
                      <a:pt x="0" y="177801"/>
                    </a:cubicBezTo>
                    <a:lnTo>
                      <a:pt x="0" y="22225"/>
                    </a:lnTo>
                  </a:path>
                </a:pathLst>
              </a:custGeom>
              <a:noFill/>
              <a:ln w="22225">
                <a:solidFill>
                  <a:srgbClr val="D82000"/>
                </a:solidFill>
              </a:ln>
            </p:spPr>
          </p:sp>
          <p:sp>
            <p:nvSpPr>
              <p:cNvPr id="35" name="Freeform 35"/>
              <p:cNvSpPr/>
              <p:nvPr/>
            </p:nvSpPr>
            <p:spPr>
              <a:xfrm>
                <a:off x="3760788" y="1168400"/>
                <a:ext cx="22225" cy="9525"/>
              </a:xfrm>
              <a:custGeom>
                <a:avLst/>
                <a:gdLst/>
                <a:ahLst/>
                <a:cxnLst/>
                <a:rect l="l" t="t" r="r" b="b"/>
                <a:pathLst>
                  <a:path w="22225" h="9525">
                    <a:moveTo>
                      <a:pt x="0" y="0"/>
                    </a:moveTo>
                    <a:lnTo>
                      <a:pt x="22225" y="0"/>
                    </a:lnTo>
                  </a:path>
                </a:pathLst>
              </a:custGeom>
              <a:noFill/>
              <a:ln w="22225">
                <a:solidFill>
                  <a:srgbClr val="D82000"/>
                </a:solidFill>
              </a:ln>
            </p:spPr>
          </p:sp>
          <p:sp>
            <p:nvSpPr>
              <p:cNvPr id="36" name="Freeform 36"/>
              <p:cNvSpPr/>
              <p:nvPr/>
            </p:nvSpPr>
            <p:spPr>
              <a:xfrm>
                <a:off x="3771900" y="1312863"/>
                <a:ext cx="9525" cy="9525"/>
              </a:xfrm>
              <a:custGeom>
                <a:avLst/>
                <a:gdLst/>
                <a:ahLst/>
                <a:cxnLst/>
                <a:rect l="l" t="t" r="r" b="b"/>
                <a:pathLst>
                  <a:path w="9525" h="9525">
                    <a:moveTo>
                      <a:pt x="0" y="0"/>
                    </a:moveTo>
                    <a:lnTo>
                      <a:pt x="0" y="111"/>
                    </a:lnTo>
                  </a:path>
                </a:pathLst>
              </a:custGeom>
              <a:noFill/>
              <a:ln w="22225">
                <a:solidFill>
                  <a:srgbClr val="D82000"/>
                </a:solidFill>
              </a:ln>
            </p:spPr>
          </p:sp>
        </p:grpSp>
        <p:sp>
          <p:nvSpPr>
            <p:cNvPr id="38" name="TextBox 38"/>
            <p:cNvSpPr txBox="1"/>
            <p:nvPr/>
          </p:nvSpPr>
          <p:spPr>
            <a:xfrm>
              <a:off x="4014788" y="1047036"/>
              <a:ext cx="816547" cy="426244"/>
            </a:xfrm>
            <a:prstGeom prst="rect">
              <a:avLst/>
            </a:prstGeom>
            <a:noFill/>
            <a:ln>
              <a:noFill/>
            </a:ln>
          </p:spPr>
          <p:txBody>
            <a:bodyPr wrap="none" lIns="0" tIns="0" rIns="0" bIns="0" anchor="t" anchorCtr="0">
              <a:spAutoFit/>
            </a:bodyPr>
            <a:lstStyle/>
            <a:p>
              <a:pPr algn="l" marL="76644" indent="-76644">
                <a:lnSpc>
                  <a:spcPts val="1125"/>
                </a:lnSpc>
                <a:buClr>
                  <a:srgbClr val="3D3835"/>
                </a:buClr>
                <a:buSzTx/>
                <a:buFontTx/>
                <a:buChar char="•"/>
              </a:pPr>
              <a:r>
                <a:rPr lang="zh-CN" sz="710" dirty="0">
                  <a:solidFill>
                    <a:srgbClr val="3D3835"/>
                  </a:solidFill>
                  <a:latin typeface="+mn-lt"/>
                  <a:ea typeface="+mn-ea"/>
                  <a:cs typeface="+mn-cs"/>
                </a:rPr>
                <a:t>首次登录提醒​​</a:t>
              </a:r>
            </a:p>
            <a:p>
              <a:pPr algn="l" marL="76644" indent="-76644">
                <a:lnSpc>
                  <a:spcPts val="1125"/>
                </a:lnSpc>
                <a:buClr>
                  <a:srgbClr val="3D3835"/>
                </a:buClr>
                <a:buSzTx/>
                <a:buFontTx/>
                <a:buChar char="•"/>
              </a:pPr>
              <a:r>
                <a:rPr lang="zh-CN" sz="710" dirty="0">
                  <a:solidFill>
                    <a:srgbClr val="3D3835"/>
                  </a:solidFill>
                  <a:latin typeface="+mn-lt"/>
                  <a:ea typeface="+mn-ea"/>
                  <a:cs typeface="+mn-cs"/>
                </a:rPr>
                <a:t>绑卡与便捷支付​​</a:t>
              </a:r>
            </a:p>
            <a:p>
              <a:pPr algn="l" marL="76644" indent="-76644">
                <a:lnSpc>
                  <a:spcPts val="1125"/>
                </a:lnSpc>
                <a:buClr>
                  <a:srgbClr val="3D3835"/>
                </a:buClr>
                <a:buSzTx/>
                <a:buFontTx/>
                <a:buChar char="•"/>
              </a:pPr>
              <a:r>
                <a:rPr lang="zh-CN" sz="710" dirty="0">
                  <a:solidFill>
                    <a:srgbClr val="3D3835"/>
                  </a:solidFill>
                  <a:latin typeface="+mn-lt"/>
                  <a:ea typeface="+mn-ea"/>
                  <a:cs typeface="+mn-cs"/>
                </a:rPr>
                <a:t>App功能引导​​</a:t>
              </a:r>
            </a:p>
          </p:txBody>
        </p:sp>
        <p:sp>
          <p:nvSpPr>
            <p:cNvPr id="39" name="TextBox 39"/>
            <p:cNvSpPr txBox="1"/>
            <p:nvPr/>
          </p:nvSpPr>
          <p:spPr>
            <a:xfrm>
              <a:off x="4043829" y="1666161"/>
              <a:ext cx="980142"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​目标：完成基础设置​</a:t>
              </a:r>
            </a:p>
          </p:txBody>
        </p:sp>
        <p:grpSp>
          <p:nvGrpSpPr>
            <p:cNvPr id="42" name="Group 42"/>
            <p:cNvGrpSpPr/>
            <p:nvPr/>
          </p:nvGrpSpPr>
          <p:grpSpPr>
            <a:xfrm>
              <a:off x="5759450" y="1168400"/>
              <a:ext cx="177800" cy="177801"/>
              <a:chOff x="5759450" y="1168400"/>
              <a:chExt cx="177800" cy="177801"/>
            </a:xfrm>
          </p:grpSpPr>
          <p:sp>
            <p:nvSpPr>
              <p:cNvPr id="40" name="Freeform 40"/>
              <p:cNvSpPr/>
              <p:nvPr/>
            </p:nvSpPr>
            <p:spPr>
              <a:xfrm>
                <a:off x="5759450" y="1168400"/>
                <a:ext cx="166688" cy="177801"/>
              </a:xfrm>
              <a:custGeom>
                <a:avLst/>
                <a:gdLst/>
                <a:ahLst/>
                <a:cxnLst/>
                <a:rect l="l" t="t" r="r" b="b"/>
                <a:pathLst>
                  <a:path w="166688" h="177801">
                    <a:moveTo>
                      <a:pt x="144463" y="44450"/>
                    </a:moveTo>
                    <a:lnTo>
                      <a:pt x="144463" y="11113"/>
                    </a:lnTo>
                    <a:cubicBezTo>
                      <a:pt x="144463" y="4975"/>
                      <a:pt x="139488" y="0"/>
                      <a:pt x="133350" y="0"/>
                    </a:cubicBezTo>
                    <a:lnTo>
                      <a:pt x="22225" y="0"/>
                    </a:lnTo>
                    <a:cubicBezTo>
                      <a:pt x="9950" y="0"/>
                      <a:pt x="0" y="9950"/>
                      <a:pt x="0" y="22225"/>
                    </a:cubicBezTo>
                    <a:cubicBezTo>
                      <a:pt x="0" y="34500"/>
                      <a:pt x="9950" y="44450"/>
                      <a:pt x="22225" y="44450"/>
                    </a:cubicBezTo>
                    <a:lnTo>
                      <a:pt x="155575" y="44450"/>
                    </a:lnTo>
                    <a:cubicBezTo>
                      <a:pt x="161713" y="44450"/>
                      <a:pt x="166688" y="49425"/>
                      <a:pt x="166688" y="55563"/>
                    </a:cubicBezTo>
                    <a:lnTo>
                      <a:pt x="166688" y="88900"/>
                    </a:lnTo>
                    <a:moveTo>
                      <a:pt x="166688" y="133350"/>
                    </a:moveTo>
                    <a:lnTo>
                      <a:pt x="166688" y="166688"/>
                    </a:lnTo>
                    <a:cubicBezTo>
                      <a:pt x="166688" y="172825"/>
                      <a:pt x="161713" y="177801"/>
                      <a:pt x="155575" y="177801"/>
                    </a:cubicBezTo>
                    <a:lnTo>
                      <a:pt x="22225" y="177801"/>
                    </a:lnTo>
                    <a:cubicBezTo>
                      <a:pt x="9950" y="177801"/>
                      <a:pt x="0" y="167850"/>
                      <a:pt x="0" y="155575"/>
                    </a:cubicBezTo>
                    <a:lnTo>
                      <a:pt x="0" y="22225"/>
                    </a:lnTo>
                  </a:path>
                </a:pathLst>
              </a:custGeom>
              <a:noFill/>
              <a:ln w="22225">
                <a:solidFill>
                  <a:srgbClr val="D82000"/>
                </a:solidFill>
              </a:ln>
            </p:spPr>
          </p:sp>
          <p:sp>
            <p:nvSpPr>
              <p:cNvPr id="41" name="Freeform 41"/>
              <p:cNvSpPr/>
              <p:nvPr/>
            </p:nvSpPr>
            <p:spPr>
              <a:xfrm>
                <a:off x="5870575" y="1257300"/>
                <a:ext cx="66675" cy="44450"/>
              </a:xfrm>
              <a:custGeom>
                <a:avLst/>
                <a:gdLst/>
                <a:ahLst/>
                <a:cxnLst/>
                <a:rect l="l" t="t" r="r" b="b"/>
                <a:pathLst>
                  <a:path w="66675" h="44450">
                    <a:moveTo>
                      <a:pt x="66675" y="0"/>
                    </a:moveTo>
                    <a:lnTo>
                      <a:pt x="66675" y="44450"/>
                    </a:lnTo>
                    <a:lnTo>
                      <a:pt x="22225" y="44450"/>
                    </a:lnTo>
                    <a:cubicBezTo>
                      <a:pt x="9950" y="44450"/>
                      <a:pt x="0" y="34500"/>
                      <a:pt x="0" y="22225"/>
                    </a:cubicBezTo>
                    <a:cubicBezTo>
                      <a:pt x="0" y="9950"/>
                      <a:pt x="9950" y="0"/>
                      <a:pt x="22225" y="0"/>
                    </a:cubicBezTo>
                    <a:lnTo>
                      <a:pt x="66675" y="0"/>
                    </a:lnTo>
                  </a:path>
                </a:pathLst>
              </a:custGeom>
              <a:noFill/>
              <a:ln w="22225">
                <a:solidFill>
                  <a:srgbClr val="D82000"/>
                </a:solidFill>
              </a:ln>
            </p:spPr>
          </p:sp>
        </p:grpSp>
        <p:sp>
          <p:nvSpPr>
            <p:cNvPr id="43" name="TextBox 43"/>
            <p:cNvSpPr txBox="1"/>
            <p:nvPr/>
          </p:nvSpPr>
          <p:spPr>
            <a:xfrm>
              <a:off x="6091238" y="1047036"/>
              <a:ext cx="726376" cy="426244"/>
            </a:xfrm>
            <a:prstGeom prst="rect">
              <a:avLst/>
            </a:prstGeom>
            <a:noFill/>
            <a:ln>
              <a:noFill/>
            </a:ln>
          </p:spPr>
          <p:txBody>
            <a:bodyPr wrap="none" lIns="0" tIns="0" rIns="0" bIns="0" anchor="t" anchorCtr="0">
              <a:spAutoFit/>
            </a:bodyPr>
            <a:lstStyle/>
            <a:p>
              <a:pPr algn="l" marL="76644" indent="-76644">
                <a:lnSpc>
                  <a:spcPts val="1125"/>
                </a:lnSpc>
                <a:buClr>
                  <a:srgbClr val="3D3835"/>
                </a:buClr>
                <a:buSzTx/>
                <a:buFontTx/>
                <a:buChar char="•"/>
              </a:pPr>
              <a:r>
                <a:rPr lang="zh-CN" sz="710" dirty="0">
                  <a:solidFill>
                    <a:srgbClr val="3D3835"/>
                  </a:solidFill>
                  <a:latin typeface="+mn-lt"/>
                  <a:ea typeface="+mn-ea"/>
                  <a:cs typeface="+mn-cs"/>
                </a:rPr>
                <a:t>小额支付任务​​</a:t>
              </a:r>
            </a:p>
            <a:p>
              <a:pPr algn="l" marL="76644" indent="-76644">
                <a:lnSpc>
                  <a:spcPts val="1125"/>
                </a:lnSpc>
                <a:buClr>
                  <a:srgbClr val="3D3835"/>
                </a:buClr>
                <a:buSzTx/>
                <a:buFontTx/>
                <a:buChar char="•"/>
              </a:pPr>
              <a:r>
                <a:rPr lang="zh-CN" sz="710" dirty="0">
                  <a:solidFill>
                    <a:srgbClr val="3D3835"/>
                  </a:solidFill>
                  <a:latin typeface="+mn-lt"/>
                  <a:ea typeface="+mn-ea"/>
                  <a:cs typeface="+mn-cs"/>
                </a:rPr>
                <a:t>生活场景推荐​​</a:t>
              </a:r>
            </a:p>
            <a:p>
              <a:pPr algn="l" marL="76644" indent="-76644">
                <a:lnSpc>
                  <a:spcPts val="1125"/>
                </a:lnSpc>
                <a:buClr>
                  <a:srgbClr val="3D3835"/>
                </a:buClr>
                <a:buSzTx/>
                <a:buFontTx/>
                <a:buChar char="•"/>
              </a:pPr>
              <a:r>
                <a:rPr lang="zh-CN" sz="710" dirty="0">
                  <a:solidFill>
                    <a:srgbClr val="3D3835"/>
                  </a:solidFill>
                  <a:latin typeface="+mn-lt"/>
                  <a:ea typeface="+mn-ea"/>
                  <a:cs typeface="+mn-cs"/>
                </a:rPr>
                <a:t>支付优惠激励​​</a:t>
              </a:r>
            </a:p>
          </p:txBody>
        </p:sp>
        <p:sp>
          <p:nvSpPr>
            <p:cNvPr id="44" name="TextBox 44"/>
            <p:cNvSpPr txBox="1"/>
            <p:nvPr/>
          </p:nvSpPr>
          <p:spPr>
            <a:xfrm>
              <a:off x="6120279" y="1666161"/>
              <a:ext cx="980142"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​目标：完成首笔支付​</a:t>
              </a:r>
            </a:p>
          </p:txBody>
        </p:sp>
        <p:grpSp>
          <p:nvGrpSpPr>
            <p:cNvPr id="47" name="Group 47"/>
            <p:cNvGrpSpPr/>
            <p:nvPr/>
          </p:nvGrpSpPr>
          <p:grpSpPr>
            <a:xfrm>
              <a:off x="7835900" y="1190625"/>
              <a:ext cx="177801" cy="153988"/>
              <a:chOff x="7835900" y="1190625"/>
              <a:chExt cx="177801" cy="153988"/>
            </a:xfrm>
          </p:grpSpPr>
          <p:sp>
            <p:nvSpPr>
              <p:cNvPr id="45" name="Freeform 45"/>
              <p:cNvSpPr/>
              <p:nvPr/>
            </p:nvSpPr>
            <p:spPr>
              <a:xfrm>
                <a:off x="7835900" y="1335088"/>
                <a:ext cx="177801" cy="9525"/>
              </a:xfrm>
              <a:custGeom>
                <a:avLst/>
                <a:gdLst/>
                <a:ahLst/>
                <a:cxnLst/>
                <a:rect l="l" t="t" r="r" b="b"/>
                <a:pathLst>
                  <a:path w="177801" h="9525">
                    <a:moveTo>
                      <a:pt x="0" y="0"/>
                    </a:moveTo>
                    <a:lnTo>
                      <a:pt x="177801" y="0"/>
                    </a:lnTo>
                  </a:path>
                </a:pathLst>
              </a:custGeom>
              <a:noFill/>
              <a:ln w="22225">
                <a:solidFill>
                  <a:srgbClr val="D82000"/>
                </a:solidFill>
              </a:ln>
            </p:spPr>
          </p:sp>
          <p:sp>
            <p:nvSpPr>
              <p:cNvPr id="46" name="Freeform 46"/>
              <p:cNvSpPr/>
              <p:nvPr/>
            </p:nvSpPr>
            <p:spPr>
              <a:xfrm>
                <a:off x="7835900" y="1190625"/>
                <a:ext cx="177801" cy="100013"/>
              </a:xfrm>
              <a:custGeom>
                <a:avLst/>
                <a:gdLst/>
                <a:ahLst/>
                <a:cxnLst/>
                <a:rect l="l" t="t" r="r" b="b"/>
                <a:pathLst>
                  <a:path w="177801" h="100013">
                    <a:moveTo>
                      <a:pt x="0" y="100013"/>
                    </a:moveTo>
                    <a:lnTo>
                      <a:pt x="44450" y="33338"/>
                    </a:lnTo>
                    <a:lnTo>
                      <a:pt x="88900" y="55563"/>
                    </a:lnTo>
                    <a:lnTo>
                      <a:pt x="133350" y="0"/>
                    </a:lnTo>
                    <a:lnTo>
                      <a:pt x="177801" y="44450"/>
                    </a:lnTo>
                  </a:path>
                </a:pathLst>
              </a:custGeom>
              <a:noFill/>
              <a:ln w="22225">
                <a:solidFill>
                  <a:srgbClr val="D82000"/>
                </a:solidFill>
              </a:ln>
            </p:spPr>
          </p:sp>
        </p:grpSp>
        <p:sp>
          <p:nvSpPr>
            <p:cNvPr id="48" name="TextBox 48"/>
            <p:cNvSpPr txBox="1"/>
            <p:nvPr/>
          </p:nvSpPr>
          <p:spPr>
            <a:xfrm>
              <a:off x="8167688" y="1047036"/>
              <a:ext cx="726376" cy="426244"/>
            </a:xfrm>
            <a:prstGeom prst="rect">
              <a:avLst/>
            </a:prstGeom>
            <a:noFill/>
            <a:ln>
              <a:noFill/>
            </a:ln>
          </p:spPr>
          <p:txBody>
            <a:bodyPr wrap="none" lIns="0" tIns="0" rIns="0" bIns="0" anchor="t" anchorCtr="0">
              <a:spAutoFit/>
            </a:bodyPr>
            <a:lstStyle/>
            <a:p>
              <a:pPr algn="l" marL="76644" indent="-76644">
                <a:lnSpc>
                  <a:spcPts val="1125"/>
                </a:lnSpc>
                <a:buClr>
                  <a:srgbClr val="3D3835"/>
                </a:buClr>
                <a:buSzTx/>
                <a:buFontTx/>
                <a:buChar char="•"/>
              </a:pPr>
              <a:r>
                <a:rPr lang="zh-CN" sz="710" dirty="0">
                  <a:solidFill>
                    <a:srgbClr val="3D3835"/>
                  </a:solidFill>
                  <a:latin typeface="+mn-lt"/>
                  <a:ea typeface="+mn-ea"/>
                  <a:cs typeface="+mn-cs"/>
                </a:rPr>
                <a:t>理财启蒙内容​​</a:t>
              </a:r>
            </a:p>
            <a:p>
              <a:pPr algn="l" marL="76644" indent="-76644">
                <a:lnSpc>
                  <a:spcPts val="1125"/>
                </a:lnSpc>
                <a:buClr>
                  <a:srgbClr val="3D3835"/>
                </a:buClr>
                <a:buSzTx/>
                <a:buFontTx/>
                <a:buChar char="•"/>
              </a:pPr>
              <a:r>
                <a:rPr lang="zh-CN" sz="710" dirty="0">
                  <a:solidFill>
                    <a:srgbClr val="3D3835"/>
                  </a:solidFill>
                  <a:latin typeface="+mn-lt"/>
                  <a:ea typeface="+mn-ea"/>
                  <a:cs typeface="+mn-cs"/>
                </a:rPr>
                <a:t>新客专属理财​​</a:t>
              </a:r>
            </a:p>
            <a:p>
              <a:pPr algn="l" marL="76644" indent="-76644">
                <a:lnSpc>
                  <a:spcPts val="1125"/>
                </a:lnSpc>
                <a:buClr>
                  <a:srgbClr val="3D3835"/>
                </a:buClr>
                <a:buSzTx/>
                <a:buFontTx/>
                <a:buChar char="•"/>
              </a:pPr>
              <a:r>
                <a:rPr lang="zh-CN" sz="710" dirty="0">
                  <a:solidFill>
                    <a:srgbClr val="3D3835"/>
                  </a:solidFill>
                  <a:latin typeface="+mn-lt"/>
                  <a:ea typeface="+mn-ea"/>
                  <a:cs typeface="+mn-cs"/>
                </a:rPr>
                <a:t>储蓄计划推荐​​</a:t>
              </a:r>
            </a:p>
          </p:txBody>
        </p:sp>
        <p:sp>
          <p:nvSpPr>
            <p:cNvPr id="49" name="TextBox 49"/>
            <p:cNvSpPr txBox="1"/>
            <p:nvPr/>
          </p:nvSpPr>
          <p:spPr>
            <a:xfrm>
              <a:off x="8101149" y="1666161"/>
              <a:ext cx="1171302"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​目标：建立资产配置习惯​</a:t>
              </a:r>
            </a:p>
          </p:txBody>
        </p:sp>
        <p:grpSp>
          <p:nvGrpSpPr>
            <p:cNvPr id="56" name="Group 56"/>
            <p:cNvGrpSpPr/>
            <p:nvPr/>
          </p:nvGrpSpPr>
          <p:grpSpPr>
            <a:xfrm>
              <a:off x="9912350" y="1157288"/>
              <a:ext cx="177801" cy="200026"/>
              <a:chOff x="9912350" y="1157288"/>
              <a:chExt cx="177801" cy="200026"/>
            </a:xfrm>
          </p:grpSpPr>
          <p:sp>
            <p:nvSpPr>
              <p:cNvPr id="50" name="Freeform 50"/>
              <p:cNvSpPr/>
              <p:nvPr/>
            </p:nvSpPr>
            <p:spPr>
              <a:xfrm>
                <a:off x="9912350" y="1179513"/>
                <a:ext cx="177801" cy="177801"/>
              </a:xfrm>
              <a:custGeom>
                <a:avLst/>
                <a:gdLst/>
                <a:ahLst/>
                <a:cxnLst/>
                <a:rect l="l" t="t" r="r" b="b"/>
                <a:pathLst>
                  <a:path w="177801" h="177801">
                    <a:moveTo>
                      <a:pt x="0" y="22225"/>
                    </a:moveTo>
                    <a:cubicBezTo>
                      <a:pt x="0" y="9950"/>
                      <a:pt x="9950" y="0"/>
                      <a:pt x="22225" y="0"/>
                    </a:cubicBezTo>
                    <a:lnTo>
                      <a:pt x="155575" y="0"/>
                    </a:lnTo>
                    <a:cubicBezTo>
                      <a:pt x="167850" y="0"/>
                      <a:pt x="177801" y="9950"/>
                      <a:pt x="177801" y="22225"/>
                    </a:cubicBezTo>
                    <a:lnTo>
                      <a:pt x="177801" y="155575"/>
                    </a:lnTo>
                    <a:cubicBezTo>
                      <a:pt x="177801" y="167850"/>
                      <a:pt x="167850" y="177801"/>
                      <a:pt x="155575" y="177801"/>
                    </a:cubicBezTo>
                    <a:lnTo>
                      <a:pt x="22225" y="177801"/>
                    </a:lnTo>
                    <a:cubicBezTo>
                      <a:pt x="9950" y="177801"/>
                      <a:pt x="0" y="167850"/>
                      <a:pt x="0" y="155575"/>
                    </a:cubicBezTo>
                    <a:lnTo>
                      <a:pt x="0" y="22225"/>
                    </a:lnTo>
                  </a:path>
                </a:pathLst>
              </a:custGeom>
              <a:noFill/>
              <a:ln w="22225">
                <a:solidFill>
                  <a:srgbClr val="D82000"/>
                </a:solidFill>
              </a:ln>
            </p:spPr>
          </p:sp>
          <p:sp>
            <p:nvSpPr>
              <p:cNvPr id="51" name="Freeform 51"/>
              <p:cNvSpPr/>
              <p:nvPr/>
            </p:nvSpPr>
            <p:spPr>
              <a:xfrm>
                <a:off x="10045701" y="1157288"/>
                <a:ext cx="9525" cy="44450"/>
              </a:xfrm>
              <a:custGeom>
                <a:avLst/>
                <a:gdLst/>
                <a:ahLst/>
                <a:cxnLst/>
                <a:rect l="l" t="t" r="r" b="b"/>
                <a:pathLst>
                  <a:path w="9525" h="44450">
                    <a:moveTo>
                      <a:pt x="0" y="0"/>
                    </a:moveTo>
                    <a:lnTo>
                      <a:pt x="0" y="44450"/>
                    </a:lnTo>
                  </a:path>
                </a:pathLst>
              </a:custGeom>
              <a:noFill/>
              <a:ln w="22225">
                <a:solidFill>
                  <a:srgbClr val="D82000"/>
                </a:solidFill>
              </a:ln>
            </p:spPr>
          </p:sp>
          <p:sp>
            <p:nvSpPr>
              <p:cNvPr id="52" name="Freeform 52"/>
              <p:cNvSpPr/>
              <p:nvPr/>
            </p:nvSpPr>
            <p:spPr>
              <a:xfrm>
                <a:off x="9956800" y="1157288"/>
                <a:ext cx="9525" cy="44450"/>
              </a:xfrm>
              <a:custGeom>
                <a:avLst/>
                <a:gdLst/>
                <a:ahLst/>
                <a:cxnLst/>
                <a:rect l="l" t="t" r="r" b="b"/>
                <a:pathLst>
                  <a:path w="9525" h="44450">
                    <a:moveTo>
                      <a:pt x="0" y="0"/>
                    </a:moveTo>
                    <a:lnTo>
                      <a:pt x="0" y="44450"/>
                    </a:lnTo>
                  </a:path>
                </a:pathLst>
              </a:custGeom>
              <a:noFill/>
              <a:ln w="22225">
                <a:solidFill>
                  <a:srgbClr val="D82000"/>
                </a:solidFill>
              </a:ln>
            </p:spPr>
          </p:sp>
          <p:sp>
            <p:nvSpPr>
              <p:cNvPr id="53" name="Freeform 53"/>
              <p:cNvSpPr/>
              <p:nvPr/>
            </p:nvSpPr>
            <p:spPr>
              <a:xfrm>
                <a:off x="9912350" y="1246188"/>
                <a:ext cx="177801" cy="9525"/>
              </a:xfrm>
              <a:custGeom>
                <a:avLst/>
                <a:gdLst/>
                <a:ahLst/>
                <a:cxnLst/>
                <a:rect l="l" t="t" r="r" b="b"/>
                <a:pathLst>
                  <a:path w="177801" h="9525">
                    <a:moveTo>
                      <a:pt x="0" y="0"/>
                    </a:moveTo>
                    <a:lnTo>
                      <a:pt x="177801" y="0"/>
                    </a:lnTo>
                  </a:path>
                </a:pathLst>
              </a:custGeom>
              <a:noFill/>
              <a:ln w="22225">
                <a:solidFill>
                  <a:srgbClr val="D82000"/>
                </a:solidFill>
              </a:ln>
            </p:spPr>
          </p:sp>
          <p:sp>
            <p:nvSpPr>
              <p:cNvPr id="54" name="Freeform 54"/>
              <p:cNvSpPr/>
              <p:nvPr/>
            </p:nvSpPr>
            <p:spPr>
              <a:xfrm>
                <a:off x="9990138" y="1290638"/>
                <a:ext cx="11113" cy="9525"/>
              </a:xfrm>
              <a:custGeom>
                <a:avLst/>
                <a:gdLst/>
                <a:ahLst/>
                <a:cxnLst/>
                <a:rect l="l" t="t" r="r" b="b"/>
                <a:pathLst>
                  <a:path w="11113" h="9525">
                    <a:moveTo>
                      <a:pt x="0" y="0"/>
                    </a:moveTo>
                    <a:lnTo>
                      <a:pt x="11113" y="0"/>
                    </a:lnTo>
                  </a:path>
                </a:pathLst>
              </a:custGeom>
              <a:noFill/>
              <a:ln w="22225">
                <a:solidFill>
                  <a:srgbClr val="D82000"/>
                </a:solidFill>
              </a:ln>
            </p:spPr>
          </p:sp>
          <p:sp>
            <p:nvSpPr>
              <p:cNvPr id="55" name="Freeform 55"/>
              <p:cNvSpPr/>
              <p:nvPr/>
            </p:nvSpPr>
            <p:spPr>
              <a:xfrm>
                <a:off x="10001250" y="1290638"/>
                <a:ext cx="9525" cy="33338"/>
              </a:xfrm>
              <a:custGeom>
                <a:avLst/>
                <a:gdLst/>
                <a:ahLst/>
                <a:cxnLst/>
                <a:rect l="l" t="t" r="r" b="b"/>
                <a:pathLst>
                  <a:path w="9525" h="33338">
                    <a:moveTo>
                      <a:pt x="0" y="0"/>
                    </a:moveTo>
                    <a:lnTo>
                      <a:pt x="0" y="33338"/>
                    </a:lnTo>
                  </a:path>
                </a:pathLst>
              </a:custGeom>
              <a:noFill/>
              <a:ln w="22225">
                <a:solidFill>
                  <a:srgbClr val="D82000"/>
                </a:solidFill>
              </a:ln>
            </p:spPr>
          </p:sp>
        </p:grpSp>
        <p:sp>
          <p:nvSpPr>
            <p:cNvPr id="57" name="TextBox 57"/>
            <p:cNvSpPr txBox="1"/>
            <p:nvPr/>
          </p:nvSpPr>
          <p:spPr>
            <a:xfrm>
              <a:off x="10244138" y="1047036"/>
              <a:ext cx="825564" cy="426244"/>
            </a:xfrm>
            <a:prstGeom prst="rect">
              <a:avLst/>
            </a:prstGeom>
            <a:noFill/>
            <a:ln>
              <a:noFill/>
            </a:ln>
          </p:spPr>
          <p:txBody>
            <a:bodyPr wrap="none" lIns="0" tIns="0" rIns="0" bIns="0" anchor="t" anchorCtr="0">
              <a:spAutoFit/>
            </a:bodyPr>
            <a:lstStyle/>
            <a:p>
              <a:pPr algn="l" marL="76644" indent="-76644">
                <a:lnSpc>
                  <a:spcPts val="1125"/>
                </a:lnSpc>
                <a:buClr>
                  <a:srgbClr val="3D3835"/>
                </a:buClr>
                <a:buSzTx/>
                <a:buFontTx/>
                <a:buChar char="•"/>
              </a:pPr>
              <a:r>
                <a:rPr lang="zh-CN" sz="710" dirty="0">
                  <a:solidFill>
                    <a:srgbClr val="3D3835"/>
                  </a:solidFill>
                  <a:latin typeface="+mn-lt"/>
                  <a:ea typeface="+mn-ea"/>
                  <a:cs typeface="+mn-cs"/>
                </a:rPr>
                <a:t>工资代发引导​​</a:t>
              </a:r>
            </a:p>
            <a:p>
              <a:pPr algn="l" marL="76644" indent="-76644">
                <a:lnSpc>
                  <a:spcPts val="1125"/>
                </a:lnSpc>
                <a:buClr>
                  <a:srgbClr val="3D3835"/>
                </a:buClr>
                <a:buSzTx/>
                <a:buFontTx/>
                <a:buChar char="•"/>
              </a:pPr>
              <a:r>
                <a:rPr lang="zh-CN" sz="710" dirty="0">
                  <a:solidFill>
                    <a:srgbClr val="3D3835"/>
                  </a:solidFill>
                  <a:latin typeface="+mn-lt"/>
                  <a:ea typeface="+mn-ea"/>
                  <a:cs typeface="+mn-cs"/>
                </a:rPr>
                <a:t>定期转账/还款​​​</a:t>
              </a:r>
            </a:p>
            <a:p>
              <a:pPr algn="l" marL="76644" indent="-76644">
                <a:lnSpc>
                  <a:spcPts val="1125"/>
                </a:lnSpc>
                <a:buClr>
                  <a:srgbClr val="3D3835"/>
                </a:buClr>
                <a:buSzTx/>
                <a:buFontTx/>
                <a:buChar char="•"/>
              </a:pPr>
              <a:r>
                <a:rPr lang="zh-CN" sz="710" dirty="0">
                  <a:solidFill>
                    <a:srgbClr val="3D3835"/>
                  </a:solidFill>
                  <a:latin typeface="+mn-lt"/>
                  <a:ea typeface="+mn-ea"/>
                  <a:cs typeface="+mn-cs"/>
                </a:rPr>
                <a:t>长期权益与陪伴​​</a:t>
              </a:r>
            </a:p>
          </p:txBody>
        </p:sp>
        <p:sp>
          <p:nvSpPr>
            <p:cNvPr id="58" name="TextBox 58"/>
            <p:cNvSpPr txBox="1"/>
            <p:nvPr/>
          </p:nvSpPr>
          <p:spPr>
            <a:xfrm>
              <a:off x="10273179" y="1666161"/>
              <a:ext cx="980142"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​目标：形成长期关系​</a:t>
              </a:r>
            </a:p>
          </p:txBody>
        </p:sp>
      </p:grpSp>
      <p:grpSp>
        <p:nvGrpSpPr>
          <p:cNvPr id="156" name="activation-funnel"/>
          <p:cNvGrpSpPr/>
          <p:nvPr/>
        </p:nvGrpSpPr>
        <p:grpSpPr>
          <a:xfrm>
            <a:off x="342900" y="1960245"/>
            <a:ext cx="2819846" cy="4688205"/>
            <a:chOff x="342900" y="1960245"/>
            <a:chExt cx="2819846" cy="4688205"/>
          </a:xfrm>
        </p:grpSpPr>
        <p:grpSp>
          <p:nvGrpSpPr>
            <p:cNvPr id="64" name="Group 64"/>
            <p:cNvGrpSpPr/>
            <p:nvPr/>
          </p:nvGrpSpPr>
          <p:grpSpPr>
            <a:xfrm>
              <a:off x="379809" y="1966912"/>
              <a:ext cx="107157" cy="104775"/>
              <a:chOff x="379809" y="1966912"/>
              <a:chExt cx="107157" cy="104775"/>
            </a:xfrm>
          </p:grpSpPr>
          <p:sp>
            <p:nvSpPr>
              <p:cNvPr id="60" name="Freeform 60"/>
              <p:cNvSpPr/>
              <p:nvPr/>
            </p:nvSpPr>
            <p:spPr>
              <a:xfrm>
                <a:off x="379809" y="2014538"/>
                <a:ext cx="35719" cy="47625"/>
              </a:xfrm>
              <a:custGeom>
                <a:avLst/>
                <a:gdLst/>
                <a:ahLst/>
                <a:cxnLst/>
                <a:rect l="l" t="t" r="r" b="b"/>
                <a:pathLst>
                  <a:path w="35719" h="47625">
                    <a:moveTo>
                      <a:pt x="0" y="5953"/>
                    </a:moveTo>
                    <a:cubicBezTo>
                      <a:pt x="0" y="2665"/>
                      <a:pt x="2665" y="0"/>
                      <a:pt x="5953" y="0"/>
                    </a:cubicBezTo>
                    <a:lnTo>
                      <a:pt x="29766" y="0"/>
                    </a:lnTo>
                    <a:cubicBezTo>
                      <a:pt x="33053" y="0"/>
                      <a:pt x="35719" y="2665"/>
                      <a:pt x="35719" y="5953"/>
                    </a:cubicBezTo>
                    <a:lnTo>
                      <a:pt x="35719" y="41672"/>
                    </a:lnTo>
                    <a:cubicBezTo>
                      <a:pt x="35719" y="44960"/>
                      <a:pt x="33053" y="47625"/>
                      <a:pt x="29766" y="47625"/>
                    </a:cubicBezTo>
                    <a:lnTo>
                      <a:pt x="5953" y="47625"/>
                    </a:lnTo>
                    <a:cubicBezTo>
                      <a:pt x="2665" y="47625"/>
                      <a:pt x="0" y="44960"/>
                      <a:pt x="0" y="41672"/>
                    </a:cubicBezTo>
                    <a:lnTo>
                      <a:pt x="0" y="5953"/>
                    </a:lnTo>
                  </a:path>
                </a:pathLst>
              </a:custGeom>
              <a:noFill/>
              <a:ln w="11906">
                <a:solidFill>
                  <a:srgbClr val="C41D00"/>
                </a:solidFill>
              </a:ln>
            </p:spPr>
          </p:sp>
          <p:sp>
            <p:nvSpPr>
              <p:cNvPr id="61" name="Freeform 61"/>
              <p:cNvSpPr/>
              <p:nvPr/>
            </p:nvSpPr>
            <p:spPr>
              <a:xfrm>
                <a:off x="451247" y="1990725"/>
                <a:ext cx="35719" cy="71438"/>
              </a:xfrm>
              <a:custGeom>
                <a:avLst/>
                <a:gdLst/>
                <a:ahLst/>
                <a:cxnLst/>
                <a:rect l="l" t="t" r="r" b="b"/>
                <a:pathLst>
                  <a:path w="35719" h="71438">
                    <a:moveTo>
                      <a:pt x="0" y="5953"/>
                    </a:moveTo>
                    <a:cubicBezTo>
                      <a:pt x="0" y="2665"/>
                      <a:pt x="2665" y="0"/>
                      <a:pt x="5953" y="0"/>
                    </a:cubicBezTo>
                    <a:lnTo>
                      <a:pt x="29766" y="0"/>
                    </a:lnTo>
                    <a:cubicBezTo>
                      <a:pt x="33053" y="0"/>
                      <a:pt x="35719" y="2665"/>
                      <a:pt x="35719" y="5953"/>
                    </a:cubicBezTo>
                    <a:lnTo>
                      <a:pt x="35719" y="65484"/>
                    </a:lnTo>
                    <a:cubicBezTo>
                      <a:pt x="35719" y="68772"/>
                      <a:pt x="33053" y="71438"/>
                      <a:pt x="29766" y="71438"/>
                    </a:cubicBezTo>
                    <a:lnTo>
                      <a:pt x="5953" y="71438"/>
                    </a:lnTo>
                    <a:cubicBezTo>
                      <a:pt x="2665" y="71438"/>
                      <a:pt x="0" y="68772"/>
                      <a:pt x="0" y="65484"/>
                    </a:cubicBezTo>
                    <a:lnTo>
                      <a:pt x="0" y="5953"/>
                    </a:lnTo>
                  </a:path>
                </a:pathLst>
              </a:custGeom>
              <a:noFill/>
              <a:ln w="11906">
                <a:solidFill>
                  <a:srgbClr val="C41D00"/>
                </a:solidFill>
              </a:ln>
            </p:spPr>
          </p:sp>
          <p:sp>
            <p:nvSpPr>
              <p:cNvPr id="62" name="Freeform 62"/>
              <p:cNvSpPr/>
              <p:nvPr/>
            </p:nvSpPr>
            <p:spPr>
              <a:xfrm>
                <a:off x="415528" y="1966912"/>
                <a:ext cx="35719" cy="95250"/>
              </a:xfrm>
              <a:custGeom>
                <a:avLst/>
                <a:gdLst/>
                <a:ahLst/>
                <a:cxnLst/>
                <a:rect l="l" t="t" r="r" b="b"/>
                <a:pathLst>
                  <a:path w="35719" h="95250">
                    <a:moveTo>
                      <a:pt x="0" y="5953"/>
                    </a:moveTo>
                    <a:cubicBezTo>
                      <a:pt x="0" y="2665"/>
                      <a:pt x="2665" y="0"/>
                      <a:pt x="5953" y="0"/>
                    </a:cubicBezTo>
                    <a:lnTo>
                      <a:pt x="29766" y="0"/>
                    </a:lnTo>
                    <a:cubicBezTo>
                      <a:pt x="33053" y="0"/>
                      <a:pt x="35719" y="2665"/>
                      <a:pt x="35719" y="5953"/>
                    </a:cubicBezTo>
                    <a:lnTo>
                      <a:pt x="35719" y="89297"/>
                    </a:lnTo>
                    <a:cubicBezTo>
                      <a:pt x="35719" y="92585"/>
                      <a:pt x="33053" y="95250"/>
                      <a:pt x="29766" y="95250"/>
                    </a:cubicBezTo>
                    <a:lnTo>
                      <a:pt x="5953" y="95250"/>
                    </a:lnTo>
                    <a:cubicBezTo>
                      <a:pt x="2665" y="95250"/>
                      <a:pt x="0" y="92585"/>
                      <a:pt x="0" y="89297"/>
                    </a:cubicBezTo>
                    <a:lnTo>
                      <a:pt x="0" y="5953"/>
                    </a:lnTo>
                  </a:path>
                </a:pathLst>
              </a:custGeom>
              <a:noFill/>
              <a:ln w="11906">
                <a:solidFill>
                  <a:srgbClr val="C41D00"/>
                </a:solidFill>
              </a:ln>
            </p:spPr>
          </p:sp>
          <p:sp>
            <p:nvSpPr>
              <p:cNvPr id="63" name="Freeform 63"/>
              <p:cNvSpPr/>
              <p:nvPr/>
            </p:nvSpPr>
            <p:spPr>
              <a:xfrm>
                <a:off x="385762" y="2062162"/>
                <a:ext cx="83344" cy="9525"/>
              </a:xfrm>
              <a:custGeom>
                <a:avLst/>
                <a:gdLst/>
                <a:ahLst/>
                <a:cxnLst/>
                <a:rect l="l" t="t" r="r" b="b"/>
                <a:pathLst>
                  <a:path w="83344" h="9525">
                    <a:moveTo>
                      <a:pt x="0" y="0"/>
                    </a:moveTo>
                    <a:lnTo>
                      <a:pt x="83344" y="0"/>
                    </a:lnTo>
                  </a:path>
                </a:pathLst>
              </a:custGeom>
              <a:noFill/>
              <a:ln w="11906">
                <a:solidFill>
                  <a:srgbClr val="C41D00"/>
                </a:solidFill>
              </a:ln>
            </p:spPr>
          </p:sp>
        </p:grpSp>
        <p:sp>
          <p:nvSpPr>
            <p:cNvPr id="65" name="TextBox 65"/>
            <p:cNvSpPr txBox="1"/>
            <p:nvPr/>
          </p:nvSpPr>
          <p:spPr>
            <a:xfrm>
              <a:off x="547688" y="1960245"/>
              <a:ext cx="2018022" cy="176212"/>
            </a:xfrm>
            <a:prstGeom prst="rect">
              <a:avLst/>
            </a:prstGeom>
            <a:noFill/>
            <a:ln>
              <a:noFill/>
            </a:ln>
          </p:spPr>
          <p:txBody>
            <a:bodyPr wrap="none" lIns="0" tIns="0" rIns="0" bIns="0" anchor="t" anchorCtr="0">
              <a:spAutoFit/>
            </a:bodyPr>
            <a:lstStyle/>
            <a:p>
              <a:pPr algn="l"/>
              <a:r>
                <a:rPr lang="zh-CN" sz="900" b="1" dirty="0">
                  <a:solidFill>
                    <a:srgbClr val="C41D00"/>
                  </a:solidFill>
                  <a:latin typeface="+mn-lt"/>
                  <a:ea typeface="+mn-ea"/>
                  <a:cs typeface="+mn-cs"/>
                </a:rPr>
                <a:t>新客转化漏斗（开户当月整体数据）​</a:t>
              </a:r>
            </a:p>
          </p:txBody>
        </p:sp>
        <p:sp>
          <p:nvSpPr>
            <p:cNvPr id="66" name="Rectangle 66"/>
            <p:cNvSpPr/>
            <p:nvPr/>
          </p:nvSpPr>
          <p:spPr>
            <a:xfrm>
              <a:off x="342900" y="2152650"/>
              <a:ext cx="2819400" cy="190500"/>
            </a:xfrm>
            <a:prstGeom prst="rect">
              <a:avLst/>
            </a:prstGeom>
            <a:solidFill>
              <a:srgbClr val="FEF2E6"/>
            </a:solidFill>
            <a:ln w="9525">
              <a:solidFill>
                <a:srgbClr val="F0B8AE"/>
              </a:solidFill>
            </a:ln>
          </p:spPr>
        </p:sp>
        <p:sp>
          <p:nvSpPr>
            <p:cNvPr id="67" name="TextBox 67"/>
            <p:cNvSpPr txBox="1"/>
            <p:nvPr/>
          </p:nvSpPr>
          <p:spPr>
            <a:xfrm>
              <a:off x="956932" y="2209086"/>
              <a:ext cx="200685"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阶段</a:t>
              </a:r>
            </a:p>
          </p:txBody>
        </p:sp>
        <p:sp>
          <p:nvSpPr>
            <p:cNvPr id="68" name="TextBox 68"/>
            <p:cNvSpPr txBox="1"/>
            <p:nvPr/>
          </p:nvSpPr>
          <p:spPr>
            <a:xfrm>
              <a:off x="1785112" y="2209086"/>
              <a:ext cx="48742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人数（人）</a:t>
              </a:r>
            </a:p>
          </p:txBody>
        </p:sp>
        <p:sp>
          <p:nvSpPr>
            <p:cNvPr id="69" name="TextBox 69"/>
            <p:cNvSpPr txBox="1"/>
            <p:nvPr/>
          </p:nvSpPr>
          <p:spPr>
            <a:xfrm>
              <a:off x="2347417" y="2209086"/>
              <a:ext cx="29626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转化率</a:t>
              </a:r>
            </a:p>
          </p:txBody>
        </p:sp>
        <p:sp>
          <p:nvSpPr>
            <p:cNvPr id="70" name="TextBox 70"/>
            <p:cNvSpPr txBox="1"/>
            <p:nvPr/>
          </p:nvSpPr>
          <p:spPr>
            <a:xfrm>
              <a:off x="2699677" y="22090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较上阶段</a:t>
              </a:r>
            </a:p>
          </p:txBody>
        </p:sp>
        <p:sp>
          <p:nvSpPr>
            <p:cNvPr id="71" name="Rectangle 71"/>
            <p:cNvSpPr/>
            <p:nvPr/>
          </p:nvSpPr>
          <p:spPr>
            <a:xfrm>
              <a:off x="342900" y="2343150"/>
              <a:ext cx="2819400" cy="2400300"/>
            </a:xfrm>
            <a:prstGeom prst="rect">
              <a:avLst/>
            </a:prstGeom>
            <a:solidFill>
              <a:srgbClr val="FFFFFF"/>
            </a:solidFill>
            <a:ln w="9525">
              <a:solidFill>
                <a:srgbClr val="F0B8AE"/>
              </a:solidFill>
            </a:ln>
          </p:spPr>
        </p:sp>
        <p:sp>
          <p:nvSpPr>
            <p:cNvPr id="72" name="Rectangle 72"/>
            <p:cNvSpPr/>
            <p:nvPr/>
          </p:nvSpPr>
          <p:spPr>
            <a:xfrm>
              <a:off x="381000" y="2390775"/>
              <a:ext cx="1390650" cy="304800"/>
            </a:xfrm>
            <a:prstGeom prst="roundRect">
              <a:avLst>
                <a:gd name="adj" fmla="val 9375"/>
              </a:avLst>
            </a:prstGeom>
            <a:solidFill>
              <a:srgbClr val="F57E6A"/>
            </a:solidFill>
            <a:ln>
              <a:noFill/>
            </a:ln>
          </p:spPr>
        </p:sp>
        <p:grpSp>
          <p:nvGrpSpPr>
            <p:cNvPr id="81" name="Group 81"/>
            <p:cNvGrpSpPr/>
            <p:nvPr/>
          </p:nvGrpSpPr>
          <p:grpSpPr>
            <a:xfrm>
              <a:off x="457200" y="2486025"/>
              <a:ext cx="117475" cy="123825"/>
              <a:chOff x="457200" y="2486025"/>
              <a:chExt cx="117475" cy="123825"/>
            </a:xfrm>
          </p:grpSpPr>
          <p:sp>
            <p:nvSpPr>
              <p:cNvPr id="73" name="Freeform 73"/>
              <p:cNvSpPr/>
              <p:nvPr/>
            </p:nvSpPr>
            <p:spPr>
              <a:xfrm>
                <a:off x="457200" y="2600325"/>
                <a:ext cx="114300" cy="9525"/>
              </a:xfrm>
              <a:custGeom>
                <a:avLst/>
                <a:gdLst/>
                <a:ahLst/>
                <a:cxnLst/>
                <a:rect l="l" t="t" r="r" b="b"/>
                <a:pathLst>
                  <a:path w="114300" h="9525">
                    <a:moveTo>
                      <a:pt x="0" y="0"/>
                    </a:moveTo>
                    <a:lnTo>
                      <a:pt x="114300" y="0"/>
                    </a:lnTo>
                  </a:path>
                </a:pathLst>
              </a:custGeom>
              <a:noFill/>
              <a:ln w="12700">
                <a:solidFill>
                  <a:srgbClr val="8F1C08"/>
                </a:solidFill>
              </a:ln>
            </p:spPr>
          </p:sp>
          <p:sp>
            <p:nvSpPr>
              <p:cNvPr id="74" name="Freeform 74"/>
              <p:cNvSpPr/>
              <p:nvPr/>
            </p:nvSpPr>
            <p:spPr>
              <a:xfrm>
                <a:off x="457200" y="2530475"/>
                <a:ext cx="114300" cy="9525"/>
              </a:xfrm>
              <a:custGeom>
                <a:avLst/>
                <a:gdLst/>
                <a:ahLst/>
                <a:cxnLst/>
                <a:rect l="l" t="t" r="r" b="b"/>
                <a:pathLst>
                  <a:path w="114300" h="9525">
                    <a:moveTo>
                      <a:pt x="0" y="0"/>
                    </a:moveTo>
                    <a:lnTo>
                      <a:pt x="114300" y="0"/>
                    </a:lnTo>
                  </a:path>
                </a:pathLst>
              </a:custGeom>
              <a:noFill/>
              <a:ln w="12700">
                <a:solidFill>
                  <a:srgbClr val="8F1C08"/>
                </a:solidFill>
              </a:ln>
            </p:spPr>
          </p:sp>
          <p:sp>
            <p:nvSpPr>
              <p:cNvPr id="75" name="Freeform 75"/>
              <p:cNvSpPr/>
              <p:nvPr/>
            </p:nvSpPr>
            <p:spPr>
              <a:xfrm>
                <a:off x="469900" y="2486025"/>
                <a:ext cx="88900" cy="19050"/>
              </a:xfrm>
              <a:custGeom>
                <a:avLst/>
                <a:gdLst/>
                <a:ahLst/>
                <a:cxnLst/>
                <a:rect l="l" t="t" r="r" b="b"/>
                <a:pathLst>
                  <a:path w="88900" h="19050">
                    <a:moveTo>
                      <a:pt x="0" y="19050"/>
                    </a:moveTo>
                    <a:lnTo>
                      <a:pt x="44450" y="0"/>
                    </a:lnTo>
                    <a:lnTo>
                      <a:pt x="88900" y="19050"/>
                    </a:lnTo>
                  </a:path>
                </a:pathLst>
              </a:custGeom>
              <a:noFill/>
              <a:ln w="12700">
                <a:solidFill>
                  <a:srgbClr val="8F1C08"/>
                </a:solidFill>
              </a:ln>
            </p:spPr>
          </p:sp>
          <p:sp>
            <p:nvSpPr>
              <p:cNvPr id="76" name="Freeform 76"/>
              <p:cNvSpPr/>
              <p:nvPr/>
            </p:nvSpPr>
            <p:spPr>
              <a:xfrm>
                <a:off x="463550" y="2530475"/>
                <a:ext cx="9525" cy="69850"/>
              </a:xfrm>
              <a:custGeom>
                <a:avLst/>
                <a:gdLst/>
                <a:ahLst/>
                <a:cxnLst/>
                <a:rect l="l" t="t" r="r" b="b"/>
                <a:pathLst>
                  <a:path w="9525" h="69850">
                    <a:moveTo>
                      <a:pt x="0" y="0"/>
                    </a:moveTo>
                    <a:lnTo>
                      <a:pt x="0" y="69850"/>
                    </a:lnTo>
                  </a:path>
                </a:pathLst>
              </a:custGeom>
              <a:noFill/>
              <a:ln w="12700">
                <a:solidFill>
                  <a:srgbClr val="8F1C08"/>
                </a:solidFill>
              </a:ln>
            </p:spPr>
          </p:sp>
          <p:sp>
            <p:nvSpPr>
              <p:cNvPr id="77" name="Freeform 77"/>
              <p:cNvSpPr/>
              <p:nvPr/>
            </p:nvSpPr>
            <p:spPr>
              <a:xfrm>
                <a:off x="565150" y="2530475"/>
                <a:ext cx="9525" cy="69850"/>
              </a:xfrm>
              <a:custGeom>
                <a:avLst/>
                <a:gdLst/>
                <a:ahLst/>
                <a:cxnLst/>
                <a:rect l="l" t="t" r="r" b="b"/>
                <a:pathLst>
                  <a:path w="9525" h="69850">
                    <a:moveTo>
                      <a:pt x="0" y="0"/>
                    </a:moveTo>
                    <a:lnTo>
                      <a:pt x="0" y="69850"/>
                    </a:lnTo>
                  </a:path>
                </a:pathLst>
              </a:custGeom>
              <a:noFill/>
              <a:ln w="12700">
                <a:solidFill>
                  <a:srgbClr val="8F1C08"/>
                </a:solidFill>
              </a:ln>
            </p:spPr>
          </p:sp>
          <p:sp>
            <p:nvSpPr>
              <p:cNvPr id="78" name="Freeform 78"/>
              <p:cNvSpPr/>
              <p:nvPr/>
            </p:nvSpPr>
            <p:spPr>
              <a:xfrm>
                <a:off x="488950" y="2555875"/>
                <a:ext cx="9525" cy="19050"/>
              </a:xfrm>
              <a:custGeom>
                <a:avLst/>
                <a:gdLst/>
                <a:ahLst/>
                <a:cxnLst/>
                <a:rect l="l" t="t" r="r" b="b"/>
                <a:pathLst>
                  <a:path w="9525" h="19050">
                    <a:moveTo>
                      <a:pt x="0" y="0"/>
                    </a:moveTo>
                    <a:lnTo>
                      <a:pt x="0" y="19050"/>
                    </a:lnTo>
                  </a:path>
                </a:pathLst>
              </a:custGeom>
              <a:noFill/>
              <a:ln w="12700">
                <a:solidFill>
                  <a:srgbClr val="8F1C08"/>
                </a:solidFill>
              </a:ln>
            </p:spPr>
          </p:sp>
          <p:sp>
            <p:nvSpPr>
              <p:cNvPr id="79" name="Freeform 79"/>
              <p:cNvSpPr/>
              <p:nvPr/>
            </p:nvSpPr>
            <p:spPr>
              <a:xfrm>
                <a:off x="514350" y="2555875"/>
                <a:ext cx="9525" cy="19050"/>
              </a:xfrm>
              <a:custGeom>
                <a:avLst/>
                <a:gdLst/>
                <a:ahLst/>
                <a:cxnLst/>
                <a:rect l="l" t="t" r="r" b="b"/>
                <a:pathLst>
                  <a:path w="9525" h="19050">
                    <a:moveTo>
                      <a:pt x="0" y="0"/>
                    </a:moveTo>
                    <a:lnTo>
                      <a:pt x="0" y="19050"/>
                    </a:lnTo>
                  </a:path>
                </a:pathLst>
              </a:custGeom>
              <a:noFill/>
              <a:ln w="12700">
                <a:solidFill>
                  <a:srgbClr val="8F1C08"/>
                </a:solidFill>
              </a:ln>
            </p:spPr>
          </p:sp>
          <p:sp>
            <p:nvSpPr>
              <p:cNvPr id="80" name="Freeform 80"/>
              <p:cNvSpPr/>
              <p:nvPr/>
            </p:nvSpPr>
            <p:spPr>
              <a:xfrm>
                <a:off x="539750" y="2555875"/>
                <a:ext cx="9525" cy="19050"/>
              </a:xfrm>
              <a:custGeom>
                <a:avLst/>
                <a:gdLst/>
                <a:ahLst/>
                <a:cxnLst/>
                <a:rect l="l" t="t" r="r" b="b"/>
                <a:pathLst>
                  <a:path w="9525" h="19050">
                    <a:moveTo>
                      <a:pt x="0" y="0"/>
                    </a:moveTo>
                    <a:lnTo>
                      <a:pt x="0" y="19050"/>
                    </a:lnTo>
                  </a:path>
                </a:pathLst>
              </a:custGeom>
              <a:noFill/>
              <a:ln w="12700">
                <a:solidFill>
                  <a:srgbClr val="8F1C08"/>
                </a:solidFill>
              </a:ln>
            </p:spPr>
          </p:sp>
        </p:grpSp>
        <p:sp>
          <p:nvSpPr>
            <p:cNvPr id="82" name="TextBox 82"/>
            <p:cNvSpPr txBox="1"/>
            <p:nvPr/>
          </p:nvSpPr>
          <p:spPr>
            <a:xfrm>
              <a:off x="642938" y="2504361"/>
              <a:ext cx="865243"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开户成功（D0）​​​</a:t>
              </a:r>
            </a:p>
          </p:txBody>
        </p:sp>
        <p:sp>
          <p:nvSpPr>
            <p:cNvPr id="83" name="TextBox 83"/>
            <p:cNvSpPr txBox="1"/>
            <p:nvPr/>
          </p:nvSpPr>
          <p:spPr>
            <a:xfrm>
              <a:off x="1761680" y="2500312"/>
              <a:ext cx="534291"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​120,000​</a:t>
              </a:r>
            </a:p>
          </p:txBody>
        </p:sp>
        <p:sp>
          <p:nvSpPr>
            <p:cNvPr id="84" name="TextBox 84"/>
            <p:cNvSpPr txBox="1"/>
            <p:nvPr/>
          </p:nvSpPr>
          <p:spPr>
            <a:xfrm>
              <a:off x="2258568" y="2500312"/>
              <a:ext cx="473964"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​100.0%​</a:t>
              </a:r>
            </a:p>
          </p:txBody>
        </p:sp>
        <p:sp>
          <p:nvSpPr>
            <p:cNvPr id="85" name="TextBox 85"/>
            <p:cNvSpPr txBox="1"/>
            <p:nvPr/>
          </p:nvSpPr>
          <p:spPr>
            <a:xfrm>
              <a:off x="2807541" y="2500312"/>
              <a:ext cx="176117" cy="147638"/>
            </a:xfrm>
            <a:prstGeom prst="rect">
              <a:avLst/>
            </a:prstGeom>
            <a:noFill/>
            <a:ln>
              <a:noFill/>
            </a:ln>
          </p:spPr>
          <p:txBody>
            <a:bodyPr wrap="none" lIns="0" tIns="0" rIns="0" bIns="0" anchor="t" anchorCtr="0">
              <a:spAutoFit/>
            </a:bodyPr>
            <a:lstStyle/>
            <a:p>
              <a:pPr algn="ctr"/>
              <a:r>
                <a:rPr lang="zh-CN" sz="750" dirty="0">
                  <a:solidFill>
                    <a:srgbClr val="7A716B"/>
                  </a:solidFill>
                  <a:latin typeface="+mn-lt"/>
                  <a:ea typeface="+mn-ea"/>
                  <a:cs typeface="+mn-cs"/>
                </a:rPr>
                <a:t>​—​</a:t>
              </a:r>
            </a:p>
          </p:txBody>
        </p:sp>
        <p:sp>
          <p:nvSpPr>
            <p:cNvPr id="86" name="Rectangle 86"/>
            <p:cNvSpPr/>
            <p:nvPr/>
          </p:nvSpPr>
          <p:spPr>
            <a:xfrm>
              <a:off x="381000" y="2790825"/>
              <a:ext cx="1314450" cy="304800"/>
            </a:xfrm>
            <a:prstGeom prst="roundRect">
              <a:avLst>
                <a:gd name="adj" fmla="val 9375"/>
              </a:avLst>
            </a:prstGeom>
            <a:solidFill>
              <a:srgbClr val="F7907E"/>
            </a:solidFill>
            <a:ln>
              <a:noFill/>
            </a:ln>
          </p:spPr>
        </p:sp>
        <p:grpSp>
          <p:nvGrpSpPr>
            <p:cNvPr id="90" name="Group 90"/>
            <p:cNvGrpSpPr/>
            <p:nvPr/>
          </p:nvGrpSpPr>
          <p:grpSpPr>
            <a:xfrm>
              <a:off x="476250" y="2886075"/>
              <a:ext cx="76200" cy="114300"/>
              <a:chOff x="476250" y="2886075"/>
              <a:chExt cx="76200" cy="114300"/>
            </a:xfrm>
          </p:grpSpPr>
          <p:sp>
            <p:nvSpPr>
              <p:cNvPr id="87" name="Freeform 87"/>
              <p:cNvSpPr/>
              <p:nvPr/>
            </p:nvSpPr>
            <p:spPr>
              <a:xfrm>
                <a:off x="476250" y="2886075"/>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8F1C08"/>
                </a:solidFill>
              </a:ln>
            </p:spPr>
          </p:sp>
          <p:sp>
            <p:nvSpPr>
              <p:cNvPr id="88" name="Freeform 88"/>
              <p:cNvSpPr/>
              <p:nvPr/>
            </p:nvSpPr>
            <p:spPr>
              <a:xfrm>
                <a:off x="508000" y="2892425"/>
                <a:ext cx="12700" cy="9525"/>
              </a:xfrm>
              <a:custGeom>
                <a:avLst/>
                <a:gdLst/>
                <a:ahLst/>
                <a:cxnLst/>
                <a:rect l="l" t="t" r="r" b="b"/>
                <a:pathLst>
                  <a:path w="12700" h="9525">
                    <a:moveTo>
                      <a:pt x="0" y="0"/>
                    </a:moveTo>
                    <a:lnTo>
                      <a:pt x="12700" y="0"/>
                    </a:lnTo>
                  </a:path>
                </a:pathLst>
              </a:custGeom>
              <a:noFill/>
              <a:ln w="12700">
                <a:solidFill>
                  <a:srgbClr val="8F1C08"/>
                </a:solidFill>
              </a:ln>
            </p:spPr>
          </p:sp>
          <p:sp>
            <p:nvSpPr>
              <p:cNvPr id="89" name="Freeform 89"/>
              <p:cNvSpPr/>
              <p:nvPr/>
            </p:nvSpPr>
            <p:spPr>
              <a:xfrm>
                <a:off x="514350" y="2974975"/>
                <a:ext cx="9525" cy="9525"/>
              </a:xfrm>
              <a:custGeom>
                <a:avLst/>
                <a:gdLst/>
                <a:ahLst/>
                <a:cxnLst/>
                <a:rect l="l" t="t" r="r" b="b"/>
                <a:pathLst>
                  <a:path w="9525" h="9525">
                    <a:moveTo>
                      <a:pt x="0" y="0"/>
                    </a:moveTo>
                    <a:lnTo>
                      <a:pt x="0" y="64"/>
                    </a:lnTo>
                  </a:path>
                </a:pathLst>
              </a:custGeom>
              <a:noFill/>
              <a:ln w="12700">
                <a:solidFill>
                  <a:srgbClr val="8F1C08"/>
                </a:solidFill>
              </a:ln>
            </p:spPr>
          </p:sp>
        </p:grpSp>
        <p:sp>
          <p:nvSpPr>
            <p:cNvPr id="91" name="TextBox 91"/>
            <p:cNvSpPr txBox="1"/>
            <p:nvPr/>
          </p:nvSpPr>
          <p:spPr>
            <a:xfrm>
              <a:off x="642938" y="2904411"/>
              <a:ext cx="1173047"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完成首次登录（D1–3）​​​</a:t>
              </a:r>
            </a:p>
          </p:txBody>
        </p:sp>
        <p:sp>
          <p:nvSpPr>
            <p:cNvPr id="92" name="TextBox 92"/>
            <p:cNvSpPr txBox="1"/>
            <p:nvPr/>
          </p:nvSpPr>
          <p:spPr>
            <a:xfrm>
              <a:off x="1790833" y="2900362"/>
              <a:ext cx="475983"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​88,800​</a:t>
              </a:r>
            </a:p>
          </p:txBody>
        </p:sp>
        <p:sp>
          <p:nvSpPr>
            <p:cNvPr id="93" name="TextBox 93"/>
            <p:cNvSpPr txBox="1"/>
            <p:nvPr/>
          </p:nvSpPr>
          <p:spPr>
            <a:xfrm>
              <a:off x="2286333" y="2900362"/>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​74.0%​</a:t>
              </a:r>
            </a:p>
          </p:txBody>
        </p:sp>
        <p:sp>
          <p:nvSpPr>
            <p:cNvPr id="94" name="TextBox 94"/>
            <p:cNvSpPr txBox="1"/>
            <p:nvPr/>
          </p:nvSpPr>
          <p:spPr>
            <a:xfrm>
              <a:off x="2628455" y="2900362"/>
              <a:ext cx="534291" cy="147638"/>
            </a:xfrm>
            <a:prstGeom prst="rect">
              <a:avLst/>
            </a:prstGeom>
            <a:noFill/>
            <a:ln>
              <a:noFill/>
            </a:ln>
          </p:spPr>
          <p:txBody>
            <a:bodyPr wrap="none" lIns="0" tIns="0" rIns="0" bIns="0" anchor="t" anchorCtr="0">
              <a:spAutoFit/>
            </a:bodyPr>
            <a:lstStyle/>
            <a:p>
              <a:pPr algn="ctr"/>
              <a:r>
                <a:rPr lang="en-US" sz="750" b="1" dirty="0">
                  <a:solidFill>
                    <a:srgbClr val="C41D00"/>
                  </a:solidFill>
                  <a:latin typeface="+mn-lt"/>
                  <a:ea typeface="+mn-ea"/>
                  <a:cs typeface="+mn-cs"/>
                </a:rPr>
                <a:t>​-26.0pp​</a:t>
              </a:r>
            </a:p>
          </p:txBody>
        </p:sp>
        <p:sp>
          <p:nvSpPr>
            <p:cNvPr id="95" name="Rectangle 95"/>
            <p:cNvSpPr/>
            <p:nvPr/>
          </p:nvSpPr>
          <p:spPr>
            <a:xfrm>
              <a:off x="381000" y="3190875"/>
              <a:ext cx="1238250" cy="304800"/>
            </a:xfrm>
            <a:prstGeom prst="roundRect">
              <a:avLst>
                <a:gd name="adj" fmla="val 9375"/>
              </a:avLst>
            </a:prstGeom>
            <a:solidFill>
              <a:srgbClr val="F9A192"/>
            </a:solidFill>
            <a:ln>
              <a:noFill/>
            </a:ln>
          </p:spPr>
        </p:sp>
        <p:grpSp>
          <p:nvGrpSpPr>
            <p:cNvPr id="100" name="Group 100"/>
            <p:cNvGrpSpPr/>
            <p:nvPr/>
          </p:nvGrpSpPr>
          <p:grpSpPr>
            <a:xfrm>
              <a:off x="457200" y="3298825"/>
              <a:ext cx="114300" cy="88900"/>
              <a:chOff x="457200" y="3298825"/>
              <a:chExt cx="114300" cy="88900"/>
            </a:xfrm>
          </p:grpSpPr>
          <p:sp>
            <p:nvSpPr>
              <p:cNvPr id="96" name="Freeform 96"/>
              <p:cNvSpPr/>
              <p:nvPr/>
            </p:nvSpPr>
            <p:spPr>
              <a:xfrm>
                <a:off x="457200" y="3298825"/>
                <a:ext cx="114300" cy="88900"/>
              </a:xfrm>
              <a:custGeom>
                <a:avLst/>
                <a:gdLst/>
                <a:ahLst/>
                <a:cxnLst/>
                <a:rect l="l" t="t" r="r" b="b"/>
                <a:pathLst>
                  <a:path w="114300" h="88900">
                    <a:moveTo>
                      <a:pt x="0" y="19050"/>
                    </a:moveTo>
                    <a:cubicBezTo>
                      <a:pt x="0" y="8529"/>
                      <a:pt x="8529" y="0"/>
                      <a:pt x="19050" y="0"/>
                    </a:cubicBezTo>
                    <a:lnTo>
                      <a:pt x="95250" y="0"/>
                    </a:lnTo>
                    <a:cubicBezTo>
                      <a:pt x="105771" y="0"/>
                      <a:pt x="114300" y="8529"/>
                      <a:pt x="114300" y="19050"/>
                    </a:cubicBezTo>
                    <a:lnTo>
                      <a:pt x="114300" y="69850"/>
                    </a:lnTo>
                    <a:cubicBezTo>
                      <a:pt x="114300" y="80371"/>
                      <a:pt x="105771" y="88900"/>
                      <a:pt x="95250" y="88900"/>
                    </a:cubicBezTo>
                    <a:lnTo>
                      <a:pt x="19050" y="88900"/>
                    </a:lnTo>
                    <a:cubicBezTo>
                      <a:pt x="8529" y="88900"/>
                      <a:pt x="0" y="80371"/>
                      <a:pt x="0" y="69850"/>
                    </a:cubicBezTo>
                    <a:lnTo>
                      <a:pt x="0" y="19050"/>
                    </a:lnTo>
                  </a:path>
                </a:pathLst>
              </a:custGeom>
              <a:noFill/>
              <a:ln w="12700">
                <a:solidFill>
                  <a:srgbClr val="8F1C08"/>
                </a:solidFill>
              </a:ln>
            </p:spPr>
          </p:sp>
          <p:sp>
            <p:nvSpPr>
              <p:cNvPr id="97" name="Freeform 97"/>
              <p:cNvSpPr/>
              <p:nvPr/>
            </p:nvSpPr>
            <p:spPr>
              <a:xfrm>
                <a:off x="457200" y="3330575"/>
                <a:ext cx="114300" cy="9525"/>
              </a:xfrm>
              <a:custGeom>
                <a:avLst/>
                <a:gdLst/>
                <a:ahLst/>
                <a:cxnLst/>
                <a:rect l="l" t="t" r="r" b="b"/>
                <a:pathLst>
                  <a:path w="114300" h="9525">
                    <a:moveTo>
                      <a:pt x="0" y="0"/>
                    </a:moveTo>
                    <a:lnTo>
                      <a:pt x="114300" y="0"/>
                    </a:lnTo>
                  </a:path>
                </a:pathLst>
              </a:custGeom>
              <a:noFill/>
              <a:ln w="12700">
                <a:solidFill>
                  <a:srgbClr val="8F1C08"/>
                </a:solidFill>
              </a:ln>
            </p:spPr>
          </p:sp>
          <p:sp>
            <p:nvSpPr>
              <p:cNvPr id="98" name="Freeform 98"/>
              <p:cNvSpPr/>
              <p:nvPr/>
            </p:nvSpPr>
            <p:spPr>
              <a:xfrm>
                <a:off x="482600" y="3362325"/>
                <a:ext cx="9525" cy="9525"/>
              </a:xfrm>
              <a:custGeom>
                <a:avLst/>
                <a:gdLst/>
                <a:ahLst/>
                <a:cxnLst/>
                <a:rect l="l" t="t" r="r" b="b"/>
                <a:pathLst>
                  <a:path w="9525" h="9525">
                    <a:moveTo>
                      <a:pt x="0" y="0"/>
                    </a:moveTo>
                    <a:lnTo>
                      <a:pt x="64" y="0"/>
                    </a:lnTo>
                  </a:path>
                </a:pathLst>
              </a:custGeom>
              <a:noFill/>
              <a:ln w="12700">
                <a:solidFill>
                  <a:srgbClr val="8F1C08"/>
                </a:solidFill>
              </a:ln>
            </p:spPr>
          </p:sp>
          <p:sp>
            <p:nvSpPr>
              <p:cNvPr id="99" name="Freeform 99"/>
              <p:cNvSpPr/>
              <p:nvPr/>
            </p:nvSpPr>
            <p:spPr>
              <a:xfrm>
                <a:off x="508000" y="3362325"/>
                <a:ext cx="12700" cy="9525"/>
              </a:xfrm>
              <a:custGeom>
                <a:avLst/>
                <a:gdLst/>
                <a:ahLst/>
                <a:cxnLst/>
                <a:rect l="l" t="t" r="r" b="b"/>
                <a:pathLst>
                  <a:path w="12700" h="9525">
                    <a:moveTo>
                      <a:pt x="0" y="0"/>
                    </a:moveTo>
                    <a:lnTo>
                      <a:pt x="12700" y="0"/>
                    </a:lnTo>
                  </a:path>
                </a:pathLst>
              </a:custGeom>
              <a:noFill/>
              <a:ln w="12700">
                <a:solidFill>
                  <a:srgbClr val="8F1C08"/>
                </a:solidFill>
              </a:ln>
            </p:spPr>
          </p:sp>
        </p:grpSp>
        <p:sp>
          <p:nvSpPr>
            <p:cNvPr id="101" name="TextBox 101"/>
            <p:cNvSpPr txBox="1"/>
            <p:nvPr/>
          </p:nvSpPr>
          <p:spPr>
            <a:xfrm>
              <a:off x="642938" y="3304461"/>
              <a:ext cx="981887"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绑卡成功（D1–3）​​​</a:t>
              </a:r>
            </a:p>
          </p:txBody>
        </p:sp>
        <p:sp>
          <p:nvSpPr>
            <p:cNvPr id="102" name="TextBox 102"/>
            <p:cNvSpPr txBox="1"/>
            <p:nvPr/>
          </p:nvSpPr>
          <p:spPr>
            <a:xfrm>
              <a:off x="1790833" y="3300412"/>
              <a:ext cx="475983"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​72,600​</a:t>
              </a:r>
            </a:p>
          </p:txBody>
        </p:sp>
        <p:sp>
          <p:nvSpPr>
            <p:cNvPr id="103" name="TextBox 103"/>
            <p:cNvSpPr txBox="1"/>
            <p:nvPr/>
          </p:nvSpPr>
          <p:spPr>
            <a:xfrm>
              <a:off x="2286333" y="3300412"/>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​60.5%​</a:t>
              </a:r>
            </a:p>
          </p:txBody>
        </p:sp>
        <p:sp>
          <p:nvSpPr>
            <p:cNvPr id="104" name="TextBox 104"/>
            <p:cNvSpPr txBox="1"/>
            <p:nvPr/>
          </p:nvSpPr>
          <p:spPr>
            <a:xfrm>
              <a:off x="2628455" y="3300412"/>
              <a:ext cx="534291" cy="147638"/>
            </a:xfrm>
            <a:prstGeom prst="rect">
              <a:avLst/>
            </a:prstGeom>
            <a:noFill/>
            <a:ln>
              <a:noFill/>
            </a:ln>
          </p:spPr>
          <p:txBody>
            <a:bodyPr wrap="none" lIns="0" tIns="0" rIns="0" bIns="0" anchor="t" anchorCtr="0">
              <a:spAutoFit/>
            </a:bodyPr>
            <a:lstStyle/>
            <a:p>
              <a:pPr algn="ctr"/>
              <a:r>
                <a:rPr lang="en-US" sz="750" b="1" dirty="0">
                  <a:solidFill>
                    <a:srgbClr val="C41D00"/>
                  </a:solidFill>
                  <a:latin typeface="+mn-lt"/>
                  <a:ea typeface="+mn-ea"/>
                  <a:cs typeface="+mn-cs"/>
                </a:rPr>
                <a:t>​-14.4pp​</a:t>
              </a:r>
            </a:p>
          </p:txBody>
        </p:sp>
        <p:sp>
          <p:nvSpPr>
            <p:cNvPr id="105" name="Rectangle 105"/>
            <p:cNvSpPr/>
            <p:nvPr/>
          </p:nvSpPr>
          <p:spPr>
            <a:xfrm>
              <a:off x="381000" y="3590925"/>
              <a:ext cx="1162050" cy="304800"/>
            </a:xfrm>
            <a:prstGeom prst="roundRect">
              <a:avLst>
                <a:gd name="adj" fmla="val 9375"/>
              </a:avLst>
            </a:prstGeom>
            <a:solidFill>
              <a:srgbClr val="FBB2A6"/>
            </a:solidFill>
            <a:ln>
              <a:noFill/>
            </a:ln>
          </p:spPr>
        </p:sp>
        <p:grpSp>
          <p:nvGrpSpPr>
            <p:cNvPr id="108" name="Group 108"/>
            <p:cNvGrpSpPr/>
            <p:nvPr/>
          </p:nvGrpSpPr>
          <p:grpSpPr>
            <a:xfrm>
              <a:off x="463550" y="3692525"/>
              <a:ext cx="101600" cy="101600"/>
              <a:chOff x="463550" y="3692525"/>
              <a:chExt cx="101600" cy="101600"/>
            </a:xfrm>
          </p:grpSpPr>
          <p:sp>
            <p:nvSpPr>
              <p:cNvPr id="106" name="Freeform 106"/>
              <p:cNvSpPr/>
              <p:nvPr/>
            </p:nvSpPr>
            <p:spPr>
              <a:xfrm>
                <a:off x="463550" y="3692525"/>
                <a:ext cx="95250" cy="101600"/>
              </a:xfrm>
              <a:custGeom>
                <a:avLst/>
                <a:gdLst/>
                <a:ahLst/>
                <a:cxnLst/>
                <a:rect l="l" t="t" r="r" b="b"/>
                <a:pathLst>
                  <a:path w="95250" h="101600">
                    <a:moveTo>
                      <a:pt x="82550" y="25400"/>
                    </a:moveTo>
                    <a:lnTo>
                      <a:pt x="82550" y="6350"/>
                    </a:lnTo>
                    <a:cubicBezTo>
                      <a:pt x="82550" y="2843"/>
                      <a:pt x="79707" y="0"/>
                      <a:pt x="76200" y="0"/>
                    </a:cubicBezTo>
                    <a:lnTo>
                      <a:pt x="12700" y="0"/>
                    </a:lnTo>
                    <a:cubicBezTo>
                      <a:pt x="5686" y="0"/>
                      <a:pt x="0" y="5686"/>
                      <a:pt x="0" y="12700"/>
                    </a:cubicBezTo>
                    <a:cubicBezTo>
                      <a:pt x="0" y="19714"/>
                      <a:pt x="5686" y="25400"/>
                      <a:pt x="12700" y="25400"/>
                    </a:cubicBezTo>
                    <a:lnTo>
                      <a:pt x="88900" y="25400"/>
                    </a:lnTo>
                    <a:cubicBezTo>
                      <a:pt x="92407" y="25400"/>
                      <a:pt x="95250" y="28243"/>
                      <a:pt x="95250" y="31750"/>
                    </a:cubicBezTo>
                    <a:lnTo>
                      <a:pt x="95250" y="50800"/>
                    </a:lnTo>
                    <a:moveTo>
                      <a:pt x="95250" y="76200"/>
                    </a:moveTo>
                    <a:lnTo>
                      <a:pt x="95250" y="95250"/>
                    </a:lnTo>
                    <a:cubicBezTo>
                      <a:pt x="95250" y="98757"/>
                      <a:pt x="92407" y="101600"/>
                      <a:pt x="88900" y="101600"/>
                    </a:cubicBezTo>
                    <a:lnTo>
                      <a:pt x="12700" y="101600"/>
                    </a:lnTo>
                    <a:cubicBezTo>
                      <a:pt x="5686" y="101600"/>
                      <a:pt x="0" y="95914"/>
                      <a:pt x="0" y="88900"/>
                    </a:cubicBezTo>
                    <a:lnTo>
                      <a:pt x="0" y="12700"/>
                    </a:lnTo>
                  </a:path>
                </a:pathLst>
              </a:custGeom>
              <a:noFill/>
              <a:ln w="12700">
                <a:solidFill>
                  <a:srgbClr val="8F1C08"/>
                </a:solidFill>
              </a:ln>
            </p:spPr>
          </p:sp>
          <p:sp>
            <p:nvSpPr>
              <p:cNvPr id="107" name="Freeform 107"/>
              <p:cNvSpPr/>
              <p:nvPr/>
            </p:nvSpPr>
            <p:spPr>
              <a:xfrm>
                <a:off x="527050" y="3743325"/>
                <a:ext cx="38100" cy="25400"/>
              </a:xfrm>
              <a:custGeom>
                <a:avLst/>
                <a:gdLst/>
                <a:ahLst/>
                <a:cxnLst/>
                <a:rect l="l" t="t" r="r" b="b"/>
                <a:pathLst>
                  <a:path w="38100" h="25400">
                    <a:moveTo>
                      <a:pt x="38100" y="0"/>
                    </a:moveTo>
                    <a:lnTo>
                      <a:pt x="38100" y="25400"/>
                    </a:lnTo>
                    <a:lnTo>
                      <a:pt x="12700" y="25400"/>
                    </a:lnTo>
                    <a:cubicBezTo>
                      <a:pt x="5686" y="25400"/>
                      <a:pt x="0" y="19714"/>
                      <a:pt x="0" y="12700"/>
                    </a:cubicBezTo>
                    <a:cubicBezTo>
                      <a:pt x="0" y="5686"/>
                      <a:pt x="5686" y="0"/>
                      <a:pt x="12700" y="0"/>
                    </a:cubicBezTo>
                    <a:lnTo>
                      <a:pt x="38100" y="0"/>
                    </a:lnTo>
                  </a:path>
                </a:pathLst>
              </a:custGeom>
              <a:noFill/>
              <a:ln w="12700">
                <a:solidFill>
                  <a:srgbClr val="8F1C08"/>
                </a:solidFill>
              </a:ln>
            </p:spPr>
          </p:sp>
        </p:grpSp>
        <p:sp>
          <p:nvSpPr>
            <p:cNvPr id="109" name="TextBox 109"/>
            <p:cNvSpPr txBox="1"/>
            <p:nvPr/>
          </p:nvSpPr>
          <p:spPr>
            <a:xfrm>
              <a:off x="642938" y="3704511"/>
              <a:ext cx="981887"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首笔支付（D4–7）​​​</a:t>
              </a:r>
            </a:p>
          </p:txBody>
        </p:sp>
        <p:sp>
          <p:nvSpPr>
            <p:cNvPr id="110" name="TextBox 110"/>
            <p:cNvSpPr txBox="1"/>
            <p:nvPr/>
          </p:nvSpPr>
          <p:spPr>
            <a:xfrm>
              <a:off x="1790833" y="3700462"/>
              <a:ext cx="475983"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​45,360​</a:t>
              </a:r>
            </a:p>
          </p:txBody>
        </p:sp>
        <p:sp>
          <p:nvSpPr>
            <p:cNvPr id="111" name="TextBox 111"/>
            <p:cNvSpPr txBox="1"/>
            <p:nvPr/>
          </p:nvSpPr>
          <p:spPr>
            <a:xfrm>
              <a:off x="2286333" y="3700462"/>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​37.8%​</a:t>
              </a:r>
            </a:p>
          </p:txBody>
        </p:sp>
        <p:sp>
          <p:nvSpPr>
            <p:cNvPr id="112" name="TextBox 112"/>
            <p:cNvSpPr txBox="1"/>
            <p:nvPr/>
          </p:nvSpPr>
          <p:spPr>
            <a:xfrm>
              <a:off x="2628455" y="3700462"/>
              <a:ext cx="534291" cy="147638"/>
            </a:xfrm>
            <a:prstGeom prst="rect">
              <a:avLst/>
            </a:prstGeom>
            <a:noFill/>
            <a:ln>
              <a:noFill/>
            </a:ln>
          </p:spPr>
          <p:txBody>
            <a:bodyPr wrap="none" lIns="0" tIns="0" rIns="0" bIns="0" anchor="t" anchorCtr="0">
              <a:spAutoFit/>
            </a:bodyPr>
            <a:lstStyle/>
            <a:p>
              <a:pPr algn="ctr"/>
              <a:r>
                <a:rPr lang="en-US" sz="750" b="1" dirty="0">
                  <a:solidFill>
                    <a:srgbClr val="C41D00"/>
                  </a:solidFill>
                  <a:latin typeface="+mn-lt"/>
                  <a:ea typeface="+mn-ea"/>
                  <a:cs typeface="+mn-cs"/>
                </a:rPr>
                <a:t>​-22.7pp​</a:t>
              </a:r>
            </a:p>
          </p:txBody>
        </p:sp>
        <p:sp>
          <p:nvSpPr>
            <p:cNvPr id="113" name="Rectangle 113"/>
            <p:cNvSpPr/>
            <p:nvPr/>
          </p:nvSpPr>
          <p:spPr>
            <a:xfrm>
              <a:off x="381000" y="3990975"/>
              <a:ext cx="1085850" cy="304800"/>
            </a:xfrm>
            <a:prstGeom prst="roundRect">
              <a:avLst>
                <a:gd name="adj" fmla="val 9375"/>
              </a:avLst>
            </a:prstGeom>
            <a:solidFill>
              <a:srgbClr val="FCC4BA"/>
            </a:solidFill>
            <a:ln>
              <a:noFill/>
            </a:ln>
          </p:spPr>
        </p:sp>
        <p:grpSp>
          <p:nvGrpSpPr>
            <p:cNvPr id="116" name="Group 116"/>
            <p:cNvGrpSpPr/>
            <p:nvPr/>
          </p:nvGrpSpPr>
          <p:grpSpPr>
            <a:xfrm>
              <a:off x="463550" y="4105275"/>
              <a:ext cx="101600" cy="92075"/>
              <a:chOff x="463550" y="4105275"/>
              <a:chExt cx="101600" cy="92075"/>
            </a:xfrm>
          </p:grpSpPr>
          <p:sp>
            <p:nvSpPr>
              <p:cNvPr id="114" name="Freeform 114"/>
              <p:cNvSpPr/>
              <p:nvPr/>
            </p:nvSpPr>
            <p:spPr>
              <a:xfrm>
                <a:off x="463550" y="4187825"/>
                <a:ext cx="101600" cy="9525"/>
              </a:xfrm>
              <a:custGeom>
                <a:avLst/>
                <a:gdLst/>
                <a:ahLst/>
                <a:cxnLst/>
                <a:rect l="l" t="t" r="r" b="b"/>
                <a:pathLst>
                  <a:path w="101600" h="9525">
                    <a:moveTo>
                      <a:pt x="0" y="0"/>
                    </a:moveTo>
                    <a:lnTo>
                      <a:pt x="101600" y="0"/>
                    </a:lnTo>
                  </a:path>
                </a:pathLst>
              </a:custGeom>
              <a:noFill/>
              <a:ln w="12700">
                <a:solidFill>
                  <a:srgbClr val="8F1C08"/>
                </a:solidFill>
              </a:ln>
            </p:spPr>
          </p:sp>
          <p:sp>
            <p:nvSpPr>
              <p:cNvPr id="115" name="Freeform 115"/>
              <p:cNvSpPr/>
              <p:nvPr/>
            </p:nvSpPr>
            <p:spPr>
              <a:xfrm>
                <a:off x="463550" y="4105275"/>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8F1C08"/>
                </a:solidFill>
              </a:ln>
            </p:spPr>
          </p:sp>
        </p:grpSp>
        <p:sp>
          <p:nvSpPr>
            <p:cNvPr id="117" name="TextBox 117"/>
            <p:cNvSpPr txBox="1"/>
            <p:nvPr/>
          </p:nvSpPr>
          <p:spPr>
            <a:xfrm>
              <a:off x="642938" y="4056936"/>
              <a:ext cx="88710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4A130A"/>
                  </a:solidFill>
                  <a:latin typeface="+mn-lt"/>
                  <a:ea typeface="+mn-ea"/>
                  <a:cs typeface="+mn-cs"/>
                </a:rPr>
                <a:t>购买理财/开通储蓄​​</a:t>
              </a:r>
            </a:p>
            <a:p>
              <a:pPr algn="l">
                <a:lnSpc>
                  <a:spcPts val="900"/>
                </a:lnSpc>
              </a:pPr>
              <a:r>
                <a:rPr lang="zh-CN" sz="640" dirty="0">
                  <a:solidFill>
                    <a:srgbClr val="4A130A"/>
                  </a:solidFill>
                  <a:latin typeface="+mn-lt"/>
                  <a:ea typeface="+mn-ea"/>
                  <a:cs typeface="+mn-cs"/>
                </a:rPr>
                <a:t>（D8–15）​​​</a:t>
              </a:r>
            </a:p>
          </p:txBody>
        </p:sp>
        <p:sp>
          <p:nvSpPr>
            <p:cNvPr id="118" name="TextBox 118"/>
            <p:cNvSpPr txBox="1"/>
            <p:nvPr/>
          </p:nvSpPr>
          <p:spPr>
            <a:xfrm>
              <a:off x="1790833" y="4100512"/>
              <a:ext cx="475983"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​24,960​</a:t>
              </a:r>
            </a:p>
          </p:txBody>
        </p:sp>
        <p:sp>
          <p:nvSpPr>
            <p:cNvPr id="119" name="TextBox 119"/>
            <p:cNvSpPr txBox="1"/>
            <p:nvPr/>
          </p:nvSpPr>
          <p:spPr>
            <a:xfrm>
              <a:off x="2286333" y="4100512"/>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​20.8%​</a:t>
              </a:r>
            </a:p>
          </p:txBody>
        </p:sp>
        <p:sp>
          <p:nvSpPr>
            <p:cNvPr id="120" name="TextBox 120"/>
            <p:cNvSpPr txBox="1"/>
            <p:nvPr/>
          </p:nvSpPr>
          <p:spPr>
            <a:xfrm>
              <a:off x="2628455" y="4100512"/>
              <a:ext cx="534291" cy="147638"/>
            </a:xfrm>
            <a:prstGeom prst="rect">
              <a:avLst/>
            </a:prstGeom>
            <a:noFill/>
            <a:ln>
              <a:noFill/>
            </a:ln>
          </p:spPr>
          <p:txBody>
            <a:bodyPr wrap="none" lIns="0" tIns="0" rIns="0" bIns="0" anchor="t" anchorCtr="0">
              <a:spAutoFit/>
            </a:bodyPr>
            <a:lstStyle/>
            <a:p>
              <a:pPr algn="ctr"/>
              <a:r>
                <a:rPr lang="en-US" sz="750" b="1" dirty="0">
                  <a:solidFill>
                    <a:srgbClr val="C41D00"/>
                  </a:solidFill>
                  <a:latin typeface="+mn-lt"/>
                  <a:ea typeface="+mn-ea"/>
                  <a:cs typeface="+mn-cs"/>
                </a:rPr>
                <a:t>​-17.0pp​</a:t>
              </a:r>
            </a:p>
          </p:txBody>
        </p:sp>
        <p:sp>
          <p:nvSpPr>
            <p:cNvPr id="121" name="Rectangle 121"/>
            <p:cNvSpPr/>
            <p:nvPr/>
          </p:nvSpPr>
          <p:spPr>
            <a:xfrm>
              <a:off x="381000" y="4391025"/>
              <a:ext cx="1009650" cy="304800"/>
            </a:xfrm>
            <a:prstGeom prst="roundRect">
              <a:avLst>
                <a:gd name="adj" fmla="val 9375"/>
              </a:avLst>
            </a:prstGeom>
            <a:solidFill>
              <a:srgbClr val="FDE6D0"/>
            </a:solidFill>
            <a:ln>
              <a:noFill/>
            </a:ln>
          </p:spPr>
        </p:sp>
        <p:grpSp>
          <p:nvGrpSpPr>
            <p:cNvPr id="128" name="Group 128"/>
            <p:cNvGrpSpPr/>
            <p:nvPr/>
          </p:nvGrpSpPr>
          <p:grpSpPr>
            <a:xfrm>
              <a:off x="463550" y="4486275"/>
              <a:ext cx="101600" cy="114300"/>
              <a:chOff x="463550" y="4486275"/>
              <a:chExt cx="101600" cy="114300"/>
            </a:xfrm>
          </p:grpSpPr>
          <p:sp>
            <p:nvSpPr>
              <p:cNvPr id="122" name="Freeform 122"/>
              <p:cNvSpPr/>
              <p:nvPr/>
            </p:nvSpPr>
            <p:spPr>
              <a:xfrm>
                <a:off x="463550" y="4498975"/>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8F1C08"/>
                </a:solidFill>
              </a:ln>
            </p:spPr>
          </p:sp>
          <p:sp>
            <p:nvSpPr>
              <p:cNvPr id="123" name="Freeform 123"/>
              <p:cNvSpPr/>
              <p:nvPr/>
            </p:nvSpPr>
            <p:spPr>
              <a:xfrm>
                <a:off x="539750" y="4486275"/>
                <a:ext cx="9525" cy="25400"/>
              </a:xfrm>
              <a:custGeom>
                <a:avLst/>
                <a:gdLst/>
                <a:ahLst/>
                <a:cxnLst/>
                <a:rect l="l" t="t" r="r" b="b"/>
                <a:pathLst>
                  <a:path w="9525" h="25400">
                    <a:moveTo>
                      <a:pt x="0" y="0"/>
                    </a:moveTo>
                    <a:lnTo>
                      <a:pt x="0" y="25400"/>
                    </a:lnTo>
                  </a:path>
                </a:pathLst>
              </a:custGeom>
              <a:noFill/>
              <a:ln w="12700">
                <a:solidFill>
                  <a:srgbClr val="8F1C08"/>
                </a:solidFill>
              </a:ln>
            </p:spPr>
          </p:sp>
          <p:sp>
            <p:nvSpPr>
              <p:cNvPr id="124" name="Freeform 124"/>
              <p:cNvSpPr/>
              <p:nvPr/>
            </p:nvSpPr>
            <p:spPr>
              <a:xfrm>
                <a:off x="488950" y="4486275"/>
                <a:ext cx="9525" cy="25400"/>
              </a:xfrm>
              <a:custGeom>
                <a:avLst/>
                <a:gdLst/>
                <a:ahLst/>
                <a:cxnLst/>
                <a:rect l="l" t="t" r="r" b="b"/>
                <a:pathLst>
                  <a:path w="9525" h="25400">
                    <a:moveTo>
                      <a:pt x="0" y="0"/>
                    </a:moveTo>
                    <a:lnTo>
                      <a:pt x="0" y="25400"/>
                    </a:lnTo>
                  </a:path>
                </a:pathLst>
              </a:custGeom>
              <a:noFill/>
              <a:ln w="12700">
                <a:solidFill>
                  <a:srgbClr val="8F1C08"/>
                </a:solidFill>
              </a:ln>
            </p:spPr>
          </p:sp>
          <p:sp>
            <p:nvSpPr>
              <p:cNvPr id="125" name="Freeform 125"/>
              <p:cNvSpPr/>
              <p:nvPr/>
            </p:nvSpPr>
            <p:spPr>
              <a:xfrm>
                <a:off x="463550" y="4537075"/>
                <a:ext cx="101600" cy="9525"/>
              </a:xfrm>
              <a:custGeom>
                <a:avLst/>
                <a:gdLst/>
                <a:ahLst/>
                <a:cxnLst/>
                <a:rect l="l" t="t" r="r" b="b"/>
                <a:pathLst>
                  <a:path w="101600" h="9525">
                    <a:moveTo>
                      <a:pt x="0" y="0"/>
                    </a:moveTo>
                    <a:lnTo>
                      <a:pt x="101600" y="0"/>
                    </a:lnTo>
                  </a:path>
                </a:pathLst>
              </a:custGeom>
              <a:noFill/>
              <a:ln w="12700">
                <a:solidFill>
                  <a:srgbClr val="8F1C08"/>
                </a:solidFill>
              </a:ln>
            </p:spPr>
          </p:sp>
          <p:sp>
            <p:nvSpPr>
              <p:cNvPr id="126" name="Freeform 126"/>
              <p:cNvSpPr/>
              <p:nvPr/>
            </p:nvSpPr>
            <p:spPr>
              <a:xfrm>
                <a:off x="508000" y="4562475"/>
                <a:ext cx="9525" cy="9525"/>
              </a:xfrm>
              <a:custGeom>
                <a:avLst/>
                <a:gdLst/>
                <a:ahLst/>
                <a:cxnLst/>
                <a:rect l="l" t="t" r="r" b="b"/>
                <a:pathLst>
                  <a:path w="9525" h="9525">
                    <a:moveTo>
                      <a:pt x="0" y="0"/>
                    </a:moveTo>
                    <a:lnTo>
                      <a:pt x="6350" y="0"/>
                    </a:lnTo>
                  </a:path>
                </a:pathLst>
              </a:custGeom>
              <a:noFill/>
              <a:ln w="12700">
                <a:solidFill>
                  <a:srgbClr val="8F1C08"/>
                </a:solidFill>
              </a:ln>
            </p:spPr>
          </p:sp>
          <p:sp>
            <p:nvSpPr>
              <p:cNvPr id="127" name="Freeform 127"/>
              <p:cNvSpPr/>
              <p:nvPr/>
            </p:nvSpPr>
            <p:spPr>
              <a:xfrm>
                <a:off x="514350" y="4562475"/>
                <a:ext cx="9525" cy="19050"/>
              </a:xfrm>
              <a:custGeom>
                <a:avLst/>
                <a:gdLst/>
                <a:ahLst/>
                <a:cxnLst/>
                <a:rect l="l" t="t" r="r" b="b"/>
                <a:pathLst>
                  <a:path w="9525" h="19050">
                    <a:moveTo>
                      <a:pt x="0" y="0"/>
                    </a:moveTo>
                    <a:lnTo>
                      <a:pt x="0" y="19050"/>
                    </a:lnTo>
                  </a:path>
                </a:pathLst>
              </a:custGeom>
              <a:noFill/>
              <a:ln w="12700">
                <a:solidFill>
                  <a:srgbClr val="8F1C08"/>
                </a:solidFill>
              </a:ln>
            </p:spPr>
          </p:sp>
        </p:grpSp>
        <p:sp>
          <p:nvSpPr>
            <p:cNvPr id="129" name="TextBox 129"/>
            <p:cNvSpPr txBox="1"/>
            <p:nvPr/>
          </p:nvSpPr>
          <p:spPr>
            <a:xfrm>
              <a:off x="642938" y="4456986"/>
              <a:ext cx="106744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4A130A"/>
                  </a:solidFill>
                  <a:latin typeface="+mn-lt"/>
                  <a:ea typeface="+mn-ea"/>
                  <a:cs typeface="+mn-cs"/>
                </a:rPr>
                <a:t>设置工资代发/定期交易​​</a:t>
              </a:r>
            </a:p>
            <a:p>
              <a:pPr algn="l">
                <a:lnSpc>
                  <a:spcPts val="900"/>
                </a:lnSpc>
              </a:pPr>
              <a:r>
                <a:rPr lang="zh-CN" sz="640" dirty="0">
                  <a:solidFill>
                    <a:srgbClr val="4A130A"/>
                  </a:solidFill>
                  <a:latin typeface="+mn-lt"/>
                  <a:ea typeface="+mn-ea"/>
                  <a:cs typeface="+mn-cs"/>
                </a:rPr>
                <a:t>（D16–30）​​​</a:t>
              </a:r>
            </a:p>
          </p:txBody>
        </p:sp>
        <p:sp>
          <p:nvSpPr>
            <p:cNvPr id="130" name="TextBox 130"/>
            <p:cNvSpPr txBox="1"/>
            <p:nvPr/>
          </p:nvSpPr>
          <p:spPr>
            <a:xfrm>
              <a:off x="1790833" y="4500562"/>
              <a:ext cx="475983"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​15,120​</a:t>
              </a:r>
            </a:p>
          </p:txBody>
        </p:sp>
        <p:sp>
          <p:nvSpPr>
            <p:cNvPr id="131" name="TextBox 131"/>
            <p:cNvSpPr txBox="1"/>
            <p:nvPr/>
          </p:nvSpPr>
          <p:spPr>
            <a:xfrm>
              <a:off x="2286333" y="4500562"/>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​12.6%​</a:t>
              </a:r>
            </a:p>
          </p:txBody>
        </p:sp>
        <p:sp>
          <p:nvSpPr>
            <p:cNvPr id="132" name="TextBox 132"/>
            <p:cNvSpPr txBox="1"/>
            <p:nvPr/>
          </p:nvSpPr>
          <p:spPr>
            <a:xfrm>
              <a:off x="2657608" y="4500562"/>
              <a:ext cx="475983" cy="147638"/>
            </a:xfrm>
            <a:prstGeom prst="rect">
              <a:avLst/>
            </a:prstGeom>
            <a:noFill/>
            <a:ln>
              <a:noFill/>
            </a:ln>
          </p:spPr>
          <p:txBody>
            <a:bodyPr wrap="none" lIns="0" tIns="0" rIns="0" bIns="0" anchor="t" anchorCtr="0">
              <a:spAutoFit/>
            </a:bodyPr>
            <a:lstStyle/>
            <a:p>
              <a:pPr algn="ctr"/>
              <a:r>
                <a:rPr lang="en-US" sz="750" b="1" dirty="0">
                  <a:solidFill>
                    <a:srgbClr val="C41D00"/>
                  </a:solidFill>
                  <a:latin typeface="+mn-lt"/>
                  <a:ea typeface="+mn-ea"/>
                  <a:cs typeface="+mn-cs"/>
                </a:rPr>
                <a:t>​-8.2pp​</a:t>
              </a:r>
            </a:p>
          </p:txBody>
        </p:sp>
        <p:sp>
          <p:nvSpPr>
            <p:cNvPr id="133" name="Line 133"/>
            <p:cNvSpPr/>
            <p:nvPr/>
          </p:nvSpPr>
          <p:spPr>
            <a:xfrm>
              <a:off x="1771650" y="2152650"/>
              <a:ext cx="9525" cy="2590800"/>
            </a:xfrm>
            <a:custGeom>
              <a:avLst/>
              <a:gdLst/>
              <a:ahLst/>
              <a:cxnLst/>
              <a:rect l="l" t="t" r="r" b="b"/>
              <a:pathLst>
                <a:path w="9525" h="2590800">
                  <a:moveTo>
                    <a:pt x="0" y="0"/>
                  </a:moveTo>
                  <a:lnTo>
                    <a:pt x="0" y="2590800"/>
                  </a:lnTo>
                </a:path>
              </a:pathLst>
            </a:custGeom>
            <a:noFill/>
            <a:ln w="9525">
              <a:solidFill>
                <a:srgbClr val="EADBCE"/>
              </a:solidFill>
            </a:ln>
          </p:spPr>
        </p:sp>
        <p:sp>
          <p:nvSpPr>
            <p:cNvPr id="134" name="Line 134"/>
            <p:cNvSpPr/>
            <p:nvPr/>
          </p:nvSpPr>
          <p:spPr>
            <a:xfrm>
              <a:off x="2286000" y="2152650"/>
              <a:ext cx="9525" cy="2590800"/>
            </a:xfrm>
            <a:custGeom>
              <a:avLst/>
              <a:gdLst/>
              <a:ahLst/>
              <a:cxnLst/>
              <a:rect l="l" t="t" r="r" b="b"/>
              <a:pathLst>
                <a:path w="9525" h="2590800">
                  <a:moveTo>
                    <a:pt x="0" y="0"/>
                  </a:moveTo>
                  <a:lnTo>
                    <a:pt x="0" y="2590800"/>
                  </a:lnTo>
                </a:path>
              </a:pathLst>
            </a:custGeom>
            <a:noFill/>
            <a:ln w="9525">
              <a:solidFill>
                <a:srgbClr val="EADBCE"/>
              </a:solidFill>
            </a:ln>
          </p:spPr>
        </p:sp>
        <p:sp>
          <p:nvSpPr>
            <p:cNvPr id="135" name="Line 135"/>
            <p:cNvSpPr/>
            <p:nvPr/>
          </p:nvSpPr>
          <p:spPr>
            <a:xfrm>
              <a:off x="2705100" y="2152650"/>
              <a:ext cx="9525" cy="2590800"/>
            </a:xfrm>
            <a:custGeom>
              <a:avLst/>
              <a:gdLst/>
              <a:ahLst/>
              <a:cxnLst/>
              <a:rect l="l" t="t" r="r" b="b"/>
              <a:pathLst>
                <a:path w="9525" h="2590800">
                  <a:moveTo>
                    <a:pt x="0" y="0"/>
                  </a:moveTo>
                  <a:lnTo>
                    <a:pt x="0" y="2590800"/>
                  </a:lnTo>
                </a:path>
              </a:pathLst>
            </a:custGeom>
            <a:noFill/>
            <a:ln w="9525">
              <a:solidFill>
                <a:srgbClr val="EADBCE"/>
              </a:solidFill>
            </a:ln>
          </p:spPr>
        </p:sp>
        <p:sp>
          <p:nvSpPr>
            <p:cNvPr id="136" name="Line 136"/>
            <p:cNvSpPr/>
            <p:nvPr/>
          </p:nvSpPr>
          <p:spPr>
            <a:xfrm>
              <a:off x="342900" y="2743200"/>
              <a:ext cx="2819400" cy="9525"/>
            </a:xfrm>
            <a:custGeom>
              <a:avLst/>
              <a:gdLst/>
              <a:ahLst/>
              <a:cxnLst/>
              <a:rect l="l" t="t" r="r" b="b"/>
              <a:pathLst>
                <a:path w="2819400" h="9525">
                  <a:moveTo>
                    <a:pt x="0" y="0"/>
                  </a:moveTo>
                  <a:lnTo>
                    <a:pt x="2819400" y="0"/>
                  </a:lnTo>
                </a:path>
              </a:pathLst>
            </a:custGeom>
            <a:noFill/>
            <a:ln w="9525">
              <a:solidFill>
                <a:srgbClr val="EADBCE"/>
              </a:solidFill>
            </a:ln>
          </p:spPr>
        </p:sp>
        <p:sp>
          <p:nvSpPr>
            <p:cNvPr id="137" name="Line 137"/>
            <p:cNvSpPr/>
            <p:nvPr/>
          </p:nvSpPr>
          <p:spPr>
            <a:xfrm>
              <a:off x="342900" y="3143250"/>
              <a:ext cx="2819400" cy="9525"/>
            </a:xfrm>
            <a:custGeom>
              <a:avLst/>
              <a:gdLst/>
              <a:ahLst/>
              <a:cxnLst/>
              <a:rect l="l" t="t" r="r" b="b"/>
              <a:pathLst>
                <a:path w="2819400" h="9525">
                  <a:moveTo>
                    <a:pt x="0" y="0"/>
                  </a:moveTo>
                  <a:lnTo>
                    <a:pt x="2819400" y="0"/>
                  </a:lnTo>
                </a:path>
              </a:pathLst>
            </a:custGeom>
            <a:noFill/>
            <a:ln w="9525">
              <a:solidFill>
                <a:srgbClr val="EADBCE"/>
              </a:solidFill>
            </a:ln>
          </p:spPr>
        </p:sp>
        <p:sp>
          <p:nvSpPr>
            <p:cNvPr id="138" name="Line 138"/>
            <p:cNvSpPr/>
            <p:nvPr/>
          </p:nvSpPr>
          <p:spPr>
            <a:xfrm>
              <a:off x="342900" y="3543300"/>
              <a:ext cx="2819400" cy="9525"/>
            </a:xfrm>
            <a:custGeom>
              <a:avLst/>
              <a:gdLst/>
              <a:ahLst/>
              <a:cxnLst/>
              <a:rect l="l" t="t" r="r" b="b"/>
              <a:pathLst>
                <a:path w="2819400" h="9525">
                  <a:moveTo>
                    <a:pt x="0" y="0"/>
                  </a:moveTo>
                  <a:lnTo>
                    <a:pt x="2819400" y="0"/>
                  </a:lnTo>
                </a:path>
              </a:pathLst>
            </a:custGeom>
            <a:noFill/>
            <a:ln w="9525">
              <a:solidFill>
                <a:srgbClr val="EADBCE"/>
              </a:solidFill>
            </a:ln>
          </p:spPr>
        </p:sp>
        <p:sp>
          <p:nvSpPr>
            <p:cNvPr id="139" name="Line 139"/>
            <p:cNvSpPr/>
            <p:nvPr/>
          </p:nvSpPr>
          <p:spPr>
            <a:xfrm>
              <a:off x="342900" y="3943350"/>
              <a:ext cx="2819400" cy="9525"/>
            </a:xfrm>
            <a:custGeom>
              <a:avLst/>
              <a:gdLst/>
              <a:ahLst/>
              <a:cxnLst/>
              <a:rect l="l" t="t" r="r" b="b"/>
              <a:pathLst>
                <a:path w="2819400" h="9525">
                  <a:moveTo>
                    <a:pt x="0" y="0"/>
                  </a:moveTo>
                  <a:lnTo>
                    <a:pt x="2819400" y="0"/>
                  </a:lnTo>
                </a:path>
              </a:pathLst>
            </a:custGeom>
            <a:noFill/>
            <a:ln w="9525">
              <a:solidFill>
                <a:srgbClr val="EADBCE"/>
              </a:solidFill>
            </a:ln>
          </p:spPr>
        </p:sp>
        <p:sp>
          <p:nvSpPr>
            <p:cNvPr id="140" name="Line 140"/>
            <p:cNvSpPr/>
            <p:nvPr/>
          </p:nvSpPr>
          <p:spPr>
            <a:xfrm>
              <a:off x="342900" y="4343400"/>
              <a:ext cx="2819400" cy="9525"/>
            </a:xfrm>
            <a:custGeom>
              <a:avLst/>
              <a:gdLst/>
              <a:ahLst/>
              <a:cxnLst/>
              <a:rect l="l" t="t" r="r" b="b"/>
              <a:pathLst>
                <a:path w="2819400" h="9525">
                  <a:moveTo>
                    <a:pt x="0" y="0"/>
                  </a:moveTo>
                  <a:lnTo>
                    <a:pt x="2819400" y="0"/>
                  </a:lnTo>
                </a:path>
              </a:pathLst>
            </a:custGeom>
            <a:noFill/>
            <a:ln w="9525">
              <a:solidFill>
                <a:srgbClr val="EADBCE"/>
              </a:solidFill>
            </a:ln>
          </p:spPr>
        </p:sp>
        <p:sp>
          <p:nvSpPr>
            <p:cNvPr id="141" name="Rectangle 141"/>
            <p:cNvSpPr/>
            <p:nvPr/>
          </p:nvSpPr>
          <p:spPr>
            <a:xfrm>
              <a:off x="342900" y="4838700"/>
              <a:ext cx="895350" cy="857250"/>
            </a:xfrm>
            <a:prstGeom prst="roundRect">
              <a:avLst>
                <a:gd name="adj" fmla="val 4444"/>
              </a:avLst>
            </a:prstGeom>
            <a:solidFill>
              <a:srgbClr val="FFF8F2"/>
            </a:solidFill>
            <a:ln w="9525">
              <a:solidFill>
                <a:srgbClr val="F0B8AE"/>
              </a:solidFill>
            </a:ln>
          </p:spPr>
        </p:sp>
        <p:sp>
          <p:nvSpPr>
            <p:cNvPr id="142" name="TextBox 142"/>
            <p:cNvSpPr txBox="1"/>
            <p:nvPr/>
          </p:nvSpPr>
          <p:spPr>
            <a:xfrm>
              <a:off x="435292" y="4956334"/>
              <a:ext cx="710565" cy="257175"/>
            </a:xfrm>
            <a:prstGeom prst="rect">
              <a:avLst/>
            </a:prstGeom>
            <a:noFill/>
            <a:ln>
              <a:noFill/>
            </a:ln>
          </p:spPr>
          <p:txBody>
            <a:bodyPr wrap="none" lIns="0" tIns="0" rIns="0" bIns="0" anchor="t" anchorCtr="0">
              <a:spAutoFit/>
            </a:bodyPr>
            <a:lstStyle/>
            <a:p>
              <a:pPr algn="ctr">
                <a:lnSpc>
                  <a:spcPts val="975"/>
                </a:lnSpc>
              </a:pPr>
              <a:r>
                <a:rPr lang="zh-CN" sz="680" b="1" dirty="0">
                  <a:solidFill>
                    <a:srgbClr val="4A130A"/>
                  </a:solidFill>
                  <a:latin typeface="+mn-lt"/>
                  <a:ea typeface="+mn-ea"/>
                  <a:cs typeface="+mn-cs"/>
                </a:rPr>
                <a:t>​30天激活率​</a:t>
              </a:r>
            </a:p>
            <a:p>
              <a:pPr algn="ctr">
                <a:lnSpc>
                  <a:spcPts val="975"/>
                </a:lnSpc>
              </a:pPr>
              <a:r>
                <a:rPr lang="zh-CN" sz="600" dirty="0">
                  <a:solidFill>
                    <a:srgbClr val="7A716B"/>
                  </a:solidFill>
                  <a:latin typeface="+mn-lt"/>
                  <a:ea typeface="+mn-ea"/>
                  <a:cs typeface="+mn-cs"/>
                </a:rPr>
                <a:t>​（完成≥1笔交易）​</a:t>
              </a:r>
            </a:p>
          </p:txBody>
        </p:sp>
        <p:sp>
          <p:nvSpPr>
            <p:cNvPr id="143" name="TextBox 143"/>
            <p:cNvSpPr txBox="1"/>
            <p:nvPr/>
          </p:nvSpPr>
          <p:spPr>
            <a:xfrm>
              <a:off x="466412" y="5405914"/>
              <a:ext cx="648327"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​37.8</a:t>
              </a:r>
              <a:r>
                <a:rPr lang="zh-CN" sz="750" b="1" dirty="0">
                  <a:solidFill>
                    <a:srgbClr val="C41D00"/>
                  </a:solidFill>
                  <a:latin typeface="+mn-lt"/>
                  <a:ea typeface="+mn-ea"/>
                  <a:cs typeface="+mn-cs"/>
                </a:rPr>
                <a:t>%​</a:t>
              </a:r>
            </a:p>
          </p:txBody>
        </p:sp>
        <p:sp>
          <p:nvSpPr>
            <p:cNvPr id="144" name="Rectangle 144"/>
            <p:cNvSpPr/>
            <p:nvPr/>
          </p:nvSpPr>
          <p:spPr>
            <a:xfrm>
              <a:off x="1304925" y="4838700"/>
              <a:ext cx="895350" cy="857250"/>
            </a:xfrm>
            <a:prstGeom prst="roundRect">
              <a:avLst>
                <a:gd name="adj" fmla="val 4444"/>
              </a:avLst>
            </a:prstGeom>
            <a:solidFill>
              <a:srgbClr val="FFF8F2"/>
            </a:solidFill>
            <a:ln w="9525">
              <a:solidFill>
                <a:srgbClr val="F0B8AE"/>
              </a:solidFill>
            </a:ln>
          </p:spPr>
        </p:sp>
        <p:sp>
          <p:nvSpPr>
            <p:cNvPr id="145" name="TextBox 145"/>
            <p:cNvSpPr txBox="1"/>
            <p:nvPr/>
          </p:nvSpPr>
          <p:spPr>
            <a:xfrm>
              <a:off x="1438885" y="4956334"/>
              <a:ext cx="627431" cy="257175"/>
            </a:xfrm>
            <a:prstGeom prst="rect">
              <a:avLst/>
            </a:prstGeom>
            <a:noFill/>
            <a:ln>
              <a:noFill/>
            </a:ln>
          </p:spPr>
          <p:txBody>
            <a:bodyPr wrap="none" lIns="0" tIns="0" rIns="0" bIns="0" anchor="t" anchorCtr="0">
              <a:spAutoFit/>
            </a:bodyPr>
            <a:lstStyle/>
            <a:p>
              <a:pPr algn="ctr">
                <a:lnSpc>
                  <a:spcPts val="975"/>
                </a:lnSpc>
              </a:pPr>
              <a:r>
                <a:rPr lang="zh-CN" sz="680" b="1" dirty="0">
                  <a:solidFill>
                    <a:srgbClr val="4A130A"/>
                  </a:solidFill>
                  <a:latin typeface="+mn-lt"/>
                  <a:ea typeface="+mn-ea"/>
                  <a:cs typeface="+mn-cs"/>
                </a:rPr>
                <a:t>​人均活跃时长​</a:t>
              </a:r>
            </a:p>
            <a:p>
              <a:pPr algn="ctr">
                <a:lnSpc>
                  <a:spcPts val="975"/>
                </a:lnSpc>
              </a:pPr>
              <a:r>
                <a:rPr lang="zh-CN" sz="600" dirty="0">
                  <a:solidFill>
                    <a:srgbClr val="7A716B"/>
                  </a:solidFill>
                  <a:latin typeface="+mn-lt"/>
                  <a:ea typeface="+mn-ea"/>
                  <a:cs typeface="+mn-cs"/>
                </a:rPr>
                <a:t>（中位数）</a:t>
              </a:r>
            </a:p>
          </p:txBody>
        </p:sp>
        <p:sp>
          <p:nvSpPr>
            <p:cNvPr id="146" name="TextBox 146"/>
            <p:cNvSpPr txBox="1"/>
            <p:nvPr/>
          </p:nvSpPr>
          <p:spPr>
            <a:xfrm>
              <a:off x="1467465" y="5405914"/>
              <a:ext cx="570271"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​6.2</a:t>
              </a:r>
              <a:r>
                <a:rPr lang="zh-CN" sz="750" b="1" dirty="0">
                  <a:solidFill>
                    <a:srgbClr val="C41D00"/>
                  </a:solidFill>
                  <a:latin typeface="+mn-lt"/>
                  <a:ea typeface="+mn-ea"/>
                  <a:cs typeface="+mn-cs"/>
                </a:rPr>
                <a:t>天​</a:t>
              </a:r>
            </a:p>
          </p:txBody>
        </p:sp>
        <p:sp>
          <p:nvSpPr>
            <p:cNvPr id="147" name="Rectangle 147"/>
            <p:cNvSpPr/>
            <p:nvPr/>
          </p:nvSpPr>
          <p:spPr>
            <a:xfrm>
              <a:off x="2266950" y="4838700"/>
              <a:ext cx="895350" cy="857250"/>
            </a:xfrm>
            <a:prstGeom prst="roundRect">
              <a:avLst>
                <a:gd name="adj" fmla="val 4444"/>
              </a:avLst>
            </a:prstGeom>
            <a:solidFill>
              <a:srgbClr val="FFF8F2"/>
            </a:solidFill>
            <a:ln w="9525">
              <a:solidFill>
                <a:srgbClr val="F0B8AE"/>
              </a:solidFill>
            </a:ln>
          </p:spPr>
        </p:sp>
        <p:sp>
          <p:nvSpPr>
            <p:cNvPr id="148" name="TextBox 148"/>
            <p:cNvSpPr txBox="1"/>
            <p:nvPr/>
          </p:nvSpPr>
          <p:spPr>
            <a:xfrm>
              <a:off x="2400910" y="4956334"/>
              <a:ext cx="627431" cy="257175"/>
            </a:xfrm>
            <a:prstGeom prst="rect">
              <a:avLst/>
            </a:prstGeom>
            <a:noFill/>
            <a:ln>
              <a:noFill/>
            </a:ln>
          </p:spPr>
          <p:txBody>
            <a:bodyPr wrap="none" lIns="0" tIns="0" rIns="0" bIns="0" anchor="t" anchorCtr="0">
              <a:spAutoFit/>
            </a:bodyPr>
            <a:lstStyle/>
            <a:p>
              <a:pPr algn="ctr">
                <a:lnSpc>
                  <a:spcPts val="975"/>
                </a:lnSpc>
              </a:pPr>
              <a:r>
                <a:rPr lang="zh-CN" sz="680" b="1" dirty="0">
                  <a:solidFill>
                    <a:srgbClr val="4A130A"/>
                  </a:solidFill>
                  <a:latin typeface="+mn-lt"/>
                  <a:ea typeface="+mn-ea"/>
                  <a:cs typeface="+mn-cs"/>
                </a:rPr>
                <a:t>​首笔支付金额​</a:t>
              </a:r>
            </a:p>
            <a:p>
              <a:pPr algn="ctr">
                <a:lnSpc>
                  <a:spcPts val="975"/>
                </a:lnSpc>
              </a:pPr>
              <a:r>
                <a:rPr lang="zh-CN" sz="600" dirty="0">
                  <a:solidFill>
                    <a:srgbClr val="7A716B"/>
                  </a:solidFill>
                  <a:latin typeface="+mn-lt"/>
                  <a:ea typeface="+mn-ea"/>
                  <a:cs typeface="+mn-cs"/>
                </a:rPr>
                <a:t>（中位数）</a:t>
              </a:r>
            </a:p>
          </p:txBody>
        </p:sp>
        <p:sp>
          <p:nvSpPr>
            <p:cNvPr id="149" name="TextBox 149"/>
            <p:cNvSpPr txBox="1"/>
            <p:nvPr/>
          </p:nvSpPr>
          <p:spPr>
            <a:xfrm>
              <a:off x="2479245" y="5405914"/>
              <a:ext cx="470760"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​68</a:t>
              </a:r>
              <a:r>
                <a:rPr lang="zh-CN" sz="750" b="1" dirty="0">
                  <a:solidFill>
                    <a:srgbClr val="C41D00"/>
                  </a:solidFill>
                  <a:latin typeface="+mn-lt"/>
                  <a:ea typeface="+mn-ea"/>
                  <a:cs typeface="+mn-cs"/>
                </a:rPr>
                <a:t>元​</a:t>
              </a:r>
            </a:p>
          </p:txBody>
        </p:sp>
        <p:sp>
          <p:nvSpPr>
            <p:cNvPr id="150" name="Rectangle 150"/>
            <p:cNvSpPr/>
            <p:nvPr/>
          </p:nvSpPr>
          <p:spPr>
            <a:xfrm>
              <a:off x="342900" y="5772150"/>
              <a:ext cx="1381125" cy="876300"/>
            </a:xfrm>
            <a:prstGeom prst="roundRect">
              <a:avLst>
                <a:gd name="adj" fmla="val 4348"/>
              </a:avLst>
            </a:prstGeom>
            <a:solidFill>
              <a:srgbClr val="FFF8F2"/>
            </a:solidFill>
            <a:ln w="9525">
              <a:solidFill>
                <a:srgbClr val="F0B8AE"/>
              </a:solidFill>
            </a:ln>
          </p:spPr>
        </p:sp>
        <p:sp>
          <p:nvSpPr>
            <p:cNvPr id="151" name="TextBox 151"/>
            <p:cNvSpPr txBox="1"/>
            <p:nvPr/>
          </p:nvSpPr>
          <p:spPr>
            <a:xfrm>
              <a:off x="597811" y="5927884"/>
              <a:ext cx="861777"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​30天人均交易笔数​</a:t>
              </a:r>
            </a:p>
          </p:txBody>
        </p:sp>
        <p:sp>
          <p:nvSpPr>
            <p:cNvPr id="152" name="TextBox 152"/>
            <p:cNvSpPr txBox="1"/>
            <p:nvPr/>
          </p:nvSpPr>
          <p:spPr>
            <a:xfrm>
              <a:off x="743565" y="6320314"/>
              <a:ext cx="570271"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​2.8</a:t>
              </a:r>
              <a:r>
                <a:rPr lang="zh-CN" sz="750" b="1" dirty="0">
                  <a:solidFill>
                    <a:srgbClr val="C41D00"/>
                  </a:solidFill>
                  <a:latin typeface="+mn-lt"/>
                  <a:ea typeface="+mn-ea"/>
                  <a:cs typeface="+mn-cs"/>
                </a:rPr>
                <a:t>笔​</a:t>
              </a:r>
            </a:p>
          </p:txBody>
        </p:sp>
        <p:sp>
          <p:nvSpPr>
            <p:cNvPr id="153" name="Rectangle 153"/>
            <p:cNvSpPr/>
            <p:nvPr/>
          </p:nvSpPr>
          <p:spPr>
            <a:xfrm>
              <a:off x="1781175" y="5772150"/>
              <a:ext cx="1381125" cy="876300"/>
            </a:xfrm>
            <a:prstGeom prst="roundRect">
              <a:avLst>
                <a:gd name="adj" fmla="val 4348"/>
              </a:avLst>
            </a:prstGeom>
            <a:solidFill>
              <a:srgbClr val="FFF8F2"/>
            </a:solidFill>
            <a:ln w="9525">
              <a:solidFill>
                <a:srgbClr val="F0B8AE"/>
              </a:solidFill>
            </a:ln>
          </p:spPr>
        </p:sp>
        <p:sp>
          <p:nvSpPr>
            <p:cNvPr id="154" name="TextBox 154"/>
            <p:cNvSpPr txBox="1"/>
            <p:nvPr/>
          </p:nvSpPr>
          <p:spPr>
            <a:xfrm>
              <a:off x="2036086" y="5927884"/>
              <a:ext cx="861777"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​30天人均交易金额​</a:t>
              </a:r>
            </a:p>
          </p:txBody>
        </p:sp>
        <p:sp>
          <p:nvSpPr>
            <p:cNvPr id="155" name="TextBox 155"/>
            <p:cNvSpPr txBox="1"/>
            <p:nvPr/>
          </p:nvSpPr>
          <p:spPr>
            <a:xfrm>
              <a:off x="2082329" y="6320314"/>
              <a:ext cx="769293"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​1,286</a:t>
              </a:r>
              <a:r>
                <a:rPr lang="zh-CN" sz="750" b="1" dirty="0">
                  <a:solidFill>
                    <a:srgbClr val="C41D00"/>
                  </a:solidFill>
                  <a:latin typeface="+mn-lt"/>
                  <a:ea typeface="+mn-ea"/>
                  <a:cs typeface="+mn-cs"/>
                </a:rPr>
                <a:t>元​</a:t>
              </a:r>
            </a:p>
          </p:txBody>
        </p:sp>
      </p:grpSp>
      <p:grpSp>
        <p:nvGrpSpPr>
          <p:cNvPr id="241" name="retention-curve"/>
          <p:cNvGrpSpPr/>
          <p:nvPr/>
        </p:nvGrpSpPr>
        <p:grpSpPr>
          <a:xfrm>
            <a:off x="3208782" y="1960245"/>
            <a:ext cx="3363468" cy="4707255"/>
            <a:chOff x="3208782" y="1960245"/>
            <a:chExt cx="3363468" cy="4707255"/>
          </a:xfrm>
        </p:grpSpPr>
        <p:grpSp>
          <p:nvGrpSpPr>
            <p:cNvPr id="159" name="Group 159"/>
            <p:cNvGrpSpPr/>
            <p:nvPr/>
          </p:nvGrpSpPr>
          <p:grpSpPr>
            <a:xfrm>
              <a:off x="3281362" y="1978819"/>
              <a:ext cx="95250" cy="86915"/>
              <a:chOff x="3281362" y="1978819"/>
              <a:chExt cx="95250" cy="86915"/>
            </a:xfrm>
          </p:grpSpPr>
          <p:sp>
            <p:nvSpPr>
              <p:cNvPr id="157" name="Freeform 157"/>
              <p:cNvSpPr/>
              <p:nvPr/>
            </p:nvSpPr>
            <p:spPr>
              <a:xfrm>
                <a:off x="3281362" y="2056209"/>
                <a:ext cx="95250" cy="9525"/>
              </a:xfrm>
              <a:custGeom>
                <a:avLst/>
                <a:gdLst/>
                <a:ahLst/>
                <a:cxnLst/>
                <a:rect l="l" t="t" r="r" b="b"/>
                <a:pathLst>
                  <a:path w="95250" h="9525">
                    <a:moveTo>
                      <a:pt x="0" y="0"/>
                    </a:moveTo>
                    <a:lnTo>
                      <a:pt x="95250" y="0"/>
                    </a:lnTo>
                  </a:path>
                </a:pathLst>
              </a:custGeom>
              <a:noFill/>
              <a:ln w="11906">
                <a:solidFill>
                  <a:srgbClr val="C41D00"/>
                </a:solidFill>
              </a:ln>
            </p:spPr>
          </p:sp>
          <p:sp>
            <p:nvSpPr>
              <p:cNvPr id="158" name="Freeform 158"/>
              <p:cNvSpPr/>
              <p:nvPr/>
            </p:nvSpPr>
            <p:spPr>
              <a:xfrm>
                <a:off x="3281362" y="1978819"/>
                <a:ext cx="95250" cy="53578"/>
              </a:xfrm>
              <a:custGeom>
                <a:avLst/>
                <a:gdLst/>
                <a:ahLst/>
                <a:cxnLst/>
                <a:rect l="l" t="t" r="r" b="b"/>
                <a:pathLst>
                  <a:path w="95250" h="53578">
                    <a:moveTo>
                      <a:pt x="0" y="53578"/>
                    </a:moveTo>
                    <a:lnTo>
                      <a:pt x="23812" y="17859"/>
                    </a:lnTo>
                    <a:lnTo>
                      <a:pt x="47625" y="29766"/>
                    </a:lnTo>
                    <a:lnTo>
                      <a:pt x="71438" y="0"/>
                    </a:lnTo>
                    <a:lnTo>
                      <a:pt x="95250" y="23812"/>
                    </a:lnTo>
                  </a:path>
                </a:pathLst>
              </a:custGeom>
              <a:noFill/>
              <a:ln w="11906">
                <a:solidFill>
                  <a:srgbClr val="C41D00"/>
                </a:solidFill>
              </a:ln>
            </p:spPr>
          </p:sp>
        </p:grpSp>
        <p:sp>
          <p:nvSpPr>
            <p:cNvPr id="160" name="TextBox 160"/>
            <p:cNvSpPr txBox="1"/>
            <p:nvPr/>
          </p:nvSpPr>
          <p:spPr>
            <a:xfrm>
              <a:off x="3443288" y="1960245"/>
              <a:ext cx="2499099" cy="176212"/>
            </a:xfrm>
            <a:prstGeom prst="rect">
              <a:avLst/>
            </a:prstGeom>
            <a:noFill/>
            <a:ln>
              <a:noFill/>
            </a:ln>
          </p:spPr>
          <p:txBody>
            <a:bodyPr wrap="none" lIns="0" tIns="0" rIns="0" bIns="0" anchor="t" anchorCtr="0">
              <a:spAutoFit/>
            </a:bodyPr>
            <a:lstStyle/>
            <a:p>
              <a:pPr algn="l"/>
              <a:r>
                <a:rPr lang="zh-CN" sz="900" b="1" dirty="0">
                  <a:solidFill>
                    <a:srgbClr val="C41D00"/>
                  </a:solidFill>
                  <a:latin typeface="+mn-lt"/>
                  <a:ea typeface="+mn-ea"/>
                  <a:cs typeface="+mn-cs"/>
                </a:rPr>
                <a:t>留存曲线（按开户当月同批新客 Cohort）​​​</a:t>
              </a:r>
            </a:p>
          </p:txBody>
        </p:sp>
        <p:sp>
          <p:nvSpPr>
            <p:cNvPr id="161" name="TextBox 161"/>
            <p:cNvSpPr txBox="1"/>
            <p:nvPr/>
          </p:nvSpPr>
          <p:spPr>
            <a:xfrm>
              <a:off x="3271838" y="2155984"/>
              <a:ext cx="1371595" cy="133350"/>
            </a:xfrm>
            <a:prstGeom prst="rect">
              <a:avLst/>
            </a:prstGeom>
            <a:noFill/>
            <a:ln>
              <a:noFill/>
            </a:ln>
          </p:spPr>
          <p:txBody>
            <a:bodyPr wrap="none" lIns="0" tIns="0" rIns="0" bIns="0" anchor="t" anchorCtr="0">
              <a:spAutoFit/>
            </a:bodyPr>
            <a:lstStyle/>
            <a:p>
              <a:pPr algn="l"/>
              <a:r>
                <a:rPr lang="zh-CN" sz="680" dirty="0">
                  <a:solidFill>
                    <a:srgbClr val="7A716B"/>
                  </a:solidFill>
                  <a:latin typeface="+mn-lt"/>
                  <a:ea typeface="+mn-ea"/>
                  <a:cs typeface="+mn-cs"/>
                </a:rPr>
                <a:t>D0 当日开户用户留存率（%）​​​</a:t>
              </a:r>
            </a:p>
          </p:txBody>
        </p:sp>
        <p:sp>
          <p:nvSpPr>
            <p:cNvPr id="162" name="Line 162"/>
            <p:cNvSpPr/>
            <p:nvPr/>
          </p:nvSpPr>
          <p:spPr>
            <a:xfrm>
              <a:off x="4038600" y="2381250"/>
              <a:ext cx="152400" cy="9525"/>
            </a:xfrm>
            <a:custGeom>
              <a:avLst/>
              <a:gdLst/>
              <a:ahLst/>
              <a:cxnLst/>
              <a:rect l="l" t="t" r="r" b="b"/>
              <a:pathLst>
                <a:path w="152400" h="9525">
                  <a:moveTo>
                    <a:pt x="0" y="0"/>
                  </a:moveTo>
                  <a:lnTo>
                    <a:pt x="152400" y="0"/>
                  </a:lnTo>
                </a:path>
              </a:pathLst>
            </a:custGeom>
            <a:noFill/>
            <a:ln w="23812">
              <a:solidFill>
                <a:srgbClr val="8F1C08"/>
              </a:solidFill>
            </a:ln>
          </p:spPr>
        </p:sp>
        <p:sp>
          <p:nvSpPr>
            <p:cNvPr id="163" name="TextBox 163"/>
            <p:cNvSpPr txBox="1"/>
            <p:nvPr/>
          </p:nvSpPr>
          <p:spPr>
            <a:xfrm>
              <a:off x="4033838" y="2341007"/>
              <a:ext cx="181839"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总体</a:t>
              </a:r>
            </a:p>
          </p:txBody>
        </p:sp>
        <p:sp>
          <p:nvSpPr>
            <p:cNvPr id="164" name="Line 164"/>
            <p:cNvSpPr/>
            <p:nvPr/>
          </p:nvSpPr>
          <p:spPr>
            <a:xfrm>
              <a:off x="4572000" y="2381250"/>
              <a:ext cx="152400" cy="9525"/>
            </a:xfrm>
            <a:custGeom>
              <a:avLst/>
              <a:gdLst/>
              <a:ahLst/>
              <a:cxnLst/>
              <a:rect l="l" t="t" r="r" b="b"/>
              <a:pathLst>
                <a:path w="152400" h="9525">
                  <a:moveTo>
                    <a:pt x="0" y="0"/>
                  </a:moveTo>
                  <a:lnTo>
                    <a:pt x="152400" y="0"/>
                  </a:lnTo>
                </a:path>
              </a:pathLst>
            </a:custGeom>
            <a:noFill/>
            <a:ln w="23812">
              <a:solidFill>
                <a:srgbClr val="D82000"/>
              </a:solidFill>
            </a:ln>
          </p:spPr>
        </p:sp>
        <p:sp>
          <p:nvSpPr>
            <p:cNvPr id="165" name="TextBox 165"/>
            <p:cNvSpPr txBox="1"/>
            <p:nvPr/>
          </p:nvSpPr>
          <p:spPr>
            <a:xfrm>
              <a:off x="4529138" y="2341007"/>
              <a:ext cx="746166"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完成首笔支付用户​</a:t>
              </a:r>
            </a:p>
          </p:txBody>
        </p:sp>
        <p:sp>
          <p:nvSpPr>
            <p:cNvPr id="166" name="Line 166"/>
            <p:cNvSpPr/>
            <p:nvPr/>
          </p:nvSpPr>
          <p:spPr>
            <a:xfrm>
              <a:off x="5524500" y="2381250"/>
              <a:ext cx="152400" cy="9525"/>
            </a:xfrm>
            <a:custGeom>
              <a:avLst/>
              <a:gdLst/>
              <a:ahLst/>
              <a:cxnLst/>
              <a:rect l="l" t="t" r="r" b="b"/>
              <a:pathLst>
                <a:path w="152400" h="9525">
                  <a:moveTo>
                    <a:pt x="0" y="0"/>
                  </a:moveTo>
                  <a:lnTo>
                    <a:pt x="152400" y="0"/>
                  </a:lnTo>
                </a:path>
              </a:pathLst>
            </a:custGeom>
            <a:noFill/>
            <a:ln w="23812">
              <a:solidFill>
                <a:srgbClr val="F2553A"/>
              </a:solidFill>
            </a:ln>
          </p:spPr>
        </p:sp>
        <p:sp>
          <p:nvSpPr>
            <p:cNvPr id="167" name="TextBox 167"/>
            <p:cNvSpPr txBox="1"/>
            <p:nvPr/>
          </p:nvSpPr>
          <p:spPr>
            <a:xfrm>
              <a:off x="5481638" y="2341007"/>
              <a:ext cx="1013252"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购买理财/开通储蓄用户​​</a:t>
              </a:r>
            </a:p>
          </p:txBody>
        </p:sp>
        <p:sp>
          <p:nvSpPr>
            <p:cNvPr id="168" name="Line 168"/>
            <p:cNvSpPr/>
            <p:nvPr/>
          </p:nvSpPr>
          <p:spPr>
            <a:xfrm>
              <a:off x="3933825" y="2609850"/>
              <a:ext cx="2438400" cy="9525"/>
            </a:xfrm>
            <a:custGeom>
              <a:avLst/>
              <a:gdLst/>
              <a:ahLst/>
              <a:cxnLst/>
              <a:rect l="l" t="t" r="r" b="b"/>
              <a:pathLst>
                <a:path w="2438400" h="9525">
                  <a:moveTo>
                    <a:pt x="0" y="0"/>
                  </a:moveTo>
                  <a:lnTo>
                    <a:pt x="2438400" y="0"/>
                  </a:lnTo>
                </a:path>
              </a:pathLst>
            </a:custGeom>
            <a:noFill/>
            <a:ln w="9525">
              <a:solidFill>
                <a:srgbClr val="EADBCE"/>
              </a:solidFill>
            </a:ln>
          </p:spPr>
        </p:sp>
        <p:sp>
          <p:nvSpPr>
            <p:cNvPr id="169" name="Line 169"/>
            <p:cNvSpPr/>
            <p:nvPr/>
          </p:nvSpPr>
          <p:spPr>
            <a:xfrm>
              <a:off x="3933825" y="3242310"/>
              <a:ext cx="2438400" cy="9525"/>
            </a:xfrm>
            <a:custGeom>
              <a:avLst/>
              <a:gdLst/>
              <a:ahLst/>
              <a:cxnLst/>
              <a:rect l="l" t="t" r="r" b="b"/>
              <a:pathLst>
                <a:path w="2438400" h="9525">
                  <a:moveTo>
                    <a:pt x="0" y="0"/>
                  </a:moveTo>
                  <a:lnTo>
                    <a:pt x="2438400" y="0"/>
                  </a:lnTo>
                </a:path>
              </a:pathLst>
            </a:custGeom>
            <a:noFill/>
            <a:ln w="9525">
              <a:solidFill>
                <a:srgbClr val="EADBCE"/>
              </a:solidFill>
            </a:ln>
          </p:spPr>
        </p:sp>
        <p:sp>
          <p:nvSpPr>
            <p:cNvPr id="170" name="Line 170"/>
            <p:cNvSpPr/>
            <p:nvPr/>
          </p:nvSpPr>
          <p:spPr>
            <a:xfrm>
              <a:off x="3933825" y="3874770"/>
              <a:ext cx="2438400" cy="9525"/>
            </a:xfrm>
            <a:custGeom>
              <a:avLst/>
              <a:gdLst/>
              <a:ahLst/>
              <a:cxnLst/>
              <a:rect l="l" t="t" r="r" b="b"/>
              <a:pathLst>
                <a:path w="2438400" h="9525">
                  <a:moveTo>
                    <a:pt x="0" y="0"/>
                  </a:moveTo>
                  <a:lnTo>
                    <a:pt x="2438400" y="0"/>
                  </a:lnTo>
                </a:path>
              </a:pathLst>
            </a:custGeom>
            <a:noFill/>
            <a:ln w="9525">
              <a:solidFill>
                <a:srgbClr val="EADBCE"/>
              </a:solidFill>
            </a:ln>
          </p:spPr>
        </p:sp>
        <p:sp>
          <p:nvSpPr>
            <p:cNvPr id="171" name="Line 171"/>
            <p:cNvSpPr/>
            <p:nvPr/>
          </p:nvSpPr>
          <p:spPr>
            <a:xfrm>
              <a:off x="3933825" y="4507230"/>
              <a:ext cx="2438400" cy="9525"/>
            </a:xfrm>
            <a:custGeom>
              <a:avLst/>
              <a:gdLst/>
              <a:ahLst/>
              <a:cxnLst/>
              <a:rect l="l" t="t" r="r" b="b"/>
              <a:pathLst>
                <a:path w="2438400" h="9525">
                  <a:moveTo>
                    <a:pt x="0" y="0"/>
                  </a:moveTo>
                  <a:lnTo>
                    <a:pt x="2438400" y="0"/>
                  </a:lnTo>
                </a:path>
              </a:pathLst>
            </a:custGeom>
            <a:noFill/>
            <a:ln w="9525">
              <a:solidFill>
                <a:srgbClr val="EADBCE"/>
              </a:solidFill>
            </a:ln>
          </p:spPr>
        </p:sp>
        <p:sp>
          <p:nvSpPr>
            <p:cNvPr id="172" name="Line 172"/>
            <p:cNvSpPr/>
            <p:nvPr/>
          </p:nvSpPr>
          <p:spPr>
            <a:xfrm>
              <a:off x="3933825" y="5139690"/>
              <a:ext cx="2438400" cy="9525"/>
            </a:xfrm>
            <a:custGeom>
              <a:avLst/>
              <a:gdLst/>
              <a:ahLst/>
              <a:cxnLst/>
              <a:rect l="l" t="t" r="r" b="b"/>
              <a:pathLst>
                <a:path w="2438400" h="9525">
                  <a:moveTo>
                    <a:pt x="0" y="0"/>
                  </a:moveTo>
                  <a:lnTo>
                    <a:pt x="2438400" y="0"/>
                  </a:lnTo>
                </a:path>
              </a:pathLst>
            </a:custGeom>
            <a:noFill/>
            <a:ln w="9525">
              <a:solidFill>
                <a:srgbClr val="EADBCE"/>
              </a:solidFill>
            </a:ln>
          </p:spPr>
        </p:sp>
        <p:sp>
          <p:nvSpPr>
            <p:cNvPr id="173" name="Line 173"/>
            <p:cNvSpPr/>
            <p:nvPr/>
          </p:nvSpPr>
          <p:spPr>
            <a:xfrm>
              <a:off x="3933825" y="5772150"/>
              <a:ext cx="2438400" cy="9525"/>
            </a:xfrm>
            <a:custGeom>
              <a:avLst/>
              <a:gdLst/>
              <a:ahLst/>
              <a:cxnLst/>
              <a:rect l="l" t="t" r="r" b="b"/>
              <a:pathLst>
                <a:path w="2438400" h="9525">
                  <a:moveTo>
                    <a:pt x="0" y="0"/>
                  </a:moveTo>
                  <a:lnTo>
                    <a:pt x="2438400" y="0"/>
                  </a:lnTo>
                </a:path>
              </a:pathLst>
            </a:custGeom>
            <a:noFill/>
            <a:ln w="9525">
              <a:solidFill>
                <a:srgbClr val="7A716B"/>
              </a:solidFill>
            </a:ln>
          </p:spPr>
        </p:sp>
        <p:sp>
          <p:nvSpPr>
            <p:cNvPr id="174" name="Line 174"/>
            <p:cNvSpPr/>
            <p:nvPr/>
          </p:nvSpPr>
          <p:spPr>
            <a:xfrm>
              <a:off x="3933825" y="2609850"/>
              <a:ext cx="9525" cy="3162300"/>
            </a:xfrm>
            <a:custGeom>
              <a:avLst/>
              <a:gdLst/>
              <a:ahLst/>
              <a:cxnLst/>
              <a:rect l="l" t="t" r="r" b="b"/>
              <a:pathLst>
                <a:path w="9525" h="3162300">
                  <a:moveTo>
                    <a:pt x="0" y="0"/>
                  </a:moveTo>
                  <a:lnTo>
                    <a:pt x="0" y="3162300"/>
                  </a:lnTo>
                </a:path>
              </a:pathLst>
            </a:custGeom>
            <a:noFill/>
            <a:ln w="9525">
              <a:solidFill>
                <a:srgbClr val="7A716B"/>
              </a:solidFill>
            </a:ln>
          </p:spPr>
        </p:sp>
        <p:sp>
          <p:nvSpPr>
            <p:cNvPr id="175" name="TextBox 175"/>
            <p:cNvSpPr txBox="1"/>
            <p:nvPr/>
          </p:nvSpPr>
          <p:spPr>
            <a:xfrm>
              <a:off x="3570364" y="2569607"/>
              <a:ext cx="311074"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​​100%</a:t>
              </a:r>
            </a:p>
          </p:txBody>
        </p:sp>
        <p:sp>
          <p:nvSpPr>
            <p:cNvPr id="176" name="TextBox 176"/>
            <p:cNvSpPr txBox="1"/>
            <p:nvPr/>
          </p:nvSpPr>
          <p:spPr>
            <a:xfrm>
              <a:off x="3617750" y="3198257"/>
              <a:ext cx="263688"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​​80%</a:t>
              </a:r>
            </a:p>
          </p:txBody>
        </p:sp>
        <p:sp>
          <p:nvSpPr>
            <p:cNvPr id="177" name="TextBox 177"/>
            <p:cNvSpPr txBox="1"/>
            <p:nvPr/>
          </p:nvSpPr>
          <p:spPr>
            <a:xfrm>
              <a:off x="3617750" y="3836432"/>
              <a:ext cx="263688"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​​60%</a:t>
              </a:r>
            </a:p>
          </p:txBody>
        </p:sp>
        <p:sp>
          <p:nvSpPr>
            <p:cNvPr id="178" name="TextBox 178"/>
            <p:cNvSpPr txBox="1"/>
            <p:nvPr/>
          </p:nvSpPr>
          <p:spPr>
            <a:xfrm>
              <a:off x="3617750" y="4465082"/>
              <a:ext cx="263688"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​​40%</a:t>
              </a:r>
            </a:p>
          </p:txBody>
        </p:sp>
        <p:sp>
          <p:nvSpPr>
            <p:cNvPr id="179" name="TextBox 179"/>
            <p:cNvSpPr txBox="1"/>
            <p:nvPr/>
          </p:nvSpPr>
          <p:spPr>
            <a:xfrm>
              <a:off x="3617750" y="5103257"/>
              <a:ext cx="263688"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​​20%</a:t>
              </a:r>
            </a:p>
          </p:txBody>
        </p:sp>
        <p:sp>
          <p:nvSpPr>
            <p:cNvPr id="180" name="TextBox 180"/>
            <p:cNvSpPr txBox="1"/>
            <p:nvPr/>
          </p:nvSpPr>
          <p:spPr>
            <a:xfrm>
              <a:off x="3665136" y="5731907"/>
              <a:ext cx="216301"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​​0%</a:t>
              </a:r>
            </a:p>
          </p:txBody>
        </p:sp>
        <p:sp>
          <p:nvSpPr>
            <p:cNvPr id="181" name="Polyline 181"/>
            <p:cNvSpPr/>
            <p:nvPr/>
          </p:nvSpPr>
          <p:spPr>
            <a:xfrm>
              <a:off x="3936682" y="2609850"/>
              <a:ext cx="2432685" cy="1966912"/>
            </a:xfrm>
            <a:custGeom>
              <a:avLst/>
              <a:gdLst/>
              <a:ahLst/>
              <a:cxnLst/>
              <a:rect l="l" t="t" r="r" b="b"/>
              <a:pathLst>
                <a:path w="2432685" h="1966912">
                  <a:moveTo>
                    <a:pt x="0" y="0"/>
                  </a:moveTo>
                  <a:lnTo>
                    <a:pt x="405765" y="328612"/>
                  </a:lnTo>
                  <a:lnTo>
                    <a:pt x="810577" y="534353"/>
                  </a:lnTo>
                  <a:lnTo>
                    <a:pt x="1216342" y="872490"/>
                  </a:lnTo>
                  <a:lnTo>
                    <a:pt x="1622108" y="1305878"/>
                  </a:lnTo>
                  <a:lnTo>
                    <a:pt x="2026920" y="1732597"/>
                  </a:lnTo>
                  <a:lnTo>
                    <a:pt x="2432685" y="1966912"/>
                  </a:lnTo>
                </a:path>
              </a:pathLst>
            </a:custGeom>
            <a:noFill/>
            <a:ln w="20955">
              <a:solidFill>
                <a:srgbClr val="F2553A"/>
              </a:solidFill>
            </a:ln>
          </p:spPr>
        </p:sp>
        <p:sp>
          <p:nvSpPr>
            <p:cNvPr id="182" name="Polyline 182"/>
            <p:cNvSpPr/>
            <p:nvPr/>
          </p:nvSpPr>
          <p:spPr>
            <a:xfrm>
              <a:off x="3936682" y="2609850"/>
              <a:ext cx="2432685" cy="2573655"/>
            </a:xfrm>
            <a:custGeom>
              <a:avLst/>
              <a:gdLst/>
              <a:ahLst/>
              <a:cxnLst/>
              <a:rect l="l" t="t" r="r" b="b"/>
              <a:pathLst>
                <a:path w="2432685" h="2573655">
                  <a:moveTo>
                    <a:pt x="0" y="0"/>
                  </a:moveTo>
                  <a:lnTo>
                    <a:pt x="405765" y="685800"/>
                  </a:lnTo>
                  <a:lnTo>
                    <a:pt x="810577" y="1068705"/>
                  </a:lnTo>
                  <a:lnTo>
                    <a:pt x="1216342" y="1545908"/>
                  </a:lnTo>
                  <a:lnTo>
                    <a:pt x="1622108" y="2002155"/>
                  </a:lnTo>
                  <a:lnTo>
                    <a:pt x="2026920" y="2368868"/>
                  </a:lnTo>
                  <a:lnTo>
                    <a:pt x="2432685" y="2573655"/>
                  </a:lnTo>
                </a:path>
              </a:pathLst>
            </a:custGeom>
            <a:noFill/>
            <a:ln w="20955">
              <a:solidFill>
                <a:srgbClr val="D82000"/>
              </a:solidFill>
            </a:ln>
          </p:spPr>
        </p:sp>
        <p:sp>
          <p:nvSpPr>
            <p:cNvPr id="183" name="Polyline 183"/>
            <p:cNvSpPr/>
            <p:nvPr/>
          </p:nvSpPr>
          <p:spPr>
            <a:xfrm>
              <a:off x="3936682" y="2609850"/>
              <a:ext cx="2432685" cy="2889885"/>
            </a:xfrm>
            <a:custGeom>
              <a:avLst/>
              <a:gdLst/>
              <a:ahLst/>
              <a:cxnLst/>
              <a:rect l="l" t="t" r="r" b="b"/>
              <a:pathLst>
                <a:path w="2432685" h="2889885">
                  <a:moveTo>
                    <a:pt x="0" y="0"/>
                  </a:moveTo>
                  <a:lnTo>
                    <a:pt x="405765" y="1188720"/>
                  </a:lnTo>
                  <a:lnTo>
                    <a:pt x="810577" y="1622108"/>
                  </a:lnTo>
                  <a:lnTo>
                    <a:pt x="1216342" y="2131695"/>
                  </a:lnTo>
                  <a:lnTo>
                    <a:pt x="1622108" y="2526982"/>
                  </a:lnTo>
                  <a:lnTo>
                    <a:pt x="2026920" y="2773680"/>
                  </a:lnTo>
                  <a:lnTo>
                    <a:pt x="2432685" y="2889885"/>
                  </a:lnTo>
                </a:path>
              </a:pathLst>
            </a:custGeom>
            <a:noFill/>
            <a:ln w="20955">
              <a:solidFill>
                <a:srgbClr val="8F1C08"/>
              </a:solidFill>
            </a:ln>
          </p:spPr>
        </p:sp>
        <p:sp>
          <p:nvSpPr>
            <p:cNvPr id="184" name="Ellipse 184"/>
            <p:cNvSpPr/>
            <p:nvPr/>
          </p:nvSpPr>
          <p:spPr>
            <a:xfrm>
              <a:off x="3912870" y="2586038"/>
              <a:ext cx="47625" cy="47625"/>
            </a:xfrm>
            <a:prstGeom prst="ellipse">
              <a:avLst/>
            </a:prstGeom>
            <a:solidFill>
              <a:srgbClr val="8F1C08"/>
            </a:solidFill>
            <a:ln>
              <a:noFill/>
            </a:ln>
          </p:spPr>
        </p:sp>
        <p:sp>
          <p:nvSpPr>
            <p:cNvPr id="185" name="Ellipse 185"/>
            <p:cNvSpPr/>
            <p:nvPr/>
          </p:nvSpPr>
          <p:spPr>
            <a:xfrm>
              <a:off x="4318635" y="2914650"/>
              <a:ext cx="47625" cy="47625"/>
            </a:xfrm>
            <a:prstGeom prst="ellipse">
              <a:avLst/>
            </a:prstGeom>
            <a:solidFill>
              <a:srgbClr val="F2553A"/>
            </a:solidFill>
            <a:ln>
              <a:noFill/>
            </a:ln>
          </p:spPr>
        </p:sp>
        <p:sp>
          <p:nvSpPr>
            <p:cNvPr id="186" name="Ellipse 186"/>
            <p:cNvSpPr/>
            <p:nvPr/>
          </p:nvSpPr>
          <p:spPr>
            <a:xfrm>
              <a:off x="4723448" y="3120390"/>
              <a:ext cx="47625" cy="47625"/>
            </a:xfrm>
            <a:prstGeom prst="ellipse">
              <a:avLst/>
            </a:prstGeom>
            <a:solidFill>
              <a:srgbClr val="F2553A"/>
            </a:solidFill>
            <a:ln>
              <a:noFill/>
            </a:ln>
          </p:spPr>
        </p:sp>
        <p:sp>
          <p:nvSpPr>
            <p:cNvPr id="187" name="Ellipse 187"/>
            <p:cNvSpPr/>
            <p:nvPr/>
          </p:nvSpPr>
          <p:spPr>
            <a:xfrm>
              <a:off x="5129212" y="3458528"/>
              <a:ext cx="47625" cy="47625"/>
            </a:xfrm>
            <a:prstGeom prst="ellipse">
              <a:avLst/>
            </a:prstGeom>
            <a:solidFill>
              <a:srgbClr val="F2553A"/>
            </a:solidFill>
            <a:ln>
              <a:noFill/>
            </a:ln>
          </p:spPr>
        </p:sp>
        <p:sp>
          <p:nvSpPr>
            <p:cNvPr id="188" name="Ellipse 188"/>
            <p:cNvSpPr/>
            <p:nvPr/>
          </p:nvSpPr>
          <p:spPr>
            <a:xfrm>
              <a:off x="5534978" y="3891915"/>
              <a:ext cx="47625" cy="47625"/>
            </a:xfrm>
            <a:prstGeom prst="ellipse">
              <a:avLst/>
            </a:prstGeom>
            <a:solidFill>
              <a:srgbClr val="F2553A"/>
            </a:solidFill>
            <a:ln>
              <a:noFill/>
            </a:ln>
          </p:spPr>
        </p:sp>
        <p:sp>
          <p:nvSpPr>
            <p:cNvPr id="189" name="Ellipse 189"/>
            <p:cNvSpPr/>
            <p:nvPr/>
          </p:nvSpPr>
          <p:spPr>
            <a:xfrm>
              <a:off x="5939790" y="4318635"/>
              <a:ext cx="47625" cy="47625"/>
            </a:xfrm>
            <a:prstGeom prst="ellipse">
              <a:avLst/>
            </a:prstGeom>
            <a:solidFill>
              <a:srgbClr val="F2553A"/>
            </a:solidFill>
            <a:ln>
              <a:noFill/>
            </a:ln>
          </p:spPr>
        </p:sp>
        <p:sp>
          <p:nvSpPr>
            <p:cNvPr id="190" name="Ellipse 190"/>
            <p:cNvSpPr/>
            <p:nvPr/>
          </p:nvSpPr>
          <p:spPr>
            <a:xfrm>
              <a:off x="6345555" y="4552950"/>
              <a:ext cx="47625" cy="47625"/>
            </a:xfrm>
            <a:prstGeom prst="ellipse">
              <a:avLst/>
            </a:prstGeom>
            <a:solidFill>
              <a:srgbClr val="F2553A"/>
            </a:solidFill>
            <a:ln>
              <a:noFill/>
            </a:ln>
          </p:spPr>
        </p:sp>
        <p:sp>
          <p:nvSpPr>
            <p:cNvPr id="191" name="Ellipse 191"/>
            <p:cNvSpPr/>
            <p:nvPr/>
          </p:nvSpPr>
          <p:spPr>
            <a:xfrm>
              <a:off x="4318635" y="3271838"/>
              <a:ext cx="47625" cy="47625"/>
            </a:xfrm>
            <a:prstGeom prst="ellipse">
              <a:avLst/>
            </a:prstGeom>
            <a:solidFill>
              <a:srgbClr val="D82000"/>
            </a:solidFill>
            <a:ln>
              <a:noFill/>
            </a:ln>
          </p:spPr>
        </p:sp>
        <p:sp>
          <p:nvSpPr>
            <p:cNvPr id="192" name="Ellipse 192"/>
            <p:cNvSpPr/>
            <p:nvPr/>
          </p:nvSpPr>
          <p:spPr>
            <a:xfrm>
              <a:off x="4723448" y="3654742"/>
              <a:ext cx="47625" cy="47625"/>
            </a:xfrm>
            <a:prstGeom prst="ellipse">
              <a:avLst/>
            </a:prstGeom>
            <a:solidFill>
              <a:srgbClr val="D82000"/>
            </a:solidFill>
            <a:ln>
              <a:noFill/>
            </a:ln>
          </p:spPr>
        </p:sp>
        <p:sp>
          <p:nvSpPr>
            <p:cNvPr id="193" name="Ellipse 193"/>
            <p:cNvSpPr/>
            <p:nvPr/>
          </p:nvSpPr>
          <p:spPr>
            <a:xfrm>
              <a:off x="5129212" y="4131945"/>
              <a:ext cx="47625" cy="47625"/>
            </a:xfrm>
            <a:prstGeom prst="ellipse">
              <a:avLst/>
            </a:prstGeom>
            <a:solidFill>
              <a:srgbClr val="D82000"/>
            </a:solidFill>
            <a:ln>
              <a:noFill/>
            </a:ln>
          </p:spPr>
        </p:sp>
        <p:sp>
          <p:nvSpPr>
            <p:cNvPr id="194" name="Ellipse 194"/>
            <p:cNvSpPr/>
            <p:nvPr/>
          </p:nvSpPr>
          <p:spPr>
            <a:xfrm>
              <a:off x="5534978" y="4588192"/>
              <a:ext cx="47625" cy="47625"/>
            </a:xfrm>
            <a:prstGeom prst="ellipse">
              <a:avLst/>
            </a:prstGeom>
            <a:solidFill>
              <a:srgbClr val="D82000"/>
            </a:solidFill>
            <a:ln>
              <a:noFill/>
            </a:ln>
          </p:spPr>
        </p:sp>
        <p:sp>
          <p:nvSpPr>
            <p:cNvPr id="195" name="Ellipse 195"/>
            <p:cNvSpPr/>
            <p:nvPr/>
          </p:nvSpPr>
          <p:spPr>
            <a:xfrm>
              <a:off x="5939790" y="4954905"/>
              <a:ext cx="47625" cy="47625"/>
            </a:xfrm>
            <a:prstGeom prst="ellipse">
              <a:avLst/>
            </a:prstGeom>
            <a:solidFill>
              <a:srgbClr val="D82000"/>
            </a:solidFill>
            <a:ln>
              <a:noFill/>
            </a:ln>
          </p:spPr>
        </p:sp>
        <p:sp>
          <p:nvSpPr>
            <p:cNvPr id="196" name="Ellipse 196"/>
            <p:cNvSpPr/>
            <p:nvPr/>
          </p:nvSpPr>
          <p:spPr>
            <a:xfrm>
              <a:off x="6345555" y="5159692"/>
              <a:ext cx="47625" cy="47625"/>
            </a:xfrm>
            <a:prstGeom prst="ellipse">
              <a:avLst/>
            </a:prstGeom>
            <a:solidFill>
              <a:srgbClr val="D82000"/>
            </a:solidFill>
            <a:ln>
              <a:noFill/>
            </a:ln>
          </p:spPr>
        </p:sp>
        <p:sp>
          <p:nvSpPr>
            <p:cNvPr id="197" name="Ellipse 197"/>
            <p:cNvSpPr/>
            <p:nvPr/>
          </p:nvSpPr>
          <p:spPr>
            <a:xfrm>
              <a:off x="4318635" y="3774758"/>
              <a:ext cx="47625" cy="47625"/>
            </a:xfrm>
            <a:prstGeom prst="ellipse">
              <a:avLst/>
            </a:prstGeom>
            <a:solidFill>
              <a:srgbClr val="8F1C08"/>
            </a:solidFill>
            <a:ln>
              <a:noFill/>
            </a:ln>
          </p:spPr>
        </p:sp>
        <p:sp>
          <p:nvSpPr>
            <p:cNvPr id="198" name="Ellipse 198"/>
            <p:cNvSpPr/>
            <p:nvPr/>
          </p:nvSpPr>
          <p:spPr>
            <a:xfrm>
              <a:off x="4723448" y="4208145"/>
              <a:ext cx="47625" cy="47625"/>
            </a:xfrm>
            <a:prstGeom prst="ellipse">
              <a:avLst/>
            </a:prstGeom>
            <a:solidFill>
              <a:srgbClr val="8F1C08"/>
            </a:solidFill>
            <a:ln>
              <a:noFill/>
            </a:ln>
          </p:spPr>
        </p:sp>
        <p:sp>
          <p:nvSpPr>
            <p:cNvPr id="199" name="Ellipse 199"/>
            <p:cNvSpPr/>
            <p:nvPr/>
          </p:nvSpPr>
          <p:spPr>
            <a:xfrm>
              <a:off x="5129212" y="4717732"/>
              <a:ext cx="47625" cy="47625"/>
            </a:xfrm>
            <a:prstGeom prst="ellipse">
              <a:avLst/>
            </a:prstGeom>
            <a:solidFill>
              <a:srgbClr val="8F1C08"/>
            </a:solidFill>
            <a:ln>
              <a:noFill/>
            </a:ln>
          </p:spPr>
        </p:sp>
        <p:sp>
          <p:nvSpPr>
            <p:cNvPr id="200" name="Ellipse 200"/>
            <p:cNvSpPr/>
            <p:nvPr/>
          </p:nvSpPr>
          <p:spPr>
            <a:xfrm>
              <a:off x="5534978" y="5113020"/>
              <a:ext cx="47625" cy="47625"/>
            </a:xfrm>
            <a:prstGeom prst="ellipse">
              <a:avLst/>
            </a:prstGeom>
            <a:solidFill>
              <a:srgbClr val="8F1C08"/>
            </a:solidFill>
            <a:ln>
              <a:noFill/>
            </a:ln>
          </p:spPr>
        </p:sp>
        <p:sp>
          <p:nvSpPr>
            <p:cNvPr id="201" name="Ellipse 201"/>
            <p:cNvSpPr/>
            <p:nvPr/>
          </p:nvSpPr>
          <p:spPr>
            <a:xfrm>
              <a:off x="5939790" y="5359718"/>
              <a:ext cx="47625" cy="47625"/>
            </a:xfrm>
            <a:prstGeom prst="ellipse">
              <a:avLst/>
            </a:prstGeom>
            <a:solidFill>
              <a:srgbClr val="8F1C08"/>
            </a:solidFill>
            <a:ln>
              <a:noFill/>
            </a:ln>
          </p:spPr>
        </p:sp>
        <p:sp>
          <p:nvSpPr>
            <p:cNvPr id="202" name="Ellipse 202"/>
            <p:cNvSpPr/>
            <p:nvPr/>
          </p:nvSpPr>
          <p:spPr>
            <a:xfrm>
              <a:off x="6345555" y="5475922"/>
              <a:ext cx="47625" cy="47625"/>
            </a:xfrm>
            <a:prstGeom prst="ellipse">
              <a:avLst/>
            </a:prstGeom>
            <a:solidFill>
              <a:srgbClr val="8F1C08"/>
            </a:solidFill>
            <a:ln>
              <a:noFill/>
            </a:ln>
          </p:spPr>
        </p:sp>
        <p:sp>
          <p:nvSpPr>
            <p:cNvPr id="203" name="TextBox 203"/>
            <p:cNvSpPr txBox="1"/>
            <p:nvPr/>
          </p:nvSpPr>
          <p:spPr>
            <a:xfrm>
              <a:off x="3976688" y="2506980"/>
              <a:ext cx="292227"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100%​​</a:t>
              </a:r>
            </a:p>
          </p:txBody>
        </p:sp>
        <p:sp>
          <p:nvSpPr>
            <p:cNvPr id="204" name="TextBox 204"/>
            <p:cNvSpPr txBox="1"/>
            <p:nvPr/>
          </p:nvSpPr>
          <p:spPr>
            <a:xfrm>
              <a:off x="4367212" y="283083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89.6%​​</a:t>
              </a:r>
            </a:p>
          </p:txBody>
        </p:sp>
        <p:sp>
          <p:nvSpPr>
            <p:cNvPr id="205" name="TextBox 205"/>
            <p:cNvSpPr txBox="1"/>
            <p:nvPr/>
          </p:nvSpPr>
          <p:spPr>
            <a:xfrm>
              <a:off x="4767262" y="304038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83.1%​​</a:t>
              </a:r>
            </a:p>
          </p:txBody>
        </p:sp>
        <p:sp>
          <p:nvSpPr>
            <p:cNvPr id="206" name="TextBox 206"/>
            <p:cNvSpPr txBox="1"/>
            <p:nvPr/>
          </p:nvSpPr>
          <p:spPr>
            <a:xfrm>
              <a:off x="5176838" y="3373755"/>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72.4%​​</a:t>
              </a:r>
            </a:p>
          </p:txBody>
        </p:sp>
        <p:sp>
          <p:nvSpPr>
            <p:cNvPr id="207" name="TextBox 207"/>
            <p:cNvSpPr txBox="1"/>
            <p:nvPr/>
          </p:nvSpPr>
          <p:spPr>
            <a:xfrm>
              <a:off x="5576888" y="3811905"/>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58.7%​​</a:t>
              </a:r>
            </a:p>
          </p:txBody>
        </p:sp>
        <p:sp>
          <p:nvSpPr>
            <p:cNvPr id="208" name="TextBox 208"/>
            <p:cNvSpPr txBox="1"/>
            <p:nvPr/>
          </p:nvSpPr>
          <p:spPr>
            <a:xfrm>
              <a:off x="5986462" y="424053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45.2%​​</a:t>
              </a:r>
            </a:p>
          </p:txBody>
        </p:sp>
        <p:sp>
          <p:nvSpPr>
            <p:cNvPr id="209" name="TextBox 209"/>
            <p:cNvSpPr txBox="1"/>
            <p:nvPr/>
          </p:nvSpPr>
          <p:spPr>
            <a:xfrm>
              <a:off x="6030811" y="4478655"/>
              <a:ext cx="336652" cy="119062"/>
            </a:xfrm>
            <a:prstGeom prst="rect">
              <a:avLst/>
            </a:prstGeom>
            <a:noFill/>
            <a:ln>
              <a:noFill/>
            </a:ln>
          </p:spPr>
          <p:txBody>
            <a:bodyPr wrap="none" lIns="0" tIns="0" rIns="0" bIns="0" anchor="t" anchorCtr="0">
              <a:spAutoFit/>
            </a:bodyPr>
            <a:lstStyle/>
            <a:p>
              <a:pPr algn="r"/>
              <a:r>
                <a:rPr lang="zh-CN" sz="600" dirty="0">
                  <a:solidFill>
                    <a:srgbClr val="3D3835"/>
                  </a:solidFill>
                  <a:latin typeface="+mn-lt"/>
                  <a:ea typeface="+mn-ea"/>
                  <a:cs typeface="+mn-cs"/>
                </a:rPr>
                <a:t>​​37.8%</a:t>
              </a:r>
            </a:p>
          </p:txBody>
        </p:sp>
        <p:sp>
          <p:nvSpPr>
            <p:cNvPr id="210" name="TextBox 210"/>
            <p:cNvSpPr txBox="1"/>
            <p:nvPr/>
          </p:nvSpPr>
          <p:spPr>
            <a:xfrm>
              <a:off x="4367212" y="334518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78.3%​​</a:t>
              </a:r>
            </a:p>
          </p:txBody>
        </p:sp>
        <p:sp>
          <p:nvSpPr>
            <p:cNvPr id="211" name="TextBox 211"/>
            <p:cNvSpPr txBox="1"/>
            <p:nvPr/>
          </p:nvSpPr>
          <p:spPr>
            <a:xfrm>
              <a:off x="4767262" y="372618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66.2%​​</a:t>
              </a:r>
            </a:p>
          </p:txBody>
        </p:sp>
        <p:sp>
          <p:nvSpPr>
            <p:cNvPr id="212" name="TextBox 212"/>
            <p:cNvSpPr txBox="1"/>
            <p:nvPr/>
          </p:nvSpPr>
          <p:spPr>
            <a:xfrm>
              <a:off x="5176838" y="420243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51.1%​​</a:t>
              </a:r>
            </a:p>
          </p:txBody>
        </p:sp>
        <p:sp>
          <p:nvSpPr>
            <p:cNvPr id="213" name="TextBox 213"/>
            <p:cNvSpPr txBox="1"/>
            <p:nvPr/>
          </p:nvSpPr>
          <p:spPr>
            <a:xfrm>
              <a:off x="5576888" y="465963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36.7%​​</a:t>
              </a:r>
            </a:p>
          </p:txBody>
        </p:sp>
        <p:sp>
          <p:nvSpPr>
            <p:cNvPr id="214" name="TextBox 214"/>
            <p:cNvSpPr txBox="1"/>
            <p:nvPr/>
          </p:nvSpPr>
          <p:spPr>
            <a:xfrm>
              <a:off x="5986462" y="502158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25.1%​​</a:t>
              </a:r>
            </a:p>
          </p:txBody>
        </p:sp>
        <p:sp>
          <p:nvSpPr>
            <p:cNvPr id="215" name="TextBox 215"/>
            <p:cNvSpPr txBox="1"/>
            <p:nvPr/>
          </p:nvSpPr>
          <p:spPr>
            <a:xfrm>
              <a:off x="6030811" y="5231130"/>
              <a:ext cx="336652" cy="119062"/>
            </a:xfrm>
            <a:prstGeom prst="rect">
              <a:avLst/>
            </a:prstGeom>
            <a:noFill/>
            <a:ln>
              <a:noFill/>
            </a:ln>
          </p:spPr>
          <p:txBody>
            <a:bodyPr wrap="none" lIns="0" tIns="0" rIns="0" bIns="0" anchor="t" anchorCtr="0">
              <a:spAutoFit/>
            </a:bodyPr>
            <a:lstStyle/>
            <a:p>
              <a:pPr algn="r"/>
              <a:r>
                <a:rPr lang="zh-CN" sz="600" dirty="0">
                  <a:solidFill>
                    <a:srgbClr val="3D3835"/>
                  </a:solidFill>
                  <a:latin typeface="+mn-lt"/>
                  <a:ea typeface="+mn-ea"/>
                  <a:cs typeface="+mn-cs"/>
                </a:rPr>
                <a:t>​​18.6%</a:t>
              </a:r>
            </a:p>
          </p:txBody>
        </p:sp>
        <p:sp>
          <p:nvSpPr>
            <p:cNvPr id="216" name="TextBox 216"/>
            <p:cNvSpPr txBox="1"/>
            <p:nvPr/>
          </p:nvSpPr>
          <p:spPr>
            <a:xfrm>
              <a:off x="4367212" y="385953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62.4%​​</a:t>
              </a:r>
            </a:p>
          </p:txBody>
        </p:sp>
        <p:sp>
          <p:nvSpPr>
            <p:cNvPr id="217" name="TextBox 217"/>
            <p:cNvSpPr txBox="1"/>
            <p:nvPr/>
          </p:nvSpPr>
          <p:spPr>
            <a:xfrm>
              <a:off x="4767262" y="4288155"/>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48.7%​​</a:t>
              </a:r>
            </a:p>
          </p:txBody>
        </p:sp>
        <p:sp>
          <p:nvSpPr>
            <p:cNvPr id="218" name="TextBox 218"/>
            <p:cNvSpPr txBox="1"/>
            <p:nvPr/>
          </p:nvSpPr>
          <p:spPr>
            <a:xfrm>
              <a:off x="5176838" y="4802505"/>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32.6%​​</a:t>
              </a:r>
            </a:p>
          </p:txBody>
        </p:sp>
        <p:sp>
          <p:nvSpPr>
            <p:cNvPr id="219" name="TextBox 219"/>
            <p:cNvSpPr txBox="1"/>
            <p:nvPr/>
          </p:nvSpPr>
          <p:spPr>
            <a:xfrm>
              <a:off x="5576888" y="519303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20.1%​​</a:t>
              </a:r>
            </a:p>
          </p:txBody>
        </p:sp>
        <p:sp>
          <p:nvSpPr>
            <p:cNvPr id="220" name="TextBox 220"/>
            <p:cNvSpPr txBox="1"/>
            <p:nvPr/>
          </p:nvSpPr>
          <p:spPr>
            <a:xfrm>
              <a:off x="5986462" y="5440680"/>
              <a:ext cx="33665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12.3%​​</a:t>
              </a:r>
            </a:p>
          </p:txBody>
        </p:sp>
        <p:sp>
          <p:nvSpPr>
            <p:cNvPr id="221" name="TextBox 221"/>
            <p:cNvSpPr txBox="1"/>
            <p:nvPr/>
          </p:nvSpPr>
          <p:spPr>
            <a:xfrm>
              <a:off x="6075236" y="5554980"/>
              <a:ext cx="292227" cy="119062"/>
            </a:xfrm>
            <a:prstGeom prst="rect">
              <a:avLst/>
            </a:prstGeom>
            <a:noFill/>
            <a:ln>
              <a:noFill/>
            </a:ln>
          </p:spPr>
          <p:txBody>
            <a:bodyPr wrap="none" lIns="0" tIns="0" rIns="0" bIns="0" anchor="t" anchorCtr="0">
              <a:spAutoFit/>
            </a:bodyPr>
            <a:lstStyle/>
            <a:p>
              <a:pPr algn="r"/>
              <a:r>
                <a:rPr lang="zh-CN" sz="600" dirty="0">
                  <a:solidFill>
                    <a:srgbClr val="3D3835"/>
                  </a:solidFill>
                  <a:latin typeface="+mn-lt"/>
                  <a:ea typeface="+mn-ea"/>
                  <a:cs typeface="+mn-cs"/>
                </a:rPr>
                <a:t>​​8.6%</a:t>
              </a:r>
            </a:p>
          </p:txBody>
        </p:sp>
        <p:sp>
          <p:nvSpPr>
            <p:cNvPr id="222" name="TextBox 222"/>
            <p:cNvSpPr txBox="1"/>
            <p:nvPr/>
          </p:nvSpPr>
          <p:spPr>
            <a:xfrm>
              <a:off x="3831783" y="5836682"/>
              <a:ext cx="209799" cy="126206"/>
            </a:xfrm>
            <a:prstGeom prst="rect">
              <a:avLst/>
            </a:prstGeom>
            <a:noFill/>
            <a:ln>
              <a:noFill/>
            </a:ln>
          </p:spPr>
          <p:txBody>
            <a:bodyPr wrap="none" lIns="0" tIns="0" rIns="0" bIns="0" anchor="t" anchorCtr="0">
              <a:spAutoFit/>
            </a:bodyPr>
            <a:lstStyle/>
            <a:p>
              <a:pPr algn="ctr"/>
              <a:r>
                <a:rPr lang="en-US" sz="640" dirty="0">
                  <a:solidFill>
                    <a:srgbClr val="7A716B"/>
                  </a:solidFill>
                  <a:latin typeface="+mn-lt"/>
                  <a:ea typeface="+mn-ea"/>
                  <a:cs typeface="+mn-cs"/>
                </a:rPr>
                <a:t>​D0​</a:t>
              </a:r>
            </a:p>
          </p:txBody>
        </p:sp>
        <p:sp>
          <p:nvSpPr>
            <p:cNvPr id="223" name="TextBox 223"/>
            <p:cNvSpPr txBox="1"/>
            <p:nvPr/>
          </p:nvSpPr>
          <p:spPr>
            <a:xfrm>
              <a:off x="4237548" y="5836682"/>
              <a:ext cx="209799" cy="126206"/>
            </a:xfrm>
            <a:prstGeom prst="rect">
              <a:avLst/>
            </a:prstGeom>
            <a:noFill/>
            <a:ln>
              <a:noFill/>
            </a:ln>
          </p:spPr>
          <p:txBody>
            <a:bodyPr wrap="none" lIns="0" tIns="0" rIns="0" bIns="0" anchor="t" anchorCtr="0">
              <a:spAutoFit/>
            </a:bodyPr>
            <a:lstStyle/>
            <a:p>
              <a:pPr algn="ctr"/>
              <a:r>
                <a:rPr lang="en-US" sz="640" dirty="0">
                  <a:solidFill>
                    <a:srgbClr val="7A716B"/>
                  </a:solidFill>
                  <a:latin typeface="+mn-lt"/>
                  <a:ea typeface="+mn-ea"/>
                  <a:cs typeface="+mn-cs"/>
                </a:rPr>
                <a:t>​D3​</a:t>
              </a:r>
            </a:p>
          </p:txBody>
        </p:sp>
        <p:sp>
          <p:nvSpPr>
            <p:cNvPr id="224" name="TextBox 224"/>
            <p:cNvSpPr txBox="1"/>
            <p:nvPr/>
          </p:nvSpPr>
          <p:spPr>
            <a:xfrm>
              <a:off x="4642361" y="5836682"/>
              <a:ext cx="209799" cy="126206"/>
            </a:xfrm>
            <a:prstGeom prst="rect">
              <a:avLst/>
            </a:prstGeom>
            <a:noFill/>
            <a:ln>
              <a:noFill/>
            </a:ln>
          </p:spPr>
          <p:txBody>
            <a:bodyPr wrap="none" lIns="0" tIns="0" rIns="0" bIns="0" anchor="t" anchorCtr="0">
              <a:spAutoFit/>
            </a:bodyPr>
            <a:lstStyle/>
            <a:p>
              <a:pPr algn="ctr"/>
              <a:r>
                <a:rPr lang="en-US" sz="640" dirty="0">
                  <a:solidFill>
                    <a:srgbClr val="7A716B"/>
                  </a:solidFill>
                  <a:latin typeface="+mn-lt"/>
                  <a:ea typeface="+mn-ea"/>
                  <a:cs typeface="+mn-cs"/>
                </a:rPr>
                <a:t>​D7​</a:t>
              </a:r>
            </a:p>
          </p:txBody>
        </p:sp>
        <p:sp>
          <p:nvSpPr>
            <p:cNvPr id="225" name="TextBox 225"/>
            <p:cNvSpPr txBox="1"/>
            <p:nvPr/>
          </p:nvSpPr>
          <p:spPr>
            <a:xfrm>
              <a:off x="5023091" y="5836682"/>
              <a:ext cx="259867" cy="126206"/>
            </a:xfrm>
            <a:prstGeom prst="rect">
              <a:avLst/>
            </a:prstGeom>
            <a:noFill/>
            <a:ln>
              <a:noFill/>
            </a:ln>
          </p:spPr>
          <p:txBody>
            <a:bodyPr wrap="none" lIns="0" tIns="0" rIns="0" bIns="0" anchor="t" anchorCtr="0">
              <a:spAutoFit/>
            </a:bodyPr>
            <a:lstStyle/>
            <a:p>
              <a:pPr algn="ctr"/>
              <a:r>
                <a:rPr lang="en-US" sz="640" dirty="0">
                  <a:solidFill>
                    <a:srgbClr val="7A716B"/>
                  </a:solidFill>
                  <a:latin typeface="+mn-lt"/>
                  <a:ea typeface="+mn-ea"/>
                  <a:cs typeface="+mn-cs"/>
                </a:rPr>
                <a:t>​D15​</a:t>
              </a:r>
            </a:p>
          </p:txBody>
        </p:sp>
        <p:sp>
          <p:nvSpPr>
            <p:cNvPr id="226" name="TextBox 226"/>
            <p:cNvSpPr txBox="1"/>
            <p:nvPr/>
          </p:nvSpPr>
          <p:spPr>
            <a:xfrm>
              <a:off x="5428856" y="5836682"/>
              <a:ext cx="259867" cy="126206"/>
            </a:xfrm>
            <a:prstGeom prst="rect">
              <a:avLst/>
            </a:prstGeom>
            <a:noFill/>
            <a:ln>
              <a:noFill/>
            </a:ln>
          </p:spPr>
          <p:txBody>
            <a:bodyPr wrap="none" lIns="0" tIns="0" rIns="0" bIns="0" anchor="t" anchorCtr="0">
              <a:spAutoFit/>
            </a:bodyPr>
            <a:lstStyle/>
            <a:p>
              <a:pPr algn="ctr"/>
              <a:r>
                <a:rPr lang="en-US" sz="640" dirty="0">
                  <a:solidFill>
                    <a:srgbClr val="7A716B"/>
                  </a:solidFill>
                  <a:latin typeface="+mn-lt"/>
                  <a:ea typeface="+mn-ea"/>
                  <a:cs typeface="+mn-cs"/>
                </a:rPr>
                <a:t>​D30​</a:t>
              </a:r>
            </a:p>
          </p:txBody>
        </p:sp>
        <p:sp>
          <p:nvSpPr>
            <p:cNvPr id="227" name="TextBox 227"/>
            <p:cNvSpPr txBox="1"/>
            <p:nvPr/>
          </p:nvSpPr>
          <p:spPr>
            <a:xfrm>
              <a:off x="5833669" y="5836682"/>
              <a:ext cx="259867" cy="126206"/>
            </a:xfrm>
            <a:prstGeom prst="rect">
              <a:avLst/>
            </a:prstGeom>
            <a:noFill/>
            <a:ln>
              <a:noFill/>
            </a:ln>
          </p:spPr>
          <p:txBody>
            <a:bodyPr wrap="none" lIns="0" tIns="0" rIns="0" bIns="0" anchor="t" anchorCtr="0">
              <a:spAutoFit/>
            </a:bodyPr>
            <a:lstStyle/>
            <a:p>
              <a:pPr algn="ctr"/>
              <a:r>
                <a:rPr lang="en-US" sz="640" dirty="0">
                  <a:solidFill>
                    <a:srgbClr val="7A716B"/>
                  </a:solidFill>
                  <a:latin typeface="+mn-lt"/>
                  <a:ea typeface="+mn-ea"/>
                  <a:cs typeface="+mn-cs"/>
                </a:rPr>
                <a:t>​D60​</a:t>
              </a:r>
            </a:p>
          </p:txBody>
        </p:sp>
        <p:sp>
          <p:nvSpPr>
            <p:cNvPr id="228" name="TextBox 228"/>
            <p:cNvSpPr txBox="1"/>
            <p:nvPr/>
          </p:nvSpPr>
          <p:spPr>
            <a:xfrm>
              <a:off x="6239434" y="5836682"/>
              <a:ext cx="259867" cy="126206"/>
            </a:xfrm>
            <a:prstGeom prst="rect">
              <a:avLst/>
            </a:prstGeom>
            <a:noFill/>
            <a:ln>
              <a:noFill/>
            </a:ln>
          </p:spPr>
          <p:txBody>
            <a:bodyPr wrap="none" lIns="0" tIns="0" rIns="0" bIns="0" anchor="t" anchorCtr="0">
              <a:spAutoFit/>
            </a:bodyPr>
            <a:lstStyle/>
            <a:p>
              <a:pPr algn="ctr"/>
              <a:r>
                <a:rPr lang="en-US" sz="640" dirty="0">
                  <a:solidFill>
                    <a:srgbClr val="7A716B"/>
                  </a:solidFill>
                  <a:latin typeface="+mn-lt"/>
                  <a:ea typeface="+mn-ea"/>
                  <a:cs typeface="+mn-cs"/>
                </a:rPr>
                <a:t>​D90​</a:t>
              </a:r>
            </a:p>
          </p:txBody>
        </p:sp>
        <p:sp>
          <p:nvSpPr>
            <p:cNvPr id="229" name="TextBox 229"/>
            <p:cNvSpPr txBox="1"/>
            <p:nvPr/>
          </p:nvSpPr>
          <p:spPr>
            <a:xfrm>
              <a:off x="4932870" y="5989082"/>
              <a:ext cx="440309" cy="126206"/>
            </a:xfrm>
            <a:prstGeom prst="rect">
              <a:avLst/>
            </a:prstGeom>
            <a:noFill/>
            <a:ln>
              <a:noFill/>
            </a:ln>
          </p:spPr>
          <p:txBody>
            <a:bodyPr wrap="none" lIns="0" tIns="0" rIns="0" bIns="0" anchor="t" anchorCtr="0">
              <a:spAutoFit/>
            </a:bodyPr>
            <a:lstStyle/>
            <a:p>
              <a:pPr algn="ctr"/>
              <a:r>
                <a:rPr lang="zh-CN" sz="640" dirty="0">
                  <a:solidFill>
                    <a:srgbClr val="7A716B"/>
                  </a:solidFill>
                  <a:latin typeface="+mn-lt"/>
                  <a:ea typeface="+mn-ea"/>
                  <a:cs typeface="+mn-cs"/>
                </a:rPr>
                <a:t>开户后天数</a:t>
              </a:r>
            </a:p>
          </p:txBody>
        </p:sp>
        <p:sp>
          <p:nvSpPr>
            <p:cNvPr id="230" name="Rectangle 230"/>
            <p:cNvSpPr/>
            <p:nvPr/>
          </p:nvSpPr>
          <p:spPr>
            <a:xfrm>
              <a:off x="3238500" y="6191250"/>
              <a:ext cx="3333750" cy="476250"/>
            </a:xfrm>
            <a:prstGeom prst="rect">
              <a:avLst/>
            </a:prstGeom>
            <a:solidFill>
              <a:srgbClr val="FFFFFF"/>
            </a:solidFill>
            <a:ln w="9525">
              <a:solidFill>
                <a:srgbClr val="F0B8AE"/>
              </a:solidFill>
            </a:ln>
          </p:spPr>
        </p:sp>
        <p:sp>
          <p:nvSpPr>
            <p:cNvPr id="231" name="Rectangle 231"/>
            <p:cNvSpPr/>
            <p:nvPr/>
          </p:nvSpPr>
          <p:spPr>
            <a:xfrm>
              <a:off x="3238500" y="6191250"/>
              <a:ext cx="495300" cy="476250"/>
            </a:xfrm>
            <a:prstGeom prst="rect">
              <a:avLst/>
            </a:prstGeom>
            <a:solidFill>
              <a:srgbClr val="FEF2E6"/>
            </a:solidFill>
            <a:ln>
              <a:noFill/>
            </a:ln>
          </p:spPr>
        </p:sp>
        <p:sp>
          <p:nvSpPr>
            <p:cNvPr id="232" name="TextBox 232"/>
            <p:cNvSpPr txBox="1"/>
            <p:nvPr/>
          </p:nvSpPr>
          <p:spPr>
            <a:xfrm>
              <a:off x="3208782" y="6336030"/>
              <a:ext cx="554736" cy="233362"/>
            </a:xfrm>
            <a:prstGeom prst="rect">
              <a:avLst/>
            </a:prstGeom>
            <a:noFill/>
            <a:ln>
              <a:noFill/>
            </a:ln>
          </p:spPr>
          <p:txBody>
            <a:bodyPr wrap="none" lIns="0" tIns="0" rIns="0" bIns="0" anchor="t" anchorCtr="0">
              <a:spAutoFit/>
            </a:bodyPr>
            <a:lstStyle/>
            <a:p>
              <a:pPr algn="ctr">
                <a:lnSpc>
                  <a:spcPts val="900"/>
                </a:lnSpc>
              </a:pPr>
              <a:r>
                <a:rPr lang="zh-CN" sz="600" b="1" dirty="0">
                  <a:solidFill>
                    <a:srgbClr val="4A130A"/>
                  </a:solidFill>
                  <a:latin typeface="+mn-lt"/>
                  <a:ea typeface="+mn-ea"/>
                  <a:cs typeface="+mn-cs"/>
                </a:rPr>
                <a:t>当日开户</a:t>
              </a:r>
              <a:br/>
              <a:r>
                <a:rPr lang="zh-CN" sz="600" b="1" dirty="0">
                  <a:solidFill>
                    <a:srgbClr val="4A130A"/>
                  </a:solidFill>
                  <a:latin typeface="+mn-lt"/>
                  <a:ea typeface="+mn-ea"/>
                  <a:cs typeface="+mn-cs"/>
                </a:rPr>
                <a:t>​用户数（人）​</a:t>
              </a:r>
            </a:p>
          </p:txBody>
        </p:sp>
        <p:sp>
          <p:nvSpPr>
            <p:cNvPr id="233" name="TextBox 233"/>
            <p:cNvSpPr txBox="1"/>
            <p:nvPr/>
          </p:nvSpPr>
          <p:spPr>
            <a:xfrm>
              <a:off x="3718682" y="6398657"/>
              <a:ext cx="436001"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​120,000​</a:t>
              </a:r>
            </a:p>
          </p:txBody>
        </p:sp>
        <p:sp>
          <p:nvSpPr>
            <p:cNvPr id="234" name="TextBox 234"/>
            <p:cNvSpPr txBox="1"/>
            <p:nvPr/>
          </p:nvSpPr>
          <p:spPr>
            <a:xfrm>
              <a:off x="4124447" y="6398657"/>
              <a:ext cx="436001"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​118,320​</a:t>
              </a:r>
            </a:p>
          </p:txBody>
        </p:sp>
        <p:sp>
          <p:nvSpPr>
            <p:cNvPr id="235" name="TextBox 235"/>
            <p:cNvSpPr txBox="1"/>
            <p:nvPr/>
          </p:nvSpPr>
          <p:spPr>
            <a:xfrm>
              <a:off x="4529259" y="6398657"/>
              <a:ext cx="436001"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​116,540​</a:t>
              </a:r>
            </a:p>
          </p:txBody>
        </p:sp>
        <p:sp>
          <p:nvSpPr>
            <p:cNvPr id="236" name="TextBox 236"/>
            <p:cNvSpPr txBox="1"/>
            <p:nvPr/>
          </p:nvSpPr>
          <p:spPr>
            <a:xfrm>
              <a:off x="4935024" y="6398657"/>
              <a:ext cx="436001"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​112,780​</a:t>
              </a:r>
            </a:p>
          </p:txBody>
        </p:sp>
        <p:sp>
          <p:nvSpPr>
            <p:cNvPr id="237" name="TextBox 237"/>
            <p:cNvSpPr txBox="1"/>
            <p:nvPr/>
          </p:nvSpPr>
          <p:spPr>
            <a:xfrm>
              <a:off x="5340789" y="6398657"/>
              <a:ext cx="436001"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​107,210​</a:t>
              </a:r>
            </a:p>
          </p:txBody>
        </p:sp>
        <p:sp>
          <p:nvSpPr>
            <p:cNvPr id="238" name="TextBox 238"/>
            <p:cNvSpPr txBox="1"/>
            <p:nvPr/>
          </p:nvSpPr>
          <p:spPr>
            <a:xfrm>
              <a:off x="5769295" y="6398657"/>
              <a:ext cx="388615"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​98,340​</a:t>
              </a:r>
            </a:p>
          </p:txBody>
        </p:sp>
        <p:sp>
          <p:nvSpPr>
            <p:cNvPr id="239" name="TextBox 239"/>
            <p:cNvSpPr txBox="1"/>
            <p:nvPr/>
          </p:nvSpPr>
          <p:spPr>
            <a:xfrm>
              <a:off x="6175060" y="6398657"/>
              <a:ext cx="388615"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​91,260​</a:t>
              </a:r>
            </a:p>
          </p:txBody>
        </p:sp>
        <p:sp>
          <p:nvSpPr>
            <p:cNvPr id="240" name="Line 240"/>
            <p:cNvSpPr/>
            <p:nvPr/>
          </p:nvSpPr>
          <p:spPr>
            <a:xfrm>
              <a:off x="3733800" y="6191250"/>
              <a:ext cx="9525" cy="476250"/>
            </a:xfrm>
            <a:custGeom>
              <a:avLst/>
              <a:gdLst/>
              <a:ahLst/>
              <a:cxnLst/>
              <a:rect l="l" t="t" r="r" b="b"/>
              <a:pathLst>
                <a:path w="9525" h="476250">
                  <a:moveTo>
                    <a:pt x="0" y="0"/>
                  </a:moveTo>
                  <a:lnTo>
                    <a:pt x="0" y="476250"/>
                  </a:lnTo>
                </a:path>
              </a:pathLst>
            </a:custGeom>
            <a:noFill/>
            <a:ln w="9525">
              <a:solidFill>
                <a:srgbClr val="EADBCE"/>
              </a:solidFill>
            </a:ln>
          </p:spPr>
        </p:sp>
      </p:grpSp>
      <p:grpSp>
        <p:nvGrpSpPr>
          <p:cNvPr id="318" name="experiment-matrix"/>
          <p:cNvGrpSpPr/>
          <p:nvPr/>
        </p:nvGrpSpPr>
        <p:grpSpPr>
          <a:xfrm>
            <a:off x="6628257" y="1960245"/>
            <a:ext cx="5182743" cy="4440555"/>
            <a:chOff x="6628257" y="1960245"/>
            <a:chExt cx="5182743" cy="4440555"/>
          </a:xfrm>
        </p:grpSpPr>
        <p:grpSp>
          <p:nvGrpSpPr>
            <p:cNvPr id="246" name="Group 246"/>
            <p:cNvGrpSpPr/>
            <p:nvPr/>
          </p:nvGrpSpPr>
          <p:grpSpPr>
            <a:xfrm>
              <a:off x="6697266" y="1966912"/>
              <a:ext cx="89297" cy="101203"/>
              <a:chOff x="6697266" y="1966912"/>
              <a:chExt cx="89297" cy="101203"/>
            </a:xfrm>
          </p:grpSpPr>
          <p:sp>
            <p:nvSpPr>
              <p:cNvPr id="242" name="Freeform 242"/>
              <p:cNvSpPr/>
              <p:nvPr/>
            </p:nvSpPr>
            <p:spPr>
              <a:xfrm>
                <a:off x="6697266" y="1966912"/>
                <a:ext cx="71438" cy="95250"/>
              </a:xfrm>
              <a:custGeom>
                <a:avLst/>
                <a:gdLst/>
                <a:ahLst/>
                <a:cxnLst/>
                <a:rect l="l" t="t" r="r" b="b"/>
                <a:pathLst>
                  <a:path w="71438" h="95250">
                    <a:moveTo>
                      <a:pt x="27474" y="95250"/>
                    </a:moveTo>
                    <a:lnTo>
                      <a:pt x="11906" y="95250"/>
                    </a:lnTo>
                    <a:cubicBezTo>
                      <a:pt x="5331" y="95250"/>
                      <a:pt x="0" y="89919"/>
                      <a:pt x="0" y="83344"/>
                    </a:cubicBezTo>
                    <a:lnTo>
                      <a:pt x="0" y="11906"/>
                    </a:lnTo>
                    <a:cubicBezTo>
                      <a:pt x="0" y="5331"/>
                      <a:pt x="5331" y="0"/>
                      <a:pt x="11906" y="0"/>
                    </a:cubicBezTo>
                    <a:lnTo>
                      <a:pt x="59531" y="0"/>
                    </a:lnTo>
                    <a:cubicBezTo>
                      <a:pt x="66107" y="0"/>
                      <a:pt x="71438" y="5331"/>
                      <a:pt x="71438" y="11906"/>
                    </a:cubicBezTo>
                    <a:lnTo>
                      <a:pt x="71438" y="59531"/>
                    </a:lnTo>
                  </a:path>
                </a:pathLst>
              </a:custGeom>
              <a:noFill/>
              <a:ln w="11906">
                <a:solidFill>
                  <a:srgbClr val="C41D00"/>
                </a:solidFill>
              </a:ln>
            </p:spPr>
          </p:sp>
          <p:sp>
            <p:nvSpPr>
              <p:cNvPr id="243" name="Freeform 243"/>
              <p:cNvSpPr/>
              <p:nvPr/>
            </p:nvSpPr>
            <p:spPr>
              <a:xfrm>
                <a:off x="6750844" y="2044303"/>
                <a:ext cx="35719" cy="23812"/>
              </a:xfrm>
              <a:custGeom>
                <a:avLst/>
                <a:gdLst/>
                <a:ahLst/>
                <a:cxnLst/>
                <a:rect l="l" t="t" r="r" b="b"/>
                <a:pathLst>
                  <a:path w="35719" h="23812">
                    <a:moveTo>
                      <a:pt x="0" y="11906"/>
                    </a:moveTo>
                    <a:lnTo>
                      <a:pt x="11906" y="23812"/>
                    </a:lnTo>
                    <a:lnTo>
                      <a:pt x="35719" y="0"/>
                    </a:lnTo>
                  </a:path>
                </a:pathLst>
              </a:custGeom>
              <a:noFill/>
              <a:ln w="11906">
                <a:solidFill>
                  <a:srgbClr val="C41D00"/>
                </a:solidFill>
              </a:ln>
            </p:spPr>
          </p:sp>
          <p:sp>
            <p:nvSpPr>
              <p:cNvPr id="244" name="Freeform 244"/>
              <p:cNvSpPr/>
              <p:nvPr/>
            </p:nvSpPr>
            <p:spPr>
              <a:xfrm>
                <a:off x="6721078" y="1990725"/>
                <a:ext cx="23812" cy="9525"/>
              </a:xfrm>
              <a:custGeom>
                <a:avLst/>
                <a:gdLst/>
                <a:ahLst/>
                <a:cxnLst/>
                <a:rect l="l" t="t" r="r" b="b"/>
                <a:pathLst>
                  <a:path w="23812" h="9525">
                    <a:moveTo>
                      <a:pt x="0" y="0"/>
                    </a:moveTo>
                    <a:lnTo>
                      <a:pt x="23812" y="0"/>
                    </a:lnTo>
                  </a:path>
                </a:pathLst>
              </a:custGeom>
              <a:noFill/>
              <a:ln w="11906">
                <a:solidFill>
                  <a:srgbClr val="C41D00"/>
                </a:solidFill>
              </a:ln>
            </p:spPr>
          </p:sp>
          <p:sp>
            <p:nvSpPr>
              <p:cNvPr id="245" name="Freeform 245"/>
              <p:cNvSpPr/>
              <p:nvPr/>
            </p:nvSpPr>
            <p:spPr>
              <a:xfrm>
                <a:off x="6721078" y="2014538"/>
                <a:ext cx="11906" cy="9525"/>
              </a:xfrm>
              <a:custGeom>
                <a:avLst/>
                <a:gdLst/>
                <a:ahLst/>
                <a:cxnLst/>
                <a:rect l="l" t="t" r="r" b="b"/>
                <a:pathLst>
                  <a:path w="11906" h="9525">
                    <a:moveTo>
                      <a:pt x="0" y="0"/>
                    </a:moveTo>
                    <a:lnTo>
                      <a:pt x="11906" y="0"/>
                    </a:lnTo>
                  </a:path>
                </a:pathLst>
              </a:custGeom>
              <a:noFill/>
              <a:ln w="11906">
                <a:solidFill>
                  <a:srgbClr val="C41D00"/>
                </a:solidFill>
              </a:ln>
            </p:spPr>
          </p:sp>
        </p:grpSp>
        <p:sp>
          <p:nvSpPr>
            <p:cNvPr id="247" name="TextBox 247"/>
            <p:cNvSpPr txBox="1"/>
            <p:nvPr/>
          </p:nvSpPr>
          <p:spPr>
            <a:xfrm>
              <a:off x="6853238" y="1960245"/>
              <a:ext cx="1533390" cy="176212"/>
            </a:xfrm>
            <a:prstGeom prst="rect">
              <a:avLst/>
            </a:prstGeom>
            <a:noFill/>
            <a:ln>
              <a:noFill/>
            </a:ln>
          </p:spPr>
          <p:txBody>
            <a:bodyPr wrap="none" lIns="0" tIns="0" rIns="0" bIns="0" anchor="t" anchorCtr="0">
              <a:spAutoFit/>
            </a:bodyPr>
            <a:lstStyle/>
            <a:p>
              <a:pPr algn="l"/>
              <a:r>
                <a:rPr lang="zh-CN" sz="900" b="1" dirty="0">
                  <a:solidFill>
                    <a:srgbClr val="C41D00"/>
                  </a:solidFill>
                  <a:latin typeface="+mn-lt"/>
                  <a:ea typeface="+mn-ea"/>
                  <a:cs typeface="+mn-cs"/>
                </a:rPr>
                <a:t>新客激活实验矩阵（示例）​</a:t>
              </a:r>
            </a:p>
          </p:txBody>
        </p:sp>
        <p:sp>
          <p:nvSpPr>
            <p:cNvPr id="248" name="Rectangle 248"/>
            <p:cNvSpPr/>
            <p:nvPr/>
          </p:nvSpPr>
          <p:spPr>
            <a:xfrm>
              <a:off x="6648450" y="2152650"/>
              <a:ext cx="5162550" cy="285750"/>
            </a:xfrm>
            <a:prstGeom prst="rect">
              <a:avLst/>
            </a:prstGeom>
            <a:solidFill>
              <a:srgbClr val="C41D00"/>
            </a:solidFill>
            <a:ln>
              <a:noFill/>
            </a:ln>
          </p:spPr>
        </p:sp>
        <p:sp>
          <p:nvSpPr>
            <p:cNvPr id="249" name="TextBox 249"/>
            <p:cNvSpPr txBox="1"/>
            <p:nvPr/>
          </p:nvSpPr>
          <p:spPr>
            <a:xfrm>
              <a:off x="6782600" y="2260759"/>
              <a:ext cx="28415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实验组</a:t>
              </a:r>
            </a:p>
          </p:txBody>
        </p:sp>
        <p:sp>
          <p:nvSpPr>
            <p:cNvPr id="250" name="TextBox 250"/>
            <p:cNvSpPr txBox="1"/>
            <p:nvPr/>
          </p:nvSpPr>
          <p:spPr>
            <a:xfrm>
              <a:off x="7377181" y="2260759"/>
              <a:ext cx="84758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​触达消息（示例）​</a:t>
              </a:r>
            </a:p>
          </p:txBody>
        </p:sp>
        <p:sp>
          <p:nvSpPr>
            <p:cNvPr id="251" name="TextBox 251"/>
            <p:cNvSpPr txBox="1"/>
            <p:nvPr/>
          </p:nvSpPr>
          <p:spPr>
            <a:xfrm>
              <a:off x="8682158" y="2213134"/>
              <a:ext cx="504584"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FFFFFF"/>
                  </a:solidFill>
                  <a:latin typeface="+mn-lt"/>
                  <a:ea typeface="+mn-ea"/>
                  <a:cs typeface="+mn-cs"/>
                </a:rPr>
                <a:t>​权益/优惠​</a:t>
              </a:r>
              <a:br/>
              <a:r>
                <a:rPr lang="zh-CN" sz="680" b="1" dirty="0">
                  <a:solidFill>
                    <a:srgbClr val="FFFFFF"/>
                  </a:solidFill>
                  <a:latin typeface="+mn-lt"/>
                  <a:ea typeface="+mn-ea"/>
                  <a:cs typeface="+mn-cs"/>
                </a:rPr>
                <a:t>（示例）</a:t>
              </a:r>
            </a:p>
          </p:txBody>
        </p:sp>
        <p:sp>
          <p:nvSpPr>
            <p:cNvPr id="252" name="TextBox 252"/>
            <p:cNvSpPr txBox="1"/>
            <p:nvPr/>
          </p:nvSpPr>
          <p:spPr>
            <a:xfrm>
              <a:off x="9565754" y="22607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触达渠道</a:t>
              </a:r>
            </a:p>
          </p:txBody>
        </p:sp>
        <p:sp>
          <p:nvSpPr>
            <p:cNvPr id="253" name="TextBox 253"/>
            <p:cNvSpPr txBox="1"/>
            <p:nvPr/>
          </p:nvSpPr>
          <p:spPr>
            <a:xfrm>
              <a:off x="10173500" y="2260759"/>
              <a:ext cx="28415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对照组</a:t>
              </a:r>
            </a:p>
          </p:txBody>
        </p:sp>
        <p:sp>
          <p:nvSpPr>
            <p:cNvPr id="254" name="TextBox 254"/>
            <p:cNvSpPr txBox="1"/>
            <p:nvPr/>
          </p:nvSpPr>
          <p:spPr>
            <a:xfrm>
              <a:off x="10838243" y="2213134"/>
              <a:ext cx="726313"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FFFFFF"/>
                  </a:solidFill>
                  <a:latin typeface="+mn-lt"/>
                  <a:ea typeface="+mn-ea"/>
                  <a:cs typeface="+mn-cs"/>
                </a:rPr>
                <a:t>​成功衡量指标​</a:t>
              </a:r>
              <a:br/>
              <a:r>
                <a:rPr lang="zh-CN" sz="680" b="1" dirty="0">
                  <a:solidFill>
                    <a:srgbClr val="FFFFFF"/>
                  </a:solidFill>
                  <a:latin typeface="+mn-lt"/>
                  <a:ea typeface="+mn-ea"/>
                  <a:cs typeface="+mn-cs"/>
                </a:rPr>
                <a:t>​​（Primary）​​</a:t>
              </a:r>
            </a:p>
          </p:txBody>
        </p:sp>
        <p:sp>
          <p:nvSpPr>
            <p:cNvPr id="255" name="Rectangle 255"/>
            <p:cNvSpPr/>
            <p:nvPr/>
          </p:nvSpPr>
          <p:spPr>
            <a:xfrm>
              <a:off x="6648450" y="2438400"/>
              <a:ext cx="5162550" cy="2952750"/>
            </a:xfrm>
            <a:prstGeom prst="rect">
              <a:avLst/>
            </a:prstGeom>
            <a:solidFill>
              <a:srgbClr val="FFFFFF"/>
            </a:solidFill>
            <a:ln w="9525">
              <a:solidFill>
                <a:srgbClr val="F0B8AE"/>
              </a:solidFill>
            </a:ln>
          </p:spPr>
        </p:sp>
        <p:sp>
          <p:nvSpPr>
            <p:cNvPr id="256" name="Rectangle 256"/>
            <p:cNvSpPr/>
            <p:nvPr/>
          </p:nvSpPr>
          <p:spPr>
            <a:xfrm>
              <a:off x="6648450" y="3028950"/>
              <a:ext cx="5162550" cy="590550"/>
            </a:xfrm>
            <a:prstGeom prst="rect">
              <a:avLst/>
            </a:prstGeom>
            <a:solidFill>
              <a:srgbClr val="FFF8F2"/>
            </a:solidFill>
            <a:ln>
              <a:noFill/>
            </a:ln>
          </p:spPr>
        </p:sp>
        <p:sp>
          <p:nvSpPr>
            <p:cNvPr id="257" name="Rectangle 257"/>
            <p:cNvSpPr/>
            <p:nvPr/>
          </p:nvSpPr>
          <p:spPr>
            <a:xfrm>
              <a:off x="6648450" y="4210050"/>
              <a:ext cx="5162550" cy="590550"/>
            </a:xfrm>
            <a:prstGeom prst="rect">
              <a:avLst/>
            </a:prstGeom>
            <a:solidFill>
              <a:srgbClr val="FFF8F2"/>
            </a:solidFill>
            <a:ln>
              <a:noFill/>
            </a:ln>
          </p:spPr>
        </p:sp>
        <p:sp>
          <p:nvSpPr>
            <p:cNvPr id="258" name="TextBox 258"/>
            <p:cNvSpPr txBox="1"/>
            <p:nvPr/>
          </p:nvSpPr>
          <p:spPr>
            <a:xfrm>
              <a:off x="6628257" y="2599849"/>
              <a:ext cx="592836" cy="324041"/>
            </a:xfrm>
            <a:prstGeom prst="rect">
              <a:avLst/>
            </a:prstGeom>
            <a:noFill/>
            <a:ln>
              <a:noFill/>
            </a:ln>
          </p:spPr>
          <p:txBody>
            <a:bodyPr wrap="none" lIns="0" tIns="0" rIns="0" bIns="0" anchor="t" anchorCtr="0">
              <a:spAutoFit/>
            </a:bodyPr>
            <a:lstStyle/>
            <a:p>
              <a:pPr algn="ctr">
                <a:lnSpc>
                  <a:spcPts val="1050"/>
                </a:lnSpc>
              </a:pPr>
              <a:r>
                <a:rPr lang="en-US" sz="980" b="1" dirty="0">
                  <a:solidFill>
                    <a:srgbClr val="C41D00"/>
                  </a:solidFill>
                  <a:latin typeface="+mn-lt"/>
                  <a:ea typeface="+mn-ea"/>
                  <a:cs typeface="+mn-cs"/>
                </a:rPr>
                <a:t>​A​</a:t>
              </a:r>
            </a:p>
            <a:p>
              <a:pPr algn="ctr">
                <a:lnSpc>
                  <a:spcPts val="1050"/>
                </a:lnSpc>
              </a:pPr>
              <a:r>
                <a:rPr lang="zh-CN" sz="600" dirty="0">
                  <a:solidFill>
                    <a:srgbClr val="7A716B"/>
                  </a:solidFill>
                  <a:latin typeface="+mn-lt"/>
                  <a:ea typeface="+mn-ea"/>
                  <a:cs typeface="+mn-cs"/>
                </a:rPr>
                <a:t>​（欢迎&amp;安全）​</a:t>
              </a:r>
            </a:p>
          </p:txBody>
        </p:sp>
        <p:sp>
          <p:nvSpPr>
            <p:cNvPr id="259" name="TextBox 259"/>
            <p:cNvSpPr txBox="1"/>
            <p:nvPr/>
          </p:nvSpPr>
          <p:spPr>
            <a:xfrm>
              <a:off x="7336346" y="2622709"/>
              <a:ext cx="929259"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​“欢迎加入，完成安全​</a:t>
              </a:r>
              <a:br/>
              <a:r>
                <a:rPr lang="zh-CN" sz="680" dirty="0">
                  <a:solidFill>
                    <a:srgbClr val="3D3835"/>
                  </a:solidFill>
                  <a:latin typeface="+mn-lt"/>
                  <a:ea typeface="+mn-ea"/>
                  <a:cs typeface="+mn-cs"/>
                </a:rPr>
                <a:t>​设置领取新客礼”​</a:t>
              </a:r>
            </a:p>
          </p:txBody>
        </p:sp>
        <p:sp>
          <p:nvSpPr>
            <p:cNvPr id="260" name="TextBox 260"/>
            <p:cNvSpPr txBox="1"/>
            <p:nvPr/>
          </p:nvSpPr>
          <p:spPr>
            <a:xfrm>
              <a:off x="8579930" y="2622709"/>
              <a:ext cx="709041"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​安全设置完成领​</a:t>
              </a:r>
              <a:br/>
              <a:r>
                <a:rPr lang="zh-CN" sz="680" dirty="0">
                  <a:solidFill>
                    <a:srgbClr val="3D3835"/>
                  </a:solidFill>
                  <a:latin typeface="+mn-lt"/>
                  <a:ea typeface="+mn-ea"/>
                  <a:cs typeface="+mn-cs"/>
                </a:rPr>
                <a:t>​5元立金券​</a:t>
              </a:r>
            </a:p>
          </p:txBody>
        </p:sp>
        <p:sp>
          <p:nvSpPr>
            <p:cNvPr id="261" name="TextBox 261"/>
            <p:cNvSpPr txBox="1"/>
            <p:nvPr/>
          </p:nvSpPr>
          <p:spPr>
            <a:xfrm>
              <a:off x="9504655" y="2689384"/>
              <a:ext cx="497891" cy="133350"/>
            </a:xfrm>
            <a:prstGeom prst="rect">
              <a:avLst/>
            </a:prstGeom>
            <a:noFill/>
            <a:ln>
              <a:noFill/>
            </a:ln>
          </p:spPr>
          <p:txBody>
            <a:bodyPr wrap="none" lIns="0" tIns="0" rIns="0" bIns="0" anchor="t" anchorCtr="0">
              <a:spAutoFit/>
            </a:bodyPr>
            <a:lstStyle/>
            <a:p>
              <a:pPr algn="ctr"/>
              <a:r>
                <a:rPr lang="en-US" sz="680" dirty="0">
                  <a:solidFill>
                    <a:srgbClr val="3D3835"/>
                  </a:solidFill>
                  <a:latin typeface="+mn-lt"/>
                  <a:ea typeface="+mn-ea"/>
                  <a:cs typeface="+mn-cs"/>
                </a:rPr>
                <a:t>​App Push​</a:t>
              </a:r>
            </a:p>
          </p:txBody>
        </p:sp>
        <p:sp>
          <p:nvSpPr>
            <p:cNvPr id="262" name="TextBox 262"/>
            <p:cNvSpPr txBox="1"/>
            <p:nvPr/>
          </p:nvSpPr>
          <p:spPr>
            <a:xfrm>
              <a:off x="10173500" y="2689384"/>
              <a:ext cx="284150"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不触达</a:t>
              </a:r>
            </a:p>
          </p:txBody>
        </p:sp>
        <p:sp>
          <p:nvSpPr>
            <p:cNvPr id="263" name="TextBox 263"/>
            <p:cNvSpPr txBox="1"/>
            <p:nvPr/>
          </p:nvSpPr>
          <p:spPr>
            <a:xfrm>
              <a:off x="10756763" y="2689384"/>
              <a:ext cx="889274"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​D1 安全设置完成率​</a:t>
              </a:r>
            </a:p>
          </p:txBody>
        </p:sp>
        <p:sp>
          <p:nvSpPr>
            <p:cNvPr id="264" name="TextBox 264"/>
            <p:cNvSpPr txBox="1"/>
            <p:nvPr/>
          </p:nvSpPr>
          <p:spPr>
            <a:xfrm>
              <a:off x="6628257" y="3190399"/>
              <a:ext cx="592836" cy="324041"/>
            </a:xfrm>
            <a:prstGeom prst="rect">
              <a:avLst/>
            </a:prstGeom>
            <a:noFill/>
            <a:ln>
              <a:noFill/>
            </a:ln>
          </p:spPr>
          <p:txBody>
            <a:bodyPr wrap="none" lIns="0" tIns="0" rIns="0" bIns="0" anchor="t" anchorCtr="0">
              <a:spAutoFit/>
            </a:bodyPr>
            <a:lstStyle/>
            <a:p>
              <a:pPr algn="ctr">
                <a:lnSpc>
                  <a:spcPts val="1050"/>
                </a:lnSpc>
              </a:pPr>
              <a:r>
                <a:rPr lang="en-US" sz="980" b="1" dirty="0">
                  <a:solidFill>
                    <a:srgbClr val="C41D00"/>
                  </a:solidFill>
                  <a:latin typeface="+mn-lt"/>
                  <a:ea typeface="+mn-ea"/>
                  <a:cs typeface="+mn-cs"/>
                </a:rPr>
                <a:t>​B​</a:t>
              </a:r>
            </a:p>
            <a:p>
              <a:pPr algn="ctr">
                <a:lnSpc>
                  <a:spcPts val="1050"/>
                </a:lnSpc>
              </a:pPr>
              <a:r>
                <a:rPr lang="zh-CN" sz="600" dirty="0">
                  <a:solidFill>
                    <a:srgbClr val="7A716B"/>
                  </a:solidFill>
                  <a:latin typeface="+mn-lt"/>
                  <a:ea typeface="+mn-ea"/>
                  <a:cs typeface="+mn-cs"/>
                </a:rPr>
                <a:t>​（登录&amp;绑卡）​</a:t>
              </a:r>
            </a:p>
          </p:txBody>
        </p:sp>
        <p:sp>
          <p:nvSpPr>
            <p:cNvPr id="265" name="TextBox 265"/>
            <p:cNvSpPr txBox="1"/>
            <p:nvPr/>
          </p:nvSpPr>
          <p:spPr>
            <a:xfrm>
              <a:off x="7308278" y="3213259"/>
              <a:ext cx="985393"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​“首登返现 绑卡礼，​</a:t>
              </a:r>
              <a:br/>
              <a:r>
                <a:rPr lang="zh-CN" sz="680" dirty="0">
                  <a:solidFill>
                    <a:srgbClr val="3D3835"/>
                  </a:solidFill>
                  <a:latin typeface="+mn-lt"/>
                  <a:ea typeface="+mn-ea"/>
                  <a:cs typeface="+mn-cs"/>
                </a:rPr>
                <a:t>​​绑卡享消费立减3元”​​</a:t>
              </a:r>
            </a:p>
          </p:txBody>
        </p:sp>
        <p:sp>
          <p:nvSpPr>
            <p:cNvPr id="266" name="TextBox 266"/>
            <p:cNvSpPr txBox="1"/>
            <p:nvPr/>
          </p:nvSpPr>
          <p:spPr>
            <a:xfrm>
              <a:off x="8513000" y="3213259"/>
              <a:ext cx="842899"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​绑卡后消费立减3元​</a:t>
              </a:r>
              <a:br/>
              <a:r>
                <a:rPr lang="zh-CN" sz="680" dirty="0">
                  <a:solidFill>
                    <a:srgbClr val="3D3835"/>
                  </a:solidFill>
                  <a:latin typeface="+mn-lt"/>
                  <a:ea typeface="+mn-ea"/>
                  <a:cs typeface="+mn-cs"/>
                </a:rPr>
                <a:t>​（满1元可用）​</a:t>
              </a:r>
            </a:p>
          </p:txBody>
        </p:sp>
        <p:sp>
          <p:nvSpPr>
            <p:cNvPr id="267" name="TextBox 267"/>
            <p:cNvSpPr txBox="1"/>
            <p:nvPr/>
          </p:nvSpPr>
          <p:spPr>
            <a:xfrm>
              <a:off x="9451090" y="3279934"/>
              <a:ext cx="605020"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​短信 + Push​</a:t>
              </a:r>
            </a:p>
          </p:txBody>
        </p:sp>
        <p:sp>
          <p:nvSpPr>
            <p:cNvPr id="268" name="TextBox 268"/>
            <p:cNvSpPr txBox="1"/>
            <p:nvPr/>
          </p:nvSpPr>
          <p:spPr>
            <a:xfrm>
              <a:off x="10081958" y="3279934"/>
              <a:ext cx="467233"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仅发送短信</a:t>
              </a:r>
            </a:p>
          </p:txBody>
        </p:sp>
        <p:sp>
          <p:nvSpPr>
            <p:cNvPr id="269" name="TextBox 269"/>
            <p:cNvSpPr txBox="1"/>
            <p:nvPr/>
          </p:nvSpPr>
          <p:spPr>
            <a:xfrm>
              <a:off x="10939846" y="3279934"/>
              <a:ext cx="523108"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​D3 绑卡率​</a:t>
              </a:r>
            </a:p>
          </p:txBody>
        </p:sp>
        <p:sp>
          <p:nvSpPr>
            <p:cNvPr id="270" name="TextBox 270"/>
            <p:cNvSpPr txBox="1"/>
            <p:nvPr/>
          </p:nvSpPr>
          <p:spPr>
            <a:xfrm>
              <a:off x="6649212" y="3780949"/>
              <a:ext cx="550926" cy="324041"/>
            </a:xfrm>
            <a:prstGeom prst="rect">
              <a:avLst/>
            </a:prstGeom>
            <a:noFill/>
            <a:ln>
              <a:noFill/>
            </a:ln>
          </p:spPr>
          <p:txBody>
            <a:bodyPr wrap="none" lIns="0" tIns="0" rIns="0" bIns="0" anchor="t" anchorCtr="0">
              <a:spAutoFit/>
            </a:bodyPr>
            <a:lstStyle/>
            <a:p>
              <a:pPr algn="ctr">
                <a:lnSpc>
                  <a:spcPts val="1050"/>
                </a:lnSpc>
              </a:pPr>
              <a:r>
                <a:rPr lang="en-US" sz="980" b="1" dirty="0">
                  <a:solidFill>
                    <a:srgbClr val="C41D00"/>
                  </a:solidFill>
                  <a:latin typeface="+mn-lt"/>
                  <a:ea typeface="+mn-ea"/>
                  <a:cs typeface="+mn-cs"/>
                </a:rPr>
                <a:t>​C​</a:t>
              </a:r>
            </a:p>
            <a:p>
              <a:pPr algn="ctr">
                <a:lnSpc>
                  <a:spcPts val="1050"/>
                </a:lnSpc>
              </a:pPr>
              <a:r>
                <a:rPr lang="zh-CN" sz="600" dirty="0">
                  <a:solidFill>
                    <a:srgbClr val="7A716B"/>
                  </a:solidFill>
                  <a:latin typeface="+mn-lt"/>
                  <a:ea typeface="+mn-ea"/>
                  <a:cs typeface="+mn-cs"/>
                </a:rPr>
                <a:t>​（首笔支付）​</a:t>
              </a:r>
            </a:p>
          </p:txBody>
        </p:sp>
        <p:sp>
          <p:nvSpPr>
            <p:cNvPr id="271" name="TextBox 271"/>
            <p:cNvSpPr txBox="1"/>
            <p:nvPr/>
          </p:nvSpPr>
          <p:spPr>
            <a:xfrm>
              <a:off x="7422706" y="3803809"/>
              <a:ext cx="756539"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​“首笔支付返现，​</a:t>
              </a:r>
              <a:br/>
              <a:r>
                <a:rPr lang="zh-CN" sz="680" dirty="0">
                  <a:solidFill>
                    <a:srgbClr val="3D3835"/>
                  </a:solidFill>
                  <a:latin typeface="+mn-lt"/>
                  <a:ea typeface="+mn-ea"/>
                  <a:cs typeface="+mn-cs"/>
                </a:rPr>
                <a:t>​轻松享优惠”​</a:t>
              </a:r>
            </a:p>
          </p:txBody>
        </p:sp>
        <p:sp>
          <p:nvSpPr>
            <p:cNvPr id="272" name="TextBox 272"/>
            <p:cNvSpPr txBox="1"/>
            <p:nvPr/>
          </p:nvSpPr>
          <p:spPr>
            <a:xfrm>
              <a:off x="8599360" y="3803809"/>
              <a:ext cx="670179"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​首笔支付返5元​</a:t>
              </a:r>
              <a:br/>
              <a:r>
                <a:rPr lang="zh-CN" sz="680" dirty="0">
                  <a:solidFill>
                    <a:srgbClr val="3D3835"/>
                  </a:solidFill>
                  <a:latin typeface="+mn-lt"/>
                  <a:ea typeface="+mn-ea"/>
                  <a:cs typeface="+mn-cs"/>
                </a:rPr>
                <a:t>​（满1元可用）​</a:t>
              </a:r>
            </a:p>
          </p:txBody>
        </p:sp>
        <p:sp>
          <p:nvSpPr>
            <p:cNvPr id="273" name="TextBox 273"/>
            <p:cNvSpPr txBox="1"/>
            <p:nvPr/>
          </p:nvSpPr>
          <p:spPr>
            <a:xfrm>
              <a:off x="9504655" y="3870484"/>
              <a:ext cx="497891" cy="133350"/>
            </a:xfrm>
            <a:prstGeom prst="rect">
              <a:avLst/>
            </a:prstGeom>
            <a:noFill/>
            <a:ln>
              <a:noFill/>
            </a:ln>
          </p:spPr>
          <p:txBody>
            <a:bodyPr wrap="none" lIns="0" tIns="0" rIns="0" bIns="0" anchor="t" anchorCtr="0">
              <a:spAutoFit/>
            </a:bodyPr>
            <a:lstStyle/>
            <a:p>
              <a:pPr algn="ctr"/>
              <a:r>
                <a:rPr lang="en-US" sz="680" dirty="0">
                  <a:solidFill>
                    <a:srgbClr val="3D3835"/>
                  </a:solidFill>
                  <a:latin typeface="+mn-lt"/>
                  <a:ea typeface="+mn-ea"/>
                  <a:cs typeface="+mn-cs"/>
                </a:rPr>
                <a:t>​App Push​</a:t>
              </a:r>
            </a:p>
          </p:txBody>
        </p:sp>
        <p:sp>
          <p:nvSpPr>
            <p:cNvPr id="274" name="TextBox 274"/>
            <p:cNvSpPr txBox="1"/>
            <p:nvPr/>
          </p:nvSpPr>
          <p:spPr>
            <a:xfrm>
              <a:off x="10173500" y="3870484"/>
              <a:ext cx="284150"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不触达</a:t>
              </a:r>
            </a:p>
          </p:txBody>
        </p:sp>
        <p:sp>
          <p:nvSpPr>
            <p:cNvPr id="275" name="TextBox 275"/>
            <p:cNvSpPr txBox="1"/>
            <p:nvPr/>
          </p:nvSpPr>
          <p:spPr>
            <a:xfrm>
              <a:off x="10848304" y="3870484"/>
              <a:ext cx="706191"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​D7 首笔支付率​</a:t>
              </a:r>
            </a:p>
          </p:txBody>
        </p:sp>
        <p:sp>
          <p:nvSpPr>
            <p:cNvPr id="276" name="TextBox 276"/>
            <p:cNvSpPr txBox="1"/>
            <p:nvPr/>
          </p:nvSpPr>
          <p:spPr>
            <a:xfrm>
              <a:off x="6649212" y="4371499"/>
              <a:ext cx="550926" cy="324041"/>
            </a:xfrm>
            <a:prstGeom prst="rect">
              <a:avLst/>
            </a:prstGeom>
            <a:noFill/>
            <a:ln>
              <a:noFill/>
            </a:ln>
          </p:spPr>
          <p:txBody>
            <a:bodyPr wrap="none" lIns="0" tIns="0" rIns="0" bIns="0" anchor="t" anchorCtr="0">
              <a:spAutoFit/>
            </a:bodyPr>
            <a:lstStyle/>
            <a:p>
              <a:pPr algn="ctr">
                <a:lnSpc>
                  <a:spcPts val="1050"/>
                </a:lnSpc>
              </a:pPr>
              <a:r>
                <a:rPr lang="en-US" sz="980" b="1" dirty="0">
                  <a:solidFill>
                    <a:srgbClr val="C41D00"/>
                  </a:solidFill>
                  <a:latin typeface="+mn-lt"/>
                  <a:ea typeface="+mn-ea"/>
                  <a:cs typeface="+mn-cs"/>
                </a:rPr>
                <a:t>​D​</a:t>
              </a:r>
            </a:p>
            <a:p>
              <a:pPr algn="ctr">
                <a:lnSpc>
                  <a:spcPts val="1050"/>
                </a:lnSpc>
              </a:pPr>
              <a:r>
                <a:rPr lang="zh-CN" sz="600" dirty="0">
                  <a:solidFill>
                    <a:srgbClr val="7A716B"/>
                  </a:solidFill>
                  <a:latin typeface="+mn-lt"/>
                  <a:ea typeface="+mn-ea"/>
                  <a:cs typeface="+mn-cs"/>
                </a:rPr>
                <a:t>​（理财启航）​</a:t>
              </a:r>
            </a:p>
          </p:txBody>
        </p:sp>
        <p:sp>
          <p:nvSpPr>
            <p:cNvPr id="277" name="TextBox 277"/>
            <p:cNvSpPr txBox="1"/>
            <p:nvPr/>
          </p:nvSpPr>
          <p:spPr>
            <a:xfrm>
              <a:off x="7422706" y="4394359"/>
              <a:ext cx="756539"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​“新客理财专享，​</a:t>
              </a:r>
              <a:br/>
              <a:r>
                <a:rPr lang="zh-CN" sz="680" dirty="0">
                  <a:solidFill>
                    <a:srgbClr val="3D3835"/>
                  </a:solidFill>
                  <a:latin typeface="+mn-lt"/>
                  <a:ea typeface="+mn-ea"/>
                  <a:cs typeface="+mn-cs"/>
                </a:rPr>
                <a:t>​收益更优”​</a:t>
              </a:r>
            </a:p>
          </p:txBody>
        </p:sp>
        <p:sp>
          <p:nvSpPr>
            <p:cNvPr id="278" name="TextBox 278"/>
            <p:cNvSpPr txBox="1"/>
            <p:nvPr/>
          </p:nvSpPr>
          <p:spPr>
            <a:xfrm>
              <a:off x="8491410" y="4394359"/>
              <a:ext cx="886079"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​新客理财加息券​</a:t>
              </a:r>
              <a:br/>
              <a:r>
                <a:rPr lang="zh-CN" sz="680" dirty="0">
                  <a:solidFill>
                    <a:srgbClr val="3D3835"/>
                  </a:solidFill>
                  <a:latin typeface="+mn-lt"/>
                  <a:ea typeface="+mn-ea"/>
                  <a:cs typeface="+mn-cs"/>
                </a:rPr>
                <a:t>​​0.5%（1天可用）​​</a:t>
              </a:r>
            </a:p>
          </p:txBody>
        </p:sp>
        <p:sp>
          <p:nvSpPr>
            <p:cNvPr id="279" name="TextBox 279"/>
            <p:cNvSpPr txBox="1"/>
            <p:nvPr/>
          </p:nvSpPr>
          <p:spPr>
            <a:xfrm>
              <a:off x="9522142" y="4394359"/>
              <a:ext cx="462915" cy="257175"/>
            </a:xfrm>
            <a:prstGeom prst="rect">
              <a:avLst/>
            </a:prstGeom>
            <a:noFill/>
            <a:ln>
              <a:noFill/>
            </a:ln>
          </p:spPr>
          <p:txBody>
            <a:bodyPr wrap="none" lIns="0" tIns="0" rIns="0" bIns="0" anchor="t" anchorCtr="0">
              <a:spAutoFit/>
            </a:bodyPr>
            <a:lstStyle/>
            <a:p>
              <a:pPr algn="ctr">
                <a:lnSpc>
                  <a:spcPts val="975"/>
                </a:lnSpc>
              </a:pPr>
              <a:r>
                <a:rPr lang="en-US" sz="680" dirty="0">
                  <a:solidFill>
                    <a:srgbClr val="3D3835"/>
                  </a:solidFill>
                  <a:latin typeface="+mn-lt"/>
                  <a:ea typeface="+mn-ea"/>
                  <a:cs typeface="+mn-cs"/>
                </a:rPr>
                <a:t>​App Push​</a:t>
              </a:r>
              <a:br/>
              <a:r>
                <a:rPr lang="zh-CN" sz="680" dirty="0">
                  <a:solidFill>
                    <a:srgbClr val="3D3835"/>
                  </a:solidFill>
                  <a:latin typeface="+mn-lt"/>
                  <a:ea typeface="+mn-ea"/>
                  <a:cs typeface="+mn-cs"/>
                </a:rPr>
                <a:t>​+ 站内信​</a:t>
              </a:r>
            </a:p>
          </p:txBody>
        </p:sp>
        <p:sp>
          <p:nvSpPr>
            <p:cNvPr id="280" name="TextBox 280"/>
            <p:cNvSpPr txBox="1"/>
            <p:nvPr/>
          </p:nvSpPr>
          <p:spPr>
            <a:xfrm>
              <a:off x="10127729" y="4461034"/>
              <a:ext cx="375691"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仅站内信</a:t>
              </a:r>
            </a:p>
          </p:txBody>
        </p:sp>
        <p:sp>
          <p:nvSpPr>
            <p:cNvPr id="281" name="TextBox 281"/>
            <p:cNvSpPr txBox="1"/>
            <p:nvPr/>
          </p:nvSpPr>
          <p:spPr>
            <a:xfrm>
              <a:off x="10820972" y="4394359"/>
              <a:ext cx="760857"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​​D15 理财/储蓄​​</a:t>
              </a:r>
              <a:br/>
              <a:r>
                <a:rPr lang="zh-CN" sz="680" dirty="0">
                  <a:solidFill>
                    <a:srgbClr val="3D3835"/>
                  </a:solidFill>
                  <a:latin typeface="+mn-lt"/>
                  <a:ea typeface="+mn-ea"/>
                  <a:cs typeface="+mn-cs"/>
                </a:rPr>
                <a:t>转化率</a:t>
              </a:r>
            </a:p>
          </p:txBody>
        </p:sp>
        <p:sp>
          <p:nvSpPr>
            <p:cNvPr id="282" name="TextBox 282"/>
            <p:cNvSpPr txBox="1"/>
            <p:nvPr/>
          </p:nvSpPr>
          <p:spPr>
            <a:xfrm>
              <a:off x="6649212" y="4962049"/>
              <a:ext cx="550926" cy="324041"/>
            </a:xfrm>
            <a:prstGeom prst="rect">
              <a:avLst/>
            </a:prstGeom>
            <a:noFill/>
            <a:ln>
              <a:noFill/>
            </a:ln>
          </p:spPr>
          <p:txBody>
            <a:bodyPr wrap="none" lIns="0" tIns="0" rIns="0" bIns="0" anchor="t" anchorCtr="0">
              <a:spAutoFit/>
            </a:bodyPr>
            <a:lstStyle/>
            <a:p>
              <a:pPr algn="ctr">
                <a:lnSpc>
                  <a:spcPts val="1050"/>
                </a:lnSpc>
              </a:pPr>
              <a:r>
                <a:rPr lang="en-US" sz="980" b="1" dirty="0">
                  <a:solidFill>
                    <a:srgbClr val="C41D00"/>
                  </a:solidFill>
                  <a:latin typeface="+mn-lt"/>
                  <a:ea typeface="+mn-ea"/>
                  <a:cs typeface="+mn-cs"/>
                </a:rPr>
                <a:t>​E​</a:t>
              </a:r>
            </a:p>
            <a:p>
              <a:pPr algn="ctr">
                <a:lnSpc>
                  <a:spcPts val="1050"/>
                </a:lnSpc>
              </a:pPr>
              <a:r>
                <a:rPr lang="zh-CN" sz="600" dirty="0">
                  <a:solidFill>
                    <a:srgbClr val="7A716B"/>
                  </a:solidFill>
                  <a:latin typeface="+mn-lt"/>
                  <a:ea typeface="+mn-ea"/>
                  <a:cs typeface="+mn-cs"/>
                </a:rPr>
                <a:t>​（长期关系）​</a:t>
              </a:r>
            </a:p>
          </p:txBody>
        </p:sp>
        <p:sp>
          <p:nvSpPr>
            <p:cNvPr id="283" name="TextBox 283"/>
            <p:cNvSpPr txBox="1"/>
            <p:nvPr/>
          </p:nvSpPr>
          <p:spPr>
            <a:xfrm>
              <a:off x="7422706" y="4984909"/>
              <a:ext cx="756539"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​“设置工资代发，​</a:t>
              </a:r>
              <a:br/>
              <a:r>
                <a:rPr lang="zh-CN" sz="680" dirty="0">
                  <a:solidFill>
                    <a:srgbClr val="3D3835"/>
                  </a:solidFill>
                  <a:latin typeface="+mn-lt"/>
                  <a:ea typeface="+mn-ea"/>
                  <a:cs typeface="+mn-cs"/>
                </a:rPr>
                <a:t>​享长期权益”​</a:t>
              </a:r>
            </a:p>
          </p:txBody>
        </p:sp>
        <p:sp>
          <p:nvSpPr>
            <p:cNvPr id="284" name="TextBox 284"/>
            <p:cNvSpPr txBox="1"/>
            <p:nvPr/>
          </p:nvSpPr>
          <p:spPr>
            <a:xfrm>
              <a:off x="8487999" y="5051584"/>
              <a:ext cx="892901"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​工资代发享5元话费​</a:t>
              </a:r>
            </a:p>
          </p:txBody>
        </p:sp>
        <p:sp>
          <p:nvSpPr>
            <p:cNvPr id="285" name="TextBox 285"/>
            <p:cNvSpPr txBox="1"/>
            <p:nvPr/>
          </p:nvSpPr>
          <p:spPr>
            <a:xfrm>
              <a:off x="9462770" y="5051584"/>
              <a:ext cx="581660"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​短信 + 电话​</a:t>
              </a:r>
            </a:p>
          </p:txBody>
        </p:sp>
        <p:sp>
          <p:nvSpPr>
            <p:cNvPr id="286" name="TextBox 286"/>
            <p:cNvSpPr txBox="1"/>
            <p:nvPr/>
          </p:nvSpPr>
          <p:spPr>
            <a:xfrm>
              <a:off x="10173500" y="5051584"/>
              <a:ext cx="284150"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仅短信</a:t>
              </a:r>
            </a:p>
          </p:txBody>
        </p:sp>
        <p:sp>
          <p:nvSpPr>
            <p:cNvPr id="287" name="TextBox 287"/>
            <p:cNvSpPr txBox="1"/>
            <p:nvPr/>
          </p:nvSpPr>
          <p:spPr>
            <a:xfrm>
              <a:off x="10820972" y="4984909"/>
              <a:ext cx="760857"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3D3835"/>
                  </a:solidFill>
                  <a:latin typeface="+mn-lt"/>
                  <a:ea typeface="+mn-ea"/>
                  <a:cs typeface="+mn-cs"/>
                </a:rPr>
                <a:t>​​D30 工资代发/​​</a:t>
              </a:r>
              <a:br/>
              <a:r>
                <a:rPr lang="zh-CN" sz="680" dirty="0">
                  <a:solidFill>
                    <a:srgbClr val="3D3835"/>
                  </a:solidFill>
                  <a:latin typeface="+mn-lt"/>
                  <a:ea typeface="+mn-ea"/>
                  <a:cs typeface="+mn-cs"/>
                </a:rPr>
                <a:t>定期交易率</a:t>
              </a:r>
            </a:p>
          </p:txBody>
        </p:sp>
        <p:sp>
          <p:nvSpPr>
            <p:cNvPr id="288" name="Line 288"/>
            <p:cNvSpPr/>
            <p:nvPr/>
          </p:nvSpPr>
          <p:spPr>
            <a:xfrm>
              <a:off x="7200900" y="2152650"/>
              <a:ext cx="9525" cy="3238500"/>
            </a:xfrm>
            <a:custGeom>
              <a:avLst/>
              <a:gdLst/>
              <a:ahLst/>
              <a:cxnLst/>
              <a:rect l="l" t="t" r="r" b="b"/>
              <a:pathLst>
                <a:path w="9525" h="3238500">
                  <a:moveTo>
                    <a:pt x="0" y="0"/>
                  </a:moveTo>
                  <a:lnTo>
                    <a:pt x="0" y="3238500"/>
                  </a:lnTo>
                </a:path>
              </a:pathLst>
            </a:custGeom>
            <a:noFill/>
            <a:ln w="9525">
              <a:solidFill>
                <a:srgbClr val="EADBCE"/>
              </a:solidFill>
            </a:ln>
          </p:spPr>
        </p:sp>
        <p:sp>
          <p:nvSpPr>
            <p:cNvPr id="289" name="Line 289"/>
            <p:cNvSpPr/>
            <p:nvPr/>
          </p:nvSpPr>
          <p:spPr>
            <a:xfrm>
              <a:off x="8401050" y="2152650"/>
              <a:ext cx="9525" cy="3238500"/>
            </a:xfrm>
            <a:custGeom>
              <a:avLst/>
              <a:gdLst/>
              <a:ahLst/>
              <a:cxnLst/>
              <a:rect l="l" t="t" r="r" b="b"/>
              <a:pathLst>
                <a:path w="9525" h="3238500">
                  <a:moveTo>
                    <a:pt x="0" y="0"/>
                  </a:moveTo>
                  <a:lnTo>
                    <a:pt x="0" y="3238500"/>
                  </a:lnTo>
                </a:path>
              </a:pathLst>
            </a:custGeom>
            <a:noFill/>
            <a:ln w="9525">
              <a:solidFill>
                <a:srgbClr val="EADBCE"/>
              </a:solidFill>
            </a:ln>
          </p:spPr>
        </p:sp>
        <p:sp>
          <p:nvSpPr>
            <p:cNvPr id="290" name="Line 290"/>
            <p:cNvSpPr/>
            <p:nvPr/>
          </p:nvSpPr>
          <p:spPr>
            <a:xfrm>
              <a:off x="9467850" y="2152650"/>
              <a:ext cx="9525" cy="3238500"/>
            </a:xfrm>
            <a:custGeom>
              <a:avLst/>
              <a:gdLst/>
              <a:ahLst/>
              <a:cxnLst/>
              <a:rect l="l" t="t" r="r" b="b"/>
              <a:pathLst>
                <a:path w="9525" h="3238500">
                  <a:moveTo>
                    <a:pt x="0" y="0"/>
                  </a:moveTo>
                  <a:lnTo>
                    <a:pt x="0" y="3238500"/>
                  </a:lnTo>
                </a:path>
              </a:pathLst>
            </a:custGeom>
            <a:noFill/>
            <a:ln w="9525">
              <a:solidFill>
                <a:srgbClr val="EADBCE"/>
              </a:solidFill>
            </a:ln>
          </p:spPr>
        </p:sp>
        <p:sp>
          <p:nvSpPr>
            <p:cNvPr id="291" name="Line 291"/>
            <p:cNvSpPr/>
            <p:nvPr/>
          </p:nvSpPr>
          <p:spPr>
            <a:xfrm>
              <a:off x="10039350" y="2152650"/>
              <a:ext cx="9525" cy="3238500"/>
            </a:xfrm>
            <a:custGeom>
              <a:avLst/>
              <a:gdLst/>
              <a:ahLst/>
              <a:cxnLst/>
              <a:rect l="l" t="t" r="r" b="b"/>
              <a:pathLst>
                <a:path w="9525" h="3238500">
                  <a:moveTo>
                    <a:pt x="0" y="0"/>
                  </a:moveTo>
                  <a:lnTo>
                    <a:pt x="0" y="3238500"/>
                  </a:lnTo>
                </a:path>
              </a:pathLst>
            </a:custGeom>
            <a:noFill/>
            <a:ln w="9525">
              <a:solidFill>
                <a:srgbClr val="EADBCE"/>
              </a:solidFill>
            </a:ln>
          </p:spPr>
        </p:sp>
        <p:sp>
          <p:nvSpPr>
            <p:cNvPr id="292" name="Line 292"/>
            <p:cNvSpPr/>
            <p:nvPr/>
          </p:nvSpPr>
          <p:spPr>
            <a:xfrm>
              <a:off x="10591800" y="2152650"/>
              <a:ext cx="9525" cy="3238500"/>
            </a:xfrm>
            <a:custGeom>
              <a:avLst/>
              <a:gdLst/>
              <a:ahLst/>
              <a:cxnLst/>
              <a:rect l="l" t="t" r="r" b="b"/>
              <a:pathLst>
                <a:path w="9525" h="3238500">
                  <a:moveTo>
                    <a:pt x="0" y="0"/>
                  </a:moveTo>
                  <a:lnTo>
                    <a:pt x="0" y="3238500"/>
                  </a:lnTo>
                </a:path>
              </a:pathLst>
            </a:custGeom>
            <a:noFill/>
            <a:ln w="9525">
              <a:solidFill>
                <a:srgbClr val="EADBCE"/>
              </a:solidFill>
            </a:ln>
          </p:spPr>
        </p:sp>
        <p:sp>
          <p:nvSpPr>
            <p:cNvPr id="293" name="Line 293"/>
            <p:cNvSpPr/>
            <p:nvPr/>
          </p:nvSpPr>
          <p:spPr>
            <a:xfrm>
              <a:off x="6648450" y="3028950"/>
              <a:ext cx="5162550" cy="9525"/>
            </a:xfrm>
            <a:custGeom>
              <a:avLst/>
              <a:gdLst/>
              <a:ahLst/>
              <a:cxnLst/>
              <a:rect l="l" t="t" r="r" b="b"/>
              <a:pathLst>
                <a:path w="5162550" h="9525">
                  <a:moveTo>
                    <a:pt x="0" y="0"/>
                  </a:moveTo>
                  <a:lnTo>
                    <a:pt x="5162550" y="0"/>
                  </a:lnTo>
                </a:path>
              </a:pathLst>
            </a:custGeom>
            <a:noFill/>
            <a:ln w="9525">
              <a:solidFill>
                <a:srgbClr val="EADBCE"/>
              </a:solidFill>
            </a:ln>
          </p:spPr>
        </p:sp>
        <p:sp>
          <p:nvSpPr>
            <p:cNvPr id="294" name="Line 294"/>
            <p:cNvSpPr/>
            <p:nvPr/>
          </p:nvSpPr>
          <p:spPr>
            <a:xfrm>
              <a:off x="6648450" y="3619500"/>
              <a:ext cx="5162550" cy="9525"/>
            </a:xfrm>
            <a:custGeom>
              <a:avLst/>
              <a:gdLst/>
              <a:ahLst/>
              <a:cxnLst/>
              <a:rect l="l" t="t" r="r" b="b"/>
              <a:pathLst>
                <a:path w="5162550" h="9525">
                  <a:moveTo>
                    <a:pt x="0" y="0"/>
                  </a:moveTo>
                  <a:lnTo>
                    <a:pt x="5162550" y="0"/>
                  </a:lnTo>
                </a:path>
              </a:pathLst>
            </a:custGeom>
            <a:noFill/>
            <a:ln w="9525">
              <a:solidFill>
                <a:srgbClr val="EADBCE"/>
              </a:solidFill>
            </a:ln>
          </p:spPr>
        </p:sp>
        <p:sp>
          <p:nvSpPr>
            <p:cNvPr id="295" name="Line 295"/>
            <p:cNvSpPr/>
            <p:nvPr/>
          </p:nvSpPr>
          <p:spPr>
            <a:xfrm>
              <a:off x="6648450" y="4210050"/>
              <a:ext cx="5162550" cy="9525"/>
            </a:xfrm>
            <a:custGeom>
              <a:avLst/>
              <a:gdLst/>
              <a:ahLst/>
              <a:cxnLst/>
              <a:rect l="l" t="t" r="r" b="b"/>
              <a:pathLst>
                <a:path w="5162550" h="9525">
                  <a:moveTo>
                    <a:pt x="0" y="0"/>
                  </a:moveTo>
                  <a:lnTo>
                    <a:pt x="5162550" y="0"/>
                  </a:lnTo>
                </a:path>
              </a:pathLst>
            </a:custGeom>
            <a:noFill/>
            <a:ln w="9525">
              <a:solidFill>
                <a:srgbClr val="EADBCE"/>
              </a:solidFill>
            </a:ln>
          </p:spPr>
        </p:sp>
        <p:sp>
          <p:nvSpPr>
            <p:cNvPr id="296" name="Line 296"/>
            <p:cNvSpPr/>
            <p:nvPr/>
          </p:nvSpPr>
          <p:spPr>
            <a:xfrm>
              <a:off x="6648450" y="4800600"/>
              <a:ext cx="5162550" cy="9525"/>
            </a:xfrm>
            <a:custGeom>
              <a:avLst/>
              <a:gdLst/>
              <a:ahLst/>
              <a:cxnLst/>
              <a:rect l="l" t="t" r="r" b="b"/>
              <a:pathLst>
                <a:path w="5162550" h="9525">
                  <a:moveTo>
                    <a:pt x="0" y="0"/>
                  </a:moveTo>
                  <a:lnTo>
                    <a:pt x="5162550" y="0"/>
                  </a:lnTo>
                </a:path>
              </a:pathLst>
            </a:custGeom>
            <a:noFill/>
            <a:ln w="9525">
              <a:solidFill>
                <a:srgbClr val="EADBCE"/>
              </a:solidFill>
            </a:ln>
          </p:spPr>
        </p:sp>
        <p:sp>
          <p:nvSpPr>
            <p:cNvPr id="297" name="TextBox 297"/>
            <p:cNvSpPr txBox="1"/>
            <p:nvPr/>
          </p:nvSpPr>
          <p:spPr>
            <a:xfrm>
              <a:off x="6662738" y="5572839"/>
              <a:ext cx="1559839"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历史实验效果参考（提升幅度）​</a:t>
              </a:r>
            </a:p>
          </p:txBody>
        </p:sp>
        <p:sp>
          <p:nvSpPr>
            <p:cNvPr id="298" name="Rectangle 298"/>
            <p:cNvSpPr/>
            <p:nvPr/>
          </p:nvSpPr>
          <p:spPr>
            <a:xfrm>
              <a:off x="6648450" y="5734050"/>
              <a:ext cx="5162550" cy="247650"/>
            </a:xfrm>
            <a:prstGeom prst="rect">
              <a:avLst/>
            </a:prstGeom>
            <a:solidFill>
              <a:srgbClr val="FEF2E6"/>
            </a:solidFill>
            <a:ln w="9525">
              <a:solidFill>
                <a:srgbClr val="F0B8AE"/>
              </a:solidFill>
            </a:ln>
          </p:spPr>
        </p:sp>
        <p:sp>
          <p:nvSpPr>
            <p:cNvPr id="299" name="Rectangle 299"/>
            <p:cNvSpPr/>
            <p:nvPr/>
          </p:nvSpPr>
          <p:spPr>
            <a:xfrm>
              <a:off x="10953750" y="5734050"/>
              <a:ext cx="857250" cy="666750"/>
            </a:xfrm>
            <a:prstGeom prst="rect">
              <a:avLst/>
            </a:prstGeom>
            <a:solidFill>
              <a:srgbClr val="FBBFB5"/>
            </a:solidFill>
            <a:ln>
              <a:noFill/>
            </a:ln>
          </p:spPr>
        </p:sp>
        <p:sp>
          <p:nvSpPr>
            <p:cNvPr id="300" name="Rectangle 300"/>
            <p:cNvSpPr/>
            <p:nvPr/>
          </p:nvSpPr>
          <p:spPr>
            <a:xfrm>
              <a:off x="6648450" y="5981700"/>
              <a:ext cx="5162550" cy="419100"/>
            </a:xfrm>
            <a:prstGeom prst="rect">
              <a:avLst/>
            </a:prstGeom>
            <a:noFill/>
            <a:ln w="9525">
              <a:solidFill>
                <a:srgbClr val="F0B8AE"/>
              </a:solidFill>
            </a:ln>
          </p:spPr>
        </p:sp>
        <p:sp>
          <p:nvSpPr>
            <p:cNvPr id="301" name="TextBox 301"/>
            <p:cNvSpPr txBox="1"/>
            <p:nvPr/>
          </p:nvSpPr>
          <p:spPr>
            <a:xfrm>
              <a:off x="6974972" y="5820489"/>
              <a:ext cx="204205" cy="154781"/>
            </a:xfrm>
            <a:prstGeom prst="rect">
              <a:avLst/>
            </a:prstGeom>
            <a:noFill/>
            <a:ln>
              <a:noFill/>
            </a:ln>
          </p:spPr>
          <p:txBody>
            <a:bodyPr wrap="none" lIns="0" tIns="0" rIns="0" bIns="0" anchor="t" anchorCtr="0">
              <a:spAutoFit/>
            </a:bodyPr>
            <a:lstStyle/>
            <a:p>
              <a:pPr algn="ctr"/>
              <a:r>
                <a:rPr lang="en-US" sz="790" b="1" dirty="0">
                  <a:solidFill>
                    <a:srgbClr val="4A130A"/>
                  </a:solidFill>
                  <a:latin typeface="+mn-lt"/>
                  <a:ea typeface="+mn-ea"/>
                  <a:cs typeface="+mn-cs"/>
                </a:rPr>
                <a:t>​A​</a:t>
              </a:r>
            </a:p>
          </p:txBody>
        </p:sp>
        <p:sp>
          <p:nvSpPr>
            <p:cNvPr id="302" name="TextBox 302"/>
            <p:cNvSpPr txBox="1"/>
            <p:nvPr/>
          </p:nvSpPr>
          <p:spPr>
            <a:xfrm>
              <a:off x="7841747" y="5820489"/>
              <a:ext cx="204205" cy="154781"/>
            </a:xfrm>
            <a:prstGeom prst="rect">
              <a:avLst/>
            </a:prstGeom>
            <a:noFill/>
            <a:ln>
              <a:noFill/>
            </a:ln>
          </p:spPr>
          <p:txBody>
            <a:bodyPr wrap="none" lIns="0" tIns="0" rIns="0" bIns="0" anchor="t" anchorCtr="0">
              <a:spAutoFit/>
            </a:bodyPr>
            <a:lstStyle/>
            <a:p>
              <a:pPr algn="ctr"/>
              <a:r>
                <a:rPr lang="en-US" sz="790" b="1" dirty="0">
                  <a:solidFill>
                    <a:srgbClr val="4A130A"/>
                  </a:solidFill>
                  <a:latin typeface="+mn-lt"/>
                  <a:ea typeface="+mn-ea"/>
                  <a:cs typeface="+mn-cs"/>
                </a:rPr>
                <a:t>​B​</a:t>
              </a:r>
            </a:p>
          </p:txBody>
        </p:sp>
        <p:sp>
          <p:nvSpPr>
            <p:cNvPr id="303" name="TextBox 303"/>
            <p:cNvSpPr txBox="1"/>
            <p:nvPr/>
          </p:nvSpPr>
          <p:spPr>
            <a:xfrm>
              <a:off x="8698997" y="5820489"/>
              <a:ext cx="204205" cy="154781"/>
            </a:xfrm>
            <a:prstGeom prst="rect">
              <a:avLst/>
            </a:prstGeom>
            <a:noFill/>
            <a:ln>
              <a:noFill/>
            </a:ln>
          </p:spPr>
          <p:txBody>
            <a:bodyPr wrap="none" lIns="0" tIns="0" rIns="0" bIns="0" anchor="t" anchorCtr="0">
              <a:spAutoFit/>
            </a:bodyPr>
            <a:lstStyle/>
            <a:p>
              <a:pPr algn="ctr"/>
              <a:r>
                <a:rPr lang="en-US" sz="790" b="1" dirty="0">
                  <a:solidFill>
                    <a:srgbClr val="4A130A"/>
                  </a:solidFill>
                  <a:latin typeface="+mn-lt"/>
                  <a:ea typeface="+mn-ea"/>
                  <a:cs typeface="+mn-cs"/>
                </a:rPr>
                <a:t>​C​</a:t>
              </a:r>
            </a:p>
          </p:txBody>
        </p:sp>
        <p:sp>
          <p:nvSpPr>
            <p:cNvPr id="304" name="TextBox 304"/>
            <p:cNvSpPr txBox="1"/>
            <p:nvPr/>
          </p:nvSpPr>
          <p:spPr>
            <a:xfrm>
              <a:off x="9556247" y="5820489"/>
              <a:ext cx="204205" cy="154781"/>
            </a:xfrm>
            <a:prstGeom prst="rect">
              <a:avLst/>
            </a:prstGeom>
            <a:noFill/>
            <a:ln>
              <a:noFill/>
            </a:ln>
          </p:spPr>
          <p:txBody>
            <a:bodyPr wrap="none" lIns="0" tIns="0" rIns="0" bIns="0" anchor="t" anchorCtr="0">
              <a:spAutoFit/>
            </a:bodyPr>
            <a:lstStyle/>
            <a:p>
              <a:pPr algn="ctr"/>
              <a:r>
                <a:rPr lang="en-US" sz="790" b="1" dirty="0">
                  <a:solidFill>
                    <a:srgbClr val="4A130A"/>
                  </a:solidFill>
                  <a:latin typeface="+mn-lt"/>
                  <a:ea typeface="+mn-ea"/>
                  <a:cs typeface="+mn-cs"/>
                </a:rPr>
                <a:t>​D​</a:t>
              </a:r>
            </a:p>
          </p:txBody>
        </p:sp>
        <p:sp>
          <p:nvSpPr>
            <p:cNvPr id="305" name="TextBox 305"/>
            <p:cNvSpPr txBox="1"/>
            <p:nvPr/>
          </p:nvSpPr>
          <p:spPr>
            <a:xfrm>
              <a:off x="10413497" y="5820489"/>
              <a:ext cx="204205" cy="154781"/>
            </a:xfrm>
            <a:prstGeom prst="rect">
              <a:avLst/>
            </a:prstGeom>
            <a:noFill/>
            <a:ln>
              <a:noFill/>
            </a:ln>
          </p:spPr>
          <p:txBody>
            <a:bodyPr wrap="none" lIns="0" tIns="0" rIns="0" bIns="0" anchor="t" anchorCtr="0">
              <a:spAutoFit/>
            </a:bodyPr>
            <a:lstStyle/>
            <a:p>
              <a:pPr algn="ctr"/>
              <a:r>
                <a:rPr lang="en-US" sz="790" b="1" dirty="0">
                  <a:solidFill>
                    <a:srgbClr val="4A130A"/>
                  </a:solidFill>
                  <a:latin typeface="+mn-lt"/>
                  <a:ea typeface="+mn-ea"/>
                  <a:cs typeface="+mn-cs"/>
                </a:rPr>
                <a:t>​E​</a:t>
              </a:r>
            </a:p>
          </p:txBody>
        </p:sp>
        <p:sp>
          <p:nvSpPr>
            <p:cNvPr id="306" name="TextBox 306"/>
            <p:cNvSpPr txBox="1"/>
            <p:nvPr/>
          </p:nvSpPr>
          <p:spPr>
            <a:xfrm>
              <a:off x="11164913" y="5820489"/>
              <a:ext cx="434924" cy="154781"/>
            </a:xfrm>
            <a:prstGeom prst="rect">
              <a:avLst/>
            </a:prstGeom>
            <a:noFill/>
            <a:ln>
              <a:noFill/>
            </a:ln>
          </p:spPr>
          <p:txBody>
            <a:bodyPr wrap="none" lIns="0" tIns="0" rIns="0" bIns="0" anchor="t" anchorCtr="0">
              <a:spAutoFit/>
            </a:bodyPr>
            <a:lstStyle/>
            <a:p>
              <a:pPr algn="ctr"/>
              <a:r>
                <a:rPr lang="zh-CN" sz="790" b="1" dirty="0">
                  <a:solidFill>
                    <a:srgbClr val="8F1C08"/>
                  </a:solidFill>
                  <a:latin typeface="+mn-lt"/>
                  <a:ea typeface="+mn-ea"/>
                  <a:cs typeface="+mn-cs"/>
                </a:rPr>
                <a:t>平均提升</a:t>
              </a:r>
            </a:p>
          </p:txBody>
        </p:sp>
        <p:sp>
          <p:nvSpPr>
            <p:cNvPr id="307" name="TextBox 307"/>
            <p:cNvSpPr txBox="1"/>
            <p:nvPr/>
          </p:nvSpPr>
          <p:spPr>
            <a:xfrm>
              <a:off x="6753517" y="6143149"/>
              <a:ext cx="647116" cy="190690"/>
            </a:xfrm>
            <a:prstGeom prst="rect">
              <a:avLst/>
            </a:prstGeom>
            <a:noFill/>
            <a:ln>
              <a:noFill/>
            </a:ln>
          </p:spPr>
          <p:txBody>
            <a:bodyPr wrap="none" lIns="0" tIns="0" rIns="0" bIns="0" anchor="t" anchorCtr="0">
              <a:spAutoFit/>
            </a:bodyPr>
            <a:lstStyle/>
            <a:p>
              <a:pPr algn="ctr"/>
              <a:r>
                <a:rPr lang="zh-CN" sz="980" b="1" dirty="0">
                  <a:solidFill>
                    <a:srgbClr val="C41D00"/>
                  </a:solidFill>
                  <a:latin typeface="+mn-lt"/>
                  <a:ea typeface="+mn-ea"/>
                  <a:cs typeface="+mn-cs"/>
                </a:rPr>
                <a:t>​+18.7%​</a:t>
              </a:r>
            </a:p>
          </p:txBody>
        </p:sp>
        <p:sp>
          <p:nvSpPr>
            <p:cNvPr id="308" name="TextBox 308"/>
            <p:cNvSpPr txBox="1"/>
            <p:nvPr/>
          </p:nvSpPr>
          <p:spPr>
            <a:xfrm>
              <a:off x="7620292" y="6143149"/>
              <a:ext cx="647116" cy="190690"/>
            </a:xfrm>
            <a:prstGeom prst="rect">
              <a:avLst/>
            </a:prstGeom>
            <a:noFill/>
            <a:ln>
              <a:noFill/>
            </a:ln>
          </p:spPr>
          <p:txBody>
            <a:bodyPr wrap="none" lIns="0" tIns="0" rIns="0" bIns="0" anchor="t" anchorCtr="0">
              <a:spAutoFit/>
            </a:bodyPr>
            <a:lstStyle/>
            <a:p>
              <a:pPr algn="ctr"/>
              <a:r>
                <a:rPr lang="zh-CN" sz="980" b="1" dirty="0">
                  <a:solidFill>
                    <a:srgbClr val="C41D00"/>
                  </a:solidFill>
                  <a:latin typeface="+mn-lt"/>
                  <a:ea typeface="+mn-ea"/>
                  <a:cs typeface="+mn-cs"/>
                </a:rPr>
                <a:t>​+14.9%​</a:t>
              </a:r>
            </a:p>
          </p:txBody>
        </p:sp>
        <p:sp>
          <p:nvSpPr>
            <p:cNvPr id="309" name="TextBox 309"/>
            <p:cNvSpPr txBox="1"/>
            <p:nvPr/>
          </p:nvSpPr>
          <p:spPr>
            <a:xfrm>
              <a:off x="8477542" y="6143149"/>
              <a:ext cx="647116" cy="190690"/>
            </a:xfrm>
            <a:prstGeom prst="rect">
              <a:avLst/>
            </a:prstGeom>
            <a:noFill/>
            <a:ln>
              <a:noFill/>
            </a:ln>
          </p:spPr>
          <p:txBody>
            <a:bodyPr wrap="none" lIns="0" tIns="0" rIns="0" bIns="0" anchor="t" anchorCtr="0">
              <a:spAutoFit/>
            </a:bodyPr>
            <a:lstStyle/>
            <a:p>
              <a:pPr algn="ctr"/>
              <a:r>
                <a:rPr lang="zh-CN" sz="980" b="1" dirty="0">
                  <a:solidFill>
                    <a:srgbClr val="C41D00"/>
                  </a:solidFill>
                  <a:latin typeface="+mn-lt"/>
                  <a:ea typeface="+mn-ea"/>
                  <a:cs typeface="+mn-cs"/>
                </a:rPr>
                <a:t>​+21.6%​</a:t>
              </a:r>
            </a:p>
          </p:txBody>
        </p:sp>
        <p:sp>
          <p:nvSpPr>
            <p:cNvPr id="310" name="TextBox 310"/>
            <p:cNvSpPr txBox="1"/>
            <p:nvPr/>
          </p:nvSpPr>
          <p:spPr>
            <a:xfrm>
              <a:off x="9334792" y="6143149"/>
              <a:ext cx="647116" cy="190690"/>
            </a:xfrm>
            <a:prstGeom prst="rect">
              <a:avLst/>
            </a:prstGeom>
            <a:noFill/>
            <a:ln>
              <a:noFill/>
            </a:ln>
          </p:spPr>
          <p:txBody>
            <a:bodyPr wrap="none" lIns="0" tIns="0" rIns="0" bIns="0" anchor="t" anchorCtr="0">
              <a:spAutoFit/>
            </a:bodyPr>
            <a:lstStyle/>
            <a:p>
              <a:pPr algn="ctr"/>
              <a:r>
                <a:rPr lang="zh-CN" sz="980" b="1" dirty="0">
                  <a:solidFill>
                    <a:srgbClr val="C41D00"/>
                  </a:solidFill>
                  <a:latin typeface="+mn-lt"/>
                  <a:ea typeface="+mn-ea"/>
                  <a:cs typeface="+mn-cs"/>
                </a:rPr>
                <a:t>​+16.3%​</a:t>
              </a:r>
            </a:p>
          </p:txBody>
        </p:sp>
        <p:sp>
          <p:nvSpPr>
            <p:cNvPr id="311" name="TextBox 311"/>
            <p:cNvSpPr txBox="1"/>
            <p:nvPr/>
          </p:nvSpPr>
          <p:spPr>
            <a:xfrm>
              <a:off x="10192042" y="6143149"/>
              <a:ext cx="647116" cy="190690"/>
            </a:xfrm>
            <a:prstGeom prst="rect">
              <a:avLst/>
            </a:prstGeom>
            <a:noFill/>
            <a:ln>
              <a:noFill/>
            </a:ln>
          </p:spPr>
          <p:txBody>
            <a:bodyPr wrap="none" lIns="0" tIns="0" rIns="0" bIns="0" anchor="t" anchorCtr="0">
              <a:spAutoFit/>
            </a:bodyPr>
            <a:lstStyle/>
            <a:p>
              <a:pPr algn="ctr"/>
              <a:r>
                <a:rPr lang="zh-CN" sz="980" b="1" dirty="0">
                  <a:solidFill>
                    <a:srgbClr val="C41D00"/>
                  </a:solidFill>
                  <a:latin typeface="+mn-lt"/>
                  <a:ea typeface="+mn-ea"/>
                  <a:cs typeface="+mn-cs"/>
                </a:rPr>
                <a:t>​+11.2%​</a:t>
              </a:r>
            </a:p>
          </p:txBody>
        </p:sp>
        <p:sp>
          <p:nvSpPr>
            <p:cNvPr id="312" name="TextBox 312"/>
            <p:cNvSpPr txBox="1"/>
            <p:nvPr/>
          </p:nvSpPr>
          <p:spPr>
            <a:xfrm>
              <a:off x="11058817" y="6143149"/>
              <a:ext cx="647116" cy="190690"/>
            </a:xfrm>
            <a:prstGeom prst="rect">
              <a:avLst/>
            </a:prstGeom>
            <a:noFill/>
            <a:ln>
              <a:noFill/>
            </a:ln>
          </p:spPr>
          <p:txBody>
            <a:bodyPr wrap="none" lIns="0" tIns="0" rIns="0" bIns="0" anchor="t" anchorCtr="0">
              <a:spAutoFit/>
            </a:bodyPr>
            <a:lstStyle/>
            <a:p>
              <a:pPr algn="ctr"/>
              <a:r>
                <a:rPr lang="zh-CN" sz="980" b="1" dirty="0">
                  <a:solidFill>
                    <a:srgbClr val="8F1C08"/>
                  </a:solidFill>
                  <a:latin typeface="+mn-lt"/>
                  <a:ea typeface="+mn-ea"/>
                  <a:cs typeface="+mn-cs"/>
                </a:rPr>
                <a:t>​+16.5%​</a:t>
              </a:r>
            </a:p>
          </p:txBody>
        </p:sp>
        <p:sp>
          <p:nvSpPr>
            <p:cNvPr id="313" name="Line 313"/>
            <p:cNvSpPr/>
            <p:nvPr/>
          </p:nvSpPr>
          <p:spPr>
            <a:xfrm>
              <a:off x="7505700" y="5734050"/>
              <a:ext cx="9525" cy="666750"/>
            </a:xfrm>
            <a:custGeom>
              <a:avLst/>
              <a:gdLst/>
              <a:ahLst/>
              <a:cxnLst/>
              <a:rect l="l" t="t" r="r" b="b"/>
              <a:pathLst>
                <a:path w="9525" h="666750">
                  <a:moveTo>
                    <a:pt x="0" y="0"/>
                  </a:moveTo>
                  <a:lnTo>
                    <a:pt x="0" y="666750"/>
                  </a:lnTo>
                </a:path>
              </a:pathLst>
            </a:custGeom>
            <a:noFill/>
            <a:ln w="9525">
              <a:solidFill>
                <a:srgbClr val="EADBCE"/>
              </a:solidFill>
            </a:ln>
          </p:spPr>
        </p:sp>
        <p:sp>
          <p:nvSpPr>
            <p:cNvPr id="314" name="Line 314"/>
            <p:cNvSpPr/>
            <p:nvPr/>
          </p:nvSpPr>
          <p:spPr>
            <a:xfrm>
              <a:off x="8372475" y="5734050"/>
              <a:ext cx="9525" cy="666750"/>
            </a:xfrm>
            <a:custGeom>
              <a:avLst/>
              <a:gdLst/>
              <a:ahLst/>
              <a:cxnLst/>
              <a:rect l="l" t="t" r="r" b="b"/>
              <a:pathLst>
                <a:path w="9525" h="666750">
                  <a:moveTo>
                    <a:pt x="0" y="0"/>
                  </a:moveTo>
                  <a:lnTo>
                    <a:pt x="0" y="666750"/>
                  </a:lnTo>
                </a:path>
              </a:pathLst>
            </a:custGeom>
            <a:noFill/>
            <a:ln w="9525">
              <a:solidFill>
                <a:srgbClr val="EADBCE"/>
              </a:solidFill>
            </a:ln>
          </p:spPr>
        </p:sp>
        <p:sp>
          <p:nvSpPr>
            <p:cNvPr id="315" name="Line 315"/>
            <p:cNvSpPr/>
            <p:nvPr/>
          </p:nvSpPr>
          <p:spPr>
            <a:xfrm>
              <a:off x="9229725" y="5734050"/>
              <a:ext cx="9525" cy="666750"/>
            </a:xfrm>
            <a:custGeom>
              <a:avLst/>
              <a:gdLst/>
              <a:ahLst/>
              <a:cxnLst/>
              <a:rect l="l" t="t" r="r" b="b"/>
              <a:pathLst>
                <a:path w="9525" h="666750">
                  <a:moveTo>
                    <a:pt x="0" y="0"/>
                  </a:moveTo>
                  <a:lnTo>
                    <a:pt x="0" y="666750"/>
                  </a:lnTo>
                </a:path>
              </a:pathLst>
            </a:custGeom>
            <a:noFill/>
            <a:ln w="9525">
              <a:solidFill>
                <a:srgbClr val="EADBCE"/>
              </a:solidFill>
            </a:ln>
          </p:spPr>
        </p:sp>
        <p:sp>
          <p:nvSpPr>
            <p:cNvPr id="316" name="Line 316"/>
            <p:cNvSpPr/>
            <p:nvPr/>
          </p:nvSpPr>
          <p:spPr>
            <a:xfrm>
              <a:off x="10086975" y="5734050"/>
              <a:ext cx="9525" cy="666750"/>
            </a:xfrm>
            <a:custGeom>
              <a:avLst/>
              <a:gdLst/>
              <a:ahLst/>
              <a:cxnLst/>
              <a:rect l="l" t="t" r="r" b="b"/>
              <a:pathLst>
                <a:path w="9525" h="666750">
                  <a:moveTo>
                    <a:pt x="0" y="0"/>
                  </a:moveTo>
                  <a:lnTo>
                    <a:pt x="0" y="666750"/>
                  </a:lnTo>
                </a:path>
              </a:pathLst>
            </a:custGeom>
            <a:noFill/>
            <a:ln w="9525">
              <a:solidFill>
                <a:srgbClr val="EADBCE"/>
              </a:solidFill>
            </a:ln>
          </p:spPr>
        </p:sp>
        <p:sp>
          <p:nvSpPr>
            <p:cNvPr id="317" name="Line 317"/>
            <p:cNvSpPr/>
            <p:nvPr/>
          </p:nvSpPr>
          <p:spPr>
            <a:xfrm>
              <a:off x="10953750" y="5734050"/>
              <a:ext cx="9525" cy="666750"/>
            </a:xfrm>
            <a:custGeom>
              <a:avLst/>
              <a:gdLst/>
              <a:ahLst/>
              <a:cxnLst/>
              <a:rect l="l" t="t" r="r" b="b"/>
              <a:pathLst>
                <a:path w="9525" h="666750">
                  <a:moveTo>
                    <a:pt x="0" y="0"/>
                  </a:moveTo>
                  <a:lnTo>
                    <a:pt x="0" y="666750"/>
                  </a:lnTo>
                </a:path>
              </a:pathLst>
            </a:custGeom>
            <a:noFill/>
            <a:ln w="9525">
              <a:solidFill>
                <a:srgbClr val="EADBCE"/>
              </a:solidFill>
            </a:ln>
          </p:spPr>
        </p:sp>
      </p:gr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10</a:t>
              </a:r>
            </a:p>
          </p:txBody>
        </p:sp>
        <p:sp>
          <p:nvSpPr>
            <p:cNvPr id="4" name="TextBox 4"/>
            <p:cNvSpPr txBox="1"/>
            <p:nvPr/>
          </p:nvSpPr>
          <p:spPr>
            <a:xfrm>
              <a:off x="904494" y="170498"/>
              <a:ext cx="6996645"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财富经营</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以客户目标和风险偏好驱动资产配置与持续陪伴​</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73" name="life-stage-map"/>
          <p:cNvGrpSpPr/>
          <p:nvPr/>
        </p:nvGrpSpPr>
        <p:grpSpPr>
          <a:xfrm>
            <a:off x="342900" y="685800"/>
            <a:ext cx="2899474" cy="2647950"/>
            <a:chOff x="342900" y="685800"/>
            <a:chExt cx="2899474" cy="2647950"/>
          </a:xfrm>
        </p:grpSpPr>
        <p:sp>
          <p:nvSpPr>
            <p:cNvPr id="7" name="Rectangle 7"/>
            <p:cNvSpPr/>
            <p:nvPr/>
          </p:nvSpPr>
          <p:spPr>
            <a:xfrm>
              <a:off x="342900" y="685800"/>
              <a:ext cx="2895600" cy="228600"/>
            </a:xfrm>
            <a:prstGeom prst="roundRect">
              <a:avLst>
                <a:gd name="adj" fmla="val 12500"/>
              </a:avLst>
            </a:prstGeom>
            <a:solidFill>
              <a:srgbClr val="C41D00"/>
            </a:solidFill>
            <a:ln>
              <a:noFill/>
            </a:ln>
          </p:spPr>
        </p:sp>
        <p:sp>
          <p:nvSpPr>
            <p:cNvPr id="8" name="TextBox 8"/>
            <p:cNvSpPr txBox="1"/>
            <p:nvPr/>
          </p:nvSpPr>
          <p:spPr>
            <a:xfrm>
              <a:off x="807284" y="750570"/>
              <a:ext cx="196683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​客户财富需求地图（按人生阶段）​</a:t>
              </a:r>
            </a:p>
          </p:txBody>
        </p:sp>
        <p:sp>
          <p:nvSpPr>
            <p:cNvPr id="9" name="Rectangle 9"/>
            <p:cNvSpPr/>
            <p:nvPr/>
          </p:nvSpPr>
          <p:spPr>
            <a:xfrm>
              <a:off x="342900" y="952500"/>
              <a:ext cx="2895600" cy="171450"/>
            </a:xfrm>
            <a:prstGeom prst="rect">
              <a:avLst/>
            </a:prstGeom>
            <a:solidFill>
              <a:srgbClr val="FEF2E6"/>
            </a:solidFill>
            <a:ln w="9525">
              <a:solidFill>
                <a:srgbClr val="F0B8AE"/>
              </a:solidFill>
            </a:ln>
          </p:spPr>
        </p:sp>
        <p:sp>
          <p:nvSpPr>
            <p:cNvPr id="10" name="TextBox 10"/>
            <p:cNvSpPr txBox="1"/>
            <p:nvPr/>
          </p:nvSpPr>
          <p:spPr>
            <a:xfrm>
              <a:off x="470624" y="100750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人生阶段</a:t>
              </a:r>
            </a:p>
          </p:txBody>
        </p:sp>
        <p:sp>
          <p:nvSpPr>
            <p:cNvPr id="11" name="TextBox 11"/>
            <p:cNvSpPr txBox="1"/>
            <p:nvPr/>
          </p:nvSpPr>
          <p:spPr>
            <a:xfrm>
              <a:off x="975449" y="100750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典型年龄</a:t>
              </a:r>
            </a:p>
          </p:txBody>
        </p:sp>
        <p:sp>
          <p:nvSpPr>
            <p:cNvPr id="12" name="TextBox 12"/>
            <p:cNvSpPr txBox="1"/>
            <p:nvPr/>
          </p:nvSpPr>
          <p:spPr>
            <a:xfrm>
              <a:off x="1451699" y="100750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核心目标</a:t>
              </a:r>
            </a:p>
          </p:txBody>
        </p:sp>
        <p:sp>
          <p:nvSpPr>
            <p:cNvPr id="13" name="TextBox 13"/>
            <p:cNvSpPr txBox="1"/>
            <p:nvPr/>
          </p:nvSpPr>
          <p:spPr>
            <a:xfrm>
              <a:off x="1925387" y="1007507"/>
              <a:ext cx="625977"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​风险偏好特征​</a:t>
              </a:r>
            </a:p>
          </p:txBody>
        </p:sp>
        <p:sp>
          <p:nvSpPr>
            <p:cNvPr id="14" name="TextBox 14"/>
            <p:cNvSpPr txBox="1"/>
            <p:nvPr/>
          </p:nvSpPr>
          <p:spPr>
            <a:xfrm>
              <a:off x="2530008" y="1007507"/>
              <a:ext cx="712134"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​资产配置关注点​</a:t>
              </a:r>
            </a:p>
          </p:txBody>
        </p:sp>
        <p:sp>
          <p:nvSpPr>
            <p:cNvPr id="15" name="Rectangle 15"/>
            <p:cNvSpPr/>
            <p:nvPr/>
          </p:nvSpPr>
          <p:spPr>
            <a:xfrm>
              <a:off x="342900" y="1123950"/>
              <a:ext cx="2895600" cy="2209800"/>
            </a:xfrm>
            <a:prstGeom prst="rect">
              <a:avLst/>
            </a:prstGeom>
            <a:solidFill>
              <a:srgbClr val="FFFFFF"/>
            </a:solidFill>
            <a:ln w="9525">
              <a:solidFill>
                <a:srgbClr val="F0B8AE"/>
              </a:solidFill>
            </a:ln>
          </p:spPr>
        </p:sp>
        <p:sp>
          <p:nvSpPr>
            <p:cNvPr id="16" name="Rectangle 16"/>
            <p:cNvSpPr/>
            <p:nvPr/>
          </p:nvSpPr>
          <p:spPr>
            <a:xfrm>
              <a:off x="342900" y="1562100"/>
              <a:ext cx="2895600" cy="438150"/>
            </a:xfrm>
            <a:prstGeom prst="rect">
              <a:avLst/>
            </a:prstGeom>
            <a:solidFill>
              <a:srgbClr val="FFF8F2"/>
            </a:solidFill>
            <a:ln>
              <a:noFill/>
            </a:ln>
          </p:spPr>
        </p:sp>
        <p:sp>
          <p:nvSpPr>
            <p:cNvPr id="17" name="Rectangle 17"/>
            <p:cNvSpPr/>
            <p:nvPr/>
          </p:nvSpPr>
          <p:spPr>
            <a:xfrm>
              <a:off x="342900" y="2438400"/>
              <a:ext cx="2895600" cy="438150"/>
            </a:xfrm>
            <a:prstGeom prst="rect">
              <a:avLst/>
            </a:prstGeom>
            <a:solidFill>
              <a:srgbClr val="FFF8F2"/>
            </a:solidFill>
            <a:ln>
              <a:noFill/>
            </a:ln>
          </p:spPr>
        </p:sp>
        <p:grpSp>
          <p:nvGrpSpPr>
            <p:cNvPr id="22" name="Group 22"/>
            <p:cNvGrpSpPr/>
            <p:nvPr/>
          </p:nvGrpSpPr>
          <p:grpSpPr>
            <a:xfrm>
              <a:off x="421481" y="1278731"/>
              <a:ext cx="128588" cy="128588"/>
              <a:chOff x="421481" y="1278731"/>
              <a:chExt cx="128588" cy="128588"/>
            </a:xfrm>
          </p:grpSpPr>
          <p:sp>
            <p:nvSpPr>
              <p:cNvPr id="18" name="Freeform 18"/>
              <p:cNvSpPr/>
              <p:nvPr/>
            </p:nvSpPr>
            <p:spPr>
              <a:xfrm>
                <a:off x="435769" y="12787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D82000"/>
                </a:solidFill>
              </a:ln>
            </p:spPr>
          </p:sp>
          <p:sp>
            <p:nvSpPr>
              <p:cNvPr id="19" name="Freeform 19"/>
              <p:cNvSpPr/>
              <p:nvPr/>
            </p:nvSpPr>
            <p:spPr>
              <a:xfrm>
                <a:off x="421481" y="13644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D82000"/>
                </a:solidFill>
              </a:ln>
            </p:spPr>
          </p:sp>
          <p:sp>
            <p:nvSpPr>
              <p:cNvPr id="20" name="Freeform 20"/>
              <p:cNvSpPr/>
              <p:nvPr/>
            </p:nvSpPr>
            <p:spPr>
              <a:xfrm>
                <a:off x="514350" y="12796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D82000"/>
                </a:solidFill>
              </a:ln>
            </p:spPr>
          </p:sp>
          <p:sp>
            <p:nvSpPr>
              <p:cNvPr id="21" name="Freeform 21"/>
              <p:cNvSpPr/>
              <p:nvPr/>
            </p:nvSpPr>
            <p:spPr>
              <a:xfrm>
                <a:off x="528638" y="13655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D82000"/>
                </a:solidFill>
              </a:ln>
            </p:spPr>
          </p:sp>
        </p:grpSp>
        <p:sp>
          <p:nvSpPr>
            <p:cNvPr id="23" name="TextBox 23"/>
            <p:cNvSpPr txBox="1"/>
            <p:nvPr/>
          </p:nvSpPr>
          <p:spPr>
            <a:xfrm>
              <a:off x="623888" y="1304211"/>
              <a:ext cx="29626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起步期</a:t>
              </a:r>
            </a:p>
          </p:txBody>
        </p:sp>
        <p:sp>
          <p:nvSpPr>
            <p:cNvPr id="24" name="TextBox 24"/>
            <p:cNvSpPr txBox="1"/>
            <p:nvPr/>
          </p:nvSpPr>
          <p:spPr>
            <a:xfrm>
              <a:off x="938832" y="1312307"/>
              <a:ext cx="427385"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​22–30岁​</a:t>
              </a:r>
            </a:p>
          </p:txBody>
        </p:sp>
        <p:sp>
          <p:nvSpPr>
            <p:cNvPr id="25" name="TextBox 25"/>
            <p:cNvSpPr txBox="1"/>
            <p:nvPr/>
          </p:nvSpPr>
          <p:spPr>
            <a:xfrm>
              <a:off x="1461452" y="1198007"/>
              <a:ext cx="334645" cy="335756"/>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能力积累</a:t>
              </a:r>
              <a:br/>
              <a:r>
                <a:rPr lang="zh-CN" sz="640" dirty="0">
                  <a:solidFill>
                    <a:srgbClr val="3D3835"/>
                  </a:solidFill>
                  <a:latin typeface="+mn-lt"/>
                  <a:ea typeface="+mn-ea"/>
                  <a:cs typeface="+mn-cs"/>
                </a:rPr>
                <a:t>应急储备</a:t>
              </a:r>
              <a:br/>
              <a:r>
                <a:rPr lang="zh-CN" sz="640" dirty="0">
                  <a:solidFill>
                    <a:srgbClr val="3D3835"/>
                  </a:solidFill>
                  <a:latin typeface="+mn-lt"/>
                  <a:ea typeface="+mn-ea"/>
                  <a:cs typeface="+mn-cs"/>
                </a:rPr>
                <a:t>初步理财</a:t>
              </a:r>
            </a:p>
          </p:txBody>
        </p:sp>
        <p:sp>
          <p:nvSpPr>
            <p:cNvPr id="26" name="TextBox 26"/>
            <p:cNvSpPr txBox="1"/>
            <p:nvPr/>
          </p:nvSpPr>
          <p:spPr>
            <a:xfrm>
              <a:off x="1904428" y="1255157"/>
              <a:ext cx="66789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​风险承受能力高​</a:t>
              </a:r>
              <a:br/>
              <a:r>
                <a:rPr lang="zh-CN" sz="640" dirty="0">
                  <a:solidFill>
                    <a:srgbClr val="3D3835"/>
                  </a:solidFill>
                  <a:latin typeface="+mn-lt"/>
                  <a:ea typeface="+mn-ea"/>
                  <a:cs typeface="+mn-cs"/>
                </a:rPr>
                <a:t>可承受波动</a:t>
              </a:r>
            </a:p>
          </p:txBody>
        </p:sp>
        <p:sp>
          <p:nvSpPr>
            <p:cNvPr id="27" name="TextBox 27"/>
            <p:cNvSpPr txBox="1"/>
            <p:nvPr/>
          </p:nvSpPr>
          <p:spPr>
            <a:xfrm>
              <a:off x="2678112" y="1255157"/>
              <a:ext cx="41592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权益类增长</a:t>
              </a:r>
              <a:br/>
              <a:r>
                <a:rPr lang="zh-CN" sz="640" dirty="0">
                  <a:solidFill>
                    <a:srgbClr val="3D3835"/>
                  </a:solidFill>
                  <a:latin typeface="+mn-lt"/>
                  <a:ea typeface="+mn-ea"/>
                  <a:cs typeface="+mn-cs"/>
                </a:rPr>
                <a:t>潜力配置</a:t>
              </a:r>
            </a:p>
          </p:txBody>
        </p:sp>
        <p:grpSp>
          <p:nvGrpSpPr>
            <p:cNvPr id="32" name="Group 32"/>
            <p:cNvGrpSpPr/>
            <p:nvPr/>
          </p:nvGrpSpPr>
          <p:grpSpPr>
            <a:xfrm>
              <a:off x="421481" y="1716881"/>
              <a:ext cx="128588" cy="121444"/>
              <a:chOff x="421481" y="1716881"/>
              <a:chExt cx="128588" cy="121444"/>
            </a:xfrm>
          </p:grpSpPr>
          <p:sp>
            <p:nvSpPr>
              <p:cNvPr id="28" name="Freeform 28"/>
              <p:cNvSpPr/>
              <p:nvPr/>
            </p:nvSpPr>
            <p:spPr>
              <a:xfrm>
                <a:off x="421481" y="1745456"/>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D82000"/>
                </a:solidFill>
              </a:ln>
            </p:spPr>
          </p:sp>
          <p:sp>
            <p:nvSpPr>
              <p:cNvPr id="29" name="Freeform 29"/>
              <p:cNvSpPr/>
              <p:nvPr/>
            </p:nvSpPr>
            <p:spPr>
              <a:xfrm>
                <a:off x="457200" y="1716881"/>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D82000"/>
                </a:solidFill>
              </a:ln>
            </p:spPr>
          </p:sp>
          <p:sp>
            <p:nvSpPr>
              <p:cNvPr id="30" name="Freeform 30"/>
              <p:cNvSpPr/>
              <p:nvPr/>
            </p:nvSpPr>
            <p:spPr>
              <a:xfrm>
                <a:off x="485775" y="1781175"/>
                <a:ext cx="9525" cy="9525"/>
              </a:xfrm>
              <a:custGeom>
                <a:avLst/>
                <a:gdLst/>
                <a:ahLst/>
                <a:cxnLst/>
                <a:rect l="l" t="t" r="r" b="b"/>
                <a:pathLst>
                  <a:path w="9525" h="9525">
                    <a:moveTo>
                      <a:pt x="0" y="0"/>
                    </a:moveTo>
                    <a:lnTo>
                      <a:pt x="0" y="71"/>
                    </a:lnTo>
                  </a:path>
                </a:pathLst>
              </a:custGeom>
              <a:noFill/>
              <a:ln w="14288">
                <a:solidFill>
                  <a:srgbClr val="D82000"/>
                </a:solidFill>
              </a:ln>
            </p:spPr>
          </p:sp>
          <p:sp>
            <p:nvSpPr>
              <p:cNvPr id="31" name="Freeform 31"/>
              <p:cNvSpPr/>
              <p:nvPr/>
            </p:nvSpPr>
            <p:spPr>
              <a:xfrm>
                <a:off x="421481" y="1788319"/>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D82000"/>
                </a:solidFill>
              </a:ln>
            </p:spPr>
          </p:sp>
        </p:grpSp>
        <p:sp>
          <p:nvSpPr>
            <p:cNvPr id="33" name="TextBox 33"/>
            <p:cNvSpPr txBox="1"/>
            <p:nvPr/>
          </p:nvSpPr>
          <p:spPr>
            <a:xfrm>
              <a:off x="623888" y="1742361"/>
              <a:ext cx="29626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成长期</a:t>
              </a:r>
            </a:p>
          </p:txBody>
        </p:sp>
        <p:sp>
          <p:nvSpPr>
            <p:cNvPr id="34" name="TextBox 34"/>
            <p:cNvSpPr txBox="1"/>
            <p:nvPr/>
          </p:nvSpPr>
          <p:spPr>
            <a:xfrm>
              <a:off x="938832" y="1750457"/>
              <a:ext cx="427385"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​31–45岁​</a:t>
              </a:r>
            </a:p>
          </p:txBody>
        </p:sp>
        <p:sp>
          <p:nvSpPr>
            <p:cNvPr id="35" name="TextBox 35"/>
            <p:cNvSpPr txBox="1"/>
            <p:nvPr/>
          </p:nvSpPr>
          <p:spPr>
            <a:xfrm>
              <a:off x="1461452" y="1636157"/>
              <a:ext cx="334645" cy="335756"/>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事业发展</a:t>
              </a:r>
              <a:br/>
              <a:r>
                <a:rPr lang="zh-CN" sz="640" dirty="0">
                  <a:solidFill>
                    <a:srgbClr val="3D3835"/>
                  </a:solidFill>
                  <a:latin typeface="+mn-lt"/>
                  <a:ea typeface="+mn-ea"/>
                  <a:cs typeface="+mn-cs"/>
                </a:rPr>
                <a:t>购房</a:t>
              </a:r>
              <a:br/>
              <a:r>
                <a:rPr lang="zh-CN" sz="640" dirty="0">
                  <a:solidFill>
                    <a:srgbClr val="3D3835"/>
                  </a:solidFill>
                  <a:latin typeface="+mn-lt"/>
                  <a:ea typeface="+mn-ea"/>
                  <a:cs typeface="+mn-cs"/>
                </a:rPr>
                <a:t>子女教育</a:t>
              </a:r>
            </a:p>
          </p:txBody>
        </p:sp>
        <p:sp>
          <p:nvSpPr>
            <p:cNvPr id="36" name="TextBox 36"/>
            <p:cNvSpPr txBox="1"/>
            <p:nvPr/>
          </p:nvSpPr>
          <p:spPr>
            <a:xfrm>
              <a:off x="1945068" y="1693307"/>
              <a:ext cx="58661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​风险偏好较高​</a:t>
              </a:r>
              <a:br/>
              <a:r>
                <a:rPr lang="zh-CN" sz="640" dirty="0">
                  <a:solidFill>
                    <a:srgbClr val="3D3835"/>
                  </a:solidFill>
                  <a:latin typeface="+mn-lt"/>
                  <a:ea typeface="+mn-ea"/>
                  <a:cs typeface="+mn-cs"/>
                </a:rPr>
                <a:t>兼顾稳健</a:t>
              </a:r>
            </a:p>
          </p:txBody>
        </p:sp>
        <p:sp>
          <p:nvSpPr>
            <p:cNvPr id="37" name="TextBox 37"/>
            <p:cNvSpPr txBox="1"/>
            <p:nvPr/>
          </p:nvSpPr>
          <p:spPr>
            <a:xfrm>
              <a:off x="2592768" y="1693307"/>
              <a:ext cx="58661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资产配置与</a:t>
              </a:r>
              <a:br/>
              <a:r>
                <a:rPr lang="zh-CN" sz="640" dirty="0">
                  <a:solidFill>
                    <a:srgbClr val="3D3835"/>
                  </a:solidFill>
                  <a:latin typeface="+mn-lt"/>
                  <a:ea typeface="+mn-ea"/>
                  <a:cs typeface="+mn-cs"/>
                </a:rPr>
                <a:t>​住房金融并重​</a:t>
              </a:r>
            </a:p>
          </p:txBody>
        </p:sp>
        <p:grpSp>
          <p:nvGrpSpPr>
            <p:cNvPr id="44" name="Group 44"/>
            <p:cNvGrpSpPr/>
            <p:nvPr/>
          </p:nvGrpSpPr>
          <p:grpSpPr>
            <a:xfrm>
              <a:off x="421481" y="2155031"/>
              <a:ext cx="128588" cy="128588"/>
              <a:chOff x="421481" y="2155031"/>
              <a:chExt cx="128588" cy="128588"/>
            </a:xfrm>
          </p:grpSpPr>
          <p:sp>
            <p:nvSpPr>
              <p:cNvPr id="38" name="Freeform 38"/>
              <p:cNvSpPr/>
              <p:nvPr/>
            </p:nvSpPr>
            <p:spPr>
              <a:xfrm>
                <a:off x="471488" y="22121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39" name="Freeform 39"/>
              <p:cNvSpPr/>
              <p:nvPr/>
            </p:nvSpPr>
            <p:spPr>
              <a:xfrm>
                <a:off x="457200" y="226218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D82000"/>
                </a:solidFill>
              </a:ln>
            </p:spPr>
          </p:sp>
          <p:sp>
            <p:nvSpPr>
              <p:cNvPr id="40" name="Freeform 40"/>
              <p:cNvSpPr/>
              <p:nvPr/>
            </p:nvSpPr>
            <p:spPr>
              <a:xfrm>
                <a:off x="507206" y="21550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41" name="Freeform 41"/>
              <p:cNvSpPr/>
              <p:nvPr/>
            </p:nvSpPr>
            <p:spPr>
              <a:xfrm>
                <a:off x="521494" y="220503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D82000"/>
                </a:solidFill>
              </a:ln>
            </p:spPr>
          </p:sp>
          <p:sp>
            <p:nvSpPr>
              <p:cNvPr id="42" name="Freeform 42"/>
              <p:cNvSpPr/>
              <p:nvPr/>
            </p:nvSpPr>
            <p:spPr>
              <a:xfrm>
                <a:off x="435769" y="21550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43" name="Freeform 43"/>
              <p:cNvSpPr/>
              <p:nvPr/>
            </p:nvSpPr>
            <p:spPr>
              <a:xfrm>
                <a:off x="421481" y="220503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D82000"/>
                </a:solidFill>
              </a:ln>
            </p:spPr>
          </p:sp>
        </p:grpSp>
        <p:sp>
          <p:nvSpPr>
            <p:cNvPr id="45" name="TextBox 45"/>
            <p:cNvSpPr txBox="1"/>
            <p:nvPr/>
          </p:nvSpPr>
          <p:spPr>
            <a:xfrm>
              <a:off x="623888" y="2180511"/>
              <a:ext cx="29626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成熟期</a:t>
              </a:r>
            </a:p>
          </p:txBody>
        </p:sp>
        <p:sp>
          <p:nvSpPr>
            <p:cNvPr id="46" name="TextBox 46"/>
            <p:cNvSpPr txBox="1"/>
            <p:nvPr/>
          </p:nvSpPr>
          <p:spPr>
            <a:xfrm>
              <a:off x="938832" y="2188607"/>
              <a:ext cx="427385"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​45–55岁​</a:t>
              </a:r>
            </a:p>
          </p:txBody>
        </p:sp>
        <p:sp>
          <p:nvSpPr>
            <p:cNvPr id="47" name="TextBox 47"/>
            <p:cNvSpPr txBox="1"/>
            <p:nvPr/>
          </p:nvSpPr>
          <p:spPr>
            <a:xfrm>
              <a:off x="1461452" y="2074307"/>
              <a:ext cx="334645" cy="335756"/>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子女教育</a:t>
              </a:r>
              <a:br/>
              <a:r>
                <a:rPr lang="zh-CN" sz="640" dirty="0">
                  <a:solidFill>
                    <a:srgbClr val="3D3835"/>
                  </a:solidFill>
                  <a:latin typeface="+mn-lt"/>
                  <a:ea typeface="+mn-ea"/>
                  <a:cs typeface="+mn-cs"/>
                </a:rPr>
                <a:t>财富增长</a:t>
              </a:r>
              <a:br/>
              <a:r>
                <a:rPr lang="zh-CN" sz="640" dirty="0">
                  <a:solidFill>
                    <a:srgbClr val="3D3835"/>
                  </a:solidFill>
                  <a:latin typeface="+mn-lt"/>
                  <a:ea typeface="+mn-ea"/>
                  <a:cs typeface="+mn-cs"/>
                </a:rPr>
                <a:t>退休准备</a:t>
              </a:r>
            </a:p>
          </p:txBody>
        </p:sp>
        <p:sp>
          <p:nvSpPr>
            <p:cNvPr id="48" name="TextBox 48"/>
            <p:cNvSpPr txBox="1"/>
            <p:nvPr/>
          </p:nvSpPr>
          <p:spPr>
            <a:xfrm>
              <a:off x="1904428" y="2131457"/>
              <a:ext cx="66789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中低偏好、</a:t>
              </a:r>
              <a:br/>
              <a:r>
                <a:rPr lang="zh-CN" sz="640" dirty="0">
                  <a:solidFill>
                    <a:srgbClr val="3D3835"/>
                  </a:solidFill>
                  <a:latin typeface="+mn-lt"/>
                  <a:ea typeface="+mn-ea"/>
                  <a:cs typeface="+mn-cs"/>
                </a:rPr>
                <a:t>​收益与稳健并重​</a:t>
              </a:r>
            </a:p>
          </p:txBody>
        </p:sp>
        <p:sp>
          <p:nvSpPr>
            <p:cNvPr id="49" name="TextBox 49"/>
            <p:cNvSpPr txBox="1"/>
            <p:nvPr/>
          </p:nvSpPr>
          <p:spPr>
            <a:xfrm>
              <a:off x="2552128" y="2131457"/>
              <a:ext cx="66789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多元配置、</a:t>
              </a:r>
              <a:br/>
              <a:r>
                <a:rPr lang="zh-CN" sz="640" dirty="0">
                  <a:solidFill>
                    <a:srgbClr val="3D3835"/>
                  </a:solidFill>
                  <a:latin typeface="+mn-lt"/>
                  <a:ea typeface="+mn-ea"/>
                  <a:cs typeface="+mn-cs"/>
                </a:rPr>
                <a:t>​收益与稳健并重​</a:t>
              </a:r>
            </a:p>
          </p:txBody>
        </p:sp>
        <p:grpSp>
          <p:nvGrpSpPr>
            <p:cNvPr id="53" name="Group 53"/>
            <p:cNvGrpSpPr/>
            <p:nvPr/>
          </p:nvGrpSpPr>
          <p:grpSpPr>
            <a:xfrm>
              <a:off x="421481" y="2593181"/>
              <a:ext cx="128588" cy="128588"/>
              <a:chOff x="421481" y="2593181"/>
              <a:chExt cx="128588" cy="128588"/>
            </a:xfrm>
          </p:grpSpPr>
          <p:sp>
            <p:nvSpPr>
              <p:cNvPr id="50" name="Freeform 50"/>
              <p:cNvSpPr/>
              <p:nvPr/>
            </p:nvSpPr>
            <p:spPr>
              <a:xfrm>
                <a:off x="421481" y="25931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D82000"/>
                </a:solidFill>
              </a:ln>
            </p:spPr>
          </p:sp>
          <p:sp>
            <p:nvSpPr>
              <p:cNvPr id="51" name="Freeform 51"/>
              <p:cNvSpPr/>
              <p:nvPr/>
            </p:nvSpPr>
            <p:spPr>
              <a:xfrm>
                <a:off x="435769" y="26574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D82000"/>
                </a:solidFill>
              </a:ln>
            </p:spPr>
          </p:sp>
          <p:sp>
            <p:nvSpPr>
              <p:cNvPr id="52" name="Freeform 52"/>
              <p:cNvSpPr/>
              <p:nvPr/>
            </p:nvSpPr>
            <p:spPr>
              <a:xfrm>
                <a:off x="464344" y="26646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D82000"/>
                </a:solidFill>
              </a:ln>
            </p:spPr>
          </p:sp>
        </p:grpSp>
        <p:sp>
          <p:nvSpPr>
            <p:cNvPr id="54" name="TextBox 54"/>
            <p:cNvSpPr txBox="1"/>
            <p:nvPr/>
          </p:nvSpPr>
          <p:spPr>
            <a:xfrm>
              <a:off x="623888" y="2618661"/>
              <a:ext cx="29626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退休期</a:t>
              </a:r>
            </a:p>
          </p:txBody>
        </p:sp>
        <p:sp>
          <p:nvSpPr>
            <p:cNvPr id="55" name="TextBox 55"/>
            <p:cNvSpPr txBox="1"/>
            <p:nvPr/>
          </p:nvSpPr>
          <p:spPr>
            <a:xfrm>
              <a:off x="986218" y="2626757"/>
              <a:ext cx="332613"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​55岁+​</a:t>
              </a:r>
            </a:p>
          </p:txBody>
        </p:sp>
        <p:sp>
          <p:nvSpPr>
            <p:cNvPr id="56" name="TextBox 56"/>
            <p:cNvSpPr txBox="1"/>
            <p:nvPr/>
          </p:nvSpPr>
          <p:spPr>
            <a:xfrm>
              <a:off x="1461452" y="2512457"/>
              <a:ext cx="334645" cy="335756"/>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养老保障</a:t>
              </a:r>
              <a:br/>
              <a:r>
                <a:rPr lang="zh-CN" sz="640" dirty="0">
                  <a:solidFill>
                    <a:srgbClr val="3D3835"/>
                  </a:solidFill>
                  <a:latin typeface="+mn-lt"/>
                  <a:ea typeface="+mn-ea"/>
                  <a:cs typeface="+mn-cs"/>
                </a:rPr>
                <a:t>财富传承</a:t>
              </a:r>
              <a:br/>
              <a:r>
                <a:rPr lang="zh-CN" sz="640" dirty="0">
                  <a:solidFill>
                    <a:srgbClr val="3D3835"/>
                  </a:solidFill>
                  <a:latin typeface="+mn-lt"/>
                  <a:ea typeface="+mn-ea"/>
                  <a:cs typeface="+mn-cs"/>
                </a:rPr>
                <a:t>医疗保障</a:t>
              </a:r>
            </a:p>
          </p:txBody>
        </p:sp>
        <p:sp>
          <p:nvSpPr>
            <p:cNvPr id="57" name="TextBox 57"/>
            <p:cNvSpPr txBox="1"/>
            <p:nvPr/>
          </p:nvSpPr>
          <p:spPr>
            <a:xfrm>
              <a:off x="1945068" y="2569607"/>
              <a:ext cx="58661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​风险偏好较低​</a:t>
              </a:r>
              <a:br/>
              <a:r>
                <a:rPr lang="zh-CN" sz="640" dirty="0">
                  <a:solidFill>
                    <a:srgbClr val="3D3835"/>
                  </a:solidFill>
                  <a:latin typeface="+mn-lt"/>
                  <a:ea typeface="+mn-ea"/>
                  <a:cs typeface="+mn-cs"/>
                </a:rPr>
                <a:t>重本金安全</a:t>
              </a:r>
            </a:p>
          </p:txBody>
        </p:sp>
        <p:sp>
          <p:nvSpPr>
            <p:cNvPr id="58" name="TextBox 58"/>
            <p:cNvSpPr txBox="1"/>
            <p:nvPr/>
          </p:nvSpPr>
          <p:spPr>
            <a:xfrm>
              <a:off x="2529777" y="2569607"/>
              <a:ext cx="712597"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​稳健收益/现金流​</a:t>
              </a:r>
              <a:br/>
              <a:r>
                <a:rPr lang="zh-CN" sz="640" dirty="0">
                  <a:solidFill>
                    <a:srgbClr val="3D3835"/>
                  </a:solidFill>
                  <a:latin typeface="+mn-lt"/>
                  <a:ea typeface="+mn-ea"/>
                  <a:cs typeface="+mn-cs"/>
                </a:rPr>
                <a:t>确定性</a:t>
              </a:r>
            </a:p>
          </p:txBody>
        </p:sp>
        <p:sp>
          <p:nvSpPr>
            <p:cNvPr id="59" name="Freeform 59"/>
            <p:cNvSpPr/>
            <p:nvPr/>
          </p:nvSpPr>
          <p:spPr>
            <a:xfrm>
              <a:off x="421481" y="3052762"/>
              <a:ext cx="128588" cy="85725"/>
            </a:xfrm>
            <a:custGeom>
              <a:avLst/>
              <a:gdLst/>
              <a:ahLst/>
              <a:cxnLst/>
              <a:rect l="l" t="t" r="r" b="b"/>
              <a:pathLst>
                <a:path w="128588" h="85725">
                  <a:moveTo>
                    <a:pt x="64294" y="0"/>
                  </a:moveTo>
                  <a:lnTo>
                    <a:pt x="92869" y="42862"/>
                  </a:lnTo>
                  <a:lnTo>
                    <a:pt x="128588" y="14288"/>
                  </a:lnTo>
                  <a:lnTo>
                    <a:pt x="114300" y="85725"/>
                  </a:lnTo>
                  <a:lnTo>
                    <a:pt x="14288" y="85725"/>
                  </a:lnTo>
                  <a:lnTo>
                    <a:pt x="0" y="14288"/>
                  </a:lnTo>
                  <a:lnTo>
                    <a:pt x="35719" y="42862"/>
                  </a:lnTo>
                  <a:lnTo>
                    <a:pt x="64294" y="0"/>
                  </a:lnTo>
                </a:path>
              </a:pathLst>
            </a:custGeom>
            <a:noFill/>
            <a:ln w="14288">
              <a:solidFill>
                <a:srgbClr val="D82000"/>
              </a:solidFill>
            </a:ln>
          </p:spPr>
        </p:sp>
        <p:sp>
          <p:nvSpPr>
            <p:cNvPr id="60" name="TextBox 60"/>
            <p:cNvSpPr txBox="1"/>
            <p:nvPr/>
          </p:nvSpPr>
          <p:spPr>
            <a:xfrm>
              <a:off x="623888" y="3056811"/>
              <a:ext cx="29626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传承期</a:t>
              </a:r>
            </a:p>
          </p:txBody>
        </p:sp>
        <p:sp>
          <p:nvSpPr>
            <p:cNvPr id="61" name="TextBox 61"/>
            <p:cNvSpPr txBox="1"/>
            <p:nvPr/>
          </p:nvSpPr>
          <p:spPr>
            <a:xfrm>
              <a:off x="1076683" y="3064907"/>
              <a:ext cx="151684" cy="126206"/>
            </a:xfrm>
            <a:prstGeom prst="rect">
              <a:avLst/>
            </a:prstGeom>
            <a:noFill/>
            <a:ln>
              <a:noFill/>
            </a:ln>
          </p:spPr>
          <p:txBody>
            <a:bodyPr wrap="none" lIns="0" tIns="0" rIns="0" bIns="0" anchor="t" anchorCtr="0">
              <a:spAutoFit/>
            </a:bodyPr>
            <a:lstStyle/>
            <a:p>
              <a:pPr algn="ctr"/>
              <a:r>
                <a:rPr lang="zh-CN" sz="640" dirty="0">
                  <a:solidFill>
                    <a:srgbClr val="7A716B"/>
                  </a:solidFill>
                  <a:latin typeface="+mn-lt"/>
                  <a:ea typeface="+mn-ea"/>
                  <a:cs typeface="+mn-cs"/>
                </a:rPr>
                <a:t>​—​</a:t>
              </a:r>
            </a:p>
          </p:txBody>
        </p:sp>
        <p:sp>
          <p:nvSpPr>
            <p:cNvPr id="62" name="TextBox 62"/>
            <p:cNvSpPr txBox="1"/>
            <p:nvPr/>
          </p:nvSpPr>
          <p:spPr>
            <a:xfrm>
              <a:off x="1461452" y="2950607"/>
              <a:ext cx="334645" cy="335756"/>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家族传承</a:t>
              </a:r>
              <a:br/>
              <a:r>
                <a:rPr lang="zh-CN" sz="640" dirty="0">
                  <a:solidFill>
                    <a:srgbClr val="3D3835"/>
                  </a:solidFill>
                  <a:latin typeface="+mn-lt"/>
                  <a:ea typeface="+mn-ea"/>
                  <a:cs typeface="+mn-cs"/>
                </a:rPr>
                <a:t>财富安排</a:t>
              </a:r>
              <a:br/>
              <a:r>
                <a:rPr lang="zh-CN" sz="640" dirty="0">
                  <a:solidFill>
                    <a:srgbClr val="3D3835"/>
                  </a:solidFill>
                  <a:latin typeface="+mn-lt"/>
                  <a:ea typeface="+mn-ea"/>
                  <a:cs typeface="+mn-cs"/>
                </a:rPr>
                <a:t>长效规划</a:t>
              </a:r>
            </a:p>
          </p:txBody>
        </p:sp>
        <p:sp>
          <p:nvSpPr>
            <p:cNvPr id="63" name="TextBox 63"/>
            <p:cNvSpPr txBox="1"/>
            <p:nvPr/>
          </p:nvSpPr>
          <p:spPr>
            <a:xfrm>
              <a:off x="1904428" y="3007757"/>
              <a:ext cx="66789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​风险偏好分化​</a:t>
              </a:r>
              <a:br/>
              <a:r>
                <a:rPr lang="zh-CN" sz="640" dirty="0">
                  <a:solidFill>
                    <a:srgbClr val="3D3835"/>
                  </a:solidFill>
                  <a:latin typeface="+mn-lt"/>
                  <a:ea typeface="+mn-ea"/>
                  <a:cs typeface="+mn-cs"/>
                </a:rPr>
                <a:t>​关注长期确定性​</a:t>
              </a:r>
            </a:p>
          </p:txBody>
        </p:sp>
        <p:sp>
          <p:nvSpPr>
            <p:cNvPr id="64" name="TextBox 64"/>
            <p:cNvSpPr txBox="1"/>
            <p:nvPr/>
          </p:nvSpPr>
          <p:spPr>
            <a:xfrm>
              <a:off x="2651696" y="2950607"/>
              <a:ext cx="468757" cy="335756"/>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​家族信托/​</a:t>
              </a:r>
              <a:br/>
              <a:r>
                <a:rPr lang="zh-CN" sz="640" dirty="0">
                  <a:solidFill>
                    <a:srgbClr val="3D3835"/>
                  </a:solidFill>
                  <a:latin typeface="+mn-lt"/>
                  <a:ea typeface="+mn-ea"/>
                  <a:cs typeface="+mn-cs"/>
                </a:rPr>
                <a:t>​全程安排/​</a:t>
              </a:r>
              <a:br/>
              <a:r>
                <a:rPr lang="zh-CN" sz="640" dirty="0">
                  <a:solidFill>
                    <a:srgbClr val="3D3835"/>
                  </a:solidFill>
                  <a:latin typeface="+mn-lt"/>
                  <a:ea typeface="+mn-ea"/>
                  <a:cs typeface="+mn-cs"/>
                </a:rPr>
                <a:t>税务与传承</a:t>
              </a:r>
            </a:p>
          </p:txBody>
        </p:sp>
        <p:sp>
          <p:nvSpPr>
            <p:cNvPr id="65" name="Line 65"/>
            <p:cNvSpPr/>
            <p:nvPr/>
          </p:nvSpPr>
          <p:spPr>
            <a:xfrm>
              <a:off x="952500" y="952500"/>
              <a:ext cx="9525" cy="2381250"/>
            </a:xfrm>
            <a:custGeom>
              <a:avLst/>
              <a:gdLst/>
              <a:ahLst/>
              <a:cxnLst/>
              <a:rect l="l" t="t" r="r" b="b"/>
              <a:pathLst>
                <a:path w="9525" h="2381250">
                  <a:moveTo>
                    <a:pt x="0" y="0"/>
                  </a:moveTo>
                  <a:lnTo>
                    <a:pt x="0" y="2381250"/>
                  </a:lnTo>
                </a:path>
              </a:pathLst>
            </a:custGeom>
            <a:noFill/>
            <a:ln w="9525">
              <a:solidFill>
                <a:srgbClr val="EADBCE"/>
              </a:solidFill>
            </a:ln>
          </p:spPr>
        </p:sp>
        <p:sp>
          <p:nvSpPr>
            <p:cNvPr id="66" name="Line 66"/>
            <p:cNvSpPr/>
            <p:nvPr/>
          </p:nvSpPr>
          <p:spPr>
            <a:xfrm>
              <a:off x="1352550" y="952500"/>
              <a:ext cx="9525" cy="2381250"/>
            </a:xfrm>
            <a:custGeom>
              <a:avLst/>
              <a:gdLst/>
              <a:ahLst/>
              <a:cxnLst/>
              <a:rect l="l" t="t" r="r" b="b"/>
              <a:pathLst>
                <a:path w="9525" h="2381250">
                  <a:moveTo>
                    <a:pt x="0" y="0"/>
                  </a:moveTo>
                  <a:lnTo>
                    <a:pt x="0" y="2381250"/>
                  </a:lnTo>
                </a:path>
              </a:pathLst>
            </a:custGeom>
            <a:noFill/>
            <a:ln w="9525">
              <a:solidFill>
                <a:srgbClr val="EADBCE"/>
              </a:solidFill>
            </a:ln>
          </p:spPr>
        </p:sp>
        <p:sp>
          <p:nvSpPr>
            <p:cNvPr id="67" name="Line 67"/>
            <p:cNvSpPr/>
            <p:nvPr/>
          </p:nvSpPr>
          <p:spPr>
            <a:xfrm>
              <a:off x="1905000" y="952500"/>
              <a:ext cx="9525" cy="2381250"/>
            </a:xfrm>
            <a:custGeom>
              <a:avLst/>
              <a:gdLst/>
              <a:ahLst/>
              <a:cxnLst/>
              <a:rect l="l" t="t" r="r" b="b"/>
              <a:pathLst>
                <a:path w="9525" h="2381250">
                  <a:moveTo>
                    <a:pt x="0" y="0"/>
                  </a:moveTo>
                  <a:lnTo>
                    <a:pt x="0" y="2381250"/>
                  </a:lnTo>
                </a:path>
              </a:pathLst>
            </a:custGeom>
            <a:noFill/>
            <a:ln w="9525">
              <a:solidFill>
                <a:srgbClr val="EADBCE"/>
              </a:solidFill>
            </a:ln>
          </p:spPr>
        </p:sp>
        <p:sp>
          <p:nvSpPr>
            <p:cNvPr id="68" name="Line 68"/>
            <p:cNvSpPr/>
            <p:nvPr/>
          </p:nvSpPr>
          <p:spPr>
            <a:xfrm>
              <a:off x="2571750" y="952500"/>
              <a:ext cx="9525" cy="2381250"/>
            </a:xfrm>
            <a:custGeom>
              <a:avLst/>
              <a:gdLst/>
              <a:ahLst/>
              <a:cxnLst/>
              <a:rect l="l" t="t" r="r" b="b"/>
              <a:pathLst>
                <a:path w="9525" h="2381250">
                  <a:moveTo>
                    <a:pt x="0" y="0"/>
                  </a:moveTo>
                  <a:lnTo>
                    <a:pt x="0" y="2381250"/>
                  </a:lnTo>
                </a:path>
              </a:pathLst>
            </a:custGeom>
            <a:noFill/>
            <a:ln w="9525">
              <a:solidFill>
                <a:srgbClr val="EADBCE"/>
              </a:solidFill>
            </a:ln>
          </p:spPr>
        </p:sp>
        <p:sp>
          <p:nvSpPr>
            <p:cNvPr id="69" name="Line 69"/>
            <p:cNvSpPr/>
            <p:nvPr/>
          </p:nvSpPr>
          <p:spPr>
            <a:xfrm>
              <a:off x="342900" y="1562100"/>
              <a:ext cx="2895600" cy="9525"/>
            </a:xfrm>
            <a:custGeom>
              <a:avLst/>
              <a:gdLst/>
              <a:ahLst/>
              <a:cxnLst/>
              <a:rect l="l" t="t" r="r" b="b"/>
              <a:pathLst>
                <a:path w="2895600" h="9525">
                  <a:moveTo>
                    <a:pt x="0" y="0"/>
                  </a:moveTo>
                  <a:lnTo>
                    <a:pt x="2895600" y="0"/>
                  </a:lnTo>
                </a:path>
              </a:pathLst>
            </a:custGeom>
            <a:noFill/>
            <a:ln w="9525">
              <a:solidFill>
                <a:srgbClr val="EADBCE"/>
              </a:solidFill>
            </a:ln>
          </p:spPr>
        </p:sp>
        <p:sp>
          <p:nvSpPr>
            <p:cNvPr id="70" name="Line 70"/>
            <p:cNvSpPr/>
            <p:nvPr/>
          </p:nvSpPr>
          <p:spPr>
            <a:xfrm>
              <a:off x="342900" y="2000250"/>
              <a:ext cx="2895600" cy="9525"/>
            </a:xfrm>
            <a:custGeom>
              <a:avLst/>
              <a:gdLst/>
              <a:ahLst/>
              <a:cxnLst/>
              <a:rect l="l" t="t" r="r" b="b"/>
              <a:pathLst>
                <a:path w="2895600" h="9525">
                  <a:moveTo>
                    <a:pt x="0" y="0"/>
                  </a:moveTo>
                  <a:lnTo>
                    <a:pt x="2895600" y="0"/>
                  </a:lnTo>
                </a:path>
              </a:pathLst>
            </a:custGeom>
            <a:noFill/>
            <a:ln w="9525">
              <a:solidFill>
                <a:srgbClr val="EADBCE"/>
              </a:solidFill>
            </a:ln>
          </p:spPr>
        </p:sp>
        <p:sp>
          <p:nvSpPr>
            <p:cNvPr id="71" name="Line 71"/>
            <p:cNvSpPr/>
            <p:nvPr/>
          </p:nvSpPr>
          <p:spPr>
            <a:xfrm>
              <a:off x="342900" y="2438400"/>
              <a:ext cx="2895600" cy="9525"/>
            </a:xfrm>
            <a:custGeom>
              <a:avLst/>
              <a:gdLst/>
              <a:ahLst/>
              <a:cxnLst/>
              <a:rect l="l" t="t" r="r" b="b"/>
              <a:pathLst>
                <a:path w="2895600" h="9525">
                  <a:moveTo>
                    <a:pt x="0" y="0"/>
                  </a:moveTo>
                  <a:lnTo>
                    <a:pt x="2895600" y="0"/>
                  </a:lnTo>
                </a:path>
              </a:pathLst>
            </a:custGeom>
            <a:noFill/>
            <a:ln w="9525">
              <a:solidFill>
                <a:srgbClr val="EADBCE"/>
              </a:solidFill>
            </a:ln>
          </p:spPr>
        </p:sp>
        <p:sp>
          <p:nvSpPr>
            <p:cNvPr id="72" name="Line 72"/>
            <p:cNvSpPr/>
            <p:nvPr/>
          </p:nvSpPr>
          <p:spPr>
            <a:xfrm>
              <a:off x="342900" y="2876550"/>
              <a:ext cx="2895600" cy="9525"/>
            </a:xfrm>
            <a:custGeom>
              <a:avLst/>
              <a:gdLst/>
              <a:ahLst/>
              <a:cxnLst/>
              <a:rect l="l" t="t" r="r" b="b"/>
              <a:pathLst>
                <a:path w="2895600" h="9525">
                  <a:moveTo>
                    <a:pt x="0" y="0"/>
                  </a:moveTo>
                  <a:lnTo>
                    <a:pt x="2895600" y="0"/>
                  </a:lnTo>
                </a:path>
              </a:pathLst>
            </a:custGeom>
            <a:noFill/>
            <a:ln w="9525">
              <a:solidFill>
                <a:srgbClr val="EADBCE"/>
              </a:solidFill>
            </a:ln>
          </p:spPr>
        </p:sp>
      </p:grpSp>
      <p:grpSp>
        <p:nvGrpSpPr>
          <p:cNvPr id="181" name="advisor-journey"/>
          <p:cNvGrpSpPr/>
          <p:nvPr/>
        </p:nvGrpSpPr>
        <p:grpSpPr>
          <a:xfrm>
            <a:off x="3314700" y="685800"/>
            <a:ext cx="3886200" cy="2628900"/>
            <a:chOff x="3314700" y="685800"/>
            <a:chExt cx="3886200" cy="2628900"/>
          </a:xfrm>
        </p:grpSpPr>
        <p:sp>
          <p:nvSpPr>
            <p:cNvPr id="74" name="Rectangle 74"/>
            <p:cNvSpPr/>
            <p:nvPr/>
          </p:nvSpPr>
          <p:spPr>
            <a:xfrm>
              <a:off x="3314700" y="685800"/>
              <a:ext cx="3886200" cy="228600"/>
            </a:xfrm>
            <a:prstGeom prst="roundRect">
              <a:avLst>
                <a:gd name="adj" fmla="val 12500"/>
              </a:avLst>
            </a:prstGeom>
            <a:solidFill>
              <a:srgbClr val="C41D00"/>
            </a:solidFill>
            <a:ln>
              <a:noFill/>
            </a:ln>
          </p:spPr>
        </p:sp>
        <p:sp>
          <p:nvSpPr>
            <p:cNvPr id="75" name="TextBox 75"/>
            <p:cNvSpPr txBox="1"/>
            <p:nvPr/>
          </p:nvSpPr>
          <p:spPr>
            <a:xfrm>
              <a:off x="4334963" y="750570"/>
              <a:ext cx="184567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​财富顾问陪伴旅程（闭环管理）​</a:t>
              </a:r>
            </a:p>
          </p:txBody>
        </p:sp>
        <p:sp>
          <p:nvSpPr>
            <p:cNvPr id="76" name="Ellipse 76"/>
            <p:cNvSpPr/>
            <p:nvPr/>
          </p:nvSpPr>
          <p:spPr>
            <a:xfrm>
              <a:off x="3590925" y="971550"/>
              <a:ext cx="152400" cy="152400"/>
            </a:xfrm>
            <a:prstGeom prst="ellipse">
              <a:avLst/>
            </a:prstGeom>
            <a:solidFill>
              <a:srgbClr val="D82000"/>
            </a:solidFill>
            <a:ln>
              <a:noFill/>
            </a:ln>
          </p:spPr>
        </p:sp>
        <p:sp>
          <p:nvSpPr>
            <p:cNvPr id="77" name="TextBox 77"/>
            <p:cNvSpPr txBox="1"/>
            <p:nvPr/>
          </p:nvSpPr>
          <p:spPr>
            <a:xfrm>
              <a:off x="3583065" y="100822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sp>
          <p:nvSpPr>
            <p:cNvPr id="78" name="TextBox 78"/>
            <p:cNvSpPr txBox="1"/>
            <p:nvPr/>
          </p:nvSpPr>
          <p:spPr>
            <a:xfrm>
              <a:off x="3471202" y="116133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画像诊断</a:t>
              </a:r>
            </a:p>
          </p:txBody>
        </p:sp>
        <p:sp>
          <p:nvSpPr>
            <p:cNvPr id="79" name="Ellipse 79"/>
            <p:cNvSpPr/>
            <p:nvPr/>
          </p:nvSpPr>
          <p:spPr>
            <a:xfrm>
              <a:off x="3524250" y="1304925"/>
              <a:ext cx="285750" cy="285750"/>
            </a:xfrm>
            <a:prstGeom prst="ellipse">
              <a:avLst/>
            </a:prstGeom>
            <a:solidFill>
              <a:srgbClr val="FEF2E6"/>
            </a:solidFill>
            <a:ln w="9525">
              <a:solidFill>
                <a:srgbClr val="F0B8AE"/>
              </a:solidFill>
            </a:ln>
          </p:spPr>
        </p:sp>
        <p:grpSp>
          <p:nvGrpSpPr>
            <p:cNvPr id="84" name="Group 84"/>
            <p:cNvGrpSpPr/>
            <p:nvPr/>
          </p:nvGrpSpPr>
          <p:grpSpPr>
            <a:xfrm>
              <a:off x="3602831" y="1383506"/>
              <a:ext cx="128588" cy="128588"/>
              <a:chOff x="3602831" y="1383506"/>
              <a:chExt cx="128588" cy="128588"/>
            </a:xfrm>
          </p:grpSpPr>
          <p:sp>
            <p:nvSpPr>
              <p:cNvPr id="80" name="Freeform 80"/>
              <p:cNvSpPr/>
              <p:nvPr/>
            </p:nvSpPr>
            <p:spPr>
              <a:xfrm>
                <a:off x="3617119" y="13835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D82000"/>
                </a:solidFill>
              </a:ln>
            </p:spPr>
          </p:sp>
          <p:sp>
            <p:nvSpPr>
              <p:cNvPr id="81" name="Freeform 81"/>
              <p:cNvSpPr/>
              <p:nvPr/>
            </p:nvSpPr>
            <p:spPr>
              <a:xfrm>
                <a:off x="3602831" y="14692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D82000"/>
                </a:solidFill>
              </a:ln>
            </p:spPr>
          </p:sp>
          <p:sp>
            <p:nvSpPr>
              <p:cNvPr id="82" name="Freeform 82"/>
              <p:cNvSpPr/>
              <p:nvPr/>
            </p:nvSpPr>
            <p:spPr>
              <a:xfrm>
                <a:off x="3695700" y="13844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D82000"/>
                </a:solidFill>
              </a:ln>
            </p:spPr>
          </p:sp>
          <p:sp>
            <p:nvSpPr>
              <p:cNvPr id="83" name="Freeform 83"/>
              <p:cNvSpPr/>
              <p:nvPr/>
            </p:nvSpPr>
            <p:spPr>
              <a:xfrm>
                <a:off x="3709988" y="14703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D82000"/>
                </a:solidFill>
              </a:ln>
            </p:spPr>
          </p:sp>
        </p:grpSp>
        <p:sp>
          <p:nvSpPr>
            <p:cNvPr id="85" name="TextBox 85"/>
            <p:cNvSpPr txBox="1"/>
            <p:nvPr/>
          </p:nvSpPr>
          <p:spPr>
            <a:xfrm>
              <a:off x="3386138" y="1649730"/>
              <a:ext cx="760095" cy="328612"/>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600" dirty="0">
                  <a:solidFill>
                    <a:srgbClr val="3D3835"/>
                  </a:solidFill>
                  <a:latin typeface="+mn-lt"/>
                  <a:ea typeface="+mn-ea"/>
                  <a:cs typeface="+mn-cs"/>
                </a:rPr>
                <a:t>客户KYC与分层​​​​</a:t>
              </a:r>
            </a:p>
            <a:p>
              <a:pPr algn="l" marL="76200" indent="-76200">
                <a:lnSpc>
                  <a:spcPts val="825"/>
                </a:lnSpc>
                <a:buClr>
                  <a:srgbClr val="3D3835"/>
                </a:buClr>
                <a:buSzTx/>
                <a:buFontTx/>
                <a:buChar char="•"/>
              </a:pPr>
              <a:r>
                <a:rPr lang="zh-CN" sz="600" dirty="0">
                  <a:solidFill>
                    <a:srgbClr val="3D3835"/>
                  </a:solidFill>
                  <a:latin typeface="+mn-lt"/>
                  <a:ea typeface="+mn-ea"/>
                  <a:cs typeface="+mn-cs"/>
                </a:rPr>
                <a:t>风险偏好评估​​</a:t>
              </a:r>
            </a:p>
            <a:p>
              <a:pPr algn="l" marL="76200" indent="-76200">
                <a:lnSpc>
                  <a:spcPts val="825"/>
                </a:lnSpc>
                <a:buClr>
                  <a:srgbClr val="3D3835"/>
                </a:buClr>
                <a:buSzTx/>
                <a:buFontTx/>
                <a:buChar char="•"/>
              </a:pPr>
              <a:r>
                <a:rPr lang="zh-CN" sz="600" dirty="0">
                  <a:solidFill>
                    <a:srgbClr val="3D3835"/>
                  </a:solidFill>
                  <a:latin typeface="+mn-lt"/>
                  <a:ea typeface="+mn-ea"/>
                  <a:cs typeface="+mn-cs"/>
                </a:rPr>
                <a:t>家庭账户透视​​</a:t>
              </a:r>
            </a:p>
          </p:txBody>
        </p:sp>
        <p:sp>
          <p:nvSpPr>
            <p:cNvPr id="86" name="Ellipse 86"/>
            <p:cNvSpPr/>
            <p:nvPr/>
          </p:nvSpPr>
          <p:spPr>
            <a:xfrm>
              <a:off x="4229100" y="971550"/>
              <a:ext cx="152400" cy="152400"/>
            </a:xfrm>
            <a:prstGeom prst="ellipse">
              <a:avLst/>
            </a:prstGeom>
            <a:solidFill>
              <a:srgbClr val="D82000"/>
            </a:solidFill>
            <a:ln>
              <a:noFill/>
            </a:ln>
          </p:spPr>
        </p:sp>
        <p:sp>
          <p:nvSpPr>
            <p:cNvPr id="87" name="TextBox 87"/>
            <p:cNvSpPr txBox="1"/>
            <p:nvPr/>
          </p:nvSpPr>
          <p:spPr>
            <a:xfrm>
              <a:off x="4221240" y="100822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sp>
          <p:nvSpPr>
            <p:cNvPr id="88" name="TextBox 88"/>
            <p:cNvSpPr txBox="1"/>
            <p:nvPr/>
          </p:nvSpPr>
          <p:spPr>
            <a:xfrm>
              <a:off x="4109377" y="116133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目标设定</a:t>
              </a:r>
            </a:p>
          </p:txBody>
        </p:sp>
        <p:sp>
          <p:nvSpPr>
            <p:cNvPr id="89" name="Ellipse 89"/>
            <p:cNvSpPr/>
            <p:nvPr/>
          </p:nvSpPr>
          <p:spPr>
            <a:xfrm>
              <a:off x="4162425" y="1304925"/>
              <a:ext cx="285750" cy="285750"/>
            </a:xfrm>
            <a:prstGeom prst="ellipse">
              <a:avLst/>
            </a:prstGeom>
            <a:solidFill>
              <a:srgbClr val="FEF2E6"/>
            </a:solidFill>
            <a:ln w="9525">
              <a:solidFill>
                <a:srgbClr val="F0B8AE"/>
              </a:solidFill>
            </a:ln>
          </p:spPr>
        </p:sp>
        <p:grpSp>
          <p:nvGrpSpPr>
            <p:cNvPr id="93" name="Group 93"/>
            <p:cNvGrpSpPr/>
            <p:nvPr/>
          </p:nvGrpSpPr>
          <p:grpSpPr>
            <a:xfrm>
              <a:off x="4241006" y="1383506"/>
              <a:ext cx="128588" cy="128588"/>
              <a:chOff x="4241006" y="1383506"/>
              <a:chExt cx="128588" cy="128588"/>
            </a:xfrm>
          </p:grpSpPr>
          <p:sp>
            <p:nvSpPr>
              <p:cNvPr id="90" name="Freeform 90"/>
              <p:cNvSpPr/>
              <p:nvPr/>
            </p:nvSpPr>
            <p:spPr>
              <a:xfrm>
                <a:off x="4298156" y="14406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D82000"/>
                </a:solidFill>
              </a:ln>
            </p:spPr>
          </p:sp>
          <p:sp>
            <p:nvSpPr>
              <p:cNvPr id="91" name="Freeform 91"/>
              <p:cNvSpPr/>
              <p:nvPr/>
            </p:nvSpPr>
            <p:spPr>
              <a:xfrm>
                <a:off x="4269581" y="14120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D82000"/>
                </a:solidFill>
              </a:ln>
            </p:spPr>
          </p:sp>
          <p:sp>
            <p:nvSpPr>
              <p:cNvPr id="92" name="Freeform 92"/>
              <p:cNvSpPr/>
              <p:nvPr/>
            </p:nvSpPr>
            <p:spPr>
              <a:xfrm>
                <a:off x="4241006" y="13835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D82000"/>
                </a:solidFill>
              </a:ln>
            </p:spPr>
          </p:sp>
        </p:grpSp>
        <p:sp>
          <p:nvSpPr>
            <p:cNvPr id="94" name="TextBox 94"/>
            <p:cNvSpPr txBox="1"/>
            <p:nvPr/>
          </p:nvSpPr>
          <p:spPr>
            <a:xfrm>
              <a:off x="4024312" y="1649730"/>
              <a:ext cx="626745" cy="328612"/>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600" dirty="0">
                  <a:solidFill>
                    <a:srgbClr val="3D3835"/>
                  </a:solidFill>
                  <a:latin typeface="+mn-lt"/>
                  <a:ea typeface="+mn-ea"/>
                  <a:cs typeface="+mn-cs"/>
                </a:rPr>
                <a:t>人生目标梳理​​</a:t>
              </a:r>
            </a:p>
            <a:p>
              <a:pPr algn="l" marL="76200" indent="-76200">
                <a:lnSpc>
                  <a:spcPts val="825"/>
                </a:lnSpc>
                <a:buClr>
                  <a:srgbClr val="3D3835"/>
                </a:buClr>
                <a:buSzTx/>
                <a:buFontTx/>
                <a:buChar char="•"/>
              </a:pPr>
              <a:r>
                <a:rPr lang="zh-CN" sz="600" dirty="0">
                  <a:solidFill>
                    <a:srgbClr val="3D3835"/>
                  </a:solidFill>
                  <a:latin typeface="+mn-lt"/>
                  <a:ea typeface="+mn-ea"/>
                  <a:cs typeface="+mn-cs"/>
                </a:rPr>
                <a:t>目标金额测算​​</a:t>
              </a:r>
            </a:p>
            <a:p>
              <a:pPr algn="l" marL="76200" indent="-76200">
                <a:lnSpc>
                  <a:spcPts val="825"/>
                </a:lnSpc>
                <a:buClr>
                  <a:srgbClr val="3D3835"/>
                </a:buClr>
                <a:buSzTx/>
                <a:buFontTx/>
                <a:buChar char="•"/>
              </a:pPr>
              <a:r>
                <a:rPr lang="zh-CN" sz="600" dirty="0">
                  <a:solidFill>
                    <a:srgbClr val="3D3835"/>
                  </a:solidFill>
                  <a:latin typeface="+mn-lt"/>
                  <a:ea typeface="+mn-ea"/>
                  <a:cs typeface="+mn-cs"/>
                </a:rPr>
                <a:t>时间与优先级​​</a:t>
              </a:r>
            </a:p>
          </p:txBody>
        </p:sp>
        <p:sp>
          <p:nvSpPr>
            <p:cNvPr id="95" name="Ellipse 95"/>
            <p:cNvSpPr/>
            <p:nvPr/>
          </p:nvSpPr>
          <p:spPr>
            <a:xfrm>
              <a:off x="4857750" y="971550"/>
              <a:ext cx="152400" cy="152400"/>
            </a:xfrm>
            <a:prstGeom prst="ellipse">
              <a:avLst/>
            </a:prstGeom>
            <a:solidFill>
              <a:srgbClr val="D82000"/>
            </a:solidFill>
            <a:ln>
              <a:noFill/>
            </a:ln>
          </p:spPr>
        </p:sp>
        <p:sp>
          <p:nvSpPr>
            <p:cNvPr id="96" name="TextBox 96"/>
            <p:cNvSpPr txBox="1"/>
            <p:nvPr/>
          </p:nvSpPr>
          <p:spPr>
            <a:xfrm>
              <a:off x="4849890" y="100822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sp>
          <p:nvSpPr>
            <p:cNvPr id="97" name="TextBox 97"/>
            <p:cNvSpPr txBox="1"/>
            <p:nvPr/>
          </p:nvSpPr>
          <p:spPr>
            <a:xfrm>
              <a:off x="4738027" y="116133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资产配置</a:t>
              </a:r>
            </a:p>
          </p:txBody>
        </p:sp>
        <p:sp>
          <p:nvSpPr>
            <p:cNvPr id="98" name="Ellipse 98"/>
            <p:cNvSpPr/>
            <p:nvPr/>
          </p:nvSpPr>
          <p:spPr>
            <a:xfrm>
              <a:off x="4791075" y="1304925"/>
              <a:ext cx="285750" cy="285750"/>
            </a:xfrm>
            <a:prstGeom prst="ellipse">
              <a:avLst/>
            </a:prstGeom>
            <a:solidFill>
              <a:srgbClr val="FEF2E6"/>
            </a:solidFill>
            <a:ln w="9525">
              <a:solidFill>
                <a:srgbClr val="F0B8AE"/>
              </a:solidFill>
            </a:ln>
          </p:spPr>
        </p:sp>
        <p:grpSp>
          <p:nvGrpSpPr>
            <p:cNvPr id="101" name="Group 101"/>
            <p:cNvGrpSpPr/>
            <p:nvPr/>
          </p:nvGrpSpPr>
          <p:grpSpPr>
            <a:xfrm>
              <a:off x="4867665" y="1384735"/>
              <a:ext cx="129150" cy="129350"/>
              <a:chOff x="4867665" y="1384735"/>
              <a:chExt cx="129150" cy="129350"/>
            </a:xfrm>
          </p:grpSpPr>
          <p:sp>
            <p:nvSpPr>
              <p:cNvPr id="99" name="Freeform 99"/>
              <p:cNvSpPr/>
              <p:nvPr/>
            </p:nvSpPr>
            <p:spPr>
              <a:xfrm>
                <a:off x="4867665" y="1384735"/>
                <a:ext cx="129150" cy="129350"/>
              </a:xfrm>
              <a:custGeom>
                <a:avLst/>
                <a:gdLst/>
                <a:ahLst/>
                <a:cxnLst/>
                <a:rect l="l" t="t" r="r" b="b"/>
                <a:pathLst>
                  <a:path w="129150" h="129350">
                    <a:moveTo>
                      <a:pt x="51998" y="200"/>
                    </a:moveTo>
                    <a:cubicBezTo>
                      <a:pt x="21065" y="7371"/>
                      <a:pt x="0" y="36049"/>
                      <a:pt x="2409" y="67710"/>
                    </a:cubicBezTo>
                    <a:cubicBezTo>
                      <a:pt x="4818" y="99372"/>
                      <a:pt x="29979" y="124533"/>
                      <a:pt x="61640" y="126942"/>
                    </a:cubicBezTo>
                    <a:cubicBezTo>
                      <a:pt x="93301" y="129350"/>
                      <a:pt x="121979" y="108285"/>
                      <a:pt x="129150" y="77353"/>
                    </a:cubicBezTo>
                    <a:cubicBezTo>
                      <a:pt x="129150" y="73407"/>
                      <a:pt x="125952" y="70209"/>
                      <a:pt x="122006" y="70209"/>
                    </a:cubicBezTo>
                    <a:lnTo>
                      <a:pt x="73429" y="70209"/>
                    </a:lnTo>
                    <a:cubicBezTo>
                      <a:pt x="65538" y="70209"/>
                      <a:pt x="59141" y="63812"/>
                      <a:pt x="59141" y="55922"/>
                    </a:cubicBezTo>
                    <a:lnTo>
                      <a:pt x="59141" y="5915"/>
                    </a:lnTo>
                    <a:cubicBezTo>
                      <a:pt x="58962" y="4206"/>
                      <a:pt x="58106" y="2639"/>
                      <a:pt x="56763" y="1565"/>
                    </a:cubicBezTo>
                    <a:cubicBezTo>
                      <a:pt x="55421" y="492"/>
                      <a:pt x="53705" y="0"/>
                      <a:pt x="51998" y="200"/>
                    </a:cubicBezTo>
                  </a:path>
                </a:pathLst>
              </a:custGeom>
              <a:noFill/>
              <a:ln w="14288">
                <a:solidFill>
                  <a:srgbClr val="D82000"/>
                </a:solidFill>
              </a:ln>
            </p:spPr>
          </p:sp>
          <p:sp>
            <p:nvSpPr>
              <p:cNvPr id="100" name="Freeform 100"/>
              <p:cNvSpPr/>
              <p:nvPr/>
            </p:nvSpPr>
            <p:spPr>
              <a:xfrm>
                <a:off x="4955381" y="1387078"/>
                <a:ext cx="39291" cy="39291"/>
              </a:xfrm>
              <a:custGeom>
                <a:avLst/>
                <a:gdLst/>
                <a:ahLst/>
                <a:cxnLst/>
                <a:rect l="l" t="t" r="r" b="b"/>
                <a:pathLst>
                  <a:path w="39291" h="39291">
                    <a:moveTo>
                      <a:pt x="0" y="0"/>
                    </a:moveTo>
                    <a:cubicBezTo>
                      <a:pt x="18372" y="6469"/>
                      <a:pt x="32822" y="20918"/>
                      <a:pt x="39291" y="39291"/>
                    </a:cubicBezTo>
                    <a:lnTo>
                      <a:pt x="7144" y="39291"/>
                    </a:lnTo>
                    <a:cubicBezTo>
                      <a:pt x="3198" y="39291"/>
                      <a:pt x="0" y="36092"/>
                      <a:pt x="0" y="32147"/>
                    </a:cubicBezTo>
                    <a:lnTo>
                      <a:pt x="0" y="0"/>
                    </a:lnTo>
                  </a:path>
                </a:pathLst>
              </a:custGeom>
              <a:noFill/>
              <a:ln w="14288">
                <a:solidFill>
                  <a:srgbClr val="D82000"/>
                </a:solidFill>
              </a:ln>
            </p:spPr>
          </p:sp>
        </p:grpSp>
        <p:sp>
          <p:nvSpPr>
            <p:cNvPr id="102" name="TextBox 102"/>
            <p:cNvSpPr txBox="1"/>
            <p:nvPr/>
          </p:nvSpPr>
          <p:spPr>
            <a:xfrm>
              <a:off x="4652962" y="1649730"/>
              <a:ext cx="702945" cy="433388"/>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600" dirty="0">
                  <a:solidFill>
                    <a:srgbClr val="3D3835"/>
                  </a:solidFill>
                  <a:latin typeface="+mn-lt"/>
                  <a:ea typeface="+mn-ea"/>
                  <a:cs typeface="+mn-cs"/>
                </a:rPr>
                <a:t>大类资产配置​​</a:t>
              </a:r>
            </a:p>
            <a:p>
              <a:pPr algn="l" marL="76200" indent="-76200">
                <a:lnSpc>
                  <a:spcPts val="825"/>
                </a:lnSpc>
                <a:buClr>
                  <a:srgbClr val="3D3835"/>
                </a:buClr>
                <a:buSzTx/>
                <a:buFontTx/>
                <a:buChar char="•"/>
              </a:pPr>
              <a:r>
                <a:rPr lang="zh-CN" sz="600" dirty="0">
                  <a:solidFill>
                    <a:srgbClr val="3D3835"/>
                  </a:solidFill>
                  <a:latin typeface="+mn-lt"/>
                  <a:ea typeface="+mn-ea"/>
                  <a:cs typeface="+mn-cs"/>
                </a:rPr>
                <a:t>产品与策略选择​​</a:t>
              </a:r>
            </a:p>
            <a:p>
              <a:pPr algn="l" marL="76200" indent="-76200">
                <a:lnSpc>
                  <a:spcPts val="825"/>
                </a:lnSpc>
                <a:buClr>
                  <a:srgbClr val="3D3835"/>
                </a:buClr>
                <a:buSzTx/>
                <a:buFontTx/>
                <a:buChar char="•"/>
              </a:pPr>
              <a:r>
                <a:rPr lang="zh-CN" sz="600" dirty="0">
                  <a:solidFill>
                    <a:srgbClr val="3D3835"/>
                  </a:solidFill>
                  <a:latin typeface="+mn-lt"/>
                  <a:ea typeface="+mn-ea"/>
                  <a:cs typeface="+mn-cs"/>
                </a:rPr>
                <a:t>风险预算设定​​</a:t>
              </a:r>
            </a:p>
            <a:p>
              <a:pPr algn="l" marL="76200" indent="-76200">
                <a:lnSpc>
                  <a:spcPts val="825"/>
                </a:lnSpc>
                <a:buClr>
                  <a:srgbClr val="3D3835"/>
                </a:buClr>
                <a:buSzTx/>
                <a:buFontTx/>
                <a:buChar char="•"/>
              </a:pPr>
              <a:r>
                <a:rPr lang="zh-CN" sz="600" dirty="0">
                  <a:solidFill>
                    <a:srgbClr val="3D3835"/>
                  </a:solidFill>
                  <a:latin typeface="+mn-lt"/>
                  <a:ea typeface="+mn-ea"/>
                  <a:cs typeface="+mn-cs"/>
                </a:rPr>
                <a:t>定期方案建议​​</a:t>
              </a:r>
            </a:p>
          </p:txBody>
        </p:sp>
        <p:sp>
          <p:nvSpPr>
            <p:cNvPr id="103" name="Ellipse 103"/>
            <p:cNvSpPr/>
            <p:nvPr/>
          </p:nvSpPr>
          <p:spPr>
            <a:xfrm>
              <a:off x="5495925" y="971550"/>
              <a:ext cx="152400" cy="152400"/>
            </a:xfrm>
            <a:prstGeom prst="ellipse">
              <a:avLst/>
            </a:prstGeom>
            <a:solidFill>
              <a:srgbClr val="D82000"/>
            </a:solidFill>
            <a:ln>
              <a:noFill/>
            </a:ln>
          </p:spPr>
        </p:sp>
        <p:sp>
          <p:nvSpPr>
            <p:cNvPr id="104" name="TextBox 104"/>
            <p:cNvSpPr txBox="1"/>
            <p:nvPr/>
          </p:nvSpPr>
          <p:spPr>
            <a:xfrm>
              <a:off x="5488065" y="100822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sp>
          <p:nvSpPr>
            <p:cNvPr id="105" name="TextBox 105"/>
            <p:cNvSpPr txBox="1"/>
            <p:nvPr/>
          </p:nvSpPr>
          <p:spPr>
            <a:xfrm>
              <a:off x="5376202" y="116133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执行落地</a:t>
              </a:r>
            </a:p>
          </p:txBody>
        </p:sp>
        <p:sp>
          <p:nvSpPr>
            <p:cNvPr id="106" name="Ellipse 106"/>
            <p:cNvSpPr/>
            <p:nvPr/>
          </p:nvSpPr>
          <p:spPr>
            <a:xfrm>
              <a:off x="5429250" y="1304925"/>
              <a:ext cx="285750" cy="285750"/>
            </a:xfrm>
            <a:prstGeom prst="ellipse">
              <a:avLst/>
            </a:prstGeom>
            <a:solidFill>
              <a:srgbClr val="FEF2E6"/>
            </a:solidFill>
            <a:ln w="9525">
              <a:solidFill>
                <a:srgbClr val="F0B8AE"/>
              </a:solidFill>
            </a:ln>
          </p:spPr>
        </p:sp>
        <p:grpSp>
          <p:nvGrpSpPr>
            <p:cNvPr id="112" name="Group 112"/>
            <p:cNvGrpSpPr/>
            <p:nvPr/>
          </p:nvGrpSpPr>
          <p:grpSpPr>
            <a:xfrm>
              <a:off x="5522119" y="1383506"/>
              <a:ext cx="100012" cy="128588"/>
              <a:chOff x="5522119" y="1383506"/>
              <a:chExt cx="100012" cy="128588"/>
            </a:xfrm>
          </p:grpSpPr>
          <p:sp>
            <p:nvSpPr>
              <p:cNvPr id="107" name="Freeform 107"/>
              <p:cNvSpPr/>
              <p:nvPr/>
            </p:nvSpPr>
            <p:spPr>
              <a:xfrm>
                <a:off x="5586412" y="138350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D82000"/>
                </a:solidFill>
              </a:ln>
            </p:spPr>
          </p:sp>
          <p:sp>
            <p:nvSpPr>
              <p:cNvPr id="108" name="Freeform 108"/>
              <p:cNvSpPr/>
              <p:nvPr/>
            </p:nvSpPr>
            <p:spPr>
              <a:xfrm>
                <a:off x="5522119" y="138350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D82000"/>
                </a:solidFill>
              </a:ln>
            </p:spPr>
          </p:sp>
          <p:sp>
            <p:nvSpPr>
              <p:cNvPr id="109" name="Freeform 109"/>
              <p:cNvSpPr/>
              <p:nvPr/>
            </p:nvSpPr>
            <p:spPr>
              <a:xfrm>
                <a:off x="5550694" y="1426369"/>
                <a:ext cx="9525" cy="9525"/>
              </a:xfrm>
              <a:custGeom>
                <a:avLst/>
                <a:gdLst/>
                <a:ahLst/>
                <a:cxnLst/>
                <a:rect l="l" t="t" r="r" b="b"/>
                <a:pathLst>
                  <a:path w="9525" h="9525">
                    <a:moveTo>
                      <a:pt x="0" y="0"/>
                    </a:moveTo>
                    <a:lnTo>
                      <a:pt x="7144" y="0"/>
                    </a:lnTo>
                  </a:path>
                </a:pathLst>
              </a:custGeom>
              <a:noFill/>
              <a:ln w="14288">
                <a:solidFill>
                  <a:srgbClr val="D82000"/>
                </a:solidFill>
              </a:ln>
            </p:spPr>
          </p:sp>
          <p:sp>
            <p:nvSpPr>
              <p:cNvPr id="110" name="Freeform 110"/>
              <p:cNvSpPr/>
              <p:nvPr/>
            </p:nvSpPr>
            <p:spPr>
              <a:xfrm>
                <a:off x="5550694" y="1454944"/>
                <a:ext cx="42862" cy="9525"/>
              </a:xfrm>
              <a:custGeom>
                <a:avLst/>
                <a:gdLst/>
                <a:ahLst/>
                <a:cxnLst/>
                <a:rect l="l" t="t" r="r" b="b"/>
                <a:pathLst>
                  <a:path w="42862" h="9525">
                    <a:moveTo>
                      <a:pt x="0" y="0"/>
                    </a:moveTo>
                    <a:lnTo>
                      <a:pt x="42862" y="0"/>
                    </a:lnTo>
                  </a:path>
                </a:pathLst>
              </a:custGeom>
              <a:noFill/>
              <a:ln w="14288">
                <a:solidFill>
                  <a:srgbClr val="D82000"/>
                </a:solidFill>
              </a:ln>
            </p:spPr>
          </p:sp>
          <p:sp>
            <p:nvSpPr>
              <p:cNvPr id="111" name="Freeform 111"/>
              <p:cNvSpPr/>
              <p:nvPr/>
            </p:nvSpPr>
            <p:spPr>
              <a:xfrm>
                <a:off x="5550694" y="1483519"/>
                <a:ext cx="42862" cy="9525"/>
              </a:xfrm>
              <a:custGeom>
                <a:avLst/>
                <a:gdLst/>
                <a:ahLst/>
                <a:cxnLst/>
                <a:rect l="l" t="t" r="r" b="b"/>
                <a:pathLst>
                  <a:path w="42862" h="9525">
                    <a:moveTo>
                      <a:pt x="0" y="0"/>
                    </a:moveTo>
                    <a:lnTo>
                      <a:pt x="42862" y="0"/>
                    </a:lnTo>
                  </a:path>
                </a:pathLst>
              </a:custGeom>
              <a:noFill/>
              <a:ln w="14288">
                <a:solidFill>
                  <a:srgbClr val="D82000"/>
                </a:solidFill>
              </a:ln>
            </p:spPr>
          </p:sp>
        </p:grpSp>
        <p:sp>
          <p:nvSpPr>
            <p:cNvPr id="113" name="TextBox 113"/>
            <p:cNvSpPr txBox="1"/>
            <p:nvPr/>
          </p:nvSpPr>
          <p:spPr>
            <a:xfrm>
              <a:off x="5291138" y="1649730"/>
              <a:ext cx="702945" cy="328612"/>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600" dirty="0">
                  <a:solidFill>
                    <a:srgbClr val="3D3835"/>
                  </a:solidFill>
                  <a:latin typeface="+mn-lt"/>
                  <a:ea typeface="+mn-ea"/>
                  <a:cs typeface="+mn-cs"/>
                </a:rPr>
                <a:t>产品匹配与推荐​​</a:t>
              </a:r>
            </a:p>
            <a:p>
              <a:pPr algn="l" marL="76200" indent="-76200">
                <a:lnSpc>
                  <a:spcPts val="825"/>
                </a:lnSpc>
                <a:buClr>
                  <a:srgbClr val="3D3835"/>
                </a:buClr>
                <a:buSzTx/>
                <a:buFontTx/>
                <a:buChar char="•"/>
              </a:pPr>
              <a:r>
                <a:rPr lang="zh-CN" sz="600" dirty="0">
                  <a:solidFill>
                    <a:srgbClr val="3D3835"/>
                  </a:solidFill>
                  <a:latin typeface="+mn-lt"/>
                  <a:ea typeface="+mn-ea"/>
                  <a:cs typeface="+mn-cs"/>
                </a:rPr>
                <a:t>交易执行与确认​​</a:t>
              </a:r>
            </a:p>
            <a:p>
              <a:pPr algn="l" marL="76200" indent="-76200">
                <a:lnSpc>
                  <a:spcPts val="825"/>
                </a:lnSpc>
                <a:buClr>
                  <a:srgbClr val="3D3835"/>
                </a:buClr>
                <a:buSzTx/>
                <a:buFontTx/>
                <a:buChar char="•"/>
              </a:pPr>
              <a:r>
                <a:rPr lang="zh-CN" sz="600" dirty="0">
                  <a:solidFill>
                    <a:srgbClr val="3D3835"/>
                  </a:solidFill>
                  <a:latin typeface="+mn-lt"/>
                  <a:ea typeface="+mn-ea"/>
                  <a:cs typeface="+mn-cs"/>
                </a:rPr>
                <a:t>方案落地​​</a:t>
              </a:r>
            </a:p>
          </p:txBody>
        </p:sp>
        <p:sp>
          <p:nvSpPr>
            <p:cNvPr id="114" name="Ellipse 114"/>
            <p:cNvSpPr/>
            <p:nvPr/>
          </p:nvSpPr>
          <p:spPr>
            <a:xfrm>
              <a:off x="6134100" y="971550"/>
              <a:ext cx="152400" cy="152400"/>
            </a:xfrm>
            <a:prstGeom prst="ellipse">
              <a:avLst/>
            </a:prstGeom>
            <a:solidFill>
              <a:srgbClr val="D82000"/>
            </a:solidFill>
            <a:ln>
              <a:noFill/>
            </a:ln>
          </p:spPr>
        </p:sp>
        <p:sp>
          <p:nvSpPr>
            <p:cNvPr id="115" name="TextBox 115"/>
            <p:cNvSpPr txBox="1"/>
            <p:nvPr/>
          </p:nvSpPr>
          <p:spPr>
            <a:xfrm>
              <a:off x="6126240" y="100822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​5​</a:t>
              </a:r>
            </a:p>
          </p:txBody>
        </p:sp>
        <p:sp>
          <p:nvSpPr>
            <p:cNvPr id="116" name="TextBox 116"/>
            <p:cNvSpPr txBox="1"/>
            <p:nvPr/>
          </p:nvSpPr>
          <p:spPr>
            <a:xfrm>
              <a:off x="6014377" y="116133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持续监控</a:t>
              </a:r>
            </a:p>
          </p:txBody>
        </p:sp>
        <p:sp>
          <p:nvSpPr>
            <p:cNvPr id="117" name="Ellipse 117"/>
            <p:cNvSpPr/>
            <p:nvPr/>
          </p:nvSpPr>
          <p:spPr>
            <a:xfrm>
              <a:off x="6067425" y="1304925"/>
              <a:ext cx="285750" cy="285750"/>
            </a:xfrm>
            <a:prstGeom prst="ellipse">
              <a:avLst/>
            </a:prstGeom>
            <a:solidFill>
              <a:srgbClr val="FEF2E6"/>
            </a:solidFill>
            <a:ln w="9525">
              <a:solidFill>
                <a:srgbClr val="F0B8AE"/>
              </a:solidFill>
            </a:ln>
          </p:spPr>
        </p:sp>
        <p:grpSp>
          <p:nvGrpSpPr>
            <p:cNvPr id="120" name="Group 120"/>
            <p:cNvGrpSpPr/>
            <p:nvPr/>
          </p:nvGrpSpPr>
          <p:grpSpPr>
            <a:xfrm>
              <a:off x="6153150" y="1404938"/>
              <a:ext cx="114300" cy="102393"/>
              <a:chOff x="6153150" y="1404938"/>
              <a:chExt cx="114300" cy="102393"/>
            </a:xfrm>
          </p:grpSpPr>
          <p:sp>
            <p:nvSpPr>
              <p:cNvPr id="118" name="Freeform 118"/>
              <p:cNvSpPr/>
              <p:nvPr/>
            </p:nvSpPr>
            <p:spPr>
              <a:xfrm>
                <a:off x="6153150" y="1497806"/>
                <a:ext cx="114300" cy="9525"/>
              </a:xfrm>
              <a:custGeom>
                <a:avLst/>
                <a:gdLst/>
                <a:ahLst/>
                <a:cxnLst/>
                <a:rect l="l" t="t" r="r" b="b"/>
                <a:pathLst>
                  <a:path w="114300" h="9525">
                    <a:moveTo>
                      <a:pt x="0" y="0"/>
                    </a:moveTo>
                    <a:lnTo>
                      <a:pt x="114300" y="0"/>
                    </a:lnTo>
                  </a:path>
                </a:pathLst>
              </a:custGeom>
              <a:noFill/>
              <a:ln w="14288">
                <a:solidFill>
                  <a:srgbClr val="D82000"/>
                </a:solidFill>
              </a:ln>
            </p:spPr>
          </p:sp>
          <p:sp>
            <p:nvSpPr>
              <p:cNvPr id="119" name="Freeform 119"/>
              <p:cNvSpPr/>
              <p:nvPr/>
            </p:nvSpPr>
            <p:spPr>
              <a:xfrm>
                <a:off x="6153150" y="1404938"/>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D82000"/>
                </a:solidFill>
              </a:ln>
            </p:spPr>
          </p:sp>
        </p:grpSp>
        <p:sp>
          <p:nvSpPr>
            <p:cNvPr id="121" name="TextBox 121"/>
            <p:cNvSpPr txBox="1"/>
            <p:nvPr/>
          </p:nvSpPr>
          <p:spPr>
            <a:xfrm>
              <a:off x="5929312" y="1649730"/>
              <a:ext cx="702945" cy="328612"/>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600" dirty="0">
                  <a:solidFill>
                    <a:srgbClr val="3D3835"/>
                  </a:solidFill>
                  <a:latin typeface="+mn-lt"/>
                  <a:ea typeface="+mn-ea"/>
                  <a:cs typeface="+mn-cs"/>
                </a:rPr>
                <a:t>市场与组合监控​​</a:t>
              </a:r>
            </a:p>
            <a:p>
              <a:pPr algn="l" marL="76200" indent="-76200">
                <a:lnSpc>
                  <a:spcPts val="825"/>
                </a:lnSpc>
                <a:buClr>
                  <a:srgbClr val="3D3835"/>
                </a:buClr>
                <a:buSzTx/>
                <a:buFontTx/>
                <a:buChar char="•"/>
              </a:pPr>
              <a:r>
                <a:rPr lang="zh-CN" sz="600" dirty="0">
                  <a:solidFill>
                    <a:srgbClr val="3D3835"/>
                  </a:solidFill>
                  <a:latin typeface="+mn-lt"/>
                  <a:ea typeface="+mn-ea"/>
                  <a:cs typeface="+mn-cs"/>
                </a:rPr>
                <a:t>目标达成跟踪​​</a:t>
              </a:r>
            </a:p>
            <a:p>
              <a:pPr algn="l" marL="76200" indent="-76200">
                <a:lnSpc>
                  <a:spcPts val="825"/>
                </a:lnSpc>
                <a:buClr>
                  <a:srgbClr val="3D3835"/>
                </a:buClr>
                <a:buSzTx/>
                <a:buFontTx/>
                <a:buChar char="•"/>
              </a:pPr>
              <a:r>
                <a:rPr lang="zh-CN" sz="600" dirty="0">
                  <a:solidFill>
                    <a:srgbClr val="3D3835"/>
                  </a:solidFill>
                  <a:latin typeface="+mn-lt"/>
                  <a:ea typeface="+mn-ea"/>
                  <a:cs typeface="+mn-cs"/>
                </a:rPr>
                <a:t>风险与预算管理​​</a:t>
              </a:r>
            </a:p>
          </p:txBody>
        </p:sp>
        <p:sp>
          <p:nvSpPr>
            <p:cNvPr id="122" name="Ellipse 122"/>
            <p:cNvSpPr/>
            <p:nvPr/>
          </p:nvSpPr>
          <p:spPr>
            <a:xfrm>
              <a:off x="6762750" y="971550"/>
              <a:ext cx="152400" cy="152400"/>
            </a:xfrm>
            <a:prstGeom prst="ellipse">
              <a:avLst/>
            </a:prstGeom>
            <a:solidFill>
              <a:srgbClr val="D82000"/>
            </a:solidFill>
            <a:ln>
              <a:noFill/>
            </a:ln>
          </p:spPr>
        </p:sp>
        <p:sp>
          <p:nvSpPr>
            <p:cNvPr id="123" name="TextBox 123"/>
            <p:cNvSpPr txBox="1"/>
            <p:nvPr/>
          </p:nvSpPr>
          <p:spPr>
            <a:xfrm>
              <a:off x="6754890" y="100822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​6​</a:t>
              </a:r>
            </a:p>
          </p:txBody>
        </p:sp>
        <p:sp>
          <p:nvSpPr>
            <p:cNvPr id="124" name="TextBox 124"/>
            <p:cNvSpPr txBox="1"/>
            <p:nvPr/>
          </p:nvSpPr>
          <p:spPr>
            <a:xfrm>
              <a:off x="6595237" y="1161336"/>
              <a:ext cx="48742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再平衡优化</a:t>
              </a:r>
            </a:p>
          </p:txBody>
        </p:sp>
        <p:sp>
          <p:nvSpPr>
            <p:cNvPr id="125" name="Ellipse 125"/>
            <p:cNvSpPr/>
            <p:nvPr/>
          </p:nvSpPr>
          <p:spPr>
            <a:xfrm>
              <a:off x="6696075" y="1304925"/>
              <a:ext cx="285750" cy="285750"/>
            </a:xfrm>
            <a:prstGeom prst="ellipse">
              <a:avLst/>
            </a:prstGeom>
            <a:solidFill>
              <a:srgbClr val="FEF2E6"/>
            </a:solidFill>
            <a:ln w="9525">
              <a:solidFill>
                <a:srgbClr val="F0B8AE"/>
              </a:solidFill>
            </a:ln>
          </p:spPr>
        </p:sp>
        <p:grpSp>
          <p:nvGrpSpPr>
            <p:cNvPr id="128" name="Group 128"/>
            <p:cNvGrpSpPr/>
            <p:nvPr/>
          </p:nvGrpSpPr>
          <p:grpSpPr>
            <a:xfrm>
              <a:off x="6781800" y="1387894"/>
              <a:ext cx="114300" cy="119813"/>
              <a:chOff x="6781800" y="1387894"/>
              <a:chExt cx="114300" cy="119813"/>
            </a:xfrm>
          </p:grpSpPr>
          <p:sp>
            <p:nvSpPr>
              <p:cNvPr id="126" name="Freeform 126"/>
              <p:cNvSpPr/>
              <p:nvPr/>
            </p:nvSpPr>
            <p:spPr>
              <a:xfrm>
                <a:off x="6781800" y="1387894"/>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D82000"/>
                </a:solidFill>
              </a:ln>
            </p:spPr>
          </p:sp>
          <p:sp>
            <p:nvSpPr>
              <p:cNvPr id="127" name="Freeform 127"/>
              <p:cNvSpPr/>
              <p:nvPr/>
            </p:nvSpPr>
            <p:spPr>
              <a:xfrm>
                <a:off x="6781800" y="1454944"/>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D82000"/>
                </a:solidFill>
              </a:ln>
            </p:spPr>
          </p:sp>
        </p:grpSp>
        <p:sp>
          <p:nvSpPr>
            <p:cNvPr id="129" name="TextBox 129"/>
            <p:cNvSpPr txBox="1"/>
            <p:nvPr/>
          </p:nvSpPr>
          <p:spPr>
            <a:xfrm>
              <a:off x="6557962" y="1649730"/>
              <a:ext cx="626745" cy="433388"/>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600" dirty="0">
                  <a:solidFill>
                    <a:srgbClr val="3D3835"/>
                  </a:solidFill>
                  <a:latin typeface="+mn-lt"/>
                  <a:ea typeface="+mn-ea"/>
                  <a:cs typeface="+mn-cs"/>
                </a:rPr>
                <a:t>再平衡建议​​</a:t>
              </a:r>
            </a:p>
            <a:p>
              <a:pPr algn="l" marL="76200" indent="-76200">
                <a:lnSpc>
                  <a:spcPts val="825"/>
                </a:lnSpc>
                <a:buClr>
                  <a:srgbClr val="3D3835"/>
                </a:buClr>
                <a:buSzTx/>
                <a:buFontTx/>
                <a:buChar char="•"/>
              </a:pPr>
              <a:r>
                <a:rPr lang="zh-CN" sz="600" dirty="0">
                  <a:solidFill>
                    <a:srgbClr val="3D3835"/>
                  </a:solidFill>
                  <a:latin typeface="+mn-lt"/>
                  <a:ea typeface="+mn-ea"/>
                  <a:cs typeface="+mn-cs"/>
                </a:rPr>
                <a:t>策略优化调整​​</a:t>
              </a:r>
            </a:p>
            <a:p>
              <a:pPr algn="l" marL="76200" indent="-76200">
                <a:lnSpc>
                  <a:spcPts val="825"/>
                </a:lnSpc>
                <a:buClr>
                  <a:srgbClr val="3D3835"/>
                </a:buClr>
                <a:buSzTx/>
                <a:buFontTx/>
                <a:buChar char="•"/>
              </a:pPr>
              <a:r>
                <a:rPr lang="zh-CN" sz="600" dirty="0">
                  <a:solidFill>
                    <a:srgbClr val="3D3835"/>
                  </a:solidFill>
                  <a:latin typeface="+mn-lt"/>
                  <a:ea typeface="+mn-ea"/>
                  <a:cs typeface="+mn-cs"/>
                </a:rPr>
                <a:t>目标表述迭代​​</a:t>
              </a:r>
            </a:p>
            <a:p>
              <a:pPr algn="l" marL="76200" indent="-76200">
                <a:lnSpc>
                  <a:spcPts val="825"/>
                </a:lnSpc>
                <a:buClr>
                  <a:srgbClr val="3D3835"/>
                </a:buClr>
                <a:buSzTx/>
                <a:buFontTx/>
                <a:buChar char="•"/>
              </a:pPr>
              <a:r>
                <a:rPr lang="zh-CN" sz="600" dirty="0">
                  <a:solidFill>
                    <a:srgbClr val="3D3835"/>
                  </a:solidFill>
                  <a:latin typeface="+mn-lt"/>
                  <a:ea typeface="+mn-ea"/>
                  <a:cs typeface="+mn-cs"/>
                </a:rPr>
                <a:t>结果总结​​</a:t>
              </a:r>
            </a:p>
          </p:txBody>
        </p:sp>
        <p:sp>
          <p:nvSpPr>
            <p:cNvPr id="130" name="Polygon 130"/>
            <p:cNvSpPr/>
            <p:nvPr/>
          </p:nvSpPr>
          <p:spPr>
            <a:xfrm>
              <a:off x="3848100" y="140970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131" name="Polygon 131"/>
            <p:cNvSpPr/>
            <p:nvPr/>
          </p:nvSpPr>
          <p:spPr>
            <a:xfrm>
              <a:off x="4486275" y="140970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132" name="Polygon 132"/>
            <p:cNvSpPr/>
            <p:nvPr/>
          </p:nvSpPr>
          <p:spPr>
            <a:xfrm>
              <a:off x="5114925" y="140970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133" name="Polygon 133"/>
            <p:cNvSpPr/>
            <p:nvPr/>
          </p:nvSpPr>
          <p:spPr>
            <a:xfrm>
              <a:off x="5753100" y="140970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134" name="Polygon 134"/>
            <p:cNvSpPr/>
            <p:nvPr/>
          </p:nvSpPr>
          <p:spPr>
            <a:xfrm>
              <a:off x="6391275" y="140970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135" name="Freeform 135"/>
            <p:cNvSpPr/>
            <p:nvPr/>
          </p:nvSpPr>
          <p:spPr>
            <a:xfrm>
              <a:off x="3390900" y="1447800"/>
              <a:ext cx="3752850" cy="685800"/>
            </a:xfrm>
            <a:custGeom>
              <a:avLst/>
              <a:gdLst/>
              <a:ahLst/>
              <a:cxnLst/>
              <a:rect l="l" t="t" r="r" b="b"/>
              <a:pathLst>
                <a:path w="3752850" h="685800">
                  <a:moveTo>
                    <a:pt x="3714750" y="0"/>
                  </a:moveTo>
                  <a:lnTo>
                    <a:pt x="3752850" y="0"/>
                  </a:lnTo>
                  <a:lnTo>
                    <a:pt x="3752850" y="685800"/>
                  </a:lnTo>
                  <a:lnTo>
                    <a:pt x="0" y="685800"/>
                  </a:lnTo>
                  <a:lnTo>
                    <a:pt x="0" y="228600"/>
                  </a:lnTo>
                </a:path>
              </a:pathLst>
            </a:custGeom>
            <a:noFill/>
            <a:ln w="11430">
              <a:solidFill>
                <a:srgbClr val="EE492C"/>
              </a:solidFill>
              <a:custDash>
                <a:ds d="333333" sp="250000"/>
              </a:custDash>
            </a:ln>
          </p:spPr>
        </p:sp>
        <p:sp>
          <p:nvSpPr>
            <p:cNvPr id="136" name="Polygon 136"/>
            <p:cNvSpPr/>
            <p:nvPr/>
          </p:nvSpPr>
          <p:spPr>
            <a:xfrm>
              <a:off x="3352800" y="1619250"/>
              <a:ext cx="76200" cy="95250"/>
            </a:xfrm>
            <a:custGeom>
              <a:avLst/>
              <a:gdLst/>
              <a:ahLst/>
              <a:cxnLst/>
              <a:rect l="l" t="t" r="r" b="b"/>
              <a:pathLst>
                <a:path w="76200" h="95250">
                  <a:moveTo>
                    <a:pt x="0" y="95250"/>
                  </a:moveTo>
                  <a:lnTo>
                    <a:pt x="38100" y="0"/>
                  </a:lnTo>
                  <a:lnTo>
                    <a:pt x="76200" y="95250"/>
                  </a:lnTo>
                  <a:close/>
                </a:path>
              </a:pathLst>
            </a:custGeom>
            <a:solidFill>
              <a:srgbClr val="EE492C"/>
            </a:solidFill>
            <a:ln>
              <a:noFill/>
            </a:ln>
          </p:spPr>
        </p:sp>
        <p:sp>
          <p:nvSpPr>
            <p:cNvPr id="137" name="Line 137"/>
            <p:cNvSpPr/>
            <p:nvPr/>
          </p:nvSpPr>
          <p:spPr>
            <a:xfrm>
              <a:off x="3352800" y="2266950"/>
              <a:ext cx="1409700" cy="9525"/>
            </a:xfrm>
            <a:custGeom>
              <a:avLst/>
              <a:gdLst/>
              <a:ahLst/>
              <a:cxnLst/>
              <a:rect l="l" t="t" r="r" b="b"/>
              <a:pathLst>
                <a:path w="1409700" h="9525">
                  <a:moveTo>
                    <a:pt x="0" y="0"/>
                  </a:moveTo>
                  <a:lnTo>
                    <a:pt x="1409700" y="0"/>
                  </a:lnTo>
                </a:path>
              </a:pathLst>
            </a:custGeom>
            <a:noFill/>
            <a:ln w="9525">
              <a:solidFill>
                <a:srgbClr val="F0B8AE"/>
              </a:solidFill>
            </a:ln>
          </p:spPr>
        </p:sp>
        <p:sp>
          <p:nvSpPr>
            <p:cNvPr id="138" name="Line 138"/>
            <p:cNvSpPr/>
            <p:nvPr/>
          </p:nvSpPr>
          <p:spPr>
            <a:xfrm>
              <a:off x="5753100" y="2266950"/>
              <a:ext cx="1409700" cy="9525"/>
            </a:xfrm>
            <a:custGeom>
              <a:avLst/>
              <a:gdLst/>
              <a:ahLst/>
              <a:cxnLst/>
              <a:rect l="l" t="t" r="r" b="b"/>
              <a:pathLst>
                <a:path w="1409700" h="9525">
                  <a:moveTo>
                    <a:pt x="0" y="0"/>
                  </a:moveTo>
                  <a:lnTo>
                    <a:pt x="1409700" y="0"/>
                  </a:lnTo>
                </a:path>
              </a:pathLst>
            </a:custGeom>
            <a:noFill/>
            <a:ln w="9525">
              <a:solidFill>
                <a:srgbClr val="F0B8AE"/>
              </a:solidFill>
            </a:ln>
          </p:spPr>
        </p:sp>
        <p:sp>
          <p:nvSpPr>
            <p:cNvPr id="139" name="TextBox 139"/>
            <p:cNvSpPr txBox="1"/>
            <p:nvPr/>
          </p:nvSpPr>
          <p:spPr>
            <a:xfrm>
              <a:off x="4863309" y="2218611"/>
              <a:ext cx="788982"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​数据与系统支撑​</a:t>
              </a:r>
            </a:p>
          </p:txBody>
        </p:sp>
        <p:sp>
          <p:nvSpPr>
            <p:cNvPr id="140" name="Rectangle 140"/>
            <p:cNvSpPr/>
            <p:nvPr/>
          </p:nvSpPr>
          <p:spPr>
            <a:xfrm>
              <a:off x="3352800" y="2381250"/>
              <a:ext cx="590550" cy="933450"/>
            </a:xfrm>
            <a:prstGeom prst="roundRect">
              <a:avLst>
                <a:gd name="adj" fmla="val 6452"/>
              </a:avLst>
            </a:prstGeom>
            <a:solidFill>
              <a:srgbClr val="FFF8F2"/>
            </a:solidFill>
            <a:ln w="9525">
              <a:solidFill>
                <a:srgbClr val="F0B8AE"/>
              </a:solidFill>
            </a:ln>
          </p:spPr>
        </p:sp>
        <p:grpSp>
          <p:nvGrpSpPr>
            <p:cNvPr id="144" name="Group 144"/>
            <p:cNvGrpSpPr/>
            <p:nvPr/>
          </p:nvGrpSpPr>
          <p:grpSpPr>
            <a:xfrm>
              <a:off x="3578225" y="2521744"/>
              <a:ext cx="139700" cy="157162"/>
              <a:chOff x="3578225" y="2521744"/>
              <a:chExt cx="139700" cy="157162"/>
            </a:xfrm>
          </p:grpSpPr>
          <p:sp>
            <p:nvSpPr>
              <p:cNvPr id="141" name="Freeform 141"/>
              <p:cNvSpPr/>
              <p:nvPr/>
            </p:nvSpPr>
            <p:spPr>
              <a:xfrm>
                <a:off x="3578225" y="252174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D82000"/>
                </a:solidFill>
              </a:ln>
            </p:spPr>
          </p:sp>
          <p:sp>
            <p:nvSpPr>
              <p:cNvPr id="142" name="Freeform 142"/>
              <p:cNvSpPr/>
              <p:nvPr/>
            </p:nvSpPr>
            <p:spPr>
              <a:xfrm>
                <a:off x="3578225" y="254793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D82000"/>
                </a:solidFill>
              </a:ln>
            </p:spPr>
          </p:sp>
          <p:sp>
            <p:nvSpPr>
              <p:cNvPr id="143" name="Freeform 143"/>
              <p:cNvSpPr/>
              <p:nvPr/>
            </p:nvSpPr>
            <p:spPr>
              <a:xfrm>
                <a:off x="3578225" y="260032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D82000"/>
                </a:solidFill>
              </a:ln>
            </p:spPr>
          </p:sp>
        </p:grpSp>
        <p:sp>
          <p:nvSpPr>
            <p:cNvPr id="145" name="TextBox 145"/>
            <p:cNvSpPr txBox="1"/>
            <p:nvPr/>
          </p:nvSpPr>
          <p:spPr>
            <a:xfrm>
              <a:off x="3421215" y="2826782"/>
              <a:ext cx="453720" cy="240506"/>
            </a:xfrm>
            <a:prstGeom prst="rect">
              <a:avLst/>
            </a:prstGeom>
            <a:noFill/>
            <a:ln>
              <a:noFill/>
            </a:ln>
          </p:spPr>
          <p:txBody>
            <a:bodyPr wrap="none" lIns="0" tIns="0" rIns="0" bIns="0" anchor="t" anchorCtr="0">
              <a:spAutoFit/>
            </a:bodyPr>
            <a:lstStyle/>
            <a:p>
              <a:pPr algn="ctr">
                <a:lnSpc>
                  <a:spcPts val="900"/>
                </a:lnSpc>
              </a:pPr>
              <a:r>
                <a:rPr lang="zh-CN" sz="640" b="1" dirty="0">
                  <a:solidFill>
                    <a:srgbClr val="4A130A"/>
                  </a:solidFill>
                  <a:latin typeface="+mn-lt"/>
                  <a:ea typeface="+mn-ea"/>
                  <a:cs typeface="+mn-cs"/>
                </a:rPr>
                <a:t>客户数据</a:t>
              </a:r>
              <a:br/>
              <a:r>
                <a:rPr lang="zh-CN" sz="640" b="1" dirty="0">
                  <a:solidFill>
                    <a:srgbClr val="4A130A"/>
                  </a:solidFill>
                  <a:latin typeface="+mn-lt"/>
                  <a:ea typeface="+mn-ea"/>
                  <a:cs typeface="+mn-cs"/>
                </a:rPr>
                <a:t>​360°视图​</a:t>
              </a:r>
            </a:p>
          </p:txBody>
        </p:sp>
        <p:sp>
          <p:nvSpPr>
            <p:cNvPr id="146" name="Rectangle 146"/>
            <p:cNvSpPr/>
            <p:nvPr/>
          </p:nvSpPr>
          <p:spPr>
            <a:xfrm>
              <a:off x="3990975" y="2381250"/>
              <a:ext cx="590550" cy="933450"/>
            </a:xfrm>
            <a:prstGeom prst="roundRect">
              <a:avLst>
                <a:gd name="adj" fmla="val 6452"/>
              </a:avLst>
            </a:prstGeom>
            <a:solidFill>
              <a:srgbClr val="FFF8F2"/>
            </a:solidFill>
            <a:ln w="9525">
              <a:solidFill>
                <a:srgbClr val="F0B8AE"/>
              </a:solidFill>
            </a:ln>
          </p:spPr>
        </p:sp>
        <p:grpSp>
          <p:nvGrpSpPr>
            <p:cNvPr id="149" name="Group 149"/>
            <p:cNvGrpSpPr/>
            <p:nvPr/>
          </p:nvGrpSpPr>
          <p:grpSpPr>
            <a:xfrm>
              <a:off x="4195885" y="2521744"/>
              <a:ext cx="170506" cy="157162"/>
              <a:chOff x="4195885" y="2521744"/>
              <a:chExt cx="170506" cy="157162"/>
            </a:xfrm>
          </p:grpSpPr>
          <p:sp>
            <p:nvSpPr>
              <p:cNvPr id="147" name="Freeform 147"/>
              <p:cNvSpPr/>
              <p:nvPr/>
            </p:nvSpPr>
            <p:spPr>
              <a:xfrm>
                <a:off x="4195885" y="252174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D82000"/>
                </a:solidFill>
              </a:ln>
            </p:spPr>
          </p:sp>
          <p:sp>
            <p:nvSpPr>
              <p:cNvPr id="148" name="Freeform 148"/>
              <p:cNvSpPr/>
              <p:nvPr/>
            </p:nvSpPr>
            <p:spPr>
              <a:xfrm>
                <a:off x="4312444" y="2643981"/>
                <a:ext cx="52388" cy="34925"/>
              </a:xfrm>
              <a:custGeom>
                <a:avLst/>
                <a:gdLst/>
                <a:ahLst/>
                <a:cxnLst/>
                <a:rect l="l" t="t" r="r" b="b"/>
                <a:pathLst>
                  <a:path w="52388" h="34925">
                    <a:moveTo>
                      <a:pt x="0" y="17463"/>
                    </a:moveTo>
                    <a:lnTo>
                      <a:pt x="17463" y="34925"/>
                    </a:lnTo>
                    <a:lnTo>
                      <a:pt x="52388" y="0"/>
                    </a:lnTo>
                  </a:path>
                </a:pathLst>
              </a:custGeom>
              <a:noFill/>
              <a:ln w="17463">
                <a:solidFill>
                  <a:srgbClr val="D82000"/>
                </a:solidFill>
              </a:ln>
            </p:spPr>
          </p:sp>
        </p:grpSp>
        <p:sp>
          <p:nvSpPr>
            <p:cNvPr id="150" name="TextBox 150"/>
            <p:cNvSpPr txBox="1"/>
            <p:nvPr/>
          </p:nvSpPr>
          <p:spPr>
            <a:xfrm>
              <a:off x="4118928" y="2826782"/>
              <a:ext cx="334645" cy="240506"/>
            </a:xfrm>
            <a:prstGeom prst="rect">
              <a:avLst/>
            </a:prstGeom>
            <a:noFill/>
            <a:ln>
              <a:noFill/>
            </a:ln>
          </p:spPr>
          <p:txBody>
            <a:bodyPr wrap="none" lIns="0" tIns="0" rIns="0" bIns="0" anchor="t" anchorCtr="0">
              <a:spAutoFit/>
            </a:bodyPr>
            <a:lstStyle/>
            <a:p>
              <a:pPr algn="ctr">
                <a:lnSpc>
                  <a:spcPts val="900"/>
                </a:lnSpc>
              </a:pPr>
              <a:r>
                <a:rPr lang="zh-CN" sz="640" b="1" dirty="0">
                  <a:solidFill>
                    <a:srgbClr val="4A130A"/>
                  </a:solidFill>
                  <a:latin typeface="+mn-lt"/>
                  <a:ea typeface="+mn-ea"/>
                  <a:cs typeface="+mn-cs"/>
                </a:rPr>
                <a:t>风险评估</a:t>
              </a:r>
              <a:br/>
              <a:r>
                <a:rPr lang="zh-CN" sz="640" b="1" dirty="0">
                  <a:solidFill>
                    <a:srgbClr val="4A130A"/>
                  </a:solidFill>
                  <a:latin typeface="+mn-lt"/>
                  <a:ea typeface="+mn-ea"/>
                  <a:cs typeface="+mn-cs"/>
                </a:rPr>
                <a:t>引擎</a:t>
              </a:r>
            </a:p>
          </p:txBody>
        </p:sp>
        <p:sp>
          <p:nvSpPr>
            <p:cNvPr id="151" name="Rectangle 151"/>
            <p:cNvSpPr/>
            <p:nvPr/>
          </p:nvSpPr>
          <p:spPr>
            <a:xfrm>
              <a:off x="4629150" y="2381250"/>
              <a:ext cx="590550" cy="933450"/>
            </a:xfrm>
            <a:prstGeom prst="roundRect">
              <a:avLst>
                <a:gd name="adj" fmla="val 6452"/>
              </a:avLst>
            </a:prstGeom>
            <a:solidFill>
              <a:srgbClr val="FFF8F2"/>
            </a:solidFill>
            <a:ln w="9525">
              <a:solidFill>
                <a:srgbClr val="F0B8AE"/>
              </a:solidFill>
            </a:ln>
          </p:spPr>
        </p:sp>
        <p:grpSp>
          <p:nvGrpSpPr>
            <p:cNvPr id="154" name="Group 154"/>
            <p:cNvGrpSpPr/>
            <p:nvPr/>
          </p:nvGrpSpPr>
          <p:grpSpPr>
            <a:xfrm>
              <a:off x="4843410" y="2523245"/>
              <a:ext cx="157850" cy="158095"/>
              <a:chOff x="4843410" y="2523245"/>
              <a:chExt cx="157850" cy="158095"/>
            </a:xfrm>
          </p:grpSpPr>
          <p:sp>
            <p:nvSpPr>
              <p:cNvPr id="152" name="Freeform 152"/>
              <p:cNvSpPr/>
              <p:nvPr/>
            </p:nvSpPr>
            <p:spPr>
              <a:xfrm>
                <a:off x="4843410" y="2523245"/>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D82000"/>
                </a:solidFill>
              </a:ln>
            </p:spPr>
          </p:sp>
          <p:sp>
            <p:nvSpPr>
              <p:cNvPr id="153" name="Freeform 153"/>
              <p:cNvSpPr/>
              <p:nvPr/>
            </p:nvSpPr>
            <p:spPr>
              <a:xfrm>
                <a:off x="4950619" y="2526109"/>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D82000"/>
                </a:solidFill>
              </a:ln>
            </p:spPr>
          </p:sp>
        </p:grpSp>
        <p:sp>
          <p:nvSpPr>
            <p:cNvPr id="155" name="TextBox 155"/>
            <p:cNvSpPr txBox="1"/>
            <p:nvPr/>
          </p:nvSpPr>
          <p:spPr>
            <a:xfrm>
              <a:off x="4757102" y="2826782"/>
              <a:ext cx="334645" cy="240506"/>
            </a:xfrm>
            <a:prstGeom prst="rect">
              <a:avLst/>
            </a:prstGeom>
            <a:noFill/>
            <a:ln>
              <a:noFill/>
            </a:ln>
          </p:spPr>
          <p:txBody>
            <a:bodyPr wrap="none" lIns="0" tIns="0" rIns="0" bIns="0" anchor="t" anchorCtr="0">
              <a:spAutoFit/>
            </a:bodyPr>
            <a:lstStyle/>
            <a:p>
              <a:pPr algn="ctr">
                <a:lnSpc>
                  <a:spcPts val="900"/>
                </a:lnSpc>
              </a:pPr>
              <a:r>
                <a:rPr lang="zh-CN" sz="640" b="1" dirty="0">
                  <a:solidFill>
                    <a:srgbClr val="4A130A"/>
                  </a:solidFill>
                  <a:latin typeface="+mn-lt"/>
                  <a:ea typeface="+mn-ea"/>
                  <a:cs typeface="+mn-cs"/>
                </a:rPr>
                <a:t>资产配置</a:t>
              </a:r>
              <a:br/>
              <a:r>
                <a:rPr lang="zh-CN" sz="640" b="1" dirty="0">
                  <a:solidFill>
                    <a:srgbClr val="4A130A"/>
                  </a:solidFill>
                  <a:latin typeface="+mn-lt"/>
                  <a:ea typeface="+mn-ea"/>
                  <a:cs typeface="+mn-cs"/>
                </a:rPr>
                <a:t>优化引擎</a:t>
              </a:r>
            </a:p>
          </p:txBody>
        </p:sp>
        <p:sp>
          <p:nvSpPr>
            <p:cNvPr id="156" name="Rectangle 156"/>
            <p:cNvSpPr/>
            <p:nvPr/>
          </p:nvSpPr>
          <p:spPr>
            <a:xfrm>
              <a:off x="5267325" y="2381250"/>
              <a:ext cx="590550" cy="933450"/>
            </a:xfrm>
            <a:prstGeom prst="roundRect">
              <a:avLst>
                <a:gd name="adj" fmla="val 6452"/>
              </a:avLst>
            </a:prstGeom>
            <a:solidFill>
              <a:srgbClr val="FFF8F2"/>
            </a:solidFill>
            <a:ln w="9525">
              <a:solidFill>
                <a:srgbClr val="F0B8AE"/>
              </a:solidFill>
            </a:ln>
          </p:spPr>
        </p:sp>
        <p:grpSp>
          <p:nvGrpSpPr>
            <p:cNvPr id="159" name="Group 159"/>
            <p:cNvGrpSpPr/>
            <p:nvPr/>
          </p:nvGrpSpPr>
          <p:grpSpPr>
            <a:xfrm>
              <a:off x="5484019" y="2547938"/>
              <a:ext cx="157163" cy="104775"/>
              <a:chOff x="5484019" y="2547938"/>
              <a:chExt cx="157163" cy="104775"/>
            </a:xfrm>
          </p:grpSpPr>
          <p:sp>
            <p:nvSpPr>
              <p:cNvPr id="157" name="Freeform 157"/>
              <p:cNvSpPr/>
              <p:nvPr/>
            </p:nvSpPr>
            <p:spPr>
              <a:xfrm>
                <a:off x="5545138" y="2582863"/>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D82000"/>
                </a:solidFill>
              </a:ln>
            </p:spPr>
          </p:sp>
          <p:sp>
            <p:nvSpPr>
              <p:cNvPr id="158" name="Freeform 158"/>
              <p:cNvSpPr/>
              <p:nvPr/>
            </p:nvSpPr>
            <p:spPr>
              <a:xfrm>
                <a:off x="5484019" y="2547938"/>
                <a:ext cx="157163" cy="104775"/>
              </a:xfrm>
              <a:custGeom>
                <a:avLst/>
                <a:gdLst/>
                <a:ahLst/>
                <a:cxnLst/>
                <a:rect l="l" t="t" r="r" b="b"/>
                <a:pathLst>
                  <a:path w="157163" h="104775">
                    <a:moveTo>
                      <a:pt x="157163" y="52388"/>
                    </a:moveTo>
                    <a:cubicBezTo>
                      <a:pt x="136208" y="87313"/>
                      <a:pt x="110014" y="104775"/>
                      <a:pt x="78581" y="104775"/>
                    </a:cubicBezTo>
                    <a:cubicBezTo>
                      <a:pt x="47149" y="104775"/>
                      <a:pt x="20955" y="87313"/>
                      <a:pt x="0" y="52388"/>
                    </a:cubicBezTo>
                    <a:cubicBezTo>
                      <a:pt x="20955" y="17463"/>
                      <a:pt x="47149" y="0"/>
                      <a:pt x="78581" y="0"/>
                    </a:cubicBezTo>
                    <a:cubicBezTo>
                      <a:pt x="110014" y="0"/>
                      <a:pt x="136208" y="17463"/>
                      <a:pt x="157163" y="52388"/>
                    </a:cubicBezTo>
                  </a:path>
                </a:pathLst>
              </a:custGeom>
              <a:noFill/>
              <a:ln w="17463">
                <a:solidFill>
                  <a:srgbClr val="D82000"/>
                </a:solidFill>
              </a:ln>
            </p:spPr>
          </p:sp>
        </p:grpSp>
        <p:sp>
          <p:nvSpPr>
            <p:cNvPr id="160" name="TextBox 160"/>
            <p:cNvSpPr txBox="1"/>
            <p:nvPr/>
          </p:nvSpPr>
          <p:spPr>
            <a:xfrm>
              <a:off x="5395277" y="2826782"/>
              <a:ext cx="334645" cy="240506"/>
            </a:xfrm>
            <a:prstGeom prst="rect">
              <a:avLst/>
            </a:prstGeom>
            <a:noFill/>
            <a:ln>
              <a:noFill/>
            </a:ln>
          </p:spPr>
          <p:txBody>
            <a:bodyPr wrap="none" lIns="0" tIns="0" rIns="0" bIns="0" anchor="t" anchorCtr="0">
              <a:spAutoFit/>
            </a:bodyPr>
            <a:lstStyle/>
            <a:p>
              <a:pPr algn="ctr">
                <a:lnSpc>
                  <a:spcPts val="900"/>
                </a:lnSpc>
              </a:pPr>
              <a:r>
                <a:rPr lang="zh-CN" sz="640" b="1" dirty="0">
                  <a:solidFill>
                    <a:srgbClr val="4A130A"/>
                  </a:solidFill>
                  <a:latin typeface="+mn-lt"/>
                  <a:ea typeface="+mn-ea"/>
                  <a:cs typeface="+mn-cs"/>
                </a:rPr>
                <a:t>组合监控</a:t>
              </a:r>
              <a:br/>
              <a:r>
                <a:rPr lang="zh-CN" sz="640" b="1" dirty="0">
                  <a:solidFill>
                    <a:srgbClr val="4A130A"/>
                  </a:solidFill>
                  <a:latin typeface="+mn-lt"/>
                  <a:ea typeface="+mn-ea"/>
                  <a:cs typeface="+mn-cs"/>
                </a:rPr>
                <a:t>与预警</a:t>
              </a:r>
            </a:p>
          </p:txBody>
        </p:sp>
        <p:sp>
          <p:nvSpPr>
            <p:cNvPr id="161" name="Rectangle 161"/>
            <p:cNvSpPr/>
            <p:nvPr/>
          </p:nvSpPr>
          <p:spPr>
            <a:xfrm>
              <a:off x="5905500" y="2381250"/>
              <a:ext cx="590550" cy="933450"/>
            </a:xfrm>
            <a:prstGeom prst="roundRect">
              <a:avLst>
                <a:gd name="adj" fmla="val 6452"/>
              </a:avLst>
            </a:prstGeom>
            <a:solidFill>
              <a:srgbClr val="FFF8F2"/>
            </a:solidFill>
            <a:ln w="9525">
              <a:solidFill>
                <a:srgbClr val="F0B8AE"/>
              </a:solidFill>
            </a:ln>
          </p:spPr>
        </p:sp>
        <p:grpSp>
          <p:nvGrpSpPr>
            <p:cNvPr id="171" name="Group 171"/>
            <p:cNvGrpSpPr/>
            <p:nvPr/>
          </p:nvGrpSpPr>
          <p:grpSpPr>
            <a:xfrm>
              <a:off x="6139656" y="2513013"/>
              <a:ext cx="122238" cy="165893"/>
              <a:chOff x="6139656" y="2513013"/>
              <a:chExt cx="122238" cy="165893"/>
            </a:xfrm>
          </p:grpSpPr>
          <p:sp>
            <p:nvSpPr>
              <p:cNvPr id="162" name="Freeform 162"/>
              <p:cNvSpPr/>
              <p:nvPr/>
            </p:nvSpPr>
            <p:spPr>
              <a:xfrm>
                <a:off x="6148388" y="2530475"/>
                <a:ext cx="104775" cy="69850"/>
              </a:xfrm>
              <a:custGeom>
                <a:avLst/>
                <a:gdLst/>
                <a:ahLst/>
                <a:cxnLst/>
                <a:rect l="l" t="t" r="r" b="b"/>
                <a:pathLst>
                  <a:path w="104775" h="69850">
                    <a:moveTo>
                      <a:pt x="0" y="17463"/>
                    </a:moveTo>
                    <a:cubicBezTo>
                      <a:pt x="0" y="7818"/>
                      <a:pt x="7818" y="0"/>
                      <a:pt x="17463" y="0"/>
                    </a:cubicBezTo>
                    <a:lnTo>
                      <a:pt x="87313" y="0"/>
                    </a:lnTo>
                    <a:cubicBezTo>
                      <a:pt x="96957" y="0"/>
                      <a:pt x="104775" y="7818"/>
                      <a:pt x="104775" y="17463"/>
                    </a:cubicBezTo>
                    <a:lnTo>
                      <a:pt x="104775" y="52388"/>
                    </a:lnTo>
                    <a:cubicBezTo>
                      <a:pt x="104775" y="62032"/>
                      <a:pt x="96957" y="69850"/>
                      <a:pt x="87313" y="69850"/>
                    </a:cubicBezTo>
                    <a:lnTo>
                      <a:pt x="17463" y="69850"/>
                    </a:lnTo>
                    <a:cubicBezTo>
                      <a:pt x="7818" y="69850"/>
                      <a:pt x="0" y="62032"/>
                      <a:pt x="0" y="52388"/>
                    </a:cubicBezTo>
                    <a:lnTo>
                      <a:pt x="0" y="17463"/>
                    </a:lnTo>
                  </a:path>
                </a:pathLst>
              </a:custGeom>
              <a:noFill/>
              <a:ln w="17463">
                <a:solidFill>
                  <a:srgbClr val="D82000"/>
                </a:solidFill>
              </a:ln>
            </p:spPr>
          </p:sp>
          <p:sp>
            <p:nvSpPr>
              <p:cNvPr id="163" name="Freeform 163"/>
              <p:cNvSpPr/>
              <p:nvPr/>
            </p:nvSpPr>
            <p:spPr>
              <a:xfrm>
                <a:off x="6200775" y="2513013"/>
                <a:ext cx="9525" cy="17463"/>
              </a:xfrm>
              <a:custGeom>
                <a:avLst/>
                <a:gdLst/>
                <a:ahLst/>
                <a:cxnLst/>
                <a:rect l="l" t="t" r="r" b="b"/>
                <a:pathLst>
                  <a:path w="9525" h="17463">
                    <a:moveTo>
                      <a:pt x="0" y="0"/>
                    </a:moveTo>
                    <a:lnTo>
                      <a:pt x="0" y="17463"/>
                    </a:lnTo>
                  </a:path>
                </a:pathLst>
              </a:custGeom>
              <a:noFill/>
              <a:ln w="17463">
                <a:solidFill>
                  <a:srgbClr val="D82000"/>
                </a:solidFill>
              </a:ln>
            </p:spPr>
          </p:sp>
          <p:sp>
            <p:nvSpPr>
              <p:cNvPr id="164" name="Freeform 164"/>
              <p:cNvSpPr/>
              <p:nvPr/>
            </p:nvSpPr>
            <p:spPr>
              <a:xfrm>
                <a:off x="6174581" y="2600325"/>
                <a:ext cx="9525" cy="78581"/>
              </a:xfrm>
              <a:custGeom>
                <a:avLst/>
                <a:gdLst/>
                <a:ahLst/>
                <a:cxnLst/>
                <a:rect l="l" t="t" r="r" b="b"/>
                <a:pathLst>
                  <a:path w="9525" h="78581">
                    <a:moveTo>
                      <a:pt x="0" y="0"/>
                    </a:moveTo>
                    <a:lnTo>
                      <a:pt x="0" y="78581"/>
                    </a:lnTo>
                  </a:path>
                </a:pathLst>
              </a:custGeom>
              <a:noFill/>
              <a:ln w="17463">
                <a:solidFill>
                  <a:srgbClr val="D82000"/>
                </a:solidFill>
              </a:ln>
            </p:spPr>
          </p:sp>
          <p:sp>
            <p:nvSpPr>
              <p:cNvPr id="165" name="Freeform 165"/>
              <p:cNvSpPr/>
              <p:nvPr/>
            </p:nvSpPr>
            <p:spPr>
              <a:xfrm>
                <a:off x="6226969" y="2600325"/>
                <a:ext cx="9525" cy="78581"/>
              </a:xfrm>
              <a:custGeom>
                <a:avLst/>
                <a:gdLst/>
                <a:ahLst/>
                <a:cxnLst/>
                <a:rect l="l" t="t" r="r" b="b"/>
                <a:pathLst>
                  <a:path w="9525" h="78581">
                    <a:moveTo>
                      <a:pt x="0" y="0"/>
                    </a:moveTo>
                    <a:lnTo>
                      <a:pt x="0" y="78581"/>
                    </a:lnTo>
                  </a:path>
                </a:pathLst>
              </a:custGeom>
              <a:noFill/>
              <a:ln w="17463">
                <a:solidFill>
                  <a:srgbClr val="D82000"/>
                </a:solidFill>
              </a:ln>
            </p:spPr>
          </p:sp>
          <p:sp>
            <p:nvSpPr>
              <p:cNvPr id="166" name="Freeform 166"/>
              <p:cNvSpPr/>
              <p:nvPr/>
            </p:nvSpPr>
            <p:spPr>
              <a:xfrm>
                <a:off x="6139656" y="2617788"/>
                <a:ext cx="34925" cy="17463"/>
              </a:xfrm>
              <a:custGeom>
                <a:avLst/>
                <a:gdLst/>
                <a:ahLst/>
                <a:cxnLst/>
                <a:rect l="l" t="t" r="r" b="b"/>
                <a:pathLst>
                  <a:path w="34925" h="17463">
                    <a:moveTo>
                      <a:pt x="0" y="17463"/>
                    </a:moveTo>
                    <a:lnTo>
                      <a:pt x="34925" y="0"/>
                    </a:lnTo>
                  </a:path>
                </a:pathLst>
              </a:custGeom>
              <a:noFill/>
              <a:ln w="17463">
                <a:solidFill>
                  <a:srgbClr val="D82000"/>
                </a:solidFill>
              </a:ln>
            </p:spPr>
          </p:sp>
          <p:sp>
            <p:nvSpPr>
              <p:cNvPr id="167" name="Freeform 167"/>
              <p:cNvSpPr/>
              <p:nvPr/>
            </p:nvSpPr>
            <p:spPr>
              <a:xfrm>
                <a:off x="6226969" y="2617788"/>
                <a:ext cx="34925" cy="17463"/>
              </a:xfrm>
              <a:custGeom>
                <a:avLst/>
                <a:gdLst/>
                <a:ahLst/>
                <a:cxnLst/>
                <a:rect l="l" t="t" r="r" b="b"/>
                <a:pathLst>
                  <a:path w="34925" h="17463">
                    <a:moveTo>
                      <a:pt x="0" y="0"/>
                    </a:moveTo>
                    <a:lnTo>
                      <a:pt x="34925" y="17463"/>
                    </a:lnTo>
                  </a:path>
                </a:pathLst>
              </a:custGeom>
              <a:noFill/>
              <a:ln w="17463">
                <a:solidFill>
                  <a:srgbClr val="D82000"/>
                </a:solidFill>
              </a:ln>
            </p:spPr>
          </p:sp>
          <p:sp>
            <p:nvSpPr>
              <p:cNvPr id="168" name="Freeform 168"/>
              <p:cNvSpPr/>
              <p:nvPr/>
            </p:nvSpPr>
            <p:spPr>
              <a:xfrm>
                <a:off x="6174581" y="2652713"/>
                <a:ext cx="52388" cy="9525"/>
              </a:xfrm>
              <a:custGeom>
                <a:avLst/>
                <a:gdLst/>
                <a:ahLst/>
                <a:cxnLst/>
                <a:rect l="l" t="t" r="r" b="b"/>
                <a:pathLst>
                  <a:path w="52388" h="9525">
                    <a:moveTo>
                      <a:pt x="0" y="0"/>
                    </a:moveTo>
                    <a:lnTo>
                      <a:pt x="52388" y="0"/>
                    </a:lnTo>
                  </a:path>
                </a:pathLst>
              </a:custGeom>
              <a:noFill/>
              <a:ln w="17463">
                <a:solidFill>
                  <a:srgbClr val="D82000"/>
                </a:solidFill>
              </a:ln>
            </p:spPr>
          </p:sp>
          <p:sp>
            <p:nvSpPr>
              <p:cNvPr id="169" name="Freeform 169"/>
              <p:cNvSpPr/>
              <p:nvPr/>
            </p:nvSpPr>
            <p:spPr>
              <a:xfrm>
                <a:off x="6183313" y="2565400"/>
                <a:ext cx="9525" cy="9525"/>
              </a:xfrm>
              <a:custGeom>
                <a:avLst/>
                <a:gdLst/>
                <a:ahLst/>
                <a:cxnLst/>
                <a:rect l="l" t="t" r="r" b="b"/>
                <a:pathLst>
                  <a:path w="9525" h="9525">
                    <a:moveTo>
                      <a:pt x="0" y="0"/>
                    </a:moveTo>
                    <a:lnTo>
                      <a:pt x="0" y="87"/>
                    </a:lnTo>
                  </a:path>
                </a:pathLst>
              </a:custGeom>
              <a:noFill/>
              <a:ln w="17463">
                <a:solidFill>
                  <a:srgbClr val="D82000"/>
                </a:solidFill>
              </a:ln>
            </p:spPr>
          </p:sp>
          <p:sp>
            <p:nvSpPr>
              <p:cNvPr id="170" name="Freeform 170"/>
              <p:cNvSpPr/>
              <p:nvPr/>
            </p:nvSpPr>
            <p:spPr>
              <a:xfrm>
                <a:off x="6218238" y="2565400"/>
                <a:ext cx="9525" cy="9525"/>
              </a:xfrm>
              <a:custGeom>
                <a:avLst/>
                <a:gdLst/>
                <a:ahLst/>
                <a:cxnLst/>
                <a:rect l="l" t="t" r="r" b="b"/>
                <a:pathLst>
                  <a:path w="9525" h="9525">
                    <a:moveTo>
                      <a:pt x="0" y="0"/>
                    </a:moveTo>
                    <a:lnTo>
                      <a:pt x="0" y="87"/>
                    </a:lnTo>
                  </a:path>
                </a:pathLst>
              </a:custGeom>
              <a:noFill/>
              <a:ln w="17463">
                <a:solidFill>
                  <a:srgbClr val="D82000"/>
                </a:solidFill>
              </a:ln>
            </p:spPr>
          </p:sp>
        </p:grpSp>
        <p:sp>
          <p:nvSpPr>
            <p:cNvPr id="172" name="TextBox 172"/>
            <p:cNvSpPr txBox="1"/>
            <p:nvPr/>
          </p:nvSpPr>
          <p:spPr>
            <a:xfrm>
              <a:off x="6033452" y="2826782"/>
              <a:ext cx="334645" cy="240506"/>
            </a:xfrm>
            <a:prstGeom prst="rect">
              <a:avLst/>
            </a:prstGeom>
            <a:noFill/>
            <a:ln>
              <a:noFill/>
            </a:ln>
          </p:spPr>
          <p:txBody>
            <a:bodyPr wrap="none" lIns="0" tIns="0" rIns="0" bIns="0" anchor="t" anchorCtr="0">
              <a:spAutoFit/>
            </a:bodyPr>
            <a:lstStyle/>
            <a:p>
              <a:pPr algn="ctr">
                <a:lnSpc>
                  <a:spcPts val="900"/>
                </a:lnSpc>
              </a:pPr>
              <a:r>
                <a:rPr lang="zh-CN" sz="640" b="1" dirty="0">
                  <a:solidFill>
                    <a:srgbClr val="4A130A"/>
                  </a:solidFill>
                  <a:latin typeface="+mn-lt"/>
                  <a:ea typeface="+mn-ea"/>
                  <a:cs typeface="+mn-cs"/>
                </a:rPr>
                <a:t>智能管家</a:t>
              </a:r>
              <a:br/>
              <a:r>
                <a:rPr lang="zh-CN" sz="640" b="1" dirty="0">
                  <a:solidFill>
                    <a:srgbClr val="4A130A"/>
                  </a:solidFill>
                  <a:latin typeface="+mn-lt"/>
                  <a:ea typeface="+mn-ea"/>
                  <a:cs typeface="+mn-cs"/>
                </a:rPr>
                <a:t>与触达</a:t>
              </a:r>
            </a:p>
          </p:txBody>
        </p:sp>
        <p:sp>
          <p:nvSpPr>
            <p:cNvPr id="173" name="Rectangle 173"/>
            <p:cNvSpPr/>
            <p:nvPr/>
          </p:nvSpPr>
          <p:spPr>
            <a:xfrm>
              <a:off x="6543675" y="2381250"/>
              <a:ext cx="590550" cy="933450"/>
            </a:xfrm>
            <a:prstGeom prst="roundRect">
              <a:avLst>
                <a:gd name="adj" fmla="val 6452"/>
              </a:avLst>
            </a:prstGeom>
            <a:solidFill>
              <a:srgbClr val="FFF8F2"/>
            </a:solidFill>
            <a:ln w="9525">
              <a:solidFill>
                <a:srgbClr val="F0B8AE"/>
              </a:solidFill>
            </a:ln>
          </p:spPr>
        </p:sp>
        <p:grpSp>
          <p:nvGrpSpPr>
            <p:cNvPr id="179" name="Group 179"/>
            <p:cNvGrpSpPr/>
            <p:nvPr/>
          </p:nvGrpSpPr>
          <p:grpSpPr>
            <a:xfrm>
              <a:off x="6758768" y="2520143"/>
              <a:ext cx="160562" cy="168288"/>
              <a:chOff x="6758768" y="2520143"/>
              <a:chExt cx="160562" cy="168288"/>
            </a:xfrm>
          </p:grpSpPr>
          <p:sp>
            <p:nvSpPr>
              <p:cNvPr id="174" name="Freeform 174"/>
              <p:cNvSpPr/>
              <p:nvPr/>
            </p:nvSpPr>
            <p:spPr>
              <a:xfrm>
                <a:off x="6821488" y="2582863"/>
                <a:ext cx="97842" cy="97822"/>
              </a:xfrm>
              <a:custGeom>
                <a:avLst/>
                <a:gdLst/>
                <a:ahLst/>
                <a:cxnLst/>
                <a:rect l="l" t="t" r="r" b="b"/>
                <a:pathLst>
                  <a:path w="97842" h="97822">
                    <a:moveTo>
                      <a:pt x="26194" y="0"/>
                    </a:moveTo>
                    <a:lnTo>
                      <a:pt x="90657" y="64768"/>
                    </a:lnTo>
                    <a:cubicBezTo>
                      <a:pt x="97842" y="71928"/>
                      <a:pt x="97842" y="83523"/>
                      <a:pt x="90657" y="90674"/>
                    </a:cubicBezTo>
                    <a:cubicBezTo>
                      <a:pt x="83470" y="97822"/>
                      <a:pt x="71859" y="97822"/>
                      <a:pt x="64672" y="90674"/>
                    </a:cubicBezTo>
                    <a:lnTo>
                      <a:pt x="0" y="26194"/>
                    </a:lnTo>
                  </a:path>
                </a:pathLst>
              </a:custGeom>
              <a:noFill/>
              <a:ln w="17463">
                <a:solidFill>
                  <a:srgbClr val="D82000"/>
                </a:solidFill>
              </a:ln>
            </p:spPr>
          </p:sp>
          <p:sp>
            <p:nvSpPr>
              <p:cNvPr id="175" name="Freeform 175"/>
              <p:cNvSpPr/>
              <p:nvPr/>
            </p:nvSpPr>
            <p:spPr>
              <a:xfrm>
                <a:off x="6786563" y="2574131"/>
                <a:ext cx="34925" cy="34925"/>
              </a:xfrm>
              <a:custGeom>
                <a:avLst/>
                <a:gdLst/>
                <a:ahLst/>
                <a:cxnLst/>
                <a:rect l="l" t="t" r="r" b="b"/>
                <a:pathLst>
                  <a:path w="34925" h="34925">
                    <a:moveTo>
                      <a:pt x="0" y="0"/>
                    </a:moveTo>
                    <a:lnTo>
                      <a:pt x="34925" y="34925"/>
                    </a:lnTo>
                  </a:path>
                </a:pathLst>
              </a:custGeom>
              <a:noFill/>
              <a:ln w="17463">
                <a:solidFill>
                  <a:srgbClr val="D82000"/>
                </a:solidFill>
              </a:ln>
            </p:spPr>
          </p:sp>
          <p:sp>
            <p:nvSpPr>
              <p:cNvPr id="176" name="Freeform 176"/>
              <p:cNvSpPr/>
              <p:nvPr/>
            </p:nvSpPr>
            <p:spPr>
              <a:xfrm>
                <a:off x="6812756" y="2547938"/>
                <a:ext cx="34925" cy="34925"/>
              </a:xfrm>
              <a:custGeom>
                <a:avLst/>
                <a:gdLst/>
                <a:ahLst/>
                <a:cxnLst/>
                <a:rect l="l" t="t" r="r" b="b"/>
                <a:pathLst>
                  <a:path w="34925" h="34925">
                    <a:moveTo>
                      <a:pt x="34925" y="34925"/>
                    </a:moveTo>
                    <a:lnTo>
                      <a:pt x="0" y="0"/>
                    </a:lnTo>
                  </a:path>
                </a:pathLst>
              </a:custGeom>
              <a:noFill/>
              <a:ln w="17463">
                <a:solidFill>
                  <a:srgbClr val="D82000"/>
                </a:solidFill>
              </a:ln>
            </p:spPr>
          </p:sp>
          <p:sp>
            <p:nvSpPr>
              <p:cNvPr id="177" name="Freeform 177"/>
              <p:cNvSpPr/>
              <p:nvPr/>
            </p:nvSpPr>
            <p:spPr>
              <a:xfrm>
                <a:off x="6760369" y="2678906"/>
                <a:ext cx="61119" cy="9525"/>
              </a:xfrm>
              <a:custGeom>
                <a:avLst/>
                <a:gdLst/>
                <a:ahLst/>
                <a:cxnLst/>
                <a:rect l="l" t="t" r="r" b="b"/>
                <a:pathLst>
                  <a:path w="61119" h="9525">
                    <a:moveTo>
                      <a:pt x="0" y="0"/>
                    </a:moveTo>
                    <a:lnTo>
                      <a:pt x="61119" y="0"/>
                    </a:lnTo>
                  </a:path>
                </a:pathLst>
              </a:custGeom>
              <a:noFill/>
              <a:ln w="17463">
                <a:solidFill>
                  <a:srgbClr val="D82000"/>
                </a:solidFill>
              </a:ln>
            </p:spPr>
          </p:sp>
          <p:sp>
            <p:nvSpPr>
              <p:cNvPr id="178" name="Freeform 178"/>
              <p:cNvSpPr/>
              <p:nvPr/>
            </p:nvSpPr>
            <p:spPr>
              <a:xfrm>
                <a:off x="6758768" y="2520143"/>
                <a:ext cx="116709" cy="116709"/>
              </a:xfrm>
              <a:custGeom>
                <a:avLst/>
                <a:gdLst/>
                <a:ahLst/>
                <a:cxnLst/>
                <a:rect l="l" t="t" r="r" b="b"/>
                <a:pathLst>
                  <a:path w="116709" h="116709">
                    <a:moveTo>
                      <a:pt x="34719" y="113300"/>
                    </a:moveTo>
                    <a:lnTo>
                      <a:pt x="3409" y="81990"/>
                    </a:lnTo>
                    <a:cubicBezTo>
                      <a:pt x="0" y="78580"/>
                      <a:pt x="0" y="73053"/>
                      <a:pt x="3409" y="69644"/>
                    </a:cubicBezTo>
                    <a:lnTo>
                      <a:pt x="23429" y="49623"/>
                    </a:lnTo>
                    <a:lnTo>
                      <a:pt x="27795" y="53989"/>
                    </a:lnTo>
                    <a:lnTo>
                      <a:pt x="53989" y="27795"/>
                    </a:lnTo>
                    <a:lnTo>
                      <a:pt x="49623" y="23429"/>
                    </a:lnTo>
                    <a:lnTo>
                      <a:pt x="69644" y="3409"/>
                    </a:lnTo>
                    <a:cubicBezTo>
                      <a:pt x="73053" y="0"/>
                      <a:pt x="78580" y="0"/>
                      <a:pt x="81990" y="3409"/>
                    </a:cubicBezTo>
                    <a:lnTo>
                      <a:pt x="113300" y="34719"/>
                    </a:lnTo>
                    <a:cubicBezTo>
                      <a:pt x="116709" y="38128"/>
                      <a:pt x="116709" y="43655"/>
                      <a:pt x="113300" y="47065"/>
                    </a:cubicBezTo>
                    <a:lnTo>
                      <a:pt x="93279" y="67086"/>
                    </a:lnTo>
                    <a:lnTo>
                      <a:pt x="88914" y="62720"/>
                    </a:lnTo>
                    <a:lnTo>
                      <a:pt x="62720" y="88914"/>
                    </a:lnTo>
                    <a:lnTo>
                      <a:pt x="67086" y="93279"/>
                    </a:lnTo>
                    <a:lnTo>
                      <a:pt x="47065" y="113300"/>
                    </a:lnTo>
                    <a:cubicBezTo>
                      <a:pt x="43655" y="116709"/>
                      <a:pt x="38128" y="116709"/>
                      <a:pt x="34719" y="113300"/>
                    </a:cubicBezTo>
                  </a:path>
                </a:pathLst>
              </a:custGeom>
              <a:noFill/>
              <a:ln w="17463">
                <a:solidFill>
                  <a:srgbClr val="D82000"/>
                </a:solidFill>
              </a:ln>
            </p:spPr>
          </p:sp>
        </p:grpSp>
        <p:sp>
          <p:nvSpPr>
            <p:cNvPr id="180" name="TextBox 180"/>
            <p:cNvSpPr txBox="1"/>
            <p:nvPr/>
          </p:nvSpPr>
          <p:spPr>
            <a:xfrm>
              <a:off x="6630988" y="2826782"/>
              <a:ext cx="415925" cy="240506"/>
            </a:xfrm>
            <a:prstGeom prst="rect">
              <a:avLst/>
            </a:prstGeom>
            <a:noFill/>
            <a:ln>
              <a:noFill/>
            </a:ln>
          </p:spPr>
          <p:txBody>
            <a:bodyPr wrap="none" lIns="0" tIns="0" rIns="0" bIns="0" anchor="t" anchorCtr="0">
              <a:spAutoFit/>
            </a:bodyPr>
            <a:lstStyle/>
            <a:p>
              <a:pPr algn="ctr">
                <a:lnSpc>
                  <a:spcPts val="900"/>
                </a:lnSpc>
              </a:pPr>
              <a:r>
                <a:rPr lang="zh-CN" sz="640" b="1" dirty="0">
                  <a:solidFill>
                    <a:srgbClr val="4A130A"/>
                  </a:solidFill>
                  <a:latin typeface="+mn-lt"/>
                  <a:ea typeface="+mn-ea"/>
                  <a:cs typeface="+mn-cs"/>
                </a:rPr>
                <a:t>合规与审计</a:t>
              </a:r>
              <a:br/>
              <a:r>
                <a:rPr lang="zh-CN" sz="640" b="1" dirty="0">
                  <a:solidFill>
                    <a:srgbClr val="4A130A"/>
                  </a:solidFill>
                  <a:latin typeface="+mn-lt"/>
                  <a:ea typeface="+mn-ea"/>
                  <a:cs typeface="+mn-cs"/>
                </a:rPr>
                <a:t>留痕</a:t>
              </a:r>
            </a:p>
          </p:txBody>
        </p:sp>
      </p:grpSp>
      <p:grpSp>
        <p:nvGrpSpPr>
          <p:cNvPr id="243" name="aum-waterfall"/>
          <p:cNvGrpSpPr/>
          <p:nvPr/>
        </p:nvGrpSpPr>
        <p:grpSpPr>
          <a:xfrm>
            <a:off x="7277100" y="685800"/>
            <a:ext cx="4533900" cy="2657713"/>
            <a:chOff x="7277100" y="685800"/>
            <a:chExt cx="4533900" cy="2657713"/>
          </a:xfrm>
        </p:grpSpPr>
        <p:sp>
          <p:nvSpPr>
            <p:cNvPr id="182" name="Rectangle 182"/>
            <p:cNvSpPr/>
            <p:nvPr/>
          </p:nvSpPr>
          <p:spPr>
            <a:xfrm>
              <a:off x="7277100" y="685800"/>
              <a:ext cx="4533900" cy="228600"/>
            </a:xfrm>
            <a:prstGeom prst="roundRect">
              <a:avLst>
                <a:gd name="adj" fmla="val 12500"/>
              </a:avLst>
            </a:prstGeom>
            <a:solidFill>
              <a:srgbClr val="C41D00"/>
            </a:solidFill>
            <a:ln>
              <a:noFill/>
            </a:ln>
          </p:spPr>
        </p:sp>
        <p:sp>
          <p:nvSpPr>
            <p:cNvPr id="183" name="TextBox 183"/>
            <p:cNvSpPr txBox="1"/>
            <p:nvPr/>
          </p:nvSpPr>
          <p:spPr>
            <a:xfrm>
              <a:off x="8604685" y="750570"/>
              <a:ext cx="187873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​​AUM增长分解（单位：亿元）​​</a:t>
              </a:r>
            </a:p>
          </p:txBody>
        </p:sp>
        <p:sp>
          <p:nvSpPr>
            <p:cNvPr id="184" name="Rectangle 184"/>
            <p:cNvSpPr/>
            <p:nvPr/>
          </p:nvSpPr>
          <p:spPr>
            <a:xfrm>
              <a:off x="8115300" y="962025"/>
              <a:ext cx="85725" cy="85725"/>
            </a:xfrm>
            <a:prstGeom prst="rect">
              <a:avLst/>
            </a:prstGeom>
            <a:solidFill>
              <a:srgbClr val="C41D00"/>
            </a:solidFill>
            <a:ln>
              <a:noFill/>
            </a:ln>
          </p:spPr>
        </p:sp>
        <p:sp>
          <p:nvSpPr>
            <p:cNvPr id="185" name="TextBox 185"/>
            <p:cNvSpPr txBox="1"/>
            <p:nvPr/>
          </p:nvSpPr>
          <p:spPr>
            <a:xfrm>
              <a:off x="8234362" y="969407"/>
              <a:ext cx="354152"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市场影响</a:t>
              </a:r>
            </a:p>
          </p:txBody>
        </p:sp>
        <p:sp>
          <p:nvSpPr>
            <p:cNvPr id="186" name="Rectangle 186"/>
            <p:cNvSpPr/>
            <p:nvPr/>
          </p:nvSpPr>
          <p:spPr>
            <a:xfrm>
              <a:off x="8820150" y="962025"/>
              <a:ext cx="85725" cy="85725"/>
            </a:xfrm>
            <a:prstGeom prst="rect">
              <a:avLst/>
            </a:prstGeom>
            <a:solidFill>
              <a:srgbClr val="E0371A"/>
            </a:solidFill>
            <a:ln>
              <a:noFill/>
            </a:ln>
          </p:spPr>
        </p:sp>
        <p:sp>
          <p:nvSpPr>
            <p:cNvPr id="187" name="TextBox 187"/>
            <p:cNvSpPr txBox="1"/>
            <p:nvPr/>
          </p:nvSpPr>
          <p:spPr>
            <a:xfrm>
              <a:off x="8939212" y="969407"/>
              <a:ext cx="267995"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净流入</a:t>
              </a:r>
            </a:p>
          </p:txBody>
        </p:sp>
        <p:sp>
          <p:nvSpPr>
            <p:cNvPr id="188" name="Rectangle 188"/>
            <p:cNvSpPr/>
            <p:nvPr/>
          </p:nvSpPr>
          <p:spPr>
            <a:xfrm>
              <a:off x="9467850" y="962025"/>
              <a:ext cx="85725" cy="85725"/>
            </a:xfrm>
            <a:prstGeom prst="rect">
              <a:avLst/>
            </a:prstGeom>
            <a:solidFill>
              <a:srgbClr val="EE492C"/>
            </a:solidFill>
            <a:ln>
              <a:noFill/>
            </a:ln>
          </p:spPr>
        </p:sp>
        <p:sp>
          <p:nvSpPr>
            <p:cNvPr id="189" name="TextBox 189"/>
            <p:cNvSpPr txBox="1"/>
            <p:nvPr/>
          </p:nvSpPr>
          <p:spPr>
            <a:xfrm>
              <a:off x="9586912" y="969407"/>
              <a:ext cx="354152"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产品迁移</a:t>
              </a:r>
            </a:p>
          </p:txBody>
        </p:sp>
        <p:sp>
          <p:nvSpPr>
            <p:cNvPr id="190" name="Rectangle 190"/>
            <p:cNvSpPr/>
            <p:nvPr/>
          </p:nvSpPr>
          <p:spPr>
            <a:xfrm>
              <a:off x="10172700" y="962025"/>
              <a:ext cx="85725" cy="85725"/>
            </a:xfrm>
            <a:prstGeom prst="rect">
              <a:avLst/>
            </a:prstGeom>
            <a:solidFill>
              <a:srgbClr val="FBBFB5"/>
            </a:solidFill>
            <a:ln>
              <a:noFill/>
            </a:ln>
          </p:spPr>
        </p:sp>
        <p:sp>
          <p:nvSpPr>
            <p:cNvPr id="191" name="TextBox 191"/>
            <p:cNvSpPr txBox="1"/>
            <p:nvPr/>
          </p:nvSpPr>
          <p:spPr>
            <a:xfrm>
              <a:off x="10291762" y="969407"/>
              <a:ext cx="354152"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流失影响</a:t>
              </a:r>
            </a:p>
          </p:txBody>
        </p:sp>
        <p:sp>
          <p:nvSpPr>
            <p:cNvPr id="192" name="TextBox 192"/>
            <p:cNvSpPr txBox="1"/>
            <p:nvPr/>
          </p:nvSpPr>
          <p:spPr>
            <a:xfrm>
              <a:off x="8638951" y="1064657"/>
              <a:ext cx="1467298"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​​​期内净增 +2,334（+27.7%）​​​</a:t>
              </a:r>
            </a:p>
          </p:txBody>
        </p:sp>
        <p:sp>
          <p:nvSpPr>
            <p:cNvPr id="193" name="Line 193"/>
            <p:cNvSpPr/>
            <p:nvPr/>
          </p:nvSpPr>
          <p:spPr>
            <a:xfrm>
              <a:off x="8134350" y="1171575"/>
              <a:ext cx="2476500" cy="9525"/>
            </a:xfrm>
            <a:custGeom>
              <a:avLst/>
              <a:gdLst/>
              <a:ahLst/>
              <a:cxnLst/>
              <a:rect l="l" t="t" r="r" b="b"/>
              <a:pathLst>
                <a:path w="2476500" h="9525">
                  <a:moveTo>
                    <a:pt x="0" y="0"/>
                  </a:moveTo>
                  <a:lnTo>
                    <a:pt x="2476500" y="0"/>
                  </a:lnTo>
                </a:path>
              </a:pathLst>
            </a:custGeom>
            <a:noFill/>
            <a:ln w="9525">
              <a:solidFill>
                <a:srgbClr val="7A716B"/>
              </a:solidFill>
            </a:ln>
          </p:spPr>
        </p:sp>
        <p:sp>
          <p:nvSpPr>
            <p:cNvPr id="194" name="Line 194"/>
            <p:cNvSpPr/>
            <p:nvPr/>
          </p:nvSpPr>
          <p:spPr>
            <a:xfrm>
              <a:off x="8134350" y="1171575"/>
              <a:ext cx="9525" cy="47625"/>
            </a:xfrm>
            <a:custGeom>
              <a:avLst/>
              <a:gdLst/>
              <a:ahLst/>
              <a:cxnLst/>
              <a:rect l="l" t="t" r="r" b="b"/>
              <a:pathLst>
                <a:path w="9525" h="47625">
                  <a:moveTo>
                    <a:pt x="0" y="0"/>
                  </a:moveTo>
                  <a:lnTo>
                    <a:pt x="0" y="47625"/>
                  </a:lnTo>
                </a:path>
              </a:pathLst>
            </a:custGeom>
            <a:noFill/>
            <a:ln w="9525">
              <a:solidFill>
                <a:srgbClr val="7A716B"/>
              </a:solidFill>
            </a:ln>
          </p:spPr>
        </p:sp>
        <p:sp>
          <p:nvSpPr>
            <p:cNvPr id="195" name="Line 195"/>
            <p:cNvSpPr/>
            <p:nvPr/>
          </p:nvSpPr>
          <p:spPr>
            <a:xfrm>
              <a:off x="10610850" y="1171575"/>
              <a:ext cx="9525" cy="47625"/>
            </a:xfrm>
            <a:custGeom>
              <a:avLst/>
              <a:gdLst/>
              <a:ahLst/>
              <a:cxnLst/>
              <a:rect l="l" t="t" r="r" b="b"/>
              <a:pathLst>
                <a:path w="9525" h="47625">
                  <a:moveTo>
                    <a:pt x="0" y="0"/>
                  </a:moveTo>
                  <a:lnTo>
                    <a:pt x="0" y="47625"/>
                  </a:lnTo>
                </a:path>
              </a:pathLst>
            </a:custGeom>
            <a:noFill/>
            <a:ln w="9525">
              <a:solidFill>
                <a:srgbClr val="7A716B"/>
              </a:solidFill>
            </a:ln>
          </p:spPr>
        </p:sp>
        <p:sp>
          <p:nvSpPr>
            <p:cNvPr id="196" name="Rectangle 196"/>
            <p:cNvSpPr/>
            <p:nvPr/>
          </p:nvSpPr>
          <p:spPr>
            <a:xfrm>
              <a:off x="7467600" y="1942148"/>
              <a:ext cx="476250" cy="248602"/>
            </a:xfrm>
            <a:prstGeom prst="rect">
              <a:avLst/>
            </a:prstGeom>
            <a:solidFill>
              <a:srgbClr val="8F1C08"/>
            </a:solidFill>
            <a:ln>
              <a:noFill/>
            </a:ln>
          </p:spPr>
        </p:sp>
        <p:sp>
          <p:nvSpPr>
            <p:cNvPr id="197" name="TextBox 197"/>
            <p:cNvSpPr txBox="1"/>
            <p:nvPr/>
          </p:nvSpPr>
          <p:spPr>
            <a:xfrm>
              <a:off x="7515934" y="1822609"/>
              <a:ext cx="379582"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​8,420​</a:t>
              </a:r>
            </a:p>
          </p:txBody>
        </p:sp>
        <p:sp>
          <p:nvSpPr>
            <p:cNvPr id="198" name="Rectangle 198"/>
            <p:cNvSpPr/>
            <p:nvPr/>
          </p:nvSpPr>
          <p:spPr>
            <a:xfrm>
              <a:off x="8134350" y="1660208"/>
              <a:ext cx="476250" cy="281940"/>
            </a:xfrm>
            <a:prstGeom prst="rect">
              <a:avLst/>
            </a:prstGeom>
            <a:solidFill>
              <a:srgbClr val="C41D00"/>
            </a:solidFill>
            <a:ln>
              <a:noFill/>
            </a:ln>
          </p:spPr>
        </p:sp>
        <p:sp>
          <p:nvSpPr>
            <p:cNvPr id="199" name="TextBox 199"/>
            <p:cNvSpPr txBox="1"/>
            <p:nvPr/>
          </p:nvSpPr>
          <p:spPr>
            <a:xfrm>
              <a:off x="8156251" y="1546384"/>
              <a:ext cx="432447" cy="133350"/>
            </a:xfrm>
            <a:prstGeom prst="rect">
              <a:avLst/>
            </a:prstGeom>
            <a:noFill/>
            <a:ln>
              <a:noFill/>
            </a:ln>
          </p:spPr>
          <p:txBody>
            <a:bodyPr wrap="none" lIns="0" tIns="0" rIns="0" bIns="0" anchor="t" anchorCtr="0">
              <a:spAutoFit/>
            </a:bodyPr>
            <a:lstStyle/>
            <a:p>
              <a:pPr algn="ctr"/>
              <a:r>
                <a:rPr lang="zh-CN" sz="680" b="1" dirty="0">
                  <a:solidFill>
                    <a:srgbClr val="C41D00"/>
                  </a:solidFill>
                  <a:latin typeface="+mn-lt"/>
                  <a:ea typeface="+mn-ea"/>
                  <a:cs typeface="+mn-cs"/>
                </a:rPr>
                <a:t>​+1,236​</a:t>
              </a:r>
            </a:p>
          </p:txBody>
        </p:sp>
        <p:sp>
          <p:nvSpPr>
            <p:cNvPr id="200" name="Rectangle 200"/>
            <p:cNvSpPr/>
            <p:nvPr/>
          </p:nvSpPr>
          <p:spPr>
            <a:xfrm>
              <a:off x="8801100" y="1314450"/>
              <a:ext cx="476250" cy="345758"/>
            </a:xfrm>
            <a:prstGeom prst="rect">
              <a:avLst/>
            </a:prstGeom>
            <a:solidFill>
              <a:srgbClr val="E0371A"/>
            </a:solidFill>
            <a:ln>
              <a:noFill/>
            </a:ln>
          </p:spPr>
        </p:sp>
        <p:sp>
          <p:nvSpPr>
            <p:cNvPr id="201" name="TextBox 201"/>
            <p:cNvSpPr txBox="1"/>
            <p:nvPr/>
          </p:nvSpPr>
          <p:spPr>
            <a:xfrm>
              <a:off x="8823001" y="1203484"/>
              <a:ext cx="432447" cy="133350"/>
            </a:xfrm>
            <a:prstGeom prst="rect">
              <a:avLst/>
            </a:prstGeom>
            <a:noFill/>
            <a:ln>
              <a:noFill/>
            </a:ln>
          </p:spPr>
          <p:txBody>
            <a:bodyPr wrap="none" lIns="0" tIns="0" rIns="0" bIns="0" anchor="t" anchorCtr="0">
              <a:spAutoFit/>
            </a:bodyPr>
            <a:lstStyle/>
            <a:p>
              <a:pPr algn="ctr"/>
              <a:r>
                <a:rPr lang="zh-CN" sz="680" b="1" dirty="0">
                  <a:solidFill>
                    <a:srgbClr val="C41D00"/>
                  </a:solidFill>
                  <a:latin typeface="+mn-lt"/>
                  <a:ea typeface="+mn-ea"/>
                  <a:cs typeface="+mn-cs"/>
                </a:rPr>
                <a:t>​+1,512​</a:t>
              </a:r>
            </a:p>
          </p:txBody>
        </p:sp>
        <p:sp>
          <p:nvSpPr>
            <p:cNvPr id="202" name="Rectangle 202"/>
            <p:cNvSpPr/>
            <p:nvPr/>
          </p:nvSpPr>
          <p:spPr>
            <a:xfrm>
              <a:off x="9467850" y="1239202"/>
              <a:ext cx="476250" cy="75248"/>
            </a:xfrm>
            <a:prstGeom prst="rect">
              <a:avLst/>
            </a:prstGeom>
            <a:solidFill>
              <a:srgbClr val="EE492C"/>
            </a:solidFill>
            <a:ln>
              <a:noFill/>
            </a:ln>
          </p:spPr>
        </p:sp>
        <p:sp>
          <p:nvSpPr>
            <p:cNvPr id="203" name="TextBox 203"/>
            <p:cNvSpPr txBox="1"/>
            <p:nvPr/>
          </p:nvSpPr>
          <p:spPr>
            <a:xfrm>
              <a:off x="9977438" y="1232059"/>
              <a:ext cx="326717" cy="133350"/>
            </a:xfrm>
            <a:prstGeom prst="rect">
              <a:avLst/>
            </a:prstGeom>
            <a:noFill/>
            <a:ln>
              <a:noFill/>
            </a:ln>
          </p:spPr>
          <p:txBody>
            <a:bodyPr wrap="none" lIns="0" tIns="0" rIns="0" bIns="0" anchor="t" anchorCtr="0">
              <a:spAutoFit/>
            </a:bodyPr>
            <a:lstStyle/>
            <a:p>
              <a:pPr algn="l"/>
              <a:r>
                <a:rPr lang="zh-CN" sz="680" b="1" dirty="0">
                  <a:solidFill>
                    <a:srgbClr val="C41D00"/>
                  </a:solidFill>
                  <a:latin typeface="+mn-lt"/>
                  <a:ea typeface="+mn-ea"/>
                  <a:cs typeface="+mn-cs"/>
                </a:rPr>
                <a:t>+328​​</a:t>
              </a:r>
            </a:p>
          </p:txBody>
        </p:sp>
        <p:sp>
          <p:nvSpPr>
            <p:cNvPr id="204" name="Rectangle 204"/>
            <p:cNvSpPr/>
            <p:nvPr/>
          </p:nvSpPr>
          <p:spPr>
            <a:xfrm>
              <a:off x="10134600" y="1239202"/>
              <a:ext cx="476250" cy="169545"/>
            </a:xfrm>
            <a:prstGeom prst="rect">
              <a:avLst/>
            </a:prstGeom>
            <a:solidFill>
              <a:srgbClr val="FBBFB5"/>
            </a:solidFill>
            <a:ln w="9525">
              <a:solidFill>
                <a:srgbClr val="EE492C"/>
              </a:solidFill>
            </a:ln>
          </p:spPr>
        </p:sp>
        <p:sp>
          <p:nvSpPr>
            <p:cNvPr id="205" name="TextBox 205"/>
            <p:cNvSpPr txBox="1"/>
            <p:nvPr/>
          </p:nvSpPr>
          <p:spPr>
            <a:xfrm>
              <a:off x="10209367" y="1451134"/>
              <a:ext cx="326717" cy="133350"/>
            </a:xfrm>
            <a:prstGeom prst="rect">
              <a:avLst/>
            </a:prstGeom>
            <a:noFill/>
            <a:ln>
              <a:noFill/>
            </a:ln>
          </p:spPr>
          <p:txBody>
            <a:bodyPr wrap="none" lIns="0" tIns="0" rIns="0" bIns="0" anchor="t" anchorCtr="0">
              <a:spAutoFit/>
            </a:bodyPr>
            <a:lstStyle/>
            <a:p>
              <a:pPr algn="ctr"/>
              <a:r>
                <a:rPr lang="zh-CN" sz="680" b="1" dirty="0">
                  <a:solidFill>
                    <a:srgbClr val="8F1C08"/>
                  </a:solidFill>
                  <a:latin typeface="+mn-lt"/>
                  <a:ea typeface="+mn-ea"/>
                  <a:cs typeface="+mn-cs"/>
                </a:rPr>
                <a:t>​-742​</a:t>
              </a:r>
            </a:p>
          </p:txBody>
        </p:sp>
        <p:sp>
          <p:nvSpPr>
            <p:cNvPr id="206" name="Rectangle 206"/>
            <p:cNvSpPr/>
            <p:nvPr/>
          </p:nvSpPr>
          <p:spPr>
            <a:xfrm>
              <a:off x="10801350" y="1408748"/>
              <a:ext cx="476250" cy="782002"/>
            </a:xfrm>
            <a:prstGeom prst="rect">
              <a:avLst/>
            </a:prstGeom>
            <a:solidFill>
              <a:srgbClr val="8F1C08"/>
            </a:solidFill>
            <a:ln>
              <a:noFill/>
            </a:ln>
          </p:spPr>
        </p:sp>
        <p:sp>
          <p:nvSpPr>
            <p:cNvPr id="207" name="TextBox 207"/>
            <p:cNvSpPr txBox="1"/>
            <p:nvPr/>
          </p:nvSpPr>
          <p:spPr>
            <a:xfrm>
              <a:off x="10823251" y="1289209"/>
              <a:ext cx="432447"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​10,754​</a:t>
              </a:r>
            </a:p>
          </p:txBody>
        </p:sp>
        <p:sp>
          <p:nvSpPr>
            <p:cNvPr id="208" name="Line 208"/>
            <p:cNvSpPr/>
            <p:nvPr/>
          </p:nvSpPr>
          <p:spPr>
            <a:xfrm>
              <a:off x="7943850" y="1942148"/>
              <a:ext cx="190500" cy="9525"/>
            </a:xfrm>
            <a:custGeom>
              <a:avLst/>
              <a:gdLst/>
              <a:ahLst/>
              <a:cxnLst/>
              <a:rect l="l" t="t" r="r" b="b"/>
              <a:pathLst>
                <a:path w="190500" h="9525">
                  <a:moveTo>
                    <a:pt x="0" y="0"/>
                  </a:moveTo>
                  <a:lnTo>
                    <a:pt x="190500" y="0"/>
                  </a:lnTo>
                </a:path>
              </a:pathLst>
            </a:custGeom>
            <a:noFill/>
            <a:ln w="9525">
              <a:solidFill>
                <a:srgbClr val="7A716B"/>
              </a:solidFill>
              <a:prstDash val="sysDot"/>
            </a:ln>
          </p:spPr>
        </p:sp>
        <p:sp>
          <p:nvSpPr>
            <p:cNvPr id="209" name="Line 209"/>
            <p:cNvSpPr/>
            <p:nvPr/>
          </p:nvSpPr>
          <p:spPr>
            <a:xfrm>
              <a:off x="8610600" y="1660208"/>
              <a:ext cx="190500" cy="9525"/>
            </a:xfrm>
            <a:custGeom>
              <a:avLst/>
              <a:gdLst/>
              <a:ahLst/>
              <a:cxnLst/>
              <a:rect l="l" t="t" r="r" b="b"/>
              <a:pathLst>
                <a:path w="190500" h="9525">
                  <a:moveTo>
                    <a:pt x="0" y="0"/>
                  </a:moveTo>
                  <a:lnTo>
                    <a:pt x="190500" y="0"/>
                  </a:lnTo>
                </a:path>
              </a:pathLst>
            </a:custGeom>
            <a:noFill/>
            <a:ln w="9525">
              <a:solidFill>
                <a:srgbClr val="7A716B"/>
              </a:solidFill>
              <a:prstDash val="sysDot"/>
            </a:ln>
          </p:spPr>
        </p:sp>
        <p:sp>
          <p:nvSpPr>
            <p:cNvPr id="210" name="Line 210"/>
            <p:cNvSpPr/>
            <p:nvPr/>
          </p:nvSpPr>
          <p:spPr>
            <a:xfrm>
              <a:off x="9277350" y="1314450"/>
              <a:ext cx="190500" cy="9525"/>
            </a:xfrm>
            <a:custGeom>
              <a:avLst/>
              <a:gdLst/>
              <a:ahLst/>
              <a:cxnLst/>
              <a:rect l="l" t="t" r="r" b="b"/>
              <a:pathLst>
                <a:path w="190500" h="9525">
                  <a:moveTo>
                    <a:pt x="0" y="0"/>
                  </a:moveTo>
                  <a:lnTo>
                    <a:pt x="190500" y="0"/>
                  </a:lnTo>
                </a:path>
              </a:pathLst>
            </a:custGeom>
            <a:noFill/>
            <a:ln w="9525">
              <a:solidFill>
                <a:srgbClr val="7A716B"/>
              </a:solidFill>
              <a:prstDash val="sysDot"/>
            </a:ln>
          </p:spPr>
        </p:sp>
        <p:sp>
          <p:nvSpPr>
            <p:cNvPr id="211" name="Line 211"/>
            <p:cNvSpPr/>
            <p:nvPr/>
          </p:nvSpPr>
          <p:spPr>
            <a:xfrm>
              <a:off x="9944100" y="1239202"/>
              <a:ext cx="190500" cy="9525"/>
            </a:xfrm>
            <a:custGeom>
              <a:avLst/>
              <a:gdLst/>
              <a:ahLst/>
              <a:cxnLst/>
              <a:rect l="l" t="t" r="r" b="b"/>
              <a:pathLst>
                <a:path w="190500" h="9525">
                  <a:moveTo>
                    <a:pt x="0" y="0"/>
                  </a:moveTo>
                  <a:lnTo>
                    <a:pt x="190500" y="0"/>
                  </a:lnTo>
                </a:path>
              </a:pathLst>
            </a:custGeom>
            <a:noFill/>
            <a:ln w="9525">
              <a:solidFill>
                <a:srgbClr val="7A716B"/>
              </a:solidFill>
              <a:prstDash val="sysDot"/>
            </a:ln>
          </p:spPr>
        </p:sp>
        <p:sp>
          <p:nvSpPr>
            <p:cNvPr id="212" name="Line 212"/>
            <p:cNvSpPr/>
            <p:nvPr/>
          </p:nvSpPr>
          <p:spPr>
            <a:xfrm>
              <a:off x="10610850" y="1408748"/>
              <a:ext cx="190500" cy="9525"/>
            </a:xfrm>
            <a:custGeom>
              <a:avLst/>
              <a:gdLst/>
              <a:ahLst/>
              <a:cxnLst/>
              <a:rect l="l" t="t" r="r" b="b"/>
              <a:pathLst>
                <a:path w="190500" h="9525">
                  <a:moveTo>
                    <a:pt x="0" y="0"/>
                  </a:moveTo>
                  <a:lnTo>
                    <a:pt x="190500" y="0"/>
                  </a:lnTo>
                </a:path>
              </a:pathLst>
            </a:custGeom>
            <a:noFill/>
            <a:ln w="9525">
              <a:solidFill>
                <a:srgbClr val="7A716B"/>
              </a:solidFill>
              <a:prstDash val="sysDot"/>
            </a:ln>
          </p:spPr>
        </p:sp>
        <p:sp>
          <p:nvSpPr>
            <p:cNvPr id="213" name="Line 213"/>
            <p:cNvSpPr/>
            <p:nvPr/>
          </p:nvSpPr>
          <p:spPr>
            <a:xfrm>
              <a:off x="7391400" y="2190750"/>
              <a:ext cx="4038600" cy="9525"/>
            </a:xfrm>
            <a:custGeom>
              <a:avLst/>
              <a:gdLst/>
              <a:ahLst/>
              <a:cxnLst/>
              <a:rect l="l" t="t" r="r" b="b"/>
              <a:pathLst>
                <a:path w="4038600" h="9525">
                  <a:moveTo>
                    <a:pt x="0" y="0"/>
                  </a:moveTo>
                  <a:lnTo>
                    <a:pt x="4038600" y="0"/>
                  </a:lnTo>
                </a:path>
              </a:pathLst>
            </a:custGeom>
            <a:noFill/>
            <a:ln w="9525">
              <a:solidFill>
                <a:srgbClr val="7A716B"/>
              </a:solidFill>
            </a:ln>
          </p:spPr>
        </p:sp>
        <p:sp>
          <p:nvSpPr>
            <p:cNvPr id="214" name="TextBox 214"/>
            <p:cNvSpPr txBox="1"/>
            <p:nvPr/>
          </p:nvSpPr>
          <p:spPr>
            <a:xfrm>
              <a:off x="7294397" y="2240280"/>
              <a:ext cx="822655"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​​2024.03期初AUM​​</a:t>
              </a:r>
            </a:p>
          </p:txBody>
        </p:sp>
        <p:sp>
          <p:nvSpPr>
            <p:cNvPr id="215" name="TextBox 215"/>
            <p:cNvSpPr txBox="1"/>
            <p:nvPr/>
          </p:nvSpPr>
          <p:spPr>
            <a:xfrm>
              <a:off x="10628147" y="2240280"/>
              <a:ext cx="822655"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​​2025.03期末AUM​​</a:t>
              </a:r>
            </a:p>
          </p:txBody>
        </p:sp>
        <p:sp>
          <p:nvSpPr>
            <p:cNvPr id="216" name="Rectangle 216"/>
            <p:cNvSpPr/>
            <p:nvPr/>
          </p:nvSpPr>
          <p:spPr>
            <a:xfrm>
              <a:off x="7277100" y="2381250"/>
              <a:ext cx="4533900" cy="171450"/>
            </a:xfrm>
            <a:prstGeom prst="rect">
              <a:avLst/>
            </a:prstGeom>
            <a:solidFill>
              <a:srgbClr val="C41D00"/>
            </a:solidFill>
            <a:ln>
              <a:noFill/>
            </a:ln>
          </p:spPr>
        </p:sp>
        <p:sp>
          <p:nvSpPr>
            <p:cNvPr id="217" name="TextBox 217"/>
            <p:cNvSpPr txBox="1"/>
            <p:nvPr/>
          </p:nvSpPr>
          <p:spPr>
            <a:xfrm>
              <a:off x="8022704" y="243220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驱动因素</a:t>
              </a:r>
            </a:p>
          </p:txBody>
        </p:sp>
        <p:sp>
          <p:nvSpPr>
            <p:cNvPr id="218" name="TextBox 218"/>
            <p:cNvSpPr txBox="1"/>
            <p:nvPr/>
          </p:nvSpPr>
          <p:spPr>
            <a:xfrm>
              <a:off x="9478497" y="2432209"/>
              <a:ext cx="664505"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​金额（亿元）​</a:t>
              </a:r>
            </a:p>
          </p:txBody>
        </p:sp>
        <p:sp>
          <p:nvSpPr>
            <p:cNvPr id="219" name="TextBox 219"/>
            <p:cNvSpPr txBox="1"/>
            <p:nvPr/>
          </p:nvSpPr>
          <p:spPr>
            <a:xfrm>
              <a:off x="10710961" y="2432209"/>
              <a:ext cx="866579"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​​占期初AUM比例​​</a:t>
              </a:r>
            </a:p>
          </p:txBody>
        </p:sp>
        <p:sp>
          <p:nvSpPr>
            <p:cNvPr id="220" name="Rectangle 220"/>
            <p:cNvSpPr/>
            <p:nvPr/>
          </p:nvSpPr>
          <p:spPr>
            <a:xfrm>
              <a:off x="7277100" y="2552700"/>
              <a:ext cx="4533900" cy="781050"/>
            </a:xfrm>
            <a:prstGeom prst="rect">
              <a:avLst/>
            </a:prstGeom>
            <a:solidFill>
              <a:srgbClr val="FFFFFF"/>
            </a:solidFill>
            <a:ln w="9525">
              <a:solidFill>
                <a:srgbClr val="F0B8AE"/>
              </a:solidFill>
            </a:ln>
          </p:spPr>
        </p:sp>
        <p:sp>
          <p:nvSpPr>
            <p:cNvPr id="221" name="Rectangle 221"/>
            <p:cNvSpPr/>
            <p:nvPr/>
          </p:nvSpPr>
          <p:spPr>
            <a:xfrm>
              <a:off x="7277100" y="3181350"/>
              <a:ext cx="4533900" cy="152400"/>
            </a:xfrm>
            <a:prstGeom prst="rect">
              <a:avLst/>
            </a:prstGeom>
            <a:solidFill>
              <a:srgbClr val="FEF2E6"/>
            </a:solidFill>
            <a:ln>
              <a:noFill/>
            </a:ln>
          </p:spPr>
        </p:sp>
        <p:sp>
          <p:nvSpPr>
            <p:cNvPr id="222" name="TextBox 222"/>
            <p:cNvSpPr txBox="1"/>
            <p:nvPr/>
          </p:nvSpPr>
          <p:spPr>
            <a:xfrm>
              <a:off x="7329488" y="2598182"/>
              <a:ext cx="354152"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市场影响</a:t>
              </a:r>
            </a:p>
          </p:txBody>
        </p:sp>
        <p:sp>
          <p:nvSpPr>
            <p:cNvPr id="223" name="TextBox 223"/>
            <p:cNvSpPr txBox="1"/>
            <p:nvPr/>
          </p:nvSpPr>
          <p:spPr>
            <a:xfrm>
              <a:off x="9616443" y="2598182"/>
              <a:ext cx="388615"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​+1,236​</a:t>
              </a:r>
            </a:p>
          </p:txBody>
        </p:sp>
        <p:sp>
          <p:nvSpPr>
            <p:cNvPr id="224" name="TextBox 224"/>
            <p:cNvSpPr txBox="1"/>
            <p:nvPr/>
          </p:nvSpPr>
          <p:spPr>
            <a:xfrm>
              <a:off x="10941327" y="2598182"/>
              <a:ext cx="405846"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​+14.7%​</a:t>
              </a:r>
            </a:p>
          </p:txBody>
        </p:sp>
        <p:sp>
          <p:nvSpPr>
            <p:cNvPr id="225" name="TextBox 225"/>
            <p:cNvSpPr txBox="1"/>
            <p:nvPr/>
          </p:nvSpPr>
          <p:spPr>
            <a:xfrm>
              <a:off x="7329488" y="2750582"/>
              <a:ext cx="267995"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净流入</a:t>
              </a:r>
            </a:p>
          </p:txBody>
        </p:sp>
        <p:sp>
          <p:nvSpPr>
            <p:cNvPr id="226" name="TextBox 226"/>
            <p:cNvSpPr txBox="1"/>
            <p:nvPr/>
          </p:nvSpPr>
          <p:spPr>
            <a:xfrm>
              <a:off x="9616443" y="2750582"/>
              <a:ext cx="388615"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​+1,512​</a:t>
              </a:r>
            </a:p>
          </p:txBody>
        </p:sp>
        <p:sp>
          <p:nvSpPr>
            <p:cNvPr id="227" name="TextBox 227"/>
            <p:cNvSpPr txBox="1"/>
            <p:nvPr/>
          </p:nvSpPr>
          <p:spPr>
            <a:xfrm>
              <a:off x="10941327" y="2750582"/>
              <a:ext cx="405846"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​+18.0%​</a:t>
              </a:r>
            </a:p>
          </p:txBody>
        </p:sp>
        <p:sp>
          <p:nvSpPr>
            <p:cNvPr id="228" name="TextBox 228"/>
            <p:cNvSpPr txBox="1"/>
            <p:nvPr/>
          </p:nvSpPr>
          <p:spPr>
            <a:xfrm>
              <a:off x="7329488" y="2902982"/>
              <a:ext cx="918479"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产品迁移（存量优化）​</a:t>
              </a:r>
            </a:p>
          </p:txBody>
        </p:sp>
        <p:sp>
          <p:nvSpPr>
            <p:cNvPr id="229" name="TextBox 229"/>
            <p:cNvSpPr txBox="1"/>
            <p:nvPr/>
          </p:nvSpPr>
          <p:spPr>
            <a:xfrm>
              <a:off x="9663829" y="2902982"/>
              <a:ext cx="293842"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​+328​</a:t>
              </a:r>
            </a:p>
          </p:txBody>
        </p:sp>
        <p:sp>
          <p:nvSpPr>
            <p:cNvPr id="230" name="TextBox 230"/>
            <p:cNvSpPr txBox="1"/>
            <p:nvPr/>
          </p:nvSpPr>
          <p:spPr>
            <a:xfrm>
              <a:off x="10965020" y="2902982"/>
              <a:ext cx="358460"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​+3.9%​</a:t>
              </a:r>
            </a:p>
          </p:txBody>
        </p:sp>
        <p:sp>
          <p:nvSpPr>
            <p:cNvPr id="231" name="TextBox 231"/>
            <p:cNvSpPr txBox="1"/>
            <p:nvPr/>
          </p:nvSpPr>
          <p:spPr>
            <a:xfrm>
              <a:off x="7329488" y="3055382"/>
              <a:ext cx="1013252" cy="126206"/>
            </a:xfrm>
            <a:prstGeom prst="rect">
              <a:avLst/>
            </a:prstGeom>
            <a:noFill/>
            <a:ln>
              <a:noFill/>
            </a:ln>
          </p:spPr>
          <p:txBody>
            <a:bodyPr wrap="none" lIns="0" tIns="0" rIns="0" bIns="0" anchor="t" anchorCtr="0">
              <a:spAutoFit/>
            </a:bodyPr>
            <a:lstStyle/>
            <a:p>
              <a:pPr algn="l"/>
              <a:r>
                <a:rPr lang="zh-CN" sz="640" dirty="0">
                  <a:solidFill>
                    <a:srgbClr val="3D3835"/>
                  </a:solidFill>
                  <a:latin typeface="+mn-lt"/>
                  <a:ea typeface="+mn-ea"/>
                  <a:cs typeface="+mn-cs"/>
                </a:rPr>
                <a:t>流失冲减（赎回/流失）​​</a:t>
              </a:r>
            </a:p>
          </p:txBody>
        </p:sp>
        <p:sp>
          <p:nvSpPr>
            <p:cNvPr id="232" name="TextBox 232"/>
            <p:cNvSpPr txBox="1"/>
            <p:nvPr/>
          </p:nvSpPr>
          <p:spPr>
            <a:xfrm>
              <a:off x="9663829" y="3055382"/>
              <a:ext cx="293842"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​-742​</a:t>
              </a:r>
            </a:p>
          </p:txBody>
        </p:sp>
        <p:sp>
          <p:nvSpPr>
            <p:cNvPr id="233" name="TextBox 233"/>
            <p:cNvSpPr txBox="1"/>
            <p:nvPr/>
          </p:nvSpPr>
          <p:spPr>
            <a:xfrm>
              <a:off x="10965020" y="3055382"/>
              <a:ext cx="358460"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​-8.8%​</a:t>
              </a:r>
            </a:p>
          </p:txBody>
        </p:sp>
        <p:sp>
          <p:nvSpPr>
            <p:cNvPr id="234" name="TextBox 234"/>
            <p:cNvSpPr txBox="1"/>
            <p:nvPr/>
          </p:nvSpPr>
          <p:spPr>
            <a:xfrm>
              <a:off x="7329488" y="3217307"/>
              <a:ext cx="354152" cy="126206"/>
            </a:xfrm>
            <a:prstGeom prst="rect">
              <a:avLst/>
            </a:prstGeom>
            <a:noFill/>
            <a:ln>
              <a:noFill/>
            </a:ln>
          </p:spPr>
          <p:txBody>
            <a:bodyPr wrap="none" lIns="0" tIns="0" rIns="0" bIns="0" anchor="t" anchorCtr="0">
              <a:spAutoFit/>
            </a:bodyPr>
            <a:lstStyle/>
            <a:p>
              <a:pPr algn="l"/>
              <a:r>
                <a:rPr lang="zh-CN" sz="640" b="1" dirty="0">
                  <a:solidFill>
                    <a:srgbClr val="4A130A"/>
                  </a:solidFill>
                  <a:latin typeface="+mn-lt"/>
                  <a:ea typeface="+mn-ea"/>
                  <a:cs typeface="+mn-cs"/>
                </a:rPr>
                <a:t>合计净增</a:t>
              </a:r>
            </a:p>
          </p:txBody>
        </p:sp>
        <p:sp>
          <p:nvSpPr>
            <p:cNvPr id="235" name="TextBox 235"/>
            <p:cNvSpPr txBox="1"/>
            <p:nvPr/>
          </p:nvSpPr>
          <p:spPr>
            <a:xfrm>
              <a:off x="9606965" y="3217307"/>
              <a:ext cx="407569" cy="126206"/>
            </a:xfrm>
            <a:prstGeom prst="rect">
              <a:avLst/>
            </a:prstGeom>
            <a:noFill/>
            <a:ln>
              <a:noFill/>
            </a:ln>
          </p:spPr>
          <p:txBody>
            <a:bodyPr wrap="none" lIns="0" tIns="0" rIns="0" bIns="0" anchor="t" anchorCtr="0">
              <a:spAutoFit/>
            </a:bodyPr>
            <a:lstStyle/>
            <a:p>
              <a:pPr algn="ctr"/>
              <a:r>
                <a:rPr lang="zh-CN" sz="640" b="1" dirty="0">
                  <a:solidFill>
                    <a:srgbClr val="C41D00"/>
                  </a:solidFill>
                  <a:latin typeface="+mn-lt"/>
                  <a:ea typeface="+mn-ea"/>
                  <a:cs typeface="+mn-cs"/>
                </a:rPr>
                <a:t>​+2,334​</a:t>
              </a:r>
            </a:p>
          </p:txBody>
        </p:sp>
        <p:sp>
          <p:nvSpPr>
            <p:cNvPr id="236" name="TextBox 236"/>
            <p:cNvSpPr txBox="1"/>
            <p:nvPr/>
          </p:nvSpPr>
          <p:spPr>
            <a:xfrm>
              <a:off x="10931419" y="3217307"/>
              <a:ext cx="425662" cy="126206"/>
            </a:xfrm>
            <a:prstGeom prst="rect">
              <a:avLst/>
            </a:prstGeom>
            <a:noFill/>
            <a:ln>
              <a:noFill/>
            </a:ln>
          </p:spPr>
          <p:txBody>
            <a:bodyPr wrap="none" lIns="0" tIns="0" rIns="0" bIns="0" anchor="t" anchorCtr="0">
              <a:spAutoFit/>
            </a:bodyPr>
            <a:lstStyle/>
            <a:p>
              <a:pPr algn="ctr"/>
              <a:r>
                <a:rPr lang="zh-CN" sz="640" b="1" dirty="0">
                  <a:solidFill>
                    <a:srgbClr val="C41D00"/>
                  </a:solidFill>
                  <a:latin typeface="+mn-lt"/>
                  <a:ea typeface="+mn-ea"/>
                  <a:cs typeface="+mn-cs"/>
                </a:rPr>
                <a:t>​+27.7%​</a:t>
              </a:r>
            </a:p>
          </p:txBody>
        </p:sp>
        <p:sp>
          <p:nvSpPr>
            <p:cNvPr id="237" name="Line 237"/>
            <p:cNvSpPr/>
            <p:nvPr/>
          </p:nvSpPr>
          <p:spPr>
            <a:xfrm>
              <a:off x="9144000" y="2381250"/>
              <a:ext cx="9525" cy="952500"/>
            </a:xfrm>
            <a:custGeom>
              <a:avLst/>
              <a:gdLst/>
              <a:ahLst/>
              <a:cxnLst/>
              <a:rect l="l" t="t" r="r" b="b"/>
              <a:pathLst>
                <a:path w="9525" h="952500">
                  <a:moveTo>
                    <a:pt x="0" y="0"/>
                  </a:moveTo>
                  <a:lnTo>
                    <a:pt x="0" y="952500"/>
                  </a:lnTo>
                </a:path>
              </a:pathLst>
            </a:custGeom>
            <a:noFill/>
            <a:ln w="9525">
              <a:solidFill>
                <a:srgbClr val="EADBCE"/>
              </a:solidFill>
            </a:ln>
          </p:spPr>
        </p:sp>
        <p:sp>
          <p:nvSpPr>
            <p:cNvPr id="238" name="Line 238"/>
            <p:cNvSpPr/>
            <p:nvPr/>
          </p:nvSpPr>
          <p:spPr>
            <a:xfrm>
              <a:off x="10477500" y="2381250"/>
              <a:ext cx="9525" cy="952500"/>
            </a:xfrm>
            <a:custGeom>
              <a:avLst/>
              <a:gdLst/>
              <a:ahLst/>
              <a:cxnLst/>
              <a:rect l="l" t="t" r="r" b="b"/>
              <a:pathLst>
                <a:path w="9525" h="952500">
                  <a:moveTo>
                    <a:pt x="0" y="0"/>
                  </a:moveTo>
                  <a:lnTo>
                    <a:pt x="0" y="952500"/>
                  </a:lnTo>
                </a:path>
              </a:pathLst>
            </a:custGeom>
            <a:noFill/>
            <a:ln w="9525">
              <a:solidFill>
                <a:srgbClr val="EADBCE"/>
              </a:solidFill>
            </a:ln>
          </p:spPr>
        </p:sp>
        <p:sp>
          <p:nvSpPr>
            <p:cNvPr id="239" name="Line 239"/>
            <p:cNvSpPr/>
            <p:nvPr/>
          </p:nvSpPr>
          <p:spPr>
            <a:xfrm>
              <a:off x="7277100" y="2705100"/>
              <a:ext cx="4533900" cy="9525"/>
            </a:xfrm>
            <a:custGeom>
              <a:avLst/>
              <a:gdLst/>
              <a:ahLst/>
              <a:cxnLst/>
              <a:rect l="l" t="t" r="r" b="b"/>
              <a:pathLst>
                <a:path w="4533900" h="9525">
                  <a:moveTo>
                    <a:pt x="0" y="0"/>
                  </a:moveTo>
                  <a:lnTo>
                    <a:pt x="4533900" y="0"/>
                  </a:lnTo>
                </a:path>
              </a:pathLst>
            </a:custGeom>
            <a:noFill/>
            <a:ln w="9525">
              <a:solidFill>
                <a:srgbClr val="EADBCE"/>
              </a:solidFill>
            </a:ln>
          </p:spPr>
        </p:sp>
        <p:sp>
          <p:nvSpPr>
            <p:cNvPr id="240" name="Line 240"/>
            <p:cNvSpPr/>
            <p:nvPr/>
          </p:nvSpPr>
          <p:spPr>
            <a:xfrm>
              <a:off x="7277100" y="2857500"/>
              <a:ext cx="4533900" cy="9525"/>
            </a:xfrm>
            <a:custGeom>
              <a:avLst/>
              <a:gdLst/>
              <a:ahLst/>
              <a:cxnLst/>
              <a:rect l="l" t="t" r="r" b="b"/>
              <a:pathLst>
                <a:path w="4533900" h="9525">
                  <a:moveTo>
                    <a:pt x="0" y="0"/>
                  </a:moveTo>
                  <a:lnTo>
                    <a:pt x="4533900" y="0"/>
                  </a:lnTo>
                </a:path>
              </a:pathLst>
            </a:custGeom>
            <a:noFill/>
            <a:ln w="9525">
              <a:solidFill>
                <a:srgbClr val="EADBCE"/>
              </a:solidFill>
            </a:ln>
          </p:spPr>
        </p:sp>
        <p:sp>
          <p:nvSpPr>
            <p:cNvPr id="241" name="Line 241"/>
            <p:cNvSpPr/>
            <p:nvPr/>
          </p:nvSpPr>
          <p:spPr>
            <a:xfrm>
              <a:off x="7277100" y="3009900"/>
              <a:ext cx="4533900" cy="9525"/>
            </a:xfrm>
            <a:custGeom>
              <a:avLst/>
              <a:gdLst/>
              <a:ahLst/>
              <a:cxnLst/>
              <a:rect l="l" t="t" r="r" b="b"/>
              <a:pathLst>
                <a:path w="4533900" h="9525">
                  <a:moveTo>
                    <a:pt x="0" y="0"/>
                  </a:moveTo>
                  <a:lnTo>
                    <a:pt x="4533900" y="0"/>
                  </a:lnTo>
                </a:path>
              </a:pathLst>
            </a:custGeom>
            <a:noFill/>
            <a:ln w="9525">
              <a:solidFill>
                <a:srgbClr val="EADBCE"/>
              </a:solidFill>
            </a:ln>
          </p:spPr>
        </p:sp>
        <p:sp>
          <p:nvSpPr>
            <p:cNvPr id="242" name="Line 242"/>
            <p:cNvSpPr/>
            <p:nvPr/>
          </p:nvSpPr>
          <p:spPr>
            <a:xfrm>
              <a:off x="7277100" y="3181350"/>
              <a:ext cx="4533900" cy="9525"/>
            </a:xfrm>
            <a:custGeom>
              <a:avLst/>
              <a:gdLst/>
              <a:ahLst/>
              <a:cxnLst/>
              <a:rect l="l" t="t" r="r" b="b"/>
              <a:pathLst>
                <a:path w="4533900" h="9525">
                  <a:moveTo>
                    <a:pt x="0" y="0"/>
                  </a:moveTo>
                  <a:lnTo>
                    <a:pt x="4533900" y="0"/>
                  </a:lnTo>
                </a:path>
              </a:pathLst>
            </a:custGeom>
            <a:noFill/>
            <a:ln w="9525">
              <a:solidFill>
                <a:srgbClr val="EADBCE"/>
              </a:solidFill>
            </a:ln>
          </p:spPr>
        </p:sp>
      </p:grpSp>
      <p:grpSp>
        <p:nvGrpSpPr>
          <p:cNvPr id="337" name="tier-strategy"/>
          <p:cNvGrpSpPr/>
          <p:nvPr/>
        </p:nvGrpSpPr>
        <p:grpSpPr>
          <a:xfrm>
            <a:off x="342900" y="3448050"/>
            <a:ext cx="11468100" cy="3219450"/>
            <a:chOff x="342900" y="3448050"/>
            <a:chExt cx="11468100" cy="3219450"/>
          </a:xfrm>
        </p:grpSpPr>
        <p:sp>
          <p:nvSpPr>
            <p:cNvPr id="244" name="Rectangle 244"/>
            <p:cNvSpPr/>
            <p:nvPr/>
          </p:nvSpPr>
          <p:spPr>
            <a:xfrm>
              <a:off x="342900" y="3448050"/>
              <a:ext cx="11468100" cy="228600"/>
            </a:xfrm>
            <a:prstGeom prst="roundRect">
              <a:avLst>
                <a:gd name="adj" fmla="val 12500"/>
              </a:avLst>
            </a:prstGeom>
            <a:solidFill>
              <a:srgbClr val="C41D00"/>
            </a:solidFill>
            <a:ln>
              <a:noFill/>
            </a:ln>
          </p:spPr>
        </p:sp>
        <p:sp>
          <p:nvSpPr>
            <p:cNvPr id="245" name="TextBox 245"/>
            <p:cNvSpPr txBox="1"/>
            <p:nvPr/>
          </p:nvSpPr>
          <p:spPr>
            <a:xfrm>
              <a:off x="5032955" y="3512820"/>
              <a:ext cx="208799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​产品适配与触达策略（按客户分层）​</a:t>
              </a:r>
            </a:p>
          </p:txBody>
        </p:sp>
        <p:sp>
          <p:nvSpPr>
            <p:cNvPr id="246" name="Rectangle 246"/>
            <p:cNvSpPr/>
            <p:nvPr/>
          </p:nvSpPr>
          <p:spPr>
            <a:xfrm>
              <a:off x="342900" y="3714750"/>
              <a:ext cx="11468100" cy="190500"/>
            </a:xfrm>
            <a:prstGeom prst="rect">
              <a:avLst/>
            </a:prstGeom>
            <a:solidFill>
              <a:srgbClr val="C41D00"/>
            </a:solidFill>
            <a:ln>
              <a:noFill/>
            </a:ln>
          </p:spPr>
        </p:sp>
        <p:sp>
          <p:nvSpPr>
            <p:cNvPr id="247" name="TextBox 247"/>
            <p:cNvSpPr txBox="1"/>
            <p:nvPr/>
          </p:nvSpPr>
          <p:spPr>
            <a:xfrm>
              <a:off x="697979" y="37752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客户分层</a:t>
              </a:r>
            </a:p>
          </p:txBody>
        </p:sp>
        <p:sp>
          <p:nvSpPr>
            <p:cNvPr id="248" name="TextBox 248"/>
            <p:cNvSpPr txBox="1"/>
            <p:nvPr/>
          </p:nvSpPr>
          <p:spPr>
            <a:xfrm>
              <a:off x="1241972" y="3775234"/>
              <a:ext cx="964105"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​​AUM区间（万元）​​</a:t>
              </a:r>
            </a:p>
          </p:txBody>
        </p:sp>
        <p:sp>
          <p:nvSpPr>
            <p:cNvPr id="249" name="TextBox 249"/>
            <p:cNvSpPr txBox="1"/>
            <p:nvPr/>
          </p:nvSpPr>
          <p:spPr>
            <a:xfrm>
              <a:off x="2393429" y="37752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主要特征</a:t>
              </a:r>
            </a:p>
          </p:txBody>
        </p:sp>
        <p:sp>
          <p:nvSpPr>
            <p:cNvPr id="250" name="TextBox 250"/>
            <p:cNvSpPr txBox="1"/>
            <p:nvPr/>
          </p:nvSpPr>
          <p:spPr>
            <a:xfrm>
              <a:off x="3517379" y="37752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配置目标</a:t>
              </a:r>
            </a:p>
          </p:txBody>
        </p:sp>
        <p:sp>
          <p:nvSpPr>
            <p:cNvPr id="251" name="TextBox 251"/>
            <p:cNvSpPr txBox="1"/>
            <p:nvPr/>
          </p:nvSpPr>
          <p:spPr>
            <a:xfrm>
              <a:off x="4380514" y="3775234"/>
              <a:ext cx="1030672"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​核心配置建议（大类）​</a:t>
              </a:r>
            </a:p>
          </p:txBody>
        </p:sp>
        <p:sp>
          <p:nvSpPr>
            <p:cNvPr id="252" name="TextBox 252"/>
            <p:cNvSpPr txBox="1"/>
            <p:nvPr/>
          </p:nvSpPr>
          <p:spPr>
            <a:xfrm>
              <a:off x="5938940" y="3775234"/>
              <a:ext cx="126662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​适配产品/解决方案（示例）​</a:t>
              </a:r>
            </a:p>
          </p:txBody>
        </p:sp>
        <p:sp>
          <p:nvSpPr>
            <p:cNvPr id="253" name="TextBox 253"/>
            <p:cNvSpPr txBox="1"/>
            <p:nvPr/>
          </p:nvSpPr>
          <p:spPr>
            <a:xfrm>
              <a:off x="8194154" y="37752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触达策略</a:t>
              </a:r>
            </a:p>
          </p:txBody>
        </p:sp>
        <p:sp>
          <p:nvSpPr>
            <p:cNvPr id="254" name="TextBox 254"/>
            <p:cNvSpPr txBox="1"/>
            <p:nvPr/>
          </p:nvSpPr>
          <p:spPr>
            <a:xfrm>
              <a:off x="9289529" y="37752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服务频次</a:t>
              </a:r>
            </a:p>
          </p:txBody>
        </p:sp>
        <p:sp>
          <p:nvSpPr>
            <p:cNvPr id="255" name="TextBox 255"/>
            <p:cNvSpPr txBox="1"/>
            <p:nvPr/>
          </p:nvSpPr>
          <p:spPr>
            <a:xfrm>
              <a:off x="10534756" y="3775234"/>
              <a:ext cx="55223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​​关键KPI​​</a:t>
              </a:r>
            </a:p>
          </p:txBody>
        </p:sp>
        <p:sp>
          <p:nvSpPr>
            <p:cNvPr id="256" name="Rectangle 256"/>
            <p:cNvSpPr/>
            <p:nvPr/>
          </p:nvSpPr>
          <p:spPr>
            <a:xfrm>
              <a:off x="342900" y="3905250"/>
              <a:ext cx="11468100" cy="2762250"/>
            </a:xfrm>
            <a:prstGeom prst="rect">
              <a:avLst/>
            </a:prstGeom>
            <a:solidFill>
              <a:srgbClr val="FFFFFF"/>
            </a:solidFill>
            <a:ln w="9525">
              <a:solidFill>
                <a:srgbClr val="F0B8AE"/>
              </a:solidFill>
            </a:ln>
          </p:spPr>
        </p:sp>
        <p:sp>
          <p:nvSpPr>
            <p:cNvPr id="257" name="Rectangle 257"/>
            <p:cNvSpPr/>
            <p:nvPr/>
          </p:nvSpPr>
          <p:spPr>
            <a:xfrm>
              <a:off x="342900" y="4457700"/>
              <a:ext cx="11468100" cy="552450"/>
            </a:xfrm>
            <a:prstGeom prst="rect">
              <a:avLst/>
            </a:prstGeom>
            <a:solidFill>
              <a:srgbClr val="FFF8F2"/>
            </a:solidFill>
            <a:ln>
              <a:noFill/>
            </a:ln>
          </p:spPr>
        </p:sp>
        <p:sp>
          <p:nvSpPr>
            <p:cNvPr id="258" name="Rectangle 258"/>
            <p:cNvSpPr/>
            <p:nvPr/>
          </p:nvSpPr>
          <p:spPr>
            <a:xfrm>
              <a:off x="342900" y="5562600"/>
              <a:ext cx="11468100" cy="552450"/>
            </a:xfrm>
            <a:prstGeom prst="rect">
              <a:avLst/>
            </a:prstGeom>
            <a:solidFill>
              <a:srgbClr val="FFF8F2"/>
            </a:solidFill>
            <a:ln>
              <a:noFill/>
            </a:ln>
          </p:spPr>
        </p:sp>
        <p:sp>
          <p:nvSpPr>
            <p:cNvPr id="259" name="Rectangle 259"/>
            <p:cNvSpPr/>
            <p:nvPr/>
          </p:nvSpPr>
          <p:spPr>
            <a:xfrm>
              <a:off x="342900" y="3905250"/>
              <a:ext cx="1085850" cy="552450"/>
            </a:xfrm>
            <a:prstGeom prst="rect">
              <a:avLst/>
            </a:prstGeom>
            <a:solidFill>
              <a:srgbClr val="C41D00"/>
            </a:solidFill>
            <a:ln>
              <a:noFill/>
            </a:ln>
          </p:spPr>
        </p:sp>
        <p:sp>
          <p:nvSpPr>
            <p:cNvPr id="260" name="Rectangle 260"/>
            <p:cNvSpPr/>
            <p:nvPr/>
          </p:nvSpPr>
          <p:spPr>
            <a:xfrm>
              <a:off x="342900" y="4457700"/>
              <a:ext cx="1085850" cy="552450"/>
            </a:xfrm>
            <a:prstGeom prst="rect">
              <a:avLst/>
            </a:prstGeom>
            <a:solidFill>
              <a:srgbClr val="D82000"/>
            </a:solidFill>
            <a:ln>
              <a:noFill/>
            </a:ln>
          </p:spPr>
        </p:sp>
        <p:sp>
          <p:nvSpPr>
            <p:cNvPr id="261" name="Rectangle 261"/>
            <p:cNvSpPr/>
            <p:nvPr/>
          </p:nvSpPr>
          <p:spPr>
            <a:xfrm>
              <a:off x="342900" y="5010150"/>
              <a:ext cx="1085850" cy="552450"/>
            </a:xfrm>
            <a:prstGeom prst="rect">
              <a:avLst/>
            </a:prstGeom>
            <a:solidFill>
              <a:srgbClr val="EE492C"/>
            </a:solidFill>
            <a:ln>
              <a:noFill/>
            </a:ln>
          </p:spPr>
        </p:sp>
        <p:sp>
          <p:nvSpPr>
            <p:cNvPr id="262" name="Rectangle 262"/>
            <p:cNvSpPr/>
            <p:nvPr/>
          </p:nvSpPr>
          <p:spPr>
            <a:xfrm>
              <a:off x="342900" y="5562600"/>
              <a:ext cx="1085850" cy="552450"/>
            </a:xfrm>
            <a:prstGeom prst="rect">
              <a:avLst/>
            </a:prstGeom>
            <a:solidFill>
              <a:srgbClr val="F57E6A"/>
            </a:solidFill>
            <a:ln>
              <a:noFill/>
            </a:ln>
          </p:spPr>
        </p:sp>
        <p:sp>
          <p:nvSpPr>
            <p:cNvPr id="263" name="Rectangle 263"/>
            <p:cNvSpPr/>
            <p:nvPr/>
          </p:nvSpPr>
          <p:spPr>
            <a:xfrm>
              <a:off x="342900" y="6115050"/>
              <a:ext cx="1085850" cy="552450"/>
            </a:xfrm>
            <a:prstGeom prst="rect">
              <a:avLst/>
            </a:prstGeom>
            <a:solidFill>
              <a:srgbClr val="FBBFB5"/>
            </a:solidFill>
            <a:ln>
              <a:noFill/>
            </a:ln>
          </p:spPr>
        </p:sp>
        <p:sp>
          <p:nvSpPr>
            <p:cNvPr id="264" name="Freeform 264"/>
            <p:cNvSpPr/>
            <p:nvPr/>
          </p:nvSpPr>
          <p:spPr>
            <a:xfrm>
              <a:off x="442912" y="4133850"/>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FFFFFF"/>
              </a:solidFill>
            </a:ln>
          </p:spPr>
        </p:sp>
        <p:sp>
          <p:nvSpPr>
            <p:cNvPr id="265" name="TextBox 265"/>
            <p:cNvSpPr txBox="1"/>
            <p:nvPr/>
          </p:nvSpPr>
          <p:spPr>
            <a:xfrm>
              <a:off x="661988" y="4075986"/>
              <a:ext cx="419989" cy="264319"/>
            </a:xfrm>
            <a:prstGeom prst="rect">
              <a:avLst/>
            </a:prstGeom>
            <a:noFill/>
            <a:ln>
              <a:noFill/>
            </a:ln>
          </p:spPr>
          <p:txBody>
            <a:bodyPr wrap="none" lIns="0" tIns="0" rIns="0" bIns="0" anchor="t" anchorCtr="0">
              <a:spAutoFit/>
            </a:bodyPr>
            <a:lstStyle/>
            <a:p>
              <a:pPr algn="l">
                <a:lnSpc>
                  <a:spcPts val="975"/>
                </a:lnSpc>
              </a:pPr>
              <a:r>
                <a:rPr lang="zh-CN" sz="710" b="1" dirty="0">
                  <a:solidFill>
                    <a:srgbClr val="FFFFFF"/>
                  </a:solidFill>
                  <a:latin typeface="+mn-lt"/>
                  <a:ea typeface="+mn-ea"/>
                  <a:cs typeface="+mn-cs"/>
                </a:rPr>
                <a:t>私钻客户</a:t>
              </a:r>
            </a:p>
            <a:p>
              <a:pPr algn="l">
                <a:lnSpc>
                  <a:spcPts val="975"/>
                </a:lnSpc>
              </a:pPr>
              <a:r>
                <a:rPr lang="zh-CN" sz="640" dirty="0">
                  <a:solidFill>
                    <a:srgbClr val="FFFFFF"/>
                  </a:solidFill>
                  <a:latin typeface="+mn-lt"/>
                  <a:ea typeface="+mn-ea"/>
                  <a:cs typeface="+mn-cs"/>
                </a:rPr>
                <a:t>（VIP）​​​</a:t>
              </a:r>
            </a:p>
          </p:txBody>
        </p:sp>
        <p:sp>
          <p:nvSpPr>
            <p:cNvPr id="266" name="TextBox 266"/>
            <p:cNvSpPr txBox="1"/>
            <p:nvPr/>
          </p:nvSpPr>
          <p:spPr>
            <a:xfrm>
              <a:off x="1498472" y="4142661"/>
              <a:ext cx="451106"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​≥1,000​</a:t>
              </a:r>
            </a:p>
          </p:txBody>
        </p:sp>
        <p:sp>
          <p:nvSpPr>
            <p:cNvPr id="267" name="TextBox 267"/>
            <p:cNvSpPr txBox="1"/>
            <p:nvPr/>
          </p:nvSpPr>
          <p:spPr>
            <a:xfrm>
              <a:off x="2247328" y="4074557"/>
              <a:ext cx="66789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高净值、</a:t>
              </a:r>
              <a:br/>
              <a:r>
                <a:rPr lang="zh-CN" sz="640" dirty="0">
                  <a:solidFill>
                    <a:srgbClr val="3D3835"/>
                  </a:solidFill>
                  <a:latin typeface="+mn-lt"/>
                  <a:ea typeface="+mn-ea"/>
                  <a:cs typeface="+mn-cs"/>
                </a:rPr>
                <a:t>​重视传承与定制​</a:t>
              </a:r>
            </a:p>
          </p:txBody>
        </p:sp>
        <p:sp>
          <p:nvSpPr>
            <p:cNvPr id="268" name="TextBox 268"/>
            <p:cNvSpPr txBox="1"/>
            <p:nvPr/>
          </p:nvSpPr>
          <p:spPr>
            <a:xfrm>
              <a:off x="3289998" y="4074557"/>
              <a:ext cx="83045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​财富保值增值、​</a:t>
              </a:r>
              <a:br/>
              <a:r>
                <a:rPr lang="zh-CN" sz="640" dirty="0">
                  <a:solidFill>
                    <a:srgbClr val="3D3835"/>
                  </a:solidFill>
                  <a:latin typeface="+mn-lt"/>
                  <a:ea typeface="+mn-ea"/>
                  <a:cs typeface="+mn-cs"/>
                </a:rPr>
                <a:t>​家族保全与服务优化​</a:t>
              </a:r>
            </a:p>
          </p:txBody>
        </p:sp>
        <p:sp>
          <p:nvSpPr>
            <p:cNvPr id="269" name="TextBox 269"/>
            <p:cNvSpPr txBox="1"/>
            <p:nvPr/>
          </p:nvSpPr>
          <p:spPr>
            <a:xfrm>
              <a:off x="4444048" y="4074557"/>
              <a:ext cx="90360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​​权益40%/固收30%/​​</a:t>
              </a:r>
              <a:br/>
              <a:r>
                <a:rPr lang="zh-CN" sz="640" dirty="0">
                  <a:solidFill>
                    <a:srgbClr val="3D3835"/>
                  </a:solidFill>
                  <a:latin typeface="+mn-lt"/>
                  <a:ea typeface="+mn-ea"/>
                  <a:cs typeface="+mn-cs"/>
                </a:rPr>
                <a:t>​​商品10%等​​</a:t>
              </a:r>
            </a:p>
          </p:txBody>
        </p:sp>
        <p:sp>
          <p:nvSpPr>
            <p:cNvPr id="270" name="TextBox 270"/>
            <p:cNvSpPr txBox="1"/>
            <p:nvPr/>
          </p:nvSpPr>
          <p:spPr>
            <a:xfrm>
              <a:off x="5974144" y="4074557"/>
              <a:ext cx="119621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​​家族信托、私募股权/FOF、​​</a:t>
              </a:r>
              <a:br/>
              <a:r>
                <a:rPr lang="zh-CN" sz="640" dirty="0">
                  <a:solidFill>
                    <a:srgbClr val="3D3835"/>
                  </a:solidFill>
                  <a:latin typeface="+mn-lt"/>
                  <a:ea typeface="+mn-ea"/>
                  <a:cs typeface="+mn-cs"/>
                </a:rPr>
                <a:t>全球定制</a:t>
              </a:r>
            </a:p>
          </p:txBody>
        </p:sp>
        <p:sp>
          <p:nvSpPr>
            <p:cNvPr id="271" name="TextBox 271"/>
            <p:cNvSpPr txBox="1"/>
            <p:nvPr/>
          </p:nvSpPr>
          <p:spPr>
            <a:xfrm>
              <a:off x="7926134" y="4074557"/>
              <a:ext cx="91173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​​专属团队1对1、​​</a:t>
              </a:r>
              <a:br/>
              <a:r>
                <a:rPr lang="zh-CN" sz="640" dirty="0">
                  <a:solidFill>
                    <a:srgbClr val="3D3835"/>
                  </a:solidFill>
                  <a:latin typeface="+mn-lt"/>
                  <a:ea typeface="+mn-ea"/>
                  <a:cs typeface="+mn-cs"/>
                </a:rPr>
                <a:t>​定制化方案与深度陪伴​</a:t>
              </a:r>
            </a:p>
          </p:txBody>
        </p:sp>
        <p:sp>
          <p:nvSpPr>
            <p:cNvPr id="272" name="TextBox 272"/>
            <p:cNvSpPr txBox="1"/>
            <p:nvPr/>
          </p:nvSpPr>
          <p:spPr>
            <a:xfrm>
              <a:off x="9214007" y="4146709"/>
              <a:ext cx="526735"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​月度+随需​</a:t>
              </a:r>
            </a:p>
          </p:txBody>
        </p:sp>
        <p:sp>
          <p:nvSpPr>
            <p:cNvPr id="273" name="TextBox 273"/>
            <p:cNvSpPr txBox="1"/>
            <p:nvPr/>
          </p:nvSpPr>
          <p:spPr>
            <a:xfrm>
              <a:off x="10314369" y="4074557"/>
              <a:ext cx="99301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​​AUM增量｜留存率​​</a:t>
              </a:r>
              <a:br/>
              <a:r>
                <a:rPr lang="zh-CN" sz="640" dirty="0">
                  <a:solidFill>
                    <a:srgbClr val="3D3835"/>
                  </a:solidFill>
                  <a:latin typeface="+mn-lt"/>
                  <a:ea typeface="+mn-ea"/>
                  <a:cs typeface="+mn-cs"/>
                </a:rPr>
                <a:t>​净资产增量｜综合收益率​</a:t>
              </a:r>
            </a:p>
          </p:txBody>
        </p:sp>
        <p:grpSp>
          <p:nvGrpSpPr>
            <p:cNvPr id="276" name="Group 276"/>
            <p:cNvGrpSpPr/>
            <p:nvPr/>
          </p:nvGrpSpPr>
          <p:grpSpPr>
            <a:xfrm>
              <a:off x="442912" y="4678362"/>
              <a:ext cx="142875" cy="116761"/>
              <a:chOff x="442912" y="4678362"/>
              <a:chExt cx="142875" cy="116761"/>
            </a:xfrm>
          </p:grpSpPr>
          <p:sp>
            <p:nvSpPr>
              <p:cNvPr id="274" name="Freeform 274"/>
              <p:cNvSpPr/>
              <p:nvPr/>
            </p:nvSpPr>
            <p:spPr>
              <a:xfrm>
                <a:off x="442912" y="4678362"/>
                <a:ext cx="142875" cy="116761"/>
              </a:xfrm>
              <a:custGeom>
                <a:avLst/>
                <a:gdLst/>
                <a:ahLst/>
                <a:cxnLst/>
                <a:rect l="l" t="t" r="r" b="b"/>
                <a:pathLst>
                  <a:path w="142875" h="116761">
                    <a:moveTo>
                      <a:pt x="23812" y="0"/>
                    </a:moveTo>
                    <a:lnTo>
                      <a:pt x="119062" y="0"/>
                    </a:lnTo>
                    <a:lnTo>
                      <a:pt x="142875" y="39687"/>
                    </a:lnTo>
                    <a:lnTo>
                      <a:pt x="75406" y="115094"/>
                    </a:lnTo>
                    <a:cubicBezTo>
                      <a:pt x="74361" y="116160"/>
                      <a:pt x="72931" y="116761"/>
                      <a:pt x="71437" y="116761"/>
                    </a:cubicBezTo>
                    <a:cubicBezTo>
                      <a:pt x="69944" y="116761"/>
                      <a:pt x="68514" y="116160"/>
                      <a:pt x="67469" y="115094"/>
                    </a:cubicBezTo>
                    <a:lnTo>
                      <a:pt x="0" y="39687"/>
                    </a:lnTo>
                    <a:lnTo>
                      <a:pt x="23812" y="0"/>
                    </a:lnTo>
                  </a:path>
                </a:pathLst>
              </a:custGeom>
              <a:noFill/>
              <a:ln w="15875">
                <a:solidFill>
                  <a:srgbClr val="FFFFFF"/>
                </a:solidFill>
              </a:ln>
            </p:spPr>
          </p:sp>
          <p:sp>
            <p:nvSpPr>
              <p:cNvPr id="275" name="Freeform 275"/>
              <p:cNvSpPr/>
              <p:nvPr/>
            </p:nvSpPr>
            <p:spPr>
              <a:xfrm>
                <a:off x="482600" y="4708525"/>
                <a:ext cx="15875" cy="25400"/>
              </a:xfrm>
              <a:custGeom>
                <a:avLst/>
                <a:gdLst/>
                <a:ahLst/>
                <a:cxnLst/>
                <a:rect l="l" t="t" r="r" b="b"/>
                <a:pathLst>
                  <a:path w="15875" h="25400">
                    <a:moveTo>
                      <a:pt x="15875" y="25400"/>
                    </a:moveTo>
                    <a:lnTo>
                      <a:pt x="0" y="7937"/>
                    </a:lnTo>
                    <a:lnTo>
                      <a:pt x="4762" y="0"/>
                    </a:lnTo>
                  </a:path>
                </a:pathLst>
              </a:custGeom>
              <a:noFill/>
              <a:ln w="15875">
                <a:solidFill>
                  <a:srgbClr val="FFFFFF"/>
                </a:solidFill>
              </a:ln>
            </p:spPr>
          </p:sp>
        </p:grpSp>
        <p:sp>
          <p:nvSpPr>
            <p:cNvPr id="277" name="TextBox 277"/>
            <p:cNvSpPr txBox="1"/>
            <p:nvPr/>
          </p:nvSpPr>
          <p:spPr>
            <a:xfrm>
              <a:off x="661988" y="4628436"/>
              <a:ext cx="460375" cy="264319"/>
            </a:xfrm>
            <a:prstGeom prst="rect">
              <a:avLst/>
            </a:prstGeom>
            <a:noFill/>
            <a:ln>
              <a:noFill/>
            </a:ln>
          </p:spPr>
          <p:txBody>
            <a:bodyPr wrap="none" lIns="0" tIns="0" rIns="0" bIns="0" anchor="t" anchorCtr="0">
              <a:spAutoFit/>
            </a:bodyPr>
            <a:lstStyle/>
            <a:p>
              <a:pPr algn="l">
                <a:lnSpc>
                  <a:spcPts val="975"/>
                </a:lnSpc>
              </a:pPr>
              <a:r>
                <a:rPr lang="zh-CN" sz="710" b="1" dirty="0">
                  <a:solidFill>
                    <a:srgbClr val="FFFFFF"/>
                  </a:solidFill>
                  <a:latin typeface="+mn-lt"/>
                  <a:ea typeface="+mn-ea"/>
                  <a:cs typeface="+mn-cs"/>
                </a:rPr>
                <a:t>高净值客户</a:t>
              </a:r>
            </a:p>
            <a:p>
              <a:pPr algn="l">
                <a:lnSpc>
                  <a:spcPts val="975"/>
                </a:lnSpc>
              </a:pPr>
              <a:r>
                <a:rPr lang="zh-CN" sz="640" dirty="0">
                  <a:solidFill>
                    <a:srgbClr val="FFFFFF"/>
                  </a:solidFill>
                  <a:latin typeface="+mn-lt"/>
                  <a:ea typeface="+mn-ea"/>
                  <a:cs typeface="+mn-cs"/>
                </a:rPr>
                <a:t>（A）​​</a:t>
              </a:r>
            </a:p>
          </p:txBody>
        </p:sp>
        <p:sp>
          <p:nvSpPr>
            <p:cNvPr id="278" name="TextBox 278"/>
            <p:cNvSpPr txBox="1"/>
            <p:nvPr/>
          </p:nvSpPr>
          <p:spPr>
            <a:xfrm>
              <a:off x="1360478" y="4695111"/>
              <a:ext cx="727093"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​​300–1,000​​</a:t>
              </a:r>
            </a:p>
          </p:txBody>
        </p:sp>
        <p:sp>
          <p:nvSpPr>
            <p:cNvPr id="279" name="TextBox 279"/>
            <p:cNvSpPr txBox="1"/>
            <p:nvPr/>
          </p:nvSpPr>
          <p:spPr>
            <a:xfrm>
              <a:off x="2287968" y="4627007"/>
              <a:ext cx="58661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收入稳定、</a:t>
              </a:r>
              <a:br/>
              <a:r>
                <a:rPr lang="zh-CN" sz="640" dirty="0">
                  <a:solidFill>
                    <a:srgbClr val="3D3835"/>
                  </a:solidFill>
                  <a:latin typeface="+mn-lt"/>
                  <a:ea typeface="+mn-ea"/>
                  <a:cs typeface="+mn-cs"/>
                </a:rPr>
                <a:t>​追求稳健增长​</a:t>
              </a:r>
            </a:p>
          </p:txBody>
        </p:sp>
        <p:sp>
          <p:nvSpPr>
            <p:cNvPr id="280" name="TextBox 280"/>
            <p:cNvSpPr txBox="1"/>
            <p:nvPr/>
          </p:nvSpPr>
          <p:spPr>
            <a:xfrm>
              <a:off x="3371278" y="4627007"/>
              <a:ext cx="66789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​资产稳健增值、​</a:t>
              </a:r>
              <a:br/>
              <a:r>
                <a:rPr lang="zh-CN" sz="640" dirty="0">
                  <a:solidFill>
                    <a:srgbClr val="3D3835"/>
                  </a:solidFill>
                  <a:latin typeface="+mn-lt"/>
                  <a:ea typeface="+mn-ea"/>
                  <a:cs typeface="+mn-cs"/>
                </a:rPr>
                <a:t>​提升收益确定性​</a:t>
              </a:r>
            </a:p>
          </p:txBody>
        </p:sp>
        <p:sp>
          <p:nvSpPr>
            <p:cNvPr id="281" name="TextBox 281"/>
            <p:cNvSpPr txBox="1"/>
            <p:nvPr/>
          </p:nvSpPr>
          <p:spPr>
            <a:xfrm>
              <a:off x="4397840" y="4703207"/>
              <a:ext cx="996020"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​​权益30%/固收40%等​​</a:t>
              </a:r>
            </a:p>
          </p:txBody>
        </p:sp>
        <p:sp>
          <p:nvSpPr>
            <p:cNvPr id="282" name="TextBox 282"/>
            <p:cNvSpPr txBox="1"/>
            <p:nvPr/>
          </p:nvSpPr>
          <p:spPr>
            <a:xfrm>
              <a:off x="5892864" y="4627007"/>
              <a:ext cx="135877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​​阳光金、保险金FOF/债券基金、​​</a:t>
              </a:r>
              <a:br/>
              <a:r>
                <a:rPr lang="zh-CN" sz="640" dirty="0">
                  <a:solidFill>
                    <a:srgbClr val="3D3835"/>
                  </a:solidFill>
                  <a:latin typeface="+mn-lt"/>
                  <a:ea typeface="+mn-ea"/>
                  <a:cs typeface="+mn-cs"/>
                </a:rPr>
                <a:t>组合方案</a:t>
              </a:r>
            </a:p>
          </p:txBody>
        </p:sp>
        <p:sp>
          <p:nvSpPr>
            <p:cNvPr id="283" name="TextBox 283"/>
            <p:cNvSpPr txBox="1"/>
            <p:nvPr/>
          </p:nvSpPr>
          <p:spPr>
            <a:xfrm>
              <a:off x="7918006" y="4627007"/>
              <a:ext cx="927989"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​​财富顾问/专属服务/​​</a:t>
              </a:r>
              <a:br/>
              <a:r>
                <a:rPr lang="zh-CN" sz="640" dirty="0">
                  <a:solidFill>
                    <a:srgbClr val="3D3835"/>
                  </a:solidFill>
                  <a:latin typeface="+mn-lt"/>
                  <a:ea typeface="+mn-ea"/>
                  <a:cs typeface="+mn-cs"/>
                </a:rPr>
                <a:t>​定期组合检视​</a:t>
              </a:r>
            </a:p>
          </p:txBody>
        </p:sp>
        <p:sp>
          <p:nvSpPr>
            <p:cNvPr id="284" name="TextBox 284"/>
            <p:cNvSpPr txBox="1"/>
            <p:nvPr/>
          </p:nvSpPr>
          <p:spPr>
            <a:xfrm>
              <a:off x="9214007" y="4699159"/>
              <a:ext cx="526735"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​季度+随需​</a:t>
              </a:r>
            </a:p>
          </p:txBody>
        </p:sp>
        <p:sp>
          <p:nvSpPr>
            <p:cNvPr id="285" name="TextBox 285"/>
            <p:cNvSpPr txBox="1"/>
            <p:nvPr/>
          </p:nvSpPr>
          <p:spPr>
            <a:xfrm>
              <a:off x="10314369" y="4627007"/>
              <a:ext cx="99301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​​AUM增量｜留存率​​</a:t>
              </a:r>
              <a:br/>
              <a:r>
                <a:rPr lang="zh-CN" sz="640" dirty="0">
                  <a:solidFill>
                    <a:srgbClr val="3D3835"/>
                  </a:solidFill>
                  <a:latin typeface="+mn-lt"/>
                  <a:ea typeface="+mn-ea"/>
                  <a:cs typeface="+mn-cs"/>
                </a:rPr>
                <a:t>​收益达成率｜交叉销售率​</a:t>
              </a:r>
            </a:p>
          </p:txBody>
        </p:sp>
        <p:grpSp>
          <p:nvGrpSpPr>
            <p:cNvPr id="289" name="Group 289"/>
            <p:cNvGrpSpPr/>
            <p:nvPr/>
          </p:nvGrpSpPr>
          <p:grpSpPr>
            <a:xfrm>
              <a:off x="446103" y="5214937"/>
              <a:ext cx="136478" cy="142002"/>
              <a:chOff x="446103" y="5214937"/>
              <a:chExt cx="136478" cy="142002"/>
            </a:xfrm>
          </p:grpSpPr>
          <p:sp>
            <p:nvSpPr>
              <p:cNvPr id="286" name="Freeform 286"/>
              <p:cNvSpPr/>
              <p:nvPr/>
            </p:nvSpPr>
            <p:spPr>
              <a:xfrm>
                <a:off x="466725" y="5214937"/>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FFFFFF"/>
                </a:solidFill>
              </a:ln>
            </p:spPr>
          </p:sp>
          <p:sp>
            <p:nvSpPr>
              <p:cNvPr id="287" name="Freeform 287"/>
              <p:cNvSpPr/>
              <p:nvPr/>
            </p:nvSpPr>
            <p:spPr>
              <a:xfrm>
                <a:off x="514350" y="5286375"/>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FFFFFF"/>
                </a:solidFill>
              </a:ln>
            </p:spPr>
          </p:sp>
          <p:sp>
            <p:nvSpPr>
              <p:cNvPr id="288" name="Freeform 288"/>
              <p:cNvSpPr/>
              <p:nvPr/>
            </p:nvSpPr>
            <p:spPr>
              <a:xfrm>
                <a:off x="446103" y="5286375"/>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FFFFFF"/>
                </a:solidFill>
              </a:ln>
            </p:spPr>
          </p:sp>
        </p:grpSp>
        <p:sp>
          <p:nvSpPr>
            <p:cNvPr id="290" name="TextBox 290"/>
            <p:cNvSpPr txBox="1"/>
            <p:nvPr/>
          </p:nvSpPr>
          <p:spPr>
            <a:xfrm>
              <a:off x="661988" y="5180886"/>
              <a:ext cx="602618" cy="264319"/>
            </a:xfrm>
            <a:prstGeom prst="rect">
              <a:avLst/>
            </a:prstGeom>
            <a:noFill/>
            <a:ln>
              <a:noFill/>
            </a:ln>
          </p:spPr>
          <p:txBody>
            <a:bodyPr wrap="none" lIns="0" tIns="0" rIns="0" bIns="0" anchor="t" anchorCtr="0">
              <a:spAutoFit/>
            </a:bodyPr>
            <a:lstStyle/>
            <a:p>
              <a:pPr algn="l">
                <a:lnSpc>
                  <a:spcPts val="975"/>
                </a:lnSpc>
              </a:pPr>
              <a:r>
                <a:rPr lang="zh-CN" sz="710" b="1" dirty="0">
                  <a:solidFill>
                    <a:srgbClr val="FFFFFF"/>
                  </a:solidFill>
                  <a:latin typeface="+mn-lt"/>
                  <a:ea typeface="+mn-ea"/>
                  <a:cs typeface="+mn-cs"/>
                </a:rPr>
                <a:t>大众富裕客户​</a:t>
              </a:r>
            </a:p>
            <a:p>
              <a:pPr algn="l">
                <a:lnSpc>
                  <a:spcPts val="975"/>
                </a:lnSpc>
              </a:pPr>
              <a:r>
                <a:rPr lang="zh-CN" sz="640" dirty="0">
                  <a:solidFill>
                    <a:srgbClr val="FFFFFF"/>
                  </a:solidFill>
                  <a:latin typeface="+mn-lt"/>
                  <a:ea typeface="+mn-ea"/>
                  <a:cs typeface="+mn-cs"/>
                </a:rPr>
                <a:t>（B）​​</a:t>
              </a:r>
            </a:p>
          </p:txBody>
        </p:sp>
        <p:sp>
          <p:nvSpPr>
            <p:cNvPr id="291" name="TextBox 291"/>
            <p:cNvSpPr txBox="1"/>
            <p:nvPr/>
          </p:nvSpPr>
          <p:spPr>
            <a:xfrm>
              <a:off x="1498472" y="5247561"/>
              <a:ext cx="451106"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​50–300​</a:t>
              </a:r>
            </a:p>
          </p:txBody>
        </p:sp>
        <p:sp>
          <p:nvSpPr>
            <p:cNvPr id="292" name="TextBox 292"/>
            <p:cNvSpPr txBox="1"/>
            <p:nvPr/>
          </p:nvSpPr>
          <p:spPr>
            <a:xfrm>
              <a:off x="2247328" y="5179457"/>
              <a:ext cx="66789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中等富裕、</a:t>
              </a:r>
              <a:br/>
              <a:r>
                <a:rPr lang="zh-CN" sz="640" dirty="0">
                  <a:solidFill>
                    <a:srgbClr val="3D3835"/>
                  </a:solidFill>
                  <a:latin typeface="+mn-lt"/>
                  <a:ea typeface="+mn-ea"/>
                  <a:cs typeface="+mn-cs"/>
                </a:rPr>
                <a:t>​注重平衡与流动​</a:t>
              </a:r>
            </a:p>
          </p:txBody>
        </p:sp>
        <p:sp>
          <p:nvSpPr>
            <p:cNvPr id="293" name="TextBox 293"/>
            <p:cNvSpPr txBox="1"/>
            <p:nvPr/>
          </p:nvSpPr>
          <p:spPr>
            <a:xfrm>
              <a:off x="3330638" y="5179457"/>
              <a:ext cx="74917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稳健增值、</a:t>
              </a:r>
              <a:br/>
              <a:r>
                <a:rPr lang="zh-CN" sz="640" dirty="0">
                  <a:solidFill>
                    <a:srgbClr val="3D3835"/>
                  </a:solidFill>
                  <a:latin typeface="+mn-lt"/>
                  <a:ea typeface="+mn-ea"/>
                  <a:cs typeface="+mn-cs"/>
                </a:rPr>
                <a:t>​兼顾流动性与安全​</a:t>
              </a:r>
            </a:p>
          </p:txBody>
        </p:sp>
        <p:sp>
          <p:nvSpPr>
            <p:cNvPr id="294" name="TextBox 294"/>
            <p:cNvSpPr txBox="1"/>
            <p:nvPr/>
          </p:nvSpPr>
          <p:spPr>
            <a:xfrm>
              <a:off x="4397840" y="5255657"/>
              <a:ext cx="996020"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​​权益20%/固收50%等​​</a:t>
              </a:r>
            </a:p>
          </p:txBody>
        </p:sp>
        <p:sp>
          <p:nvSpPr>
            <p:cNvPr id="295" name="TextBox 295"/>
            <p:cNvSpPr txBox="1"/>
            <p:nvPr/>
          </p:nvSpPr>
          <p:spPr>
            <a:xfrm>
              <a:off x="5890832" y="5179457"/>
              <a:ext cx="136283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​货币基金、定期/组合基金、保险、​</a:t>
              </a:r>
              <a:br/>
              <a:r>
                <a:rPr lang="zh-CN" sz="640" dirty="0">
                  <a:solidFill>
                    <a:srgbClr val="3D3835"/>
                  </a:solidFill>
                  <a:latin typeface="+mn-lt"/>
                  <a:ea typeface="+mn-ea"/>
                  <a:cs typeface="+mn-cs"/>
                </a:rPr>
                <a:t>​现金管理、定制组合​</a:t>
              </a:r>
            </a:p>
          </p:txBody>
        </p:sp>
        <p:sp>
          <p:nvSpPr>
            <p:cNvPr id="296" name="TextBox 296"/>
            <p:cNvSpPr txBox="1"/>
            <p:nvPr/>
          </p:nvSpPr>
          <p:spPr>
            <a:xfrm>
              <a:off x="7814374" y="5179457"/>
              <a:ext cx="113525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​​线上+线下结合/理财产品/​​</a:t>
              </a:r>
              <a:br/>
              <a:r>
                <a:rPr lang="zh-CN" sz="640" dirty="0">
                  <a:solidFill>
                    <a:srgbClr val="3D3835"/>
                  </a:solidFill>
                  <a:latin typeface="+mn-lt"/>
                  <a:ea typeface="+mn-ea"/>
                  <a:cs typeface="+mn-cs"/>
                </a:rPr>
                <a:t>远程会议</a:t>
              </a:r>
            </a:p>
          </p:txBody>
        </p:sp>
        <p:sp>
          <p:nvSpPr>
            <p:cNvPr id="297" name="TextBox 297"/>
            <p:cNvSpPr txBox="1"/>
            <p:nvPr/>
          </p:nvSpPr>
          <p:spPr>
            <a:xfrm>
              <a:off x="9214007" y="5251609"/>
              <a:ext cx="526735"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​半年+随需​</a:t>
              </a:r>
            </a:p>
          </p:txBody>
        </p:sp>
        <p:sp>
          <p:nvSpPr>
            <p:cNvPr id="298" name="TextBox 298"/>
            <p:cNvSpPr txBox="1"/>
            <p:nvPr/>
          </p:nvSpPr>
          <p:spPr>
            <a:xfrm>
              <a:off x="10314369" y="5179457"/>
              <a:ext cx="99301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​​AUM增量｜留存率​​</a:t>
              </a:r>
              <a:br/>
              <a:r>
                <a:rPr lang="zh-CN" sz="640" dirty="0">
                  <a:solidFill>
                    <a:srgbClr val="3D3835"/>
                  </a:solidFill>
                  <a:latin typeface="+mn-lt"/>
                  <a:ea typeface="+mn-ea"/>
                  <a:cs typeface="+mn-cs"/>
                </a:rPr>
                <a:t>​定投渗透率｜产品活跃度​</a:t>
              </a:r>
            </a:p>
          </p:txBody>
        </p:sp>
        <p:grpSp>
          <p:nvGrpSpPr>
            <p:cNvPr id="301" name="Group 301"/>
            <p:cNvGrpSpPr/>
            <p:nvPr/>
          </p:nvGrpSpPr>
          <p:grpSpPr>
            <a:xfrm>
              <a:off x="442912" y="5799137"/>
              <a:ext cx="142875" cy="79375"/>
              <a:chOff x="442912" y="5799137"/>
              <a:chExt cx="142875" cy="79375"/>
            </a:xfrm>
          </p:grpSpPr>
          <p:sp>
            <p:nvSpPr>
              <p:cNvPr id="299" name="Freeform 299"/>
              <p:cNvSpPr/>
              <p:nvPr/>
            </p:nvSpPr>
            <p:spPr>
              <a:xfrm>
                <a:off x="442912" y="5799137"/>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4A130A"/>
                </a:solidFill>
              </a:ln>
            </p:spPr>
          </p:sp>
          <p:sp>
            <p:nvSpPr>
              <p:cNvPr id="300" name="Freeform 300"/>
              <p:cNvSpPr/>
              <p:nvPr/>
            </p:nvSpPr>
            <p:spPr>
              <a:xfrm>
                <a:off x="530225" y="5799137"/>
                <a:ext cx="55562" cy="55562"/>
              </a:xfrm>
              <a:custGeom>
                <a:avLst/>
                <a:gdLst/>
                <a:ahLst/>
                <a:cxnLst/>
                <a:rect l="l" t="t" r="r" b="b"/>
                <a:pathLst>
                  <a:path w="55562" h="55562">
                    <a:moveTo>
                      <a:pt x="0" y="0"/>
                    </a:moveTo>
                    <a:lnTo>
                      <a:pt x="55562" y="0"/>
                    </a:lnTo>
                    <a:lnTo>
                      <a:pt x="55562" y="55562"/>
                    </a:lnTo>
                  </a:path>
                </a:pathLst>
              </a:custGeom>
              <a:noFill/>
              <a:ln w="15875">
                <a:solidFill>
                  <a:srgbClr val="4A130A"/>
                </a:solidFill>
              </a:ln>
            </p:spPr>
          </p:sp>
        </p:grpSp>
        <p:sp>
          <p:nvSpPr>
            <p:cNvPr id="302" name="TextBox 302"/>
            <p:cNvSpPr txBox="1"/>
            <p:nvPr/>
          </p:nvSpPr>
          <p:spPr>
            <a:xfrm>
              <a:off x="661988" y="5733336"/>
              <a:ext cx="370205" cy="264319"/>
            </a:xfrm>
            <a:prstGeom prst="rect">
              <a:avLst/>
            </a:prstGeom>
            <a:noFill/>
            <a:ln>
              <a:noFill/>
            </a:ln>
          </p:spPr>
          <p:txBody>
            <a:bodyPr wrap="none" lIns="0" tIns="0" rIns="0" bIns="0" anchor="t" anchorCtr="0">
              <a:spAutoFit/>
            </a:bodyPr>
            <a:lstStyle/>
            <a:p>
              <a:pPr algn="l">
                <a:lnSpc>
                  <a:spcPts val="975"/>
                </a:lnSpc>
              </a:pPr>
              <a:r>
                <a:rPr lang="zh-CN" sz="710" b="1" dirty="0">
                  <a:solidFill>
                    <a:srgbClr val="4A130A"/>
                  </a:solidFill>
                  <a:latin typeface="+mn-lt"/>
                  <a:ea typeface="+mn-ea"/>
                  <a:cs typeface="+mn-cs"/>
                </a:rPr>
                <a:t>成长客户</a:t>
              </a:r>
            </a:p>
            <a:p>
              <a:pPr algn="l">
                <a:lnSpc>
                  <a:spcPts val="975"/>
                </a:lnSpc>
              </a:pPr>
              <a:r>
                <a:rPr lang="zh-CN" sz="640" dirty="0">
                  <a:solidFill>
                    <a:srgbClr val="4A130A"/>
                  </a:solidFill>
                  <a:latin typeface="+mn-lt"/>
                  <a:ea typeface="+mn-ea"/>
                  <a:cs typeface="+mn-cs"/>
                </a:rPr>
                <a:t>（C）​​</a:t>
              </a:r>
            </a:p>
          </p:txBody>
        </p:sp>
        <p:sp>
          <p:nvSpPr>
            <p:cNvPr id="303" name="TextBox 303"/>
            <p:cNvSpPr txBox="1"/>
            <p:nvPr/>
          </p:nvSpPr>
          <p:spPr>
            <a:xfrm>
              <a:off x="1526071" y="5800011"/>
              <a:ext cx="395908"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​10–50​</a:t>
              </a:r>
            </a:p>
          </p:txBody>
        </p:sp>
        <p:sp>
          <p:nvSpPr>
            <p:cNvPr id="304" name="TextBox 304"/>
            <p:cNvSpPr txBox="1"/>
            <p:nvPr/>
          </p:nvSpPr>
          <p:spPr>
            <a:xfrm>
              <a:off x="2287968" y="5731907"/>
              <a:ext cx="58661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初步积累、</a:t>
              </a:r>
              <a:br/>
              <a:r>
                <a:rPr lang="zh-CN" sz="640" dirty="0">
                  <a:solidFill>
                    <a:srgbClr val="3D3835"/>
                  </a:solidFill>
                  <a:latin typeface="+mn-lt"/>
                  <a:ea typeface="+mn-ea"/>
                  <a:cs typeface="+mn-cs"/>
                </a:rPr>
                <a:t>​风险承受有限​</a:t>
              </a:r>
            </a:p>
          </p:txBody>
        </p:sp>
        <p:sp>
          <p:nvSpPr>
            <p:cNvPr id="305" name="TextBox 305"/>
            <p:cNvSpPr txBox="1"/>
            <p:nvPr/>
          </p:nvSpPr>
          <p:spPr>
            <a:xfrm>
              <a:off x="3411918" y="5731907"/>
              <a:ext cx="58661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长期增值、</a:t>
              </a:r>
              <a:br/>
              <a:r>
                <a:rPr lang="zh-CN" sz="640" dirty="0">
                  <a:solidFill>
                    <a:srgbClr val="3D3835"/>
                  </a:solidFill>
                  <a:latin typeface="+mn-lt"/>
                  <a:ea typeface="+mn-ea"/>
                  <a:cs typeface="+mn-cs"/>
                </a:rPr>
                <a:t>​培养理财习惯​</a:t>
              </a:r>
            </a:p>
          </p:txBody>
        </p:sp>
        <p:sp>
          <p:nvSpPr>
            <p:cNvPr id="306" name="TextBox 306"/>
            <p:cNvSpPr txBox="1"/>
            <p:nvPr/>
          </p:nvSpPr>
          <p:spPr>
            <a:xfrm>
              <a:off x="4444048" y="5731907"/>
              <a:ext cx="90360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​​权益30%/固收30%/​​</a:t>
              </a:r>
              <a:br/>
              <a:r>
                <a:rPr lang="zh-CN" sz="640" dirty="0">
                  <a:solidFill>
                    <a:srgbClr val="3D3835"/>
                  </a:solidFill>
                  <a:latin typeface="+mn-lt"/>
                  <a:ea typeface="+mn-ea"/>
                  <a:cs typeface="+mn-cs"/>
                </a:rPr>
                <a:t>​​现金30%等​​</a:t>
              </a:r>
            </a:p>
          </p:txBody>
        </p:sp>
        <p:sp>
          <p:nvSpPr>
            <p:cNvPr id="307" name="TextBox 307"/>
            <p:cNvSpPr txBox="1"/>
            <p:nvPr/>
          </p:nvSpPr>
          <p:spPr>
            <a:xfrm>
              <a:off x="6035104" y="5731907"/>
              <a:ext cx="107429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​指数基金、保险混合基金、​</a:t>
              </a:r>
              <a:br/>
              <a:r>
                <a:rPr lang="zh-CN" sz="640" dirty="0">
                  <a:solidFill>
                    <a:srgbClr val="3D3835"/>
                  </a:solidFill>
                  <a:latin typeface="+mn-lt"/>
                  <a:ea typeface="+mn-ea"/>
                  <a:cs typeface="+mn-cs"/>
                </a:rPr>
                <a:t>定投计划</a:t>
              </a:r>
            </a:p>
          </p:txBody>
        </p:sp>
        <p:sp>
          <p:nvSpPr>
            <p:cNvPr id="308" name="TextBox 308"/>
            <p:cNvSpPr txBox="1"/>
            <p:nvPr/>
          </p:nvSpPr>
          <p:spPr>
            <a:xfrm>
              <a:off x="7796086" y="5731907"/>
              <a:ext cx="1171829"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​​数字化运营为主/内容营销/​​</a:t>
              </a:r>
              <a:br/>
              <a:r>
                <a:rPr lang="zh-CN" sz="640" dirty="0">
                  <a:solidFill>
                    <a:srgbClr val="3D3835"/>
                  </a:solidFill>
                  <a:latin typeface="+mn-lt"/>
                  <a:ea typeface="+mn-ea"/>
                  <a:cs typeface="+mn-cs"/>
                </a:rPr>
                <a:t>自动触发</a:t>
              </a:r>
            </a:p>
          </p:txBody>
        </p:sp>
        <p:sp>
          <p:nvSpPr>
            <p:cNvPr id="309" name="TextBox 309"/>
            <p:cNvSpPr txBox="1"/>
            <p:nvPr/>
          </p:nvSpPr>
          <p:spPr>
            <a:xfrm>
              <a:off x="9168237" y="5804059"/>
              <a:ext cx="618277"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​年度+触发式​</a:t>
              </a:r>
            </a:p>
          </p:txBody>
        </p:sp>
        <p:sp>
          <p:nvSpPr>
            <p:cNvPr id="310" name="TextBox 310"/>
            <p:cNvSpPr txBox="1"/>
            <p:nvPr/>
          </p:nvSpPr>
          <p:spPr>
            <a:xfrm>
              <a:off x="10395648" y="5731907"/>
              <a:ext cx="83045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​​AUM增量｜留存率​​</a:t>
              </a:r>
              <a:br/>
              <a:r>
                <a:rPr lang="zh-CN" sz="640" dirty="0">
                  <a:solidFill>
                    <a:srgbClr val="3D3835"/>
                  </a:solidFill>
                  <a:latin typeface="+mn-lt"/>
                  <a:ea typeface="+mn-ea"/>
                  <a:cs typeface="+mn-cs"/>
                </a:rPr>
                <a:t>​定投转化率｜活跃度​</a:t>
              </a:r>
            </a:p>
          </p:txBody>
        </p:sp>
        <p:grpSp>
          <p:nvGrpSpPr>
            <p:cNvPr id="315" name="Group 315"/>
            <p:cNvGrpSpPr/>
            <p:nvPr/>
          </p:nvGrpSpPr>
          <p:grpSpPr>
            <a:xfrm>
              <a:off x="442912" y="6319837"/>
              <a:ext cx="142875" cy="142875"/>
              <a:chOff x="442912" y="6319837"/>
              <a:chExt cx="142875" cy="142875"/>
            </a:xfrm>
          </p:grpSpPr>
          <p:sp>
            <p:nvSpPr>
              <p:cNvPr id="311" name="Freeform 311"/>
              <p:cNvSpPr/>
              <p:nvPr/>
            </p:nvSpPr>
            <p:spPr>
              <a:xfrm>
                <a:off x="458787" y="631983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4A130A"/>
                </a:solidFill>
              </a:ln>
            </p:spPr>
          </p:sp>
          <p:sp>
            <p:nvSpPr>
              <p:cNvPr id="312" name="Freeform 312"/>
              <p:cNvSpPr/>
              <p:nvPr/>
            </p:nvSpPr>
            <p:spPr>
              <a:xfrm>
                <a:off x="442912" y="641508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4A130A"/>
                </a:solidFill>
              </a:ln>
            </p:spPr>
          </p:sp>
          <p:sp>
            <p:nvSpPr>
              <p:cNvPr id="313" name="Freeform 313"/>
              <p:cNvSpPr/>
              <p:nvPr/>
            </p:nvSpPr>
            <p:spPr>
              <a:xfrm>
                <a:off x="546100" y="6320869"/>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4A130A"/>
                </a:solidFill>
              </a:ln>
            </p:spPr>
          </p:sp>
          <p:sp>
            <p:nvSpPr>
              <p:cNvPr id="314" name="Freeform 314"/>
              <p:cNvSpPr/>
              <p:nvPr/>
            </p:nvSpPr>
            <p:spPr>
              <a:xfrm>
                <a:off x="561975" y="6416278"/>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4A130A"/>
                </a:solidFill>
              </a:ln>
            </p:spPr>
          </p:sp>
        </p:grpSp>
        <p:sp>
          <p:nvSpPr>
            <p:cNvPr id="316" name="TextBox 316"/>
            <p:cNvSpPr txBox="1"/>
            <p:nvPr/>
          </p:nvSpPr>
          <p:spPr>
            <a:xfrm>
              <a:off x="661988" y="6285786"/>
              <a:ext cx="370205" cy="264319"/>
            </a:xfrm>
            <a:prstGeom prst="rect">
              <a:avLst/>
            </a:prstGeom>
            <a:noFill/>
            <a:ln>
              <a:noFill/>
            </a:ln>
          </p:spPr>
          <p:txBody>
            <a:bodyPr wrap="none" lIns="0" tIns="0" rIns="0" bIns="0" anchor="t" anchorCtr="0">
              <a:spAutoFit/>
            </a:bodyPr>
            <a:lstStyle/>
            <a:p>
              <a:pPr algn="l">
                <a:lnSpc>
                  <a:spcPts val="975"/>
                </a:lnSpc>
              </a:pPr>
              <a:r>
                <a:rPr lang="zh-CN" sz="710" b="1" dirty="0">
                  <a:solidFill>
                    <a:srgbClr val="4A130A"/>
                  </a:solidFill>
                  <a:latin typeface="+mn-lt"/>
                  <a:ea typeface="+mn-ea"/>
                  <a:cs typeface="+mn-cs"/>
                </a:rPr>
                <a:t>大众客户</a:t>
              </a:r>
            </a:p>
            <a:p>
              <a:pPr algn="l">
                <a:lnSpc>
                  <a:spcPts val="975"/>
                </a:lnSpc>
              </a:pPr>
              <a:r>
                <a:rPr lang="zh-CN" sz="640" dirty="0">
                  <a:solidFill>
                    <a:srgbClr val="4A130A"/>
                  </a:solidFill>
                  <a:latin typeface="+mn-lt"/>
                  <a:ea typeface="+mn-ea"/>
                  <a:cs typeface="+mn-cs"/>
                </a:rPr>
                <a:t>（D）​​</a:t>
              </a:r>
            </a:p>
          </p:txBody>
        </p:sp>
        <p:sp>
          <p:nvSpPr>
            <p:cNvPr id="317" name="TextBox 317"/>
            <p:cNvSpPr txBox="1"/>
            <p:nvPr/>
          </p:nvSpPr>
          <p:spPr>
            <a:xfrm>
              <a:off x="1581269" y="6352461"/>
              <a:ext cx="285513"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​&lt;10​</a:t>
              </a:r>
            </a:p>
          </p:txBody>
        </p:sp>
        <p:sp>
          <p:nvSpPr>
            <p:cNvPr id="318" name="TextBox 318"/>
            <p:cNvSpPr txBox="1"/>
            <p:nvPr/>
          </p:nvSpPr>
          <p:spPr>
            <a:xfrm>
              <a:off x="2373312" y="6284357"/>
              <a:ext cx="41592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资产较少、</a:t>
              </a:r>
              <a:br/>
              <a:r>
                <a:rPr lang="zh-CN" sz="640" dirty="0">
                  <a:solidFill>
                    <a:srgbClr val="3D3835"/>
                  </a:solidFill>
                  <a:latin typeface="+mn-lt"/>
                  <a:ea typeface="+mn-ea"/>
                  <a:cs typeface="+mn-cs"/>
                </a:rPr>
                <a:t>理财起步</a:t>
              </a:r>
            </a:p>
          </p:txBody>
        </p:sp>
        <p:sp>
          <p:nvSpPr>
            <p:cNvPr id="319" name="TextBox 319"/>
            <p:cNvSpPr txBox="1"/>
            <p:nvPr/>
          </p:nvSpPr>
          <p:spPr>
            <a:xfrm>
              <a:off x="3411918" y="6284357"/>
              <a:ext cx="58661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建立习惯、</a:t>
              </a:r>
              <a:br/>
              <a:r>
                <a:rPr lang="zh-CN" sz="640" dirty="0">
                  <a:solidFill>
                    <a:srgbClr val="3D3835"/>
                  </a:solidFill>
                  <a:latin typeface="+mn-lt"/>
                  <a:ea typeface="+mn-ea"/>
                  <a:cs typeface="+mn-cs"/>
                </a:rPr>
                <a:t>​逐步积累资产​</a:t>
              </a:r>
            </a:p>
          </p:txBody>
        </p:sp>
        <p:sp>
          <p:nvSpPr>
            <p:cNvPr id="320" name="TextBox 320"/>
            <p:cNvSpPr txBox="1"/>
            <p:nvPr/>
          </p:nvSpPr>
          <p:spPr>
            <a:xfrm>
              <a:off x="4444048" y="6284357"/>
              <a:ext cx="90360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​​权益20%/固收20%/​​</a:t>
              </a:r>
              <a:br/>
              <a:r>
                <a:rPr lang="zh-CN" sz="640" dirty="0">
                  <a:solidFill>
                    <a:srgbClr val="3D3835"/>
                  </a:solidFill>
                  <a:latin typeface="+mn-lt"/>
                  <a:ea typeface="+mn-ea"/>
                  <a:cs typeface="+mn-cs"/>
                </a:rPr>
                <a:t>​现金60%​</a:t>
              </a:r>
            </a:p>
          </p:txBody>
        </p:sp>
        <p:sp>
          <p:nvSpPr>
            <p:cNvPr id="321" name="TextBox 321"/>
            <p:cNvSpPr txBox="1"/>
            <p:nvPr/>
          </p:nvSpPr>
          <p:spPr>
            <a:xfrm>
              <a:off x="5850192" y="6284357"/>
              <a:ext cx="144411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​货币基金、低门槛理财、储蓄/存款、​</a:t>
              </a:r>
              <a:br/>
              <a:r>
                <a:rPr lang="zh-CN" sz="640" dirty="0">
                  <a:solidFill>
                    <a:srgbClr val="3D3835"/>
                  </a:solidFill>
                  <a:latin typeface="+mn-lt"/>
                  <a:ea typeface="+mn-ea"/>
                  <a:cs typeface="+mn-cs"/>
                </a:rPr>
                <a:t>​定投工具、理财启蒙课程​</a:t>
              </a:r>
            </a:p>
          </p:txBody>
        </p:sp>
        <p:sp>
          <p:nvSpPr>
            <p:cNvPr id="322" name="TextBox 322"/>
            <p:cNvSpPr txBox="1"/>
            <p:nvPr/>
          </p:nvSpPr>
          <p:spPr>
            <a:xfrm>
              <a:off x="7985062" y="6284357"/>
              <a:ext cx="79387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​自动化触达+轻陪伴​</a:t>
              </a:r>
              <a:br/>
              <a:r>
                <a:rPr lang="zh-CN" sz="640" dirty="0">
                  <a:solidFill>
                    <a:srgbClr val="3D3835"/>
                  </a:solidFill>
                  <a:latin typeface="+mn-lt"/>
                  <a:ea typeface="+mn-ea"/>
                  <a:cs typeface="+mn-cs"/>
                </a:rPr>
                <a:t>​活动与权益激励​</a:t>
              </a:r>
            </a:p>
          </p:txBody>
        </p:sp>
        <p:sp>
          <p:nvSpPr>
            <p:cNvPr id="323" name="TextBox 323"/>
            <p:cNvSpPr txBox="1"/>
            <p:nvPr/>
          </p:nvSpPr>
          <p:spPr>
            <a:xfrm>
              <a:off x="9168237" y="6356509"/>
              <a:ext cx="618277"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​年度+触发式​</a:t>
              </a:r>
            </a:p>
          </p:txBody>
        </p:sp>
        <p:sp>
          <p:nvSpPr>
            <p:cNvPr id="324" name="TextBox 324"/>
            <p:cNvSpPr txBox="1"/>
            <p:nvPr/>
          </p:nvSpPr>
          <p:spPr>
            <a:xfrm>
              <a:off x="10395648" y="6284357"/>
              <a:ext cx="83045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​账户激活率｜留存率​</a:t>
              </a:r>
              <a:br/>
              <a:r>
                <a:rPr lang="zh-CN" sz="640" dirty="0">
                  <a:solidFill>
                    <a:srgbClr val="3D3835"/>
                  </a:solidFill>
                  <a:latin typeface="+mn-lt"/>
                  <a:ea typeface="+mn-ea"/>
                  <a:cs typeface="+mn-cs"/>
                </a:rPr>
                <a:t>​首投转化率｜活跃度​</a:t>
              </a:r>
            </a:p>
          </p:txBody>
        </p:sp>
        <p:sp>
          <p:nvSpPr>
            <p:cNvPr id="325" name="Line 325"/>
            <p:cNvSpPr/>
            <p:nvPr/>
          </p:nvSpPr>
          <p:spPr>
            <a:xfrm>
              <a:off x="1428750" y="371475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326" name="Line 326"/>
            <p:cNvSpPr/>
            <p:nvPr/>
          </p:nvSpPr>
          <p:spPr>
            <a:xfrm>
              <a:off x="2019300" y="371475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327" name="Line 327"/>
            <p:cNvSpPr/>
            <p:nvPr/>
          </p:nvSpPr>
          <p:spPr>
            <a:xfrm>
              <a:off x="3143250" y="371475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328" name="Line 328"/>
            <p:cNvSpPr/>
            <p:nvPr/>
          </p:nvSpPr>
          <p:spPr>
            <a:xfrm>
              <a:off x="4267200" y="371475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329" name="Line 329"/>
            <p:cNvSpPr/>
            <p:nvPr/>
          </p:nvSpPr>
          <p:spPr>
            <a:xfrm>
              <a:off x="5524500" y="371475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330" name="Line 330"/>
            <p:cNvSpPr/>
            <p:nvPr/>
          </p:nvSpPr>
          <p:spPr>
            <a:xfrm>
              <a:off x="7620000" y="371475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331" name="Line 331"/>
            <p:cNvSpPr/>
            <p:nvPr/>
          </p:nvSpPr>
          <p:spPr>
            <a:xfrm>
              <a:off x="9144000" y="371475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332" name="Line 332"/>
            <p:cNvSpPr/>
            <p:nvPr/>
          </p:nvSpPr>
          <p:spPr>
            <a:xfrm>
              <a:off x="9810750" y="371475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333" name="Line 333"/>
            <p:cNvSpPr/>
            <p:nvPr/>
          </p:nvSpPr>
          <p:spPr>
            <a:xfrm>
              <a:off x="1428750" y="4457700"/>
              <a:ext cx="10382250" cy="9525"/>
            </a:xfrm>
            <a:custGeom>
              <a:avLst/>
              <a:gdLst/>
              <a:ahLst/>
              <a:cxnLst/>
              <a:rect l="l" t="t" r="r" b="b"/>
              <a:pathLst>
                <a:path w="10382250" h="9525">
                  <a:moveTo>
                    <a:pt x="0" y="0"/>
                  </a:moveTo>
                  <a:lnTo>
                    <a:pt x="10382250" y="0"/>
                  </a:lnTo>
                </a:path>
              </a:pathLst>
            </a:custGeom>
            <a:noFill/>
            <a:ln w="9525">
              <a:solidFill>
                <a:srgbClr val="EADBCE"/>
              </a:solidFill>
            </a:ln>
          </p:spPr>
        </p:sp>
        <p:sp>
          <p:nvSpPr>
            <p:cNvPr id="334" name="Line 334"/>
            <p:cNvSpPr/>
            <p:nvPr/>
          </p:nvSpPr>
          <p:spPr>
            <a:xfrm>
              <a:off x="1428750" y="5010150"/>
              <a:ext cx="10382250" cy="9525"/>
            </a:xfrm>
            <a:custGeom>
              <a:avLst/>
              <a:gdLst/>
              <a:ahLst/>
              <a:cxnLst/>
              <a:rect l="l" t="t" r="r" b="b"/>
              <a:pathLst>
                <a:path w="10382250" h="9525">
                  <a:moveTo>
                    <a:pt x="0" y="0"/>
                  </a:moveTo>
                  <a:lnTo>
                    <a:pt x="10382250" y="0"/>
                  </a:lnTo>
                </a:path>
              </a:pathLst>
            </a:custGeom>
            <a:noFill/>
            <a:ln w="9525">
              <a:solidFill>
                <a:srgbClr val="EADBCE"/>
              </a:solidFill>
            </a:ln>
          </p:spPr>
        </p:sp>
        <p:sp>
          <p:nvSpPr>
            <p:cNvPr id="335" name="Line 335"/>
            <p:cNvSpPr/>
            <p:nvPr/>
          </p:nvSpPr>
          <p:spPr>
            <a:xfrm>
              <a:off x="1428750" y="5562600"/>
              <a:ext cx="10382250" cy="9525"/>
            </a:xfrm>
            <a:custGeom>
              <a:avLst/>
              <a:gdLst/>
              <a:ahLst/>
              <a:cxnLst/>
              <a:rect l="l" t="t" r="r" b="b"/>
              <a:pathLst>
                <a:path w="10382250" h="9525">
                  <a:moveTo>
                    <a:pt x="0" y="0"/>
                  </a:moveTo>
                  <a:lnTo>
                    <a:pt x="10382250" y="0"/>
                  </a:lnTo>
                </a:path>
              </a:pathLst>
            </a:custGeom>
            <a:noFill/>
            <a:ln w="9525">
              <a:solidFill>
                <a:srgbClr val="EADBCE"/>
              </a:solidFill>
            </a:ln>
          </p:spPr>
        </p:sp>
        <p:sp>
          <p:nvSpPr>
            <p:cNvPr id="336" name="Line 336"/>
            <p:cNvSpPr/>
            <p:nvPr/>
          </p:nvSpPr>
          <p:spPr>
            <a:xfrm>
              <a:off x="1428750" y="6115050"/>
              <a:ext cx="10382250" cy="9525"/>
            </a:xfrm>
            <a:custGeom>
              <a:avLst/>
              <a:gdLst/>
              <a:ahLst/>
              <a:cxnLst/>
              <a:rect l="l" t="t" r="r" b="b"/>
              <a:pathLst>
                <a:path w="10382250" h="9525">
                  <a:moveTo>
                    <a:pt x="0" y="0"/>
                  </a:moveTo>
                  <a:lnTo>
                    <a:pt x="10382250" y="0"/>
                  </a:lnTo>
                </a:path>
              </a:pathLst>
            </a:custGeom>
            <a:noFill/>
            <a:ln w="9525">
              <a:solidFill>
                <a:srgbClr val="EADBCE"/>
              </a:solidFill>
            </a:ln>
          </p:spPr>
        </p:sp>
      </p:gr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11</a:t>
              </a:r>
            </a:p>
          </p:txBody>
        </p:sp>
        <p:sp>
          <p:nvSpPr>
            <p:cNvPr id="4" name="TextBox 4"/>
            <p:cNvSpPr txBox="1"/>
            <p:nvPr/>
          </p:nvSpPr>
          <p:spPr>
            <a:xfrm>
              <a:off x="904494" y="170498"/>
              <a:ext cx="7784172"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信贷经营</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在合规风控边界内提升授信激活、额度使用与交叉经营​</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60" name="credit-funnel"/>
          <p:cNvGrpSpPr/>
          <p:nvPr/>
        </p:nvGrpSpPr>
        <p:grpSpPr>
          <a:xfrm>
            <a:off x="342900" y="685800"/>
            <a:ext cx="3009900" cy="3086100"/>
            <a:chOff x="342900" y="685800"/>
            <a:chExt cx="3009900" cy="3086100"/>
          </a:xfrm>
        </p:grpSpPr>
        <p:sp>
          <p:nvSpPr>
            <p:cNvPr id="7" name="Rectangle 7"/>
            <p:cNvSpPr/>
            <p:nvPr/>
          </p:nvSpPr>
          <p:spPr>
            <a:xfrm>
              <a:off x="342900" y="685800"/>
              <a:ext cx="3009900" cy="228600"/>
            </a:xfrm>
            <a:prstGeom prst="roundRect">
              <a:avLst>
                <a:gd name="adj" fmla="val 12500"/>
              </a:avLst>
            </a:prstGeom>
            <a:solidFill>
              <a:srgbClr val="C41D00"/>
            </a:solidFill>
            <a:ln>
              <a:noFill/>
            </a:ln>
          </p:spPr>
        </p:sp>
        <p:sp>
          <p:nvSpPr>
            <p:cNvPr id="8" name="TextBox 8"/>
            <p:cNvSpPr txBox="1"/>
            <p:nvPr/>
          </p:nvSpPr>
          <p:spPr>
            <a:xfrm>
              <a:off x="792156" y="754618"/>
              <a:ext cx="211138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​左侧：授信生命周期转化漏斗（示例）​</a:t>
              </a:r>
            </a:p>
          </p:txBody>
        </p:sp>
        <p:sp>
          <p:nvSpPr>
            <p:cNvPr id="9" name="Rectangle 9"/>
            <p:cNvSpPr/>
            <p:nvPr/>
          </p:nvSpPr>
          <p:spPr>
            <a:xfrm>
              <a:off x="342900" y="914400"/>
              <a:ext cx="3009900" cy="2857500"/>
            </a:xfrm>
            <a:prstGeom prst="rect">
              <a:avLst/>
            </a:prstGeom>
            <a:solidFill>
              <a:srgbClr val="FFFFFF"/>
            </a:solidFill>
            <a:ln w="9525">
              <a:solidFill>
                <a:srgbClr val="F0B8AE"/>
              </a:solidFill>
            </a:ln>
          </p:spPr>
        </p:sp>
        <p:sp>
          <p:nvSpPr>
            <p:cNvPr id="10" name="TextBox 10"/>
            <p:cNvSpPr txBox="1"/>
            <p:nvPr/>
          </p:nvSpPr>
          <p:spPr>
            <a:xfrm>
              <a:off x="2737930" y="993934"/>
              <a:ext cx="467233" cy="133350"/>
            </a:xfrm>
            <a:prstGeom prst="rect">
              <a:avLst/>
            </a:prstGeom>
            <a:noFill/>
            <a:ln>
              <a:noFill/>
            </a:ln>
          </p:spPr>
          <p:txBody>
            <a:bodyPr wrap="none" lIns="0" tIns="0" rIns="0" bIns="0" anchor="t" anchorCtr="0">
              <a:spAutoFit/>
            </a:bodyPr>
            <a:lstStyle/>
            <a:p>
              <a:pPr algn="r"/>
              <a:r>
                <a:rPr lang="zh-CN" sz="680" dirty="0">
                  <a:solidFill>
                    <a:srgbClr val="7A716B"/>
                  </a:solidFill>
                  <a:latin typeface="+mn-lt"/>
                  <a:ea typeface="+mn-ea"/>
                  <a:cs typeface="+mn-cs"/>
                </a:rPr>
                <a:t>阶段转化率</a:t>
              </a:r>
            </a:p>
          </p:txBody>
        </p:sp>
        <p:sp>
          <p:nvSpPr>
            <p:cNvPr id="11" name="Ellipse 11"/>
            <p:cNvSpPr/>
            <p:nvPr/>
          </p:nvSpPr>
          <p:spPr>
            <a:xfrm>
              <a:off x="428625" y="1247775"/>
              <a:ext cx="285750" cy="285750"/>
            </a:xfrm>
            <a:prstGeom prst="ellipse">
              <a:avLst/>
            </a:prstGeom>
            <a:solidFill>
              <a:srgbClr val="FEF2E6"/>
            </a:solidFill>
            <a:ln w="9525">
              <a:solidFill>
                <a:srgbClr val="F0B8AE"/>
              </a:solidFill>
            </a:ln>
          </p:spPr>
        </p:sp>
        <p:grpSp>
          <p:nvGrpSpPr>
            <p:cNvPr id="16" name="Group 16"/>
            <p:cNvGrpSpPr/>
            <p:nvPr/>
          </p:nvGrpSpPr>
          <p:grpSpPr>
            <a:xfrm>
              <a:off x="507206" y="1326356"/>
              <a:ext cx="128588" cy="128588"/>
              <a:chOff x="507206" y="1326356"/>
              <a:chExt cx="128588" cy="128588"/>
            </a:xfrm>
          </p:grpSpPr>
          <p:sp>
            <p:nvSpPr>
              <p:cNvPr id="12" name="Freeform 12"/>
              <p:cNvSpPr/>
              <p:nvPr/>
            </p:nvSpPr>
            <p:spPr>
              <a:xfrm>
                <a:off x="521494" y="13263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D82000"/>
                </a:solidFill>
              </a:ln>
            </p:spPr>
          </p:sp>
          <p:sp>
            <p:nvSpPr>
              <p:cNvPr id="13" name="Freeform 13"/>
              <p:cNvSpPr/>
              <p:nvPr/>
            </p:nvSpPr>
            <p:spPr>
              <a:xfrm>
                <a:off x="507206" y="141208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D82000"/>
                </a:solidFill>
              </a:ln>
            </p:spPr>
          </p:sp>
          <p:sp>
            <p:nvSpPr>
              <p:cNvPr id="14" name="Freeform 14"/>
              <p:cNvSpPr/>
              <p:nvPr/>
            </p:nvSpPr>
            <p:spPr>
              <a:xfrm>
                <a:off x="600075" y="132728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D82000"/>
                </a:solidFill>
              </a:ln>
            </p:spPr>
          </p:sp>
          <p:sp>
            <p:nvSpPr>
              <p:cNvPr id="15" name="Freeform 15"/>
              <p:cNvSpPr/>
              <p:nvPr/>
            </p:nvSpPr>
            <p:spPr>
              <a:xfrm>
                <a:off x="614363" y="141315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D82000"/>
                </a:solidFill>
              </a:ln>
            </p:spPr>
          </p:sp>
        </p:grpSp>
        <p:sp>
          <p:nvSpPr>
            <p:cNvPr id="17" name="Rectangle 17"/>
            <p:cNvSpPr/>
            <p:nvPr/>
          </p:nvSpPr>
          <p:spPr>
            <a:xfrm>
              <a:off x="800100" y="1200150"/>
              <a:ext cx="1600200" cy="381000"/>
            </a:xfrm>
            <a:prstGeom prst="roundRect">
              <a:avLst>
                <a:gd name="adj" fmla="val 7500"/>
              </a:avLst>
            </a:prstGeom>
            <a:solidFill>
              <a:srgbClr val="B31A00"/>
            </a:solidFill>
            <a:ln>
              <a:noFill/>
            </a:ln>
          </p:spPr>
        </p:sp>
        <p:sp>
          <p:nvSpPr>
            <p:cNvPr id="18" name="TextBox 18"/>
            <p:cNvSpPr txBox="1"/>
            <p:nvPr/>
          </p:nvSpPr>
          <p:spPr>
            <a:xfrm>
              <a:off x="890588" y="1357312"/>
              <a:ext cx="51435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预授信客户</a:t>
              </a:r>
            </a:p>
          </p:txBody>
        </p:sp>
        <p:sp>
          <p:nvSpPr>
            <p:cNvPr id="19" name="TextBox 19"/>
            <p:cNvSpPr txBox="1"/>
            <p:nvPr/>
          </p:nvSpPr>
          <p:spPr>
            <a:xfrm>
              <a:off x="1689619" y="1341120"/>
              <a:ext cx="639244" cy="176212"/>
            </a:xfrm>
            <a:prstGeom prst="rect">
              <a:avLst/>
            </a:prstGeom>
            <a:noFill/>
            <a:ln>
              <a:noFill/>
            </a:ln>
          </p:spPr>
          <p:txBody>
            <a:bodyPr wrap="none" lIns="0" tIns="0" rIns="0" bIns="0" anchor="t" anchorCtr="0">
              <a:spAutoFit/>
            </a:bodyPr>
            <a:lstStyle/>
            <a:p>
              <a:pPr algn="r"/>
              <a:r>
                <a:rPr lang="zh-CN" sz="900" b="1" dirty="0">
                  <a:solidFill>
                    <a:srgbClr val="FFFFFF"/>
                  </a:solidFill>
                  <a:latin typeface="+mn-lt"/>
                  <a:ea typeface="+mn-ea"/>
                  <a:cs typeface="+mn-cs"/>
                </a:rPr>
                <a:t>​​360,000</a:t>
              </a:r>
            </a:p>
          </p:txBody>
        </p:sp>
        <p:sp>
          <p:nvSpPr>
            <p:cNvPr id="20" name="TextBox 20"/>
            <p:cNvSpPr txBox="1"/>
            <p:nvPr/>
          </p:nvSpPr>
          <p:spPr>
            <a:xfrm>
              <a:off x="3078653" y="1353264"/>
              <a:ext cx="126510" cy="154781"/>
            </a:xfrm>
            <a:prstGeom prst="rect">
              <a:avLst/>
            </a:prstGeom>
            <a:noFill/>
            <a:ln>
              <a:noFill/>
            </a:ln>
          </p:spPr>
          <p:txBody>
            <a:bodyPr wrap="none" lIns="0" tIns="0" rIns="0" bIns="0" anchor="t" anchorCtr="0">
              <a:spAutoFit/>
            </a:bodyPr>
            <a:lstStyle/>
            <a:p>
              <a:pPr algn="r"/>
              <a:r>
                <a:rPr lang="zh-CN" sz="790" dirty="0">
                  <a:solidFill>
                    <a:srgbClr val="7A716B"/>
                  </a:solidFill>
                  <a:latin typeface="+mn-lt"/>
                  <a:ea typeface="+mn-ea"/>
                  <a:cs typeface="+mn-cs"/>
                </a:rPr>
                <a:t>​—</a:t>
              </a:r>
            </a:p>
          </p:txBody>
        </p:sp>
        <p:sp>
          <p:nvSpPr>
            <p:cNvPr id="21" name="Polygon 21"/>
            <p:cNvSpPr/>
            <p:nvPr/>
          </p:nvSpPr>
          <p:spPr>
            <a:xfrm>
              <a:off x="1524000" y="1600200"/>
              <a:ext cx="152400" cy="76200"/>
            </a:xfrm>
            <a:custGeom>
              <a:avLst/>
              <a:gdLst/>
              <a:ahLst/>
              <a:cxnLst/>
              <a:rect l="l" t="t" r="r" b="b"/>
              <a:pathLst>
                <a:path w="152400" h="76200">
                  <a:moveTo>
                    <a:pt x="0" y="0"/>
                  </a:moveTo>
                  <a:lnTo>
                    <a:pt x="76200" y="76200"/>
                  </a:lnTo>
                  <a:lnTo>
                    <a:pt x="152400" y="0"/>
                  </a:lnTo>
                  <a:close/>
                </a:path>
              </a:pathLst>
            </a:custGeom>
            <a:solidFill>
              <a:srgbClr val="F57E6A"/>
            </a:solidFill>
            <a:ln>
              <a:noFill/>
            </a:ln>
          </p:spPr>
        </p:sp>
        <p:sp>
          <p:nvSpPr>
            <p:cNvPr id="22" name="Ellipse 22"/>
            <p:cNvSpPr/>
            <p:nvPr/>
          </p:nvSpPr>
          <p:spPr>
            <a:xfrm>
              <a:off x="428625" y="1762125"/>
              <a:ext cx="285750" cy="285750"/>
            </a:xfrm>
            <a:prstGeom prst="ellipse">
              <a:avLst/>
            </a:prstGeom>
            <a:solidFill>
              <a:srgbClr val="FEF2E6"/>
            </a:solidFill>
            <a:ln w="9525">
              <a:solidFill>
                <a:srgbClr val="F0B8AE"/>
              </a:solidFill>
            </a:ln>
          </p:spPr>
        </p:sp>
        <p:grpSp>
          <p:nvGrpSpPr>
            <p:cNvPr id="28" name="Group 28"/>
            <p:cNvGrpSpPr/>
            <p:nvPr/>
          </p:nvGrpSpPr>
          <p:grpSpPr>
            <a:xfrm>
              <a:off x="521494" y="1840706"/>
              <a:ext cx="100013" cy="128588"/>
              <a:chOff x="521494" y="1840706"/>
              <a:chExt cx="100013" cy="128588"/>
            </a:xfrm>
          </p:grpSpPr>
          <p:sp>
            <p:nvSpPr>
              <p:cNvPr id="23" name="Freeform 23"/>
              <p:cNvSpPr/>
              <p:nvPr/>
            </p:nvSpPr>
            <p:spPr>
              <a:xfrm>
                <a:off x="585788" y="184070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D82000"/>
                </a:solidFill>
              </a:ln>
            </p:spPr>
          </p:sp>
          <p:sp>
            <p:nvSpPr>
              <p:cNvPr id="24" name="Freeform 24"/>
              <p:cNvSpPr/>
              <p:nvPr/>
            </p:nvSpPr>
            <p:spPr>
              <a:xfrm>
                <a:off x="521494" y="184070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D82000"/>
                </a:solidFill>
              </a:ln>
            </p:spPr>
          </p:sp>
          <p:sp>
            <p:nvSpPr>
              <p:cNvPr id="25" name="Freeform 25"/>
              <p:cNvSpPr/>
              <p:nvPr/>
            </p:nvSpPr>
            <p:spPr>
              <a:xfrm>
                <a:off x="550069" y="1883569"/>
                <a:ext cx="9525" cy="9525"/>
              </a:xfrm>
              <a:custGeom>
                <a:avLst/>
                <a:gdLst/>
                <a:ahLst/>
                <a:cxnLst/>
                <a:rect l="l" t="t" r="r" b="b"/>
                <a:pathLst>
                  <a:path w="9525" h="9525">
                    <a:moveTo>
                      <a:pt x="0" y="0"/>
                    </a:moveTo>
                    <a:lnTo>
                      <a:pt x="7144" y="0"/>
                    </a:lnTo>
                  </a:path>
                </a:pathLst>
              </a:custGeom>
              <a:noFill/>
              <a:ln w="14288">
                <a:solidFill>
                  <a:srgbClr val="D82000"/>
                </a:solidFill>
              </a:ln>
            </p:spPr>
          </p:sp>
          <p:sp>
            <p:nvSpPr>
              <p:cNvPr id="26" name="Freeform 26"/>
              <p:cNvSpPr/>
              <p:nvPr/>
            </p:nvSpPr>
            <p:spPr>
              <a:xfrm>
                <a:off x="550069" y="1912144"/>
                <a:ext cx="42862" cy="9525"/>
              </a:xfrm>
              <a:custGeom>
                <a:avLst/>
                <a:gdLst/>
                <a:ahLst/>
                <a:cxnLst/>
                <a:rect l="l" t="t" r="r" b="b"/>
                <a:pathLst>
                  <a:path w="42862" h="9525">
                    <a:moveTo>
                      <a:pt x="0" y="0"/>
                    </a:moveTo>
                    <a:lnTo>
                      <a:pt x="42862" y="0"/>
                    </a:lnTo>
                  </a:path>
                </a:pathLst>
              </a:custGeom>
              <a:noFill/>
              <a:ln w="14288">
                <a:solidFill>
                  <a:srgbClr val="D82000"/>
                </a:solidFill>
              </a:ln>
            </p:spPr>
          </p:sp>
          <p:sp>
            <p:nvSpPr>
              <p:cNvPr id="27" name="Freeform 27"/>
              <p:cNvSpPr/>
              <p:nvPr/>
            </p:nvSpPr>
            <p:spPr>
              <a:xfrm>
                <a:off x="550069" y="1940719"/>
                <a:ext cx="42862" cy="9525"/>
              </a:xfrm>
              <a:custGeom>
                <a:avLst/>
                <a:gdLst/>
                <a:ahLst/>
                <a:cxnLst/>
                <a:rect l="l" t="t" r="r" b="b"/>
                <a:pathLst>
                  <a:path w="42862" h="9525">
                    <a:moveTo>
                      <a:pt x="0" y="0"/>
                    </a:moveTo>
                    <a:lnTo>
                      <a:pt x="42862" y="0"/>
                    </a:lnTo>
                  </a:path>
                </a:pathLst>
              </a:custGeom>
              <a:noFill/>
              <a:ln w="14288">
                <a:solidFill>
                  <a:srgbClr val="D82000"/>
                </a:solidFill>
              </a:ln>
            </p:spPr>
          </p:sp>
        </p:grpSp>
        <p:sp>
          <p:nvSpPr>
            <p:cNvPr id="29" name="Rectangle 29"/>
            <p:cNvSpPr/>
            <p:nvPr/>
          </p:nvSpPr>
          <p:spPr>
            <a:xfrm>
              <a:off x="800100" y="1714500"/>
              <a:ext cx="1466850" cy="381000"/>
            </a:xfrm>
            <a:prstGeom prst="roundRect">
              <a:avLst>
                <a:gd name="adj" fmla="val 7500"/>
              </a:avLst>
            </a:prstGeom>
            <a:solidFill>
              <a:srgbClr val="C41D00"/>
            </a:solidFill>
            <a:ln>
              <a:noFill/>
            </a:ln>
          </p:spPr>
        </p:sp>
        <p:sp>
          <p:nvSpPr>
            <p:cNvPr id="30" name="TextBox 30"/>
            <p:cNvSpPr txBox="1"/>
            <p:nvPr/>
          </p:nvSpPr>
          <p:spPr>
            <a:xfrm>
              <a:off x="890588" y="1871662"/>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提交申请</a:t>
              </a:r>
            </a:p>
          </p:txBody>
        </p:sp>
        <p:sp>
          <p:nvSpPr>
            <p:cNvPr id="31" name="TextBox 31"/>
            <p:cNvSpPr txBox="1"/>
            <p:nvPr/>
          </p:nvSpPr>
          <p:spPr>
            <a:xfrm>
              <a:off x="1556269" y="1855470"/>
              <a:ext cx="639244" cy="176212"/>
            </a:xfrm>
            <a:prstGeom prst="rect">
              <a:avLst/>
            </a:prstGeom>
            <a:noFill/>
            <a:ln>
              <a:noFill/>
            </a:ln>
          </p:spPr>
          <p:txBody>
            <a:bodyPr wrap="none" lIns="0" tIns="0" rIns="0" bIns="0" anchor="t" anchorCtr="0">
              <a:spAutoFit/>
            </a:bodyPr>
            <a:lstStyle/>
            <a:p>
              <a:pPr algn="r"/>
              <a:r>
                <a:rPr lang="zh-CN" sz="900" b="1" dirty="0">
                  <a:solidFill>
                    <a:srgbClr val="FFFFFF"/>
                  </a:solidFill>
                  <a:latin typeface="+mn-lt"/>
                  <a:ea typeface="+mn-ea"/>
                  <a:cs typeface="+mn-cs"/>
                </a:rPr>
                <a:t>​​108,000</a:t>
              </a:r>
            </a:p>
          </p:txBody>
        </p:sp>
        <p:sp>
          <p:nvSpPr>
            <p:cNvPr id="32" name="TextBox 32"/>
            <p:cNvSpPr txBox="1"/>
            <p:nvPr/>
          </p:nvSpPr>
          <p:spPr>
            <a:xfrm>
              <a:off x="2764921" y="1867614"/>
              <a:ext cx="440242" cy="154781"/>
            </a:xfrm>
            <a:prstGeom prst="rect">
              <a:avLst/>
            </a:prstGeom>
            <a:noFill/>
            <a:ln>
              <a:noFill/>
            </a:ln>
          </p:spPr>
          <p:txBody>
            <a:bodyPr wrap="none" lIns="0" tIns="0" rIns="0" bIns="0" anchor="t" anchorCtr="0">
              <a:spAutoFit/>
            </a:bodyPr>
            <a:lstStyle/>
            <a:p>
              <a:pPr algn="r"/>
              <a:r>
                <a:rPr lang="zh-CN" sz="790" dirty="0">
                  <a:solidFill>
                    <a:srgbClr val="3D3835"/>
                  </a:solidFill>
                  <a:latin typeface="+mn-lt"/>
                  <a:ea typeface="+mn-ea"/>
                  <a:cs typeface="+mn-cs"/>
                </a:rPr>
                <a:t>​​30.0%</a:t>
              </a:r>
            </a:p>
          </p:txBody>
        </p:sp>
        <p:sp>
          <p:nvSpPr>
            <p:cNvPr id="33" name="Polygon 33"/>
            <p:cNvSpPr/>
            <p:nvPr/>
          </p:nvSpPr>
          <p:spPr>
            <a:xfrm>
              <a:off x="1457325" y="2114550"/>
              <a:ext cx="152400" cy="76200"/>
            </a:xfrm>
            <a:custGeom>
              <a:avLst/>
              <a:gdLst/>
              <a:ahLst/>
              <a:cxnLst/>
              <a:rect l="l" t="t" r="r" b="b"/>
              <a:pathLst>
                <a:path w="152400" h="76200">
                  <a:moveTo>
                    <a:pt x="0" y="0"/>
                  </a:moveTo>
                  <a:lnTo>
                    <a:pt x="76200" y="76200"/>
                  </a:lnTo>
                  <a:lnTo>
                    <a:pt x="152400" y="0"/>
                  </a:lnTo>
                  <a:close/>
                </a:path>
              </a:pathLst>
            </a:custGeom>
            <a:solidFill>
              <a:srgbClr val="F57E6A"/>
            </a:solidFill>
            <a:ln>
              <a:noFill/>
            </a:ln>
          </p:spPr>
        </p:sp>
        <p:sp>
          <p:nvSpPr>
            <p:cNvPr id="34" name="Ellipse 34"/>
            <p:cNvSpPr/>
            <p:nvPr/>
          </p:nvSpPr>
          <p:spPr>
            <a:xfrm>
              <a:off x="428625" y="2276475"/>
              <a:ext cx="285750" cy="285750"/>
            </a:xfrm>
            <a:prstGeom prst="ellipse">
              <a:avLst/>
            </a:prstGeom>
            <a:solidFill>
              <a:srgbClr val="FEF2E6"/>
            </a:solidFill>
            <a:ln w="9525">
              <a:solidFill>
                <a:srgbClr val="F0B8AE"/>
              </a:solidFill>
            </a:ln>
          </p:spPr>
        </p:sp>
        <p:grpSp>
          <p:nvGrpSpPr>
            <p:cNvPr id="37" name="Group 37"/>
            <p:cNvGrpSpPr/>
            <p:nvPr/>
          </p:nvGrpSpPr>
          <p:grpSpPr>
            <a:xfrm>
              <a:off x="497565" y="2355056"/>
              <a:ext cx="139505" cy="128588"/>
              <a:chOff x="497565" y="2355056"/>
              <a:chExt cx="139505" cy="128588"/>
            </a:xfrm>
          </p:grpSpPr>
          <p:sp>
            <p:nvSpPr>
              <p:cNvPr id="35" name="Freeform 35"/>
              <p:cNvSpPr/>
              <p:nvPr/>
            </p:nvSpPr>
            <p:spPr>
              <a:xfrm>
                <a:off x="497565" y="235505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D82000"/>
                </a:solidFill>
              </a:ln>
            </p:spPr>
          </p:sp>
          <p:sp>
            <p:nvSpPr>
              <p:cNvPr id="36" name="Freeform 36"/>
              <p:cNvSpPr/>
              <p:nvPr/>
            </p:nvSpPr>
            <p:spPr>
              <a:xfrm>
                <a:off x="592931" y="2455069"/>
                <a:ext cx="42862" cy="28575"/>
              </a:xfrm>
              <a:custGeom>
                <a:avLst/>
                <a:gdLst/>
                <a:ahLst/>
                <a:cxnLst/>
                <a:rect l="l" t="t" r="r" b="b"/>
                <a:pathLst>
                  <a:path w="42862" h="28575">
                    <a:moveTo>
                      <a:pt x="0" y="14288"/>
                    </a:moveTo>
                    <a:lnTo>
                      <a:pt x="14288" y="28575"/>
                    </a:lnTo>
                    <a:lnTo>
                      <a:pt x="42862" y="0"/>
                    </a:lnTo>
                  </a:path>
                </a:pathLst>
              </a:custGeom>
              <a:noFill/>
              <a:ln w="14288">
                <a:solidFill>
                  <a:srgbClr val="D82000"/>
                </a:solidFill>
              </a:ln>
            </p:spPr>
          </p:sp>
        </p:grpSp>
        <p:sp>
          <p:nvSpPr>
            <p:cNvPr id="38" name="Rectangle 38"/>
            <p:cNvSpPr/>
            <p:nvPr/>
          </p:nvSpPr>
          <p:spPr>
            <a:xfrm>
              <a:off x="800100" y="2228850"/>
              <a:ext cx="1333500" cy="381000"/>
            </a:xfrm>
            <a:prstGeom prst="roundRect">
              <a:avLst>
                <a:gd name="adj" fmla="val 7500"/>
              </a:avLst>
            </a:prstGeom>
            <a:solidFill>
              <a:srgbClr val="D82000"/>
            </a:solidFill>
            <a:ln>
              <a:noFill/>
            </a:ln>
          </p:spPr>
        </p:sp>
        <p:sp>
          <p:nvSpPr>
            <p:cNvPr id="39" name="TextBox 39"/>
            <p:cNvSpPr txBox="1"/>
            <p:nvPr/>
          </p:nvSpPr>
          <p:spPr>
            <a:xfrm>
              <a:off x="890588" y="2386012"/>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审批通过</a:t>
              </a:r>
            </a:p>
          </p:txBody>
        </p:sp>
        <p:sp>
          <p:nvSpPr>
            <p:cNvPr id="40" name="TextBox 40"/>
            <p:cNvSpPr txBox="1"/>
            <p:nvPr/>
          </p:nvSpPr>
          <p:spPr>
            <a:xfrm>
              <a:off x="1492888" y="2369820"/>
              <a:ext cx="569275" cy="176212"/>
            </a:xfrm>
            <a:prstGeom prst="rect">
              <a:avLst/>
            </a:prstGeom>
            <a:noFill/>
            <a:ln>
              <a:noFill/>
            </a:ln>
          </p:spPr>
          <p:txBody>
            <a:bodyPr wrap="none" lIns="0" tIns="0" rIns="0" bIns="0" anchor="t" anchorCtr="0">
              <a:spAutoFit/>
            </a:bodyPr>
            <a:lstStyle/>
            <a:p>
              <a:pPr algn="r"/>
              <a:r>
                <a:rPr lang="zh-CN" sz="900" b="1" dirty="0">
                  <a:solidFill>
                    <a:srgbClr val="FFFFFF"/>
                  </a:solidFill>
                  <a:latin typeface="+mn-lt"/>
                  <a:ea typeface="+mn-ea"/>
                  <a:cs typeface="+mn-cs"/>
                </a:rPr>
                <a:t>​​86,400</a:t>
              </a:r>
            </a:p>
          </p:txBody>
        </p:sp>
        <p:sp>
          <p:nvSpPr>
            <p:cNvPr id="41" name="TextBox 41"/>
            <p:cNvSpPr txBox="1"/>
            <p:nvPr/>
          </p:nvSpPr>
          <p:spPr>
            <a:xfrm>
              <a:off x="2764921" y="2381964"/>
              <a:ext cx="440242" cy="154781"/>
            </a:xfrm>
            <a:prstGeom prst="rect">
              <a:avLst/>
            </a:prstGeom>
            <a:noFill/>
            <a:ln>
              <a:noFill/>
            </a:ln>
          </p:spPr>
          <p:txBody>
            <a:bodyPr wrap="none" lIns="0" tIns="0" rIns="0" bIns="0" anchor="t" anchorCtr="0">
              <a:spAutoFit/>
            </a:bodyPr>
            <a:lstStyle/>
            <a:p>
              <a:pPr algn="r"/>
              <a:r>
                <a:rPr lang="zh-CN" sz="790" dirty="0">
                  <a:solidFill>
                    <a:srgbClr val="3D3835"/>
                  </a:solidFill>
                  <a:latin typeface="+mn-lt"/>
                  <a:ea typeface="+mn-ea"/>
                  <a:cs typeface="+mn-cs"/>
                </a:rPr>
                <a:t>​​80.0%</a:t>
              </a:r>
            </a:p>
          </p:txBody>
        </p:sp>
        <p:sp>
          <p:nvSpPr>
            <p:cNvPr id="42" name="Polygon 42"/>
            <p:cNvSpPr/>
            <p:nvPr/>
          </p:nvSpPr>
          <p:spPr>
            <a:xfrm>
              <a:off x="1390650" y="2628900"/>
              <a:ext cx="152400" cy="76200"/>
            </a:xfrm>
            <a:custGeom>
              <a:avLst/>
              <a:gdLst/>
              <a:ahLst/>
              <a:cxnLst/>
              <a:rect l="l" t="t" r="r" b="b"/>
              <a:pathLst>
                <a:path w="152400" h="76200">
                  <a:moveTo>
                    <a:pt x="0" y="0"/>
                  </a:moveTo>
                  <a:lnTo>
                    <a:pt x="76200" y="76200"/>
                  </a:lnTo>
                  <a:lnTo>
                    <a:pt x="152400" y="0"/>
                  </a:lnTo>
                  <a:close/>
                </a:path>
              </a:pathLst>
            </a:custGeom>
            <a:solidFill>
              <a:srgbClr val="F57E6A"/>
            </a:solidFill>
            <a:ln>
              <a:noFill/>
            </a:ln>
          </p:spPr>
        </p:sp>
        <p:sp>
          <p:nvSpPr>
            <p:cNvPr id="43" name="Ellipse 43"/>
            <p:cNvSpPr/>
            <p:nvPr/>
          </p:nvSpPr>
          <p:spPr>
            <a:xfrm>
              <a:off x="428625" y="2790825"/>
              <a:ext cx="285750" cy="285750"/>
            </a:xfrm>
            <a:prstGeom prst="ellipse">
              <a:avLst/>
            </a:prstGeom>
            <a:solidFill>
              <a:srgbClr val="FEF2E6"/>
            </a:solidFill>
            <a:ln w="9525">
              <a:solidFill>
                <a:srgbClr val="F0B8AE"/>
              </a:solidFill>
            </a:ln>
          </p:spPr>
        </p:sp>
        <p:grpSp>
          <p:nvGrpSpPr>
            <p:cNvPr id="46" name="Group 46"/>
            <p:cNvGrpSpPr/>
            <p:nvPr/>
          </p:nvGrpSpPr>
          <p:grpSpPr>
            <a:xfrm>
              <a:off x="514350" y="2876550"/>
              <a:ext cx="114300" cy="114300"/>
              <a:chOff x="514350" y="2876550"/>
              <a:chExt cx="114300" cy="114300"/>
            </a:xfrm>
          </p:grpSpPr>
          <p:sp>
            <p:nvSpPr>
              <p:cNvPr id="44" name="Freeform 44"/>
              <p:cNvSpPr/>
              <p:nvPr/>
            </p:nvSpPr>
            <p:spPr>
              <a:xfrm>
                <a:off x="514350" y="2876550"/>
                <a:ext cx="107156" cy="114300"/>
              </a:xfrm>
              <a:custGeom>
                <a:avLst/>
                <a:gdLst/>
                <a:ahLst/>
                <a:cxnLst/>
                <a:rect l="l" t="t" r="r" b="b"/>
                <a:pathLst>
                  <a:path w="107156" h="114300">
                    <a:moveTo>
                      <a:pt x="92869" y="28575"/>
                    </a:moveTo>
                    <a:lnTo>
                      <a:pt x="92869" y="7144"/>
                    </a:lnTo>
                    <a:cubicBezTo>
                      <a:pt x="92869" y="3198"/>
                      <a:pt x="89670" y="0"/>
                      <a:pt x="85725" y="0"/>
                    </a:cubicBezTo>
                    <a:lnTo>
                      <a:pt x="14288" y="0"/>
                    </a:lnTo>
                    <a:cubicBezTo>
                      <a:pt x="6397" y="0"/>
                      <a:pt x="0" y="6397"/>
                      <a:pt x="0" y="14288"/>
                    </a:cubicBezTo>
                    <a:cubicBezTo>
                      <a:pt x="0" y="22178"/>
                      <a:pt x="6397" y="28575"/>
                      <a:pt x="14288" y="28575"/>
                    </a:cubicBezTo>
                    <a:lnTo>
                      <a:pt x="100012" y="28575"/>
                    </a:lnTo>
                    <a:cubicBezTo>
                      <a:pt x="103958" y="28575"/>
                      <a:pt x="107156" y="31773"/>
                      <a:pt x="107156" y="35719"/>
                    </a:cubicBezTo>
                    <a:lnTo>
                      <a:pt x="107156" y="57150"/>
                    </a:lnTo>
                    <a:moveTo>
                      <a:pt x="107156" y="85725"/>
                    </a:moveTo>
                    <a:lnTo>
                      <a:pt x="107156" y="107156"/>
                    </a:lnTo>
                    <a:cubicBezTo>
                      <a:pt x="107156" y="111102"/>
                      <a:pt x="103958" y="114300"/>
                      <a:pt x="100012" y="114300"/>
                    </a:cubicBezTo>
                    <a:lnTo>
                      <a:pt x="14288" y="114300"/>
                    </a:lnTo>
                    <a:cubicBezTo>
                      <a:pt x="6397" y="114300"/>
                      <a:pt x="0" y="107903"/>
                      <a:pt x="0" y="100012"/>
                    </a:cubicBezTo>
                    <a:lnTo>
                      <a:pt x="0" y="14288"/>
                    </a:lnTo>
                  </a:path>
                </a:pathLst>
              </a:custGeom>
              <a:noFill/>
              <a:ln w="14288">
                <a:solidFill>
                  <a:srgbClr val="D82000"/>
                </a:solidFill>
              </a:ln>
            </p:spPr>
          </p:sp>
          <p:sp>
            <p:nvSpPr>
              <p:cNvPr id="45" name="Freeform 45"/>
              <p:cNvSpPr/>
              <p:nvPr/>
            </p:nvSpPr>
            <p:spPr>
              <a:xfrm>
                <a:off x="585788" y="2933700"/>
                <a:ext cx="42862" cy="28575"/>
              </a:xfrm>
              <a:custGeom>
                <a:avLst/>
                <a:gdLst/>
                <a:ahLst/>
                <a:cxnLst/>
                <a:rect l="l" t="t" r="r" b="b"/>
                <a:pathLst>
                  <a:path w="42862" h="28575">
                    <a:moveTo>
                      <a:pt x="42862" y="0"/>
                    </a:moveTo>
                    <a:lnTo>
                      <a:pt x="42862" y="28575"/>
                    </a:lnTo>
                    <a:lnTo>
                      <a:pt x="14288" y="28575"/>
                    </a:lnTo>
                    <a:cubicBezTo>
                      <a:pt x="6397" y="28575"/>
                      <a:pt x="0" y="22178"/>
                      <a:pt x="0" y="14288"/>
                    </a:cubicBezTo>
                    <a:cubicBezTo>
                      <a:pt x="0" y="6397"/>
                      <a:pt x="6397" y="0"/>
                      <a:pt x="14288" y="0"/>
                    </a:cubicBezTo>
                    <a:lnTo>
                      <a:pt x="42862" y="0"/>
                    </a:lnTo>
                  </a:path>
                </a:pathLst>
              </a:custGeom>
              <a:noFill/>
              <a:ln w="14288">
                <a:solidFill>
                  <a:srgbClr val="D82000"/>
                </a:solidFill>
              </a:ln>
            </p:spPr>
          </p:sp>
        </p:grpSp>
        <p:sp>
          <p:nvSpPr>
            <p:cNvPr id="47" name="Rectangle 47"/>
            <p:cNvSpPr/>
            <p:nvPr/>
          </p:nvSpPr>
          <p:spPr>
            <a:xfrm>
              <a:off x="800100" y="2743200"/>
              <a:ext cx="1200150" cy="381000"/>
            </a:xfrm>
            <a:prstGeom prst="roundRect">
              <a:avLst>
                <a:gd name="adj" fmla="val 7500"/>
              </a:avLst>
            </a:prstGeom>
            <a:solidFill>
              <a:srgbClr val="E0371A"/>
            </a:solidFill>
            <a:ln>
              <a:noFill/>
            </a:ln>
          </p:spPr>
        </p:sp>
        <p:sp>
          <p:nvSpPr>
            <p:cNvPr id="48" name="TextBox 48"/>
            <p:cNvSpPr txBox="1"/>
            <p:nvPr/>
          </p:nvSpPr>
          <p:spPr>
            <a:xfrm>
              <a:off x="890588" y="2900362"/>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首次支用</a:t>
              </a:r>
            </a:p>
          </p:txBody>
        </p:sp>
        <p:sp>
          <p:nvSpPr>
            <p:cNvPr id="49" name="TextBox 49"/>
            <p:cNvSpPr txBox="1"/>
            <p:nvPr/>
          </p:nvSpPr>
          <p:spPr>
            <a:xfrm>
              <a:off x="1359538" y="2884170"/>
              <a:ext cx="569275" cy="176212"/>
            </a:xfrm>
            <a:prstGeom prst="rect">
              <a:avLst/>
            </a:prstGeom>
            <a:noFill/>
            <a:ln>
              <a:noFill/>
            </a:ln>
          </p:spPr>
          <p:txBody>
            <a:bodyPr wrap="none" lIns="0" tIns="0" rIns="0" bIns="0" anchor="t" anchorCtr="0">
              <a:spAutoFit/>
            </a:bodyPr>
            <a:lstStyle/>
            <a:p>
              <a:pPr algn="r"/>
              <a:r>
                <a:rPr lang="zh-CN" sz="900" b="1" dirty="0">
                  <a:solidFill>
                    <a:srgbClr val="FFFFFF"/>
                  </a:solidFill>
                  <a:latin typeface="+mn-lt"/>
                  <a:ea typeface="+mn-ea"/>
                  <a:cs typeface="+mn-cs"/>
                </a:rPr>
                <a:t>​​60,480</a:t>
              </a:r>
            </a:p>
          </p:txBody>
        </p:sp>
        <p:sp>
          <p:nvSpPr>
            <p:cNvPr id="50" name="TextBox 50"/>
            <p:cNvSpPr txBox="1"/>
            <p:nvPr/>
          </p:nvSpPr>
          <p:spPr>
            <a:xfrm>
              <a:off x="2764921" y="2896314"/>
              <a:ext cx="440242" cy="154781"/>
            </a:xfrm>
            <a:prstGeom prst="rect">
              <a:avLst/>
            </a:prstGeom>
            <a:noFill/>
            <a:ln>
              <a:noFill/>
            </a:ln>
          </p:spPr>
          <p:txBody>
            <a:bodyPr wrap="none" lIns="0" tIns="0" rIns="0" bIns="0" anchor="t" anchorCtr="0">
              <a:spAutoFit/>
            </a:bodyPr>
            <a:lstStyle/>
            <a:p>
              <a:pPr algn="r"/>
              <a:r>
                <a:rPr lang="zh-CN" sz="790" dirty="0">
                  <a:solidFill>
                    <a:srgbClr val="3D3835"/>
                  </a:solidFill>
                  <a:latin typeface="+mn-lt"/>
                  <a:ea typeface="+mn-ea"/>
                  <a:cs typeface="+mn-cs"/>
                </a:rPr>
                <a:t>​​70.0%</a:t>
              </a:r>
            </a:p>
          </p:txBody>
        </p:sp>
        <p:sp>
          <p:nvSpPr>
            <p:cNvPr id="51" name="Polygon 51"/>
            <p:cNvSpPr/>
            <p:nvPr/>
          </p:nvSpPr>
          <p:spPr>
            <a:xfrm>
              <a:off x="1323975" y="3143250"/>
              <a:ext cx="152400" cy="76200"/>
            </a:xfrm>
            <a:custGeom>
              <a:avLst/>
              <a:gdLst/>
              <a:ahLst/>
              <a:cxnLst/>
              <a:rect l="l" t="t" r="r" b="b"/>
              <a:pathLst>
                <a:path w="152400" h="76200">
                  <a:moveTo>
                    <a:pt x="0" y="0"/>
                  </a:moveTo>
                  <a:lnTo>
                    <a:pt x="76200" y="76200"/>
                  </a:lnTo>
                  <a:lnTo>
                    <a:pt x="152400" y="0"/>
                  </a:lnTo>
                  <a:close/>
                </a:path>
              </a:pathLst>
            </a:custGeom>
            <a:solidFill>
              <a:srgbClr val="F57E6A"/>
            </a:solidFill>
            <a:ln>
              <a:noFill/>
            </a:ln>
          </p:spPr>
        </p:sp>
        <p:sp>
          <p:nvSpPr>
            <p:cNvPr id="52" name="Ellipse 52"/>
            <p:cNvSpPr/>
            <p:nvPr/>
          </p:nvSpPr>
          <p:spPr>
            <a:xfrm>
              <a:off x="428625" y="3305175"/>
              <a:ext cx="285750" cy="285750"/>
            </a:xfrm>
            <a:prstGeom prst="ellipse">
              <a:avLst/>
            </a:prstGeom>
            <a:solidFill>
              <a:srgbClr val="FEF2E6"/>
            </a:solidFill>
            <a:ln w="9525">
              <a:solidFill>
                <a:srgbClr val="F0B8AE"/>
              </a:solidFill>
            </a:ln>
          </p:spPr>
        </p:sp>
        <p:grpSp>
          <p:nvGrpSpPr>
            <p:cNvPr id="55" name="Group 55"/>
            <p:cNvGrpSpPr/>
            <p:nvPr/>
          </p:nvGrpSpPr>
          <p:grpSpPr>
            <a:xfrm>
              <a:off x="514350" y="3388144"/>
              <a:ext cx="114300" cy="119813"/>
              <a:chOff x="514350" y="3388144"/>
              <a:chExt cx="114300" cy="119813"/>
            </a:xfrm>
          </p:grpSpPr>
          <p:sp>
            <p:nvSpPr>
              <p:cNvPr id="53" name="Freeform 53"/>
              <p:cNvSpPr/>
              <p:nvPr/>
            </p:nvSpPr>
            <p:spPr>
              <a:xfrm>
                <a:off x="514350" y="3388144"/>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D82000"/>
                </a:solidFill>
              </a:ln>
            </p:spPr>
          </p:sp>
          <p:sp>
            <p:nvSpPr>
              <p:cNvPr id="54" name="Freeform 54"/>
              <p:cNvSpPr/>
              <p:nvPr/>
            </p:nvSpPr>
            <p:spPr>
              <a:xfrm>
                <a:off x="514350" y="3455194"/>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D82000"/>
                </a:solidFill>
              </a:ln>
            </p:spPr>
          </p:sp>
        </p:grpSp>
        <p:sp>
          <p:nvSpPr>
            <p:cNvPr id="56" name="Rectangle 56"/>
            <p:cNvSpPr/>
            <p:nvPr/>
          </p:nvSpPr>
          <p:spPr>
            <a:xfrm>
              <a:off x="800100" y="3257550"/>
              <a:ext cx="1066800" cy="381000"/>
            </a:xfrm>
            <a:prstGeom prst="roundRect">
              <a:avLst>
                <a:gd name="adj" fmla="val 7500"/>
              </a:avLst>
            </a:prstGeom>
            <a:solidFill>
              <a:srgbClr val="EE492C"/>
            </a:solidFill>
            <a:ln>
              <a:noFill/>
            </a:ln>
          </p:spPr>
        </p:sp>
        <p:sp>
          <p:nvSpPr>
            <p:cNvPr id="57" name="TextBox 57"/>
            <p:cNvSpPr txBox="1"/>
            <p:nvPr/>
          </p:nvSpPr>
          <p:spPr>
            <a:xfrm>
              <a:off x="890588" y="3414712"/>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重复使用</a:t>
              </a:r>
            </a:p>
          </p:txBody>
        </p:sp>
        <p:sp>
          <p:nvSpPr>
            <p:cNvPr id="58" name="TextBox 58"/>
            <p:cNvSpPr txBox="1"/>
            <p:nvPr/>
          </p:nvSpPr>
          <p:spPr>
            <a:xfrm>
              <a:off x="1226188" y="3398520"/>
              <a:ext cx="569275" cy="176212"/>
            </a:xfrm>
            <a:prstGeom prst="rect">
              <a:avLst/>
            </a:prstGeom>
            <a:noFill/>
            <a:ln>
              <a:noFill/>
            </a:ln>
          </p:spPr>
          <p:txBody>
            <a:bodyPr wrap="none" lIns="0" tIns="0" rIns="0" bIns="0" anchor="t" anchorCtr="0">
              <a:spAutoFit/>
            </a:bodyPr>
            <a:lstStyle/>
            <a:p>
              <a:pPr algn="r"/>
              <a:r>
                <a:rPr lang="zh-CN" sz="900" b="1" dirty="0">
                  <a:solidFill>
                    <a:srgbClr val="FFFFFF"/>
                  </a:solidFill>
                  <a:latin typeface="+mn-lt"/>
                  <a:ea typeface="+mn-ea"/>
                  <a:cs typeface="+mn-cs"/>
                </a:rPr>
                <a:t>​​33,264</a:t>
              </a:r>
            </a:p>
          </p:txBody>
        </p:sp>
        <p:sp>
          <p:nvSpPr>
            <p:cNvPr id="59" name="TextBox 59"/>
            <p:cNvSpPr txBox="1"/>
            <p:nvPr/>
          </p:nvSpPr>
          <p:spPr>
            <a:xfrm>
              <a:off x="2764921" y="3410664"/>
              <a:ext cx="440242" cy="154781"/>
            </a:xfrm>
            <a:prstGeom prst="rect">
              <a:avLst/>
            </a:prstGeom>
            <a:noFill/>
            <a:ln>
              <a:noFill/>
            </a:ln>
          </p:spPr>
          <p:txBody>
            <a:bodyPr wrap="none" lIns="0" tIns="0" rIns="0" bIns="0" anchor="t" anchorCtr="0">
              <a:spAutoFit/>
            </a:bodyPr>
            <a:lstStyle/>
            <a:p>
              <a:pPr algn="r"/>
              <a:r>
                <a:rPr lang="zh-CN" sz="790" dirty="0">
                  <a:solidFill>
                    <a:srgbClr val="3D3835"/>
                  </a:solidFill>
                  <a:latin typeface="+mn-lt"/>
                  <a:ea typeface="+mn-ea"/>
                  <a:cs typeface="+mn-cs"/>
                </a:rPr>
                <a:t>​​55.0%</a:t>
              </a:r>
            </a:p>
          </p:txBody>
        </p:sp>
      </p:grpSp>
      <p:grpSp>
        <p:nvGrpSpPr>
          <p:cNvPr id="153" name="risk-value-matrix"/>
          <p:cNvGrpSpPr/>
          <p:nvPr/>
        </p:nvGrpSpPr>
        <p:grpSpPr>
          <a:xfrm>
            <a:off x="3429000" y="685800"/>
            <a:ext cx="3905250" cy="3048000"/>
            <a:chOff x="3429000" y="685800"/>
            <a:chExt cx="3905250" cy="3048000"/>
          </a:xfrm>
        </p:grpSpPr>
        <p:sp>
          <p:nvSpPr>
            <p:cNvPr id="61" name="Rectangle 61"/>
            <p:cNvSpPr/>
            <p:nvPr/>
          </p:nvSpPr>
          <p:spPr>
            <a:xfrm>
              <a:off x="3429000" y="685800"/>
              <a:ext cx="3905250" cy="228600"/>
            </a:xfrm>
            <a:prstGeom prst="roundRect">
              <a:avLst>
                <a:gd name="adj" fmla="val 12500"/>
              </a:avLst>
            </a:prstGeom>
            <a:solidFill>
              <a:srgbClr val="C41D00"/>
            </a:solidFill>
            <a:ln>
              <a:noFill/>
            </a:ln>
          </p:spPr>
        </p:sp>
        <p:sp>
          <p:nvSpPr>
            <p:cNvPr id="62" name="TextBox 62"/>
            <p:cNvSpPr txBox="1"/>
            <p:nvPr/>
          </p:nvSpPr>
          <p:spPr>
            <a:xfrm>
              <a:off x="4027526" y="754618"/>
              <a:ext cx="270819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​中部：客户分群风险调整价值矩阵（最近12个月）​</a:t>
              </a:r>
            </a:p>
          </p:txBody>
        </p:sp>
        <p:sp>
          <p:nvSpPr>
            <p:cNvPr id="63" name="Rectangle 63"/>
            <p:cNvSpPr/>
            <p:nvPr/>
          </p:nvSpPr>
          <p:spPr>
            <a:xfrm>
              <a:off x="3429000" y="952500"/>
              <a:ext cx="3905250" cy="266700"/>
            </a:xfrm>
            <a:prstGeom prst="rect">
              <a:avLst/>
            </a:prstGeom>
            <a:solidFill>
              <a:srgbClr val="FEF2E6"/>
            </a:solidFill>
            <a:ln w="9525">
              <a:solidFill>
                <a:srgbClr val="F0B8AE"/>
              </a:solidFill>
            </a:ln>
          </p:spPr>
        </p:sp>
        <p:sp>
          <p:nvSpPr>
            <p:cNvPr id="64" name="TextBox 64"/>
            <p:cNvSpPr txBox="1"/>
            <p:nvPr/>
          </p:nvSpPr>
          <p:spPr>
            <a:xfrm>
              <a:off x="3669779" y="10510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客户分群</a:t>
              </a:r>
            </a:p>
          </p:txBody>
        </p:sp>
        <p:sp>
          <p:nvSpPr>
            <p:cNvPr id="65" name="TextBox 65"/>
            <p:cNvSpPr txBox="1"/>
            <p:nvPr/>
          </p:nvSpPr>
          <p:spPr>
            <a:xfrm>
              <a:off x="4437698" y="1003459"/>
              <a:ext cx="268605"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4A130A"/>
                  </a:solidFill>
                  <a:latin typeface="+mn-lt"/>
                  <a:ea typeface="+mn-ea"/>
                  <a:cs typeface="+mn-cs"/>
                </a:rPr>
                <a:t>客户数</a:t>
              </a:r>
              <a:br/>
              <a:r>
                <a:rPr lang="zh-CN" sz="680" b="1" dirty="0">
                  <a:solidFill>
                    <a:srgbClr val="4A130A"/>
                  </a:solidFill>
                  <a:latin typeface="+mn-lt"/>
                  <a:ea typeface="+mn-ea"/>
                  <a:cs typeface="+mn-cs"/>
                </a:rPr>
                <a:t>（人）</a:t>
              </a:r>
            </a:p>
          </p:txBody>
        </p:sp>
        <p:sp>
          <p:nvSpPr>
            <p:cNvPr id="66" name="TextBox 66"/>
            <p:cNvSpPr txBox="1"/>
            <p:nvPr/>
          </p:nvSpPr>
          <p:spPr>
            <a:xfrm>
              <a:off x="5042218" y="1003459"/>
              <a:ext cx="354965"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4A130A"/>
                  </a:solidFill>
                  <a:latin typeface="+mn-lt"/>
                  <a:ea typeface="+mn-ea"/>
                  <a:cs typeface="+mn-cs"/>
                </a:rPr>
                <a:t>授信总额</a:t>
              </a:r>
              <a:br/>
              <a:r>
                <a:rPr lang="zh-CN" sz="680" b="1" dirty="0">
                  <a:solidFill>
                    <a:srgbClr val="4A130A"/>
                  </a:solidFill>
                  <a:latin typeface="+mn-lt"/>
                  <a:ea typeface="+mn-ea"/>
                  <a:cs typeface="+mn-cs"/>
                </a:rPr>
                <a:t>（万元）</a:t>
              </a:r>
            </a:p>
          </p:txBody>
        </p:sp>
        <p:sp>
          <p:nvSpPr>
            <p:cNvPr id="67" name="TextBox 67"/>
            <p:cNvSpPr txBox="1"/>
            <p:nvPr/>
          </p:nvSpPr>
          <p:spPr>
            <a:xfrm>
              <a:off x="5600567" y="1003459"/>
              <a:ext cx="476517" cy="228600"/>
            </a:xfrm>
            <a:prstGeom prst="rect">
              <a:avLst/>
            </a:prstGeom>
            <a:noFill/>
            <a:ln>
              <a:noFill/>
            </a:ln>
          </p:spPr>
          <p:txBody>
            <a:bodyPr wrap="none" lIns="0" tIns="0" rIns="0" bIns="0" anchor="t" anchorCtr="0">
              <a:spAutoFit/>
            </a:bodyPr>
            <a:lstStyle/>
            <a:p>
              <a:pPr algn="ctr">
                <a:lnSpc>
                  <a:spcPts val="750"/>
                </a:lnSpc>
              </a:pPr>
              <a:r>
                <a:rPr lang="en-US" sz="680" b="1" dirty="0">
                  <a:solidFill>
                    <a:srgbClr val="4A130A"/>
                  </a:solidFill>
                  <a:latin typeface="+mn-lt"/>
                  <a:ea typeface="+mn-ea"/>
                  <a:cs typeface="+mn-cs"/>
                </a:rPr>
                <a:t>​​RAROC​​</a:t>
              </a:r>
              <a:br/>
              <a:r>
                <a:rPr lang="zh-CN" sz="680" b="1" dirty="0">
                  <a:solidFill>
                    <a:srgbClr val="4A130A"/>
                  </a:solidFill>
                  <a:latin typeface="+mn-lt"/>
                  <a:ea typeface="+mn-ea"/>
                  <a:cs typeface="+mn-cs"/>
                </a:rPr>
                <a:t>​（%）​</a:t>
              </a:r>
            </a:p>
          </p:txBody>
        </p:sp>
        <p:sp>
          <p:nvSpPr>
            <p:cNvPr id="68" name="TextBox 68"/>
            <p:cNvSpPr txBox="1"/>
            <p:nvPr/>
          </p:nvSpPr>
          <p:spPr>
            <a:xfrm>
              <a:off x="6232842" y="1003459"/>
              <a:ext cx="354965"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4A130A"/>
                  </a:solidFill>
                  <a:latin typeface="+mn-lt"/>
                  <a:ea typeface="+mn-ea"/>
                  <a:cs typeface="+mn-cs"/>
                </a:rPr>
                <a:t>交叉产品</a:t>
              </a:r>
              <a:br/>
              <a:r>
                <a:rPr lang="zh-CN" sz="680" b="1" dirty="0">
                  <a:solidFill>
                    <a:srgbClr val="4A130A"/>
                  </a:solidFill>
                  <a:latin typeface="+mn-lt"/>
                  <a:ea typeface="+mn-ea"/>
                  <a:cs typeface="+mn-cs"/>
                </a:rPr>
                <a:t>渗透率</a:t>
              </a:r>
            </a:p>
          </p:txBody>
        </p:sp>
        <p:sp>
          <p:nvSpPr>
            <p:cNvPr id="69" name="TextBox 69"/>
            <p:cNvSpPr txBox="1"/>
            <p:nvPr/>
          </p:nvSpPr>
          <p:spPr>
            <a:xfrm>
              <a:off x="6795834" y="1051084"/>
              <a:ext cx="467233"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策略优先级</a:t>
              </a:r>
            </a:p>
          </p:txBody>
        </p:sp>
        <p:sp>
          <p:nvSpPr>
            <p:cNvPr id="70" name="Rectangle 70"/>
            <p:cNvSpPr/>
            <p:nvPr/>
          </p:nvSpPr>
          <p:spPr>
            <a:xfrm>
              <a:off x="3429000" y="1219200"/>
              <a:ext cx="3905250" cy="2514600"/>
            </a:xfrm>
            <a:prstGeom prst="rect">
              <a:avLst/>
            </a:prstGeom>
            <a:solidFill>
              <a:srgbClr val="FFFFFF"/>
            </a:solidFill>
            <a:ln w="9525">
              <a:solidFill>
                <a:srgbClr val="F0B8AE"/>
              </a:solidFill>
            </a:ln>
          </p:spPr>
        </p:sp>
        <p:sp>
          <p:nvSpPr>
            <p:cNvPr id="71" name="Rectangle 71"/>
            <p:cNvSpPr/>
            <p:nvPr/>
          </p:nvSpPr>
          <p:spPr>
            <a:xfrm>
              <a:off x="3429000" y="1638300"/>
              <a:ext cx="3905250" cy="419100"/>
            </a:xfrm>
            <a:prstGeom prst="rect">
              <a:avLst/>
            </a:prstGeom>
            <a:solidFill>
              <a:srgbClr val="FFF8F2"/>
            </a:solidFill>
            <a:ln>
              <a:noFill/>
            </a:ln>
          </p:spPr>
        </p:sp>
        <p:sp>
          <p:nvSpPr>
            <p:cNvPr id="72" name="Rectangle 72"/>
            <p:cNvSpPr/>
            <p:nvPr/>
          </p:nvSpPr>
          <p:spPr>
            <a:xfrm>
              <a:off x="3429000" y="2476500"/>
              <a:ext cx="3905250" cy="419100"/>
            </a:xfrm>
            <a:prstGeom prst="rect">
              <a:avLst/>
            </a:prstGeom>
            <a:solidFill>
              <a:srgbClr val="FFF8F2"/>
            </a:solidFill>
            <a:ln>
              <a:noFill/>
            </a:ln>
          </p:spPr>
        </p:sp>
        <p:sp>
          <p:nvSpPr>
            <p:cNvPr id="73" name="Rectangle 73"/>
            <p:cNvSpPr/>
            <p:nvPr/>
          </p:nvSpPr>
          <p:spPr>
            <a:xfrm>
              <a:off x="3429000" y="3314700"/>
              <a:ext cx="3905250" cy="419100"/>
            </a:xfrm>
            <a:prstGeom prst="rect">
              <a:avLst/>
            </a:prstGeom>
            <a:solidFill>
              <a:srgbClr val="FEF2E6"/>
            </a:solidFill>
            <a:ln>
              <a:noFill/>
            </a:ln>
          </p:spPr>
        </p:sp>
        <p:grpSp>
          <p:nvGrpSpPr>
            <p:cNvPr id="78" name="Group 78"/>
            <p:cNvGrpSpPr/>
            <p:nvPr/>
          </p:nvGrpSpPr>
          <p:grpSpPr>
            <a:xfrm>
              <a:off x="3505200" y="1371600"/>
              <a:ext cx="114300" cy="107950"/>
              <a:chOff x="3505200" y="1371600"/>
              <a:chExt cx="114300" cy="107950"/>
            </a:xfrm>
          </p:grpSpPr>
          <p:sp>
            <p:nvSpPr>
              <p:cNvPr id="74" name="Freeform 74"/>
              <p:cNvSpPr/>
              <p:nvPr/>
            </p:nvSpPr>
            <p:spPr>
              <a:xfrm>
                <a:off x="3505200" y="1397000"/>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D82000"/>
                </a:solidFill>
              </a:ln>
            </p:spPr>
          </p:sp>
          <p:sp>
            <p:nvSpPr>
              <p:cNvPr id="75" name="Freeform 75"/>
              <p:cNvSpPr/>
              <p:nvPr/>
            </p:nvSpPr>
            <p:spPr>
              <a:xfrm>
                <a:off x="3536950" y="1371600"/>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D82000"/>
                </a:solidFill>
              </a:ln>
            </p:spPr>
          </p:sp>
          <p:sp>
            <p:nvSpPr>
              <p:cNvPr id="76" name="Freeform 76"/>
              <p:cNvSpPr/>
              <p:nvPr/>
            </p:nvSpPr>
            <p:spPr>
              <a:xfrm>
                <a:off x="3562350" y="1428750"/>
                <a:ext cx="9525" cy="9525"/>
              </a:xfrm>
              <a:custGeom>
                <a:avLst/>
                <a:gdLst/>
                <a:ahLst/>
                <a:cxnLst/>
                <a:rect l="l" t="t" r="r" b="b"/>
                <a:pathLst>
                  <a:path w="9525" h="9525">
                    <a:moveTo>
                      <a:pt x="0" y="0"/>
                    </a:moveTo>
                    <a:lnTo>
                      <a:pt x="0" y="64"/>
                    </a:lnTo>
                  </a:path>
                </a:pathLst>
              </a:custGeom>
              <a:noFill/>
              <a:ln w="12700">
                <a:solidFill>
                  <a:srgbClr val="D82000"/>
                </a:solidFill>
              </a:ln>
            </p:spPr>
          </p:sp>
          <p:sp>
            <p:nvSpPr>
              <p:cNvPr id="77" name="Freeform 77"/>
              <p:cNvSpPr/>
              <p:nvPr/>
            </p:nvSpPr>
            <p:spPr>
              <a:xfrm>
                <a:off x="3505200" y="1435100"/>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D82000"/>
                </a:solidFill>
              </a:ln>
            </p:spPr>
          </p:sp>
        </p:grpSp>
        <p:sp>
          <p:nvSpPr>
            <p:cNvPr id="79" name="TextBox 79"/>
            <p:cNvSpPr txBox="1"/>
            <p:nvPr/>
          </p:nvSpPr>
          <p:spPr>
            <a:xfrm>
              <a:off x="3690938" y="1389936"/>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优质白领</a:t>
              </a:r>
            </a:p>
          </p:txBody>
        </p:sp>
        <p:sp>
          <p:nvSpPr>
            <p:cNvPr id="80" name="TextBox 80"/>
            <p:cNvSpPr txBox="1"/>
            <p:nvPr/>
          </p:nvSpPr>
          <p:spPr>
            <a:xfrm>
              <a:off x="4317349" y="1385888"/>
              <a:ext cx="509302"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​112,000​</a:t>
              </a:r>
            </a:p>
          </p:txBody>
        </p:sp>
        <p:sp>
          <p:nvSpPr>
            <p:cNvPr id="81" name="TextBox 81"/>
            <p:cNvSpPr txBox="1"/>
            <p:nvPr/>
          </p:nvSpPr>
          <p:spPr>
            <a:xfrm>
              <a:off x="4909518" y="1385888"/>
              <a:ext cx="62036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​1,240,000​</a:t>
              </a:r>
            </a:p>
          </p:txBody>
        </p:sp>
        <p:sp>
          <p:nvSpPr>
            <p:cNvPr id="82" name="TextBox 82"/>
            <p:cNvSpPr txBox="1"/>
            <p:nvPr/>
          </p:nvSpPr>
          <p:spPr>
            <a:xfrm>
              <a:off x="5629608" y="1385888"/>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​18.6%​</a:t>
              </a:r>
            </a:p>
          </p:txBody>
        </p:sp>
        <p:sp>
          <p:nvSpPr>
            <p:cNvPr id="83" name="TextBox 83"/>
            <p:cNvSpPr txBox="1"/>
            <p:nvPr/>
          </p:nvSpPr>
          <p:spPr>
            <a:xfrm>
              <a:off x="6201108" y="1385888"/>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​46.2%​</a:t>
              </a:r>
            </a:p>
          </p:txBody>
        </p:sp>
        <p:sp>
          <p:nvSpPr>
            <p:cNvPr id="84" name="Ellipse 84"/>
            <p:cNvSpPr/>
            <p:nvPr/>
          </p:nvSpPr>
          <p:spPr>
            <a:xfrm>
              <a:off x="6772275" y="1362075"/>
              <a:ext cx="133350" cy="133350"/>
            </a:xfrm>
            <a:prstGeom prst="ellipse">
              <a:avLst/>
            </a:prstGeom>
            <a:solidFill>
              <a:srgbClr val="C41D00"/>
            </a:solidFill>
            <a:ln>
              <a:noFill/>
            </a:ln>
          </p:spPr>
        </p:sp>
        <p:sp>
          <p:nvSpPr>
            <p:cNvPr id="85" name="TextBox 85"/>
            <p:cNvSpPr txBox="1"/>
            <p:nvPr/>
          </p:nvSpPr>
          <p:spPr>
            <a:xfrm>
              <a:off x="6759554" y="1393269"/>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a:t>
              </a:r>
            </a:p>
          </p:txBody>
        </p:sp>
        <p:sp>
          <p:nvSpPr>
            <p:cNvPr id="86" name="TextBox 86"/>
            <p:cNvSpPr txBox="1"/>
            <p:nvPr/>
          </p:nvSpPr>
          <p:spPr>
            <a:xfrm>
              <a:off x="6938962" y="1393984"/>
              <a:ext cx="375691" cy="133350"/>
            </a:xfrm>
            <a:prstGeom prst="rect">
              <a:avLst/>
            </a:prstGeom>
            <a:noFill/>
            <a:ln>
              <a:noFill/>
            </a:ln>
          </p:spPr>
          <p:txBody>
            <a:bodyPr wrap="none" lIns="0" tIns="0" rIns="0" bIns="0" anchor="t" anchorCtr="0">
              <a:spAutoFit/>
            </a:bodyPr>
            <a:lstStyle/>
            <a:p>
              <a:pPr algn="l"/>
              <a:r>
                <a:rPr lang="zh-CN" sz="680" b="1" dirty="0">
                  <a:solidFill>
                    <a:srgbClr val="C41D00"/>
                  </a:solidFill>
                  <a:latin typeface="+mn-lt"/>
                  <a:ea typeface="+mn-ea"/>
                  <a:cs typeface="+mn-cs"/>
                </a:rPr>
                <a:t>最高优先</a:t>
              </a:r>
            </a:p>
          </p:txBody>
        </p:sp>
        <p:grpSp>
          <p:nvGrpSpPr>
            <p:cNvPr id="91" name="Group 91"/>
            <p:cNvGrpSpPr/>
            <p:nvPr/>
          </p:nvGrpSpPr>
          <p:grpSpPr>
            <a:xfrm>
              <a:off x="3511550" y="1790700"/>
              <a:ext cx="101600" cy="114300"/>
              <a:chOff x="3511550" y="1790700"/>
              <a:chExt cx="101600" cy="114300"/>
            </a:xfrm>
          </p:grpSpPr>
          <p:sp>
            <p:nvSpPr>
              <p:cNvPr id="87" name="Freeform 87"/>
              <p:cNvSpPr/>
              <p:nvPr/>
            </p:nvSpPr>
            <p:spPr>
              <a:xfrm>
                <a:off x="3511550" y="18796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82000"/>
                </a:solidFill>
              </a:ln>
            </p:spPr>
          </p:sp>
          <p:sp>
            <p:nvSpPr>
              <p:cNvPr id="88" name="Freeform 88"/>
              <p:cNvSpPr/>
              <p:nvPr/>
            </p:nvSpPr>
            <p:spPr>
              <a:xfrm>
                <a:off x="3581400" y="18796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82000"/>
                </a:solidFill>
              </a:ln>
            </p:spPr>
          </p:sp>
          <p:sp>
            <p:nvSpPr>
              <p:cNvPr id="89" name="Freeform 89"/>
              <p:cNvSpPr/>
              <p:nvPr/>
            </p:nvSpPr>
            <p:spPr>
              <a:xfrm>
                <a:off x="3511550" y="1790700"/>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D82000"/>
                </a:solidFill>
              </a:ln>
            </p:spPr>
          </p:sp>
          <p:sp>
            <p:nvSpPr>
              <p:cNvPr id="90" name="Freeform 90"/>
              <p:cNvSpPr/>
              <p:nvPr/>
            </p:nvSpPr>
            <p:spPr>
              <a:xfrm>
                <a:off x="3524250" y="1803400"/>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D82000"/>
                </a:solidFill>
              </a:ln>
            </p:spPr>
          </p:sp>
        </p:grpSp>
        <p:sp>
          <p:nvSpPr>
            <p:cNvPr id="92" name="TextBox 92"/>
            <p:cNvSpPr txBox="1"/>
            <p:nvPr/>
          </p:nvSpPr>
          <p:spPr>
            <a:xfrm>
              <a:off x="3690938" y="1809036"/>
              <a:ext cx="48742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小微经营主</a:t>
              </a:r>
            </a:p>
          </p:txBody>
        </p:sp>
        <p:sp>
          <p:nvSpPr>
            <p:cNvPr id="93" name="TextBox 93"/>
            <p:cNvSpPr txBox="1"/>
            <p:nvPr/>
          </p:nvSpPr>
          <p:spPr>
            <a:xfrm>
              <a:off x="4345114" y="1804988"/>
              <a:ext cx="453771"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​78,000​</a:t>
              </a:r>
            </a:p>
          </p:txBody>
        </p:sp>
        <p:sp>
          <p:nvSpPr>
            <p:cNvPr id="94" name="TextBox 94"/>
            <p:cNvSpPr txBox="1"/>
            <p:nvPr/>
          </p:nvSpPr>
          <p:spPr>
            <a:xfrm>
              <a:off x="4965049" y="1804988"/>
              <a:ext cx="509302"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​980,000​</a:t>
              </a:r>
            </a:p>
          </p:txBody>
        </p:sp>
        <p:sp>
          <p:nvSpPr>
            <p:cNvPr id="95" name="TextBox 95"/>
            <p:cNvSpPr txBox="1"/>
            <p:nvPr/>
          </p:nvSpPr>
          <p:spPr>
            <a:xfrm>
              <a:off x="5629608" y="1804988"/>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​15.2%​</a:t>
              </a:r>
            </a:p>
          </p:txBody>
        </p:sp>
        <p:sp>
          <p:nvSpPr>
            <p:cNvPr id="96" name="TextBox 96"/>
            <p:cNvSpPr txBox="1"/>
            <p:nvPr/>
          </p:nvSpPr>
          <p:spPr>
            <a:xfrm>
              <a:off x="6201108" y="1804988"/>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​38.5%​</a:t>
              </a:r>
            </a:p>
          </p:txBody>
        </p:sp>
        <p:sp>
          <p:nvSpPr>
            <p:cNvPr id="97" name="Ellipse 97"/>
            <p:cNvSpPr/>
            <p:nvPr/>
          </p:nvSpPr>
          <p:spPr>
            <a:xfrm>
              <a:off x="6772275" y="1781175"/>
              <a:ext cx="133350" cy="133350"/>
            </a:xfrm>
            <a:prstGeom prst="ellipse">
              <a:avLst/>
            </a:prstGeom>
            <a:solidFill>
              <a:srgbClr val="C41D00"/>
            </a:solidFill>
            <a:ln>
              <a:noFill/>
            </a:ln>
          </p:spPr>
        </p:sp>
        <p:sp>
          <p:nvSpPr>
            <p:cNvPr id="98" name="TextBox 98"/>
            <p:cNvSpPr txBox="1"/>
            <p:nvPr/>
          </p:nvSpPr>
          <p:spPr>
            <a:xfrm>
              <a:off x="6759554" y="1812369"/>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a:t>
              </a:r>
            </a:p>
          </p:txBody>
        </p:sp>
        <p:sp>
          <p:nvSpPr>
            <p:cNvPr id="99" name="TextBox 99"/>
            <p:cNvSpPr txBox="1"/>
            <p:nvPr/>
          </p:nvSpPr>
          <p:spPr>
            <a:xfrm>
              <a:off x="6938962" y="1813084"/>
              <a:ext cx="284150" cy="133350"/>
            </a:xfrm>
            <a:prstGeom prst="rect">
              <a:avLst/>
            </a:prstGeom>
            <a:noFill/>
            <a:ln>
              <a:noFill/>
            </a:ln>
          </p:spPr>
          <p:txBody>
            <a:bodyPr wrap="none" lIns="0" tIns="0" rIns="0" bIns="0" anchor="t" anchorCtr="0">
              <a:spAutoFit/>
            </a:bodyPr>
            <a:lstStyle/>
            <a:p>
              <a:pPr algn="l"/>
              <a:r>
                <a:rPr lang="zh-CN" sz="680" b="1" dirty="0">
                  <a:solidFill>
                    <a:srgbClr val="C41D00"/>
                  </a:solidFill>
                  <a:latin typeface="+mn-lt"/>
                  <a:ea typeface="+mn-ea"/>
                  <a:cs typeface="+mn-cs"/>
                </a:rPr>
                <a:t>高优先</a:t>
              </a:r>
            </a:p>
          </p:txBody>
        </p:sp>
        <p:grpSp>
          <p:nvGrpSpPr>
            <p:cNvPr id="103" name="Group 103"/>
            <p:cNvGrpSpPr/>
            <p:nvPr/>
          </p:nvGrpSpPr>
          <p:grpSpPr>
            <a:xfrm>
              <a:off x="3505200" y="2209800"/>
              <a:ext cx="114300" cy="114300"/>
              <a:chOff x="3505200" y="2209800"/>
              <a:chExt cx="114300" cy="114300"/>
            </a:xfrm>
          </p:grpSpPr>
          <p:sp>
            <p:nvSpPr>
              <p:cNvPr id="100" name="Freeform 100"/>
              <p:cNvSpPr/>
              <p:nvPr/>
            </p:nvSpPr>
            <p:spPr>
              <a:xfrm>
                <a:off x="3505200" y="2209800"/>
                <a:ext cx="114300" cy="57150"/>
              </a:xfrm>
              <a:custGeom>
                <a:avLst/>
                <a:gdLst/>
                <a:ahLst/>
                <a:cxnLst/>
                <a:rect l="l" t="t" r="r" b="b"/>
                <a:pathLst>
                  <a:path w="114300" h="57150">
                    <a:moveTo>
                      <a:pt x="12700" y="57150"/>
                    </a:moveTo>
                    <a:lnTo>
                      <a:pt x="0" y="57150"/>
                    </a:lnTo>
                    <a:lnTo>
                      <a:pt x="57150" y="0"/>
                    </a:lnTo>
                    <a:lnTo>
                      <a:pt x="114300" y="57150"/>
                    </a:lnTo>
                    <a:lnTo>
                      <a:pt x="101600" y="57150"/>
                    </a:lnTo>
                  </a:path>
                </a:pathLst>
              </a:custGeom>
              <a:noFill/>
              <a:ln w="12700">
                <a:solidFill>
                  <a:srgbClr val="D82000"/>
                </a:solidFill>
              </a:ln>
            </p:spPr>
          </p:sp>
          <p:sp>
            <p:nvSpPr>
              <p:cNvPr id="101" name="Freeform 101"/>
              <p:cNvSpPr/>
              <p:nvPr/>
            </p:nvSpPr>
            <p:spPr>
              <a:xfrm>
                <a:off x="3517900" y="2266950"/>
                <a:ext cx="88900" cy="57150"/>
              </a:xfrm>
              <a:custGeom>
                <a:avLst/>
                <a:gdLst/>
                <a:ahLst/>
                <a:cxnLst/>
                <a:rect l="l" t="t" r="r" b="b"/>
                <a:pathLst>
                  <a:path w="88900" h="57150">
                    <a:moveTo>
                      <a:pt x="0" y="0"/>
                    </a:moveTo>
                    <a:lnTo>
                      <a:pt x="0" y="44450"/>
                    </a:lnTo>
                    <a:cubicBezTo>
                      <a:pt x="0" y="51464"/>
                      <a:pt x="5686" y="57150"/>
                      <a:pt x="12700" y="57150"/>
                    </a:cubicBezTo>
                    <a:lnTo>
                      <a:pt x="76200" y="57150"/>
                    </a:lnTo>
                    <a:cubicBezTo>
                      <a:pt x="83214" y="57150"/>
                      <a:pt x="88900" y="51464"/>
                      <a:pt x="88900" y="44450"/>
                    </a:cubicBezTo>
                    <a:lnTo>
                      <a:pt x="88900" y="0"/>
                    </a:lnTo>
                  </a:path>
                </a:pathLst>
              </a:custGeom>
              <a:noFill/>
              <a:ln w="12700">
                <a:solidFill>
                  <a:srgbClr val="D82000"/>
                </a:solidFill>
              </a:ln>
            </p:spPr>
          </p:sp>
          <p:sp>
            <p:nvSpPr>
              <p:cNvPr id="102" name="Freeform 102"/>
              <p:cNvSpPr/>
              <p:nvPr/>
            </p:nvSpPr>
            <p:spPr>
              <a:xfrm>
                <a:off x="3543300" y="2273300"/>
                <a:ext cx="38100" cy="50800"/>
              </a:xfrm>
              <a:custGeom>
                <a:avLst/>
                <a:gdLst/>
                <a:ahLst/>
                <a:cxnLst/>
                <a:rect l="l" t="t" r="r" b="b"/>
                <a:pathLst>
                  <a:path w="38100" h="50800">
                    <a:moveTo>
                      <a:pt x="0" y="50800"/>
                    </a:moveTo>
                    <a:lnTo>
                      <a:pt x="0" y="12700"/>
                    </a:lnTo>
                    <a:cubicBezTo>
                      <a:pt x="0" y="5686"/>
                      <a:pt x="5686" y="0"/>
                      <a:pt x="12700" y="0"/>
                    </a:cubicBezTo>
                    <a:lnTo>
                      <a:pt x="25400" y="0"/>
                    </a:lnTo>
                    <a:cubicBezTo>
                      <a:pt x="32414" y="0"/>
                      <a:pt x="38100" y="5686"/>
                      <a:pt x="38100" y="12700"/>
                    </a:cubicBezTo>
                    <a:lnTo>
                      <a:pt x="38100" y="50800"/>
                    </a:lnTo>
                  </a:path>
                </a:pathLst>
              </a:custGeom>
              <a:noFill/>
              <a:ln w="12700">
                <a:solidFill>
                  <a:srgbClr val="D82000"/>
                </a:solidFill>
              </a:ln>
            </p:spPr>
          </p:sp>
        </p:grpSp>
        <p:sp>
          <p:nvSpPr>
            <p:cNvPr id="104" name="TextBox 104"/>
            <p:cNvSpPr txBox="1"/>
            <p:nvPr/>
          </p:nvSpPr>
          <p:spPr>
            <a:xfrm>
              <a:off x="3690938" y="2228136"/>
              <a:ext cx="48742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城市新市民</a:t>
              </a:r>
            </a:p>
          </p:txBody>
        </p:sp>
        <p:sp>
          <p:nvSpPr>
            <p:cNvPr id="105" name="TextBox 105"/>
            <p:cNvSpPr txBox="1"/>
            <p:nvPr/>
          </p:nvSpPr>
          <p:spPr>
            <a:xfrm>
              <a:off x="4345114" y="2224088"/>
              <a:ext cx="453771"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​96,000​</a:t>
              </a:r>
            </a:p>
          </p:txBody>
        </p:sp>
        <p:sp>
          <p:nvSpPr>
            <p:cNvPr id="106" name="TextBox 106"/>
            <p:cNvSpPr txBox="1"/>
            <p:nvPr/>
          </p:nvSpPr>
          <p:spPr>
            <a:xfrm>
              <a:off x="4965049" y="2224088"/>
              <a:ext cx="509302"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​720,000​</a:t>
              </a:r>
            </a:p>
          </p:txBody>
        </p:sp>
        <p:sp>
          <p:nvSpPr>
            <p:cNvPr id="107" name="TextBox 107"/>
            <p:cNvSpPr txBox="1"/>
            <p:nvPr/>
          </p:nvSpPr>
          <p:spPr>
            <a:xfrm>
              <a:off x="5629608" y="2224088"/>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​11.9%​</a:t>
              </a:r>
            </a:p>
          </p:txBody>
        </p:sp>
        <p:sp>
          <p:nvSpPr>
            <p:cNvPr id="108" name="TextBox 108"/>
            <p:cNvSpPr txBox="1"/>
            <p:nvPr/>
          </p:nvSpPr>
          <p:spPr>
            <a:xfrm>
              <a:off x="6201108" y="2224088"/>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​29.1%​</a:t>
              </a:r>
            </a:p>
          </p:txBody>
        </p:sp>
        <p:sp>
          <p:nvSpPr>
            <p:cNvPr id="109" name="Ellipse 109"/>
            <p:cNvSpPr/>
            <p:nvPr/>
          </p:nvSpPr>
          <p:spPr>
            <a:xfrm>
              <a:off x="6772275" y="2200275"/>
              <a:ext cx="133350" cy="133350"/>
            </a:xfrm>
            <a:prstGeom prst="ellipse">
              <a:avLst/>
            </a:prstGeom>
            <a:solidFill>
              <a:srgbClr val="EE492C"/>
            </a:solidFill>
            <a:ln>
              <a:noFill/>
            </a:ln>
          </p:spPr>
        </p:sp>
        <p:sp>
          <p:nvSpPr>
            <p:cNvPr id="110" name="TextBox 110"/>
            <p:cNvSpPr txBox="1"/>
            <p:nvPr/>
          </p:nvSpPr>
          <p:spPr>
            <a:xfrm>
              <a:off x="6759554" y="2231469"/>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a:t>
              </a:r>
            </a:p>
          </p:txBody>
        </p:sp>
        <p:sp>
          <p:nvSpPr>
            <p:cNvPr id="111" name="TextBox 111"/>
            <p:cNvSpPr txBox="1"/>
            <p:nvPr/>
          </p:nvSpPr>
          <p:spPr>
            <a:xfrm>
              <a:off x="6938962" y="2232184"/>
              <a:ext cx="284150" cy="133350"/>
            </a:xfrm>
            <a:prstGeom prst="rect">
              <a:avLst/>
            </a:prstGeom>
            <a:noFill/>
            <a:ln>
              <a:noFill/>
            </a:ln>
          </p:spPr>
          <p:txBody>
            <a:bodyPr wrap="none" lIns="0" tIns="0" rIns="0" bIns="0" anchor="t" anchorCtr="0">
              <a:spAutoFit/>
            </a:bodyPr>
            <a:lstStyle/>
            <a:p>
              <a:pPr algn="l"/>
              <a:r>
                <a:rPr lang="zh-CN" sz="680" b="1" dirty="0">
                  <a:solidFill>
                    <a:srgbClr val="C41D00"/>
                  </a:solidFill>
                  <a:latin typeface="+mn-lt"/>
                  <a:ea typeface="+mn-ea"/>
                  <a:cs typeface="+mn-cs"/>
                </a:rPr>
                <a:t>中优先</a:t>
              </a:r>
            </a:p>
          </p:txBody>
        </p:sp>
        <p:grpSp>
          <p:nvGrpSpPr>
            <p:cNvPr id="116" name="Group 116"/>
            <p:cNvGrpSpPr/>
            <p:nvPr/>
          </p:nvGrpSpPr>
          <p:grpSpPr>
            <a:xfrm>
              <a:off x="3505200" y="2628900"/>
              <a:ext cx="114300" cy="114301"/>
              <a:chOff x="3505200" y="2628900"/>
              <a:chExt cx="114300" cy="114301"/>
            </a:xfrm>
          </p:grpSpPr>
          <p:sp>
            <p:nvSpPr>
              <p:cNvPr id="112" name="Freeform 112"/>
              <p:cNvSpPr/>
              <p:nvPr/>
            </p:nvSpPr>
            <p:spPr>
              <a:xfrm>
                <a:off x="3517900" y="26289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D82000"/>
                </a:solidFill>
              </a:ln>
            </p:spPr>
          </p:sp>
          <p:sp>
            <p:nvSpPr>
              <p:cNvPr id="113" name="Freeform 113"/>
              <p:cNvSpPr/>
              <p:nvPr/>
            </p:nvSpPr>
            <p:spPr>
              <a:xfrm>
                <a:off x="3505200" y="27051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D82000"/>
                </a:solidFill>
              </a:ln>
            </p:spPr>
          </p:sp>
          <p:sp>
            <p:nvSpPr>
              <p:cNvPr id="114" name="Freeform 114"/>
              <p:cNvSpPr/>
              <p:nvPr/>
            </p:nvSpPr>
            <p:spPr>
              <a:xfrm>
                <a:off x="3587750" y="26297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D82000"/>
                </a:solidFill>
              </a:ln>
            </p:spPr>
          </p:sp>
          <p:sp>
            <p:nvSpPr>
              <p:cNvPr id="115" name="Freeform 115"/>
              <p:cNvSpPr/>
              <p:nvPr/>
            </p:nvSpPr>
            <p:spPr>
              <a:xfrm>
                <a:off x="3600450" y="27060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D82000"/>
                </a:solidFill>
              </a:ln>
            </p:spPr>
          </p:sp>
        </p:grpSp>
        <p:sp>
          <p:nvSpPr>
            <p:cNvPr id="117" name="TextBox 117"/>
            <p:cNvSpPr txBox="1"/>
            <p:nvPr/>
          </p:nvSpPr>
          <p:spPr>
            <a:xfrm>
              <a:off x="3690938" y="2647236"/>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年轻客群</a:t>
              </a:r>
            </a:p>
          </p:txBody>
        </p:sp>
        <p:sp>
          <p:nvSpPr>
            <p:cNvPr id="118" name="TextBox 118"/>
            <p:cNvSpPr txBox="1"/>
            <p:nvPr/>
          </p:nvSpPr>
          <p:spPr>
            <a:xfrm>
              <a:off x="4345114" y="2643188"/>
              <a:ext cx="453771"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​64,000​</a:t>
              </a:r>
            </a:p>
          </p:txBody>
        </p:sp>
        <p:sp>
          <p:nvSpPr>
            <p:cNvPr id="119" name="TextBox 119"/>
            <p:cNvSpPr txBox="1"/>
            <p:nvPr/>
          </p:nvSpPr>
          <p:spPr>
            <a:xfrm>
              <a:off x="4965049" y="2643188"/>
              <a:ext cx="509302"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​410,000​</a:t>
              </a:r>
            </a:p>
          </p:txBody>
        </p:sp>
        <p:sp>
          <p:nvSpPr>
            <p:cNvPr id="120" name="TextBox 120"/>
            <p:cNvSpPr txBox="1"/>
            <p:nvPr/>
          </p:nvSpPr>
          <p:spPr>
            <a:xfrm>
              <a:off x="5657374" y="2643188"/>
              <a:ext cx="362902"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​9.3%​</a:t>
              </a:r>
            </a:p>
          </p:txBody>
        </p:sp>
        <p:sp>
          <p:nvSpPr>
            <p:cNvPr id="121" name="TextBox 121"/>
            <p:cNvSpPr txBox="1"/>
            <p:nvPr/>
          </p:nvSpPr>
          <p:spPr>
            <a:xfrm>
              <a:off x="6201108" y="2643188"/>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​32.8%​</a:t>
              </a:r>
            </a:p>
          </p:txBody>
        </p:sp>
        <p:sp>
          <p:nvSpPr>
            <p:cNvPr id="122" name="Ellipse 122"/>
            <p:cNvSpPr/>
            <p:nvPr/>
          </p:nvSpPr>
          <p:spPr>
            <a:xfrm>
              <a:off x="6772275" y="2619375"/>
              <a:ext cx="133350" cy="133350"/>
            </a:xfrm>
            <a:prstGeom prst="ellipse">
              <a:avLst/>
            </a:prstGeom>
            <a:solidFill>
              <a:srgbClr val="EE492C"/>
            </a:solidFill>
            <a:ln>
              <a:noFill/>
            </a:ln>
          </p:spPr>
        </p:sp>
        <p:sp>
          <p:nvSpPr>
            <p:cNvPr id="123" name="TextBox 123"/>
            <p:cNvSpPr txBox="1"/>
            <p:nvPr/>
          </p:nvSpPr>
          <p:spPr>
            <a:xfrm>
              <a:off x="6759554" y="2650569"/>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a:t>
              </a:r>
            </a:p>
          </p:txBody>
        </p:sp>
        <p:sp>
          <p:nvSpPr>
            <p:cNvPr id="124" name="TextBox 124"/>
            <p:cNvSpPr txBox="1"/>
            <p:nvPr/>
          </p:nvSpPr>
          <p:spPr>
            <a:xfrm>
              <a:off x="6938962" y="2651284"/>
              <a:ext cx="284150" cy="133350"/>
            </a:xfrm>
            <a:prstGeom prst="rect">
              <a:avLst/>
            </a:prstGeom>
            <a:noFill/>
            <a:ln>
              <a:noFill/>
            </a:ln>
          </p:spPr>
          <p:txBody>
            <a:bodyPr wrap="none" lIns="0" tIns="0" rIns="0" bIns="0" anchor="t" anchorCtr="0">
              <a:spAutoFit/>
            </a:bodyPr>
            <a:lstStyle/>
            <a:p>
              <a:pPr algn="l"/>
              <a:r>
                <a:rPr lang="zh-CN" sz="680" b="1" dirty="0">
                  <a:solidFill>
                    <a:srgbClr val="C41D00"/>
                  </a:solidFill>
                  <a:latin typeface="+mn-lt"/>
                  <a:ea typeface="+mn-ea"/>
                  <a:cs typeface="+mn-cs"/>
                </a:rPr>
                <a:t>中优先</a:t>
              </a:r>
            </a:p>
          </p:txBody>
        </p:sp>
        <p:grpSp>
          <p:nvGrpSpPr>
            <p:cNvPr id="128" name="Group 128"/>
            <p:cNvGrpSpPr/>
            <p:nvPr/>
          </p:nvGrpSpPr>
          <p:grpSpPr>
            <a:xfrm>
              <a:off x="3524250" y="3048000"/>
              <a:ext cx="95250" cy="114300"/>
              <a:chOff x="3524250" y="3048000"/>
              <a:chExt cx="95250" cy="114300"/>
            </a:xfrm>
          </p:grpSpPr>
          <p:sp>
            <p:nvSpPr>
              <p:cNvPr id="125" name="Freeform 125"/>
              <p:cNvSpPr/>
              <p:nvPr/>
            </p:nvSpPr>
            <p:spPr>
              <a:xfrm>
                <a:off x="3536950" y="30480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D82000"/>
                </a:solidFill>
              </a:ln>
            </p:spPr>
          </p:sp>
          <p:sp>
            <p:nvSpPr>
              <p:cNvPr id="126" name="Freeform 126"/>
              <p:cNvSpPr/>
              <p:nvPr/>
            </p:nvSpPr>
            <p:spPr>
              <a:xfrm>
                <a:off x="3524250" y="31242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D82000"/>
                </a:solidFill>
              </a:ln>
            </p:spPr>
          </p:sp>
          <p:sp>
            <p:nvSpPr>
              <p:cNvPr id="127" name="Freeform 127"/>
              <p:cNvSpPr/>
              <p:nvPr/>
            </p:nvSpPr>
            <p:spPr>
              <a:xfrm>
                <a:off x="3581400" y="3136900"/>
                <a:ext cx="38100" cy="25400"/>
              </a:xfrm>
              <a:custGeom>
                <a:avLst/>
                <a:gdLst/>
                <a:ahLst/>
                <a:cxnLst/>
                <a:rect l="l" t="t" r="r" b="b"/>
                <a:pathLst>
                  <a:path w="38100" h="25400">
                    <a:moveTo>
                      <a:pt x="0" y="12700"/>
                    </a:moveTo>
                    <a:lnTo>
                      <a:pt x="12700" y="25400"/>
                    </a:lnTo>
                    <a:lnTo>
                      <a:pt x="38100" y="0"/>
                    </a:lnTo>
                  </a:path>
                </a:pathLst>
              </a:custGeom>
              <a:noFill/>
              <a:ln w="12700">
                <a:solidFill>
                  <a:srgbClr val="D82000"/>
                </a:solidFill>
              </a:ln>
            </p:spPr>
          </p:sp>
        </p:grpSp>
        <p:sp>
          <p:nvSpPr>
            <p:cNvPr id="129" name="TextBox 129"/>
            <p:cNvSpPr txBox="1"/>
            <p:nvPr/>
          </p:nvSpPr>
          <p:spPr>
            <a:xfrm>
              <a:off x="3690938" y="3066336"/>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银发客户</a:t>
              </a:r>
            </a:p>
          </p:txBody>
        </p:sp>
        <p:sp>
          <p:nvSpPr>
            <p:cNvPr id="130" name="TextBox 130"/>
            <p:cNvSpPr txBox="1"/>
            <p:nvPr/>
          </p:nvSpPr>
          <p:spPr>
            <a:xfrm>
              <a:off x="4345114" y="3062288"/>
              <a:ext cx="453771"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​10,000​</a:t>
              </a:r>
            </a:p>
          </p:txBody>
        </p:sp>
        <p:sp>
          <p:nvSpPr>
            <p:cNvPr id="131" name="TextBox 131"/>
            <p:cNvSpPr txBox="1"/>
            <p:nvPr/>
          </p:nvSpPr>
          <p:spPr>
            <a:xfrm>
              <a:off x="4965049" y="3062288"/>
              <a:ext cx="509302"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​220,000​</a:t>
              </a:r>
            </a:p>
          </p:txBody>
        </p:sp>
        <p:sp>
          <p:nvSpPr>
            <p:cNvPr id="132" name="TextBox 132"/>
            <p:cNvSpPr txBox="1"/>
            <p:nvPr/>
          </p:nvSpPr>
          <p:spPr>
            <a:xfrm>
              <a:off x="5657374" y="3062288"/>
              <a:ext cx="362902"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​7.6%​</a:t>
              </a:r>
            </a:p>
          </p:txBody>
        </p:sp>
        <p:sp>
          <p:nvSpPr>
            <p:cNvPr id="133" name="TextBox 133"/>
            <p:cNvSpPr txBox="1"/>
            <p:nvPr/>
          </p:nvSpPr>
          <p:spPr>
            <a:xfrm>
              <a:off x="6201108" y="3062288"/>
              <a:ext cx="418433" cy="147638"/>
            </a:xfrm>
            <a:prstGeom prst="rect">
              <a:avLst/>
            </a:prstGeom>
            <a:noFill/>
            <a:ln>
              <a:noFill/>
            </a:ln>
          </p:spPr>
          <p:txBody>
            <a:bodyPr wrap="none" lIns="0" tIns="0" rIns="0" bIns="0" anchor="t" anchorCtr="0">
              <a:spAutoFit/>
            </a:bodyPr>
            <a:lstStyle/>
            <a:p>
              <a:pPr algn="ctr"/>
              <a:r>
                <a:rPr lang="zh-CN" sz="750" dirty="0">
                  <a:solidFill>
                    <a:srgbClr val="3D3835"/>
                  </a:solidFill>
                  <a:latin typeface="+mn-lt"/>
                  <a:ea typeface="+mn-ea"/>
                  <a:cs typeface="+mn-cs"/>
                </a:rPr>
                <a:t>​24.3%​</a:t>
              </a:r>
            </a:p>
          </p:txBody>
        </p:sp>
        <p:sp>
          <p:nvSpPr>
            <p:cNvPr id="134" name="Ellipse 134"/>
            <p:cNvSpPr/>
            <p:nvPr/>
          </p:nvSpPr>
          <p:spPr>
            <a:xfrm>
              <a:off x="6772275" y="3038475"/>
              <a:ext cx="133350" cy="133350"/>
            </a:xfrm>
            <a:prstGeom prst="ellipse">
              <a:avLst/>
            </a:prstGeom>
            <a:solidFill>
              <a:srgbClr val="F57E6A"/>
            </a:solidFill>
            <a:ln>
              <a:noFill/>
            </a:ln>
          </p:spPr>
        </p:sp>
        <p:sp>
          <p:nvSpPr>
            <p:cNvPr id="135" name="TextBox 135"/>
            <p:cNvSpPr txBox="1"/>
            <p:nvPr/>
          </p:nvSpPr>
          <p:spPr>
            <a:xfrm>
              <a:off x="6759554" y="3069669"/>
              <a:ext cx="15879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a:t>
              </a:r>
            </a:p>
          </p:txBody>
        </p:sp>
        <p:sp>
          <p:nvSpPr>
            <p:cNvPr id="136" name="TextBox 136"/>
            <p:cNvSpPr txBox="1"/>
            <p:nvPr/>
          </p:nvSpPr>
          <p:spPr>
            <a:xfrm>
              <a:off x="6938962" y="3070384"/>
              <a:ext cx="284150" cy="133350"/>
            </a:xfrm>
            <a:prstGeom prst="rect">
              <a:avLst/>
            </a:prstGeom>
            <a:noFill/>
            <a:ln>
              <a:noFill/>
            </a:ln>
          </p:spPr>
          <p:txBody>
            <a:bodyPr wrap="none" lIns="0" tIns="0" rIns="0" bIns="0" anchor="t" anchorCtr="0">
              <a:spAutoFit/>
            </a:bodyPr>
            <a:lstStyle/>
            <a:p>
              <a:pPr algn="l"/>
              <a:r>
                <a:rPr lang="zh-CN" sz="680" b="1" dirty="0">
                  <a:solidFill>
                    <a:srgbClr val="C41D00"/>
                  </a:solidFill>
                  <a:latin typeface="+mn-lt"/>
                  <a:ea typeface="+mn-ea"/>
                  <a:cs typeface="+mn-cs"/>
                </a:rPr>
                <a:t>低优先</a:t>
              </a:r>
            </a:p>
          </p:txBody>
        </p:sp>
        <p:sp>
          <p:nvSpPr>
            <p:cNvPr id="137" name="TextBox 137"/>
            <p:cNvSpPr txBox="1"/>
            <p:nvPr/>
          </p:nvSpPr>
          <p:spPr>
            <a:xfrm>
              <a:off x="3483326" y="3485436"/>
              <a:ext cx="748599"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​合计/加权平均​</a:t>
              </a:r>
            </a:p>
          </p:txBody>
        </p:sp>
        <p:sp>
          <p:nvSpPr>
            <p:cNvPr id="138" name="TextBox 138"/>
            <p:cNvSpPr txBox="1"/>
            <p:nvPr/>
          </p:nvSpPr>
          <p:spPr>
            <a:xfrm>
              <a:off x="4304855" y="3481388"/>
              <a:ext cx="534291"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​360,000​</a:t>
              </a:r>
            </a:p>
          </p:txBody>
        </p:sp>
        <p:sp>
          <p:nvSpPr>
            <p:cNvPr id="139" name="TextBox 139"/>
            <p:cNvSpPr txBox="1"/>
            <p:nvPr/>
          </p:nvSpPr>
          <p:spPr>
            <a:xfrm>
              <a:off x="4835940" y="3481388"/>
              <a:ext cx="767520"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​​3,570,000​​</a:t>
              </a:r>
            </a:p>
          </p:txBody>
        </p:sp>
        <p:sp>
          <p:nvSpPr>
            <p:cNvPr id="140" name="TextBox 140"/>
            <p:cNvSpPr txBox="1"/>
            <p:nvPr/>
          </p:nvSpPr>
          <p:spPr>
            <a:xfrm>
              <a:off x="5619386" y="3481388"/>
              <a:ext cx="438879"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​13.4%​</a:t>
              </a:r>
            </a:p>
          </p:txBody>
        </p:sp>
        <p:sp>
          <p:nvSpPr>
            <p:cNvPr id="141" name="TextBox 141"/>
            <p:cNvSpPr txBox="1"/>
            <p:nvPr/>
          </p:nvSpPr>
          <p:spPr>
            <a:xfrm>
              <a:off x="6190886" y="3481388"/>
              <a:ext cx="438879"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​36.2%​</a:t>
              </a:r>
            </a:p>
          </p:txBody>
        </p:sp>
        <p:sp>
          <p:nvSpPr>
            <p:cNvPr id="142" name="TextBox 142"/>
            <p:cNvSpPr txBox="1"/>
            <p:nvPr/>
          </p:nvSpPr>
          <p:spPr>
            <a:xfrm>
              <a:off x="6941391" y="3481388"/>
              <a:ext cx="176117" cy="147638"/>
            </a:xfrm>
            <a:prstGeom prst="rect">
              <a:avLst/>
            </a:prstGeom>
            <a:noFill/>
            <a:ln>
              <a:noFill/>
            </a:ln>
          </p:spPr>
          <p:txBody>
            <a:bodyPr wrap="none" lIns="0" tIns="0" rIns="0" bIns="0" anchor="t" anchorCtr="0">
              <a:spAutoFit/>
            </a:bodyPr>
            <a:lstStyle/>
            <a:p>
              <a:pPr algn="ctr"/>
              <a:r>
                <a:rPr lang="zh-CN" sz="750" dirty="0">
                  <a:solidFill>
                    <a:srgbClr val="7A716B"/>
                  </a:solidFill>
                  <a:latin typeface="+mn-lt"/>
                  <a:ea typeface="+mn-ea"/>
                  <a:cs typeface="+mn-cs"/>
                </a:rPr>
                <a:t>​—​</a:t>
              </a:r>
            </a:p>
          </p:txBody>
        </p:sp>
        <p:sp>
          <p:nvSpPr>
            <p:cNvPr id="143" name="Line 143"/>
            <p:cNvSpPr/>
            <p:nvPr/>
          </p:nvSpPr>
          <p:spPr>
            <a:xfrm>
              <a:off x="4286250" y="952500"/>
              <a:ext cx="9525" cy="2781300"/>
            </a:xfrm>
            <a:custGeom>
              <a:avLst/>
              <a:gdLst/>
              <a:ahLst/>
              <a:cxnLst/>
              <a:rect l="l" t="t" r="r" b="b"/>
              <a:pathLst>
                <a:path w="9525" h="2781300">
                  <a:moveTo>
                    <a:pt x="0" y="0"/>
                  </a:moveTo>
                  <a:lnTo>
                    <a:pt x="0" y="2781300"/>
                  </a:lnTo>
                </a:path>
              </a:pathLst>
            </a:custGeom>
            <a:noFill/>
            <a:ln w="9525">
              <a:solidFill>
                <a:srgbClr val="EADBCE"/>
              </a:solidFill>
            </a:ln>
          </p:spPr>
        </p:sp>
        <p:sp>
          <p:nvSpPr>
            <p:cNvPr id="144" name="Line 144"/>
            <p:cNvSpPr/>
            <p:nvPr/>
          </p:nvSpPr>
          <p:spPr>
            <a:xfrm>
              <a:off x="4857750" y="952500"/>
              <a:ext cx="9525" cy="2781300"/>
            </a:xfrm>
            <a:custGeom>
              <a:avLst/>
              <a:gdLst/>
              <a:ahLst/>
              <a:cxnLst/>
              <a:rect l="l" t="t" r="r" b="b"/>
              <a:pathLst>
                <a:path w="9525" h="2781300">
                  <a:moveTo>
                    <a:pt x="0" y="0"/>
                  </a:moveTo>
                  <a:lnTo>
                    <a:pt x="0" y="2781300"/>
                  </a:lnTo>
                </a:path>
              </a:pathLst>
            </a:custGeom>
            <a:noFill/>
            <a:ln w="9525">
              <a:solidFill>
                <a:srgbClr val="EADBCE"/>
              </a:solidFill>
            </a:ln>
          </p:spPr>
        </p:sp>
        <p:sp>
          <p:nvSpPr>
            <p:cNvPr id="145" name="Line 145"/>
            <p:cNvSpPr/>
            <p:nvPr/>
          </p:nvSpPr>
          <p:spPr>
            <a:xfrm>
              <a:off x="5581650" y="952500"/>
              <a:ext cx="9525" cy="2781300"/>
            </a:xfrm>
            <a:custGeom>
              <a:avLst/>
              <a:gdLst/>
              <a:ahLst/>
              <a:cxnLst/>
              <a:rect l="l" t="t" r="r" b="b"/>
              <a:pathLst>
                <a:path w="9525" h="2781300">
                  <a:moveTo>
                    <a:pt x="0" y="0"/>
                  </a:moveTo>
                  <a:lnTo>
                    <a:pt x="0" y="2781300"/>
                  </a:lnTo>
                </a:path>
              </a:pathLst>
            </a:custGeom>
            <a:noFill/>
            <a:ln w="9525">
              <a:solidFill>
                <a:srgbClr val="EADBCE"/>
              </a:solidFill>
            </a:ln>
          </p:spPr>
        </p:sp>
        <p:sp>
          <p:nvSpPr>
            <p:cNvPr id="146" name="Line 146"/>
            <p:cNvSpPr/>
            <p:nvPr/>
          </p:nvSpPr>
          <p:spPr>
            <a:xfrm>
              <a:off x="6096000" y="952500"/>
              <a:ext cx="9525" cy="2781300"/>
            </a:xfrm>
            <a:custGeom>
              <a:avLst/>
              <a:gdLst/>
              <a:ahLst/>
              <a:cxnLst/>
              <a:rect l="l" t="t" r="r" b="b"/>
              <a:pathLst>
                <a:path w="9525" h="2781300">
                  <a:moveTo>
                    <a:pt x="0" y="0"/>
                  </a:moveTo>
                  <a:lnTo>
                    <a:pt x="0" y="2781300"/>
                  </a:lnTo>
                </a:path>
              </a:pathLst>
            </a:custGeom>
            <a:noFill/>
            <a:ln w="9525">
              <a:solidFill>
                <a:srgbClr val="EADBCE"/>
              </a:solidFill>
            </a:ln>
          </p:spPr>
        </p:sp>
        <p:sp>
          <p:nvSpPr>
            <p:cNvPr id="147" name="Line 147"/>
            <p:cNvSpPr/>
            <p:nvPr/>
          </p:nvSpPr>
          <p:spPr>
            <a:xfrm>
              <a:off x="6724650" y="952500"/>
              <a:ext cx="9525" cy="2781300"/>
            </a:xfrm>
            <a:custGeom>
              <a:avLst/>
              <a:gdLst/>
              <a:ahLst/>
              <a:cxnLst/>
              <a:rect l="l" t="t" r="r" b="b"/>
              <a:pathLst>
                <a:path w="9525" h="2781300">
                  <a:moveTo>
                    <a:pt x="0" y="0"/>
                  </a:moveTo>
                  <a:lnTo>
                    <a:pt x="0" y="2781300"/>
                  </a:lnTo>
                </a:path>
              </a:pathLst>
            </a:custGeom>
            <a:noFill/>
            <a:ln w="9525">
              <a:solidFill>
                <a:srgbClr val="EADBCE"/>
              </a:solidFill>
            </a:ln>
          </p:spPr>
        </p:sp>
        <p:sp>
          <p:nvSpPr>
            <p:cNvPr id="148" name="Line 148"/>
            <p:cNvSpPr/>
            <p:nvPr/>
          </p:nvSpPr>
          <p:spPr>
            <a:xfrm>
              <a:off x="3429000" y="1638300"/>
              <a:ext cx="3905250" cy="9525"/>
            </a:xfrm>
            <a:custGeom>
              <a:avLst/>
              <a:gdLst/>
              <a:ahLst/>
              <a:cxnLst/>
              <a:rect l="l" t="t" r="r" b="b"/>
              <a:pathLst>
                <a:path w="3905250" h="9525">
                  <a:moveTo>
                    <a:pt x="0" y="0"/>
                  </a:moveTo>
                  <a:lnTo>
                    <a:pt x="3905250" y="0"/>
                  </a:lnTo>
                </a:path>
              </a:pathLst>
            </a:custGeom>
            <a:noFill/>
            <a:ln w="9525">
              <a:solidFill>
                <a:srgbClr val="EADBCE"/>
              </a:solidFill>
            </a:ln>
          </p:spPr>
        </p:sp>
        <p:sp>
          <p:nvSpPr>
            <p:cNvPr id="149" name="Line 149"/>
            <p:cNvSpPr/>
            <p:nvPr/>
          </p:nvSpPr>
          <p:spPr>
            <a:xfrm>
              <a:off x="3429000" y="2057400"/>
              <a:ext cx="3905250" cy="9525"/>
            </a:xfrm>
            <a:custGeom>
              <a:avLst/>
              <a:gdLst/>
              <a:ahLst/>
              <a:cxnLst/>
              <a:rect l="l" t="t" r="r" b="b"/>
              <a:pathLst>
                <a:path w="3905250" h="9525">
                  <a:moveTo>
                    <a:pt x="0" y="0"/>
                  </a:moveTo>
                  <a:lnTo>
                    <a:pt x="3905250" y="0"/>
                  </a:lnTo>
                </a:path>
              </a:pathLst>
            </a:custGeom>
            <a:noFill/>
            <a:ln w="9525">
              <a:solidFill>
                <a:srgbClr val="EADBCE"/>
              </a:solidFill>
            </a:ln>
          </p:spPr>
        </p:sp>
        <p:sp>
          <p:nvSpPr>
            <p:cNvPr id="150" name="Line 150"/>
            <p:cNvSpPr/>
            <p:nvPr/>
          </p:nvSpPr>
          <p:spPr>
            <a:xfrm>
              <a:off x="3429000" y="2476500"/>
              <a:ext cx="3905250" cy="9525"/>
            </a:xfrm>
            <a:custGeom>
              <a:avLst/>
              <a:gdLst/>
              <a:ahLst/>
              <a:cxnLst/>
              <a:rect l="l" t="t" r="r" b="b"/>
              <a:pathLst>
                <a:path w="3905250" h="9525">
                  <a:moveTo>
                    <a:pt x="0" y="0"/>
                  </a:moveTo>
                  <a:lnTo>
                    <a:pt x="3905250" y="0"/>
                  </a:lnTo>
                </a:path>
              </a:pathLst>
            </a:custGeom>
            <a:noFill/>
            <a:ln w="9525">
              <a:solidFill>
                <a:srgbClr val="EADBCE"/>
              </a:solidFill>
            </a:ln>
          </p:spPr>
        </p:sp>
        <p:sp>
          <p:nvSpPr>
            <p:cNvPr id="151" name="Line 151"/>
            <p:cNvSpPr/>
            <p:nvPr/>
          </p:nvSpPr>
          <p:spPr>
            <a:xfrm>
              <a:off x="3429000" y="2895600"/>
              <a:ext cx="3905250" cy="9525"/>
            </a:xfrm>
            <a:custGeom>
              <a:avLst/>
              <a:gdLst/>
              <a:ahLst/>
              <a:cxnLst/>
              <a:rect l="l" t="t" r="r" b="b"/>
              <a:pathLst>
                <a:path w="3905250" h="9525">
                  <a:moveTo>
                    <a:pt x="0" y="0"/>
                  </a:moveTo>
                  <a:lnTo>
                    <a:pt x="3905250" y="0"/>
                  </a:lnTo>
                </a:path>
              </a:pathLst>
            </a:custGeom>
            <a:noFill/>
            <a:ln w="9525">
              <a:solidFill>
                <a:srgbClr val="EADBCE"/>
              </a:solidFill>
            </a:ln>
          </p:spPr>
        </p:sp>
        <p:sp>
          <p:nvSpPr>
            <p:cNvPr id="152" name="Line 152"/>
            <p:cNvSpPr/>
            <p:nvPr/>
          </p:nvSpPr>
          <p:spPr>
            <a:xfrm>
              <a:off x="3429000" y="3314700"/>
              <a:ext cx="3905250" cy="9525"/>
            </a:xfrm>
            <a:custGeom>
              <a:avLst/>
              <a:gdLst/>
              <a:ahLst/>
              <a:cxnLst/>
              <a:rect l="l" t="t" r="r" b="b"/>
              <a:pathLst>
                <a:path w="3905250" h="9525">
                  <a:moveTo>
                    <a:pt x="0" y="0"/>
                  </a:moveTo>
                  <a:lnTo>
                    <a:pt x="3905250" y="0"/>
                  </a:lnTo>
                </a:path>
              </a:pathLst>
            </a:custGeom>
            <a:noFill/>
            <a:ln w="9525">
              <a:solidFill>
                <a:srgbClr val="EADBCE"/>
              </a:solidFill>
            </a:ln>
          </p:spPr>
        </p:sp>
      </p:grpSp>
      <p:grpSp>
        <p:nvGrpSpPr>
          <p:cNvPr id="217" name="event-triggers"/>
          <p:cNvGrpSpPr/>
          <p:nvPr/>
        </p:nvGrpSpPr>
        <p:grpSpPr>
          <a:xfrm>
            <a:off x="7410450" y="685800"/>
            <a:ext cx="4400550" cy="3057525"/>
            <a:chOff x="7410450" y="685800"/>
            <a:chExt cx="4400550" cy="3057525"/>
          </a:xfrm>
        </p:grpSpPr>
        <p:sp>
          <p:nvSpPr>
            <p:cNvPr id="154" name="Rectangle 154"/>
            <p:cNvSpPr/>
            <p:nvPr/>
          </p:nvSpPr>
          <p:spPr>
            <a:xfrm>
              <a:off x="7410450" y="685800"/>
              <a:ext cx="4400550" cy="228600"/>
            </a:xfrm>
            <a:prstGeom prst="roundRect">
              <a:avLst>
                <a:gd name="adj" fmla="val 12500"/>
              </a:avLst>
            </a:prstGeom>
            <a:solidFill>
              <a:srgbClr val="C41D00"/>
            </a:solidFill>
            <a:ln>
              <a:noFill/>
            </a:ln>
          </p:spPr>
        </p:sp>
        <p:sp>
          <p:nvSpPr>
            <p:cNvPr id="155" name="TextBox 155"/>
            <p:cNvSpPr txBox="1"/>
            <p:nvPr/>
          </p:nvSpPr>
          <p:spPr>
            <a:xfrm>
              <a:off x="8347942" y="754618"/>
              <a:ext cx="2525566"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​右侧：关键生活/经营事件触达清单与响应策略​</a:t>
              </a:r>
            </a:p>
          </p:txBody>
        </p:sp>
        <p:sp>
          <p:nvSpPr>
            <p:cNvPr id="156" name="Rectangle 156"/>
            <p:cNvSpPr/>
            <p:nvPr/>
          </p:nvSpPr>
          <p:spPr>
            <a:xfrm>
              <a:off x="7410450" y="952500"/>
              <a:ext cx="4400550" cy="266700"/>
            </a:xfrm>
            <a:prstGeom prst="rect">
              <a:avLst/>
            </a:prstGeom>
            <a:solidFill>
              <a:srgbClr val="FEF2E6"/>
            </a:solidFill>
            <a:ln w="9525">
              <a:solidFill>
                <a:srgbClr val="F0B8AE"/>
              </a:solidFill>
            </a:ln>
          </p:spPr>
        </p:sp>
        <p:sp>
          <p:nvSpPr>
            <p:cNvPr id="157" name="TextBox 157"/>
            <p:cNvSpPr txBox="1"/>
            <p:nvPr/>
          </p:nvSpPr>
          <p:spPr>
            <a:xfrm>
              <a:off x="7622654" y="10510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触发事件</a:t>
              </a:r>
            </a:p>
          </p:txBody>
        </p:sp>
        <p:sp>
          <p:nvSpPr>
            <p:cNvPr id="158" name="TextBox 158"/>
            <p:cNvSpPr txBox="1"/>
            <p:nvPr/>
          </p:nvSpPr>
          <p:spPr>
            <a:xfrm>
              <a:off x="8209564" y="1051084"/>
              <a:ext cx="1030672"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​客户画像特征（示例）​</a:t>
              </a:r>
            </a:p>
          </p:txBody>
        </p:sp>
        <p:sp>
          <p:nvSpPr>
            <p:cNvPr id="159" name="TextBox 159"/>
            <p:cNvSpPr txBox="1"/>
            <p:nvPr/>
          </p:nvSpPr>
          <p:spPr>
            <a:xfrm>
              <a:off x="9328240" y="1051084"/>
              <a:ext cx="717370"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​推荐产品/方案​</a:t>
              </a:r>
            </a:p>
          </p:txBody>
        </p:sp>
        <p:sp>
          <p:nvSpPr>
            <p:cNvPr id="160" name="TextBox 160"/>
            <p:cNvSpPr txBox="1"/>
            <p:nvPr/>
          </p:nvSpPr>
          <p:spPr>
            <a:xfrm>
              <a:off x="10202397" y="1051084"/>
              <a:ext cx="664505"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​首选触达渠道​</a:t>
              </a:r>
            </a:p>
          </p:txBody>
        </p:sp>
        <p:sp>
          <p:nvSpPr>
            <p:cNvPr id="161" name="TextBox 161"/>
            <p:cNvSpPr txBox="1"/>
            <p:nvPr/>
          </p:nvSpPr>
          <p:spPr>
            <a:xfrm>
              <a:off x="11185004" y="10510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风控守护</a:t>
              </a:r>
            </a:p>
          </p:txBody>
        </p:sp>
        <p:sp>
          <p:nvSpPr>
            <p:cNvPr id="162" name="Rectangle 162"/>
            <p:cNvSpPr/>
            <p:nvPr/>
          </p:nvSpPr>
          <p:spPr>
            <a:xfrm>
              <a:off x="7410450" y="1219200"/>
              <a:ext cx="4400550" cy="2524125"/>
            </a:xfrm>
            <a:prstGeom prst="rect">
              <a:avLst/>
            </a:prstGeom>
            <a:solidFill>
              <a:srgbClr val="FFFFFF"/>
            </a:solidFill>
            <a:ln w="9525">
              <a:solidFill>
                <a:srgbClr val="F0B8AE"/>
              </a:solidFill>
            </a:ln>
          </p:spPr>
        </p:sp>
        <p:sp>
          <p:nvSpPr>
            <p:cNvPr id="163" name="Rectangle 163"/>
            <p:cNvSpPr/>
            <p:nvPr/>
          </p:nvSpPr>
          <p:spPr>
            <a:xfrm>
              <a:off x="7410450" y="1724025"/>
              <a:ext cx="4400550" cy="504825"/>
            </a:xfrm>
            <a:prstGeom prst="rect">
              <a:avLst/>
            </a:prstGeom>
            <a:solidFill>
              <a:srgbClr val="FFF8F2"/>
            </a:solidFill>
            <a:ln>
              <a:noFill/>
            </a:ln>
          </p:spPr>
        </p:sp>
        <p:sp>
          <p:nvSpPr>
            <p:cNvPr id="164" name="Rectangle 164"/>
            <p:cNvSpPr/>
            <p:nvPr/>
          </p:nvSpPr>
          <p:spPr>
            <a:xfrm>
              <a:off x="7410450" y="2733675"/>
              <a:ext cx="4400550" cy="504825"/>
            </a:xfrm>
            <a:prstGeom prst="rect">
              <a:avLst/>
            </a:prstGeom>
            <a:solidFill>
              <a:srgbClr val="FFF8F2"/>
            </a:solidFill>
            <a:ln>
              <a:noFill/>
            </a:ln>
          </p:spPr>
        </p:sp>
        <p:grpSp>
          <p:nvGrpSpPr>
            <p:cNvPr id="167" name="Group 167"/>
            <p:cNvGrpSpPr/>
            <p:nvPr/>
          </p:nvGrpSpPr>
          <p:grpSpPr>
            <a:xfrm>
              <a:off x="7486650" y="1435100"/>
              <a:ext cx="114300" cy="63500"/>
              <a:chOff x="7486650" y="1435100"/>
              <a:chExt cx="114300" cy="63500"/>
            </a:xfrm>
          </p:grpSpPr>
          <p:sp>
            <p:nvSpPr>
              <p:cNvPr id="165" name="Freeform 165"/>
              <p:cNvSpPr/>
              <p:nvPr/>
            </p:nvSpPr>
            <p:spPr>
              <a:xfrm>
                <a:off x="7486650" y="143510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D82000"/>
                </a:solidFill>
              </a:ln>
            </p:spPr>
          </p:sp>
          <p:sp>
            <p:nvSpPr>
              <p:cNvPr id="166" name="Freeform 166"/>
              <p:cNvSpPr/>
              <p:nvPr/>
            </p:nvSpPr>
            <p:spPr>
              <a:xfrm>
                <a:off x="7556500" y="1435100"/>
                <a:ext cx="44450" cy="44450"/>
              </a:xfrm>
              <a:custGeom>
                <a:avLst/>
                <a:gdLst/>
                <a:ahLst/>
                <a:cxnLst/>
                <a:rect l="l" t="t" r="r" b="b"/>
                <a:pathLst>
                  <a:path w="44450" h="44450">
                    <a:moveTo>
                      <a:pt x="0" y="0"/>
                    </a:moveTo>
                    <a:lnTo>
                      <a:pt x="44450" y="0"/>
                    </a:lnTo>
                    <a:lnTo>
                      <a:pt x="44450" y="44450"/>
                    </a:lnTo>
                  </a:path>
                </a:pathLst>
              </a:custGeom>
              <a:noFill/>
              <a:ln w="12700">
                <a:solidFill>
                  <a:srgbClr val="D82000"/>
                </a:solidFill>
              </a:ln>
            </p:spPr>
          </p:sp>
        </p:grpSp>
        <p:sp>
          <p:nvSpPr>
            <p:cNvPr id="168" name="TextBox 168"/>
            <p:cNvSpPr txBox="1"/>
            <p:nvPr/>
          </p:nvSpPr>
          <p:spPr>
            <a:xfrm>
              <a:off x="7672388" y="1428036"/>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薪资提升</a:t>
              </a:r>
            </a:p>
          </p:txBody>
        </p:sp>
        <p:sp>
          <p:nvSpPr>
            <p:cNvPr id="169" name="TextBox 169"/>
            <p:cNvSpPr txBox="1"/>
            <p:nvPr/>
          </p:nvSpPr>
          <p:spPr>
            <a:xfrm>
              <a:off x="8364538" y="1369457"/>
              <a:ext cx="72072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​在职满≥12个月且​</a:t>
              </a:r>
              <a:br/>
              <a:r>
                <a:rPr lang="zh-CN" sz="640" dirty="0">
                  <a:solidFill>
                    <a:srgbClr val="3D3835"/>
                  </a:solidFill>
                  <a:latin typeface="+mn-lt"/>
                  <a:ea typeface="+mn-ea"/>
                  <a:cs typeface="+mn-cs"/>
                </a:rPr>
                <a:t>​月薪资上涨≥20%​</a:t>
              </a:r>
            </a:p>
          </p:txBody>
        </p:sp>
        <p:sp>
          <p:nvSpPr>
            <p:cNvPr id="170" name="TextBox 170"/>
            <p:cNvSpPr txBox="1"/>
            <p:nvPr/>
          </p:nvSpPr>
          <p:spPr>
            <a:xfrm>
              <a:off x="9376306" y="1436132"/>
              <a:ext cx="621238"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​信用额度提升​</a:t>
              </a:r>
            </a:p>
          </p:txBody>
        </p:sp>
        <p:sp>
          <p:nvSpPr>
            <p:cNvPr id="171" name="TextBox 171"/>
            <p:cNvSpPr txBox="1"/>
            <p:nvPr/>
          </p:nvSpPr>
          <p:spPr>
            <a:xfrm>
              <a:off x="10165794" y="1436132"/>
              <a:ext cx="737713"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​​App消息/短信​​</a:t>
              </a:r>
            </a:p>
          </p:txBody>
        </p:sp>
        <p:sp>
          <p:nvSpPr>
            <p:cNvPr id="172" name="TextBox 172"/>
            <p:cNvSpPr txBox="1"/>
            <p:nvPr/>
          </p:nvSpPr>
          <p:spPr>
            <a:xfrm>
              <a:off x="11008424" y="1369457"/>
              <a:ext cx="72885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​​负债率&lt;50%、​​</a:t>
              </a:r>
              <a:br/>
              <a:r>
                <a:rPr lang="zh-CN" sz="640" dirty="0">
                  <a:solidFill>
                    <a:srgbClr val="3D3835"/>
                  </a:solidFill>
                  <a:latin typeface="+mn-lt"/>
                  <a:ea typeface="+mn-ea"/>
                  <a:cs typeface="+mn-cs"/>
                </a:rPr>
                <a:t>​​近1月查询&lt;6次​​</a:t>
              </a:r>
            </a:p>
          </p:txBody>
        </p:sp>
        <p:grpSp>
          <p:nvGrpSpPr>
            <p:cNvPr id="176" name="Group 176"/>
            <p:cNvGrpSpPr/>
            <p:nvPr/>
          </p:nvGrpSpPr>
          <p:grpSpPr>
            <a:xfrm>
              <a:off x="7486650" y="1914525"/>
              <a:ext cx="114300" cy="114300"/>
              <a:chOff x="7486650" y="1914525"/>
              <a:chExt cx="114300" cy="114300"/>
            </a:xfrm>
          </p:grpSpPr>
          <p:sp>
            <p:nvSpPr>
              <p:cNvPr id="173" name="Freeform 173"/>
              <p:cNvSpPr/>
              <p:nvPr/>
            </p:nvSpPr>
            <p:spPr>
              <a:xfrm>
                <a:off x="7486650" y="1914525"/>
                <a:ext cx="114300" cy="57150"/>
              </a:xfrm>
              <a:custGeom>
                <a:avLst/>
                <a:gdLst/>
                <a:ahLst/>
                <a:cxnLst/>
                <a:rect l="l" t="t" r="r" b="b"/>
                <a:pathLst>
                  <a:path w="114300" h="57150">
                    <a:moveTo>
                      <a:pt x="12700" y="57150"/>
                    </a:moveTo>
                    <a:lnTo>
                      <a:pt x="0" y="57150"/>
                    </a:lnTo>
                    <a:lnTo>
                      <a:pt x="57150" y="0"/>
                    </a:lnTo>
                    <a:lnTo>
                      <a:pt x="114300" y="57150"/>
                    </a:lnTo>
                    <a:lnTo>
                      <a:pt x="101600" y="57150"/>
                    </a:lnTo>
                  </a:path>
                </a:pathLst>
              </a:custGeom>
              <a:noFill/>
              <a:ln w="12700">
                <a:solidFill>
                  <a:srgbClr val="D82000"/>
                </a:solidFill>
              </a:ln>
            </p:spPr>
          </p:sp>
          <p:sp>
            <p:nvSpPr>
              <p:cNvPr id="174" name="Freeform 174"/>
              <p:cNvSpPr/>
              <p:nvPr/>
            </p:nvSpPr>
            <p:spPr>
              <a:xfrm>
                <a:off x="7499350" y="1971675"/>
                <a:ext cx="88900" cy="57150"/>
              </a:xfrm>
              <a:custGeom>
                <a:avLst/>
                <a:gdLst/>
                <a:ahLst/>
                <a:cxnLst/>
                <a:rect l="l" t="t" r="r" b="b"/>
                <a:pathLst>
                  <a:path w="88900" h="57150">
                    <a:moveTo>
                      <a:pt x="0" y="0"/>
                    </a:moveTo>
                    <a:lnTo>
                      <a:pt x="0" y="44450"/>
                    </a:lnTo>
                    <a:cubicBezTo>
                      <a:pt x="0" y="51464"/>
                      <a:pt x="5686" y="57150"/>
                      <a:pt x="12700" y="57150"/>
                    </a:cubicBezTo>
                    <a:lnTo>
                      <a:pt x="76200" y="57150"/>
                    </a:lnTo>
                    <a:cubicBezTo>
                      <a:pt x="83214" y="57150"/>
                      <a:pt x="88900" y="51464"/>
                      <a:pt x="88900" y="44450"/>
                    </a:cubicBezTo>
                    <a:lnTo>
                      <a:pt x="88900" y="0"/>
                    </a:lnTo>
                  </a:path>
                </a:pathLst>
              </a:custGeom>
              <a:noFill/>
              <a:ln w="12700">
                <a:solidFill>
                  <a:srgbClr val="D82000"/>
                </a:solidFill>
              </a:ln>
            </p:spPr>
          </p:sp>
          <p:sp>
            <p:nvSpPr>
              <p:cNvPr id="175" name="Freeform 175"/>
              <p:cNvSpPr/>
              <p:nvPr/>
            </p:nvSpPr>
            <p:spPr>
              <a:xfrm>
                <a:off x="7524750" y="1978025"/>
                <a:ext cx="38100" cy="50800"/>
              </a:xfrm>
              <a:custGeom>
                <a:avLst/>
                <a:gdLst/>
                <a:ahLst/>
                <a:cxnLst/>
                <a:rect l="l" t="t" r="r" b="b"/>
                <a:pathLst>
                  <a:path w="38100" h="50800">
                    <a:moveTo>
                      <a:pt x="0" y="50800"/>
                    </a:moveTo>
                    <a:lnTo>
                      <a:pt x="0" y="12700"/>
                    </a:lnTo>
                    <a:cubicBezTo>
                      <a:pt x="0" y="5686"/>
                      <a:pt x="5686" y="0"/>
                      <a:pt x="12700" y="0"/>
                    </a:cubicBezTo>
                    <a:lnTo>
                      <a:pt x="25400" y="0"/>
                    </a:lnTo>
                    <a:cubicBezTo>
                      <a:pt x="32414" y="0"/>
                      <a:pt x="38100" y="5686"/>
                      <a:pt x="38100" y="12700"/>
                    </a:cubicBezTo>
                    <a:lnTo>
                      <a:pt x="38100" y="50800"/>
                    </a:lnTo>
                  </a:path>
                </a:pathLst>
              </a:custGeom>
              <a:noFill/>
              <a:ln w="12700">
                <a:solidFill>
                  <a:srgbClr val="D82000"/>
                </a:solidFill>
              </a:ln>
            </p:spPr>
          </p:sp>
        </p:grpSp>
        <p:sp>
          <p:nvSpPr>
            <p:cNvPr id="177" name="TextBox 177"/>
            <p:cNvSpPr txBox="1"/>
            <p:nvPr/>
          </p:nvSpPr>
          <p:spPr>
            <a:xfrm>
              <a:off x="7672388" y="1932861"/>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购房置业</a:t>
              </a:r>
            </a:p>
          </p:txBody>
        </p:sp>
        <p:sp>
          <p:nvSpPr>
            <p:cNvPr id="178" name="TextBox 178"/>
            <p:cNvSpPr txBox="1"/>
            <p:nvPr/>
          </p:nvSpPr>
          <p:spPr>
            <a:xfrm>
              <a:off x="8287321" y="1874282"/>
              <a:ext cx="87515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​有购房记录/已认购、​</a:t>
              </a:r>
              <a:br/>
              <a:r>
                <a:rPr lang="zh-CN" sz="640" dirty="0">
                  <a:solidFill>
                    <a:srgbClr val="3D3835"/>
                  </a:solidFill>
                  <a:latin typeface="+mn-lt"/>
                  <a:ea typeface="+mn-ea"/>
                  <a:cs typeface="+mn-cs"/>
                </a:rPr>
                <a:t>​​年龄22–50岁​​</a:t>
              </a:r>
            </a:p>
          </p:txBody>
        </p:sp>
        <p:sp>
          <p:nvSpPr>
            <p:cNvPr id="179" name="TextBox 179"/>
            <p:cNvSpPr txBox="1"/>
            <p:nvPr/>
          </p:nvSpPr>
          <p:spPr>
            <a:xfrm>
              <a:off x="9371266" y="1874282"/>
              <a:ext cx="63131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​个人住房贷款/​</a:t>
              </a:r>
              <a:br/>
              <a:r>
                <a:rPr lang="zh-CN" sz="640" dirty="0">
                  <a:solidFill>
                    <a:srgbClr val="3D3835"/>
                  </a:solidFill>
                  <a:latin typeface="+mn-lt"/>
                  <a:ea typeface="+mn-ea"/>
                  <a:cs typeface="+mn-cs"/>
                </a:rPr>
                <a:t>​组合贷款方案​</a:t>
              </a:r>
            </a:p>
          </p:txBody>
        </p:sp>
        <p:sp>
          <p:nvSpPr>
            <p:cNvPr id="180" name="TextBox 180"/>
            <p:cNvSpPr txBox="1"/>
            <p:nvPr/>
          </p:nvSpPr>
          <p:spPr>
            <a:xfrm>
              <a:off x="10200338" y="1940957"/>
              <a:ext cx="668625"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​客户经理/电话​</a:t>
              </a:r>
            </a:p>
          </p:txBody>
        </p:sp>
        <p:sp>
          <p:nvSpPr>
            <p:cNvPr id="181" name="TextBox 181"/>
            <p:cNvSpPr txBox="1"/>
            <p:nvPr/>
          </p:nvSpPr>
          <p:spPr>
            <a:xfrm>
              <a:off x="10957624" y="1874282"/>
              <a:ext cx="83045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​首付比例符合监管、​</a:t>
              </a:r>
              <a:br/>
              <a:r>
                <a:rPr lang="zh-CN" sz="640" dirty="0">
                  <a:solidFill>
                    <a:srgbClr val="3D3835"/>
                  </a:solidFill>
                  <a:latin typeface="+mn-lt"/>
                  <a:ea typeface="+mn-ea"/>
                  <a:cs typeface="+mn-cs"/>
                </a:rPr>
                <a:t>​收入覆盖≥2倍​</a:t>
              </a:r>
            </a:p>
          </p:txBody>
        </p:sp>
        <p:grpSp>
          <p:nvGrpSpPr>
            <p:cNvPr id="184" name="Group 184"/>
            <p:cNvGrpSpPr/>
            <p:nvPr/>
          </p:nvGrpSpPr>
          <p:grpSpPr>
            <a:xfrm>
              <a:off x="7480300" y="2432050"/>
              <a:ext cx="127000" cy="88900"/>
              <a:chOff x="7480300" y="2432050"/>
              <a:chExt cx="127000" cy="88900"/>
            </a:xfrm>
          </p:grpSpPr>
          <p:sp>
            <p:nvSpPr>
              <p:cNvPr id="182" name="Freeform 182"/>
              <p:cNvSpPr/>
              <p:nvPr/>
            </p:nvSpPr>
            <p:spPr>
              <a:xfrm>
                <a:off x="7480300" y="2432050"/>
                <a:ext cx="127000" cy="63500"/>
              </a:xfrm>
              <a:custGeom>
                <a:avLst/>
                <a:gdLst/>
                <a:ahLst/>
                <a:cxnLst/>
                <a:rect l="l" t="t" r="r" b="b"/>
                <a:pathLst>
                  <a:path w="127000" h="63500">
                    <a:moveTo>
                      <a:pt x="127000" y="25400"/>
                    </a:moveTo>
                    <a:lnTo>
                      <a:pt x="63500" y="0"/>
                    </a:lnTo>
                    <a:lnTo>
                      <a:pt x="0" y="25400"/>
                    </a:lnTo>
                    <a:lnTo>
                      <a:pt x="63500" y="50800"/>
                    </a:lnTo>
                    <a:lnTo>
                      <a:pt x="127000" y="25400"/>
                    </a:lnTo>
                    <a:lnTo>
                      <a:pt x="127000" y="63500"/>
                    </a:lnTo>
                  </a:path>
                </a:pathLst>
              </a:custGeom>
              <a:noFill/>
              <a:ln w="12700">
                <a:solidFill>
                  <a:srgbClr val="D82000"/>
                </a:solidFill>
              </a:ln>
            </p:spPr>
          </p:sp>
          <p:sp>
            <p:nvSpPr>
              <p:cNvPr id="183" name="Freeform 183"/>
              <p:cNvSpPr/>
              <p:nvPr/>
            </p:nvSpPr>
            <p:spPr>
              <a:xfrm>
                <a:off x="7505700" y="2467610"/>
                <a:ext cx="76200" cy="53340"/>
              </a:xfrm>
              <a:custGeom>
                <a:avLst/>
                <a:gdLst/>
                <a:ahLst/>
                <a:cxnLst/>
                <a:rect l="l" t="t" r="r" b="b"/>
                <a:pathLst>
                  <a:path w="76200" h="53340">
                    <a:moveTo>
                      <a:pt x="0" y="0"/>
                    </a:moveTo>
                    <a:lnTo>
                      <a:pt x="0" y="34290"/>
                    </a:lnTo>
                    <a:cubicBezTo>
                      <a:pt x="0" y="44811"/>
                      <a:pt x="17058" y="53340"/>
                      <a:pt x="38100" y="53340"/>
                    </a:cubicBezTo>
                    <a:cubicBezTo>
                      <a:pt x="59142" y="53340"/>
                      <a:pt x="76200" y="44811"/>
                      <a:pt x="76200" y="34290"/>
                    </a:cubicBezTo>
                    <a:lnTo>
                      <a:pt x="76200" y="0"/>
                    </a:lnTo>
                  </a:path>
                </a:pathLst>
              </a:custGeom>
              <a:noFill/>
              <a:ln w="12700">
                <a:solidFill>
                  <a:srgbClr val="D82000"/>
                </a:solidFill>
              </a:ln>
            </p:spPr>
          </p:sp>
        </p:grpSp>
        <p:sp>
          <p:nvSpPr>
            <p:cNvPr id="185" name="TextBox 185"/>
            <p:cNvSpPr txBox="1"/>
            <p:nvPr/>
          </p:nvSpPr>
          <p:spPr>
            <a:xfrm>
              <a:off x="7672388" y="2437686"/>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子女教育</a:t>
              </a:r>
            </a:p>
          </p:txBody>
        </p:sp>
        <p:sp>
          <p:nvSpPr>
            <p:cNvPr id="186" name="TextBox 186"/>
            <p:cNvSpPr txBox="1"/>
            <p:nvPr/>
          </p:nvSpPr>
          <p:spPr>
            <a:xfrm>
              <a:off x="8338122" y="2379107"/>
              <a:ext cx="77355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​​子女年龄3–22岁​​</a:t>
              </a:r>
              <a:br/>
              <a:r>
                <a:rPr lang="zh-CN" sz="640" dirty="0">
                  <a:solidFill>
                    <a:srgbClr val="3D3835"/>
                  </a:solidFill>
                  <a:latin typeface="+mn-lt"/>
                  <a:ea typeface="+mn-ea"/>
                  <a:cs typeface="+mn-cs"/>
                </a:rPr>
                <a:t>​教育支出上升​</a:t>
              </a:r>
            </a:p>
          </p:txBody>
        </p:sp>
        <p:sp>
          <p:nvSpPr>
            <p:cNvPr id="187" name="TextBox 187"/>
            <p:cNvSpPr txBox="1"/>
            <p:nvPr/>
          </p:nvSpPr>
          <p:spPr>
            <a:xfrm>
              <a:off x="9263570" y="2379107"/>
              <a:ext cx="846709"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​​教育分期/信用贷/​​</a:t>
              </a:r>
              <a:br/>
              <a:r>
                <a:rPr lang="zh-CN" sz="640" dirty="0">
                  <a:solidFill>
                    <a:srgbClr val="3D3835"/>
                  </a:solidFill>
                  <a:latin typeface="+mn-lt"/>
                  <a:ea typeface="+mn-ea"/>
                  <a:cs typeface="+mn-cs"/>
                </a:rPr>
                <a:t>留学服务</a:t>
              </a:r>
            </a:p>
          </p:txBody>
        </p:sp>
        <p:sp>
          <p:nvSpPr>
            <p:cNvPr id="188" name="TextBox 188"/>
            <p:cNvSpPr txBox="1"/>
            <p:nvPr/>
          </p:nvSpPr>
          <p:spPr>
            <a:xfrm>
              <a:off x="10269792" y="2379107"/>
              <a:ext cx="52971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​​App推送/​​</a:t>
              </a:r>
              <a:br/>
              <a:r>
                <a:rPr lang="zh-CN" sz="640" dirty="0">
                  <a:solidFill>
                    <a:srgbClr val="3D3835"/>
                  </a:solidFill>
                  <a:latin typeface="+mn-lt"/>
                  <a:ea typeface="+mn-ea"/>
                  <a:cs typeface="+mn-cs"/>
                </a:rPr>
                <a:t>微信服务号</a:t>
              </a:r>
            </a:p>
          </p:txBody>
        </p:sp>
        <p:sp>
          <p:nvSpPr>
            <p:cNvPr id="189" name="TextBox 189"/>
            <p:cNvSpPr txBox="1"/>
            <p:nvPr/>
          </p:nvSpPr>
          <p:spPr>
            <a:xfrm>
              <a:off x="11164888" y="2379107"/>
              <a:ext cx="41592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用途合规、</a:t>
              </a:r>
              <a:br/>
              <a:r>
                <a:rPr lang="zh-CN" sz="640" dirty="0">
                  <a:solidFill>
                    <a:srgbClr val="3D3835"/>
                  </a:solidFill>
                  <a:latin typeface="+mn-lt"/>
                  <a:ea typeface="+mn-ea"/>
                  <a:cs typeface="+mn-cs"/>
                </a:rPr>
                <a:t>总额控制</a:t>
              </a:r>
            </a:p>
          </p:txBody>
        </p:sp>
        <p:grpSp>
          <p:nvGrpSpPr>
            <p:cNvPr id="194" name="Group 194"/>
            <p:cNvGrpSpPr/>
            <p:nvPr/>
          </p:nvGrpSpPr>
          <p:grpSpPr>
            <a:xfrm>
              <a:off x="7493000" y="2924175"/>
              <a:ext cx="101600" cy="114300"/>
              <a:chOff x="7493000" y="2924175"/>
              <a:chExt cx="101600" cy="114300"/>
            </a:xfrm>
          </p:grpSpPr>
          <p:sp>
            <p:nvSpPr>
              <p:cNvPr id="190" name="Freeform 190"/>
              <p:cNvSpPr/>
              <p:nvPr/>
            </p:nvSpPr>
            <p:spPr>
              <a:xfrm>
                <a:off x="7493000" y="30130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82000"/>
                </a:solidFill>
              </a:ln>
            </p:spPr>
          </p:sp>
          <p:sp>
            <p:nvSpPr>
              <p:cNvPr id="191" name="Freeform 191"/>
              <p:cNvSpPr/>
              <p:nvPr/>
            </p:nvSpPr>
            <p:spPr>
              <a:xfrm>
                <a:off x="7562850" y="30130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82000"/>
                </a:solidFill>
              </a:ln>
            </p:spPr>
          </p:sp>
          <p:sp>
            <p:nvSpPr>
              <p:cNvPr id="192" name="Freeform 192"/>
              <p:cNvSpPr/>
              <p:nvPr/>
            </p:nvSpPr>
            <p:spPr>
              <a:xfrm>
                <a:off x="7493000" y="2924175"/>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D82000"/>
                </a:solidFill>
              </a:ln>
            </p:spPr>
          </p:sp>
          <p:sp>
            <p:nvSpPr>
              <p:cNvPr id="193" name="Freeform 193"/>
              <p:cNvSpPr/>
              <p:nvPr/>
            </p:nvSpPr>
            <p:spPr>
              <a:xfrm>
                <a:off x="7505700" y="2936875"/>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D82000"/>
                </a:solidFill>
              </a:ln>
            </p:spPr>
          </p:sp>
        </p:grpSp>
        <p:sp>
          <p:nvSpPr>
            <p:cNvPr id="195" name="TextBox 195"/>
            <p:cNvSpPr txBox="1"/>
            <p:nvPr/>
          </p:nvSpPr>
          <p:spPr>
            <a:xfrm>
              <a:off x="7672388" y="2942511"/>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购车需求</a:t>
              </a:r>
            </a:p>
          </p:txBody>
        </p:sp>
        <p:sp>
          <p:nvSpPr>
            <p:cNvPr id="196" name="TextBox 196"/>
            <p:cNvSpPr txBox="1"/>
            <p:nvPr/>
          </p:nvSpPr>
          <p:spPr>
            <a:xfrm>
              <a:off x="8449882" y="2883932"/>
              <a:ext cx="55003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​有购车意向/​</a:t>
              </a:r>
              <a:br/>
              <a:r>
                <a:rPr lang="zh-CN" sz="640" dirty="0">
                  <a:solidFill>
                    <a:srgbClr val="3D3835"/>
                  </a:solidFill>
                  <a:latin typeface="+mn-lt"/>
                  <a:ea typeface="+mn-ea"/>
                  <a:cs typeface="+mn-cs"/>
                </a:rPr>
                <a:t>记录良好</a:t>
              </a:r>
            </a:p>
          </p:txBody>
        </p:sp>
        <p:sp>
          <p:nvSpPr>
            <p:cNvPr id="197" name="TextBox 197"/>
            <p:cNvSpPr txBox="1"/>
            <p:nvPr/>
          </p:nvSpPr>
          <p:spPr>
            <a:xfrm>
              <a:off x="9411906" y="2883932"/>
              <a:ext cx="55003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​汽车消费贷/​</a:t>
              </a:r>
              <a:br/>
              <a:r>
                <a:rPr lang="zh-CN" sz="640" dirty="0">
                  <a:solidFill>
                    <a:srgbClr val="3D3835"/>
                  </a:solidFill>
                  <a:latin typeface="+mn-lt"/>
                  <a:ea typeface="+mn-ea"/>
                  <a:cs typeface="+mn-cs"/>
                </a:rPr>
                <a:t>经销商分期</a:t>
              </a:r>
            </a:p>
          </p:txBody>
        </p:sp>
        <p:sp>
          <p:nvSpPr>
            <p:cNvPr id="198" name="TextBox 198"/>
            <p:cNvSpPr txBox="1"/>
            <p:nvPr/>
          </p:nvSpPr>
          <p:spPr>
            <a:xfrm>
              <a:off x="10194242" y="2950607"/>
              <a:ext cx="680817"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​合作经销商App​</a:t>
              </a:r>
            </a:p>
          </p:txBody>
        </p:sp>
        <p:sp>
          <p:nvSpPr>
            <p:cNvPr id="199" name="TextBox 199"/>
            <p:cNvSpPr txBox="1"/>
            <p:nvPr/>
          </p:nvSpPr>
          <p:spPr>
            <a:xfrm>
              <a:off x="11059224" y="2883932"/>
              <a:ext cx="62725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​​首付≥20%、​​</a:t>
              </a:r>
              <a:br/>
              <a:r>
                <a:rPr lang="zh-CN" sz="640" dirty="0">
                  <a:solidFill>
                    <a:srgbClr val="3D3835"/>
                  </a:solidFill>
                  <a:latin typeface="+mn-lt"/>
                  <a:ea typeface="+mn-ea"/>
                  <a:cs typeface="+mn-cs"/>
                </a:rPr>
                <a:t>​还款能力充足​</a:t>
              </a:r>
            </a:p>
          </p:txBody>
        </p:sp>
        <p:grpSp>
          <p:nvGrpSpPr>
            <p:cNvPr id="203" name="Group 203"/>
            <p:cNvGrpSpPr/>
            <p:nvPr/>
          </p:nvGrpSpPr>
          <p:grpSpPr>
            <a:xfrm>
              <a:off x="7486650" y="3441700"/>
              <a:ext cx="114300" cy="88900"/>
              <a:chOff x="7486650" y="3441700"/>
              <a:chExt cx="114300" cy="88900"/>
            </a:xfrm>
          </p:grpSpPr>
          <p:sp>
            <p:nvSpPr>
              <p:cNvPr id="200" name="Freeform 200"/>
              <p:cNvSpPr/>
              <p:nvPr/>
            </p:nvSpPr>
            <p:spPr>
              <a:xfrm>
                <a:off x="7486650" y="3441700"/>
                <a:ext cx="88900" cy="63500"/>
              </a:xfrm>
              <a:custGeom>
                <a:avLst/>
                <a:gdLst/>
                <a:ahLst/>
                <a:cxnLst/>
                <a:rect l="l" t="t" r="r" b="b"/>
                <a:pathLst>
                  <a:path w="88900" h="63500">
                    <a:moveTo>
                      <a:pt x="25400" y="63500"/>
                    </a:moveTo>
                    <a:lnTo>
                      <a:pt x="6350" y="63500"/>
                    </a:lnTo>
                    <a:cubicBezTo>
                      <a:pt x="2843" y="63500"/>
                      <a:pt x="0" y="60657"/>
                      <a:pt x="0" y="57150"/>
                    </a:cubicBezTo>
                    <a:lnTo>
                      <a:pt x="0" y="6350"/>
                    </a:lnTo>
                    <a:cubicBezTo>
                      <a:pt x="0" y="2843"/>
                      <a:pt x="2843" y="0"/>
                      <a:pt x="6350" y="0"/>
                    </a:cubicBezTo>
                    <a:lnTo>
                      <a:pt x="82550" y="0"/>
                    </a:lnTo>
                    <a:cubicBezTo>
                      <a:pt x="86057" y="0"/>
                      <a:pt x="88900" y="2843"/>
                      <a:pt x="88900" y="6350"/>
                    </a:cubicBezTo>
                    <a:lnTo>
                      <a:pt x="88900" y="25400"/>
                    </a:lnTo>
                  </a:path>
                </a:pathLst>
              </a:custGeom>
              <a:noFill/>
              <a:ln w="12700">
                <a:solidFill>
                  <a:srgbClr val="D82000"/>
                </a:solidFill>
              </a:ln>
            </p:spPr>
          </p:sp>
          <p:sp>
            <p:nvSpPr>
              <p:cNvPr id="201" name="Freeform 201"/>
              <p:cNvSpPr/>
              <p:nvPr/>
            </p:nvSpPr>
            <p:spPr>
              <a:xfrm>
                <a:off x="7512050" y="3467100"/>
                <a:ext cx="88900" cy="63500"/>
              </a:xfrm>
              <a:custGeom>
                <a:avLst/>
                <a:gdLst/>
                <a:ahLst/>
                <a:cxnLst/>
                <a:rect l="l" t="t" r="r" b="b"/>
                <a:pathLst>
                  <a:path w="88900" h="63500">
                    <a:moveTo>
                      <a:pt x="0" y="6350"/>
                    </a:moveTo>
                    <a:cubicBezTo>
                      <a:pt x="0" y="2843"/>
                      <a:pt x="2843" y="0"/>
                      <a:pt x="6350" y="0"/>
                    </a:cubicBezTo>
                    <a:lnTo>
                      <a:pt x="82550" y="0"/>
                    </a:lnTo>
                    <a:cubicBezTo>
                      <a:pt x="86057" y="0"/>
                      <a:pt x="88900" y="2843"/>
                      <a:pt x="88900" y="6350"/>
                    </a:cubicBezTo>
                    <a:lnTo>
                      <a:pt x="88900" y="57150"/>
                    </a:lnTo>
                    <a:cubicBezTo>
                      <a:pt x="88900" y="60657"/>
                      <a:pt x="86057" y="63500"/>
                      <a:pt x="82550" y="63500"/>
                    </a:cubicBezTo>
                    <a:lnTo>
                      <a:pt x="6350" y="63500"/>
                    </a:lnTo>
                    <a:cubicBezTo>
                      <a:pt x="2843" y="63500"/>
                      <a:pt x="0" y="60657"/>
                      <a:pt x="0" y="57150"/>
                    </a:cubicBezTo>
                    <a:lnTo>
                      <a:pt x="0" y="6350"/>
                    </a:lnTo>
                  </a:path>
                </a:pathLst>
              </a:custGeom>
              <a:noFill/>
              <a:ln w="12700">
                <a:solidFill>
                  <a:srgbClr val="D82000"/>
                </a:solidFill>
              </a:ln>
            </p:spPr>
          </p:sp>
          <p:sp>
            <p:nvSpPr>
              <p:cNvPr id="202" name="Freeform 202"/>
              <p:cNvSpPr/>
              <p:nvPr/>
            </p:nvSpPr>
            <p:spPr>
              <a:xfrm>
                <a:off x="7543800" y="34861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82000"/>
                </a:solidFill>
              </a:ln>
            </p:spPr>
          </p:sp>
        </p:grpSp>
        <p:sp>
          <p:nvSpPr>
            <p:cNvPr id="204" name="TextBox 204"/>
            <p:cNvSpPr txBox="1"/>
            <p:nvPr/>
          </p:nvSpPr>
          <p:spPr>
            <a:xfrm>
              <a:off x="7672388" y="3447336"/>
              <a:ext cx="48742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现金流缺口</a:t>
              </a:r>
            </a:p>
          </p:txBody>
        </p:sp>
        <p:sp>
          <p:nvSpPr>
            <p:cNvPr id="205" name="TextBox 205"/>
            <p:cNvSpPr txBox="1"/>
            <p:nvPr/>
          </p:nvSpPr>
          <p:spPr>
            <a:xfrm>
              <a:off x="8390954" y="3388757"/>
              <a:ext cx="66789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​经营周转压力、​</a:t>
              </a:r>
              <a:br/>
              <a:r>
                <a:rPr lang="zh-CN" sz="640" dirty="0">
                  <a:solidFill>
                    <a:srgbClr val="3D3835"/>
                  </a:solidFill>
                  <a:latin typeface="+mn-lt"/>
                  <a:ea typeface="+mn-ea"/>
                  <a:cs typeface="+mn-cs"/>
                </a:rPr>
                <a:t>​回款周期延长​</a:t>
              </a:r>
            </a:p>
          </p:txBody>
        </p:sp>
        <p:sp>
          <p:nvSpPr>
            <p:cNvPr id="206" name="TextBox 206"/>
            <p:cNvSpPr txBox="1"/>
            <p:nvPr/>
          </p:nvSpPr>
          <p:spPr>
            <a:xfrm>
              <a:off x="9263570" y="3388757"/>
              <a:ext cx="846709"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​​经营贷/票据贴现/​​</a:t>
              </a:r>
              <a:br/>
              <a:r>
                <a:rPr lang="zh-CN" sz="640" dirty="0">
                  <a:solidFill>
                    <a:srgbClr val="3D3835"/>
                  </a:solidFill>
                  <a:latin typeface="+mn-lt"/>
                  <a:ea typeface="+mn-ea"/>
                  <a:cs typeface="+mn-cs"/>
                </a:rPr>
                <a:t>循环额度</a:t>
              </a:r>
            </a:p>
          </p:txBody>
        </p:sp>
        <p:sp>
          <p:nvSpPr>
            <p:cNvPr id="207" name="TextBox 207"/>
            <p:cNvSpPr txBox="1"/>
            <p:nvPr/>
          </p:nvSpPr>
          <p:spPr>
            <a:xfrm>
              <a:off x="10200338" y="3455432"/>
              <a:ext cx="668625"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​客户经理/电话​</a:t>
              </a:r>
            </a:p>
          </p:txBody>
        </p:sp>
        <p:sp>
          <p:nvSpPr>
            <p:cNvPr id="208" name="TextBox 208"/>
            <p:cNvSpPr txBox="1"/>
            <p:nvPr/>
          </p:nvSpPr>
          <p:spPr>
            <a:xfrm>
              <a:off x="10998264" y="3388757"/>
              <a:ext cx="74917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​资金流向可追溯、​</a:t>
              </a:r>
              <a:br/>
              <a:r>
                <a:rPr lang="zh-CN" sz="640" dirty="0">
                  <a:solidFill>
                    <a:srgbClr val="3D3835"/>
                  </a:solidFill>
                  <a:latin typeface="+mn-lt"/>
                  <a:ea typeface="+mn-ea"/>
                  <a:cs typeface="+mn-cs"/>
                </a:rPr>
                <a:t>​贸易背景真实​</a:t>
              </a:r>
            </a:p>
          </p:txBody>
        </p:sp>
        <p:sp>
          <p:nvSpPr>
            <p:cNvPr id="209" name="Line 209"/>
            <p:cNvSpPr/>
            <p:nvPr/>
          </p:nvSpPr>
          <p:spPr>
            <a:xfrm>
              <a:off x="8210550" y="952500"/>
              <a:ext cx="9525" cy="2790825"/>
            </a:xfrm>
            <a:custGeom>
              <a:avLst/>
              <a:gdLst/>
              <a:ahLst/>
              <a:cxnLst/>
              <a:rect l="l" t="t" r="r" b="b"/>
              <a:pathLst>
                <a:path w="9525" h="2790825">
                  <a:moveTo>
                    <a:pt x="0" y="0"/>
                  </a:moveTo>
                  <a:lnTo>
                    <a:pt x="0" y="2790825"/>
                  </a:lnTo>
                </a:path>
              </a:pathLst>
            </a:custGeom>
            <a:noFill/>
            <a:ln w="9525">
              <a:solidFill>
                <a:srgbClr val="EADBCE"/>
              </a:solidFill>
            </a:ln>
          </p:spPr>
        </p:sp>
        <p:sp>
          <p:nvSpPr>
            <p:cNvPr id="210" name="Line 210"/>
            <p:cNvSpPr/>
            <p:nvPr/>
          </p:nvSpPr>
          <p:spPr>
            <a:xfrm>
              <a:off x="9239250" y="952500"/>
              <a:ext cx="9525" cy="2790825"/>
            </a:xfrm>
            <a:custGeom>
              <a:avLst/>
              <a:gdLst/>
              <a:ahLst/>
              <a:cxnLst/>
              <a:rect l="l" t="t" r="r" b="b"/>
              <a:pathLst>
                <a:path w="9525" h="2790825">
                  <a:moveTo>
                    <a:pt x="0" y="0"/>
                  </a:moveTo>
                  <a:lnTo>
                    <a:pt x="0" y="2790825"/>
                  </a:lnTo>
                </a:path>
              </a:pathLst>
            </a:custGeom>
            <a:noFill/>
            <a:ln w="9525">
              <a:solidFill>
                <a:srgbClr val="EADBCE"/>
              </a:solidFill>
            </a:ln>
          </p:spPr>
        </p:sp>
        <p:sp>
          <p:nvSpPr>
            <p:cNvPr id="211" name="Line 211"/>
            <p:cNvSpPr/>
            <p:nvPr/>
          </p:nvSpPr>
          <p:spPr>
            <a:xfrm>
              <a:off x="10134600" y="952500"/>
              <a:ext cx="9525" cy="2790825"/>
            </a:xfrm>
            <a:custGeom>
              <a:avLst/>
              <a:gdLst/>
              <a:ahLst/>
              <a:cxnLst/>
              <a:rect l="l" t="t" r="r" b="b"/>
              <a:pathLst>
                <a:path w="9525" h="2790825">
                  <a:moveTo>
                    <a:pt x="0" y="0"/>
                  </a:moveTo>
                  <a:lnTo>
                    <a:pt x="0" y="2790825"/>
                  </a:lnTo>
                </a:path>
              </a:pathLst>
            </a:custGeom>
            <a:noFill/>
            <a:ln w="9525">
              <a:solidFill>
                <a:srgbClr val="EADBCE"/>
              </a:solidFill>
            </a:ln>
          </p:spPr>
        </p:sp>
        <p:sp>
          <p:nvSpPr>
            <p:cNvPr id="212" name="Line 212"/>
            <p:cNvSpPr/>
            <p:nvPr/>
          </p:nvSpPr>
          <p:spPr>
            <a:xfrm>
              <a:off x="10934700" y="952500"/>
              <a:ext cx="9525" cy="2790825"/>
            </a:xfrm>
            <a:custGeom>
              <a:avLst/>
              <a:gdLst/>
              <a:ahLst/>
              <a:cxnLst/>
              <a:rect l="l" t="t" r="r" b="b"/>
              <a:pathLst>
                <a:path w="9525" h="2790825">
                  <a:moveTo>
                    <a:pt x="0" y="0"/>
                  </a:moveTo>
                  <a:lnTo>
                    <a:pt x="0" y="2790825"/>
                  </a:lnTo>
                </a:path>
              </a:pathLst>
            </a:custGeom>
            <a:noFill/>
            <a:ln w="9525">
              <a:solidFill>
                <a:srgbClr val="EADBCE"/>
              </a:solidFill>
            </a:ln>
          </p:spPr>
        </p:sp>
        <p:sp>
          <p:nvSpPr>
            <p:cNvPr id="213" name="Line 213"/>
            <p:cNvSpPr/>
            <p:nvPr/>
          </p:nvSpPr>
          <p:spPr>
            <a:xfrm>
              <a:off x="7410450" y="1724025"/>
              <a:ext cx="4400550" cy="9525"/>
            </a:xfrm>
            <a:custGeom>
              <a:avLst/>
              <a:gdLst/>
              <a:ahLst/>
              <a:cxnLst/>
              <a:rect l="l" t="t" r="r" b="b"/>
              <a:pathLst>
                <a:path w="4400550" h="9525">
                  <a:moveTo>
                    <a:pt x="0" y="0"/>
                  </a:moveTo>
                  <a:lnTo>
                    <a:pt x="4400550" y="0"/>
                  </a:lnTo>
                </a:path>
              </a:pathLst>
            </a:custGeom>
            <a:noFill/>
            <a:ln w="9525">
              <a:solidFill>
                <a:srgbClr val="EADBCE"/>
              </a:solidFill>
            </a:ln>
          </p:spPr>
        </p:sp>
        <p:sp>
          <p:nvSpPr>
            <p:cNvPr id="214" name="Line 214"/>
            <p:cNvSpPr/>
            <p:nvPr/>
          </p:nvSpPr>
          <p:spPr>
            <a:xfrm>
              <a:off x="7410450" y="2228850"/>
              <a:ext cx="4400550" cy="9525"/>
            </a:xfrm>
            <a:custGeom>
              <a:avLst/>
              <a:gdLst/>
              <a:ahLst/>
              <a:cxnLst/>
              <a:rect l="l" t="t" r="r" b="b"/>
              <a:pathLst>
                <a:path w="4400550" h="9525">
                  <a:moveTo>
                    <a:pt x="0" y="0"/>
                  </a:moveTo>
                  <a:lnTo>
                    <a:pt x="4400550" y="0"/>
                  </a:lnTo>
                </a:path>
              </a:pathLst>
            </a:custGeom>
            <a:noFill/>
            <a:ln w="9525">
              <a:solidFill>
                <a:srgbClr val="EADBCE"/>
              </a:solidFill>
            </a:ln>
          </p:spPr>
        </p:sp>
        <p:sp>
          <p:nvSpPr>
            <p:cNvPr id="215" name="Line 215"/>
            <p:cNvSpPr/>
            <p:nvPr/>
          </p:nvSpPr>
          <p:spPr>
            <a:xfrm>
              <a:off x="7410450" y="2733675"/>
              <a:ext cx="4400550" cy="9525"/>
            </a:xfrm>
            <a:custGeom>
              <a:avLst/>
              <a:gdLst/>
              <a:ahLst/>
              <a:cxnLst/>
              <a:rect l="l" t="t" r="r" b="b"/>
              <a:pathLst>
                <a:path w="4400550" h="9525">
                  <a:moveTo>
                    <a:pt x="0" y="0"/>
                  </a:moveTo>
                  <a:lnTo>
                    <a:pt x="4400550" y="0"/>
                  </a:lnTo>
                </a:path>
              </a:pathLst>
            </a:custGeom>
            <a:noFill/>
            <a:ln w="9525">
              <a:solidFill>
                <a:srgbClr val="EADBCE"/>
              </a:solidFill>
            </a:ln>
          </p:spPr>
        </p:sp>
        <p:sp>
          <p:nvSpPr>
            <p:cNvPr id="216" name="Line 216"/>
            <p:cNvSpPr/>
            <p:nvPr/>
          </p:nvSpPr>
          <p:spPr>
            <a:xfrm>
              <a:off x="7410450" y="3238500"/>
              <a:ext cx="4400550" cy="9525"/>
            </a:xfrm>
            <a:custGeom>
              <a:avLst/>
              <a:gdLst/>
              <a:ahLst/>
              <a:cxnLst/>
              <a:rect l="l" t="t" r="r" b="b"/>
              <a:pathLst>
                <a:path w="4400550" h="9525">
                  <a:moveTo>
                    <a:pt x="0" y="0"/>
                  </a:moveTo>
                  <a:lnTo>
                    <a:pt x="4400550" y="0"/>
                  </a:lnTo>
                </a:path>
              </a:pathLst>
            </a:custGeom>
            <a:noFill/>
            <a:ln w="9525">
              <a:solidFill>
                <a:srgbClr val="EADBCE"/>
              </a:solidFill>
            </a:ln>
          </p:spPr>
        </p:sp>
      </p:grpSp>
      <p:grpSp>
        <p:nvGrpSpPr>
          <p:cNvPr id="301" name="early-warning"/>
          <p:cNvGrpSpPr/>
          <p:nvPr/>
        </p:nvGrpSpPr>
        <p:grpSpPr>
          <a:xfrm>
            <a:off x="342900" y="3867150"/>
            <a:ext cx="6438900" cy="2743200"/>
            <a:chOff x="342900" y="3867150"/>
            <a:chExt cx="6438900" cy="2743200"/>
          </a:xfrm>
        </p:grpSpPr>
        <p:sp>
          <p:nvSpPr>
            <p:cNvPr id="218" name="Rectangle 218"/>
            <p:cNvSpPr/>
            <p:nvPr/>
          </p:nvSpPr>
          <p:spPr>
            <a:xfrm>
              <a:off x="342900" y="3867150"/>
              <a:ext cx="6438900" cy="228600"/>
            </a:xfrm>
            <a:prstGeom prst="roundRect">
              <a:avLst>
                <a:gd name="adj" fmla="val 12500"/>
              </a:avLst>
            </a:prstGeom>
            <a:solidFill>
              <a:srgbClr val="C41D00"/>
            </a:solidFill>
            <a:ln>
              <a:noFill/>
            </a:ln>
          </p:spPr>
        </p:sp>
        <p:sp>
          <p:nvSpPr>
            <p:cNvPr id="219" name="TextBox 219"/>
            <p:cNvSpPr txBox="1"/>
            <p:nvPr/>
          </p:nvSpPr>
          <p:spPr>
            <a:xfrm>
              <a:off x="2390883" y="3935968"/>
              <a:ext cx="234293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​下方左：授信与用信早期预警监控（示例）​</a:t>
              </a:r>
            </a:p>
          </p:txBody>
        </p:sp>
        <p:sp>
          <p:nvSpPr>
            <p:cNvPr id="220" name="Rectangle 220"/>
            <p:cNvSpPr/>
            <p:nvPr/>
          </p:nvSpPr>
          <p:spPr>
            <a:xfrm>
              <a:off x="342900" y="4133850"/>
              <a:ext cx="6438900" cy="304800"/>
            </a:xfrm>
            <a:prstGeom prst="rect">
              <a:avLst/>
            </a:prstGeom>
            <a:solidFill>
              <a:srgbClr val="FEF2E6"/>
            </a:solidFill>
            <a:ln w="9525">
              <a:solidFill>
                <a:srgbClr val="F0B8AE"/>
              </a:solidFill>
            </a:ln>
          </p:spPr>
        </p:sp>
        <p:sp>
          <p:nvSpPr>
            <p:cNvPr id="221" name="TextBox 221"/>
            <p:cNvSpPr txBox="1"/>
            <p:nvPr/>
          </p:nvSpPr>
          <p:spPr>
            <a:xfrm>
              <a:off x="555104" y="42514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监控维度</a:t>
              </a:r>
            </a:p>
          </p:txBody>
        </p:sp>
        <p:sp>
          <p:nvSpPr>
            <p:cNvPr id="222" name="TextBox 222"/>
            <p:cNvSpPr txBox="1"/>
            <p:nvPr/>
          </p:nvSpPr>
          <p:spPr>
            <a:xfrm>
              <a:off x="1622515" y="4251484"/>
              <a:ext cx="717370"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​定义/指标示例​</a:t>
              </a:r>
            </a:p>
          </p:txBody>
        </p:sp>
        <p:sp>
          <p:nvSpPr>
            <p:cNvPr id="223" name="TextBox 223"/>
            <p:cNvSpPr txBox="1"/>
            <p:nvPr/>
          </p:nvSpPr>
          <p:spPr>
            <a:xfrm>
              <a:off x="2944025" y="4251484"/>
              <a:ext cx="284150"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当前值</a:t>
              </a:r>
            </a:p>
          </p:txBody>
        </p:sp>
        <p:sp>
          <p:nvSpPr>
            <p:cNvPr id="224" name="TextBox 224"/>
            <p:cNvSpPr txBox="1"/>
            <p:nvPr/>
          </p:nvSpPr>
          <p:spPr>
            <a:xfrm>
              <a:off x="3900556" y="4175284"/>
              <a:ext cx="847588"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​预警阈值（示例）​</a:t>
              </a:r>
            </a:p>
          </p:txBody>
        </p:sp>
        <p:sp>
          <p:nvSpPr>
            <p:cNvPr id="225" name="Line 225"/>
            <p:cNvSpPr/>
            <p:nvPr/>
          </p:nvSpPr>
          <p:spPr>
            <a:xfrm>
              <a:off x="3352800" y="4286250"/>
              <a:ext cx="1943100" cy="9525"/>
            </a:xfrm>
            <a:custGeom>
              <a:avLst/>
              <a:gdLst/>
              <a:ahLst/>
              <a:cxnLst/>
              <a:rect l="l" t="t" r="r" b="b"/>
              <a:pathLst>
                <a:path w="1943100" h="9525">
                  <a:moveTo>
                    <a:pt x="0" y="0"/>
                  </a:moveTo>
                  <a:lnTo>
                    <a:pt x="1943100" y="0"/>
                  </a:lnTo>
                </a:path>
              </a:pathLst>
            </a:custGeom>
            <a:noFill/>
            <a:ln w="9525">
              <a:solidFill>
                <a:srgbClr val="F0B8AE"/>
              </a:solidFill>
            </a:ln>
          </p:spPr>
        </p:sp>
        <p:sp>
          <p:nvSpPr>
            <p:cNvPr id="226" name="TextBox 226"/>
            <p:cNvSpPr txBox="1"/>
            <p:nvPr/>
          </p:nvSpPr>
          <p:spPr>
            <a:xfrm>
              <a:off x="3499574" y="432220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一级预警</a:t>
              </a:r>
            </a:p>
          </p:txBody>
        </p:sp>
        <p:sp>
          <p:nvSpPr>
            <p:cNvPr id="227" name="TextBox 227"/>
            <p:cNvSpPr txBox="1"/>
            <p:nvPr/>
          </p:nvSpPr>
          <p:spPr>
            <a:xfrm>
              <a:off x="4147274" y="432220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二级预警</a:t>
              </a:r>
            </a:p>
          </p:txBody>
        </p:sp>
        <p:sp>
          <p:nvSpPr>
            <p:cNvPr id="228" name="TextBox 228"/>
            <p:cNvSpPr txBox="1"/>
            <p:nvPr/>
          </p:nvSpPr>
          <p:spPr>
            <a:xfrm>
              <a:off x="4794974" y="432220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三级预警</a:t>
              </a:r>
            </a:p>
          </p:txBody>
        </p:sp>
        <p:sp>
          <p:nvSpPr>
            <p:cNvPr id="229" name="TextBox 229"/>
            <p:cNvSpPr txBox="1"/>
            <p:nvPr/>
          </p:nvSpPr>
          <p:spPr>
            <a:xfrm>
              <a:off x="5443658" y="4213384"/>
              <a:ext cx="504584"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4A130A"/>
                  </a:solidFill>
                  <a:latin typeface="+mn-lt"/>
                  <a:ea typeface="+mn-ea"/>
                  <a:cs typeface="+mn-cs"/>
                </a:rPr>
                <a:t>趋势</a:t>
              </a:r>
              <a:br/>
              <a:r>
                <a:rPr lang="zh-CN" sz="680" b="1" dirty="0">
                  <a:solidFill>
                    <a:srgbClr val="4A130A"/>
                  </a:solidFill>
                  <a:latin typeface="+mn-lt"/>
                  <a:ea typeface="+mn-ea"/>
                  <a:cs typeface="+mn-cs"/>
                </a:rPr>
                <a:t>​（近8周）​</a:t>
              </a:r>
            </a:p>
          </p:txBody>
        </p:sp>
        <p:sp>
          <p:nvSpPr>
            <p:cNvPr id="230" name="TextBox 230"/>
            <p:cNvSpPr txBox="1"/>
            <p:nvPr/>
          </p:nvSpPr>
          <p:spPr>
            <a:xfrm>
              <a:off x="6251054" y="42514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预警等级</a:t>
              </a:r>
            </a:p>
          </p:txBody>
        </p:sp>
        <p:sp>
          <p:nvSpPr>
            <p:cNvPr id="231" name="Rectangle 231"/>
            <p:cNvSpPr/>
            <p:nvPr/>
          </p:nvSpPr>
          <p:spPr>
            <a:xfrm>
              <a:off x="342900" y="4438650"/>
              <a:ext cx="6438900" cy="2171700"/>
            </a:xfrm>
            <a:prstGeom prst="rect">
              <a:avLst/>
            </a:prstGeom>
            <a:solidFill>
              <a:srgbClr val="FFFFFF"/>
            </a:solidFill>
            <a:ln w="9525">
              <a:solidFill>
                <a:srgbClr val="F0B8AE"/>
              </a:solidFill>
            </a:ln>
          </p:spPr>
        </p:sp>
        <p:sp>
          <p:nvSpPr>
            <p:cNvPr id="232" name="Rectangle 232"/>
            <p:cNvSpPr/>
            <p:nvPr/>
          </p:nvSpPr>
          <p:spPr>
            <a:xfrm>
              <a:off x="342900" y="4800600"/>
              <a:ext cx="6438900" cy="361950"/>
            </a:xfrm>
            <a:prstGeom prst="rect">
              <a:avLst/>
            </a:prstGeom>
            <a:solidFill>
              <a:srgbClr val="FFF8F2"/>
            </a:solidFill>
            <a:ln>
              <a:noFill/>
            </a:ln>
          </p:spPr>
        </p:sp>
        <p:sp>
          <p:nvSpPr>
            <p:cNvPr id="233" name="Rectangle 233"/>
            <p:cNvSpPr/>
            <p:nvPr/>
          </p:nvSpPr>
          <p:spPr>
            <a:xfrm>
              <a:off x="342900" y="5524500"/>
              <a:ext cx="6438900" cy="361950"/>
            </a:xfrm>
            <a:prstGeom prst="rect">
              <a:avLst/>
            </a:prstGeom>
            <a:solidFill>
              <a:srgbClr val="FFF8F2"/>
            </a:solidFill>
            <a:ln>
              <a:noFill/>
            </a:ln>
          </p:spPr>
        </p:sp>
        <p:sp>
          <p:nvSpPr>
            <p:cNvPr id="234" name="Rectangle 234"/>
            <p:cNvSpPr/>
            <p:nvPr/>
          </p:nvSpPr>
          <p:spPr>
            <a:xfrm>
              <a:off x="342900" y="6248400"/>
              <a:ext cx="6438900" cy="361950"/>
            </a:xfrm>
            <a:prstGeom prst="rect">
              <a:avLst/>
            </a:prstGeom>
            <a:solidFill>
              <a:srgbClr val="FFF8F2"/>
            </a:solidFill>
            <a:ln>
              <a:noFill/>
            </a:ln>
          </p:spPr>
        </p:sp>
        <p:sp>
          <p:nvSpPr>
            <p:cNvPr id="235" name="TextBox 235"/>
            <p:cNvSpPr txBox="1"/>
            <p:nvPr/>
          </p:nvSpPr>
          <p:spPr>
            <a:xfrm>
              <a:off x="499237" y="4580811"/>
              <a:ext cx="48742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授信激活率</a:t>
              </a:r>
            </a:p>
          </p:txBody>
        </p:sp>
        <p:sp>
          <p:nvSpPr>
            <p:cNvPr id="236" name="TextBox 236"/>
            <p:cNvSpPr txBox="1"/>
            <p:nvPr/>
          </p:nvSpPr>
          <p:spPr>
            <a:xfrm>
              <a:off x="1488978" y="4584859"/>
              <a:ext cx="984443"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​已激活额度/已批额度​</a:t>
              </a:r>
            </a:p>
          </p:txBody>
        </p:sp>
        <p:sp>
          <p:nvSpPr>
            <p:cNvPr id="237" name="TextBox 237"/>
            <p:cNvSpPr txBox="1"/>
            <p:nvPr/>
          </p:nvSpPr>
          <p:spPr>
            <a:xfrm>
              <a:off x="2866661" y="4576762"/>
              <a:ext cx="438879"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​70.0%​</a:t>
              </a:r>
            </a:p>
          </p:txBody>
        </p:sp>
        <p:sp>
          <p:nvSpPr>
            <p:cNvPr id="238" name="TextBox 238"/>
            <p:cNvSpPr txBox="1"/>
            <p:nvPr/>
          </p:nvSpPr>
          <p:spPr>
            <a:xfrm>
              <a:off x="3504622" y="458081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​&lt;70%​</a:t>
              </a:r>
            </a:p>
          </p:txBody>
        </p:sp>
        <p:sp>
          <p:nvSpPr>
            <p:cNvPr id="239" name="TextBox 239"/>
            <p:cNvSpPr txBox="1"/>
            <p:nvPr/>
          </p:nvSpPr>
          <p:spPr>
            <a:xfrm>
              <a:off x="4152322" y="458081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​&lt;60%​</a:t>
              </a:r>
            </a:p>
          </p:txBody>
        </p:sp>
        <p:sp>
          <p:nvSpPr>
            <p:cNvPr id="240" name="TextBox 240"/>
            <p:cNvSpPr txBox="1"/>
            <p:nvPr/>
          </p:nvSpPr>
          <p:spPr>
            <a:xfrm>
              <a:off x="4800022" y="458081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​&lt;50%​</a:t>
              </a:r>
            </a:p>
          </p:txBody>
        </p:sp>
        <p:sp>
          <p:nvSpPr>
            <p:cNvPr id="241" name="Polyline 241"/>
            <p:cNvSpPr/>
            <p:nvPr/>
          </p:nvSpPr>
          <p:spPr>
            <a:xfrm>
              <a:off x="5391150" y="4533900"/>
              <a:ext cx="600075" cy="152400"/>
            </a:xfrm>
            <a:custGeom>
              <a:avLst/>
              <a:gdLst/>
              <a:ahLst/>
              <a:cxnLst/>
              <a:rect l="l" t="t" r="r" b="b"/>
              <a:pathLst>
                <a:path w="600075" h="152400">
                  <a:moveTo>
                    <a:pt x="0" y="152400"/>
                  </a:moveTo>
                  <a:lnTo>
                    <a:pt x="85725" y="95250"/>
                  </a:lnTo>
                  <a:lnTo>
                    <a:pt x="171450" y="123825"/>
                  </a:lnTo>
                  <a:lnTo>
                    <a:pt x="257175" y="57150"/>
                  </a:lnTo>
                  <a:lnTo>
                    <a:pt x="342900" y="85725"/>
                  </a:lnTo>
                  <a:lnTo>
                    <a:pt x="428625" y="28575"/>
                  </a:lnTo>
                  <a:lnTo>
                    <a:pt x="514350" y="66675"/>
                  </a:lnTo>
                  <a:lnTo>
                    <a:pt x="600075" y="0"/>
                  </a:lnTo>
                </a:path>
              </a:pathLst>
            </a:custGeom>
            <a:noFill/>
            <a:ln w="14288">
              <a:solidFill>
                <a:srgbClr val="EE492C"/>
              </a:solidFill>
            </a:ln>
          </p:spPr>
        </p:sp>
        <p:sp>
          <p:nvSpPr>
            <p:cNvPr id="242" name="Ellipse 242"/>
            <p:cNvSpPr/>
            <p:nvPr/>
          </p:nvSpPr>
          <p:spPr>
            <a:xfrm>
              <a:off x="6238875" y="4572000"/>
              <a:ext cx="95250" cy="95250"/>
            </a:xfrm>
            <a:prstGeom prst="ellipse">
              <a:avLst/>
            </a:prstGeom>
            <a:solidFill>
              <a:srgbClr val="C8371E"/>
            </a:solidFill>
            <a:ln>
              <a:noFill/>
            </a:ln>
          </p:spPr>
        </p:sp>
        <p:sp>
          <p:nvSpPr>
            <p:cNvPr id="243" name="TextBox 243"/>
            <p:cNvSpPr txBox="1"/>
            <p:nvPr/>
          </p:nvSpPr>
          <p:spPr>
            <a:xfrm>
              <a:off x="6376988" y="4580811"/>
              <a:ext cx="200685"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一级</a:t>
              </a:r>
            </a:p>
          </p:txBody>
        </p:sp>
        <p:sp>
          <p:nvSpPr>
            <p:cNvPr id="244" name="TextBox 244"/>
            <p:cNvSpPr txBox="1"/>
            <p:nvPr/>
          </p:nvSpPr>
          <p:spPr>
            <a:xfrm>
              <a:off x="499237" y="4942761"/>
              <a:ext cx="48742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额度使用率</a:t>
              </a:r>
            </a:p>
          </p:txBody>
        </p:sp>
        <p:sp>
          <p:nvSpPr>
            <p:cNvPr id="245" name="TextBox 245"/>
            <p:cNvSpPr txBox="1"/>
            <p:nvPr/>
          </p:nvSpPr>
          <p:spPr>
            <a:xfrm>
              <a:off x="1534749" y="4946809"/>
              <a:ext cx="892901"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​已用额度/授信额度​</a:t>
              </a:r>
            </a:p>
          </p:txBody>
        </p:sp>
        <p:sp>
          <p:nvSpPr>
            <p:cNvPr id="246" name="TextBox 246"/>
            <p:cNvSpPr txBox="1"/>
            <p:nvPr/>
          </p:nvSpPr>
          <p:spPr>
            <a:xfrm>
              <a:off x="2866661" y="4938712"/>
              <a:ext cx="438879"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​43.0%​</a:t>
              </a:r>
            </a:p>
          </p:txBody>
        </p:sp>
        <p:sp>
          <p:nvSpPr>
            <p:cNvPr id="247" name="TextBox 247"/>
            <p:cNvSpPr txBox="1"/>
            <p:nvPr/>
          </p:nvSpPr>
          <p:spPr>
            <a:xfrm>
              <a:off x="3504622" y="494276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​&lt;40%​</a:t>
              </a:r>
            </a:p>
          </p:txBody>
        </p:sp>
        <p:sp>
          <p:nvSpPr>
            <p:cNvPr id="248" name="TextBox 248"/>
            <p:cNvSpPr txBox="1"/>
            <p:nvPr/>
          </p:nvSpPr>
          <p:spPr>
            <a:xfrm>
              <a:off x="4152322" y="494276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​&lt;30%​</a:t>
              </a:r>
            </a:p>
          </p:txBody>
        </p:sp>
        <p:sp>
          <p:nvSpPr>
            <p:cNvPr id="249" name="TextBox 249"/>
            <p:cNvSpPr txBox="1"/>
            <p:nvPr/>
          </p:nvSpPr>
          <p:spPr>
            <a:xfrm>
              <a:off x="4800022" y="494276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​&lt;20%​</a:t>
              </a:r>
            </a:p>
          </p:txBody>
        </p:sp>
        <p:sp>
          <p:nvSpPr>
            <p:cNvPr id="250" name="Polyline 250"/>
            <p:cNvSpPr/>
            <p:nvPr/>
          </p:nvSpPr>
          <p:spPr>
            <a:xfrm>
              <a:off x="5391150" y="4914900"/>
              <a:ext cx="600075" cy="114300"/>
            </a:xfrm>
            <a:custGeom>
              <a:avLst/>
              <a:gdLst/>
              <a:ahLst/>
              <a:cxnLst/>
              <a:rect l="l" t="t" r="r" b="b"/>
              <a:pathLst>
                <a:path w="600075" h="114300">
                  <a:moveTo>
                    <a:pt x="0" y="114300"/>
                  </a:moveTo>
                  <a:lnTo>
                    <a:pt x="85725" y="76200"/>
                  </a:lnTo>
                  <a:lnTo>
                    <a:pt x="171450" y="104775"/>
                  </a:lnTo>
                  <a:lnTo>
                    <a:pt x="257175" y="47625"/>
                  </a:lnTo>
                  <a:lnTo>
                    <a:pt x="342900" y="76200"/>
                  </a:lnTo>
                  <a:lnTo>
                    <a:pt x="428625" y="28575"/>
                  </a:lnTo>
                  <a:lnTo>
                    <a:pt x="514350" y="57150"/>
                  </a:lnTo>
                  <a:lnTo>
                    <a:pt x="600075" y="0"/>
                  </a:lnTo>
                </a:path>
              </a:pathLst>
            </a:custGeom>
            <a:noFill/>
            <a:ln w="14288">
              <a:solidFill>
                <a:srgbClr val="EE492C"/>
              </a:solidFill>
            </a:ln>
          </p:spPr>
        </p:sp>
        <p:sp>
          <p:nvSpPr>
            <p:cNvPr id="251" name="Ellipse 251"/>
            <p:cNvSpPr/>
            <p:nvPr/>
          </p:nvSpPr>
          <p:spPr>
            <a:xfrm>
              <a:off x="6238875" y="4933950"/>
              <a:ext cx="95250" cy="95250"/>
            </a:xfrm>
            <a:prstGeom prst="ellipse">
              <a:avLst/>
            </a:prstGeom>
            <a:solidFill>
              <a:srgbClr val="C8371E"/>
            </a:solidFill>
            <a:ln>
              <a:noFill/>
            </a:ln>
          </p:spPr>
        </p:sp>
        <p:sp>
          <p:nvSpPr>
            <p:cNvPr id="252" name="TextBox 252"/>
            <p:cNvSpPr txBox="1"/>
            <p:nvPr/>
          </p:nvSpPr>
          <p:spPr>
            <a:xfrm>
              <a:off x="6376988" y="4942761"/>
              <a:ext cx="200685"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一级</a:t>
              </a:r>
            </a:p>
          </p:txBody>
        </p:sp>
        <p:sp>
          <p:nvSpPr>
            <p:cNvPr id="253" name="TextBox 253"/>
            <p:cNvSpPr txBox="1"/>
            <p:nvPr/>
          </p:nvSpPr>
          <p:spPr>
            <a:xfrm>
              <a:off x="499237" y="5304711"/>
              <a:ext cx="48742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账户活跃度</a:t>
              </a:r>
            </a:p>
          </p:txBody>
        </p:sp>
        <p:sp>
          <p:nvSpPr>
            <p:cNvPr id="254" name="TextBox 254"/>
            <p:cNvSpPr txBox="1"/>
            <p:nvPr/>
          </p:nvSpPr>
          <p:spPr>
            <a:xfrm>
              <a:off x="1463805" y="5308759"/>
              <a:ext cx="1034791"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​近30天有交易客户占比​</a:t>
              </a:r>
            </a:p>
          </p:txBody>
        </p:sp>
        <p:sp>
          <p:nvSpPr>
            <p:cNvPr id="255" name="TextBox 255"/>
            <p:cNvSpPr txBox="1"/>
            <p:nvPr/>
          </p:nvSpPr>
          <p:spPr>
            <a:xfrm>
              <a:off x="2866661" y="5300662"/>
              <a:ext cx="438879"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​62.0%​</a:t>
              </a:r>
            </a:p>
          </p:txBody>
        </p:sp>
        <p:sp>
          <p:nvSpPr>
            <p:cNvPr id="256" name="TextBox 256"/>
            <p:cNvSpPr txBox="1"/>
            <p:nvPr/>
          </p:nvSpPr>
          <p:spPr>
            <a:xfrm>
              <a:off x="3504622" y="530471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​&lt;60%​</a:t>
              </a:r>
            </a:p>
          </p:txBody>
        </p:sp>
        <p:sp>
          <p:nvSpPr>
            <p:cNvPr id="257" name="TextBox 257"/>
            <p:cNvSpPr txBox="1"/>
            <p:nvPr/>
          </p:nvSpPr>
          <p:spPr>
            <a:xfrm>
              <a:off x="4152322" y="530471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​&lt;45%​</a:t>
              </a:r>
            </a:p>
          </p:txBody>
        </p:sp>
        <p:sp>
          <p:nvSpPr>
            <p:cNvPr id="258" name="TextBox 258"/>
            <p:cNvSpPr txBox="1"/>
            <p:nvPr/>
          </p:nvSpPr>
          <p:spPr>
            <a:xfrm>
              <a:off x="4800022" y="530471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​&lt;30%​</a:t>
              </a:r>
            </a:p>
          </p:txBody>
        </p:sp>
        <p:sp>
          <p:nvSpPr>
            <p:cNvPr id="259" name="Polyline 259"/>
            <p:cNvSpPr/>
            <p:nvPr/>
          </p:nvSpPr>
          <p:spPr>
            <a:xfrm>
              <a:off x="5391150" y="5334000"/>
              <a:ext cx="600075" cy="95250"/>
            </a:xfrm>
            <a:custGeom>
              <a:avLst/>
              <a:gdLst/>
              <a:ahLst/>
              <a:cxnLst/>
              <a:rect l="l" t="t" r="r" b="b"/>
              <a:pathLst>
                <a:path w="600075" h="95250">
                  <a:moveTo>
                    <a:pt x="0" y="0"/>
                  </a:moveTo>
                  <a:lnTo>
                    <a:pt x="85725" y="57150"/>
                  </a:lnTo>
                  <a:lnTo>
                    <a:pt x="171450" y="19050"/>
                  </a:lnTo>
                  <a:lnTo>
                    <a:pt x="257175" y="66675"/>
                  </a:lnTo>
                  <a:lnTo>
                    <a:pt x="342900" y="28575"/>
                  </a:lnTo>
                  <a:lnTo>
                    <a:pt x="428625" y="85725"/>
                  </a:lnTo>
                  <a:lnTo>
                    <a:pt x="514350" y="47625"/>
                  </a:lnTo>
                  <a:lnTo>
                    <a:pt x="600075" y="95250"/>
                  </a:lnTo>
                </a:path>
              </a:pathLst>
            </a:custGeom>
            <a:noFill/>
            <a:ln w="14288">
              <a:solidFill>
                <a:srgbClr val="EE492C"/>
              </a:solidFill>
            </a:ln>
          </p:spPr>
        </p:sp>
        <p:sp>
          <p:nvSpPr>
            <p:cNvPr id="260" name="Ellipse 260"/>
            <p:cNvSpPr/>
            <p:nvPr/>
          </p:nvSpPr>
          <p:spPr>
            <a:xfrm>
              <a:off x="6238875" y="5295900"/>
              <a:ext cx="95250" cy="95250"/>
            </a:xfrm>
            <a:prstGeom prst="ellipse">
              <a:avLst/>
            </a:prstGeom>
            <a:solidFill>
              <a:srgbClr val="E52200"/>
            </a:solidFill>
            <a:ln>
              <a:noFill/>
            </a:ln>
          </p:spPr>
        </p:sp>
        <p:sp>
          <p:nvSpPr>
            <p:cNvPr id="261" name="TextBox 261"/>
            <p:cNvSpPr txBox="1"/>
            <p:nvPr/>
          </p:nvSpPr>
          <p:spPr>
            <a:xfrm>
              <a:off x="6376988" y="5304711"/>
              <a:ext cx="200685"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二级</a:t>
              </a:r>
            </a:p>
          </p:txBody>
        </p:sp>
        <p:sp>
          <p:nvSpPr>
            <p:cNvPr id="262" name="TextBox 262"/>
            <p:cNvSpPr txBox="1"/>
            <p:nvPr/>
          </p:nvSpPr>
          <p:spPr>
            <a:xfrm>
              <a:off x="499237" y="5666661"/>
              <a:ext cx="48742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重复使用率</a:t>
              </a:r>
            </a:p>
          </p:txBody>
        </p:sp>
        <p:sp>
          <p:nvSpPr>
            <p:cNvPr id="263" name="TextBox 263"/>
            <p:cNvSpPr txBox="1"/>
            <p:nvPr/>
          </p:nvSpPr>
          <p:spPr>
            <a:xfrm>
              <a:off x="1408880" y="5670709"/>
              <a:ext cx="1144641"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​​12个月内≥2次提款占比​​</a:t>
              </a:r>
            </a:p>
          </p:txBody>
        </p:sp>
        <p:sp>
          <p:nvSpPr>
            <p:cNvPr id="264" name="TextBox 264"/>
            <p:cNvSpPr txBox="1"/>
            <p:nvPr/>
          </p:nvSpPr>
          <p:spPr>
            <a:xfrm>
              <a:off x="2866661" y="5662612"/>
              <a:ext cx="438879"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​55.0%​</a:t>
              </a:r>
            </a:p>
          </p:txBody>
        </p:sp>
        <p:sp>
          <p:nvSpPr>
            <p:cNvPr id="265" name="TextBox 265"/>
            <p:cNvSpPr txBox="1"/>
            <p:nvPr/>
          </p:nvSpPr>
          <p:spPr>
            <a:xfrm>
              <a:off x="3504622" y="566666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​&lt;50%​</a:t>
              </a:r>
            </a:p>
          </p:txBody>
        </p:sp>
        <p:sp>
          <p:nvSpPr>
            <p:cNvPr id="266" name="TextBox 266"/>
            <p:cNvSpPr txBox="1"/>
            <p:nvPr/>
          </p:nvSpPr>
          <p:spPr>
            <a:xfrm>
              <a:off x="4152322" y="566666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​&lt;35%​</a:t>
              </a:r>
            </a:p>
          </p:txBody>
        </p:sp>
        <p:sp>
          <p:nvSpPr>
            <p:cNvPr id="267" name="TextBox 267"/>
            <p:cNvSpPr txBox="1"/>
            <p:nvPr/>
          </p:nvSpPr>
          <p:spPr>
            <a:xfrm>
              <a:off x="4800022" y="5666661"/>
              <a:ext cx="34405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​&lt;20%​</a:t>
              </a:r>
            </a:p>
          </p:txBody>
        </p:sp>
        <p:sp>
          <p:nvSpPr>
            <p:cNvPr id="268" name="Polyline 268"/>
            <p:cNvSpPr/>
            <p:nvPr/>
          </p:nvSpPr>
          <p:spPr>
            <a:xfrm>
              <a:off x="5391150" y="5648325"/>
              <a:ext cx="600075" cy="104775"/>
            </a:xfrm>
            <a:custGeom>
              <a:avLst/>
              <a:gdLst/>
              <a:ahLst/>
              <a:cxnLst/>
              <a:rect l="l" t="t" r="r" b="b"/>
              <a:pathLst>
                <a:path w="600075" h="104775">
                  <a:moveTo>
                    <a:pt x="0" y="104775"/>
                  </a:moveTo>
                  <a:lnTo>
                    <a:pt x="85725" y="57150"/>
                  </a:lnTo>
                  <a:lnTo>
                    <a:pt x="171450" y="85725"/>
                  </a:lnTo>
                  <a:lnTo>
                    <a:pt x="257175" y="38100"/>
                  </a:lnTo>
                  <a:lnTo>
                    <a:pt x="342900" y="66675"/>
                  </a:lnTo>
                  <a:lnTo>
                    <a:pt x="428625" y="19050"/>
                  </a:lnTo>
                  <a:lnTo>
                    <a:pt x="514350" y="47625"/>
                  </a:lnTo>
                  <a:lnTo>
                    <a:pt x="600075" y="0"/>
                  </a:lnTo>
                </a:path>
              </a:pathLst>
            </a:custGeom>
            <a:noFill/>
            <a:ln w="14288">
              <a:solidFill>
                <a:srgbClr val="EE492C"/>
              </a:solidFill>
            </a:ln>
          </p:spPr>
        </p:sp>
        <p:sp>
          <p:nvSpPr>
            <p:cNvPr id="269" name="Ellipse 269"/>
            <p:cNvSpPr/>
            <p:nvPr/>
          </p:nvSpPr>
          <p:spPr>
            <a:xfrm>
              <a:off x="6238875" y="5657850"/>
              <a:ext cx="95250" cy="95250"/>
            </a:xfrm>
            <a:prstGeom prst="ellipse">
              <a:avLst/>
            </a:prstGeom>
            <a:solidFill>
              <a:srgbClr val="E52200"/>
            </a:solidFill>
            <a:ln>
              <a:noFill/>
            </a:ln>
          </p:spPr>
        </p:sp>
        <p:sp>
          <p:nvSpPr>
            <p:cNvPr id="270" name="TextBox 270"/>
            <p:cNvSpPr txBox="1"/>
            <p:nvPr/>
          </p:nvSpPr>
          <p:spPr>
            <a:xfrm>
              <a:off x="6376988" y="5666661"/>
              <a:ext cx="200685"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二级</a:t>
              </a:r>
            </a:p>
          </p:txBody>
        </p:sp>
        <p:sp>
          <p:nvSpPr>
            <p:cNvPr id="271" name="TextBox 271"/>
            <p:cNvSpPr txBox="1"/>
            <p:nvPr/>
          </p:nvSpPr>
          <p:spPr>
            <a:xfrm>
              <a:off x="352880" y="6032659"/>
              <a:ext cx="837290"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​​逾期率（31+）​​</a:t>
              </a:r>
            </a:p>
          </p:txBody>
        </p:sp>
        <p:sp>
          <p:nvSpPr>
            <p:cNvPr id="272" name="TextBox 272"/>
            <p:cNvSpPr txBox="1"/>
            <p:nvPr/>
          </p:nvSpPr>
          <p:spPr>
            <a:xfrm>
              <a:off x="1363109" y="6032659"/>
              <a:ext cx="1236182"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​​31+逾期余额/总账款余额​​</a:t>
              </a:r>
            </a:p>
          </p:txBody>
        </p:sp>
        <p:sp>
          <p:nvSpPr>
            <p:cNvPr id="273" name="TextBox 273"/>
            <p:cNvSpPr txBox="1"/>
            <p:nvPr/>
          </p:nvSpPr>
          <p:spPr>
            <a:xfrm>
              <a:off x="2866661" y="6024562"/>
              <a:ext cx="438879"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​1.10%​</a:t>
              </a:r>
            </a:p>
          </p:txBody>
        </p:sp>
        <p:sp>
          <p:nvSpPr>
            <p:cNvPr id="274" name="TextBox 274"/>
            <p:cNvSpPr txBox="1"/>
            <p:nvPr/>
          </p:nvSpPr>
          <p:spPr>
            <a:xfrm>
              <a:off x="3478338" y="6028611"/>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​≥1.0%​</a:t>
              </a:r>
            </a:p>
          </p:txBody>
        </p:sp>
        <p:sp>
          <p:nvSpPr>
            <p:cNvPr id="275" name="TextBox 275"/>
            <p:cNvSpPr txBox="1"/>
            <p:nvPr/>
          </p:nvSpPr>
          <p:spPr>
            <a:xfrm>
              <a:off x="4126038" y="6028611"/>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​&gt;1.5%​</a:t>
              </a:r>
            </a:p>
          </p:txBody>
        </p:sp>
        <p:sp>
          <p:nvSpPr>
            <p:cNvPr id="276" name="TextBox 276"/>
            <p:cNvSpPr txBox="1"/>
            <p:nvPr/>
          </p:nvSpPr>
          <p:spPr>
            <a:xfrm>
              <a:off x="4773738" y="6028611"/>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​&gt;2.0%​</a:t>
              </a:r>
            </a:p>
          </p:txBody>
        </p:sp>
        <p:sp>
          <p:nvSpPr>
            <p:cNvPr id="277" name="Polyline 277"/>
            <p:cNvSpPr/>
            <p:nvPr/>
          </p:nvSpPr>
          <p:spPr>
            <a:xfrm>
              <a:off x="5391150" y="6029325"/>
              <a:ext cx="600075" cy="104775"/>
            </a:xfrm>
            <a:custGeom>
              <a:avLst/>
              <a:gdLst/>
              <a:ahLst/>
              <a:cxnLst/>
              <a:rect l="l" t="t" r="r" b="b"/>
              <a:pathLst>
                <a:path w="600075" h="104775">
                  <a:moveTo>
                    <a:pt x="0" y="104775"/>
                  </a:moveTo>
                  <a:lnTo>
                    <a:pt x="85725" y="76200"/>
                  </a:lnTo>
                  <a:lnTo>
                    <a:pt x="171450" y="95250"/>
                  </a:lnTo>
                  <a:lnTo>
                    <a:pt x="257175" y="47625"/>
                  </a:lnTo>
                  <a:lnTo>
                    <a:pt x="342900" y="66675"/>
                  </a:lnTo>
                  <a:lnTo>
                    <a:pt x="428625" y="28575"/>
                  </a:lnTo>
                  <a:lnTo>
                    <a:pt x="514350" y="47625"/>
                  </a:lnTo>
                  <a:lnTo>
                    <a:pt x="600075" y="0"/>
                  </a:lnTo>
                </a:path>
              </a:pathLst>
            </a:custGeom>
            <a:noFill/>
            <a:ln w="14288">
              <a:solidFill>
                <a:srgbClr val="EE492C"/>
              </a:solidFill>
            </a:ln>
          </p:spPr>
        </p:sp>
        <p:sp>
          <p:nvSpPr>
            <p:cNvPr id="278" name="Polygon 278"/>
            <p:cNvSpPr/>
            <p:nvPr/>
          </p:nvSpPr>
          <p:spPr>
            <a:xfrm>
              <a:off x="6238875" y="6019800"/>
              <a:ext cx="95250" cy="95250"/>
            </a:xfrm>
            <a:custGeom>
              <a:avLst/>
              <a:gdLst/>
              <a:ahLst/>
              <a:cxnLst/>
              <a:rect l="l" t="t" r="r" b="b"/>
              <a:pathLst>
                <a:path w="95250" h="95250">
                  <a:moveTo>
                    <a:pt x="47625" y="0"/>
                  </a:moveTo>
                  <a:lnTo>
                    <a:pt x="0" y="95250"/>
                  </a:lnTo>
                  <a:lnTo>
                    <a:pt x="95250" y="95250"/>
                  </a:lnTo>
                  <a:close/>
                </a:path>
              </a:pathLst>
            </a:custGeom>
            <a:noFill/>
            <a:ln w="14288">
              <a:solidFill>
                <a:srgbClr val="EE492C"/>
              </a:solidFill>
            </a:ln>
          </p:spPr>
        </p:sp>
        <p:sp>
          <p:nvSpPr>
            <p:cNvPr id="279" name="TextBox 279"/>
            <p:cNvSpPr txBox="1"/>
            <p:nvPr/>
          </p:nvSpPr>
          <p:spPr>
            <a:xfrm>
              <a:off x="6376988" y="6028611"/>
              <a:ext cx="200685"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三级</a:t>
              </a:r>
            </a:p>
          </p:txBody>
        </p:sp>
        <p:sp>
          <p:nvSpPr>
            <p:cNvPr id="280" name="TextBox 280"/>
            <p:cNvSpPr txBox="1"/>
            <p:nvPr/>
          </p:nvSpPr>
          <p:spPr>
            <a:xfrm>
              <a:off x="396249" y="6390561"/>
              <a:ext cx="693401"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​多头借贷指数​</a:t>
              </a:r>
            </a:p>
          </p:txBody>
        </p:sp>
        <p:sp>
          <p:nvSpPr>
            <p:cNvPr id="281" name="TextBox 281"/>
            <p:cNvSpPr txBox="1"/>
            <p:nvPr/>
          </p:nvSpPr>
          <p:spPr>
            <a:xfrm>
              <a:off x="1443208" y="6394609"/>
              <a:ext cx="1075985"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​机构查询次数（近3月）​</a:t>
              </a:r>
            </a:p>
          </p:txBody>
        </p:sp>
        <p:sp>
          <p:nvSpPr>
            <p:cNvPr id="282" name="TextBox 282"/>
            <p:cNvSpPr txBox="1"/>
            <p:nvPr/>
          </p:nvSpPr>
          <p:spPr>
            <a:xfrm>
              <a:off x="2885087" y="6386512"/>
              <a:ext cx="402026" cy="147638"/>
            </a:xfrm>
            <a:prstGeom prst="rect">
              <a:avLst/>
            </a:prstGeom>
            <a:noFill/>
            <a:ln>
              <a:noFill/>
            </a:ln>
          </p:spPr>
          <p:txBody>
            <a:bodyPr wrap="none" lIns="0" tIns="0" rIns="0" bIns="0" anchor="t" anchorCtr="0">
              <a:spAutoFit/>
            </a:bodyPr>
            <a:lstStyle/>
            <a:p>
              <a:pPr algn="ctr"/>
              <a:r>
                <a:rPr lang="zh-CN" sz="750" b="1" dirty="0">
                  <a:solidFill>
                    <a:srgbClr val="3D3835"/>
                  </a:solidFill>
                  <a:latin typeface="+mn-lt"/>
                  <a:ea typeface="+mn-ea"/>
                  <a:cs typeface="+mn-cs"/>
                </a:rPr>
                <a:t>​2.8次​</a:t>
              </a:r>
            </a:p>
          </p:txBody>
        </p:sp>
        <p:sp>
          <p:nvSpPr>
            <p:cNvPr id="283" name="TextBox 283"/>
            <p:cNvSpPr txBox="1"/>
            <p:nvPr/>
          </p:nvSpPr>
          <p:spPr>
            <a:xfrm>
              <a:off x="3518959" y="6390561"/>
              <a:ext cx="315382"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​&gt;3次​</a:t>
              </a:r>
            </a:p>
          </p:txBody>
        </p:sp>
        <p:sp>
          <p:nvSpPr>
            <p:cNvPr id="284" name="TextBox 284"/>
            <p:cNvSpPr txBox="1"/>
            <p:nvPr/>
          </p:nvSpPr>
          <p:spPr>
            <a:xfrm>
              <a:off x="4166659" y="6390561"/>
              <a:ext cx="315382"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​&gt;5次​</a:t>
              </a:r>
            </a:p>
          </p:txBody>
        </p:sp>
        <p:sp>
          <p:nvSpPr>
            <p:cNvPr id="285" name="TextBox 285"/>
            <p:cNvSpPr txBox="1"/>
            <p:nvPr/>
          </p:nvSpPr>
          <p:spPr>
            <a:xfrm>
              <a:off x="4814359" y="6390561"/>
              <a:ext cx="315382"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​&gt;8次​</a:t>
              </a:r>
            </a:p>
          </p:txBody>
        </p:sp>
        <p:sp>
          <p:nvSpPr>
            <p:cNvPr id="286" name="Polyline 286"/>
            <p:cNvSpPr/>
            <p:nvPr/>
          </p:nvSpPr>
          <p:spPr>
            <a:xfrm>
              <a:off x="5391150" y="6400800"/>
              <a:ext cx="600075" cy="95250"/>
            </a:xfrm>
            <a:custGeom>
              <a:avLst/>
              <a:gdLst/>
              <a:ahLst/>
              <a:cxnLst/>
              <a:rect l="l" t="t" r="r" b="b"/>
              <a:pathLst>
                <a:path w="600075" h="95250">
                  <a:moveTo>
                    <a:pt x="0" y="95250"/>
                  </a:moveTo>
                  <a:lnTo>
                    <a:pt x="85725" y="57150"/>
                  </a:lnTo>
                  <a:lnTo>
                    <a:pt x="171450" y="76200"/>
                  </a:lnTo>
                  <a:lnTo>
                    <a:pt x="257175" y="38100"/>
                  </a:lnTo>
                  <a:lnTo>
                    <a:pt x="342900" y="66675"/>
                  </a:lnTo>
                  <a:lnTo>
                    <a:pt x="428625" y="19050"/>
                  </a:lnTo>
                  <a:lnTo>
                    <a:pt x="514350" y="47625"/>
                  </a:lnTo>
                  <a:lnTo>
                    <a:pt x="600075" y="0"/>
                  </a:lnTo>
                </a:path>
              </a:pathLst>
            </a:custGeom>
            <a:noFill/>
            <a:ln w="14288">
              <a:solidFill>
                <a:srgbClr val="EE492C"/>
              </a:solidFill>
            </a:ln>
          </p:spPr>
        </p:sp>
        <p:sp>
          <p:nvSpPr>
            <p:cNvPr id="287" name="Polygon 287"/>
            <p:cNvSpPr/>
            <p:nvPr/>
          </p:nvSpPr>
          <p:spPr>
            <a:xfrm>
              <a:off x="6238875" y="6381750"/>
              <a:ext cx="95250" cy="95250"/>
            </a:xfrm>
            <a:custGeom>
              <a:avLst/>
              <a:gdLst/>
              <a:ahLst/>
              <a:cxnLst/>
              <a:rect l="l" t="t" r="r" b="b"/>
              <a:pathLst>
                <a:path w="95250" h="95250">
                  <a:moveTo>
                    <a:pt x="47625" y="0"/>
                  </a:moveTo>
                  <a:lnTo>
                    <a:pt x="0" y="95250"/>
                  </a:lnTo>
                  <a:lnTo>
                    <a:pt x="95250" y="95250"/>
                  </a:lnTo>
                  <a:close/>
                </a:path>
              </a:pathLst>
            </a:custGeom>
            <a:noFill/>
            <a:ln w="14288">
              <a:solidFill>
                <a:srgbClr val="EE492C"/>
              </a:solidFill>
            </a:ln>
          </p:spPr>
        </p:sp>
        <p:sp>
          <p:nvSpPr>
            <p:cNvPr id="288" name="TextBox 288"/>
            <p:cNvSpPr txBox="1"/>
            <p:nvPr/>
          </p:nvSpPr>
          <p:spPr>
            <a:xfrm>
              <a:off x="6376988" y="6390561"/>
              <a:ext cx="200685" cy="140494"/>
            </a:xfrm>
            <a:prstGeom prst="rect">
              <a:avLst/>
            </a:prstGeom>
            <a:noFill/>
            <a:ln>
              <a:noFill/>
            </a:ln>
          </p:spPr>
          <p:txBody>
            <a:bodyPr wrap="none" lIns="0" tIns="0" rIns="0" bIns="0" anchor="t" anchorCtr="0">
              <a:spAutoFit/>
            </a:bodyPr>
            <a:lstStyle/>
            <a:p>
              <a:pPr algn="l"/>
              <a:r>
                <a:rPr lang="zh-CN" sz="710" dirty="0">
                  <a:solidFill>
                    <a:srgbClr val="3D3835"/>
                  </a:solidFill>
                  <a:latin typeface="+mn-lt"/>
                  <a:ea typeface="+mn-ea"/>
                  <a:cs typeface="+mn-cs"/>
                </a:rPr>
                <a:t>三级</a:t>
              </a:r>
            </a:p>
          </p:txBody>
        </p:sp>
        <p:sp>
          <p:nvSpPr>
            <p:cNvPr id="289" name="Line 289"/>
            <p:cNvSpPr/>
            <p:nvPr/>
          </p:nvSpPr>
          <p:spPr>
            <a:xfrm>
              <a:off x="1143000" y="413385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90" name="Line 290"/>
            <p:cNvSpPr/>
            <p:nvPr/>
          </p:nvSpPr>
          <p:spPr>
            <a:xfrm>
              <a:off x="2819400" y="413385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91" name="Line 291"/>
            <p:cNvSpPr/>
            <p:nvPr/>
          </p:nvSpPr>
          <p:spPr>
            <a:xfrm>
              <a:off x="3352800" y="413385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92" name="Line 292"/>
            <p:cNvSpPr/>
            <p:nvPr/>
          </p:nvSpPr>
          <p:spPr>
            <a:xfrm>
              <a:off x="4000500" y="4286250"/>
              <a:ext cx="9525" cy="2324100"/>
            </a:xfrm>
            <a:custGeom>
              <a:avLst/>
              <a:gdLst/>
              <a:ahLst/>
              <a:cxnLst/>
              <a:rect l="l" t="t" r="r" b="b"/>
              <a:pathLst>
                <a:path w="9525" h="2324100">
                  <a:moveTo>
                    <a:pt x="0" y="0"/>
                  </a:moveTo>
                  <a:lnTo>
                    <a:pt x="0" y="2324100"/>
                  </a:lnTo>
                </a:path>
              </a:pathLst>
            </a:custGeom>
            <a:noFill/>
            <a:ln w="9525">
              <a:solidFill>
                <a:srgbClr val="EADBCE"/>
              </a:solidFill>
            </a:ln>
          </p:spPr>
        </p:sp>
        <p:sp>
          <p:nvSpPr>
            <p:cNvPr id="293" name="Line 293"/>
            <p:cNvSpPr/>
            <p:nvPr/>
          </p:nvSpPr>
          <p:spPr>
            <a:xfrm>
              <a:off x="4648200" y="4286250"/>
              <a:ext cx="9525" cy="2324100"/>
            </a:xfrm>
            <a:custGeom>
              <a:avLst/>
              <a:gdLst/>
              <a:ahLst/>
              <a:cxnLst/>
              <a:rect l="l" t="t" r="r" b="b"/>
              <a:pathLst>
                <a:path w="9525" h="2324100">
                  <a:moveTo>
                    <a:pt x="0" y="0"/>
                  </a:moveTo>
                  <a:lnTo>
                    <a:pt x="0" y="2324100"/>
                  </a:lnTo>
                </a:path>
              </a:pathLst>
            </a:custGeom>
            <a:noFill/>
            <a:ln w="9525">
              <a:solidFill>
                <a:srgbClr val="EADBCE"/>
              </a:solidFill>
            </a:ln>
          </p:spPr>
        </p:sp>
        <p:sp>
          <p:nvSpPr>
            <p:cNvPr id="294" name="Line 294"/>
            <p:cNvSpPr/>
            <p:nvPr/>
          </p:nvSpPr>
          <p:spPr>
            <a:xfrm>
              <a:off x="5295900" y="413385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95" name="Line 295"/>
            <p:cNvSpPr/>
            <p:nvPr/>
          </p:nvSpPr>
          <p:spPr>
            <a:xfrm>
              <a:off x="6096000" y="413385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96" name="Line 296"/>
            <p:cNvSpPr/>
            <p:nvPr/>
          </p:nvSpPr>
          <p:spPr>
            <a:xfrm>
              <a:off x="342900" y="4800600"/>
              <a:ext cx="6438900" cy="9525"/>
            </a:xfrm>
            <a:custGeom>
              <a:avLst/>
              <a:gdLst/>
              <a:ahLst/>
              <a:cxnLst/>
              <a:rect l="l" t="t" r="r" b="b"/>
              <a:pathLst>
                <a:path w="6438900" h="9525">
                  <a:moveTo>
                    <a:pt x="0" y="0"/>
                  </a:moveTo>
                  <a:lnTo>
                    <a:pt x="6438900" y="0"/>
                  </a:lnTo>
                </a:path>
              </a:pathLst>
            </a:custGeom>
            <a:noFill/>
            <a:ln w="9525">
              <a:solidFill>
                <a:srgbClr val="EADBCE"/>
              </a:solidFill>
            </a:ln>
          </p:spPr>
        </p:sp>
        <p:sp>
          <p:nvSpPr>
            <p:cNvPr id="297" name="Line 297"/>
            <p:cNvSpPr/>
            <p:nvPr/>
          </p:nvSpPr>
          <p:spPr>
            <a:xfrm>
              <a:off x="342900" y="5162550"/>
              <a:ext cx="6438900" cy="9525"/>
            </a:xfrm>
            <a:custGeom>
              <a:avLst/>
              <a:gdLst/>
              <a:ahLst/>
              <a:cxnLst/>
              <a:rect l="l" t="t" r="r" b="b"/>
              <a:pathLst>
                <a:path w="6438900" h="9525">
                  <a:moveTo>
                    <a:pt x="0" y="0"/>
                  </a:moveTo>
                  <a:lnTo>
                    <a:pt x="6438900" y="0"/>
                  </a:lnTo>
                </a:path>
              </a:pathLst>
            </a:custGeom>
            <a:noFill/>
            <a:ln w="9525">
              <a:solidFill>
                <a:srgbClr val="EADBCE"/>
              </a:solidFill>
            </a:ln>
          </p:spPr>
        </p:sp>
        <p:sp>
          <p:nvSpPr>
            <p:cNvPr id="298" name="Line 298"/>
            <p:cNvSpPr/>
            <p:nvPr/>
          </p:nvSpPr>
          <p:spPr>
            <a:xfrm>
              <a:off x="342900" y="5524500"/>
              <a:ext cx="6438900" cy="9525"/>
            </a:xfrm>
            <a:custGeom>
              <a:avLst/>
              <a:gdLst/>
              <a:ahLst/>
              <a:cxnLst/>
              <a:rect l="l" t="t" r="r" b="b"/>
              <a:pathLst>
                <a:path w="6438900" h="9525">
                  <a:moveTo>
                    <a:pt x="0" y="0"/>
                  </a:moveTo>
                  <a:lnTo>
                    <a:pt x="6438900" y="0"/>
                  </a:lnTo>
                </a:path>
              </a:pathLst>
            </a:custGeom>
            <a:noFill/>
            <a:ln w="9525">
              <a:solidFill>
                <a:srgbClr val="EADBCE"/>
              </a:solidFill>
            </a:ln>
          </p:spPr>
        </p:sp>
        <p:sp>
          <p:nvSpPr>
            <p:cNvPr id="299" name="Line 299"/>
            <p:cNvSpPr/>
            <p:nvPr/>
          </p:nvSpPr>
          <p:spPr>
            <a:xfrm>
              <a:off x="342900" y="5886450"/>
              <a:ext cx="6438900" cy="9525"/>
            </a:xfrm>
            <a:custGeom>
              <a:avLst/>
              <a:gdLst/>
              <a:ahLst/>
              <a:cxnLst/>
              <a:rect l="l" t="t" r="r" b="b"/>
              <a:pathLst>
                <a:path w="6438900" h="9525">
                  <a:moveTo>
                    <a:pt x="0" y="0"/>
                  </a:moveTo>
                  <a:lnTo>
                    <a:pt x="6438900" y="0"/>
                  </a:lnTo>
                </a:path>
              </a:pathLst>
            </a:custGeom>
            <a:noFill/>
            <a:ln w="9525">
              <a:solidFill>
                <a:srgbClr val="EADBCE"/>
              </a:solidFill>
            </a:ln>
          </p:spPr>
        </p:sp>
        <p:sp>
          <p:nvSpPr>
            <p:cNvPr id="300" name="Line 300"/>
            <p:cNvSpPr/>
            <p:nvPr/>
          </p:nvSpPr>
          <p:spPr>
            <a:xfrm>
              <a:off x="342900" y="6248400"/>
              <a:ext cx="6438900" cy="9525"/>
            </a:xfrm>
            <a:custGeom>
              <a:avLst/>
              <a:gdLst/>
              <a:ahLst/>
              <a:cxnLst/>
              <a:rect l="l" t="t" r="r" b="b"/>
              <a:pathLst>
                <a:path w="6438900" h="9525">
                  <a:moveTo>
                    <a:pt x="0" y="0"/>
                  </a:moveTo>
                  <a:lnTo>
                    <a:pt x="6438900" y="0"/>
                  </a:lnTo>
                </a:path>
              </a:pathLst>
            </a:custGeom>
            <a:noFill/>
            <a:ln w="9525">
              <a:solidFill>
                <a:srgbClr val="EADBCE"/>
              </a:solidFill>
            </a:ln>
          </p:spPr>
        </p:sp>
      </p:grpSp>
      <p:grpSp>
        <p:nvGrpSpPr>
          <p:cNvPr id="375" name="compliance-list"/>
          <p:cNvGrpSpPr/>
          <p:nvPr/>
        </p:nvGrpSpPr>
        <p:grpSpPr>
          <a:xfrm>
            <a:off x="6858000" y="3867150"/>
            <a:ext cx="4953000" cy="2743200"/>
            <a:chOff x="6858000" y="3867150"/>
            <a:chExt cx="4953000" cy="2743200"/>
          </a:xfrm>
        </p:grpSpPr>
        <p:sp>
          <p:nvSpPr>
            <p:cNvPr id="302" name="Rectangle 302"/>
            <p:cNvSpPr/>
            <p:nvPr/>
          </p:nvSpPr>
          <p:spPr>
            <a:xfrm>
              <a:off x="6858000" y="3867150"/>
              <a:ext cx="4953000" cy="228600"/>
            </a:xfrm>
            <a:prstGeom prst="roundRect">
              <a:avLst>
                <a:gd name="adj" fmla="val 12500"/>
              </a:avLst>
            </a:prstGeom>
            <a:solidFill>
              <a:srgbClr val="C41D00"/>
            </a:solidFill>
            <a:ln>
              <a:noFill/>
            </a:ln>
          </p:spPr>
        </p:sp>
        <p:sp>
          <p:nvSpPr>
            <p:cNvPr id="303" name="TextBox 303"/>
            <p:cNvSpPr txBox="1"/>
            <p:nvPr/>
          </p:nvSpPr>
          <p:spPr>
            <a:xfrm>
              <a:off x="8163033" y="3935968"/>
              <a:ext cx="234293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​下方右：负责任授信合规清单（执行要点）​</a:t>
              </a:r>
            </a:p>
          </p:txBody>
        </p:sp>
        <p:sp>
          <p:nvSpPr>
            <p:cNvPr id="304" name="Rectangle 304"/>
            <p:cNvSpPr/>
            <p:nvPr/>
          </p:nvSpPr>
          <p:spPr>
            <a:xfrm>
              <a:off x="6858000" y="4133850"/>
              <a:ext cx="4953000" cy="190500"/>
            </a:xfrm>
            <a:prstGeom prst="rect">
              <a:avLst/>
            </a:prstGeom>
            <a:solidFill>
              <a:srgbClr val="FEF2E6"/>
            </a:solidFill>
            <a:ln w="9525">
              <a:solidFill>
                <a:srgbClr val="F0B8AE"/>
              </a:solidFill>
            </a:ln>
          </p:spPr>
        </p:sp>
        <p:sp>
          <p:nvSpPr>
            <p:cNvPr id="305" name="TextBox 305"/>
            <p:cNvSpPr txBox="1"/>
            <p:nvPr/>
          </p:nvSpPr>
          <p:spPr>
            <a:xfrm>
              <a:off x="6952196" y="4194334"/>
              <a:ext cx="192608"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序号</a:t>
              </a:r>
            </a:p>
          </p:txBody>
        </p:sp>
        <p:sp>
          <p:nvSpPr>
            <p:cNvPr id="306" name="TextBox 306"/>
            <p:cNvSpPr txBox="1"/>
            <p:nvPr/>
          </p:nvSpPr>
          <p:spPr>
            <a:xfrm>
              <a:off x="7620800" y="4194334"/>
              <a:ext cx="284150"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检查项</a:t>
              </a:r>
            </a:p>
          </p:txBody>
        </p:sp>
        <p:sp>
          <p:nvSpPr>
            <p:cNvPr id="307" name="TextBox 307"/>
            <p:cNvSpPr txBox="1"/>
            <p:nvPr/>
          </p:nvSpPr>
          <p:spPr>
            <a:xfrm>
              <a:off x="9337154" y="419433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关键要求</a:t>
              </a:r>
            </a:p>
          </p:txBody>
        </p:sp>
        <p:sp>
          <p:nvSpPr>
            <p:cNvPr id="308" name="TextBox 308"/>
            <p:cNvSpPr txBox="1"/>
            <p:nvPr/>
          </p:nvSpPr>
          <p:spPr>
            <a:xfrm>
              <a:off x="11099279" y="419433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是否合规</a:t>
              </a:r>
            </a:p>
          </p:txBody>
        </p:sp>
        <p:sp>
          <p:nvSpPr>
            <p:cNvPr id="309" name="Rectangle 309"/>
            <p:cNvSpPr/>
            <p:nvPr/>
          </p:nvSpPr>
          <p:spPr>
            <a:xfrm>
              <a:off x="6858000" y="4324350"/>
              <a:ext cx="4953000" cy="2286000"/>
            </a:xfrm>
            <a:prstGeom prst="rect">
              <a:avLst/>
            </a:prstGeom>
            <a:solidFill>
              <a:srgbClr val="FFFFFF"/>
            </a:solidFill>
            <a:ln w="9525">
              <a:solidFill>
                <a:srgbClr val="F0B8AE"/>
              </a:solidFill>
            </a:ln>
          </p:spPr>
        </p:sp>
        <p:sp>
          <p:nvSpPr>
            <p:cNvPr id="310" name="Rectangle 310"/>
            <p:cNvSpPr/>
            <p:nvPr/>
          </p:nvSpPr>
          <p:spPr>
            <a:xfrm>
              <a:off x="6858000" y="4705350"/>
              <a:ext cx="4953000" cy="381000"/>
            </a:xfrm>
            <a:prstGeom prst="rect">
              <a:avLst/>
            </a:prstGeom>
            <a:solidFill>
              <a:srgbClr val="FFF8F2"/>
            </a:solidFill>
            <a:ln>
              <a:noFill/>
            </a:ln>
          </p:spPr>
        </p:sp>
        <p:sp>
          <p:nvSpPr>
            <p:cNvPr id="311" name="Rectangle 311"/>
            <p:cNvSpPr/>
            <p:nvPr/>
          </p:nvSpPr>
          <p:spPr>
            <a:xfrm>
              <a:off x="6858000" y="5467350"/>
              <a:ext cx="4953000" cy="381000"/>
            </a:xfrm>
            <a:prstGeom prst="rect">
              <a:avLst/>
            </a:prstGeom>
            <a:solidFill>
              <a:srgbClr val="FFF8F2"/>
            </a:solidFill>
            <a:ln>
              <a:noFill/>
            </a:ln>
          </p:spPr>
        </p:sp>
        <p:sp>
          <p:nvSpPr>
            <p:cNvPr id="312" name="Rectangle 312"/>
            <p:cNvSpPr/>
            <p:nvPr/>
          </p:nvSpPr>
          <p:spPr>
            <a:xfrm>
              <a:off x="6858000" y="6229350"/>
              <a:ext cx="4953000" cy="381000"/>
            </a:xfrm>
            <a:prstGeom prst="rect">
              <a:avLst/>
            </a:prstGeom>
            <a:solidFill>
              <a:srgbClr val="FFF8F2"/>
            </a:solidFill>
            <a:ln>
              <a:noFill/>
            </a:ln>
          </p:spPr>
        </p:sp>
        <p:sp>
          <p:nvSpPr>
            <p:cNvPr id="313" name="Ellipse 313"/>
            <p:cNvSpPr/>
            <p:nvPr/>
          </p:nvSpPr>
          <p:spPr>
            <a:xfrm>
              <a:off x="6962775" y="4429125"/>
              <a:ext cx="171450" cy="171450"/>
            </a:xfrm>
            <a:prstGeom prst="ellipse">
              <a:avLst/>
            </a:prstGeom>
            <a:solidFill>
              <a:srgbClr val="D82000"/>
            </a:solidFill>
            <a:ln>
              <a:noFill/>
            </a:ln>
          </p:spPr>
        </p:sp>
        <p:sp>
          <p:nvSpPr>
            <p:cNvPr id="314" name="TextBox 314"/>
            <p:cNvSpPr txBox="1"/>
            <p:nvPr/>
          </p:nvSpPr>
          <p:spPr>
            <a:xfrm>
              <a:off x="6956277" y="44719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315" name="TextBox 315"/>
            <p:cNvSpPr txBox="1"/>
            <p:nvPr/>
          </p:nvSpPr>
          <p:spPr>
            <a:xfrm>
              <a:off x="7416174" y="4476036"/>
              <a:ext cx="693401"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​真实需求评估​</a:t>
              </a:r>
            </a:p>
          </p:txBody>
        </p:sp>
        <p:sp>
          <p:nvSpPr>
            <p:cNvPr id="316" name="TextBox 316"/>
            <p:cNvSpPr txBox="1"/>
            <p:nvPr/>
          </p:nvSpPr>
          <p:spPr>
            <a:xfrm>
              <a:off x="8358188" y="4480084"/>
              <a:ext cx="1890705"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基于客户实际需求与还款能力，授信适度合规​</a:t>
              </a:r>
            </a:p>
          </p:txBody>
        </p:sp>
        <p:sp>
          <p:nvSpPr>
            <p:cNvPr id="317" name="Rectangle 317"/>
            <p:cNvSpPr/>
            <p:nvPr/>
          </p:nvSpPr>
          <p:spPr>
            <a:xfrm>
              <a:off x="10953750" y="4467225"/>
              <a:ext cx="95250" cy="95250"/>
            </a:xfrm>
            <a:prstGeom prst="rect">
              <a:avLst/>
            </a:prstGeom>
            <a:solidFill>
              <a:srgbClr val="C41D00"/>
            </a:solidFill>
            <a:ln>
              <a:noFill/>
            </a:ln>
          </p:spPr>
        </p:sp>
        <p:sp>
          <p:nvSpPr>
            <p:cNvPr id="318" name="Polyline 318"/>
            <p:cNvSpPr/>
            <p:nvPr/>
          </p:nvSpPr>
          <p:spPr>
            <a:xfrm>
              <a:off x="10972800" y="4486275"/>
              <a:ext cx="66675" cy="57150"/>
            </a:xfrm>
            <a:custGeom>
              <a:avLst/>
              <a:gdLst/>
              <a:ahLst/>
              <a:cxnLst/>
              <a:rect l="l" t="t" r="r" b="b"/>
              <a:pathLst>
                <a:path w="66675" h="57150">
                  <a:moveTo>
                    <a:pt x="0" y="28575"/>
                  </a:moveTo>
                  <a:lnTo>
                    <a:pt x="28575" y="57150"/>
                  </a:lnTo>
                  <a:lnTo>
                    <a:pt x="66675" y="0"/>
                  </a:lnTo>
                </a:path>
              </a:pathLst>
            </a:custGeom>
            <a:noFill/>
            <a:ln w="14288">
              <a:solidFill>
                <a:srgbClr val="FFFFFF"/>
              </a:solidFill>
            </a:ln>
          </p:spPr>
        </p:sp>
        <p:sp>
          <p:nvSpPr>
            <p:cNvPr id="319" name="TextBox 319"/>
            <p:cNvSpPr txBox="1"/>
            <p:nvPr/>
          </p:nvSpPr>
          <p:spPr>
            <a:xfrm>
              <a:off x="11082338" y="4480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是</a:t>
              </a:r>
            </a:p>
          </p:txBody>
        </p:sp>
        <p:sp>
          <p:nvSpPr>
            <p:cNvPr id="320" name="Rectangle 320"/>
            <p:cNvSpPr/>
            <p:nvPr/>
          </p:nvSpPr>
          <p:spPr>
            <a:xfrm>
              <a:off x="11353800" y="4467225"/>
              <a:ext cx="95250" cy="95250"/>
            </a:xfrm>
            <a:prstGeom prst="rect">
              <a:avLst/>
            </a:prstGeom>
            <a:solidFill>
              <a:srgbClr val="FFFFFF"/>
            </a:solidFill>
            <a:ln w="9525">
              <a:solidFill>
                <a:srgbClr val="7A716B"/>
              </a:solidFill>
            </a:ln>
          </p:spPr>
        </p:sp>
        <p:sp>
          <p:nvSpPr>
            <p:cNvPr id="321" name="TextBox 321"/>
            <p:cNvSpPr txBox="1"/>
            <p:nvPr/>
          </p:nvSpPr>
          <p:spPr>
            <a:xfrm>
              <a:off x="11482388" y="4480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否</a:t>
              </a:r>
            </a:p>
          </p:txBody>
        </p:sp>
        <p:sp>
          <p:nvSpPr>
            <p:cNvPr id="322" name="Ellipse 322"/>
            <p:cNvSpPr/>
            <p:nvPr/>
          </p:nvSpPr>
          <p:spPr>
            <a:xfrm>
              <a:off x="6962775" y="4810125"/>
              <a:ext cx="171450" cy="171450"/>
            </a:xfrm>
            <a:prstGeom prst="ellipse">
              <a:avLst/>
            </a:prstGeom>
            <a:solidFill>
              <a:srgbClr val="D82000"/>
            </a:solidFill>
            <a:ln>
              <a:noFill/>
            </a:ln>
          </p:spPr>
        </p:sp>
        <p:sp>
          <p:nvSpPr>
            <p:cNvPr id="323" name="TextBox 323"/>
            <p:cNvSpPr txBox="1"/>
            <p:nvPr/>
          </p:nvSpPr>
          <p:spPr>
            <a:xfrm>
              <a:off x="6956277" y="48529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324" name="TextBox 324"/>
            <p:cNvSpPr txBox="1"/>
            <p:nvPr/>
          </p:nvSpPr>
          <p:spPr>
            <a:xfrm>
              <a:off x="7416174" y="4857036"/>
              <a:ext cx="693401"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​充分信息披露​</a:t>
              </a:r>
            </a:p>
          </p:txBody>
        </p:sp>
        <p:sp>
          <p:nvSpPr>
            <p:cNvPr id="325" name="TextBox 325"/>
            <p:cNvSpPr txBox="1"/>
            <p:nvPr/>
          </p:nvSpPr>
          <p:spPr>
            <a:xfrm>
              <a:off x="8358188" y="4861084"/>
              <a:ext cx="1799163"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利率、费用、还款方式、风险提示完整清晰​</a:t>
              </a:r>
            </a:p>
          </p:txBody>
        </p:sp>
        <p:sp>
          <p:nvSpPr>
            <p:cNvPr id="326" name="Rectangle 326"/>
            <p:cNvSpPr/>
            <p:nvPr/>
          </p:nvSpPr>
          <p:spPr>
            <a:xfrm>
              <a:off x="10953750" y="4848225"/>
              <a:ext cx="95250" cy="95250"/>
            </a:xfrm>
            <a:prstGeom prst="rect">
              <a:avLst/>
            </a:prstGeom>
            <a:solidFill>
              <a:srgbClr val="C41D00"/>
            </a:solidFill>
            <a:ln>
              <a:noFill/>
            </a:ln>
          </p:spPr>
        </p:sp>
        <p:sp>
          <p:nvSpPr>
            <p:cNvPr id="327" name="Polyline 327"/>
            <p:cNvSpPr/>
            <p:nvPr/>
          </p:nvSpPr>
          <p:spPr>
            <a:xfrm>
              <a:off x="10972800" y="4867275"/>
              <a:ext cx="66675" cy="57150"/>
            </a:xfrm>
            <a:custGeom>
              <a:avLst/>
              <a:gdLst/>
              <a:ahLst/>
              <a:cxnLst/>
              <a:rect l="l" t="t" r="r" b="b"/>
              <a:pathLst>
                <a:path w="66675" h="57150">
                  <a:moveTo>
                    <a:pt x="0" y="28575"/>
                  </a:moveTo>
                  <a:lnTo>
                    <a:pt x="28575" y="57150"/>
                  </a:lnTo>
                  <a:lnTo>
                    <a:pt x="66675" y="0"/>
                  </a:lnTo>
                </a:path>
              </a:pathLst>
            </a:custGeom>
            <a:noFill/>
            <a:ln w="14288">
              <a:solidFill>
                <a:srgbClr val="FFFFFF"/>
              </a:solidFill>
            </a:ln>
          </p:spPr>
        </p:sp>
        <p:sp>
          <p:nvSpPr>
            <p:cNvPr id="328" name="TextBox 328"/>
            <p:cNvSpPr txBox="1"/>
            <p:nvPr/>
          </p:nvSpPr>
          <p:spPr>
            <a:xfrm>
              <a:off x="11082338" y="4861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是</a:t>
              </a:r>
            </a:p>
          </p:txBody>
        </p:sp>
        <p:sp>
          <p:nvSpPr>
            <p:cNvPr id="329" name="Rectangle 329"/>
            <p:cNvSpPr/>
            <p:nvPr/>
          </p:nvSpPr>
          <p:spPr>
            <a:xfrm>
              <a:off x="11353800" y="4848225"/>
              <a:ext cx="95250" cy="95250"/>
            </a:xfrm>
            <a:prstGeom prst="rect">
              <a:avLst/>
            </a:prstGeom>
            <a:solidFill>
              <a:srgbClr val="FFFFFF"/>
            </a:solidFill>
            <a:ln w="9525">
              <a:solidFill>
                <a:srgbClr val="7A716B"/>
              </a:solidFill>
            </a:ln>
          </p:spPr>
        </p:sp>
        <p:sp>
          <p:nvSpPr>
            <p:cNvPr id="330" name="TextBox 330"/>
            <p:cNvSpPr txBox="1"/>
            <p:nvPr/>
          </p:nvSpPr>
          <p:spPr>
            <a:xfrm>
              <a:off x="11482388" y="4861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否</a:t>
              </a:r>
            </a:p>
          </p:txBody>
        </p:sp>
        <p:sp>
          <p:nvSpPr>
            <p:cNvPr id="331" name="Ellipse 331"/>
            <p:cNvSpPr/>
            <p:nvPr/>
          </p:nvSpPr>
          <p:spPr>
            <a:xfrm>
              <a:off x="6962775" y="5191125"/>
              <a:ext cx="171450" cy="171450"/>
            </a:xfrm>
            <a:prstGeom prst="ellipse">
              <a:avLst/>
            </a:prstGeom>
            <a:solidFill>
              <a:srgbClr val="D82000"/>
            </a:solidFill>
            <a:ln>
              <a:noFill/>
            </a:ln>
          </p:spPr>
        </p:sp>
        <p:sp>
          <p:nvSpPr>
            <p:cNvPr id="332" name="TextBox 332"/>
            <p:cNvSpPr txBox="1"/>
            <p:nvPr/>
          </p:nvSpPr>
          <p:spPr>
            <a:xfrm>
              <a:off x="6956277" y="52339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333" name="TextBox 333"/>
            <p:cNvSpPr txBox="1"/>
            <p:nvPr/>
          </p:nvSpPr>
          <p:spPr>
            <a:xfrm>
              <a:off x="7416174" y="5238036"/>
              <a:ext cx="693401"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​还款能力评估​</a:t>
              </a:r>
            </a:p>
          </p:txBody>
        </p:sp>
        <p:sp>
          <p:nvSpPr>
            <p:cNvPr id="334" name="TextBox 334"/>
            <p:cNvSpPr txBox="1"/>
            <p:nvPr/>
          </p:nvSpPr>
          <p:spPr>
            <a:xfrm>
              <a:off x="8358188" y="5242084"/>
              <a:ext cx="2087519"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收入覆盖倍数≥2、负债率≤50%（或符合政策）​​​​</a:t>
              </a:r>
            </a:p>
          </p:txBody>
        </p:sp>
        <p:sp>
          <p:nvSpPr>
            <p:cNvPr id="335" name="Rectangle 335"/>
            <p:cNvSpPr/>
            <p:nvPr/>
          </p:nvSpPr>
          <p:spPr>
            <a:xfrm>
              <a:off x="10953750" y="5229225"/>
              <a:ext cx="95250" cy="95250"/>
            </a:xfrm>
            <a:prstGeom prst="rect">
              <a:avLst/>
            </a:prstGeom>
            <a:solidFill>
              <a:srgbClr val="C41D00"/>
            </a:solidFill>
            <a:ln>
              <a:noFill/>
            </a:ln>
          </p:spPr>
        </p:sp>
        <p:sp>
          <p:nvSpPr>
            <p:cNvPr id="336" name="Polyline 336"/>
            <p:cNvSpPr/>
            <p:nvPr/>
          </p:nvSpPr>
          <p:spPr>
            <a:xfrm>
              <a:off x="10972800" y="5248275"/>
              <a:ext cx="66675" cy="57150"/>
            </a:xfrm>
            <a:custGeom>
              <a:avLst/>
              <a:gdLst/>
              <a:ahLst/>
              <a:cxnLst/>
              <a:rect l="l" t="t" r="r" b="b"/>
              <a:pathLst>
                <a:path w="66675" h="57150">
                  <a:moveTo>
                    <a:pt x="0" y="28575"/>
                  </a:moveTo>
                  <a:lnTo>
                    <a:pt x="28575" y="57150"/>
                  </a:lnTo>
                  <a:lnTo>
                    <a:pt x="66675" y="0"/>
                  </a:lnTo>
                </a:path>
              </a:pathLst>
            </a:custGeom>
            <a:noFill/>
            <a:ln w="14288">
              <a:solidFill>
                <a:srgbClr val="FFFFFF"/>
              </a:solidFill>
            </a:ln>
          </p:spPr>
        </p:sp>
        <p:sp>
          <p:nvSpPr>
            <p:cNvPr id="337" name="TextBox 337"/>
            <p:cNvSpPr txBox="1"/>
            <p:nvPr/>
          </p:nvSpPr>
          <p:spPr>
            <a:xfrm>
              <a:off x="11082338" y="5242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是</a:t>
              </a:r>
            </a:p>
          </p:txBody>
        </p:sp>
        <p:sp>
          <p:nvSpPr>
            <p:cNvPr id="338" name="Rectangle 338"/>
            <p:cNvSpPr/>
            <p:nvPr/>
          </p:nvSpPr>
          <p:spPr>
            <a:xfrm>
              <a:off x="11353800" y="5229225"/>
              <a:ext cx="95250" cy="95250"/>
            </a:xfrm>
            <a:prstGeom prst="rect">
              <a:avLst/>
            </a:prstGeom>
            <a:solidFill>
              <a:srgbClr val="FFFFFF"/>
            </a:solidFill>
            <a:ln w="9525">
              <a:solidFill>
                <a:srgbClr val="7A716B"/>
              </a:solidFill>
            </a:ln>
          </p:spPr>
        </p:sp>
        <p:sp>
          <p:nvSpPr>
            <p:cNvPr id="339" name="TextBox 339"/>
            <p:cNvSpPr txBox="1"/>
            <p:nvPr/>
          </p:nvSpPr>
          <p:spPr>
            <a:xfrm>
              <a:off x="11482388" y="5242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否</a:t>
              </a:r>
            </a:p>
          </p:txBody>
        </p:sp>
        <p:sp>
          <p:nvSpPr>
            <p:cNvPr id="340" name="Ellipse 340"/>
            <p:cNvSpPr/>
            <p:nvPr/>
          </p:nvSpPr>
          <p:spPr>
            <a:xfrm>
              <a:off x="6962775" y="5572125"/>
              <a:ext cx="171450" cy="171450"/>
            </a:xfrm>
            <a:prstGeom prst="ellipse">
              <a:avLst/>
            </a:prstGeom>
            <a:solidFill>
              <a:srgbClr val="D82000"/>
            </a:solidFill>
            <a:ln>
              <a:noFill/>
            </a:ln>
          </p:spPr>
        </p:sp>
        <p:sp>
          <p:nvSpPr>
            <p:cNvPr id="341" name="TextBox 341"/>
            <p:cNvSpPr txBox="1"/>
            <p:nvPr/>
          </p:nvSpPr>
          <p:spPr>
            <a:xfrm>
              <a:off x="6956277" y="56149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342" name="TextBox 342"/>
            <p:cNvSpPr txBox="1"/>
            <p:nvPr/>
          </p:nvSpPr>
          <p:spPr>
            <a:xfrm>
              <a:off x="7519162" y="5619036"/>
              <a:ext cx="48742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适当性原则</a:t>
              </a:r>
            </a:p>
          </p:txBody>
        </p:sp>
        <p:sp>
          <p:nvSpPr>
            <p:cNvPr id="343" name="TextBox 343"/>
            <p:cNvSpPr txBox="1"/>
            <p:nvPr/>
          </p:nvSpPr>
          <p:spPr>
            <a:xfrm>
              <a:off x="8358188" y="5623084"/>
              <a:ext cx="1616080"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产品与客户风险承受能力、需求相匹配​</a:t>
              </a:r>
            </a:p>
          </p:txBody>
        </p:sp>
        <p:sp>
          <p:nvSpPr>
            <p:cNvPr id="344" name="Rectangle 344"/>
            <p:cNvSpPr/>
            <p:nvPr/>
          </p:nvSpPr>
          <p:spPr>
            <a:xfrm>
              <a:off x="10953750" y="5610225"/>
              <a:ext cx="95250" cy="95250"/>
            </a:xfrm>
            <a:prstGeom prst="rect">
              <a:avLst/>
            </a:prstGeom>
            <a:solidFill>
              <a:srgbClr val="C41D00"/>
            </a:solidFill>
            <a:ln>
              <a:noFill/>
            </a:ln>
          </p:spPr>
        </p:sp>
        <p:sp>
          <p:nvSpPr>
            <p:cNvPr id="345" name="Polyline 345"/>
            <p:cNvSpPr/>
            <p:nvPr/>
          </p:nvSpPr>
          <p:spPr>
            <a:xfrm>
              <a:off x="10972800" y="5629275"/>
              <a:ext cx="66675" cy="57150"/>
            </a:xfrm>
            <a:custGeom>
              <a:avLst/>
              <a:gdLst/>
              <a:ahLst/>
              <a:cxnLst/>
              <a:rect l="l" t="t" r="r" b="b"/>
              <a:pathLst>
                <a:path w="66675" h="57150">
                  <a:moveTo>
                    <a:pt x="0" y="28575"/>
                  </a:moveTo>
                  <a:lnTo>
                    <a:pt x="28575" y="57150"/>
                  </a:lnTo>
                  <a:lnTo>
                    <a:pt x="66675" y="0"/>
                  </a:lnTo>
                </a:path>
              </a:pathLst>
            </a:custGeom>
            <a:noFill/>
            <a:ln w="14288">
              <a:solidFill>
                <a:srgbClr val="FFFFFF"/>
              </a:solidFill>
            </a:ln>
          </p:spPr>
        </p:sp>
        <p:sp>
          <p:nvSpPr>
            <p:cNvPr id="346" name="TextBox 346"/>
            <p:cNvSpPr txBox="1"/>
            <p:nvPr/>
          </p:nvSpPr>
          <p:spPr>
            <a:xfrm>
              <a:off x="11082338" y="5623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是</a:t>
              </a:r>
            </a:p>
          </p:txBody>
        </p:sp>
        <p:sp>
          <p:nvSpPr>
            <p:cNvPr id="347" name="Rectangle 347"/>
            <p:cNvSpPr/>
            <p:nvPr/>
          </p:nvSpPr>
          <p:spPr>
            <a:xfrm>
              <a:off x="11353800" y="5610225"/>
              <a:ext cx="95250" cy="95250"/>
            </a:xfrm>
            <a:prstGeom prst="rect">
              <a:avLst/>
            </a:prstGeom>
            <a:solidFill>
              <a:srgbClr val="FFFFFF"/>
            </a:solidFill>
            <a:ln w="9525">
              <a:solidFill>
                <a:srgbClr val="7A716B"/>
              </a:solidFill>
            </a:ln>
          </p:spPr>
        </p:sp>
        <p:sp>
          <p:nvSpPr>
            <p:cNvPr id="348" name="TextBox 348"/>
            <p:cNvSpPr txBox="1"/>
            <p:nvPr/>
          </p:nvSpPr>
          <p:spPr>
            <a:xfrm>
              <a:off x="11482388" y="5623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否</a:t>
              </a:r>
            </a:p>
          </p:txBody>
        </p:sp>
        <p:sp>
          <p:nvSpPr>
            <p:cNvPr id="349" name="Ellipse 349"/>
            <p:cNvSpPr/>
            <p:nvPr/>
          </p:nvSpPr>
          <p:spPr>
            <a:xfrm>
              <a:off x="6962775" y="5953125"/>
              <a:ext cx="171450" cy="171450"/>
            </a:xfrm>
            <a:prstGeom prst="ellipse">
              <a:avLst/>
            </a:prstGeom>
            <a:solidFill>
              <a:srgbClr val="D82000"/>
            </a:solidFill>
            <a:ln>
              <a:noFill/>
            </a:ln>
          </p:spPr>
        </p:sp>
        <p:sp>
          <p:nvSpPr>
            <p:cNvPr id="350" name="TextBox 350"/>
            <p:cNvSpPr txBox="1"/>
            <p:nvPr/>
          </p:nvSpPr>
          <p:spPr>
            <a:xfrm>
              <a:off x="6956277" y="59959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351" name="TextBox 351"/>
            <p:cNvSpPr txBox="1"/>
            <p:nvPr/>
          </p:nvSpPr>
          <p:spPr>
            <a:xfrm>
              <a:off x="7368384" y="6000036"/>
              <a:ext cx="788982"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​反欺诈与反洗钱​</a:t>
              </a:r>
            </a:p>
          </p:txBody>
        </p:sp>
        <p:sp>
          <p:nvSpPr>
            <p:cNvPr id="352" name="TextBox 352"/>
            <p:cNvSpPr txBox="1"/>
            <p:nvPr/>
          </p:nvSpPr>
          <p:spPr>
            <a:xfrm>
              <a:off x="8358188" y="6004084"/>
              <a:ext cx="1707622"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客户身份识别、交易监测、异常可疑上报​</a:t>
              </a:r>
            </a:p>
          </p:txBody>
        </p:sp>
        <p:sp>
          <p:nvSpPr>
            <p:cNvPr id="353" name="Rectangle 353"/>
            <p:cNvSpPr/>
            <p:nvPr/>
          </p:nvSpPr>
          <p:spPr>
            <a:xfrm>
              <a:off x="10953750" y="5991225"/>
              <a:ext cx="95250" cy="95250"/>
            </a:xfrm>
            <a:prstGeom prst="rect">
              <a:avLst/>
            </a:prstGeom>
            <a:solidFill>
              <a:srgbClr val="C41D00"/>
            </a:solidFill>
            <a:ln>
              <a:noFill/>
            </a:ln>
          </p:spPr>
        </p:sp>
        <p:sp>
          <p:nvSpPr>
            <p:cNvPr id="354" name="Polyline 354"/>
            <p:cNvSpPr/>
            <p:nvPr/>
          </p:nvSpPr>
          <p:spPr>
            <a:xfrm>
              <a:off x="10972800" y="6010275"/>
              <a:ext cx="66675" cy="57150"/>
            </a:xfrm>
            <a:custGeom>
              <a:avLst/>
              <a:gdLst/>
              <a:ahLst/>
              <a:cxnLst/>
              <a:rect l="l" t="t" r="r" b="b"/>
              <a:pathLst>
                <a:path w="66675" h="57150">
                  <a:moveTo>
                    <a:pt x="0" y="28575"/>
                  </a:moveTo>
                  <a:lnTo>
                    <a:pt x="28575" y="57150"/>
                  </a:lnTo>
                  <a:lnTo>
                    <a:pt x="66675" y="0"/>
                  </a:lnTo>
                </a:path>
              </a:pathLst>
            </a:custGeom>
            <a:noFill/>
            <a:ln w="14288">
              <a:solidFill>
                <a:srgbClr val="FFFFFF"/>
              </a:solidFill>
            </a:ln>
          </p:spPr>
        </p:sp>
        <p:sp>
          <p:nvSpPr>
            <p:cNvPr id="355" name="TextBox 355"/>
            <p:cNvSpPr txBox="1"/>
            <p:nvPr/>
          </p:nvSpPr>
          <p:spPr>
            <a:xfrm>
              <a:off x="11082338" y="6004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是</a:t>
              </a:r>
            </a:p>
          </p:txBody>
        </p:sp>
        <p:sp>
          <p:nvSpPr>
            <p:cNvPr id="356" name="Rectangle 356"/>
            <p:cNvSpPr/>
            <p:nvPr/>
          </p:nvSpPr>
          <p:spPr>
            <a:xfrm>
              <a:off x="11353800" y="5991225"/>
              <a:ext cx="95250" cy="95250"/>
            </a:xfrm>
            <a:prstGeom prst="rect">
              <a:avLst/>
            </a:prstGeom>
            <a:solidFill>
              <a:srgbClr val="FFFFFF"/>
            </a:solidFill>
            <a:ln w="9525">
              <a:solidFill>
                <a:srgbClr val="7A716B"/>
              </a:solidFill>
            </a:ln>
          </p:spPr>
        </p:sp>
        <p:sp>
          <p:nvSpPr>
            <p:cNvPr id="357" name="TextBox 357"/>
            <p:cNvSpPr txBox="1"/>
            <p:nvPr/>
          </p:nvSpPr>
          <p:spPr>
            <a:xfrm>
              <a:off x="11482388" y="6004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否</a:t>
              </a:r>
            </a:p>
          </p:txBody>
        </p:sp>
        <p:sp>
          <p:nvSpPr>
            <p:cNvPr id="358" name="Ellipse 358"/>
            <p:cNvSpPr/>
            <p:nvPr/>
          </p:nvSpPr>
          <p:spPr>
            <a:xfrm>
              <a:off x="6962775" y="6334125"/>
              <a:ext cx="171450" cy="171450"/>
            </a:xfrm>
            <a:prstGeom prst="ellipse">
              <a:avLst/>
            </a:prstGeom>
            <a:solidFill>
              <a:srgbClr val="D82000"/>
            </a:solidFill>
            <a:ln>
              <a:noFill/>
            </a:ln>
          </p:spPr>
        </p:sp>
        <p:sp>
          <p:nvSpPr>
            <p:cNvPr id="359" name="TextBox 359"/>
            <p:cNvSpPr txBox="1"/>
            <p:nvPr/>
          </p:nvSpPr>
          <p:spPr>
            <a:xfrm>
              <a:off x="6956277" y="63769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a:t>
              </a:r>
            </a:p>
          </p:txBody>
        </p:sp>
        <p:sp>
          <p:nvSpPr>
            <p:cNvPr id="360" name="TextBox 360"/>
            <p:cNvSpPr txBox="1"/>
            <p:nvPr/>
          </p:nvSpPr>
          <p:spPr>
            <a:xfrm>
              <a:off x="7368384" y="6381036"/>
              <a:ext cx="788982"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​贷后管理与关怀​</a:t>
              </a:r>
            </a:p>
          </p:txBody>
        </p:sp>
        <p:sp>
          <p:nvSpPr>
            <p:cNvPr id="361" name="TextBox 361"/>
            <p:cNvSpPr txBox="1"/>
            <p:nvPr/>
          </p:nvSpPr>
          <p:spPr>
            <a:xfrm>
              <a:off x="8358188" y="6385084"/>
              <a:ext cx="1799163"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定期回访、风险预警、困难客户支持与帮扶​</a:t>
              </a:r>
            </a:p>
          </p:txBody>
        </p:sp>
        <p:sp>
          <p:nvSpPr>
            <p:cNvPr id="362" name="Rectangle 362"/>
            <p:cNvSpPr/>
            <p:nvPr/>
          </p:nvSpPr>
          <p:spPr>
            <a:xfrm>
              <a:off x="10953750" y="6372225"/>
              <a:ext cx="95250" cy="95250"/>
            </a:xfrm>
            <a:prstGeom prst="rect">
              <a:avLst/>
            </a:prstGeom>
            <a:solidFill>
              <a:srgbClr val="C41D00"/>
            </a:solidFill>
            <a:ln>
              <a:noFill/>
            </a:ln>
          </p:spPr>
        </p:sp>
        <p:sp>
          <p:nvSpPr>
            <p:cNvPr id="363" name="Polyline 363"/>
            <p:cNvSpPr/>
            <p:nvPr/>
          </p:nvSpPr>
          <p:spPr>
            <a:xfrm>
              <a:off x="10972800" y="6391275"/>
              <a:ext cx="66675" cy="57150"/>
            </a:xfrm>
            <a:custGeom>
              <a:avLst/>
              <a:gdLst/>
              <a:ahLst/>
              <a:cxnLst/>
              <a:rect l="l" t="t" r="r" b="b"/>
              <a:pathLst>
                <a:path w="66675" h="57150">
                  <a:moveTo>
                    <a:pt x="0" y="28575"/>
                  </a:moveTo>
                  <a:lnTo>
                    <a:pt x="28575" y="57150"/>
                  </a:lnTo>
                  <a:lnTo>
                    <a:pt x="66675" y="0"/>
                  </a:lnTo>
                </a:path>
              </a:pathLst>
            </a:custGeom>
            <a:noFill/>
            <a:ln w="14288">
              <a:solidFill>
                <a:srgbClr val="FFFFFF"/>
              </a:solidFill>
            </a:ln>
          </p:spPr>
        </p:sp>
        <p:sp>
          <p:nvSpPr>
            <p:cNvPr id="364" name="TextBox 364"/>
            <p:cNvSpPr txBox="1"/>
            <p:nvPr/>
          </p:nvSpPr>
          <p:spPr>
            <a:xfrm>
              <a:off x="11082338" y="6385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是</a:t>
              </a:r>
            </a:p>
          </p:txBody>
        </p:sp>
        <p:sp>
          <p:nvSpPr>
            <p:cNvPr id="365" name="Rectangle 365"/>
            <p:cNvSpPr/>
            <p:nvPr/>
          </p:nvSpPr>
          <p:spPr>
            <a:xfrm>
              <a:off x="11353800" y="6372225"/>
              <a:ext cx="95250" cy="95250"/>
            </a:xfrm>
            <a:prstGeom prst="rect">
              <a:avLst/>
            </a:prstGeom>
            <a:solidFill>
              <a:srgbClr val="FFFFFF"/>
            </a:solidFill>
            <a:ln w="9525">
              <a:solidFill>
                <a:srgbClr val="7A716B"/>
              </a:solidFill>
            </a:ln>
          </p:spPr>
        </p:sp>
        <p:sp>
          <p:nvSpPr>
            <p:cNvPr id="366" name="TextBox 366"/>
            <p:cNvSpPr txBox="1"/>
            <p:nvPr/>
          </p:nvSpPr>
          <p:spPr>
            <a:xfrm>
              <a:off x="11482388" y="6385084"/>
              <a:ext cx="10106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否</a:t>
              </a:r>
            </a:p>
          </p:txBody>
        </p:sp>
        <p:sp>
          <p:nvSpPr>
            <p:cNvPr id="367" name="Line 367"/>
            <p:cNvSpPr/>
            <p:nvPr/>
          </p:nvSpPr>
          <p:spPr>
            <a:xfrm>
              <a:off x="7239000" y="413385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368" name="Line 368"/>
            <p:cNvSpPr/>
            <p:nvPr/>
          </p:nvSpPr>
          <p:spPr>
            <a:xfrm>
              <a:off x="8286750" y="413385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369" name="Line 369"/>
            <p:cNvSpPr/>
            <p:nvPr/>
          </p:nvSpPr>
          <p:spPr>
            <a:xfrm>
              <a:off x="10763250" y="413385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370" name="Line 370"/>
            <p:cNvSpPr/>
            <p:nvPr/>
          </p:nvSpPr>
          <p:spPr>
            <a:xfrm>
              <a:off x="6858000" y="4705350"/>
              <a:ext cx="4953000" cy="9525"/>
            </a:xfrm>
            <a:custGeom>
              <a:avLst/>
              <a:gdLst/>
              <a:ahLst/>
              <a:cxnLst/>
              <a:rect l="l" t="t" r="r" b="b"/>
              <a:pathLst>
                <a:path w="4953000" h="9525">
                  <a:moveTo>
                    <a:pt x="0" y="0"/>
                  </a:moveTo>
                  <a:lnTo>
                    <a:pt x="4953000" y="0"/>
                  </a:lnTo>
                </a:path>
              </a:pathLst>
            </a:custGeom>
            <a:noFill/>
            <a:ln w="9525">
              <a:solidFill>
                <a:srgbClr val="EADBCE"/>
              </a:solidFill>
            </a:ln>
          </p:spPr>
        </p:sp>
        <p:sp>
          <p:nvSpPr>
            <p:cNvPr id="371" name="Line 371"/>
            <p:cNvSpPr/>
            <p:nvPr/>
          </p:nvSpPr>
          <p:spPr>
            <a:xfrm>
              <a:off x="6858000" y="5086350"/>
              <a:ext cx="4953000" cy="9525"/>
            </a:xfrm>
            <a:custGeom>
              <a:avLst/>
              <a:gdLst/>
              <a:ahLst/>
              <a:cxnLst/>
              <a:rect l="l" t="t" r="r" b="b"/>
              <a:pathLst>
                <a:path w="4953000" h="9525">
                  <a:moveTo>
                    <a:pt x="0" y="0"/>
                  </a:moveTo>
                  <a:lnTo>
                    <a:pt x="4953000" y="0"/>
                  </a:lnTo>
                </a:path>
              </a:pathLst>
            </a:custGeom>
            <a:noFill/>
            <a:ln w="9525">
              <a:solidFill>
                <a:srgbClr val="EADBCE"/>
              </a:solidFill>
            </a:ln>
          </p:spPr>
        </p:sp>
        <p:sp>
          <p:nvSpPr>
            <p:cNvPr id="372" name="Line 372"/>
            <p:cNvSpPr/>
            <p:nvPr/>
          </p:nvSpPr>
          <p:spPr>
            <a:xfrm>
              <a:off x="6858000" y="5467350"/>
              <a:ext cx="4953000" cy="9525"/>
            </a:xfrm>
            <a:custGeom>
              <a:avLst/>
              <a:gdLst/>
              <a:ahLst/>
              <a:cxnLst/>
              <a:rect l="l" t="t" r="r" b="b"/>
              <a:pathLst>
                <a:path w="4953000" h="9525">
                  <a:moveTo>
                    <a:pt x="0" y="0"/>
                  </a:moveTo>
                  <a:lnTo>
                    <a:pt x="4953000" y="0"/>
                  </a:lnTo>
                </a:path>
              </a:pathLst>
            </a:custGeom>
            <a:noFill/>
            <a:ln w="9525">
              <a:solidFill>
                <a:srgbClr val="EADBCE"/>
              </a:solidFill>
            </a:ln>
          </p:spPr>
        </p:sp>
        <p:sp>
          <p:nvSpPr>
            <p:cNvPr id="373" name="Line 373"/>
            <p:cNvSpPr/>
            <p:nvPr/>
          </p:nvSpPr>
          <p:spPr>
            <a:xfrm>
              <a:off x="6858000" y="5848350"/>
              <a:ext cx="4953000" cy="9525"/>
            </a:xfrm>
            <a:custGeom>
              <a:avLst/>
              <a:gdLst/>
              <a:ahLst/>
              <a:cxnLst/>
              <a:rect l="l" t="t" r="r" b="b"/>
              <a:pathLst>
                <a:path w="4953000" h="9525">
                  <a:moveTo>
                    <a:pt x="0" y="0"/>
                  </a:moveTo>
                  <a:lnTo>
                    <a:pt x="4953000" y="0"/>
                  </a:lnTo>
                </a:path>
              </a:pathLst>
            </a:custGeom>
            <a:noFill/>
            <a:ln w="9525">
              <a:solidFill>
                <a:srgbClr val="EADBCE"/>
              </a:solidFill>
            </a:ln>
          </p:spPr>
        </p:sp>
        <p:sp>
          <p:nvSpPr>
            <p:cNvPr id="374" name="Line 374"/>
            <p:cNvSpPr/>
            <p:nvPr/>
          </p:nvSpPr>
          <p:spPr>
            <a:xfrm>
              <a:off x="6858000" y="6229350"/>
              <a:ext cx="4953000" cy="9525"/>
            </a:xfrm>
            <a:custGeom>
              <a:avLst/>
              <a:gdLst/>
              <a:ahLst/>
              <a:cxnLst/>
              <a:rect l="l" t="t" r="r" b="b"/>
              <a:pathLst>
                <a:path w="4953000" h="9525">
                  <a:moveTo>
                    <a:pt x="0" y="0"/>
                  </a:moveTo>
                  <a:lnTo>
                    <a:pt x="4953000" y="0"/>
                  </a:lnTo>
                </a:path>
              </a:pathLst>
            </a:custGeom>
            <a:noFill/>
            <a:ln w="9525">
              <a:solidFill>
                <a:srgbClr val="EADBCE"/>
              </a:solidFill>
            </a:ln>
          </p:spPr>
        </p:sp>
      </p:gr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12</a:t>
              </a:r>
            </a:p>
          </p:txBody>
        </p:sp>
        <p:sp>
          <p:nvSpPr>
            <p:cNvPr id="4" name="TextBox 4"/>
            <p:cNvSpPr txBox="1"/>
            <p:nvPr/>
          </p:nvSpPr>
          <p:spPr>
            <a:xfrm>
              <a:off x="904494" y="170498"/>
              <a:ext cx="6996645"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留存经营</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以行为预警、问题修复与关系重建降低客户流失​</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61" name="churn-inputs"/>
          <p:cNvGrpSpPr/>
          <p:nvPr/>
        </p:nvGrpSpPr>
        <p:grpSpPr>
          <a:xfrm>
            <a:off x="342900" y="685800"/>
            <a:ext cx="2857500" cy="3848100"/>
            <a:chOff x="342900" y="685800"/>
            <a:chExt cx="2857500" cy="3848100"/>
          </a:xfrm>
        </p:grpSpPr>
        <p:sp>
          <p:nvSpPr>
            <p:cNvPr id="7" name="Rectangle 7"/>
            <p:cNvSpPr/>
            <p:nvPr/>
          </p:nvSpPr>
          <p:spPr>
            <a:xfrm>
              <a:off x="342900" y="685800"/>
              <a:ext cx="2857500" cy="228600"/>
            </a:xfrm>
            <a:prstGeom prst="roundRect">
              <a:avLst>
                <a:gd name="adj" fmla="val 12500"/>
              </a:avLst>
            </a:prstGeom>
            <a:solidFill>
              <a:srgbClr val="C41D00"/>
            </a:solidFill>
            <a:ln>
              <a:noFill/>
            </a:ln>
          </p:spPr>
        </p:sp>
        <p:sp>
          <p:nvSpPr>
            <p:cNvPr id="8" name="TextBox 8"/>
            <p:cNvSpPr txBox="1"/>
            <p:nvPr/>
          </p:nvSpPr>
          <p:spPr>
            <a:xfrm>
              <a:off x="722469" y="754618"/>
              <a:ext cx="2098363"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​​流失预警模型·关键输入（近90天）​​</a:t>
              </a:r>
            </a:p>
          </p:txBody>
        </p:sp>
        <p:sp>
          <p:nvSpPr>
            <p:cNvPr id="9" name="Rectangle 9"/>
            <p:cNvSpPr/>
            <p:nvPr/>
          </p:nvSpPr>
          <p:spPr>
            <a:xfrm>
              <a:off x="342900" y="971550"/>
              <a:ext cx="2857500" cy="590550"/>
            </a:xfrm>
            <a:prstGeom prst="roundRect">
              <a:avLst>
                <a:gd name="adj" fmla="val 6452"/>
              </a:avLst>
            </a:prstGeom>
            <a:solidFill>
              <a:srgbClr val="FFF8F2"/>
            </a:solidFill>
            <a:ln w="9525">
              <a:solidFill>
                <a:srgbClr val="F0B8AE"/>
              </a:solidFill>
            </a:ln>
          </p:spPr>
        </p:sp>
        <p:sp>
          <p:nvSpPr>
            <p:cNvPr id="10" name="Ellipse 10"/>
            <p:cNvSpPr/>
            <p:nvPr/>
          </p:nvSpPr>
          <p:spPr>
            <a:xfrm>
              <a:off x="438150" y="1114425"/>
              <a:ext cx="304800" cy="304800"/>
            </a:xfrm>
            <a:prstGeom prst="ellipse">
              <a:avLst/>
            </a:prstGeom>
            <a:solidFill>
              <a:srgbClr val="FEF2E6"/>
            </a:solidFill>
            <a:ln w="9525">
              <a:solidFill>
                <a:srgbClr val="F0B8AE"/>
              </a:solidFill>
            </a:ln>
          </p:spPr>
        </p:sp>
        <p:grpSp>
          <p:nvGrpSpPr>
            <p:cNvPr id="15" name="Group 15"/>
            <p:cNvGrpSpPr/>
            <p:nvPr/>
          </p:nvGrpSpPr>
          <p:grpSpPr>
            <a:xfrm>
              <a:off x="519112" y="1203325"/>
              <a:ext cx="142875" cy="136525"/>
              <a:chOff x="519112" y="1203325"/>
              <a:chExt cx="142875" cy="136525"/>
            </a:xfrm>
          </p:grpSpPr>
          <p:sp>
            <p:nvSpPr>
              <p:cNvPr id="11" name="Freeform 11"/>
              <p:cNvSpPr/>
              <p:nvPr/>
            </p:nvSpPr>
            <p:spPr>
              <a:xfrm>
                <a:off x="519112" y="1266825"/>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C41D00"/>
                </a:solidFill>
              </a:ln>
            </p:spPr>
          </p:sp>
          <p:sp>
            <p:nvSpPr>
              <p:cNvPr id="12" name="Freeform 12"/>
              <p:cNvSpPr/>
              <p:nvPr/>
            </p:nvSpPr>
            <p:spPr>
              <a:xfrm>
                <a:off x="614362" y="1235075"/>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C41D00"/>
                </a:solidFill>
              </a:ln>
            </p:spPr>
          </p:sp>
          <p:sp>
            <p:nvSpPr>
              <p:cNvPr id="13" name="Freeform 13"/>
              <p:cNvSpPr/>
              <p:nvPr/>
            </p:nvSpPr>
            <p:spPr>
              <a:xfrm>
                <a:off x="566737" y="1203325"/>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C41D00"/>
                </a:solidFill>
              </a:ln>
            </p:spPr>
          </p:sp>
          <p:sp>
            <p:nvSpPr>
              <p:cNvPr id="14" name="Freeform 14"/>
              <p:cNvSpPr/>
              <p:nvPr/>
            </p:nvSpPr>
            <p:spPr>
              <a:xfrm>
                <a:off x="527050" y="1330325"/>
                <a:ext cx="111125" cy="9525"/>
              </a:xfrm>
              <a:custGeom>
                <a:avLst/>
                <a:gdLst/>
                <a:ahLst/>
                <a:cxnLst/>
                <a:rect l="l" t="t" r="r" b="b"/>
                <a:pathLst>
                  <a:path w="111125" h="9525">
                    <a:moveTo>
                      <a:pt x="0" y="0"/>
                    </a:moveTo>
                    <a:lnTo>
                      <a:pt x="111125" y="0"/>
                    </a:lnTo>
                  </a:path>
                </a:pathLst>
              </a:custGeom>
              <a:noFill/>
              <a:ln w="15875">
                <a:solidFill>
                  <a:srgbClr val="C41D00"/>
                </a:solidFill>
              </a:ln>
            </p:spPr>
          </p:sp>
        </p:grpSp>
        <p:sp>
          <p:nvSpPr>
            <p:cNvPr id="16" name="TextBox 16"/>
            <p:cNvSpPr txBox="1"/>
            <p:nvPr/>
          </p:nvSpPr>
          <p:spPr>
            <a:xfrm>
              <a:off x="814388" y="1134189"/>
              <a:ext cx="54127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活跃度下降</a:t>
              </a:r>
            </a:p>
          </p:txBody>
        </p:sp>
        <p:sp>
          <p:nvSpPr>
            <p:cNvPr id="17" name="TextBox 17"/>
            <p:cNvSpPr txBox="1"/>
            <p:nvPr/>
          </p:nvSpPr>
          <p:spPr>
            <a:xfrm>
              <a:off x="814388" y="1321832"/>
              <a:ext cx="983097" cy="126206"/>
            </a:xfrm>
            <a:prstGeom prst="rect">
              <a:avLst/>
            </a:prstGeom>
            <a:noFill/>
            <a:ln>
              <a:noFill/>
            </a:ln>
          </p:spPr>
          <p:txBody>
            <a:bodyPr wrap="none" lIns="0" tIns="0" rIns="0" bIns="0" anchor="t" anchorCtr="0">
              <a:spAutoFit/>
            </a:bodyPr>
            <a:lstStyle/>
            <a:p>
              <a:pPr algn="l"/>
              <a:r>
                <a:rPr lang="zh-CN" sz="640" dirty="0">
                  <a:solidFill>
                    <a:srgbClr val="7A716B"/>
                  </a:solidFill>
                  <a:latin typeface="+mn-lt"/>
                  <a:ea typeface="+mn-ea"/>
                  <a:cs typeface="+mn-cs"/>
                </a:rPr>
                <a:t>近30天登录/访问天数​​​</a:t>
              </a:r>
            </a:p>
          </p:txBody>
        </p:sp>
        <p:sp>
          <p:nvSpPr>
            <p:cNvPr id="18" name="TextBox 18"/>
            <p:cNvSpPr txBox="1"/>
            <p:nvPr/>
          </p:nvSpPr>
          <p:spPr>
            <a:xfrm>
              <a:off x="2543697" y="1135856"/>
              <a:ext cx="567168" cy="220028"/>
            </a:xfrm>
            <a:prstGeom prst="rect">
              <a:avLst/>
            </a:prstGeom>
            <a:noFill/>
            <a:ln>
              <a:noFill/>
            </a:ln>
          </p:spPr>
          <p:txBody>
            <a:bodyPr wrap="none" lIns="0" tIns="0" rIns="0" bIns="0" anchor="t" anchorCtr="0">
              <a:spAutoFit/>
            </a:bodyPr>
            <a:lstStyle/>
            <a:p>
              <a:pPr algn="r"/>
              <a:r>
                <a:rPr lang="zh-CN" sz="1120" b="1" dirty="0">
                  <a:solidFill>
                    <a:srgbClr val="C41D00"/>
                  </a:solidFill>
                  <a:latin typeface="+mn-lt"/>
                  <a:ea typeface="+mn-ea"/>
                  <a:cs typeface="+mn-cs"/>
                </a:rPr>
                <a:t>​​2.1</a:t>
              </a:r>
              <a:r>
                <a:rPr lang="zh-CN" sz="680" b="1" dirty="0">
                  <a:solidFill>
                    <a:srgbClr val="C41D00"/>
                  </a:solidFill>
                  <a:latin typeface="+mn-lt"/>
                  <a:ea typeface="+mn-ea"/>
                  <a:cs typeface="+mn-cs"/>
                </a:rPr>
                <a:t xml:space="preserve"> 天</a:t>
              </a:r>
            </a:p>
          </p:txBody>
        </p:sp>
        <p:sp>
          <p:nvSpPr>
            <p:cNvPr id="19" name="TextBox 19"/>
            <p:cNvSpPr txBox="1"/>
            <p:nvPr/>
          </p:nvSpPr>
          <p:spPr>
            <a:xfrm>
              <a:off x="2294821" y="1340882"/>
              <a:ext cx="815091"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​​​（较上期 -46%）</a:t>
              </a:r>
            </a:p>
          </p:txBody>
        </p:sp>
        <p:sp>
          <p:nvSpPr>
            <p:cNvPr id="20" name="Rectangle 20"/>
            <p:cNvSpPr/>
            <p:nvPr/>
          </p:nvSpPr>
          <p:spPr>
            <a:xfrm>
              <a:off x="342900" y="1619250"/>
              <a:ext cx="2857500" cy="590550"/>
            </a:xfrm>
            <a:prstGeom prst="roundRect">
              <a:avLst>
                <a:gd name="adj" fmla="val 6452"/>
              </a:avLst>
            </a:prstGeom>
            <a:solidFill>
              <a:srgbClr val="FFF8F2"/>
            </a:solidFill>
            <a:ln w="9525">
              <a:solidFill>
                <a:srgbClr val="F0B8AE"/>
              </a:solidFill>
            </a:ln>
          </p:spPr>
        </p:sp>
        <p:sp>
          <p:nvSpPr>
            <p:cNvPr id="21" name="Ellipse 21"/>
            <p:cNvSpPr/>
            <p:nvPr/>
          </p:nvSpPr>
          <p:spPr>
            <a:xfrm>
              <a:off x="438150" y="1762125"/>
              <a:ext cx="304800" cy="304800"/>
            </a:xfrm>
            <a:prstGeom prst="ellipse">
              <a:avLst/>
            </a:prstGeom>
            <a:solidFill>
              <a:srgbClr val="FEF2E6"/>
            </a:solidFill>
            <a:ln w="9525">
              <a:solidFill>
                <a:srgbClr val="F0B8AE"/>
              </a:solidFill>
            </a:ln>
          </p:spPr>
        </p:sp>
        <p:grpSp>
          <p:nvGrpSpPr>
            <p:cNvPr id="24" name="Group 24"/>
            <p:cNvGrpSpPr/>
            <p:nvPr/>
          </p:nvGrpSpPr>
          <p:grpSpPr>
            <a:xfrm>
              <a:off x="527050" y="1851025"/>
              <a:ext cx="127000" cy="127000"/>
              <a:chOff x="527050" y="1851025"/>
              <a:chExt cx="127000" cy="127000"/>
            </a:xfrm>
          </p:grpSpPr>
          <p:sp>
            <p:nvSpPr>
              <p:cNvPr id="22" name="Freeform 22"/>
              <p:cNvSpPr/>
              <p:nvPr/>
            </p:nvSpPr>
            <p:spPr>
              <a:xfrm>
                <a:off x="527050" y="1851025"/>
                <a:ext cx="119062" cy="127000"/>
              </a:xfrm>
              <a:custGeom>
                <a:avLst/>
                <a:gdLst/>
                <a:ahLst/>
                <a:cxnLst/>
                <a:rect l="l" t="t" r="r" b="b"/>
                <a:pathLst>
                  <a:path w="119062" h="127000">
                    <a:moveTo>
                      <a:pt x="103187" y="31750"/>
                    </a:moveTo>
                    <a:lnTo>
                      <a:pt x="103187" y="7937"/>
                    </a:lnTo>
                    <a:cubicBezTo>
                      <a:pt x="103187" y="3554"/>
                      <a:pt x="99634" y="0"/>
                      <a:pt x="95250" y="0"/>
                    </a:cubicBezTo>
                    <a:lnTo>
                      <a:pt x="15875" y="0"/>
                    </a:lnTo>
                    <a:cubicBezTo>
                      <a:pt x="7107" y="0"/>
                      <a:pt x="0" y="7107"/>
                      <a:pt x="0" y="15875"/>
                    </a:cubicBezTo>
                    <a:cubicBezTo>
                      <a:pt x="0" y="24643"/>
                      <a:pt x="7107" y="31750"/>
                      <a:pt x="15875" y="31750"/>
                    </a:cubicBezTo>
                    <a:lnTo>
                      <a:pt x="111125" y="31750"/>
                    </a:lnTo>
                    <a:cubicBezTo>
                      <a:pt x="115509" y="31750"/>
                      <a:pt x="119062" y="35304"/>
                      <a:pt x="119062" y="39687"/>
                    </a:cubicBezTo>
                    <a:lnTo>
                      <a:pt x="119062" y="63500"/>
                    </a:lnTo>
                    <a:moveTo>
                      <a:pt x="119062" y="95250"/>
                    </a:moveTo>
                    <a:lnTo>
                      <a:pt x="119062" y="119062"/>
                    </a:lnTo>
                    <a:cubicBezTo>
                      <a:pt x="119062" y="123446"/>
                      <a:pt x="115509" y="127000"/>
                      <a:pt x="111125" y="127000"/>
                    </a:cubicBezTo>
                    <a:lnTo>
                      <a:pt x="15875" y="127000"/>
                    </a:lnTo>
                    <a:cubicBezTo>
                      <a:pt x="7107" y="127000"/>
                      <a:pt x="0" y="119892"/>
                      <a:pt x="0" y="111125"/>
                    </a:cubicBezTo>
                    <a:lnTo>
                      <a:pt x="0" y="15875"/>
                    </a:lnTo>
                  </a:path>
                </a:pathLst>
              </a:custGeom>
              <a:noFill/>
              <a:ln w="15875">
                <a:solidFill>
                  <a:srgbClr val="C41D00"/>
                </a:solidFill>
              </a:ln>
            </p:spPr>
          </p:sp>
          <p:sp>
            <p:nvSpPr>
              <p:cNvPr id="23" name="Freeform 23"/>
              <p:cNvSpPr/>
              <p:nvPr/>
            </p:nvSpPr>
            <p:spPr>
              <a:xfrm>
                <a:off x="606425" y="1914525"/>
                <a:ext cx="47625" cy="31750"/>
              </a:xfrm>
              <a:custGeom>
                <a:avLst/>
                <a:gdLst/>
                <a:ahLst/>
                <a:cxnLst/>
                <a:rect l="l" t="t" r="r" b="b"/>
                <a:pathLst>
                  <a:path w="47625" h="31750">
                    <a:moveTo>
                      <a:pt x="47625" y="0"/>
                    </a:moveTo>
                    <a:lnTo>
                      <a:pt x="47625" y="31750"/>
                    </a:lnTo>
                    <a:lnTo>
                      <a:pt x="15875" y="31750"/>
                    </a:lnTo>
                    <a:cubicBezTo>
                      <a:pt x="7107" y="31750"/>
                      <a:pt x="0" y="24643"/>
                      <a:pt x="0" y="15875"/>
                    </a:cubicBezTo>
                    <a:cubicBezTo>
                      <a:pt x="0" y="7107"/>
                      <a:pt x="7107" y="0"/>
                      <a:pt x="15875" y="0"/>
                    </a:cubicBezTo>
                    <a:lnTo>
                      <a:pt x="47625" y="0"/>
                    </a:lnTo>
                  </a:path>
                </a:pathLst>
              </a:custGeom>
              <a:noFill/>
              <a:ln w="15875">
                <a:solidFill>
                  <a:srgbClr val="C41D00"/>
                </a:solidFill>
              </a:ln>
            </p:spPr>
          </p:sp>
        </p:grpSp>
        <p:sp>
          <p:nvSpPr>
            <p:cNvPr id="25" name="TextBox 25"/>
            <p:cNvSpPr txBox="1"/>
            <p:nvPr/>
          </p:nvSpPr>
          <p:spPr>
            <a:xfrm>
              <a:off x="814388" y="1781889"/>
              <a:ext cx="831875"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余额/资金流出​​</a:t>
              </a:r>
            </a:p>
          </p:txBody>
        </p:sp>
        <p:sp>
          <p:nvSpPr>
            <p:cNvPr id="26" name="TextBox 26"/>
            <p:cNvSpPr txBox="1"/>
            <p:nvPr/>
          </p:nvSpPr>
          <p:spPr>
            <a:xfrm>
              <a:off x="814388" y="1969532"/>
              <a:ext cx="440309" cy="126206"/>
            </a:xfrm>
            <a:prstGeom prst="rect">
              <a:avLst/>
            </a:prstGeom>
            <a:noFill/>
            <a:ln>
              <a:noFill/>
            </a:ln>
          </p:spPr>
          <p:txBody>
            <a:bodyPr wrap="none" lIns="0" tIns="0" rIns="0" bIns="0" anchor="t" anchorCtr="0">
              <a:spAutoFit/>
            </a:bodyPr>
            <a:lstStyle/>
            <a:p>
              <a:pPr algn="l"/>
              <a:r>
                <a:rPr lang="zh-CN" sz="640" dirty="0">
                  <a:solidFill>
                    <a:srgbClr val="7A716B"/>
                  </a:solidFill>
                  <a:latin typeface="+mn-lt"/>
                  <a:ea typeface="+mn-ea"/>
                  <a:cs typeface="+mn-cs"/>
                </a:rPr>
                <a:t>净流出金额</a:t>
              </a:r>
            </a:p>
          </p:txBody>
        </p:sp>
        <p:sp>
          <p:nvSpPr>
            <p:cNvPr id="27" name="TextBox 27"/>
            <p:cNvSpPr txBox="1"/>
            <p:nvPr/>
          </p:nvSpPr>
          <p:spPr>
            <a:xfrm>
              <a:off x="2195408" y="1783556"/>
              <a:ext cx="915457" cy="220028"/>
            </a:xfrm>
            <a:prstGeom prst="rect">
              <a:avLst/>
            </a:prstGeom>
            <a:noFill/>
            <a:ln>
              <a:noFill/>
            </a:ln>
          </p:spPr>
          <p:txBody>
            <a:bodyPr wrap="none" lIns="0" tIns="0" rIns="0" bIns="0" anchor="t" anchorCtr="0">
              <a:spAutoFit/>
            </a:bodyPr>
            <a:lstStyle/>
            <a:p>
              <a:pPr algn="r"/>
              <a:r>
                <a:rPr lang="zh-CN" sz="1120" b="1" dirty="0">
                  <a:solidFill>
                    <a:srgbClr val="C41D00"/>
                  </a:solidFill>
                  <a:latin typeface="+mn-lt"/>
                  <a:ea typeface="+mn-ea"/>
                  <a:cs typeface="+mn-cs"/>
                </a:rPr>
                <a:t>​​​-8,620</a:t>
              </a:r>
              <a:r>
                <a:rPr lang="zh-CN" sz="680" b="1" dirty="0">
                  <a:solidFill>
                    <a:srgbClr val="C41D00"/>
                  </a:solidFill>
                  <a:latin typeface="+mn-lt"/>
                  <a:ea typeface="+mn-ea"/>
                  <a:cs typeface="+mn-cs"/>
                </a:rPr>
                <a:t xml:space="preserve"> 元</a:t>
              </a:r>
            </a:p>
          </p:txBody>
        </p:sp>
        <p:sp>
          <p:nvSpPr>
            <p:cNvPr id="28" name="TextBox 28"/>
            <p:cNvSpPr txBox="1"/>
            <p:nvPr/>
          </p:nvSpPr>
          <p:spPr>
            <a:xfrm>
              <a:off x="2294821" y="1988582"/>
              <a:ext cx="815091"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​​​（较上期 -32%）</a:t>
              </a:r>
            </a:p>
          </p:txBody>
        </p:sp>
        <p:sp>
          <p:nvSpPr>
            <p:cNvPr id="29" name="Rectangle 29"/>
            <p:cNvSpPr/>
            <p:nvPr/>
          </p:nvSpPr>
          <p:spPr>
            <a:xfrm>
              <a:off x="342900" y="2266950"/>
              <a:ext cx="2857500" cy="590550"/>
            </a:xfrm>
            <a:prstGeom prst="roundRect">
              <a:avLst>
                <a:gd name="adj" fmla="val 6452"/>
              </a:avLst>
            </a:prstGeom>
            <a:solidFill>
              <a:srgbClr val="FFF8F2"/>
            </a:solidFill>
            <a:ln w="9525">
              <a:solidFill>
                <a:srgbClr val="F0B8AE"/>
              </a:solidFill>
            </a:ln>
          </p:spPr>
        </p:sp>
        <p:sp>
          <p:nvSpPr>
            <p:cNvPr id="30" name="Ellipse 30"/>
            <p:cNvSpPr/>
            <p:nvPr/>
          </p:nvSpPr>
          <p:spPr>
            <a:xfrm>
              <a:off x="438150" y="2409825"/>
              <a:ext cx="304800" cy="304800"/>
            </a:xfrm>
            <a:prstGeom prst="ellipse">
              <a:avLst/>
            </a:prstGeom>
            <a:solidFill>
              <a:srgbClr val="FEF2E6"/>
            </a:solidFill>
            <a:ln w="9525">
              <a:solidFill>
                <a:srgbClr val="F0B8AE"/>
              </a:solidFill>
            </a:ln>
          </p:spPr>
        </p:sp>
        <p:grpSp>
          <p:nvGrpSpPr>
            <p:cNvPr id="37" name="Group 37"/>
            <p:cNvGrpSpPr/>
            <p:nvPr/>
          </p:nvGrpSpPr>
          <p:grpSpPr>
            <a:xfrm>
              <a:off x="527050" y="2490787"/>
              <a:ext cx="127000" cy="142875"/>
              <a:chOff x="527050" y="2490787"/>
              <a:chExt cx="127000" cy="142875"/>
            </a:xfrm>
          </p:grpSpPr>
          <p:sp>
            <p:nvSpPr>
              <p:cNvPr id="31" name="Freeform 31"/>
              <p:cNvSpPr/>
              <p:nvPr/>
            </p:nvSpPr>
            <p:spPr>
              <a:xfrm>
                <a:off x="527050" y="2506662"/>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C41D00"/>
                </a:solidFill>
              </a:ln>
            </p:spPr>
          </p:sp>
          <p:sp>
            <p:nvSpPr>
              <p:cNvPr id="32" name="Freeform 32"/>
              <p:cNvSpPr/>
              <p:nvPr/>
            </p:nvSpPr>
            <p:spPr>
              <a:xfrm>
                <a:off x="622300" y="2490787"/>
                <a:ext cx="9525" cy="31750"/>
              </a:xfrm>
              <a:custGeom>
                <a:avLst/>
                <a:gdLst/>
                <a:ahLst/>
                <a:cxnLst/>
                <a:rect l="l" t="t" r="r" b="b"/>
                <a:pathLst>
                  <a:path w="9525" h="31750">
                    <a:moveTo>
                      <a:pt x="0" y="0"/>
                    </a:moveTo>
                    <a:lnTo>
                      <a:pt x="0" y="31750"/>
                    </a:lnTo>
                  </a:path>
                </a:pathLst>
              </a:custGeom>
              <a:noFill/>
              <a:ln w="15875">
                <a:solidFill>
                  <a:srgbClr val="C41D00"/>
                </a:solidFill>
              </a:ln>
            </p:spPr>
          </p:sp>
          <p:sp>
            <p:nvSpPr>
              <p:cNvPr id="33" name="Freeform 33"/>
              <p:cNvSpPr/>
              <p:nvPr/>
            </p:nvSpPr>
            <p:spPr>
              <a:xfrm>
                <a:off x="558800" y="2490787"/>
                <a:ext cx="9525" cy="31750"/>
              </a:xfrm>
              <a:custGeom>
                <a:avLst/>
                <a:gdLst/>
                <a:ahLst/>
                <a:cxnLst/>
                <a:rect l="l" t="t" r="r" b="b"/>
                <a:pathLst>
                  <a:path w="9525" h="31750">
                    <a:moveTo>
                      <a:pt x="0" y="0"/>
                    </a:moveTo>
                    <a:lnTo>
                      <a:pt x="0" y="31750"/>
                    </a:lnTo>
                  </a:path>
                </a:pathLst>
              </a:custGeom>
              <a:noFill/>
              <a:ln w="15875">
                <a:solidFill>
                  <a:srgbClr val="C41D00"/>
                </a:solidFill>
              </a:ln>
            </p:spPr>
          </p:sp>
          <p:sp>
            <p:nvSpPr>
              <p:cNvPr id="34" name="Freeform 34"/>
              <p:cNvSpPr/>
              <p:nvPr/>
            </p:nvSpPr>
            <p:spPr>
              <a:xfrm>
                <a:off x="527050" y="2554287"/>
                <a:ext cx="127000" cy="9525"/>
              </a:xfrm>
              <a:custGeom>
                <a:avLst/>
                <a:gdLst/>
                <a:ahLst/>
                <a:cxnLst/>
                <a:rect l="l" t="t" r="r" b="b"/>
                <a:pathLst>
                  <a:path w="127000" h="9525">
                    <a:moveTo>
                      <a:pt x="0" y="0"/>
                    </a:moveTo>
                    <a:lnTo>
                      <a:pt x="127000" y="0"/>
                    </a:lnTo>
                  </a:path>
                </a:pathLst>
              </a:custGeom>
              <a:noFill/>
              <a:ln w="15875">
                <a:solidFill>
                  <a:srgbClr val="C41D00"/>
                </a:solidFill>
              </a:ln>
            </p:spPr>
          </p:sp>
          <p:sp>
            <p:nvSpPr>
              <p:cNvPr id="35" name="Freeform 35"/>
              <p:cNvSpPr/>
              <p:nvPr/>
            </p:nvSpPr>
            <p:spPr>
              <a:xfrm>
                <a:off x="582612" y="2586037"/>
                <a:ext cx="9525" cy="9525"/>
              </a:xfrm>
              <a:custGeom>
                <a:avLst/>
                <a:gdLst/>
                <a:ahLst/>
                <a:cxnLst/>
                <a:rect l="l" t="t" r="r" b="b"/>
                <a:pathLst>
                  <a:path w="9525" h="9525">
                    <a:moveTo>
                      <a:pt x="0" y="0"/>
                    </a:moveTo>
                    <a:lnTo>
                      <a:pt x="7937" y="0"/>
                    </a:lnTo>
                  </a:path>
                </a:pathLst>
              </a:custGeom>
              <a:noFill/>
              <a:ln w="15875">
                <a:solidFill>
                  <a:srgbClr val="C41D00"/>
                </a:solidFill>
              </a:ln>
            </p:spPr>
          </p:sp>
          <p:sp>
            <p:nvSpPr>
              <p:cNvPr id="36" name="Freeform 36"/>
              <p:cNvSpPr/>
              <p:nvPr/>
            </p:nvSpPr>
            <p:spPr>
              <a:xfrm>
                <a:off x="590550" y="2586037"/>
                <a:ext cx="9525" cy="23812"/>
              </a:xfrm>
              <a:custGeom>
                <a:avLst/>
                <a:gdLst/>
                <a:ahLst/>
                <a:cxnLst/>
                <a:rect l="l" t="t" r="r" b="b"/>
                <a:pathLst>
                  <a:path w="9525" h="23812">
                    <a:moveTo>
                      <a:pt x="0" y="0"/>
                    </a:moveTo>
                    <a:lnTo>
                      <a:pt x="0" y="23812"/>
                    </a:lnTo>
                  </a:path>
                </a:pathLst>
              </a:custGeom>
              <a:noFill/>
              <a:ln w="15875">
                <a:solidFill>
                  <a:srgbClr val="C41D00"/>
                </a:solidFill>
              </a:ln>
            </p:spPr>
          </p:sp>
        </p:grpSp>
        <p:sp>
          <p:nvSpPr>
            <p:cNvPr id="38" name="TextBox 38"/>
            <p:cNvSpPr txBox="1"/>
            <p:nvPr/>
          </p:nvSpPr>
          <p:spPr>
            <a:xfrm>
              <a:off x="814388" y="2429589"/>
              <a:ext cx="434924"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产品到期</a:t>
              </a:r>
            </a:p>
          </p:txBody>
        </p:sp>
        <p:sp>
          <p:nvSpPr>
            <p:cNvPr id="39" name="TextBox 39"/>
            <p:cNvSpPr txBox="1"/>
            <p:nvPr/>
          </p:nvSpPr>
          <p:spPr>
            <a:xfrm>
              <a:off x="814388" y="2617232"/>
              <a:ext cx="746166" cy="126206"/>
            </a:xfrm>
            <a:prstGeom prst="rect">
              <a:avLst/>
            </a:prstGeom>
            <a:noFill/>
            <a:ln>
              <a:noFill/>
            </a:ln>
          </p:spPr>
          <p:txBody>
            <a:bodyPr wrap="none" lIns="0" tIns="0" rIns="0" bIns="0" anchor="t" anchorCtr="0">
              <a:spAutoFit/>
            </a:bodyPr>
            <a:lstStyle/>
            <a:p>
              <a:pPr algn="l"/>
              <a:r>
                <a:rPr lang="zh-CN" sz="640" dirty="0">
                  <a:solidFill>
                    <a:srgbClr val="7A716B"/>
                  </a:solidFill>
                  <a:latin typeface="+mn-lt"/>
                  <a:ea typeface="+mn-ea"/>
                  <a:cs typeface="+mn-cs"/>
                </a:rPr>
                <a:t>即将到期产品金额​</a:t>
              </a:r>
            </a:p>
          </p:txBody>
        </p:sp>
        <p:sp>
          <p:nvSpPr>
            <p:cNvPr id="40" name="TextBox 40"/>
            <p:cNvSpPr txBox="1"/>
            <p:nvPr/>
          </p:nvSpPr>
          <p:spPr>
            <a:xfrm>
              <a:off x="2195408" y="2431256"/>
              <a:ext cx="915457" cy="220028"/>
            </a:xfrm>
            <a:prstGeom prst="rect">
              <a:avLst/>
            </a:prstGeom>
            <a:noFill/>
            <a:ln>
              <a:noFill/>
            </a:ln>
          </p:spPr>
          <p:txBody>
            <a:bodyPr wrap="none" lIns="0" tIns="0" rIns="0" bIns="0" anchor="t" anchorCtr="0">
              <a:spAutoFit/>
            </a:bodyPr>
            <a:lstStyle/>
            <a:p>
              <a:pPr algn="r"/>
              <a:r>
                <a:rPr lang="zh-CN" sz="1120" b="1" dirty="0">
                  <a:solidFill>
                    <a:srgbClr val="C41D00"/>
                  </a:solidFill>
                  <a:latin typeface="+mn-lt"/>
                  <a:ea typeface="+mn-ea"/>
                  <a:cs typeface="+mn-cs"/>
                </a:rPr>
                <a:t>​​​25,300</a:t>
              </a:r>
              <a:r>
                <a:rPr lang="zh-CN" sz="680" b="1" dirty="0">
                  <a:solidFill>
                    <a:srgbClr val="C41D00"/>
                  </a:solidFill>
                  <a:latin typeface="+mn-lt"/>
                  <a:ea typeface="+mn-ea"/>
                  <a:cs typeface="+mn-cs"/>
                </a:rPr>
                <a:t xml:space="preserve"> 元</a:t>
              </a:r>
            </a:p>
          </p:txBody>
        </p:sp>
        <p:sp>
          <p:nvSpPr>
            <p:cNvPr id="41" name="TextBox 41"/>
            <p:cNvSpPr txBox="1"/>
            <p:nvPr/>
          </p:nvSpPr>
          <p:spPr>
            <a:xfrm>
              <a:off x="2441288" y="2636282"/>
              <a:ext cx="668625"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​​（7天内到期）</a:t>
              </a:r>
            </a:p>
          </p:txBody>
        </p:sp>
        <p:sp>
          <p:nvSpPr>
            <p:cNvPr id="42" name="Rectangle 42"/>
            <p:cNvSpPr/>
            <p:nvPr/>
          </p:nvSpPr>
          <p:spPr>
            <a:xfrm>
              <a:off x="342900" y="2914650"/>
              <a:ext cx="2857500" cy="590550"/>
            </a:xfrm>
            <a:prstGeom prst="roundRect">
              <a:avLst>
                <a:gd name="adj" fmla="val 6452"/>
              </a:avLst>
            </a:prstGeom>
            <a:solidFill>
              <a:srgbClr val="FFF8F2"/>
            </a:solidFill>
            <a:ln w="9525">
              <a:solidFill>
                <a:srgbClr val="F0B8AE"/>
              </a:solidFill>
            </a:ln>
          </p:spPr>
        </p:sp>
        <p:sp>
          <p:nvSpPr>
            <p:cNvPr id="43" name="Ellipse 43"/>
            <p:cNvSpPr/>
            <p:nvPr/>
          </p:nvSpPr>
          <p:spPr>
            <a:xfrm>
              <a:off x="438150" y="3057525"/>
              <a:ext cx="304800" cy="304800"/>
            </a:xfrm>
            <a:prstGeom prst="ellipse">
              <a:avLst/>
            </a:prstGeom>
            <a:solidFill>
              <a:srgbClr val="FEF2E6"/>
            </a:solidFill>
            <a:ln w="9525">
              <a:solidFill>
                <a:srgbClr val="F0B8AE"/>
              </a:solidFill>
            </a:ln>
          </p:spPr>
        </p:sp>
        <p:sp>
          <p:nvSpPr>
            <p:cNvPr id="44" name="Freeform 44"/>
            <p:cNvSpPr/>
            <p:nvPr/>
          </p:nvSpPr>
          <p:spPr>
            <a:xfrm>
              <a:off x="510984" y="3140273"/>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C41D00"/>
              </a:solidFill>
            </a:ln>
          </p:spPr>
        </p:sp>
        <p:sp>
          <p:nvSpPr>
            <p:cNvPr id="45" name="TextBox 45"/>
            <p:cNvSpPr txBox="1"/>
            <p:nvPr/>
          </p:nvSpPr>
          <p:spPr>
            <a:xfrm>
              <a:off x="814388" y="3077289"/>
              <a:ext cx="831875"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投诉/负面反馈​​</a:t>
              </a:r>
            </a:p>
          </p:txBody>
        </p:sp>
        <p:sp>
          <p:nvSpPr>
            <p:cNvPr id="46" name="TextBox 46"/>
            <p:cNvSpPr txBox="1"/>
            <p:nvPr/>
          </p:nvSpPr>
          <p:spPr>
            <a:xfrm>
              <a:off x="814388" y="3264932"/>
              <a:ext cx="716011" cy="126206"/>
            </a:xfrm>
            <a:prstGeom prst="rect">
              <a:avLst/>
            </a:prstGeom>
            <a:noFill/>
            <a:ln>
              <a:noFill/>
            </a:ln>
          </p:spPr>
          <p:txBody>
            <a:bodyPr wrap="none" lIns="0" tIns="0" rIns="0" bIns="0" anchor="t" anchorCtr="0">
              <a:spAutoFit/>
            </a:bodyPr>
            <a:lstStyle/>
            <a:p>
              <a:pPr algn="l"/>
              <a:r>
                <a:rPr lang="zh-CN" sz="640" dirty="0">
                  <a:solidFill>
                    <a:srgbClr val="7A716B"/>
                  </a:solidFill>
                  <a:latin typeface="+mn-lt"/>
                  <a:ea typeface="+mn-ea"/>
                  <a:cs typeface="+mn-cs"/>
                </a:rPr>
                <a:t>近30天投诉次数​​</a:t>
              </a:r>
            </a:p>
          </p:txBody>
        </p:sp>
        <p:sp>
          <p:nvSpPr>
            <p:cNvPr id="47" name="TextBox 47"/>
            <p:cNvSpPr txBox="1"/>
            <p:nvPr/>
          </p:nvSpPr>
          <p:spPr>
            <a:xfrm>
              <a:off x="2717841" y="3078956"/>
              <a:ext cx="393024" cy="220028"/>
            </a:xfrm>
            <a:prstGeom prst="rect">
              <a:avLst/>
            </a:prstGeom>
            <a:noFill/>
            <a:ln>
              <a:noFill/>
            </a:ln>
          </p:spPr>
          <p:txBody>
            <a:bodyPr wrap="none" lIns="0" tIns="0" rIns="0" bIns="0" anchor="t" anchorCtr="0">
              <a:spAutoFit/>
            </a:bodyPr>
            <a:lstStyle/>
            <a:p>
              <a:pPr algn="r"/>
              <a:r>
                <a:rPr lang="zh-CN" sz="1120" b="1" dirty="0">
                  <a:solidFill>
                    <a:srgbClr val="C41D00"/>
                  </a:solidFill>
                  <a:latin typeface="+mn-lt"/>
                  <a:ea typeface="+mn-ea"/>
                  <a:cs typeface="+mn-cs"/>
                </a:rPr>
                <a:t>​​1</a:t>
              </a:r>
              <a:r>
                <a:rPr lang="zh-CN" sz="680" b="1" dirty="0">
                  <a:solidFill>
                    <a:srgbClr val="C41D00"/>
                  </a:solidFill>
                  <a:latin typeface="+mn-lt"/>
                  <a:ea typeface="+mn-ea"/>
                  <a:cs typeface="+mn-cs"/>
                </a:rPr>
                <a:t xml:space="preserve"> 次</a:t>
              </a:r>
            </a:p>
          </p:txBody>
        </p:sp>
        <p:sp>
          <p:nvSpPr>
            <p:cNvPr id="48" name="TextBox 48"/>
            <p:cNvSpPr txBox="1"/>
            <p:nvPr/>
          </p:nvSpPr>
          <p:spPr>
            <a:xfrm>
              <a:off x="2454211" y="3283982"/>
              <a:ext cx="655701"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​​（较上期 +1）</a:t>
              </a:r>
            </a:p>
          </p:txBody>
        </p:sp>
        <p:sp>
          <p:nvSpPr>
            <p:cNvPr id="49" name="Rectangle 49"/>
            <p:cNvSpPr/>
            <p:nvPr/>
          </p:nvSpPr>
          <p:spPr>
            <a:xfrm>
              <a:off x="342900" y="3562350"/>
              <a:ext cx="2857500" cy="590550"/>
            </a:xfrm>
            <a:prstGeom prst="roundRect">
              <a:avLst>
                <a:gd name="adj" fmla="val 6452"/>
              </a:avLst>
            </a:prstGeom>
            <a:solidFill>
              <a:srgbClr val="FFF8F2"/>
            </a:solidFill>
            <a:ln w="9525">
              <a:solidFill>
                <a:srgbClr val="F0B8AE"/>
              </a:solidFill>
            </a:ln>
          </p:spPr>
        </p:sp>
        <p:sp>
          <p:nvSpPr>
            <p:cNvPr id="50" name="Ellipse 50"/>
            <p:cNvSpPr/>
            <p:nvPr/>
          </p:nvSpPr>
          <p:spPr>
            <a:xfrm>
              <a:off x="438150" y="3705225"/>
              <a:ext cx="304800" cy="304800"/>
            </a:xfrm>
            <a:prstGeom prst="ellipse">
              <a:avLst/>
            </a:prstGeom>
            <a:solidFill>
              <a:srgbClr val="FEF2E6"/>
            </a:solidFill>
            <a:ln w="9525">
              <a:solidFill>
                <a:srgbClr val="F0B8AE"/>
              </a:solidFill>
            </a:ln>
          </p:spPr>
        </p:sp>
        <p:grpSp>
          <p:nvGrpSpPr>
            <p:cNvPr id="54" name="Group 54"/>
            <p:cNvGrpSpPr/>
            <p:nvPr/>
          </p:nvGrpSpPr>
          <p:grpSpPr>
            <a:xfrm>
              <a:off x="542925" y="3786187"/>
              <a:ext cx="95250" cy="142875"/>
              <a:chOff x="542925" y="3786187"/>
              <a:chExt cx="95250" cy="142875"/>
            </a:xfrm>
          </p:grpSpPr>
          <p:sp>
            <p:nvSpPr>
              <p:cNvPr id="51" name="Freeform 51"/>
              <p:cNvSpPr/>
              <p:nvPr/>
            </p:nvSpPr>
            <p:spPr>
              <a:xfrm>
                <a:off x="542925" y="3786187"/>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C41D00"/>
                </a:solidFill>
              </a:ln>
            </p:spPr>
          </p:sp>
          <p:sp>
            <p:nvSpPr>
              <p:cNvPr id="52" name="Freeform 52"/>
              <p:cNvSpPr/>
              <p:nvPr/>
            </p:nvSpPr>
            <p:spPr>
              <a:xfrm>
                <a:off x="582612" y="3794125"/>
                <a:ext cx="15875" cy="9525"/>
              </a:xfrm>
              <a:custGeom>
                <a:avLst/>
                <a:gdLst/>
                <a:ahLst/>
                <a:cxnLst/>
                <a:rect l="l" t="t" r="r" b="b"/>
                <a:pathLst>
                  <a:path w="15875" h="9525">
                    <a:moveTo>
                      <a:pt x="0" y="0"/>
                    </a:moveTo>
                    <a:lnTo>
                      <a:pt x="15875" y="0"/>
                    </a:lnTo>
                  </a:path>
                </a:pathLst>
              </a:custGeom>
              <a:noFill/>
              <a:ln w="15875">
                <a:solidFill>
                  <a:srgbClr val="C41D00"/>
                </a:solidFill>
              </a:ln>
            </p:spPr>
          </p:sp>
          <p:sp>
            <p:nvSpPr>
              <p:cNvPr id="53" name="Freeform 53"/>
              <p:cNvSpPr/>
              <p:nvPr/>
            </p:nvSpPr>
            <p:spPr>
              <a:xfrm>
                <a:off x="590550" y="3897312"/>
                <a:ext cx="9525" cy="9525"/>
              </a:xfrm>
              <a:custGeom>
                <a:avLst/>
                <a:gdLst/>
                <a:ahLst/>
                <a:cxnLst/>
                <a:rect l="l" t="t" r="r" b="b"/>
                <a:pathLst>
                  <a:path w="9525" h="9525">
                    <a:moveTo>
                      <a:pt x="0" y="0"/>
                    </a:moveTo>
                    <a:lnTo>
                      <a:pt x="0" y="79"/>
                    </a:lnTo>
                  </a:path>
                </a:pathLst>
              </a:custGeom>
              <a:noFill/>
              <a:ln w="15875">
                <a:solidFill>
                  <a:srgbClr val="C41D00"/>
                </a:solidFill>
              </a:ln>
            </p:spPr>
          </p:sp>
        </p:grpSp>
        <p:sp>
          <p:nvSpPr>
            <p:cNvPr id="55" name="TextBox 55"/>
            <p:cNvSpPr txBox="1"/>
            <p:nvPr/>
          </p:nvSpPr>
          <p:spPr>
            <a:xfrm>
              <a:off x="814388" y="3724989"/>
              <a:ext cx="709041" cy="154781"/>
            </a:xfrm>
            <a:prstGeom prst="rect">
              <a:avLst/>
            </a:prstGeom>
            <a:noFill/>
            <a:ln>
              <a:noFill/>
            </a:ln>
          </p:spPr>
          <p:txBody>
            <a:bodyPr wrap="none" lIns="0" tIns="0" rIns="0" bIns="0" anchor="t" anchorCtr="0">
              <a:spAutoFit/>
            </a:bodyPr>
            <a:lstStyle/>
            <a:p>
              <a:pPr algn="l"/>
              <a:r>
                <a:rPr lang="zh-CN" sz="790" b="1" dirty="0">
                  <a:solidFill>
                    <a:srgbClr val="4A130A"/>
                  </a:solidFill>
                  <a:latin typeface="+mn-lt"/>
                  <a:ea typeface="+mn-ea"/>
                  <a:cs typeface="+mn-cs"/>
                </a:rPr>
                <a:t>渠道使用下降​</a:t>
              </a:r>
            </a:p>
          </p:txBody>
        </p:sp>
        <p:sp>
          <p:nvSpPr>
            <p:cNvPr id="56" name="TextBox 56"/>
            <p:cNvSpPr txBox="1"/>
            <p:nvPr/>
          </p:nvSpPr>
          <p:spPr>
            <a:xfrm>
              <a:off x="814388" y="3912632"/>
              <a:ext cx="802168" cy="126206"/>
            </a:xfrm>
            <a:prstGeom prst="rect">
              <a:avLst/>
            </a:prstGeom>
            <a:noFill/>
            <a:ln>
              <a:noFill/>
            </a:ln>
          </p:spPr>
          <p:txBody>
            <a:bodyPr wrap="none" lIns="0" tIns="0" rIns="0" bIns="0" anchor="t" anchorCtr="0">
              <a:spAutoFit/>
            </a:bodyPr>
            <a:lstStyle/>
            <a:p>
              <a:pPr algn="l"/>
              <a:r>
                <a:rPr lang="zh-CN" sz="640" dirty="0">
                  <a:solidFill>
                    <a:srgbClr val="7A716B"/>
                  </a:solidFill>
                  <a:latin typeface="+mn-lt"/>
                  <a:ea typeface="+mn-ea"/>
                  <a:cs typeface="+mn-cs"/>
                </a:rPr>
                <a:t>近30天渠道触点数​​</a:t>
              </a:r>
            </a:p>
          </p:txBody>
        </p:sp>
        <p:sp>
          <p:nvSpPr>
            <p:cNvPr id="57" name="TextBox 57"/>
            <p:cNvSpPr txBox="1"/>
            <p:nvPr/>
          </p:nvSpPr>
          <p:spPr>
            <a:xfrm>
              <a:off x="2543697" y="3726656"/>
              <a:ext cx="567168" cy="220028"/>
            </a:xfrm>
            <a:prstGeom prst="rect">
              <a:avLst/>
            </a:prstGeom>
            <a:noFill/>
            <a:ln>
              <a:noFill/>
            </a:ln>
          </p:spPr>
          <p:txBody>
            <a:bodyPr wrap="none" lIns="0" tIns="0" rIns="0" bIns="0" anchor="t" anchorCtr="0">
              <a:spAutoFit/>
            </a:bodyPr>
            <a:lstStyle/>
            <a:p>
              <a:pPr algn="r"/>
              <a:r>
                <a:rPr lang="zh-CN" sz="1120" b="1" dirty="0">
                  <a:solidFill>
                    <a:srgbClr val="C41D00"/>
                  </a:solidFill>
                  <a:latin typeface="+mn-lt"/>
                  <a:ea typeface="+mn-ea"/>
                  <a:cs typeface="+mn-cs"/>
                </a:rPr>
                <a:t>​​1.4</a:t>
              </a:r>
              <a:r>
                <a:rPr lang="zh-CN" sz="680" b="1" dirty="0">
                  <a:solidFill>
                    <a:srgbClr val="C41D00"/>
                  </a:solidFill>
                  <a:latin typeface="+mn-lt"/>
                  <a:ea typeface="+mn-ea"/>
                  <a:cs typeface="+mn-cs"/>
                </a:rPr>
                <a:t xml:space="preserve"> 次</a:t>
              </a:r>
            </a:p>
          </p:txBody>
        </p:sp>
        <p:sp>
          <p:nvSpPr>
            <p:cNvPr id="58" name="TextBox 58"/>
            <p:cNvSpPr txBox="1"/>
            <p:nvPr/>
          </p:nvSpPr>
          <p:spPr>
            <a:xfrm>
              <a:off x="2294821" y="3931682"/>
              <a:ext cx="815091" cy="126206"/>
            </a:xfrm>
            <a:prstGeom prst="rect">
              <a:avLst/>
            </a:prstGeom>
            <a:noFill/>
            <a:ln>
              <a:noFill/>
            </a:ln>
          </p:spPr>
          <p:txBody>
            <a:bodyPr wrap="none" lIns="0" tIns="0" rIns="0" bIns="0" anchor="t" anchorCtr="0">
              <a:spAutoFit/>
            </a:bodyPr>
            <a:lstStyle/>
            <a:p>
              <a:pPr algn="r"/>
              <a:r>
                <a:rPr lang="zh-CN" sz="640" dirty="0">
                  <a:solidFill>
                    <a:srgbClr val="7A716B"/>
                  </a:solidFill>
                  <a:latin typeface="+mn-lt"/>
                  <a:ea typeface="+mn-ea"/>
                  <a:cs typeface="+mn-cs"/>
                </a:rPr>
                <a:t>​​​（较上期 -55%）</a:t>
              </a:r>
            </a:p>
          </p:txBody>
        </p:sp>
        <p:sp>
          <p:nvSpPr>
            <p:cNvPr id="59" name="Rectangle 59"/>
            <p:cNvSpPr/>
            <p:nvPr/>
          </p:nvSpPr>
          <p:spPr>
            <a:xfrm>
              <a:off x="342900" y="4248150"/>
              <a:ext cx="2857500" cy="285750"/>
            </a:xfrm>
            <a:prstGeom prst="roundRect">
              <a:avLst>
                <a:gd name="adj" fmla="val 13333"/>
              </a:avLst>
            </a:prstGeom>
            <a:solidFill>
              <a:srgbClr val="FEF2E6"/>
            </a:solidFill>
            <a:ln w="9525">
              <a:solidFill>
                <a:srgbClr val="F0B8AE"/>
              </a:solidFill>
            </a:ln>
          </p:spPr>
        </p:sp>
        <p:sp>
          <p:nvSpPr>
            <p:cNvPr id="60" name="TextBox 60"/>
            <p:cNvSpPr txBox="1"/>
            <p:nvPr/>
          </p:nvSpPr>
          <p:spPr>
            <a:xfrm>
              <a:off x="355128" y="4356259"/>
              <a:ext cx="2833044"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​​​​​模型AUC：0.78　｜　GINI：0.56　｜　样本量：120万​​​​​</a:t>
              </a:r>
            </a:p>
          </p:txBody>
        </p:sp>
      </p:grpSp>
      <p:grpSp>
        <p:nvGrpSpPr>
          <p:cNvPr id="154" name="score-distribution"/>
          <p:cNvGrpSpPr/>
          <p:nvPr/>
        </p:nvGrpSpPr>
        <p:grpSpPr>
          <a:xfrm>
            <a:off x="3276600" y="685800"/>
            <a:ext cx="4076700" cy="3902392"/>
            <a:chOff x="3276600" y="685800"/>
            <a:chExt cx="4076700" cy="3902392"/>
          </a:xfrm>
        </p:grpSpPr>
        <p:sp>
          <p:nvSpPr>
            <p:cNvPr id="62" name="Rectangle 62"/>
            <p:cNvSpPr/>
            <p:nvPr/>
          </p:nvSpPr>
          <p:spPr>
            <a:xfrm>
              <a:off x="3276600" y="685800"/>
              <a:ext cx="4076700" cy="228600"/>
            </a:xfrm>
            <a:prstGeom prst="roundRect">
              <a:avLst>
                <a:gd name="adj" fmla="val 12500"/>
              </a:avLst>
            </a:prstGeom>
            <a:solidFill>
              <a:srgbClr val="C41D00"/>
            </a:solidFill>
            <a:ln>
              <a:noFill/>
            </a:ln>
          </p:spPr>
        </p:sp>
        <p:sp>
          <p:nvSpPr>
            <p:cNvPr id="63" name="TextBox 63"/>
            <p:cNvSpPr txBox="1"/>
            <p:nvPr/>
          </p:nvSpPr>
          <p:spPr>
            <a:xfrm>
              <a:off x="3976336" y="754618"/>
              <a:ext cx="2677229"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​​风险得分分布（0–1，得分越高流失风险越高）​​</a:t>
              </a:r>
            </a:p>
          </p:txBody>
        </p:sp>
        <p:sp>
          <p:nvSpPr>
            <p:cNvPr id="64" name="TextBox 64"/>
            <p:cNvSpPr txBox="1"/>
            <p:nvPr/>
          </p:nvSpPr>
          <p:spPr>
            <a:xfrm>
              <a:off x="3328988" y="1021080"/>
              <a:ext cx="413385" cy="119062"/>
            </a:xfrm>
            <a:prstGeom prst="rect">
              <a:avLst/>
            </a:prstGeom>
            <a:noFill/>
            <a:ln>
              <a:noFill/>
            </a:ln>
          </p:spPr>
          <p:txBody>
            <a:bodyPr wrap="none" lIns="0" tIns="0" rIns="0" bIns="0" anchor="t" anchorCtr="0">
              <a:spAutoFit/>
            </a:bodyPr>
            <a:lstStyle/>
            <a:p>
              <a:pPr algn="l"/>
              <a:r>
                <a:rPr lang="zh-CN" sz="600" dirty="0">
                  <a:solidFill>
                    <a:srgbClr val="7A716B"/>
                  </a:solidFill>
                  <a:latin typeface="+mn-lt"/>
                  <a:ea typeface="+mn-ea"/>
                  <a:cs typeface="+mn-cs"/>
                </a:rPr>
                <a:t>客户数占比</a:t>
              </a:r>
            </a:p>
          </p:txBody>
        </p:sp>
        <p:sp>
          <p:nvSpPr>
            <p:cNvPr id="65" name="TextBox 65"/>
            <p:cNvSpPr txBox="1"/>
            <p:nvPr/>
          </p:nvSpPr>
          <p:spPr>
            <a:xfrm>
              <a:off x="3801504" y="997982"/>
              <a:ext cx="607543"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8F1C08"/>
                  </a:solidFill>
                  <a:latin typeface="+mn-lt"/>
                  <a:ea typeface="+mn-ea"/>
                  <a:cs typeface="+mn-cs"/>
                </a:rPr>
                <a:t>​低风险 0–0.3​</a:t>
              </a:r>
            </a:p>
            <a:p>
              <a:pPr algn="ctr">
                <a:lnSpc>
                  <a:spcPts val="825"/>
                </a:lnSpc>
              </a:pPr>
              <a:r>
                <a:rPr lang="zh-CN" sz="750" b="1" dirty="0">
                  <a:solidFill>
                    <a:srgbClr val="C41D00"/>
                  </a:solidFill>
                  <a:latin typeface="+mn-lt"/>
                  <a:ea typeface="+mn-ea"/>
                  <a:cs typeface="+mn-cs"/>
                </a:rPr>
                <a:t>​34.0%​</a:t>
              </a:r>
            </a:p>
          </p:txBody>
        </p:sp>
        <p:sp>
          <p:nvSpPr>
            <p:cNvPr id="66" name="TextBox 66"/>
            <p:cNvSpPr txBox="1"/>
            <p:nvPr/>
          </p:nvSpPr>
          <p:spPr>
            <a:xfrm>
              <a:off x="5012550" y="997982"/>
              <a:ext cx="795299"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8F1C08"/>
                  </a:solidFill>
                  <a:latin typeface="+mn-lt"/>
                  <a:ea typeface="+mn-ea"/>
                  <a:cs typeface="+mn-cs"/>
                </a:rPr>
                <a:t>​​中风险 0.3–0.7​​</a:t>
              </a:r>
            </a:p>
            <a:p>
              <a:pPr algn="ctr">
                <a:lnSpc>
                  <a:spcPts val="825"/>
                </a:lnSpc>
              </a:pPr>
              <a:r>
                <a:rPr lang="zh-CN" sz="750" b="1" dirty="0">
                  <a:solidFill>
                    <a:srgbClr val="C41D00"/>
                  </a:solidFill>
                  <a:latin typeface="+mn-lt"/>
                  <a:ea typeface="+mn-ea"/>
                  <a:cs typeface="+mn-cs"/>
                </a:rPr>
                <a:t>​48.6%​</a:t>
              </a:r>
            </a:p>
          </p:txBody>
        </p:sp>
        <p:sp>
          <p:nvSpPr>
            <p:cNvPr id="67" name="TextBox 67"/>
            <p:cNvSpPr txBox="1"/>
            <p:nvPr/>
          </p:nvSpPr>
          <p:spPr>
            <a:xfrm>
              <a:off x="6317475" y="997982"/>
              <a:ext cx="795299"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8F1C08"/>
                  </a:solidFill>
                  <a:latin typeface="+mn-lt"/>
                  <a:ea typeface="+mn-ea"/>
                  <a:cs typeface="+mn-cs"/>
                </a:rPr>
                <a:t>​​高风险 0.7–1.0​​</a:t>
              </a:r>
            </a:p>
            <a:p>
              <a:pPr algn="ctr">
                <a:lnSpc>
                  <a:spcPts val="825"/>
                </a:lnSpc>
              </a:pPr>
              <a:r>
                <a:rPr lang="zh-CN" sz="750" b="1" dirty="0">
                  <a:solidFill>
                    <a:srgbClr val="C41D00"/>
                  </a:solidFill>
                  <a:latin typeface="+mn-lt"/>
                  <a:ea typeface="+mn-ea"/>
                  <a:cs typeface="+mn-cs"/>
                </a:rPr>
                <a:t>​17.4%​</a:t>
              </a:r>
            </a:p>
          </p:txBody>
        </p:sp>
        <p:sp>
          <p:nvSpPr>
            <p:cNvPr id="68" name="Line 68"/>
            <p:cNvSpPr/>
            <p:nvPr/>
          </p:nvSpPr>
          <p:spPr>
            <a:xfrm>
              <a:off x="3543300" y="1295400"/>
              <a:ext cx="3733800" cy="9525"/>
            </a:xfrm>
            <a:custGeom>
              <a:avLst/>
              <a:gdLst/>
              <a:ahLst/>
              <a:cxnLst/>
              <a:rect l="l" t="t" r="r" b="b"/>
              <a:pathLst>
                <a:path w="3733800" h="9525">
                  <a:moveTo>
                    <a:pt x="0" y="0"/>
                  </a:moveTo>
                  <a:lnTo>
                    <a:pt x="3733800" y="0"/>
                  </a:lnTo>
                </a:path>
              </a:pathLst>
            </a:custGeom>
            <a:noFill/>
            <a:ln w="9525">
              <a:solidFill>
                <a:srgbClr val="EADBCE"/>
              </a:solidFill>
            </a:ln>
          </p:spPr>
        </p:sp>
        <p:sp>
          <p:nvSpPr>
            <p:cNvPr id="69" name="Line 69"/>
            <p:cNvSpPr/>
            <p:nvPr/>
          </p:nvSpPr>
          <p:spPr>
            <a:xfrm>
              <a:off x="3543300" y="1604962"/>
              <a:ext cx="3733800" cy="9525"/>
            </a:xfrm>
            <a:custGeom>
              <a:avLst/>
              <a:gdLst/>
              <a:ahLst/>
              <a:cxnLst/>
              <a:rect l="l" t="t" r="r" b="b"/>
              <a:pathLst>
                <a:path w="3733800" h="9525">
                  <a:moveTo>
                    <a:pt x="0" y="0"/>
                  </a:moveTo>
                  <a:lnTo>
                    <a:pt x="3733800" y="0"/>
                  </a:lnTo>
                </a:path>
              </a:pathLst>
            </a:custGeom>
            <a:noFill/>
            <a:ln w="9525">
              <a:solidFill>
                <a:srgbClr val="EADBCE"/>
              </a:solidFill>
            </a:ln>
          </p:spPr>
        </p:sp>
        <p:sp>
          <p:nvSpPr>
            <p:cNvPr id="70" name="Line 70"/>
            <p:cNvSpPr/>
            <p:nvPr/>
          </p:nvSpPr>
          <p:spPr>
            <a:xfrm>
              <a:off x="3543300" y="1914525"/>
              <a:ext cx="3733800" cy="9525"/>
            </a:xfrm>
            <a:custGeom>
              <a:avLst/>
              <a:gdLst/>
              <a:ahLst/>
              <a:cxnLst/>
              <a:rect l="l" t="t" r="r" b="b"/>
              <a:pathLst>
                <a:path w="3733800" h="9525">
                  <a:moveTo>
                    <a:pt x="0" y="0"/>
                  </a:moveTo>
                  <a:lnTo>
                    <a:pt x="3733800" y="0"/>
                  </a:lnTo>
                </a:path>
              </a:pathLst>
            </a:custGeom>
            <a:noFill/>
            <a:ln w="9525">
              <a:solidFill>
                <a:srgbClr val="EADBCE"/>
              </a:solidFill>
            </a:ln>
          </p:spPr>
        </p:sp>
        <p:sp>
          <p:nvSpPr>
            <p:cNvPr id="71" name="Line 71"/>
            <p:cNvSpPr/>
            <p:nvPr/>
          </p:nvSpPr>
          <p:spPr>
            <a:xfrm>
              <a:off x="3543300" y="2224088"/>
              <a:ext cx="3733800" cy="9525"/>
            </a:xfrm>
            <a:custGeom>
              <a:avLst/>
              <a:gdLst/>
              <a:ahLst/>
              <a:cxnLst/>
              <a:rect l="l" t="t" r="r" b="b"/>
              <a:pathLst>
                <a:path w="3733800" h="9525">
                  <a:moveTo>
                    <a:pt x="0" y="0"/>
                  </a:moveTo>
                  <a:lnTo>
                    <a:pt x="3733800" y="0"/>
                  </a:lnTo>
                </a:path>
              </a:pathLst>
            </a:custGeom>
            <a:noFill/>
            <a:ln w="9525">
              <a:solidFill>
                <a:srgbClr val="EADBCE"/>
              </a:solidFill>
            </a:ln>
          </p:spPr>
        </p:sp>
        <p:sp>
          <p:nvSpPr>
            <p:cNvPr id="72" name="Line 72"/>
            <p:cNvSpPr/>
            <p:nvPr/>
          </p:nvSpPr>
          <p:spPr>
            <a:xfrm>
              <a:off x="3543300" y="2533650"/>
              <a:ext cx="3733800" cy="9525"/>
            </a:xfrm>
            <a:custGeom>
              <a:avLst/>
              <a:gdLst/>
              <a:ahLst/>
              <a:cxnLst/>
              <a:rect l="l" t="t" r="r" b="b"/>
              <a:pathLst>
                <a:path w="3733800" h="9525">
                  <a:moveTo>
                    <a:pt x="0" y="0"/>
                  </a:moveTo>
                  <a:lnTo>
                    <a:pt x="3733800" y="0"/>
                  </a:lnTo>
                </a:path>
              </a:pathLst>
            </a:custGeom>
            <a:noFill/>
            <a:ln w="9525">
              <a:solidFill>
                <a:srgbClr val="7A716B"/>
              </a:solidFill>
            </a:ln>
          </p:spPr>
        </p:sp>
        <p:sp>
          <p:nvSpPr>
            <p:cNvPr id="73" name="Line 73"/>
            <p:cNvSpPr/>
            <p:nvPr/>
          </p:nvSpPr>
          <p:spPr>
            <a:xfrm>
              <a:off x="3543300" y="1295400"/>
              <a:ext cx="9525" cy="1238250"/>
            </a:xfrm>
            <a:custGeom>
              <a:avLst/>
              <a:gdLst/>
              <a:ahLst/>
              <a:cxnLst/>
              <a:rect l="l" t="t" r="r" b="b"/>
              <a:pathLst>
                <a:path w="9525" h="1238250">
                  <a:moveTo>
                    <a:pt x="0" y="0"/>
                  </a:moveTo>
                  <a:lnTo>
                    <a:pt x="0" y="1238250"/>
                  </a:lnTo>
                </a:path>
              </a:pathLst>
            </a:custGeom>
            <a:noFill/>
            <a:ln w="9525">
              <a:solidFill>
                <a:srgbClr val="7A716B"/>
              </a:solidFill>
            </a:ln>
          </p:spPr>
        </p:sp>
        <p:sp>
          <p:nvSpPr>
            <p:cNvPr id="74" name="Line 74"/>
            <p:cNvSpPr/>
            <p:nvPr/>
          </p:nvSpPr>
          <p:spPr>
            <a:xfrm>
              <a:off x="4663440" y="1219200"/>
              <a:ext cx="9525" cy="1314450"/>
            </a:xfrm>
            <a:custGeom>
              <a:avLst/>
              <a:gdLst/>
              <a:ahLst/>
              <a:cxnLst/>
              <a:rect l="l" t="t" r="r" b="b"/>
              <a:pathLst>
                <a:path w="9525" h="1314450">
                  <a:moveTo>
                    <a:pt x="0" y="0"/>
                  </a:moveTo>
                  <a:lnTo>
                    <a:pt x="0" y="1314450"/>
                  </a:lnTo>
                </a:path>
              </a:pathLst>
            </a:custGeom>
            <a:noFill/>
            <a:ln w="9525">
              <a:solidFill>
                <a:srgbClr val="7A716B"/>
              </a:solidFill>
              <a:custDash>
                <a:ds d="300000" sp="200000"/>
              </a:custDash>
            </a:ln>
          </p:spPr>
        </p:sp>
        <p:sp>
          <p:nvSpPr>
            <p:cNvPr id="75" name="Line 75"/>
            <p:cNvSpPr/>
            <p:nvPr/>
          </p:nvSpPr>
          <p:spPr>
            <a:xfrm>
              <a:off x="6156960" y="1219200"/>
              <a:ext cx="9525" cy="1314450"/>
            </a:xfrm>
            <a:custGeom>
              <a:avLst/>
              <a:gdLst/>
              <a:ahLst/>
              <a:cxnLst/>
              <a:rect l="l" t="t" r="r" b="b"/>
              <a:pathLst>
                <a:path w="9525" h="1314450">
                  <a:moveTo>
                    <a:pt x="0" y="0"/>
                  </a:moveTo>
                  <a:lnTo>
                    <a:pt x="0" y="1314450"/>
                  </a:lnTo>
                </a:path>
              </a:pathLst>
            </a:custGeom>
            <a:noFill/>
            <a:ln w="9525">
              <a:solidFill>
                <a:srgbClr val="7A716B"/>
              </a:solidFill>
              <a:custDash>
                <a:ds d="300000" sp="200000"/>
              </a:custDash>
            </a:ln>
          </p:spPr>
        </p:sp>
        <p:sp>
          <p:nvSpPr>
            <p:cNvPr id="76" name="TextBox 76"/>
            <p:cNvSpPr txBox="1"/>
            <p:nvPr/>
          </p:nvSpPr>
          <p:spPr>
            <a:xfrm>
              <a:off x="3319508" y="2501503"/>
              <a:ext cx="190454" cy="111919"/>
            </a:xfrm>
            <a:prstGeom prst="rect">
              <a:avLst/>
            </a:prstGeom>
            <a:noFill/>
            <a:ln>
              <a:noFill/>
            </a:ln>
          </p:spPr>
          <p:txBody>
            <a:bodyPr wrap="none" lIns="0" tIns="0" rIns="0" bIns="0" anchor="t" anchorCtr="0">
              <a:spAutoFit/>
            </a:bodyPr>
            <a:lstStyle/>
            <a:p>
              <a:pPr algn="r"/>
              <a:r>
                <a:rPr lang="zh-CN" sz="560" dirty="0">
                  <a:solidFill>
                    <a:srgbClr val="7A716B"/>
                  </a:solidFill>
                  <a:latin typeface="+mn-lt"/>
                  <a:ea typeface="+mn-ea"/>
                  <a:cs typeface="+mn-cs"/>
                </a:rPr>
                <a:t>​​0%</a:t>
              </a:r>
            </a:p>
          </p:txBody>
        </p:sp>
        <p:sp>
          <p:nvSpPr>
            <p:cNvPr id="77" name="TextBox 77"/>
            <p:cNvSpPr txBox="1"/>
            <p:nvPr/>
          </p:nvSpPr>
          <p:spPr>
            <a:xfrm>
              <a:off x="3319508" y="2187178"/>
              <a:ext cx="190454" cy="111919"/>
            </a:xfrm>
            <a:prstGeom prst="rect">
              <a:avLst/>
            </a:prstGeom>
            <a:noFill/>
            <a:ln>
              <a:noFill/>
            </a:ln>
          </p:spPr>
          <p:txBody>
            <a:bodyPr wrap="none" lIns="0" tIns="0" rIns="0" bIns="0" anchor="t" anchorCtr="0">
              <a:spAutoFit/>
            </a:bodyPr>
            <a:lstStyle/>
            <a:p>
              <a:pPr algn="r"/>
              <a:r>
                <a:rPr lang="zh-CN" sz="560" dirty="0">
                  <a:solidFill>
                    <a:srgbClr val="7A716B"/>
                  </a:solidFill>
                  <a:latin typeface="+mn-lt"/>
                  <a:ea typeface="+mn-ea"/>
                  <a:cs typeface="+mn-cs"/>
                </a:rPr>
                <a:t>​​5%</a:t>
              </a:r>
            </a:p>
          </p:txBody>
        </p:sp>
        <p:sp>
          <p:nvSpPr>
            <p:cNvPr id="78" name="TextBox 78"/>
            <p:cNvSpPr txBox="1"/>
            <p:nvPr/>
          </p:nvSpPr>
          <p:spPr>
            <a:xfrm>
              <a:off x="3278045" y="1882378"/>
              <a:ext cx="231917" cy="111919"/>
            </a:xfrm>
            <a:prstGeom prst="rect">
              <a:avLst/>
            </a:prstGeom>
            <a:noFill/>
            <a:ln>
              <a:noFill/>
            </a:ln>
          </p:spPr>
          <p:txBody>
            <a:bodyPr wrap="none" lIns="0" tIns="0" rIns="0" bIns="0" anchor="t" anchorCtr="0">
              <a:spAutoFit/>
            </a:bodyPr>
            <a:lstStyle/>
            <a:p>
              <a:pPr algn="r"/>
              <a:r>
                <a:rPr lang="zh-CN" sz="560" dirty="0">
                  <a:solidFill>
                    <a:srgbClr val="7A716B"/>
                  </a:solidFill>
                  <a:latin typeface="+mn-lt"/>
                  <a:ea typeface="+mn-ea"/>
                  <a:cs typeface="+mn-cs"/>
                </a:rPr>
                <a:t>​​10%</a:t>
              </a:r>
            </a:p>
          </p:txBody>
        </p:sp>
        <p:sp>
          <p:nvSpPr>
            <p:cNvPr id="79" name="TextBox 79"/>
            <p:cNvSpPr txBox="1"/>
            <p:nvPr/>
          </p:nvSpPr>
          <p:spPr>
            <a:xfrm>
              <a:off x="3278045" y="1568053"/>
              <a:ext cx="231917" cy="111919"/>
            </a:xfrm>
            <a:prstGeom prst="rect">
              <a:avLst/>
            </a:prstGeom>
            <a:noFill/>
            <a:ln>
              <a:noFill/>
            </a:ln>
          </p:spPr>
          <p:txBody>
            <a:bodyPr wrap="none" lIns="0" tIns="0" rIns="0" bIns="0" anchor="t" anchorCtr="0">
              <a:spAutoFit/>
            </a:bodyPr>
            <a:lstStyle/>
            <a:p>
              <a:pPr algn="r"/>
              <a:r>
                <a:rPr lang="zh-CN" sz="560" dirty="0">
                  <a:solidFill>
                    <a:srgbClr val="7A716B"/>
                  </a:solidFill>
                  <a:latin typeface="+mn-lt"/>
                  <a:ea typeface="+mn-ea"/>
                  <a:cs typeface="+mn-cs"/>
                </a:rPr>
                <a:t>​​15%</a:t>
              </a:r>
            </a:p>
          </p:txBody>
        </p:sp>
        <p:sp>
          <p:nvSpPr>
            <p:cNvPr id="80" name="TextBox 80"/>
            <p:cNvSpPr txBox="1"/>
            <p:nvPr/>
          </p:nvSpPr>
          <p:spPr>
            <a:xfrm>
              <a:off x="3278045" y="1263253"/>
              <a:ext cx="231917" cy="111919"/>
            </a:xfrm>
            <a:prstGeom prst="rect">
              <a:avLst/>
            </a:prstGeom>
            <a:noFill/>
            <a:ln>
              <a:noFill/>
            </a:ln>
          </p:spPr>
          <p:txBody>
            <a:bodyPr wrap="none" lIns="0" tIns="0" rIns="0" bIns="0" anchor="t" anchorCtr="0">
              <a:spAutoFit/>
            </a:bodyPr>
            <a:lstStyle/>
            <a:p>
              <a:pPr algn="r"/>
              <a:r>
                <a:rPr lang="zh-CN" sz="560" dirty="0">
                  <a:solidFill>
                    <a:srgbClr val="7A716B"/>
                  </a:solidFill>
                  <a:latin typeface="+mn-lt"/>
                  <a:ea typeface="+mn-ea"/>
                  <a:cs typeface="+mn-cs"/>
                </a:rPr>
                <a:t>​​20%</a:t>
              </a:r>
            </a:p>
          </p:txBody>
        </p:sp>
        <p:sp>
          <p:nvSpPr>
            <p:cNvPr id="81" name="Rectangle 81"/>
            <p:cNvSpPr/>
            <p:nvPr/>
          </p:nvSpPr>
          <p:spPr>
            <a:xfrm>
              <a:off x="3615690" y="2162175"/>
              <a:ext cx="228600" cy="371475"/>
            </a:xfrm>
            <a:prstGeom prst="rect">
              <a:avLst/>
            </a:prstGeom>
            <a:solidFill>
              <a:srgbClr val="F57E6A"/>
            </a:solidFill>
            <a:ln>
              <a:noFill/>
            </a:ln>
          </p:spPr>
        </p:sp>
        <p:sp>
          <p:nvSpPr>
            <p:cNvPr id="82" name="Rectangle 82"/>
            <p:cNvSpPr/>
            <p:nvPr/>
          </p:nvSpPr>
          <p:spPr>
            <a:xfrm>
              <a:off x="3989070" y="1834515"/>
              <a:ext cx="228600" cy="699135"/>
            </a:xfrm>
            <a:prstGeom prst="rect">
              <a:avLst/>
            </a:prstGeom>
            <a:solidFill>
              <a:srgbClr val="F57E6A"/>
            </a:solidFill>
            <a:ln>
              <a:noFill/>
            </a:ln>
          </p:spPr>
        </p:sp>
        <p:sp>
          <p:nvSpPr>
            <p:cNvPr id="83" name="Rectangle 83"/>
            <p:cNvSpPr/>
            <p:nvPr/>
          </p:nvSpPr>
          <p:spPr>
            <a:xfrm>
              <a:off x="4362450" y="1499235"/>
              <a:ext cx="228600" cy="1034415"/>
            </a:xfrm>
            <a:prstGeom prst="rect">
              <a:avLst/>
            </a:prstGeom>
            <a:solidFill>
              <a:srgbClr val="F57E6A"/>
            </a:solidFill>
            <a:ln>
              <a:noFill/>
            </a:ln>
          </p:spPr>
        </p:sp>
        <p:sp>
          <p:nvSpPr>
            <p:cNvPr id="84" name="Rectangle 84"/>
            <p:cNvSpPr/>
            <p:nvPr/>
          </p:nvSpPr>
          <p:spPr>
            <a:xfrm>
              <a:off x="4735830" y="1580198"/>
              <a:ext cx="228600" cy="953452"/>
            </a:xfrm>
            <a:prstGeom prst="rect">
              <a:avLst/>
            </a:prstGeom>
            <a:solidFill>
              <a:srgbClr val="EE492C"/>
            </a:solidFill>
            <a:ln>
              <a:noFill/>
            </a:ln>
          </p:spPr>
        </p:sp>
        <p:sp>
          <p:nvSpPr>
            <p:cNvPr id="85" name="Rectangle 85"/>
            <p:cNvSpPr/>
            <p:nvPr/>
          </p:nvSpPr>
          <p:spPr>
            <a:xfrm>
              <a:off x="5109210" y="1629728"/>
              <a:ext cx="228600" cy="903922"/>
            </a:xfrm>
            <a:prstGeom prst="rect">
              <a:avLst/>
            </a:prstGeom>
            <a:solidFill>
              <a:srgbClr val="EE492C"/>
            </a:solidFill>
            <a:ln>
              <a:noFill/>
            </a:ln>
          </p:spPr>
        </p:sp>
        <p:sp>
          <p:nvSpPr>
            <p:cNvPr id="86" name="Rectangle 86"/>
            <p:cNvSpPr/>
            <p:nvPr/>
          </p:nvSpPr>
          <p:spPr>
            <a:xfrm>
              <a:off x="5482590" y="1716405"/>
              <a:ext cx="228600" cy="817245"/>
            </a:xfrm>
            <a:prstGeom prst="rect">
              <a:avLst/>
            </a:prstGeom>
            <a:solidFill>
              <a:srgbClr val="EE492C"/>
            </a:solidFill>
            <a:ln>
              <a:noFill/>
            </a:ln>
          </p:spPr>
        </p:sp>
        <p:sp>
          <p:nvSpPr>
            <p:cNvPr id="87" name="Rectangle 87"/>
            <p:cNvSpPr/>
            <p:nvPr/>
          </p:nvSpPr>
          <p:spPr>
            <a:xfrm>
              <a:off x="5855970" y="1864995"/>
              <a:ext cx="228600" cy="668655"/>
            </a:xfrm>
            <a:prstGeom prst="rect">
              <a:avLst/>
            </a:prstGeom>
            <a:solidFill>
              <a:srgbClr val="EE492C"/>
            </a:solidFill>
            <a:ln>
              <a:noFill/>
            </a:ln>
          </p:spPr>
        </p:sp>
        <p:sp>
          <p:nvSpPr>
            <p:cNvPr id="88" name="Rectangle 88"/>
            <p:cNvSpPr/>
            <p:nvPr/>
          </p:nvSpPr>
          <p:spPr>
            <a:xfrm>
              <a:off x="6229350" y="2100262"/>
              <a:ext cx="228600" cy="433388"/>
            </a:xfrm>
            <a:prstGeom prst="rect">
              <a:avLst/>
            </a:prstGeom>
            <a:solidFill>
              <a:srgbClr val="C41D00"/>
            </a:solidFill>
            <a:ln>
              <a:noFill/>
            </a:ln>
          </p:spPr>
        </p:sp>
        <p:sp>
          <p:nvSpPr>
            <p:cNvPr id="89" name="Rectangle 89"/>
            <p:cNvSpPr/>
            <p:nvPr/>
          </p:nvSpPr>
          <p:spPr>
            <a:xfrm>
              <a:off x="6602730" y="2335530"/>
              <a:ext cx="228600" cy="198120"/>
            </a:xfrm>
            <a:prstGeom prst="rect">
              <a:avLst/>
            </a:prstGeom>
            <a:solidFill>
              <a:srgbClr val="C41D00"/>
            </a:solidFill>
            <a:ln>
              <a:noFill/>
            </a:ln>
          </p:spPr>
        </p:sp>
        <p:sp>
          <p:nvSpPr>
            <p:cNvPr id="90" name="Rectangle 90"/>
            <p:cNvSpPr/>
            <p:nvPr/>
          </p:nvSpPr>
          <p:spPr>
            <a:xfrm>
              <a:off x="6976110" y="2434590"/>
              <a:ext cx="228600" cy="99060"/>
            </a:xfrm>
            <a:prstGeom prst="rect">
              <a:avLst/>
            </a:prstGeom>
            <a:solidFill>
              <a:srgbClr val="C41D00"/>
            </a:solidFill>
            <a:ln>
              <a:noFill/>
            </a:ln>
          </p:spPr>
        </p:sp>
        <p:sp>
          <p:nvSpPr>
            <p:cNvPr id="91" name="TextBox 91"/>
            <p:cNvSpPr txBox="1"/>
            <p:nvPr/>
          </p:nvSpPr>
          <p:spPr>
            <a:xfrm>
              <a:off x="3593300" y="2063353"/>
              <a:ext cx="273380"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​6.0%​</a:t>
              </a:r>
            </a:p>
          </p:txBody>
        </p:sp>
        <p:sp>
          <p:nvSpPr>
            <p:cNvPr id="92" name="TextBox 92"/>
            <p:cNvSpPr txBox="1"/>
            <p:nvPr/>
          </p:nvSpPr>
          <p:spPr>
            <a:xfrm>
              <a:off x="3945948" y="1735693"/>
              <a:ext cx="314843"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​11.3%​</a:t>
              </a:r>
            </a:p>
          </p:txBody>
        </p:sp>
        <p:sp>
          <p:nvSpPr>
            <p:cNvPr id="93" name="TextBox 93"/>
            <p:cNvSpPr txBox="1"/>
            <p:nvPr/>
          </p:nvSpPr>
          <p:spPr>
            <a:xfrm>
              <a:off x="4319328" y="1400413"/>
              <a:ext cx="314843"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​16.7%​</a:t>
              </a:r>
            </a:p>
          </p:txBody>
        </p:sp>
        <p:sp>
          <p:nvSpPr>
            <p:cNvPr id="94" name="TextBox 94"/>
            <p:cNvSpPr txBox="1"/>
            <p:nvPr/>
          </p:nvSpPr>
          <p:spPr>
            <a:xfrm>
              <a:off x="4692708" y="1481376"/>
              <a:ext cx="314843"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​15.4%​</a:t>
              </a:r>
            </a:p>
          </p:txBody>
        </p:sp>
        <p:sp>
          <p:nvSpPr>
            <p:cNvPr id="95" name="TextBox 95"/>
            <p:cNvSpPr txBox="1"/>
            <p:nvPr/>
          </p:nvSpPr>
          <p:spPr>
            <a:xfrm>
              <a:off x="5066088" y="1530906"/>
              <a:ext cx="314843"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​14.6%​</a:t>
              </a:r>
            </a:p>
          </p:txBody>
        </p:sp>
        <p:sp>
          <p:nvSpPr>
            <p:cNvPr id="96" name="TextBox 96"/>
            <p:cNvSpPr txBox="1"/>
            <p:nvPr/>
          </p:nvSpPr>
          <p:spPr>
            <a:xfrm>
              <a:off x="5439468" y="1617583"/>
              <a:ext cx="314843"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​13.2%​</a:t>
              </a:r>
            </a:p>
          </p:txBody>
        </p:sp>
        <p:sp>
          <p:nvSpPr>
            <p:cNvPr id="97" name="TextBox 97"/>
            <p:cNvSpPr txBox="1"/>
            <p:nvPr/>
          </p:nvSpPr>
          <p:spPr>
            <a:xfrm>
              <a:off x="5812848" y="1766173"/>
              <a:ext cx="314843"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​10.8%​</a:t>
              </a:r>
            </a:p>
          </p:txBody>
        </p:sp>
        <p:sp>
          <p:nvSpPr>
            <p:cNvPr id="98" name="TextBox 98"/>
            <p:cNvSpPr txBox="1"/>
            <p:nvPr/>
          </p:nvSpPr>
          <p:spPr>
            <a:xfrm>
              <a:off x="6206960" y="2001441"/>
              <a:ext cx="273380"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​7.0%​</a:t>
              </a:r>
            </a:p>
          </p:txBody>
        </p:sp>
        <p:sp>
          <p:nvSpPr>
            <p:cNvPr id="99" name="TextBox 99"/>
            <p:cNvSpPr txBox="1"/>
            <p:nvPr/>
          </p:nvSpPr>
          <p:spPr>
            <a:xfrm>
              <a:off x="6580340" y="2236708"/>
              <a:ext cx="273380"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​3.2%​</a:t>
              </a:r>
            </a:p>
          </p:txBody>
        </p:sp>
        <p:sp>
          <p:nvSpPr>
            <p:cNvPr id="100" name="TextBox 100"/>
            <p:cNvSpPr txBox="1"/>
            <p:nvPr/>
          </p:nvSpPr>
          <p:spPr>
            <a:xfrm>
              <a:off x="6953720" y="2335768"/>
              <a:ext cx="273380" cy="111919"/>
            </a:xfrm>
            <a:prstGeom prst="rect">
              <a:avLst/>
            </a:prstGeom>
            <a:noFill/>
            <a:ln>
              <a:noFill/>
            </a:ln>
          </p:spPr>
          <p:txBody>
            <a:bodyPr wrap="none" lIns="0" tIns="0" rIns="0" bIns="0" anchor="t" anchorCtr="0">
              <a:spAutoFit/>
            </a:bodyPr>
            <a:lstStyle/>
            <a:p>
              <a:pPr algn="ctr"/>
              <a:r>
                <a:rPr lang="zh-CN" sz="560" dirty="0">
                  <a:solidFill>
                    <a:srgbClr val="3D3835"/>
                  </a:solidFill>
                  <a:latin typeface="+mn-lt"/>
                  <a:ea typeface="+mn-ea"/>
                  <a:cs typeface="+mn-cs"/>
                </a:rPr>
                <a:t>​1.6%​</a:t>
              </a:r>
            </a:p>
          </p:txBody>
        </p:sp>
        <p:sp>
          <p:nvSpPr>
            <p:cNvPr id="101" name="TextBox 101"/>
            <p:cNvSpPr txBox="1"/>
            <p:nvPr/>
          </p:nvSpPr>
          <p:spPr>
            <a:xfrm>
              <a:off x="3590473" y="2591276"/>
              <a:ext cx="279034"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​0–0.1​</a:t>
              </a:r>
            </a:p>
          </p:txBody>
        </p:sp>
        <p:sp>
          <p:nvSpPr>
            <p:cNvPr id="102" name="TextBox 102"/>
            <p:cNvSpPr txBox="1"/>
            <p:nvPr/>
          </p:nvSpPr>
          <p:spPr>
            <a:xfrm>
              <a:off x="3925352" y="2591276"/>
              <a:ext cx="356037"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​0.1–0.2​</a:t>
              </a:r>
            </a:p>
          </p:txBody>
        </p:sp>
        <p:sp>
          <p:nvSpPr>
            <p:cNvPr id="103" name="TextBox 103"/>
            <p:cNvSpPr txBox="1"/>
            <p:nvPr/>
          </p:nvSpPr>
          <p:spPr>
            <a:xfrm>
              <a:off x="4298732" y="2591276"/>
              <a:ext cx="356037"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​0.2–0.3​</a:t>
              </a:r>
            </a:p>
          </p:txBody>
        </p:sp>
        <p:sp>
          <p:nvSpPr>
            <p:cNvPr id="104" name="TextBox 104"/>
            <p:cNvSpPr txBox="1"/>
            <p:nvPr/>
          </p:nvSpPr>
          <p:spPr>
            <a:xfrm>
              <a:off x="4672112" y="2591276"/>
              <a:ext cx="356037"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​0.3–0.4​</a:t>
              </a:r>
            </a:p>
          </p:txBody>
        </p:sp>
        <p:sp>
          <p:nvSpPr>
            <p:cNvPr id="105" name="TextBox 105"/>
            <p:cNvSpPr txBox="1"/>
            <p:nvPr/>
          </p:nvSpPr>
          <p:spPr>
            <a:xfrm>
              <a:off x="5045492" y="2591276"/>
              <a:ext cx="356037"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​0.4–0.5​</a:t>
              </a:r>
            </a:p>
          </p:txBody>
        </p:sp>
        <p:sp>
          <p:nvSpPr>
            <p:cNvPr id="106" name="TextBox 106"/>
            <p:cNvSpPr txBox="1"/>
            <p:nvPr/>
          </p:nvSpPr>
          <p:spPr>
            <a:xfrm>
              <a:off x="5418872" y="2591276"/>
              <a:ext cx="356037"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​0.5–0.6​</a:t>
              </a:r>
            </a:p>
          </p:txBody>
        </p:sp>
        <p:sp>
          <p:nvSpPr>
            <p:cNvPr id="107" name="TextBox 107"/>
            <p:cNvSpPr txBox="1"/>
            <p:nvPr/>
          </p:nvSpPr>
          <p:spPr>
            <a:xfrm>
              <a:off x="5792252" y="2591276"/>
              <a:ext cx="356037"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​0.6–0.7​</a:t>
              </a:r>
            </a:p>
          </p:txBody>
        </p:sp>
        <p:sp>
          <p:nvSpPr>
            <p:cNvPr id="108" name="TextBox 108"/>
            <p:cNvSpPr txBox="1"/>
            <p:nvPr/>
          </p:nvSpPr>
          <p:spPr>
            <a:xfrm>
              <a:off x="6165632" y="2591276"/>
              <a:ext cx="356037"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​0.7–0.8​</a:t>
              </a:r>
            </a:p>
          </p:txBody>
        </p:sp>
        <p:sp>
          <p:nvSpPr>
            <p:cNvPr id="109" name="TextBox 109"/>
            <p:cNvSpPr txBox="1"/>
            <p:nvPr/>
          </p:nvSpPr>
          <p:spPr>
            <a:xfrm>
              <a:off x="6539012" y="2591276"/>
              <a:ext cx="356037"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​0.8–0.9​</a:t>
              </a:r>
            </a:p>
          </p:txBody>
        </p:sp>
        <p:sp>
          <p:nvSpPr>
            <p:cNvPr id="110" name="TextBox 110"/>
            <p:cNvSpPr txBox="1"/>
            <p:nvPr/>
          </p:nvSpPr>
          <p:spPr>
            <a:xfrm>
              <a:off x="6912392" y="2591276"/>
              <a:ext cx="356037"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​0.9–1.0​</a:t>
              </a:r>
            </a:p>
          </p:txBody>
        </p:sp>
        <p:sp>
          <p:nvSpPr>
            <p:cNvPr id="111" name="TextBox 111"/>
            <p:cNvSpPr txBox="1"/>
            <p:nvPr/>
          </p:nvSpPr>
          <p:spPr>
            <a:xfrm>
              <a:off x="5118697" y="2707005"/>
              <a:ext cx="583006"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​风险得分区间​</a:t>
              </a:r>
            </a:p>
          </p:txBody>
        </p:sp>
        <p:sp>
          <p:nvSpPr>
            <p:cNvPr id="112" name="Rectangle 112"/>
            <p:cNvSpPr/>
            <p:nvPr/>
          </p:nvSpPr>
          <p:spPr>
            <a:xfrm>
              <a:off x="3276600" y="2857500"/>
              <a:ext cx="4076700" cy="209550"/>
            </a:xfrm>
            <a:prstGeom prst="roundRect">
              <a:avLst>
                <a:gd name="adj" fmla="val 13636"/>
              </a:avLst>
            </a:prstGeom>
            <a:solidFill>
              <a:srgbClr val="C41D00"/>
            </a:solidFill>
            <a:ln>
              <a:noFill/>
            </a:ln>
          </p:spPr>
        </p:sp>
        <p:sp>
          <p:nvSpPr>
            <p:cNvPr id="113" name="TextBox 113"/>
            <p:cNvSpPr txBox="1"/>
            <p:nvPr/>
          </p:nvSpPr>
          <p:spPr>
            <a:xfrm>
              <a:off x="4681720" y="2911316"/>
              <a:ext cx="126646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​​提升度（Lift）曲线​​</a:t>
              </a:r>
            </a:p>
          </p:txBody>
        </p:sp>
        <p:sp>
          <p:nvSpPr>
            <p:cNvPr id="114" name="TextBox 114"/>
            <p:cNvSpPr txBox="1"/>
            <p:nvPr/>
          </p:nvSpPr>
          <p:spPr>
            <a:xfrm>
              <a:off x="3328988" y="3154680"/>
              <a:ext cx="538582" cy="119062"/>
            </a:xfrm>
            <a:prstGeom prst="rect">
              <a:avLst/>
            </a:prstGeom>
            <a:noFill/>
            <a:ln>
              <a:noFill/>
            </a:ln>
          </p:spPr>
          <p:txBody>
            <a:bodyPr wrap="none" lIns="0" tIns="0" rIns="0" bIns="0" anchor="t" anchorCtr="0">
              <a:spAutoFit/>
            </a:bodyPr>
            <a:lstStyle/>
            <a:p>
              <a:pPr algn="l"/>
              <a:r>
                <a:rPr lang="zh-CN" sz="600" dirty="0">
                  <a:solidFill>
                    <a:srgbClr val="7A716B"/>
                  </a:solidFill>
                  <a:latin typeface="+mn-lt"/>
                  <a:ea typeface="+mn-ea"/>
                  <a:cs typeface="+mn-cs"/>
                </a:rPr>
                <a:t>提升度（倍）​</a:t>
              </a:r>
            </a:p>
          </p:txBody>
        </p:sp>
        <p:sp>
          <p:nvSpPr>
            <p:cNvPr id="115" name="Line 115"/>
            <p:cNvSpPr/>
            <p:nvPr/>
          </p:nvSpPr>
          <p:spPr>
            <a:xfrm>
              <a:off x="3619500" y="3276600"/>
              <a:ext cx="3657600" cy="9525"/>
            </a:xfrm>
            <a:custGeom>
              <a:avLst/>
              <a:gdLst/>
              <a:ahLst/>
              <a:cxnLst/>
              <a:rect l="l" t="t" r="r" b="b"/>
              <a:pathLst>
                <a:path w="3657600" h="9525">
                  <a:moveTo>
                    <a:pt x="0" y="0"/>
                  </a:moveTo>
                  <a:lnTo>
                    <a:pt x="3657600" y="0"/>
                  </a:lnTo>
                </a:path>
              </a:pathLst>
            </a:custGeom>
            <a:noFill/>
            <a:ln w="9525">
              <a:solidFill>
                <a:srgbClr val="EADBCE"/>
              </a:solidFill>
            </a:ln>
          </p:spPr>
        </p:sp>
        <p:sp>
          <p:nvSpPr>
            <p:cNvPr id="116" name="Line 116"/>
            <p:cNvSpPr/>
            <p:nvPr/>
          </p:nvSpPr>
          <p:spPr>
            <a:xfrm>
              <a:off x="3619500" y="3529012"/>
              <a:ext cx="3657600" cy="9525"/>
            </a:xfrm>
            <a:custGeom>
              <a:avLst/>
              <a:gdLst/>
              <a:ahLst/>
              <a:cxnLst/>
              <a:rect l="l" t="t" r="r" b="b"/>
              <a:pathLst>
                <a:path w="3657600" h="9525">
                  <a:moveTo>
                    <a:pt x="0" y="0"/>
                  </a:moveTo>
                  <a:lnTo>
                    <a:pt x="3657600" y="0"/>
                  </a:lnTo>
                </a:path>
              </a:pathLst>
            </a:custGeom>
            <a:noFill/>
            <a:ln w="9525">
              <a:solidFill>
                <a:srgbClr val="EADBCE"/>
              </a:solidFill>
            </a:ln>
          </p:spPr>
        </p:sp>
        <p:sp>
          <p:nvSpPr>
            <p:cNvPr id="117" name="Line 117"/>
            <p:cNvSpPr/>
            <p:nvPr/>
          </p:nvSpPr>
          <p:spPr>
            <a:xfrm>
              <a:off x="3619500" y="3781425"/>
              <a:ext cx="3657600" cy="9525"/>
            </a:xfrm>
            <a:custGeom>
              <a:avLst/>
              <a:gdLst/>
              <a:ahLst/>
              <a:cxnLst/>
              <a:rect l="l" t="t" r="r" b="b"/>
              <a:pathLst>
                <a:path w="3657600" h="9525">
                  <a:moveTo>
                    <a:pt x="0" y="0"/>
                  </a:moveTo>
                  <a:lnTo>
                    <a:pt x="3657600" y="0"/>
                  </a:lnTo>
                </a:path>
              </a:pathLst>
            </a:custGeom>
            <a:noFill/>
            <a:ln w="9525">
              <a:solidFill>
                <a:srgbClr val="EADBCE"/>
              </a:solidFill>
            </a:ln>
          </p:spPr>
        </p:sp>
        <p:sp>
          <p:nvSpPr>
            <p:cNvPr id="118" name="Line 118"/>
            <p:cNvSpPr/>
            <p:nvPr/>
          </p:nvSpPr>
          <p:spPr>
            <a:xfrm>
              <a:off x="3619500" y="4033838"/>
              <a:ext cx="3657600" cy="9525"/>
            </a:xfrm>
            <a:custGeom>
              <a:avLst/>
              <a:gdLst/>
              <a:ahLst/>
              <a:cxnLst/>
              <a:rect l="l" t="t" r="r" b="b"/>
              <a:pathLst>
                <a:path w="3657600" h="9525">
                  <a:moveTo>
                    <a:pt x="0" y="0"/>
                  </a:moveTo>
                  <a:lnTo>
                    <a:pt x="3657600" y="0"/>
                  </a:lnTo>
                </a:path>
              </a:pathLst>
            </a:custGeom>
            <a:noFill/>
            <a:ln w="9525">
              <a:solidFill>
                <a:srgbClr val="EADBCE"/>
              </a:solidFill>
            </a:ln>
          </p:spPr>
        </p:sp>
        <p:sp>
          <p:nvSpPr>
            <p:cNvPr id="119" name="Line 119"/>
            <p:cNvSpPr/>
            <p:nvPr/>
          </p:nvSpPr>
          <p:spPr>
            <a:xfrm>
              <a:off x="3619500" y="4286250"/>
              <a:ext cx="3657600" cy="9525"/>
            </a:xfrm>
            <a:custGeom>
              <a:avLst/>
              <a:gdLst/>
              <a:ahLst/>
              <a:cxnLst/>
              <a:rect l="l" t="t" r="r" b="b"/>
              <a:pathLst>
                <a:path w="3657600" h="9525">
                  <a:moveTo>
                    <a:pt x="0" y="0"/>
                  </a:moveTo>
                  <a:lnTo>
                    <a:pt x="3657600" y="0"/>
                  </a:lnTo>
                </a:path>
              </a:pathLst>
            </a:custGeom>
            <a:noFill/>
            <a:ln w="9525">
              <a:solidFill>
                <a:srgbClr val="7A716B"/>
              </a:solidFill>
            </a:ln>
          </p:spPr>
        </p:sp>
        <p:sp>
          <p:nvSpPr>
            <p:cNvPr id="120" name="Line 120"/>
            <p:cNvSpPr/>
            <p:nvPr/>
          </p:nvSpPr>
          <p:spPr>
            <a:xfrm>
              <a:off x="3619500" y="3276600"/>
              <a:ext cx="9525" cy="1009650"/>
            </a:xfrm>
            <a:custGeom>
              <a:avLst/>
              <a:gdLst/>
              <a:ahLst/>
              <a:cxnLst/>
              <a:rect l="l" t="t" r="r" b="b"/>
              <a:pathLst>
                <a:path w="9525" h="1009650">
                  <a:moveTo>
                    <a:pt x="0" y="0"/>
                  </a:moveTo>
                  <a:lnTo>
                    <a:pt x="0" y="1009650"/>
                  </a:lnTo>
                </a:path>
              </a:pathLst>
            </a:custGeom>
            <a:noFill/>
            <a:ln w="9525">
              <a:solidFill>
                <a:srgbClr val="7A716B"/>
              </a:solidFill>
            </a:ln>
          </p:spPr>
        </p:sp>
        <p:sp>
          <p:nvSpPr>
            <p:cNvPr id="121" name="TextBox 121"/>
            <p:cNvSpPr txBox="1"/>
            <p:nvPr/>
          </p:nvSpPr>
          <p:spPr>
            <a:xfrm>
              <a:off x="3474662" y="4254103"/>
              <a:ext cx="92451" cy="111919"/>
            </a:xfrm>
            <a:prstGeom prst="rect">
              <a:avLst/>
            </a:prstGeom>
            <a:noFill/>
            <a:ln>
              <a:noFill/>
            </a:ln>
          </p:spPr>
          <p:txBody>
            <a:bodyPr wrap="none" lIns="0" tIns="0" rIns="0" bIns="0" anchor="t" anchorCtr="0">
              <a:spAutoFit/>
            </a:bodyPr>
            <a:lstStyle/>
            <a:p>
              <a:pPr algn="r"/>
              <a:r>
                <a:rPr lang="zh-CN" sz="560" dirty="0">
                  <a:solidFill>
                    <a:srgbClr val="7A716B"/>
                  </a:solidFill>
                  <a:latin typeface="+mn-lt"/>
                  <a:ea typeface="+mn-ea"/>
                  <a:cs typeface="+mn-cs"/>
                </a:rPr>
                <a:t>​0</a:t>
              </a:r>
            </a:p>
          </p:txBody>
        </p:sp>
        <p:sp>
          <p:nvSpPr>
            <p:cNvPr id="122" name="TextBox 122"/>
            <p:cNvSpPr txBox="1"/>
            <p:nvPr/>
          </p:nvSpPr>
          <p:spPr>
            <a:xfrm>
              <a:off x="3433199" y="4001691"/>
              <a:ext cx="133914" cy="111919"/>
            </a:xfrm>
            <a:prstGeom prst="rect">
              <a:avLst/>
            </a:prstGeom>
            <a:noFill/>
            <a:ln>
              <a:noFill/>
            </a:ln>
          </p:spPr>
          <p:txBody>
            <a:bodyPr wrap="none" lIns="0" tIns="0" rIns="0" bIns="0" anchor="t" anchorCtr="0">
              <a:spAutoFit/>
            </a:bodyPr>
            <a:lstStyle/>
            <a:p>
              <a:pPr algn="r"/>
              <a:r>
                <a:rPr lang="en-US" sz="560" dirty="0">
                  <a:solidFill>
                    <a:srgbClr val="7A716B"/>
                  </a:solidFill>
                  <a:latin typeface="+mn-lt"/>
                  <a:ea typeface="+mn-ea"/>
                  <a:cs typeface="+mn-cs"/>
                </a:rPr>
                <a:t>​2x</a:t>
              </a:r>
            </a:p>
          </p:txBody>
        </p:sp>
        <p:sp>
          <p:nvSpPr>
            <p:cNvPr id="123" name="TextBox 123"/>
            <p:cNvSpPr txBox="1"/>
            <p:nvPr/>
          </p:nvSpPr>
          <p:spPr>
            <a:xfrm>
              <a:off x="3433199" y="3749278"/>
              <a:ext cx="133914" cy="111919"/>
            </a:xfrm>
            <a:prstGeom prst="rect">
              <a:avLst/>
            </a:prstGeom>
            <a:noFill/>
            <a:ln>
              <a:noFill/>
            </a:ln>
          </p:spPr>
          <p:txBody>
            <a:bodyPr wrap="none" lIns="0" tIns="0" rIns="0" bIns="0" anchor="t" anchorCtr="0">
              <a:spAutoFit/>
            </a:bodyPr>
            <a:lstStyle/>
            <a:p>
              <a:pPr algn="r"/>
              <a:r>
                <a:rPr lang="en-US" sz="560" dirty="0">
                  <a:solidFill>
                    <a:srgbClr val="7A716B"/>
                  </a:solidFill>
                  <a:latin typeface="+mn-lt"/>
                  <a:ea typeface="+mn-ea"/>
                  <a:cs typeface="+mn-cs"/>
                </a:rPr>
                <a:t>​4x</a:t>
              </a:r>
            </a:p>
          </p:txBody>
        </p:sp>
        <p:sp>
          <p:nvSpPr>
            <p:cNvPr id="124" name="TextBox 124"/>
            <p:cNvSpPr txBox="1"/>
            <p:nvPr/>
          </p:nvSpPr>
          <p:spPr>
            <a:xfrm>
              <a:off x="3433199" y="3496866"/>
              <a:ext cx="133914" cy="111919"/>
            </a:xfrm>
            <a:prstGeom prst="rect">
              <a:avLst/>
            </a:prstGeom>
            <a:noFill/>
            <a:ln>
              <a:noFill/>
            </a:ln>
          </p:spPr>
          <p:txBody>
            <a:bodyPr wrap="none" lIns="0" tIns="0" rIns="0" bIns="0" anchor="t" anchorCtr="0">
              <a:spAutoFit/>
            </a:bodyPr>
            <a:lstStyle/>
            <a:p>
              <a:pPr algn="r"/>
              <a:r>
                <a:rPr lang="en-US" sz="560" dirty="0">
                  <a:solidFill>
                    <a:srgbClr val="7A716B"/>
                  </a:solidFill>
                  <a:latin typeface="+mn-lt"/>
                  <a:ea typeface="+mn-ea"/>
                  <a:cs typeface="+mn-cs"/>
                </a:rPr>
                <a:t>​6x</a:t>
              </a:r>
            </a:p>
          </p:txBody>
        </p:sp>
        <p:sp>
          <p:nvSpPr>
            <p:cNvPr id="125" name="TextBox 125"/>
            <p:cNvSpPr txBox="1"/>
            <p:nvPr/>
          </p:nvSpPr>
          <p:spPr>
            <a:xfrm>
              <a:off x="3433199" y="3244453"/>
              <a:ext cx="133914" cy="111919"/>
            </a:xfrm>
            <a:prstGeom prst="rect">
              <a:avLst/>
            </a:prstGeom>
            <a:noFill/>
            <a:ln>
              <a:noFill/>
            </a:ln>
          </p:spPr>
          <p:txBody>
            <a:bodyPr wrap="none" lIns="0" tIns="0" rIns="0" bIns="0" anchor="t" anchorCtr="0">
              <a:spAutoFit/>
            </a:bodyPr>
            <a:lstStyle/>
            <a:p>
              <a:pPr algn="r"/>
              <a:r>
                <a:rPr lang="en-US" sz="560" dirty="0">
                  <a:solidFill>
                    <a:srgbClr val="7A716B"/>
                  </a:solidFill>
                  <a:latin typeface="+mn-lt"/>
                  <a:ea typeface="+mn-ea"/>
                  <a:cs typeface="+mn-cs"/>
                </a:rPr>
                <a:t>​8x</a:t>
              </a:r>
            </a:p>
          </p:txBody>
        </p:sp>
        <p:sp>
          <p:nvSpPr>
            <p:cNvPr id="126" name="Line 126"/>
            <p:cNvSpPr/>
            <p:nvPr/>
          </p:nvSpPr>
          <p:spPr>
            <a:xfrm>
              <a:off x="3619500" y="4160520"/>
              <a:ext cx="3657600" cy="9525"/>
            </a:xfrm>
            <a:custGeom>
              <a:avLst/>
              <a:gdLst/>
              <a:ahLst/>
              <a:cxnLst/>
              <a:rect l="l" t="t" r="r" b="b"/>
              <a:pathLst>
                <a:path w="3657600" h="9525">
                  <a:moveTo>
                    <a:pt x="0" y="0"/>
                  </a:moveTo>
                  <a:lnTo>
                    <a:pt x="3657600" y="0"/>
                  </a:lnTo>
                </a:path>
              </a:pathLst>
            </a:custGeom>
            <a:noFill/>
            <a:ln w="11430">
              <a:solidFill>
                <a:srgbClr val="7A716B"/>
              </a:solidFill>
              <a:custDash>
                <a:ds d="333333" sp="250000"/>
              </a:custDash>
            </a:ln>
          </p:spPr>
        </p:sp>
        <p:sp>
          <p:nvSpPr>
            <p:cNvPr id="127" name="Polyline 127"/>
            <p:cNvSpPr/>
            <p:nvPr/>
          </p:nvSpPr>
          <p:spPr>
            <a:xfrm>
              <a:off x="3619500" y="3389948"/>
              <a:ext cx="3657600" cy="770573"/>
            </a:xfrm>
            <a:custGeom>
              <a:avLst/>
              <a:gdLst/>
              <a:ahLst/>
              <a:cxnLst/>
              <a:rect l="l" t="t" r="r" b="b"/>
              <a:pathLst>
                <a:path w="3657600" h="770573">
                  <a:moveTo>
                    <a:pt x="0" y="0"/>
                  </a:moveTo>
                  <a:lnTo>
                    <a:pt x="731520" y="265748"/>
                  </a:lnTo>
                  <a:lnTo>
                    <a:pt x="1463040" y="492443"/>
                  </a:lnTo>
                  <a:lnTo>
                    <a:pt x="2194560" y="605790"/>
                  </a:lnTo>
                  <a:lnTo>
                    <a:pt x="2926080" y="681990"/>
                  </a:lnTo>
                  <a:lnTo>
                    <a:pt x="3657600" y="770573"/>
                  </a:lnTo>
                </a:path>
              </a:pathLst>
            </a:custGeom>
            <a:noFill/>
            <a:ln w="20955">
              <a:solidFill>
                <a:srgbClr val="C41D00"/>
              </a:solidFill>
            </a:ln>
          </p:spPr>
        </p:sp>
        <p:sp>
          <p:nvSpPr>
            <p:cNvPr id="128" name="Ellipse 128"/>
            <p:cNvSpPr/>
            <p:nvPr/>
          </p:nvSpPr>
          <p:spPr>
            <a:xfrm>
              <a:off x="3590925" y="3361372"/>
              <a:ext cx="57150" cy="57150"/>
            </a:xfrm>
            <a:prstGeom prst="ellipse">
              <a:avLst/>
            </a:prstGeom>
            <a:solidFill>
              <a:srgbClr val="C41D00"/>
            </a:solidFill>
            <a:ln>
              <a:noFill/>
            </a:ln>
          </p:spPr>
        </p:sp>
        <p:sp>
          <p:nvSpPr>
            <p:cNvPr id="129" name="Ellipse 129"/>
            <p:cNvSpPr/>
            <p:nvPr/>
          </p:nvSpPr>
          <p:spPr>
            <a:xfrm>
              <a:off x="4322445" y="3627120"/>
              <a:ext cx="57150" cy="57150"/>
            </a:xfrm>
            <a:prstGeom prst="ellipse">
              <a:avLst/>
            </a:prstGeom>
            <a:solidFill>
              <a:srgbClr val="C41D00"/>
            </a:solidFill>
            <a:ln>
              <a:noFill/>
            </a:ln>
          </p:spPr>
        </p:sp>
        <p:sp>
          <p:nvSpPr>
            <p:cNvPr id="130" name="Ellipse 130"/>
            <p:cNvSpPr/>
            <p:nvPr/>
          </p:nvSpPr>
          <p:spPr>
            <a:xfrm>
              <a:off x="5053965" y="3853815"/>
              <a:ext cx="57150" cy="57150"/>
            </a:xfrm>
            <a:prstGeom prst="ellipse">
              <a:avLst/>
            </a:prstGeom>
            <a:solidFill>
              <a:srgbClr val="C41D00"/>
            </a:solidFill>
            <a:ln>
              <a:noFill/>
            </a:ln>
          </p:spPr>
        </p:sp>
        <p:sp>
          <p:nvSpPr>
            <p:cNvPr id="131" name="Ellipse 131"/>
            <p:cNvSpPr/>
            <p:nvPr/>
          </p:nvSpPr>
          <p:spPr>
            <a:xfrm>
              <a:off x="5785485" y="3967162"/>
              <a:ext cx="57150" cy="57150"/>
            </a:xfrm>
            <a:prstGeom prst="ellipse">
              <a:avLst/>
            </a:prstGeom>
            <a:solidFill>
              <a:srgbClr val="C41D00"/>
            </a:solidFill>
            <a:ln>
              <a:noFill/>
            </a:ln>
          </p:spPr>
        </p:sp>
        <p:sp>
          <p:nvSpPr>
            <p:cNvPr id="132" name="Ellipse 132"/>
            <p:cNvSpPr/>
            <p:nvPr/>
          </p:nvSpPr>
          <p:spPr>
            <a:xfrm>
              <a:off x="6517005" y="4043362"/>
              <a:ext cx="57150" cy="57150"/>
            </a:xfrm>
            <a:prstGeom prst="ellipse">
              <a:avLst/>
            </a:prstGeom>
            <a:solidFill>
              <a:srgbClr val="C41D00"/>
            </a:solidFill>
            <a:ln>
              <a:noFill/>
            </a:ln>
          </p:spPr>
        </p:sp>
        <p:sp>
          <p:nvSpPr>
            <p:cNvPr id="133" name="Ellipse 133"/>
            <p:cNvSpPr/>
            <p:nvPr/>
          </p:nvSpPr>
          <p:spPr>
            <a:xfrm>
              <a:off x="7248525" y="4131945"/>
              <a:ext cx="57150" cy="57150"/>
            </a:xfrm>
            <a:prstGeom prst="ellipse">
              <a:avLst/>
            </a:prstGeom>
            <a:solidFill>
              <a:srgbClr val="C41D00"/>
            </a:solidFill>
            <a:ln>
              <a:noFill/>
            </a:ln>
          </p:spPr>
        </p:sp>
        <p:sp>
          <p:nvSpPr>
            <p:cNvPr id="134" name="TextBox 134"/>
            <p:cNvSpPr txBox="1"/>
            <p:nvPr/>
          </p:nvSpPr>
          <p:spPr>
            <a:xfrm>
              <a:off x="3671888" y="3288030"/>
              <a:ext cx="289400" cy="119062"/>
            </a:xfrm>
            <a:prstGeom prst="rect">
              <a:avLst/>
            </a:prstGeom>
            <a:noFill/>
            <a:ln>
              <a:noFill/>
            </a:ln>
          </p:spPr>
          <p:txBody>
            <a:bodyPr wrap="none" lIns="0" tIns="0" rIns="0" bIns="0" anchor="t" anchorCtr="0">
              <a:spAutoFit/>
            </a:bodyPr>
            <a:lstStyle/>
            <a:p>
              <a:pPr algn="l"/>
              <a:r>
                <a:rPr lang="en-US" sz="600" b="1" dirty="0">
                  <a:solidFill>
                    <a:srgbClr val="3D3835"/>
                  </a:solidFill>
                  <a:latin typeface="+mn-lt"/>
                  <a:ea typeface="+mn-ea"/>
                  <a:cs typeface="+mn-cs"/>
                </a:rPr>
                <a:t>7.1x​​</a:t>
              </a:r>
            </a:p>
          </p:txBody>
        </p:sp>
        <p:sp>
          <p:nvSpPr>
            <p:cNvPr id="135" name="TextBox 135"/>
            <p:cNvSpPr txBox="1"/>
            <p:nvPr/>
          </p:nvSpPr>
          <p:spPr>
            <a:xfrm>
              <a:off x="4395788" y="3545205"/>
              <a:ext cx="289400" cy="119062"/>
            </a:xfrm>
            <a:prstGeom prst="rect">
              <a:avLst/>
            </a:prstGeom>
            <a:noFill/>
            <a:ln>
              <a:noFill/>
            </a:ln>
          </p:spPr>
          <p:txBody>
            <a:bodyPr wrap="none" lIns="0" tIns="0" rIns="0" bIns="0" anchor="t" anchorCtr="0">
              <a:spAutoFit/>
            </a:bodyPr>
            <a:lstStyle/>
            <a:p>
              <a:pPr algn="l"/>
              <a:r>
                <a:rPr lang="en-US" sz="600" b="1" dirty="0">
                  <a:solidFill>
                    <a:srgbClr val="3D3835"/>
                  </a:solidFill>
                  <a:latin typeface="+mn-lt"/>
                  <a:ea typeface="+mn-ea"/>
                  <a:cs typeface="+mn-cs"/>
                </a:rPr>
                <a:t>5.0x​​</a:t>
              </a:r>
            </a:p>
          </p:txBody>
        </p:sp>
        <p:sp>
          <p:nvSpPr>
            <p:cNvPr id="136" name="TextBox 136"/>
            <p:cNvSpPr txBox="1"/>
            <p:nvPr/>
          </p:nvSpPr>
          <p:spPr>
            <a:xfrm>
              <a:off x="5129212" y="3773805"/>
              <a:ext cx="289400" cy="119062"/>
            </a:xfrm>
            <a:prstGeom prst="rect">
              <a:avLst/>
            </a:prstGeom>
            <a:noFill/>
            <a:ln>
              <a:noFill/>
            </a:ln>
          </p:spPr>
          <p:txBody>
            <a:bodyPr wrap="none" lIns="0" tIns="0" rIns="0" bIns="0" anchor="t" anchorCtr="0">
              <a:spAutoFit/>
            </a:bodyPr>
            <a:lstStyle/>
            <a:p>
              <a:pPr algn="l"/>
              <a:r>
                <a:rPr lang="en-US" sz="600" b="1" dirty="0">
                  <a:solidFill>
                    <a:srgbClr val="3D3835"/>
                  </a:solidFill>
                  <a:latin typeface="+mn-lt"/>
                  <a:ea typeface="+mn-ea"/>
                  <a:cs typeface="+mn-cs"/>
                </a:rPr>
                <a:t>3.2x​​</a:t>
              </a:r>
            </a:p>
          </p:txBody>
        </p:sp>
        <p:sp>
          <p:nvSpPr>
            <p:cNvPr id="137" name="TextBox 137"/>
            <p:cNvSpPr txBox="1"/>
            <p:nvPr/>
          </p:nvSpPr>
          <p:spPr>
            <a:xfrm>
              <a:off x="5862638" y="3888105"/>
              <a:ext cx="289400" cy="119062"/>
            </a:xfrm>
            <a:prstGeom prst="rect">
              <a:avLst/>
            </a:prstGeom>
            <a:noFill/>
            <a:ln>
              <a:noFill/>
            </a:ln>
          </p:spPr>
          <p:txBody>
            <a:bodyPr wrap="none" lIns="0" tIns="0" rIns="0" bIns="0" anchor="t" anchorCtr="0">
              <a:spAutoFit/>
            </a:bodyPr>
            <a:lstStyle/>
            <a:p>
              <a:pPr algn="l"/>
              <a:r>
                <a:rPr lang="en-US" sz="600" b="1" dirty="0">
                  <a:solidFill>
                    <a:srgbClr val="3D3835"/>
                  </a:solidFill>
                  <a:latin typeface="+mn-lt"/>
                  <a:ea typeface="+mn-ea"/>
                  <a:cs typeface="+mn-cs"/>
                </a:rPr>
                <a:t>2.3x​​</a:t>
              </a:r>
            </a:p>
          </p:txBody>
        </p:sp>
        <p:sp>
          <p:nvSpPr>
            <p:cNvPr id="138" name="TextBox 138"/>
            <p:cNvSpPr txBox="1"/>
            <p:nvPr/>
          </p:nvSpPr>
          <p:spPr>
            <a:xfrm>
              <a:off x="6596062" y="3964305"/>
              <a:ext cx="289400" cy="119062"/>
            </a:xfrm>
            <a:prstGeom prst="rect">
              <a:avLst/>
            </a:prstGeom>
            <a:noFill/>
            <a:ln>
              <a:noFill/>
            </a:ln>
          </p:spPr>
          <p:txBody>
            <a:bodyPr wrap="none" lIns="0" tIns="0" rIns="0" bIns="0" anchor="t" anchorCtr="0">
              <a:spAutoFit/>
            </a:bodyPr>
            <a:lstStyle/>
            <a:p>
              <a:pPr algn="l"/>
              <a:r>
                <a:rPr lang="en-US" sz="600" b="1" dirty="0">
                  <a:solidFill>
                    <a:srgbClr val="3D3835"/>
                  </a:solidFill>
                  <a:latin typeface="+mn-lt"/>
                  <a:ea typeface="+mn-ea"/>
                  <a:cs typeface="+mn-cs"/>
                </a:rPr>
                <a:t>1.7x​​</a:t>
              </a:r>
            </a:p>
          </p:txBody>
        </p:sp>
        <p:sp>
          <p:nvSpPr>
            <p:cNvPr id="139" name="TextBox 139"/>
            <p:cNvSpPr txBox="1"/>
            <p:nvPr/>
          </p:nvSpPr>
          <p:spPr>
            <a:xfrm>
              <a:off x="6973413" y="4050030"/>
              <a:ext cx="289400" cy="119062"/>
            </a:xfrm>
            <a:prstGeom prst="rect">
              <a:avLst/>
            </a:prstGeom>
            <a:noFill/>
            <a:ln>
              <a:noFill/>
            </a:ln>
          </p:spPr>
          <p:txBody>
            <a:bodyPr wrap="none" lIns="0" tIns="0" rIns="0" bIns="0" anchor="t" anchorCtr="0">
              <a:spAutoFit/>
            </a:bodyPr>
            <a:lstStyle/>
            <a:p>
              <a:pPr algn="r"/>
              <a:r>
                <a:rPr lang="en-US" sz="600" b="1" dirty="0">
                  <a:solidFill>
                    <a:srgbClr val="3D3835"/>
                  </a:solidFill>
                  <a:latin typeface="+mn-lt"/>
                  <a:ea typeface="+mn-ea"/>
                  <a:cs typeface="+mn-cs"/>
                </a:rPr>
                <a:t>​​1.0x</a:t>
              </a:r>
            </a:p>
          </p:txBody>
        </p:sp>
        <p:sp>
          <p:nvSpPr>
            <p:cNvPr id="140" name="Line 140"/>
            <p:cNvSpPr/>
            <p:nvPr/>
          </p:nvSpPr>
          <p:spPr>
            <a:xfrm>
              <a:off x="3810000" y="3810000"/>
              <a:ext cx="152400" cy="9525"/>
            </a:xfrm>
            <a:custGeom>
              <a:avLst/>
              <a:gdLst/>
              <a:ahLst/>
              <a:cxnLst/>
              <a:rect l="l" t="t" r="r" b="b"/>
              <a:pathLst>
                <a:path w="152400" h="9525">
                  <a:moveTo>
                    <a:pt x="0" y="0"/>
                  </a:moveTo>
                  <a:lnTo>
                    <a:pt x="152400" y="0"/>
                  </a:lnTo>
                </a:path>
              </a:pathLst>
            </a:custGeom>
            <a:noFill/>
            <a:ln w="19050">
              <a:solidFill>
                <a:srgbClr val="C41D00"/>
              </a:solidFill>
            </a:ln>
          </p:spPr>
        </p:sp>
        <p:sp>
          <p:nvSpPr>
            <p:cNvPr id="141" name="TextBox 141"/>
            <p:cNvSpPr txBox="1"/>
            <p:nvPr/>
          </p:nvSpPr>
          <p:spPr>
            <a:xfrm>
              <a:off x="3995738" y="3773805"/>
              <a:ext cx="420910"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模型Lift​​</a:t>
              </a:r>
            </a:p>
          </p:txBody>
        </p:sp>
        <p:sp>
          <p:nvSpPr>
            <p:cNvPr id="142" name="Line 142"/>
            <p:cNvSpPr/>
            <p:nvPr/>
          </p:nvSpPr>
          <p:spPr>
            <a:xfrm>
              <a:off x="3810000" y="3933825"/>
              <a:ext cx="152400" cy="9525"/>
            </a:xfrm>
            <a:custGeom>
              <a:avLst/>
              <a:gdLst/>
              <a:ahLst/>
              <a:cxnLst/>
              <a:rect l="l" t="t" r="r" b="b"/>
              <a:pathLst>
                <a:path w="152400" h="9525">
                  <a:moveTo>
                    <a:pt x="0" y="0"/>
                  </a:moveTo>
                  <a:lnTo>
                    <a:pt x="152400" y="0"/>
                  </a:lnTo>
                </a:path>
              </a:pathLst>
            </a:custGeom>
            <a:noFill/>
            <a:ln w="11430">
              <a:solidFill>
                <a:srgbClr val="7A716B"/>
              </a:solidFill>
              <a:custDash>
                <a:ds d="333333" sp="250000"/>
              </a:custDash>
            </a:ln>
          </p:spPr>
        </p:sp>
        <p:sp>
          <p:nvSpPr>
            <p:cNvPr id="143" name="TextBox 143"/>
            <p:cNvSpPr txBox="1"/>
            <p:nvPr/>
          </p:nvSpPr>
          <p:spPr>
            <a:xfrm>
              <a:off x="3995738" y="3897630"/>
              <a:ext cx="787165"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随机Lift（基准）​​​</a:t>
              </a:r>
            </a:p>
          </p:txBody>
        </p:sp>
        <p:sp>
          <p:nvSpPr>
            <p:cNvPr id="144" name="Rectangle 144"/>
            <p:cNvSpPr/>
            <p:nvPr/>
          </p:nvSpPr>
          <p:spPr>
            <a:xfrm>
              <a:off x="5772150" y="3314700"/>
              <a:ext cx="1485900" cy="304800"/>
            </a:xfrm>
            <a:prstGeom prst="roundRect">
              <a:avLst>
                <a:gd name="adj" fmla="val 9375"/>
              </a:avLst>
            </a:prstGeom>
            <a:solidFill>
              <a:srgbClr val="FEF2E6"/>
            </a:solidFill>
            <a:ln w="9525">
              <a:solidFill>
                <a:srgbClr val="F0B8AE"/>
              </a:solidFill>
            </a:ln>
          </p:spPr>
        </p:sp>
        <p:sp>
          <p:nvSpPr>
            <p:cNvPr id="145" name="TextBox 145"/>
            <p:cNvSpPr txBox="1"/>
            <p:nvPr/>
          </p:nvSpPr>
          <p:spPr>
            <a:xfrm>
              <a:off x="5948164" y="3369707"/>
              <a:ext cx="1133871"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​​覆盖前20%高风险客户，​​</a:t>
              </a:r>
            </a:p>
          </p:txBody>
        </p:sp>
        <p:sp>
          <p:nvSpPr>
            <p:cNvPr id="146" name="TextBox 146"/>
            <p:cNvSpPr txBox="1"/>
            <p:nvPr/>
          </p:nvSpPr>
          <p:spPr>
            <a:xfrm>
              <a:off x="6083010" y="3493532"/>
              <a:ext cx="864180"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 xml:space="preserve">​流失率提升 </a:t>
              </a:r>
              <a:r>
                <a:rPr lang="zh-CN" sz="820" b="1" dirty="0">
                  <a:solidFill>
                    <a:srgbClr val="C41D00"/>
                  </a:solidFill>
                  <a:latin typeface="+mn-lt"/>
                  <a:ea typeface="+mn-ea"/>
                  <a:cs typeface="+mn-cs"/>
                </a:rPr>
                <a:t>7.1</a:t>
              </a:r>
              <a:r>
                <a:rPr lang="zh-CN" sz="640" dirty="0">
                  <a:solidFill>
                    <a:srgbClr val="4A130A"/>
                  </a:solidFill>
                  <a:latin typeface="+mn-lt"/>
                  <a:ea typeface="+mn-ea"/>
                  <a:cs typeface="+mn-cs"/>
                </a:rPr>
                <a:t xml:space="preserve"> 倍​</a:t>
              </a:r>
            </a:p>
          </p:txBody>
        </p:sp>
        <p:sp>
          <p:nvSpPr>
            <p:cNvPr id="147" name="TextBox 147"/>
            <p:cNvSpPr txBox="1"/>
            <p:nvPr/>
          </p:nvSpPr>
          <p:spPr>
            <a:xfrm>
              <a:off x="3524273" y="4339828"/>
              <a:ext cx="190454"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​0%​</a:t>
              </a:r>
            </a:p>
          </p:txBody>
        </p:sp>
        <p:sp>
          <p:nvSpPr>
            <p:cNvPr id="148" name="TextBox 148"/>
            <p:cNvSpPr txBox="1"/>
            <p:nvPr/>
          </p:nvSpPr>
          <p:spPr>
            <a:xfrm>
              <a:off x="4235061" y="4339828"/>
              <a:ext cx="231917"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​20%​</a:t>
              </a:r>
            </a:p>
          </p:txBody>
        </p:sp>
        <p:sp>
          <p:nvSpPr>
            <p:cNvPr id="149" name="TextBox 149"/>
            <p:cNvSpPr txBox="1"/>
            <p:nvPr/>
          </p:nvSpPr>
          <p:spPr>
            <a:xfrm>
              <a:off x="4966581" y="4339828"/>
              <a:ext cx="231917"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​40%​</a:t>
              </a:r>
            </a:p>
          </p:txBody>
        </p:sp>
        <p:sp>
          <p:nvSpPr>
            <p:cNvPr id="150" name="TextBox 150"/>
            <p:cNvSpPr txBox="1"/>
            <p:nvPr/>
          </p:nvSpPr>
          <p:spPr>
            <a:xfrm>
              <a:off x="5698101" y="4339828"/>
              <a:ext cx="231917"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​60%​</a:t>
              </a:r>
            </a:p>
          </p:txBody>
        </p:sp>
        <p:sp>
          <p:nvSpPr>
            <p:cNvPr id="151" name="TextBox 151"/>
            <p:cNvSpPr txBox="1"/>
            <p:nvPr/>
          </p:nvSpPr>
          <p:spPr>
            <a:xfrm>
              <a:off x="6429621" y="4339828"/>
              <a:ext cx="231917"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​80%​</a:t>
              </a:r>
            </a:p>
          </p:txBody>
        </p:sp>
        <p:sp>
          <p:nvSpPr>
            <p:cNvPr id="152" name="TextBox 152"/>
            <p:cNvSpPr txBox="1"/>
            <p:nvPr/>
          </p:nvSpPr>
          <p:spPr>
            <a:xfrm>
              <a:off x="6989432" y="4339828"/>
              <a:ext cx="273380" cy="111919"/>
            </a:xfrm>
            <a:prstGeom prst="rect">
              <a:avLst/>
            </a:prstGeom>
            <a:noFill/>
            <a:ln>
              <a:noFill/>
            </a:ln>
          </p:spPr>
          <p:txBody>
            <a:bodyPr wrap="none" lIns="0" tIns="0" rIns="0" bIns="0" anchor="t" anchorCtr="0">
              <a:spAutoFit/>
            </a:bodyPr>
            <a:lstStyle/>
            <a:p>
              <a:pPr algn="r"/>
              <a:r>
                <a:rPr lang="zh-CN" sz="560" dirty="0">
                  <a:solidFill>
                    <a:srgbClr val="7A716B"/>
                  </a:solidFill>
                  <a:latin typeface="+mn-lt"/>
                  <a:ea typeface="+mn-ea"/>
                  <a:cs typeface="+mn-cs"/>
                </a:rPr>
                <a:t>​​100%</a:t>
              </a:r>
            </a:p>
          </p:txBody>
        </p:sp>
        <p:sp>
          <p:nvSpPr>
            <p:cNvPr id="153" name="TextBox 153"/>
            <p:cNvSpPr txBox="1"/>
            <p:nvPr/>
          </p:nvSpPr>
          <p:spPr>
            <a:xfrm>
              <a:off x="4752937" y="4469130"/>
              <a:ext cx="1390726"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​按风险得分从高到低的客户覆盖比例​</a:t>
              </a:r>
            </a:p>
          </p:txBody>
        </p:sp>
      </p:grpSp>
      <p:grpSp>
        <p:nvGrpSpPr>
          <p:cNvPr id="222" name="retention-playbook"/>
          <p:cNvGrpSpPr/>
          <p:nvPr/>
        </p:nvGrpSpPr>
        <p:grpSpPr>
          <a:xfrm>
            <a:off x="7429500" y="685800"/>
            <a:ext cx="4381500" cy="3886200"/>
            <a:chOff x="7429500" y="685800"/>
            <a:chExt cx="4381500" cy="3886200"/>
          </a:xfrm>
        </p:grpSpPr>
        <p:sp>
          <p:nvSpPr>
            <p:cNvPr id="155" name="Rectangle 155"/>
            <p:cNvSpPr/>
            <p:nvPr/>
          </p:nvSpPr>
          <p:spPr>
            <a:xfrm>
              <a:off x="7429500" y="685800"/>
              <a:ext cx="4381500" cy="228600"/>
            </a:xfrm>
            <a:prstGeom prst="roundRect">
              <a:avLst>
                <a:gd name="adj" fmla="val 12500"/>
              </a:avLst>
            </a:prstGeom>
            <a:solidFill>
              <a:srgbClr val="C41D00"/>
            </a:solidFill>
            <a:ln>
              <a:noFill/>
            </a:ln>
          </p:spPr>
        </p:sp>
        <p:sp>
          <p:nvSpPr>
            <p:cNvPr id="156" name="TextBox 156"/>
            <p:cNvSpPr txBox="1"/>
            <p:nvPr/>
          </p:nvSpPr>
          <p:spPr>
            <a:xfrm>
              <a:off x="8448783" y="754618"/>
              <a:ext cx="234293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​留存行动手册（按流失原因制定修复策略）​</a:t>
              </a:r>
            </a:p>
          </p:txBody>
        </p:sp>
        <p:sp>
          <p:nvSpPr>
            <p:cNvPr id="157" name="Rectangle 157"/>
            <p:cNvSpPr/>
            <p:nvPr/>
          </p:nvSpPr>
          <p:spPr>
            <a:xfrm>
              <a:off x="7429500" y="952500"/>
              <a:ext cx="4381500" cy="190500"/>
            </a:xfrm>
            <a:prstGeom prst="rect">
              <a:avLst/>
            </a:prstGeom>
            <a:solidFill>
              <a:srgbClr val="FEF2E6"/>
            </a:solidFill>
            <a:ln w="9525">
              <a:solidFill>
                <a:srgbClr val="F0B8AE"/>
              </a:solidFill>
            </a:ln>
          </p:spPr>
        </p:sp>
        <p:sp>
          <p:nvSpPr>
            <p:cNvPr id="158" name="TextBox 158"/>
            <p:cNvSpPr txBox="1"/>
            <p:nvPr/>
          </p:nvSpPr>
          <p:spPr>
            <a:xfrm>
              <a:off x="7632179" y="10129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流失原因</a:t>
              </a:r>
            </a:p>
          </p:txBody>
        </p:sp>
        <p:sp>
          <p:nvSpPr>
            <p:cNvPr id="159" name="TextBox 159"/>
            <p:cNvSpPr txBox="1"/>
            <p:nvPr/>
          </p:nvSpPr>
          <p:spPr>
            <a:xfrm>
              <a:off x="8465173" y="1012984"/>
              <a:ext cx="900454"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​干预策略/主要动作​</a:t>
              </a:r>
            </a:p>
          </p:txBody>
        </p:sp>
        <p:sp>
          <p:nvSpPr>
            <p:cNvPr id="160" name="TextBox 160"/>
            <p:cNvSpPr txBox="1"/>
            <p:nvPr/>
          </p:nvSpPr>
          <p:spPr>
            <a:xfrm>
              <a:off x="9737204" y="10129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触达渠道</a:t>
              </a:r>
            </a:p>
          </p:txBody>
        </p:sp>
        <p:sp>
          <p:nvSpPr>
            <p:cNvPr id="161" name="TextBox 161"/>
            <p:cNvSpPr txBox="1"/>
            <p:nvPr/>
          </p:nvSpPr>
          <p:spPr>
            <a:xfrm>
              <a:off x="10299790" y="1012984"/>
              <a:ext cx="717370"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​权益/方案示例​</a:t>
              </a:r>
            </a:p>
          </p:txBody>
        </p:sp>
        <p:sp>
          <p:nvSpPr>
            <p:cNvPr id="162" name="TextBox 162"/>
            <p:cNvSpPr txBox="1"/>
            <p:nvPr/>
          </p:nvSpPr>
          <p:spPr>
            <a:xfrm>
              <a:off x="11172931" y="1012984"/>
              <a:ext cx="552237"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​​核心KPI​​</a:t>
              </a:r>
            </a:p>
          </p:txBody>
        </p:sp>
        <p:sp>
          <p:nvSpPr>
            <p:cNvPr id="163" name="Rectangle 163"/>
            <p:cNvSpPr/>
            <p:nvPr/>
          </p:nvSpPr>
          <p:spPr>
            <a:xfrm>
              <a:off x="7429500" y="1143000"/>
              <a:ext cx="4381500" cy="3429000"/>
            </a:xfrm>
            <a:prstGeom prst="rect">
              <a:avLst/>
            </a:prstGeom>
            <a:solidFill>
              <a:srgbClr val="FFFFFF"/>
            </a:solidFill>
            <a:ln w="9525">
              <a:solidFill>
                <a:srgbClr val="F0B8AE"/>
              </a:solidFill>
            </a:ln>
          </p:spPr>
        </p:sp>
        <p:sp>
          <p:nvSpPr>
            <p:cNvPr id="164" name="Rectangle 164"/>
            <p:cNvSpPr/>
            <p:nvPr/>
          </p:nvSpPr>
          <p:spPr>
            <a:xfrm>
              <a:off x="7429500" y="1828800"/>
              <a:ext cx="4381500" cy="685800"/>
            </a:xfrm>
            <a:prstGeom prst="rect">
              <a:avLst/>
            </a:prstGeom>
            <a:solidFill>
              <a:srgbClr val="FFF8F2"/>
            </a:solidFill>
            <a:ln>
              <a:noFill/>
            </a:ln>
          </p:spPr>
        </p:sp>
        <p:sp>
          <p:nvSpPr>
            <p:cNvPr id="165" name="Rectangle 165"/>
            <p:cNvSpPr/>
            <p:nvPr/>
          </p:nvSpPr>
          <p:spPr>
            <a:xfrm>
              <a:off x="7429500" y="3200400"/>
              <a:ext cx="4381500" cy="685800"/>
            </a:xfrm>
            <a:prstGeom prst="rect">
              <a:avLst/>
            </a:prstGeom>
            <a:solidFill>
              <a:srgbClr val="FFF8F2"/>
            </a:solidFill>
            <a:ln>
              <a:noFill/>
            </a:ln>
          </p:spPr>
        </p:sp>
        <p:grpSp>
          <p:nvGrpSpPr>
            <p:cNvPr id="171" name="Group 171"/>
            <p:cNvGrpSpPr/>
            <p:nvPr/>
          </p:nvGrpSpPr>
          <p:grpSpPr>
            <a:xfrm>
              <a:off x="7508081" y="1420649"/>
              <a:ext cx="128588" cy="129545"/>
              <a:chOff x="7508081" y="1420649"/>
              <a:chExt cx="128588" cy="129545"/>
            </a:xfrm>
          </p:grpSpPr>
          <p:sp>
            <p:nvSpPr>
              <p:cNvPr id="166" name="Freeform 166"/>
              <p:cNvSpPr/>
              <p:nvPr/>
            </p:nvSpPr>
            <p:spPr>
              <a:xfrm>
                <a:off x="7550944" y="147875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D82000"/>
                </a:solidFill>
              </a:ln>
            </p:spPr>
          </p:sp>
          <p:sp>
            <p:nvSpPr>
              <p:cNvPr id="167" name="Freeform 167"/>
              <p:cNvSpPr/>
              <p:nvPr/>
            </p:nvSpPr>
            <p:spPr>
              <a:xfrm>
                <a:off x="7550944" y="150018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D82000"/>
                </a:solidFill>
              </a:ln>
            </p:spPr>
          </p:sp>
          <p:sp>
            <p:nvSpPr>
              <p:cNvPr id="168" name="Freeform 168"/>
              <p:cNvSpPr/>
              <p:nvPr/>
            </p:nvSpPr>
            <p:spPr>
              <a:xfrm>
                <a:off x="7508081" y="142064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D82000"/>
                </a:solidFill>
              </a:ln>
            </p:spPr>
          </p:sp>
          <p:sp>
            <p:nvSpPr>
              <p:cNvPr id="169" name="Freeform 169"/>
              <p:cNvSpPr/>
              <p:nvPr/>
            </p:nvSpPr>
            <p:spPr>
              <a:xfrm>
                <a:off x="7508081" y="144303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D82000"/>
                </a:solidFill>
              </a:ln>
            </p:spPr>
          </p:sp>
          <p:sp>
            <p:nvSpPr>
              <p:cNvPr id="170" name="Freeform 170"/>
              <p:cNvSpPr/>
              <p:nvPr/>
            </p:nvSpPr>
            <p:spPr>
              <a:xfrm>
                <a:off x="7508081" y="147875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D82000"/>
                </a:solidFill>
              </a:ln>
            </p:spPr>
          </p:sp>
        </p:grpSp>
        <p:sp>
          <p:nvSpPr>
            <p:cNvPr id="172" name="TextBox 172"/>
            <p:cNvSpPr txBox="1"/>
            <p:nvPr/>
          </p:nvSpPr>
          <p:spPr>
            <a:xfrm>
              <a:off x="7710488" y="1365409"/>
              <a:ext cx="504584" cy="247650"/>
            </a:xfrm>
            <a:prstGeom prst="rect">
              <a:avLst/>
            </a:prstGeom>
            <a:noFill/>
            <a:ln>
              <a:noFill/>
            </a:ln>
          </p:spPr>
          <p:txBody>
            <a:bodyPr wrap="none" lIns="0" tIns="0" rIns="0" bIns="0" anchor="t" anchorCtr="0">
              <a:spAutoFit/>
            </a:bodyPr>
            <a:lstStyle/>
            <a:p>
              <a:pPr algn="l">
                <a:lnSpc>
                  <a:spcPts val="900"/>
                </a:lnSpc>
              </a:pPr>
              <a:r>
                <a:rPr lang="zh-CN" sz="680" b="1" dirty="0">
                  <a:solidFill>
                    <a:srgbClr val="4A130A"/>
                  </a:solidFill>
                  <a:latin typeface="+mn-lt"/>
                  <a:ea typeface="+mn-ea"/>
                  <a:cs typeface="+mn-cs"/>
                </a:rPr>
                <a:t>利率/费用​​</a:t>
              </a:r>
              <a:br/>
              <a:r>
                <a:rPr lang="zh-CN" sz="680" b="1" dirty="0">
                  <a:solidFill>
                    <a:srgbClr val="4A130A"/>
                  </a:solidFill>
                  <a:latin typeface="+mn-lt"/>
                  <a:ea typeface="+mn-ea"/>
                  <a:cs typeface="+mn-cs"/>
                </a:rPr>
                <a:t>敏感</a:t>
              </a:r>
            </a:p>
          </p:txBody>
        </p:sp>
        <p:sp>
          <p:nvSpPr>
            <p:cNvPr id="173" name="TextBox 173"/>
            <p:cNvSpPr txBox="1"/>
            <p:nvPr/>
          </p:nvSpPr>
          <p:spPr>
            <a:xfrm>
              <a:off x="8262938" y="1302782"/>
              <a:ext cx="914781" cy="354806"/>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40" dirty="0">
                  <a:solidFill>
                    <a:srgbClr val="3D3835"/>
                  </a:solidFill>
                  <a:latin typeface="+mn-lt"/>
                  <a:ea typeface="+mn-ea"/>
                  <a:cs typeface="+mn-cs"/>
                </a:rPr>
                <a:t>费用减免/利率优化​​​</a:t>
              </a:r>
            </a:p>
            <a:p>
              <a:pPr algn="l" marL="76200" indent="-76200">
                <a:lnSpc>
                  <a:spcPts val="900"/>
                </a:lnSpc>
                <a:buClr>
                  <a:srgbClr val="3D3835"/>
                </a:buClr>
                <a:buSzTx/>
                <a:buFontTx/>
                <a:buChar char="•"/>
              </a:pPr>
              <a:r>
                <a:rPr lang="zh-CN" sz="640" dirty="0">
                  <a:solidFill>
                    <a:srgbClr val="3D3835"/>
                  </a:solidFill>
                  <a:latin typeface="+mn-lt"/>
                  <a:ea typeface="+mn-ea"/>
                  <a:cs typeface="+mn-cs"/>
                </a:rPr>
                <a:t>产品结构优化建议​​</a:t>
              </a:r>
            </a:p>
            <a:p>
              <a:pPr algn="l" marL="76200" indent="-76200">
                <a:lnSpc>
                  <a:spcPts val="900"/>
                </a:lnSpc>
                <a:buClr>
                  <a:srgbClr val="3D3835"/>
                </a:buClr>
                <a:buSzTx/>
                <a:buFontTx/>
                <a:buChar char="•"/>
              </a:pPr>
              <a:r>
                <a:rPr lang="zh-CN" sz="640" dirty="0">
                  <a:solidFill>
                    <a:srgbClr val="3D3835"/>
                  </a:solidFill>
                  <a:latin typeface="+mn-lt"/>
                  <a:ea typeface="+mn-ea"/>
                  <a:cs typeface="+mn-cs"/>
                </a:rPr>
                <a:t>自动化续费提醒​​</a:t>
              </a:r>
            </a:p>
          </p:txBody>
        </p:sp>
        <p:sp>
          <p:nvSpPr>
            <p:cNvPr id="174" name="TextBox 174"/>
            <p:cNvSpPr txBox="1"/>
            <p:nvPr/>
          </p:nvSpPr>
          <p:spPr>
            <a:xfrm>
              <a:off x="9682544" y="1302782"/>
              <a:ext cx="485013"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​​APP推送​​</a:t>
              </a:r>
              <a:br/>
              <a:r>
                <a:rPr lang="zh-CN" sz="640" dirty="0">
                  <a:solidFill>
                    <a:srgbClr val="3D3835"/>
                  </a:solidFill>
                  <a:latin typeface="+mn-lt"/>
                  <a:ea typeface="+mn-ea"/>
                  <a:cs typeface="+mn-cs"/>
                </a:rPr>
                <a:t>短信</a:t>
              </a:r>
              <a:br/>
              <a:r>
                <a:rPr lang="zh-CN" sz="640" dirty="0">
                  <a:solidFill>
                    <a:srgbClr val="3D3835"/>
                  </a:solidFill>
                  <a:latin typeface="+mn-lt"/>
                  <a:ea typeface="+mn-ea"/>
                  <a:cs typeface="+mn-cs"/>
                </a:rPr>
                <a:t>电话</a:t>
              </a:r>
            </a:p>
          </p:txBody>
        </p:sp>
        <p:sp>
          <p:nvSpPr>
            <p:cNvPr id="175" name="TextBox 175"/>
            <p:cNvSpPr txBox="1"/>
            <p:nvPr/>
          </p:nvSpPr>
          <p:spPr>
            <a:xfrm>
              <a:off x="10365168" y="1302782"/>
              <a:ext cx="586613"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减免手续费</a:t>
              </a:r>
              <a:br/>
              <a:r>
                <a:rPr lang="zh-CN" sz="640" dirty="0">
                  <a:solidFill>
                    <a:srgbClr val="3D3835"/>
                  </a:solidFill>
                  <a:latin typeface="+mn-lt"/>
                  <a:ea typeface="+mn-ea"/>
                  <a:cs typeface="+mn-cs"/>
                </a:rPr>
                <a:t>​定期利率上浮​</a:t>
              </a:r>
              <a:br/>
              <a:r>
                <a:rPr lang="zh-CN" sz="640" dirty="0">
                  <a:solidFill>
                    <a:srgbClr val="3D3835"/>
                  </a:solidFill>
                  <a:latin typeface="+mn-lt"/>
                  <a:ea typeface="+mn-ea"/>
                  <a:cs typeface="+mn-cs"/>
                </a:rPr>
                <a:t>转账优惠包</a:t>
              </a:r>
            </a:p>
          </p:txBody>
        </p:sp>
        <p:sp>
          <p:nvSpPr>
            <p:cNvPr id="176" name="TextBox 176"/>
            <p:cNvSpPr txBox="1"/>
            <p:nvPr/>
          </p:nvSpPr>
          <p:spPr>
            <a:xfrm>
              <a:off x="11214672" y="1245632"/>
              <a:ext cx="468757" cy="4691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挽回率</a:t>
              </a:r>
              <a:br/>
              <a:r>
                <a:rPr lang="zh-CN" sz="640" b="1" dirty="0">
                  <a:solidFill>
                    <a:srgbClr val="C41D00"/>
                  </a:solidFill>
                  <a:latin typeface="+mn-lt"/>
                  <a:ea typeface="+mn-ea"/>
                  <a:cs typeface="+mn-cs"/>
                </a:rPr>
                <a:t>​≥12%​</a:t>
              </a:r>
              <a:br/>
              <a:r>
                <a:rPr lang="zh-CN" sz="640" dirty="0">
                  <a:solidFill>
                    <a:srgbClr val="3D3835"/>
                  </a:solidFill>
                  <a:latin typeface="+mn-lt"/>
                  <a:ea typeface="+mn-ea"/>
                  <a:cs typeface="+mn-cs"/>
                </a:rPr>
                <a:t>​7日留存率​</a:t>
              </a:r>
              <a:br/>
              <a:r>
                <a:rPr lang="zh-CN" sz="640" b="1" dirty="0">
                  <a:solidFill>
                    <a:srgbClr val="C41D00"/>
                  </a:solidFill>
                  <a:latin typeface="+mn-lt"/>
                  <a:ea typeface="+mn-ea"/>
                  <a:cs typeface="+mn-cs"/>
                </a:rPr>
                <a:t>​≥70%​</a:t>
              </a:r>
            </a:p>
          </p:txBody>
        </p:sp>
        <p:sp>
          <p:nvSpPr>
            <p:cNvPr id="177" name="Freeform 177"/>
            <p:cNvSpPr/>
            <p:nvPr/>
          </p:nvSpPr>
          <p:spPr>
            <a:xfrm>
              <a:off x="7500766" y="210901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D82000"/>
              </a:solidFill>
            </a:ln>
          </p:spPr>
        </p:sp>
        <p:sp>
          <p:nvSpPr>
            <p:cNvPr id="178" name="TextBox 178"/>
            <p:cNvSpPr txBox="1"/>
            <p:nvPr/>
          </p:nvSpPr>
          <p:spPr>
            <a:xfrm>
              <a:off x="7710488" y="2136934"/>
              <a:ext cx="375691"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体验不佳</a:t>
              </a:r>
            </a:p>
          </p:txBody>
        </p:sp>
        <p:sp>
          <p:nvSpPr>
            <p:cNvPr id="179" name="TextBox 179"/>
            <p:cNvSpPr txBox="1"/>
            <p:nvPr/>
          </p:nvSpPr>
          <p:spPr>
            <a:xfrm>
              <a:off x="8262938" y="1988582"/>
              <a:ext cx="825373" cy="354806"/>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40" dirty="0">
                  <a:solidFill>
                    <a:srgbClr val="3D3835"/>
                  </a:solidFill>
                  <a:latin typeface="+mn-lt"/>
                  <a:ea typeface="+mn-ea"/>
                  <a:cs typeface="+mn-cs"/>
                </a:rPr>
                <a:t>问题修复与补偿​​</a:t>
              </a:r>
            </a:p>
            <a:p>
              <a:pPr algn="l" marL="76200" indent="-76200">
                <a:lnSpc>
                  <a:spcPts val="900"/>
                </a:lnSpc>
                <a:buClr>
                  <a:srgbClr val="3D3835"/>
                </a:buClr>
                <a:buSzTx/>
                <a:buFontTx/>
                <a:buChar char="•"/>
              </a:pPr>
              <a:r>
                <a:rPr lang="zh-CN" sz="640" dirty="0">
                  <a:solidFill>
                    <a:srgbClr val="3D3835"/>
                  </a:solidFill>
                  <a:latin typeface="+mn-lt"/>
                  <a:ea typeface="+mn-ea"/>
                  <a:cs typeface="+mn-cs"/>
                </a:rPr>
                <a:t>服务流程优化​​</a:t>
              </a:r>
            </a:p>
            <a:p>
              <a:pPr algn="l" marL="76200" indent="-76200">
                <a:lnSpc>
                  <a:spcPts val="900"/>
                </a:lnSpc>
                <a:buClr>
                  <a:srgbClr val="3D3835"/>
                </a:buClr>
                <a:buSzTx/>
                <a:buFontTx/>
                <a:buChar char="•"/>
              </a:pPr>
              <a:r>
                <a:rPr lang="zh-CN" sz="640" dirty="0">
                  <a:solidFill>
                    <a:srgbClr val="3D3835"/>
                  </a:solidFill>
                  <a:latin typeface="+mn-lt"/>
                  <a:ea typeface="+mn-ea"/>
                  <a:cs typeface="+mn-cs"/>
                </a:rPr>
                <a:t>专属客户经理回访​​</a:t>
              </a:r>
            </a:p>
          </p:txBody>
        </p:sp>
        <p:sp>
          <p:nvSpPr>
            <p:cNvPr id="180" name="TextBox 180"/>
            <p:cNvSpPr txBox="1"/>
            <p:nvPr/>
          </p:nvSpPr>
          <p:spPr>
            <a:xfrm>
              <a:off x="9717088" y="1988582"/>
              <a:ext cx="415925"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电话</a:t>
              </a:r>
              <a:br/>
              <a:r>
                <a:rPr lang="zh-CN" sz="640" dirty="0">
                  <a:solidFill>
                    <a:srgbClr val="3D3835"/>
                  </a:solidFill>
                  <a:latin typeface="+mn-lt"/>
                  <a:ea typeface="+mn-ea"/>
                  <a:cs typeface="+mn-cs"/>
                </a:rPr>
                <a:t>微信公众号</a:t>
              </a:r>
              <a:br/>
              <a:r>
                <a:rPr lang="zh-CN" sz="640" dirty="0">
                  <a:solidFill>
                    <a:srgbClr val="3D3835"/>
                  </a:solidFill>
                  <a:latin typeface="+mn-lt"/>
                  <a:ea typeface="+mn-ea"/>
                  <a:cs typeface="+mn-cs"/>
                </a:rPr>
                <a:t>网点</a:t>
              </a:r>
            </a:p>
          </p:txBody>
        </p:sp>
        <p:sp>
          <p:nvSpPr>
            <p:cNvPr id="181" name="TextBox 181"/>
            <p:cNvSpPr txBox="1"/>
            <p:nvPr/>
          </p:nvSpPr>
          <p:spPr>
            <a:xfrm>
              <a:off x="10365168" y="2045732"/>
              <a:ext cx="58661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服务补偿券</a:t>
              </a:r>
              <a:br/>
              <a:r>
                <a:rPr lang="zh-CN" sz="640" dirty="0">
                  <a:solidFill>
                    <a:srgbClr val="3D3835"/>
                  </a:solidFill>
                  <a:latin typeface="+mn-lt"/>
                  <a:ea typeface="+mn-ea"/>
                  <a:cs typeface="+mn-cs"/>
                </a:rPr>
                <a:t>​优先办理通道​</a:t>
              </a:r>
            </a:p>
          </p:txBody>
        </p:sp>
        <p:sp>
          <p:nvSpPr>
            <p:cNvPr id="182" name="TextBox 182"/>
            <p:cNvSpPr txBox="1"/>
            <p:nvPr/>
          </p:nvSpPr>
          <p:spPr>
            <a:xfrm>
              <a:off x="11241088" y="1931432"/>
              <a:ext cx="415925" cy="4691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挽回率</a:t>
              </a:r>
              <a:br/>
              <a:r>
                <a:rPr lang="zh-CN" sz="640" b="1" dirty="0">
                  <a:solidFill>
                    <a:srgbClr val="C41D00"/>
                  </a:solidFill>
                  <a:latin typeface="+mn-lt"/>
                  <a:ea typeface="+mn-ea"/>
                  <a:cs typeface="+mn-cs"/>
                </a:rPr>
                <a:t>​≥15%​</a:t>
              </a:r>
              <a:br/>
              <a:r>
                <a:rPr lang="zh-CN" sz="640" dirty="0">
                  <a:solidFill>
                    <a:srgbClr val="3D3835"/>
                  </a:solidFill>
                  <a:latin typeface="+mn-lt"/>
                  <a:ea typeface="+mn-ea"/>
                  <a:cs typeface="+mn-cs"/>
                </a:rPr>
                <a:t>满意度提升</a:t>
              </a:r>
              <a:br/>
              <a:r>
                <a:rPr lang="en-US" sz="640" b="1" dirty="0">
                  <a:solidFill>
                    <a:srgbClr val="C41D00"/>
                  </a:solidFill>
                  <a:latin typeface="+mn-lt"/>
                  <a:ea typeface="+mn-ea"/>
                  <a:cs typeface="+mn-cs"/>
                </a:rPr>
                <a:t>​≥10pt​</a:t>
              </a:r>
            </a:p>
          </p:txBody>
        </p:sp>
        <p:grpSp>
          <p:nvGrpSpPr>
            <p:cNvPr id="187" name="Group 187"/>
            <p:cNvGrpSpPr/>
            <p:nvPr/>
          </p:nvGrpSpPr>
          <p:grpSpPr>
            <a:xfrm>
              <a:off x="7508081" y="2800350"/>
              <a:ext cx="128588" cy="114300"/>
              <a:chOff x="7508081" y="2800350"/>
              <a:chExt cx="128588" cy="114300"/>
            </a:xfrm>
          </p:grpSpPr>
          <p:sp>
            <p:nvSpPr>
              <p:cNvPr id="183" name="Freeform 183"/>
              <p:cNvSpPr/>
              <p:nvPr/>
            </p:nvSpPr>
            <p:spPr>
              <a:xfrm>
                <a:off x="7508081" y="2821781"/>
                <a:ext cx="128588" cy="9525"/>
              </a:xfrm>
              <a:custGeom>
                <a:avLst/>
                <a:gdLst/>
                <a:ahLst/>
                <a:cxnLst/>
                <a:rect l="l" t="t" r="r" b="b"/>
                <a:pathLst>
                  <a:path w="128588" h="9525">
                    <a:moveTo>
                      <a:pt x="128588" y="0"/>
                    </a:moveTo>
                    <a:lnTo>
                      <a:pt x="0" y="0"/>
                    </a:lnTo>
                  </a:path>
                </a:pathLst>
              </a:custGeom>
              <a:noFill/>
              <a:ln w="14288">
                <a:solidFill>
                  <a:srgbClr val="D82000"/>
                </a:solidFill>
              </a:ln>
            </p:spPr>
          </p:sp>
          <p:sp>
            <p:nvSpPr>
              <p:cNvPr id="184" name="Freeform 184"/>
              <p:cNvSpPr/>
              <p:nvPr/>
            </p:nvSpPr>
            <p:spPr>
              <a:xfrm>
                <a:off x="7615238" y="2800350"/>
                <a:ext cx="21431" cy="42862"/>
              </a:xfrm>
              <a:custGeom>
                <a:avLst/>
                <a:gdLst/>
                <a:ahLst/>
                <a:cxnLst/>
                <a:rect l="l" t="t" r="r" b="b"/>
                <a:pathLst>
                  <a:path w="21431" h="42862">
                    <a:moveTo>
                      <a:pt x="0" y="42862"/>
                    </a:moveTo>
                    <a:lnTo>
                      <a:pt x="21431" y="21431"/>
                    </a:lnTo>
                    <a:lnTo>
                      <a:pt x="0" y="0"/>
                    </a:lnTo>
                  </a:path>
                </a:pathLst>
              </a:custGeom>
              <a:noFill/>
              <a:ln w="14288">
                <a:solidFill>
                  <a:srgbClr val="D82000"/>
                </a:solidFill>
              </a:ln>
            </p:spPr>
          </p:sp>
          <p:sp>
            <p:nvSpPr>
              <p:cNvPr id="185" name="Freeform 185"/>
              <p:cNvSpPr/>
              <p:nvPr/>
            </p:nvSpPr>
            <p:spPr>
              <a:xfrm>
                <a:off x="7508081" y="2871788"/>
                <a:ext cx="21431" cy="42862"/>
              </a:xfrm>
              <a:custGeom>
                <a:avLst/>
                <a:gdLst/>
                <a:ahLst/>
                <a:cxnLst/>
                <a:rect l="l" t="t" r="r" b="b"/>
                <a:pathLst>
                  <a:path w="21431" h="42862">
                    <a:moveTo>
                      <a:pt x="21431" y="42862"/>
                    </a:moveTo>
                    <a:lnTo>
                      <a:pt x="0" y="21431"/>
                    </a:lnTo>
                    <a:lnTo>
                      <a:pt x="21431" y="0"/>
                    </a:lnTo>
                  </a:path>
                </a:pathLst>
              </a:custGeom>
              <a:noFill/>
              <a:ln w="14288">
                <a:solidFill>
                  <a:srgbClr val="D82000"/>
                </a:solidFill>
              </a:ln>
            </p:spPr>
          </p:sp>
          <p:sp>
            <p:nvSpPr>
              <p:cNvPr id="186" name="Freeform 186"/>
              <p:cNvSpPr/>
              <p:nvPr/>
            </p:nvSpPr>
            <p:spPr>
              <a:xfrm>
                <a:off x="7508081" y="2893219"/>
                <a:ext cx="128588" cy="9525"/>
              </a:xfrm>
              <a:custGeom>
                <a:avLst/>
                <a:gdLst/>
                <a:ahLst/>
                <a:cxnLst/>
                <a:rect l="l" t="t" r="r" b="b"/>
                <a:pathLst>
                  <a:path w="128588" h="9525">
                    <a:moveTo>
                      <a:pt x="0" y="0"/>
                    </a:moveTo>
                    <a:lnTo>
                      <a:pt x="128588" y="0"/>
                    </a:lnTo>
                  </a:path>
                </a:pathLst>
              </a:custGeom>
              <a:noFill/>
              <a:ln w="14288">
                <a:solidFill>
                  <a:srgbClr val="D82000"/>
                </a:solidFill>
              </a:ln>
            </p:spPr>
          </p:sp>
        </p:grpSp>
        <p:sp>
          <p:nvSpPr>
            <p:cNvPr id="188" name="TextBox 188"/>
            <p:cNvSpPr txBox="1"/>
            <p:nvPr/>
          </p:nvSpPr>
          <p:spPr>
            <a:xfrm>
              <a:off x="7710488" y="2737009"/>
              <a:ext cx="504584" cy="247650"/>
            </a:xfrm>
            <a:prstGeom prst="rect">
              <a:avLst/>
            </a:prstGeom>
            <a:noFill/>
            <a:ln>
              <a:noFill/>
            </a:ln>
          </p:spPr>
          <p:txBody>
            <a:bodyPr wrap="none" lIns="0" tIns="0" rIns="0" bIns="0" anchor="t" anchorCtr="0">
              <a:spAutoFit/>
            </a:bodyPr>
            <a:lstStyle/>
            <a:p>
              <a:pPr algn="l">
                <a:lnSpc>
                  <a:spcPts val="900"/>
                </a:lnSpc>
              </a:pPr>
              <a:r>
                <a:rPr lang="zh-CN" sz="680" b="1" dirty="0">
                  <a:solidFill>
                    <a:srgbClr val="4A130A"/>
                  </a:solidFill>
                  <a:latin typeface="+mn-lt"/>
                  <a:ea typeface="+mn-ea"/>
                  <a:cs typeface="+mn-cs"/>
                </a:rPr>
                <a:t>转移至</a:t>
              </a:r>
              <a:br/>
              <a:r>
                <a:rPr lang="zh-CN" sz="680" b="1" dirty="0">
                  <a:solidFill>
                    <a:srgbClr val="4A130A"/>
                  </a:solidFill>
                  <a:latin typeface="+mn-lt"/>
                  <a:ea typeface="+mn-ea"/>
                  <a:cs typeface="+mn-cs"/>
                </a:rPr>
                <a:t>竞品/其他​​</a:t>
              </a:r>
            </a:p>
          </p:txBody>
        </p:sp>
        <p:sp>
          <p:nvSpPr>
            <p:cNvPr id="189" name="TextBox 189"/>
            <p:cNvSpPr txBox="1"/>
            <p:nvPr/>
          </p:nvSpPr>
          <p:spPr>
            <a:xfrm>
              <a:off x="8262938" y="2674382"/>
              <a:ext cx="987933" cy="354806"/>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40" dirty="0">
                  <a:solidFill>
                    <a:srgbClr val="3D3835"/>
                  </a:solidFill>
                  <a:latin typeface="+mn-lt"/>
                  <a:ea typeface="+mn-ea"/>
                  <a:cs typeface="+mn-cs"/>
                </a:rPr>
                <a:t>竞品对标与差异化沟通​​</a:t>
              </a:r>
            </a:p>
            <a:p>
              <a:pPr algn="l" marL="76200" indent="-76200">
                <a:lnSpc>
                  <a:spcPts val="900"/>
                </a:lnSpc>
                <a:buClr>
                  <a:srgbClr val="3D3835"/>
                </a:buClr>
                <a:buSzTx/>
                <a:buFontTx/>
                <a:buChar char="•"/>
              </a:pPr>
              <a:r>
                <a:rPr lang="zh-CN" sz="640" dirty="0">
                  <a:solidFill>
                    <a:srgbClr val="3D3835"/>
                  </a:solidFill>
                  <a:latin typeface="+mn-lt"/>
                  <a:ea typeface="+mn-ea"/>
                  <a:cs typeface="+mn-cs"/>
                </a:rPr>
                <a:t>迁移成本提示​​</a:t>
              </a:r>
            </a:p>
            <a:p>
              <a:pPr algn="l" marL="76200" indent="-76200">
                <a:lnSpc>
                  <a:spcPts val="900"/>
                </a:lnSpc>
                <a:buClr>
                  <a:srgbClr val="3D3835"/>
                </a:buClr>
                <a:buSzTx/>
                <a:buFontTx/>
                <a:buChar char="•"/>
              </a:pPr>
              <a:r>
                <a:rPr lang="zh-CN" sz="640" dirty="0">
                  <a:solidFill>
                    <a:srgbClr val="3D3835"/>
                  </a:solidFill>
                  <a:latin typeface="+mn-lt"/>
                  <a:ea typeface="+mn-ea"/>
                  <a:cs typeface="+mn-cs"/>
                </a:rPr>
                <a:t>价值重塑与权益包​​</a:t>
              </a:r>
            </a:p>
          </p:txBody>
        </p:sp>
        <p:sp>
          <p:nvSpPr>
            <p:cNvPr id="190" name="TextBox 190"/>
            <p:cNvSpPr txBox="1"/>
            <p:nvPr/>
          </p:nvSpPr>
          <p:spPr>
            <a:xfrm>
              <a:off x="9839008" y="2674382"/>
              <a:ext cx="172085"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电话</a:t>
              </a:r>
              <a:br/>
              <a:r>
                <a:rPr lang="zh-CN" sz="640" dirty="0">
                  <a:solidFill>
                    <a:srgbClr val="3D3835"/>
                  </a:solidFill>
                  <a:latin typeface="+mn-lt"/>
                  <a:ea typeface="+mn-ea"/>
                  <a:cs typeface="+mn-cs"/>
                </a:rPr>
                <a:t>短信</a:t>
              </a:r>
              <a:br/>
              <a:r>
                <a:rPr lang="zh-CN" sz="640" dirty="0">
                  <a:solidFill>
                    <a:srgbClr val="3D3835"/>
                  </a:solidFill>
                  <a:latin typeface="+mn-lt"/>
                  <a:ea typeface="+mn-ea"/>
                  <a:cs typeface="+mn-cs"/>
                </a:rPr>
                <a:t>邮件</a:t>
              </a:r>
            </a:p>
          </p:txBody>
        </p:sp>
        <p:sp>
          <p:nvSpPr>
            <p:cNvPr id="191" name="TextBox 191"/>
            <p:cNvSpPr txBox="1"/>
            <p:nvPr/>
          </p:nvSpPr>
          <p:spPr>
            <a:xfrm>
              <a:off x="10365168" y="2674382"/>
              <a:ext cx="586613"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​竞品对标权益​</a:t>
              </a:r>
              <a:br/>
              <a:r>
                <a:rPr lang="zh-CN" sz="640" dirty="0">
                  <a:solidFill>
                    <a:srgbClr val="3D3835"/>
                  </a:solidFill>
                  <a:latin typeface="+mn-lt"/>
                  <a:ea typeface="+mn-ea"/>
                  <a:cs typeface="+mn-cs"/>
                </a:rPr>
                <a:t>​存款利率礼包​</a:t>
              </a:r>
              <a:br/>
              <a:r>
                <a:rPr lang="zh-CN" sz="640" dirty="0">
                  <a:solidFill>
                    <a:srgbClr val="3D3835"/>
                  </a:solidFill>
                  <a:latin typeface="+mn-lt"/>
                  <a:ea typeface="+mn-ea"/>
                  <a:cs typeface="+mn-cs"/>
                </a:rPr>
                <a:t>​贵宾服务体验​</a:t>
              </a:r>
            </a:p>
          </p:txBody>
        </p:sp>
        <p:sp>
          <p:nvSpPr>
            <p:cNvPr id="192" name="TextBox 192"/>
            <p:cNvSpPr txBox="1"/>
            <p:nvPr/>
          </p:nvSpPr>
          <p:spPr>
            <a:xfrm>
              <a:off x="11241088" y="2617232"/>
              <a:ext cx="415925" cy="4691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挽回率</a:t>
              </a:r>
              <a:br/>
              <a:r>
                <a:rPr lang="zh-CN" sz="640" b="1" dirty="0">
                  <a:solidFill>
                    <a:srgbClr val="C41D00"/>
                  </a:solidFill>
                  <a:latin typeface="+mn-lt"/>
                  <a:ea typeface="+mn-ea"/>
                  <a:cs typeface="+mn-cs"/>
                </a:rPr>
                <a:t>​≥10%​</a:t>
              </a:r>
              <a:br/>
              <a:r>
                <a:rPr lang="zh-CN" sz="640" dirty="0">
                  <a:solidFill>
                    <a:srgbClr val="3D3835"/>
                  </a:solidFill>
                  <a:latin typeface="+mn-lt"/>
                  <a:ea typeface="+mn-ea"/>
                  <a:cs typeface="+mn-cs"/>
                </a:rPr>
                <a:t>资产留存率</a:t>
              </a:r>
              <a:br/>
              <a:r>
                <a:rPr lang="zh-CN" sz="640" b="1" dirty="0">
                  <a:solidFill>
                    <a:srgbClr val="C41D00"/>
                  </a:solidFill>
                  <a:latin typeface="+mn-lt"/>
                  <a:ea typeface="+mn-ea"/>
                  <a:cs typeface="+mn-cs"/>
                </a:rPr>
                <a:t>​≥60%​</a:t>
              </a:r>
            </a:p>
          </p:txBody>
        </p:sp>
        <p:grpSp>
          <p:nvGrpSpPr>
            <p:cNvPr id="199" name="Group 199"/>
            <p:cNvGrpSpPr/>
            <p:nvPr/>
          </p:nvGrpSpPr>
          <p:grpSpPr>
            <a:xfrm>
              <a:off x="7515225" y="3479006"/>
              <a:ext cx="114300" cy="128588"/>
              <a:chOff x="7515225" y="3479006"/>
              <a:chExt cx="114300" cy="128588"/>
            </a:xfrm>
          </p:grpSpPr>
          <p:sp>
            <p:nvSpPr>
              <p:cNvPr id="193" name="Freeform 193"/>
              <p:cNvSpPr/>
              <p:nvPr/>
            </p:nvSpPr>
            <p:spPr>
              <a:xfrm>
                <a:off x="7515225" y="3493294"/>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D82000"/>
                </a:solidFill>
              </a:ln>
            </p:spPr>
          </p:sp>
          <p:sp>
            <p:nvSpPr>
              <p:cNvPr id="194" name="Freeform 194"/>
              <p:cNvSpPr/>
              <p:nvPr/>
            </p:nvSpPr>
            <p:spPr>
              <a:xfrm>
                <a:off x="7600950" y="3479006"/>
                <a:ext cx="9525" cy="28575"/>
              </a:xfrm>
              <a:custGeom>
                <a:avLst/>
                <a:gdLst/>
                <a:ahLst/>
                <a:cxnLst/>
                <a:rect l="l" t="t" r="r" b="b"/>
                <a:pathLst>
                  <a:path w="9525" h="28575">
                    <a:moveTo>
                      <a:pt x="0" y="0"/>
                    </a:moveTo>
                    <a:lnTo>
                      <a:pt x="0" y="28575"/>
                    </a:lnTo>
                  </a:path>
                </a:pathLst>
              </a:custGeom>
              <a:noFill/>
              <a:ln w="14288">
                <a:solidFill>
                  <a:srgbClr val="D82000"/>
                </a:solidFill>
              </a:ln>
            </p:spPr>
          </p:sp>
          <p:sp>
            <p:nvSpPr>
              <p:cNvPr id="195" name="Freeform 195"/>
              <p:cNvSpPr/>
              <p:nvPr/>
            </p:nvSpPr>
            <p:spPr>
              <a:xfrm>
                <a:off x="7543800" y="3479006"/>
                <a:ext cx="9525" cy="28575"/>
              </a:xfrm>
              <a:custGeom>
                <a:avLst/>
                <a:gdLst/>
                <a:ahLst/>
                <a:cxnLst/>
                <a:rect l="l" t="t" r="r" b="b"/>
                <a:pathLst>
                  <a:path w="9525" h="28575">
                    <a:moveTo>
                      <a:pt x="0" y="0"/>
                    </a:moveTo>
                    <a:lnTo>
                      <a:pt x="0" y="28575"/>
                    </a:lnTo>
                  </a:path>
                </a:pathLst>
              </a:custGeom>
              <a:noFill/>
              <a:ln w="14288">
                <a:solidFill>
                  <a:srgbClr val="D82000"/>
                </a:solidFill>
              </a:ln>
            </p:spPr>
          </p:sp>
          <p:sp>
            <p:nvSpPr>
              <p:cNvPr id="196" name="Freeform 196"/>
              <p:cNvSpPr/>
              <p:nvPr/>
            </p:nvSpPr>
            <p:spPr>
              <a:xfrm>
                <a:off x="7515225" y="3536156"/>
                <a:ext cx="114300" cy="9525"/>
              </a:xfrm>
              <a:custGeom>
                <a:avLst/>
                <a:gdLst/>
                <a:ahLst/>
                <a:cxnLst/>
                <a:rect l="l" t="t" r="r" b="b"/>
                <a:pathLst>
                  <a:path w="114300" h="9525">
                    <a:moveTo>
                      <a:pt x="0" y="0"/>
                    </a:moveTo>
                    <a:lnTo>
                      <a:pt x="114300" y="0"/>
                    </a:lnTo>
                  </a:path>
                </a:pathLst>
              </a:custGeom>
              <a:noFill/>
              <a:ln w="14288">
                <a:solidFill>
                  <a:srgbClr val="D82000"/>
                </a:solidFill>
              </a:ln>
            </p:spPr>
          </p:sp>
          <p:sp>
            <p:nvSpPr>
              <p:cNvPr id="197" name="Freeform 197"/>
              <p:cNvSpPr/>
              <p:nvPr/>
            </p:nvSpPr>
            <p:spPr>
              <a:xfrm>
                <a:off x="7565231" y="3564731"/>
                <a:ext cx="9525" cy="9525"/>
              </a:xfrm>
              <a:custGeom>
                <a:avLst/>
                <a:gdLst/>
                <a:ahLst/>
                <a:cxnLst/>
                <a:rect l="l" t="t" r="r" b="b"/>
                <a:pathLst>
                  <a:path w="9525" h="9525">
                    <a:moveTo>
                      <a:pt x="0" y="0"/>
                    </a:moveTo>
                    <a:lnTo>
                      <a:pt x="7144" y="0"/>
                    </a:lnTo>
                  </a:path>
                </a:pathLst>
              </a:custGeom>
              <a:noFill/>
              <a:ln w="14288">
                <a:solidFill>
                  <a:srgbClr val="D82000"/>
                </a:solidFill>
              </a:ln>
            </p:spPr>
          </p:sp>
          <p:sp>
            <p:nvSpPr>
              <p:cNvPr id="198" name="Freeform 198"/>
              <p:cNvSpPr/>
              <p:nvPr/>
            </p:nvSpPr>
            <p:spPr>
              <a:xfrm>
                <a:off x="7572375" y="3564731"/>
                <a:ext cx="9525" cy="21431"/>
              </a:xfrm>
              <a:custGeom>
                <a:avLst/>
                <a:gdLst/>
                <a:ahLst/>
                <a:cxnLst/>
                <a:rect l="l" t="t" r="r" b="b"/>
                <a:pathLst>
                  <a:path w="9525" h="21431">
                    <a:moveTo>
                      <a:pt x="0" y="0"/>
                    </a:moveTo>
                    <a:lnTo>
                      <a:pt x="0" y="21431"/>
                    </a:lnTo>
                  </a:path>
                </a:pathLst>
              </a:custGeom>
              <a:noFill/>
              <a:ln w="14288">
                <a:solidFill>
                  <a:srgbClr val="D82000"/>
                </a:solidFill>
              </a:ln>
            </p:spPr>
          </p:sp>
        </p:grpSp>
        <p:sp>
          <p:nvSpPr>
            <p:cNvPr id="200" name="TextBox 200"/>
            <p:cNvSpPr txBox="1"/>
            <p:nvPr/>
          </p:nvSpPr>
          <p:spPr>
            <a:xfrm>
              <a:off x="7710488" y="3422809"/>
              <a:ext cx="354965" cy="247650"/>
            </a:xfrm>
            <a:prstGeom prst="rect">
              <a:avLst/>
            </a:prstGeom>
            <a:noFill/>
            <a:ln>
              <a:noFill/>
            </a:ln>
          </p:spPr>
          <p:txBody>
            <a:bodyPr wrap="none" lIns="0" tIns="0" rIns="0" bIns="0" anchor="t" anchorCtr="0">
              <a:spAutoFit/>
            </a:bodyPr>
            <a:lstStyle/>
            <a:p>
              <a:pPr algn="l">
                <a:lnSpc>
                  <a:spcPts val="900"/>
                </a:lnSpc>
              </a:pPr>
              <a:r>
                <a:rPr lang="zh-CN" sz="680" b="1" dirty="0">
                  <a:solidFill>
                    <a:srgbClr val="4A130A"/>
                  </a:solidFill>
                  <a:latin typeface="+mn-lt"/>
                  <a:ea typeface="+mn-ea"/>
                  <a:cs typeface="+mn-cs"/>
                </a:rPr>
                <a:t>生命周期</a:t>
              </a:r>
              <a:br/>
              <a:r>
                <a:rPr lang="zh-CN" sz="680" b="1" dirty="0">
                  <a:solidFill>
                    <a:srgbClr val="4A130A"/>
                  </a:solidFill>
                  <a:latin typeface="+mn-lt"/>
                  <a:ea typeface="+mn-ea"/>
                  <a:cs typeface="+mn-cs"/>
                </a:rPr>
                <a:t>变化</a:t>
              </a:r>
            </a:p>
          </p:txBody>
        </p:sp>
        <p:sp>
          <p:nvSpPr>
            <p:cNvPr id="201" name="TextBox 201"/>
            <p:cNvSpPr txBox="1"/>
            <p:nvPr/>
          </p:nvSpPr>
          <p:spPr>
            <a:xfrm>
              <a:off x="8262938" y="3360182"/>
              <a:ext cx="744093" cy="354806"/>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40" dirty="0">
                  <a:solidFill>
                    <a:srgbClr val="3D3835"/>
                  </a:solidFill>
                  <a:latin typeface="+mn-lt"/>
                  <a:ea typeface="+mn-ea"/>
                  <a:cs typeface="+mn-cs"/>
                </a:rPr>
                <a:t>需求变化识别​​</a:t>
              </a:r>
            </a:p>
            <a:p>
              <a:pPr algn="l" marL="76200" indent="-76200">
                <a:lnSpc>
                  <a:spcPts val="900"/>
                </a:lnSpc>
                <a:buClr>
                  <a:srgbClr val="3D3835"/>
                </a:buClr>
                <a:buSzTx/>
                <a:buFontTx/>
                <a:buChar char="•"/>
              </a:pPr>
              <a:r>
                <a:rPr lang="zh-CN" sz="640" dirty="0">
                  <a:solidFill>
                    <a:srgbClr val="3D3835"/>
                  </a:solidFill>
                  <a:latin typeface="+mn-lt"/>
                  <a:ea typeface="+mn-ea"/>
                  <a:cs typeface="+mn-cs"/>
                </a:rPr>
                <a:t>场景化产品推荐​​</a:t>
              </a:r>
            </a:p>
            <a:p>
              <a:pPr algn="l" marL="76200" indent="-76200">
                <a:lnSpc>
                  <a:spcPts val="900"/>
                </a:lnSpc>
                <a:buClr>
                  <a:srgbClr val="3D3835"/>
                </a:buClr>
                <a:buSzTx/>
                <a:buFontTx/>
                <a:buChar char="•"/>
              </a:pPr>
              <a:r>
                <a:rPr lang="zh-CN" sz="640" dirty="0">
                  <a:solidFill>
                    <a:srgbClr val="3D3835"/>
                  </a:solidFill>
                  <a:latin typeface="+mn-lt"/>
                  <a:ea typeface="+mn-ea"/>
                  <a:cs typeface="+mn-cs"/>
                </a:rPr>
                <a:t>人生阶段关怀​​</a:t>
              </a:r>
            </a:p>
          </p:txBody>
        </p:sp>
        <p:sp>
          <p:nvSpPr>
            <p:cNvPr id="202" name="TextBox 202"/>
            <p:cNvSpPr txBox="1"/>
            <p:nvPr/>
          </p:nvSpPr>
          <p:spPr>
            <a:xfrm>
              <a:off x="9808528" y="3360182"/>
              <a:ext cx="233045"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微信</a:t>
              </a:r>
              <a:br/>
              <a:r>
                <a:rPr lang="en-US" sz="640" dirty="0">
                  <a:solidFill>
                    <a:srgbClr val="3D3835"/>
                  </a:solidFill>
                  <a:latin typeface="+mn-lt"/>
                  <a:ea typeface="+mn-ea"/>
                  <a:cs typeface="+mn-cs"/>
                </a:rPr>
                <a:t>​APP​</a:t>
              </a:r>
              <a:br/>
              <a:r>
                <a:rPr lang="zh-CN" sz="640" dirty="0">
                  <a:solidFill>
                    <a:srgbClr val="3D3835"/>
                  </a:solidFill>
                  <a:latin typeface="+mn-lt"/>
                  <a:ea typeface="+mn-ea"/>
                  <a:cs typeface="+mn-cs"/>
                </a:rPr>
                <a:t>电话</a:t>
              </a:r>
            </a:p>
          </p:txBody>
        </p:sp>
        <p:sp>
          <p:nvSpPr>
            <p:cNvPr id="203" name="TextBox 203"/>
            <p:cNvSpPr txBox="1"/>
            <p:nvPr/>
          </p:nvSpPr>
          <p:spPr>
            <a:xfrm>
              <a:off x="10342816" y="3417332"/>
              <a:ext cx="63131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​人生事件礼包​</a:t>
              </a:r>
              <a:br/>
              <a:r>
                <a:rPr lang="zh-CN" sz="640" dirty="0">
                  <a:solidFill>
                    <a:srgbClr val="3D3835"/>
                  </a:solidFill>
                  <a:latin typeface="+mn-lt"/>
                  <a:ea typeface="+mn-ea"/>
                  <a:cs typeface="+mn-cs"/>
                </a:rPr>
                <a:t>​教育/养老规划​</a:t>
              </a:r>
            </a:p>
          </p:txBody>
        </p:sp>
        <p:sp>
          <p:nvSpPr>
            <p:cNvPr id="204" name="TextBox 204"/>
            <p:cNvSpPr txBox="1"/>
            <p:nvPr/>
          </p:nvSpPr>
          <p:spPr>
            <a:xfrm>
              <a:off x="11241088" y="3303032"/>
              <a:ext cx="415925" cy="4691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挽回率</a:t>
              </a:r>
              <a:br/>
              <a:r>
                <a:rPr lang="zh-CN" sz="640" b="1" dirty="0">
                  <a:solidFill>
                    <a:srgbClr val="C41D00"/>
                  </a:solidFill>
                  <a:latin typeface="+mn-lt"/>
                  <a:ea typeface="+mn-ea"/>
                  <a:cs typeface="+mn-cs"/>
                </a:rPr>
                <a:t>​≥13%​</a:t>
              </a:r>
              <a:br/>
              <a:r>
                <a:rPr lang="zh-CN" sz="640" dirty="0">
                  <a:solidFill>
                    <a:srgbClr val="3D3835"/>
                  </a:solidFill>
                  <a:latin typeface="+mn-lt"/>
                  <a:ea typeface="+mn-ea"/>
                  <a:cs typeface="+mn-cs"/>
                </a:rPr>
                <a:t>产品采纳率</a:t>
              </a:r>
              <a:br/>
              <a:r>
                <a:rPr lang="zh-CN" sz="640" b="1" dirty="0">
                  <a:solidFill>
                    <a:srgbClr val="C41D00"/>
                  </a:solidFill>
                  <a:latin typeface="+mn-lt"/>
                  <a:ea typeface="+mn-ea"/>
                  <a:cs typeface="+mn-cs"/>
                </a:rPr>
                <a:t>​≥25%​</a:t>
              </a:r>
            </a:p>
          </p:txBody>
        </p:sp>
        <p:grpSp>
          <p:nvGrpSpPr>
            <p:cNvPr id="208" name="Group 208"/>
            <p:cNvGrpSpPr/>
            <p:nvPr/>
          </p:nvGrpSpPr>
          <p:grpSpPr>
            <a:xfrm>
              <a:off x="7508081" y="4164806"/>
              <a:ext cx="128588" cy="128587"/>
              <a:chOff x="7508081" y="4164806"/>
              <a:chExt cx="128588" cy="128587"/>
            </a:xfrm>
          </p:grpSpPr>
          <p:sp>
            <p:nvSpPr>
              <p:cNvPr id="205" name="Freeform 205"/>
              <p:cNvSpPr/>
              <p:nvPr/>
            </p:nvSpPr>
            <p:spPr>
              <a:xfrm>
                <a:off x="7508081" y="4164806"/>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D82000"/>
                </a:solidFill>
              </a:ln>
            </p:spPr>
          </p:sp>
          <p:sp>
            <p:nvSpPr>
              <p:cNvPr id="206" name="Freeform 206"/>
              <p:cNvSpPr/>
              <p:nvPr/>
            </p:nvSpPr>
            <p:spPr>
              <a:xfrm>
                <a:off x="7533627" y="4193381"/>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D82000"/>
                </a:solidFill>
              </a:ln>
            </p:spPr>
          </p:sp>
          <p:sp>
            <p:nvSpPr>
              <p:cNvPr id="207" name="Freeform 207"/>
              <p:cNvSpPr/>
              <p:nvPr/>
            </p:nvSpPr>
            <p:spPr>
              <a:xfrm>
                <a:off x="7555944" y="4264819"/>
                <a:ext cx="32861" cy="9525"/>
              </a:xfrm>
              <a:custGeom>
                <a:avLst/>
                <a:gdLst/>
                <a:ahLst/>
                <a:cxnLst/>
                <a:rect l="l" t="t" r="r" b="b"/>
                <a:pathLst>
                  <a:path w="32861" h="9525">
                    <a:moveTo>
                      <a:pt x="0" y="0"/>
                    </a:moveTo>
                    <a:lnTo>
                      <a:pt x="32861" y="0"/>
                    </a:lnTo>
                  </a:path>
                </a:pathLst>
              </a:custGeom>
              <a:noFill/>
              <a:ln w="14288">
                <a:solidFill>
                  <a:srgbClr val="D82000"/>
                </a:solidFill>
              </a:ln>
            </p:spPr>
          </p:sp>
        </p:grpSp>
        <p:sp>
          <p:nvSpPr>
            <p:cNvPr id="209" name="TextBox 209"/>
            <p:cNvSpPr txBox="1"/>
            <p:nvPr/>
          </p:nvSpPr>
          <p:spPr>
            <a:xfrm>
              <a:off x="7710488" y="4108609"/>
              <a:ext cx="504584" cy="247650"/>
            </a:xfrm>
            <a:prstGeom prst="rect">
              <a:avLst/>
            </a:prstGeom>
            <a:noFill/>
            <a:ln>
              <a:noFill/>
            </a:ln>
          </p:spPr>
          <p:txBody>
            <a:bodyPr wrap="none" lIns="0" tIns="0" rIns="0" bIns="0" anchor="t" anchorCtr="0">
              <a:spAutoFit/>
            </a:bodyPr>
            <a:lstStyle/>
            <a:p>
              <a:pPr algn="l">
                <a:lnSpc>
                  <a:spcPts val="900"/>
                </a:lnSpc>
              </a:pPr>
              <a:r>
                <a:rPr lang="zh-CN" sz="680" b="1" dirty="0">
                  <a:solidFill>
                    <a:srgbClr val="4A130A"/>
                  </a:solidFill>
                  <a:latin typeface="+mn-lt"/>
                  <a:ea typeface="+mn-ea"/>
                  <a:cs typeface="+mn-cs"/>
                </a:rPr>
                <a:t>低相关度/​​</a:t>
              </a:r>
              <a:br/>
              <a:r>
                <a:rPr lang="zh-CN" sz="680" b="1" dirty="0">
                  <a:solidFill>
                    <a:srgbClr val="4A130A"/>
                  </a:solidFill>
                  <a:latin typeface="+mn-lt"/>
                  <a:ea typeface="+mn-ea"/>
                  <a:cs typeface="+mn-cs"/>
                </a:rPr>
                <a:t>价值感低</a:t>
              </a:r>
            </a:p>
          </p:txBody>
        </p:sp>
        <p:sp>
          <p:nvSpPr>
            <p:cNvPr id="210" name="TextBox 210"/>
            <p:cNvSpPr txBox="1"/>
            <p:nvPr/>
          </p:nvSpPr>
          <p:spPr>
            <a:xfrm>
              <a:off x="8262938" y="4045982"/>
              <a:ext cx="744093" cy="354806"/>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40" dirty="0">
                  <a:solidFill>
                    <a:srgbClr val="3D3835"/>
                  </a:solidFill>
                  <a:latin typeface="+mn-lt"/>
                  <a:ea typeface="+mn-ea"/>
                  <a:cs typeface="+mn-cs"/>
                </a:rPr>
                <a:t>价值沟通与教育​​</a:t>
              </a:r>
            </a:p>
            <a:p>
              <a:pPr algn="l" marL="76200" indent="-76200">
                <a:lnSpc>
                  <a:spcPts val="900"/>
                </a:lnSpc>
                <a:buClr>
                  <a:srgbClr val="3D3835"/>
                </a:buClr>
                <a:buSzTx/>
                <a:buFontTx/>
                <a:buChar char="•"/>
              </a:pPr>
              <a:r>
                <a:rPr lang="zh-CN" sz="640" dirty="0">
                  <a:solidFill>
                    <a:srgbClr val="3D3835"/>
                  </a:solidFill>
                  <a:latin typeface="+mn-lt"/>
                  <a:ea typeface="+mn-ea"/>
                  <a:cs typeface="+mn-cs"/>
                </a:rPr>
                <a:t>个性化推荐​​</a:t>
              </a:r>
            </a:p>
            <a:p>
              <a:pPr algn="l" marL="76200" indent="-76200">
                <a:lnSpc>
                  <a:spcPts val="900"/>
                </a:lnSpc>
                <a:buClr>
                  <a:srgbClr val="3D3835"/>
                </a:buClr>
                <a:buSzTx/>
                <a:buFontTx/>
                <a:buChar char="•"/>
              </a:pPr>
              <a:r>
                <a:rPr lang="zh-CN" sz="640" dirty="0">
                  <a:solidFill>
                    <a:srgbClr val="3D3835"/>
                  </a:solidFill>
                  <a:latin typeface="+mn-lt"/>
                  <a:ea typeface="+mn-ea"/>
                  <a:cs typeface="+mn-cs"/>
                </a:rPr>
                <a:t>轻量化权益激活​​</a:t>
              </a:r>
            </a:p>
          </p:txBody>
        </p:sp>
        <p:sp>
          <p:nvSpPr>
            <p:cNvPr id="211" name="TextBox 211"/>
            <p:cNvSpPr txBox="1"/>
            <p:nvPr/>
          </p:nvSpPr>
          <p:spPr>
            <a:xfrm>
              <a:off x="9757728" y="4045982"/>
              <a:ext cx="334645" cy="354806"/>
            </a:xfrm>
            <a:prstGeom prst="rect">
              <a:avLst/>
            </a:prstGeom>
            <a:noFill/>
            <a:ln>
              <a:noFill/>
            </a:ln>
          </p:spPr>
          <p:txBody>
            <a:bodyPr wrap="none" lIns="0" tIns="0" rIns="0" bIns="0" anchor="t" anchorCtr="0">
              <a:spAutoFit/>
            </a:bodyPr>
            <a:lstStyle/>
            <a:p>
              <a:pPr algn="ctr">
                <a:lnSpc>
                  <a:spcPts val="900"/>
                </a:lnSpc>
              </a:pPr>
              <a:r>
                <a:rPr lang="en-US" sz="640" dirty="0">
                  <a:solidFill>
                    <a:srgbClr val="3D3835"/>
                  </a:solidFill>
                  <a:latin typeface="+mn-lt"/>
                  <a:ea typeface="+mn-ea"/>
                  <a:cs typeface="+mn-cs"/>
                </a:rPr>
                <a:t>​APP​</a:t>
              </a:r>
              <a:br/>
              <a:r>
                <a:rPr lang="zh-CN" sz="640" dirty="0">
                  <a:solidFill>
                    <a:srgbClr val="3D3835"/>
                  </a:solidFill>
                  <a:latin typeface="+mn-lt"/>
                  <a:ea typeface="+mn-ea"/>
                  <a:cs typeface="+mn-cs"/>
                </a:rPr>
                <a:t>短信</a:t>
              </a:r>
              <a:br/>
              <a:r>
                <a:rPr lang="zh-CN" sz="640" dirty="0">
                  <a:solidFill>
                    <a:srgbClr val="3D3835"/>
                  </a:solidFill>
                  <a:latin typeface="+mn-lt"/>
                  <a:ea typeface="+mn-ea"/>
                  <a:cs typeface="+mn-cs"/>
                </a:rPr>
                <a:t>内容中心</a:t>
              </a:r>
            </a:p>
          </p:txBody>
        </p:sp>
        <p:sp>
          <p:nvSpPr>
            <p:cNvPr id="212" name="TextBox 212"/>
            <p:cNvSpPr txBox="1"/>
            <p:nvPr/>
          </p:nvSpPr>
          <p:spPr>
            <a:xfrm>
              <a:off x="10450512" y="4045982"/>
              <a:ext cx="415925"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兴趣社区</a:t>
              </a:r>
              <a:br/>
              <a:r>
                <a:rPr lang="zh-CN" sz="640" dirty="0">
                  <a:solidFill>
                    <a:srgbClr val="3D3835"/>
                  </a:solidFill>
                  <a:latin typeface="+mn-lt"/>
                  <a:ea typeface="+mn-ea"/>
                  <a:cs typeface="+mn-cs"/>
                </a:rPr>
                <a:t>积分福利</a:t>
              </a:r>
              <a:br/>
              <a:r>
                <a:rPr lang="zh-CN" sz="640" dirty="0">
                  <a:solidFill>
                    <a:srgbClr val="3D3835"/>
                  </a:solidFill>
                  <a:latin typeface="+mn-lt"/>
                  <a:ea typeface="+mn-ea"/>
                  <a:cs typeface="+mn-cs"/>
                </a:rPr>
                <a:t>轻量化任务</a:t>
              </a:r>
            </a:p>
          </p:txBody>
        </p:sp>
        <p:sp>
          <p:nvSpPr>
            <p:cNvPr id="213" name="TextBox 213"/>
            <p:cNvSpPr txBox="1"/>
            <p:nvPr/>
          </p:nvSpPr>
          <p:spPr>
            <a:xfrm>
              <a:off x="11241088" y="3988832"/>
              <a:ext cx="415925" cy="4691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挽回率</a:t>
              </a:r>
              <a:br/>
              <a:r>
                <a:rPr lang="zh-CN" sz="640" b="1" dirty="0">
                  <a:solidFill>
                    <a:srgbClr val="C41D00"/>
                  </a:solidFill>
                  <a:latin typeface="+mn-lt"/>
                  <a:ea typeface="+mn-ea"/>
                  <a:cs typeface="+mn-cs"/>
                </a:rPr>
                <a:t>​≥9%​</a:t>
              </a:r>
              <a:br/>
              <a:r>
                <a:rPr lang="zh-CN" sz="640" dirty="0">
                  <a:solidFill>
                    <a:srgbClr val="3D3835"/>
                  </a:solidFill>
                  <a:latin typeface="+mn-lt"/>
                  <a:ea typeface="+mn-ea"/>
                  <a:cs typeface="+mn-cs"/>
                </a:rPr>
                <a:t>活跃度提升</a:t>
              </a:r>
              <a:br/>
              <a:r>
                <a:rPr lang="zh-CN" sz="640" b="1" dirty="0">
                  <a:solidFill>
                    <a:srgbClr val="C41D00"/>
                  </a:solidFill>
                  <a:latin typeface="+mn-lt"/>
                  <a:ea typeface="+mn-ea"/>
                  <a:cs typeface="+mn-cs"/>
                </a:rPr>
                <a:t>​≥20%​</a:t>
              </a:r>
            </a:p>
          </p:txBody>
        </p:sp>
        <p:sp>
          <p:nvSpPr>
            <p:cNvPr id="214" name="Line 214"/>
            <p:cNvSpPr/>
            <p:nvPr/>
          </p:nvSpPr>
          <p:spPr>
            <a:xfrm>
              <a:off x="8210550" y="952500"/>
              <a:ext cx="9525" cy="3619500"/>
            </a:xfrm>
            <a:custGeom>
              <a:avLst/>
              <a:gdLst/>
              <a:ahLst/>
              <a:cxnLst/>
              <a:rect l="l" t="t" r="r" b="b"/>
              <a:pathLst>
                <a:path w="9525" h="3619500">
                  <a:moveTo>
                    <a:pt x="0" y="0"/>
                  </a:moveTo>
                  <a:lnTo>
                    <a:pt x="0" y="3619500"/>
                  </a:lnTo>
                </a:path>
              </a:pathLst>
            </a:custGeom>
            <a:noFill/>
            <a:ln w="9525">
              <a:solidFill>
                <a:srgbClr val="EADBCE"/>
              </a:solidFill>
            </a:ln>
          </p:spPr>
        </p:sp>
        <p:sp>
          <p:nvSpPr>
            <p:cNvPr id="215" name="Line 215"/>
            <p:cNvSpPr/>
            <p:nvPr/>
          </p:nvSpPr>
          <p:spPr>
            <a:xfrm>
              <a:off x="9620250" y="952500"/>
              <a:ext cx="9525" cy="3619500"/>
            </a:xfrm>
            <a:custGeom>
              <a:avLst/>
              <a:gdLst/>
              <a:ahLst/>
              <a:cxnLst/>
              <a:rect l="l" t="t" r="r" b="b"/>
              <a:pathLst>
                <a:path w="9525" h="3619500">
                  <a:moveTo>
                    <a:pt x="0" y="0"/>
                  </a:moveTo>
                  <a:lnTo>
                    <a:pt x="0" y="3619500"/>
                  </a:lnTo>
                </a:path>
              </a:pathLst>
            </a:custGeom>
            <a:noFill/>
            <a:ln w="9525">
              <a:solidFill>
                <a:srgbClr val="EADBCE"/>
              </a:solidFill>
            </a:ln>
          </p:spPr>
        </p:sp>
        <p:sp>
          <p:nvSpPr>
            <p:cNvPr id="216" name="Line 216"/>
            <p:cNvSpPr/>
            <p:nvPr/>
          </p:nvSpPr>
          <p:spPr>
            <a:xfrm>
              <a:off x="10229850" y="952500"/>
              <a:ext cx="9525" cy="3619500"/>
            </a:xfrm>
            <a:custGeom>
              <a:avLst/>
              <a:gdLst/>
              <a:ahLst/>
              <a:cxnLst/>
              <a:rect l="l" t="t" r="r" b="b"/>
              <a:pathLst>
                <a:path w="9525" h="3619500">
                  <a:moveTo>
                    <a:pt x="0" y="0"/>
                  </a:moveTo>
                  <a:lnTo>
                    <a:pt x="0" y="3619500"/>
                  </a:lnTo>
                </a:path>
              </a:pathLst>
            </a:custGeom>
            <a:noFill/>
            <a:ln w="9525">
              <a:solidFill>
                <a:srgbClr val="EADBCE"/>
              </a:solidFill>
            </a:ln>
          </p:spPr>
        </p:sp>
        <p:sp>
          <p:nvSpPr>
            <p:cNvPr id="217" name="Line 217"/>
            <p:cNvSpPr/>
            <p:nvPr/>
          </p:nvSpPr>
          <p:spPr>
            <a:xfrm>
              <a:off x="11087100" y="952500"/>
              <a:ext cx="9525" cy="3619500"/>
            </a:xfrm>
            <a:custGeom>
              <a:avLst/>
              <a:gdLst/>
              <a:ahLst/>
              <a:cxnLst/>
              <a:rect l="l" t="t" r="r" b="b"/>
              <a:pathLst>
                <a:path w="9525" h="3619500">
                  <a:moveTo>
                    <a:pt x="0" y="0"/>
                  </a:moveTo>
                  <a:lnTo>
                    <a:pt x="0" y="3619500"/>
                  </a:lnTo>
                </a:path>
              </a:pathLst>
            </a:custGeom>
            <a:noFill/>
            <a:ln w="9525">
              <a:solidFill>
                <a:srgbClr val="EADBCE"/>
              </a:solidFill>
            </a:ln>
          </p:spPr>
        </p:sp>
        <p:sp>
          <p:nvSpPr>
            <p:cNvPr id="218" name="Line 218"/>
            <p:cNvSpPr/>
            <p:nvPr/>
          </p:nvSpPr>
          <p:spPr>
            <a:xfrm>
              <a:off x="7429500" y="1828800"/>
              <a:ext cx="4381500" cy="9525"/>
            </a:xfrm>
            <a:custGeom>
              <a:avLst/>
              <a:gdLst/>
              <a:ahLst/>
              <a:cxnLst/>
              <a:rect l="l" t="t" r="r" b="b"/>
              <a:pathLst>
                <a:path w="4381500" h="9525">
                  <a:moveTo>
                    <a:pt x="0" y="0"/>
                  </a:moveTo>
                  <a:lnTo>
                    <a:pt x="4381500" y="0"/>
                  </a:lnTo>
                </a:path>
              </a:pathLst>
            </a:custGeom>
            <a:noFill/>
            <a:ln w="9525">
              <a:solidFill>
                <a:srgbClr val="EADBCE"/>
              </a:solidFill>
            </a:ln>
          </p:spPr>
        </p:sp>
        <p:sp>
          <p:nvSpPr>
            <p:cNvPr id="219" name="Line 219"/>
            <p:cNvSpPr/>
            <p:nvPr/>
          </p:nvSpPr>
          <p:spPr>
            <a:xfrm>
              <a:off x="7429500" y="2514600"/>
              <a:ext cx="4381500" cy="9525"/>
            </a:xfrm>
            <a:custGeom>
              <a:avLst/>
              <a:gdLst/>
              <a:ahLst/>
              <a:cxnLst/>
              <a:rect l="l" t="t" r="r" b="b"/>
              <a:pathLst>
                <a:path w="4381500" h="9525">
                  <a:moveTo>
                    <a:pt x="0" y="0"/>
                  </a:moveTo>
                  <a:lnTo>
                    <a:pt x="4381500" y="0"/>
                  </a:lnTo>
                </a:path>
              </a:pathLst>
            </a:custGeom>
            <a:noFill/>
            <a:ln w="9525">
              <a:solidFill>
                <a:srgbClr val="EADBCE"/>
              </a:solidFill>
            </a:ln>
          </p:spPr>
        </p:sp>
        <p:sp>
          <p:nvSpPr>
            <p:cNvPr id="220" name="Line 220"/>
            <p:cNvSpPr/>
            <p:nvPr/>
          </p:nvSpPr>
          <p:spPr>
            <a:xfrm>
              <a:off x="7429500" y="3200400"/>
              <a:ext cx="4381500" cy="9525"/>
            </a:xfrm>
            <a:custGeom>
              <a:avLst/>
              <a:gdLst/>
              <a:ahLst/>
              <a:cxnLst/>
              <a:rect l="l" t="t" r="r" b="b"/>
              <a:pathLst>
                <a:path w="4381500" h="9525">
                  <a:moveTo>
                    <a:pt x="0" y="0"/>
                  </a:moveTo>
                  <a:lnTo>
                    <a:pt x="4381500" y="0"/>
                  </a:lnTo>
                </a:path>
              </a:pathLst>
            </a:custGeom>
            <a:noFill/>
            <a:ln w="9525">
              <a:solidFill>
                <a:srgbClr val="EADBCE"/>
              </a:solidFill>
            </a:ln>
          </p:spPr>
        </p:sp>
        <p:sp>
          <p:nvSpPr>
            <p:cNvPr id="221" name="Line 221"/>
            <p:cNvSpPr/>
            <p:nvPr/>
          </p:nvSpPr>
          <p:spPr>
            <a:xfrm>
              <a:off x="7429500" y="3886200"/>
              <a:ext cx="4381500" cy="9525"/>
            </a:xfrm>
            <a:custGeom>
              <a:avLst/>
              <a:gdLst/>
              <a:ahLst/>
              <a:cxnLst/>
              <a:rect l="l" t="t" r="r" b="b"/>
              <a:pathLst>
                <a:path w="4381500" h="9525">
                  <a:moveTo>
                    <a:pt x="0" y="0"/>
                  </a:moveTo>
                  <a:lnTo>
                    <a:pt x="4381500" y="0"/>
                  </a:lnTo>
                </a:path>
              </a:pathLst>
            </a:custGeom>
            <a:noFill/>
            <a:ln w="9525">
              <a:solidFill>
                <a:srgbClr val="EADBCE"/>
              </a:solidFill>
            </a:ln>
          </p:spPr>
        </p:sp>
      </p:grpSp>
      <p:grpSp>
        <p:nvGrpSpPr>
          <p:cNvPr id="322" name="intervention-effect"/>
          <p:cNvGrpSpPr/>
          <p:nvPr/>
        </p:nvGrpSpPr>
        <p:grpSpPr>
          <a:xfrm>
            <a:off x="342900" y="4667250"/>
            <a:ext cx="11468100" cy="1981200"/>
            <a:chOff x="342900" y="4667250"/>
            <a:chExt cx="11468100" cy="1981200"/>
          </a:xfrm>
        </p:grpSpPr>
        <p:sp>
          <p:nvSpPr>
            <p:cNvPr id="223" name="Rectangle 223"/>
            <p:cNvSpPr/>
            <p:nvPr/>
          </p:nvSpPr>
          <p:spPr>
            <a:xfrm>
              <a:off x="342900" y="4667250"/>
              <a:ext cx="11468100" cy="228600"/>
            </a:xfrm>
            <a:prstGeom prst="roundRect">
              <a:avLst>
                <a:gd name="adj" fmla="val 12500"/>
              </a:avLst>
            </a:prstGeom>
            <a:solidFill>
              <a:srgbClr val="C41D00"/>
            </a:solidFill>
            <a:ln>
              <a:noFill/>
            </a:ln>
          </p:spPr>
        </p:sp>
        <p:sp>
          <p:nvSpPr>
            <p:cNvPr id="224" name="TextBox 224"/>
            <p:cNvSpPr txBox="1"/>
            <p:nvPr/>
          </p:nvSpPr>
          <p:spPr>
            <a:xfrm>
              <a:off x="5359603" y="4736068"/>
              <a:ext cx="1434693"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​干预效果评估（近30天）​</a:t>
              </a:r>
            </a:p>
          </p:txBody>
        </p:sp>
        <p:sp>
          <p:nvSpPr>
            <p:cNvPr id="225" name="Rectangle 225"/>
            <p:cNvSpPr/>
            <p:nvPr/>
          </p:nvSpPr>
          <p:spPr>
            <a:xfrm>
              <a:off x="342900" y="4933950"/>
              <a:ext cx="11468100" cy="381000"/>
            </a:xfrm>
            <a:prstGeom prst="rect">
              <a:avLst/>
            </a:prstGeom>
            <a:solidFill>
              <a:srgbClr val="FEF2E6"/>
            </a:solidFill>
            <a:ln w="9525">
              <a:solidFill>
                <a:srgbClr val="F0B8AE"/>
              </a:solidFill>
            </a:ln>
          </p:spPr>
        </p:sp>
        <p:sp>
          <p:nvSpPr>
            <p:cNvPr id="226" name="TextBox 226"/>
            <p:cNvSpPr txBox="1"/>
            <p:nvPr/>
          </p:nvSpPr>
          <p:spPr>
            <a:xfrm>
              <a:off x="718477" y="508563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干预方案</a:t>
              </a:r>
            </a:p>
          </p:txBody>
        </p:sp>
        <p:sp>
          <p:nvSpPr>
            <p:cNvPr id="227" name="TextBox 227"/>
            <p:cNvSpPr txBox="1"/>
            <p:nvPr/>
          </p:nvSpPr>
          <p:spPr>
            <a:xfrm>
              <a:off x="2147227" y="4990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客户规模</a:t>
              </a:r>
            </a:p>
          </p:txBody>
        </p:sp>
        <p:sp>
          <p:nvSpPr>
            <p:cNvPr id="228" name="TextBox 228"/>
            <p:cNvSpPr txBox="1"/>
            <p:nvPr/>
          </p:nvSpPr>
          <p:spPr>
            <a:xfrm>
              <a:off x="4149730" y="4990386"/>
              <a:ext cx="673091"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​流失率（%）​</a:t>
              </a:r>
            </a:p>
          </p:txBody>
        </p:sp>
        <p:sp>
          <p:nvSpPr>
            <p:cNvPr id="229" name="TextBox 229"/>
            <p:cNvSpPr txBox="1"/>
            <p:nvPr/>
          </p:nvSpPr>
          <p:spPr>
            <a:xfrm>
              <a:off x="6862102" y="4990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挽回效果</a:t>
              </a:r>
            </a:p>
          </p:txBody>
        </p:sp>
        <p:sp>
          <p:nvSpPr>
            <p:cNvPr id="230" name="TextBox 230"/>
            <p:cNvSpPr txBox="1"/>
            <p:nvPr/>
          </p:nvSpPr>
          <p:spPr>
            <a:xfrm>
              <a:off x="9444009" y="4990386"/>
              <a:ext cx="1266883"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​资产留存（挽回客户口径）​</a:t>
              </a:r>
            </a:p>
          </p:txBody>
        </p:sp>
        <p:sp>
          <p:nvSpPr>
            <p:cNvPr id="231" name="Line 231"/>
            <p:cNvSpPr/>
            <p:nvPr/>
          </p:nvSpPr>
          <p:spPr>
            <a:xfrm>
              <a:off x="1485900" y="5124450"/>
              <a:ext cx="10325100" cy="9525"/>
            </a:xfrm>
            <a:custGeom>
              <a:avLst/>
              <a:gdLst/>
              <a:ahLst/>
              <a:cxnLst/>
              <a:rect l="l" t="t" r="r" b="b"/>
              <a:pathLst>
                <a:path w="10325100" h="9525">
                  <a:moveTo>
                    <a:pt x="0" y="0"/>
                  </a:moveTo>
                  <a:lnTo>
                    <a:pt x="10325100" y="0"/>
                  </a:lnTo>
                </a:path>
              </a:pathLst>
            </a:custGeom>
            <a:noFill/>
            <a:ln w="9525">
              <a:solidFill>
                <a:srgbClr val="F0B8AE"/>
              </a:solidFill>
            </a:ln>
          </p:spPr>
        </p:sp>
        <p:sp>
          <p:nvSpPr>
            <p:cNvPr id="232" name="TextBox 232"/>
            <p:cNvSpPr txBox="1"/>
            <p:nvPr/>
          </p:nvSpPr>
          <p:spPr>
            <a:xfrm>
              <a:off x="1694370" y="5188982"/>
              <a:ext cx="440309"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触达客户数</a:t>
              </a:r>
            </a:p>
          </p:txBody>
        </p:sp>
        <p:sp>
          <p:nvSpPr>
            <p:cNvPr id="233" name="TextBox 233"/>
            <p:cNvSpPr txBox="1"/>
            <p:nvPr/>
          </p:nvSpPr>
          <p:spPr>
            <a:xfrm>
              <a:off x="2418077" y="5188982"/>
              <a:ext cx="707395"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​高风险客户占比​</a:t>
              </a:r>
            </a:p>
          </p:txBody>
        </p:sp>
        <p:sp>
          <p:nvSpPr>
            <p:cNvPr id="234" name="TextBox 234"/>
            <p:cNvSpPr txBox="1"/>
            <p:nvPr/>
          </p:nvSpPr>
          <p:spPr>
            <a:xfrm>
              <a:off x="3232249" y="5188982"/>
              <a:ext cx="793552"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​对照组（未干预）​</a:t>
              </a:r>
            </a:p>
          </p:txBody>
        </p:sp>
        <p:sp>
          <p:nvSpPr>
            <p:cNvPr id="235" name="TextBox 235"/>
            <p:cNvSpPr txBox="1"/>
            <p:nvPr/>
          </p:nvSpPr>
          <p:spPr>
            <a:xfrm>
              <a:off x="4089499" y="5188982"/>
              <a:ext cx="793552"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​实验组（已干预）​</a:t>
              </a:r>
            </a:p>
          </p:txBody>
        </p:sp>
        <p:sp>
          <p:nvSpPr>
            <p:cNvPr id="236" name="TextBox 236"/>
            <p:cNvSpPr txBox="1"/>
            <p:nvPr/>
          </p:nvSpPr>
          <p:spPr>
            <a:xfrm>
              <a:off x="5047983" y="5188982"/>
              <a:ext cx="591083"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​降幅（pct）​</a:t>
              </a:r>
            </a:p>
          </p:txBody>
        </p:sp>
        <p:sp>
          <p:nvSpPr>
            <p:cNvPr id="237" name="TextBox 237"/>
            <p:cNvSpPr txBox="1"/>
            <p:nvPr/>
          </p:nvSpPr>
          <p:spPr>
            <a:xfrm>
              <a:off x="5980620" y="5188982"/>
              <a:ext cx="440309"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挽回客户数</a:t>
              </a:r>
            </a:p>
          </p:txBody>
        </p:sp>
        <p:sp>
          <p:nvSpPr>
            <p:cNvPr id="238" name="TextBox 238"/>
            <p:cNvSpPr txBox="1"/>
            <p:nvPr/>
          </p:nvSpPr>
          <p:spPr>
            <a:xfrm>
              <a:off x="6758175" y="5188982"/>
              <a:ext cx="599699"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​挽回率（%）​</a:t>
              </a:r>
            </a:p>
          </p:txBody>
        </p:sp>
        <p:sp>
          <p:nvSpPr>
            <p:cNvPr id="239" name="TextBox 239"/>
            <p:cNvSpPr txBox="1"/>
            <p:nvPr/>
          </p:nvSpPr>
          <p:spPr>
            <a:xfrm>
              <a:off x="7604656" y="5188982"/>
              <a:ext cx="621238"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​提升度（倍）​</a:t>
              </a:r>
            </a:p>
          </p:txBody>
        </p:sp>
        <p:sp>
          <p:nvSpPr>
            <p:cNvPr id="240" name="TextBox 240"/>
            <p:cNvSpPr txBox="1"/>
            <p:nvPr/>
          </p:nvSpPr>
          <p:spPr>
            <a:xfrm>
              <a:off x="8537674" y="5188982"/>
              <a:ext cx="793552"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​留存金额（万元）​</a:t>
              </a:r>
            </a:p>
          </p:txBody>
        </p:sp>
        <p:sp>
          <p:nvSpPr>
            <p:cNvPr id="241" name="TextBox 241"/>
            <p:cNvSpPr txBox="1"/>
            <p:nvPr/>
          </p:nvSpPr>
          <p:spPr>
            <a:xfrm>
              <a:off x="9796650" y="5188982"/>
              <a:ext cx="599699"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​留存率（%）​</a:t>
              </a:r>
            </a:p>
          </p:txBody>
        </p:sp>
        <p:sp>
          <p:nvSpPr>
            <p:cNvPr id="242" name="TextBox 242"/>
            <p:cNvSpPr txBox="1"/>
            <p:nvPr/>
          </p:nvSpPr>
          <p:spPr>
            <a:xfrm>
              <a:off x="10885802" y="5188982"/>
              <a:ext cx="707395" cy="126206"/>
            </a:xfrm>
            <a:prstGeom prst="rect">
              <a:avLst/>
            </a:prstGeom>
            <a:noFill/>
            <a:ln>
              <a:noFill/>
            </a:ln>
          </p:spPr>
          <p:txBody>
            <a:bodyPr wrap="none" lIns="0" tIns="0" rIns="0" bIns="0" anchor="t" anchorCtr="0">
              <a:spAutoFit/>
            </a:bodyPr>
            <a:lstStyle/>
            <a:p>
              <a:pPr algn="ctr"/>
              <a:r>
                <a:rPr lang="zh-CN" sz="640" dirty="0">
                  <a:solidFill>
                    <a:srgbClr val="4A130A"/>
                  </a:solidFill>
                  <a:latin typeface="+mn-lt"/>
                  <a:ea typeface="+mn-ea"/>
                  <a:cs typeface="+mn-cs"/>
                </a:rPr>
                <a:t>​人均留存（元）​</a:t>
              </a:r>
            </a:p>
          </p:txBody>
        </p:sp>
        <p:sp>
          <p:nvSpPr>
            <p:cNvPr id="243" name="Rectangle 243"/>
            <p:cNvSpPr/>
            <p:nvPr/>
          </p:nvSpPr>
          <p:spPr>
            <a:xfrm>
              <a:off x="342900" y="5314950"/>
              <a:ext cx="11468100" cy="1333500"/>
            </a:xfrm>
            <a:prstGeom prst="rect">
              <a:avLst/>
            </a:prstGeom>
            <a:solidFill>
              <a:srgbClr val="FFFFFF"/>
            </a:solidFill>
            <a:ln w="9525">
              <a:solidFill>
                <a:srgbClr val="F0B8AE"/>
              </a:solidFill>
            </a:ln>
          </p:spPr>
        </p:sp>
        <p:sp>
          <p:nvSpPr>
            <p:cNvPr id="244" name="Rectangle 244"/>
            <p:cNvSpPr/>
            <p:nvPr/>
          </p:nvSpPr>
          <p:spPr>
            <a:xfrm>
              <a:off x="342900" y="5581650"/>
              <a:ext cx="11468100" cy="266700"/>
            </a:xfrm>
            <a:prstGeom prst="rect">
              <a:avLst/>
            </a:prstGeom>
            <a:solidFill>
              <a:srgbClr val="FFF8F2"/>
            </a:solidFill>
            <a:ln>
              <a:noFill/>
            </a:ln>
          </p:spPr>
        </p:sp>
        <p:sp>
          <p:nvSpPr>
            <p:cNvPr id="245" name="Rectangle 245"/>
            <p:cNvSpPr/>
            <p:nvPr/>
          </p:nvSpPr>
          <p:spPr>
            <a:xfrm>
              <a:off x="342900" y="6115050"/>
              <a:ext cx="11468100" cy="266700"/>
            </a:xfrm>
            <a:prstGeom prst="rect">
              <a:avLst/>
            </a:prstGeom>
            <a:solidFill>
              <a:srgbClr val="FFF8F2"/>
            </a:solidFill>
            <a:ln>
              <a:noFill/>
            </a:ln>
          </p:spPr>
        </p:sp>
        <p:sp>
          <p:nvSpPr>
            <p:cNvPr id="246" name="Rectangle 246"/>
            <p:cNvSpPr/>
            <p:nvPr/>
          </p:nvSpPr>
          <p:spPr>
            <a:xfrm>
              <a:off x="342900" y="6381750"/>
              <a:ext cx="11468100" cy="266700"/>
            </a:xfrm>
            <a:prstGeom prst="rect">
              <a:avLst/>
            </a:prstGeom>
            <a:solidFill>
              <a:srgbClr val="FEF2E6"/>
            </a:solidFill>
            <a:ln>
              <a:noFill/>
            </a:ln>
          </p:spPr>
        </p:sp>
        <p:sp>
          <p:nvSpPr>
            <p:cNvPr id="247" name="TextBox 247"/>
            <p:cNvSpPr txBox="1"/>
            <p:nvPr/>
          </p:nvSpPr>
          <p:spPr>
            <a:xfrm>
              <a:off x="570328" y="5409486"/>
              <a:ext cx="688144"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​利率优惠方案​</a:t>
              </a:r>
            </a:p>
          </p:txBody>
        </p:sp>
        <p:sp>
          <p:nvSpPr>
            <p:cNvPr id="248" name="TextBox 248"/>
            <p:cNvSpPr txBox="1"/>
            <p:nvPr/>
          </p:nvSpPr>
          <p:spPr>
            <a:xfrm>
              <a:off x="1699486" y="54094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​98,452​</a:t>
              </a:r>
            </a:p>
          </p:txBody>
        </p:sp>
        <p:sp>
          <p:nvSpPr>
            <p:cNvPr id="249" name="TextBox 249"/>
            <p:cNvSpPr txBox="1"/>
            <p:nvPr/>
          </p:nvSpPr>
          <p:spPr>
            <a:xfrm>
              <a:off x="2573463" y="54094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​62.1%​</a:t>
              </a:r>
            </a:p>
          </p:txBody>
        </p:sp>
        <p:sp>
          <p:nvSpPr>
            <p:cNvPr id="250" name="TextBox 250"/>
            <p:cNvSpPr txBox="1"/>
            <p:nvPr/>
          </p:nvSpPr>
          <p:spPr>
            <a:xfrm>
              <a:off x="3466555" y="5409486"/>
              <a:ext cx="324940"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​13.8​</a:t>
              </a:r>
            </a:p>
          </p:txBody>
        </p:sp>
        <p:sp>
          <p:nvSpPr>
            <p:cNvPr id="251" name="TextBox 251"/>
            <p:cNvSpPr txBox="1"/>
            <p:nvPr/>
          </p:nvSpPr>
          <p:spPr>
            <a:xfrm>
              <a:off x="4350090" y="5409486"/>
              <a:ext cx="272371"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​6.3​</a:t>
              </a:r>
            </a:p>
          </p:txBody>
        </p:sp>
        <p:sp>
          <p:nvSpPr>
            <p:cNvPr id="252" name="TextBox 252"/>
            <p:cNvSpPr txBox="1"/>
            <p:nvPr/>
          </p:nvSpPr>
          <p:spPr>
            <a:xfrm>
              <a:off x="5173170" y="5409486"/>
              <a:ext cx="340710"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​-6.5​</a:t>
              </a:r>
            </a:p>
          </p:txBody>
        </p:sp>
        <p:sp>
          <p:nvSpPr>
            <p:cNvPr id="253" name="TextBox 253"/>
            <p:cNvSpPr txBox="1"/>
            <p:nvPr/>
          </p:nvSpPr>
          <p:spPr>
            <a:xfrm>
              <a:off x="6012021" y="5409486"/>
              <a:ext cx="377509"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​6,409​</a:t>
              </a:r>
            </a:p>
          </p:txBody>
        </p:sp>
        <p:sp>
          <p:nvSpPr>
            <p:cNvPr id="254" name="TextBox 254"/>
            <p:cNvSpPr txBox="1"/>
            <p:nvPr/>
          </p:nvSpPr>
          <p:spPr>
            <a:xfrm>
              <a:off x="6859713" y="54094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​12.9%​</a:t>
              </a:r>
            </a:p>
          </p:txBody>
        </p:sp>
        <p:sp>
          <p:nvSpPr>
            <p:cNvPr id="255" name="TextBox 255"/>
            <p:cNvSpPr txBox="1"/>
            <p:nvPr/>
          </p:nvSpPr>
          <p:spPr>
            <a:xfrm>
              <a:off x="7726521" y="5409486"/>
              <a:ext cx="377509" cy="140494"/>
            </a:xfrm>
            <a:prstGeom prst="rect">
              <a:avLst/>
            </a:prstGeom>
            <a:noFill/>
            <a:ln>
              <a:noFill/>
            </a:ln>
          </p:spPr>
          <p:txBody>
            <a:bodyPr wrap="none" lIns="0" tIns="0" rIns="0" bIns="0" anchor="t" anchorCtr="0">
              <a:spAutoFit/>
            </a:bodyPr>
            <a:lstStyle/>
            <a:p>
              <a:pPr algn="ctr"/>
              <a:r>
                <a:rPr lang="en-US" sz="710" dirty="0">
                  <a:solidFill>
                    <a:srgbClr val="3D3835"/>
                  </a:solidFill>
                  <a:latin typeface="+mn-lt"/>
                  <a:ea typeface="+mn-ea"/>
                  <a:cs typeface="+mn-cs"/>
                </a:rPr>
                <a:t>​2.03x​</a:t>
              </a:r>
            </a:p>
          </p:txBody>
        </p:sp>
        <p:sp>
          <p:nvSpPr>
            <p:cNvPr id="256" name="TextBox 256"/>
            <p:cNvSpPr txBox="1"/>
            <p:nvPr/>
          </p:nvSpPr>
          <p:spPr>
            <a:xfrm>
              <a:off x="8719411" y="54094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​24,860​</a:t>
              </a:r>
            </a:p>
          </p:txBody>
        </p:sp>
        <p:sp>
          <p:nvSpPr>
            <p:cNvPr id="257" name="TextBox 257"/>
            <p:cNvSpPr txBox="1"/>
            <p:nvPr/>
          </p:nvSpPr>
          <p:spPr>
            <a:xfrm>
              <a:off x="9898188" y="54094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​65.2%​</a:t>
              </a:r>
            </a:p>
          </p:txBody>
        </p:sp>
        <p:sp>
          <p:nvSpPr>
            <p:cNvPr id="258" name="TextBox 258"/>
            <p:cNvSpPr txBox="1"/>
            <p:nvPr/>
          </p:nvSpPr>
          <p:spPr>
            <a:xfrm>
              <a:off x="11024461" y="54094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​38,795​</a:t>
              </a:r>
            </a:p>
          </p:txBody>
        </p:sp>
        <p:sp>
          <p:nvSpPr>
            <p:cNvPr id="259" name="TextBox 259"/>
            <p:cNvSpPr txBox="1"/>
            <p:nvPr/>
          </p:nvSpPr>
          <p:spPr>
            <a:xfrm>
              <a:off x="570328" y="5676186"/>
              <a:ext cx="688144"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​服务补偿方案​</a:t>
              </a:r>
            </a:p>
          </p:txBody>
        </p:sp>
        <p:sp>
          <p:nvSpPr>
            <p:cNvPr id="260" name="TextBox 260"/>
            <p:cNvSpPr txBox="1"/>
            <p:nvPr/>
          </p:nvSpPr>
          <p:spPr>
            <a:xfrm>
              <a:off x="1699486" y="56761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​76,318​</a:t>
              </a:r>
            </a:p>
          </p:txBody>
        </p:sp>
        <p:sp>
          <p:nvSpPr>
            <p:cNvPr id="261" name="TextBox 261"/>
            <p:cNvSpPr txBox="1"/>
            <p:nvPr/>
          </p:nvSpPr>
          <p:spPr>
            <a:xfrm>
              <a:off x="2573463" y="56761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​58.7%​</a:t>
              </a:r>
            </a:p>
          </p:txBody>
        </p:sp>
        <p:sp>
          <p:nvSpPr>
            <p:cNvPr id="262" name="TextBox 262"/>
            <p:cNvSpPr txBox="1"/>
            <p:nvPr/>
          </p:nvSpPr>
          <p:spPr>
            <a:xfrm>
              <a:off x="3466555" y="5676186"/>
              <a:ext cx="324940"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​13.6​</a:t>
              </a:r>
            </a:p>
          </p:txBody>
        </p:sp>
        <p:sp>
          <p:nvSpPr>
            <p:cNvPr id="263" name="TextBox 263"/>
            <p:cNvSpPr txBox="1"/>
            <p:nvPr/>
          </p:nvSpPr>
          <p:spPr>
            <a:xfrm>
              <a:off x="4350090" y="5676186"/>
              <a:ext cx="272371"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​6.1​</a:t>
              </a:r>
            </a:p>
          </p:txBody>
        </p:sp>
        <p:sp>
          <p:nvSpPr>
            <p:cNvPr id="264" name="TextBox 264"/>
            <p:cNvSpPr txBox="1"/>
            <p:nvPr/>
          </p:nvSpPr>
          <p:spPr>
            <a:xfrm>
              <a:off x="5173170" y="5676186"/>
              <a:ext cx="340710"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​-7.5​</a:t>
              </a:r>
            </a:p>
          </p:txBody>
        </p:sp>
        <p:sp>
          <p:nvSpPr>
            <p:cNvPr id="265" name="TextBox 265"/>
            <p:cNvSpPr txBox="1"/>
            <p:nvPr/>
          </p:nvSpPr>
          <p:spPr>
            <a:xfrm>
              <a:off x="6012021" y="5676186"/>
              <a:ext cx="377509"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​5,726​</a:t>
              </a:r>
            </a:p>
          </p:txBody>
        </p:sp>
        <p:sp>
          <p:nvSpPr>
            <p:cNvPr id="266" name="TextBox 266"/>
            <p:cNvSpPr txBox="1"/>
            <p:nvPr/>
          </p:nvSpPr>
          <p:spPr>
            <a:xfrm>
              <a:off x="6859713" y="56761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​14.4%​</a:t>
              </a:r>
            </a:p>
          </p:txBody>
        </p:sp>
        <p:sp>
          <p:nvSpPr>
            <p:cNvPr id="267" name="TextBox 267"/>
            <p:cNvSpPr txBox="1"/>
            <p:nvPr/>
          </p:nvSpPr>
          <p:spPr>
            <a:xfrm>
              <a:off x="7726521" y="5676186"/>
              <a:ext cx="377509" cy="140494"/>
            </a:xfrm>
            <a:prstGeom prst="rect">
              <a:avLst/>
            </a:prstGeom>
            <a:noFill/>
            <a:ln>
              <a:noFill/>
            </a:ln>
          </p:spPr>
          <p:txBody>
            <a:bodyPr wrap="none" lIns="0" tIns="0" rIns="0" bIns="0" anchor="t" anchorCtr="0">
              <a:spAutoFit/>
            </a:bodyPr>
            <a:lstStyle/>
            <a:p>
              <a:pPr algn="ctr"/>
              <a:r>
                <a:rPr lang="en-US" sz="710" dirty="0">
                  <a:solidFill>
                    <a:srgbClr val="3D3835"/>
                  </a:solidFill>
                  <a:latin typeface="+mn-lt"/>
                  <a:ea typeface="+mn-ea"/>
                  <a:cs typeface="+mn-cs"/>
                </a:rPr>
                <a:t>​2.15x​</a:t>
              </a:r>
            </a:p>
          </p:txBody>
        </p:sp>
        <p:sp>
          <p:nvSpPr>
            <p:cNvPr id="268" name="TextBox 268"/>
            <p:cNvSpPr txBox="1"/>
            <p:nvPr/>
          </p:nvSpPr>
          <p:spPr>
            <a:xfrm>
              <a:off x="8719411" y="56761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​17,642​</a:t>
              </a:r>
            </a:p>
          </p:txBody>
        </p:sp>
        <p:sp>
          <p:nvSpPr>
            <p:cNvPr id="269" name="TextBox 269"/>
            <p:cNvSpPr txBox="1"/>
            <p:nvPr/>
          </p:nvSpPr>
          <p:spPr>
            <a:xfrm>
              <a:off x="9898188" y="56761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​61.1%​</a:t>
              </a:r>
            </a:p>
          </p:txBody>
        </p:sp>
        <p:sp>
          <p:nvSpPr>
            <p:cNvPr id="270" name="TextBox 270"/>
            <p:cNvSpPr txBox="1"/>
            <p:nvPr/>
          </p:nvSpPr>
          <p:spPr>
            <a:xfrm>
              <a:off x="11024461" y="56761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​30,801​</a:t>
              </a:r>
            </a:p>
          </p:txBody>
        </p:sp>
        <p:sp>
          <p:nvSpPr>
            <p:cNvPr id="271" name="TextBox 271"/>
            <p:cNvSpPr txBox="1"/>
            <p:nvPr/>
          </p:nvSpPr>
          <p:spPr>
            <a:xfrm>
              <a:off x="670687" y="5942886"/>
              <a:ext cx="487426"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权益包方案</a:t>
              </a:r>
            </a:p>
          </p:txBody>
        </p:sp>
        <p:sp>
          <p:nvSpPr>
            <p:cNvPr id="272" name="TextBox 272"/>
            <p:cNvSpPr txBox="1"/>
            <p:nvPr/>
          </p:nvSpPr>
          <p:spPr>
            <a:xfrm>
              <a:off x="1673202" y="5942886"/>
              <a:ext cx="482647"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​112,693​</a:t>
              </a:r>
            </a:p>
          </p:txBody>
        </p:sp>
        <p:sp>
          <p:nvSpPr>
            <p:cNvPr id="273" name="TextBox 273"/>
            <p:cNvSpPr txBox="1"/>
            <p:nvPr/>
          </p:nvSpPr>
          <p:spPr>
            <a:xfrm>
              <a:off x="2573463" y="59428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​64.3%​</a:t>
              </a:r>
            </a:p>
          </p:txBody>
        </p:sp>
        <p:sp>
          <p:nvSpPr>
            <p:cNvPr id="274" name="TextBox 274"/>
            <p:cNvSpPr txBox="1"/>
            <p:nvPr/>
          </p:nvSpPr>
          <p:spPr>
            <a:xfrm>
              <a:off x="3466555" y="5942886"/>
              <a:ext cx="324940"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​12.2​</a:t>
              </a:r>
            </a:p>
          </p:txBody>
        </p:sp>
        <p:sp>
          <p:nvSpPr>
            <p:cNvPr id="275" name="TextBox 275"/>
            <p:cNvSpPr txBox="1"/>
            <p:nvPr/>
          </p:nvSpPr>
          <p:spPr>
            <a:xfrm>
              <a:off x="4350090" y="5942886"/>
              <a:ext cx="272371"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​5.7​</a:t>
              </a:r>
            </a:p>
          </p:txBody>
        </p:sp>
        <p:sp>
          <p:nvSpPr>
            <p:cNvPr id="276" name="TextBox 276"/>
            <p:cNvSpPr txBox="1"/>
            <p:nvPr/>
          </p:nvSpPr>
          <p:spPr>
            <a:xfrm>
              <a:off x="5173170" y="5942886"/>
              <a:ext cx="340710"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​-6.5​</a:t>
              </a:r>
            </a:p>
          </p:txBody>
        </p:sp>
        <p:sp>
          <p:nvSpPr>
            <p:cNvPr id="277" name="TextBox 277"/>
            <p:cNvSpPr txBox="1"/>
            <p:nvPr/>
          </p:nvSpPr>
          <p:spPr>
            <a:xfrm>
              <a:off x="6012021" y="5942886"/>
              <a:ext cx="377509"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​8,028​</a:t>
              </a:r>
            </a:p>
          </p:txBody>
        </p:sp>
        <p:sp>
          <p:nvSpPr>
            <p:cNvPr id="278" name="TextBox 278"/>
            <p:cNvSpPr txBox="1"/>
            <p:nvPr/>
          </p:nvSpPr>
          <p:spPr>
            <a:xfrm>
              <a:off x="6859713" y="59428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​14.2%​</a:t>
              </a:r>
            </a:p>
          </p:txBody>
        </p:sp>
        <p:sp>
          <p:nvSpPr>
            <p:cNvPr id="279" name="TextBox 279"/>
            <p:cNvSpPr txBox="1"/>
            <p:nvPr/>
          </p:nvSpPr>
          <p:spPr>
            <a:xfrm>
              <a:off x="7726521" y="5942886"/>
              <a:ext cx="377509" cy="140494"/>
            </a:xfrm>
            <a:prstGeom prst="rect">
              <a:avLst/>
            </a:prstGeom>
            <a:noFill/>
            <a:ln>
              <a:noFill/>
            </a:ln>
          </p:spPr>
          <p:txBody>
            <a:bodyPr wrap="none" lIns="0" tIns="0" rIns="0" bIns="0" anchor="t" anchorCtr="0">
              <a:spAutoFit/>
            </a:bodyPr>
            <a:lstStyle/>
            <a:p>
              <a:pPr algn="ctr"/>
              <a:r>
                <a:rPr lang="en-US" sz="710" dirty="0">
                  <a:solidFill>
                    <a:srgbClr val="3D3835"/>
                  </a:solidFill>
                  <a:latin typeface="+mn-lt"/>
                  <a:ea typeface="+mn-ea"/>
                  <a:cs typeface="+mn-cs"/>
                </a:rPr>
                <a:t>​2.48x​</a:t>
              </a:r>
            </a:p>
          </p:txBody>
        </p:sp>
        <p:sp>
          <p:nvSpPr>
            <p:cNvPr id="280" name="TextBox 280"/>
            <p:cNvSpPr txBox="1"/>
            <p:nvPr/>
          </p:nvSpPr>
          <p:spPr>
            <a:xfrm>
              <a:off x="8719411" y="59428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​31,905​</a:t>
              </a:r>
            </a:p>
          </p:txBody>
        </p:sp>
        <p:sp>
          <p:nvSpPr>
            <p:cNvPr id="281" name="TextBox 281"/>
            <p:cNvSpPr txBox="1"/>
            <p:nvPr/>
          </p:nvSpPr>
          <p:spPr>
            <a:xfrm>
              <a:off x="9898188" y="59428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​66.4%​</a:t>
              </a:r>
            </a:p>
          </p:txBody>
        </p:sp>
        <p:sp>
          <p:nvSpPr>
            <p:cNvPr id="282" name="TextBox 282"/>
            <p:cNvSpPr txBox="1"/>
            <p:nvPr/>
          </p:nvSpPr>
          <p:spPr>
            <a:xfrm>
              <a:off x="11024461" y="59428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​39,795​</a:t>
              </a:r>
            </a:p>
          </p:txBody>
        </p:sp>
        <p:sp>
          <p:nvSpPr>
            <p:cNvPr id="283" name="TextBox 283"/>
            <p:cNvSpPr txBox="1"/>
            <p:nvPr/>
          </p:nvSpPr>
          <p:spPr>
            <a:xfrm>
              <a:off x="522538" y="6209586"/>
              <a:ext cx="7837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​个性化沟通方案​</a:t>
              </a:r>
            </a:p>
          </p:txBody>
        </p:sp>
        <p:sp>
          <p:nvSpPr>
            <p:cNvPr id="284" name="TextBox 284"/>
            <p:cNvSpPr txBox="1"/>
            <p:nvPr/>
          </p:nvSpPr>
          <p:spPr>
            <a:xfrm>
              <a:off x="1673202" y="6209586"/>
              <a:ext cx="482647"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​133,987​</a:t>
              </a:r>
            </a:p>
          </p:txBody>
        </p:sp>
        <p:sp>
          <p:nvSpPr>
            <p:cNvPr id="285" name="TextBox 285"/>
            <p:cNvSpPr txBox="1"/>
            <p:nvPr/>
          </p:nvSpPr>
          <p:spPr>
            <a:xfrm>
              <a:off x="2573463" y="62095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​60.5%​</a:t>
              </a:r>
            </a:p>
          </p:txBody>
        </p:sp>
        <p:sp>
          <p:nvSpPr>
            <p:cNvPr id="286" name="TextBox 286"/>
            <p:cNvSpPr txBox="1"/>
            <p:nvPr/>
          </p:nvSpPr>
          <p:spPr>
            <a:xfrm>
              <a:off x="3466555" y="6209586"/>
              <a:ext cx="324940"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​11.9​</a:t>
              </a:r>
            </a:p>
          </p:txBody>
        </p:sp>
        <p:sp>
          <p:nvSpPr>
            <p:cNvPr id="287" name="TextBox 287"/>
            <p:cNvSpPr txBox="1"/>
            <p:nvPr/>
          </p:nvSpPr>
          <p:spPr>
            <a:xfrm>
              <a:off x="4350090" y="6209586"/>
              <a:ext cx="272371"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​5.9​</a:t>
              </a:r>
            </a:p>
          </p:txBody>
        </p:sp>
        <p:sp>
          <p:nvSpPr>
            <p:cNvPr id="288" name="TextBox 288"/>
            <p:cNvSpPr txBox="1"/>
            <p:nvPr/>
          </p:nvSpPr>
          <p:spPr>
            <a:xfrm>
              <a:off x="5173170" y="6209586"/>
              <a:ext cx="340710"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​-6.0​</a:t>
              </a:r>
            </a:p>
          </p:txBody>
        </p:sp>
        <p:sp>
          <p:nvSpPr>
            <p:cNvPr id="289" name="TextBox 289"/>
            <p:cNvSpPr txBox="1"/>
            <p:nvPr/>
          </p:nvSpPr>
          <p:spPr>
            <a:xfrm>
              <a:off x="6012021" y="6209586"/>
              <a:ext cx="377509"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​9,445​</a:t>
              </a:r>
            </a:p>
          </p:txBody>
        </p:sp>
        <p:sp>
          <p:nvSpPr>
            <p:cNvPr id="290" name="TextBox 290"/>
            <p:cNvSpPr txBox="1"/>
            <p:nvPr/>
          </p:nvSpPr>
          <p:spPr>
            <a:xfrm>
              <a:off x="6859713" y="62095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​13.9%​</a:t>
              </a:r>
            </a:p>
          </p:txBody>
        </p:sp>
        <p:sp>
          <p:nvSpPr>
            <p:cNvPr id="291" name="TextBox 291"/>
            <p:cNvSpPr txBox="1"/>
            <p:nvPr/>
          </p:nvSpPr>
          <p:spPr>
            <a:xfrm>
              <a:off x="7726521" y="6209586"/>
              <a:ext cx="377509" cy="140494"/>
            </a:xfrm>
            <a:prstGeom prst="rect">
              <a:avLst/>
            </a:prstGeom>
            <a:noFill/>
            <a:ln>
              <a:noFill/>
            </a:ln>
          </p:spPr>
          <p:txBody>
            <a:bodyPr wrap="none" lIns="0" tIns="0" rIns="0" bIns="0" anchor="t" anchorCtr="0">
              <a:spAutoFit/>
            </a:bodyPr>
            <a:lstStyle/>
            <a:p>
              <a:pPr algn="ctr"/>
              <a:r>
                <a:rPr lang="en-US" sz="710" dirty="0">
                  <a:solidFill>
                    <a:srgbClr val="3D3835"/>
                  </a:solidFill>
                  <a:latin typeface="+mn-lt"/>
                  <a:ea typeface="+mn-ea"/>
                  <a:cs typeface="+mn-cs"/>
                </a:rPr>
                <a:t>​2.34x​</a:t>
              </a:r>
            </a:p>
          </p:txBody>
        </p:sp>
        <p:sp>
          <p:nvSpPr>
            <p:cNvPr id="292" name="TextBox 292"/>
            <p:cNvSpPr txBox="1"/>
            <p:nvPr/>
          </p:nvSpPr>
          <p:spPr>
            <a:xfrm>
              <a:off x="8719411" y="62095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​28,776​</a:t>
              </a:r>
            </a:p>
          </p:txBody>
        </p:sp>
        <p:sp>
          <p:nvSpPr>
            <p:cNvPr id="293" name="TextBox 293"/>
            <p:cNvSpPr txBox="1"/>
            <p:nvPr/>
          </p:nvSpPr>
          <p:spPr>
            <a:xfrm>
              <a:off x="9898188" y="6209586"/>
              <a:ext cx="396625"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​63.2%​</a:t>
              </a:r>
            </a:p>
          </p:txBody>
        </p:sp>
        <p:sp>
          <p:nvSpPr>
            <p:cNvPr id="294" name="TextBox 294"/>
            <p:cNvSpPr txBox="1"/>
            <p:nvPr/>
          </p:nvSpPr>
          <p:spPr>
            <a:xfrm>
              <a:off x="11024461" y="6209586"/>
              <a:ext cx="430078" cy="140494"/>
            </a:xfrm>
            <a:prstGeom prst="rect">
              <a:avLst/>
            </a:prstGeom>
            <a:noFill/>
            <a:ln>
              <a:noFill/>
            </a:ln>
          </p:spPr>
          <p:txBody>
            <a:bodyPr wrap="none" lIns="0" tIns="0" rIns="0" bIns="0" anchor="t" anchorCtr="0">
              <a:spAutoFit/>
            </a:bodyPr>
            <a:lstStyle/>
            <a:p>
              <a:pPr algn="ctr"/>
              <a:r>
                <a:rPr lang="zh-CN" sz="710" dirty="0">
                  <a:solidFill>
                    <a:srgbClr val="3D3835"/>
                  </a:solidFill>
                  <a:latin typeface="+mn-lt"/>
                  <a:ea typeface="+mn-ea"/>
                  <a:cs typeface="+mn-cs"/>
                </a:rPr>
                <a:t>​30,436​</a:t>
              </a:r>
            </a:p>
          </p:txBody>
        </p:sp>
        <p:sp>
          <p:nvSpPr>
            <p:cNvPr id="295" name="TextBox 295"/>
            <p:cNvSpPr txBox="1"/>
            <p:nvPr/>
          </p:nvSpPr>
          <p:spPr>
            <a:xfrm>
              <a:off x="814057" y="6476286"/>
              <a:ext cx="200685"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合计</a:t>
              </a:r>
            </a:p>
          </p:txBody>
        </p:sp>
        <p:sp>
          <p:nvSpPr>
            <p:cNvPr id="296" name="TextBox 296"/>
            <p:cNvSpPr txBox="1"/>
            <p:nvPr/>
          </p:nvSpPr>
          <p:spPr>
            <a:xfrm>
              <a:off x="1661373" y="6476286"/>
              <a:ext cx="506303"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​421,450​</a:t>
              </a:r>
            </a:p>
          </p:txBody>
        </p:sp>
        <p:sp>
          <p:nvSpPr>
            <p:cNvPr id="297" name="TextBox 297"/>
            <p:cNvSpPr txBox="1"/>
            <p:nvPr/>
          </p:nvSpPr>
          <p:spPr>
            <a:xfrm>
              <a:off x="2563785" y="6476286"/>
              <a:ext cx="415980"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​61.4%​</a:t>
              </a:r>
            </a:p>
          </p:txBody>
        </p:sp>
        <p:sp>
          <p:nvSpPr>
            <p:cNvPr id="298" name="TextBox 298"/>
            <p:cNvSpPr txBox="1"/>
            <p:nvPr/>
          </p:nvSpPr>
          <p:spPr>
            <a:xfrm>
              <a:off x="3458670" y="6476286"/>
              <a:ext cx="340710"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​12.6​</a:t>
              </a:r>
            </a:p>
          </p:txBody>
        </p:sp>
        <p:sp>
          <p:nvSpPr>
            <p:cNvPr id="299" name="TextBox 299"/>
            <p:cNvSpPr txBox="1"/>
            <p:nvPr/>
          </p:nvSpPr>
          <p:spPr>
            <a:xfrm>
              <a:off x="4343519" y="6476286"/>
              <a:ext cx="285513"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​5.9​</a:t>
              </a:r>
            </a:p>
          </p:txBody>
        </p:sp>
        <p:sp>
          <p:nvSpPr>
            <p:cNvPr id="300" name="TextBox 300"/>
            <p:cNvSpPr txBox="1"/>
            <p:nvPr/>
          </p:nvSpPr>
          <p:spPr>
            <a:xfrm>
              <a:off x="5173170" y="6476286"/>
              <a:ext cx="340710"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​-6.7​</a:t>
              </a:r>
            </a:p>
          </p:txBody>
        </p:sp>
        <p:sp>
          <p:nvSpPr>
            <p:cNvPr id="301" name="TextBox 301"/>
            <p:cNvSpPr txBox="1"/>
            <p:nvPr/>
          </p:nvSpPr>
          <p:spPr>
            <a:xfrm>
              <a:off x="5975222" y="6476286"/>
              <a:ext cx="451106"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​29,608​</a:t>
              </a:r>
            </a:p>
          </p:txBody>
        </p:sp>
        <p:sp>
          <p:nvSpPr>
            <p:cNvPr id="302" name="TextBox 302"/>
            <p:cNvSpPr txBox="1"/>
            <p:nvPr/>
          </p:nvSpPr>
          <p:spPr>
            <a:xfrm>
              <a:off x="6850035" y="6476286"/>
              <a:ext cx="415980"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​13.8%​</a:t>
              </a:r>
            </a:p>
          </p:txBody>
        </p:sp>
        <p:sp>
          <p:nvSpPr>
            <p:cNvPr id="303" name="TextBox 303"/>
            <p:cNvSpPr txBox="1"/>
            <p:nvPr/>
          </p:nvSpPr>
          <p:spPr>
            <a:xfrm>
              <a:off x="7717321" y="6476286"/>
              <a:ext cx="395908" cy="140494"/>
            </a:xfrm>
            <a:prstGeom prst="rect">
              <a:avLst/>
            </a:prstGeom>
            <a:noFill/>
            <a:ln>
              <a:noFill/>
            </a:ln>
          </p:spPr>
          <p:txBody>
            <a:bodyPr wrap="none" lIns="0" tIns="0" rIns="0" bIns="0" anchor="t" anchorCtr="0">
              <a:spAutoFit/>
            </a:bodyPr>
            <a:lstStyle/>
            <a:p>
              <a:pPr algn="ctr"/>
              <a:r>
                <a:rPr lang="en-US" sz="710" b="1" dirty="0">
                  <a:solidFill>
                    <a:srgbClr val="3D3835"/>
                  </a:solidFill>
                  <a:latin typeface="+mn-lt"/>
                  <a:ea typeface="+mn-ea"/>
                  <a:cs typeface="+mn-cs"/>
                </a:rPr>
                <a:t>​2.25x​</a:t>
              </a:r>
            </a:p>
          </p:txBody>
        </p:sp>
        <p:sp>
          <p:nvSpPr>
            <p:cNvPr id="304" name="TextBox 304"/>
            <p:cNvSpPr txBox="1"/>
            <p:nvPr/>
          </p:nvSpPr>
          <p:spPr>
            <a:xfrm>
              <a:off x="8681298" y="6476286"/>
              <a:ext cx="506303"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​103,183​</a:t>
              </a:r>
            </a:p>
          </p:txBody>
        </p:sp>
        <p:sp>
          <p:nvSpPr>
            <p:cNvPr id="305" name="TextBox 305"/>
            <p:cNvSpPr txBox="1"/>
            <p:nvPr/>
          </p:nvSpPr>
          <p:spPr>
            <a:xfrm>
              <a:off x="9888510" y="6476286"/>
              <a:ext cx="415980"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​64.0%​</a:t>
              </a:r>
            </a:p>
          </p:txBody>
        </p:sp>
        <p:sp>
          <p:nvSpPr>
            <p:cNvPr id="306" name="TextBox 306"/>
            <p:cNvSpPr txBox="1"/>
            <p:nvPr/>
          </p:nvSpPr>
          <p:spPr>
            <a:xfrm>
              <a:off x="11013947" y="6476286"/>
              <a:ext cx="451106" cy="140494"/>
            </a:xfrm>
            <a:prstGeom prst="rect">
              <a:avLst/>
            </a:prstGeom>
            <a:noFill/>
            <a:ln>
              <a:noFill/>
            </a:ln>
          </p:spPr>
          <p:txBody>
            <a:bodyPr wrap="none" lIns="0" tIns="0" rIns="0" bIns="0" anchor="t" anchorCtr="0">
              <a:spAutoFit/>
            </a:bodyPr>
            <a:lstStyle/>
            <a:p>
              <a:pPr algn="ctr"/>
              <a:r>
                <a:rPr lang="zh-CN" sz="710" b="1" dirty="0">
                  <a:solidFill>
                    <a:srgbClr val="3D3835"/>
                  </a:solidFill>
                  <a:latin typeface="+mn-lt"/>
                  <a:ea typeface="+mn-ea"/>
                  <a:cs typeface="+mn-cs"/>
                </a:rPr>
                <a:t>​34,851​</a:t>
              </a:r>
            </a:p>
          </p:txBody>
        </p:sp>
        <p:sp>
          <p:nvSpPr>
            <p:cNvPr id="307" name="Line 307"/>
            <p:cNvSpPr/>
            <p:nvPr/>
          </p:nvSpPr>
          <p:spPr>
            <a:xfrm>
              <a:off x="1485900" y="4933950"/>
              <a:ext cx="9525" cy="1714500"/>
            </a:xfrm>
            <a:custGeom>
              <a:avLst/>
              <a:gdLst/>
              <a:ahLst/>
              <a:cxnLst/>
              <a:rect l="l" t="t" r="r" b="b"/>
              <a:pathLst>
                <a:path w="9525" h="1714500">
                  <a:moveTo>
                    <a:pt x="0" y="0"/>
                  </a:moveTo>
                  <a:lnTo>
                    <a:pt x="0" y="1714500"/>
                  </a:lnTo>
                </a:path>
              </a:pathLst>
            </a:custGeom>
            <a:noFill/>
            <a:ln w="9525">
              <a:solidFill>
                <a:srgbClr val="EADBCE"/>
              </a:solidFill>
            </a:ln>
          </p:spPr>
        </p:sp>
        <p:sp>
          <p:nvSpPr>
            <p:cNvPr id="308" name="Line 308"/>
            <p:cNvSpPr/>
            <p:nvPr/>
          </p:nvSpPr>
          <p:spPr>
            <a:xfrm>
              <a:off x="2343150" y="5124450"/>
              <a:ext cx="9525" cy="1524000"/>
            </a:xfrm>
            <a:custGeom>
              <a:avLst/>
              <a:gdLst/>
              <a:ahLst/>
              <a:cxnLst/>
              <a:rect l="l" t="t" r="r" b="b"/>
              <a:pathLst>
                <a:path w="9525" h="1524000">
                  <a:moveTo>
                    <a:pt x="0" y="0"/>
                  </a:moveTo>
                  <a:lnTo>
                    <a:pt x="0" y="1524000"/>
                  </a:lnTo>
                </a:path>
              </a:pathLst>
            </a:custGeom>
            <a:noFill/>
            <a:ln w="9525">
              <a:solidFill>
                <a:srgbClr val="EADBCE"/>
              </a:solidFill>
            </a:ln>
          </p:spPr>
        </p:sp>
        <p:sp>
          <p:nvSpPr>
            <p:cNvPr id="309" name="Line 309"/>
            <p:cNvSpPr/>
            <p:nvPr/>
          </p:nvSpPr>
          <p:spPr>
            <a:xfrm>
              <a:off x="3200400" y="4933950"/>
              <a:ext cx="9525" cy="1714500"/>
            </a:xfrm>
            <a:custGeom>
              <a:avLst/>
              <a:gdLst/>
              <a:ahLst/>
              <a:cxnLst/>
              <a:rect l="l" t="t" r="r" b="b"/>
              <a:pathLst>
                <a:path w="9525" h="1714500">
                  <a:moveTo>
                    <a:pt x="0" y="0"/>
                  </a:moveTo>
                  <a:lnTo>
                    <a:pt x="0" y="1714500"/>
                  </a:lnTo>
                </a:path>
              </a:pathLst>
            </a:custGeom>
            <a:noFill/>
            <a:ln w="9525">
              <a:solidFill>
                <a:srgbClr val="EADBCE"/>
              </a:solidFill>
            </a:ln>
          </p:spPr>
        </p:sp>
        <p:sp>
          <p:nvSpPr>
            <p:cNvPr id="310" name="Line 310"/>
            <p:cNvSpPr/>
            <p:nvPr/>
          </p:nvSpPr>
          <p:spPr>
            <a:xfrm>
              <a:off x="4057650" y="5124450"/>
              <a:ext cx="9525" cy="1524000"/>
            </a:xfrm>
            <a:custGeom>
              <a:avLst/>
              <a:gdLst/>
              <a:ahLst/>
              <a:cxnLst/>
              <a:rect l="l" t="t" r="r" b="b"/>
              <a:pathLst>
                <a:path w="9525" h="1524000">
                  <a:moveTo>
                    <a:pt x="0" y="0"/>
                  </a:moveTo>
                  <a:lnTo>
                    <a:pt x="0" y="1524000"/>
                  </a:lnTo>
                </a:path>
              </a:pathLst>
            </a:custGeom>
            <a:noFill/>
            <a:ln w="9525">
              <a:solidFill>
                <a:srgbClr val="EADBCE"/>
              </a:solidFill>
            </a:ln>
          </p:spPr>
        </p:sp>
        <p:sp>
          <p:nvSpPr>
            <p:cNvPr id="311" name="Line 311"/>
            <p:cNvSpPr/>
            <p:nvPr/>
          </p:nvSpPr>
          <p:spPr>
            <a:xfrm>
              <a:off x="4914900" y="5124450"/>
              <a:ext cx="9525" cy="1524000"/>
            </a:xfrm>
            <a:custGeom>
              <a:avLst/>
              <a:gdLst/>
              <a:ahLst/>
              <a:cxnLst/>
              <a:rect l="l" t="t" r="r" b="b"/>
              <a:pathLst>
                <a:path w="9525" h="1524000">
                  <a:moveTo>
                    <a:pt x="0" y="0"/>
                  </a:moveTo>
                  <a:lnTo>
                    <a:pt x="0" y="1524000"/>
                  </a:lnTo>
                </a:path>
              </a:pathLst>
            </a:custGeom>
            <a:noFill/>
            <a:ln w="9525">
              <a:solidFill>
                <a:srgbClr val="EADBCE"/>
              </a:solidFill>
            </a:ln>
          </p:spPr>
        </p:sp>
        <p:sp>
          <p:nvSpPr>
            <p:cNvPr id="312" name="Line 312"/>
            <p:cNvSpPr/>
            <p:nvPr/>
          </p:nvSpPr>
          <p:spPr>
            <a:xfrm>
              <a:off x="5772150" y="4933950"/>
              <a:ext cx="9525" cy="1714500"/>
            </a:xfrm>
            <a:custGeom>
              <a:avLst/>
              <a:gdLst/>
              <a:ahLst/>
              <a:cxnLst/>
              <a:rect l="l" t="t" r="r" b="b"/>
              <a:pathLst>
                <a:path w="9525" h="1714500">
                  <a:moveTo>
                    <a:pt x="0" y="0"/>
                  </a:moveTo>
                  <a:lnTo>
                    <a:pt x="0" y="1714500"/>
                  </a:lnTo>
                </a:path>
              </a:pathLst>
            </a:custGeom>
            <a:noFill/>
            <a:ln w="9525">
              <a:solidFill>
                <a:srgbClr val="EADBCE"/>
              </a:solidFill>
            </a:ln>
          </p:spPr>
        </p:sp>
        <p:sp>
          <p:nvSpPr>
            <p:cNvPr id="313" name="Line 313"/>
            <p:cNvSpPr/>
            <p:nvPr/>
          </p:nvSpPr>
          <p:spPr>
            <a:xfrm>
              <a:off x="6629400" y="5124450"/>
              <a:ext cx="9525" cy="1524000"/>
            </a:xfrm>
            <a:custGeom>
              <a:avLst/>
              <a:gdLst/>
              <a:ahLst/>
              <a:cxnLst/>
              <a:rect l="l" t="t" r="r" b="b"/>
              <a:pathLst>
                <a:path w="9525" h="1524000">
                  <a:moveTo>
                    <a:pt x="0" y="0"/>
                  </a:moveTo>
                  <a:lnTo>
                    <a:pt x="0" y="1524000"/>
                  </a:lnTo>
                </a:path>
              </a:pathLst>
            </a:custGeom>
            <a:noFill/>
            <a:ln w="9525">
              <a:solidFill>
                <a:srgbClr val="EADBCE"/>
              </a:solidFill>
            </a:ln>
          </p:spPr>
        </p:sp>
        <p:sp>
          <p:nvSpPr>
            <p:cNvPr id="314" name="Line 314"/>
            <p:cNvSpPr/>
            <p:nvPr/>
          </p:nvSpPr>
          <p:spPr>
            <a:xfrm>
              <a:off x="7486650" y="5124450"/>
              <a:ext cx="9525" cy="1524000"/>
            </a:xfrm>
            <a:custGeom>
              <a:avLst/>
              <a:gdLst/>
              <a:ahLst/>
              <a:cxnLst/>
              <a:rect l="l" t="t" r="r" b="b"/>
              <a:pathLst>
                <a:path w="9525" h="1524000">
                  <a:moveTo>
                    <a:pt x="0" y="0"/>
                  </a:moveTo>
                  <a:lnTo>
                    <a:pt x="0" y="1524000"/>
                  </a:lnTo>
                </a:path>
              </a:pathLst>
            </a:custGeom>
            <a:noFill/>
            <a:ln w="9525">
              <a:solidFill>
                <a:srgbClr val="EADBCE"/>
              </a:solidFill>
            </a:ln>
          </p:spPr>
        </p:sp>
        <p:sp>
          <p:nvSpPr>
            <p:cNvPr id="315" name="Line 315"/>
            <p:cNvSpPr/>
            <p:nvPr/>
          </p:nvSpPr>
          <p:spPr>
            <a:xfrm>
              <a:off x="8343900" y="4933950"/>
              <a:ext cx="9525" cy="1714500"/>
            </a:xfrm>
            <a:custGeom>
              <a:avLst/>
              <a:gdLst/>
              <a:ahLst/>
              <a:cxnLst/>
              <a:rect l="l" t="t" r="r" b="b"/>
              <a:pathLst>
                <a:path w="9525" h="1714500">
                  <a:moveTo>
                    <a:pt x="0" y="0"/>
                  </a:moveTo>
                  <a:lnTo>
                    <a:pt x="0" y="1714500"/>
                  </a:lnTo>
                </a:path>
              </a:pathLst>
            </a:custGeom>
            <a:noFill/>
            <a:ln w="9525">
              <a:solidFill>
                <a:srgbClr val="EADBCE"/>
              </a:solidFill>
            </a:ln>
          </p:spPr>
        </p:sp>
        <p:sp>
          <p:nvSpPr>
            <p:cNvPr id="316" name="Line 316"/>
            <p:cNvSpPr/>
            <p:nvPr/>
          </p:nvSpPr>
          <p:spPr>
            <a:xfrm>
              <a:off x="9525000" y="5124450"/>
              <a:ext cx="9525" cy="1524000"/>
            </a:xfrm>
            <a:custGeom>
              <a:avLst/>
              <a:gdLst/>
              <a:ahLst/>
              <a:cxnLst/>
              <a:rect l="l" t="t" r="r" b="b"/>
              <a:pathLst>
                <a:path w="9525" h="1524000">
                  <a:moveTo>
                    <a:pt x="0" y="0"/>
                  </a:moveTo>
                  <a:lnTo>
                    <a:pt x="0" y="1524000"/>
                  </a:lnTo>
                </a:path>
              </a:pathLst>
            </a:custGeom>
            <a:noFill/>
            <a:ln w="9525">
              <a:solidFill>
                <a:srgbClr val="EADBCE"/>
              </a:solidFill>
            </a:ln>
          </p:spPr>
        </p:sp>
        <p:sp>
          <p:nvSpPr>
            <p:cNvPr id="317" name="Line 317"/>
            <p:cNvSpPr/>
            <p:nvPr/>
          </p:nvSpPr>
          <p:spPr>
            <a:xfrm>
              <a:off x="10668000" y="5124450"/>
              <a:ext cx="9525" cy="1524000"/>
            </a:xfrm>
            <a:custGeom>
              <a:avLst/>
              <a:gdLst/>
              <a:ahLst/>
              <a:cxnLst/>
              <a:rect l="l" t="t" r="r" b="b"/>
              <a:pathLst>
                <a:path w="9525" h="1524000">
                  <a:moveTo>
                    <a:pt x="0" y="0"/>
                  </a:moveTo>
                  <a:lnTo>
                    <a:pt x="0" y="1524000"/>
                  </a:lnTo>
                </a:path>
              </a:pathLst>
            </a:custGeom>
            <a:noFill/>
            <a:ln w="9525">
              <a:solidFill>
                <a:srgbClr val="EADBCE"/>
              </a:solidFill>
            </a:ln>
          </p:spPr>
        </p:sp>
        <p:sp>
          <p:nvSpPr>
            <p:cNvPr id="318" name="Line 318"/>
            <p:cNvSpPr/>
            <p:nvPr/>
          </p:nvSpPr>
          <p:spPr>
            <a:xfrm>
              <a:off x="342900" y="5581650"/>
              <a:ext cx="11468100" cy="9525"/>
            </a:xfrm>
            <a:custGeom>
              <a:avLst/>
              <a:gdLst/>
              <a:ahLst/>
              <a:cxnLst/>
              <a:rect l="l" t="t" r="r" b="b"/>
              <a:pathLst>
                <a:path w="11468100" h="9525">
                  <a:moveTo>
                    <a:pt x="0" y="0"/>
                  </a:moveTo>
                  <a:lnTo>
                    <a:pt x="11468100" y="0"/>
                  </a:lnTo>
                </a:path>
              </a:pathLst>
            </a:custGeom>
            <a:noFill/>
            <a:ln w="9525">
              <a:solidFill>
                <a:srgbClr val="EADBCE"/>
              </a:solidFill>
            </a:ln>
          </p:spPr>
        </p:sp>
        <p:sp>
          <p:nvSpPr>
            <p:cNvPr id="319" name="Line 319"/>
            <p:cNvSpPr/>
            <p:nvPr/>
          </p:nvSpPr>
          <p:spPr>
            <a:xfrm>
              <a:off x="342900" y="5848350"/>
              <a:ext cx="11468100" cy="9525"/>
            </a:xfrm>
            <a:custGeom>
              <a:avLst/>
              <a:gdLst/>
              <a:ahLst/>
              <a:cxnLst/>
              <a:rect l="l" t="t" r="r" b="b"/>
              <a:pathLst>
                <a:path w="11468100" h="9525">
                  <a:moveTo>
                    <a:pt x="0" y="0"/>
                  </a:moveTo>
                  <a:lnTo>
                    <a:pt x="11468100" y="0"/>
                  </a:lnTo>
                </a:path>
              </a:pathLst>
            </a:custGeom>
            <a:noFill/>
            <a:ln w="9525">
              <a:solidFill>
                <a:srgbClr val="EADBCE"/>
              </a:solidFill>
            </a:ln>
          </p:spPr>
        </p:sp>
        <p:sp>
          <p:nvSpPr>
            <p:cNvPr id="320" name="Line 320"/>
            <p:cNvSpPr/>
            <p:nvPr/>
          </p:nvSpPr>
          <p:spPr>
            <a:xfrm>
              <a:off x="342900" y="6115050"/>
              <a:ext cx="11468100" cy="9525"/>
            </a:xfrm>
            <a:custGeom>
              <a:avLst/>
              <a:gdLst/>
              <a:ahLst/>
              <a:cxnLst/>
              <a:rect l="l" t="t" r="r" b="b"/>
              <a:pathLst>
                <a:path w="11468100" h="9525">
                  <a:moveTo>
                    <a:pt x="0" y="0"/>
                  </a:moveTo>
                  <a:lnTo>
                    <a:pt x="11468100" y="0"/>
                  </a:lnTo>
                </a:path>
              </a:pathLst>
            </a:custGeom>
            <a:noFill/>
            <a:ln w="9525">
              <a:solidFill>
                <a:srgbClr val="EADBCE"/>
              </a:solidFill>
            </a:ln>
          </p:spPr>
        </p:sp>
        <p:sp>
          <p:nvSpPr>
            <p:cNvPr id="321" name="Line 321"/>
            <p:cNvSpPr/>
            <p:nvPr/>
          </p:nvSpPr>
          <p:spPr>
            <a:xfrm>
              <a:off x="342900" y="6381750"/>
              <a:ext cx="11468100" cy="9525"/>
            </a:xfrm>
            <a:custGeom>
              <a:avLst/>
              <a:gdLst/>
              <a:ahLst/>
              <a:cxnLst/>
              <a:rect l="l" t="t" r="r" b="b"/>
              <a:pathLst>
                <a:path w="11468100" h="9525">
                  <a:moveTo>
                    <a:pt x="0" y="0"/>
                  </a:moveTo>
                  <a:lnTo>
                    <a:pt x="11468100" y="0"/>
                  </a:lnTo>
                </a:path>
              </a:pathLst>
            </a:custGeom>
            <a:noFill/>
            <a:ln w="9525">
              <a:solidFill>
                <a:srgbClr val="EADBCE"/>
              </a:solidFill>
            </a:ln>
          </p:spPr>
        </p:sp>
      </p:gr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13</a:t>
              </a:r>
            </a:p>
          </p:txBody>
        </p:sp>
        <p:sp>
          <p:nvSpPr>
            <p:cNvPr id="4" name="TextBox 4"/>
            <p:cNvSpPr txBox="1"/>
            <p:nvPr/>
          </p:nvSpPr>
          <p:spPr>
            <a:xfrm>
              <a:off x="904494" y="170498"/>
              <a:ext cx="7521663"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全渠道协同</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让客户在手机银行、远程银行与网点之间无缝衔接​</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65" name="channel-matrix"/>
          <p:cNvGrpSpPr/>
          <p:nvPr/>
        </p:nvGrpSpPr>
        <p:grpSpPr>
          <a:xfrm>
            <a:off x="342900" y="745093"/>
            <a:ext cx="2476500" cy="5922407"/>
            <a:chOff x="342900" y="745093"/>
            <a:chExt cx="2476500" cy="5922407"/>
          </a:xfrm>
        </p:grpSpPr>
        <p:sp>
          <p:nvSpPr>
            <p:cNvPr id="7" name="TextBox 7"/>
            <p:cNvSpPr txBox="1"/>
            <p:nvPr/>
          </p:nvSpPr>
          <p:spPr>
            <a:xfrm>
              <a:off x="872776" y="745093"/>
              <a:ext cx="1416748" cy="169069"/>
            </a:xfrm>
            <a:prstGeom prst="rect">
              <a:avLst/>
            </a:prstGeom>
            <a:noFill/>
            <a:ln>
              <a:noFill/>
            </a:ln>
          </p:spPr>
          <p:txBody>
            <a:bodyPr wrap="none" lIns="0" tIns="0" rIns="0" bIns="0" anchor="t" anchorCtr="0">
              <a:spAutoFit/>
            </a:bodyPr>
            <a:lstStyle/>
            <a:p>
              <a:pPr algn="ctr"/>
              <a:r>
                <a:rPr lang="zh-CN" sz="860" b="1" dirty="0">
                  <a:solidFill>
                    <a:srgbClr val="C41D00"/>
                  </a:solidFill>
                  <a:latin typeface="+mn-lt"/>
                  <a:ea typeface="+mn-ea"/>
                  <a:cs typeface="+mn-cs"/>
                </a:rPr>
                <a:t>​渠道角色与核心价值矩阵​</a:t>
              </a:r>
            </a:p>
          </p:txBody>
        </p:sp>
        <p:sp>
          <p:nvSpPr>
            <p:cNvPr id="8" name="Rectangle 8"/>
            <p:cNvSpPr/>
            <p:nvPr/>
          </p:nvSpPr>
          <p:spPr>
            <a:xfrm>
              <a:off x="342900" y="933450"/>
              <a:ext cx="2476500" cy="209550"/>
            </a:xfrm>
            <a:prstGeom prst="rect">
              <a:avLst/>
            </a:prstGeom>
            <a:solidFill>
              <a:srgbClr val="C41D00"/>
            </a:solidFill>
            <a:ln>
              <a:noFill/>
            </a:ln>
          </p:spPr>
        </p:sp>
        <p:sp>
          <p:nvSpPr>
            <p:cNvPr id="9" name="TextBox 9"/>
            <p:cNvSpPr txBox="1"/>
            <p:nvPr/>
          </p:nvSpPr>
          <p:spPr>
            <a:xfrm>
              <a:off x="513296" y="1003459"/>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渠道</a:t>
              </a:r>
            </a:p>
          </p:txBody>
        </p:sp>
        <p:sp>
          <p:nvSpPr>
            <p:cNvPr id="10" name="TextBox 10"/>
            <p:cNvSpPr txBox="1"/>
            <p:nvPr/>
          </p:nvSpPr>
          <p:spPr>
            <a:xfrm>
              <a:off x="974204" y="10034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核心角色</a:t>
              </a:r>
            </a:p>
          </p:txBody>
        </p:sp>
        <p:sp>
          <p:nvSpPr>
            <p:cNvPr id="11" name="TextBox 11"/>
            <p:cNvSpPr txBox="1"/>
            <p:nvPr/>
          </p:nvSpPr>
          <p:spPr>
            <a:xfrm>
              <a:off x="1612379" y="10034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主要能力</a:t>
              </a:r>
            </a:p>
          </p:txBody>
        </p:sp>
        <p:sp>
          <p:nvSpPr>
            <p:cNvPr id="12" name="TextBox 12"/>
            <p:cNvSpPr txBox="1"/>
            <p:nvPr/>
          </p:nvSpPr>
          <p:spPr>
            <a:xfrm>
              <a:off x="2298179" y="10034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适用场景</a:t>
              </a:r>
            </a:p>
          </p:txBody>
        </p:sp>
        <p:sp>
          <p:nvSpPr>
            <p:cNvPr id="13" name="Rectangle 13"/>
            <p:cNvSpPr/>
            <p:nvPr/>
          </p:nvSpPr>
          <p:spPr>
            <a:xfrm>
              <a:off x="342900" y="1143000"/>
              <a:ext cx="2476500" cy="5524500"/>
            </a:xfrm>
            <a:prstGeom prst="rect">
              <a:avLst/>
            </a:prstGeom>
            <a:solidFill>
              <a:srgbClr val="FFFFFF"/>
            </a:solidFill>
            <a:ln w="9525">
              <a:solidFill>
                <a:srgbClr val="F0B8AE"/>
              </a:solidFill>
            </a:ln>
          </p:spPr>
        </p:sp>
        <p:sp>
          <p:nvSpPr>
            <p:cNvPr id="14" name="Rectangle 14"/>
            <p:cNvSpPr/>
            <p:nvPr/>
          </p:nvSpPr>
          <p:spPr>
            <a:xfrm>
              <a:off x="342900" y="2247900"/>
              <a:ext cx="2476500" cy="1104900"/>
            </a:xfrm>
            <a:prstGeom prst="rect">
              <a:avLst/>
            </a:prstGeom>
            <a:solidFill>
              <a:srgbClr val="FFF8F2"/>
            </a:solidFill>
            <a:ln>
              <a:noFill/>
            </a:ln>
          </p:spPr>
        </p:sp>
        <p:sp>
          <p:nvSpPr>
            <p:cNvPr id="15" name="Rectangle 15"/>
            <p:cNvSpPr/>
            <p:nvPr/>
          </p:nvSpPr>
          <p:spPr>
            <a:xfrm>
              <a:off x="342900" y="4457700"/>
              <a:ext cx="2476500" cy="1104900"/>
            </a:xfrm>
            <a:prstGeom prst="rect">
              <a:avLst/>
            </a:prstGeom>
            <a:solidFill>
              <a:srgbClr val="FFF8F2"/>
            </a:solidFill>
            <a:ln>
              <a:noFill/>
            </a:ln>
          </p:spPr>
        </p:sp>
        <p:grpSp>
          <p:nvGrpSpPr>
            <p:cNvPr id="19" name="Group 19"/>
            <p:cNvGrpSpPr/>
            <p:nvPr/>
          </p:nvGrpSpPr>
          <p:grpSpPr>
            <a:xfrm>
              <a:off x="552450" y="1457325"/>
              <a:ext cx="114300" cy="171450"/>
              <a:chOff x="552450" y="1457325"/>
              <a:chExt cx="114300" cy="171450"/>
            </a:xfrm>
          </p:grpSpPr>
          <p:sp>
            <p:nvSpPr>
              <p:cNvPr id="16" name="Freeform 16"/>
              <p:cNvSpPr/>
              <p:nvPr/>
            </p:nvSpPr>
            <p:spPr>
              <a:xfrm>
                <a:off x="552450" y="145732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D82000"/>
                </a:solidFill>
              </a:ln>
            </p:spPr>
          </p:sp>
          <p:sp>
            <p:nvSpPr>
              <p:cNvPr id="17" name="Freeform 17"/>
              <p:cNvSpPr/>
              <p:nvPr/>
            </p:nvSpPr>
            <p:spPr>
              <a:xfrm>
                <a:off x="600075" y="1466850"/>
                <a:ext cx="19050" cy="9525"/>
              </a:xfrm>
              <a:custGeom>
                <a:avLst/>
                <a:gdLst/>
                <a:ahLst/>
                <a:cxnLst/>
                <a:rect l="l" t="t" r="r" b="b"/>
                <a:pathLst>
                  <a:path w="19050" h="9525">
                    <a:moveTo>
                      <a:pt x="0" y="0"/>
                    </a:moveTo>
                    <a:lnTo>
                      <a:pt x="19050" y="0"/>
                    </a:lnTo>
                  </a:path>
                </a:pathLst>
              </a:custGeom>
              <a:noFill/>
              <a:ln w="19050">
                <a:solidFill>
                  <a:srgbClr val="D82000"/>
                </a:solidFill>
              </a:ln>
            </p:spPr>
          </p:sp>
          <p:sp>
            <p:nvSpPr>
              <p:cNvPr id="18" name="Freeform 18"/>
              <p:cNvSpPr/>
              <p:nvPr/>
            </p:nvSpPr>
            <p:spPr>
              <a:xfrm>
                <a:off x="609600" y="1590675"/>
                <a:ext cx="9525" cy="9525"/>
              </a:xfrm>
              <a:custGeom>
                <a:avLst/>
                <a:gdLst/>
                <a:ahLst/>
                <a:cxnLst/>
                <a:rect l="l" t="t" r="r" b="b"/>
                <a:pathLst>
                  <a:path w="9525" h="9525">
                    <a:moveTo>
                      <a:pt x="0" y="0"/>
                    </a:moveTo>
                    <a:lnTo>
                      <a:pt x="0" y="95"/>
                    </a:lnTo>
                  </a:path>
                </a:pathLst>
              </a:custGeom>
              <a:noFill/>
              <a:ln w="19050">
                <a:solidFill>
                  <a:srgbClr val="D82000"/>
                </a:solidFill>
              </a:ln>
            </p:spPr>
          </p:sp>
        </p:grpSp>
        <p:sp>
          <p:nvSpPr>
            <p:cNvPr id="20" name="TextBox 20"/>
            <p:cNvSpPr txBox="1"/>
            <p:nvPr/>
          </p:nvSpPr>
          <p:spPr>
            <a:xfrm>
              <a:off x="393668" y="1755934"/>
              <a:ext cx="469964" cy="247650"/>
            </a:xfrm>
            <a:prstGeom prst="rect">
              <a:avLst/>
            </a:prstGeom>
            <a:noFill/>
            <a:ln>
              <a:noFill/>
            </a:ln>
          </p:spPr>
          <p:txBody>
            <a:bodyPr wrap="none" lIns="0" tIns="0" rIns="0" bIns="0" anchor="t" anchorCtr="0">
              <a:spAutoFit/>
            </a:bodyPr>
            <a:lstStyle/>
            <a:p>
              <a:pPr algn="ctr">
                <a:lnSpc>
                  <a:spcPts val="900"/>
                </a:lnSpc>
              </a:pPr>
              <a:r>
                <a:rPr lang="zh-CN" sz="680" b="1" dirty="0">
                  <a:solidFill>
                    <a:srgbClr val="4A130A"/>
                  </a:solidFill>
                  <a:latin typeface="+mn-lt"/>
                  <a:ea typeface="+mn-ea"/>
                  <a:cs typeface="+mn-cs"/>
                </a:rPr>
                <a:t>手机银行</a:t>
              </a:r>
            </a:p>
            <a:p>
              <a:pPr algn="ctr">
                <a:lnSpc>
                  <a:spcPts val="900"/>
                </a:lnSpc>
              </a:pPr>
              <a:r>
                <a:rPr lang="zh-CN" sz="600" b="1" dirty="0">
                  <a:solidFill>
                    <a:srgbClr val="4A130A"/>
                  </a:solidFill>
                  <a:latin typeface="+mn-lt"/>
                  <a:ea typeface="+mn-ea"/>
                  <a:cs typeface="+mn-cs"/>
                </a:rPr>
                <a:t>​​（App）​​</a:t>
              </a:r>
            </a:p>
          </p:txBody>
        </p:sp>
        <p:sp>
          <p:nvSpPr>
            <p:cNvPr id="21" name="TextBox 21"/>
            <p:cNvSpPr txBox="1"/>
            <p:nvPr/>
          </p:nvSpPr>
          <p:spPr>
            <a:xfrm>
              <a:off x="954088" y="1531382"/>
              <a:ext cx="415925"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自助服务</a:t>
              </a:r>
              <a:br/>
              <a:r>
                <a:rPr lang="zh-CN" sz="640" dirty="0">
                  <a:solidFill>
                    <a:srgbClr val="3D3835"/>
                  </a:solidFill>
                  <a:latin typeface="+mn-lt"/>
                  <a:ea typeface="+mn-ea"/>
                  <a:cs typeface="+mn-cs"/>
                </a:rPr>
                <a:t>与日常运营</a:t>
              </a:r>
              <a:br/>
              <a:r>
                <a:rPr lang="zh-CN" sz="640" dirty="0">
                  <a:solidFill>
                    <a:srgbClr val="3D3835"/>
                  </a:solidFill>
                  <a:latin typeface="+mn-lt"/>
                  <a:ea typeface="+mn-ea"/>
                  <a:cs typeface="+mn-cs"/>
                </a:rPr>
                <a:t>主入口</a:t>
              </a:r>
            </a:p>
          </p:txBody>
        </p:sp>
        <p:sp>
          <p:nvSpPr>
            <p:cNvPr id="22" name="TextBox 22"/>
            <p:cNvSpPr txBox="1"/>
            <p:nvPr/>
          </p:nvSpPr>
          <p:spPr>
            <a:xfrm>
              <a:off x="1481138" y="1459230"/>
              <a:ext cx="702945" cy="4619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查询与交易​​</a:t>
              </a:r>
            </a:p>
            <a:p>
              <a:pPr algn="l" marL="76200" indent="-76200">
                <a:lnSpc>
                  <a:spcPts val="900"/>
                </a:lnSpc>
                <a:buClr>
                  <a:srgbClr val="3D3835"/>
                </a:buClr>
                <a:buSzTx/>
                <a:buFontTx/>
                <a:buChar char="•"/>
              </a:pPr>
              <a:r>
                <a:rPr lang="zh-CN" sz="600" dirty="0">
                  <a:solidFill>
                    <a:srgbClr val="3D3835"/>
                  </a:solidFill>
                  <a:latin typeface="+mn-lt"/>
                  <a:ea typeface="+mn-ea"/>
                  <a:cs typeface="+mn-cs"/>
                </a:rPr>
                <a:t>产品浏览与购买​​</a:t>
              </a:r>
            </a:p>
            <a:p>
              <a:pPr algn="l" marL="76200" indent="-76200">
                <a:lnSpc>
                  <a:spcPts val="900"/>
                </a:lnSpc>
                <a:buClr>
                  <a:srgbClr val="3D3835"/>
                </a:buClr>
                <a:buSzTx/>
                <a:buFontTx/>
                <a:buChar char="•"/>
              </a:pPr>
              <a:r>
                <a:rPr lang="zh-CN" sz="600" dirty="0">
                  <a:solidFill>
                    <a:srgbClr val="3D3835"/>
                  </a:solidFill>
                  <a:latin typeface="+mn-lt"/>
                  <a:ea typeface="+mn-ea"/>
                  <a:cs typeface="+mn-cs"/>
                </a:rPr>
                <a:t>智能推荐​​</a:t>
              </a:r>
            </a:p>
            <a:p>
              <a:pPr algn="l" marL="76200" indent="-76200">
                <a:lnSpc>
                  <a:spcPts val="900"/>
                </a:lnSpc>
                <a:buClr>
                  <a:srgbClr val="3D3835"/>
                </a:buClr>
                <a:buSzTx/>
                <a:buFontTx/>
                <a:buChar char="•"/>
              </a:pPr>
              <a:r>
                <a:rPr lang="zh-CN" sz="600" dirty="0">
                  <a:solidFill>
                    <a:srgbClr val="3D3835"/>
                  </a:solidFill>
                  <a:latin typeface="+mn-lt"/>
                  <a:ea typeface="+mn-ea"/>
                  <a:cs typeface="+mn-cs"/>
                </a:rPr>
                <a:t>消息触达​​</a:t>
              </a:r>
            </a:p>
          </p:txBody>
        </p:sp>
        <p:sp>
          <p:nvSpPr>
            <p:cNvPr id="23" name="TextBox 23"/>
            <p:cNvSpPr txBox="1"/>
            <p:nvPr/>
          </p:nvSpPr>
          <p:spPr>
            <a:xfrm>
              <a:off x="2172652" y="1478280"/>
              <a:ext cx="626745" cy="347662"/>
            </a:xfrm>
            <a:prstGeom prst="rect">
              <a:avLst/>
            </a:prstGeom>
            <a:noFill/>
            <a:ln>
              <a:noFill/>
            </a:ln>
          </p:spPr>
          <p:txBody>
            <a:bodyPr wrap="none" lIns="0" tIns="0" rIns="0" bIns="0" anchor="t" anchorCtr="0">
              <a:spAutoFit/>
            </a:bodyPr>
            <a:lstStyle/>
            <a:p>
              <a:pPr algn="ctr">
                <a:lnSpc>
                  <a:spcPts val="900"/>
                </a:lnSpc>
              </a:pPr>
              <a:r>
                <a:rPr lang="zh-CN" sz="600" dirty="0">
                  <a:solidFill>
                    <a:srgbClr val="3D3835"/>
                  </a:solidFill>
                  <a:latin typeface="+mn-lt"/>
                  <a:ea typeface="+mn-ea"/>
                  <a:cs typeface="+mn-cs"/>
                </a:rPr>
                <a:t>​高频、标准化、​</a:t>
              </a:r>
              <a:br/>
              <a:r>
                <a:rPr lang="zh-CN" sz="600" dirty="0">
                  <a:solidFill>
                    <a:srgbClr val="3D3835"/>
                  </a:solidFill>
                  <a:latin typeface="+mn-lt"/>
                  <a:ea typeface="+mn-ea"/>
                  <a:cs typeface="+mn-cs"/>
                </a:rPr>
                <a:t>轻复杂度、</a:t>
              </a:r>
              <a:br/>
              <a:r>
                <a:rPr lang="zh-CN" sz="600" dirty="0">
                  <a:solidFill>
                    <a:srgbClr val="3D3835"/>
                  </a:solidFill>
                  <a:latin typeface="+mn-lt"/>
                  <a:ea typeface="+mn-ea"/>
                  <a:cs typeface="+mn-cs"/>
                </a:rPr>
                <a:t>​7x24自助​</a:t>
              </a:r>
            </a:p>
          </p:txBody>
        </p:sp>
        <p:sp>
          <p:nvSpPr>
            <p:cNvPr id="24" name="Freeform 24"/>
            <p:cNvSpPr/>
            <p:nvPr/>
          </p:nvSpPr>
          <p:spPr>
            <a:xfrm>
              <a:off x="514121" y="2564368"/>
              <a:ext cx="190157" cy="168564"/>
            </a:xfrm>
            <a:custGeom>
              <a:avLst/>
              <a:gdLst/>
              <a:ahLst/>
              <a:cxnLst/>
              <a:rect l="l" t="t" r="r" b="b"/>
              <a:pathLst>
                <a:path w="190157" h="168564">
                  <a:moveTo>
                    <a:pt x="9754" y="159782"/>
                  </a:moveTo>
                  <a:lnTo>
                    <a:pt x="22136" y="122634"/>
                  </a:lnTo>
                  <a:cubicBezTo>
                    <a:pt x="0" y="89897"/>
                    <a:pt x="8553" y="47654"/>
                    <a:pt x="42139" y="23822"/>
                  </a:cubicBezTo>
                  <a:cubicBezTo>
                    <a:pt x="75724" y="0"/>
                    <a:pt x="123958" y="1953"/>
                    <a:pt x="154962" y="28394"/>
                  </a:cubicBezTo>
                  <a:cubicBezTo>
                    <a:pt x="185966" y="54845"/>
                    <a:pt x="190157" y="97603"/>
                    <a:pt x="164763" y="128416"/>
                  </a:cubicBezTo>
                  <a:cubicBezTo>
                    <a:pt x="139370" y="159229"/>
                    <a:pt x="92231" y="168564"/>
                    <a:pt x="54521" y="150257"/>
                  </a:cubicBezTo>
                  <a:lnTo>
                    <a:pt x="9754" y="159782"/>
                  </a:lnTo>
                </a:path>
              </a:pathLst>
            </a:custGeom>
            <a:noFill/>
            <a:ln w="19050">
              <a:solidFill>
                <a:srgbClr val="D82000"/>
              </a:solidFill>
            </a:ln>
          </p:spPr>
        </p:sp>
        <p:sp>
          <p:nvSpPr>
            <p:cNvPr id="25" name="TextBox 25"/>
            <p:cNvSpPr txBox="1"/>
            <p:nvPr/>
          </p:nvSpPr>
          <p:spPr>
            <a:xfrm>
              <a:off x="440804" y="286083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微信银行</a:t>
              </a:r>
            </a:p>
          </p:txBody>
        </p:sp>
        <p:sp>
          <p:nvSpPr>
            <p:cNvPr id="26" name="TextBox 26"/>
            <p:cNvSpPr txBox="1"/>
            <p:nvPr/>
          </p:nvSpPr>
          <p:spPr>
            <a:xfrm>
              <a:off x="954088" y="2693432"/>
              <a:ext cx="41592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轻服务</a:t>
              </a:r>
              <a:br/>
              <a:r>
                <a:rPr lang="zh-CN" sz="640" dirty="0">
                  <a:solidFill>
                    <a:srgbClr val="3D3835"/>
                  </a:solidFill>
                  <a:latin typeface="+mn-lt"/>
                  <a:ea typeface="+mn-ea"/>
                  <a:cs typeface="+mn-cs"/>
                </a:rPr>
                <a:t>与触点延伸</a:t>
              </a:r>
            </a:p>
          </p:txBody>
        </p:sp>
        <p:sp>
          <p:nvSpPr>
            <p:cNvPr id="27" name="TextBox 27"/>
            <p:cNvSpPr txBox="1"/>
            <p:nvPr/>
          </p:nvSpPr>
          <p:spPr>
            <a:xfrm>
              <a:off x="1481138" y="2564130"/>
              <a:ext cx="626745" cy="4619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账户查询​​</a:t>
              </a:r>
            </a:p>
            <a:p>
              <a:pPr algn="l" marL="76200" indent="-76200">
                <a:lnSpc>
                  <a:spcPts val="900"/>
                </a:lnSpc>
                <a:buClr>
                  <a:srgbClr val="3D3835"/>
                </a:buClr>
                <a:buSzTx/>
                <a:buFontTx/>
                <a:buChar char="•"/>
              </a:pPr>
              <a:r>
                <a:rPr lang="zh-CN" sz="600" dirty="0">
                  <a:solidFill>
                    <a:srgbClr val="3D3835"/>
                  </a:solidFill>
                  <a:latin typeface="+mn-lt"/>
                  <a:ea typeface="+mn-ea"/>
                  <a:cs typeface="+mn-cs"/>
                </a:rPr>
                <a:t>业务办理入口​​</a:t>
              </a:r>
            </a:p>
            <a:p>
              <a:pPr algn="l" marL="76200" indent="-76200">
                <a:lnSpc>
                  <a:spcPts val="900"/>
                </a:lnSpc>
                <a:buClr>
                  <a:srgbClr val="3D3835"/>
                </a:buClr>
                <a:buSzTx/>
                <a:buFontTx/>
                <a:buChar char="•"/>
              </a:pPr>
              <a:r>
                <a:rPr lang="zh-CN" sz="600" dirty="0">
                  <a:solidFill>
                    <a:srgbClr val="3D3835"/>
                  </a:solidFill>
                  <a:latin typeface="+mn-lt"/>
                  <a:ea typeface="+mn-ea"/>
                  <a:cs typeface="+mn-cs"/>
                </a:rPr>
                <a:t>活动与资讯​​</a:t>
              </a:r>
            </a:p>
            <a:p>
              <a:pPr algn="l" marL="76200" indent="-76200">
                <a:lnSpc>
                  <a:spcPts val="900"/>
                </a:lnSpc>
                <a:buClr>
                  <a:srgbClr val="3D3835"/>
                </a:buClr>
                <a:buSzTx/>
                <a:buFontTx/>
                <a:buChar char="•"/>
              </a:pPr>
              <a:r>
                <a:rPr lang="zh-CN" sz="600" dirty="0">
                  <a:solidFill>
                    <a:srgbClr val="3D3835"/>
                  </a:solidFill>
                  <a:latin typeface="+mn-lt"/>
                  <a:ea typeface="+mn-ea"/>
                  <a:cs typeface="+mn-cs"/>
                </a:rPr>
                <a:t>客服会话​​</a:t>
              </a:r>
            </a:p>
          </p:txBody>
        </p:sp>
        <p:sp>
          <p:nvSpPr>
            <p:cNvPr id="28" name="TextBox 28"/>
            <p:cNvSpPr txBox="1"/>
            <p:nvPr/>
          </p:nvSpPr>
          <p:spPr>
            <a:xfrm>
              <a:off x="2290762" y="2640330"/>
              <a:ext cx="390525" cy="347662"/>
            </a:xfrm>
            <a:prstGeom prst="rect">
              <a:avLst/>
            </a:prstGeom>
            <a:noFill/>
            <a:ln>
              <a:noFill/>
            </a:ln>
          </p:spPr>
          <p:txBody>
            <a:bodyPr wrap="none" lIns="0" tIns="0" rIns="0" bIns="0" anchor="t" anchorCtr="0">
              <a:spAutoFit/>
            </a:bodyPr>
            <a:lstStyle/>
            <a:p>
              <a:pPr algn="ctr">
                <a:lnSpc>
                  <a:spcPts val="900"/>
                </a:lnSpc>
              </a:pPr>
              <a:r>
                <a:rPr lang="zh-CN" sz="600" dirty="0">
                  <a:solidFill>
                    <a:srgbClr val="3D3835"/>
                  </a:solidFill>
                  <a:latin typeface="+mn-lt"/>
                  <a:ea typeface="+mn-ea"/>
                  <a:cs typeface="+mn-cs"/>
                </a:rPr>
                <a:t>轻量服务、</a:t>
              </a:r>
              <a:br/>
              <a:r>
                <a:rPr lang="zh-CN" sz="600" dirty="0">
                  <a:solidFill>
                    <a:srgbClr val="3D3835"/>
                  </a:solidFill>
                  <a:latin typeface="+mn-lt"/>
                  <a:ea typeface="+mn-ea"/>
                  <a:cs typeface="+mn-cs"/>
                </a:rPr>
                <a:t>内容触达、</a:t>
              </a:r>
              <a:br/>
              <a:r>
                <a:rPr lang="zh-CN" sz="600" dirty="0">
                  <a:solidFill>
                    <a:srgbClr val="3D3835"/>
                  </a:solidFill>
                  <a:latin typeface="+mn-lt"/>
                  <a:ea typeface="+mn-ea"/>
                  <a:cs typeface="+mn-cs"/>
                </a:rPr>
                <a:t>社交触点</a:t>
              </a:r>
            </a:p>
          </p:txBody>
        </p:sp>
        <p:grpSp>
          <p:nvGrpSpPr>
            <p:cNvPr id="31" name="Group 31"/>
            <p:cNvGrpSpPr/>
            <p:nvPr/>
          </p:nvGrpSpPr>
          <p:grpSpPr>
            <a:xfrm>
              <a:off x="523875" y="3638550"/>
              <a:ext cx="171450" cy="114300"/>
              <a:chOff x="523875" y="3638550"/>
              <a:chExt cx="171450" cy="114300"/>
            </a:xfrm>
          </p:grpSpPr>
          <p:sp>
            <p:nvSpPr>
              <p:cNvPr id="29" name="Freeform 29"/>
              <p:cNvSpPr/>
              <p:nvPr/>
            </p:nvSpPr>
            <p:spPr>
              <a:xfrm>
                <a:off x="638175" y="3653496"/>
                <a:ext cx="57150" cy="84408"/>
              </a:xfrm>
              <a:custGeom>
                <a:avLst/>
                <a:gdLst/>
                <a:ahLst/>
                <a:cxnLst/>
                <a:rect l="l" t="t" r="r" b="b"/>
                <a:pathLst>
                  <a:path w="57150" h="84408">
                    <a:moveTo>
                      <a:pt x="0" y="23154"/>
                    </a:moveTo>
                    <a:lnTo>
                      <a:pt x="43367" y="1475"/>
                    </a:lnTo>
                    <a:cubicBezTo>
                      <a:pt x="46319" y="0"/>
                      <a:pt x="49824" y="158"/>
                      <a:pt x="52631" y="1892"/>
                    </a:cubicBezTo>
                    <a:cubicBezTo>
                      <a:pt x="55439" y="3627"/>
                      <a:pt x="57148" y="6691"/>
                      <a:pt x="57150" y="9990"/>
                    </a:cubicBezTo>
                    <a:lnTo>
                      <a:pt x="57150" y="74417"/>
                    </a:lnTo>
                    <a:cubicBezTo>
                      <a:pt x="57148" y="77717"/>
                      <a:pt x="55439" y="80781"/>
                      <a:pt x="52631" y="82516"/>
                    </a:cubicBezTo>
                    <a:cubicBezTo>
                      <a:pt x="49824" y="84250"/>
                      <a:pt x="46319" y="84408"/>
                      <a:pt x="43367" y="82933"/>
                    </a:cubicBezTo>
                    <a:lnTo>
                      <a:pt x="0" y="61254"/>
                    </a:lnTo>
                    <a:lnTo>
                      <a:pt x="0" y="23154"/>
                    </a:lnTo>
                  </a:path>
                </a:pathLst>
              </a:custGeom>
              <a:noFill/>
              <a:ln w="19050">
                <a:solidFill>
                  <a:srgbClr val="D82000"/>
                </a:solidFill>
              </a:ln>
            </p:spPr>
          </p:sp>
          <p:sp>
            <p:nvSpPr>
              <p:cNvPr id="30" name="Freeform 30"/>
              <p:cNvSpPr/>
              <p:nvPr/>
            </p:nvSpPr>
            <p:spPr>
              <a:xfrm>
                <a:off x="523875" y="3638550"/>
                <a:ext cx="114300" cy="114300"/>
              </a:xfrm>
              <a:custGeom>
                <a:avLst/>
                <a:gdLst/>
                <a:ahLst/>
                <a:cxnLst/>
                <a:rect l="l" t="t" r="r" b="b"/>
                <a:pathLst>
                  <a:path w="114300" h="114300">
                    <a:moveTo>
                      <a:pt x="0" y="19050"/>
                    </a:moveTo>
                    <a:cubicBezTo>
                      <a:pt x="0" y="8529"/>
                      <a:pt x="8529" y="0"/>
                      <a:pt x="19050" y="0"/>
                    </a:cubicBezTo>
                    <a:lnTo>
                      <a:pt x="95250" y="0"/>
                    </a:lnTo>
                    <a:cubicBezTo>
                      <a:pt x="105771" y="0"/>
                      <a:pt x="114300" y="8529"/>
                      <a:pt x="114300" y="19050"/>
                    </a:cubicBezTo>
                    <a:lnTo>
                      <a:pt x="114300" y="95250"/>
                    </a:lnTo>
                    <a:cubicBezTo>
                      <a:pt x="114300" y="105771"/>
                      <a:pt x="105771" y="114300"/>
                      <a:pt x="95250" y="114300"/>
                    </a:cubicBezTo>
                    <a:lnTo>
                      <a:pt x="19050" y="114300"/>
                    </a:lnTo>
                    <a:cubicBezTo>
                      <a:pt x="8529" y="114300"/>
                      <a:pt x="0" y="105771"/>
                      <a:pt x="0" y="95250"/>
                    </a:cubicBezTo>
                    <a:lnTo>
                      <a:pt x="0" y="19050"/>
                    </a:lnTo>
                  </a:path>
                </a:pathLst>
              </a:custGeom>
              <a:noFill/>
              <a:ln w="19050">
                <a:solidFill>
                  <a:srgbClr val="D82000"/>
                </a:solidFill>
              </a:ln>
            </p:spPr>
          </p:sp>
        </p:grpSp>
        <p:sp>
          <p:nvSpPr>
            <p:cNvPr id="32" name="TextBox 32"/>
            <p:cNvSpPr txBox="1"/>
            <p:nvPr/>
          </p:nvSpPr>
          <p:spPr>
            <a:xfrm>
              <a:off x="446087" y="3870484"/>
              <a:ext cx="365125" cy="333375"/>
            </a:xfrm>
            <a:prstGeom prst="rect">
              <a:avLst/>
            </a:prstGeom>
            <a:noFill/>
            <a:ln>
              <a:noFill/>
            </a:ln>
          </p:spPr>
          <p:txBody>
            <a:bodyPr wrap="none" lIns="0" tIns="0" rIns="0" bIns="0" anchor="t" anchorCtr="0">
              <a:spAutoFit/>
            </a:bodyPr>
            <a:lstStyle/>
            <a:p>
              <a:pPr algn="ctr">
                <a:lnSpc>
                  <a:spcPts val="750"/>
                </a:lnSpc>
              </a:pPr>
              <a:r>
                <a:rPr lang="zh-CN" sz="680" b="1" dirty="0">
                  <a:solidFill>
                    <a:srgbClr val="4A130A"/>
                  </a:solidFill>
                  <a:latin typeface="+mn-lt"/>
                  <a:ea typeface="+mn-ea"/>
                  <a:cs typeface="+mn-cs"/>
                </a:rPr>
                <a:t>远程银行</a:t>
              </a:r>
            </a:p>
            <a:p>
              <a:pPr algn="ctr">
                <a:lnSpc>
                  <a:spcPts val="750"/>
                </a:lnSpc>
                <a:spcBef>
                  <a:spcPts val="75"/>
                </a:spcBef>
              </a:pPr>
              <a:r>
                <a:rPr lang="zh-CN" sz="560" dirty="0">
                  <a:solidFill>
                    <a:srgbClr val="4A130A"/>
                  </a:solidFill>
                  <a:latin typeface="+mn-lt"/>
                  <a:ea typeface="+mn-ea"/>
                  <a:cs typeface="+mn-cs"/>
                </a:rPr>
                <a:t>​（视频/​</a:t>
              </a:r>
              <a:br/>
              <a:r>
                <a:rPr lang="zh-CN" sz="560" dirty="0">
                  <a:solidFill>
                    <a:srgbClr val="4A130A"/>
                  </a:solidFill>
                  <a:latin typeface="+mn-lt"/>
                  <a:ea typeface="+mn-ea"/>
                  <a:cs typeface="+mn-cs"/>
                </a:rPr>
                <a:t>屏幕共享）</a:t>
              </a:r>
            </a:p>
          </p:txBody>
        </p:sp>
        <p:sp>
          <p:nvSpPr>
            <p:cNvPr id="33" name="TextBox 33"/>
            <p:cNvSpPr txBox="1"/>
            <p:nvPr/>
          </p:nvSpPr>
          <p:spPr>
            <a:xfrm>
              <a:off x="954088" y="3741182"/>
              <a:ext cx="415925"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专业咨询</a:t>
              </a:r>
              <a:br/>
              <a:r>
                <a:rPr lang="zh-CN" sz="640" dirty="0">
                  <a:solidFill>
                    <a:srgbClr val="3D3835"/>
                  </a:solidFill>
                  <a:latin typeface="+mn-lt"/>
                  <a:ea typeface="+mn-ea"/>
                  <a:cs typeface="+mn-cs"/>
                </a:rPr>
                <a:t>与复杂业务</a:t>
              </a:r>
              <a:br/>
              <a:r>
                <a:rPr lang="zh-CN" sz="640" dirty="0">
                  <a:solidFill>
                    <a:srgbClr val="3D3835"/>
                  </a:solidFill>
                  <a:latin typeface="+mn-lt"/>
                  <a:ea typeface="+mn-ea"/>
                  <a:cs typeface="+mn-cs"/>
                </a:rPr>
                <a:t>中台</a:t>
              </a:r>
            </a:p>
          </p:txBody>
        </p:sp>
        <p:sp>
          <p:nvSpPr>
            <p:cNvPr id="34" name="TextBox 34"/>
            <p:cNvSpPr txBox="1"/>
            <p:nvPr/>
          </p:nvSpPr>
          <p:spPr>
            <a:xfrm>
              <a:off x="1481138" y="3669030"/>
              <a:ext cx="626745" cy="4619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1v1视频咨询​​</a:t>
              </a:r>
            </a:p>
            <a:p>
              <a:pPr algn="l" marL="76200" indent="-76200">
                <a:lnSpc>
                  <a:spcPts val="900"/>
                </a:lnSpc>
                <a:buClr>
                  <a:srgbClr val="3D3835"/>
                </a:buClr>
                <a:buSzTx/>
                <a:buFontTx/>
                <a:buChar char="•"/>
              </a:pPr>
              <a:r>
                <a:rPr lang="zh-CN" sz="600" dirty="0">
                  <a:solidFill>
                    <a:srgbClr val="3D3835"/>
                  </a:solidFill>
                  <a:latin typeface="+mn-lt"/>
                  <a:ea typeface="+mn-ea"/>
                  <a:cs typeface="+mn-cs"/>
                </a:rPr>
                <a:t>产品方案定制​​</a:t>
              </a:r>
            </a:p>
            <a:p>
              <a:pPr algn="l" marL="76200" indent="-76200">
                <a:lnSpc>
                  <a:spcPts val="900"/>
                </a:lnSpc>
                <a:buClr>
                  <a:srgbClr val="3D3835"/>
                </a:buClr>
                <a:buSzTx/>
                <a:buFontTx/>
                <a:buChar char="•"/>
              </a:pPr>
              <a:r>
                <a:rPr lang="zh-CN" sz="600" dirty="0">
                  <a:solidFill>
                    <a:srgbClr val="3D3835"/>
                  </a:solidFill>
                  <a:latin typeface="+mn-lt"/>
                  <a:ea typeface="+mn-ea"/>
                  <a:cs typeface="+mn-cs"/>
                </a:rPr>
                <a:t>远程面签​​</a:t>
              </a:r>
            </a:p>
            <a:p>
              <a:pPr algn="l" marL="76200" indent="-76200">
                <a:lnSpc>
                  <a:spcPts val="900"/>
                </a:lnSpc>
                <a:buClr>
                  <a:srgbClr val="3D3835"/>
                </a:buClr>
                <a:buSzTx/>
                <a:buFontTx/>
                <a:buChar char="•"/>
              </a:pPr>
              <a:r>
                <a:rPr lang="zh-CN" sz="600" dirty="0">
                  <a:solidFill>
                    <a:srgbClr val="3D3835"/>
                  </a:solidFill>
                  <a:latin typeface="+mn-lt"/>
                  <a:ea typeface="+mn-ea"/>
                  <a:cs typeface="+mn-cs"/>
                </a:rPr>
                <a:t>远程预审​​</a:t>
              </a:r>
            </a:p>
          </p:txBody>
        </p:sp>
        <p:sp>
          <p:nvSpPr>
            <p:cNvPr id="35" name="TextBox 35"/>
            <p:cNvSpPr txBox="1"/>
            <p:nvPr/>
          </p:nvSpPr>
          <p:spPr>
            <a:xfrm>
              <a:off x="2290762" y="3745230"/>
              <a:ext cx="390525" cy="347662"/>
            </a:xfrm>
            <a:prstGeom prst="rect">
              <a:avLst/>
            </a:prstGeom>
            <a:noFill/>
            <a:ln>
              <a:noFill/>
            </a:ln>
          </p:spPr>
          <p:txBody>
            <a:bodyPr wrap="none" lIns="0" tIns="0" rIns="0" bIns="0" anchor="t" anchorCtr="0">
              <a:spAutoFit/>
            </a:bodyPr>
            <a:lstStyle/>
            <a:p>
              <a:pPr algn="ctr">
                <a:lnSpc>
                  <a:spcPts val="900"/>
                </a:lnSpc>
              </a:pPr>
              <a:r>
                <a:rPr lang="zh-CN" sz="600" dirty="0">
                  <a:solidFill>
                    <a:srgbClr val="3D3835"/>
                  </a:solidFill>
                  <a:latin typeface="+mn-lt"/>
                  <a:ea typeface="+mn-ea"/>
                  <a:cs typeface="+mn-cs"/>
                </a:rPr>
                <a:t>复杂咨询、</a:t>
              </a:r>
              <a:br/>
              <a:r>
                <a:rPr lang="zh-CN" sz="600" dirty="0">
                  <a:solidFill>
                    <a:srgbClr val="3D3835"/>
                  </a:solidFill>
                  <a:latin typeface="+mn-lt"/>
                  <a:ea typeface="+mn-ea"/>
                  <a:cs typeface="+mn-cs"/>
                </a:rPr>
                <a:t>方案定制、</a:t>
              </a:r>
              <a:br/>
              <a:r>
                <a:rPr lang="zh-CN" sz="600" dirty="0">
                  <a:solidFill>
                    <a:srgbClr val="3D3835"/>
                  </a:solidFill>
                  <a:latin typeface="+mn-lt"/>
                  <a:ea typeface="+mn-ea"/>
                  <a:cs typeface="+mn-cs"/>
                </a:rPr>
                <a:t>远程预审</a:t>
              </a:r>
            </a:p>
          </p:txBody>
        </p:sp>
        <p:grpSp>
          <p:nvGrpSpPr>
            <p:cNvPr id="40" name="Group 40"/>
            <p:cNvGrpSpPr/>
            <p:nvPr/>
          </p:nvGrpSpPr>
          <p:grpSpPr>
            <a:xfrm>
              <a:off x="523875" y="4772025"/>
              <a:ext cx="171450" cy="171450"/>
              <a:chOff x="523875" y="4772025"/>
              <a:chExt cx="171450" cy="171450"/>
            </a:xfrm>
          </p:grpSpPr>
          <p:sp>
            <p:nvSpPr>
              <p:cNvPr id="36" name="Freeform 36"/>
              <p:cNvSpPr/>
              <p:nvPr/>
            </p:nvSpPr>
            <p:spPr>
              <a:xfrm>
                <a:off x="542925" y="47720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D82000"/>
                </a:solidFill>
              </a:ln>
            </p:spPr>
          </p:sp>
          <p:sp>
            <p:nvSpPr>
              <p:cNvPr id="37" name="Freeform 37"/>
              <p:cNvSpPr/>
              <p:nvPr/>
            </p:nvSpPr>
            <p:spPr>
              <a:xfrm>
                <a:off x="523875" y="48863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D82000"/>
                </a:solidFill>
              </a:ln>
            </p:spPr>
          </p:sp>
          <p:sp>
            <p:nvSpPr>
              <p:cNvPr id="38" name="Freeform 38"/>
              <p:cNvSpPr/>
              <p:nvPr/>
            </p:nvSpPr>
            <p:spPr>
              <a:xfrm>
                <a:off x="647700" y="47732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D82000"/>
                </a:solidFill>
              </a:ln>
            </p:spPr>
          </p:sp>
          <p:sp>
            <p:nvSpPr>
              <p:cNvPr id="39" name="Freeform 39"/>
              <p:cNvSpPr/>
              <p:nvPr/>
            </p:nvSpPr>
            <p:spPr>
              <a:xfrm>
                <a:off x="666750" y="48877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D82000"/>
                </a:solidFill>
              </a:ln>
            </p:spPr>
          </p:sp>
        </p:grpSp>
        <p:sp>
          <p:nvSpPr>
            <p:cNvPr id="41" name="TextBox 41"/>
            <p:cNvSpPr txBox="1"/>
            <p:nvPr/>
          </p:nvSpPr>
          <p:spPr>
            <a:xfrm>
              <a:off x="451168" y="5070634"/>
              <a:ext cx="354965" cy="247650"/>
            </a:xfrm>
            <a:prstGeom prst="rect">
              <a:avLst/>
            </a:prstGeom>
            <a:noFill/>
            <a:ln>
              <a:noFill/>
            </a:ln>
          </p:spPr>
          <p:txBody>
            <a:bodyPr wrap="none" lIns="0" tIns="0" rIns="0" bIns="0" anchor="t" anchorCtr="0">
              <a:spAutoFit/>
            </a:bodyPr>
            <a:lstStyle/>
            <a:p>
              <a:pPr algn="ctr">
                <a:lnSpc>
                  <a:spcPts val="900"/>
                </a:lnSpc>
              </a:pPr>
              <a:r>
                <a:rPr lang="zh-CN" sz="680" b="1" dirty="0">
                  <a:solidFill>
                    <a:srgbClr val="4A130A"/>
                  </a:solidFill>
                  <a:latin typeface="+mn-lt"/>
                  <a:ea typeface="+mn-ea"/>
                  <a:cs typeface="+mn-cs"/>
                </a:rPr>
                <a:t>呼叫中心</a:t>
              </a:r>
            </a:p>
            <a:p>
              <a:pPr algn="ctr">
                <a:lnSpc>
                  <a:spcPts val="900"/>
                </a:lnSpc>
              </a:pPr>
              <a:r>
                <a:rPr lang="zh-CN" sz="600" b="1" dirty="0">
                  <a:solidFill>
                    <a:srgbClr val="4A130A"/>
                  </a:solidFill>
                  <a:latin typeface="+mn-lt"/>
                  <a:ea typeface="+mn-ea"/>
                  <a:cs typeface="+mn-cs"/>
                </a:rPr>
                <a:t>（电话）</a:t>
              </a:r>
            </a:p>
          </p:txBody>
        </p:sp>
        <p:sp>
          <p:nvSpPr>
            <p:cNvPr id="42" name="TextBox 42"/>
            <p:cNvSpPr txBox="1"/>
            <p:nvPr/>
          </p:nvSpPr>
          <p:spPr>
            <a:xfrm>
              <a:off x="954088" y="4846082"/>
              <a:ext cx="415925"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语音服务</a:t>
              </a:r>
              <a:br/>
              <a:r>
                <a:rPr lang="zh-CN" sz="640" dirty="0">
                  <a:solidFill>
                    <a:srgbClr val="3D3835"/>
                  </a:solidFill>
                  <a:latin typeface="+mn-lt"/>
                  <a:ea typeface="+mn-ea"/>
                  <a:cs typeface="+mn-cs"/>
                </a:rPr>
                <a:t>与问题解决</a:t>
              </a:r>
              <a:br/>
              <a:r>
                <a:rPr lang="zh-CN" sz="640" dirty="0">
                  <a:solidFill>
                    <a:srgbClr val="3D3835"/>
                  </a:solidFill>
                  <a:latin typeface="+mn-lt"/>
                  <a:ea typeface="+mn-ea"/>
                  <a:cs typeface="+mn-cs"/>
                </a:rPr>
                <a:t>枢纽</a:t>
              </a:r>
            </a:p>
          </p:txBody>
        </p:sp>
        <p:sp>
          <p:nvSpPr>
            <p:cNvPr id="43" name="TextBox 43"/>
            <p:cNvSpPr txBox="1"/>
            <p:nvPr/>
          </p:nvSpPr>
          <p:spPr>
            <a:xfrm>
              <a:off x="1481138" y="4773930"/>
              <a:ext cx="702945" cy="4619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语音导航与转接​​</a:t>
              </a:r>
            </a:p>
            <a:p>
              <a:pPr algn="l" marL="76200" indent="-76200">
                <a:lnSpc>
                  <a:spcPts val="900"/>
                </a:lnSpc>
                <a:buClr>
                  <a:srgbClr val="3D3835"/>
                </a:buClr>
                <a:buSzTx/>
                <a:buFontTx/>
                <a:buChar char="•"/>
              </a:pPr>
              <a:r>
                <a:rPr lang="zh-CN" sz="600" dirty="0">
                  <a:solidFill>
                    <a:srgbClr val="3D3835"/>
                  </a:solidFill>
                  <a:latin typeface="+mn-lt"/>
                  <a:ea typeface="+mn-ea"/>
                  <a:cs typeface="+mn-cs"/>
                </a:rPr>
                <a:t>工单创建与跟进​​</a:t>
              </a:r>
            </a:p>
            <a:p>
              <a:pPr algn="l" marL="76200" indent="-76200">
                <a:lnSpc>
                  <a:spcPts val="900"/>
                </a:lnSpc>
                <a:buClr>
                  <a:srgbClr val="3D3835"/>
                </a:buClr>
                <a:buSzTx/>
                <a:buFontTx/>
                <a:buChar char="•"/>
              </a:pPr>
              <a:r>
                <a:rPr lang="zh-CN" sz="600" dirty="0">
                  <a:solidFill>
                    <a:srgbClr val="3D3835"/>
                  </a:solidFill>
                  <a:latin typeface="+mn-lt"/>
                  <a:ea typeface="+mn-ea"/>
                  <a:cs typeface="+mn-cs"/>
                </a:rPr>
                <a:t>投诉与反馈​​</a:t>
              </a:r>
            </a:p>
            <a:p>
              <a:pPr algn="l" marL="76200" indent="-76200">
                <a:lnSpc>
                  <a:spcPts val="900"/>
                </a:lnSpc>
                <a:buClr>
                  <a:srgbClr val="3D3835"/>
                </a:buClr>
                <a:buSzTx/>
                <a:buFontTx/>
                <a:buChar char="•"/>
              </a:pPr>
              <a:r>
                <a:rPr lang="zh-CN" sz="600" dirty="0">
                  <a:solidFill>
                    <a:srgbClr val="3D3835"/>
                  </a:solidFill>
                  <a:latin typeface="+mn-lt"/>
                  <a:ea typeface="+mn-ea"/>
                  <a:cs typeface="+mn-cs"/>
                </a:rPr>
                <a:t>紧急协同​​</a:t>
              </a:r>
            </a:p>
          </p:txBody>
        </p:sp>
        <p:sp>
          <p:nvSpPr>
            <p:cNvPr id="44" name="TextBox 44"/>
            <p:cNvSpPr txBox="1"/>
            <p:nvPr/>
          </p:nvSpPr>
          <p:spPr>
            <a:xfrm>
              <a:off x="2290762" y="4850130"/>
              <a:ext cx="390525" cy="347662"/>
            </a:xfrm>
            <a:prstGeom prst="rect">
              <a:avLst/>
            </a:prstGeom>
            <a:noFill/>
            <a:ln>
              <a:noFill/>
            </a:ln>
          </p:spPr>
          <p:txBody>
            <a:bodyPr wrap="none" lIns="0" tIns="0" rIns="0" bIns="0" anchor="t" anchorCtr="0">
              <a:spAutoFit/>
            </a:bodyPr>
            <a:lstStyle/>
            <a:p>
              <a:pPr algn="ctr">
                <a:lnSpc>
                  <a:spcPts val="900"/>
                </a:lnSpc>
              </a:pPr>
              <a:r>
                <a:rPr lang="zh-CN" sz="600" dirty="0">
                  <a:solidFill>
                    <a:srgbClr val="3D3835"/>
                  </a:solidFill>
                  <a:latin typeface="+mn-lt"/>
                  <a:ea typeface="+mn-ea"/>
                  <a:cs typeface="+mn-cs"/>
                </a:rPr>
                <a:t>语音偏好、</a:t>
              </a:r>
              <a:br/>
              <a:r>
                <a:rPr lang="zh-CN" sz="600" dirty="0">
                  <a:solidFill>
                    <a:srgbClr val="3D3835"/>
                  </a:solidFill>
                  <a:latin typeface="+mn-lt"/>
                  <a:ea typeface="+mn-ea"/>
                  <a:cs typeface="+mn-cs"/>
                </a:rPr>
                <a:t>紧急问题、</a:t>
              </a:r>
              <a:br/>
              <a:r>
                <a:rPr lang="zh-CN" sz="600" dirty="0">
                  <a:solidFill>
                    <a:srgbClr val="3D3835"/>
                  </a:solidFill>
                  <a:latin typeface="+mn-lt"/>
                  <a:ea typeface="+mn-ea"/>
                  <a:cs typeface="+mn-cs"/>
                </a:rPr>
                <a:t>投诉处理</a:t>
              </a:r>
            </a:p>
          </p:txBody>
        </p:sp>
        <p:grpSp>
          <p:nvGrpSpPr>
            <p:cNvPr id="53" name="Group 53"/>
            <p:cNvGrpSpPr/>
            <p:nvPr/>
          </p:nvGrpSpPr>
          <p:grpSpPr>
            <a:xfrm>
              <a:off x="523875" y="5876925"/>
              <a:ext cx="171450" cy="180975"/>
              <a:chOff x="523875" y="5876925"/>
              <a:chExt cx="171450" cy="180975"/>
            </a:xfrm>
          </p:grpSpPr>
          <p:sp>
            <p:nvSpPr>
              <p:cNvPr id="45" name="Freeform 45"/>
              <p:cNvSpPr/>
              <p:nvPr/>
            </p:nvSpPr>
            <p:spPr>
              <a:xfrm>
                <a:off x="523875" y="6048375"/>
                <a:ext cx="171450" cy="9525"/>
              </a:xfrm>
              <a:custGeom>
                <a:avLst/>
                <a:gdLst/>
                <a:ahLst/>
                <a:cxnLst/>
                <a:rect l="l" t="t" r="r" b="b"/>
                <a:pathLst>
                  <a:path w="171450" h="9525">
                    <a:moveTo>
                      <a:pt x="0" y="0"/>
                    </a:moveTo>
                    <a:lnTo>
                      <a:pt x="171450" y="0"/>
                    </a:lnTo>
                  </a:path>
                </a:pathLst>
              </a:custGeom>
              <a:noFill/>
              <a:ln w="19050">
                <a:solidFill>
                  <a:srgbClr val="D82000"/>
                </a:solidFill>
              </a:ln>
            </p:spPr>
          </p:sp>
          <p:sp>
            <p:nvSpPr>
              <p:cNvPr id="46" name="Freeform 46"/>
              <p:cNvSpPr/>
              <p:nvPr/>
            </p:nvSpPr>
            <p:spPr>
              <a:xfrm>
                <a:off x="523875" y="5943600"/>
                <a:ext cx="171450" cy="9525"/>
              </a:xfrm>
              <a:custGeom>
                <a:avLst/>
                <a:gdLst/>
                <a:ahLst/>
                <a:cxnLst/>
                <a:rect l="l" t="t" r="r" b="b"/>
                <a:pathLst>
                  <a:path w="171450" h="9525">
                    <a:moveTo>
                      <a:pt x="0" y="0"/>
                    </a:moveTo>
                    <a:lnTo>
                      <a:pt x="171450" y="0"/>
                    </a:lnTo>
                  </a:path>
                </a:pathLst>
              </a:custGeom>
              <a:noFill/>
              <a:ln w="19050">
                <a:solidFill>
                  <a:srgbClr val="D82000"/>
                </a:solidFill>
              </a:ln>
            </p:spPr>
          </p:sp>
          <p:sp>
            <p:nvSpPr>
              <p:cNvPr id="47" name="Freeform 47"/>
              <p:cNvSpPr/>
              <p:nvPr/>
            </p:nvSpPr>
            <p:spPr>
              <a:xfrm>
                <a:off x="542925" y="5876925"/>
                <a:ext cx="133350" cy="28575"/>
              </a:xfrm>
              <a:custGeom>
                <a:avLst/>
                <a:gdLst/>
                <a:ahLst/>
                <a:cxnLst/>
                <a:rect l="l" t="t" r="r" b="b"/>
                <a:pathLst>
                  <a:path w="133350" h="28575">
                    <a:moveTo>
                      <a:pt x="0" y="28575"/>
                    </a:moveTo>
                    <a:lnTo>
                      <a:pt x="66675" y="0"/>
                    </a:lnTo>
                    <a:lnTo>
                      <a:pt x="133350" y="28575"/>
                    </a:lnTo>
                  </a:path>
                </a:pathLst>
              </a:custGeom>
              <a:noFill/>
              <a:ln w="19050">
                <a:solidFill>
                  <a:srgbClr val="D82000"/>
                </a:solidFill>
              </a:ln>
            </p:spPr>
          </p:sp>
          <p:sp>
            <p:nvSpPr>
              <p:cNvPr id="48" name="Freeform 48"/>
              <p:cNvSpPr/>
              <p:nvPr/>
            </p:nvSpPr>
            <p:spPr>
              <a:xfrm>
                <a:off x="533400" y="5943600"/>
                <a:ext cx="9525" cy="104775"/>
              </a:xfrm>
              <a:custGeom>
                <a:avLst/>
                <a:gdLst/>
                <a:ahLst/>
                <a:cxnLst/>
                <a:rect l="l" t="t" r="r" b="b"/>
                <a:pathLst>
                  <a:path w="9525" h="104775">
                    <a:moveTo>
                      <a:pt x="0" y="0"/>
                    </a:moveTo>
                    <a:lnTo>
                      <a:pt x="0" y="104775"/>
                    </a:lnTo>
                  </a:path>
                </a:pathLst>
              </a:custGeom>
              <a:noFill/>
              <a:ln w="19050">
                <a:solidFill>
                  <a:srgbClr val="D82000"/>
                </a:solidFill>
              </a:ln>
            </p:spPr>
          </p:sp>
          <p:sp>
            <p:nvSpPr>
              <p:cNvPr id="49" name="Freeform 49"/>
              <p:cNvSpPr/>
              <p:nvPr/>
            </p:nvSpPr>
            <p:spPr>
              <a:xfrm>
                <a:off x="685800" y="5943600"/>
                <a:ext cx="9525" cy="104775"/>
              </a:xfrm>
              <a:custGeom>
                <a:avLst/>
                <a:gdLst/>
                <a:ahLst/>
                <a:cxnLst/>
                <a:rect l="l" t="t" r="r" b="b"/>
                <a:pathLst>
                  <a:path w="9525" h="104775">
                    <a:moveTo>
                      <a:pt x="0" y="0"/>
                    </a:moveTo>
                    <a:lnTo>
                      <a:pt x="0" y="104775"/>
                    </a:lnTo>
                  </a:path>
                </a:pathLst>
              </a:custGeom>
              <a:noFill/>
              <a:ln w="19050">
                <a:solidFill>
                  <a:srgbClr val="D82000"/>
                </a:solidFill>
              </a:ln>
            </p:spPr>
          </p:sp>
          <p:sp>
            <p:nvSpPr>
              <p:cNvPr id="50" name="Freeform 50"/>
              <p:cNvSpPr/>
              <p:nvPr/>
            </p:nvSpPr>
            <p:spPr>
              <a:xfrm>
                <a:off x="571500" y="5981700"/>
                <a:ext cx="9525" cy="28575"/>
              </a:xfrm>
              <a:custGeom>
                <a:avLst/>
                <a:gdLst/>
                <a:ahLst/>
                <a:cxnLst/>
                <a:rect l="l" t="t" r="r" b="b"/>
                <a:pathLst>
                  <a:path w="9525" h="28575">
                    <a:moveTo>
                      <a:pt x="0" y="0"/>
                    </a:moveTo>
                    <a:lnTo>
                      <a:pt x="0" y="28575"/>
                    </a:lnTo>
                  </a:path>
                </a:pathLst>
              </a:custGeom>
              <a:noFill/>
              <a:ln w="19050">
                <a:solidFill>
                  <a:srgbClr val="D82000"/>
                </a:solidFill>
              </a:ln>
            </p:spPr>
          </p:sp>
          <p:sp>
            <p:nvSpPr>
              <p:cNvPr id="51" name="Freeform 51"/>
              <p:cNvSpPr/>
              <p:nvPr/>
            </p:nvSpPr>
            <p:spPr>
              <a:xfrm>
                <a:off x="609600" y="5981700"/>
                <a:ext cx="9525" cy="28575"/>
              </a:xfrm>
              <a:custGeom>
                <a:avLst/>
                <a:gdLst/>
                <a:ahLst/>
                <a:cxnLst/>
                <a:rect l="l" t="t" r="r" b="b"/>
                <a:pathLst>
                  <a:path w="9525" h="28575">
                    <a:moveTo>
                      <a:pt x="0" y="0"/>
                    </a:moveTo>
                    <a:lnTo>
                      <a:pt x="0" y="28575"/>
                    </a:lnTo>
                  </a:path>
                </a:pathLst>
              </a:custGeom>
              <a:noFill/>
              <a:ln w="19050">
                <a:solidFill>
                  <a:srgbClr val="D82000"/>
                </a:solidFill>
              </a:ln>
            </p:spPr>
          </p:sp>
          <p:sp>
            <p:nvSpPr>
              <p:cNvPr id="52" name="Freeform 52"/>
              <p:cNvSpPr/>
              <p:nvPr/>
            </p:nvSpPr>
            <p:spPr>
              <a:xfrm>
                <a:off x="647700" y="5981700"/>
                <a:ext cx="9525" cy="28575"/>
              </a:xfrm>
              <a:custGeom>
                <a:avLst/>
                <a:gdLst/>
                <a:ahLst/>
                <a:cxnLst/>
                <a:rect l="l" t="t" r="r" b="b"/>
                <a:pathLst>
                  <a:path w="9525" h="28575">
                    <a:moveTo>
                      <a:pt x="0" y="0"/>
                    </a:moveTo>
                    <a:lnTo>
                      <a:pt x="0" y="28575"/>
                    </a:lnTo>
                  </a:path>
                </a:pathLst>
              </a:custGeom>
              <a:noFill/>
              <a:ln w="19050">
                <a:solidFill>
                  <a:srgbClr val="D82000"/>
                </a:solidFill>
              </a:ln>
            </p:spPr>
          </p:sp>
        </p:grpSp>
        <p:sp>
          <p:nvSpPr>
            <p:cNvPr id="54" name="TextBox 54"/>
            <p:cNvSpPr txBox="1"/>
            <p:nvPr/>
          </p:nvSpPr>
          <p:spPr>
            <a:xfrm>
              <a:off x="351854" y="6175534"/>
              <a:ext cx="553593" cy="247650"/>
            </a:xfrm>
            <a:prstGeom prst="rect">
              <a:avLst/>
            </a:prstGeom>
            <a:noFill/>
            <a:ln>
              <a:noFill/>
            </a:ln>
          </p:spPr>
          <p:txBody>
            <a:bodyPr wrap="none" lIns="0" tIns="0" rIns="0" bIns="0" anchor="t" anchorCtr="0">
              <a:spAutoFit/>
            </a:bodyPr>
            <a:lstStyle/>
            <a:p>
              <a:pPr algn="ctr">
                <a:lnSpc>
                  <a:spcPts val="900"/>
                </a:lnSpc>
              </a:pPr>
              <a:r>
                <a:rPr lang="zh-CN" sz="680" b="1" dirty="0">
                  <a:solidFill>
                    <a:srgbClr val="4A130A"/>
                  </a:solidFill>
                  <a:latin typeface="+mn-lt"/>
                  <a:ea typeface="+mn-ea"/>
                  <a:cs typeface="+mn-cs"/>
                </a:rPr>
                <a:t>线下网点</a:t>
              </a:r>
            </a:p>
            <a:p>
              <a:pPr algn="ctr">
                <a:lnSpc>
                  <a:spcPts val="900"/>
                </a:lnSpc>
              </a:pPr>
              <a:r>
                <a:rPr lang="zh-CN" sz="560" dirty="0">
                  <a:solidFill>
                    <a:srgbClr val="4A130A"/>
                  </a:solidFill>
                  <a:latin typeface="+mn-lt"/>
                  <a:ea typeface="+mn-ea"/>
                  <a:cs typeface="+mn-cs"/>
                </a:rPr>
                <a:t>​（分行/支行）​</a:t>
              </a:r>
            </a:p>
          </p:txBody>
        </p:sp>
        <p:sp>
          <p:nvSpPr>
            <p:cNvPr id="55" name="TextBox 55"/>
            <p:cNvSpPr txBox="1"/>
            <p:nvPr/>
          </p:nvSpPr>
          <p:spPr>
            <a:xfrm>
              <a:off x="954088" y="5950982"/>
              <a:ext cx="415925"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面对面服务</a:t>
              </a:r>
              <a:br/>
              <a:r>
                <a:rPr lang="zh-CN" sz="640" dirty="0">
                  <a:solidFill>
                    <a:srgbClr val="3D3835"/>
                  </a:solidFill>
                  <a:latin typeface="+mn-lt"/>
                  <a:ea typeface="+mn-ea"/>
                  <a:cs typeface="+mn-cs"/>
                </a:rPr>
                <a:t>与高接触</a:t>
              </a:r>
              <a:br/>
              <a:r>
                <a:rPr lang="zh-CN" sz="640" dirty="0">
                  <a:solidFill>
                    <a:srgbClr val="3D3835"/>
                  </a:solidFill>
                  <a:latin typeface="+mn-lt"/>
                  <a:ea typeface="+mn-ea"/>
                  <a:cs typeface="+mn-cs"/>
                </a:rPr>
                <a:t>经营</a:t>
              </a:r>
            </a:p>
          </p:txBody>
        </p:sp>
        <p:sp>
          <p:nvSpPr>
            <p:cNvPr id="56" name="TextBox 56"/>
            <p:cNvSpPr txBox="1"/>
            <p:nvPr/>
          </p:nvSpPr>
          <p:spPr>
            <a:xfrm>
              <a:off x="1481138" y="5878830"/>
              <a:ext cx="702945" cy="4619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身份核验​​</a:t>
              </a:r>
            </a:p>
            <a:p>
              <a:pPr algn="l" marL="76200" indent="-76200">
                <a:lnSpc>
                  <a:spcPts val="900"/>
                </a:lnSpc>
                <a:buClr>
                  <a:srgbClr val="3D3835"/>
                </a:buClr>
                <a:buSzTx/>
                <a:buFontTx/>
                <a:buChar char="•"/>
              </a:pPr>
              <a:r>
                <a:rPr lang="zh-CN" sz="600" dirty="0">
                  <a:solidFill>
                    <a:srgbClr val="3D3835"/>
                  </a:solidFill>
                  <a:latin typeface="+mn-lt"/>
                  <a:ea typeface="+mn-ea"/>
                  <a:cs typeface="+mn-cs"/>
                </a:rPr>
                <a:t>高价值业务办理​​</a:t>
              </a:r>
            </a:p>
            <a:p>
              <a:pPr algn="l" marL="76200" indent="-76200">
                <a:lnSpc>
                  <a:spcPts val="900"/>
                </a:lnSpc>
                <a:buClr>
                  <a:srgbClr val="3D3835"/>
                </a:buClr>
                <a:buSzTx/>
                <a:buFontTx/>
                <a:buChar char="•"/>
              </a:pPr>
              <a:r>
                <a:rPr lang="zh-CN" sz="600" dirty="0">
                  <a:solidFill>
                    <a:srgbClr val="3D3835"/>
                  </a:solidFill>
                  <a:latin typeface="+mn-lt"/>
                  <a:ea typeface="+mn-ea"/>
                  <a:cs typeface="+mn-cs"/>
                </a:rPr>
                <a:t>复杂业务落地​​</a:t>
              </a:r>
            </a:p>
            <a:p>
              <a:pPr algn="l" marL="76200" indent="-76200">
                <a:lnSpc>
                  <a:spcPts val="900"/>
                </a:lnSpc>
                <a:buClr>
                  <a:srgbClr val="3D3835"/>
                </a:buClr>
                <a:buSzTx/>
                <a:buFontTx/>
                <a:buChar char="•"/>
              </a:pPr>
              <a:r>
                <a:rPr lang="zh-CN" sz="600" dirty="0">
                  <a:solidFill>
                    <a:srgbClr val="3D3835"/>
                  </a:solidFill>
                  <a:latin typeface="+mn-lt"/>
                  <a:ea typeface="+mn-ea"/>
                  <a:cs typeface="+mn-cs"/>
                </a:rPr>
                <a:t>现金类交易​​</a:t>
              </a:r>
            </a:p>
          </p:txBody>
        </p:sp>
        <p:sp>
          <p:nvSpPr>
            <p:cNvPr id="57" name="TextBox 57"/>
            <p:cNvSpPr txBox="1"/>
            <p:nvPr/>
          </p:nvSpPr>
          <p:spPr>
            <a:xfrm>
              <a:off x="2290762" y="5955030"/>
              <a:ext cx="390525" cy="347662"/>
            </a:xfrm>
            <a:prstGeom prst="rect">
              <a:avLst/>
            </a:prstGeom>
            <a:noFill/>
            <a:ln>
              <a:noFill/>
            </a:ln>
          </p:spPr>
          <p:txBody>
            <a:bodyPr wrap="none" lIns="0" tIns="0" rIns="0" bIns="0" anchor="t" anchorCtr="0">
              <a:spAutoFit/>
            </a:bodyPr>
            <a:lstStyle/>
            <a:p>
              <a:pPr algn="ctr">
                <a:lnSpc>
                  <a:spcPts val="900"/>
                </a:lnSpc>
              </a:pPr>
              <a:r>
                <a:rPr lang="zh-CN" sz="600" dirty="0">
                  <a:solidFill>
                    <a:srgbClr val="3D3835"/>
                  </a:solidFill>
                  <a:latin typeface="+mn-lt"/>
                  <a:ea typeface="+mn-ea"/>
                  <a:cs typeface="+mn-cs"/>
                </a:rPr>
                <a:t>高附加值、</a:t>
              </a:r>
              <a:br/>
              <a:r>
                <a:rPr lang="zh-CN" sz="600" dirty="0">
                  <a:solidFill>
                    <a:srgbClr val="3D3835"/>
                  </a:solidFill>
                  <a:latin typeface="+mn-lt"/>
                  <a:ea typeface="+mn-ea"/>
                  <a:cs typeface="+mn-cs"/>
                </a:rPr>
                <a:t>需面对面、</a:t>
              </a:r>
              <a:br/>
              <a:r>
                <a:rPr lang="zh-CN" sz="600" dirty="0">
                  <a:solidFill>
                    <a:srgbClr val="3D3835"/>
                  </a:solidFill>
                  <a:latin typeface="+mn-lt"/>
                  <a:ea typeface="+mn-ea"/>
                  <a:cs typeface="+mn-cs"/>
                </a:rPr>
                <a:t>合规强校验</a:t>
              </a:r>
            </a:p>
          </p:txBody>
        </p:sp>
        <p:sp>
          <p:nvSpPr>
            <p:cNvPr id="58" name="Line 58"/>
            <p:cNvSpPr/>
            <p:nvPr/>
          </p:nvSpPr>
          <p:spPr>
            <a:xfrm>
              <a:off x="876300" y="933450"/>
              <a:ext cx="9525" cy="5734050"/>
            </a:xfrm>
            <a:custGeom>
              <a:avLst/>
              <a:gdLst/>
              <a:ahLst/>
              <a:cxnLst/>
              <a:rect l="l" t="t" r="r" b="b"/>
              <a:pathLst>
                <a:path w="9525" h="5734050">
                  <a:moveTo>
                    <a:pt x="0" y="0"/>
                  </a:moveTo>
                  <a:lnTo>
                    <a:pt x="0" y="5734050"/>
                  </a:lnTo>
                </a:path>
              </a:pathLst>
            </a:custGeom>
            <a:noFill/>
            <a:ln w="9525">
              <a:solidFill>
                <a:srgbClr val="EADBCE"/>
              </a:solidFill>
            </a:ln>
          </p:spPr>
        </p:sp>
        <p:sp>
          <p:nvSpPr>
            <p:cNvPr id="59" name="Line 59"/>
            <p:cNvSpPr/>
            <p:nvPr/>
          </p:nvSpPr>
          <p:spPr>
            <a:xfrm>
              <a:off x="1447800" y="933450"/>
              <a:ext cx="9525" cy="5734050"/>
            </a:xfrm>
            <a:custGeom>
              <a:avLst/>
              <a:gdLst/>
              <a:ahLst/>
              <a:cxnLst/>
              <a:rect l="l" t="t" r="r" b="b"/>
              <a:pathLst>
                <a:path w="9525" h="5734050">
                  <a:moveTo>
                    <a:pt x="0" y="0"/>
                  </a:moveTo>
                  <a:lnTo>
                    <a:pt x="0" y="5734050"/>
                  </a:lnTo>
                </a:path>
              </a:pathLst>
            </a:custGeom>
            <a:noFill/>
            <a:ln w="9525">
              <a:solidFill>
                <a:srgbClr val="EADBCE"/>
              </a:solidFill>
            </a:ln>
          </p:spPr>
        </p:sp>
        <p:sp>
          <p:nvSpPr>
            <p:cNvPr id="60" name="Line 60"/>
            <p:cNvSpPr/>
            <p:nvPr/>
          </p:nvSpPr>
          <p:spPr>
            <a:xfrm>
              <a:off x="2152650" y="933450"/>
              <a:ext cx="9525" cy="5734050"/>
            </a:xfrm>
            <a:custGeom>
              <a:avLst/>
              <a:gdLst/>
              <a:ahLst/>
              <a:cxnLst/>
              <a:rect l="l" t="t" r="r" b="b"/>
              <a:pathLst>
                <a:path w="9525" h="5734050">
                  <a:moveTo>
                    <a:pt x="0" y="0"/>
                  </a:moveTo>
                  <a:lnTo>
                    <a:pt x="0" y="5734050"/>
                  </a:lnTo>
                </a:path>
              </a:pathLst>
            </a:custGeom>
            <a:noFill/>
            <a:ln w="9525">
              <a:solidFill>
                <a:srgbClr val="EADBCE"/>
              </a:solidFill>
            </a:ln>
          </p:spPr>
        </p:sp>
        <p:sp>
          <p:nvSpPr>
            <p:cNvPr id="61" name="Line 61"/>
            <p:cNvSpPr/>
            <p:nvPr/>
          </p:nvSpPr>
          <p:spPr>
            <a:xfrm>
              <a:off x="342900" y="2247900"/>
              <a:ext cx="2476500" cy="9525"/>
            </a:xfrm>
            <a:custGeom>
              <a:avLst/>
              <a:gdLst/>
              <a:ahLst/>
              <a:cxnLst/>
              <a:rect l="l" t="t" r="r" b="b"/>
              <a:pathLst>
                <a:path w="2476500" h="9525">
                  <a:moveTo>
                    <a:pt x="0" y="0"/>
                  </a:moveTo>
                  <a:lnTo>
                    <a:pt x="2476500" y="0"/>
                  </a:lnTo>
                </a:path>
              </a:pathLst>
            </a:custGeom>
            <a:noFill/>
            <a:ln w="9525">
              <a:solidFill>
                <a:srgbClr val="EADBCE"/>
              </a:solidFill>
            </a:ln>
          </p:spPr>
        </p:sp>
        <p:sp>
          <p:nvSpPr>
            <p:cNvPr id="62" name="Line 62"/>
            <p:cNvSpPr/>
            <p:nvPr/>
          </p:nvSpPr>
          <p:spPr>
            <a:xfrm>
              <a:off x="342900" y="3352800"/>
              <a:ext cx="2476500" cy="9525"/>
            </a:xfrm>
            <a:custGeom>
              <a:avLst/>
              <a:gdLst/>
              <a:ahLst/>
              <a:cxnLst/>
              <a:rect l="l" t="t" r="r" b="b"/>
              <a:pathLst>
                <a:path w="2476500" h="9525">
                  <a:moveTo>
                    <a:pt x="0" y="0"/>
                  </a:moveTo>
                  <a:lnTo>
                    <a:pt x="2476500" y="0"/>
                  </a:lnTo>
                </a:path>
              </a:pathLst>
            </a:custGeom>
            <a:noFill/>
            <a:ln w="9525">
              <a:solidFill>
                <a:srgbClr val="EADBCE"/>
              </a:solidFill>
            </a:ln>
          </p:spPr>
        </p:sp>
        <p:sp>
          <p:nvSpPr>
            <p:cNvPr id="63" name="Line 63"/>
            <p:cNvSpPr/>
            <p:nvPr/>
          </p:nvSpPr>
          <p:spPr>
            <a:xfrm>
              <a:off x="342900" y="4457700"/>
              <a:ext cx="2476500" cy="9525"/>
            </a:xfrm>
            <a:custGeom>
              <a:avLst/>
              <a:gdLst/>
              <a:ahLst/>
              <a:cxnLst/>
              <a:rect l="l" t="t" r="r" b="b"/>
              <a:pathLst>
                <a:path w="2476500" h="9525">
                  <a:moveTo>
                    <a:pt x="0" y="0"/>
                  </a:moveTo>
                  <a:lnTo>
                    <a:pt x="2476500" y="0"/>
                  </a:lnTo>
                </a:path>
              </a:pathLst>
            </a:custGeom>
            <a:noFill/>
            <a:ln w="9525">
              <a:solidFill>
                <a:srgbClr val="EADBCE"/>
              </a:solidFill>
            </a:ln>
          </p:spPr>
        </p:sp>
        <p:sp>
          <p:nvSpPr>
            <p:cNvPr id="64" name="Line 64"/>
            <p:cNvSpPr/>
            <p:nvPr/>
          </p:nvSpPr>
          <p:spPr>
            <a:xfrm>
              <a:off x="342900" y="5562600"/>
              <a:ext cx="2476500" cy="9525"/>
            </a:xfrm>
            <a:custGeom>
              <a:avLst/>
              <a:gdLst/>
              <a:ahLst/>
              <a:cxnLst/>
              <a:rect l="l" t="t" r="r" b="b"/>
              <a:pathLst>
                <a:path w="2476500" h="9525">
                  <a:moveTo>
                    <a:pt x="0" y="0"/>
                  </a:moveTo>
                  <a:lnTo>
                    <a:pt x="2476500" y="0"/>
                  </a:lnTo>
                </a:path>
              </a:pathLst>
            </a:custGeom>
            <a:noFill/>
            <a:ln w="9525">
              <a:solidFill>
                <a:srgbClr val="EADBCE"/>
              </a:solidFill>
            </a:ln>
          </p:spPr>
        </p:sp>
      </p:grpSp>
      <p:grpSp>
        <p:nvGrpSpPr>
          <p:cNvPr id="127" name="journey-case"/>
          <p:cNvGrpSpPr/>
          <p:nvPr/>
        </p:nvGrpSpPr>
        <p:grpSpPr>
          <a:xfrm>
            <a:off x="2928938" y="745093"/>
            <a:ext cx="4729162" cy="2357199"/>
            <a:chOff x="2928938" y="745093"/>
            <a:chExt cx="4729162" cy="2357199"/>
          </a:xfrm>
        </p:grpSpPr>
        <p:sp>
          <p:nvSpPr>
            <p:cNvPr id="66" name="TextBox 66"/>
            <p:cNvSpPr txBox="1"/>
            <p:nvPr/>
          </p:nvSpPr>
          <p:spPr>
            <a:xfrm>
              <a:off x="2928938" y="745093"/>
              <a:ext cx="2663087" cy="169069"/>
            </a:xfrm>
            <a:prstGeom prst="rect">
              <a:avLst/>
            </a:prstGeom>
            <a:noFill/>
            <a:ln>
              <a:noFill/>
            </a:ln>
          </p:spPr>
          <p:txBody>
            <a:bodyPr wrap="none" lIns="0" tIns="0" rIns="0" bIns="0" anchor="t" anchorCtr="0">
              <a:spAutoFit/>
            </a:bodyPr>
            <a:lstStyle/>
            <a:p>
              <a:pPr algn="l"/>
              <a:r>
                <a:rPr lang="zh-CN" sz="860" b="1" dirty="0">
                  <a:solidFill>
                    <a:srgbClr val="C41D00"/>
                  </a:solidFill>
                  <a:latin typeface="+mn-lt"/>
                  <a:ea typeface="+mn-ea"/>
                  <a:cs typeface="+mn-cs"/>
                </a:rPr>
                <a:t>客户旅程与跨渠道交接</a:t>
              </a:r>
              <a:r>
                <a:rPr lang="zh-CN" sz="710" dirty="0">
                  <a:solidFill>
                    <a:srgbClr val="7A716B"/>
                  </a:solidFill>
                  <a:latin typeface="+mn-lt"/>
                  <a:ea typeface="+mn-ea"/>
                  <a:cs typeface="+mn-cs"/>
                </a:rPr>
                <a:t>（案例：张女士—理财产品购买）​​</a:t>
              </a:r>
            </a:p>
          </p:txBody>
        </p:sp>
        <p:sp>
          <p:nvSpPr>
            <p:cNvPr id="67" name="Ellipse 67"/>
            <p:cNvSpPr/>
            <p:nvPr/>
          </p:nvSpPr>
          <p:spPr>
            <a:xfrm>
              <a:off x="2981325" y="923925"/>
              <a:ext cx="171450" cy="171450"/>
            </a:xfrm>
            <a:prstGeom prst="ellipse">
              <a:avLst/>
            </a:prstGeom>
            <a:solidFill>
              <a:srgbClr val="D82000"/>
            </a:solidFill>
            <a:ln>
              <a:noFill/>
            </a:ln>
          </p:spPr>
        </p:sp>
        <p:sp>
          <p:nvSpPr>
            <p:cNvPr id="68" name="TextBox 68"/>
            <p:cNvSpPr txBox="1"/>
            <p:nvPr/>
          </p:nvSpPr>
          <p:spPr>
            <a:xfrm>
              <a:off x="2974827" y="9667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69" name="TextBox 69"/>
            <p:cNvSpPr txBox="1"/>
            <p:nvPr/>
          </p:nvSpPr>
          <p:spPr>
            <a:xfrm>
              <a:off x="3195638" y="909638"/>
              <a:ext cx="688721" cy="252412"/>
            </a:xfrm>
            <a:prstGeom prst="rect">
              <a:avLst/>
            </a:prstGeom>
            <a:noFill/>
            <a:ln>
              <a:noFill/>
            </a:ln>
          </p:spPr>
          <p:txBody>
            <a:bodyPr wrap="none" lIns="0" tIns="0" rIns="0" bIns="0" anchor="t" anchorCtr="0">
              <a:spAutoFit/>
            </a:bodyPr>
            <a:lstStyle/>
            <a:p>
              <a:pPr algn="l">
                <a:lnSpc>
                  <a:spcPts val="825"/>
                </a:lnSpc>
              </a:pPr>
              <a:r>
                <a:rPr lang="zh-CN" sz="750" b="1" dirty="0">
                  <a:solidFill>
                    <a:srgbClr val="4A130A"/>
                  </a:solidFill>
                  <a:latin typeface="+mn-lt"/>
                  <a:ea typeface="+mn-ea"/>
                  <a:cs typeface="+mn-cs"/>
                </a:rPr>
                <a:t>App咨询​​</a:t>
              </a:r>
            </a:p>
            <a:p>
              <a:pPr algn="l">
                <a:lnSpc>
                  <a:spcPts val="825"/>
                </a:lnSpc>
              </a:pPr>
              <a:r>
                <a:rPr lang="zh-CN" sz="560" dirty="0">
                  <a:solidFill>
                    <a:srgbClr val="7A716B"/>
                  </a:solidFill>
                  <a:latin typeface="+mn-lt"/>
                  <a:ea typeface="+mn-ea"/>
                  <a:cs typeface="+mn-cs"/>
                </a:rPr>
                <a:t>（发现与初步了解）​</a:t>
              </a:r>
            </a:p>
          </p:txBody>
        </p:sp>
        <p:sp>
          <p:nvSpPr>
            <p:cNvPr id="70" name="Ellipse 70"/>
            <p:cNvSpPr/>
            <p:nvPr/>
          </p:nvSpPr>
          <p:spPr>
            <a:xfrm>
              <a:off x="4200525" y="923925"/>
              <a:ext cx="171450" cy="171450"/>
            </a:xfrm>
            <a:prstGeom prst="ellipse">
              <a:avLst/>
            </a:prstGeom>
            <a:solidFill>
              <a:srgbClr val="D82000"/>
            </a:solidFill>
            <a:ln>
              <a:noFill/>
            </a:ln>
          </p:spPr>
        </p:sp>
        <p:sp>
          <p:nvSpPr>
            <p:cNvPr id="71" name="TextBox 71"/>
            <p:cNvSpPr txBox="1"/>
            <p:nvPr/>
          </p:nvSpPr>
          <p:spPr>
            <a:xfrm>
              <a:off x="4194027" y="9667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72" name="TextBox 72"/>
            <p:cNvSpPr txBox="1"/>
            <p:nvPr/>
          </p:nvSpPr>
          <p:spPr>
            <a:xfrm>
              <a:off x="4414838" y="909638"/>
              <a:ext cx="688721" cy="252412"/>
            </a:xfrm>
            <a:prstGeom prst="rect">
              <a:avLst/>
            </a:prstGeom>
            <a:noFill/>
            <a:ln>
              <a:noFill/>
            </a:ln>
          </p:spPr>
          <p:txBody>
            <a:bodyPr wrap="none" lIns="0" tIns="0" rIns="0" bIns="0" anchor="t" anchorCtr="0">
              <a:spAutoFit/>
            </a:bodyPr>
            <a:lstStyle/>
            <a:p>
              <a:pPr algn="l">
                <a:lnSpc>
                  <a:spcPts val="825"/>
                </a:lnSpc>
              </a:pPr>
              <a:r>
                <a:rPr lang="zh-CN" sz="750" b="1" dirty="0">
                  <a:solidFill>
                    <a:srgbClr val="4A130A"/>
                  </a:solidFill>
                  <a:latin typeface="+mn-lt"/>
                  <a:ea typeface="+mn-ea"/>
                  <a:cs typeface="+mn-cs"/>
                </a:rPr>
                <a:t>远程顾问</a:t>
              </a:r>
            </a:p>
            <a:p>
              <a:pPr algn="l">
                <a:lnSpc>
                  <a:spcPts val="825"/>
                </a:lnSpc>
              </a:pPr>
              <a:r>
                <a:rPr lang="zh-CN" sz="560" dirty="0">
                  <a:solidFill>
                    <a:srgbClr val="7A716B"/>
                  </a:solidFill>
                  <a:latin typeface="+mn-lt"/>
                  <a:ea typeface="+mn-ea"/>
                  <a:cs typeface="+mn-cs"/>
                </a:rPr>
                <a:t>（专业咨询与方案）​</a:t>
              </a:r>
            </a:p>
          </p:txBody>
        </p:sp>
        <p:sp>
          <p:nvSpPr>
            <p:cNvPr id="73" name="Ellipse 73"/>
            <p:cNvSpPr/>
            <p:nvPr/>
          </p:nvSpPr>
          <p:spPr>
            <a:xfrm>
              <a:off x="5419725" y="923925"/>
              <a:ext cx="171450" cy="171450"/>
            </a:xfrm>
            <a:prstGeom prst="ellipse">
              <a:avLst/>
            </a:prstGeom>
            <a:solidFill>
              <a:srgbClr val="D82000"/>
            </a:solidFill>
            <a:ln>
              <a:noFill/>
            </a:ln>
          </p:spPr>
        </p:sp>
        <p:sp>
          <p:nvSpPr>
            <p:cNvPr id="74" name="TextBox 74"/>
            <p:cNvSpPr txBox="1"/>
            <p:nvPr/>
          </p:nvSpPr>
          <p:spPr>
            <a:xfrm>
              <a:off x="5413227" y="9667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75" name="TextBox 75"/>
            <p:cNvSpPr txBox="1"/>
            <p:nvPr/>
          </p:nvSpPr>
          <p:spPr>
            <a:xfrm>
              <a:off x="5634038" y="909638"/>
              <a:ext cx="688721" cy="252412"/>
            </a:xfrm>
            <a:prstGeom prst="rect">
              <a:avLst/>
            </a:prstGeom>
            <a:noFill/>
            <a:ln>
              <a:noFill/>
            </a:ln>
          </p:spPr>
          <p:txBody>
            <a:bodyPr wrap="none" lIns="0" tIns="0" rIns="0" bIns="0" anchor="t" anchorCtr="0">
              <a:spAutoFit/>
            </a:bodyPr>
            <a:lstStyle/>
            <a:p>
              <a:pPr algn="l">
                <a:lnSpc>
                  <a:spcPts val="825"/>
                </a:lnSpc>
              </a:pPr>
              <a:r>
                <a:rPr lang="zh-CN" sz="750" b="1" dirty="0">
                  <a:solidFill>
                    <a:srgbClr val="4A130A"/>
                  </a:solidFill>
                  <a:latin typeface="+mn-lt"/>
                  <a:ea typeface="+mn-ea"/>
                  <a:cs typeface="+mn-cs"/>
                </a:rPr>
                <a:t>网点签约</a:t>
              </a:r>
            </a:p>
            <a:p>
              <a:pPr algn="l">
                <a:lnSpc>
                  <a:spcPts val="825"/>
                </a:lnSpc>
              </a:pPr>
              <a:r>
                <a:rPr lang="zh-CN" sz="560" dirty="0">
                  <a:solidFill>
                    <a:srgbClr val="7A716B"/>
                  </a:solidFill>
                  <a:latin typeface="+mn-lt"/>
                  <a:ea typeface="+mn-ea"/>
                  <a:cs typeface="+mn-cs"/>
                </a:rPr>
                <a:t>（面签与风控完成）​</a:t>
              </a:r>
            </a:p>
          </p:txBody>
        </p:sp>
        <p:sp>
          <p:nvSpPr>
            <p:cNvPr id="76" name="Ellipse 76"/>
            <p:cNvSpPr/>
            <p:nvPr/>
          </p:nvSpPr>
          <p:spPr>
            <a:xfrm>
              <a:off x="6638925" y="923925"/>
              <a:ext cx="171450" cy="171450"/>
            </a:xfrm>
            <a:prstGeom prst="ellipse">
              <a:avLst/>
            </a:prstGeom>
            <a:solidFill>
              <a:srgbClr val="D82000"/>
            </a:solidFill>
            <a:ln>
              <a:noFill/>
            </a:ln>
          </p:spPr>
        </p:sp>
        <p:sp>
          <p:nvSpPr>
            <p:cNvPr id="77" name="TextBox 77"/>
            <p:cNvSpPr txBox="1"/>
            <p:nvPr/>
          </p:nvSpPr>
          <p:spPr>
            <a:xfrm>
              <a:off x="6632427" y="9667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78" name="TextBox 78"/>
            <p:cNvSpPr txBox="1"/>
            <p:nvPr/>
          </p:nvSpPr>
          <p:spPr>
            <a:xfrm>
              <a:off x="6853238" y="909638"/>
              <a:ext cx="546481" cy="252412"/>
            </a:xfrm>
            <a:prstGeom prst="rect">
              <a:avLst/>
            </a:prstGeom>
            <a:noFill/>
            <a:ln>
              <a:noFill/>
            </a:ln>
          </p:spPr>
          <p:txBody>
            <a:bodyPr wrap="none" lIns="0" tIns="0" rIns="0" bIns="0" anchor="t" anchorCtr="0">
              <a:spAutoFit/>
            </a:bodyPr>
            <a:lstStyle/>
            <a:p>
              <a:pPr algn="l">
                <a:lnSpc>
                  <a:spcPts val="825"/>
                </a:lnSpc>
              </a:pPr>
              <a:r>
                <a:rPr lang="zh-CN" sz="750" b="1" dirty="0">
                  <a:solidFill>
                    <a:srgbClr val="4A130A"/>
                  </a:solidFill>
                  <a:latin typeface="+mn-lt"/>
                  <a:ea typeface="+mn-ea"/>
                  <a:cs typeface="+mn-cs"/>
                </a:rPr>
                <a:t>App服务​​</a:t>
              </a:r>
            </a:p>
            <a:p>
              <a:pPr algn="l">
                <a:lnSpc>
                  <a:spcPts val="825"/>
                </a:lnSpc>
              </a:pPr>
              <a:r>
                <a:rPr lang="zh-CN" sz="560" dirty="0">
                  <a:solidFill>
                    <a:srgbClr val="7A716B"/>
                  </a:solidFill>
                  <a:latin typeface="+mn-lt"/>
                  <a:ea typeface="+mn-ea"/>
                  <a:cs typeface="+mn-cs"/>
                </a:rPr>
                <a:t>（售后与陪伴）​</a:t>
              </a:r>
            </a:p>
          </p:txBody>
        </p:sp>
        <p:sp>
          <p:nvSpPr>
            <p:cNvPr id="79" name="Rectangle 79"/>
            <p:cNvSpPr/>
            <p:nvPr/>
          </p:nvSpPr>
          <p:spPr>
            <a:xfrm>
              <a:off x="2933700" y="1219200"/>
              <a:ext cx="1066800" cy="1447800"/>
            </a:xfrm>
            <a:prstGeom prst="roundRect">
              <a:avLst>
                <a:gd name="adj" fmla="val 5357"/>
              </a:avLst>
            </a:prstGeom>
            <a:solidFill>
              <a:srgbClr val="FFFFFF"/>
            </a:solidFill>
            <a:ln w="9525">
              <a:solidFill>
                <a:srgbClr val="F0B8AE"/>
              </a:solidFill>
            </a:ln>
          </p:spPr>
        </p:sp>
        <p:sp>
          <p:nvSpPr>
            <p:cNvPr id="80" name="Rectangle 80"/>
            <p:cNvSpPr/>
            <p:nvPr/>
          </p:nvSpPr>
          <p:spPr>
            <a:xfrm>
              <a:off x="2933700" y="1219200"/>
              <a:ext cx="1066800" cy="133350"/>
            </a:xfrm>
            <a:prstGeom prst="roundRect">
              <a:avLst>
                <a:gd name="adj" fmla="val 42857"/>
              </a:avLst>
            </a:prstGeom>
            <a:solidFill>
              <a:srgbClr val="C41D00"/>
            </a:solidFill>
            <a:ln>
              <a:noFill/>
            </a:ln>
          </p:spPr>
        </p:sp>
        <p:sp>
          <p:nvSpPr>
            <p:cNvPr id="81" name="TextBox 81"/>
            <p:cNvSpPr txBox="1"/>
            <p:nvPr/>
          </p:nvSpPr>
          <p:spPr>
            <a:xfrm>
              <a:off x="3154946" y="1253728"/>
              <a:ext cx="624308"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​理财产品详情页​</a:t>
              </a:r>
            </a:p>
          </p:txBody>
        </p:sp>
        <p:sp>
          <p:nvSpPr>
            <p:cNvPr id="82" name="TextBox 82"/>
            <p:cNvSpPr txBox="1"/>
            <p:nvPr/>
          </p:nvSpPr>
          <p:spPr>
            <a:xfrm>
              <a:off x="2986088" y="1421130"/>
              <a:ext cx="752425" cy="119062"/>
            </a:xfrm>
            <a:prstGeom prst="rect">
              <a:avLst/>
            </a:prstGeom>
            <a:noFill/>
            <a:ln>
              <a:noFill/>
            </a:ln>
          </p:spPr>
          <p:txBody>
            <a:bodyPr wrap="none" lIns="0" tIns="0" rIns="0" bIns="0" anchor="t" anchorCtr="0">
              <a:spAutoFit/>
            </a:bodyPr>
            <a:lstStyle/>
            <a:p>
              <a:pPr algn="l"/>
              <a:r>
                <a:rPr lang="zh-CN" sz="600" b="1" dirty="0">
                  <a:solidFill>
                    <a:srgbClr val="4A130A"/>
                  </a:solidFill>
                  <a:latin typeface="+mn-lt"/>
                  <a:ea typeface="+mn-ea"/>
                  <a:cs typeface="+mn-cs"/>
                </a:rPr>
                <a:t>“稳利宝90天”​​​​​</a:t>
              </a:r>
            </a:p>
          </p:txBody>
        </p:sp>
        <p:sp>
          <p:nvSpPr>
            <p:cNvPr id="83" name="TextBox 83"/>
            <p:cNvSpPr txBox="1"/>
            <p:nvPr/>
          </p:nvSpPr>
          <p:spPr>
            <a:xfrm>
              <a:off x="2986088" y="1549003"/>
              <a:ext cx="586237" cy="111919"/>
            </a:xfrm>
            <a:prstGeom prst="rect">
              <a:avLst/>
            </a:prstGeom>
            <a:noFill/>
            <a:ln>
              <a:noFill/>
            </a:ln>
          </p:spPr>
          <p:txBody>
            <a:bodyPr wrap="none" lIns="0" tIns="0" rIns="0" bIns="0" anchor="t" anchorCtr="0">
              <a:spAutoFit/>
            </a:bodyPr>
            <a:lstStyle/>
            <a:p>
              <a:pPr algn="l"/>
              <a:r>
                <a:rPr lang="zh-CN" sz="560" dirty="0">
                  <a:solidFill>
                    <a:srgbClr val="7A716B"/>
                  </a:solidFill>
                  <a:latin typeface="+mn-lt"/>
                  <a:ea typeface="+mn-ea"/>
                  <a:cs typeface="+mn-cs"/>
                </a:rPr>
                <a:t>近1年化收益率​​</a:t>
              </a:r>
            </a:p>
          </p:txBody>
        </p:sp>
        <p:sp>
          <p:nvSpPr>
            <p:cNvPr id="84" name="TextBox 84"/>
            <p:cNvSpPr txBox="1"/>
            <p:nvPr/>
          </p:nvSpPr>
          <p:spPr>
            <a:xfrm>
              <a:off x="2986088" y="1664970"/>
              <a:ext cx="524749" cy="176212"/>
            </a:xfrm>
            <a:prstGeom prst="rect">
              <a:avLst/>
            </a:prstGeom>
            <a:noFill/>
            <a:ln>
              <a:noFill/>
            </a:ln>
          </p:spPr>
          <p:txBody>
            <a:bodyPr wrap="none" lIns="0" tIns="0" rIns="0" bIns="0" anchor="t" anchorCtr="0">
              <a:spAutoFit/>
            </a:bodyPr>
            <a:lstStyle/>
            <a:p>
              <a:pPr algn="l"/>
              <a:r>
                <a:rPr lang="zh-CN" sz="900" b="1" dirty="0">
                  <a:solidFill>
                    <a:srgbClr val="C41D00"/>
                  </a:solidFill>
                  <a:latin typeface="+mn-lt"/>
                  <a:ea typeface="+mn-ea"/>
                  <a:cs typeface="+mn-cs"/>
                </a:rPr>
                <a:t>3.25%​​</a:t>
              </a:r>
            </a:p>
          </p:txBody>
        </p:sp>
        <p:sp>
          <p:nvSpPr>
            <p:cNvPr id="85" name="TextBox 85"/>
            <p:cNvSpPr txBox="1"/>
            <p:nvPr/>
          </p:nvSpPr>
          <p:spPr>
            <a:xfrm>
              <a:off x="2986088" y="1844278"/>
              <a:ext cx="729361" cy="321469"/>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560" dirty="0">
                  <a:solidFill>
                    <a:srgbClr val="3D3835"/>
                  </a:solidFill>
                  <a:latin typeface="+mn-lt"/>
                  <a:ea typeface="+mn-ea"/>
                  <a:cs typeface="+mn-cs"/>
                </a:rPr>
                <a:t>产品期限 90天​​​</a:t>
              </a:r>
            </a:p>
            <a:p>
              <a:pPr algn="l" marL="76200" indent="-76200">
                <a:lnSpc>
                  <a:spcPts val="825"/>
                </a:lnSpc>
                <a:buClr>
                  <a:srgbClr val="3D3835"/>
                </a:buClr>
                <a:buSzTx/>
                <a:buFontTx/>
                <a:buChar char="•"/>
              </a:pPr>
              <a:r>
                <a:rPr lang="zh-CN" sz="560" dirty="0">
                  <a:solidFill>
                    <a:srgbClr val="3D3835"/>
                  </a:solidFill>
                  <a:latin typeface="+mn-lt"/>
                  <a:ea typeface="+mn-ea"/>
                  <a:cs typeface="+mn-cs"/>
                </a:rPr>
                <a:t>起购金额 1万​​​</a:t>
              </a:r>
            </a:p>
            <a:p>
              <a:pPr algn="l" marL="76200" indent="-76200">
                <a:lnSpc>
                  <a:spcPts val="825"/>
                </a:lnSpc>
                <a:buClr>
                  <a:srgbClr val="3D3835"/>
                </a:buClr>
                <a:buSzTx/>
                <a:buFontTx/>
                <a:buChar char="•"/>
              </a:pPr>
              <a:r>
                <a:rPr lang="zh-CN" sz="560" dirty="0">
                  <a:solidFill>
                    <a:srgbClr val="3D3835"/>
                  </a:solidFill>
                  <a:latin typeface="+mn-lt"/>
                  <a:ea typeface="+mn-ea"/>
                  <a:cs typeface="+mn-cs"/>
                </a:rPr>
                <a:t>风险等级 R2中低​​​</a:t>
              </a:r>
            </a:p>
          </p:txBody>
        </p:sp>
        <p:sp>
          <p:nvSpPr>
            <p:cNvPr id="86" name="Rectangle 86"/>
            <p:cNvSpPr/>
            <p:nvPr/>
          </p:nvSpPr>
          <p:spPr>
            <a:xfrm>
              <a:off x="3028950" y="2419350"/>
              <a:ext cx="876300" cy="152400"/>
            </a:xfrm>
            <a:prstGeom prst="roundRect">
              <a:avLst>
                <a:gd name="adj" fmla="val 50000"/>
              </a:avLst>
            </a:prstGeom>
            <a:solidFill>
              <a:srgbClr val="C41D00"/>
            </a:solidFill>
            <a:ln>
              <a:noFill/>
            </a:ln>
          </p:spPr>
        </p:sp>
        <p:sp>
          <p:nvSpPr>
            <p:cNvPr id="87" name="TextBox 87"/>
            <p:cNvSpPr txBox="1"/>
            <p:nvPr/>
          </p:nvSpPr>
          <p:spPr>
            <a:xfrm>
              <a:off x="3311563" y="2463403"/>
              <a:ext cx="311074"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在线咨询</a:t>
              </a:r>
            </a:p>
          </p:txBody>
        </p:sp>
        <p:sp>
          <p:nvSpPr>
            <p:cNvPr id="88" name="TextBox 88"/>
            <p:cNvSpPr txBox="1"/>
            <p:nvPr/>
          </p:nvSpPr>
          <p:spPr>
            <a:xfrm>
              <a:off x="4005898" y="1848326"/>
              <a:ext cx="141605" cy="190500"/>
            </a:xfrm>
            <a:prstGeom prst="rect">
              <a:avLst/>
            </a:prstGeom>
            <a:noFill/>
            <a:ln>
              <a:noFill/>
            </a:ln>
          </p:spPr>
          <p:txBody>
            <a:bodyPr wrap="none" lIns="0" tIns="0" rIns="0" bIns="0" anchor="t" anchorCtr="0">
              <a:spAutoFit/>
            </a:bodyPr>
            <a:lstStyle/>
            <a:p>
              <a:pPr algn="ctr">
                <a:lnSpc>
                  <a:spcPts val="675"/>
                </a:lnSpc>
              </a:pPr>
              <a:r>
                <a:rPr lang="zh-CN" sz="520" dirty="0">
                  <a:solidFill>
                    <a:srgbClr val="7A716B"/>
                  </a:solidFill>
                  <a:latin typeface="+mn-lt"/>
                  <a:ea typeface="+mn-ea"/>
                  <a:cs typeface="+mn-cs"/>
                </a:rPr>
                <a:t>会话</a:t>
              </a:r>
              <a:br/>
              <a:r>
                <a:rPr lang="zh-CN" sz="520" dirty="0">
                  <a:solidFill>
                    <a:srgbClr val="7A716B"/>
                  </a:solidFill>
                  <a:latin typeface="+mn-lt"/>
                  <a:ea typeface="+mn-ea"/>
                  <a:cs typeface="+mn-cs"/>
                </a:rPr>
                <a:t>接续</a:t>
              </a:r>
            </a:p>
          </p:txBody>
        </p:sp>
        <p:sp>
          <p:nvSpPr>
            <p:cNvPr id="89" name="Polygon 89"/>
            <p:cNvSpPr/>
            <p:nvPr/>
          </p:nvSpPr>
          <p:spPr>
            <a:xfrm>
              <a:off x="4038600" y="2038350"/>
              <a:ext cx="95250" cy="95250"/>
            </a:xfrm>
            <a:custGeom>
              <a:avLst/>
              <a:gdLst/>
              <a:ahLst/>
              <a:cxnLst/>
              <a:rect l="l" t="t" r="r" b="b"/>
              <a:pathLst>
                <a:path w="95250" h="95250">
                  <a:moveTo>
                    <a:pt x="0" y="0"/>
                  </a:moveTo>
                  <a:lnTo>
                    <a:pt x="95250" y="47625"/>
                  </a:lnTo>
                  <a:lnTo>
                    <a:pt x="0" y="95250"/>
                  </a:lnTo>
                  <a:close/>
                </a:path>
              </a:pathLst>
            </a:custGeom>
            <a:solidFill>
              <a:srgbClr val="EE492C"/>
            </a:solidFill>
            <a:ln>
              <a:noFill/>
            </a:ln>
          </p:spPr>
        </p:sp>
        <p:sp>
          <p:nvSpPr>
            <p:cNvPr id="90" name="Rectangle 90"/>
            <p:cNvSpPr/>
            <p:nvPr/>
          </p:nvSpPr>
          <p:spPr>
            <a:xfrm>
              <a:off x="4152900" y="1219200"/>
              <a:ext cx="1066800" cy="1447800"/>
            </a:xfrm>
            <a:prstGeom prst="roundRect">
              <a:avLst>
                <a:gd name="adj" fmla="val 5357"/>
              </a:avLst>
            </a:prstGeom>
            <a:solidFill>
              <a:srgbClr val="FFFFFF"/>
            </a:solidFill>
            <a:ln w="9525">
              <a:solidFill>
                <a:srgbClr val="F0B8AE"/>
              </a:solidFill>
            </a:ln>
          </p:spPr>
        </p:sp>
        <p:sp>
          <p:nvSpPr>
            <p:cNvPr id="91" name="Rectangle 91"/>
            <p:cNvSpPr/>
            <p:nvPr/>
          </p:nvSpPr>
          <p:spPr>
            <a:xfrm>
              <a:off x="4152900" y="1219200"/>
              <a:ext cx="1066800" cy="133350"/>
            </a:xfrm>
            <a:prstGeom prst="roundRect">
              <a:avLst>
                <a:gd name="adj" fmla="val 42857"/>
              </a:avLst>
            </a:prstGeom>
            <a:solidFill>
              <a:srgbClr val="C41D00"/>
            </a:solidFill>
            <a:ln>
              <a:noFill/>
            </a:ln>
          </p:spPr>
        </p:sp>
        <p:sp>
          <p:nvSpPr>
            <p:cNvPr id="92" name="TextBox 92"/>
            <p:cNvSpPr txBox="1"/>
            <p:nvPr/>
          </p:nvSpPr>
          <p:spPr>
            <a:xfrm>
              <a:off x="4314685" y="1253728"/>
              <a:ext cx="743231"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​视频通话中·王顾问​</a:t>
              </a:r>
            </a:p>
          </p:txBody>
        </p:sp>
        <p:sp>
          <p:nvSpPr>
            <p:cNvPr id="93" name="Ellipse 93"/>
            <p:cNvSpPr/>
            <p:nvPr/>
          </p:nvSpPr>
          <p:spPr>
            <a:xfrm>
              <a:off x="4581525" y="1419225"/>
              <a:ext cx="209550" cy="209550"/>
            </a:xfrm>
            <a:prstGeom prst="ellipse">
              <a:avLst/>
            </a:prstGeom>
            <a:solidFill>
              <a:srgbClr val="FEF2E6"/>
            </a:solidFill>
            <a:ln w="9525">
              <a:solidFill>
                <a:srgbClr val="F0B8AE"/>
              </a:solidFill>
            </a:ln>
          </p:spPr>
        </p:sp>
        <p:grpSp>
          <p:nvGrpSpPr>
            <p:cNvPr id="96" name="Group 96"/>
            <p:cNvGrpSpPr/>
            <p:nvPr/>
          </p:nvGrpSpPr>
          <p:grpSpPr>
            <a:xfrm>
              <a:off x="4636294" y="1490662"/>
              <a:ext cx="100012" cy="66675"/>
              <a:chOff x="4636294" y="1490662"/>
              <a:chExt cx="100012" cy="66675"/>
            </a:xfrm>
          </p:grpSpPr>
          <p:sp>
            <p:nvSpPr>
              <p:cNvPr id="94" name="Freeform 94"/>
              <p:cNvSpPr/>
              <p:nvPr/>
            </p:nvSpPr>
            <p:spPr>
              <a:xfrm>
                <a:off x="4702969" y="14993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D82000"/>
                </a:solidFill>
              </a:ln>
            </p:spPr>
          </p:sp>
          <p:sp>
            <p:nvSpPr>
              <p:cNvPr id="95" name="Freeform 95"/>
              <p:cNvSpPr/>
              <p:nvPr/>
            </p:nvSpPr>
            <p:spPr>
              <a:xfrm>
                <a:off x="4636294" y="14906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D82000"/>
                </a:solidFill>
              </a:ln>
            </p:spPr>
          </p:sp>
        </p:grpSp>
        <p:sp>
          <p:nvSpPr>
            <p:cNvPr id="97" name="TextBox 97"/>
            <p:cNvSpPr txBox="1"/>
            <p:nvPr/>
          </p:nvSpPr>
          <p:spPr>
            <a:xfrm>
              <a:off x="4448308" y="1668780"/>
              <a:ext cx="475983"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​00:12:34​</a:t>
              </a:r>
            </a:p>
          </p:txBody>
        </p:sp>
        <p:sp>
          <p:nvSpPr>
            <p:cNvPr id="98" name="TextBox 98"/>
            <p:cNvSpPr txBox="1"/>
            <p:nvPr/>
          </p:nvSpPr>
          <p:spPr>
            <a:xfrm>
              <a:off x="4392576" y="1802130"/>
              <a:ext cx="587449" cy="119062"/>
            </a:xfrm>
            <a:prstGeom prst="rect">
              <a:avLst/>
            </a:prstGeom>
            <a:noFill/>
            <a:ln>
              <a:noFill/>
            </a:ln>
          </p:spPr>
          <p:txBody>
            <a:bodyPr wrap="none" lIns="0" tIns="0" rIns="0" bIns="0" anchor="t" anchorCtr="0">
              <a:spAutoFit/>
            </a:bodyPr>
            <a:lstStyle/>
            <a:p>
              <a:pPr algn="ctr"/>
              <a:r>
                <a:rPr lang="zh-CN" sz="600" b="1" dirty="0">
                  <a:solidFill>
                    <a:srgbClr val="C41D00"/>
                  </a:solidFill>
                  <a:latin typeface="+mn-lt"/>
                  <a:ea typeface="+mn-ea"/>
                  <a:cs typeface="+mn-cs"/>
                </a:rPr>
                <a:t>​为您定制方案​</a:t>
              </a:r>
            </a:p>
          </p:txBody>
        </p:sp>
        <p:sp>
          <p:nvSpPr>
            <p:cNvPr id="99" name="TextBox 99"/>
            <p:cNvSpPr txBox="1"/>
            <p:nvPr/>
          </p:nvSpPr>
          <p:spPr>
            <a:xfrm>
              <a:off x="4205288" y="1939528"/>
              <a:ext cx="590677" cy="321469"/>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560" dirty="0">
                  <a:solidFill>
                    <a:srgbClr val="3D3835"/>
                  </a:solidFill>
                  <a:latin typeface="+mn-lt"/>
                  <a:ea typeface="+mn-ea"/>
                  <a:cs typeface="+mn-cs"/>
                </a:rPr>
                <a:t>稳健增值​​</a:t>
              </a:r>
            </a:p>
            <a:p>
              <a:pPr algn="l" marL="76200" indent="-76200">
                <a:lnSpc>
                  <a:spcPts val="825"/>
                </a:lnSpc>
                <a:buClr>
                  <a:srgbClr val="3D3835"/>
                </a:buClr>
                <a:buSzTx/>
                <a:buFontTx/>
                <a:buChar char="•"/>
              </a:pPr>
              <a:r>
                <a:rPr lang="zh-CN" sz="560" dirty="0">
                  <a:solidFill>
                    <a:srgbClr val="3D3835"/>
                  </a:solidFill>
                  <a:latin typeface="+mn-lt"/>
                  <a:ea typeface="+mn-ea"/>
                  <a:cs typeface="+mn-cs"/>
                </a:rPr>
                <a:t>资产配置建议​​</a:t>
              </a:r>
            </a:p>
            <a:p>
              <a:pPr algn="l" marL="76200" indent="-76200">
                <a:lnSpc>
                  <a:spcPts val="825"/>
                </a:lnSpc>
                <a:buClr>
                  <a:srgbClr val="3D3835"/>
                </a:buClr>
                <a:buSzTx/>
                <a:buFontTx/>
                <a:buChar char="•"/>
              </a:pPr>
              <a:r>
                <a:rPr lang="zh-CN" sz="560" dirty="0">
                  <a:solidFill>
                    <a:srgbClr val="3D3835"/>
                  </a:solidFill>
                  <a:latin typeface="+mn-lt"/>
                  <a:ea typeface="+mn-ea"/>
                  <a:cs typeface="+mn-cs"/>
                </a:rPr>
                <a:t>风险提示​​</a:t>
              </a:r>
            </a:p>
          </p:txBody>
        </p:sp>
        <p:sp>
          <p:nvSpPr>
            <p:cNvPr id="100" name="Rectangle 100"/>
            <p:cNvSpPr/>
            <p:nvPr/>
          </p:nvSpPr>
          <p:spPr>
            <a:xfrm>
              <a:off x="4248150" y="2419350"/>
              <a:ext cx="876300" cy="152400"/>
            </a:xfrm>
            <a:prstGeom prst="roundRect">
              <a:avLst>
                <a:gd name="adj" fmla="val 50000"/>
              </a:avLst>
            </a:prstGeom>
            <a:solidFill>
              <a:srgbClr val="C41D00"/>
            </a:solidFill>
            <a:ln>
              <a:noFill/>
            </a:ln>
          </p:spPr>
        </p:sp>
        <p:sp>
          <p:nvSpPr>
            <p:cNvPr id="101" name="TextBox 101"/>
            <p:cNvSpPr txBox="1"/>
            <p:nvPr/>
          </p:nvSpPr>
          <p:spPr>
            <a:xfrm>
              <a:off x="4530763" y="2463403"/>
              <a:ext cx="311074"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预约面签</a:t>
              </a:r>
            </a:p>
          </p:txBody>
        </p:sp>
        <p:sp>
          <p:nvSpPr>
            <p:cNvPr id="102" name="TextBox 102"/>
            <p:cNvSpPr txBox="1"/>
            <p:nvPr/>
          </p:nvSpPr>
          <p:spPr>
            <a:xfrm>
              <a:off x="5225098" y="1848326"/>
              <a:ext cx="141605" cy="190500"/>
            </a:xfrm>
            <a:prstGeom prst="rect">
              <a:avLst/>
            </a:prstGeom>
            <a:noFill/>
            <a:ln>
              <a:noFill/>
            </a:ln>
          </p:spPr>
          <p:txBody>
            <a:bodyPr wrap="none" lIns="0" tIns="0" rIns="0" bIns="0" anchor="t" anchorCtr="0">
              <a:spAutoFit/>
            </a:bodyPr>
            <a:lstStyle/>
            <a:p>
              <a:pPr algn="ctr">
                <a:lnSpc>
                  <a:spcPts val="675"/>
                </a:lnSpc>
              </a:pPr>
              <a:r>
                <a:rPr lang="zh-CN" sz="520" dirty="0">
                  <a:solidFill>
                    <a:srgbClr val="7A716B"/>
                  </a:solidFill>
                  <a:latin typeface="+mn-lt"/>
                  <a:ea typeface="+mn-ea"/>
                  <a:cs typeface="+mn-cs"/>
                </a:rPr>
                <a:t>会话</a:t>
              </a:r>
              <a:br/>
              <a:r>
                <a:rPr lang="zh-CN" sz="520" dirty="0">
                  <a:solidFill>
                    <a:srgbClr val="7A716B"/>
                  </a:solidFill>
                  <a:latin typeface="+mn-lt"/>
                  <a:ea typeface="+mn-ea"/>
                  <a:cs typeface="+mn-cs"/>
                </a:rPr>
                <a:t>接续</a:t>
              </a:r>
            </a:p>
          </p:txBody>
        </p:sp>
        <p:sp>
          <p:nvSpPr>
            <p:cNvPr id="103" name="Polygon 103"/>
            <p:cNvSpPr/>
            <p:nvPr/>
          </p:nvSpPr>
          <p:spPr>
            <a:xfrm>
              <a:off x="5257800" y="2038350"/>
              <a:ext cx="95250" cy="95250"/>
            </a:xfrm>
            <a:custGeom>
              <a:avLst/>
              <a:gdLst/>
              <a:ahLst/>
              <a:cxnLst/>
              <a:rect l="l" t="t" r="r" b="b"/>
              <a:pathLst>
                <a:path w="95250" h="95250">
                  <a:moveTo>
                    <a:pt x="0" y="0"/>
                  </a:moveTo>
                  <a:lnTo>
                    <a:pt x="95250" y="47625"/>
                  </a:lnTo>
                  <a:lnTo>
                    <a:pt x="0" y="95250"/>
                  </a:lnTo>
                  <a:close/>
                </a:path>
              </a:pathLst>
            </a:custGeom>
            <a:solidFill>
              <a:srgbClr val="EE492C"/>
            </a:solidFill>
            <a:ln>
              <a:noFill/>
            </a:ln>
          </p:spPr>
        </p:sp>
        <p:sp>
          <p:nvSpPr>
            <p:cNvPr id="104" name="Rectangle 104"/>
            <p:cNvSpPr/>
            <p:nvPr/>
          </p:nvSpPr>
          <p:spPr>
            <a:xfrm>
              <a:off x="5372100" y="1219200"/>
              <a:ext cx="1066800" cy="1447800"/>
            </a:xfrm>
            <a:prstGeom prst="roundRect">
              <a:avLst>
                <a:gd name="adj" fmla="val 5357"/>
              </a:avLst>
            </a:prstGeom>
            <a:solidFill>
              <a:srgbClr val="FFFFFF"/>
            </a:solidFill>
            <a:ln w="9525">
              <a:solidFill>
                <a:srgbClr val="F0B8AE"/>
              </a:solidFill>
            </a:ln>
          </p:spPr>
        </p:sp>
        <p:sp>
          <p:nvSpPr>
            <p:cNvPr id="105" name="Rectangle 105"/>
            <p:cNvSpPr/>
            <p:nvPr/>
          </p:nvSpPr>
          <p:spPr>
            <a:xfrm>
              <a:off x="5372100" y="1219200"/>
              <a:ext cx="1066800" cy="133350"/>
            </a:xfrm>
            <a:prstGeom prst="roundRect">
              <a:avLst>
                <a:gd name="adj" fmla="val 42857"/>
              </a:avLst>
            </a:prstGeom>
            <a:solidFill>
              <a:srgbClr val="C41D00"/>
            </a:solidFill>
            <a:ln>
              <a:noFill/>
            </a:ln>
          </p:spPr>
        </p:sp>
        <p:sp>
          <p:nvSpPr>
            <p:cNvPr id="106" name="TextBox 106"/>
            <p:cNvSpPr txBox="1"/>
            <p:nvPr/>
          </p:nvSpPr>
          <p:spPr>
            <a:xfrm>
              <a:off x="5593346" y="1253728"/>
              <a:ext cx="624308"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​网点：朝阳支行​</a:t>
              </a:r>
            </a:p>
          </p:txBody>
        </p:sp>
        <p:sp>
          <p:nvSpPr>
            <p:cNvPr id="107" name="TextBox 107"/>
            <p:cNvSpPr txBox="1"/>
            <p:nvPr/>
          </p:nvSpPr>
          <p:spPr>
            <a:xfrm>
              <a:off x="5424488" y="1425178"/>
              <a:ext cx="311074" cy="111919"/>
            </a:xfrm>
            <a:prstGeom prst="rect">
              <a:avLst/>
            </a:prstGeom>
            <a:noFill/>
            <a:ln>
              <a:noFill/>
            </a:ln>
          </p:spPr>
          <p:txBody>
            <a:bodyPr wrap="none" lIns="0" tIns="0" rIns="0" bIns="0" anchor="t" anchorCtr="0">
              <a:spAutoFit/>
            </a:bodyPr>
            <a:lstStyle/>
            <a:p>
              <a:pPr algn="l"/>
              <a:r>
                <a:rPr lang="zh-CN" sz="560" dirty="0">
                  <a:solidFill>
                    <a:srgbClr val="7A716B"/>
                  </a:solidFill>
                  <a:latin typeface="+mn-lt"/>
                  <a:ea typeface="+mn-ea"/>
                  <a:cs typeface="+mn-cs"/>
                </a:rPr>
                <a:t>面签时间</a:t>
              </a:r>
            </a:p>
          </p:txBody>
        </p:sp>
        <p:sp>
          <p:nvSpPr>
            <p:cNvPr id="108" name="TextBox 108"/>
            <p:cNvSpPr txBox="1"/>
            <p:nvPr/>
          </p:nvSpPr>
          <p:spPr>
            <a:xfrm>
              <a:off x="5424488" y="1550432"/>
              <a:ext cx="982020" cy="126206"/>
            </a:xfrm>
            <a:prstGeom prst="rect">
              <a:avLst/>
            </a:prstGeom>
            <a:noFill/>
            <a:ln>
              <a:noFill/>
            </a:ln>
          </p:spPr>
          <p:txBody>
            <a:bodyPr wrap="none" lIns="0" tIns="0" rIns="0" bIns="0" anchor="t" anchorCtr="0">
              <a:spAutoFit/>
            </a:bodyPr>
            <a:lstStyle/>
            <a:p>
              <a:pPr algn="l"/>
              <a:r>
                <a:rPr lang="zh-CN" sz="640" b="1" dirty="0">
                  <a:solidFill>
                    <a:srgbClr val="4A130A"/>
                  </a:solidFill>
                  <a:latin typeface="+mn-lt"/>
                  <a:ea typeface="+mn-ea"/>
                  <a:cs typeface="+mn-cs"/>
                </a:rPr>
                <a:t>2025-05-20 10:30​​​​</a:t>
              </a:r>
            </a:p>
          </p:txBody>
        </p:sp>
        <p:sp>
          <p:nvSpPr>
            <p:cNvPr id="109" name="TextBox 109"/>
            <p:cNvSpPr txBox="1"/>
            <p:nvPr/>
          </p:nvSpPr>
          <p:spPr>
            <a:xfrm>
              <a:off x="5424488" y="1710928"/>
              <a:ext cx="475361" cy="531019"/>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560" dirty="0">
                  <a:solidFill>
                    <a:srgbClr val="3D3835"/>
                  </a:solidFill>
                  <a:latin typeface="+mn-lt"/>
                  <a:ea typeface="+mn-ea"/>
                  <a:cs typeface="+mn-cs"/>
                </a:rPr>
                <a:t>办理业务​​</a:t>
              </a:r>
              <a:br/>
              <a:r>
                <a:rPr lang="zh-CN" sz="560" dirty="0">
                  <a:solidFill>
                    <a:srgbClr val="3D3835"/>
                  </a:solidFill>
                  <a:latin typeface="+mn-lt"/>
                  <a:ea typeface="+mn-ea"/>
                  <a:cs typeface="+mn-cs"/>
                </a:rPr>
                <a:t>理财产品购买​</a:t>
              </a:r>
            </a:p>
            <a:p>
              <a:pPr algn="l" marL="76200" indent="-76200">
                <a:lnSpc>
                  <a:spcPts val="825"/>
                </a:lnSpc>
                <a:buClr>
                  <a:srgbClr val="3D3835"/>
                </a:buClr>
                <a:buSzTx/>
                <a:buFontTx/>
                <a:buChar char="•"/>
              </a:pPr>
              <a:r>
                <a:rPr lang="zh-CN" sz="560" dirty="0">
                  <a:solidFill>
                    <a:srgbClr val="3D3835"/>
                  </a:solidFill>
                  <a:latin typeface="+mn-lt"/>
                  <a:ea typeface="+mn-ea"/>
                  <a:cs typeface="+mn-cs"/>
                </a:rPr>
                <a:t>身份核验​​</a:t>
              </a:r>
            </a:p>
            <a:p>
              <a:pPr algn="l" marL="76200" indent="-76200">
                <a:lnSpc>
                  <a:spcPts val="825"/>
                </a:lnSpc>
                <a:buClr>
                  <a:srgbClr val="3D3835"/>
                </a:buClr>
                <a:buSzTx/>
                <a:buFontTx/>
                <a:buChar char="•"/>
              </a:pPr>
              <a:r>
                <a:rPr lang="zh-CN" sz="560" dirty="0">
                  <a:solidFill>
                    <a:srgbClr val="3D3835"/>
                  </a:solidFill>
                  <a:latin typeface="+mn-lt"/>
                  <a:ea typeface="+mn-ea"/>
                  <a:cs typeface="+mn-cs"/>
                </a:rPr>
                <a:t>双录​​</a:t>
              </a:r>
            </a:p>
            <a:p>
              <a:pPr algn="l" marL="76200" indent="-76200">
                <a:lnSpc>
                  <a:spcPts val="825"/>
                </a:lnSpc>
                <a:buClr>
                  <a:srgbClr val="3D3835"/>
                </a:buClr>
                <a:buSzTx/>
                <a:buFontTx/>
                <a:buChar char="•"/>
              </a:pPr>
              <a:r>
                <a:rPr lang="zh-CN" sz="560" dirty="0">
                  <a:solidFill>
                    <a:srgbClr val="3D3835"/>
                  </a:solidFill>
                  <a:latin typeface="+mn-lt"/>
                  <a:ea typeface="+mn-ea"/>
                  <a:cs typeface="+mn-cs"/>
                </a:rPr>
                <a:t>签名​​</a:t>
              </a:r>
            </a:p>
          </p:txBody>
        </p:sp>
        <p:sp>
          <p:nvSpPr>
            <p:cNvPr id="110" name="Rectangle 110"/>
            <p:cNvSpPr/>
            <p:nvPr/>
          </p:nvSpPr>
          <p:spPr>
            <a:xfrm>
              <a:off x="5467350" y="2419350"/>
              <a:ext cx="876300" cy="152400"/>
            </a:xfrm>
            <a:prstGeom prst="roundRect">
              <a:avLst>
                <a:gd name="adj" fmla="val 50000"/>
              </a:avLst>
            </a:prstGeom>
            <a:solidFill>
              <a:srgbClr val="FEF2E6"/>
            </a:solidFill>
            <a:ln w="9525">
              <a:solidFill>
                <a:srgbClr val="EE492C"/>
              </a:solidFill>
            </a:ln>
          </p:spPr>
        </p:sp>
        <p:sp>
          <p:nvSpPr>
            <p:cNvPr id="111" name="TextBox 111"/>
            <p:cNvSpPr txBox="1"/>
            <p:nvPr/>
          </p:nvSpPr>
          <p:spPr>
            <a:xfrm>
              <a:off x="5787657" y="2463403"/>
              <a:ext cx="235687" cy="111919"/>
            </a:xfrm>
            <a:prstGeom prst="rect">
              <a:avLst/>
            </a:prstGeom>
            <a:noFill/>
            <a:ln>
              <a:noFill/>
            </a:ln>
          </p:spPr>
          <p:txBody>
            <a:bodyPr wrap="none" lIns="0" tIns="0" rIns="0" bIns="0" anchor="t" anchorCtr="0">
              <a:spAutoFit/>
            </a:bodyPr>
            <a:lstStyle/>
            <a:p>
              <a:pPr algn="ctr"/>
              <a:r>
                <a:rPr lang="zh-CN" sz="560" b="1" dirty="0">
                  <a:solidFill>
                    <a:srgbClr val="C41D00"/>
                  </a:solidFill>
                  <a:latin typeface="+mn-lt"/>
                  <a:ea typeface="+mn-ea"/>
                  <a:cs typeface="+mn-cs"/>
                </a:rPr>
                <a:t>已预约</a:t>
              </a:r>
            </a:p>
          </p:txBody>
        </p:sp>
        <p:sp>
          <p:nvSpPr>
            <p:cNvPr id="112" name="TextBox 112"/>
            <p:cNvSpPr txBox="1"/>
            <p:nvPr/>
          </p:nvSpPr>
          <p:spPr>
            <a:xfrm>
              <a:off x="6444298" y="1848326"/>
              <a:ext cx="141605" cy="190500"/>
            </a:xfrm>
            <a:prstGeom prst="rect">
              <a:avLst/>
            </a:prstGeom>
            <a:noFill/>
            <a:ln>
              <a:noFill/>
            </a:ln>
          </p:spPr>
          <p:txBody>
            <a:bodyPr wrap="none" lIns="0" tIns="0" rIns="0" bIns="0" anchor="t" anchorCtr="0">
              <a:spAutoFit/>
            </a:bodyPr>
            <a:lstStyle/>
            <a:p>
              <a:pPr algn="ctr">
                <a:lnSpc>
                  <a:spcPts val="675"/>
                </a:lnSpc>
              </a:pPr>
              <a:r>
                <a:rPr lang="zh-CN" sz="520" dirty="0">
                  <a:solidFill>
                    <a:srgbClr val="7A716B"/>
                  </a:solidFill>
                  <a:latin typeface="+mn-lt"/>
                  <a:ea typeface="+mn-ea"/>
                  <a:cs typeface="+mn-cs"/>
                </a:rPr>
                <a:t>会话</a:t>
              </a:r>
              <a:br/>
              <a:r>
                <a:rPr lang="zh-CN" sz="520" dirty="0">
                  <a:solidFill>
                    <a:srgbClr val="7A716B"/>
                  </a:solidFill>
                  <a:latin typeface="+mn-lt"/>
                  <a:ea typeface="+mn-ea"/>
                  <a:cs typeface="+mn-cs"/>
                </a:rPr>
                <a:t>接续</a:t>
              </a:r>
            </a:p>
          </p:txBody>
        </p:sp>
        <p:sp>
          <p:nvSpPr>
            <p:cNvPr id="113" name="Polygon 113"/>
            <p:cNvSpPr/>
            <p:nvPr/>
          </p:nvSpPr>
          <p:spPr>
            <a:xfrm>
              <a:off x="6477000" y="2038350"/>
              <a:ext cx="95250" cy="95250"/>
            </a:xfrm>
            <a:custGeom>
              <a:avLst/>
              <a:gdLst/>
              <a:ahLst/>
              <a:cxnLst/>
              <a:rect l="l" t="t" r="r" b="b"/>
              <a:pathLst>
                <a:path w="95250" h="95250">
                  <a:moveTo>
                    <a:pt x="0" y="0"/>
                  </a:moveTo>
                  <a:lnTo>
                    <a:pt x="95250" y="47625"/>
                  </a:lnTo>
                  <a:lnTo>
                    <a:pt x="0" y="95250"/>
                  </a:lnTo>
                  <a:close/>
                </a:path>
              </a:pathLst>
            </a:custGeom>
            <a:solidFill>
              <a:srgbClr val="EE492C"/>
            </a:solidFill>
            <a:ln>
              <a:noFill/>
            </a:ln>
          </p:spPr>
        </p:sp>
        <p:sp>
          <p:nvSpPr>
            <p:cNvPr id="114" name="Rectangle 114"/>
            <p:cNvSpPr/>
            <p:nvPr/>
          </p:nvSpPr>
          <p:spPr>
            <a:xfrm>
              <a:off x="6591300" y="1219200"/>
              <a:ext cx="1066800" cy="1447800"/>
            </a:xfrm>
            <a:prstGeom prst="roundRect">
              <a:avLst>
                <a:gd name="adj" fmla="val 5357"/>
              </a:avLst>
            </a:prstGeom>
            <a:solidFill>
              <a:srgbClr val="FFFFFF"/>
            </a:solidFill>
            <a:ln w="9525">
              <a:solidFill>
                <a:srgbClr val="F0B8AE"/>
              </a:solidFill>
            </a:ln>
          </p:spPr>
        </p:sp>
        <p:sp>
          <p:nvSpPr>
            <p:cNvPr id="115" name="Rectangle 115"/>
            <p:cNvSpPr/>
            <p:nvPr/>
          </p:nvSpPr>
          <p:spPr>
            <a:xfrm>
              <a:off x="6591300" y="1219200"/>
              <a:ext cx="1066800" cy="133350"/>
            </a:xfrm>
            <a:prstGeom prst="roundRect">
              <a:avLst>
                <a:gd name="adj" fmla="val 42857"/>
              </a:avLst>
            </a:prstGeom>
            <a:solidFill>
              <a:srgbClr val="C41D00"/>
            </a:solidFill>
            <a:ln>
              <a:noFill/>
            </a:ln>
          </p:spPr>
        </p:sp>
        <p:sp>
          <p:nvSpPr>
            <p:cNvPr id="116" name="TextBox 116"/>
            <p:cNvSpPr txBox="1"/>
            <p:nvPr/>
          </p:nvSpPr>
          <p:spPr>
            <a:xfrm>
              <a:off x="6969163" y="1253728"/>
              <a:ext cx="311074"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我的持仓</a:t>
              </a:r>
            </a:p>
          </p:txBody>
        </p:sp>
        <p:sp>
          <p:nvSpPr>
            <p:cNvPr id="117" name="TextBox 117"/>
            <p:cNvSpPr txBox="1"/>
            <p:nvPr/>
          </p:nvSpPr>
          <p:spPr>
            <a:xfrm>
              <a:off x="6643688" y="1425178"/>
              <a:ext cx="725703" cy="111919"/>
            </a:xfrm>
            <a:prstGeom prst="rect">
              <a:avLst/>
            </a:prstGeom>
            <a:noFill/>
            <a:ln>
              <a:noFill/>
            </a:ln>
          </p:spPr>
          <p:txBody>
            <a:bodyPr wrap="none" lIns="0" tIns="0" rIns="0" bIns="0" anchor="t" anchorCtr="0">
              <a:spAutoFit/>
            </a:bodyPr>
            <a:lstStyle/>
            <a:p>
              <a:pPr algn="l"/>
              <a:r>
                <a:rPr lang="zh-CN" sz="560" dirty="0">
                  <a:solidFill>
                    <a:srgbClr val="3D3835"/>
                  </a:solidFill>
                  <a:latin typeface="+mn-lt"/>
                  <a:ea typeface="+mn-ea"/>
                  <a:cs typeface="+mn-cs"/>
                </a:rPr>
                <a:t>稳利宝90天</a:t>
              </a:r>
              <a:r>
                <a:rPr lang="zh-CN" sz="560" dirty="0">
                  <a:solidFill>
                    <a:srgbClr val="9E402E"/>
                  </a:solidFill>
                  <a:latin typeface="+mn-lt"/>
                  <a:ea typeface="+mn-ea"/>
                  <a:cs typeface="+mn-cs"/>
                </a:rPr>
                <a:t xml:space="preserve"> 持有中​​</a:t>
              </a:r>
            </a:p>
          </p:txBody>
        </p:sp>
        <p:sp>
          <p:nvSpPr>
            <p:cNvPr id="118" name="TextBox 118"/>
            <p:cNvSpPr txBox="1"/>
            <p:nvPr/>
          </p:nvSpPr>
          <p:spPr>
            <a:xfrm>
              <a:off x="6643688" y="1549003"/>
              <a:ext cx="311074" cy="111919"/>
            </a:xfrm>
            <a:prstGeom prst="rect">
              <a:avLst/>
            </a:prstGeom>
            <a:noFill/>
            <a:ln>
              <a:noFill/>
            </a:ln>
          </p:spPr>
          <p:txBody>
            <a:bodyPr wrap="none" lIns="0" tIns="0" rIns="0" bIns="0" anchor="t" anchorCtr="0">
              <a:spAutoFit/>
            </a:bodyPr>
            <a:lstStyle/>
            <a:p>
              <a:pPr algn="l"/>
              <a:r>
                <a:rPr lang="zh-CN" sz="560" dirty="0">
                  <a:solidFill>
                    <a:srgbClr val="7A716B"/>
                  </a:solidFill>
                  <a:latin typeface="+mn-lt"/>
                  <a:ea typeface="+mn-ea"/>
                  <a:cs typeface="+mn-cs"/>
                </a:rPr>
                <a:t>持有金额</a:t>
              </a:r>
            </a:p>
          </p:txBody>
        </p:sp>
        <p:sp>
          <p:nvSpPr>
            <p:cNvPr id="119" name="TextBox 119"/>
            <p:cNvSpPr txBox="1"/>
            <p:nvPr/>
          </p:nvSpPr>
          <p:spPr>
            <a:xfrm>
              <a:off x="6643688" y="1663541"/>
              <a:ext cx="948654" cy="161925"/>
            </a:xfrm>
            <a:prstGeom prst="rect">
              <a:avLst/>
            </a:prstGeom>
            <a:noFill/>
            <a:ln>
              <a:noFill/>
            </a:ln>
          </p:spPr>
          <p:txBody>
            <a:bodyPr wrap="none" lIns="0" tIns="0" rIns="0" bIns="0" anchor="t" anchorCtr="0">
              <a:spAutoFit/>
            </a:bodyPr>
            <a:lstStyle/>
            <a:p>
              <a:pPr algn="l"/>
              <a:r>
                <a:rPr lang="zh-CN" sz="820" b="1" dirty="0">
                  <a:solidFill>
                    <a:srgbClr val="C41D00"/>
                  </a:solidFill>
                  <a:latin typeface="+mn-lt"/>
                  <a:ea typeface="+mn-ea"/>
                  <a:cs typeface="+mn-cs"/>
                </a:rPr>
                <a:t>100,000.00元​​​</a:t>
              </a:r>
            </a:p>
          </p:txBody>
        </p:sp>
        <p:sp>
          <p:nvSpPr>
            <p:cNvPr id="120" name="TextBox 120"/>
            <p:cNvSpPr txBox="1"/>
            <p:nvPr/>
          </p:nvSpPr>
          <p:spPr>
            <a:xfrm>
              <a:off x="6643688" y="1834753"/>
              <a:ext cx="816737" cy="426244"/>
            </a:xfrm>
            <a:prstGeom prst="rect">
              <a:avLst/>
            </a:prstGeom>
            <a:noFill/>
            <a:ln>
              <a:noFill/>
            </a:ln>
          </p:spPr>
          <p:txBody>
            <a:bodyPr wrap="none" lIns="0" tIns="0" rIns="0" bIns="0" anchor="t" anchorCtr="0">
              <a:spAutoFit/>
            </a:bodyPr>
            <a:lstStyle/>
            <a:p>
              <a:pPr algn="l">
                <a:lnSpc>
                  <a:spcPts val="825"/>
                </a:lnSpc>
              </a:pPr>
              <a:r>
                <a:rPr lang="zh-CN" sz="560" dirty="0">
                  <a:solidFill>
                    <a:srgbClr val="3D3835"/>
                  </a:solidFill>
                  <a:latin typeface="+mn-lt"/>
                  <a:ea typeface="+mn-ea"/>
                  <a:cs typeface="+mn-cs"/>
                </a:rPr>
                <a:t>参考年化收益率 3.25%​​</a:t>
              </a:r>
              <a:br/>
              <a:r>
                <a:rPr lang="zh-CN" sz="560" dirty="0">
                  <a:solidFill>
                    <a:srgbClr val="3D3835"/>
                  </a:solidFill>
                  <a:latin typeface="+mn-lt"/>
                  <a:ea typeface="+mn-ea"/>
                  <a:cs typeface="+mn-cs"/>
                </a:rPr>
                <a:t>到期日 2025-08-18​​​</a:t>
              </a:r>
            </a:p>
            <a:p>
              <a:pPr algn="l" marL="76200" indent="-76200">
                <a:lnSpc>
                  <a:spcPts val="825"/>
                </a:lnSpc>
                <a:buClr>
                  <a:srgbClr val="3D3835"/>
                </a:buClr>
                <a:buSzTx/>
                <a:buFontTx/>
                <a:buChar char="•"/>
              </a:pPr>
              <a:r>
                <a:rPr lang="zh-CN" sz="560" dirty="0">
                  <a:solidFill>
                    <a:srgbClr val="3D3835"/>
                  </a:solidFill>
                  <a:latin typeface="+mn-lt"/>
                  <a:ea typeface="+mn-ea"/>
                  <a:cs typeface="+mn-cs"/>
                </a:rPr>
                <a:t>收益明细​​</a:t>
              </a:r>
            </a:p>
            <a:p>
              <a:pPr algn="l" marL="76200" indent="-76200">
                <a:lnSpc>
                  <a:spcPts val="825"/>
                </a:lnSpc>
                <a:buClr>
                  <a:srgbClr val="3D3835"/>
                </a:buClr>
                <a:buSzTx/>
                <a:buFontTx/>
                <a:buChar char="•"/>
              </a:pPr>
              <a:r>
                <a:rPr lang="zh-CN" sz="560" dirty="0">
                  <a:solidFill>
                    <a:srgbClr val="3D3835"/>
                  </a:solidFill>
                  <a:latin typeface="+mn-lt"/>
                  <a:ea typeface="+mn-ea"/>
                  <a:cs typeface="+mn-cs"/>
                </a:rPr>
                <a:t>到期提醒​​</a:t>
              </a:r>
            </a:p>
          </p:txBody>
        </p:sp>
        <p:sp>
          <p:nvSpPr>
            <p:cNvPr id="121" name="Rectangle 121"/>
            <p:cNvSpPr/>
            <p:nvPr/>
          </p:nvSpPr>
          <p:spPr>
            <a:xfrm>
              <a:off x="6686550" y="2419350"/>
              <a:ext cx="876300" cy="152400"/>
            </a:xfrm>
            <a:prstGeom prst="roundRect">
              <a:avLst>
                <a:gd name="adj" fmla="val 50000"/>
              </a:avLst>
            </a:prstGeom>
            <a:solidFill>
              <a:srgbClr val="FEF2E6"/>
            </a:solidFill>
            <a:ln w="9525">
              <a:solidFill>
                <a:srgbClr val="EE492C"/>
              </a:solidFill>
            </a:ln>
          </p:spPr>
        </p:sp>
        <p:sp>
          <p:nvSpPr>
            <p:cNvPr id="122" name="TextBox 122"/>
            <p:cNvSpPr txBox="1"/>
            <p:nvPr/>
          </p:nvSpPr>
          <p:spPr>
            <a:xfrm>
              <a:off x="6969163" y="2463403"/>
              <a:ext cx="311074" cy="111919"/>
            </a:xfrm>
            <a:prstGeom prst="rect">
              <a:avLst/>
            </a:prstGeom>
            <a:noFill/>
            <a:ln>
              <a:noFill/>
            </a:ln>
          </p:spPr>
          <p:txBody>
            <a:bodyPr wrap="none" lIns="0" tIns="0" rIns="0" bIns="0" anchor="t" anchorCtr="0">
              <a:spAutoFit/>
            </a:bodyPr>
            <a:lstStyle/>
            <a:p>
              <a:pPr algn="ctr"/>
              <a:r>
                <a:rPr lang="zh-CN" sz="560" b="1" dirty="0">
                  <a:solidFill>
                    <a:srgbClr val="C41D00"/>
                  </a:solidFill>
                  <a:latin typeface="+mn-lt"/>
                  <a:ea typeface="+mn-ea"/>
                  <a:cs typeface="+mn-cs"/>
                </a:rPr>
                <a:t>到期提醒</a:t>
              </a:r>
            </a:p>
          </p:txBody>
        </p:sp>
        <p:sp>
          <p:nvSpPr>
            <p:cNvPr id="123" name="TextBox 123"/>
            <p:cNvSpPr txBox="1"/>
            <p:nvPr/>
          </p:nvSpPr>
          <p:spPr>
            <a:xfrm>
              <a:off x="2972752" y="2773680"/>
              <a:ext cx="98869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7A716B"/>
                  </a:solidFill>
                  <a:latin typeface="+mn-lt"/>
                  <a:ea typeface="+mn-ea"/>
                  <a:cs typeface="+mn-cs"/>
                </a:rPr>
                <a:t>​​张女士在App浏览产品，​​</a:t>
              </a:r>
              <a:br/>
              <a:r>
                <a:rPr lang="zh-CN" sz="600" dirty="0">
                  <a:solidFill>
                    <a:srgbClr val="7A716B"/>
                  </a:solidFill>
                  <a:latin typeface="+mn-lt"/>
                  <a:ea typeface="+mn-ea"/>
                  <a:cs typeface="+mn-cs"/>
                </a:rPr>
                <a:t>​发起在线咨询​</a:t>
              </a:r>
            </a:p>
          </p:txBody>
        </p:sp>
        <p:sp>
          <p:nvSpPr>
            <p:cNvPr id="124" name="TextBox 124"/>
            <p:cNvSpPr txBox="1"/>
            <p:nvPr/>
          </p:nvSpPr>
          <p:spPr>
            <a:xfrm>
              <a:off x="4296728" y="2773680"/>
              <a:ext cx="77914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7A716B"/>
                  </a:solidFill>
                  <a:latin typeface="+mn-lt"/>
                  <a:ea typeface="+mn-ea"/>
                  <a:cs typeface="+mn-cs"/>
                </a:rPr>
                <a:t>​远程顾问同屏共享，​</a:t>
              </a:r>
              <a:br/>
              <a:r>
                <a:rPr lang="zh-CN" sz="600" dirty="0">
                  <a:solidFill>
                    <a:srgbClr val="7A716B"/>
                  </a:solidFill>
                  <a:latin typeface="+mn-lt"/>
                  <a:ea typeface="+mn-ea"/>
                  <a:cs typeface="+mn-cs"/>
                </a:rPr>
                <a:t>​讲解产品方案，​</a:t>
              </a:r>
              <a:br/>
              <a:r>
                <a:rPr lang="zh-CN" sz="600" dirty="0">
                  <a:solidFill>
                    <a:srgbClr val="7A716B"/>
                  </a:solidFill>
                  <a:latin typeface="+mn-lt"/>
                  <a:ea typeface="+mn-ea"/>
                  <a:cs typeface="+mn-cs"/>
                </a:rPr>
                <a:t>​预约网点面签​</a:t>
              </a:r>
            </a:p>
          </p:txBody>
        </p:sp>
        <p:sp>
          <p:nvSpPr>
            <p:cNvPr id="125" name="TextBox 125"/>
            <p:cNvSpPr txBox="1"/>
            <p:nvPr/>
          </p:nvSpPr>
          <p:spPr>
            <a:xfrm>
              <a:off x="5439728" y="2773680"/>
              <a:ext cx="93154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7A716B"/>
                  </a:solidFill>
                  <a:latin typeface="+mn-lt"/>
                  <a:ea typeface="+mn-ea"/>
                  <a:cs typeface="+mn-cs"/>
                </a:rPr>
                <a:t>​客户到店完成身份核验、​</a:t>
              </a:r>
              <a:br/>
              <a:r>
                <a:rPr lang="zh-CN" sz="600" dirty="0">
                  <a:solidFill>
                    <a:srgbClr val="7A716B"/>
                  </a:solidFill>
                  <a:latin typeface="+mn-lt"/>
                  <a:ea typeface="+mn-ea"/>
                  <a:cs typeface="+mn-cs"/>
                </a:rPr>
                <a:t>​双录与签约，​</a:t>
              </a:r>
              <a:br/>
              <a:r>
                <a:rPr lang="zh-CN" sz="600" dirty="0">
                  <a:solidFill>
                    <a:srgbClr val="7A716B"/>
                  </a:solidFill>
                  <a:latin typeface="+mn-lt"/>
                  <a:ea typeface="+mn-ea"/>
                  <a:cs typeface="+mn-cs"/>
                </a:rPr>
                <a:t>风险确认</a:t>
              </a:r>
            </a:p>
          </p:txBody>
        </p:sp>
        <p:sp>
          <p:nvSpPr>
            <p:cNvPr id="126" name="TextBox 126"/>
            <p:cNvSpPr txBox="1"/>
            <p:nvPr/>
          </p:nvSpPr>
          <p:spPr>
            <a:xfrm>
              <a:off x="6710362" y="2773680"/>
              <a:ext cx="82867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7A716B"/>
                  </a:solidFill>
                  <a:latin typeface="+mn-lt"/>
                  <a:ea typeface="+mn-ea"/>
                  <a:cs typeface="+mn-cs"/>
                </a:rPr>
                <a:t>​App展示持仓与收益，​</a:t>
              </a:r>
              <a:br/>
              <a:r>
                <a:rPr lang="zh-CN" sz="600" dirty="0">
                  <a:solidFill>
                    <a:srgbClr val="7A716B"/>
                  </a:solidFill>
                  <a:latin typeface="+mn-lt"/>
                  <a:ea typeface="+mn-ea"/>
                  <a:cs typeface="+mn-cs"/>
                </a:rPr>
                <a:t>​提供持续陪伴，​</a:t>
              </a:r>
              <a:br/>
              <a:r>
                <a:rPr lang="zh-CN" sz="600" dirty="0">
                  <a:solidFill>
                    <a:srgbClr val="7A716B"/>
                  </a:solidFill>
                  <a:latin typeface="+mn-lt"/>
                  <a:ea typeface="+mn-ea"/>
                  <a:cs typeface="+mn-cs"/>
                </a:rPr>
                <a:t>​到期提醒与后续服务​</a:t>
              </a:r>
            </a:p>
          </p:txBody>
        </p:sp>
      </p:grpSp>
      <p:grpSp>
        <p:nvGrpSpPr>
          <p:cNvPr id="172" name="orchestration-rules"/>
          <p:cNvGrpSpPr/>
          <p:nvPr/>
        </p:nvGrpSpPr>
        <p:grpSpPr>
          <a:xfrm>
            <a:off x="7791450" y="749141"/>
            <a:ext cx="4019550" cy="2584609"/>
            <a:chOff x="7791450" y="749141"/>
            <a:chExt cx="4019550" cy="2584609"/>
          </a:xfrm>
        </p:grpSpPr>
        <p:sp>
          <p:nvSpPr>
            <p:cNvPr id="128" name="TextBox 128"/>
            <p:cNvSpPr txBox="1"/>
            <p:nvPr/>
          </p:nvSpPr>
          <p:spPr>
            <a:xfrm>
              <a:off x="8573635" y="749141"/>
              <a:ext cx="2455180" cy="161925"/>
            </a:xfrm>
            <a:prstGeom prst="rect">
              <a:avLst/>
            </a:prstGeom>
            <a:noFill/>
            <a:ln>
              <a:noFill/>
            </a:ln>
          </p:spPr>
          <p:txBody>
            <a:bodyPr wrap="none" lIns="0" tIns="0" rIns="0" bIns="0" anchor="t" anchorCtr="0">
              <a:spAutoFit/>
            </a:bodyPr>
            <a:lstStyle/>
            <a:p>
              <a:pPr algn="ctr"/>
              <a:r>
                <a:rPr lang="zh-CN" sz="820" b="1" dirty="0">
                  <a:solidFill>
                    <a:srgbClr val="C41D00"/>
                  </a:solidFill>
                  <a:latin typeface="+mn-lt"/>
                  <a:ea typeface="+mn-ea"/>
                  <a:cs typeface="+mn-cs"/>
                </a:rPr>
                <a:t>​服务编排规则（自动推荐最优渠道与协同路径）​</a:t>
              </a:r>
            </a:p>
          </p:txBody>
        </p:sp>
        <p:sp>
          <p:nvSpPr>
            <p:cNvPr id="129" name="Rectangle 129"/>
            <p:cNvSpPr/>
            <p:nvPr/>
          </p:nvSpPr>
          <p:spPr>
            <a:xfrm>
              <a:off x="7791450" y="933450"/>
              <a:ext cx="4019550" cy="209550"/>
            </a:xfrm>
            <a:prstGeom prst="rect">
              <a:avLst/>
            </a:prstGeom>
            <a:solidFill>
              <a:srgbClr val="C41D00"/>
            </a:solidFill>
            <a:ln>
              <a:noFill/>
            </a:ln>
          </p:spPr>
        </p:sp>
        <p:sp>
          <p:nvSpPr>
            <p:cNvPr id="130" name="TextBox 130"/>
            <p:cNvSpPr txBox="1"/>
            <p:nvPr/>
          </p:nvSpPr>
          <p:spPr>
            <a:xfrm>
              <a:off x="8003654" y="10034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规则维度</a:t>
              </a:r>
            </a:p>
          </p:txBody>
        </p:sp>
        <p:sp>
          <p:nvSpPr>
            <p:cNvPr id="131" name="TextBox 131"/>
            <p:cNvSpPr txBox="1"/>
            <p:nvPr/>
          </p:nvSpPr>
          <p:spPr>
            <a:xfrm>
              <a:off x="9156179" y="10034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判定要素</a:t>
              </a:r>
            </a:p>
          </p:txBody>
        </p:sp>
        <p:sp>
          <p:nvSpPr>
            <p:cNvPr id="132" name="TextBox 132"/>
            <p:cNvSpPr txBox="1"/>
            <p:nvPr/>
          </p:nvSpPr>
          <p:spPr>
            <a:xfrm>
              <a:off x="10529956" y="1003459"/>
              <a:ext cx="84758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​编排策略（示例）​</a:t>
              </a:r>
            </a:p>
          </p:txBody>
        </p:sp>
        <p:sp>
          <p:nvSpPr>
            <p:cNvPr id="133" name="Rectangle 133"/>
            <p:cNvSpPr/>
            <p:nvPr/>
          </p:nvSpPr>
          <p:spPr>
            <a:xfrm>
              <a:off x="7791450" y="1143000"/>
              <a:ext cx="4019550" cy="2190750"/>
            </a:xfrm>
            <a:prstGeom prst="rect">
              <a:avLst/>
            </a:prstGeom>
            <a:solidFill>
              <a:srgbClr val="FFFFFF"/>
            </a:solidFill>
            <a:ln w="9525">
              <a:solidFill>
                <a:srgbClr val="F0B8AE"/>
              </a:solidFill>
            </a:ln>
          </p:spPr>
        </p:sp>
        <p:sp>
          <p:nvSpPr>
            <p:cNvPr id="134" name="Rectangle 134"/>
            <p:cNvSpPr/>
            <p:nvPr/>
          </p:nvSpPr>
          <p:spPr>
            <a:xfrm>
              <a:off x="7791450" y="1581150"/>
              <a:ext cx="4019550" cy="438150"/>
            </a:xfrm>
            <a:prstGeom prst="rect">
              <a:avLst/>
            </a:prstGeom>
            <a:solidFill>
              <a:srgbClr val="FFF8F2"/>
            </a:solidFill>
            <a:ln>
              <a:noFill/>
            </a:ln>
          </p:spPr>
        </p:sp>
        <p:sp>
          <p:nvSpPr>
            <p:cNvPr id="135" name="Rectangle 135"/>
            <p:cNvSpPr/>
            <p:nvPr/>
          </p:nvSpPr>
          <p:spPr>
            <a:xfrm>
              <a:off x="7791450" y="2457450"/>
              <a:ext cx="4019550" cy="438150"/>
            </a:xfrm>
            <a:prstGeom prst="rect">
              <a:avLst/>
            </a:prstGeom>
            <a:solidFill>
              <a:srgbClr val="FFF8F2"/>
            </a:solidFill>
            <a:ln>
              <a:noFill/>
            </a:ln>
          </p:spPr>
        </p:sp>
        <p:grpSp>
          <p:nvGrpSpPr>
            <p:cNvPr id="140" name="Group 140"/>
            <p:cNvGrpSpPr/>
            <p:nvPr/>
          </p:nvGrpSpPr>
          <p:grpSpPr>
            <a:xfrm>
              <a:off x="7867650" y="1304925"/>
              <a:ext cx="114300" cy="114301"/>
              <a:chOff x="7867650" y="1304925"/>
              <a:chExt cx="114300" cy="114301"/>
            </a:xfrm>
          </p:grpSpPr>
          <p:sp>
            <p:nvSpPr>
              <p:cNvPr id="136" name="Freeform 136"/>
              <p:cNvSpPr/>
              <p:nvPr/>
            </p:nvSpPr>
            <p:spPr>
              <a:xfrm>
                <a:off x="7880350" y="13049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D82000"/>
                </a:solidFill>
              </a:ln>
            </p:spPr>
          </p:sp>
          <p:sp>
            <p:nvSpPr>
              <p:cNvPr id="137" name="Freeform 137"/>
              <p:cNvSpPr/>
              <p:nvPr/>
            </p:nvSpPr>
            <p:spPr>
              <a:xfrm>
                <a:off x="7867650" y="138112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D82000"/>
                </a:solidFill>
              </a:ln>
            </p:spPr>
          </p:sp>
          <p:sp>
            <p:nvSpPr>
              <p:cNvPr id="138" name="Freeform 138"/>
              <p:cNvSpPr/>
              <p:nvPr/>
            </p:nvSpPr>
            <p:spPr>
              <a:xfrm>
                <a:off x="7950200" y="1305751"/>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D82000"/>
                </a:solidFill>
              </a:ln>
            </p:spPr>
          </p:sp>
          <p:sp>
            <p:nvSpPr>
              <p:cNvPr id="139" name="Freeform 139"/>
              <p:cNvSpPr/>
              <p:nvPr/>
            </p:nvSpPr>
            <p:spPr>
              <a:xfrm>
                <a:off x="7962900" y="1382078"/>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D82000"/>
                </a:solidFill>
              </a:ln>
            </p:spPr>
          </p:sp>
        </p:grpSp>
        <p:sp>
          <p:nvSpPr>
            <p:cNvPr id="141" name="TextBox 141"/>
            <p:cNvSpPr txBox="1"/>
            <p:nvPr/>
          </p:nvSpPr>
          <p:spPr>
            <a:xfrm>
              <a:off x="8053388" y="1323261"/>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渠道偏好</a:t>
              </a:r>
            </a:p>
          </p:txBody>
        </p:sp>
        <p:sp>
          <p:nvSpPr>
            <p:cNvPr id="142" name="TextBox 142"/>
            <p:cNvSpPr txBox="1"/>
            <p:nvPr/>
          </p:nvSpPr>
          <p:spPr>
            <a:xfrm>
              <a:off x="8806878" y="1264682"/>
              <a:ext cx="107429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​客户历史选择、登录渠道、​</a:t>
              </a:r>
              <a:br/>
              <a:r>
                <a:rPr lang="zh-CN" sz="640" dirty="0">
                  <a:solidFill>
                    <a:srgbClr val="3D3835"/>
                  </a:solidFill>
                  <a:latin typeface="+mn-lt"/>
                  <a:ea typeface="+mn-ea"/>
                  <a:cs typeface="+mn-cs"/>
                </a:rPr>
                <a:t>偏好设置</a:t>
              </a:r>
            </a:p>
          </p:txBody>
        </p:sp>
        <p:sp>
          <p:nvSpPr>
            <p:cNvPr id="143" name="TextBox 143"/>
            <p:cNvSpPr txBox="1"/>
            <p:nvPr/>
          </p:nvSpPr>
          <p:spPr>
            <a:xfrm>
              <a:off x="10497884" y="1264682"/>
              <a:ext cx="91173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​优先选用高满意渠道、​</a:t>
              </a:r>
              <a:br/>
              <a:r>
                <a:rPr lang="zh-CN" sz="640" dirty="0">
                  <a:solidFill>
                    <a:srgbClr val="3D3835"/>
                  </a:solidFill>
                  <a:latin typeface="+mn-lt"/>
                  <a:ea typeface="+mn-ea"/>
                  <a:cs typeface="+mn-cs"/>
                </a:rPr>
                <a:t>​尊重客户偏好​</a:t>
              </a:r>
            </a:p>
          </p:txBody>
        </p:sp>
        <p:sp>
          <p:nvSpPr>
            <p:cNvPr id="144" name="Freeform 144"/>
            <p:cNvSpPr/>
            <p:nvPr/>
          </p:nvSpPr>
          <p:spPr>
            <a:xfrm>
              <a:off x="7867650" y="1743075"/>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D82000"/>
              </a:solidFill>
            </a:ln>
          </p:spPr>
        </p:sp>
        <p:sp>
          <p:nvSpPr>
            <p:cNvPr id="145" name="TextBox 145"/>
            <p:cNvSpPr txBox="1"/>
            <p:nvPr/>
          </p:nvSpPr>
          <p:spPr>
            <a:xfrm>
              <a:off x="8053388" y="1761411"/>
              <a:ext cx="48742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业务复杂度</a:t>
              </a:r>
            </a:p>
          </p:txBody>
        </p:sp>
        <p:sp>
          <p:nvSpPr>
            <p:cNvPr id="146" name="TextBox 146"/>
            <p:cNvSpPr txBox="1"/>
            <p:nvPr/>
          </p:nvSpPr>
          <p:spPr>
            <a:xfrm>
              <a:off x="8766238" y="1702832"/>
              <a:ext cx="115557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​产品类型、金额、资料要求、​</a:t>
              </a:r>
              <a:br/>
              <a:r>
                <a:rPr lang="zh-CN" sz="640" dirty="0">
                  <a:solidFill>
                    <a:srgbClr val="3D3835"/>
                  </a:solidFill>
                  <a:latin typeface="+mn-lt"/>
                  <a:ea typeface="+mn-ea"/>
                  <a:cs typeface="+mn-cs"/>
                </a:rPr>
                <a:t>风险等级</a:t>
              </a:r>
            </a:p>
          </p:txBody>
        </p:sp>
        <p:sp>
          <p:nvSpPr>
            <p:cNvPr id="147" name="TextBox 147"/>
            <p:cNvSpPr txBox="1"/>
            <p:nvPr/>
          </p:nvSpPr>
          <p:spPr>
            <a:xfrm>
              <a:off x="10503980" y="1702832"/>
              <a:ext cx="899541"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​​复杂→远程/网点；​​</a:t>
              </a:r>
              <a:br/>
              <a:r>
                <a:rPr lang="zh-CN" sz="640" dirty="0">
                  <a:solidFill>
                    <a:srgbClr val="3D3835"/>
                  </a:solidFill>
                  <a:latin typeface="+mn-lt"/>
                  <a:ea typeface="+mn-ea"/>
                  <a:cs typeface="+mn-cs"/>
                </a:rPr>
                <a:t>​​标准→App/微信自助​​</a:t>
              </a:r>
            </a:p>
          </p:txBody>
        </p:sp>
        <p:grpSp>
          <p:nvGrpSpPr>
            <p:cNvPr id="150" name="Group 150"/>
            <p:cNvGrpSpPr/>
            <p:nvPr/>
          </p:nvGrpSpPr>
          <p:grpSpPr>
            <a:xfrm>
              <a:off x="7867650" y="2181225"/>
              <a:ext cx="114300" cy="114300"/>
              <a:chOff x="7867650" y="2181225"/>
              <a:chExt cx="114300" cy="114300"/>
            </a:xfrm>
          </p:grpSpPr>
          <p:sp>
            <p:nvSpPr>
              <p:cNvPr id="148" name="Freeform 148"/>
              <p:cNvSpPr/>
              <p:nvPr/>
            </p:nvSpPr>
            <p:spPr>
              <a:xfrm>
                <a:off x="7867650" y="21812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D82000"/>
                </a:solidFill>
              </a:ln>
            </p:spPr>
          </p:sp>
          <p:sp>
            <p:nvSpPr>
              <p:cNvPr id="149" name="Freeform 149"/>
              <p:cNvSpPr/>
              <p:nvPr/>
            </p:nvSpPr>
            <p:spPr>
              <a:xfrm>
                <a:off x="7924800" y="2206625"/>
                <a:ext cx="19050" cy="50800"/>
              </a:xfrm>
              <a:custGeom>
                <a:avLst/>
                <a:gdLst/>
                <a:ahLst/>
                <a:cxnLst/>
                <a:rect l="l" t="t" r="r" b="b"/>
                <a:pathLst>
                  <a:path w="19050" h="50800">
                    <a:moveTo>
                      <a:pt x="0" y="0"/>
                    </a:moveTo>
                    <a:lnTo>
                      <a:pt x="0" y="31750"/>
                    </a:lnTo>
                    <a:lnTo>
                      <a:pt x="19050" y="50800"/>
                    </a:lnTo>
                  </a:path>
                </a:pathLst>
              </a:custGeom>
              <a:noFill/>
              <a:ln w="12700">
                <a:solidFill>
                  <a:srgbClr val="D82000"/>
                </a:solidFill>
              </a:ln>
            </p:spPr>
          </p:sp>
        </p:grpSp>
        <p:sp>
          <p:nvSpPr>
            <p:cNvPr id="151" name="TextBox 151"/>
            <p:cNvSpPr txBox="1"/>
            <p:nvPr/>
          </p:nvSpPr>
          <p:spPr>
            <a:xfrm>
              <a:off x="8053388" y="2199561"/>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紧急程度</a:t>
              </a:r>
            </a:p>
          </p:txBody>
        </p:sp>
        <p:sp>
          <p:nvSpPr>
            <p:cNvPr id="152" name="TextBox 152"/>
            <p:cNvSpPr txBox="1"/>
            <p:nvPr/>
          </p:nvSpPr>
          <p:spPr>
            <a:xfrm>
              <a:off x="8888158" y="2140982"/>
              <a:ext cx="91173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​时效要求、截止时间、​</a:t>
              </a:r>
              <a:br/>
              <a:r>
                <a:rPr lang="zh-CN" sz="640" dirty="0">
                  <a:solidFill>
                    <a:srgbClr val="3D3835"/>
                  </a:solidFill>
                  <a:latin typeface="+mn-lt"/>
                  <a:ea typeface="+mn-ea"/>
                  <a:cs typeface="+mn-cs"/>
                </a:rPr>
                <a:t>潜在影响</a:t>
              </a:r>
            </a:p>
          </p:txBody>
        </p:sp>
        <p:sp>
          <p:nvSpPr>
            <p:cNvPr id="153" name="TextBox 153"/>
            <p:cNvSpPr txBox="1"/>
            <p:nvPr/>
          </p:nvSpPr>
          <p:spPr>
            <a:xfrm>
              <a:off x="10367836" y="2140982"/>
              <a:ext cx="1171829"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​​紧急→呼叫中心/远程优先，​​</a:t>
              </a:r>
              <a:br/>
              <a:r>
                <a:rPr lang="zh-CN" sz="640" dirty="0">
                  <a:solidFill>
                    <a:srgbClr val="3D3835"/>
                  </a:solidFill>
                  <a:latin typeface="+mn-lt"/>
                  <a:ea typeface="+mn-ea"/>
                  <a:cs typeface="+mn-cs"/>
                </a:rPr>
                <a:t>​响应并快速处理​</a:t>
              </a:r>
            </a:p>
          </p:txBody>
        </p:sp>
        <p:grpSp>
          <p:nvGrpSpPr>
            <p:cNvPr id="156" name="Group 156"/>
            <p:cNvGrpSpPr/>
            <p:nvPr/>
          </p:nvGrpSpPr>
          <p:grpSpPr>
            <a:xfrm>
              <a:off x="7867650" y="2632075"/>
              <a:ext cx="114300" cy="93409"/>
              <a:chOff x="7867650" y="2632075"/>
              <a:chExt cx="114300" cy="93409"/>
            </a:xfrm>
          </p:grpSpPr>
          <p:sp>
            <p:nvSpPr>
              <p:cNvPr id="154" name="Freeform 154"/>
              <p:cNvSpPr/>
              <p:nvPr/>
            </p:nvSpPr>
            <p:spPr>
              <a:xfrm>
                <a:off x="7867650" y="2632075"/>
                <a:ext cx="114300" cy="93409"/>
              </a:xfrm>
              <a:custGeom>
                <a:avLst/>
                <a:gdLst/>
                <a:ahLst/>
                <a:cxnLst/>
                <a:rect l="l" t="t" r="r" b="b"/>
                <a:pathLst>
                  <a:path w="114300" h="93409">
                    <a:moveTo>
                      <a:pt x="19050" y="0"/>
                    </a:moveTo>
                    <a:lnTo>
                      <a:pt x="95250" y="0"/>
                    </a:lnTo>
                    <a:lnTo>
                      <a:pt x="114300" y="31750"/>
                    </a:lnTo>
                    <a:lnTo>
                      <a:pt x="60325" y="92075"/>
                    </a:lnTo>
                    <a:cubicBezTo>
                      <a:pt x="59489" y="92928"/>
                      <a:pt x="58345" y="93409"/>
                      <a:pt x="57150" y="93409"/>
                    </a:cubicBezTo>
                    <a:cubicBezTo>
                      <a:pt x="55955" y="93409"/>
                      <a:pt x="54811" y="92928"/>
                      <a:pt x="53975" y="92075"/>
                    </a:cubicBezTo>
                    <a:lnTo>
                      <a:pt x="0" y="31750"/>
                    </a:lnTo>
                    <a:lnTo>
                      <a:pt x="19050" y="0"/>
                    </a:lnTo>
                  </a:path>
                </a:pathLst>
              </a:custGeom>
              <a:noFill/>
              <a:ln w="12700">
                <a:solidFill>
                  <a:srgbClr val="D82000"/>
                </a:solidFill>
              </a:ln>
            </p:spPr>
          </p:sp>
          <p:sp>
            <p:nvSpPr>
              <p:cNvPr id="155" name="Freeform 155"/>
              <p:cNvSpPr/>
              <p:nvPr/>
            </p:nvSpPr>
            <p:spPr>
              <a:xfrm>
                <a:off x="7899400" y="2656205"/>
                <a:ext cx="12700" cy="20320"/>
              </a:xfrm>
              <a:custGeom>
                <a:avLst/>
                <a:gdLst/>
                <a:ahLst/>
                <a:cxnLst/>
                <a:rect l="l" t="t" r="r" b="b"/>
                <a:pathLst>
                  <a:path w="12700" h="20320">
                    <a:moveTo>
                      <a:pt x="12700" y="20320"/>
                    </a:moveTo>
                    <a:lnTo>
                      <a:pt x="0" y="6350"/>
                    </a:lnTo>
                    <a:lnTo>
                      <a:pt x="3810" y="0"/>
                    </a:lnTo>
                  </a:path>
                </a:pathLst>
              </a:custGeom>
              <a:noFill/>
              <a:ln w="12700">
                <a:solidFill>
                  <a:srgbClr val="D82000"/>
                </a:solidFill>
              </a:ln>
            </p:spPr>
          </p:sp>
        </p:grpSp>
        <p:sp>
          <p:nvSpPr>
            <p:cNvPr id="157" name="TextBox 157"/>
            <p:cNvSpPr txBox="1"/>
            <p:nvPr/>
          </p:nvSpPr>
          <p:spPr>
            <a:xfrm>
              <a:off x="8053388" y="2637711"/>
              <a:ext cx="39184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客户价值</a:t>
              </a:r>
            </a:p>
          </p:txBody>
        </p:sp>
        <p:sp>
          <p:nvSpPr>
            <p:cNvPr id="158" name="TextBox 158"/>
            <p:cNvSpPr txBox="1"/>
            <p:nvPr/>
          </p:nvSpPr>
          <p:spPr>
            <a:xfrm>
              <a:off x="8928798" y="2579132"/>
              <a:ext cx="83045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​资产规模、贡献度、​</a:t>
              </a:r>
              <a:br/>
              <a:r>
                <a:rPr lang="zh-CN" sz="640" dirty="0">
                  <a:solidFill>
                    <a:srgbClr val="3D3835"/>
                  </a:solidFill>
                  <a:latin typeface="+mn-lt"/>
                  <a:ea typeface="+mn-ea"/>
                  <a:cs typeface="+mn-cs"/>
                </a:rPr>
                <a:t>​生命周期阶段​</a:t>
              </a:r>
            </a:p>
          </p:txBody>
        </p:sp>
        <p:sp>
          <p:nvSpPr>
            <p:cNvPr id="159" name="TextBox 159"/>
            <p:cNvSpPr txBox="1"/>
            <p:nvPr/>
          </p:nvSpPr>
          <p:spPr>
            <a:xfrm>
              <a:off x="10538524" y="2579132"/>
              <a:ext cx="83045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​高价值客户优先分配​</a:t>
              </a:r>
              <a:br/>
              <a:r>
                <a:rPr lang="zh-CN" sz="640" dirty="0">
                  <a:solidFill>
                    <a:srgbClr val="3D3835"/>
                  </a:solidFill>
                  <a:latin typeface="+mn-lt"/>
                  <a:ea typeface="+mn-ea"/>
                  <a:cs typeface="+mn-cs"/>
                </a:rPr>
                <a:t>​专属顾问与线下资源​</a:t>
              </a:r>
            </a:p>
          </p:txBody>
        </p:sp>
        <p:grpSp>
          <p:nvGrpSpPr>
            <p:cNvPr id="162" name="Group 162"/>
            <p:cNvGrpSpPr/>
            <p:nvPr/>
          </p:nvGrpSpPr>
          <p:grpSpPr>
            <a:xfrm>
              <a:off x="7859080" y="3057525"/>
              <a:ext cx="124004" cy="114300"/>
              <a:chOff x="7859080" y="3057525"/>
              <a:chExt cx="124004" cy="114300"/>
            </a:xfrm>
          </p:grpSpPr>
          <p:sp>
            <p:nvSpPr>
              <p:cNvPr id="160" name="Freeform 160"/>
              <p:cNvSpPr/>
              <p:nvPr/>
            </p:nvSpPr>
            <p:spPr>
              <a:xfrm>
                <a:off x="7859080" y="3057525"/>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D82000"/>
                </a:solidFill>
              </a:ln>
            </p:spPr>
          </p:sp>
          <p:sp>
            <p:nvSpPr>
              <p:cNvPr id="161" name="Freeform 161"/>
              <p:cNvSpPr/>
              <p:nvPr/>
            </p:nvSpPr>
            <p:spPr>
              <a:xfrm>
                <a:off x="7943850" y="3146425"/>
                <a:ext cx="38100" cy="25400"/>
              </a:xfrm>
              <a:custGeom>
                <a:avLst/>
                <a:gdLst/>
                <a:ahLst/>
                <a:cxnLst/>
                <a:rect l="l" t="t" r="r" b="b"/>
                <a:pathLst>
                  <a:path w="38100" h="25400">
                    <a:moveTo>
                      <a:pt x="0" y="12700"/>
                    </a:moveTo>
                    <a:lnTo>
                      <a:pt x="12700" y="25400"/>
                    </a:lnTo>
                    <a:lnTo>
                      <a:pt x="38100" y="0"/>
                    </a:lnTo>
                  </a:path>
                </a:pathLst>
              </a:custGeom>
              <a:noFill/>
              <a:ln w="12700">
                <a:solidFill>
                  <a:srgbClr val="D82000"/>
                </a:solidFill>
              </a:ln>
            </p:spPr>
          </p:sp>
        </p:grpSp>
        <p:sp>
          <p:nvSpPr>
            <p:cNvPr id="163" name="TextBox 163"/>
            <p:cNvSpPr txBox="1"/>
            <p:nvPr/>
          </p:nvSpPr>
          <p:spPr>
            <a:xfrm>
              <a:off x="8053388" y="3075861"/>
              <a:ext cx="487426" cy="140494"/>
            </a:xfrm>
            <a:prstGeom prst="rect">
              <a:avLst/>
            </a:prstGeom>
            <a:noFill/>
            <a:ln>
              <a:noFill/>
            </a:ln>
          </p:spPr>
          <p:txBody>
            <a:bodyPr wrap="none" lIns="0" tIns="0" rIns="0" bIns="0" anchor="t" anchorCtr="0">
              <a:spAutoFit/>
            </a:bodyPr>
            <a:lstStyle/>
            <a:p>
              <a:pPr algn="l"/>
              <a:r>
                <a:rPr lang="zh-CN" sz="710" b="1" dirty="0">
                  <a:solidFill>
                    <a:srgbClr val="4A130A"/>
                  </a:solidFill>
                  <a:latin typeface="+mn-lt"/>
                  <a:ea typeface="+mn-ea"/>
                  <a:cs typeface="+mn-cs"/>
                </a:rPr>
                <a:t>合规与意愿</a:t>
              </a:r>
            </a:p>
          </p:txBody>
        </p:sp>
        <p:sp>
          <p:nvSpPr>
            <p:cNvPr id="164" name="TextBox 164"/>
            <p:cNvSpPr txBox="1"/>
            <p:nvPr/>
          </p:nvSpPr>
          <p:spPr>
            <a:xfrm>
              <a:off x="8888158" y="3017282"/>
              <a:ext cx="911733"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​监管要求、客户授权、​</a:t>
              </a:r>
              <a:br/>
              <a:r>
                <a:rPr lang="zh-CN" sz="640" dirty="0">
                  <a:solidFill>
                    <a:srgbClr val="3D3835"/>
                  </a:solidFill>
                  <a:latin typeface="+mn-lt"/>
                  <a:ea typeface="+mn-ea"/>
                  <a:cs typeface="+mn-cs"/>
                </a:rPr>
                <a:t>风险级别</a:t>
              </a:r>
            </a:p>
          </p:txBody>
        </p:sp>
        <p:sp>
          <p:nvSpPr>
            <p:cNvPr id="165" name="TextBox 165"/>
            <p:cNvSpPr txBox="1"/>
            <p:nvPr/>
          </p:nvSpPr>
          <p:spPr>
            <a:xfrm>
              <a:off x="10475532" y="3017282"/>
              <a:ext cx="956437"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3D3835"/>
                  </a:solidFill>
                  <a:latin typeface="+mn-lt"/>
                  <a:ea typeface="+mn-ea"/>
                  <a:cs typeface="+mn-cs"/>
                </a:rPr>
                <a:t>​需面签→网点；​</a:t>
              </a:r>
              <a:br/>
              <a:r>
                <a:rPr lang="zh-CN" sz="640" dirty="0">
                  <a:solidFill>
                    <a:srgbClr val="3D3835"/>
                  </a:solidFill>
                  <a:latin typeface="+mn-lt"/>
                  <a:ea typeface="+mn-ea"/>
                  <a:cs typeface="+mn-cs"/>
                </a:rPr>
                <a:t>​授权不足→补录授权流程​</a:t>
              </a:r>
            </a:p>
          </p:txBody>
        </p:sp>
        <p:sp>
          <p:nvSpPr>
            <p:cNvPr id="166" name="Line 166"/>
            <p:cNvSpPr/>
            <p:nvPr/>
          </p:nvSpPr>
          <p:spPr>
            <a:xfrm>
              <a:off x="8591550" y="933450"/>
              <a:ext cx="9525" cy="2400300"/>
            </a:xfrm>
            <a:custGeom>
              <a:avLst/>
              <a:gdLst/>
              <a:ahLst/>
              <a:cxnLst/>
              <a:rect l="l" t="t" r="r" b="b"/>
              <a:pathLst>
                <a:path w="9525" h="2400300">
                  <a:moveTo>
                    <a:pt x="0" y="0"/>
                  </a:moveTo>
                  <a:lnTo>
                    <a:pt x="0" y="2400300"/>
                  </a:lnTo>
                </a:path>
              </a:pathLst>
            </a:custGeom>
            <a:noFill/>
            <a:ln w="9525">
              <a:solidFill>
                <a:srgbClr val="EADBCE"/>
              </a:solidFill>
            </a:ln>
          </p:spPr>
        </p:sp>
        <p:sp>
          <p:nvSpPr>
            <p:cNvPr id="167" name="Line 167"/>
            <p:cNvSpPr/>
            <p:nvPr/>
          </p:nvSpPr>
          <p:spPr>
            <a:xfrm>
              <a:off x="10096500" y="933450"/>
              <a:ext cx="9525" cy="2400300"/>
            </a:xfrm>
            <a:custGeom>
              <a:avLst/>
              <a:gdLst/>
              <a:ahLst/>
              <a:cxnLst/>
              <a:rect l="l" t="t" r="r" b="b"/>
              <a:pathLst>
                <a:path w="9525" h="2400300">
                  <a:moveTo>
                    <a:pt x="0" y="0"/>
                  </a:moveTo>
                  <a:lnTo>
                    <a:pt x="0" y="2400300"/>
                  </a:lnTo>
                </a:path>
              </a:pathLst>
            </a:custGeom>
            <a:noFill/>
            <a:ln w="9525">
              <a:solidFill>
                <a:srgbClr val="EADBCE"/>
              </a:solidFill>
            </a:ln>
          </p:spPr>
        </p:sp>
        <p:sp>
          <p:nvSpPr>
            <p:cNvPr id="168" name="Line 168"/>
            <p:cNvSpPr/>
            <p:nvPr/>
          </p:nvSpPr>
          <p:spPr>
            <a:xfrm>
              <a:off x="7791450" y="1581150"/>
              <a:ext cx="4019550" cy="9525"/>
            </a:xfrm>
            <a:custGeom>
              <a:avLst/>
              <a:gdLst/>
              <a:ahLst/>
              <a:cxnLst/>
              <a:rect l="l" t="t" r="r" b="b"/>
              <a:pathLst>
                <a:path w="4019550" h="9525">
                  <a:moveTo>
                    <a:pt x="0" y="0"/>
                  </a:moveTo>
                  <a:lnTo>
                    <a:pt x="4019550" y="0"/>
                  </a:lnTo>
                </a:path>
              </a:pathLst>
            </a:custGeom>
            <a:noFill/>
            <a:ln w="9525">
              <a:solidFill>
                <a:srgbClr val="EADBCE"/>
              </a:solidFill>
            </a:ln>
          </p:spPr>
        </p:sp>
        <p:sp>
          <p:nvSpPr>
            <p:cNvPr id="169" name="Line 169"/>
            <p:cNvSpPr/>
            <p:nvPr/>
          </p:nvSpPr>
          <p:spPr>
            <a:xfrm>
              <a:off x="7791450" y="2019300"/>
              <a:ext cx="4019550" cy="9525"/>
            </a:xfrm>
            <a:custGeom>
              <a:avLst/>
              <a:gdLst/>
              <a:ahLst/>
              <a:cxnLst/>
              <a:rect l="l" t="t" r="r" b="b"/>
              <a:pathLst>
                <a:path w="4019550" h="9525">
                  <a:moveTo>
                    <a:pt x="0" y="0"/>
                  </a:moveTo>
                  <a:lnTo>
                    <a:pt x="4019550" y="0"/>
                  </a:lnTo>
                </a:path>
              </a:pathLst>
            </a:custGeom>
            <a:noFill/>
            <a:ln w="9525">
              <a:solidFill>
                <a:srgbClr val="EADBCE"/>
              </a:solidFill>
            </a:ln>
          </p:spPr>
        </p:sp>
        <p:sp>
          <p:nvSpPr>
            <p:cNvPr id="170" name="Line 170"/>
            <p:cNvSpPr/>
            <p:nvPr/>
          </p:nvSpPr>
          <p:spPr>
            <a:xfrm>
              <a:off x="7791450" y="2457450"/>
              <a:ext cx="4019550" cy="9525"/>
            </a:xfrm>
            <a:custGeom>
              <a:avLst/>
              <a:gdLst/>
              <a:ahLst/>
              <a:cxnLst/>
              <a:rect l="l" t="t" r="r" b="b"/>
              <a:pathLst>
                <a:path w="4019550" h="9525">
                  <a:moveTo>
                    <a:pt x="0" y="0"/>
                  </a:moveTo>
                  <a:lnTo>
                    <a:pt x="4019550" y="0"/>
                  </a:lnTo>
                </a:path>
              </a:pathLst>
            </a:custGeom>
            <a:noFill/>
            <a:ln w="9525">
              <a:solidFill>
                <a:srgbClr val="EADBCE"/>
              </a:solidFill>
            </a:ln>
          </p:spPr>
        </p:sp>
        <p:sp>
          <p:nvSpPr>
            <p:cNvPr id="171" name="Line 171"/>
            <p:cNvSpPr/>
            <p:nvPr/>
          </p:nvSpPr>
          <p:spPr>
            <a:xfrm>
              <a:off x="7791450" y="2895600"/>
              <a:ext cx="4019550" cy="9525"/>
            </a:xfrm>
            <a:custGeom>
              <a:avLst/>
              <a:gdLst/>
              <a:ahLst/>
              <a:cxnLst/>
              <a:rect l="l" t="t" r="r" b="b"/>
              <a:pathLst>
                <a:path w="4019550" h="9525">
                  <a:moveTo>
                    <a:pt x="0" y="0"/>
                  </a:moveTo>
                  <a:lnTo>
                    <a:pt x="4019550" y="0"/>
                  </a:lnTo>
                </a:path>
              </a:pathLst>
            </a:custGeom>
            <a:noFill/>
            <a:ln w="9525">
              <a:solidFill>
                <a:srgbClr val="EADBCE"/>
              </a:solidFill>
            </a:ln>
          </p:spPr>
        </p:sp>
      </p:grpSp>
      <p:grpSp>
        <p:nvGrpSpPr>
          <p:cNvPr id="206" name="handover-points"/>
          <p:cNvGrpSpPr/>
          <p:nvPr/>
        </p:nvGrpSpPr>
        <p:grpSpPr>
          <a:xfrm>
            <a:off x="2895600" y="3409950"/>
            <a:ext cx="8915400" cy="457200"/>
            <a:chOff x="2895600" y="3409950"/>
            <a:chExt cx="8915400" cy="457200"/>
          </a:xfrm>
        </p:grpSpPr>
        <p:sp>
          <p:nvSpPr>
            <p:cNvPr id="173" name="Rectangle 173"/>
            <p:cNvSpPr/>
            <p:nvPr/>
          </p:nvSpPr>
          <p:spPr>
            <a:xfrm>
              <a:off x="2895600" y="3409950"/>
              <a:ext cx="8915400" cy="457200"/>
            </a:xfrm>
            <a:prstGeom prst="roundRect">
              <a:avLst>
                <a:gd name="adj" fmla="val 8333"/>
              </a:avLst>
            </a:prstGeom>
            <a:solidFill>
              <a:srgbClr val="FEF2E6"/>
            </a:solidFill>
            <a:ln w="9525">
              <a:solidFill>
                <a:srgbClr val="F0B8AE"/>
              </a:solidFill>
            </a:ln>
          </p:spPr>
        </p:sp>
        <p:sp>
          <p:nvSpPr>
            <p:cNvPr id="174" name="TextBox 174"/>
            <p:cNvSpPr txBox="1"/>
            <p:nvPr/>
          </p:nvSpPr>
          <p:spPr>
            <a:xfrm>
              <a:off x="2967038" y="3519488"/>
              <a:ext cx="390525" cy="280988"/>
            </a:xfrm>
            <a:prstGeom prst="rect">
              <a:avLst/>
            </a:prstGeom>
            <a:noFill/>
            <a:ln>
              <a:noFill/>
            </a:ln>
          </p:spPr>
          <p:txBody>
            <a:bodyPr wrap="none" lIns="0" tIns="0" rIns="0" bIns="0" anchor="t" anchorCtr="0">
              <a:spAutoFit/>
            </a:bodyPr>
            <a:lstStyle/>
            <a:p>
              <a:pPr algn="l">
                <a:lnSpc>
                  <a:spcPts val="1050"/>
                </a:lnSpc>
              </a:pPr>
              <a:r>
                <a:rPr lang="zh-CN" sz="750" b="1" dirty="0">
                  <a:solidFill>
                    <a:srgbClr val="C41D00"/>
                  </a:solidFill>
                  <a:latin typeface="+mn-lt"/>
                  <a:ea typeface="+mn-ea"/>
                  <a:cs typeface="+mn-cs"/>
                </a:rPr>
                <a:t>跨渠道</a:t>
              </a:r>
              <a:br/>
              <a:r>
                <a:rPr lang="zh-CN" sz="750" b="1" dirty="0">
                  <a:solidFill>
                    <a:srgbClr val="C41D00"/>
                  </a:solidFill>
                  <a:latin typeface="+mn-lt"/>
                  <a:ea typeface="+mn-ea"/>
                  <a:cs typeface="+mn-cs"/>
                </a:rPr>
                <a:t>交接要点</a:t>
              </a:r>
            </a:p>
          </p:txBody>
        </p:sp>
        <p:grpSp>
          <p:nvGrpSpPr>
            <p:cNvPr id="179" name="Group 179"/>
            <p:cNvGrpSpPr/>
            <p:nvPr/>
          </p:nvGrpSpPr>
          <p:grpSpPr>
            <a:xfrm>
              <a:off x="3755231" y="3564731"/>
              <a:ext cx="128588" cy="128588"/>
              <a:chOff x="3755231" y="3564731"/>
              <a:chExt cx="128588" cy="128588"/>
            </a:xfrm>
          </p:grpSpPr>
          <p:sp>
            <p:nvSpPr>
              <p:cNvPr id="175" name="Freeform 175"/>
              <p:cNvSpPr/>
              <p:nvPr/>
            </p:nvSpPr>
            <p:spPr>
              <a:xfrm>
                <a:off x="3769519" y="35647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D82000"/>
                </a:solidFill>
              </a:ln>
            </p:spPr>
          </p:sp>
          <p:sp>
            <p:nvSpPr>
              <p:cNvPr id="176" name="Freeform 176"/>
              <p:cNvSpPr/>
              <p:nvPr/>
            </p:nvSpPr>
            <p:spPr>
              <a:xfrm>
                <a:off x="3755231" y="36504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D82000"/>
                </a:solidFill>
              </a:ln>
            </p:spPr>
          </p:sp>
          <p:sp>
            <p:nvSpPr>
              <p:cNvPr id="177" name="Freeform 177"/>
              <p:cNvSpPr/>
              <p:nvPr/>
            </p:nvSpPr>
            <p:spPr>
              <a:xfrm>
                <a:off x="3848100" y="35656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D82000"/>
                </a:solidFill>
              </a:ln>
            </p:spPr>
          </p:sp>
          <p:sp>
            <p:nvSpPr>
              <p:cNvPr id="178" name="Freeform 178"/>
              <p:cNvSpPr/>
              <p:nvPr/>
            </p:nvSpPr>
            <p:spPr>
              <a:xfrm>
                <a:off x="3862388" y="36515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D82000"/>
                </a:solidFill>
              </a:ln>
            </p:spPr>
          </p:sp>
        </p:grpSp>
        <p:sp>
          <p:nvSpPr>
            <p:cNvPr id="180" name="TextBox 180"/>
            <p:cNvSpPr txBox="1"/>
            <p:nvPr/>
          </p:nvSpPr>
          <p:spPr>
            <a:xfrm>
              <a:off x="3957638" y="3499009"/>
              <a:ext cx="467233"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上下文完整</a:t>
              </a:r>
            </a:p>
          </p:txBody>
        </p:sp>
        <p:sp>
          <p:nvSpPr>
            <p:cNvPr id="181" name="TextBox 181"/>
            <p:cNvSpPr txBox="1"/>
            <p:nvPr/>
          </p:nvSpPr>
          <p:spPr>
            <a:xfrm>
              <a:off x="3957638" y="3634978"/>
              <a:ext cx="68872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3D3835"/>
                  </a:solidFill>
                  <a:latin typeface="+mn-lt"/>
                  <a:ea typeface="+mn-ea"/>
                  <a:cs typeface="+mn-cs"/>
                </a:rPr>
                <a:t>客户信息与会话历史​</a:t>
              </a:r>
              <a:br/>
              <a:r>
                <a:rPr lang="zh-CN" sz="560" dirty="0">
                  <a:solidFill>
                    <a:srgbClr val="3D3835"/>
                  </a:solidFill>
                  <a:latin typeface="+mn-lt"/>
                  <a:ea typeface="+mn-ea"/>
                  <a:cs typeface="+mn-cs"/>
                </a:rPr>
                <a:t>自动带入</a:t>
              </a:r>
            </a:p>
          </p:txBody>
        </p:sp>
        <p:grpSp>
          <p:nvGrpSpPr>
            <p:cNvPr id="186" name="Group 186"/>
            <p:cNvGrpSpPr/>
            <p:nvPr/>
          </p:nvGrpSpPr>
          <p:grpSpPr>
            <a:xfrm>
              <a:off x="5388769" y="3571875"/>
              <a:ext cx="107155" cy="121444"/>
              <a:chOff x="5388769" y="3571875"/>
              <a:chExt cx="107155" cy="121444"/>
            </a:xfrm>
          </p:grpSpPr>
          <p:sp>
            <p:nvSpPr>
              <p:cNvPr id="182" name="Freeform 182"/>
              <p:cNvSpPr/>
              <p:nvPr/>
            </p:nvSpPr>
            <p:spPr>
              <a:xfrm>
                <a:off x="5388769" y="3571875"/>
                <a:ext cx="85725" cy="114300"/>
              </a:xfrm>
              <a:custGeom>
                <a:avLst/>
                <a:gdLst/>
                <a:ahLst/>
                <a:cxnLst/>
                <a:rect l="l" t="t" r="r" b="b"/>
                <a:pathLst>
                  <a:path w="85725" h="114300">
                    <a:moveTo>
                      <a:pt x="32968" y="114300"/>
                    </a:moveTo>
                    <a:lnTo>
                      <a:pt x="14288" y="114300"/>
                    </a:lnTo>
                    <a:cubicBezTo>
                      <a:pt x="6397" y="114300"/>
                      <a:pt x="0" y="107903"/>
                      <a:pt x="0" y="100012"/>
                    </a:cubicBezTo>
                    <a:lnTo>
                      <a:pt x="0" y="14288"/>
                    </a:lnTo>
                    <a:cubicBezTo>
                      <a:pt x="0" y="6397"/>
                      <a:pt x="6397" y="0"/>
                      <a:pt x="14288" y="0"/>
                    </a:cubicBezTo>
                    <a:lnTo>
                      <a:pt x="71438" y="0"/>
                    </a:lnTo>
                    <a:cubicBezTo>
                      <a:pt x="79328" y="0"/>
                      <a:pt x="85725" y="6397"/>
                      <a:pt x="85725" y="14288"/>
                    </a:cubicBezTo>
                    <a:lnTo>
                      <a:pt x="85725" y="71438"/>
                    </a:lnTo>
                  </a:path>
                </a:pathLst>
              </a:custGeom>
              <a:noFill/>
              <a:ln w="14288">
                <a:solidFill>
                  <a:srgbClr val="D82000"/>
                </a:solidFill>
              </a:ln>
            </p:spPr>
          </p:sp>
          <p:sp>
            <p:nvSpPr>
              <p:cNvPr id="183" name="Freeform 183"/>
              <p:cNvSpPr/>
              <p:nvPr/>
            </p:nvSpPr>
            <p:spPr>
              <a:xfrm>
                <a:off x="5453062" y="3664744"/>
                <a:ext cx="42862" cy="28575"/>
              </a:xfrm>
              <a:custGeom>
                <a:avLst/>
                <a:gdLst/>
                <a:ahLst/>
                <a:cxnLst/>
                <a:rect l="l" t="t" r="r" b="b"/>
                <a:pathLst>
                  <a:path w="42862" h="28575">
                    <a:moveTo>
                      <a:pt x="0" y="14288"/>
                    </a:moveTo>
                    <a:lnTo>
                      <a:pt x="14288" y="28575"/>
                    </a:lnTo>
                    <a:lnTo>
                      <a:pt x="42862" y="0"/>
                    </a:lnTo>
                  </a:path>
                </a:pathLst>
              </a:custGeom>
              <a:noFill/>
              <a:ln w="14288">
                <a:solidFill>
                  <a:srgbClr val="D82000"/>
                </a:solidFill>
              </a:ln>
            </p:spPr>
          </p:sp>
          <p:sp>
            <p:nvSpPr>
              <p:cNvPr id="184" name="Freeform 184"/>
              <p:cNvSpPr/>
              <p:nvPr/>
            </p:nvSpPr>
            <p:spPr>
              <a:xfrm>
                <a:off x="5417344" y="3600450"/>
                <a:ext cx="28575" cy="9525"/>
              </a:xfrm>
              <a:custGeom>
                <a:avLst/>
                <a:gdLst/>
                <a:ahLst/>
                <a:cxnLst/>
                <a:rect l="l" t="t" r="r" b="b"/>
                <a:pathLst>
                  <a:path w="28575" h="9525">
                    <a:moveTo>
                      <a:pt x="0" y="0"/>
                    </a:moveTo>
                    <a:lnTo>
                      <a:pt x="28575" y="0"/>
                    </a:lnTo>
                  </a:path>
                </a:pathLst>
              </a:custGeom>
              <a:noFill/>
              <a:ln w="14288">
                <a:solidFill>
                  <a:srgbClr val="D82000"/>
                </a:solidFill>
              </a:ln>
            </p:spPr>
          </p:sp>
          <p:sp>
            <p:nvSpPr>
              <p:cNvPr id="185" name="Freeform 185"/>
              <p:cNvSpPr/>
              <p:nvPr/>
            </p:nvSpPr>
            <p:spPr>
              <a:xfrm>
                <a:off x="5417344" y="3629025"/>
                <a:ext cx="14288" cy="9525"/>
              </a:xfrm>
              <a:custGeom>
                <a:avLst/>
                <a:gdLst/>
                <a:ahLst/>
                <a:cxnLst/>
                <a:rect l="l" t="t" r="r" b="b"/>
                <a:pathLst>
                  <a:path w="14288" h="9525">
                    <a:moveTo>
                      <a:pt x="0" y="0"/>
                    </a:moveTo>
                    <a:lnTo>
                      <a:pt x="14288" y="0"/>
                    </a:lnTo>
                  </a:path>
                </a:pathLst>
              </a:custGeom>
              <a:noFill/>
              <a:ln w="14288">
                <a:solidFill>
                  <a:srgbClr val="D82000"/>
                </a:solidFill>
              </a:ln>
            </p:spPr>
          </p:sp>
        </p:grpSp>
        <p:sp>
          <p:nvSpPr>
            <p:cNvPr id="187" name="TextBox 187"/>
            <p:cNvSpPr txBox="1"/>
            <p:nvPr/>
          </p:nvSpPr>
          <p:spPr>
            <a:xfrm>
              <a:off x="5576888" y="3499009"/>
              <a:ext cx="467233"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一次性收集</a:t>
              </a:r>
            </a:p>
          </p:txBody>
        </p:sp>
        <p:sp>
          <p:nvSpPr>
            <p:cNvPr id="188" name="TextBox 188"/>
            <p:cNvSpPr txBox="1"/>
            <p:nvPr/>
          </p:nvSpPr>
          <p:spPr>
            <a:xfrm>
              <a:off x="5576888" y="3634978"/>
              <a:ext cx="68872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3D3835"/>
                  </a:solidFill>
                  <a:latin typeface="+mn-lt"/>
                  <a:ea typeface="+mn-ea"/>
                  <a:cs typeface="+mn-cs"/>
                </a:rPr>
                <a:t>首次充分收集清单，​</a:t>
              </a:r>
              <a:br/>
              <a:r>
                <a:rPr lang="zh-CN" sz="560" dirty="0">
                  <a:solidFill>
                    <a:srgbClr val="3D3835"/>
                  </a:solidFill>
                  <a:latin typeface="+mn-lt"/>
                  <a:ea typeface="+mn-ea"/>
                  <a:cs typeface="+mn-cs"/>
                </a:rPr>
                <a:t>避免重复提交​</a:t>
              </a:r>
            </a:p>
          </p:txBody>
        </p:sp>
        <p:grpSp>
          <p:nvGrpSpPr>
            <p:cNvPr id="191" name="Group 191"/>
            <p:cNvGrpSpPr/>
            <p:nvPr/>
          </p:nvGrpSpPr>
          <p:grpSpPr>
            <a:xfrm>
              <a:off x="6993731" y="3586162"/>
              <a:ext cx="128588" cy="85725"/>
              <a:chOff x="6993731" y="3586162"/>
              <a:chExt cx="128588" cy="85725"/>
            </a:xfrm>
          </p:grpSpPr>
          <p:sp>
            <p:nvSpPr>
              <p:cNvPr id="189" name="Freeform 189"/>
              <p:cNvSpPr/>
              <p:nvPr/>
            </p:nvSpPr>
            <p:spPr>
              <a:xfrm>
                <a:off x="7043738" y="3614738"/>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190" name="Freeform 190"/>
              <p:cNvSpPr/>
              <p:nvPr/>
            </p:nvSpPr>
            <p:spPr>
              <a:xfrm>
                <a:off x="6993731" y="3586162"/>
                <a:ext cx="128588" cy="85725"/>
              </a:xfrm>
              <a:custGeom>
                <a:avLst/>
                <a:gdLst/>
                <a:ahLst/>
                <a:cxnLst/>
                <a:rect l="l" t="t" r="r" b="b"/>
                <a:pathLst>
                  <a:path w="128588" h="85725">
                    <a:moveTo>
                      <a:pt x="128588" y="42862"/>
                    </a:moveTo>
                    <a:cubicBezTo>
                      <a:pt x="111443" y="71438"/>
                      <a:pt x="90011" y="85725"/>
                      <a:pt x="64294" y="85725"/>
                    </a:cubicBezTo>
                    <a:cubicBezTo>
                      <a:pt x="38576" y="85725"/>
                      <a:pt x="17145" y="71438"/>
                      <a:pt x="0" y="42862"/>
                    </a:cubicBezTo>
                    <a:cubicBezTo>
                      <a:pt x="17145" y="14288"/>
                      <a:pt x="38576" y="0"/>
                      <a:pt x="64294" y="0"/>
                    </a:cubicBezTo>
                    <a:cubicBezTo>
                      <a:pt x="90011" y="0"/>
                      <a:pt x="111443" y="14288"/>
                      <a:pt x="128588" y="42862"/>
                    </a:cubicBezTo>
                  </a:path>
                </a:pathLst>
              </a:custGeom>
              <a:noFill/>
              <a:ln w="14288">
                <a:solidFill>
                  <a:srgbClr val="D82000"/>
                </a:solidFill>
              </a:ln>
            </p:spPr>
          </p:sp>
        </p:grpSp>
        <p:sp>
          <p:nvSpPr>
            <p:cNvPr id="192" name="TextBox 192"/>
            <p:cNvSpPr txBox="1"/>
            <p:nvPr/>
          </p:nvSpPr>
          <p:spPr>
            <a:xfrm>
              <a:off x="7196138" y="3499009"/>
              <a:ext cx="375691"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状态可视</a:t>
              </a:r>
            </a:p>
          </p:txBody>
        </p:sp>
        <p:sp>
          <p:nvSpPr>
            <p:cNvPr id="193" name="TextBox 193"/>
            <p:cNvSpPr txBox="1"/>
            <p:nvPr/>
          </p:nvSpPr>
          <p:spPr>
            <a:xfrm>
              <a:off x="7196138" y="3634978"/>
              <a:ext cx="61760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3D3835"/>
                  </a:solidFill>
                  <a:latin typeface="+mn-lt"/>
                  <a:ea typeface="+mn-ea"/>
                  <a:cs typeface="+mn-cs"/>
                </a:rPr>
                <a:t>清晰展示办理进度​</a:t>
              </a:r>
              <a:br/>
              <a:r>
                <a:rPr lang="zh-CN" sz="560" dirty="0">
                  <a:solidFill>
                    <a:srgbClr val="3D3835"/>
                  </a:solidFill>
                  <a:latin typeface="+mn-lt"/>
                  <a:ea typeface="+mn-ea"/>
                  <a:cs typeface="+mn-cs"/>
                </a:rPr>
                <a:t>与下一步动作​</a:t>
              </a:r>
            </a:p>
          </p:txBody>
        </p:sp>
        <p:grpSp>
          <p:nvGrpSpPr>
            <p:cNvPr id="197" name="Group 197"/>
            <p:cNvGrpSpPr/>
            <p:nvPr/>
          </p:nvGrpSpPr>
          <p:grpSpPr>
            <a:xfrm>
              <a:off x="8634412" y="3564731"/>
              <a:ext cx="107156" cy="128588"/>
              <a:chOff x="8634412" y="3564731"/>
              <a:chExt cx="107156" cy="128588"/>
            </a:xfrm>
          </p:grpSpPr>
          <p:sp>
            <p:nvSpPr>
              <p:cNvPr id="194" name="Freeform 194"/>
              <p:cNvSpPr/>
              <p:nvPr/>
            </p:nvSpPr>
            <p:spPr>
              <a:xfrm>
                <a:off x="8648700" y="35647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D82000"/>
                </a:solidFill>
              </a:ln>
            </p:spPr>
          </p:sp>
          <p:sp>
            <p:nvSpPr>
              <p:cNvPr id="195" name="Freeform 195"/>
              <p:cNvSpPr/>
              <p:nvPr/>
            </p:nvSpPr>
            <p:spPr>
              <a:xfrm>
                <a:off x="8634412" y="365045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D82000"/>
                </a:solidFill>
              </a:ln>
            </p:spPr>
          </p:sp>
          <p:sp>
            <p:nvSpPr>
              <p:cNvPr id="196" name="Freeform 196"/>
              <p:cNvSpPr/>
              <p:nvPr/>
            </p:nvSpPr>
            <p:spPr>
              <a:xfrm>
                <a:off x="8698706" y="3664744"/>
                <a:ext cx="42862" cy="28575"/>
              </a:xfrm>
              <a:custGeom>
                <a:avLst/>
                <a:gdLst/>
                <a:ahLst/>
                <a:cxnLst/>
                <a:rect l="l" t="t" r="r" b="b"/>
                <a:pathLst>
                  <a:path w="42862" h="28575">
                    <a:moveTo>
                      <a:pt x="0" y="14288"/>
                    </a:moveTo>
                    <a:lnTo>
                      <a:pt x="14288" y="28575"/>
                    </a:lnTo>
                    <a:lnTo>
                      <a:pt x="42862" y="0"/>
                    </a:lnTo>
                  </a:path>
                </a:pathLst>
              </a:custGeom>
              <a:noFill/>
              <a:ln w="14288">
                <a:solidFill>
                  <a:srgbClr val="D82000"/>
                </a:solidFill>
              </a:ln>
            </p:spPr>
          </p:sp>
        </p:grpSp>
        <p:sp>
          <p:nvSpPr>
            <p:cNvPr id="198" name="TextBox 198"/>
            <p:cNvSpPr txBox="1"/>
            <p:nvPr/>
          </p:nvSpPr>
          <p:spPr>
            <a:xfrm>
              <a:off x="8815388" y="3499009"/>
              <a:ext cx="375691"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责任明确</a:t>
              </a:r>
            </a:p>
          </p:txBody>
        </p:sp>
        <p:sp>
          <p:nvSpPr>
            <p:cNvPr id="199" name="TextBox 199"/>
            <p:cNvSpPr txBox="1"/>
            <p:nvPr/>
          </p:nvSpPr>
          <p:spPr>
            <a:xfrm>
              <a:off x="8815388" y="3634978"/>
              <a:ext cx="54648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3D3835"/>
                  </a:solidFill>
                  <a:latin typeface="+mn-lt"/>
                  <a:ea typeface="+mn-ea"/>
                  <a:cs typeface="+mn-cs"/>
                </a:rPr>
                <a:t>每次交接均记录​</a:t>
              </a:r>
              <a:br/>
              <a:r>
                <a:rPr lang="zh-CN" sz="560" dirty="0">
                  <a:solidFill>
                    <a:srgbClr val="3D3835"/>
                  </a:solidFill>
                  <a:latin typeface="+mn-lt"/>
                  <a:ea typeface="+mn-ea"/>
                  <a:cs typeface="+mn-cs"/>
                </a:rPr>
                <a:t>主责渠道与人员​</a:t>
              </a:r>
            </a:p>
          </p:txBody>
        </p:sp>
        <p:grpSp>
          <p:nvGrpSpPr>
            <p:cNvPr id="203" name="Group 203"/>
            <p:cNvGrpSpPr/>
            <p:nvPr/>
          </p:nvGrpSpPr>
          <p:grpSpPr>
            <a:xfrm>
              <a:off x="10246519" y="3564731"/>
              <a:ext cx="100012" cy="128588"/>
              <a:chOff x="10246519" y="3564731"/>
              <a:chExt cx="100012" cy="128588"/>
            </a:xfrm>
          </p:grpSpPr>
          <p:sp>
            <p:nvSpPr>
              <p:cNvPr id="200" name="Freeform 200"/>
              <p:cNvSpPr/>
              <p:nvPr/>
            </p:nvSpPr>
            <p:spPr>
              <a:xfrm>
                <a:off x="10246519" y="3621881"/>
                <a:ext cx="100012" cy="71438"/>
              </a:xfrm>
              <a:custGeom>
                <a:avLst/>
                <a:gdLst/>
                <a:ahLst/>
                <a:cxnLst/>
                <a:rect l="l" t="t" r="r" b="b"/>
                <a:pathLst>
                  <a:path w="100012" h="71438">
                    <a:moveTo>
                      <a:pt x="0" y="14288"/>
                    </a:moveTo>
                    <a:cubicBezTo>
                      <a:pt x="0" y="6397"/>
                      <a:pt x="6397" y="0"/>
                      <a:pt x="14288" y="0"/>
                    </a:cubicBezTo>
                    <a:lnTo>
                      <a:pt x="85725" y="0"/>
                    </a:lnTo>
                    <a:cubicBezTo>
                      <a:pt x="93616" y="0"/>
                      <a:pt x="100012" y="6397"/>
                      <a:pt x="100012" y="14288"/>
                    </a:cubicBezTo>
                    <a:lnTo>
                      <a:pt x="100012" y="57150"/>
                    </a:lnTo>
                    <a:cubicBezTo>
                      <a:pt x="100012" y="65041"/>
                      <a:pt x="93616" y="71438"/>
                      <a:pt x="85725" y="71438"/>
                    </a:cubicBezTo>
                    <a:lnTo>
                      <a:pt x="14288" y="71438"/>
                    </a:lnTo>
                    <a:cubicBezTo>
                      <a:pt x="6397" y="71438"/>
                      <a:pt x="0" y="65041"/>
                      <a:pt x="0" y="57150"/>
                    </a:cubicBezTo>
                    <a:lnTo>
                      <a:pt x="0" y="14288"/>
                    </a:lnTo>
                  </a:path>
                </a:pathLst>
              </a:custGeom>
              <a:noFill/>
              <a:ln w="14288">
                <a:solidFill>
                  <a:srgbClr val="D82000"/>
                </a:solidFill>
              </a:ln>
            </p:spPr>
          </p:sp>
          <p:sp>
            <p:nvSpPr>
              <p:cNvPr id="201" name="Freeform 201"/>
              <p:cNvSpPr/>
              <p:nvPr/>
            </p:nvSpPr>
            <p:spPr>
              <a:xfrm>
                <a:off x="10289381" y="36504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D82000"/>
                </a:solidFill>
              </a:ln>
            </p:spPr>
          </p:sp>
          <p:sp>
            <p:nvSpPr>
              <p:cNvPr id="202" name="Freeform 202"/>
              <p:cNvSpPr/>
              <p:nvPr/>
            </p:nvSpPr>
            <p:spPr>
              <a:xfrm>
                <a:off x="10267950" y="3564731"/>
                <a:ext cx="57150" cy="57150"/>
              </a:xfrm>
              <a:custGeom>
                <a:avLst/>
                <a:gdLst/>
                <a:ahLst/>
                <a:cxnLst/>
                <a:rect l="l" t="t" r="r" b="b"/>
                <a:pathLst>
                  <a:path w="57150" h="57150">
                    <a:moveTo>
                      <a:pt x="0" y="57150"/>
                    </a:moveTo>
                    <a:lnTo>
                      <a:pt x="0" y="28575"/>
                    </a:lnTo>
                    <a:cubicBezTo>
                      <a:pt x="0" y="12793"/>
                      <a:pt x="12793" y="0"/>
                      <a:pt x="28575" y="0"/>
                    </a:cubicBezTo>
                    <a:cubicBezTo>
                      <a:pt x="44357" y="0"/>
                      <a:pt x="57150" y="12793"/>
                      <a:pt x="57150" y="28575"/>
                    </a:cubicBezTo>
                    <a:lnTo>
                      <a:pt x="57150" y="57150"/>
                    </a:lnTo>
                  </a:path>
                </a:pathLst>
              </a:custGeom>
              <a:noFill/>
              <a:ln w="14288">
                <a:solidFill>
                  <a:srgbClr val="D82000"/>
                </a:solidFill>
              </a:ln>
            </p:spPr>
          </p:sp>
        </p:grpSp>
        <p:sp>
          <p:nvSpPr>
            <p:cNvPr id="204" name="TextBox 204"/>
            <p:cNvSpPr txBox="1"/>
            <p:nvPr/>
          </p:nvSpPr>
          <p:spPr>
            <a:xfrm>
              <a:off x="10434638" y="3499009"/>
              <a:ext cx="375691"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安全合规</a:t>
              </a:r>
            </a:p>
          </p:txBody>
        </p:sp>
        <p:sp>
          <p:nvSpPr>
            <p:cNvPr id="205" name="TextBox 205"/>
            <p:cNvSpPr txBox="1"/>
            <p:nvPr/>
          </p:nvSpPr>
          <p:spPr>
            <a:xfrm>
              <a:off x="10434638" y="3634978"/>
              <a:ext cx="54648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3D3835"/>
                  </a:solidFill>
                  <a:latin typeface="+mn-lt"/>
                  <a:ea typeface="+mn-ea"/>
                  <a:cs typeface="+mn-cs"/>
                </a:rPr>
                <a:t>全程留痕，满足​</a:t>
              </a:r>
              <a:br/>
              <a:r>
                <a:rPr lang="zh-CN" sz="560" dirty="0">
                  <a:solidFill>
                    <a:srgbClr val="3D3835"/>
                  </a:solidFill>
                  <a:latin typeface="+mn-lt"/>
                  <a:ea typeface="+mn-ea"/>
                  <a:cs typeface="+mn-cs"/>
                </a:rPr>
                <a:t>合规与审计要求​</a:t>
              </a:r>
            </a:p>
          </p:txBody>
        </p:sp>
      </p:grpSp>
      <p:grpSp>
        <p:nvGrpSpPr>
          <p:cNvPr id="268" name="conflict-attribution"/>
          <p:cNvGrpSpPr/>
          <p:nvPr/>
        </p:nvGrpSpPr>
        <p:grpSpPr>
          <a:xfrm>
            <a:off x="2895600" y="3962400"/>
            <a:ext cx="8915400" cy="2743200"/>
            <a:chOff x="2895600" y="3962400"/>
            <a:chExt cx="8915400" cy="2743200"/>
          </a:xfrm>
        </p:grpSpPr>
        <p:sp>
          <p:nvSpPr>
            <p:cNvPr id="207" name="Rectangle 207"/>
            <p:cNvSpPr/>
            <p:nvPr/>
          </p:nvSpPr>
          <p:spPr>
            <a:xfrm>
              <a:off x="2895600" y="3962400"/>
              <a:ext cx="8915400" cy="228600"/>
            </a:xfrm>
            <a:prstGeom prst="roundRect">
              <a:avLst>
                <a:gd name="adj" fmla="val 12500"/>
              </a:avLst>
            </a:prstGeom>
            <a:solidFill>
              <a:srgbClr val="C41D00"/>
            </a:solidFill>
            <a:ln>
              <a:noFill/>
            </a:ln>
          </p:spPr>
        </p:sp>
        <p:sp>
          <p:nvSpPr>
            <p:cNvPr id="208" name="TextBox 208"/>
            <p:cNvSpPr txBox="1"/>
            <p:nvPr/>
          </p:nvSpPr>
          <p:spPr>
            <a:xfrm>
              <a:off x="6644926" y="4031218"/>
              <a:ext cx="141674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​渠道冲突识别与归因机制​</a:t>
              </a:r>
            </a:p>
          </p:txBody>
        </p:sp>
        <p:sp>
          <p:nvSpPr>
            <p:cNvPr id="209" name="Rectangle 209"/>
            <p:cNvSpPr/>
            <p:nvPr/>
          </p:nvSpPr>
          <p:spPr>
            <a:xfrm>
              <a:off x="2895600" y="4229100"/>
              <a:ext cx="8915400" cy="190500"/>
            </a:xfrm>
            <a:prstGeom prst="rect">
              <a:avLst/>
            </a:prstGeom>
            <a:solidFill>
              <a:srgbClr val="FEF2E6"/>
            </a:solidFill>
            <a:ln w="9525">
              <a:solidFill>
                <a:srgbClr val="F0B8AE"/>
              </a:solidFill>
            </a:ln>
          </p:spPr>
        </p:sp>
        <p:sp>
          <p:nvSpPr>
            <p:cNvPr id="210" name="TextBox 210"/>
            <p:cNvSpPr txBox="1"/>
            <p:nvPr/>
          </p:nvSpPr>
          <p:spPr>
            <a:xfrm>
              <a:off x="3498329" y="42895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场景示例</a:t>
              </a:r>
            </a:p>
          </p:txBody>
        </p:sp>
        <p:sp>
          <p:nvSpPr>
            <p:cNvPr id="211" name="TextBox 211"/>
            <p:cNvSpPr txBox="1"/>
            <p:nvPr/>
          </p:nvSpPr>
          <p:spPr>
            <a:xfrm>
              <a:off x="4622279" y="42895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冲突类型</a:t>
              </a:r>
            </a:p>
          </p:txBody>
        </p:sp>
        <p:sp>
          <p:nvSpPr>
            <p:cNvPr id="212" name="TextBox 212"/>
            <p:cNvSpPr txBox="1"/>
            <p:nvPr/>
          </p:nvSpPr>
          <p:spPr>
            <a:xfrm>
              <a:off x="5767456" y="4289584"/>
              <a:ext cx="847588"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​识别规则（示例）​</a:t>
              </a:r>
            </a:p>
          </p:txBody>
        </p:sp>
        <p:sp>
          <p:nvSpPr>
            <p:cNvPr id="213" name="TextBox 213"/>
            <p:cNvSpPr txBox="1"/>
            <p:nvPr/>
          </p:nvSpPr>
          <p:spPr>
            <a:xfrm>
              <a:off x="7954497" y="4289584"/>
              <a:ext cx="664505"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​冲突处理策略​</a:t>
              </a:r>
            </a:p>
          </p:txBody>
        </p:sp>
        <p:sp>
          <p:nvSpPr>
            <p:cNvPr id="214" name="TextBox 214"/>
            <p:cNvSpPr txBox="1"/>
            <p:nvPr/>
          </p:nvSpPr>
          <p:spPr>
            <a:xfrm>
              <a:off x="9527654" y="4289584"/>
              <a:ext cx="375691"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归因原则</a:t>
              </a:r>
            </a:p>
          </p:txBody>
        </p:sp>
        <p:sp>
          <p:nvSpPr>
            <p:cNvPr id="215" name="TextBox 215"/>
            <p:cNvSpPr txBox="1"/>
            <p:nvPr/>
          </p:nvSpPr>
          <p:spPr>
            <a:xfrm>
              <a:off x="10529956" y="4289584"/>
              <a:ext cx="847588"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​归因口径（示例）​</a:t>
              </a:r>
            </a:p>
          </p:txBody>
        </p:sp>
        <p:sp>
          <p:nvSpPr>
            <p:cNvPr id="216" name="Rectangle 216"/>
            <p:cNvSpPr/>
            <p:nvPr/>
          </p:nvSpPr>
          <p:spPr>
            <a:xfrm>
              <a:off x="2895600" y="4419600"/>
              <a:ext cx="8915400" cy="2286000"/>
            </a:xfrm>
            <a:prstGeom prst="rect">
              <a:avLst/>
            </a:prstGeom>
            <a:solidFill>
              <a:srgbClr val="FFFFFF"/>
            </a:solidFill>
            <a:ln w="9525">
              <a:solidFill>
                <a:srgbClr val="F0B8AE"/>
              </a:solidFill>
            </a:ln>
          </p:spPr>
        </p:sp>
        <p:sp>
          <p:nvSpPr>
            <p:cNvPr id="217" name="Rectangle 217"/>
            <p:cNvSpPr/>
            <p:nvPr/>
          </p:nvSpPr>
          <p:spPr>
            <a:xfrm>
              <a:off x="2895600" y="4991100"/>
              <a:ext cx="8915400" cy="571500"/>
            </a:xfrm>
            <a:prstGeom prst="rect">
              <a:avLst/>
            </a:prstGeom>
            <a:solidFill>
              <a:srgbClr val="FFF8F2"/>
            </a:solidFill>
            <a:ln>
              <a:noFill/>
            </a:ln>
          </p:spPr>
        </p:sp>
        <p:sp>
          <p:nvSpPr>
            <p:cNvPr id="218" name="Rectangle 218"/>
            <p:cNvSpPr/>
            <p:nvPr/>
          </p:nvSpPr>
          <p:spPr>
            <a:xfrm>
              <a:off x="2895600" y="6134100"/>
              <a:ext cx="8915400" cy="571500"/>
            </a:xfrm>
            <a:prstGeom prst="rect">
              <a:avLst/>
            </a:prstGeom>
            <a:solidFill>
              <a:srgbClr val="FFF8F2"/>
            </a:solidFill>
            <a:ln>
              <a:noFill/>
            </a:ln>
          </p:spPr>
        </p:sp>
        <p:grpSp>
          <p:nvGrpSpPr>
            <p:cNvPr id="222" name="Group 222"/>
            <p:cNvGrpSpPr/>
            <p:nvPr/>
          </p:nvGrpSpPr>
          <p:grpSpPr>
            <a:xfrm>
              <a:off x="2990850" y="4648200"/>
              <a:ext cx="76200" cy="114300"/>
              <a:chOff x="2990850" y="4648200"/>
              <a:chExt cx="76200" cy="114300"/>
            </a:xfrm>
          </p:grpSpPr>
          <p:sp>
            <p:nvSpPr>
              <p:cNvPr id="219" name="Freeform 219"/>
              <p:cNvSpPr/>
              <p:nvPr/>
            </p:nvSpPr>
            <p:spPr>
              <a:xfrm>
                <a:off x="2990850" y="464820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D82000"/>
                </a:solidFill>
              </a:ln>
            </p:spPr>
          </p:sp>
          <p:sp>
            <p:nvSpPr>
              <p:cNvPr id="220" name="Freeform 220"/>
              <p:cNvSpPr/>
              <p:nvPr/>
            </p:nvSpPr>
            <p:spPr>
              <a:xfrm>
                <a:off x="3022600" y="4654550"/>
                <a:ext cx="12700" cy="9525"/>
              </a:xfrm>
              <a:custGeom>
                <a:avLst/>
                <a:gdLst/>
                <a:ahLst/>
                <a:cxnLst/>
                <a:rect l="l" t="t" r="r" b="b"/>
                <a:pathLst>
                  <a:path w="12700" h="9525">
                    <a:moveTo>
                      <a:pt x="0" y="0"/>
                    </a:moveTo>
                    <a:lnTo>
                      <a:pt x="12700" y="0"/>
                    </a:lnTo>
                  </a:path>
                </a:pathLst>
              </a:custGeom>
              <a:noFill/>
              <a:ln w="12700">
                <a:solidFill>
                  <a:srgbClr val="D82000"/>
                </a:solidFill>
              </a:ln>
            </p:spPr>
          </p:sp>
          <p:sp>
            <p:nvSpPr>
              <p:cNvPr id="221" name="Freeform 221"/>
              <p:cNvSpPr/>
              <p:nvPr/>
            </p:nvSpPr>
            <p:spPr>
              <a:xfrm>
                <a:off x="3028950" y="4737100"/>
                <a:ext cx="9525" cy="9525"/>
              </a:xfrm>
              <a:custGeom>
                <a:avLst/>
                <a:gdLst/>
                <a:ahLst/>
                <a:cxnLst/>
                <a:rect l="l" t="t" r="r" b="b"/>
                <a:pathLst>
                  <a:path w="9525" h="9525">
                    <a:moveTo>
                      <a:pt x="0" y="0"/>
                    </a:moveTo>
                    <a:lnTo>
                      <a:pt x="0" y="64"/>
                    </a:lnTo>
                  </a:path>
                </a:pathLst>
              </a:custGeom>
              <a:noFill/>
              <a:ln w="12700">
                <a:solidFill>
                  <a:srgbClr val="D82000"/>
                </a:solidFill>
              </a:ln>
            </p:spPr>
          </p:sp>
        </p:grpSp>
        <p:sp>
          <p:nvSpPr>
            <p:cNvPr id="223" name="TextBox 223"/>
            <p:cNvSpPr txBox="1"/>
            <p:nvPr/>
          </p:nvSpPr>
          <p:spPr>
            <a:xfrm>
              <a:off x="3157538" y="4541282"/>
              <a:ext cx="948309" cy="335756"/>
            </a:xfrm>
            <a:prstGeom prst="rect">
              <a:avLst/>
            </a:prstGeom>
            <a:noFill/>
            <a:ln>
              <a:noFill/>
            </a:ln>
          </p:spPr>
          <p:txBody>
            <a:bodyPr wrap="none" lIns="0" tIns="0" rIns="0" bIns="0" anchor="t" anchorCtr="0">
              <a:spAutoFit/>
            </a:bodyPr>
            <a:lstStyle/>
            <a:p>
              <a:pPr algn="l">
                <a:lnSpc>
                  <a:spcPts val="825"/>
                </a:lnSpc>
              </a:pPr>
              <a:r>
                <a:rPr lang="zh-CN" sz="640" dirty="0">
                  <a:solidFill>
                    <a:srgbClr val="3D3835"/>
                  </a:solidFill>
                  <a:latin typeface="+mn-lt"/>
                  <a:ea typeface="+mn-ea"/>
                  <a:cs typeface="+mn-cs"/>
                </a:rPr>
                <a:t>客户先在App咨询，​​​</a:t>
              </a:r>
              <a:br/>
              <a:r>
                <a:rPr lang="zh-CN" sz="640" dirty="0">
                  <a:solidFill>
                    <a:srgbClr val="3D3835"/>
                  </a:solidFill>
                  <a:latin typeface="+mn-lt"/>
                  <a:ea typeface="+mn-ea"/>
                  <a:cs typeface="+mn-cs"/>
                </a:rPr>
                <a:t>随后致电呼叫中心咨询，​</a:t>
              </a:r>
              <a:br/>
              <a:r>
                <a:rPr lang="zh-CN" sz="640" dirty="0">
                  <a:solidFill>
                    <a:srgbClr val="3D3835"/>
                  </a:solidFill>
                  <a:latin typeface="+mn-lt"/>
                  <a:ea typeface="+mn-ea"/>
                  <a:cs typeface="+mn-cs"/>
                </a:rPr>
                <a:t>同一产品</a:t>
              </a:r>
            </a:p>
          </p:txBody>
        </p:sp>
        <p:sp>
          <p:nvSpPr>
            <p:cNvPr id="224" name="TextBox 224"/>
            <p:cNvSpPr txBox="1"/>
            <p:nvPr/>
          </p:nvSpPr>
          <p:spPr>
            <a:xfrm>
              <a:off x="4622279" y="4661059"/>
              <a:ext cx="375691" cy="133350"/>
            </a:xfrm>
            <a:prstGeom prst="rect">
              <a:avLst/>
            </a:prstGeom>
            <a:noFill/>
            <a:ln>
              <a:noFill/>
            </a:ln>
          </p:spPr>
          <p:txBody>
            <a:bodyPr wrap="none" lIns="0" tIns="0" rIns="0" bIns="0" anchor="t" anchorCtr="0">
              <a:spAutoFit/>
            </a:bodyPr>
            <a:lstStyle/>
            <a:p>
              <a:pPr algn="ctr"/>
              <a:r>
                <a:rPr lang="zh-CN" sz="680" b="1" dirty="0">
                  <a:solidFill>
                    <a:srgbClr val="C41D00"/>
                  </a:solidFill>
                  <a:latin typeface="+mn-lt"/>
                  <a:ea typeface="+mn-ea"/>
                  <a:cs typeface="+mn-cs"/>
                </a:rPr>
                <a:t>重复接入</a:t>
              </a:r>
            </a:p>
          </p:txBody>
        </p:sp>
        <p:sp>
          <p:nvSpPr>
            <p:cNvPr id="225" name="TextBox 225"/>
            <p:cNvSpPr txBox="1"/>
            <p:nvPr/>
          </p:nvSpPr>
          <p:spPr>
            <a:xfrm>
              <a:off x="5450904" y="4598432"/>
              <a:ext cx="148069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​同一客户、同一产品、同一自然日内，​</a:t>
              </a:r>
              <a:br/>
              <a:r>
                <a:rPr lang="zh-CN" sz="640" dirty="0">
                  <a:solidFill>
                    <a:srgbClr val="3D3835"/>
                  </a:solidFill>
                  <a:latin typeface="+mn-lt"/>
                  <a:ea typeface="+mn-ea"/>
                  <a:cs typeface="+mn-cs"/>
                </a:rPr>
                <a:t>​不同渠道产生主咨询/受理事件​</a:t>
              </a:r>
            </a:p>
          </p:txBody>
        </p:sp>
        <p:sp>
          <p:nvSpPr>
            <p:cNvPr id="226" name="TextBox 226"/>
            <p:cNvSpPr txBox="1"/>
            <p:nvPr/>
          </p:nvSpPr>
          <p:spPr>
            <a:xfrm>
              <a:off x="7505764" y="4598432"/>
              <a:ext cx="156197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​合并会话，保留最早接入渠道为主渠道，​</a:t>
              </a:r>
              <a:br/>
              <a:r>
                <a:rPr lang="zh-CN" sz="640" dirty="0">
                  <a:solidFill>
                    <a:srgbClr val="3D3835"/>
                  </a:solidFill>
                  <a:latin typeface="+mn-lt"/>
                  <a:ea typeface="+mn-ea"/>
                  <a:cs typeface="+mn-cs"/>
                </a:rPr>
                <a:t>​后续渠道协作处理，避免重复提交​</a:t>
              </a:r>
            </a:p>
          </p:txBody>
        </p:sp>
        <p:sp>
          <p:nvSpPr>
            <p:cNvPr id="227" name="TextBox 227"/>
            <p:cNvSpPr txBox="1"/>
            <p:nvPr/>
          </p:nvSpPr>
          <p:spPr>
            <a:xfrm>
              <a:off x="9507538" y="4598432"/>
              <a:ext cx="41592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首触达优先</a:t>
              </a:r>
              <a:br/>
              <a:r>
                <a:rPr lang="zh-CN" sz="640" dirty="0">
                  <a:solidFill>
                    <a:srgbClr val="3D3835"/>
                  </a:solidFill>
                  <a:latin typeface="+mn-lt"/>
                  <a:ea typeface="+mn-ea"/>
                  <a:cs typeface="+mn-cs"/>
                </a:rPr>
                <a:t>贡献转移</a:t>
              </a:r>
            </a:p>
          </p:txBody>
        </p:sp>
        <p:sp>
          <p:nvSpPr>
            <p:cNvPr id="228" name="TextBox 228"/>
            <p:cNvSpPr txBox="1"/>
            <p:nvPr/>
          </p:nvSpPr>
          <p:spPr>
            <a:xfrm>
              <a:off x="10375964" y="4598432"/>
              <a:ext cx="115557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​咨询归首触达渠道；​</a:t>
              </a:r>
              <a:br/>
              <a:r>
                <a:rPr lang="zh-CN" sz="640" dirty="0">
                  <a:solidFill>
                    <a:srgbClr val="3D3835"/>
                  </a:solidFill>
                  <a:latin typeface="+mn-lt"/>
                  <a:ea typeface="+mn-ea"/>
                  <a:cs typeface="+mn-cs"/>
                </a:rPr>
                <a:t>​成交按渠道关键贡献分配权重​</a:t>
              </a:r>
            </a:p>
          </p:txBody>
        </p:sp>
        <p:grpSp>
          <p:nvGrpSpPr>
            <p:cNvPr id="231" name="Group 231"/>
            <p:cNvGrpSpPr/>
            <p:nvPr/>
          </p:nvGrpSpPr>
          <p:grpSpPr>
            <a:xfrm>
              <a:off x="2971800" y="5238750"/>
              <a:ext cx="114300" cy="76200"/>
              <a:chOff x="2971800" y="5238750"/>
              <a:chExt cx="114300" cy="76200"/>
            </a:xfrm>
          </p:grpSpPr>
          <p:sp>
            <p:nvSpPr>
              <p:cNvPr id="229" name="Freeform 229"/>
              <p:cNvSpPr/>
              <p:nvPr/>
            </p:nvSpPr>
            <p:spPr>
              <a:xfrm>
                <a:off x="3048000" y="5248714"/>
                <a:ext cx="38100" cy="56272"/>
              </a:xfrm>
              <a:custGeom>
                <a:avLst/>
                <a:gdLst/>
                <a:ahLst/>
                <a:cxnLst/>
                <a:rect l="l" t="t" r="r" b="b"/>
                <a:pathLst>
                  <a:path w="38100" h="56272">
                    <a:moveTo>
                      <a:pt x="0" y="15436"/>
                    </a:moveTo>
                    <a:lnTo>
                      <a:pt x="28912" y="983"/>
                    </a:lnTo>
                    <a:cubicBezTo>
                      <a:pt x="30879" y="0"/>
                      <a:pt x="33216" y="105"/>
                      <a:pt x="35088" y="1262"/>
                    </a:cubicBezTo>
                    <a:cubicBezTo>
                      <a:pt x="36959" y="2418"/>
                      <a:pt x="38099" y="4460"/>
                      <a:pt x="38100" y="6660"/>
                    </a:cubicBezTo>
                    <a:lnTo>
                      <a:pt x="38100" y="49612"/>
                    </a:lnTo>
                    <a:cubicBezTo>
                      <a:pt x="38099" y="51812"/>
                      <a:pt x="36959" y="53854"/>
                      <a:pt x="35088" y="55010"/>
                    </a:cubicBezTo>
                    <a:cubicBezTo>
                      <a:pt x="33216" y="56167"/>
                      <a:pt x="30879" y="56272"/>
                      <a:pt x="28912" y="55289"/>
                    </a:cubicBezTo>
                    <a:lnTo>
                      <a:pt x="0" y="40836"/>
                    </a:lnTo>
                    <a:lnTo>
                      <a:pt x="0" y="15436"/>
                    </a:lnTo>
                  </a:path>
                </a:pathLst>
              </a:custGeom>
              <a:noFill/>
              <a:ln w="12700">
                <a:solidFill>
                  <a:srgbClr val="D82000"/>
                </a:solidFill>
              </a:ln>
            </p:spPr>
          </p:sp>
          <p:sp>
            <p:nvSpPr>
              <p:cNvPr id="230" name="Freeform 230"/>
              <p:cNvSpPr/>
              <p:nvPr/>
            </p:nvSpPr>
            <p:spPr>
              <a:xfrm>
                <a:off x="2971800" y="5238750"/>
                <a:ext cx="76200" cy="76200"/>
              </a:xfrm>
              <a:custGeom>
                <a:avLst/>
                <a:gdLst/>
                <a:ahLst/>
                <a:cxnLst/>
                <a:rect l="l" t="t" r="r" b="b"/>
                <a:pathLst>
                  <a:path w="76200" h="76200">
                    <a:moveTo>
                      <a:pt x="0" y="12700"/>
                    </a:moveTo>
                    <a:cubicBezTo>
                      <a:pt x="0" y="5686"/>
                      <a:pt x="5686" y="0"/>
                      <a:pt x="12700" y="0"/>
                    </a:cubicBezTo>
                    <a:lnTo>
                      <a:pt x="63500" y="0"/>
                    </a:lnTo>
                    <a:cubicBezTo>
                      <a:pt x="70514" y="0"/>
                      <a:pt x="76200" y="5686"/>
                      <a:pt x="76200" y="12700"/>
                    </a:cubicBezTo>
                    <a:lnTo>
                      <a:pt x="76200" y="63500"/>
                    </a:lnTo>
                    <a:cubicBezTo>
                      <a:pt x="76200" y="70514"/>
                      <a:pt x="70514" y="76200"/>
                      <a:pt x="63500" y="76200"/>
                    </a:cubicBezTo>
                    <a:lnTo>
                      <a:pt x="12700" y="76200"/>
                    </a:lnTo>
                    <a:cubicBezTo>
                      <a:pt x="5686" y="76200"/>
                      <a:pt x="0" y="70514"/>
                      <a:pt x="0" y="63500"/>
                    </a:cubicBezTo>
                    <a:lnTo>
                      <a:pt x="0" y="12700"/>
                    </a:lnTo>
                  </a:path>
                </a:pathLst>
              </a:custGeom>
              <a:noFill/>
              <a:ln w="12700">
                <a:solidFill>
                  <a:srgbClr val="D82000"/>
                </a:solidFill>
              </a:ln>
            </p:spPr>
          </p:sp>
        </p:grpSp>
        <p:sp>
          <p:nvSpPr>
            <p:cNvPr id="232" name="TextBox 232"/>
            <p:cNvSpPr txBox="1"/>
            <p:nvPr/>
          </p:nvSpPr>
          <p:spPr>
            <a:xfrm>
              <a:off x="3157538" y="5169932"/>
              <a:ext cx="948309" cy="230981"/>
            </a:xfrm>
            <a:prstGeom prst="rect">
              <a:avLst/>
            </a:prstGeom>
            <a:noFill/>
            <a:ln>
              <a:noFill/>
            </a:ln>
          </p:spPr>
          <p:txBody>
            <a:bodyPr wrap="none" lIns="0" tIns="0" rIns="0" bIns="0" anchor="t" anchorCtr="0">
              <a:spAutoFit/>
            </a:bodyPr>
            <a:lstStyle/>
            <a:p>
              <a:pPr algn="l">
                <a:lnSpc>
                  <a:spcPts val="825"/>
                </a:lnSpc>
              </a:pPr>
              <a:r>
                <a:rPr lang="zh-CN" sz="640" dirty="0">
                  <a:solidFill>
                    <a:srgbClr val="3D3835"/>
                  </a:solidFill>
                  <a:latin typeface="+mn-lt"/>
                  <a:ea typeface="+mn-ea"/>
                  <a:cs typeface="+mn-cs"/>
                </a:rPr>
                <a:t>远程顾问服务后，​</a:t>
              </a:r>
              <a:br/>
              <a:r>
                <a:rPr lang="zh-CN" sz="640" dirty="0">
                  <a:solidFill>
                    <a:srgbClr val="3D3835"/>
                  </a:solidFill>
                  <a:latin typeface="+mn-lt"/>
                  <a:ea typeface="+mn-ea"/>
                  <a:cs typeface="+mn-cs"/>
                </a:rPr>
                <a:t>客户自行到网点完成签约​</a:t>
              </a:r>
            </a:p>
          </p:txBody>
        </p:sp>
        <p:sp>
          <p:nvSpPr>
            <p:cNvPr id="233" name="TextBox 233"/>
            <p:cNvSpPr txBox="1"/>
            <p:nvPr/>
          </p:nvSpPr>
          <p:spPr>
            <a:xfrm>
              <a:off x="4576508" y="5232559"/>
              <a:ext cx="467233" cy="133350"/>
            </a:xfrm>
            <a:prstGeom prst="rect">
              <a:avLst/>
            </a:prstGeom>
            <a:noFill/>
            <a:ln>
              <a:noFill/>
            </a:ln>
          </p:spPr>
          <p:txBody>
            <a:bodyPr wrap="none" lIns="0" tIns="0" rIns="0" bIns="0" anchor="t" anchorCtr="0">
              <a:spAutoFit/>
            </a:bodyPr>
            <a:lstStyle/>
            <a:p>
              <a:pPr algn="ctr"/>
              <a:r>
                <a:rPr lang="zh-CN" sz="680" b="1" dirty="0">
                  <a:solidFill>
                    <a:srgbClr val="C41D00"/>
                  </a:solidFill>
                  <a:latin typeface="+mn-lt"/>
                  <a:ea typeface="+mn-ea"/>
                  <a:cs typeface="+mn-cs"/>
                </a:rPr>
                <a:t>跨渠道转化</a:t>
              </a:r>
            </a:p>
          </p:txBody>
        </p:sp>
        <p:sp>
          <p:nvSpPr>
            <p:cNvPr id="234" name="TextBox 234"/>
            <p:cNvSpPr txBox="1"/>
            <p:nvPr/>
          </p:nvSpPr>
          <p:spPr>
            <a:xfrm>
              <a:off x="5335080" y="5169932"/>
              <a:ext cx="1712341"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​​​远程会话中产生“预约/转介网点”标识，​​​</a:t>
              </a:r>
              <a:br/>
              <a:r>
                <a:rPr lang="zh-CN" sz="640" dirty="0">
                  <a:solidFill>
                    <a:srgbClr val="3D3835"/>
                  </a:solidFill>
                  <a:latin typeface="+mn-lt"/>
                  <a:ea typeface="+mn-ea"/>
                  <a:cs typeface="+mn-cs"/>
                </a:rPr>
                <a:t>​或生成到店工单​</a:t>
              </a:r>
            </a:p>
          </p:txBody>
        </p:sp>
        <p:sp>
          <p:nvSpPr>
            <p:cNvPr id="235" name="TextBox 235"/>
            <p:cNvSpPr txBox="1"/>
            <p:nvPr/>
          </p:nvSpPr>
          <p:spPr>
            <a:xfrm>
              <a:off x="7587044" y="5169932"/>
              <a:ext cx="139941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​建立关联关系，网点识别关联工单，​</a:t>
              </a:r>
              <a:br/>
              <a:r>
                <a:rPr lang="zh-CN" sz="640" dirty="0">
                  <a:solidFill>
                    <a:srgbClr val="3D3835"/>
                  </a:solidFill>
                  <a:latin typeface="+mn-lt"/>
                  <a:ea typeface="+mn-ea"/>
                  <a:cs typeface="+mn-cs"/>
                </a:rPr>
                <a:t>​并回传办理结果​</a:t>
              </a:r>
            </a:p>
          </p:txBody>
        </p:sp>
        <p:sp>
          <p:nvSpPr>
            <p:cNvPr id="236" name="TextBox 236"/>
            <p:cNvSpPr txBox="1"/>
            <p:nvPr/>
          </p:nvSpPr>
          <p:spPr>
            <a:xfrm>
              <a:off x="9548178" y="5169932"/>
              <a:ext cx="33464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协同贡献</a:t>
              </a:r>
              <a:br/>
              <a:r>
                <a:rPr lang="zh-CN" sz="640" dirty="0">
                  <a:solidFill>
                    <a:srgbClr val="3D3835"/>
                  </a:solidFill>
                  <a:latin typeface="+mn-lt"/>
                  <a:ea typeface="+mn-ea"/>
                  <a:cs typeface="+mn-cs"/>
                </a:rPr>
                <a:t>多方共享</a:t>
              </a:r>
            </a:p>
          </p:txBody>
        </p:sp>
        <p:sp>
          <p:nvSpPr>
            <p:cNvPr id="237" name="TextBox 237"/>
            <p:cNvSpPr txBox="1"/>
            <p:nvPr/>
          </p:nvSpPr>
          <p:spPr>
            <a:xfrm>
              <a:off x="10418636" y="5169932"/>
              <a:ext cx="1070229"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​​按定义权重：远程40%、​​</a:t>
              </a:r>
              <a:br/>
              <a:r>
                <a:rPr lang="zh-CN" sz="640" dirty="0">
                  <a:solidFill>
                    <a:srgbClr val="3D3835"/>
                  </a:solidFill>
                  <a:latin typeface="+mn-lt"/>
                  <a:ea typeface="+mn-ea"/>
                  <a:cs typeface="+mn-cs"/>
                </a:rPr>
                <a:t>​​网点60%（可配置）​​</a:t>
              </a:r>
            </a:p>
          </p:txBody>
        </p:sp>
        <p:grpSp>
          <p:nvGrpSpPr>
            <p:cNvPr id="246" name="Group 246"/>
            <p:cNvGrpSpPr/>
            <p:nvPr/>
          </p:nvGrpSpPr>
          <p:grpSpPr>
            <a:xfrm>
              <a:off x="2971800" y="5791200"/>
              <a:ext cx="117475" cy="123825"/>
              <a:chOff x="2971800" y="5791200"/>
              <a:chExt cx="117475" cy="123825"/>
            </a:xfrm>
          </p:grpSpPr>
          <p:sp>
            <p:nvSpPr>
              <p:cNvPr id="238" name="Freeform 238"/>
              <p:cNvSpPr/>
              <p:nvPr/>
            </p:nvSpPr>
            <p:spPr>
              <a:xfrm>
                <a:off x="2971800" y="5905500"/>
                <a:ext cx="114300" cy="9525"/>
              </a:xfrm>
              <a:custGeom>
                <a:avLst/>
                <a:gdLst/>
                <a:ahLst/>
                <a:cxnLst/>
                <a:rect l="l" t="t" r="r" b="b"/>
                <a:pathLst>
                  <a:path w="114300" h="9525">
                    <a:moveTo>
                      <a:pt x="0" y="0"/>
                    </a:moveTo>
                    <a:lnTo>
                      <a:pt x="114300" y="0"/>
                    </a:lnTo>
                  </a:path>
                </a:pathLst>
              </a:custGeom>
              <a:noFill/>
              <a:ln w="12700">
                <a:solidFill>
                  <a:srgbClr val="D82000"/>
                </a:solidFill>
              </a:ln>
            </p:spPr>
          </p:sp>
          <p:sp>
            <p:nvSpPr>
              <p:cNvPr id="239" name="Freeform 239"/>
              <p:cNvSpPr/>
              <p:nvPr/>
            </p:nvSpPr>
            <p:spPr>
              <a:xfrm>
                <a:off x="2971800" y="5835650"/>
                <a:ext cx="114300" cy="9525"/>
              </a:xfrm>
              <a:custGeom>
                <a:avLst/>
                <a:gdLst/>
                <a:ahLst/>
                <a:cxnLst/>
                <a:rect l="l" t="t" r="r" b="b"/>
                <a:pathLst>
                  <a:path w="114300" h="9525">
                    <a:moveTo>
                      <a:pt x="0" y="0"/>
                    </a:moveTo>
                    <a:lnTo>
                      <a:pt x="114300" y="0"/>
                    </a:lnTo>
                  </a:path>
                </a:pathLst>
              </a:custGeom>
              <a:noFill/>
              <a:ln w="12700">
                <a:solidFill>
                  <a:srgbClr val="D82000"/>
                </a:solidFill>
              </a:ln>
            </p:spPr>
          </p:sp>
          <p:sp>
            <p:nvSpPr>
              <p:cNvPr id="240" name="Freeform 240"/>
              <p:cNvSpPr/>
              <p:nvPr/>
            </p:nvSpPr>
            <p:spPr>
              <a:xfrm>
                <a:off x="2984500" y="5791200"/>
                <a:ext cx="88900" cy="19050"/>
              </a:xfrm>
              <a:custGeom>
                <a:avLst/>
                <a:gdLst/>
                <a:ahLst/>
                <a:cxnLst/>
                <a:rect l="l" t="t" r="r" b="b"/>
                <a:pathLst>
                  <a:path w="88900" h="19050">
                    <a:moveTo>
                      <a:pt x="0" y="19050"/>
                    </a:moveTo>
                    <a:lnTo>
                      <a:pt x="44450" y="0"/>
                    </a:lnTo>
                    <a:lnTo>
                      <a:pt x="88900" y="19050"/>
                    </a:lnTo>
                  </a:path>
                </a:pathLst>
              </a:custGeom>
              <a:noFill/>
              <a:ln w="12700">
                <a:solidFill>
                  <a:srgbClr val="D82000"/>
                </a:solidFill>
              </a:ln>
            </p:spPr>
          </p:sp>
          <p:sp>
            <p:nvSpPr>
              <p:cNvPr id="241" name="Freeform 241"/>
              <p:cNvSpPr/>
              <p:nvPr/>
            </p:nvSpPr>
            <p:spPr>
              <a:xfrm>
                <a:off x="2978150" y="5835650"/>
                <a:ext cx="9525" cy="69850"/>
              </a:xfrm>
              <a:custGeom>
                <a:avLst/>
                <a:gdLst/>
                <a:ahLst/>
                <a:cxnLst/>
                <a:rect l="l" t="t" r="r" b="b"/>
                <a:pathLst>
                  <a:path w="9525" h="69850">
                    <a:moveTo>
                      <a:pt x="0" y="0"/>
                    </a:moveTo>
                    <a:lnTo>
                      <a:pt x="0" y="69850"/>
                    </a:lnTo>
                  </a:path>
                </a:pathLst>
              </a:custGeom>
              <a:noFill/>
              <a:ln w="12700">
                <a:solidFill>
                  <a:srgbClr val="D82000"/>
                </a:solidFill>
              </a:ln>
            </p:spPr>
          </p:sp>
          <p:sp>
            <p:nvSpPr>
              <p:cNvPr id="242" name="Freeform 242"/>
              <p:cNvSpPr/>
              <p:nvPr/>
            </p:nvSpPr>
            <p:spPr>
              <a:xfrm>
                <a:off x="3079750" y="5835650"/>
                <a:ext cx="9525" cy="69850"/>
              </a:xfrm>
              <a:custGeom>
                <a:avLst/>
                <a:gdLst/>
                <a:ahLst/>
                <a:cxnLst/>
                <a:rect l="l" t="t" r="r" b="b"/>
                <a:pathLst>
                  <a:path w="9525" h="69850">
                    <a:moveTo>
                      <a:pt x="0" y="0"/>
                    </a:moveTo>
                    <a:lnTo>
                      <a:pt x="0" y="69850"/>
                    </a:lnTo>
                  </a:path>
                </a:pathLst>
              </a:custGeom>
              <a:noFill/>
              <a:ln w="12700">
                <a:solidFill>
                  <a:srgbClr val="D82000"/>
                </a:solidFill>
              </a:ln>
            </p:spPr>
          </p:sp>
          <p:sp>
            <p:nvSpPr>
              <p:cNvPr id="243" name="Freeform 243"/>
              <p:cNvSpPr/>
              <p:nvPr/>
            </p:nvSpPr>
            <p:spPr>
              <a:xfrm>
                <a:off x="3003550" y="5861050"/>
                <a:ext cx="9525" cy="19050"/>
              </a:xfrm>
              <a:custGeom>
                <a:avLst/>
                <a:gdLst/>
                <a:ahLst/>
                <a:cxnLst/>
                <a:rect l="l" t="t" r="r" b="b"/>
                <a:pathLst>
                  <a:path w="9525" h="19050">
                    <a:moveTo>
                      <a:pt x="0" y="0"/>
                    </a:moveTo>
                    <a:lnTo>
                      <a:pt x="0" y="19050"/>
                    </a:lnTo>
                  </a:path>
                </a:pathLst>
              </a:custGeom>
              <a:noFill/>
              <a:ln w="12700">
                <a:solidFill>
                  <a:srgbClr val="D82000"/>
                </a:solidFill>
              </a:ln>
            </p:spPr>
          </p:sp>
          <p:sp>
            <p:nvSpPr>
              <p:cNvPr id="244" name="Freeform 244"/>
              <p:cNvSpPr/>
              <p:nvPr/>
            </p:nvSpPr>
            <p:spPr>
              <a:xfrm>
                <a:off x="3028950" y="5861050"/>
                <a:ext cx="9525" cy="19050"/>
              </a:xfrm>
              <a:custGeom>
                <a:avLst/>
                <a:gdLst/>
                <a:ahLst/>
                <a:cxnLst/>
                <a:rect l="l" t="t" r="r" b="b"/>
                <a:pathLst>
                  <a:path w="9525" h="19050">
                    <a:moveTo>
                      <a:pt x="0" y="0"/>
                    </a:moveTo>
                    <a:lnTo>
                      <a:pt x="0" y="19050"/>
                    </a:lnTo>
                  </a:path>
                </a:pathLst>
              </a:custGeom>
              <a:noFill/>
              <a:ln w="12700">
                <a:solidFill>
                  <a:srgbClr val="D82000"/>
                </a:solidFill>
              </a:ln>
            </p:spPr>
          </p:sp>
          <p:sp>
            <p:nvSpPr>
              <p:cNvPr id="245" name="Freeform 245"/>
              <p:cNvSpPr/>
              <p:nvPr/>
            </p:nvSpPr>
            <p:spPr>
              <a:xfrm>
                <a:off x="3054350" y="5861050"/>
                <a:ext cx="9525" cy="19050"/>
              </a:xfrm>
              <a:custGeom>
                <a:avLst/>
                <a:gdLst/>
                <a:ahLst/>
                <a:cxnLst/>
                <a:rect l="l" t="t" r="r" b="b"/>
                <a:pathLst>
                  <a:path w="9525" h="19050">
                    <a:moveTo>
                      <a:pt x="0" y="0"/>
                    </a:moveTo>
                    <a:lnTo>
                      <a:pt x="0" y="19050"/>
                    </a:lnTo>
                  </a:path>
                </a:pathLst>
              </a:custGeom>
              <a:noFill/>
              <a:ln w="12700">
                <a:solidFill>
                  <a:srgbClr val="D82000"/>
                </a:solidFill>
              </a:ln>
            </p:spPr>
          </p:sp>
        </p:grpSp>
        <p:sp>
          <p:nvSpPr>
            <p:cNvPr id="247" name="TextBox 247"/>
            <p:cNvSpPr txBox="1"/>
            <p:nvPr/>
          </p:nvSpPr>
          <p:spPr>
            <a:xfrm>
              <a:off x="3157538" y="5741432"/>
              <a:ext cx="875157" cy="230981"/>
            </a:xfrm>
            <a:prstGeom prst="rect">
              <a:avLst/>
            </a:prstGeom>
            <a:noFill/>
            <a:ln>
              <a:noFill/>
            </a:ln>
          </p:spPr>
          <p:txBody>
            <a:bodyPr wrap="none" lIns="0" tIns="0" rIns="0" bIns="0" anchor="t" anchorCtr="0">
              <a:spAutoFit/>
            </a:bodyPr>
            <a:lstStyle/>
            <a:p>
              <a:pPr algn="l">
                <a:lnSpc>
                  <a:spcPts val="825"/>
                </a:lnSpc>
              </a:pPr>
              <a:r>
                <a:rPr lang="zh-CN" sz="640" dirty="0">
                  <a:solidFill>
                    <a:srgbClr val="3D3835"/>
                  </a:solidFill>
                  <a:latin typeface="+mn-lt"/>
                  <a:ea typeface="+mn-ea"/>
                  <a:cs typeface="+mn-cs"/>
                </a:rPr>
                <a:t>客户在A网点被引导到​​</a:t>
              </a:r>
              <a:br/>
              <a:r>
                <a:rPr lang="zh-CN" sz="640" dirty="0">
                  <a:solidFill>
                    <a:srgbClr val="3D3835"/>
                  </a:solidFill>
                  <a:latin typeface="+mn-lt"/>
                  <a:ea typeface="+mn-ea"/>
                  <a:cs typeface="+mn-cs"/>
                </a:rPr>
                <a:t>B网点办理​​</a:t>
              </a:r>
            </a:p>
          </p:txBody>
        </p:sp>
        <p:sp>
          <p:nvSpPr>
            <p:cNvPr id="248" name="TextBox 248"/>
            <p:cNvSpPr txBox="1"/>
            <p:nvPr/>
          </p:nvSpPr>
          <p:spPr>
            <a:xfrm>
              <a:off x="4622279" y="5804059"/>
              <a:ext cx="375691" cy="133350"/>
            </a:xfrm>
            <a:prstGeom prst="rect">
              <a:avLst/>
            </a:prstGeom>
            <a:noFill/>
            <a:ln>
              <a:noFill/>
            </a:ln>
          </p:spPr>
          <p:txBody>
            <a:bodyPr wrap="none" lIns="0" tIns="0" rIns="0" bIns="0" anchor="t" anchorCtr="0">
              <a:spAutoFit/>
            </a:bodyPr>
            <a:lstStyle/>
            <a:p>
              <a:pPr algn="ctr"/>
              <a:r>
                <a:rPr lang="zh-CN" sz="680" b="1" dirty="0">
                  <a:solidFill>
                    <a:srgbClr val="C41D00"/>
                  </a:solidFill>
                  <a:latin typeface="+mn-lt"/>
                  <a:ea typeface="+mn-ea"/>
                  <a:cs typeface="+mn-cs"/>
                </a:rPr>
                <a:t>网点转介</a:t>
              </a:r>
            </a:p>
          </p:txBody>
        </p:sp>
        <p:sp>
          <p:nvSpPr>
            <p:cNvPr id="249" name="TextBox 249"/>
            <p:cNvSpPr txBox="1"/>
            <p:nvPr/>
          </p:nvSpPr>
          <p:spPr>
            <a:xfrm>
              <a:off x="5492925" y="5808107"/>
              <a:ext cx="1396649"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​系统记录转介来源网点与目标网点​</a:t>
              </a:r>
            </a:p>
          </p:txBody>
        </p:sp>
        <p:sp>
          <p:nvSpPr>
            <p:cNvPr id="250" name="TextBox 250"/>
            <p:cNvSpPr txBox="1"/>
            <p:nvPr/>
          </p:nvSpPr>
          <p:spPr>
            <a:xfrm>
              <a:off x="7588425" y="5808107"/>
              <a:ext cx="1396649"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​目标网点回访客户并关联来源网点​</a:t>
              </a:r>
            </a:p>
          </p:txBody>
        </p:sp>
        <p:sp>
          <p:nvSpPr>
            <p:cNvPr id="251" name="TextBox 251"/>
            <p:cNvSpPr txBox="1"/>
            <p:nvPr/>
          </p:nvSpPr>
          <p:spPr>
            <a:xfrm>
              <a:off x="9548178" y="5741432"/>
              <a:ext cx="33464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转介有效</a:t>
              </a:r>
              <a:br/>
              <a:r>
                <a:rPr lang="zh-CN" sz="640" dirty="0">
                  <a:solidFill>
                    <a:srgbClr val="3D3835"/>
                  </a:solidFill>
                  <a:latin typeface="+mn-lt"/>
                  <a:ea typeface="+mn-ea"/>
                  <a:cs typeface="+mn-cs"/>
                </a:rPr>
                <a:t>来源贡献</a:t>
              </a:r>
            </a:p>
          </p:txBody>
        </p:sp>
        <p:sp>
          <p:nvSpPr>
            <p:cNvPr id="252" name="TextBox 252"/>
            <p:cNvSpPr txBox="1"/>
            <p:nvPr/>
          </p:nvSpPr>
          <p:spPr>
            <a:xfrm>
              <a:off x="10457244" y="5741432"/>
              <a:ext cx="99301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​来源网点计入转介贡献，​</a:t>
              </a:r>
              <a:br/>
              <a:r>
                <a:rPr lang="zh-CN" sz="640" dirty="0">
                  <a:solidFill>
                    <a:srgbClr val="3D3835"/>
                  </a:solidFill>
                  <a:latin typeface="+mn-lt"/>
                  <a:ea typeface="+mn-ea"/>
                  <a:cs typeface="+mn-cs"/>
                </a:rPr>
                <a:t>​目标网点计成交​</a:t>
              </a:r>
            </a:p>
          </p:txBody>
        </p:sp>
        <p:sp>
          <p:nvSpPr>
            <p:cNvPr id="253" name="Freeform 253"/>
            <p:cNvSpPr/>
            <p:nvPr/>
          </p:nvSpPr>
          <p:spPr>
            <a:xfrm>
              <a:off x="2965298" y="636412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D82000"/>
              </a:solidFill>
            </a:ln>
          </p:spPr>
        </p:sp>
        <p:sp>
          <p:nvSpPr>
            <p:cNvPr id="254" name="TextBox 254"/>
            <p:cNvSpPr txBox="1"/>
            <p:nvPr/>
          </p:nvSpPr>
          <p:spPr>
            <a:xfrm>
              <a:off x="3157538" y="6312932"/>
              <a:ext cx="867029" cy="230981"/>
            </a:xfrm>
            <a:prstGeom prst="rect">
              <a:avLst/>
            </a:prstGeom>
            <a:noFill/>
            <a:ln>
              <a:noFill/>
            </a:ln>
          </p:spPr>
          <p:txBody>
            <a:bodyPr wrap="none" lIns="0" tIns="0" rIns="0" bIns="0" anchor="t" anchorCtr="0">
              <a:spAutoFit/>
            </a:bodyPr>
            <a:lstStyle/>
            <a:p>
              <a:pPr algn="l">
                <a:lnSpc>
                  <a:spcPts val="825"/>
                </a:lnSpc>
              </a:pPr>
              <a:r>
                <a:rPr lang="zh-CN" sz="640" dirty="0">
                  <a:solidFill>
                    <a:srgbClr val="3D3835"/>
                  </a:solidFill>
                  <a:latin typeface="+mn-lt"/>
                  <a:ea typeface="+mn-ea"/>
                  <a:cs typeface="+mn-cs"/>
                </a:rPr>
                <a:t>客户多次致电不同客服​</a:t>
              </a:r>
              <a:br/>
              <a:r>
                <a:rPr lang="zh-CN" sz="640" dirty="0">
                  <a:solidFill>
                    <a:srgbClr val="3D3835"/>
                  </a:solidFill>
                  <a:latin typeface="+mn-lt"/>
                  <a:ea typeface="+mn-ea"/>
                  <a:cs typeface="+mn-cs"/>
                </a:rPr>
                <a:t>咨询后完成交易​</a:t>
              </a:r>
            </a:p>
          </p:txBody>
        </p:sp>
        <p:sp>
          <p:nvSpPr>
            <p:cNvPr id="255" name="TextBox 255"/>
            <p:cNvSpPr txBox="1"/>
            <p:nvPr/>
          </p:nvSpPr>
          <p:spPr>
            <a:xfrm>
              <a:off x="4477872" y="6375559"/>
              <a:ext cx="664505" cy="133350"/>
            </a:xfrm>
            <a:prstGeom prst="rect">
              <a:avLst/>
            </a:prstGeom>
            <a:noFill/>
            <a:ln>
              <a:noFill/>
            </a:ln>
          </p:spPr>
          <p:txBody>
            <a:bodyPr wrap="none" lIns="0" tIns="0" rIns="0" bIns="0" anchor="t" anchorCtr="0">
              <a:spAutoFit/>
            </a:bodyPr>
            <a:lstStyle/>
            <a:p>
              <a:pPr algn="ctr"/>
              <a:r>
                <a:rPr lang="zh-CN" sz="680" b="1" dirty="0">
                  <a:solidFill>
                    <a:srgbClr val="C41D00"/>
                  </a:solidFill>
                  <a:latin typeface="+mn-lt"/>
                  <a:ea typeface="+mn-ea"/>
                  <a:cs typeface="+mn-cs"/>
                </a:rPr>
                <a:t>​多次分段接入​</a:t>
              </a:r>
            </a:p>
          </p:txBody>
        </p:sp>
        <p:sp>
          <p:nvSpPr>
            <p:cNvPr id="256" name="TextBox 256"/>
            <p:cNvSpPr txBox="1"/>
            <p:nvPr/>
          </p:nvSpPr>
          <p:spPr>
            <a:xfrm>
              <a:off x="5509832" y="6312932"/>
              <a:ext cx="1362837"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​同一客户、同一产品在多日/多渠道​</a:t>
              </a:r>
              <a:br/>
              <a:r>
                <a:rPr lang="zh-CN" sz="640" dirty="0">
                  <a:solidFill>
                    <a:srgbClr val="3D3835"/>
                  </a:solidFill>
                  <a:latin typeface="+mn-lt"/>
                  <a:ea typeface="+mn-ea"/>
                  <a:cs typeface="+mn-cs"/>
                </a:rPr>
                <a:t>​产生多次咨询​</a:t>
              </a:r>
            </a:p>
          </p:txBody>
        </p:sp>
        <p:sp>
          <p:nvSpPr>
            <p:cNvPr id="257" name="TextBox 257"/>
            <p:cNvSpPr txBox="1"/>
            <p:nvPr/>
          </p:nvSpPr>
          <p:spPr>
            <a:xfrm>
              <a:off x="7749604" y="6312932"/>
              <a:ext cx="107429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​以首次有效咨询为主渠道，​</a:t>
              </a:r>
              <a:br/>
              <a:r>
                <a:rPr lang="zh-CN" sz="640" dirty="0">
                  <a:solidFill>
                    <a:srgbClr val="3D3835"/>
                  </a:solidFill>
                  <a:latin typeface="+mn-lt"/>
                  <a:ea typeface="+mn-ea"/>
                  <a:cs typeface="+mn-cs"/>
                </a:rPr>
                <a:t>​后续渠道协同处理​</a:t>
              </a:r>
            </a:p>
          </p:txBody>
        </p:sp>
        <p:sp>
          <p:nvSpPr>
            <p:cNvPr id="258" name="TextBox 258"/>
            <p:cNvSpPr txBox="1"/>
            <p:nvPr/>
          </p:nvSpPr>
          <p:spPr>
            <a:xfrm>
              <a:off x="9422194" y="6312932"/>
              <a:ext cx="58661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D3835"/>
                  </a:solidFill>
                  <a:latin typeface="+mn-lt"/>
                  <a:ea typeface="+mn-ea"/>
                  <a:cs typeface="+mn-cs"/>
                </a:rPr>
                <a:t>​首触达成优先​</a:t>
              </a:r>
              <a:br/>
              <a:r>
                <a:rPr lang="zh-CN" sz="640" dirty="0">
                  <a:solidFill>
                    <a:srgbClr val="3D3835"/>
                  </a:solidFill>
                  <a:latin typeface="+mn-lt"/>
                  <a:ea typeface="+mn-ea"/>
                  <a:cs typeface="+mn-cs"/>
                </a:rPr>
                <a:t>协同补充</a:t>
              </a:r>
            </a:p>
          </p:txBody>
        </p:sp>
        <p:sp>
          <p:nvSpPr>
            <p:cNvPr id="259" name="TextBox 259"/>
            <p:cNvSpPr txBox="1"/>
            <p:nvPr/>
          </p:nvSpPr>
          <p:spPr>
            <a:xfrm>
              <a:off x="10427739" y="6379607"/>
              <a:ext cx="1052022"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​成交按首询渠道计算归属​</a:t>
              </a:r>
            </a:p>
          </p:txBody>
        </p:sp>
        <p:sp>
          <p:nvSpPr>
            <p:cNvPr id="260" name="Line 260"/>
            <p:cNvSpPr/>
            <p:nvPr/>
          </p:nvSpPr>
          <p:spPr>
            <a:xfrm>
              <a:off x="4476750" y="422910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61" name="Line 261"/>
            <p:cNvSpPr/>
            <p:nvPr/>
          </p:nvSpPr>
          <p:spPr>
            <a:xfrm>
              <a:off x="5143500" y="422910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62" name="Line 262"/>
            <p:cNvSpPr/>
            <p:nvPr/>
          </p:nvSpPr>
          <p:spPr>
            <a:xfrm>
              <a:off x="7239000" y="422910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63" name="Line 263"/>
            <p:cNvSpPr/>
            <p:nvPr/>
          </p:nvSpPr>
          <p:spPr>
            <a:xfrm>
              <a:off x="9334500" y="422910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64" name="Line 264"/>
            <p:cNvSpPr/>
            <p:nvPr/>
          </p:nvSpPr>
          <p:spPr>
            <a:xfrm>
              <a:off x="10096500" y="4229100"/>
              <a:ext cx="9525" cy="2476500"/>
            </a:xfrm>
            <a:custGeom>
              <a:avLst/>
              <a:gdLst/>
              <a:ahLst/>
              <a:cxnLst/>
              <a:rect l="l" t="t" r="r" b="b"/>
              <a:pathLst>
                <a:path w="9525" h="2476500">
                  <a:moveTo>
                    <a:pt x="0" y="0"/>
                  </a:moveTo>
                  <a:lnTo>
                    <a:pt x="0" y="2476500"/>
                  </a:lnTo>
                </a:path>
              </a:pathLst>
            </a:custGeom>
            <a:noFill/>
            <a:ln w="9525">
              <a:solidFill>
                <a:srgbClr val="EADBCE"/>
              </a:solidFill>
            </a:ln>
          </p:spPr>
        </p:sp>
        <p:sp>
          <p:nvSpPr>
            <p:cNvPr id="265" name="Line 265"/>
            <p:cNvSpPr/>
            <p:nvPr/>
          </p:nvSpPr>
          <p:spPr>
            <a:xfrm>
              <a:off x="2895600" y="4991100"/>
              <a:ext cx="8915400" cy="9525"/>
            </a:xfrm>
            <a:custGeom>
              <a:avLst/>
              <a:gdLst/>
              <a:ahLst/>
              <a:cxnLst/>
              <a:rect l="l" t="t" r="r" b="b"/>
              <a:pathLst>
                <a:path w="8915400" h="9525">
                  <a:moveTo>
                    <a:pt x="0" y="0"/>
                  </a:moveTo>
                  <a:lnTo>
                    <a:pt x="8915400" y="0"/>
                  </a:lnTo>
                </a:path>
              </a:pathLst>
            </a:custGeom>
            <a:noFill/>
            <a:ln w="9525">
              <a:solidFill>
                <a:srgbClr val="EADBCE"/>
              </a:solidFill>
            </a:ln>
          </p:spPr>
        </p:sp>
        <p:sp>
          <p:nvSpPr>
            <p:cNvPr id="266" name="Line 266"/>
            <p:cNvSpPr/>
            <p:nvPr/>
          </p:nvSpPr>
          <p:spPr>
            <a:xfrm>
              <a:off x="2895600" y="5562600"/>
              <a:ext cx="8915400" cy="9525"/>
            </a:xfrm>
            <a:custGeom>
              <a:avLst/>
              <a:gdLst/>
              <a:ahLst/>
              <a:cxnLst/>
              <a:rect l="l" t="t" r="r" b="b"/>
              <a:pathLst>
                <a:path w="8915400" h="9525">
                  <a:moveTo>
                    <a:pt x="0" y="0"/>
                  </a:moveTo>
                  <a:lnTo>
                    <a:pt x="8915400" y="0"/>
                  </a:lnTo>
                </a:path>
              </a:pathLst>
            </a:custGeom>
            <a:noFill/>
            <a:ln w="9525">
              <a:solidFill>
                <a:srgbClr val="EADBCE"/>
              </a:solidFill>
            </a:ln>
          </p:spPr>
        </p:sp>
        <p:sp>
          <p:nvSpPr>
            <p:cNvPr id="267" name="Line 267"/>
            <p:cNvSpPr/>
            <p:nvPr/>
          </p:nvSpPr>
          <p:spPr>
            <a:xfrm>
              <a:off x="2895600" y="6134100"/>
              <a:ext cx="8915400" cy="9525"/>
            </a:xfrm>
            <a:custGeom>
              <a:avLst/>
              <a:gdLst/>
              <a:ahLst/>
              <a:cxnLst/>
              <a:rect l="l" t="t" r="r" b="b"/>
              <a:pathLst>
                <a:path w="8915400" h="9525">
                  <a:moveTo>
                    <a:pt x="0" y="0"/>
                  </a:moveTo>
                  <a:lnTo>
                    <a:pt x="8915400" y="0"/>
                  </a:lnTo>
                </a:path>
              </a:pathLst>
            </a:custGeom>
            <a:noFill/>
            <a:ln w="9525">
              <a:solidFill>
                <a:srgbClr val="EADBCE"/>
              </a:solidFill>
            </a:ln>
          </p:spPr>
        </p:sp>
      </p:gr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14</a:t>
              </a:r>
            </a:p>
          </p:txBody>
        </p:sp>
        <p:sp>
          <p:nvSpPr>
            <p:cNvPr id="4" name="TextBox 4"/>
            <p:cNvSpPr txBox="1"/>
            <p:nvPr/>
          </p:nvSpPr>
          <p:spPr>
            <a:xfrm>
              <a:off x="904494" y="170498"/>
              <a:ext cx="7521663"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下一最佳行动</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在正确时点通过正确渠道提供与需求匹配的行动​</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50" name="action-pool"/>
          <p:cNvGrpSpPr/>
          <p:nvPr/>
        </p:nvGrpSpPr>
        <p:grpSpPr>
          <a:xfrm>
            <a:off x="342900" y="685800"/>
            <a:ext cx="1809750" cy="5676900"/>
            <a:chOff x="342900" y="685800"/>
            <a:chExt cx="1809750" cy="5676900"/>
          </a:xfrm>
        </p:grpSpPr>
        <p:sp>
          <p:nvSpPr>
            <p:cNvPr id="7" name="Rectangle 7"/>
            <p:cNvSpPr/>
            <p:nvPr/>
          </p:nvSpPr>
          <p:spPr>
            <a:xfrm>
              <a:off x="342900" y="685800"/>
              <a:ext cx="1809750" cy="228600"/>
            </a:xfrm>
            <a:prstGeom prst="roundRect">
              <a:avLst>
                <a:gd name="adj" fmla="val 12500"/>
              </a:avLst>
            </a:prstGeom>
            <a:solidFill>
              <a:srgbClr val="C41D00"/>
            </a:solidFill>
            <a:ln>
              <a:noFill/>
            </a:ln>
          </p:spPr>
        </p:sp>
        <p:sp>
          <p:nvSpPr>
            <p:cNvPr id="8" name="TextBox 8"/>
            <p:cNvSpPr txBox="1"/>
            <p:nvPr/>
          </p:nvSpPr>
          <p:spPr>
            <a:xfrm>
              <a:off x="655174" y="754618"/>
              <a:ext cx="11852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​候选行动池（示例）​</a:t>
              </a:r>
            </a:p>
          </p:txBody>
        </p:sp>
        <p:sp>
          <p:nvSpPr>
            <p:cNvPr id="9" name="Rectangle 9"/>
            <p:cNvSpPr/>
            <p:nvPr/>
          </p:nvSpPr>
          <p:spPr>
            <a:xfrm>
              <a:off x="342900" y="914400"/>
              <a:ext cx="1809750" cy="4857750"/>
            </a:xfrm>
            <a:prstGeom prst="rect">
              <a:avLst/>
            </a:prstGeom>
            <a:solidFill>
              <a:srgbClr val="FFFFFF"/>
            </a:solidFill>
            <a:ln w="9525">
              <a:solidFill>
                <a:srgbClr val="F0B8AE"/>
              </a:solidFill>
            </a:ln>
          </p:spPr>
        </p:sp>
        <p:sp>
          <p:nvSpPr>
            <p:cNvPr id="10" name="Ellipse 10"/>
            <p:cNvSpPr/>
            <p:nvPr/>
          </p:nvSpPr>
          <p:spPr>
            <a:xfrm>
              <a:off x="409575" y="1076325"/>
              <a:ext cx="285750" cy="285750"/>
            </a:xfrm>
            <a:prstGeom prst="ellipse">
              <a:avLst/>
            </a:prstGeom>
            <a:solidFill>
              <a:srgbClr val="FEF2E6"/>
            </a:solidFill>
            <a:ln w="9525">
              <a:solidFill>
                <a:srgbClr val="F0B8AE"/>
              </a:solidFill>
            </a:ln>
          </p:spPr>
        </p:sp>
        <p:grpSp>
          <p:nvGrpSpPr>
            <p:cNvPr id="16" name="Group 16"/>
            <p:cNvGrpSpPr/>
            <p:nvPr/>
          </p:nvGrpSpPr>
          <p:grpSpPr>
            <a:xfrm>
              <a:off x="481012" y="1146699"/>
              <a:ext cx="142875" cy="143938"/>
              <a:chOff x="481012" y="1146699"/>
              <a:chExt cx="142875" cy="143938"/>
            </a:xfrm>
          </p:grpSpPr>
          <p:sp>
            <p:nvSpPr>
              <p:cNvPr id="11" name="Freeform 11"/>
              <p:cNvSpPr/>
              <p:nvPr/>
            </p:nvSpPr>
            <p:spPr>
              <a:xfrm>
                <a:off x="528637" y="12112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D82000"/>
                </a:solidFill>
              </a:ln>
            </p:spPr>
          </p:sp>
          <p:sp>
            <p:nvSpPr>
              <p:cNvPr id="12" name="Freeform 12"/>
              <p:cNvSpPr/>
              <p:nvPr/>
            </p:nvSpPr>
            <p:spPr>
              <a:xfrm>
                <a:off x="528637" y="12350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D82000"/>
                </a:solidFill>
              </a:ln>
            </p:spPr>
          </p:sp>
          <p:sp>
            <p:nvSpPr>
              <p:cNvPr id="13" name="Freeform 13"/>
              <p:cNvSpPr/>
              <p:nvPr/>
            </p:nvSpPr>
            <p:spPr>
              <a:xfrm>
                <a:off x="481012" y="11466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D82000"/>
                </a:solidFill>
              </a:ln>
            </p:spPr>
          </p:sp>
          <p:sp>
            <p:nvSpPr>
              <p:cNvPr id="14" name="Freeform 14"/>
              <p:cNvSpPr/>
              <p:nvPr/>
            </p:nvSpPr>
            <p:spPr>
              <a:xfrm>
                <a:off x="481012" y="11715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D82000"/>
                </a:solidFill>
              </a:ln>
            </p:spPr>
          </p:sp>
          <p:sp>
            <p:nvSpPr>
              <p:cNvPr id="15" name="Freeform 15"/>
              <p:cNvSpPr/>
              <p:nvPr/>
            </p:nvSpPr>
            <p:spPr>
              <a:xfrm>
                <a:off x="481012" y="12112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D82000"/>
                </a:solidFill>
              </a:ln>
            </p:spPr>
          </p:sp>
        </p:grpSp>
        <p:sp>
          <p:nvSpPr>
            <p:cNvPr id="17" name="TextBox 17"/>
            <p:cNvSpPr txBox="1"/>
            <p:nvPr/>
          </p:nvSpPr>
          <p:spPr>
            <a:xfrm>
              <a:off x="776288" y="1077039"/>
              <a:ext cx="222225"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存款</a:t>
              </a:r>
            </a:p>
          </p:txBody>
        </p:sp>
        <p:sp>
          <p:nvSpPr>
            <p:cNvPr id="18" name="TextBox 18"/>
            <p:cNvSpPr txBox="1"/>
            <p:nvPr/>
          </p:nvSpPr>
          <p:spPr>
            <a:xfrm>
              <a:off x="776288" y="1245632"/>
              <a:ext cx="1142365" cy="373856"/>
            </a:xfrm>
            <a:prstGeom prst="rect">
              <a:avLst/>
            </a:prstGeom>
            <a:noFill/>
            <a:ln>
              <a:noFill/>
            </a:ln>
          </p:spPr>
          <p:txBody>
            <a:bodyPr wrap="none" lIns="0" tIns="0" rIns="0" bIns="0" anchor="t" anchorCtr="0">
              <a:spAutoFit/>
            </a:bodyPr>
            <a:lstStyle/>
            <a:p>
              <a:pPr algn="l" marL="76200" indent="-76200">
                <a:lnSpc>
                  <a:spcPts val="975"/>
                </a:lnSpc>
                <a:buClr>
                  <a:srgbClr val="3D3835"/>
                </a:buClr>
                <a:buSzTx/>
                <a:buFontTx/>
                <a:buChar char="•"/>
              </a:pPr>
              <a:r>
                <a:rPr lang="zh-CN" sz="640" dirty="0">
                  <a:solidFill>
                    <a:srgbClr val="3D3835"/>
                  </a:solidFill>
                  <a:latin typeface="+mn-lt"/>
                  <a:ea typeface="+mn-ea"/>
                  <a:cs typeface="+mn-cs"/>
                </a:rPr>
                <a:t>大额存单（3M/6M/1Y）​​​​</a:t>
              </a:r>
            </a:p>
            <a:p>
              <a:pPr algn="l" marL="76200" indent="-76200">
                <a:lnSpc>
                  <a:spcPts val="975"/>
                </a:lnSpc>
                <a:buClr>
                  <a:srgbClr val="3D3835"/>
                </a:buClr>
                <a:buSzTx/>
                <a:buFontTx/>
                <a:buChar char="•"/>
              </a:pPr>
              <a:r>
                <a:rPr lang="zh-CN" sz="640" dirty="0">
                  <a:solidFill>
                    <a:srgbClr val="3D3835"/>
                  </a:solidFill>
                  <a:latin typeface="+mn-lt"/>
                  <a:ea typeface="+mn-ea"/>
                  <a:cs typeface="+mn-cs"/>
                </a:rPr>
                <a:t>结构性存款​​</a:t>
              </a:r>
            </a:p>
            <a:p>
              <a:pPr algn="l" marL="76200" indent="-76200">
                <a:lnSpc>
                  <a:spcPts val="975"/>
                </a:lnSpc>
                <a:buClr>
                  <a:srgbClr val="3D3835"/>
                </a:buClr>
                <a:buSzTx/>
                <a:buFontTx/>
                <a:buChar char="•"/>
              </a:pPr>
              <a:r>
                <a:rPr lang="zh-CN" sz="640" dirty="0">
                  <a:solidFill>
                    <a:srgbClr val="3D3835"/>
                  </a:solidFill>
                  <a:latin typeface="+mn-lt"/>
                  <a:ea typeface="+mn-ea"/>
                  <a:cs typeface="+mn-cs"/>
                </a:rPr>
                <a:t>定期理财组合​​</a:t>
              </a:r>
            </a:p>
          </p:txBody>
        </p:sp>
        <p:sp>
          <p:nvSpPr>
            <p:cNvPr id="19" name="Line 19"/>
            <p:cNvSpPr/>
            <p:nvPr/>
          </p:nvSpPr>
          <p:spPr>
            <a:xfrm>
              <a:off x="419100" y="1771650"/>
              <a:ext cx="1657350" cy="9525"/>
            </a:xfrm>
            <a:custGeom>
              <a:avLst/>
              <a:gdLst/>
              <a:ahLst/>
              <a:cxnLst/>
              <a:rect l="l" t="t" r="r" b="b"/>
              <a:pathLst>
                <a:path w="1657350" h="9525">
                  <a:moveTo>
                    <a:pt x="0" y="0"/>
                  </a:moveTo>
                  <a:lnTo>
                    <a:pt x="1657350" y="0"/>
                  </a:lnTo>
                </a:path>
              </a:pathLst>
            </a:custGeom>
            <a:noFill/>
            <a:ln w="9525">
              <a:solidFill>
                <a:srgbClr val="EADBCE"/>
              </a:solidFill>
            </a:ln>
          </p:spPr>
        </p:sp>
        <p:sp>
          <p:nvSpPr>
            <p:cNvPr id="20" name="Ellipse 20"/>
            <p:cNvSpPr/>
            <p:nvPr/>
          </p:nvSpPr>
          <p:spPr>
            <a:xfrm>
              <a:off x="409575" y="2028825"/>
              <a:ext cx="285750" cy="285750"/>
            </a:xfrm>
            <a:prstGeom prst="ellipse">
              <a:avLst/>
            </a:prstGeom>
            <a:solidFill>
              <a:srgbClr val="FEF2E6"/>
            </a:solidFill>
            <a:ln w="9525">
              <a:solidFill>
                <a:srgbClr val="F0B8AE"/>
              </a:solidFill>
            </a:ln>
          </p:spPr>
        </p:sp>
        <p:grpSp>
          <p:nvGrpSpPr>
            <p:cNvPr id="23" name="Group 23"/>
            <p:cNvGrpSpPr/>
            <p:nvPr/>
          </p:nvGrpSpPr>
          <p:grpSpPr>
            <a:xfrm>
              <a:off x="488950" y="2124075"/>
              <a:ext cx="127000" cy="112712"/>
              <a:chOff x="488950" y="2124075"/>
              <a:chExt cx="127000" cy="112712"/>
            </a:xfrm>
          </p:grpSpPr>
          <p:sp>
            <p:nvSpPr>
              <p:cNvPr id="21" name="Freeform 21"/>
              <p:cNvSpPr/>
              <p:nvPr/>
            </p:nvSpPr>
            <p:spPr>
              <a:xfrm>
                <a:off x="488950" y="2227262"/>
                <a:ext cx="127000" cy="9525"/>
              </a:xfrm>
              <a:custGeom>
                <a:avLst/>
                <a:gdLst/>
                <a:ahLst/>
                <a:cxnLst/>
                <a:rect l="l" t="t" r="r" b="b"/>
                <a:pathLst>
                  <a:path w="127000" h="9525">
                    <a:moveTo>
                      <a:pt x="0" y="0"/>
                    </a:moveTo>
                    <a:lnTo>
                      <a:pt x="127000" y="0"/>
                    </a:lnTo>
                  </a:path>
                </a:pathLst>
              </a:custGeom>
              <a:noFill/>
              <a:ln w="15875">
                <a:solidFill>
                  <a:srgbClr val="D82000"/>
                </a:solidFill>
              </a:ln>
            </p:spPr>
          </p:sp>
          <p:sp>
            <p:nvSpPr>
              <p:cNvPr id="22" name="Freeform 22"/>
              <p:cNvSpPr/>
              <p:nvPr/>
            </p:nvSpPr>
            <p:spPr>
              <a:xfrm>
                <a:off x="488950" y="212407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D82000"/>
                </a:solidFill>
              </a:ln>
            </p:spPr>
          </p:sp>
        </p:grpSp>
        <p:sp>
          <p:nvSpPr>
            <p:cNvPr id="24" name="TextBox 24"/>
            <p:cNvSpPr txBox="1"/>
            <p:nvPr/>
          </p:nvSpPr>
          <p:spPr>
            <a:xfrm>
              <a:off x="776288" y="2029539"/>
              <a:ext cx="434924"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财富管理</a:t>
              </a:r>
            </a:p>
          </p:txBody>
        </p:sp>
        <p:sp>
          <p:nvSpPr>
            <p:cNvPr id="25" name="TextBox 25"/>
            <p:cNvSpPr txBox="1"/>
            <p:nvPr/>
          </p:nvSpPr>
          <p:spPr>
            <a:xfrm>
              <a:off x="776288" y="2198132"/>
              <a:ext cx="825373" cy="497681"/>
            </a:xfrm>
            <a:prstGeom prst="rect">
              <a:avLst/>
            </a:prstGeom>
            <a:noFill/>
            <a:ln>
              <a:noFill/>
            </a:ln>
          </p:spPr>
          <p:txBody>
            <a:bodyPr wrap="none" lIns="0" tIns="0" rIns="0" bIns="0" anchor="t" anchorCtr="0">
              <a:spAutoFit/>
            </a:bodyPr>
            <a:lstStyle/>
            <a:p>
              <a:pPr algn="l" marL="76200" indent="-76200">
                <a:lnSpc>
                  <a:spcPts val="975"/>
                </a:lnSpc>
                <a:buClr>
                  <a:srgbClr val="3D3835"/>
                </a:buClr>
                <a:buSzTx/>
                <a:buFontTx/>
                <a:buChar char="•"/>
              </a:pPr>
              <a:r>
                <a:rPr lang="zh-CN" sz="640" dirty="0">
                  <a:solidFill>
                    <a:srgbClr val="3D3835"/>
                  </a:solidFill>
                  <a:latin typeface="+mn-lt"/>
                  <a:ea typeface="+mn-ea"/>
                  <a:cs typeface="+mn-cs"/>
                </a:rPr>
                <a:t>基金定投​​</a:t>
              </a:r>
            </a:p>
            <a:p>
              <a:pPr algn="l" marL="76200" indent="-76200">
                <a:lnSpc>
                  <a:spcPts val="975"/>
                </a:lnSpc>
                <a:buClr>
                  <a:srgbClr val="3D3835"/>
                </a:buClr>
                <a:buSzTx/>
                <a:buFontTx/>
                <a:buChar char="•"/>
              </a:pPr>
              <a:r>
                <a:rPr lang="zh-CN" sz="640" dirty="0">
                  <a:solidFill>
                    <a:srgbClr val="3D3835"/>
                  </a:solidFill>
                  <a:latin typeface="+mn-lt"/>
                  <a:ea typeface="+mn-ea"/>
                  <a:cs typeface="+mn-cs"/>
                </a:rPr>
                <a:t>稳健理财产品​​</a:t>
              </a:r>
            </a:p>
            <a:p>
              <a:pPr algn="l" marL="76200" indent="-76200">
                <a:lnSpc>
                  <a:spcPts val="975"/>
                </a:lnSpc>
                <a:buClr>
                  <a:srgbClr val="3D3835"/>
                </a:buClr>
                <a:buSzTx/>
                <a:buFontTx/>
                <a:buChar char="•"/>
              </a:pPr>
              <a:r>
                <a:rPr lang="zh-CN" sz="640" dirty="0">
                  <a:solidFill>
                    <a:srgbClr val="3D3835"/>
                  </a:solidFill>
                  <a:latin typeface="+mn-lt"/>
                  <a:ea typeface="+mn-ea"/>
                  <a:cs typeface="+mn-cs"/>
                </a:rPr>
                <a:t>保险保障产品​​</a:t>
              </a:r>
            </a:p>
            <a:p>
              <a:pPr algn="l" marL="76200" indent="-76200">
                <a:lnSpc>
                  <a:spcPts val="975"/>
                </a:lnSpc>
                <a:buClr>
                  <a:srgbClr val="3D3835"/>
                </a:buClr>
                <a:buSzTx/>
                <a:buFontTx/>
                <a:buChar char="•"/>
              </a:pPr>
              <a:r>
                <a:rPr lang="zh-CN" sz="640" dirty="0">
                  <a:solidFill>
                    <a:srgbClr val="3D3835"/>
                  </a:solidFill>
                  <a:latin typeface="+mn-lt"/>
                  <a:ea typeface="+mn-ea"/>
                  <a:cs typeface="+mn-cs"/>
                </a:rPr>
                <a:t>高端财富顾问服务​​</a:t>
              </a:r>
            </a:p>
          </p:txBody>
        </p:sp>
        <p:sp>
          <p:nvSpPr>
            <p:cNvPr id="26" name="Line 26"/>
            <p:cNvSpPr/>
            <p:nvPr/>
          </p:nvSpPr>
          <p:spPr>
            <a:xfrm>
              <a:off x="419100" y="2781300"/>
              <a:ext cx="1657350" cy="9525"/>
            </a:xfrm>
            <a:custGeom>
              <a:avLst/>
              <a:gdLst/>
              <a:ahLst/>
              <a:cxnLst/>
              <a:rect l="l" t="t" r="r" b="b"/>
              <a:pathLst>
                <a:path w="1657350" h="9525">
                  <a:moveTo>
                    <a:pt x="0" y="0"/>
                  </a:moveTo>
                  <a:lnTo>
                    <a:pt x="1657350" y="0"/>
                  </a:lnTo>
                </a:path>
              </a:pathLst>
            </a:custGeom>
            <a:noFill/>
            <a:ln w="9525">
              <a:solidFill>
                <a:srgbClr val="EADBCE"/>
              </a:solidFill>
            </a:ln>
          </p:spPr>
        </p:sp>
        <p:sp>
          <p:nvSpPr>
            <p:cNvPr id="27" name="Ellipse 27"/>
            <p:cNvSpPr/>
            <p:nvPr/>
          </p:nvSpPr>
          <p:spPr>
            <a:xfrm>
              <a:off x="409575" y="3038475"/>
              <a:ext cx="285750" cy="285750"/>
            </a:xfrm>
            <a:prstGeom prst="ellipse">
              <a:avLst/>
            </a:prstGeom>
            <a:solidFill>
              <a:srgbClr val="FEF2E6"/>
            </a:solidFill>
            <a:ln w="9525">
              <a:solidFill>
                <a:srgbClr val="F0B8AE"/>
              </a:solidFill>
            </a:ln>
          </p:spPr>
        </p:sp>
        <p:grpSp>
          <p:nvGrpSpPr>
            <p:cNvPr id="32" name="Group 32"/>
            <p:cNvGrpSpPr/>
            <p:nvPr/>
          </p:nvGrpSpPr>
          <p:grpSpPr>
            <a:xfrm>
              <a:off x="481012" y="3125787"/>
              <a:ext cx="142875" cy="111125"/>
              <a:chOff x="481012" y="3125787"/>
              <a:chExt cx="142875" cy="111125"/>
            </a:xfrm>
          </p:grpSpPr>
          <p:sp>
            <p:nvSpPr>
              <p:cNvPr id="28" name="Freeform 28"/>
              <p:cNvSpPr/>
              <p:nvPr/>
            </p:nvSpPr>
            <p:spPr>
              <a:xfrm>
                <a:off x="481012" y="312578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D82000"/>
                </a:solidFill>
              </a:ln>
            </p:spPr>
          </p:sp>
          <p:sp>
            <p:nvSpPr>
              <p:cNvPr id="29" name="Freeform 29"/>
              <p:cNvSpPr/>
              <p:nvPr/>
            </p:nvSpPr>
            <p:spPr>
              <a:xfrm>
                <a:off x="481012" y="3165475"/>
                <a:ext cx="142875" cy="9525"/>
              </a:xfrm>
              <a:custGeom>
                <a:avLst/>
                <a:gdLst/>
                <a:ahLst/>
                <a:cxnLst/>
                <a:rect l="l" t="t" r="r" b="b"/>
                <a:pathLst>
                  <a:path w="142875" h="9525">
                    <a:moveTo>
                      <a:pt x="0" y="0"/>
                    </a:moveTo>
                    <a:lnTo>
                      <a:pt x="142875" y="0"/>
                    </a:lnTo>
                  </a:path>
                </a:pathLst>
              </a:custGeom>
              <a:noFill/>
              <a:ln w="15875">
                <a:solidFill>
                  <a:srgbClr val="D82000"/>
                </a:solidFill>
              </a:ln>
            </p:spPr>
          </p:sp>
          <p:sp>
            <p:nvSpPr>
              <p:cNvPr id="30" name="Freeform 30"/>
              <p:cNvSpPr/>
              <p:nvPr/>
            </p:nvSpPr>
            <p:spPr>
              <a:xfrm>
                <a:off x="512762" y="3205162"/>
                <a:ext cx="9525" cy="9525"/>
              </a:xfrm>
              <a:custGeom>
                <a:avLst/>
                <a:gdLst/>
                <a:ahLst/>
                <a:cxnLst/>
                <a:rect l="l" t="t" r="r" b="b"/>
                <a:pathLst>
                  <a:path w="9525" h="9525">
                    <a:moveTo>
                      <a:pt x="0" y="0"/>
                    </a:moveTo>
                    <a:lnTo>
                      <a:pt x="79" y="0"/>
                    </a:lnTo>
                  </a:path>
                </a:pathLst>
              </a:custGeom>
              <a:noFill/>
              <a:ln w="15875">
                <a:solidFill>
                  <a:srgbClr val="D82000"/>
                </a:solidFill>
              </a:ln>
            </p:spPr>
          </p:sp>
          <p:sp>
            <p:nvSpPr>
              <p:cNvPr id="31" name="Freeform 31"/>
              <p:cNvSpPr/>
              <p:nvPr/>
            </p:nvSpPr>
            <p:spPr>
              <a:xfrm>
                <a:off x="544512" y="3205162"/>
                <a:ext cx="15875" cy="9525"/>
              </a:xfrm>
              <a:custGeom>
                <a:avLst/>
                <a:gdLst/>
                <a:ahLst/>
                <a:cxnLst/>
                <a:rect l="l" t="t" r="r" b="b"/>
                <a:pathLst>
                  <a:path w="15875" h="9525">
                    <a:moveTo>
                      <a:pt x="0" y="0"/>
                    </a:moveTo>
                    <a:lnTo>
                      <a:pt x="15875" y="0"/>
                    </a:lnTo>
                  </a:path>
                </a:pathLst>
              </a:custGeom>
              <a:noFill/>
              <a:ln w="15875">
                <a:solidFill>
                  <a:srgbClr val="D82000"/>
                </a:solidFill>
              </a:ln>
            </p:spPr>
          </p:sp>
        </p:grpSp>
        <p:sp>
          <p:nvSpPr>
            <p:cNvPr id="33" name="TextBox 33"/>
            <p:cNvSpPr txBox="1"/>
            <p:nvPr/>
          </p:nvSpPr>
          <p:spPr>
            <a:xfrm>
              <a:off x="776288" y="3039189"/>
              <a:ext cx="328574"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信用卡</a:t>
              </a:r>
            </a:p>
          </p:txBody>
        </p:sp>
        <p:sp>
          <p:nvSpPr>
            <p:cNvPr id="34" name="TextBox 34"/>
            <p:cNvSpPr txBox="1"/>
            <p:nvPr/>
          </p:nvSpPr>
          <p:spPr>
            <a:xfrm>
              <a:off x="776288" y="3207782"/>
              <a:ext cx="662813" cy="497681"/>
            </a:xfrm>
            <a:prstGeom prst="rect">
              <a:avLst/>
            </a:prstGeom>
            <a:noFill/>
            <a:ln>
              <a:noFill/>
            </a:ln>
          </p:spPr>
          <p:txBody>
            <a:bodyPr wrap="none" lIns="0" tIns="0" rIns="0" bIns="0" anchor="t" anchorCtr="0">
              <a:spAutoFit/>
            </a:bodyPr>
            <a:lstStyle/>
            <a:p>
              <a:pPr algn="l" marL="76200" indent="-76200">
                <a:lnSpc>
                  <a:spcPts val="975"/>
                </a:lnSpc>
                <a:buClr>
                  <a:srgbClr val="3D3835"/>
                </a:buClr>
                <a:buSzTx/>
                <a:buFontTx/>
                <a:buChar char="•"/>
              </a:pPr>
              <a:r>
                <a:rPr lang="zh-CN" sz="640" dirty="0">
                  <a:solidFill>
                    <a:srgbClr val="3D3835"/>
                  </a:solidFill>
                  <a:latin typeface="+mn-lt"/>
                  <a:ea typeface="+mn-ea"/>
                  <a:cs typeface="+mn-cs"/>
                </a:rPr>
                <a:t>信用卡申办​​</a:t>
              </a:r>
            </a:p>
            <a:p>
              <a:pPr algn="l" marL="76200" indent="-76200">
                <a:lnSpc>
                  <a:spcPts val="975"/>
                </a:lnSpc>
                <a:buClr>
                  <a:srgbClr val="3D3835"/>
                </a:buClr>
                <a:buSzTx/>
                <a:buFontTx/>
                <a:buChar char="•"/>
              </a:pPr>
              <a:r>
                <a:rPr lang="zh-CN" sz="640" dirty="0">
                  <a:solidFill>
                    <a:srgbClr val="3D3835"/>
                  </a:solidFill>
                  <a:latin typeface="+mn-lt"/>
                  <a:ea typeface="+mn-ea"/>
                  <a:cs typeface="+mn-cs"/>
                </a:rPr>
                <a:t>分期减免​​</a:t>
              </a:r>
            </a:p>
            <a:p>
              <a:pPr algn="l" marL="76200" indent="-76200">
                <a:lnSpc>
                  <a:spcPts val="975"/>
                </a:lnSpc>
                <a:buClr>
                  <a:srgbClr val="3D3835"/>
                </a:buClr>
                <a:buSzTx/>
                <a:buFontTx/>
                <a:buChar char="•"/>
              </a:pPr>
              <a:r>
                <a:rPr lang="zh-CN" sz="640" dirty="0">
                  <a:solidFill>
                    <a:srgbClr val="3D3835"/>
                  </a:solidFill>
                  <a:latin typeface="+mn-lt"/>
                  <a:ea typeface="+mn-ea"/>
                  <a:cs typeface="+mn-cs"/>
                </a:rPr>
                <a:t>额度提升​​</a:t>
              </a:r>
            </a:p>
            <a:p>
              <a:pPr algn="l" marL="76200" indent="-76200">
                <a:lnSpc>
                  <a:spcPts val="975"/>
                </a:lnSpc>
                <a:buClr>
                  <a:srgbClr val="3D3835"/>
                </a:buClr>
                <a:buSzTx/>
                <a:buFontTx/>
                <a:buChar char="•"/>
              </a:pPr>
              <a:r>
                <a:rPr lang="zh-CN" sz="640" dirty="0">
                  <a:solidFill>
                    <a:srgbClr val="3D3835"/>
                  </a:solidFill>
                  <a:latin typeface="+mn-lt"/>
                  <a:ea typeface="+mn-ea"/>
                  <a:cs typeface="+mn-cs"/>
                </a:rPr>
                <a:t>消费返现活动​​</a:t>
              </a:r>
            </a:p>
          </p:txBody>
        </p:sp>
        <p:sp>
          <p:nvSpPr>
            <p:cNvPr id="35" name="Line 35"/>
            <p:cNvSpPr/>
            <p:nvPr/>
          </p:nvSpPr>
          <p:spPr>
            <a:xfrm>
              <a:off x="419100" y="3790950"/>
              <a:ext cx="1657350" cy="9525"/>
            </a:xfrm>
            <a:custGeom>
              <a:avLst/>
              <a:gdLst/>
              <a:ahLst/>
              <a:cxnLst/>
              <a:rect l="l" t="t" r="r" b="b"/>
              <a:pathLst>
                <a:path w="1657350" h="9525">
                  <a:moveTo>
                    <a:pt x="0" y="0"/>
                  </a:moveTo>
                  <a:lnTo>
                    <a:pt x="1657350" y="0"/>
                  </a:lnTo>
                </a:path>
              </a:pathLst>
            </a:custGeom>
            <a:noFill/>
            <a:ln w="9525">
              <a:solidFill>
                <a:srgbClr val="EADBCE"/>
              </a:solidFill>
            </a:ln>
          </p:spPr>
        </p:sp>
        <p:sp>
          <p:nvSpPr>
            <p:cNvPr id="36" name="Ellipse 36"/>
            <p:cNvSpPr/>
            <p:nvPr/>
          </p:nvSpPr>
          <p:spPr>
            <a:xfrm>
              <a:off x="409575" y="4048125"/>
              <a:ext cx="285750" cy="285750"/>
            </a:xfrm>
            <a:prstGeom prst="ellipse">
              <a:avLst/>
            </a:prstGeom>
            <a:solidFill>
              <a:srgbClr val="FEF2E6"/>
            </a:solidFill>
            <a:ln w="9525">
              <a:solidFill>
                <a:srgbClr val="F0B8AE"/>
              </a:solidFill>
            </a:ln>
          </p:spPr>
        </p:sp>
        <p:grpSp>
          <p:nvGrpSpPr>
            <p:cNvPr id="40" name="Group 40"/>
            <p:cNvGrpSpPr/>
            <p:nvPr/>
          </p:nvGrpSpPr>
          <p:grpSpPr>
            <a:xfrm>
              <a:off x="481012" y="4135437"/>
              <a:ext cx="142875" cy="111125"/>
              <a:chOff x="481012" y="4135437"/>
              <a:chExt cx="142875" cy="111125"/>
            </a:xfrm>
          </p:grpSpPr>
          <p:sp>
            <p:nvSpPr>
              <p:cNvPr id="37" name="Freeform 37"/>
              <p:cNvSpPr/>
              <p:nvPr/>
            </p:nvSpPr>
            <p:spPr>
              <a:xfrm>
                <a:off x="481012" y="4135437"/>
                <a:ext cx="111125" cy="79375"/>
              </a:xfrm>
              <a:custGeom>
                <a:avLst/>
                <a:gdLst/>
                <a:ahLst/>
                <a:cxnLst/>
                <a:rect l="l" t="t" r="r" b="b"/>
                <a:pathLst>
                  <a:path w="111125" h="79375">
                    <a:moveTo>
                      <a:pt x="31750" y="79375"/>
                    </a:moveTo>
                    <a:lnTo>
                      <a:pt x="7937" y="79375"/>
                    </a:lnTo>
                    <a:cubicBezTo>
                      <a:pt x="3554" y="79375"/>
                      <a:pt x="0" y="75821"/>
                      <a:pt x="0" y="71437"/>
                    </a:cubicBezTo>
                    <a:lnTo>
                      <a:pt x="0" y="7937"/>
                    </a:lnTo>
                    <a:cubicBezTo>
                      <a:pt x="0" y="3554"/>
                      <a:pt x="3554" y="0"/>
                      <a:pt x="7937" y="0"/>
                    </a:cubicBezTo>
                    <a:lnTo>
                      <a:pt x="103187" y="0"/>
                    </a:lnTo>
                    <a:cubicBezTo>
                      <a:pt x="107571" y="0"/>
                      <a:pt x="111125" y="3554"/>
                      <a:pt x="111125" y="7937"/>
                    </a:cubicBezTo>
                    <a:lnTo>
                      <a:pt x="111125" y="31750"/>
                    </a:lnTo>
                  </a:path>
                </a:pathLst>
              </a:custGeom>
              <a:noFill/>
              <a:ln w="15875">
                <a:solidFill>
                  <a:srgbClr val="D82000"/>
                </a:solidFill>
              </a:ln>
            </p:spPr>
          </p:sp>
          <p:sp>
            <p:nvSpPr>
              <p:cNvPr id="38" name="Freeform 38"/>
              <p:cNvSpPr/>
              <p:nvPr/>
            </p:nvSpPr>
            <p:spPr>
              <a:xfrm>
                <a:off x="512762" y="4167187"/>
                <a:ext cx="111125" cy="79375"/>
              </a:xfrm>
              <a:custGeom>
                <a:avLst/>
                <a:gdLst/>
                <a:ahLst/>
                <a:cxnLst/>
                <a:rect l="l" t="t" r="r" b="b"/>
                <a:pathLst>
                  <a:path w="111125" h="79375">
                    <a:moveTo>
                      <a:pt x="0" y="7937"/>
                    </a:moveTo>
                    <a:cubicBezTo>
                      <a:pt x="0" y="3554"/>
                      <a:pt x="3554" y="0"/>
                      <a:pt x="7937" y="0"/>
                    </a:cubicBezTo>
                    <a:lnTo>
                      <a:pt x="103187" y="0"/>
                    </a:lnTo>
                    <a:cubicBezTo>
                      <a:pt x="107571" y="0"/>
                      <a:pt x="111125" y="3554"/>
                      <a:pt x="111125" y="7937"/>
                    </a:cubicBezTo>
                    <a:lnTo>
                      <a:pt x="111125" y="71437"/>
                    </a:lnTo>
                    <a:cubicBezTo>
                      <a:pt x="111125" y="75821"/>
                      <a:pt x="107571" y="79375"/>
                      <a:pt x="103187" y="79375"/>
                    </a:cubicBezTo>
                    <a:lnTo>
                      <a:pt x="7937" y="79375"/>
                    </a:lnTo>
                    <a:cubicBezTo>
                      <a:pt x="3554" y="79375"/>
                      <a:pt x="0" y="75821"/>
                      <a:pt x="0" y="71437"/>
                    </a:cubicBezTo>
                    <a:lnTo>
                      <a:pt x="0" y="7937"/>
                    </a:lnTo>
                  </a:path>
                </a:pathLst>
              </a:custGeom>
              <a:noFill/>
              <a:ln w="15875">
                <a:solidFill>
                  <a:srgbClr val="D82000"/>
                </a:solidFill>
              </a:ln>
            </p:spPr>
          </p:sp>
          <p:sp>
            <p:nvSpPr>
              <p:cNvPr id="39" name="Freeform 39"/>
              <p:cNvSpPr/>
              <p:nvPr/>
            </p:nvSpPr>
            <p:spPr>
              <a:xfrm>
                <a:off x="552450" y="41910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D82000"/>
                </a:solidFill>
              </a:ln>
            </p:spPr>
          </p:sp>
        </p:grpSp>
        <p:sp>
          <p:nvSpPr>
            <p:cNvPr id="41" name="TextBox 41"/>
            <p:cNvSpPr txBox="1"/>
            <p:nvPr/>
          </p:nvSpPr>
          <p:spPr>
            <a:xfrm>
              <a:off x="776288" y="4048839"/>
              <a:ext cx="222225"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贷款</a:t>
              </a:r>
            </a:p>
          </p:txBody>
        </p:sp>
        <p:sp>
          <p:nvSpPr>
            <p:cNvPr id="42" name="TextBox 42"/>
            <p:cNvSpPr txBox="1"/>
            <p:nvPr/>
          </p:nvSpPr>
          <p:spPr>
            <a:xfrm>
              <a:off x="776288" y="4217432"/>
              <a:ext cx="500253" cy="497681"/>
            </a:xfrm>
            <a:prstGeom prst="rect">
              <a:avLst/>
            </a:prstGeom>
            <a:noFill/>
            <a:ln>
              <a:noFill/>
            </a:ln>
          </p:spPr>
          <p:txBody>
            <a:bodyPr wrap="none" lIns="0" tIns="0" rIns="0" bIns="0" anchor="t" anchorCtr="0">
              <a:spAutoFit/>
            </a:bodyPr>
            <a:lstStyle/>
            <a:p>
              <a:pPr algn="l" marL="76200" indent="-76200">
                <a:lnSpc>
                  <a:spcPts val="975"/>
                </a:lnSpc>
                <a:buClr>
                  <a:srgbClr val="3D3835"/>
                </a:buClr>
                <a:buSzTx/>
                <a:buFontTx/>
                <a:buChar char="•"/>
              </a:pPr>
              <a:r>
                <a:rPr lang="zh-CN" sz="640" dirty="0">
                  <a:solidFill>
                    <a:srgbClr val="3D3835"/>
                  </a:solidFill>
                  <a:latin typeface="+mn-lt"/>
                  <a:ea typeface="+mn-ea"/>
                  <a:cs typeface="+mn-cs"/>
                </a:rPr>
                <a:t>消费贷​​</a:t>
              </a:r>
            </a:p>
            <a:p>
              <a:pPr algn="l" marL="76200" indent="-76200">
                <a:lnSpc>
                  <a:spcPts val="975"/>
                </a:lnSpc>
                <a:buClr>
                  <a:srgbClr val="3D3835"/>
                </a:buClr>
                <a:buSzTx/>
                <a:buFontTx/>
                <a:buChar char="•"/>
              </a:pPr>
              <a:r>
                <a:rPr lang="zh-CN" sz="640" dirty="0">
                  <a:solidFill>
                    <a:srgbClr val="3D3835"/>
                  </a:solidFill>
                  <a:latin typeface="+mn-lt"/>
                  <a:ea typeface="+mn-ea"/>
                  <a:cs typeface="+mn-cs"/>
                </a:rPr>
                <a:t>经营贷​​</a:t>
              </a:r>
            </a:p>
            <a:p>
              <a:pPr algn="l" marL="76200" indent="-76200">
                <a:lnSpc>
                  <a:spcPts val="975"/>
                </a:lnSpc>
                <a:buClr>
                  <a:srgbClr val="3D3835"/>
                </a:buClr>
                <a:buSzTx/>
                <a:buFontTx/>
                <a:buChar char="•"/>
              </a:pPr>
              <a:r>
                <a:rPr lang="zh-CN" sz="640" dirty="0">
                  <a:solidFill>
                    <a:srgbClr val="3D3835"/>
                  </a:solidFill>
                  <a:latin typeface="+mn-lt"/>
                  <a:ea typeface="+mn-ea"/>
                  <a:cs typeface="+mn-cs"/>
                </a:rPr>
                <a:t>按揭贷款​​</a:t>
              </a:r>
            </a:p>
            <a:p>
              <a:pPr algn="l" marL="76200" indent="-76200">
                <a:lnSpc>
                  <a:spcPts val="975"/>
                </a:lnSpc>
                <a:buClr>
                  <a:srgbClr val="3D3835"/>
                </a:buClr>
                <a:buSzTx/>
                <a:buFontTx/>
                <a:buChar char="•"/>
              </a:pPr>
              <a:r>
                <a:rPr lang="zh-CN" sz="640" dirty="0">
                  <a:solidFill>
                    <a:srgbClr val="3D3835"/>
                  </a:solidFill>
                  <a:latin typeface="+mn-lt"/>
                  <a:ea typeface="+mn-ea"/>
                  <a:cs typeface="+mn-cs"/>
                </a:rPr>
                <a:t>信用提额​​</a:t>
              </a:r>
            </a:p>
          </p:txBody>
        </p:sp>
        <p:sp>
          <p:nvSpPr>
            <p:cNvPr id="43" name="Line 43"/>
            <p:cNvSpPr/>
            <p:nvPr/>
          </p:nvSpPr>
          <p:spPr>
            <a:xfrm>
              <a:off x="419100" y="4800600"/>
              <a:ext cx="1657350" cy="9525"/>
            </a:xfrm>
            <a:custGeom>
              <a:avLst/>
              <a:gdLst/>
              <a:ahLst/>
              <a:cxnLst/>
              <a:rect l="l" t="t" r="r" b="b"/>
              <a:pathLst>
                <a:path w="1657350" h="9525">
                  <a:moveTo>
                    <a:pt x="0" y="0"/>
                  </a:moveTo>
                  <a:lnTo>
                    <a:pt x="1657350" y="0"/>
                  </a:lnTo>
                </a:path>
              </a:pathLst>
            </a:custGeom>
            <a:noFill/>
            <a:ln w="9525">
              <a:solidFill>
                <a:srgbClr val="EADBCE"/>
              </a:solidFill>
            </a:ln>
          </p:spPr>
        </p:sp>
        <p:sp>
          <p:nvSpPr>
            <p:cNvPr id="44" name="Ellipse 44"/>
            <p:cNvSpPr/>
            <p:nvPr/>
          </p:nvSpPr>
          <p:spPr>
            <a:xfrm>
              <a:off x="409575" y="5057775"/>
              <a:ext cx="285750" cy="285750"/>
            </a:xfrm>
            <a:prstGeom prst="ellipse">
              <a:avLst/>
            </a:prstGeom>
            <a:solidFill>
              <a:srgbClr val="FEF2E6"/>
            </a:solidFill>
            <a:ln w="9525">
              <a:solidFill>
                <a:srgbClr val="F0B8AE"/>
              </a:solidFill>
            </a:ln>
          </p:spPr>
        </p:sp>
        <p:sp>
          <p:nvSpPr>
            <p:cNvPr id="45" name="Freeform 45"/>
            <p:cNvSpPr/>
            <p:nvPr/>
          </p:nvSpPr>
          <p:spPr>
            <a:xfrm>
              <a:off x="472884" y="513099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D82000"/>
              </a:solidFill>
            </a:ln>
          </p:spPr>
        </p:sp>
        <p:sp>
          <p:nvSpPr>
            <p:cNvPr id="46" name="TextBox 46"/>
            <p:cNvSpPr txBox="1"/>
            <p:nvPr/>
          </p:nvSpPr>
          <p:spPr>
            <a:xfrm>
              <a:off x="776288" y="5058489"/>
              <a:ext cx="434924" cy="154781"/>
            </a:xfrm>
            <a:prstGeom prst="rect">
              <a:avLst/>
            </a:prstGeom>
            <a:noFill/>
            <a:ln>
              <a:noFill/>
            </a:ln>
          </p:spPr>
          <p:txBody>
            <a:bodyPr wrap="none" lIns="0" tIns="0" rIns="0" bIns="0" anchor="t" anchorCtr="0">
              <a:spAutoFit/>
            </a:bodyPr>
            <a:lstStyle/>
            <a:p>
              <a:pPr algn="l"/>
              <a:r>
                <a:rPr lang="zh-CN" sz="790" b="1" dirty="0">
                  <a:solidFill>
                    <a:srgbClr val="C41D00"/>
                  </a:solidFill>
                  <a:latin typeface="+mn-lt"/>
                  <a:ea typeface="+mn-ea"/>
                  <a:cs typeface="+mn-cs"/>
                </a:rPr>
                <a:t>客户服务</a:t>
              </a:r>
            </a:p>
          </p:txBody>
        </p:sp>
        <p:sp>
          <p:nvSpPr>
            <p:cNvPr id="47" name="TextBox 47"/>
            <p:cNvSpPr txBox="1"/>
            <p:nvPr/>
          </p:nvSpPr>
          <p:spPr>
            <a:xfrm>
              <a:off x="776288" y="5227082"/>
              <a:ext cx="931037" cy="373856"/>
            </a:xfrm>
            <a:prstGeom prst="rect">
              <a:avLst/>
            </a:prstGeom>
            <a:noFill/>
            <a:ln>
              <a:noFill/>
            </a:ln>
          </p:spPr>
          <p:txBody>
            <a:bodyPr wrap="none" lIns="0" tIns="0" rIns="0" bIns="0" anchor="t" anchorCtr="0">
              <a:spAutoFit/>
            </a:bodyPr>
            <a:lstStyle/>
            <a:p>
              <a:pPr algn="l" marL="76200" indent="-76200">
                <a:lnSpc>
                  <a:spcPts val="975"/>
                </a:lnSpc>
                <a:buClr>
                  <a:srgbClr val="3D3835"/>
                </a:buClr>
                <a:buSzTx/>
                <a:buFontTx/>
                <a:buChar char="•"/>
              </a:pPr>
              <a:r>
                <a:rPr lang="zh-CN" sz="640" dirty="0">
                  <a:solidFill>
                    <a:srgbClr val="3D3835"/>
                  </a:solidFill>
                  <a:latin typeface="+mn-lt"/>
                  <a:ea typeface="+mn-ea"/>
                  <a:cs typeface="+mn-cs"/>
                </a:rPr>
                <a:t>电子回单开通​​</a:t>
              </a:r>
            </a:p>
            <a:p>
              <a:pPr algn="l" marL="76200" indent="-76200">
                <a:lnSpc>
                  <a:spcPts val="975"/>
                </a:lnSpc>
                <a:buClr>
                  <a:srgbClr val="3D3835"/>
                </a:buClr>
                <a:buSzTx/>
                <a:buFontTx/>
                <a:buChar char="•"/>
              </a:pPr>
              <a:r>
                <a:rPr lang="zh-CN" sz="640" dirty="0">
                  <a:solidFill>
                    <a:srgbClr val="3D3835"/>
                  </a:solidFill>
                  <a:latin typeface="+mn-lt"/>
                  <a:ea typeface="+mn-ea"/>
                  <a:cs typeface="+mn-cs"/>
                </a:rPr>
                <a:t>网银/APP使用引导​​​​</a:t>
              </a:r>
            </a:p>
            <a:p>
              <a:pPr algn="l" marL="76200" indent="-76200">
                <a:lnSpc>
                  <a:spcPts val="975"/>
                </a:lnSpc>
                <a:buClr>
                  <a:srgbClr val="3D3835"/>
                </a:buClr>
                <a:buSzTx/>
                <a:buFontTx/>
                <a:buChar char="•"/>
              </a:pPr>
              <a:r>
                <a:rPr lang="zh-CN" sz="640" dirty="0">
                  <a:solidFill>
                    <a:srgbClr val="3D3835"/>
                  </a:solidFill>
                  <a:latin typeface="+mn-lt"/>
                  <a:ea typeface="+mn-ea"/>
                  <a:cs typeface="+mn-cs"/>
                </a:rPr>
                <a:t>问题与协助咨询​​</a:t>
              </a:r>
            </a:p>
          </p:txBody>
        </p:sp>
        <p:sp>
          <p:nvSpPr>
            <p:cNvPr id="48" name="Rectangle 48"/>
            <p:cNvSpPr/>
            <p:nvPr/>
          </p:nvSpPr>
          <p:spPr>
            <a:xfrm>
              <a:off x="342900" y="5867400"/>
              <a:ext cx="1809750" cy="495300"/>
            </a:xfrm>
            <a:prstGeom prst="roundRect">
              <a:avLst>
                <a:gd name="adj" fmla="val 7692"/>
              </a:avLst>
            </a:prstGeom>
            <a:solidFill>
              <a:srgbClr val="FEF2E6"/>
            </a:solidFill>
            <a:ln w="9525">
              <a:solidFill>
                <a:srgbClr val="F0B8AE"/>
              </a:solidFill>
            </a:ln>
          </p:spPr>
        </p:sp>
        <p:sp>
          <p:nvSpPr>
            <p:cNvPr id="49" name="TextBox 49"/>
            <p:cNvSpPr txBox="1"/>
            <p:nvPr/>
          </p:nvSpPr>
          <p:spPr>
            <a:xfrm>
              <a:off x="414338" y="5974080"/>
              <a:ext cx="1202055" cy="347662"/>
            </a:xfrm>
            <a:prstGeom prst="rect">
              <a:avLst/>
            </a:prstGeom>
            <a:noFill/>
            <a:ln>
              <a:noFill/>
            </a:ln>
          </p:spPr>
          <p:txBody>
            <a:bodyPr wrap="none" lIns="0" tIns="0" rIns="0" bIns="0" anchor="t" anchorCtr="0">
              <a:spAutoFit/>
            </a:bodyPr>
            <a:lstStyle/>
            <a:p>
              <a:pPr algn="l">
                <a:lnSpc>
                  <a:spcPts val="900"/>
                </a:lnSpc>
              </a:pPr>
              <a:r>
                <a:rPr lang="zh-CN" sz="600" dirty="0">
                  <a:solidFill>
                    <a:srgbClr val="7A716B"/>
                  </a:solidFill>
                  <a:latin typeface="+mn-lt"/>
                  <a:ea typeface="+mn-ea"/>
                  <a:cs typeface="+mn-cs"/>
                </a:rPr>
                <a:t>说明：候选行动按产品/服务类型​​</a:t>
              </a:r>
              <a:br/>
              <a:r>
                <a:rPr lang="zh-CN" sz="600" dirty="0">
                  <a:solidFill>
                    <a:srgbClr val="7A716B"/>
                  </a:solidFill>
                  <a:latin typeface="+mn-lt"/>
                  <a:ea typeface="+mn-ea"/>
                  <a:cs typeface="+mn-cs"/>
                </a:rPr>
                <a:t>持续更新，并结合活动日历与​</a:t>
              </a:r>
              <a:br/>
              <a:r>
                <a:rPr lang="zh-CN" sz="600" dirty="0">
                  <a:solidFill>
                    <a:srgbClr val="7A716B"/>
                  </a:solidFill>
                  <a:latin typeface="+mn-lt"/>
                  <a:ea typeface="+mn-ea"/>
                  <a:cs typeface="+mn-cs"/>
                </a:rPr>
                <a:t>合规要求动态管理。​</a:t>
              </a:r>
            </a:p>
          </p:txBody>
        </p:sp>
      </p:grpSp>
      <p:grpSp>
        <p:nvGrpSpPr>
          <p:cNvPr id="166" name="nba-engine"/>
          <p:cNvGrpSpPr/>
          <p:nvPr/>
        </p:nvGrpSpPr>
        <p:grpSpPr>
          <a:xfrm>
            <a:off x="2228850" y="685800"/>
            <a:ext cx="5543550" cy="2971800"/>
            <a:chOff x="2228850" y="685800"/>
            <a:chExt cx="5543550" cy="2971800"/>
          </a:xfrm>
        </p:grpSpPr>
        <p:sp>
          <p:nvSpPr>
            <p:cNvPr id="51" name="Rectangle 51"/>
            <p:cNvSpPr/>
            <p:nvPr/>
          </p:nvSpPr>
          <p:spPr>
            <a:xfrm>
              <a:off x="2228850" y="685800"/>
              <a:ext cx="5543550" cy="228600"/>
            </a:xfrm>
            <a:prstGeom prst="roundRect">
              <a:avLst>
                <a:gd name="adj" fmla="val 12500"/>
              </a:avLst>
            </a:prstGeom>
            <a:solidFill>
              <a:srgbClr val="C41D00"/>
            </a:solidFill>
            <a:ln>
              <a:noFill/>
            </a:ln>
          </p:spPr>
        </p:sp>
        <p:sp>
          <p:nvSpPr>
            <p:cNvPr id="52" name="TextBox 52"/>
            <p:cNvSpPr txBox="1"/>
            <p:nvPr/>
          </p:nvSpPr>
          <p:spPr>
            <a:xfrm>
              <a:off x="3911502" y="754618"/>
              <a:ext cx="2178246"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​下一最佳行动决策引擎（实时/准实时）​</a:t>
              </a:r>
            </a:p>
          </p:txBody>
        </p:sp>
        <p:sp>
          <p:nvSpPr>
            <p:cNvPr id="53" name="Rectangle 53"/>
            <p:cNvSpPr/>
            <p:nvPr/>
          </p:nvSpPr>
          <p:spPr>
            <a:xfrm>
              <a:off x="2228850" y="914400"/>
              <a:ext cx="5543550" cy="2743200"/>
            </a:xfrm>
            <a:prstGeom prst="rect">
              <a:avLst/>
            </a:prstGeom>
            <a:solidFill>
              <a:srgbClr val="FFFFFF"/>
            </a:solidFill>
            <a:ln w="9525">
              <a:solidFill>
                <a:srgbClr val="F0B8AE"/>
              </a:solidFill>
            </a:ln>
          </p:spPr>
        </p:sp>
        <p:sp>
          <p:nvSpPr>
            <p:cNvPr id="54" name="Ellipse 54"/>
            <p:cNvSpPr/>
            <p:nvPr/>
          </p:nvSpPr>
          <p:spPr>
            <a:xfrm>
              <a:off x="2548890" y="990600"/>
              <a:ext cx="152400" cy="152400"/>
            </a:xfrm>
            <a:prstGeom prst="ellipse">
              <a:avLst/>
            </a:prstGeom>
            <a:solidFill>
              <a:srgbClr val="D82000"/>
            </a:solidFill>
            <a:ln>
              <a:noFill/>
            </a:ln>
          </p:spPr>
        </p:sp>
        <p:sp>
          <p:nvSpPr>
            <p:cNvPr id="55" name="TextBox 55"/>
            <p:cNvSpPr txBox="1"/>
            <p:nvPr/>
          </p:nvSpPr>
          <p:spPr>
            <a:xfrm>
              <a:off x="2541030" y="10272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sp>
          <p:nvSpPr>
            <p:cNvPr id="56" name="Ellipse 56"/>
            <p:cNvSpPr/>
            <p:nvPr/>
          </p:nvSpPr>
          <p:spPr>
            <a:xfrm>
              <a:off x="2472690" y="1200150"/>
              <a:ext cx="304800" cy="304800"/>
            </a:xfrm>
            <a:prstGeom prst="ellipse">
              <a:avLst/>
            </a:prstGeom>
            <a:solidFill>
              <a:srgbClr val="FEF2E6"/>
            </a:solidFill>
            <a:ln w="9525">
              <a:solidFill>
                <a:srgbClr val="F0B8AE"/>
              </a:solidFill>
            </a:ln>
          </p:spPr>
        </p:sp>
        <p:grpSp>
          <p:nvGrpSpPr>
            <p:cNvPr id="59" name="Group 59"/>
            <p:cNvGrpSpPr/>
            <p:nvPr/>
          </p:nvGrpSpPr>
          <p:grpSpPr>
            <a:xfrm>
              <a:off x="2575084" y="1288930"/>
              <a:ext cx="100012" cy="127914"/>
              <a:chOff x="2575084" y="1288930"/>
              <a:chExt cx="100012" cy="127914"/>
            </a:xfrm>
          </p:grpSpPr>
          <p:sp>
            <p:nvSpPr>
              <p:cNvPr id="57" name="Freeform 57"/>
              <p:cNvSpPr/>
              <p:nvPr/>
            </p:nvSpPr>
            <p:spPr>
              <a:xfrm>
                <a:off x="2575084" y="1288930"/>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4288">
                <a:solidFill>
                  <a:srgbClr val="D82000"/>
                </a:solidFill>
              </a:ln>
            </p:spPr>
          </p:sp>
          <p:sp>
            <p:nvSpPr>
              <p:cNvPr id="58" name="Freeform 58"/>
              <p:cNvSpPr/>
              <p:nvPr/>
            </p:nvSpPr>
            <p:spPr>
              <a:xfrm>
                <a:off x="2575084" y="1366838"/>
                <a:ext cx="9525" cy="50006"/>
              </a:xfrm>
              <a:custGeom>
                <a:avLst/>
                <a:gdLst/>
                <a:ahLst/>
                <a:cxnLst/>
                <a:rect l="l" t="t" r="r" b="b"/>
                <a:pathLst>
                  <a:path w="9525" h="50006">
                    <a:moveTo>
                      <a:pt x="0" y="50006"/>
                    </a:moveTo>
                    <a:lnTo>
                      <a:pt x="0" y="0"/>
                    </a:lnTo>
                  </a:path>
                </a:pathLst>
              </a:custGeom>
              <a:noFill/>
              <a:ln w="14288">
                <a:solidFill>
                  <a:srgbClr val="D82000"/>
                </a:solidFill>
              </a:ln>
            </p:spPr>
          </p:sp>
        </p:grpSp>
        <p:sp>
          <p:nvSpPr>
            <p:cNvPr id="60" name="TextBox 60"/>
            <p:cNvSpPr txBox="1"/>
            <p:nvPr/>
          </p:nvSpPr>
          <p:spPr>
            <a:xfrm>
              <a:off x="2429167" y="1561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事件触发</a:t>
              </a:r>
            </a:p>
          </p:txBody>
        </p:sp>
        <p:sp>
          <p:nvSpPr>
            <p:cNvPr id="61" name="TextBox 61"/>
            <p:cNvSpPr txBox="1"/>
            <p:nvPr/>
          </p:nvSpPr>
          <p:spPr>
            <a:xfrm>
              <a:off x="2296732" y="1729978"/>
              <a:ext cx="656717" cy="321469"/>
            </a:xfrm>
            <a:prstGeom prst="rect">
              <a:avLst/>
            </a:prstGeom>
            <a:noFill/>
            <a:ln>
              <a:noFill/>
            </a:ln>
          </p:spPr>
          <p:txBody>
            <a:bodyPr wrap="none" lIns="0" tIns="0" rIns="0" bIns="0" anchor="t" anchorCtr="0">
              <a:spAutoFit/>
            </a:bodyPr>
            <a:lstStyle/>
            <a:p>
              <a:pPr algn="ctr">
                <a:lnSpc>
                  <a:spcPts val="825"/>
                </a:lnSpc>
              </a:pPr>
              <a:r>
                <a:rPr lang="zh-CN" sz="560" dirty="0">
                  <a:solidFill>
                    <a:srgbClr val="7A716B"/>
                  </a:solidFill>
                  <a:latin typeface="+mn-lt"/>
                  <a:ea typeface="+mn-ea"/>
                  <a:cs typeface="+mn-cs"/>
                </a:rPr>
                <a:t>​客户行为、交易、​</a:t>
              </a:r>
              <a:br/>
              <a:r>
                <a:rPr lang="zh-CN" sz="560" dirty="0">
                  <a:solidFill>
                    <a:srgbClr val="7A716B"/>
                  </a:solidFill>
                  <a:latin typeface="+mn-lt"/>
                  <a:ea typeface="+mn-ea"/>
                  <a:cs typeface="+mn-cs"/>
                </a:rPr>
                <a:t>外部信号等</a:t>
              </a:r>
              <a:br/>
              <a:r>
                <a:rPr lang="zh-CN" sz="560" dirty="0">
                  <a:solidFill>
                    <a:srgbClr val="7A716B"/>
                  </a:solidFill>
                  <a:latin typeface="+mn-lt"/>
                  <a:ea typeface="+mn-ea"/>
                  <a:cs typeface="+mn-cs"/>
                </a:rPr>
                <a:t>实时事件</a:t>
              </a:r>
            </a:p>
          </p:txBody>
        </p:sp>
        <p:sp>
          <p:nvSpPr>
            <p:cNvPr id="62" name="Polygon 62"/>
            <p:cNvSpPr/>
            <p:nvPr/>
          </p:nvSpPr>
          <p:spPr>
            <a:xfrm>
              <a:off x="2924175" y="131445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63" name="Ellipse 63"/>
            <p:cNvSpPr/>
            <p:nvPr/>
          </p:nvSpPr>
          <p:spPr>
            <a:xfrm>
              <a:off x="3228022" y="990600"/>
              <a:ext cx="152400" cy="152400"/>
            </a:xfrm>
            <a:prstGeom prst="ellipse">
              <a:avLst/>
            </a:prstGeom>
            <a:solidFill>
              <a:srgbClr val="D82000"/>
            </a:solidFill>
            <a:ln>
              <a:noFill/>
            </a:ln>
          </p:spPr>
        </p:sp>
        <p:sp>
          <p:nvSpPr>
            <p:cNvPr id="64" name="TextBox 64"/>
            <p:cNvSpPr txBox="1"/>
            <p:nvPr/>
          </p:nvSpPr>
          <p:spPr>
            <a:xfrm>
              <a:off x="3220162" y="10272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sp>
          <p:nvSpPr>
            <p:cNvPr id="65" name="Ellipse 65"/>
            <p:cNvSpPr/>
            <p:nvPr/>
          </p:nvSpPr>
          <p:spPr>
            <a:xfrm>
              <a:off x="3151822" y="1200150"/>
              <a:ext cx="304800" cy="304800"/>
            </a:xfrm>
            <a:prstGeom prst="ellipse">
              <a:avLst/>
            </a:prstGeom>
            <a:solidFill>
              <a:srgbClr val="FEF2E6"/>
            </a:solidFill>
            <a:ln w="9525">
              <a:solidFill>
                <a:srgbClr val="F0B8AE"/>
              </a:solidFill>
            </a:ln>
          </p:spPr>
        </p:sp>
        <p:sp>
          <p:nvSpPr>
            <p:cNvPr id="66" name="Freeform 66"/>
            <p:cNvSpPr/>
            <p:nvPr/>
          </p:nvSpPr>
          <p:spPr>
            <a:xfrm>
              <a:off x="3247072" y="1295400"/>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D82000"/>
              </a:solidFill>
            </a:ln>
          </p:spPr>
        </p:sp>
        <p:sp>
          <p:nvSpPr>
            <p:cNvPr id="67" name="TextBox 67"/>
            <p:cNvSpPr txBox="1"/>
            <p:nvPr/>
          </p:nvSpPr>
          <p:spPr>
            <a:xfrm>
              <a:off x="3108300" y="1561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资格筛选</a:t>
              </a:r>
            </a:p>
          </p:txBody>
        </p:sp>
        <p:sp>
          <p:nvSpPr>
            <p:cNvPr id="68" name="TextBox 68"/>
            <p:cNvSpPr txBox="1"/>
            <p:nvPr/>
          </p:nvSpPr>
          <p:spPr>
            <a:xfrm>
              <a:off x="3046984" y="1729978"/>
              <a:ext cx="514477" cy="426244"/>
            </a:xfrm>
            <a:prstGeom prst="rect">
              <a:avLst/>
            </a:prstGeom>
            <a:noFill/>
            <a:ln>
              <a:noFill/>
            </a:ln>
          </p:spPr>
          <p:txBody>
            <a:bodyPr wrap="none" lIns="0" tIns="0" rIns="0" bIns="0" anchor="t" anchorCtr="0">
              <a:spAutoFit/>
            </a:bodyPr>
            <a:lstStyle/>
            <a:p>
              <a:pPr algn="ctr">
                <a:lnSpc>
                  <a:spcPts val="825"/>
                </a:lnSpc>
              </a:pPr>
              <a:r>
                <a:rPr lang="zh-CN" sz="560" dirty="0">
                  <a:solidFill>
                    <a:srgbClr val="7A716B"/>
                  </a:solidFill>
                  <a:latin typeface="+mn-lt"/>
                  <a:ea typeface="+mn-ea"/>
                  <a:cs typeface="+mn-cs"/>
                </a:rPr>
                <a:t>​合规、风控、​</a:t>
              </a:r>
              <a:br/>
              <a:r>
                <a:rPr lang="zh-CN" sz="560" dirty="0">
                  <a:solidFill>
                    <a:srgbClr val="7A716B"/>
                  </a:solidFill>
                  <a:latin typeface="+mn-lt"/>
                  <a:ea typeface="+mn-ea"/>
                  <a:cs typeface="+mn-cs"/>
                </a:rPr>
                <a:t>产品资格、</a:t>
              </a:r>
              <a:br/>
              <a:r>
                <a:rPr lang="zh-CN" sz="560" dirty="0">
                  <a:solidFill>
                    <a:srgbClr val="7A716B"/>
                  </a:solidFill>
                  <a:latin typeface="+mn-lt"/>
                  <a:ea typeface="+mn-ea"/>
                  <a:cs typeface="+mn-cs"/>
                </a:rPr>
                <a:t>​客户生命周期​</a:t>
              </a:r>
              <a:br/>
              <a:r>
                <a:rPr lang="zh-CN" sz="560" dirty="0">
                  <a:solidFill>
                    <a:srgbClr val="7A716B"/>
                  </a:solidFill>
                  <a:latin typeface="+mn-lt"/>
                  <a:ea typeface="+mn-ea"/>
                  <a:cs typeface="+mn-cs"/>
                </a:rPr>
                <a:t>阶段过滤</a:t>
              </a:r>
            </a:p>
          </p:txBody>
        </p:sp>
        <p:sp>
          <p:nvSpPr>
            <p:cNvPr id="69" name="Polygon 69"/>
            <p:cNvSpPr/>
            <p:nvPr/>
          </p:nvSpPr>
          <p:spPr>
            <a:xfrm>
              <a:off x="3600450" y="131445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70" name="Ellipse 70"/>
            <p:cNvSpPr/>
            <p:nvPr/>
          </p:nvSpPr>
          <p:spPr>
            <a:xfrm>
              <a:off x="3906202" y="990600"/>
              <a:ext cx="152400" cy="152400"/>
            </a:xfrm>
            <a:prstGeom prst="ellipse">
              <a:avLst/>
            </a:prstGeom>
            <a:solidFill>
              <a:srgbClr val="D82000"/>
            </a:solidFill>
            <a:ln>
              <a:noFill/>
            </a:ln>
          </p:spPr>
        </p:sp>
        <p:sp>
          <p:nvSpPr>
            <p:cNvPr id="71" name="TextBox 71"/>
            <p:cNvSpPr txBox="1"/>
            <p:nvPr/>
          </p:nvSpPr>
          <p:spPr>
            <a:xfrm>
              <a:off x="3898342" y="10272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sp>
          <p:nvSpPr>
            <p:cNvPr id="72" name="Ellipse 72"/>
            <p:cNvSpPr/>
            <p:nvPr/>
          </p:nvSpPr>
          <p:spPr>
            <a:xfrm>
              <a:off x="3830002" y="1200150"/>
              <a:ext cx="304800" cy="304800"/>
            </a:xfrm>
            <a:prstGeom prst="ellipse">
              <a:avLst/>
            </a:prstGeom>
            <a:solidFill>
              <a:srgbClr val="FEF2E6"/>
            </a:solidFill>
            <a:ln w="9525">
              <a:solidFill>
                <a:srgbClr val="F0B8AE"/>
              </a:solidFill>
            </a:ln>
          </p:spPr>
        </p:sp>
        <p:grpSp>
          <p:nvGrpSpPr>
            <p:cNvPr id="76" name="Group 76"/>
            <p:cNvGrpSpPr/>
            <p:nvPr/>
          </p:nvGrpSpPr>
          <p:grpSpPr>
            <a:xfrm>
              <a:off x="3918109" y="1288256"/>
              <a:ext cx="128588" cy="128588"/>
              <a:chOff x="3918109" y="1288256"/>
              <a:chExt cx="128588" cy="128588"/>
            </a:xfrm>
          </p:grpSpPr>
          <p:sp>
            <p:nvSpPr>
              <p:cNvPr id="73" name="Freeform 73"/>
              <p:cNvSpPr/>
              <p:nvPr/>
            </p:nvSpPr>
            <p:spPr>
              <a:xfrm>
                <a:off x="3975259" y="134540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D82000"/>
                </a:solidFill>
              </a:ln>
            </p:spPr>
          </p:sp>
          <p:sp>
            <p:nvSpPr>
              <p:cNvPr id="74" name="Freeform 74"/>
              <p:cNvSpPr/>
              <p:nvPr/>
            </p:nvSpPr>
            <p:spPr>
              <a:xfrm>
                <a:off x="3946684" y="131683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D82000"/>
                </a:solidFill>
              </a:ln>
            </p:spPr>
          </p:sp>
          <p:sp>
            <p:nvSpPr>
              <p:cNvPr id="75" name="Freeform 75"/>
              <p:cNvSpPr/>
              <p:nvPr/>
            </p:nvSpPr>
            <p:spPr>
              <a:xfrm>
                <a:off x="3918109" y="12882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D82000"/>
                </a:solidFill>
              </a:ln>
            </p:spPr>
          </p:sp>
        </p:grpSp>
        <p:sp>
          <p:nvSpPr>
            <p:cNvPr id="77" name="TextBox 77"/>
            <p:cNvSpPr txBox="1"/>
            <p:nvPr/>
          </p:nvSpPr>
          <p:spPr>
            <a:xfrm>
              <a:off x="3786480" y="1561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需求预测</a:t>
              </a:r>
            </a:p>
          </p:txBody>
        </p:sp>
        <p:sp>
          <p:nvSpPr>
            <p:cNvPr id="78" name="TextBox 78"/>
            <p:cNvSpPr txBox="1"/>
            <p:nvPr/>
          </p:nvSpPr>
          <p:spPr>
            <a:xfrm>
              <a:off x="3776726" y="1729978"/>
              <a:ext cx="411353" cy="426244"/>
            </a:xfrm>
            <a:prstGeom prst="rect">
              <a:avLst/>
            </a:prstGeom>
            <a:noFill/>
            <a:ln>
              <a:noFill/>
            </a:ln>
          </p:spPr>
          <p:txBody>
            <a:bodyPr wrap="none" lIns="0" tIns="0" rIns="0" bIns="0" anchor="t" anchorCtr="0">
              <a:spAutoFit/>
            </a:bodyPr>
            <a:lstStyle/>
            <a:p>
              <a:pPr algn="ctr">
                <a:lnSpc>
                  <a:spcPts val="825"/>
                </a:lnSpc>
              </a:pPr>
              <a:r>
                <a:rPr lang="zh-CN" sz="560" dirty="0">
                  <a:solidFill>
                    <a:srgbClr val="7A716B"/>
                  </a:solidFill>
                  <a:latin typeface="+mn-lt"/>
                  <a:ea typeface="+mn-ea"/>
                  <a:cs typeface="+mn-cs"/>
                </a:rPr>
                <a:t>预测客户对</a:t>
              </a:r>
              <a:br/>
              <a:r>
                <a:rPr lang="zh-CN" sz="560" dirty="0">
                  <a:solidFill>
                    <a:srgbClr val="7A716B"/>
                  </a:solidFill>
                  <a:latin typeface="+mn-lt"/>
                  <a:ea typeface="+mn-ea"/>
                  <a:cs typeface="+mn-cs"/>
                </a:rPr>
                <a:t>​各类产品/​</a:t>
              </a:r>
              <a:br/>
              <a:r>
                <a:rPr lang="zh-CN" sz="560" dirty="0">
                  <a:solidFill>
                    <a:srgbClr val="7A716B"/>
                  </a:solidFill>
                  <a:latin typeface="+mn-lt"/>
                  <a:ea typeface="+mn-ea"/>
                  <a:cs typeface="+mn-cs"/>
                </a:rPr>
                <a:t>服务的潜在</a:t>
              </a:r>
              <a:br/>
              <a:r>
                <a:rPr lang="zh-CN" sz="560" dirty="0">
                  <a:solidFill>
                    <a:srgbClr val="7A716B"/>
                  </a:solidFill>
                  <a:latin typeface="+mn-lt"/>
                  <a:ea typeface="+mn-ea"/>
                  <a:cs typeface="+mn-cs"/>
                </a:rPr>
                <a:t>需求概率</a:t>
              </a:r>
            </a:p>
          </p:txBody>
        </p:sp>
        <p:sp>
          <p:nvSpPr>
            <p:cNvPr id="79" name="Polygon 79"/>
            <p:cNvSpPr/>
            <p:nvPr/>
          </p:nvSpPr>
          <p:spPr>
            <a:xfrm>
              <a:off x="4276725" y="131445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80" name="Ellipse 80"/>
            <p:cNvSpPr/>
            <p:nvPr/>
          </p:nvSpPr>
          <p:spPr>
            <a:xfrm>
              <a:off x="4585335" y="990600"/>
              <a:ext cx="152400" cy="152400"/>
            </a:xfrm>
            <a:prstGeom prst="ellipse">
              <a:avLst/>
            </a:prstGeom>
            <a:solidFill>
              <a:srgbClr val="D82000"/>
            </a:solidFill>
            <a:ln>
              <a:noFill/>
            </a:ln>
          </p:spPr>
        </p:sp>
        <p:sp>
          <p:nvSpPr>
            <p:cNvPr id="81" name="TextBox 81"/>
            <p:cNvSpPr txBox="1"/>
            <p:nvPr/>
          </p:nvSpPr>
          <p:spPr>
            <a:xfrm>
              <a:off x="4577475" y="10272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sp>
          <p:nvSpPr>
            <p:cNvPr id="82" name="Ellipse 82"/>
            <p:cNvSpPr/>
            <p:nvPr/>
          </p:nvSpPr>
          <p:spPr>
            <a:xfrm>
              <a:off x="4509135" y="1200150"/>
              <a:ext cx="304800" cy="304800"/>
            </a:xfrm>
            <a:prstGeom prst="ellipse">
              <a:avLst/>
            </a:prstGeom>
            <a:solidFill>
              <a:srgbClr val="FEF2E6"/>
            </a:solidFill>
            <a:ln w="9525">
              <a:solidFill>
                <a:srgbClr val="F0B8AE"/>
              </a:solidFill>
            </a:ln>
          </p:spPr>
        </p:sp>
        <p:grpSp>
          <p:nvGrpSpPr>
            <p:cNvPr id="86" name="Group 86"/>
            <p:cNvGrpSpPr/>
            <p:nvPr/>
          </p:nvGrpSpPr>
          <p:grpSpPr>
            <a:xfrm>
              <a:off x="4597241" y="1288256"/>
              <a:ext cx="128588" cy="128587"/>
              <a:chOff x="4597241" y="1288256"/>
              <a:chExt cx="128588" cy="128587"/>
            </a:xfrm>
          </p:grpSpPr>
          <p:sp>
            <p:nvSpPr>
              <p:cNvPr id="83" name="Freeform 83"/>
              <p:cNvSpPr/>
              <p:nvPr/>
            </p:nvSpPr>
            <p:spPr>
              <a:xfrm>
                <a:off x="4597241" y="1288256"/>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D82000"/>
                </a:solidFill>
              </a:ln>
            </p:spPr>
          </p:sp>
          <p:sp>
            <p:nvSpPr>
              <p:cNvPr id="84" name="Freeform 84"/>
              <p:cNvSpPr/>
              <p:nvPr/>
            </p:nvSpPr>
            <p:spPr>
              <a:xfrm>
                <a:off x="4622787" y="1316831"/>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D82000"/>
                </a:solidFill>
              </a:ln>
            </p:spPr>
          </p:sp>
          <p:sp>
            <p:nvSpPr>
              <p:cNvPr id="85" name="Freeform 85"/>
              <p:cNvSpPr/>
              <p:nvPr/>
            </p:nvSpPr>
            <p:spPr>
              <a:xfrm>
                <a:off x="4645104" y="1388269"/>
                <a:ext cx="32861" cy="9525"/>
              </a:xfrm>
              <a:custGeom>
                <a:avLst/>
                <a:gdLst/>
                <a:ahLst/>
                <a:cxnLst/>
                <a:rect l="l" t="t" r="r" b="b"/>
                <a:pathLst>
                  <a:path w="32861" h="9525">
                    <a:moveTo>
                      <a:pt x="0" y="0"/>
                    </a:moveTo>
                    <a:lnTo>
                      <a:pt x="32861" y="0"/>
                    </a:lnTo>
                  </a:path>
                </a:pathLst>
              </a:custGeom>
              <a:noFill/>
              <a:ln w="14288">
                <a:solidFill>
                  <a:srgbClr val="D82000"/>
                </a:solidFill>
              </a:ln>
            </p:spPr>
          </p:sp>
        </p:grpSp>
        <p:sp>
          <p:nvSpPr>
            <p:cNvPr id="87" name="TextBox 87"/>
            <p:cNvSpPr txBox="1"/>
            <p:nvPr/>
          </p:nvSpPr>
          <p:spPr>
            <a:xfrm>
              <a:off x="4465612" y="1561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行动推荐</a:t>
              </a:r>
            </a:p>
          </p:txBody>
        </p:sp>
        <p:sp>
          <p:nvSpPr>
            <p:cNvPr id="88" name="TextBox 88"/>
            <p:cNvSpPr txBox="1"/>
            <p:nvPr/>
          </p:nvSpPr>
          <p:spPr>
            <a:xfrm>
              <a:off x="4404296" y="1729978"/>
              <a:ext cx="514477" cy="321469"/>
            </a:xfrm>
            <a:prstGeom prst="rect">
              <a:avLst/>
            </a:prstGeom>
            <a:noFill/>
            <a:ln>
              <a:noFill/>
            </a:ln>
          </p:spPr>
          <p:txBody>
            <a:bodyPr wrap="none" lIns="0" tIns="0" rIns="0" bIns="0" anchor="t" anchorCtr="0">
              <a:spAutoFit/>
            </a:bodyPr>
            <a:lstStyle/>
            <a:p>
              <a:pPr algn="ctr">
                <a:lnSpc>
                  <a:spcPts val="825"/>
                </a:lnSpc>
              </a:pPr>
              <a:r>
                <a:rPr lang="zh-CN" sz="560" dirty="0">
                  <a:solidFill>
                    <a:srgbClr val="7A716B"/>
                  </a:solidFill>
                  <a:latin typeface="+mn-lt"/>
                  <a:ea typeface="+mn-ea"/>
                  <a:cs typeface="+mn-cs"/>
                </a:rPr>
                <a:t>​结合预期提升​</a:t>
              </a:r>
              <a:br/>
              <a:r>
                <a:rPr lang="zh-CN" sz="560" dirty="0">
                  <a:solidFill>
                    <a:srgbClr val="7A716B"/>
                  </a:solidFill>
                  <a:latin typeface="+mn-lt"/>
                  <a:ea typeface="+mn-ea"/>
                  <a:cs typeface="+mn-cs"/>
                </a:rPr>
                <a:t>与高价值</a:t>
              </a:r>
              <a:br/>
              <a:r>
                <a:rPr lang="zh-CN" sz="560" dirty="0">
                  <a:solidFill>
                    <a:srgbClr val="7A716B"/>
                  </a:solidFill>
                  <a:latin typeface="+mn-lt"/>
                  <a:ea typeface="+mn-ea"/>
                  <a:cs typeface="+mn-cs"/>
                </a:rPr>
                <a:t>行动排序</a:t>
              </a:r>
            </a:p>
          </p:txBody>
        </p:sp>
        <p:sp>
          <p:nvSpPr>
            <p:cNvPr id="89" name="Polygon 89"/>
            <p:cNvSpPr/>
            <p:nvPr/>
          </p:nvSpPr>
          <p:spPr>
            <a:xfrm>
              <a:off x="4953000" y="131445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90" name="Ellipse 90"/>
            <p:cNvSpPr/>
            <p:nvPr/>
          </p:nvSpPr>
          <p:spPr>
            <a:xfrm>
              <a:off x="5263515" y="990600"/>
              <a:ext cx="152400" cy="152400"/>
            </a:xfrm>
            <a:prstGeom prst="ellipse">
              <a:avLst/>
            </a:prstGeom>
            <a:solidFill>
              <a:srgbClr val="D82000"/>
            </a:solidFill>
            <a:ln>
              <a:noFill/>
            </a:ln>
          </p:spPr>
        </p:sp>
        <p:sp>
          <p:nvSpPr>
            <p:cNvPr id="91" name="TextBox 91"/>
            <p:cNvSpPr txBox="1"/>
            <p:nvPr/>
          </p:nvSpPr>
          <p:spPr>
            <a:xfrm>
              <a:off x="5255655" y="10272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​5​</a:t>
              </a:r>
            </a:p>
          </p:txBody>
        </p:sp>
        <p:sp>
          <p:nvSpPr>
            <p:cNvPr id="92" name="Ellipse 92"/>
            <p:cNvSpPr/>
            <p:nvPr/>
          </p:nvSpPr>
          <p:spPr>
            <a:xfrm>
              <a:off x="5187315" y="1200150"/>
              <a:ext cx="304800" cy="304800"/>
            </a:xfrm>
            <a:prstGeom prst="ellipse">
              <a:avLst/>
            </a:prstGeom>
            <a:solidFill>
              <a:srgbClr val="FEF2E6"/>
            </a:solidFill>
            <a:ln w="9525">
              <a:solidFill>
                <a:srgbClr val="F0B8AE"/>
              </a:solidFill>
            </a:ln>
          </p:spPr>
        </p:sp>
        <p:grpSp>
          <p:nvGrpSpPr>
            <p:cNvPr id="96" name="Group 96"/>
            <p:cNvGrpSpPr/>
            <p:nvPr/>
          </p:nvGrpSpPr>
          <p:grpSpPr>
            <a:xfrm>
              <a:off x="5289709" y="1288256"/>
              <a:ext cx="100012" cy="128588"/>
              <a:chOff x="5289709" y="1288256"/>
              <a:chExt cx="100012" cy="128588"/>
            </a:xfrm>
          </p:grpSpPr>
          <p:sp>
            <p:nvSpPr>
              <p:cNvPr id="93" name="Freeform 93"/>
              <p:cNvSpPr/>
              <p:nvPr/>
            </p:nvSpPr>
            <p:spPr>
              <a:xfrm>
                <a:off x="5289709" y="1331119"/>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D82000"/>
                </a:solidFill>
              </a:ln>
            </p:spPr>
          </p:sp>
          <p:sp>
            <p:nvSpPr>
              <p:cNvPr id="94" name="Freeform 94"/>
              <p:cNvSpPr/>
              <p:nvPr/>
            </p:nvSpPr>
            <p:spPr>
              <a:xfrm>
                <a:off x="5339715" y="1288256"/>
                <a:ext cx="9525" cy="78581"/>
              </a:xfrm>
              <a:custGeom>
                <a:avLst/>
                <a:gdLst/>
                <a:ahLst/>
                <a:cxnLst/>
                <a:rect l="l" t="t" r="r" b="b"/>
                <a:pathLst>
                  <a:path w="9525" h="78581">
                    <a:moveTo>
                      <a:pt x="0" y="78581"/>
                    </a:moveTo>
                    <a:lnTo>
                      <a:pt x="0" y="0"/>
                    </a:lnTo>
                  </a:path>
                </a:pathLst>
              </a:custGeom>
              <a:noFill/>
              <a:ln w="14288">
                <a:solidFill>
                  <a:srgbClr val="D82000"/>
                </a:solidFill>
              </a:ln>
            </p:spPr>
          </p:sp>
          <p:sp>
            <p:nvSpPr>
              <p:cNvPr id="95" name="Freeform 95"/>
              <p:cNvSpPr/>
              <p:nvPr/>
            </p:nvSpPr>
            <p:spPr>
              <a:xfrm>
                <a:off x="5318284" y="1288256"/>
                <a:ext cx="42862" cy="21431"/>
              </a:xfrm>
              <a:custGeom>
                <a:avLst/>
                <a:gdLst/>
                <a:ahLst/>
                <a:cxnLst/>
                <a:rect l="l" t="t" r="r" b="b"/>
                <a:pathLst>
                  <a:path w="42862" h="21431">
                    <a:moveTo>
                      <a:pt x="0" y="21431"/>
                    </a:moveTo>
                    <a:lnTo>
                      <a:pt x="21431" y="0"/>
                    </a:lnTo>
                    <a:lnTo>
                      <a:pt x="42862" y="21431"/>
                    </a:lnTo>
                  </a:path>
                </a:pathLst>
              </a:custGeom>
              <a:noFill/>
              <a:ln w="14288">
                <a:solidFill>
                  <a:srgbClr val="D82000"/>
                </a:solidFill>
              </a:ln>
            </p:spPr>
          </p:sp>
        </p:grpSp>
        <p:sp>
          <p:nvSpPr>
            <p:cNvPr id="97" name="TextBox 97"/>
            <p:cNvSpPr txBox="1"/>
            <p:nvPr/>
          </p:nvSpPr>
          <p:spPr>
            <a:xfrm>
              <a:off x="5143792" y="1561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渠道选择</a:t>
              </a:r>
            </a:p>
          </p:txBody>
        </p:sp>
        <p:sp>
          <p:nvSpPr>
            <p:cNvPr id="98" name="TextBox 98"/>
            <p:cNvSpPr txBox="1"/>
            <p:nvPr/>
          </p:nvSpPr>
          <p:spPr>
            <a:xfrm>
              <a:off x="5082476" y="1729978"/>
              <a:ext cx="514477" cy="321469"/>
            </a:xfrm>
            <a:prstGeom prst="rect">
              <a:avLst/>
            </a:prstGeom>
            <a:noFill/>
            <a:ln>
              <a:noFill/>
            </a:ln>
          </p:spPr>
          <p:txBody>
            <a:bodyPr wrap="none" lIns="0" tIns="0" rIns="0" bIns="0" anchor="t" anchorCtr="0">
              <a:spAutoFit/>
            </a:bodyPr>
            <a:lstStyle/>
            <a:p>
              <a:pPr algn="ctr">
                <a:lnSpc>
                  <a:spcPts val="825"/>
                </a:lnSpc>
              </a:pPr>
              <a:r>
                <a:rPr lang="zh-CN" sz="560" dirty="0">
                  <a:solidFill>
                    <a:srgbClr val="7A716B"/>
                  </a:solidFill>
                  <a:latin typeface="+mn-lt"/>
                  <a:ea typeface="+mn-ea"/>
                  <a:cs typeface="+mn-cs"/>
                </a:rPr>
                <a:t>​遵循客户偏好​</a:t>
              </a:r>
              <a:br/>
              <a:r>
                <a:rPr lang="zh-CN" sz="560" dirty="0">
                  <a:solidFill>
                    <a:srgbClr val="7A716B"/>
                  </a:solidFill>
                  <a:latin typeface="+mn-lt"/>
                  <a:ea typeface="+mn-ea"/>
                  <a:cs typeface="+mn-cs"/>
                </a:rPr>
                <a:t>与触达效能</a:t>
              </a:r>
              <a:br/>
              <a:r>
                <a:rPr lang="zh-CN" sz="560" dirty="0">
                  <a:solidFill>
                    <a:srgbClr val="7A716B"/>
                  </a:solidFill>
                  <a:latin typeface="+mn-lt"/>
                  <a:ea typeface="+mn-ea"/>
                  <a:cs typeface="+mn-cs"/>
                </a:rPr>
                <a:t>​选择可达渠道​</a:t>
              </a:r>
            </a:p>
          </p:txBody>
        </p:sp>
        <p:sp>
          <p:nvSpPr>
            <p:cNvPr id="99" name="Polygon 99"/>
            <p:cNvSpPr/>
            <p:nvPr/>
          </p:nvSpPr>
          <p:spPr>
            <a:xfrm>
              <a:off x="5638800" y="131445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100" name="Ellipse 100"/>
            <p:cNvSpPr/>
            <p:nvPr/>
          </p:nvSpPr>
          <p:spPr>
            <a:xfrm>
              <a:off x="5942648" y="990600"/>
              <a:ext cx="152400" cy="152400"/>
            </a:xfrm>
            <a:prstGeom prst="ellipse">
              <a:avLst/>
            </a:prstGeom>
            <a:solidFill>
              <a:srgbClr val="D82000"/>
            </a:solidFill>
            <a:ln>
              <a:noFill/>
            </a:ln>
          </p:spPr>
        </p:sp>
        <p:sp>
          <p:nvSpPr>
            <p:cNvPr id="101" name="TextBox 101"/>
            <p:cNvSpPr txBox="1"/>
            <p:nvPr/>
          </p:nvSpPr>
          <p:spPr>
            <a:xfrm>
              <a:off x="5934787" y="10272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​6​</a:t>
              </a:r>
            </a:p>
          </p:txBody>
        </p:sp>
        <p:sp>
          <p:nvSpPr>
            <p:cNvPr id="102" name="Ellipse 102"/>
            <p:cNvSpPr/>
            <p:nvPr/>
          </p:nvSpPr>
          <p:spPr>
            <a:xfrm>
              <a:off x="5866448" y="1200150"/>
              <a:ext cx="304800" cy="304800"/>
            </a:xfrm>
            <a:prstGeom prst="ellipse">
              <a:avLst/>
            </a:prstGeom>
            <a:solidFill>
              <a:srgbClr val="FEF2E6"/>
            </a:solidFill>
            <a:ln w="9525">
              <a:solidFill>
                <a:srgbClr val="F0B8AE"/>
              </a:solidFill>
            </a:ln>
          </p:spPr>
        </p:sp>
        <p:grpSp>
          <p:nvGrpSpPr>
            <p:cNvPr id="105" name="Group 105"/>
            <p:cNvGrpSpPr/>
            <p:nvPr/>
          </p:nvGrpSpPr>
          <p:grpSpPr>
            <a:xfrm>
              <a:off x="5951418" y="1285120"/>
              <a:ext cx="134860" cy="134860"/>
              <a:chOff x="5951418" y="1285120"/>
              <a:chExt cx="134860" cy="134860"/>
            </a:xfrm>
          </p:grpSpPr>
          <p:sp>
            <p:nvSpPr>
              <p:cNvPr id="103" name="Freeform 103"/>
              <p:cNvSpPr/>
              <p:nvPr/>
            </p:nvSpPr>
            <p:spPr>
              <a:xfrm>
                <a:off x="5951418" y="1285120"/>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D82000"/>
                </a:solidFill>
              </a:ln>
            </p:spPr>
          </p:sp>
          <p:sp>
            <p:nvSpPr>
              <p:cNvPr id="104" name="Freeform 104"/>
              <p:cNvSpPr/>
              <p:nvPr/>
            </p:nvSpPr>
            <p:spPr>
              <a:xfrm>
                <a:off x="5997416" y="1331119"/>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D82000"/>
                </a:solidFill>
              </a:ln>
            </p:spPr>
          </p:sp>
        </p:grpSp>
        <p:sp>
          <p:nvSpPr>
            <p:cNvPr id="106" name="TextBox 106"/>
            <p:cNvSpPr txBox="1"/>
            <p:nvPr/>
          </p:nvSpPr>
          <p:spPr>
            <a:xfrm>
              <a:off x="5822925" y="1561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频次控制</a:t>
              </a:r>
            </a:p>
          </p:txBody>
        </p:sp>
        <p:sp>
          <p:nvSpPr>
            <p:cNvPr id="107" name="TextBox 107"/>
            <p:cNvSpPr txBox="1"/>
            <p:nvPr/>
          </p:nvSpPr>
          <p:spPr>
            <a:xfrm>
              <a:off x="5726049" y="1729978"/>
              <a:ext cx="585597" cy="321469"/>
            </a:xfrm>
            <a:prstGeom prst="rect">
              <a:avLst/>
            </a:prstGeom>
            <a:noFill/>
            <a:ln>
              <a:noFill/>
            </a:ln>
          </p:spPr>
          <p:txBody>
            <a:bodyPr wrap="none" lIns="0" tIns="0" rIns="0" bIns="0" anchor="t" anchorCtr="0">
              <a:spAutoFit/>
            </a:bodyPr>
            <a:lstStyle/>
            <a:p>
              <a:pPr algn="ctr">
                <a:lnSpc>
                  <a:spcPts val="825"/>
                </a:lnSpc>
              </a:pPr>
              <a:r>
                <a:rPr lang="zh-CN" sz="560" dirty="0">
                  <a:solidFill>
                    <a:srgbClr val="7A716B"/>
                  </a:solidFill>
                  <a:latin typeface="+mn-lt"/>
                  <a:ea typeface="+mn-ea"/>
                  <a:cs typeface="+mn-cs"/>
                </a:rPr>
                <a:t>​全局频次策略、​</a:t>
              </a:r>
              <a:br/>
              <a:r>
                <a:rPr lang="zh-CN" sz="560" dirty="0">
                  <a:solidFill>
                    <a:srgbClr val="7A716B"/>
                  </a:solidFill>
                  <a:latin typeface="+mn-lt"/>
                  <a:ea typeface="+mn-ea"/>
                  <a:cs typeface="+mn-cs"/>
                </a:rPr>
                <a:t>内容去重、</a:t>
              </a:r>
              <a:br/>
              <a:r>
                <a:rPr lang="zh-CN" sz="560" dirty="0">
                  <a:solidFill>
                    <a:srgbClr val="7A716B"/>
                  </a:solidFill>
                  <a:latin typeface="+mn-lt"/>
                  <a:ea typeface="+mn-ea"/>
                  <a:cs typeface="+mn-cs"/>
                </a:rPr>
                <a:t>疲劳度控制</a:t>
              </a:r>
            </a:p>
          </p:txBody>
        </p:sp>
        <p:sp>
          <p:nvSpPr>
            <p:cNvPr id="108" name="Polygon 108"/>
            <p:cNvSpPr/>
            <p:nvPr/>
          </p:nvSpPr>
          <p:spPr>
            <a:xfrm>
              <a:off x="6315075" y="131445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109" name="Ellipse 109"/>
            <p:cNvSpPr/>
            <p:nvPr/>
          </p:nvSpPr>
          <p:spPr>
            <a:xfrm>
              <a:off x="6620828" y="990600"/>
              <a:ext cx="152400" cy="152400"/>
            </a:xfrm>
            <a:prstGeom prst="ellipse">
              <a:avLst/>
            </a:prstGeom>
            <a:solidFill>
              <a:srgbClr val="D82000"/>
            </a:solidFill>
            <a:ln>
              <a:noFill/>
            </a:ln>
          </p:spPr>
        </p:sp>
        <p:sp>
          <p:nvSpPr>
            <p:cNvPr id="110" name="TextBox 110"/>
            <p:cNvSpPr txBox="1"/>
            <p:nvPr/>
          </p:nvSpPr>
          <p:spPr>
            <a:xfrm>
              <a:off x="6612967" y="10272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​7​</a:t>
              </a:r>
            </a:p>
          </p:txBody>
        </p:sp>
        <p:sp>
          <p:nvSpPr>
            <p:cNvPr id="111" name="Ellipse 111"/>
            <p:cNvSpPr/>
            <p:nvPr/>
          </p:nvSpPr>
          <p:spPr>
            <a:xfrm>
              <a:off x="6544628" y="1200150"/>
              <a:ext cx="304800" cy="304800"/>
            </a:xfrm>
            <a:prstGeom prst="ellipse">
              <a:avLst/>
            </a:prstGeom>
            <a:solidFill>
              <a:srgbClr val="FEF2E6"/>
            </a:solidFill>
            <a:ln w="9525">
              <a:solidFill>
                <a:srgbClr val="F0B8AE"/>
              </a:solidFill>
            </a:ln>
          </p:spPr>
        </p:sp>
        <p:grpSp>
          <p:nvGrpSpPr>
            <p:cNvPr id="115" name="Group 115"/>
            <p:cNvGrpSpPr/>
            <p:nvPr/>
          </p:nvGrpSpPr>
          <p:grpSpPr>
            <a:xfrm>
              <a:off x="6637621" y="1295400"/>
              <a:ext cx="116557" cy="116557"/>
              <a:chOff x="6637621" y="1295400"/>
              <a:chExt cx="116557" cy="116557"/>
            </a:xfrm>
          </p:grpSpPr>
          <p:sp>
            <p:nvSpPr>
              <p:cNvPr id="112" name="Freeform 112"/>
              <p:cNvSpPr/>
              <p:nvPr/>
            </p:nvSpPr>
            <p:spPr>
              <a:xfrm>
                <a:off x="6639878" y="1295400"/>
                <a:ext cx="114300" cy="114300"/>
              </a:xfrm>
              <a:custGeom>
                <a:avLst/>
                <a:gdLst/>
                <a:ahLst/>
                <a:cxnLst/>
                <a:rect l="l" t="t" r="r" b="b"/>
                <a:pathLst>
                  <a:path w="114300" h="114300">
                    <a:moveTo>
                      <a:pt x="0" y="64294"/>
                    </a:moveTo>
                    <a:cubicBezTo>
                      <a:pt x="26219" y="67410"/>
                      <a:pt x="46890" y="88081"/>
                      <a:pt x="50006" y="114300"/>
                    </a:cubicBezTo>
                    <a:cubicBezTo>
                      <a:pt x="62844" y="106899"/>
                      <a:pt x="70948" y="93392"/>
                      <a:pt x="71438" y="78581"/>
                    </a:cubicBezTo>
                    <a:cubicBezTo>
                      <a:pt x="95968" y="69952"/>
                      <a:pt x="112884" y="47396"/>
                      <a:pt x="114300" y="21431"/>
                    </a:cubicBezTo>
                    <a:cubicBezTo>
                      <a:pt x="114300" y="9595"/>
                      <a:pt x="104705" y="0"/>
                      <a:pt x="92869" y="0"/>
                    </a:cubicBezTo>
                    <a:cubicBezTo>
                      <a:pt x="66904" y="1416"/>
                      <a:pt x="44348" y="18332"/>
                      <a:pt x="35719" y="42862"/>
                    </a:cubicBezTo>
                    <a:cubicBezTo>
                      <a:pt x="20908" y="43352"/>
                      <a:pt x="7401" y="51456"/>
                      <a:pt x="0" y="64294"/>
                    </a:cubicBezTo>
                  </a:path>
                </a:pathLst>
              </a:custGeom>
              <a:noFill/>
              <a:ln w="14288">
                <a:solidFill>
                  <a:srgbClr val="D82000"/>
                </a:solidFill>
              </a:ln>
            </p:spPr>
          </p:sp>
          <p:sp>
            <p:nvSpPr>
              <p:cNvPr id="113" name="Freeform 113"/>
              <p:cNvSpPr/>
              <p:nvPr/>
            </p:nvSpPr>
            <p:spPr>
              <a:xfrm>
                <a:off x="6637621" y="1366838"/>
                <a:ext cx="45119" cy="45119"/>
              </a:xfrm>
              <a:custGeom>
                <a:avLst/>
                <a:gdLst/>
                <a:ahLst/>
                <a:cxnLst/>
                <a:rect l="l" t="t" r="r" b="b"/>
                <a:pathLst>
                  <a:path w="45119" h="45119">
                    <a:moveTo>
                      <a:pt x="23688" y="0"/>
                    </a:moveTo>
                    <a:cubicBezTo>
                      <a:pt x="8478" y="8587"/>
                      <a:pt x="0" y="25543"/>
                      <a:pt x="2256" y="42862"/>
                    </a:cubicBezTo>
                    <a:cubicBezTo>
                      <a:pt x="19576" y="45119"/>
                      <a:pt x="36532" y="36641"/>
                      <a:pt x="45119" y="21431"/>
                    </a:cubicBezTo>
                  </a:path>
                </a:pathLst>
              </a:custGeom>
              <a:noFill/>
              <a:ln w="14288">
                <a:solidFill>
                  <a:srgbClr val="D82000"/>
                </a:solidFill>
              </a:ln>
            </p:spPr>
          </p:sp>
          <p:sp>
            <p:nvSpPr>
              <p:cNvPr id="114" name="Freeform 114"/>
              <p:cNvSpPr/>
              <p:nvPr/>
            </p:nvSpPr>
            <p:spPr>
              <a:xfrm>
                <a:off x="6711315" y="1323975"/>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D82000"/>
                </a:solidFill>
              </a:ln>
            </p:spPr>
          </p:sp>
        </p:grpSp>
        <p:sp>
          <p:nvSpPr>
            <p:cNvPr id="116" name="TextBox 116"/>
            <p:cNvSpPr txBox="1"/>
            <p:nvPr/>
          </p:nvSpPr>
          <p:spPr>
            <a:xfrm>
              <a:off x="6501105" y="1561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执行触达</a:t>
              </a:r>
            </a:p>
          </p:txBody>
        </p:sp>
        <p:sp>
          <p:nvSpPr>
            <p:cNvPr id="117" name="TextBox 117"/>
            <p:cNvSpPr txBox="1"/>
            <p:nvPr/>
          </p:nvSpPr>
          <p:spPr>
            <a:xfrm>
              <a:off x="6514465" y="1729978"/>
              <a:ext cx="365125" cy="426244"/>
            </a:xfrm>
            <a:prstGeom prst="rect">
              <a:avLst/>
            </a:prstGeom>
            <a:noFill/>
            <a:ln>
              <a:noFill/>
            </a:ln>
          </p:spPr>
          <p:txBody>
            <a:bodyPr wrap="none" lIns="0" tIns="0" rIns="0" bIns="0" anchor="t" anchorCtr="0">
              <a:spAutoFit/>
            </a:bodyPr>
            <a:lstStyle/>
            <a:p>
              <a:pPr algn="ctr">
                <a:lnSpc>
                  <a:spcPts val="825"/>
                </a:lnSpc>
              </a:pPr>
              <a:r>
                <a:rPr lang="zh-CN" sz="560" dirty="0">
                  <a:solidFill>
                    <a:srgbClr val="7A716B"/>
                  </a:solidFill>
                  <a:latin typeface="+mn-lt"/>
                  <a:ea typeface="+mn-ea"/>
                  <a:cs typeface="+mn-cs"/>
                </a:rPr>
                <a:t>生成个性化</a:t>
              </a:r>
              <a:br/>
              <a:r>
                <a:rPr lang="zh-CN" sz="560" dirty="0">
                  <a:solidFill>
                    <a:srgbClr val="7A716B"/>
                  </a:solidFill>
                  <a:latin typeface="+mn-lt"/>
                  <a:ea typeface="+mn-ea"/>
                  <a:cs typeface="+mn-cs"/>
                </a:rPr>
                <a:t>内容并通过</a:t>
              </a:r>
              <a:br/>
              <a:r>
                <a:rPr lang="zh-CN" sz="560" dirty="0">
                  <a:solidFill>
                    <a:srgbClr val="7A716B"/>
                  </a:solidFill>
                  <a:latin typeface="+mn-lt"/>
                  <a:ea typeface="+mn-ea"/>
                  <a:cs typeface="+mn-cs"/>
                </a:rPr>
                <a:t>选定渠道</a:t>
              </a:r>
              <a:br/>
              <a:r>
                <a:rPr lang="zh-CN" sz="560" dirty="0">
                  <a:solidFill>
                    <a:srgbClr val="7A716B"/>
                  </a:solidFill>
                  <a:latin typeface="+mn-lt"/>
                  <a:ea typeface="+mn-ea"/>
                  <a:cs typeface="+mn-cs"/>
                </a:rPr>
                <a:t>触达客户</a:t>
              </a:r>
            </a:p>
          </p:txBody>
        </p:sp>
        <p:sp>
          <p:nvSpPr>
            <p:cNvPr id="118" name="Polygon 118"/>
            <p:cNvSpPr/>
            <p:nvPr/>
          </p:nvSpPr>
          <p:spPr>
            <a:xfrm>
              <a:off x="6991350" y="1314450"/>
              <a:ext cx="76200" cy="76200"/>
            </a:xfrm>
            <a:custGeom>
              <a:avLst/>
              <a:gdLst/>
              <a:ahLst/>
              <a:cxnLst/>
              <a:rect l="l" t="t" r="r" b="b"/>
              <a:pathLst>
                <a:path w="76200" h="76200">
                  <a:moveTo>
                    <a:pt x="0" y="0"/>
                  </a:moveTo>
                  <a:lnTo>
                    <a:pt x="76200" y="38100"/>
                  </a:lnTo>
                  <a:lnTo>
                    <a:pt x="0" y="76200"/>
                  </a:lnTo>
                  <a:close/>
                </a:path>
              </a:pathLst>
            </a:custGeom>
            <a:solidFill>
              <a:srgbClr val="EE492C"/>
            </a:solidFill>
            <a:ln>
              <a:noFill/>
            </a:ln>
          </p:spPr>
        </p:sp>
        <p:sp>
          <p:nvSpPr>
            <p:cNvPr id="119" name="Ellipse 119"/>
            <p:cNvSpPr/>
            <p:nvPr/>
          </p:nvSpPr>
          <p:spPr>
            <a:xfrm>
              <a:off x="7299960" y="990600"/>
              <a:ext cx="152400" cy="152400"/>
            </a:xfrm>
            <a:prstGeom prst="ellipse">
              <a:avLst/>
            </a:prstGeom>
            <a:solidFill>
              <a:srgbClr val="D82000"/>
            </a:solidFill>
            <a:ln>
              <a:noFill/>
            </a:ln>
          </p:spPr>
        </p:sp>
        <p:sp>
          <p:nvSpPr>
            <p:cNvPr id="120" name="TextBox 120"/>
            <p:cNvSpPr txBox="1"/>
            <p:nvPr/>
          </p:nvSpPr>
          <p:spPr>
            <a:xfrm>
              <a:off x="7292100" y="10272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​8​</a:t>
              </a:r>
            </a:p>
          </p:txBody>
        </p:sp>
        <p:sp>
          <p:nvSpPr>
            <p:cNvPr id="121" name="Ellipse 121"/>
            <p:cNvSpPr/>
            <p:nvPr/>
          </p:nvSpPr>
          <p:spPr>
            <a:xfrm>
              <a:off x="7223760" y="1200150"/>
              <a:ext cx="304800" cy="304800"/>
            </a:xfrm>
            <a:prstGeom prst="ellipse">
              <a:avLst/>
            </a:prstGeom>
            <a:solidFill>
              <a:srgbClr val="FEF2E6"/>
            </a:solidFill>
            <a:ln w="9525">
              <a:solidFill>
                <a:srgbClr val="F0B8AE"/>
              </a:solidFill>
            </a:ln>
          </p:spPr>
        </p:sp>
        <p:grpSp>
          <p:nvGrpSpPr>
            <p:cNvPr id="124" name="Group 124"/>
            <p:cNvGrpSpPr/>
            <p:nvPr/>
          </p:nvGrpSpPr>
          <p:grpSpPr>
            <a:xfrm>
              <a:off x="7319010" y="1292644"/>
              <a:ext cx="114300" cy="119813"/>
              <a:chOff x="7319010" y="1292644"/>
              <a:chExt cx="114300" cy="119813"/>
            </a:xfrm>
          </p:grpSpPr>
          <p:sp>
            <p:nvSpPr>
              <p:cNvPr id="122" name="Freeform 122"/>
              <p:cNvSpPr/>
              <p:nvPr/>
            </p:nvSpPr>
            <p:spPr>
              <a:xfrm>
                <a:off x="7319010" y="1292644"/>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D82000"/>
                </a:solidFill>
              </a:ln>
            </p:spPr>
          </p:sp>
          <p:sp>
            <p:nvSpPr>
              <p:cNvPr id="123" name="Freeform 123"/>
              <p:cNvSpPr/>
              <p:nvPr/>
            </p:nvSpPr>
            <p:spPr>
              <a:xfrm>
                <a:off x="7319010" y="1359694"/>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D82000"/>
                </a:solidFill>
              </a:ln>
            </p:spPr>
          </p:sp>
        </p:grpSp>
        <p:sp>
          <p:nvSpPr>
            <p:cNvPr id="125" name="TextBox 125"/>
            <p:cNvSpPr txBox="1"/>
            <p:nvPr/>
          </p:nvSpPr>
          <p:spPr>
            <a:xfrm>
              <a:off x="7180237" y="1561386"/>
              <a:ext cx="391846" cy="140494"/>
            </a:xfrm>
            <a:prstGeom prst="rect">
              <a:avLst/>
            </a:prstGeom>
            <a:noFill/>
            <a:ln>
              <a:noFill/>
            </a:ln>
          </p:spPr>
          <p:txBody>
            <a:bodyPr wrap="none" lIns="0" tIns="0" rIns="0" bIns="0" anchor="t" anchorCtr="0">
              <a:spAutoFit/>
            </a:bodyPr>
            <a:lstStyle/>
            <a:p>
              <a:pPr algn="ctr"/>
              <a:r>
                <a:rPr lang="zh-CN" sz="710" b="1" dirty="0">
                  <a:solidFill>
                    <a:srgbClr val="4A130A"/>
                  </a:solidFill>
                  <a:latin typeface="+mn-lt"/>
                  <a:ea typeface="+mn-ea"/>
                  <a:cs typeface="+mn-cs"/>
                </a:rPr>
                <a:t>反馈学习</a:t>
              </a:r>
            </a:p>
          </p:txBody>
        </p:sp>
        <p:sp>
          <p:nvSpPr>
            <p:cNvPr id="126" name="TextBox 126"/>
            <p:cNvSpPr txBox="1"/>
            <p:nvPr/>
          </p:nvSpPr>
          <p:spPr>
            <a:xfrm>
              <a:off x="7118922" y="1729978"/>
              <a:ext cx="514477" cy="426244"/>
            </a:xfrm>
            <a:prstGeom prst="rect">
              <a:avLst/>
            </a:prstGeom>
            <a:noFill/>
            <a:ln>
              <a:noFill/>
            </a:ln>
          </p:spPr>
          <p:txBody>
            <a:bodyPr wrap="none" lIns="0" tIns="0" rIns="0" bIns="0" anchor="t" anchorCtr="0">
              <a:spAutoFit/>
            </a:bodyPr>
            <a:lstStyle/>
            <a:p>
              <a:pPr algn="ctr">
                <a:lnSpc>
                  <a:spcPts val="825"/>
                </a:lnSpc>
              </a:pPr>
              <a:r>
                <a:rPr lang="zh-CN" sz="560" dirty="0">
                  <a:solidFill>
                    <a:srgbClr val="7A716B"/>
                  </a:solidFill>
                  <a:latin typeface="+mn-lt"/>
                  <a:ea typeface="+mn-ea"/>
                  <a:cs typeface="+mn-cs"/>
                </a:rPr>
                <a:t>​记录客户响应​</a:t>
              </a:r>
              <a:br/>
              <a:r>
                <a:rPr lang="zh-CN" sz="560" dirty="0">
                  <a:solidFill>
                    <a:srgbClr val="7A716B"/>
                  </a:solidFill>
                  <a:latin typeface="+mn-lt"/>
                  <a:ea typeface="+mn-ea"/>
                  <a:cs typeface="+mn-cs"/>
                </a:rPr>
                <a:t>​与结果、持续​</a:t>
              </a:r>
              <a:br/>
              <a:r>
                <a:rPr lang="zh-CN" sz="560" dirty="0">
                  <a:solidFill>
                    <a:srgbClr val="7A716B"/>
                  </a:solidFill>
                  <a:latin typeface="+mn-lt"/>
                  <a:ea typeface="+mn-ea"/>
                  <a:cs typeface="+mn-cs"/>
                </a:rPr>
                <a:t>优化模型与</a:t>
              </a:r>
              <a:br/>
              <a:r>
                <a:rPr lang="zh-CN" sz="560" dirty="0">
                  <a:solidFill>
                    <a:srgbClr val="7A716B"/>
                  </a:solidFill>
                  <a:latin typeface="+mn-lt"/>
                  <a:ea typeface="+mn-ea"/>
                  <a:cs typeface="+mn-cs"/>
                </a:rPr>
                <a:t>策略</a:t>
              </a:r>
            </a:p>
          </p:txBody>
        </p:sp>
        <p:sp>
          <p:nvSpPr>
            <p:cNvPr id="127" name="Rectangle 127"/>
            <p:cNvSpPr/>
            <p:nvPr/>
          </p:nvSpPr>
          <p:spPr>
            <a:xfrm>
              <a:off x="2286000" y="2286000"/>
              <a:ext cx="5429250" cy="247650"/>
            </a:xfrm>
            <a:prstGeom prst="roundRect">
              <a:avLst>
                <a:gd name="adj" fmla="val 11538"/>
              </a:avLst>
            </a:prstGeom>
            <a:solidFill>
              <a:srgbClr val="FEF2E6"/>
            </a:solidFill>
            <a:ln w="9525">
              <a:solidFill>
                <a:srgbClr val="F0B8AE"/>
              </a:solidFill>
            </a:ln>
          </p:spPr>
        </p:sp>
        <p:sp>
          <p:nvSpPr>
            <p:cNvPr id="128" name="TextBox 128"/>
            <p:cNvSpPr txBox="1"/>
            <p:nvPr/>
          </p:nvSpPr>
          <p:spPr>
            <a:xfrm>
              <a:off x="3309128" y="2379107"/>
              <a:ext cx="3382995"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​特征与数据层（客户画像、交易行为、产品持有、渠道偏好、生命周期、外部数据等）​</a:t>
              </a:r>
            </a:p>
          </p:txBody>
        </p:sp>
        <p:grpSp>
          <p:nvGrpSpPr>
            <p:cNvPr id="132" name="Group 132"/>
            <p:cNvGrpSpPr/>
            <p:nvPr/>
          </p:nvGrpSpPr>
          <p:grpSpPr>
            <a:xfrm>
              <a:off x="2603500" y="2690812"/>
              <a:ext cx="127000" cy="142875"/>
              <a:chOff x="2603500" y="2690812"/>
              <a:chExt cx="127000" cy="142875"/>
            </a:xfrm>
          </p:grpSpPr>
          <p:sp>
            <p:nvSpPr>
              <p:cNvPr id="129" name="Freeform 129"/>
              <p:cNvSpPr/>
              <p:nvPr/>
            </p:nvSpPr>
            <p:spPr>
              <a:xfrm>
                <a:off x="2603500" y="26908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D82000"/>
                </a:solidFill>
              </a:ln>
            </p:spPr>
          </p:sp>
          <p:sp>
            <p:nvSpPr>
              <p:cNvPr id="130" name="Freeform 130"/>
              <p:cNvSpPr/>
              <p:nvPr/>
            </p:nvSpPr>
            <p:spPr>
              <a:xfrm>
                <a:off x="2603500" y="27146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sp>
            <p:nvSpPr>
              <p:cNvPr id="131" name="Freeform 131"/>
              <p:cNvSpPr/>
              <p:nvPr/>
            </p:nvSpPr>
            <p:spPr>
              <a:xfrm>
                <a:off x="2603500" y="27622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grpSp>
        <p:sp>
          <p:nvSpPr>
            <p:cNvPr id="133" name="TextBox 133"/>
            <p:cNvSpPr txBox="1"/>
            <p:nvPr/>
          </p:nvSpPr>
          <p:spPr>
            <a:xfrm>
              <a:off x="2500694" y="2945130"/>
              <a:ext cx="332613"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核心系统</a:t>
              </a:r>
            </a:p>
          </p:txBody>
        </p:sp>
        <p:grpSp>
          <p:nvGrpSpPr>
            <p:cNvPr id="137" name="Group 137"/>
            <p:cNvGrpSpPr/>
            <p:nvPr/>
          </p:nvGrpSpPr>
          <p:grpSpPr>
            <a:xfrm>
              <a:off x="3375025" y="2690812"/>
              <a:ext cx="127000" cy="142875"/>
              <a:chOff x="3375025" y="2690812"/>
              <a:chExt cx="127000" cy="142875"/>
            </a:xfrm>
          </p:grpSpPr>
          <p:sp>
            <p:nvSpPr>
              <p:cNvPr id="134" name="Freeform 134"/>
              <p:cNvSpPr/>
              <p:nvPr/>
            </p:nvSpPr>
            <p:spPr>
              <a:xfrm>
                <a:off x="3375025" y="26908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D82000"/>
                </a:solidFill>
              </a:ln>
            </p:spPr>
          </p:sp>
          <p:sp>
            <p:nvSpPr>
              <p:cNvPr id="135" name="Freeform 135"/>
              <p:cNvSpPr/>
              <p:nvPr/>
            </p:nvSpPr>
            <p:spPr>
              <a:xfrm>
                <a:off x="3375025" y="27146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sp>
            <p:nvSpPr>
              <p:cNvPr id="136" name="Freeform 136"/>
              <p:cNvSpPr/>
              <p:nvPr/>
            </p:nvSpPr>
            <p:spPr>
              <a:xfrm>
                <a:off x="3375025" y="27622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grpSp>
        <p:sp>
          <p:nvSpPr>
            <p:cNvPr id="138" name="TextBox 138"/>
            <p:cNvSpPr txBox="1"/>
            <p:nvPr/>
          </p:nvSpPr>
          <p:spPr>
            <a:xfrm>
              <a:off x="3272218" y="2945130"/>
              <a:ext cx="332613"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交易系统</a:t>
              </a:r>
            </a:p>
          </p:txBody>
        </p:sp>
        <p:grpSp>
          <p:nvGrpSpPr>
            <p:cNvPr id="142" name="Group 142"/>
            <p:cNvGrpSpPr/>
            <p:nvPr/>
          </p:nvGrpSpPr>
          <p:grpSpPr>
            <a:xfrm>
              <a:off x="4146550" y="2690812"/>
              <a:ext cx="127000" cy="142875"/>
              <a:chOff x="4146550" y="2690812"/>
              <a:chExt cx="127000" cy="142875"/>
            </a:xfrm>
          </p:grpSpPr>
          <p:sp>
            <p:nvSpPr>
              <p:cNvPr id="139" name="Freeform 139"/>
              <p:cNvSpPr/>
              <p:nvPr/>
            </p:nvSpPr>
            <p:spPr>
              <a:xfrm>
                <a:off x="4146550" y="26908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D82000"/>
                </a:solidFill>
              </a:ln>
            </p:spPr>
          </p:sp>
          <p:sp>
            <p:nvSpPr>
              <p:cNvPr id="140" name="Freeform 140"/>
              <p:cNvSpPr/>
              <p:nvPr/>
            </p:nvSpPr>
            <p:spPr>
              <a:xfrm>
                <a:off x="4146550" y="27146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sp>
            <p:nvSpPr>
              <p:cNvPr id="141" name="Freeform 141"/>
              <p:cNvSpPr/>
              <p:nvPr/>
            </p:nvSpPr>
            <p:spPr>
              <a:xfrm>
                <a:off x="4146550" y="27622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grpSp>
        <p:sp>
          <p:nvSpPr>
            <p:cNvPr id="143" name="TextBox 143"/>
            <p:cNvSpPr txBox="1"/>
            <p:nvPr/>
          </p:nvSpPr>
          <p:spPr>
            <a:xfrm>
              <a:off x="4043744" y="2945130"/>
              <a:ext cx="332613"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渠道系统</a:t>
              </a:r>
            </a:p>
          </p:txBody>
        </p:sp>
        <p:grpSp>
          <p:nvGrpSpPr>
            <p:cNvPr id="147" name="Group 147"/>
            <p:cNvGrpSpPr/>
            <p:nvPr/>
          </p:nvGrpSpPr>
          <p:grpSpPr>
            <a:xfrm>
              <a:off x="4918075" y="2690812"/>
              <a:ext cx="127000" cy="142875"/>
              <a:chOff x="4918075" y="2690812"/>
              <a:chExt cx="127000" cy="142875"/>
            </a:xfrm>
          </p:grpSpPr>
          <p:sp>
            <p:nvSpPr>
              <p:cNvPr id="144" name="Freeform 144"/>
              <p:cNvSpPr/>
              <p:nvPr/>
            </p:nvSpPr>
            <p:spPr>
              <a:xfrm>
                <a:off x="4918075" y="26908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D82000"/>
                </a:solidFill>
              </a:ln>
            </p:spPr>
          </p:sp>
          <p:sp>
            <p:nvSpPr>
              <p:cNvPr id="145" name="Freeform 145"/>
              <p:cNvSpPr/>
              <p:nvPr/>
            </p:nvSpPr>
            <p:spPr>
              <a:xfrm>
                <a:off x="4918075" y="27146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sp>
            <p:nvSpPr>
              <p:cNvPr id="146" name="Freeform 146"/>
              <p:cNvSpPr/>
              <p:nvPr/>
            </p:nvSpPr>
            <p:spPr>
              <a:xfrm>
                <a:off x="4918075" y="27622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grpSp>
        <p:sp>
          <p:nvSpPr>
            <p:cNvPr id="148" name="TextBox 148"/>
            <p:cNvSpPr txBox="1"/>
            <p:nvPr/>
          </p:nvSpPr>
          <p:spPr>
            <a:xfrm>
              <a:off x="4815268" y="2945130"/>
              <a:ext cx="332613"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风控系统</a:t>
              </a:r>
            </a:p>
          </p:txBody>
        </p:sp>
        <p:grpSp>
          <p:nvGrpSpPr>
            <p:cNvPr id="152" name="Group 152"/>
            <p:cNvGrpSpPr/>
            <p:nvPr/>
          </p:nvGrpSpPr>
          <p:grpSpPr>
            <a:xfrm>
              <a:off x="5689600" y="2690812"/>
              <a:ext cx="127000" cy="142875"/>
              <a:chOff x="5689600" y="2690812"/>
              <a:chExt cx="127000" cy="142875"/>
            </a:xfrm>
          </p:grpSpPr>
          <p:sp>
            <p:nvSpPr>
              <p:cNvPr id="149" name="Freeform 149"/>
              <p:cNvSpPr/>
              <p:nvPr/>
            </p:nvSpPr>
            <p:spPr>
              <a:xfrm>
                <a:off x="5689600" y="26908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D82000"/>
                </a:solidFill>
              </a:ln>
            </p:spPr>
          </p:sp>
          <p:sp>
            <p:nvSpPr>
              <p:cNvPr id="150" name="Freeform 150"/>
              <p:cNvSpPr/>
              <p:nvPr/>
            </p:nvSpPr>
            <p:spPr>
              <a:xfrm>
                <a:off x="5689600" y="27146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sp>
            <p:nvSpPr>
              <p:cNvPr id="151" name="Freeform 151"/>
              <p:cNvSpPr/>
              <p:nvPr/>
            </p:nvSpPr>
            <p:spPr>
              <a:xfrm>
                <a:off x="5689600" y="27622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grpSp>
        <p:sp>
          <p:nvSpPr>
            <p:cNvPr id="153" name="TextBox 153"/>
            <p:cNvSpPr txBox="1"/>
            <p:nvPr/>
          </p:nvSpPr>
          <p:spPr>
            <a:xfrm>
              <a:off x="5586794" y="2945130"/>
              <a:ext cx="332613"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外部数据</a:t>
              </a:r>
            </a:p>
          </p:txBody>
        </p:sp>
        <p:grpSp>
          <p:nvGrpSpPr>
            <p:cNvPr id="157" name="Group 157"/>
            <p:cNvGrpSpPr/>
            <p:nvPr/>
          </p:nvGrpSpPr>
          <p:grpSpPr>
            <a:xfrm>
              <a:off x="6461125" y="2690812"/>
              <a:ext cx="127000" cy="142875"/>
              <a:chOff x="6461125" y="2690812"/>
              <a:chExt cx="127000" cy="142875"/>
            </a:xfrm>
          </p:grpSpPr>
          <p:sp>
            <p:nvSpPr>
              <p:cNvPr id="154" name="Freeform 154"/>
              <p:cNvSpPr/>
              <p:nvPr/>
            </p:nvSpPr>
            <p:spPr>
              <a:xfrm>
                <a:off x="6461125" y="26908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D82000"/>
                </a:solidFill>
              </a:ln>
            </p:spPr>
          </p:sp>
          <p:sp>
            <p:nvSpPr>
              <p:cNvPr id="155" name="Freeform 155"/>
              <p:cNvSpPr/>
              <p:nvPr/>
            </p:nvSpPr>
            <p:spPr>
              <a:xfrm>
                <a:off x="6461125" y="27146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sp>
            <p:nvSpPr>
              <p:cNvPr id="156" name="Freeform 156"/>
              <p:cNvSpPr/>
              <p:nvPr/>
            </p:nvSpPr>
            <p:spPr>
              <a:xfrm>
                <a:off x="6461125" y="27622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grpSp>
        <p:sp>
          <p:nvSpPr>
            <p:cNvPr id="158" name="TextBox 158"/>
            <p:cNvSpPr txBox="1"/>
            <p:nvPr/>
          </p:nvSpPr>
          <p:spPr>
            <a:xfrm>
              <a:off x="6317932" y="2945130"/>
              <a:ext cx="413385"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埋点与行为</a:t>
              </a:r>
            </a:p>
          </p:txBody>
        </p:sp>
        <p:grpSp>
          <p:nvGrpSpPr>
            <p:cNvPr id="162" name="Group 162"/>
            <p:cNvGrpSpPr/>
            <p:nvPr/>
          </p:nvGrpSpPr>
          <p:grpSpPr>
            <a:xfrm>
              <a:off x="7232650" y="2690812"/>
              <a:ext cx="127000" cy="142875"/>
              <a:chOff x="7232650" y="2690812"/>
              <a:chExt cx="127000" cy="142875"/>
            </a:xfrm>
          </p:grpSpPr>
          <p:sp>
            <p:nvSpPr>
              <p:cNvPr id="159" name="Freeform 159"/>
              <p:cNvSpPr/>
              <p:nvPr/>
            </p:nvSpPr>
            <p:spPr>
              <a:xfrm>
                <a:off x="7232650" y="26908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D82000"/>
                </a:solidFill>
              </a:ln>
            </p:spPr>
          </p:sp>
          <p:sp>
            <p:nvSpPr>
              <p:cNvPr id="160" name="Freeform 160"/>
              <p:cNvSpPr/>
              <p:nvPr/>
            </p:nvSpPr>
            <p:spPr>
              <a:xfrm>
                <a:off x="7232650" y="27146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sp>
            <p:nvSpPr>
              <p:cNvPr id="161" name="Freeform 161"/>
              <p:cNvSpPr/>
              <p:nvPr/>
            </p:nvSpPr>
            <p:spPr>
              <a:xfrm>
                <a:off x="7232650" y="27622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82000"/>
                </a:solidFill>
              </a:ln>
            </p:spPr>
          </p:sp>
        </p:grpSp>
        <p:sp>
          <p:nvSpPr>
            <p:cNvPr id="163" name="TextBox 163"/>
            <p:cNvSpPr txBox="1"/>
            <p:nvPr/>
          </p:nvSpPr>
          <p:spPr>
            <a:xfrm>
              <a:off x="7089458" y="2945130"/>
              <a:ext cx="413385"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活动与内容</a:t>
              </a:r>
            </a:p>
          </p:txBody>
        </p:sp>
        <p:sp>
          <p:nvSpPr>
            <p:cNvPr id="164" name="Polygon 164"/>
            <p:cNvSpPr/>
            <p:nvPr/>
          </p:nvSpPr>
          <p:spPr>
            <a:xfrm>
              <a:off x="4886325" y="3295650"/>
              <a:ext cx="228600" cy="114300"/>
            </a:xfrm>
            <a:custGeom>
              <a:avLst/>
              <a:gdLst/>
              <a:ahLst/>
              <a:cxnLst/>
              <a:rect l="l" t="t" r="r" b="b"/>
              <a:pathLst>
                <a:path w="228600" h="114300">
                  <a:moveTo>
                    <a:pt x="0" y="0"/>
                  </a:moveTo>
                  <a:lnTo>
                    <a:pt x="228600" y="0"/>
                  </a:lnTo>
                  <a:lnTo>
                    <a:pt x="114300" y="114300"/>
                  </a:lnTo>
                  <a:close/>
                </a:path>
              </a:pathLst>
            </a:custGeom>
            <a:solidFill>
              <a:srgbClr val="EE492C"/>
            </a:solidFill>
            <a:ln>
              <a:noFill/>
            </a:ln>
          </p:spPr>
        </p:sp>
        <p:sp>
          <p:nvSpPr>
            <p:cNvPr id="165" name="Polygon 165"/>
            <p:cNvSpPr/>
            <p:nvPr/>
          </p:nvSpPr>
          <p:spPr>
            <a:xfrm>
              <a:off x="4886325" y="3429000"/>
              <a:ext cx="228600" cy="114300"/>
            </a:xfrm>
            <a:custGeom>
              <a:avLst/>
              <a:gdLst/>
              <a:ahLst/>
              <a:cxnLst/>
              <a:rect l="l" t="t" r="r" b="b"/>
              <a:pathLst>
                <a:path w="228600" h="114300">
                  <a:moveTo>
                    <a:pt x="0" y="114300"/>
                  </a:moveTo>
                  <a:lnTo>
                    <a:pt x="228600" y="114300"/>
                  </a:lnTo>
                  <a:lnTo>
                    <a:pt x="114300" y="0"/>
                  </a:lnTo>
                  <a:close/>
                </a:path>
              </a:pathLst>
            </a:custGeom>
            <a:solidFill>
              <a:srgbClr val="F57E6A"/>
            </a:solidFill>
            <a:ln>
              <a:noFill/>
            </a:ln>
          </p:spPr>
        </p:sp>
      </p:grpSp>
      <p:grpSp>
        <p:nvGrpSpPr>
          <p:cNvPr id="246" name="model-evaluation"/>
          <p:cNvGrpSpPr/>
          <p:nvPr/>
        </p:nvGrpSpPr>
        <p:grpSpPr>
          <a:xfrm>
            <a:off x="2228850" y="3752850"/>
            <a:ext cx="5543550" cy="2952750"/>
            <a:chOff x="2228850" y="3752850"/>
            <a:chExt cx="5543550" cy="2952750"/>
          </a:xfrm>
        </p:grpSpPr>
        <p:sp>
          <p:nvSpPr>
            <p:cNvPr id="167" name="Rectangle 167"/>
            <p:cNvSpPr/>
            <p:nvPr/>
          </p:nvSpPr>
          <p:spPr>
            <a:xfrm>
              <a:off x="2228850" y="3752850"/>
              <a:ext cx="5543550" cy="228600"/>
            </a:xfrm>
            <a:prstGeom prst="roundRect">
              <a:avLst>
                <a:gd name="adj" fmla="val 12500"/>
              </a:avLst>
            </a:prstGeom>
            <a:solidFill>
              <a:srgbClr val="C41D00"/>
            </a:solidFill>
            <a:ln>
              <a:noFill/>
            </a:ln>
          </p:spPr>
        </p:sp>
        <p:sp>
          <p:nvSpPr>
            <p:cNvPr id="168" name="TextBox 168"/>
            <p:cNvSpPr txBox="1"/>
            <p:nvPr/>
          </p:nvSpPr>
          <p:spPr>
            <a:xfrm>
              <a:off x="4060704" y="3821668"/>
              <a:ext cx="187984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​模型效果评估（离线与在线联动）​</a:t>
              </a:r>
            </a:p>
          </p:txBody>
        </p:sp>
        <p:sp>
          <p:nvSpPr>
            <p:cNvPr id="169" name="Rectangle 169"/>
            <p:cNvSpPr/>
            <p:nvPr/>
          </p:nvSpPr>
          <p:spPr>
            <a:xfrm>
              <a:off x="2228850" y="3981450"/>
              <a:ext cx="5543550" cy="2724150"/>
            </a:xfrm>
            <a:prstGeom prst="rect">
              <a:avLst/>
            </a:prstGeom>
            <a:solidFill>
              <a:srgbClr val="FFFFFF"/>
            </a:solidFill>
            <a:ln w="9525">
              <a:solidFill>
                <a:srgbClr val="F0B8AE"/>
              </a:solidFill>
            </a:ln>
          </p:spPr>
        </p:sp>
        <p:sp>
          <p:nvSpPr>
            <p:cNvPr id="170" name="TextBox 170"/>
            <p:cNvSpPr txBox="1"/>
            <p:nvPr/>
          </p:nvSpPr>
          <p:spPr>
            <a:xfrm>
              <a:off x="3148644" y="4095036"/>
              <a:ext cx="884562"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​离线评估（回测）​</a:t>
              </a:r>
            </a:p>
          </p:txBody>
        </p:sp>
        <p:sp>
          <p:nvSpPr>
            <p:cNvPr id="171" name="Rectangle 171"/>
            <p:cNvSpPr/>
            <p:nvPr/>
          </p:nvSpPr>
          <p:spPr>
            <a:xfrm>
              <a:off x="2286000" y="4248150"/>
              <a:ext cx="2609850" cy="247650"/>
            </a:xfrm>
            <a:prstGeom prst="rect">
              <a:avLst/>
            </a:prstGeom>
            <a:solidFill>
              <a:srgbClr val="FEF2E6"/>
            </a:solidFill>
            <a:ln w="9525">
              <a:solidFill>
                <a:srgbClr val="F0B8AE"/>
              </a:solidFill>
            </a:ln>
          </p:spPr>
        </p:sp>
        <p:sp>
          <p:nvSpPr>
            <p:cNvPr id="172" name="TextBox 172"/>
            <p:cNvSpPr txBox="1"/>
            <p:nvPr/>
          </p:nvSpPr>
          <p:spPr>
            <a:xfrm>
              <a:off x="2614181" y="4341257"/>
              <a:ext cx="181839"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模型</a:t>
              </a:r>
            </a:p>
          </p:txBody>
        </p:sp>
        <p:sp>
          <p:nvSpPr>
            <p:cNvPr id="173" name="TextBox 173"/>
            <p:cNvSpPr txBox="1"/>
            <p:nvPr/>
          </p:nvSpPr>
          <p:spPr>
            <a:xfrm>
              <a:off x="3188033" y="4341257"/>
              <a:ext cx="272385" cy="126206"/>
            </a:xfrm>
            <a:prstGeom prst="rect">
              <a:avLst/>
            </a:prstGeom>
            <a:noFill/>
            <a:ln>
              <a:noFill/>
            </a:ln>
          </p:spPr>
          <p:txBody>
            <a:bodyPr wrap="none" lIns="0" tIns="0" rIns="0" bIns="0" anchor="t" anchorCtr="0">
              <a:spAutoFit/>
            </a:bodyPr>
            <a:lstStyle/>
            <a:p>
              <a:pPr algn="ctr"/>
              <a:r>
                <a:rPr lang="en-US" sz="640" b="1" dirty="0">
                  <a:solidFill>
                    <a:srgbClr val="4A130A"/>
                  </a:solidFill>
                  <a:latin typeface="+mn-lt"/>
                  <a:ea typeface="+mn-ea"/>
                  <a:cs typeface="+mn-cs"/>
                </a:rPr>
                <a:t>​AUC​</a:t>
              </a:r>
            </a:p>
          </p:txBody>
        </p:sp>
        <p:sp>
          <p:nvSpPr>
            <p:cNvPr id="174" name="TextBox 174"/>
            <p:cNvSpPr txBox="1"/>
            <p:nvPr/>
          </p:nvSpPr>
          <p:spPr>
            <a:xfrm>
              <a:off x="3595319" y="4341257"/>
              <a:ext cx="219813" cy="126206"/>
            </a:xfrm>
            <a:prstGeom prst="rect">
              <a:avLst/>
            </a:prstGeom>
            <a:noFill/>
            <a:ln>
              <a:noFill/>
            </a:ln>
          </p:spPr>
          <p:txBody>
            <a:bodyPr wrap="none" lIns="0" tIns="0" rIns="0" bIns="0" anchor="t" anchorCtr="0">
              <a:spAutoFit/>
            </a:bodyPr>
            <a:lstStyle/>
            <a:p>
              <a:pPr algn="ctr"/>
              <a:r>
                <a:rPr lang="en-US" sz="640" b="1" dirty="0">
                  <a:solidFill>
                    <a:srgbClr val="4A130A"/>
                  </a:solidFill>
                  <a:latin typeface="+mn-lt"/>
                  <a:ea typeface="+mn-ea"/>
                  <a:cs typeface="+mn-cs"/>
                </a:rPr>
                <a:t>​KS​</a:t>
              </a:r>
            </a:p>
          </p:txBody>
        </p:sp>
        <p:sp>
          <p:nvSpPr>
            <p:cNvPr id="175" name="TextBox 175"/>
            <p:cNvSpPr txBox="1"/>
            <p:nvPr/>
          </p:nvSpPr>
          <p:spPr>
            <a:xfrm>
              <a:off x="3881438" y="4293632"/>
              <a:ext cx="542925" cy="221456"/>
            </a:xfrm>
            <a:prstGeom prst="rect">
              <a:avLst/>
            </a:prstGeom>
            <a:noFill/>
            <a:ln>
              <a:noFill/>
            </a:ln>
          </p:spPr>
          <p:txBody>
            <a:bodyPr wrap="none" lIns="0" tIns="0" rIns="0" bIns="0" anchor="t" anchorCtr="0">
              <a:spAutoFit/>
            </a:bodyPr>
            <a:lstStyle/>
            <a:p>
              <a:pPr algn="ctr">
                <a:lnSpc>
                  <a:spcPts val="750"/>
                </a:lnSpc>
              </a:pPr>
              <a:r>
                <a:rPr lang="zh-CN" sz="640" b="1" dirty="0">
                  <a:solidFill>
                    <a:srgbClr val="4A130A"/>
                  </a:solidFill>
                  <a:latin typeface="+mn-lt"/>
                  <a:ea typeface="+mn-ea"/>
                  <a:cs typeface="+mn-cs"/>
                </a:rPr>
                <a:t>精准率</a:t>
              </a:r>
              <a:br/>
              <a:r>
                <a:rPr lang="en-US" sz="640" b="1" dirty="0">
                  <a:solidFill>
                    <a:srgbClr val="4A130A"/>
                  </a:solidFill>
                  <a:latin typeface="+mn-lt"/>
                  <a:ea typeface="+mn-ea"/>
                  <a:cs typeface="+mn-cs"/>
                </a:rPr>
                <a:t>​​@Top10%​​</a:t>
              </a:r>
            </a:p>
          </p:txBody>
        </p:sp>
        <p:sp>
          <p:nvSpPr>
            <p:cNvPr id="176" name="TextBox 176"/>
            <p:cNvSpPr txBox="1"/>
            <p:nvPr/>
          </p:nvSpPr>
          <p:spPr>
            <a:xfrm>
              <a:off x="4329748" y="4293632"/>
              <a:ext cx="598805" cy="221456"/>
            </a:xfrm>
            <a:prstGeom prst="rect">
              <a:avLst/>
            </a:prstGeom>
            <a:noFill/>
            <a:ln>
              <a:noFill/>
            </a:ln>
          </p:spPr>
          <p:txBody>
            <a:bodyPr wrap="none" lIns="0" tIns="0" rIns="0" bIns="0" anchor="t" anchorCtr="0">
              <a:spAutoFit/>
            </a:bodyPr>
            <a:lstStyle/>
            <a:p>
              <a:pPr algn="ctr">
                <a:lnSpc>
                  <a:spcPts val="750"/>
                </a:lnSpc>
              </a:pPr>
              <a:r>
                <a:rPr lang="zh-CN" sz="640" b="1" dirty="0">
                  <a:solidFill>
                    <a:srgbClr val="4A130A"/>
                  </a:solidFill>
                  <a:latin typeface="+mn-lt"/>
                  <a:ea typeface="+mn-ea"/>
                  <a:cs typeface="+mn-cs"/>
                </a:rPr>
                <a:t>预期提升率</a:t>
              </a:r>
              <a:br/>
              <a:r>
                <a:rPr lang="zh-CN" sz="640" b="1" dirty="0">
                  <a:solidFill>
                    <a:srgbClr val="4A130A"/>
                  </a:solidFill>
                  <a:latin typeface="+mn-lt"/>
                  <a:ea typeface="+mn-ea"/>
                  <a:cs typeface="+mn-cs"/>
                </a:rPr>
                <a:t>​​（Uplift）​​</a:t>
              </a:r>
            </a:p>
          </p:txBody>
        </p:sp>
        <p:sp>
          <p:nvSpPr>
            <p:cNvPr id="177" name="Rectangle 177"/>
            <p:cNvSpPr/>
            <p:nvPr/>
          </p:nvSpPr>
          <p:spPr>
            <a:xfrm>
              <a:off x="2286000" y="4495800"/>
              <a:ext cx="2609850" cy="914400"/>
            </a:xfrm>
            <a:prstGeom prst="rect">
              <a:avLst/>
            </a:prstGeom>
            <a:solidFill>
              <a:srgbClr val="FFFFFF"/>
            </a:solidFill>
            <a:ln w="9525">
              <a:solidFill>
                <a:srgbClr val="F0B8AE"/>
              </a:solidFill>
            </a:ln>
          </p:spPr>
        </p:sp>
        <p:sp>
          <p:nvSpPr>
            <p:cNvPr id="178" name="Rectangle 178"/>
            <p:cNvSpPr/>
            <p:nvPr/>
          </p:nvSpPr>
          <p:spPr>
            <a:xfrm>
              <a:off x="2286000" y="4800600"/>
              <a:ext cx="2609850" cy="304800"/>
            </a:xfrm>
            <a:prstGeom prst="rect">
              <a:avLst/>
            </a:prstGeom>
            <a:solidFill>
              <a:srgbClr val="FFF8F2"/>
            </a:solidFill>
            <a:ln>
              <a:noFill/>
            </a:ln>
          </p:spPr>
        </p:sp>
        <p:sp>
          <p:nvSpPr>
            <p:cNvPr id="179" name="TextBox 179"/>
            <p:cNvSpPr txBox="1"/>
            <p:nvPr/>
          </p:nvSpPr>
          <p:spPr>
            <a:xfrm>
              <a:off x="2394481" y="4617482"/>
              <a:ext cx="621238"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​需求预测模型​</a:t>
              </a:r>
            </a:p>
          </p:txBody>
        </p:sp>
        <p:sp>
          <p:nvSpPr>
            <p:cNvPr id="180" name="TextBox 180"/>
            <p:cNvSpPr txBox="1"/>
            <p:nvPr/>
          </p:nvSpPr>
          <p:spPr>
            <a:xfrm>
              <a:off x="3168419" y="4613434"/>
              <a:ext cx="311612"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​0.81​</a:t>
              </a:r>
            </a:p>
          </p:txBody>
        </p:sp>
        <p:sp>
          <p:nvSpPr>
            <p:cNvPr id="181" name="TextBox 181"/>
            <p:cNvSpPr txBox="1"/>
            <p:nvPr/>
          </p:nvSpPr>
          <p:spPr>
            <a:xfrm>
              <a:off x="3549419" y="4613434"/>
              <a:ext cx="311612"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​0.42​</a:t>
              </a:r>
            </a:p>
          </p:txBody>
        </p:sp>
        <p:sp>
          <p:nvSpPr>
            <p:cNvPr id="182" name="TextBox 182"/>
            <p:cNvSpPr txBox="1"/>
            <p:nvPr/>
          </p:nvSpPr>
          <p:spPr>
            <a:xfrm>
              <a:off x="3962766" y="4613434"/>
              <a:ext cx="380268"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​18.7%​</a:t>
              </a:r>
            </a:p>
          </p:txBody>
        </p:sp>
        <p:sp>
          <p:nvSpPr>
            <p:cNvPr id="183" name="TextBox 183"/>
            <p:cNvSpPr txBox="1"/>
            <p:nvPr/>
          </p:nvSpPr>
          <p:spPr>
            <a:xfrm>
              <a:off x="4439016" y="4613434"/>
              <a:ext cx="380268"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​12.3%​</a:t>
              </a:r>
            </a:p>
          </p:txBody>
        </p:sp>
        <p:sp>
          <p:nvSpPr>
            <p:cNvPr id="184" name="TextBox 184"/>
            <p:cNvSpPr txBox="1"/>
            <p:nvPr/>
          </p:nvSpPr>
          <p:spPr>
            <a:xfrm>
              <a:off x="2394481" y="4922282"/>
              <a:ext cx="621238" cy="126206"/>
            </a:xfrm>
            <a:prstGeom prst="rect">
              <a:avLst/>
            </a:prstGeom>
            <a:noFill/>
            <a:ln>
              <a:noFill/>
            </a:ln>
          </p:spPr>
          <p:txBody>
            <a:bodyPr wrap="none" lIns="0" tIns="0" rIns="0" bIns="0" anchor="t" anchorCtr="0">
              <a:spAutoFit/>
            </a:bodyPr>
            <a:lstStyle/>
            <a:p>
              <a:pPr algn="ctr"/>
              <a:r>
                <a:rPr lang="zh-CN" sz="640" dirty="0">
                  <a:solidFill>
                    <a:srgbClr val="3D3835"/>
                  </a:solidFill>
                  <a:latin typeface="+mn-lt"/>
                  <a:ea typeface="+mn-ea"/>
                  <a:cs typeface="+mn-cs"/>
                </a:rPr>
                <a:t>​行动排序模型​</a:t>
              </a:r>
            </a:p>
          </p:txBody>
        </p:sp>
        <p:sp>
          <p:nvSpPr>
            <p:cNvPr id="185" name="TextBox 185"/>
            <p:cNvSpPr txBox="1"/>
            <p:nvPr/>
          </p:nvSpPr>
          <p:spPr>
            <a:xfrm>
              <a:off x="3168419" y="4918234"/>
              <a:ext cx="311612"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​0.76​</a:t>
              </a:r>
            </a:p>
          </p:txBody>
        </p:sp>
        <p:sp>
          <p:nvSpPr>
            <p:cNvPr id="186" name="TextBox 186"/>
            <p:cNvSpPr txBox="1"/>
            <p:nvPr/>
          </p:nvSpPr>
          <p:spPr>
            <a:xfrm>
              <a:off x="3549419" y="4918234"/>
              <a:ext cx="311612"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​0.37​</a:t>
              </a:r>
            </a:p>
          </p:txBody>
        </p:sp>
        <p:sp>
          <p:nvSpPr>
            <p:cNvPr id="187" name="TextBox 187"/>
            <p:cNvSpPr txBox="1"/>
            <p:nvPr/>
          </p:nvSpPr>
          <p:spPr>
            <a:xfrm>
              <a:off x="3962766" y="4918234"/>
              <a:ext cx="380268"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​21.4%​</a:t>
              </a:r>
            </a:p>
          </p:txBody>
        </p:sp>
        <p:sp>
          <p:nvSpPr>
            <p:cNvPr id="188" name="TextBox 188"/>
            <p:cNvSpPr txBox="1"/>
            <p:nvPr/>
          </p:nvSpPr>
          <p:spPr>
            <a:xfrm>
              <a:off x="4439016" y="4918234"/>
              <a:ext cx="380268" cy="133350"/>
            </a:xfrm>
            <a:prstGeom prst="rect">
              <a:avLst/>
            </a:prstGeom>
            <a:noFill/>
            <a:ln>
              <a:noFill/>
            </a:ln>
          </p:spPr>
          <p:txBody>
            <a:bodyPr wrap="none" lIns="0" tIns="0" rIns="0" bIns="0" anchor="t" anchorCtr="0">
              <a:spAutoFit/>
            </a:bodyPr>
            <a:lstStyle/>
            <a:p>
              <a:pPr algn="ctr"/>
              <a:r>
                <a:rPr lang="zh-CN" sz="680" dirty="0">
                  <a:solidFill>
                    <a:srgbClr val="3D3835"/>
                  </a:solidFill>
                  <a:latin typeface="+mn-lt"/>
                  <a:ea typeface="+mn-ea"/>
                  <a:cs typeface="+mn-cs"/>
                </a:rPr>
                <a:t>​15.6%​</a:t>
              </a:r>
            </a:p>
          </p:txBody>
        </p:sp>
        <p:sp>
          <p:nvSpPr>
            <p:cNvPr id="189" name="TextBox 189"/>
            <p:cNvSpPr txBox="1"/>
            <p:nvPr/>
          </p:nvSpPr>
          <p:spPr>
            <a:xfrm>
              <a:off x="2349655" y="5227082"/>
              <a:ext cx="710890"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​​整体NBA策略​​</a:t>
              </a:r>
            </a:p>
          </p:txBody>
        </p:sp>
        <p:sp>
          <p:nvSpPr>
            <p:cNvPr id="190" name="TextBox 190"/>
            <p:cNvSpPr txBox="1"/>
            <p:nvPr/>
          </p:nvSpPr>
          <p:spPr>
            <a:xfrm>
              <a:off x="3243941" y="5223034"/>
              <a:ext cx="160569" cy="133350"/>
            </a:xfrm>
            <a:prstGeom prst="rect">
              <a:avLst/>
            </a:prstGeom>
            <a:noFill/>
            <a:ln>
              <a:noFill/>
            </a:ln>
          </p:spPr>
          <p:txBody>
            <a:bodyPr wrap="none" lIns="0" tIns="0" rIns="0" bIns="0" anchor="t" anchorCtr="0">
              <a:spAutoFit/>
            </a:bodyPr>
            <a:lstStyle/>
            <a:p>
              <a:pPr algn="ctr"/>
              <a:r>
                <a:rPr lang="zh-CN" sz="680" dirty="0">
                  <a:solidFill>
                    <a:srgbClr val="7A716B"/>
                  </a:solidFill>
                  <a:latin typeface="+mn-lt"/>
                  <a:ea typeface="+mn-ea"/>
                  <a:cs typeface="+mn-cs"/>
                </a:rPr>
                <a:t>​-​</a:t>
              </a:r>
            </a:p>
          </p:txBody>
        </p:sp>
        <p:sp>
          <p:nvSpPr>
            <p:cNvPr id="191" name="TextBox 191"/>
            <p:cNvSpPr txBox="1"/>
            <p:nvPr/>
          </p:nvSpPr>
          <p:spPr>
            <a:xfrm>
              <a:off x="3624941" y="5223034"/>
              <a:ext cx="160569" cy="133350"/>
            </a:xfrm>
            <a:prstGeom prst="rect">
              <a:avLst/>
            </a:prstGeom>
            <a:noFill/>
            <a:ln>
              <a:noFill/>
            </a:ln>
          </p:spPr>
          <p:txBody>
            <a:bodyPr wrap="none" lIns="0" tIns="0" rIns="0" bIns="0" anchor="t" anchorCtr="0">
              <a:spAutoFit/>
            </a:bodyPr>
            <a:lstStyle/>
            <a:p>
              <a:pPr algn="ctr"/>
              <a:r>
                <a:rPr lang="zh-CN" sz="680" dirty="0">
                  <a:solidFill>
                    <a:srgbClr val="7A716B"/>
                  </a:solidFill>
                  <a:latin typeface="+mn-lt"/>
                  <a:ea typeface="+mn-ea"/>
                  <a:cs typeface="+mn-cs"/>
                </a:rPr>
                <a:t>​-​</a:t>
              </a:r>
            </a:p>
          </p:txBody>
        </p:sp>
        <p:sp>
          <p:nvSpPr>
            <p:cNvPr id="192" name="TextBox 192"/>
            <p:cNvSpPr txBox="1"/>
            <p:nvPr/>
          </p:nvSpPr>
          <p:spPr>
            <a:xfrm>
              <a:off x="4072616" y="5223034"/>
              <a:ext cx="160569" cy="133350"/>
            </a:xfrm>
            <a:prstGeom prst="rect">
              <a:avLst/>
            </a:prstGeom>
            <a:noFill/>
            <a:ln>
              <a:noFill/>
            </a:ln>
          </p:spPr>
          <p:txBody>
            <a:bodyPr wrap="none" lIns="0" tIns="0" rIns="0" bIns="0" anchor="t" anchorCtr="0">
              <a:spAutoFit/>
            </a:bodyPr>
            <a:lstStyle/>
            <a:p>
              <a:pPr algn="ctr"/>
              <a:r>
                <a:rPr lang="zh-CN" sz="680" dirty="0">
                  <a:solidFill>
                    <a:srgbClr val="7A716B"/>
                  </a:solidFill>
                  <a:latin typeface="+mn-lt"/>
                  <a:ea typeface="+mn-ea"/>
                  <a:cs typeface="+mn-cs"/>
                </a:rPr>
                <a:t>​-​</a:t>
              </a:r>
            </a:p>
          </p:txBody>
        </p:sp>
        <p:sp>
          <p:nvSpPr>
            <p:cNvPr id="193" name="TextBox 193"/>
            <p:cNvSpPr txBox="1"/>
            <p:nvPr/>
          </p:nvSpPr>
          <p:spPr>
            <a:xfrm>
              <a:off x="4380557" y="5214938"/>
              <a:ext cx="497186" cy="147638"/>
            </a:xfrm>
            <a:prstGeom prst="rect">
              <a:avLst/>
            </a:prstGeom>
            <a:noFill/>
            <a:ln>
              <a:noFill/>
            </a:ln>
          </p:spPr>
          <p:txBody>
            <a:bodyPr wrap="none" lIns="0" tIns="0" rIns="0" bIns="0" anchor="t" anchorCtr="0">
              <a:spAutoFit/>
            </a:bodyPr>
            <a:lstStyle/>
            <a:p>
              <a:pPr algn="ctr"/>
              <a:r>
                <a:rPr lang="zh-CN" sz="750" b="1" dirty="0">
                  <a:solidFill>
                    <a:srgbClr val="C41D00"/>
                  </a:solidFill>
                  <a:latin typeface="+mn-lt"/>
                  <a:ea typeface="+mn-ea"/>
                  <a:cs typeface="+mn-cs"/>
                </a:rPr>
                <a:t>​+14.2%​</a:t>
              </a:r>
            </a:p>
          </p:txBody>
        </p:sp>
        <p:sp>
          <p:nvSpPr>
            <p:cNvPr id="194" name="Line 194"/>
            <p:cNvSpPr/>
            <p:nvPr/>
          </p:nvSpPr>
          <p:spPr>
            <a:xfrm>
              <a:off x="3143250" y="4248150"/>
              <a:ext cx="9525" cy="1162050"/>
            </a:xfrm>
            <a:custGeom>
              <a:avLst/>
              <a:gdLst/>
              <a:ahLst/>
              <a:cxnLst/>
              <a:rect l="l" t="t" r="r" b="b"/>
              <a:pathLst>
                <a:path w="9525" h="1162050">
                  <a:moveTo>
                    <a:pt x="0" y="0"/>
                  </a:moveTo>
                  <a:lnTo>
                    <a:pt x="0" y="1162050"/>
                  </a:lnTo>
                </a:path>
              </a:pathLst>
            </a:custGeom>
            <a:noFill/>
            <a:ln w="9525">
              <a:solidFill>
                <a:srgbClr val="EADBCE"/>
              </a:solidFill>
            </a:ln>
          </p:spPr>
        </p:sp>
        <p:sp>
          <p:nvSpPr>
            <p:cNvPr id="195" name="Line 195"/>
            <p:cNvSpPr/>
            <p:nvPr/>
          </p:nvSpPr>
          <p:spPr>
            <a:xfrm>
              <a:off x="3524250" y="4248150"/>
              <a:ext cx="9525" cy="1162050"/>
            </a:xfrm>
            <a:custGeom>
              <a:avLst/>
              <a:gdLst/>
              <a:ahLst/>
              <a:cxnLst/>
              <a:rect l="l" t="t" r="r" b="b"/>
              <a:pathLst>
                <a:path w="9525" h="1162050">
                  <a:moveTo>
                    <a:pt x="0" y="0"/>
                  </a:moveTo>
                  <a:lnTo>
                    <a:pt x="0" y="1162050"/>
                  </a:lnTo>
                </a:path>
              </a:pathLst>
            </a:custGeom>
            <a:noFill/>
            <a:ln w="9525">
              <a:solidFill>
                <a:srgbClr val="EADBCE"/>
              </a:solidFill>
            </a:ln>
          </p:spPr>
        </p:sp>
        <p:sp>
          <p:nvSpPr>
            <p:cNvPr id="196" name="Line 196"/>
            <p:cNvSpPr/>
            <p:nvPr/>
          </p:nvSpPr>
          <p:spPr>
            <a:xfrm>
              <a:off x="3905250" y="4248150"/>
              <a:ext cx="9525" cy="1162050"/>
            </a:xfrm>
            <a:custGeom>
              <a:avLst/>
              <a:gdLst/>
              <a:ahLst/>
              <a:cxnLst/>
              <a:rect l="l" t="t" r="r" b="b"/>
              <a:pathLst>
                <a:path w="9525" h="1162050">
                  <a:moveTo>
                    <a:pt x="0" y="0"/>
                  </a:moveTo>
                  <a:lnTo>
                    <a:pt x="0" y="1162050"/>
                  </a:lnTo>
                </a:path>
              </a:pathLst>
            </a:custGeom>
            <a:noFill/>
            <a:ln w="9525">
              <a:solidFill>
                <a:srgbClr val="EADBCE"/>
              </a:solidFill>
            </a:ln>
          </p:spPr>
        </p:sp>
        <p:sp>
          <p:nvSpPr>
            <p:cNvPr id="197" name="Line 197"/>
            <p:cNvSpPr/>
            <p:nvPr/>
          </p:nvSpPr>
          <p:spPr>
            <a:xfrm>
              <a:off x="4400550" y="4248150"/>
              <a:ext cx="9525" cy="1162050"/>
            </a:xfrm>
            <a:custGeom>
              <a:avLst/>
              <a:gdLst/>
              <a:ahLst/>
              <a:cxnLst/>
              <a:rect l="l" t="t" r="r" b="b"/>
              <a:pathLst>
                <a:path w="9525" h="1162050">
                  <a:moveTo>
                    <a:pt x="0" y="0"/>
                  </a:moveTo>
                  <a:lnTo>
                    <a:pt x="0" y="1162050"/>
                  </a:lnTo>
                </a:path>
              </a:pathLst>
            </a:custGeom>
            <a:noFill/>
            <a:ln w="9525">
              <a:solidFill>
                <a:srgbClr val="EADBCE"/>
              </a:solidFill>
            </a:ln>
          </p:spPr>
        </p:sp>
        <p:sp>
          <p:nvSpPr>
            <p:cNvPr id="198" name="Line 198"/>
            <p:cNvSpPr/>
            <p:nvPr/>
          </p:nvSpPr>
          <p:spPr>
            <a:xfrm>
              <a:off x="2286000" y="4800600"/>
              <a:ext cx="2609850" cy="9525"/>
            </a:xfrm>
            <a:custGeom>
              <a:avLst/>
              <a:gdLst/>
              <a:ahLst/>
              <a:cxnLst/>
              <a:rect l="l" t="t" r="r" b="b"/>
              <a:pathLst>
                <a:path w="2609850" h="9525">
                  <a:moveTo>
                    <a:pt x="0" y="0"/>
                  </a:moveTo>
                  <a:lnTo>
                    <a:pt x="2609850" y="0"/>
                  </a:lnTo>
                </a:path>
              </a:pathLst>
            </a:custGeom>
            <a:noFill/>
            <a:ln w="9525">
              <a:solidFill>
                <a:srgbClr val="EADBCE"/>
              </a:solidFill>
            </a:ln>
          </p:spPr>
        </p:sp>
        <p:sp>
          <p:nvSpPr>
            <p:cNvPr id="199" name="Line 199"/>
            <p:cNvSpPr/>
            <p:nvPr/>
          </p:nvSpPr>
          <p:spPr>
            <a:xfrm>
              <a:off x="2286000" y="5105400"/>
              <a:ext cx="2609850" cy="9525"/>
            </a:xfrm>
            <a:custGeom>
              <a:avLst/>
              <a:gdLst/>
              <a:ahLst/>
              <a:cxnLst/>
              <a:rect l="l" t="t" r="r" b="b"/>
              <a:pathLst>
                <a:path w="2609850" h="9525">
                  <a:moveTo>
                    <a:pt x="0" y="0"/>
                  </a:moveTo>
                  <a:lnTo>
                    <a:pt x="2609850" y="0"/>
                  </a:lnTo>
                </a:path>
              </a:pathLst>
            </a:custGeom>
            <a:noFill/>
            <a:ln w="9525">
              <a:solidFill>
                <a:srgbClr val="EADBCE"/>
              </a:solidFill>
            </a:ln>
          </p:spPr>
        </p:sp>
        <p:sp>
          <p:nvSpPr>
            <p:cNvPr id="200" name="TextBox 200"/>
            <p:cNvSpPr txBox="1"/>
            <p:nvPr/>
          </p:nvSpPr>
          <p:spPr>
            <a:xfrm>
              <a:off x="5601365" y="4095036"/>
              <a:ext cx="1598870" cy="140494"/>
            </a:xfrm>
            <a:prstGeom prst="rect">
              <a:avLst/>
            </a:prstGeom>
            <a:noFill/>
            <a:ln>
              <a:noFill/>
            </a:ln>
          </p:spPr>
          <p:txBody>
            <a:bodyPr wrap="none" lIns="0" tIns="0" rIns="0" bIns="0" anchor="t" anchorCtr="0">
              <a:spAutoFit/>
            </a:bodyPr>
            <a:lstStyle/>
            <a:p>
              <a:pPr algn="ctr"/>
              <a:r>
                <a:rPr lang="zh-CN" sz="710" b="1" dirty="0">
                  <a:solidFill>
                    <a:srgbClr val="C41D00"/>
                  </a:solidFill>
                  <a:latin typeface="+mn-lt"/>
                  <a:ea typeface="+mn-ea"/>
                  <a:cs typeface="+mn-cs"/>
                </a:rPr>
                <a:t>​​在线评估（A/B 测试，近30天）​​</a:t>
              </a:r>
            </a:p>
          </p:txBody>
        </p:sp>
        <p:sp>
          <p:nvSpPr>
            <p:cNvPr id="201" name="Rectangle 201"/>
            <p:cNvSpPr/>
            <p:nvPr/>
          </p:nvSpPr>
          <p:spPr>
            <a:xfrm>
              <a:off x="5029200" y="4248150"/>
              <a:ext cx="2686050" cy="247650"/>
            </a:xfrm>
            <a:prstGeom prst="rect">
              <a:avLst/>
            </a:prstGeom>
            <a:solidFill>
              <a:srgbClr val="FEF2E6"/>
            </a:solidFill>
            <a:ln w="9525">
              <a:solidFill>
                <a:srgbClr val="F0B8AE"/>
              </a:solidFill>
            </a:ln>
          </p:spPr>
        </p:sp>
        <p:sp>
          <p:nvSpPr>
            <p:cNvPr id="202" name="TextBox 202"/>
            <p:cNvSpPr txBox="1"/>
            <p:nvPr/>
          </p:nvSpPr>
          <p:spPr>
            <a:xfrm>
              <a:off x="5148644" y="4345305"/>
              <a:ext cx="332613"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触达人次</a:t>
              </a:r>
            </a:p>
          </p:txBody>
        </p:sp>
        <p:sp>
          <p:nvSpPr>
            <p:cNvPr id="203" name="TextBox 203"/>
            <p:cNvSpPr txBox="1"/>
            <p:nvPr/>
          </p:nvSpPr>
          <p:spPr>
            <a:xfrm>
              <a:off x="5641658" y="4345305"/>
              <a:ext cx="413385"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转化客户数</a:t>
              </a:r>
            </a:p>
          </p:txBody>
        </p:sp>
        <p:sp>
          <p:nvSpPr>
            <p:cNvPr id="204" name="TextBox 204"/>
            <p:cNvSpPr txBox="1"/>
            <p:nvPr/>
          </p:nvSpPr>
          <p:spPr>
            <a:xfrm>
              <a:off x="6160580" y="4345305"/>
              <a:ext cx="251841"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转化率</a:t>
              </a:r>
            </a:p>
          </p:txBody>
        </p:sp>
        <p:sp>
          <p:nvSpPr>
            <p:cNvPr id="205" name="TextBox 205"/>
            <p:cNvSpPr txBox="1"/>
            <p:nvPr/>
          </p:nvSpPr>
          <p:spPr>
            <a:xfrm>
              <a:off x="6410325" y="4297680"/>
              <a:ext cx="590550"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4A130A"/>
                  </a:solidFill>
                  <a:latin typeface="+mn-lt"/>
                  <a:ea typeface="+mn-ea"/>
                  <a:cs typeface="+mn-cs"/>
                </a:rPr>
                <a:t>相对提升</a:t>
              </a:r>
              <a:br/>
              <a:r>
                <a:rPr lang="zh-CN" sz="600" b="1" dirty="0">
                  <a:solidFill>
                    <a:srgbClr val="4A130A"/>
                  </a:solidFill>
                  <a:latin typeface="+mn-lt"/>
                  <a:ea typeface="+mn-ea"/>
                  <a:cs typeface="+mn-cs"/>
                </a:rPr>
                <a:t>​（vs 对照组）​</a:t>
              </a:r>
            </a:p>
          </p:txBody>
        </p:sp>
        <p:sp>
          <p:nvSpPr>
            <p:cNvPr id="206" name="TextBox 206"/>
            <p:cNvSpPr txBox="1"/>
            <p:nvPr/>
          </p:nvSpPr>
          <p:spPr>
            <a:xfrm>
              <a:off x="6948488" y="4297680"/>
              <a:ext cx="390525"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4A130A"/>
                  </a:solidFill>
                  <a:latin typeface="+mn-lt"/>
                  <a:ea typeface="+mn-ea"/>
                  <a:cs typeface="+mn-cs"/>
                </a:rPr>
                <a:t>单位触达</a:t>
              </a:r>
              <a:br/>
              <a:r>
                <a:rPr lang="zh-CN" sz="600" b="1" dirty="0">
                  <a:solidFill>
                    <a:srgbClr val="4A130A"/>
                  </a:solidFill>
                  <a:latin typeface="+mn-lt"/>
                  <a:ea typeface="+mn-ea"/>
                  <a:cs typeface="+mn-cs"/>
                </a:rPr>
                <a:t>成本（元）</a:t>
              </a:r>
            </a:p>
          </p:txBody>
        </p:sp>
        <p:sp>
          <p:nvSpPr>
            <p:cNvPr id="207" name="TextBox 207"/>
            <p:cNvSpPr txBox="1"/>
            <p:nvPr/>
          </p:nvSpPr>
          <p:spPr>
            <a:xfrm>
              <a:off x="7405688" y="4297680"/>
              <a:ext cx="314325"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4A130A"/>
                  </a:solidFill>
                  <a:latin typeface="+mn-lt"/>
                  <a:ea typeface="+mn-ea"/>
                  <a:cs typeface="+mn-cs"/>
                </a:rPr>
                <a:t>净增收入</a:t>
              </a:r>
              <a:br/>
              <a:r>
                <a:rPr lang="zh-CN" sz="600" b="1" dirty="0">
                  <a:solidFill>
                    <a:srgbClr val="4A130A"/>
                  </a:solidFill>
                  <a:latin typeface="+mn-lt"/>
                  <a:ea typeface="+mn-ea"/>
                  <a:cs typeface="+mn-cs"/>
                </a:rPr>
                <a:t>（万元）</a:t>
              </a:r>
            </a:p>
          </p:txBody>
        </p:sp>
        <p:sp>
          <p:nvSpPr>
            <p:cNvPr id="208" name="Rectangle 208"/>
            <p:cNvSpPr/>
            <p:nvPr/>
          </p:nvSpPr>
          <p:spPr>
            <a:xfrm>
              <a:off x="5029200" y="4495800"/>
              <a:ext cx="2686050" cy="914400"/>
            </a:xfrm>
            <a:prstGeom prst="rect">
              <a:avLst/>
            </a:prstGeom>
            <a:solidFill>
              <a:srgbClr val="FFFFFF"/>
            </a:solidFill>
            <a:ln w="9525">
              <a:solidFill>
                <a:srgbClr val="F0B8AE"/>
              </a:solidFill>
            </a:ln>
          </p:spPr>
        </p:sp>
        <p:grpSp>
          <p:nvGrpSpPr>
            <p:cNvPr id="213" name="Group 213"/>
            <p:cNvGrpSpPr/>
            <p:nvPr/>
          </p:nvGrpSpPr>
          <p:grpSpPr>
            <a:xfrm>
              <a:off x="5243512" y="4633912"/>
              <a:ext cx="142875" cy="142875"/>
              <a:chOff x="5243512" y="4633912"/>
              <a:chExt cx="142875" cy="142875"/>
            </a:xfrm>
          </p:grpSpPr>
          <p:sp>
            <p:nvSpPr>
              <p:cNvPr id="209" name="Freeform 209"/>
              <p:cNvSpPr/>
              <p:nvPr/>
            </p:nvSpPr>
            <p:spPr>
              <a:xfrm>
                <a:off x="5259387" y="46339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EE492C"/>
                </a:solidFill>
              </a:ln>
            </p:spPr>
          </p:sp>
          <p:sp>
            <p:nvSpPr>
              <p:cNvPr id="210" name="Freeform 210"/>
              <p:cNvSpPr/>
              <p:nvPr/>
            </p:nvSpPr>
            <p:spPr>
              <a:xfrm>
                <a:off x="5243512" y="47291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EE492C"/>
                </a:solidFill>
              </a:ln>
            </p:spPr>
          </p:sp>
          <p:sp>
            <p:nvSpPr>
              <p:cNvPr id="211" name="Freeform 211"/>
              <p:cNvSpPr/>
              <p:nvPr/>
            </p:nvSpPr>
            <p:spPr>
              <a:xfrm>
                <a:off x="5346700" y="46349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EE492C"/>
                </a:solidFill>
              </a:ln>
            </p:spPr>
          </p:sp>
          <p:sp>
            <p:nvSpPr>
              <p:cNvPr id="212" name="Freeform 212"/>
              <p:cNvSpPr/>
              <p:nvPr/>
            </p:nvSpPr>
            <p:spPr>
              <a:xfrm>
                <a:off x="5362575" y="47303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EE492C"/>
                </a:solidFill>
              </a:ln>
            </p:spPr>
          </p:sp>
        </p:grpSp>
        <p:grpSp>
          <p:nvGrpSpPr>
            <p:cNvPr id="217" name="Group 217"/>
            <p:cNvGrpSpPr/>
            <p:nvPr/>
          </p:nvGrpSpPr>
          <p:grpSpPr>
            <a:xfrm>
              <a:off x="5800725" y="4633912"/>
              <a:ext cx="119062" cy="142875"/>
              <a:chOff x="5800725" y="4633912"/>
              <a:chExt cx="119062" cy="142875"/>
            </a:xfrm>
          </p:grpSpPr>
          <p:sp>
            <p:nvSpPr>
              <p:cNvPr id="214" name="Freeform 214"/>
              <p:cNvSpPr/>
              <p:nvPr/>
            </p:nvSpPr>
            <p:spPr>
              <a:xfrm>
                <a:off x="5816600" y="46339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EE492C"/>
                </a:solidFill>
              </a:ln>
            </p:spPr>
          </p:sp>
          <p:sp>
            <p:nvSpPr>
              <p:cNvPr id="215" name="Freeform 215"/>
              <p:cNvSpPr/>
              <p:nvPr/>
            </p:nvSpPr>
            <p:spPr>
              <a:xfrm>
                <a:off x="5800725" y="47291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EE492C"/>
                </a:solidFill>
              </a:ln>
            </p:spPr>
          </p:sp>
          <p:sp>
            <p:nvSpPr>
              <p:cNvPr id="216" name="Freeform 216"/>
              <p:cNvSpPr/>
              <p:nvPr/>
            </p:nvSpPr>
            <p:spPr>
              <a:xfrm>
                <a:off x="5872162" y="4745037"/>
                <a:ext cx="47625" cy="31750"/>
              </a:xfrm>
              <a:custGeom>
                <a:avLst/>
                <a:gdLst/>
                <a:ahLst/>
                <a:cxnLst/>
                <a:rect l="l" t="t" r="r" b="b"/>
                <a:pathLst>
                  <a:path w="47625" h="31750">
                    <a:moveTo>
                      <a:pt x="0" y="15875"/>
                    </a:moveTo>
                    <a:lnTo>
                      <a:pt x="15875" y="31750"/>
                    </a:lnTo>
                    <a:lnTo>
                      <a:pt x="47625" y="0"/>
                    </a:lnTo>
                  </a:path>
                </a:pathLst>
              </a:custGeom>
              <a:noFill/>
              <a:ln w="15875">
                <a:solidFill>
                  <a:srgbClr val="EE492C"/>
                </a:solidFill>
              </a:ln>
            </p:spPr>
          </p:sp>
        </p:grpSp>
        <p:grpSp>
          <p:nvGrpSpPr>
            <p:cNvPr id="220" name="Group 220"/>
            <p:cNvGrpSpPr/>
            <p:nvPr/>
          </p:nvGrpSpPr>
          <p:grpSpPr>
            <a:xfrm>
              <a:off x="6223000" y="4657725"/>
              <a:ext cx="127000" cy="112712"/>
              <a:chOff x="6223000" y="4657725"/>
              <a:chExt cx="127000" cy="112712"/>
            </a:xfrm>
          </p:grpSpPr>
          <p:sp>
            <p:nvSpPr>
              <p:cNvPr id="218" name="Freeform 218"/>
              <p:cNvSpPr/>
              <p:nvPr/>
            </p:nvSpPr>
            <p:spPr>
              <a:xfrm>
                <a:off x="6223000" y="4760912"/>
                <a:ext cx="127000" cy="9525"/>
              </a:xfrm>
              <a:custGeom>
                <a:avLst/>
                <a:gdLst/>
                <a:ahLst/>
                <a:cxnLst/>
                <a:rect l="l" t="t" r="r" b="b"/>
                <a:pathLst>
                  <a:path w="127000" h="9525">
                    <a:moveTo>
                      <a:pt x="0" y="0"/>
                    </a:moveTo>
                    <a:lnTo>
                      <a:pt x="127000" y="0"/>
                    </a:lnTo>
                  </a:path>
                </a:pathLst>
              </a:custGeom>
              <a:noFill/>
              <a:ln w="15875">
                <a:solidFill>
                  <a:srgbClr val="EE492C"/>
                </a:solidFill>
              </a:ln>
            </p:spPr>
          </p:sp>
          <p:sp>
            <p:nvSpPr>
              <p:cNvPr id="219" name="Freeform 219"/>
              <p:cNvSpPr/>
              <p:nvPr/>
            </p:nvSpPr>
            <p:spPr>
              <a:xfrm>
                <a:off x="6223000" y="465772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EE492C"/>
                </a:solidFill>
              </a:ln>
            </p:spPr>
          </p:sp>
        </p:grpSp>
        <p:grpSp>
          <p:nvGrpSpPr>
            <p:cNvPr id="223" name="Group 223"/>
            <p:cNvGrpSpPr/>
            <p:nvPr/>
          </p:nvGrpSpPr>
          <p:grpSpPr>
            <a:xfrm>
              <a:off x="6634162" y="4665662"/>
              <a:ext cx="142875" cy="79375"/>
              <a:chOff x="6634162" y="4665662"/>
              <a:chExt cx="142875" cy="79375"/>
            </a:xfrm>
          </p:grpSpPr>
          <p:sp>
            <p:nvSpPr>
              <p:cNvPr id="221" name="Freeform 221"/>
              <p:cNvSpPr/>
              <p:nvPr/>
            </p:nvSpPr>
            <p:spPr>
              <a:xfrm>
                <a:off x="6634162" y="466566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EE492C"/>
                </a:solidFill>
              </a:ln>
            </p:spPr>
          </p:sp>
          <p:sp>
            <p:nvSpPr>
              <p:cNvPr id="222" name="Freeform 222"/>
              <p:cNvSpPr/>
              <p:nvPr/>
            </p:nvSpPr>
            <p:spPr>
              <a:xfrm>
                <a:off x="6721475" y="4665662"/>
                <a:ext cx="55562" cy="55562"/>
              </a:xfrm>
              <a:custGeom>
                <a:avLst/>
                <a:gdLst/>
                <a:ahLst/>
                <a:cxnLst/>
                <a:rect l="l" t="t" r="r" b="b"/>
                <a:pathLst>
                  <a:path w="55562" h="55562">
                    <a:moveTo>
                      <a:pt x="0" y="0"/>
                    </a:moveTo>
                    <a:lnTo>
                      <a:pt x="55562" y="0"/>
                    </a:lnTo>
                    <a:lnTo>
                      <a:pt x="55562" y="55562"/>
                    </a:lnTo>
                  </a:path>
                </a:pathLst>
              </a:custGeom>
              <a:noFill/>
              <a:ln w="15875">
                <a:solidFill>
                  <a:srgbClr val="EE492C"/>
                </a:solidFill>
              </a:ln>
            </p:spPr>
          </p:sp>
        </p:grpSp>
        <p:grpSp>
          <p:nvGrpSpPr>
            <p:cNvPr id="229" name="Group 229"/>
            <p:cNvGrpSpPr/>
            <p:nvPr/>
          </p:nvGrpSpPr>
          <p:grpSpPr>
            <a:xfrm>
              <a:off x="7072312" y="4632849"/>
              <a:ext cx="142875" cy="143938"/>
              <a:chOff x="7072312" y="4632849"/>
              <a:chExt cx="142875" cy="143938"/>
            </a:xfrm>
          </p:grpSpPr>
          <p:sp>
            <p:nvSpPr>
              <p:cNvPr id="224" name="Freeform 224"/>
              <p:cNvSpPr/>
              <p:nvPr/>
            </p:nvSpPr>
            <p:spPr>
              <a:xfrm>
                <a:off x="7119937" y="469741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EE492C"/>
                </a:solidFill>
              </a:ln>
            </p:spPr>
          </p:sp>
          <p:sp>
            <p:nvSpPr>
              <p:cNvPr id="225" name="Freeform 225"/>
              <p:cNvSpPr/>
              <p:nvPr/>
            </p:nvSpPr>
            <p:spPr>
              <a:xfrm>
                <a:off x="7119937" y="472122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EE492C"/>
                </a:solidFill>
              </a:ln>
            </p:spPr>
          </p:sp>
          <p:sp>
            <p:nvSpPr>
              <p:cNvPr id="226" name="Freeform 226"/>
              <p:cNvSpPr/>
              <p:nvPr/>
            </p:nvSpPr>
            <p:spPr>
              <a:xfrm>
                <a:off x="7072312" y="463284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EE492C"/>
                </a:solidFill>
              </a:ln>
            </p:spPr>
          </p:sp>
          <p:sp>
            <p:nvSpPr>
              <p:cNvPr id="227" name="Freeform 227"/>
              <p:cNvSpPr/>
              <p:nvPr/>
            </p:nvSpPr>
            <p:spPr>
              <a:xfrm>
                <a:off x="7072312" y="465772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EE492C"/>
                </a:solidFill>
              </a:ln>
            </p:spPr>
          </p:sp>
          <p:sp>
            <p:nvSpPr>
              <p:cNvPr id="228" name="Freeform 228"/>
              <p:cNvSpPr/>
              <p:nvPr/>
            </p:nvSpPr>
            <p:spPr>
              <a:xfrm>
                <a:off x="7072312" y="469741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EE492C"/>
                </a:solidFill>
              </a:ln>
            </p:spPr>
          </p:sp>
        </p:grpSp>
        <p:grpSp>
          <p:nvGrpSpPr>
            <p:cNvPr id="233" name="Group 233"/>
            <p:cNvGrpSpPr/>
            <p:nvPr/>
          </p:nvGrpSpPr>
          <p:grpSpPr>
            <a:xfrm>
              <a:off x="7491412" y="4649787"/>
              <a:ext cx="142875" cy="111125"/>
              <a:chOff x="7491412" y="4649787"/>
              <a:chExt cx="142875" cy="111125"/>
            </a:xfrm>
          </p:grpSpPr>
          <p:sp>
            <p:nvSpPr>
              <p:cNvPr id="230" name="Freeform 230"/>
              <p:cNvSpPr/>
              <p:nvPr/>
            </p:nvSpPr>
            <p:spPr>
              <a:xfrm>
                <a:off x="7491412" y="4649787"/>
                <a:ext cx="111125" cy="79375"/>
              </a:xfrm>
              <a:custGeom>
                <a:avLst/>
                <a:gdLst/>
                <a:ahLst/>
                <a:cxnLst/>
                <a:rect l="l" t="t" r="r" b="b"/>
                <a:pathLst>
                  <a:path w="111125" h="79375">
                    <a:moveTo>
                      <a:pt x="31750" y="79375"/>
                    </a:moveTo>
                    <a:lnTo>
                      <a:pt x="7937" y="79375"/>
                    </a:lnTo>
                    <a:cubicBezTo>
                      <a:pt x="3554" y="79375"/>
                      <a:pt x="0" y="75821"/>
                      <a:pt x="0" y="71437"/>
                    </a:cubicBezTo>
                    <a:lnTo>
                      <a:pt x="0" y="7937"/>
                    </a:lnTo>
                    <a:cubicBezTo>
                      <a:pt x="0" y="3554"/>
                      <a:pt x="3554" y="0"/>
                      <a:pt x="7937" y="0"/>
                    </a:cubicBezTo>
                    <a:lnTo>
                      <a:pt x="103187" y="0"/>
                    </a:lnTo>
                    <a:cubicBezTo>
                      <a:pt x="107571" y="0"/>
                      <a:pt x="111125" y="3554"/>
                      <a:pt x="111125" y="7937"/>
                    </a:cubicBezTo>
                    <a:lnTo>
                      <a:pt x="111125" y="31750"/>
                    </a:lnTo>
                  </a:path>
                </a:pathLst>
              </a:custGeom>
              <a:noFill/>
              <a:ln w="15875">
                <a:solidFill>
                  <a:srgbClr val="EE492C"/>
                </a:solidFill>
              </a:ln>
            </p:spPr>
          </p:sp>
          <p:sp>
            <p:nvSpPr>
              <p:cNvPr id="231" name="Freeform 231"/>
              <p:cNvSpPr/>
              <p:nvPr/>
            </p:nvSpPr>
            <p:spPr>
              <a:xfrm>
                <a:off x="7523162" y="4681537"/>
                <a:ext cx="111125" cy="79375"/>
              </a:xfrm>
              <a:custGeom>
                <a:avLst/>
                <a:gdLst/>
                <a:ahLst/>
                <a:cxnLst/>
                <a:rect l="l" t="t" r="r" b="b"/>
                <a:pathLst>
                  <a:path w="111125" h="79375">
                    <a:moveTo>
                      <a:pt x="0" y="7937"/>
                    </a:moveTo>
                    <a:cubicBezTo>
                      <a:pt x="0" y="3554"/>
                      <a:pt x="3554" y="0"/>
                      <a:pt x="7937" y="0"/>
                    </a:cubicBezTo>
                    <a:lnTo>
                      <a:pt x="103187" y="0"/>
                    </a:lnTo>
                    <a:cubicBezTo>
                      <a:pt x="107571" y="0"/>
                      <a:pt x="111125" y="3554"/>
                      <a:pt x="111125" y="7937"/>
                    </a:cubicBezTo>
                    <a:lnTo>
                      <a:pt x="111125" y="71437"/>
                    </a:lnTo>
                    <a:cubicBezTo>
                      <a:pt x="111125" y="75821"/>
                      <a:pt x="107571" y="79375"/>
                      <a:pt x="103187" y="79375"/>
                    </a:cubicBezTo>
                    <a:lnTo>
                      <a:pt x="7937" y="79375"/>
                    </a:lnTo>
                    <a:cubicBezTo>
                      <a:pt x="3554" y="79375"/>
                      <a:pt x="0" y="75821"/>
                      <a:pt x="0" y="71437"/>
                    </a:cubicBezTo>
                    <a:lnTo>
                      <a:pt x="0" y="7937"/>
                    </a:lnTo>
                  </a:path>
                </a:pathLst>
              </a:custGeom>
              <a:noFill/>
              <a:ln w="15875">
                <a:solidFill>
                  <a:srgbClr val="EE492C"/>
                </a:solidFill>
              </a:ln>
            </p:spPr>
          </p:sp>
          <p:sp>
            <p:nvSpPr>
              <p:cNvPr id="232" name="Freeform 232"/>
              <p:cNvSpPr/>
              <p:nvPr/>
            </p:nvSpPr>
            <p:spPr>
              <a:xfrm>
                <a:off x="7562850" y="470535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E492C"/>
                </a:solidFill>
              </a:ln>
            </p:spPr>
          </p:sp>
        </p:grpSp>
        <p:sp>
          <p:nvSpPr>
            <p:cNvPr id="234" name="TextBox 234"/>
            <p:cNvSpPr txBox="1"/>
            <p:nvPr/>
          </p:nvSpPr>
          <p:spPr>
            <a:xfrm>
              <a:off x="4931190" y="5119688"/>
              <a:ext cx="767520"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​​2,358,642​​</a:t>
              </a:r>
            </a:p>
          </p:txBody>
        </p:sp>
        <p:sp>
          <p:nvSpPr>
            <p:cNvPr id="235" name="TextBox 235"/>
            <p:cNvSpPr txBox="1"/>
            <p:nvPr/>
          </p:nvSpPr>
          <p:spPr>
            <a:xfrm>
              <a:off x="5610358" y="5119688"/>
              <a:ext cx="475983"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​64,318​</a:t>
              </a:r>
            </a:p>
          </p:txBody>
        </p:sp>
        <p:sp>
          <p:nvSpPr>
            <p:cNvPr id="236" name="TextBox 236"/>
            <p:cNvSpPr txBox="1"/>
            <p:nvPr/>
          </p:nvSpPr>
          <p:spPr>
            <a:xfrm>
              <a:off x="6067061" y="5119688"/>
              <a:ext cx="438879"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​2.73%​</a:t>
              </a:r>
            </a:p>
          </p:txBody>
        </p:sp>
        <p:sp>
          <p:nvSpPr>
            <p:cNvPr id="237" name="TextBox 237"/>
            <p:cNvSpPr txBox="1"/>
            <p:nvPr/>
          </p:nvSpPr>
          <p:spPr>
            <a:xfrm>
              <a:off x="6457007" y="5119688"/>
              <a:ext cx="497186" cy="147638"/>
            </a:xfrm>
            <a:prstGeom prst="rect">
              <a:avLst/>
            </a:prstGeom>
            <a:noFill/>
            <a:ln>
              <a:noFill/>
            </a:ln>
          </p:spPr>
          <p:txBody>
            <a:bodyPr wrap="none" lIns="0" tIns="0" rIns="0" bIns="0" anchor="t" anchorCtr="0">
              <a:spAutoFit/>
            </a:bodyPr>
            <a:lstStyle/>
            <a:p>
              <a:pPr algn="ctr"/>
              <a:r>
                <a:rPr lang="zh-CN" sz="750" b="1" dirty="0">
                  <a:solidFill>
                    <a:srgbClr val="C41D00"/>
                  </a:solidFill>
                  <a:latin typeface="+mn-lt"/>
                  <a:ea typeface="+mn-ea"/>
                  <a:cs typeface="+mn-cs"/>
                </a:rPr>
                <a:t>​+14.6%​</a:t>
              </a:r>
            </a:p>
          </p:txBody>
        </p:sp>
        <p:sp>
          <p:nvSpPr>
            <p:cNvPr id="238" name="TextBox 238"/>
            <p:cNvSpPr txBox="1"/>
            <p:nvPr/>
          </p:nvSpPr>
          <p:spPr>
            <a:xfrm>
              <a:off x="6964066" y="5119688"/>
              <a:ext cx="359369"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​0.87​</a:t>
              </a:r>
            </a:p>
          </p:txBody>
        </p:sp>
        <p:sp>
          <p:nvSpPr>
            <p:cNvPr id="239" name="TextBox 239"/>
            <p:cNvSpPr txBox="1"/>
            <p:nvPr/>
          </p:nvSpPr>
          <p:spPr>
            <a:xfrm>
              <a:off x="7354012" y="5119688"/>
              <a:ext cx="417676"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​1,842​</a:t>
              </a:r>
            </a:p>
          </p:txBody>
        </p:sp>
        <p:sp>
          <p:nvSpPr>
            <p:cNvPr id="240" name="Line 240"/>
            <p:cNvSpPr/>
            <p:nvPr/>
          </p:nvSpPr>
          <p:spPr>
            <a:xfrm>
              <a:off x="5600700" y="4248150"/>
              <a:ext cx="9525" cy="1162050"/>
            </a:xfrm>
            <a:custGeom>
              <a:avLst/>
              <a:gdLst/>
              <a:ahLst/>
              <a:cxnLst/>
              <a:rect l="l" t="t" r="r" b="b"/>
              <a:pathLst>
                <a:path w="9525" h="1162050">
                  <a:moveTo>
                    <a:pt x="0" y="0"/>
                  </a:moveTo>
                  <a:lnTo>
                    <a:pt x="0" y="1162050"/>
                  </a:lnTo>
                </a:path>
              </a:pathLst>
            </a:custGeom>
            <a:noFill/>
            <a:ln w="9525">
              <a:solidFill>
                <a:srgbClr val="EADBCE"/>
              </a:solidFill>
            </a:ln>
          </p:spPr>
        </p:sp>
        <p:sp>
          <p:nvSpPr>
            <p:cNvPr id="241" name="Line 241"/>
            <p:cNvSpPr/>
            <p:nvPr/>
          </p:nvSpPr>
          <p:spPr>
            <a:xfrm>
              <a:off x="6096000" y="4248150"/>
              <a:ext cx="9525" cy="1162050"/>
            </a:xfrm>
            <a:custGeom>
              <a:avLst/>
              <a:gdLst/>
              <a:ahLst/>
              <a:cxnLst/>
              <a:rect l="l" t="t" r="r" b="b"/>
              <a:pathLst>
                <a:path w="9525" h="1162050">
                  <a:moveTo>
                    <a:pt x="0" y="0"/>
                  </a:moveTo>
                  <a:lnTo>
                    <a:pt x="0" y="1162050"/>
                  </a:lnTo>
                </a:path>
              </a:pathLst>
            </a:custGeom>
            <a:noFill/>
            <a:ln w="9525">
              <a:solidFill>
                <a:srgbClr val="EADBCE"/>
              </a:solidFill>
            </a:ln>
          </p:spPr>
        </p:sp>
        <p:sp>
          <p:nvSpPr>
            <p:cNvPr id="242" name="Line 242"/>
            <p:cNvSpPr/>
            <p:nvPr/>
          </p:nvSpPr>
          <p:spPr>
            <a:xfrm>
              <a:off x="6477000" y="4248150"/>
              <a:ext cx="9525" cy="1162050"/>
            </a:xfrm>
            <a:custGeom>
              <a:avLst/>
              <a:gdLst/>
              <a:ahLst/>
              <a:cxnLst/>
              <a:rect l="l" t="t" r="r" b="b"/>
              <a:pathLst>
                <a:path w="9525" h="1162050">
                  <a:moveTo>
                    <a:pt x="0" y="0"/>
                  </a:moveTo>
                  <a:lnTo>
                    <a:pt x="0" y="1162050"/>
                  </a:lnTo>
                </a:path>
              </a:pathLst>
            </a:custGeom>
            <a:noFill/>
            <a:ln w="9525">
              <a:solidFill>
                <a:srgbClr val="EADBCE"/>
              </a:solidFill>
            </a:ln>
          </p:spPr>
        </p:sp>
        <p:sp>
          <p:nvSpPr>
            <p:cNvPr id="243" name="Line 243"/>
            <p:cNvSpPr/>
            <p:nvPr/>
          </p:nvSpPr>
          <p:spPr>
            <a:xfrm>
              <a:off x="6934200" y="4248150"/>
              <a:ext cx="9525" cy="1162050"/>
            </a:xfrm>
            <a:custGeom>
              <a:avLst/>
              <a:gdLst/>
              <a:ahLst/>
              <a:cxnLst/>
              <a:rect l="l" t="t" r="r" b="b"/>
              <a:pathLst>
                <a:path w="9525" h="1162050">
                  <a:moveTo>
                    <a:pt x="0" y="0"/>
                  </a:moveTo>
                  <a:lnTo>
                    <a:pt x="0" y="1162050"/>
                  </a:lnTo>
                </a:path>
              </a:pathLst>
            </a:custGeom>
            <a:noFill/>
            <a:ln w="9525">
              <a:solidFill>
                <a:srgbClr val="EADBCE"/>
              </a:solidFill>
            </a:ln>
          </p:spPr>
        </p:sp>
        <p:sp>
          <p:nvSpPr>
            <p:cNvPr id="244" name="Line 244"/>
            <p:cNvSpPr/>
            <p:nvPr/>
          </p:nvSpPr>
          <p:spPr>
            <a:xfrm>
              <a:off x="7353300" y="4248150"/>
              <a:ext cx="9525" cy="1162050"/>
            </a:xfrm>
            <a:custGeom>
              <a:avLst/>
              <a:gdLst/>
              <a:ahLst/>
              <a:cxnLst/>
              <a:rect l="l" t="t" r="r" b="b"/>
              <a:pathLst>
                <a:path w="9525" h="1162050">
                  <a:moveTo>
                    <a:pt x="0" y="0"/>
                  </a:moveTo>
                  <a:lnTo>
                    <a:pt x="0" y="1162050"/>
                  </a:lnTo>
                </a:path>
              </a:pathLst>
            </a:custGeom>
            <a:noFill/>
            <a:ln w="9525">
              <a:solidFill>
                <a:srgbClr val="EADBCE"/>
              </a:solidFill>
            </a:ln>
          </p:spPr>
        </p:sp>
        <p:sp>
          <p:nvSpPr>
            <p:cNvPr id="245" name="TextBox 245"/>
            <p:cNvSpPr txBox="1"/>
            <p:nvPr/>
          </p:nvSpPr>
          <p:spPr>
            <a:xfrm>
              <a:off x="2281238" y="5612130"/>
              <a:ext cx="3763518" cy="119062"/>
            </a:xfrm>
            <a:prstGeom prst="rect">
              <a:avLst/>
            </a:prstGeom>
            <a:noFill/>
            <a:ln>
              <a:noFill/>
            </a:ln>
          </p:spPr>
          <p:txBody>
            <a:bodyPr wrap="none" lIns="0" tIns="0" rIns="0" bIns="0" anchor="t" anchorCtr="0">
              <a:spAutoFit/>
            </a:bodyPr>
            <a:lstStyle/>
            <a:p>
              <a:pPr algn="l"/>
              <a:r>
                <a:rPr lang="zh-CN" sz="600" dirty="0">
                  <a:solidFill>
                    <a:srgbClr val="7A716B"/>
                  </a:solidFill>
                  <a:latin typeface="+mn-lt"/>
                  <a:ea typeface="+mn-ea"/>
                  <a:cs typeface="+mn-cs"/>
                </a:rPr>
                <a:t>说明：提升率为相对提升（Uplift）或相对转化率提升；结果会因客户群、时段、产品与渠道而变化。​​​</a:t>
              </a:r>
            </a:p>
          </p:txBody>
        </p:sp>
      </p:grpSp>
      <p:grpSp>
        <p:nvGrpSpPr>
          <p:cNvPr id="319" name="nba-scenarios"/>
          <p:cNvGrpSpPr/>
          <p:nvPr/>
        </p:nvGrpSpPr>
        <p:grpSpPr>
          <a:xfrm>
            <a:off x="7848600" y="685800"/>
            <a:ext cx="3962400" cy="6010275"/>
            <a:chOff x="7848600" y="685800"/>
            <a:chExt cx="3962400" cy="6010275"/>
          </a:xfrm>
        </p:grpSpPr>
        <p:sp>
          <p:nvSpPr>
            <p:cNvPr id="247" name="Rectangle 247"/>
            <p:cNvSpPr/>
            <p:nvPr/>
          </p:nvSpPr>
          <p:spPr>
            <a:xfrm>
              <a:off x="7848600" y="685800"/>
              <a:ext cx="3962400" cy="228600"/>
            </a:xfrm>
            <a:prstGeom prst="roundRect">
              <a:avLst>
                <a:gd name="adj" fmla="val 12500"/>
              </a:avLst>
            </a:prstGeom>
            <a:solidFill>
              <a:srgbClr val="C41D00"/>
            </a:solidFill>
            <a:ln>
              <a:noFill/>
            </a:ln>
          </p:spPr>
        </p:sp>
        <p:sp>
          <p:nvSpPr>
            <p:cNvPr id="248" name="TextBox 248"/>
            <p:cNvSpPr txBox="1"/>
            <p:nvPr/>
          </p:nvSpPr>
          <p:spPr>
            <a:xfrm>
              <a:off x="9041324" y="754618"/>
              <a:ext cx="157695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​​NBA 示例：五类客户场景​​</a:t>
              </a:r>
            </a:p>
          </p:txBody>
        </p:sp>
        <p:sp>
          <p:nvSpPr>
            <p:cNvPr id="249" name="Rectangle 249"/>
            <p:cNvSpPr/>
            <p:nvPr/>
          </p:nvSpPr>
          <p:spPr>
            <a:xfrm>
              <a:off x="7848600" y="952500"/>
              <a:ext cx="3962400" cy="266700"/>
            </a:xfrm>
            <a:prstGeom prst="rect">
              <a:avLst/>
            </a:prstGeom>
            <a:solidFill>
              <a:srgbClr val="FEF2E6"/>
            </a:solidFill>
            <a:ln w="9525">
              <a:solidFill>
                <a:srgbClr val="F0B8AE"/>
              </a:solidFill>
            </a:ln>
          </p:spPr>
        </p:sp>
        <p:sp>
          <p:nvSpPr>
            <p:cNvPr id="250" name="TextBox 250"/>
            <p:cNvSpPr txBox="1"/>
            <p:nvPr/>
          </p:nvSpPr>
          <p:spPr>
            <a:xfrm>
              <a:off x="8091056" y="1055132"/>
              <a:ext cx="181839"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场景</a:t>
              </a:r>
            </a:p>
          </p:txBody>
        </p:sp>
        <p:sp>
          <p:nvSpPr>
            <p:cNvPr id="251" name="TextBox 251"/>
            <p:cNvSpPr txBox="1"/>
            <p:nvPr/>
          </p:nvSpPr>
          <p:spPr>
            <a:xfrm>
              <a:off x="8690928" y="1007507"/>
              <a:ext cx="334645" cy="221456"/>
            </a:xfrm>
            <a:prstGeom prst="rect">
              <a:avLst/>
            </a:prstGeom>
            <a:noFill/>
            <a:ln>
              <a:noFill/>
            </a:ln>
          </p:spPr>
          <p:txBody>
            <a:bodyPr wrap="none" lIns="0" tIns="0" rIns="0" bIns="0" anchor="t" anchorCtr="0">
              <a:spAutoFit/>
            </a:bodyPr>
            <a:lstStyle/>
            <a:p>
              <a:pPr algn="ctr">
                <a:lnSpc>
                  <a:spcPts val="750"/>
                </a:lnSpc>
              </a:pPr>
              <a:r>
                <a:rPr lang="zh-CN" sz="640" b="1" dirty="0">
                  <a:solidFill>
                    <a:srgbClr val="4A130A"/>
                  </a:solidFill>
                  <a:latin typeface="+mn-lt"/>
                  <a:ea typeface="+mn-ea"/>
                  <a:cs typeface="+mn-cs"/>
                </a:rPr>
                <a:t>触发事件</a:t>
              </a:r>
              <a:br/>
              <a:r>
                <a:rPr lang="zh-CN" sz="640" b="1" dirty="0">
                  <a:solidFill>
                    <a:srgbClr val="4A130A"/>
                  </a:solidFill>
                  <a:latin typeface="+mn-lt"/>
                  <a:ea typeface="+mn-ea"/>
                  <a:cs typeface="+mn-cs"/>
                </a:rPr>
                <a:t>（示例）</a:t>
              </a:r>
            </a:p>
          </p:txBody>
        </p:sp>
        <p:sp>
          <p:nvSpPr>
            <p:cNvPr id="252" name="TextBox 252"/>
            <p:cNvSpPr txBox="1"/>
            <p:nvPr/>
          </p:nvSpPr>
          <p:spPr>
            <a:xfrm>
              <a:off x="9367202" y="1007507"/>
              <a:ext cx="334645" cy="221456"/>
            </a:xfrm>
            <a:prstGeom prst="rect">
              <a:avLst/>
            </a:prstGeom>
            <a:noFill/>
            <a:ln>
              <a:noFill/>
            </a:ln>
          </p:spPr>
          <p:txBody>
            <a:bodyPr wrap="none" lIns="0" tIns="0" rIns="0" bIns="0" anchor="t" anchorCtr="0">
              <a:spAutoFit/>
            </a:bodyPr>
            <a:lstStyle/>
            <a:p>
              <a:pPr algn="ctr">
                <a:lnSpc>
                  <a:spcPts val="750"/>
                </a:lnSpc>
              </a:pPr>
              <a:r>
                <a:rPr lang="zh-CN" sz="640" b="1" dirty="0">
                  <a:solidFill>
                    <a:srgbClr val="4A130A"/>
                  </a:solidFill>
                  <a:latin typeface="+mn-lt"/>
                  <a:ea typeface="+mn-ea"/>
                  <a:cs typeface="+mn-cs"/>
                </a:rPr>
                <a:t>推荐行动</a:t>
              </a:r>
              <a:br/>
              <a:r>
                <a:rPr lang="zh-CN" sz="640" b="1" dirty="0">
                  <a:solidFill>
                    <a:srgbClr val="4A130A"/>
                  </a:solidFill>
                  <a:latin typeface="+mn-lt"/>
                  <a:ea typeface="+mn-ea"/>
                  <a:cs typeface="+mn-cs"/>
                </a:rPr>
                <a:t>（示例）</a:t>
              </a:r>
            </a:p>
          </p:txBody>
        </p:sp>
        <p:sp>
          <p:nvSpPr>
            <p:cNvPr id="253" name="TextBox 253"/>
            <p:cNvSpPr txBox="1"/>
            <p:nvPr/>
          </p:nvSpPr>
          <p:spPr>
            <a:xfrm>
              <a:off x="9953358" y="1007507"/>
              <a:ext cx="591083" cy="221456"/>
            </a:xfrm>
            <a:prstGeom prst="rect">
              <a:avLst/>
            </a:prstGeom>
            <a:noFill/>
            <a:ln>
              <a:noFill/>
            </a:ln>
          </p:spPr>
          <p:txBody>
            <a:bodyPr wrap="none" lIns="0" tIns="0" rIns="0" bIns="0" anchor="t" anchorCtr="0">
              <a:spAutoFit/>
            </a:bodyPr>
            <a:lstStyle/>
            <a:p>
              <a:pPr algn="ctr">
                <a:lnSpc>
                  <a:spcPts val="750"/>
                </a:lnSpc>
              </a:pPr>
              <a:r>
                <a:rPr lang="zh-CN" sz="640" b="1" dirty="0">
                  <a:solidFill>
                    <a:srgbClr val="4A130A"/>
                  </a:solidFill>
                  <a:latin typeface="+mn-lt"/>
                  <a:ea typeface="+mn-ea"/>
                  <a:cs typeface="+mn-cs"/>
                </a:rPr>
                <a:t>推荐理由</a:t>
              </a:r>
              <a:br/>
              <a:r>
                <a:rPr lang="zh-CN" sz="640" b="1" dirty="0">
                  <a:solidFill>
                    <a:srgbClr val="4A130A"/>
                  </a:solidFill>
                  <a:latin typeface="+mn-lt"/>
                  <a:ea typeface="+mn-ea"/>
                  <a:cs typeface="+mn-cs"/>
                </a:rPr>
                <a:t>​（关键洞察）​</a:t>
              </a:r>
            </a:p>
          </p:txBody>
        </p:sp>
        <p:sp>
          <p:nvSpPr>
            <p:cNvPr id="254" name="TextBox 254"/>
            <p:cNvSpPr txBox="1"/>
            <p:nvPr/>
          </p:nvSpPr>
          <p:spPr>
            <a:xfrm>
              <a:off x="10748099" y="105513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优选渠道</a:t>
              </a:r>
            </a:p>
          </p:txBody>
        </p:sp>
        <p:sp>
          <p:nvSpPr>
            <p:cNvPr id="255" name="TextBox 255"/>
            <p:cNvSpPr txBox="1"/>
            <p:nvPr/>
          </p:nvSpPr>
          <p:spPr>
            <a:xfrm>
              <a:off x="11338649" y="105513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抑制规则</a:t>
              </a:r>
            </a:p>
          </p:txBody>
        </p:sp>
        <p:sp>
          <p:nvSpPr>
            <p:cNvPr id="256" name="Rectangle 256"/>
            <p:cNvSpPr/>
            <p:nvPr/>
          </p:nvSpPr>
          <p:spPr>
            <a:xfrm>
              <a:off x="7848600" y="1219200"/>
              <a:ext cx="3962400" cy="5476875"/>
            </a:xfrm>
            <a:prstGeom prst="rect">
              <a:avLst/>
            </a:prstGeom>
            <a:solidFill>
              <a:srgbClr val="FFFFFF"/>
            </a:solidFill>
            <a:ln w="9525">
              <a:solidFill>
                <a:srgbClr val="F0B8AE"/>
              </a:solidFill>
            </a:ln>
          </p:spPr>
        </p:sp>
        <p:sp>
          <p:nvSpPr>
            <p:cNvPr id="257" name="Rectangle 257"/>
            <p:cNvSpPr/>
            <p:nvPr/>
          </p:nvSpPr>
          <p:spPr>
            <a:xfrm>
              <a:off x="7848600" y="2314575"/>
              <a:ext cx="3962400" cy="1095375"/>
            </a:xfrm>
            <a:prstGeom prst="rect">
              <a:avLst/>
            </a:prstGeom>
            <a:solidFill>
              <a:srgbClr val="FFF8F2"/>
            </a:solidFill>
            <a:ln>
              <a:noFill/>
            </a:ln>
          </p:spPr>
        </p:sp>
        <p:sp>
          <p:nvSpPr>
            <p:cNvPr id="258" name="Rectangle 258"/>
            <p:cNvSpPr/>
            <p:nvPr/>
          </p:nvSpPr>
          <p:spPr>
            <a:xfrm>
              <a:off x="7848600" y="4505325"/>
              <a:ext cx="3962400" cy="1095375"/>
            </a:xfrm>
            <a:prstGeom prst="rect">
              <a:avLst/>
            </a:prstGeom>
            <a:solidFill>
              <a:srgbClr val="FFF8F2"/>
            </a:solidFill>
            <a:ln>
              <a:noFill/>
            </a:ln>
          </p:spPr>
        </p:sp>
        <p:grpSp>
          <p:nvGrpSpPr>
            <p:cNvPr id="263" name="Group 263"/>
            <p:cNvGrpSpPr/>
            <p:nvPr/>
          </p:nvGrpSpPr>
          <p:grpSpPr>
            <a:xfrm>
              <a:off x="8096250" y="1533525"/>
              <a:ext cx="171450" cy="171450"/>
              <a:chOff x="8096250" y="1533525"/>
              <a:chExt cx="171450" cy="171450"/>
            </a:xfrm>
          </p:grpSpPr>
          <p:sp>
            <p:nvSpPr>
              <p:cNvPr id="259" name="Freeform 259"/>
              <p:cNvSpPr/>
              <p:nvPr/>
            </p:nvSpPr>
            <p:spPr>
              <a:xfrm>
                <a:off x="8115300" y="15335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D82000"/>
                </a:solidFill>
              </a:ln>
            </p:spPr>
          </p:sp>
          <p:sp>
            <p:nvSpPr>
              <p:cNvPr id="260" name="Freeform 260"/>
              <p:cNvSpPr/>
              <p:nvPr/>
            </p:nvSpPr>
            <p:spPr>
              <a:xfrm>
                <a:off x="8096250" y="16478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D82000"/>
                </a:solidFill>
              </a:ln>
            </p:spPr>
          </p:sp>
          <p:sp>
            <p:nvSpPr>
              <p:cNvPr id="261" name="Freeform 261"/>
              <p:cNvSpPr/>
              <p:nvPr/>
            </p:nvSpPr>
            <p:spPr>
              <a:xfrm>
                <a:off x="8220075" y="15347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D82000"/>
                </a:solidFill>
              </a:ln>
            </p:spPr>
          </p:sp>
          <p:sp>
            <p:nvSpPr>
              <p:cNvPr id="262" name="Freeform 262"/>
              <p:cNvSpPr/>
              <p:nvPr/>
            </p:nvSpPr>
            <p:spPr>
              <a:xfrm>
                <a:off x="8239125" y="16492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D82000"/>
                </a:solidFill>
              </a:ln>
            </p:spPr>
          </p:sp>
        </p:grpSp>
        <p:sp>
          <p:nvSpPr>
            <p:cNvPr id="264" name="TextBox 264"/>
            <p:cNvSpPr txBox="1"/>
            <p:nvPr/>
          </p:nvSpPr>
          <p:spPr>
            <a:xfrm>
              <a:off x="8014652" y="1836182"/>
              <a:ext cx="33464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4A130A"/>
                  </a:solidFill>
                  <a:latin typeface="+mn-lt"/>
                  <a:ea typeface="+mn-ea"/>
                  <a:cs typeface="+mn-cs"/>
                </a:rPr>
                <a:t>薪资稳定</a:t>
              </a:r>
              <a:br/>
              <a:r>
                <a:rPr lang="zh-CN" sz="640" b="1" dirty="0">
                  <a:solidFill>
                    <a:srgbClr val="4A130A"/>
                  </a:solidFill>
                  <a:latin typeface="+mn-lt"/>
                  <a:ea typeface="+mn-ea"/>
                  <a:cs typeface="+mn-cs"/>
                </a:rPr>
                <a:t>年轻客群</a:t>
              </a:r>
            </a:p>
          </p:txBody>
        </p:sp>
        <p:sp>
          <p:nvSpPr>
            <p:cNvPr id="265" name="TextBox 265"/>
            <p:cNvSpPr txBox="1"/>
            <p:nvPr/>
          </p:nvSpPr>
          <p:spPr>
            <a:xfrm>
              <a:off x="8638222" y="1668780"/>
              <a:ext cx="44005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月薪入账</a:t>
              </a:r>
              <a:br/>
              <a:r>
                <a:rPr lang="zh-CN" sz="600" dirty="0">
                  <a:solidFill>
                    <a:srgbClr val="3D3835"/>
                  </a:solidFill>
                  <a:latin typeface="+mn-lt"/>
                  <a:ea typeface="+mn-ea"/>
                  <a:cs typeface="+mn-cs"/>
                </a:rPr>
                <a:t>​连续3个月​</a:t>
              </a:r>
            </a:p>
          </p:txBody>
        </p:sp>
        <p:sp>
          <p:nvSpPr>
            <p:cNvPr id="266" name="TextBox 266"/>
            <p:cNvSpPr txBox="1"/>
            <p:nvPr/>
          </p:nvSpPr>
          <p:spPr>
            <a:xfrm>
              <a:off x="9339262" y="1668780"/>
              <a:ext cx="3905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信用卡申办</a:t>
              </a:r>
              <a:br/>
              <a:r>
                <a:rPr lang="zh-CN" sz="600" dirty="0">
                  <a:solidFill>
                    <a:srgbClr val="3D3835"/>
                  </a:solidFill>
                  <a:latin typeface="+mn-lt"/>
                  <a:ea typeface="+mn-ea"/>
                  <a:cs typeface="+mn-cs"/>
                </a:rPr>
                <a:t>​+首刷礼​</a:t>
              </a:r>
            </a:p>
          </p:txBody>
        </p:sp>
        <p:sp>
          <p:nvSpPr>
            <p:cNvPr id="267" name="TextBox 267"/>
            <p:cNvSpPr txBox="1"/>
            <p:nvPr/>
          </p:nvSpPr>
          <p:spPr>
            <a:xfrm>
              <a:off x="9935528" y="1554480"/>
              <a:ext cx="626745" cy="43338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​有稳定现金流，​</a:t>
              </a:r>
              <a:br/>
              <a:r>
                <a:rPr lang="zh-CN" sz="600" dirty="0">
                  <a:solidFill>
                    <a:srgbClr val="3D3835"/>
                  </a:solidFill>
                  <a:latin typeface="+mn-lt"/>
                  <a:ea typeface="+mn-ea"/>
                  <a:cs typeface="+mn-cs"/>
                </a:rPr>
                <a:t>​消费潜力高，​</a:t>
              </a:r>
              <a:br/>
              <a:r>
                <a:rPr lang="zh-CN" sz="600" dirty="0">
                  <a:solidFill>
                    <a:srgbClr val="3D3835"/>
                  </a:solidFill>
                  <a:latin typeface="+mn-lt"/>
                  <a:ea typeface="+mn-ea"/>
                  <a:cs typeface="+mn-cs"/>
                </a:rPr>
                <a:t>​对银行卡活动​</a:t>
              </a:r>
              <a:br/>
              <a:r>
                <a:rPr lang="zh-CN" sz="600" dirty="0">
                  <a:solidFill>
                    <a:srgbClr val="3D3835"/>
                  </a:solidFill>
                  <a:latin typeface="+mn-lt"/>
                  <a:ea typeface="+mn-ea"/>
                  <a:cs typeface="+mn-cs"/>
                </a:rPr>
                <a:t>响应度高</a:t>
              </a:r>
            </a:p>
          </p:txBody>
        </p:sp>
        <p:sp>
          <p:nvSpPr>
            <p:cNvPr id="268" name="TextBox 268"/>
            <p:cNvSpPr txBox="1"/>
            <p:nvPr/>
          </p:nvSpPr>
          <p:spPr>
            <a:xfrm>
              <a:off x="10686098" y="1668780"/>
              <a:ext cx="47815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​​APP 推送​​</a:t>
              </a:r>
              <a:br/>
              <a:r>
                <a:rPr lang="zh-CN" sz="600" dirty="0">
                  <a:solidFill>
                    <a:srgbClr val="3D3835"/>
                  </a:solidFill>
                  <a:latin typeface="+mn-lt"/>
                  <a:ea typeface="+mn-ea"/>
                  <a:cs typeface="+mn-cs"/>
                </a:rPr>
                <a:t>​+短信​</a:t>
              </a:r>
            </a:p>
          </p:txBody>
        </p:sp>
        <p:sp>
          <p:nvSpPr>
            <p:cNvPr id="269" name="TextBox 269"/>
            <p:cNvSpPr txBox="1"/>
            <p:nvPr/>
          </p:nvSpPr>
          <p:spPr>
            <a:xfrm>
              <a:off x="11274742" y="1611630"/>
              <a:ext cx="48196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​近30天已达​</a:t>
              </a:r>
              <a:br/>
              <a:r>
                <a:rPr lang="zh-CN" sz="600" dirty="0">
                  <a:solidFill>
                    <a:srgbClr val="3D3835"/>
                  </a:solidFill>
                  <a:latin typeface="+mn-lt"/>
                  <a:ea typeface="+mn-ea"/>
                  <a:cs typeface="+mn-cs"/>
                </a:rPr>
                <a:t>信用卡申请</a:t>
              </a:r>
              <a:br/>
              <a:r>
                <a:rPr lang="zh-CN" sz="600" dirty="0">
                  <a:solidFill>
                    <a:srgbClr val="3D3835"/>
                  </a:solidFill>
                  <a:latin typeface="+mn-lt"/>
                  <a:ea typeface="+mn-ea"/>
                  <a:cs typeface="+mn-cs"/>
                </a:rPr>
                <a:t>上限</a:t>
              </a:r>
            </a:p>
          </p:txBody>
        </p:sp>
        <p:grpSp>
          <p:nvGrpSpPr>
            <p:cNvPr id="272" name="Group 272"/>
            <p:cNvGrpSpPr/>
            <p:nvPr/>
          </p:nvGrpSpPr>
          <p:grpSpPr>
            <a:xfrm>
              <a:off x="8096250" y="2667000"/>
              <a:ext cx="171450" cy="95250"/>
              <a:chOff x="8096250" y="2667000"/>
              <a:chExt cx="171450" cy="95250"/>
            </a:xfrm>
          </p:grpSpPr>
          <p:sp>
            <p:nvSpPr>
              <p:cNvPr id="270" name="Freeform 270"/>
              <p:cNvSpPr/>
              <p:nvPr/>
            </p:nvSpPr>
            <p:spPr>
              <a:xfrm>
                <a:off x="8096250" y="2667000"/>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D82000"/>
                </a:solidFill>
              </a:ln>
            </p:spPr>
          </p:sp>
          <p:sp>
            <p:nvSpPr>
              <p:cNvPr id="271" name="Freeform 271"/>
              <p:cNvSpPr/>
              <p:nvPr/>
            </p:nvSpPr>
            <p:spPr>
              <a:xfrm>
                <a:off x="8201025" y="2667000"/>
                <a:ext cx="66675" cy="66675"/>
              </a:xfrm>
              <a:custGeom>
                <a:avLst/>
                <a:gdLst/>
                <a:ahLst/>
                <a:cxnLst/>
                <a:rect l="l" t="t" r="r" b="b"/>
                <a:pathLst>
                  <a:path w="66675" h="66675">
                    <a:moveTo>
                      <a:pt x="0" y="0"/>
                    </a:moveTo>
                    <a:lnTo>
                      <a:pt x="66675" y="0"/>
                    </a:lnTo>
                    <a:lnTo>
                      <a:pt x="66675" y="66675"/>
                    </a:lnTo>
                  </a:path>
                </a:pathLst>
              </a:custGeom>
              <a:noFill/>
              <a:ln w="19050">
                <a:solidFill>
                  <a:srgbClr val="D82000"/>
                </a:solidFill>
              </a:ln>
            </p:spPr>
          </p:sp>
        </p:grpSp>
        <p:sp>
          <p:nvSpPr>
            <p:cNvPr id="273" name="TextBox 273"/>
            <p:cNvSpPr txBox="1"/>
            <p:nvPr/>
          </p:nvSpPr>
          <p:spPr>
            <a:xfrm>
              <a:off x="8014652" y="2931557"/>
              <a:ext cx="33464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4A130A"/>
                  </a:solidFill>
                  <a:latin typeface="+mn-lt"/>
                  <a:ea typeface="+mn-ea"/>
                  <a:cs typeface="+mn-cs"/>
                </a:rPr>
                <a:t>资产增长</a:t>
              </a:r>
              <a:br/>
              <a:r>
                <a:rPr lang="zh-CN" sz="640" b="1" dirty="0">
                  <a:solidFill>
                    <a:srgbClr val="4A130A"/>
                  </a:solidFill>
                  <a:latin typeface="+mn-lt"/>
                  <a:ea typeface="+mn-ea"/>
                  <a:cs typeface="+mn-cs"/>
                </a:rPr>
                <a:t>理财客群</a:t>
              </a:r>
            </a:p>
          </p:txBody>
        </p:sp>
        <p:sp>
          <p:nvSpPr>
            <p:cNvPr id="274" name="TextBox 274"/>
            <p:cNvSpPr txBox="1"/>
            <p:nvPr/>
          </p:nvSpPr>
          <p:spPr>
            <a:xfrm>
              <a:off x="8554402" y="2764155"/>
              <a:ext cx="60769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金融资产</a:t>
              </a:r>
              <a:br/>
              <a:r>
                <a:rPr lang="zh-CN" sz="600" dirty="0">
                  <a:solidFill>
                    <a:srgbClr val="3D3835"/>
                  </a:solidFill>
                  <a:latin typeface="+mn-lt"/>
                  <a:ea typeface="+mn-ea"/>
                  <a:cs typeface="+mn-cs"/>
                </a:rPr>
                <a:t>​​首次超50万+​​</a:t>
              </a:r>
            </a:p>
          </p:txBody>
        </p:sp>
        <p:sp>
          <p:nvSpPr>
            <p:cNvPr id="275" name="TextBox 275"/>
            <p:cNvSpPr txBox="1"/>
            <p:nvPr/>
          </p:nvSpPr>
          <p:spPr>
            <a:xfrm>
              <a:off x="9377362" y="2764155"/>
              <a:ext cx="314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稳健理财</a:t>
              </a:r>
              <a:br/>
              <a:r>
                <a:rPr lang="zh-CN" sz="600" dirty="0">
                  <a:solidFill>
                    <a:srgbClr val="3D3835"/>
                  </a:solidFill>
                  <a:latin typeface="+mn-lt"/>
                  <a:ea typeface="+mn-ea"/>
                  <a:cs typeface="+mn-cs"/>
                </a:rPr>
                <a:t>组合推荐</a:t>
              </a:r>
            </a:p>
          </p:txBody>
        </p:sp>
        <p:sp>
          <p:nvSpPr>
            <p:cNvPr id="276" name="TextBox 276"/>
            <p:cNvSpPr txBox="1"/>
            <p:nvPr/>
          </p:nvSpPr>
          <p:spPr>
            <a:xfrm>
              <a:off x="9935528" y="2649855"/>
              <a:ext cx="626745" cy="43338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​资产增速快，​</a:t>
              </a:r>
              <a:br/>
              <a:r>
                <a:rPr lang="zh-CN" sz="600" dirty="0">
                  <a:solidFill>
                    <a:srgbClr val="3D3835"/>
                  </a:solidFill>
                  <a:latin typeface="+mn-lt"/>
                  <a:ea typeface="+mn-ea"/>
                  <a:cs typeface="+mn-cs"/>
                </a:rPr>
                <a:t>​风险偏好中低，​</a:t>
              </a:r>
              <a:br/>
              <a:r>
                <a:rPr lang="zh-CN" sz="600" dirty="0">
                  <a:solidFill>
                    <a:srgbClr val="3D3835"/>
                  </a:solidFill>
                  <a:latin typeface="+mn-lt"/>
                  <a:ea typeface="+mn-ea"/>
                  <a:cs typeface="+mn-cs"/>
                </a:rPr>
                <a:t>​适合理财组合​</a:t>
              </a:r>
              <a:br/>
              <a:r>
                <a:rPr lang="zh-CN" sz="600" dirty="0">
                  <a:solidFill>
                    <a:srgbClr val="3D3835"/>
                  </a:solidFill>
                  <a:latin typeface="+mn-lt"/>
                  <a:ea typeface="+mn-ea"/>
                  <a:cs typeface="+mn-cs"/>
                </a:rPr>
                <a:t>升级</a:t>
              </a:r>
            </a:p>
          </p:txBody>
        </p:sp>
        <p:sp>
          <p:nvSpPr>
            <p:cNvPr id="277" name="TextBox 277"/>
            <p:cNvSpPr txBox="1"/>
            <p:nvPr/>
          </p:nvSpPr>
          <p:spPr>
            <a:xfrm>
              <a:off x="10686098" y="2707005"/>
              <a:ext cx="47815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​​APP 消息​​</a:t>
              </a:r>
              <a:br/>
              <a:r>
                <a:rPr lang="zh-CN" sz="600" dirty="0">
                  <a:solidFill>
                    <a:srgbClr val="3D3835"/>
                  </a:solidFill>
                  <a:latin typeface="+mn-lt"/>
                  <a:ea typeface="+mn-ea"/>
                  <a:cs typeface="+mn-cs"/>
                </a:rPr>
                <a:t>​+理财经理​</a:t>
              </a:r>
              <a:br/>
              <a:r>
                <a:rPr lang="zh-CN" sz="600" dirty="0">
                  <a:solidFill>
                    <a:srgbClr val="3D3835"/>
                  </a:solidFill>
                  <a:latin typeface="+mn-lt"/>
                  <a:ea typeface="+mn-ea"/>
                  <a:cs typeface="+mn-cs"/>
                </a:rPr>
                <a:t>触达</a:t>
              </a:r>
            </a:p>
          </p:txBody>
        </p:sp>
        <p:sp>
          <p:nvSpPr>
            <p:cNvPr id="278" name="TextBox 278"/>
            <p:cNvSpPr txBox="1"/>
            <p:nvPr/>
          </p:nvSpPr>
          <p:spPr>
            <a:xfrm>
              <a:off x="11240452" y="2649855"/>
              <a:ext cx="550545" cy="43338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​近7天已有​</a:t>
              </a:r>
              <a:br/>
              <a:r>
                <a:rPr lang="zh-CN" sz="600" dirty="0">
                  <a:solidFill>
                    <a:srgbClr val="3D3835"/>
                  </a:solidFill>
                  <a:latin typeface="+mn-lt"/>
                  <a:ea typeface="+mn-ea"/>
                  <a:cs typeface="+mn-cs"/>
                </a:rPr>
                <a:t>​理财类触达，​</a:t>
              </a:r>
              <a:br/>
              <a:r>
                <a:rPr lang="zh-CN" sz="600" dirty="0">
                  <a:solidFill>
                    <a:srgbClr val="3D3835"/>
                  </a:solidFill>
                  <a:latin typeface="+mn-lt"/>
                  <a:ea typeface="+mn-ea"/>
                  <a:cs typeface="+mn-cs"/>
                </a:rPr>
                <a:t>风险测评</a:t>
              </a:r>
              <a:br/>
              <a:r>
                <a:rPr lang="zh-CN" sz="600" dirty="0">
                  <a:solidFill>
                    <a:srgbClr val="3D3835"/>
                  </a:solidFill>
                  <a:latin typeface="+mn-lt"/>
                  <a:ea typeface="+mn-ea"/>
                  <a:cs typeface="+mn-cs"/>
                </a:rPr>
                <a:t>过期</a:t>
              </a:r>
            </a:p>
          </p:txBody>
        </p:sp>
        <p:grpSp>
          <p:nvGrpSpPr>
            <p:cNvPr id="283" name="Group 283"/>
            <p:cNvGrpSpPr/>
            <p:nvPr/>
          </p:nvGrpSpPr>
          <p:grpSpPr>
            <a:xfrm>
              <a:off x="8096250" y="3743325"/>
              <a:ext cx="171450" cy="133350"/>
              <a:chOff x="8096250" y="3743325"/>
              <a:chExt cx="171450" cy="133350"/>
            </a:xfrm>
          </p:grpSpPr>
          <p:sp>
            <p:nvSpPr>
              <p:cNvPr id="279" name="Freeform 279"/>
              <p:cNvSpPr/>
              <p:nvPr/>
            </p:nvSpPr>
            <p:spPr>
              <a:xfrm>
                <a:off x="8096250" y="3743325"/>
                <a:ext cx="171450" cy="133350"/>
              </a:xfrm>
              <a:custGeom>
                <a:avLst/>
                <a:gdLst/>
                <a:ahLst/>
                <a:cxnLst/>
                <a:rect l="l" t="t" r="r" b="b"/>
                <a:pathLst>
                  <a:path w="171450" h="133350">
                    <a:moveTo>
                      <a:pt x="0" y="28575"/>
                    </a:move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28575" y="133350"/>
                    </a:lnTo>
                    <a:cubicBezTo>
                      <a:pt x="12793" y="133350"/>
                      <a:pt x="0" y="120557"/>
                      <a:pt x="0" y="104775"/>
                    </a:cubicBezTo>
                    <a:lnTo>
                      <a:pt x="0" y="28575"/>
                    </a:lnTo>
                  </a:path>
                </a:pathLst>
              </a:custGeom>
              <a:noFill/>
              <a:ln w="19050">
                <a:solidFill>
                  <a:srgbClr val="D82000"/>
                </a:solidFill>
              </a:ln>
            </p:spPr>
          </p:sp>
          <p:sp>
            <p:nvSpPr>
              <p:cNvPr id="280" name="Freeform 280"/>
              <p:cNvSpPr/>
              <p:nvPr/>
            </p:nvSpPr>
            <p:spPr>
              <a:xfrm>
                <a:off x="8096250" y="3790950"/>
                <a:ext cx="171450" cy="9525"/>
              </a:xfrm>
              <a:custGeom>
                <a:avLst/>
                <a:gdLst/>
                <a:ahLst/>
                <a:cxnLst/>
                <a:rect l="l" t="t" r="r" b="b"/>
                <a:pathLst>
                  <a:path w="171450" h="9525">
                    <a:moveTo>
                      <a:pt x="0" y="0"/>
                    </a:moveTo>
                    <a:lnTo>
                      <a:pt x="171450" y="0"/>
                    </a:lnTo>
                  </a:path>
                </a:pathLst>
              </a:custGeom>
              <a:noFill/>
              <a:ln w="19050">
                <a:solidFill>
                  <a:srgbClr val="D82000"/>
                </a:solidFill>
              </a:ln>
            </p:spPr>
          </p:sp>
          <p:sp>
            <p:nvSpPr>
              <p:cNvPr id="281" name="Freeform 281"/>
              <p:cNvSpPr/>
              <p:nvPr/>
            </p:nvSpPr>
            <p:spPr>
              <a:xfrm>
                <a:off x="8134350" y="3838575"/>
                <a:ext cx="9525" cy="9525"/>
              </a:xfrm>
              <a:custGeom>
                <a:avLst/>
                <a:gdLst/>
                <a:ahLst/>
                <a:cxnLst/>
                <a:rect l="l" t="t" r="r" b="b"/>
                <a:pathLst>
                  <a:path w="9525" h="9525">
                    <a:moveTo>
                      <a:pt x="0" y="0"/>
                    </a:moveTo>
                    <a:lnTo>
                      <a:pt x="95" y="0"/>
                    </a:lnTo>
                  </a:path>
                </a:pathLst>
              </a:custGeom>
              <a:noFill/>
              <a:ln w="19050">
                <a:solidFill>
                  <a:srgbClr val="D82000"/>
                </a:solidFill>
              </a:ln>
            </p:spPr>
          </p:sp>
          <p:sp>
            <p:nvSpPr>
              <p:cNvPr id="282" name="Freeform 282"/>
              <p:cNvSpPr/>
              <p:nvPr/>
            </p:nvSpPr>
            <p:spPr>
              <a:xfrm>
                <a:off x="8172450" y="3838575"/>
                <a:ext cx="19050" cy="9525"/>
              </a:xfrm>
              <a:custGeom>
                <a:avLst/>
                <a:gdLst/>
                <a:ahLst/>
                <a:cxnLst/>
                <a:rect l="l" t="t" r="r" b="b"/>
                <a:pathLst>
                  <a:path w="19050" h="9525">
                    <a:moveTo>
                      <a:pt x="0" y="0"/>
                    </a:moveTo>
                    <a:lnTo>
                      <a:pt x="19050" y="0"/>
                    </a:lnTo>
                  </a:path>
                </a:pathLst>
              </a:custGeom>
              <a:noFill/>
              <a:ln w="19050">
                <a:solidFill>
                  <a:srgbClr val="D82000"/>
                </a:solidFill>
              </a:ln>
            </p:spPr>
          </p:sp>
        </p:grpSp>
        <p:sp>
          <p:nvSpPr>
            <p:cNvPr id="284" name="TextBox 284"/>
            <p:cNvSpPr txBox="1"/>
            <p:nvPr/>
          </p:nvSpPr>
          <p:spPr>
            <a:xfrm>
              <a:off x="7974012" y="4026932"/>
              <a:ext cx="41592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4A130A"/>
                  </a:solidFill>
                  <a:latin typeface="+mn-lt"/>
                  <a:ea typeface="+mn-ea"/>
                  <a:cs typeface="+mn-cs"/>
                </a:rPr>
                <a:t>高频消费</a:t>
              </a:r>
              <a:br/>
              <a:r>
                <a:rPr lang="zh-CN" sz="640" b="1" dirty="0">
                  <a:solidFill>
                    <a:srgbClr val="4A130A"/>
                  </a:solidFill>
                  <a:latin typeface="+mn-lt"/>
                  <a:ea typeface="+mn-ea"/>
                  <a:cs typeface="+mn-cs"/>
                </a:rPr>
                <a:t>信用卡客群</a:t>
              </a:r>
            </a:p>
          </p:txBody>
        </p:sp>
        <p:sp>
          <p:nvSpPr>
            <p:cNvPr id="285" name="TextBox 285"/>
            <p:cNvSpPr txBox="1"/>
            <p:nvPr/>
          </p:nvSpPr>
          <p:spPr>
            <a:xfrm>
              <a:off x="8582978" y="3859530"/>
              <a:ext cx="55054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​当月消费金额​</a:t>
              </a:r>
              <a:br/>
              <a:r>
                <a:rPr lang="zh-CN" sz="600" dirty="0">
                  <a:solidFill>
                    <a:srgbClr val="3D3835"/>
                  </a:solidFill>
                  <a:latin typeface="+mn-lt"/>
                  <a:ea typeface="+mn-ea"/>
                  <a:cs typeface="+mn-cs"/>
                </a:rPr>
                <a:t>​较上月+30%​</a:t>
              </a:r>
            </a:p>
          </p:txBody>
        </p:sp>
        <p:sp>
          <p:nvSpPr>
            <p:cNvPr id="286" name="TextBox 286"/>
            <p:cNvSpPr txBox="1"/>
            <p:nvPr/>
          </p:nvSpPr>
          <p:spPr>
            <a:xfrm>
              <a:off x="9377362" y="3859530"/>
              <a:ext cx="314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分期优惠</a:t>
              </a:r>
              <a:br/>
              <a:r>
                <a:rPr lang="zh-CN" sz="600" dirty="0">
                  <a:solidFill>
                    <a:srgbClr val="3D3835"/>
                  </a:solidFill>
                  <a:latin typeface="+mn-lt"/>
                  <a:ea typeface="+mn-ea"/>
                  <a:cs typeface="+mn-cs"/>
                </a:rPr>
                <a:t>活动</a:t>
              </a:r>
            </a:p>
          </p:txBody>
        </p:sp>
        <p:sp>
          <p:nvSpPr>
            <p:cNvPr id="287" name="TextBox 287"/>
            <p:cNvSpPr txBox="1"/>
            <p:nvPr/>
          </p:nvSpPr>
          <p:spPr>
            <a:xfrm>
              <a:off x="9935528" y="3859530"/>
              <a:ext cx="62674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​近期消费增长，​</a:t>
              </a:r>
              <a:br/>
              <a:r>
                <a:rPr lang="zh-CN" sz="600" dirty="0">
                  <a:solidFill>
                    <a:srgbClr val="3D3835"/>
                  </a:solidFill>
                  <a:latin typeface="+mn-lt"/>
                  <a:ea typeface="+mn-ea"/>
                  <a:cs typeface="+mn-cs"/>
                </a:rPr>
                <a:t>​分期需求加强​</a:t>
              </a:r>
            </a:p>
          </p:txBody>
        </p:sp>
        <p:sp>
          <p:nvSpPr>
            <p:cNvPr id="288" name="TextBox 288"/>
            <p:cNvSpPr txBox="1"/>
            <p:nvPr/>
          </p:nvSpPr>
          <p:spPr>
            <a:xfrm>
              <a:off x="10794682" y="3859530"/>
              <a:ext cx="26098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短信</a:t>
              </a:r>
              <a:br/>
              <a:r>
                <a:rPr lang="en-US" sz="600" dirty="0">
                  <a:solidFill>
                    <a:srgbClr val="3D3835"/>
                  </a:solidFill>
                  <a:latin typeface="+mn-lt"/>
                  <a:ea typeface="+mn-ea"/>
                  <a:cs typeface="+mn-cs"/>
                </a:rPr>
                <a:t>​+APP​</a:t>
              </a:r>
            </a:p>
          </p:txBody>
        </p:sp>
        <p:sp>
          <p:nvSpPr>
            <p:cNvPr id="289" name="TextBox 289"/>
            <p:cNvSpPr txBox="1"/>
            <p:nvPr/>
          </p:nvSpPr>
          <p:spPr>
            <a:xfrm>
              <a:off x="11312842" y="3802380"/>
              <a:ext cx="40576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​近30天已​</a:t>
              </a:r>
              <a:br/>
              <a:r>
                <a:rPr lang="zh-CN" sz="600" dirty="0">
                  <a:solidFill>
                    <a:srgbClr val="3D3835"/>
                  </a:solidFill>
                  <a:latin typeface="+mn-lt"/>
                  <a:ea typeface="+mn-ea"/>
                  <a:cs typeface="+mn-cs"/>
                </a:rPr>
                <a:t>办理分期或</a:t>
              </a:r>
              <a:br/>
              <a:r>
                <a:rPr lang="zh-CN" sz="600" dirty="0">
                  <a:solidFill>
                    <a:srgbClr val="3D3835"/>
                  </a:solidFill>
                  <a:latin typeface="+mn-lt"/>
                  <a:ea typeface="+mn-ea"/>
                  <a:cs typeface="+mn-cs"/>
                </a:rPr>
                <a:t>存在逾期</a:t>
              </a:r>
            </a:p>
          </p:txBody>
        </p:sp>
        <p:grpSp>
          <p:nvGrpSpPr>
            <p:cNvPr id="293" name="Group 293"/>
            <p:cNvGrpSpPr/>
            <p:nvPr/>
          </p:nvGrpSpPr>
          <p:grpSpPr>
            <a:xfrm>
              <a:off x="8096250" y="4819650"/>
              <a:ext cx="171450" cy="171450"/>
              <a:chOff x="8096250" y="4819650"/>
              <a:chExt cx="171450" cy="171450"/>
            </a:xfrm>
          </p:grpSpPr>
          <p:sp>
            <p:nvSpPr>
              <p:cNvPr id="290" name="Freeform 290"/>
              <p:cNvSpPr/>
              <p:nvPr/>
            </p:nvSpPr>
            <p:spPr>
              <a:xfrm>
                <a:off x="8096250" y="4819650"/>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D82000"/>
                </a:solidFill>
              </a:ln>
            </p:spPr>
          </p:sp>
          <p:sp>
            <p:nvSpPr>
              <p:cNvPr id="291" name="Freeform 291"/>
              <p:cNvSpPr/>
              <p:nvPr/>
            </p:nvSpPr>
            <p:spPr>
              <a:xfrm>
                <a:off x="8115300" y="4905375"/>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D82000"/>
                </a:solidFill>
              </a:ln>
            </p:spPr>
          </p:sp>
          <p:sp>
            <p:nvSpPr>
              <p:cNvPr id="292" name="Freeform 292"/>
              <p:cNvSpPr/>
              <p:nvPr/>
            </p:nvSpPr>
            <p:spPr>
              <a:xfrm>
                <a:off x="8153400" y="4914900"/>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D82000"/>
                </a:solidFill>
              </a:ln>
            </p:spPr>
          </p:sp>
        </p:grpSp>
        <p:sp>
          <p:nvSpPr>
            <p:cNvPr id="294" name="TextBox 294"/>
            <p:cNvSpPr txBox="1"/>
            <p:nvPr/>
          </p:nvSpPr>
          <p:spPr>
            <a:xfrm>
              <a:off x="8014652" y="5122307"/>
              <a:ext cx="33464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4A130A"/>
                  </a:solidFill>
                  <a:latin typeface="+mn-lt"/>
                  <a:ea typeface="+mn-ea"/>
                  <a:cs typeface="+mn-cs"/>
                </a:rPr>
                <a:t>房贷潜在</a:t>
              </a:r>
              <a:br/>
              <a:r>
                <a:rPr lang="zh-CN" sz="640" b="1" dirty="0">
                  <a:solidFill>
                    <a:srgbClr val="4A130A"/>
                  </a:solidFill>
                  <a:latin typeface="+mn-lt"/>
                  <a:ea typeface="+mn-ea"/>
                  <a:cs typeface="+mn-cs"/>
                </a:rPr>
                <a:t>需求客群</a:t>
              </a:r>
            </a:p>
          </p:txBody>
        </p:sp>
        <p:sp>
          <p:nvSpPr>
            <p:cNvPr id="295" name="TextBox 295"/>
            <p:cNvSpPr txBox="1"/>
            <p:nvPr/>
          </p:nvSpPr>
          <p:spPr>
            <a:xfrm>
              <a:off x="8617268" y="4897755"/>
              <a:ext cx="48196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浏览房贷</a:t>
              </a:r>
              <a:br/>
              <a:r>
                <a:rPr lang="zh-CN" sz="600" dirty="0">
                  <a:solidFill>
                    <a:srgbClr val="3D3835"/>
                  </a:solidFill>
                  <a:latin typeface="+mn-lt"/>
                  <a:ea typeface="+mn-ea"/>
                  <a:cs typeface="+mn-cs"/>
                </a:rPr>
                <a:t>​页面≥2次或​</a:t>
              </a:r>
              <a:br/>
              <a:r>
                <a:rPr lang="zh-CN" sz="600" dirty="0">
                  <a:solidFill>
                    <a:srgbClr val="3D3835"/>
                  </a:solidFill>
                  <a:latin typeface="+mn-lt"/>
                  <a:ea typeface="+mn-ea"/>
                  <a:cs typeface="+mn-cs"/>
                </a:rPr>
                <a:t>咨询记录</a:t>
              </a:r>
            </a:p>
          </p:txBody>
        </p:sp>
        <p:sp>
          <p:nvSpPr>
            <p:cNvPr id="296" name="TextBox 296"/>
            <p:cNvSpPr txBox="1"/>
            <p:nvPr/>
          </p:nvSpPr>
          <p:spPr>
            <a:xfrm>
              <a:off x="9339262" y="4954905"/>
              <a:ext cx="3905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房贷利率券</a:t>
              </a:r>
              <a:br/>
              <a:r>
                <a:rPr lang="zh-CN" sz="600" dirty="0">
                  <a:solidFill>
                    <a:srgbClr val="3D3835"/>
                  </a:solidFill>
                  <a:latin typeface="+mn-lt"/>
                  <a:ea typeface="+mn-ea"/>
                  <a:cs typeface="+mn-cs"/>
                </a:rPr>
                <a:t>顾问服务</a:t>
              </a:r>
            </a:p>
          </p:txBody>
        </p:sp>
        <p:sp>
          <p:nvSpPr>
            <p:cNvPr id="297" name="TextBox 297"/>
            <p:cNvSpPr txBox="1"/>
            <p:nvPr/>
          </p:nvSpPr>
          <p:spPr>
            <a:xfrm>
              <a:off x="9973628" y="4897755"/>
              <a:ext cx="55054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有明确购房</a:t>
              </a:r>
              <a:br/>
              <a:r>
                <a:rPr lang="zh-CN" sz="600" dirty="0">
                  <a:solidFill>
                    <a:srgbClr val="3D3835"/>
                  </a:solidFill>
                  <a:latin typeface="+mn-lt"/>
                  <a:ea typeface="+mn-ea"/>
                  <a:cs typeface="+mn-cs"/>
                </a:rPr>
                <a:t>​意向，对利率​</a:t>
              </a:r>
              <a:br/>
              <a:r>
                <a:rPr lang="zh-CN" sz="600" dirty="0">
                  <a:solidFill>
                    <a:srgbClr val="3D3835"/>
                  </a:solidFill>
                  <a:latin typeface="+mn-lt"/>
                  <a:ea typeface="+mn-ea"/>
                  <a:cs typeface="+mn-cs"/>
                </a:rPr>
                <a:t>敏感</a:t>
              </a:r>
            </a:p>
          </p:txBody>
        </p:sp>
        <p:sp>
          <p:nvSpPr>
            <p:cNvPr id="298" name="TextBox 298"/>
            <p:cNvSpPr txBox="1"/>
            <p:nvPr/>
          </p:nvSpPr>
          <p:spPr>
            <a:xfrm>
              <a:off x="10794682" y="4954905"/>
              <a:ext cx="26098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电话</a:t>
              </a:r>
              <a:br/>
              <a:r>
                <a:rPr lang="en-US" sz="600" dirty="0">
                  <a:solidFill>
                    <a:srgbClr val="3D3835"/>
                  </a:solidFill>
                  <a:latin typeface="+mn-lt"/>
                  <a:ea typeface="+mn-ea"/>
                  <a:cs typeface="+mn-cs"/>
                </a:rPr>
                <a:t>​+APP​</a:t>
              </a:r>
            </a:p>
          </p:txBody>
        </p:sp>
        <p:sp>
          <p:nvSpPr>
            <p:cNvPr id="299" name="TextBox 299"/>
            <p:cNvSpPr txBox="1"/>
            <p:nvPr/>
          </p:nvSpPr>
          <p:spPr>
            <a:xfrm>
              <a:off x="11240452" y="4954905"/>
              <a:ext cx="55054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​已有房贷申请​</a:t>
              </a:r>
              <a:br/>
              <a:r>
                <a:rPr lang="zh-CN" sz="600" dirty="0">
                  <a:solidFill>
                    <a:srgbClr val="3D3835"/>
                  </a:solidFill>
                  <a:latin typeface="+mn-lt"/>
                  <a:ea typeface="+mn-ea"/>
                  <a:cs typeface="+mn-cs"/>
                </a:rPr>
                <a:t>​或低意向评估​</a:t>
              </a:r>
            </a:p>
          </p:txBody>
        </p:sp>
        <p:grpSp>
          <p:nvGrpSpPr>
            <p:cNvPr id="303" name="Group 303"/>
            <p:cNvGrpSpPr/>
            <p:nvPr/>
          </p:nvGrpSpPr>
          <p:grpSpPr>
            <a:xfrm>
              <a:off x="8085914" y="5911861"/>
              <a:ext cx="192114" cy="165051"/>
              <a:chOff x="8085914" y="5911861"/>
              <a:chExt cx="192114" cy="165051"/>
            </a:xfrm>
          </p:grpSpPr>
          <p:sp>
            <p:nvSpPr>
              <p:cNvPr id="300" name="Freeform 300"/>
              <p:cNvSpPr/>
              <p:nvPr/>
            </p:nvSpPr>
            <p:spPr>
              <a:xfrm>
                <a:off x="8181975" y="5972175"/>
                <a:ext cx="9525" cy="38100"/>
              </a:xfrm>
              <a:custGeom>
                <a:avLst/>
                <a:gdLst/>
                <a:ahLst/>
                <a:cxnLst/>
                <a:rect l="l" t="t" r="r" b="b"/>
                <a:pathLst>
                  <a:path w="9525" h="38100">
                    <a:moveTo>
                      <a:pt x="0" y="0"/>
                    </a:moveTo>
                    <a:lnTo>
                      <a:pt x="0" y="38100"/>
                    </a:lnTo>
                  </a:path>
                </a:pathLst>
              </a:custGeom>
              <a:noFill/>
              <a:ln w="19050">
                <a:solidFill>
                  <a:srgbClr val="D82000"/>
                </a:solidFill>
              </a:ln>
            </p:spPr>
          </p:sp>
          <p:sp>
            <p:nvSpPr>
              <p:cNvPr id="301" name="Freeform 301"/>
              <p:cNvSpPr/>
              <p:nvPr/>
            </p:nvSpPr>
            <p:spPr>
              <a:xfrm>
                <a:off x="8085914" y="591186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D82000"/>
                </a:solidFill>
              </a:ln>
            </p:spPr>
          </p:sp>
          <p:sp>
            <p:nvSpPr>
              <p:cNvPr id="302" name="Freeform 302"/>
              <p:cNvSpPr/>
              <p:nvPr/>
            </p:nvSpPr>
            <p:spPr>
              <a:xfrm>
                <a:off x="8181975" y="6038850"/>
                <a:ext cx="9525" cy="9525"/>
              </a:xfrm>
              <a:custGeom>
                <a:avLst/>
                <a:gdLst/>
                <a:ahLst/>
                <a:cxnLst/>
                <a:rect l="l" t="t" r="r" b="b"/>
                <a:pathLst>
                  <a:path w="9525" h="9525">
                    <a:moveTo>
                      <a:pt x="0" y="0"/>
                    </a:moveTo>
                    <a:lnTo>
                      <a:pt x="95" y="0"/>
                    </a:lnTo>
                  </a:path>
                </a:pathLst>
              </a:custGeom>
              <a:noFill/>
              <a:ln w="19050">
                <a:solidFill>
                  <a:srgbClr val="D82000"/>
                </a:solidFill>
              </a:ln>
            </p:spPr>
          </p:sp>
        </p:grpSp>
        <p:sp>
          <p:nvSpPr>
            <p:cNvPr id="304" name="TextBox 304"/>
            <p:cNvSpPr txBox="1"/>
            <p:nvPr/>
          </p:nvSpPr>
          <p:spPr>
            <a:xfrm>
              <a:off x="7886433" y="6217682"/>
              <a:ext cx="591083"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4A130A"/>
                  </a:solidFill>
                  <a:latin typeface="+mn-lt"/>
                  <a:ea typeface="+mn-ea"/>
                  <a:cs typeface="+mn-cs"/>
                </a:rPr>
                <a:t>服务敏感</a:t>
              </a:r>
              <a:br/>
              <a:r>
                <a:rPr lang="zh-CN" sz="640" b="1" dirty="0">
                  <a:solidFill>
                    <a:srgbClr val="4A130A"/>
                  </a:solidFill>
                  <a:latin typeface="+mn-lt"/>
                  <a:ea typeface="+mn-ea"/>
                  <a:cs typeface="+mn-cs"/>
                </a:rPr>
                <a:t>​流失预警客群​</a:t>
              </a:r>
            </a:p>
          </p:txBody>
        </p:sp>
        <p:sp>
          <p:nvSpPr>
            <p:cNvPr id="305" name="TextBox 305"/>
            <p:cNvSpPr txBox="1"/>
            <p:nvPr/>
          </p:nvSpPr>
          <p:spPr>
            <a:xfrm>
              <a:off x="8638222" y="5993130"/>
              <a:ext cx="44005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​近30天​</a:t>
              </a:r>
              <a:br/>
              <a:r>
                <a:rPr lang="zh-CN" sz="600" dirty="0">
                  <a:solidFill>
                    <a:srgbClr val="3D3835"/>
                  </a:solidFill>
                  <a:latin typeface="+mn-lt"/>
                  <a:ea typeface="+mn-ea"/>
                  <a:cs typeface="+mn-cs"/>
                </a:rPr>
                <a:t>​登录/交易​</a:t>
              </a:r>
              <a:br/>
              <a:r>
                <a:rPr lang="zh-CN" sz="600" dirty="0">
                  <a:solidFill>
                    <a:srgbClr val="3D3835"/>
                  </a:solidFill>
                  <a:latin typeface="+mn-lt"/>
                  <a:ea typeface="+mn-ea"/>
                  <a:cs typeface="+mn-cs"/>
                </a:rPr>
                <a:t>频次下降</a:t>
              </a:r>
            </a:p>
          </p:txBody>
        </p:sp>
        <p:sp>
          <p:nvSpPr>
            <p:cNvPr id="306" name="TextBox 306"/>
            <p:cNvSpPr txBox="1"/>
            <p:nvPr/>
          </p:nvSpPr>
          <p:spPr>
            <a:xfrm>
              <a:off x="9314498" y="6050280"/>
              <a:ext cx="44005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​关怀提醒+​</a:t>
              </a:r>
              <a:br/>
              <a:r>
                <a:rPr lang="zh-CN" sz="600" dirty="0">
                  <a:solidFill>
                    <a:srgbClr val="3D3835"/>
                  </a:solidFill>
                  <a:latin typeface="+mn-lt"/>
                  <a:ea typeface="+mn-ea"/>
                  <a:cs typeface="+mn-cs"/>
                </a:rPr>
                <a:t>专属权益</a:t>
              </a:r>
            </a:p>
          </p:txBody>
        </p:sp>
        <p:sp>
          <p:nvSpPr>
            <p:cNvPr id="307" name="TextBox 307"/>
            <p:cNvSpPr txBox="1"/>
            <p:nvPr/>
          </p:nvSpPr>
          <p:spPr>
            <a:xfrm>
              <a:off x="9973628" y="5993130"/>
              <a:ext cx="55054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​活跃度下降，​</a:t>
              </a:r>
              <a:br/>
              <a:r>
                <a:rPr lang="zh-CN" sz="600" dirty="0">
                  <a:solidFill>
                    <a:srgbClr val="3D3835"/>
                  </a:solidFill>
                  <a:latin typeface="+mn-lt"/>
                  <a:ea typeface="+mn-ea"/>
                  <a:cs typeface="+mn-cs"/>
                </a:rPr>
                <a:t>​通过关怀提升​</a:t>
              </a:r>
              <a:br/>
              <a:r>
                <a:rPr lang="zh-CN" sz="600" dirty="0">
                  <a:solidFill>
                    <a:srgbClr val="3D3835"/>
                  </a:solidFill>
                  <a:latin typeface="+mn-lt"/>
                  <a:ea typeface="+mn-ea"/>
                  <a:cs typeface="+mn-cs"/>
                </a:rPr>
                <a:t>粘性</a:t>
              </a:r>
            </a:p>
          </p:txBody>
        </p:sp>
        <p:sp>
          <p:nvSpPr>
            <p:cNvPr id="308" name="TextBox 308"/>
            <p:cNvSpPr txBox="1"/>
            <p:nvPr/>
          </p:nvSpPr>
          <p:spPr>
            <a:xfrm>
              <a:off x="10686098" y="6050280"/>
              <a:ext cx="47815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​​APP 推送​​</a:t>
              </a:r>
              <a:br/>
              <a:r>
                <a:rPr lang="zh-CN" sz="600" dirty="0">
                  <a:solidFill>
                    <a:srgbClr val="3D3835"/>
                  </a:solidFill>
                  <a:latin typeface="+mn-lt"/>
                  <a:ea typeface="+mn-ea"/>
                  <a:cs typeface="+mn-cs"/>
                </a:rPr>
                <a:t>​+电话​</a:t>
              </a:r>
            </a:p>
          </p:txBody>
        </p:sp>
        <p:sp>
          <p:nvSpPr>
            <p:cNvPr id="309" name="TextBox 309"/>
            <p:cNvSpPr txBox="1"/>
            <p:nvPr/>
          </p:nvSpPr>
          <p:spPr>
            <a:xfrm>
              <a:off x="11257598" y="6050280"/>
              <a:ext cx="51625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3D3835"/>
                  </a:solidFill>
                  <a:latin typeface="+mn-lt"/>
                  <a:ea typeface="+mn-ea"/>
                  <a:cs typeface="+mn-cs"/>
                </a:rPr>
                <a:t>​近7天已触达​</a:t>
              </a:r>
              <a:br/>
              <a:r>
                <a:rPr lang="zh-CN" sz="600" dirty="0">
                  <a:solidFill>
                    <a:srgbClr val="3D3835"/>
                  </a:solidFill>
                  <a:latin typeface="+mn-lt"/>
                  <a:ea typeface="+mn-ea"/>
                  <a:cs typeface="+mn-cs"/>
                </a:rPr>
                <a:t>关怀失效</a:t>
              </a:r>
            </a:p>
          </p:txBody>
        </p:sp>
        <p:sp>
          <p:nvSpPr>
            <p:cNvPr id="310" name="Line 310"/>
            <p:cNvSpPr/>
            <p:nvPr/>
          </p:nvSpPr>
          <p:spPr>
            <a:xfrm>
              <a:off x="8515350" y="952500"/>
              <a:ext cx="9525" cy="5743575"/>
            </a:xfrm>
            <a:custGeom>
              <a:avLst/>
              <a:gdLst/>
              <a:ahLst/>
              <a:cxnLst/>
              <a:rect l="l" t="t" r="r" b="b"/>
              <a:pathLst>
                <a:path w="9525" h="5743575">
                  <a:moveTo>
                    <a:pt x="0" y="0"/>
                  </a:moveTo>
                  <a:lnTo>
                    <a:pt x="0" y="5743575"/>
                  </a:lnTo>
                </a:path>
              </a:pathLst>
            </a:custGeom>
            <a:noFill/>
            <a:ln w="9525">
              <a:solidFill>
                <a:srgbClr val="EADBCE"/>
              </a:solidFill>
            </a:ln>
          </p:spPr>
        </p:sp>
        <p:sp>
          <p:nvSpPr>
            <p:cNvPr id="311" name="Line 311"/>
            <p:cNvSpPr/>
            <p:nvPr/>
          </p:nvSpPr>
          <p:spPr>
            <a:xfrm>
              <a:off x="9201150" y="952500"/>
              <a:ext cx="9525" cy="5743575"/>
            </a:xfrm>
            <a:custGeom>
              <a:avLst/>
              <a:gdLst/>
              <a:ahLst/>
              <a:cxnLst/>
              <a:rect l="l" t="t" r="r" b="b"/>
              <a:pathLst>
                <a:path w="9525" h="5743575">
                  <a:moveTo>
                    <a:pt x="0" y="0"/>
                  </a:moveTo>
                  <a:lnTo>
                    <a:pt x="0" y="5743575"/>
                  </a:lnTo>
                </a:path>
              </a:pathLst>
            </a:custGeom>
            <a:noFill/>
            <a:ln w="9525">
              <a:solidFill>
                <a:srgbClr val="EADBCE"/>
              </a:solidFill>
            </a:ln>
          </p:spPr>
        </p:sp>
        <p:sp>
          <p:nvSpPr>
            <p:cNvPr id="312" name="Line 312"/>
            <p:cNvSpPr/>
            <p:nvPr/>
          </p:nvSpPr>
          <p:spPr>
            <a:xfrm>
              <a:off x="9867900" y="952500"/>
              <a:ext cx="9525" cy="5743575"/>
            </a:xfrm>
            <a:custGeom>
              <a:avLst/>
              <a:gdLst/>
              <a:ahLst/>
              <a:cxnLst/>
              <a:rect l="l" t="t" r="r" b="b"/>
              <a:pathLst>
                <a:path w="9525" h="5743575">
                  <a:moveTo>
                    <a:pt x="0" y="0"/>
                  </a:moveTo>
                  <a:lnTo>
                    <a:pt x="0" y="5743575"/>
                  </a:lnTo>
                </a:path>
              </a:pathLst>
            </a:custGeom>
            <a:noFill/>
            <a:ln w="9525">
              <a:solidFill>
                <a:srgbClr val="EADBCE"/>
              </a:solidFill>
            </a:ln>
          </p:spPr>
        </p:sp>
        <p:sp>
          <p:nvSpPr>
            <p:cNvPr id="313" name="Line 313"/>
            <p:cNvSpPr/>
            <p:nvPr/>
          </p:nvSpPr>
          <p:spPr>
            <a:xfrm>
              <a:off x="10629900" y="952500"/>
              <a:ext cx="9525" cy="5743575"/>
            </a:xfrm>
            <a:custGeom>
              <a:avLst/>
              <a:gdLst/>
              <a:ahLst/>
              <a:cxnLst/>
              <a:rect l="l" t="t" r="r" b="b"/>
              <a:pathLst>
                <a:path w="9525" h="5743575">
                  <a:moveTo>
                    <a:pt x="0" y="0"/>
                  </a:moveTo>
                  <a:lnTo>
                    <a:pt x="0" y="5743575"/>
                  </a:lnTo>
                </a:path>
              </a:pathLst>
            </a:custGeom>
            <a:noFill/>
            <a:ln w="9525">
              <a:solidFill>
                <a:srgbClr val="EADBCE"/>
              </a:solidFill>
            </a:ln>
          </p:spPr>
        </p:sp>
        <p:sp>
          <p:nvSpPr>
            <p:cNvPr id="314" name="Line 314"/>
            <p:cNvSpPr/>
            <p:nvPr/>
          </p:nvSpPr>
          <p:spPr>
            <a:xfrm>
              <a:off x="11220450" y="952500"/>
              <a:ext cx="9525" cy="5743575"/>
            </a:xfrm>
            <a:custGeom>
              <a:avLst/>
              <a:gdLst/>
              <a:ahLst/>
              <a:cxnLst/>
              <a:rect l="l" t="t" r="r" b="b"/>
              <a:pathLst>
                <a:path w="9525" h="5743575">
                  <a:moveTo>
                    <a:pt x="0" y="0"/>
                  </a:moveTo>
                  <a:lnTo>
                    <a:pt x="0" y="5743575"/>
                  </a:lnTo>
                </a:path>
              </a:pathLst>
            </a:custGeom>
            <a:noFill/>
            <a:ln w="9525">
              <a:solidFill>
                <a:srgbClr val="EADBCE"/>
              </a:solidFill>
            </a:ln>
          </p:spPr>
        </p:sp>
        <p:sp>
          <p:nvSpPr>
            <p:cNvPr id="315" name="Line 315"/>
            <p:cNvSpPr/>
            <p:nvPr/>
          </p:nvSpPr>
          <p:spPr>
            <a:xfrm>
              <a:off x="7848600" y="2314575"/>
              <a:ext cx="3962400" cy="9525"/>
            </a:xfrm>
            <a:custGeom>
              <a:avLst/>
              <a:gdLst/>
              <a:ahLst/>
              <a:cxnLst/>
              <a:rect l="l" t="t" r="r" b="b"/>
              <a:pathLst>
                <a:path w="3962400" h="9525">
                  <a:moveTo>
                    <a:pt x="0" y="0"/>
                  </a:moveTo>
                  <a:lnTo>
                    <a:pt x="3962400" y="0"/>
                  </a:lnTo>
                </a:path>
              </a:pathLst>
            </a:custGeom>
            <a:noFill/>
            <a:ln w="9525">
              <a:solidFill>
                <a:srgbClr val="EADBCE"/>
              </a:solidFill>
            </a:ln>
          </p:spPr>
        </p:sp>
        <p:sp>
          <p:nvSpPr>
            <p:cNvPr id="316" name="Line 316"/>
            <p:cNvSpPr/>
            <p:nvPr/>
          </p:nvSpPr>
          <p:spPr>
            <a:xfrm>
              <a:off x="7848600" y="3409950"/>
              <a:ext cx="3962400" cy="9525"/>
            </a:xfrm>
            <a:custGeom>
              <a:avLst/>
              <a:gdLst/>
              <a:ahLst/>
              <a:cxnLst/>
              <a:rect l="l" t="t" r="r" b="b"/>
              <a:pathLst>
                <a:path w="3962400" h="9525">
                  <a:moveTo>
                    <a:pt x="0" y="0"/>
                  </a:moveTo>
                  <a:lnTo>
                    <a:pt x="3962400" y="0"/>
                  </a:lnTo>
                </a:path>
              </a:pathLst>
            </a:custGeom>
            <a:noFill/>
            <a:ln w="9525">
              <a:solidFill>
                <a:srgbClr val="EADBCE"/>
              </a:solidFill>
            </a:ln>
          </p:spPr>
        </p:sp>
        <p:sp>
          <p:nvSpPr>
            <p:cNvPr id="317" name="Line 317"/>
            <p:cNvSpPr/>
            <p:nvPr/>
          </p:nvSpPr>
          <p:spPr>
            <a:xfrm>
              <a:off x="7848600" y="4505325"/>
              <a:ext cx="3962400" cy="9525"/>
            </a:xfrm>
            <a:custGeom>
              <a:avLst/>
              <a:gdLst/>
              <a:ahLst/>
              <a:cxnLst/>
              <a:rect l="l" t="t" r="r" b="b"/>
              <a:pathLst>
                <a:path w="3962400" h="9525">
                  <a:moveTo>
                    <a:pt x="0" y="0"/>
                  </a:moveTo>
                  <a:lnTo>
                    <a:pt x="3962400" y="0"/>
                  </a:lnTo>
                </a:path>
              </a:pathLst>
            </a:custGeom>
            <a:noFill/>
            <a:ln w="9525">
              <a:solidFill>
                <a:srgbClr val="EADBCE"/>
              </a:solidFill>
            </a:ln>
          </p:spPr>
        </p:sp>
        <p:sp>
          <p:nvSpPr>
            <p:cNvPr id="318" name="Line 318"/>
            <p:cNvSpPr/>
            <p:nvPr/>
          </p:nvSpPr>
          <p:spPr>
            <a:xfrm>
              <a:off x="7848600" y="5600700"/>
              <a:ext cx="3962400" cy="9525"/>
            </a:xfrm>
            <a:custGeom>
              <a:avLst/>
              <a:gdLst/>
              <a:ahLst/>
              <a:cxnLst/>
              <a:rect l="l" t="t" r="r" b="b"/>
              <a:pathLst>
                <a:path w="3962400" h="9525">
                  <a:moveTo>
                    <a:pt x="0" y="0"/>
                  </a:moveTo>
                  <a:lnTo>
                    <a:pt x="3962400" y="0"/>
                  </a:lnTo>
                </a:path>
              </a:pathLst>
            </a:custGeom>
            <a:noFill/>
            <a:ln w="9525">
              <a:solidFill>
                <a:srgbClr val="EADBCE"/>
              </a:solidFill>
            </a:ln>
          </p:spPr>
        </p:sp>
      </p:gr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15</a:t>
              </a:r>
            </a:p>
          </p:txBody>
        </p:sp>
        <p:sp>
          <p:nvSpPr>
            <p:cNvPr id="4" name="TextBox 4"/>
            <p:cNvSpPr txBox="1"/>
            <p:nvPr/>
          </p:nvSpPr>
          <p:spPr>
            <a:xfrm>
              <a:off x="904494" y="170498"/>
              <a:ext cx="7628772"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数据与AI</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构建客户360、实时事件与智能决策三层运营底座​​​​</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217" name="architecture-layers"/>
          <p:cNvGrpSpPr/>
          <p:nvPr/>
        </p:nvGrpSpPr>
        <p:grpSpPr>
          <a:xfrm>
            <a:off x="342900" y="685800"/>
            <a:ext cx="5753100" cy="5943600"/>
            <a:chOff x="342900" y="685800"/>
            <a:chExt cx="5753100" cy="5943600"/>
          </a:xfrm>
        </p:grpSpPr>
        <p:sp>
          <p:nvSpPr>
            <p:cNvPr id="7" name="Rectangle 7"/>
            <p:cNvSpPr/>
            <p:nvPr/>
          </p:nvSpPr>
          <p:spPr>
            <a:xfrm>
              <a:off x="342900" y="685800"/>
              <a:ext cx="571500" cy="971550"/>
            </a:xfrm>
            <a:prstGeom prst="roundRect">
              <a:avLst>
                <a:gd name="adj" fmla="val 6667"/>
              </a:avLst>
            </a:prstGeom>
            <a:solidFill>
              <a:srgbClr val="8F1C08"/>
            </a:solidFill>
            <a:ln>
              <a:noFill/>
            </a:ln>
          </p:spPr>
        </p:sp>
        <p:grpSp>
          <p:nvGrpSpPr>
            <p:cNvPr id="11" name="Group 11"/>
            <p:cNvGrpSpPr/>
            <p:nvPr/>
          </p:nvGrpSpPr>
          <p:grpSpPr>
            <a:xfrm>
              <a:off x="558800" y="883444"/>
              <a:ext cx="139700" cy="157162"/>
              <a:chOff x="558800" y="883444"/>
              <a:chExt cx="139700" cy="157162"/>
            </a:xfrm>
          </p:grpSpPr>
          <p:sp>
            <p:nvSpPr>
              <p:cNvPr id="8" name="Freeform 8"/>
              <p:cNvSpPr/>
              <p:nvPr/>
            </p:nvSpPr>
            <p:spPr>
              <a:xfrm>
                <a:off x="558800" y="88344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FFFFFF"/>
                </a:solidFill>
              </a:ln>
            </p:spPr>
          </p:sp>
          <p:sp>
            <p:nvSpPr>
              <p:cNvPr id="9" name="Freeform 9"/>
              <p:cNvSpPr/>
              <p:nvPr/>
            </p:nvSpPr>
            <p:spPr>
              <a:xfrm>
                <a:off x="558800" y="90963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sp>
            <p:nvSpPr>
              <p:cNvPr id="10" name="Freeform 10"/>
              <p:cNvSpPr/>
              <p:nvPr/>
            </p:nvSpPr>
            <p:spPr>
              <a:xfrm>
                <a:off x="558800" y="96202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grpSp>
        <p:sp>
          <p:nvSpPr>
            <p:cNvPr id="12" name="TextBox 12"/>
            <p:cNvSpPr txBox="1"/>
            <p:nvPr/>
          </p:nvSpPr>
          <p:spPr>
            <a:xfrm>
              <a:off x="432727" y="12184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数据源层</a:t>
              </a:r>
            </a:p>
          </p:txBody>
        </p:sp>
        <p:sp>
          <p:nvSpPr>
            <p:cNvPr id="13" name="Rectangle 13"/>
            <p:cNvSpPr/>
            <p:nvPr/>
          </p:nvSpPr>
          <p:spPr>
            <a:xfrm>
              <a:off x="952500" y="685800"/>
              <a:ext cx="5143500" cy="971550"/>
            </a:xfrm>
            <a:prstGeom prst="roundRect">
              <a:avLst>
                <a:gd name="adj" fmla="val 3922"/>
              </a:avLst>
            </a:prstGeom>
            <a:solidFill>
              <a:srgbClr val="FFF8F2"/>
            </a:solidFill>
            <a:ln w="9525">
              <a:solidFill>
                <a:srgbClr val="F0B8AE"/>
              </a:solidFill>
            </a:ln>
          </p:spPr>
        </p:sp>
        <p:sp>
          <p:nvSpPr>
            <p:cNvPr id="14" name="Ellipse 14"/>
            <p:cNvSpPr/>
            <p:nvPr/>
          </p:nvSpPr>
          <p:spPr>
            <a:xfrm>
              <a:off x="1000125" y="771525"/>
              <a:ext cx="171450" cy="171450"/>
            </a:xfrm>
            <a:prstGeom prst="ellipse">
              <a:avLst/>
            </a:prstGeom>
            <a:solidFill>
              <a:srgbClr val="C41D00"/>
            </a:solidFill>
            <a:ln>
              <a:noFill/>
            </a:ln>
          </p:spPr>
        </p:sp>
        <p:sp>
          <p:nvSpPr>
            <p:cNvPr id="15" name="TextBox 15"/>
            <p:cNvSpPr txBox="1"/>
            <p:nvPr/>
          </p:nvSpPr>
          <p:spPr>
            <a:xfrm>
              <a:off x="993627" y="8143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16" name="TextBox 16"/>
            <p:cNvSpPr txBox="1"/>
            <p:nvPr/>
          </p:nvSpPr>
          <p:spPr>
            <a:xfrm>
              <a:off x="3102088" y="776288"/>
              <a:ext cx="1034825"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​内外部多源数据接入​</a:t>
              </a:r>
            </a:p>
          </p:txBody>
        </p:sp>
        <p:sp>
          <p:nvSpPr>
            <p:cNvPr id="17" name="Rectangle 17"/>
            <p:cNvSpPr/>
            <p:nvPr/>
          </p:nvSpPr>
          <p:spPr>
            <a:xfrm>
              <a:off x="1200150" y="952500"/>
              <a:ext cx="914400" cy="495300"/>
            </a:xfrm>
            <a:prstGeom prst="roundRect">
              <a:avLst>
                <a:gd name="adj" fmla="val 5769"/>
              </a:avLst>
            </a:prstGeom>
            <a:solidFill>
              <a:srgbClr val="FFFFFF"/>
            </a:solidFill>
            <a:ln w="9525">
              <a:solidFill>
                <a:srgbClr val="F0B8AE"/>
              </a:solidFill>
            </a:ln>
          </p:spPr>
        </p:sp>
        <p:grpSp>
          <p:nvGrpSpPr>
            <p:cNvPr id="26" name="Group 26"/>
            <p:cNvGrpSpPr/>
            <p:nvPr/>
          </p:nvGrpSpPr>
          <p:grpSpPr>
            <a:xfrm>
              <a:off x="1264444" y="1026319"/>
              <a:ext cx="103981" cy="109537"/>
              <a:chOff x="1264444" y="1026319"/>
              <a:chExt cx="103981" cy="109537"/>
            </a:xfrm>
          </p:grpSpPr>
          <p:sp>
            <p:nvSpPr>
              <p:cNvPr id="18" name="Freeform 18"/>
              <p:cNvSpPr/>
              <p:nvPr/>
            </p:nvSpPr>
            <p:spPr>
              <a:xfrm>
                <a:off x="1264444" y="1126331"/>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19" name="Freeform 19"/>
              <p:cNvSpPr/>
              <p:nvPr/>
            </p:nvSpPr>
            <p:spPr>
              <a:xfrm>
                <a:off x="1264444" y="1065212"/>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20" name="Freeform 20"/>
              <p:cNvSpPr/>
              <p:nvPr/>
            </p:nvSpPr>
            <p:spPr>
              <a:xfrm>
                <a:off x="1275556" y="1026319"/>
                <a:ext cx="77787" cy="16669"/>
              </a:xfrm>
              <a:custGeom>
                <a:avLst/>
                <a:gdLst/>
                <a:ahLst/>
                <a:cxnLst/>
                <a:rect l="l" t="t" r="r" b="b"/>
                <a:pathLst>
                  <a:path w="77787" h="16669">
                    <a:moveTo>
                      <a:pt x="0" y="16669"/>
                    </a:moveTo>
                    <a:lnTo>
                      <a:pt x="38894" y="0"/>
                    </a:lnTo>
                    <a:lnTo>
                      <a:pt x="77787" y="16669"/>
                    </a:lnTo>
                  </a:path>
                </a:pathLst>
              </a:custGeom>
              <a:noFill/>
              <a:ln w="11112">
                <a:solidFill>
                  <a:srgbClr val="D82000"/>
                </a:solidFill>
              </a:ln>
            </p:spPr>
          </p:sp>
          <p:sp>
            <p:nvSpPr>
              <p:cNvPr id="21" name="Freeform 21"/>
              <p:cNvSpPr/>
              <p:nvPr/>
            </p:nvSpPr>
            <p:spPr>
              <a:xfrm>
                <a:off x="1270000" y="1065212"/>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22" name="Freeform 22"/>
              <p:cNvSpPr/>
              <p:nvPr/>
            </p:nvSpPr>
            <p:spPr>
              <a:xfrm>
                <a:off x="1358900" y="1065212"/>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23" name="Freeform 23"/>
              <p:cNvSpPr/>
              <p:nvPr/>
            </p:nvSpPr>
            <p:spPr>
              <a:xfrm>
                <a:off x="1292225" y="1087437"/>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24" name="Freeform 24"/>
              <p:cNvSpPr/>
              <p:nvPr/>
            </p:nvSpPr>
            <p:spPr>
              <a:xfrm>
                <a:off x="1314450" y="1087437"/>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25" name="Freeform 25"/>
              <p:cNvSpPr/>
              <p:nvPr/>
            </p:nvSpPr>
            <p:spPr>
              <a:xfrm>
                <a:off x="1336675" y="1087437"/>
                <a:ext cx="9525" cy="16669"/>
              </a:xfrm>
              <a:custGeom>
                <a:avLst/>
                <a:gdLst/>
                <a:ahLst/>
                <a:cxnLst/>
                <a:rect l="l" t="t" r="r" b="b"/>
                <a:pathLst>
                  <a:path w="9525" h="16669">
                    <a:moveTo>
                      <a:pt x="0" y="0"/>
                    </a:moveTo>
                    <a:lnTo>
                      <a:pt x="0" y="16669"/>
                    </a:lnTo>
                  </a:path>
                </a:pathLst>
              </a:custGeom>
              <a:noFill/>
              <a:ln w="11112">
                <a:solidFill>
                  <a:srgbClr val="D82000"/>
                </a:solidFill>
              </a:ln>
            </p:spPr>
          </p:sp>
        </p:grpSp>
        <p:sp>
          <p:nvSpPr>
            <p:cNvPr id="27" name="TextBox 27"/>
            <p:cNvSpPr txBox="1"/>
            <p:nvPr/>
          </p:nvSpPr>
          <p:spPr>
            <a:xfrm>
              <a:off x="1414462" y="1045607"/>
              <a:ext cx="354152" cy="126206"/>
            </a:xfrm>
            <a:prstGeom prst="rect">
              <a:avLst/>
            </a:prstGeom>
            <a:noFill/>
            <a:ln>
              <a:noFill/>
            </a:ln>
          </p:spPr>
          <p:txBody>
            <a:bodyPr wrap="none" lIns="0" tIns="0" rIns="0" bIns="0" anchor="t" anchorCtr="0">
              <a:spAutoFit/>
            </a:bodyPr>
            <a:lstStyle/>
            <a:p>
              <a:pPr algn="l"/>
              <a:r>
                <a:rPr lang="zh-CN" sz="640" b="1" dirty="0">
                  <a:solidFill>
                    <a:srgbClr val="4A130A"/>
                  </a:solidFill>
                  <a:latin typeface="+mn-lt"/>
                  <a:ea typeface="+mn-ea"/>
                  <a:cs typeface="+mn-cs"/>
                </a:rPr>
                <a:t>核心系统</a:t>
              </a:r>
            </a:p>
          </p:txBody>
        </p:sp>
        <p:sp>
          <p:nvSpPr>
            <p:cNvPr id="28" name="TextBox 28"/>
            <p:cNvSpPr txBox="1"/>
            <p:nvPr/>
          </p:nvSpPr>
          <p:spPr>
            <a:xfrm>
              <a:off x="1302037" y="1234678"/>
              <a:ext cx="710626"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​​账户/交易/产品​​</a:t>
              </a:r>
            </a:p>
          </p:txBody>
        </p:sp>
        <p:sp>
          <p:nvSpPr>
            <p:cNvPr id="29" name="Rectangle 29"/>
            <p:cNvSpPr/>
            <p:nvPr/>
          </p:nvSpPr>
          <p:spPr>
            <a:xfrm>
              <a:off x="2171700" y="952500"/>
              <a:ext cx="914400" cy="495300"/>
            </a:xfrm>
            <a:prstGeom prst="roundRect">
              <a:avLst>
                <a:gd name="adj" fmla="val 5769"/>
              </a:avLst>
            </a:prstGeom>
            <a:solidFill>
              <a:srgbClr val="FFFFFF"/>
            </a:solidFill>
            <a:ln w="9525">
              <a:solidFill>
                <a:srgbClr val="F0B8AE"/>
              </a:solidFill>
            </a:ln>
          </p:spPr>
        </p:sp>
        <p:grpSp>
          <p:nvGrpSpPr>
            <p:cNvPr id="33" name="Group 33"/>
            <p:cNvGrpSpPr/>
            <p:nvPr/>
          </p:nvGrpSpPr>
          <p:grpSpPr>
            <a:xfrm>
              <a:off x="2252662" y="1026319"/>
              <a:ext cx="66675" cy="100012"/>
              <a:chOff x="2252662" y="1026319"/>
              <a:chExt cx="66675" cy="100012"/>
            </a:xfrm>
          </p:grpSpPr>
          <p:sp>
            <p:nvSpPr>
              <p:cNvPr id="30" name="Freeform 30"/>
              <p:cNvSpPr/>
              <p:nvPr/>
            </p:nvSpPr>
            <p:spPr>
              <a:xfrm>
                <a:off x="2252662" y="102631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D82000"/>
                </a:solidFill>
              </a:ln>
            </p:spPr>
          </p:sp>
          <p:sp>
            <p:nvSpPr>
              <p:cNvPr id="31" name="Freeform 31"/>
              <p:cNvSpPr/>
              <p:nvPr/>
            </p:nvSpPr>
            <p:spPr>
              <a:xfrm>
                <a:off x="2280444" y="1031875"/>
                <a:ext cx="11112" cy="9525"/>
              </a:xfrm>
              <a:custGeom>
                <a:avLst/>
                <a:gdLst/>
                <a:ahLst/>
                <a:cxnLst/>
                <a:rect l="l" t="t" r="r" b="b"/>
                <a:pathLst>
                  <a:path w="11112" h="9525">
                    <a:moveTo>
                      <a:pt x="0" y="0"/>
                    </a:moveTo>
                    <a:lnTo>
                      <a:pt x="11112" y="0"/>
                    </a:lnTo>
                  </a:path>
                </a:pathLst>
              </a:custGeom>
              <a:noFill/>
              <a:ln w="11112">
                <a:solidFill>
                  <a:srgbClr val="D82000"/>
                </a:solidFill>
              </a:ln>
            </p:spPr>
          </p:sp>
          <p:sp>
            <p:nvSpPr>
              <p:cNvPr id="32" name="Freeform 32"/>
              <p:cNvSpPr/>
              <p:nvPr/>
            </p:nvSpPr>
            <p:spPr>
              <a:xfrm>
                <a:off x="2286000" y="1104106"/>
                <a:ext cx="9525" cy="9525"/>
              </a:xfrm>
              <a:custGeom>
                <a:avLst/>
                <a:gdLst/>
                <a:ahLst/>
                <a:cxnLst/>
                <a:rect l="l" t="t" r="r" b="b"/>
                <a:pathLst>
                  <a:path w="9525" h="9525">
                    <a:moveTo>
                      <a:pt x="0" y="0"/>
                    </a:moveTo>
                    <a:lnTo>
                      <a:pt x="0" y="56"/>
                    </a:lnTo>
                  </a:path>
                </a:pathLst>
              </a:custGeom>
              <a:noFill/>
              <a:ln w="11112">
                <a:solidFill>
                  <a:srgbClr val="D82000"/>
                </a:solidFill>
              </a:ln>
            </p:spPr>
          </p:sp>
        </p:grpSp>
        <p:sp>
          <p:nvSpPr>
            <p:cNvPr id="34" name="TextBox 34"/>
            <p:cNvSpPr txBox="1"/>
            <p:nvPr/>
          </p:nvSpPr>
          <p:spPr>
            <a:xfrm>
              <a:off x="2386012" y="1045607"/>
              <a:ext cx="354152" cy="126206"/>
            </a:xfrm>
            <a:prstGeom prst="rect">
              <a:avLst/>
            </a:prstGeom>
            <a:noFill/>
            <a:ln>
              <a:noFill/>
            </a:ln>
          </p:spPr>
          <p:txBody>
            <a:bodyPr wrap="none" lIns="0" tIns="0" rIns="0" bIns="0" anchor="t" anchorCtr="0">
              <a:spAutoFit/>
            </a:bodyPr>
            <a:lstStyle/>
            <a:p>
              <a:pPr algn="l"/>
              <a:r>
                <a:rPr lang="zh-CN" sz="640" b="1" dirty="0">
                  <a:solidFill>
                    <a:srgbClr val="4A130A"/>
                  </a:solidFill>
                  <a:latin typeface="+mn-lt"/>
                  <a:ea typeface="+mn-ea"/>
                  <a:cs typeface="+mn-cs"/>
                </a:rPr>
                <a:t>渠道行为</a:t>
              </a:r>
            </a:p>
          </p:txBody>
        </p:sp>
        <p:sp>
          <p:nvSpPr>
            <p:cNvPr id="35" name="TextBox 35"/>
            <p:cNvSpPr txBox="1"/>
            <p:nvPr/>
          </p:nvSpPr>
          <p:spPr>
            <a:xfrm>
              <a:off x="2279739" y="1234678"/>
              <a:ext cx="698322"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​​APP/网银/微信​​</a:t>
              </a:r>
            </a:p>
          </p:txBody>
        </p:sp>
        <p:sp>
          <p:nvSpPr>
            <p:cNvPr id="36" name="Rectangle 36"/>
            <p:cNvSpPr/>
            <p:nvPr/>
          </p:nvSpPr>
          <p:spPr>
            <a:xfrm>
              <a:off x="3143250" y="952500"/>
              <a:ext cx="914400" cy="495300"/>
            </a:xfrm>
            <a:prstGeom prst="roundRect">
              <a:avLst>
                <a:gd name="adj" fmla="val 5769"/>
              </a:avLst>
            </a:prstGeom>
            <a:solidFill>
              <a:srgbClr val="FFFFFF"/>
            </a:solidFill>
            <a:ln w="9525">
              <a:solidFill>
                <a:srgbClr val="F0B8AE"/>
              </a:solidFill>
            </a:ln>
          </p:spPr>
        </p:sp>
        <p:sp>
          <p:nvSpPr>
            <p:cNvPr id="37" name="Freeform 37"/>
            <p:cNvSpPr/>
            <p:nvPr/>
          </p:nvSpPr>
          <p:spPr>
            <a:xfrm>
              <a:off x="3201854" y="102756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D82000"/>
              </a:solidFill>
            </a:ln>
          </p:spPr>
        </p:sp>
        <p:sp>
          <p:nvSpPr>
            <p:cNvPr id="38" name="TextBox 38"/>
            <p:cNvSpPr txBox="1"/>
            <p:nvPr/>
          </p:nvSpPr>
          <p:spPr>
            <a:xfrm>
              <a:off x="3357562" y="1045607"/>
              <a:ext cx="440309" cy="126206"/>
            </a:xfrm>
            <a:prstGeom prst="rect">
              <a:avLst/>
            </a:prstGeom>
            <a:noFill/>
            <a:ln>
              <a:noFill/>
            </a:ln>
          </p:spPr>
          <p:txBody>
            <a:bodyPr wrap="none" lIns="0" tIns="0" rIns="0" bIns="0" anchor="t" anchorCtr="0">
              <a:spAutoFit/>
            </a:bodyPr>
            <a:lstStyle/>
            <a:p>
              <a:pPr algn="l"/>
              <a:r>
                <a:rPr lang="zh-CN" sz="640" b="1" dirty="0">
                  <a:solidFill>
                    <a:srgbClr val="4A130A"/>
                  </a:solidFill>
                  <a:latin typeface="+mn-lt"/>
                  <a:ea typeface="+mn-ea"/>
                  <a:cs typeface="+mn-cs"/>
                </a:rPr>
                <a:t>触点与互动</a:t>
              </a:r>
            </a:p>
          </p:txBody>
        </p:sp>
        <p:sp>
          <p:nvSpPr>
            <p:cNvPr id="39" name="TextBox 39"/>
            <p:cNvSpPr txBox="1"/>
            <p:nvPr/>
          </p:nvSpPr>
          <p:spPr>
            <a:xfrm>
              <a:off x="3245137" y="1234678"/>
              <a:ext cx="710626"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​​呼叫/工单/客服​​</a:t>
              </a:r>
            </a:p>
          </p:txBody>
        </p:sp>
        <p:sp>
          <p:nvSpPr>
            <p:cNvPr id="40" name="Rectangle 40"/>
            <p:cNvSpPr/>
            <p:nvPr/>
          </p:nvSpPr>
          <p:spPr>
            <a:xfrm>
              <a:off x="4114800" y="952500"/>
              <a:ext cx="914400" cy="495300"/>
            </a:xfrm>
            <a:prstGeom prst="roundRect">
              <a:avLst>
                <a:gd name="adj" fmla="val 5769"/>
              </a:avLst>
            </a:prstGeom>
            <a:solidFill>
              <a:srgbClr val="FFFFFF"/>
            </a:solidFill>
            <a:ln w="9525">
              <a:solidFill>
                <a:srgbClr val="F0B8AE"/>
              </a:solidFill>
            </a:ln>
          </p:spPr>
        </p:sp>
        <p:grpSp>
          <p:nvGrpSpPr>
            <p:cNvPr id="46" name="Group 46"/>
            <p:cNvGrpSpPr/>
            <p:nvPr/>
          </p:nvGrpSpPr>
          <p:grpSpPr>
            <a:xfrm>
              <a:off x="4190206" y="1026319"/>
              <a:ext cx="77787" cy="100012"/>
              <a:chOff x="4190206" y="1026319"/>
              <a:chExt cx="77787" cy="100012"/>
            </a:xfrm>
          </p:grpSpPr>
          <p:sp>
            <p:nvSpPr>
              <p:cNvPr id="41" name="Freeform 41"/>
              <p:cNvSpPr/>
              <p:nvPr/>
            </p:nvSpPr>
            <p:spPr>
              <a:xfrm>
                <a:off x="4240212" y="102631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D82000"/>
                </a:solidFill>
              </a:ln>
            </p:spPr>
          </p:sp>
          <p:sp>
            <p:nvSpPr>
              <p:cNvPr id="42" name="Freeform 42"/>
              <p:cNvSpPr/>
              <p:nvPr/>
            </p:nvSpPr>
            <p:spPr>
              <a:xfrm>
                <a:off x="4190206" y="102631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D82000"/>
                </a:solidFill>
              </a:ln>
            </p:spPr>
          </p:sp>
          <p:sp>
            <p:nvSpPr>
              <p:cNvPr id="43" name="Freeform 43"/>
              <p:cNvSpPr/>
              <p:nvPr/>
            </p:nvSpPr>
            <p:spPr>
              <a:xfrm>
                <a:off x="4212431" y="1059656"/>
                <a:ext cx="9525" cy="9525"/>
              </a:xfrm>
              <a:custGeom>
                <a:avLst/>
                <a:gdLst/>
                <a:ahLst/>
                <a:cxnLst/>
                <a:rect l="l" t="t" r="r" b="b"/>
                <a:pathLst>
                  <a:path w="9525" h="9525">
                    <a:moveTo>
                      <a:pt x="0" y="0"/>
                    </a:moveTo>
                    <a:lnTo>
                      <a:pt x="5556" y="0"/>
                    </a:lnTo>
                  </a:path>
                </a:pathLst>
              </a:custGeom>
              <a:noFill/>
              <a:ln w="11112">
                <a:solidFill>
                  <a:srgbClr val="D82000"/>
                </a:solidFill>
              </a:ln>
            </p:spPr>
          </p:sp>
          <p:sp>
            <p:nvSpPr>
              <p:cNvPr id="44" name="Freeform 44"/>
              <p:cNvSpPr/>
              <p:nvPr/>
            </p:nvSpPr>
            <p:spPr>
              <a:xfrm>
                <a:off x="4212431" y="1081881"/>
                <a:ext cx="33337" cy="9525"/>
              </a:xfrm>
              <a:custGeom>
                <a:avLst/>
                <a:gdLst/>
                <a:ahLst/>
                <a:cxnLst/>
                <a:rect l="l" t="t" r="r" b="b"/>
                <a:pathLst>
                  <a:path w="33337" h="9525">
                    <a:moveTo>
                      <a:pt x="0" y="0"/>
                    </a:moveTo>
                    <a:lnTo>
                      <a:pt x="33337" y="0"/>
                    </a:lnTo>
                  </a:path>
                </a:pathLst>
              </a:custGeom>
              <a:noFill/>
              <a:ln w="11112">
                <a:solidFill>
                  <a:srgbClr val="D82000"/>
                </a:solidFill>
              </a:ln>
            </p:spPr>
          </p:sp>
          <p:sp>
            <p:nvSpPr>
              <p:cNvPr id="45" name="Freeform 45"/>
              <p:cNvSpPr/>
              <p:nvPr/>
            </p:nvSpPr>
            <p:spPr>
              <a:xfrm>
                <a:off x="4212431" y="1104106"/>
                <a:ext cx="33337" cy="9525"/>
              </a:xfrm>
              <a:custGeom>
                <a:avLst/>
                <a:gdLst/>
                <a:ahLst/>
                <a:cxnLst/>
                <a:rect l="l" t="t" r="r" b="b"/>
                <a:pathLst>
                  <a:path w="33337" h="9525">
                    <a:moveTo>
                      <a:pt x="0" y="0"/>
                    </a:moveTo>
                    <a:lnTo>
                      <a:pt x="33337" y="0"/>
                    </a:lnTo>
                  </a:path>
                </a:pathLst>
              </a:custGeom>
              <a:noFill/>
              <a:ln w="11112">
                <a:solidFill>
                  <a:srgbClr val="D82000"/>
                </a:solidFill>
              </a:ln>
            </p:spPr>
          </p:sp>
        </p:grpSp>
        <p:sp>
          <p:nvSpPr>
            <p:cNvPr id="47" name="TextBox 47"/>
            <p:cNvSpPr txBox="1"/>
            <p:nvPr/>
          </p:nvSpPr>
          <p:spPr>
            <a:xfrm>
              <a:off x="4329112" y="1045607"/>
              <a:ext cx="354152" cy="126206"/>
            </a:xfrm>
            <a:prstGeom prst="rect">
              <a:avLst/>
            </a:prstGeom>
            <a:noFill/>
            <a:ln>
              <a:noFill/>
            </a:ln>
          </p:spPr>
          <p:txBody>
            <a:bodyPr wrap="none" lIns="0" tIns="0" rIns="0" bIns="0" anchor="t" anchorCtr="0">
              <a:spAutoFit/>
            </a:bodyPr>
            <a:lstStyle/>
            <a:p>
              <a:pPr algn="l"/>
              <a:r>
                <a:rPr lang="zh-CN" sz="640" b="1" dirty="0">
                  <a:solidFill>
                    <a:srgbClr val="4A130A"/>
                  </a:solidFill>
                  <a:latin typeface="+mn-lt"/>
                  <a:ea typeface="+mn-ea"/>
                  <a:cs typeface="+mn-cs"/>
                </a:rPr>
                <a:t>外部数据</a:t>
              </a:r>
            </a:p>
          </p:txBody>
        </p:sp>
        <p:sp>
          <p:nvSpPr>
            <p:cNvPr id="48" name="TextBox 48"/>
            <p:cNvSpPr txBox="1"/>
            <p:nvPr/>
          </p:nvSpPr>
          <p:spPr>
            <a:xfrm>
              <a:off x="4216687" y="1234678"/>
              <a:ext cx="710626"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​​征信/工商/司法​​</a:t>
              </a:r>
            </a:p>
          </p:txBody>
        </p:sp>
        <p:sp>
          <p:nvSpPr>
            <p:cNvPr id="49" name="Rectangle 49"/>
            <p:cNvSpPr/>
            <p:nvPr/>
          </p:nvSpPr>
          <p:spPr>
            <a:xfrm>
              <a:off x="5086350" y="952500"/>
              <a:ext cx="914400" cy="495300"/>
            </a:xfrm>
            <a:prstGeom prst="roundRect">
              <a:avLst>
                <a:gd name="adj" fmla="val 5769"/>
              </a:avLst>
            </a:prstGeom>
            <a:solidFill>
              <a:srgbClr val="FFFFFF"/>
            </a:solidFill>
            <a:ln w="9525">
              <a:solidFill>
                <a:srgbClr val="F0B8AE"/>
              </a:solidFill>
            </a:ln>
          </p:spPr>
        </p:sp>
        <p:grpSp>
          <p:nvGrpSpPr>
            <p:cNvPr id="52" name="Group 52"/>
            <p:cNvGrpSpPr/>
            <p:nvPr/>
          </p:nvGrpSpPr>
          <p:grpSpPr>
            <a:xfrm>
              <a:off x="5161756" y="1026843"/>
              <a:ext cx="77787" cy="99488"/>
              <a:chOff x="5161756" y="1026843"/>
              <a:chExt cx="77787" cy="99488"/>
            </a:xfrm>
          </p:grpSpPr>
          <p:sp>
            <p:nvSpPr>
              <p:cNvPr id="50" name="Freeform 50"/>
              <p:cNvSpPr/>
              <p:nvPr/>
            </p:nvSpPr>
            <p:spPr>
              <a:xfrm>
                <a:off x="5161756" y="1026843"/>
                <a:ext cx="77787" cy="71183"/>
              </a:xfrm>
              <a:custGeom>
                <a:avLst/>
                <a:gdLst/>
                <a:ahLst/>
                <a:cxnLst/>
                <a:rect l="l" t="t" r="r" b="b"/>
                <a:pathLst>
                  <a:path w="77787" h="71183">
                    <a:moveTo>
                      <a:pt x="0" y="10589"/>
                    </a:moveTo>
                    <a:cubicBezTo>
                      <a:pt x="10803" y="0"/>
                      <a:pt x="28091" y="0"/>
                      <a:pt x="38894" y="10589"/>
                    </a:cubicBezTo>
                    <a:cubicBezTo>
                      <a:pt x="49696" y="21177"/>
                      <a:pt x="66985" y="21177"/>
                      <a:pt x="77787" y="10589"/>
                    </a:cubicBezTo>
                    <a:lnTo>
                      <a:pt x="77787" y="60595"/>
                    </a:lnTo>
                    <a:cubicBezTo>
                      <a:pt x="66985" y="71183"/>
                      <a:pt x="49696" y="71183"/>
                      <a:pt x="38894" y="60595"/>
                    </a:cubicBezTo>
                    <a:cubicBezTo>
                      <a:pt x="28091" y="50006"/>
                      <a:pt x="10803" y="50006"/>
                      <a:pt x="0" y="60595"/>
                    </a:cubicBezTo>
                    <a:lnTo>
                      <a:pt x="0" y="10589"/>
                    </a:lnTo>
                  </a:path>
                </a:pathLst>
              </a:custGeom>
              <a:noFill/>
              <a:ln w="11112">
                <a:solidFill>
                  <a:srgbClr val="D82000"/>
                </a:solidFill>
              </a:ln>
            </p:spPr>
          </p:sp>
          <p:sp>
            <p:nvSpPr>
              <p:cNvPr id="51" name="Freeform 51"/>
              <p:cNvSpPr/>
              <p:nvPr/>
            </p:nvSpPr>
            <p:spPr>
              <a:xfrm>
                <a:off x="5161756" y="1087437"/>
                <a:ext cx="9525" cy="38894"/>
              </a:xfrm>
              <a:custGeom>
                <a:avLst/>
                <a:gdLst/>
                <a:ahLst/>
                <a:cxnLst/>
                <a:rect l="l" t="t" r="r" b="b"/>
                <a:pathLst>
                  <a:path w="9525" h="38894">
                    <a:moveTo>
                      <a:pt x="0" y="38894"/>
                    </a:moveTo>
                    <a:lnTo>
                      <a:pt x="0" y="0"/>
                    </a:lnTo>
                  </a:path>
                </a:pathLst>
              </a:custGeom>
              <a:noFill/>
              <a:ln w="11112">
                <a:solidFill>
                  <a:srgbClr val="D82000"/>
                </a:solidFill>
              </a:ln>
            </p:spPr>
          </p:sp>
        </p:grpSp>
        <p:sp>
          <p:nvSpPr>
            <p:cNvPr id="53" name="TextBox 53"/>
            <p:cNvSpPr txBox="1"/>
            <p:nvPr/>
          </p:nvSpPr>
          <p:spPr>
            <a:xfrm>
              <a:off x="5300662" y="1045607"/>
              <a:ext cx="440309" cy="126206"/>
            </a:xfrm>
            <a:prstGeom prst="rect">
              <a:avLst/>
            </a:prstGeom>
            <a:noFill/>
            <a:ln>
              <a:noFill/>
            </a:ln>
          </p:spPr>
          <p:txBody>
            <a:bodyPr wrap="none" lIns="0" tIns="0" rIns="0" bIns="0" anchor="t" anchorCtr="0">
              <a:spAutoFit/>
            </a:bodyPr>
            <a:lstStyle/>
            <a:p>
              <a:pPr algn="l"/>
              <a:r>
                <a:rPr lang="zh-CN" sz="640" b="1" dirty="0">
                  <a:solidFill>
                    <a:srgbClr val="4A130A"/>
                  </a:solidFill>
                  <a:latin typeface="+mn-lt"/>
                  <a:ea typeface="+mn-ea"/>
                  <a:cs typeface="+mn-cs"/>
                </a:rPr>
                <a:t>实时事件流</a:t>
              </a:r>
            </a:p>
          </p:txBody>
        </p:sp>
        <p:sp>
          <p:nvSpPr>
            <p:cNvPr id="54" name="TextBox 54"/>
            <p:cNvSpPr txBox="1"/>
            <p:nvPr/>
          </p:nvSpPr>
          <p:spPr>
            <a:xfrm>
              <a:off x="5188237" y="1234678"/>
              <a:ext cx="710626"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​​交易/登录/设备​​</a:t>
              </a:r>
            </a:p>
          </p:txBody>
        </p:sp>
        <p:sp>
          <p:nvSpPr>
            <p:cNvPr id="55" name="Rectangle 55"/>
            <p:cNvSpPr/>
            <p:nvPr/>
          </p:nvSpPr>
          <p:spPr>
            <a:xfrm>
              <a:off x="1200150" y="1485900"/>
              <a:ext cx="4800600" cy="133350"/>
            </a:xfrm>
            <a:prstGeom prst="roundRect">
              <a:avLst>
                <a:gd name="adj" fmla="val 14286"/>
              </a:avLst>
            </a:prstGeom>
            <a:solidFill>
              <a:srgbClr val="FEF2E6"/>
            </a:solidFill>
            <a:ln>
              <a:noFill/>
            </a:ln>
          </p:spPr>
        </p:sp>
        <p:sp>
          <p:nvSpPr>
            <p:cNvPr id="56" name="TextBox 56"/>
            <p:cNvSpPr txBox="1"/>
            <p:nvPr/>
          </p:nvSpPr>
          <p:spPr>
            <a:xfrm>
              <a:off x="2741003" y="1520428"/>
              <a:ext cx="1718894" cy="111919"/>
            </a:xfrm>
            <a:prstGeom prst="rect">
              <a:avLst/>
            </a:prstGeom>
            <a:noFill/>
            <a:ln>
              <a:noFill/>
            </a:ln>
          </p:spPr>
          <p:txBody>
            <a:bodyPr wrap="none" lIns="0" tIns="0" rIns="0" bIns="0" anchor="t" anchorCtr="0">
              <a:spAutoFit/>
            </a:bodyPr>
            <a:lstStyle/>
            <a:p>
              <a:pPr algn="ctr"/>
              <a:r>
                <a:rPr lang="zh-CN" sz="560" dirty="0">
                  <a:solidFill>
                    <a:srgbClr val="4A130A"/>
                  </a:solidFill>
                  <a:latin typeface="+mn-lt"/>
                  <a:ea typeface="+mn-ea"/>
                  <a:cs typeface="+mn-cs"/>
                </a:rPr>
                <a:t>​​批量同步 ＋ 实时流式（CDC/日志/消息总线）​​</a:t>
              </a:r>
            </a:p>
          </p:txBody>
        </p:sp>
        <p:sp>
          <p:nvSpPr>
            <p:cNvPr id="57" name="Rectangle 57"/>
            <p:cNvSpPr/>
            <p:nvPr/>
          </p:nvSpPr>
          <p:spPr>
            <a:xfrm>
              <a:off x="342900" y="1676400"/>
              <a:ext cx="571500" cy="971550"/>
            </a:xfrm>
            <a:prstGeom prst="roundRect">
              <a:avLst>
                <a:gd name="adj" fmla="val 6667"/>
              </a:avLst>
            </a:prstGeom>
            <a:solidFill>
              <a:srgbClr val="B31A00"/>
            </a:solidFill>
            <a:ln>
              <a:noFill/>
            </a:ln>
          </p:spPr>
        </p:sp>
        <p:grpSp>
          <p:nvGrpSpPr>
            <p:cNvPr id="62" name="Group 62"/>
            <p:cNvGrpSpPr/>
            <p:nvPr/>
          </p:nvGrpSpPr>
          <p:grpSpPr>
            <a:xfrm>
              <a:off x="550069" y="1874044"/>
              <a:ext cx="157163" cy="157163"/>
              <a:chOff x="550069" y="1874044"/>
              <a:chExt cx="157163" cy="157163"/>
            </a:xfrm>
          </p:grpSpPr>
          <p:sp>
            <p:nvSpPr>
              <p:cNvPr id="58" name="Freeform 58"/>
              <p:cNvSpPr/>
              <p:nvPr/>
            </p:nvSpPr>
            <p:spPr>
              <a:xfrm>
                <a:off x="567531" y="18740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59" name="Freeform 59"/>
              <p:cNvSpPr/>
              <p:nvPr/>
            </p:nvSpPr>
            <p:spPr>
              <a:xfrm>
                <a:off x="550069" y="19788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60" name="Freeform 60"/>
              <p:cNvSpPr/>
              <p:nvPr/>
            </p:nvSpPr>
            <p:spPr>
              <a:xfrm>
                <a:off x="663575" y="18751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61" name="Freeform 61"/>
              <p:cNvSpPr/>
              <p:nvPr/>
            </p:nvSpPr>
            <p:spPr>
              <a:xfrm>
                <a:off x="681038" y="19801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63" name="TextBox 63"/>
            <p:cNvSpPr txBox="1"/>
            <p:nvPr/>
          </p:nvSpPr>
          <p:spPr>
            <a:xfrm>
              <a:off x="443547" y="2151936"/>
              <a:ext cx="370205" cy="254794"/>
            </a:xfrm>
            <a:prstGeom prst="rect">
              <a:avLst/>
            </a:prstGeom>
            <a:noFill/>
            <a:ln>
              <a:noFill/>
            </a:ln>
          </p:spPr>
          <p:txBody>
            <a:bodyPr wrap="none" lIns="0" tIns="0" rIns="0" bIns="0" anchor="t" anchorCtr="0">
              <a:spAutoFit/>
            </a:bodyPr>
            <a:lstStyle/>
            <a:p>
              <a:pPr algn="ctr">
                <a:lnSpc>
                  <a:spcPts val="900"/>
                </a:lnSpc>
              </a:pPr>
              <a:r>
                <a:rPr lang="zh-CN" sz="710" b="1" dirty="0">
                  <a:solidFill>
                    <a:srgbClr val="FFFFFF"/>
                  </a:solidFill>
                  <a:latin typeface="+mn-lt"/>
                  <a:ea typeface="+mn-ea"/>
                  <a:cs typeface="+mn-cs"/>
                </a:rPr>
                <a:t>客户数据</a:t>
              </a:r>
              <a:br/>
              <a:r>
                <a:rPr lang="zh-CN" sz="710" b="1" dirty="0">
                  <a:solidFill>
                    <a:srgbClr val="FFFFFF"/>
                  </a:solidFill>
                  <a:latin typeface="+mn-lt"/>
                  <a:ea typeface="+mn-ea"/>
                  <a:cs typeface="+mn-cs"/>
                </a:rPr>
                <a:t>平台层</a:t>
              </a:r>
            </a:p>
          </p:txBody>
        </p:sp>
        <p:sp>
          <p:nvSpPr>
            <p:cNvPr id="64" name="Rectangle 64"/>
            <p:cNvSpPr/>
            <p:nvPr/>
          </p:nvSpPr>
          <p:spPr>
            <a:xfrm>
              <a:off x="952500" y="1676400"/>
              <a:ext cx="5143500" cy="971550"/>
            </a:xfrm>
            <a:prstGeom prst="roundRect">
              <a:avLst>
                <a:gd name="adj" fmla="val 3922"/>
              </a:avLst>
            </a:prstGeom>
            <a:solidFill>
              <a:srgbClr val="FFF8F2"/>
            </a:solidFill>
            <a:ln w="9525">
              <a:solidFill>
                <a:srgbClr val="F0B8AE"/>
              </a:solidFill>
            </a:ln>
          </p:spPr>
        </p:sp>
        <p:sp>
          <p:nvSpPr>
            <p:cNvPr id="65" name="Ellipse 65"/>
            <p:cNvSpPr/>
            <p:nvPr/>
          </p:nvSpPr>
          <p:spPr>
            <a:xfrm>
              <a:off x="1000125" y="1762125"/>
              <a:ext cx="171450" cy="171450"/>
            </a:xfrm>
            <a:prstGeom prst="ellipse">
              <a:avLst/>
            </a:prstGeom>
            <a:solidFill>
              <a:srgbClr val="C41D00"/>
            </a:solidFill>
            <a:ln>
              <a:noFill/>
            </a:ln>
          </p:spPr>
        </p:sp>
        <p:sp>
          <p:nvSpPr>
            <p:cNvPr id="66" name="TextBox 66"/>
            <p:cNvSpPr txBox="1"/>
            <p:nvPr/>
          </p:nvSpPr>
          <p:spPr>
            <a:xfrm>
              <a:off x="993627" y="18049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67" name="TextBox 67"/>
            <p:cNvSpPr txBox="1"/>
            <p:nvPr/>
          </p:nvSpPr>
          <p:spPr>
            <a:xfrm>
              <a:off x="2956319" y="1766888"/>
              <a:ext cx="1326361"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​​客户360视图与数据服务​​</a:t>
              </a:r>
            </a:p>
          </p:txBody>
        </p:sp>
        <p:sp>
          <p:nvSpPr>
            <p:cNvPr id="68" name="Rectangle 68"/>
            <p:cNvSpPr/>
            <p:nvPr/>
          </p:nvSpPr>
          <p:spPr>
            <a:xfrm>
              <a:off x="1200150" y="1943100"/>
              <a:ext cx="1152525" cy="533400"/>
            </a:xfrm>
            <a:prstGeom prst="roundRect">
              <a:avLst>
                <a:gd name="adj" fmla="val 5357"/>
              </a:avLst>
            </a:prstGeom>
            <a:solidFill>
              <a:srgbClr val="FFFFFF"/>
            </a:solidFill>
            <a:ln w="9525">
              <a:solidFill>
                <a:srgbClr val="F0B8AE"/>
              </a:solidFill>
            </a:ln>
          </p:spPr>
        </p:sp>
        <p:sp>
          <p:nvSpPr>
            <p:cNvPr id="69" name="TextBox 69"/>
            <p:cNvSpPr txBox="1"/>
            <p:nvPr/>
          </p:nvSpPr>
          <p:spPr>
            <a:xfrm>
              <a:off x="1420346" y="2026682"/>
              <a:ext cx="712134"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​身份解析与合并​</a:t>
              </a:r>
            </a:p>
          </p:txBody>
        </p:sp>
        <p:sp>
          <p:nvSpPr>
            <p:cNvPr id="70" name="TextBox 70"/>
            <p:cNvSpPr txBox="1"/>
            <p:nvPr/>
          </p:nvSpPr>
          <p:spPr>
            <a:xfrm>
              <a:off x="1440942" y="2187178"/>
              <a:ext cx="67094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​​客户ID统一​​</a:t>
              </a:r>
              <a:br/>
              <a:r>
                <a:rPr lang="zh-CN" sz="560" dirty="0">
                  <a:solidFill>
                    <a:srgbClr val="7A716B"/>
                  </a:solidFill>
                  <a:latin typeface="+mn-lt"/>
                  <a:ea typeface="+mn-ea"/>
                  <a:cs typeface="+mn-cs"/>
                </a:rPr>
                <a:t>​​去重/合并/关联​​</a:t>
              </a:r>
            </a:p>
          </p:txBody>
        </p:sp>
        <p:sp>
          <p:nvSpPr>
            <p:cNvPr id="71" name="Rectangle 71"/>
            <p:cNvSpPr/>
            <p:nvPr/>
          </p:nvSpPr>
          <p:spPr>
            <a:xfrm>
              <a:off x="2409825" y="1943100"/>
              <a:ext cx="1152525" cy="533400"/>
            </a:xfrm>
            <a:prstGeom prst="roundRect">
              <a:avLst>
                <a:gd name="adj" fmla="val 5357"/>
              </a:avLst>
            </a:prstGeom>
            <a:solidFill>
              <a:srgbClr val="FFFFFF"/>
            </a:solidFill>
            <a:ln w="9525">
              <a:solidFill>
                <a:srgbClr val="F0B8AE"/>
              </a:solidFill>
            </a:ln>
          </p:spPr>
        </p:sp>
        <p:sp>
          <p:nvSpPr>
            <p:cNvPr id="72" name="TextBox 72"/>
            <p:cNvSpPr txBox="1"/>
            <p:nvPr/>
          </p:nvSpPr>
          <p:spPr>
            <a:xfrm>
              <a:off x="2634867" y="2026682"/>
              <a:ext cx="702441"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​​客户360视图​​</a:t>
              </a:r>
            </a:p>
          </p:txBody>
        </p:sp>
        <p:sp>
          <p:nvSpPr>
            <p:cNvPr id="73" name="TextBox 73"/>
            <p:cNvSpPr txBox="1"/>
            <p:nvPr/>
          </p:nvSpPr>
          <p:spPr>
            <a:xfrm>
              <a:off x="2501265" y="2187178"/>
              <a:ext cx="969645"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​​​属性/关系/资产/负债/​​​</a:t>
              </a:r>
              <a:br/>
              <a:r>
                <a:rPr lang="zh-CN" sz="560" dirty="0">
                  <a:solidFill>
                    <a:srgbClr val="7A716B"/>
                  </a:solidFill>
                  <a:latin typeface="+mn-lt"/>
                  <a:ea typeface="+mn-ea"/>
                  <a:cs typeface="+mn-cs"/>
                </a:rPr>
                <a:t>​​行为/偏好/旅程​​</a:t>
              </a:r>
            </a:p>
          </p:txBody>
        </p:sp>
        <p:sp>
          <p:nvSpPr>
            <p:cNvPr id="74" name="Rectangle 74"/>
            <p:cNvSpPr/>
            <p:nvPr/>
          </p:nvSpPr>
          <p:spPr>
            <a:xfrm>
              <a:off x="3619500" y="1943100"/>
              <a:ext cx="1152525" cy="533400"/>
            </a:xfrm>
            <a:prstGeom prst="roundRect">
              <a:avLst>
                <a:gd name="adj" fmla="val 5357"/>
              </a:avLst>
            </a:prstGeom>
            <a:solidFill>
              <a:srgbClr val="FFFFFF"/>
            </a:solidFill>
            <a:ln w="9525">
              <a:solidFill>
                <a:srgbClr val="F0B8AE"/>
              </a:solidFill>
            </a:ln>
          </p:spPr>
        </p:sp>
        <p:sp>
          <p:nvSpPr>
            <p:cNvPr id="75" name="TextBox 75"/>
            <p:cNvSpPr txBox="1"/>
            <p:nvPr/>
          </p:nvSpPr>
          <p:spPr>
            <a:xfrm>
              <a:off x="3975608" y="2026682"/>
              <a:ext cx="440309"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数据服务层</a:t>
              </a:r>
            </a:p>
          </p:txBody>
        </p:sp>
        <p:sp>
          <p:nvSpPr>
            <p:cNvPr id="76" name="TextBox 76"/>
            <p:cNvSpPr txBox="1"/>
            <p:nvPr/>
          </p:nvSpPr>
          <p:spPr>
            <a:xfrm>
              <a:off x="3815842" y="2187178"/>
              <a:ext cx="75984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​统一指标/标签服务​</a:t>
              </a:r>
              <a:br/>
              <a:r>
                <a:rPr lang="zh-CN" sz="560" dirty="0">
                  <a:solidFill>
                    <a:srgbClr val="7A716B"/>
                  </a:solidFill>
                  <a:latin typeface="+mn-lt"/>
                  <a:ea typeface="+mn-ea"/>
                  <a:cs typeface="+mn-cs"/>
                </a:rPr>
                <a:t>​​API/SQL/内存存储​​</a:t>
              </a:r>
            </a:p>
          </p:txBody>
        </p:sp>
        <p:sp>
          <p:nvSpPr>
            <p:cNvPr id="77" name="Rectangle 77"/>
            <p:cNvSpPr/>
            <p:nvPr/>
          </p:nvSpPr>
          <p:spPr>
            <a:xfrm>
              <a:off x="4829175" y="1943100"/>
              <a:ext cx="1171575" cy="533400"/>
            </a:xfrm>
            <a:prstGeom prst="roundRect">
              <a:avLst>
                <a:gd name="adj" fmla="val 5357"/>
              </a:avLst>
            </a:prstGeom>
            <a:solidFill>
              <a:srgbClr val="FFFFFF"/>
            </a:solidFill>
            <a:ln w="9525">
              <a:solidFill>
                <a:srgbClr val="F0B8AE"/>
              </a:solidFill>
            </a:ln>
          </p:spPr>
        </p:sp>
        <p:sp>
          <p:nvSpPr>
            <p:cNvPr id="78" name="TextBox 78"/>
            <p:cNvSpPr txBox="1"/>
            <p:nvPr/>
          </p:nvSpPr>
          <p:spPr>
            <a:xfrm>
              <a:off x="5237886" y="202668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数据质量</a:t>
              </a:r>
            </a:p>
          </p:txBody>
        </p:sp>
        <p:sp>
          <p:nvSpPr>
            <p:cNvPr id="79" name="TextBox 79"/>
            <p:cNvSpPr txBox="1"/>
            <p:nvPr/>
          </p:nvSpPr>
          <p:spPr>
            <a:xfrm>
              <a:off x="5079492" y="2187178"/>
              <a:ext cx="67094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​​标准/校验/监控​​</a:t>
              </a:r>
              <a:br/>
              <a:r>
                <a:rPr lang="zh-CN" sz="560" dirty="0">
                  <a:solidFill>
                    <a:srgbClr val="7A716B"/>
                  </a:solidFill>
                  <a:latin typeface="+mn-lt"/>
                  <a:ea typeface="+mn-ea"/>
                  <a:cs typeface="+mn-cs"/>
                </a:rPr>
                <a:t>修复</a:t>
              </a:r>
            </a:p>
          </p:txBody>
        </p:sp>
        <p:sp>
          <p:nvSpPr>
            <p:cNvPr id="80" name="Rectangle 80"/>
            <p:cNvSpPr/>
            <p:nvPr/>
          </p:nvSpPr>
          <p:spPr>
            <a:xfrm>
              <a:off x="342900" y="2667000"/>
              <a:ext cx="571500" cy="971550"/>
            </a:xfrm>
            <a:prstGeom prst="roundRect">
              <a:avLst>
                <a:gd name="adj" fmla="val 6667"/>
              </a:avLst>
            </a:prstGeom>
            <a:solidFill>
              <a:srgbClr val="C41D00"/>
            </a:solidFill>
            <a:ln>
              <a:noFill/>
            </a:ln>
          </p:spPr>
        </p:sp>
        <p:sp>
          <p:nvSpPr>
            <p:cNvPr id="81" name="Freeform 81"/>
            <p:cNvSpPr/>
            <p:nvPr/>
          </p:nvSpPr>
          <p:spPr>
            <a:xfrm>
              <a:off x="550069" y="2864644"/>
              <a:ext cx="157163" cy="157163"/>
            </a:xfrm>
            <a:custGeom>
              <a:avLst/>
              <a:gdLst/>
              <a:ahLst/>
              <a:cxnLst/>
              <a:rect l="l" t="t" r="r" b="b"/>
              <a:pathLst>
                <a:path w="157163" h="157163">
                  <a:moveTo>
                    <a:pt x="8731" y="34925"/>
                  </a:moveTo>
                  <a:lnTo>
                    <a:pt x="34925" y="34925"/>
                  </a:lnTo>
                  <a:cubicBezTo>
                    <a:pt x="39747" y="34925"/>
                    <a:pt x="43656" y="31016"/>
                    <a:pt x="43656" y="26194"/>
                  </a:cubicBezTo>
                  <a:lnTo>
                    <a:pt x="43656" y="17463"/>
                  </a:lnTo>
                  <a:cubicBezTo>
                    <a:pt x="43656" y="7818"/>
                    <a:pt x="51474" y="0"/>
                    <a:pt x="61119" y="0"/>
                  </a:cubicBezTo>
                  <a:cubicBezTo>
                    <a:pt x="70763" y="0"/>
                    <a:pt x="78581" y="7818"/>
                    <a:pt x="78581" y="17463"/>
                  </a:cubicBezTo>
                  <a:lnTo>
                    <a:pt x="78581" y="26194"/>
                  </a:lnTo>
                  <a:cubicBezTo>
                    <a:pt x="78581" y="31016"/>
                    <a:pt x="82490" y="34925"/>
                    <a:pt x="87313" y="34925"/>
                  </a:cubicBezTo>
                  <a:lnTo>
                    <a:pt x="113506" y="34925"/>
                  </a:lnTo>
                  <a:cubicBezTo>
                    <a:pt x="118328" y="34925"/>
                    <a:pt x="122238" y="38834"/>
                    <a:pt x="122238" y="43656"/>
                  </a:cubicBezTo>
                  <a:lnTo>
                    <a:pt x="122238" y="69850"/>
                  </a:lnTo>
                  <a:cubicBezTo>
                    <a:pt x="122238" y="74672"/>
                    <a:pt x="126147" y="78581"/>
                    <a:pt x="130969" y="78581"/>
                  </a:cubicBezTo>
                  <a:lnTo>
                    <a:pt x="139700" y="78581"/>
                  </a:lnTo>
                  <a:cubicBezTo>
                    <a:pt x="149344" y="78581"/>
                    <a:pt x="157163" y="86400"/>
                    <a:pt x="157163" y="96044"/>
                  </a:cubicBezTo>
                  <a:cubicBezTo>
                    <a:pt x="157163" y="105688"/>
                    <a:pt x="149344" y="113506"/>
                    <a:pt x="139700" y="113506"/>
                  </a:cubicBezTo>
                  <a:lnTo>
                    <a:pt x="130969" y="113506"/>
                  </a:lnTo>
                  <a:cubicBezTo>
                    <a:pt x="126147" y="113506"/>
                    <a:pt x="122238" y="117415"/>
                    <a:pt x="122238" y="122238"/>
                  </a:cubicBezTo>
                  <a:lnTo>
                    <a:pt x="122238" y="148431"/>
                  </a:lnTo>
                  <a:cubicBezTo>
                    <a:pt x="122238" y="153253"/>
                    <a:pt x="118328" y="157163"/>
                    <a:pt x="113506" y="157163"/>
                  </a:cubicBezTo>
                  <a:lnTo>
                    <a:pt x="87313" y="157163"/>
                  </a:lnTo>
                  <a:cubicBezTo>
                    <a:pt x="82490" y="157163"/>
                    <a:pt x="78581" y="153253"/>
                    <a:pt x="78581" y="148431"/>
                  </a:cubicBezTo>
                  <a:lnTo>
                    <a:pt x="78581" y="139700"/>
                  </a:lnTo>
                  <a:cubicBezTo>
                    <a:pt x="78581" y="130056"/>
                    <a:pt x="70763" y="122238"/>
                    <a:pt x="61119" y="122238"/>
                  </a:cubicBezTo>
                  <a:cubicBezTo>
                    <a:pt x="51474" y="122238"/>
                    <a:pt x="43656" y="130056"/>
                    <a:pt x="43656" y="139700"/>
                  </a:cubicBezTo>
                  <a:lnTo>
                    <a:pt x="43656" y="148431"/>
                  </a:lnTo>
                  <a:cubicBezTo>
                    <a:pt x="43656" y="153253"/>
                    <a:pt x="39747" y="157163"/>
                    <a:pt x="34925" y="157163"/>
                  </a:cubicBezTo>
                  <a:lnTo>
                    <a:pt x="8731" y="157163"/>
                  </a:lnTo>
                  <a:cubicBezTo>
                    <a:pt x="3909" y="157163"/>
                    <a:pt x="0" y="153253"/>
                    <a:pt x="0" y="148431"/>
                  </a:cubicBezTo>
                  <a:lnTo>
                    <a:pt x="0" y="122238"/>
                  </a:lnTo>
                  <a:cubicBezTo>
                    <a:pt x="0" y="117415"/>
                    <a:pt x="3909" y="113506"/>
                    <a:pt x="8731" y="113506"/>
                  </a:cubicBezTo>
                  <a:lnTo>
                    <a:pt x="17463" y="113506"/>
                  </a:lnTo>
                  <a:cubicBezTo>
                    <a:pt x="27107" y="113506"/>
                    <a:pt x="34925" y="105688"/>
                    <a:pt x="34925" y="96044"/>
                  </a:cubicBezTo>
                  <a:cubicBezTo>
                    <a:pt x="34925" y="86400"/>
                    <a:pt x="27107" y="78581"/>
                    <a:pt x="17463" y="78581"/>
                  </a:cubicBezTo>
                  <a:lnTo>
                    <a:pt x="8731" y="78581"/>
                  </a:lnTo>
                  <a:cubicBezTo>
                    <a:pt x="3909" y="78581"/>
                    <a:pt x="0" y="74672"/>
                    <a:pt x="0" y="69850"/>
                  </a:cubicBezTo>
                  <a:lnTo>
                    <a:pt x="0" y="43656"/>
                  </a:lnTo>
                  <a:cubicBezTo>
                    <a:pt x="0" y="38834"/>
                    <a:pt x="3909" y="34925"/>
                    <a:pt x="8731" y="34925"/>
                  </a:cubicBezTo>
                </a:path>
              </a:pathLst>
            </a:custGeom>
            <a:noFill/>
            <a:ln w="17463">
              <a:solidFill>
                <a:srgbClr val="FFFFFF"/>
              </a:solidFill>
            </a:ln>
          </p:spPr>
        </p:sp>
        <p:sp>
          <p:nvSpPr>
            <p:cNvPr id="82" name="TextBox 82"/>
            <p:cNvSpPr txBox="1"/>
            <p:nvPr/>
          </p:nvSpPr>
          <p:spPr>
            <a:xfrm>
              <a:off x="488632" y="3142536"/>
              <a:ext cx="280035" cy="254794"/>
            </a:xfrm>
            <a:prstGeom prst="rect">
              <a:avLst/>
            </a:prstGeom>
            <a:noFill/>
            <a:ln>
              <a:noFill/>
            </a:ln>
          </p:spPr>
          <p:txBody>
            <a:bodyPr wrap="none" lIns="0" tIns="0" rIns="0" bIns="0" anchor="t" anchorCtr="0">
              <a:spAutoFit/>
            </a:bodyPr>
            <a:lstStyle/>
            <a:p>
              <a:pPr algn="ctr">
                <a:lnSpc>
                  <a:spcPts val="900"/>
                </a:lnSpc>
              </a:pPr>
              <a:r>
                <a:rPr lang="zh-CN" sz="710" b="1" dirty="0">
                  <a:solidFill>
                    <a:srgbClr val="FFFFFF"/>
                  </a:solidFill>
                  <a:latin typeface="+mn-lt"/>
                  <a:ea typeface="+mn-ea"/>
                  <a:cs typeface="+mn-cs"/>
                </a:rPr>
                <a:t>特征与</a:t>
              </a:r>
              <a:br/>
              <a:r>
                <a:rPr lang="zh-CN" sz="710" b="1" dirty="0">
                  <a:solidFill>
                    <a:srgbClr val="FFFFFF"/>
                  </a:solidFill>
                  <a:latin typeface="+mn-lt"/>
                  <a:ea typeface="+mn-ea"/>
                  <a:cs typeface="+mn-cs"/>
                </a:rPr>
                <a:t>标签层</a:t>
              </a:r>
            </a:p>
          </p:txBody>
        </p:sp>
        <p:sp>
          <p:nvSpPr>
            <p:cNvPr id="83" name="Rectangle 83"/>
            <p:cNvSpPr/>
            <p:nvPr/>
          </p:nvSpPr>
          <p:spPr>
            <a:xfrm>
              <a:off x="952500" y="2667000"/>
              <a:ext cx="5143500" cy="971550"/>
            </a:xfrm>
            <a:prstGeom prst="roundRect">
              <a:avLst>
                <a:gd name="adj" fmla="val 3922"/>
              </a:avLst>
            </a:prstGeom>
            <a:solidFill>
              <a:srgbClr val="FFF8F2"/>
            </a:solidFill>
            <a:ln w="9525">
              <a:solidFill>
                <a:srgbClr val="F0B8AE"/>
              </a:solidFill>
            </a:ln>
          </p:spPr>
        </p:sp>
        <p:sp>
          <p:nvSpPr>
            <p:cNvPr id="84" name="Ellipse 84"/>
            <p:cNvSpPr/>
            <p:nvPr/>
          </p:nvSpPr>
          <p:spPr>
            <a:xfrm>
              <a:off x="1000125" y="2752725"/>
              <a:ext cx="171450" cy="171450"/>
            </a:xfrm>
            <a:prstGeom prst="ellipse">
              <a:avLst/>
            </a:prstGeom>
            <a:solidFill>
              <a:srgbClr val="C41D00"/>
            </a:solidFill>
            <a:ln>
              <a:noFill/>
            </a:ln>
          </p:spPr>
        </p:sp>
        <p:sp>
          <p:nvSpPr>
            <p:cNvPr id="85" name="TextBox 85"/>
            <p:cNvSpPr txBox="1"/>
            <p:nvPr/>
          </p:nvSpPr>
          <p:spPr>
            <a:xfrm>
              <a:off x="993627" y="27955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86" name="TextBox 86"/>
            <p:cNvSpPr txBox="1"/>
            <p:nvPr/>
          </p:nvSpPr>
          <p:spPr>
            <a:xfrm>
              <a:off x="3102088" y="2757488"/>
              <a:ext cx="1034825"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​特征工程与标签体系​</a:t>
              </a:r>
            </a:p>
          </p:txBody>
        </p:sp>
        <p:sp>
          <p:nvSpPr>
            <p:cNvPr id="87" name="Rectangle 87"/>
            <p:cNvSpPr/>
            <p:nvPr/>
          </p:nvSpPr>
          <p:spPr>
            <a:xfrm>
              <a:off x="1200150" y="2933700"/>
              <a:ext cx="914400" cy="457200"/>
            </a:xfrm>
            <a:prstGeom prst="roundRect">
              <a:avLst>
                <a:gd name="adj" fmla="val 6250"/>
              </a:avLst>
            </a:prstGeom>
            <a:solidFill>
              <a:srgbClr val="FFFFFF"/>
            </a:solidFill>
            <a:ln w="9525">
              <a:solidFill>
                <a:srgbClr val="F0B8AE"/>
              </a:solidFill>
            </a:ln>
          </p:spPr>
        </p:sp>
        <p:sp>
          <p:nvSpPr>
            <p:cNvPr id="88" name="TextBox 88"/>
            <p:cNvSpPr txBox="1"/>
            <p:nvPr/>
          </p:nvSpPr>
          <p:spPr>
            <a:xfrm>
              <a:off x="1480274" y="300775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基础特征</a:t>
              </a:r>
            </a:p>
          </p:txBody>
        </p:sp>
        <p:sp>
          <p:nvSpPr>
            <p:cNvPr id="89" name="TextBox 89"/>
            <p:cNvSpPr txBox="1"/>
            <p:nvPr/>
          </p:nvSpPr>
          <p:spPr>
            <a:xfrm>
              <a:off x="1302037" y="3158728"/>
              <a:ext cx="710626"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​​静态/动态/混合​​</a:t>
              </a:r>
            </a:p>
          </p:txBody>
        </p:sp>
        <p:sp>
          <p:nvSpPr>
            <p:cNvPr id="90" name="Rectangle 90"/>
            <p:cNvSpPr/>
            <p:nvPr/>
          </p:nvSpPr>
          <p:spPr>
            <a:xfrm>
              <a:off x="2171700" y="2933700"/>
              <a:ext cx="914400" cy="457200"/>
            </a:xfrm>
            <a:prstGeom prst="roundRect">
              <a:avLst>
                <a:gd name="adj" fmla="val 6250"/>
              </a:avLst>
            </a:prstGeom>
            <a:solidFill>
              <a:srgbClr val="FFFFFF"/>
            </a:solidFill>
            <a:ln w="9525">
              <a:solidFill>
                <a:srgbClr val="F0B8AE"/>
              </a:solidFill>
            </a:ln>
          </p:spPr>
        </p:sp>
        <p:sp>
          <p:nvSpPr>
            <p:cNvPr id="91" name="TextBox 91"/>
            <p:cNvSpPr txBox="1"/>
            <p:nvPr/>
          </p:nvSpPr>
          <p:spPr>
            <a:xfrm>
              <a:off x="2451824" y="300775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行为特征</a:t>
              </a:r>
            </a:p>
          </p:txBody>
        </p:sp>
        <p:sp>
          <p:nvSpPr>
            <p:cNvPr id="92" name="TextBox 92"/>
            <p:cNvSpPr txBox="1"/>
            <p:nvPr/>
          </p:nvSpPr>
          <p:spPr>
            <a:xfrm>
              <a:off x="2299973" y="3158728"/>
              <a:ext cx="657855"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​​近30/60/90天​​</a:t>
              </a:r>
            </a:p>
          </p:txBody>
        </p:sp>
        <p:sp>
          <p:nvSpPr>
            <p:cNvPr id="93" name="Rectangle 93"/>
            <p:cNvSpPr/>
            <p:nvPr/>
          </p:nvSpPr>
          <p:spPr>
            <a:xfrm>
              <a:off x="3143250" y="2933700"/>
              <a:ext cx="914400" cy="457200"/>
            </a:xfrm>
            <a:prstGeom prst="roundRect">
              <a:avLst>
                <a:gd name="adj" fmla="val 6250"/>
              </a:avLst>
            </a:prstGeom>
            <a:solidFill>
              <a:srgbClr val="FFFFFF"/>
            </a:solidFill>
            <a:ln w="9525">
              <a:solidFill>
                <a:srgbClr val="F0B8AE"/>
              </a:solidFill>
            </a:ln>
          </p:spPr>
        </p:sp>
        <p:sp>
          <p:nvSpPr>
            <p:cNvPr id="94" name="TextBox 94"/>
            <p:cNvSpPr txBox="1"/>
            <p:nvPr/>
          </p:nvSpPr>
          <p:spPr>
            <a:xfrm>
              <a:off x="3423374" y="300775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关系特征</a:t>
              </a:r>
            </a:p>
          </p:txBody>
        </p:sp>
        <p:sp>
          <p:nvSpPr>
            <p:cNvPr id="95" name="TextBox 95"/>
            <p:cNvSpPr txBox="1"/>
            <p:nvPr/>
          </p:nvSpPr>
          <p:spPr>
            <a:xfrm>
              <a:off x="3169750" y="3158728"/>
              <a:ext cx="861400"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​​家庭/企业/社交网络​​</a:t>
              </a:r>
            </a:p>
          </p:txBody>
        </p:sp>
        <p:sp>
          <p:nvSpPr>
            <p:cNvPr id="96" name="Rectangle 96"/>
            <p:cNvSpPr/>
            <p:nvPr/>
          </p:nvSpPr>
          <p:spPr>
            <a:xfrm>
              <a:off x="4114800" y="2933700"/>
              <a:ext cx="914400" cy="457200"/>
            </a:xfrm>
            <a:prstGeom prst="roundRect">
              <a:avLst>
                <a:gd name="adj" fmla="val 6250"/>
              </a:avLst>
            </a:prstGeom>
            <a:solidFill>
              <a:srgbClr val="FFFFFF"/>
            </a:solidFill>
            <a:ln w="9525">
              <a:solidFill>
                <a:srgbClr val="F0B8AE"/>
              </a:solidFill>
            </a:ln>
          </p:spPr>
        </p:sp>
        <p:sp>
          <p:nvSpPr>
            <p:cNvPr id="97" name="TextBox 97"/>
            <p:cNvSpPr txBox="1"/>
            <p:nvPr/>
          </p:nvSpPr>
          <p:spPr>
            <a:xfrm>
              <a:off x="4394924" y="300775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统计特征</a:t>
              </a:r>
            </a:p>
          </p:txBody>
        </p:sp>
        <p:sp>
          <p:nvSpPr>
            <p:cNvPr id="98" name="TextBox 98"/>
            <p:cNvSpPr txBox="1"/>
            <p:nvPr/>
          </p:nvSpPr>
          <p:spPr>
            <a:xfrm>
              <a:off x="4101793" y="3158728"/>
              <a:ext cx="940415"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​​RFM/生命周期/稳定性​​</a:t>
              </a:r>
            </a:p>
          </p:txBody>
        </p:sp>
        <p:sp>
          <p:nvSpPr>
            <p:cNvPr id="99" name="Rectangle 99"/>
            <p:cNvSpPr/>
            <p:nvPr/>
          </p:nvSpPr>
          <p:spPr>
            <a:xfrm>
              <a:off x="5086350" y="2933700"/>
              <a:ext cx="914400" cy="457200"/>
            </a:xfrm>
            <a:prstGeom prst="roundRect">
              <a:avLst>
                <a:gd name="adj" fmla="val 6250"/>
              </a:avLst>
            </a:prstGeom>
            <a:solidFill>
              <a:srgbClr val="FFFFFF"/>
            </a:solidFill>
            <a:ln w="9525">
              <a:solidFill>
                <a:srgbClr val="F0B8AE"/>
              </a:solidFill>
            </a:ln>
          </p:spPr>
        </p:sp>
        <p:sp>
          <p:nvSpPr>
            <p:cNvPr id="100" name="TextBox 100"/>
            <p:cNvSpPr txBox="1"/>
            <p:nvPr/>
          </p:nvSpPr>
          <p:spPr>
            <a:xfrm>
              <a:off x="5366474" y="3007757"/>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标签体系</a:t>
              </a:r>
            </a:p>
          </p:txBody>
        </p:sp>
        <p:sp>
          <p:nvSpPr>
            <p:cNvPr id="101" name="TextBox 101"/>
            <p:cNvSpPr txBox="1"/>
            <p:nvPr/>
          </p:nvSpPr>
          <p:spPr>
            <a:xfrm>
              <a:off x="5195634" y="3158728"/>
              <a:ext cx="695833"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​业务标签/模型标签​</a:t>
              </a:r>
              <a:br/>
              <a:r>
                <a:rPr lang="zh-CN" sz="560" dirty="0">
                  <a:solidFill>
                    <a:srgbClr val="7A716B"/>
                  </a:solidFill>
                  <a:latin typeface="+mn-lt"/>
                  <a:ea typeface="+mn-ea"/>
                  <a:cs typeface="+mn-cs"/>
                </a:rPr>
                <a:t>​实时/离线标签​</a:t>
              </a:r>
            </a:p>
          </p:txBody>
        </p:sp>
        <p:sp>
          <p:nvSpPr>
            <p:cNvPr id="102" name="Rectangle 102"/>
            <p:cNvSpPr/>
            <p:nvPr/>
          </p:nvSpPr>
          <p:spPr>
            <a:xfrm>
              <a:off x="1200150" y="3429000"/>
              <a:ext cx="4800600" cy="133350"/>
            </a:xfrm>
            <a:prstGeom prst="roundRect">
              <a:avLst>
                <a:gd name="adj" fmla="val 14286"/>
              </a:avLst>
            </a:prstGeom>
            <a:solidFill>
              <a:srgbClr val="FEF2E6"/>
            </a:solidFill>
            <a:ln>
              <a:noFill/>
            </a:ln>
          </p:spPr>
        </p:sp>
        <p:sp>
          <p:nvSpPr>
            <p:cNvPr id="103" name="TextBox 103"/>
            <p:cNvSpPr txBox="1"/>
            <p:nvPr/>
          </p:nvSpPr>
          <p:spPr>
            <a:xfrm>
              <a:off x="2890817" y="3463528"/>
              <a:ext cx="1419266" cy="111919"/>
            </a:xfrm>
            <a:prstGeom prst="rect">
              <a:avLst/>
            </a:prstGeom>
            <a:noFill/>
            <a:ln>
              <a:noFill/>
            </a:ln>
          </p:spPr>
          <p:txBody>
            <a:bodyPr wrap="none" lIns="0" tIns="0" rIns="0" bIns="0" anchor="t" anchorCtr="0">
              <a:spAutoFit/>
            </a:bodyPr>
            <a:lstStyle/>
            <a:p>
              <a:pPr algn="ctr"/>
              <a:r>
                <a:rPr lang="zh-CN" sz="560" dirty="0">
                  <a:solidFill>
                    <a:srgbClr val="4A130A"/>
                  </a:solidFill>
                  <a:latin typeface="+mn-lt"/>
                  <a:ea typeface="+mn-ea"/>
                  <a:cs typeface="+mn-cs"/>
                </a:rPr>
                <a:t>​特征库（离线特征仓 ＋ 实时特征服务）​</a:t>
              </a:r>
            </a:p>
          </p:txBody>
        </p:sp>
        <p:sp>
          <p:nvSpPr>
            <p:cNvPr id="104" name="Rectangle 104"/>
            <p:cNvSpPr/>
            <p:nvPr/>
          </p:nvSpPr>
          <p:spPr>
            <a:xfrm>
              <a:off x="342900" y="3657600"/>
              <a:ext cx="571500" cy="971550"/>
            </a:xfrm>
            <a:prstGeom prst="roundRect">
              <a:avLst>
                <a:gd name="adj" fmla="val 6667"/>
              </a:avLst>
            </a:prstGeom>
            <a:solidFill>
              <a:srgbClr val="D82000"/>
            </a:solidFill>
            <a:ln>
              <a:noFill/>
            </a:ln>
          </p:spPr>
        </p:sp>
        <p:grpSp>
          <p:nvGrpSpPr>
            <p:cNvPr id="114" name="Group 114"/>
            <p:cNvGrpSpPr/>
            <p:nvPr/>
          </p:nvGrpSpPr>
          <p:grpSpPr>
            <a:xfrm>
              <a:off x="567531" y="3846513"/>
              <a:ext cx="122238" cy="165893"/>
              <a:chOff x="567531" y="3846513"/>
              <a:chExt cx="122238" cy="165893"/>
            </a:xfrm>
          </p:grpSpPr>
          <p:sp>
            <p:nvSpPr>
              <p:cNvPr id="105" name="Freeform 105"/>
              <p:cNvSpPr/>
              <p:nvPr/>
            </p:nvSpPr>
            <p:spPr>
              <a:xfrm>
                <a:off x="576263" y="3863975"/>
                <a:ext cx="104775" cy="69850"/>
              </a:xfrm>
              <a:custGeom>
                <a:avLst/>
                <a:gdLst/>
                <a:ahLst/>
                <a:cxnLst/>
                <a:rect l="l" t="t" r="r" b="b"/>
                <a:pathLst>
                  <a:path w="104775" h="69850">
                    <a:moveTo>
                      <a:pt x="0" y="17463"/>
                    </a:moveTo>
                    <a:cubicBezTo>
                      <a:pt x="0" y="7818"/>
                      <a:pt x="7818" y="0"/>
                      <a:pt x="17463" y="0"/>
                    </a:cubicBezTo>
                    <a:lnTo>
                      <a:pt x="87313" y="0"/>
                    </a:lnTo>
                    <a:cubicBezTo>
                      <a:pt x="96957" y="0"/>
                      <a:pt x="104775" y="7818"/>
                      <a:pt x="104775" y="17463"/>
                    </a:cubicBezTo>
                    <a:lnTo>
                      <a:pt x="104775" y="52388"/>
                    </a:lnTo>
                    <a:cubicBezTo>
                      <a:pt x="104775" y="62032"/>
                      <a:pt x="96957" y="69850"/>
                      <a:pt x="87313" y="69850"/>
                    </a:cubicBezTo>
                    <a:lnTo>
                      <a:pt x="17463" y="69850"/>
                    </a:lnTo>
                    <a:cubicBezTo>
                      <a:pt x="7818" y="69850"/>
                      <a:pt x="0" y="62032"/>
                      <a:pt x="0" y="52388"/>
                    </a:cubicBezTo>
                    <a:lnTo>
                      <a:pt x="0" y="17463"/>
                    </a:lnTo>
                  </a:path>
                </a:pathLst>
              </a:custGeom>
              <a:noFill/>
              <a:ln w="17463">
                <a:solidFill>
                  <a:srgbClr val="FFFFFF"/>
                </a:solidFill>
              </a:ln>
            </p:spPr>
          </p:sp>
          <p:sp>
            <p:nvSpPr>
              <p:cNvPr id="106" name="Freeform 106"/>
              <p:cNvSpPr/>
              <p:nvPr/>
            </p:nvSpPr>
            <p:spPr>
              <a:xfrm>
                <a:off x="628650" y="3846513"/>
                <a:ext cx="9525" cy="17463"/>
              </a:xfrm>
              <a:custGeom>
                <a:avLst/>
                <a:gdLst/>
                <a:ahLst/>
                <a:cxnLst/>
                <a:rect l="l" t="t" r="r" b="b"/>
                <a:pathLst>
                  <a:path w="9525" h="17463">
                    <a:moveTo>
                      <a:pt x="0" y="0"/>
                    </a:moveTo>
                    <a:lnTo>
                      <a:pt x="0" y="17463"/>
                    </a:lnTo>
                  </a:path>
                </a:pathLst>
              </a:custGeom>
              <a:noFill/>
              <a:ln w="17463">
                <a:solidFill>
                  <a:srgbClr val="FFFFFF"/>
                </a:solidFill>
              </a:ln>
            </p:spPr>
          </p:sp>
          <p:sp>
            <p:nvSpPr>
              <p:cNvPr id="107" name="Freeform 107"/>
              <p:cNvSpPr/>
              <p:nvPr/>
            </p:nvSpPr>
            <p:spPr>
              <a:xfrm>
                <a:off x="602456" y="3933825"/>
                <a:ext cx="9525" cy="78581"/>
              </a:xfrm>
              <a:custGeom>
                <a:avLst/>
                <a:gdLst/>
                <a:ahLst/>
                <a:cxnLst/>
                <a:rect l="l" t="t" r="r" b="b"/>
                <a:pathLst>
                  <a:path w="9525" h="78581">
                    <a:moveTo>
                      <a:pt x="0" y="0"/>
                    </a:moveTo>
                    <a:lnTo>
                      <a:pt x="0" y="78581"/>
                    </a:lnTo>
                  </a:path>
                </a:pathLst>
              </a:custGeom>
              <a:noFill/>
              <a:ln w="17463">
                <a:solidFill>
                  <a:srgbClr val="FFFFFF"/>
                </a:solidFill>
              </a:ln>
            </p:spPr>
          </p:sp>
          <p:sp>
            <p:nvSpPr>
              <p:cNvPr id="108" name="Freeform 108"/>
              <p:cNvSpPr/>
              <p:nvPr/>
            </p:nvSpPr>
            <p:spPr>
              <a:xfrm>
                <a:off x="654844" y="3933825"/>
                <a:ext cx="9525" cy="78581"/>
              </a:xfrm>
              <a:custGeom>
                <a:avLst/>
                <a:gdLst/>
                <a:ahLst/>
                <a:cxnLst/>
                <a:rect l="l" t="t" r="r" b="b"/>
                <a:pathLst>
                  <a:path w="9525" h="78581">
                    <a:moveTo>
                      <a:pt x="0" y="0"/>
                    </a:moveTo>
                    <a:lnTo>
                      <a:pt x="0" y="78581"/>
                    </a:lnTo>
                  </a:path>
                </a:pathLst>
              </a:custGeom>
              <a:noFill/>
              <a:ln w="17463">
                <a:solidFill>
                  <a:srgbClr val="FFFFFF"/>
                </a:solidFill>
              </a:ln>
            </p:spPr>
          </p:sp>
          <p:sp>
            <p:nvSpPr>
              <p:cNvPr id="109" name="Freeform 109"/>
              <p:cNvSpPr/>
              <p:nvPr/>
            </p:nvSpPr>
            <p:spPr>
              <a:xfrm>
                <a:off x="567531" y="3951288"/>
                <a:ext cx="34925" cy="17463"/>
              </a:xfrm>
              <a:custGeom>
                <a:avLst/>
                <a:gdLst/>
                <a:ahLst/>
                <a:cxnLst/>
                <a:rect l="l" t="t" r="r" b="b"/>
                <a:pathLst>
                  <a:path w="34925" h="17463">
                    <a:moveTo>
                      <a:pt x="0" y="17463"/>
                    </a:moveTo>
                    <a:lnTo>
                      <a:pt x="34925" y="0"/>
                    </a:lnTo>
                  </a:path>
                </a:pathLst>
              </a:custGeom>
              <a:noFill/>
              <a:ln w="17463">
                <a:solidFill>
                  <a:srgbClr val="FFFFFF"/>
                </a:solidFill>
              </a:ln>
            </p:spPr>
          </p:sp>
          <p:sp>
            <p:nvSpPr>
              <p:cNvPr id="110" name="Freeform 110"/>
              <p:cNvSpPr/>
              <p:nvPr/>
            </p:nvSpPr>
            <p:spPr>
              <a:xfrm>
                <a:off x="654844" y="3951288"/>
                <a:ext cx="34925" cy="17463"/>
              </a:xfrm>
              <a:custGeom>
                <a:avLst/>
                <a:gdLst/>
                <a:ahLst/>
                <a:cxnLst/>
                <a:rect l="l" t="t" r="r" b="b"/>
                <a:pathLst>
                  <a:path w="34925" h="17463">
                    <a:moveTo>
                      <a:pt x="0" y="0"/>
                    </a:moveTo>
                    <a:lnTo>
                      <a:pt x="34925" y="17463"/>
                    </a:lnTo>
                  </a:path>
                </a:pathLst>
              </a:custGeom>
              <a:noFill/>
              <a:ln w="17463">
                <a:solidFill>
                  <a:srgbClr val="FFFFFF"/>
                </a:solidFill>
              </a:ln>
            </p:spPr>
          </p:sp>
          <p:sp>
            <p:nvSpPr>
              <p:cNvPr id="111" name="Freeform 111"/>
              <p:cNvSpPr/>
              <p:nvPr/>
            </p:nvSpPr>
            <p:spPr>
              <a:xfrm>
                <a:off x="602456" y="3986213"/>
                <a:ext cx="52388" cy="9525"/>
              </a:xfrm>
              <a:custGeom>
                <a:avLst/>
                <a:gdLst/>
                <a:ahLst/>
                <a:cxnLst/>
                <a:rect l="l" t="t" r="r" b="b"/>
                <a:pathLst>
                  <a:path w="52388" h="9525">
                    <a:moveTo>
                      <a:pt x="0" y="0"/>
                    </a:moveTo>
                    <a:lnTo>
                      <a:pt x="52388" y="0"/>
                    </a:lnTo>
                  </a:path>
                </a:pathLst>
              </a:custGeom>
              <a:noFill/>
              <a:ln w="17463">
                <a:solidFill>
                  <a:srgbClr val="FFFFFF"/>
                </a:solidFill>
              </a:ln>
            </p:spPr>
          </p:sp>
          <p:sp>
            <p:nvSpPr>
              <p:cNvPr id="112" name="Freeform 112"/>
              <p:cNvSpPr/>
              <p:nvPr/>
            </p:nvSpPr>
            <p:spPr>
              <a:xfrm>
                <a:off x="611188" y="3898900"/>
                <a:ext cx="9525" cy="9525"/>
              </a:xfrm>
              <a:custGeom>
                <a:avLst/>
                <a:gdLst/>
                <a:ahLst/>
                <a:cxnLst/>
                <a:rect l="l" t="t" r="r" b="b"/>
                <a:pathLst>
                  <a:path w="9525" h="9525">
                    <a:moveTo>
                      <a:pt x="0" y="0"/>
                    </a:moveTo>
                    <a:lnTo>
                      <a:pt x="0" y="87"/>
                    </a:lnTo>
                  </a:path>
                </a:pathLst>
              </a:custGeom>
              <a:noFill/>
              <a:ln w="17463">
                <a:solidFill>
                  <a:srgbClr val="FFFFFF"/>
                </a:solidFill>
              </a:ln>
            </p:spPr>
          </p:sp>
          <p:sp>
            <p:nvSpPr>
              <p:cNvPr id="113" name="Freeform 113"/>
              <p:cNvSpPr/>
              <p:nvPr/>
            </p:nvSpPr>
            <p:spPr>
              <a:xfrm>
                <a:off x="646113" y="3898900"/>
                <a:ext cx="9525" cy="9525"/>
              </a:xfrm>
              <a:custGeom>
                <a:avLst/>
                <a:gdLst/>
                <a:ahLst/>
                <a:cxnLst/>
                <a:rect l="l" t="t" r="r" b="b"/>
                <a:pathLst>
                  <a:path w="9525" h="9525">
                    <a:moveTo>
                      <a:pt x="0" y="0"/>
                    </a:moveTo>
                    <a:lnTo>
                      <a:pt x="0" y="87"/>
                    </a:lnTo>
                  </a:path>
                </a:pathLst>
              </a:custGeom>
              <a:noFill/>
              <a:ln w="17463">
                <a:solidFill>
                  <a:srgbClr val="FFFFFF"/>
                </a:solidFill>
              </a:ln>
            </p:spPr>
          </p:sp>
        </p:grpSp>
        <p:sp>
          <p:nvSpPr>
            <p:cNvPr id="115" name="TextBox 115"/>
            <p:cNvSpPr txBox="1"/>
            <p:nvPr/>
          </p:nvSpPr>
          <p:spPr>
            <a:xfrm>
              <a:off x="480517" y="4190286"/>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模型层</a:t>
              </a:r>
            </a:p>
          </p:txBody>
        </p:sp>
        <p:sp>
          <p:nvSpPr>
            <p:cNvPr id="116" name="Rectangle 116"/>
            <p:cNvSpPr/>
            <p:nvPr/>
          </p:nvSpPr>
          <p:spPr>
            <a:xfrm>
              <a:off x="952500" y="3657600"/>
              <a:ext cx="5143500" cy="971550"/>
            </a:xfrm>
            <a:prstGeom prst="roundRect">
              <a:avLst>
                <a:gd name="adj" fmla="val 3922"/>
              </a:avLst>
            </a:prstGeom>
            <a:solidFill>
              <a:srgbClr val="FFF8F2"/>
            </a:solidFill>
            <a:ln w="9525">
              <a:solidFill>
                <a:srgbClr val="F0B8AE"/>
              </a:solidFill>
            </a:ln>
          </p:spPr>
        </p:sp>
        <p:sp>
          <p:nvSpPr>
            <p:cNvPr id="117" name="Ellipse 117"/>
            <p:cNvSpPr/>
            <p:nvPr/>
          </p:nvSpPr>
          <p:spPr>
            <a:xfrm>
              <a:off x="1000125" y="3743325"/>
              <a:ext cx="171450" cy="171450"/>
            </a:xfrm>
            <a:prstGeom prst="ellipse">
              <a:avLst/>
            </a:prstGeom>
            <a:solidFill>
              <a:srgbClr val="C41D00"/>
            </a:solidFill>
            <a:ln>
              <a:noFill/>
            </a:ln>
          </p:spPr>
        </p:sp>
        <p:sp>
          <p:nvSpPr>
            <p:cNvPr id="118" name="TextBox 118"/>
            <p:cNvSpPr txBox="1"/>
            <p:nvPr/>
          </p:nvSpPr>
          <p:spPr>
            <a:xfrm>
              <a:off x="993627" y="37861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19" name="TextBox 119"/>
            <p:cNvSpPr txBox="1"/>
            <p:nvPr/>
          </p:nvSpPr>
          <p:spPr>
            <a:xfrm>
              <a:off x="3203053" y="3748088"/>
              <a:ext cx="832895"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​模型开发与管理​</a:t>
              </a:r>
            </a:p>
          </p:txBody>
        </p:sp>
        <p:sp>
          <p:nvSpPr>
            <p:cNvPr id="120" name="Rectangle 120"/>
            <p:cNvSpPr/>
            <p:nvPr/>
          </p:nvSpPr>
          <p:spPr>
            <a:xfrm>
              <a:off x="1200150" y="3924300"/>
              <a:ext cx="914400" cy="571500"/>
            </a:xfrm>
            <a:prstGeom prst="roundRect">
              <a:avLst>
                <a:gd name="adj" fmla="val 5000"/>
              </a:avLst>
            </a:prstGeom>
            <a:solidFill>
              <a:srgbClr val="FFFFFF"/>
            </a:solidFill>
            <a:ln w="9525">
              <a:solidFill>
                <a:srgbClr val="F0B8AE"/>
              </a:solidFill>
            </a:ln>
          </p:spPr>
        </p:sp>
        <p:sp>
          <p:nvSpPr>
            <p:cNvPr id="121" name="TextBox 121"/>
            <p:cNvSpPr txBox="1"/>
            <p:nvPr/>
          </p:nvSpPr>
          <p:spPr>
            <a:xfrm>
              <a:off x="1523352" y="4007882"/>
              <a:ext cx="267995"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模型库</a:t>
              </a:r>
            </a:p>
          </p:txBody>
        </p:sp>
        <p:sp>
          <p:nvSpPr>
            <p:cNvPr id="122" name="TextBox 122"/>
            <p:cNvSpPr txBox="1"/>
            <p:nvPr/>
          </p:nvSpPr>
          <p:spPr>
            <a:xfrm>
              <a:off x="1302322" y="4168378"/>
              <a:ext cx="710057"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​​评分/分类/预测/​​</a:t>
              </a:r>
              <a:br/>
              <a:r>
                <a:rPr lang="zh-CN" sz="560" dirty="0">
                  <a:solidFill>
                    <a:srgbClr val="7A716B"/>
                  </a:solidFill>
                  <a:latin typeface="+mn-lt"/>
                  <a:ea typeface="+mn-ea"/>
                  <a:cs typeface="+mn-cs"/>
                </a:rPr>
                <a:t>​推荐/聚类​</a:t>
              </a:r>
            </a:p>
          </p:txBody>
        </p:sp>
        <p:sp>
          <p:nvSpPr>
            <p:cNvPr id="123" name="Rectangle 123"/>
            <p:cNvSpPr/>
            <p:nvPr/>
          </p:nvSpPr>
          <p:spPr>
            <a:xfrm>
              <a:off x="2171700" y="3924300"/>
              <a:ext cx="914400" cy="571500"/>
            </a:xfrm>
            <a:prstGeom prst="roundRect">
              <a:avLst>
                <a:gd name="adj" fmla="val 5000"/>
              </a:avLst>
            </a:prstGeom>
            <a:solidFill>
              <a:srgbClr val="FFFFFF"/>
            </a:solidFill>
            <a:ln w="9525">
              <a:solidFill>
                <a:srgbClr val="F0B8AE"/>
              </a:solidFill>
            </a:ln>
          </p:spPr>
        </p:sp>
        <p:sp>
          <p:nvSpPr>
            <p:cNvPr id="124" name="TextBox 124"/>
            <p:cNvSpPr txBox="1"/>
            <p:nvPr/>
          </p:nvSpPr>
          <p:spPr>
            <a:xfrm>
              <a:off x="2451824" y="400788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训练平台</a:t>
              </a:r>
            </a:p>
          </p:txBody>
        </p:sp>
        <p:sp>
          <p:nvSpPr>
            <p:cNvPr id="125" name="TextBox 125"/>
            <p:cNvSpPr txBox="1"/>
            <p:nvPr/>
          </p:nvSpPr>
          <p:spPr>
            <a:xfrm>
              <a:off x="2259648" y="4168378"/>
              <a:ext cx="738505"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​​AutoML/实验跟踪​​</a:t>
              </a:r>
              <a:br/>
              <a:r>
                <a:rPr lang="zh-CN" sz="560" dirty="0">
                  <a:solidFill>
                    <a:srgbClr val="7A716B"/>
                  </a:solidFill>
                  <a:latin typeface="+mn-lt"/>
                  <a:ea typeface="+mn-ea"/>
                  <a:cs typeface="+mn-cs"/>
                </a:rPr>
                <a:t>样本管理</a:t>
              </a:r>
            </a:p>
          </p:txBody>
        </p:sp>
        <p:sp>
          <p:nvSpPr>
            <p:cNvPr id="126" name="Rectangle 126"/>
            <p:cNvSpPr/>
            <p:nvPr/>
          </p:nvSpPr>
          <p:spPr>
            <a:xfrm>
              <a:off x="3143250" y="3924300"/>
              <a:ext cx="914400" cy="571500"/>
            </a:xfrm>
            <a:prstGeom prst="roundRect">
              <a:avLst>
                <a:gd name="adj" fmla="val 5000"/>
              </a:avLst>
            </a:prstGeom>
            <a:solidFill>
              <a:srgbClr val="FFFFFF"/>
            </a:solidFill>
            <a:ln w="9525">
              <a:solidFill>
                <a:srgbClr val="F0B8AE"/>
              </a:solidFill>
            </a:ln>
          </p:spPr>
        </p:sp>
        <p:sp>
          <p:nvSpPr>
            <p:cNvPr id="127" name="TextBox 127"/>
            <p:cNvSpPr txBox="1"/>
            <p:nvPr/>
          </p:nvSpPr>
          <p:spPr>
            <a:xfrm>
              <a:off x="3423374" y="400788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模型治理</a:t>
              </a:r>
            </a:p>
          </p:txBody>
        </p:sp>
        <p:sp>
          <p:nvSpPr>
            <p:cNvPr id="128" name="TextBox 128"/>
            <p:cNvSpPr txBox="1"/>
            <p:nvPr/>
          </p:nvSpPr>
          <p:spPr>
            <a:xfrm>
              <a:off x="3264979" y="4168378"/>
              <a:ext cx="67094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​​版本/审批/发布​​</a:t>
              </a:r>
              <a:br/>
              <a:r>
                <a:rPr lang="zh-CN" sz="560" dirty="0">
                  <a:solidFill>
                    <a:srgbClr val="7A716B"/>
                  </a:solidFill>
                  <a:latin typeface="+mn-lt"/>
                  <a:ea typeface="+mn-ea"/>
                  <a:cs typeface="+mn-cs"/>
                </a:rPr>
                <a:t>​灰度/回滚​</a:t>
              </a:r>
            </a:p>
          </p:txBody>
        </p:sp>
        <p:sp>
          <p:nvSpPr>
            <p:cNvPr id="129" name="Rectangle 129"/>
            <p:cNvSpPr/>
            <p:nvPr/>
          </p:nvSpPr>
          <p:spPr>
            <a:xfrm>
              <a:off x="4114800" y="3924300"/>
              <a:ext cx="914400" cy="571500"/>
            </a:xfrm>
            <a:prstGeom prst="roundRect">
              <a:avLst>
                <a:gd name="adj" fmla="val 5000"/>
              </a:avLst>
            </a:prstGeom>
            <a:solidFill>
              <a:srgbClr val="FFFFFF"/>
            </a:solidFill>
            <a:ln w="9525">
              <a:solidFill>
                <a:srgbClr val="F0B8AE"/>
              </a:solidFill>
            </a:ln>
          </p:spPr>
        </p:sp>
        <p:sp>
          <p:nvSpPr>
            <p:cNvPr id="130" name="TextBox 130"/>
            <p:cNvSpPr txBox="1"/>
            <p:nvPr/>
          </p:nvSpPr>
          <p:spPr>
            <a:xfrm>
              <a:off x="4394924" y="400788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在线服务</a:t>
              </a:r>
            </a:p>
          </p:txBody>
        </p:sp>
        <p:sp>
          <p:nvSpPr>
            <p:cNvPr id="131" name="TextBox 131"/>
            <p:cNvSpPr txBox="1"/>
            <p:nvPr/>
          </p:nvSpPr>
          <p:spPr>
            <a:xfrm>
              <a:off x="4389438" y="4168378"/>
              <a:ext cx="365125"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低延迟预测</a:t>
              </a:r>
              <a:br/>
              <a:r>
                <a:rPr lang="zh-CN" sz="560" dirty="0">
                  <a:solidFill>
                    <a:srgbClr val="7A716B"/>
                  </a:solidFill>
                  <a:latin typeface="+mn-lt"/>
                  <a:ea typeface="+mn-ea"/>
                  <a:cs typeface="+mn-cs"/>
                </a:rPr>
                <a:t>弹性扩缩容</a:t>
              </a:r>
            </a:p>
          </p:txBody>
        </p:sp>
        <p:sp>
          <p:nvSpPr>
            <p:cNvPr id="132" name="Rectangle 132"/>
            <p:cNvSpPr/>
            <p:nvPr/>
          </p:nvSpPr>
          <p:spPr>
            <a:xfrm>
              <a:off x="5086350" y="3924300"/>
              <a:ext cx="914400" cy="571500"/>
            </a:xfrm>
            <a:prstGeom prst="roundRect">
              <a:avLst>
                <a:gd name="adj" fmla="val 5000"/>
              </a:avLst>
            </a:prstGeom>
            <a:solidFill>
              <a:srgbClr val="FFFFFF"/>
            </a:solidFill>
            <a:ln w="9525">
              <a:solidFill>
                <a:srgbClr val="F0B8AE"/>
              </a:solidFill>
            </a:ln>
          </p:spPr>
        </p:sp>
        <p:sp>
          <p:nvSpPr>
            <p:cNvPr id="133" name="TextBox 133"/>
            <p:cNvSpPr txBox="1"/>
            <p:nvPr/>
          </p:nvSpPr>
          <p:spPr>
            <a:xfrm>
              <a:off x="5366474" y="400788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模型评估</a:t>
              </a:r>
            </a:p>
          </p:txBody>
        </p:sp>
        <p:sp>
          <p:nvSpPr>
            <p:cNvPr id="134" name="TextBox 134"/>
            <p:cNvSpPr txBox="1"/>
            <p:nvPr/>
          </p:nvSpPr>
          <p:spPr>
            <a:xfrm>
              <a:off x="5195634" y="4168378"/>
              <a:ext cx="695833"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A716B"/>
                  </a:solidFill>
                  <a:latin typeface="+mn-lt"/>
                  <a:ea typeface="+mn-ea"/>
                  <a:cs typeface="+mn-cs"/>
                </a:rPr>
                <a:t>​离线评估/对照实验​</a:t>
              </a:r>
              <a:br/>
              <a:r>
                <a:rPr lang="en-US" sz="560" dirty="0">
                  <a:solidFill>
                    <a:srgbClr val="7A716B"/>
                  </a:solidFill>
                  <a:latin typeface="+mn-lt"/>
                  <a:ea typeface="+mn-ea"/>
                  <a:cs typeface="+mn-cs"/>
                </a:rPr>
                <a:t>​​A/B Test​​</a:t>
              </a:r>
            </a:p>
          </p:txBody>
        </p:sp>
        <p:sp>
          <p:nvSpPr>
            <p:cNvPr id="135" name="Rectangle 135"/>
            <p:cNvSpPr/>
            <p:nvPr/>
          </p:nvSpPr>
          <p:spPr>
            <a:xfrm>
              <a:off x="342900" y="4648200"/>
              <a:ext cx="571500" cy="971550"/>
            </a:xfrm>
            <a:prstGeom prst="roundRect">
              <a:avLst>
                <a:gd name="adj" fmla="val 6667"/>
              </a:avLst>
            </a:prstGeom>
            <a:solidFill>
              <a:srgbClr val="E0371A"/>
            </a:solidFill>
            <a:ln>
              <a:noFill/>
            </a:ln>
          </p:spPr>
        </p:sp>
        <p:grpSp>
          <p:nvGrpSpPr>
            <p:cNvPr id="141" name="Group 141"/>
            <p:cNvGrpSpPr/>
            <p:nvPr/>
          </p:nvGrpSpPr>
          <p:grpSpPr>
            <a:xfrm>
              <a:off x="550069" y="4845844"/>
              <a:ext cx="157163" cy="157163"/>
              <a:chOff x="550069" y="4845844"/>
              <a:chExt cx="157163" cy="157163"/>
            </a:xfrm>
          </p:grpSpPr>
          <p:sp>
            <p:nvSpPr>
              <p:cNvPr id="136" name="Freeform 136"/>
              <p:cNvSpPr/>
              <p:nvPr/>
            </p:nvSpPr>
            <p:spPr>
              <a:xfrm>
                <a:off x="550069" y="495061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FFFFFF"/>
                </a:solidFill>
              </a:ln>
            </p:spPr>
          </p:sp>
          <p:sp>
            <p:nvSpPr>
              <p:cNvPr id="137" name="Freeform 137"/>
              <p:cNvSpPr/>
              <p:nvPr/>
            </p:nvSpPr>
            <p:spPr>
              <a:xfrm>
                <a:off x="654844" y="495061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FFFFFF"/>
                </a:solidFill>
              </a:ln>
            </p:spPr>
          </p:sp>
          <p:sp>
            <p:nvSpPr>
              <p:cNvPr id="138" name="Freeform 138"/>
              <p:cNvSpPr/>
              <p:nvPr/>
            </p:nvSpPr>
            <p:spPr>
              <a:xfrm>
                <a:off x="602456" y="4845844"/>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FFFFFF"/>
                </a:solidFill>
              </a:ln>
            </p:spPr>
          </p:sp>
          <p:sp>
            <p:nvSpPr>
              <p:cNvPr id="139" name="Freeform 139"/>
              <p:cNvSpPr/>
              <p:nvPr/>
            </p:nvSpPr>
            <p:spPr>
              <a:xfrm>
                <a:off x="576263" y="4924425"/>
                <a:ext cx="104775" cy="26194"/>
              </a:xfrm>
              <a:custGeom>
                <a:avLst/>
                <a:gdLst/>
                <a:ahLst/>
                <a:cxnLst/>
                <a:rect l="l" t="t" r="r" b="b"/>
                <a:pathLst>
                  <a:path w="104775" h="26194">
                    <a:moveTo>
                      <a:pt x="0" y="26194"/>
                    </a:moveTo>
                    <a:lnTo>
                      <a:pt x="0" y="17463"/>
                    </a:lnTo>
                    <a:cubicBezTo>
                      <a:pt x="0" y="7818"/>
                      <a:pt x="7818" y="0"/>
                      <a:pt x="17463" y="0"/>
                    </a:cubicBezTo>
                    <a:lnTo>
                      <a:pt x="87313" y="0"/>
                    </a:lnTo>
                    <a:cubicBezTo>
                      <a:pt x="96957" y="0"/>
                      <a:pt x="104775" y="7818"/>
                      <a:pt x="104775" y="17463"/>
                    </a:cubicBezTo>
                    <a:lnTo>
                      <a:pt x="104775" y="26194"/>
                    </a:lnTo>
                  </a:path>
                </a:pathLst>
              </a:custGeom>
              <a:noFill/>
              <a:ln w="17463">
                <a:solidFill>
                  <a:srgbClr val="FFFFFF"/>
                </a:solidFill>
              </a:ln>
            </p:spPr>
          </p:sp>
          <p:sp>
            <p:nvSpPr>
              <p:cNvPr id="140" name="Freeform 140"/>
              <p:cNvSpPr/>
              <p:nvPr/>
            </p:nvSpPr>
            <p:spPr>
              <a:xfrm>
                <a:off x="628650" y="4898231"/>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142" name="TextBox 142"/>
            <p:cNvSpPr txBox="1"/>
            <p:nvPr/>
          </p:nvSpPr>
          <p:spPr>
            <a:xfrm>
              <a:off x="488632" y="5123736"/>
              <a:ext cx="280035" cy="254794"/>
            </a:xfrm>
            <a:prstGeom prst="rect">
              <a:avLst/>
            </a:prstGeom>
            <a:noFill/>
            <a:ln>
              <a:noFill/>
            </a:ln>
          </p:spPr>
          <p:txBody>
            <a:bodyPr wrap="none" lIns="0" tIns="0" rIns="0" bIns="0" anchor="t" anchorCtr="0">
              <a:spAutoFit/>
            </a:bodyPr>
            <a:lstStyle/>
            <a:p>
              <a:pPr algn="ctr">
                <a:lnSpc>
                  <a:spcPts val="900"/>
                </a:lnSpc>
              </a:pPr>
              <a:r>
                <a:rPr lang="zh-CN" sz="710" b="1" dirty="0">
                  <a:solidFill>
                    <a:srgbClr val="FFFFFF"/>
                  </a:solidFill>
                  <a:latin typeface="+mn-lt"/>
                  <a:ea typeface="+mn-ea"/>
                  <a:cs typeface="+mn-cs"/>
                </a:rPr>
                <a:t>决策与</a:t>
              </a:r>
              <a:br/>
              <a:r>
                <a:rPr lang="zh-CN" sz="710" b="1" dirty="0">
                  <a:solidFill>
                    <a:srgbClr val="FFFFFF"/>
                  </a:solidFill>
                  <a:latin typeface="+mn-lt"/>
                  <a:ea typeface="+mn-ea"/>
                  <a:cs typeface="+mn-cs"/>
                </a:rPr>
                <a:t>编排层</a:t>
              </a:r>
            </a:p>
          </p:txBody>
        </p:sp>
        <p:sp>
          <p:nvSpPr>
            <p:cNvPr id="143" name="Rectangle 143"/>
            <p:cNvSpPr/>
            <p:nvPr/>
          </p:nvSpPr>
          <p:spPr>
            <a:xfrm>
              <a:off x="952500" y="4648200"/>
              <a:ext cx="5143500" cy="971550"/>
            </a:xfrm>
            <a:prstGeom prst="roundRect">
              <a:avLst>
                <a:gd name="adj" fmla="val 3922"/>
              </a:avLst>
            </a:prstGeom>
            <a:solidFill>
              <a:srgbClr val="FFF8F2"/>
            </a:solidFill>
            <a:ln w="9525">
              <a:solidFill>
                <a:srgbClr val="F0B8AE"/>
              </a:solidFill>
            </a:ln>
          </p:spPr>
        </p:sp>
        <p:sp>
          <p:nvSpPr>
            <p:cNvPr id="144" name="Ellipse 144"/>
            <p:cNvSpPr/>
            <p:nvPr/>
          </p:nvSpPr>
          <p:spPr>
            <a:xfrm>
              <a:off x="1000125" y="4733925"/>
              <a:ext cx="171450" cy="171450"/>
            </a:xfrm>
            <a:prstGeom prst="ellipse">
              <a:avLst/>
            </a:prstGeom>
            <a:solidFill>
              <a:srgbClr val="C41D00"/>
            </a:solidFill>
            <a:ln>
              <a:noFill/>
            </a:ln>
          </p:spPr>
        </p:sp>
        <p:sp>
          <p:nvSpPr>
            <p:cNvPr id="145" name="TextBox 145"/>
            <p:cNvSpPr txBox="1"/>
            <p:nvPr/>
          </p:nvSpPr>
          <p:spPr>
            <a:xfrm>
              <a:off x="993627" y="47767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146" name="TextBox 146"/>
            <p:cNvSpPr txBox="1"/>
            <p:nvPr/>
          </p:nvSpPr>
          <p:spPr>
            <a:xfrm>
              <a:off x="3102088" y="4738688"/>
              <a:ext cx="1034825"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​决策编排与策略中心​</a:t>
              </a:r>
            </a:p>
          </p:txBody>
        </p:sp>
        <p:sp>
          <p:nvSpPr>
            <p:cNvPr id="147" name="Rectangle 147"/>
            <p:cNvSpPr/>
            <p:nvPr/>
          </p:nvSpPr>
          <p:spPr>
            <a:xfrm>
              <a:off x="1200150" y="4914900"/>
              <a:ext cx="914400" cy="571500"/>
            </a:xfrm>
            <a:prstGeom prst="roundRect">
              <a:avLst>
                <a:gd name="adj" fmla="val 5000"/>
              </a:avLst>
            </a:prstGeom>
            <a:solidFill>
              <a:srgbClr val="FFFFFF"/>
            </a:solidFill>
            <a:ln w="9525">
              <a:solidFill>
                <a:srgbClr val="F0B8AE"/>
              </a:solidFill>
            </a:ln>
          </p:spPr>
        </p:sp>
        <p:sp>
          <p:nvSpPr>
            <p:cNvPr id="148" name="TextBox 148"/>
            <p:cNvSpPr txBox="1"/>
            <p:nvPr/>
          </p:nvSpPr>
          <p:spPr>
            <a:xfrm>
              <a:off x="1480274" y="503658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策略管理</a:t>
              </a:r>
            </a:p>
          </p:txBody>
        </p:sp>
        <p:sp>
          <p:nvSpPr>
            <p:cNvPr id="149" name="TextBox 149"/>
            <p:cNvSpPr txBox="1"/>
            <p:nvPr/>
          </p:nvSpPr>
          <p:spPr>
            <a:xfrm>
              <a:off x="1205918" y="5216128"/>
              <a:ext cx="902863"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​​规则/策略/优惠/约束​​</a:t>
              </a:r>
            </a:p>
          </p:txBody>
        </p:sp>
        <p:sp>
          <p:nvSpPr>
            <p:cNvPr id="150" name="Rectangle 150"/>
            <p:cNvSpPr/>
            <p:nvPr/>
          </p:nvSpPr>
          <p:spPr>
            <a:xfrm>
              <a:off x="2171700" y="4914900"/>
              <a:ext cx="914400" cy="571500"/>
            </a:xfrm>
            <a:prstGeom prst="roundRect">
              <a:avLst>
                <a:gd name="adj" fmla="val 5000"/>
              </a:avLst>
            </a:prstGeom>
            <a:solidFill>
              <a:srgbClr val="FFFFFF"/>
            </a:solidFill>
            <a:ln w="9525">
              <a:solidFill>
                <a:srgbClr val="F0B8AE"/>
              </a:solidFill>
            </a:ln>
          </p:spPr>
        </p:sp>
        <p:sp>
          <p:nvSpPr>
            <p:cNvPr id="151" name="TextBox 151"/>
            <p:cNvSpPr txBox="1"/>
            <p:nvPr/>
          </p:nvSpPr>
          <p:spPr>
            <a:xfrm>
              <a:off x="2451824" y="503658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决策引擎</a:t>
              </a:r>
            </a:p>
          </p:txBody>
        </p:sp>
        <p:sp>
          <p:nvSpPr>
            <p:cNvPr id="152" name="TextBox 152"/>
            <p:cNvSpPr txBox="1"/>
            <p:nvPr/>
          </p:nvSpPr>
          <p:spPr>
            <a:xfrm>
              <a:off x="2260394" y="5216128"/>
              <a:ext cx="737011"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​规则引擎+模型编排​</a:t>
              </a:r>
            </a:p>
          </p:txBody>
        </p:sp>
        <p:sp>
          <p:nvSpPr>
            <p:cNvPr id="153" name="Rectangle 153"/>
            <p:cNvSpPr/>
            <p:nvPr/>
          </p:nvSpPr>
          <p:spPr>
            <a:xfrm>
              <a:off x="3143250" y="4914900"/>
              <a:ext cx="914400" cy="571500"/>
            </a:xfrm>
            <a:prstGeom prst="roundRect">
              <a:avLst>
                <a:gd name="adj" fmla="val 5000"/>
              </a:avLst>
            </a:prstGeom>
            <a:solidFill>
              <a:srgbClr val="FFFFFF"/>
            </a:solidFill>
            <a:ln w="9525">
              <a:solidFill>
                <a:srgbClr val="F0B8AE"/>
              </a:solidFill>
            </a:ln>
          </p:spPr>
        </p:sp>
        <p:sp>
          <p:nvSpPr>
            <p:cNvPr id="154" name="TextBox 154"/>
            <p:cNvSpPr txBox="1"/>
            <p:nvPr/>
          </p:nvSpPr>
          <p:spPr>
            <a:xfrm>
              <a:off x="3423374" y="503658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实时决策</a:t>
              </a:r>
            </a:p>
          </p:txBody>
        </p:sp>
        <p:sp>
          <p:nvSpPr>
            <p:cNvPr id="155" name="TextBox 155"/>
            <p:cNvSpPr txBox="1"/>
            <p:nvPr/>
          </p:nvSpPr>
          <p:spPr>
            <a:xfrm>
              <a:off x="3231944" y="5216128"/>
              <a:ext cx="737011"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​事件触发/流式决策​</a:t>
              </a:r>
            </a:p>
          </p:txBody>
        </p:sp>
        <p:sp>
          <p:nvSpPr>
            <p:cNvPr id="156" name="Rectangle 156"/>
            <p:cNvSpPr/>
            <p:nvPr/>
          </p:nvSpPr>
          <p:spPr>
            <a:xfrm>
              <a:off x="4114800" y="4914900"/>
              <a:ext cx="914400" cy="571500"/>
            </a:xfrm>
            <a:prstGeom prst="roundRect">
              <a:avLst>
                <a:gd name="adj" fmla="val 5000"/>
              </a:avLst>
            </a:prstGeom>
            <a:solidFill>
              <a:srgbClr val="FFFFFF"/>
            </a:solidFill>
            <a:ln w="9525">
              <a:solidFill>
                <a:srgbClr val="F0B8AE"/>
              </a:solidFill>
            </a:ln>
          </p:spPr>
        </p:sp>
        <p:sp>
          <p:nvSpPr>
            <p:cNvPr id="157" name="TextBox 157"/>
            <p:cNvSpPr txBox="1"/>
            <p:nvPr/>
          </p:nvSpPr>
          <p:spPr>
            <a:xfrm>
              <a:off x="4351846" y="5036582"/>
              <a:ext cx="440309"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个性化推荐</a:t>
              </a:r>
            </a:p>
          </p:txBody>
        </p:sp>
        <p:sp>
          <p:nvSpPr>
            <p:cNvPr id="158" name="TextBox 158"/>
            <p:cNvSpPr txBox="1"/>
            <p:nvPr/>
          </p:nvSpPr>
          <p:spPr>
            <a:xfrm>
              <a:off x="4157116" y="5216128"/>
              <a:ext cx="829767" cy="111919"/>
            </a:xfrm>
            <a:prstGeom prst="rect">
              <a:avLst/>
            </a:prstGeom>
            <a:noFill/>
            <a:ln>
              <a:noFill/>
            </a:ln>
          </p:spPr>
          <p:txBody>
            <a:bodyPr wrap="none" lIns="0" tIns="0" rIns="0" bIns="0" anchor="t" anchorCtr="0">
              <a:spAutoFit/>
            </a:bodyPr>
            <a:lstStyle/>
            <a:p>
              <a:pPr algn="ctr"/>
              <a:r>
                <a:rPr lang="en-US" sz="560" dirty="0">
                  <a:solidFill>
                    <a:srgbClr val="7A716B"/>
                  </a:solidFill>
                  <a:latin typeface="+mn-lt"/>
                  <a:ea typeface="+mn-ea"/>
                  <a:cs typeface="+mn-cs"/>
                </a:rPr>
                <a:t>​​Next-Best-Action​​</a:t>
              </a:r>
            </a:p>
          </p:txBody>
        </p:sp>
        <p:sp>
          <p:nvSpPr>
            <p:cNvPr id="159" name="Rectangle 159"/>
            <p:cNvSpPr/>
            <p:nvPr/>
          </p:nvSpPr>
          <p:spPr>
            <a:xfrm>
              <a:off x="5086350" y="4914900"/>
              <a:ext cx="914400" cy="571500"/>
            </a:xfrm>
            <a:prstGeom prst="roundRect">
              <a:avLst>
                <a:gd name="adj" fmla="val 5000"/>
              </a:avLst>
            </a:prstGeom>
            <a:solidFill>
              <a:srgbClr val="FFFFFF"/>
            </a:solidFill>
            <a:ln w="9525">
              <a:solidFill>
                <a:srgbClr val="F0B8AE"/>
              </a:solidFill>
            </a:ln>
          </p:spPr>
        </p:sp>
        <p:sp>
          <p:nvSpPr>
            <p:cNvPr id="160" name="TextBox 160"/>
            <p:cNvSpPr txBox="1"/>
            <p:nvPr/>
          </p:nvSpPr>
          <p:spPr>
            <a:xfrm>
              <a:off x="5366474" y="5036582"/>
              <a:ext cx="354152" cy="126206"/>
            </a:xfrm>
            <a:prstGeom prst="rect">
              <a:avLst/>
            </a:prstGeom>
            <a:noFill/>
            <a:ln>
              <a:noFill/>
            </a:ln>
          </p:spPr>
          <p:txBody>
            <a:bodyPr wrap="none" lIns="0" tIns="0" rIns="0" bIns="0" anchor="t" anchorCtr="0">
              <a:spAutoFit/>
            </a:bodyPr>
            <a:lstStyle/>
            <a:p>
              <a:pPr algn="ctr"/>
              <a:r>
                <a:rPr lang="zh-CN" sz="640" b="1" dirty="0">
                  <a:solidFill>
                    <a:srgbClr val="4A130A"/>
                  </a:solidFill>
                  <a:latin typeface="+mn-lt"/>
                  <a:ea typeface="+mn-ea"/>
                  <a:cs typeface="+mn-cs"/>
                </a:rPr>
                <a:t>效果回收</a:t>
              </a:r>
            </a:p>
          </p:txBody>
        </p:sp>
        <p:sp>
          <p:nvSpPr>
            <p:cNvPr id="161" name="TextBox 161"/>
            <p:cNvSpPr txBox="1"/>
            <p:nvPr/>
          </p:nvSpPr>
          <p:spPr>
            <a:xfrm>
              <a:off x="5092118" y="5216128"/>
              <a:ext cx="902863"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​​曝光/点击/转化/回收​​</a:t>
              </a:r>
            </a:p>
          </p:txBody>
        </p:sp>
        <p:sp>
          <p:nvSpPr>
            <p:cNvPr id="162" name="Rectangle 162"/>
            <p:cNvSpPr/>
            <p:nvPr/>
          </p:nvSpPr>
          <p:spPr>
            <a:xfrm>
              <a:off x="342900" y="5638800"/>
              <a:ext cx="571500" cy="990600"/>
            </a:xfrm>
            <a:prstGeom prst="roundRect">
              <a:avLst>
                <a:gd name="adj" fmla="val 6667"/>
              </a:avLst>
            </a:prstGeom>
            <a:solidFill>
              <a:srgbClr val="EE492C"/>
            </a:solidFill>
            <a:ln>
              <a:noFill/>
            </a:ln>
          </p:spPr>
        </p:sp>
        <p:grpSp>
          <p:nvGrpSpPr>
            <p:cNvPr id="166" name="Group 166"/>
            <p:cNvGrpSpPr/>
            <p:nvPr/>
          </p:nvGrpSpPr>
          <p:grpSpPr>
            <a:xfrm>
              <a:off x="567531" y="5836444"/>
              <a:ext cx="122238" cy="157162"/>
              <a:chOff x="567531" y="5836444"/>
              <a:chExt cx="122238" cy="157162"/>
            </a:xfrm>
          </p:grpSpPr>
          <p:sp>
            <p:nvSpPr>
              <p:cNvPr id="163" name="Freeform 163"/>
              <p:cNvSpPr/>
              <p:nvPr/>
            </p:nvSpPr>
            <p:spPr>
              <a:xfrm>
                <a:off x="567531" y="5888831"/>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FFFFFF"/>
                </a:solidFill>
              </a:ln>
            </p:spPr>
          </p:sp>
          <p:sp>
            <p:nvSpPr>
              <p:cNvPr id="164" name="Freeform 164"/>
              <p:cNvSpPr/>
              <p:nvPr/>
            </p:nvSpPr>
            <p:spPr>
              <a:xfrm>
                <a:off x="628650" y="5836444"/>
                <a:ext cx="9525" cy="96044"/>
              </a:xfrm>
              <a:custGeom>
                <a:avLst/>
                <a:gdLst/>
                <a:ahLst/>
                <a:cxnLst/>
                <a:rect l="l" t="t" r="r" b="b"/>
                <a:pathLst>
                  <a:path w="9525" h="96044">
                    <a:moveTo>
                      <a:pt x="0" y="96044"/>
                    </a:moveTo>
                    <a:lnTo>
                      <a:pt x="0" y="0"/>
                    </a:lnTo>
                  </a:path>
                </a:pathLst>
              </a:custGeom>
              <a:noFill/>
              <a:ln w="17463">
                <a:solidFill>
                  <a:srgbClr val="FFFFFF"/>
                </a:solidFill>
              </a:ln>
            </p:spPr>
          </p:sp>
          <p:sp>
            <p:nvSpPr>
              <p:cNvPr id="165" name="Freeform 165"/>
              <p:cNvSpPr/>
              <p:nvPr/>
            </p:nvSpPr>
            <p:spPr>
              <a:xfrm>
                <a:off x="602456" y="5836444"/>
                <a:ext cx="52388" cy="26194"/>
              </a:xfrm>
              <a:custGeom>
                <a:avLst/>
                <a:gdLst/>
                <a:ahLst/>
                <a:cxnLst/>
                <a:rect l="l" t="t" r="r" b="b"/>
                <a:pathLst>
                  <a:path w="52388" h="26194">
                    <a:moveTo>
                      <a:pt x="0" y="26194"/>
                    </a:moveTo>
                    <a:lnTo>
                      <a:pt x="26194" y="0"/>
                    </a:lnTo>
                    <a:lnTo>
                      <a:pt x="52388" y="26194"/>
                    </a:lnTo>
                  </a:path>
                </a:pathLst>
              </a:custGeom>
              <a:noFill/>
              <a:ln w="17463">
                <a:solidFill>
                  <a:srgbClr val="FFFFFF"/>
                </a:solidFill>
              </a:ln>
            </p:spPr>
          </p:sp>
        </p:grpSp>
        <p:sp>
          <p:nvSpPr>
            <p:cNvPr id="167" name="TextBox 167"/>
            <p:cNvSpPr txBox="1"/>
            <p:nvPr/>
          </p:nvSpPr>
          <p:spPr>
            <a:xfrm>
              <a:off x="488632" y="6114336"/>
              <a:ext cx="280035" cy="254794"/>
            </a:xfrm>
            <a:prstGeom prst="rect">
              <a:avLst/>
            </a:prstGeom>
            <a:noFill/>
            <a:ln>
              <a:noFill/>
            </a:ln>
          </p:spPr>
          <p:txBody>
            <a:bodyPr wrap="none" lIns="0" tIns="0" rIns="0" bIns="0" anchor="t" anchorCtr="0">
              <a:spAutoFit/>
            </a:bodyPr>
            <a:lstStyle/>
            <a:p>
              <a:pPr algn="ctr">
                <a:lnSpc>
                  <a:spcPts val="900"/>
                </a:lnSpc>
              </a:pPr>
              <a:r>
                <a:rPr lang="zh-CN" sz="710" b="1" dirty="0">
                  <a:solidFill>
                    <a:srgbClr val="FFFFFF"/>
                  </a:solidFill>
                  <a:latin typeface="+mn-lt"/>
                  <a:ea typeface="+mn-ea"/>
                  <a:cs typeface="+mn-cs"/>
                </a:rPr>
                <a:t>渠道</a:t>
              </a:r>
              <a:br/>
              <a:r>
                <a:rPr lang="zh-CN" sz="710" b="1" dirty="0">
                  <a:solidFill>
                    <a:srgbClr val="FFFFFF"/>
                  </a:solidFill>
                  <a:latin typeface="+mn-lt"/>
                  <a:ea typeface="+mn-ea"/>
                  <a:cs typeface="+mn-cs"/>
                </a:rPr>
                <a:t>执行层</a:t>
              </a:r>
            </a:p>
          </p:txBody>
        </p:sp>
        <p:sp>
          <p:nvSpPr>
            <p:cNvPr id="168" name="Rectangle 168"/>
            <p:cNvSpPr/>
            <p:nvPr/>
          </p:nvSpPr>
          <p:spPr>
            <a:xfrm>
              <a:off x="952500" y="5638800"/>
              <a:ext cx="5143500" cy="990600"/>
            </a:xfrm>
            <a:prstGeom prst="roundRect">
              <a:avLst>
                <a:gd name="adj" fmla="val 3846"/>
              </a:avLst>
            </a:prstGeom>
            <a:solidFill>
              <a:srgbClr val="FFF8F2"/>
            </a:solidFill>
            <a:ln w="9525">
              <a:solidFill>
                <a:srgbClr val="F0B8AE"/>
              </a:solidFill>
            </a:ln>
          </p:spPr>
        </p:sp>
        <p:sp>
          <p:nvSpPr>
            <p:cNvPr id="169" name="Ellipse 169"/>
            <p:cNvSpPr/>
            <p:nvPr/>
          </p:nvSpPr>
          <p:spPr>
            <a:xfrm>
              <a:off x="1000125" y="5724525"/>
              <a:ext cx="171450" cy="171450"/>
            </a:xfrm>
            <a:prstGeom prst="ellipse">
              <a:avLst/>
            </a:prstGeom>
            <a:solidFill>
              <a:srgbClr val="C41D00"/>
            </a:solidFill>
            <a:ln>
              <a:noFill/>
            </a:ln>
          </p:spPr>
        </p:sp>
        <p:sp>
          <p:nvSpPr>
            <p:cNvPr id="170" name="TextBox 170"/>
            <p:cNvSpPr txBox="1"/>
            <p:nvPr/>
          </p:nvSpPr>
          <p:spPr>
            <a:xfrm>
              <a:off x="993627" y="57673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a:t>
              </a:r>
            </a:p>
          </p:txBody>
        </p:sp>
        <p:sp>
          <p:nvSpPr>
            <p:cNvPr id="171" name="TextBox 171"/>
            <p:cNvSpPr txBox="1"/>
            <p:nvPr/>
          </p:nvSpPr>
          <p:spPr>
            <a:xfrm>
              <a:off x="3152570" y="5729288"/>
              <a:ext cx="933860" cy="147638"/>
            </a:xfrm>
            <a:prstGeom prst="rect">
              <a:avLst/>
            </a:prstGeom>
            <a:noFill/>
            <a:ln>
              <a:noFill/>
            </a:ln>
          </p:spPr>
          <p:txBody>
            <a:bodyPr wrap="none" lIns="0" tIns="0" rIns="0" bIns="0" anchor="t" anchorCtr="0">
              <a:spAutoFit/>
            </a:bodyPr>
            <a:lstStyle/>
            <a:p>
              <a:pPr algn="ctr"/>
              <a:r>
                <a:rPr lang="zh-CN" sz="750" b="1" dirty="0">
                  <a:solidFill>
                    <a:srgbClr val="4A130A"/>
                  </a:solidFill>
                  <a:latin typeface="+mn-lt"/>
                  <a:ea typeface="+mn-ea"/>
                  <a:cs typeface="+mn-cs"/>
                </a:rPr>
                <a:t>​全渠道触达与执行​</a:t>
              </a:r>
            </a:p>
          </p:txBody>
        </p:sp>
        <p:grpSp>
          <p:nvGrpSpPr>
            <p:cNvPr id="175" name="Group 175"/>
            <p:cNvGrpSpPr/>
            <p:nvPr/>
          </p:nvGrpSpPr>
          <p:grpSpPr>
            <a:xfrm>
              <a:off x="1390650" y="5948362"/>
              <a:ext cx="95250" cy="142875"/>
              <a:chOff x="1390650" y="5948362"/>
              <a:chExt cx="95250" cy="142875"/>
            </a:xfrm>
          </p:grpSpPr>
          <p:sp>
            <p:nvSpPr>
              <p:cNvPr id="172" name="Freeform 172"/>
              <p:cNvSpPr/>
              <p:nvPr/>
            </p:nvSpPr>
            <p:spPr>
              <a:xfrm>
                <a:off x="1390650" y="594836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D82000"/>
                </a:solidFill>
              </a:ln>
            </p:spPr>
          </p:sp>
          <p:sp>
            <p:nvSpPr>
              <p:cNvPr id="173" name="Freeform 173"/>
              <p:cNvSpPr/>
              <p:nvPr/>
            </p:nvSpPr>
            <p:spPr>
              <a:xfrm>
                <a:off x="1430337" y="5956300"/>
                <a:ext cx="15875" cy="9525"/>
              </a:xfrm>
              <a:custGeom>
                <a:avLst/>
                <a:gdLst/>
                <a:ahLst/>
                <a:cxnLst/>
                <a:rect l="l" t="t" r="r" b="b"/>
                <a:pathLst>
                  <a:path w="15875" h="9525">
                    <a:moveTo>
                      <a:pt x="0" y="0"/>
                    </a:moveTo>
                    <a:lnTo>
                      <a:pt x="15875" y="0"/>
                    </a:lnTo>
                  </a:path>
                </a:pathLst>
              </a:custGeom>
              <a:noFill/>
              <a:ln w="15875">
                <a:solidFill>
                  <a:srgbClr val="D82000"/>
                </a:solidFill>
              </a:ln>
            </p:spPr>
          </p:sp>
          <p:sp>
            <p:nvSpPr>
              <p:cNvPr id="174" name="Freeform 174"/>
              <p:cNvSpPr/>
              <p:nvPr/>
            </p:nvSpPr>
            <p:spPr>
              <a:xfrm>
                <a:off x="1438275" y="6059487"/>
                <a:ext cx="9525" cy="9525"/>
              </a:xfrm>
              <a:custGeom>
                <a:avLst/>
                <a:gdLst/>
                <a:ahLst/>
                <a:cxnLst/>
                <a:rect l="l" t="t" r="r" b="b"/>
                <a:pathLst>
                  <a:path w="9525" h="9525">
                    <a:moveTo>
                      <a:pt x="0" y="0"/>
                    </a:moveTo>
                    <a:lnTo>
                      <a:pt x="0" y="79"/>
                    </a:lnTo>
                  </a:path>
                </a:pathLst>
              </a:custGeom>
              <a:noFill/>
              <a:ln w="15875">
                <a:solidFill>
                  <a:srgbClr val="D82000"/>
                </a:solidFill>
              </a:ln>
            </p:spPr>
          </p:sp>
        </p:grpSp>
        <p:sp>
          <p:nvSpPr>
            <p:cNvPr id="176" name="TextBox 176"/>
            <p:cNvSpPr txBox="1"/>
            <p:nvPr/>
          </p:nvSpPr>
          <p:spPr>
            <a:xfrm>
              <a:off x="1190968" y="6183630"/>
              <a:ext cx="494614"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​​APP推送​​</a:t>
              </a:r>
            </a:p>
          </p:txBody>
        </p:sp>
        <p:sp>
          <p:nvSpPr>
            <p:cNvPr id="177" name="Freeform 177"/>
            <p:cNvSpPr/>
            <p:nvPr/>
          </p:nvSpPr>
          <p:spPr>
            <a:xfrm>
              <a:off x="2006409" y="595014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D82000"/>
              </a:solidFill>
            </a:ln>
          </p:spPr>
        </p:sp>
        <p:sp>
          <p:nvSpPr>
            <p:cNvPr id="178" name="TextBox 178"/>
            <p:cNvSpPr txBox="1"/>
            <p:nvPr/>
          </p:nvSpPr>
          <p:spPr>
            <a:xfrm>
              <a:off x="2000440" y="6183630"/>
              <a:ext cx="171069"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短信</a:t>
              </a:r>
            </a:p>
          </p:txBody>
        </p:sp>
        <p:grpSp>
          <p:nvGrpSpPr>
            <p:cNvPr id="182" name="Group 182"/>
            <p:cNvGrpSpPr/>
            <p:nvPr/>
          </p:nvGrpSpPr>
          <p:grpSpPr>
            <a:xfrm>
              <a:off x="2678112" y="5948362"/>
              <a:ext cx="111125" cy="142875"/>
              <a:chOff x="2678112" y="5948362"/>
              <a:chExt cx="111125" cy="142875"/>
            </a:xfrm>
          </p:grpSpPr>
          <p:sp>
            <p:nvSpPr>
              <p:cNvPr id="179" name="Freeform 179"/>
              <p:cNvSpPr/>
              <p:nvPr/>
            </p:nvSpPr>
            <p:spPr>
              <a:xfrm>
                <a:off x="2678112" y="599598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D82000"/>
                </a:solidFill>
              </a:ln>
            </p:spPr>
          </p:sp>
          <p:sp>
            <p:nvSpPr>
              <p:cNvPr id="180" name="Freeform 180"/>
              <p:cNvSpPr/>
              <p:nvPr/>
            </p:nvSpPr>
            <p:spPr>
              <a:xfrm>
                <a:off x="2733675" y="5948362"/>
                <a:ext cx="9525" cy="87312"/>
              </a:xfrm>
              <a:custGeom>
                <a:avLst/>
                <a:gdLst/>
                <a:ahLst/>
                <a:cxnLst/>
                <a:rect l="l" t="t" r="r" b="b"/>
                <a:pathLst>
                  <a:path w="9525" h="87312">
                    <a:moveTo>
                      <a:pt x="0" y="87312"/>
                    </a:moveTo>
                    <a:lnTo>
                      <a:pt x="0" y="0"/>
                    </a:lnTo>
                  </a:path>
                </a:pathLst>
              </a:custGeom>
              <a:noFill/>
              <a:ln w="15875">
                <a:solidFill>
                  <a:srgbClr val="D82000"/>
                </a:solidFill>
              </a:ln>
            </p:spPr>
          </p:sp>
          <p:sp>
            <p:nvSpPr>
              <p:cNvPr id="181" name="Freeform 181"/>
              <p:cNvSpPr/>
              <p:nvPr/>
            </p:nvSpPr>
            <p:spPr>
              <a:xfrm>
                <a:off x="2709862" y="5948362"/>
                <a:ext cx="47625" cy="23812"/>
              </a:xfrm>
              <a:custGeom>
                <a:avLst/>
                <a:gdLst/>
                <a:ahLst/>
                <a:cxnLst/>
                <a:rect l="l" t="t" r="r" b="b"/>
                <a:pathLst>
                  <a:path w="47625" h="23812">
                    <a:moveTo>
                      <a:pt x="0" y="23812"/>
                    </a:moveTo>
                    <a:lnTo>
                      <a:pt x="23812" y="0"/>
                    </a:lnTo>
                    <a:lnTo>
                      <a:pt x="47625" y="23812"/>
                    </a:lnTo>
                  </a:path>
                </a:pathLst>
              </a:custGeom>
              <a:noFill/>
              <a:ln w="15875">
                <a:solidFill>
                  <a:srgbClr val="D82000"/>
                </a:solidFill>
              </a:ln>
            </p:spPr>
          </p:sp>
        </p:grpSp>
        <p:sp>
          <p:nvSpPr>
            <p:cNvPr id="183" name="TextBox 183"/>
            <p:cNvSpPr txBox="1"/>
            <p:nvPr/>
          </p:nvSpPr>
          <p:spPr>
            <a:xfrm>
              <a:off x="2526982" y="6183630"/>
              <a:ext cx="413385"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微信服务号</a:t>
              </a:r>
            </a:p>
          </p:txBody>
        </p:sp>
        <p:grpSp>
          <p:nvGrpSpPr>
            <p:cNvPr id="188" name="Group 188"/>
            <p:cNvGrpSpPr/>
            <p:nvPr/>
          </p:nvGrpSpPr>
          <p:grpSpPr>
            <a:xfrm>
              <a:off x="3309937" y="5948362"/>
              <a:ext cx="142875" cy="142875"/>
              <a:chOff x="3309937" y="5948362"/>
              <a:chExt cx="142875" cy="142875"/>
            </a:xfrm>
          </p:grpSpPr>
          <p:sp>
            <p:nvSpPr>
              <p:cNvPr id="184" name="Freeform 184"/>
              <p:cNvSpPr/>
              <p:nvPr/>
            </p:nvSpPr>
            <p:spPr>
              <a:xfrm>
                <a:off x="3325812" y="59483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D82000"/>
                </a:solidFill>
              </a:ln>
            </p:spPr>
          </p:sp>
          <p:sp>
            <p:nvSpPr>
              <p:cNvPr id="185" name="Freeform 185"/>
              <p:cNvSpPr/>
              <p:nvPr/>
            </p:nvSpPr>
            <p:spPr>
              <a:xfrm>
                <a:off x="3309937" y="60436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D82000"/>
                </a:solidFill>
              </a:ln>
            </p:spPr>
          </p:sp>
          <p:sp>
            <p:nvSpPr>
              <p:cNvPr id="186" name="Freeform 186"/>
              <p:cNvSpPr/>
              <p:nvPr/>
            </p:nvSpPr>
            <p:spPr>
              <a:xfrm>
                <a:off x="3413125" y="59493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D82000"/>
                </a:solidFill>
              </a:ln>
            </p:spPr>
          </p:sp>
          <p:sp>
            <p:nvSpPr>
              <p:cNvPr id="187" name="Freeform 187"/>
              <p:cNvSpPr/>
              <p:nvPr/>
            </p:nvSpPr>
            <p:spPr>
              <a:xfrm>
                <a:off x="3429000" y="60448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D82000"/>
                </a:solidFill>
              </a:ln>
            </p:spPr>
          </p:sp>
        </p:grpSp>
        <p:sp>
          <p:nvSpPr>
            <p:cNvPr id="189" name="TextBox 189"/>
            <p:cNvSpPr txBox="1"/>
            <p:nvPr/>
          </p:nvSpPr>
          <p:spPr>
            <a:xfrm>
              <a:off x="3215068" y="6183630"/>
              <a:ext cx="332613"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呼叫中心</a:t>
              </a:r>
            </a:p>
          </p:txBody>
        </p:sp>
        <p:grpSp>
          <p:nvGrpSpPr>
            <p:cNvPr id="195" name="Group 195"/>
            <p:cNvGrpSpPr/>
            <p:nvPr/>
          </p:nvGrpSpPr>
          <p:grpSpPr>
            <a:xfrm>
              <a:off x="3973512" y="5948362"/>
              <a:ext cx="111125" cy="142875"/>
              <a:chOff x="3973512" y="5948362"/>
              <a:chExt cx="111125" cy="142875"/>
            </a:xfrm>
          </p:grpSpPr>
          <p:sp>
            <p:nvSpPr>
              <p:cNvPr id="190" name="Freeform 190"/>
              <p:cNvSpPr/>
              <p:nvPr/>
            </p:nvSpPr>
            <p:spPr>
              <a:xfrm>
                <a:off x="4044950" y="59483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D82000"/>
                </a:solidFill>
              </a:ln>
            </p:spPr>
          </p:sp>
          <p:sp>
            <p:nvSpPr>
              <p:cNvPr id="191" name="Freeform 191"/>
              <p:cNvSpPr/>
              <p:nvPr/>
            </p:nvSpPr>
            <p:spPr>
              <a:xfrm>
                <a:off x="3973512" y="59483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D82000"/>
                </a:solidFill>
              </a:ln>
            </p:spPr>
          </p:sp>
          <p:sp>
            <p:nvSpPr>
              <p:cNvPr id="192" name="Freeform 192"/>
              <p:cNvSpPr/>
              <p:nvPr/>
            </p:nvSpPr>
            <p:spPr>
              <a:xfrm>
                <a:off x="4005262" y="5995987"/>
                <a:ext cx="9525" cy="9525"/>
              </a:xfrm>
              <a:custGeom>
                <a:avLst/>
                <a:gdLst/>
                <a:ahLst/>
                <a:cxnLst/>
                <a:rect l="l" t="t" r="r" b="b"/>
                <a:pathLst>
                  <a:path w="9525" h="9525">
                    <a:moveTo>
                      <a:pt x="0" y="0"/>
                    </a:moveTo>
                    <a:lnTo>
                      <a:pt x="7937" y="0"/>
                    </a:lnTo>
                  </a:path>
                </a:pathLst>
              </a:custGeom>
              <a:noFill/>
              <a:ln w="15875">
                <a:solidFill>
                  <a:srgbClr val="D82000"/>
                </a:solidFill>
              </a:ln>
            </p:spPr>
          </p:sp>
          <p:sp>
            <p:nvSpPr>
              <p:cNvPr id="193" name="Freeform 193"/>
              <p:cNvSpPr/>
              <p:nvPr/>
            </p:nvSpPr>
            <p:spPr>
              <a:xfrm>
                <a:off x="4005262" y="6027737"/>
                <a:ext cx="47625" cy="9525"/>
              </a:xfrm>
              <a:custGeom>
                <a:avLst/>
                <a:gdLst/>
                <a:ahLst/>
                <a:cxnLst/>
                <a:rect l="l" t="t" r="r" b="b"/>
                <a:pathLst>
                  <a:path w="47625" h="9525">
                    <a:moveTo>
                      <a:pt x="0" y="0"/>
                    </a:moveTo>
                    <a:lnTo>
                      <a:pt x="47625" y="0"/>
                    </a:lnTo>
                  </a:path>
                </a:pathLst>
              </a:custGeom>
              <a:noFill/>
              <a:ln w="15875">
                <a:solidFill>
                  <a:srgbClr val="D82000"/>
                </a:solidFill>
              </a:ln>
            </p:spPr>
          </p:sp>
          <p:sp>
            <p:nvSpPr>
              <p:cNvPr id="194" name="Freeform 194"/>
              <p:cNvSpPr/>
              <p:nvPr/>
            </p:nvSpPr>
            <p:spPr>
              <a:xfrm>
                <a:off x="4005262" y="6059487"/>
                <a:ext cx="47625" cy="9525"/>
              </a:xfrm>
              <a:custGeom>
                <a:avLst/>
                <a:gdLst/>
                <a:ahLst/>
                <a:cxnLst/>
                <a:rect l="l" t="t" r="r" b="b"/>
                <a:pathLst>
                  <a:path w="47625" h="9525">
                    <a:moveTo>
                      <a:pt x="0" y="0"/>
                    </a:moveTo>
                    <a:lnTo>
                      <a:pt x="47625" y="0"/>
                    </a:lnTo>
                  </a:path>
                </a:pathLst>
              </a:custGeom>
              <a:noFill/>
              <a:ln w="15875">
                <a:solidFill>
                  <a:srgbClr val="D82000"/>
                </a:solidFill>
              </a:ln>
            </p:spPr>
          </p:sp>
        </p:grpSp>
        <p:sp>
          <p:nvSpPr>
            <p:cNvPr id="196" name="TextBox 196"/>
            <p:cNvSpPr txBox="1"/>
            <p:nvPr/>
          </p:nvSpPr>
          <p:spPr>
            <a:xfrm>
              <a:off x="3943540" y="6183630"/>
              <a:ext cx="171069"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邮件</a:t>
              </a:r>
            </a:p>
          </p:txBody>
        </p:sp>
        <p:grpSp>
          <p:nvGrpSpPr>
            <p:cNvPr id="205" name="Group 205"/>
            <p:cNvGrpSpPr/>
            <p:nvPr/>
          </p:nvGrpSpPr>
          <p:grpSpPr>
            <a:xfrm>
              <a:off x="4605337" y="5948362"/>
              <a:ext cx="144463" cy="152400"/>
              <a:chOff x="4605337" y="5948362"/>
              <a:chExt cx="144463" cy="152400"/>
            </a:xfrm>
          </p:grpSpPr>
          <p:sp>
            <p:nvSpPr>
              <p:cNvPr id="197" name="Freeform 197"/>
              <p:cNvSpPr/>
              <p:nvPr/>
            </p:nvSpPr>
            <p:spPr>
              <a:xfrm>
                <a:off x="4605337" y="6091237"/>
                <a:ext cx="142875" cy="9525"/>
              </a:xfrm>
              <a:custGeom>
                <a:avLst/>
                <a:gdLst/>
                <a:ahLst/>
                <a:cxnLst/>
                <a:rect l="l" t="t" r="r" b="b"/>
                <a:pathLst>
                  <a:path w="142875" h="9525">
                    <a:moveTo>
                      <a:pt x="0" y="0"/>
                    </a:moveTo>
                    <a:lnTo>
                      <a:pt x="142875" y="0"/>
                    </a:lnTo>
                  </a:path>
                </a:pathLst>
              </a:custGeom>
              <a:noFill/>
              <a:ln w="15875">
                <a:solidFill>
                  <a:srgbClr val="D82000"/>
                </a:solidFill>
              </a:ln>
            </p:spPr>
          </p:sp>
          <p:sp>
            <p:nvSpPr>
              <p:cNvPr id="198" name="Freeform 198"/>
              <p:cNvSpPr/>
              <p:nvPr/>
            </p:nvSpPr>
            <p:spPr>
              <a:xfrm>
                <a:off x="4605337" y="6003925"/>
                <a:ext cx="142875" cy="9525"/>
              </a:xfrm>
              <a:custGeom>
                <a:avLst/>
                <a:gdLst/>
                <a:ahLst/>
                <a:cxnLst/>
                <a:rect l="l" t="t" r="r" b="b"/>
                <a:pathLst>
                  <a:path w="142875" h="9525">
                    <a:moveTo>
                      <a:pt x="0" y="0"/>
                    </a:moveTo>
                    <a:lnTo>
                      <a:pt x="142875" y="0"/>
                    </a:lnTo>
                  </a:path>
                </a:pathLst>
              </a:custGeom>
              <a:noFill/>
              <a:ln w="15875">
                <a:solidFill>
                  <a:srgbClr val="D82000"/>
                </a:solidFill>
              </a:ln>
            </p:spPr>
          </p:sp>
          <p:sp>
            <p:nvSpPr>
              <p:cNvPr id="199" name="Freeform 199"/>
              <p:cNvSpPr/>
              <p:nvPr/>
            </p:nvSpPr>
            <p:spPr>
              <a:xfrm>
                <a:off x="4621212" y="5948362"/>
                <a:ext cx="111125" cy="23812"/>
              </a:xfrm>
              <a:custGeom>
                <a:avLst/>
                <a:gdLst/>
                <a:ahLst/>
                <a:cxnLst/>
                <a:rect l="l" t="t" r="r" b="b"/>
                <a:pathLst>
                  <a:path w="111125" h="23812">
                    <a:moveTo>
                      <a:pt x="0" y="23812"/>
                    </a:moveTo>
                    <a:lnTo>
                      <a:pt x="55562" y="0"/>
                    </a:lnTo>
                    <a:lnTo>
                      <a:pt x="111125" y="23812"/>
                    </a:lnTo>
                  </a:path>
                </a:pathLst>
              </a:custGeom>
              <a:noFill/>
              <a:ln w="15875">
                <a:solidFill>
                  <a:srgbClr val="D82000"/>
                </a:solidFill>
              </a:ln>
            </p:spPr>
          </p:sp>
          <p:sp>
            <p:nvSpPr>
              <p:cNvPr id="200" name="Freeform 200"/>
              <p:cNvSpPr/>
              <p:nvPr/>
            </p:nvSpPr>
            <p:spPr>
              <a:xfrm>
                <a:off x="4613275" y="6003925"/>
                <a:ext cx="9525" cy="87312"/>
              </a:xfrm>
              <a:custGeom>
                <a:avLst/>
                <a:gdLst/>
                <a:ahLst/>
                <a:cxnLst/>
                <a:rect l="l" t="t" r="r" b="b"/>
                <a:pathLst>
                  <a:path w="9525" h="87312">
                    <a:moveTo>
                      <a:pt x="0" y="0"/>
                    </a:moveTo>
                    <a:lnTo>
                      <a:pt x="0" y="87312"/>
                    </a:lnTo>
                  </a:path>
                </a:pathLst>
              </a:custGeom>
              <a:noFill/>
              <a:ln w="15875">
                <a:solidFill>
                  <a:srgbClr val="D82000"/>
                </a:solidFill>
              </a:ln>
            </p:spPr>
          </p:sp>
          <p:sp>
            <p:nvSpPr>
              <p:cNvPr id="201" name="Freeform 201"/>
              <p:cNvSpPr/>
              <p:nvPr/>
            </p:nvSpPr>
            <p:spPr>
              <a:xfrm>
                <a:off x="4740275" y="6003925"/>
                <a:ext cx="9525" cy="87312"/>
              </a:xfrm>
              <a:custGeom>
                <a:avLst/>
                <a:gdLst/>
                <a:ahLst/>
                <a:cxnLst/>
                <a:rect l="l" t="t" r="r" b="b"/>
                <a:pathLst>
                  <a:path w="9525" h="87312">
                    <a:moveTo>
                      <a:pt x="0" y="0"/>
                    </a:moveTo>
                    <a:lnTo>
                      <a:pt x="0" y="87312"/>
                    </a:lnTo>
                  </a:path>
                </a:pathLst>
              </a:custGeom>
              <a:noFill/>
              <a:ln w="15875">
                <a:solidFill>
                  <a:srgbClr val="D82000"/>
                </a:solidFill>
              </a:ln>
            </p:spPr>
          </p:sp>
          <p:sp>
            <p:nvSpPr>
              <p:cNvPr id="202" name="Freeform 202"/>
              <p:cNvSpPr/>
              <p:nvPr/>
            </p:nvSpPr>
            <p:spPr>
              <a:xfrm>
                <a:off x="4645025" y="6035675"/>
                <a:ext cx="9525" cy="23812"/>
              </a:xfrm>
              <a:custGeom>
                <a:avLst/>
                <a:gdLst/>
                <a:ahLst/>
                <a:cxnLst/>
                <a:rect l="l" t="t" r="r" b="b"/>
                <a:pathLst>
                  <a:path w="9525" h="23812">
                    <a:moveTo>
                      <a:pt x="0" y="0"/>
                    </a:moveTo>
                    <a:lnTo>
                      <a:pt x="0" y="23812"/>
                    </a:lnTo>
                  </a:path>
                </a:pathLst>
              </a:custGeom>
              <a:noFill/>
              <a:ln w="15875">
                <a:solidFill>
                  <a:srgbClr val="D82000"/>
                </a:solidFill>
              </a:ln>
            </p:spPr>
          </p:sp>
          <p:sp>
            <p:nvSpPr>
              <p:cNvPr id="203" name="Freeform 203"/>
              <p:cNvSpPr/>
              <p:nvPr/>
            </p:nvSpPr>
            <p:spPr>
              <a:xfrm>
                <a:off x="4676775" y="6035675"/>
                <a:ext cx="9525" cy="23812"/>
              </a:xfrm>
              <a:custGeom>
                <a:avLst/>
                <a:gdLst/>
                <a:ahLst/>
                <a:cxnLst/>
                <a:rect l="l" t="t" r="r" b="b"/>
                <a:pathLst>
                  <a:path w="9525" h="23812">
                    <a:moveTo>
                      <a:pt x="0" y="0"/>
                    </a:moveTo>
                    <a:lnTo>
                      <a:pt x="0" y="23812"/>
                    </a:lnTo>
                  </a:path>
                </a:pathLst>
              </a:custGeom>
              <a:noFill/>
              <a:ln w="15875">
                <a:solidFill>
                  <a:srgbClr val="D82000"/>
                </a:solidFill>
              </a:ln>
            </p:spPr>
          </p:sp>
          <p:sp>
            <p:nvSpPr>
              <p:cNvPr id="204" name="Freeform 204"/>
              <p:cNvSpPr/>
              <p:nvPr/>
            </p:nvSpPr>
            <p:spPr>
              <a:xfrm>
                <a:off x="4708525" y="6035675"/>
                <a:ext cx="9525" cy="23812"/>
              </a:xfrm>
              <a:custGeom>
                <a:avLst/>
                <a:gdLst/>
                <a:ahLst/>
                <a:cxnLst/>
                <a:rect l="l" t="t" r="r" b="b"/>
                <a:pathLst>
                  <a:path w="9525" h="23812">
                    <a:moveTo>
                      <a:pt x="0" y="0"/>
                    </a:moveTo>
                    <a:lnTo>
                      <a:pt x="0" y="23812"/>
                    </a:lnTo>
                  </a:path>
                </a:pathLst>
              </a:custGeom>
              <a:noFill/>
              <a:ln w="15875">
                <a:solidFill>
                  <a:srgbClr val="D82000"/>
                </a:solidFill>
              </a:ln>
            </p:spPr>
          </p:sp>
        </p:grpSp>
        <p:sp>
          <p:nvSpPr>
            <p:cNvPr id="206" name="TextBox 206"/>
            <p:cNvSpPr txBox="1"/>
            <p:nvPr/>
          </p:nvSpPr>
          <p:spPr>
            <a:xfrm>
              <a:off x="4443832" y="6183630"/>
              <a:ext cx="465887"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​网点/柜面​</a:t>
              </a:r>
            </a:p>
          </p:txBody>
        </p:sp>
        <p:grpSp>
          <p:nvGrpSpPr>
            <p:cNvPr id="213" name="Group 213"/>
            <p:cNvGrpSpPr/>
            <p:nvPr/>
          </p:nvGrpSpPr>
          <p:grpSpPr>
            <a:xfrm>
              <a:off x="5253037" y="5948362"/>
              <a:ext cx="142875" cy="142875"/>
              <a:chOff x="5253037" y="5948362"/>
              <a:chExt cx="142875" cy="142875"/>
            </a:xfrm>
          </p:grpSpPr>
          <p:sp>
            <p:nvSpPr>
              <p:cNvPr id="207" name="Freeform 207"/>
              <p:cNvSpPr/>
              <p:nvPr/>
            </p:nvSpPr>
            <p:spPr>
              <a:xfrm>
                <a:off x="5308600" y="60118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D82000"/>
                </a:solidFill>
              </a:ln>
            </p:spPr>
          </p:sp>
          <p:sp>
            <p:nvSpPr>
              <p:cNvPr id="208" name="Freeform 208"/>
              <p:cNvSpPr/>
              <p:nvPr/>
            </p:nvSpPr>
            <p:spPr>
              <a:xfrm>
                <a:off x="5292725" y="60674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D82000"/>
                </a:solidFill>
              </a:ln>
            </p:spPr>
          </p:sp>
          <p:sp>
            <p:nvSpPr>
              <p:cNvPr id="209" name="Freeform 209"/>
              <p:cNvSpPr/>
              <p:nvPr/>
            </p:nvSpPr>
            <p:spPr>
              <a:xfrm>
                <a:off x="5348287" y="59483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D82000"/>
                </a:solidFill>
              </a:ln>
            </p:spPr>
          </p:sp>
          <p:sp>
            <p:nvSpPr>
              <p:cNvPr id="210" name="Freeform 210"/>
              <p:cNvSpPr/>
              <p:nvPr/>
            </p:nvSpPr>
            <p:spPr>
              <a:xfrm>
                <a:off x="5364162" y="60039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D82000"/>
                </a:solidFill>
              </a:ln>
            </p:spPr>
          </p:sp>
          <p:sp>
            <p:nvSpPr>
              <p:cNvPr id="211" name="Freeform 211"/>
              <p:cNvSpPr/>
              <p:nvPr/>
            </p:nvSpPr>
            <p:spPr>
              <a:xfrm>
                <a:off x="5268912" y="59483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D82000"/>
                </a:solidFill>
              </a:ln>
            </p:spPr>
          </p:sp>
          <p:sp>
            <p:nvSpPr>
              <p:cNvPr id="212" name="Freeform 212"/>
              <p:cNvSpPr/>
              <p:nvPr/>
            </p:nvSpPr>
            <p:spPr>
              <a:xfrm>
                <a:off x="5253037" y="60039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D82000"/>
                </a:solidFill>
              </a:ln>
            </p:spPr>
          </p:sp>
        </p:grpSp>
        <p:sp>
          <p:nvSpPr>
            <p:cNvPr id="214" name="TextBox 214"/>
            <p:cNvSpPr txBox="1"/>
            <p:nvPr/>
          </p:nvSpPr>
          <p:spPr>
            <a:xfrm>
              <a:off x="5091532" y="6183630"/>
              <a:ext cx="465887" cy="119062"/>
            </a:xfrm>
            <a:prstGeom prst="rect">
              <a:avLst/>
            </a:prstGeom>
            <a:noFill/>
            <a:ln>
              <a:noFill/>
            </a:ln>
          </p:spPr>
          <p:txBody>
            <a:bodyPr wrap="none" lIns="0" tIns="0" rIns="0" bIns="0" anchor="t" anchorCtr="0">
              <a:spAutoFit/>
            </a:bodyPr>
            <a:lstStyle/>
            <a:p>
              <a:pPr algn="ctr"/>
              <a:r>
                <a:rPr lang="zh-CN" sz="600" dirty="0">
                  <a:solidFill>
                    <a:srgbClr val="3D3835"/>
                  </a:solidFill>
                  <a:latin typeface="+mn-lt"/>
                  <a:ea typeface="+mn-ea"/>
                  <a:cs typeface="+mn-cs"/>
                </a:rPr>
                <a:t>​企微/社群​</a:t>
              </a:r>
            </a:p>
          </p:txBody>
        </p:sp>
        <p:sp>
          <p:nvSpPr>
            <p:cNvPr id="215" name="Rectangle 215"/>
            <p:cNvSpPr/>
            <p:nvPr/>
          </p:nvSpPr>
          <p:spPr>
            <a:xfrm>
              <a:off x="1200150" y="6400800"/>
              <a:ext cx="4800600" cy="152400"/>
            </a:xfrm>
            <a:prstGeom prst="roundRect">
              <a:avLst>
                <a:gd name="adj" fmla="val 12500"/>
              </a:avLst>
            </a:prstGeom>
            <a:solidFill>
              <a:srgbClr val="FEF2E6"/>
            </a:solidFill>
            <a:ln>
              <a:noFill/>
            </a:ln>
          </p:spPr>
        </p:sp>
        <p:sp>
          <p:nvSpPr>
            <p:cNvPr id="216" name="TextBox 216"/>
            <p:cNvSpPr txBox="1"/>
            <p:nvPr/>
          </p:nvSpPr>
          <p:spPr>
            <a:xfrm>
              <a:off x="2634501" y="6444853"/>
              <a:ext cx="1931899" cy="111919"/>
            </a:xfrm>
            <a:prstGeom prst="rect">
              <a:avLst/>
            </a:prstGeom>
            <a:noFill/>
            <a:ln>
              <a:noFill/>
            </a:ln>
          </p:spPr>
          <p:txBody>
            <a:bodyPr wrap="none" lIns="0" tIns="0" rIns="0" bIns="0" anchor="t" anchorCtr="0">
              <a:spAutoFit/>
            </a:bodyPr>
            <a:lstStyle/>
            <a:p>
              <a:pPr algn="ctr"/>
              <a:r>
                <a:rPr lang="zh-CN" sz="560" dirty="0">
                  <a:solidFill>
                    <a:srgbClr val="4A130A"/>
                  </a:solidFill>
                  <a:latin typeface="+mn-lt"/>
                  <a:ea typeface="+mn-ea"/>
                  <a:cs typeface="+mn-cs"/>
                </a:rPr>
                <a:t>​触达管理 ｜ 频控 ｜ 时段策略 ｜ 模板管理 ｜ 合规留痕​</a:t>
              </a:r>
            </a:p>
          </p:txBody>
        </p:sp>
      </p:grpSp>
      <p:grpSp>
        <p:nvGrpSpPr>
          <p:cNvPr id="246" name="governance"/>
          <p:cNvGrpSpPr/>
          <p:nvPr/>
        </p:nvGrpSpPr>
        <p:grpSpPr>
          <a:xfrm>
            <a:off x="6172200" y="753189"/>
            <a:ext cx="1257300" cy="5742861"/>
            <a:chOff x="6172200" y="753189"/>
            <a:chExt cx="1257300" cy="5742861"/>
          </a:xfrm>
        </p:grpSpPr>
        <p:sp>
          <p:nvSpPr>
            <p:cNvPr id="218" name="TextBox 218"/>
            <p:cNvSpPr txBox="1"/>
            <p:nvPr/>
          </p:nvSpPr>
          <p:spPr>
            <a:xfrm>
              <a:off x="6362446" y="753189"/>
              <a:ext cx="876808" cy="154781"/>
            </a:xfrm>
            <a:prstGeom prst="rect">
              <a:avLst/>
            </a:prstGeom>
            <a:noFill/>
            <a:ln>
              <a:noFill/>
            </a:ln>
          </p:spPr>
          <p:txBody>
            <a:bodyPr wrap="none" lIns="0" tIns="0" rIns="0" bIns="0" anchor="t" anchorCtr="0">
              <a:spAutoFit/>
            </a:bodyPr>
            <a:lstStyle/>
            <a:p>
              <a:pPr algn="ctr"/>
              <a:r>
                <a:rPr lang="zh-CN" sz="790" b="1" dirty="0">
                  <a:solidFill>
                    <a:srgbClr val="C41D00"/>
                  </a:solidFill>
                  <a:latin typeface="+mn-lt"/>
                  <a:ea typeface="+mn-ea"/>
                  <a:cs typeface="+mn-cs"/>
                </a:rPr>
                <a:t>​治理与运营保障​</a:t>
              </a:r>
            </a:p>
          </p:txBody>
        </p:sp>
        <p:sp>
          <p:nvSpPr>
            <p:cNvPr id="219" name="Rectangle 219"/>
            <p:cNvSpPr/>
            <p:nvPr/>
          </p:nvSpPr>
          <p:spPr>
            <a:xfrm>
              <a:off x="6172200" y="933450"/>
              <a:ext cx="1257300" cy="1333500"/>
            </a:xfrm>
            <a:prstGeom prst="roundRect">
              <a:avLst>
                <a:gd name="adj" fmla="val 3030"/>
              </a:avLst>
            </a:prstGeom>
            <a:solidFill>
              <a:srgbClr val="FFF8F2"/>
            </a:solidFill>
            <a:ln w="9525">
              <a:solidFill>
                <a:srgbClr val="F0B8AE"/>
              </a:solidFill>
            </a:ln>
          </p:spPr>
        </p:sp>
        <p:grpSp>
          <p:nvGrpSpPr>
            <p:cNvPr id="224" name="Group 224"/>
            <p:cNvGrpSpPr/>
            <p:nvPr/>
          </p:nvGrpSpPr>
          <p:grpSpPr>
            <a:xfrm>
              <a:off x="6269831" y="1050131"/>
              <a:ext cx="128588" cy="128588"/>
              <a:chOff x="6269831" y="1050131"/>
              <a:chExt cx="128588" cy="128588"/>
            </a:xfrm>
          </p:grpSpPr>
          <p:sp>
            <p:nvSpPr>
              <p:cNvPr id="220" name="Freeform 220"/>
              <p:cNvSpPr/>
              <p:nvPr/>
            </p:nvSpPr>
            <p:spPr>
              <a:xfrm>
                <a:off x="6284119" y="10501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D82000"/>
                </a:solidFill>
              </a:ln>
            </p:spPr>
          </p:sp>
          <p:sp>
            <p:nvSpPr>
              <p:cNvPr id="221" name="Freeform 221"/>
              <p:cNvSpPr/>
              <p:nvPr/>
            </p:nvSpPr>
            <p:spPr>
              <a:xfrm>
                <a:off x="6269831" y="11358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D82000"/>
                </a:solidFill>
              </a:ln>
            </p:spPr>
          </p:sp>
          <p:sp>
            <p:nvSpPr>
              <p:cNvPr id="222" name="Freeform 222"/>
              <p:cNvSpPr/>
              <p:nvPr/>
            </p:nvSpPr>
            <p:spPr>
              <a:xfrm>
                <a:off x="6362700" y="10510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D82000"/>
                </a:solidFill>
              </a:ln>
            </p:spPr>
          </p:sp>
          <p:sp>
            <p:nvSpPr>
              <p:cNvPr id="223" name="Freeform 223"/>
              <p:cNvSpPr/>
              <p:nvPr/>
            </p:nvSpPr>
            <p:spPr>
              <a:xfrm>
                <a:off x="6376988" y="11369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D82000"/>
                </a:solidFill>
              </a:ln>
            </p:spPr>
          </p:sp>
        </p:grpSp>
        <p:sp>
          <p:nvSpPr>
            <p:cNvPr id="225" name="TextBox 225"/>
            <p:cNvSpPr txBox="1"/>
            <p:nvPr/>
          </p:nvSpPr>
          <p:spPr>
            <a:xfrm>
              <a:off x="6472238" y="1079659"/>
              <a:ext cx="794723"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身份解析与主数据​</a:t>
              </a:r>
            </a:p>
          </p:txBody>
        </p:sp>
        <p:sp>
          <p:nvSpPr>
            <p:cNvPr id="226" name="TextBox 226"/>
            <p:cNvSpPr txBox="1"/>
            <p:nvPr/>
          </p:nvSpPr>
          <p:spPr>
            <a:xfrm>
              <a:off x="6243638" y="1325880"/>
              <a:ext cx="779145" cy="385762"/>
            </a:xfrm>
            <a:prstGeom prst="rect">
              <a:avLst/>
            </a:prstGeom>
            <a:noFill/>
            <a:ln>
              <a:noFill/>
            </a:ln>
          </p:spPr>
          <p:txBody>
            <a:bodyPr wrap="none" lIns="0" tIns="0" rIns="0" bIns="0" anchor="t" anchorCtr="0">
              <a:spAutoFit/>
            </a:bodyPr>
            <a:lstStyle/>
            <a:p>
              <a:pPr algn="l" marL="76200" indent="-76200">
                <a:lnSpc>
                  <a:spcPts val="1050"/>
                </a:lnSpc>
                <a:buClr>
                  <a:srgbClr val="3D3835"/>
                </a:buClr>
                <a:buSzTx/>
                <a:buFontTx/>
                <a:buChar char="•"/>
              </a:pPr>
              <a:r>
                <a:rPr lang="zh-CN" sz="600" dirty="0">
                  <a:solidFill>
                    <a:srgbClr val="3D3835"/>
                  </a:solidFill>
                  <a:latin typeface="+mn-lt"/>
                  <a:ea typeface="+mn-ea"/>
                  <a:cs typeface="+mn-cs"/>
                </a:rPr>
                <a:t>客户唯一身份ID​​​</a:t>
              </a:r>
            </a:p>
            <a:p>
              <a:pPr algn="l" marL="76200" indent="-76200">
                <a:lnSpc>
                  <a:spcPts val="1050"/>
                </a:lnSpc>
                <a:buClr>
                  <a:srgbClr val="3D3835"/>
                </a:buClr>
                <a:buSzTx/>
                <a:buFontTx/>
                <a:buChar char="•"/>
              </a:pPr>
              <a:r>
                <a:rPr lang="zh-CN" sz="600" dirty="0">
                  <a:solidFill>
                    <a:srgbClr val="3D3835"/>
                  </a:solidFill>
                  <a:latin typeface="+mn-lt"/>
                  <a:ea typeface="+mn-ea"/>
                  <a:cs typeface="+mn-cs"/>
                </a:rPr>
                <a:t>跨系统去重与合并​​</a:t>
              </a:r>
            </a:p>
            <a:p>
              <a:pPr algn="l" marL="76200" indent="-76200">
                <a:lnSpc>
                  <a:spcPts val="1050"/>
                </a:lnSpc>
                <a:buClr>
                  <a:srgbClr val="3D3835"/>
                </a:buClr>
                <a:buSzTx/>
                <a:buFontTx/>
                <a:buChar char="•"/>
              </a:pPr>
              <a:r>
                <a:rPr lang="zh-CN" sz="600" dirty="0">
                  <a:solidFill>
                    <a:srgbClr val="3D3835"/>
                  </a:solidFill>
                  <a:latin typeface="+mn-lt"/>
                  <a:ea typeface="+mn-ea"/>
                  <a:cs typeface="+mn-cs"/>
                </a:rPr>
                <a:t>关系与层级管理​​</a:t>
              </a:r>
            </a:p>
          </p:txBody>
        </p:sp>
        <p:sp>
          <p:nvSpPr>
            <p:cNvPr id="227" name="Rectangle 227"/>
            <p:cNvSpPr/>
            <p:nvPr/>
          </p:nvSpPr>
          <p:spPr>
            <a:xfrm>
              <a:off x="6172200" y="2343150"/>
              <a:ext cx="1257300" cy="1333500"/>
            </a:xfrm>
            <a:prstGeom prst="roundRect">
              <a:avLst>
                <a:gd name="adj" fmla="val 3030"/>
              </a:avLst>
            </a:prstGeom>
            <a:solidFill>
              <a:srgbClr val="FFF8F2"/>
            </a:solidFill>
            <a:ln w="9525">
              <a:solidFill>
                <a:srgbClr val="F0B8AE"/>
              </a:solidFill>
            </a:ln>
          </p:spPr>
        </p:sp>
        <p:grpSp>
          <p:nvGrpSpPr>
            <p:cNvPr id="231" name="Group 231"/>
            <p:cNvGrpSpPr/>
            <p:nvPr/>
          </p:nvGrpSpPr>
          <p:grpSpPr>
            <a:xfrm>
              <a:off x="6284119" y="2459831"/>
              <a:ext cx="100012" cy="128588"/>
              <a:chOff x="6284119" y="2459831"/>
              <a:chExt cx="100012" cy="128588"/>
            </a:xfrm>
          </p:grpSpPr>
          <p:sp>
            <p:nvSpPr>
              <p:cNvPr id="228" name="Freeform 228"/>
              <p:cNvSpPr/>
              <p:nvPr/>
            </p:nvSpPr>
            <p:spPr>
              <a:xfrm>
                <a:off x="6284119" y="2516981"/>
                <a:ext cx="100012" cy="71438"/>
              </a:xfrm>
              <a:custGeom>
                <a:avLst/>
                <a:gdLst/>
                <a:ahLst/>
                <a:cxnLst/>
                <a:rect l="l" t="t" r="r" b="b"/>
                <a:pathLst>
                  <a:path w="100012" h="71438">
                    <a:moveTo>
                      <a:pt x="0" y="14288"/>
                    </a:moveTo>
                    <a:cubicBezTo>
                      <a:pt x="0" y="6397"/>
                      <a:pt x="6397" y="0"/>
                      <a:pt x="14288" y="0"/>
                    </a:cubicBezTo>
                    <a:lnTo>
                      <a:pt x="85725" y="0"/>
                    </a:lnTo>
                    <a:cubicBezTo>
                      <a:pt x="93616" y="0"/>
                      <a:pt x="100012" y="6397"/>
                      <a:pt x="100012" y="14288"/>
                    </a:cubicBezTo>
                    <a:lnTo>
                      <a:pt x="100012" y="57150"/>
                    </a:lnTo>
                    <a:cubicBezTo>
                      <a:pt x="100012" y="65041"/>
                      <a:pt x="93616" y="71438"/>
                      <a:pt x="85725" y="71438"/>
                    </a:cubicBezTo>
                    <a:lnTo>
                      <a:pt x="14288" y="71438"/>
                    </a:lnTo>
                    <a:cubicBezTo>
                      <a:pt x="6397" y="71438"/>
                      <a:pt x="0" y="65041"/>
                      <a:pt x="0" y="57150"/>
                    </a:cubicBezTo>
                    <a:lnTo>
                      <a:pt x="0" y="14288"/>
                    </a:lnTo>
                  </a:path>
                </a:pathLst>
              </a:custGeom>
              <a:noFill/>
              <a:ln w="14288">
                <a:solidFill>
                  <a:srgbClr val="D82000"/>
                </a:solidFill>
              </a:ln>
            </p:spPr>
          </p:sp>
          <p:sp>
            <p:nvSpPr>
              <p:cNvPr id="229" name="Freeform 229"/>
              <p:cNvSpPr/>
              <p:nvPr/>
            </p:nvSpPr>
            <p:spPr>
              <a:xfrm>
                <a:off x="6326981" y="25455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D82000"/>
                </a:solidFill>
              </a:ln>
            </p:spPr>
          </p:sp>
          <p:sp>
            <p:nvSpPr>
              <p:cNvPr id="230" name="Freeform 230"/>
              <p:cNvSpPr/>
              <p:nvPr/>
            </p:nvSpPr>
            <p:spPr>
              <a:xfrm>
                <a:off x="6305550" y="2459831"/>
                <a:ext cx="57150" cy="57150"/>
              </a:xfrm>
              <a:custGeom>
                <a:avLst/>
                <a:gdLst/>
                <a:ahLst/>
                <a:cxnLst/>
                <a:rect l="l" t="t" r="r" b="b"/>
                <a:pathLst>
                  <a:path w="57150" h="57150">
                    <a:moveTo>
                      <a:pt x="0" y="57150"/>
                    </a:moveTo>
                    <a:lnTo>
                      <a:pt x="0" y="28575"/>
                    </a:lnTo>
                    <a:cubicBezTo>
                      <a:pt x="0" y="12793"/>
                      <a:pt x="12793" y="0"/>
                      <a:pt x="28575" y="0"/>
                    </a:cubicBezTo>
                    <a:cubicBezTo>
                      <a:pt x="44357" y="0"/>
                      <a:pt x="57150" y="12793"/>
                      <a:pt x="57150" y="28575"/>
                    </a:cubicBezTo>
                    <a:lnTo>
                      <a:pt x="57150" y="57150"/>
                    </a:lnTo>
                  </a:path>
                </a:pathLst>
              </a:custGeom>
              <a:noFill/>
              <a:ln w="14288">
                <a:solidFill>
                  <a:srgbClr val="D82000"/>
                </a:solidFill>
              </a:ln>
            </p:spPr>
          </p:sp>
        </p:grpSp>
        <p:sp>
          <p:nvSpPr>
            <p:cNvPr id="232" name="TextBox 232"/>
            <p:cNvSpPr txBox="1"/>
            <p:nvPr/>
          </p:nvSpPr>
          <p:spPr>
            <a:xfrm>
              <a:off x="6472238" y="2489359"/>
              <a:ext cx="467233"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隐私与合规</a:t>
              </a:r>
            </a:p>
          </p:txBody>
        </p:sp>
        <p:sp>
          <p:nvSpPr>
            <p:cNvPr id="233" name="TextBox 233"/>
            <p:cNvSpPr txBox="1"/>
            <p:nvPr/>
          </p:nvSpPr>
          <p:spPr>
            <a:xfrm>
              <a:off x="6243638" y="2735580"/>
              <a:ext cx="855345" cy="519112"/>
            </a:xfrm>
            <a:prstGeom prst="rect">
              <a:avLst/>
            </a:prstGeom>
            <a:noFill/>
            <a:ln>
              <a:noFill/>
            </a:ln>
          </p:spPr>
          <p:txBody>
            <a:bodyPr wrap="none" lIns="0" tIns="0" rIns="0" bIns="0" anchor="t" anchorCtr="0">
              <a:spAutoFit/>
            </a:bodyPr>
            <a:lstStyle/>
            <a:p>
              <a:pPr algn="l" marL="76200" indent="-76200">
                <a:lnSpc>
                  <a:spcPts val="1050"/>
                </a:lnSpc>
                <a:buClr>
                  <a:srgbClr val="3D3835"/>
                </a:buClr>
                <a:buSzTx/>
                <a:buFontTx/>
                <a:buChar char="•"/>
              </a:pPr>
              <a:r>
                <a:rPr lang="zh-CN" sz="600" dirty="0">
                  <a:solidFill>
                    <a:srgbClr val="3D3835"/>
                  </a:solidFill>
                  <a:latin typeface="+mn-lt"/>
                  <a:ea typeface="+mn-ea"/>
                  <a:cs typeface="+mn-cs"/>
                </a:rPr>
                <a:t>最小化采集​​</a:t>
              </a:r>
            </a:p>
            <a:p>
              <a:pPr algn="l" marL="76200" indent="-76200">
                <a:lnSpc>
                  <a:spcPts val="1050"/>
                </a:lnSpc>
                <a:buClr>
                  <a:srgbClr val="3D3835"/>
                </a:buClr>
                <a:buSzTx/>
                <a:buFontTx/>
                <a:buChar char="•"/>
              </a:pPr>
              <a:r>
                <a:rPr lang="zh-CN" sz="600" dirty="0">
                  <a:solidFill>
                    <a:srgbClr val="3D3835"/>
                  </a:solidFill>
                  <a:latin typeface="+mn-lt"/>
                  <a:ea typeface="+mn-ea"/>
                  <a:cs typeface="+mn-cs"/>
                </a:rPr>
                <a:t>客户授权与同意管理​​</a:t>
              </a:r>
            </a:p>
            <a:p>
              <a:pPr algn="l" marL="76200" indent="-76200">
                <a:lnSpc>
                  <a:spcPts val="1050"/>
                </a:lnSpc>
                <a:buClr>
                  <a:srgbClr val="3D3835"/>
                </a:buClr>
                <a:buSzTx/>
                <a:buFontTx/>
                <a:buChar char="•"/>
              </a:pPr>
              <a:r>
                <a:rPr lang="zh-CN" sz="600" dirty="0">
                  <a:solidFill>
                    <a:srgbClr val="3D3835"/>
                  </a:solidFill>
                  <a:latin typeface="+mn-lt"/>
                  <a:ea typeface="+mn-ea"/>
                  <a:cs typeface="+mn-cs"/>
                </a:rPr>
                <a:t>数据脱敏与加密​​</a:t>
              </a:r>
            </a:p>
            <a:p>
              <a:pPr algn="l" marL="76200" indent="-76200">
                <a:lnSpc>
                  <a:spcPts val="1050"/>
                </a:lnSpc>
                <a:buClr>
                  <a:srgbClr val="3D3835"/>
                </a:buClr>
                <a:buSzTx/>
                <a:buFontTx/>
                <a:buChar char="•"/>
              </a:pPr>
              <a:r>
                <a:rPr lang="zh-CN" sz="600" dirty="0">
                  <a:solidFill>
                    <a:srgbClr val="3D3835"/>
                  </a:solidFill>
                  <a:latin typeface="+mn-lt"/>
                  <a:ea typeface="+mn-ea"/>
                  <a:cs typeface="+mn-cs"/>
                </a:rPr>
                <a:t>访问控制与审计​​</a:t>
              </a:r>
            </a:p>
          </p:txBody>
        </p:sp>
        <p:sp>
          <p:nvSpPr>
            <p:cNvPr id="234" name="Rectangle 234"/>
            <p:cNvSpPr/>
            <p:nvPr/>
          </p:nvSpPr>
          <p:spPr>
            <a:xfrm>
              <a:off x="6172200" y="3752850"/>
              <a:ext cx="1257300" cy="1333500"/>
            </a:xfrm>
            <a:prstGeom prst="roundRect">
              <a:avLst>
                <a:gd name="adj" fmla="val 3030"/>
              </a:avLst>
            </a:prstGeom>
            <a:solidFill>
              <a:srgbClr val="FFF8F2"/>
            </a:solidFill>
            <a:ln w="9525">
              <a:solidFill>
                <a:srgbClr val="F0B8AE"/>
              </a:solidFill>
            </a:ln>
          </p:spPr>
        </p:sp>
        <p:grpSp>
          <p:nvGrpSpPr>
            <p:cNvPr id="237" name="Group 237"/>
            <p:cNvGrpSpPr/>
            <p:nvPr/>
          </p:nvGrpSpPr>
          <p:grpSpPr>
            <a:xfrm>
              <a:off x="6269831" y="3890962"/>
              <a:ext cx="128588" cy="85725"/>
              <a:chOff x="6269831" y="3890962"/>
              <a:chExt cx="128588" cy="85725"/>
            </a:xfrm>
          </p:grpSpPr>
          <p:sp>
            <p:nvSpPr>
              <p:cNvPr id="235" name="Freeform 235"/>
              <p:cNvSpPr/>
              <p:nvPr/>
            </p:nvSpPr>
            <p:spPr>
              <a:xfrm>
                <a:off x="6319838" y="3919538"/>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236" name="Freeform 236"/>
              <p:cNvSpPr/>
              <p:nvPr/>
            </p:nvSpPr>
            <p:spPr>
              <a:xfrm>
                <a:off x="6269831" y="3890962"/>
                <a:ext cx="128588" cy="85725"/>
              </a:xfrm>
              <a:custGeom>
                <a:avLst/>
                <a:gdLst/>
                <a:ahLst/>
                <a:cxnLst/>
                <a:rect l="l" t="t" r="r" b="b"/>
                <a:pathLst>
                  <a:path w="128588" h="85725">
                    <a:moveTo>
                      <a:pt x="128588" y="42862"/>
                    </a:moveTo>
                    <a:cubicBezTo>
                      <a:pt x="111443" y="71438"/>
                      <a:pt x="90011" y="85725"/>
                      <a:pt x="64294" y="85725"/>
                    </a:cubicBezTo>
                    <a:cubicBezTo>
                      <a:pt x="38576" y="85725"/>
                      <a:pt x="17145" y="71438"/>
                      <a:pt x="0" y="42862"/>
                    </a:cubicBezTo>
                    <a:cubicBezTo>
                      <a:pt x="17145" y="14288"/>
                      <a:pt x="38576" y="0"/>
                      <a:pt x="64294" y="0"/>
                    </a:cubicBezTo>
                    <a:cubicBezTo>
                      <a:pt x="90011" y="0"/>
                      <a:pt x="111443" y="14288"/>
                      <a:pt x="128588" y="42862"/>
                    </a:cubicBezTo>
                  </a:path>
                </a:pathLst>
              </a:custGeom>
              <a:noFill/>
              <a:ln w="14288">
                <a:solidFill>
                  <a:srgbClr val="D82000"/>
                </a:solidFill>
              </a:ln>
            </p:spPr>
          </p:sp>
        </p:grpSp>
        <p:sp>
          <p:nvSpPr>
            <p:cNvPr id="238" name="TextBox 238"/>
            <p:cNvSpPr txBox="1"/>
            <p:nvPr/>
          </p:nvSpPr>
          <p:spPr>
            <a:xfrm>
              <a:off x="6472238" y="3899059"/>
              <a:ext cx="703181"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模型监控与运维​</a:t>
              </a:r>
            </a:p>
          </p:txBody>
        </p:sp>
        <p:sp>
          <p:nvSpPr>
            <p:cNvPr id="239" name="TextBox 239"/>
            <p:cNvSpPr txBox="1"/>
            <p:nvPr/>
          </p:nvSpPr>
          <p:spPr>
            <a:xfrm>
              <a:off x="6243638" y="4145280"/>
              <a:ext cx="702945" cy="519112"/>
            </a:xfrm>
            <a:prstGeom prst="rect">
              <a:avLst/>
            </a:prstGeom>
            <a:noFill/>
            <a:ln>
              <a:noFill/>
            </a:ln>
          </p:spPr>
          <p:txBody>
            <a:bodyPr wrap="none" lIns="0" tIns="0" rIns="0" bIns="0" anchor="t" anchorCtr="0">
              <a:spAutoFit/>
            </a:bodyPr>
            <a:lstStyle/>
            <a:p>
              <a:pPr algn="l" marL="76200" indent="-76200">
                <a:lnSpc>
                  <a:spcPts val="1050"/>
                </a:lnSpc>
                <a:buClr>
                  <a:srgbClr val="3D3835"/>
                </a:buClr>
                <a:buSzTx/>
                <a:buFontTx/>
                <a:buChar char="•"/>
              </a:pPr>
              <a:r>
                <a:rPr lang="zh-CN" sz="600" dirty="0">
                  <a:solidFill>
                    <a:srgbClr val="3D3835"/>
                  </a:solidFill>
                  <a:latin typeface="+mn-lt"/>
                  <a:ea typeface="+mn-ea"/>
                  <a:cs typeface="+mn-cs"/>
                </a:rPr>
                <a:t>模型性能监控​​</a:t>
              </a:r>
            </a:p>
            <a:p>
              <a:pPr algn="l" marL="76200" indent="-76200">
                <a:lnSpc>
                  <a:spcPts val="1050"/>
                </a:lnSpc>
                <a:buClr>
                  <a:srgbClr val="3D3835"/>
                </a:buClr>
                <a:buSzTx/>
                <a:buFontTx/>
                <a:buChar char="•"/>
              </a:pPr>
              <a:r>
                <a:rPr lang="zh-CN" sz="600" dirty="0">
                  <a:solidFill>
                    <a:srgbClr val="3D3835"/>
                  </a:solidFill>
                  <a:latin typeface="+mn-lt"/>
                  <a:ea typeface="+mn-ea"/>
                  <a:cs typeface="+mn-cs"/>
                </a:rPr>
                <a:t>数据与特征漂移​​</a:t>
              </a:r>
            </a:p>
            <a:p>
              <a:pPr algn="l" marL="76200" indent="-76200">
                <a:lnSpc>
                  <a:spcPts val="1050"/>
                </a:lnSpc>
                <a:buClr>
                  <a:srgbClr val="3D3835"/>
                </a:buClr>
                <a:buSzTx/>
                <a:buFontTx/>
                <a:buChar char="•"/>
              </a:pPr>
              <a:r>
                <a:rPr lang="zh-CN" sz="600" dirty="0">
                  <a:solidFill>
                    <a:srgbClr val="3D3835"/>
                  </a:solidFill>
                  <a:latin typeface="+mn-lt"/>
                  <a:ea typeface="+mn-ea"/>
                  <a:cs typeface="+mn-cs"/>
                </a:rPr>
                <a:t>业务指标监控​​</a:t>
              </a:r>
            </a:p>
            <a:p>
              <a:pPr algn="l" marL="76200" indent="-76200">
                <a:lnSpc>
                  <a:spcPts val="1050"/>
                </a:lnSpc>
                <a:buClr>
                  <a:srgbClr val="3D3835"/>
                </a:buClr>
                <a:buSzTx/>
                <a:buFontTx/>
                <a:buChar char="•"/>
              </a:pPr>
              <a:r>
                <a:rPr lang="zh-CN" sz="600" dirty="0">
                  <a:solidFill>
                    <a:srgbClr val="3D3835"/>
                  </a:solidFill>
                  <a:latin typeface="+mn-lt"/>
                  <a:ea typeface="+mn-ea"/>
                  <a:cs typeface="+mn-cs"/>
                </a:rPr>
                <a:t>告警与自愈​​</a:t>
              </a:r>
            </a:p>
          </p:txBody>
        </p:sp>
        <p:sp>
          <p:nvSpPr>
            <p:cNvPr id="240" name="Rectangle 240"/>
            <p:cNvSpPr/>
            <p:nvPr/>
          </p:nvSpPr>
          <p:spPr>
            <a:xfrm>
              <a:off x="6172200" y="5162550"/>
              <a:ext cx="1257300" cy="1333500"/>
            </a:xfrm>
            <a:prstGeom prst="roundRect">
              <a:avLst>
                <a:gd name="adj" fmla="val 3030"/>
              </a:avLst>
            </a:prstGeom>
            <a:solidFill>
              <a:srgbClr val="FFF8F2"/>
            </a:solidFill>
            <a:ln w="9525">
              <a:solidFill>
                <a:srgbClr val="F0B8AE"/>
              </a:solidFill>
            </a:ln>
          </p:spPr>
        </p:sp>
        <p:grpSp>
          <p:nvGrpSpPr>
            <p:cNvPr id="243" name="Group 243"/>
            <p:cNvGrpSpPr/>
            <p:nvPr/>
          </p:nvGrpSpPr>
          <p:grpSpPr>
            <a:xfrm>
              <a:off x="6269831" y="5279231"/>
              <a:ext cx="128587" cy="128587"/>
              <a:chOff x="6269831" y="5279231"/>
              <a:chExt cx="128587" cy="128587"/>
            </a:xfrm>
          </p:grpSpPr>
          <p:sp>
            <p:nvSpPr>
              <p:cNvPr id="241" name="Freeform 241"/>
              <p:cNvSpPr/>
              <p:nvPr/>
            </p:nvSpPr>
            <p:spPr>
              <a:xfrm>
                <a:off x="6269831" y="5279231"/>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D82000"/>
                </a:solidFill>
              </a:ln>
            </p:spPr>
          </p:sp>
          <p:sp>
            <p:nvSpPr>
              <p:cNvPr id="242" name="Freeform 242"/>
              <p:cNvSpPr/>
              <p:nvPr/>
            </p:nvSpPr>
            <p:spPr>
              <a:xfrm>
                <a:off x="6355556" y="5364956"/>
                <a:ext cx="42862" cy="42862"/>
              </a:xfrm>
              <a:custGeom>
                <a:avLst/>
                <a:gdLst/>
                <a:ahLst/>
                <a:cxnLst/>
                <a:rect l="l" t="t" r="r" b="b"/>
                <a:pathLst>
                  <a:path w="42862" h="42862">
                    <a:moveTo>
                      <a:pt x="42862" y="42862"/>
                    </a:moveTo>
                    <a:lnTo>
                      <a:pt x="0" y="0"/>
                    </a:lnTo>
                  </a:path>
                </a:pathLst>
              </a:custGeom>
              <a:noFill/>
              <a:ln w="14288">
                <a:solidFill>
                  <a:srgbClr val="D82000"/>
                </a:solidFill>
              </a:ln>
            </p:spPr>
          </p:sp>
        </p:grpSp>
        <p:sp>
          <p:nvSpPr>
            <p:cNvPr id="244" name="TextBox 244"/>
            <p:cNvSpPr txBox="1"/>
            <p:nvPr/>
          </p:nvSpPr>
          <p:spPr>
            <a:xfrm>
              <a:off x="6472238" y="5308759"/>
              <a:ext cx="703181"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数据血缘与审计​</a:t>
              </a:r>
            </a:p>
          </p:txBody>
        </p:sp>
        <p:sp>
          <p:nvSpPr>
            <p:cNvPr id="245" name="TextBox 245"/>
            <p:cNvSpPr txBox="1"/>
            <p:nvPr/>
          </p:nvSpPr>
          <p:spPr>
            <a:xfrm>
              <a:off x="6243638" y="5554980"/>
              <a:ext cx="626745" cy="519112"/>
            </a:xfrm>
            <a:prstGeom prst="rect">
              <a:avLst/>
            </a:prstGeom>
            <a:noFill/>
            <a:ln>
              <a:noFill/>
            </a:ln>
          </p:spPr>
          <p:txBody>
            <a:bodyPr wrap="none" lIns="0" tIns="0" rIns="0" bIns="0" anchor="t" anchorCtr="0">
              <a:spAutoFit/>
            </a:bodyPr>
            <a:lstStyle/>
            <a:p>
              <a:pPr algn="l" marL="76200" indent="-76200">
                <a:lnSpc>
                  <a:spcPts val="1050"/>
                </a:lnSpc>
                <a:buClr>
                  <a:srgbClr val="3D3835"/>
                </a:buClr>
                <a:buSzTx/>
                <a:buFontTx/>
                <a:buChar char="•"/>
              </a:pPr>
              <a:r>
                <a:rPr lang="zh-CN" sz="600" dirty="0">
                  <a:solidFill>
                    <a:srgbClr val="3D3835"/>
                  </a:solidFill>
                  <a:latin typeface="+mn-lt"/>
                  <a:ea typeface="+mn-ea"/>
                  <a:cs typeface="+mn-cs"/>
                </a:rPr>
                <a:t>数据血缘追踪​​</a:t>
              </a:r>
            </a:p>
            <a:p>
              <a:pPr algn="l" marL="76200" indent="-76200">
                <a:lnSpc>
                  <a:spcPts val="1050"/>
                </a:lnSpc>
                <a:buClr>
                  <a:srgbClr val="3D3835"/>
                </a:buClr>
                <a:buSzTx/>
                <a:buFontTx/>
                <a:buChar char="•"/>
              </a:pPr>
              <a:r>
                <a:rPr lang="zh-CN" sz="600" dirty="0">
                  <a:solidFill>
                    <a:srgbClr val="3D3835"/>
                  </a:solidFill>
                  <a:latin typeface="+mn-lt"/>
                  <a:ea typeface="+mn-ea"/>
                  <a:cs typeface="+mn-cs"/>
                </a:rPr>
                <a:t>影响分析​​</a:t>
              </a:r>
            </a:p>
            <a:p>
              <a:pPr algn="l" marL="76200" indent="-76200">
                <a:lnSpc>
                  <a:spcPts val="1050"/>
                </a:lnSpc>
                <a:buClr>
                  <a:srgbClr val="3D3835"/>
                </a:buClr>
                <a:buSzTx/>
                <a:buFontTx/>
                <a:buChar char="•"/>
              </a:pPr>
              <a:r>
                <a:rPr lang="zh-CN" sz="600" dirty="0">
                  <a:solidFill>
                    <a:srgbClr val="3D3835"/>
                  </a:solidFill>
                  <a:latin typeface="+mn-lt"/>
                  <a:ea typeface="+mn-ea"/>
                  <a:cs typeface="+mn-cs"/>
                </a:rPr>
                <a:t>操作留痕​​</a:t>
              </a:r>
            </a:p>
            <a:p>
              <a:pPr algn="l" marL="76200" indent="-76200">
                <a:lnSpc>
                  <a:spcPts val="1050"/>
                </a:lnSpc>
                <a:buClr>
                  <a:srgbClr val="3D3835"/>
                </a:buClr>
                <a:buSzTx/>
                <a:buFontTx/>
                <a:buChar char="•"/>
              </a:pPr>
              <a:r>
                <a:rPr lang="zh-CN" sz="600" dirty="0">
                  <a:solidFill>
                    <a:srgbClr val="3D3835"/>
                  </a:solidFill>
                  <a:latin typeface="+mn-lt"/>
                  <a:ea typeface="+mn-ea"/>
                  <a:cs typeface="+mn-cs"/>
                </a:rPr>
                <a:t>审计合规​​</a:t>
              </a:r>
            </a:p>
          </p:txBody>
        </p:sp>
      </p:grpSp>
      <p:grpSp>
        <p:nvGrpSpPr>
          <p:cNvPr id="368" name="usecase-matrix"/>
          <p:cNvGrpSpPr/>
          <p:nvPr/>
        </p:nvGrpSpPr>
        <p:grpSpPr>
          <a:xfrm>
            <a:off x="7505700" y="745093"/>
            <a:ext cx="4310063" cy="5900499"/>
            <a:chOff x="7505700" y="745093"/>
            <a:chExt cx="4310063" cy="5900499"/>
          </a:xfrm>
        </p:grpSpPr>
        <p:sp>
          <p:nvSpPr>
            <p:cNvPr id="247" name="TextBox 247"/>
            <p:cNvSpPr txBox="1"/>
            <p:nvPr/>
          </p:nvSpPr>
          <p:spPr>
            <a:xfrm>
              <a:off x="9065749" y="745093"/>
              <a:ext cx="1185202" cy="169069"/>
            </a:xfrm>
            <a:prstGeom prst="rect">
              <a:avLst/>
            </a:prstGeom>
            <a:noFill/>
            <a:ln>
              <a:noFill/>
            </a:ln>
          </p:spPr>
          <p:txBody>
            <a:bodyPr wrap="none" lIns="0" tIns="0" rIns="0" bIns="0" anchor="t" anchorCtr="0">
              <a:spAutoFit/>
            </a:bodyPr>
            <a:lstStyle/>
            <a:p>
              <a:pPr algn="ctr"/>
              <a:r>
                <a:rPr lang="zh-CN" sz="860" b="1" dirty="0">
                  <a:solidFill>
                    <a:srgbClr val="C41D00"/>
                  </a:solidFill>
                  <a:latin typeface="+mn-lt"/>
                  <a:ea typeface="+mn-ea"/>
                  <a:cs typeface="+mn-cs"/>
                </a:rPr>
                <a:t>​核心用例优先级矩阵​</a:t>
              </a:r>
            </a:p>
          </p:txBody>
        </p:sp>
        <p:sp>
          <p:nvSpPr>
            <p:cNvPr id="248" name="Rectangle 248"/>
            <p:cNvSpPr/>
            <p:nvPr/>
          </p:nvSpPr>
          <p:spPr>
            <a:xfrm>
              <a:off x="7505700" y="933450"/>
              <a:ext cx="4305300" cy="209550"/>
            </a:xfrm>
            <a:prstGeom prst="rect">
              <a:avLst/>
            </a:prstGeom>
            <a:solidFill>
              <a:srgbClr val="C41D00"/>
            </a:solidFill>
            <a:ln>
              <a:noFill/>
            </a:ln>
          </p:spPr>
        </p:sp>
        <p:sp>
          <p:nvSpPr>
            <p:cNvPr id="249" name="TextBox 249"/>
            <p:cNvSpPr txBox="1"/>
            <p:nvPr/>
          </p:nvSpPr>
          <p:spPr>
            <a:xfrm>
              <a:off x="8609546" y="1003459"/>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用例</a:t>
              </a:r>
            </a:p>
          </p:txBody>
        </p:sp>
        <p:sp>
          <p:nvSpPr>
            <p:cNvPr id="250" name="TextBox 250"/>
            <p:cNvSpPr txBox="1"/>
            <p:nvPr/>
          </p:nvSpPr>
          <p:spPr>
            <a:xfrm>
              <a:off x="10061054" y="10034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业务价值</a:t>
              </a:r>
            </a:p>
          </p:txBody>
        </p:sp>
        <p:sp>
          <p:nvSpPr>
            <p:cNvPr id="251" name="TextBox 251"/>
            <p:cNvSpPr txBox="1"/>
            <p:nvPr/>
          </p:nvSpPr>
          <p:spPr>
            <a:xfrm>
              <a:off x="10746854" y="10034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落地难度</a:t>
              </a:r>
            </a:p>
          </p:txBody>
        </p:sp>
        <p:sp>
          <p:nvSpPr>
            <p:cNvPr id="252" name="TextBox 252"/>
            <p:cNvSpPr txBox="1"/>
            <p:nvPr/>
          </p:nvSpPr>
          <p:spPr>
            <a:xfrm>
              <a:off x="11402225" y="1003459"/>
              <a:ext cx="28415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优先级</a:t>
              </a:r>
            </a:p>
          </p:txBody>
        </p:sp>
        <p:sp>
          <p:nvSpPr>
            <p:cNvPr id="253" name="Rectangle 253"/>
            <p:cNvSpPr/>
            <p:nvPr/>
          </p:nvSpPr>
          <p:spPr>
            <a:xfrm>
              <a:off x="7505700" y="1143000"/>
              <a:ext cx="4305300" cy="5257800"/>
            </a:xfrm>
            <a:prstGeom prst="rect">
              <a:avLst/>
            </a:prstGeom>
            <a:solidFill>
              <a:srgbClr val="FFFFFF"/>
            </a:solidFill>
            <a:ln w="9525">
              <a:solidFill>
                <a:srgbClr val="F0B8AE"/>
              </a:solidFill>
            </a:ln>
          </p:spPr>
        </p:sp>
        <p:sp>
          <p:nvSpPr>
            <p:cNvPr id="254" name="Rectangle 254"/>
            <p:cNvSpPr/>
            <p:nvPr/>
          </p:nvSpPr>
          <p:spPr>
            <a:xfrm>
              <a:off x="7505700" y="2019300"/>
              <a:ext cx="4305300" cy="876300"/>
            </a:xfrm>
            <a:prstGeom prst="rect">
              <a:avLst/>
            </a:prstGeom>
            <a:solidFill>
              <a:srgbClr val="FFF8F2"/>
            </a:solidFill>
            <a:ln>
              <a:noFill/>
            </a:ln>
          </p:spPr>
        </p:sp>
        <p:sp>
          <p:nvSpPr>
            <p:cNvPr id="255" name="Rectangle 255"/>
            <p:cNvSpPr/>
            <p:nvPr/>
          </p:nvSpPr>
          <p:spPr>
            <a:xfrm>
              <a:off x="7505700" y="3771900"/>
              <a:ext cx="4305300" cy="876300"/>
            </a:xfrm>
            <a:prstGeom prst="rect">
              <a:avLst/>
            </a:prstGeom>
            <a:solidFill>
              <a:srgbClr val="FFF8F2"/>
            </a:solidFill>
            <a:ln>
              <a:noFill/>
            </a:ln>
          </p:spPr>
        </p:sp>
        <p:sp>
          <p:nvSpPr>
            <p:cNvPr id="256" name="Rectangle 256"/>
            <p:cNvSpPr/>
            <p:nvPr/>
          </p:nvSpPr>
          <p:spPr>
            <a:xfrm>
              <a:off x="7505700" y="5524500"/>
              <a:ext cx="4305300" cy="876300"/>
            </a:xfrm>
            <a:prstGeom prst="rect">
              <a:avLst/>
            </a:prstGeom>
            <a:solidFill>
              <a:srgbClr val="FFF8F2"/>
            </a:solidFill>
            <a:ln>
              <a:noFill/>
            </a:ln>
          </p:spPr>
        </p:sp>
        <p:grpSp>
          <p:nvGrpSpPr>
            <p:cNvPr id="260" name="Group 260"/>
            <p:cNvGrpSpPr/>
            <p:nvPr/>
          </p:nvGrpSpPr>
          <p:grpSpPr>
            <a:xfrm>
              <a:off x="7600139" y="1416061"/>
              <a:ext cx="192114" cy="165051"/>
              <a:chOff x="7600139" y="1416061"/>
              <a:chExt cx="192114" cy="165051"/>
            </a:xfrm>
          </p:grpSpPr>
          <p:sp>
            <p:nvSpPr>
              <p:cNvPr id="257" name="Freeform 257"/>
              <p:cNvSpPr/>
              <p:nvPr/>
            </p:nvSpPr>
            <p:spPr>
              <a:xfrm>
                <a:off x="7696200" y="1476375"/>
                <a:ext cx="9525" cy="38100"/>
              </a:xfrm>
              <a:custGeom>
                <a:avLst/>
                <a:gdLst/>
                <a:ahLst/>
                <a:cxnLst/>
                <a:rect l="l" t="t" r="r" b="b"/>
                <a:pathLst>
                  <a:path w="9525" h="38100">
                    <a:moveTo>
                      <a:pt x="0" y="0"/>
                    </a:moveTo>
                    <a:lnTo>
                      <a:pt x="0" y="38100"/>
                    </a:lnTo>
                  </a:path>
                </a:pathLst>
              </a:custGeom>
              <a:noFill/>
              <a:ln w="19050">
                <a:solidFill>
                  <a:srgbClr val="D82000"/>
                </a:solidFill>
              </a:ln>
            </p:spPr>
          </p:sp>
          <p:sp>
            <p:nvSpPr>
              <p:cNvPr id="258" name="Freeform 258"/>
              <p:cNvSpPr/>
              <p:nvPr/>
            </p:nvSpPr>
            <p:spPr>
              <a:xfrm>
                <a:off x="7600139" y="141606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D82000"/>
                </a:solidFill>
              </a:ln>
            </p:spPr>
          </p:sp>
          <p:sp>
            <p:nvSpPr>
              <p:cNvPr id="259" name="Freeform 259"/>
              <p:cNvSpPr/>
              <p:nvPr/>
            </p:nvSpPr>
            <p:spPr>
              <a:xfrm>
                <a:off x="7696200" y="1543050"/>
                <a:ext cx="9525" cy="9525"/>
              </a:xfrm>
              <a:custGeom>
                <a:avLst/>
                <a:gdLst/>
                <a:ahLst/>
                <a:cxnLst/>
                <a:rect l="l" t="t" r="r" b="b"/>
                <a:pathLst>
                  <a:path w="9525" h="9525">
                    <a:moveTo>
                      <a:pt x="0" y="0"/>
                    </a:moveTo>
                    <a:lnTo>
                      <a:pt x="95" y="0"/>
                    </a:lnTo>
                  </a:path>
                </a:pathLst>
              </a:custGeom>
              <a:noFill/>
              <a:ln w="19050">
                <a:solidFill>
                  <a:srgbClr val="D82000"/>
                </a:solidFill>
              </a:ln>
            </p:spPr>
          </p:sp>
        </p:grpSp>
        <p:sp>
          <p:nvSpPr>
            <p:cNvPr id="261" name="TextBox 261"/>
            <p:cNvSpPr txBox="1"/>
            <p:nvPr/>
          </p:nvSpPr>
          <p:spPr>
            <a:xfrm>
              <a:off x="7900988" y="1313736"/>
              <a:ext cx="602618"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4A130A"/>
                  </a:solidFill>
                  <a:latin typeface="+mn-lt"/>
                  <a:ea typeface="+mn-ea"/>
                  <a:cs typeface="+mn-cs"/>
                </a:rPr>
                <a:t>客户流失预警​</a:t>
              </a:r>
            </a:p>
            <a:p>
              <a:pPr algn="l">
                <a:lnSpc>
                  <a:spcPts val="900"/>
                </a:lnSpc>
              </a:pPr>
              <a:r>
                <a:rPr lang="zh-CN" sz="600" dirty="0">
                  <a:solidFill>
                    <a:srgbClr val="7A716B"/>
                  </a:solidFill>
                  <a:latin typeface="+mn-lt"/>
                  <a:ea typeface="+mn-ea"/>
                  <a:cs typeface="+mn-cs"/>
                </a:rPr>
                <a:t>（Churn）​​​</a:t>
              </a:r>
            </a:p>
          </p:txBody>
        </p:sp>
        <p:sp>
          <p:nvSpPr>
            <p:cNvPr id="262" name="TextBox 262"/>
            <p:cNvSpPr txBox="1"/>
            <p:nvPr/>
          </p:nvSpPr>
          <p:spPr>
            <a:xfrm>
              <a:off x="7900988" y="1611630"/>
              <a:ext cx="8553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识别沉默高风险客户​​</a:t>
              </a:r>
            </a:p>
            <a:p>
              <a:pPr algn="l" marL="76200" indent="-76200">
                <a:lnSpc>
                  <a:spcPts val="900"/>
                </a:lnSpc>
                <a:buClr>
                  <a:srgbClr val="3D3835"/>
                </a:buClr>
                <a:buSzTx/>
                <a:buFontTx/>
                <a:buChar char="•"/>
              </a:pPr>
              <a:r>
                <a:rPr lang="zh-CN" sz="600" dirty="0">
                  <a:solidFill>
                    <a:srgbClr val="3D3835"/>
                  </a:solidFill>
                  <a:latin typeface="+mn-lt"/>
                  <a:ea typeface="+mn-ea"/>
                  <a:cs typeface="+mn-cs"/>
                </a:rPr>
                <a:t>触发挽留与关怀​​</a:t>
              </a:r>
            </a:p>
          </p:txBody>
        </p:sp>
        <p:sp>
          <p:nvSpPr>
            <p:cNvPr id="263" name="Ellipse 263"/>
            <p:cNvSpPr/>
            <p:nvPr/>
          </p:nvSpPr>
          <p:spPr>
            <a:xfrm>
              <a:off x="10001250" y="1543050"/>
              <a:ext cx="76200" cy="76200"/>
            </a:xfrm>
            <a:prstGeom prst="ellipse">
              <a:avLst/>
            </a:prstGeom>
            <a:solidFill>
              <a:srgbClr val="C41D00"/>
            </a:solidFill>
            <a:ln>
              <a:noFill/>
            </a:ln>
          </p:spPr>
        </p:sp>
        <p:sp>
          <p:nvSpPr>
            <p:cNvPr id="264" name="Ellipse 264"/>
            <p:cNvSpPr/>
            <p:nvPr/>
          </p:nvSpPr>
          <p:spPr>
            <a:xfrm>
              <a:off x="10106025" y="1543050"/>
              <a:ext cx="76200" cy="76200"/>
            </a:xfrm>
            <a:prstGeom prst="ellipse">
              <a:avLst/>
            </a:prstGeom>
            <a:solidFill>
              <a:srgbClr val="C41D00"/>
            </a:solidFill>
            <a:ln>
              <a:noFill/>
            </a:ln>
          </p:spPr>
        </p:sp>
        <p:sp>
          <p:nvSpPr>
            <p:cNvPr id="265" name="Ellipse 265"/>
            <p:cNvSpPr/>
            <p:nvPr/>
          </p:nvSpPr>
          <p:spPr>
            <a:xfrm>
              <a:off x="10210800" y="1543050"/>
              <a:ext cx="76200" cy="76200"/>
            </a:xfrm>
            <a:prstGeom prst="ellipse">
              <a:avLst/>
            </a:prstGeom>
            <a:solidFill>
              <a:srgbClr val="C41D00"/>
            </a:solidFill>
            <a:ln>
              <a:noFill/>
            </a:ln>
          </p:spPr>
        </p:sp>
        <p:sp>
          <p:nvSpPr>
            <p:cNvPr id="266" name="Ellipse 266"/>
            <p:cNvSpPr/>
            <p:nvPr/>
          </p:nvSpPr>
          <p:spPr>
            <a:xfrm>
              <a:off x="10315575" y="1543050"/>
              <a:ext cx="76200" cy="76200"/>
            </a:xfrm>
            <a:prstGeom prst="ellipse">
              <a:avLst/>
            </a:prstGeom>
            <a:solidFill>
              <a:srgbClr val="C41D00"/>
            </a:solidFill>
            <a:ln>
              <a:noFill/>
            </a:ln>
          </p:spPr>
        </p:sp>
        <p:sp>
          <p:nvSpPr>
            <p:cNvPr id="267" name="Ellipse 267"/>
            <p:cNvSpPr/>
            <p:nvPr/>
          </p:nvSpPr>
          <p:spPr>
            <a:xfrm>
              <a:off x="10420350" y="1543050"/>
              <a:ext cx="76200" cy="76200"/>
            </a:xfrm>
            <a:prstGeom prst="ellipse">
              <a:avLst/>
            </a:prstGeom>
            <a:solidFill>
              <a:srgbClr val="C41D00"/>
            </a:solidFill>
            <a:ln>
              <a:noFill/>
            </a:ln>
          </p:spPr>
        </p:sp>
        <p:sp>
          <p:nvSpPr>
            <p:cNvPr id="268" name="Ellipse 268"/>
            <p:cNvSpPr/>
            <p:nvPr/>
          </p:nvSpPr>
          <p:spPr>
            <a:xfrm>
              <a:off x="10687050" y="1543050"/>
              <a:ext cx="76200" cy="76200"/>
            </a:xfrm>
            <a:prstGeom prst="ellipse">
              <a:avLst/>
            </a:prstGeom>
            <a:solidFill>
              <a:srgbClr val="C41D00"/>
            </a:solidFill>
            <a:ln>
              <a:noFill/>
            </a:ln>
          </p:spPr>
        </p:sp>
        <p:sp>
          <p:nvSpPr>
            <p:cNvPr id="269" name="Ellipse 269"/>
            <p:cNvSpPr/>
            <p:nvPr/>
          </p:nvSpPr>
          <p:spPr>
            <a:xfrm>
              <a:off x="10791825" y="1543050"/>
              <a:ext cx="76200" cy="76200"/>
            </a:xfrm>
            <a:prstGeom prst="ellipse">
              <a:avLst/>
            </a:prstGeom>
            <a:solidFill>
              <a:srgbClr val="C41D00"/>
            </a:solidFill>
            <a:ln>
              <a:noFill/>
            </a:ln>
          </p:spPr>
        </p:sp>
        <p:sp>
          <p:nvSpPr>
            <p:cNvPr id="270" name="Ellipse 270"/>
            <p:cNvSpPr/>
            <p:nvPr/>
          </p:nvSpPr>
          <p:spPr>
            <a:xfrm>
              <a:off x="10896600" y="1543050"/>
              <a:ext cx="76200" cy="76200"/>
            </a:xfrm>
            <a:prstGeom prst="ellipse">
              <a:avLst/>
            </a:prstGeom>
            <a:solidFill>
              <a:srgbClr val="FFFFFF"/>
            </a:solidFill>
            <a:ln w="9525">
              <a:solidFill>
                <a:srgbClr val="F0B8AE"/>
              </a:solidFill>
            </a:ln>
          </p:spPr>
        </p:sp>
        <p:sp>
          <p:nvSpPr>
            <p:cNvPr id="271" name="Ellipse 271"/>
            <p:cNvSpPr/>
            <p:nvPr/>
          </p:nvSpPr>
          <p:spPr>
            <a:xfrm>
              <a:off x="11001375" y="1543050"/>
              <a:ext cx="76200" cy="76200"/>
            </a:xfrm>
            <a:prstGeom prst="ellipse">
              <a:avLst/>
            </a:prstGeom>
            <a:solidFill>
              <a:srgbClr val="FFFFFF"/>
            </a:solidFill>
            <a:ln w="9525">
              <a:solidFill>
                <a:srgbClr val="F0B8AE"/>
              </a:solidFill>
            </a:ln>
          </p:spPr>
        </p:sp>
        <p:sp>
          <p:nvSpPr>
            <p:cNvPr id="272" name="Ellipse 272"/>
            <p:cNvSpPr/>
            <p:nvPr/>
          </p:nvSpPr>
          <p:spPr>
            <a:xfrm>
              <a:off x="11106150" y="1543050"/>
              <a:ext cx="76200" cy="76200"/>
            </a:xfrm>
            <a:prstGeom prst="ellipse">
              <a:avLst/>
            </a:prstGeom>
            <a:solidFill>
              <a:srgbClr val="FFFFFF"/>
            </a:solidFill>
            <a:ln w="9525">
              <a:solidFill>
                <a:srgbClr val="F0B8AE"/>
              </a:solidFill>
            </a:ln>
          </p:spPr>
        </p:sp>
        <p:sp>
          <p:nvSpPr>
            <p:cNvPr id="273" name="TextBox 273"/>
            <p:cNvSpPr txBox="1"/>
            <p:nvPr/>
          </p:nvSpPr>
          <p:spPr>
            <a:xfrm>
              <a:off x="11478959" y="1531620"/>
              <a:ext cx="130683"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高</a:t>
              </a:r>
            </a:p>
          </p:txBody>
        </p:sp>
        <p:grpSp>
          <p:nvGrpSpPr>
            <p:cNvPr id="277" name="Group 277"/>
            <p:cNvGrpSpPr/>
            <p:nvPr/>
          </p:nvGrpSpPr>
          <p:grpSpPr>
            <a:xfrm>
              <a:off x="7610475" y="2295525"/>
              <a:ext cx="171450" cy="171450"/>
              <a:chOff x="7610475" y="2295525"/>
              <a:chExt cx="171450" cy="171450"/>
            </a:xfrm>
          </p:grpSpPr>
          <p:sp>
            <p:nvSpPr>
              <p:cNvPr id="274" name="Freeform 274"/>
              <p:cNvSpPr/>
              <p:nvPr/>
            </p:nvSpPr>
            <p:spPr>
              <a:xfrm>
                <a:off x="7686675" y="23717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D82000"/>
                </a:solidFill>
              </a:ln>
            </p:spPr>
          </p:sp>
          <p:sp>
            <p:nvSpPr>
              <p:cNvPr id="275" name="Freeform 275"/>
              <p:cNvSpPr/>
              <p:nvPr/>
            </p:nvSpPr>
            <p:spPr>
              <a:xfrm>
                <a:off x="7648575" y="23336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D82000"/>
                </a:solidFill>
              </a:ln>
            </p:spPr>
          </p:sp>
          <p:sp>
            <p:nvSpPr>
              <p:cNvPr id="276" name="Freeform 276"/>
              <p:cNvSpPr/>
              <p:nvPr/>
            </p:nvSpPr>
            <p:spPr>
              <a:xfrm>
                <a:off x="7610475" y="22955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D82000"/>
                </a:solidFill>
              </a:ln>
            </p:spPr>
          </p:sp>
        </p:grpSp>
        <p:sp>
          <p:nvSpPr>
            <p:cNvPr id="278" name="TextBox 278"/>
            <p:cNvSpPr txBox="1"/>
            <p:nvPr/>
          </p:nvSpPr>
          <p:spPr>
            <a:xfrm>
              <a:off x="7900988" y="2190036"/>
              <a:ext cx="98107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4A130A"/>
                  </a:solidFill>
                  <a:latin typeface="+mn-lt"/>
                  <a:ea typeface="+mn-ea"/>
                  <a:cs typeface="+mn-cs"/>
                </a:rPr>
                <a:t>下一最佳行动​</a:t>
              </a:r>
            </a:p>
            <a:p>
              <a:pPr algn="l">
                <a:lnSpc>
                  <a:spcPts val="900"/>
                </a:lnSpc>
              </a:pPr>
              <a:r>
                <a:rPr lang="zh-CN" sz="600" dirty="0">
                  <a:solidFill>
                    <a:srgbClr val="7A716B"/>
                  </a:solidFill>
                  <a:latin typeface="+mn-lt"/>
                  <a:ea typeface="+mn-ea"/>
                  <a:cs typeface="+mn-cs"/>
                </a:rPr>
                <a:t>（Next-Best-Action）​​​​</a:t>
              </a:r>
            </a:p>
          </p:txBody>
        </p:sp>
        <p:sp>
          <p:nvSpPr>
            <p:cNvPr id="279" name="TextBox 279"/>
            <p:cNvSpPr txBox="1"/>
            <p:nvPr/>
          </p:nvSpPr>
          <p:spPr>
            <a:xfrm>
              <a:off x="7900988" y="2487930"/>
              <a:ext cx="93916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个性化推荐产品/服务​​​</a:t>
              </a:r>
            </a:p>
            <a:p>
              <a:pPr algn="l" marL="76200" indent="-76200">
                <a:lnSpc>
                  <a:spcPts val="900"/>
                </a:lnSpc>
                <a:buClr>
                  <a:srgbClr val="3D3835"/>
                </a:buClr>
                <a:buSzTx/>
                <a:buFontTx/>
                <a:buChar char="•"/>
              </a:pPr>
              <a:r>
                <a:rPr lang="zh-CN" sz="600" dirty="0">
                  <a:solidFill>
                    <a:srgbClr val="3D3835"/>
                  </a:solidFill>
                  <a:latin typeface="+mn-lt"/>
                  <a:ea typeface="+mn-ea"/>
                  <a:cs typeface="+mn-cs"/>
                </a:rPr>
                <a:t>提升转化与交叉销售​​</a:t>
              </a:r>
            </a:p>
          </p:txBody>
        </p:sp>
        <p:sp>
          <p:nvSpPr>
            <p:cNvPr id="280" name="Ellipse 280"/>
            <p:cNvSpPr/>
            <p:nvPr/>
          </p:nvSpPr>
          <p:spPr>
            <a:xfrm>
              <a:off x="10001250" y="2419350"/>
              <a:ext cx="76200" cy="76200"/>
            </a:xfrm>
            <a:prstGeom prst="ellipse">
              <a:avLst/>
            </a:prstGeom>
            <a:solidFill>
              <a:srgbClr val="C41D00"/>
            </a:solidFill>
            <a:ln>
              <a:noFill/>
            </a:ln>
          </p:spPr>
        </p:sp>
        <p:sp>
          <p:nvSpPr>
            <p:cNvPr id="281" name="Ellipse 281"/>
            <p:cNvSpPr/>
            <p:nvPr/>
          </p:nvSpPr>
          <p:spPr>
            <a:xfrm>
              <a:off x="10106025" y="2419350"/>
              <a:ext cx="76200" cy="76200"/>
            </a:xfrm>
            <a:prstGeom prst="ellipse">
              <a:avLst/>
            </a:prstGeom>
            <a:solidFill>
              <a:srgbClr val="C41D00"/>
            </a:solidFill>
            <a:ln>
              <a:noFill/>
            </a:ln>
          </p:spPr>
        </p:sp>
        <p:sp>
          <p:nvSpPr>
            <p:cNvPr id="282" name="Ellipse 282"/>
            <p:cNvSpPr/>
            <p:nvPr/>
          </p:nvSpPr>
          <p:spPr>
            <a:xfrm>
              <a:off x="10210800" y="2419350"/>
              <a:ext cx="76200" cy="76200"/>
            </a:xfrm>
            <a:prstGeom prst="ellipse">
              <a:avLst/>
            </a:prstGeom>
            <a:solidFill>
              <a:srgbClr val="C41D00"/>
            </a:solidFill>
            <a:ln>
              <a:noFill/>
            </a:ln>
          </p:spPr>
        </p:sp>
        <p:sp>
          <p:nvSpPr>
            <p:cNvPr id="283" name="Ellipse 283"/>
            <p:cNvSpPr/>
            <p:nvPr/>
          </p:nvSpPr>
          <p:spPr>
            <a:xfrm>
              <a:off x="10315575" y="2419350"/>
              <a:ext cx="76200" cy="76200"/>
            </a:xfrm>
            <a:prstGeom prst="ellipse">
              <a:avLst/>
            </a:prstGeom>
            <a:solidFill>
              <a:srgbClr val="C41D00"/>
            </a:solidFill>
            <a:ln>
              <a:noFill/>
            </a:ln>
          </p:spPr>
        </p:sp>
        <p:sp>
          <p:nvSpPr>
            <p:cNvPr id="284" name="Ellipse 284"/>
            <p:cNvSpPr/>
            <p:nvPr/>
          </p:nvSpPr>
          <p:spPr>
            <a:xfrm>
              <a:off x="10420350" y="2419350"/>
              <a:ext cx="76200" cy="76200"/>
            </a:xfrm>
            <a:prstGeom prst="ellipse">
              <a:avLst/>
            </a:prstGeom>
            <a:solidFill>
              <a:srgbClr val="C41D00"/>
            </a:solidFill>
            <a:ln>
              <a:noFill/>
            </a:ln>
          </p:spPr>
        </p:sp>
        <p:sp>
          <p:nvSpPr>
            <p:cNvPr id="285" name="Ellipse 285"/>
            <p:cNvSpPr/>
            <p:nvPr/>
          </p:nvSpPr>
          <p:spPr>
            <a:xfrm>
              <a:off x="10687050" y="2419350"/>
              <a:ext cx="76200" cy="76200"/>
            </a:xfrm>
            <a:prstGeom prst="ellipse">
              <a:avLst/>
            </a:prstGeom>
            <a:solidFill>
              <a:srgbClr val="C41D00"/>
            </a:solidFill>
            <a:ln>
              <a:noFill/>
            </a:ln>
          </p:spPr>
        </p:sp>
        <p:sp>
          <p:nvSpPr>
            <p:cNvPr id="286" name="Ellipse 286"/>
            <p:cNvSpPr/>
            <p:nvPr/>
          </p:nvSpPr>
          <p:spPr>
            <a:xfrm>
              <a:off x="10791825" y="2419350"/>
              <a:ext cx="76200" cy="76200"/>
            </a:xfrm>
            <a:prstGeom prst="ellipse">
              <a:avLst/>
            </a:prstGeom>
            <a:solidFill>
              <a:srgbClr val="C41D00"/>
            </a:solidFill>
            <a:ln>
              <a:noFill/>
            </a:ln>
          </p:spPr>
        </p:sp>
        <p:sp>
          <p:nvSpPr>
            <p:cNvPr id="287" name="Ellipse 287"/>
            <p:cNvSpPr/>
            <p:nvPr/>
          </p:nvSpPr>
          <p:spPr>
            <a:xfrm>
              <a:off x="10896600" y="2419350"/>
              <a:ext cx="76200" cy="76200"/>
            </a:xfrm>
            <a:prstGeom prst="ellipse">
              <a:avLst/>
            </a:prstGeom>
            <a:solidFill>
              <a:srgbClr val="C41D00"/>
            </a:solidFill>
            <a:ln>
              <a:noFill/>
            </a:ln>
          </p:spPr>
        </p:sp>
        <p:sp>
          <p:nvSpPr>
            <p:cNvPr id="288" name="Ellipse 288"/>
            <p:cNvSpPr/>
            <p:nvPr/>
          </p:nvSpPr>
          <p:spPr>
            <a:xfrm>
              <a:off x="11001375" y="2419350"/>
              <a:ext cx="76200" cy="76200"/>
            </a:xfrm>
            <a:prstGeom prst="ellipse">
              <a:avLst/>
            </a:prstGeom>
            <a:solidFill>
              <a:srgbClr val="FFFFFF"/>
            </a:solidFill>
            <a:ln w="9525">
              <a:solidFill>
                <a:srgbClr val="F0B8AE"/>
              </a:solidFill>
            </a:ln>
          </p:spPr>
        </p:sp>
        <p:sp>
          <p:nvSpPr>
            <p:cNvPr id="289" name="Ellipse 289"/>
            <p:cNvSpPr/>
            <p:nvPr/>
          </p:nvSpPr>
          <p:spPr>
            <a:xfrm>
              <a:off x="11106150" y="2419350"/>
              <a:ext cx="76200" cy="76200"/>
            </a:xfrm>
            <a:prstGeom prst="ellipse">
              <a:avLst/>
            </a:prstGeom>
            <a:solidFill>
              <a:srgbClr val="FFFFFF"/>
            </a:solidFill>
            <a:ln w="9525">
              <a:solidFill>
                <a:srgbClr val="F0B8AE"/>
              </a:solidFill>
            </a:ln>
          </p:spPr>
        </p:sp>
        <p:sp>
          <p:nvSpPr>
            <p:cNvPr id="290" name="TextBox 290"/>
            <p:cNvSpPr txBox="1"/>
            <p:nvPr/>
          </p:nvSpPr>
          <p:spPr>
            <a:xfrm>
              <a:off x="11478959" y="2407920"/>
              <a:ext cx="130683"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高</a:t>
              </a:r>
            </a:p>
          </p:txBody>
        </p:sp>
        <p:sp>
          <p:nvSpPr>
            <p:cNvPr id="291" name="Freeform 291"/>
            <p:cNvSpPr/>
            <p:nvPr/>
          </p:nvSpPr>
          <p:spPr>
            <a:xfrm>
              <a:off x="7620000" y="3181350"/>
              <a:ext cx="152400" cy="161925"/>
            </a:xfrm>
            <a:custGeom>
              <a:avLst/>
              <a:gdLst/>
              <a:ahLst/>
              <a:cxnLst/>
              <a:rect l="l" t="t" r="r" b="b"/>
              <a:pathLst>
                <a:path w="152400" h="161925">
                  <a:moveTo>
                    <a:pt x="0" y="0"/>
                  </a:moveTo>
                  <a:lnTo>
                    <a:pt x="152400" y="0"/>
                  </a:lnTo>
                  <a:lnTo>
                    <a:pt x="152400" y="20688"/>
                  </a:lnTo>
                  <a:cubicBezTo>
                    <a:pt x="152399" y="25740"/>
                    <a:pt x="150391" y="30585"/>
                    <a:pt x="146818" y="34157"/>
                  </a:cubicBezTo>
                  <a:lnTo>
                    <a:pt x="104775" y="76200"/>
                  </a:lnTo>
                  <a:lnTo>
                    <a:pt x="104775" y="142875"/>
                  </a:lnTo>
                  <a:lnTo>
                    <a:pt x="47625" y="161925"/>
                  </a:lnTo>
                  <a:lnTo>
                    <a:pt x="47625" y="80962"/>
                  </a:lnTo>
                  <a:lnTo>
                    <a:pt x="4953" y="34023"/>
                  </a:lnTo>
                  <a:cubicBezTo>
                    <a:pt x="1766" y="30517"/>
                    <a:pt x="1" y="25950"/>
                    <a:pt x="0" y="21212"/>
                  </a:cubicBezTo>
                  <a:lnTo>
                    <a:pt x="0" y="0"/>
                  </a:lnTo>
                </a:path>
              </a:pathLst>
            </a:custGeom>
            <a:noFill/>
            <a:ln w="19050">
              <a:solidFill>
                <a:srgbClr val="D82000"/>
              </a:solidFill>
            </a:ln>
          </p:spPr>
        </p:sp>
        <p:sp>
          <p:nvSpPr>
            <p:cNvPr id="292" name="TextBox 292"/>
            <p:cNvSpPr txBox="1"/>
            <p:nvPr/>
          </p:nvSpPr>
          <p:spPr>
            <a:xfrm>
              <a:off x="7900988" y="3066336"/>
              <a:ext cx="88710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4A130A"/>
                  </a:solidFill>
                  <a:latin typeface="+mn-lt"/>
                  <a:ea typeface="+mn-ea"/>
                  <a:cs typeface="+mn-cs"/>
                </a:rPr>
                <a:t>产品/服务倾向预测​​</a:t>
              </a:r>
            </a:p>
            <a:p>
              <a:pPr algn="l">
                <a:lnSpc>
                  <a:spcPts val="900"/>
                </a:lnSpc>
              </a:pPr>
              <a:r>
                <a:rPr lang="zh-CN" sz="600" dirty="0">
                  <a:solidFill>
                    <a:srgbClr val="7A716B"/>
                  </a:solidFill>
                  <a:latin typeface="+mn-lt"/>
                  <a:ea typeface="+mn-ea"/>
                  <a:cs typeface="+mn-cs"/>
                </a:rPr>
                <a:t>（Propensity）​​​</a:t>
              </a:r>
            </a:p>
          </p:txBody>
        </p:sp>
        <p:sp>
          <p:nvSpPr>
            <p:cNvPr id="293" name="TextBox 293"/>
            <p:cNvSpPr txBox="1"/>
            <p:nvPr/>
          </p:nvSpPr>
          <p:spPr>
            <a:xfrm>
              <a:off x="7900988" y="3364230"/>
              <a:ext cx="86296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评估购买/申办倾向​​​</a:t>
              </a:r>
            </a:p>
            <a:p>
              <a:pPr algn="l" marL="76200" indent="-76200">
                <a:lnSpc>
                  <a:spcPts val="900"/>
                </a:lnSpc>
                <a:buClr>
                  <a:srgbClr val="3D3835"/>
                </a:buClr>
                <a:buSzTx/>
                <a:buFontTx/>
                <a:buChar char="•"/>
              </a:pPr>
              <a:r>
                <a:rPr lang="zh-CN" sz="600" dirty="0">
                  <a:solidFill>
                    <a:srgbClr val="3D3835"/>
                  </a:solidFill>
                  <a:latin typeface="+mn-lt"/>
                  <a:ea typeface="+mn-ea"/>
                  <a:cs typeface="+mn-cs"/>
                </a:rPr>
                <a:t>精准营销与资源投放​​</a:t>
              </a:r>
            </a:p>
          </p:txBody>
        </p:sp>
        <p:sp>
          <p:nvSpPr>
            <p:cNvPr id="294" name="Ellipse 294"/>
            <p:cNvSpPr/>
            <p:nvPr/>
          </p:nvSpPr>
          <p:spPr>
            <a:xfrm>
              <a:off x="10001250" y="3295650"/>
              <a:ext cx="76200" cy="76200"/>
            </a:xfrm>
            <a:prstGeom prst="ellipse">
              <a:avLst/>
            </a:prstGeom>
            <a:solidFill>
              <a:srgbClr val="C41D00"/>
            </a:solidFill>
            <a:ln>
              <a:noFill/>
            </a:ln>
          </p:spPr>
        </p:sp>
        <p:sp>
          <p:nvSpPr>
            <p:cNvPr id="295" name="Ellipse 295"/>
            <p:cNvSpPr/>
            <p:nvPr/>
          </p:nvSpPr>
          <p:spPr>
            <a:xfrm>
              <a:off x="10106025" y="3295650"/>
              <a:ext cx="76200" cy="76200"/>
            </a:xfrm>
            <a:prstGeom prst="ellipse">
              <a:avLst/>
            </a:prstGeom>
            <a:solidFill>
              <a:srgbClr val="C41D00"/>
            </a:solidFill>
            <a:ln>
              <a:noFill/>
            </a:ln>
          </p:spPr>
        </p:sp>
        <p:sp>
          <p:nvSpPr>
            <p:cNvPr id="296" name="Ellipse 296"/>
            <p:cNvSpPr/>
            <p:nvPr/>
          </p:nvSpPr>
          <p:spPr>
            <a:xfrm>
              <a:off x="10210800" y="3295650"/>
              <a:ext cx="76200" cy="76200"/>
            </a:xfrm>
            <a:prstGeom prst="ellipse">
              <a:avLst/>
            </a:prstGeom>
            <a:solidFill>
              <a:srgbClr val="C41D00"/>
            </a:solidFill>
            <a:ln>
              <a:noFill/>
            </a:ln>
          </p:spPr>
        </p:sp>
        <p:sp>
          <p:nvSpPr>
            <p:cNvPr id="297" name="Ellipse 297"/>
            <p:cNvSpPr/>
            <p:nvPr/>
          </p:nvSpPr>
          <p:spPr>
            <a:xfrm>
              <a:off x="10315575" y="3295650"/>
              <a:ext cx="76200" cy="76200"/>
            </a:xfrm>
            <a:prstGeom prst="ellipse">
              <a:avLst/>
            </a:prstGeom>
            <a:solidFill>
              <a:srgbClr val="C41D00"/>
            </a:solidFill>
            <a:ln>
              <a:noFill/>
            </a:ln>
          </p:spPr>
        </p:sp>
        <p:sp>
          <p:nvSpPr>
            <p:cNvPr id="298" name="Ellipse 298"/>
            <p:cNvSpPr/>
            <p:nvPr/>
          </p:nvSpPr>
          <p:spPr>
            <a:xfrm>
              <a:off x="10420350" y="3295650"/>
              <a:ext cx="76200" cy="76200"/>
            </a:xfrm>
            <a:prstGeom prst="ellipse">
              <a:avLst/>
            </a:prstGeom>
            <a:solidFill>
              <a:srgbClr val="FFFFFF"/>
            </a:solidFill>
            <a:ln w="9525">
              <a:solidFill>
                <a:srgbClr val="F0B8AE"/>
              </a:solidFill>
            </a:ln>
          </p:spPr>
        </p:sp>
        <p:sp>
          <p:nvSpPr>
            <p:cNvPr id="299" name="Ellipse 299"/>
            <p:cNvSpPr/>
            <p:nvPr/>
          </p:nvSpPr>
          <p:spPr>
            <a:xfrm>
              <a:off x="10687050" y="3295650"/>
              <a:ext cx="76200" cy="76200"/>
            </a:xfrm>
            <a:prstGeom prst="ellipse">
              <a:avLst/>
            </a:prstGeom>
            <a:solidFill>
              <a:srgbClr val="C41D00"/>
            </a:solidFill>
            <a:ln>
              <a:noFill/>
            </a:ln>
          </p:spPr>
        </p:sp>
        <p:sp>
          <p:nvSpPr>
            <p:cNvPr id="300" name="Ellipse 300"/>
            <p:cNvSpPr/>
            <p:nvPr/>
          </p:nvSpPr>
          <p:spPr>
            <a:xfrm>
              <a:off x="10791825" y="3295650"/>
              <a:ext cx="76200" cy="76200"/>
            </a:xfrm>
            <a:prstGeom prst="ellipse">
              <a:avLst/>
            </a:prstGeom>
            <a:solidFill>
              <a:srgbClr val="C41D00"/>
            </a:solidFill>
            <a:ln>
              <a:noFill/>
            </a:ln>
          </p:spPr>
        </p:sp>
        <p:sp>
          <p:nvSpPr>
            <p:cNvPr id="301" name="Ellipse 301"/>
            <p:cNvSpPr/>
            <p:nvPr/>
          </p:nvSpPr>
          <p:spPr>
            <a:xfrm>
              <a:off x="10896600" y="3295650"/>
              <a:ext cx="76200" cy="76200"/>
            </a:xfrm>
            <a:prstGeom prst="ellipse">
              <a:avLst/>
            </a:prstGeom>
            <a:solidFill>
              <a:srgbClr val="C41D00"/>
            </a:solidFill>
            <a:ln>
              <a:noFill/>
            </a:ln>
          </p:spPr>
        </p:sp>
        <p:sp>
          <p:nvSpPr>
            <p:cNvPr id="302" name="Ellipse 302"/>
            <p:cNvSpPr/>
            <p:nvPr/>
          </p:nvSpPr>
          <p:spPr>
            <a:xfrm>
              <a:off x="11001375" y="3295650"/>
              <a:ext cx="76200" cy="76200"/>
            </a:xfrm>
            <a:prstGeom prst="ellipse">
              <a:avLst/>
            </a:prstGeom>
            <a:solidFill>
              <a:srgbClr val="FFFFFF"/>
            </a:solidFill>
            <a:ln w="9525">
              <a:solidFill>
                <a:srgbClr val="F0B8AE"/>
              </a:solidFill>
            </a:ln>
          </p:spPr>
        </p:sp>
        <p:sp>
          <p:nvSpPr>
            <p:cNvPr id="303" name="Ellipse 303"/>
            <p:cNvSpPr/>
            <p:nvPr/>
          </p:nvSpPr>
          <p:spPr>
            <a:xfrm>
              <a:off x="11106150" y="3295650"/>
              <a:ext cx="76200" cy="76200"/>
            </a:xfrm>
            <a:prstGeom prst="ellipse">
              <a:avLst/>
            </a:prstGeom>
            <a:solidFill>
              <a:srgbClr val="FFFFFF"/>
            </a:solidFill>
            <a:ln w="9525">
              <a:solidFill>
                <a:srgbClr val="F0B8AE"/>
              </a:solidFill>
            </a:ln>
          </p:spPr>
        </p:sp>
        <p:sp>
          <p:nvSpPr>
            <p:cNvPr id="304" name="TextBox 304"/>
            <p:cNvSpPr txBox="1"/>
            <p:nvPr/>
          </p:nvSpPr>
          <p:spPr>
            <a:xfrm>
              <a:off x="11418380" y="3284220"/>
              <a:ext cx="251841" cy="176212"/>
            </a:xfrm>
            <a:prstGeom prst="rect">
              <a:avLst/>
            </a:prstGeom>
            <a:noFill/>
            <a:ln>
              <a:noFill/>
            </a:ln>
          </p:spPr>
          <p:txBody>
            <a:bodyPr wrap="none" lIns="0" tIns="0" rIns="0" bIns="0" anchor="t" anchorCtr="0">
              <a:spAutoFit/>
            </a:bodyPr>
            <a:lstStyle/>
            <a:p>
              <a:pPr algn="ctr"/>
              <a:r>
                <a:rPr lang="zh-CN" sz="900" b="1" dirty="0">
                  <a:solidFill>
                    <a:srgbClr val="E0371A"/>
                  </a:solidFill>
                  <a:latin typeface="+mn-lt"/>
                  <a:ea typeface="+mn-ea"/>
                  <a:cs typeface="+mn-cs"/>
                </a:rPr>
                <a:t>中高</a:t>
              </a:r>
            </a:p>
          </p:txBody>
        </p:sp>
        <p:grpSp>
          <p:nvGrpSpPr>
            <p:cNvPr id="311" name="Group 311"/>
            <p:cNvGrpSpPr/>
            <p:nvPr/>
          </p:nvGrpSpPr>
          <p:grpSpPr>
            <a:xfrm>
              <a:off x="7620000" y="4048125"/>
              <a:ext cx="152400" cy="171450"/>
              <a:chOff x="7620000" y="4048125"/>
              <a:chExt cx="152400" cy="171450"/>
            </a:xfrm>
          </p:grpSpPr>
          <p:sp>
            <p:nvSpPr>
              <p:cNvPr id="305" name="Freeform 305"/>
              <p:cNvSpPr/>
              <p:nvPr/>
            </p:nvSpPr>
            <p:spPr>
              <a:xfrm>
                <a:off x="7620000" y="4067175"/>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D82000"/>
                </a:solidFill>
              </a:ln>
            </p:spPr>
          </p:sp>
          <p:sp>
            <p:nvSpPr>
              <p:cNvPr id="306" name="Freeform 306"/>
              <p:cNvSpPr/>
              <p:nvPr/>
            </p:nvSpPr>
            <p:spPr>
              <a:xfrm>
                <a:off x="7734300" y="4048125"/>
                <a:ext cx="9525" cy="38100"/>
              </a:xfrm>
              <a:custGeom>
                <a:avLst/>
                <a:gdLst/>
                <a:ahLst/>
                <a:cxnLst/>
                <a:rect l="l" t="t" r="r" b="b"/>
                <a:pathLst>
                  <a:path w="9525" h="38100">
                    <a:moveTo>
                      <a:pt x="0" y="0"/>
                    </a:moveTo>
                    <a:lnTo>
                      <a:pt x="0" y="38100"/>
                    </a:lnTo>
                  </a:path>
                </a:pathLst>
              </a:custGeom>
              <a:noFill/>
              <a:ln w="19050">
                <a:solidFill>
                  <a:srgbClr val="D82000"/>
                </a:solidFill>
              </a:ln>
            </p:spPr>
          </p:sp>
          <p:sp>
            <p:nvSpPr>
              <p:cNvPr id="307" name="Freeform 307"/>
              <p:cNvSpPr/>
              <p:nvPr/>
            </p:nvSpPr>
            <p:spPr>
              <a:xfrm>
                <a:off x="7658100" y="4048125"/>
                <a:ext cx="9525" cy="38100"/>
              </a:xfrm>
              <a:custGeom>
                <a:avLst/>
                <a:gdLst/>
                <a:ahLst/>
                <a:cxnLst/>
                <a:rect l="l" t="t" r="r" b="b"/>
                <a:pathLst>
                  <a:path w="9525" h="38100">
                    <a:moveTo>
                      <a:pt x="0" y="0"/>
                    </a:moveTo>
                    <a:lnTo>
                      <a:pt x="0" y="38100"/>
                    </a:lnTo>
                  </a:path>
                </a:pathLst>
              </a:custGeom>
              <a:noFill/>
              <a:ln w="19050">
                <a:solidFill>
                  <a:srgbClr val="D82000"/>
                </a:solidFill>
              </a:ln>
            </p:spPr>
          </p:sp>
          <p:sp>
            <p:nvSpPr>
              <p:cNvPr id="308" name="Freeform 308"/>
              <p:cNvSpPr/>
              <p:nvPr/>
            </p:nvSpPr>
            <p:spPr>
              <a:xfrm>
                <a:off x="7620000" y="4124325"/>
                <a:ext cx="152400" cy="9525"/>
              </a:xfrm>
              <a:custGeom>
                <a:avLst/>
                <a:gdLst/>
                <a:ahLst/>
                <a:cxnLst/>
                <a:rect l="l" t="t" r="r" b="b"/>
                <a:pathLst>
                  <a:path w="152400" h="9525">
                    <a:moveTo>
                      <a:pt x="0" y="0"/>
                    </a:moveTo>
                    <a:lnTo>
                      <a:pt x="152400" y="0"/>
                    </a:lnTo>
                  </a:path>
                </a:pathLst>
              </a:custGeom>
              <a:noFill/>
              <a:ln w="19050">
                <a:solidFill>
                  <a:srgbClr val="D82000"/>
                </a:solidFill>
              </a:ln>
            </p:spPr>
          </p:sp>
          <p:sp>
            <p:nvSpPr>
              <p:cNvPr id="309" name="Freeform 309"/>
              <p:cNvSpPr/>
              <p:nvPr/>
            </p:nvSpPr>
            <p:spPr>
              <a:xfrm>
                <a:off x="7686675" y="4162425"/>
                <a:ext cx="9525" cy="9525"/>
              </a:xfrm>
              <a:custGeom>
                <a:avLst/>
                <a:gdLst/>
                <a:ahLst/>
                <a:cxnLst/>
                <a:rect l="l" t="t" r="r" b="b"/>
                <a:pathLst>
                  <a:path w="9525" h="9525">
                    <a:moveTo>
                      <a:pt x="0" y="0"/>
                    </a:moveTo>
                    <a:lnTo>
                      <a:pt x="9525" y="0"/>
                    </a:lnTo>
                  </a:path>
                </a:pathLst>
              </a:custGeom>
              <a:noFill/>
              <a:ln w="19050">
                <a:solidFill>
                  <a:srgbClr val="D82000"/>
                </a:solidFill>
              </a:ln>
            </p:spPr>
          </p:sp>
          <p:sp>
            <p:nvSpPr>
              <p:cNvPr id="310" name="Freeform 310"/>
              <p:cNvSpPr/>
              <p:nvPr/>
            </p:nvSpPr>
            <p:spPr>
              <a:xfrm>
                <a:off x="7696200" y="4162425"/>
                <a:ext cx="9525" cy="28575"/>
              </a:xfrm>
              <a:custGeom>
                <a:avLst/>
                <a:gdLst/>
                <a:ahLst/>
                <a:cxnLst/>
                <a:rect l="l" t="t" r="r" b="b"/>
                <a:pathLst>
                  <a:path w="9525" h="28575">
                    <a:moveTo>
                      <a:pt x="0" y="0"/>
                    </a:moveTo>
                    <a:lnTo>
                      <a:pt x="0" y="28575"/>
                    </a:lnTo>
                  </a:path>
                </a:pathLst>
              </a:custGeom>
              <a:noFill/>
              <a:ln w="19050">
                <a:solidFill>
                  <a:srgbClr val="D82000"/>
                </a:solidFill>
              </a:ln>
            </p:spPr>
          </p:sp>
        </p:grpSp>
        <p:sp>
          <p:nvSpPr>
            <p:cNvPr id="312" name="TextBox 312"/>
            <p:cNvSpPr txBox="1"/>
            <p:nvPr/>
          </p:nvSpPr>
          <p:spPr>
            <a:xfrm>
              <a:off x="7900988" y="3942636"/>
              <a:ext cx="782958"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4A130A"/>
                  </a:solidFill>
                  <a:latin typeface="+mn-lt"/>
                  <a:ea typeface="+mn-ea"/>
                  <a:cs typeface="+mn-cs"/>
                </a:rPr>
                <a:t>生命周期事件洞察​</a:t>
              </a:r>
            </a:p>
            <a:p>
              <a:pPr algn="l">
                <a:lnSpc>
                  <a:spcPts val="900"/>
                </a:lnSpc>
              </a:pPr>
              <a:r>
                <a:rPr lang="zh-CN" sz="600" dirty="0">
                  <a:solidFill>
                    <a:srgbClr val="7A716B"/>
                  </a:solidFill>
                  <a:latin typeface="+mn-lt"/>
                  <a:ea typeface="+mn-ea"/>
                  <a:cs typeface="+mn-cs"/>
                </a:rPr>
                <a:t>（Life Event）​​​</a:t>
              </a:r>
            </a:p>
          </p:txBody>
        </p:sp>
        <p:sp>
          <p:nvSpPr>
            <p:cNvPr id="313" name="TextBox 313"/>
            <p:cNvSpPr txBox="1"/>
            <p:nvPr/>
          </p:nvSpPr>
          <p:spPr>
            <a:xfrm>
              <a:off x="7900988" y="4240530"/>
              <a:ext cx="101536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识别关键人生/企业事件​​​</a:t>
              </a:r>
            </a:p>
            <a:p>
              <a:pPr algn="l" marL="76200" indent="-76200">
                <a:lnSpc>
                  <a:spcPts val="900"/>
                </a:lnSpc>
                <a:buClr>
                  <a:srgbClr val="3D3835"/>
                </a:buClr>
                <a:buSzTx/>
                <a:buFontTx/>
                <a:buChar char="•"/>
              </a:pPr>
              <a:r>
                <a:rPr lang="zh-CN" sz="600" dirty="0">
                  <a:solidFill>
                    <a:srgbClr val="3D3835"/>
                  </a:solidFill>
                  <a:latin typeface="+mn-lt"/>
                  <a:ea typeface="+mn-ea"/>
                  <a:cs typeface="+mn-cs"/>
                </a:rPr>
                <a:t>匹配金融需求与方案​​</a:t>
              </a:r>
            </a:p>
          </p:txBody>
        </p:sp>
        <p:sp>
          <p:nvSpPr>
            <p:cNvPr id="314" name="Ellipse 314"/>
            <p:cNvSpPr/>
            <p:nvPr/>
          </p:nvSpPr>
          <p:spPr>
            <a:xfrm>
              <a:off x="10001250" y="4171950"/>
              <a:ext cx="76200" cy="76200"/>
            </a:xfrm>
            <a:prstGeom prst="ellipse">
              <a:avLst/>
            </a:prstGeom>
            <a:solidFill>
              <a:srgbClr val="C41D00"/>
            </a:solidFill>
            <a:ln>
              <a:noFill/>
            </a:ln>
          </p:spPr>
        </p:sp>
        <p:sp>
          <p:nvSpPr>
            <p:cNvPr id="315" name="Ellipse 315"/>
            <p:cNvSpPr/>
            <p:nvPr/>
          </p:nvSpPr>
          <p:spPr>
            <a:xfrm>
              <a:off x="10106025" y="4171950"/>
              <a:ext cx="76200" cy="76200"/>
            </a:xfrm>
            <a:prstGeom prst="ellipse">
              <a:avLst/>
            </a:prstGeom>
            <a:solidFill>
              <a:srgbClr val="C41D00"/>
            </a:solidFill>
            <a:ln>
              <a:noFill/>
            </a:ln>
          </p:spPr>
        </p:sp>
        <p:sp>
          <p:nvSpPr>
            <p:cNvPr id="316" name="Ellipse 316"/>
            <p:cNvSpPr/>
            <p:nvPr/>
          </p:nvSpPr>
          <p:spPr>
            <a:xfrm>
              <a:off x="10210800" y="4171950"/>
              <a:ext cx="76200" cy="76200"/>
            </a:xfrm>
            <a:prstGeom prst="ellipse">
              <a:avLst/>
            </a:prstGeom>
            <a:solidFill>
              <a:srgbClr val="C41D00"/>
            </a:solidFill>
            <a:ln>
              <a:noFill/>
            </a:ln>
          </p:spPr>
        </p:sp>
        <p:sp>
          <p:nvSpPr>
            <p:cNvPr id="317" name="Ellipse 317"/>
            <p:cNvSpPr/>
            <p:nvPr/>
          </p:nvSpPr>
          <p:spPr>
            <a:xfrm>
              <a:off x="10315575" y="4171950"/>
              <a:ext cx="76200" cy="76200"/>
            </a:xfrm>
            <a:prstGeom prst="ellipse">
              <a:avLst/>
            </a:prstGeom>
            <a:solidFill>
              <a:srgbClr val="C41D00"/>
            </a:solidFill>
            <a:ln>
              <a:noFill/>
            </a:ln>
          </p:spPr>
        </p:sp>
        <p:sp>
          <p:nvSpPr>
            <p:cNvPr id="318" name="Ellipse 318"/>
            <p:cNvSpPr/>
            <p:nvPr/>
          </p:nvSpPr>
          <p:spPr>
            <a:xfrm>
              <a:off x="10420350" y="4171950"/>
              <a:ext cx="76200" cy="76200"/>
            </a:xfrm>
            <a:prstGeom prst="ellipse">
              <a:avLst/>
            </a:prstGeom>
            <a:solidFill>
              <a:srgbClr val="FFFFFF"/>
            </a:solidFill>
            <a:ln w="9525">
              <a:solidFill>
                <a:srgbClr val="F0B8AE"/>
              </a:solidFill>
            </a:ln>
          </p:spPr>
        </p:sp>
        <p:sp>
          <p:nvSpPr>
            <p:cNvPr id="319" name="Ellipse 319"/>
            <p:cNvSpPr/>
            <p:nvPr/>
          </p:nvSpPr>
          <p:spPr>
            <a:xfrm>
              <a:off x="10687050" y="4171950"/>
              <a:ext cx="76200" cy="76200"/>
            </a:xfrm>
            <a:prstGeom prst="ellipse">
              <a:avLst/>
            </a:prstGeom>
            <a:solidFill>
              <a:srgbClr val="C41D00"/>
            </a:solidFill>
            <a:ln>
              <a:noFill/>
            </a:ln>
          </p:spPr>
        </p:sp>
        <p:sp>
          <p:nvSpPr>
            <p:cNvPr id="320" name="Ellipse 320"/>
            <p:cNvSpPr/>
            <p:nvPr/>
          </p:nvSpPr>
          <p:spPr>
            <a:xfrm>
              <a:off x="10791825" y="4171950"/>
              <a:ext cx="76200" cy="76200"/>
            </a:xfrm>
            <a:prstGeom prst="ellipse">
              <a:avLst/>
            </a:prstGeom>
            <a:solidFill>
              <a:srgbClr val="C41D00"/>
            </a:solidFill>
            <a:ln>
              <a:noFill/>
            </a:ln>
          </p:spPr>
        </p:sp>
        <p:sp>
          <p:nvSpPr>
            <p:cNvPr id="321" name="Ellipse 321"/>
            <p:cNvSpPr/>
            <p:nvPr/>
          </p:nvSpPr>
          <p:spPr>
            <a:xfrm>
              <a:off x="10896600" y="4171950"/>
              <a:ext cx="76200" cy="76200"/>
            </a:xfrm>
            <a:prstGeom prst="ellipse">
              <a:avLst/>
            </a:prstGeom>
            <a:solidFill>
              <a:srgbClr val="C41D00"/>
            </a:solidFill>
            <a:ln>
              <a:noFill/>
            </a:ln>
          </p:spPr>
        </p:sp>
        <p:sp>
          <p:nvSpPr>
            <p:cNvPr id="322" name="Ellipse 322"/>
            <p:cNvSpPr/>
            <p:nvPr/>
          </p:nvSpPr>
          <p:spPr>
            <a:xfrm>
              <a:off x="11001375" y="4171950"/>
              <a:ext cx="76200" cy="76200"/>
            </a:xfrm>
            <a:prstGeom prst="ellipse">
              <a:avLst/>
            </a:prstGeom>
            <a:solidFill>
              <a:srgbClr val="FFFFFF"/>
            </a:solidFill>
            <a:ln w="9525">
              <a:solidFill>
                <a:srgbClr val="F0B8AE"/>
              </a:solidFill>
            </a:ln>
          </p:spPr>
        </p:sp>
        <p:sp>
          <p:nvSpPr>
            <p:cNvPr id="323" name="Ellipse 323"/>
            <p:cNvSpPr/>
            <p:nvPr/>
          </p:nvSpPr>
          <p:spPr>
            <a:xfrm>
              <a:off x="11106150" y="4171950"/>
              <a:ext cx="76200" cy="76200"/>
            </a:xfrm>
            <a:prstGeom prst="ellipse">
              <a:avLst/>
            </a:prstGeom>
            <a:solidFill>
              <a:srgbClr val="FFFFFF"/>
            </a:solidFill>
            <a:ln w="9525">
              <a:solidFill>
                <a:srgbClr val="F0B8AE"/>
              </a:solidFill>
            </a:ln>
          </p:spPr>
        </p:sp>
        <p:sp>
          <p:nvSpPr>
            <p:cNvPr id="324" name="TextBox 324"/>
            <p:cNvSpPr txBox="1"/>
            <p:nvPr/>
          </p:nvSpPr>
          <p:spPr>
            <a:xfrm>
              <a:off x="11418380" y="4160520"/>
              <a:ext cx="251841" cy="176212"/>
            </a:xfrm>
            <a:prstGeom prst="rect">
              <a:avLst/>
            </a:prstGeom>
            <a:noFill/>
            <a:ln>
              <a:noFill/>
            </a:ln>
          </p:spPr>
          <p:txBody>
            <a:bodyPr wrap="none" lIns="0" tIns="0" rIns="0" bIns="0" anchor="t" anchorCtr="0">
              <a:spAutoFit/>
            </a:bodyPr>
            <a:lstStyle/>
            <a:p>
              <a:pPr algn="ctr"/>
              <a:r>
                <a:rPr lang="zh-CN" sz="900" b="1" dirty="0">
                  <a:solidFill>
                    <a:srgbClr val="E0371A"/>
                  </a:solidFill>
                  <a:latin typeface="+mn-lt"/>
                  <a:ea typeface="+mn-ea"/>
                  <a:cs typeface="+mn-cs"/>
                </a:rPr>
                <a:t>中高</a:t>
              </a:r>
            </a:p>
          </p:txBody>
        </p:sp>
        <p:grpSp>
          <p:nvGrpSpPr>
            <p:cNvPr id="329" name="Group 329"/>
            <p:cNvGrpSpPr/>
            <p:nvPr/>
          </p:nvGrpSpPr>
          <p:grpSpPr>
            <a:xfrm>
              <a:off x="7610475" y="4924425"/>
              <a:ext cx="171450" cy="171450"/>
              <a:chOff x="7610475" y="4924425"/>
              <a:chExt cx="171450" cy="171450"/>
            </a:xfrm>
          </p:grpSpPr>
          <p:sp>
            <p:nvSpPr>
              <p:cNvPr id="325" name="Freeform 325"/>
              <p:cNvSpPr/>
              <p:nvPr/>
            </p:nvSpPr>
            <p:spPr>
              <a:xfrm>
                <a:off x="7629525" y="49244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D82000"/>
                </a:solidFill>
              </a:ln>
            </p:spPr>
          </p:sp>
          <p:sp>
            <p:nvSpPr>
              <p:cNvPr id="326" name="Freeform 326"/>
              <p:cNvSpPr/>
              <p:nvPr/>
            </p:nvSpPr>
            <p:spPr>
              <a:xfrm>
                <a:off x="7610475" y="50387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D82000"/>
                </a:solidFill>
              </a:ln>
            </p:spPr>
          </p:sp>
          <p:sp>
            <p:nvSpPr>
              <p:cNvPr id="327" name="Freeform 327"/>
              <p:cNvSpPr/>
              <p:nvPr/>
            </p:nvSpPr>
            <p:spPr>
              <a:xfrm>
                <a:off x="7734300" y="49256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D82000"/>
                </a:solidFill>
              </a:ln>
            </p:spPr>
          </p:sp>
          <p:sp>
            <p:nvSpPr>
              <p:cNvPr id="328" name="Freeform 328"/>
              <p:cNvSpPr/>
              <p:nvPr/>
            </p:nvSpPr>
            <p:spPr>
              <a:xfrm>
                <a:off x="7753350" y="50401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D82000"/>
                </a:solidFill>
              </a:ln>
            </p:spPr>
          </p:sp>
        </p:grpSp>
        <p:sp>
          <p:nvSpPr>
            <p:cNvPr id="330" name="TextBox 330"/>
            <p:cNvSpPr txBox="1"/>
            <p:nvPr/>
          </p:nvSpPr>
          <p:spPr>
            <a:xfrm>
              <a:off x="7900988" y="4818936"/>
              <a:ext cx="90106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4A130A"/>
                  </a:solidFill>
                  <a:latin typeface="+mn-lt"/>
                  <a:ea typeface="+mn-ea"/>
                  <a:cs typeface="+mn-cs"/>
                </a:rPr>
                <a:t>服务路由与工单分配​</a:t>
              </a:r>
            </a:p>
            <a:p>
              <a:pPr algn="l">
                <a:lnSpc>
                  <a:spcPts val="900"/>
                </a:lnSpc>
              </a:pPr>
              <a:r>
                <a:rPr lang="zh-CN" sz="600" dirty="0">
                  <a:solidFill>
                    <a:srgbClr val="7A716B"/>
                  </a:solidFill>
                  <a:latin typeface="+mn-lt"/>
                  <a:ea typeface="+mn-ea"/>
                  <a:cs typeface="+mn-cs"/>
                </a:rPr>
                <a:t>（Service Routing）​​​​</a:t>
              </a:r>
            </a:p>
          </p:txBody>
        </p:sp>
        <p:sp>
          <p:nvSpPr>
            <p:cNvPr id="331" name="TextBox 331"/>
            <p:cNvSpPr txBox="1"/>
            <p:nvPr/>
          </p:nvSpPr>
          <p:spPr>
            <a:xfrm>
              <a:off x="7900988" y="5116830"/>
              <a:ext cx="101536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智能分配服务渠道/网点​​​</a:t>
              </a:r>
            </a:p>
            <a:p>
              <a:pPr algn="l" marL="76200" indent="-76200">
                <a:lnSpc>
                  <a:spcPts val="900"/>
                </a:lnSpc>
                <a:buClr>
                  <a:srgbClr val="3D3835"/>
                </a:buClr>
                <a:buSzTx/>
                <a:buFontTx/>
                <a:buChar char="•"/>
              </a:pPr>
              <a:r>
                <a:rPr lang="zh-CN" sz="600" dirty="0">
                  <a:solidFill>
                    <a:srgbClr val="3D3835"/>
                  </a:solidFill>
                  <a:latin typeface="+mn-lt"/>
                  <a:ea typeface="+mn-ea"/>
                  <a:cs typeface="+mn-cs"/>
                </a:rPr>
                <a:t>提升解决率与满意度​​</a:t>
              </a:r>
            </a:p>
          </p:txBody>
        </p:sp>
        <p:sp>
          <p:nvSpPr>
            <p:cNvPr id="332" name="Ellipse 332"/>
            <p:cNvSpPr/>
            <p:nvPr/>
          </p:nvSpPr>
          <p:spPr>
            <a:xfrm>
              <a:off x="10001250" y="5048250"/>
              <a:ext cx="76200" cy="76200"/>
            </a:xfrm>
            <a:prstGeom prst="ellipse">
              <a:avLst/>
            </a:prstGeom>
            <a:solidFill>
              <a:srgbClr val="C41D00"/>
            </a:solidFill>
            <a:ln>
              <a:noFill/>
            </a:ln>
          </p:spPr>
        </p:sp>
        <p:sp>
          <p:nvSpPr>
            <p:cNvPr id="333" name="Ellipse 333"/>
            <p:cNvSpPr/>
            <p:nvPr/>
          </p:nvSpPr>
          <p:spPr>
            <a:xfrm>
              <a:off x="10106025" y="5048250"/>
              <a:ext cx="76200" cy="76200"/>
            </a:xfrm>
            <a:prstGeom prst="ellipse">
              <a:avLst/>
            </a:prstGeom>
            <a:solidFill>
              <a:srgbClr val="C41D00"/>
            </a:solidFill>
            <a:ln>
              <a:noFill/>
            </a:ln>
          </p:spPr>
        </p:sp>
        <p:sp>
          <p:nvSpPr>
            <p:cNvPr id="334" name="Ellipse 334"/>
            <p:cNvSpPr/>
            <p:nvPr/>
          </p:nvSpPr>
          <p:spPr>
            <a:xfrm>
              <a:off x="10210800" y="5048250"/>
              <a:ext cx="76200" cy="76200"/>
            </a:xfrm>
            <a:prstGeom prst="ellipse">
              <a:avLst/>
            </a:prstGeom>
            <a:solidFill>
              <a:srgbClr val="C41D00"/>
            </a:solidFill>
            <a:ln>
              <a:noFill/>
            </a:ln>
          </p:spPr>
        </p:sp>
        <p:sp>
          <p:nvSpPr>
            <p:cNvPr id="335" name="Ellipse 335"/>
            <p:cNvSpPr/>
            <p:nvPr/>
          </p:nvSpPr>
          <p:spPr>
            <a:xfrm>
              <a:off x="10315575" y="5048250"/>
              <a:ext cx="76200" cy="76200"/>
            </a:xfrm>
            <a:prstGeom prst="ellipse">
              <a:avLst/>
            </a:prstGeom>
            <a:solidFill>
              <a:srgbClr val="FFFFFF"/>
            </a:solidFill>
            <a:ln w="9525">
              <a:solidFill>
                <a:srgbClr val="F0B8AE"/>
              </a:solidFill>
            </a:ln>
          </p:spPr>
        </p:sp>
        <p:sp>
          <p:nvSpPr>
            <p:cNvPr id="336" name="Ellipse 336"/>
            <p:cNvSpPr/>
            <p:nvPr/>
          </p:nvSpPr>
          <p:spPr>
            <a:xfrm>
              <a:off x="10420350" y="5048250"/>
              <a:ext cx="76200" cy="76200"/>
            </a:xfrm>
            <a:prstGeom prst="ellipse">
              <a:avLst/>
            </a:prstGeom>
            <a:solidFill>
              <a:srgbClr val="FFFFFF"/>
            </a:solidFill>
            <a:ln w="9525">
              <a:solidFill>
                <a:srgbClr val="F0B8AE"/>
              </a:solidFill>
            </a:ln>
          </p:spPr>
        </p:sp>
        <p:sp>
          <p:nvSpPr>
            <p:cNvPr id="337" name="Ellipse 337"/>
            <p:cNvSpPr/>
            <p:nvPr/>
          </p:nvSpPr>
          <p:spPr>
            <a:xfrm>
              <a:off x="10687050" y="5048250"/>
              <a:ext cx="76200" cy="76200"/>
            </a:xfrm>
            <a:prstGeom prst="ellipse">
              <a:avLst/>
            </a:prstGeom>
            <a:solidFill>
              <a:srgbClr val="C41D00"/>
            </a:solidFill>
            <a:ln>
              <a:noFill/>
            </a:ln>
          </p:spPr>
        </p:sp>
        <p:sp>
          <p:nvSpPr>
            <p:cNvPr id="338" name="Ellipse 338"/>
            <p:cNvSpPr/>
            <p:nvPr/>
          </p:nvSpPr>
          <p:spPr>
            <a:xfrm>
              <a:off x="10791825" y="5048250"/>
              <a:ext cx="76200" cy="76200"/>
            </a:xfrm>
            <a:prstGeom prst="ellipse">
              <a:avLst/>
            </a:prstGeom>
            <a:solidFill>
              <a:srgbClr val="C41D00"/>
            </a:solidFill>
            <a:ln>
              <a:noFill/>
            </a:ln>
          </p:spPr>
        </p:sp>
        <p:sp>
          <p:nvSpPr>
            <p:cNvPr id="339" name="Ellipse 339"/>
            <p:cNvSpPr/>
            <p:nvPr/>
          </p:nvSpPr>
          <p:spPr>
            <a:xfrm>
              <a:off x="10896600" y="5048250"/>
              <a:ext cx="76200" cy="76200"/>
            </a:xfrm>
            <a:prstGeom prst="ellipse">
              <a:avLst/>
            </a:prstGeom>
            <a:solidFill>
              <a:srgbClr val="C41D00"/>
            </a:solidFill>
            <a:ln>
              <a:noFill/>
            </a:ln>
          </p:spPr>
        </p:sp>
        <p:sp>
          <p:nvSpPr>
            <p:cNvPr id="340" name="Ellipse 340"/>
            <p:cNvSpPr/>
            <p:nvPr/>
          </p:nvSpPr>
          <p:spPr>
            <a:xfrm>
              <a:off x="11001375" y="5048250"/>
              <a:ext cx="76200" cy="76200"/>
            </a:xfrm>
            <a:prstGeom prst="ellipse">
              <a:avLst/>
            </a:prstGeom>
            <a:solidFill>
              <a:srgbClr val="FFFFFF"/>
            </a:solidFill>
            <a:ln w="9525">
              <a:solidFill>
                <a:srgbClr val="F0B8AE"/>
              </a:solidFill>
            </a:ln>
          </p:spPr>
        </p:sp>
        <p:sp>
          <p:nvSpPr>
            <p:cNvPr id="341" name="Ellipse 341"/>
            <p:cNvSpPr/>
            <p:nvPr/>
          </p:nvSpPr>
          <p:spPr>
            <a:xfrm>
              <a:off x="11106150" y="5048250"/>
              <a:ext cx="76200" cy="76200"/>
            </a:xfrm>
            <a:prstGeom prst="ellipse">
              <a:avLst/>
            </a:prstGeom>
            <a:solidFill>
              <a:srgbClr val="FFFFFF"/>
            </a:solidFill>
            <a:ln w="9525">
              <a:solidFill>
                <a:srgbClr val="F0B8AE"/>
              </a:solidFill>
            </a:ln>
          </p:spPr>
        </p:sp>
        <p:sp>
          <p:nvSpPr>
            <p:cNvPr id="342" name="TextBox 342"/>
            <p:cNvSpPr txBox="1"/>
            <p:nvPr/>
          </p:nvSpPr>
          <p:spPr>
            <a:xfrm>
              <a:off x="11478959" y="5036820"/>
              <a:ext cx="130683" cy="176212"/>
            </a:xfrm>
            <a:prstGeom prst="rect">
              <a:avLst/>
            </a:prstGeom>
            <a:noFill/>
            <a:ln>
              <a:noFill/>
            </a:ln>
          </p:spPr>
          <p:txBody>
            <a:bodyPr wrap="none" lIns="0" tIns="0" rIns="0" bIns="0" anchor="t" anchorCtr="0">
              <a:spAutoFit/>
            </a:bodyPr>
            <a:lstStyle/>
            <a:p>
              <a:pPr algn="ctr"/>
              <a:r>
                <a:rPr lang="zh-CN" sz="900" b="1" dirty="0">
                  <a:solidFill>
                    <a:srgbClr val="EE492C"/>
                  </a:solidFill>
                  <a:latin typeface="+mn-lt"/>
                  <a:ea typeface="+mn-ea"/>
                  <a:cs typeface="+mn-cs"/>
                </a:rPr>
                <a:t>中</a:t>
              </a:r>
            </a:p>
          </p:txBody>
        </p:sp>
        <p:grpSp>
          <p:nvGrpSpPr>
            <p:cNvPr id="345" name="Group 345"/>
            <p:cNvGrpSpPr/>
            <p:nvPr/>
          </p:nvGrpSpPr>
          <p:grpSpPr>
            <a:xfrm>
              <a:off x="7597621" y="5800725"/>
              <a:ext cx="186006" cy="171450"/>
              <a:chOff x="7597621" y="5800725"/>
              <a:chExt cx="186006" cy="171450"/>
            </a:xfrm>
          </p:grpSpPr>
          <p:sp>
            <p:nvSpPr>
              <p:cNvPr id="343" name="Freeform 343"/>
              <p:cNvSpPr/>
              <p:nvPr/>
            </p:nvSpPr>
            <p:spPr>
              <a:xfrm>
                <a:off x="7597621" y="58007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1"/>
                    </a:cubicBezTo>
                  </a:path>
                </a:pathLst>
              </a:custGeom>
              <a:noFill/>
              <a:ln w="19050">
                <a:solidFill>
                  <a:srgbClr val="D82000"/>
                </a:solidFill>
              </a:ln>
            </p:spPr>
          </p:sp>
          <p:sp>
            <p:nvSpPr>
              <p:cNvPr id="344" name="Freeform 344"/>
              <p:cNvSpPr/>
              <p:nvPr/>
            </p:nvSpPr>
            <p:spPr>
              <a:xfrm>
                <a:off x="7724775" y="5934075"/>
                <a:ext cx="57150" cy="38100"/>
              </a:xfrm>
              <a:custGeom>
                <a:avLst/>
                <a:gdLst/>
                <a:ahLst/>
                <a:cxnLst/>
                <a:rect l="l" t="t" r="r" b="b"/>
                <a:pathLst>
                  <a:path w="57150" h="38100">
                    <a:moveTo>
                      <a:pt x="0" y="19050"/>
                    </a:moveTo>
                    <a:lnTo>
                      <a:pt x="19050" y="38100"/>
                    </a:lnTo>
                    <a:lnTo>
                      <a:pt x="57150" y="0"/>
                    </a:lnTo>
                  </a:path>
                </a:pathLst>
              </a:custGeom>
              <a:noFill/>
              <a:ln w="19050">
                <a:solidFill>
                  <a:srgbClr val="D82000"/>
                </a:solidFill>
              </a:ln>
            </p:spPr>
          </p:sp>
        </p:grpSp>
        <p:sp>
          <p:nvSpPr>
            <p:cNvPr id="346" name="TextBox 346"/>
            <p:cNvSpPr txBox="1"/>
            <p:nvPr/>
          </p:nvSpPr>
          <p:spPr>
            <a:xfrm>
              <a:off x="7900988" y="5695236"/>
              <a:ext cx="102679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4A130A"/>
                  </a:solidFill>
                  <a:latin typeface="+mn-lt"/>
                  <a:ea typeface="+mn-ea"/>
                  <a:cs typeface="+mn-cs"/>
                </a:rPr>
                <a:t>欺诈风险协同​</a:t>
              </a:r>
            </a:p>
            <a:p>
              <a:pPr algn="l">
                <a:lnSpc>
                  <a:spcPts val="900"/>
                </a:lnSpc>
              </a:pPr>
              <a:r>
                <a:rPr lang="zh-CN" sz="600" dirty="0">
                  <a:solidFill>
                    <a:srgbClr val="7A716B"/>
                  </a:solidFill>
                  <a:latin typeface="+mn-lt"/>
                  <a:ea typeface="+mn-ea"/>
                  <a:cs typeface="+mn-cs"/>
                </a:rPr>
                <a:t>（Fraud Coordination）​​​​</a:t>
              </a:r>
            </a:p>
          </p:txBody>
        </p:sp>
        <p:sp>
          <p:nvSpPr>
            <p:cNvPr id="347" name="TextBox 347"/>
            <p:cNvSpPr txBox="1"/>
            <p:nvPr/>
          </p:nvSpPr>
          <p:spPr>
            <a:xfrm>
              <a:off x="7900988" y="5993130"/>
              <a:ext cx="86296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交易/账户风险防控​​​</a:t>
              </a:r>
            </a:p>
            <a:p>
              <a:pPr algn="l" marL="76200" indent="-76200">
                <a:lnSpc>
                  <a:spcPts val="900"/>
                </a:lnSpc>
                <a:buClr>
                  <a:srgbClr val="3D3835"/>
                </a:buClr>
                <a:buSzTx/>
                <a:buFontTx/>
                <a:buChar char="•"/>
              </a:pPr>
              <a:r>
                <a:rPr lang="zh-CN" sz="600" dirty="0">
                  <a:solidFill>
                    <a:srgbClr val="3D3835"/>
                  </a:solidFill>
                  <a:latin typeface="+mn-lt"/>
                  <a:ea typeface="+mn-ea"/>
                  <a:cs typeface="+mn-cs"/>
                </a:rPr>
                <a:t>提升异常识别与处置​​</a:t>
              </a:r>
            </a:p>
          </p:txBody>
        </p:sp>
        <p:sp>
          <p:nvSpPr>
            <p:cNvPr id="348" name="Ellipse 348"/>
            <p:cNvSpPr/>
            <p:nvPr/>
          </p:nvSpPr>
          <p:spPr>
            <a:xfrm>
              <a:off x="10001250" y="5924550"/>
              <a:ext cx="76200" cy="76200"/>
            </a:xfrm>
            <a:prstGeom prst="ellipse">
              <a:avLst/>
            </a:prstGeom>
            <a:solidFill>
              <a:srgbClr val="C41D00"/>
            </a:solidFill>
            <a:ln>
              <a:noFill/>
            </a:ln>
          </p:spPr>
        </p:sp>
        <p:sp>
          <p:nvSpPr>
            <p:cNvPr id="349" name="Ellipse 349"/>
            <p:cNvSpPr/>
            <p:nvPr/>
          </p:nvSpPr>
          <p:spPr>
            <a:xfrm>
              <a:off x="10106025" y="5924550"/>
              <a:ext cx="76200" cy="76200"/>
            </a:xfrm>
            <a:prstGeom prst="ellipse">
              <a:avLst/>
            </a:prstGeom>
            <a:solidFill>
              <a:srgbClr val="C41D00"/>
            </a:solidFill>
            <a:ln>
              <a:noFill/>
            </a:ln>
          </p:spPr>
        </p:sp>
        <p:sp>
          <p:nvSpPr>
            <p:cNvPr id="350" name="Ellipse 350"/>
            <p:cNvSpPr/>
            <p:nvPr/>
          </p:nvSpPr>
          <p:spPr>
            <a:xfrm>
              <a:off x="10210800" y="5924550"/>
              <a:ext cx="76200" cy="76200"/>
            </a:xfrm>
            <a:prstGeom prst="ellipse">
              <a:avLst/>
            </a:prstGeom>
            <a:solidFill>
              <a:srgbClr val="C41D00"/>
            </a:solidFill>
            <a:ln>
              <a:noFill/>
            </a:ln>
          </p:spPr>
        </p:sp>
        <p:sp>
          <p:nvSpPr>
            <p:cNvPr id="351" name="Ellipse 351"/>
            <p:cNvSpPr/>
            <p:nvPr/>
          </p:nvSpPr>
          <p:spPr>
            <a:xfrm>
              <a:off x="10315575" y="5924550"/>
              <a:ext cx="76200" cy="76200"/>
            </a:xfrm>
            <a:prstGeom prst="ellipse">
              <a:avLst/>
            </a:prstGeom>
            <a:solidFill>
              <a:srgbClr val="C41D00"/>
            </a:solidFill>
            <a:ln>
              <a:noFill/>
            </a:ln>
          </p:spPr>
        </p:sp>
        <p:sp>
          <p:nvSpPr>
            <p:cNvPr id="352" name="Ellipse 352"/>
            <p:cNvSpPr/>
            <p:nvPr/>
          </p:nvSpPr>
          <p:spPr>
            <a:xfrm>
              <a:off x="10420350" y="5924550"/>
              <a:ext cx="76200" cy="76200"/>
            </a:xfrm>
            <a:prstGeom prst="ellipse">
              <a:avLst/>
            </a:prstGeom>
            <a:solidFill>
              <a:srgbClr val="C41D00"/>
            </a:solidFill>
            <a:ln>
              <a:noFill/>
            </a:ln>
          </p:spPr>
        </p:sp>
        <p:sp>
          <p:nvSpPr>
            <p:cNvPr id="353" name="Ellipse 353"/>
            <p:cNvSpPr/>
            <p:nvPr/>
          </p:nvSpPr>
          <p:spPr>
            <a:xfrm>
              <a:off x="10687050" y="5924550"/>
              <a:ext cx="76200" cy="76200"/>
            </a:xfrm>
            <a:prstGeom prst="ellipse">
              <a:avLst/>
            </a:prstGeom>
            <a:solidFill>
              <a:srgbClr val="C41D00"/>
            </a:solidFill>
            <a:ln>
              <a:noFill/>
            </a:ln>
          </p:spPr>
        </p:sp>
        <p:sp>
          <p:nvSpPr>
            <p:cNvPr id="354" name="Ellipse 354"/>
            <p:cNvSpPr/>
            <p:nvPr/>
          </p:nvSpPr>
          <p:spPr>
            <a:xfrm>
              <a:off x="10791825" y="5924550"/>
              <a:ext cx="76200" cy="76200"/>
            </a:xfrm>
            <a:prstGeom prst="ellipse">
              <a:avLst/>
            </a:prstGeom>
            <a:solidFill>
              <a:srgbClr val="C41D00"/>
            </a:solidFill>
            <a:ln>
              <a:noFill/>
            </a:ln>
          </p:spPr>
        </p:sp>
        <p:sp>
          <p:nvSpPr>
            <p:cNvPr id="355" name="Ellipse 355"/>
            <p:cNvSpPr/>
            <p:nvPr/>
          </p:nvSpPr>
          <p:spPr>
            <a:xfrm>
              <a:off x="10896600" y="5924550"/>
              <a:ext cx="76200" cy="76200"/>
            </a:xfrm>
            <a:prstGeom prst="ellipse">
              <a:avLst/>
            </a:prstGeom>
            <a:solidFill>
              <a:srgbClr val="C41D00"/>
            </a:solidFill>
            <a:ln>
              <a:noFill/>
            </a:ln>
          </p:spPr>
        </p:sp>
        <p:sp>
          <p:nvSpPr>
            <p:cNvPr id="356" name="Ellipse 356"/>
            <p:cNvSpPr/>
            <p:nvPr/>
          </p:nvSpPr>
          <p:spPr>
            <a:xfrm>
              <a:off x="11001375" y="5924550"/>
              <a:ext cx="76200" cy="76200"/>
            </a:xfrm>
            <a:prstGeom prst="ellipse">
              <a:avLst/>
            </a:prstGeom>
            <a:solidFill>
              <a:srgbClr val="FFFFFF"/>
            </a:solidFill>
            <a:ln w="9525">
              <a:solidFill>
                <a:srgbClr val="F0B8AE"/>
              </a:solidFill>
            </a:ln>
          </p:spPr>
        </p:sp>
        <p:sp>
          <p:nvSpPr>
            <p:cNvPr id="357" name="Ellipse 357"/>
            <p:cNvSpPr/>
            <p:nvPr/>
          </p:nvSpPr>
          <p:spPr>
            <a:xfrm>
              <a:off x="11106150" y="5924550"/>
              <a:ext cx="76200" cy="76200"/>
            </a:xfrm>
            <a:prstGeom prst="ellipse">
              <a:avLst/>
            </a:prstGeom>
            <a:solidFill>
              <a:srgbClr val="FFFFFF"/>
            </a:solidFill>
            <a:ln w="9525">
              <a:solidFill>
                <a:srgbClr val="F0B8AE"/>
              </a:solidFill>
            </a:ln>
          </p:spPr>
        </p:sp>
        <p:sp>
          <p:nvSpPr>
            <p:cNvPr id="358" name="TextBox 358"/>
            <p:cNvSpPr txBox="1"/>
            <p:nvPr/>
          </p:nvSpPr>
          <p:spPr>
            <a:xfrm>
              <a:off x="11478959" y="5913120"/>
              <a:ext cx="130683" cy="176212"/>
            </a:xfrm>
            <a:prstGeom prst="rect">
              <a:avLst/>
            </a:prstGeom>
            <a:noFill/>
            <a:ln>
              <a:noFill/>
            </a:ln>
          </p:spPr>
          <p:txBody>
            <a:bodyPr wrap="none" lIns="0" tIns="0" rIns="0" bIns="0" anchor="t" anchorCtr="0">
              <a:spAutoFit/>
            </a:bodyPr>
            <a:lstStyle/>
            <a:p>
              <a:pPr algn="ctr"/>
              <a:r>
                <a:rPr lang="zh-CN" sz="900" b="1" dirty="0">
                  <a:solidFill>
                    <a:srgbClr val="C41D00"/>
                  </a:solidFill>
                  <a:latin typeface="+mn-lt"/>
                  <a:ea typeface="+mn-ea"/>
                  <a:cs typeface="+mn-cs"/>
                </a:rPr>
                <a:t>高</a:t>
              </a:r>
            </a:p>
          </p:txBody>
        </p:sp>
        <p:sp>
          <p:nvSpPr>
            <p:cNvPr id="359" name="Line 359"/>
            <p:cNvSpPr/>
            <p:nvPr/>
          </p:nvSpPr>
          <p:spPr>
            <a:xfrm>
              <a:off x="9906000" y="933450"/>
              <a:ext cx="9525" cy="5467350"/>
            </a:xfrm>
            <a:custGeom>
              <a:avLst/>
              <a:gdLst/>
              <a:ahLst/>
              <a:cxnLst/>
              <a:rect l="l" t="t" r="r" b="b"/>
              <a:pathLst>
                <a:path w="9525" h="5467350">
                  <a:moveTo>
                    <a:pt x="0" y="0"/>
                  </a:moveTo>
                  <a:lnTo>
                    <a:pt x="0" y="5467350"/>
                  </a:lnTo>
                </a:path>
              </a:pathLst>
            </a:custGeom>
            <a:noFill/>
            <a:ln w="9525">
              <a:solidFill>
                <a:srgbClr val="EADBCE"/>
              </a:solidFill>
            </a:ln>
          </p:spPr>
        </p:sp>
        <p:sp>
          <p:nvSpPr>
            <p:cNvPr id="360" name="Line 360"/>
            <p:cNvSpPr/>
            <p:nvPr/>
          </p:nvSpPr>
          <p:spPr>
            <a:xfrm>
              <a:off x="10591800" y="933450"/>
              <a:ext cx="9525" cy="5467350"/>
            </a:xfrm>
            <a:custGeom>
              <a:avLst/>
              <a:gdLst/>
              <a:ahLst/>
              <a:cxnLst/>
              <a:rect l="l" t="t" r="r" b="b"/>
              <a:pathLst>
                <a:path w="9525" h="5467350">
                  <a:moveTo>
                    <a:pt x="0" y="0"/>
                  </a:moveTo>
                  <a:lnTo>
                    <a:pt x="0" y="5467350"/>
                  </a:lnTo>
                </a:path>
              </a:pathLst>
            </a:custGeom>
            <a:noFill/>
            <a:ln w="9525">
              <a:solidFill>
                <a:srgbClr val="EADBCE"/>
              </a:solidFill>
            </a:ln>
          </p:spPr>
        </p:sp>
        <p:sp>
          <p:nvSpPr>
            <p:cNvPr id="361" name="Line 361"/>
            <p:cNvSpPr/>
            <p:nvPr/>
          </p:nvSpPr>
          <p:spPr>
            <a:xfrm>
              <a:off x="11277600" y="933450"/>
              <a:ext cx="9525" cy="5467350"/>
            </a:xfrm>
            <a:custGeom>
              <a:avLst/>
              <a:gdLst/>
              <a:ahLst/>
              <a:cxnLst/>
              <a:rect l="l" t="t" r="r" b="b"/>
              <a:pathLst>
                <a:path w="9525" h="5467350">
                  <a:moveTo>
                    <a:pt x="0" y="0"/>
                  </a:moveTo>
                  <a:lnTo>
                    <a:pt x="0" y="5467350"/>
                  </a:lnTo>
                </a:path>
              </a:pathLst>
            </a:custGeom>
            <a:noFill/>
            <a:ln w="9525">
              <a:solidFill>
                <a:srgbClr val="EADBCE"/>
              </a:solidFill>
            </a:ln>
          </p:spPr>
        </p:sp>
        <p:sp>
          <p:nvSpPr>
            <p:cNvPr id="362" name="Line 362"/>
            <p:cNvSpPr/>
            <p:nvPr/>
          </p:nvSpPr>
          <p:spPr>
            <a:xfrm>
              <a:off x="7505700" y="2019300"/>
              <a:ext cx="4305300" cy="9525"/>
            </a:xfrm>
            <a:custGeom>
              <a:avLst/>
              <a:gdLst/>
              <a:ahLst/>
              <a:cxnLst/>
              <a:rect l="l" t="t" r="r" b="b"/>
              <a:pathLst>
                <a:path w="4305300" h="9525">
                  <a:moveTo>
                    <a:pt x="0" y="0"/>
                  </a:moveTo>
                  <a:lnTo>
                    <a:pt x="4305300" y="0"/>
                  </a:lnTo>
                </a:path>
              </a:pathLst>
            </a:custGeom>
            <a:noFill/>
            <a:ln w="9525">
              <a:solidFill>
                <a:srgbClr val="EADBCE"/>
              </a:solidFill>
            </a:ln>
          </p:spPr>
        </p:sp>
        <p:sp>
          <p:nvSpPr>
            <p:cNvPr id="363" name="Line 363"/>
            <p:cNvSpPr/>
            <p:nvPr/>
          </p:nvSpPr>
          <p:spPr>
            <a:xfrm>
              <a:off x="7505700" y="2895600"/>
              <a:ext cx="4305300" cy="9525"/>
            </a:xfrm>
            <a:custGeom>
              <a:avLst/>
              <a:gdLst/>
              <a:ahLst/>
              <a:cxnLst/>
              <a:rect l="l" t="t" r="r" b="b"/>
              <a:pathLst>
                <a:path w="4305300" h="9525">
                  <a:moveTo>
                    <a:pt x="0" y="0"/>
                  </a:moveTo>
                  <a:lnTo>
                    <a:pt x="4305300" y="0"/>
                  </a:lnTo>
                </a:path>
              </a:pathLst>
            </a:custGeom>
            <a:noFill/>
            <a:ln w="9525">
              <a:solidFill>
                <a:srgbClr val="EADBCE"/>
              </a:solidFill>
            </a:ln>
          </p:spPr>
        </p:sp>
        <p:sp>
          <p:nvSpPr>
            <p:cNvPr id="364" name="Line 364"/>
            <p:cNvSpPr/>
            <p:nvPr/>
          </p:nvSpPr>
          <p:spPr>
            <a:xfrm>
              <a:off x="7505700" y="3771900"/>
              <a:ext cx="4305300" cy="9525"/>
            </a:xfrm>
            <a:custGeom>
              <a:avLst/>
              <a:gdLst/>
              <a:ahLst/>
              <a:cxnLst/>
              <a:rect l="l" t="t" r="r" b="b"/>
              <a:pathLst>
                <a:path w="4305300" h="9525">
                  <a:moveTo>
                    <a:pt x="0" y="0"/>
                  </a:moveTo>
                  <a:lnTo>
                    <a:pt x="4305300" y="0"/>
                  </a:lnTo>
                </a:path>
              </a:pathLst>
            </a:custGeom>
            <a:noFill/>
            <a:ln w="9525">
              <a:solidFill>
                <a:srgbClr val="EADBCE"/>
              </a:solidFill>
            </a:ln>
          </p:spPr>
        </p:sp>
        <p:sp>
          <p:nvSpPr>
            <p:cNvPr id="365" name="Line 365"/>
            <p:cNvSpPr/>
            <p:nvPr/>
          </p:nvSpPr>
          <p:spPr>
            <a:xfrm>
              <a:off x="7505700" y="4648200"/>
              <a:ext cx="4305300" cy="9525"/>
            </a:xfrm>
            <a:custGeom>
              <a:avLst/>
              <a:gdLst/>
              <a:ahLst/>
              <a:cxnLst/>
              <a:rect l="l" t="t" r="r" b="b"/>
              <a:pathLst>
                <a:path w="4305300" h="9525">
                  <a:moveTo>
                    <a:pt x="0" y="0"/>
                  </a:moveTo>
                  <a:lnTo>
                    <a:pt x="4305300" y="0"/>
                  </a:lnTo>
                </a:path>
              </a:pathLst>
            </a:custGeom>
            <a:noFill/>
            <a:ln w="9525">
              <a:solidFill>
                <a:srgbClr val="EADBCE"/>
              </a:solidFill>
            </a:ln>
          </p:spPr>
        </p:sp>
        <p:sp>
          <p:nvSpPr>
            <p:cNvPr id="366" name="Line 366"/>
            <p:cNvSpPr/>
            <p:nvPr/>
          </p:nvSpPr>
          <p:spPr>
            <a:xfrm>
              <a:off x="7505700" y="5524500"/>
              <a:ext cx="4305300" cy="9525"/>
            </a:xfrm>
            <a:custGeom>
              <a:avLst/>
              <a:gdLst/>
              <a:ahLst/>
              <a:cxnLst/>
              <a:rect l="l" t="t" r="r" b="b"/>
              <a:pathLst>
                <a:path w="4305300" h="9525">
                  <a:moveTo>
                    <a:pt x="0" y="0"/>
                  </a:moveTo>
                  <a:lnTo>
                    <a:pt x="4305300" y="0"/>
                  </a:lnTo>
                </a:path>
              </a:pathLst>
            </a:custGeom>
            <a:noFill/>
            <a:ln w="9525">
              <a:solidFill>
                <a:srgbClr val="EADBCE"/>
              </a:solidFill>
            </a:ln>
          </p:spPr>
        </p:sp>
        <p:sp>
          <p:nvSpPr>
            <p:cNvPr id="367" name="TextBox 367"/>
            <p:cNvSpPr txBox="1"/>
            <p:nvPr/>
          </p:nvSpPr>
          <p:spPr>
            <a:xfrm>
              <a:off x="9330576" y="6526530"/>
              <a:ext cx="2485187" cy="119062"/>
            </a:xfrm>
            <a:prstGeom prst="rect">
              <a:avLst/>
            </a:prstGeom>
            <a:noFill/>
            <a:ln>
              <a:noFill/>
            </a:ln>
          </p:spPr>
          <p:txBody>
            <a:bodyPr wrap="none" lIns="0" tIns="0" rIns="0" bIns="0" anchor="t" anchorCtr="0">
              <a:spAutoFit/>
            </a:bodyPr>
            <a:lstStyle/>
            <a:p>
              <a:pPr algn="r"/>
              <a:r>
                <a:rPr lang="zh-CN" sz="600" dirty="0">
                  <a:solidFill>
                    <a:srgbClr val="7A716B"/>
                  </a:solidFill>
                  <a:latin typeface="+mn-lt"/>
                  <a:ea typeface="+mn-ea"/>
                  <a:cs typeface="+mn-cs"/>
                </a:rPr>
                <a:t>​​​​​​​​​图例：</a:t>
              </a:r>
              <a:r>
                <a:rPr lang="zh-CN" sz="600" dirty="0">
                  <a:solidFill>
                    <a:srgbClr val="C41D00"/>
                  </a:solidFill>
                  <a:latin typeface="+mn-lt"/>
                  <a:ea typeface="+mn-ea"/>
                  <a:cs typeface="+mn-cs"/>
                </a:rPr>
                <a:t>●</a:t>
              </a:r>
              <a:r>
                <a:rPr lang="zh-CN" sz="600" dirty="0">
                  <a:solidFill>
                    <a:srgbClr val="7A716B"/>
                  </a:solidFill>
                  <a:latin typeface="+mn-lt"/>
                  <a:ea typeface="+mn-ea"/>
                  <a:cs typeface="+mn-cs"/>
                </a:rPr>
                <a:t xml:space="preserve"> 高（5）　</a:t>
              </a:r>
              <a:r>
                <a:rPr lang="zh-CN" sz="600" dirty="0">
                  <a:solidFill>
                    <a:srgbClr val="E0371A"/>
                  </a:solidFill>
                  <a:latin typeface="+mn-lt"/>
                  <a:ea typeface="+mn-ea"/>
                  <a:cs typeface="+mn-cs"/>
                </a:rPr>
                <a:t>●</a:t>
              </a:r>
              <a:r>
                <a:rPr lang="zh-CN" sz="600" dirty="0">
                  <a:solidFill>
                    <a:srgbClr val="7A716B"/>
                  </a:solidFill>
                  <a:latin typeface="+mn-lt"/>
                  <a:ea typeface="+mn-ea"/>
                  <a:cs typeface="+mn-cs"/>
                </a:rPr>
                <a:t xml:space="preserve"> 中高（4）　</a:t>
              </a:r>
              <a:r>
                <a:rPr lang="zh-CN" sz="600" dirty="0">
                  <a:solidFill>
                    <a:srgbClr val="EE492C"/>
                  </a:solidFill>
                  <a:latin typeface="+mn-lt"/>
                  <a:ea typeface="+mn-ea"/>
                  <a:cs typeface="+mn-cs"/>
                </a:rPr>
                <a:t>●</a:t>
              </a:r>
              <a:r>
                <a:rPr lang="zh-CN" sz="600" dirty="0">
                  <a:solidFill>
                    <a:srgbClr val="7A716B"/>
                  </a:solidFill>
                  <a:latin typeface="+mn-lt"/>
                  <a:ea typeface="+mn-ea"/>
                  <a:cs typeface="+mn-cs"/>
                </a:rPr>
                <a:t xml:space="preserve"> 中（3）　○ 低（1-2）</a:t>
              </a:r>
            </a:p>
          </p:txBody>
        </p:sp>
      </p:gr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16</a:t>
              </a:r>
            </a:p>
          </p:txBody>
        </p:sp>
        <p:sp>
          <p:nvSpPr>
            <p:cNvPr id="4" name="TextBox 4"/>
            <p:cNvSpPr txBox="1"/>
            <p:nvPr/>
          </p:nvSpPr>
          <p:spPr>
            <a:xfrm>
              <a:off x="904494" y="170498"/>
              <a:ext cx="7521663"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运营机制</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建立总行统筹、分行经营与一线执行的三级责任体系​</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49" name="governance-tiers"/>
          <p:cNvGrpSpPr/>
          <p:nvPr/>
        </p:nvGrpSpPr>
        <p:grpSpPr>
          <a:xfrm>
            <a:off x="342900" y="685800"/>
            <a:ext cx="2800350" cy="3086100"/>
            <a:chOff x="342900" y="685800"/>
            <a:chExt cx="2800350" cy="3086100"/>
          </a:xfrm>
        </p:grpSpPr>
        <p:sp>
          <p:nvSpPr>
            <p:cNvPr id="7" name="Rectangle 7"/>
            <p:cNvSpPr/>
            <p:nvPr/>
          </p:nvSpPr>
          <p:spPr>
            <a:xfrm>
              <a:off x="342900" y="685800"/>
              <a:ext cx="2800350" cy="228600"/>
            </a:xfrm>
            <a:prstGeom prst="roundRect">
              <a:avLst>
                <a:gd name="adj" fmla="val 12500"/>
              </a:avLst>
            </a:prstGeom>
            <a:solidFill>
              <a:srgbClr val="C41D00"/>
            </a:solidFill>
            <a:ln>
              <a:noFill/>
            </a:ln>
          </p:spPr>
        </p:sp>
        <p:sp>
          <p:nvSpPr>
            <p:cNvPr id="8" name="TextBox 8"/>
            <p:cNvSpPr txBox="1"/>
            <p:nvPr/>
          </p:nvSpPr>
          <p:spPr>
            <a:xfrm>
              <a:off x="687381" y="754618"/>
              <a:ext cx="211138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​三级治理体系（权责分明，上下协同）​</a:t>
              </a:r>
            </a:p>
          </p:txBody>
        </p:sp>
        <p:sp>
          <p:nvSpPr>
            <p:cNvPr id="9" name="Ellipse 9"/>
            <p:cNvSpPr/>
            <p:nvPr/>
          </p:nvSpPr>
          <p:spPr>
            <a:xfrm>
              <a:off x="438150" y="1143000"/>
              <a:ext cx="457200" cy="457200"/>
            </a:xfrm>
            <a:prstGeom prst="ellipse">
              <a:avLst/>
            </a:prstGeom>
            <a:solidFill>
              <a:srgbClr val="8F1C08"/>
            </a:solidFill>
            <a:ln>
              <a:noFill/>
            </a:ln>
          </p:spPr>
        </p:sp>
        <p:grpSp>
          <p:nvGrpSpPr>
            <p:cNvPr id="18" name="Group 18"/>
            <p:cNvGrpSpPr/>
            <p:nvPr/>
          </p:nvGrpSpPr>
          <p:grpSpPr>
            <a:xfrm>
              <a:off x="573881" y="1278731"/>
              <a:ext cx="185737" cy="195262"/>
              <a:chOff x="573881" y="1278731"/>
              <a:chExt cx="185737" cy="195262"/>
            </a:xfrm>
          </p:grpSpPr>
          <p:sp>
            <p:nvSpPr>
              <p:cNvPr id="10" name="Freeform 10"/>
              <p:cNvSpPr/>
              <p:nvPr/>
            </p:nvSpPr>
            <p:spPr>
              <a:xfrm>
                <a:off x="573881" y="1464468"/>
                <a:ext cx="185737" cy="9525"/>
              </a:xfrm>
              <a:custGeom>
                <a:avLst/>
                <a:gdLst/>
                <a:ahLst/>
                <a:cxnLst/>
                <a:rect l="l" t="t" r="r" b="b"/>
                <a:pathLst>
                  <a:path w="185737" h="9525">
                    <a:moveTo>
                      <a:pt x="0" y="0"/>
                    </a:moveTo>
                    <a:lnTo>
                      <a:pt x="185737" y="0"/>
                    </a:lnTo>
                  </a:path>
                </a:pathLst>
              </a:custGeom>
              <a:noFill/>
              <a:ln w="20637">
                <a:solidFill>
                  <a:srgbClr val="FFFFFF"/>
                </a:solidFill>
              </a:ln>
            </p:spPr>
          </p:sp>
          <p:sp>
            <p:nvSpPr>
              <p:cNvPr id="11" name="Freeform 11"/>
              <p:cNvSpPr/>
              <p:nvPr/>
            </p:nvSpPr>
            <p:spPr>
              <a:xfrm>
                <a:off x="573881" y="1350962"/>
                <a:ext cx="185737" cy="9525"/>
              </a:xfrm>
              <a:custGeom>
                <a:avLst/>
                <a:gdLst/>
                <a:ahLst/>
                <a:cxnLst/>
                <a:rect l="l" t="t" r="r" b="b"/>
                <a:pathLst>
                  <a:path w="185737" h="9525">
                    <a:moveTo>
                      <a:pt x="0" y="0"/>
                    </a:moveTo>
                    <a:lnTo>
                      <a:pt x="185737" y="0"/>
                    </a:lnTo>
                  </a:path>
                </a:pathLst>
              </a:custGeom>
              <a:noFill/>
              <a:ln w="20637">
                <a:solidFill>
                  <a:srgbClr val="FFFFFF"/>
                </a:solidFill>
              </a:ln>
            </p:spPr>
          </p:sp>
          <p:sp>
            <p:nvSpPr>
              <p:cNvPr id="12" name="Freeform 12"/>
              <p:cNvSpPr/>
              <p:nvPr/>
            </p:nvSpPr>
            <p:spPr>
              <a:xfrm>
                <a:off x="594519" y="1278731"/>
                <a:ext cx="144462" cy="30956"/>
              </a:xfrm>
              <a:custGeom>
                <a:avLst/>
                <a:gdLst/>
                <a:ahLst/>
                <a:cxnLst/>
                <a:rect l="l" t="t" r="r" b="b"/>
                <a:pathLst>
                  <a:path w="144462" h="30956">
                    <a:moveTo>
                      <a:pt x="0" y="30956"/>
                    </a:moveTo>
                    <a:lnTo>
                      <a:pt x="72231" y="0"/>
                    </a:lnTo>
                    <a:lnTo>
                      <a:pt x="144462" y="30956"/>
                    </a:lnTo>
                  </a:path>
                </a:pathLst>
              </a:custGeom>
              <a:noFill/>
              <a:ln w="20637">
                <a:solidFill>
                  <a:srgbClr val="FFFFFF"/>
                </a:solidFill>
              </a:ln>
            </p:spPr>
          </p:sp>
          <p:sp>
            <p:nvSpPr>
              <p:cNvPr id="13" name="Freeform 13"/>
              <p:cNvSpPr/>
              <p:nvPr/>
            </p:nvSpPr>
            <p:spPr>
              <a:xfrm>
                <a:off x="584200" y="1350962"/>
                <a:ext cx="9525" cy="113506"/>
              </a:xfrm>
              <a:custGeom>
                <a:avLst/>
                <a:gdLst/>
                <a:ahLst/>
                <a:cxnLst/>
                <a:rect l="l" t="t" r="r" b="b"/>
                <a:pathLst>
                  <a:path w="9525" h="113506">
                    <a:moveTo>
                      <a:pt x="0" y="0"/>
                    </a:moveTo>
                    <a:lnTo>
                      <a:pt x="0" y="113506"/>
                    </a:lnTo>
                  </a:path>
                </a:pathLst>
              </a:custGeom>
              <a:noFill/>
              <a:ln w="20637">
                <a:solidFill>
                  <a:srgbClr val="FFFFFF"/>
                </a:solidFill>
              </a:ln>
            </p:spPr>
          </p:sp>
          <p:sp>
            <p:nvSpPr>
              <p:cNvPr id="14" name="Freeform 14"/>
              <p:cNvSpPr/>
              <p:nvPr/>
            </p:nvSpPr>
            <p:spPr>
              <a:xfrm>
                <a:off x="749299" y="1350962"/>
                <a:ext cx="9525" cy="113506"/>
              </a:xfrm>
              <a:custGeom>
                <a:avLst/>
                <a:gdLst/>
                <a:ahLst/>
                <a:cxnLst/>
                <a:rect l="l" t="t" r="r" b="b"/>
                <a:pathLst>
                  <a:path w="9525" h="113506">
                    <a:moveTo>
                      <a:pt x="0" y="0"/>
                    </a:moveTo>
                    <a:lnTo>
                      <a:pt x="0" y="113506"/>
                    </a:lnTo>
                  </a:path>
                </a:pathLst>
              </a:custGeom>
              <a:noFill/>
              <a:ln w="20637">
                <a:solidFill>
                  <a:srgbClr val="FFFFFF"/>
                </a:solidFill>
              </a:ln>
            </p:spPr>
          </p:sp>
          <p:sp>
            <p:nvSpPr>
              <p:cNvPr id="15" name="Freeform 15"/>
              <p:cNvSpPr/>
              <p:nvPr/>
            </p:nvSpPr>
            <p:spPr>
              <a:xfrm>
                <a:off x="625475" y="1392237"/>
                <a:ext cx="9525" cy="30956"/>
              </a:xfrm>
              <a:custGeom>
                <a:avLst/>
                <a:gdLst/>
                <a:ahLst/>
                <a:cxnLst/>
                <a:rect l="l" t="t" r="r" b="b"/>
                <a:pathLst>
                  <a:path w="9525" h="30956">
                    <a:moveTo>
                      <a:pt x="0" y="0"/>
                    </a:moveTo>
                    <a:lnTo>
                      <a:pt x="0" y="30956"/>
                    </a:lnTo>
                  </a:path>
                </a:pathLst>
              </a:custGeom>
              <a:noFill/>
              <a:ln w="20637">
                <a:solidFill>
                  <a:srgbClr val="FFFFFF"/>
                </a:solidFill>
              </a:ln>
            </p:spPr>
          </p:sp>
          <p:sp>
            <p:nvSpPr>
              <p:cNvPr id="16" name="Freeform 16"/>
              <p:cNvSpPr/>
              <p:nvPr/>
            </p:nvSpPr>
            <p:spPr>
              <a:xfrm>
                <a:off x="666750" y="1392237"/>
                <a:ext cx="9525" cy="30956"/>
              </a:xfrm>
              <a:custGeom>
                <a:avLst/>
                <a:gdLst/>
                <a:ahLst/>
                <a:cxnLst/>
                <a:rect l="l" t="t" r="r" b="b"/>
                <a:pathLst>
                  <a:path w="9525" h="30956">
                    <a:moveTo>
                      <a:pt x="0" y="0"/>
                    </a:moveTo>
                    <a:lnTo>
                      <a:pt x="0" y="30956"/>
                    </a:lnTo>
                  </a:path>
                </a:pathLst>
              </a:custGeom>
              <a:noFill/>
              <a:ln w="20637">
                <a:solidFill>
                  <a:srgbClr val="FFFFFF"/>
                </a:solidFill>
              </a:ln>
            </p:spPr>
          </p:sp>
          <p:sp>
            <p:nvSpPr>
              <p:cNvPr id="17" name="Freeform 17"/>
              <p:cNvSpPr/>
              <p:nvPr/>
            </p:nvSpPr>
            <p:spPr>
              <a:xfrm>
                <a:off x="708024" y="1392237"/>
                <a:ext cx="9525" cy="30956"/>
              </a:xfrm>
              <a:custGeom>
                <a:avLst/>
                <a:gdLst/>
                <a:ahLst/>
                <a:cxnLst/>
                <a:rect l="l" t="t" r="r" b="b"/>
                <a:pathLst>
                  <a:path w="9525" h="30956">
                    <a:moveTo>
                      <a:pt x="0" y="0"/>
                    </a:moveTo>
                    <a:lnTo>
                      <a:pt x="0" y="30956"/>
                    </a:lnTo>
                  </a:path>
                </a:pathLst>
              </a:custGeom>
              <a:noFill/>
              <a:ln w="20637">
                <a:solidFill>
                  <a:srgbClr val="FFFFFF"/>
                </a:solidFill>
              </a:ln>
            </p:spPr>
          </p:sp>
        </p:grpSp>
        <p:sp>
          <p:nvSpPr>
            <p:cNvPr id="19" name="Rectangle 19"/>
            <p:cNvSpPr/>
            <p:nvPr/>
          </p:nvSpPr>
          <p:spPr>
            <a:xfrm>
              <a:off x="990600" y="990600"/>
              <a:ext cx="2152650" cy="762000"/>
            </a:xfrm>
            <a:prstGeom prst="roundRect">
              <a:avLst>
                <a:gd name="adj" fmla="val 5000"/>
              </a:avLst>
            </a:prstGeom>
            <a:solidFill>
              <a:srgbClr val="FFF8F2"/>
            </a:solidFill>
            <a:ln w="9525">
              <a:solidFill>
                <a:srgbClr val="F0B8AE"/>
              </a:solidFill>
            </a:ln>
          </p:spPr>
        </p:sp>
        <p:sp>
          <p:nvSpPr>
            <p:cNvPr id="20" name="Ellipse 20"/>
            <p:cNvSpPr/>
            <p:nvPr/>
          </p:nvSpPr>
          <p:spPr>
            <a:xfrm>
              <a:off x="1057275" y="1057275"/>
              <a:ext cx="171450" cy="171450"/>
            </a:xfrm>
            <a:prstGeom prst="ellipse">
              <a:avLst/>
            </a:prstGeom>
            <a:solidFill>
              <a:srgbClr val="C41D00"/>
            </a:solidFill>
            <a:ln>
              <a:noFill/>
            </a:ln>
          </p:spPr>
        </p:sp>
        <p:sp>
          <p:nvSpPr>
            <p:cNvPr id="21" name="TextBox 21"/>
            <p:cNvSpPr txBox="1"/>
            <p:nvPr/>
          </p:nvSpPr>
          <p:spPr>
            <a:xfrm>
              <a:off x="1050777" y="11001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22" name="TextBox 22"/>
            <p:cNvSpPr txBox="1"/>
            <p:nvPr/>
          </p:nvSpPr>
          <p:spPr>
            <a:xfrm>
              <a:off x="1271588" y="1100138"/>
              <a:ext cx="977712" cy="147638"/>
            </a:xfrm>
            <a:prstGeom prst="rect">
              <a:avLst/>
            </a:prstGeom>
            <a:noFill/>
            <a:ln>
              <a:noFill/>
            </a:ln>
          </p:spPr>
          <p:txBody>
            <a:bodyPr wrap="none" lIns="0" tIns="0" rIns="0" bIns="0" anchor="t" anchorCtr="0">
              <a:spAutoFit/>
            </a:bodyPr>
            <a:lstStyle/>
            <a:p>
              <a:pPr algn="l"/>
              <a:r>
                <a:rPr lang="zh-CN" sz="750" b="1" dirty="0">
                  <a:solidFill>
                    <a:srgbClr val="C41D00"/>
                  </a:solidFill>
                  <a:latin typeface="+mn-lt"/>
                  <a:ea typeface="+mn-ea"/>
                  <a:cs typeface="+mn-cs"/>
                </a:rPr>
                <a:t>总行统筹</a:t>
              </a:r>
              <a:r>
                <a:rPr lang="zh-CN" sz="640" dirty="0">
                  <a:solidFill>
                    <a:srgbClr val="7A716B"/>
                  </a:solidFill>
                  <a:latin typeface="+mn-lt"/>
                  <a:ea typeface="+mn-ea"/>
                  <a:cs typeface="+mn-cs"/>
                </a:rPr>
                <a:t>（顶层决策）​</a:t>
              </a:r>
            </a:p>
          </p:txBody>
        </p:sp>
        <p:sp>
          <p:nvSpPr>
            <p:cNvPr id="23" name="TextBox 23"/>
            <p:cNvSpPr txBox="1"/>
            <p:nvPr/>
          </p:nvSpPr>
          <p:spPr>
            <a:xfrm>
              <a:off x="1271588" y="1268730"/>
              <a:ext cx="1083945" cy="4619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制定战略与年度经营目标​​</a:t>
              </a:r>
            </a:p>
            <a:p>
              <a:pPr algn="l" marL="76200" indent="-76200">
                <a:lnSpc>
                  <a:spcPts val="900"/>
                </a:lnSpc>
                <a:buClr>
                  <a:srgbClr val="3D3835"/>
                </a:buClr>
                <a:buSzTx/>
                <a:buFontTx/>
                <a:buChar char="•"/>
              </a:pPr>
              <a:r>
                <a:rPr lang="zh-CN" sz="600" dirty="0">
                  <a:solidFill>
                    <a:srgbClr val="3D3835"/>
                  </a:solidFill>
                  <a:latin typeface="+mn-lt"/>
                  <a:ea typeface="+mn-ea"/>
                  <a:cs typeface="+mn-cs"/>
                </a:rPr>
                <a:t>统筹资源配置与政策制定​​</a:t>
              </a:r>
            </a:p>
            <a:p>
              <a:pPr algn="l" marL="76200" indent="-76200">
                <a:lnSpc>
                  <a:spcPts val="900"/>
                </a:lnSpc>
                <a:buClr>
                  <a:srgbClr val="3D3835"/>
                </a:buClr>
                <a:buSzTx/>
                <a:buFontTx/>
                <a:buChar char="•"/>
              </a:pPr>
              <a:r>
                <a:rPr lang="zh-CN" sz="600" dirty="0">
                  <a:solidFill>
                    <a:srgbClr val="3D3835"/>
                  </a:solidFill>
                  <a:latin typeface="+mn-lt"/>
                  <a:ea typeface="+mn-ea"/>
                  <a:cs typeface="+mn-cs"/>
                </a:rPr>
                <a:t>监控整体表现与风险敞口​​</a:t>
              </a:r>
            </a:p>
            <a:p>
              <a:pPr algn="l" marL="76200" indent="-76200">
                <a:lnSpc>
                  <a:spcPts val="900"/>
                </a:lnSpc>
                <a:buClr>
                  <a:srgbClr val="3D3835"/>
                </a:buClr>
                <a:buSzTx/>
                <a:buFontTx/>
                <a:buChar char="•"/>
              </a:pPr>
              <a:r>
                <a:rPr lang="zh-CN" sz="600" dirty="0">
                  <a:solidFill>
                    <a:srgbClr val="3D3835"/>
                  </a:solidFill>
                  <a:latin typeface="+mn-lt"/>
                  <a:ea typeface="+mn-ea"/>
                  <a:cs typeface="+mn-cs"/>
                </a:rPr>
                <a:t>关键议题决策与跨条线协同​​</a:t>
              </a:r>
            </a:p>
          </p:txBody>
        </p:sp>
        <p:sp>
          <p:nvSpPr>
            <p:cNvPr id="24" name="TextBox 24"/>
            <p:cNvSpPr txBox="1"/>
            <p:nvPr/>
          </p:nvSpPr>
          <p:spPr>
            <a:xfrm>
              <a:off x="449019" y="1796653"/>
              <a:ext cx="435463"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​战略指引↓​</a:t>
              </a:r>
            </a:p>
          </p:txBody>
        </p:sp>
        <p:sp>
          <p:nvSpPr>
            <p:cNvPr id="25" name="TextBox 25"/>
            <p:cNvSpPr txBox="1"/>
            <p:nvPr/>
          </p:nvSpPr>
          <p:spPr>
            <a:xfrm>
              <a:off x="449019" y="1891903"/>
              <a:ext cx="435463"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​↑信息反馈​</a:t>
              </a:r>
            </a:p>
          </p:txBody>
        </p:sp>
        <p:sp>
          <p:nvSpPr>
            <p:cNvPr id="26" name="Ellipse 26"/>
            <p:cNvSpPr/>
            <p:nvPr/>
          </p:nvSpPr>
          <p:spPr>
            <a:xfrm>
              <a:off x="438150" y="2152650"/>
              <a:ext cx="457200" cy="457200"/>
            </a:xfrm>
            <a:prstGeom prst="ellipse">
              <a:avLst/>
            </a:prstGeom>
            <a:solidFill>
              <a:srgbClr val="C41D00"/>
            </a:solidFill>
            <a:ln>
              <a:noFill/>
            </a:ln>
          </p:spPr>
        </p:sp>
        <p:grpSp>
          <p:nvGrpSpPr>
            <p:cNvPr id="30" name="Group 30"/>
            <p:cNvGrpSpPr/>
            <p:nvPr/>
          </p:nvGrpSpPr>
          <p:grpSpPr>
            <a:xfrm>
              <a:off x="573881" y="2288381"/>
              <a:ext cx="185737" cy="185737"/>
              <a:chOff x="573881" y="2288381"/>
              <a:chExt cx="185737" cy="185737"/>
            </a:xfrm>
          </p:grpSpPr>
          <p:sp>
            <p:nvSpPr>
              <p:cNvPr id="27" name="Freeform 27"/>
              <p:cNvSpPr/>
              <p:nvPr/>
            </p:nvSpPr>
            <p:spPr>
              <a:xfrm>
                <a:off x="573881" y="2288381"/>
                <a:ext cx="185737" cy="92868"/>
              </a:xfrm>
              <a:custGeom>
                <a:avLst/>
                <a:gdLst/>
                <a:ahLst/>
                <a:cxnLst/>
                <a:rect l="l" t="t" r="r" b="b"/>
                <a:pathLst>
                  <a:path w="185737" h="92868">
                    <a:moveTo>
                      <a:pt x="20637" y="92868"/>
                    </a:moveTo>
                    <a:lnTo>
                      <a:pt x="0" y="92868"/>
                    </a:lnTo>
                    <a:lnTo>
                      <a:pt x="92868" y="0"/>
                    </a:lnTo>
                    <a:lnTo>
                      <a:pt x="185737" y="92868"/>
                    </a:lnTo>
                    <a:lnTo>
                      <a:pt x="165099" y="92868"/>
                    </a:lnTo>
                  </a:path>
                </a:pathLst>
              </a:custGeom>
              <a:noFill/>
              <a:ln w="20637">
                <a:solidFill>
                  <a:srgbClr val="FFFFFF"/>
                </a:solidFill>
              </a:ln>
            </p:spPr>
          </p:sp>
          <p:sp>
            <p:nvSpPr>
              <p:cNvPr id="28" name="Freeform 28"/>
              <p:cNvSpPr/>
              <p:nvPr/>
            </p:nvSpPr>
            <p:spPr>
              <a:xfrm>
                <a:off x="594519" y="2381250"/>
                <a:ext cx="144462" cy="92868"/>
              </a:xfrm>
              <a:custGeom>
                <a:avLst/>
                <a:gdLst/>
                <a:ahLst/>
                <a:cxnLst/>
                <a:rect l="l" t="t" r="r" b="b"/>
                <a:pathLst>
                  <a:path w="144462" h="92868">
                    <a:moveTo>
                      <a:pt x="0" y="0"/>
                    </a:moveTo>
                    <a:lnTo>
                      <a:pt x="0" y="72231"/>
                    </a:lnTo>
                    <a:cubicBezTo>
                      <a:pt x="0" y="83629"/>
                      <a:pt x="9240" y="92868"/>
                      <a:pt x="20637" y="92868"/>
                    </a:cubicBezTo>
                    <a:lnTo>
                      <a:pt x="123825" y="92868"/>
                    </a:lnTo>
                    <a:cubicBezTo>
                      <a:pt x="135222" y="92868"/>
                      <a:pt x="144462" y="83629"/>
                      <a:pt x="144462" y="72231"/>
                    </a:cubicBezTo>
                    <a:lnTo>
                      <a:pt x="144462" y="0"/>
                    </a:lnTo>
                  </a:path>
                </a:pathLst>
              </a:custGeom>
              <a:noFill/>
              <a:ln w="20637">
                <a:solidFill>
                  <a:srgbClr val="FFFFFF"/>
                </a:solidFill>
              </a:ln>
            </p:spPr>
          </p:sp>
          <p:sp>
            <p:nvSpPr>
              <p:cNvPr id="29" name="Freeform 29"/>
              <p:cNvSpPr/>
              <p:nvPr/>
            </p:nvSpPr>
            <p:spPr>
              <a:xfrm>
                <a:off x="635793" y="2391568"/>
                <a:ext cx="61912" cy="82550"/>
              </a:xfrm>
              <a:custGeom>
                <a:avLst/>
                <a:gdLst/>
                <a:ahLst/>
                <a:cxnLst/>
                <a:rect l="l" t="t" r="r" b="b"/>
                <a:pathLst>
                  <a:path w="61912" h="82550">
                    <a:moveTo>
                      <a:pt x="0" y="82550"/>
                    </a:moveTo>
                    <a:lnTo>
                      <a:pt x="0" y="20637"/>
                    </a:lnTo>
                    <a:cubicBezTo>
                      <a:pt x="0" y="9240"/>
                      <a:pt x="9240" y="0"/>
                      <a:pt x="20637" y="0"/>
                    </a:cubicBezTo>
                    <a:lnTo>
                      <a:pt x="41275" y="0"/>
                    </a:lnTo>
                    <a:cubicBezTo>
                      <a:pt x="52673" y="0"/>
                      <a:pt x="61912" y="9240"/>
                      <a:pt x="61912" y="20637"/>
                    </a:cubicBezTo>
                    <a:lnTo>
                      <a:pt x="61912" y="82550"/>
                    </a:lnTo>
                  </a:path>
                </a:pathLst>
              </a:custGeom>
              <a:noFill/>
              <a:ln w="20637">
                <a:solidFill>
                  <a:srgbClr val="FFFFFF"/>
                </a:solidFill>
              </a:ln>
            </p:spPr>
          </p:sp>
        </p:grpSp>
        <p:sp>
          <p:nvSpPr>
            <p:cNvPr id="31" name="Rectangle 31"/>
            <p:cNvSpPr/>
            <p:nvPr/>
          </p:nvSpPr>
          <p:spPr>
            <a:xfrm>
              <a:off x="990600" y="2000250"/>
              <a:ext cx="2152650" cy="762000"/>
            </a:xfrm>
            <a:prstGeom prst="roundRect">
              <a:avLst>
                <a:gd name="adj" fmla="val 5000"/>
              </a:avLst>
            </a:prstGeom>
            <a:solidFill>
              <a:srgbClr val="FFF8F2"/>
            </a:solidFill>
            <a:ln w="9525">
              <a:solidFill>
                <a:srgbClr val="F0B8AE"/>
              </a:solidFill>
            </a:ln>
          </p:spPr>
        </p:sp>
        <p:sp>
          <p:nvSpPr>
            <p:cNvPr id="32" name="Ellipse 32"/>
            <p:cNvSpPr/>
            <p:nvPr/>
          </p:nvSpPr>
          <p:spPr>
            <a:xfrm>
              <a:off x="1057275" y="2066925"/>
              <a:ext cx="171450" cy="171450"/>
            </a:xfrm>
            <a:prstGeom prst="ellipse">
              <a:avLst/>
            </a:prstGeom>
            <a:solidFill>
              <a:srgbClr val="C41D00"/>
            </a:solidFill>
            <a:ln>
              <a:noFill/>
            </a:ln>
          </p:spPr>
        </p:sp>
        <p:sp>
          <p:nvSpPr>
            <p:cNvPr id="33" name="TextBox 33"/>
            <p:cNvSpPr txBox="1"/>
            <p:nvPr/>
          </p:nvSpPr>
          <p:spPr>
            <a:xfrm>
              <a:off x="1050777" y="21097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34" name="TextBox 34"/>
            <p:cNvSpPr txBox="1"/>
            <p:nvPr/>
          </p:nvSpPr>
          <p:spPr>
            <a:xfrm>
              <a:off x="1271588" y="2109788"/>
              <a:ext cx="977712" cy="147638"/>
            </a:xfrm>
            <a:prstGeom prst="rect">
              <a:avLst/>
            </a:prstGeom>
            <a:noFill/>
            <a:ln>
              <a:noFill/>
            </a:ln>
          </p:spPr>
          <p:txBody>
            <a:bodyPr wrap="none" lIns="0" tIns="0" rIns="0" bIns="0" anchor="t" anchorCtr="0">
              <a:spAutoFit/>
            </a:bodyPr>
            <a:lstStyle/>
            <a:p>
              <a:pPr algn="l"/>
              <a:r>
                <a:rPr lang="zh-CN" sz="750" b="1" dirty="0">
                  <a:solidFill>
                    <a:srgbClr val="C41D00"/>
                  </a:solidFill>
                  <a:latin typeface="+mn-lt"/>
                  <a:ea typeface="+mn-ea"/>
                  <a:cs typeface="+mn-cs"/>
                </a:rPr>
                <a:t>分行经营</a:t>
              </a:r>
              <a:r>
                <a:rPr lang="zh-CN" sz="640" dirty="0">
                  <a:solidFill>
                    <a:srgbClr val="7A716B"/>
                  </a:solidFill>
                  <a:latin typeface="+mn-lt"/>
                  <a:ea typeface="+mn-ea"/>
                  <a:cs typeface="+mn-cs"/>
                </a:rPr>
                <a:t>（经营管理）​</a:t>
              </a:r>
            </a:p>
          </p:txBody>
        </p:sp>
        <p:sp>
          <p:nvSpPr>
            <p:cNvPr id="35" name="TextBox 35"/>
            <p:cNvSpPr txBox="1"/>
            <p:nvPr/>
          </p:nvSpPr>
          <p:spPr>
            <a:xfrm>
              <a:off x="1271588" y="2278380"/>
              <a:ext cx="1160145" cy="4619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分解目标并制定分行经营计划​​</a:t>
              </a:r>
            </a:p>
            <a:p>
              <a:pPr algn="l" marL="76200" indent="-76200">
                <a:lnSpc>
                  <a:spcPts val="900"/>
                </a:lnSpc>
                <a:buClr>
                  <a:srgbClr val="3D3835"/>
                </a:buClr>
                <a:buSzTx/>
                <a:buFontTx/>
                <a:buChar char="•"/>
              </a:pPr>
              <a:r>
                <a:rPr lang="zh-CN" sz="600" dirty="0">
                  <a:solidFill>
                    <a:srgbClr val="3D3835"/>
                  </a:solidFill>
                  <a:latin typeface="+mn-lt"/>
                  <a:ea typeface="+mn-ea"/>
                  <a:cs typeface="+mn-cs"/>
                </a:rPr>
                <a:t>资源配置与预算执行管理​​</a:t>
              </a:r>
            </a:p>
            <a:p>
              <a:pPr algn="l" marL="76200" indent="-76200">
                <a:lnSpc>
                  <a:spcPts val="900"/>
                </a:lnSpc>
                <a:buClr>
                  <a:srgbClr val="3D3835"/>
                </a:buClr>
                <a:buSzTx/>
                <a:buFontTx/>
                <a:buChar char="•"/>
              </a:pPr>
              <a:r>
                <a:rPr lang="zh-CN" sz="600" dirty="0">
                  <a:solidFill>
                    <a:srgbClr val="3D3835"/>
                  </a:solidFill>
                  <a:latin typeface="+mn-lt"/>
                  <a:ea typeface="+mn-ea"/>
                  <a:cs typeface="+mn-cs"/>
                </a:rPr>
                <a:t>推动跨部门协同与过程管理​​</a:t>
              </a:r>
            </a:p>
            <a:p>
              <a:pPr algn="l" marL="76200" indent="-76200">
                <a:lnSpc>
                  <a:spcPts val="900"/>
                </a:lnSpc>
                <a:buClr>
                  <a:srgbClr val="3D3835"/>
                </a:buClr>
                <a:buSzTx/>
                <a:buFontTx/>
                <a:buChar char="•"/>
              </a:pPr>
              <a:r>
                <a:rPr lang="zh-CN" sz="600" dirty="0">
                  <a:solidFill>
                    <a:srgbClr val="3D3835"/>
                  </a:solidFill>
                  <a:latin typeface="+mn-lt"/>
                  <a:ea typeface="+mn-ea"/>
                  <a:cs typeface="+mn-cs"/>
                </a:rPr>
                <a:t>结果达成与本地风险管理​​</a:t>
              </a:r>
            </a:p>
          </p:txBody>
        </p:sp>
        <p:sp>
          <p:nvSpPr>
            <p:cNvPr id="36" name="TextBox 36"/>
            <p:cNvSpPr txBox="1"/>
            <p:nvPr/>
          </p:nvSpPr>
          <p:spPr>
            <a:xfrm>
              <a:off x="449019" y="2806303"/>
              <a:ext cx="435463"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​计划下达↓​</a:t>
              </a:r>
            </a:p>
          </p:txBody>
        </p:sp>
        <p:sp>
          <p:nvSpPr>
            <p:cNvPr id="37" name="TextBox 37"/>
            <p:cNvSpPr txBox="1"/>
            <p:nvPr/>
          </p:nvSpPr>
          <p:spPr>
            <a:xfrm>
              <a:off x="449019" y="2901553"/>
              <a:ext cx="435463"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​↑执行反馈​</a:t>
              </a:r>
            </a:p>
          </p:txBody>
        </p:sp>
        <p:sp>
          <p:nvSpPr>
            <p:cNvPr id="38" name="Ellipse 38"/>
            <p:cNvSpPr/>
            <p:nvPr/>
          </p:nvSpPr>
          <p:spPr>
            <a:xfrm>
              <a:off x="438150" y="3162300"/>
              <a:ext cx="457200" cy="457200"/>
            </a:xfrm>
            <a:prstGeom prst="ellipse">
              <a:avLst/>
            </a:prstGeom>
            <a:solidFill>
              <a:srgbClr val="EE492C"/>
            </a:solidFill>
            <a:ln>
              <a:noFill/>
            </a:ln>
          </p:spPr>
        </p:sp>
        <p:grpSp>
          <p:nvGrpSpPr>
            <p:cNvPr id="43" name="Group 43"/>
            <p:cNvGrpSpPr/>
            <p:nvPr/>
          </p:nvGrpSpPr>
          <p:grpSpPr>
            <a:xfrm>
              <a:off x="573881" y="3298031"/>
              <a:ext cx="185737" cy="185738"/>
              <a:chOff x="573881" y="3298031"/>
              <a:chExt cx="185737" cy="185738"/>
            </a:xfrm>
          </p:grpSpPr>
          <p:sp>
            <p:nvSpPr>
              <p:cNvPr id="39" name="Freeform 39"/>
              <p:cNvSpPr/>
              <p:nvPr/>
            </p:nvSpPr>
            <p:spPr>
              <a:xfrm>
                <a:off x="594519" y="32980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40" name="Freeform 40"/>
              <p:cNvSpPr/>
              <p:nvPr/>
            </p:nvSpPr>
            <p:spPr>
              <a:xfrm>
                <a:off x="573881" y="34218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41" name="Freeform 41"/>
              <p:cNvSpPr/>
              <p:nvPr/>
            </p:nvSpPr>
            <p:spPr>
              <a:xfrm>
                <a:off x="708024" y="32993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42" name="Freeform 42"/>
              <p:cNvSpPr/>
              <p:nvPr/>
            </p:nvSpPr>
            <p:spPr>
              <a:xfrm>
                <a:off x="728662" y="34234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44" name="Rectangle 44"/>
            <p:cNvSpPr/>
            <p:nvPr/>
          </p:nvSpPr>
          <p:spPr>
            <a:xfrm>
              <a:off x="990600" y="3009900"/>
              <a:ext cx="2152650" cy="762000"/>
            </a:xfrm>
            <a:prstGeom prst="roundRect">
              <a:avLst>
                <a:gd name="adj" fmla="val 5000"/>
              </a:avLst>
            </a:prstGeom>
            <a:solidFill>
              <a:srgbClr val="FFF8F2"/>
            </a:solidFill>
            <a:ln w="9525">
              <a:solidFill>
                <a:srgbClr val="F0B8AE"/>
              </a:solidFill>
            </a:ln>
          </p:spPr>
        </p:sp>
        <p:sp>
          <p:nvSpPr>
            <p:cNvPr id="45" name="Ellipse 45"/>
            <p:cNvSpPr/>
            <p:nvPr/>
          </p:nvSpPr>
          <p:spPr>
            <a:xfrm>
              <a:off x="1057275" y="3076575"/>
              <a:ext cx="171450" cy="171450"/>
            </a:xfrm>
            <a:prstGeom prst="ellipse">
              <a:avLst/>
            </a:prstGeom>
            <a:solidFill>
              <a:srgbClr val="C41D00"/>
            </a:solidFill>
            <a:ln>
              <a:noFill/>
            </a:ln>
          </p:spPr>
        </p:sp>
        <p:sp>
          <p:nvSpPr>
            <p:cNvPr id="46" name="TextBox 46"/>
            <p:cNvSpPr txBox="1"/>
            <p:nvPr/>
          </p:nvSpPr>
          <p:spPr>
            <a:xfrm>
              <a:off x="1050777" y="31194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47" name="TextBox 47"/>
            <p:cNvSpPr txBox="1"/>
            <p:nvPr/>
          </p:nvSpPr>
          <p:spPr>
            <a:xfrm>
              <a:off x="1271588" y="3119438"/>
              <a:ext cx="977712" cy="147638"/>
            </a:xfrm>
            <a:prstGeom prst="rect">
              <a:avLst/>
            </a:prstGeom>
            <a:noFill/>
            <a:ln>
              <a:noFill/>
            </a:ln>
          </p:spPr>
          <p:txBody>
            <a:bodyPr wrap="none" lIns="0" tIns="0" rIns="0" bIns="0" anchor="t" anchorCtr="0">
              <a:spAutoFit/>
            </a:bodyPr>
            <a:lstStyle/>
            <a:p>
              <a:pPr algn="l"/>
              <a:r>
                <a:rPr lang="zh-CN" sz="750" b="1" dirty="0">
                  <a:solidFill>
                    <a:srgbClr val="C41D00"/>
                  </a:solidFill>
                  <a:latin typeface="+mn-lt"/>
                  <a:ea typeface="+mn-ea"/>
                  <a:cs typeface="+mn-cs"/>
                </a:rPr>
                <a:t>一线执行</a:t>
              </a:r>
              <a:r>
                <a:rPr lang="zh-CN" sz="640" dirty="0">
                  <a:solidFill>
                    <a:srgbClr val="7A716B"/>
                  </a:solidFill>
                  <a:latin typeface="+mn-lt"/>
                  <a:ea typeface="+mn-ea"/>
                  <a:cs typeface="+mn-cs"/>
                </a:rPr>
                <a:t>（落地执行）​</a:t>
              </a:r>
            </a:p>
          </p:txBody>
        </p:sp>
        <p:sp>
          <p:nvSpPr>
            <p:cNvPr id="48" name="TextBox 48"/>
            <p:cNvSpPr txBox="1"/>
            <p:nvPr/>
          </p:nvSpPr>
          <p:spPr>
            <a:xfrm>
              <a:off x="1271588" y="3288030"/>
              <a:ext cx="1007745" cy="4619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执行营销与服务动作​​</a:t>
              </a:r>
            </a:p>
            <a:p>
              <a:pPr algn="l" marL="76200" indent="-76200">
                <a:lnSpc>
                  <a:spcPts val="900"/>
                </a:lnSpc>
                <a:buClr>
                  <a:srgbClr val="3D3835"/>
                </a:buClr>
                <a:buSzTx/>
                <a:buFontTx/>
                <a:buChar char="•"/>
              </a:pPr>
              <a:r>
                <a:rPr lang="zh-CN" sz="600" dirty="0">
                  <a:solidFill>
                    <a:srgbClr val="3D3835"/>
                  </a:solidFill>
                  <a:latin typeface="+mn-lt"/>
                  <a:ea typeface="+mn-ea"/>
                  <a:cs typeface="+mn-cs"/>
                </a:rPr>
                <a:t>客户经营与问题闭环​​</a:t>
              </a:r>
            </a:p>
            <a:p>
              <a:pPr algn="l" marL="76200" indent="-76200">
                <a:lnSpc>
                  <a:spcPts val="900"/>
                </a:lnSpc>
                <a:buClr>
                  <a:srgbClr val="3D3835"/>
                </a:buClr>
                <a:buSzTx/>
                <a:buFontTx/>
                <a:buChar char="•"/>
              </a:pPr>
              <a:r>
                <a:rPr lang="zh-CN" sz="600" dirty="0">
                  <a:solidFill>
                    <a:srgbClr val="3D3835"/>
                  </a:solidFill>
                  <a:latin typeface="+mn-lt"/>
                  <a:ea typeface="+mn-ea"/>
                  <a:cs typeface="+mn-cs"/>
                </a:rPr>
                <a:t>数据录入与质量保障​​</a:t>
              </a:r>
            </a:p>
            <a:p>
              <a:pPr algn="l" marL="76200" indent="-76200">
                <a:lnSpc>
                  <a:spcPts val="900"/>
                </a:lnSpc>
                <a:buClr>
                  <a:srgbClr val="3D3835"/>
                </a:buClr>
                <a:buSzTx/>
                <a:buFontTx/>
                <a:buChar char="•"/>
              </a:pPr>
              <a:r>
                <a:rPr lang="zh-CN" sz="600" dirty="0">
                  <a:solidFill>
                    <a:srgbClr val="3D3835"/>
                  </a:solidFill>
                  <a:latin typeface="+mn-lt"/>
                  <a:ea typeface="+mn-ea"/>
                  <a:cs typeface="+mn-cs"/>
                </a:rPr>
                <a:t>反馈市场信息与改进建议​​</a:t>
              </a:r>
            </a:p>
          </p:txBody>
        </p:sp>
      </p:grpSp>
      <p:grpSp>
        <p:nvGrpSpPr>
          <p:cNvPr id="164" name="raci-matrix"/>
          <p:cNvGrpSpPr/>
          <p:nvPr/>
        </p:nvGrpSpPr>
        <p:grpSpPr>
          <a:xfrm>
            <a:off x="3219450" y="685800"/>
            <a:ext cx="4457700" cy="3019663"/>
            <a:chOff x="3219450" y="685800"/>
            <a:chExt cx="4457700" cy="3019663"/>
          </a:xfrm>
        </p:grpSpPr>
        <p:sp>
          <p:nvSpPr>
            <p:cNvPr id="50" name="Rectangle 50"/>
            <p:cNvSpPr/>
            <p:nvPr/>
          </p:nvSpPr>
          <p:spPr>
            <a:xfrm>
              <a:off x="3219450" y="685800"/>
              <a:ext cx="4457700" cy="228600"/>
            </a:xfrm>
            <a:prstGeom prst="roundRect">
              <a:avLst>
                <a:gd name="adj" fmla="val 12500"/>
              </a:avLst>
            </a:prstGeom>
            <a:solidFill>
              <a:srgbClr val="C41D00"/>
            </a:solidFill>
            <a:ln>
              <a:noFill/>
            </a:ln>
          </p:spPr>
        </p:sp>
        <p:sp>
          <p:nvSpPr>
            <p:cNvPr id="51" name="TextBox 51"/>
            <p:cNvSpPr txBox="1"/>
            <p:nvPr/>
          </p:nvSpPr>
          <p:spPr>
            <a:xfrm>
              <a:off x="4428278" y="754618"/>
              <a:ext cx="20400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​​RACI职责矩阵（覆盖关键职能域）​​</a:t>
              </a:r>
            </a:p>
          </p:txBody>
        </p:sp>
        <p:sp>
          <p:nvSpPr>
            <p:cNvPr id="52" name="Rectangle 52"/>
            <p:cNvSpPr/>
            <p:nvPr/>
          </p:nvSpPr>
          <p:spPr>
            <a:xfrm>
              <a:off x="3219450" y="952500"/>
              <a:ext cx="4457700" cy="381000"/>
            </a:xfrm>
            <a:prstGeom prst="rect">
              <a:avLst/>
            </a:prstGeom>
            <a:solidFill>
              <a:srgbClr val="FEF2E6"/>
            </a:solidFill>
            <a:ln w="9525">
              <a:solidFill>
                <a:srgbClr val="F0B8AE"/>
              </a:solidFill>
            </a:ln>
          </p:spPr>
        </p:sp>
        <p:sp>
          <p:nvSpPr>
            <p:cNvPr id="53" name="TextBox 53"/>
            <p:cNvSpPr txBox="1"/>
            <p:nvPr/>
          </p:nvSpPr>
          <p:spPr>
            <a:xfrm>
              <a:off x="3344075" y="1108234"/>
              <a:ext cx="284150" cy="133350"/>
            </a:xfrm>
            <a:prstGeom prst="rect">
              <a:avLst/>
            </a:prstGeom>
            <a:noFill/>
            <a:ln>
              <a:noFill/>
            </a:ln>
          </p:spPr>
          <p:txBody>
            <a:bodyPr wrap="none" lIns="0" tIns="0" rIns="0" bIns="0" anchor="t" anchorCtr="0">
              <a:spAutoFit/>
            </a:bodyPr>
            <a:lstStyle/>
            <a:p>
              <a:pPr algn="ctr"/>
              <a:r>
                <a:rPr lang="zh-CN" sz="680" b="1" dirty="0">
                  <a:solidFill>
                    <a:srgbClr val="4A130A"/>
                  </a:solidFill>
                  <a:latin typeface="+mn-lt"/>
                  <a:ea typeface="+mn-ea"/>
                  <a:cs typeface="+mn-cs"/>
                </a:rPr>
                <a:t>职能域</a:t>
              </a:r>
            </a:p>
          </p:txBody>
        </p:sp>
        <p:grpSp>
          <p:nvGrpSpPr>
            <p:cNvPr id="58" name="Group 58"/>
            <p:cNvGrpSpPr/>
            <p:nvPr/>
          </p:nvGrpSpPr>
          <p:grpSpPr>
            <a:xfrm>
              <a:off x="3982879" y="1007269"/>
              <a:ext cx="100012" cy="100012"/>
              <a:chOff x="3982879" y="1007269"/>
              <a:chExt cx="100012" cy="100012"/>
            </a:xfrm>
          </p:grpSpPr>
          <p:sp>
            <p:nvSpPr>
              <p:cNvPr id="54" name="Freeform 54"/>
              <p:cNvSpPr/>
              <p:nvPr/>
            </p:nvSpPr>
            <p:spPr>
              <a:xfrm>
                <a:off x="3993991" y="10072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D82000"/>
                </a:solidFill>
              </a:ln>
            </p:spPr>
          </p:sp>
          <p:sp>
            <p:nvSpPr>
              <p:cNvPr id="55" name="Freeform 55"/>
              <p:cNvSpPr/>
              <p:nvPr/>
            </p:nvSpPr>
            <p:spPr>
              <a:xfrm>
                <a:off x="3982879" y="10739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D82000"/>
                </a:solidFill>
              </a:ln>
            </p:spPr>
          </p:sp>
          <p:sp>
            <p:nvSpPr>
              <p:cNvPr id="56" name="Freeform 56"/>
              <p:cNvSpPr/>
              <p:nvPr/>
            </p:nvSpPr>
            <p:spPr>
              <a:xfrm>
                <a:off x="4055110" y="10079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D82000"/>
                </a:solidFill>
              </a:ln>
            </p:spPr>
          </p:sp>
          <p:sp>
            <p:nvSpPr>
              <p:cNvPr id="57" name="Freeform 57"/>
              <p:cNvSpPr/>
              <p:nvPr/>
            </p:nvSpPr>
            <p:spPr>
              <a:xfrm>
                <a:off x="4066222" y="10747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D82000"/>
                </a:solidFill>
              </a:ln>
            </p:spPr>
          </p:sp>
        </p:grpSp>
        <p:sp>
          <p:nvSpPr>
            <p:cNvPr id="59" name="TextBox 59"/>
            <p:cNvSpPr txBox="1"/>
            <p:nvPr/>
          </p:nvSpPr>
          <p:spPr>
            <a:xfrm>
              <a:off x="3866578" y="1192530"/>
              <a:ext cx="332613"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零售业务</a:t>
              </a:r>
            </a:p>
          </p:txBody>
        </p:sp>
        <p:grpSp>
          <p:nvGrpSpPr>
            <p:cNvPr id="65" name="Group 65"/>
            <p:cNvGrpSpPr/>
            <p:nvPr/>
          </p:nvGrpSpPr>
          <p:grpSpPr>
            <a:xfrm>
              <a:off x="4543901" y="1006524"/>
              <a:ext cx="100013" cy="100757"/>
              <a:chOff x="4543901" y="1006524"/>
              <a:chExt cx="100013" cy="100757"/>
            </a:xfrm>
          </p:grpSpPr>
          <p:sp>
            <p:nvSpPr>
              <p:cNvPr id="60" name="Freeform 60"/>
              <p:cNvSpPr/>
              <p:nvPr/>
            </p:nvSpPr>
            <p:spPr>
              <a:xfrm>
                <a:off x="4577239" y="1051719"/>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D82000"/>
                </a:solidFill>
              </a:ln>
            </p:spPr>
          </p:sp>
          <p:sp>
            <p:nvSpPr>
              <p:cNvPr id="61" name="Freeform 61"/>
              <p:cNvSpPr/>
              <p:nvPr/>
            </p:nvSpPr>
            <p:spPr>
              <a:xfrm>
                <a:off x="4577239" y="1068387"/>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D82000"/>
                </a:solidFill>
              </a:ln>
            </p:spPr>
          </p:sp>
          <p:sp>
            <p:nvSpPr>
              <p:cNvPr id="62" name="Freeform 62"/>
              <p:cNvSpPr/>
              <p:nvPr/>
            </p:nvSpPr>
            <p:spPr>
              <a:xfrm>
                <a:off x="4543901" y="1006524"/>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D82000"/>
                </a:solidFill>
              </a:ln>
            </p:spPr>
          </p:sp>
          <p:sp>
            <p:nvSpPr>
              <p:cNvPr id="63" name="Freeform 63"/>
              <p:cNvSpPr/>
              <p:nvPr/>
            </p:nvSpPr>
            <p:spPr>
              <a:xfrm>
                <a:off x="4543901" y="1023937"/>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D82000"/>
                </a:solidFill>
              </a:ln>
            </p:spPr>
          </p:sp>
          <p:sp>
            <p:nvSpPr>
              <p:cNvPr id="64" name="Freeform 64"/>
              <p:cNvSpPr/>
              <p:nvPr/>
            </p:nvSpPr>
            <p:spPr>
              <a:xfrm>
                <a:off x="4543901" y="1051719"/>
                <a:ext cx="11112" cy="11112"/>
              </a:xfrm>
              <a:custGeom>
                <a:avLst/>
                <a:gdLst/>
                <a:ahLst/>
                <a:cxnLst/>
                <a:rect l="l" t="t" r="r" b="b"/>
                <a:pathLst>
                  <a:path w="11112" h="11112">
                    <a:moveTo>
                      <a:pt x="0" y="0"/>
                    </a:moveTo>
                    <a:cubicBezTo>
                      <a:pt x="0" y="4934"/>
                      <a:pt x="4289" y="8057"/>
                      <a:pt x="11112" y="11112"/>
                    </a:cubicBezTo>
                  </a:path>
                </a:pathLst>
              </a:custGeom>
              <a:noFill/>
              <a:ln w="11112">
                <a:solidFill>
                  <a:srgbClr val="D82000"/>
                </a:solidFill>
              </a:ln>
            </p:spPr>
          </p:sp>
        </p:grpSp>
        <p:sp>
          <p:nvSpPr>
            <p:cNvPr id="66" name="TextBox 66"/>
            <p:cNvSpPr txBox="1"/>
            <p:nvPr/>
          </p:nvSpPr>
          <p:spPr>
            <a:xfrm>
              <a:off x="4427601" y="1192530"/>
              <a:ext cx="332613"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产品管理</a:t>
              </a:r>
            </a:p>
          </p:txBody>
        </p:sp>
        <p:grpSp>
          <p:nvGrpSpPr>
            <p:cNvPr id="70" name="Group 70"/>
            <p:cNvGrpSpPr/>
            <p:nvPr/>
          </p:nvGrpSpPr>
          <p:grpSpPr>
            <a:xfrm>
              <a:off x="5115084" y="1007269"/>
              <a:ext cx="77787" cy="100012"/>
              <a:chOff x="5115084" y="1007269"/>
              <a:chExt cx="77787" cy="100012"/>
            </a:xfrm>
          </p:grpSpPr>
          <p:sp>
            <p:nvSpPr>
              <p:cNvPr id="67" name="Freeform 67"/>
              <p:cNvSpPr/>
              <p:nvPr/>
            </p:nvSpPr>
            <p:spPr>
              <a:xfrm>
                <a:off x="5115084" y="1040606"/>
                <a:ext cx="77787" cy="66675"/>
              </a:xfrm>
              <a:custGeom>
                <a:avLst/>
                <a:gdLst/>
                <a:ahLst/>
                <a:cxnLst/>
                <a:rect l="l" t="t" r="r" b="b"/>
                <a:pathLst>
                  <a:path w="77787" h="66675">
                    <a:moveTo>
                      <a:pt x="16669" y="0"/>
                    </a:moveTo>
                    <a:lnTo>
                      <a:pt x="11112" y="0"/>
                    </a:lnTo>
                    <a:cubicBezTo>
                      <a:pt x="4975" y="0"/>
                      <a:pt x="0" y="4975"/>
                      <a:pt x="0" y="11112"/>
                    </a:cubicBezTo>
                    <a:lnTo>
                      <a:pt x="0" y="55562"/>
                    </a:lnTo>
                    <a:cubicBezTo>
                      <a:pt x="0" y="61700"/>
                      <a:pt x="4975" y="66675"/>
                      <a:pt x="11112" y="66675"/>
                    </a:cubicBezTo>
                    <a:lnTo>
                      <a:pt x="66675" y="66675"/>
                    </a:lnTo>
                    <a:cubicBezTo>
                      <a:pt x="72812" y="66675"/>
                      <a:pt x="77787" y="61700"/>
                      <a:pt x="77787" y="55562"/>
                    </a:cubicBezTo>
                    <a:lnTo>
                      <a:pt x="77787" y="11112"/>
                    </a:lnTo>
                    <a:cubicBezTo>
                      <a:pt x="77787" y="4975"/>
                      <a:pt x="72812" y="0"/>
                      <a:pt x="66675" y="0"/>
                    </a:cubicBezTo>
                    <a:lnTo>
                      <a:pt x="61119" y="0"/>
                    </a:lnTo>
                  </a:path>
                </a:pathLst>
              </a:custGeom>
              <a:noFill/>
              <a:ln w="11112">
                <a:solidFill>
                  <a:srgbClr val="D82000"/>
                </a:solidFill>
              </a:ln>
            </p:spPr>
          </p:sp>
          <p:sp>
            <p:nvSpPr>
              <p:cNvPr id="68" name="Freeform 68"/>
              <p:cNvSpPr/>
              <p:nvPr/>
            </p:nvSpPr>
            <p:spPr>
              <a:xfrm>
                <a:off x="5153977" y="1007269"/>
                <a:ext cx="9525" cy="61119"/>
              </a:xfrm>
              <a:custGeom>
                <a:avLst/>
                <a:gdLst/>
                <a:ahLst/>
                <a:cxnLst/>
                <a:rect l="l" t="t" r="r" b="b"/>
                <a:pathLst>
                  <a:path w="9525" h="61119">
                    <a:moveTo>
                      <a:pt x="0" y="61119"/>
                    </a:moveTo>
                    <a:lnTo>
                      <a:pt x="0" y="0"/>
                    </a:lnTo>
                  </a:path>
                </a:pathLst>
              </a:custGeom>
              <a:noFill/>
              <a:ln w="11112">
                <a:solidFill>
                  <a:srgbClr val="D82000"/>
                </a:solidFill>
              </a:ln>
            </p:spPr>
          </p:sp>
          <p:sp>
            <p:nvSpPr>
              <p:cNvPr id="69" name="Freeform 69"/>
              <p:cNvSpPr/>
              <p:nvPr/>
            </p:nvSpPr>
            <p:spPr>
              <a:xfrm>
                <a:off x="5137309" y="1007269"/>
                <a:ext cx="33337" cy="16669"/>
              </a:xfrm>
              <a:custGeom>
                <a:avLst/>
                <a:gdLst/>
                <a:ahLst/>
                <a:cxnLst/>
                <a:rect l="l" t="t" r="r" b="b"/>
                <a:pathLst>
                  <a:path w="33337" h="16669">
                    <a:moveTo>
                      <a:pt x="0" y="16669"/>
                    </a:moveTo>
                    <a:lnTo>
                      <a:pt x="16669" y="0"/>
                    </a:lnTo>
                    <a:lnTo>
                      <a:pt x="33337" y="16669"/>
                    </a:lnTo>
                  </a:path>
                </a:pathLst>
              </a:custGeom>
              <a:noFill/>
              <a:ln w="11112">
                <a:solidFill>
                  <a:srgbClr val="D82000"/>
                </a:solidFill>
              </a:ln>
            </p:spPr>
          </p:sp>
        </p:grpSp>
        <p:sp>
          <p:nvSpPr>
            <p:cNvPr id="71" name="TextBox 71"/>
            <p:cNvSpPr txBox="1"/>
            <p:nvPr/>
          </p:nvSpPr>
          <p:spPr>
            <a:xfrm>
              <a:off x="4987671" y="1192530"/>
              <a:ext cx="332613"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渠道管理</a:t>
              </a:r>
            </a:p>
          </p:txBody>
        </p:sp>
        <p:grpSp>
          <p:nvGrpSpPr>
            <p:cNvPr id="76" name="Group 76"/>
            <p:cNvGrpSpPr/>
            <p:nvPr/>
          </p:nvGrpSpPr>
          <p:grpSpPr>
            <a:xfrm>
              <a:off x="5664994" y="1012825"/>
              <a:ext cx="100012" cy="98425"/>
              <a:chOff x="5664994" y="1012825"/>
              <a:chExt cx="100012" cy="98425"/>
            </a:xfrm>
          </p:grpSpPr>
          <p:sp>
            <p:nvSpPr>
              <p:cNvPr id="72" name="Freeform 72"/>
              <p:cNvSpPr/>
              <p:nvPr/>
            </p:nvSpPr>
            <p:spPr>
              <a:xfrm>
                <a:off x="5664994" y="1057275"/>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D82000"/>
                </a:solidFill>
              </a:ln>
            </p:spPr>
          </p:sp>
          <p:sp>
            <p:nvSpPr>
              <p:cNvPr id="73" name="Freeform 73"/>
              <p:cNvSpPr/>
              <p:nvPr/>
            </p:nvSpPr>
            <p:spPr>
              <a:xfrm>
                <a:off x="5731669" y="1035050"/>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D82000"/>
                </a:solidFill>
              </a:ln>
            </p:spPr>
          </p:sp>
          <p:sp>
            <p:nvSpPr>
              <p:cNvPr id="74" name="Freeform 74"/>
              <p:cNvSpPr/>
              <p:nvPr/>
            </p:nvSpPr>
            <p:spPr>
              <a:xfrm>
                <a:off x="5698331" y="1012825"/>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D82000"/>
                </a:solidFill>
              </a:ln>
            </p:spPr>
          </p:sp>
          <p:sp>
            <p:nvSpPr>
              <p:cNvPr id="75" name="Freeform 75"/>
              <p:cNvSpPr/>
              <p:nvPr/>
            </p:nvSpPr>
            <p:spPr>
              <a:xfrm>
                <a:off x="5670550" y="1101725"/>
                <a:ext cx="77787" cy="9525"/>
              </a:xfrm>
              <a:custGeom>
                <a:avLst/>
                <a:gdLst/>
                <a:ahLst/>
                <a:cxnLst/>
                <a:rect l="l" t="t" r="r" b="b"/>
                <a:pathLst>
                  <a:path w="77787" h="9525">
                    <a:moveTo>
                      <a:pt x="0" y="0"/>
                    </a:moveTo>
                    <a:lnTo>
                      <a:pt x="77787" y="0"/>
                    </a:lnTo>
                  </a:path>
                </a:pathLst>
              </a:custGeom>
              <a:noFill/>
              <a:ln w="11112">
                <a:solidFill>
                  <a:srgbClr val="D82000"/>
                </a:solidFill>
              </a:ln>
            </p:spPr>
          </p:sp>
        </p:grpSp>
        <p:sp>
          <p:nvSpPr>
            <p:cNvPr id="77" name="TextBox 77"/>
            <p:cNvSpPr txBox="1"/>
            <p:nvPr/>
          </p:nvSpPr>
          <p:spPr>
            <a:xfrm>
              <a:off x="5508308" y="1192530"/>
              <a:ext cx="413385"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数据与洞察</a:t>
              </a:r>
            </a:p>
          </p:txBody>
        </p:sp>
        <p:grpSp>
          <p:nvGrpSpPr>
            <p:cNvPr id="80" name="Group 80"/>
            <p:cNvGrpSpPr/>
            <p:nvPr/>
          </p:nvGrpSpPr>
          <p:grpSpPr>
            <a:xfrm>
              <a:off x="6223577" y="1004830"/>
              <a:ext cx="104891" cy="104891"/>
              <a:chOff x="6223577" y="1004830"/>
              <a:chExt cx="104891" cy="104891"/>
            </a:xfrm>
          </p:grpSpPr>
          <p:sp>
            <p:nvSpPr>
              <p:cNvPr id="78" name="Freeform 78"/>
              <p:cNvSpPr/>
              <p:nvPr/>
            </p:nvSpPr>
            <p:spPr>
              <a:xfrm>
                <a:off x="6223577" y="1004830"/>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D82000"/>
                </a:solidFill>
              </a:ln>
            </p:spPr>
          </p:sp>
          <p:sp>
            <p:nvSpPr>
              <p:cNvPr id="79" name="Freeform 79"/>
              <p:cNvSpPr/>
              <p:nvPr/>
            </p:nvSpPr>
            <p:spPr>
              <a:xfrm>
                <a:off x="6259354" y="1040606"/>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D82000"/>
                </a:solidFill>
              </a:ln>
            </p:spPr>
          </p:sp>
        </p:grpSp>
        <p:sp>
          <p:nvSpPr>
            <p:cNvPr id="81" name="TextBox 81"/>
            <p:cNvSpPr txBox="1"/>
            <p:nvPr/>
          </p:nvSpPr>
          <p:spPr>
            <a:xfrm>
              <a:off x="6069330" y="1192530"/>
              <a:ext cx="413385"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科技与运营</a:t>
              </a:r>
            </a:p>
          </p:txBody>
        </p:sp>
        <p:grpSp>
          <p:nvGrpSpPr>
            <p:cNvPr id="84" name="Group 84"/>
            <p:cNvGrpSpPr/>
            <p:nvPr/>
          </p:nvGrpSpPr>
          <p:grpSpPr>
            <a:xfrm>
              <a:off x="6778588" y="1007269"/>
              <a:ext cx="108504" cy="100012"/>
              <a:chOff x="6778588" y="1007269"/>
              <a:chExt cx="108504" cy="100012"/>
            </a:xfrm>
          </p:grpSpPr>
          <p:sp>
            <p:nvSpPr>
              <p:cNvPr id="82" name="Freeform 82"/>
              <p:cNvSpPr/>
              <p:nvPr/>
            </p:nvSpPr>
            <p:spPr>
              <a:xfrm>
                <a:off x="6778588" y="100726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D82000"/>
                </a:solidFill>
              </a:ln>
            </p:spPr>
          </p:sp>
          <p:sp>
            <p:nvSpPr>
              <p:cNvPr id="83" name="Freeform 83"/>
              <p:cNvSpPr/>
              <p:nvPr/>
            </p:nvSpPr>
            <p:spPr>
              <a:xfrm>
                <a:off x="6852761" y="1085056"/>
                <a:ext cx="33337" cy="22225"/>
              </a:xfrm>
              <a:custGeom>
                <a:avLst/>
                <a:gdLst/>
                <a:ahLst/>
                <a:cxnLst/>
                <a:rect l="l" t="t" r="r" b="b"/>
                <a:pathLst>
                  <a:path w="33337" h="22225">
                    <a:moveTo>
                      <a:pt x="0" y="11112"/>
                    </a:moveTo>
                    <a:lnTo>
                      <a:pt x="11112" y="22225"/>
                    </a:lnTo>
                    <a:lnTo>
                      <a:pt x="33337" y="0"/>
                    </a:lnTo>
                  </a:path>
                </a:pathLst>
              </a:custGeom>
              <a:noFill/>
              <a:ln w="11112">
                <a:solidFill>
                  <a:srgbClr val="D82000"/>
                </a:solidFill>
              </a:ln>
            </p:spPr>
          </p:sp>
        </p:grpSp>
        <p:sp>
          <p:nvSpPr>
            <p:cNvPr id="85" name="TextBox 85"/>
            <p:cNvSpPr txBox="1"/>
            <p:nvPr/>
          </p:nvSpPr>
          <p:spPr>
            <a:xfrm>
              <a:off x="6629400" y="1192530"/>
              <a:ext cx="413385"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风险与合规</a:t>
              </a:r>
            </a:p>
          </p:txBody>
        </p:sp>
        <p:grpSp>
          <p:nvGrpSpPr>
            <p:cNvPr id="94" name="Group 94"/>
            <p:cNvGrpSpPr/>
            <p:nvPr/>
          </p:nvGrpSpPr>
          <p:grpSpPr>
            <a:xfrm>
              <a:off x="7347109" y="1007269"/>
              <a:ext cx="103981" cy="109537"/>
              <a:chOff x="7347109" y="1007269"/>
              <a:chExt cx="103981" cy="109537"/>
            </a:xfrm>
          </p:grpSpPr>
          <p:sp>
            <p:nvSpPr>
              <p:cNvPr id="86" name="Freeform 86"/>
              <p:cNvSpPr/>
              <p:nvPr/>
            </p:nvSpPr>
            <p:spPr>
              <a:xfrm>
                <a:off x="7347109" y="1107281"/>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87" name="Freeform 87"/>
              <p:cNvSpPr/>
              <p:nvPr/>
            </p:nvSpPr>
            <p:spPr>
              <a:xfrm>
                <a:off x="7347109" y="1046162"/>
                <a:ext cx="100012" cy="9525"/>
              </a:xfrm>
              <a:custGeom>
                <a:avLst/>
                <a:gdLst/>
                <a:ahLst/>
                <a:cxnLst/>
                <a:rect l="l" t="t" r="r" b="b"/>
                <a:pathLst>
                  <a:path w="100012" h="9525">
                    <a:moveTo>
                      <a:pt x="0" y="0"/>
                    </a:moveTo>
                    <a:lnTo>
                      <a:pt x="100012" y="0"/>
                    </a:lnTo>
                  </a:path>
                </a:pathLst>
              </a:custGeom>
              <a:noFill/>
              <a:ln w="11112">
                <a:solidFill>
                  <a:srgbClr val="D82000"/>
                </a:solidFill>
              </a:ln>
            </p:spPr>
          </p:sp>
          <p:sp>
            <p:nvSpPr>
              <p:cNvPr id="88" name="Freeform 88"/>
              <p:cNvSpPr/>
              <p:nvPr/>
            </p:nvSpPr>
            <p:spPr>
              <a:xfrm>
                <a:off x="7358221" y="1007269"/>
                <a:ext cx="77787" cy="16669"/>
              </a:xfrm>
              <a:custGeom>
                <a:avLst/>
                <a:gdLst/>
                <a:ahLst/>
                <a:cxnLst/>
                <a:rect l="l" t="t" r="r" b="b"/>
                <a:pathLst>
                  <a:path w="77787" h="16669">
                    <a:moveTo>
                      <a:pt x="0" y="16669"/>
                    </a:moveTo>
                    <a:lnTo>
                      <a:pt x="38894" y="0"/>
                    </a:lnTo>
                    <a:lnTo>
                      <a:pt x="77787" y="16669"/>
                    </a:lnTo>
                  </a:path>
                </a:pathLst>
              </a:custGeom>
              <a:noFill/>
              <a:ln w="11112">
                <a:solidFill>
                  <a:srgbClr val="D82000"/>
                </a:solidFill>
              </a:ln>
            </p:spPr>
          </p:sp>
          <p:sp>
            <p:nvSpPr>
              <p:cNvPr id="89" name="Freeform 89"/>
              <p:cNvSpPr/>
              <p:nvPr/>
            </p:nvSpPr>
            <p:spPr>
              <a:xfrm>
                <a:off x="7352665" y="1046162"/>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90" name="Freeform 90"/>
              <p:cNvSpPr/>
              <p:nvPr/>
            </p:nvSpPr>
            <p:spPr>
              <a:xfrm>
                <a:off x="7441565" y="1046162"/>
                <a:ext cx="9525" cy="61119"/>
              </a:xfrm>
              <a:custGeom>
                <a:avLst/>
                <a:gdLst/>
                <a:ahLst/>
                <a:cxnLst/>
                <a:rect l="l" t="t" r="r" b="b"/>
                <a:pathLst>
                  <a:path w="9525" h="61119">
                    <a:moveTo>
                      <a:pt x="0" y="0"/>
                    </a:moveTo>
                    <a:lnTo>
                      <a:pt x="0" y="61119"/>
                    </a:lnTo>
                  </a:path>
                </a:pathLst>
              </a:custGeom>
              <a:noFill/>
              <a:ln w="11112">
                <a:solidFill>
                  <a:srgbClr val="D82000"/>
                </a:solidFill>
              </a:ln>
            </p:spPr>
          </p:sp>
          <p:sp>
            <p:nvSpPr>
              <p:cNvPr id="91" name="Freeform 91"/>
              <p:cNvSpPr/>
              <p:nvPr/>
            </p:nvSpPr>
            <p:spPr>
              <a:xfrm>
                <a:off x="7374890" y="1068387"/>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92" name="Freeform 92"/>
              <p:cNvSpPr/>
              <p:nvPr/>
            </p:nvSpPr>
            <p:spPr>
              <a:xfrm>
                <a:off x="7397115" y="1068387"/>
                <a:ext cx="9525" cy="16669"/>
              </a:xfrm>
              <a:custGeom>
                <a:avLst/>
                <a:gdLst/>
                <a:ahLst/>
                <a:cxnLst/>
                <a:rect l="l" t="t" r="r" b="b"/>
                <a:pathLst>
                  <a:path w="9525" h="16669">
                    <a:moveTo>
                      <a:pt x="0" y="0"/>
                    </a:moveTo>
                    <a:lnTo>
                      <a:pt x="0" y="16669"/>
                    </a:lnTo>
                  </a:path>
                </a:pathLst>
              </a:custGeom>
              <a:noFill/>
              <a:ln w="11112">
                <a:solidFill>
                  <a:srgbClr val="D82000"/>
                </a:solidFill>
              </a:ln>
            </p:spPr>
          </p:sp>
          <p:sp>
            <p:nvSpPr>
              <p:cNvPr id="93" name="Freeform 93"/>
              <p:cNvSpPr/>
              <p:nvPr/>
            </p:nvSpPr>
            <p:spPr>
              <a:xfrm>
                <a:off x="7419340" y="1068387"/>
                <a:ext cx="9525" cy="16669"/>
              </a:xfrm>
              <a:custGeom>
                <a:avLst/>
                <a:gdLst/>
                <a:ahLst/>
                <a:cxnLst/>
                <a:rect l="l" t="t" r="r" b="b"/>
                <a:pathLst>
                  <a:path w="9525" h="16669">
                    <a:moveTo>
                      <a:pt x="0" y="0"/>
                    </a:moveTo>
                    <a:lnTo>
                      <a:pt x="0" y="16669"/>
                    </a:lnTo>
                  </a:path>
                </a:pathLst>
              </a:custGeom>
              <a:noFill/>
              <a:ln w="11112">
                <a:solidFill>
                  <a:srgbClr val="D82000"/>
                </a:solidFill>
              </a:ln>
            </p:spPr>
          </p:sp>
        </p:grpSp>
        <p:sp>
          <p:nvSpPr>
            <p:cNvPr id="95" name="TextBox 95"/>
            <p:cNvSpPr txBox="1"/>
            <p:nvPr/>
          </p:nvSpPr>
          <p:spPr>
            <a:xfrm>
              <a:off x="7311580" y="1192530"/>
              <a:ext cx="171069" cy="119062"/>
            </a:xfrm>
            <a:prstGeom prst="rect">
              <a:avLst/>
            </a:prstGeom>
            <a:noFill/>
            <a:ln>
              <a:noFill/>
            </a:ln>
          </p:spPr>
          <p:txBody>
            <a:bodyPr wrap="none" lIns="0" tIns="0" rIns="0" bIns="0" anchor="t" anchorCtr="0">
              <a:spAutoFit/>
            </a:bodyPr>
            <a:lstStyle/>
            <a:p>
              <a:pPr algn="ctr"/>
              <a:r>
                <a:rPr lang="zh-CN" sz="600" b="1" dirty="0">
                  <a:solidFill>
                    <a:srgbClr val="4A130A"/>
                  </a:solidFill>
                  <a:latin typeface="+mn-lt"/>
                  <a:ea typeface="+mn-ea"/>
                  <a:cs typeface="+mn-cs"/>
                </a:rPr>
                <a:t>分行</a:t>
              </a:r>
            </a:p>
          </p:txBody>
        </p:sp>
        <p:sp>
          <p:nvSpPr>
            <p:cNvPr id="96" name="Rectangle 96"/>
            <p:cNvSpPr/>
            <p:nvPr/>
          </p:nvSpPr>
          <p:spPr>
            <a:xfrm>
              <a:off x="3219450" y="1333500"/>
              <a:ext cx="4457700" cy="2114550"/>
            </a:xfrm>
            <a:prstGeom prst="rect">
              <a:avLst/>
            </a:prstGeom>
            <a:solidFill>
              <a:srgbClr val="FFFFFF"/>
            </a:solidFill>
            <a:ln w="9525">
              <a:solidFill>
                <a:srgbClr val="F0B8AE"/>
              </a:solidFill>
            </a:ln>
          </p:spPr>
        </p:sp>
        <p:sp>
          <p:nvSpPr>
            <p:cNvPr id="97" name="Rectangle 97"/>
            <p:cNvSpPr/>
            <p:nvPr/>
          </p:nvSpPr>
          <p:spPr>
            <a:xfrm>
              <a:off x="3219450" y="2038350"/>
              <a:ext cx="4457700" cy="704850"/>
            </a:xfrm>
            <a:prstGeom prst="rect">
              <a:avLst/>
            </a:prstGeom>
            <a:solidFill>
              <a:srgbClr val="FFF8F2"/>
            </a:solidFill>
            <a:ln>
              <a:noFill/>
            </a:ln>
          </p:spPr>
        </p:sp>
        <p:sp>
          <p:nvSpPr>
            <p:cNvPr id="98" name="TextBox 98"/>
            <p:cNvSpPr txBox="1"/>
            <p:nvPr/>
          </p:nvSpPr>
          <p:spPr>
            <a:xfrm>
              <a:off x="3395028" y="1584484"/>
              <a:ext cx="182245" cy="247650"/>
            </a:xfrm>
            <a:prstGeom prst="rect">
              <a:avLst/>
            </a:prstGeom>
            <a:noFill/>
            <a:ln>
              <a:noFill/>
            </a:ln>
          </p:spPr>
          <p:txBody>
            <a:bodyPr wrap="none" lIns="0" tIns="0" rIns="0" bIns="0" anchor="t" anchorCtr="0">
              <a:spAutoFit/>
            </a:bodyPr>
            <a:lstStyle/>
            <a:p>
              <a:pPr algn="ctr">
                <a:lnSpc>
                  <a:spcPts val="900"/>
                </a:lnSpc>
              </a:pPr>
              <a:r>
                <a:rPr lang="zh-CN" sz="680" b="1" dirty="0">
                  <a:solidFill>
                    <a:srgbClr val="4A130A"/>
                  </a:solidFill>
                  <a:latin typeface="+mn-lt"/>
                  <a:ea typeface="+mn-ea"/>
                  <a:cs typeface="+mn-cs"/>
                </a:rPr>
                <a:t>总行</a:t>
              </a:r>
              <a:br/>
              <a:r>
                <a:rPr lang="zh-CN" sz="680" b="1" dirty="0">
                  <a:solidFill>
                    <a:srgbClr val="4A130A"/>
                  </a:solidFill>
                  <a:latin typeface="+mn-lt"/>
                  <a:ea typeface="+mn-ea"/>
                  <a:cs typeface="+mn-cs"/>
                </a:rPr>
                <a:t>统筹</a:t>
              </a:r>
            </a:p>
          </p:txBody>
        </p:sp>
        <p:sp>
          <p:nvSpPr>
            <p:cNvPr id="99" name="TextBox 99"/>
            <p:cNvSpPr txBox="1"/>
            <p:nvPr/>
          </p:nvSpPr>
          <p:spPr>
            <a:xfrm>
              <a:off x="3917229" y="1464945"/>
              <a:ext cx="231313" cy="176212"/>
            </a:xfrm>
            <a:prstGeom prst="rect">
              <a:avLst/>
            </a:prstGeom>
            <a:noFill/>
            <a:ln>
              <a:noFill/>
            </a:ln>
          </p:spPr>
          <p:txBody>
            <a:bodyPr wrap="none" lIns="0" tIns="0" rIns="0" bIns="0" anchor="t" anchorCtr="0">
              <a:spAutoFit/>
            </a:bodyPr>
            <a:lstStyle/>
            <a:p>
              <a:pPr algn="ctr"/>
              <a:r>
                <a:rPr lang="en-US" sz="900" b="1" dirty="0">
                  <a:solidFill>
                    <a:srgbClr val="C41D00"/>
                  </a:solidFill>
                  <a:latin typeface="+mn-lt"/>
                  <a:ea typeface="+mn-ea"/>
                  <a:cs typeface="+mn-cs"/>
                </a:rPr>
                <a:t>​A​</a:t>
              </a:r>
            </a:p>
          </p:txBody>
        </p:sp>
        <p:sp>
          <p:nvSpPr>
            <p:cNvPr id="100" name="TextBox 100"/>
            <p:cNvSpPr txBox="1"/>
            <p:nvPr/>
          </p:nvSpPr>
          <p:spPr>
            <a:xfrm>
              <a:off x="3885882" y="16537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战略制定</a:t>
              </a:r>
              <a:br/>
              <a:r>
                <a:rPr lang="zh-CN" sz="560" dirty="0">
                  <a:solidFill>
                    <a:srgbClr val="3D3835"/>
                  </a:solidFill>
                  <a:latin typeface="+mn-lt"/>
                  <a:ea typeface="+mn-ea"/>
                  <a:cs typeface="+mn-cs"/>
                </a:rPr>
                <a:t>目标设定</a:t>
              </a:r>
            </a:p>
          </p:txBody>
        </p:sp>
        <p:sp>
          <p:nvSpPr>
            <p:cNvPr id="101" name="TextBox 101"/>
            <p:cNvSpPr txBox="1"/>
            <p:nvPr/>
          </p:nvSpPr>
          <p:spPr>
            <a:xfrm>
              <a:off x="4478251" y="1464945"/>
              <a:ext cx="231313" cy="176212"/>
            </a:xfrm>
            <a:prstGeom prst="rect">
              <a:avLst/>
            </a:prstGeom>
            <a:noFill/>
            <a:ln>
              <a:noFill/>
            </a:ln>
          </p:spPr>
          <p:txBody>
            <a:bodyPr wrap="none" lIns="0" tIns="0" rIns="0" bIns="0" anchor="t" anchorCtr="0">
              <a:spAutoFit/>
            </a:bodyPr>
            <a:lstStyle/>
            <a:p>
              <a:pPr algn="ctr"/>
              <a:r>
                <a:rPr lang="en-US" sz="900" b="1" dirty="0">
                  <a:solidFill>
                    <a:srgbClr val="C41D00"/>
                  </a:solidFill>
                  <a:latin typeface="+mn-lt"/>
                  <a:ea typeface="+mn-ea"/>
                  <a:cs typeface="+mn-cs"/>
                </a:rPr>
                <a:t>​A​</a:t>
              </a:r>
            </a:p>
          </p:txBody>
        </p:sp>
        <p:sp>
          <p:nvSpPr>
            <p:cNvPr id="102" name="TextBox 102"/>
            <p:cNvSpPr txBox="1"/>
            <p:nvPr/>
          </p:nvSpPr>
          <p:spPr>
            <a:xfrm>
              <a:off x="4446905" y="16537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产品组合</a:t>
              </a:r>
              <a:br/>
              <a:r>
                <a:rPr lang="zh-CN" sz="560" dirty="0">
                  <a:solidFill>
                    <a:srgbClr val="3D3835"/>
                  </a:solidFill>
                  <a:latin typeface="+mn-lt"/>
                  <a:ea typeface="+mn-ea"/>
                  <a:cs typeface="+mn-cs"/>
                </a:rPr>
                <a:t>策略制定</a:t>
              </a:r>
            </a:p>
          </p:txBody>
        </p:sp>
        <p:sp>
          <p:nvSpPr>
            <p:cNvPr id="103" name="TextBox 103"/>
            <p:cNvSpPr txBox="1"/>
            <p:nvPr/>
          </p:nvSpPr>
          <p:spPr>
            <a:xfrm>
              <a:off x="5038321" y="1464945"/>
              <a:ext cx="231313" cy="176212"/>
            </a:xfrm>
            <a:prstGeom prst="rect">
              <a:avLst/>
            </a:prstGeom>
            <a:noFill/>
            <a:ln>
              <a:noFill/>
            </a:ln>
          </p:spPr>
          <p:txBody>
            <a:bodyPr wrap="none" lIns="0" tIns="0" rIns="0" bIns="0" anchor="t" anchorCtr="0">
              <a:spAutoFit/>
            </a:bodyPr>
            <a:lstStyle/>
            <a:p>
              <a:pPr algn="ctr"/>
              <a:r>
                <a:rPr lang="en-US" sz="900" b="1" dirty="0">
                  <a:solidFill>
                    <a:srgbClr val="C41D00"/>
                  </a:solidFill>
                  <a:latin typeface="+mn-lt"/>
                  <a:ea typeface="+mn-ea"/>
                  <a:cs typeface="+mn-cs"/>
                </a:rPr>
                <a:t>​A​</a:t>
              </a:r>
            </a:p>
          </p:txBody>
        </p:sp>
        <p:sp>
          <p:nvSpPr>
            <p:cNvPr id="104" name="TextBox 104"/>
            <p:cNvSpPr txBox="1"/>
            <p:nvPr/>
          </p:nvSpPr>
          <p:spPr>
            <a:xfrm>
              <a:off x="5006975" y="16537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渠道策略</a:t>
              </a:r>
              <a:br/>
              <a:r>
                <a:rPr lang="zh-CN" sz="560" dirty="0">
                  <a:solidFill>
                    <a:srgbClr val="3D3835"/>
                  </a:solidFill>
                  <a:latin typeface="+mn-lt"/>
                  <a:ea typeface="+mn-ea"/>
                  <a:cs typeface="+mn-cs"/>
                </a:rPr>
                <a:t>资源统筹</a:t>
              </a:r>
            </a:p>
          </p:txBody>
        </p:sp>
        <p:sp>
          <p:nvSpPr>
            <p:cNvPr id="105" name="TextBox 105"/>
            <p:cNvSpPr txBox="1"/>
            <p:nvPr/>
          </p:nvSpPr>
          <p:spPr>
            <a:xfrm>
              <a:off x="5599344" y="1464945"/>
              <a:ext cx="231313" cy="176212"/>
            </a:xfrm>
            <a:prstGeom prst="rect">
              <a:avLst/>
            </a:prstGeom>
            <a:noFill/>
            <a:ln>
              <a:noFill/>
            </a:ln>
          </p:spPr>
          <p:txBody>
            <a:bodyPr wrap="none" lIns="0" tIns="0" rIns="0" bIns="0" anchor="t" anchorCtr="0">
              <a:spAutoFit/>
            </a:bodyPr>
            <a:lstStyle/>
            <a:p>
              <a:pPr algn="ctr"/>
              <a:r>
                <a:rPr lang="en-US" sz="900" b="1" dirty="0">
                  <a:solidFill>
                    <a:srgbClr val="C41D00"/>
                  </a:solidFill>
                  <a:latin typeface="+mn-lt"/>
                  <a:ea typeface="+mn-ea"/>
                  <a:cs typeface="+mn-cs"/>
                </a:rPr>
                <a:t>​A​</a:t>
              </a:r>
            </a:p>
          </p:txBody>
        </p:sp>
        <p:sp>
          <p:nvSpPr>
            <p:cNvPr id="106" name="TextBox 106"/>
            <p:cNvSpPr txBox="1"/>
            <p:nvPr/>
          </p:nvSpPr>
          <p:spPr>
            <a:xfrm>
              <a:off x="5567998" y="16537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数据策略</a:t>
              </a:r>
              <a:br/>
              <a:r>
                <a:rPr lang="zh-CN" sz="560" dirty="0">
                  <a:solidFill>
                    <a:srgbClr val="3D3835"/>
                  </a:solidFill>
                  <a:latin typeface="+mn-lt"/>
                  <a:ea typeface="+mn-ea"/>
                  <a:cs typeface="+mn-cs"/>
                </a:rPr>
                <a:t>洞察标准</a:t>
              </a:r>
            </a:p>
          </p:txBody>
        </p:sp>
        <p:sp>
          <p:nvSpPr>
            <p:cNvPr id="107" name="TextBox 107"/>
            <p:cNvSpPr txBox="1"/>
            <p:nvPr/>
          </p:nvSpPr>
          <p:spPr>
            <a:xfrm>
              <a:off x="6160366" y="1464945"/>
              <a:ext cx="231313" cy="176212"/>
            </a:xfrm>
            <a:prstGeom prst="rect">
              <a:avLst/>
            </a:prstGeom>
            <a:noFill/>
            <a:ln>
              <a:noFill/>
            </a:ln>
          </p:spPr>
          <p:txBody>
            <a:bodyPr wrap="none" lIns="0" tIns="0" rIns="0" bIns="0" anchor="t" anchorCtr="0">
              <a:spAutoFit/>
            </a:bodyPr>
            <a:lstStyle/>
            <a:p>
              <a:pPr algn="ctr"/>
              <a:r>
                <a:rPr lang="en-US" sz="900" b="1" dirty="0">
                  <a:solidFill>
                    <a:srgbClr val="C41D00"/>
                  </a:solidFill>
                  <a:latin typeface="+mn-lt"/>
                  <a:ea typeface="+mn-ea"/>
                  <a:cs typeface="+mn-cs"/>
                </a:rPr>
                <a:t>​A​</a:t>
              </a:r>
            </a:p>
          </p:txBody>
        </p:sp>
        <p:sp>
          <p:nvSpPr>
            <p:cNvPr id="108" name="TextBox 108"/>
            <p:cNvSpPr txBox="1"/>
            <p:nvPr/>
          </p:nvSpPr>
          <p:spPr>
            <a:xfrm>
              <a:off x="6129020" y="16537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架构规划</a:t>
              </a:r>
              <a:br/>
              <a:r>
                <a:rPr lang="zh-CN" sz="560" dirty="0">
                  <a:solidFill>
                    <a:srgbClr val="3D3835"/>
                  </a:solidFill>
                  <a:latin typeface="+mn-lt"/>
                  <a:ea typeface="+mn-ea"/>
                  <a:cs typeface="+mn-cs"/>
                </a:rPr>
                <a:t>资源统筹</a:t>
              </a:r>
            </a:p>
          </p:txBody>
        </p:sp>
        <p:sp>
          <p:nvSpPr>
            <p:cNvPr id="109" name="TextBox 109"/>
            <p:cNvSpPr txBox="1"/>
            <p:nvPr/>
          </p:nvSpPr>
          <p:spPr>
            <a:xfrm>
              <a:off x="6720436" y="1464945"/>
              <a:ext cx="231313" cy="176212"/>
            </a:xfrm>
            <a:prstGeom prst="rect">
              <a:avLst/>
            </a:prstGeom>
            <a:noFill/>
            <a:ln>
              <a:noFill/>
            </a:ln>
          </p:spPr>
          <p:txBody>
            <a:bodyPr wrap="none" lIns="0" tIns="0" rIns="0" bIns="0" anchor="t" anchorCtr="0">
              <a:spAutoFit/>
            </a:bodyPr>
            <a:lstStyle/>
            <a:p>
              <a:pPr algn="ctr"/>
              <a:r>
                <a:rPr lang="en-US" sz="900" b="1" dirty="0">
                  <a:solidFill>
                    <a:srgbClr val="C41D00"/>
                  </a:solidFill>
                  <a:latin typeface="+mn-lt"/>
                  <a:ea typeface="+mn-ea"/>
                  <a:cs typeface="+mn-cs"/>
                </a:rPr>
                <a:t>​A​</a:t>
              </a:r>
            </a:p>
          </p:txBody>
        </p:sp>
        <p:sp>
          <p:nvSpPr>
            <p:cNvPr id="110" name="TextBox 110"/>
            <p:cNvSpPr txBox="1"/>
            <p:nvPr/>
          </p:nvSpPr>
          <p:spPr>
            <a:xfrm>
              <a:off x="6689090" y="16537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政策制定</a:t>
              </a:r>
              <a:br/>
              <a:r>
                <a:rPr lang="zh-CN" sz="560" dirty="0">
                  <a:solidFill>
                    <a:srgbClr val="3D3835"/>
                  </a:solidFill>
                  <a:latin typeface="+mn-lt"/>
                  <a:ea typeface="+mn-ea"/>
                  <a:cs typeface="+mn-cs"/>
                </a:rPr>
                <a:t>全行监控</a:t>
              </a:r>
            </a:p>
          </p:txBody>
        </p:sp>
        <p:sp>
          <p:nvSpPr>
            <p:cNvPr id="111" name="TextBox 111"/>
            <p:cNvSpPr txBox="1"/>
            <p:nvPr/>
          </p:nvSpPr>
          <p:spPr>
            <a:xfrm>
              <a:off x="7281459" y="146494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12" name="TextBox 112"/>
            <p:cNvSpPr txBox="1"/>
            <p:nvPr/>
          </p:nvSpPr>
          <p:spPr>
            <a:xfrm>
              <a:off x="7250113" y="16537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绩效评估</a:t>
              </a:r>
              <a:br/>
              <a:r>
                <a:rPr lang="zh-CN" sz="560" dirty="0">
                  <a:solidFill>
                    <a:srgbClr val="3D3835"/>
                  </a:solidFill>
                  <a:latin typeface="+mn-lt"/>
                  <a:ea typeface="+mn-ea"/>
                  <a:cs typeface="+mn-cs"/>
                </a:rPr>
                <a:t>资源分配</a:t>
              </a:r>
            </a:p>
          </p:txBody>
        </p:sp>
        <p:sp>
          <p:nvSpPr>
            <p:cNvPr id="113" name="TextBox 113"/>
            <p:cNvSpPr txBox="1"/>
            <p:nvPr/>
          </p:nvSpPr>
          <p:spPr>
            <a:xfrm>
              <a:off x="3395028" y="2289334"/>
              <a:ext cx="182245" cy="247650"/>
            </a:xfrm>
            <a:prstGeom prst="rect">
              <a:avLst/>
            </a:prstGeom>
            <a:noFill/>
            <a:ln>
              <a:noFill/>
            </a:ln>
          </p:spPr>
          <p:txBody>
            <a:bodyPr wrap="none" lIns="0" tIns="0" rIns="0" bIns="0" anchor="t" anchorCtr="0">
              <a:spAutoFit/>
            </a:bodyPr>
            <a:lstStyle/>
            <a:p>
              <a:pPr algn="ctr">
                <a:lnSpc>
                  <a:spcPts val="900"/>
                </a:lnSpc>
              </a:pPr>
              <a:r>
                <a:rPr lang="zh-CN" sz="680" b="1" dirty="0">
                  <a:solidFill>
                    <a:srgbClr val="4A130A"/>
                  </a:solidFill>
                  <a:latin typeface="+mn-lt"/>
                  <a:ea typeface="+mn-ea"/>
                  <a:cs typeface="+mn-cs"/>
                </a:rPr>
                <a:t>分行</a:t>
              </a:r>
              <a:br/>
              <a:r>
                <a:rPr lang="zh-CN" sz="680" b="1" dirty="0">
                  <a:solidFill>
                    <a:srgbClr val="4A130A"/>
                  </a:solidFill>
                  <a:latin typeface="+mn-lt"/>
                  <a:ea typeface="+mn-ea"/>
                  <a:cs typeface="+mn-cs"/>
                </a:rPr>
                <a:t>经营</a:t>
              </a:r>
            </a:p>
          </p:txBody>
        </p:sp>
        <p:sp>
          <p:nvSpPr>
            <p:cNvPr id="114" name="TextBox 114"/>
            <p:cNvSpPr txBox="1"/>
            <p:nvPr/>
          </p:nvSpPr>
          <p:spPr>
            <a:xfrm>
              <a:off x="3917229" y="216979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15" name="TextBox 115"/>
            <p:cNvSpPr txBox="1"/>
            <p:nvPr/>
          </p:nvSpPr>
          <p:spPr>
            <a:xfrm>
              <a:off x="3885882" y="235862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经营计划</a:t>
              </a:r>
              <a:br/>
              <a:r>
                <a:rPr lang="zh-CN" sz="560" dirty="0">
                  <a:solidFill>
                    <a:srgbClr val="3D3835"/>
                  </a:solidFill>
                  <a:latin typeface="+mn-lt"/>
                  <a:ea typeface="+mn-ea"/>
                  <a:cs typeface="+mn-cs"/>
                </a:rPr>
                <a:t>目标达成</a:t>
              </a:r>
            </a:p>
          </p:txBody>
        </p:sp>
        <p:sp>
          <p:nvSpPr>
            <p:cNvPr id="116" name="TextBox 116"/>
            <p:cNvSpPr txBox="1"/>
            <p:nvPr/>
          </p:nvSpPr>
          <p:spPr>
            <a:xfrm>
              <a:off x="4478251" y="216979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17" name="TextBox 117"/>
            <p:cNvSpPr txBox="1"/>
            <p:nvPr/>
          </p:nvSpPr>
          <p:spPr>
            <a:xfrm>
              <a:off x="4411345" y="2358628"/>
              <a:ext cx="36512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本地化组合</a:t>
              </a:r>
              <a:br/>
              <a:r>
                <a:rPr lang="zh-CN" sz="560" dirty="0">
                  <a:solidFill>
                    <a:srgbClr val="3D3835"/>
                  </a:solidFill>
                  <a:latin typeface="+mn-lt"/>
                  <a:ea typeface="+mn-ea"/>
                  <a:cs typeface="+mn-cs"/>
                </a:rPr>
                <a:t>产品定价</a:t>
              </a:r>
            </a:p>
          </p:txBody>
        </p:sp>
        <p:sp>
          <p:nvSpPr>
            <p:cNvPr id="118" name="TextBox 118"/>
            <p:cNvSpPr txBox="1"/>
            <p:nvPr/>
          </p:nvSpPr>
          <p:spPr>
            <a:xfrm>
              <a:off x="5038321" y="216979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19" name="TextBox 119"/>
            <p:cNvSpPr txBox="1"/>
            <p:nvPr/>
          </p:nvSpPr>
          <p:spPr>
            <a:xfrm>
              <a:off x="5006975" y="235862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渠道运营</a:t>
              </a:r>
              <a:br/>
              <a:r>
                <a:rPr lang="zh-CN" sz="560" dirty="0">
                  <a:solidFill>
                    <a:srgbClr val="3D3835"/>
                  </a:solidFill>
                  <a:latin typeface="+mn-lt"/>
                  <a:ea typeface="+mn-ea"/>
                  <a:cs typeface="+mn-cs"/>
                </a:rPr>
                <a:t>触点管理</a:t>
              </a:r>
            </a:p>
          </p:txBody>
        </p:sp>
        <p:sp>
          <p:nvSpPr>
            <p:cNvPr id="120" name="TextBox 120"/>
            <p:cNvSpPr txBox="1"/>
            <p:nvPr/>
          </p:nvSpPr>
          <p:spPr>
            <a:xfrm>
              <a:off x="5599344" y="2169795"/>
              <a:ext cx="231313" cy="176212"/>
            </a:xfrm>
            <a:prstGeom prst="rect">
              <a:avLst/>
            </a:prstGeom>
            <a:noFill/>
            <a:ln>
              <a:noFill/>
            </a:ln>
          </p:spPr>
          <p:txBody>
            <a:bodyPr wrap="none" lIns="0" tIns="0" rIns="0" bIns="0" anchor="t" anchorCtr="0">
              <a:spAutoFit/>
            </a:bodyPr>
            <a:lstStyle/>
            <a:p>
              <a:pPr algn="ctr"/>
              <a:r>
                <a:rPr lang="en-US" sz="900" b="1" dirty="0">
                  <a:solidFill>
                    <a:srgbClr val="EE492C"/>
                  </a:solidFill>
                  <a:latin typeface="+mn-lt"/>
                  <a:ea typeface="+mn-ea"/>
                  <a:cs typeface="+mn-cs"/>
                </a:rPr>
                <a:t>​C​</a:t>
              </a:r>
            </a:p>
          </p:txBody>
        </p:sp>
        <p:sp>
          <p:nvSpPr>
            <p:cNvPr id="121" name="TextBox 121"/>
            <p:cNvSpPr txBox="1"/>
            <p:nvPr/>
          </p:nvSpPr>
          <p:spPr>
            <a:xfrm>
              <a:off x="5567998" y="235862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数据应用</a:t>
              </a:r>
              <a:br/>
              <a:r>
                <a:rPr lang="zh-CN" sz="560" dirty="0">
                  <a:solidFill>
                    <a:srgbClr val="3D3835"/>
                  </a:solidFill>
                  <a:latin typeface="+mn-lt"/>
                  <a:ea typeface="+mn-ea"/>
                  <a:cs typeface="+mn-cs"/>
                </a:rPr>
                <a:t>洞察反馈</a:t>
              </a:r>
            </a:p>
          </p:txBody>
        </p:sp>
        <p:sp>
          <p:nvSpPr>
            <p:cNvPr id="122" name="TextBox 122"/>
            <p:cNvSpPr txBox="1"/>
            <p:nvPr/>
          </p:nvSpPr>
          <p:spPr>
            <a:xfrm>
              <a:off x="6160366" y="2169795"/>
              <a:ext cx="231313" cy="176212"/>
            </a:xfrm>
            <a:prstGeom prst="rect">
              <a:avLst/>
            </a:prstGeom>
            <a:noFill/>
            <a:ln>
              <a:noFill/>
            </a:ln>
          </p:spPr>
          <p:txBody>
            <a:bodyPr wrap="none" lIns="0" tIns="0" rIns="0" bIns="0" anchor="t" anchorCtr="0">
              <a:spAutoFit/>
            </a:bodyPr>
            <a:lstStyle/>
            <a:p>
              <a:pPr algn="ctr"/>
              <a:r>
                <a:rPr lang="en-US" sz="900" b="1" dirty="0">
                  <a:solidFill>
                    <a:srgbClr val="EE492C"/>
                  </a:solidFill>
                  <a:latin typeface="+mn-lt"/>
                  <a:ea typeface="+mn-ea"/>
                  <a:cs typeface="+mn-cs"/>
                </a:rPr>
                <a:t>​C​</a:t>
              </a:r>
            </a:p>
          </p:txBody>
        </p:sp>
        <p:sp>
          <p:nvSpPr>
            <p:cNvPr id="123" name="TextBox 123"/>
            <p:cNvSpPr txBox="1"/>
            <p:nvPr/>
          </p:nvSpPr>
          <p:spPr>
            <a:xfrm>
              <a:off x="6129020" y="235862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需求管理</a:t>
              </a:r>
              <a:br/>
              <a:r>
                <a:rPr lang="zh-CN" sz="560" dirty="0">
                  <a:solidFill>
                    <a:srgbClr val="3D3835"/>
                  </a:solidFill>
                  <a:latin typeface="+mn-lt"/>
                  <a:ea typeface="+mn-ea"/>
                  <a:cs typeface="+mn-cs"/>
                </a:rPr>
                <a:t>系统使用</a:t>
              </a:r>
            </a:p>
          </p:txBody>
        </p:sp>
        <p:sp>
          <p:nvSpPr>
            <p:cNvPr id="124" name="TextBox 124"/>
            <p:cNvSpPr txBox="1"/>
            <p:nvPr/>
          </p:nvSpPr>
          <p:spPr>
            <a:xfrm>
              <a:off x="6720436" y="216979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25" name="TextBox 125"/>
            <p:cNvSpPr txBox="1"/>
            <p:nvPr/>
          </p:nvSpPr>
          <p:spPr>
            <a:xfrm>
              <a:off x="6689090" y="235862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合规执行</a:t>
              </a:r>
              <a:br/>
              <a:r>
                <a:rPr lang="zh-CN" sz="560" dirty="0">
                  <a:solidFill>
                    <a:srgbClr val="3D3835"/>
                  </a:solidFill>
                  <a:latin typeface="+mn-lt"/>
                  <a:ea typeface="+mn-ea"/>
                  <a:cs typeface="+mn-cs"/>
                </a:rPr>
                <a:t>风险管控</a:t>
              </a:r>
            </a:p>
          </p:txBody>
        </p:sp>
        <p:sp>
          <p:nvSpPr>
            <p:cNvPr id="126" name="TextBox 126"/>
            <p:cNvSpPr txBox="1"/>
            <p:nvPr/>
          </p:nvSpPr>
          <p:spPr>
            <a:xfrm>
              <a:off x="7281459" y="216979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27" name="TextBox 127"/>
            <p:cNvSpPr txBox="1"/>
            <p:nvPr/>
          </p:nvSpPr>
          <p:spPr>
            <a:xfrm>
              <a:off x="7250113" y="235862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执行统筹</a:t>
              </a:r>
              <a:br/>
              <a:r>
                <a:rPr lang="zh-CN" sz="560" dirty="0">
                  <a:solidFill>
                    <a:srgbClr val="3D3835"/>
                  </a:solidFill>
                  <a:latin typeface="+mn-lt"/>
                  <a:ea typeface="+mn-ea"/>
                  <a:cs typeface="+mn-cs"/>
                </a:rPr>
                <a:t>过程管理</a:t>
              </a:r>
            </a:p>
          </p:txBody>
        </p:sp>
        <p:sp>
          <p:nvSpPr>
            <p:cNvPr id="128" name="TextBox 128"/>
            <p:cNvSpPr txBox="1"/>
            <p:nvPr/>
          </p:nvSpPr>
          <p:spPr>
            <a:xfrm>
              <a:off x="3395028" y="2994184"/>
              <a:ext cx="182245" cy="247650"/>
            </a:xfrm>
            <a:prstGeom prst="rect">
              <a:avLst/>
            </a:prstGeom>
            <a:noFill/>
            <a:ln>
              <a:noFill/>
            </a:ln>
          </p:spPr>
          <p:txBody>
            <a:bodyPr wrap="none" lIns="0" tIns="0" rIns="0" bIns="0" anchor="t" anchorCtr="0">
              <a:spAutoFit/>
            </a:bodyPr>
            <a:lstStyle/>
            <a:p>
              <a:pPr algn="ctr">
                <a:lnSpc>
                  <a:spcPts val="900"/>
                </a:lnSpc>
              </a:pPr>
              <a:r>
                <a:rPr lang="zh-CN" sz="680" b="1" dirty="0">
                  <a:solidFill>
                    <a:srgbClr val="4A130A"/>
                  </a:solidFill>
                  <a:latin typeface="+mn-lt"/>
                  <a:ea typeface="+mn-ea"/>
                  <a:cs typeface="+mn-cs"/>
                </a:rPr>
                <a:t>一线</a:t>
              </a:r>
              <a:br/>
              <a:r>
                <a:rPr lang="zh-CN" sz="680" b="1" dirty="0">
                  <a:solidFill>
                    <a:srgbClr val="4A130A"/>
                  </a:solidFill>
                  <a:latin typeface="+mn-lt"/>
                  <a:ea typeface="+mn-ea"/>
                  <a:cs typeface="+mn-cs"/>
                </a:rPr>
                <a:t>执行</a:t>
              </a:r>
            </a:p>
          </p:txBody>
        </p:sp>
        <p:sp>
          <p:nvSpPr>
            <p:cNvPr id="129" name="TextBox 129"/>
            <p:cNvSpPr txBox="1"/>
            <p:nvPr/>
          </p:nvSpPr>
          <p:spPr>
            <a:xfrm>
              <a:off x="3917229" y="287464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30" name="TextBox 130"/>
            <p:cNvSpPr txBox="1"/>
            <p:nvPr/>
          </p:nvSpPr>
          <p:spPr>
            <a:xfrm>
              <a:off x="3885882" y="30634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客户拓展</a:t>
              </a:r>
              <a:br/>
              <a:r>
                <a:rPr lang="zh-CN" sz="560" dirty="0">
                  <a:solidFill>
                    <a:srgbClr val="3D3835"/>
                  </a:solidFill>
                  <a:latin typeface="+mn-lt"/>
                  <a:ea typeface="+mn-ea"/>
                  <a:cs typeface="+mn-cs"/>
                </a:rPr>
                <a:t>服务执行</a:t>
              </a:r>
            </a:p>
          </p:txBody>
        </p:sp>
        <p:sp>
          <p:nvSpPr>
            <p:cNvPr id="131" name="TextBox 131"/>
            <p:cNvSpPr txBox="1"/>
            <p:nvPr/>
          </p:nvSpPr>
          <p:spPr>
            <a:xfrm>
              <a:off x="4478251" y="2874645"/>
              <a:ext cx="231313" cy="176212"/>
            </a:xfrm>
            <a:prstGeom prst="rect">
              <a:avLst/>
            </a:prstGeom>
            <a:noFill/>
            <a:ln>
              <a:noFill/>
            </a:ln>
          </p:spPr>
          <p:txBody>
            <a:bodyPr wrap="none" lIns="0" tIns="0" rIns="0" bIns="0" anchor="t" anchorCtr="0">
              <a:spAutoFit/>
            </a:bodyPr>
            <a:lstStyle/>
            <a:p>
              <a:pPr algn="ctr"/>
              <a:r>
                <a:rPr lang="en-US" sz="900" b="1" dirty="0">
                  <a:solidFill>
                    <a:srgbClr val="EE492C"/>
                  </a:solidFill>
                  <a:latin typeface="+mn-lt"/>
                  <a:ea typeface="+mn-ea"/>
                  <a:cs typeface="+mn-cs"/>
                </a:rPr>
                <a:t>​C​</a:t>
              </a:r>
            </a:p>
          </p:txBody>
        </p:sp>
        <p:sp>
          <p:nvSpPr>
            <p:cNvPr id="132" name="TextBox 132"/>
            <p:cNvSpPr txBox="1"/>
            <p:nvPr/>
          </p:nvSpPr>
          <p:spPr>
            <a:xfrm>
              <a:off x="4446905" y="30634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产品推广</a:t>
              </a:r>
              <a:br/>
              <a:r>
                <a:rPr lang="zh-CN" sz="560" dirty="0">
                  <a:solidFill>
                    <a:srgbClr val="3D3835"/>
                  </a:solidFill>
                  <a:latin typeface="+mn-lt"/>
                  <a:ea typeface="+mn-ea"/>
                  <a:cs typeface="+mn-cs"/>
                </a:rPr>
                <a:t>需求反馈</a:t>
              </a:r>
            </a:p>
          </p:txBody>
        </p:sp>
        <p:sp>
          <p:nvSpPr>
            <p:cNvPr id="133" name="TextBox 133"/>
            <p:cNvSpPr txBox="1"/>
            <p:nvPr/>
          </p:nvSpPr>
          <p:spPr>
            <a:xfrm>
              <a:off x="5038321" y="287464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34" name="TextBox 134"/>
            <p:cNvSpPr txBox="1"/>
            <p:nvPr/>
          </p:nvSpPr>
          <p:spPr>
            <a:xfrm>
              <a:off x="5006975" y="30634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触点服务</a:t>
              </a:r>
              <a:br/>
              <a:r>
                <a:rPr lang="zh-CN" sz="560" dirty="0">
                  <a:solidFill>
                    <a:srgbClr val="3D3835"/>
                  </a:solidFill>
                  <a:latin typeface="+mn-lt"/>
                  <a:ea typeface="+mn-ea"/>
                  <a:cs typeface="+mn-cs"/>
                </a:rPr>
                <a:t>客户触达</a:t>
              </a:r>
            </a:p>
          </p:txBody>
        </p:sp>
        <p:sp>
          <p:nvSpPr>
            <p:cNvPr id="135" name="TextBox 135"/>
            <p:cNvSpPr txBox="1"/>
            <p:nvPr/>
          </p:nvSpPr>
          <p:spPr>
            <a:xfrm>
              <a:off x="5599344" y="287464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36" name="TextBox 136"/>
            <p:cNvSpPr txBox="1"/>
            <p:nvPr/>
          </p:nvSpPr>
          <p:spPr>
            <a:xfrm>
              <a:off x="5567998" y="30634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数据采集</a:t>
              </a:r>
              <a:br/>
              <a:r>
                <a:rPr lang="zh-CN" sz="560" dirty="0">
                  <a:solidFill>
                    <a:srgbClr val="3D3835"/>
                  </a:solidFill>
                  <a:latin typeface="+mn-lt"/>
                  <a:ea typeface="+mn-ea"/>
                  <a:cs typeface="+mn-cs"/>
                </a:rPr>
                <a:t>质量保障</a:t>
              </a:r>
            </a:p>
          </p:txBody>
        </p:sp>
        <p:sp>
          <p:nvSpPr>
            <p:cNvPr id="137" name="TextBox 137"/>
            <p:cNvSpPr txBox="1"/>
            <p:nvPr/>
          </p:nvSpPr>
          <p:spPr>
            <a:xfrm>
              <a:off x="6177168" y="2874645"/>
              <a:ext cx="197709" cy="176212"/>
            </a:xfrm>
            <a:prstGeom prst="rect">
              <a:avLst/>
            </a:prstGeom>
            <a:noFill/>
            <a:ln>
              <a:noFill/>
            </a:ln>
          </p:spPr>
          <p:txBody>
            <a:bodyPr wrap="none" lIns="0" tIns="0" rIns="0" bIns="0" anchor="t" anchorCtr="0">
              <a:spAutoFit/>
            </a:bodyPr>
            <a:lstStyle/>
            <a:p>
              <a:pPr algn="ctr"/>
              <a:r>
                <a:rPr lang="en-US" sz="900" b="1" dirty="0">
                  <a:solidFill>
                    <a:srgbClr val="7A716B"/>
                  </a:solidFill>
                  <a:latin typeface="+mn-lt"/>
                  <a:ea typeface="+mn-ea"/>
                  <a:cs typeface="+mn-cs"/>
                </a:rPr>
                <a:t>​I​</a:t>
              </a:r>
            </a:p>
          </p:txBody>
        </p:sp>
        <p:sp>
          <p:nvSpPr>
            <p:cNvPr id="138" name="TextBox 138"/>
            <p:cNvSpPr txBox="1"/>
            <p:nvPr/>
          </p:nvSpPr>
          <p:spPr>
            <a:xfrm>
              <a:off x="6129020" y="30634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系统操作</a:t>
              </a:r>
              <a:br/>
              <a:r>
                <a:rPr lang="zh-CN" sz="560" dirty="0">
                  <a:solidFill>
                    <a:srgbClr val="3D3835"/>
                  </a:solidFill>
                  <a:latin typeface="+mn-lt"/>
                  <a:ea typeface="+mn-ea"/>
                  <a:cs typeface="+mn-cs"/>
                </a:rPr>
                <a:t>问题反馈</a:t>
              </a:r>
            </a:p>
          </p:txBody>
        </p:sp>
        <p:sp>
          <p:nvSpPr>
            <p:cNvPr id="139" name="TextBox 139"/>
            <p:cNvSpPr txBox="1"/>
            <p:nvPr/>
          </p:nvSpPr>
          <p:spPr>
            <a:xfrm>
              <a:off x="6720436" y="2874645"/>
              <a:ext cx="231313" cy="176212"/>
            </a:xfrm>
            <a:prstGeom prst="rect">
              <a:avLst/>
            </a:prstGeom>
            <a:noFill/>
            <a:ln>
              <a:noFill/>
            </a:ln>
          </p:spPr>
          <p:txBody>
            <a:bodyPr wrap="none" lIns="0" tIns="0" rIns="0" bIns="0" anchor="t" anchorCtr="0">
              <a:spAutoFit/>
            </a:bodyPr>
            <a:lstStyle/>
            <a:p>
              <a:pPr algn="ctr"/>
              <a:r>
                <a:rPr lang="en-US" sz="900" b="1" dirty="0">
                  <a:solidFill>
                    <a:srgbClr val="E0371A"/>
                  </a:solidFill>
                  <a:latin typeface="+mn-lt"/>
                  <a:ea typeface="+mn-ea"/>
                  <a:cs typeface="+mn-cs"/>
                </a:rPr>
                <a:t>​R​</a:t>
              </a:r>
            </a:p>
          </p:txBody>
        </p:sp>
        <p:sp>
          <p:nvSpPr>
            <p:cNvPr id="140" name="TextBox 140"/>
            <p:cNvSpPr txBox="1"/>
            <p:nvPr/>
          </p:nvSpPr>
          <p:spPr>
            <a:xfrm>
              <a:off x="6689090" y="30634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合规执行</a:t>
              </a:r>
              <a:br/>
              <a:r>
                <a:rPr lang="zh-CN" sz="560" dirty="0">
                  <a:solidFill>
                    <a:srgbClr val="3D3835"/>
                  </a:solidFill>
                  <a:latin typeface="+mn-lt"/>
                  <a:ea typeface="+mn-ea"/>
                  <a:cs typeface="+mn-cs"/>
                </a:rPr>
                <a:t>异常上报</a:t>
              </a:r>
            </a:p>
          </p:txBody>
        </p:sp>
        <p:sp>
          <p:nvSpPr>
            <p:cNvPr id="141" name="TextBox 141"/>
            <p:cNvSpPr txBox="1"/>
            <p:nvPr/>
          </p:nvSpPr>
          <p:spPr>
            <a:xfrm>
              <a:off x="7298261" y="2874645"/>
              <a:ext cx="197709" cy="176212"/>
            </a:xfrm>
            <a:prstGeom prst="rect">
              <a:avLst/>
            </a:prstGeom>
            <a:noFill/>
            <a:ln>
              <a:noFill/>
            </a:ln>
          </p:spPr>
          <p:txBody>
            <a:bodyPr wrap="none" lIns="0" tIns="0" rIns="0" bIns="0" anchor="t" anchorCtr="0">
              <a:spAutoFit/>
            </a:bodyPr>
            <a:lstStyle/>
            <a:p>
              <a:pPr algn="ctr"/>
              <a:r>
                <a:rPr lang="en-US" sz="900" b="1" dirty="0">
                  <a:solidFill>
                    <a:srgbClr val="7A716B"/>
                  </a:solidFill>
                  <a:latin typeface="+mn-lt"/>
                  <a:ea typeface="+mn-ea"/>
                  <a:cs typeface="+mn-cs"/>
                </a:rPr>
                <a:t>​I​</a:t>
              </a:r>
            </a:p>
          </p:txBody>
        </p:sp>
        <p:sp>
          <p:nvSpPr>
            <p:cNvPr id="142" name="TextBox 142"/>
            <p:cNvSpPr txBox="1"/>
            <p:nvPr/>
          </p:nvSpPr>
          <p:spPr>
            <a:xfrm>
              <a:off x="7250113" y="3063478"/>
              <a:ext cx="2940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3D3835"/>
                  </a:solidFill>
                  <a:latin typeface="+mn-lt"/>
                  <a:ea typeface="+mn-ea"/>
                  <a:cs typeface="+mn-cs"/>
                </a:rPr>
                <a:t>结果反馈</a:t>
              </a:r>
              <a:br/>
              <a:r>
                <a:rPr lang="zh-CN" sz="560" dirty="0">
                  <a:solidFill>
                    <a:srgbClr val="3D3835"/>
                  </a:solidFill>
                  <a:latin typeface="+mn-lt"/>
                  <a:ea typeface="+mn-ea"/>
                  <a:cs typeface="+mn-cs"/>
                </a:rPr>
                <a:t>信息共享</a:t>
              </a:r>
            </a:p>
          </p:txBody>
        </p:sp>
        <p:sp>
          <p:nvSpPr>
            <p:cNvPr id="143" name="Line 143"/>
            <p:cNvSpPr/>
            <p:nvPr/>
          </p:nvSpPr>
          <p:spPr>
            <a:xfrm>
              <a:off x="3752850" y="952500"/>
              <a:ext cx="9525" cy="2495550"/>
            </a:xfrm>
            <a:custGeom>
              <a:avLst/>
              <a:gdLst/>
              <a:ahLst/>
              <a:cxnLst/>
              <a:rect l="l" t="t" r="r" b="b"/>
              <a:pathLst>
                <a:path w="9525" h="2495550">
                  <a:moveTo>
                    <a:pt x="0" y="0"/>
                  </a:moveTo>
                  <a:lnTo>
                    <a:pt x="0" y="2495550"/>
                  </a:lnTo>
                </a:path>
              </a:pathLst>
            </a:custGeom>
            <a:noFill/>
            <a:ln w="9525">
              <a:solidFill>
                <a:srgbClr val="EADBCE"/>
              </a:solidFill>
            </a:ln>
          </p:spPr>
        </p:sp>
        <p:sp>
          <p:nvSpPr>
            <p:cNvPr id="144" name="Line 144"/>
            <p:cNvSpPr/>
            <p:nvPr/>
          </p:nvSpPr>
          <p:spPr>
            <a:xfrm>
              <a:off x="4313872" y="952500"/>
              <a:ext cx="9525" cy="2495550"/>
            </a:xfrm>
            <a:custGeom>
              <a:avLst/>
              <a:gdLst/>
              <a:ahLst/>
              <a:cxnLst/>
              <a:rect l="l" t="t" r="r" b="b"/>
              <a:pathLst>
                <a:path w="9525" h="2495550">
                  <a:moveTo>
                    <a:pt x="0" y="0"/>
                  </a:moveTo>
                  <a:lnTo>
                    <a:pt x="0" y="2495550"/>
                  </a:lnTo>
                </a:path>
              </a:pathLst>
            </a:custGeom>
            <a:noFill/>
            <a:ln w="9525">
              <a:solidFill>
                <a:srgbClr val="EADBCE"/>
              </a:solidFill>
            </a:ln>
          </p:spPr>
        </p:sp>
        <p:sp>
          <p:nvSpPr>
            <p:cNvPr id="145" name="Line 145"/>
            <p:cNvSpPr/>
            <p:nvPr/>
          </p:nvSpPr>
          <p:spPr>
            <a:xfrm>
              <a:off x="4873942" y="952500"/>
              <a:ext cx="9525" cy="2495550"/>
            </a:xfrm>
            <a:custGeom>
              <a:avLst/>
              <a:gdLst/>
              <a:ahLst/>
              <a:cxnLst/>
              <a:rect l="l" t="t" r="r" b="b"/>
              <a:pathLst>
                <a:path w="9525" h="2495550">
                  <a:moveTo>
                    <a:pt x="0" y="0"/>
                  </a:moveTo>
                  <a:lnTo>
                    <a:pt x="0" y="2495550"/>
                  </a:lnTo>
                </a:path>
              </a:pathLst>
            </a:custGeom>
            <a:noFill/>
            <a:ln w="9525">
              <a:solidFill>
                <a:srgbClr val="EADBCE"/>
              </a:solidFill>
            </a:ln>
          </p:spPr>
        </p:sp>
        <p:sp>
          <p:nvSpPr>
            <p:cNvPr id="146" name="Line 146"/>
            <p:cNvSpPr/>
            <p:nvPr/>
          </p:nvSpPr>
          <p:spPr>
            <a:xfrm>
              <a:off x="5434965" y="952500"/>
              <a:ext cx="9525" cy="2495550"/>
            </a:xfrm>
            <a:custGeom>
              <a:avLst/>
              <a:gdLst/>
              <a:ahLst/>
              <a:cxnLst/>
              <a:rect l="l" t="t" r="r" b="b"/>
              <a:pathLst>
                <a:path w="9525" h="2495550">
                  <a:moveTo>
                    <a:pt x="0" y="0"/>
                  </a:moveTo>
                  <a:lnTo>
                    <a:pt x="0" y="2495550"/>
                  </a:lnTo>
                </a:path>
              </a:pathLst>
            </a:custGeom>
            <a:noFill/>
            <a:ln w="9525">
              <a:solidFill>
                <a:srgbClr val="EADBCE"/>
              </a:solidFill>
            </a:ln>
          </p:spPr>
        </p:sp>
        <p:sp>
          <p:nvSpPr>
            <p:cNvPr id="147" name="Line 147"/>
            <p:cNvSpPr/>
            <p:nvPr/>
          </p:nvSpPr>
          <p:spPr>
            <a:xfrm>
              <a:off x="5995035" y="952500"/>
              <a:ext cx="9525" cy="2495550"/>
            </a:xfrm>
            <a:custGeom>
              <a:avLst/>
              <a:gdLst/>
              <a:ahLst/>
              <a:cxnLst/>
              <a:rect l="l" t="t" r="r" b="b"/>
              <a:pathLst>
                <a:path w="9525" h="2495550">
                  <a:moveTo>
                    <a:pt x="0" y="0"/>
                  </a:moveTo>
                  <a:lnTo>
                    <a:pt x="0" y="2495550"/>
                  </a:lnTo>
                </a:path>
              </a:pathLst>
            </a:custGeom>
            <a:noFill/>
            <a:ln w="9525">
              <a:solidFill>
                <a:srgbClr val="EADBCE"/>
              </a:solidFill>
            </a:ln>
          </p:spPr>
        </p:sp>
        <p:sp>
          <p:nvSpPr>
            <p:cNvPr id="148" name="Line 148"/>
            <p:cNvSpPr/>
            <p:nvPr/>
          </p:nvSpPr>
          <p:spPr>
            <a:xfrm>
              <a:off x="6556058" y="952500"/>
              <a:ext cx="9525" cy="2495550"/>
            </a:xfrm>
            <a:custGeom>
              <a:avLst/>
              <a:gdLst/>
              <a:ahLst/>
              <a:cxnLst/>
              <a:rect l="l" t="t" r="r" b="b"/>
              <a:pathLst>
                <a:path w="9525" h="2495550">
                  <a:moveTo>
                    <a:pt x="0" y="0"/>
                  </a:moveTo>
                  <a:lnTo>
                    <a:pt x="0" y="2495550"/>
                  </a:lnTo>
                </a:path>
              </a:pathLst>
            </a:custGeom>
            <a:noFill/>
            <a:ln w="9525">
              <a:solidFill>
                <a:srgbClr val="EADBCE"/>
              </a:solidFill>
            </a:ln>
          </p:spPr>
        </p:sp>
        <p:sp>
          <p:nvSpPr>
            <p:cNvPr id="149" name="Line 149"/>
            <p:cNvSpPr/>
            <p:nvPr/>
          </p:nvSpPr>
          <p:spPr>
            <a:xfrm>
              <a:off x="7116128" y="952500"/>
              <a:ext cx="9525" cy="2495550"/>
            </a:xfrm>
            <a:custGeom>
              <a:avLst/>
              <a:gdLst/>
              <a:ahLst/>
              <a:cxnLst/>
              <a:rect l="l" t="t" r="r" b="b"/>
              <a:pathLst>
                <a:path w="9525" h="2495550">
                  <a:moveTo>
                    <a:pt x="0" y="0"/>
                  </a:moveTo>
                  <a:lnTo>
                    <a:pt x="0" y="2495550"/>
                  </a:lnTo>
                </a:path>
              </a:pathLst>
            </a:custGeom>
            <a:noFill/>
            <a:ln w="9525">
              <a:solidFill>
                <a:srgbClr val="EADBCE"/>
              </a:solidFill>
            </a:ln>
          </p:spPr>
        </p:sp>
        <p:sp>
          <p:nvSpPr>
            <p:cNvPr id="150" name="Line 150"/>
            <p:cNvSpPr/>
            <p:nvPr/>
          </p:nvSpPr>
          <p:spPr>
            <a:xfrm>
              <a:off x="3219450" y="2038350"/>
              <a:ext cx="4457700" cy="9525"/>
            </a:xfrm>
            <a:custGeom>
              <a:avLst/>
              <a:gdLst/>
              <a:ahLst/>
              <a:cxnLst/>
              <a:rect l="l" t="t" r="r" b="b"/>
              <a:pathLst>
                <a:path w="4457700" h="9525">
                  <a:moveTo>
                    <a:pt x="0" y="0"/>
                  </a:moveTo>
                  <a:lnTo>
                    <a:pt x="4457700" y="0"/>
                  </a:lnTo>
                </a:path>
              </a:pathLst>
            </a:custGeom>
            <a:noFill/>
            <a:ln w="9525">
              <a:solidFill>
                <a:srgbClr val="EADBCE"/>
              </a:solidFill>
            </a:ln>
          </p:spPr>
        </p:sp>
        <p:sp>
          <p:nvSpPr>
            <p:cNvPr id="151" name="Line 151"/>
            <p:cNvSpPr/>
            <p:nvPr/>
          </p:nvSpPr>
          <p:spPr>
            <a:xfrm>
              <a:off x="3219450" y="2743200"/>
              <a:ext cx="4457700" cy="9525"/>
            </a:xfrm>
            <a:custGeom>
              <a:avLst/>
              <a:gdLst/>
              <a:ahLst/>
              <a:cxnLst/>
              <a:rect l="l" t="t" r="r" b="b"/>
              <a:pathLst>
                <a:path w="4457700" h="9525">
                  <a:moveTo>
                    <a:pt x="0" y="0"/>
                  </a:moveTo>
                  <a:lnTo>
                    <a:pt x="4457700" y="0"/>
                  </a:lnTo>
                </a:path>
              </a:pathLst>
            </a:custGeom>
            <a:noFill/>
            <a:ln w="9525">
              <a:solidFill>
                <a:srgbClr val="EADBCE"/>
              </a:solidFill>
            </a:ln>
          </p:spPr>
        </p:sp>
        <p:sp>
          <p:nvSpPr>
            <p:cNvPr id="152" name="Rectangle 152"/>
            <p:cNvSpPr/>
            <p:nvPr/>
          </p:nvSpPr>
          <p:spPr>
            <a:xfrm>
              <a:off x="3276600" y="3543300"/>
              <a:ext cx="133350" cy="133350"/>
            </a:xfrm>
            <a:prstGeom prst="roundRect">
              <a:avLst>
                <a:gd name="adj" fmla="val 14286"/>
              </a:avLst>
            </a:prstGeom>
            <a:solidFill>
              <a:srgbClr val="E0371A"/>
            </a:solidFill>
            <a:ln>
              <a:noFill/>
            </a:ln>
          </p:spPr>
        </p:sp>
        <p:sp>
          <p:nvSpPr>
            <p:cNvPr id="153" name="TextBox 153"/>
            <p:cNvSpPr txBox="1"/>
            <p:nvPr/>
          </p:nvSpPr>
          <p:spPr>
            <a:xfrm>
              <a:off x="3259655" y="3579257"/>
              <a:ext cx="167241"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​R​</a:t>
              </a:r>
            </a:p>
          </p:txBody>
        </p:sp>
        <p:sp>
          <p:nvSpPr>
            <p:cNvPr id="154" name="TextBox 154"/>
            <p:cNvSpPr txBox="1"/>
            <p:nvPr/>
          </p:nvSpPr>
          <p:spPr>
            <a:xfrm>
              <a:off x="3443288" y="3583305"/>
              <a:ext cx="1078022"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负责执行（Responsible）​​​</a:t>
              </a:r>
            </a:p>
          </p:txBody>
        </p:sp>
        <p:sp>
          <p:nvSpPr>
            <p:cNvPr id="155" name="Rectangle 155"/>
            <p:cNvSpPr/>
            <p:nvPr/>
          </p:nvSpPr>
          <p:spPr>
            <a:xfrm>
              <a:off x="4400550" y="3543300"/>
              <a:ext cx="133350" cy="133350"/>
            </a:xfrm>
            <a:prstGeom prst="roundRect">
              <a:avLst>
                <a:gd name="adj" fmla="val 14286"/>
              </a:avLst>
            </a:prstGeom>
            <a:solidFill>
              <a:srgbClr val="C41D00"/>
            </a:solidFill>
            <a:ln>
              <a:noFill/>
            </a:ln>
          </p:spPr>
        </p:sp>
        <p:sp>
          <p:nvSpPr>
            <p:cNvPr id="156" name="TextBox 156"/>
            <p:cNvSpPr txBox="1"/>
            <p:nvPr/>
          </p:nvSpPr>
          <p:spPr>
            <a:xfrm>
              <a:off x="4383605" y="3579257"/>
              <a:ext cx="167241"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​A​</a:t>
              </a:r>
            </a:p>
          </p:txBody>
        </p:sp>
        <p:sp>
          <p:nvSpPr>
            <p:cNvPr id="157" name="TextBox 157"/>
            <p:cNvSpPr txBox="1"/>
            <p:nvPr/>
          </p:nvSpPr>
          <p:spPr>
            <a:xfrm>
              <a:off x="4567238" y="3583305"/>
              <a:ext cx="1098319"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最终负责（Accountable）​​​</a:t>
              </a:r>
            </a:p>
          </p:txBody>
        </p:sp>
        <p:sp>
          <p:nvSpPr>
            <p:cNvPr id="158" name="Rectangle 158"/>
            <p:cNvSpPr/>
            <p:nvPr/>
          </p:nvSpPr>
          <p:spPr>
            <a:xfrm>
              <a:off x="5524500" y="3543300"/>
              <a:ext cx="133350" cy="133350"/>
            </a:xfrm>
            <a:prstGeom prst="roundRect">
              <a:avLst>
                <a:gd name="adj" fmla="val 14286"/>
              </a:avLst>
            </a:prstGeom>
            <a:solidFill>
              <a:srgbClr val="EE492C"/>
            </a:solidFill>
            <a:ln>
              <a:noFill/>
            </a:ln>
          </p:spPr>
        </p:sp>
        <p:sp>
          <p:nvSpPr>
            <p:cNvPr id="159" name="TextBox 159"/>
            <p:cNvSpPr txBox="1"/>
            <p:nvPr/>
          </p:nvSpPr>
          <p:spPr>
            <a:xfrm>
              <a:off x="5507555" y="3579257"/>
              <a:ext cx="167241"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​C​</a:t>
              </a:r>
            </a:p>
          </p:txBody>
        </p:sp>
        <p:sp>
          <p:nvSpPr>
            <p:cNvPr id="160" name="TextBox 160"/>
            <p:cNvSpPr txBox="1"/>
            <p:nvPr/>
          </p:nvSpPr>
          <p:spPr>
            <a:xfrm>
              <a:off x="5691188" y="3583305"/>
              <a:ext cx="1009447"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咨询协作（Consulted）​​​</a:t>
              </a:r>
            </a:p>
          </p:txBody>
        </p:sp>
        <p:sp>
          <p:nvSpPr>
            <p:cNvPr id="161" name="Rectangle 161"/>
            <p:cNvSpPr/>
            <p:nvPr/>
          </p:nvSpPr>
          <p:spPr>
            <a:xfrm>
              <a:off x="6610350" y="3543300"/>
              <a:ext cx="133350" cy="133350"/>
            </a:xfrm>
            <a:prstGeom prst="roundRect">
              <a:avLst>
                <a:gd name="adj" fmla="val 14286"/>
              </a:avLst>
            </a:prstGeom>
            <a:solidFill>
              <a:srgbClr val="7A716B"/>
            </a:solidFill>
            <a:ln>
              <a:noFill/>
            </a:ln>
          </p:spPr>
        </p:sp>
        <p:sp>
          <p:nvSpPr>
            <p:cNvPr id="162" name="TextBox 162"/>
            <p:cNvSpPr txBox="1"/>
            <p:nvPr/>
          </p:nvSpPr>
          <p:spPr>
            <a:xfrm>
              <a:off x="6472003" y="3579257"/>
              <a:ext cx="143344"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​I​</a:t>
              </a:r>
            </a:p>
          </p:txBody>
        </p:sp>
        <p:sp>
          <p:nvSpPr>
            <p:cNvPr id="163" name="TextBox 163"/>
            <p:cNvSpPr txBox="1"/>
            <p:nvPr/>
          </p:nvSpPr>
          <p:spPr>
            <a:xfrm>
              <a:off x="6643688" y="3583305"/>
              <a:ext cx="981275" cy="119062"/>
            </a:xfrm>
            <a:prstGeom prst="rect">
              <a:avLst/>
            </a:prstGeom>
            <a:noFill/>
            <a:ln>
              <a:noFill/>
            </a:ln>
          </p:spPr>
          <p:txBody>
            <a:bodyPr wrap="none" lIns="0" tIns="0" rIns="0" bIns="0" anchor="t" anchorCtr="0">
              <a:spAutoFit/>
            </a:bodyPr>
            <a:lstStyle/>
            <a:p>
              <a:pPr algn="l"/>
              <a:r>
                <a:rPr lang="zh-CN" sz="600" dirty="0">
                  <a:solidFill>
                    <a:srgbClr val="3D3835"/>
                  </a:solidFill>
                  <a:latin typeface="+mn-lt"/>
                  <a:ea typeface="+mn-ea"/>
                  <a:cs typeface="+mn-cs"/>
                </a:rPr>
                <a:t>知会通报（Informed）​​​</a:t>
              </a:r>
            </a:p>
          </p:txBody>
        </p:sp>
      </p:grpSp>
      <p:grpSp>
        <p:nvGrpSpPr>
          <p:cNvPr id="207" name="agile-cadence"/>
          <p:cNvGrpSpPr/>
          <p:nvPr/>
        </p:nvGrpSpPr>
        <p:grpSpPr>
          <a:xfrm>
            <a:off x="7753350" y="685800"/>
            <a:ext cx="4057650" cy="3067050"/>
            <a:chOff x="7753350" y="685800"/>
            <a:chExt cx="4057650" cy="3067050"/>
          </a:xfrm>
        </p:grpSpPr>
        <p:sp>
          <p:nvSpPr>
            <p:cNvPr id="165" name="Rectangle 165"/>
            <p:cNvSpPr/>
            <p:nvPr/>
          </p:nvSpPr>
          <p:spPr>
            <a:xfrm>
              <a:off x="7753350" y="685800"/>
              <a:ext cx="4057650" cy="228600"/>
            </a:xfrm>
            <a:prstGeom prst="roundRect">
              <a:avLst>
                <a:gd name="adj" fmla="val 12500"/>
              </a:avLst>
            </a:prstGeom>
            <a:solidFill>
              <a:srgbClr val="C41D00"/>
            </a:solidFill>
            <a:ln>
              <a:noFill/>
            </a:ln>
          </p:spPr>
        </p:sp>
        <p:sp>
          <p:nvSpPr>
            <p:cNvPr id="166" name="TextBox 166"/>
            <p:cNvSpPr txBox="1"/>
            <p:nvPr/>
          </p:nvSpPr>
          <p:spPr>
            <a:xfrm>
              <a:off x="8726481" y="754618"/>
              <a:ext cx="211138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​敏捷运营节奏（分层例会，闭环驱动）​</a:t>
              </a:r>
            </a:p>
          </p:txBody>
        </p:sp>
        <p:sp>
          <p:nvSpPr>
            <p:cNvPr id="167" name="Rectangle 167"/>
            <p:cNvSpPr/>
            <p:nvPr/>
          </p:nvSpPr>
          <p:spPr>
            <a:xfrm>
              <a:off x="7753350" y="990600"/>
              <a:ext cx="4057650" cy="647700"/>
            </a:xfrm>
            <a:prstGeom prst="roundRect">
              <a:avLst>
                <a:gd name="adj" fmla="val 5882"/>
              </a:avLst>
            </a:prstGeom>
            <a:solidFill>
              <a:srgbClr val="FFFFFF"/>
            </a:solidFill>
            <a:ln w="9525">
              <a:solidFill>
                <a:srgbClr val="F0B8AE"/>
              </a:solidFill>
            </a:ln>
          </p:spPr>
        </p:sp>
        <p:sp>
          <p:nvSpPr>
            <p:cNvPr id="168" name="Rectangle 168"/>
            <p:cNvSpPr/>
            <p:nvPr/>
          </p:nvSpPr>
          <p:spPr>
            <a:xfrm>
              <a:off x="7753350" y="990600"/>
              <a:ext cx="628650" cy="647700"/>
            </a:xfrm>
            <a:prstGeom prst="roundRect">
              <a:avLst>
                <a:gd name="adj" fmla="val 6061"/>
              </a:avLst>
            </a:prstGeom>
            <a:solidFill>
              <a:srgbClr val="FEF2E6"/>
            </a:solidFill>
            <a:ln>
              <a:noFill/>
            </a:ln>
          </p:spPr>
        </p:sp>
        <p:sp>
          <p:nvSpPr>
            <p:cNvPr id="169" name="TextBox 169"/>
            <p:cNvSpPr txBox="1"/>
            <p:nvPr/>
          </p:nvSpPr>
          <p:spPr>
            <a:xfrm>
              <a:off x="7810436" y="1195388"/>
              <a:ext cx="514477" cy="271462"/>
            </a:xfrm>
            <a:prstGeom prst="rect">
              <a:avLst/>
            </a:prstGeom>
            <a:noFill/>
            <a:ln>
              <a:noFill/>
            </a:ln>
          </p:spPr>
          <p:txBody>
            <a:bodyPr wrap="none" lIns="0" tIns="0" rIns="0" bIns="0" anchor="t" anchorCtr="0">
              <a:spAutoFit/>
            </a:bodyPr>
            <a:lstStyle/>
            <a:p>
              <a:pPr algn="ctr">
                <a:lnSpc>
                  <a:spcPts val="975"/>
                </a:lnSpc>
              </a:pPr>
              <a:r>
                <a:rPr lang="zh-CN" sz="750" b="1" dirty="0">
                  <a:solidFill>
                    <a:srgbClr val="4A130A"/>
                  </a:solidFill>
                  <a:latin typeface="+mn-lt"/>
                  <a:ea typeface="+mn-ea"/>
                  <a:cs typeface="+mn-cs"/>
                </a:rPr>
                <a:t>每日</a:t>
              </a:r>
            </a:p>
            <a:p>
              <a:pPr algn="ctr">
                <a:lnSpc>
                  <a:spcPts val="975"/>
                </a:lnSpc>
              </a:pPr>
              <a:r>
                <a:rPr lang="zh-CN" sz="560" dirty="0">
                  <a:solidFill>
                    <a:srgbClr val="7A716B"/>
                  </a:solidFill>
                  <a:latin typeface="+mn-lt"/>
                  <a:ea typeface="+mn-ea"/>
                  <a:cs typeface="+mn-cs"/>
                </a:rPr>
                <a:t>​（事件监控）​</a:t>
              </a:r>
            </a:p>
          </p:txBody>
        </p:sp>
        <p:sp>
          <p:nvSpPr>
            <p:cNvPr id="170" name="Ellipse 170"/>
            <p:cNvSpPr/>
            <p:nvPr/>
          </p:nvSpPr>
          <p:spPr>
            <a:xfrm>
              <a:off x="8458200" y="1143000"/>
              <a:ext cx="342900" cy="342900"/>
            </a:xfrm>
            <a:prstGeom prst="ellipse">
              <a:avLst/>
            </a:prstGeom>
            <a:solidFill>
              <a:srgbClr val="C41D00"/>
            </a:solidFill>
            <a:ln>
              <a:noFill/>
            </a:ln>
          </p:spPr>
        </p:sp>
        <p:grpSp>
          <p:nvGrpSpPr>
            <p:cNvPr id="173" name="Group 173"/>
            <p:cNvGrpSpPr/>
            <p:nvPr/>
          </p:nvGrpSpPr>
          <p:grpSpPr>
            <a:xfrm>
              <a:off x="8558212" y="1243012"/>
              <a:ext cx="142875" cy="142875"/>
              <a:chOff x="8558212" y="1243012"/>
              <a:chExt cx="142875" cy="142875"/>
            </a:xfrm>
          </p:grpSpPr>
          <p:sp>
            <p:nvSpPr>
              <p:cNvPr id="171" name="Freeform 171"/>
              <p:cNvSpPr/>
              <p:nvPr/>
            </p:nvSpPr>
            <p:spPr>
              <a:xfrm>
                <a:off x="8558212" y="12430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sp>
            <p:nvSpPr>
              <p:cNvPr id="172" name="Freeform 172"/>
              <p:cNvSpPr/>
              <p:nvPr/>
            </p:nvSpPr>
            <p:spPr>
              <a:xfrm>
                <a:off x="8629650" y="1274762"/>
                <a:ext cx="23812" cy="63500"/>
              </a:xfrm>
              <a:custGeom>
                <a:avLst/>
                <a:gdLst/>
                <a:ahLst/>
                <a:cxnLst/>
                <a:rect l="l" t="t" r="r" b="b"/>
                <a:pathLst>
                  <a:path w="23812" h="63500">
                    <a:moveTo>
                      <a:pt x="0" y="0"/>
                    </a:moveTo>
                    <a:lnTo>
                      <a:pt x="0" y="39687"/>
                    </a:lnTo>
                    <a:lnTo>
                      <a:pt x="23812" y="63500"/>
                    </a:lnTo>
                  </a:path>
                </a:pathLst>
              </a:custGeom>
              <a:noFill/>
              <a:ln w="15875">
                <a:solidFill>
                  <a:srgbClr val="FFFFFF"/>
                </a:solidFill>
              </a:ln>
            </p:spPr>
          </p:sp>
        </p:grpSp>
        <p:sp>
          <p:nvSpPr>
            <p:cNvPr id="174" name="TextBox 174"/>
            <p:cNvSpPr txBox="1"/>
            <p:nvPr/>
          </p:nvSpPr>
          <p:spPr>
            <a:xfrm>
              <a:off x="8891588" y="1085136"/>
              <a:ext cx="733784"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日会：事件监控​</a:t>
              </a:r>
            </a:p>
          </p:txBody>
        </p:sp>
        <p:sp>
          <p:nvSpPr>
            <p:cNvPr id="175" name="TextBox 175"/>
            <p:cNvSpPr txBox="1"/>
            <p:nvPr/>
          </p:nvSpPr>
          <p:spPr>
            <a:xfrm>
              <a:off x="8891588" y="1249680"/>
              <a:ext cx="1007745" cy="3476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监控关键指标与异常事件​​</a:t>
              </a:r>
            </a:p>
            <a:p>
              <a:pPr algn="l" marL="76200" indent="-76200">
                <a:lnSpc>
                  <a:spcPts val="900"/>
                </a:lnSpc>
                <a:buClr>
                  <a:srgbClr val="3D3835"/>
                </a:buClr>
                <a:buSzTx/>
                <a:buFontTx/>
                <a:buChar char="•"/>
              </a:pPr>
              <a:r>
                <a:rPr lang="zh-CN" sz="600" dirty="0">
                  <a:solidFill>
                    <a:srgbClr val="3D3835"/>
                  </a:solidFill>
                  <a:latin typeface="+mn-lt"/>
                  <a:ea typeface="+mn-ea"/>
                  <a:cs typeface="+mn-cs"/>
                </a:rPr>
                <a:t>快速识别、分派与跟踪​​</a:t>
              </a:r>
            </a:p>
            <a:p>
              <a:pPr algn="l" marL="76200" indent="-76200">
                <a:lnSpc>
                  <a:spcPts val="900"/>
                </a:lnSpc>
                <a:buClr>
                  <a:srgbClr val="3D3835"/>
                </a:buClr>
                <a:buSzTx/>
                <a:buFontTx/>
                <a:buChar char="•"/>
              </a:pPr>
              <a:r>
                <a:rPr lang="zh-CN" sz="600" dirty="0">
                  <a:solidFill>
                    <a:srgbClr val="3D3835"/>
                  </a:solidFill>
                  <a:latin typeface="+mn-lt"/>
                  <a:ea typeface="+mn-ea"/>
                  <a:cs typeface="+mn-cs"/>
                </a:rPr>
                <a:t>当日闭环与预警升级​​</a:t>
              </a:r>
            </a:p>
          </p:txBody>
        </p:sp>
        <p:sp>
          <p:nvSpPr>
            <p:cNvPr id="176" name="Rectangle 176"/>
            <p:cNvSpPr/>
            <p:nvPr/>
          </p:nvSpPr>
          <p:spPr>
            <a:xfrm>
              <a:off x="7753350" y="1695450"/>
              <a:ext cx="4057650" cy="647700"/>
            </a:xfrm>
            <a:prstGeom prst="roundRect">
              <a:avLst>
                <a:gd name="adj" fmla="val 5882"/>
              </a:avLst>
            </a:prstGeom>
            <a:solidFill>
              <a:srgbClr val="FFFFFF"/>
            </a:solidFill>
            <a:ln w="9525">
              <a:solidFill>
                <a:srgbClr val="F0B8AE"/>
              </a:solidFill>
            </a:ln>
          </p:spPr>
        </p:sp>
        <p:sp>
          <p:nvSpPr>
            <p:cNvPr id="177" name="Rectangle 177"/>
            <p:cNvSpPr/>
            <p:nvPr/>
          </p:nvSpPr>
          <p:spPr>
            <a:xfrm>
              <a:off x="7753350" y="1695450"/>
              <a:ext cx="628650" cy="647700"/>
            </a:xfrm>
            <a:prstGeom prst="roundRect">
              <a:avLst>
                <a:gd name="adj" fmla="val 6061"/>
              </a:avLst>
            </a:prstGeom>
            <a:solidFill>
              <a:srgbClr val="FEF2E6"/>
            </a:solidFill>
            <a:ln>
              <a:noFill/>
            </a:ln>
          </p:spPr>
        </p:sp>
        <p:sp>
          <p:nvSpPr>
            <p:cNvPr id="178" name="TextBox 178"/>
            <p:cNvSpPr txBox="1"/>
            <p:nvPr/>
          </p:nvSpPr>
          <p:spPr>
            <a:xfrm>
              <a:off x="7810436" y="1900238"/>
              <a:ext cx="514477" cy="271462"/>
            </a:xfrm>
            <a:prstGeom prst="rect">
              <a:avLst/>
            </a:prstGeom>
            <a:noFill/>
            <a:ln>
              <a:noFill/>
            </a:ln>
          </p:spPr>
          <p:txBody>
            <a:bodyPr wrap="none" lIns="0" tIns="0" rIns="0" bIns="0" anchor="t" anchorCtr="0">
              <a:spAutoFit/>
            </a:bodyPr>
            <a:lstStyle/>
            <a:p>
              <a:pPr algn="ctr">
                <a:lnSpc>
                  <a:spcPts val="975"/>
                </a:lnSpc>
              </a:pPr>
              <a:r>
                <a:rPr lang="zh-CN" sz="750" b="1" dirty="0">
                  <a:solidFill>
                    <a:srgbClr val="4A130A"/>
                  </a:solidFill>
                  <a:latin typeface="+mn-lt"/>
                  <a:ea typeface="+mn-ea"/>
                  <a:cs typeface="+mn-cs"/>
                </a:rPr>
                <a:t>每周</a:t>
              </a:r>
            </a:p>
            <a:p>
              <a:pPr algn="ctr">
                <a:lnSpc>
                  <a:spcPts val="975"/>
                </a:lnSpc>
              </a:pPr>
              <a:r>
                <a:rPr lang="zh-CN" sz="560" dirty="0">
                  <a:solidFill>
                    <a:srgbClr val="7A716B"/>
                  </a:solidFill>
                  <a:latin typeface="+mn-lt"/>
                  <a:ea typeface="+mn-ea"/>
                  <a:cs typeface="+mn-cs"/>
                </a:rPr>
                <a:t>​（旅程小组）​</a:t>
              </a:r>
            </a:p>
          </p:txBody>
        </p:sp>
        <p:sp>
          <p:nvSpPr>
            <p:cNvPr id="179" name="Ellipse 179"/>
            <p:cNvSpPr/>
            <p:nvPr/>
          </p:nvSpPr>
          <p:spPr>
            <a:xfrm>
              <a:off x="8458200" y="1847850"/>
              <a:ext cx="342900" cy="342900"/>
            </a:xfrm>
            <a:prstGeom prst="ellipse">
              <a:avLst/>
            </a:prstGeom>
            <a:solidFill>
              <a:srgbClr val="C41D00"/>
            </a:solidFill>
            <a:ln>
              <a:noFill/>
            </a:ln>
          </p:spPr>
        </p:sp>
        <p:grpSp>
          <p:nvGrpSpPr>
            <p:cNvPr id="186" name="Group 186"/>
            <p:cNvGrpSpPr/>
            <p:nvPr/>
          </p:nvGrpSpPr>
          <p:grpSpPr>
            <a:xfrm>
              <a:off x="8558212" y="1947862"/>
              <a:ext cx="142875" cy="142875"/>
              <a:chOff x="8558212" y="1947862"/>
              <a:chExt cx="142875" cy="142875"/>
            </a:xfrm>
          </p:grpSpPr>
          <p:sp>
            <p:nvSpPr>
              <p:cNvPr id="180" name="Freeform 180"/>
              <p:cNvSpPr/>
              <p:nvPr/>
            </p:nvSpPr>
            <p:spPr>
              <a:xfrm>
                <a:off x="8613775" y="20113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81" name="Freeform 181"/>
              <p:cNvSpPr/>
              <p:nvPr/>
            </p:nvSpPr>
            <p:spPr>
              <a:xfrm>
                <a:off x="8597900" y="20669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FFFFFF"/>
                </a:solidFill>
              </a:ln>
            </p:spPr>
          </p:sp>
          <p:sp>
            <p:nvSpPr>
              <p:cNvPr id="182" name="Freeform 182"/>
              <p:cNvSpPr/>
              <p:nvPr/>
            </p:nvSpPr>
            <p:spPr>
              <a:xfrm>
                <a:off x="8653462" y="19478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83" name="Freeform 183"/>
              <p:cNvSpPr/>
              <p:nvPr/>
            </p:nvSpPr>
            <p:spPr>
              <a:xfrm>
                <a:off x="8669337" y="20034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FFFFFF"/>
                </a:solidFill>
              </a:ln>
            </p:spPr>
          </p:sp>
          <p:sp>
            <p:nvSpPr>
              <p:cNvPr id="184" name="Freeform 184"/>
              <p:cNvSpPr/>
              <p:nvPr/>
            </p:nvSpPr>
            <p:spPr>
              <a:xfrm>
                <a:off x="8574087" y="19478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85" name="Freeform 185"/>
              <p:cNvSpPr/>
              <p:nvPr/>
            </p:nvSpPr>
            <p:spPr>
              <a:xfrm>
                <a:off x="8558212" y="20034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FFFFFF"/>
                </a:solidFill>
              </a:ln>
            </p:spPr>
          </p:sp>
        </p:grpSp>
        <p:sp>
          <p:nvSpPr>
            <p:cNvPr id="187" name="TextBox 187"/>
            <p:cNvSpPr txBox="1"/>
            <p:nvPr/>
          </p:nvSpPr>
          <p:spPr>
            <a:xfrm>
              <a:off x="8891588" y="1789986"/>
              <a:ext cx="733784"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周会：旅程小组​</a:t>
              </a:r>
            </a:p>
          </p:txBody>
        </p:sp>
        <p:sp>
          <p:nvSpPr>
            <p:cNvPr id="188" name="TextBox 188"/>
            <p:cNvSpPr txBox="1"/>
            <p:nvPr/>
          </p:nvSpPr>
          <p:spPr>
            <a:xfrm>
              <a:off x="8891588" y="1954530"/>
              <a:ext cx="931545" cy="3476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复盘关键客户旅程表现​​</a:t>
              </a:r>
            </a:p>
            <a:p>
              <a:pPr algn="l" marL="76200" indent="-76200">
                <a:lnSpc>
                  <a:spcPts val="900"/>
                </a:lnSpc>
                <a:buClr>
                  <a:srgbClr val="3D3835"/>
                </a:buClr>
                <a:buSzTx/>
                <a:buFontTx/>
                <a:buChar char="•"/>
              </a:pPr>
              <a:r>
                <a:rPr lang="zh-CN" sz="600" dirty="0">
                  <a:solidFill>
                    <a:srgbClr val="3D3835"/>
                  </a:solidFill>
                  <a:latin typeface="+mn-lt"/>
                  <a:ea typeface="+mn-ea"/>
                  <a:cs typeface="+mn-cs"/>
                </a:rPr>
                <a:t>识别痛点与改进举措​​</a:t>
              </a:r>
            </a:p>
            <a:p>
              <a:pPr algn="l" marL="76200" indent="-76200">
                <a:lnSpc>
                  <a:spcPts val="900"/>
                </a:lnSpc>
                <a:buClr>
                  <a:srgbClr val="3D3835"/>
                </a:buClr>
                <a:buSzTx/>
                <a:buFontTx/>
                <a:buChar char="•"/>
              </a:pPr>
              <a:r>
                <a:rPr lang="zh-CN" sz="600" dirty="0">
                  <a:solidFill>
                    <a:srgbClr val="3D3835"/>
                  </a:solidFill>
                  <a:latin typeface="+mn-lt"/>
                  <a:ea typeface="+mn-ea"/>
                  <a:cs typeface="+mn-cs"/>
                </a:rPr>
                <a:t>明确责任人与完成时点​​</a:t>
              </a:r>
            </a:p>
          </p:txBody>
        </p:sp>
        <p:sp>
          <p:nvSpPr>
            <p:cNvPr id="189" name="Rectangle 189"/>
            <p:cNvSpPr/>
            <p:nvPr/>
          </p:nvSpPr>
          <p:spPr>
            <a:xfrm>
              <a:off x="7753350" y="2400300"/>
              <a:ext cx="4057650" cy="647700"/>
            </a:xfrm>
            <a:prstGeom prst="roundRect">
              <a:avLst>
                <a:gd name="adj" fmla="val 5882"/>
              </a:avLst>
            </a:prstGeom>
            <a:solidFill>
              <a:srgbClr val="FFFFFF"/>
            </a:solidFill>
            <a:ln w="9525">
              <a:solidFill>
                <a:srgbClr val="F0B8AE"/>
              </a:solidFill>
            </a:ln>
          </p:spPr>
        </p:sp>
        <p:sp>
          <p:nvSpPr>
            <p:cNvPr id="190" name="Rectangle 190"/>
            <p:cNvSpPr/>
            <p:nvPr/>
          </p:nvSpPr>
          <p:spPr>
            <a:xfrm>
              <a:off x="7753350" y="2400300"/>
              <a:ext cx="628650" cy="647700"/>
            </a:xfrm>
            <a:prstGeom prst="roundRect">
              <a:avLst>
                <a:gd name="adj" fmla="val 6061"/>
              </a:avLst>
            </a:prstGeom>
            <a:solidFill>
              <a:srgbClr val="FEF2E6"/>
            </a:solidFill>
            <a:ln>
              <a:noFill/>
            </a:ln>
          </p:spPr>
        </p:sp>
        <p:sp>
          <p:nvSpPr>
            <p:cNvPr id="191" name="TextBox 191"/>
            <p:cNvSpPr txBox="1"/>
            <p:nvPr/>
          </p:nvSpPr>
          <p:spPr>
            <a:xfrm>
              <a:off x="7810436" y="2605088"/>
              <a:ext cx="514477" cy="271462"/>
            </a:xfrm>
            <a:prstGeom prst="rect">
              <a:avLst/>
            </a:prstGeom>
            <a:noFill/>
            <a:ln>
              <a:noFill/>
            </a:ln>
          </p:spPr>
          <p:txBody>
            <a:bodyPr wrap="none" lIns="0" tIns="0" rIns="0" bIns="0" anchor="t" anchorCtr="0">
              <a:spAutoFit/>
            </a:bodyPr>
            <a:lstStyle/>
            <a:p>
              <a:pPr algn="ctr">
                <a:lnSpc>
                  <a:spcPts val="975"/>
                </a:lnSpc>
              </a:pPr>
              <a:r>
                <a:rPr lang="zh-CN" sz="750" b="1" dirty="0">
                  <a:solidFill>
                    <a:srgbClr val="4A130A"/>
                  </a:solidFill>
                  <a:latin typeface="+mn-lt"/>
                  <a:ea typeface="+mn-ea"/>
                  <a:cs typeface="+mn-cs"/>
                </a:rPr>
                <a:t>每月</a:t>
              </a:r>
            </a:p>
            <a:p>
              <a:pPr algn="ctr">
                <a:lnSpc>
                  <a:spcPts val="975"/>
                </a:lnSpc>
              </a:pPr>
              <a:r>
                <a:rPr lang="zh-CN" sz="560" dirty="0">
                  <a:solidFill>
                    <a:srgbClr val="7A716B"/>
                  </a:solidFill>
                  <a:latin typeface="+mn-lt"/>
                  <a:ea typeface="+mn-ea"/>
                  <a:cs typeface="+mn-cs"/>
                </a:rPr>
                <a:t>​（价值复盘）​</a:t>
              </a:r>
            </a:p>
          </p:txBody>
        </p:sp>
        <p:sp>
          <p:nvSpPr>
            <p:cNvPr id="192" name="Ellipse 192"/>
            <p:cNvSpPr/>
            <p:nvPr/>
          </p:nvSpPr>
          <p:spPr>
            <a:xfrm>
              <a:off x="8458200" y="2552700"/>
              <a:ext cx="342900" cy="342900"/>
            </a:xfrm>
            <a:prstGeom prst="ellipse">
              <a:avLst/>
            </a:prstGeom>
            <a:solidFill>
              <a:srgbClr val="C41D00"/>
            </a:solidFill>
            <a:ln>
              <a:noFill/>
            </a:ln>
          </p:spPr>
        </p:sp>
        <p:grpSp>
          <p:nvGrpSpPr>
            <p:cNvPr id="195" name="Group 195"/>
            <p:cNvGrpSpPr/>
            <p:nvPr/>
          </p:nvGrpSpPr>
          <p:grpSpPr>
            <a:xfrm>
              <a:off x="8566150" y="2676525"/>
              <a:ext cx="127000" cy="112712"/>
              <a:chOff x="8566150" y="2676525"/>
              <a:chExt cx="127000" cy="112712"/>
            </a:xfrm>
          </p:grpSpPr>
          <p:sp>
            <p:nvSpPr>
              <p:cNvPr id="193" name="Freeform 193"/>
              <p:cNvSpPr/>
              <p:nvPr/>
            </p:nvSpPr>
            <p:spPr>
              <a:xfrm>
                <a:off x="8566150" y="2779712"/>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94" name="Freeform 194"/>
              <p:cNvSpPr/>
              <p:nvPr/>
            </p:nvSpPr>
            <p:spPr>
              <a:xfrm>
                <a:off x="8566150" y="267652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FFFFFF"/>
                </a:solidFill>
              </a:ln>
            </p:spPr>
          </p:sp>
        </p:grpSp>
        <p:sp>
          <p:nvSpPr>
            <p:cNvPr id="196" name="TextBox 196"/>
            <p:cNvSpPr txBox="1"/>
            <p:nvPr/>
          </p:nvSpPr>
          <p:spPr>
            <a:xfrm>
              <a:off x="8891588" y="2494836"/>
              <a:ext cx="733784"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月会：价值复盘​</a:t>
              </a:r>
            </a:p>
          </p:txBody>
        </p:sp>
        <p:sp>
          <p:nvSpPr>
            <p:cNvPr id="197" name="TextBox 197"/>
            <p:cNvSpPr txBox="1"/>
            <p:nvPr/>
          </p:nvSpPr>
          <p:spPr>
            <a:xfrm>
              <a:off x="8891588" y="2659380"/>
              <a:ext cx="1019175" cy="3476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复盘经营结果与活动ROI​​​</a:t>
              </a:r>
            </a:p>
            <a:p>
              <a:pPr algn="l" marL="76200" indent="-76200">
                <a:lnSpc>
                  <a:spcPts val="900"/>
                </a:lnSpc>
                <a:buClr>
                  <a:srgbClr val="3D3835"/>
                </a:buClr>
                <a:buSzTx/>
                <a:buFontTx/>
                <a:buChar char="•"/>
              </a:pPr>
              <a:r>
                <a:rPr lang="zh-CN" sz="600" dirty="0">
                  <a:solidFill>
                    <a:srgbClr val="3D3835"/>
                  </a:solidFill>
                  <a:latin typeface="+mn-lt"/>
                  <a:ea typeface="+mn-ea"/>
                  <a:cs typeface="+mn-cs"/>
                </a:rPr>
                <a:t>分析差距与根因​​</a:t>
              </a:r>
            </a:p>
            <a:p>
              <a:pPr algn="l" marL="76200" indent="-76200">
                <a:lnSpc>
                  <a:spcPts val="900"/>
                </a:lnSpc>
                <a:buClr>
                  <a:srgbClr val="3D3835"/>
                </a:buClr>
                <a:buSzTx/>
                <a:buFontTx/>
                <a:buChar char="•"/>
              </a:pPr>
              <a:r>
                <a:rPr lang="zh-CN" sz="600" dirty="0">
                  <a:solidFill>
                    <a:srgbClr val="3D3835"/>
                  </a:solidFill>
                  <a:latin typeface="+mn-lt"/>
                  <a:ea typeface="+mn-ea"/>
                  <a:cs typeface="+mn-cs"/>
                </a:rPr>
                <a:t>调整策略与资源配置​​</a:t>
              </a:r>
            </a:p>
          </p:txBody>
        </p:sp>
        <p:sp>
          <p:nvSpPr>
            <p:cNvPr id="198" name="Rectangle 198"/>
            <p:cNvSpPr/>
            <p:nvPr/>
          </p:nvSpPr>
          <p:spPr>
            <a:xfrm>
              <a:off x="7753350" y="3105150"/>
              <a:ext cx="4057650" cy="647700"/>
            </a:xfrm>
            <a:prstGeom prst="roundRect">
              <a:avLst>
                <a:gd name="adj" fmla="val 5882"/>
              </a:avLst>
            </a:prstGeom>
            <a:solidFill>
              <a:srgbClr val="FFFFFF"/>
            </a:solidFill>
            <a:ln w="9525">
              <a:solidFill>
                <a:srgbClr val="F0B8AE"/>
              </a:solidFill>
            </a:ln>
          </p:spPr>
        </p:sp>
        <p:sp>
          <p:nvSpPr>
            <p:cNvPr id="199" name="Rectangle 199"/>
            <p:cNvSpPr/>
            <p:nvPr/>
          </p:nvSpPr>
          <p:spPr>
            <a:xfrm>
              <a:off x="7753350" y="3105150"/>
              <a:ext cx="628650" cy="647700"/>
            </a:xfrm>
            <a:prstGeom prst="roundRect">
              <a:avLst>
                <a:gd name="adj" fmla="val 6061"/>
              </a:avLst>
            </a:prstGeom>
            <a:solidFill>
              <a:srgbClr val="FEF2E6"/>
            </a:solidFill>
            <a:ln>
              <a:noFill/>
            </a:ln>
          </p:spPr>
        </p:sp>
        <p:sp>
          <p:nvSpPr>
            <p:cNvPr id="200" name="TextBox 200"/>
            <p:cNvSpPr txBox="1"/>
            <p:nvPr/>
          </p:nvSpPr>
          <p:spPr>
            <a:xfrm>
              <a:off x="7810436" y="3309938"/>
              <a:ext cx="514477" cy="271462"/>
            </a:xfrm>
            <a:prstGeom prst="rect">
              <a:avLst/>
            </a:prstGeom>
            <a:noFill/>
            <a:ln>
              <a:noFill/>
            </a:ln>
          </p:spPr>
          <p:txBody>
            <a:bodyPr wrap="none" lIns="0" tIns="0" rIns="0" bIns="0" anchor="t" anchorCtr="0">
              <a:spAutoFit/>
            </a:bodyPr>
            <a:lstStyle/>
            <a:p>
              <a:pPr algn="ctr">
                <a:lnSpc>
                  <a:spcPts val="975"/>
                </a:lnSpc>
              </a:pPr>
              <a:r>
                <a:rPr lang="zh-CN" sz="750" b="1" dirty="0">
                  <a:solidFill>
                    <a:srgbClr val="4A130A"/>
                  </a:solidFill>
                  <a:latin typeface="+mn-lt"/>
                  <a:ea typeface="+mn-ea"/>
                  <a:cs typeface="+mn-cs"/>
                </a:rPr>
                <a:t>每季</a:t>
              </a:r>
            </a:p>
            <a:p>
              <a:pPr algn="ctr">
                <a:lnSpc>
                  <a:spcPts val="975"/>
                </a:lnSpc>
              </a:pPr>
              <a:r>
                <a:rPr lang="zh-CN" sz="560" dirty="0">
                  <a:solidFill>
                    <a:srgbClr val="7A716B"/>
                  </a:solidFill>
                  <a:latin typeface="+mn-lt"/>
                  <a:ea typeface="+mn-ea"/>
                  <a:cs typeface="+mn-cs"/>
                </a:rPr>
                <a:t>​（组合评审）​</a:t>
              </a:r>
            </a:p>
          </p:txBody>
        </p:sp>
        <p:sp>
          <p:nvSpPr>
            <p:cNvPr id="201" name="Ellipse 201"/>
            <p:cNvSpPr/>
            <p:nvPr/>
          </p:nvSpPr>
          <p:spPr>
            <a:xfrm>
              <a:off x="8458200" y="3257550"/>
              <a:ext cx="342900" cy="342900"/>
            </a:xfrm>
            <a:prstGeom prst="ellipse">
              <a:avLst/>
            </a:prstGeom>
            <a:solidFill>
              <a:srgbClr val="C41D00"/>
            </a:solidFill>
            <a:ln>
              <a:noFill/>
            </a:ln>
          </p:spPr>
        </p:sp>
        <p:grpSp>
          <p:nvGrpSpPr>
            <p:cNvPr id="204" name="Group 204"/>
            <p:cNvGrpSpPr/>
            <p:nvPr/>
          </p:nvGrpSpPr>
          <p:grpSpPr>
            <a:xfrm>
              <a:off x="8556000" y="3358927"/>
              <a:ext cx="143500" cy="143723"/>
              <a:chOff x="8556000" y="3358927"/>
              <a:chExt cx="143500" cy="143723"/>
            </a:xfrm>
          </p:grpSpPr>
          <p:sp>
            <p:nvSpPr>
              <p:cNvPr id="202" name="Freeform 202"/>
              <p:cNvSpPr/>
              <p:nvPr/>
            </p:nvSpPr>
            <p:spPr>
              <a:xfrm>
                <a:off x="8556000" y="3358927"/>
                <a:ext cx="143500" cy="143723"/>
              </a:xfrm>
              <a:custGeom>
                <a:avLst/>
                <a:gdLst/>
                <a:ahLst/>
                <a:cxnLst/>
                <a:rect l="l" t="t" r="r" b="b"/>
                <a:pathLst>
                  <a:path w="143500" h="143723">
                    <a:moveTo>
                      <a:pt x="57775" y="223"/>
                    </a:moveTo>
                    <a:cubicBezTo>
                      <a:pt x="23406" y="8190"/>
                      <a:pt x="0" y="40055"/>
                      <a:pt x="2676" y="75234"/>
                    </a:cubicBezTo>
                    <a:cubicBezTo>
                      <a:pt x="5353" y="110413"/>
                      <a:pt x="33310" y="138370"/>
                      <a:pt x="68489" y="141046"/>
                    </a:cubicBezTo>
                    <a:cubicBezTo>
                      <a:pt x="103668" y="143723"/>
                      <a:pt x="135532" y="120317"/>
                      <a:pt x="143500" y="85948"/>
                    </a:cubicBezTo>
                    <a:cubicBezTo>
                      <a:pt x="143500" y="81564"/>
                      <a:pt x="139946" y="78010"/>
                      <a:pt x="135562" y="78010"/>
                    </a:cubicBezTo>
                    <a:lnTo>
                      <a:pt x="81587" y="78010"/>
                    </a:lnTo>
                    <a:cubicBezTo>
                      <a:pt x="72820" y="78010"/>
                      <a:pt x="65712" y="70903"/>
                      <a:pt x="65712" y="62135"/>
                    </a:cubicBezTo>
                    <a:lnTo>
                      <a:pt x="65712" y="6573"/>
                    </a:lnTo>
                    <a:cubicBezTo>
                      <a:pt x="65513" y="4673"/>
                      <a:pt x="64562" y="2932"/>
                      <a:pt x="63070" y="1739"/>
                    </a:cubicBezTo>
                    <a:cubicBezTo>
                      <a:pt x="61579" y="546"/>
                      <a:pt x="59672" y="0"/>
                      <a:pt x="57775" y="223"/>
                    </a:cubicBezTo>
                  </a:path>
                </a:pathLst>
              </a:custGeom>
              <a:noFill/>
              <a:ln w="15875">
                <a:solidFill>
                  <a:srgbClr val="FFFFFF"/>
                </a:solidFill>
              </a:ln>
            </p:spPr>
          </p:sp>
          <p:sp>
            <p:nvSpPr>
              <p:cNvPr id="203" name="Freeform 203"/>
              <p:cNvSpPr/>
              <p:nvPr/>
            </p:nvSpPr>
            <p:spPr>
              <a:xfrm>
                <a:off x="8653462" y="3361531"/>
                <a:ext cx="43656" cy="43656"/>
              </a:xfrm>
              <a:custGeom>
                <a:avLst/>
                <a:gdLst/>
                <a:ahLst/>
                <a:cxnLst/>
                <a:rect l="l" t="t" r="r" b="b"/>
                <a:pathLst>
                  <a:path w="43656" h="43656">
                    <a:moveTo>
                      <a:pt x="0" y="0"/>
                    </a:moveTo>
                    <a:cubicBezTo>
                      <a:pt x="20414" y="7188"/>
                      <a:pt x="36468" y="23243"/>
                      <a:pt x="43656" y="43656"/>
                    </a:cubicBezTo>
                    <a:lnTo>
                      <a:pt x="7937" y="43656"/>
                    </a:lnTo>
                    <a:cubicBezTo>
                      <a:pt x="3554" y="43656"/>
                      <a:pt x="0" y="40102"/>
                      <a:pt x="0" y="35719"/>
                    </a:cubicBezTo>
                    <a:lnTo>
                      <a:pt x="0" y="0"/>
                    </a:lnTo>
                  </a:path>
                </a:pathLst>
              </a:custGeom>
              <a:noFill/>
              <a:ln w="15875">
                <a:solidFill>
                  <a:srgbClr val="FFFFFF"/>
                </a:solidFill>
              </a:ln>
            </p:spPr>
          </p:sp>
        </p:grpSp>
        <p:sp>
          <p:nvSpPr>
            <p:cNvPr id="205" name="TextBox 205"/>
            <p:cNvSpPr txBox="1"/>
            <p:nvPr/>
          </p:nvSpPr>
          <p:spPr>
            <a:xfrm>
              <a:off x="8891588" y="3199686"/>
              <a:ext cx="733784"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季会：组合评审​</a:t>
              </a:r>
            </a:p>
          </p:txBody>
        </p:sp>
        <p:sp>
          <p:nvSpPr>
            <p:cNvPr id="206" name="TextBox 206"/>
            <p:cNvSpPr txBox="1"/>
            <p:nvPr/>
          </p:nvSpPr>
          <p:spPr>
            <a:xfrm>
              <a:off x="8891588" y="3364230"/>
              <a:ext cx="1099185" cy="3476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评审产品/渠道/活动组合​​​​</a:t>
              </a:r>
            </a:p>
            <a:p>
              <a:pPr algn="l" marL="76200" indent="-76200">
                <a:lnSpc>
                  <a:spcPts val="900"/>
                </a:lnSpc>
                <a:buClr>
                  <a:srgbClr val="3D3835"/>
                </a:buClr>
                <a:buSzTx/>
                <a:buFontTx/>
                <a:buChar char="•"/>
              </a:pPr>
              <a:r>
                <a:rPr lang="zh-CN" sz="600" dirty="0">
                  <a:solidFill>
                    <a:srgbClr val="3D3835"/>
                  </a:solidFill>
                  <a:latin typeface="+mn-lt"/>
                  <a:ea typeface="+mn-ea"/>
                  <a:cs typeface="+mn-cs"/>
                </a:rPr>
                <a:t>优化资源配置结构​​</a:t>
              </a:r>
            </a:p>
            <a:p>
              <a:pPr algn="l" marL="76200" indent="-76200">
                <a:lnSpc>
                  <a:spcPts val="900"/>
                </a:lnSpc>
                <a:buClr>
                  <a:srgbClr val="3D3835"/>
                </a:buClr>
                <a:buSzTx/>
                <a:buFontTx/>
                <a:buChar char="•"/>
              </a:pPr>
              <a:r>
                <a:rPr lang="zh-CN" sz="600" dirty="0">
                  <a:solidFill>
                    <a:srgbClr val="3D3835"/>
                  </a:solidFill>
                  <a:latin typeface="+mn-lt"/>
                  <a:ea typeface="+mn-ea"/>
                  <a:cs typeface="+mn-cs"/>
                </a:rPr>
                <a:t>前瞻趋势与机会布局​​</a:t>
              </a:r>
            </a:p>
          </p:txBody>
        </p:sp>
      </p:grpSp>
      <p:grpSp>
        <p:nvGrpSpPr>
          <p:cNvPr id="371" name="kpi-dashboard"/>
          <p:cNvGrpSpPr/>
          <p:nvPr/>
        </p:nvGrpSpPr>
        <p:grpSpPr>
          <a:xfrm>
            <a:off x="342900" y="3867150"/>
            <a:ext cx="11468100" cy="2781300"/>
            <a:chOff x="342900" y="3867150"/>
            <a:chExt cx="11468100" cy="2781300"/>
          </a:xfrm>
        </p:grpSpPr>
        <p:sp>
          <p:nvSpPr>
            <p:cNvPr id="208" name="Rectangle 208"/>
            <p:cNvSpPr/>
            <p:nvPr/>
          </p:nvSpPr>
          <p:spPr>
            <a:xfrm>
              <a:off x="342900" y="3867150"/>
              <a:ext cx="11468100" cy="228600"/>
            </a:xfrm>
            <a:prstGeom prst="roundRect">
              <a:avLst>
                <a:gd name="adj" fmla="val 12500"/>
              </a:avLst>
            </a:prstGeom>
            <a:solidFill>
              <a:srgbClr val="C41D00"/>
            </a:solidFill>
            <a:ln>
              <a:noFill/>
            </a:ln>
          </p:spPr>
        </p:sp>
        <p:sp>
          <p:nvSpPr>
            <p:cNvPr id="209" name="TextBox 209"/>
            <p:cNvSpPr txBox="1"/>
            <p:nvPr/>
          </p:nvSpPr>
          <p:spPr>
            <a:xfrm>
              <a:off x="5021256" y="3935968"/>
              <a:ext cx="211138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​绩效看板（四维平衡，驱动持续改进）​</a:t>
              </a:r>
            </a:p>
          </p:txBody>
        </p:sp>
        <p:sp>
          <p:nvSpPr>
            <p:cNvPr id="210" name="Rectangle 210"/>
            <p:cNvSpPr/>
            <p:nvPr/>
          </p:nvSpPr>
          <p:spPr>
            <a:xfrm>
              <a:off x="342900" y="4171950"/>
              <a:ext cx="2247900" cy="2476500"/>
            </a:xfrm>
            <a:prstGeom prst="roundRect">
              <a:avLst>
                <a:gd name="adj" fmla="val 1695"/>
              </a:avLst>
            </a:prstGeom>
            <a:solidFill>
              <a:srgbClr val="FFFFFF"/>
            </a:solidFill>
            <a:ln w="9525">
              <a:solidFill>
                <a:srgbClr val="F0B8AE"/>
              </a:solidFill>
            </a:ln>
          </p:spPr>
        </p:sp>
        <p:grpSp>
          <p:nvGrpSpPr>
            <p:cNvPr id="216" name="Group 216"/>
            <p:cNvGrpSpPr/>
            <p:nvPr/>
          </p:nvGrpSpPr>
          <p:grpSpPr>
            <a:xfrm>
              <a:off x="438150" y="4247299"/>
              <a:ext cx="114300" cy="115151"/>
              <a:chOff x="438150" y="4247299"/>
              <a:chExt cx="114300" cy="115151"/>
            </a:xfrm>
          </p:grpSpPr>
          <p:sp>
            <p:nvSpPr>
              <p:cNvPr id="211" name="Freeform 211"/>
              <p:cNvSpPr/>
              <p:nvPr/>
            </p:nvSpPr>
            <p:spPr>
              <a:xfrm>
                <a:off x="476250" y="429895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C41D00"/>
                </a:solidFill>
              </a:ln>
            </p:spPr>
          </p:sp>
          <p:sp>
            <p:nvSpPr>
              <p:cNvPr id="212" name="Freeform 212"/>
              <p:cNvSpPr/>
              <p:nvPr/>
            </p:nvSpPr>
            <p:spPr>
              <a:xfrm>
                <a:off x="476250" y="431800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C41D00"/>
                </a:solidFill>
              </a:ln>
            </p:spPr>
          </p:sp>
          <p:sp>
            <p:nvSpPr>
              <p:cNvPr id="213" name="Freeform 213"/>
              <p:cNvSpPr/>
              <p:nvPr/>
            </p:nvSpPr>
            <p:spPr>
              <a:xfrm>
                <a:off x="438150" y="424729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C41D00"/>
                </a:solidFill>
              </a:ln>
            </p:spPr>
          </p:sp>
          <p:sp>
            <p:nvSpPr>
              <p:cNvPr id="214" name="Freeform 214"/>
              <p:cNvSpPr/>
              <p:nvPr/>
            </p:nvSpPr>
            <p:spPr>
              <a:xfrm>
                <a:off x="438150" y="426720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C41D00"/>
                </a:solidFill>
              </a:ln>
            </p:spPr>
          </p:sp>
          <p:sp>
            <p:nvSpPr>
              <p:cNvPr id="215" name="Freeform 215"/>
              <p:cNvSpPr/>
              <p:nvPr/>
            </p:nvSpPr>
            <p:spPr>
              <a:xfrm>
                <a:off x="438150" y="4298950"/>
                <a:ext cx="12700" cy="12700"/>
              </a:xfrm>
              <a:custGeom>
                <a:avLst/>
                <a:gdLst/>
                <a:ahLst/>
                <a:cxnLst/>
                <a:rect l="l" t="t" r="r" b="b"/>
                <a:pathLst>
                  <a:path w="12700" h="12700">
                    <a:moveTo>
                      <a:pt x="0" y="0"/>
                    </a:moveTo>
                    <a:cubicBezTo>
                      <a:pt x="0" y="5639"/>
                      <a:pt x="4902" y="9208"/>
                      <a:pt x="12700" y="12700"/>
                    </a:cubicBezTo>
                  </a:path>
                </a:pathLst>
              </a:custGeom>
              <a:noFill/>
              <a:ln w="12700">
                <a:solidFill>
                  <a:srgbClr val="C41D00"/>
                </a:solidFill>
              </a:ln>
            </p:spPr>
          </p:sp>
        </p:grpSp>
        <p:sp>
          <p:nvSpPr>
            <p:cNvPr id="217" name="TextBox 217"/>
            <p:cNvSpPr txBox="1"/>
            <p:nvPr/>
          </p:nvSpPr>
          <p:spPr>
            <a:xfrm>
              <a:off x="623888" y="4271962"/>
              <a:ext cx="856340" cy="147638"/>
            </a:xfrm>
            <a:prstGeom prst="rect">
              <a:avLst/>
            </a:prstGeom>
            <a:noFill/>
            <a:ln>
              <a:noFill/>
            </a:ln>
          </p:spPr>
          <p:txBody>
            <a:bodyPr wrap="none" lIns="0" tIns="0" rIns="0" bIns="0" anchor="t" anchorCtr="0">
              <a:spAutoFit/>
            </a:bodyPr>
            <a:lstStyle/>
            <a:p>
              <a:pPr algn="l"/>
              <a:r>
                <a:rPr lang="zh-CN" sz="750" b="1" dirty="0">
                  <a:solidFill>
                    <a:srgbClr val="C41D00"/>
                  </a:solidFill>
                  <a:latin typeface="+mn-lt"/>
                  <a:ea typeface="+mn-ea"/>
                  <a:cs typeface="+mn-cs"/>
                </a:rPr>
                <a:t>价值（Value）​​​</a:t>
              </a:r>
            </a:p>
          </p:txBody>
        </p:sp>
        <p:sp>
          <p:nvSpPr>
            <p:cNvPr id="218" name="TextBox 218"/>
            <p:cNvSpPr txBox="1"/>
            <p:nvPr/>
          </p:nvSpPr>
          <p:spPr>
            <a:xfrm>
              <a:off x="572986" y="4469130"/>
              <a:ext cx="663778"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​净利润（亿元）​</a:t>
              </a:r>
            </a:p>
          </p:txBody>
        </p:sp>
        <p:sp>
          <p:nvSpPr>
            <p:cNvPr id="219" name="TextBox 219"/>
            <p:cNvSpPr txBox="1"/>
            <p:nvPr/>
          </p:nvSpPr>
          <p:spPr>
            <a:xfrm>
              <a:off x="550109" y="4624864"/>
              <a:ext cx="709532"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​128.6​</a:t>
              </a:r>
            </a:p>
          </p:txBody>
        </p:sp>
        <p:sp>
          <p:nvSpPr>
            <p:cNvPr id="220" name="TextBox 220"/>
            <p:cNvSpPr txBox="1"/>
            <p:nvPr/>
          </p:nvSpPr>
          <p:spPr>
            <a:xfrm>
              <a:off x="621449" y="4850130"/>
              <a:ext cx="566852"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​同比 +12.4%​</a:t>
              </a:r>
            </a:p>
          </p:txBody>
        </p:sp>
        <p:sp>
          <p:nvSpPr>
            <p:cNvPr id="221" name="Rectangle 221"/>
            <p:cNvSpPr/>
            <p:nvPr/>
          </p:nvSpPr>
          <p:spPr>
            <a:xfrm>
              <a:off x="600075" y="5562600"/>
              <a:ext cx="190500" cy="723900"/>
            </a:xfrm>
            <a:prstGeom prst="rect">
              <a:avLst/>
            </a:prstGeom>
            <a:solidFill>
              <a:srgbClr val="F57E6A"/>
            </a:solidFill>
            <a:ln>
              <a:noFill/>
            </a:ln>
          </p:spPr>
        </p:sp>
        <p:sp>
          <p:nvSpPr>
            <p:cNvPr id="222" name="Rectangle 222"/>
            <p:cNvSpPr/>
            <p:nvPr/>
          </p:nvSpPr>
          <p:spPr>
            <a:xfrm>
              <a:off x="904875" y="5524500"/>
              <a:ext cx="190500" cy="762000"/>
            </a:xfrm>
            <a:prstGeom prst="rect">
              <a:avLst/>
            </a:prstGeom>
            <a:solidFill>
              <a:srgbClr val="EE492C"/>
            </a:solidFill>
            <a:ln>
              <a:noFill/>
            </a:ln>
          </p:spPr>
        </p:sp>
        <p:sp>
          <p:nvSpPr>
            <p:cNvPr id="223" name="Rectangle 223"/>
            <p:cNvSpPr/>
            <p:nvPr/>
          </p:nvSpPr>
          <p:spPr>
            <a:xfrm>
              <a:off x="1209675" y="5429250"/>
              <a:ext cx="190500" cy="857250"/>
            </a:xfrm>
            <a:prstGeom prst="rect">
              <a:avLst/>
            </a:prstGeom>
            <a:solidFill>
              <a:srgbClr val="C41D00"/>
            </a:solidFill>
            <a:ln>
              <a:noFill/>
            </a:ln>
          </p:spPr>
        </p:sp>
        <p:sp>
          <p:nvSpPr>
            <p:cNvPr id="224" name="TextBox 224"/>
            <p:cNvSpPr txBox="1"/>
            <p:nvPr/>
          </p:nvSpPr>
          <p:spPr>
            <a:xfrm>
              <a:off x="555808" y="5467826"/>
              <a:ext cx="279034"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​108.7​</a:t>
              </a:r>
            </a:p>
          </p:txBody>
        </p:sp>
        <p:sp>
          <p:nvSpPr>
            <p:cNvPr id="225" name="TextBox 225"/>
            <p:cNvSpPr txBox="1"/>
            <p:nvPr/>
          </p:nvSpPr>
          <p:spPr>
            <a:xfrm>
              <a:off x="860608" y="5429726"/>
              <a:ext cx="279034"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​114.4​</a:t>
              </a:r>
            </a:p>
          </p:txBody>
        </p:sp>
        <p:sp>
          <p:nvSpPr>
            <p:cNvPr id="226" name="TextBox 226"/>
            <p:cNvSpPr txBox="1"/>
            <p:nvPr/>
          </p:nvSpPr>
          <p:spPr>
            <a:xfrm>
              <a:off x="1165408" y="5334476"/>
              <a:ext cx="279034"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​128.6​</a:t>
              </a:r>
            </a:p>
          </p:txBody>
        </p:sp>
        <p:sp>
          <p:nvSpPr>
            <p:cNvPr id="227" name="TextBox 227"/>
            <p:cNvSpPr txBox="1"/>
            <p:nvPr/>
          </p:nvSpPr>
          <p:spPr>
            <a:xfrm>
              <a:off x="54818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​2023A​</a:t>
              </a:r>
            </a:p>
          </p:txBody>
        </p:sp>
        <p:sp>
          <p:nvSpPr>
            <p:cNvPr id="228" name="TextBox 228"/>
            <p:cNvSpPr txBox="1"/>
            <p:nvPr/>
          </p:nvSpPr>
          <p:spPr>
            <a:xfrm>
              <a:off x="85298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​2024A​</a:t>
              </a:r>
            </a:p>
          </p:txBody>
        </p:sp>
        <p:sp>
          <p:nvSpPr>
            <p:cNvPr id="229" name="TextBox 229"/>
            <p:cNvSpPr txBox="1"/>
            <p:nvPr/>
          </p:nvSpPr>
          <p:spPr>
            <a:xfrm>
              <a:off x="1130043" y="6363176"/>
              <a:ext cx="349763"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​2025Q1​</a:t>
              </a:r>
            </a:p>
          </p:txBody>
        </p:sp>
        <p:sp>
          <p:nvSpPr>
            <p:cNvPr id="230" name="TextBox 230"/>
            <p:cNvSpPr txBox="1"/>
            <p:nvPr/>
          </p:nvSpPr>
          <p:spPr>
            <a:xfrm>
              <a:off x="1742694" y="4469130"/>
              <a:ext cx="572262"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​​ROE（%）​​</a:t>
              </a:r>
            </a:p>
          </p:txBody>
        </p:sp>
        <p:sp>
          <p:nvSpPr>
            <p:cNvPr id="231" name="TextBox 231"/>
            <p:cNvSpPr txBox="1"/>
            <p:nvPr/>
          </p:nvSpPr>
          <p:spPr>
            <a:xfrm>
              <a:off x="1723815" y="4624864"/>
              <a:ext cx="610021"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​13.2​</a:t>
              </a:r>
            </a:p>
          </p:txBody>
        </p:sp>
        <p:sp>
          <p:nvSpPr>
            <p:cNvPr id="232" name="TextBox 232"/>
            <p:cNvSpPr txBox="1"/>
            <p:nvPr/>
          </p:nvSpPr>
          <p:spPr>
            <a:xfrm>
              <a:off x="1753476" y="4850130"/>
              <a:ext cx="550697"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​同比 +1.7pp​</a:t>
              </a:r>
            </a:p>
          </p:txBody>
        </p:sp>
        <p:sp>
          <p:nvSpPr>
            <p:cNvPr id="233" name="Rectangle 233"/>
            <p:cNvSpPr/>
            <p:nvPr/>
          </p:nvSpPr>
          <p:spPr>
            <a:xfrm>
              <a:off x="1724025" y="5600700"/>
              <a:ext cx="190500" cy="685800"/>
            </a:xfrm>
            <a:prstGeom prst="rect">
              <a:avLst/>
            </a:prstGeom>
            <a:solidFill>
              <a:srgbClr val="F57E6A"/>
            </a:solidFill>
            <a:ln>
              <a:noFill/>
            </a:ln>
          </p:spPr>
        </p:sp>
        <p:sp>
          <p:nvSpPr>
            <p:cNvPr id="234" name="Rectangle 234"/>
            <p:cNvSpPr/>
            <p:nvPr/>
          </p:nvSpPr>
          <p:spPr>
            <a:xfrm>
              <a:off x="2028825" y="5514975"/>
              <a:ext cx="190500" cy="771525"/>
            </a:xfrm>
            <a:prstGeom prst="rect">
              <a:avLst/>
            </a:prstGeom>
            <a:solidFill>
              <a:srgbClr val="EE492C"/>
            </a:solidFill>
            <a:ln>
              <a:noFill/>
            </a:ln>
          </p:spPr>
        </p:sp>
        <p:sp>
          <p:nvSpPr>
            <p:cNvPr id="235" name="Rectangle 235"/>
            <p:cNvSpPr/>
            <p:nvPr/>
          </p:nvSpPr>
          <p:spPr>
            <a:xfrm>
              <a:off x="2333625" y="5429250"/>
              <a:ext cx="190500" cy="857250"/>
            </a:xfrm>
            <a:prstGeom prst="rect">
              <a:avLst/>
            </a:prstGeom>
            <a:solidFill>
              <a:srgbClr val="C41D00"/>
            </a:solidFill>
            <a:ln>
              <a:noFill/>
            </a:ln>
          </p:spPr>
        </p:sp>
        <p:sp>
          <p:nvSpPr>
            <p:cNvPr id="236" name="TextBox 236"/>
            <p:cNvSpPr txBox="1"/>
            <p:nvPr/>
          </p:nvSpPr>
          <p:spPr>
            <a:xfrm>
              <a:off x="167213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​2023A​</a:t>
              </a:r>
            </a:p>
          </p:txBody>
        </p:sp>
        <p:sp>
          <p:nvSpPr>
            <p:cNvPr id="237" name="TextBox 237"/>
            <p:cNvSpPr txBox="1"/>
            <p:nvPr/>
          </p:nvSpPr>
          <p:spPr>
            <a:xfrm>
              <a:off x="197693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​2024A​</a:t>
              </a:r>
            </a:p>
          </p:txBody>
        </p:sp>
        <p:sp>
          <p:nvSpPr>
            <p:cNvPr id="238" name="TextBox 238"/>
            <p:cNvSpPr txBox="1"/>
            <p:nvPr/>
          </p:nvSpPr>
          <p:spPr>
            <a:xfrm>
              <a:off x="2253993" y="6363176"/>
              <a:ext cx="349763"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​2025Q1​</a:t>
              </a:r>
            </a:p>
          </p:txBody>
        </p:sp>
        <p:sp>
          <p:nvSpPr>
            <p:cNvPr id="239" name="Rectangle 239"/>
            <p:cNvSpPr/>
            <p:nvPr/>
          </p:nvSpPr>
          <p:spPr>
            <a:xfrm>
              <a:off x="2647950" y="4171950"/>
              <a:ext cx="2247900" cy="2476500"/>
            </a:xfrm>
            <a:prstGeom prst="roundRect">
              <a:avLst>
                <a:gd name="adj" fmla="val 1695"/>
              </a:avLst>
            </a:prstGeom>
            <a:solidFill>
              <a:srgbClr val="FFFFFF"/>
            </a:solidFill>
            <a:ln w="9525">
              <a:solidFill>
                <a:srgbClr val="F0B8AE"/>
              </a:solidFill>
            </a:ln>
          </p:spPr>
        </p:sp>
        <p:grpSp>
          <p:nvGrpSpPr>
            <p:cNvPr id="243" name="Group 243"/>
            <p:cNvGrpSpPr/>
            <p:nvPr/>
          </p:nvGrpSpPr>
          <p:grpSpPr>
            <a:xfrm>
              <a:off x="2747544" y="4254500"/>
              <a:ext cx="103606" cy="103606"/>
              <a:chOff x="2747544" y="4254500"/>
              <a:chExt cx="103606" cy="103606"/>
            </a:xfrm>
          </p:grpSpPr>
          <p:sp>
            <p:nvSpPr>
              <p:cNvPr id="240" name="Freeform 240"/>
              <p:cNvSpPr/>
              <p:nvPr/>
            </p:nvSpPr>
            <p:spPr>
              <a:xfrm>
                <a:off x="2749550" y="4254500"/>
                <a:ext cx="101600" cy="101600"/>
              </a:xfrm>
              <a:custGeom>
                <a:avLst/>
                <a:gdLst/>
                <a:ahLst/>
                <a:cxnLst/>
                <a:rect l="l" t="t" r="r" b="b"/>
                <a:pathLst>
                  <a:path w="101600" h="101600">
                    <a:moveTo>
                      <a:pt x="0" y="57150"/>
                    </a:moveTo>
                    <a:cubicBezTo>
                      <a:pt x="23306" y="59920"/>
                      <a:pt x="41680" y="78294"/>
                      <a:pt x="44450" y="101600"/>
                    </a:cubicBezTo>
                    <a:cubicBezTo>
                      <a:pt x="55861" y="95021"/>
                      <a:pt x="63065" y="83015"/>
                      <a:pt x="63500" y="69850"/>
                    </a:cubicBezTo>
                    <a:cubicBezTo>
                      <a:pt x="85304" y="62180"/>
                      <a:pt x="100342" y="42130"/>
                      <a:pt x="101600" y="19050"/>
                    </a:cubicBezTo>
                    <a:cubicBezTo>
                      <a:pt x="101600" y="8529"/>
                      <a:pt x="93071" y="0"/>
                      <a:pt x="82550" y="0"/>
                    </a:cubicBezTo>
                    <a:cubicBezTo>
                      <a:pt x="59470" y="1258"/>
                      <a:pt x="39420" y="16296"/>
                      <a:pt x="31750" y="38100"/>
                    </a:cubicBezTo>
                    <a:cubicBezTo>
                      <a:pt x="18585" y="38535"/>
                      <a:pt x="6579" y="45739"/>
                      <a:pt x="0" y="57150"/>
                    </a:cubicBezTo>
                  </a:path>
                </a:pathLst>
              </a:custGeom>
              <a:noFill/>
              <a:ln w="12700">
                <a:solidFill>
                  <a:srgbClr val="C41D00"/>
                </a:solidFill>
              </a:ln>
            </p:spPr>
          </p:sp>
          <p:sp>
            <p:nvSpPr>
              <p:cNvPr id="241" name="Freeform 241"/>
              <p:cNvSpPr/>
              <p:nvPr/>
            </p:nvSpPr>
            <p:spPr>
              <a:xfrm>
                <a:off x="2747544" y="4318000"/>
                <a:ext cx="40106" cy="40106"/>
              </a:xfrm>
              <a:custGeom>
                <a:avLst/>
                <a:gdLst/>
                <a:ahLst/>
                <a:cxnLst/>
                <a:rect l="l" t="t" r="r" b="b"/>
                <a:pathLst>
                  <a:path w="40106" h="40106">
                    <a:moveTo>
                      <a:pt x="21056" y="0"/>
                    </a:moveTo>
                    <a:cubicBezTo>
                      <a:pt x="7536" y="7633"/>
                      <a:pt x="0" y="22705"/>
                      <a:pt x="2006" y="38100"/>
                    </a:cubicBezTo>
                    <a:cubicBezTo>
                      <a:pt x="17401" y="40106"/>
                      <a:pt x="32473" y="32570"/>
                      <a:pt x="40106" y="19050"/>
                    </a:cubicBezTo>
                  </a:path>
                </a:pathLst>
              </a:custGeom>
              <a:noFill/>
              <a:ln w="12700">
                <a:solidFill>
                  <a:srgbClr val="C41D00"/>
                </a:solidFill>
              </a:ln>
            </p:spPr>
          </p:sp>
          <p:sp>
            <p:nvSpPr>
              <p:cNvPr id="242" name="Freeform 242"/>
              <p:cNvSpPr/>
              <p:nvPr/>
            </p:nvSpPr>
            <p:spPr>
              <a:xfrm>
                <a:off x="2813050" y="42799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C41D00"/>
                </a:solidFill>
              </a:ln>
            </p:spPr>
          </p:sp>
        </p:grpSp>
        <p:sp>
          <p:nvSpPr>
            <p:cNvPr id="244" name="TextBox 244"/>
            <p:cNvSpPr txBox="1"/>
            <p:nvPr/>
          </p:nvSpPr>
          <p:spPr>
            <a:xfrm>
              <a:off x="2928938" y="4271962"/>
              <a:ext cx="1062991" cy="147638"/>
            </a:xfrm>
            <a:prstGeom prst="rect">
              <a:avLst/>
            </a:prstGeom>
            <a:noFill/>
            <a:ln>
              <a:noFill/>
            </a:ln>
          </p:spPr>
          <p:txBody>
            <a:bodyPr wrap="none" lIns="0" tIns="0" rIns="0" bIns="0" anchor="t" anchorCtr="0">
              <a:spAutoFit/>
            </a:bodyPr>
            <a:lstStyle/>
            <a:p>
              <a:pPr algn="l"/>
              <a:r>
                <a:rPr lang="zh-CN" sz="750" b="1" dirty="0">
                  <a:solidFill>
                    <a:srgbClr val="C41D00"/>
                  </a:solidFill>
                  <a:latin typeface="+mn-lt"/>
                  <a:ea typeface="+mn-ea"/>
                  <a:cs typeface="+mn-cs"/>
                </a:rPr>
                <a:t>活动（Activity）​​​​</a:t>
              </a:r>
            </a:p>
          </p:txBody>
        </p:sp>
        <p:sp>
          <p:nvSpPr>
            <p:cNvPr id="245" name="TextBox 245"/>
            <p:cNvSpPr txBox="1"/>
            <p:nvPr/>
          </p:nvSpPr>
          <p:spPr>
            <a:xfrm>
              <a:off x="2837650" y="4469130"/>
              <a:ext cx="744550"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​客户触达（万次）​</a:t>
              </a:r>
            </a:p>
          </p:txBody>
        </p:sp>
        <p:sp>
          <p:nvSpPr>
            <p:cNvPr id="246" name="TextBox 246"/>
            <p:cNvSpPr txBox="1"/>
            <p:nvPr/>
          </p:nvSpPr>
          <p:spPr>
            <a:xfrm>
              <a:off x="2855159" y="4624864"/>
              <a:ext cx="709532"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​1,286​</a:t>
              </a:r>
            </a:p>
          </p:txBody>
        </p:sp>
        <p:sp>
          <p:nvSpPr>
            <p:cNvPr id="247" name="TextBox 247"/>
            <p:cNvSpPr txBox="1"/>
            <p:nvPr/>
          </p:nvSpPr>
          <p:spPr>
            <a:xfrm>
              <a:off x="2926499" y="4850130"/>
              <a:ext cx="566852"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​同比 +15.6%​</a:t>
              </a:r>
            </a:p>
          </p:txBody>
        </p:sp>
        <p:sp>
          <p:nvSpPr>
            <p:cNvPr id="248" name="Rectangle 248"/>
            <p:cNvSpPr/>
            <p:nvPr/>
          </p:nvSpPr>
          <p:spPr>
            <a:xfrm>
              <a:off x="2905125" y="5619750"/>
              <a:ext cx="190500" cy="666750"/>
            </a:xfrm>
            <a:prstGeom prst="rect">
              <a:avLst/>
            </a:prstGeom>
            <a:solidFill>
              <a:srgbClr val="F57E6A"/>
            </a:solidFill>
            <a:ln>
              <a:noFill/>
            </a:ln>
          </p:spPr>
        </p:sp>
        <p:sp>
          <p:nvSpPr>
            <p:cNvPr id="249" name="Rectangle 249"/>
            <p:cNvSpPr/>
            <p:nvPr/>
          </p:nvSpPr>
          <p:spPr>
            <a:xfrm>
              <a:off x="3209925" y="5543550"/>
              <a:ext cx="190500" cy="742950"/>
            </a:xfrm>
            <a:prstGeom prst="rect">
              <a:avLst/>
            </a:prstGeom>
            <a:solidFill>
              <a:srgbClr val="EE492C"/>
            </a:solidFill>
            <a:ln>
              <a:noFill/>
            </a:ln>
          </p:spPr>
        </p:sp>
        <p:sp>
          <p:nvSpPr>
            <p:cNvPr id="250" name="Rectangle 250"/>
            <p:cNvSpPr/>
            <p:nvPr/>
          </p:nvSpPr>
          <p:spPr>
            <a:xfrm>
              <a:off x="3514725" y="5429250"/>
              <a:ext cx="190500" cy="857250"/>
            </a:xfrm>
            <a:prstGeom prst="rect">
              <a:avLst/>
            </a:prstGeom>
            <a:solidFill>
              <a:srgbClr val="C41D00"/>
            </a:solidFill>
            <a:ln>
              <a:noFill/>
            </a:ln>
          </p:spPr>
        </p:sp>
        <p:sp>
          <p:nvSpPr>
            <p:cNvPr id="251" name="TextBox 251"/>
            <p:cNvSpPr txBox="1"/>
            <p:nvPr/>
          </p:nvSpPr>
          <p:spPr>
            <a:xfrm>
              <a:off x="2860858" y="5524976"/>
              <a:ext cx="279034"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​1,005​</a:t>
              </a:r>
            </a:p>
          </p:txBody>
        </p:sp>
        <p:sp>
          <p:nvSpPr>
            <p:cNvPr id="252" name="TextBox 252"/>
            <p:cNvSpPr txBox="1"/>
            <p:nvPr/>
          </p:nvSpPr>
          <p:spPr>
            <a:xfrm>
              <a:off x="3165658" y="5448776"/>
              <a:ext cx="279034"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​1,113​</a:t>
              </a:r>
            </a:p>
          </p:txBody>
        </p:sp>
        <p:sp>
          <p:nvSpPr>
            <p:cNvPr id="253" name="TextBox 253"/>
            <p:cNvSpPr txBox="1"/>
            <p:nvPr/>
          </p:nvSpPr>
          <p:spPr>
            <a:xfrm>
              <a:off x="3470458" y="5334476"/>
              <a:ext cx="279034"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​1,286​</a:t>
              </a:r>
            </a:p>
          </p:txBody>
        </p:sp>
        <p:sp>
          <p:nvSpPr>
            <p:cNvPr id="254" name="TextBox 254"/>
            <p:cNvSpPr txBox="1"/>
            <p:nvPr/>
          </p:nvSpPr>
          <p:spPr>
            <a:xfrm>
              <a:off x="285323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​2023A​</a:t>
              </a:r>
            </a:p>
          </p:txBody>
        </p:sp>
        <p:sp>
          <p:nvSpPr>
            <p:cNvPr id="255" name="TextBox 255"/>
            <p:cNvSpPr txBox="1"/>
            <p:nvPr/>
          </p:nvSpPr>
          <p:spPr>
            <a:xfrm>
              <a:off x="315803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​2024A​</a:t>
              </a:r>
            </a:p>
          </p:txBody>
        </p:sp>
        <p:sp>
          <p:nvSpPr>
            <p:cNvPr id="256" name="TextBox 256"/>
            <p:cNvSpPr txBox="1"/>
            <p:nvPr/>
          </p:nvSpPr>
          <p:spPr>
            <a:xfrm>
              <a:off x="3435093" y="6363176"/>
              <a:ext cx="349763"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​2025Q1​</a:t>
              </a:r>
            </a:p>
          </p:txBody>
        </p:sp>
        <p:sp>
          <p:nvSpPr>
            <p:cNvPr id="257" name="TextBox 257"/>
            <p:cNvSpPr txBox="1"/>
            <p:nvPr/>
          </p:nvSpPr>
          <p:spPr>
            <a:xfrm>
              <a:off x="3961600" y="4469130"/>
              <a:ext cx="744550"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​有效活动（万次）​</a:t>
              </a:r>
            </a:p>
          </p:txBody>
        </p:sp>
        <p:sp>
          <p:nvSpPr>
            <p:cNvPr id="258" name="TextBox 258"/>
            <p:cNvSpPr txBox="1"/>
            <p:nvPr/>
          </p:nvSpPr>
          <p:spPr>
            <a:xfrm>
              <a:off x="3979109" y="4624864"/>
              <a:ext cx="709532"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​3,842​</a:t>
              </a:r>
            </a:p>
          </p:txBody>
        </p:sp>
        <p:sp>
          <p:nvSpPr>
            <p:cNvPr id="259" name="TextBox 259"/>
            <p:cNvSpPr txBox="1"/>
            <p:nvPr/>
          </p:nvSpPr>
          <p:spPr>
            <a:xfrm>
              <a:off x="4050449" y="4850130"/>
              <a:ext cx="566852"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​同比 +18.3%​</a:t>
              </a:r>
            </a:p>
          </p:txBody>
        </p:sp>
        <p:sp>
          <p:nvSpPr>
            <p:cNvPr id="260" name="Rectangle 260"/>
            <p:cNvSpPr/>
            <p:nvPr/>
          </p:nvSpPr>
          <p:spPr>
            <a:xfrm>
              <a:off x="4029075" y="5667375"/>
              <a:ext cx="190500" cy="619125"/>
            </a:xfrm>
            <a:prstGeom prst="rect">
              <a:avLst/>
            </a:prstGeom>
            <a:solidFill>
              <a:srgbClr val="F57E6A"/>
            </a:solidFill>
            <a:ln>
              <a:noFill/>
            </a:ln>
          </p:spPr>
        </p:sp>
        <p:sp>
          <p:nvSpPr>
            <p:cNvPr id="261" name="Rectangle 261"/>
            <p:cNvSpPr/>
            <p:nvPr/>
          </p:nvSpPr>
          <p:spPr>
            <a:xfrm>
              <a:off x="4333875" y="5562600"/>
              <a:ext cx="190500" cy="723900"/>
            </a:xfrm>
            <a:prstGeom prst="rect">
              <a:avLst/>
            </a:prstGeom>
            <a:solidFill>
              <a:srgbClr val="EE492C"/>
            </a:solidFill>
            <a:ln>
              <a:noFill/>
            </a:ln>
          </p:spPr>
        </p:sp>
        <p:sp>
          <p:nvSpPr>
            <p:cNvPr id="262" name="Rectangle 262"/>
            <p:cNvSpPr/>
            <p:nvPr/>
          </p:nvSpPr>
          <p:spPr>
            <a:xfrm>
              <a:off x="4638675" y="5429250"/>
              <a:ext cx="190500" cy="857250"/>
            </a:xfrm>
            <a:prstGeom prst="rect">
              <a:avLst/>
            </a:prstGeom>
            <a:solidFill>
              <a:srgbClr val="C41D00"/>
            </a:solidFill>
            <a:ln>
              <a:noFill/>
            </a:ln>
          </p:spPr>
        </p:sp>
        <p:sp>
          <p:nvSpPr>
            <p:cNvPr id="263" name="TextBox 263"/>
            <p:cNvSpPr txBox="1"/>
            <p:nvPr/>
          </p:nvSpPr>
          <p:spPr>
            <a:xfrm>
              <a:off x="3984808" y="5572601"/>
              <a:ext cx="279034"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​2,754​</a:t>
              </a:r>
            </a:p>
          </p:txBody>
        </p:sp>
        <p:sp>
          <p:nvSpPr>
            <p:cNvPr id="264" name="TextBox 264"/>
            <p:cNvSpPr txBox="1"/>
            <p:nvPr/>
          </p:nvSpPr>
          <p:spPr>
            <a:xfrm>
              <a:off x="4289608" y="5467826"/>
              <a:ext cx="279034"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​3,250​</a:t>
              </a:r>
            </a:p>
          </p:txBody>
        </p:sp>
        <p:sp>
          <p:nvSpPr>
            <p:cNvPr id="265" name="TextBox 265"/>
            <p:cNvSpPr txBox="1"/>
            <p:nvPr/>
          </p:nvSpPr>
          <p:spPr>
            <a:xfrm>
              <a:off x="4594408" y="5334476"/>
              <a:ext cx="279034"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​3,842​</a:t>
              </a:r>
            </a:p>
          </p:txBody>
        </p:sp>
        <p:sp>
          <p:nvSpPr>
            <p:cNvPr id="266" name="TextBox 266"/>
            <p:cNvSpPr txBox="1"/>
            <p:nvPr/>
          </p:nvSpPr>
          <p:spPr>
            <a:xfrm>
              <a:off x="397718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​2023A​</a:t>
              </a:r>
            </a:p>
          </p:txBody>
        </p:sp>
        <p:sp>
          <p:nvSpPr>
            <p:cNvPr id="267" name="TextBox 267"/>
            <p:cNvSpPr txBox="1"/>
            <p:nvPr/>
          </p:nvSpPr>
          <p:spPr>
            <a:xfrm>
              <a:off x="428198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​2024A​</a:t>
              </a:r>
            </a:p>
          </p:txBody>
        </p:sp>
        <p:sp>
          <p:nvSpPr>
            <p:cNvPr id="268" name="TextBox 268"/>
            <p:cNvSpPr txBox="1"/>
            <p:nvPr/>
          </p:nvSpPr>
          <p:spPr>
            <a:xfrm>
              <a:off x="4559043" y="6363176"/>
              <a:ext cx="349763"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​2025Q1​</a:t>
              </a:r>
            </a:p>
          </p:txBody>
        </p:sp>
        <p:sp>
          <p:nvSpPr>
            <p:cNvPr id="269" name="Rectangle 269"/>
            <p:cNvSpPr/>
            <p:nvPr/>
          </p:nvSpPr>
          <p:spPr>
            <a:xfrm>
              <a:off x="4953000" y="4171950"/>
              <a:ext cx="2247900" cy="2476500"/>
            </a:xfrm>
            <a:prstGeom prst="roundRect">
              <a:avLst>
                <a:gd name="adj" fmla="val 1695"/>
              </a:avLst>
            </a:prstGeom>
            <a:solidFill>
              <a:srgbClr val="FFFFFF"/>
            </a:solidFill>
            <a:ln w="9525">
              <a:solidFill>
                <a:srgbClr val="F0B8AE"/>
              </a:solidFill>
            </a:ln>
          </p:spPr>
        </p:sp>
        <p:grpSp>
          <p:nvGrpSpPr>
            <p:cNvPr id="274" name="Group 274"/>
            <p:cNvGrpSpPr/>
            <p:nvPr/>
          </p:nvGrpSpPr>
          <p:grpSpPr>
            <a:xfrm>
              <a:off x="5048250" y="4248150"/>
              <a:ext cx="114300" cy="114301"/>
              <a:chOff x="5048250" y="4248150"/>
              <a:chExt cx="114300" cy="114301"/>
            </a:xfrm>
          </p:grpSpPr>
          <p:sp>
            <p:nvSpPr>
              <p:cNvPr id="270" name="Freeform 270"/>
              <p:cNvSpPr/>
              <p:nvPr/>
            </p:nvSpPr>
            <p:spPr>
              <a:xfrm>
                <a:off x="5060950" y="42481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41D00"/>
                </a:solidFill>
              </a:ln>
            </p:spPr>
          </p:sp>
          <p:sp>
            <p:nvSpPr>
              <p:cNvPr id="271" name="Freeform 271"/>
              <p:cNvSpPr/>
              <p:nvPr/>
            </p:nvSpPr>
            <p:spPr>
              <a:xfrm>
                <a:off x="5048250" y="43243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C41D00"/>
                </a:solidFill>
              </a:ln>
            </p:spPr>
          </p:sp>
          <p:sp>
            <p:nvSpPr>
              <p:cNvPr id="272" name="Freeform 272"/>
              <p:cNvSpPr/>
              <p:nvPr/>
            </p:nvSpPr>
            <p:spPr>
              <a:xfrm>
                <a:off x="5130800" y="42489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C41D00"/>
                </a:solidFill>
              </a:ln>
            </p:spPr>
          </p:sp>
          <p:sp>
            <p:nvSpPr>
              <p:cNvPr id="273" name="Freeform 273"/>
              <p:cNvSpPr/>
              <p:nvPr/>
            </p:nvSpPr>
            <p:spPr>
              <a:xfrm>
                <a:off x="5143500" y="43253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C41D00"/>
                </a:solidFill>
              </a:ln>
            </p:spPr>
          </p:sp>
        </p:grpSp>
        <p:sp>
          <p:nvSpPr>
            <p:cNvPr id="275" name="TextBox 275"/>
            <p:cNvSpPr txBox="1"/>
            <p:nvPr/>
          </p:nvSpPr>
          <p:spPr>
            <a:xfrm>
              <a:off x="5233988" y="4271962"/>
              <a:ext cx="1206334" cy="147638"/>
            </a:xfrm>
            <a:prstGeom prst="rect">
              <a:avLst/>
            </a:prstGeom>
            <a:noFill/>
            <a:ln>
              <a:noFill/>
            </a:ln>
          </p:spPr>
          <p:txBody>
            <a:bodyPr wrap="none" lIns="0" tIns="0" rIns="0" bIns="0" anchor="t" anchorCtr="0">
              <a:spAutoFit/>
            </a:bodyPr>
            <a:lstStyle/>
            <a:p>
              <a:pPr algn="l"/>
              <a:r>
                <a:rPr lang="zh-CN" sz="750" b="1" dirty="0">
                  <a:solidFill>
                    <a:srgbClr val="C41D00"/>
                  </a:solidFill>
                  <a:latin typeface="+mn-lt"/>
                  <a:ea typeface="+mn-ea"/>
                  <a:cs typeface="+mn-cs"/>
                </a:rPr>
                <a:t>体验（Experience）​​​​</a:t>
              </a:r>
            </a:p>
          </p:txBody>
        </p:sp>
        <p:sp>
          <p:nvSpPr>
            <p:cNvPr id="276" name="TextBox 276"/>
            <p:cNvSpPr txBox="1"/>
            <p:nvPr/>
          </p:nvSpPr>
          <p:spPr>
            <a:xfrm>
              <a:off x="5227282" y="4469130"/>
              <a:ext cx="575386"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​​NPS（分）​​</a:t>
              </a:r>
            </a:p>
          </p:txBody>
        </p:sp>
        <p:sp>
          <p:nvSpPr>
            <p:cNvPr id="277" name="TextBox 277"/>
            <p:cNvSpPr txBox="1"/>
            <p:nvPr/>
          </p:nvSpPr>
          <p:spPr>
            <a:xfrm>
              <a:off x="5309476" y="4624864"/>
              <a:ext cx="410998"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​62​</a:t>
              </a:r>
            </a:p>
          </p:txBody>
        </p:sp>
        <p:sp>
          <p:nvSpPr>
            <p:cNvPr id="278" name="TextBox 278"/>
            <p:cNvSpPr txBox="1"/>
            <p:nvPr/>
          </p:nvSpPr>
          <p:spPr>
            <a:xfrm>
              <a:off x="5328476" y="4850130"/>
              <a:ext cx="372999"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​同比 +6​</a:t>
              </a:r>
            </a:p>
          </p:txBody>
        </p:sp>
        <p:sp>
          <p:nvSpPr>
            <p:cNvPr id="279" name="Rectangle 279"/>
            <p:cNvSpPr/>
            <p:nvPr/>
          </p:nvSpPr>
          <p:spPr>
            <a:xfrm>
              <a:off x="5210175" y="5572125"/>
              <a:ext cx="190500" cy="714375"/>
            </a:xfrm>
            <a:prstGeom prst="rect">
              <a:avLst/>
            </a:prstGeom>
            <a:solidFill>
              <a:srgbClr val="F57E6A"/>
            </a:solidFill>
            <a:ln>
              <a:noFill/>
            </a:ln>
          </p:spPr>
        </p:sp>
        <p:sp>
          <p:nvSpPr>
            <p:cNvPr id="280" name="Rectangle 280"/>
            <p:cNvSpPr/>
            <p:nvPr/>
          </p:nvSpPr>
          <p:spPr>
            <a:xfrm>
              <a:off x="5514975" y="5514975"/>
              <a:ext cx="190500" cy="771525"/>
            </a:xfrm>
            <a:prstGeom prst="rect">
              <a:avLst/>
            </a:prstGeom>
            <a:solidFill>
              <a:srgbClr val="EE492C"/>
            </a:solidFill>
            <a:ln>
              <a:noFill/>
            </a:ln>
          </p:spPr>
        </p:sp>
        <p:sp>
          <p:nvSpPr>
            <p:cNvPr id="281" name="Rectangle 281"/>
            <p:cNvSpPr/>
            <p:nvPr/>
          </p:nvSpPr>
          <p:spPr>
            <a:xfrm>
              <a:off x="5819775" y="5429250"/>
              <a:ext cx="190500" cy="857250"/>
            </a:xfrm>
            <a:prstGeom prst="rect">
              <a:avLst/>
            </a:prstGeom>
            <a:solidFill>
              <a:srgbClr val="C41D00"/>
            </a:solidFill>
            <a:ln>
              <a:noFill/>
            </a:ln>
          </p:spPr>
        </p:sp>
        <p:sp>
          <p:nvSpPr>
            <p:cNvPr id="282" name="TextBox 282"/>
            <p:cNvSpPr txBox="1"/>
            <p:nvPr/>
          </p:nvSpPr>
          <p:spPr>
            <a:xfrm>
              <a:off x="5223660" y="5477351"/>
              <a:ext cx="163530"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​52​</a:t>
              </a:r>
            </a:p>
          </p:txBody>
        </p:sp>
        <p:sp>
          <p:nvSpPr>
            <p:cNvPr id="283" name="TextBox 283"/>
            <p:cNvSpPr txBox="1"/>
            <p:nvPr/>
          </p:nvSpPr>
          <p:spPr>
            <a:xfrm>
              <a:off x="5528460" y="5420201"/>
              <a:ext cx="163530"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​56​</a:t>
              </a:r>
            </a:p>
          </p:txBody>
        </p:sp>
        <p:sp>
          <p:nvSpPr>
            <p:cNvPr id="284" name="TextBox 284"/>
            <p:cNvSpPr txBox="1"/>
            <p:nvPr/>
          </p:nvSpPr>
          <p:spPr>
            <a:xfrm>
              <a:off x="5833260" y="5334476"/>
              <a:ext cx="163530"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​62​</a:t>
              </a:r>
            </a:p>
          </p:txBody>
        </p:sp>
        <p:sp>
          <p:nvSpPr>
            <p:cNvPr id="285" name="TextBox 285"/>
            <p:cNvSpPr txBox="1"/>
            <p:nvPr/>
          </p:nvSpPr>
          <p:spPr>
            <a:xfrm>
              <a:off x="515828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​2023A​</a:t>
              </a:r>
            </a:p>
          </p:txBody>
        </p:sp>
        <p:sp>
          <p:nvSpPr>
            <p:cNvPr id="286" name="TextBox 286"/>
            <p:cNvSpPr txBox="1"/>
            <p:nvPr/>
          </p:nvSpPr>
          <p:spPr>
            <a:xfrm>
              <a:off x="546308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​2024A​</a:t>
              </a:r>
            </a:p>
          </p:txBody>
        </p:sp>
        <p:sp>
          <p:nvSpPr>
            <p:cNvPr id="287" name="TextBox 287"/>
            <p:cNvSpPr txBox="1"/>
            <p:nvPr/>
          </p:nvSpPr>
          <p:spPr>
            <a:xfrm>
              <a:off x="5740143" y="6363176"/>
              <a:ext cx="349763"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​2025Q1​</a:t>
              </a:r>
            </a:p>
          </p:txBody>
        </p:sp>
        <p:sp>
          <p:nvSpPr>
            <p:cNvPr id="288" name="TextBox 288"/>
            <p:cNvSpPr txBox="1"/>
            <p:nvPr/>
          </p:nvSpPr>
          <p:spPr>
            <a:xfrm>
              <a:off x="6276746" y="4469130"/>
              <a:ext cx="724357"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​客户满意度（%）​</a:t>
              </a:r>
            </a:p>
          </p:txBody>
        </p:sp>
        <p:sp>
          <p:nvSpPr>
            <p:cNvPr id="289" name="TextBox 289"/>
            <p:cNvSpPr txBox="1"/>
            <p:nvPr/>
          </p:nvSpPr>
          <p:spPr>
            <a:xfrm>
              <a:off x="6333915" y="4624864"/>
              <a:ext cx="610021"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​92.1​</a:t>
              </a:r>
            </a:p>
          </p:txBody>
        </p:sp>
        <p:sp>
          <p:nvSpPr>
            <p:cNvPr id="290" name="TextBox 290"/>
            <p:cNvSpPr txBox="1"/>
            <p:nvPr/>
          </p:nvSpPr>
          <p:spPr>
            <a:xfrm>
              <a:off x="6363576" y="4850130"/>
              <a:ext cx="550697"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​同比 +3.8pp​</a:t>
              </a:r>
            </a:p>
          </p:txBody>
        </p:sp>
        <p:sp>
          <p:nvSpPr>
            <p:cNvPr id="291" name="Rectangle 291"/>
            <p:cNvSpPr/>
            <p:nvPr/>
          </p:nvSpPr>
          <p:spPr>
            <a:xfrm>
              <a:off x="6334125" y="5486400"/>
              <a:ext cx="190500" cy="800100"/>
            </a:xfrm>
            <a:prstGeom prst="rect">
              <a:avLst/>
            </a:prstGeom>
            <a:solidFill>
              <a:srgbClr val="F57E6A"/>
            </a:solidFill>
            <a:ln>
              <a:noFill/>
            </a:ln>
          </p:spPr>
        </p:sp>
        <p:sp>
          <p:nvSpPr>
            <p:cNvPr id="292" name="Rectangle 292"/>
            <p:cNvSpPr/>
            <p:nvPr/>
          </p:nvSpPr>
          <p:spPr>
            <a:xfrm>
              <a:off x="6638925" y="5467350"/>
              <a:ext cx="190500" cy="819150"/>
            </a:xfrm>
            <a:prstGeom prst="rect">
              <a:avLst/>
            </a:prstGeom>
            <a:solidFill>
              <a:srgbClr val="EE492C"/>
            </a:solidFill>
            <a:ln>
              <a:noFill/>
            </a:ln>
          </p:spPr>
        </p:sp>
        <p:sp>
          <p:nvSpPr>
            <p:cNvPr id="293" name="Rectangle 293"/>
            <p:cNvSpPr/>
            <p:nvPr/>
          </p:nvSpPr>
          <p:spPr>
            <a:xfrm>
              <a:off x="6943725" y="5429250"/>
              <a:ext cx="190500" cy="857250"/>
            </a:xfrm>
            <a:prstGeom prst="rect">
              <a:avLst/>
            </a:prstGeom>
            <a:solidFill>
              <a:srgbClr val="C41D00"/>
            </a:solidFill>
            <a:ln>
              <a:noFill/>
            </a:ln>
          </p:spPr>
        </p:sp>
        <p:sp>
          <p:nvSpPr>
            <p:cNvPr id="294" name="TextBox 294"/>
            <p:cNvSpPr txBox="1"/>
            <p:nvPr/>
          </p:nvSpPr>
          <p:spPr>
            <a:xfrm>
              <a:off x="6309109" y="5391626"/>
              <a:ext cx="240533"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​86.3​</a:t>
              </a:r>
            </a:p>
          </p:txBody>
        </p:sp>
        <p:sp>
          <p:nvSpPr>
            <p:cNvPr id="295" name="TextBox 295"/>
            <p:cNvSpPr txBox="1"/>
            <p:nvPr/>
          </p:nvSpPr>
          <p:spPr>
            <a:xfrm>
              <a:off x="6613909" y="5372576"/>
              <a:ext cx="240533"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​88.3​</a:t>
              </a:r>
            </a:p>
          </p:txBody>
        </p:sp>
        <p:sp>
          <p:nvSpPr>
            <p:cNvPr id="296" name="TextBox 296"/>
            <p:cNvSpPr txBox="1"/>
            <p:nvPr/>
          </p:nvSpPr>
          <p:spPr>
            <a:xfrm>
              <a:off x="6918709" y="5334476"/>
              <a:ext cx="240533"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​92.1​</a:t>
              </a:r>
            </a:p>
          </p:txBody>
        </p:sp>
        <p:sp>
          <p:nvSpPr>
            <p:cNvPr id="297" name="TextBox 297"/>
            <p:cNvSpPr txBox="1"/>
            <p:nvPr/>
          </p:nvSpPr>
          <p:spPr>
            <a:xfrm>
              <a:off x="628223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​2023A​</a:t>
              </a:r>
            </a:p>
          </p:txBody>
        </p:sp>
        <p:sp>
          <p:nvSpPr>
            <p:cNvPr id="298" name="TextBox 298"/>
            <p:cNvSpPr txBox="1"/>
            <p:nvPr/>
          </p:nvSpPr>
          <p:spPr>
            <a:xfrm>
              <a:off x="658703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​2024A​</a:t>
              </a:r>
            </a:p>
          </p:txBody>
        </p:sp>
        <p:sp>
          <p:nvSpPr>
            <p:cNvPr id="299" name="TextBox 299"/>
            <p:cNvSpPr txBox="1"/>
            <p:nvPr/>
          </p:nvSpPr>
          <p:spPr>
            <a:xfrm>
              <a:off x="6864093" y="6363176"/>
              <a:ext cx="349763"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​2025Q1​</a:t>
              </a:r>
            </a:p>
          </p:txBody>
        </p:sp>
        <p:sp>
          <p:nvSpPr>
            <p:cNvPr id="300" name="Rectangle 300"/>
            <p:cNvSpPr/>
            <p:nvPr/>
          </p:nvSpPr>
          <p:spPr>
            <a:xfrm>
              <a:off x="7258050" y="4171950"/>
              <a:ext cx="2247900" cy="2476500"/>
            </a:xfrm>
            <a:prstGeom prst="roundRect">
              <a:avLst>
                <a:gd name="adj" fmla="val 1695"/>
              </a:avLst>
            </a:prstGeom>
            <a:solidFill>
              <a:srgbClr val="FFFFFF"/>
            </a:solidFill>
            <a:ln w="9525">
              <a:solidFill>
                <a:srgbClr val="F0B8AE"/>
              </a:solidFill>
            </a:ln>
          </p:spPr>
        </p:sp>
        <p:grpSp>
          <p:nvGrpSpPr>
            <p:cNvPr id="303" name="Group 303"/>
            <p:cNvGrpSpPr/>
            <p:nvPr/>
          </p:nvGrpSpPr>
          <p:grpSpPr>
            <a:xfrm>
              <a:off x="7344730" y="4248150"/>
              <a:ext cx="124004" cy="114300"/>
              <a:chOff x="7344730" y="4248150"/>
              <a:chExt cx="124004" cy="114300"/>
            </a:xfrm>
          </p:grpSpPr>
          <p:sp>
            <p:nvSpPr>
              <p:cNvPr id="301" name="Freeform 301"/>
              <p:cNvSpPr/>
              <p:nvPr/>
            </p:nvSpPr>
            <p:spPr>
              <a:xfrm>
                <a:off x="7344730" y="42481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C41D00"/>
                </a:solidFill>
              </a:ln>
            </p:spPr>
          </p:sp>
          <p:sp>
            <p:nvSpPr>
              <p:cNvPr id="302" name="Freeform 302"/>
              <p:cNvSpPr/>
              <p:nvPr/>
            </p:nvSpPr>
            <p:spPr>
              <a:xfrm>
                <a:off x="7429500" y="4337050"/>
                <a:ext cx="38100" cy="25400"/>
              </a:xfrm>
              <a:custGeom>
                <a:avLst/>
                <a:gdLst/>
                <a:ahLst/>
                <a:cxnLst/>
                <a:rect l="l" t="t" r="r" b="b"/>
                <a:pathLst>
                  <a:path w="38100" h="25400">
                    <a:moveTo>
                      <a:pt x="0" y="12700"/>
                    </a:moveTo>
                    <a:lnTo>
                      <a:pt x="12700" y="25400"/>
                    </a:lnTo>
                    <a:lnTo>
                      <a:pt x="38100" y="0"/>
                    </a:lnTo>
                  </a:path>
                </a:pathLst>
              </a:custGeom>
              <a:noFill/>
              <a:ln w="12700">
                <a:solidFill>
                  <a:srgbClr val="C41D00"/>
                </a:solidFill>
              </a:ln>
            </p:spPr>
          </p:sp>
        </p:grpSp>
        <p:sp>
          <p:nvSpPr>
            <p:cNvPr id="304" name="TextBox 304"/>
            <p:cNvSpPr txBox="1"/>
            <p:nvPr/>
          </p:nvSpPr>
          <p:spPr>
            <a:xfrm>
              <a:off x="7539038" y="4271962"/>
              <a:ext cx="797958" cy="147638"/>
            </a:xfrm>
            <a:prstGeom prst="rect">
              <a:avLst/>
            </a:prstGeom>
            <a:noFill/>
            <a:ln>
              <a:noFill/>
            </a:ln>
          </p:spPr>
          <p:txBody>
            <a:bodyPr wrap="none" lIns="0" tIns="0" rIns="0" bIns="0" anchor="t" anchorCtr="0">
              <a:spAutoFit/>
            </a:bodyPr>
            <a:lstStyle/>
            <a:p>
              <a:pPr algn="l"/>
              <a:r>
                <a:rPr lang="zh-CN" sz="750" b="1" dirty="0">
                  <a:solidFill>
                    <a:srgbClr val="C41D00"/>
                  </a:solidFill>
                  <a:latin typeface="+mn-lt"/>
                  <a:ea typeface="+mn-ea"/>
                  <a:cs typeface="+mn-cs"/>
                </a:rPr>
                <a:t>风险（Risk）​​​</a:t>
              </a:r>
            </a:p>
          </p:txBody>
        </p:sp>
        <p:sp>
          <p:nvSpPr>
            <p:cNvPr id="305" name="TextBox 305"/>
            <p:cNvSpPr txBox="1"/>
            <p:nvPr/>
          </p:nvSpPr>
          <p:spPr>
            <a:xfrm>
              <a:off x="7538618" y="4469130"/>
              <a:ext cx="562813"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​不良率（%）​</a:t>
              </a:r>
            </a:p>
          </p:txBody>
        </p:sp>
        <p:sp>
          <p:nvSpPr>
            <p:cNvPr id="306" name="TextBox 306"/>
            <p:cNvSpPr txBox="1"/>
            <p:nvPr/>
          </p:nvSpPr>
          <p:spPr>
            <a:xfrm>
              <a:off x="7515015" y="4624864"/>
              <a:ext cx="610021"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​0.78​</a:t>
              </a:r>
            </a:p>
          </p:txBody>
        </p:sp>
        <p:sp>
          <p:nvSpPr>
            <p:cNvPr id="307" name="TextBox 307"/>
            <p:cNvSpPr txBox="1"/>
            <p:nvPr/>
          </p:nvSpPr>
          <p:spPr>
            <a:xfrm>
              <a:off x="7522464" y="4850130"/>
              <a:ext cx="595122"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​同比 -0.08pp​</a:t>
              </a:r>
            </a:p>
          </p:txBody>
        </p:sp>
        <p:sp>
          <p:nvSpPr>
            <p:cNvPr id="308" name="Rectangle 308"/>
            <p:cNvSpPr/>
            <p:nvPr/>
          </p:nvSpPr>
          <p:spPr>
            <a:xfrm>
              <a:off x="7515225" y="5429250"/>
              <a:ext cx="190500" cy="857250"/>
            </a:xfrm>
            <a:prstGeom prst="rect">
              <a:avLst/>
            </a:prstGeom>
            <a:solidFill>
              <a:srgbClr val="F57E6A"/>
            </a:solidFill>
            <a:ln>
              <a:noFill/>
            </a:ln>
          </p:spPr>
        </p:sp>
        <p:sp>
          <p:nvSpPr>
            <p:cNvPr id="309" name="Rectangle 309"/>
            <p:cNvSpPr/>
            <p:nvPr/>
          </p:nvSpPr>
          <p:spPr>
            <a:xfrm>
              <a:off x="7820025" y="5448300"/>
              <a:ext cx="190500" cy="838200"/>
            </a:xfrm>
            <a:prstGeom prst="rect">
              <a:avLst/>
            </a:prstGeom>
            <a:solidFill>
              <a:srgbClr val="EE492C"/>
            </a:solidFill>
            <a:ln>
              <a:noFill/>
            </a:ln>
          </p:spPr>
        </p:sp>
        <p:sp>
          <p:nvSpPr>
            <p:cNvPr id="310" name="Rectangle 310"/>
            <p:cNvSpPr/>
            <p:nvPr/>
          </p:nvSpPr>
          <p:spPr>
            <a:xfrm>
              <a:off x="8124825" y="5524500"/>
              <a:ext cx="190500" cy="762000"/>
            </a:xfrm>
            <a:prstGeom prst="rect">
              <a:avLst/>
            </a:prstGeom>
            <a:solidFill>
              <a:srgbClr val="C41D00"/>
            </a:solidFill>
            <a:ln>
              <a:noFill/>
            </a:ln>
          </p:spPr>
        </p:sp>
        <p:sp>
          <p:nvSpPr>
            <p:cNvPr id="311" name="TextBox 311"/>
            <p:cNvSpPr txBox="1"/>
            <p:nvPr/>
          </p:nvSpPr>
          <p:spPr>
            <a:xfrm>
              <a:off x="7490209" y="5334476"/>
              <a:ext cx="240533"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​0.88​</a:t>
              </a:r>
            </a:p>
          </p:txBody>
        </p:sp>
        <p:sp>
          <p:nvSpPr>
            <p:cNvPr id="312" name="TextBox 312"/>
            <p:cNvSpPr txBox="1"/>
            <p:nvPr/>
          </p:nvSpPr>
          <p:spPr>
            <a:xfrm>
              <a:off x="7795009" y="5353526"/>
              <a:ext cx="240533"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​0.86​</a:t>
              </a:r>
            </a:p>
          </p:txBody>
        </p:sp>
        <p:sp>
          <p:nvSpPr>
            <p:cNvPr id="313" name="TextBox 313"/>
            <p:cNvSpPr txBox="1"/>
            <p:nvPr/>
          </p:nvSpPr>
          <p:spPr>
            <a:xfrm>
              <a:off x="8099809" y="5429726"/>
              <a:ext cx="240533"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​0.78​</a:t>
              </a:r>
            </a:p>
          </p:txBody>
        </p:sp>
        <p:sp>
          <p:nvSpPr>
            <p:cNvPr id="314" name="TextBox 314"/>
            <p:cNvSpPr txBox="1"/>
            <p:nvPr/>
          </p:nvSpPr>
          <p:spPr>
            <a:xfrm>
              <a:off x="746333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​2023A​</a:t>
              </a:r>
            </a:p>
          </p:txBody>
        </p:sp>
        <p:sp>
          <p:nvSpPr>
            <p:cNvPr id="315" name="TextBox 315"/>
            <p:cNvSpPr txBox="1"/>
            <p:nvPr/>
          </p:nvSpPr>
          <p:spPr>
            <a:xfrm>
              <a:off x="776813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​2024A​</a:t>
              </a:r>
            </a:p>
          </p:txBody>
        </p:sp>
        <p:sp>
          <p:nvSpPr>
            <p:cNvPr id="316" name="TextBox 316"/>
            <p:cNvSpPr txBox="1"/>
            <p:nvPr/>
          </p:nvSpPr>
          <p:spPr>
            <a:xfrm>
              <a:off x="8045193" y="6363176"/>
              <a:ext cx="349763"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​2025Q1​</a:t>
              </a:r>
            </a:p>
          </p:txBody>
        </p:sp>
        <p:sp>
          <p:nvSpPr>
            <p:cNvPr id="317" name="TextBox 317"/>
            <p:cNvSpPr txBox="1"/>
            <p:nvPr/>
          </p:nvSpPr>
          <p:spPr>
            <a:xfrm>
              <a:off x="8531314" y="4469130"/>
              <a:ext cx="825322"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​操作风险事件（件）​</a:t>
              </a:r>
            </a:p>
          </p:txBody>
        </p:sp>
        <p:sp>
          <p:nvSpPr>
            <p:cNvPr id="318" name="TextBox 318"/>
            <p:cNvSpPr txBox="1"/>
            <p:nvPr/>
          </p:nvSpPr>
          <p:spPr>
            <a:xfrm>
              <a:off x="8738476" y="4624864"/>
              <a:ext cx="410998" cy="249364"/>
            </a:xfrm>
            <a:prstGeom prst="rect">
              <a:avLst/>
            </a:prstGeom>
            <a:noFill/>
            <a:ln>
              <a:noFill/>
            </a:ln>
          </p:spPr>
          <p:txBody>
            <a:bodyPr wrap="none" lIns="0" tIns="0" rIns="0" bIns="0" anchor="t" anchorCtr="0">
              <a:spAutoFit/>
            </a:bodyPr>
            <a:lstStyle/>
            <a:p>
              <a:pPr algn="ctr"/>
              <a:r>
                <a:rPr lang="zh-CN" sz="1280" b="1" dirty="0">
                  <a:solidFill>
                    <a:srgbClr val="C41D00"/>
                  </a:solidFill>
                  <a:latin typeface="+mn-lt"/>
                  <a:ea typeface="+mn-ea"/>
                  <a:cs typeface="+mn-cs"/>
                </a:rPr>
                <a:t>​23​</a:t>
              </a:r>
            </a:p>
          </p:txBody>
        </p:sp>
        <p:sp>
          <p:nvSpPr>
            <p:cNvPr id="319" name="TextBox 319"/>
            <p:cNvSpPr txBox="1"/>
            <p:nvPr/>
          </p:nvSpPr>
          <p:spPr>
            <a:xfrm>
              <a:off x="8660549" y="4850130"/>
              <a:ext cx="566852" cy="119062"/>
            </a:xfrm>
            <a:prstGeom prst="rect">
              <a:avLst/>
            </a:prstGeom>
            <a:noFill/>
            <a:ln>
              <a:noFill/>
            </a:ln>
          </p:spPr>
          <p:txBody>
            <a:bodyPr wrap="none" lIns="0" tIns="0" rIns="0" bIns="0" anchor="t" anchorCtr="0">
              <a:spAutoFit/>
            </a:bodyPr>
            <a:lstStyle/>
            <a:p>
              <a:pPr algn="ctr"/>
              <a:r>
                <a:rPr lang="zh-CN" sz="600" dirty="0">
                  <a:solidFill>
                    <a:srgbClr val="7A716B"/>
                  </a:solidFill>
                  <a:latin typeface="+mn-lt"/>
                  <a:ea typeface="+mn-ea"/>
                  <a:cs typeface="+mn-cs"/>
                </a:rPr>
                <a:t>​同比 -21.4%​</a:t>
              </a:r>
            </a:p>
          </p:txBody>
        </p:sp>
        <p:sp>
          <p:nvSpPr>
            <p:cNvPr id="320" name="Rectangle 320"/>
            <p:cNvSpPr/>
            <p:nvPr/>
          </p:nvSpPr>
          <p:spPr>
            <a:xfrm>
              <a:off x="8639175" y="5429250"/>
              <a:ext cx="190500" cy="857250"/>
            </a:xfrm>
            <a:prstGeom prst="rect">
              <a:avLst/>
            </a:prstGeom>
            <a:solidFill>
              <a:srgbClr val="F57E6A"/>
            </a:solidFill>
            <a:ln>
              <a:noFill/>
            </a:ln>
          </p:spPr>
        </p:sp>
        <p:sp>
          <p:nvSpPr>
            <p:cNvPr id="321" name="Rectangle 321"/>
            <p:cNvSpPr/>
            <p:nvPr/>
          </p:nvSpPr>
          <p:spPr>
            <a:xfrm>
              <a:off x="8943975" y="5562600"/>
              <a:ext cx="190500" cy="723900"/>
            </a:xfrm>
            <a:prstGeom prst="rect">
              <a:avLst/>
            </a:prstGeom>
            <a:solidFill>
              <a:srgbClr val="EE492C"/>
            </a:solidFill>
            <a:ln>
              <a:noFill/>
            </a:ln>
          </p:spPr>
        </p:sp>
        <p:sp>
          <p:nvSpPr>
            <p:cNvPr id="322" name="Rectangle 322"/>
            <p:cNvSpPr/>
            <p:nvPr/>
          </p:nvSpPr>
          <p:spPr>
            <a:xfrm>
              <a:off x="9248775" y="5781675"/>
              <a:ext cx="190500" cy="504825"/>
            </a:xfrm>
            <a:prstGeom prst="rect">
              <a:avLst/>
            </a:prstGeom>
            <a:solidFill>
              <a:srgbClr val="C41D00"/>
            </a:solidFill>
            <a:ln>
              <a:noFill/>
            </a:ln>
          </p:spPr>
        </p:sp>
        <p:sp>
          <p:nvSpPr>
            <p:cNvPr id="323" name="TextBox 323"/>
            <p:cNvSpPr txBox="1"/>
            <p:nvPr/>
          </p:nvSpPr>
          <p:spPr>
            <a:xfrm>
              <a:off x="8652660" y="5334476"/>
              <a:ext cx="163530"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​39​</a:t>
              </a:r>
            </a:p>
          </p:txBody>
        </p:sp>
        <p:sp>
          <p:nvSpPr>
            <p:cNvPr id="324" name="TextBox 324"/>
            <p:cNvSpPr txBox="1"/>
            <p:nvPr/>
          </p:nvSpPr>
          <p:spPr>
            <a:xfrm>
              <a:off x="8957460" y="5467826"/>
              <a:ext cx="163530"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​33​</a:t>
              </a:r>
            </a:p>
          </p:txBody>
        </p:sp>
        <p:sp>
          <p:nvSpPr>
            <p:cNvPr id="325" name="TextBox 325"/>
            <p:cNvSpPr txBox="1"/>
            <p:nvPr/>
          </p:nvSpPr>
          <p:spPr>
            <a:xfrm>
              <a:off x="9262260" y="5686901"/>
              <a:ext cx="163530" cy="104775"/>
            </a:xfrm>
            <a:prstGeom prst="rect">
              <a:avLst/>
            </a:prstGeom>
            <a:noFill/>
            <a:ln>
              <a:noFill/>
            </a:ln>
          </p:spPr>
          <p:txBody>
            <a:bodyPr wrap="none" lIns="0" tIns="0" rIns="0" bIns="0" anchor="t" anchorCtr="0">
              <a:spAutoFit/>
            </a:bodyPr>
            <a:lstStyle/>
            <a:p>
              <a:pPr algn="ctr"/>
              <a:r>
                <a:rPr lang="zh-CN" sz="520" dirty="0">
                  <a:solidFill>
                    <a:srgbClr val="3D3835"/>
                  </a:solidFill>
                  <a:latin typeface="+mn-lt"/>
                  <a:ea typeface="+mn-ea"/>
                  <a:cs typeface="+mn-cs"/>
                </a:rPr>
                <a:t>​23​</a:t>
              </a:r>
            </a:p>
          </p:txBody>
        </p:sp>
        <p:sp>
          <p:nvSpPr>
            <p:cNvPr id="326" name="TextBox 326"/>
            <p:cNvSpPr txBox="1"/>
            <p:nvPr/>
          </p:nvSpPr>
          <p:spPr>
            <a:xfrm>
              <a:off x="858728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​2023A​</a:t>
              </a:r>
            </a:p>
          </p:txBody>
        </p:sp>
        <p:sp>
          <p:nvSpPr>
            <p:cNvPr id="327" name="TextBox 327"/>
            <p:cNvSpPr txBox="1"/>
            <p:nvPr/>
          </p:nvSpPr>
          <p:spPr>
            <a:xfrm>
              <a:off x="8892080" y="6363176"/>
              <a:ext cx="294289"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​2024A​</a:t>
              </a:r>
            </a:p>
          </p:txBody>
        </p:sp>
        <p:sp>
          <p:nvSpPr>
            <p:cNvPr id="328" name="TextBox 328"/>
            <p:cNvSpPr txBox="1"/>
            <p:nvPr/>
          </p:nvSpPr>
          <p:spPr>
            <a:xfrm>
              <a:off x="9169143" y="6363176"/>
              <a:ext cx="349763" cy="104775"/>
            </a:xfrm>
            <a:prstGeom prst="rect">
              <a:avLst/>
            </a:prstGeom>
            <a:noFill/>
            <a:ln>
              <a:noFill/>
            </a:ln>
          </p:spPr>
          <p:txBody>
            <a:bodyPr wrap="none" lIns="0" tIns="0" rIns="0" bIns="0" anchor="t" anchorCtr="0">
              <a:spAutoFit/>
            </a:bodyPr>
            <a:lstStyle/>
            <a:p>
              <a:pPr algn="ctr"/>
              <a:r>
                <a:rPr lang="en-US" sz="520" dirty="0">
                  <a:solidFill>
                    <a:srgbClr val="7A716B"/>
                  </a:solidFill>
                  <a:latin typeface="+mn-lt"/>
                  <a:ea typeface="+mn-ea"/>
                  <a:cs typeface="+mn-cs"/>
                </a:rPr>
                <a:t>​2025Q1​</a:t>
              </a:r>
            </a:p>
          </p:txBody>
        </p:sp>
        <p:sp>
          <p:nvSpPr>
            <p:cNvPr id="329" name="Line 329"/>
            <p:cNvSpPr/>
            <p:nvPr/>
          </p:nvSpPr>
          <p:spPr>
            <a:xfrm>
              <a:off x="1466850" y="4476750"/>
              <a:ext cx="9525" cy="2000250"/>
            </a:xfrm>
            <a:custGeom>
              <a:avLst/>
              <a:gdLst/>
              <a:ahLst/>
              <a:cxnLst/>
              <a:rect l="l" t="t" r="r" b="b"/>
              <a:pathLst>
                <a:path w="9525" h="2000250">
                  <a:moveTo>
                    <a:pt x="0" y="0"/>
                  </a:moveTo>
                  <a:lnTo>
                    <a:pt x="0" y="2000250"/>
                  </a:lnTo>
                </a:path>
              </a:pathLst>
            </a:custGeom>
            <a:noFill/>
            <a:ln w="9525">
              <a:solidFill>
                <a:srgbClr val="EADBCE"/>
              </a:solidFill>
            </a:ln>
          </p:spPr>
        </p:sp>
        <p:sp>
          <p:nvSpPr>
            <p:cNvPr id="330" name="Line 330"/>
            <p:cNvSpPr/>
            <p:nvPr/>
          </p:nvSpPr>
          <p:spPr>
            <a:xfrm>
              <a:off x="3771900" y="4476750"/>
              <a:ext cx="9525" cy="2000250"/>
            </a:xfrm>
            <a:custGeom>
              <a:avLst/>
              <a:gdLst/>
              <a:ahLst/>
              <a:cxnLst/>
              <a:rect l="l" t="t" r="r" b="b"/>
              <a:pathLst>
                <a:path w="9525" h="2000250">
                  <a:moveTo>
                    <a:pt x="0" y="0"/>
                  </a:moveTo>
                  <a:lnTo>
                    <a:pt x="0" y="2000250"/>
                  </a:lnTo>
                </a:path>
              </a:pathLst>
            </a:custGeom>
            <a:noFill/>
            <a:ln w="9525">
              <a:solidFill>
                <a:srgbClr val="EADBCE"/>
              </a:solidFill>
            </a:ln>
          </p:spPr>
        </p:sp>
        <p:sp>
          <p:nvSpPr>
            <p:cNvPr id="331" name="Line 331"/>
            <p:cNvSpPr/>
            <p:nvPr/>
          </p:nvSpPr>
          <p:spPr>
            <a:xfrm>
              <a:off x="6076950" y="4476750"/>
              <a:ext cx="9525" cy="2000250"/>
            </a:xfrm>
            <a:custGeom>
              <a:avLst/>
              <a:gdLst/>
              <a:ahLst/>
              <a:cxnLst/>
              <a:rect l="l" t="t" r="r" b="b"/>
              <a:pathLst>
                <a:path w="9525" h="2000250">
                  <a:moveTo>
                    <a:pt x="0" y="0"/>
                  </a:moveTo>
                  <a:lnTo>
                    <a:pt x="0" y="2000250"/>
                  </a:lnTo>
                </a:path>
              </a:pathLst>
            </a:custGeom>
            <a:noFill/>
            <a:ln w="9525">
              <a:solidFill>
                <a:srgbClr val="EADBCE"/>
              </a:solidFill>
            </a:ln>
          </p:spPr>
        </p:sp>
        <p:sp>
          <p:nvSpPr>
            <p:cNvPr id="332" name="Line 332"/>
            <p:cNvSpPr/>
            <p:nvPr/>
          </p:nvSpPr>
          <p:spPr>
            <a:xfrm>
              <a:off x="8382000" y="4476750"/>
              <a:ext cx="9525" cy="2000250"/>
            </a:xfrm>
            <a:custGeom>
              <a:avLst/>
              <a:gdLst/>
              <a:ahLst/>
              <a:cxnLst/>
              <a:rect l="l" t="t" r="r" b="b"/>
              <a:pathLst>
                <a:path w="9525" h="2000250">
                  <a:moveTo>
                    <a:pt x="0" y="0"/>
                  </a:moveTo>
                  <a:lnTo>
                    <a:pt x="0" y="2000250"/>
                  </a:lnTo>
                </a:path>
              </a:pathLst>
            </a:custGeom>
            <a:noFill/>
            <a:ln w="9525">
              <a:solidFill>
                <a:srgbClr val="EADBCE"/>
              </a:solidFill>
            </a:ln>
          </p:spPr>
        </p:sp>
        <p:sp>
          <p:nvSpPr>
            <p:cNvPr id="333" name="Rectangle 333"/>
            <p:cNvSpPr/>
            <p:nvPr/>
          </p:nvSpPr>
          <p:spPr>
            <a:xfrm>
              <a:off x="9601200" y="4171950"/>
              <a:ext cx="2209800" cy="2476500"/>
            </a:xfrm>
            <a:prstGeom prst="roundRect">
              <a:avLst>
                <a:gd name="adj" fmla="val 1724"/>
              </a:avLst>
            </a:prstGeom>
            <a:solidFill>
              <a:srgbClr val="FEF2E6"/>
            </a:solidFill>
            <a:ln w="9525">
              <a:solidFill>
                <a:srgbClr val="F0B8AE"/>
              </a:solidFill>
            </a:ln>
          </p:spPr>
        </p:sp>
        <p:sp>
          <p:nvSpPr>
            <p:cNvPr id="334" name="Rectangle 334"/>
            <p:cNvSpPr/>
            <p:nvPr/>
          </p:nvSpPr>
          <p:spPr>
            <a:xfrm>
              <a:off x="9601200" y="4171950"/>
              <a:ext cx="2209800" cy="266700"/>
            </a:xfrm>
            <a:prstGeom prst="roundRect">
              <a:avLst>
                <a:gd name="adj" fmla="val 14286"/>
              </a:avLst>
            </a:prstGeom>
            <a:solidFill>
              <a:srgbClr val="C41D00"/>
            </a:solidFill>
            <a:ln>
              <a:noFill/>
            </a:ln>
          </p:spPr>
        </p:sp>
        <p:sp>
          <p:nvSpPr>
            <p:cNvPr id="335" name="TextBox 335"/>
            <p:cNvSpPr txBox="1"/>
            <p:nvPr/>
          </p:nvSpPr>
          <p:spPr>
            <a:xfrm>
              <a:off x="9963283" y="4271962"/>
              <a:ext cx="14856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​​目标对齐（2025年度目标）​​</a:t>
              </a:r>
            </a:p>
          </p:txBody>
        </p:sp>
        <p:grpSp>
          <p:nvGrpSpPr>
            <p:cNvPr id="341" name="Group 341"/>
            <p:cNvGrpSpPr/>
            <p:nvPr/>
          </p:nvGrpSpPr>
          <p:grpSpPr>
            <a:xfrm>
              <a:off x="9732169" y="4587924"/>
              <a:ext cx="100012" cy="100757"/>
              <a:chOff x="9732169" y="4587924"/>
              <a:chExt cx="100012" cy="100757"/>
            </a:xfrm>
          </p:grpSpPr>
          <p:sp>
            <p:nvSpPr>
              <p:cNvPr id="336" name="Freeform 336"/>
              <p:cNvSpPr/>
              <p:nvPr/>
            </p:nvSpPr>
            <p:spPr>
              <a:xfrm>
                <a:off x="9765506" y="4633119"/>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D82000"/>
                </a:solidFill>
              </a:ln>
            </p:spPr>
          </p:sp>
          <p:sp>
            <p:nvSpPr>
              <p:cNvPr id="337" name="Freeform 337"/>
              <p:cNvSpPr/>
              <p:nvPr/>
            </p:nvSpPr>
            <p:spPr>
              <a:xfrm>
                <a:off x="9765506" y="4649787"/>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D82000"/>
                </a:solidFill>
              </a:ln>
            </p:spPr>
          </p:sp>
          <p:sp>
            <p:nvSpPr>
              <p:cNvPr id="338" name="Freeform 338"/>
              <p:cNvSpPr/>
              <p:nvPr/>
            </p:nvSpPr>
            <p:spPr>
              <a:xfrm>
                <a:off x="9732169" y="4587924"/>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D82000"/>
                </a:solidFill>
              </a:ln>
            </p:spPr>
          </p:sp>
          <p:sp>
            <p:nvSpPr>
              <p:cNvPr id="339" name="Freeform 339"/>
              <p:cNvSpPr/>
              <p:nvPr/>
            </p:nvSpPr>
            <p:spPr>
              <a:xfrm>
                <a:off x="9732169" y="4605337"/>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D82000"/>
                </a:solidFill>
              </a:ln>
            </p:spPr>
          </p:sp>
          <p:sp>
            <p:nvSpPr>
              <p:cNvPr id="340" name="Freeform 340"/>
              <p:cNvSpPr/>
              <p:nvPr/>
            </p:nvSpPr>
            <p:spPr>
              <a:xfrm>
                <a:off x="9732169" y="4633119"/>
                <a:ext cx="11112" cy="11112"/>
              </a:xfrm>
              <a:custGeom>
                <a:avLst/>
                <a:gdLst/>
                <a:ahLst/>
                <a:cxnLst/>
                <a:rect l="l" t="t" r="r" b="b"/>
                <a:pathLst>
                  <a:path w="11112" h="11112">
                    <a:moveTo>
                      <a:pt x="0" y="0"/>
                    </a:moveTo>
                    <a:cubicBezTo>
                      <a:pt x="0" y="4934"/>
                      <a:pt x="4289" y="8057"/>
                      <a:pt x="11112" y="11112"/>
                    </a:cubicBezTo>
                  </a:path>
                </a:pathLst>
              </a:custGeom>
              <a:noFill/>
              <a:ln w="11112">
                <a:solidFill>
                  <a:srgbClr val="D82000"/>
                </a:solidFill>
              </a:ln>
            </p:spPr>
          </p:sp>
        </p:grpSp>
        <p:sp>
          <p:nvSpPr>
            <p:cNvPr id="342" name="TextBox 342"/>
            <p:cNvSpPr txBox="1"/>
            <p:nvPr/>
          </p:nvSpPr>
          <p:spPr>
            <a:xfrm>
              <a:off x="9901238" y="4603909"/>
              <a:ext cx="700664"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净利润（亿元）​</a:t>
              </a:r>
            </a:p>
          </p:txBody>
        </p:sp>
        <p:sp>
          <p:nvSpPr>
            <p:cNvPr id="343" name="TextBox 343"/>
            <p:cNvSpPr txBox="1"/>
            <p:nvPr/>
          </p:nvSpPr>
          <p:spPr>
            <a:xfrm>
              <a:off x="11310290" y="4595812"/>
              <a:ext cx="391173" cy="147638"/>
            </a:xfrm>
            <a:prstGeom prst="rect">
              <a:avLst/>
            </a:prstGeom>
            <a:noFill/>
            <a:ln>
              <a:noFill/>
            </a:ln>
          </p:spPr>
          <p:txBody>
            <a:bodyPr wrap="none" lIns="0" tIns="0" rIns="0" bIns="0" anchor="t" anchorCtr="0">
              <a:spAutoFit/>
            </a:bodyPr>
            <a:lstStyle/>
            <a:p>
              <a:pPr algn="r"/>
              <a:r>
                <a:rPr lang="zh-CN" sz="750" b="1" dirty="0">
                  <a:solidFill>
                    <a:srgbClr val="C41D00"/>
                  </a:solidFill>
                  <a:latin typeface="+mn-lt"/>
                  <a:ea typeface="+mn-ea"/>
                  <a:cs typeface="+mn-cs"/>
                </a:rPr>
                <a:t>​​≥ 520</a:t>
              </a:r>
            </a:p>
          </p:txBody>
        </p:sp>
        <p:grpSp>
          <p:nvGrpSpPr>
            <p:cNvPr id="346" name="Group 346"/>
            <p:cNvGrpSpPr/>
            <p:nvPr/>
          </p:nvGrpSpPr>
          <p:grpSpPr>
            <a:xfrm>
              <a:off x="9737725" y="5005387"/>
              <a:ext cx="88900" cy="81757"/>
              <a:chOff x="9737725" y="5005387"/>
              <a:chExt cx="88900" cy="81757"/>
            </a:xfrm>
          </p:grpSpPr>
          <p:sp>
            <p:nvSpPr>
              <p:cNvPr id="344" name="Freeform 344"/>
              <p:cNvSpPr/>
              <p:nvPr/>
            </p:nvSpPr>
            <p:spPr>
              <a:xfrm>
                <a:off x="9737725" y="5077619"/>
                <a:ext cx="88900" cy="9525"/>
              </a:xfrm>
              <a:custGeom>
                <a:avLst/>
                <a:gdLst/>
                <a:ahLst/>
                <a:cxnLst/>
                <a:rect l="l" t="t" r="r" b="b"/>
                <a:pathLst>
                  <a:path w="88900" h="9525">
                    <a:moveTo>
                      <a:pt x="0" y="0"/>
                    </a:moveTo>
                    <a:lnTo>
                      <a:pt x="88900" y="0"/>
                    </a:lnTo>
                  </a:path>
                </a:pathLst>
              </a:custGeom>
              <a:noFill/>
              <a:ln w="11112">
                <a:solidFill>
                  <a:srgbClr val="D82000"/>
                </a:solidFill>
              </a:ln>
            </p:spPr>
          </p:sp>
          <p:sp>
            <p:nvSpPr>
              <p:cNvPr id="345" name="Freeform 345"/>
              <p:cNvSpPr/>
              <p:nvPr/>
            </p:nvSpPr>
            <p:spPr>
              <a:xfrm>
                <a:off x="9737725" y="5005387"/>
                <a:ext cx="88900" cy="50006"/>
              </a:xfrm>
              <a:custGeom>
                <a:avLst/>
                <a:gdLst/>
                <a:ahLst/>
                <a:cxnLst/>
                <a:rect l="l" t="t" r="r" b="b"/>
                <a:pathLst>
                  <a:path w="88900" h="50006">
                    <a:moveTo>
                      <a:pt x="0" y="50006"/>
                    </a:moveTo>
                    <a:lnTo>
                      <a:pt x="22225" y="16669"/>
                    </a:lnTo>
                    <a:lnTo>
                      <a:pt x="44450" y="27781"/>
                    </a:lnTo>
                    <a:lnTo>
                      <a:pt x="66675" y="0"/>
                    </a:lnTo>
                    <a:lnTo>
                      <a:pt x="88900" y="22225"/>
                    </a:lnTo>
                  </a:path>
                </a:pathLst>
              </a:custGeom>
              <a:noFill/>
              <a:ln w="11112">
                <a:solidFill>
                  <a:srgbClr val="D82000"/>
                </a:solidFill>
              </a:ln>
            </p:spPr>
          </p:sp>
        </p:grpSp>
        <p:sp>
          <p:nvSpPr>
            <p:cNvPr id="347" name="TextBox 347"/>
            <p:cNvSpPr txBox="1"/>
            <p:nvPr/>
          </p:nvSpPr>
          <p:spPr>
            <a:xfrm>
              <a:off x="9901238" y="5003959"/>
              <a:ext cx="641594"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ROE（%）​​​​</a:t>
              </a:r>
            </a:p>
          </p:txBody>
        </p:sp>
        <p:sp>
          <p:nvSpPr>
            <p:cNvPr id="348" name="TextBox 348"/>
            <p:cNvSpPr txBox="1"/>
            <p:nvPr/>
          </p:nvSpPr>
          <p:spPr>
            <a:xfrm>
              <a:off x="11251983" y="4995862"/>
              <a:ext cx="449480" cy="147638"/>
            </a:xfrm>
            <a:prstGeom prst="rect">
              <a:avLst/>
            </a:prstGeom>
            <a:noFill/>
            <a:ln>
              <a:noFill/>
            </a:ln>
          </p:spPr>
          <p:txBody>
            <a:bodyPr wrap="none" lIns="0" tIns="0" rIns="0" bIns="0" anchor="t" anchorCtr="0">
              <a:spAutoFit/>
            </a:bodyPr>
            <a:lstStyle/>
            <a:p>
              <a:pPr algn="r"/>
              <a:r>
                <a:rPr lang="zh-CN" sz="750" b="1" dirty="0">
                  <a:solidFill>
                    <a:srgbClr val="C41D00"/>
                  </a:solidFill>
                  <a:latin typeface="+mn-lt"/>
                  <a:ea typeface="+mn-ea"/>
                  <a:cs typeface="+mn-cs"/>
                </a:rPr>
                <a:t>​​≥ 13.5</a:t>
              </a:r>
            </a:p>
          </p:txBody>
        </p:sp>
        <p:grpSp>
          <p:nvGrpSpPr>
            <p:cNvPr id="353" name="Group 353"/>
            <p:cNvGrpSpPr/>
            <p:nvPr/>
          </p:nvGrpSpPr>
          <p:grpSpPr>
            <a:xfrm>
              <a:off x="9732169" y="5388769"/>
              <a:ext cx="100012" cy="100012"/>
              <a:chOff x="9732169" y="5388769"/>
              <a:chExt cx="100012" cy="100012"/>
            </a:xfrm>
          </p:grpSpPr>
          <p:sp>
            <p:nvSpPr>
              <p:cNvPr id="349" name="Freeform 349"/>
              <p:cNvSpPr/>
              <p:nvPr/>
            </p:nvSpPr>
            <p:spPr>
              <a:xfrm>
                <a:off x="9743281" y="53887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D82000"/>
                </a:solidFill>
              </a:ln>
            </p:spPr>
          </p:sp>
          <p:sp>
            <p:nvSpPr>
              <p:cNvPr id="350" name="Freeform 350"/>
              <p:cNvSpPr/>
              <p:nvPr/>
            </p:nvSpPr>
            <p:spPr>
              <a:xfrm>
                <a:off x="9732169" y="54554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D82000"/>
                </a:solidFill>
              </a:ln>
            </p:spPr>
          </p:sp>
          <p:sp>
            <p:nvSpPr>
              <p:cNvPr id="351" name="Freeform 351"/>
              <p:cNvSpPr/>
              <p:nvPr/>
            </p:nvSpPr>
            <p:spPr>
              <a:xfrm>
                <a:off x="9804400" y="53894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D82000"/>
                </a:solidFill>
              </a:ln>
            </p:spPr>
          </p:sp>
          <p:sp>
            <p:nvSpPr>
              <p:cNvPr id="352" name="Freeform 352"/>
              <p:cNvSpPr/>
              <p:nvPr/>
            </p:nvSpPr>
            <p:spPr>
              <a:xfrm>
                <a:off x="9815512" y="54562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D82000"/>
                </a:solidFill>
              </a:ln>
            </p:spPr>
          </p:sp>
        </p:grpSp>
        <p:sp>
          <p:nvSpPr>
            <p:cNvPr id="354" name="TextBox 354"/>
            <p:cNvSpPr txBox="1"/>
            <p:nvPr/>
          </p:nvSpPr>
          <p:spPr>
            <a:xfrm>
              <a:off x="9901238" y="5404009"/>
              <a:ext cx="59478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NPS（分）​​​</a:t>
              </a:r>
            </a:p>
          </p:txBody>
        </p:sp>
        <p:sp>
          <p:nvSpPr>
            <p:cNvPr id="355" name="TextBox 355"/>
            <p:cNvSpPr txBox="1"/>
            <p:nvPr/>
          </p:nvSpPr>
          <p:spPr>
            <a:xfrm>
              <a:off x="11368597" y="5395912"/>
              <a:ext cx="332865" cy="147638"/>
            </a:xfrm>
            <a:prstGeom prst="rect">
              <a:avLst/>
            </a:prstGeom>
            <a:noFill/>
            <a:ln>
              <a:noFill/>
            </a:ln>
          </p:spPr>
          <p:txBody>
            <a:bodyPr wrap="none" lIns="0" tIns="0" rIns="0" bIns="0" anchor="t" anchorCtr="0">
              <a:spAutoFit/>
            </a:bodyPr>
            <a:lstStyle/>
            <a:p>
              <a:pPr algn="r"/>
              <a:r>
                <a:rPr lang="zh-CN" sz="750" b="1" dirty="0">
                  <a:solidFill>
                    <a:srgbClr val="C41D00"/>
                  </a:solidFill>
                  <a:latin typeface="+mn-lt"/>
                  <a:ea typeface="+mn-ea"/>
                  <a:cs typeface="+mn-cs"/>
                </a:rPr>
                <a:t>​​≥ 60</a:t>
              </a:r>
            </a:p>
          </p:txBody>
        </p:sp>
        <p:grpSp>
          <p:nvGrpSpPr>
            <p:cNvPr id="359" name="Group 359"/>
            <p:cNvGrpSpPr/>
            <p:nvPr/>
          </p:nvGrpSpPr>
          <p:grpSpPr>
            <a:xfrm>
              <a:off x="9726140" y="5786973"/>
              <a:ext cx="112066" cy="96280"/>
              <a:chOff x="9726140" y="5786973"/>
              <a:chExt cx="112066" cy="96280"/>
            </a:xfrm>
          </p:grpSpPr>
          <p:sp>
            <p:nvSpPr>
              <p:cNvPr id="356" name="Freeform 356"/>
              <p:cNvSpPr/>
              <p:nvPr/>
            </p:nvSpPr>
            <p:spPr>
              <a:xfrm>
                <a:off x="9782175" y="5822156"/>
                <a:ext cx="9525" cy="22225"/>
              </a:xfrm>
              <a:custGeom>
                <a:avLst/>
                <a:gdLst/>
                <a:ahLst/>
                <a:cxnLst/>
                <a:rect l="l" t="t" r="r" b="b"/>
                <a:pathLst>
                  <a:path w="9525" h="22225">
                    <a:moveTo>
                      <a:pt x="0" y="0"/>
                    </a:moveTo>
                    <a:lnTo>
                      <a:pt x="0" y="22225"/>
                    </a:lnTo>
                  </a:path>
                </a:pathLst>
              </a:custGeom>
              <a:noFill/>
              <a:ln w="11112">
                <a:solidFill>
                  <a:srgbClr val="D82000"/>
                </a:solidFill>
              </a:ln>
            </p:spPr>
          </p:sp>
          <p:sp>
            <p:nvSpPr>
              <p:cNvPr id="357" name="Freeform 357"/>
              <p:cNvSpPr/>
              <p:nvPr/>
            </p:nvSpPr>
            <p:spPr>
              <a:xfrm>
                <a:off x="9726140" y="5786973"/>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D82000"/>
                </a:solidFill>
              </a:ln>
            </p:spPr>
          </p:sp>
          <p:sp>
            <p:nvSpPr>
              <p:cNvPr id="358" name="Freeform 358"/>
              <p:cNvSpPr/>
              <p:nvPr/>
            </p:nvSpPr>
            <p:spPr>
              <a:xfrm>
                <a:off x="9782175" y="5861050"/>
                <a:ext cx="9525" cy="9525"/>
              </a:xfrm>
              <a:custGeom>
                <a:avLst/>
                <a:gdLst/>
                <a:ahLst/>
                <a:cxnLst/>
                <a:rect l="l" t="t" r="r" b="b"/>
                <a:pathLst>
                  <a:path w="9525" h="9525">
                    <a:moveTo>
                      <a:pt x="0" y="0"/>
                    </a:moveTo>
                    <a:lnTo>
                      <a:pt x="56" y="0"/>
                    </a:lnTo>
                  </a:path>
                </a:pathLst>
              </a:custGeom>
              <a:noFill/>
              <a:ln w="11112">
                <a:solidFill>
                  <a:srgbClr val="D82000"/>
                </a:solidFill>
              </a:ln>
            </p:spPr>
          </p:sp>
        </p:grpSp>
        <p:sp>
          <p:nvSpPr>
            <p:cNvPr id="360" name="TextBox 360"/>
            <p:cNvSpPr txBox="1"/>
            <p:nvPr/>
          </p:nvSpPr>
          <p:spPr>
            <a:xfrm>
              <a:off x="9901238" y="5804059"/>
              <a:ext cx="636585"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不良率（%）​​</a:t>
              </a:r>
            </a:p>
          </p:txBody>
        </p:sp>
        <p:sp>
          <p:nvSpPr>
            <p:cNvPr id="361" name="TextBox 361"/>
            <p:cNvSpPr txBox="1"/>
            <p:nvPr/>
          </p:nvSpPr>
          <p:spPr>
            <a:xfrm>
              <a:off x="11251983" y="5795962"/>
              <a:ext cx="449480" cy="147638"/>
            </a:xfrm>
            <a:prstGeom prst="rect">
              <a:avLst/>
            </a:prstGeom>
            <a:noFill/>
            <a:ln>
              <a:noFill/>
            </a:ln>
          </p:spPr>
          <p:txBody>
            <a:bodyPr wrap="none" lIns="0" tIns="0" rIns="0" bIns="0" anchor="t" anchorCtr="0">
              <a:spAutoFit/>
            </a:bodyPr>
            <a:lstStyle/>
            <a:p>
              <a:pPr algn="r"/>
              <a:r>
                <a:rPr lang="zh-CN" sz="750" b="1" dirty="0">
                  <a:solidFill>
                    <a:srgbClr val="C41D00"/>
                  </a:solidFill>
                  <a:latin typeface="+mn-lt"/>
                  <a:ea typeface="+mn-ea"/>
                  <a:cs typeface="+mn-cs"/>
                </a:rPr>
                <a:t>​​≤ 0.80</a:t>
              </a:r>
            </a:p>
          </p:txBody>
        </p:sp>
        <p:grpSp>
          <p:nvGrpSpPr>
            <p:cNvPr id="364" name="Group 364"/>
            <p:cNvGrpSpPr/>
            <p:nvPr/>
          </p:nvGrpSpPr>
          <p:grpSpPr>
            <a:xfrm>
              <a:off x="9724670" y="6188869"/>
              <a:ext cx="108504" cy="100012"/>
              <a:chOff x="9724670" y="6188869"/>
              <a:chExt cx="108504" cy="100012"/>
            </a:xfrm>
          </p:grpSpPr>
          <p:sp>
            <p:nvSpPr>
              <p:cNvPr id="362" name="Freeform 362"/>
              <p:cNvSpPr/>
              <p:nvPr/>
            </p:nvSpPr>
            <p:spPr>
              <a:xfrm>
                <a:off x="9724670" y="618886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D82000"/>
                </a:solidFill>
              </a:ln>
            </p:spPr>
          </p:sp>
          <p:sp>
            <p:nvSpPr>
              <p:cNvPr id="363" name="Freeform 363"/>
              <p:cNvSpPr/>
              <p:nvPr/>
            </p:nvSpPr>
            <p:spPr>
              <a:xfrm>
                <a:off x="9798844" y="6266656"/>
                <a:ext cx="33337" cy="22225"/>
              </a:xfrm>
              <a:custGeom>
                <a:avLst/>
                <a:gdLst/>
                <a:ahLst/>
                <a:cxnLst/>
                <a:rect l="l" t="t" r="r" b="b"/>
                <a:pathLst>
                  <a:path w="33337" h="22225">
                    <a:moveTo>
                      <a:pt x="0" y="11112"/>
                    </a:moveTo>
                    <a:lnTo>
                      <a:pt x="11112" y="22225"/>
                    </a:lnTo>
                    <a:lnTo>
                      <a:pt x="33337" y="0"/>
                    </a:lnTo>
                  </a:path>
                </a:pathLst>
              </a:custGeom>
              <a:noFill/>
              <a:ln w="11112">
                <a:solidFill>
                  <a:srgbClr val="D82000"/>
                </a:solidFill>
              </a:ln>
            </p:spPr>
          </p:sp>
        </p:grpSp>
        <p:sp>
          <p:nvSpPr>
            <p:cNvPr id="365" name="TextBox 365"/>
            <p:cNvSpPr txBox="1"/>
            <p:nvPr/>
          </p:nvSpPr>
          <p:spPr>
            <a:xfrm>
              <a:off x="9901238" y="6204109"/>
              <a:ext cx="88374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合规重大事件（件）​</a:t>
              </a:r>
            </a:p>
          </p:txBody>
        </p:sp>
        <p:sp>
          <p:nvSpPr>
            <p:cNvPr id="366" name="TextBox 366"/>
            <p:cNvSpPr txBox="1"/>
            <p:nvPr/>
          </p:nvSpPr>
          <p:spPr>
            <a:xfrm>
              <a:off x="11426904" y="6196012"/>
              <a:ext cx="274558" cy="147638"/>
            </a:xfrm>
            <a:prstGeom prst="rect">
              <a:avLst/>
            </a:prstGeom>
            <a:noFill/>
            <a:ln>
              <a:noFill/>
            </a:ln>
          </p:spPr>
          <p:txBody>
            <a:bodyPr wrap="none" lIns="0" tIns="0" rIns="0" bIns="0" anchor="t" anchorCtr="0">
              <a:spAutoFit/>
            </a:bodyPr>
            <a:lstStyle/>
            <a:p>
              <a:pPr algn="r"/>
              <a:r>
                <a:rPr lang="zh-CN" sz="750" b="1" dirty="0">
                  <a:solidFill>
                    <a:srgbClr val="C41D00"/>
                  </a:solidFill>
                  <a:latin typeface="+mn-lt"/>
                  <a:ea typeface="+mn-ea"/>
                  <a:cs typeface="+mn-cs"/>
                </a:rPr>
                <a:t>​​= 0</a:t>
              </a:r>
            </a:p>
          </p:txBody>
        </p:sp>
        <p:sp>
          <p:nvSpPr>
            <p:cNvPr id="367" name="Line 367"/>
            <p:cNvSpPr/>
            <p:nvPr/>
          </p:nvSpPr>
          <p:spPr>
            <a:xfrm>
              <a:off x="9715500" y="4819650"/>
              <a:ext cx="1981200" cy="9525"/>
            </a:xfrm>
            <a:custGeom>
              <a:avLst/>
              <a:gdLst/>
              <a:ahLst/>
              <a:cxnLst/>
              <a:rect l="l" t="t" r="r" b="b"/>
              <a:pathLst>
                <a:path w="1981200" h="9525">
                  <a:moveTo>
                    <a:pt x="0" y="0"/>
                  </a:moveTo>
                  <a:lnTo>
                    <a:pt x="1981200" y="0"/>
                  </a:lnTo>
                </a:path>
              </a:pathLst>
            </a:custGeom>
            <a:noFill/>
            <a:ln w="9525">
              <a:solidFill>
                <a:srgbClr val="F0B8AE"/>
              </a:solidFill>
            </a:ln>
          </p:spPr>
        </p:sp>
        <p:sp>
          <p:nvSpPr>
            <p:cNvPr id="368" name="Line 368"/>
            <p:cNvSpPr/>
            <p:nvPr/>
          </p:nvSpPr>
          <p:spPr>
            <a:xfrm>
              <a:off x="9715500" y="5219700"/>
              <a:ext cx="1981200" cy="9525"/>
            </a:xfrm>
            <a:custGeom>
              <a:avLst/>
              <a:gdLst/>
              <a:ahLst/>
              <a:cxnLst/>
              <a:rect l="l" t="t" r="r" b="b"/>
              <a:pathLst>
                <a:path w="1981200" h="9525">
                  <a:moveTo>
                    <a:pt x="0" y="0"/>
                  </a:moveTo>
                  <a:lnTo>
                    <a:pt x="1981200" y="0"/>
                  </a:lnTo>
                </a:path>
              </a:pathLst>
            </a:custGeom>
            <a:noFill/>
            <a:ln w="9525">
              <a:solidFill>
                <a:srgbClr val="F0B8AE"/>
              </a:solidFill>
            </a:ln>
          </p:spPr>
        </p:sp>
        <p:sp>
          <p:nvSpPr>
            <p:cNvPr id="369" name="Line 369"/>
            <p:cNvSpPr/>
            <p:nvPr/>
          </p:nvSpPr>
          <p:spPr>
            <a:xfrm>
              <a:off x="9715500" y="5619750"/>
              <a:ext cx="1981200" cy="9525"/>
            </a:xfrm>
            <a:custGeom>
              <a:avLst/>
              <a:gdLst/>
              <a:ahLst/>
              <a:cxnLst/>
              <a:rect l="l" t="t" r="r" b="b"/>
              <a:pathLst>
                <a:path w="1981200" h="9525">
                  <a:moveTo>
                    <a:pt x="0" y="0"/>
                  </a:moveTo>
                  <a:lnTo>
                    <a:pt x="1981200" y="0"/>
                  </a:lnTo>
                </a:path>
              </a:pathLst>
            </a:custGeom>
            <a:noFill/>
            <a:ln w="9525">
              <a:solidFill>
                <a:srgbClr val="F0B8AE"/>
              </a:solidFill>
            </a:ln>
          </p:spPr>
        </p:sp>
        <p:sp>
          <p:nvSpPr>
            <p:cNvPr id="370" name="Line 370"/>
            <p:cNvSpPr/>
            <p:nvPr/>
          </p:nvSpPr>
          <p:spPr>
            <a:xfrm>
              <a:off x="9715500" y="6019800"/>
              <a:ext cx="1981200" cy="9525"/>
            </a:xfrm>
            <a:custGeom>
              <a:avLst/>
              <a:gdLst/>
              <a:ahLst/>
              <a:cxnLst/>
              <a:rect l="l" t="t" r="r" b="b"/>
              <a:pathLst>
                <a:path w="1981200" h="9525">
                  <a:moveTo>
                    <a:pt x="0" y="0"/>
                  </a:moveTo>
                  <a:lnTo>
                    <a:pt x="1981200" y="0"/>
                  </a:lnTo>
                </a:path>
              </a:pathLst>
            </a:custGeom>
            <a:noFill/>
            <a:ln w="9525">
              <a:solidFill>
                <a:srgbClr val="F0B8AE"/>
              </a:solidFill>
            </a:ln>
          </p:spPr>
        </p:sp>
      </p:gr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582400" cy="551879"/>
            <a:chOff x="0" y="0"/>
            <a:chExt cx="115824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1D00"/>
            </a:solidFill>
            <a:ln>
              <a:noFill/>
            </a:ln>
          </p:spPr>
        </p:sp>
        <p:sp>
          <p:nvSpPr>
            <p:cNvPr id="3" name="TextBox 3"/>
            <p:cNvSpPr txBox="1"/>
            <p:nvPr/>
          </p:nvSpPr>
          <p:spPr>
            <a:xfrm>
              <a:off x="14763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17</a:t>
              </a:r>
            </a:p>
          </p:txBody>
        </p:sp>
        <p:sp>
          <p:nvSpPr>
            <p:cNvPr id="4" name="TextBox 4"/>
            <p:cNvSpPr txBox="1"/>
            <p:nvPr/>
          </p:nvSpPr>
          <p:spPr>
            <a:xfrm>
              <a:off x="904494" y="170498"/>
              <a:ext cx="7713951" cy="381381"/>
            </a:xfrm>
            <a:prstGeom prst="rect">
              <a:avLst/>
            </a:prstGeom>
            <a:noFill/>
            <a:ln>
              <a:noFill/>
            </a:ln>
          </p:spPr>
          <p:txBody>
            <a:bodyPr wrap="none" lIns="0" tIns="0" rIns="0" bIns="0" anchor="t" anchorCtr="0">
              <a:spAutoFit/>
            </a:bodyPr>
            <a:lstStyle/>
            <a:p>
              <a:pPr algn="l"/>
              <a:r>
                <a:rPr lang="zh-CN" sz="1950" b="1" dirty="0">
                  <a:solidFill>
                    <a:srgbClr val="4A130A"/>
                  </a:solidFill>
                  <a:latin typeface="+mn-lt"/>
                  <a:ea typeface="+mn-ea"/>
                  <a:cs typeface="+mn-cs"/>
                </a:rPr>
                <a:t>实施路线</a:t>
              </a:r>
              <a:r>
                <a:rPr lang="zh-CN" sz="1950" b="1" dirty="0">
                  <a:solidFill>
                    <a:srgbClr val="C41D00"/>
                  </a:solidFill>
                  <a:latin typeface="+mn-lt"/>
                  <a:ea typeface="+mn-ea"/>
                  <a:cs typeface="+mn-cs"/>
                </a:rPr>
                <a:t>｜</a:t>
              </a:r>
              <a:r>
                <a:rPr lang="zh-CN" sz="1950" b="1" dirty="0">
                  <a:solidFill>
                    <a:srgbClr val="4A130A"/>
                  </a:solidFill>
                  <a:latin typeface="+mn-lt"/>
                  <a:ea typeface="+mn-ea"/>
                  <a:cs typeface="+mn-cs"/>
                </a:rPr>
                <a:t>18个月分三阶段建立可复制、可度量的客户运营能力​​</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C41D00"/>
              </a:solidFill>
            </a:ln>
          </p:spPr>
        </p:sp>
      </p:grpSp>
      <p:grpSp>
        <p:nvGrpSpPr>
          <p:cNvPr id="31" name="stage-roadmap"/>
          <p:cNvGrpSpPr/>
          <p:nvPr/>
        </p:nvGrpSpPr>
        <p:grpSpPr>
          <a:xfrm>
            <a:off x="342900" y="685800"/>
            <a:ext cx="11468100" cy="1123950"/>
            <a:chOff x="342900" y="685800"/>
            <a:chExt cx="11468100" cy="1123950"/>
          </a:xfrm>
        </p:grpSpPr>
        <p:sp>
          <p:nvSpPr>
            <p:cNvPr id="7" name="Freeform 7"/>
            <p:cNvSpPr/>
            <p:nvPr/>
          </p:nvSpPr>
          <p:spPr>
            <a:xfrm>
              <a:off x="342900" y="685800"/>
              <a:ext cx="3752850" cy="285750"/>
            </a:xfrm>
            <a:prstGeom prst="homePlate">
              <a:avLst/>
            </a:prstGeom>
            <a:solidFill>
              <a:srgbClr val="EE492C"/>
            </a:solidFill>
            <a:ln>
              <a:noFill/>
            </a:ln>
          </p:spPr>
        </p:sp>
        <p:sp>
          <p:nvSpPr>
            <p:cNvPr id="8" name="Freeform 8"/>
            <p:cNvSpPr/>
            <p:nvPr/>
          </p:nvSpPr>
          <p:spPr>
            <a:xfrm>
              <a:off x="4171950" y="685800"/>
              <a:ext cx="3752850" cy="285750"/>
            </a:xfrm>
            <a:prstGeom prst="homePlate">
              <a:avLst/>
            </a:prstGeom>
            <a:solidFill>
              <a:srgbClr val="D82000"/>
            </a:solidFill>
            <a:ln>
              <a:noFill/>
            </a:ln>
          </p:spPr>
        </p:sp>
        <p:sp>
          <p:nvSpPr>
            <p:cNvPr id="9" name="Freeform 9"/>
            <p:cNvSpPr/>
            <p:nvPr/>
          </p:nvSpPr>
          <p:spPr>
            <a:xfrm>
              <a:off x="8001000" y="685800"/>
              <a:ext cx="3810000" cy="285750"/>
            </a:xfrm>
            <a:prstGeom prst="homePlate">
              <a:avLst/>
            </a:prstGeom>
            <a:solidFill>
              <a:srgbClr val="C41D00"/>
            </a:solidFill>
            <a:ln>
              <a:noFill/>
            </a:ln>
          </p:spPr>
        </p:sp>
        <p:grpSp>
          <p:nvGrpSpPr>
            <p:cNvPr id="12" name="Group 12"/>
            <p:cNvGrpSpPr/>
            <p:nvPr/>
          </p:nvGrpSpPr>
          <p:grpSpPr>
            <a:xfrm>
              <a:off x="477837" y="757986"/>
              <a:ext cx="111125" cy="142126"/>
              <a:chOff x="477837" y="757986"/>
              <a:chExt cx="111125" cy="142126"/>
            </a:xfrm>
          </p:grpSpPr>
          <p:sp>
            <p:nvSpPr>
              <p:cNvPr id="10" name="Freeform 10"/>
              <p:cNvSpPr/>
              <p:nvPr/>
            </p:nvSpPr>
            <p:spPr>
              <a:xfrm>
                <a:off x="477837" y="757986"/>
                <a:ext cx="111125" cy="101691"/>
              </a:xfrm>
              <a:custGeom>
                <a:avLst/>
                <a:gdLst/>
                <a:ahLst/>
                <a:cxnLst/>
                <a:rect l="l" t="t" r="r" b="b"/>
                <a:pathLst>
                  <a:path w="111125" h="101691">
                    <a:moveTo>
                      <a:pt x="0" y="15127"/>
                    </a:moveTo>
                    <a:cubicBezTo>
                      <a:pt x="15432" y="0"/>
                      <a:pt x="40130" y="0"/>
                      <a:pt x="55562" y="15127"/>
                    </a:cubicBezTo>
                    <a:cubicBezTo>
                      <a:pt x="70995" y="30253"/>
                      <a:pt x="95693" y="30253"/>
                      <a:pt x="111125" y="15127"/>
                    </a:cubicBezTo>
                    <a:lnTo>
                      <a:pt x="111125" y="86564"/>
                    </a:lnTo>
                    <a:cubicBezTo>
                      <a:pt x="95693" y="101691"/>
                      <a:pt x="70995" y="101691"/>
                      <a:pt x="55562" y="86564"/>
                    </a:cubicBezTo>
                    <a:cubicBezTo>
                      <a:pt x="40130" y="71437"/>
                      <a:pt x="15432" y="71437"/>
                      <a:pt x="0" y="86564"/>
                    </a:cubicBezTo>
                    <a:lnTo>
                      <a:pt x="0" y="15127"/>
                    </a:lnTo>
                  </a:path>
                </a:pathLst>
              </a:custGeom>
              <a:noFill/>
              <a:ln w="15875">
                <a:solidFill>
                  <a:srgbClr val="FFFFFF"/>
                </a:solidFill>
              </a:ln>
            </p:spPr>
          </p:sp>
          <p:sp>
            <p:nvSpPr>
              <p:cNvPr id="11" name="Freeform 11"/>
              <p:cNvSpPr/>
              <p:nvPr/>
            </p:nvSpPr>
            <p:spPr>
              <a:xfrm>
                <a:off x="477837" y="844550"/>
                <a:ext cx="9525" cy="55562"/>
              </a:xfrm>
              <a:custGeom>
                <a:avLst/>
                <a:gdLst/>
                <a:ahLst/>
                <a:cxnLst/>
                <a:rect l="l" t="t" r="r" b="b"/>
                <a:pathLst>
                  <a:path w="9525" h="55562">
                    <a:moveTo>
                      <a:pt x="0" y="55562"/>
                    </a:moveTo>
                    <a:lnTo>
                      <a:pt x="0" y="0"/>
                    </a:lnTo>
                  </a:path>
                </a:pathLst>
              </a:custGeom>
              <a:noFill/>
              <a:ln w="15875">
                <a:solidFill>
                  <a:srgbClr val="FFFFFF"/>
                </a:solidFill>
              </a:ln>
            </p:spPr>
          </p:sp>
        </p:grpSp>
        <p:sp>
          <p:nvSpPr>
            <p:cNvPr id="13" name="TextBox 13"/>
            <p:cNvSpPr txBox="1"/>
            <p:nvPr/>
          </p:nvSpPr>
          <p:spPr>
            <a:xfrm>
              <a:off x="1332802" y="715089"/>
              <a:ext cx="1830197" cy="269081"/>
            </a:xfrm>
            <a:prstGeom prst="rect">
              <a:avLst/>
            </a:prstGeom>
            <a:noFill/>
            <a:ln>
              <a:noFill/>
            </a:ln>
          </p:spPr>
          <p:txBody>
            <a:bodyPr wrap="none" lIns="0" tIns="0" rIns="0" bIns="0" anchor="t" anchorCtr="0">
              <a:spAutoFit/>
            </a:bodyPr>
            <a:lstStyle/>
            <a:p>
              <a:pPr algn="ctr">
                <a:lnSpc>
                  <a:spcPts val="900"/>
                </a:lnSpc>
              </a:pPr>
              <a:r>
                <a:rPr lang="zh-CN" sz="790" b="1" dirty="0">
                  <a:solidFill>
                    <a:srgbClr val="FFFFFF"/>
                  </a:solidFill>
                  <a:latin typeface="+mn-lt"/>
                  <a:ea typeface="+mn-ea"/>
                  <a:cs typeface="+mn-cs"/>
                </a:rPr>
                <a:t>​​阶段一：0–3个月​​</a:t>
              </a:r>
            </a:p>
            <a:p>
              <a:pPr algn="ctr">
                <a:lnSpc>
                  <a:spcPts val="900"/>
                </a:lnSpc>
              </a:pPr>
              <a:r>
                <a:rPr lang="zh-CN" sz="640" dirty="0">
                  <a:solidFill>
                    <a:srgbClr val="FFFFFF"/>
                  </a:solidFill>
                  <a:latin typeface="+mn-lt"/>
                  <a:ea typeface="+mn-ea"/>
                  <a:cs typeface="+mn-cs"/>
                </a:rPr>
                <a:t>​​夯实基础，验证价值（Foundation &amp; Pilots）​​</a:t>
              </a:r>
            </a:p>
          </p:txBody>
        </p:sp>
        <p:grpSp>
          <p:nvGrpSpPr>
            <p:cNvPr id="16" name="Group 16"/>
            <p:cNvGrpSpPr/>
            <p:nvPr/>
          </p:nvGrpSpPr>
          <p:grpSpPr>
            <a:xfrm>
              <a:off x="4298950" y="781050"/>
              <a:ext cx="127000" cy="112712"/>
              <a:chOff x="4298950" y="781050"/>
              <a:chExt cx="127000" cy="112712"/>
            </a:xfrm>
          </p:grpSpPr>
          <p:sp>
            <p:nvSpPr>
              <p:cNvPr id="14" name="Freeform 14"/>
              <p:cNvSpPr/>
              <p:nvPr/>
            </p:nvSpPr>
            <p:spPr>
              <a:xfrm>
                <a:off x="4298950" y="884237"/>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5" name="Freeform 15"/>
              <p:cNvSpPr/>
              <p:nvPr/>
            </p:nvSpPr>
            <p:spPr>
              <a:xfrm>
                <a:off x="4298950" y="781050"/>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FFFFFF"/>
                </a:solidFill>
              </a:ln>
            </p:spPr>
          </p:sp>
        </p:grpSp>
        <p:sp>
          <p:nvSpPr>
            <p:cNvPr id="17" name="TextBox 17"/>
            <p:cNvSpPr txBox="1"/>
            <p:nvPr/>
          </p:nvSpPr>
          <p:spPr>
            <a:xfrm>
              <a:off x="5078540" y="715089"/>
              <a:ext cx="1996821" cy="269081"/>
            </a:xfrm>
            <a:prstGeom prst="rect">
              <a:avLst/>
            </a:prstGeom>
            <a:noFill/>
            <a:ln>
              <a:noFill/>
            </a:ln>
          </p:spPr>
          <p:txBody>
            <a:bodyPr wrap="none" lIns="0" tIns="0" rIns="0" bIns="0" anchor="t" anchorCtr="0">
              <a:spAutoFit/>
            </a:bodyPr>
            <a:lstStyle/>
            <a:p>
              <a:pPr algn="ctr">
                <a:lnSpc>
                  <a:spcPts val="900"/>
                </a:lnSpc>
              </a:pPr>
              <a:r>
                <a:rPr lang="zh-CN" sz="790" b="1" dirty="0">
                  <a:solidFill>
                    <a:srgbClr val="FFFFFF"/>
                  </a:solidFill>
                  <a:latin typeface="+mn-lt"/>
                  <a:ea typeface="+mn-ea"/>
                  <a:cs typeface="+mn-cs"/>
                </a:rPr>
                <a:t>​​阶段二：4–9个月​​</a:t>
              </a:r>
            </a:p>
            <a:p>
              <a:pPr algn="ctr">
                <a:lnSpc>
                  <a:spcPts val="900"/>
                </a:lnSpc>
              </a:pPr>
              <a:r>
                <a:rPr lang="zh-CN" sz="640" dirty="0">
                  <a:solidFill>
                    <a:srgbClr val="FFFFFF"/>
                  </a:solidFill>
                  <a:latin typeface="+mn-lt"/>
                  <a:ea typeface="+mn-ea"/>
                  <a:cs typeface="+mn-cs"/>
                </a:rPr>
                <a:t>​​规模化旅程，智能化运营（Scale &amp; Intelligence）​​</a:t>
              </a:r>
            </a:p>
          </p:txBody>
        </p:sp>
        <p:grpSp>
          <p:nvGrpSpPr>
            <p:cNvPr id="23" name="Group 23"/>
            <p:cNvGrpSpPr/>
            <p:nvPr/>
          </p:nvGrpSpPr>
          <p:grpSpPr>
            <a:xfrm>
              <a:off x="8120062" y="757237"/>
              <a:ext cx="142875" cy="142875"/>
              <a:chOff x="8120062" y="757237"/>
              <a:chExt cx="142875" cy="142875"/>
            </a:xfrm>
          </p:grpSpPr>
          <p:sp>
            <p:nvSpPr>
              <p:cNvPr id="18" name="Freeform 18"/>
              <p:cNvSpPr/>
              <p:nvPr/>
            </p:nvSpPr>
            <p:spPr>
              <a:xfrm>
                <a:off x="8120062" y="852487"/>
                <a:ext cx="47625" cy="47625"/>
              </a:xfrm>
              <a:custGeom>
                <a:avLst/>
                <a:gdLst/>
                <a:ahLst/>
                <a:cxnLst/>
                <a:rect l="l" t="t" r="r" b="b"/>
                <a:pathLst>
                  <a:path w="47625" h="47625">
                    <a:moveTo>
                      <a:pt x="0" y="15875"/>
                    </a:moveTo>
                    <a:cubicBezTo>
                      <a:pt x="0" y="7107"/>
                      <a:pt x="7107" y="0"/>
                      <a:pt x="15875" y="0"/>
                    </a:cubicBezTo>
                    <a:lnTo>
                      <a:pt x="31750" y="0"/>
                    </a:lnTo>
                    <a:cubicBezTo>
                      <a:pt x="40518" y="0"/>
                      <a:pt x="47625" y="7107"/>
                      <a:pt x="47625" y="15875"/>
                    </a:cubicBezTo>
                    <a:lnTo>
                      <a:pt x="47625" y="31750"/>
                    </a:lnTo>
                    <a:cubicBezTo>
                      <a:pt x="47625" y="40518"/>
                      <a:pt x="40518" y="47625"/>
                      <a:pt x="31750" y="47625"/>
                    </a:cubicBezTo>
                    <a:lnTo>
                      <a:pt x="15875" y="47625"/>
                    </a:lnTo>
                    <a:cubicBezTo>
                      <a:pt x="7107" y="47625"/>
                      <a:pt x="0" y="40518"/>
                      <a:pt x="0" y="31750"/>
                    </a:cubicBezTo>
                    <a:lnTo>
                      <a:pt x="0" y="15875"/>
                    </a:lnTo>
                  </a:path>
                </a:pathLst>
              </a:custGeom>
              <a:noFill/>
              <a:ln w="15875">
                <a:solidFill>
                  <a:srgbClr val="FFFFFF"/>
                </a:solidFill>
              </a:ln>
            </p:spPr>
          </p:sp>
          <p:sp>
            <p:nvSpPr>
              <p:cNvPr id="19" name="Freeform 19"/>
              <p:cNvSpPr/>
              <p:nvPr/>
            </p:nvSpPr>
            <p:spPr>
              <a:xfrm>
                <a:off x="8215312" y="852487"/>
                <a:ext cx="47625" cy="47625"/>
              </a:xfrm>
              <a:custGeom>
                <a:avLst/>
                <a:gdLst/>
                <a:ahLst/>
                <a:cxnLst/>
                <a:rect l="l" t="t" r="r" b="b"/>
                <a:pathLst>
                  <a:path w="47625" h="47625">
                    <a:moveTo>
                      <a:pt x="0" y="15875"/>
                    </a:moveTo>
                    <a:cubicBezTo>
                      <a:pt x="0" y="7107"/>
                      <a:pt x="7107" y="0"/>
                      <a:pt x="15875" y="0"/>
                    </a:cubicBezTo>
                    <a:lnTo>
                      <a:pt x="31750" y="0"/>
                    </a:lnTo>
                    <a:cubicBezTo>
                      <a:pt x="40518" y="0"/>
                      <a:pt x="47625" y="7107"/>
                      <a:pt x="47625" y="15875"/>
                    </a:cubicBezTo>
                    <a:lnTo>
                      <a:pt x="47625" y="31750"/>
                    </a:lnTo>
                    <a:cubicBezTo>
                      <a:pt x="47625" y="40518"/>
                      <a:pt x="40518" y="47625"/>
                      <a:pt x="31750" y="47625"/>
                    </a:cubicBezTo>
                    <a:lnTo>
                      <a:pt x="15875" y="47625"/>
                    </a:lnTo>
                    <a:cubicBezTo>
                      <a:pt x="7107" y="47625"/>
                      <a:pt x="0" y="40518"/>
                      <a:pt x="0" y="31750"/>
                    </a:cubicBezTo>
                    <a:lnTo>
                      <a:pt x="0" y="15875"/>
                    </a:lnTo>
                  </a:path>
                </a:pathLst>
              </a:custGeom>
              <a:noFill/>
              <a:ln w="15875">
                <a:solidFill>
                  <a:srgbClr val="FFFFFF"/>
                </a:solidFill>
              </a:ln>
            </p:spPr>
          </p:sp>
          <p:sp>
            <p:nvSpPr>
              <p:cNvPr id="20" name="Freeform 20"/>
              <p:cNvSpPr/>
              <p:nvPr/>
            </p:nvSpPr>
            <p:spPr>
              <a:xfrm>
                <a:off x="8167687" y="757237"/>
                <a:ext cx="47625" cy="47625"/>
              </a:xfrm>
              <a:custGeom>
                <a:avLst/>
                <a:gdLst/>
                <a:ahLst/>
                <a:cxnLst/>
                <a:rect l="l" t="t" r="r" b="b"/>
                <a:pathLst>
                  <a:path w="47625" h="47625">
                    <a:moveTo>
                      <a:pt x="0" y="15875"/>
                    </a:moveTo>
                    <a:cubicBezTo>
                      <a:pt x="0" y="7107"/>
                      <a:pt x="7107" y="0"/>
                      <a:pt x="15875" y="0"/>
                    </a:cubicBezTo>
                    <a:lnTo>
                      <a:pt x="31750" y="0"/>
                    </a:lnTo>
                    <a:cubicBezTo>
                      <a:pt x="40518" y="0"/>
                      <a:pt x="47625" y="7107"/>
                      <a:pt x="47625" y="15875"/>
                    </a:cubicBezTo>
                    <a:lnTo>
                      <a:pt x="47625" y="31750"/>
                    </a:lnTo>
                    <a:cubicBezTo>
                      <a:pt x="47625" y="40518"/>
                      <a:pt x="40518" y="47625"/>
                      <a:pt x="31750" y="47625"/>
                    </a:cubicBezTo>
                    <a:lnTo>
                      <a:pt x="15875" y="47625"/>
                    </a:lnTo>
                    <a:cubicBezTo>
                      <a:pt x="7107" y="47625"/>
                      <a:pt x="0" y="40518"/>
                      <a:pt x="0" y="31750"/>
                    </a:cubicBezTo>
                    <a:lnTo>
                      <a:pt x="0" y="15875"/>
                    </a:lnTo>
                  </a:path>
                </a:pathLst>
              </a:custGeom>
              <a:noFill/>
              <a:ln w="15875">
                <a:solidFill>
                  <a:srgbClr val="FFFFFF"/>
                </a:solidFill>
              </a:ln>
            </p:spPr>
          </p:sp>
          <p:sp>
            <p:nvSpPr>
              <p:cNvPr id="21" name="Freeform 21"/>
              <p:cNvSpPr/>
              <p:nvPr/>
            </p:nvSpPr>
            <p:spPr>
              <a:xfrm>
                <a:off x="8143875" y="828675"/>
                <a:ext cx="95250" cy="23812"/>
              </a:xfrm>
              <a:custGeom>
                <a:avLst/>
                <a:gdLst/>
                <a:ahLst/>
                <a:cxnLst/>
                <a:rect l="l" t="t" r="r" b="b"/>
                <a:pathLst>
                  <a:path w="95250" h="23812">
                    <a:moveTo>
                      <a:pt x="0" y="23812"/>
                    </a:moveTo>
                    <a:lnTo>
                      <a:pt x="0" y="15875"/>
                    </a:lnTo>
                    <a:cubicBezTo>
                      <a:pt x="0" y="7107"/>
                      <a:pt x="7107" y="0"/>
                      <a:pt x="15875" y="0"/>
                    </a:cubicBezTo>
                    <a:lnTo>
                      <a:pt x="79375" y="0"/>
                    </a:lnTo>
                    <a:cubicBezTo>
                      <a:pt x="88142" y="0"/>
                      <a:pt x="95250" y="7107"/>
                      <a:pt x="95250" y="15875"/>
                    </a:cubicBezTo>
                    <a:lnTo>
                      <a:pt x="95250" y="23812"/>
                    </a:lnTo>
                  </a:path>
                </a:pathLst>
              </a:custGeom>
              <a:noFill/>
              <a:ln w="15875">
                <a:solidFill>
                  <a:srgbClr val="FFFFFF"/>
                </a:solidFill>
              </a:ln>
            </p:spPr>
          </p:sp>
          <p:sp>
            <p:nvSpPr>
              <p:cNvPr id="22" name="Freeform 22"/>
              <p:cNvSpPr/>
              <p:nvPr/>
            </p:nvSpPr>
            <p:spPr>
              <a:xfrm>
                <a:off x="8191500" y="804862"/>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24" name="TextBox 24"/>
            <p:cNvSpPr txBox="1"/>
            <p:nvPr/>
          </p:nvSpPr>
          <p:spPr>
            <a:xfrm>
              <a:off x="8803450" y="715089"/>
              <a:ext cx="2281301" cy="269081"/>
            </a:xfrm>
            <a:prstGeom prst="rect">
              <a:avLst/>
            </a:prstGeom>
            <a:noFill/>
            <a:ln>
              <a:noFill/>
            </a:ln>
          </p:spPr>
          <p:txBody>
            <a:bodyPr wrap="none" lIns="0" tIns="0" rIns="0" bIns="0" anchor="t" anchorCtr="0">
              <a:spAutoFit/>
            </a:bodyPr>
            <a:lstStyle/>
            <a:p>
              <a:pPr algn="ctr">
                <a:lnSpc>
                  <a:spcPts val="900"/>
                </a:lnSpc>
              </a:pPr>
              <a:r>
                <a:rPr lang="zh-CN" sz="790" b="1" dirty="0">
                  <a:solidFill>
                    <a:srgbClr val="FFFFFF"/>
                  </a:solidFill>
                  <a:latin typeface="+mn-lt"/>
                  <a:ea typeface="+mn-ea"/>
                  <a:cs typeface="+mn-cs"/>
                </a:rPr>
                <a:t>​​阶段三：10–18个月​​</a:t>
              </a:r>
            </a:p>
            <a:p>
              <a:pPr algn="ctr">
                <a:lnSpc>
                  <a:spcPts val="900"/>
                </a:lnSpc>
              </a:pPr>
              <a:r>
                <a:rPr lang="zh-CN" sz="640" dirty="0">
                  <a:solidFill>
                    <a:srgbClr val="FFFFFF"/>
                  </a:solidFill>
                  <a:latin typeface="+mn-lt"/>
                  <a:ea typeface="+mn-ea"/>
                  <a:cs typeface="+mn-cs"/>
                </a:rPr>
                <a:t>​​​企业级编排，持续优化（Enterprise Orchestration）​​​</a:t>
              </a:r>
            </a:p>
          </p:txBody>
        </p:sp>
        <p:sp>
          <p:nvSpPr>
            <p:cNvPr id="25" name="Rectangle 25"/>
            <p:cNvSpPr/>
            <p:nvPr/>
          </p:nvSpPr>
          <p:spPr>
            <a:xfrm>
              <a:off x="342900" y="971550"/>
              <a:ext cx="3752850" cy="838200"/>
            </a:xfrm>
            <a:prstGeom prst="rect">
              <a:avLst/>
            </a:prstGeom>
            <a:solidFill>
              <a:srgbClr val="FFF8F2"/>
            </a:solidFill>
            <a:ln w="9525">
              <a:solidFill>
                <a:srgbClr val="F0B8AE"/>
              </a:solidFill>
            </a:ln>
          </p:spPr>
        </p:sp>
        <p:sp>
          <p:nvSpPr>
            <p:cNvPr id="26" name="TextBox 26"/>
            <p:cNvSpPr txBox="1"/>
            <p:nvPr/>
          </p:nvSpPr>
          <p:spPr>
            <a:xfrm>
              <a:off x="452438" y="1108234"/>
              <a:ext cx="1925193" cy="457200"/>
            </a:xfrm>
            <a:prstGeom prst="rect">
              <a:avLst/>
            </a:prstGeom>
            <a:noFill/>
            <a:ln>
              <a:noFill/>
            </a:ln>
          </p:spPr>
          <p:txBody>
            <a:bodyPr wrap="none" lIns="0" tIns="0" rIns="0" bIns="0" anchor="t" anchorCtr="0">
              <a:spAutoFit/>
            </a:bodyPr>
            <a:lstStyle/>
            <a:p>
              <a:pPr algn="l" marL="76200" indent="-76200">
                <a:lnSpc>
                  <a:spcPts val="1275"/>
                </a:lnSpc>
                <a:buClr>
                  <a:srgbClr val="3D3835"/>
                </a:buClr>
                <a:buSzTx/>
                <a:buFontTx/>
                <a:buChar char="•"/>
              </a:pPr>
              <a:r>
                <a:rPr lang="zh-CN" sz="680" dirty="0">
                  <a:solidFill>
                    <a:srgbClr val="3D3835"/>
                  </a:solidFill>
                  <a:latin typeface="+mn-lt"/>
                  <a:ea typeface="+mn-ea"/>
                  <a:cs typeface="+mn-cs"/>
                </a:rPr>
                <a:t>明确价值场景与优先客群，推进最小可行能力​​</a:t>
              </a:r>
            </a:p>
            <a:p>
              <a:pPr algn="l" marL="76200" indent="-76200">
                <a:lnSpc>
                  <a:spcPts val="1275"/>
                </a:lnSpc>
                <a:buClr>
                  <a:srgbClr val="3D3835"/>
                </a:buClr>
                <a:buSzTx/>
                <a:buFontTx/>
                <a:buChar char="•"/>
              </a:pPr>
              <a:r>
                <a:rPr lang="zh-CN" sz="680" dirty="0">
                  <a:solidFill>
                    <a:srgbClr val="3D3835"/>
                  </a:solidFill>
                  <a:latin typeface="+mn-lt"/>
                  <a:ea typeface="+mn-ea"/>
                  <a:cs typeface="+mn-cs"/>
                </a:rPr>
                <a:t>完成数据与平台基线，启动2–3个高价值试点​​​</a:t>
              </a:r>
            </a:p>
            <a:p>
              <a:pPr algn="l" marL="76200" indent="-76200">
                <a:lnSpc>
                  <a:spcPts val="1275"/>
                </a:lnSpc>
                <a:buClr>
                  <a:srgbClr val="3D3835"/>
                </a:buClr>
                <a:buSzTx/>
                <a:buFontTx/>
                <a:buChar char="•"/>
              </a:pPr>
              <a:r>
                <a:rPr lang="zh-CN" sz="680" dirty="0">
                  <a:solidFill>
                    <a:srgbClr val="3D3835"/>
                  </a:solidFill>
                  <a:latin typeface="+mn-lt"/>
                  <a:ea typeface="+mn-ea"/>
                  <a:cs typeface="+mn-cs"/>
                </a:rPr>
                <a:t>建立度量体系与治理机制，验证早期成效​​</a:t>
              </a:r>
            </a:p>
          </p:txBody>
        </p:sp>
        <p:sp>
          <p:nvSpPr>
            <p:cNvPr id="27" name="Rectangle 27"/>
            <p:cNvSpPr/>
            <p:nvPr/>
          </p:nvSpPr>
          <p:spPr>
            <a:xfrm>
              <a:off x="4171950" y="971550"/>
              <a:ext cx="3752850" cy="838200"/>
            </a:xfrm>
            <a:prstGeom prst="rect">
              <a:avLst/>
            </a:prstGeom>
            <a:solidFill>
              <a:srgbClr val="FFF8F2"/>
            </a:solidFill>
            <a:ln w="9525">
              <a:solidFill>
                <a:srgbClr val="F0B8AE"/>
              </a:solidFill>
            </a:ln>
          </p:spPr>
        </p:sp>
        <p:sp>
          <p:nvSpPr>
            <p:cNvPr id="28" name="TextBox 28"/>
            <p:cNvSpPr txBox="1"/>
            <p:nvPr/>
          </p:nvSpPr>
          <p:spPr>
            <a:xfrm>
              <a:off x="4281488" y="1108234"/>
              <a:ext cx="2080641" cy="457200"/>
            </a:xfrm>
            <a:prstGeom prst="rect">
              <a:avLst/>
            </a:prstGeom>
            <a:noFill/>
            <a:ln>
              <a:noFill/>
            </a:ln>
          </p:spPr>
          <p:txBody>
            <a:bodyPr wrap="none" lIns="0" tIns="0" rIns="0" bIns="0" anchor="t" anchorCtr="0">
              <a:spAutoFit/>
            </a:bodyPr>
            <a:lstStyle/>
            <a:p>
              <a:pPr algn="l" marL="76200" indent="-76200">
                <a:lnSpc>
                  <a:spcPts val="1275"/>
                </a:lnSpc>
                <a:buClr>
                  <a:srgbClr val="3D3835"/>
                </a:buClr>
                <a:buSzTx/>
                <a:buFontTx/>
                <a:buChar char="•"/>
              </a:pPr>
              <a:r>
                <a:rPr lang="zh-CN" sz="680" dirty="0">
                  <a:solidFill>
                    <a:srgbClr val="3D3835"/>
                  </a:solidFill>
                  <a:latin typeface="+mn-lt"/>
                  <a:ea typeface="+mn-ea"/>
                  <a:cs typeface="+mn-cs"/>
                </a:rPr>
                <a:t>扩展至重点客群与核心场景，优化旅程与触达协同​​</a:t>
              </a:r>
            </a:p>
            <a:p>
              <a:pPr algn="l" marL="76200" indent="-76200">
                <a:lnSpc>
                  <a:spcPts val="1275"/>
                </a:lnSpc>
                <a:buClr>
                  <a:srgbClr val="3D3835"/>
                </a:buClr>
                <a:buSzTx/>
                <a:buFontTx/>
                <a:buChar char="•"/>
              </a:pPr>
              <a:r>
                <a:rPr lang="zh-CN" sz="680" dirty="0">
                  <a:solidFill>
                    <a:srgbClr val="3D3835"/>
                  </a:solidFill>
                  <a:latin typeface="+mn-lt"/>
                  <a:ea typeface="+mn-ea"/>
                  <a:cs typeface="+mn-cs"/>
                </a:rPr>
                <a:t>上线AI模型提升洞察与个性化水平​​​</a:t>
              </a:r>
            </a:p>
            <a:p>
              <a:pPr algn="l" marL="76200" indent="-76200">
                <a:lnSpc>
                  <a:spcPts val="1275"/>
                </a:lnSpc>
                <a:buClr>
                  <a:srgbClr val="3D3835"/>
                </a:buClr>
                <a:buSzTx/>
                <a:buFontTx/>
                <a:buChar char="•"/>
              </a:pPr>
              <a:r>
                <a:rPr lang="zh-CN" sz="680" dirty="0">
                  <a:solidFill>
                    <a:srgbClr val="3D3835"/>
                  </a:solidFill>
                  <a:latin typeface="+mn-lt"/>
                  <a:ea typeface="+mn-ea"/>
                  <a:cs typeface="+mn-cs"/>
                </a:rPr>
                <a:t>打通数据与平台能力，沉淀可复用组件与运营机制​​</a:t>
              </a:r>
            </a:p>
          </p:txBody>
        </p:sp>
        <p:sp>
          <p:nvSpPr>
            <p:cNvPr id="29" name="Rectangle 29"/>
            <p:cNvSpPr/>
            <p:nvPr/>
          </p:nvSpPr>
          <p:spPr>
            <a:xfrm>
              <a:off x="8001000" y="971550"/>
              <a:ext cx="3810000" cy="838200"/>
            </a:xfrm>
            <a:prstGeom prst="rect">
              <a:avLst/>
            </a:prstGeom>
            <a:solidFill>
              <a:srgbClr val="FFF8F2"/>
            </a:solidFill>
            <a:ln w="9525">
              <a:solidFill>
                <a:srgbClr val="F0B8AE"/>
              </a:solidFill>
            </a:ln>
          </p:spPr>
        </p:sp>
        <p:sp>
          <p:nvSpPr>
            <p:cNvPr id="30" name="TextBox 30"/>
            <p:cNvSpPr txBox="1"/>
            <p:nvPr/>
          </p:nvSpPr>
          <p:spPr>
            <a:xfrm>
              <a:off x="8110538" y="1108234"/>
              <a:ext cx="1942465" cy="457200"/>
            </a:xfrm>
            <a:prstGeom prst="rect">
              <a:avLst/>
            </a:prstGeom>
            <a:noFill/>
            <a:ln>
              <a:noFill/>
            </a:ln>
          </p:spPr>
          <p:txBody>
            <a:bodyPr wrap="none" lIns="0" tIns="0" rIns="0" bIns="0" anchor="t" anchorCtr="0">
              <a:spAutoFit/>
            </a:bodyPr>
            <a:lstStyle/>
            <a:p>
              <a:pPr algn="l" marL="76200" indent="-76200">
                <a:lnSpc>
                  <a:spcPts val="1275"/>
                </a:lnSpc>
                <a:buClr>
                  <a:srgbClr val="3D3835"/>
                </a:buClr>
                <a:buSzTx/>
                <a:buFontTx/>
                <a:buChar char="•"/>
              </a:pPr>
              <a:r>
                <a:rPr lang="zh-CN" sz="680" dirty="0">
                  <a:solidFill>
                    <a:srgbClr val="3D3835"/>
                  </a:solidFill>
                  <a:latin typeface="+mn-lt"/>
                  <a:ea typeface="+mn-ea"/>
                  <a:cs typeface="+mn-cs"/>
                </a:rPr>
                <a:t>实现跨产品、跨渠道、跨区域统一编排​​</a:t>
              </a:r>
            </a:p>
            <a:p>
              <a:pPr algn="l" marL="76200" indent="-76200">
                <a:lnSpc>
                  <a:spcPts val="1275"/>
                </a:lnSpc>
                <a:buClr>
                  <a:srgbClr val="3D3835"/>
                </a:buClr>
                <a:buSzTx/>
                <a:buFontTx/>
                <a:buChar char="•"/>
              </a:pPr>
              <a:r>
                <a:rPr lang="zh-CN" sz="680" dirty="0">
                  <a:solidFill>
                    <a:srgbClr val="3D3835"/>
                  </a:solidFill>
                  <a:latin typeface="+mn-lt"/>
                  <a:ea typeface="+mn-ea"/>
                  <a:cs typeface="+mn-cs"/>
                </a:rPr>
                <a:t>规模化应用AI与自动化，驱动效率与体验提升​​​</a:t>
              </a:r>
            </a:p>
            <a:p>
              <a:pPr algn="l" marL="76200" indent="-76200">
                <a:lnSpc>
                  <a:spcPts val="1275"/>
                </a:lnSpc>
                <a:buClr>
                  <a:srgbClr val="3D3835"/>
                </a:buClr>
                <a:buSzTx/>
                <a:buFontTx/>
                <a:buChar char="•"/>
              </a:pPr>
              <a:r>
                <a:rPr lang="zh-CN" sz="680" dirty="0">
                  <a:solidFill>
                    <a:srgbClr val="3D3835"/>
                  </a:solidFill>
                  <a:latin typeface="+mn-lt"/>
                  <a:ea typeface="+mn-ea"/>
                  <a:cs typeface="+mn-cs"/>
                </a:rPr>
                <a:t>建立持续优化闭环，沉淀方法论并复制推广​​</a:t>
              </a:r>
            </a:p>
          </p:txBody>
        </p:sp>
      </p:grpSp>
      <p:grpSp>
        <p:nvGrpSpPr>
          <p:cNvPr id="99" name="workstream-matrix"/>
          <p:cNvGrpSpPr/>
          <p:nvPr/>
        </p:nvGrpSpPr>
        <p:grpSpPr>
          <a:xfrm>
            <a:off x="342900" y="1905000"/>
            <a:ext cx="6134100" cy="2952750"/>
            <a:chOff x="342900" y="1905000"/>
            <a:chExt cx="6134100" cy="2952750"/>
          </a:xfrm>
        </p:grpSpPr>
        <p:sp>
          <p:nvSpPr>
            <p:cNvPr id="32" name="Rectangle 32"/>
            <p:cNvSpPr/>
            <p:nvPr/>
          </p:nvSpPr>
          <p:spPr>
            <a:xfrm>
              <a:off x="342900" y="1905000"/>
              <a:ext cx="6134100" cy="209550"/>
            </a:xfrm>
            <a:prstGeom prst="rect">
              <a:avLst/>
            </a:prstGeom>
            <a:solidFill>
              <a:srgbClr val="C41D00"/>
            </a:solidFill>
            <a:ln>
              <a:noFill/>
            </a:ln>
          </p:spPr>
        </p:sp>
        <p:sp>
          <p:nvSpPr>
            <p:cNvPr id="33" name="TextBox 33"/>
            <p:cNvSpPr txBox="1"/>
            <p:nvPr/>
          </p:nvSpPr>
          <p:spPr>
            <a:xfrm>
              <a:off x="861187" y="1970961"/>
              <a:ext cx="48742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六大工作流</a:t>
              </a:r>
            </a:p>
          </p:txBody>
        </p:sp>
        <p:sp>
          <p:nvSpPr>
            <p:cNvPr id="34" name="TextBox 34"/>
            <p:cNvSpPr txBox="1"/>
            <p:nvPr/>
          </p:nvSpPr>
          <p:spPr>
            <a:xfrm>
              <a:off x="2144205" y="1970961"/>
              <a:ext cx="96938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​​阶段一：0–3个月​​</a:t>
              </a:r>
            </a:p>
          </p:txBody>
        </p:sp>
        <p:sp>
          <p:nvSpPr>
            <p:cNvPr id="35" name="TextBox 35"/>
            <p:cNvSpPr txBox="1"/>
            <p:nvPr/>
          </p:nvSpPr>
          <p:spPr>
            <a:xfrm>
              <a:off x="3677730" y="1970961"/>
              <a:ext cx="96938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​​阶段二：4–9个月​​</a:t>
              </a:r>
            </a:p>
          </p:txBody>
        </p:sp>
        <p:sp>
          <p:nvSpPr>
            <p:cNvPr id="36" name="TextBox 36"/>
            <p:cNvSpPr txBox="1"/>
            <p:nvPr/>
          </p:nvSpPr>
          <p:spPr>
            <a:xfrm>
              <a:off x="5165583" y="1970961"/>
              <a:ext cx="1079784"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​​阶段三：10–18个月​​</a:t>
              </a:r>
            </a:p>
          </p:txBody>
        </p:sp>
        <p:sp>
          <p:nvSpPr>
            <p:cNvPr id="37" name="Rectangle 37"/>
            <p:cNvSpPr/>
            <p:nvPr/>
          </p:nvSpPr>
          <p:spPr>
            <a:xfrm>
              <a:off x="342900" y="2114550"/>
              <a:ext cx="6134100" cy="2743200"/>
            </a:xfrm>
            <a:prstGeom prst="rect">
              <a:avLst/>
            </a:prstGeom>
            <a:solidFill>
              <a:srgbClr val="FFFFFF"/>
            </a:solidFill>
            <a:ln w="9525">
              <a:solidFill>
                <a:srgbClr val="F0B8AE"/>
              </a:solidFill>
            </a:ln>
          </p:spPr>
        </p:sp>
        <p:sp>
          <p:nvSpPr>
            <p:cNvPr id="38" name="Rectangle 38"/>
            <p:cNvSpPr/>
            <p:nvPr/>
          </p:nvSpPr>
          <p:spPr>
            <a:xfrm>
              <a:off x="342900" y="2571750"/>
              <a:ext cx="6134100" cy="457200"/>
            </a:xfrm>
            <a:prstGeom prst="rect">
              <a:avLst/>
            </a:prstGeom>
            <a:solidFill>
              <a:srgbClr val="FFF8F2"/>
            </a:solidFill>
            <a:ln>
              <a:noFill/>
            </a:ln>
          </p:spPr>
        </p:sp>
        <p:sp>
          <p:nvSpPr>
            <p:cNvPr id="39" name="Rectangle 39"/>
            <p:cNvSpPr/>
            <p:nvPr/>
          </p:nvSpPr>
          <p:spPr>
            <a:xfrm>
              <a:off x="342900" y="3486150"/>
              <a:ext cx="6134100" cy="457200"/>
            </a:xfrm>
            <a:prstGeom prst="rect">
              <a:avLst/>
            </a:prstGeom>
            <a:solidFill>
              <a:srgbClr val="FFF8F2"/>
            </a:solidFill>
            <a:ln>
              <a:noFill/>
            </a:ln>
          </p:spPr>
        </p:sp>
        <p:sp>
          <p:nvSpPr>
            <p:cNvPr id="40" name="Rectangle 40"/>
            <p:cNvSpPr/>
            <p:nvPr/>
          </p:nvSpPr>
          <p:spPr>
            <a:xfrm>
              <a:off x="342900" y="4400550"/>
              <a:ext cx="6134100" cy="457200"/>
            </a:xfrm>
            <a:prstGeom prst="rect">
              <a:avLst/>
            </a:prstGeom>
            <a:solidFill>
              <a:srgbClr val="FFF8F2"/>
            </a:solidFill>
            <a:ln>
              <a:noFill/>
            </a:ln>
          </p:spPr>
        </p:sp>
        <p:grpSp>
          <p:nvGrpSpPr>
            <p:cNvPr id="44" name="Group 44"/>
            <p:cNvGrpSpPr/>
            <p:nvPr/>
          </p:nvGrpSpPr>
          <p:grpSpPr>
            <a:xfrm>
              <a:off x="438150" y="2286000"/>
              <a:ext cx="114300" cy="114300"/>
              <a:chOff x="438150" y="2286000"/>
              <a:chExt cx="114300" cy="114300"/>
            </a:xfrm>
          </p:grpSpPr>
          <p:sp>
            <p:nvSpPr>
              <p:cNvPr id="41" name="Freeform 41"/>
              <p:cNvSpPr/>
              <p:nvPr/>
            </p:nvSpPr>
            <p:spPr>
              <a:xfrm>
                <a:off x="488950" y="23368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D82000"/>
                </a:solidFill>
              </a:ln>
            </p:spPr>
          </p:sp>
          <p:sp>
            <p:nvSpPr>
              <p:cNvPr id="42" name="Freeform 42"/>
              <p:cNvSpPr/>
              <p:nvPr/>
            </p:nvSpPr>
            <p:spPr>
              <a:xfrm>
                <a:off x="463550" y="23114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D82000"/>
                </a:solidFill>
              </a:ln>
            </p:spPr>
          </p:sp>
          <p:sp>
            <p:nvSpPr>
              <p:cNvPr id="43" name="Freeform 43"/>
              <p:cNvSpPr/>
              <p:nvPr/>
            </p:nvSpPr>
            <p:spPr>
              <a:xfrm>
                <a:off x="438150" y="22860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D82000"/>
                </a:solidFill>
              </a:ln>
            </p:spPr>
          </p:sp>
        </p:grpSp>
        <p:sp>
          <p:nvSpPr>
            <p:cNvPr id="45" name="TextBox 45"/>
            <p:cNvSpPr txBox="1"/>
            <p:nvPr/>
          </p:nvSpPr>
          <p:spPr>
            <a:xfrm>
              <a:off x="623888" y="2308384"/>
              <a:ext cx="890613"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1. 战略与细分客群​​</a:t>
              </a:r>
            </a:p>
          </p:txBody>
        </p:sp>
        <p:sp>
          <p:nvSpPr>
            <p:cNvPr id="46" name="TextBox 46"/>
            <p:cNvSpPr txBox="1"/>
            <p:nvPr/>
          </p:nvSpPr>
          <p:spPr>
            <a:xfrm>
              <a:off x="1919288" y="2202180"/>
              <a:ext cx="1083945" cy="3476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明确北极星指标与优先客群​​</a:t>
              </a:r>
              <a:br/>
              <a:r>
                <a:rPr lang="zh-CN" sz="600" dirty="0">
                  <a:solidFill>
                    <a:srgbClr val="3D3835"/>
                  </a:solidFill>
                  <a:latin typeface="+mn-lt"/>
                  <a:ea typeface="+mn-ea"/>
                  <a:cs typeface="+mn-cs"/>
                </a:rPr>
                <a:t>（3–5类）​​</a:t>
              </a:r>
            </a:p>
            <a:p>
              <a:pPr algn="l" marL="76200" indent="-76200">
                <a:lnSpc>
                  <a:spcPts val="900"/>
                </a:lnSpc>
                <a:buClr>
                  <a:srgbClr val="3D3835"/>
                </a:buClr>
                <a:buSzTx/>
                <a:buFontTx/>
                <a:buChar char="•"/>
              </a:pPr>
              <a:r>
                <a:rPr lang="zh-CN" sz="600" dirty="0">
                  <a:solidFill>
                    <a:srgbClr val="3D3835"/>
                  </a:solidFill>
                  <a:latin typeface="+mn-lt"/>
                  <a:ea typeface="+mn-ea"/>
                  <a:cs typeface="+mn-cs"/>
                </a:rPr>
                <a:t>建立细分标准与价值框架​​</a:t>
              </a:r>
            </a:p>
          </p:txBody>
        </p:sp>
        <p:sp>
          <p:nvSpPr>
            <p:cNvPr id="47" name="TextBox 47"/>
            <p:cNvSpPr txBox="1"/>
            <p:nvPr/>
          </p:nvSpPr>
          <p:spPr>
            <a:xfrm>
              <a:off x="3452812" y="2259330"/>
              <a:ext cx="10077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完善客群分层与动态分群​​</a:t>
              </a:r>
            </a:p>
            <a:p>
              <a:pPr algn="l" marL="76200" indent="-76200">
                <a:lnSpc>
                  <a:spcPts val="900"/>
                </a:lnSpc>
                <a:buClr>
                  <a:srgbClr val="3D3835"/>
                </a:buClr>
                <a:buSzTx/>
                <a:buFontTx/>
                <a:buChar char="•"/>
              </a:pPr>
              <a:r>
                <a:rPr lang="zh-CN" sz="600" dirty="0">
                  <a:solidFill>
                    <a:srgbClr val="3D3835"/>
                  </a:solidFill>
                  <a:latin typeface="+mn-lt"/>
                  <a:ea typeface="+mn-ea"/>
                  <a:cs typeface="+mn-cs"/>
                </a:rPr>
                <a:t>客群价值评估与落地地图​​</a:t>
              </a:r>
            </a:p>
          </p:txBody>
        </p:sp>
        <p:sp>
          <p:nvSpPr>
            <p:cNvPr id="48" name="TextBox 48"/>
            <p:cNvSpPr txBox="1"/>
            <p:nvPr/>
          </p:nvSpPr>
          <p:spPr>
            <a:xfrm>
              <a:off x="4986338" y="2259330"/>
              <a:ext cx="11601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客群策略持续迭代与区域复制​​</a:t>
              </a:r>
            </a:p>
            <a:p>
              <a:pPr algn="l" marL="76200" indent="-76200">
                <a:lnSpc>
                  <a:spcPts val="900"/>
                </a:lnSpc>
                <a:buClr>
                  <a:srgbClr val="3D3835"/>
                </a:buClr>
                <a:buSzTx/>
                <a:buFontTx/>
                <a:buChar char="•"/>
              </a:pPr>
              <a:r>
                <a:rPr lang="zh-CN" sz="600" dirty="0">
                  <a:solidFill>
                    <a:srgbClr val="3D3835"/>
                  </a:solidFill>
                  <a:latin typeface="+mn-lt"/>
                  <a:ea typeface="+mn-ea"/>
                  <a:cs typeface="+mn-cs"/>
                </a:rPr>
                <a:t>客群全生命周期价值提升​​</a:t>
              </a:r>
            </a:p>
          </p:txBody>
        </p:sp>
        <p:grpSp>
          <p:nvGrpSpPr>
            <p:cNvPr id="53" name="Group 53"/>
            <p:cNvGrpSpPr/>
            <p:nvPr/>
          </p:nvGrpSpPr>
          <p:grpSpPr>
            <a:xfrm>
              <a:off x="438150" y="2749550"/>
              <a:ext cx="114300" cy="101600"/>
              <a:chOff x="438150" y="2749550"/>
              <a:chExt cx="114300" cy="101600"/>
            </a:xfrm>
          </p:grpSpPr>
          <p:sp>
            <p:nvSpPr>
              <p:cNvPr id="49" name="Freeform 49"/>
              <p:cNvSpPr/>
              <p:nvPr/>
            </p:nvSpPr>
            <p:spPr>
              <a:xfrm>
                <a:off x="438150" y="2768600"/>
                <a:ext cx="114300" cy="9525"/>
              </a:xfrm>
              <a:custGeom>
                <a:avLst/>
                <a:gdLst/>
                <a:ahLst/>
                <a:cxnLst/>
                <a:rect l="l" t="t" r="r" b="b"/>
                <a:pathLst>
                  <a:path w="114300" h="9525">
                    <a:moveTo>
                      <a:pt x="114300" y="0"/>
                    </a:moveTo>
                    <a:lnTo>
                      <a:pt x="0" y="0"/>
                    </a:lnTo>
                  </a:path>
                </a:pathLst>
              </a:custGeom>
              <a:noFill/>
              <a:ln w="12700">
                <a:solidFill>
                  <a:srgbClr val="D82000"/>
                </a:solidFill>
              </a:ln>
            </p:spPr>
          </p:sp>
          <p:sp>
            <p:nvSpPr>
              <p:cNvPr id="50" name="Freeform 50"/>
              <p:cNvSpPr/>
              <p:nvPr/>
            </p:nvSpPr>
            <p:spPr>
              <a:xfrm>
                <a:off x="533400" y="2749550"/>
                <a:ext cx="19050" cy="38100"/>
              </a:xfrm>
              <a:custGeom>
                <a:avLst/>
                <a:gdLst/>
                <a:ahLst/>
                <a:cxnLst/>
                <a:rect l="l" t="t" r="r" b="b"/>
                <a:pathLst>
                  <a:path w="19050" h="38100">
                    <a:moveTo>
                      <a:pt x="0" y="38100"/>
                    </a:moveTo>
                    <a:lnTo>
                      <a:pt x="19050" y="19050"/>
                    </a:lnTo>
                    <a:lnTo>
                      <a:pt x="0" y="0"/>
                    </a:lnTo>
                  </a:path>
                </a:pathLst>
              </a:custGeom>
              <a:noFill/>
              <a:ln w="12700">
                <a:solidFill>
                  <a:srgbClr val="D82000"/>
                </a:solidFill>
              </a:ln>
            </p:spPr>
          </p:sp>
          <p:sp>
            <p:nvSpPr>
              <p:cNvPr id="51" name="Freeform 51"/>
              <p:cNvSpPr/>
              <p:nvPr/>
            </p:nvSpPr>
            <p:spPr>
              <a:xfrm>
                <a:off x="438150" y="2813050"/>
                <a:ext cx="19050" cy="38100"/>
              </a:xfrm>
              <a:custGeom>
                <a:avLst/>
                <a:gdLst/>
                <a:ahLst/>
                <a:cxnLst/>
                <a:rect l="l" t="t" r="r" b="b"/>
                <a:pathLst>
                  <a:path w="19050" h="38100">
                    <a:moveTo>
                      <a:pt x="19050" y="38100"/>
                    </a:moveTo>
                    <a:lnTo>
                      <a:pt x="0" y="19050"/>
                    </a:lnTo>
                    <a:lnTo>
                      <a:pt x="19050" y="0"/>
                    </a:lnTo>
                  </a:path>
                </a:pathLst>
              </a:custGeom>
              <a:noFill/>
              <a:ln w="12700">
                <a:solidFill>
                  <a:srgbClr val="D82000"/>
                </a:solidFill>
              </a:ln>
            </p:spPr>
          </p:sp>
          <p:sp>
            <p:nvSpPr>
              <p:cNvPr id="52" name="Freeform 52"/>
              <p:cNvSpPr/>
              <p:nvPr/>
            </p:nvSpPr>
            <p:spPr>
              <a:xfrm>
                <a:off x="438150" y="2832100"/>
                <a:ext cx="114300" cy="9525"/>
              </a:xfrm>
              <a:custGeom>
                <a:avLst/>
                <a:gdLst/>
                <a:ahLst/>
                <a:cxnLst/>
                <a:rect l="l" t="t" r="r" b="b"/>
                <a:pathLst>
                  <a:path w="114300" h="9525">
                    <a:moveTo>
                      <a:pt x="0" y="0"/>
                    </a:moveTo>
                    <a:lnTo>
                      <a:pt x="114300" y="0"/>
                    </a:lnTo>
                  </a:path>
                </a:pathLst>
              </a:custGeom>
              <a:noFill/>
              <a:ln w="12700">
                <a:solidFill>
                  <a:srgbClr val="D82000"/>
                </a:solidFill>
              </a:ln>
            </p:spPr>
          </p:sp>
        </p:grpSp>
        <p:sp>
          <p:nvSpPr>
            <p:cNvPr id="54" name="TextBox 54"/>
            <p:cNvSpPr txBox="1"/>
            <p:nvPr/>
          </p:nvSpPr>
          <p:spPr>
            <a:xfrm>
              <a:off x="623888" y="2765584"/>
              <a:ext cx="890613"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2. 客户旅程与场景​​</a:t>
              </a:r>
            </a:p>
          </p:txBody>
        </p:sp>
        <p:sp>
          <p:nvSpPr>
            <p:cNvPr id="55" name="TextBox 55"/>
            <p:cNvSpPr txBox="1"/>
            <p:nvPr/>
          </p:nvSpPr>
          <p:spPr>
            <a:xfrm>
              <a:off x="1919288" y="2659380"/>
              <a:ext cx="1022985" cy="3476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绘制关键旅程（3–5个）​​​</a:t>
              </a:r>
              <a:br/>
              <a:r>
                <a:rPr lang="zh-CN" sz="600" dirty="0">
                  <a:solidFill>
                    <a:srgbClr val="3D3835"/>
                  </a:solidFill>
                  <a:latin typeface="+mn-lt"/>
                  <a:ea typeface="+mn-ea"/>
                  <a:cs typeface="+mn-cs"/>
                </a:rPr>
                <a:t>与痛点地图</a:t>
              </a:r>
            </a:p>
            <a:p>
              <a:pPr algn="l" marL="76200" indent="-76200">
                <a:lnSpc>
                  <a:spcPts val="900"/>
                </a:lnSpc>
                <a:buClr>
                  <a:srgbClr val="3D3835"/>
                </a:buClr>
                <a:buSzTx/>
                <a:buFontTx/>
                <a:buChar char="•"/>
              </a:pPr>
              <a:r>
                <a:rPr lang="zh-CN" sz="600" dirty="0">
                  <a:solidFill>
                    <a:srgbClr val="3D3835"/>
                  </a:solidFill>
                  <a:latin typeface="+mn-lt"/>
                  <a:ea typeface="+mn-ea"/>
                  <a:cs typeface="+mn-cs"/>
                </a:rPr>
                <a:t>设计并试点高价值旅程​​</a:t>
              </a:r>
            </a:p>
          </p:txBody>
        </p:sp>
        <p:sp>
          <p:nvSpPr>
            <p:cNvPr id="56" name="TextBox 56"/>
            <p:cNvSpPr txBox="1"/>
            <p:nvPr/>
          </p:nvSpPr>
          <p:spPr>
            <a:xfrm>
              <a:off x="3452812" y="2716530"/>
              <a:ext cx="10077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扩展旅程覆盖与触点协同​​</a:t>
              </a:r>
            </a:p>
            <a:p>
              <a:pPr algn="l" marL="76200" indent="-76200">
                <a:lnSpc>
                  <a:spcPts val="900"/>
                </a:lnSpc>
                <a:buClr>
                  <a:srgbClr val="3D3835"/>
                </a:buClr>
                <a:buSzTx/>
                <a:buFontTx/>
                <a:buChar char="•"/>
              </a:pPr>
              <a:r>
                <a:rPr lang="zh-CN" sz="600" dirty="0">
                  <a:solidFill>
                    <a:srgbClr val="3D3835"/>
                  </a:solidFill>
                  <a:latin typeface="+mn-lt"/>
                  <a:ea typeface="+mn-ea"/>
                  <a:cs typeface="+mn-cs"/>
                </a:rPr>
                <a:t>场景库沉淀与复用​​</a:t>
              </a:r>
            </a:p>
          </p:txBody>
        </p:sp>
        <p:sp>
          <p:nvSpPr>
            <p:cNvPr id="57" name="TextBox 57"/>
            <p:cNvSpPr txBox="1"/>
            <p:nvPr/>
          </p:nvSpPr>
          <p:spPr>
            <a:xfrm>
              <a:off x="4986338" y="2716530"/>
              <a:ext cx="10839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全渠道旅程编排与实时响应​​</a:t>
              </a:r>
            </a:p>
            <a:p>
              <a:pPr algn="l" marL="76200" indent="-76200">
                <a:lnSpc>
                  <a:spcPts val="900"/>
                </a:lnSpc>
                <a:buClr>
                  <a:srgbClr val="3D3835"/>
                </a:buClr>
                <a:buSzTx/>
                <a:buFontTx/>
                <a:buChar char="•"/>
              </a:pPr>
              <a:r>
                <a:rPr lang="zh-CN" sz="600" dirty="0">
                  <a:solidFill>
                    <a:srgbClr val="3D3835"/>
                  </a:solidFill>
                  <a:latin typeface="+mn-lt"/>
                  <a:ea typeface="+mn-ea"/>
                  <a:cs typeface="+mn-cs"/>
                </a:rPr>
                <a:t>AI驱动场景优化​​</a:t>
              </a:r>
            </a:p>
          </p:txBody>
        </p:sp>
        <p:grpSp>
          <p:nvGrpSpPr>
            <p:cNvPr id="61" name="Group 61"/>
            <p:cNvGrpSpPr/>
            <p:nvPr/>
          </p:nvGrpSpPr>
          <p:grpSpPr>
            <a:xfrm>
              <a:off x="444500" y="3200400"/>
              <a:ext cx="101600" cy="114300"/>
              <a:chOff x="444500" y="3200400"/>
              <a:chExt cx="101600" cy="114300"/>
            </a:xfrm>
          </p:grpSpPr>
          <p:sp>
            <p:nvSpPr>
              <p:cNvPr id="58" name="Freeform 58"/>
              <p:cNvSpPr/>
              <p:nvPr/>
            </p:nvSpPr>
            <p:spPr>
              <a:xfrm>
                <a:off x="444500" y="320040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D82000"/>
                </a:solidFill>
              </a:ln>
            </p:spPr>
          </p:sp>
          <p:sp>
            <p:nvSpPr>
              <p:cNvPr id="59" name="Freeform 59"/>
              <p:cNvSpPr/>
              <p:nvPr/>
            </p:nvSpPr>
            <p:spPr>
              <a:xfrm>
                <a:off x="444500" y="32194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D82000"/>
                </a:solidFill>
              </a:ln>
            </p:spPr>
          </p:sp>
          <p:sp>
            <p:nvSpPr>
              <p:cNvPr id="60" name="Freeform 60"/>
              <p:cNvSpPr/>
              <p:nvPr/>
            </p:nvSpPr>
            <p:spPr>
              <a:xfrm>
                <a:off x="444500" y="32575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D82000"/>
                </a:solidFill>
              </a:ln>
            </p:spPr>
          </p:sp>
        </p:grpSp>
        <p:sp>
          <p:nvSpPr>
            <p:cNvPr id="62" name="TextBox 62"/>
            <p:cNvSpPr txBox="1"/>
            <p:nvPr/>
          </p:nvSpPr>
          <p:spPr>
            <a:xfrm>
              <a:off x="623888" y="3222784"/>
              <a:ext cx="899586"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3. 数据与AI洞察​​​​</a:t>
              </a:r>
            </a:p>
          </p:txBody>
        </p:sp>
        <p:sp>
          <p:nvSpPr>
            <p:cNvPr id="63" name="TextBox 63"/>
            <p:cNvSpPr txBox="1"/>
            <p:nvPr/>
          </p:nvSpPr>
          <p:spPr>
            <a:xfrm>
              <a:off x="1919288" y="3116580"/>
              <a:ext cx="855345" cy="3476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关键数据源接入与​​</a:t>
              </a:r>
              <a:br/>
              <a:r>
                <a:rPr lang="zh-CN" sz="600" dirty="0">
                  <a:solidFill>
                    <a:srgbClr val="3D3835"/>
                  </a:solidFill>
                  <a:latin typeface="+mn-lt"/>
                  <a:ea typeface="+mn-ea"/>
                  <a:cs typeface="+mn-cs"/>
                </a:rPr>
                <a:t>数据质量基线​</a:t>
              </a:r>
            </a:p>
            <a:p>
              <a:pPr algn="l" marL="76200" indent="-76200">
                <a:lnSpc>
                  <a:spcPts val="900"/>
                </a:lnSpc>
                <a:buClr>
                  <a:srgbClr val="3D3835"/>
                </a:buClr>
                <a:buSzTx/>
                <a:buFontTx/>
                <a:buChar char="•"/>
              </a:pPr>
              <a:r>
                <a:rPr lang="zh-CN" sz="600" dirty="0">
                  <a:solidFill>
                    <a:srgbClr val="3D3835"/>
                  </a:solidFill>
                  <a:latin typeface="+mn-lt"/>
                  <a:ea typeface="+mn-ea"/>
                  <a:cs typeface="+mn-cs"/>
                </a:rPr>
                <a:t>基础报表与看板搭建​​</a:t>
              </a:r>
            </a:p>
          </p:txBody>
        </p:sp>
        <p:sp>
          <p:nvSpPr>
            <p:cNvPr id="64" name="TextBox 64"/>
            <p:cNvSpPr txBox="1"/>
            <p:nvPr/>
          </p:nvSpPr>
          <p:spPr>
            <a:xfrm>
              <a:off x="3452812" y="3173730"/>
              <a:ext cx="10077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构建核心标签与特征体系​​</a:t>
              </a:r>
            </a:p>
            <a:p>
              <a:pPr algn="l" marL="76200" indent="-76200">
                <a:lnSpc>
                  <a:spcPts val="900"/>
                </a:lnSpc>
                <a:buClr>
                  <a:srgbClr val="3D3835"/>
                </a:buClr>
                <a:buSzTx/>
                <a:buFontTx/>
                <a:buChar char="•"/>
              </a:pPr>
              <a:r>
                <a:rPr lang="zh-CN" sz="600" dirty="0">
                  <a:solidFill>
                    <a:srgbClr val="3D3835"/>
                  </a:solidFill>
                  <a:latin typeface="+mn-lt"/>
                  <a:ea typeface="+mn-ea"/>
                  <a:cs typeface="+mn-cs"/>
                </a:rPr>
                <a:t>预测模型等场景化上线​​</a:t>
              </a:r>
            </a:p>
          </p:txBody>
        </p:sp>
        <p:sp>
          <p:nvSpPr>
            <p:cNvPr id="65" name="TextBox 65"/>
            <p:cNvSpPr txBox="1"/>
            <p:nvPr/>
          </p:nvSpPr>
          <p:spPr>
            <a:xfrm>
              <a:off x="4986338" y="3173730"/>
              <a:ext cx="96202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生成式AI智能应用扩展​​​</a:t>
              </a:r>
            </a:p>
            <a:p>
              <a:pPr algn="l" marL="76200" indent="-76200">
                <a:lnSpc>
                  <a:spcPts val="900"/>
                </a:lnSpc>
                <a:buClr>
                  <a:srgbClr val="3D3835"/>
                </a:buClr>
                <a:buSzTx/>
                <a:buFontTx/>
                <a:buChar char="•"/>
              </a:pPr>
              <a:r>
                <a:rPr lang="zh-CN" sz="600" dirty="0">
                  <a:solidFill>
                    <a:srgbClr val="3D3835"/>
                  </a:solidFill>
                  <a:latin typeface="+mn-lt"/>
                  <a:ea typeface="+mn-ea"/>
                  <a:cs typeface="+mn-cs"/>
                </a:rPr>
                <a:t>模型自学习与效果提升​​</a:t>
              </a:r>
            </a:p>
          </p:txBody>
        </p:sp>
        <p:grpSp>
          <p:nvGrpSpPr>
            <p:cNvPr id="68" name="Group 68"/>
            <p:cNvGrpSpPr/>
            <p:nvPr/>
          </p:nvGrpSpPr>
          <p:grpSpPr>
            <a:xfrm>
              <a:off x="435362" y="3654812"/>
              <a:ext cx="119875" cy="119875"/>
              <a:chOff x="435362" y="3654812"/>
              <a:chExt cx="119875" cy="119875"/>
            </a:xfrm>
          </p:grpSpPr>
          <p:sp>
            <p:nvSpPr>
              <p:cNvPr id="66" name="Freeform 66"/>
              <p:cNvSpPr/>
              <p:nvPr/>
            </p:nvSpPr>
            <p:spPr>
              <a:xfrm>
                <a:off x="435362" y="365481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D82000"/>
                </a:solidFill>
              </a:ln>
            </p:spPr>
          </p:sp>
          <p:sp>
            <p:nvSpPr>
              <p:cNvPr id="67" name="Freeform 67"/>
              <p:cNvSpPr/>
              <p:nvPr/>
            </p:nvSpPr>
            <p:spPr>
              <a:xfrm>
                <a:off x="476250" y="36957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D82000"/>
                </a:solidFill>
              </a:ln>
            </p:spPr>
          </p:sp>
        </p:grpSp>
        <p:sp>
          <p:nvSpPr>
            <p:cNvPr id="69" name="TextBox 69"/>
            <p:cNvSpPr txBox="1"/>
            <p:nvPr/>
          </p:nvSpPr>
          <p:spPr>
            <a:xfrm>
              <a:off x="623888" y="3679984"/>
              <a:ext cx="707530"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4. 平台与技术​​</a:t>
              </a:r>
            </a:p>
          </p:txBody>
        </p:sp>
        <p:sp>
          <p:nvSpPr>
            <p:cNvPr id="70" name="TextBox 70"/>
            <p:cNvSpPr txBox="1"/>
            <p:nvPr/>
          </p:nvSpPr>
          <p:spPr>
            <a:xfrm>
              <a:off x="1919288" y="3630930"/>
              <a:ext cx="109918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平台蓝图与架构设计​​</a:t>
              </a:r>
            </a:p>
            <a:p>
              <a:pPr algn="l" marL="76200" indent="-76200">
                <a:lnSpc>
                  <a:spcPts val="900"/>
                </a:lnSpc>
                <a:buClr>
                  <a:srgbClr val="3D3835"/>
                </a:buClr>
                <a:buSzTx/>
                <a:buFontTx/>
                <a:buChar char="•"/>
              </a:pPr>
              <a:r>
                <a:rPr lang="zh-CN" sz="600" dirty="0">
                  <a:solidFill>
                    <a:srgbClr val="3D3835"/>
                  </a:solidFill>
                  <a:latin typeface="+mn-lt"/>
                  <a:ea typeface="+mn-ea"/>
                  <a:cs typeface="+mn-cs"/>
                </a:rPr>
                <a:t>CDP与营销自动化基线搭建​​​</a:t>
              </a:r>
            </a:p>
          </p:txBody>
        </p:sp>
        <p:sp>
          <p:nvSpPr>
            <p:cNvPr id="71" name="TextBox 71"/>
            <p:cNvSpPr txBox="1"/>
            <p:nvPr/>
          </p:nvSpPr>
          <p:spPr>
            <a:xfrm>
              <a:off x="3452812" y="3630930"/>
              <a:ext cx="11220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能力模块化与API集成扩展​​​​</a:t>
              </a:r>
            </a:p>
            <a:p>
              <a:pPr algn="l" marL="76200" indent="-76200">
                <a:lnSpc>
                  <a:spcPts val="900"/>
                </a:lnSpc>
                <a:buClr>
                  <a:srgbClr val="3D3835"/>
                </a:buClr>
                <a:buSzTx/>
                <a:buFontTx/>
                <a:buChar char="•"/>
              </a:pPr>
              <a:r>
                <a:rPr lang="zh-CN" sz="600" dirty="0">
                  <a:solidFill>
                    <a:srgbClr val="3D3835"/>
                  </a:solidFill>
                  <a:latin typeface="+mn-lt"/>
                  <a:ea typeface="+mn-ea"/>
                  <a:cs typeface="+mn-cs"/>
                </a:rPr>
                <a:t>渠道与内容中台完善​​</a:t>
              </a:r>
            </a:p>
          </p:txBody>
        </p:sp>
        <p:sp>
          <p:nvSpPr>
            <p:cNvPr id="72" name="TextBox 72"/>
            <p:cNvSpPr txBox="1"/>
            <p:nvPr/>
          </p:nvSpPr>
          <p:spPr>
            <a:xfrm>
              <a:off x="4986338" y="3630930"/>
              <a:ext cx="10839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企业级编排与实时决策平台​​</a:t>
              </a:r>
            </a:p>
            <a:p>
              <a:pPr algn="l" marL="76200" indent="-76200">
                <a:lnSpc>
                  <a:spcPts val="900"/>
                </a:lnSpc>
                <a:buClr>
                  <a:srgbClr val="3D3835"/>
                </a:buClr>
                <a:buSzTx/>
                <a:buFontTx/>
                <a:buChar char="•"/>
              </a:pPr>
              <a:r>
                <a:rPr lang="zh-CN" sz="600" dirty="0">
                  <a:solidFill>
                    <a:srgbClr val="3D3835"/>
                  </a:solidFill>
                  <a:latin typeface="+mn-lt"/>
                  <a:ea typeface="+mn-ea"/>
                  <a:cs typeface="+mn-cs"/>
                </a:rPr>
                <a:t>可用性与安全合规深化​​</a:t>
              </a:r>
            </a:p>
          </p:txBody>
        </p:sp>
        <p:grpSp>
          <p:nvGrpSpPr>
            <p:cNvPr id="79" name="Group 79"/>
            <p:cNvGrpSpPr/>
            <p:nvPr/>
          </p:nvGrpSpPr>
          <p:grpSpPr>
            <a:xfrm>
              <a:off x="438150" y="4114800"/>
              <a:ext cx="114300" cy="114300"/>
              <a:chOff x="438150" y="4114800"/>
              <a:chExt cx="114300" cy="114300"/>
            </a:xfrm>
          </p:grpSpPr>
          <p:sp>
            <p:nvSpPr>
              <p:cNvPr id="73" name="Freeform 73"/>
              <p:cNvSpPr/>
              <p:nvPr/>
            </p:nvSpPr>
            <p:spPr>
              <a:xfrm>
                <a:off x="482600" y="41656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82000"/>
                </a:solidFill>
              </a:ln>
            </p:spPr>
          </p:sp>
          <p:sp>
            <p:nvSpPr>
              <p:cNvPr id="74" name="Freeform 74"/>
              <p:cNvSpPr/>
              <p:nvPr/>
            </p:nvSpPr>
            <p:spPr>
              <a:xfrm>
                <a:off x="469900" y="42100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D82000"/>
                </a:solidFill>
              </a:ln>
            </p:spPr>
          </p:sp>
          <p:sp>
            <p:nvSpPr>
              <p:cNvPr id="75" name="Freeform 75"/>
              <p:cNvSpPr/>
              <p:nvPr/>
            </p:nvSpPr>
            <p:spPr>
              <a:xfrm>
                <a:off x="514350" y="41148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82000"/>
                </a:solidFill>
              </a:ln>
            </p:spPr>
          </p:sp>
          <p:sp>
            <p:nvSpPr>
              <p:cNvPr id="76" name="Freeform 76"/>
              <p:cNvSpPr/>
              <p:nvPr/>
            </p:nvSpPr>
            <p:spPr>
              <a:xfrm>
                <a:off x="527050" y="41592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D82000"/>
                </a:solidFill>
              </a:ln>
            </p:spPr>
          </p:sp>
          <p:sp>
            <p:nvSpPr>
              <p:cNvPr id="77" name="Freeform 77"/>
              <p:cNvSpPr/>
              <p:nvPr/>
            </p:nvSpPr>
            <p:spPr>
              <a:xfrm>
                <a:off x="450850" y="41148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82000"/>
                </a:solidFill>
              </a:ln>
            </p:spPr>
          </p:sp>
          <p:sp>
            <p:nvSpPr>
              <p:cNvPr id="78" name="Freeform 78"/>
              <p:cNvSpPr/>
              <p:nvPr/>
            </p:nvSpPr>
            <p:spPr>
              <a:xfrm>
                <a:off x="438150" y="41592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D82000"/>
                </a:solidFill>
              </a:ln>
            </p:spPr>
          </p:sp>
        </p:grpSp>
        <p:sp>
          <p:nvSpPr>
            <p:cNvPr id="80" name="TextBox 80"/>
            <p:cNvSpPr txBox="1"/>
            <p:nvPr/>
          </p:nvSpPr>
          <p:spPr>
            <a:xfrm>
              <a:off x="623888" y="4137184"/>
              <a:ext cx="707530"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5. 组织与治理​​</a:t>
              </a:r>
            </a:p>
          </p:txBody>
        </p:sp>
        <p:sp>
          <p:nvSpPr>
            <p:cNvPr id="81" name="TextBox 81"/>
            <p:cNvSpPr txBox="1"/>
            <p:nvPr/>
          </p:nvSpPr>
          <p:spPr>
            <a:xfrm>
              <a:off x="1919288" y="4088130"/>
              <a:ext cx="10077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组织设计与角色定义​​</a:t>
              </a:r>
            </a:p>
            <a:p>
              <a:pPr algn="l" marL="76200" indent="-76200">
                <a:lnSpc>
                  <a:spcPts val="900"/>
                </a:lnSpc>
                <a:buClr>
                  <a:srgbClr val="3D3835"/>
                </a:buClr>
                <a:buSzTx/>
                <a:buFontTx/>
                <a:buChar char="•"/>
              </a:pPr>
              <a:r>
                <a:rPr lang="zh-CN" sz="600" dirty="0">
                  <a:solidFill>
                    <a:srgbClr val="3D3835"/>
                  </a:solidFill>
                  <a:latin typeface="+mn-lt"/>
                  <a:ea typeface="+mn-ea"/>
                  <a:cs typeface="+mn-cs"/>
                </a:rPr>
                <a:t>关键决策机制与例会建立​​</a:t>
              </a:r>
            </a:p>
          </p:txBody>
        </p:sp>
        <p:sp>
          <p:nvSpPr>
            <p:cNvPr id="82" name="TextBox 82"/>
            <p:cNvSpPr txBox="1"/>
            <p:nvPr/>
          </p:nvSpPr>
          <p:spPr>
            <a:xfrm>
              <a:off x="3452812" y="4088130"/>
              <a:ext cx="8553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运营团队扩充与赋能​​</a:t>
              </a:r>
            </a:p>
            <a:p>
              <a:pPr algn="l" marL="76200" indent="-76200">
                <a:lnSpc>
                  <a:spcPts val="900"/>
                </a:lnSpc>
                <a:buClr>
                  <a:srgbClr val="3D3835"/>
                </a:buClr>
                <a:buSzTx/>
                <a:buFontTx/>
                <a:buChar char="•"/>
              </a:pPr>
              <a:r>
                <a:rPr lang="zh-CN" sz="600" dirty="0">
                  <a:solidFill>
                    <a:srgbClr val="3D3835"/>
                  </a:solidFill>
                  <a:latin typeface="+mn-lt"/>
                  <a:ea typeface="+mn-ea"/>
                  <a:cs typeface="+mn-cs"/>
                </a:rPr>
                <a:t>KPI与激励闭环落地​​​</a:t>
              </a:r>
            </a:p>
          </p:txBody>
        </p:sp>
        <p:sp>
          <p:nvSpPr>
            <p:cNvPr id="83" name="TextBox 83"/>
            <p:cNvSpPr txBox="1"/>
            <p:nvPr/>
          </p:nvSpPr>
          <p:spPr>
            <a:xfrm>
              <a:off x="4986338" y="4088130"/>
              <a:ext cx="10077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运营文化与人才体系建设​​</a:t>
              </a:r>
            </a:p>
            <a:p>
              <a:pPr algn="l" marL="76200" indent="-76200">
                <a:lnSpc>
                  <a:spcPts val="900"/>
                </a:lnSpc>
                <a:buClr>
                  <a:srgbClr val="3D3835"/>
                </a:buClr>
                <a:buSzTx/>
                <a:buFontTx/>
                <a:buChar char="•"/>
              </a:pPr>
              <a:r>
                <a:rPr lang="zh-CN" sz="600" dirty="0">
                  <a:solidFill>
                    <a:srgbClr val="3D3835"/>
                  </a:solidFill>
                  <a:latin typeface="+mn-lt"/>
                  <a:ea typeface="+mn-ea"/>
                  <a:cs typeface="+mn-cs"/>
                </a:rPr>
                <a:t>持续优化改进​​</a:t>
              </a:r>
            </a:p>
          </p:txBody>
        </p:sp>
        <p:grpSp>
          <p:nvGrpSpPr>
            <p:cNvPr id="86" name="Group 86"/>
            <p:cNvGrpSpPr/>
            <p:nvPr/>
          </p:nvGrpSpPr>
          <p:grpSpPr>
            <a:xfrm>
              <a:off x="429580" y="4572000"/>
              <a:ext cx="124004" cy="114300"/>
              <a:chOff x="429580" y="4572000"/>
              <a:chExt cx="124004" cy="114300"/>
            </a:xfrm>
          </p:grpSpPr>
          <p:sp>
            <p:nvSpPr>
              <p:cNvPr id="84" name="Freeform 84"/>
              <p:cNvSpPr/>
              <p:nvPr/>
            </p:nvSpPr>
            <p:spPr>
              <a:xfrm>
                <a:off x="429580" y="457200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D82000"/>
                </a:solidFill>
              </a:ln>
            </p:spPr>
          </p:sp>
          <p:sp>
            <p:nvSpPr>
              <p:cNvPr id="85" name="Freeform 85"/>
              <p:cNvSpPr/>
              <p:nvPr/>
            </p:nvSpPr>
            <p:spPr>
              <a:xfrm>
                <a:off x="514350" y="4660900"/>
                <a:ext cx="38100" cy="25400"/>
              </a:xfrm>
              <a:custGeom>
                <a:avLst/>
                <a:gdLst/>
                <a:ahLst/>
                <a:cxnLst/>
                <a:rect l="l" t="t" r="r" b="b"/>
                <a:pathLst>
                  <a:path w="38100" h="25400">
                    <a:moveTo>
                      <a:pt x="0" y="12700"/>
                    </a:moveTo>
                    <a:lnTo>
                      <a:pt x="12700" y="25400"/>
                    </a:lnTo>
                    <a:lnTo>
                      <a:pt x="38100" y="0"/>
                    </a:lnTo>
                  </a:path>
                </a:pathLst>
              </a:custGeom>
              <a:noFill/>
              <a:ln w="12700">
                <a:solidFill>
                  <a:srgbClr val="D82000"/>
                </a:solidFill>
              </a:ln>
            </p:spPr>
          </p:sp>
        </p:grpSp>
        <p:sp>
          <p:nvSpPr>
            <p:cNvPr id="87" name="TextBox 87"/>
            <p:cNvSpPr txBox="1"/>
            <p:nvPr/>
          </p:nvSpPr>
          <p:spPr>
            <a:xfrm>
              <a:off x="623888" y="4594384"/>
              <a:ext cx="707530" cy="133350"/>
            </a:xfrm>
            <a:prstGeom prst="rect">
              <a:avLst/>
            </a:prstGeom>
            <a:noFill/>
            <a:ln>
              <a:noFill/>
            </a:ln>
          </p:spPr>
          <p:txBody>
            <a:bodyPr wrap="none" lIns="0" tIns="0" rIns="0" bIns="0" anchor="t" anchorCtr="0">
              <a:spAutoFit/>
            </a:bodyPr>
            <a:lstStyle/>
            <a:p>
              <a:pPr algn="l"/>
              <a:r>
                <a:rPr lang="zh-CN" sz="680" b="1" dirty="0">
                  <a:solidFill>
                    <a:srgbClr val="4A130A"/>
                  </a:solidFill>
                  <a:latin typeface="+mn-lt"/>
                  <a:ea typeface="+mn-ea"/>
                  <a:cs typeface="+mn-cs"/>
                </a:rPr>
                <a:t>6. 合规与风控​​</a:t>
              </a:r>
            </a:p>
          </p:txBody>
        </p:sp>
        <p:sp>
          <p:nvSpPr>
            <p:cNvPr id="88" name="TextBox 88"/>
            <p:cNvSpPr txBox="1"/>
            <p:nvPr/>
          </p:nvSpPr>
          <p:spPr>
            <a:xfrm>
              <a:off x="1919288" y="4545330"/>
              <a:ext cx="8553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合规评估与数据分级​​</a:t>
              </a:r>
            </a:p>
            <a:p>
              <a:pPr algn="l" marL="76200" indent="-76200">
                <a:lnSpc>
                  <a:spcPts val="900"/>
                </a:lnSpc>
                <a:buClr>
                  <a:srgbClr val="3D3835"/>
                </a:buClr>
                <a:buSzTx/>
                <a:buFontTx/>
                <a:buChar char="•"/>
              </a:pPr>
              <a:r>
                <a:rPr lang="zh-CN" sz="600" dirty="0">
                  <a:solidFill>
                    <a:srgbClr val="3D3835"/>
                  </a:solidFill>
                  <a:latin typeface="+mn-lt"/>
                  <a:ea typeface="+mn-ea"/>
                  <a:cs typeface="+mn-cs"/>
                </a:rPr>
                <a:t>隐私与安全基线建立​​</a:t>
              </a:r>
            </a:p>
          </p:txBody>
        </p:sp>
        <p:sp>
          <p:nvSpPr>
            <p:cNvPr id="89" name="TextBox 89"/>
            <p:cNvSpPr txBox="1"/>
            <p:nvPr/>
          </p:nvSpPr>
          <p:spPr>
            <a:xfrm>
              <a:off x="3452812" y="4545330"/>
              <a:ext cx="10077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合规流程嵌入与审计机制​​</a:t>
              </a:r>
            </a:p>
            <a:p>
              <a:pPr algn="l" marL="76200" indent="-76200">
                <a:lnSpc>
                  <a:spcPts val="900"/>
                </a:lnSpc>
                <a:buClr>
                  <a:srgbClr val="3D3835"/>
                </a:buClr>
                <a:buSzTx/>
                <a:buFontTx/>
                <a:buChar char="•"/>
              </a:pPr>
              <a:r>
                <a:rPr lang="zh-CN" sz="600" dirty="0">
                  <a:solidFill>
                    <a:srgbClr val="3D3835"/>
                  </a:solidFill>
                  <a:latin typeface="+mn-lt"/>
                  <a:ea typeface="+mn-ea"/>
                  <a:cs typeface="+mn-cs"/>
                </a:rPr>
                <a:t>模型风险管理​​</a:t>
              </a:r>
            </a:p>
          </p:txBody>
        </p:sp>
        <p:sp>
          <p:nvSpPr>
            <p:cNvPr id="90" name="TextBox 90"/>
            <p:cNvSpPr txBox="1"/>
            <p:nvPr/>
          </p:nvSpPr>
          <p:spPr>
            <a:xfrm>
              <a:off x="4986338" y="4545330"/>
              <a:ext cx="855345" cy="233362"/>
            </a:xfrm>
            <a:prstGeom prst="rect">
              <a:avLst/>
            </a:prstGeom>
            <a:noFill/>
            <a:ln>
              <a:noFill/>
            </a:ln>
          </p:spPr>
          <p:txBody>
            <a:bodyPr wrap="none" lIns="0" tIns="0" rIns="0" bIns="0" anchor="t" anchorCtr="0">
              <a:spAutoFit/>
            </a:bodyPr>
            <a:lstStyle/>
            <a:p>
              <a:pPr algn="l" marL="76200" indent="-76200">
                <a:lnSpc>
                  <a:spcPts val="900"/>
                </a:lnSpc>
                <a:buClr>
                  <a:srgbClr val="3D3835"/>
                </a:buClr>
                <a:buSzTx/>
                <a:buFontTx/>
                <a:buChar char="•"/>
              </a:pPr>
              <a:r>
                <a:rPr lang="zh-CN" sz="600" dirty="0">
                  <a:solidFill>
                    <a:srgbClr val="3D3835"/>
                  </a:solidFill>
                  <a:latin typeface="+mn-lt"/>
                  <a:ea typeface="+mn-ea"/>
                  <a:cs typeface="+mn-cs"/>
                </a:rPr>
                <a:t>全流程合规自动化​​</a:t>
              </a:r>
            </a:p>
            <a:p>
              <a:pPr algn="l" marL="76200" indent="-76200">
                <a:lnSpc>
                  <a:spcPts val="900"/>
                </a:lnSpc>
                <a:buClr>
                  <a:srgbClr val="3D3835"/>
                </a:buClr>
                <a:buSzTx/>
                <a:buFontTx/>
                <a:buChar char="•"/>
              </a:pPr>
              <a:r>
                <a:rPr lang="zh-CN" sz="600" dirty="0">
                  <a:solidFill>
                    <a:srgbClr val="3D3835"/>
                  </a:solidFill>
                  <a:latin typeface="+mn-lt"/>
                  <a:ea typeface="+mn-ea"/>
                  <a:cs typeface="+mn-cs"/>
                </a:rPr>
                <a:t>风险预警与闭环管理​​</a:t>
              </a:r>
            </a:p>
          </p:txBody>
        </p:sp>
        <p:sp>
          <p:nvSpPr>
            <p:cNvPr id="91" name="Line 91"/>
            <p:cNvSpPr/>
            <p:nvPr/>
          </p:nvSpPr>
          <p:spPr>
            <a:xfrm>
              <a:off x="1866900" y="190500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92" name="Line 92"/>
            <p:cNvSpPr/>
            <p:nvPr/>
          </p:nvSpPr>
          <p:spPr>
            <a:xfrm>
              <a:off x="3400425" y="190500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93" name="Line 93"/>
            <p:cNvSpPr/>
            <p:nvPr/>
          </p:nvSpPr>
          <p:spPr>
            <a:xfrm>
              <a:off x="4933950" y="1905000"/>
              <a:ext cx="9525" cy="2952750"/>
            </a:xfrm>
            <a:custGeom>
              <a:avLst/>
              <a:gdLst/>
              <a:ahLst/>
              <a:cxnLst/>
              <a:rect l="l" t="t" r="r" b="b"/>
              <a:pathLst>
                <a:path w="9525" h="2952750">
                  <a:moveTo>
                    <a:pt x="0" y="0"/>
                  </a:moveTo>
                  <a:lnTo>
                    <a:pt x="0" y="2952750"/>
                  </a:lnTo>
                </a:path>
              </a:pathLst>
            </a:custGeom>
            <a:noFill/>
            <a:ln w="9525">
              <a:solidFill>
                <a:srgbClr val="EADBCE"/>
              </a:solidFill>
            </a:ln>
          </p:spPr>
        </p:sp>
        <p:sp>
          <p:nvSpPr>
            <p:cNvPr id="94" name="Line 94"/>
            <p:cNvSpPr/>
            <p:nvPr/>
          </p:nvSpPr>
          <p:spPr>
            <a:xfrm>
              <a:off x="342900" y="2571750"/>
              <a:ext cx="6134100" cy="9525"/>
            </a:xfrm>
            <a:custGeom>
              <a:avLst/>
              <a:gdLst/>
              <a:ahLst/>
              <a:cxnLst/>
              <a:rect l="l" t="t" r="r" b="b"/>
              <a:pathLst>
                <a:path w="6134100" h="9525">
                  <a:moveTo>
                    <a:pt x="0" y="0"/>
                  </a:moveTo>
                  <a:lnTo>
                    <a:pt x="6134100" y="0"/>
                  </a:lnTo>
                </a:path>
              </a:pathLst>
            </a:custGeom>
            <a:noFill/>
            <a:ln w="9525">
              <a:solidFill>
                <a:srgbClr val="EADBCE"/>
              </a:solidFill>
            </a:ln>
          </p:spPr>
        </p:sp>
        <p:sp>
          <p:nvSpPr>
            <p:cNvPr id="95" name="Line 95"/>
            <p:cNvSpPr/>
            <p:nvPr/>
          </p:nvSpPr>
          <p:spPr>
            <a:xfrm>
              <a:off x="342900" y="3028950"/>
              <a:ext cx="6134100" cy="9525"/>
            </a:xfrm>
            <a:custGeom>
              <a:avLst/>
              <a:gdLst/>
              <a:ahLst/>
              <a:cxnLst/>
              <a:rect l="l" t="t" r="r" b="b"/>
              <a:pathLst>
                <a:path w="6134100" h="9525">
                  <a:moveTo>
                    <a:pt x="0" y="0"/>
                  </a:moveTo>
                  <a:lnTo>
                    <a:pt x="6134100" y="0"/>
                  </a:lnTo>
                </a:path>
              </a:pathLst>
            </a:custGeom>
            <a:noFill/>
            <a:ln w="9525">
              <a:solidFill>
                <a:srgbClr val="EADBCE"/>
              </a:solidFill>
            </a:ln>
          </p:spPr>
        </p:sp>
        <p:sp>
          <p:nvSpPr>
            <p:cNvPr id="96" name="Line 96"/>
            <p:cNvSpPr/>
            <p:nvPr/>
          </p:nvSpPr>
          <p:spPr>
            <a:xfrm>
              <a:off x="342900" y="3486150"/>
              <a:ext cx="6134100" cy="9525"/>
            </a:xfrm>
            <a:custGeom>
              <a:avLst/>
              <a:gdLst/>
              <a:ahLst/>
              <a:cxnLst/>
              <a:rect l="l" t="t" r="r" b="b"/>
              <a:pathLst>
                <a:path w="6134100" h="9525">
                  <a:moveTo>
                    <a:pt x="0" y="0"/>
                  </a:moveTo>
                  <a:lnTo>
                    <a:pt x="6134100" y="0"/>
                  </a:lnTo>
                </a:path>
              </a:pathLst>
            </a:custGeom>
            <a:noFill/>
            <a:ln w="9525">
              <a:solidFill>
                <a:srgbClr val="EADBCE"/>
              </a:solidFill>
            </a:ln>
          </p:spPr>
        </p:sp>
        <p:sp>
          <p:nvSpPr>
            <p:cNvPr id="97" name="Line 97"/>
            <p:cNvSpPr/>
            <p:nvPr/>
          </p:nvSpPr>
          <p:spPr>
            <a:xfrm>
              <a:off x="342900" y="3943350"/>
              <a:ext cx="6134100" cy="9525"/>
            </a:xfrm>
            <a:custGeom>
              <a:avLst/>
              <a:gdLst/>
              <a:ahLst/>
              <a:cxnLst/>
              <a:rect l="l" t="t" r="r" b="b"/>
              <a:pathLst>
                <a:path w="6134100" h="9525">
                  <a:moveTo>
                    <a:pt x="0" y="0"/>
                  </a:moveTo>
                  <a:lnTo>
                    <a:pt x="6134100" y="0"/>
                  </a:lnTo>
                </a:path>
              </a:pathLst>
            </a:custGeom>
            <a:noFill/>
            <a:ln w="9525">
              <a:solidFill>
                <a:srgbClr val="EADBCE"/>
              </a:solidFill>
            </a:ln>
          </p:spPr>
        </p:sp>
        <p:sp>
          <p:nvSpPr>
            <p:cNvPr id="98" name="Line 98"/>
            <p:cNvSpPr/>
            <p:nvPr/>
          </p:nvSpPr>
          <p:spPr>
            <a:xfrm>
              <a:off x="342900" y="4400550"/>
              <a:ext cx="6134100" cy="9525"/>
            </a:xfrm>
            <a:custGeom>
              <a:avLst/>
              <a:gdLst/>
              <a:ahLst/>
              <a:cxnLst/>
              <a:rect l="l" t="t" r="r" b="b"/>
              <a:pathLst>
                <a:path w="6134100" h="9525">
                  <a:moveTo>
                    <a:pt x="0" y="0"/>
                  </a:moveTo>
                  <a:lnTo>
                    <a:pt x="6134100" y="0"/>
                  </a:lnTo>
                </a:path>
              </a:pathLst>
            </a:custGeom>
            <a:noFill/>
            <a:ln w="9525">
              <a:solidFill>
                <a:srgbClr val="EADBCE"/>
              </a:solidFill>
            </a:ln>
          </p:spPr>
        </p:sp>
      </p:grpSp>
      <p:grpSp>
        <p:nvGrpSpPr>
          <p:cNvPr id="168" name="value-estimate"/>
          <p:cNvGrpSpPr/>
          <p:nvPr/>
        </p:nvGrpSpPr>
        <p:grpSpPr>
          <a:xfrm>
            <a:off x="6553200" y="1905000"/>
            <a:ext cx="5257800" cy="3048000"/>
            <a:chOff x="6553200" y="1905000"/>
            <a:chExt cx="5257800" cy="3048000"/>
          </a:xfrm>
        </p:grpSpPr>
        <p:sp>
          <p:nvSpPr>
            <p:cNvPr id="100" name="Rectangle 100"/>
            <p:cNvSpPr/>
            <p:nvPr/>
          </p:nvSpPr>
          <p:spPr>
            <a:xfrm>
              <a:off x="6553200" y="1905000"/>
              <a:ext cx="5257800" cy="209550"/>
            </a:xfrm>
            <a:prstGeom prst="roundRect">
              <a:avLst>
                <a:gd name="adj" fmla="val 13636"/>
              </a:avLst>
            </a:prstGeom>
            <a:solidFill>
              <a:srgbClr val="C41D00"/>
            </a:solidFill>
            <a:ln>
              <a:noFill/>
            </a:ln>
          </p:spPr>
        </p:sp>
        <p:sp>
          <p:nvSpPr>
            <p:cNvPr id="101" name="TextBox 101"/>
            <p:cNvSpPr txBox="1"/>
            <p:nvPr/>
          </p:nvSpPr>
          <p:spPr>
            <a:xfrm>
              <a:off x="8310055" y="1962864"/>
              <a:ext cx="1744090"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​业务价值测算（18个月累计增量）​</a:t>
              </a:r>
            </a:p>
          </p:txBody>
        </p:sp>
        <p:sp>
          <p:nvSpPr>
            <p:cNvPr id="102" name="Rectangle 102"/>
            <p:cNvSpPr/>
            <p:nvPr/>
          </p:nvSpPr>
          <p:spPr>
            <a:xfrm>
              <a:off x="6553200" y="2114550"/>
              <a:ext cx="5257800" cy="2838450"/>
            </a:xfrm>
            <a:prstGeom prst="rect">
              <a:avLst/>
            </a:prstGeom>
            <a:solidFill>
              <a:srgbClr val="FFFFFF"/>
            </a:solidFill>
            <a:ln w="9525">
              <a:solidFill>
                <a:srgbClr val="F0B8AE"/>
              </a:solidFill>
            </a:ln>
          </p:spPr>
        </p:sp>
        <p:grpSp>
          <p:nvGrpSpPr>
            <p:cNvPr id="108" name="Group 108"/>
            <p:cNvGrpSpPr/>
            <p:nvPr/>
          </p:nvGrpSpPr>
          <p:grpSpPr>
            <a:xfrm>
              <a:off x="7005637" y="2213499"/>
              <a:ext cx="142875" cy="143938"/>
              <a:chOff x="7005637" y="2213499"/>
              <a:chExt cx="142875" cy="143938"/>
            </a:xfrm>
          </p:grpSpPr>
          <p:sp>
            <p:nvSpPr>
              <p:cNvPr id="103" name="Freeform 103"/>
              <p:cNvSpPr/>
              <p:nvPr/>
            </p:nvSpPr>
            <p:spPr>
              <a:xfrm>
                <a:off x="7053262" y="22780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EE492C"/>
                </a:solidFill>
              </a:ln>
            </p:spPr>
          </p:sp>
          <p:sp>
            <p:nvSpPr>
              <p:cNvPr id="104" name="Freeform 104"/>
              <p:cNvSpPr/>
              <p:nvPr/>
            </p:nvSpPr>
            <p:spPr>
              <a:xfrm>
                <a:off x="7053262" y="23018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EE492C"/>
                </a:solidFill>
              </a:ln>
            </p:spPr>
          </p:sp>
          <p:sp>
            <p:nvSpPr>
              <p:cNvPr id="105" name="Freeform 105"/>
              <p:cNvSpPr/>
              <p:nvPr/>
            </p:nvSpPr>
            <p:spPr>
              <a:xfrm>
                <a:off x="7005637" y="22134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EE492C"/>
                </a:solidFill>
              </a:ln>
            </p:spPr>
          </p:sp>
          <p:sp>
            <p:nvSpPr>
              <p:cNvPr id="106" name="Freeform 106"/>
              <p:cNvSpPr/>
              <p:nvPr/>
            </p:nvSpPr>
            <p:spPr>
              <a:xfrm>
                <a:off x="7005637" y="22383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EE492C"/>
                </a:solidFill>
              </a:ln>
            </p:spPr>
          </p:sp>
          <p:sp>
            <p:nvSpPr>
              <p:cNvPr id="107" name="Freeform 107"/>
              <p:cNvSpPr/>
              <p:nvPr/>
            </p:nvSpPr>
            <p:spPr>
              <a:xfrm>
                <a:off x="7005637" y="22780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EE492C"/>
                </a:solidFill>
              </a:ln>
            </p:spPr>
          </p:sp>
        </p:grpSp>
        <p:sp>
          <p:nvSpPr>
            <p:cNvPr id="109" name="TextBox 109"/>
            <p:cNvSpPr txBox="1"/>
            <p:nvPr/>
          </p:nvSpPr>
          <p:spPr>
            <a:xfrm>
              <a:off x="6837972" y="2434828"/>
              <a:ext cx="478206"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​​增量AUM​​</a:t>
              </a:r>
            </a:p>
          </p:txBody>
        </p:sp>
        <p:sp>
          <p:nvSpPr>
            <p:cNvPr id="110" name="TextBox 110"/>
            <p:cNvSpPr txBox="1"/>
            <p:nvPr/>
          </p:nvSpPr>
          <p:spPr>
            <a:xfrm>
              <a:off x="6734756" y="2583656"/>
              <a:ext cx="684638" cy="220028"/>
            </a:xfrm>
            <a:prstGeom prst="rect">
              <a:avLst/>
            </a:prstGeom>
            <a:noFill/>
            <a:ln>
              <a:noFill/>
            </a:ln>
          </p:spPr>
          <p:txBody>
            <a:bodyPr wrap="none" lIns="0" tIns="0" rIns="0" bIns="0" anchor="t" anchorCtr="0">
              <a:spAutoFit/>
            </a:bodyPr>
            <a:lstStyle/>
            <a:p>
              <a:pPr algn="ctr"/>
              <a:r>
                <a:rPr lang="zh-CN" sz="1120" b="1" dirty="0">
                  <a:solidFill>
                    <a:srgbClr val="C41D00"/>
                  </a:solidFill>
                  <a:latin typeface="+mn-lt"/>
                  <a:ea typeface="+mn-ea"/>
                  <a:cs typeface="+mn-cs"/>
                </a:rPr>
                <a:t>​+820亿​</a:t>
              </a:r>
            </a:p>
          </p:txBody>
        </p:sp>
        <p:grpSp>
          <p:nvGrpSpPr>
            <p:cNvPr id="114" name="Group 114"/>
            <p:cNvGrpSpPr/>
            <p:nvPr/>
          </p:nvGrpSpPr>
          <p:grpSpPr>
            <a:xfrm>
              <a:off x="8053387" y="2230437"/>
              <a:ext cx="142875" cy="111125"/>
              <a:chOff x="8053387" y="2230437"/>
              <a:chExt cx="142875" cy="111125"/>
            </a:xfrm>
          </p:grpSpPr>
          <p:sp>
            <p:nvSpPr>
              <p:cNvPr id="111" name="Freeform 111"/>
              <p:cNvSpPr/>
              <p:nvPr/>
            </p:nvSpPr>
            <p:spPr>
              <a:xfrm>
                <a:off x="8053387" y="2230437"/>
                <a:ext cx="111125" cy="79375"/>
              </a:xfrm>
              <a:custGeom>
                <a:avLst/>
                <a:gdLst/>
                <a:ahLst/>
                <a:cxnLst/>
                <a:rect l="l" t="t" r="r" b="b"/>
                <a:pathLst>
                  <a:path w="111125" h="79375">
                    <a:moveTo>
                      <a:pt x="31750" y="79375"/>
                    </a:moveTo>
                    <a:lnTo>
                      <a:pt x="7937" y="79375"/>
                    </a:lnTo>
                    <a:cubicBezTo>
                      <a:pt x="3554" y="79375"/>
                      <a:pt x="0" y="75821"/>
                      <a:pt x="0" y="71437"/>
                    </a:cubicBezTo>
                    <a:lnTo>
                      <a:pt x="0" y="7937"/>
                    </a:lnTo>
                    <a:cubicBezTo>
                      <a:pt x="0" y="3554"/>
                      <a:pt x="3554" y="0"/>
                      <a:pt x="7937" y="0"/>
                    </a:cubicBezTo>
                    <a:lnTo>
                      <a:pt x="103187" y="0"/>
                    </a:lnTo>
                    <a:cubicBezTo>
                      <a:pt x="107571" y="0"/>
                      <a:pt x="111125" y="3554"/>
                      <a:pt x="111125" y="7937"/>
                    </a:cubicBezTo>
                    <a:lnTo>
                      <a:pt x="111125" y="31750"/>
                    </a:lnTo>
                  </a:path>
                </a:pathLst>
              </a:custGeom>
              <a:noFill/>
              <a:ln w="15875">
                <a:solidFill>
                  <a:srgbClr val="EE492C"/>
                </a:solidFill>
              </a:ln>
            </p:spPr>
          </p:sp>
          <p:sp>
            <p:nvSpPr>
              <p:cNvPr id="112" name="Freeform 112"/>
              <p:cNvSpPr/>
              <p:nvPr/>
            </p:nvSpPr>
            <p:spPr>
              <a:xfrm>
                <a:off x="8085137" y="2262187"/>
                <a:ext cx="111125" cy="79375"/>
              </a:xfrm>
              <a:custGeom>
                <a:avLst/>
                <a:gdLst/>
                <a:ahLst/>
                <a:cxnLst/>
                <a:rect l="l" t="t" r="r" b="b"/>
                <a:pathLst>
                  <a:path w="111125" h="79375">
                    <a:moveTo>
                      <a:pt x="0" y="7937"/>
                    </a:moveTo>
                    <a:cubicBezTo>
                      <a:pt x="0" y="3554"/>
                      <a:pt x="3554" y="0"/>
                      <a:pt x="7937" y="0"/>
                    </a:cubicBezTo>
                    <a:lnTo>
                      <a:pt x="103187" y="0"/>
                    </a:lnTo>
                    <a:cubicBezTo>
                      <a:pt x="107571" y="0"/>
                      <a:pt x="111125" y="3554"/>
                      <a:pt x="111125" y="7937"/>
                    </a:cubicBezTo>
                    <a:lnTo>
                      <a:pt x="111125" y="71437"/>
                    </a:lnTo>
                    <a:cubicBezTo>
                      <a:pt x="111125" y="75821"/>
                      <a:pt x="107571" y="79375"/>
                      <a:pt x="103187" y="79375"/>
                    </a:cubicBezTo>
                    <a:lnTo>
                      <a:pt x="7937" y="79375"/>
                    </a:lnTo>
                    <a:cubicBezTo>
                      <a:pt x="3554" y="79375"/>
                      <a:pt x="0" y="75821"/>
                      <a:pt x="0" y="71437"/>
                    </a:cubicBezTo>
                    <a:lnTo>
                      <a:pt x="0" y="7937"/>
                    </a:lnTo>
                  </a:path>
                </a:pathLst>
              </a:custGeom>
              <a:noFill/>
              <a:ln w="15875">
                <a:solidFill>
                  <a:srgbClr val="EE492C"/>
                </a:solidFill>
              </a:ln>
            </p:spPr>
          </p:sp>
          <p:sp>
            <p:nvSpPr>
              <p:cNvPr id="113" name="Freeform 113"/>
              <p:cNvSpPr/>
              <p:nvPr/>
            </p:nvSpPr>
            <p:spPr>
              <a:xfrm>
                <a:off x="8124825" y="22860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E492C"/>
                </a:solidFill>
              </a:ln>
            </p:spPr>
          </p:sp>
        </p:grpSp>
        <p:sp>
          <p:nvSpPr>
            <p:cNvPr id="115" name="TextBox 115"/>
            <p:cNvSpPr txBox="1"/>
            <p:nvPr/>
          </p:nvSpPr>
          <p:spPr>
            <a:xfrm>
              <a:off x="7931594" y="2434828"/>
              <a:ext cx="386461"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手续费收入</a:t>
              </a:r>
            </a:p>
          </p:txBody>
        </p:sp>
        <p:sp>
          <p:nvSpPr>
            <p:cNvPr id="116" name="TextBox 116"/>
            <p:cNvSpPr txBox="1"/>
            <p:nvPr/>
          </p:nvSpPr>
          <p:spPr>
            <a:xfrm>
              <a:off x="7782506" y="2583656"/>
              <a:ext cx="684638" cy="220028"/>
            </a:xfrm>
            <a:prstGeom prst="rect">
              <a:avLst/>
            </a:prstGeom>
            <a:noFill/>
            <a:ln>
              <a:noFill/>
            </a:ln>
          </p:spPr>
          <p:txBody>
            <a:bodyPr wrap="none" lIns="0" tIns="0" rIns="0" bIns="0" anchor="t" anchorCtr="0">
              <a:spAutoFit/>
            </a:bodyPr>
            <a:lstStyle/>
            <a:p>
              <a:pPr algn="ctr"/>
              <a:r>
                <a:rPr lang="zh-CN" sz="1120" b="1" dirty="0">
                  <a:solidFill>
                    <a:srgbClr val="C41D00"/>
                  </a:solidFill>
                  <a:latin typeface="+mn-lt"/>
                  <a:ea typeface="+mn-ea"/>
                  <a:cs typeface="+mn-cs"/>
                </a:rPr>
                <a:t>​+6.8亿​</a:t>
              </a:r>
            </a:p>
          </p:txBody>
        </p:sp>
        <p:grpSp>
          <p:nvGrpSpPr>
            <p:cNvPr id="121" name="Group 121"/>
            <p:cNvGrpSpPr/>
            <p:nvPr/>
          </p:nvGrpSpPr>
          <p:grpSpPr>
            <a:xfrm>
              <a:off x="9101137" y="2214562"/>
              <a:ext cx="142875" cy="142875"/>
              <a:chOff x="9101137" y="2214562"/>
              <a:chExt cx="142875" cy="142875"/>
            </a:xfrm>
          </p:grpSpPr>
          <p:sp>
            <p:nvSpPr>
              <p:cNvPr id="117" name="Freeform 117"/>
              <p:cNvSpPr/>
              <p:nvPr/>
            </p:nvSpPr>
            <p:spPr>
              <a:xfrm>
                <a:off x="9117012" y="22145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EE492C"/>
                </a:solidFill>
              </a:ln>
            </p:spPr>
          </p:sp>
          <p:sp>
            <p:nvSpPr>
              <p:cNvPr id="118" name="Freeform 118"/>
              <p:cNvSpPr/>
              <p:nvPr/>
            </p:nvSpPr>
            <p:spPr>
              <a:xfrm>
                <a:off x="9101137" y="23098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EE492C"/>
                </a:solidFill>
              </a:ln>
            </p:spPr>
          </p:sp>
          <p:sp>
            <p:nvSpPr>
              <p:cNvPr id="119" name="Freeform 119"/>
              <p:cNvSpPr/>
              <p:nvPr/>
            </p:nvSpPr>
            <p:spPr>
              <a:xfrm>
                <a:off x="9204325" y="22155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EE492C"/>
                </a:solidFill>
              </a:ln>
            </p:spPr>
          </p:sp>
          <p:sp>
            <p:nvSpPr>
              <p:cNvPr id="120" name="Freeform 120"/>
              <p:cNvSpPr/>
              <p:nvPr/>
            </p:nvSpPr>
            <p:spPr>
              <a:xfrm>
                <a:off x="9220200" y="23110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EE492C"/>
                </a:solidFill>
              </a:ln>
            </p:spPr>
          </p:sp>
        </p:grpSp>
        <p:sp>
          <p:nvSpPr>
            <p:cNvPr id="122" name="TextBox 122"/>
            <p:cNvSpPr txBox="1"/>
            <p:nvPr/>
          </p:nvSpPr>
          <p:spPr>
            <a:xfrm>
              <a:off x="8862494" y="2434828"/>
              <a:ext cx="620161"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​核心客群激活率​</a:t>
              </a:r>
            </a:p>
          </p:txBody>
        </p:sp>
        <p:sp>
          <p:nvSpPr>
            <p:cNvPr id="123" name="TextBox 123"/>
            <p:cNvSpPr txBox="1"/>
            <p:nvPr/>
          </p:nvSpPr>
          <p:spPr>
            <a:xfrm>
              <a:off x="8862107" y="2583656"/>
              <a:ext cx="620936" cy="220028"/>
            </a:xfrm>
            <a:prstGeom prst="rect">
              <a:avLst/>
            </a:prstGeom>
            <a:noFill/>
            <a:ln>
              <a:noFill/>
            </a:ln>
          </p:spPr>
          <p:txBody>
            <a:bodyPr wrap="none" lIns="0" tIns="0" rIns="0" bIns="0" anchor="t" anchorCtr="0">
              <a:spAutoFit/>
            </a:bodyPr>
            <a:lstStyle/>
            <a:p>
              <a:pPr algn="ctr"/>
              <a:r>
                <a:rPr lang="en-US" sz="1120" b="1" dirty="0">
                  <a:solidFill>
                    <a:srgbClr val="C41D00"/>
                  </a:solidFill>
                  <a:latin typeface="+mn-lt"/>
                  <a:ea typeface="+mn-ea"/>
                  <a:cs typeface="+mn-cs"/>
                </a:rPr>
                <a:t>​+12pp​</a:t>
              </a:r>
            </a:p>
          </p:txBody>
        </p:sp>
        <p:grpSp>
          <p:nvGrpSpPr>
            <p:cNvPr id="130" name="Group 130"/>
            <p:cNvGrpSpPr/>
            <p:nvPr/>
          </p:nvGrpSpPr>
          <p:grpSpPr>
            <a:xfrm>
              <a:off x="10148887" y="2214562"/>
              <a:ext cx="142875" cy="142875"/>
              <a:chOff x="10148887" y="2214562"/>
              <a:chExt cx="142875" cy="142875"/>
            </a:xfrm>
          </p:grpSpPr>
          <p:sp>
            <p:nvSpPr>
              <p:cNvPr id="124" name="Freeform 124"/>
              <p:cNvSpPr/>
              <p:nvPr/>
            </p:nvSpPr>
            <p:spPr>
              <a:xfrm>
                <a:off x="10204450" y="22780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E492C"/>
                </a:solidFill>
              </a:ln>
            </p:spPr>
          </p:sp>
          <p:sp>
            <p:nvSpPr>
              <p:cNvPr id="125" name="Freeform 125"/>
              <p:cNvSpPr/>
              <p:nvPr/>
            </p:nvSpPr>
            <p:spPr>
              <a:xfrm>
                <a:off x="10188575" y="23336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EE492C"/>
                </a:solidFill>
              </a:ln>
            </p:spPr>
          </p:sp>
          <p:sp>
            <p:nvSpPr>
              <p:cNvPr id="126" name="Freeform 126"/>
              <p:cNvSpPr/>
              <p:nvPr/>
            </p:nvSpPr>
            <p:spPr>
              <a:xfrm>
                <a:off x="10244137" y="22145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E492C"/>
                </a:solidFill>
              </a:ln>
            </p:spPr>
          </p:sp>
          <p:sp>
            <p:nvSpPr>
              <p:cNvPr id="127" name="Freeform 127"/>
              <p:cNvSpPr/>
              <p:nvPr/>
            </p:nvSpPr>
            <p:spPr>
              <a:xfrm>
                <a:off x="10260012" y="22701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EE492C"/>
                </a:solidFill>
              </a:ln>
            </p:spPr>
          </p:sp>
          <p:sp>
            <p:nvSpPr>
              <p:cNvPr id="128" name="Freeform 128"/>
              <p:cNvSpPr/>
              <p:nvPr/>
            </p:nvSpPr>
            <p:spPr>
              <a:xfrm>
                <a:off x="10164762" y="22145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E492C"/>
                </a:solidFill>
              </a:ln>
            </p:spPr>
          </p:sp>
          <p:sp>
            <p:nvSpPr>
              <p:cNvPr id="129" name="Freeform 129"/>
              <p:cNvSpPr/>
              <p:nvPr/>
            </p:nvSpPr>
            <p:spPr>
              <a:xfrm>
                <a:off x="10148887" y="22701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EE492C"/>
                </a:solidFill>
              </a:ln>
            </p:spPr>
          </p:sp>
        </p:grpSp>
        <p:sp>
          <p:nvSpPr>
            <p:cNvPr id="131" name="TextBox 131"/>
            <p:cNvSpPr txBox="1"/>
            <p:nvPr/>
          </p:nvSpPr>
          <p:spPr>
            <a:xfrm>
              <a:off x="9872551" y="2434828"/>
              <a:ext cx="695549"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​高价值客户流失率​</a:t>
              </a:r>
            </a:p>
          </p:txBody>
        </p:sp>
        <p:sp>
          <p:nvSpPr>
            <p:cNvPr id="132" name="TextBox 132"/>
            <p:cNvSpPr txBox="1"/>
            <p:nvPr/>
          </p:nvSpPr>
          <p:spPr>
            <a:xfrm>
              <a:off x="9953393" y="2583656"/>
              <a:ext cx="533863" cy="220028"/>
            </a:xfrm>
            <a:prstGeom prst="rect">
              <a:avLst/>
            </a:prstGeom>
            <a:noFill/>
            <a:ln>
              <a:noFill/>
            </a:ln>
          </p:spPr>
          <p:txBody>
            <a:bodyPr wrap="none" lIns="0" tIns="0" rIns="0" bIns="0" anchor="t" anchorCtr="0">
              <a:spAutoFit/>
            </a:bodyPr>
            <a:lstStyle/>
            <a:p>
              <a:pPr algn="ctr"/>
              <a:r>
                <a:rPr lang="en-US" sz="1120" b="1" dirty="0">
                  <a:solidFill>
                    <a:srgbClr val="C41D00"/>
                  </a:solidFill>
                  <a:latin typeface="+mn-lt"/>
                  <a:ea typeface="+mn-ea"/>
                  <a:cs typeface="+mn-cs"/>
                </a:rPr>
                <a:t>​-3pp​</a:t>
              </a:r>
            </a:p>
          </p:txBody>
        </p:sp>
        <p:grpSp>
          <p:nvGrpSpPr>
            <p:cNvPr id="136" name="Group 136"/>
            <p:cNvGrpSpPr/>
            <p:nvPr/>
          </p:nvGrpSpPr>
          <p:grpSpPr>
            <a:xfrm>
              <a:off x="11220450" y="2214562"/>
              <a:ext cx="95250" cy="142875"/>
              <a:chOff x="11220450" y="2214562"/>
              <a:chExt cx="95250" cy="142875"/>
            </a:xfrm>
          </p:grpSpPr>
          <p:sp>
            <p:nvSpPr>
              <p:cNvPr id="133" name="Freeform 133"/>
              <p:cNvSpPr/>
              <p:nvPr/>
            </p:nvSpPr>
            <p:spPr>
              <a:xfrm>
                <a:off x="11220450" y="221456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EE492C"/>
                </a:solidFill>
              </a:ln>
            </p:spPr>
          </p:sp>
          <p:sp>
            <p:nvSpPr>
              <p:cNvPr id="134" name="Freeform 134"/>
              <p:cNvSpPr/>
              <p:nvPr/>
            </p:nvSpPr>
            <p:spPr>
              <a:xfrm>
                <a:off x="11260137" y="2222500"/>
                <a:ext cx="15875" cy="9525"/>
              </a:xfrm>
              <a:custGeom>
                <a:avLst/>
                <a:gdLst/>
                <a:ahLst/>
                <a:cxnLst/>
                <a:rect l="l" t="t" r="r" b="b"/>
                <a:pathLst>
                  <a:path w="15875" h="9525">
                    <a:moveTo>
                      <a:pt x="0" y="0"/>
                    </a:moveTo>
                    <a:lnTo>
                      <a:pt x="15875" y="0"/>
                    </a:lnTo>
                  </a:path>
                </a:pathLst>
              </a:custGeom>
              <a:noFill/>
              <a:ln w="15875">
                <a:solidFill>
                  <a:srgbClr val="EE492C"/>
                </a:solidFill>
              </a:ln>
            </p:spPr>
          </p:sp>
          <p:sp>
            <p:nvSpPr>
              <p:cNvPr id="135" name="Freeform 135"/>
              <p:cNvSpPr/>
              <p:nvPr/>
            </p:nvSpPr>
            <p:spPr>
              <a:xfrm>
                <a:off x="11268075" y="2325687"/>
                <a:ext cx="9525" cy="9525"/>
              </a:xfrm>
              <a:custGeom>
                <a:avLst/>
                <a:gdLst/>
                <a:ahLst/>
                <a:cxnLst/>
                <a:rect l="l" t="t" r="r" b="b"/>
                <a:pathLst>
                  <a:path w="9525" h="9525">
                    <a:moveTo>
                      <a:pt x="0" y="0"/>
                    </a:moveTo>
                    <a:lnTo>
                      <a:pt x="0" y="79"/>
                    </a:lnTo>
                  </a:path>
                </a:pathLst>
              </a:custGeom>
              <a:noFill/>
              <a:ln w="15875">
                <a:solidFill>
                  <a:srgbClr val="EE492C"/>
                </a:solidFill>
              </a:ln>
            </p:spPr>
          </p:sp>
        </p:grpSp>
        <p:sp>
          <p:nvSpPr>
            <p:cNvPr id="137" name="TextBox 137"/>
            <p:cNvSpPr txBox="1"/>
            <p:nvPr/>
          </p:nvSpPr>
          <p:spPr>
            <a:xfrm>
              <a:off x="10995688" y="2434828"/>
              <a:ext cx="544774" cy="111919"/>
            </a:xfrm>
            <a:prstGeom prst="rect">
              <a:avLst/>
            </a:prstGeom>
            <a:noFill/>
            <a:ln>
              <a:noFill/>
            </a:ln>
          </p:spPr>
          <p:txBody>
            <a:bodyPr wrap="none" lIns="0" tIns="0" rIns="0" bIns="0" anchor="t" anchorCtr="0">
              <a:spAutoFit/>
            </a:bodyPr>
            <a:lstStyle/>
            <a:p>
              <a:pPr algn="ctr"/>
              <a:r>
                <a:rPr lang="zh-CN" sz="560" dirty="0">
                  <a:solidFill>
                    <a:srgbClr val="7A716B"/>
                  </a:solidFill>
                  <a:latin typeface="+mn-lt"/>
                  <a:ea typeface="+mn-ea"/>
                  <a:cs typeface="+mn-cs"/>
                </a:rPr>
                <a:t>​单次触达成本​</a:t>
              </a:r>
            </a:p>
          </p:txBody>
        </p:sp>
        <p:sp>
          <p:nvSpPr>
            <p:cNvPr id="138" name="TextBox 138"/>
            <p:cNvSpPr txBox="1"/>
            <p:nvPr/>
          </p:nvSpPr>
          <p:spPr>
            <a:xfrm>
              <a:off x="10985312" y="2583656"/>
              <a:ext cx="565526" cy="220028"/>
            </a:xfrm>
            <a:prstGeom prst="rect">
              <a:avLst/>
            </a:prstGeom>
            <a:noFill/>
            <a:ln>
              <a:noFill/>
            </a:ln>
          </p:spPr>
          <p:txBody>
            <a:bodyPr wrap="none" lIns="0" tIns="0" rIns="0" bIns="0" anchor="t" anchorCtr="0">
              <a:spAutoFit/>
            </a:bodyPr>
            <a:lstStyle/>
            <a:p>
              <a:pPr algn="ctr"/>
              <a:r>
                <a:rPr lang="zh-CN" sz="1120" b="1" dirty="0">
                  <a:solidFill>
                    <a:srgbClr val="C41D00"/>
                  </a:solidFill>
                  <a:latin typeface="+mn-lt"/>
                  <a:ea typeface="+mn-ea"/>
                  <a:cs typeface="+mn-cs"/>
                </a:rPr>
                <a:t>​-18%​</a:t>
              </a:r>
            </a:p>
          </p:txBody>
        </p:sp>
        <p:sp>
          <p:nvSpPr>
            <p:cNvPr id="139" name="Line 139"/>
            <p:cNvSpPr/>
            <p:nvPr/>
          </p:nvSpPr>
          <p:spPr>
            <a:xfrm>
              <a:off x="6629400" y="2800350"/>
              <a:ext cx="5105400" cy="9525"/>
            </a:xfrm>
            <a:custGeom>
              <a:avLst/>
              <a:gdLst/>
              <a:ahLst/>
              <a:cxnLst/>
              <a:rect l="l" t="t" r="r" b="b"/>
              <a:pathLst>
                <a:path w="5105400" h="9525">
                  <a:moveTo>
                    <a:pt x="0" y="0"/>
                  </a:moveTo>
                  <a:lnTo>
                    <a:pt x="5105400" y="0"/>
                  </a:lnTo>
                </a:path>
              </a:pathLst>
            </a:custGeom>
            <a:noFill/>
            <a:ln w="9525">
              <a:solidFill>
                <a:srgbClr val="EADBCE"/>
              </a:solidFill>
            </a:ln>
          </p:spPr>
        </p:sp>
        <p:sp>
          <p:nvSpPr>
            <p:cNvPr id="140" name="TextBox 140"/>
            <p:cNvSpPr txBox="1"/>
            <p:nvPr/>
          </p:nvSpPr>
          <p:spPr>
            <a:xfrm>
              <a:off x="6624638" y="2860834"/>
              <a:ext cx="375691" cy="133350"/>
            </a:xfrm>
            <a:prstGeom prst="rect">
              <a:avLst/>
            </a:prstGeom>
            <a:noFill/>
            <a:ln>
              <a:noFill/>
            </a:ln>
          </p:spPr>
          <p:txBody>
            <a:bodyPr wrap="none" lIns="0" tIns="0" rIns="0" bIns="0" anchor="t" anchorCtr="0">
              <a:spAutoFit/>
            </a:bodyPr>
            <a:lstStyle/>
            <a:p>
              <a:pPr algn="l"/>
              <a:r>
                <a:rPr lang="zh-CN" sz="680" b="1" dirty="0">
                  <a:solidFill>
                    <a:srgbClr val="C41D00"/>
                  </a:solidFill>
                  <a:latin typeface="+mn-lt"/>
                  <a:ea typeface="+mn-ea"/>
                  <a:cs typeface="+mn-cs"/>
                </a:rPr>
                <a:t>核心假设</a:t>
              </a:r>
            </a:p>
          </p:txBody>
        </p:sp>
        <p:sp>
          <p:nvSpPr>
            <p:cNvPr id="141" name="TextBox 141"/>
            <p:cNvSpPr txBox="1"/>
            <p:nvPr/>
          </p:nvSpPr>
          <p:spPr>
            <a:xfrm>
              <a:off x="6624638" y="2996803"/>
              <a:ext cx="2649601" cy="531019"/>
            </a:xfrm>
            <a:prstGeom prst="rect">
              <a:avLst/>
            </a:prstGeom>
            <a:noFill/>
            <a:ln>
              <a:noFill/>
            </a:ln>
          </p:spPr>
          <p:txBody>
            <a:bodyPr wrap="none" lIns="0" tIns="0" rIns="0" bIns="0" anchor="t" anchorCtr="0">
              <a:spAutoFit/>
            </a:bodyPr>
            <a:lstStyle/>
            <a:p>
              <a:pPr algn="l" marL="76200" indent="-76200">
                <a:lnSpc>
                  <a:spcPts val="825"/>
                </a:lnSpc>
                <a:buClr>
                  <a:srgbClr val="3D3835"/>
                </a:buClr>
                <a:buSzTx/>
                <a:buFontTx/>
                <a:buChar char="•"/>
              </a:pPr>
              <a:r>
                <a:rPr lang="zh-CN" sz="560" dirty="0">
                  <a:solidFill>
                    <a:srgbClr val="3D3835"/>
                  </a:solidFill>
                  <a:latin typeface="+mn-lt"/>
                  <a:ea typeface="+mn-ea"/>
                  <a:cs typeface="+mn-cs"/>
                </a:rPr>
                <a:t>客群基数120万核心/高潜客户​​​​</a:t>
              </a:r>
            </a:p>
            <a:p>
              <a:pPr algn="l" marL="76200" indent="-76200">
                <a:lnSpc>
                  <a:spcPts val="825"/>
                </a:lnSpc>
                <a:buClr>
                  <a:srgbClr val="3D3835"/>
                </a:buClr>
                <a:buSzTx/>
                <a:buFontTx/>
                <a:buChar char="•"/>
              </a:pPr>
              <a:r>
                <a:rPr lang="zh-CN" sz="560" dirty="0">
                  <a:solidFill>
                    <a:srgbClr val="3D3835"/>
                  </a:solidFill>
                  <a:latin typeface="+mn-lt"/>
                  <a:ea typeface="+mn-ea"/>
                  <a:cs typeface="+mn-cs"/>
                </a:rPr>
                <a:t>平均AUM提升幅度+6.5%带来新增AUM+820亿​​​​​​​​</a:t>
              </a:r>
            </a:p>
            <a:p>
              <a:pPr algn="l" marL="76200" indent="-76200">
                <a:lnSpc>
                  <a:spcPts val="825"/>
                </a:lnSpc>
                <a:buClr>
                  <a:srgbClr val="3D3835"/>
                </a:buClr>
                <a:buSzTx/>
                <a:buFontTx/>
                <a:buChar char="•"/>
              </a:pPr>
              <a:r>
                <a:rPr lang="zh-CN" sz="560" dirty="0">
                  <a:solidFill>
                    <a:srgbClr val="3D3835"/>
                  </a:solidFill>
                  <a:latin typeface="+mn-lt"/>
                  <a:ea typeface="+mn-ea"/>
                  <a:cs typeface="+mn-cs"/>
                </a:rPr>
                <a:t>年均管理费率约0.30%带来其他收入约2.0亿​​​​​</a:t>
              </a:r>
            </a:p>
            <a:p>
              <a:pPr algn="l" marL="76200" indent="-76200">
                <a:lnSpc>
                  <a:spcPts val="825"/>
                </a:lnSpc>
                <a:buClr>
                  <a:srgbClr val="3D3835"/>
                </a:buClr>
                <a:buSzTx/>
                <a:buFontTx/>
                <a:buChar char="•"/>
              </a:pPr>
              <a:r>
                <a:rPr lang="zh-CN" sz="560" dirty="0">
                  <a:solidFill>
                    <a:srgbClr val="3D3835"/>
                  </a:solidFill>
                  <a:latin typeface="+mn-lt"/>
                  <a:ea typeface="+mn-ea"/>
                  <a:cs typeface="+mn-cs"/>
                </a:rPr>
                <a:t>活跃率提升带动产品持有与交叉销售贡献手续费+6.8亿（含流失率改善3pp）​​​​</a:t>
              </a:r>
            </a:p>
            <a:p>
              <a:pPr algn="l" marL="76200" indent="-76200">
                <a:lnSpc>
                  <a:spcPts val="825"/>
                </a:lnSpc>
                <a:buClr>
                  <a:srgbClr val="3D3835"/>
                </a:buClr>
                <a:buSzTx/>
                <a:buFontTx/>
                <a:buChar char="•"/>
              </a:pPr>
              <a:r>
                <a:rPr lang="zh-CN" sz="560" dirty="0">
                  <a:solidFill>
                    <a:srgbClr val="3D3835"/>
                  </a:solidFill>
                  <a:latin typeface="+mn-lt"/>
                  <a:ea typeface="+mn-ea"/>
                  <a:cs typeface="+mn-cs"/>
                </a:rPr>
                <a:t>触达自动化与应用提升人效使单位触达成本下降18%​​​</a:t>
              </a:r>
            </a:p>
          </p:txBody>
        </p:sp>
        <p:sp>
          <p:nvSpPr>
            <p:cNvPr id="142" name="Line 142"/>
            <p:cNvSpPr/>
            <p:nvPr/>
          </p:nvSpPr>
          <p:spPr>
            <a:xfrm>
              <a:off x="6629400" y="3562350"/>
              <a:ext cx="5105400" cy="9525"/>
            </a:xfrm>
            <a:custGeom>
              <a:avLst/>
              <a:gdLst/>
              <a:ahLst/>
              <a:cxnLst/>
              <a:rect l="l" t="t" r="r" b="b"/>
              <a:pathLst>
                <a:path w="5105400" h="9525">
                  <a:moveTo>
                    <a:pt x="0" y="0"/>
                  </a:moveTo>
                  <a:lnTo>
                    <a:pt x="5105400" y="0"/>
                  </a:lnTo>
                </a:path>
              </a:pathLst>
            </a:custGeom>
            <a:noFill/>
            <a:ln w="9525">
              <a:solidFill>
                <a:srgbClr val="EADBCE"/>
              </a:solidFill>
            </a:ln>
          </p:spPr>
        </p:sp>
        <p:sp>
          <p:nvSpPr>
            <p:cNvPr id="143" name="TextBox 143"/>
            <p:cNvSpPr txBox="1"/>
            <p:nvPr/>
          </p:nvSpPr>
          <p:spPr>
            <a:xfrm>
              <a:off x="6624638" y="3622834"/>
              <a:ext cx="1327186" cy="133350"/>
            </a:xfrm>
            <a:prstGeom prst="rect">
              <a:avLst/>
            </a:prstGeom>
            <a:noFill/>
            <a:ln>
              <a:noFill/>
            </a:ln>
          </p:spPr>
          <p:txBody>
            <a:bodyPr wrap="none" lIns="0" tIns="0" rIns="0" bIns="0" anchor="t" anchorCtr="0">
              <a:spAutoFit/>
            </a:bodyPr>
            <a:lstStyle/>
            <a:p>
              <a:pPr algn="l"/>
              <a:r>
                <a:rPr lang="zh-CN" sz="680" b="1" dirty="0">
                  <a:solidFill>
                    <a:srgbClr val="C41D00"/>
                  </a:solidFill>
                  <a:latin typeface="+mn-lt"/>
                  <a:ea typeface="+mn-ea"/>
                  <a:cs typeface="+mn-cs"/>
                </a:rPr>
                <a:t>价值桥接（年度化）</a:t>
              </a:r>
              <a:r>
                <a:rPr lang="zh-CN" sz="560" dirty="0">
                  <a:solidFill>
                    <a:srgbClr val="7A716B"/>
                  </a:solidFill>
                  <a:latin typeface="+mn-lt"/>
                  <a:ea typeface="+mn-ea"/>
                  <a:cs typeface="+mn-cs"/>
                </a:rPr>
                <a:t xml:space="preserve">　单位：亿元​</a:t>
              </a:r>
            </a:p>
          </p:txBody>
        </p:sp>
        <p:sp>
          <p:nvSpPr>
            <p:cNvPr id="144" name="Line 144"/>
            <p:cNvSpPr/>
            <p:nvPr/>
          </p:nvSpPr>
          <p:spPr>
            <a:xfrm>
              <a:off x="6629400" y="4762500"/>
              <a:ext cx="5105400" cy="9525"/>
            </a:xfrm>
            <a:custGeom>
              <a:avLst/>
              <a:gdLst/>
              <a:ahLst/>
              <a:cxnLst/>
              <a:rect l="l" t="t" r="r" b="b"/>
              <a:pathLst>
                <a:path w="5105400" h="9525">
                  <a:moveTo>
                    <a:pt x="0" y="0"/>
                  </a:moveTo>
                  <a:lnTo>
                    <a:pt x="5105400" y="0"/>
                  </a:lnTo>
                </a:path>
              </a:pathLst>
            </a:custGeom>
            <a:noFill/>
            <a:ln w="9525">
              <a:solidFill>
                <a:srgbClr val="7A716B"/>
              </a:solidFill>
            </a:ln>
          </p:spPr>
        </p:sp>
        <p:sp>
          <p:nvSpPr>
            <p:cNvPr id="145" name="Rectangle 145"/>
            <p:cNvSpPr/>
            <p:nvPr/>
          </p:nvSpPr>
          <p:spPr>
            <a:xfrm>
              <a:off x="6724650" y="4152900"/>
              <a:ext cx="457200" cy="609600"/>
            </a:xfrm>
            <a:prstGeom prst="rect">
              <a:avLst/>
            </a:prstGeom>
            <a:solidFill>
              <a:srgbClr val="8F1C08"/>
            </a:solidFill>
            <a:ln>
              <a:noFill/>
            </a:ln>
          </p:spPr>
        </p:sp>
        <p:sp>
          <p:nvSpPr>
            <p:cNvPr id="146" name="TextBox 146"/>
            <p:cNvSpPr txBox="1"/>
            <p:nvPr/>
          </p:nvSpPr>
          <p:spPr>
            <a:xfrm>
              <a:off x="6817879" y="4054078"/>
              <a:ext cx="270742" cy="111919"/>
            </a:xfrm>
            <a:prstGeom prst="rect">
              <a:avLst/>
            </a:prstGeom>
            <a:noFill/>
            <a:ln>
              <a:noFill/>
            </a:ln>
          </p:spPr>
          <p:txBody>
            <a:bodyPr wrap="none" lIns="0" tIns="0" rIns="0" bIns="0" anchor="t" anchorCtr="0">
              <a:spAutoFit/>
            </a:bodyPr>
            <a:lstStyle/>
            <a:p>
              <a:pPr algn="ctr"/>
              <a:r>
                <a:rPr lang="zh-CN" sz="560" b="1" dirty="0">
                  <a:solidFill>
                    <a:srgbClr val="4A130A"/>
                  </a:solidFill>
                  <a:latin typeface="+mn-lt"/>
                  <a:ea typeface="+mn-ea"/>
                  <a:cs typeface="+mn-cs"/>
                </a:rPr>
                <a:t>​12.8​</a:t>
              </a:r>
            </a:p>
          </p:txBody>
        </p:sp>
        <p:sp>
          <p:nvSpPr>
            <p:cNvPr id="147" name="Rectangle 147"/>
            <p:cNvSpPr/>
            <p:nvPr/>
          </p:nvSpPr>
          <p:spPr>
            <a:xfrm>
              <a:off x="7562850" y="4035742"/>
              <a:ext cx="457200" cy="117158"/>
            </a:xfrm>
            <a:prstGeom prst="rect">
              <a:avLst/>
            </a:prstGeom>
            <a:solidFill>
              <a:srgbClr val="EE492C"/>
            </a:solidFill>
            <a:ln>
              <a:noFill/>
            </a:ln>
          </p:spPr>
        </p:sp>
        <p:sp>
          <p:nvSpPr>
            <p:cNvPr id="148" name="TextBox 148"/>
            <p:cNvSpPr txBox="1"/>
            <p:nvPr/>
          </p:nvSpPr>
          <p:spPr>
            <a:xfrm>
              <a:off x="7634311" y="3939778"/>
              <a:ext cx="314278" cy="111919"/>
            </a:xfrm>
            <a:prstGeom prst="rect">
              <a:avLst/>
            </a:prstGeom>
            <a:noFill/>
            <a:ln>
              <a:noFill/>
            </a:ln>
          </p:spPr>
          <p:txBody>
            <a:bodyPr wrap="none" lIns="0" tIns="0" rIns="0" bIns="0" anchor="t" anchorCtr="0">
              <a:spAutoFit/>
            </a:bodyPr>
            <a:lstStyle/>
            <a:p>
              <a:pPr algn="ctr"/>
              <a:r>
                <a:rPr lang="zh-CN" sz="560" b="1" dirty="0">
                  <a:solidFill>
                    <a:srgbClr val="C41D00"/>
                  </a:solidFill>
                  <a:latin typeface="+mn-lt"/>
                  <a:ea typeface="+mn-ea"/>
                  <a:cs typeface="+mn-cs"/>
                </a:rPr>
                <a:t>​+2.46​</a:t>
              </a:r>
            </a:p>
          </p:txBody>
        </p:sp>
        <p:sp>
          <p:nvSpPr>
            <p:cNvPr id="149" name="Rectangle 149"/>
            <p:cNvSpPr/>
            <p:nvPr/>
          </p:nvSpPr>
          <p:spPr>
            <a:xfrm>
              <a:off x="8401050" y="3967162"/>
              <a:ext cx="457200" cy="68580"/>
            </a:xfrm>
            <a:prstGeom prst="rect">
              <a:avLst/>
            </a:prstGeom>
            <a:solidFill>
              <a:srgbClr val="EE492C"/>
            </a:solidFill>
            <a:ln>
              <a:noFill/>
            </a:ln>
          </p:spPr>
        </p:sp>
        <p:sp>
          <p:nvSpPr>
            <p:cNvPr id="150" name="TextBox 150"/>
            <p:cNvSpPr txBox="1"/>
            <p:nvPr/>
          </p:nvSpPr>
          <p:spPr>
            <a:xfrm>
              <a:off x="8472511" y="3873103"/>
              <a:ext cx="314278" cy="111919"/>
            </a:xfrm>
            <a:prstGeom prst="rect">
              <a:avLst/>
            </a:prstGeom>
            <a:noFill/>
            <a:ln>
              <a:noFill/>
            </a:ln>
          </p:spPr>
          <p:txBody>
            <a:bodyPr wrap="none" lIns="0" tIns="0" rIns="0" bIns="0" anchor="t" anchorCtr="0">
              <a:spAutoFit/>
            </a:bodyPr>
            <a:lstStyle/>
            <a:p>
              <a:pPr algn="ctr"/>
              <a:r>
                <a:rPr lang="zh-CN" sz="560" b="1" dirty="0">
                  <a:solidFill>
                    <a:srgbClr val="C41D00"/>
                  </a:solidFill>
                  <a:latin typeface="+mn-lt"/>
                  <a:ea typeface="+mn-ea"/>
                  <a:cs typeface="+mn-cs"/>
                </a:rPr>
                <a:t>​+1.44​</a:t>
              </a:r>
            </a:p>
          </p:txBody>
        </p:sp>
        <p:sp>
          <p:nvSpPr>
            <p:cNvPr id="151" name="Rectangle 151"/>
            <p:cNvSpPr/>
            <p:nvPr/>
          </p:nvSpPr>
          <p:spPr>
            <a:xfrm>
              <a:off x="9239250" y="3901440"/>
              <a:ext cx="457200" cy="65722"/>
            </a:xfrm>
            <a:prstGeom prst="rect">
              <a:avLst/>
            </a:prstGeom>
            <a:solidFill>
              <a:srgbClr val="EE492C"/>
            </a:solidFill>
            <a:ln>
              <a:noFill/>
            </a:ln>
          </p:spPr>
        </p:sp>
        <p:sp>
          <p:nvSpPr>
            <p:cNvPr id="152" name="TextBox 152"/>
            <p:cNvSpPr txBox="1"/>
            <p:nvPr/>
          </p:nvSpPr>
          <p:spPr>
            <a:xfrm>
              <a:off x="9310711" y="3806428"/>
              <a:ext cx="314278" cy="111919"/>
            </a:xfrm>
            <a:prstGeom prst="rect">
              <a:avLst/>
            </a:prstGeom>
            <a:noFill/>
            <a:ln>
              <a:noFill/>
            </a:ln>
          </p:spPr>
          <p:txBody>
            <a:bodyPr wrap="none" lIns="0" tIns="0" rIns="0" bIns="0" anchor="t" anchorCtr="0">
              <a:spAutoFit/>
            </a:bodyPr>
            <a:lstStyle/>
            <a:p>
              <a:pPr algn="ctr"/>
              <a:r>
                <a:rPr lang="zh-CN" sz="560" b="1" dirty="0">
                  <a:solidFill>
                    <a:srgbClr val="C41D00"/>
                  </a:solidFill>
                  <a:latin typeface="+mn-lt"/>
                  <a:ea typeface="+mn-ea"/>
                  <a:cs typeface="+mn-cs"/>
                </a:rPr>
                <a:t>​+1.38​</a:t>
              </a:r>
            </a:p>
          </p:txBody>
        </p:sp>
        <p:sp>
          <p:nvSpPr>
            <p:cNvPr id="153" name="Rectangle 153"/>
            <p:cNvSpPr/>
            <p:nvPr/>
          </p:nvSpPr>
          <p:spPr>
            <a:xfrm>
              <a:off x="10077450" y="3829050"/>
              <a:ext cx="457200" cy="72390"/>
            </a:xfrm>
            <a:prstGeom prst="rect">
              <a:avLst/>
            </a:prstGeom>
            <a:solidFill>
              <a:srgbClr val="EE492C"/>
            </a:solidFill>
            <a:ln>
              <a:noFill/>
            </a:ln>
          </p:spPr>
        </p:sp>
        <p:sp>
          <p:nvSpPr>
            <p:cNvPr id="154" name="TextBox 154"/>
            <p:cNvSpPr txBox="1"/>
            <p:nvPr/>
          </p:nvSpPr>
          <p:spPr>
            <a:xfrm>
              <a:off x="10148911" y="3730228"/>
              <a:ext cx="314278" cy="111919"/>
            </a:xfrm>
            <a:prstGeom prst="rect">
              <a:avLst/>
            </a:prstGeom>
            <a:noFill/>
            <a:ln>
              <a:noFill/>
            </a:ln>
          </p:spPr>
          <p:txBody>
            <a:bodyPr wrap="none" lIns="0" tIns="0" rIns="0" bIns="0" anchor="t" anchorCtr="0">
              <a:spAutoFit/>
            </a:bodyPr>
            <a:lstStyle/>
            <a:p>
              <a:pPr algn="ctr"/>
              <a:r>
                <a:rPr lang="zh-CN" sz="560" b="1" dirty="0">
                  <a:solidFill>
                    <a:srgbClr val="C41D00"/>
                  </a:solidFill>
                  <a:latin typeface="+mn-lt"/>
                  <a:ea typeface="+mn-ea"/>
                  <a:cs typeface="+mn-cs"/>
                </a:rPr>
                <a:t>​+1.52​</a:t>
              </a:r>
            </a:p>
          </p:txBody>
        </p:sp>
        <p:sp>
          <p:nvSpPr>
            <p:cNvPr id="155" name="Rectangle 155"/>
            <p:cNvSpPr/>
            <p:nvPr/>
          </p:nvSpPr>
          <p:spPr>
            <a:xfrm>
              <a:off x="10915650" y="3829050"/>
              <a:ext cx="457200" cy="933450"/>
            </a:xfrm>
            <a:prstGeom prst="rect">
              <a:avLst/>
            </a:prstGeom>
            <a:solidFill>
              <a:srgbClr val="C41D00"/>
            </a:solidFill>
            <a:ln>
              <a:noFill/>
            </a:ln>
          </p:spPr>
        </p:sp>
        <p:sp>
          <p:nvSpPr>
            <p:cNvPr id="156" name="TextBox 156"/>
            <p:cNvSpPr txBox="1"/>
            <p:nvPr/>
          </p:nvSpPr>
          <p:spPr>
            <a:xfrm>
              <a:off x="11008879" y="3730228"/>
              <a:ext cx="270742" cy="111919"/>
            </a:xfrm>
            <a:prstGeom prst="rect">
              <a:avLst/>
            </a:prstGeom>
            <a:noFill/>
            <a:ln>
              <a:noFill/>
            </a:ln>
          </p:spPr>
          <p:txBody>
            <a:bodyPr wrap="none" lIns="0" tIns="0" rIns="0" bIns="0" anchor="t" anchorCtr="0">
              <a:spAutoFit/>
            </a:bodyPr>
            <a:lstStyle/>
            <a:p>
              <a:pPr algn="ctr"/>
              <a:r>
                <a:rPr lang="zh-CN" sz="560" b="1" dirty="0">
                  <a:solidFill>
                    <a:srgbClr val="4A130A"/>
                  </a:solidFill>
                  <a:latin typeface="+mn-lt"/>
                  <a:ea typeface="+mn-ea"/>
                  <a:cs typeface="+mn-cs"/>
                </a:rPr>
                <a:t>​19.6​</a:t>
              </a:r>
            </a:p>
          </p:txBody>
        </p:sp>
        <p:sp>
          <p:nvSpPr>
            <p:cNvPr id="157" name="Line 157"/>
            <p:cNvSpPr/>
            <p:nvPr/>
          </p:nvSpPr>
          <p:spPr>
            <a:xfrm>
              <a:off x="7181850" y="4152900"/>
              <a:ext cx="381000" cy="9525"/>
            </a:xfrm>
            <a:custGeom>
              <a:avLst/>
              <a:gdLst/>
              <a:ahLst/>
              <a:cxnLst/>
              <a:rect l="l" t="t" r="r" b="b"/>
              <a:pathLst>
                <a:path w="381000" h="9525">
                  <a:moveTo>
                    <a:pt x="0" y="0"/>
                  </a:moveTo>
                  <a:lnTo>
                    <a:pt x="381000" y="0"/>
                  </a:lnTo>
                </a:path>
              </a:pathLst>
            </a:custGeom>
            <a:noFill/>
            <a:ln w="9525">
              <a:solidFill>
                <a:srgbClr val="7A716B"/>
              </a:solidFill>
              <a:prstDash val="sysDot"/>
            </a:ln>
          </p:spPr>
        </p:sp>
        <p:sp>
          <p:nvSpPr>
            <p:cNvPr id="158" name="Line 158"/>
            <p:cNvSpPr/>
            <p:nvPr/>
          </p:nvSpPr>
          <p:spPr>
            <a:xfrm>
              <a:off x="8020050" y="4035742"/>
              <a:ext cx="381000" cy="9525"/>
            </a:xfrm>
            <a:custGeom>
              <a:avLst/>
              <a:gdLst/>
              <a:ahLst/>
              <a:cxnLst/>
              <a:rect l="l" t="t" r="r" b="b"/>
              <a:pathLst>
                <a:path w="381000" h="9525">
                  <a:moveTo>
                    <a:pt x="0" y="0"/>
                  </a:moveTo>
                  <a:lnTo>
                    <a:pt x="381000" y="0"/>
                  </a:lnTo>
                </a:path>
              </a:pathLst>
            </a:custGeom>
            <a:noFill/>
            <a:ln w="9525">
              <a:solidFill>
                <a:srgbClr val="7A716B"/>
              </a:solidFill>
              <a:prstDash val="sysDot"/>
            </a:ln>
          </p:spPr>
        </p:sp>
        <p:sp>
          <p:nvSpPr>
            <p:cNvPr id="159" name="Line 159"/>
            <p:cNvSpPr/>
            <p:nvPr/>
          </p:nvSpPr>
          <p:spPr>
            <a:xfrm>
              <a:off x="8858250" y="3967162"/>
              <a:ext cx="381000" cy="9525"/>
            </a:xfrm>
            <a:custGeom>
              <a:avLst/>
              <a:gdLst/>
              <a:ahLst/>
              <a:cxnLst/>
              <a:rect l="l" t="t" r="r" b="b"/>
              <a:pathLst>
                <a:path w="381000" h="9525">
                  <a:moveTo>
                    <a:pt x="0" y="0"/>
                  </a:moveTo>
                  <a:lnTo>
                    <a:pt x="381000" y="0"/>
                  </a:lnTo>
                </a:path>
              </a:pathLst>
            </a:custGeom>
            <a:noFill/>
            <a:ln w="9525">
              <a:solidFill>
                <a:srgbClr val="7A716B"/>
              </a:solidFill>
              <a:prstDash val="sysDot"/>
            </a:ln>
          </p:spPr>
        </p:sp>
        <p:sp>
          <p:nvSpPr>
            <p:cNvPr id="160" name="Line 160"/>
            <p:cNvSpPr/>
            <p:nvPr/>
          </p:nvSpPr>
          <p:spPr>
            <a:xfrm>
              <a:off x="9696450" y="3901440"/>
              <a:ext cx="381000" cy="9525"/>
            </a:xfrm>
            <a:custGeom>
              <a:avLst/>
              <a:gdLst/>
              <a:ahLst/>
              <a:cxnLst/>
              <a:rect l="l" t="t" r="r" b="b"/>
              <a:pathLst>
                <a:path w="381000" h="9525">
                  <a:moveTo>
                    <a:pt x="0" y="0"/>
                  </a:moveTo>
                  <a:lnTo>
                    <a:pt x="381000" y="0"/>
                  </a:lnTo>
                </a:path>
              </a:pathLst>
            </a:custGeom>
            <a:noFill/>
            <a:ln w="9525">
              <a:solidFill>
                <a:srgbClr val="7A716B"/>
              </a:solidFill>
              <a:prstDash val="sysDot"/>
            </a:ln>
          </p:spPr>
        </p:sp>
        <p:sp>
          <p:nvSpPr>
            <p:cNvPr id="161" name="Line 161"/>
            <p:cNvSpPr/>
            <p:nvPr/>
          </p:nvSpPr>
          <p:spPr>
            <a:xfrm>
              <a:off x="10534650" y="3829050"/>
              <a:ext cx="381000" cy="9525"/>
            </a:xfrm>
            <a:custGeom>
              <a:avLst/>
              <a:gdLst/>
              <a:ahLst/>
              <a:cxnLst/>
              <a:rect l="l" t="t" r="r" b="b"/>
              <a:pathLst>
                <a:path w="381000" h="9525">
                  <a:moveTo>
                    <a:pt x="0" y="0"/>
                  </a:moveTo>
                  <a:lnTo>
                    <a:pt x="381000" y="0"/>
                  </a:lnTo>
                </a:path>
              </a:pathLst>
            </a:custGeom>
            <a:noFill/>
            <a:ln w="9525">
              <a:solidFill>
                <a:srgbClr val="7A716B"/>
              </a:solidFill>
              <a:prstDash val="sysDot"/>
            </a:ln>
          </p:spPr>
        </p:sp>
        <p:sp>
          <p:nvSpPr>
            <p:cNvPr id="162" name="TextBox 162"/>
            <p:cNvSpPr txBox="1"/>
            <p:nvPr/>
          </p:nvSpPr>
          <p:spPr>
            <a:xfrm>
              <a:off x="6699979" y="4820126"/>
              <a:ext cx="506542"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​现状年度贡献​</a:t>
              </a:r>
            </a:p>
          </p:txBody>
        </p:sp>
        <p:sp>
          <p:nvSpPr>
            <p:cNvPr id="163" name="TextBox 163"/>
            <p:cNvSpPr txBox="1"/>
            <p:nvPr/>
          </p:nvSpPr>
          <p:spPr>
            <a:xfrm>
              <a:off x="7569086" y="4820126"/>
              <a:ext cx="444729"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​​AUM增长​​</a:t>
              </a:r>
            </a:p>
          </p:txBody>
        </p:sp>
        <p:sp>
          <p:nvSpPr>
            <p:cNvPr id="164" name="TextBox 164"/>
            <p:cNvSpPr txBox="1"/>
            <p:nvPr/>
          </p:nvSpPr>
          <p:spPr>
            <a:xfrm>
              <a:off x="8484883" y="4820126"/>
              <a:ext cx="289535"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激活提升</a:t>
              </a:r>
            </a:p>
          </p:txBody>
        </p:sp>
        <p:sp>
          <p:nvSpPr>
            <p:cNvPr id="165" name="TextBox 165"/>
            <p:cNvSpPr txBox="1"/>
            <p:nvPr/>
          </p:nvSpPr>
          <p:spPr>
            <a:xfrm>
              <a:off x="9323083" y="4820126"/>
              <a:ext cx="289535"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流失下降</a:t>
              </a:r>
            </a:p>
          </p:txBody>
        </p:sp>
        <p:sp>
          <p:nvSpPr>
            <p:cNvPr id="166" name="TextBox 166"/>
            <p:cNvSpPr txBox="1"/>
            <p:nvPr/>
          </p:nvSpPr>
          <p:spPr>
            <a:xfrm>
              <a:off x="10161283" y="4820126"/>
              <a:ext cx="289535"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效率提升</a:t>
              </a:r>
            </a:p>
          </p:txBody>
        </p:sp>
        <p:sp>
          <p:nvSpPr>
            <p:cNvPr id="167" name="TextBox 167"/>
            <p:cNvSpPr txBox="1"/>
            <p:nvPr/>
          </p:nvSpPr>
          <p:spPr>
            <a:xfrm>
              <a:off x="10890979" y="4820126"/>
              <a:ext cx="506542" cy="104775"/>
            </a:xfrm>
            <a:prstGeom prst="rect">
              <a:avLst/>
            </a:prstGeom>
            <a:noFill/>
            <a:ln>
              <a:noFill/>
            </a:ln>
          </p:spPr>
          <p:txBody>
            <a:bodyPr wrap="none" lIns="0" tIns="0" rIns="0" bIns="0" anchor="t" anchorCtr="0">
              <a:spAutoFit/>
            </a:bodyPr>
            <a:lstStyle/>
            <a:p>
              <a:pPr algn="ctr"/>
              <a:r>
                <a:rPr lang="zh-CN" sz="520" dirty="0">
                  <a:solidFill>
                    <a:srgbClr val="7A716B"/>
                  </a:solidFill>
                  <a:latin typeface="+mn-lt"/>
                  <a:ea typeface="+mn-ea"/>
                  <a:cs typeface="+mn-cs"/>
                </a:rPr>
                <a:t>​未来年度贡献​</a:t>
              </a:r>
            </a:p>
          </p:txBody>
        </p:sp>
      </p:grpSp>
      <p:grpSp>
        <p:nvGrpSpPr>
          <p:cNvPr id="190" name="decision-request"/>
          <p:cNvGrpSpPr/>
          <p:nvPr/>
        </p:nvGrpSpPr>
        <p:grpSpPr>
          <a:xfrm>
            <a:off x="342900" y="5048250"/>
            <a:ext cx="2800350" cy="1638300"/>
            <a:chOff x="342900" y="5048250"/>
            <a:chExt cx="2800350" cy="1638300"/>
          </a:xfrm>
        </p:grpSpPr>
        <p:sp>
          <p:nvSpPr>
            <p:cNvPr id="169" name="Rectangle 169"/>
            <p:cNvSpPr/>
            <p:nvPr/>
          </p:nvSpPr>
          <p:spPr>
            <a:xfrm>
              <a:off x="342900" y="5048250"/>
              <a:ext cx="2800350" cy="1638300"/>
            </a:xfrm>
            <a:prstGeom prst="roundRect">
              <a:avLst>
                <a:gd name="adj" fmla="val 2326"/>
              </a:avLst>
            </a:prstGeom>
            <a:solidFill>
              <a:srgbClr val="FFF8F2"/>
            </a:solidFill>
            <a:ln w="9525">
              <a:solidFill>
                <a:srgbClr val="F0B8AE"/>
              </a:solidFill>
            </a:ln>
          </p:spPr>
        </p:sp>
        <p:sp>
          <p:nvSpPr>
            <p:cNvPr id="170" name="Rectangle 170"/>
            <p:cNvSpPr/>
            <p:nvPr/>
          </p:nvSpPr>
          <p:spPr>
            <a:xfrm>
              <a:off x="342900" y="5048250"/>
              <a:ext cx="628650" cy="1638300"/>
            </a:xfrm>
            <a:prstGeom prst="roundRect">
              <a:avLst>
                <a:gd name="adj" fmla="val 6061"/>
              </a:avLst>
            </a:prstGeom>
            <a:solidFill>
              <a:srgbClr val="8F1C08"/>
            </a:solidFill>
            <a:ln>
              <a:noFill/>
            </a:ln>
          </p:spPr>
        </p:sp>
        <p:grpSp>
          <p:nvGrpSpPr>
            <p:cNvPr id="176" name="Group 176"/>
            <p:cNvGrpSpPr/>
            <p:nvPr/>
          </p:nvGrpSpPr>
          <p:grpSpPr>
            <a:xfrm>
              <a:off x="562464" y="5363064"/>
              <a:ext cx="189755" cy="197154"/>
              <a:chOff x="562464" y="5363064"/>
              <a:chExt cx="189755" cy="197154"/>
            </a:xfrm>
          </p:grpSpPr>
          <p:sp>
            <p:nvSpPr>
              <p:cNvPr id="171" name="Freeform 171"/>
              <p:cNvSpPr/>
              <p:nvPr/>
            </p:nvSpPr>
            <p:spPr>
              <a:xfrm>
                <a:off x="636587" y="5437187"/>
                <a:ext cx="115632" cy="115608"/>
              </a:xfrm>
              <a:custGeom>
                <a:avLst/>
                <a:gdLst/>
                <a:ahLst/>
                <a:cxnLst/>
                <a:rect l="l" t="t" r="r" b="b"/>
                <a:pathLst>
                  <a:path w="115632" h="115608">
                    <a:moveTo>
                      <a:pt x="30956" y="0"/>
                    </a:moveTo>
                    <a:lnTo>
                      <a:pt x="107139" y="76544"/>
                    </a:lnTo>
                    <a:cubicBezTo>
                      <a:pt x="115632" y="85006"/>
                      <a:pt x="115632" y="98709"/>
                      <a:pt x="107139" y="107160"/>
                    </a:cubicBezTo>
                    <a:cubicBezTo>
                      <a:pt x="98646" y="115608"/>
                      <a:pt x="84924" y="115608"/>
                      <a:pt x="76431" y="107160"/>
                    </a:cubicBezTo>
                    <a:lnTo>
                      <a:pt x="0" y="30956"/>
                    </a:lnTo>
                  </a:path>
                </a:pathLst>
              </a:custGeom>
              <a:noFill/>
              <a:ln w="20637">
                <a:solidFill>
                  <a:srgbClr val="FFFFFF"/>
                </a:solidFill>
              </a:ln>
            </p:spPr>
          </p:sp>
          <p:sp>
            <p:nvSpPr>
              <p:cNvPr id="172" name="Freeform 172"/>
              <p:cNvSpPr/>
              <p:nvPr/>
            </p:nvSpPr>
            <p:spPr>
              <a:xfrm>
                <a:off x="595312" y="5426868"/>
                <a:ext cx="41275" cy="41275"/>
              </a:xfrm>
              <a:custGeom>
                <a:avLst/>
                <a:gdLst/>
                <a:ahLst/>
                <a:cxnLst/>
                <a:rect l="l" t="t" r="r" b="b"/>
                <a:pathLst>
                  <a:path w="41275" h="41275">
                    <a:moveTo>
                      <a:pt x="0" y="0"/>
                    </a:moveTo>
                    <a:lnTo>
                      <a:pt x="41275" y="41275"/>
                    </a:lnTo>
                  </a:path>
                </a:pathLst>
              </a:custGeom>
              <a:noFill/>
              <a:ln w="20637">
                <a:solidFill>
                  <a:srgbClr val="FFFFFF"/>
                </a:solidFill>
              </a:ln>
            </p:spPr>
          </p:sp>
          <p:sp>
            <p:nvSpPr>
              <p:cNvPr id="173" name="Freeform 173"/>
              <p:cNvSpPr/>
              <p:nvPr/>
            </p:nvSpPr>
            <p:spPr>
              <a:xfrm>
                <a:off x="626268" y="5395912"/>
                <a:ext cx="41275" cy="41275"/>
              </a:xfrm>
              <a:custGeom>
                <a:avLst/>
                <a:gdLst/>
                <a:ahLst/>
                <a:cxnLst/>
                <a:rect l="l" t="t" r="r" b="b"/>
                <a:pathLst>
                  <a:path w="41275" h="41275">
                    <a:moveTo>
                      <a:pt x="41275" y="41275"/>
                    </a:moveTo>
                    <a:lnTo>
                      <a:pt x="0" y="0"/>
                    </a:lnTo>
                  </a:path>
                </a:pathLst>
              </a:custGeom>
              <a:noFill/>
              <a:ln w="20637">
                <a:solidFill>
                  <a:srgbClr val="FFFFFF"/>
                </a:solidFill>
              </a:ln>
            </p:spPr>
          </p:sp>
          <p:sp>
            <p:nvSpPr>
              <p:cNvPr id="174" name="Freeform 174"/>
              <p:cNvSpPr/>
              <p:nvPr/>
            </p:nvSpPr>
            <p:spPr>
              <a:xfrm>
                <a:off x="564356" y="5550693"/>
                <a:ext cx="72231" cy="9525"/>
              </a:xfrm>
              <a:custGeom>
                <a:avLst/>
                <a:gdLst/>
                <a:ahLst/>
                <a:cxnLst/>
                <a:rect l="l" t="t" r="r" b="b"/>
                <a:pathLst>
                  <a:path w="72231" h="9525">
                    <a:moveTo>
                      <a:pt x="0" y="0"/>
                    </a:moveTo>
                    <a:lnTo>
                      <a:pt x="72231" y="0"/>
                    </a:lnTo>
                  </a:path>
                </a:pathLst>
              </a:custGeom>
              <a:noFill/>
              <a:ln w="20637">
                <a:solidFill>
                  <a:srgbClr val="FFFFFF"/>
                </a:solidFill>
              </a:ln>
            </p:spPr>
          </p:sp>
          <p:sp>
            <p:nvSpPr>
              <p:cNvPr id="175" name="Freeform 175"/>
              <p:cNvSpPr/>
              <p:nvPr/>
            </p:nvSpPr>
            <p:spPr>
              <a:xfrm>
                <a:off x="562464" y="5363064"/>
                <a:ext cx="137928" cy="137928"/>
              </a:xfrm>
              <a:custGeom>
                <a:avLst/>
                <a:gdLst/>
                <a:ahLst/>
                <a:cxnLst/>
                <a:rect l="l" t="t" r="r" b="b"/>
                <a:pathLst>
                  <a:path w="137928" h="137928">
                    <a:moveTo>
                      <a:pt x="41031" y="133900"/>
                    </a:moveTo>
                    <a:lnTo>
                      <a:pt x="4028" y="96897"/>
                    </a:lnTo>
                    <a:cubicBezTo>
                      <a:pt x="0" y="92867"/>
                      <a:pt x="0" y="86335"/>
                      <a:pt x="4028" y="82306"/>
                    </a:cubicBezTo>
                    <a:lnTo>
                      <a:pt x="27689" y="58645"/>
                    </a:lnTo>
                    <a:lnTo>
                      <a:pt x="32848" y="63805"/>
                    </a:lnTo>
                    <a:lnTo>
                      <a:pt x="63805" y="32848"/>
                    </a:lnTo>
                    <a:lnTo>
                      <a:pt x="58645" y="27689"/>
                    </a:lnTo>
                    <a:lnTo>
                      <a:pt x="82306" y="4028"/>
                    </a:lnTo>
                    <a:cubicBezTo>
                      <a:pt x="86335" y="0"/>
                      <a:pt x="92867" y="0"/>
                      <a:pt x="96897" y="4028"/>
                    </a:cubicBezTo>
                    <a:lnTo>
                      <a:pt x="133900" y="41031"/>
                    </a:lnTo>
                    <a:cubicBezTo>
                      <a:pt x="137928" y="45061"/>
                      <a:pt x="137928" y="51592"/>
                      <a:pt x="133900" y="55622"/>
                    </a:cubicBezTo>
                    <a:lnTo>
                      <a:pt x="110239" y="79283"/>
                    </a:lnTo>
                    <a:lnTo>
                      <a:pt x="105079" y="74123"/>
                    </a:lnTo>
                    <a:lnTo>
                      <a:pt x="74123" y="105079"/>
                    </a:lnTo>
                    <a:lnTo>
                      <a:pt x="79283" y="110239"/>
                    </a:lnTo>
                    <a:lnTo>
                      <a:pt x="55622" y="133900"/>
                    </a:lnTo>
                    <a:cubicBezTo>
                      <a:pt x="51592" y="137928"/>
                      <a:pt x="45061" y="137928"/>
                      <a:pt x="41031" y="133900"/>
                    </a:cubicBezTo>
                  </a:path>
                </a:pathLst>
              </a:custGeom>
              <a:noFill/>
              <a:ln w="20637">
                <a:solidFill>
                  <a:srgbClr val="FFFFFF"/>
                </a:solidFill>
              </a:ln>
            </p:spPr>
          </p:sp>
        </p:grpSp>
        <p:sp>
          <p:nvSpPr>
            <p:cNvPr id="177" name="TextBox 177"/>
            <p:cNvSpPr txBox="1"/>
            <p:nvPr/>
          </p:nvSpPr>
          <p:spPr>
            <a:xfrm>
              <a:off x="518541" y="5754052"/>
              <a:ext cx="277368" cy="395859"/>
            </a:xfrm>
            <a:prstGeom prst="rect">
              <a:avLst/>
            </a:prstGeom>
            <a:noFill/>
            <a:ln>
              <a:noFill/>
            </a:ln>
          </p:spPr>
          <p:txBody>
            <a:bodyPr wrap="none" lIns="0" tIns="0" rIns="0" bIns="0" anchor="t" anchorCtr="0">
              <a:spAutoFit/>
            </a:bodyPr>
            <a:lstStyle/>
            <a:p>
              <a:pPr algn="ctr">
                <a:lnSpc>
                  <a:spcPts val="1500"/>
                </a:lnSpc>
              </a:pPr>
              <a:r>
                <a:rPr lang="zh-CN" sz="1050" b="1" dirty="0">
                  <a:solidFill>
                    <a:srgbClr val="FFFFFF"/>
                  </a:solidFill>
                  <a:latin typeface="+mn-lt"/>
                  <a:ea typeface="+mn-ea"/>
                  <a:cs typeface="+mn-cs"/>
                </a:rPr>
                <a:t>决策</a:t>
              </a:r>
              <a:br/>
              <a:r>
                <a:rPr lang="zh-CN" sz="1050" b="1" dirty="0">
                  <a:solidFill>
                    <a:srgbClr val="FFFFFF"/>
                  </a:solidFill>
                  <a:latin typeface="+mn-lt"/>
                  <a:ea typeface="+mn-ea"/>
                  <a:cs typeface="+mn-cs"/>
                </a:rPr>
                <a:t>请求</a:t>
              </a:r>
            </a:p>
          </p:txBody>
        </p:sp>
        <p:sp>
          <p:nvSpPr>
            <p:cNvPr id="178" name="Ellipse 178"/>
            <p:cNvSpPr/>
            <p:nvPr/>
          </p:nvSpPr>
          <p:spPr>
            <a:xfrm>
              <a:off x="1047750" y="5219700"/>
              <a:ext cx="152400" cy="152400"/>
            </a:xfrm>
            <a:prstGeom prst="ellipse">
              <a:avLst/>
            </a:prstGeom>
            <a:solidFill>
              <a:srgbClr val="C41D00"/>
            </a:solidFill>
            <a:ln>
              <a:noFill/>
            </a:ln>
          </p:spPr>
        </p:sp>
        <p:sp>
          <p:nvSpPr>
            <p:cNvPr id="179" name="TextBox 179"/>
            <p:cNvSpPr txBox="1"/>
            <p:nvPr/>
          </p:nvSpPr>
          <p:spPr>
            <a:xfrm>
              <a:off x="1039890" y="52563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sp>
          <p:nvSpPr>
            <p:cNvPr id="180" name="TextBox 180"/>
            <p:cNvSpPr txBox="1"/>
            <p:nvPr/>
          </p:nvSpPr>
          <p:spPr>
            <a:xfrm>
              <a:off x="1252538" y="5261134"/>
              <a:ext cx="1584041"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批准18个月分三阶段实施路线与目标​​</a:t>
              </a:r>
            </a:p>
          </p:txBody>
        </p:sp>
        <p:sp>
          <p:nvSpPr>
            <p:cNvPr id="181" name="Ellipse 181"/>
            <p:cNvSpPr/>
            <p:nvPr/>
          </p:nvSpPr>
          <p:spPr>
            <a:xfrm>
              <a:off x="1047750" y="5562600"/>
              <a:ext cx="152400" cy="152400"/>
            </a:xfrm>
            <a:prstGeom prst="ellipse">
              <a:avLst/>
            </a:prstGeom>
            <a:solidFill>
              <a:srgbClr val="C41D00"/>
            </a:solidFill>
            <a:ln>
              <a:noFill/>
            </a:ln>
          </p:spPr>
        </p:sp>
        <p:sp>
          <p:nvSpPr>
            <p:cNvPr id="182" name="TextBox 182"/>
            <p:cNvSpPr txBox="1"/>
            <p:nvPr/>
          </p:nvSpPr>
          <p:spPr>
            <a:xfrm>
              <a:off x="1039890" y="55992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sp>
          <p:nvSpPr>
            <p:cNvPr id="183" name="TextBox 183"/>
            <p:cNvSpPr txBox="1"/>
            <p:nvPr/>
          </p:nvSpPr>
          <p:spPr>
            <a:xfrm>
              <a:off x="1252538" y="5604034"/>
              <a:ext cx="1432997"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批准阶段一预算与跨部门资源投入​</a:t>
              </a:r>
            </a:p>
          </p:txBody>
        </p:sp>
        <p:sp>
          <p:nvSpPr>
            <p:cNvPr id="184" name="Ellipse 184"/>
            <p:cNvSpPr/>
            <p:nvPr/>
          </p:nvSpPr>
          <p:spPr>
            <a:xfrm>
              <a:off x="1047750" y="5905500"/>
              <a:ext cx="152400" cy="152400"/>
            </a:xfrm>
            <a:prstGeom prst="ellipse">
              <a:avLst/>
            </a:prstGeom>
            <a:solidFill>
              <a:srgbClr val="C41D00"/>
            </a:solidFill>
            <a:ln>
              <a:noFill/>
            </a:ln>
          </p:spPr>
        </p:sp>
        <p:sp>
          <p:nvSpPr>
            <p:cNvPr id="185" name="TextBox 185"/>
            <p:cNvSpPr txBox="1"/>
            <p:nvPr/>
          </p:nvSpPr>
          <p:spPr>
            <a:xfrm>
              <a:off x="1039890" y="59421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sp>
          <p:nvSpPr>
            <p:cNvPr id="186" name="TextBox 186"/>
            <p:cNvSpPr txBox="1"/>
            <p:nvPr/>
          </p:nvSpPr>
          <p:spPr>
            <a:xfrm>
              <a:off x="1252538" y="5946934"/>
              <a:ext cx="1524538"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批准数据与平台自建投资方案与标准​</a:t>
              </a:r>
            </a:p>
          </p:txBody>
        </p:sp>
        <p:sp>
          <p:nvSpPr>
            <p:cNvPr id="187" name="Ellipse 187"/>
            <p:cNvSpPr/>
            <p:nvPr/>
          </p:nvSpPr>
          <p:spPr>
            <a:xfrm>
              <a:off x="1047750" y="6248400"/>
              <a:ext cx="152400" cy="152400"/>
            </a:xfrm>
            <a:prstGeom prst="ellipse">
              <a:avLst/>
            </a:prstGeom>
            <a:solidFill>
              <a:srgbClr val="C41D00"/>
            </a:solidFill>
            <a:ln>
              <a:noFill/>
            </a:ln>
          </p:spPr>
        </p:sp>
        <p:sp>
          <p:nvSpPr>
            <p:cNvPr id="188" name="TextBox 188"/>
            <p:cNvSpPr txBox="1"/>
            <p:nvPr/>
          </p:nvSpPr>
          <p:spPr>
            <a:xfrm>
              <a:off x="1039890" y="6285071"/>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sp>
          <p:nvSpPr>
            <p:cNvPr id="189" name="TextBox 189"/>
            <p:cNvSpPr txBox="1"/>
            <p:nvPr/>
          </p:nvSpPr>
          <p:spPr>
            <a:xfrm>
              <a:off x="1252538" y="6289834"/>
              <a:ext cx="1616080" cy="133350"/>
            </a:xfrm>
            <a:prstGeom prst="rect">
              <a:avLst/>
            </a:prstGeom>
            <a:noFill/>
            <a:ln>
              <a:noFill/>
            </a:ln>
          </p:spPr>
          <p:txBody>
            <a:bodyPr wrap="none" lIns="0" tIns="0" rIns="0" bIns="0" anchor="t" anchorCtr="0">
              <a:spAutoFit/>
            </a:bodyPr>
            <a:lstStyle/>
            <a:p>
              <a:pPr algn="l"/>
              <a:r>
                <a:rPr lang="zh-CN" sz="680" dirty="0">
                  <a:solidFill>
                    <a:srgbClr val="3D3835"/>
                  </a:solidFill>
                  <a:latin typeface="+mn-lt"/>
                  <a:ea typeface="+mn-ea"/>
                  <a:cs typeface="+mn-cs"/>
                </a:rPr>
                <a:t>授权成立客户运营转型项目管理委员会​</a:t>
              </a:r>
            </a:p>
          </p:txBody>
        </p:sp>
      </p:grpSp>
      <p:grpSp>
        <p:nvGrpSpPr>
          <p:cNvPr id="237" name="deliverables-90d"/>
          <p:cNvGrpSpPr/>
          <p:nvPr/>
        </p:nvGrpSpPr>
        <p:grpSpPr>
          <a:xfrm>
            <a:off x="3219450" y="5048250"/>
            <a:ext cx="8591550" cy="1638300"/>
            <a:chOff x="3219450" y="5048250"/>
            <a:chExt cx="8591550" cy="1638300"/>
          </a:xfrm>
        </p:grpSpPr>
        <p:sp>
          <p:nvSpPr>
            <p:cNvPr id="191" name="Rectangle 191"/>
            <p:cNvSpPr/>
            <p:nvPr/>
          </p:nvSpPr>
          <p:spPr>
            <a:xfrm>
              <a:off x="3219450" y="5048250"/>
              <a:ext cx="8591550" cy="209550"/>
            </a:xfrm>
            <a:prstGeom prst="roundRect">
              <a:avLst>
                <a:gd name="adj" fmla="val 13636"/>
              </a:avLst>
            </a:prstGeom>
            <a:solidFill>
              <a:srgbClr val="C41D00"/>
            </a:solidFill>
            <a:ln>
              <a:noFill/>
            </a:ln>
          </p:spPr>
        </p:sp>
        <p:sp>
          <p:nvSpPr>
            <p:cNvPr id="192" name="TextBox 192"/>
            <p:cNvSpPr txBox="1"/>
            <p:nvPr/>
          </p:nvSpPr>
          <p:spPr>
            <a:xfrm>
              <a:off x="7121754" y="5106114"/>
              <a:ext cx="786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​90天交付清单​</a:t>
              </a:r>
            </a:p>
          </p:txBody>
        </p:sp>
        <p:sp>
          <p:nvSpPr>
            <p:cNvPr id="193" name="Rectangle 193"/>
            <p:cNvSpPr/>
            <p:nvPr/>
          </p:nvSpPr>
          <p:spPr>
            <a:xfrm>
              <a:off x="3219450" y="5314950"/>
              <a:ext cx="1381125" cy="1371600"/>
            </a:xfrm>
            <a:prstGeom prst="roundRect">
              <a:avLst>
                <a:gd name="adj" fmla="val 2778"/>
              </a:avLst>
            </a:prstGeom>
            <a:solidFill>
              <a:srgbClr val="FFF8F2"/>
            </a:solidFill>
            <a:ln w="9525">
              <a:solidFill>
                <a:srgbClr val="F0B8AE"/>
              </a:solidFill>
            </a:ln>
          </p:spPr>
        </p:sp>
        <p:grpSp>
          <p:nvGrpSpPr>
            <p:cNvPr id="197" name="Group 197"/>
            <p:cNvGrpSpPr/>
            <p:nvPr/>
          </p:nvGrpSpPr>
          <p:grpSpPr>
            <a:xfrm>
              <a:off x="3317081" y="5431631"/>
              <a:ext cx="128588" cy="128588"/>
              <a:chOff x="3317081" y="5431631"/>
              <a:chExt cx="128588" cy="128588"/>
            </a:xfrm>
          </p:grpSpPr>
          <p:sp>
            <p:nvSpPr>
              <p:cNvPr id="194" name="Freeform 194"/>
              <p:cNvSpPr/>
              <p:nvPr/>
            </p:nvSpPr>
            <p:spPr>
              <a:xfrm>
                <a:off x="3374231" y="54887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D82000"/>
                </a:solidFill>
              </a:ln>
            </p:spPr>
          </p:sp>
          <p:sp>
            <p:nvSpPr>
              <p:cNvPr id="195" name="Freeform 195"/>
              <p:cNvSpPr/>
              <p:nvPr/>
            </p:nvSpPr>
            <p:spPr>
              <a:xfrm>
                <a:off x="3345656" y="54602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D82000"/>
                </a:solidFill>
              </a:ln>
            </p:spPr>
          </p:sp>
          <p:sp>
            <p:nvSpPr>
              <p:cNvPr id="196" name="Freeform 196"/>
              <p:cNvSpPr/>
              <p:nvPr/>
            </p:nvSpPr>
            <p:spPr>
              <a:xfrm>
                <a:off x="3317081" y="54316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D82000"/>
                </a:solidFill>
              </a:ln>
            </p:spPr>
          </p:sp>
        </p:grpSp>
        <p:sp>
          <p:nvSpPr>
            <p:cNvPr id="198" name="TextBox 198"/>
            <p:cNvSpPr txBox="1"/>
            <p:nvPr/>
          </p:nvSpPr>
          <p:spPr>
            <a:xfrm>
              <a:off x="3519488" y="5457111"/>
              <a:ext cx="487426"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战略与细分</a:t>
              </a:r>
            </a:p>
          </p:txBody>
        </p:sp>
        <p:sp>
          <p:nvSpPr>
            <p:cNvPr id="199" name="TextBox 199"/>
            <p:cNvSpPr txBox="1"/>
            <p:nvPr/>
          </p:nvSpPr>
          <p:spPr>
            <a:xfrm>
              <a:off x="3290888" y="5707380"/>
              <a:ext cx="1007745" cy="290512"/>
            </a:xfrm>
            <a:prstGeom prst="rect">
              <a:avLst/>
            </a:prstGeom>
            <a:noFill/>
            <a:ln>
              <a:noFill/>
            </a:ln>
          </p:spPr>
          <p:txBody>
            <a:bodyPr wrap="none" lIns="0" tIns="0" rIns="0" bIns="0" anchor="t" anchorCtr="0">
              <a:spAutoFit/>
            </a:bodyPr>
            <a:lstStyle/>
            <a:p>
              <a:pPr algn="l" marL="76200" indent="-76200">
                <a:lnSpc>
                  <a:spcPts val="1350"/>
                </a:lnSpc>
                <a:buClr>
                  <a:srgbClr val="3D3835"/>
                </a:buClr>
                <a:buSzTx/>
                <a:buFontTx/>
                <a:buChar char="•"/>
              </a:pPr>
              <a:r>
                <a:rPr lang="zh-CN" sz="600" dirty="0">
                  <a:solidFill>
                    <a:srgbClr val="3D3835"/>
                  </a:solidFill>
                  <a:latin typeface="+mn-lt"/>
                  <a:ea typeface="+mn-ea"/>
                  <a:cs typeface="+mn-cs"/>
                </a:rPr>
                <a:t>客群价值框架与细分方案​​</a:t>
              </a:r>
            </a:p>
            <a:p>
              <a:pPr algn="l" marL="76200" indent="-76200">
                <a:lnSpc>
                  <a:spcPts val="1350"/>
                </a:lnSpc>
                <a:buClr>
                  <a:srgbClr val="3D3835"/>
                </a:buClr>
                <a:buSzTx/>
                <a:buFontTx/>
                <a:buChar char="•"/>
              </a:pPr>
              <a:r>
                <a:rPr lang="zh-CN" sz="600" dirty="0">
                  <a:solidFill>
                    <a:srgbClr val="3D3835"/>
                  </a:solidFill>
                  <a:latin typeface="+mn-lt"/>
                  <a:ea typeface="+mn-ea"/>
                  <a:cs typeface="+mn-cs"/>
                </a:rPr>
                <a:t>北极星指标与度量体系​​</a:t>
              </a:r>
            </a:p>
          </p:txBody>
        </p:sp>
        <p:sp>
          <p:nvSpPr>
            <p:cNvPr id="200" name="Rectangle 200"/>
            <p:cNvSpPr/>
            <p:nvPr/>
          </p:nvSpPr>
          <p:spPr>
            <a:xfrm>
              <a:off x="4657725" y="5314950"/>
              <a:ext cx="1381125" cy="1371600"/>
            </a:xfrm>
            <a:prstGeom prst="roundRect">
              <a:avLst>
                <a:gd name="adj" fmla="val 2778"/>
              </a:avLst>
            </a:prstGeom>
            <a:solidFill>
              <a:srgbClr val="FFF8F2"/>
            </a:solidFill>
            <a:ln w="9525">
              <a:solidFill>
                <a:srgbClr val="F0B8AE"/>
              </a:solidFill>
            </a:ln>
          </p:spPr>
        </p:sp>
        <p:grpSp>
          <p:nvGrpSpPr>
            <p:cNvPr id="205" name="Group 205"/>
            <p:cNvGrpSpPr/>
            <p:nvPr/>
          </p:nvGrpSpPr>
          <p:grpSpPr>
            <a:xfrm>
              <a:off x="4755356" y="5438775"/>
              <a:ext cx="128588" cy="114299"/>
              <a:chOff x="4755356" y="5438775"/>
              <a:chExt cx="128588" cy="114299"/>
            </a:xfrm>
          </p:grpSpPr>
          <p:sp>
            <p:nvSpPr>
              <p:cNvPr id="201" name="Freeform 201"/>
              <p:cNvSpPr/>
              <p:nvPr/>
            </p:nvSpPr>
            <p:spPr>
              <a:xfrm>
                <a:off x="4755356" y="5460206"/>
                <a:ext cx="128588" cy="9525"/>
              </a:xfrm>
              <a:custGeom>
                <a:avLst/>
                <a:gdLst/>
                <a:ahLst/>
                <a:cxnLst/>
                <a:rect l="l" t="t" r="r" b="b"/>
                <a:pathLst>
                  <a:path w="128588" h="9525">
                    <a:moveTo>
                      <a:pt x="128588" y="0"/>
                    </a:moveTo>
                    <a:lnTo>
                      <a:pt x="0" y="0"/>
                    </a:lnTo>
                  </a:path>
                </a:pathLst>
              </a:custGeom>
              <a:noFill/>
              <a:ln w="14288">
                <a:solidFill>
                  <a:srgbClr val="D82000"/>
                </a:solidFill>
              </a:ln>
            </p:spPr>
          </p:sp>
          <p:sp>
            <p:nvSpPr>
              <p:cNvPr id="202" name="Freeform 202"/>
              <p:cNvSpPr/>
              <p:nvPr/>
            </p:nvSpPr>
            <p:spPr>
              <a:xfrm>
                <a:off x="4862512" y="5438775"/>
                <a:ext cx="21431" cy="42862"/>
              </a:xfrm>
              <a:custGeom>
                <a:avLst/>
                <a:gdLst/>
                <a:ahLst/>
                <a:cxnLst/>
                <a:rect l="l" t="t" r="r" b="b"/>
                <a:pathLst>
                  <a:path w="21431" h="42862">
                    <a:moveTo>
                      <a:pt x="0" y="42862"/>
                    </a:moveTo>
                    <a:lnTo>
                      <a:pt x="21431" y="21431"/>
                    </a:lnTo>
                    <a:lnTo>
                      <a:pt x="0" y="0"/>
                    </a:lnTo>
                  </a:path>
                </a:pathLst>
              </a:custGeom>
              <a:noFill/>
              <a:ln w="14288">
                <a:solidFill>
                  <a:srgbClr val="D82000"/>
                </a:solidFill>
              </a:ln>
            </p:spPr>
          </p:sp>
          <p:sp>
            <p:nvSpPr>
              <p:cNvPr id="203" name="Freeform 203"/>
              <p:cNvSpPr/>
              <p:nvPr/>
            </p:nvSpPr>
            <p:spPr>
              <a:xfrm>
                <a:off x="4755356" y="5510212"/>
                <a:ext cx="21431" cy="42862"/>
              </a:xfrm>
              <a:custGeom>
                <a:avLst/>
                <a:gdLst/>
                <a:ahLst/>
                <a:cxnLst/>
                <a:rect l="l" t="t" r="r" b="b"/>
                <a:pathLst>
                  <a:path w="21431" h="42862">
                    <a:moveTo>
                      <a:pt x="21431" y="42862"/>
                    </a:moveTo>
                    <a:lnTo>
                      <a:pt x="0" y="21431"/>
                    </a:lnTo>
                    <a:lnTo>
                      <a:pt x="21431" y="0"/>
                    </a:lnTo>
                  </a:path>
                </a:pathLst>
              </a:custGeom>
              <a:noFill/>
              <a:ln w="14288">
                <a:solidFill>
                  <a:srgbClr val="D82000"/>
                </a:solidFill>
              </a:ln>
            </p:spPr>
          </p:sp>
          <p:sp>
            <p:nvSpPr>
              <p:cNvPr id="204" name="Freeform 204"/>
              <p:cNvSpPr/>
              <p:nvPr/>
            </p:nvSpPr>
            <p:spPr>
              <a:xfrm>
                <a:off x="4755356" y="5531644"/>
                <a:ext cx="128588" cy="9525"/>
              </a:xfrm>
              <a:custGeom>
                <a:avLst/>
                <a:gdLst/>
                <a:ahLst/>
                <a:cxnLst/>
                <a:rect l="l" t="t" r="r" b="b"/>
                <a:pathLst>
                  <a:path w="128588" h="9525">
                    <a:moveTo>
                      <a:pt x="0" y="0"/>
                    </a:moveTo>
                    <a:lnTo>
                      <a:pt x="128588" y="0"/>
                    </a:lnTo>
                  </a:path>
                </a:pathLst>
              </a:custGeom>
              <a:noFill/>
              <a:ln w="14288">
                <a:solidFill>
                  <a:srgbClr val="D82000"/>
                </a:solidFill>
              </a:ln>
            </p:spPr>
          </p:sp>
        </p:grpSp>
        <p:sp>
          <p:nvSpPr>
            <p:cNvPr id="206" name="TextBox 206"/>
            <p:cNvSpPr txBox="1"/>
            <p:nvPr/>
          </p:nvSpPr>
          <p:spPr>
            <a:xfrm>
              <a:off x="4957762" y="5457111"/>
              <a:ext cx="487426"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旅程与场景</a:t>
              </a:r>
            </a:p>
          </p:txBody>
        </p:sp>
        <p:sp>
          <p:nvSpPr>
            <p:cNvPr id="207" name="TextBox 207"/>
            <p:cNvSpPr txBox="1"/>
            <p:nvPr/>
          </p:nvSpPr>
          <p:spPr>
            <a:xfrm>
              <a:off x="4729162" y="5707380"/>
              <a:ext cx="981075" cy="290512"/>
            </a:xfrm>
            <a:prstGeom prst="rect">
              <a:avLst/>
            </a:prstGeom>
            <a:noFill/>
            <a:ln>
              <a:noFill/>
            </a:ln>
          </p:spPr>
          <p:txBody>
            <a:bodyPr wrap="none" lIns="0" tIns="0" rIns="0" bIns="0" anchor="t" anchorCtr="0">
              <a:spAutoFit/>
            </a:bodyPr>
            <a:lstStyle/>
            <a:p>
              <a:pPr algn="l" marL="76200" indent="-76200">
                <a:lnSpc>
                  <a:spcPts val="1350"/>
                </a:lnSpc>
                <a:buClr>
                  <a:srgbClr val="3D3835"/>
                </a:buClr>
                <a:buSzTx/>
                <a:buFontTx/>
                <a:buChar char="•"/>
              </a:pPr>
              <a:r>
                <a:rPr lang="zh-CN" sz="600" dirty="0">
                  <a:solidFill>
                    <a:srgbClr val="3D3835"/>
                  </a:solidFill>
                  <a:latin typeface="+mn-lt"/>
                  <a:ea typeface="+mn-ea"/>
                  <a:cs typeface="+mn-cs"/>
                </a:rPr>
                <a:t>3–5个高价值旅程地图​​</a:t>
              </a:r>
            </a:p>
            <a:p>
              <a:pPr algn="l" marL="76200" indent="-76200">
                <a:lnSpc>
                  <a:spcPts val="1350"/>
                </a:lnSpc>
                <a:buClr>
                  <a:srgbClr val="3D3835"/>
                </a:buClr>
                <a:buSzTx/>
                <a:buFontTx/>
                <a:buChar char="•"/>
              </a:pPr>
              <a:r>
                <a:rPr lang="zh-CN" sz="600" dirty="0">
                  <a:solidFill>
                    <a:srgbClr val="3D3835"/>
                  </a:solidFill>
                  <a:latin typeface="+mn-lt"/>
                  <a:ea typeface="+mn-ea"/>
                  <a:cs typeface="+mn-cs"/>
                </a:rPr>
                <a:t>2–3个试点场景上线计划​​</a:t>
              </a:r>
            </a:p>
          </p:txBody>
        </p:sp>
        <p:sp>
          <p:nvSpPr>
            <p:cNvPr id="208" name="Rectangle 208"/>
            <p:cNvSpPr/>
            <p:nvPr/>
          </p:nvSpPr>
          <p:spPr>
            <a:xfrm>
              <a:off x="6096000" y="5314950"/>
              <a:ext cx="1381125" cy="1371600"/>
            </a:xfrm>
            <a:prstGeom prst="roundRect">
              <a:avLst>
                <a:gd name="adj" fmla="val 2778"/>
              </a:avLst>
            </a:prstGeom>
            <a:solidFill>
              <a:srgbClr val="FFF8F2"/>
            </a:solidFill>
            <a:ln w="9525">
              <a:solidFill>
                <a:srgbClr val="F0B8AE"/>
              </a:solidFill>
            </a:ln>
          </p:spPr>
        </p:sp>
        <p:grpSp>
          <p:nvGrpSpPr>
            <p:cNvPr id="212" name="Group 212"/>
            <p:cNvGrpSpPr/>
            <p:nvPr/>
          </p:nvGrpSpPr>
          <p:grpSpPr>
            <a:xfrm>
              <a:off x="6200775" y="5431631"/>
              <a:ext cx="114300" cy="128588"/>
              <a:chOff x="6200775" y="5431631"/>
              <a:chExt cx="114300" cy="128588"/>
            </a:xfrm>
          </p:grpSpPr>
          <p:sp>
            <p:nvSpPr>
              <p:cNvPr id="209" name="Freeform 209"/>
              <p:cNvSpPr/>
              <p:nvPr/>
            </p:nvSpPr>
            <p:spPr>
              <a:xfrm>
                <a:off x="6200775" y="543163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D82000"/>
                </a:solidFill>
              </a:ln>
            </p:spPr>
          </p:sp>
          <p:sp>
            <p:nvSpPr>
              <p:cNvPr id="210" name="Freeform 210"/>
              <p:cNvSpPr/>
              <p:nvPr/>
            </p:nvSpPr>
            <p:spPr>
              <a:xfrm>
                <a:off x="6200775" y="545306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D82000"/>
                </a:solidFill>
              </a:ln>
            </p:spPr>
          </p:sp>
          <p:sp>
            <p:nvSpPr>
              <p:cNvPr id="211" name="Freeform 211"/>
              <p:cNvSpPr/>
              <p:nvPr/>
            </p:nvSpPr>
            <p:spPr>
              <a:xfrm>
                <a:off x="6200775" y="549592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D82000"/>
                </a:solidFill>
              </a:ln>
            </p:spPr>
          </p:sp>
        </p:grpSp>
        <p:sp>
          <p:nvSpPr>
            <p:cNvPr id="213" name="TextBox 213"/>
            <p:cNvSpPr txBox="1"/>
            <p:nvPr/>
          </p:nvSpPr>
          <p:spPr>
            <a:xfrm>
              <a:off x="6396038" y="5457111"/>
              <a:ext cx="487426"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数据与洞察</a:t>
              </a:r>
            </a:p>
          </p:txBody>
        </p:sp>
        <p:sp>
          <p:nvSpPr>
            <p:cNvPr id="214" name="TextBox 214"/>
            <p:cNvSpPr txBox="1"/>
            <p:nvPr/>
          </p:nvSpPr>
          <p:spPr>
            <a:xfrm>
              <a:off x="6167438" y="5707380"/>
              <a:ext cx="1007745" cy="290512"/>
            </a:xfrm>
            <a:prstGeom prst="rect">
              <a:avLst/>
            </a:prstGeom>
            <a:noFill/>
            <a:ln>
              <a:noFill/>
            </a:ln>
          </p:spPr>
          <p:txBody>
            <a:bodyPr wrap="none" lIns="0" tIns="0" rIns="0" bIns="0" anchor="t" anchorCtr="0">
              <a:spAutoFit/>
            </a:bodyPr>
            <a:lstStyle/>
            <a:p>
              <a:pPr algn="l" marL="76200" indent="-76200">
                <a:lnSpc>
                  <a:spcPts val="1350"/>
                </a:lnSpc>
                <a:buClr>
                  <a:srgbClr val="3D3835"/>
                </a:buClr>
                <a:buSzTx/>
                <a:buFontTx/>
                <a:buChar char="•"/>
              </a:pPr>
              <a:r>
                <a:rPr lang="zh-CN" sz="600" dirty="0">
                  <a:solidFill>
                    <a:srgbClr val="3D3835"/>
                  </a:solidFill>
                  <a:latin typeface="+mn-lt"/>
                  <a:ea typeface="+mn-ea"/>
                  <a:cs typeface="+mn-cs"/>
                </a:rPr>
                <a:t>数据源清单与质量报告​​</a:t>
              </a:r>
            </a:p>
            <a:p>
              <a:pPr algn="l" marL="76200" indent="-76200">
                <a:lnSpc>
                  <a:spcPts val="1350"/>
                </a:lnSpc>
                <a:buClr>
                  <a:srgbClr val="3D3835"/>
                </a:buClr>
                <a:buSzTx/>
                <a:buFontTx/>
                <a:buChar char="•"/>
              </a:pPr>
              <a:r>
                <a:rPr lang="zh-CN" sz="600" dirty="0">
                  <a:solidFill>
                    <a:srgbClr val="3D3835"/>
                  </a:solidFill>
                  <a:latin typeface="+mn-lt"/>
                  <a:ea typeface="+mn-ea"/>
                  <a:cs typeface="+mn-cs"/>
                </a:rPr>
                <a:t>客群基础标签与洞察看板​​</a:t>
              </a:r>
            </a:p>
          </p:txBody>
        </p:sp>
        <p:sp>
          <p:nvSpPr>
            <p:cNvPr id="215" name="Rectangle 215"/>
            <p:cNvSpPr/>
            <p:nvPr/>
          </p:nvSpPr>
          <p:spPr>
            <a:xfrm>
              <a:off x="7534275" y="5314950"/>
              <a:ext cx="1381125" cy="1371600"/>
            </a:xfrm>
            <a:prstGeom prst="roundRect">
              <a:avLst>
                <a:gd name="adj" fmla="val 2778"/>
              </a:avLst>
            </a:prstGeom>
            <a:solidFill>
              <a:srgbClr val="FFF8F2"/>
            </a:solidFill>
            <a:ln w="9525">
              <a:solidFill>
                <a:srgbClr val="F0B8AE"/>
              </a:solidFill>
            </a:ln>
          </p:spPr>
        </p:sp>
        <p:grpSp>
          <p:nvGrpSpPr>
            <p:cNvPr id="218" name="Group 218"/>
            <p:cNvGrpSpPr/>
            <p:nvPr/>
          </p:nvGrpSpPr>
          <p:grpSpPr>
            <a:xfrm>
              <a:off x="7628770" y="5428495"/>
              <a:ext cx="134860" cy="134860"/>
              <a:chOff x="7628770" y="5428495"/>
              <a:chExt cx="134860" cy="134860"/>
            </a:xfrm>
          </p:grpSpPr>
          <p:sp>
            <p:nvSpPr>
              <p:cNvPr id="216" name="Freeform 216"/>
              <p:cNvSpPr/>
              <p:nvPr/>
            </p:nvSpPr>
            <p:spPr>
              <a:xfrm>
                <a:off x="7628770" y="5428495"/>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D82000"/>
                </a:solidFill>
              </a:ln>
            </p:spPr>
          </p:sp>
          <p:sp>
            <p:nvSpPr>
              <p:cNvPr id="217" name="Freeform 217"/>
              <p:cNvSpPr/>
              <p:nvPr/>
            </p:nvSpPr>
            <p:spPr>
              <a:xfrm>
                <a:off x="7674769" y="5474494"/>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D82000"/>
                </a:solidFill>
              </a:ln>
            </p:spPr>
          </p:sp>
        </p:grpSp>
        <p:sp>
          <p:nvSpPr>
            <p:cNvPr id="219" name="TextBox 219"/>
            <p:cNvSpPr txBox="1"/>
            <p:nvPr/>
          </p:nvSpPr>
          <p:spPr>
            <a:xfrm>
              <a:off x="7834312" y="5457111"/>
              <a:ext cx="487426"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平台与技术</a:t>
              </a:r>
            </a:p>
          </p:txBody>
        </p:sp>
        <p:sp>
          <p:nvSpPr>
            <p:cNvPr id="220" name="TextBox 220"/>
            <p:cNvSpPr txBox="1"/>
            <p:nvPr/>
          </p:nvSpPr>
          <p:spPr>
            <a:xfrm>
              <a:off x="7605712" y="5707380"/>
              <a:ext cx="946785" cy="290512"/>
            </a:xfrm>
            <a:prstGeom prst="rect">
              <a:avLst/>
            </a:prstGeom>
            <a:noFill/>
            <a:ln>
              <a:noFill/>
            </a:ln>
          </p:spPr>
          <p:txBody>
            <a:bodyPr wrap="none" lIns="0" tIns="0" rIns="0" bIns="0" anchor="t" anchorCtr="0">
              <a:spAutoFit/>
            </a:bodyPr>
            <a:lstStyle/>
            <a:p>
              <a:pPr algn="l" marL="76200" indent="-76200">
                <a:lnSpc>
                  <a:spcPts val="1350"/>
                </a:lnSpc>
                <a:buClr>
                  <a:srgbClr val="3D3835"/>
                </a:buClr>
                <a:buSzTx/>
                <a:buFontTx/>
                <a:buChar char="•"/>
              </a:pPr>
              <a:r>
                <a:rPr lang="zh-CN" sz="600" dirty="0">
                  <a:solidFill>
                    <a:srgbClr val="3D3835"/>
                  </a:solidFill>
                  <a:latin typeface="+mn-lt"/>
                  <a:ea typeface="+mn-ea"/>
                  <a:cs typeface="+mn-cs"/>
                </a:rPr>
                <a:t>平台蓝图与架构方案​​</a:t>
              </a:r>
            </a:p>
            <a:p>
              <a:pPr algn="l" marL="76200" indent="-76200">
                <a:lnSpc>
                  <a:spcPts val="1350"/>
                </a:lnSpc>
                <a:buClr>
                  <a:srgbClr val="3D3835"/>
                </a:buClr>
                <a:buSzTx/>
                <a:buFontTx/>
                <a:buChar char="•"/>
              </a:pPr>
              <a:r>
                <a:rPr lang="zh-CN" sz="600" dirty="0">
                  <a:solidFill>
                    <a:srgbClr val="3D3835"/>
                  </a:solidFill>
                  <a:latin typeface="+mn-lt"/>
                  <a:ea typeface="+mn-ea"/>
                  <a:cs typeface="+mn-cs"/>
                </a:rPr>
                <a:t>CDP与自动化基线搭建​​​</a:t>
              </a:r>
            </a:p>
          </p:txBody>
        </p:sp>
        <p:sp>
          <p:nvSpPr>
            <p:cNvPr id="221" name="Rectangle 221"/>
            <p:cNvSpPr/>
            <p:nvPr/>
          </p:nvSpPr>
          <p:spPr>
            <a:xfrm>
              <a:off x="8972550" y="5314950"/>
              <a:ext cx="1381125" cy="1371600"/>
            </a:xfrm>
            <a:prstGeom prst="roundRect">
              <a:avLst>
                <a:gd name="adj" fmla="val 2778"/>
              </a:avLst>
            </a:prstGeom>
            <a:solidFill>
              <a:srgbClr val="FFF8F2"/>
            </a:solidFill>
            <a:ln w="9525">
              <a:solidFill>
                <a:srgbClr val="F0B8AE"/>
              </a:solidFill>
            </a:ln>
          </p:spPr>
        </p:sp>
        <p:grpSp>
          <p:nvGrpSpPr>
            <p:cNvPr id="228" name="Group 228"/>
            <p:cNvGrpSpPr/>
            <p:nvPr/>
          </p:nvGrpSpPr>
          <p:grpSpPr>
            <a:xfrm>
              <a:off x="9070181" y="5431631"/>
              <a:ext cx="128588" cy="128588"/>
              <a:chOff x="9070181" y="5431631"/>
              <a:chExt cx="128588" cy="128588"/>
            </a:xfrm>
          </p:grpSpPr>
          <p:sp>
            <p:nvSpPr>
              <p:cNvPr id="222" name="Freeform 222"/>
              <p:cNvSpPr/>
              <p:nvPr/>
            </p:nvSpPr>
            <p:spPr>
              <a:xfrm>
                <a:off x="9120188" y="54887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223" name="Freeform 223"/>
              <p:cNvSpPr/>
              <p:nvPr/>
            </p:nvSpPr>
            <p:spPr>
              <a:xfrm>
                <a:off x="9105900" y="553878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D82000"/>
                </a:solidFill>
              </a:ln>
            </p:spPr>
          </p:sp>
          <p:sp>
            <p:nvSpPr>
              <p:cNvPr id="224" name="Freeform 224"/>
              <p:cNvSpPr/>
              <p:nvPr/>
            </p:nvSpPr>
            <p:spPr>
              <a:xfrm>
                <a:off x="9155906" y="54316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225" name="Freeform 225"/>
              <p:cNvSpPr/>
              <p:nvPr/>
            </p:nvSpPr>
            <p:spPr>
              <a:xfrm>
                <a:off x="9170194" y="548163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D82000"/>
                </a:solidFill>
              </a:ln>
            </p:spPr>
          </p:sp>
          <p:sp>
            <p:nvSpPr>
              <p:cNvPr id="226" name="Freeform 226"/>
              <p:cNvSpPr/>
              <p:nvPr/>
            </p:nvSpPr>
            <p:spPr>
              <a:xfrm>
                <a:off x="9084469" y="54316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82000"/>
                </a:solidFill>
              </a:ln>
            </p:spPr>
          </p:sp>
          <p:sp>
            <p:nvSpPr>
              <p:cNvPr id="227" name="Freeform 227"/>
              <p:cNvSpPr/>
              <p:nvPr/>
            </p:nvSpPr>
            <p:spPr>
              <a:xfrm>
                <a:off x="9070181" y="548163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D82000"/>
                </a:solidFill>
              </a:ln>
            </p:spPr>
          </p:sp>
        </p:grpSp>
        <p:sp>
          <p:nvSpPr>
            <p:cNvPr id="229" name="TextBox 229"/>
            <p:cNvSpPr txBox="1"/>
            <p:nvPr/>
          </p:nvSpPr>
          <p:spPr>
            <a:xfrm>
              <a:off x="9272588" y="5457111"/>
              <a:ext cx="487426"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组织与治理</a:t>
              </a:r>
            </a:p>
          </p:txBody>
        </p:sp>
        <p:sp>
          <p:nvSpPr>
            <p:cNvPr id="230" name="TextBox 230"/>
            <p:cNvSpPr txBox="1"/>
            <p:nvPr/>
          </p:nvSpPr>
          <p:spPr>
            <a:xfrm>
              <a:off x="9043988" y="5707380"/>
              <a:ext cx="893445" cy="290512"/>
            </a:xfrm>
            <a:prstGeom prst="rect">
              <a:avLst/>
            </a:prstGeom>
            <a:noFill/>
            <a:ln>
              <a:noFill/>
            </a:ln>
          </p:spPr>
          <p:txBody>
            <a:bodyPr wrap="none" lIns="0" tIns="0" rIns="0" bIns="0" anchor="t" anchorCtr="0">
              <a:spAutoFit/>
            </a:bodyPr>
            <a:lstStyle/>
            <a:p>
              <a:pPr algn="l" marL="76200" indent="-76200">
                <a:lnSpc>
                  <a:spcPts val="1350"/>
                </a:lnSpc>
                <a:buClr>
                  <a:srgbClr val="3D3835"/>
                </a:buClr>
                <a:buSzTx/>
                <a:buFontTx/>
                <a:buChar char="•"/>
              </a:pPr>
              <a:r>
                <a:rPr lang="zh-CN" sz="600" dirty="0">
                  <a:solidFill>
                    <a:srgbClr val="3D3835"/>
                  </a:solidFill>
                  <a:latin typeface="+mn-lt"/>
                  <a:ea typeface="+mn-ea"/>
                  <a:cs typeface="+mn-cs"/>
                </a:rPr>
                <a:t>RACI与团队组建方案​​​</a:t>
              </a:r>
            </a:p>
            <a:p>
              <a:pPr algn="l" marL="76200" indent="-76200">
                <a:lnSpc>
                  <a:spcPts val="1350"/>
                </a:lnSpc>
                <a:buClr>
                  <a:srgbClr val="3D3835"/>
                </a:buClr>
                <a:buSzTx/>
                <a:buFontTx/>
                <a:buChar char="•"/>
              </a:pPr>
              <a:r>
                <a:rPr lang="zh-CN" sz="600" dirty="0">
                  <a:solidFill>
                    <a:srgbClr val="3D3835"/>
                  </a:solidFill>
                  <a:latin typeface="+mn-lt"/>
                  <a:ea typeface="+mn-ea"/>
                  <a:cs typeface="+mn-cs"/>
                </a:rPr>
                <a:t>运营机制与例会节奏​​</a:t>
              </a:r>
            </a:p>
          </p:txBody>
        </p:sp>
        <p:sp>
          <p:nvSpPr>
            <p:cNvPr id="231" name="Rectangle 231"/>
            <p:cNvSpPr/>
            <p:nvPr/>
          </p:nvSpPr>
          <p:spPr>
            <a:xfrm>
              <a:off x="10410825" y="5314950"/>
              <a:ext cx="1400175" cy="1371600"/>
            </a:xfrm>
            <a:prstGeom prst="roundRect">
              <a:avLst>
                <a:gd name="adj" fmla="val 2778"/>
              </a:avLst>
            </a:prstGeom>
            <a:solidFill>
              <a:srgbClr val="FFF8F2"/>
            </a:solidFill>
            <a:ln w="9525">
              <a:solidFill>
                <a:srgbClr val="F0B8AE"/>
              </a:solidFill>
            </a:ln>
          </p:spPr>
        </p:sp>
        <p:grpSp>
          <p:nvGrpSpPr>
            <p:cNvPr id="234" name="Group 234"/>
            <p:cNvGrpSpPr/>
            <p:nvPr/>
          </p:nvGrpSpPr>
          <p:grpSpPr>
            <a:xfrm>
              <a:off x="10498815" y="5431631"/>
              <a:ext cx="139505" cy="128588"/>
              <a:chOff x="10498815" y="5431631"/>
              <a:chExt cx="139505" cy="128588"/>
            </a:xfrm>
          </p:grpSpPr>
          <p:sp>
            <p:nvSpPr>
              <p:cNvPr id="232" name="Freeform 232"/>
              <p:cNvSpPr/>
              <p:nvPr/>
            </p:nvSpPr>
            <p:spPr>
              <a:xfrm>
                <a:off x="10498815" y="543163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D82000"/>
                </a:solidFill>
              </a:ln>
            </p:spPr>
          </p:sp>
          <p:sp>
            <p:nvSpPr>
              <p:cNvPr id="233" name="Freeform 233"/>
              <p:cNvSpPr/>
              <p:nvPr/>
            </p:nvSpPr>
            <p:spPr>
              <a:xfrm>
                <a:off x="10594181" y="5531644"/>
                <a:ext cx="42862" cy="28575"/>
              </a:xfrm>
              <a:custGeom>
                <a:avLst/>
                <a:gdLst/>
                <a:ahLst/>
                <a:cxnLst/>
                <a:rect l="l" t="t" r="r" b="b"/>
                <a:pathLst>
                  <a:path w="42862" h="28575">
                    <a:moveTo>
                      <a:pt x="0" y="14288"/>
                    </a:moveTo>
                    <a:lnTo>
                      <a:pt x="14288" y="28575"/>
                    </a:lnTo>
                    <a:lnTo>
                      <a:pt x="42862" y="0"/>
                    </a:lnTo>
                  </a:path>
                </a:pathLst>
              </a:custGeom>
              <a:noFill/>
              <a:ln w="14288">
                <a:solidFill>
                  <a:srgbClr val="D82000"/>
                </a:solidFill>
              </a:ln>
            </p:spPr>
          </p:sp>
        </p:grpSp>
        <p:sp>
          <p:nvSpPr>
            <p:cNvPr id="235" name="TextBox 235"/>
            <p:cNvSpPr txBox="1"/>
            <p:nvPr/>
          </p:nvSpPr>
          <p:spPr>
            <a:xfrm>
              <a:off x="10710862" y="5457111"/>
              <a:ext cx="487426" cy="140494"/>
            </a:xfrm>
            <a:prstGeom prst="rect">
              <a:avLst/>
            </a:prstGeom>
            <a:noFill/>
            <a:ln>
              <a:noFill/>
            </a:ln>
          </p:spPr>
          <p:txBody>
            <a:bodyPr wrap="none" lIns="0" tIns="0" rIns="0" bIns="0" anchor="t" anchorCtr="0">
              <a:spAutoFit/>
            </a:bodyPr>
            <a:lstStyle/>
            <a:p>
              <a:pPr algn="l"/>
              <a:r>
                <a:rPr lang="zh-CN" sz="710" b="1" dirty="0">
                  <a:solidFill>
                    <a:srgbClr val="C41D00"/>
                  </a:solidFill>
                  <a:latin typeface="+mn-lt"/>
                  <a:ea typeface="+mn-ea"/>
                  <a:cs typeface="+mn-cs"/>
                </a:rPr>
                <a:t>合规与风控</a:t>
              </a:r>
            </a:p>
          </p:txBody>
        </p:sp>
        <p:sp>
          <p:nvSpPr>
            <p:cNvPr id="236" name="TextBox 236"/>
            <p:cNvSpPr txBox="1"/>
            <p:nvPr/>
          </p:nvSpPr>
          <p:spPr>
            <a:xfrm>
              <a:off x="10482262" y="5707380"/>
              <a:ext cx="855345" cy="290512"/>
            </a:xfrm>
            <a:prstGeom prst="rect">
              <a:avLst/>
            </a:prstGeom>
            <a:noFill/>
            <a:ln>
              <a:noFill/>
            </a:ln>
          </p:spPr>
          <p:txBody>
            <a:bodyPr wrap="none" lIns="0" tIns="0" rIns="0" bIns="0" anchor="t" anchorCtr="0">
              <a:spAutoFit/>
            </a:bodyPr>
            <a:lstStyle/>
            <a:p>
              <a:pPr algn="l" marL="76200" indent="-76200">
                <a:lnSpc>
                  <a:spcPts val="1350"/>
                </a:lnSpc>
                <a:buClr>
                  <a:srgbClr val="3D3835"/>
                </a:buClr>
                <a:buSzTx/>
                <a:buFontTx/>
                <a:buChar char="•"/>
              </a:pPr>
              <a:r>
                <a:rPr lang="zh-CN" sz="600" dirty="0">
                  <a:solidFill>
                    <a:srgbClr val="3D3835"/>
                  </a:solidFill>
                  <a:latin typeface="+mn-lt"/>
                  <a:ea typeface="+mn-ea"/>
                  <a:cs typeface="+mn-cs"/>
                </a:rPr>
                <a:t>合规评估与数据分级​​</a:t>
              </a:r>
            </a:p>
            <a:p>
              <a:pPr algn="l" marL="76200" indent="-76200">
                <a:lnSpc>
                  <a:spcPts val="1350"/>
                </a:lnSpc>
                <a:buClr>
                  <a:srgbClr val="3D3835"/>
                </a:buClr>
                <a:buSzTx/>
                <a:buFontTx/>
                <a:buChar char="•"/>
              </a:pPr>
              <a:r>
                <a:rPr lang="zh-CN" sz="600" dirty="0">
                  <a:solidFill>
                    <a:srgbClr val="3D3835"/>
                  </a:solidFill>
                  <a:latin typeface="+mn-lt"/>
                  <a:ea typeface="+mn-ea"/>
                  <a:cs typeface="+mn-cs"/>
                </a:rPr>
                <a:t>风险清单与管控框架​​</a:t>
              </a:r>
            </a:p>
          </p:txBody>
        </p:sp>
      </p:gr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map-outline"/>
          <p:cNvSpPr/>
          <p:nvPr/>
        </p:nvSpPr>
        <p:spPr>
          <a:xfrm>
            <a:off x="7429500" y="838200"/>
            <a:ext cx="4857750" cy="5162550"/>
          </a:xfrm>
          <a:custGeom>
            <a:avLst/>
            <a:gdLst/>
            <a:ahLst/>
            <a:cxnLst/>
            <a:rect l="l" t="t" r="r" b="b"/>
            <a:pathLst>
              <a:path w="4857750" h="5162550">
                <a:moveTo>
                  <a:pt x="2476500" y="76200"/>
                </a:moveTo>
                <a:cubicBezTo>
                  <a:pt x="2905125" y="0"/>
                  <a:pt x="3333750" y="114300"/>
                  <a:pt x="3619500" y="476250"/>
                </a:cubicBezTo>
                <a:cubicBezTo>
                  <a:pt x="3952875" y="590550"/>
                  <a:pt x="4333875" y="733425"/>
                  <a:pt x="4591050" y="1066800"/>
                </a:cubicBezTo>
                <a:cubicBezTo>
                  <a:pt x="4857750" y="1638300"/>
                  <a:pt x="4648200" y="2019300"/>
                  <a:pt x="4714875" y="2590800"/>
                </a:cubicBezTo>
                <a:cubicBezTo>
                  <a:pt x="4686300" y="2971800"/>
                  <a:pt x="4591050" y="3352800"/>
                  <a:pt x="4648200" y="3638550"/>
                </a:cubicBezTo>
                <a:cubicBezTo>
                  <a:pt x="4714875" y="4114800"/>
                  <a:pt x="4476750" y="4495800"/>
                  <a:pt x="4095750" y="4733925"/>
                </a:cubicBezTo>
                <a:cubicBezTo>
                  <a:pt x="3714750" y="4876800"/>
                  <a:pt x="3238500" y="4781550"/>
                  <a:pt x="2905125" y="4972050"/>
                </a:cubicBezTo>
                <a:cubicBezTo>
                  <a:pt x="2524125" y="5162550"/>
                  <a:pt x="2095500" y="5067300"/>
                  <a:pt x="1714500" y="4924425"/>
                </a:cubicBezTo>
                <a:cubicBezTo>
                  <a:pt x="1333500" y="4733925"/>
                  <a:pt x="952500" y="4876800"/>
                  <a:pt x="619125" y="4638675"/>
                </a:cubicBezTo>
                <a:cubicBezTo>
                  <a:pt x="285750" y="4352925"/>
                  <a:pt x="190500" y="3971925"/>
                  <a:pt x="95250" y="3638550"/>
                </a:cubicBezTo>
                <a:cubicBezTo>
                  <a:pt x="0" y="3257550"/>
                  <a:pt x="95250" y="2924175"/>
                  <a:pt x="333375" y="2686050"/>
                </a:cubicBezTo>
                <a:cubicBezTo>
                  <a:pt x="571500" y="2447925"/>
                  <a:pt x="666750" y="2209800"/>
                  <a:pt x="714375" y="1924050"/>
                </a:cubicBezTo>
                <a:cubicBezTo>
                  <a:pt x="762000" y="1638300"/>
                  <a:pt x="1143000" y="1495425"/>
                  <a:pt x="1381125" y="1209675"/>
                </a:cubicBezTo>
                <a:cubicBezTo>
                  <a:pt x="1619250" y="923925"/>
                  <a:pt x="1952625" y="971550"/>
                  <a:pt x="2095500" y="590550"/>
                </a:cubicBezTo>
                <a:cubicBezTo>
                  <a:pt x="2190750" y="304800"/>
                  <a:pt x="2286000" y="114300"/>
                  <a:pt x="2476500" y="76200"/>
                </a:cubicBezTo>
                <a:close/>
              </a:path>
            </a:pathLst>
          </a:custGeom>
          <a:solidFill>
            <a:srgbClr val="E7F0FE"/>
          </a:solidFill>
          <a:ln w="13335">
            <a:solidFill>
              <a:srgbClr val="F1B5A9"/>
            </a:solidFill>
          </a:ln>
        </p:spPr>
      </p:sp>
      <p:sp>
        <p:nvSpPr>
          <p:cNvPr id="3" name="deco-map-inner-1"/>
          <p:cNvSpPr/>
          <p:nvPr/>
        </p:nvSpPr>
        <p:spPr>
          <a:xfrm>
            <a:off x="9048750" y="1428750"/>
            <a:ext cx="971550" cy="4191000"/>
          </a:xfrm>
          <a:custGeom>
            <a:avLst/>
            <a:gdLst/>
            <a:ahLst/>
            <a:cxnLst/>
            <a:rect l="l" t="t" r="r" b="b"/>
            <a:pathLst>
              <a:path w="971550" h="4191000">
                <a:moveTo>
                  <a:pt x="476250" y="0"/>
                </a:moveTo>
                <a:cubicBezTo>
                  <a:pt x="762000" y="381000"/>
                  <a:pt x="904875" y="857250"/>
                  <a:pt x="952500" y="1333500"/>
                </a:cubicBezTo>
                <a:cubicBezTo>
                  <a:pt x="971550" y="1809750"/>
                  <a:pt x="762000" y="2190750"/>
                  <a:pt x="523875" y="2571750"/>
                </a:cubicBezTo>
                <a:cubicBezTo>
                  <a:pt x="333375" y="2952750"/>
                  <a:pt x="95250" y="3524250"/>
                  <a:pt x="0" y="4191000"/>
                </a:cubicBezTo>
              </a:path>
            </a:pathLst>
          </a:custGeom>
          <a:noFill/>
          <a:ln w="9525">
            <a:solidFill>
              <a:srgbClr val="F6C8BF"/>
            </a:solidFill>
          </a:ln>
        </p:spPr>
      </p:sp>
      <p:sp>
        <p:nvSpPr>
          <p:cNvPr id="4" name="deco-map-inner-2"/>
          <p:cNvSpPr/>
          <p:nvPr/>
        </p:nvSpPr>
        <p:spPr>
          <a:xfrm>
            <a:off x="8143875" y="1905000"/>
            <a:ext cx="3876675" cy="1000125"/>
          </a:xfrm>
          <a:custGeom>
            <a:avLst/>
            <a:gdLst/>
            <a:ahLst/>
            <a:cxnLst/>
            <a:rect l="l" t="t" r="r" b="b"/>
            <a:pathLst>
              <a:path w="3876675" h="1000125">
                <a:moveTo>
                  <a:pt x="0" y="857250"/>
                </a:moveTo>
                <a:cubicBezTo>
                  <a:pt x="428625" y="952500"/>
                  <a:pt x="904875" y="1000125"/>
                  <a:pt x="1428750" y="952500"/>
                </a:cubicBezTo>
                <a:cubicBezTo>
                  <a:pt x="1952625" y="914400"/>
                  <a:pt x="2524125" y="762000"/>
                  <a:pt x="2905125" y="381000"/>
                </a:cubicBezTo>
                <a:cubicBezTo>
                  <a:pt x="3190875" y="142875"/>
                  <a:pt x="3476625" y="47625"/>
                  <a:pt x="3876675" y="0"/>
                </a:cubicBezTo>
              </a:path>
            </a:pathLst>
          </a:custGeom>
          <a:noFill/>
          <a:ln w="9525">
            <a:solidFill>
              <a:srgbClr val="F6C8BF"/>
            </a:solidFill>
          </a:ln>
        </p:spPr>
      </p:sp>
      <p:sp>
        <p:nvSpPr>
          <p:cNvPr id="5" name="deco-map-inner-3"/>
          <p:cNvSpPr/>
          <p:nvPr/>
        </p:nvSpPr>
        <p:spPr>
          <a:xfrm>
            <a:off x="7762875" y="3524250"/>
            <a:ext cx="4314825" cy="952500"/>
          </a:xfrm>
          <a:custGeom>
            <a:avLst/>
            <a:gdLst/>
            <a:ahLst/>
            <a:cxnLst/>
            <a:rect l="l" t="t" r="r" b="b"/>
            <a:pathLst>
              <a:path w="4314825" h="952500">
                <a:moveTo>
                  <a:pt x="0" y="0"/>
                </a:moveTo>
                <a:cubicBezTo>
                  <a:pt x="428625" y="95250"/>
                  <a:pt x="857250" y="285750"/>
                  <a:pt x="1285875" y="285750"/>
                </a:cubicBezTo>
                <a:cubicBezTo>
                  <a:pt x="1762125" y="285750"/>
                  <a:pt x="2238375" y="238125"/>
                  <a:pt x="2762250" y="333375"/>
                </a:cubicBezTo>
                <a:cubicBezTo>
                  <a:pt x="3286125" y="428625"/>
                  <a:pt x="3810000" y="666750"/>
                  <a:pt x="4314825" y="952500"/>
                </a:cubicBezTo>
              </a:path>
            </a:pathLst>
          </a:custGeom>
          <a:noFill/>
          <a:ln w="9525">
            <a:solidFill>
              <a:srgbClr val="F6C8BF"/>
            </a:solidFill>
          </a:ln>
        </p:spPr>
      </p:sp>
      <p:sp>
        <p:nvSpPr>
          <p:cNvPr id="6" name="deco-map-inner-4"/>
          <p:cNvSpPr/>
          <p:nvPr/>
        </p:nvSpPr>
        <p:spPr>
          <a:xfrm>
            <a:off x="10858500" y="1314450"/>
            <a:ext cx="809625" cy="4257675"/>
          </a:xfrm>
          <a:custGeom>
            <a:avLst/>
            <a:gdLst/>
            <a:ahLst/>
            <a:cxnLst/>
            <a:rect l="l" t="t" r="r" b="b"/>
            <a:pathLst>
              <a:path w="809625" h="4257675">
                <a:moveTo>
                  <a:pt x="190500" y="0"/>
                </a:moveTo>
                <a:cubicBezTo>
                  <a:pt x="95250" y="495300"/>
                  <a:pt x="0" y="971550"/>
                  <a:pt x="95250" y="1543050"/>
                </a:cubicBezTo>
                <a:cubicBezTo>
                  <a:pt x="190500" y="2114550"/>
                  <a:pt x="381000" y="2686050"/>
                  <a:pt x="666750" y="3257550"/>
                </a:cubicBezTo>
                <a:cubicBezTo>
                  <a:pt x="809625" y="3638550"/>
                  <a:pt x="714375" y="4019550"/>
                  <a:pt x="666750" y="4257675"/>
                </a:cubicBezTo>
              </a:path>
            </a:pathLst>
          </a:custGeom>
          <a:noFill/>
          <a:ln w="9525">
            <a:solidFill>
              <a:srgbClr val="F6C8BF"/>
            </a:solidFill>
          </a:ln>
        </p:spPr>
      </p:sp>
      <p:sp>
        <p:nvSpPr>
          <p:cNvPr id="7" name="deco-map-inner-5"/>
          <p:cNvSpPr/>
          <p:nvPr/>
        </p:nvSpPr>
        <p:spPr>
          <a:xfrm>
            <a:off x="8048625" y="3238500"/>
            <a:ext cx="809625" cy="2238375"/>
          </a:xfrm>
          <a:custGeom>
            <a:avLst/>
            <a:gdLst/>
            <a:ahLst/>
            <a:cxnLst/>
            <a:rect l="l" t="t" r="r" b="b"/>
            <a:pathLst>
              <a:path w="809625" h="2238375">
                <a:moveTo>
                  <a:pt x="0" y="2238375"/>
                </a:moveTo>
                <a:cubicBezTo>
                  <a:pt x="333375" y="1714500"/>
                  <a:pt x="428625" y="1238250"/>
                  <a:pt x="571500" y="952500"/>
                </a:cubicBezTo>
                <a:cubicBezTo>
                  <a:pt x="714375" y="714375"/>
                  <a:pt x="809625" y="381000"/>
                  <a:pt x="714375" y="0"/>
                </a:cubicBezTo>
              </a:path>
            </a:pathLst>
          </a:custGeom>
          <a:noFill/>
          <a:ln w="9525">
            <a:solidFill>
              <a:srgbClr val="F6C8BF"/>
            </a:solidFill>
          </a:ln>
        </p:spPr>
      </p:sp>
      <p:sp>
        <p:nvSpPr>
          <p:cNvPr id="8" name="Line 8"/>
          <p:cNvSpPr/>
          <p:nvPr/>
        </p:nvSpPr>
        <p:spPr>
          <a:xfrm>
            <a:off x="10096500" y="1857375"/>
            <a:ext cx="666750" cy="1381125"/>
          </a:xfrm>
          <a:custGeom>
            <a:avLst/>
            <a:gdLst/>
            <a:ahLst/>
            <a:cxnLst/>
            <a:rect l="l" t="t" r="r" b="b"/>
            <a:pathLst>
              <a:path w="666750" h="1381125">
                <a:moveTo>
                  <a:pt x="0" y="1381125"/>
                </a:moveTo>
                <a:lnTo>
                  <a:pt x="666750" y="0"/>
                </a:lnTo>
              </a:path>
            </a:pathLst>
          </a:custGeom>
          <a:noFill/>
          <a:ln w="9525">
            <a:solidFill>
              <a:srgbClr val="E0826F"/>
            </a:solidFill>
          </a:ln>
        </p:spPr>
      </p:sp>
      <p:sp>
        <p:nvSpPr>
          <p:cNvPr id="9" name="Line 9"/>
          <p:cNvSpPr/>
          <p:nvPr/>
        </p:nvSpPr>
        <p:spPr>
          <a:xfrm>
            <a:off x="10096500" y="2933700"/>
            <a:ext cx="1190625" cy="304800"/>
          </a:xfrm>
          <a:custGeom>
            <a:avLst/>
            <a:gdLst/>
            <a:ahLst/>
            <a:cxnLst/>
            <a:rect l="l" t="t" r="r" b="b"/>
            <a:pathLst>
              <a:path w="1190625" h="304800">
                <a:moveTo>
                  <a:pt x="0" y="304800"/>
                </a:moveTo>
                <a:lnTo>
                  <a:pt x="1190625" y="0"/>
                </a:lnTo>
              </a:path>
            </a:pathLst>
          </a:custGeom>
          <a:noFill/>
          <a:ln w="9525">
            <a:solidFill>
              <a:srgbClr val="E0826F"/>
            </a:solidFill>
          </a:ln>
        </p:spPr>
      </p:sp>
      <p:sp>
        <p:nvSpPr>
          <p:cNvPr id="10" name="Line 10"/>
          <p:cNvSpPr/>
          <p:nvPr/>
        </p:nvSpPr>
        <p:spPr>
          <a:xfrm>
            <a:off x="10096500" y="3238500"/>
            <a:ext cx="190500" cy="1066800"/>
          </a:xfrm>
          <a:custGeom>
            <a:avLst/>
            <a:gdLst/>
            <a:ahLst/>
            <a:cxnLst/>
            <a:rect l="l" t="t" r="r" b="b"/>
            <a:pathLst>
              <a:path w="190500" h="1066800">
                <a:moveTo>
                  <a:pt x="0" y="0"/>
                </a:moveTo>
                <a:lnTo>
                  <a:pt x="190500" y="1066800"/>
                </a:lnTo>
              </a:path>
            </a:pathLst>
          </a:custGeom>
          <a:noFill/>
          <a:ln w="9525">
            <a:solidFill>
              <a:srgbClr val="E0826F"/>
            </a:solidFill>
          </a:ln>
        </p:spPr>
      </p:sp>
      <p:sp>
        <p:nvSpPr>
          <p:cNvPr id="11" name="Line 11"/>
          <p:cNvSpPr/>
          <p:nvPr/>
        </p:nvSpPr>
        <p:spPr>
          <a:xfrm>
            <a:off x="9334500" y="3238500"/>
            <a:ext cx="762000" cy="1428750"/>
          </a:xfrm>
          <a:custGeom>
            <a:avLst/>
            <a:gdLst/>
            <a:ahLst/>
            <a:cxnLst/>
            <a:rect l="l" t="t" r="r" b="b"/>
            <a:pathLst>
              <a:path w="762000" h="1428750">
                <a:moveTo>
                  <a:pt x="762000" y="0"/>
                </a:moveTo>
                <a:lnTo>
                  <a:pt x="0" y="1428750"/>
                </a:lnTo>
              </a:path>
            </a:pathLst>
          </a:custGeom>
          <a:noFill/>
          <a:ln w="9525">
            <a:solidFill>
              <a:srgbClr val="E0826F"/>
            </a:solidFill>
          </a:ln>
        </p:spPr>
      </p:sp>
      <p:sp>
        <p:nvSpPr>
          <p:cNvPr id="12" name="Line 12"/>
          <p:cNvSpPr/>
          <p:nvPr/>
        </p:nvSpPr>
        <p:spPr>
          <a:xfrm>
            <a:off x="8715375" y="3238500"/>
            <a:ext cx="1381125" cy="619125"/>
          </a:xfrm>
          <a:custGeom>
            <a:avLst/>
            <a:gdLst/>
            <a:ahLst/>
            <a:cxnLst/>
            <a:rect l="l" t="t" r="r" b="b"/>
            <a:pathLst>
              <a:path w="1381125" h="619125">
                <a:moveTo>
                  <a:pt x="1381125" y="0"/>
                </a:moveTo>
                <a:lnTo>
                  <a:pt x="0" y="619125"/>
                </a:lnTo>
              </a:path>
            </a:pathLst>
          </a:custGeom>
          <a:noFill/>
          <a:ln w="9525">
            <a:solidFill>
              <a:srgbClr val="E0826F"/>
            </a:solidFill>
          </a:ln>
        </p:spPr>
      </p:sp>
      <p:sp>
        <p:nvSpPr>
          <p:cNvPr id="13" name="Line 13"/>
          <p:cNvSpPr/>
          <p:nvPr/>
        </p:nvSpPr>
        <p:spPr>
          <a:xfrm>
            <a:off x="9334500" y="4305300"/>
            <a:ext cx="952500" cy="361950"/>
          </a:xfrm>
          <a:custGeom>
            <a:avLst/>
            <a:gdLst/>
            <a:ahLst/>
            <a:cxnLst/>
            <a:rect l="l" t="t" r="r" b="b"/>
            <a:pathLst>
              <a:path w="952500" h="361950">
                <a:moveTo>
                  <a:pt x="0" y="361950"/>
                </a:moveTo>
                <a:lnTo>
                  <a:pt x="952500" y="0"/>
                </a:lnTo>
              </a:path>
            </a:pathLst>
          </a:custGeom>
          <a:noFill/>
          <a:ln w="9525">
            <a:solidFill>
              <a:srgbClr val="E0826F"/>
            </a:solidFill>
          </a:ln>
        </p:spPr>
      </p:sp>
      <p:sp>
        <p:nvSpPr>
          <p:cNvPr id="14" name="Line 14"/>
          <p:cNvSpPr/>
          <p:nvPr/>
        </p:nvSpPr>
        <p:spPr>
          <a:xfrm>
            <a:off x="10763250" y="1857375"/>
            <a:ext cx="523875" cy="1076325"/>
          </a:xfrm>
          <a:custGeom>
            <a:avLst/>
            <a:gdLst/>
            <a:ahLst/>
            <a:cxnLst/>
            <a:rect l="l" t="t" r="r" b="b"/>
            <a:pathLst>
              <a:path w="523875" h="1076325">
                <a:moveTo>
                  <a:pt x="0" y="0"/>
                </a:moveTo>
                <a:lnTo>
                  <a:pt x="523875" y="1076325"/>
                </a:lnTo>
              </a:path>
            </a:pathLst>
          </a:custGeom>
          <a:noFill/>
          <a:ln w="9525">
            <a:solidFill>
              <a:srgbClr val="E0826F"/>
            </a:solidFill>
          </a:ln>
        </p:spPr>
      </p:sp>
      <p:sp>
        <p:nvSpPr>
          <p:cNvPr id="15" name="Line 15"/>
          <p:cNvSpPr/>
          <p:nvPr/>
        </p:nvSpPr>
        <p:spPr>
          <a:xfrm>
            <a:off x="8715375" y="3857625"/>
            <a:ext cx="619125" cy="809625"/>
          </a:xfrm>
          <a:custGeom>
            <a:avLst/>
            <a:gdLst/>
            <a:ahLst/>
            <a:cxnLst/>
            <a:rect l="l" t="t" r="r" b="b"/>
            <a:pathLst>
              <a:path w="619125" h="809625">
                <a:moveTo>
                  <a:pt x="619125" y="809625"/>
                </a:moveTo>
                <a:lnTo>
                  <a:pt x="0" y="0"/>
                </a:lnTo>
              </a:path>
            </a:pathLst>
          </a:custGeom>
          <a:noFill/>
          <a:ln w="9525">
            <a:solidFill>
              <a:srgbClr val="E0826F"/>
            </a:solidFill>
          </a:ln>
        </p:spPr>
      </p:sp>
      <p:sp>
        <p:nvSpPr>
          <p:cNvPr id="16" name="Line 16"/>
          <p:cNvSpPr/>
          <p:nvPr/>
        </p:nvSpPr>
        <p:spPr>
          <a:xfrm>
            <a:off x="9334500" y="4667250"/>
            <a:ext cx="285750" cy="714375"/>
          </a:xfrm>
          <a:custGeom>
            <a:avLst/>
            <a:gdLst/>
            <a:ahLst/>
            <a:cxnLst/>
            <a:rect l="l" t="t" r="r" b="b"/>
            <a:pathLst>
              <a:path w="285750" h="714375">
                <a:moveTo>
                  <a:pt x="0" y="0"/>
                </a:moveTo>
                <a:lnTo>
                  <a:pt x="285750" y="714375"/>
                </a:lnTo>
              </a:path>
            </a:pathLst>
          </a:custGeom>
          <a:noFill/>
          <a:ln w="9525">
            <a:solidFill>
              <a:srgbClr val="E0826F"/>
            </a:solidFill>
          </a:ln>
        </p:spPr>
      </p:sp>
      <p:sp>
        <p:nvSpPr>
          <p:cNvPr id="17" name="Line 17"/>
          <p:cNvSpPr/>
          <p:nvPr/>
        </p:nvSpPr>
        <p:spPr>
          <a:xfrm>
            <a:off x="10287000" y="4305300"/>
            <a:ext cx="1428750" cy="457200"/>
          </a:xfrm>
          <a:custGeom>
            <a:avLst/>
            <a:gdLst/>
            <a:ahLst/>
            <a:cxnLst/>
            <a:rect l="l" t="t" r="r" b="b"/>
            <a:pathLst>
              <a:path w="1428750" h="457200">
                <a:moveTo>
                  <a:pt x="0" y="0"/>
                </a:moveTo>
                <a:lnTo>
                  <a:pt x="1428750" y="457200"/>
                </a:lnTo>
              </a:path>
            </a:pathLst>
          </a:custGeom>
          <a:noFill/>
          <a:ln w="9525">
            <a:solidFill>
              <a:srgbClr val="E0826F"/>
            </a:solidFill>
          </a:ln>
        </p:spPr>
      </p:sp>
      <p:sp>
        <p:nvSpPr>
          <p:cNvPr id="18" name="deco-node-c-ring"/>
          <p:cNvSpPr/>
          <p:nvPr/>
        </p:nvSpPr>
        <p:spPr>
          <a:xfrm>
            <a:off x="9867900" y="3009900"/>
            <a:ext cx="457200" cy="457200"/>
          </a:xfrm>
          <a:prstGeom prst="ellipse">
            <a:avLst/>
          </a:prstGeom>
          <a:noFill/>
          <a:ln w="9525">
            <a:solidFill>
              <a:srgbClr val="D44B2F">
                <a:alpha val="35000"/>
              </a:srgbClr>
            </a:solidFill>
          </a:ln>
        </p:spPr>
      </p:sp>
      <p:sp>
        <p:nvSpPr>
          <p:cNvPr id="19" name="deco-node-c"/>
          <p:cNvSpPr/>
          <p:nvPr/>
        </p:nvSpPr>
        <p:spPr>
          <a:xfrm>
            <a:off x="9991725" y="3133725"/>
            <a:ext cx="209550" cy="209550"/>
          </a:xfrm>
          <a:prstGeom prst="ellipse">
            <a:avLst/>
          </a:prstGeom>
          <a:solidFill>
            <a:srgbClr val="D03D1F"/>
          </a:solidFill>
          <a:ln>
            <a:noFill/>
          </a:ln>
        </p:spPr>
      </p:sp>
      <p:sp>
        <p:nvSpPr>
          <p:cNvPr id="20" name="deco-node-1-ring"/>
          <p:cNvSpPr/>
          <p:nvPr/>
        </p:nvSpPr>
        <p:spPr>
          <a:xfrm>
            <a:off x="10629900" y="1724025"/>
            <a:ext cx="266700" cy="266700"/>
          </a:xfrm>
          <a:prstGeom prst="ellipse">
            <a:avLst/>
          </a:prstGeom>
          <a:noFill/>
          <a:ln w="9525">
            <a:solidFill>
              <a:srgbClr val="D44B2F">
                <a:alpha val="35000"/>
              </a:srgbClr>
            </a:solidFill>
          </a:ln>
        </p:spPr>
      </p:sp>
      <p:sp>
        <p:nvSpPr>
          <p:cNvPr id="21" name="deco-node-1"/>
          <p:cNvSpPr/>
          <p:nvPr/>
        </p:nvSpPr>
        <p:spPr>
          <a:xfrm>
            <a:off x="10706100" y="1800225"/>
            <a:ext cx="114300" cy="114300"/>
          </a:xfrm>
          <a:prstGeom prst="ellipse">
            <a:avLst/>
          </a:prstGeom>
          <a:solidFill>
            <a:srgbClr val="D44B2F"/>
          </a:solidFill>
          <a:ln>
            <a:noFill/>
          </a:ln>
        </p:spPr>
      </p:sp>
      <p:sp>
        <p:nvSpPr>
          <p:cNvPr id="22" name="deco-node-2-ring"/>
          <p:cNvSpPr/>
          <p:nvPr/>
        </p:nvSpPr>
        <p:spPr>
          <a:xfrm>
            <a:off x="11153775" y="2800350"/>
            <a:ext cx="266700" cy="266700"/>
          </a:xfrm>
          <a:prstGeom prst="ellipse">
            <a:avLst/>
          </a:prstGeom>
          <a:noFill/>
          <a:ln w="9525">
            <a:solidFill>
              <a:srgbClr val="D44B2F">
                <a:alpha val="35000"/>
              </a:srgbClr>
            </a:solidFill>
          </a:ln>
        </p:spPr>
      </p:sp>
      <p:sp>
        <p:nvSpPr>
          <p:cNvPr id="23" name="deco-node-2"/>
          <p:cNvSpPr/>
          <p:nvPr/>
        </p:nvSpPr>
        <p:spPr>
          <a:xfrm>
            <a:off x="11229975" y="2876550"/>
            <a:ext cx="114300" cy="114300"/>
          </a:xfrm>
          <a:prstGeom prst="ellipse">
            <a:avLst/>
          </a:prstGeom>
          <a:solidFill>
            <a:srgbClr val="D44B2F"/>
          </a:solidFill>
          <a:ln>
            <a:noFill/>
          </a:ln>
        </p:spPr>
      </p:sp>
      <p:sp>
        <p:nvSpPr>
          <p:cNvPr id="24" name="deco-node-3"/>
          <p:cNvSpPr/>
          <p:nvPr/>
        </p:nvSpPr>
        <p:spPr>
          <a:xfrm>
            <a:off x="10229850" y="4248150"/>
            <a:ext cx="114300" cy="114300"/>
          </a:xfrm>
          <a:prstGeom prst="ellipse">
            <a:avLst/>
          </a:prstGeom>
          <a:solidFill>
            <a:srgbClr val="D44B2F"/>
          </a:solidFill>
          <a:ln>
            <a:noFill/>
          </a:ln>
        </p:spPr>
      </p:sp>
      <p:sp>
        <p:nvSpPr>
          <p:cNvPr id="25" name="deco-node-4-ring"/>
          <p:cNvSpPr/>
          <p:nvPr/>
        </p:nvSpPr>
        <p:spPr>
          <a:xfrm>
            <a:off x="9182100" y="4514850"/>
            <a:ext cx="304800" cy="304800"/>
          </a:xfrm>
          <a:prstGeom prst="ellipse">
            <a:avLst/>
          </a:prstGeom>
          <a:noFill/>
          <a:ln w="9525">
            <a:solidFill>
              <a:srgbClr val="D44B2F">
                <a:alpha val="35000"/>
              </a:srgbClr>
            </a:solidFill>
          </a:ln>
        </p:spPr>
      </p:sp>
      <p:sp>
        <p:nvSpPr>
          <p:cNvPr id="26" name="deco-node-4"/>
          <p:cNvSpPr/>
          <p:nvPr/>
        </p:nvSpPr>
        <p:spPr>
          <a:xfrm>
            <a:off x="9258300" y="4591050"/>
            <a:ext cx="152400" cy="152400"/>
          </a:xfrm>
          <a:prstGeom prst="ellipse">
            <a:avLst/>
          </a:prstGeom>
          <a:solidFill>
            <a:srgbClr val="D03D1F"/>
          </a:solidFill>
          <a:ln>
            <a:noFill/>
          </a:ln>
        </p:spPr>
      </p:sp>
      <p:sp>
        <p:nvSpPr>
          <p:cNvPr id="27" name="deco-node-5"/>
          <p:cNvSpPr/>
          <p:nvPr/>
        </p:nvSpPr>
        <p:spPr>
          <a:xfrm>
            <a:off x="8667750" y="3810000"/>
            <a:ext cx="95250" cy="95250"/>
          </a:xfrm>
          <a:prstGeom prst="ellipse">
            <a:avLst/>
          </a:prstGeom>
          <a:solidFill>
            <a:srgbClr val="D44B2F"/>
          </a:solidFill>
          <a:ln>
            <a:noFill/>
          </a:ln>
        </p:spPr>
      </p:sp>
      <p:sp>
        <p:nvSpPr>
          <p:cNvPr id="28" name="deco-node-6"/>
          <p:cNvSpPr/>
          <p:nvPr/>
        </p:nvSpPr>
        <p:spPr>
          <a:xfrm>
            <a:off x="9582150" y="5343525"/>
            <a:ext cx="76200" cy="76200"/>
          </a:xfrm>
          <a:prstGeom prst="ellipse">
            <a:avLst/>
          </a:prstGeom>
          <a:solidFill>
            <a:srgbClr val="D44B2F"/>
          </a:solidFill>
          <a:ln>
            <a:noFill/>
          </a:ln>
        </p:spPr>
      </p:sp>
      <p:sp>
        <p:nvSpPr>
          <p:cNvPr id="29" name="deco-node-7"/>
          <p:cNvSpPr/>
          <p:nvPr/>
        </p:nvSpPr>
        <p:spPr>
          <a:xfrm>
            <a:off x="11677650" y="4724400"/>
            <a:ext cx="76200" cy="76200"/>
          </a:xfrm>
          <a:prstGeom prst="ellipse">
            <a:avLst/>
          </a:prstGeom>
          <a:solidFill>
            <a:srgbClr val="D44B2F"/>
          </a:solidFill>
          <a:ln>
            <a:noFill/>
          </a:ln>
        </p:spPr>
      </p:sp>
      <p:sp>
        <p:nvSpPr>
          <p:cNvPr id="30" name="deco-node-8"/>
          <p:cNvSpPr/>
          <p:nvPr/>
        </p:nvSpPr>
        <p:spPr>
          <a:xfrm>
            <a:off x="8305800" y="5162550"/>
            <a:ext cx="57150" cy="57150"/>
          </a:xfrm>
          <a:prstGeom prst="ellipse">
            <a:avLst/>
          </a:prstGeom>
          <a:solidFill>
            <a:srgbClr val="E3907F"/>
          </a:solidFill>
          <a:ln>
            <a:noFill/>
          </a:ln>
        </p:spPr>
      </p:sp>
      <p:sp>
        <p:nvSpPr>
          <p:cNvPr id="31" name="deco-wave-1"/>
          <p:cNvSpPr/>
          <p:nvPr/>
        </p:nvSpPr>
        <p:spPr>
          <a:xfrm>
            <a:off x="0" y="5143500"/>
            <a:ext cx="12192000" cy="1524000"/>
          </a:xfrm>
          <a:custGeom>
            <a:avLst/>
            <a:gdLst/>
            <a:ahLst/>
            <a:cxnLst/>
            <a:rect l="l" t="t" r="r" b="b"/>
            <a:pathLst>
              <a:path w="12192000" h="1524000">
                <a:moveTo>
                  <a:pt x="0" y="952500"/>
                </a:moveTo>
                <a:cubicBezTo>
                  <a:pt x="1905000" y="190500"/>
                  <a:pt x="3619500" y="1524000"/>
                  <a:pt x="5715000" y="762000"/>
                </a:cubicBezTo>
                <a:cubicBezTo>
                  <a:pt x="7810500" y="0"/>
                  <a:pt x="9525000" y="1524000"/>
                  <a:pt x="12192000" y="476250"/>
                </a:cubicBezTo>
              </a:path>
            </a:pathLst>
          </a:custGeom>
          <a:noFill/>
          <a:ln w="15240">
            <a:gradFill>
              <a:gsLst>
                <a:gs pos="0">
                  <a:srgbClr val="E3907F">
                    <a:alpha val="15000"/>
                  </a:srgbClr>
                </a:gs>
                <a:gs pos="55000">
                  <a:srgbClr val="D44B2F">
                    <a:alpha val="55000"/>
                  </a:srgbClr>
                </a:gs>
                <a:gs pos="100000">
                  <a:srgbClr val="E3907F">
                    <a:alpha val="15000"/>
                  </a:srgbClr>
                </a:gs>
              </a:gsLst>
              <a:lin ang="0" scaled="1"/>
            </a:gradFill>
          </a:ln>
        </p:spPr>
      </p:sp>
      <p:sp>
        <p:nvSpPr>
          <p:cNvPr id="32" name="deco-wave-2"/>
          <p:cNvSpPr/>
          <p:nvPr/>
        </p:nvSpPr>
        <p:spPr>
          <a:xfrm>
            <a:off x="0" y="5334000"/>
            <a:ext cx="12192000" cy="1476375"/>
          </a:xfrm>
          <a:custGeom>
            <a:avLst/>
            <a:gdLst/>
            <a:ahLst/>
            <a:cxnLst/>
            <a:rect l="l" t="t" r="r" b="b"/>
            <a:pathLst>
              <a:path w="12192000" h="1476375">
                <a:moveTo>
                  <a:pt x="0" y="952500"/>
                </a:moveTo>
                <a:cubicBezTo>
                  <a:pt x="2000250" y="190500"/>
                  <a:pt x="3714750" y="1476375"/>
                  <a:pt x="5905500" y="762000"/>
                </a:cubicBezTo>
                <a:cubicBezTo>
                  <a:pt x="8001000" y="0"/>
                  <a:pt x="9620250" y="1476375"/>
                  <a:pt x="12192000" y="495300"/>
                </a:cubicBezTo>
              </a:path>
            </a:pathLst>
          </a:custGeom>
          <a:noFill/>
          <a:ln w="13335">
            <a:gradFill>
              <a:gsLst>
                <a:gs pos="0">
                  <a:srgbClr val="E3907F">
                    <a:alpha val="15000"/>
                  </a:srgbClr>
                </a:gs>
                <a:gs pos="55000">
                  <a:srgbClr val="D44B2F">
                    <a:alpha val="55000"/>
                  </a:srgbClr>
                </a:gs>
                <a:gs pos="100000">
                  <a:srgbClr val="E3907F">
                    <a:alpha val="15000"/>
                  </a:srgbClr>
                </a:gs>
              </a:gsLst>
              <a:lin ang="0" scaled="1"/>
            </a:gradFill>
          </a:ln>
        </p:spPr>
      </p:sp>
      <p:sp>
        <p:nvSpPr>
          <p:cNvPr id="33" name="deco-wave-3"/>
          <p:cNvSpPr/>
          <p:nvPr/>
        </p:nvSpPr>
        <p:spPr>
          <a:xfrm>
            <a:off x="0" y="5572125"/>
            <a:ext cx="12192000" cy="1381125"/>
          </a:xfrm>
          <a:custGeom>
            <a:avLst/>
            <a:gdLst/>
            <a:ahLst/>
            <a:cxnLst/>
            <a:rect l="l" t="t" r="r" b="b"/>
            <a:pathLst>
              <a:path w="12192000" h="1381125">
                <a:moveTo>
                  <a:pt x="0" y="904875"/>
                </a:moveTo>
                <a:cubicBezTo>
                  <a:pt x="2095500" y="142875"/>
                  <a:pt x="3810000" y="1381125"/>
                  <a:pt x="6096000" y="714375"/>
                </a:cubicBezTo>
                <a:cubicBezTo>
                  <a:pt x="8191500" y="0"/>
                  <a:pt x="9715500" y="1381125"/>
                  <a:pt x="12192000" y="485775"/>
                </a:cubicBezTo>
              </a:path>
            </a:pathLst>
          </a:custGeom>
          <a:noFill/>
          <a:ln w="11430">
            <a:gradFill>
              <a:gsLst>
                <a:gs pos="0">
                  <a:srgbClr val="E3907F">
                    <a:alpha val="15000"/>
                  </a:srgbClr>
                </a:gs>
                <a:gs pos="55000">
                  <a:srgbClr val="D44B2F">
                    <a:alpha val="55000"/>
                  </a:srgbClr>
                </a:gs>
                <a:gs pos="100000">
                  <a:srgbClr val="E3907F">
                    <a:alpha val="15000"/>
                  </a:srgbClr>
                </a:gs>
              </a:gsLst>
              <a:lin ang="0" scaled="1"/>
            </a:gradFill>
          </a:ln>
        </p:spPr>
      </p:sp>
      <p:sp>
        <p:nvSpPr>
          <p:cNvPr id="34" name="deco-wave-4"/>
          <p:cNvSpPr/>
          <p:nvPr/>
        </p:nvSpPr>
        <p:spPr>
          <a:xfrm>
            <a:off x="0" y="5810250"/>
            <a:ext cx="12192000" cy="1257300"/>
          </a:xfrm>
          <a:custGeom>
            <a:avLst/>
            <a:gdLst/>
            <a:ahLst/>
            <a:cxnLst/>
            <a:rect l="l" t="t" r="r" b="b"/>
            <a:pathLst>
              <a:path w="12192000" h="1257300">
                <a:moveTo>
                  <a:pt x="0" y="838200"/>
                </a:moveTo>
                <a:cubicBezTo>
                  <a:pt x="2190750" y="95250"/>
                  <a:pt x="3905250" y="1257300"/>
                  <a:pt x="6286500" y="647700"/>
                </a:cubicBezTo>
                <a:cubicBezTo>
                  <a:pt x="8382000" y="0"/>
                  <a:pt x="9810750" y="1257300"/>
                  <a:pt x="12192000" y="476250"/>
                </a:cubicBezTo>
              </a:path>
            </a:pathLst>
          </a:custGeom>
          <a:noFill/>
          <a:ln w="9525">
            <a:gradFill>
              <a:gsLst>
                <a:gs pos="0">
                  <a:srgbClr val="E3907F">
                    <a:alpha val="15000"/>
                  </a:srgbClr>
                </a:gs>
                <a:gs pos="55000">
                  <a:srgbClr val="D44B2F">
                    <a:alpha val="55000"/>
                  </a:srgbClr>
                </a:gs>
                <a:gs pos="100000">
                  <a:srgbClr val="E3907F">
                    <a:alpha val="15000"/>
                  </a:srgbClr>
                </a:gs>
              </a:gsLst>
              <a:lin ang="0" scaled="1"/>
            </a:gradFill>
          </a:ln>
        </p:spPr>
      </p:sp>
      <p:sp>
        <p:nvSpPr>
          <p:cNvPr id="35" name="deco-wave-5"/>
          <p:cNvSpPr/>
          <p:nvPr/>
        </p:nvSpPr>
        <p:spPr>
          <a:xfrm>
            <a:off x="0" y="6048375"/>
            <a:ext cx="12192000" cy="1114425"/>
          </a:xfrm>
          <a:custGeom>
            <a:avLst/>
            <a:gdLst/>
            <a:ahLst/>
            <a:cxnLst/>
            <a:rect l="l" t="t" r="r" b="b"/>
            <a:pathLst>
              <a:path w="12192000" h="1114425">
                <a:moveTo>
                  <a:pt x="0" y="752475"/>
                </a:moveTo>
                <a:cubicBezTo>
                  <a:pt x="2286000" y="47625"/>
                  <a:pt x="4000500" y="1114425"/>
                  <a:pt x="6477000" y="581025"/>
                </a:cubicBezTo>
                <a:cubicBezTo>
                  <a:pt x="8572500" y="0"/>
                  <a:pt x="9906000" y="1114425"/>
                  <a:pt x="12192000" y="466725"/>
                </a:cubicBezTo>
              </a:path>
            </a:pathLst>
          </a:custGeom>
          <a:noFill/>
          <a:ln w="7620">
            <a:gradFill>
              <a:gsLst>
                <a:gs pos="0">
                  <a:srgbClr val="E3907F">
                    <a:alpha val="15000"/>
                  </a:srgbClr>
                </a:gs>
                <a:gs pos="55000">
                  <a:srgbClr val="D44B2F">
                    <a:alpha val="55000"/>
                  </a:srgbClr>
                </a:gs>
                <a:gs pos="100000">
                  <a:srgbClr val="E3907F">
                    <a:alpha val="15000"/>
                  </a:srgbClr>
                </a:gs>
              </a:gsLst>
              <a:lin ang="0" scaled="1"/>
            </a:gradFill>
          </a:ln>
        </p:spPr>
      </p:sp>
      <p:grpSp>
        <p:nvGrpSpPr>
          <p:cNvPr id="40" name="cover-title"/>
          <p:cNvGrpSpPr/>
          <p:nvPr/>
        </p:nvGrpSpPr>
        <p:grpSpPr>
          <a:xfrm>
            <a:off x="590550" y="1581150"/>
            <a:ext cx="7454884" cy="1743075"/>
            <a:chOff x="590550" y="1581150"/>
            <a:chExt cx="7454884" cy="1743075"/>
          </a:xfrm>
        </p:grpSpPr>
        <p:sp>
          <p:nvSpPr>
            <p:cNvPr id="36" name="Rectangle 36"/>
            <p:cNvSpPr/>
            <p:nvPr/>
          </p:nvSpPr>
          <p:spPr>
            <a:xfrm>
              <a:off x="590550" y="1581150"/>
              <a:ext cx="95250" cy="1428750"/>
            </a:xfrm>
            <a:prstGeom prst="roundRect">
              <a:avLst>
                <a:gd name="adj" fmla="val 20000"/>
              </a:avLst>
            </a:prstGeom>
            <a:gradFill>
              <a:gsLst>
                <a:gs pos="0">
                  <a:srgbClr val="DE2702"/>
                </a:gs>
                <a:gs pos="100000">
                  <a:srgbClr val="FCBDB0"/>
                </a:gs>
              </a:gsLst>
              <a:lin ang="5400000" scaled="1"/>
            </a:gradFill>
            <a:ln>
              <a:noFill/>
            </a:ln>
          </p:spPr>
        </p:sp>
        <p:sp>
          <p:nvSpPr>
            <p:cNvPr id="37" name="TextBox 37"/>
            <p:cNvSpPr txBox="1"/>
            <p:nvPr/>
          </p:nvSpPr>
          <p:spPr>
            <a:xfrm>
              <a:off x="1049274" y="1684972"/>
              <a:ext cx="6996160" cy="1341501"/>
            </a:xfrm>
            <a:prstGeom prst="rect">
              <a:avLst/>
            </a:prstGeom>
            <a:noFill/>
            <a:ln>
              <a:noFill/>
            </a:ln>
          </p:spPr>
          <p:txBody>
            <a:bodyPr wrap="none" lIns="0" tIns="0" rIns="0" bIns="0" anchor="t" anchorCtr="0">
              <a:spAutoFit/>
            </a:bodyPr>
            <a:lstStyle/>
            <a:p>
              <a:pPr algn="l">
                <a:lnSpc>
                  <a:spcPts val="5250"/>
                </a:lnSpc>
              </a:pPr>
              <a:r>
                <a:rPr lang="zh-CN" sz="3450" b="1" dirty="0">
                  <a:solidFill>
                    <a:srgbClr val="701401"/>
                  </a:solidFill>
                  <a:latin typeface="+mn-lt"/>
                  <a:ea typeface="+mn-ea"/>
                  <a:cs typeface="+mn-cs"/>
                </a:rPr>
                <a:t>区域销售经理8月份工作总结，​​​​</a:t>
              </a:r>
              <a:br/>
              <a:r>
                <a:rPr lang="zh-CN" sz="3450" b="1" dirty="0">
                  <a:solidFill>
                    <a:srgbClr val="701401"/>
                  </a:solidFill>
                  <a:latin typeface="+mn-lt"/>
                  <a:ea typeface="+mn-ea"/>
                  <a:cs typeface="+mn-cs"/>
                </a:rPr>
                <a:t>9月份工作计划​​​</a:t>
              </a:r>
            </a:p>
          </p:txBody>
        </p:sp>
        <p:sp>
          <p:nvSpPr>
            <p:cNvPr id="38" name="Rectangle 38"/>
            <p:cNvSpPr/>
            <p:nvPr/>
          </p:nvSpPr>
          <p:spPr>
            <a:xfrm>
              <a:off x="1085850" y="3295650"/>
              <a:ext cx="762000" cy="28575"/>
            </a:xfrm>
            <a:prstGeom prst="rect">
              <a:avLst/>
            </a:prstGeom>
            <a:solidFill>
              <a:srgbClr val="DE2702"/>
            </a:solidFill>
            <a:ln>
              <a:noFill/>
            </a:ln>
          </p:spPr>
        </p:sp>
        <p:sp>
          <p:nvSpPr>
            <p:cNvPr id="39" name="Line 39"/>
            <p:cNvSpPr/>
            <p:nvPr/>
          </p:nvSpPr>
          <p:spPr>
            <a:xfrm>
              <a:off x="1847850" y="3309938"/>
              <a:ext cx="4819650" cy="9525"/>
            </a:xfrm>
            <a:custGeom>
              <a:avLst/>
              <a:gdLst/>
              <a:ahLst/>
              <a:cxnLst/>
              <a:rect l="l" t="t" r="r" b="b"/>
              <a:pathLst>
                <a:path w="4819650" h="9525">
                  <a:moveTo>
                    <a:pt x="0" y="0"/>
                  </a:moveTo>
                  <a:lnTo>
                    <a:pt x="4819650" y="0"/>
                  </a:lnTo>
                </a:path>
              </a:pathLst>
            </a:custGeom>
            <a:noFill/>
            <a:ln w="9525">
              <a:solidFill>
                <a:srgbClr val="E3907F"/>
              </a:solidFill>
            </a:ln>
          </p:spPr>
        </p:sp>
      </p:grpSp>
      <p:grpSp>
        <p:nvGrpSpPr>
          <p:cNvPr id="48" name="cover-keywords"/>
          <p:cNvGrpSpPr/>
          <p:nvPr/>
        </p:nvGrpSpPr>
        <p:grpSpPr>
          <a:xfrm>
            <a:off x="1078230" y="3667125"/>
            <a:ext cx="5337810" cy="293370"/>
            <a:chOff x="1078230" y="3667125"/>
            <a:chExt cx="5337810" cy="293370"/>
          </a:xfrm>
        </p:grpSpPr>
        <p:sp>
          <p:nvSpPr>
            <p:cNvPr id="41" name="TextBox 41"/>
            <p:cNvSpPr txBox="1"/>
            <p:nvPr/>
          </p:nvSpPr>
          <p:spPr>
            <a:xfrm>
              <a:off x="1078230" y="3667125"/>
              <a:ext cx="822960" cy="293370"/>
            </a:xfrm>
            <a:prstGeom prst="rect">
              <a:avLst/>
            </a:prstGeom>
            <a:noFill/>
            <a:ln>
              <a:noFill/>
            </a:ln>
          </p:spPr>
          <p:txBody>
            <a:bodyPr wrap="none" lIns="0" tIns="0" rIns="0" bIns="0" anchor="t" anchorCtr="0">
              <a:spAutoFit/>
            </a:bodyPr>
            <a:lstStyle/>
            <a:p>
              <a:pPr algn="l"/>
              <a:r>
                <a:rPr lang="zh-CN" sz="1500" b="1" dirty="0">
                  <a:solidFill>
                    <a:srgbClr val="86301F"/>
                  </a:solidFill>
                  <a:latin typeface="+mn-lt"/>
                  <a:ea typeface="+mn-ea"/>
                  <a:cs typeface="+mn-cs"/>
                </a:rPr>
                <a:t>经营复盘</a:t>
              </a:r>
            </a:p>
          </p:txBody>
        </p:sp>
        <p:sp>
          <p:nvSpPr>
            <p:cNvPr id="42" name="Line 42"/>
            <p:cNvSpPr/>
            <p:nvPr/>
          </p:nvSpPr>
          <p:spPr>
            <a:xfrm>
              <a:off x="2266950" y="3676650"/>
              <a:ext cx="9525" cy="190500"/>
            </a:xfrm>
            <a:custGeom>
              <a:avLst/>
              <a:gdLst/>
              <a:ahLst/>
              <a:cxnLst/>
              <a:rect l="l" t="t" r="r" b="b"/>
              <a:pathLst>
                <a:path w="9525" h="190500">
                  <a:moveTo>
                    <a:pt x="0" y="0"/>
                  </a:moveTo>
                  <a:lnTo>
                    <a:pt x="0" y="190500"/>
                  </a:lnTo>
                </a:path>
              </a:pathLst>
            </a:custGeom>
            <a:noFill/>
            <a:ln w="14288">
              <a:solidFill>
                <a:srgbClr val="E3907F"/>
              </a:solidFill>
            </a:ln>
          </p:spPr>
        </p:sp>
        <p:sp>
          <p:nvSpPr>
            <p:cNvPr id="43" name="TextBox 43"/>
            <p:cNvSpPr txBox="1"/>
            <p:nvPr/>
          </p:nvSpPr>
          <p:spPr>
            <a:xfrm>
              <a:off x="2583180" y="3667125"/>
              <a:ext cx="822960" cy="293370"/>
            </a:xfrm>
            <a:prstGeom prst="rect">
              <a:avLst/>
            </a:prstGeom>
            <a:noFill/>
            <a:ln>
              <a:noFill/>
            </a:ln>
          </p:spPr>
          <p:txBody>
            <a:bodyPr wrap="none" lIns="0" tIns="0" rIns="0" bIns="0" anchor="t" anchorCtr="0">
              <a:spAutoFit/>
            </a:bodyPr>
            <a:lstStyle/>
            <a:p>
              <a:pPr algn="l"/>
              <a:r>
                <a:rPr lang="zh-CN" sz="1500" b="1" dirty="0">
                  <a:solidFill>
                    <a:srgbClr val="86301F"/>
                  </a:solidFill>
                  <a:latin typeface="+mn-lt"/>
                  <a:ea typeface="+mn-ea"/>
                  <a:cs typeface="+mn-cs"/>
                </a:rPr>
                <a:t>客户深耕</a:t>
              </a:r>
            </a:p>
          </p:txBody>
        </p:sp>
        <p:sp>
          <p:nvSpPr>
            <p:cNvPr id="44" name="Line 44"/>
            <p:cNvSpPr/>
            <p:nvPr/>
          </p:nvSpPr>
          <p:spPr>
            <a:xfrm>
              <a:off x="3771900" y="3676650"/>
              <a:ext cx="9525" cy="190500"/>
            </a:xfrm>
            <a:custGeom>
              <a:avLst/>
              <a:gdLst/>
              <a:ahLst/>
              <a:cxnLst/>
              <a:rect l="l" t="t" r="r" b="b"/>
              <a:pathLst>
                <a:path w="9525" h="190500">
                  <a:moveTo>
                    <a:pt x="0" y="0"/>
                  </a:moveTo>
                  <a:lnTo>
                    <a:pt x="0" y="190500"/>
                  </a:lnTo>
                </a:path>
              </a:pathLst>
            </a:custGeom>
            <a:noFill/>
            <a:ln w="14288">
              <a:solidFill>
                <a:srgbClr val="E3907F"/>
              </a:solidFill>
            </a:ln>
          </p:spPr>
        </p:sp>
        <p:sp>
          <p:nvSpPr>
            <p:cNvPr id="45" name="TextBox 45"/>
            <p:cNvSpPr txBox="1"/>
            <p:nvPr/>
          </p:nvSpPr>
          <p:spPr>
            <a:xfrm>
              <a:off x="4088130" y="3667125"/>
              <a:ext cx="822960" cy="293370"/>
            </a:xfrm>
            <a:prstGeom prst="rect">
              <a:avLst/>
            </a:prstGeom>
            <a:noFill/>
            <a:ln>
              <a:noFill/>
            </a:ln>
          </p:spPr>
          <p:txBody>
            <a:bodyPr wrap="none" lIns="0" tIns="0" rIns="0" bIns="0" anchor="t" anchorCtr="0">
              <a:spAutoFit/>
            </a:bodyPr>
            <a:lstStyle/>
            <a:p>
              <a:pPr algn="l"/>
              <a:r>
                <a:rPr lang="zh-CN" sz="1500" b="1" dirty="0">
                  <a:solidFill>
                    <a:srgbClr val="86301F"/>
                  </a:solidFill>
                  <a:latin typeface="+mn-lt"/>
                  <a:ea typeface="+mn-ea"/>
                  <a:cs typeface="+mn-cs"/>
                </a:rPr>
                <a:t>过程提效</a:t>
              </a:r>
            </a:p>
          </p:txBody>
        </p:sp>
        <p:sp>
          <p:nvSpPr>
            <p:cNvPr id="46" name="Line 46"/>
            <p:cNvSpPr/>
            <p:nvPr/>
          </p:nvSpPr>
          <p:spPr>
            <a:xfrm>
              <a:off x="5276850" y="3676650"/>
              <a:ext cx="9525" cy="190500"/>
            </a:xfrm>
            <a:custGeom>
              <a:avLst/>
              <a:gdLst/>
              <a:ahLst/>
              <a:cxnLst/>
              <a:rect l="l" t="t" r="r" b="b"/>
              <a:pathLst>
                <a:path w="9525" h="190500">
                  <a:moveTo>
                    <a:pt x="0" y="0"/>
                  </a:moveTo>
                  <a:lnTo>
                    <a:pt x="0" y="190500"/>
                  </a:lnTo>
                </a:path>
              </a:pathLst>
            </a:custGeom>
            <a:noFill/>
            <a:ln w="14288">
              <a:solidFill>
                <a:srgbClr val="E3907F"/>
              </a:solidFill>
            </a:ln>
          </p:spPr>
        </p:sp>
        <p:sp>
          <p:nvSpPr>
            <p:cNvPr id="47" name="TextBox 47"/>
            <p:cNvSpPr txBox="1"/>
            <p:nvPr/>
          </p:nvSpPr>
          <p:spPr>
            <a:xfrm>
              <a:off x="5593080" y="3667125"/>
              <a:ext cx="822960" cy="293370"/>
            </a:xfrm>
            <a:prstGeom prst="rect">
              <a:avLst/>
            </a:prstGeom>
            <a:noFill/>
            <a:ln>
              <a:noFill/>
            </a:ln>
          </p:spPr>
          <p:txBody>
            <a:bodyPr wrap="none" lIns="0" tIns="0" rIns="0" bIns="0" anchor="t" anchorCtr="0">
              <a:spAutoFit/>
            </a:bodyPr>
            <a:lstStyle/>
            <a:p>
              <a:pPr algn="l"/>
              <a:r>
                <a:rPr lang="zh-CN" sz="1500" b="1" dirty="0">
                  <a:solidFill>
                    <a:srgbClr val="86301F"/>
                  </a:solidFill>
                  <a:latin typeface="+mn-lt"/>
                  <a:ea typeface="+mn-ea"/>
                  <a:cs typeface="+mn-cs"/>
                </a:rPr>
                <a:t>目标冲刺</a:t>
              </a:r>
            </a:p>
          </p:txBody>
        </p:sp>
      </p:grpSp>
      <p:grpSp>
        <p:nvGrpSpPr>
          <p:cNvPr id="66" name="cover-reporter"/>
          <p:cNvGrpSpPr/>
          <p:nvPr/>
        </p:nvGrpSpPr>
        <p:grpSpPr>
          <a:xfrm>
            <a:off x="1123950" y="4381500"/>
            <a:ext cx="4898060" cy="356425"/>
            <a:chOff x="1123950" y="4381500"/>
            <a:chExt cx="4898060" cy="356425"/>
          </a:xfrm>
        </p:grpSpPr>
        <p:sp>
          <p:nvSpPr>
            <p:cNvPr id="49" name="Ellipse 49"/>
            <p:cNvSpPr/>
            <p:nvPr/>
          </p:nvSpPr>
          <p:spPr>
            <a:xfrm>
              <a:off x="1123950" y="4381500"/>
              <a:ext cx="342900" cy="342900"/>
            </a:xfrm>
            <a:prstGeom prst="ellipse">
              <a:avLst/>
            </a:prstGeom>
            <a:solidFill>
              <a:srgbClr val="D44B2F"/>
            </a:solidFill>
            <a:ln>
              <a:noFill/>
            </a:ln>
          </p:spPr>
        </p:sp>
        <p:grpSp>
          <p:nvGrpSpPr>
            <p:cNvPr id="54" name="Group 54"/>
            <p:cNvGrpSpPr/>
            <p:nvPr/>
          </p:nvGrpSpPr>
          <p:grpSpPr>
            <a:xfrm>
              <a:off x="1223962" y="4481512"/>
              <a:ext cx="142875" cy="142875"/>
              <a:chOff x="1223962" y="4481512"/>
              <a:chExt cx="142875" cy="142875"/>
            </a:xfrm>
          </p:grpSpPr>
          <p:sp>
            <p:nvSpPr>
              <p:cNvPr id="50" name="Freeform 50"/>
              <p:cNvSpPr/>
              <p:nvPr/>
            </p:nvSpPr>
            <p:spPr>
              <a:xfrm>
                <a:off x="1239837" y="44815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51" name="Freeform 51"/>
              <p:cNvSpPr/>
              <p:nvPr/>
            </p:nvSpPr>
            <p:spPr>
              <a:xfrm>
                <a:off x="1223962" y="45767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52" name="Freeform 52"/>
              <p:cNvSpPr/>
              <p:nvPr/>
            </p:nvSpPr>
            <p:spPr>
              <a:xfrm>
                <a:off x="1327150" y="44825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53" name="Freeform 53"/>
              <p:cNvSpPr/>
              <p:nvPr/>
            </p:nvSpPr>
            <p:spPr>
              <a:xfrm>
                <a:off x="1343025" y="45779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55" name="TextBox 55"/>
            <p:cNvSpPr txBox="1"/>
            <p:nvPr/>
          </p:nvSpPr>
          <p:spPr>
            <a:xfrm>
              <a:off x="1574292" y="4473892"/>
              <a:ext cx="1268730" cy="264033"/>
            </a:xfrm>
            <a:prstGeom prst="rect">
              <a:avLst/>
            </a:prstGeom>
            <a:noFill/>
            <a:ln>
              <a:noFill/>
            </a:ln>
          </p:spPr>
          <p:txBody>
            <a:bodyPr wrap="none" lIns="0" tIns="0" rIns="0" bIns="0" anchor="t" anchorCtr="0">
              <a:spAutoFit/>
            </a:bodyPr>
            <a:lstStyle/>
            <a:p>
              <a:pPr algn="l"/>
              <a:r>
                <a:rPr lang="zh-CN" sz="1350" dirty="0">
                  <a:solidFill>
                    <a:srgbClr val="44251F"/>
                  </a:solidFill>
                  <a:latin typeface="+mn-lt"/>
                  <a:ea typeface="+mn-ea"/>
                  <a:cs typeface="+mn-cs"/>
                </a:rPr>
                <a:t>汇报人：XX​​​</a:t>
              </a:r>
            </a:p>
          </p:txBody>
        </p:sp>
        <p:sp>
          <p:nvSpPr>
            <p:cNvPr id="56" name="Line 56"/>
            <p:cNvSpPr/>
            <p:nvPr/>
          </p:nvSpPr>
          <p:spPr>
            <a:xfrm>
              <a:off x="3143250" y="4400550"/>
              <a:ext cx="9525" cy="304800"/>
            </a:xfrm>
            <a:custGeom>
              <a:avLst/>
              <a:gdLst/>
              <a:ahLst/>
              <a:cxnLst/>
              <a:rect l="l" t="t" r="r" b="b"/>
              <a:pathLst>
                <a:path w="9525" h="304800">
                  <a:moveTo>
                    <a:pt x="0" y="0"/>
                  </a:moveTo>
                  <a:lnTo>
                    <a:pt x="0" y="304800"/>
                  </a:lnTo>
                </a:path>
              </a:pathLst>
            </a:custGeom>
            <a:noFill/>
            <a:ln w="9525">
              <a:solidFill>
                <a:srgbClr val="E3907F"/>
              </a:solidFill>
            </a:ln>
          </p:spPr>
        </p:sp>
        <p:sp>
          <p:nvSpPr>
            <p:cNvPr id="57" name="Ellipse 57"/>
            <p:cNvSpPr/>
            <p:nvPr/>
          </p:nvSpPr>
          <p:spPr>
            <a:xfrm>
              <a:off x="3486150" y="4381500"/>
              <a:ext cx="342900" cy="342900"/>
            </a:xfrm>
            <a:prstGeom prst="ellipse">
              <a:avLst/>
            </a:prstGeom>
            <a:solidFill>
              <a:srgbClr val="D44B2F"/>
            </a:solidFill>
            <a:ln>
              <a:noFill/>
            </a:ln>
          </p:spPr>
        </p:sp>
        <p:grpSp>
          <p:nvGrpSpPr>
            <p:cNvPr id="64" name="Group 64"/>
            <p:cNvGrpSpPr/>
            <p:nvPr/>
          </p:nvGrpSpPr>
          <p:grpSpPr>
            <a:xfrm>
              <a:off x="3594100" y="4481512"/>
              <a:ext cx="127000" cy="142875"/>
              <a:chOff x="3594100" y="4481512"/>
              <a:chExt cx="127000" cy="142875"/>
            </a:xfrm>
          </p:grpSpPr>
          <p:sp>
            <p:nvSpPr>
              <p:cNvPr id="58" name="Freeform 58"/>
              <p:cNvSpPr/>
              <p:nvPr/>
            </p:nvSpPr>
            <p:spPr>
              <a:xfrm>
                <a:off x="3594100" y="44973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FFFFFF"/>
                </a:solidFill>
              </a:ln>
            </p:spPr>
          </p:sp>
          <p:sp>
            <p:nvSpPr>
              <p:cNvPr id="59" name="Freeform 59"/>
              <p:cNvSpPr/>
              <p:nvPr/>
            </p:nvSpPr>
            <p:spPr>
              <a:xfrm>
                <a:off x="3689350" y="44815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60" name="Freeform 60"/>
              <p:cNvSpPr/>
              <p:nvPr/>
            </p:nvSpPr>
            <p:spPr>
              <a:xfrm>
                <a:off x="3625850" y="44815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61" name="Freeform 61"/>
              <p:cNvSpPr/>
              <p:nvPr/>
            </p:nvSpPr>
            <p:spPr>
              <a:xfrm>
                <a:off x="3594100" y="4545012"/>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62" name="Freeform 62"/>
              <p:cNvSpPr/>
              <p:nvPr/>
            </p:nvSpPr>
            <p:spPr>
              <a:xfrm>
                <a:off x="3649662" y="4576762"/>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63" name="Freeform 63"/>
              <p:cNvSpPr/>
              <p:nvPr/>
            </p:nvSpPr>
            <p:spPr>
              <a:xfrm>
                <a:off x="3657600" y="4576762"/>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65" name="TextBox 65"/>
            <p:cNvSpPr txBox="1"/>
            <p:nvPr/>
          </p:nvSpPr>
          <p:spPr>
            <a:xfrm>
              <a:off x="3936492" y="4473892"/>
              <a:ext cx="2085518" cy="264033"/>
            </a:xfrm>
            <a:prstGeom prst="rect">
              <a:avLst/>
            </a:prstGeom>
            <a:noFill/>
            <a:ln>
              <a:noFill/>
            </a:ln>
          </p:spPr>
          <p:txBody>
            <a:bodyPr wrap="none" lIns="0" tIns="0" rIns="0" bIns="0" anchor="t" anchorCtr="0">
              <a:spAutoFit/>
            </a:bodyPr>
            <a:lstStyle/>
            <a:p>
              <a:pPr algn="l"/>
              <a:r>
                <a:rPr lang="zh-CN" sz="1350" dirty="0">
                  <a:solidFill>
                    <a:srgbClr val="44251F"/>
                  </a:solidFill>
                  <a:latin typeface="+mn-lt"/>
                  <a:ea typeface="+mn-ea"/>
                  <a:cs typeface="+mn-cs"/>
                </a:rPr>
                <a:t>汇报日期：2026年9月​​​</a:t>
              </a:r>
            </a:p>
          </p:txBody>
        </p:sp>
      </p:gr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942594" y="151448"/>
              <a:ext cx="4340512"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汇报框架</a:t>
              </a:r>
              <a:r>
                <a:rPr lang="zh-CN" sz="1950" b="1" dirty="0">
                  <a:solidFill>
                    <a:srgbClr val="1A1A1A"/>
                  </a:solidFill>
                  <a:latin typeface="SimSun"/>
                  <a:ea typeface="SimSun"/>
                  <a:cs typeface="SimSun"/>
                </a:rPr>
                <a:t>｜从结果复盘到行动闭环​</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39" name="mainline-panel"/>
          <p:cNvGrpSpPr/>
          <p:nvPr/>
        </p:nvGrpSpPr>
        <p:grpSpPr>
          <a:xfrm>
            <a:off x="266700" y="685800"/>
            <a:ext cx="1428750" cy="5867400"/>
            <a:chOff x="266700" y="685800"/>
            <a:chExt cx="1428750" cy="5867400"/>
          </a:xfrm>
        </p:grpSpPr>
        <p:sp>
          <p:nvSpPr>
            <p:cNvPr id="7" name="Rectangle 7"/>
            <p:cNvSpPr/>
            <p:nvPr/>
          </p:nvSpPr>
          <p:spPr>
            <a:xfrm>
              <a:off x="266700" y="685800"/>
              <a:ext cx="1428750" cy="5867400"/>
            </a:xfrm>
            <a:prstGeom prst="roundRect">
              <a:avLst>
                <a:gd name="adj" fmla="val 5333"/>
              </a:avLst>
            </a:prstGeom>
            <a:solidFill>
              <a:srgbClr val="EAF3FE"/>
            </a:solidFill>
            <a:ln w="9525">
              <a:solidFill>
                <a:srgbClr val="F7D1C9"/>
              </a:solidFill>
            </a:ln>
          </p:spPr>
        </p:sp>
        <p:sp>
          <p:nvSpPr>
            <p:cNvPr id="8" name="Freeform 8"/>
            <p:cNvSpPr/>
            <p:nvPr/>
          </p:nvSpPr>
          <p:spPr>
            <a:xfrm>
              <a:off x="266700" y="685800"/>
              <a:ext cx="1428750" cy="381000"/>
            </a:xfrm>
            <a:custGeom>
              <a:avLst/>
              <a:gdLst/>
              <a:ahLst/>
              <a:cxnLst/>
              <a:rect l="l" t="t" r="r" b="b"/>
              <a:pathLst>
                <a:path w="1428750" h="381000">
                  <a:moveTo>
                    <a:pt x="0" y="76200"/>
                  </a:moveTo>
                  <a:cubicBezTo>
                    <a:pt x="0" y="34116"/>
                    <a:pt x="34116" y="0"/>
                    <a:pt x="76200" y="0"/>
                  </a:cubicBezTo>
                  <a:lnTo>
                    <a:pt x="1352550" y="0"/>
                  </a:lnTo>
                  <a:cubicBezTo>
                    <a:pt x="1394634" y="0"/>
                    <a:pt x="1428750" y="34116"/>
                    <a:pt x="1428750" y="76200"/>
                  </a:cubicBezTo>
                  <a:lnTo>
                    <a:pt x="1428750" y="381000"/>
                  </a:lnTo>
                  <a:lnTo>
                    <a:pt x="0" y="381000"/>
                  </a:lnTo>
                  <a:close/>
                </a:path>
              </a:pathLst>
            </a:custGeom>
            <a:solidFill>
              <a:srgbClr val="6E1604"/>
            </a:solidFill>
            <a:ln>
              <a:noFill/>
            </a:ln>
          </p:spPr>
        </p:sp>
        <p:sp>
          <p:nvSpPr>
            <p:cNvPr id="9" name="TextBox 9"/>
            <p:cNvSpPr txBox="1"/>
            <p:nvPr/>
          </p:nvSpPr>
          <p:spPr>
            <a:xfrm>
              <a:off x="651891" y="82296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管理主线</a:t>
              </a:r>
            </a:p>
          </p:txBody>
        </p:sp>
        <p:sp>
          <p:nvSpPr>
            <p:cNvPr id="10" name="Line 10"/>
            <p:cNvSpPr/>
            <p:nvPr/>
          </p:nvSpPr>
          <p:spPr>
            <a:xfrm>
              <a:off x="981075" y="1428750"/>
              <a:ext cx="9525" cy="4572000"/>
            </a:xfrm>
            <a:custGeom>
              <a:avLst/>
              <a:gdLst/>
              <a:ahLst/>
              <a:cxnLst/>
              <a:rect l="l" t="t" r="r" b="b"/>
              <a:pathLst>
                <a:path w="9525" h="4572000">
                  <a:moveTo>
                    <a:pt x="0" y="0"/>
                  </a:moveTo>
                  <a:lnTo>
                    <a:pt x="0" y="4572000"/>
                  </a:lnTo>
                </a:path>
              </a:pathLst>
            </a:custGeom>
            <a:noFill/>
            <a:ln w="14288">
              <a:solidFill>
                <a:srgbClr val="E3907F"/>
              </a:solidFill>
              <a:prstDash val="dash"/>
            </a:ln>
          </p:spPr>
        </p:sp>
        <p:sp>
          <p:nvSpPr>
            <p:cNvPr id="11" name="Ellipse 11"/>
            <p:cNvSpPr/>
            <p:nvPr/>
          </p:nvSpPr>
          <p:spPr>
            <a:xfrm>
              <a:off x="752475" y="1504950"/>
              <a:ext cx="457200" cy="457200"/>
            </a:xfrm>
            <a:prstGeom prst="ellipse">
              <a:avLst/>
            </a:prstGeom>
            <a:solidFill>
              <a:srgbClr val="B92102"/>
            </a:solidFill>
            <a:ln>
              <a:noFill/>
            </a:ln>
          </p:spPr>
        </p:sp>
        <p:grpSp>
          <p:nvGrpSpPr>
            <p:cNvPr id="16" name="Group 16"/>
            <p:cNvGrpSpPr/>
            <p:nvPr/>
          </p:nvGrpSpPr>
          <p:grpSpPr>
            <a:xfrm>
              <a:off x="895350" y="1657350"/>
              <a:ext cx="171450" cy="161925"/>
              <a:chOff x="895350" y="1657350"/>
              <a:chExt cx="171450" cy="161925"/>
            </a:xfrm>
          </p:grpSpPr>
          <p:sp>
            <p:nvSpPr>
              <p:cNvPr id="12" name="Freeform 12"/>
              <p:cNvSpPr/>
              <p:nvPr/>
            </p:nvSpPr>
            <p:spPr>
              <a:xfrm>
                <a:off x="895350" y="17335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13" name="Freeform 13"/>
              <p:cNvSpPr/>
              <p:nvPr/>
            </p:nvSpPr>
            <p:spPr>
              <a:xfrm>
                <a:off x="1009650" y="16954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14" name="Freeform 14"/>
              <p:cNvSpPr/>
              <p:nvPr/>
            </p:nvSpPr>
            <p:spPr>
              <a:xfrm>
                <a:off x="952500" y="16573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15" name="Freeform 15"/>
              <p:cNvSpPr/>
              <p:nvPr/>
            </p:nvSpPr>
            <p:spPr>
              <a:xfrm>
                <a:off x="904875" y="1809750"/>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17" name="TextBox 17"/>
            <p:cNvSpPr txBox="1"/>
            <p:nvPr/>
          </p:nvSpPr>
          <p:spPr>
            <a:xfrm>
              <a:off x="749198" y="2050256"/>
              <a:ext cx="463753"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看结果</a:t>
              </a:r>
            </a:p>
          </p:txBody>
        </p:sp>
        <p:sp>
          <p:nvSpPr>
            <p:cNvPr id="18" name="Line 18"/>
            <p:cNvSpPr/>
            <p:nvPr/>
          </p:nvSpPr>
          <p:spPr>
            <a:xfrm>
              <a:off x="981075" y="2286000"/>
              <a:ext cx="1" cy="228600"/>
            </a:xfrm>
            <a:prstGeom prst="line">
              <a:avLst/>
            </a:prstGeom>
            <a:noFill/>
            <a:ln w="14288">
              <a:solidFill>
                <a:srgbClr val="D44B2F"/>
              </a:solidFill>
              <a:tailEnd type="triangle" w="lg" len="lg"/>
            </a:ln>
          </p:spPr>
        </p:sp>
        <p:sp>
          <p:nvSpPr>
            <p:cNvPr id="19" name="Ellipse 19"/>
            <p:cNvSpPr/>
            <p:nvPr/>
          </p:nvSpPr>
          <p:spPr>
            <a:xfrm>
              <a:off x="752475" y="2838450"/>
              <a:ext cx="457200" cy="457200"/>
            </a:xfrm>
            <a:prstGeom prst="ellipse">
              <a:avLst/>
            </a:prstGeom>
            <a:solidFill>
              <a:srgbClr val="D44B2F"/>
            </a:solidFill>
            <a:ln>
              <a:noFill/>
            </a:ln>
          </p:spPr>
        </p:sp>
        <p:grpSp>
          <p:nvGrpSpPr>
            <p:cNvPr id="22" name="Group 22"/>
            <p:cNvGrpSpPr/>
            <p:nvPr/>
          </p:nvGrpSpPr>
          <p:grpSpPr>
            <a:xfrm>
              <a:off x="895350" y="2981325"/>
              <a:ext cx="171450" cy="171450"/>
              <a:chOff x="895350" y="2981325"/>
              <a:chExt cx="171450" cy="171450"/>
            </a:xfrm>
          </p:grpSpPr>
          <p:sp>
            <p:nvSpPr>
              <p:cNvPr id="20" name="Freeform 20"/>
              <p:cNvSpPr/>
              <p:nvPr/>
            </p:nvSpPr>
            <p:spPr>
              <a:xfrm>
                <a:off x="895350" y="2981325"/>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19050">
                <a:solidFill>
                  <a:srgbClr val="FFFFFF"/>
                </a:solidFill>
              </a:ln>
            </p:spPr>
          </p:sp>
          <p:sp>
            <p:nvSpPr>
              <p:cNvPr id="21" name="Freeform 21"/>
              <p:cNvSpPr/>
              <p:nvPr/>
            </p:nvSpPr>
            <p:spPr>
              <a:xfrm>
                <a:off x="1009650" y="3095625"/>
                <a:ext cx="57150" cy="57150"/>
              </a:xfrm>
              <a:custGeom>
                <a:avLst/>
                <a:gdLst/>
                <a:ahLst/>
                <a:cxnLst/>
                <a:rect l="l" t="t" r="r" b="b"/>
                <a:pathLst>
                  <a:path w="57150" h="57150">
                    <a:moveTo>
                      <a:pt x="57150" y="57150"/>
                    </a:moveTo>
                    <a:lnTo>
                      <a:pt x="0" y="0"/>
                    </a:lnTo>
                  </a:path>
                </a:pathLst>
              </a:custGeom>
              <a:noFill/>
              <a:ln w="19050">
                <a:solidFill>
                  <a:srgbClr val="FFFFFF"/>
                </a:solidFill>
              </a:ln>
            </p:spPr>
          </p:sp>
        </p:grpSp>
        <p:sp>
          <p:nvSpPr>
            <p:cNvPr id="23" name="TextBox 23"/>
            <p:cNvSpPr txBox="1"/>
            <p:nvPr/>
          </p:nvSpPr>
          <p:spPr>
            <a:xfrm>
              <a:off x="749198" y="3383756"/>
              <a:ext cx="463753"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找差距</a:t>
              </a:r>
            </a:p>
          </p:txBody>
        </p:sp>
        <p:sp>
          <p:nvSpPr>
            <p:cNvPr id="24" name="Line 24"/>
            <p:cNvSpPr/>
            <p:nvPr/>
          </p:nvSpPr>
          <p:spPr>
            <a:xfrm>
              <a:off x="981075" y="3619500"/>
              <a:ext cx="1" cy="228600"/>
            </a:xfrm>
            <a:prstGeom prst="line">
              <a:avLst/>
            </a:prstGeom>
            <a:noFill/>
            <a:ln w="14288">
              <a:solidFill>
                <a:srgbClr val="D44B2F"/>
              </a:solidFill>
              <a:tailEnd type="triangle" w="lg" len="lg"/>
            </a:ln>
          </p:spPr>
        </p:sp>
        <p:sp>
          <p:nvSpPr>
            <p:cNvPr id="25" name="Ellipse 25"/>
            <p:cNvSpPr/>
            <p:nvPr/>
          </p:nvSpPr>
          <p:spPr>
            <a:xfrm>
              <a:off x="752475" y="4171950"/>
              <a:ext cx="457200" cy="457200"/>
            </a:xfrm>
            <a:prstGeom prst="ellipse">
              <a:avLst/>
            </a:prstGeom>
            <a:solidFill>
              <a:srgbClr val="D44B2F"/>
            </a:solidFill>
            <a:ln>
              <a:noFill/>
            </a:ln>
          </p:spPr>
        </p:sp>
        <p:grpSp>
          <p:nvGrpSpPr>
            <p:cNvPr id="29" name="Group 29"/>
            <p:cNvGrpSpPr/>
            <p:nvPr/>
          </p:nvGrpSpPr>
          <p:grpSpPr>
            <a:xfrm>
              <a:off x="895350" y="4314825"/>
              <a:ext cx="171450" cy="171450"/>
              <a:chOff x="895350" y="4314825"/>
              <a:chExt cx="171450" cy="171450"/>
            </a:xfrm>
          </p:grpSpPr>
          <p:sp>
            <p:nvSpPr>
              <p:cNvPr id="26" name="Freeform 26"/>
              <p:cNvSpPr/>
              <p:nvPr/>
            </p:nvSpPr>
            <p:spPr>
              <a:xfrm>
                <a:off x="971550" y="43910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27" name="Freeform 27"/>
              <p:cNvSpPr/>
              <p:nvPr/>
            </p:nvSpPr>
            <p:spPr>
              <a:xfrm>
                <a:off x="933450" y="43529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FFFFFF"/>
                </a:solidFill>
              </a:ln>
            </p:spPr>
          </p:sp>
          <p:sp>
            <p:nvSpPr>
              <p:cNvPr id="28" name="Freeform 28"/>
              <p:cNvSpPr/>
              <p:nvPr/>
            </p:nvSpPr>
            <p:spPr>
              <a:xfrm>
                <a:off x="895350" y="43148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grpSp>
        <p:sp>
          <p:nvSpPr>
            <p:cNvPr id="30" name="TextBox 30"/>
            <p:cNvSpPr txBox="1"/>
            <p:nvPr/>
          </p:nvSpPr>
          <p:spPr>
            <a:xfrm>
              <a:off x="749198" y="4717256"/>
              <a:ext cx="463753"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定策略</a:t>
              </a:r>
            </a:p>
          </p:txBody>
        </p:sp>
        <p:sp>
          <p:nvSpPr>
            <p:cNvPr id="31" name="Line 31"/>
            <p:cNvSpPr/>
            <p:nvPr/>
          </p:nvSpPr>
          <p:spPr>
            <a:xfrm>
              <a:off x="981075" y="4953000"/>
              <a:ext cx="1" cy="228600"/>
            </a:xfrm>
            <a:prstGeom prst="line">
              <a:avLst/>
            </a:prstGeom>
            <a:noFill/>
            <a:ln w="14288">
              <a:solidFill>
                <a:srgbClr val="D44B2F"/>
              </a:solidFill>
              <a:tailEnd type="triangle" w="lg" len="lg"/>
            </a:ln>
          </p:spPr>
        </p:sp>
        <p:sp>
          <p:nvSpPr>
            <p:cNvPr id="32" name="Ellipse 32"/>
            <p:cNvSpPr/>
            <p:nvPr/>
          </p:nvSpPr>
          <p:spPr>
            <a:xfrm>
              <a:off x="752475" y="5505450"/>
              <a:ext cx="457200" cy="457200"/>
            </a:xfrm>
            <a:prstGeom prst="ellipse">
              <a:avLst/>
            </a:prstGeom>
            <a:solidFill>
              <a:srgbClr val="B92102"/>
            </a:solidFill>
            <a:ln>
              <a:noFill/>
            </a:ln>
          </p:spPr>
        </p:sp>
        <p:grpSp>
          <p:nvGrpSpPr>
            <p:cNvPr id="37" name="Group 37"/>
            <p:cNvGrpSpPr/>
            <p:nvPr/>
          </p:nvGrpSpPr>
          <p:grpSpPr>
            <a:xfrm>
              <a:off x="914400" y="5657850"/>
              <a:ext cx="142875" cy="161925"/>
              <a:chOff x="914400" y="5657850"/>
              <a:chExt cx="142875" cy="161925"/>
            </a:xfrm>
          </p:grpSpPr>
          <p:sp>
            <p:nvSpPr>
              <p:cNvPr id="33" name="Freeform 33"/>
              <p:cNvSpPr/>
              <p:nvPr/>
            </p:nvSpPr>
            <p:spPr>
              <a:xfrm>
                <a:off x="914400" y="565785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FFFFFF"/>
                </a:solidFill>
              </a:ln>
            </p:spPr>
          </p:sp>
          <p:sp>
            <p:nvSpPr>
              <p:cNvPr id="34" name="Freeform 34"/>
              <p:cNvSpPr/>
              <p:nvPr/>
            </p:nvSpPr>
            <p:spPr>
              <a:xfrm>
                <a:off x="1000125" y="578167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sp>
            <p:nvSpPr>
              <p:cNvPr id="35" name="Freeform 35"/>
              <p:cNvSpPr/>
              <p:nvPr/>
            </p:nvSpPr>
            <p:spPr>
              <a:xfrm>
                <a:off x="952500" y="5695950"/>
                <a:ext cx="38100" cy="9525"/>
              </a:xfrm>
              <a:custGeom>
                <a:avLst/>
                <a:gdLst/>
                <a:ahLst/>
                <a:cxnLst/>
                <a:rect l="l" t="t" r="r" b="b"/>
                <a:pathLst>
                  <a:path w="38100" h="9525">
                    <a:moveTo>
                      <a:pt x="0" y="0"/>
                    </a:moveTo>
                    <a:lnTo>
                      <a:pt x="38100" y="0"/>
                    </a:lnTo>
                  </a:path>
                </a:pathLst>
              </a:custGeom>
              <a:noFill/>
              <a:ln w="19050">
                <a:solidFill>
                  <a:srgbClr val="FFFFFF"/>
                </a:solidFill>
              </a:ln>
            </p:spPr>
          </p:sp>
          <p:sp>
            <p:nvSpPr>
              <p:cNvPr id="36" name="Freeform 36"/>
              <p:cNvSpPr/>
              <p:nvPr/>
            </p:nvSpPr>
            <p:spPr>
              <a:xfrm>
                <a:off x="952500" y="5734050"/>
                <a:ext cx="19050" cy="9525"/>
              </a:xfrm>
              <a:custGeom>
                <a:avLst/>
                <a:gdLst/>
                <a:ahLst/>
                <a:cxnLst/>
                <a:rect l="l" t="t" r="r" b="b"/>
                <a:pathLst>
                  <a:path w="19050" h="9525">
                    <a:moveTo>
                      <a:pt x="0" y="0"/>
                    </a:moveTo>
                    <a:lnTo>
                      <a:pt x="19050" y="0"/>
                    </a:lnTo>
                  </a:path>
                </a:pathLst>
              </a:custGeom>
              <a:noFill/>
              <a:ln w="19050">
                <a:solidFill>
                  <a:srgbClr val="FFFFFF"/>
                </a:solidFill>
              </a:ln>
            </p:spPr>
          </p:sp>
        </p:grpSp>
        <p:sp>
          <p:nvSpPr>
            <p:cNvPr id="38" name="TextBox 38"/>
            <p:cNvSpPr txBox="1"/>
            <p:nvPr/>
          </p:nvSpPr>
          <p:spPr>
            <a:xfrm>
              <a:off x="749198" y="6050756"/>
              <a:ext cx="463753"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抓执行</a:t>
              </a:r>
            </a:p>
          </p:txBody>
        </p:sp>
      </p:grpSp>
      <p:grpSp>
        <p:nvGrpSpPr>
          <p:cNvPr id="99" name="row-01"/>
          <p:cNvGrpSpPr/>
          <p:nvPr/>
        </p:nvGrpSpPr>
        <p:grpSpPr>
          <a:xfrm>
            <a:off x="1828800" y="685800"/>
            <a:ext cx="10096500" cy="1409700"/>
            <a:chOff x="1828800" y="685800"/>
            <a:chExt cx="10096500" cy="1409700"/>
          </a:xfrm>
        </p:grpSpPr>
        <p:sp>
          <p:nvSpPr>
            <p:cNvPr id="40" name="Rectangle 40"/>
            <p:cNvSpPr/>
            <p:nvPr/>
          </p:nvSpPr>
          <p:spPr>
            <a:xfrm>
              <a:off x="2724150" y="704850"/>
              <a:ext cx="9201150" cy="1371600"/>
            </a:xfrm>
            <a:prstGeom prst="roundRect">
              <a:avLst>
                <a:gd name="adj" fmla="val 5556"/>
              </a:avLst>
            </a:prstGeom>
            <a:solidFill>
              <a:srgbClr val="FFFFFF"/>
            </a:solidFill>
            <a:ln w="9525">
              <a:solidFill>
                <a:srgbClr val="F7D1C9"/>
              </a:solidFill>
            </a:ln>
          </p:spPr>
        </p:sp>
        <p:sp>
          <p:nvSpPr>
            <p:cNvPr id="41" name="Freeform 41"/>
            <p:cNvSpPr/>
            <p:nvPr/>
          </p:nvSpPr>
          <p:spPr>
            <a:xfrm>
              <a:off x="1828800" y="685800"/>
              <a:ext cx="800100" cy="1409700"/>
            </a:xfrm>
            <a:prstGeom prst="parallelogram">
              <a:avLst>
                <a:gd name="adj" fmla="val 16000"/>
              </a:avLst>
            </a:prstGeom>
            <a:solidFill>
              <a:srgbClr val="D44B2F"/>
            </a:solidFill>
            <a:ln>
              <a:noFill/>
            </a:ln>
          </p:spPr>
        </p:sp>
        <p:sp>
          <p:nvSpPr>
            <p:cNvPr id="42" name="TextBox 42"/>
            <p:cNvSpPr txBox="1"/>
            <p:nvPr/>
          </p:nvSpPr>
          <p:spPr>
            <a:xfrm>
              <a:off x="1844547" y="1267778"/>
              <a:ext cx="654307" cy="498729"/>
            </a:xfrm>
            <a:prstGeom prst="rect">
              <a:avLst/>
            </a:prstGeom>
            <a:noFill/>
            <a:ln>
              <a:noFill/>
            </a:ln>
          </p:spPr>
          <p:txBody>
            <a:bodyPr wrap="none" lIns="0" tIns="0" rIns="0" bIns="0" anchor="t" anchorCtr="0">
              <a:spAutoFit/>
            </a:bodyPr>
            <a:lstStyle/>
            <a:p>
              <a:pPr algn="ctr"/>
              <a:r>
                <a:rPr lang="zh-CN" sz="2550" b="1" dirty="0">
                  <a:solidFill>
                    <a:srgbClr val="FFFFFF"/>
                  </a:solidFill>
                  <a:latin typeface="SimSun"/>
                  <a:ea typeface="SimSun"/>
                  <a:cs typeface="SimSun"/>
                </a:rPr>
                <a:t>01​</a:t>
              </a:r>
            </a:p>
          </p:txBody>
        </p:sp>
        <p:sp>
          <p:nvSpPr>
            <p:cNvPr id="43" name="Ellipse 43"/>
            <p:cNvSpPr/>
            <p:nvPr/>
          </p:nvSpPr>
          <p:spPr>
            <a:xfrm>
              <a:off x="2943225" y="1133475"/>
              <a:ext cx="514350" cy="514350"/>
            </a:xfrm>
            <a:prstGeom prst="ellipse">
              <a:avLst/>
            </a:prstGeom>
            <a:solidFill>
              <a:srgbClr val="EAF3FE"/>
            </a:solidFill>
            <a:ln w="9525">
              <a:solidFill>
                <a:srgbClr val="E3907F"/>
              </a:solidFill>
            </a:ln>
          </p:spPr>
        </p:sp>
        <p:grpSp>
          <p:nvGrpSpPr>
            <p:cNvPr id="48" name="Group 48"/>
            <p:cNvGrpSpPr/>
            <p:nvPr/>
          </p:nvGrpSpPr>
          <p:grpSpPr>
            <a:xfrm>
              <a:off x="3100388" y="1301750"/>
              <a:ext cx="200025" cy="187326"/>
              <a:chOff x="3100388" y="1301750"/>
              <a:chExt cx="200025" cy="187326"/>
            </a:xfrm>
          </p:grpSpPr>
          <p:sp>
            <p:nvSpPr>
              <p:cNvPr id="44" name="Freeform 44"/>
              <p:cNvSpPr/>
              <p:nvPr/>
            </p:nvSpPr>
            <p:spPr>
              <a:xfrm>
                <a:off x="3100388" y="139065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B92102"/>
                </a:solidFill>
              </a:ln>
            </p:spPr>
          </p:sp>
          <p:sp>
            <p:nvSpPr>
              <p:cNvPr id="45" name="Freeform 45"/>
              <p:cNvSpPr/>
              <p:nvPr/>
            </p:nvSpPr>
            <p:spPr>
              <a:xfrm>
                <a:off x="3233738" y="134620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B92102"/>
                </a:solidFill>
              </a:ln>
            </p:spPr>
          </p:sp>
          <p:sp>
            <p:nvSpPr>
              <p:cNvPr id="46" name="Freeform 46"/>
              <p:cNvSpPr/>
              <p:nvPr/>
            </p:nvSpPr>
            <p:spPr>
              <a:xfrm>
                <a:off x="3167063" y="130175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B92102"/>
                </a:solidFill>
              </a:ln>
            </p:spPr>
          </p:sp>
          <p:sp>
            <p:nvSpPr>
              <p:cNvPr id="47" name="Freeform 47"/>
              <p:cNvSpPr/>
              <p:nvPr/>
            </p:nvSpPr>
            <p:spPr>
              <a:xfrm>
                <a:off x="3111500" y="1479551"/>
                <a:ext cx="155575" cy="9525"/>
              </a:xfrm>
              <a:custGeom>
                <a:avLst/>
                <a:gdLst/>
                <a:ahLst/>
                <a:cxnLst/>
                <a:rect l="l" t="t" r="r" b="b"/>
                <a:pathLst>
                  <a:path w="155575" h="9525">
                    <a:moveTo>
                      <a:pt x="0" y="0"/>
                    </a:moveTo>
                    <a:lnTo>
                      <a:pt x="155575" y="0"/>
                    </a:lnTo>
                  </a:path>
                </a:pathLst>
              </a:custGeom>
              <a:noFill/>
              <a:ln w="22225">
                <a:solidFill>
                  <a:srgbClr val="B92102"/>
                </a:solidFill>
              </a:ln>
            </p:spPr>
          </p:sp>
        </p:grpSp>
        <p:sp>
          <p:nvSpPr>
            <p:cNvPr id="49" name="TextBox 49"/>
            <p:cNvSpPr txBox="1"/>
            <p:nvPr/>
          </p:nvSpPr>
          <p:spPr>
            <a:xfrm>
              <a:off x="3613404" y="918210"/>
              <a:ext cx="926592" cy="806196"/>
            </a:xfrm>
            <a:prstGeom prst="rect">
              <a:avLst/>
            </a:prstGeom>
            <a:noFill/>
            <a:ln>
              <a:noFill/>
            </a:ln>
          </p:spPr>
          <p:txBody>
            <a:bodyPr wrap="none" lIns="0" tIns="0" rIns="0" bIns="0" anchor="t" anchorCtr="0">
              <a:spAutoFit/>
            </a:bodyPr>
            <a:lstStyle/>
            <a:p>
              <a:pPr algn="l">
                <a:lnSpc>
                  <a:spcPts val="2250"/>
                </a:lnSpc>
              </a:pPr>
              <a:r>
                <a:rPr lang="zh-CN" sz="1200" b="1" dirty="0">
                  <a:solidFill>
                    <a:srgbClr val="6E1604"/>
                  </a:solidFill>
                  <a:latin typeface="+mn-lt"/>
                  <a:ea typeface="+mn-ea"/>
                  <a:cs typeface="+mn-cs"/>
                </a:rPr>
                <a:t>经营结果：</a:t>
              </a:r>
              <a:br/>
              <a:r>
                <a:rPr lang="zh-CN" sz="1200" b="1" dirty="0">
                  <a:solidFill>
                    <a:srgbClr val="6E1604"/>
                  </a:solidFill>
                  <a:latin typeface="+mn-lt"/>
                  <a:ea typeface="+mn-ea"/>
                  <a:cs typeface="+mn-cs"/>
                </a:rPr>
                <a:t>目标、结构、</a:t>
              </a:r>
              <a:br/>
              <a:r>
                <a:rPr lang="zh-CN" sz="1200" b="1" dirty="0">
                  <a:solidFill>
                    <a:srgbClr val="6E1604"/>
                  </a:solidFill>
                  <a:latin typeface="+mn-lt"/>
                  <a:ea typeface="+mn-ea"/>
                  <a:cs typeface="+mn-cs"/>
                </a:rPr>
                <a:t>区域、网点</a:t>
              </a:r>
            </a:p>
          </p:txBody>
        </p:sp>
        <p:sp>
          <p:nvSpPr>
            <p:cNvPr id="50" name="Rectangle 50"/>
            <p:cNvSpPr/>
            <p:nvPr/>
          </p:nvSpPr>
          <p:spPr>
            <a:xfrm>
              <a:off x="5391150" y="838200"/>
              <a:ext cx="2857500" cy="1123950"/>
            </a:xfrm>
            <a:prstGeom prst="roundRect">
              <a:avLst>
                <a:gd name="adj" fmla="val 5085"/>
              </a:avLst>
            </a:prstGeom>
            <a:solidFill>
              <a:srgbClr val="F2F7FE"/>
            </a:solidFill>
            <a:ln>
              <a:noFill/>
            </a:ln>
          </p:spPr>
        </p:sp>
        <p:sp>
          <p:nvSpPr>
            <p:cNvPr id="51" name="Ellipse 51"/>
            <p:cNvSpPr/>
            <p:nvPr/>
          </p:nvSpPr>
          <p:spPr>
            <a:xfrm>
              <a:off x="5500688" y="947738"/>
              <a:ext cx="47625" cy="47625"/>
            </a:xfrm>
            <a:prstGeom prst="ellipse">
              <a:avLst/>
            </a:prstGeom>
            <a:solidFill>
              <a:srgbClr val="B92102"/>
            </a:solidFill>
            <a:ln>
              <a:noFill/>
            </a:ln>
          </p:spPr>
        </p:sp>
        <p:sp>
          <p:nvSpPr>
            <p:cNvPr id="52" name="TextBox 52"/>
            <p:cNvSpPr txBox="1"/>
            <p:nvPr/>
          </p:nvSpPr>
          <p:spPr>
            <a:xfrm>
              <a:off x="5614988" y="926068"/>
              <a:ext cx="1946869"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目标达成：XX（完成率 XX%）​​​​​​</a:t>
              </a:r>
            </a:p>
          </p:txBody>
        </p:sp>
        <p:sp>
          <p:nvSpPr>
            <p:cNvPr id="53" name="Ellipse 53"/>
            <p:cNvSpPr/>
            <p:nvPr/>
          </p:nvSpPr>
          <p:spPr>
            <a:xfrm>
              <a:off x="5500688" y="1233488"/>
              <a:ext cx="47625" cy="47625"/>
            </a:xfrm>
            <a:prstGeom prst="ellipse">
              <a:avLst/>
            </a:prstGeom>
            <a:solidFill>
              <a:srgbClr val="B92102"/>
            </a:solidFill>
            <a:ln>
              <a:noFill/>
            </a:ln>
          </p:spPr>
        </p:sp>
        <p:sp>
          <p:nvSpPr>
            <p:cNvPr id="54" name="TextBox 54"/>
            <p:cNvSpPr txBox="1"/>
            <p:nvPr/>
          </p:nvSpPr>
          <p:spPr>
            <a:xfrm>
              <a:off x="5614988" y="1211818"/>
              <a:ext cx="1960303"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结构分析：产品/客户/渠道结构​​​​​</a:t>
              </a:r>
            </a:p>
          </p:txBody>
        </p:sp>
        <p:sp>
          <p:nvSpPr>
            <p:cNvPr id="55" name="Ellipse 55"/>
            <p:cNvSpPr/>
            <p:nvPr/>
          </p:nvSpPr>
          <p:spPr>
            <a:xfrm>
              <a:off x="5500688" y="1519238"/>
              <a:ext cx="47625" cy="47625"/>
            </a:xfrm>
            <a:prstGeom prst="ellipse">
              <a:avLst/>
            </a:prstGeom>
            <a:solidFill>
              <a:srgbClr val="B92102"/>
            </a:solidFill>
            <a:ln>
              <a:noFill/>
            </a:ln>
          </p:spPr>
        </p:sp>
        <p:sp>
          <p:nvSpPr>
            <p:cNvPr id="56" name="TextBox 56"/>
            <p:cNvSpPr txBox="1"/>
            <p:nvPr/>
          </p:nvSpPr>
          <p:spPr>
            <a:xfrm>
              <a:off x="5614988" y="1497568"/>
              <a:ext cx="1578252"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区域表现：分区域对比与排名​</a:t>
              </a:r>
            </a:p>
          </p:txBody>
        </p:sp>
        <p:sp>
          <p:nvSpPr>
            <p:cNvPr id="57" name="Ellipse 57"/>
            <p:cNvSpPr/>
            <p:nvPr/>
          </p:nvSpPr>
          <p:spPr>
            <a:xfrm>
              <a:off x="5500688" y="1804988"/>
              <a:ext cx="47625" cy="47625"/>
            </a:xfrm>
            <a:prstGeom prst="ellipse">
              <a:avLst/>
            </a:prstGeom>
            <a:solidFill>
              <a:srgbClr val="B92102"/>
            </a:solidFill>
            <a:ln>
              <a:noFill/>
            </a:ln>
          </p:spPr>
        </p:sp>
        <p:sp>
          <p:nvSpPr>
            <p:cNvPr id="58" name="TextBox 58"/>
            <p:cNvSpPr txBox="1"/>
            <p:nvPr/>
          </p:nvSpPr>
          <p:spPr>
            <a:xfrm>
              <a:off x="5614988" y="1783318"/>
              <a:ext cx="1462479"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网点表现：分层级网点对比​</a:t>
              </a:r>
            </a:p>
          </p:txBody>
        </p:sp>
        <p:sp>
          <p:nvSpPr>
            <p:cNvPr id="59" name="Rectangle 59"/>
            <p:cNvSpPr/>
            <p:nvPr/>
          </p:nvSpPr>
          <p:spPr>
            <a:xfrm>
              <a:off x="8420100" y="857250"/>
              <a:ext cx="809625" cy="1066800"/>
            </a:xfrm>
            <a:prstGeom prst="roundRect">
              <a:avLst>
                <a:gd name="adj" fmla="val 7059"/>
              </a:avLst>
            </a:prstGeom>
            <a:solidFill>
              <a:srgbClr val="EAF3FE"/>
            </a:solidFill>
            <a:ln>
              <a:noFill/>
            </a:ln>
          </p:spPr>
        </p:sp>
        <p:sp>
          <p:nvSpPr>
            <p:cNvPr id="60" name="TextBox 60"/>
            <p:cNvSpPr txBox="1"/>
            <p:nvPr/>
          </p:nvSpPr>
          <p:spPr>
            <a:xfrm>
              <a:off x="8602688" y="943689"/>
              <a:ext cx="43492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规模指标</a:t>
              </a:r>
            </a:p>
          </p:txBody>
        </p:sp>
        <p:grpSp>
          <p:nvGrpSpPr>
            <p:cNvPr id="66" name="Group 66"/>
            <p:cNvGrpSpPr/>
            <p:nvPr/>
          </p:nvGrpSpPr>
          <p:grpSpPr>
            <a:xfrm>
              <a:off x="8741569" y="1129924"/>
              <a:ext cx="157162" cy="158333"/>
              <a:chOff x="8741569" y="1129924"/>
              <a:chExt cx="157162" cy="158333"/>
            </a:xfrm>
          </p:grpSpPr>
          <p:sp>
            <p:nvSpPr>
              <p:cNvPr id="61" name="Freeform 61"/>
              <p:cNvSpPr/>
              <p:nvPr/>
            </p:nvSpPr>
            <p:spPr>
              <a:xfrm>
                <a:off x="8793956" y="1200944"/>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D44B2F"/>
                </a:solidFill>
              </a:ln>
            </p:spPr>
          </p:sp>
          <p:sp>
            <p:nvSpPr>
              <p:cNvPr id="62" name="Freeform 62"/>
              <p:cNvSpPr/>
              <p:nvPr/>
            </p:nvSpPr>
            <p:spPr>
              <a:xfrm>
                <a:off x="8793956" y="1227138"/>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D44B2F"/>
                </a:solidFill>
              </a:ln>
            </p:spPr>
          </p:sp>
          <p:sp>
            <p:nvSpPr>
              <p:cNvPr id="63" name="Freeform 63"/>
              <p:cNvSpPr/>
              <p:nvPr/>
            </p:nvSpPr>
            <p:spPr>
              <a:xfrm>
                <a:off x="8741569" y="1129924"/>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D44B2F"/>
                </a:solidFill>
              </a:ln>
            </p:spPr>
          </p:sp>
          <p:sp>
            <p:nvSpPr>
              <p:cNvPr id="64" name="Freeform 64"/>
              <p:cNvSpPr/>
              <p:nvPr/>
            </p:nvSpPr>
            <p:spPr>
              <a:xfrm>
                <a:off x="8741569" y="1157288"/>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D44B2F"/>
                </a:solidFill>
              </a:ln>
            </p:spPr>
          </p:sp>
          <p:sp>
            <p:nvSpPr>
              <p:cNvPr id="65" name="Freeform 65"/>
              <p:cNvSpPr/>
              <p:nvPr/>
            </p:nvSpPr>
            <p:spPr>
              <a:xfrm>
                <a:off x="8741569" y="1200944"/>
                <a:ext cx="17463" cy="17463"/>
              </a:xfrm>
              <a:custGeom>
                <a:avLst/>
                <a:gdLst/>
                <a:ahLst/>
                <a:cxnLst/>
                <a:rect l="l" t="t" r="r" b="b"/>
                <a:pathLst>
                  <a:path w="17463" h="17463">
                    <a:moveTo>
                      <a:pt x="0" y="0"/>
                    </a:moveTo>
                    <a:cubicBezTo>
                      <a:pt x="0" y="7753"/>
                      <a:pt x="6741" y="12660"/>
                      <a:pt x="17463" y="17463"/>
                    </a:cubicBezTo>
                  </a:path>
                </a:pathLst>
              </a:custGeom>
              <a:noFill/>
              <a:ln w="17463">
                <a:solidFill>
                  <a:srgbClr val="D44B2F"/>
                </a:solidFill>
              </a:ln>
            </p:spPr>
          </p:sp>
        </p:grpSp>
        <p:sp>
          <p:nvSpPr>
            <p:cNvPr id="67" name="TextBox 67"/>
            <p:cNvSpPr txBox="1"/>
            <p:nvPr/>
          </p:nvSpPr>
          <p:spPr>
            <a:xfrm>
              <a:off x="8676434" y="14311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68" name="TextBox 68"/>
            <p:cNvSpPr txBox="1"/>
            <p:nvPr/>
          </p:nvSpPr>
          <p:spPr>
            <a:xfrm>
              <a:off x="8530572" y="16606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sp>
          <p:nvSpPr>
            <p:cNvPr id="69" name="Rectangle 69"/>
            <p:cNvSpPr/>
            <p:nvPr/>
          </p:nvSpPr>
          <p:spPr>
            <a:xfrm>
              <a:off x="9305925" y="857250"/>
              <a:ext cx="809625" cy="1066800"/>
            </a:xfrm>
            <a:prstGeom prst="roundRect">
              <a:avLst>
                <a:gd name="adj" fmla="val 7059"/>
              </a:avLst>
            </a:prstGeom>
            <a:solidFill>
              <a:srgbClr val="EAF3FE"/>
            </a:solidFill>
            <a:ln>
              <a:noFill/>
            </a:ln>
          </p:spPr>
        </p:sp>
        <p:sp>
          <p:nvSpPr>
            <p:cNvPr id="70" name="TextBox 70"/>
            <p:cNvSpPr txBox="1"/>
            <p:nvPr/>
          </p:nvSpPr>
          <p:spPr>
            <a:xfrm>
              <a:off x="9488513" y="943689"/>
              <a:ext cx="43492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结构指标</a:t>
              </a:r>
            </a:p>
          </p:txBody>
        </p:sp>
        <p:grpSp>
          <p:nvGrpSpPr>
            <p:cNvPr id="73" name="Group 73"/>
            <p:cNvGrpSpPr/>
            <p:nvPr/>
          </p:nvGrpSpPr>
          <p:grpSpPr>
            <a:xfrm>
              <a:off x="9624960" y="1132595"/>
              <a:ext cx="157850" cy="158095"/>
              <a:chOff x="9624960" y="1132595"/>
              <a:chExt cx="157850" cy="158095"/>
            </a:xfrm>
          </p:grpSpPr>
          <p:sp>
            <p:nvSpPr>
              <p:cNvPr id="71" name="Freeform 71"/>
              <p:cNvSpPr/>
              <p:nvPr/>
            </p:nvSpPr>
            <p:spPr>
              <a:xfrm>
                <a:off x="9624960" y="1132595"/>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D44B2F"/>
                </a:solidFill>
              </a:ln>
            </p:spPr>
          </p:sp>
          <p:sp>
            <p:nvSpPr>
              <p:cNvPr id="72" name="Freeform 72"/>
              <p:cNvSpPr/>
              <p:nvPr/>
            </p:nvSpPr>
            <p:spPr>
              <a:xfrm>
                <a:off x="9732169" y="1135459"/>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D44B2F"/>
                </a:solidFill>
              </a:ln>
            </p:spPr>
          </p:sp>
        </p:grpSp>
        <p:sp>
          <p:nvSpPr>
            <p:cNvPr id="74" name="TextBox 74"/>
            <p:cNvSpPr txBox="1"/>
            <p:nvPr/>
          </p:nvSpPr>
          <p:spPr>
            <a:xfrm>
              <a:off x="9562259" y="14311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75" name="TextBox 75"/>
            <p:cNvSpPr txBox="1"/>
            <p:nvPr/>
          </p:nvSpPr>
          <p:spPr>
            <a:xfrm>
              <a:off x="9416397" y="16606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sp>
          <p:nvSpPr>
            <p:cNvPr id="76" name="Rectangle 76"/>
            <p:cNvSpPr/>
            <p:nvPr/>
          </p:nvSpPr>
          <p:spPr>
            <a:xfrm>
              <a:off x="10191750" y="857250"/>
              <a:ext cx="809625" cy="1066800"/>
            </a:xfrm>
            <a:prstGeom prst="roundRect">
              <a:avLst>
                <a:gd name="adj" fmla="val 7059"/>
              </a:avLst>
            </a:prstGeom>
            <a:solidFill>
              <a:srgbClr val="EAF3FE"/>
            </a:solidFill>
            <a:ln>
              <a:noFill/>
            </a:ln>
          </p:spPr>
        </p:sp>
        <p:sp>
          <p:nvSpPr>
            <p:cNvPr id="77" name="TextBox 77"/>
            <p:cNvSpPr txBox="1"/>
            <p:nvPr/>
          </p:nvSpPr>
          <p:spPr>
            <a:xfrm>
              <a:off x="10374338" y="943689"/>
              <a:ext cx="43492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区域指标</a:t>
              </a:r>
            </a:p>
          </p:txBody>
        </p:sp>
        <p:grpSp>
          <p:nvGrpSpPr>
            <p:cNvPr id="83" name="Group 83"/>
            <p:cNvGrpSpPr/>
            <p:nvPr/>
          </p:nvGrpSpPr>
          <p:grpSpPr>
            <a:xfrm>
              <a:off x="10513219" y="1131094"/>
              <a:ext cx="157163" cy="157163"/>
              <a:chOff x="10513219" y="1131094"/>
              <a:chExt cx="157163" cy="157163"/>
            </a:xfrm>
          </p:grpSpPr>
          <p:sp>
            <p:nvSpPr>
              <p:cNvPr id="78" name="Freeform 78"/>
              <p:cNvSpPr/>
              <p:nvPr/>
            </p:nvSpPr>
            <p:spPr>
              <a:xfrm>
                <a:off x="10513219" y="123586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D44B2F"/>
                </a:solidFill>
              </a:ln>
            </p:spPr>
          </p:sp>
          <p:sp>
            <p:nvSpPr>
              <p:cNvPr id="79" name="Freeform 79"/>
              <p:cNvSpPr/>
              <p:nvPr/>
            </p:nvSpPr>
            <p:spPr>
              <a:xfrm>
                <a:off x="10617994" y="123586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D44B2F"/>
                </a:solidFill>
              </a:ln>
            </p:spPr>
          </p:sp>
          <p:sp>
            <p:nvSpPr>
              <p:cNvPr id="80" name="Freeform 80"/>
              <p:cNvSpPr/>
              <p:nvPr/>
            </p:nvSpPr>
            <p:spPr>
              <a:xfrm>
                <a:off x="10565606" y="1131094"/>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D44B2F"/>
                </a:solidFill>
              </a:ln>
            </p:spPr>
          </p:sp>
          <p:sp>
            <p:nvSpPr>
              <p:cNvPr id="81" name="Freeform 81"/>
              <p:cNvSpPr/>
              <p:nvPr/>
            </p:nvSpPr>
            <p:spPr>
              <a:xfrm>
                <a:off x="10539413" y="1209675"/>
                <a:ext cx="104775" cy="26194"/>
              </a:xfrm>
              <a:custGeom>
                <a:avLst/>
                <a:gdLst/>
                <a:ahLst/>
                <a:cxnLst/>
                <a:rect l="l" t="t" r="r" b="b"/>
                <a:pathLst>
                  <a:path w="104775" h="26194">
                    <a:moveTo>
                      <a:pt x="0" y="26194"/>
                    </a:moveTo>
                    <a:lnTo>
                      <a:pt x="0" y="17463"/>
                    </a:lnTo>
                    <a:cubicBezTo>
                      <a:pt x="0" y="7818"/>
                      <a:pt x="7818" y="0"/>
                      <a:pt x="17463" y="0"/>
                    </a:cubicBezTo>
                    <a:lnTo>
                      <a:pt x="87313" y="0"/>
                    </a:lnTo>
                    <a:cubicBezTo>
                      <a:pt x="96957" y="0"/>
                      <a:pt x="104775" y="7818"/>
                      <a:pt x="104775" y="17463"/>
                    </a:cubicBezTo>
                    <a:lnTo>
                      <a:pt x="104775" y="26194"/>
                    </a:lnTo>
                  </a:path>
                </a:pathLst>
              </a:custGeom>
              <a:noFill/>
              <a:ln w="17463">
                <a:solidFill>
                  <a:srgbClr val="D44B2F"/>
                </a:solidFill>
              </a:ln>
            </p:spPr>
          </p:sp>
          <p:sp>
            <p:nvSpPr>
              <p:cNvPr id="82" name="Freeform 82"/>
              <p:cNvSpPr/>
              <p:nvPr/>
            </p:nvSpPr>
            <p:spPr>
              <a:xfrm>
                <a:off x="10591800" y="1183481"/>
                <a:ext cx="9525" cy="26194"/>
              </a:xfrm>
              <a:custGeom>
                <a:avLst/>
                <a:gdLst/>
                <a:ahLst/>
                <a:cxnLst/>
                <a:rect l="l" t="t" r="r" b="b"/>
                <a:pathLst>
                  <a:path w="9525" h="26194">
                    <a:moveTo>
                      <a:pt x="0" y="0"/>
                    </a:moveTo>
                    <a:lnTo>
                      <a:pt x="0" y="26194"/>
                    </a:lnTo>
                  </a:path>
                </a:pathLst>
              </a:custGeom>
              <a:noFill/>
              <a:ln w="17463">
                <a:solidFill>
                  <a:srgbClr val="D44B2F"/>
                </a:solidFill>
              </a:ln>
            </p:spPr>
          </p:sp>
        </p:grpSp>
        <p:sp>
          <p:nvSpPr>
            <p:cNvPr id="84" name="TextBox 84"/>
            <p:cNvSpPr txBox="1"/>
            <p:nvPr/>
          </p:nvSpPr>
          <p:spPr>
            <a:xfrm>
              <a:off x="10448084" y="14311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85" name="TextBox 85"/>
            <p:cNvSpPr txBox="1"/>
            <p:nvPr/>
          </p:nvSpPr>
          <p:spPr>
            <a:xfrm>
              <a:off x="10302222" y="16606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sp>
          <p:nvSpPr>
            <p:cNvPr id="86" name="Rectangle 86"/>
            <p:cNvSpPr/>
            <p:nvPr/>
          </p:nvSpPr>
          <p:spPr>
            <a:xfrm>
              <a:off x="11077575" y="857250"/>
              <a:ext cx="809625" cy="1066800"/>
            </a:xfrm>
            <a:prstGeom prst="roundRect">
              <a:avLst>
                <a:gd name="adj" fmla="val 7059"/>
              </a:avLst>
            </a:prstGeom>
            <a:solidFill>
              <a:srgbClr val="EAF3FE"/>
            </a:solidFill>
            <a:ln>
              <a:noFill/>
            </a:ln>
          </p:spPr>
        </p:sp>
        <p:sp>
          <p:nvSpPr>
            <p:cNvPr id="87" name="TextBox 87"/>
            <p:cNvSpPr txBox="1"/>
            <p:nvPr/>
          </p:nvSpPr>
          <p:spPr>
            <a:xfrm>
              <a:off x="11260163" y="943689"/>
              <a:ext cx="43492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网点指标</a:t>
              </a:r>
            </a:p>
          </p:txBody>
        </p:sp>
        <p:grpSp>
          <p:nvGrpSpPr>
            <p:cNvPr id="96" name="Group 96"/>
            <p:cNvGrpSpPr/>
            <p:nvPr/>
          </p:nvGrpSpPr>
          <p:grpSpPr>
            <a:xfrm>
              <a:off x="11399044" y="1131094"/>
              <a:ext cx="157956" cy="166687"/>
              <a:chOff x="11399044" y="1131094"/>
              <a:chExt cx="157956" cy="166687"/>
            </a:xfrm>
          </p:grpSpPr>
          <p:sp>
            <p:nvSpPr>
              <p:cNvPr id="88" name="Freeform 88"/>
              <p:cNvSpPr/>
              <p:nvPr/>
            </p:nvSpPr>
            <p:spPr>
              <a:xfrm>
                <a:off x="11399044" y="1288256"/>
                <a:ext cx="157163" cy="9525"/>
              </a:xfrm>
              <a:custGeom>
                <a:avLst/>
                <a:gdLst/>
                <a:ahLst/>
                <a:cxnLst/>
                <a:rect l="l" t="t" r="r" b="b"/>
                <a:pathLst>
                  <a:path w="157163" h="9525">
                    <a:moveTo>
                      <a:pt x="0" y="0"/>
                    </a:moveTo>
                    <a:lnTo>
                      <a:pt x="157163" y="0"/>
                    </a:lnTo>
                  </a:path>
                </a:pathLst>
              </a:custGeom>
              <a:noFill/>
              <a:ln w="17463">
                <a:solidFill>
                  <a:srgbClr val="D44B2F"/>
                </a:solidFill>
              </a:ln>
            </p:spPr>
          </p:sp>
          <p:sp>
            <p:nvSpPr>
              <p:cNvPr id="89" name="Freeform 89"/>
              <p:cNvSpPr/>
              <p:nvPr/>
            </p:nvSpPr>
            <p:spPr>
              <a:xfrm>
                <a:off x="11399044" y="1192213"/>
                <a:ext cx="157163" cy="9525"/>
              </a:xfrm>
              <a:custGeom>
                <a:avLst/>
                <a:gdLst/>
                <a:ahLst/>
                <a:cxnLst/>
                <a:rect l="l" t="t" r="r" b="b"/>
                <a:pathLst>
                  <a:path w="157163" h="9525">
                    <a:moveTo>
                      <a:pt x="0" y="0"/>
                    </a:moveTo>
                    <a:lnTo>
                      <a:pt x="157163" y="0"/>
                    </a:lnTo>
                  </a:path>
                </a:pathLst>
              </a:custGeom>
              <a:noFill/>
              <a:ln w="17463">
                <a:solidFill>
                  <a:srgbClr val="D44B2F"/>
                </a:solidFill>
              </a:ln>
            </p:spPr>
          </p:sp>
          <p:sp>
            <p:nvSpPr>
              <p:cNvPr id="90" name="Freeform 90"/>
              <p:cNvSpPr/>
              <p:nvPr/>
            </p:nvSpPr>
            <p:spPr>
              <a:xfrm>
                <a:off x="11416506" y="1131094"/>
                <a:ext cx="122238" cy="26194"/>
              </a:xfrm>
              <a:custGeom>
                <a:avLst/>
                <a:gdLst/>
                <a:ahLst/>
                <a:cxnLst/>
                <a:rect l="l" t="t" r="r" b="b"/>
                <a:pathLst>
                  <a:path w="122238" h="26194">
                    <a:moveTo>
                      <a:pt x="0" y="26194"/>
                    </a:moveTo>
                    <a:lnTo>
                      <a:pt x="61119" y="0"/>
                    </a:lnTo>
                    <a:lnTo>
                      <a:pt x="122238" y="26194"/>
                    </a:lnTo>
                  </a:path>
                </a:pathLst>
              </a:custGeom>
              <a:noFill/>
              <a:ln w="17463">
                <a:solidFill>
                  <a:srgbClr val="D44B2F"/>
                </a:solidFill>
              </a:ln>
            </p:spPr>
          </p:sp>
          <p:sp>
            <p:nvSpPr>
              <p:cNvPr id="91" name="Freeform 91"/>
              <p:cNvSpPr/>
              <p:nvPr/>
            </p:nvSpPr>
            <p:spPr>
              <a:xfrm>
                <a:off x="11407775" y="1192213"/>
                <a:ext cx="9525" cy="96044"/>
              </a:xfrm>
              <a:custGeom>
                <a:avLst/>
                <a:gdLst/>
                <a:ahLst/>
                <a:cxnLst/>
                <a:rect l="l" t="t" r="r" b="b"/>
                <a:pathLst>
                  <a:path w="9525" h="96044">
                    <a:moveTo>
                      <a:pt x="0" y="0"/>
                    </a:moveTo>
                    <a:lnTo>
                      <a:pt x="0" y="96044"/>
                    </a:lnTo>
                  </a:path>
                </a:pathLst>
              </a:custGeom>
              <a:noFill/>
              <a:ln w="17463">
                <a:solidFill>
                  <a:srgbClr val="D44B2F"/>
                </a:solidFill>
              </a:ln>
            </p:spPr>
          </p:sp>
          <p:sp>
            <p:nvSpPr>
              <p:cNvPr id="92" name="Freeform 92"/>
              <p:cNvSpPr/>
              <p:nvPr/>
            </p:nvSpPr>
            <p:spPr>
              <a:xfrm>
                <a:off x="11547475" y="1192213"/>
                <a:ext cx="9525" cy="96044"/>
              </a:xfrm>
              <a:custGeom>
                <a:avLst/>
                <a:gdLst/>
                <a:ahLst/>
                <a:cxnLst/>
                <a:rect l="l" t="t" r="r" b="b"/>
                <a:pathLst>
                  <a:path w="9525" h="96044">
                    <a:moveTo>
                      <a:pt x="0" y="0"/>
                    </a:moveTo>
                    <a:lnTo>
                      <a:pt x="0" y="96044"/>
                    </a:lnTo>
                  </a:path>
                </a:pathLst>
              </a:custGeom>
              <a:noFill/>
              <a:ln w="17463">
                <a:solidFill>
                  <a:srgbClr val="D44B2F"/>
                </a:solidFill>
              </a:ln>
            </p:spPr>
          </p:sp>
          <p:sp>
            <p:nvSpPr>
              <p:cNvPr id="93" name="Freeform 93"/>
              <p:cNvSpPr/>
              <p:nvPr/>
            </p:nvSpPr>
            <p:spPr>
              <a:xfrm>
                <a:off x="11442700" y="1227138"/>
                <a:ext cx="9525" cy="26194"/>
              </a:xfrm>
              <a:custGeom>
                <a:avLst/>
                <a:gdLst/>
                <a:ahLst/>
                <a:cxnLst/>
                <a:rect l="l" t="t" r="r" b="b"/>
                <a:pathLst>
                  <a:path w="9525" h="26194">
                    <a:moveTo>
                      <a:pt x="0" y="0"/>
                    </a:moveTo>
                    <a:lnTo>
                      <a:pt x="0" y="26194"/>
                    </a:lnTo>
                  </a:path>
                </a:pathLst>
              </a:custGeom>
              <a:noFill/>
              <a:ln w="17463">
                <a:solidFill>
                  <a:srgbClr val="D44B2F"/>
                </a:solidFill>
              </a:ln>
            </p:spPr>
          </p:sp>
          <p:sp>
            <p:nvSpPr>
              <p:cNvPr id="94" name="Freeform 94"/>
              <p:cNvSpPr/>
              <p:nvPr/>
            </p:nvSpPr>
            <p:spPr>
              <a:xfrm>
                <a:off x="11477625" y="1227138"/>
                <a:ext cx="9525" cy="26194"/>
              </a:xfrm>
              <a:custGeom>
                <a:avLst/>
                <a:gdLst/>
                <a:ahLst/>
                <a:cxnLst/>
                <a:rect l="l" t="t" r="r" b="b"/>
                <a:pathLst>
                  <a:path w="9525" h="26194">
                    <a:moveTo>
                      <a:pt x="0" y="0"/>
                    </a:moveTo>
                    <a:lnTo>
                      <a:pt x="0" y="26194"/>
                    </a:lnTo>
                  </a:path>
                </a:pathLst>
              </a:custGeom>
              <a:noFill/>
              <a:ln w="17463">
                <a:solidFill>
                  <a:srgbClr val="D44B2F"/>
                </a:solidFill>
              </a:ln>
            </p:spPr>
          </p:sp>
          <p:sp>
            <p:nvSpPr>
              <p:cNvPr id="95" name="Freeform 95"/>
              <p:cNvSpPr/>
              <p:nvPr/>
            </p:nvSpPr>
            <p:spPr>
              <a:xfrm>
                <a:off x="11512550" y="1227138"/>
                <a:ext cx="9525" cy="26194"/>
              </a:xfrm>
              <a:custGeom>
                <a:avLst/>
                <a:gdLst/>
                <a:ahLst/>
                <a:cxnLst/>
                <a:rect l="l" t="t" r="r" b="b"/>
                <a:pathLst>
                  <a:path w="9525" h="26194">
                    <a:moveTo>
                      <a:pt x="0" y="0"/>
                    </a:moveTo>
                    <a:lnTo>
                      <a:pt x="0" y="26194"/>
                    </a:lnTo>
                  </a:path>
                </a:pathLst>
              </a:custGeom>
              <a:noFill/>
              <a:ln w="17463">
                <a:solidFill>
                  <a:srgbClr val="D44B2F"/>
                </a:solidFill>
              </a:ln>
            </p:spPr>
          </p:sp>
        </p:grpSp>
        <p:sp>
          <p:nvSpPr>
            <p:cNvPr id="97" name="TextBox 97"/>
            <p:cNvSpPr txBox="1"/>
            <p:nvPr/>
          </p:nvSpPr>
          <p:spPr>
            <a:xfrm>
              <a:off x="11333909" y="14311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98" name="TextBox 98"/>
            <p:cNvSpPr txBox="1"/>
            <p:nvPr/>
          </p:nvSpPr>
          <p:spPr>
            <a:xfrm>
              <a:off x="11188047" y="16606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grpSp>
      <p:grpSp>
        <p:nvGrpSpPr>
          <p:cNvPr id="151" name="row-02"/>
          <p:cNvGrpSpPr/>
          <p:nvPr/>
        </p:nvGrpSpPr>
        <p:grpSpPr>
          <a:xfrm>
            <a:off x="1828800" y="2171700"/>
            <a:ext cx="10096500" cy="1409700"/>
            <a:chOff x="1828800" y="2171700"/>
            <a:chExt cx="10096500" cy="1409700"/>
          </a:xfrm>
        </p:grpSpPr>
        <p:sp>
          <p:nvSpPr>
            <p:cNvPr id="100" name="Rectangle 100"/>
            <p:cNvSpPr/>
            <p:nvPr/>
          </p:nvSpPr>
          <p:spPr>
            <a:xfrm>
              <a:off x="2724150" y="2190750"/>
              <a:ext cx="9201150" cy="1371600"/>
            </a:xfrm>
            <a:prstGeom prst="roundRect">
              <a:avLst>
                <a:gd name="adj" fmla="val 5556"/>
              </a:avLst>
            </a:prstGeom>
            <a:solidFill>
              <a:srgbClr val="FFFFFF"/>
            </a:solidFill>
            <a:ln w="9525">
              <a:solidFill>
                <a:srgbClr val="F7D1C9"/>
              </a:solidFill>
            </a:ln>
          </p:spPr>
        </p:sp>
        <p:sp>
          <p:nvSpPr>
            <p:cNvPr id="101" name="Freeform 101"/>
            <p:cNvSpPr/>
            <p:nvPr/>
          </p:nvSpPr>
          <p:spPr>
            <a:xfrm>
              <a:off x="1828800" y="2171700"/>
              <a:ext cx="800100" cy="1409700"/>
            </a:xfrm>
            <a:prstGeom prst="parallelogram">
              <a:avLst>
                <a:gd name="adj" fmla="val 16000"/>
              </a:avLst>
            </a:prstGeom>
            <a:solidFill>
              <a:srgbClr val="D44B2F"/>
            </a:solidFill>
            <a:ln>
              <a:noFill/>
            </a:ln>
          </p:spPr>
        </p:sp>
        <p:sp>
          <p:nvSpPr>
            <p:cNvPr id="102" name="TextBox 102"/>
            <p:cNvSpPr txBox="1"/>
            <p:nvPr/>
          </p:nvSpPr>
          <p:spPr>
            <a:xfrm>
              <a:off x="1844547" y="2753678"/>
              <a:ext cx="654307" cy="498729"/>
            </a:xfrm>
            <a:prstGeom prst="rect">
              <a:avLst/>
            </a:prstGeom>
            <a:noFill/>
            <a:ln>
              <a:noFill/>
            </a:ln>
          </p:spPr>
          <p:txBody>
            <a:bodyPr wrap="none" lIns="0" tIns="0" rIns="0" bIns="0" anchor="t" anchorCtr="0">
              <a:spAutoFit/>
            </a:bodyPr>
            <a:lstStyle/>
            <a:p>
              <a:pPr algn="ctr"/>
              <a:r>
                <a:rPr lang="zh-CN" sz="2550" b="1" dirty="0">
                  <a:solidFill>
                    <a:srgbClr val="FFFFFF"/>
                  </a:solidFill>
                  <a:latin typeface="SimSun"/>
                  <a:ea typeface="SimSun"/>
                  <a:cs typeface="SimSun"/>
                </a:rPr>
                <a:t>02​</a:t>
              </a:r>
            </a:p>
          </p:txBody>
        </p:sp>
        <p:sp>
          <p:nvSpPr>
            <p:cNvPr id="103" name="Ellipse 103"/>
            <p:cNvSpPr/>
            <p:nvPr/>
          </p:nvSpPr>
          <p:spPr>
            <a:xfrm>
              <a:off x="2943225" y="2619375"/>
              <a:ext cx="514350" cy="514350"/>
            </a:xfrm>
            <a:prstGeom prst="ellipse">
              <a:avLst/>
            </a:prstGeom>
            <a:solidFill>
              <a:srgbClr val="EAF3FE"/>
            </a:solidFill>
            <a:ln w="9525">
              <a:solidFill>
                <a:srgbClr val="E3907F"/>
              </a:solidFill>
            </a:ln>
          </p:spPr>
        </p:sp>
        <p:grpSp>
          <p:nvGrpSpPr>
            <p:cNvPr id="110" name="Group 110"/>
            <p:cNvGrpSpPr/>
            <p:nvPr/>
          </p:nvGrpSpPr>
          <p:grpSpPr>
            <a:xfrm>
              <a:off x="3100388" y="2776538"/>
              <a:ext cx="200025" cy="200026"/>
              <a:chOff x="3100388" y="2776538"/>
              <a:chExt cx="200025" cy="200026"/>
            </a:xfrm>
          </p:grpSpPr>
          <p:sp>
            <p:nvSpPr>
              <p:cNvPr id="104" name="Freeform 104"/>
              <p:cNvSpPr/>
              <p:nvPr/>
            </p:nvSpPr>
            <p:spPr>
              <a:xfrm>
                <a:off x="3178175" y="28654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B92102"/>
                </a:solidFill>
              </a:ln>
            </p:spPr>
          </p:sp>
          <p:sp>
            <p:nvSpPr>
              <p:cNvPr id="105" name="Freeform 105"/>
              <p:cNvSpPr/>
              <p:nvPr/>
            </p:nvSpPr>
            <p:spPr>
              <a:xfrm>
                <a:off x="3155950" y="294322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B92102"/>
                </a:solidFill>
              </a:ln>
            </p:spPr>
          </p:sp>
          <p:sp>
            <p:nvSpPr>
              <p:cNvPr id="106" name="Freeform 106"/>
              <p:cNvSpPr/>
              <p:nvPr/>
            </p:nvSpPr>
            <p:spPr>
              <a:xfrm>
                <a:off x="3233738" y="27765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B92102"/>
                </a:solidFill>
              </a:ln>
            </p:spPr>
          </p:sp>
          <p:sp>
            <p:nvSpPr>
              <p:cNvPr id="107" name="Freeform 107"/>
              <p:cNvSpPr/>
              <p:nvPr/>
            </p:nvSpPr>
            <p:spPr>
              <a:xfrm>
                <a:off x="3255963" y="285432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B92102"/>
                </a:solidFill>
              </a:ln>
            </p:spPr>
          </p:sp>
          <p:sp>
            <p:nvSpPr>
              <p:cNvPr id="108" name="Freeform 108"/>
              <p:cNvSpPr/>
              <p:nvPr/>
            </p:nvSpPr>
            <p:spPr>
              <a:xfrm>
                <a:off x="3122613" y="27765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B92102"/>
                </a:solidFill>
              </a:ln>
            </p:spPr>
          </p:sp>
          <p:sp>
            <p:nvSpPr>
              <p:cNvPr id="109" name="Freeform 109"/>
              <p:cNvSpPr/>
              <p:nvPr/>
            </p:nvSpPr>
            <p:spPr>
              <a:xfrm>
                <a:off x="3100388" y="285432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B92102"/>
                </a:solidFill>
              </a:ln>
            </p:spPr>
          </p:sp>
        </p:grpSp>
        <p:sp>
          <p:nvSpPr>
            <p:cNvPr id="111" name="TextBox 111"/>
            <p:cNvSpPr txBox="1"/>
            <p:nvPr/>
          </p:nvSpPr>
          <p:spPr>
            <a:xfrm>
              <a:off x="3613404" y="2404110"/>
              <a:ext cx="926592" cy="806196"/>
            </a:xfrm>
            <a:prstGeom prst="rect">
              <a:avLst/>
            </a:prstGeom>
            <a:noFill/>
            <a:ln>
              <a:noFill/>
            </a:ln>
          </p:spPr>
          <p:txBody>
            <a:bodyPr wrap="none" lIns="0" tIns="0" rIns="0" bIns="0" anchor="t" anchorCtr="0">
              <a:spAutoFit/>
            </a:bodyPr>
            <a:lstStyle/>
            <a:p>
              <a:pPr algn="l">
                <a:lnSpc>
                  <a:spcPts val="2250"/>
                </a:lnSpc>
              </a:pPr>
              <a:r>
                <a:rPr lang="zh-CN" sz="1200" b="1" dirty="0">
                  <a:solidFill>
                    <a:srgbClr val="6E1604"/>
                  </a:solidFill>
                  <a:latin typeface="+mn-lt"/>
                  <a:ea typeface="+mn-ea"/>
                  <a:cs typeface="+mn-cs"/>
                </a:rPr>
                <a:t>客户经营：</a:t>
              </a:r>
              <a:br/>
              <a:r>
                <a:rPr lang="zh-CN" sz="1200" b="1" dirty="0">
                  <a:solidFill>
                    <a:srgbClr val="6E1604"/>
                  </a:solidFill>
                  <a:latin typeface="+mn-lt"/>
                  <a:ea typeface="+mn-ea"/>
                  <a:cs typeface="+mn-cs"/>
                </a:rPr>
                <a:t>分层、触达、</a:t>
              </a:r>
              <a:br/>
              <a:r>
                <a:rPr lang="zh-CN" sz="1200" b="1" dirty="0">
                  <a:solidFill>
                    <a:srgbClr val="6E1604"/>
                  </a:solidFill>
                  <a:latin typeface="+mn-lt"/>
                  <a:ea typeface="+mn-ea"/>
                  <a:cs typeface="+mn-cs"/>
                </a:rPr>
                <a:t>转化、价值</a:t>
              </a:r>
            </a:p>
          </p:txBody>
        </p:sp>
        <p:sp>
          <p:nvSpPr>
            <p:cNvPr id="112" name="Rectangle 112"/>
            <p:cNvSpPr/>
            <p:nvPr/>
          </p:nvSpPr>
          <p:spPr>
            <a:xfrm>
              <a:off x="5391150" y="2324100"/>
              <a:ext cx="2857500" cy="1123950"/>
            </a:xfrm>
            <a:prstGeom prst="roundRect">
              <a:avLst>
                <a:gd name="adj" fmla="val 5085"/>
              </a:avLst>
            </a:prstGeom>
            <a:solidFill>
              <a:srgbClr val="F2F7FE"/>
            </a:solidFill>
            <a:ln>
              <a:noFill/>
            </a:ln>
          </p:spPr>
        </p:sp>
        <p:sp>
          <p:nvSpPr>
            <p:cNvPr id="113" name="Ellipse 113"/>
            <p:cNvSpPr/>
            <p:nvPr/>
          </p:nvSpPr>
          <p:spPr>
            <a:xfrm>
              <a:off x="5500688" y="2433638"/>
              <a:ext cx="47625" cy="47625"/>
            </a:xfrm>
            <a:prstGeom prst="ellipse">
              <a:avLst/>
            </a:prstGeom>
            <a:solidFill>
              <a:srgbClr val="B92102"/>
            </a:solidFill>
            <a:ln>
              <a:noFill/>
            </a:ln>
          </p:spPr>
        </p:sp>
        <p:sp>
          <p:nvSpPr>
            <p:cNvPr id="114" name="TextBox 114"/>
            <p:cNvSpPr txBox="1"/>
            <p:nvPr/>
          </p:nvSpPr>
          <p:spPr>
            <a:xfrm>
              <a:off x="5614988" y="2411968"/>
              <a:ext cx="1960303"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客户分层：规模/价值/潜力分层​​​​​</a:t>
              </a:r>
            </a:p>
          </p:txBody>
        </p:sp>
        <p:sp>
          <p:nvSpPr>
            <p:cNvPr id="115" name="Ellipse 115"/>
            <p:cNvSpPr/>
            <p:nvPr/>
          </p:nvSpPr>
          <p:spPr>
            <a:xfrm>
              <a:off x="5500688" y="2719388"/>
              <a:ext cx="47625" cy="47625"/>
            </a:xfrm>
            <a:prstGeom prst="ellipse">
              <a:avLst/>
            </a:prstGeom>
            <a:solidFill>
              <a:srgbClr val="B92102"/>
            </a:solidFill>
            <a:ln>
              <a:noFill/>
            </a:ln>
          </p:spPr>
        </p:sp>
        <p:sp>
          <p:nvSpPr>
            <p:cNvPr id="116" name="TextBox 116"/>
            <p:cNvSpPr txBox="1"/>
            <p:nvPr/>
          </p:nvSpPr>
          <p:spPr>
            <a:xfrm>
              <a:off x="5614988" y="2697718"/>
              <a:ext cx="1578252"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触达覆盖：触达率与触达质量​</a:t>
              </a:r>
            </a:p>
          </p:txBody>
        </p:sp>
        <p:sp>
          <p:nvSpPr>
            <p:cNvPr id="117" name="Ellipse 117"/>
            <p:cNvSpPr/>
            <p:nvPr/>
          </p:nvSpPr>
          <p:spPr>
            <a:xfrm>
              <a:off x="5500688" y="3005138"/>
              <a:ext cx="47625" cy="47625"/>
            </a:xfrm>
            <a:prstGeom prst="ellipse">
              <a:avLst/>
            </a:prstGeom>
            <a:solidFill>
              <a:srgbClr val="B92102"/>
            </a:solidFill>
            <a:ln>
              <a:noFill/>
            </a:ln>
          </p:spPr>
        </p:sp>
        <p:sp>
          <p:nvSpPr>
            <p:cNvPr id="118" name="TextBox 118"/>
            <p:cNvSpPr txBox="1"/>
            <p:nvPr/>
          </p:nvSpPr>
          <p:spPr>
            <a:xfrm>
              <a:off x="5614988" y="2983468"/>
              <a:ext cx="1578252"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转化效率：转化率与转化效果​</a:t>
              </a:r>
            </a:p>
          </p:txBody>
        </p:sp>
        <p:sp>
          <p:nvSpPr>
            <p:cNvPr id="119" name="Ellipse 119"/>
            <p:cNvSpPr/>
            <p:nvPr/>
          </p:nvSpPr>
          <p:spPr>
            <a:xfrm>
              <a:off x="5500688" y="3290888"/>
              <a:ext cx="47625" cy="47625"/>
            </a:xfrm>
            <a:prstGeom prst="ellipse">
              <a:avLst/>
            </a:prstGeom>
            <a:solidFill>
              <a:srgbClr val="B92102"/>
            </a:solidFill>
            <a:ln>
              <a:noFill/>
            </a:ln>
          </p:spPr>
        </p:sp>
        <p:sp>
          <p:nvSpPr>
            <p:cNvPr id="120" name="TextBox 120"/>
            <p:cNvSpPr txBox="1"/>
            <p:nvPr/>
          </p:nvSpPr>
          <p:spPr>
            <a:xfrm>
              <a:off x="5614988" y="3269218"/>
              <a:ext cx="1809798"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客户价值：贡献度与生命周期价值​</a:t>
              </a:r>
            </a:p>
          </p:txBody>
        </p:sp>
        <p:sp>
          <p:nvSpPr>
            <p:cNvPr id="121" name="Rectangle 121"/>
            <p:cNvSpPr/>
            <p:nvPr/>
          </p:nvSpPr>
          <p:spPr>
            <a:xfrm>
              <a:off x="8420100" y="2343150"/>
              <a:ext cx="809625" cy="1066800"/>
            </a:xfrm>
            <a:prstGeom prst="roundRect">
              <a:avLst>
                <a:gd name="adj" fmla="val 7059"/>
              </a:avLst>
            </a:prstGeom>
            <a:solidFill>
              <a:srgbClr val="EAF3FE"/>
            </a:solidFill>
            <a:ln>
              <a:noFill/>
            </a:ln>
          </p:spPr>
        </p:sp>
        <p:sp>
          <p:nvSpPr>
            <p:cNvPr id="122" name="TextBox 122"/>
            <p:cNvSpPr txBox="1"/>
            <p:nvPr/>
          </p:nvSpPr>
          <p:spPr>
            <a:xfrm>
              <a:off x="8549513" y="2429589"/>
              <a:ext cx="54127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分层客户数</a:t>
              </a:r>
            </a:p>
          </p:txBody>
        </p:sp>
        <p:grpSp>
          <p:nvGrpSpPr>
            <p:cNvPr id="128" name="Group 128"/>
            <p:cNvGrpSpPr/>
            <p:nvPr/>
          </p:nvGrpSpPr>
          <p:grpSpPr>
            <a:xfrm>
              <a:off x="8741569" y="2616994"/>
              <a:ext cx="157162" cy="157162"/>
              <a:chOff x="8741569" y="2616994"/>
              <a:chExt cx="157162" cy="157162"/>
            </a:xfrm>
          </p:grpSpPr>
          <p:sp>
            <p:nvSpPr>
              <p:cNvPr id="123" name="Freeform 123"/>
              <p:cNvSpPr/>
              <p:nvPr/>
            </p:nvSpPr>
            <p:spPr>
              <a:xfrm>
                <a:off x="8802688" y="26169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D44B2F"/>
                </a:solidFill>
              </a:ln>
            </p:spPr>
          </p:sp>
          <p:sp>
            <p:nvSpPr>
              <p:cNvPr id="124" name="Freeform 124"/>
              <p:cNvSpPr/>
              <p:nvPr/>
            </p:nvSpPr>
            <p:spPr>
              <a:xfrm>
                <a:off x="8741569" y="27392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D44B2F"/>
                </a:solidFill>
              </a:ln>
            </p:spPr>
          </p:sp>
          <p:sp>
            <p:nvSpPr>
              <p:cNvPr id="125" name="Freeform 125"/>
              <p:cNvSpPr/>
              <p:nvPr/>
            </p:nvSpPr>
            <p:spPr>
              <a:xfrm>
                <a:off x="8863806" y="27392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D44B2F"/>
                </a:solidFill>
              </a:ln>
            </p:spPr>
          </p:sp>
          <p:sp>
            <p:nvSpPr>
              <p:cNvPr id="126" name="Freeform 126"/>
              <p:cNvSpPr/>
              <p:nvPr/>
            </p:nvSpPr>
            <p:spPr>
              <a:xfrm>
                <a:off x="8772128" y="2704306"/>
                <a:ext cx="96044" cy="39291"/>
              </a:xfrm>
              <a:custGeom>
                <a:avLst/>
                <a:gdLst/>
                <a:ahLst/>
                <a:cxnLst/>
                <a:rect l="l" t="t" r="r" b="b"/>
                <a:pathLst>
                  <a:path w="96044" h="39291">
                    <a:moveTo>
                      <a:pt x="0" y="39291"/>
                    </a:moveTo>
                    <a:lnTo>
                      <a:pt x="48022" y="0"/>
                    </a:lnTo>
                    <a:lnTo>
                      <a:pt x="96044" y="39291"/>
                    </a:lnTo>
                  </a:path>
                </a:pathLst>
              </a:custGeom>
              <a:noFill/>
              <a:ln w="17463">
                <a:solidFill>
                  <a:srgbClr val="D44B2F"/>
                </a:solidFill>
              </a:ln>
            </p:spPr>
          </p:sp>
          <p:sp>
            <p:nvSpPr>
              <p:cNvPr id="127" name="Freeform 127"/>
              <p:cNvSpPr/>
              <p:nvPr/>
            </p:nvSpPr>
            <p:spPr>
              <a:xfrm>
                <a:off x="8820150" y="2651919"/>
                <a:ext cx="9525" cy="52388"/>
              </a:xfrm>
              <a:custGeom>
                <a:avLst/>
                <a:gdLst/>
                <a:ahLst/>
                <a:cxnLst/>
                <a:rect l="l" t="t" r="r" b="b"/>
                <a:pathLst>
                  <a:path w="9525" h="52388">
                    <a:moveTo>
                      <a:pt x="0" y="0"/>
                    </a:moveTo>
                    <a:lnTo>
                      <a:pt x="0" y="52388"/>
                    </a:lnTo>
                  </a:path>
                </a:pathLst>
              </a:custGeom>
              <a:noFill/>
              <a:ln w="17463">
                <a:solidFill>
                  <a:srgbClr val="D44B2F"/>
                </a:solidFill>
              </a:ln>
            </p:spPr>
          </p:sp>
        </p:grpSp>
        <p:sp>
          <p:nvSpPr>
            <p:cNvPr id="129" name="TextBox 129"/>
            <p:cNvSpPr txBox="1"/>
            <p:nvPr/>
          </p:nvSpPr>
          <p:spPr>
            <a:xfrm>
              <a:off x="8676434" y="29170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130" name="TextBox 130"/>
            <p:cNvSpPr txBox="1"/>
            <p:nvPr/>
          </p:nvSpPr>
          <p:spPr>
            <a:xfrm>
              <a:off x="8530572" y="31465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sp>
          <p:nvSpPr>
            <p:cNvPr id="131" name="Rectangle 131"/>
            <p:cNvSpPr/>
            <p:nvPr/>
          </p:nvSpPr>
          <p:spPr>
            <a:xfrm>
              <a:off x="9305925" y="2343150"/>
              <a:ext cx="809625" cy="1066800"/>
            </a:xfrm>
            <a:prstGeom prst="roundRect">
              <a:avLst>
                <a:gd name="adj" fmla="val 7059"/>
              </a:avLst>
            </a:prstGeom>
            <a:solidFill>
              <a:srgbClr val="EAF3FE"/>
            </a:solidFill>
            <a:ln>
              <a:noFill/>
            </a:ln>
          </p:spPr>
        </p:sp>
        <p:sp>
          <p:nvSpPr>
            <p:cNvPr id="132" name="TextBox 132"/>
            <p:cNvSpPr txBox="1"/>
            <p:nvPr/>
          </p:nvSpPr>
          <p:spPr>
            <a:xfrm>
              <a:off x="9435338" y="2429589"/>
              <a:ext cx="54127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触达客户数</a:t>
              </a:r>
            </a:p>
          </p:txBody>
        </p:sp>
        <p:grpSp>
          <p:nvGrpSpPr>
            <p:cNvPr id="136" name="Group 136"/>
            <p:cNvGrpSpPr/>
            <p:nvPr/>
          </p:nvGrpSpPr>
          <p:grpSpPr>
            <a:xfrm>
              <a:off x="9653588" y="2616994"/>
              <a:ext cx="130969" cy="157163"/>
              <a:chOff x="9653588" y="2616994"/>
              <a:chExt cx="130969" cy="157163"/>
            </a:xfrm>
          </p:grpSpPr>
          <p:sp>
            <p:nvSpPr>
              <p:cNvPr id="133" name="Freeform 133"/>
              <p:cNvSpPr/>
              <p:nvPr/>
            </p:nvSpPr>
            <p:spPr>
              <a:xfrm>
                <a:off x="9671050" y="26169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D44B2F"/>
                </a:solidFill>
              </a:ln>
            </p:spPr>
          </p:sp>
          <p:sp>
            <p:nvSpPr>
              <p:cNvPr id="134" name="Freeform 134"/>
              <p:cNvSpPr/>
              <p:nvPr/>
            </p:nvSpPr>
            <p:spPr>
              <a:xfrm>
                <a:off x="9653588" y="27217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D44B2F"/>
                </a:solidFill>
              </a:ln>
            </p:spPr>
          </p:sp>
          <p:sp>
            <p:nvSpPr>
              <p:cNvPr id="135" name="Freeform 135"/>
              <p:cNvSpPr/>
              <p:nvPr/>
            </p:nvSpPr>
            <p:spPr>
              <a:xfrm>
                <a:off x="9732169" y="2739231"/>
                <a:ext cx="52388" cy="34925"/>
              </a:xfrm>
              <a:custGeom>
                <a:avLst/>
                <a:gdLst/>
                <a:ahLst/>
                <a:cxnLst/>
                <a:rect l="l" t="t" r="r" b="b"/>
                <a:pathLst>
                  <a:path w="52388" h="34925">
                    <a:moveTo>
                      <a:pt x="0" y="17463"/>
                    </a:moveTo>
                    <a:lnTo>
                      <a:pt x="17463" y="34925"/>
                    </a:lnTo>
                    <a:lnTo>
                      <a:pt x="52388" y="0"/>
                    </a:lnTo>
                  </a:path>
                </a:pathLst>
              </a:custGeom>
              <a:noFill/>
              <a:ln w="17463">
                <a:solidFill>
                  <a:srgbClr val="D44B2F"/>
                </a:solidFill>
              </a:ln>
            </p:spPr>
          </p:sp>
        </p:grpSp>
        <p:sp>
          <p:nvSpPr>
            <p:cNvPr id="137" name="TextBox 137"/>
            <p:cNvSpPr txBox="1"/>
            <p:nvPr/>
          </p:nvSpPr>
          <p:spPr>
            <a:xfrm>
              <a:off x="9562259" y="29170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138" name="TextBox 138"/>
            <p:cNvSpPr txBox="1"/>
            <p:nvPr/>
          </p:nvSpPr>
          <p:spPr>
            <a:xfrm>
              <a:off x="9416397" y="31465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sp>
          <p:nvSpPr>
            <p:cNvPr id="139" name="Rectangle 139"/>
            <p:cNvSpPr/>
            <p:nvPr/>
          </p:nvSpPr>
          <p:spPr>
            <a:xfrm>
              <a:off x="10191750" y="2343150"/>
              <a:ext cx="809625" cy="1066800"/>
            </a:xfrm>
            <a:prstGeom prst="roundRect">
              <a:avLst>
                <a:gd name="adj" fmla="val 7059"/>
              </a:avLst>
            </a:prstGeom>
            <a:solidFill>
              <a:srgbClr val="EAF3FE"/>
            </a:solidFill>
            <a:ln>
              <a:noFill/>
            </a:ln>
          </p:spPr>
        </p:sp>
        <p:sp>
          <p:nvSpPr>
            <p:cNvPr id="140" name="TextBox 140"/>
            <p:cNvSpPr txBox="1"/>
            <p:nvPr/>
          </p:nvSpPr>
          <p:spPr>
            <a:xfrm>
              <a:off x="10321163" y="2429589"/>
              <a:ext cx="54127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转化客户数</a:t>
              </a:r>
            </a:p>
          </p:txBody>
        </p:sp>
        <p:sp>
          <p:nvSpPr>
            <p:cNvPr id="141" name="Freeform 141"/>
            <p:cNvSpPr/>
            <p:nvPr/>
          </p:nvSpPr>
          <p:spPr>
            <a:xfrm>
              <a:off x="10521950" y="2625725"/>
              <a:ext cx="139700" cy="148431"/>
            </a:xfrm>
            <a:custGeom>
              <a:avLst/>
              <a:gdLst/>
              <a:ahLst/>
              <a:cxnLst/>
              <a:rect l="l" t="t" r="r" b="b"/>
              <a:pathLst>
                <a:path w="139700" h="148431">
                  <a:moveTo>
                    <a:pt x="0" y="0"/>
                  </a:moveTo>
                  <a:lnTo>
                    <a:pt x="139700" y="0"/>
                  </a:lnTo>
                  <a:lnTo>
                    <a:pt x="139700" y="18964"/>
                  </a:lnTo>
                  <a:cubicBezTo>
                    <a:pt x="139699" y="23595"/>
                    <a:pt x="137859" y="28036"/>
                    <a:pt x="134584" y="31310"/>
                  </a:cubicBezTo>
                  <a:lnTo>
                    <a:pt x="96044" y="69850"/>
                  </a:lnTo>
                  <a:lnTo>
                    <a:pt x="96044" y="130969"/>
                  </a:lnTo>
                  <a:lnTo>
                    <a:pt x="43656" y="148431"/>
                  </a:lnTo>
                  <a:lnTo>
                    <a:pt x="43656" y="74216"/>
                  </a:lnTo>
                  <a:lnTo>
                    <a:pt x="4540" y="31188"/>
                  </a:lnTo>
                  <a:cubicBezTo>
                    <a:pt x="1619" y="27974"/>
                    <a:pt x="0" y="23787"/>
                    <a:pt x="0" y="19445"/>
                  </a:cubicBezTo>
                  <a:lnTo>
                    <a:pt x="0" y="0"/>
                  </a:lnTo>
                </a:path>
              </a:pathLst>
            </a:custGeom>
            <a:noFill/>
            <a:ln w="17463">
              <a:solidFill>
                <a:srgbClr val="D44B2F"/>
              </a:solidFill>
            </a:ln>
          </p:spPr>
        </p:sp>
        <p:sp>
          <p:nvSpPr>
            <p:cNvPr id="142" name="TextBox 142"/>
            <p:cNvSpPr txBox="1"/>
            <p:nvPr/>
          </p:nvSpPr>
          <p:spPr>
            <a:xfrm>
              <a:off x="10448084" y="29170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143" name="TextBox 143"/>
            <p:cNvSpPr txBox="1"/>
            <p:nvPr/>
          </p:nvSpPr>
          <p:spPr>
            <a:xfrm>
              <a:off x="10302222" y="31465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sp>
          <p:nvSpPr>
            <p:cNvPr id="144" name="Rectangle 144"/>
            <p:cNvSpPr/>
            <p:nvPr/>
          </p:nvSpPr>
          <p:spPr>
            <a:xfrm>
              <a:off x="11077575" y="2343150"/>
              <a:ext cx="809625" cy="1066800"/>
            </a:xfrm>
            <a:prstGeom prst="roundRect">
              <a:avLst>
                <a:gd name="adj" fmla="val 7059"/>
              </a:avLst>
            </a:prstGeom>
            <a:solidFill>
              <a:srgbClr val="EAF3FE"/>
            </a:solidFill>
            <a:ln>
              <a:noFill/>
            </a:ln>
          </p:spPr>
        </p:sp>
        <p:sp>
          <p:nvSpPr>
            <p:cNvPr id="145" name="TextBox 145"/>
            <p:cNvSpPr txBox="1"/>
            <p:nvPr/>
          </p:nvSpPr>
          <p:spPr>
            <a:xfrm>
              <a:off x="11260163" y="2429589"/>
              <a:ext cx="43492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客户价值</a:t>
              </a:r>
            </a:p>
          </p:txBody>
        </p:sp>
        <p:grpSp>
          <p:nvGrpSpPr>
            <p:cNvPr id="148" name="Group 148"/>
            <p:cNvGrpSpPr/>
            <p:nvPr/>
          </p:nvGrpSpPr>
          <p:grpSpPr>
            <a:xfrm>
              <a:off x="11399044" y="2634456"/>
              <a:ext cx="157163" cy="128438"/>
              <a:chOff x="11399044" y="2634456"/>
              <a:chExt cx="157163" cy="128438"/>
            </a:xfrm>
          </p:grpSpPr>
          <p:sp>
            <p:nvSpPr>
              <p:cNvPr id="146" name="Freeform 146"/>
              <p:cNvSpPr/>
              <p:nvPr/>
            </p:nvSpPr>
            <p:spPr>
              <a:xfrm>
                <a:off x="11399044" y="2634456"/>
                <a:ext cx="157163" cy="128438"/>
              </a:xfrm>
              <a:custGeom>
                <a:avLst/>
                <a:gdLst/>
                <a:ahLst/>
                <a:cxnLst/>
                <a:rect l="l" t="t" r="r" b="b"/>
                <a:pathLst>
                  <a:path w="157163" h="128438">
                    <a:moveTo>
                      <a:pt x="26194" y="0"/>
                    </a:moveTo>
                    <a:lnTo>
                      <a:pt x="130969" y="0"/>
                    </a:lnTo>
                    <a:lnTo>
                      <a:pt x="157163" y="43656"/>
                    </a:lnTo>
                    <a:lnTo>
                      <a:pt x="82947" y="126603"/>
                    </a:lnTo>
                    <a:cubicBezTo>
                      <a:pt x="81797" y="127776"/>
                      <a:pt x="80224" y="128438"/>
                      <a:pt x="78581" y="128438"/>
                    </a:cubicBezTo>
                    <a:cubicBezTo>
                      <a:pt x="76939" y="128438"/>
                      <a:pt x="75365" y="127776"/>
                      <a:pt x="74216" y="126603"/>
                    </a:cubicBezTo>
                    <a:lnTo>
                      <a:pt x="0" y="43656"/>
                    </a:lnTo>
                    <a:lnTo>
                      <a:pt x="26194" y="0"/>
                    </a:lnTo>
                  </a:path>
                </a:pathLst>
              </a:custGeom>
              <a:noFill/>
              <a:ln w="17463">
                <a:solidFill>
                  <a:srgbClr val="D44B2F"/>
                </a:solidFill>
              </a:ln>
            </p:spPr>
          </p:sp>
          <p:sp>
            <p:nvSpPr>
              <p:cNvPr id="147" name="Freeform 147"/>
              <p:cNvSpPr/>
              <p:nvPr/>
            </p:nvSpPr>
            <p:spPr>
              <a:xfrm>
                <a:off x="11442700" y="2667635"/>
                <a:ext cx="17463" cy="27940"/>
              </a:xfrm>
              <a:custGeom>
                <a:avLst/>
                <a:gdLst/>
                <a:ahLst/>
                <a:cxnLst/>
                <a:rect l="l" t="t" r="r" b="b"/>
                <a:pathLst>
                  <a:path w="17463" h="27940">
                    <a:moveTo>
                      <a:pt x="17463" y="27940"/>
                    </a:moveTo>
                    <a:lnTo>
                      <a:pt x="0" y="8731"/>
                    </a:lnTo>
                    <a:lnTo>
                      <a:pt x="5239" y="0"/>
                    </a:lnTo>
                  </a:path>
                </a:pathLst>
              </a:custGeom>
              <a:noFill/>
              <a:ln w="17463">
                <a:solidFill>
                  <a:srgbClr val="D44B2F"/>
                </a:solidFill>
              </a:ln>
            </p:spPr>
          </p:sp>
        </p:grpSp>
        <p:sp>
          <p:nvSpPr>
            <p:cNvPr id="149" name="TextBox 149"/>
            <p:cNvSpPr txBox="1"/>
            <p:nvPr/>
          </p:nvSpPr>
          <p:spPr>
            <a:xfrm>
              <a:off x="11333909" y="29170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150" name="TextBox 150"/>
            <p:cNvSpPr txBox="1"/>
            <p:nvPr/>
          </p:nvSpPr>
          <p:spPr>
            <a:xfrm>
              <a:off x="11188047" y="31465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grpSp>
      <p:grpSp>
        <p:nvGrpSpPr>
          <p:cNvPr id="198" name="row-03"/>
          <p:cNvGrpSpPr/>
          <p:nvPr/>
        </p:nvGrpSpPr>
        <p:grpSpPr>
          <a:xfrm>
            <a:off x="1828800" y="3657600"/>
            <a:ext cx="10096500" cy="1409700"/>
            <a:chOff x="1828800" y="3657600"/>
            <a:chExt cx="10096500" cy="1409700"/>
          </a:xfrm>
        </p:grpSpPr>
        <p:sp>
          <p:nvSpPr>
            <p:cNvPr id="152" name="Rectangle 152"/>
            <p:cNvSpPr/>
            <p:nvPr/>
          </p:nvSpPr>
          <p:spPr>
            <a:xfrm>
              <a:off x="2724150" y="3676650"/>
              <a:ext cx="9201150" cy="1371600"/>
            </a:xfrm>
            <a:prstGeom prst="roundRect">
              <a:avLst>
                <a:gd name="adj" fmla="val 5556"/>
              </a:avLst>
            </a:prstGeom>
            <a:solidFill>
              <a:srgbClr val="FFFFFF"/>
            </a:solidFill>
            <a:ln w="9525">
              <a:solidFill>
                <a:srgbClr val="F7D1C9"/>
              </a:solidFill>
            </a:ln>
          </p:spPr>
        </p:sp>
        <p:sp>
          <p:nvSpPr>
            <p:cNvPr id="153" name="Freeform 153"/>
            <p:cNvSpPr/>
            <p:nvPr/>
          </p:nvSpPr>
          <p:spPr>
            <a:xfrm>
              <a:off x="1828800" y="3657600"/>
              <a:ext cx="800100" cy="1409700"/>
            </a:xfrm>
            <a:prstGeom prst="parallelogram">
              <a:avLst>
                <a:gd name="adj" fmla="val 16000"/>
              </a:avLst>
            </a:prstGeom>
            <a:solidFill>
              <a:srgbClr val="D44B2F"/>
            </a:solidFill>
            <a:ln>
              <a:noFill/>
            </a:ln>
          </p:spPr>
        </p:sp>
        <p:sp>
          <p:nvSpPr>
            <p:cNvPr id="154" name="TextBox 154"/>
            <p:cNvSpPr txBox="1"/>
            <p:nvPr/>
          </p:nvSpPr>
          <p:spPr>
            <a:xfrm>
              <a:off x="1844547" y="4239578"/>
              <a:ext cx="654307" cy="498729"/>
            </a:xfrm>
            <a:prstGeom prst="rect">
              <a:avLst/>
            </a:prstGeom>
            <a:noFill/>
            <a:ln>
              <a:noFill/>
            </a:ln>
          </p:spPr>
          <p:txBody>
            <a:bodyPr wrap="none" lIns="0" tIns="0" rIns="0" bIns="0" anchor="t" anchorCtr="0">
              <a:spAutoFit/>
            </a:bodyPr>
            <a:lstStyle/>
            <a:p>
              <a:pPr algn="ctr"/>
              <a:r>
                <a:rPr lang="zh-CN" sz="2550" b="1" dirty="0">
                  <a:solidFill>
                    <a:srgbClr val="FFFFFF"/>
                  </a:solidFill>
                  <a:latin typeface="SimSun"/>
                  <a:ea typeface="SimSun"/>
                  <a:cs typeface="SimSun"/>
                </a:rPr>
                <a:t>03​</a:t>
              </a:r>
            </a:p>
          </p:txBody>
        </p:sp>
        <p:sp>
          <p:nvSpPr>
            <p:cNvPr id="155" name="Ellipse 155"/>
            <p:cNvSpPr/>
            <p:nvPr/>
          </p:nvSpPr>
          <p:spPr>
            <a:xfrm>
              <a:off x="2943225" y="4105275"/>
              <a:ext cx="514350" cy="514350"/>
            </a:xfrm>
            <a:prstGeom prst="ellipse">
              <a:avLst/>
            </a:prstGeom>
            <a:solidFill>
              <a:srgbClr val="EAF3FE"/>
            </a:solidFill>
            <a:ln w="9525">
              <a:solidFill>
                <a:srgbClr val="E3907F"/>
              </a:solidFill>
            </a:ln>
          </p:spPr>
        </p:sp>
        <p:sp>
          <p:nvSpPr>
            <p:cNvPr id="156" name="Freeform 156"/>
            <p:cNvSpPr/>
            <p:nvPr/>
          </p:nvSpPr>
          <p:spPr>
            <a:xfrm>
              <a:off x="3111500" y="4273550"/>
              <a:ext cx="177801" cy="188913"/>
            </a:xfrm>
            <a:custGeom>
              <a:avLst/>
              <a:gdLst/>
              <a:ahLst/>
              <a:cxnLst/>
              <a:rect l="l" t="t" r="r" b="b"/>
              <a:pathLst>
                <a:path w="177801" h="188913">
                  <a:moveTo>
                    <a:pt x="0" y="0"/>
                  </a:moveTo>
                  <a:lnTo>
                    <a:pt x="177801" y="0"/>
                  </a:lnTo>
                  <a:lnTo>
                    <a:pt x="177801" y="24136"/>
                  </a:lnTo>
                  <a:cubicBezTo>
                    <a:pt x="177799" y="30030"/>
                    <a:pt x="175457" y="35683"/>
                    <a:pt x="171289" y="39850"/>
                  </a:cubicBezTo>
                  <a:lnTo>
                    <a:pt x="122238" y="88900"/>
                  </a:lnTo>
                  <a:lnTo>
                    <a:pt x="122238" y="166688"/>
                  </a:lnTo>
                  <a:lnTo>
                    <a:pt x="55563" y="188913"/>
                  </a:lnTo>
                  <a:lnTo>
                    <a:pt x="55563" y="94457"/>
                  </a:lnTo>
                  <a:lnTo>
                    <a:pt x="5779" y="39694"/>
                  </a:lnTo>
                  <a:cubicBezTo>
                    <a:pt x="2061" y="35604"/>
                    <a:pt x="1" y="30275"/>
                    <a:pt x="0" y="24748"/>
                  </a:cubicBezTo>
                  <a:lnTo>
                    <a:pt x="0" y="0"/>
                  </a:lnTo>
                </a:path>
              </a:pathLst>
            </a:custGeom>
            <a:noFill/>
            <a:ln w="22225">
              <a:solidFill>
                <a:srgbClr val="B92102"/>
              </a:solidFill>
            </a:ln>
          </p:spPr>
        </p:sp>
        <p:sp>
          <p:nvSpPr>
            <p:cNvPr id="157" name="TextBox 157"/>
            <p:cNvSpPr txBox="1"/>
            <p:nvPr/>
          </p:nvSpPr>
          <p:spPr>
            <a:xfrm>
              <a:off x="3613404" y="3890010"/>
              <a:ext cx="926592" cy="806196"/>
            </a:xfrm>
            <a:prstGeom prst="rect">
              <a:avLst/>
            </a:prstGeom>
            <a:noFill/>
            <a:ln>
              <a:noFill/>
            </a:ln>
          </p:spPr>
          <p:txBody>
            <a:bodyPr wrap="none" lIns="0" tIns="0" rIns="0" bIns="0" anchor="t" anchorCtr="0">
              <a:spAutoFit/>
            </a:bodyPr>
            <a:lstStyle/>
            <a:p>
              <a:pPr algn="l">
                <a:lnSpc>
                  <a:spcPts val="2250"/>
                </a:lnSpc>
              </a:pPr>
              <a:r>
                <a:rPr lang="zh-CN" sz="1200" b="1" dirty="0">
                  <a:solidFill>
                    <a:srgbClr val="6E1604"/>
                  </a:solidFill>
                  <a:latin typeface="+mn-lt"/>
                  <a:ea typeface="+mn-ea"/>
                  <a:cs typeface="+mn-cs"/>
                </a:rPr>
                <a:t>组织执行：</a:t>
              </a:r>
              <a:br/>
              <a:r>
                <a:rPr lang="zh-CN" sz="1200" b="1" dirty="0">
                  <a:solidFill>
                    <a:srgbClr val="6E1604"/>
                  </a:solidFill>
                  <a:latin typeface="+mn-lt"/>
                  <a:ea typeface="+mn-ea"/>
                  <a:cs typeface="+mn-cs"/>
                </a:rPr>
                <a:t>漏斗、活动、</a:t>
              </a:r>
              <a:br/>
              <a:r>
                <a:rPr lang="zh-CN" sz="1200" b="1" dirty="0">
                  <a:solidFill>
                    <a:srgbClr val="6E1604"/>
                  </a:solidFill>
                  <a:latin typeface="+mn-lt"/>
                  <a:ea typeface="+mn-ea"/>
                  <a:cs typeface="+mn-cs"/>
                </a:rPr>
                <a:t>队伍、协同</a:t>
              </a:r>
            </a:p>
          </p:txBody>
        </p:sp>
        <p:sp>
          <p:nvSpPr>
            <p:cNvPr id="158" name="Rectangle 158"/>
            <p:cNvSpPr/>
            <p:nvPr/>
          </p:nvSpPr>
          <p:spPr>
            <a:xfrm>
              <a:off x="5391150" y="3810000"/>
              <a:ext cx="2857500" cy="1123950"/>
            </a:xfrm>
            <a:prstGeom prst="roundRect">
              <a:avLst>
                <a:gd name="adj" fmla="val 5085"/>
              </a:avLst>
            </a:prstGeom>
            <a:solidFill>
              <a:srgbClr val="F2F7FE"/>
            </a:solidFill>
            <a:ln>
              <a:noFill/>
            </a:ln>
          </p:spPr>
        </p:sp>
        <p:sp>
          <p:nvSpPr>
            <p:cNvPr id="159" name="Ellipse 159"/>
            <p:cNvSpPr/>
            <p:nvPr/>
          </p:nvSpPr>
          <p:spPr>
            <a:xfrm>
              <a:off x="5500688" y="3919538"/>
              <a:ext cx="47625" cy="47625"/>
            </a:xfrm>
            <a:prstGeom prst="ellipse">
              <a:avLst/>
            </a:prstGeom>
            <a:solidFill>
              <a:srgbClr val="B92102"/>
            </a:solidFill>
            <a:ln>
              <a:noFill/>
            </a:ln>
          </p:spPr>
        </p:sp>
        <p:sp>
          <p:nvSpPr>
            <p:cNvPr id="160" name="TextBox 160"/>
            <p:cNvSpPr txBox="1"/>
            <p:nvPr/>
          </p:nvSpPr>
          <p:spPr>
            <a:xfrm>
              <a:off x="5614988" y="3897868"/>
              <a:ext cx="1578252"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漏斗管理：各环节规模与转化​</a:t>
              </a:r>
            </a:p>
          </p:txBody>
        </p:sp>
        <p:sp>
          <p:nvSpPr>
            <p:cNvPr id="161" name="Ellipse 161"/>
            <p:cNvSpPr/>
            <p:nvPr/>
          </p:nvSpPr>
          <p:spPr>
            <a:xfrm>
              <a:off x="5500688" y="4205288"/>
              <a:ext cx="47625" cy="47625"/>
            </a:xfrm>
            <a:prstGeom prst="ellipse">
              <a:avLst/>
            </a:prstGeom>
            <a:solidFill>
              <a:srgbClr val="B92102"/>
            </a:solidFill>
            <a:ln>
              <a:noFill/>
            </a:ln>
          </p:spPr>
        </p:sp>
        <p:sp>
          <p:nvSpPr>
            <p:cNvPr id="162" name="TextBox 162"/>
            <p:cNvSpPr txBox="1"/>
            <p:nvPr/>
          </p:nvSpPr>
          <p:spPr>
            <a:xfrm>
              <a:off x="5614988" y="4183618"/>
              <a:ext cx="1462479"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营销活动：活动效果与产出​</a:t>
              </a:r>
            </a:p>
          </p:txBody>
        </p:sp>
        <p:sp>
          <p:nvSpPr>
            <p:cNvPr id="163" name="Ellipse 163"/>
            <p:cNvSpPr/>
            <p:nvPr/>
          </p:nvSpPr>
          <p:spPr>
            <a:xfrm>
              <a:off x="5500688" y="4491038"/>
              <a:ext cx="47625" cy="47625"/>
            </a:xfrm>
            <a:prstGeom prst="ellipse">
              <a:avLst/>
            </a:prstGeom>
            <a:solidFill>
              <a:srgbClr val="B92102"/>
            </a:solidFill>
            <a:ln>
              <a:noFill/>
            </a:ln>
          </p:spPr>
        </p:sp>
        <p:sp>
          <p:nvSpPr>
            <p:cNvPr id="164" name="TextBox 164"/>
            <p:cNvSpPr txBox="1"/>
            <p:nvPr/>
          </p:nvSpPr>
          <p:spPr>
            <a:xfrm>
              <a:off x="5614988" y="4469368"/>
              <a:ext cx="1694025"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队伍能力：人均产能与关键能力​</a:t>
              </a:r>
            </a:p>
          </p:txBody>
        </p:sp>
        <p:sp>
          <p:nvSpPr>
            <p:cNvPr id="165" name="Ellipse 165"/>
            <p:cNvSpPr/>
            <p:nvPr/>
          </p:nvSpPr>
          <p:spPr>
            <a:xfrm>
              <a:off x="5500688" y="4776788"/>
              <a:ext cx="47625" cy="47625"/>
            </a:xfrm>
            <a:prstGeom prst="ellipse">
              <a:avLst/>
            </a:prstGeom>
            <a:solidFill>
              <a:srgbClr val="B92102"/>
            </a:solidFill>
            <a:ln>
              <a:noFill/>
            </a:ln>
          </p:spPr>
        </p:sp>
        <p:sp>
          <p:nvSpPr>
            <p:cNvPr id="166" name="TextBox 166"/>
            <p:cNvSpPr txBox="1"/>
            <p:nvPr/>
          </p:nvSpPr>
          <p:spPr>
            <a:xfrm>
              <a:off x="5614988" y="4755118"/>
              <a:ext cx="1769278"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协同效率：跨条线/跨部门协同​​​</a:t>
              </a:r>
            </a:p>
          </p:txBody>
        </p:sp>
        <p:sp>
          <p:nvSpPr>
            <p:cNvPr id="167" name="Rectangle 167"/>
            <p:cNvSpPr/>
            <p:nvPr/>
          </p:nvSpPr>
          <p:spPr>
            <a:xfrm>
              <a:off x="8420100" y="3829050"/>
              <a:ext cx="809625" cy="1066800"/>
            </a:xfrm>
            <a:prstGeom prst="roundRect">
              <a:avLst>
                <a:gd name="adj" fmla="val 7059"/>
              </a:avLst>
            </a:prstGeom>
            <a:solidFill>
              <a:srgbClr val="EAF3FE"/>
            </a:solidFill>
            <a:ln>
              <a:noFill/>
            </a:ln>
          </p:spPr>
        </p:sp>
        <p:sp>
          <p:nvSpPr>
            <p:cNvPr id="168" name="TextBox 168"/>
            <p:cNvSpPr txBox="1"/>
            <p:nvPr/>
          </p:nvSpPr>
          <p:spPr>
            <a:xfrm>
              <a:off x="8549513" y="3915489"/>
              <a:ext cx="54127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漏斗转化率</a:t>
              </a:r>
            </a:p>
          </p:txBody>
        </p:sp>
        <p:sp>
          <p:nvSpPr>
            <p:cNvPr id="169" name="Freeform 169"/>
            <p:cNvSpPr/>
            <p:nvPr/>
          </p:nvSpPr>
          <p:spPr>
            <a:xfrm>
              <a:off x="8750300" y="4111625"/>
              <a:ext cx="139700" cy="148431"/>
            </a:xfrm>
            <a:custGeom>
              <a:avLst/>
              <a:gdLst/>
              <a:ahLst/>
              <a:cxnLst/>
              <a:rect l="l" t="t" r="r" b="b"/>
              <a:pathLst>
                <a:path w="139700" h="148431">
                  <a:moveTo>
                    <a:pt x="0" y="0"/>
                  </a:moveTo>
                  <a:lnTo>
                    <a:pt x="139700" y="0"/>
                  </a:lnTo>
                  <a:lnTo>
                    <a:pt x="139700" y="18964"/>
                  </a:lnTo>
                  <a:cubicBezTo>
                    <a:pt x="139699" y="23595"/>
                    <a:pt x="137859" y="28036"/>
                    <a:pt x="134584" y="31310"/>
                  </a:cubicBezTo>
                  <a:lnTo>
                    <a:pt x="96044" y="69850"/>
                  </a:lnTo>
                  <a:lnTo>
                    <a:pt x="96044" y="130969"/>
                  </a:lnTo>
                  <a:lnTo>
                    <a:pt x="43656" y="148431"/>
                  </a:lnTo>
                  <a:lnTo>
                    <a:pt x="43656" y="74216"/>
                  </a:lnTo>
                  <a:lnTo>
                    <a:pt x="4540" y="31188"/>
                  </a:lnTo>
                  <a:cubicBezTo>
                    <a:pt x="1619" y="27974"/>
                    <a:pt x="0" y="23787"/>
                    <a:pt x="0" y="19445"/>
                  </a:cubicBezTo>
                  <a:lnTo>
                    <a:pt x="0" y="0"/>
                  </a:lnTo>
                </a:path>
              </a:pathLst>
            </a:custGeom>
            <a:noFill/>
            <a:ln w="17463">
              <a:solidFill>
                <a:srgbClr val="D44B2F"/>
              </a:solidFill>
            </a:ln>
          </p:spPr>
        </p:sp>
        <p:sp>
          <p:nvSpPr>
            <p:cNvPr id="170" name="TextBox 170"/>
            <p:cNvSpPr txBox="1"/>
            <p:nvPr/>
          </p:nvSpPr>
          <p:spPr>
            <a:xfrm>
              <a:off x="8676434" y="44029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171" name="TextBox 171"/>
            <p:cNvSpPr txBox="1"/>
            <p:nvPr/>
          </p:nvSpPr>
          <p:spPr>
            <a:xfrm>
              <a:off x="8530572" y="46324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sp>
          <p:nvSpPr>
            <p:cNvPr id="172" name="Rectangle 172"/>
            <p:cNvSpPr/>
            <p:nvPr/>
          </p:nvSpPr>
          <p:spPr>
            <a:xfrm>
              <a:off x="9305925" y="3829050"/>
              <a:ext cx="809625" cy="1066800"/>
            </a:xfrm>
            <a:prstGeom prst="roundRect">
              <a:avLst>
                <a:gd name="adj" fmla="val 7059"/>
              </a:avLst>
            </a:prstGeom>
            <a:solidFill>
              <a:srgbClr val="EAF3FE"/>
            </a:solidFill>
            <a:ln>
              <a:noFill/>
            </a:ln>
          </p:spPr>
        </p:sp>
        <p:sp>
          <p:nvSpPr>
            <p:cNvPr id="173" name="TextBox 173"/>
            <p:cNvSpPr txBox="1"/>
            <p:nvPr/>
          </p:nvSpPr>
          <p:spPr>
            <a:xfrm>
              <a:off x="9435338" y="3915489"/>
              <a:ext cx="54127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有效活动数</a:t>
              </a:r>
            </a:p>
          </p:txBody>
        </p:sp>
        <p:grpSp>
          <p:nvGrpSpPr>
            <p:cNvPr id="180" name="Group 180"/>
            <p:cNvGrpSpPr/>
            <p:nvPr/>
          </p:nvGrpSpPr>
          <p:grpSpPr>
            <a:xfrm>
              <a:off x="9636125" y="4102894"/>
              <a:ext cx="139700" cy="157162"/>
              <a:chOff x="9636125" y="4102894"/>
              <a:chExt cx="139700" cy="157162"/>
            </a:xfrm>
          </p:grpSpPr>
          <p:sp>
            <p:nvSpPr>
              <p:cNvPr id="174" name="Freeform 174"/>
              <p:cNvSpPr/>
              <p:nvPr/>
            </p:nvSpPr>
            <p:spPr>
              <a:xfrm>
                <a:off x="9636125" y="4120356"/>
                <a:ext cx="139700" cy="139700"/>
              </a:xfrm>
              <a:custGeom>
                <a:avLst/>
                <a:gdLst/>
                <a:ahLst/>
                <a:cxnLst/>
                <a:rect l="l" t="t" r="r" b="b"/>
                <a:pathLst>
                  <a:path w="139700" h="139700">
                    <a:moveTo>
                      <a:pt x="0" y="17463"/>
                    </a:moveTo>
                    <a:cubicBezTo>
                      <a:pt x="0" y="7818"/>
                      <a:pt x="7818" y="0"/>
                      <a:pt x="17463" y="0"/>
                    </a:cubicBezTo>
                    <a:lnTo>
                      <a:pt x="122238" y="0"/>
                    </a:lnTo>
                    <a:cubicBezTo>
                      <a:pt x="131882" y="0"/>
                      <a:pt x="139700" y="7818"/>
                      <a:pt x="139700" y="17463"/>
                    </a:cubicBezTo>
                    <a:lnTo>
                      <a:pt x="139700" y="122238"/>
                    </a:lnTo>
                    <a:cubicBezTo>
                      <a:pt x="139700" y="131882"/>
                      <a:pt x="131882" y="139700"/>
                      <a:pt x="122238" y="139700"/>
                    </a:cubicBezTo>
                    <a:lnTo>
                      <a:pt x="17463" y="139700"/>
                    </a:lnTo>
                    <a:cubicBezTo>
                      <a:pt x="7818" y="139700"/>
                      <a:pt x="0" y="131882"/>
                      <a:pt x="0" y="122238"/>
                    </a:cubicBezTo>
                    <a:lnTo>
                      <a:pt x="0" y="17463"/>
                    </a:lnTo>
                  </a:path>
                </a:pathLst>
              </a:custGeom>
              <a:noFill/>
              <a:ln w="17463">
                <a:solidFill>
                  <a:srgbClr val="D44B2F"/>
                </a:solidFill>
              </a:ln>
            </p:spPr>
          </p:sp>
          <p:sp>
            <p:nvSpPr>
              <p:cNvPr id="175" name="Freeform 175"/>
              <p:cNvSpPr/>
              <p:nvPr/>
            </p:nvSpPr>
            <p:spPr>
              <a:xfrm>
                <a:off x="9740900" y="4102894"/>
                <a:ext cx="9525" cy="34925"/>
              </a:xfrm>
              <a:custGeom>
                <a:avLst/>
                <a:gdLst/>
                <a:ahLst/>
                <a:cxnLst/>
                <a:rect l="l" t="t" r="r" b="b"/>
                <a:pathLst>
                  <a:path w="9525" h="34925">
                    <a:moveTo>
                      <a:pt x="0" y="0"/>
                    </a:moveTo>
                    <a:lnTo>
                      <a:pt x="0" y="34925"/>
                    </a:lnTo>
                  </a:path>
                </a:pathLst>
              </a:custGeom>
              <a:noFill/>
              <a:ln w="17463">
                <a:solidFill>
                  <a:srgbClr val="D44B2F"/>
                </a:solidFill>
              </a:ln>
            </p:spPr>
          </p:sp>
          <p:sp>
            <p:nvSpPr>
              <p:cNvPr id="176" name="Freeform 176"/>
              <p:cNvSpPr/>
              <p:nvPr/>
            </p:nvSpPr>
            <p:spPr>
              <a:xfrm>
                <a:off x="9671050" y="4102894"/>
                <a:ext cx="9525" cy="34925"/>
              </a:xfrm>
              <a:custGeom>
                <a:avLst/>
                <a:gdLst/>
                <a:ahLst/>
                <a:cxnLst/>
                <a:rect l="l" t="t" r="r" b="b"/>
                <a:pathLst>
                  <a:path w="9525" h="34925">
                    <a:moveTo>
                      <a:pt x="0" y="0"/>
                    </a:moveTo>
                    <a:lnTo>
                      <a:pt x="0" y="34925"/>
                    </a:lnTo>
                  </a:path>
                </a:pathLst>
              </a:custGeom>
              <a:noFill/>
              <a:ln w="17463">
                <a:solidFill>
                  <a:srgbClr val="D44B2F"/>
                </a:solidFill>
              </a:ln>
            </p:spPr>
          </p:sp>
          <p:sp>
            <p:nvSpPr>
              <p:cNvPr id="177" name="Freeform 177"/>
              <p:cNvSpPr/>
              <p:nvPr/>
            </p:nvSpPr>
            <p:spPr>
              <a:xfrm>
                <a:off x="9636125" y="4172744"/>
                <a:ext cx="139700" cy="9525"/>
              </a:xfrm>
              <a:custGeom>
                <a:avLst/>
                <a:gdLst/>
                <a:ahLst/>
                <a:cxnLst/>
                <a:rect l="l" t="t" r="r" b="b"/>
                <a:pathLst>
                  <a:path w="139700" h="9525">
                    <a:moveTo>
                      <a:pt x="0" y="0"/>
                    </a:moveTo>
                    <a:lnTo>
                      <a:pt x="139700" y="0"/>
                    </a:lnTo>
                  </a:path>
                </a:pathLst>
              </a:custGeom>
              <a:noFill/>
              <a:ln w="17463">
                <a:solidFill>
                  <a:srgbClr val="D44B2F"/>
                </a:solidFill>
              </a:ln>
            </p:spPr>
          </p:sp>
          <p:sp>
            <p:nvSpPr>
              <p:cNvPr id="178" name="Freeform 178"/>
              <p:cNvSpPr/>
              <p:nvPr/>
            </p:nvSpPr>
            <p:spPr>
              <a:xfrm>
                <a:off x="9697244" y="4207669"/>
                <a:ext cx="9525" cy="9525"/>
              </a:xfrm>
              <a:custGeom>
                <a:avLst/>
                <a:gdLst/>
                <a:ahLst/>
                <a:cxnLst/>
                <a:rect l="l" t="t" r="r" b="b"/>
                <a:pathLst>
                  <a:path w="9525" h="9525">
                    <a:moveTo>
                      <a:pt x="0" y="0"/>
                    </a:moveTo>
                    <a:lnTo>
                      <a:pt x="8731" y="0"/>
                    </a:lnTo>
                  </a:path>
                </a:pathLst>
              </a:custGeom>
              <a:noFill/>
              <a:ln w="17463">
                <a:solidFill>
                  <a:srgbClr val="D44B2F"/>
                </a:solidFill>
              </a:ln>
            </p:spPr>
          </p:sp>
          <p:sp>
            <p:nvSpPr>
              <p:cNvPr id="179" name="Freeform 179"/>
              <p:cNvSpPr/>
              <p:nvPr/>
            </p:nvSpPr>
            <p:spPr>
              <a:xfrm>
                <a:off x="9705975" y="4207669"/>
                <a:ext cx="9525" cy="26194"/>
              </a:xfrm>
              <a:custGeom>
                <a:avLst/>
                <a:gdLst/>
                <a:ahLst/>
                <a:cxnLst/>
                <a:rect l="l" t="t" r="r" b="b"/>
                <a:pathLst>
                  <a:path w="9525" h="26194">
                    <a:moveTo>
                      <a:pt x="0" y="0"/>
                    </a:moveTo>
                    <a:lnTo>
                      <a:pt x="0" y="26194"/>
                    </a:lnTo>
                  </a:path>
                </a:pathLst>
              </a:custGeom>
              <a:noFill/>
              <a:ln w="17463">
                <a:solidFill>
                  <a:srgbClr val="D44B2F"/>
                </a:solidFill>
              </a:ln>
            </p:spPr>
          </p:sp>
        </p:grpSp>
        <p:sp>
          <p:nvSpPr>
            <p:cNvPr id="181" name="TextBox 181"/>
            <p:cNvSpPr txBox="1"/>
            <p:nvPr/>
          </p:nvSpPr>
          <p:spPr>
            <a:xfrm>
              <a:off x="9562259" y="44029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182" name="TextBox 182"/>
            <p:cNvSpPr txBox="1"/>
            <p:nvPr/>
          </p:nvSpPr>
          <p:spPr>
            <a:xfrm>
              <a:off x="9416397" y="46324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sp>
          <p:nvSpPr>
            <p:cNvPr id="183" name="Rectangle 183"/>
            <p:cNvSpPr/>
            <p:nvPr/>
          </p:nvSpPr>
          <p:spPr>
            <a:xfrm>
              <a:off x="10191750" y="3829050"/>
              <a:ext cx="809625" cy="1066800"/>
            </a:xfrm>
            <a:prstGeom prst="roundRect">
              <a:avLst>
                <a:gd name="adj" fmla="val 7059"/>
              </a:avLst>
            </a:prstGeom>
            <a:solidFill>
              <a:srgbClr val="EAF3FE"/>
            </a:solidFill>
            <a:ln>
              <a:noFill/>
            </a:ln>
          </p:spPr>
        </p:sp>
        <p:sp>
          <p:nvSpPr>
            <p:cNvPr id="184" name="TextBox 184"/>
            <p:cNvSpPr txBox="1"/>
            <p:nvPr/>
          </p:nvSpPr>
          <p:spPr>
            <a:xfrm>
              <a:off x="10374338" y="3915489"/>
              <a:ext cx="43492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人均产能</a:t>
              </a:r>
            </a:p>
          </p:txBody>
        </p:sp>
        <p:grpSp>
          <p:nvGrpSpPr>
            <p:cNvPr id="187" name="Group 187"/>
            <p:cNvGrpSpPr/>
            <p:nvPr/>
          </p:nvGrpSpPr>
          <p:grpSpPr>
            <a:xfrm>
              <a:off x="10513219" y="4137819"/>
              <a:ext cx="157163" cy="87313"/>
              <a:chOff x="10513219" y="4137819"/>
              <a:chExt cx="157163" cy="87313"/>
            </a:xfrm>
          </p:grpSpPr>
          <p:sp>
            <p:nvSpPr>
              <p:cNvPr id="185" name="Freeform 185"/>
              <p:cNvSpPr/>
              <p:nvPr/>
            </p:nvSpPr>
            <p:spPr>
              <a:xfrm>
                <a:off x="10513219" y="413781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D44B2F"/>
                </a:solidFill>
              </a:ln>
            </p:spPr>
          </p:sp>
          <p:sp>
            <p:nvSpPr>
              <p:cNvPr id="186" name="Freeform 186"/>
              <p:cNvSpPr/>
              <p:nvPr/>
            </p:nvSpPr>
            <p:spPr>
              <a:xfrm>
                <a:off x="10609263" y="4137819"/>
                <a:ext cx="61119" cy="61119"/>
              </a:xfrm>
              <a:custGeom>
                <a:avLst/>
                <a:gdLst/>
                <a:ahLst/>
                <a:cxnLst/>
                <a:rect l="l" t="t" r="r" b="b"/>
                <a:pathLst>
                  <a:path w="61119" h="61119">
                    <a:moveTo>
                      <a:pt x="0" y="0"/>
                    </a:moveTo>
                    <a:lnTo>
                      <a:pt x="61119" y="0"/>
                    </a:lnTo>
                    <a:lnTo>
                      <a:pt x="61119" y="61119"/>
                    </a:lnTo>
                  </a:path>
                </a:pathLst>
              </a:custGeom>
              <a:noFill/>
              <a:ln w="17463">
                <a:solidFill>
                  <a:srgbClr val="D44B2F"/>
                </a:solidFill>
              </a:ln>
            </p:spPr>
          </p:sp>
        </p:grpSp>
        <p:sp>
          <p:nvSpPr>
            <p:cNvPr id="188" name="TextBox 188"/>
            <p:cNvSpPr txBox="1"/>
            <p:nvPr/>
          </p:nvSpPr>
          <p:spPr>
            <a:xfrm>
              <a:off x="10448084" y="44029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189" name="TextBox 189"/>
            <p:cNvSpPr txBox="1"/>
            <p:nvPr/>
          </p:nvSpPr>
          <p:spPr>
            <a:xfrm>
              <a:off x="10302222" y="46324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sp>
          <p:nvSpPr>
            <p:cNvPr id="190" name="Rectangle 190"/>
            <p:cNvSpPr/>
            <p:nvPr/>
          </p:nvSpPr>
          <p:spPr>
            <a:xfrm>
              <a:off x="11077575" y="3829050"/>
              <a:ext cx="809625" cy="1066800"/>
            </a:xfrm>
            <a:prstGeom prst="roundRect">
              <a:avLst>
                <a:gd name="adj" fmla="val 7059"/>
              </a:avLst>
            </a:prstGeom>
            <a:solidFill>
              <a:srgbClr val="EAF3FE"/>
            </a:solidFill>
            <a:ln>
              <a:noFill/>
            </a:ln>
          </p:spPr>
        </p:sp>
        <p:sp>
          <p:nvSpPr>
            <p:cNvPr id="191" name="TextBox 191"/>
            <p:cNvSpPr txBox="1"/>
            <p:nvPr/>
          </p:nvSpPr>
          <p:spPr>
            <a:xfrm>
              <a:off x="11206988" y="3915489"/>
              <a:ext cx="541274"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协同项目数</a:t>
              </a:r>
            </a:p>
          </p:txBody>
        </p:sp>
        <p:grpSp>
          <p:nvGrpSpPr>
            <p:cNvPr id="195" name="Group 195"/>
            <p:cNvGrpSpPr/>
            <p:nvPr/>
          </p:nvGrpSpPr>
          <p:grpSpPr>
            <a:xfrm>
              <a:off x="11416506" y="4102894"/>
              <a:ext cx="122238" cy="157162"/>
              <a:chOff x="11416506" y="4102894"/>
              <a:chExt cx="122238" cy="157162"/>
            </a:xfrm>
          </p:grpSpPr>
          <p:sp>
            <p:nvSpPr>
              <p:cNvPr id="192" name="Freeform 192"/>
              <p:cNvSpPr/>
              <p:nvPr/>
            </p:nvSpPr>
            <p:spPr>
              <a:xfrm>
                <a:off x="11416506" y="4155281"/>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D44B2F"/>
                </a:solidFill>
              </a:ln>
            </p:spPr>
          </p:sp>
          <p:sp>
            <p:nvSpPr>
              <p:cNvPr id="193" name="Freeform 193"/>
              <p:cNvSpPr/>
              <p:nvPr/>
            </p:nvSpPr>
            <p:spPr>
              <a:xfrm>
                <a:off x="11477625" y="4102894"/>
                <a:ext cx="9525" cy="96044"/>
              </a:xfrm>
              <a:custGeom>
                <a:avLst/>
                <a:gdLst/>
                <a:ahLst/>
                <a:cxnLst/>
                <a:rect l="l" t="t" r="r" b="b"/>
                <a:pathLst>
                  <a:path w="9525" h="96044">
                    <a:moveTo>
                      <a:pt x="0" y="96044"/>
                    </a:moveTo>
                    <a:lnTo>
                      <a:pt x="0" y="0"/>
                    </a:lnTo>
                  </a:path>
                </a:pathLst>
              </a:custGeom>
              <a:noFill/>
              <a:ln w="17463">
                <a:solidFill>
                  <a:srgbClr val="D44B2F"/>
                </a:solidFill>
              </a:ln>
            </p:spPr>
          </p:sp>
          <p:sp>
            <p:nvSpPr>
              <p:cNvPr id="194" name="Freeform 194"/>
              <p:cNvSpPr/>
              <p:nvPr/>
            </p:nvSpPr>
            <p:spPr>
              <a:xfrm>
                <a:off x="11451431" y="4102894"/>
                <a:ext cx="52388" cy="26194"/>
              </a:xfrm>
              <a:custGeom>
                <a:avLst/>
                <a:gdLst/>
                <a:ahLst/>
                <a:cxnLst/>
                <a:rect l="l" t="t" r="r" b="b"/>
                <a:pathLst>
                  <a:path w="52388" h="26194">
                    <a:moveTo>
                      <a:pt x="0" y="26194"/>
                    </a:moveTo>
                    <a:lnTo>
                      <a:pt x="26194" y="0"/>
                    </a:lnTo>
                    <a:lnTo>
                      <a:pt x="52388" y="26194"/>
                    </a:lnTo>
                  </a:path>
                </a:pathLst>
              </a:custGeom>
              <a:noFill/>
              <a:ln w="17463">
                <a:solidFill>
                  <a:srgbClr val="D44B2F"/>
                </a:solidFill>
              </a:ln>
            </p:spPr>
          </p:sp>
        </p:grpSp>
        <p:sp>
          <p:nvSpPr>
            <p:cNvPr id="196" name="TextBox 196"/>
            <p:cNvSpPr txBox="1"/>
            <p:nvPr/>
          </p:nvSpPr>
          <p:spPr>
            <a:xfrm>
              <a:off x="11333909" y="44029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197" name="TextBox 197"/>
            <p:cNvSpPr txBox="1"/>
            <p:nvPr/>
          </p:nvSpPr>
          <p:spPr>
            <a:xfrm>
              <a:off x="11188047" y="4632484"/>
              <a:ext cx="579156"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较上期 XX​​​</a:t>
              </a:r>
            </a:p>
          </p:txBody>
        </p:sp>
      </p:grpSp>
      <p:grpSp>
        <p:nvGrpSpPr>
          <p:cNvPr id="251" name="row-04"/>
          <p:cNvGrpSpPr/>
          <p:nvPr/>
        </p:nvGrpSpPr>
        <p:grpSpPr>
          <a:xfrm>
            <a:off x="1828800" y="5143500"/>
            <a:ext cx="10096500" cy="1409700"/>
            <a:chOff x="1828800" y="5143500"/>
            <a:chExt cx="10096500" cy="1409700"/>
          </a:xfrm>
        </p:grpSpPr>
        <p:sp>
          <p:nvSpPr>
            <p:cNvPr id="199" name="Rectangle 199"/>
            <p:cNvSpPr/>
            <p:nvPr/>
          </p:nvSpPr>
          <p:spPr>
            <a:xfrm>
              <a:off x="2724150" y="5162550"/>
              <a:ext cx="9201150" cy="1371600"/>
            </a:xfrm>
            <a:prstGeom prst="roundRect">
              <a:avLst>
                <a:gd name="adj" fmla="val 5556"/>
              </a:avLst>
            </a:prstGeom>
            <a:solidFill>
              <a:srgbClr val="FFFFFF"/>
            </a:solidFill>
            <a:ln w="9525">
              <a:solidFill>
                <a:srgbClr val="F7D1C9"/>
              </a:solidFill>
            </a:ln>
          </p:spPr>
        </p:sp>
        <p:sp>
          <p:nvSpPr>
            <p:cNvPr id="200" name="Freeform 200"/>
            <p:cNvSpPr/>
            <p:nvPr/>
          </p:nvSpPr>
          <p:spPr>
            <a:xfrm>
              <a:off x="1828800" y="5143500"/>
              <a:ext cx="800100" cy="1409700"/>
            </a:xfrm>
            <a:prstGeom prst="parallelogram">
              <a:avLst>
                <a:gd name="adj" fmla="val 16000"/>
              </a:avLst>
            </a:prstGeom>
            <a:solidFill>
              <a:srgbClr val="D44B2F"/>
            </a:solidFill>
            <a:ln>
              <a:noFill/>
            </a:ln>
          </p:spPr>
        </p:sp>
        <p:sp>
          <p:nvSpPr>
            <p:cNvPr id="201" name="TextBox 201"/>
            <p:cNvSpPr txBox="1"/>
            <p:nvPr/>
          </p:nvSpPr>
          <p:spPr>
            <a:xfrm>
              <a:off x="1844547" y="5725478"/>
              <a:ext cx="654307" cy="498729"/>
            </a:xfrm>
            <a:prstGeom prst="rect">
              <a:avLst/>
            </a:prstGeom>
            <a:noFill/>
            <a:ln>
              <a:noFill/>
            </a:ln>
          </p:spPr>
          <p:txBody>
            <a:bodyPr wrap="none" lIns="0" tIns="0" rIns="0" bIns="0" anchor="t" anchorCtr="0">
              <a:spAutoFit/>
            </a:bodyPr>
            <a:lstStyle/>
            <a:p>
              <a:pPr algn="ctr"/>
              <a:r>
                <a:rPr lang="zh-CN" sz="2550" b="1" dirty="0">
                  <a:solidFill>
                    <a:srgbClr val="FFFFFF"/>
                  </a:solidFill>
                  <a:latin typeface="SimSun"/>
                  <a:ea typeface="SimSun"/>
                  <a:cs typeface="SimSun"/>
                </a:rPr>
                <a:t>04​</a:t>
              </a:r>
            </a:p>
          </p:txBody>
        </p:sp>
        <p:sp>
          <p:nvSpPr>
            <p:cNvPr id="202" name="Ellipse 202"/>
            <p:cNvSpPr/>
            <p:nvPr/>
          </p:nvSpPr>
          <p:spPr>
            <a:xfrm>
              <a:off x="2943225" y="5591175"/>
              <a:ext cx="514350" cy="514350"/>
            </a:xfrm>
            <a:prstGeom prst="ellipse">
              <a:avLst/>
            </a:prstGeom>
            <a:solidFill>
              <a:srgbClr val="EAF3FE"/>
            </a:solidFill>
            <a:ln w="9525">
              <a:solidFill>
                <a:srgbClr val="E3907F"/>
              </a:solidFill>
            </a:ln>
          </p:spPr>
        </p:sp>
        <p:grpSp>
          <p:nvGrpSpPr>
            <p:cNvPr id="207" name="Group 207"/>
            <p:cNvGrpSpPr/>
            <p:nvPr/>
          </p:nvGrpSpPr>
          <p:grpSpPr>
            <a:xfrm>
              <a:off x="3122613" y="5759450"/>
              <a:ext cx="166687" cy="188913"/>
              <a:chOff x="3122613" y="5759450"/>
              <a:chExt cx="166687" cy="188913"/>
            </a:xfrm>
          </p:grpSpPr>
          <p:sp>
            <p:nvSpPr>
              <p:cNvPr id="203" name="Freeform 203"/>
              <p:cNvSpPr/>
              <p:nvPr/>
            </p:nvSpPr>
            <p:spPr>
              <a:xfrm>
                <a:off x="3122613" y="5759450"/>
                <a:ext cx="133350" cy="177801"/>
              </a:xfrm>
              <a:custGeom>
                <a:avLst/>
                <a:gdLst/>
                <a:ahLst/>
                <a:cxnLst/>
                <a:rect l="l" t="t" r="r" b="b"/>
                <a:pathLst>
                  <a:path w="133350" h="177801">
                    <a:moveTo>
                      <a:pt x="51284" y="177801"/>
                    </a:moveTo>
                    <a:lnTo>
                      <a:pt x="22225" y="177801"/>
                    </a:lnTo>
                    <a:cubicBezTo>
                      <a:pt x="9950" y="177801"/>
                      <a:pt x="0" y="167850"/>
                      <a:pt x="0" y="155575"/>
                    </a:cubicBezTo>
                    <a:lnTo>
                      <a:pt x="0" y="22225"/>
                    </a:lnTo>
                    <a:cubicBezTo>
                      <a:pt x="0" y="9950"/>
                      <a:pt x="9950" y="0"/>
                      <a:pt x="22225" y="0"/>
                    </a:cubicBezTo>
                    <a:lnTo>
                      <a:pt x="111125" y="0"/>
                    </a:lnTo>
                    <a:cubicBezTo>
                      <a:pt x="123400" y="0"/>
                      <a:pt x="133350" y="9950"/>
                      <a:pt x="133350" y="22225"/>
                    </a:cubicBezTo>
                    <a:lnTo>
                      <a:pt x="133350" y="111125"/>
                    </a:lnTo>
                  </a:path>
                </a:pathLst>
              </a:custGeom>
              <a:noFill/>
              <a:ln w="22225">
                <a:solidFill>
                  <a:srgbClr val="B92102"/>
                </a:solidFill>
              </a:ln>
            </p:spPr>
          </p:sp>
          <p:sp>
            <p:nvSpPr>
              <p:cNvPr id="204" name="Freeform 204"/>
              <p:cNvSpPr/>
              <p:nvPr/>
            </p:nvSpPr>
            <p:spPr>
              <a:xfrm>
                <a:off x="3222625" y="5903913"/>
                <a:ext cx="66675" cy="44450"/>
              </a:xfrm>
              <a:custGeom>
                <a:avLst/>
                <a:gdLst/>
                <a:ahLst/>
                <a:cxnLst/>
                <a:rect l="l" t="t" r="r" b="b"/>
                <a:pathLst>
                  <a:path w="66675" h="44450">
                    <a:moveTo>
                      <a:pt x="0" y="22225"/>
                    </a:moveTo>
                    <a:lnTo>
                      <a:pt x="22225" y="44450"/>
                    </a:lnTo>
                    <a:lnTo>
                      <a:pt x="66675" y="0"/>
                    </a:lnTo>
                  </a:path>
                </a:pathLst>
              </a:custGeom>
              <a:noFill/>
              <a:ln w="22225">
                <a:solidFill>
                  <a:srgbClr val="B92102"/>
                </a:solidFill>
              </a:ln>
            </p:spPr>
          </p:sp>
          <p:sp>
            <p:nvSpPr>
              <p:cNvPr id="205" name="Freeform 205"/>
              <p:cNvSpPr/>
              <p:nvPr/>
            </p:nvSpPr>
            <p:spPr>
              <a:xfrm>
                <a:off x="3167063" y="5803900"/>
                <a:ext cx="44450" cy="9525"/>
              </a:xfrm>
              <a:custGeom>
                <a:avLst/>
                <a:gdLst/>
                <a:ahLst/>
                <a:cxnLst/>
                <a:rect l="l" t="t" r="r" b="b"/>
                <a:pathLst>
                  <a:path w="44450" h="9525">
                    <a:moveTo>
                      <a:pt x="0" y="0"/>
                    </a:moveTo>
                    <a:lnTo>
                      <a:pt x="44450" y="0"/>
                    </a:lnTo>
                  </a:path>
                </a:pathLst>
              </a:custGeom>
              <a:noFill/>
              <a:ln w="22225">
                <a:solidFill>
                  <a:srgbClr val="B92102"/>
                </a:solidFill>
              </a:ln>
            </p:spPr>
          </p:sp>
          <p:sp>
            <p:nvSpPr>
              <p:cNvPr id="206" name="Freeform 206"/>
              <p:cNvSpPr/>
              <p:nvPr/>
            </p:nvSpPr>
            <p:spPr>
              <a:xfrm>
                <a:off x="3167063" y="5848350"/>
                <a:ext cx="22225" cy="9525"/>
              </a:xfrm>
              <a:custGeom>
                <a:avLst/>
                <a:gdLst/>
                <a:ahLst/>
                <a:cxnLst/>
                <a:rect l="l" t="t" r="r" b="b"/>
                <a:pathLst>
                  <a:path w="22225" h="9525">
                    <a:moveTo>
                      <a:pt x="0" y="0"/>
                    </a:moveTo>
                    <a:lnTo>
                      <a:pt x="22225" y="0"/>
                    </a:lnTo>
                  </a:path>
                </a:pathLst>
              </a:custGeom>
              <a:noFill/>
              <a:ln w="22225">
                <a:solidFill>
                  <a:srgbClr val="B92102"/>
                </a:solidFill>
              </a:ln>
            </p:spPr>
          </p:sp>
        </p:grpSp>
        <p:sp>
          <p:nvSpPr>
            <p:cNvPr id="208" name="TextBox 208"/>
            <p:cNvSpPr txBox="1"/>
            <p:nvPr/>
          </p:nvSpPr>
          <p:spPr>
            <a:xfrm>
              <a:off x="3613404" y="5375910"/>
              <a:ext cx="973836" cy="806196"/>
            </a:xfrm>
            <a:prstGeom prst="rect">
              <a:avLst/>
            </a:prstGeom>
            <a:noFill/>
            <a:ln>
              <a:noFill/>
            </a:ln>
          </p:spPr>
          <p:txBody>
            <a:bodyPr wrap="none" lIns="0" tIns="0" rIns="0" bIns="0" anchor="t" anchorCtr="0">
              <a:spAutoFit/>
            </a:bodyPr>
            <a:lstStyle/>
            <a:p>
              <a:pPr algn="l">
                <a:lnSpc>
                  <a:spcPts val="2250"/>
                </a:lnSpc>
              </a:pPr>
              <a:r>
                <a:rPr lang="zh-CN" sz="1200" b="1" dirty="0">
                  <a:solidFill>
                    <a:srgbClr val="6E1604"/>
                  </a:solidFill>
                  <a:latin typeface="+mn-lt"/>
                  <a:ea typeface="+mn-ea"/>
                  <a:cs typeface="+mn-cs"/>
                </a:rPr>
                <a:t>9月计划：​​​</a:t>
              </a:r>
              <a:br/>
              <a:r>
                <a:rPr lang="zh-CN" sz="1200" b="1" dirty="0">
                  <a:solidFill>
                    <a:srgbClr val="6E1604"/>
                  </a:solidFill>
                  <a:latin typeface="+mn-lt"/>
                  <a:ea typeface="+mn-ea"/>
                  <a:cs typeface="+mn-cs"/>
                </a:rPr>
                <a:t>目标、策略、</a:t>
              </a:r>
              <a:br/>
              <a:r>
                <a:rPr lang="zh-CN" sz="1200" b="1" dirty="0">
                  <a:solidFill>
                    <a:srgbClr val="6E1604"/>
                  </a:solidFill>
                  <a:latin typeface="+mn-lt"/>
                  <a:ea typeface="+mn-ea"/>
                  <a:cs typeface="+mn-cs"/>
                </a:rPr>
                <a:t>节奏、保障</a:t>
              </a:r>
            </a:p>
          </p:txBody>
        </p:sp>
        <p:sp>
          <p:nvSpPr>
            <p:cNvPr id="209" name="Rectangle 209"/>
            <p:cNvSpPr/>
            <p:nvPr/>
          </p:nvSpPr>
          <p:spPr>
            <a:xfrm>
              <a:off x="5391150" y="5295900"/>
              <a:ext cx="2857500" cy="1123950"/>
            </a:xfrm>
            <a:prstGeom prst="roundRect">
              <a:avLst>
                <a:gd name="adj" fmla="val 5085"/>
              </a:avLst>
            </a:prstGeom>
            <a:solidFill>
              <a:srgbClr val="F2F7FE"/>
            </a:solidFill>
            <a:ln>
              <a:noFill/>
            </a:ln>
          </p:spPr>
        </p:sp>
        <p:sp>
          <p:nvSpPr>
            <p:cNvPr id="210" name="Ellipse 210"/>
            <p:cNvSpPr/>
            <p:nvPr/>
          </p:nvSpPr>
          <p:spPr>
            <a:xfrm>
              <a:off x="5500688" y="5405438"/>
              <a:ext cx="47625" cy="47625"/>
            </a:xfrm>
            <a:prstGeom prst="ellipse">
              <a:avLst/>
            </a:prstGeom>
            <a:solidFill>
              <a:srgbClr val="B92102"/>
            </a:solidFill>
            <a:ln>
              <a:noFill/>
            </a:ln>
          </p:spPr>
        </p:sp>
        <p:sp>
          <p:nvSpPr>
            <p:cNvPr id="211" name="TextBox 211"/>
            <p:cNvSpPr txBox="1"/>
            <p:nvPr/>
          </p:nvSpPr>
          <p:spPr>
            <a:xfrm>
              <a:off x="5614988" y="5383768"/>
              <a:ext cx="1960303"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目标设定：规模/结构/质量目标​​​​​</a:t>
              </a:r>
            </a:p>
          </p:txBody>
        </p:sp>
        <p:sp>
          <p:nvSpPr>
            <p:cNvPr id="212" name="Ellipse 212"/>
            <p:cNvSpPr/>
            <p:nvPr/>
          </p:nvSpPr>
          <p:spPr>
            <a:xfrm>
              <a:off x="5500688" y="5691188"/>
              <a:ext cx="47625" cy="47625"/>
            </a:xfrm>
            <a:prstGeom prst="ellipse">
              <a:avLst/>
            </a:prstGeom>
            <a:solidFill>
              <a:srgbClr val="B92102"/>
            </a:solidFill>
            <a:ln>
              <a:noFill/>
            </a:ln>
          </p:spPr>
        </p:sp>
        <p:sp>
          <p:nvSpPr>
            <p:cNvPr id="213" name="TextBox 213"/>
            <p:cNvSpPr txBox="1"/>
            <p:nvPr/>
          </p:nvSpPr>
          <p:spPr>
            <a:xfrm>
              <a:off x="5614988" y="5669518"/>
              <a:ext cx="1694025"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策略安排：核心策略与关键动作​</a:t>
              </a:r>
            </a:p>
          </p:txBody>
        </p:sp>
        <p:sp>
          <p:nvSpPr>
            <p:cNvPr id="214" name="Ellipse 214"/>
            <p:cNvSpPr/>
            <p:nvPr/>
          </p:nvSpPr>
          <p:spPr>
            <a:xfrm>
              <a:off x="5500688" y="5976938"/>
              <a:ext cx="47625" cy="47625"/>
            </a:xfrm>
            <a:prstGeom prst="ellipse">
              <a:avLst/>
            </a:prstGeom>
            <a:solidFill>
              <a:srgbClr val="B92102"/>
            </a:solidFill>
            <a:ln>
              <a:noFill/>
            </a:ln>
          </p:spPr>
        </p:sp>
        <p:sp>
          <p:nvSpPr>
            <p:cNvPr id="215" name="TextBox 215"/>
            <p:cNvSpPr txBox="1"/>
            <p:nvPr/>
          </p:nvSpPr>
          <p:spPr>
            <a:xfrm>
              <a:off x="5614988" y="5955268"/>
              <a:ext cx="1578252"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推进节奏：阶段计划与里程碑​</a:t>
              </a:r>
            </a:p>
          </p:txBody>
        </p:sp>
        <p:sp>
          <p:nvSpPr>
            <p:cNvPr id="216" name="Ellipse 216"/>
            <p:cNvSpPr/>
            <p:nvPr/>
          </p:nvSpPr>
          <p:spPr>
            <a:xfrm>
              <a:off x="5500688" y="6262688"/>
              <a:ext cx="47625" cy="47625"/>
            </a:xfrm>
            <a:prstGeom prst="ellipse">
              <a:avLst/>
            </a:prstGeom>
            <a:solidFill>
              <a:srgbClr val="B92102"/>
            </a:solidFill>
            <a:ln>
              <a:noFill/>
            </a:ln>
          </p:spPr>
        </p:sp>
        <p:sp>
          <p:nvSpPr>
            <p:cNvPr id="217" name="TextBox 217"/>
            <p:cNvSpPr txBox="1"/>
            <p:nvPr/>
          </p:nvSpPr>
          <p:spPr>
            <a:xfrm>
              <a:off x="5614988" y="6241018"/>
              <a:ext cx="1694025"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资源保障：资源配置与支撑保障​</a:t>
              </a:r>
            </a:p>
          </p:txBody>
        </p:sp>
        <p:sp>
          <p:nvSpPr>
            <p:cNvPr id="218" name="Rectangle 218"/>
            <p:cNvSpPr/>
            <p:nvPr/>
          </p:nvSpPr>
          <p:spPr>
            <a:xfrm>
              <a:off x="8420100" y="5314950"/>
              <a:ext cx="809625" cy="1066800"/>
            </a:xfrm>
            <a:prstGeom prst="roundRect">
              <a:avLst>
                <a:gd name="adj" fmla="val 7059"/>
              </a:avLst>
            </a:prstGeom>
            <a:solidFill>
              <a:srgbClr val="EAF3FE"/>
            </a:solidFill>
            <a:ln>
              <a:noFill/>
            </a:ln>
          </p:spPr>
        </p:sp>
        <p:sp>
          <p:nvSpPr>
            <p:cNvPr id="219" name="TextBox 219"/>
            <p:cNvSpPr txBox="1"/>
            <p:nvPr/>
          </p:nvSpPr>
          <p:spPr>
            <a:xfrm>
              <a:off x="8709038" y="5401389"/>
              <a:ext cx="222225"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目标</a:t>
              </a:r>
            </a:p>
          </p:txBody>
        </p:sp>
        <p:grpSp>
          <p:nvGrpSpPr>
            <p:cNvPr id="223" name="Group 223"/>
            <p:cNvGrpSpPr/>
            <p:nvPr/>
          </p:nvGrpSpPr>
          <p:grpSpPr>
            <a:xfrm>
              <a:off x="8741569" y="5588794"/>
              <a:ext cx="157163" cy="157163"/>
              <a:chOff x="8741569" y="5588794"/>
              <a:chExt cx="157163" cy="157163"/>
            </a:xfrm>
          </p:grpSpPr>
          <p:sp>
            <p:nvSpPr>
              <p:cNvPr id="220" name="Freeform 220"/>
              <p:cNvSpPr/>
              <p:nvPr/>
            </p:nvSpPr>
            <p:spPr>
              <a:xfrm>
                <a:off x="8811419" y="565864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D44B2F"/>
                </a:solidFill>
              </a:ln>
            </p:spPr>
          </p:sp>
          <p:sp>
            <p:nvSpPr>
              <p:cNvPr id="221" name="Freeform 221"/>
              <p:cNvSpPr/>
              <p:nvPr/>
            </p:nvSpPr>
            <p:spPr>
              <a:xfrm>
                <a:off x="8776494" y="562371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D44B2F"/>
                </a:solidFill>
              </a:ln>
            </p:spPr>
          </p:sp>
          <p:sp>
            <p:nvSpPr>
              <p:cNvPr id="222" name="Freeform 222"/>
              <p:cNvSpPr/>
              <p:nvPr/>
            </p:nvSpPr>
            <p:spPr>
              <a:xfrm>
                <a:off x="8741569" y="55887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D44B2F"/>
                </a:solidFill>
              </a:ln>
            </p:spPr>
          </p:sp>
        </p:grpSp>
        <p:sp>
          <p:nvSpPr>
            <p:cNvPr id="224" name="TextBox 224"/>
            <p:cNvSpPr txBox="1"/>
            <p:nvPr/>
          </p:nvSpPr>
          <p:spPr>
            <a:xfrm>
              <a:off x="8676434" y="58888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225" name="TextBox 225"/>
            <p:cNvSpPr txBox="1"/>
            <p:nvPr/>
          </p:nvSpPr>
          <p:spPr>
            <a:xfrm>
              <a:off x="8484801" y="6118384"/>
              <a:ext cx="670697"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关键事项 XX​​​</a:t>
              </a:r>
            </a:p>
          </p:txBody>
        </p:sp>
        <p:sp>
          <p:nvSpPr>
            <p:cNvPr id="226" name="Rectangle 226"/>
            <p:cNvSpPr/>
            <p:nvPr/>
          </p:nvSpPr>
          <p:spPr>
            <a:xfrm>
              <a:off x="9305925" y="5314950"/>
              <a:ext cx="809625" cy="1066800"/>
            </a:xfrm>
            <a:prstGeom prst="roundRect">
              <a:avLst>
                <a:gd name="adj" fmla="val 7059"/>
              </a:avLst>
            </a:prstGeom>
            <a:solidFill>
              <a:srgbClr val="EAF3FE"/>
            </a:solidFill>
            <a:ln>
              <a:noFill/>
            </a:ln>
          </p:spPr>
        </p:sp>
        <p:sp>
          <p:nvSpPr>
            <p:cNvPr id="227" name="TextBox 227"/>
            <p:cNvSpPr txBox="1"/>
            <p:nvPr/>
          </p:nvSpPr>
          <p:spPr>
            <a:xfrm>
              <a:off x="9594863" y="5401389"/>
              <a:ext cx="222225"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策略</a:t>
              </a:r>
            </a:p>
          </p:txBody>
        </p:sp>
        <p:grpSp>
          <p:nvGrpSpPr>
            <p:cNvPr id="230" name="Group 230"/>
            <p:cNvGrpSpPr/>
            <p:nvPr/>
          </p:nvGrpSpPr>
          <p:grpSpPr>
            <a:xfrm>
              <a:off x="9644856" y="5589617"/>
              <a:ext cx="122238" cy="156340"/>
              <a:chOff x="9644856" y="5589617"/>
              <a:chExt cx="122238" cy="156340"/>
            </a:xfrm>
          </p:grpSpPr>
          <p:sp>
            <p:nvSpPr>
              <p:cNvPr id="228" name="Freeform 228"/>
              <p:cNvSpPr/>
              <p:nvPr/>
            </p:nvSpPr>
            <p:spPr>
              <a:xfrm>
                <a:off x="9644856" y="5589617"/>
                <a:ext cx="122238" cy="111860"/>
              </a:xfrm>
              <a:custGeom>
                <a:avLst/>
                <a:gdLst/>
                <a:ahLst/>
                <a:cxnLst/>
                <a:rect l="l" t="t" r="r" b="b"/>
                <a:pathLst>
                  <a:path w="122238" h="111860">
                    <a:moveTo>
                      <a:pt x="0" y="16639"/>
                    </a:moveTo>
                    <a:cubicBezTo>
                      <a:pt x="16975" y="0"/>
                      <a:pt x="44143" y="0"/>
                      <a:pt x="61119" y="16639"/>
                    </a:cubicBezTo>
                    <a:cubicBezTo>
                      <a:pt x="78094" y="33279"/>
                      <a:pt x="105262" y="33279"/>
                      <a:pt x="122238" y="16639"/>
                    </a:cubicBezTo>
                    <a:lnTo>
                      <a:pt x="122238" y="95221"/>
                    </a:lnTo>
                    <a:cubicBezTo>
                      <a:pt x="105262" y="111860"/>
                      <a:pt x="78094" y="111860"/>
                      <a:pt x="61119" y="95221"/>
                    </a:cubicBezTo>
                    <a:cubicBezTo>
                      <a:pt x="44143" y="78581"/>
                      <a:pt x="16975" y="78581"/>
                      <a:pt x="0" y="95221"/>
                    </a:cubicBezTo>
                    <a:lnTo>
                      <a:pt x="0" y="16639"/>
                    </a:lnTo>
                  </a:path>
                </a:pathLst>
              </a:custGeom>
              <a:noFill/>
              <a:ln w="17463">
                <a:solidFill>
                  <a:srgbClr val="D44B2F"/>
                </a:solidFill>
              </a:ln>
            </p:spPr>
          </p:sp>
          <p:sp>
            <p:nvSpPr>
              <p:cNvPr id="229" name="Freeform 229"/>
              <p:cNvSpPr/>
              <p:nvPr/>
            </p:nvSpPr>
            <p:spPr>
              <a:xfrm>
                <a:off x="9644856" y="5684838"/>
                <a:ext cx="9525" cy="61119"/>
              </a:xfrm>
              <a:custGeom>
                <a:avLst/>
                <a:gdLst/>
                <a:ahLst/>
                <a:cxnLst/>
                <a:rect l="l" t="t" r="r" b="b"/>
                <a:pathLst>
                  <a:path w="9525" h="61119">
                    <a:moveTo>
                      <a:pt x="0" y="61119"/>
                    </a:moveTo>
                    <a:lnTo>
                      <a:pt x="0" y="0"/>
                    </a:lnTo>
                  </a:path>
                </a:pathLst>
              </a:custGeom>
              <a:noFill/>
              <a:ln w="17463">
                <a:solidFill>
                  <a:srgbClr val="D44B2F"/>
                </a:solidFill>
              </a:ln>
            </p:spPr>
          </p:sp>
        </p:grpSp>
        <p:sp>
          <p:nvSpPr>
            <p:cNvPr id="231" name="TextBox 231"/>
            <p:cNvSpPr txBox="1"/>
            <p:nvPr/>
          </p:nvSpPr>
          <p:spPr>
            <a:xfrm>
              <a:off x="9562259" y="58888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232" name="TextBox 232"/>
            <p:cNvSpPr txBox="1"/>
            <p:nvPr/>
          </p:nvSpPr>
          <p:spPr>
            <a:xfrm>
              <a:off x="9370626" y="6118384"/>
              <a:ext cx="670697"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关键事项 XX​​​</a:t>
              </a:r>
            </a:p>
          </p:txBody>
        </p:sp>
        <p:sp>
          <p:nvSpPr>
            <p:cNvPr id="233" name="Rectangle 233"/>
            <p:cNvSpPr/>
            <p:nvPr/>
          </p:nvSpPr>
          <p:spPr>
            <a:xfrm>
              <a:off x="10191750" y="5314950"/>
              <a:ext cx="809625" cy="1066800"/>
            </a:xfrm>
            <a:prstGeom prst="roundRect">
              <a:avLst>
                <a:gd name="adj" fmla="val 7059"/>
              </a:avLst>
            </a:prstGeom>
            <a:solidFill>
              <a:srgbClr val="EAF3FE"/>
            </a:solidFill>
            <a:ln>
              <a:noFill/>
            </a:ln>
          </p:spPr>
        </p:sp>
        <p:sp>
          <p:nvSpPr>
            <p:cNvPr id="234" name="TextBox 234"/>
            <p:cNvSpPr txBox="1"/>
            <p:nvPr/>
          </p:nvSpPr>
          <p:spPr>
            <a:xfrm>
              <a:off x="10480688" y="5401389"/>
              <a:ext cx="222225"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节奏</a:t>
              </a:r>
            </a:p>
          </p:txBody>
        </p:sp>
        <p:grpSp>
          <p:nvGrpSpPr>
            <p:cNvPr id="241" name="Group 241"/>
            <p:cNvGrpSpPr/>
            <p:nvPr/>
          </p:nvGrpSpPr>
          <p:grpSpPr>
            <a:xfrm>
              <a:off x="10521950" y="5588794"/>
              <a:ext cx="139700" cy="157162"/>
              <a:chOff x="10521950" y="5588794"/>
              <a:chExt cx="139700" cy="157162"/>
            </a:xfrm>
          </p:grpSpPr>
          <p:sp>
            <p:nvSpPr>
              <p:cNvPr id="235" name="Freeform 235"/>
              <p:cNvSpPr/>
              <p:nvPr/>
            </p:nvSpPr>
            <p:spPr>
              <a:xfrm>
                <a:off x="10521950" y="5606256"/>
                <a:ext cx="139700" cy="139700"/>
              </a:xfrm>
              <a:custGeom>
                <a:avLst/>
                <a:gdLst/>
                <a:ahLst/>
                <a:cxnLst/>
                <a:rect l="l" t="t" r="r" b="b"/>
                <a:pathLst>
                  <a:path w="139700" h="139700">
                    <a:moveTo>
                      <a:pt x="0" y="17463"/>
                    </a:moveTo>
                    <a:cubicBezTo>
                      <a:pt x="0" y="7818"/>
                      <a:pt x="7818" y="0"/>
                      <a:pt x="17463" y="0"/>
                    </a:cubicBezTo>
                    <a:lnTo>
                      <a:pt x="122238" y="0"/>
                    </a:lnTo>
                    <a:cubicBezTo>
                      <a:pt x="131882" y="0"/>
                      <a:pt x="139700" y="7818"/>
                      <a:pt x="139700" y="17463"/>
                    </a:cubicBezTo>
                    <a:lnTo>
                      <a:pt x="139700" y="122238"/>
                    </a:lnTo>
                    <a:cubicBezTo>
                      <a:pt x="139700" y="131882"/>
                      <a:pt x="131882" y="139700"/>
                      <a:pt x="122238" y="139700"/>
                    </a:cubicBezTo>
                    <a:lnTo>
                      <a:pt x="17463" y="139700"/>
                    </a:lnTo>
                    <a:cubicBezTo>
                      <a:pt x="7818" y="139700"/>
                      <a:pt x="0" y="131882"/>
                      <a:pt x="0" y="122238"/>
                    </a:cubicBezTo>
                    <a:lnTo>
                      <a:pt x="0" y="17463"/>
                    </a:lnTo>
                  </a:path>
                </a:pathLst>
              </a:custGeom>
              <a:noFill/>
              <a:ln w="17463">
                <a:solidFill>
                  <a:srgbClr val="D44B2F"/>
                </a:solidFill>
              </a:ln>
            </p:spPr>
          </p:sp>
          <p:sp>
            <p:nvSpPr>
              <p:cNvPr id="236" name="Freeform 236"/>
              <p:cNvSpPr/>
              <p:nvPr/>
            </p:nvSpPr>
            <p:spPr>
              <a:xfrm>
                <a:off x="10626725" y="5588794"/>
                <a:ext cx="9525" cy="34925"/>
              </a:xfrm>
              <a:custGeom>
                <a:avLst/>
                <a:gdLst/>
                <a:ahLst/>
                <a:cxnLst/>
                <a:rect l="l" t="t" r="r" b="b"/>
                <a:pathLst>
                  <a:path w="9525" h="34925">
                    <a:moveTo>
                      <a:pt x="0" y="0"/>
                    </a:moveTo>
                    <a:lnTo>
                      <a:pt x="0" y="34925"/>
                    </a:lnTo>
                  </a:path>
                </a:pathLst>
              </a:custGeom>
              <a:noFill/>
              <a:ln w="17463">
                <a:solidFill>
                  <a:srgbClr val="D44B2F"/>
                </a:solidFill>
              </a:ln>
            </p:spPr>
          </p:sp>
          <p:sp>
            <p:nvSpPr>
              <p:cNvPr id="237" name="Freeform 237"/>
              <p:cNvSpPr/>
              <p:nvPr/>
            </p:nvSpPr>
            <p:spPr>
              <a:xfrm>
                <a:off x="10556875" y="5588794"/>
                <a:ext cx="9525" cy="34925"/>
              </a:xfrm>
              <a:custGeom>
                <a:avLst/>
                <a:gdLst/>
                <a:ahLst/>
                <a:cxnLst/>
                <a:rect l="l" t="t" r="r" b="b"/>
                <a:pathLst>
                  <a:path w="9525" h="34925">
                    <a:moveTo>
                      <a:pt x="0" y="0"/>
                    </a:moveTo>
                    <a:lnTo>
                      <a:pt x="0" y="34925"/>
                    </a:lnTo>
                  </a:path>
                </a:pathLst>
              </a:custGeom>
              <a:noFill/>
              <a:ln w="17463">
                <a:solidFill>
                  <a:srgbClr val="D44B2F"/>
                </a:solidFill>
              </a:ln>
            </p:spPr>
          </p:sp>
          <p:sp>
            <p:nvSpPr>
              <p:cNvPr id="238" name="Freeform 238"/>
              <p:cNvSpPr/>
              <p:nvPr/>
            </p:nvSpPr>
            <p:spPr>
              <a:xfrm>
                <a:off x="10521950" y="5658644"/>
                <a:ext cx="139700" cy="9525"/>
              </a:xfrm>
              <a:custGeom>
                <a:avLst/>
                <a:gdLst/>
                <a:ahLst/>
                <a:cxnLst/>
                <a:rect l="l" t="t" r="r" b="b"/>
                <a:pathLst>
                  <a:path w="139700" h="9525">
                    <a:moveTo>
                      <a:pt x="0" y="0"/>
                    </a:moveTo>
                    <a:lnTo>
                      <a:pt x="139700" y="0"/>
                    </a:lnTo>
                  </a:path>
                </a:pathLst>
              </a:custGeom>
              <a:noFill/>
              <a:ln w="17463">
                <a:solidFill>
                  <a:srgbClr val="D44B2F"/>
                </a:solidFill>
              </a:ln>
            </p:spPr>
          </p:sp>
          <p:sp>
            <p:nvSpPr>
              <p:cNvPr id="239" name="Freeform 239"/>
              <p:cNvSpPr/>
              <p:nvPr/>
            </p:nvSpPr>
            <p:spPr>
              <a:xfrm>
                <a:off x="10583069" y="5693569"/>
                <a:ext cx="9525" cy="9525"/>
              </a:xfrm>
              <a:custGeom>
                <a:avLst/>
                <a:gdLst/>
                <a:ahLst/>
                <a:cxnLst/>
                <a:rect l="l" t="t" r="r" b="b"/>
                <a:pathLst>
                  <a:path w="9525" h="9525">
                    <a:moveTo>
                      <a:pt x="0" y="0"/>
                    </a:moveTo>
                    <a:lnTo>
                      <a:pt x="8731" y="0"/>
                    </a:lnTo>
                  </a:path>
                </a:pathLst>
              </a:custGeom>
              <a:noFill/>
              <a:ln w="17463">
                <a:solidFill>
                  <a:srgbClr val="D44B2F"/>
                </a:solidFill>
              </a:ln>
            </p:spPr>
          </p:sp>
          <p:sp>
            <p:nvSpPr>
              <p:cNvPr id="240" name="Freeform 240"/>
              <p:cNvSpPr/>
              <p:nvPr/>
            </p:nvSpPr>
            <p:spPr>
              <a:xfrm>
                <a:off x="10591800" y="5693569"/>
                <a:ext cx="9525" cy="26194"/>
              </a:xfrm>
              <a:custGeom>
                <a:avLst/>
                <a:gdLst/>
                <a:ahLst/>
                <a:cxnLst/>
                <a:rect l="l" t="t" r="r" b="b"/>
                <a:pathLst>
                  <a:path w="9525" h="26194">
                    <a:moveTo>
                      <a:pt x="0" y="0"/>
                    </a:moveTo>
                    <a:lnTo>
                      <a:pt x="0" y="26194"/>
                    </a:lnTo>
                  </a:path>
                </a:pathLst>
              </a:custGeom>
              <a:noFill/>
              <a:ln w="17463">
                <a:solidFill>
                  <a:srgbClr val="D44B2F"/>
                </a:solidFill>
              </a:ln>
            </p:spPr>
          </p:sp>
        </p:grpSp>
        <p:sp>
          <p:nvSpPr>
            <p:cNvPr id="242" name="TextBox 242"/>
            <p:cNvSpPr txBox="1"/>
            <p:nvPr/>
          </p:nvSpPr>
          <p:spPr>
            <a:xfrm>
              <a:off x="10448084" y="58888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243" name="TextBox 243"/>
            <p:cNvSpPr txBox="1"/>
            <p:nvPr/>
          </p:nvSpPr>
          <p:spPr>
            <a:xfrm>
              <a:off x="10256451" y="6118384"/>
              <a:ext cx="670697"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关键事项 XX​​​</a:t>
              </a:r>
            </a:p>
          </p:txBody>
        </p:sp>
        <p:sp>
          <p:nvSpPr>
            <p:cNvPr id="244" name="Rectangle 244"/>
            <p:cNvSpPr/>
            <p:nvPr/>
          </p:nvSpPr>
          <p:spPr>
            <a:xfrm>
              <a:off x="11077575" y="5314950"/>
              <a:ext cx="809625" cy="1066800"/>
            </a:xfrm>
            <a:prstGeom prst="roundRect">
              <a:avLst>
                <a:gd name="adj" fmla="val 7059"/>
              </a:avLst>
            </a:prstGeom>
            <a:solidFill>
              <a:srgbClr val="EAF3FE"/>
            </a:solidFill>
            <a:ln>
              <a:noFill/>
            </a:ln>
          </p:spPr>
        </p:sp>
        <p:sp>
          <p:nvSpPr>
            <p:cNvPr id="245" name="TextBox 245"/>
            <p:cNvSpPr txBox="1"/>
            <p:nvPr/>
          </p:nvSpPr>
          <p:spPr>
            <a:xfrm>
              <a:off x="11366513" y="5401389"/>
              <a:ext cx="222225"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保障</a:t>
              </a:r>
            </a:p>
          </p:txBody>
        </p:sp>
        <p:grpSp>
          <p:nvGrpSpPr>
            <p:cNvPr id="248" name="Group 248"/>
            <p:cNvGrpSpPr/>
            <p:nvPr/>
          </p:nvGrpSpPr>
          <p:grpSpPr>
            <a:xfrm>
              <a:off x="11387260" y="5588794"/>
              <a:ext cx="170506" cy="157162"/>
              <a:chOff x="11387260" y="5588794"/>
              <a:chExt cx="170506" cy="157162"/>
            </a:xfrm>
          </p:grpSpPr>
          <p:sp>
            <p:nvSpPr>
              <p:cNvPr id="246" name="Freeform 246"/>
              <p:cNvSpPr/>
              <p:nvPr/>
            </p:nvSpPr>
            <p:spPr>
              <a:xfrm>
                <a:off x="11387260" y="558879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D44B2F"/>
                </a:solidFill>
              </a:ln>
            </p:spPr>
          </p:sp>
          <p:sp>
            <p:nvSpPr>
              <p:cNvPr id="247" name="Freeform 247"/>
              <p:cNvSpPr/>
              <p:nvPr/>
            </p:nvSpPr>
            <p:spPr>
              <a:xfrm>
                <a:off x="11503819" y="5711031"/>
                <a:ext cx="52388" cy="34925"/>
              </a:xfrm>
              <a:custGeom>
                <a:avLst/>
                <a:gdLst/>
                <a:ahLst/>
                <a:cxnLst/>
                <a:rect l="l" t="t" r="r" b="b"/>
                <a:pathLst>
                  <a:path w="52388" h="34925">
                    <a:moveTo>
                      <a:pt x="0" y="17463"/>
                    </a:moveTo>
                    <a:lnTo>
                      <a:pt x="17463" y="34925"/>
                    </a:lnTo>
                    <a:lnTo>
                      <a:pt x="52388" y="0"/>
                    </a:lnTo>
                  </a:path>
                </a:pathLst>
              </a:custGeom>
              <a:noFill/>
              <a:ln w="17463">
                <a:solidFill>
                  <a:srgbClr val="D44B2F"/>
                </a:solidFill>
              </a:ln>
            </p:spPr>
          </p:sp>
        </p:grpSp>
        <p:sp>
          <p:nvSpPr>
            <p:cNvPr id="249" name="TextBox 249"/>
            <p:cNvSpPr txBox="1"/>
            <p:nvPr/>
          </p:nvSpPr>
          <p:spPr>
            <a:xfrm>
              <a:off x="11333909" y="5888831"/>
              <a:ext cx="287432" cy="220028"/>
            </a:xfrm>
            <a:prstGeom prst="rect">
              <a:avLst/>
            </a:prstGeom>
            <a:noFill/>
            <a:ln>
              <a:noFill/>
            </a:ln>
          </p:spPr>
          <p:txBody>
            <a:bodyPr wrap="none" lIns="0" tIns="0" rIns="0" bIns="0" anchor="t" anchorCtr="0">
              <a:spAutoFit/>
            </a:bodyPr>
            <a:lstStyle/>
            <a:p>
              <a:pPr algn="ctr"/>
              <a:r>
                <a:rPr lang="en-US" sz="1120" b="1" dirty="0">
                  <a:solidFill>
                    <a:srgbClr val="6E1604"/>
                  </a:solidFill>
                  <a:latin typeface="+mn-lt"/>
                  <a:ea typeface="+mn-ea"/>
                  <a:cs typeface="+mn-cs"/>
                </a:rPr>
                <a:t>XX​</a:t>
              </a:r>
            </a:p>
          </p:txBody>
        </p:sp>
        <p:sp>
          <p:nvSpPr>
            <p:cNvPr id="250" name="TextBox 250"/>
            <p:cNvSpPr txBox="1"/>
            <p:nvPr/>
          </p:nvSpPr>
          <p:spPr>
            <a:xfrm>
              <a:off x="11142276" y="6118384"/>
              <a:ext cx="670697" cy="133350"/>
            </a:xfrm>
            <a:prstGeom prst="rect">
              <a:avLst/>
            </a:prstGeom>
            <a:noFill/>
            <a:ln>
              <a:noFill/>
            </a:ln>
          </p:spPr>
          <p:txBody>
            <a:bodyPr wrap="none" lIns="0" tIns="0" rIns="0" bIns="0" anchor="t" anchorCtr="0">
              <a:spAutoFit/>
            </a:bodyPr>
            <a:lstStyle/>
            <a:p>
              <a:pPr algn="ctr"/>
              <a:r>
                <a:rPr lang="zh-CN" sz="680" dirty="0">
                  <a:solidFill>
                    <a:srgbClr val="6B7280"/>
                  </a:solidFill>
                  <a:latin typeface="+mn-lt"/>
                  <a:ea typeface="+mn-ea"/>
                  <a:cs typeface="+mn-cs"/>
                </a:rPr>
                <a:t>关键事项 XX​​​</a:t>
              </a:r>
            </a:p>
          </p:txBody>
        </p:sp>
      </p:gr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03​</a:t>
              </a:r>
            </a:p>
          </p:txBody>
        </p:sp>
        <p:sp>
          <p:nvSpPr>
            <p:cNvPr id="4" name="TextBox 4"/>
            <p:cNvSpPr txBox="1"/>
            <p:nvPr/>
          </p:nvSpPr>
          <p:spPr>
            <a:xfrm>
              <a:off x="942594" y="151448"/>
              <a:ext cx="6090704"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8月经营全景</a:t>
              </a:r>
              <a:r>
                <a:rPr lang="zh-CN" sz="1950" b="1" dirty="0">
                  <a:solidFill>
                    <a:srgbClr val="1A1A1A"/>
                  </a:solidFill>
                  <a:latin typeface="SimSun"/>
                  <a:ea typeface="SimSun"/>
                  <a:cs typeface="SimSun"/>
                </a:rPr>
                <a:t>｜规模稳中有进，结构仍需优化​​​​</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80" name="overview-table"/>
          <p:cNvGrpSpPr/>
          <p:nvPr/>
        </p:nvGrpSpPr>
        <p:grpSpPr>
          <a:xfrm>
            <a:off x="228600" y="800100"/>
            <a:ext cx="7772400" cy="5543550"/>
            <a:chOff x="228600" y="800100"/>
            <a:chExt cx="7772400" cy="5543550"/>
          </a:xfrm>
        </p:grpSpPr>
        <p:sp>
          <p:nvSpPr>
            <p:cNvPr id="7" name="Rectangle 7"/>
            <p:cNvSpPr/>
            <p:nvPr/>
          </p:nvSpPr>
          <p:spPr>
            <a:xfrm>
              <a:off x="228600" y="800100"/>
              <a:ext cx="7772400" cy="5543550"/>
            </a:xfrm>
            <a:prstGeom prst="roundRect">
              <a:avLst>
                <a:gd name="adj" fmla="val 1375"/>
              </a:avLst>
            </a:prstGeom>
            <a:solidFill>
              <a:srgbClr val="FFFFFF"/>
            </a:solidFill>
            <a:ln w="9525">
              <a:solidFill>
                <a:srgbClr val="F7D1C9"/>
              </a:solidFill>
            </a:ln>
          </p:spPr>
        </p:sp>
        <p:sp>
          <p:nvSpPr>
            <p:cNvPr id="8" name="Freeform 8"/>
            <p:cNvSpPr/>
            <p:nvPr/>
          </p:nvSpPr>
          <p:spPr>
            <a:xfrm>
              <a:off x="228600" y="800100"/>
              <a:ext cx="7772400" cy="495300"/>
            </a:xfrm>
            <a:custGeom>
              <a:avLst/>
              <a:gdLst/>
              <a:ahLst/>
              <a:cxnLst/>
              <a:rect l="l" t="t" r="r" b="b"/>
              <a:pathLst>
                <a:path w="7772400" h="495300">
                  <a:moveTo>
                    <a:pt x="0" y="76200"/>
                  </a:moveTo>
                  <a:cubicBezTo>
                    <a:pt x="0" y="34116"/>
                    <a:pt x="34116" y="0"/>
                    <a:pt x="76200" y="0"/>
                  </a:cubicBezTo>
                  <a:lnTo>
                    <a:pt x="7696200" y="0"/>
                  </a:lnTo>
                  <a:cubicBezTo>
                    <a:pt x="7738284" y="0"/>
                    <a:pt x="7772400" y="34116"/>
                    <a:pt x="7772400" y="76200"/>
                  </a:cubicBezTo>
                  <a:lnTo>
                    <a:pt x="7772400" y="495300"/>
                  </a:lnTo>
                  <a:lnTo>
                    <a:pt x="0" y="495300"/>
                  </a:lnTo>
                  <a:close/>
                </a:path>
              </a:pathLst>
            </a:custGeom>
            <a:solidFill>
              <a:srgbClr val="B92102"/>
            </a:solidFill>
            <a:ln>
              <a:noFill/>
            </a:ln>
          </p:spPr>
        </p:sp>
        <p:sp>
          <p:nvSpPr>
            <p:cNvPr id="9" name="Line 9"/>
            <p:cNvSpPr/>
            <p:nvPr/>
          </p:nvSpPr>
          <p:spPr>
            <a:xfrm>
              <a:off x="2095500" y="876300"/>
              <a:ext cx="9525" cy="342900"/>
            </a:xfrm>
            <a:custGeom>
              <a:avLst/>
              <a:gdLst/>
              <a:ahLst/>
              <a:cxnLst/>
              <a:rect l="l" t="t" r="r" b="b"/>
              <a:pathLst>
                <a:path w="9525" h="342900">
                  <a:moveTo>
                    <a:pt x="0" y="0"/>
                  </a:moveTo>
                  <a:lnTo>
                    <a:pt x="0" y="342900"/>
                  </a:lnTo>
                </a:path>
              </a:pathLst>
            </a:custGeom>
            <a:noFill/>
            <a:ln w="9525">
              <a:solidFill>
                <a:srgbClr val="D9705B"/>
              </a:solidFill>
            </a:ln>
          </p:spPr>
        </p:sp>
        <p:sp>
          <p:nvSpPr>
            <p:cNvPr id="10" name="Line 10"/>
            <p:cNvSpPr/>
            <p:nvPr/>
          </p:nvSpPr>
          <p:spPr>
            <a:xfrm>
              <a:off x="3571875" y="876300"/>
              <a:ext cx="9525" cy="342900"/>
            </a:xfrm>
            <a:custGeom>
              <a:avLst/>
              <a:gdLst/>
              <a:ahLst/>
              <a:cxnLst/>
              <a:rect l="l" t="t" r="r" b="b"/>
              <a:pathLst>
                <a:path w="9525" h="342900">
                  <a:moveTo>
                    <a:pt x="0" y="0"/>
                  </a:moveTo>
                  <a:lnTo>
                    <a:pt x="0" y="342900"/>
                  </a:lnTo>
                </a:path>
              </a:pathLst>
            </a:custGeom>
            <a:noFill/>
            <a:ln w="9525">
              <a:solidFill>
                <a:srgbClr val="D9705B"/>
              </a:solidFill>
            </a:ln>
          </p:spPr>
        </p:sp>
        <p:sp>
          <p:nvSpPr>
            <p:cNvPr id="11" name="Line 11"/>
            <p:cNvSpPr/>
            <p:nvPr/>
          </p:nvSpPr>
          <p:spPr>
            <a:xfrm>
              <a:off x="5048250" y="876300"/>
              <a:ext cx="9525" cy="342900"/>
            </a:xfrm>
            <a:custGeom>
              <a:avLst/>
              <a:gdLst/>
              <a:ahLst/>
              <a:cxnLst/>
              <a:rect l="l" t="t" r="r" b="b"/>
              <a:pathLst>
                <a:path w="9525" h="342900">
                  <a:moveTo>
                    <a:pt x="0" y="0"/>
                  </a:moveTo>
                  <a:lnTo>
                    <a:pt x="0" y="342900"/>
                  </a:lnTo>
                </a:path>
              </a:pathLst>
            </a:custGeom>
            <a:noFill/>
            <a:ln w="9525">
              <a:solidFill>
                <a:srgbClr val="D9705B"/>
              </a:solidFill>
            </a:ln>
          </p:spPr>
        </p:sp>
        <p:sp>
          <p:nvSpPr>
            <p:cNvPr id="12" name="Line 12"/>
            <p:cNvSpPr/>
            <p:nvPr/>
          </p:nvSpPr>
          <p:spPr>
            <a:xfrm>
              <a:off x="6524625" y="876300"/>
              <a:ext cx="9525" cy="342900"/>
            </a:xfrm>
            <a:custGeom>
              <a:avLst/>
              <a:gdLst/>
              <a:ahLst/>
              <a:cxnLst/>
              <a:rect l="l" t="t" r="r" b="b"/>
              <a:pathLst>
                <a:path w="9525" h="342900">
                  <a:moveTo>
                    <a:pt x="0" y="0"/>
                  </a:moveTo>
                  <a:lnTo>
                    <a:pt x="0" y="342900"/>
                  </a:lnTo>
                </a:path>
              </a:pathLst>
            </a:custGeom>
            <a:noFill/>
            <a:ln w="9525">
              <a:solidFill>
                <a:srgbClr val="D9705B"/>
              </a:solidFill>
            </a:ln>
          </p:spPr>
        </p:sp>
        <p:sp>
          <p:nvSpPr>
            <p:cNvPr id="13" name="TextBox 13"/>
            <p:cNvSpPr txBox="1"/>
            <p:nvPr/>
          </p:nvSpPr>
          <p:spPr>
            <a:xfrm>
              <a:off x="1005561" y="9834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维度</a:t>
              </a:r>
            </a:p>
          </p:txBody>
        </p:sp>
        <p:sp>
          <p:nvSpPr>
            <p:cNvPr id="14" name="TextBox 14"/>
            <p:cNvSpPr txBox="1"/>
            <p:nvPr/>
          </p:nvSpPr>
          <p:spPr>
            <a:xfrm>
              <a:off x="2422904" y="983456"/>
              <a:ext cx="81204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8月目标​​​</a:t>
              </a:r>
            </a:p>
          </p:txBody>
        </p:sp>
        <p:sp>
          <p:nvSpPr>
            <p:cNvPr id="15" name="TextBox 15"/>
            <p:cNvSpPr txBox="1"/>
            <p:nvPr/>
          </p:nvSpPr>
          <p:spPr>
            <a:xfrm>
              <a:off x="3998036" y="983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实际完成</a:t>
              </a:r>
            </a:p>
          </p:txBody>
        </p:sp>
        <p:sp>
          <p:nvSpPr>
            <p:cNvPr id="16" name="TextBox 16"/>
            <p:cNvSpPr txBox="1"/>
            <p:nvPr/>
          </p:nvSpPr>
          <p:spPr>
            <a:xfrm>
              <a:off x="5474411" y="983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完成状态</a:t>
              </a:r>
            </a:p>
          </p:txBody>
        </p:sp>
        <p:sp>
          <p:nvSpPr>
            <p:cNvPr id="17" name="TextBox 17"/>
            <p:cNvSpPr txBox="1"/>
            <p:nvPr/>
          </p:nvSpPr>
          <p:spPr>
            <a:xfrm>
              <a:off x="6950786" y="983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关键变化</a:t>
              </a:r>
            </a:p>
          </p:txBody>
        </p:sp>
        <p:sp>
          <p:nvSpPr>
            <p:cNvPr id="18" name="Rectangle 18"/>
            <p:cNvSpPr/>
            <p:nvPr/>
          </p:nvSpPr>
          <p:spPr>
            <a:xfrm>
              <a:off x="238125" y="1295400"/>
              <a:ext cx="1857375" cy="5048250"/>
            </a:xfrm>
            <a:prstGeom prst="rect">
              <a:avLst/>
            </a:prstGeom>
            <a:solidFill>
              <a:srgbClr val="EAF3FE"/>
            </a:solidFill>
            <a:ln>
              <a:noFill/>
            </a:ln>
          </p:spPr>
        </p:sp>
        <p:sp>
          <p:nvSpPr>
            <p:cNvPr id="19" name="Line 19"/>
            <p:cNvSpPr/>
            <p:nvPr/>
          </p:nvSpPr>
          <p:spPr>
            <a:xfrm>
              <a:off x="228600" y="2305050"/>
              <a:ext cx="7772400" cy="9525"/>
            </a:xfrm>
            <a:custGeom>
              <a:avLst/>
              <a:gdLst/>
              <a:ahLst/>
              <a:cxnLst/>
              <a:rect l="l" t="t" r="r" b="b"/>
              <a:pathLst>
                <a:path w="7772400" h="9525">
                  <a:moveTo>
                    <a:pt x="0" y="0"/>
                  </a:moveTo>
                  <a:lnTo>
                    <a:pt x="7772400" y="0"/>
                  </a:lnTo>
                </a:path>
              </a:pathLst>
            </a:custGeom>
            <a:noFill/>
            <a:ln w="9525">
              <a:solidFill>
                <a:srgbClr val="DCE6F8"/>
              </a:solidFill>
            </a:ln>
          </p:spPr>
        </p:sp>
        <p:sp>
          <p:nvSpPr>
            <p:cNvPr id="20" name="Line 20"/>
            <p:cNvSpPr/>
            <p:nvPr/>
          </p:nvSpPr>
          <p:spPr>
            <a:xfrm>
              <a:off x="228600" y="3314700"/>
              <a:ext cx="7772400" cy="9525"/>
            </a:xfrm>
            <a:custGeom>
              <a:avLst/>
              <a:gdLst/>
              <a:ahLst/>
              <a:cxnLst/>
              <a:rect l="l" t="t" r="r" b="b"/>
              <a:pathLst>
                <a:path w="7772400" h="9525">
                  <a:moveTo>
                    <a:pt x="0" y="0"/>
                  </a:moveTo>
                  <a:lnTo>
                    <a:pt x="7772400" y="0"/>
                  </a:lnTo>
                </a:path>
              </a:pathLst>
            </a:custGeom>
            <a:noFill/>
            <a:ln w="9525">
              <a:solidFill>
                <a:srgbClr val="DCE6F8"/>
              </a:solidFill>
            </a:ln>
          </p:spPr>
        </p:sp>
        <p:sp>
          <p:nvSpPr>
            <p:cNvPr id="21" name="Line 21"/>
            <p:cNvSpPr/>
            <p:nvPr/>
          </p:nvSpPr>
          <p:spPr>
            <a:xfrm>
              <a:off x="228600" y="4324350"/>
              <a:ext cx="7772400" cy="9525"/>
            </a:xfrm>
            <a:custGeom>
              <a:avLst/>
              <a:gdLst/>
              <a:ahLst/>
              <a:cxnLst/>
              <a:rect l="l" t="t" r="r" b="b"/>
              <a:pathLst>
                <a:path w="7772400" h="9525">
                  <a:moveTo>
                    <a:pt x="0" y="0"/>
                  </a:moveTo>
                  <a:lnTo>
                    <a:pt x="7772400" y="0"/>
                  </a:lnTo>
                </a:path>
              </a:pathLst>
            </a:custGeom>
            <a:noFill/>
            <a:ln w="9525">
              <a:solidFill>
                <a:srgbClr val="DCE6F8"/>
              </a:solidFill>
            </a:ln>
          </p:spPr>
        </p:sp>
        <p:sp>
          <p:nvSpPr>
            <p:cNvPr id="22" name="Line 22"/>
            <p:cNvSpPr/>
            <p:nvPr/>
          </p:nvSpPr>
          <p:spPr>
            <a:xfrm>
              <a:off x="228600" y="5334000"/>
              <a:ext cx="7772400" cy="9525"/>
            </a:xfrm>
            <a:custGeom>
              <a:avLst/>
              <a:gdLst/>
              <a:ahLst/>
              <a:cxnLst/>
              <a:rect l="l" t="t" r="r" b="b"/>
              <a:pathLst>
                <a:path w="7772400" h="9525">
                  <a:moveTo>
                    <a:pt x="0" y="0"/>
                  </a:moveTo>
                  <a:lnTo>
                    <a:pt x="7772400" y="0"/>
                  </a:lnTo>
                </a:path>
              </a:pathLst>
            </a:custGeom>
            <a:noFill/>
            <a:ln w="9525">
              <a:solidFill>
                <a:srgbClr val="DCE6F8"/>
              </a:solidFill>
            </a:ln>
          </p:spPr>
        </p:sp>
        <p:sp>
          <p:nvSpPr>
            <p:cNvPr id="23" name="Line 23"/>
            <p:cNvSpPr/>
            <p:nvPr/>
          </p:nvSpPr>
          <p:spPr>
            <a:xfrm>
              <a:off x="2095500" y="1295400"/>
              <a:ext cx="9525" cy="5048250"/>
            </a:xfrm>
            <a:custGeom>
              <a:avLst/>
              <a:gdLst/>
              <a:ahLst/>
              <a:cxnLst/>
              <a:rect l="l" t="t" r="r" b="b"/>
              <a:pathLst>
                <a:path w="9525" h="5048250">
                  <a:moveTo>
                    <a:pt x="0" y="0"/>
                  </a:moveTo>
                  <a:lnTo>
                    <a:pt x="0" y="5048250"/>
                  </a:lnTo>
                </a:path>
              </a:pathLst>
            </a:custGeom>
            <a:noFill/>
            <a:ln w="9525">
              <a:solidFill>
                <a:srgbClr val="DCE6F8"/>
              </a:solidFill>
            </a:ln>
          </p:spPr>
        </p:sp>
        <p:sp>
          <p:nvSpPr>
            <p:cNvPr id="24" name="Line 24"/>
            <p:cNvSpPr/>
            <p:nvPr/>
          </p:nvSpPr>
          <p:spPr>
            <a:xfrm>
              <a:off x="3571875" y="1295400"/>
              <a:ext cx="9525" cy="5048250"/>
            </a:xfrm>
            <a:custGeom>
              <a:avLst/>
              <a:gdLst/>
              <a:ahLst/>
              <a:cxnLst/>
              <a:rect l="l" t="t" r="r" b="b"/>
              <a:pathLst>
                <a:path w="9525" h="5048250">
                  <a:moveTo>
                    <a:pt x="0" y="0"/>
                  </a:moveTo>
                  <a:lnTo>
                    <a:pt x="0" y="5048250"/>
                  </a:lnTo>
                </a:path>
              </a:pathLst>
            </a:custGeom>
            <a:noFill/>
            <a:ln w="9525">
              <a:solidFill>
                <a:srgbClr val="DCE6F8"/>
              </a:solidFill>
            </a:ln>
          </p:spPr>
        </p:sp>
        <p:sp>
          <p:nvSpPr>
            <p:cNvPr id="25" name="Line 25"/>
            <p:cNvSpPr/>
            <p:nvPr/>
          </p:nvSpPr>
          <p:spPr>
            <a:xfrm>
              <a:off x="5048250" y="1295400"/>
              <a:ext cx="9525" cy="5048250"/>
            </a:xfrm>
            <a:custGeom>
              <a:avLst/>
              <a:gdLst/>
              <a:ahLst/>
              <a:cxnLst/>
              <a:rect l="l" t="t" r="r" b="b"/>
              <a:pathLst>
                <a:path w="9525" h="5048250">
                  <a:moveTo>
                    <a:pt x="0" y="0"/>
                  </a:moveTo>
                  <a:lnTo>
                    <a:pt x="0" y="5048250"/>
                  </a:lnTo>
                </a:path>
              </a:pathLst>
            </a:custGeom>
            <a:noFill/>
            <a:ln w="9525">
              <a:solidFill>
                <a:srgbClr val="DCE6F8"/>
              </a:solidFill>
            </a:ln>
          </p:spPr>
        </p:sp>
        <p:sp>
          <p:nvSpPr>
            <p:cNvPr id="26" name="Line 26"/>
            <p:cNvSpPr/>
            <p:nvPr/>
          </p:nvSpPr>
          <p:spPr>
            <a:xfrm>
              <a:off x="6524625" y="1295400"/>
              <a:ext cx="9525" cy="5048250"/>
            </a:xfrm>
            <a:custGeom>
              <a:avLst/>
              <a:gdLst/>
              <a:ahLst/>
              <a:cxnLst/>
              <a:rect l="l" t="t" r="r" b="b"/>
              <a:pathLst>
                <a:path w="9525" h="5048250">
                  <a:moveTo>
                    <a:pt x="0" y="0"/>
                  </a:moveTo>
                  <a:lnTo>
                    <a:pt x="0" y="5048250"/>
                  </a:lnTo>
                </a:path>
              </a:pathLst>
            </a:custGeom>
            <a:noFill/>
            <a:ln w="9525">
              <a:solidFill>
                <a:srgbClr val="DCE6F8"/>
              </a:solidFill>
            </a:ln>
          </p:spPr>
        </p:sp>
        <p:grpSp>
          <p:nvGrpSpPr>
            <p:cNvPr id="38" name="row-scale"/>
            <p:cNvGrpSpPr/>
            <p:nvPr/>
          </p:nvGrpSpPr>
          <p:grpSpPr>
            <a:xfrm>
              <a:off x="540544" y="1657350"/>
              <a:ext cx="6846056" cy="308134"/>
              <a:chOff x="540544" y="1657350"/>
              <a:chExt cx="6846056" cy="308134"/>
            </a:xfrm>
          </p:grpSpPr>
          <p:grpSp>
            <p:nvGrpSpPr>
              <p:cNvPr id="31" name="Group 31"/>
              <p:cNvGrpSpPr/>
              <p:nvPr/>
            </p:nvGrpSpPr>
            <p:grpSpPr>
              <a:xfrm>
                <a:off x="540544" y="1679575"/>
                <a:ext cx="271461" cy="250824"/>
                <a:chOff x="540544" y="1679575"/>
                <a:chExt cx="271461" cy="250824"/>
              </a:xfrm>
            </p:grpSpPr>
            <p:sp>
              <p:nvSpPr>
                <p:cNvPr id="27" name="Freeform 27"/>
                <p:cNvSpPr/>
                <p:nvPr/>
              </p:nvSpPr>
              <p:spPr>
                <a:xfrm>
                  <a:off x="540544" y="1800225"/>
                  <a:ext cx="90487" cy="120650"/>
                </a:xfrm>
                <a:custGeom>
                  <a:avLst/>
                  <a:gdLst/>
                  <a:ahLst/>
                  <a:cxnLst/>
                  <a:rect l="l" t="t" r="r" b="b"/>
                  <a:pathLst>
                    <a:path w="90487" h="120650">
                      <a:moveTo>
                        <a:pt x="0" y="15081"/>
                      </a:moveTo>
                      <a:cubicBezTo>
                        <a:pt x="0" y="6752"/>
                        <a:pt x="6752" y="0"/>
                        <a:pt x="15081" y="0"/>
                      </a:cubicBezTo>
                      <a:lnTo>
                        <a:pt x="75406" y="0"/>
                      </a:lnTo>
                      <a:cubicBezTo>
                        <a:pt x="83735" y="0"/>
                        <a:pt x="90487" y="6752"/>
                        <a:pt x="90487" y="15081"/>
                      </a:cubicBezTo>
                      <a:lnTo>
                        <a:pt x="90487" y="105569"/>
                      </a:lnTo>
                      <a:cubicBezTo>
                        <a:pt x="90487" y="113898"/>
                        <a:pt x="83735" y="120650"/>
                        <a:pt x="75406" y="120650"/>
                      </a:cubicBezTo>
                      <a:lnTo>
                        <a:pt x="15081" y="120650"/>
                      </a:lnTo>
                      <a:cubicBezTo>
                        <a:pt x="6752" y="120650"/>
                        <a:pt x="0" y="113898"/>
                        <a:pt x="0" y="105569"/>
                      </a:cubicBezTo>
                      <a:lnTo>
                        <a:pt x="0" y="15081"/>
                      </a:lnTo>
                    </a:path>
                  </a:pathLst>
                </a:custGeom>
                <a:noFill/>
                <a:ln w="30162">
                  <a:solidFill>
                    <a:srgbClr val="B92102"/>
                  </a:solidFill>
                </a:ln>
              </p:spPr>
            </p:sp>
            <p:sp>
              <p:nvSpPr>
                <p:cNvPr id="28" name="Freeform 28"/>
                <p:cNvSpPr/>
                <p:nvPr/>
              </p:nvSpPr>
              <p:spPr>
                <a:xfrm>
                  <a:off x="721518" y="1739900"/>
                  <a:ext cx="90487" cy="180975"/>
                </a:xfrm>
                <a:custGeom>
                  <a:avLst/>
                  <a:gdLst/>
                  <a:ahLst/>
                  <a:cxnLst/>
                  <a:rect l="l" t="t" r="r" b="b"/>
                  <a:pathLst>
                    <a:path w="90487" h="180975">
                      <a:moveTo>
                        <a:pt x="0" y="15081"/>
                      </a:moveTo>
                      <a:cubicBezTo>
                        <a:pt x="0" y="6752"/>
                        <a:pt x="6752" y="0"/>
                        <a:pt x="15081" y="0"/>
                      </a:cubicBezTo>
                      <a:lnTo>
                        <a:pt x="75406" y="0"/>
                      </a:lnTo>
                      <a:cubicBezTo>
                        <a:pt x="83735" y="0"/>
                        <a:pt x="90487" y="6752"/>
                        <a:pt x="90487" y="15081"/>
                      </a:cubicBezTo>
                      <a:lnTo>
                        <a:pt x="90487" y="165893"/>
                      </a:lnTo>
                      <a:cubicBezTo>
                        <a:pt x="90487" y="174223"/>
                        <a:pt x="83735" y="180975"/>
                        <a:pt x="75406" y="180975"/>
                      </a:cubicBezTo>
                      <a:lnTo>
                        <a:pt x="15081" y="180975"/>
                      </a:lnTo>
                      <a:cubicBezTo>
                        <a:pt x="6752" y="180975"/>
                        <a:pt x="0" y="174223"/>
                        <a:pt x="0" y="165893"/>
                      </a:cubicBezTo>
                      <a:lnTo>
                        <a:pt x="0" y="15081"/>
                      </a:lnTo>
                    </a:path>
                  </a:pathLst>
                </a:custGeom>
                <a:noFill/>
                <a:ln w="30162">
                  <a:solidFill>
                    <a:srgbClr val="B92102"/>
                  </a:solidFill>
                </a:ln>
              </p:spPr>
            </p:sp>
            <p:sp>
              <p:nvSpPr>
                <p:cNvPr id="29" name="Freeform 29"/>
                <p:cNvSpPr/>
                <p:nvPr/>
              </p:nvSpPr>
              <p:spPr>
                <a:xfrm>
                  <a:off x="631031" y="1679575"/>
                  <a:ext cx="90487" cy="241299"/>
                </a:xfrm>
                <a:custGeom>
                  <a:avLst/>
                  <a:gdLst/>
                  <a:ahLst/>
                  <a:cxnLst/>
                  <a:rect l="l" t="t" r="r" b="b"/>
                  <a:pathLst>
                    <a:path w="90487" h="241299">
                      <a:moveTo>
                        <a:pt x="0" y="15081"/>
                      </a:moveTo>
                      <a:cubicBezTo>
                        <a:pt x="0" y="6752"/>
                        <a:pt x="6752" y="0"/>
                        <a:pt x="15081" y="0"/>
                      </a:cubicBezTo>
                      <a:lnTo>
                        <a:pt x="75406" y="0"/>
                      </a:lnTo>
                      <a:cubicBezTo>
                        <a:pt x="83735" y="0"/>
                        <a:pt x="90487" y="6752"/>
                        <a:pt x="90487" y="15081"/>
                      </a:cubicBezTo>
                      <a:lnTo>
                        <a:pt x="90487" y="226218"/>
                      </a:lnTo>
                      <a:cubicBezTo>
                        <a:pt x="90487" y="234547"/>
                        <a:pt x="83735" y="241299"/>
                        <a:pt x="75406" y="241299"/>
                      </a:cubicBezTo>
                      <a:lnTo>
                        <a:pt x="15081" y="241299"/>
                      </a:lnTo>
                      <a:cubicBezTo>
                        <a:pt x="6752" y="241299"/>
                        <a:pt x="0" y="234547"/>
                        <a:pt x="0" y="226218"/>
                      </a:cubicBezTo>
                      <a:lnTo>
                        <a:pt x="0" y="15081"/>
                      </a:lnTo>
                    </a:path>
                  </a:pathLst>
                </a:custGeom>
                <a:noFill/>
                <a:ln w="30162">
                  <a:solidFill>
                    <a:srgbClr val="B92102"/>
                  </a:solidFill>
                </a:ln>
              </p:spPr>
            </p:sp>
            <p:sp>
              <p:nvSpPr>
                <p:cNvPr id="30" name="Freeform 30"/>
                <p:cNvSpPr/>
                <p:nvPr/>
              </p:nvSpPr>
              <p:spPr>
                <a:xfrm>
                  <a:off x="555625" y="1920874"/>
                  <a:ext cx="211137" cy="9525"/>
                </a:xfrm>
                <a:custGeom>
                  <a:avLst/>
                  <a:gdLst/>
                  <a:ahLst/>
                  <a:cxnLst/>
                  <a:rect l="l" t="t" r="r" b="b"/>
                  <a:pathLst>
                    <a:path w="211137" h="9525">
                      <a:moveTo>
                        <a:pt x="0" y="0"/>
                      </a:moveTo>
                      <a:lnTo>
                        <a:pt x="211137" y="0"/>
                      </a:lnTo>
                    </a:path>
                  </a:pathLst>
                </a:custGeom>
                <a:noFill/>
                <a:ln w="30162">
                  <a:solidFill>
                    <a:srgbClr val="B92102"/>
                  </a:solidFill>
                </a:ln>
              </p:spPr>
            </p:sp>
          </p:grpSp>
          <p:sp>
            <p:nvSpPr>
              <p:cNvPr id="32" name="TextBox 32"/>
              <p:cNvSpPr txBox="1"/>
              <p:nvPr/>
            </p:nvSpPr>
            <p:spPr>
              <a:xfrm>
                <a:off x="1022985" y="1745456"/>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业务规模</a:t>
                </a:r>
              </a:p>
            </p:txBody>
          </p:sp>
          <p:sp>
            <p:nvSpPr>
              <p:cNvPr id="33" name="TextBox 33"/>
              <p:cNvSpPr txBox="1"/>
              <p:nvPr/>
            </p:nvSpPr>
            <p:spPr>
              <a:xfrm>
                <a:off x="2700376" y="174402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34" name="TextBox 34"/>
              <p:cNvSpPr txBox="1"/>
              <p:nvPr/>
            </p:nvSpPr>
            <p:spPr>
              <a:xfrm>
                <a:off x="4176751" y="174402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35" name="Rectangle 35"/>
              <p:cNvSpPr/>
              <p:nvPr/>
            </p:nvSpPr>
            <p:spPr>
              <a:xfrm>
                <a:off x="5495925" y="1657350"/>
                <a:ext cx="571500" cy="285750"/>
              </a:xfrm>
              <a:prstGeom prst="roundRect">
                <a:avLst>
                  <a:gd name="adj" fmla="val 16667"/>
                </a:avLst>
              </a:prstGeom>
              <a:solidFill>
                <a:srgbClr val="FDCCC2"/>
              </a:solidFill>
              <a:ln w="9525">
                <a:solidFill>
                  <a:srgbClr val="E3907F"/>
                </a:solidFill>
              </a:ln>
            </p:spPr>
          </p:sp>
          <p:sp>
            <p:nvSpPr>
              <p:cNvPr id="36" name="TextBox 36"/>
              <p:cNvSpPr txBox="1"/>
              <p:nvPr/>
            </p:nvSpPr>
            <p:spPr>
              <a:xfrm>
                <a:off x="5644794" y="1752124"/>
                <a:ext cx="273761" cy="190690"/>
              </a:xfrm>
              <a:prstGeom prst="rect">
                <a:avLst/>
              </a:prstGeom>
              <a:noFill/>
              <a:ln>
                <a:noFill/>
              </a:ln>
            </p:spPr>
            <p:txBody>
              <a:bodyPr wrap="none" lIns="0" tIns="0" rIns="0" bIns="0" anchor="t" anchorCtr="0">
                <a:spAutoFit/>
              </a:bodyPr>
              <a:lstStyle/>
              <a:p>
                <a:pPr algn="ctr"/>
                <a:r>
                  <a:rPr lang="zh-CN" sz="980" b="1" dirty="0">
                    <a:solidFill>
                      <a:srgbClr val="B92102"/>
                    </a:solidFill>
                    <a:latin typeface="+mn-lt"/>
                    <a:ea typeface="+mn-ea"/>
                    <a:cs typeface="+mn-cs"/>
                  </a:rPr>
                  <a:t>达成</a:t>
                </a:r>
              </a:p>
            </p:txBody>
          </p:sp>
          <p:sp>
            <p:nvSpPr>
              <p:cNvPr id="37" name="TextBox 37"/>
              <p:cNvSpPr txBox="1"/>
              <p:nvPr/>
            </p:nvSpPr>
            <p:spPr>
              <a:xfrm>
                <a:off x="7129501" y="174402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grpSp>
        <p:grpSp>
          <p:nvGrpSpPr>
            <p:cNvPr id="49" name="row-customer"/>
            <p:cNvGrpSpPr/>
            <p:nvPr/>
          </p:nvGrpSpPr>
          <p:grpSpPr>
            <a:xfrm>
              <a:off x="585787" y="2667000"/>
              <a:ext cx="6800813" cy="308134"/>
              <a:chOff x="585787" y="2667000"/>
              <a:chExt cx="6800813" cy="308134"/>
            </a:xfrm>
          </p:grpSpPr>
          <p:grpSp>
            <p:nvGrpSpPr>
              <p:cNvPr id="42" name="Group 42"/>
              <p:cNvGrpSpPr/>
              <p:nvPr/>
            </p:nvGrpSpPr>
            <p:grpSpPr>
              <a:xfrm>
                <a:off x="585787" y="2674144"/>
                <a:ext cx="226218" cy="271462"/>
                <a:chOff x="585787" y="2674144"/>
                <a:chExt cx="226218" cy="271462"/>
              </a:xfrm>
            </p:grpSpPr>
            <p:sp>
              <p:nvSpPr>
                <p:cNvPr id="39" name="Freeform 39"/>
                <p:cNvSpPr/>
                <p:nvPr/>
              </p:nvSpPr>
              <p:spPr>
                <a:xfrm>
                  <a:off x="615950" y="2674144"/>
                  <a:ext cx="120650" cy="120650"/>
                </a:xfrm>
                <a:custGeom>
                  <a:avLst/>
                  <a:gdLst/>
                  <a:ahLst/>
                  <a:cxnLst/>
                  <a:rect l="l" t="t" r="r" b="b"/>
                  <a:pathLst>
                    <a:path w="120650" h="120650">
                      <a:moveTo>
                        <a:pt x="0" y="60325"/>
                      </a:moveTo>
                      <a:cubicBezTo>
                        <a:pt x="0" y="93641"/>
                        <a:pt x="27008" y="120650"/>
                        <a:pt x="60325" y="120650"/>
                      </a:cubicBezTo>
                      <a:cubicBezTo>
                        <a:pt x="93641" y="120650"/>
                        <a:pt x="120650" y="93641"/>
                        <a:pt x="120650" y="60325"/>
                      </a:cubicBezTo>
                      <a:cubicBezTo>
                        <a:pt x="120650" y="27008"/>
                        <a:pt x="93641" y="0"/>
                        <a:pt x="60325" y="0"/>
                      </a:cubicBezTo>
                      <a:cubicBezTo>
                        <a:pt x="27008" y="0"/>
                        <a:pt x="0" y="27008"/>
                        <a:pt x="0" y="60325"/>
                      </a:cubicBezTo>
                    </a:path>
                  </a:pathLst>
                </a:custGeom>
                <a:noFill/>
                <a:ln w="30162">
                  <a:solidFill>
                    <a:srgbClr val="B92102"/>
                  </a:solidFill>
                </a:ln>
              </p:spPr>
            </p:sp>
            <p:sp>
              <p:nvSpPr>
                <p:cNvPr id="40" name="Freeform 40"/>
                <p:cNvSpPr/>
                <p:nvPr/>
              </p:nvSpPr>
              <p:spPr>
                <a:xfrm>
                  <a:off x="585787" y="2855118"/>
                  <a:ext cx="120650" cy="90487"/>
                </a:xfrm>
                <a:custGeom>
                  <a:avLst/>
                  <a:gdLst/>
                  <a:ahLst/>
                  <a:cxnLst/>
                  <a:rect l="l" t="t" r="r" b="b"/>
                  <a:pathLst>
                    <a:path w="120650" h="90487">
                      <a:moveTo>
                        <a:pt x="0" y="90487"/>
                      </a:moveTo>
                      <a:lnTo>
                        <a:pt x="0" y="60325"/>
                      </a:lnTo>
                      <a:cubicBezTo>
                        <a:pt x="0" y="27008"/>
                        <a:pt x="27008" y="0"/>
                        <a:pt x="60325" y="0"/>
                      </a:cubicBezTo>
                      <a:lnTo>
                        <a:pt x="120650" y="0"/>
                      </a:lnTo>
                    </a:path>
                  </a:pathLst>
                </a:custGeom>
                <a:noFill/>
                <a:ln w="30162">
                  <a:solidFill>
                    <a:srgbClr val="B92102"/>
                  </a:solidFill>
                </a:ln>
              </p:spPr>
            </p:sp>
            <p:sp>
              <p:nvSpPr>
                <p:cNvPr id="41" name="Freeform 41"/>
                <p:cNvSpPr/>
                <p:nvPr/>
              </p:nvSpPr>
              <p:spPr>
                <a:xfrm>
                  <a:off x="721518" y="2885281"/>
                  <a:ext cx="90487" cy="60325"/>
                </a:xfrm>
                <a:custGeom>
                  <a:avLst/>
                  <a:gdLst/>
                  <a:ahLst/>
                  <a:cxnLst/>
                  <a:rect l="l" t="t" r="r" b="b"/>
                  <a:pathLst>
                    <a:path w="90487" h="60325">
                      <a:moveTo>
                        <a:pt x="0" y="30162"/>
                      </a:moveTo>
                      <a:lnTo>
                        <a:pt x="30162" y="60325"/>
                      </a:lnTo>
                      <a:lnTo>
                        <a:pt x="90487" y="0"/>
                      </a:lnTo>
                    </a:path>
                  </a:pathLst>
                </a:custGeom>
                <a:noFill/>
                <a:ln w="30162">
                  <a:solidFill>
                    <a:srgbClr val="B92102"/>
                  </a:solidFill>
                </a:ln>
              </p:spPr>
            </p:sp>
          </p:grpSp>
          <p:sp>
            <p:nvSpPr>
              <p:cNvPr id="43" name="TextBox 43"/>
              <p:cNvSpPr txBox="1"/>
              <p:nvPr/>
            </p:nvSpPr>
            <p:spPr>
              <a:xfrm>
                <a:off x="1022985" y="2755106"/>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客户增长</a:t>
                </a:r>
              </a:p>
            </p:txBody>
          </p:sp>
          <p:sp>
            <p:nvSpPr>
              <p:cNvPr id="44" name="TextBox 44"/>
              <p:cNvSpPr txBox="1"/>
              <p:nvPr/>
            </p:nvSpPr>
            <p:spPr>
              <a:xfrm>
                <a:off x="2700376" y="275367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45" name="TextBox 45"/>
              <p:cNvSpPr txBox="1"/>
              <p:nvPr/>
            </p:nvSpPr>
            <p:spPr>
              <a:xfrm>
                <a:off x="4176751" y="275367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46" name="Rectangle 46"/>
              <p:cNvSpPr/>
              <p:nvPr/>
            </p:nvSpPr>
            <p:spPr>
              <a:xfrm>
                <a:off x="5495925" y="2667000"/>
                <a:ext cx="571500" cy="285750"/>
              </a:xfrm>
              <a:prstGeom prst="roundRect">
                <a:avLst>
                  <a:gd name="adj" fmla="val 16667"/>
                </a:avLst>
              </a:prstGeom>
              <a:solidFill>
                <a:srgbClr val="FDCCC2"/>
              </a:solidFill>
              <a:ln w="9525">
                <a:solidFill>
                  <a:srgbClr val="E3907F"/>
                </a:solidFill>
              </a:ln>
            </p:spPr>
          </p:sp>
          <p:sp>
            <p:nvSpPr>
              <p:cNvPr id="47" name="TextBox 47"/>
              <p:cNvSpPr txBox="1"/>
              <p:nvPr/>
            </p:nvSpPr>
            <p:spPr>
              <a:xfrm>
                <a:off x="5644794" y="2761774"/>
                <a:ext cx="273761" cy="190690"/>
              </a:xfrm>
              <a:prstGeom prst="rect">
                <a:avLst/>
              </a:prstGeom>
              <a:noFill/>
              <a:ln>
                <a:noFill/>
              </a:ln>
            </p:spPr>
            <p:txBody>
              <a:bodyPr wrap="none" lIns="0" tIns="0" rIns="0" bIns="0" anchor="t" anchorCtr="0">
                <a:spAutoFit/>
              </a:bodyPr>
              <a:lstStyle/>
              <a:p>
                <a:pPr algn="ctr"/>
                <a:r>
                  <a:rPr lang="zh-CN" sz="980" b="1" dirty="0">
                    <a:solidFill>
                      <a:srgbClr val="B92102"/>
                    </a:solidFill>
                    <a:latin typeface="+mn-lt"/>
                    <a:ea typeface="+mn-ea"/>
                    <a:cs typeface="+mn-cs"/>
                  </a:rPr>
                  <a:t>达成</a:t>
                </a:r>
              </a:p>
            </p:txBody>
          </p:sp>
          <p:sp>
            <p:nvSpPr>
              <p:cNvPr id="48" name="TextBox 48"/>
              <p:cNvSpPr txBox="1"/>
              <p:nvPr/>
            </p:nvSpPr>
            <p:spPr>
              <a:xfrm>
                <a:off x="7129501" y="275367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grpSp>
        <p:grpSp>
          <p:nvGrpSpPr>
            <p:cNvPr id="59" name="row-product"/>
            <p:cNvGrpSpPr/>
            <p:nvPr/>
          </p:nvGrpSpPr>
          <p:grpSpPr>
            <a:xfrm>
              <a:off x="536340" y="3676650"/>
              <a:ext cx="6850260" cy="308134"/>
              <a:chOff x="536340" y="3676650"/>
              <a:chExt cx="6850260" cy="308134"/>
            </a:xfrm>
          </p:grpSpPr>
          <p:grpSp>
            <p:nvGrpSpPr>
              <p:cNvPr id="52" name="Group 52"/>
              <p:cNvGrpSpPr/>
              <p:nvPr/>
            </p:nvGrpSpPr>
            <p:grpSpPr>
              <a:xfrm>
                <a:off x="536340" y="3686387"/>
                <a:ext cx="272649" cy="273072"/>
                <a:chOff x="536340" y="3686387"/>
                <a:chExt cx="272649" cy="273072"/>
              </a:xfrm>
            </p:grpSpPr>
            <p:sp>
              <p:nvSpPr>
                <p:cNvPr id="50" name="Freeform 50"/>
                <p:cNvSpPr/>
                <p:nvPr/>
              </p:nvSpPr>
              <p:spPr>
                <a:xfrm>
                  <a:off x="536340" y="3686387"/>
                  <a:ext cx="272649" cy="273072"/>
                </a:xfrm>
                <a:custGeom>
                  <a:avLst/>
                  <a:gdLst/>
                  <a:ahLst/>
                  <a:cxnLst/>
                  <a:rect l="l" t="t" r="r" b="b"/>
                  <a:pathLst>
                    <a:path w="272649" h="273072">
                      <a:moveTo>
                        <a:pt x="109772" y="423"/>
                      </a:moveTo>
                      <a:cubicBezTo>
                        <a:pt x="44471" y="15561"/>
                        <a:pt x="0" y="76104"/>
                        <a:pt x="5085" y="142944"/>
                      </a:cubicBezTo>
                      <a:cubicBezTo>
                        <a:pt x="10170" y="209784"/>
                        <a:pt x="63288" y="262902"/>
                        <a:pt x="130128" y="267987"/>
                      </a:cubicBezTo>
                      <a:cubicBezTo>
                        <a:pt x="196968" y="273072"/>
                        <a:pt x="257511" y="228602"/>
                        <a:pt x="272649" y="163300"/>
                      </a:cubicBezTo>
                      <a:cubicBezTo>
                        <a:pt x="272649" y="154971"/>
                        <a:pt x="265897" y="148219"/>
                        <a:pt x="257568" y="148219"/>
                      </a:cubicBezTo>
                      <a:lnTo>
                        <a:pt x="155016" y="148219"/>
                      </a:lnTo>
                      <a:cubicBezTo>
                        <a:pt x="138358" y="148219"/>
                        <a:pt x="124854" y="134715"/>
                        <a:pt x="124854" y="118056"/>
                      </a:cubicBezTo>
                      <a:lnTo>
                        <a:pt x="124854" y="12488"/>
                      </a:lnTo>
                      <a:cubicBezTo>
                        <a:pt x="124475" y="8879"/>
                        <a:pt x="122667" y="5572"/>
                        <a:pt x="119833" y="3305"/>
                      </a:cubicBezTo>
                      <a:cubicBezTo>
                        <a:pt x="117000" y="1038"/>
                        <a:pt x="113376" y="0"/>
                        <a:pt x="109772" y="423"/>
                      </a:cubicBezTo>
                    </a:path>
                  </a:pathLst>
                </a:custGeom>
                <a:noFill/>
                <a:ln w="30162">
                  <a:solidFill>
                    <a:srgbClr val="B92102"/>
                  </a:solidFill>
                </a:ln>
              </p:spPr>
            </p:sp>
            <p:sp>
              <p:nvSpPr>
                <p:cNvPr id="51" name="Freeform 51"/>
                <p:cNvSpPr/>
                <p:nvPr/>
              </p:nvSpPr>
              <p:spPr>
                <a:xfrm>
                  <a:off x="721518" y="3691334"/>
                  <a:ext cx="82947" cy="82947"/>
                </a:xfrm>
                <a:custGeom>
                  <a:avLst/>
                  <a:gdLst/>
                  <a:ahLst/>
                  <a:cxnLst/>
                  <a:rect l="l" t="t" r="r" b="b"/>
                  <a:pathLst>
                    <a:path w="82947" h="82947">
                      <a:moveTo>
                        <a:pt x="0" y="0"/>
                      </a:moveTo>
                      <a:cubicBezTo>
                        <a:pt x="38786" y="13657"/>
                        <a:pt x="69290" y="44161"/>
                        <a:pt x="82947" y="82947"/>
                      </a:cubicBezTo>
                      <a:lnTo>
                        <a:pt x="15081" y="82947"/>
                      </a:lnTo>
                      <a:cubicBezTo>
                        <a:pt x="6752" y="82947"/>
                        <a:pt x="0" y="76195"/>
                        <a:pt x="0" y="67865"/>
                      </a:cubicBezTo>
                      <a:lnTo>
                        <a:pt x="0" y="0"/>
                      </a:lnTo>
                    </a:path>
                  </a:pathLst>
                </a:custGeom>
                <a:noFill/>
                <a:ln w="30162">
                  <a:solidFill>
                    <a:srgbClr val="B92102"/>
                  </a:solidFill>
                </a:ln>
              </p:spPr>
            </p:sp>
          </p:grpSp>
          <p:sp>
            <p:nvSpPr>
              <p:cNvPr id="53" name="TextBox 53"/>
              <p:cNvSpPr txBox="1"/>
              <p:nvPr/>
            </p:nvSpPr>
            <p:spPr>
              <a:xfrm>
                <a:off x="1022985" y="3764756"/>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产品渗透</a:t>
                </a:r>
              </a:p>
            </p:txBody>
          </p:sp>
          <p:sp>
            <p:nvSpPr>
              <p:cNvPr id="54" name="TextBox 54"/>
              <p:cNvSpPr txBox="1"/>
              <p:nvPr/>
            </p:nvSpPr>
            <p:spPr>
              <a:xfrm>
                <a:off x="2700376" y="376332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55" name="TextBox 55"/>
              <p:cNvSpPr txBox="1"/>
              <p:nvPr/>
            </p:nvSpPr>
            <p:spPr>
              <a:xfrm>
                <a:off x="4176751" y="376332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56" name="Rectangle 56"/>
              <p:cNvSpPr/>
              <p:nvPr/>
            </p:nvSpPr>
            <p:spPr>
              <a:xfrm>
                <a:off x="5495925" y="3676650"/>
                <a:ext cx="571500" cy="285750"/>
              </a:xfrm>
              <a:prstGeom prst="roundRect">
                <a:avLst>
                  <a:gd name="adj" fmla="val 16667"/>
                </a:avLst>
              </a:prstGeom>
              <a:solidFill>
                <a:srgbClr val="FDCCC2"/>
              </a:solidFill>
              <a:ln w="9525">
                <a:solidFill>
                  <a:srgbClr val="E3907F"/>
                </a:solidFill>
              </a:ln>
            </p:spPr>
          </p:sp>
          <p:sp>
            <p:nvSpPr>
              <p:cNvPr id="57" name="TextBox 57"/>
              <p:cNvSpPr txBox="1"/>
              <p:nvPr/>
            </p:nvSpPr>
            <p:spPr>
              <a:xfrm>
                <a:off x="5644794" y="3771424"/>
                <a:ext cx="273761" cy="190690"/>
              </a:xfrm>
              <a:prstGeom prst="rect">
                <a:avLst/>
              </a:prstGeom>
              <a:noFill/>
              <a:ln>
                <a:noFill/>
              </a:ln>
            </p:spPr>
            <p:txBody>
              <a:bodyPr wrap="none" lIns="0" tIns="0" rIns="0" bIns="0" anchor="t" anchorCtr="0">
                <a:spAutoFit/>
              </a:bodyPr>
              <a:lstStyle/>
              <a:p>
                <a:pPr algn="ctr"/>
                <a:r>
                  <a:rPr lang="zh-CN" sz="980" b="1" dirty="0">
                    <a:solidFill>
                      <a:srgbClr val="B92102"/>
                    </a:solidFill>
                    <a:latin typeface="+mn-lt"/>
                    <a:ea typeface="+mn-ea"/>
                    <a:cs typeface="+mn-cs"/>
                  </a:rPr>
                  <a:t>承压</a:t>
                </a:r>
              </a:p>
            </p:txBody>
          </p:sp>
          <p:sp>
            <p:nvSpPr>
              <p:cNvPr id="58" name="TextBox 58"/>
              <p:cNvSpPr txBox="1"/>
              <p:nvPr/>
            </p:nvSpPr>
            <p:spPr>
              <a:xfrm>
                <a:off x="7129501" y="376332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grpSp>
        <p:grpSp>
          <p:nvGrpSpPr>
            <p:cNvPr id="69" name="row-process"/>
            <p:cNvGrpSpPr/>
            <p:nvPr/>
          </p:nvGrpSpPr>
          <p:grpSpPr>
            <a:xfrm>
              <a:off x="540544" y="4686300"/>
              <a:ext cx="6846056" cy="308134"/>
              <a:chOff x="540544" y="4686300"/>
              <a:chExt cx="6846056" cy="308134"/>
            </a:xfrm>
          </p:grpSpPr>
          <p:grpSp>
            <p:nvGrpSpPr>
              <p:cNvPr id="62" name="Group 62"/>
              <p:cNvGrpSpPr/>
              <p:nvPr/>
            </p:nvGrpSpPr>
            <p:grpSpPr>
              <a:xfrm>
                <a:off x="540544" y="4693444"/>
                <a:ext cx="271462" cy="271462"/>
                <a:chOff x="540544" y="4693444"/>
                <a:chExt cx="271462" cy="271462"/>
              </a:xfrm>
            </p:grpSpPr>
            <p:sp>
              <p:nvSpPr>
                <p:cNvPr id="60" name="Freeform 60"/>
                <p:cNvSpPr/>
                <p:nvPr/>
              </p:nvSpPr>
              <p:spPr>
                <a:xfrm>
                  <a:off x="540544" y="4693444"/>
                  <a:ext cx="271462" cy="271462"/>
                </a:xfrm>
                <a:custGeom>
                  <a:avLst/>
                  <a:gdLst/>
                  <a:ahLst/>
                  <a:cxnLst/>
                  <a:rect l="l" t="t" r="r" b="b"/>
                  <a:pathLst>
                    <a:path w="271462" h="271462">
                      <a:moveTo>
                        <a:pt x="0" y="135731"/>
                      </a:moveTo>
                      <a:cubicBezTo>
                        <a:pt x="0" y="210693"/>
                        <a:pt x="60769" y="271462"/>
                        <a:pt x="135731" y="271462"/>
                      </a:cubicBezTo>
                      <a:cubicBezTo>
                        <a:pt x="210693" y="271462"/>
                        <a:pt x="271462" y="210693"/>
                        <a:pt x="271462" y="135731"/>
                      </a:cubicBezTo>
                      <a:cubicBezTo>
                        <a:pt x="271462" y="60769"/>
                        <a:pt x="210693" y="0"/>
                        <a:pt x="135731" y="0"/>
                      </a:cubicBezTo>
                      <a:cubicBezTo>
                        <a:pt x="60769" y="0"/>
                        <a:pt x="0" y="60769"/>
                        <a:pt x="0" y="135731"/>
                      </a:cubicBezTo>
                    </a:path>
                  </a:pathLst>
                </a:custGeom>
                <a:noFill/>
                <a:ln w="30162">
                  <a:solidFill>
                    <a:srgbClr val="B92102"/>
                  </a:solidFill>
                </a:ln>
              </p:spPr>
            </p:sp>
            <p:sp>
              <p:nvSpPr>
                <p:cNvPr id="61" name="Freeform 61"/>
                <p:cNvSpPr/>
                <p:nvPr/>
              </p:nvSpPr>
              <p:spPr>
                <a:xfrm>
                  <a:off x="676275" y="4753769"/>
                  <a:ext cx="45244" cy="120650"/>
                </a:xfrm>
                <a:custGeom>
                  <a:avLst/>
                  <a:gdLst/>
                  <a:ahLst/>
                  <a:cxnLst/>
                  <a:rect l="l" t="t" r="r" b="b"/>
                  <a:pathLst>
                    <a:path w="45244" h="120650">
                      <a:moveTo>
                        <a:pt x="0" y="0"/>
                      </a:moveTo>
                      <a:lnTo>
                        <a:pt x="0" y="75406"/>
                      </a:lnTo>
                      <a:lnTo>
                        <a:pt x="45244" y="120650"/>
                      </a:lnTo>
                    </a:path>
                  </a:pathLst>
                </a:custGeom>
                <a:noFill/>
                <a:ln w="30162">
                  <a:solidFill>
                    <a:srgbClr val="B92102"/>
                  </a:solidFill>
                </a:ln>
              </p:spPr>
            </p:sp>
          </p:grpSp>
          <p:sp>
            <p:nvSpPr>
              <p:cNvPr id="63" name="TextBox 63"/>
              <p:cNvSpPr txBox="1"/>
              <p:nvPr/>
            </p:nvSpPr>
            <p:spPr>
              <a:xfrm>
                <a:off x="1022985" y="4774406"/>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过程效率</a:t>
                </a:r>
              </a:p>
            </p:txBody>
          </p:sp>
          <p:sp>
            <p:nvSpPr>
              <p:cNvPr id="64" name="TextBox 64"/>
              <p:cNvSpPr txBox="1"/>
              <p:nvPr/>
            </p:nvSpPr>
            <p:spPr>
              <a:xfrm>
                <a:off x="2700376" y="477297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65" name="TextBox 65"/>
              <p:cNvSpPr txBox="1"/>
              <p:nvPr/>
            </p:nvSpPr>
            <p:spPr>
              <a:xfrm>
                <a:off x="4176751" y="477297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66" name="Rectangle 66"/>
              <p:cNvSpPr/>
              <p:nvPr/>
            </p:nvSpPr>
            <p:spPr>
              <a:xfrm>
                <a:off x="5495925" y="4686300"/>
                <a:ext cx="571500" cy="285750"/>
              </a:xfrm>
              <a:prstGeom prst="roundRect">
                <a:avLst>
                  <a:gd name="adj" fmla="val 16667"/>
                </a:avLst>
              </a:prstGeom>
              <a:solidFill>
                <a:srgbClr val="FDCCC2"/>
              </a:solidFill>
              <a:ln w="9525">
                <a:solidFill>
                  <a:srgbClr val="E3907F"/>
                </a:solidFill>
              </a:ln>
            </p:spPr>
          </p:sp>
          <p:sp>
            <p:nvSpPr>
              <p:cNvPr id="67" name="TextBox 67"/>
              <p:cNvSpPr txBox="1"/>
              <p:nvPr/>
            </p:nvSpPr>
            <p:spPr>
              <a:xfrm>
                <a:off x="5644794" y="4781074"/>
                <a:ext cx="273761" cy="190690"/>
              </a:xfrm>
              <a:prstGeom prst="rect">
                <a:avLst/>
              </a:prstGeom>
              <a:noFill/>
              <a:ln>
                <a:noFill/>
              </a:ln>
            </p:spPr>
            <p:txBody>
              <a:bodyPr wrap="none" lIns="0" tIns="0" rIns="0" bIns="0" anchor="t" anchorCtr="0">
                <a:spAutoFit/>
              </a:bodyPr>
              <a:lstStyle/>
              <a:p>
                <a:pPr algn="ctr"/>
                <a:r>
                  <a:rPr lang="zh-CN" sz="980" b="1" dirty="0">
                    <a:solidFill>
                      <a:srgbClr val="B92102"/>
                    </a:solidFill>
                    <a:latin typeface="+mn-lt"/>
                    <a:ea typeface="+mn-ea"/>
                    <a:cs typeface="+mn-cs"/>
                  </a:rPr>
                  <a:t>改善</a:t>
                </a:r>
              </a:p>
            </p:txBody>
          </p:sp>
          <p:sp>
            <p:nvSpPr>
              <p:cNvPr id="68" name="TextBox 68"/>
              <p:cNvSpPr txBox="1"/>
              <p:nvPr/>
            </p:nvSpPr>
            <p:spPr>
              <a:xfrm>
                <a:off x="7129501" y="477297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grpSp>
        <p:grpSp>
          <p:nvGrpSpPr>
            <p:cNvPr id="79" name="row-risk"/>
            <p:cNvGrpSpPr/>
            <p:nvPr/>
          </p:nvGrpSpPr>
          <p:grpSpPr>
            <a:xfrm>
              <a:off x="520191" y="5695950"/>
              <a:ext cx="6866409" cy="308134"/>
              <a:chOff x="520191" y="5695950"/>
              <a:chExt cx="6866409" cy="308134"/>
            </a:xfrm>
          </p:grpSpPr>
          <p:grpSp>
            <p:nvGrpSpPr>
              <p:cNvPr id="72" name="Group 72"/>
              <p:cNvGrpSpPr/>
              <p:nvPr/>
            </p:nvGrpSpPr>
            <p:grpSpPr>
              <a:xfrm>
                <a:off x="520191" y="5703094"/>
                <a:ext cx="294509" cy="271462"/>
                <a:chOff x="520191" y="5703094"/>
                <a:chExt cx="294509" cy="271462"/>
              </a:xfrm>
            </p:grpSpPr>
            <p:sp>
              <p:nvSpPr>
                <p:cNvPr id="70" name="Freeform 70"/>
                <p:cNvSpPr/>
                <p:nvPr/>
              </p:nvSpPr>
              <p:spPr>
                <a:xfrm>
                  <a:off x="520191" y="5703094"/>
                  <a:ext cx="294509" cy="269139"/>
                </a:xfrm>
                <a:custGeom>
                  <a:avLst/>
                  <a:gdLst/>
                  <a:ahLst/>
                  <a:cxnLst/>
                  <a:rect l="l" t="t" r="r" b="b"/>
                  <a:pathLst>
                    <a:path w="294509" h="269139">
                      <a:moveTo>
                        <a:pt x="147940" y="269139"/>
                      </a:moveTo>
                      <a:cubicBezTo>
                        <a:pt x="53463" y="239854"/>
                        <a:pt x="0" y="140141"/>
                        <a:pt x="27893" y="45244"/>
                      </a:cubicBezTo>
                      <a:cubicBezTo>
                        <a:pt x="74879" y="47394"/>
                        <a:pt x="120857" y="31166"/>
                        <a:pt x="156084" y="0"/>
                      </a:cubicBezTo>
                      <a:cubicBezTo>
                        <a:pt x="191311" y="31166"/>
                        <a:pt x="237288" y="47394"/>
                        <a:pt x="284274" y="45244"/>
                      </a:cubicBezTo>
                      <a:cubicBezTo>
                        <a:pt x="294509" y="80068"/>
                        <a:pt x="294037" y="117165"/>
                        <a:pt x="282917" y="151717"/>
                      </a:cubicBezTo>
                    </a:path>
                  </a:pathLst>
                </a:custGeom>
                <a:noFill/>
                <a:ln w="30162">
                  <a:solidFill>
                    <a:srgbClr val="B92102"/>
                  </a:solidFill>
                </a:ln>
              </p:spPr>
            </p:sp>
            <p:sp>
              <p:nvSpPr>
                <p:cNvPr id="71" name="Freeform 71"/>
                <p:cNvSpPr/>
                <p:nvPr/>
              </p:nvSpPr>
              <p:spPr>
                <a:xfrm>
                  <a:off x="721518" y="5914231"/>
                  <a:ext cx="90487" cy="60325"/>
                </a:xfrm>
                <a:custGeom>
                  <a:avLst/>
                  <a:gdLst/>
                  <a:ahLst/>
                  <a:cxnLst/>
                  <a:rect l="l" t="t" r="r" b="b"/>
                  <a:pathLst>
                    <a:path w="90487" h="60325">
                      <a:moveTo>
                        <a:pt x="0" y="30162"/>
                      </a:moveTo>
                      <a:lnTo>
                        <a:pt x="30162" y="60325"/>
                      </a:lnTo>
                      <a:lnTo>
                        <a:pt x="90487" y="0"/>
                      </a:lnTo>
                    </a:path>
                  </a:pathLst>
                </a:custGeom>
                <a:noFill/>
                <a:ln w="30162">
                  <a:solidFill>
                    <a:srgbClr val="B92102"/>
                  </a:solidFill>
                </a:ln>
              </p:spPr>
            </p:sp>
          </p:grpSp>
          <p:sp>
            <p:nvSpPr>
              <p:cNvPr id="73" name="TextBox 73"/>
              <p:cNvSpPr txBox="1"/>
              <p:nvPr/>
            </p:nvSpPr>
            <p:spPr>
              <a:xfrm>
                <a:off x="1022985" y="5784056"/>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风险合规</a:t>
                </a:r>
              </a:p>
            </p:txBody>
          </p:sp>
          <p:sp>
            <p:nvSpPr>
              <p:cNvPr id="74" name="TextBox 74"/>
              <p:cNvSpPr txBox="1"/>
              <p:nvPr/>
            </p:nvSpPr>
            <p:spPr>
              <a:xfrm>
                <a:off x="2700376" y="578262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75" name="TextBox 75"/>
              <p:cNvSpPr txBox="1"/>
              <p:nvPr/>
            </p:nvSpPr>
            <p:spPr>
              <a:xfrm>
                <a:off x="4176751" y="578262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sp>
            <p:nvSpPr>
              <p:cNvPr id="76" name="Rectangle 76"/>
              <p:cNvSpPr/>
              <p:nvPr/>
            </p:nvSpPr>
            <p:spPr>
              <a:xfrm>
                <a:off x="5495925" y="5695950"/>
                <a:ext cx="571500" cy="285750"/>
              </a:xfrm>
              <a:prstGeom prst="roundRect">
                <a:avLst>
                  <a:gd name="adj" fmla="val 16667"/>
                </a:avLst>
              </a:prstGeom>
              <a:solidFill>
                <a:srgbClr val="FDCCC2"/>
              </a:solidFill>
              <a:ln w="9525">
                <a:solidFill>
                  <a:srgbClr val="E3907F"/>
                </a:solidFill>
              </a:ln>
            </p:spPr>
          </p:sp>
          <p:sp>
            <p:nvSpPr>
              <p:cNvPr id="77" name="TextBox 77"/>
              <p:cNvSpPr txBox="1"/>
              <p:nvPr/>
            </p:nvSpPr>
            <p:spPr>
              <a:xfrm>
                <a:off x="5644794" y="5790724"/>
                <a:ext cx="273761" cy="190690"/>
              </a:xfrm>
              <a:prstGeom prst="rect">
                <a:avLst/>
              </a:prstGeom>
              <a:noFill/>
              <a:ln>
                <a:noFill/>
              </a:ln>
            </p:spPr>
            <p:txBody>
              <a:bodyPr wrap="none" lIns="0" tIns="0" rIns="0" bIns="0" anchor="t" anchorCtr="0">
                <a:spAutoFit/>
              </a:bodyPr>
              <a:lstStyle/>
              <a:p>
                <a:pPr algn="ctr"/>
                <a:r>
                  <a:rPr lang="zh-CN" sz="980" b="1" dirty="0">
                    <a:solidFill>
                      <a:srgbClr val="B92102"/>
                    </a:solidFill>
                    <a:latin typeface="+mn-lt"/>
                    <a:ea typeface="+mn-ea"/>
                    <a:cs typeface="+mn-cs"/>
                  </a:rPr>
                  <a:t>改善</a:t>
                </a:r>
              </a:p>
            </p:txBody>
          </p:sp>
          <p:sp>
            <p:nvSpPr>
              <p:cNvPr id="78" name="TextBox 78"/>
              <p:cNvSpPr txBox="1"/>
              <p:nvPr/>
            </p:nvSpPr>
            <p:spPr>
              <a:xfrm>
                <a:off x="7129501" y="5782628"/>
                <a:ext cx="257099" cy="205359"/>
              </a:xfrm>
              <a:prstGeom prst="rect">
                <a:avLst/>
              </a:prstGeom>
              <a:noFill/>
              <a:ln>
                <a:noFill/>
              </a:ln>
            </p:spPr>
            <p:txBody>
              <a:bodyPr wrap="none" lIns="0" tIns="0" rIns="0" bIns="0" anchor="t" anchorCtr="0">
                <a:spAutoFit/>
              </a:bodyPr>
              <a:lstStyle/>
              <a:p>
                <a:pPr algn="ctr"/>
                <a:r>
                  <a:rPr lang="en-US" sz="1050" dirty="0">
                    <a:solidFill>
                      <a:srgbClr val="473633"/>
                    </a:solidFill>
                    <a:latin typeface="+mn-lt"/>
                    <a:ea typeface="+mn-ea"/>
                    <a:cs typeface="+mn-cs"/>
                  </a:rPr>
                  <a:t>XX​</a:t>
                </a:r>
              </a:p>
            </p:txBody>
          </p:sp>
        </p:grpSp>
      </p:grpSp>
      <p:grpSp>
        <p:nvGrpSpPr>
          <p:cNvPr id="124" name="progress-panel"/>
          <p:cNvGrpSpPr/>
          <p:nvPr/>
        </p:nvGrpSpPr>
        <p:grpSpPr>
          <a:xfrm>
            <a:off x="8210550" y="800100"/>
            <a:ext cx="3714750" cy="2705100"/>
            <a:chOff x="8210550" y="800100"/>
            <a:chExt cx="3714750" cy="2705100"/>
          </a:xfrm>
        </p:grpSpPr>
        <p:sp>
          <p:nvSpPr>
            <p:cNvPr id="81" name="Rectangle 81"/>
            <p:cNvSpPr/>
            <p:nvPr/>
          </p:nvSpPr>
          <p:spPr>
            <a:xfrm>
              <a:off x="8210550" y="800100"/>
              <a:ext cx="3714750" cy="2705100"/>
            </a:xfrm>
            <a:prstGeom prst="roundRect">
              <a:avLst>
                <a:gd name="adj" fmla="val 2817"/>
              </a:avLst>
            </a:prstGeom>
            <a:solidFill>
              <a:srgbClr val="FFFFFF"/>
            </a:solidFill>
            <a:ln w="9525">
              <a:solidFill>
                <a:srgbClr val="F7D1C9"/>
              </a:solidFill>
            </a:ln>
          </p:spPr>
        </p:sp>
        <p:sp>
          <p:nvSpPr>
            <p:cNvPr id="82" name="Freeform 82"/>
            <p:cNvSpPr/>
            <p:nvPr/>
          </p:nvSpPr>
          <p:spPr>
            <a:xfrm>
              <a:off x="8210550" y="800100"/>
              <a:ext cx="3714750" cy="457200"/>
            </a:xfrm>
            <a:custGeom>
              <a:avLst/>
              <a:gdLst/>
              <a:ahLst/>
              <a:cxnLst/>
              <a:rect l="l" t="t" r="r" b="b"/>
              <a:pathLst>
                <a:path w="3714750" h="457200">
                  <a:moveTo>
                    <a:pt x="0" y="76200"/>
                  </a:moveTo>
                  <a:cubicBezTo>
                    <a:pt x="0" y="34116"/>
                    <a:pt x="34116" y="0"/>
                    <a:pt x="76200" y="0"/>
                  </a:cubicBezTo>
                  <a:lnTo>
                    <a:pt x="3638550" y="0"/>
                  </a:lnTo>
                  <a:cubicBezTo>
                    <a:pt x="3680634" y="0"/>
                    <a:pt x="3714750" y="34116"/>
                    <a:pt x="3714750" y="76200"/>
                  </a:cubicBezTo>
                  <a:lnTo>
                    <a:pt x="3714750" y="457200"/>
                  </a:lnTo>
                  <a:lnTo>
                    <a:pt x="0" y="457200"/>
                  </a:lnTo>
                  <a:close/>
                </a:path>
              </a:pathLst>
            </a:custGeom>
            <a:solidFill>
              <a:srgbClr val="B92102"/>
            </a:solidFill>
            <a:ln>
              <a:noFill/>
            </a:ln>
          </p:spPr>
        </p:sp>
        <p:sp>
          <p:nvSpPr>
            <p:cNvPr id="83" name="Line 83"/>
            <p:cNvSpPr/>
            <p:nvPr/>
          </p:nvSpPr>
          <p:spPr>
            <a:xfrm>
              <a:off x="9144000" y="1028700"/>
              <a:ext cx="381000" cy="9525"/>
            </a:xfrm>
            <a:custGeom>
              <a:avLst/>
              <a:gdLst/>
              <a:ahLst/>
              <a:cxnLst/>
              <a:rect l="l" t="t" r="r" b="b"/>
              <a:pathLst>
                <a:path w="381000" h="9525">
                  <a:moveTo>
                    <a:pt x="0" y="0"/>
                  </a:moveTo>
                  <a:lnTo>
                    <a:pt x="381000" y="0"/>
                  </a:lnTo>
                </a:path>
              </a:pathLst>
            </a:custGeom>
            <a:noFill/>
            <a:ln w="11430">
              <a:solidFill>
                <a:srgbClr val="FFFFFF"/>
              </a:solidFill>
            </a:ln>
          </p:spPr>
        </p:sp>
        <p:sp>
          <p:nvSpPr>
            <p:cNvPr id="84" name="TextBox 84"/>
            <p:cNvSpPr txBox="1"/>
            <p:nvPr/>
          </p:nvSpPr>
          <p:spPr>
            <a:xfrm>
              <a:off x="9760661" y="96440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三项进展</a:t>
              </a:r>
            </a:p>
          </p:txBody>
        </p:sp>
        <p:sp>
          <p:nvSpPr>
            <p:cNvPr id="85" name="Line 85"/>
            <p:cNvSpPr/>
            <p:nvPr/>
          </p:nvSpPr>
          <p:spPr>
            <a:xfrm>
              <a:off x="10610850" y="1028700"/>
              <a:ext cx="381000" cy="9525"/>
            </a:xfrm>
            <a:custGeom>
              <a:avLst/>
              <a:gdLst/>
              <a:ahLst/>
              <a:cxnLst/>
              <a:rect l="l" t="t" r="r" b="b"/>
              <a:pathLst>
                <a:path w="381000" h="9525">
                  <a:moveTo>
                    <a:pt x="0" y="0"/>
                  </a:moveTo>
                  <a:lnTo>
                    <a:pt x="381000" y="0"/>
                  </a:lnTo>
                </a:path>
              </a:pathLst>
            </a:custGeom>
            <a:noFill/>
            <a:ln w="11430">
              <a:solidFill>
                <a:srgbClr val="FFFFFF"/>
              </a:solidFill>
            </a:ln>
          </p:spPr>
        </p:sp>
        <p:grpSp>
          <p:nvGrpSpPr>
            <p:cNvPr id="98" name="prog-1"/>
            <p:cNvGrpSpPr/>
            <p:nvPr/>
          </p:nvGrpSpPr>
          <p:grpSpPr>
            <a:xfrm>
              <a:off x="8324850" y="1352550"/>
              <a:ext cx="3486150" cy="609600"/>
              <a:chOff x="8324850" y="1352550"/>
              <a:chExt cx="3486150" cy="609600"/>
            </a:xfrm>
          </p:grpSpPr>
          <p:sp>
            <p:nvSpPr>
              <p:cNvPr id="86" name="Rectangle 86"/>
              <p:cNvSpPr/>
              <p:nvPr/>
            </p:nvSpPr>
            <p:spPr>
              <a:xfrm>
                <a:off x="8324850" y="1352550"/>
                <a:ext cx="3486150" cy="609600"/>
              </a:xfrm>
              <a:prstGeom prst="roundRect">
                <a:avLst>
                  <a:gd name="adj" fmla="val 9375"/>
                </a:avLst>
              </a:prstGeom>
              <a:solidFill>
                <a:srgbClr val="F2F7FE"/>
              </a:solidFill>
              <a:ln w="9525">
                <a:solidFill>
                  <a:srgbClr val="DCE6F8"/>
                </a:solidFill>
              </a:ln>
            </p:spPr>
          </p:sp>
          <p:sp>
            <p:nvSpPr>
              <p:cNvPr id="87" name="Ellipse 87"/>
              <p:cNvSpPr/>
              <p:nvPr/>
            </p:nvSpPr>
            <p:spPr>
              <a:xfrm>
                <a:off x="8439150" y="1466850"/>
                <a:ext cx="381000" cy="381000"/>
              </a:xfrm>
              <a:prstGeom prst="ellipse">
                <a:avLst/>
              </a:prstGeom>
              <a:solidFill>
                <a:srgbClr val="EAF3FE"/>
              </a:solidFill>
              <a:ln w="9525">
                <a:solidFill>
                  <a:srgbClr val="E3907F"/>
                </a:solidFill>
              </a:ln>
            </p:spPr>
          </p:sp>
          <p:grpSp>
            <p:nvGrpSpPr>
              <p:cNvPr id="94" name="Group 94"/>
              <p:cNvGrpSpPr/>
              <p:nvPr/>
            </p:nvGrpSpPr>
            <p:grpSpPr>
              <a:xfrm>
                <a:off x="8543925" y="1571625"/>
                <a:ext cx="171450" cy="171450"/>
                <a:chOff x="8543925" y="1571625"/>
                <a:chExt cx="171450" cy="171450"/>
              </a:xfrm>
            </p:grpSpPr>
            <p:sp>
              <p:nvSpPr>
                <p:cNvPr id="88" name="Freeform 88"/>
                <p:cNvSpPr/>
                <p:nvPr/>
              </p:nvSpPr>
              <p:spPr>
                <a:xfrm>
                  <a:off x="8610600" y="16478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92102"/>
                  </a:solidFill>
                </a:ln>
              </p:spPr>
            </p:sp>
            <p:sp>
              <p:nvSpPr>
                <p:cNvPr id="89" name="Freeform 89"/>
                <p:cNvSpPr/>
                <p:nvPr/>
              </p:nvSpPr>
              <p:spPr>
                <a:xfrm>
                  <a:off x="8591550" y="171450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B92102"/>
                  </a:solidFill>
                </a:ln>
              </p:spPr>
            </p:sp>
            <p:sp>
              <p:nvSpPr>
                <p:cNvPr id="90" name="Freeform 90"/>
                <p:cNvSpPr/>
                <p:nvPr/>
              </p:nvSpPr>
              <p:spPr>
                <a:xfrm>
                  <a:off x="8658225" y="1571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92102"/>
                  </a:solidFill>
                </a:ln>
              </p:spPr>
            </p:sp>
            <p:sp>
              <p:nvSpPr>
                <p:cNvPr id="91" name="Freeform 91"/>
                <p:cNvSpPr/>
                <p:nvPr/>
              </p:nvSpPr>
              <p:spPr>
                <a:xfrm>
                  <a:off x="8677275" y="163830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B92102"/>
                  </a:solidFill>
                </a:ln>
              </p:spPr>
            </p:sp>
            <p:sp>
              <p:nvSpPr>
                <p:cNvPr id="92" name="Freeform 92"/>
                <p:cNvSpPr/>
                <p:nvPr/>
              </p:nvSpPr>
              <p:spPr>
                <a:xfrm>
                  <a:off x="8562975" y="1571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92102"/>
                  </a:solidFill>
                </a:ln>
              </p:spPr>
            </p:sp>
            <p:sp>
              <p:nvSpPr>
                <p:cNvPr id="93" name="Freeform 93"/>
                <p:cNvSpPr/>
                <p:nvPr/>
              </p:nvSpPr>
              <p:spPr>
                <a:xfrm>
                  <a:off x="8543925" y="163830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B92102"/>
                  </a:solidFill>
                </a:ln>
              </p:spPr>
            </p:sp>
          </p:grpSp>
          <p:sp>
            <p:nvSpPr>
              <p:cNvPr id="95" name="TextBox 95"/>
              <p:cNvSpPr txBox="1"/>
              <p:nvPr/>
            </p:nvSpPr>
            <p:spPr>
              <a:xfrm>
                <a:off x="8948166" y="1591628"/>
                <a:ext cx="1501921" cy="205359"/>
              </a:xfrm>
              <a:prstGeom prst="rect">
                <a:avLst/>
              </a:prstGeom>
              <a:noFill/>
              <a:ln>
                <a:noFill/>
              </a:ln>
            </p:spPr>
            <p:txBody>
              <a:bodyPr wrap="none" lIns="0" tIns="0" rIns="0" bIns="0" anchor="t" anchorCtr="0">
                <a:spAutoFit/>
              </a:bodyPr>
              <a:lstStyle/>
              <a:p>
                <a:pPr algn="l"/>
                <a:r>
                  <a:rPr lang="zh-CN" sz="1050" dirty="0">
                    <a:solidFill>
                      <a:srgbClr val="44251F"/>
                    </a:solidFill>
                    <a:latin typeface="+mn-lt"/>
                    <a:ea typeface="+mn-ea"/>
                    <a:cs typeface="+mn-cs"/>
                  </a:rPr>
                  <a:t>重点客群触达机制形成​</a:t>
                </a:r>
              </a:p>
            </p:txBody>
          </p:sp>
          <p:sp>
            <p:nvSpPr>
              <p:cNvPr id="96" name="Line 96"/>
              <p:cNvSpPr/>
              <p:nvPr/>
            </p:nvSpPr>
            <p:spPr>
              <a:xfrm>
                <a:off x="11277600" y="1543050"/>
                <a:ext cx="9525" cy="228600"/>
              </a:xfrm>
              <a:custGeom>
                <a:avLst/>
                <a:gdLst/>
                <a:ahLst/>
                <a:cxnLst/>
                <a:rect l="l" t="t" r="r" b="b"/>
                <a:pathLst>
                  <a:path w="9525" h="228600">
                    <a:moveTo>
                      <a:pt x="0" y="0"/>
                    </a:moveTo>
                    <a:lnTo>
                      <a:pt x="0" y="228600"/>
                    </a:lnTo>
                  </a:path>
                </a:pathLst>
              </a:custGeom>
              <a:noFill/>
              <a:ln w="9525">
                <a:solidFill>
                  <a:srgbClr val="DCE6F8"/>
                </a:solidFill>
              </a:ln>
            </p:spPr>
          </p:sp>
          <p:sp>
            <p:nvSpPr>
              <p:cNvPr id="97" name="TextBox 97"/>
              <p:cNvSpPr txBox="1"/>
              <p:nvPr/>
            </p:nvSpPr>
            <p:spPr>
              <a:xfrm>
                <a:off x="11424346" y="15997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nvGrpSpPr>
            <p:cNvPr id="113" name="prog-2"/>
            <p:cNvGrpSpPr/>
            <p:nvPr/>
          </p:nvGrpSpPr>
          <p:grpSpPr>
            <a:xfrm>
              <a:off x="8324850" y="2057400"/>
              <a:ext cx="3486150" cy="609600"/>
              <a:chOff x="8324850" y="2057400"/>
              <a:chExt cx="3486150" cy="609600"/>
            </a:xfrm>
          </p:grpSpPr>
          <p:sp>
            <p:nvSpPr>
              <p:cNvPr id="99" name="Rectangle 99"/>
              <p:cNvSpPr/>
              <p:nvPr/>
            </p:nvSpPr>
            <p:spPr>
              <a:xfrm>
                <a:off x="8324850" y="2057400"/>
                <a:ext cx="3486150" cy="609600"/>
              </a:xfrm>
              <a:prstGeom prst="roundRect">
                <a:avLst>
                  <a:gd name="adj" fmla="val 9375"/>
                </a:avLst>
              </a:prstGeom>
              <a:solidFill>
                <a:srgbClr val="F2F7FE"/>
              </a:solidFill>
              <a:ln w="9525">
                <a:solidFill>
                  <a:srgbClr val="DCE6F8"/>
                </a:solidFill>
              </a:ln>
            </p:spPr>
          </p:sp>
          <p:sp>
            <p:nvSpPr>
              <p:cNvPr id="100" name="Ellipse 100"/>
              <p:cNvSpPr/>
              <p:nvPr/>
            </p:nvSpPr>
            <p:spPr>
              <a:xfrm>
                <a:off x="8439150" y="2171700"/>
                <a:ext cx="381000" cy="381000"/>
              </a:xfrm>
              <a:prstGeom prst="ellipse">
                <a:avLst/>
              </a:prstGeom>
              <a:solidFill>
                <a:srgbClr val="EAF3FE"/>
              </a:solidFill>
              <a:ln w="9525">
                <a:solidFill>
                  <a:srgbClr val="E3907F"/>
                </a:solidFill>
              </a:ln>
            </p:spPr>
          </p:sp>
          <p:grpSp>
            <p:nvGrpSpPr>
              <p:cNvPr id="109" name="Group 109"/>
              <p:cNvGrpSpPr/>
              <p:nvPr/>
            </p:nvGrpSpPr>
            <p:grpSpPr>
              <a:xfrm>
                <a:off x="8543925" y="2276475"/>
                <a:ext cx="171450" cy="180975"/>
                <a:chOff x="8543925" y="2276475"/>
                <a:chExt cx="171450" cy="180975"/>
              </a:xfrm>
            </p:grpSpPr>
            <p:sp>
              <p:nvSpPr>
                <p:cNvPr id="101" name="Freeform 101"/>
                <p:cNvSpPr/>
                <p:nvPr/>
              </p:nvSpPr>
              <p:spPr>
                <a:xfrm>
                  <a:off x="8543925" y="2447925"/>
                  <a:ext cx="171450" cy="9525"/>
                </a:xfrm>
                <a:custGeom>
                  <a:avLst/>
                  <a:gdLst/>
                  <a:ahLst/>
                  <a:cxnLst/>
                  <a:rect l="l" t="t" r="r" b="b"/>
                  <a:pathLst>
                    <a:path w="171450" h="9525">
                      <a:moveTo>
                        <a:pt x="0" y="0"/>
                      </a:moveTo>
                      <a:lnTo>
                        <a:pt x="171450" y="0"/>
                      </a:lnTo>
                    </a:path>
                  </a:pathLst>
                </a:custGeom>
                <a:noFill/>
                <a:ln w="19050">
                  <a:solidFill>
                    <a:srgbClr val="B92102"/>
                  </a:solidFill>
                </a:ln>
              </p:spPr>
            </p:sp>
            <p:sp>
              <p:nvSpPr>
                <p:cNvPr id="102" name="Freeform 102"/>
                <p:cNvSpPr/>
                <p:nvPr/>
              </p:nvSpPr>
              <p:spPr>
                <a:xfrm>
                  <a:off x="8543925" y="2343150"/>
                  <a:ext cx="171450" cy="9525"/>
                </a:xfrm>
                <a:custGeom>
                  <a:avLst/>
                  <a:gdLst/>
                  <a:ahLst/>
                  <a:cxnLst/>
                  <a:rect l="l" t="t" r="r" b="b"/>
                  <a:pathLst>
                    <a:path w="171450" h="9525">
                      <a:moveTo>
                        <a:pt x="0" y="0"/>
                      </a:moveTo>
                      <a:lnTo>
                        <a:pt x="171450" y="0"/>
                      </a:lnTo>
                    </a:path>
                  </a:pathLst>
                </a:custGeom>
                <a:noFill/>
                <a:ln w="19050">
                  <a:solidFill>
                    <a:srgbClr val="B92102"/>
                  </a:solidFill>
                </a:ln>
              </p:spPr>
            </p:sp>
            <p:sp>
              <p:nvSpPr>
                <p:cNvPr id="103" name="Freeform 103"/>
                <p:cNvSpPr/>
                <p:nvPr/>
              </p:nvSpPr>
              <p:spPr>
                <a:xfrm>
                  <a:off x="8562975" y="2276475"/>
                  <a:ext cx="133350" cy="28575"/>
                </a:xfrm>
                <a:custGeom>
                  <a:avLst/>
                  <a:gdLst/>
                  <a:ahLst/>
                  <a:cxnLst/>
                  <a:rect l="l" t="t" r="r" b="b"/>
                  <a:pathLst>
                    <a:path w="133350" h="28575">
                      <a:moveTo>
                        <a:pt x="0" y="28575"/>
                      </a:moveTo>
                      <a:lnTo>
                        <a:pt x="66675" y="0"/>
                      </a:lnTo>
                      <a:lnTo>
                        <a:pt x="133350" y="28575"/>
                      </a:lnTo>
                    </a:path>
                  </a:pathLst>
                </a:custGeom>
                <a:noFill/>
                <a:ln w="19050">
                  <a:solidFill>
                    <a:srgbClr val="B92102"/>
                  </a:solidFill>
                </a:ln>
              </p:spPr>
            </p:sp>
            <p:sp>
              <p:nvSpPr>
                <p:cNvPr id="104" name="Freeform 104"/>
                <p:cNvSpPr/>
                <p:nvPr/>
              </p:nvSpPr>
              <p:spPr>
                <a:xfrm>
                  <a:off x="8553450" y="2343150"/>
                  <a:ext cx="9525" cy="104775"/>
                </a:xfrm>
                <a:custGeom>
                  <a:avLst/>
                  <a:gdLst/>
                  <a:ahLst/>
                  <a:cxnLst/>
                  <a:rect l="l" t="t" r="r" b="b"/>
                  <a:pathLst>
                    <a:path w="9525" h="104775">
                      <a:moveTo>
                        <a:pt x="0" y="0"/>
                      </a:moveTo>
                      <a:lnTo>
                        <a:pt x="0" y="104775"/>
                      </a:lnTo>
                    </a:path>
                  </a:pathLst>
                </a:custGeom>
                <a:noFill/>
                <a:ln w="19050">
                  <a:solidFill>
                    <a:srgbClr val="B92102"/>
                  </a:solidFill>
                </a:ln>
              </p:spPr>
            </p:sp>
            <p:sp>
              <p:nvSpPr>
                <p:cNvPr id="105" name="Freeform 105"/>
                <p:cNvSpPr/>
                <p:nvPr/>
              </p:nvSpPr>
              <p:spPr>
                <a:xfrm>
                  <a:off x="8705850" y="2343150"/>
                  <a:ext cx="9525" cy="104775"/>
                </a:xfrm>
                <a:custGeom>
                  <a:avLst/>
                  <a:gdLst/>
                  <a:ahLst/>
                  <a:cxnLst/>
                  <a:rect l="l" t="t" r="r" b="b"/>
                  <a:pathLst>
                    <a:path w="9525" h="104775">
                      <a:moveTo>
                        <a:pt x="0" y="0"/>
                      </a:moveTo>
                      <a:lnTo>
                        <a:pt x="0" y="104775"/>
                      </a:lnTo>
                    </a:path>
                  </a:pathLst>
                </a:custGeom>
                <a:noFill/>
                <a:ln w="19050">
                  <a:solidFill>
                    <a:srgbClr val="B92102"/>
                  </a:solidFill>
                </a:ln>
              </p:spPr>
            </p:sp>
            <p:sp>
              <p:nvSpPr>
                <p:cNvPr id="106" name="Freeform 106"/>
                <p:cNvSpPr/>
                <p:nvPr/>
              </p:nvSpPr>
              <p:spPr>
                <a:xfrm>
                  <a:off x="8591550" y="2381250"/>
                  <a:ext cx="9525" cy="28575"/>
                </a:xfrm>
                <a:custGeom>
                  <a:avLst/>
                  <a:gdLst/>
                  <a:ahLst/>
                  <a:cxnLst/>
                  <a:rect l="l" t="t" r="r" b="b"/>
                  <a:pathLst>
                    <a:path w="9525" h="28575">
                      <a:moveTo>
                        <a:pt x="0" y="0"/>
                      </a:moveTo>
                      <a:lnTo>
                        <a:pt x="0" y="28575"/>
                      </a:lnTo>
                    </a:path>
                  </a:pathLst>
                </a:custGeom>
                <a:noFill/>
                <a:ln w="19050">
                  <a:solidFill>
                    <a:srgbClr val="B92102"/>
                  </a:solidFill>
                </a:ln>
              </p:spPr>
            </p:sp>
            <p:sp>
              <p:nvSpPr>
                <p:cNvPr id="107" name="Freeform 107"/>
                <p:cNvSpPr/>
                <p:nvPr/>
              </p:nvSpPr>
              <p:spPr>
                <a:xfrm>
                  <a:off x="8629650" y="2381250"/>
                  <a:ext cx="9525" cy="28575"/>
                </a:xfrm>
                <a:custGeom>
                  <a:avLst/>
                  <a:gdLst/>
                  <a:ahLst/>
                  <a:cxnLst/>
                  <a:rect l="l" t="t" r="r" b="b"/>
                  <a:pathLst>
                    <a:path w="9525" h="28575">
                      <a:moveTo>
                        <a:pt x="0" y="0"/>
                      </a:moveTo>
                      <a:lnTo>
                        <a:pt x="0" y="28575"/>
                      </a:lnTo>
                    </a:path>
                  </a:pathLst>
                </a:custGeom>
                <a:noFill/>
                <a:ln w="19050">
                  <a:solidFill>
                    <a:srgbClr val="B92102"/>
                  </a:solidFill>
                </a:ln>
              </p:spPr>
            </p:sp>
            <p:sp>
              <p:nvSpPr>
                <p:cNvPr id="108" name="Freeform 108"/>
                <p:cNvSpPr/>
                <p:nvPr/>
              </p:nvSpPr>
              <p:spPr>
                <a:xfrm>
                  <a:off x="8667750" y="2381250"/>
                  <a:ext cx="9525" cy="28575"/>
                </a:xfrm>
                <a:custGeom>
                  <a:avLst/>
                  <a:gdLst/>
                  <a:ahLst/>
                  <a:cxnLst/>
                  <a:rect l="l" t="t" r="r" b="b"/>
                  <a:pathLst>
                    <a:path w="9525" h="28575">
                      <a:moveTo>
                        <a:pt x="0" y="0"/>
                      </a:moveTo>
                      <a:lnTo>
                        <a:pt x="0" y="28575"/>
                      </a:lnTo>
                    </a:path>
                  </a:pathLst>
                </a:custGeom>
                <a:noFill/>
                <a:ln w="19050">
                  <a:solidFill>
                    <a:srgbClr val="B92102"/>
                  </a:solidFill>
                </a:ln>
              </p:spPr>
            </p:sp>
          </p:grpSp>
          <p:sp>
            <p:nvSpPr>
              <p:cNvPr id="110" name="TextBox 110"/>
              <p:cNvSpPr txBox="1"/>
              <p:nvPr/>
            </p:nvSpPr>
            <p:spPr>
              <a:xfrm>
                <a:off x="8948166" y="2296478"/>
                <a:ext cx="1141476" cy="205359"/>
              </a:xfrm>
              <a:prstGeom prst="rect">
                <a:avLst/>
              </a:prstGeom>
              <a:noFill/>
              <a:ln>
                <a:noFill/>
              </a:ln>
            </p:spPr>
            <p:txBody>
              <a:bodyPr wrap="none" lIns="0" tIns="0" rIns="0" bIns="0" anchor="t" anchorCtr="0">
                <a:spAutoFit/>
              </a:bodyPr>
              <a:lstStyle/>
              <a:p>
                <a:pPr algn="l"/>
                <a:r>
                  <a:rPr lang="zh-CN" sz="1050" dirty="0">
                    <a:solidFill>
                      <a:srgbClr val="44251F"/>
                    </a:solidFill>
                    <a:latin typeface="+mn-lt"/>
                    <a:ea typeface="+mn-ea"/>
                    <a:cs typeface="+mn-cs"/>
                  </a:rPr>
                  <a:t>核心网点产能改善</a:t>
                </a:r>
              </a:p>
            </p:txBody>
          </p:sp>
          <p:sp>
            <p:nvSpPr>
              <p:cNvPr id="111" name="Line 111"/>
              <p:cNvSpPr/>
              <p:nvPr/>
            </p:nvSpPr>
            <p:spPr>
              <a:xfrm>
                <a:off x="11277600" y="2247900"/>
                <a:ext cx="9525" cy="228600"/>
              </a:xfrm>
              <a:custGeom>
                <a:avLst/>
                <a:gdLst/>
                <a:ahLst/>
                <a:cxnLst/>
                <a:rect l="l" t="t" r="r" b="b"/>
                <a:pathLst>
                  <a:path w="9525" h="228600">
                    <a:moveTo>
                      <a:pt x="0" y="0"/>
                    </a:moveTo>
                    <a:lnTo>
                      <a:pt x="0" y="228600"/>
                    </a:lnTo>
                  </a:path>
                </a:pathLst>
              </a:custGeom>
              <a:noFill/>
              <a:ln w="9525">
                <a:solidFill>
                  <a:srgbClr val="DCE6F8"/>
                </a:solidFill>
              </a:ln>
            </p:spPr>
          </p:sp>
          <p:sp>
            <p:nvSpPr>
              <p:cNvPr id="112" name="TextBox 112"/>
              <p:cNvSpPr txBox="1"/>
              <p:nvPr/>
            </p:nvSpPr>
            <p:spPr>
              <a:xfrm>
                <a:off x="11424346" y="230457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nvGrpSpPr>
            <p:cNvPr id="123" name="prog-3"/>
            <p:cNvGrpSpPr/>
            <p:nvPr/>
          </p:nvGrpSpPr>
          <p:grpSpPr>
            <a:xfrm>
              <a:off x="8324850" y="2762250"/>
              <a:ext cx="3486150" cy="609600"/>
              <a:chOff x="8324850" y="2762250"/>
              <a:chExt cx="3486150" cy="609600"/>
            </a:xfrm>
          </p:grpSpPr>
          <p:sp>
            <p:nvSpPr>
              <p:cNvPr id="114" name="Rectangle 114"/>
              <p:cNvSpPr/>
              <p:nvPr/>
            </p:nvSpPr>
            <p:spPr>
              <a:xfrm>
                <a:off x="8324850" y="2762250"/>
                <a:ext cx="3486150" cy="609600"/>
              </a:xfrm>
              <a:prstGeom prst="roundRect">
                <a:avLst>
                  <a:gd name="adj" fmla="val 9375"/>
                </a:avLst>
              </a:prstGeom>
              <a:solidFill>
                <a:srgbClr val="F2F7FE"/>
              </a:solidFill>
              <a:ln w="9525">
                <a:solidFill>
                  <a:srgbClr val="DCE6F8"/>
                </a:solidFill>
              </a:ln>
            </p:spPr>
          </p:sp>
          <p:sp>
            <p:nvSpPr>
              <p:cNvPr id="115" name="Ellipse 115"/>
              <p:cNvSpPr/>
              <p:nvPr/>
            </p:nvSpPr>
            <p:spPr>
              <a:xfrm>
                <a:off x="8439150" y="2876550"/>
                <a:ext cx="381000" cy="381000"/>
              </a:xfrm>
              <a:prstGeom prst="ellipse">
                <a:avLst/>
              </a:prstGeom>
              <a:solidFill>
                <a:srgbClr val="EAF3FE"/>
              </a:solidFill>
              <a:ln w="9525">
                <a:solidFill>
                  <a:srgbClr val="E3907F"/>
                </a:solidFill>
              </a:ln>
            </p:spPr>
          </p:sp>
          <p:grpSp>
            <p:nvGrpSpPr>
              <p:cNvPr id="119" name="Group 119"/>
              <p:cNvGrpSpPr/>
              <p:nvPr/>
            </p:nvGrpSpPr>
            <p:grpSpPr>
              <a:xfrm>
                <a:off x="8562975" y="2981325"/>
                <a:ext cx="133350" cy="171450"/>
                <a:chOff x="8562975" y="2981325"/>
                <a:chExt cx="133350" cy="171450"/>
              </a:xfrm>
            </p:grpSpPr>
            <p:sp>
              <p:nvSpPr>
                <p:cNvPr id="116" name="Freeform 116"/>
                <p:cNvSpPr/>
                <p:nvPr/>
              </p:nvSpPr>
              <p:spPr>
                <a:xfrm>
                  <a:off x="8562975" y="303847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B92102"/>
                  </a:solidFill>
                </a:ln>
              </p:spPr>
            </p:sp>
            <p:sp>
              <p:nvSpPr>
                <p:cNvPr id="117" name="Freeform 117"/>
                <p:cNvSpPr/>
                <p:nvPr/>
              </p:nvSpPr>
              <p:spPr>
                <a:xfrm>
                  <a:off x="8629650" y="2981325"/>
                  <a:ext cx="9525" cy="104775"/>
                </a:xfrm>
                <a:custGeom>
                  <a:avLst/>
                  <a:gdLst/>
                  <a:ahLst/>
                  <a:cxnLst/>
                  <a:rect l="l" t="t" r="r" b="b"/>
                  <a:pathLst>
                    <a:path w="9525" h="104775">
                      <a:moveTo>
                        <a:pt x="0" y="104775"/>
                      </a:moveTo>
                      <a:lnTo>
                        <a:pt x="0" y="0"/>
                      </a:lnTo>
                    </a:path>
                  </a:pathLst>
                </a:custGeom>
                <a:noFill/>
                <a:ln w="19050">
                  <a:solidFill>
                    <a:srgbClr val="B92102"/>
                  </a:solidFill>
                </a:ln>
              </p:spPr>
            </p:sp>
            <p:sp>
              <p:nvSpPr>
                <p:cNvPr id="118" name="Freeform 118"/>
                <p:cNvSpPr/>
                <p:nvPr/>
              </p:nvSpPr>
              <p:spPr>
                <a:xfrm>
                  <a:off x="8601075" y="2981325"/>
                  <a:ext cx="57150" cy="28575"/>
                </a:xfrm>
                <a:custGeom>
                  <a:avLst/>
                  <a:gdLst/>
                  <a:ahLst/>
                  <a:cxnLst/>
                  <a:rect l="l" t="t" r="r" b="b"/>
                  <a:pathLst>
                    <a:path w="57150" h="28575">
                      <a:moveTo>
                        <a:pt x="0" y="28575"/>
                      </a:moveTo>
                      <a:lnTo>
                        <a:pt x="28575" y="0"/>
                      </a:lnTo>
                      <a:lnTo>
                        <a:pt x="57150" y="28575"/>
                      </a:lnTo>
                    </a:path>
                  </a:pathLst>
                </a:custGeom>
                <a:noFill/>
                <a:ln w="19050">
                  <a:solidFill>
                    <a:srgbClr val="B92102"/>
                  </a:solidFill>
                </a:ln>
              </p:spPr>
            </p:sp>
          </p:grpSp>
          <p:sp>
            <p:nvSpPr>
              <p:cNvPr id="120" name="TextBox 120"/>
              <p:cNvSpPr txBox="1"/>
              <p:nvPr/>
            </p:nvSpPr>
            <p:spPr>
              <a:xfrm>
                <a:off x="8948166" y="3001328"/>
                <a:ext cx="1141476" cy="205359"/>
              </a:xfrm>
              <a:prstGeom prst="rect">
                <a:avLst/>
              </a:prstGeom>
              <a:noFill/>
              <a:ln>
                <a:noFill/>
              </a:ln>
            </p:spPr>
            <p:txBody>
              <a:bodyPr wrap="none" lIns="0" tIns="0" rIns="0" bIns="0" anchor="t" anchorCtr="0">
                <a:spAutoFit/>
              </a:bodyPr>
              <a:lstStyle/>
              <a:p>
                <a:pPr algn="l"/>
                <a:r>
                  <a:rPr lang="zh-CN" sz="1050" dirty="0">
                    <a:solidFill>
                      <a:srgbClr val="44251F"/>
                    </a:solidFill>
                    <a:latin typeface="+mn-lt"/>
                    <a:ea typeface="+mn-ea"/>
                    <a:cs typeface="+mn-cs"/>
                  </a:rPr>
                  <a:t>区域协同项目落地</a:t>
                </a:r>
              </a:p>
            </p:txBody>
          </p:sp>
          <p:sp>
            <p:nvSpPr>
              <p:cNvPr id="121" name="Line 121"/>
              <p:cNvSpPr/>
              <p:nvPr/>
            </p:nvSpPr>
            <p:spPr>
              <a:xfrm>
                <a:off x="11277600" y="2952750"/>
                <a:ext cx="9525" cy="228600"/>
              </a:xfrm>
              <a:custGeom>
                <a:avLst/>
                <a:gdLst/>
                <a:ahLst/>
                <a:cxnLst/>
                <a:rect l="l" t="t" r="r" b="b"/>
                <a:pathLst>
                  <a:path w="9525" h="228600">
                    <a:moveTo>
                      <a:pt x="0" y="0"/>
                    </a:moveTo>
                    <a:lnTo>
                      <a:pt x="0" y="228600"/>
                    </a:lnTo>
                  </a:path>
                </a:pathLst>
              </a:custGeom>
              <a:noFill/>
              <a:ln w="9525">
                <a:solidFill>
                  <a:srgbClr val="DCE6F8"/>
                </a:solidFill>
              </a:ln>
            </p:spPr>
          </p:sp>
          <p:sp>
            <p:nvSpPr>
              <p:cNvPr id="122" name="TextBox 122"/>
              <p:cNvSpPr txBox="1"/>
              <p:nvPr/>
            </p:nvSpPr>
            <p:spPr>
              <a:xfrm>
                <a:off x="11424346" y="30094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grpSp>
        <p:nvGrpSpPr>
          <p:cNvPr id="161" name="concern-panel"/>
          <p:cNvGrpSpPr/>
          <p:nvPr/>
        </p:nvGrpSpPr>
        <p:grpSpPr>
          <a:xfrm>
            <a:off x="8210550" y="3638550"/>
            <a:ext cx="3714750" cy="2705100"/>
            <a:chOff x="8210550" y="3638550"/>
            <a:chExt cx="3714750" cy="2705100"/>
          </a:xfrm>
        </p:grpSpPr>
        <p:sp>
          <p:nvSpPr>
            <p:cNvPr id="125" name="Rectangle 125"/>
            <p:cNvSpPr/>
            <p:nvPr/>
          </p:nvSpPr>
          <p:spPr>
            <a:xfrm>
              <a:off x="8210550" y="3638550"/>
              <a:ext cx="3714750" cy="2705100"/>
            </a:xfrm>
            <a:prstGeom prst="roundRect">
              <a:avLst>
                <a:gd name="adj" fmla="val 2817"/>
              </a:avLst>
            </a:prstGeom>
            <a:solidFill>
              <a:srgbClr val="FFFFFF"/>
            </a:solidFill>
            <a:ln w="9525">
              <a:solidFill>
                <a:srgbClr val="F7D1C9"/>
              </a:solidFill>
            </a:ln>
          </p:spPr>
        </p:sp>
        <p:sp>
          <p:nvSpPr>
            <p:cNvPr id="126" name="Freeform 126"/>
            <p:cNvSpPr/>
            <p:nvPr/>
          </p:nvSpPr>
          <p:spPr>
            <a:xfrm>
              <a:off x="8210550" y="3638550"/>
              <a:ext cx="3714750" cy="457200"/>
            </a:xfrm>
            <a:custGeom>
              <a:avLst/>
              <a:gdLst/>
              <a:ahLst/>
              <a:cxnLst/>
              <a:rect l="l" t="t" r="r" b="b"/>
              <a:pathLst>
                <a:path w="3714750" h="457200">
                  <a:moveTo>
                    <a:pt x="0" y="76200"/>
                  </a:moveTo>
                  <a:cubicBezTo>
                    <a:pt x="0" y="34116"/>
                    <a:pt x="34116" y="0"/>
                    <a:pt x="76200" y="0"/>
                  </a:cubicBezTo>
                  <a:lnTo>
                    <a:pt x="3638550" y="0"/>
                  </a:lnTo>
                  <a:cubicBezTo>
                    <a:pt x="3680634" y="0"/>
                    <a:pt x="3714750" y="34116"/>
                    <a:pt x="3714750" y="76200"/>
                  </a:cubicBezTo>
                  <a:lnTo>
                    <a:pt x="3714750" y="457200"/>
                  </a:lnTo>
                  <a:lnTo>
                    <a:pt x="0" y="457200"/>
                  </a:lnTo>
                  <a:close/>
                </a:path>
              </a:pathLst>
            </a:custGeom>
            <a:solidFill>
              <a:srgbClr val="B92102"/>
            </a:solidFill>
            <a:ln>
              <a:noFill/>
            </a:ln>
          </p:spPr>
        </p:sp>
        <p:sp>
          <p:nvSpPr>
            <p:cNvPr id="127" name="Line 127"/>
            <p:cNvSpPr/>
            <p:nvPr/>
          </p:nvSpPr>
          <p:spPr>
            <a:xfrm>
              <a:off x="9144000" y="3867150"/>
              <a:ext cx="381000" cy="9525"/>
            </a:xfrm>
            <a:custGeom>
              <a:avLst/>
              <a:gdLst/>
              <a:ahLst/>
              <a:cxnLst/>
              <a:rect l="l" t="t" r="r" b="b"/>
              <a:pathLst>
                <a:path w="381000" h="9525">
                  <a:moveTo>
                    <a:pt x="0" y="0"/>
                  </a:moveTo>
                  <a:lnTo>
                    <a:pt x="381000" y="0"/>
                  </a:lnTo>
                </a:path>
              </a:pathLst>
            </a:custGeom>
            <a:noFill/>
            <a:ln w="11430">
              <a:solidFill>
                <a:srgbClr val="FFFFFF"/>
              </a:solidFill>
            </a:ln>
          </p:spPr>
        </p:sp>
        <p:sp>
          <p:nvSpPr>
            <p:cNvPr id="128" name="TextBox 128"/>
            <p:cNvSpPr txBox="1"/>
            <p:nvPr/>
          </p:nvSpPr>
          <p:spPr>
            <a:xfrm>
              <a:off x="9760661" y="38028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三项关注</a:t>
              </a:r>
            </a:p>
          </p:txBody>
        </p:sp>
        <p:sp>
          <p:nvSpPr>
            <p:cNvPr id="129" name="Line 129"/>
            <p:cNvSpPr/>
            <p:nvPr/>
          </p:nvSpPr>
          <p:spPr>
            <a:xfrm>
              <a:off x="10610850" y="3867150"/>
              <a:ext cx="381000" cy="9525"/>
            </a:xfrm>
            <a:custGeom>
              <a:avLst/>
              <a:gdLst/>
              <a:ahLst/>
              <a:cxnLst/>
              <a:rect l="l" t="t" r="r" b="b"/>
              <a:pathLst>
                <a:path w="381000" h="9525">
                  <a:moveTo>
                    <a:pt x="0" y="0"/>
                  </a:moveTo>
                  <a:lnTo>
                    <a:pt x="381000" y="0"/>
                  </a:lnTo>
                </a:path>
              </a:pathLst>
            </a:custGeom>
            <a:noFill/>
            <a:ln w="11430">
              <a:solidFill>
                <a:srgbClr val="FFFFFF"/>
              </a:solidFill>
            </a:ln>
          </p:spPr>
        </p:sp>
        <p:grpSp>
          <p:nvGrpSpPr>
            <p:cNvPr id="140" name="concern-1"/>
            <p:cNvGrpSpPr/>
            <p:nvPr/>
          </p:nvGrpSpPr>
          <p:grpSpPr>
            <a:xfrm>
              <a:off x="8324850" y="4191000"/>
              <a:ext cx="3486150" cy="609600"/>
              <a:chOff x="8324850" y="4191000"/>
              <a:chExt cx="3486150" cy="609600"/>
            </a:xfrm>
          </p:grpSpPr>
          <p:sp>
            <p:nvSpPr>
              <p:cNvPr id="130" name="Rectangle 130"/>
              <p:cNvSpPr/>
              <p:nvPr/>
            </p:nvSpPr>
            <p:spPr>
              <a:xfrm>
                <a:off x="8324850" y="4191000"/>
                <a:ext cx="3486150" cy="609600"/>
              </a:xfrm>
              <a:prstGeom prst="roundRect">
                <a:avLst>
                  <a:gd name="adj" fmla="val 9375"/>
                </a:avLst>
              </a:prstGeom>
              <a:solidFill>
                <a:srgbClr val="F2F7FE"/>
              </a:solidFill>
              <a:ln w="9525">
                <a:solidFill>
                  <a:srgbClr val="DCE6F8"/>
                </a:solidFill>
              </a:ln>
            </p:spPr>
          </p:sp>
          <p:sp>
            <p:nvSpPr>
              <p:cNvPr id="131" name="Ellipse 131"/>
              <p:cNvSpPr/>
              <p:nvPr/>
            </p:nvSpPr>
            <p:spPr>
              <a:xfrm>
                <a:off x="8439150" y="4305300"/>
                <a:ext cx="381000" cy="381000"/>
              </a:xfrm>
              <a:prstGeom prst="ellipse">
                <a:avLst/>
              </a:prstGeom>
              <a:solidFill>
                <a:srgbClr val="EAF3FE"/>
              </a:solidFill>
              <a:ln w="9525">
                <a:solidFill>
                  <a:srgbClr val="E3907F"/>
                </a:solidFill>
              </a:ln>
            </p:spPr>
          </p:sp>
          <p:grpSp>
            <p:nvGrpSpPr>
              <p:cNvPr id="136" name="Group 136"/>
              <p:cNvGrpSpPr/>
              <p:nvPr/>
            </p:nvGrpSpPr>
            <p:grpSpPr>
              <a:xfrm>
                <a:off x="8543925" y="4410075"/>
                <a:ext cx="171450" cy="171450"/>
                <a:chOff x="8543925" y="4410075"/>
                <a:chExt cx="171450" cy="171450"/>
              </a:xfrm>
            </p:grpSpPr>
            <p:sp>
              <p:nvSpPr>
                <p:cNvPr id="132" name="Freeform 132"/>
                <p:cNvSpPr/>
                <p:nvPr/>
              </p:nvSpPr>
              <p:spPr>
                <a:xfrm>
                  <a:off x="8562975" y="44100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B92102"/>
                  </a:solidFill>
                </a:ln>
              </p:spPr>
            </p:sp>
            <p:sp>
              <p:nvSpPr>
                <p:cNvPr id="133" name="Freeform 133"/>
                <p:cNvSpPr/>
                <p:nvPr/>
              </p:nvSpPr>
              <p:spPr>
                <a:xfrm>
                  <a:off x="8543925" y="45243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B92102"/>
                  </a:solidFill>
                </a:ln>
              </p:spPr>
            </p:sp>
            <p:sp>
              <p:nvSpPr>
                <p:cNvPr id="134" name="Freeform 134"/>
                <p:cNvSpPr/>
                <p:nvPr/>
              </p:nvSpPr>
              <p:spPr>
                <a:xfrm>
                  <a:off x="8667750" y="44113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B92102"/>
                  </a:solidFill>
                </a:ln>
              </p:spPr>
            </p:sp>
            <p:sp>
              <p:nvSpPr>
                <p:cNvPr id="135" name="Freeform 135"/>
                <p:cNvSpPr/>
                <p:nvPr/>
              </p:nvSpPr>
              <p:spPr>
                <a:xfrm>
                  <a:off x="8686800" y="45258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B92102"/>
                  </a:solidFill>
                </a:ln>
              </p:spPr>
            </p:sp>
          </p:grpSp>
          <p:sp>
            <p:nvSpPr>
              <p:cNvPr id="137" name="TextBox 137"/>
              <p:cNvSpPr txBox="1"/>
              <p:nvPr/>
            </p:nvSpPr>
            <p:spPr>
              <a:xfrm>
                <a:off x="8948166" y="4430078"/>
                <a:ext cx="1000125" cy="205359"/>
              </a:xfrm>
              <a:prstGeom prst="rect">
                <a:avLst/>
              </a:prstGeom>
              <a:noFill/>
              <a:ln>
                <a:noFill/>
              </a:ln>
            </p:spPr>
            <p:txBody>
              <a:bodyPr wrap="none" lIns="0" tIns="0" rIns="0" bIns="0" anchor="t" anchorCtr="0">
                <a:spAutoFit/>
              </a:bodyPr>
              <a:lstStyle/>
              <a:p>
                <a:pPr algn="l"/>
                <a:r>
                  <a:rPr lang="zh-CN" sz="1050" dirty="0">
                    <a:solidFill>
                      <a:srgbClr val="44251F"/>
                    </a:solidFill>
                    <a:latin typeface="+mn-lt"/>
                    <a:ea typeface="+mn-ea"/>
                    <a:cs typeface="+mn-cs"/>
                  </a:rPr>
                  <a:t>低活跃客户占比</a:t>
                </a:r>
              </a:p>
            </p:txBody>
          </p:sp>
          <p:sp>
            <p:nvSpPr>
              <p:cNvPr id="138" name="Line 138"/>
              <p:cNvSpPr/>
              <p:nvPr/>
            </p:nvSpPr>
            <p:spPr>
              <a:xfrm>
                <a:off x="11277600" y="4381500"/>
                <a:ext cx="9525" cy="228600"/>
              </a:xfrm>
              <a:custGeom>
                <a:avLst/>
                <a:gdLst/>
                <a:ahLst/>
                <a:cxnLst/>
                <a:rect l="l" t="t" r="r" b="b"/>
                <a:pathLst>
                  <a:path w="9525" h="228600">
                    <a:moveTo>
                      <a:pt x="0" y="0"/>
                    </a:moveTo>
                    <a:lnTo>
                      <a:pt x="0" y="228600"/>
                    </a:lnTo>
                  </a:path>
                </a:pathLst>
              </a:custGeom>
              <a:noFill/>
              <a:ln w="9525">
                <a:solidFill>
                  <a:srgbClr val="DCE6F8"/>
                </a:solidFill>
              </a:ln>
            </p:spPr>
          </p:sp>
          <p:sp>
            <p:nvSpPr>
              <p:cNvPr id="139" name="TextBox 139"/>
              <p:cNvSpPr txBox="1"/>
              <p:nvPr/>
            </p:nvSpPr>
            <p:spPr>
              <a:xfrm>
                <a:off x="11424346" y="443817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nvGrpSpPr>
            <p:cNvPr id="149" name="concern-2"/>
            <p:cNvGrpSpPr/>
            <p:nvPr/>
          </p:nvGrpSpPr>
          <p:grpSpPr>
            <a:xfrm>
              <a:off x="8324850" y="4895850"/>
              <a:ext cx="3486150" cy="609600"/>
              <a:chOff x="8324850" y="4895850"/>
              <a:chExt cx="3486150" cy="609600"/>
            </a:xfrm>
          </p:grpSpPr>
          <p:sp>
            <p:nvSpPr>
              <p:cNvPr id="141" name="Rectangle 141"/>
              <p:cNvSpPr/>
              <p:nvPr/>
            </p:nvSpPr>
            <p:spPr>
              <a:xfrm>
                <a:off x="8324850" y="4895850"/>
                <a:ext cx="3486150" cy="609600"/>
              </a:xfrm>
              <a:prstGeom prst="roundRect">
                <a:avLst>
                  <a:gd name="adj" fmla="val 9375"/>
                </a:avLst>
              </a:prstGeom>
              <a:solidFill>
                <a:srgbClr val="F2F7FE"/>
              </a:solidFill>
              <a:ln w="9525">
                <a:solidFill>
                  <a:srgbClr val="DCE6F8"/>
                </a:solidFill>
              </a:ln>
            </p:spPr>
          </p:sp>
          <p:sp>
            <p:nvSpPr>
              <p:cNvPr id="142" name="Ellipse 142"/>
              <p:cNvSpPr/>
              <p:nvPr/>
            </p:nvSpPr>
            <p:spPr>
              <a:xfrm>
                <a:off x="8439150" y="5010150"/>
                <a:ext cx="381000" cy="381000"/>
              </a:xfrm>
              <a:prstGeom prst="ellipse">
                <a:avLst/>
              </a:prstGeom>
              <a:solidFill>
                <a:srgbClr val="EAF3FE"/>
              </a:solidFill>
              <a:ln w="9525">
                <a:solidFill>
                  <a:srgbClr val="E3907F"/>
                </a:solidFill>
              </a:ln>
            </p:spPr>
          </p:sp>
          <p:grpSp>
            <p:nvGrpSpPr>
              <p:cNvPr id="145" name="Group 145"/>
              <p:cNvGrpSpPr/>
              <p:nvPr/>
            </p:nvGrpSpPr>
            <p:grpSpPr>
              <a:xfrm>
                <a:off x="8543925" y="5114925"/>
                <a:ext cx="171450" cy="171450"/>
                <a:chOff x="8543925" y="5114925"/>
                <a:chExt cx="171450" cy="171450"/>
              </a:xfrm>
            </p:grpSpPr>
            <p:sp>
              <p:nvSpPr>
                <p:cNvPr id="143" name="Freeform 143"/>
                <p:cNvSpPr/>
                <p:nvPr/>
              </p:nvSpPr>
              <p:spPr>
                <a:xfrm>
                  <a:off x="8543925" y="51149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B92102"/>
                  </a:solidFill>
                </a:ln>
              </p:spPr>
            </p:sp>
            <p:sp>
              <p:nvSpPr>
                <p:cNvPr id="144" name="Freeform 144"/>
                <p:cNvSpPr/>
                <p:nvPr/>
              </p:nvSpPr>
              <p:spPr>
                <a:xfrm>
                  <a:off x="8629650" y="5153025"/>
                  <a:ext cx="28575" cy="76200"/>
                </a:xfrm>
                <a:custGeom>
                  <a:avLst/>
                  <a:gdLst/>
                  <a:ahLst/>
                  <a:cxnLst/>
                  <a:rect l="l" t="t" r="r" b="b"/>
                  <a:pathLst>
                    <a:path w="28575" h="76200">
                      <a:moveTo>
                        <a:pt x="0" y="0"/>
                      </a:moveTo>
                      <a:lnTo>
                        <a:pt x="0" y="47625"/>
                      </a:lnTo>
                      <a:lnTo>
                        <a:pt x="28575" y="76200"/>
                      </a:lnTo>
                    </a:path>
                  </a:pathLst>
                </a:custGeom>
                <a:noFill/>
                <a:ln w="19050">
                  <a:solidFill>
                    <a:srgbClr val="B92102"/>
                  </a:solidFill>
                </a:ln>
              </p:spPr>
            </p:sp>
          </p:grpSp>
          <p:sp>
            <p:nvSpPr>
              <p:cNvPr id="146" name="TextBox 146"/>
              <p:cNvSpPr txBox="1"/>
              <p:nvPr/>
            </p:nvSpPr>
            <p:spPr>
              <a:xfrm>
                <a:off x="8948166" y="5134928"/>
                <a:ext cx="858774" cy="205359"/>
              </a:xfrm>
              <a:prstGeom prst="rect">
                <a:avLst/>
              </a:prstGeom>
              <a:noFill/>
              <a:ln>
                <a:noFill/>
              </a:ln>
            </p:spPr>
            <p:txBody>
              <a:bodyPr wrap="none" lIns="0" tIns="0" rIns="0" bIns="0" anchor="t" anchorCtr="0">
                <a:spAutoFit/>
              </a:bodyPr>
              <a:lstStyle/>
              <a:p>
                <a:pPr algn="l"/>
                <a:r>
                  <a:rPr lang="zh-CN" sz="1050" dirty="0">
                    <a:solidFill>
                      <a:srgbClr val="44251F"/>
                    </a:solidFill>
                    <a:latin typeface="+mn-lt"/>
                    <a:ea typeface="+mn-ea"/>
                    <a:cs typeface="+mn-cs"/>
                  </a:rPr>
                  <a:t>商机阶段停滞</a:t>
                </a:r>
              </a:p>
            </p:txBody>
          </p:sp>
          <p:sp>
            <p:nvSpPr>
              <p:cNvPr id="147" name="Line 147"/>
              <p:cNvSpPr/>
              <p:nvPr/>
            </p:nvSpPr>
            <p:spPr>
              <a:xfrm>
                <a:off x="11277600" y="5086350"/>
                <a:ext cx="9525" cy="228600"/>
              </a:xfrm>
              <a:custGeom>
                <a:avLst/>
                <a:gdLst/>
                <a:ahLst/>
                <a:cxnLst/>
                <a:rect l="l" t="t" r="r" b="b"/>
                <a:pathLst>
                  <a:path w="9525" h="228600">
                    <a:moveTo>
                      <a:pt x="0" y="0"/>
                    </a:moveTo>
                    <a:lnTo>
                      <a:pt x="0" y="228600"/>
                    </a:lnTo>
                  </a:path>
                </a:pathLst>
              </a:custGeom>
              <a:noFill/>
              <a:ln w="9525">
                <a:solidFill>
                  <a:srgbClr val="DCE6F8"/>
                </a:solidFill>
              </a:ln>
            </p:spPr>
          </p:sp>
          <p:sp>
            <p:nvSpPr>
              <p:cNvPr id="148" name="TextBox 148"/>
              <p:cNvSpPr txBox="1"/>
              <p:nvPr/>
            </p:nvSpPr>
            <p:spPr>
              <a:xfrm>
                <a:off x="11424346" y="51430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nvGrpSpPr>
            <p:cNvPr id="160" name="concern-3"/>
            <p:cNvGrpSpPr/>
            <p:nvPr/>
          </p:nvGrpSpPr>
          <p:grpSpPr>
            <a:xfrm>
              <a:off x="8324850" y="5600700"/>
              <a:ext cx="3486150" cy="609600"/>
              <a:chOff x="8324850" y="5600700"/>
              <a:chExt cx="3486150" cy="609600"/>
            </a:xfrm>
          </p:grpSpPr>
          <p:sp>
            <p:nvSpPr>
              <p:cNvPr id="150" name="Rectangle 150"/>
              <p:cNvSpPr/>
              <p:nvPr/>
            </p:nvSpPr>
            <p:spPr>
              <a:xfrm>
                <a:off x="8324850" y="5600700"/>
                <a:ext cx="3486150" cy="609600"/>
              </a:xfrm>
              <a:prstGeom prst="roundRect">
                <a:avLst>
                  <a:gd name="adj" fmla="val 9375"/>
                </a:avLst>
              </a:prstGeom>
              <a:solidFill>
                <a:srgbClr val="F2F7FE"/>
              </a:solidFill>
              <a:ln w="9525">
                <a:solidFill>
                  <a:srgbClr val="DCE6F8"/>
                </a:solidFill>
              </a:ln>
            </p:spPr>
          </p:sp>
          <p:sp>
            <p:nvSpPr>
              <p:cNvPr id="151" name="Ellipse 151"/>
              <p:cNvSpPr/>
              <p:nvPr/>
            </p:nvSpPr>
            <p:spPr>
              <a:xfrm>
                <a:off x="8439150" y="5715000"/>
                <a:ext cx="381000" cy="381000"/>
              </a:xfrm>
              <a:prstGeom prst="ellipse">
                <a:avLst/>
              </a:prstGeom>
              <a:solidFill>
                <a:srgbClr val="EAF3FE"/>
              </a:solidFill>
              <a:ln w="9525">
                <a:solidFill>
                  <a:srgbClr val="E3907F"/>
                </a:solidFill>
              </a:ln>
            </p:spPr>
          </p:sp>
          <p:grpSp>
            <p:nvGrpSpPr>
              <p:cNvPr id="156" name="Group 156"/>
              <p:cNvGrpSpPr/>
              <p:nvPr/>
            </p:nvGrpSpPr>
            <p:grpSpPr>
              <a:xfrm>
                <a:off x="8543925" y="5829300"/>
                <a:ext cx="171450" cy="161925"/>
                <a:chOff x="8543925" y="5829300"/>
                <a:chExt cx="171450" cy="161925"/>
              </a:xfrm>
            </p:grpSpPr>
            <p:sp>
              <p:nvSpPr>
                <p:cNvPr id="152" name="Freeform 152"/>
                <p:cNvSpPr/>
                <p:nvPr/>
              </p:nvSpPr>
              <p:spPr>
                <a:xfrm>
                  <a:off x="8543925" y="59055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B92102"/>
                  </a:solidFill>
                </a:ln>
              </p:spPr>
            </p:sp>
            <p:sp>
              <p:nvSpPr>
                <p:cNvPr id="153" name="Freeform 153"/>
                <p:cNvSpPr/>
                <p:nvPr/>
              </p:nvSpPr>
              <p:spPr>
                <a:xfrm>
                  <a:off x="8658225" y="58674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B92102"/>
                  </a:solidFill>
                </a:ln>
              </p:spPr>
            </p:sp>
            <p:sp>
              <p:nvSpPr>
                <p:cNvPr id="154" name="Freeform 154"/>
                <p:cNvSpPr/>
                <p:nvPr/>
              </p:nvSpPr>
              <p:spPr>
                <a:xfrm>
                  <a:off x="8601075" y="58293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B92102"/>
                  </a:solidFill>
                </a:ln>
              </p:spPr>
            </p:sp>
            <p:sp>
              <p:nvSpPr>
                <p:cNvPr id="155" name="Freeform 155"/>
                <p:cNvSpPr/>
                <p:nvPr/>
              </p:nvSpPr>
              <p:spPr>
                <a:xfrm>
                  <a:off x="8553450" y="5981700"/>
                  <a:ext cx="133350" cy="9525"/>
                </a:xfrm>
                <a:custGeom>
                  <a:avLst/>
                  <a:gdLst/>
                  <a:ahLst/>
                  <a:cxnLst/>
                  <a:rect l="l" t="t" r="r" b="b"/>
                  <a:pathLst>
                    <a:path w="133350" h="9525">
                      <a:moveTo>
                        <a:pt x="0" y="0"/>
                      </a:moveTo>
                      <a:lnTo>
                        <a:pt x="133350" y="0"/>
                      </a:lnTo>
                    </a:path>
                  </a:pathLst>
                </a:custGeom>
                <a:noFill/>
                <a:ln w="19050">
                  <a:solidFill>
                    <a:srgbClr val="B92102"/>
                  </a:solidFill>
                </a:ln>
              </p:spPr>
            </p:sp>
          </p:grpSp>
          <p:sp>
            <p:nvSpPr>
              <p:cNvPr id="157" name="TextBox 157"/>
              <p:cNvSpPr txBox="1"/>
              <p:nvPr/>
            </p:nvSpPr>
            <p:spPr>
              <a:xfrm>
                <a:off x="8948166" y="5839778"/>
                <a:ext cx="858774" cy="205359"/>
              </a:xfrm>
              <a:prstGeom prst="rect">
                <a:avLst/>
              </a:prstGeom>
              <a:noFill/>
              <a:ln>
                <a:noFill/>
              </a:ln>
            </p:spPr>
            <p:txBody>
              <a:bodyPr wrap="none" lIns="0" tIns="0" rIns="0" bIns="0" anchor="t" anchorCtr="0">
                <a:spAutoFit/>
              </a:bodyPr>
              <a:lstStyle/>
              <a:p>
                <a:pPr algn="l"/>
                <a:r>
                  <a:rPr lang="zh-CN" sz="1050" dirty="0">
                    <a:solidFill>
                      <a:srgbClr val="44251F"/>
                    </a:solidFill>
                    <a:latin typeface="+mn-lt"/>
                    <a:ea typeface="+mn-ea"/>
                    <a:cs typeface="+mn-cs"/>
                  </a:rPr>
                  <a:t>网点表现分化</a:t>
                </a:r>
              </a:p>
            </p:txBody>
          </p:sp>
          <p:sp>
            <p:nvSpPr>
              <p:cNvPr id="158" name="Line 158"/>
              <p:cNvSpPr/>
              <p:nvPr/>
            </p:nvSpPr>
            <p:spPr>
              <a:xfrm>
                <a:off x="11277600" y="5791200"/>
                <a:ext cx="9525" cy="228600"/>
              </a:xfrm>
              <a:custGeom>
                <a:avLst/>
                <a:gdLst/>
                <a:ahLst/>
                <a:cxnLst/>
                <a:rect l="l" t="t" r="r" b="b"/>
                <a:pathLst>
                  <a:path w="9525" h="228600">
                    <a:moveTo>
                      <a:pt x="0" y="0"/>
                    </a:moveTo>
                    <a:lnTo>
                      <a:pt x="0" y="228600"/>
                    </a:lnTo>
                  </a:path>
                </a:pathLst>
              </a:custGeom>
              <a:noFill/>
              <a:ln w="9525">
                <a:solidFill>
                  <a:srgbClr val="DCE6F8"/>
                </a:solidFill>
              </a:ln>
            </p:spPr>
          </p:sp>
          <p:sp>
            <p:nvSpPr>
              <p:cNvPr id="159" name="TextBox 159"/>
              <p:cNvSpPr txBox="1"/>
              <p:nvPr/>
            </p:nvSpPr>
            <p:spPr>
              <a:xfrm>
                <a:off x="11424346" y="584787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04​</a:t>
              </a:r>
            </a:p>
          </p:txBody>
        </p:sp>
        <p:sp>
          <p:nvSpPr>
            <p:cNvPr id="4" name="TextBox 4"/>
            <p:cNvSpPr txBox="1"/>
            <p:nvPr/>
          </p:nvSpPr>
          <p:spPr>
            <a:xfrm>
              <a:off x="942594" y="151448"/>
              <a:ext cx="5813336"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8月目标达成</a:t>
              </a:r>
              <a:r>
                <a:rPr lang="zh-CN" sz="1950" b="1" dirty="0">
                  <a:solidFill>
                    <a:srgbClr val="1A1A1A"/>
                  </a:solidFill>
                  <a:latin typeface="SimSun"/>
                  <a:ea typeface="SimSun"/>
                  <a:cs typeface="SimSun"/>
                </a:rPr>
                <a:t>｜结果、节奏与质量三维检视​​​​</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44" name="kpi-band"/>
          <p:cNvGrpSpPr/>
          <p:nvPr/>
        </p:nvGrpSpPr>
        <p:grpSpPr>
          <a:xfrm>
            <a:off x="266700" y="742950"/>
            <a:ext cx="11658600" cy="998601"/>
            <a:chOff x="266700" y="742950"/>
            <a:chExt cx="11658600" cy="998601"/>
          </a:xfrm>
        </p:grpSpPr>
        <p:grpSp>
          <p:nvGrpSpPr>
            <p:cNvPr id="15" name="kpi-1"/>
            <p:cNvGrpSpPr/>
            <p:nvPr/>
          </p:nvGrpSpPr>
          <p:grpSpPr>
            <a:xfrm>
              <a:off x="266700" y="742950"/>
              <a:ext cx="2743200" cy="998601"/>
              <a:chOff x="266700" y="742950"/>
              <a:chExt cx="2743200" cy="998601"/>
            </a:xfrm>
          </p:grpSpPr>
          <p:sp>
            <p:nvSpPr>
              <p:cNvPr id="7" name="Rectangle 7"/>
              <p:cNvSpPr/>
              <p:nvPr/>
            </p:nvSpPr>
            <p:spPr>
              <a:xfrm>
                <a:off x="266700" y="742950"/>
                <a:ext cx="2743200" cy="933450"/>
              </a:xfrm>
              <a:prstGeom prst="roundRect">
                <a:avLst>
                  <a:gd name="adj" fmla="val 8163"/>
                </a:avLst>
              </a:prstGeom>
              <a:solidFill>
                <a:srgbClr val="FFFFFF"/>
              </a:solidFill>
              <a:ln w="9525">
                <a:solidFill>
                  <a:srgbClr val="F7D1C9"/>
                </a:solidFill>
              </a:ln>
            </p:spPr>
          </p:sp>
          <p:sp>
            <p:nvSpPr>
              <p:cNvPr id="8" name="Ellipse 8"/>
              <p:cNvSpPr/>
              <p:nvPr/>
            </p:nvSpPr>
            <p:spPr>
              <a:xfrm>
                <a:off x="476250" y="923925"/>
                <a:ext cx="571500" cy="571500"/>
              </a:xfrm>
              <a:prstGeom prst="ellipse">
                <a:avLst/>
              </a:prstGeom>
              <a:solidFill>
                <a:srgbClr val="B92102"/>
              </a:solidFill>
              <a:ln>
                <a:noFill/>
              </a:ln>
            </p:spPr>
          </p:sp>
          <p:grpSp>
            <p:nvGrpSpPr>
              <p:cNvPr id="12" name="Group 12"/>
              <p:cNvGrpSpPr/>
              <p:nvPr/>
            </p:nvGrpSpPr>
            <p:grpSpPr>
              <a:xfrm>
                <a:off x="647700" y="1095375"/>
                <a:ext cx="228599" cy="228599"/>
                <a:chOff x="647700" y="1095375"/>
                <a:chExt cx="228599" cy="228599"/>
              </a:xfrm>
            </p:grpSpPr>
            <p:sp>
              <p:nvSpPr>
                <p:cNvPr id="9" name="Freeform 9"/>
                <p:cNvSpPr/>
                <p:nvPr/>
              </p:nvSpPr>
              <p:spPr>
                <a:xfrm>
                  <a:off x="749300" y="11969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FFFFFF"/>
                  </a:solidFill>
                </a:ln>
              </p:spPr>
            </p:sp>
            <p:sp>
              <p:nvSpPr>
                <p:cNvPr id="10" name="Freeform 10"/>
                <p:cNvSpPr/>
                <p:nvPr/>
              </p:nvSpPr>
              <p:spPr>
                <a:xfrm>
                  <a:off x="698500" y="11461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FFFFFF"/>
                  </a:solidFill>
                </a:ln>
              </p:spPr>
            </p:sp>
            <p:sp>
              <p:nvSpPr>
                <p:cNvPr id="11" name="Freeform 11"/>
                <p:cNvSpPr/>
                <p:nvPr/>
              </p:nvSpPr>
              <p:spPr>
                <a:xfrm>
                  <a:off x="647700" y="1095375"/>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FFFFFF"/>
                  </a:solidFill>
                </a:ln>
              </p:spPr>
            </p:sp>
          </p:grpSp>
          <p:sp>
            <p:nvSpPr>
              <p:cNvPr id="13" name="TextBox 13"/>
              <p:cNvSpPr txBox="1"/>
              <p:nvPr/>
            </p:nvSpPr>
            <p:spPr>
              <a:xfrm>
                <a:off x="1251585" y="926306"/>
                <a:ext cx="1066851" cy="220028"/>
              </a:xfrm>
              <a:prstGeom prst="rect">
                <a:avLst/>
              </a:prstGeom>
              <a:noFill/>
              <a:ln>
                <a:noFill/>
              </a:ln>
            </p:spPr>
            <p:txBody>
              <a:bodyPr wrap="none" lIns="0" tIns="0" rIns="0" bIns="0" anchor="t" anchorCtr="0">
                <a:spAutoFit/>
              </a:bodyPr>
              <a:lstStyle/>
              <a:p>
                <a:pPr algn="l"/>
                <a:r>
                  <a:rPr lang="zh-CN" sz="1120" dirty="0">
                    <a:solidFill>
                      <a:srgbClr val="473633"/>
                    </a:solidFill>
                    <a:latin typeface="+mn-lt"/>
                    <a:ea typeface="+mn-ea"/>
                    <a:cs typeface="+mn-cs"/>
                  </a:rPr>
                  <a:t>销售目标达成率</a:t>
                </a:r>
              </a:p>
            </p:txBody>
          </p:sp>
          <p:sp>
            <p:nvSpPr>
              <p:cNvPr id="14" name="TextBox 14"/>
              <p:cNvSpPr txBox="1"/>
              <p:nvPr/>
            </p:nvSpPr>
            <p:spPr>
              <a:xfrm>
                <a:off x="1243584" y="1213485"/>
                <a:ext cx="928985" cy="528066"/>
              </a:xfrm>
              <a:prstGeom prst="rect">
                <a:avLst/>
              </a:prstGeom>
              <a:noFill/>
              <a:ln>
                <a:noFill/>
              </a:ln>
            </p:spPr>
            <p:txBody>
              <a:bodyPr wrap="none" lIns="0" tIns="0" rIns="0" bIns="0" anchor="t" anchorCtr="0">
                <a:spAutoFit/>
              </a:bodyPr>
              <a:lstStyle/>
              <a:p>
                <a:pPr algn="l"/>
                <a:r>
                  <a:rPr lang="en-US" sz="2700" b="1" dirty="0">
                    <a:solidFill>
                      <a:srgbClr val="B92102"/>
                    </a:solidFill>
                    <a:latin typeface="+mn-lt"/>
                    <a:ea typeface="+mn-ea"/>
                    <a:cs typeface="+mn-cs"/>
                  </a:rPr>
                  <a:t>XX</a:t>
                </a:r>
                <a:r>
                  <a:rPr lang="zh-CN" sz="1350" b="1" dirty="0">
                    <a:solidFill>
                      <a:srgbClr val="B92102"/>
                    </a:solidFill>
                    <a:latin typeface="+mn-lt"/>
                    <a:ea typeface="+mn-ea"/>
                    <a:cs typeface="+mn-cs"/>
                  </a:rPr>
                  <a:t>%​​​</a:t>
                </a:r>
              </a:p>
            </p:txBody>
          </p:sp>
        </p:grpSp>
        <p:grpSp>
          <p:nvGrpSpPr>
            <p:cNvPr id="27" name="kpi-2"/>
            <p:cNvGrpSpPr/>
            <p:nvPr/>
          </p:nvGrpSpPr>
          <p:grpSpPr>
            <a:xfrm>
              <a:off x="3238500" y="742950"/>
              <a:ext cx="2743200" cy="998601"/>
              <a:chOff x="3238500" y="742950"/>
              <a:chExt cx="2743200" cy="998601"/>
            </a:xfrm>
          </p:grpSpPr>
          <p:sp>
            <p:nvSpPr>
              <p:cNvPr id="16" name="Rectangle 16"/>
              <p:cNvSpPr/>
              <p:nvPr/>
            </p:nvSpPr>
            <p:spPr>
              <a:xfrm>
                <a:off x="3238500" y="742950"/>
                <a:ext cx="2743200" cy="933450"/>
              </a:xfrm>
              <a:prstGeom prst="roundRect">
                <a:avLst>
                  <a:gd name="adj" fmla="val 8163"/>
                </a:avLst>
              </a:prstGeom>
              <a:solidFill>
                <a:srgbClr val="FFFFFF"/>
              </a:solidFill>
              <a:ln w="9525">
                <a:solidFill>
                  <a:srgbClr val="F7D1C9"/>
                </a:solidFill>
              </a:ln>
            </p:spPr>
          </p:sp>
          <p:sp>
            <p:nvSpPr>
              <p:cNvPr id="17" name="Ellipse 17"/>
              <p:cNvSpPr/>
              <p:nvPr/>
            </p:nvSpPr>
            <p:spPr>
              <a:xfrm>
                <a:off x="3448050" y="923925"/>
                <a:ext cx="571500" cy="571500"/>
              </a:xfrm>
              <a:prstGeom prst="ellipse">
                <a:avLst/>
              </a:prstGeom>
              <a:solidFill>
                <a:srgbClr val="B92102"/>
              </a:solidFill>
              <a:ln>
                <a:noFill/>
              </a:ln>
            </p:spPr>
          </p:sp>
          <p:grpSp>
            <p:nvGrpSpPr>
              <p:cNvPr id="24" name="Group 24"/>
              <p:cNvGrpSpPr/>
              <p:nvPr/>
            </p:nvGrpSpPr>
            <p:grpSpPr>
              <a:xfrm>
                <a:off x="3619500" y="1095375"/>
                <a:ext cx="228599" cy="228599"/>
                <a:chOff x="3619500" y="1095375"/>
                <a:chExt cx="228599" cy="228599"/>
              </a:xfrm>
            </p:grpSpPr>
            <p:sp>
              <p:nvSpPr>
                <p:cNvPr id="18" name="Freeform 18"/>
                <p:cNvSpPr/>
                <p:nvPr/>
              </p:nvSpPr>
              <p:spPr>
                <a:xfrm>
                  <a:off x="3708400" y="11969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19" name="Freeform 19"/>
                <p:cNvSpPr/>
                <p:nvPr/>
              </p:nvSpPr>
              <p:spPr>
                <a:xfrm>
                  <a:off x="3683000" y="1285874"/>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FFFFFF"/>
                  </a:solidFill>
                </a:ln>
              </p:spPr>
            </p:sp>
            <p:sp>
              <p:nvSpPr>
                <p:cNvPr id="20" name="Freeform 20"/>
                <p:cNvSpPr/>
                <p:nvPr/>
              </p:nvSpPr>
              <p:spPr>
                <a:xfrm>
                  <a:off x="3771900" y="10953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21" name="Freeform 21"/>
                <p:cNvSpPr/>
                <p:nvPr/>
              </p:nvSpPr>
              <p:spPr>
                <a:xfrm>
                  <a:off x="3797299" y="1184275"/>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FFFFFF"/>
                  </a:solidFill>
                </a:ln>
              </p:spPr>
            </p:sp>
            <p:sp>
              <p:nvSpPr>
                <p:cNvPr id="22" name="Freeform 22"/>
                <p:cNvSpPr/>
                <p:nvPr/>
              </p:nvSpPr>
              <p:spPr>
                <a:xfrm>
                  <a:off x="3644900" y="10953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23" name="Freeform 23"/>
                <p:cNvSpPr/>
                <p:nvPr/>
              </p:nvSpPr>
              <p:spPr>
                <a:xfrm>
                  <a:off x="3619500" y="1184275"/>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FFFFFF"/>
                  </a:solidFill>
                </a:ln>
              </p:spPr>
            </p:sp>
          </p:grpSp>
          <p:sp>
            <p:nvSpPr>
              <p:cNvPr id="25" name="TextBox 25"/>
              <p:cNvSpPr txBox="1"/>
              <p:nvPr/>
            </p:nvSpPr>
            <p:spPr>
              <a:xfrm>
                <a:off x="4223385" y="926306"/>
                <a:ext cx="916076" cy="220028"/>
              </a:xfrm>
              <a:prstGeom prst="rect">
                <a:avLst/>
              </a:prstGeom>
              <a:noFill/>
              <a:ln>
                <a:noFill/>
              </a:ln>
            </p:spPr>
            <p:txBody>
              <a:bodyPr wrap="none" lIns="0" tIns="0" rIns="0" bIns="0" anchor="t" anchorCtr="0">
                <a:spAutoFit/>
              </a:bodyPr>
              <a:lstStyle/>
              <a:p>
                <a:pPr algn="l"/>
                <a:r>
                  <a:rPr lang="zh-CN" sz="1120" dirty="0">
                    <a:solidFill>
                      <a:srgbClr val="473633"/>
                    </a:solidFill>
                    <a:latin typeface="+mn-lt"/>
                    <a:ea typeface="+mn-ea"/>
                    <a:cs typeface="+mn-cs"/>
                  </a:rPr>
                  <a:t>新增有效客户</a:t>
                </a:r>
              </a:p>
            </p:txBody>
          </p:sp>
          <p:sp>
            <p:nvSpPr>
              <p:cNvPr id="26" name="TextBox 26"/>
              <p:cNvSpPr txBox="1"/>
              <p:nvPr/>
            </p:nvSpPr>
            <p:spPr>
              <a:xfrm>
                <a:off x="4215384" y="1213485"/>
                <a:ext cx="967604" cy="528066"/>
              </a:xfrm>
              <a:prstGeom prst="rect">
                <a:avLst/>
              </a:prstGeom>
              <a:noFill/>
              <a:ln>
                <a:noFill/>
              </a:ln>
            </p:spPr>
            <p:txBody>
              <a:bodyPr wrap="none" lIns="0" tIns="0" rIns="0" bIns="0" anchor="t" anchorCtr="0">
                <a:spAutoFit/>
              </a:bodyPr>
              <a:lstStyle/>
              <a:p>
                <a:pPr algn="l"/>
                <a:r>
                  <a:rPr lang="en-US" sz="2700" b="1" dirty="0">
                    <a:solidFill>
                      <a:srgbClr val="B92102"/>
                    </a:solidFill>
                    <a:latin typeface="+mn-lt"/>
                    <a:ea typeface="+mn-ea"/>
                    <a:cs typeface="+mn-cs"/>
                  </a:rPr>
                  <a:t>XX</a:t>
                </a:r>
                <a:r>
                  <a:rPr lang="zh-CN" sz="1350" b="1" dirty="0">
                    <a:solidFill>
                      <a:srgbClr val="B92102"/>
                    </a:solidFill>
                    <a:latin typeface="+mn-lt"/>
                    <a:ea typeface="+mn-ea"/>
                    <a:cs typeface="+mn-cs"/>
                  </a:rPr>
                  <a:t>户​​​</a:t>
                </a:r>
              </a:p>
            </p:txBody>
          </p:sp>
        </p:grpSp>
        <p:grpSp>
          <p:nvGrpSpPr>
            <p:cNvPr id="35" name="kpi-3"/>
            <p:cNvGrpSpPr/>
            <p:nvPr/>
          </p:nvGrpSpPr>
          <p:grpSpPr>
            <a:xfrm>
              <a:off x="6210300" y="742950"/>
              <a:ext cx="2743200" cy="998601"/>
              <a:chOff x="6210300" y="742950"/>
              <a:chExt cx="2743200" cy="998601"/>
            </a:xfrm>
          </p:grpSpPr>
          <p:sp>
            <p:nvSpPr>
              <p:cNvPr id="28" name="Rectangle 28"/>
              <p:cNvSpPr/>
              <p:nvPr/>
            </p:nvSpPr>
            <p:spPr>
              <a:xfrm>
                <a:off x="6210300" y="742950"/>
                <a:ext cx="2743200" cy="933450"/>
              </a:xfrm>
              <a:prstGeom prst="roundRect">
                <a:avLst>
                  <a:gd name="adj" fmla="val 8163"/>
                </a:avLst>
              </a:prstGeom>
              <a:solidFill>
                <a:srgbClr val="FFFFFF"/>
              </a:solidFill>
              <a:ln w="9525">
                <a:solidFill>
                  <a:srgbClr val="F7D1C9"/>
                </a:solidFill>
              </a:ln>
            </p:spPr>
          </p:sp>
          <p:sp>
            <p:nvSpPr>
              <p:cNvPr id="29" name="Ellipse 29"/>
              <p:cNvSpPr/>
              <p:nvPr/>
            </p:nvSpPr>
            <p:spPr>
              <a:xfrm>
                <a:off x="6419850" y="923925"/>
                <a:ext cx="571500" cy="571500"/>
              </a:xfrm>
              <a:prstGeom prst="ellipse">
                <a:avLst/>
              </a:prstGeom>
              <a:solidFill>
                <a:srgbClr val="B92102"/>
              </a:solidFill>
              <a:ln>
                <a:noFill/>
              </a:ln>
            </p:spPr>
          </p:sp>
          <p:grpSp>
            <p:nvGrpSpPr>
              <p:cNvPr id="32" name="Group 32"/>
              <p:cNvGrpSpPr/>
              <p:nvPr/>
            </p:nvGrpSpPr>
            <p:grpSpPr>
              <a:xfrm>
                <a:off x="6587760" y="1097559"/>
                <a:ext cx="229599" cy="229956"/>
                <a:chOff x="6587760" y="1097559"/>
                <a:chExt cx="229599" cy="229956"/>
              </a:xfrm>
            </p:grpSpPr>
            <p:sp>
              <p:nvSpPr>
                <p:cNvPr id="30" name="Freeform 30"/>
                <p:cNvSpPr/>
                <p:nvPr/>
              </p:nvSpPr>
              <p:spPr>
                <a:xfrm>
                  <a:off x="6587760" y="1097559"/>
                  <a:ext cx="229599" cy="229956"/>
                </a:xfrm>
                <a:custGeom>
                  <a:avLst/>
                  <a:gdLst/>
                  <a:ahLst/>
                  <a:cxnLst/>
                  <a:rect l="l" t="t" r="r" b="b"/>
                  <a:pathLst>
                    <a:path w="229599" h="229956">
                      <a:moveTo>
                        <a:pt x="92440" y="356"/>
                      </a:moveTo>
                      <a:cubicBezTo>
                        <a:pt x="37449" y="13104"/>
                        <a:pt x="0" y="64088"/>
                        <a:pt x="4282" y="120374"/>
                      </a:cubicBezTo>
                      <a:cubicBezTo>
                        <a:pt x="8564" y="176660"/>
                        <a:pt x="53295" y="221391"/>
                        <a:pt x="109582" y="225673"/>
                      </a:cubicBezTo>
                      <a:cubicBezTo>
                        <a:pt x="165868" y="229956"/>
                        <a:pt x="216851" y="192507"/>
                        <a:pt x="229599" y="137516"/>
                      </a:cubicBezTo>
                      <a:cubicBezTo>
                        <a:pt x="229599" y="130502"/>
                        <a:pt x="223913" y="124816"/>
                        <a:pt x="216899" y="124816"/>
                      </a:cubicBezTo>
                      <a:lnTo>
                        <a:pt x="130540" y="124816"/>
                      </a:lnTo>
                      <a:cubicBezTo>
                        <a:pt x="116512" y="124816"/>
                        <a:pt x="105140" y="113444"/>
                        <a:pt x="105140" y="99416"/>
                      </a:cubicBezTo>
                      <a:lnTo>
                        <a:pt x="105140" y="10516"/>
                      </a:lnTo>
                      <a:cubicBezTo>
                        <a:pt x="104821" y="7477"/>
                        <a:pt x="103299" y="4692"/>
                        <a:pt x="100912" y="2783"/>
                      </a:cubicBezTo>
                      <a:cubicBezTo>
                        <a:pt x="98526" y="874"/>
                        <a:pt x="95475" y="0"/>
                        <a:pt x="92440" y="356"/>
                      </a:cubicBezTo>
                    </a:path>
                  </a:pathLst>
                </a:custGeom>
                <a:noFill/>
                <a:ln w="25400">
                  <a:solidFill>
                    <a:srgbClr val="FFFFFF"/>
                  </a:solidFill>
                </a:ln>
              </p:spPr>
            </p:sp>
            <p:sp>
              <p:nvSpPr>
                <p:cNvPr id="31" name="Freeform 31"/>
                <p:cNvSpPr/>
                <p:nvPr/>
              </p:nvSpPr>
              <p:spPr>
                <a:xfrm>
                  <a:off x="6743700" y="1101725"/>
                  <a:ext cx="69850" cy="69850"/>
                </a:xfrm>
                <a:custGeom>
                  <a:avLst/>
                  <a:gdLst/>
                  <a:ahLst/>
                  <a:cxnLst/>
                  <a:rect l="l" t="t" r="r" b="b"/>
                  <a:pathLst>
                    <a:path w="69850" h="69850">
                      <a:moveTo>
                        <a:pt x="0" y="0"/>
                      </a:moveTo>
                      <a:cubicBezTo>
                        <a:pt x="32662" y="11501"/>
                        <a:pt x="58349" y="37188"/>
                        <a:pt x="69850" y="69850"/>
                      </a:cubicBezTo>
                      <a:lnTo>
                        <a:pt x="12700" y="69850"/>
                      </a:lnTo>
                      <a:cubicBezTo>
                        <a:pt x="5686" y="69850"/>
                        <a:pt x="0" y="64164"/>
                        <a:pt x="0" y="57150"/>
                      </a:cubicBezTo>
                      <a:lnTo>
                        <a:pt x="0" y="0"/>
                      </a:lnTo>
                    </a:path>
                  </a:pathLst>
                </a:custGeom>
                <a:noFill/>
                <a:ln w="25400">
                  <a:solidFill>
                    <a:srgbClr val="FFFFFF"/>
                  </a:solidFill>
                </a:ln>
              </p:spPr>
            </p:sp>
          </p:grpSp>
          <p:sp>
            <p:nvSpPr>
              <p:cNvPr id="33" name="TextBox 33"/>
              <p:cNvSpPr txBox="1"/>
              <p:nvPr/>
            </p:nvSpPr>
            <p:spPr>
              <a:xfrm>
                <a:off x="7195185" y="926306"/>
                <a:ext cx="916076" cy="220028"/>
              </a:xfrm>
              <a:prstGeom prst="rect">
                <a:avLst/>
              </a:prstGeom>
              <a:noFill/>
              <a:ln>
                <a:noFill/>
              </a:ln>
            </p:spPr>
            <p:txBody>
              <a:bodyPr wrap="none" lIns="0" tIns="0" rIns="0" bIns="0" anchor="t" anchorCtr="0">
                <a:spAutoFit/>
              </a:bodyPr>
              <a:lstStyle/>
              <a:p>
                <a:pPr algn="l"/>
                <a:r>
                  <a:rPr lang="zh-CN" sz="1120" dirty="0">
                    <a:solidFill>
                      <a:srgbClr val="473633"/>
                    </a:solidFill>
                    <a:latin typeface="+mn-lt"/>
                    <a:ea typeface="+mn-ea"/>
                    <a:cs typeface="+mn-cs"/>
                  </a:rPr>
                  <a:t>重点产品贡献</a:t>
                </a:r>
              </a:p>
            </p:txBody>
          </p:sp>
          <p:sp>
            <p:nvSpPr>
              <p:cNvPr id="34" name="TextBox 34"/>
              <p:cNvSpPr txBox="1"/>
              <p:nvPr/>
            </p:nvSpPr>
            <p:spPr>
              <a:xfrm>
                <a:off x="7187184" y="1213485"/>
                <a:ext cx="928985" cy="528066"/>
              </a:xfrm>
              <a:prstGeom prst="rect">
                <a:avLst/>
              </a:prstGeom>
              <a:noFill/>
              <a:ln>
                <a:noFill/>
              </a:ln>
            </p:spPr>
            <p:txBody>
              <a:bodyPr wrap="none" lIns="0" tIns="0" rIns="0" bIns="0" anchor="t" anchorCtr="0">
                <a:spAutoFit/>
              </a:bodyPr>
              <a:lstStyle/>
              <a:p>
                <a:pPr algn="l"/>
                <a:r>
                  <a:rPr lang="en-US" sz="2700" b="1" dirty="0">
                    <a:solidFill>
                      <a:srgbClr val="B92102"/>
                    </a:solidFill>
                    <a:latin typeface="+mn-lt"/>
                    <a:ea typeface="+mn-ea"/>
                    <a:cs typeface="+mn-cs"/>
                  </a:rPr>
                  <a:t>XX</a:t>
                </a:r>
                <a:r>
                  <a:rPr lang="zh-CN" sz="1350" b="1" dirty="0">
                    <a:solidFill>
                      <a:srgbClr val="B92102"/>
                    </a:solidFill>
                    <a:latin typeface="+mn-lt"/>
                    <a:ea typeface="+mn-ea"/>
                    <a:cs typeface="+mn-cs"/>
                  </a:rPr>
                  <a:t>%​​​</a:t>
                </a:r>
              </a:p>
            </p:txBody>
          </p:sp>
        </p:grpSp>
        <p:grpSp>
          <p:nvGrpSpPr>
            <p:cNvPr id="43" name="kpi-4"/>
            <p:cNvGrpSpPr/>
            <p:nvPr/>
          </p:nvGrpSpPr>
          <p:grpSpPr>
            <a:xfrm>
              <a:off x="9182100" y="742950"/>
              <a:ext cx="2743200" cy="998601"/>
              <a:chOff x="9182100" y="742950"/>
              <a:chExt cx="2743200" cy="998601"/>
            </a:xfrm>
          </p:grpSpPr>
          <p:sp>
            <p:nvSpPr>
              <p:cNvPr id="36" name="Rectangle 36"/>
              <p:cNvSpPr/>
              <p:nvPr/>
            </p:nvSpPr>
            <p:spPr>
              <a:xfrm>
                <a:off x="9182100" y="742950"/>
                <a:ext cx="2743200" cy="933450"/>
              </a:xfrm>
              <a:prstGeom prst="roundRect">
                <a:avLst>
                  <a:gd name="adj" fmla="val 8163"/>
                </a:avLst>
              </a:prstGeom>
              <a:solidFill>
                <a:srgbClr val="FFFFFF"/>
              </a:solidFill>
              <a:ln w="9525">
                <a:solidFill>
                  <a:srgbClr val="F7D1C9"/>
                </a:solidFill>
              </a:ln>
            </p:spPr>
          </p:sp>
          <p:sp>
            <p:nvSpPr>
              <p:cNvPr id="37" name="Ellipse 37"/>
              <p:cNvSpPr/>
              <p:nvPr/>
            </p:nvSpPr>
            <p:spPr>
              <a:xfrm>
                <a:off x="9391650" y="923925"/>
                <a:ext cx="571500" cy="571500"/>
              </a:xfrm>
              <a:prstGeom prst="ellipse">
                <a:avLst/>
              </a:prstGeom>
              <a:solidFill>
                <a:srgbClr val="B92102"/>
              </a:solidFill>
              <a:ln>
                <a:noFill/>
              </a:ln>
            </p:spPr>
          </p:sp>
          <p:grpSp>
            <p:nvGrpSpPr>
              <p:cNvPr id="40" name="Group 40"/>
              <p:cNvGrpSpPr/>
              <p:nvPr/>
            </p:nvGrpSpPr>
            <p:grpSpPr>
              <a:xfrm>
                <a:off x="9545961" y="1095375"/>
                <a:ext cx="248008" cy="228599"/>
                <a:chOff x="9545961" y="1095375"/>
                <a:chExt cx="248008" cy="228599"/>
              </a:xfrm>
            </p:grpSpPr>
            <p:sp>
              <p:nvSpPr>
                <p:cNvPr id="38" name="Freeform 38"/>
                <p:cNvSpPr/>
                <p:nvPr/>
              </p:nvSpPr>
              <p:spPr>
                <a:xfrm>
                  <a:off x="9545961" y="1095375"/>
                  <a:ext cx="248008" cy="226644"/>
                </a:xfrm>
                <a:custGeom>
                  <a:avLst/>
                  <a:gdLst/>
                  <a:ahLst/>
                  <a:cxnLst/>
                  <a:rect l="l" t="t" r="r" b="b"/>
                  <a:pathLst>
                    <a:path w="248008" h="226644">
                      <a:moveTo>
                        <a:pt x="124581" y="226644"/>
                      </a:moveTo>
                      <a:cubicBezTo>
                        <a:pt x="45021" y="201982"/>
                        <a:pt x="0" y="118013"/>
                        <a:pt x="23489" y="38100"/>
                      </a:cubicBezTo>
                      <a:cubicBezTo>
                        <a:pt x="63056" y="39910"/>
                        <a:pt x="101774" y="26245"/>
                        <a:pt x="131439" y="0"/>
                      </a:cubicBezTo>
                      <a:cubicBezTo>
                        <a:pt x="161104" y="26245"/>
                        <a:pt x="199822" y="39910"/>
                        <a:pt x="239389" y="38100"/>
                      </a:cubicBezTo>
                      <a:cubicBezTo>
                        <a:pt x="248008" y="67426"/>
                        <a:pt x="247610" y="98665"/>
                        <a:pt x="238246" y="127762"/>
                      </a:cubicBezTo>
                    </a:path>
                  </a:pathLst>
                </a:custGeom>
                <a:noFill/>
                <a:ln w="25400">
                  <a:solidFill>
                    <a:srgbClr val="FFFFFF"/>
                  </a:solidFill>
                </a:ln>
              </p:spPr>
            </p:sp>
            <p:sp>
              <p:nvSpPr>
                <p:cNvPr id="39" name="Freeform 39"/>
                <p:cNvSpPr/>
                <p:nvPr/>
              </p:nvSpPr>
              <p:spPr>
                <a:xfrm>
                  <a:off x="9715500" y="1273174"/>
                  <a:ext cx="76200" cy="50800"/>
                </a:xfrm>
                <a:custGeom>
                  <a:avLst/>
                  <a:gdLst/>
                  <a:ahLst/>
                  <a:cxnLst/>
                  <a:rect l="l" t="t" r="r" b="b"/>
                  <a:pathLst>
                    <a:path w="76200" h="50800">
                      <a:moveTo>
                        <a:pt x="0" y="25400"/>
                      </a:moveTo>
                      <a:lnTo>
                        <a:pt x="25400" y="50800"/>
                      </a:lnTo>
                      <a:lnTo>
                        <a:pt x="76200" y="0"/>
                      </a:lnTo>
                    </a:path>
                  </a:pathLst>
                </a:custGeom>
                <a:noFill/>
                <a:ln w="25400">
                  <a:solidFill>
                    <a:srgbClr val="FFFFFF"/>
                  </a:solidFill>
                </a:ln>
              </p:spPr>
            </p:sp>
          </p:grpSp>
          <p:sp>
            <p:nvSpPr>
              <p:cNvPr id="41" name="TextBox 41"/>
              <p:cNvSpPr txBox="1"/>
              <p:nvPr/>
            </p:nvSpPr>
            <p:spPr>
              <a:xfrm>
                <a:off x="10166985" y="926306"/>
                <a:ext cx="614528" cy="220028"/>
              </a:xfrm>
              <a:prstGeom prst="rect">
                <a:avLst/>
              </a:prstGeom>
              <a:noFill/>
              <a:ln>
                <a:noFill/>
              </a:ln>
            </p:spPr>
            <p:txBody>
              <a:bodyPr wrap="none" lIns="0" tIns="0" rIns="0" bIns="0" anchor="t" anchorCtr="0">
                <a:spAutoFit/>
              </a:bodyPr>
              <a:lstStyle/>
              <a:p>
                <a:pPr algn="l"/>
                <a:r>
                  <a:rPr lang="zh-CN" sz="1120" dirty="0">
                    <a:solidFill>
                      <a:srgbClr val="473633"/>
                    </a:solidFill>
                    <a:latin typeface="+mn-lt"/>
                    <a:ea typeface="+mn-ea"/>
                    <a:cs typeface="+mn-cs"/>
                  </a:rPr>
                  <a:t>合规事件</a:t>
                </a:r>
              </a:p>
            </p:txBody>
          </p:sp>
          <p:sp>
            <p:nvSpPr>
              <p:cNvPr id="42" name="TextBox 42"/>
              <p:cNvSpPr txBox="1"/>
              <p:nvPr/>
            </p:nvSpPr>
            <p:spPr>
              <a:xfrm>
                <a:off x="10158984" y="1213485"/>
                <a:ext cx="1263546" cy="528066"/>
              </a:xfrm>
              <a:prstGeom prst="rect">
                <a:avLst/>
              </a:prstGeom>
              <a:noFill/>
              <a:ln>
                <a:noFill/>
              </a:ln>
            </p:spPr>
            <p:txBody>
              <a:bodyPr wrap="none" lIns="0" tIns="0" rIns="0" bIns="0" anchor="t" anchorCtr="0">
                <a:spAutoFit/>
              </a:bodyPr>
              <a:lstStyle/>
              <a:p>
                <a:pPr algn="l"/>
                <a:r>
                  <a:rPr lang="zh-CN" sz="2700" b="1" dirty="0">
                    <a:solidFill>
                      <a:srgbClr val="B92102"/>
                    </a:solidFill>
                    <a:latin typeface="+mn-lt"/>
                    <a:ea typeface="+mn-ea"/>
                    <a:cs typeface="+mn-cs"/>
                  </a:rPr>
                  <a:t>0</a:t>
                </a:r>
                <a:r>
                  <a:rPr lang="zh-CN" sz="1650" b="1" dirty="0">
                    <a:solidFill>
                      <a:srgbClr val="B92102"/>
                    </a:solidFill>
                    <a:latin typeface="+mn-lt"/>
                    <a:ea typeface="+mn-ea"/>
                    <a:cs typeface="+mn-cs"/>
                  </a:rPr>
                  <a:t xml:space="preserve"> / </a:t>
                </a:r>
                <a:r>
                  <a:rPr lang="en-US" sz="1950" b="1" dirty="0">
                    <a:solidFill>
                      <a:srgbClr val="B92102"/>
                    </a:solidFill>
                    <a:latin typeface="+mn-lt"/>
                    <a:ea typeface="+mn-ea"/>
                    <a:cs typeface="+mn-cs"/>
                  </a:rPr>
                  <a:t>xx​​​</a:t>
                </a:r>
              </a:p>
            </p:txBody>
          </p:sp>
        </p:grpSp>
      </p:grpSp>
      <p:grpSp>
        <p:nvGrpSpPr>
          <p:cNvPr id="95" name="progress-chart"/>
          <p:cNvGrpSpPr/>
          <p:nvPr/>
        </p:nvGrpSpPr>
        <p:grpSpPr>
          <a:xfrm>
            <a:off x="266700" y="1847850"/>
            <a:ext cx="5867400" cy="2857500"/>
            <a:chOff x="266700" y="1847850"/>
            <a:chExt cx="5867400" cy="2857500"/>
          </a:xfrm>
        </p:grpSpPr>
        <p:sp>
          <p:nvSpPr>
            <p:cNvPr id="45" name="Rectangle 45"/>
            <p:cNvSpPr/>
            <p:nvPr/>
          </p:nvSpPr>
          <p:spPr>
            <a:xfrm>
              <a:off x="266700" y="1847850"/>
              <a:ext cx="5867400" cy="2857500"/>
            </a:xfrm>
            <a:prstGeom prst="roundRect">
              <a:avLst>
                <a:gd name="adj" fmla="val 2667"/>
              </a:avLst>
            </a:prstGeom>
            <a:solidFill>
              <a:srgbClr val="FFFFFF"/>
            </a:solidFill>
            <a:ln w="9525">
              <a:solidFill>
                <a:srgbClr val="F7D1C9"/>
              </a:solidFill>
            </a:ln>
          </p:spPr>
        </p:sp>
        <p:sp>
          <p:nvSpPr>
            <p:cNvPr id="46" name="Freeform 46"/>
            <p:cNvSpPr/>
            <p:nvPr/>
          </p:nvSpPr>
          <p:spPr>
            <a:xfrm>
              <a:off x="266700" y="1847850"/>
              <a:ext cx="1733550" cy="285750"/>
            </a:xfrm>
            <a:custGeom>
              <a:avLst/>
              <a:gdLst/>
              <a:ahLst/>
              <a:cxnLst/>
              <a:rect l="l" t="t" r="r" b="b"/>
              <a:pathLst>
                <a:path w="1733550" h="285750">
                  <a:moveTo>
                    <a:pt x="0" y="76200"/>
                  </a:moveTo>
                  <a:cubicBezTo>
                    <a:pt x="0" y="34116"/>
                    <a:pt x="34116" y="0"/>
                    <a:pt x="76200" y="0"/>
                  </a:cubicBezTo>
                  <a:lnTo>
                    <a:pt x="1733550" y="0"/>
                  </a:lnTo>
                  <a:lnTo>
                    <a:pt x="1600200" y="285750"/>
                  </a:lnTo>
                  <a:lnTo>
                    <a:pt x="0" y="285750"/>
                  </a:lnTo>
                  <a:close/>
                </a:path>
              </a:pathLst>
            </a:custGeom>
            <a:solidFill>
              <a:srgbClr val="B92102"/>
            </a:solidFill>
            <a:ln>
              <a:noFill/>
            </a:ln>
          </p:spPr>
        </p:sp>
        <p:sp>
          <p:nvSpPr>
            <p:cNvPr id="47" name="TextBox 47"/>
            <p:cNvSpPr txBox="1"/>
            <p:nvPr/>
          </p:nvSpPr>
          <p:spPr>
            <a:xfrm>
              <a:off x="413766" y="1934528"/>
              <a:ext cx="1141476"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月度四周进度曲线</a:t>
              </a:r>
            </a:p>
          </p:txBody>
        </p:sp>
        <p:sp>
          <p:nvSpPr>
            <p:cNvPr id="48" name="Line 48"/>
            <p:cNvSpPr/>
            <p:nvPr/>
          </p:nvSpPr>
          <p:spPr>
            <a:xfrm>
              <a:off x="1162050" y="2305050"/>
              <a:ext cx="266700" cy="9525"/>
            </a:xfrm>
            <a:custGeom>
              <a:avLst/>
              <a:gdLst/>
              <a:ahLst/>
              <a:cxnLst/>
              <a:rect l="l" t="t" r="r" b="b"/>
              <a:pathLst>
                <a:path w="266700" h="9525">
                  <a:moveTo>
                    <a:pt x="0" y="0"/>
                  </a:moveTo>
                  <a:lnTo>
                    <a:pt x="266700" y="0"/>
                  </a:lnTo>
                </a:path>
              </a:pathLst>
            </a:custGeom>
            <a:noFill/>
            <a:ln w="23812">
              <a:solidFill>
                <a:srgbClr val="B92102"/>
              </a:solidFill>
            </a:ln>
          </p:spPr>
        </p:sp>
        <p:sp>
          <p:nvSpPr>
            <p:cNvPr id="49" name="TextBox 49"/>
            <p:cNvSpPr txBox="1"/>
            <p:nvPr/>
          </p:nvSpPr>
          <p:spPr>
            <a:xfrm>
              <a:off x="1481138" y="2254091"/>
              <a:ext cx="986462"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实际达成率（%）​​</a:t>
              </a:r>
            </a:p>
          </p:txBody>
        </p:sp>
        <p:sp>
          <p:nvSpPr>
            <p:cNvPr id="50" name="Line 50"/>
            <p:cNvSpPr/>
            <p:nvPr/>
          </p:nvSpPr>
          <p:spPr>
            <a:xfrm>
              <a:off x="2781300" y="2305050"/>
              <a:ext cx="266700" cy="9525"/>
            </a:xfrm>
            <a:custGeom>
              <a:avLst/>
              <a:gdLst/>
              <a:ahLst/>
              <a:cxnLst/>
              <a:rect l="l" t="t" r="r" b="b"/>
              <a:pathLst>
                <a:path w="266700" h="9525">
                  <a:moveTo>
                    <a:pt x="0" y="0"/>
                  </a:moveTo>
                  <a:lnTo>
                    <a:pt x="266700" y="0"/>
                  </a:lnTo>
                </a:path>
              </a:pathLst>
            </a:custGeom>
            <a:noFill/>
            <a:ln w="19050">
              <a:solidFill>
                <a:srgbClr val="D44B2F"/>
              </a:solidFill>
              <a:custDash>
                <a:ds d="250000" sp="150000"/>
              </a:custDash>
            </a:ln>
          </p:spPr>
        </p:sp>
        <p:sp>
          <p:nvSpPr>
            <p:cNvPr id="51" name="TextBox 51"/>
            <p:cNvSpPr txBox="1"/>
            <p:nvPr/>
          </p:nvSpPr>
          <p:spPr>
            <a:xfrm>
              <a:off x="3100388" y="2254091"/>
              <a:ext cx="986462"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目标达成率（%）​​</a:t>
              </a:r>
            </a:p>
          </p:txBody>
        </p:sp>
        <p:sp>
          <p:nvSpPr>
            <p:cNvPr id="52" name="Rectangle 52"/>
            <p:cNvSpPr/>
            <p:nvPr/>
          </p:nvSpPr>
          <p:spPr>
            <a:xfrm>
              <a:off x="4400550" y="2247900"/>
              <a:ext cx="266700" cy="114300"/>
            </a:xfrm>
            <a:prstGeom prst="rect">
              <a:avLst/>
            </a:prstGeom>
            <a:solidFill>
              <a:srgbClr val="FDCCC2"/>
            </a:solidFill>
            <a:ln>
              <a:noFill/>
            </a:ln>
          </p:spPr>
        </p:sp>
        <p:sp>
          <p:nvSpPr>
            <p:cNvPr id="53" name="TextBox 53"/>
            <p:cNvSpPr txBox="1"/>
            <p:nvPr/>
          </p:nvSpPr>
          <p:spPr>
            <a:xfrm>
              <a:off x="4719638" y="2254091"/>
              <a:ext cx="782244"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差距（百分点）</a:t>
              </a:r>
            </a:p>
          </p:txBody>
        </p:sp>
        <p:sp>
          <p:nvSpPr>
            <p:cNvPr id="54" name="Line 54"/>
            <p:cNvSpPr/>
            <p:nvPr/>
          </p:nvSpPr>
          <p:spPr>
            <a:xfrm>
              <a:off x="1143000" y="4305300"/>
              <a:ext cx="4629150" cy="9525"/>
            </a:xfrm>
            <a:custGeom>
              <a:avLst/>
              <a:gdLst/>
              <a:ahLst/>
              <a:cxnLst/>
              <a:rect l="l" t="t" r="r" b="b"/>
              <a:pathLst>
                <a:path w="4629150" h="9525">
                  <a:moveTo>
                    <a:pt x="0" y="0"/>
                  </a:moveTo>
                  <a:lnTo>
                    <a:pt x="4629150" y="0"/>
                  </a:lnTo>
                </a:path>
              </a:pathLst>
            </a:custGeom>
            <a:noFill/>
            <a:ln w="9525">
              <a:solidFill>
                <a:srgbClr val="DCE6F8"/>
              </a:solidFill>
            </a:ln>
          </p:spPr>
        </p:sp>
        <p:sp>
          <p:nvSpPr>
            <p:cNvPr id="55" name="Line 55"/>
            <p:cNvSpPr/>
            <p:nvPr/>
          </p:nvSpPr>
          <p:spPr>
            <a:xfrm>
              <a:off x="1143000" y="3988118"/>
              <a:ext cx="4629150" cy="9525"/>
            </a:xfrm>
            <a:custGeom>
              <a:avLst/>
              <a:gdLst/>
              <a:ahLst/>
              <a:cxnLst/>
              <a:rect l="l" t="t" r="r" b="b"/>
              <a:pathLst>
                <a:path w="4629150" h="9525">
                  <a:moveTo>
                    <a:pt x="0" y="0"/>
                  </a:moveTo>
                  <a:lnTo>
                    <a:pt x="4629150" y="0"/>
                  </a:lnTo>
                </a:path>
              </a:pathLst>
            </a:custGeom>
            <a:noFill/>
            <a:ln w="9525">
              <a:solidFill>
                <a:srgbClr val="EEF3FB"/>
              </a:solidFill>
            </a:ln>
          </p:spPr>
        </p:sp>
        <p:sp>
          <p:nvSpPr>
            <p:cNvPr id="56" name="Line 56"/>
            <p:cNvSpPr/>
            <p:nvPr/>
          </p:nvSpPr>
          <p:spPr>
            <a:xfrm>
              <a:off x="1143000" y="3669982"/>
              <a:ext cx="4629150" cy="9525"/>
            </a:xfrm>
            <a:custGeom>
              <a:avLst/>
              <a:gdLst/>
              <a:ahLst/>
              <a:cxnLst/>
              <a:rect l="l" t="t" r="r" b="b"/>
              <a:pathLst>
                <a:path w="4629150" h="9525">
                  <a:moveTo>
                    <a:pt x="0" y="0"/>
                  </a:moveTo>
                  <a:lnTo>
                    <a:pt x="4629150" y="0"/>
                  </a:lnTo>
                </a:path>
              </a:pathLst>
            </a:custGeom>
            <a:noFill/>
            <a:ln w="9525">
              <a:solidFill>
                <a:srgbClr val="EEF3FB"/>
              </a:solidFill>
            </a:ln>
          </p:spPr>
        </p:sp>
        <p:sp>
          <p:nvSpPr>
            <p:cNvPr id="57" name="Line 57"/>
            <p:cNvSpPr/>
            <p:nvPr/>
          </p:nvSpPr>
          <p:spPr>
            <a:xfrm>
              <a:off x="1143000" y="3352800"/>
              <a:ext cx="4629150" cy="9525"/>
            </a:xfrm>
            <a:custGeom>
              <a:avLst/>
              <a:gdLst/>
              <a:ahLst/>
              <a:cxnLst/>
              <a:rect l="l" t="t" r="r" b="b"/>
              <a:pathLst>
                <a:path w="4629150" h="9525">
                  <a:moveTo>
                    <a:pt x="0" y="0"/>
                  </a:moveTo>
                  <a:lnTo>
                    <a:pt x="4629150" y="0"/>
                  </a:lnTo>
                </a:path>
              </a:pathLst>
            </a:custGeom>
            <a:noFill/>
            <a:ln w="9525">
              <a:solidFill>
                <a:srgbClr val="EEF3FB"/>
              </a:solidFill>
            </a:ln>
          </p:spPr>
        </p:sp>
        <p:sp>
          <p:nvSpPr>
            <p:cNvPr id="58" name="Line 58"/>
            <p:cNvSpPr/>
            <p:nvPr/>
          </p:nvSpPr>
          <p:spPr>
            <a:xfrm>
              <a:off x="1143000" y="3035618"/>
              <a:ext cx="4629150" cy="9525"/>
            </a:xfrm>
            <a:custGeom>
              <a:avLst/>
              <a:gdLst/>
              <a:ahLst/>
              <a:cxnLst/>
              <a:rect l="l" t="t" r="r" b="b"/>
              <a:pathLst>
                <a:path w="4629150" h="9525">
                  <a:moveTo>
                    <a:pt x="0" y="0"/>
                  </a:moveTo>
                  <a:lnTo>
                    <a:pt x="4629150" y="0"/>
                  </a:lnTo>
                </a:path>
              </a:pathLst>
            </a:custGeom>
            <a:noFill/>
            <a:ln w="9525">
              <a:solidFill>
                <a:srgbClr val="EEF3FB"/>
              </a:solidFill>
            </a:ln>
          </p:spPr>
        </p:sp>
        <p:sp>
          <p:nvSpPr>
            <p:cNvPr id="59" name="Line 59"/>
            <p:cNvSpPr/>
            <p:nvPr/>
          </p:nvSpPr>
          <p:spPr>
            <a:xfrm>
              <a:off x="1143000" y="2717482"/>
              <a:ext cx="4629150" cy="9525"/>
            </a:xfrm>
            <a:custGeom>
              <a:avLst/>
              <a:gdLst/>
              <a:ahLst/>
              <a:cxnLst/>
              <a:rect l="l" t="t" r="r" b="b"/>
              <a:pathLst>
                <a:path w="4629150" h="9525">
                  <a:moveTo>
                    <a:pt x="0" y="0"/>
                  </a:moveTo>
                  <a:lnTo>
                    <a:pt x="4629150" y="0"/>
                  </a:lnTo>
                </a:path>
              </a:pathLst>
            </a:custGeom>
            <a:noFill/>
            <a:ln w="9525">
              <a:solidFill>
                <a:srgbClr val="EEF3FB"/>
              </a:solidFill>
            </a:ln>
          </p:spPr>
        </p:sp>
        <p:sp>
          <p:nvSpPr>
            <p:cNvPr id="60" name="Line 60"/>
            <p:cNvSpPr/>
            <p:nvPr/>
          </p:nvSpPr>
          <p:spPr>
            <a:xfrm>
              <a:off x="1143000" y="2400300"/>
              <a:ext cx="4629150" cy="9525"/>
            </a:xfrm>
            <a:custGeom>
              <a:avLst/>
              <a:gdLst/>
              <a:ahLst/>
              <a:cxnLst/>
              <a:rect l="l" t="t" r="r" b="b"/>
              <a:pathLst>
                <a:path w="4629150" h="9525">
                  <a:moveTo>
                    <a:pt x="0" y="0"/>
                  </a:moveTo>
                  <a:lnTo>
                    <a:pt x="4629150" y="0"/>
                  </a:lnTo>
                </a:path>
              </a:pathLst>
            </a:custGeom>
            <a:noFill/>
            <a:ln w="9525">
              <a:solidFill>
                <a:srgbClr val="EEF3FB"/>
              </a:solidFill>
            </a:ln>
          </p:spPr>
        </p:sp>
        <p:sp>
          <p:nvSpPr>
            <p:cNvPr id="61" name="TextBox 61"/>
            <p:cNvSpPr txBox="1"/>
            <p:nvPr/>
          </p:nvSpPr>
          <p:spPr>
            <a:xfrm>
              <a:off x="726091" y="4262438"/>
              <a:ext cx="307372" cy="147638"/>
            </a:xfrm>
            <a:prstGeom prst="rect">
              <a:avLst/>
            </a:prstGeom>
            <a:noFill/>
            <a:ln>
              <a:noFill/>
            </a:ln>
          </p:spPr>
          <p:txBody>
            <a:bodyPr wrap="none" lIns="0" tIns="0" rIns="0" bIns="0" anchor="t" anchorCtr="0">
              <a:spAutoFit/>
            </a:bodyPr>
            <a:lstStyle/>
            <a:p>
              <a:pPr algn="r"/>
              <a:r>
                <a:rPr lang="zh-CN" sz="750" dirty="0">
                  <a:solidFill>
                    <a:srgbClr val="6B7280"/>
                  </a:solidFill>
                  <a:latin typeface="+mn-lt"/>
                  <a:ea typeface="+mn-ea"/>
                  <a:cs typeface="+mn-cs"/>
                </a:rPr>
                <a:t>0%​​​</a:t>
              </a:r>
            </a:p>
          </p:txBody>
        </p:sp>
        <p:sp>
          <p:nvSpPr>
            <p:cNvPr id="62" name="TextBox 62"/>
            <p:cNvSpPr txBox="1"/>
            <p:nvPr/>
          </p:nvSpPr>
          <p:spPr>
            <a:xfrm>
              <a:off x="670560" y="3945255"/>
              <a:ext cx="362902" cy="147638"/>
            </a:xfrm>
            <a:prstGeom prst="rect">
              <a:avLst/>
            </a:prstGeom>
            <a:noFill/>
            <a:ln>
              <a:noFill/>
            </a:ln>
          </p:spPr>
          <p:txBody>
            <a:bodyPr wrap="none" lIns="0" tIns="0" rIns="0" bIns="0" anchor="t" anchorCtr="0">
              <a:spAutoFit/>
            </a:bodyPr>
            <a:lstStyle/>
            <a:p>
              <a:pPr algn="r"/>
              <a:r>
                <a:rPr lang="zh-CN" sz="750" dirty="0">
                  <a:solidFill>
                    <a:srgbClr val="6B7280"/>
                  </a:solidFill>
                  <a:latin typeface="+mn-lt"/>
                  <a:ea typeface="+mn-ea"/>
                  <a:cs typeface="+mn-cs"/>
                </a:rPr>
                <a:t>20%​​​</a:t>
              </a:r>
            </a:p>
          </p:txBody>
        </p:sp>
        <p:sp>
          <p:nvSpPr>
            <p:cNvPr id="63" name="TextBox 63"/>
            <p:cNvSpPr txBox="1"/>
            <p:nvPr/>
          </p:nvSpPr>
          <p:spPr>
            <a:xfrm>
              <a:off x="670560" y="3627120"/>
              <a:ext cx="362902" cy="147638"/>
            </a:xfrm>
            <a:prstGeom prst="rect">
              <a:avLst/>
            </a:prstGeom>
            <a:noFill/>
            <a:ln>
              <a:noFill/>
            </a:ln>
          </p:spPr>
          <p:txBody>
            <a:bodyPr wrap="none" lIns="0" tIns="0" rIns="0" bIns="0" anchor="t" anchorCtr="0">
              <a:spAutoFit/>
            </a:bodyPr>
            <a:lstStyle/>
            <a:p>
              <a:pPr algn="r"/>
              <a:r>
                <a:rPr lang="zh-CN" sz="750" dirty="0">
                  <a:solidFill>
                    <a:srgbClr val="6B7280"/>
                  </a:solidFill>
                  <a:latin typeface="+mn-lt"/>
                  <a:ea typeface="+mn-ea"/>
                  <a:cs typeface="+mn-cs"/>
                </a:rPr>
                <a:t>40%​​​</a:t>
              </a:r>
            </a:p>
          </p:txBody>
        </p:sp>
        <p:sp>
          <p:nvSpPr>
            <p:cNvPr id="64" name="TextBox 64"/>
            <p:cNvSpPr txBox="1"/>
            <p:nvPr/>
          </p:nvSpPr>
          <p:spPr>
            <a:xfrm>
              <a:off x="670560" y="3309938"/>
              <a:ext cx="362902" cy="147638"/>
            </a:xfrm>
            <a:prstGeom prst="rect">
              <a:avLst/>
            </a:prstGeom>
            <a:noFill/>
            <a:ln>
              <a:noFill/>
            </a:ln>
          </p:spPr>
          <p:txBody>
            <a:bodyPr wrap="none" lIns="0" tIns="0" rIns="0" bIns="0" anchor="t" anchorCtr="0">
              <a:spAutoFit/>
            </a:bodyPr>
            <a:lstStyle/>
            <a:p>
              <a:pPr algn="r"/>
              <a:r>
                <a:rPr lang="zh-CN" sz="750" dirty="0">
                  <a:solidFill>
                    <a:srgbClr val="6B7280"/>
                  </a:solidFill>
                  <a:latin typeface="+mn-lt"/>
                  <a:ea typeface="+mn-ea"/>
                  <a:cs typeface="+mn-cs"/>
                </a:rPr>
                <a:t>60%​​​</a:t>
              </a:r>
            </a:p>
          </p:txBody>
        </p:sp>
        <p:sp>
          <p:nvSpPr>
            <p:cNvPr id="65" name="TextBox 65"/>
            <p:cNvSpPr txBox="1"/>
            <p:nvPr/>
          </p:nvSpPr>
          <p:spPr>
            <a:xfrm>
              <a:off x="670560" y="2992755"/>
              <a:ext cx="362902" cy="147638"/>
            </a:xfrm>
            <a:prstGeom prst="rect">
              <a:avLst/>
            </a:prstGeom>
            <a:noFill/>
            <a:ln>
              <a:noFill/>
            </a:ln>
          </p:spPr>
          <p:txBody>
            <a:bodyPr wrap="none" lIns="0" tIns="0" rIns="0" bIns="0" anchor="t" anchorCtr="0">
              <a:spAutoFit/>
            </a:bodyPr>
            <a:lstStyle/>
            <a:p>
              <a:pPr algn="r"/>
              <a:r>
                <a:rPr lang="zh-CN" sz="750" dirty="0">
                  <a:solidFill>
                    <a:srgbClr val="6B7280"/>
                  </a:solidFill>
                  <a:latin typeface="+mn-lt"/>
                  <a:ea typeface="+mn-ea"/>
                  <a:cs typeface="+mn-cs"/>
                </a:rPr>
                <a:t>80%​​​</a:t>
              </a:r>
            </a:p>
          </p:txBody>
        </p:sp>
        <p:sp>
          <p:nvSpPr>
            <p:cNvPr id="66" name="TextBox 66"/>
            <p:cNvSpPr txBox="1"/>
            <p:nvPr/>
          </p:nvSpPr>
          <p:spPr>
            <a:xfrm>
              <a:off x="615029" y="2674620"/>
              <a:ext cx="418433" cy="147638"/>
            </a:xfrm>
            <a:prstGeom prst="rect">
              <a:avLst/>
            </a:prstGeom>
            <a:noFill/>
            <a:ln>
              <a:noFill/>
            </a:ln>
          </p:spPr>
          <p:txBody>
            <a:bodyPr wrap="none" lIns="0" tIns="0" rIns="0" bIns="0" anchor="t" anchorCtr="0">
              <a:spAutoFit/>
            </a:bodyPr>
            <a:lstStyle/>
            <a:p>
              <a:pPr algn="r"/>
              <a:r>
                <a:rPr lang="zh-CN" sz="750" dirty="0">
                  <a:solidFill>
                    <a:srgbClr val="6B7280"/>
                  </a:solidFill>
                  <a:latin typeface="+mn-lt"/>
                  <a:ea typeface="+mn-ea"/>
                  <a:cs typeface="+mn-cs"/>
                </a:rPr>
                <a:t>100%​​​</a:t>
              </a:r>
            </a:p>
          </p:txBody>
        </p:sp>
        <p:sp>
          <p:nvSpPr>
            <p:cNvPr id="67" name="TextBox 67"/>
            <p:cNvSpPr txBox="1"/>
            <p:nvPr/>
          </p:nvSpPr>
          <p:spPr>
            <a:xfrm>
              <a:off x="615029" y="2357438"/>
              <a:ext cx="418433" cy="147638"/>
            </a:xfrm>
            <a:prstGeom prst="rect">
              <a:avLst/>
            </a:prstGeom>
            <a:noFill/>
            <a:ln>
              <a:noFill/>
            </a:ln>
          </p:spPr>
          <p:txBody>
            <a:bodyPr wrap="none" lIns="0" tIns="0" rIns="0" bIns="0" anchor="t" anchorCtr="0">
              <a:spAutoFit/>
            </a:bodyPr>
            <a:lstStyle/>
            <a:p>
              <a:pPr algn="r"/>
              <a:r>
                <a:rPr lang="zh-CN" sz="750" dirty="0">
                  <a:solidFill>
                    <a:srgbClr val="6B7280"/>
                  </a:solidFill>
                  <a:latin typeface="+mn-lt"/>
                  <a:ea typeface="+mn-ea"/>
                  <a:cs typeface="+mn-cs"/>
                </a:rPr>
                <a:t>120%​​​</a:t>
              </a:r>
            </a:p>
          </p:txBody>
        </p:sp>
        <p:sp>
          <p:nvSpPr>
            <p:cNvPr id="68" name="Polygon 68"/>
            <p:cNvSpPr/>
            <p:nvPr/>
          </p:nvSpPr>
          <p:spPr>
            <a:xfrm>
              <a:off x="1238250" y="2717482"/>
              <a:ext cx="4476750" cy="1302068"/>
            </a:xfrm>
            <a:custGeom>
              <a:avLst/>
              <a:gdLst/>
              <a:ahLst/>
              <a:cxnLst/>
              <a:rect l="l" t="t" r="r" b="b"/>
              <a:pathLst>
                <a:path w="4476750" h="1302068">
                  <a:moveTo>
                    <a:pt x="0" y="1190625"/>
                  </a:moveTo>
                  <a:lnTo>
                    <a:pt x="1428750" y="794385"/>
                  </a:lnTo>
                  <a:lnTo>
                    <a:pt x="2952750" y="397192"/>
                  </a:lnTo>
                  <a:lnTo>
                    <a:pt x="4476750" y="0"/>
                  </a:lnTo>
                  <a:lnTo>
                    <a:pt x="4476750" y="285750"/>
                  </a:lnTo>
                  <a:lnTo>
                    <a:pt x="2952750" y="603885"/>
                  </a:lnTo>
                  <a:lnTo>
                    <a:pt x="1428750" y="952500"/>
                  </a:lnTo>
                  <a:lnTo>
                    <a:pt x="0" y="1302068"/>
                  </a:lnTo>
                  <a:close/>
                </a:path>
              </a:pathLst>
            </a:custGeom>
            <a:solidFill>
              <a:srgbClr val="FDCCC2">
                <a:alpha val="55000"/>
              </a:srgbClr>
            </a:solidFill>
            <a:ln>
              <a:noFill/>
            </a:ln>
          </p:spPr>
        </p:sp>
        <p:sp>
          <p:nvSpPr>
            <p:cNvPr id="69" name="Polyline 69"/>
            <p:cNvSpPr/>
            <p:nvPr/>
          </p:nvSpPr>
          <p:spPr>
            <a:xfrm>
              <a:off x="1238250" y="2717482"/>
              <a:ext cx="4476750" cy="1190625"/>
            </a:xfrm>
            <a:custGeom>
              <a:avLst/>
              <a:gdLst/>
              <a:ahLst/>
              <a:cxnLst/>
              <a:rect l="l" t="t" r="r" b="b"/>
              <a:pathLst>
                <a:path w="4476750" h="1190625">
                  <a:moveTo>
                    <a:pt x="0" y="1190625"/>
                  </a:moveTo>
                  <a:lnTo>
                    <a:pt x="1428750" y="794385"/>
                  </a:lnTo>
                  <a:lnTo>
                    <a:pt x="2952750" y="397192"/>
                  </a:lnTo>
                  <a:lnTo>
                    <a:pt x="4476750" y="0"/>
                  </a:lnTo>
                </a:path>
              </a:pathLst>
            </a:custGeom>
            <a:noFill/>
            <a:ln w="19050">
              <a:solidFill>
                <a:srgbClr val="D44B2F"/>
              </a:solidFill>
              <a:custDash>
                <a:ds d="300000" sp="200000"/>
              </a:custDash>
            </a:ln>
          </p:spPr>
        </p:sp>
        <p:sp>
          <p:nvSpPr>
            <p:cNvPr id="70" name="Polyline 70"/>
            <p:cNvSpPr/>
            <p:nvPr/>
          </p:nvSpPr>
          <p:spPr>
            <a:xfrm>
              <a:off x="1238250" y="3003232"/>
              <a:ext cx="4476750" cy="1016317"/>
            </a:xfrm>
            <a:custGeom>
              <a:avLst/>
              <a:gdLst/>
              <a:ahLst/>
              <a:cxnLst/>
              <a:rect l="l" t="t" r="r" b="b"/>
              <a:pathLst>
                <a:path w="4476750" h="1016317">
                  <a:moveTo>
                    <a:pt x="0" y="1016317"/>
                  </a:moveTo>
                  <a:lnTo>
                    <a:pt x="1428750" y="666750"/>
                  </a:lnTo>
                  <a:lnTo>
                    <a:pt x="2952750" y="318135"/>
                  </a:lnTo>
                  <a:lnTo>
                    <a:pt x="4476750" y="0"/>
                  </a:lnTo>
                </a:path>
              </a:pathLst>
            </a:custGeom>
            <a:noFill/>
            <a:ln w="23812">
              <a:solidFill>
                <a:srgbClr val="B92102"/>
              </a:solidFill>
            </a:ln>
          </p:spPr>
        </p:sp>
        <p:sp>
          <p:nvSpPr>
            <p:cNvPr id="71" name="Ellipse 71"/>
            <p:cNvSpPr/>
            <p:nvPr/>
          </p:nvSpPr>
          <p:spPr>
            <a:xfrm>
              <a:off x="1204912" y="3874770"/>
              <a:ext cx="66675" cy="66675"/>
            </a:xfrm>
            <a:prstGeom prst="ellipse">
              <a:avLst/>
            </a:prstGeom>
            <a:solidFill>
              <a:srgbClr val="D44B2F"/>
            </a:solidFill>
            <a:ln>
              <a:noFill/>
            </a:ln>
          </p:spPr>
        </p:sp>
        <p:sp>
          <p:nvSpPr>
            <p:cNvPr id="72" name="Ellipse 72"/>
            <p:cNvSpPr/>
            <p:nvPr/>
          </p:nvSpPr>
          <p:spPr>
            <a:xfrm>
              <a:off x="2633662" y="3478530"/>
              <a:ext cx="66675" cy="66675"/>
            </a:xfrm>
            <a:prstGeom prst="ellipse">
              <a:avLst/>
            </a:prstGeom>
            <a:solidFill>
              <a:srgbClr val="D44B2F"/>
            </a:solidFill>
            <a:ln>
              <a:noFill/>
            </a:ln>
          </p:spPr>
        </p:sp>
        <p:sp>
          <p:nvSpPr>
            <p:cNvPr id="73" name="Ellipse 73"/>
            <p:cNvSpPr/>
            <p:nvPr/>
          </p:nvSpPr>
          <p:spPr>
            <a:xfrm>
              <a:off x="4157662" y="3081338"/>
              <a:ext cx="66675" cy="66675"/>
            </a:xfrm>
            <a:prstGeom prst="ellipse">
              <a:avLst/>
            </a:prstGeom>
            <a:solidFill>
              <a:srgbClr val="D44B2F"/>
            </a:solidFill>
            <a:ln>
              <a:noFill/>
            </a:ln>
          </p:spPr>
        </p:sp>
        <p:sp>
          <p:nvSpPr>
            <p:cNvPr id="74" name="Ellipse 74"/>
            <p:cNvSpPr/>
            <p:nvPr/>
          </p:nvSpPr>
          <p:spPr>
            <a:xfrm>
              <a:off x="5681662" y="2684145"/>
              <a:ext cx="66675" cy="66675"/>
            </a:xfrm>
            <a:prstGeom prst="ellipse">
              <a:avLst/>
            </a:prstGeom>
            <a:solidFill>
              <a:srgbClr val="D44B2F"/>
            </a:solidFill>
            <a:ln>
              <a:noFill/>
            </a:ln>
          </p:spPr>
        </p:sp>
        <p:sp>
          <p:nvSpPr>
            <p:cNvPr id="75" name="Ellipse 75"/>
            <p:cNvSpPr/>
            <p:nvPr/>
          </p:nvSpPr>
          <p:spPr>
            <a:xfrm>
              <a:off x="1200150" y="3981450"/>
              <a:ext cx="76200" cy="76200"/>
            </a:xfrm>
            <a:prstGeom prst="ellipse">
              <a:avLst/>
            </a:prstGeom>
            <a:solidFill>
              <a:srgbClr val="FFFFFF"/>
            </a:solidFill>
            <a:ln w="19050">
              <a:solidFill>
                <a:srgbClr val="B92102"/>
              </a:solidFill>
            </a:ln>
          </p:spPr>
        </p:sp>
        <p:sp>
          <p:nvSpPr>
            <p:cNvPr id="76" name="Ellipse 76"/>
            <p:cNvSpPr/>
            <p:nvPr/>
          </p:nvSpPr>
          <p:spPr>
            <a:xfrm>
              <a:off x="2628900" y="3631882"/>
              <a:ext cx="76200" cy="76200"/>
            </a:xfrm>
            <a:prstGeom prst="ellipse">
              <a:avLst/>
            </a:prstGeom>
            <a:solidFill>
              <a:srgbClr val="FFFFFF"/>
            </a:solidFill>
            <a:ln w="19050">
              <a:solidFill>
                <a:srgbClr val="B92102"/>
              </a:solidFill>
            </a:ln>
          </p:spPr>
        </p:sp>
        <p:sp>
          <p:nvSpPr>
            <p:cNvPr id="77" name="Ellipse 77"/>
            <p:cNvSpPr/>
            <p:nvPr/>
          </p:nvSpPr>
          <p:spPr>
            <a:xfrm>
              <a:off x="4152900" y="3283268"/>
              <a:ext cx="76200" cy="76200"/>
            </a:xfrm>
            <a:prstGeom prst="ellipse">
              <a:avLst/>
            </a:prstGeom>
            <a:solidFill>
              <a:srgbClr val="FFFFFF"/>
            </a:solidFill>
            <a:ln w="19050">
              <a:solidFill>
                <a:srgbClr val="B92102"/>
              </a:solidFill>
            </a:ln>
          </p:spPr>
        </p:sp>
        <p:sp>
          <p:nvSpPr>
            <p:cNvPr id="78" name="Ellipse 78"/>
            <p:cNvSpPr/>
            <p:nvPr/>
          </p:nvSpPr>
          <p:spPr>
            <a:xfrm>
              <a:off x="5676900" y="2965132"/>
              <a:ext cx="76200" cy="76200"/>
            </a:xfrm>
            <a:prstGeom prst="ellipse">
              <a:avLst/>
            </a:prstGeom>
            <a:solidFill>
              <a:srgbClr val="FFFFFF"/>
            </a:solidFill>
            <a:ln w="19050">
              <a:solidFill>
                <a:srgbClr val="B92102"/>
              </a:solidFill>
            </a:ln>
          </p:spPr>
        </p:sp>
        <p:sp>
          <p:nvSpPr>
            <p:cNvPr id="79" name="TextBox 79"/>
            <p:cNvSpPr txBox="1"/>
            <p:nvPr/>
          </p:nvSpPr>
          <p:spPr>
            <a:xfrm>
              <a:off x="1047375" y="3724989"/>
              <a:ext cx="381749" cy="154781"/>
            </a:xfrm>
            <a:prstGeom prst="rect">
              <a:avLst/>
            </a:prstGeom>
            <a:noFill/>
            <a:ln>
              <a:noFill/>
            </a:ln>
          </p:spPr>
          <p:txBody>
            <a:bodyPr wrap="none" lIns="0" tIns="0" rIns="0" bIns="0" anchor="t" anchorCtr="0">
              <a:spAutoFit/>
            </a:bodyPr>
            <a:lstStyle/>
            <a:p>
              <a:pPr algn="ctr"/>
              <a:r>
                <a:rPr lang="zh-CN" sz="790" dirty="0">
                  <a:solidFill>
                    <a:srgbClr val="473633"/>
                  </a:solidFill>
                  <a:latin typeface="+mn-lt"/>
                  <a:ea typeface="+mn-ea"/>
                  <a:cs typeface="+mn-cs"/>
                </a:rPr>
                <a:t>25%​​​</a:t>
              </a:r>
            </a:p>
          </p:txBody>
        </p:sp>
        <p:sp>
          <p:nvSpPr>
            <p:cNvPr id="80" name="TextBox 80"/>
            <p:cNvSpPr txBox="1"/>
            <p:nvPr/>
          </p:nvSpPr>
          <p:spPr>
            <a:xfrm>
              <a:off x="2476125" y="3324939"/>
              <a:ext cx="381749" cy="154781"/>
            </a:xfrm>
            <a:prstGeom prst="rect">
              <a:avLst/>
            </a:prstGeom>
            <a:noFill/>
            <a:ln>
              <a:noFill/>
            </a:ln>
          </p:spPr>
          <p:txBody>
            <a:bodyPr wrap="none" lIns="0" tIns="0" rIns="0" bIns="0" anchor="t" anchorCtr="0">
              <a:spAutoFit/>
            </a:bodyPr>
            <a:lstStyle/>
            <a:p>
              <a:pPr algn="ctr"/>
              <a:r>
                <a:rPr lang="zh-CN" sz="790" dirty="0">
                  <a:solidFill>
                    <a:srgbClr val="473633"/>
                  </a:solidFill>
                  <a:latin typeface="+mn-lt"/>
                  <a:ea typeface="+mn-ea"/>
                  <a:cs typeface="+mn-cs"/>
                </a:rPr>
                <a:t>50%​​​</a:t>
              </a:r>
            </a:p>
          </p:txBody>
        </p:sp>
        <p:sp>
          <p:nvSpPr>
            <p:cNvPr id="81" name="TextBox 81"/>
            <p:cNvSpPr txBox="1"/>
            <p:nvPr/>
          </p:nvSpPr>
          <p:spPr>
            <a:xfrm>
              <a:off x="4000125" y="2924889"/>
              <a:ext cx="381749" cy="154781"/>
            </a:xfrm>
            <a:prstGeom prst="rect">
              <a:avLst/>
            </a:prstGeom>
            <a:noFill/>
            <a:ln>
              <a:noFill/>
            </a:ln>
          </p:spPr>
          <p:txBody>
            <a:bodyPr wrap="none" lIns="0" tIns="0" rIns="0" bIns="0" anchor="t" anchorCtr="0">
              <a:spAutoFit/>
            </a:bodyPr>
            <a:lstStyle/>
            <a:p>
              <a:pPr algn="ctr"/>
              <a:r>
                <a:rPr lang="zh-CN" sz="790" dirty="0">
                  <a:solidFill>
                    <a:srgbClr val="473633"/>
                  </a:solidFill>
                  <a:latin typeface="+mn-lt"/>
                  <a:ea typeface="+mn-ea"/>
                  <a:cs typeface="+mn-cs"/>
                </a:rPr>
                <a:t>75%​​​</a:t>
              </a:r>
            </a:p>
          </p:txBody>
        </p:sp>
        <p:sp>
          <p:nvSpPr>
            <p:cNvPr id="82" name="TextBox 82"/>
            <p:cNvSpPr txBox="1"/>
            <p:nvPr/>
          </p:nvSpPr>
          <p:spPr>
            <a:xfrm>
              <a:off x="5494879" y="2524839"/>
              <a:ext cx="440242" cy="154781"/>
            </a:xfrm>
            <a:prstGeom prst="rect">
              <a:avLst/>
            </a:prstGeom>
            <a:noFill/>
            <a:ln>
              <a:noFill/>
            </a:ln>
          </p:spPr>
          <p:txBody>
            <a:bodyPr wrap="none" lIns="0" tIns="0" rIns="0" bIns="0" anchor="t" anchorCtr="0">
              <a:spAutoFit/>
            </a:bodyPr>
            <a:lstStyle/>
            <a:p>
              <a:pPr algn="ctr"/>
              <a:r>
                <a:rPr lang="zh-CN" sz="790" dirty="0">
                  <a:solidFill>
                    <a:srgbClr val="473633"/>
                  </a:solidFill>
                  <a:latin typeface="+mn-lt"/>
                  <a:ea typeface="+mn-ea"/>
                  <a:cs typeface="+mn-cs"/>
                </a:rPr>
                <a:t>100%​​​</a:t>
              </a:r>
            </a:p>
          </p:txBody>
        </p:sp>
        <p:sp>
          <p:nvSpPr>
            <p:cNvPr id="83" name="TextBox 83"/>
            <p:cNvSpPr txBox="1"/>
            <p:nvPr/>
          </p:nvSpPr>
          <p:spPr>
            <a:xfrm>
              <a:off x="1047375" y="4125039"/>
              <a:ext cx="381749" cy="154781"/>
            </a:xfrm>
            <a:prstGeom prst="rect">
              <a:avLst/>
            </a:prstGeom>
            <a:noFill/>
            <a:ln>
              <a:noFill/>
            </a:ln>
          </p:spPr>
          <p:txBody>
            <a:bodyPr wrap="none" lIns="0" tIns="0" rIns="0" bIns="0" anchor="t" anchorCtr="0">
              <a:spAutoFit/>
            </a:bodyPr>
            <a:lstStyle/>
            <a:p>
              <a:pPr algn="ctr"/>
              <a:r>
                <a:rPr lang="zh-CN" sz="790" dirty="0">
                  <a:solidFill>
                    <a:srgbClr val="473633"/>
                  </a:solidFill>
                  <a:latin typeface="+mn-lt"/>
                  <a:ea typeface="+mn-ea"/>
                  <a:cs typeface="+mn-cs"/>
                </a:rPr>
                <a:t>18%​​​</a:t>
              </a:r>
            </a:p>
          </p:txBody>
        </p:sp>
        <p:sp>
          <p:nvSpPr>
            <p:cNvPr id="84" name="TextBox 84"/>
            <p:cNvSpPr txBox="1"/>
            <p:nvPr/>
          </p:nvSpPr>
          <p:spPr>
            <a:xfrm>
              <a:off x="2476125" y="3772614"/>
              <a:ext cx="381749" cy="154781"/>
            </a:xfrm>
            <a:prstGeom prst="rect">
              <a:avLst/>
            </a:prstGeom>
            <a:noFill/>
            <a:ln>
              <a:noFill/>
            </a:ln>
          </p:spPr>
          <p:txBody>
            <a:bodyPr wrap="none" lIns="0" tIns="0" rIns="0" bIns="0" anchor="t" anchorCtr="0">
              <a:spAutoFit/>
            </a:bodyPr>
            <a:lstStyle/>
            <a:p>
              <a:pPr algn="ctr"/>
              <a:r>
                <a:rPr lang="zh-CN" sz="790" dirty="0">
                  <a:solidFill>
                    <a:srgbClr val="473633"/>
                  </a:solidFill>
                  <a:latin typeface="+mn-lt"/>
                  <a:ea typeface="+mn-ea"/>
                  <a:cs typeface="+mn-cs"/>
                </a:rPr>
                <a:t>40%​​​</a:t>
              </a:r>
            </a:p>
          </p:txBody>
        </p:sp>
        <p:sp>
          <p:nvSpPr>
            <p:cNvPr id="85" name="TextBox 85"/>
            <p:cNvSpPr txBox="1"/>
            <p:nvPr/>
          </p:nvSpPr>
          <p:spPr>
            <a:xfrm>
              <a:off x="4000125" y="3420189"/>
              <a:ext cx="381749" cy="154781"/>
            </a:xfrm>
            <a:prstGeom prst="rect">
              <a:avLst/>
            </a:prstGeom>
            <a:noFill/>
            <a:ln>
              <a:noFill/>
            </a:ln>
          </p:spPr>
          <p:txBody>
            <a:bodyPr wrap="none" lIns="0" tIns="0" rIns="0" bIns="0" anchor="t" anchorCtr="0">
              <a:spAutoFit/>
            </a:bodyPr>
            <a:lstStyle/>
            <a:p>
              <a:pPr algn="ctr"/>
              <a:r>
                <a:rPr lang="zh-CN" sz="790" dirty="0">
                  <a:solidFill>
                    <a:srgbClr val="473633"/>
                  </a:solidFill>
                  <a:latin typeface="+mn-lt"/>
                  <a:ea typeface="+mn-ea"/>
                  <a:cs typeface="+mn-cs"/>
                </a:rPr>
                <a:t>62%​​​</a:t>
              </a:r>
            </a:p>
          </p:txBody>
        </p:sp>
        <p:sp>
          <p:nvSpPr>
            <p:cNvPr id="86" name="TextBox 86"/>
            <p:cNvSpPr txBox="1"/>
            <p:nvPr/>
          </p:nvSpPr>
          <p:spPr>
            <a:xfrm>
              <a:off x="5524125" y="3105864"/>
              <a:ext cx="381749" cy="154781"/>
            </a:xfrm>
            <a:prstGeom prst="rect">
              <a:avLst/>
            </a:prstGeom>
            <a:noFill/>
            <a:ln>
              <a:noFill/>
            </a:ln>
          </p:spPr>
          <p:txBody>
            <a:bodyPr wrap="none" lIns="0" tIns="0" rIns="0" bIns="0" anchor="t" anchorCtr="0">
              <a:spAutoFit/>
            </a:bodyPr>
            <a:lstStyle/>
            <a:p>
              <a:pPr algn="ctr"/>
              <a:r>
                <a:rPr lang="zh-CN" sz="790" dirty="0">
                  <a:solidFill>
                    <a:srgbClr val="473633"/>
                  </a:solidFill>
                  <a:latin typeface="+mn-lt"/>
                  <a:ea typeface="+mn-ea"/>
                  <a:cs typeface="+mn-cs"/>
                </a:rPr>
                <a:t>82%​​​</a:t>
              </a:r>
            </a:p>
          </p:txBody>
        </p:sp>
        <p:sp>
          <p:nvSpPr>
            <p:cNvPr id="87" name="TextBox 87"/>
            <p:cNvSpPr txBox="1"/>
            <p:nvPr/>
          </p:nvSpPr>
          <p:spPr>
            <a:xfrm>
              <a:off x="1500188" y="3919538"/>
              <a:ext cx="417676" cy="147638"/>
            </a:xfrm>
            <a:prstGeom prst="rect">
              <a:avLst/>
            </a:prstGeom>
            <a:noFill/>
            <a:ln>
              <a:noFill/>
            </a:ln>
          </p:spPr>
          <p:txBody>
            <a:bodyPr wrap="none" lIns="0" tIns="0" rIns="0" bIns="0" anchor="t" anchorCtr="0">
              <a:spAutoFit/>
            </a:bodyPr>
            <a:lstStyle/>
            <a:p>
              <a:pPr algn="l"/>
              <a:r>
                <a:rPr lang="en-US" sz="750" b="1" dirty="0">
                  <a:solidFill>
                    <a:srgbClr val="B92102"/>
                  </a:solidFill>
                  <a:latin typeface="+mn-lt"/>
                  <a:ea typeface="+mn-ea"/>
                  <a:cs typeface="+mn-cs"/>
                </a:rPr>
                <a:t>-7.0pp​</a:t>
              </a:r>
            </a:p>
          </p:txBody>
        </p:sp>
        <p:sp>
          <p:nvSpPr>
            <p:cNvPr id="88" name="TextBox 88"/>
            <p:cNvSpPr txBox="1"/>
            <p:nvPr/>
          </p:nvSpPr>
          <p:spPr>
            <a:xfrm>
              <a:off x="2852738" y="3557588"/>
              <a:ext cx="475983" cy="147638"/>
            </a:xfrm>
            <a:prstGeom prst="rect">
              <a:avLst/>
            </a:prstGeom>
            <a:noFill/>
            <a:ln>
              <a:noFill/>
            </a:ln>
          </p:spPr>
          <p:txBody>
            <a:bodyPr wrap="none" lIns="0" tIns="0" rIns="0" bIns="0" anchor="t" anchorCtr="0">
              <a:spAutoFit/>
            </a:bodyPr>
            <a:lstStyle/>
            <a:p>
              <a:pPr algn="l"/>
              <a:r>
                <a:rPr lang="en-US" sz="750" b="1" dirty="0">
                  <a:solidFill>
                    <a:srgbClr val="B92102"/>
                  </a:solidFill>
                  <a:latin typeface="+mn-lt"/>
                  <a:ea typeface="+mn-ea"/>
                  <a:cs typeface="+mn-cs"/>
                </a:rPr>
                <a:t>-10.0pp​</a:t>
              </a:r>
            </a:p>
          </p:txBody>
        </p:sp>
        <p:sp>
          <p:nvSpPr>
            <p:cNvPr id="89" name="TextBox 89"/>
            <p:cNvSpPr txBox="1"/>
            <p:nvPr/>
          </p:nvSpPr>
          <p:spPr>
            <a:xfrm>
              <a:off x="4376738" y="3186112"/>
              <a:ext cx="475983" cy="147638"/>
            </a:xfrm>
            <a:prstGeom prst="rect">
              <a:avLst/>
            </a:prstGeom>
            <a:noFill/>
            <a:ln>
              <a:noFill/>
            </a:ln>
          </p:spPr>
          <p:txBody>
            <a:bodyPr wrap="none" lIns="0" tIns="0" rIns="0" bIns="0" anchor="t" anchorCtr="0">
              <a:spAutoFit/>
            </a:bodyPr>
            <a:lstStyle/>
            <a:p>
              <a:pPr algn="l"/>
              <a:r>
                <a:rPr lang="en-US" sz="750" b="1" dirty="0">
                  <a:solidFill>
                    <a:srgbClr val="B92102"/>
                  </a:solidFill>
                  <a:latin typeface="+mn-lt"/>
                  <a:ea typeface="+mn-ea"/>
                  <a:cs typeface="+mn-cs"/>
                </a:rPr>
                <a:t>-13.0pp​</a:t>
              </a:r>
            </a:p>
          </p:txBody>
        </p:sp>
        <p:sp>
          <p:nvSpPr>
            <p:cNvPr id="90" name="TextBox 90"/>
            <p:cNvSpPr txBox="1"/>
            <p:nvPr/>
          </p:nvSpPr>
          <p:spPr>
            <a:xfrm>
              <a:off x="5214938" y="2814638"/>
              <a:ext cx="475983" cy="147638"/>
            </a:xfrm>
            <a:prstGeom prst="rect">
              <a:avLst/>
            </a:prstGeom>
            <a:noFill/>
            <a:ln>
              <a:noFill/>
            </a:ln>
          </p:spPr>
          <p:txBody>
            <a:bodyPr wrap="none" lIns="0" tIns="0" rIns="0" bIns="0" anchor="t" anchorCtr="0">
              <a:spAutoFit/>
            </a:bodyPr>
            <a:lstStyle/>
            <a:p>
              <a:pPr algn="l"/>
              <a:r>
                <a:rPr lang="en-US" sz="750" b="1" dirty="0">
                  <a:solidFill>
                    <a:srgbClr val="B92102"/>
                  </a:solidFill>
                  <a:latin typeface="+mn-lt"/>
                  <a:ea typeface="+mn-ea"/>
                  <a:cs typeface="+mn-cs"/>
                </a:rPr>
                <a:t>-18.0pp​</a:t>
              </a:r>
            </a:p>
          </p:txBody>
        </p:sp>
        <p:sp>
          <p:nvSpPr>
            <p:cNvPr id="91" name="TextBox 91"/>
            <p:cNvSpPr txBox="1"/>
            <p:nvPr/>
          </p:nvSpPr>
          <p:spPr>
            <a:xfrm>
              <a:off x="1109152" y="4417695"/>
              <a:ext cx="258196" cy="176212"/>
            </a:xfrm>
            <a:prstGeom prst="rect">
              <a:avLst/>
            </a:prstGeom>
            <a:noFill/>
            <a:ln>
              <a:noFill/>
            </a:ln>
          </p:spPr>
          <p:txBody>
            <a:bodyPr wrap="none" lIns="0" tIns="0" rIns="0" bIns="0" anchor="t" anchorCtr="0">
              <a:spAutoFit/>
            </a:bodyPr>
            <a:lstStyle/>
            <a:p>
              <a:pPr algn="ctr"/>
              <a:r>
                <a:rPr lang="en-US" sz="900" b="1" dirty="0">
                  <a:solidFill>
                    <a:srgbClr val="6E1604"/>
                  </a:solidFill>
                  <a:latin typeface="+mn-lt"/>
                  <a:ea typeface="+mn-ea"/>
                  <a:cs typeface="+mn-cs"/>
                </a:rPr>
                <a:t>W1​</a:t>
              </a:r>
            </a:p>
          </p:txBody>
        </p:sp>
        <p:sp>
          <p:nvSpPr>
            <p:cNvPr id="92" name="TextBox 92"/>
            <p:cNvSpPr txBox="1"/>
            <p:nvPr/>
          </p:nvSpPr>
          <p:spPr>
            <a:xfrm>
              <a:off x="2537902" y="4417695"/>
              <a:ext cx="258196" cy="176212"/>
            </a:xfrm>
            <a:prstGeom prst="rect">
              <a:avLst/>
            </a:prstGeom>
            <a:noFill/>
            <a:ln>
              <a:noFill/>
            </a:ln>
          </p:spPr>
          <p:txBody>
            <a:bodyPr wrap="none" lIns="0" tIns="0" rIns="0" bIns="0" anchor="t" anchorCtr="0">
              <a:spAutoFit/>
            </a:bodyPr>
            <a:lstStyle/>
            <a:p>
              <a:pPr algn="ctr"/>
              <a:r>
                <a:rPr lang="en-US" sz="900" b="1" dirty="0">
                  <a:solidFill>
                    <a:srgbClr val="6E1604"/>
                  </a:solidFill>
                  <a:latin typeface="+mn-lt"/>
                  <a:ea typeface="+mn-ea"/>
                  <a:cs typeface="+mn-cs"/>
                </a:rPr>
                <a:t>W2​</a:t>
              </a:r>
            </a:p>
          </p:txBody>
        </p:sp>
        <p:sp>
          <p:nvSpPr>
            <p:cNvPr id="93" name="TextBox 93"/>
            <p:cNvSpPr txBox="1"/>
            <p:nvPr/>
          </p:nvSpPr>
          <p:spPr>
            <a:xfrm>
              <a:off x="4061902" y="4417695"/>
              <a:ext cx="258196" cy="176212"/>
            </a:xfrm>
            <a:prstGeom prst="rect">
              <a:avLst/>
            </a:prstGeom>
            <a:noFill/>
            <a:ln>
              <a:noFill/>
            </a:ln>
          </p:spPr>
          <p:txBody>
            <a:bodyPr wrap="none" lIns="0" tIns="0" rIns="0" bIns="0" anchor="t" anchorCtr="0">
              <a:spAutoFit/>
            </a:bodyPr>
            <a:lstStyle/>
            <a:p>
              <a:pPr algn="ctr"/>
              <a:r>
                <a:rPr lang="en-US" sz="900" b="1" dirty="0">
                  <a:solidFill>
                    <a:srgbClr val="6E1604"/>
                  </a:solidFill>
                  <a:latin typeface="+mn-lt"/>
                  <a:ea typeface="+mn-ea"/>
                  <a:cs typeface="+mn-cs"/>
                </a:rPr>
                <a:t>W3​</a:t>
              </a:r>
            </a:p>
          </p:txBody>
        </p:sp>
        <p:sp>
          <p:nvSpPr>
            <p:cNvPr id="94" name="TextBox 94"/>
            <p:cNvSpPr txBox="1"/>
            <p:nvPr/>
          </p:nvSpPr>
          <p:spPr>
            <a:xfrm>
              <a:off x="5585902" y="4417695"/>
              <a:ext cx="258196" cy="176212"/>
            </a:xfrm>
            <a:prstGeom prst="rect">
              <a:avLst/>
            </a:prstGeom>
            <a:noFill/>
            <a:ln>
              <a:noFill/>
            </a:ln>
          </p:spPr>
          <p:txBody>
            <a:bodyPr wrap="none" lIns="0" tIns="0" rIns="0" bIns="0" anchor="t" anchorCtr="0">
              <a:spAutoFit/>
            </a:bodyPr>
            <a:lstStyle/>
            <a:p>
              <a:pPr algn="ctr"/>
              <a:r>
                <a:rPr lang="en-US" sz="900" b="1" dirty="0">
                  <a:solidFill>
                    <a:srgbClr val="6E1604"/>
                  </a:solidFill>
                  <a:latin typeface="+mn-lt"/>
                  <a:ea typeface="+mn-ea"/>
                  <a:cs typeface="+mn-cs"/>
                </a:rPr>
                <a:t>W4​</a:t>
              </a:r>
            </a:p>
          </p:txBody>
        </p:sp>
      </p:grpSp>
      <p:grpSp>
        <p:nvGrpSpPr>
          <p:cNvPr id="128" name="gap-waterfall"/>
          <p:cNvGrpSpPr/>
          <p:nvPr/>
        </p:nvGrpSpPr>
        <p:grpSpPr>
          <a:xfrm>
            <a:off x="6324600" y="1847850"/>
            <a:ext cx="5600700" cy="2857500"/>
            <a:chOff x="6324600" y="1847850"/>
            <a:chExt cx="5600700" cy="2857500"/>
          </a:xfrm>
        </p:grpSpPr>
        <p:sp>
          <p:nvSpPr>
            <p:cNvPr id="96" name="Rectangle 96"/>
            <p:cNvSpPr/>
            <p:nvPr/>
          </p:nvSpPr>
          <p:spPr>
            <a:xfrm>
              <a:off x="6324600" y="1847850"/>
              <a:ext cx="5600700" cy="2857500"/>
            </a:xfrm>
            <a:prstGeom prst="roundRect">
              <a:avLst>
                <a:gd name="adj" fmla="val 2667"/>
              </a:avLst>
            </a:prstGeom>
            <a:solidFill>
              <a:srgbClr val="FFFFFF"/>
            </a:solidFill>
            <a:ln w="9525">
              <a:solidFill>
                <a:srgbClr val="F7D1C9"/>
              </a:solidFill>
            </a:ln>
          </p:spPr>
        </p:sp>
        <p:sp>
          <p:nvSpPr>
            <p:cNvPr id="97" name="Freeform 97"/>
            <p:cNvSpPr/>
            <p:nvPr/>
          </p:nvSpPr>
          <p:spPr>
            <a:xfrm>
              <a:off x="6324600" y="1847850"/>
              <a:ext cx="1581150" cy="285750"/>
            </a:xfrm>
            <a:custGeom>
              <a:avLst/>
              <a:gdLst/>
              <a:ahLst/>
              <a:cxnLst/>
              <a:rect l="l" t="t" r="r" b="b"/>
              <a:pathLst>
                <a:path w="1581150" h="285750">
                  <a:moveTo>
                    <a:pt x="0" y="76200"/>
                  </a:moveTo>
                  <a:cubicBezTo>
                    <a:pt x="0" y="34116"/>
                    <a:pt x="34116" y="0"/>
                    <a:pt x="76200" y="0"/>
                  </a:cubicBezTo>
                  <a:lnTo>
                    <a:pt x="1581150" y="0"/>
                  </a:lnTo>
                  <a:lnTo>
                    <a:pt x="1447800" y="285750"/>
                  </a:lnTo>
                  <a:lnTo>
                    <a:pt x="0" y="285750"/>
                  </a:lnTo>
                  <a:close/>
                </a:path>
              </a:pathLst>
            </a:custGeom>
            <a:solidFill>
              <a:srgbClr val="B92102"/>
            </a:solidFill>
            <a:ln>
              <a:noFill/>
            </a:ln>
          </p:spPr>
        </p:sp>
        <p:sp>
          <p:nvSpPr>
            <p:cNvPr id="98" name="TextBox 98"/>
            <p:cNvSpPr txBox="1"/>
            <p:nvPr/>
          </p:nvSpPr>
          <p:spPr>
            <a:xfrm>
              <a:off x="6471666" y="1934528"/>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目标差距拆解</a:t>
              </a:r>
            </a:p>
          </p:txBody>
        </p:sp>
        <p:sp>
          <p:nvSpPr>
            <p:cNvPr id="99" name="TextBox 99"/>
            <p:cNvSpPr txBox="1"/>
            <p:nvPr/>
          </p:nvSpPr>
          <p:spPr>
            <a:xfrm>
              <a:off x="6472238" y="2273141"/>
              <a:ext cx="892632" cy="161925"/>
            </a:xfrm>
            <a:prstGeom prst="rect">
              <a:avLst/>
            </a:prstGeom>
            <a:noFill/>
            <a:ln>
              <a:noFill/>
            </a:ln>
          </p:spPr>
          <p:txBody>
            <a:bodyPr wrap="none" lIns="0" tIns="0" rIns="0" bIns="0" anchor="t" anchorCtr="0">
              <a:spAutoFit/>
            </a:bodyPr>
            <a:lstStyle/>
            <a:p>
              <a:pPr algn="l"/>
              <a:r>
                <a:rPr lang="zh-CN" sz="820" dirty="0">
                  <a:solidFill>
                    <a:srgbClr val="6B7280"/>
                  </a:solidFill>
                  <a:latin typeface="+mn-lt"/>
                  <a:ea typeface="+mn-ea"/>
                  <a:cs typeface="+mn-cs"/>
                </a:rPr>
                <a:t>（单位：百分点）</a:t>
              </a:r>
            </a:p>
          </p:txBody>
        </p:sp>
        <p:sp>
          <p:nvSpPr>
            <p:cNvPr id="100" name="Line 100"/>
            <p:cNvSpPr/>
            <p:nvPr/>
          </p:nvSpPr>
          <p:spPr>
            <a:xfrm>
              <a:off x="6572250" y="4238625"/>
              <a:ext cx="5200650" cy="9525"/>
            </a:xfrm>
            <a:custGeom>
              <a:avLst/>
              <a:gdLst/>
              <a:ahLst/>
              <a:cxnLst/>
              <a:rect l="l" t="t" r="r" b="b"/>
              <a:pathLst>
                <a:path w="5200650" h="9525">
                  <a:moveTo>
                    <a:pt x="0" y="0"/>
                  </a:moveTo>
                  <a:lnTo>
                    <a:pt x="5200650" y="0"/>
                  </a:lnTo>
                </a:path>
              </a:pathLst>
            </a:custGeom>
            <a:noFill/>
            <a:ln w="9525">
              <a:solidFill>
                <a:srgbClr val="DCE6F8"/>
              </a:solidFill>
            </a:ln>
          </p:spPr>
        </p:sp>
        <p:sp>
          <p:nvSpPr>
            <p:cNvPr id="101" name="Rectangle 101"/>
            <p:cNvSpPr/>
            <p:nvPr/>
          </p:nvSpPr>
          <p:spPr>
            <a:xfrm>
              <a:off x="6724650" y="2495550"/>
              <a:ext cx="419100" cy="1743075"/>
            </a:xfrm>
            <a:prstGeom prst="rect">
              <a:avLst/>
            </a:prstGeom>
            <a:solidFill>
              <a:srgbClr val="B92102"/>
            </a:solidFill>
            <a:ln>
              <a:noFill/>
            </a:ln>
          </p:spPr>
        </p:sp>
        <p:sp>
          <p:nvSpPr>
            <p:cNvPr id="102" name="TextBox 102"/>
            <p:cNvSpPr txBox="1"/>
            <p:nvPr/>
          </p:nvSpPr>
          <p:spPr>
            <a:xfrm>
              <a:off x="6738190" y="2330291"/>
              <a:ext cx="392021" cy="161925"/>
            </a:xfrm>
            <a:prstGeom prst="rect">
              <a:avLst/>
            </a:prstGeom>
            <a:noFill/>
            <a:ln>
              <a:noFill/>
            </a:ln>
          </p:spPr>
          <p:txBody>
            <a:bodyPr wrap="none" lIns="0" tIns="0" rIns="0" bIns="0" anchor="t" anchorCtr="0">
              <a:spAutoFit/>
            </a:bodyPr>
            <a:lstStyle/>
            <a:p>
              <a:pPr algn="ctr"/>
              <a:r>
                <a:rPr lang="zh-CN" sz="820" b="1" dirty="0">
                  <a:solidFill>
                    <a:srgbClr val="6E1604"/>
                  </a:solidFill>
                  <a:latin typeface="+mn-lt"/>
                  <a:ea typeface="+mn-ea"/>
                  <a:cs typeface="+mn-cs"/>
                </a:rPr>
                <a:t>100.0​</a:t>
              </a:r>
            </a:p>
          </p:txBody>
        </p:sp>
        <p:sp>
          <p:nvSpPr>
            <p:cNvPr id="103" name="Line 103"/>
            <p:cNvSpPr/>
            <p:nvPr/>
          </p:nvSpPr>
          <p:spPr>
            <a:xfrm>
              <a:off x="7143750" y="2495550"/>
              <a:ext cx="314325" cy="9525"/>
            </a:xfrm>
            <a:custGeom>
              <a:avLst/>
              <a:gdLst/>
              <a:ahLst/>
              <a:cxnLst/>
              <a:rect l="l" t="t" r="r" b="b"/>
              <a:pathLst>
                <a:path w="314325" h="9525">
                  <a:moveTo>
                    <a:pt x="0" y="0"/>
                  </a:moveTo>
                  <a:lnTo>
                    <a:pt x="314325" y="0"/>
                  </a:lnTo>
                </a:path>
              </a:pathLst>
            </a:custGeom>
            <a:noFill/>
            <a:ln w="9525">
              <a:solidFill>
                <a:srgbClr val="E3907F"/>
              </a:solidFill>
              <a:custDash>
                <a:ds d="300000" sp="200000"/>
              </a:custDash>
            </a:ln>
          </p:spPr>
        </p:sp>
        <p:sp>
          <p:nvSpPr>
            <p:cNvPr id="104" name="Rectangle 104"/>
            <p:cNvSpPr/>
            <p:nvPr/>
          </p:nvSpPr>
          <p:spPr>
            <a:xfrm>
              <a:off x="7458075" y="2495550"/>
              <a:ext cx="419100" cy="266700"/>
            </a:xfrm>
            <a:prstGeom prst="rect">
              <a:avLst/>
            </a:prstGeom>
            <a:solidFill>
              <a:srgbClr val="FDCCC2"/>
            </a:solidFill>
            <a:ln>
              <a:noFill/>
            </a:ln>
          </p:spPr>
        </p:sp>
        <p:sp>
          <p:nvSpPr>
            <p:cNvPr id="105" name="TextBox 105"/>
            <p:cNvSpPr txBox="1"/>
            <p:nvPr/>
          </p:nvSpPr>
          <p:spPr>
            <a:xfrm>
              <a:off x="7452916" y="2825591"/>
              <a:ext cx="429417" cy="161925"/>
            </a:xfrm>
            <a:prstGeom prst="rect">
              <a:avLst/>
            </a:prstGeom>
            <a:noFill/>
            <a:ln>
              <a:noFill/>
            </a:ln>
          </p:spPr>
          <p:txBody>
            <a:bodyPr wrap="none" lIns="0" tIns="0" rIns="0" bIns="0" anchor="t" anchorCtr="0">
              <a:spAutoFit/>
            </a:bodyPr>
            <a:lstStyle/>
            <a:p>
              <a:pPr algn="ctr"/>
              <a:r>
                <a:rPr lang="en-US" sz="820" dirty="0">
                  <a:solidFill>
                    <a:srgbClr val="473633"/>
                  </a:solidFill>
                  <a:latin typeface="+mn-lt"/>
                  <a:ea typeface="+mn-ea"/>
                  <a:cs typeface="+mn-cs"/>
                </a:rPr>
                <a:t>- XX.X​</a:t>
              </a:r>
            </a:p>
          </p:txBody>
        </p:sp>
        <p:sp>
          <p:nvSpPr>
            <p:cNvPr id="106" name="Line 106"/>
            <p:cNvSpPr/>
            <p:nvPr/>
          </p:nvSpPr>
          <p:spPr>
            <a:xfrm>
              <a:off x="7877175" y="2762250"/>
              <a:ext cx="314325" cy="9525"/>
            </a:xfrm>
            <a:custGeom>
              <a:avLst/>
              <a:gdLst/>
              <a:ahLst/>
              <a:cxnLst/>
              <a:rect l="l" t="t" r="r" b="b"/>
              <a:pathLst>
                <a:path w="314325" h="9525">
                  <a:moveTo>
                    <a:pt x="0" y="0"/>
                  </a:moveTo>
                  <a:lnTo>
                    <a:pt x="314325" y="0"/>
                  </a:lnTo>
                </a:path>
              </a:pathLst>
            </a:custGeom>
            <a:noFill/>
            <a:ln w="9525">
              <a:solidFill>
                <a:srgbClr val="E3907F"/>
              </a:solidFill>
              <a:custDash>
                <a:ds d="300000" sp="200000"/>
              </a:custDash>
            </a:ln>
          </p:spPr>
        </p:sp>
        <p:sp>
          <p:nvSpPr>
            <p:cNvPr id="107" name="Rectangle 107"/>
            <p:cNvSpPr/>
            <p:nvPr/>
          </p:nvSpPr>
          <p:spPr>
            <a:xfrm>
              <a:off x="8191500" y="2762250"/>
              <a:ext cx="419100" cy="266700"/>
            </a:xfrm>
            <a:prstGeom prst="rect">
              <a:avLst/>
            </a:prstGeom>
            <a:solidFill>
              <a:srgbClr val="FDCCC2"/>
            </a:solidFill>
            <a:ln>
              <a:noFill/>
            </a:ln>
          </p:spPr>
        </p:sp>
        <p:sp>
          <p:nvSpPr>
            <p:cNvPr id="108" name="TextBox 108"/>
            <p:cNvSpPr txBox="1"/>
            <p:nvPr/>
          </p:nvSpPr>
          <p:spPr>
            <a:xfrm>
              <a:off x="8186341" y="3092291"/>
              <a:ext cx="429417" cy="161925"/>
            </a:xfrm>
            <a:prstGeom prst="rect">
              <a:avLst/>
            </a:prstGeom>
            <a:noFill/>
            <a:ln>
              <a:noFill/>
            </a:ln>
          </p:spPr>
          <p:txBody>
            <a:bodyPr wrap="none" lIns="0" tIns="0" rIns="0" bIns="0" anchor="t" anchorCtr="0">
              <a:spAutoFit/>
            </a:bodyPr>
            <a:lstStyle/>
            <a:p>
              <a:pPr algn="ctr"/>
              <a:r>
                <a:rPr lang="en-US" sz="820" dirty="0">
                  <a:solidFill>
                    <a:srgbClr val="473633"/>
                  </a:solidFill>
                  <a:latin typeface="+mn-lt"/>
                  <a:ea typeface="+mn-ea"/>
                  <a:cs typeface="+mn-cs"/>
                </a:rPr>
                <a:t>- XX.X​</a:t>
              </a:r>
            </a:p>
          </p:txBody>
        </p:sp>
        <p:sp>
          <p:nvSpPr>
            <p:cNvPr id="109" name="Line 109"/>
            <p:cNvSpPr/>
            <p:nvPr/>
          </p:nvSpPr>
          <p:spPr>
            <a:xfrm>
              <a:off x="8610600" y="3028950"/>
              <a:ext cx="314325" cy="9525"/>
            </a:xfrm>
            <a:custGeom>
              <a:avLst/>
              <a:gdLst/>
              <a:ahLst/>
              <a:cxnLst/>
              <a:rect l="l" t="t" r="r" b="b"/>
              <a:pathLst>
                <a:path w="314325" h="9525">
                  <a:moveTo>
                    <a:pt x="0" y="0"/>
                  </a:moveTo>
                  <a:lnTo>
                    <a:pt x="314325" y="0"/>
                  </a:lnTo>
                </a:path>
              </a:pathLst>
            </a:custGeom>
            <a:noFill/>
            <a:ln w="9525">
              <a:solidFill>
                <a:srgbClr val="E3907F"/>
              </a:solidFill>
              <a:custDash>
                <a:ds d="300000" sp="200000"/>
              </a:custDash>
            </a:ln>
          </p:spPr>
        </p:sp>
        <p:sp>
          <p:nvSpPr>
            <p:cNvPr id="110" name="Rectangle 110"/>
            <p:cNvSpPr/>
            <p:nvPr/>
          </p:nvSpPr>
          <p:spPr>
            <a:xfrm>
              <a:off x="8924925" y="3028950"/>
              <a:ext cx="419100" cy="266700"/>
            </a:xfrm>
            <a:prstGeom prst="rect">
              <a:avLst/>
            </a:prstGeom>
            <a:solidFill>
              <a:srgbClr val="FDCCC2"/>
            </a:solidFill>
            <a:ln>
              <a:noFill/>
            </a:ln>
          </p:spPr>
        </p:sp>
        <p:sp>
          <p:nvSpPr>
            <p:cNvPr id="111" name="TextBox 111"/>
            <p:cNvSpPr txBox="1"/>
            <p:nvPr/>
          </p:nvSpPr>
          <p:spPr>
            <a:xfrm>
              <a:off x="8919766" y="3358991"/>
              <a:ext cx="429417" cy="161925"/>
            </a:xfrm>
            <a:prstGeom prst="rect">
              <a:avLst/>
            </a:prstGeom>
            <a:noFill/>
            <a:ln>
              <a:noFill/>
            </a:ln>
          </p:spPr>
          <p:txBody>
            <a:bodyPr wrap="none" lIns="0" tIns="0" rIns="0" bIns="0" anchor="t" anchorCtr="0">
              <a:spAutoFit/>
            </a:bodyPr>
            <a:lstStyle/>
            <a:p>
              <a:pPr algn="ctr"/>
              <a:r>
                <a:rPr lang="en-US" sz="820" dirty="0">
                  <a:solidFill>
                    <a:srgbClr val="473633"/>
                  </a:solidFill>
                  <a:latin typeface="+mn-lt"/>
                  <a:ea typeface="+mn-ea"/>
                  <a:cs typeface="+mn-cs"/>
                </a:rPr>
                <a:t>- XX.X​</a:t>
              </a:r>
            </a:p>
          </p:txBody>
        </p:sp>
        <p:sp>
          <p:nvSpPr>
            <p:cNvPr id="112" name="Line 112"/>
            <p:cNvSpPr/>
            <p:nvPr/>
          </p:nvSpPr>
          <p:spPr>
            <a:xfrm>
              <a:off x="9344025" y="3295650"/>
              <a:ext cx="314325" cy="9525"/>
            </a:xfrm>
            <a:custGeom>
              <a:avLst/>
              <a:gdLst/>
              <a:ahLst/>
              <a:cxnLst/>
              <a:rect l="l" t="t" r="r" b="b"/>
              <a:pathLst>
                <a:path w="314325" h="9525">
                  <a:moveTo>
                    <a:pt x="0" y="0"/>
                  </a:moveTo>
                  <a:lnTo>
                    <a:pt x="314325" y="0"/>
                  </a:lnTo>
                </a:path>
              </a:pathLst>
            </a:custGeom>
            <a:noFill/>
            <a:ln w="9525">
              <a:solidFill>
                <a:srgbClr val="E3907F"/>
              </a:solidFill>
              <a:custDash>
                <a:ds d="300000" sp="200000"/>
              </a:custDash>
            </a:ln>
          </p:spPr>
        </p:sp>
        <p:sp>
          <p:nvSpPr>
            <p:cNvPr id="113" name="Rectangle 113"/>
            <p:cNvSpPr/>
            <p:nvPr/>
          </p:nvSpPr>
          <p:spPr>
            <a:xfrm>
              <a:off x="9658350" y="3105150"/>
              <a:ext cx="419100" cy="190500"/>
            </a:xfrm>
            <a:prstGeom prst="rect">
              <a:avLst/>
            </a:prstGeom>
            <a:solidFill>
              <a:srgbClr val="FDCCC2"/>
            </a:solidFill>
            <a:ln>
              <a:noFill/>
            </a:ln>
          </p:spPr>
        </p:sp>
        <p:sp>
          <p:nvSpPr>
            <p:cNvPr id="114" name="TextBox 114"/>
            <p:cNvSpPr txBox="1"/>
            <p:nvPr/>
          </p:nvSpPr>
          <p:spPr>
            <a:xfrm>
              <a:off x="9606537" y="2939891"/>
              <a:ext cx="522727" cy="161925"/>
            </a:xfrm>
            <a:prstGeom prst="rect">
              <a:avLst/>
            </a:prstGeom>
            <a:noFill/>
            <a:ln>
              <a:noFill/>
            </a:ln>
          </p:spPr>
          <p:txBody>
            <a:bodyPr wrap="none" lIns="0" tIns="0" rIns="0" bIns="0" anchor="t" anchorCtr="0">
              <a:spAutoFit/>
            </a:bodyPr>
            <a:lstStyle/>
            <a:p>
              <a:pPr algn="ctr"/>
              <a:r>
                <a:rPr lang="en-US" sz="820" dirty="0">
                  <a:solidFill>
                    <a:srgbClr val="473633"/>
                  </a:solidFill>
                  <a:latin typeface="+mn-lt"/>
                  <a:ea typeface="+mn-ea"/>
                  <a:cs typeface="+mn-cs"/>
                </a:rPr>
                <a:t>+XX.X​​​</a:t>
              </a:r>
            </a:p>
          </p:txBody>
        </p:sp>
        <p:sp>
          <p:nvSpPr>
            <p:cNvPr id="115" name="Line 115"/>
            <p:cNvSpPr/>
            <p:nvPr/>
          </p:nvSpPr>
          <p:spPr>
            <a:xfrm>
              <a:off x="10077450" y="3105150"/>
              <a:ext cx="314325" cy="9525"/>
            </a:xfrm>
            <a:custGeom>
              <a:avLst/>
              <a:gdLst/>
              <a:ahLst/>
              <a:cxnLst/>
              <a:rect l="l" t="t" r="r" b="b"/>
              <a:pathLst>
                <a:path w="314325" h="9525">
                  <a:moveTo>
                    <a:pt x="0" y="0"/>
                  </a:moveTo>
                  <a:lnTo>
                    <a:pt x="314325" y="0"/>
                  </a:lnTo>
                </a:path>
              </a:pathLst>
            </a:custGeom>
            <a:noFill/>
            <a:ln w="9525">
              <a:solidFill>
                <a:srgbClr val="E3907F"/>
              </a:solidFill>
              <a:custDash>
                <a:ds d="300000" sp="200000"/>
              </a:custDash>
            </a:ln>
          </p:spPr>
        </p:sp>
        <p:sp>
          <p:nvSpPr>
            <p:cNvPr id="116" name="Rectangle 116"/>
            <p:cNvSpPr/>
            <p:nvPr/>
          </p:nvSpPr>
          <p:spPr>
            <a:xfrm>
              <a:off x="10391775" y="3105150"/>
              <a:ext cx="419100" cy="266700"/>
            </a:xfrm>
            <a:prstGeom prst="rect">
              <a:avLst/>
            </a:prstGeom>
            <a:solidFill>
              <a:srgbClr val="FDCCC2"/>
            </a:solidFill>
            <a:ln>
              <a:noFill/>
            </a:ln>
          </p:spPr>
        </p:sp>
        <p:sp>
          <p:nvSpPr>
            <p:cNvPr id="117" name="TextBox 117"/>
            <p:cNvSpPr txBox="1"/>
            <p:nvPr/>
          </p:nvSpPr>
          <p:spPr>
            <a:xfrm>
              <a:off x="10386616" y="3435191"/>
              <a:ext cx="429417" cy="161925"/>
            </a:xfrm>
            <a:prstGeom prst="rect">
              <a:avLst/>
            </a:prstGeom>
            <a:noFill/>
            <a:ln>
              <a:noFill/>
            </a:ln>
          </p:spPr>
          <p:txBody>
            <a:bodyPr wrap="none" lIns="0" tIns="0" rIns="0" bIns="0" anchor="t" anchorCtr="0">
              <a:spAutoFit/>
            </a:bodyPr>
            <a:lstStyle/>
            <a:p>
              <a:pPr algn="ctr"/>
              <a:r>
                <a:rPr lang="en-US" sz="820" dirty="0">
                  <a:solidFill>
                    <a:srgbClr val="473633"/>
                  </a:solidFill>
                  <a:latin typeface="+mn-lt"/>
                  <a:ea typeface="+mn-ea"/>
                  <a:cs typeface="+mn-cs"/>
                </a:rPr>
                <a:t>- XX.X​</a:t>
              </a:r>
            </a:p>
          </p:txBody>
        </p:sp>
        <p:sp>
          <p:nvSpPr>
            <p:cNvPr id="118" name="Line 118"/>
            <p:cNvSpPr/>
            <p:nvPr/>
          </p:nvSpPr>
          <p:spPr>
            <a:xfrm>
              <a:off x="10810875" y="3371850"/>
              <a:ext cx="314325" cy="9525"/>
            </a:xfrm>
            <a:custGeom>
              <a:avLst/>
              <a:gdLst/>
              <a:ahLst/>
              <a:cxnLst/>
              <a:rect l="l" t="t" r="r" b="b"/>
              <a:pathLst>
                <a:path w="314325" h="9525">
                  <a:moveTo>
                    <a:pt x="0" y="0"/>
                  </a:moveTo>
                  <a:lnTo>
                    <a:pt x="314325" y="0"/>
                  </a:lnTo>
                </a:path>
              </a:pathLst>
            </a:custGeom>
            <a:noFill/>
            <a:ln w="9525">
              <a:solidFill>
                <a:srgbClr val="E3907F"/>
              </a:solidFill>
              <a:custDash>
                <a:ds d="300000" sp="200000"/>
              </a:custDash>
            </a:ln>
          </p:spPr>
        </p:sp>
        <p:sp>
          <p:nvSpPr>
            <p:cNvPr id="119" name="Rectangle 119"/>
            <p:cNvSpPr/>
            <p:nvPr/>
          </p:nvSpPr>
          <p:spPr>
            <a:xfrm>
              <a:off x="11125200" y="3371850"/>
              <a:ext cx="419100" cy="866775"/>
            </a:xfrm>
            <a:prstGeom prst="rect">
              <a:avLst/>
            </a:prstGeom>
            <a:solidFill>
              <a:srgbClr val="B92102"/>
            </a:solidFill>
            <a:ln>
              <a:noFill/>
            </a:ln>
          </p:spPr>
        </p:sp>
        <p:sp>
          <p:nvSpPr>
            <p:cNvPr id="120" name="TextBox 120"/>
            <p:cNvSpPr txBox="1"/>
            <p:nvPr/>
          </p:nvSpPr>
          <p:spPr>
            <a:xfrm>
              <a:off x="11161593" y="3206591"/>
              <a:ext cx="346314" cy="161925"/>
            </a:xfrm>
            <a:prstGeom prst="rect">
              <a:avLst/>
            </a:prstGeom>
            <a:noFill/>
            <a:ln>
              <a:noFill/>
            </a:ln>
          </p:spPr>
          <p:txBody>
            <a:bodyPr wrap="none" lIns="0" tIns="0" rIns="0" bIns="0" anchor="t" anchorCtr="0">
              <a:spAutoFit/>
            </a:bodyPr>
            <a:lstStyle/>
            <a:p>
              <a:pPr algn="ctr"/>
              <a:r>
                <a:rPr lang="en-US" sz="820" b="1" dirty="0">
                  <a:solidFill>
                    <a:srgbClr val="6E1604"/>
                  </a:solidFill>
                  <a:latin typeface="+mn-lt"/>
                  <a:ea typeface="+mn-ea"/>
                  <a:cs typeface="+mn-cs"/>
                </a:rPr>
                <a:t>XX.X​</a:t>
              </a:r>
            </a:p>
          </p:txBody>
        </p:sp>
        <p:sp>
          <p:nvSpPr>
            <p:cNvPr id="121" name="TextBox 121"/>
            <p:cNvSpPr txBox="1"/>
            <p:nvPr/>
          </p:nvSpPr>
          <p:spPr>
            <a:xfrm>
              <a:off x="6640004" y="4383643"/>
              <a:ext cx="588391"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目标达成率</a:t>
              </a:r>
            </a:p>
          </p:txBody>
        </p:sp>
        <p:sp>
          <p:nvSpPr>
            <p:cNvPr id="122" name="TextBox 122"/>
            <p:cNvSpPr txBox="1"/>
            <p:nvPr/>
          </p:nvSpPr>
          <p:spPr>
            <a:xfrm>
              <a:off x="7547089" y="4383643"/>
              <a:ext cx="241071"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客流</a:t>
              </a:r>
            </a:p>
          </p:txBody>
        </p:sp>
        <p:sp>
          <p:nvSpPr>
            <p:cNvPr id="123" name="TextBox 123"/>
            <p:cNvSpPr txBox="1"/>
            <p:nvPr/>
          </p:nvSpPr>
          <p:spPr>
            <a:xfrm>
              <a:off x="8280514" y="4383643"/>
              <a:ext cx="241071"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触达</a:t>
              </a:r>
            </a:p>
          </p:txBody>
        </p:sp>
        <p:sp>
          <p:nvSpPr>
            <p:cNvPr id="124" name="TextBox 124"/>
            <p:cNvSpPr txBox="1"/>
            <p:nvPr/>
          </p:nvSpPr>
          <p:spPr>
            <a:xfrm>
              <a:off x="9013939" y="4383643"/>
              <a:ext cx="241071"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转化</a:t>
              </a:r>
            </a:p>
          </p:txBody>
        </p:sp>
        <p:sp>
          <p:nvSpPr>
            <p:cNvPr id="125" name="TextBox 125"/>
            <p:cNvSpPr txBox="1"/>
            <p:nvPr/>
          </p:nvSpPr>
          <p:spPr>
            <a:xfrm>
              <a:off x="9747364" y="4383643"/>
              <a:ext cx="241071"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客单</a:t>
              </a:r>
            </a:p>
          </p:txBody>
        </p:sp>
        <p:sp>
          <p:nvSpPr>
            <p:cNvPr id="126" name="TextBox 126"/>
            <p:cNvSpPr txBox="1"/>
            <p:nvPr/>
          </p:nvSpPr>
          <p:spPr>
            <a:xfrm>
              <a:off x="10480789" y="4383643"/>
              <a:ext cx="241071"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流失</a:t>
              </a:r>
            </a:p>
          </p:txBody>
        </p:sp>
        <p:sp>
          <p:nvSpPr>
            <p:cNvPr id="127" name="TextBox 127"/>
            <p:cNvSpPr txBox="1"/>
            <p:nvPr/>
          </p:nvSpPr>
          <p:spPr>
            <a:xfrm>
              <a:off x="11040554" y="4383643"/>
              <a:ext cx="588391"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实际达成率</a:t>
              </a:r>
            </a:p>
          </p:txBody>
        </p:sp>
      </p:grpSp>
      <p:grpSp>
        <p:nvGrpSpPr>
          <p:cNvPr id="173" name="review-table"/>
          <p:cNvGrpSpPr/>
          <p:nvPr/>
        </p:nvGrpSpPr>
        <p:grpSpPr>
          <a:xfrm>
            <a:off x="266700" y="4838700"/>
            <a:ext cx="11658600" cy="1733550"/>
            <a:chOff x="266700" y="4838700"/>
            <a:chExt cx="11658600" cy="1733550"/>
          </a:xfrm>
        </p:grpSpPr>
        <p:sp>
          <p:nvSpPr>
            <p:cNvPr id="129" name="Rectangle 129"/>
            <p:cNvSpPr/>
            <p:nvPr/>
          </p:nvSpPr>
          <p:spPr>
            <a:xfrm>
              <a:off x="266700" y="4838700"/>
              <a:ext cx="11658600" cy="1733550"/>
            </a:xfrm>
            <a:prstGeom prst="roundRect">
              <a:avLst>
                <a:gd name="adj" fmla="val 3297"/>
              </a:avLst>
            </a:prstGeom>
            <a:solidFill>
              <a:srgbClr val="FFFFFF"/>
            </a:solidFill>
            <a:ln w="9525">
              <a:solidFill>
                <a:srgbClr val="F7D1C9"/>
              </a:solidFill>
            </a:ln>
          </p:spPr>
        </p:sp>
        <p:sp>
          <p:nvSpPr>
            <p:cNvPr id="130" name="Freeform 130"/>
            <p:cNvSpPr/>
            <p:nvPr/>
          </p:nvSpPr>
          <p:spPr>
            <a:xfrm>
              <a:off x="266700" y="4838700"/>
              <a:ext cx="11658600" cy="342900"/>
            </a:xfrm>
            <a:custGeom>
              <a:avLst/>
              <a:gdLst/>
              <a:ahLst/>
              <a:cxnLst/>
              <a:rect l="l" t="t" r="r" b="b"/>
              <a:pathLst>
                <a:path w="11658600" h="342900">
                  <a:moveTo>
                    <a:pt x="0" y="57150"/>
                  </a:moveTo>
                  <a:cubicBezTo>
                    <a:pt x="0" y="25587"/>
                    <a:pt x="25587" y="0"/>
                    <a:pt x="57150" y="0"/>
                  </a:cubicBezTo>
                  <a:lnTo>
                    <a:pt x="11601450" y="0"/>
                  </a:lnTo>
                  <a:cubicBezTo>
                    <a:pt x="11633013" y="0"/>
                    <a:pt x="11658600" y="25587"/>
                    <a:pt x="11658600" y="57150"/>
                  </a:cubicBezTo>
                  <a:lnTo>
                    <a:pt x="11658600" y="342900"/>
                  </a:lnTo>
                  <a:lnTo>
                    <a:pt x="0" y="342900"/>
                  </a:lnTo>
                  <a:close/>
                </a:path>
              </a:pathLst>
            </a:custGeom>
            <a:solidFill>
              <a:srgbClr val="B92102"/>
            </a:solidFill>
            <a:ln>
              <a:noFill/>
            </a:ln>
          </p:spPr>
        </p:sp>
        <p:sp>
          <p:nvSpPr>
            <p:cNvPr id="131" name="Line 131"/>
            <p:cNvSpPr/>
            <p:nvPr/>
          </p:nvSpPr>
          <p:spPr>
            <a:xfrm>
              <a:off x="2076450" y="4895850"/>
              <a:ext cx="9525" cy="228600"/>
            </a:xfrm>
            <a:custGeom>
              <a:avLst/>
              <a:gdLst/>
              <a:ahLst/>
              <a:cxnLst/>
              <a:rect l="l" t="t" r="r" b="b"/>
              <a:pathLst>
                <a:path w="9525" h="228600">
                  <a:moveTo>
                    <a:pt x="0" y="0"/>
                  </a:moveTo>
                  <a:lnTo>
                    <a:pt x="0" y="228600"/>
                  </a:lnTo>
                </a:path>
              </a:pathLst>
            </a:custGeom>
            <a:noFill/>
            <a:ln w="9525">
              <a:solidFill>
                <a:srgbClr val="D9705B"/>
              </a:solidFill>
            </a:ln>
          </p:spPr>
        </p:sp>
        <p:sp>
          <p:nvSpPr>
            <p:cNvPr id="132" name="Line 132"/>
            <p:cNvSpPr/>
            <p:nvPr/>
          </p:nvSpPr>
          <p:spPr>
            <a:xfrm>
              <a:off x="4514850" y="4895850"/>
              <a:ext cx="9525" cy="228600"/>
            </a:xfrm>
            <a:custGeom>
              <a:avLst/>
              <a:gdLst/>
              <a:ahLst/>
              <a:cxnLst/>
              <a:rect l="l" t="t" r="r" b="b"/>
              <a:pathLst>
                <a:path w="9525" h="228600">
                  <a:moveTo>
                    <a:pt x="0" y="0"/>
                  </a:moveTo>
                  <a:lnTo>
                    <a:pt x="0" y="228600"/>
                  </a:lnTo>
                </a:path>
              </a:pathLst>
            </a:custGeom>
            <a:noFill/>
            <a:ln w="9525">
              <a:solidFill>
                <a:srgbClr val="D9705B"/>
              </a:solidFill>
            </a:ln>
          </p:spPr>
        </p:sp>
        <p:sp>
          <p:nvSpPr>
            <p:cNvPr id="133" name="Line 133"/>
            <p:cNvSpPr/>
            <p:nvPr/>
          </p:nvSpPr>
          <p:spPr>
            <a:xfrm>
              <a:off x="7620000" y="4895850"/>
              <a:ext cx="9525" cy="228600"/>
            </a:xfrm>
            <a:custGeom>
              <a:avLst/>
              <a:gdLst/>
              <a:ahLst/>
              <a:cxnLst/>
              <a:rect l="l" t="t" r="r" b="b"/>
              <a:pathLst>
                <a:path w="9525" h="228600">
                  <a:moveTo>
                    <a:pt x="0" y="0"/>
                  </a:moveTo>
                  <a:lnTo>
                    <a:pt x="0" y="228600"/>
                  </a:lnTo>
                </a:path>
              </a:pathLst>
            </a:custGeom>
            <a:noFill/>
            <a:ln w="9525">
              <a:solidFill>
                <a:srgbClr val="D9705B"/>
              </a:solidFill>
            </a:ln>
          </p:spPr>
        </p:sp>
        <p:sp>
          <p:nvSpPr>
            <p:cNvPr id="134" name="TextBox 134"/>
            <p:cNvSpPr txBox="1"/>
            <p:nvPr/>
          </p:nvSpPr>
          <p:spPr>
            <a:xfrm>
              <a:off x="1024890" y="494442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维度</a:t>
              </a:r>
            </a:p>
          </p:txBody>
        </p:sp>
        <p:sp>
          <p:nvSpPr>
            <p:cNvPr id="135" name="TextBox 135"/>
            <p:cNvSpPr txBox="1"/>
            <p:nvPr/>
          </p:nvSpPr>
          <p:spPr>
            <a:xfrm>
              <a:off x="3148965" y="494442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表现</a:t>
              </a:r>
            </a:p>
          </p:txBody>
        </p:sp>
        <p:sp>
          <p:nvSpPr>
            <p:cNvPr id="136" name="TextBox 136"/>
            <p:cNvSpPr txBox="1"/>
            <p:nvPr/>
          </p:nvSpPr>
          <p:spPr>
            <a:xfrm>
              <a:off x="5920740" y="494442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原因</a:t>
              </a:r>
            </a:p>
          </p:txBody>
        </p:sp>
        <p:sp>
          <p:nvSpPr>
            <p:cNvPr id="137" name="TextBox 137"/>
            <p:cNvSpPr txBox="1"/>
            <p:nvPr/>
          </p:nvSpPr>
          <p:spPr>
            <a:xfrm>
              <a:off x="9484614" y="49444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管理动作</a:t>
              </a:r>
            </a:p>
          </p:txBody>
        </p:sp>
        <p:sp>
          <p:nvSpPr>
            <p:cNvPr id="138" name="Line 138"/>
            <p:cNvSpPr/>
            <p:nvPr/>
          </p:nvSpPr>
          <p:spPr>
            <a:xfrm>
              <a:off x="266700" y="563880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139" name="Line 139"/>
            <p:cNvSpPr/>
            <p:nvPr/>
          </p:nvSpPr>
          <p:spPr>
            <a:xfrm>
              <a:off x="266700" y="609600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140" name="Line 140"/>
            <p:cNvSpPr/>
            <p:nvPr/>
          </p:nvSpPr>
          <p:spPr>
            <a:xfrm>
              <a:off x="2076450" y="5181600"/>
              <a:ext cx="9525" cy="1390650"/>
            </a:xfrm>
            <a:custGeom>
              <a:avLst/>
              <a:gdLst/>
              <a:ahLst/>
              <a:cxnLst/>
              <a:rect l="l" t="t" r="r" b="b"/>
              <a:pathLst>
                <a:path w="9525" h="1390650">
                  <a:moveTo>
                    <a:pt x="0" y="0"/>
                  </a:moveTo>
                  <a:lnTo>
                    <a:pt x="0" y="1390650"/>
                  </a:lnTo>
                </a:path>
              </a:pathLst>
            </a:custGeom>
            <a:noFill/>
            <a:ln w="9525">
              <a:solidFill>
                <a:srgbClr val="DCE6F8"/>
              </a:solidFill>
            </a:ln>
          </p:spPr>
        </p:sp>
        <p:sp>
          <p:nvSpPr>
            <p:cNvPr id="141" name="Line 141"/>
            <p:cNvSpPr/>
            <p:nvPr/>
          </p:nvSpPr>
          <p:spPr>
            <a:xfrm>
              <a:off x="4514850" y="5181600"/>
              <a:ext cx="9525" cy="1390650"/>
            </a:xfrm>
            <a:custGeom>
              <a:avLst/>
              <a:gdLst/>
              <a:ahLst/>
              <a:cxnLst/>
              <a:rect l="l" t="t" r="r" b="b"/>
              <a:pathLst>
                <a:path w="9525" h="1390650">
                  <a:moveTo>
                    <a:pt x="0" y="0"/>
                  </a:moveTo>
                  <a:lnTo>
                    <a:pt x="0" y="1390650"/>
                  </a:lnTo>
                </a:path>
              </a:pathLst>
            </a:custGeom>
            <a:noFill/>
            <a:ln w="9525">
              <a:solidFill>
                <a:srgbClr val="DCE6F8"/>
              </a:solidFill>
            </a:ln>
          </p:spPr>
        </p:sp>
        <p:sp>
          <p:nvSpPr>
            <p:cNvPr id="142" name="Line 142"/>
            <p:cNvSpPr/>
            <p:nvPr/>
          </p:nvSpPr>
          <p:spPr>
            <a:xfrm>
              <a:off x="7620000" y="5181600"/>
              <a:ext cx="9525" cy="1390650"/>
            </a:xfrm>
            <a:custGeom>
              <a:avLst/>
              <a:gdLst/>
              <a:ahLst/>
              <a:cxnLst/>
              <a:rect l="l" t="t" r="r" b="b"/>
              <a:pathLst>
                <a:path w="9525" h="1390650">
                  <a:moveTo>
                    <a:pt x="0" y="0"/>
                  </a:moveTo>
                  <a:lnTo>
                    <a:pt x="0" y="1390650"/>
                  </a:lnTo>
                </a:path>
              </a:pathLst>
            </a:custGeom>
            <a:noFill/>
            <a:ln w="9525">
              <a:solidFill>
                <a:srgbClr val="DCE6F8"/>
              </a:solidFill>
            </a:ln>
          </p:spPr>
        </p:sp>
        <p:grpSp>
          <p:nvGrpSpPr>
            <p:cNvPr id="153" name="rt-row-1"/>
            <p:cNvGrpSpPr/>
            <p:nvPr/>
          </p:nvGrpSpPr>
          <p:grpSpPr>
            <a:xfrm>
              <a:off x="419100" y="5276850"/>
              <a:ext cx="9050973" cy="342662"/>
              <a:chOff x="419100" y="5276850"/>
              <a:chExt cx="9050973" cy="342662"/>
            </a:xfrm>
          </p:grpSpPr>
          <p:sp>
            <p:nvSpPr>
              <p:cNvPr id="143" name="Ellipse 143"/>
              <p:cNvSpPr/>
              <p:nvPr/>
            </p:nvSpPr>
            <p:spPr>
              <a:xfrm>
                <a:off x="419100" y="5276850"/>
                <a:ext cx="266700" cy="266700"/>
              </a:xfrm>
              <a:prstGeom prst="ellipse">
                <a:avLst/>
              </a:prstGeom>
              <a:solidFill>
                <a:srgbClr val="B92102"/>
              </a:solidFill>
              <a:ln>
                <a:noFill/>
              </a:ln>
            </p:spPr>
          </p:sp>
          <p:grpSp>
            <p:nvGrpSpPr>
              <p:cNvPr id="148" name="Group 148"/>
              <p:cNvGrpSpPr/>
              <p:nvPr/>
            </p:nvGrpSpPr>
            <p:grpSpPr>
              <a:xfrm>
                <a:off x="488156" y="5345906"/>
                <a:ext cx="128588" cy="128588"/>
                <a:chOff x="488156" y="5345906"/>
                <a:chExt cx="128588" cy="128588"/>
              </a:xfrm>
            </p:grpSpPr>
            <p:sp>
              <p:nvSpPr>
                <p:cNvPr id="144" name="Freeform 144"/>
                <p:cNvSpPr/>
                <p:nvPr/>
              </p:nvSpPr>
              <p:spPr>
                <a:xfrm>
                  <a:off x="502444" y="53459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45" name="Freeform 145"/>
                <p:cNvSpPr/>
                <p:nvPr/>
              </p:nvSpPr>
              <p:spPr>
                <a:xfrm>
                  <a:off x="488156" y="54316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146" name="Freeform 146"/>
                <p:cNvSpPr/>
                <p:nvPr/>
              </p:nvSpPr>
              <p:spPr>
                <a:xfrm>
                  <a:off x="581025" y="53468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147" name="Freeform 147"/>
                <p:cNvSpPr/>
                <p:nvPr/>
              </p:nvSpPr>
              <p:spPr>
                <a:xfrm>
                  <a:off x="595313" y="54327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149" name="TextBox 149"/>
              <p:cNvSpPr txBox="1"/>
              <p:nvPr/>
            </p:nvSpPr>
            <p:spPr>
              <a:xfrm>
                <a:off x="776097" y="5352574"/>
                <a:ext cx="801472"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规模（客流）</a:t>
                </a:r>
              </a:p>
            </p:txBody>
          </p:sp>
          <p:sp>
            <p:nvSpPr>
              <p:cNvPr id="150" name="TextBox 150"/>
              <p:cNvSpPr txBox="1"/>
              <p:nvPr/>
            </p:nvSpPr>
            <p:spPr>
              <a:xfrm>
                <a:off x="2312022" y="5360670"/>
                <a:ext cx="1967255"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客流较目标缺口 XX.X 个百分点​​​​</a:t>
                </a:r>
              </a:p>
            </p:txBody>
          </p:sp>
          <p:sp>
            <p:nvSpPr>
              <p:cNvPr id="151" name="TextBox 151"/>
              <p:cNvSpPr txBox="1"/>
              <p:nvPr/>
            </p:nvSpPr>
            <p:spPr>
              <a:xfrm>
                <a:off x="4662488" y="5288518"/>
                <a:ext cx="1374775" cy="330994"/>
              </a:xfrm>
              <a:prstGeom prst="rect">
                <a:avLst/>
              </a:prstGeom>
              <a:noFill/>
              <a:ln>
                <a:noFill/>
              </a:ln>
            </p:spPr>
            <p:txBody>
              <a:bodyPr wrap="none" lIns="0" tIns="0" rIns="0" bIns="0" anchor="t" anchorCtr="0">
                <a:spAutoFit/>
              </a:bodyPr>
              <a:lstStyle/>
              <a:p>
                <a:pPr algn="l" marL="92837" indent="-92837">
                  <a:lnSpc>
                    <a:spcPts val="1275"/>
                  </a:lnSpc>
                  <a:buClr>
                    <a:srgbClr val="473633"/>
                  </a:buClr>
                  <a:buSzTx/>
                  <a:buFontTx/>
                  <a:buChar char="•"/>
                </a:pPr>
                <a:r>
                  <a:rPr lang="zh-CN" sz="860" dirty="0">
                    <a:solidFill>
                      <a:srgbClr val="473633"/>
                    </a:solidFill>
                    <a:latin typeface="+mn-lt"/>
                    <a:ea typeface="+mn-ea"/>
                    <a:cs typeface="+mn-cs"/>
                  </a:rPr>
                  <a:t>外部活动影响到店意愿​​​</a:t>
                </a:r>
              </a:p>
              <a:p>
                <a:pPr algn="l" marL="92837" indent="-92837">
                  <a:lnSpc>
                    <a:spcPts val="1275"/>
                  </a:lnSpc>
                  <a:buClr>
                    <a:srgbClr val="473633"/>
                  </a:buClr>
                  <a:buSzTx/>
                  <a:buFontTx/>
                  <a:buChar char="•"/>
                </a:pPr>
                <a:r>
                  <a:rPr lang="zh-CN" sz="860" dirty="0">
                    <a:solidFill>
                      <a:srgbClr val="473633"/>
                    </a:solidFill>
                    <a:latin typeface="+mn-lt"/>
                    <a:ea typeface="+mn-ea"/>
                    <a:cs typeface="+mn-cs"/>
                  </a:rPr>
                  <a:t>渠道引流力度不足​​</a:t>
                </a:r>
              </a:p>
            </p:txBody>
          </p:sp>
          <p:sp>
            <p:nvSpPr>
              <p:cNvPr id="152" name="TextBox 152"/>
              <p:cNvSpPr txBox="1"/>
              <p:nvPr/>
            </p:nvSpPr>
            <p:spPr>
              <a:xfrm>
                <a:off x="7767638" y="5288518"/>
                <a:ext cx="1702435" cy="330994"/>
              </a:xfrm>
              <a:prstGeom prst="rect">
                <a:avLst/>
              </a:prstGeom>
              <a:noFill/>
              <a:ln>
                <a:noFill/>
              </a:ln>
            </p:spPr>
            <p:txBody>
              <a:bodyPr wrap="none" lIns="0" tIns="0" rIns="0" bIns="0" anchor="t" anchorCtr="0">
                <a:spAutoFit/>
              </a:bodyPr>
              <a:lstStyle/>
              <a:p>
                <a:pPr algn="l" marL="92837" indent="-92837">
                  <a:lnSpc>
                    <a:spcPts val="1275"/>
                  </a:lnSpc>
                  <a:buClr>
                    <a:srgbClr val="473633"/>
                  </a:buClr>
                  <a:buSzTx/>
                  <a:buFontTx/>
                  <a:buChar char="•"/>
                </a:pPr>
                <a:r>
                  <a:rPr lang="zh-CN" sz="860" dirty="0">
                    <a:solidFill>
                      <a:srgbClr val="473633"/>
                    </a:solidFill>
                    <a:latin typeface="+mn-lt"/>
                    <a:ea typeface="+mn-ea"/>
                    <a:cs typeface="+mn-cs"/>
                  </a:rPr>
                  <a:t>强化厅堂外拓与周边商圈联动​​​</a:t>
                </a:r>
              </a:p>
              <a:p>
                <a:pPr algn="l" marL="92837" indent="-92837">
                  <a:lnSpc>
                    <a:spcPts val="1275"/>
                  </a:lnSpc>
                  <a:buClr>
                    <a:srgbClr val="473633"/>
                  </a:buClr>
                  <a:buSzTx/>
                  <a:buFontTx/>
                  <a:buChar char="•"/>
                </a:pPr>
                <a:r>
                  <a:rPr lang="zh-CN" sz="860" dirty="0">
                    <a:solidFill>
                      <a:srgbClr val="473633"/>
                    </a:solidFill>
                    <a:latin typeface="+mn-lt"/>
                    <a:ea typeface="+mn-ea"/>
                    <a:cs typeface="+mn-cs"/>
                  </a:rPr>
                  <a:t>加大线上渠道投放与内容触达​​​</a:t>
                </a:r>
              </a:p>
            </p:txBody>
          </p:sp>
        </p:grpSp>
        <p:grpSp>
          <p:nvGrpSpPr>
            <p:cNvPr id="160" name="rt-row-2"/>
            <p:cNvGrpSpPr/>
            <p:nvPr/>
          </p:nvGrpSpPr>
          <p:grpSpPr>
            <a:xfrm>
              <a:off x="419100" y="5734050"/>
              <a:ext cx="9050973" cy="342662"/>
              <a:chOff x="419100" y="5734050"/>
              <a:chExt cx="9050973" cy="342662"/>
            </a:xfrm>
          </p:grpSpPr>
          <p:sp>
            <p:nvSpPr>
              <p:cNvPr id="154" name="Ellipse 154"/>
              <p:cNvSpPr/>
              <p:nvPr/>
            </p:nvSpPr>
            <p:spPr>
              <a:xfrm>
                <a:off x="419100" y="5734050"/>
                <a:ext cx="266700" cy="266700"/>
              </a:xfrm>
              <a:prstGeom prst="ellipse">
                <a:avLst/>
              </a:prstGeom>
              <a:solidFill>
                <a:srgbClr val="B92102"/>
              </a:solidFill>
              <a:ln>
                <a:noFill/>
              </a:ln>
            </p:spPr>
          </p:sp>
          <p:sp>
            <p:nvSpPr>
              <p:cNvPr id="155" name="Freeform 155"/>
              <p:cNvSpPr/>
              <p:nvPr/>
            </p:nvSpPr>
            <p:spPr>
              <a:xfrm>
                <a:off x="495300" y="5810250"/>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FFFFFF"/>
                </a:solidFill>
              </a:ln>
            </p:spPr>
          </p:sp>
          <p:sp>
            <p:nvSpPr>
              <p:cNvPr id="156" name="TextBox 156"/>
              <p:cNvSpPr txBox="1"/>
              <p:nvPr/>
            </p:nvSpPr>
            <p:spPr>
              <a:xfrm>
                <a:off x="776097" y="5809774"/>
                <a:ext cx="801472"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效率（转化）</a:t>
                </a:r>
              </a:p>
            </p:txBody>
          </p:sp>
          <p:sp>
            <p:nvSpPr>
              <p:cNvPr id="157" name="TextBox 157"/>
              <p:cNvSpPr txBox="1"/>
              <p:nvPr/>
            </p:nvSpPr>
            <p:spPr>
              <a:xfrm>
                <a:off x="2312022" y="5817870"/>
                <a:ext cx="1967255"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转化较目标缺口 XX.X 个百分点​​​​</a:t>
                </a:r>
              </a:p>
            </p:txBody>
          </p:sp>
          <p:sp>
            <p:nvSpPr>
              <p:cNvPr id="158" name="TextBox 158"/>
              <p:cNvSpPr txBox="1"/>
              <p:nvPr/>
            </p:nvSpPr>
            <p:spPr>
              <a:xfrm>
                <a:off x="4662488" y="5745718"/>
                <a:ext cx="1205484" cy="330994"/>
              </a:xfrm>
              <a:prstGeom prst="rect">
                <a:avLst/>
              </a:prstGeom>
              <a:noFill/>
              <a:ln>
                <a:noFill/>
              </a:ln>
            </p:spPr>
            <p:txBody>
              <a:bodyPr wrap="none" lIns="0" tIns="0" rIns="0" bIns="0" anchor="t" anchorCtr="0">
                <a:spAutoFit/>
              </a:bodyPr>
              <a:lstStyle/>
              <a:p>
                <a:pPr algn="l" marL="92837" indent="-92837">
                  <a:lnSpc>
                    <a:spcPts val="1275"/>
                  </a:lnSpc>
                  <a:buClr>
                    <a:srgbClr val="473633"/>
                  </a:buClr>
                  <a:buSzTx/>
                  <a:buFontTx/>
                  <a:buChar char="•"/>
                </a:pPr>
                <a:r>
                  <a:rPr lang="zh-CN" sz="860" dirty="0">
                    <a:solidFill>
                      <a:srgbClr val="473633"/>
                    </a:solidFill>
                    <a:latin typeface="+mn-lt"/>
                    <a:ea typeface="+mn-ea"/>
                    <a:cs typeface="+mn-cs"/>
                  </a:rPr>
                  <a:t>客户需求匹配度不足​​</a:t>
                </a:r>
              </a:p>
              <a:p>
                <a:pPr algn="l" marL="92837" indent="-92837">
                  <a:lnSpc>
                    <a:spcPts val="1275"/>
                  </a:lnSpc>
                  <a:buClr>
                    <a:srgbClr val="473633"/>
                  </a:buClr>
                  <a:buSzTx/>
                  <a:buFontTx/>
                  <a:buChar char="•"/>
                </a:pPr>
                <a:r>
                  <a:rPr lang="zh-CN" sz="860" dirty="0">
                    <a:solidFill>
                      <a:srgbClr val="473633"/>
                    </a:solidFill>
                    <a:latin typeface="+mn-lt"/>
                    <a:ea typeface="+mn-ea"/>
                    <a:cs typeface="+mn-cs"/>
                  </a:rPr>
                  <a:t>关键环节跟进效率低​​</a:t>
                </a:r>
              </a:p>
            </p:txBody>
          </p:sp>
          <p:sp>
            <p:nvSpPr>
              <p:cNvPr id="159" name="TextBox 159"/>
              <p:cNvSpPr txBox="1"/>
              <p:nvPr/>
            </p:nvSpPr>
            <p:spPr>
              <a:xfrm>
                <a:off x="7767638" y="5745718"/>
                <a:ext cx="1702435" cy="330994"/>
              </a:xfrm>
              <a:prstGeom prst="rect">
                <a:avLst/>
              </a:prstGeom>
              <a:noFill/>
              <a:ln>
                <a:noFill/>
              </a:ln>
            </p:spPr>
            <p:txBody>
              <a:bodyPr wrap="none" lIns="0" tIns="0" rIns="0" bIns="0" anchor="t" anchorCtr="0">
                <a:spAutoFit/>
              </a:bodyPr>
              <a:lstStyle/>
              <a:p>
                <a:pPr algn="l" marL="92837" indent="-92837">
                  <a:lnSpc>
                    <a:spcPts val="1275"/>
                  </a:lnSpc>
                  <a:buClr>
                    <a:srgbClr val="473633"/>
                  </a:buClr>
                  <a:buSzTx/>
                  <a:buFontTx/>
                  <a:buChar char="•"/>
                </a:pPr>
                <a:r>
                  <a:rPr lang="zh-CN" sz="860" dirty="0">
                    <a:solidFill>
                      <a:srgbClr val="473633"/>
                    </a:solidFill>
                    <a:latin typeface="+mn-lt"/>
                    <a:ea typeface="+mn-ea"/>
                    <a:cs typeface="+mn-cs"/>
                  </a:rPr>
                  <a:t>完善客户画像与产品匹配机制​​​</a:t>
                </a:r>
              </a:p>
              <a:p>
                <a:pPr algn="l" marL="92837" indent="-92837">
                  <a:lnSpc>
                    <a:spcPts val="1275"/>
                  </a:lnSpc>
                  <a:buClr>
                    <a:srgbClr val="473633"/>
                  </a:buClr>
                  <a:buSzTx/>
                  <a:buFontTx/>
                  <a:buChar char="•"/>
                </a:pPr>
                <a:r>
                  <a:rPr lang="zh-CN" sz="860" dirty="0">
                    <a:solidFill>
                      <a:srgbClr val="473633"/>
                    </a:solidFill>
                    <a:latin typeface="+mn-lt"/>
                    <a:ea typeface="+mn-ea"/>
                    <a:cs typeface="+mn-cs"/>
                  </a:rPr>
                  <a:t>优化跟进SOP与话术辅导​​​​​</a:t>
                </a:r>
              </a:p>
            </p:txBody>
          </p:sp>
        </p:grpSp>
        <p:grpSp>
          <p:nvGrpSpPr>
            <p:cNvPr id="172" name="rt-row-3"/>
            <p:cNvGrpSpPr/>
            <p:nvPr/>
          </p:nvGrpSpPr>
          <p:grpSpPr>
            <a:xfrm>
              <a:off x="419100" y="6191250"/>
              <a:ext cx="9050973" cy="342662"/>
              <a:chOff x="419100" y="6191250"/>
              <a:chExt cx="9050973" cy="342662"/>
            </a:xfrm>
          </p:grpSpPr>
          <p:sp>
            <p:nvSpPr>
              <p:cNvPr id="161" name="Ellipse 161"/>
              <p:cNvSpPr/>
              <p:nvPr/>
            </p:nvSpPr>
            <p:spPr>
              <a:xfrm>
                <a:off x="419100" y="6191250"/>
                <a:ext cx="266700" cy="266700"/>
              </a:xfrm>
              <a:prstGeom prst="ellipse">
                <a:avLst/>
              </a:prstGeom>
              <a:solidFill>
                <a:srgbClr val="B92102"/>
              </a:solidFill>
              <a:ln>
                <a:noFill/>
              </a:ln>
            </p:spPr>
          </p:sp>
          <p:grpSp>
            <p:nvGrpSpPr>
              <p:cNvPr id="167" name="Group 167"/>
              <p:cNvGrpSpPr/>
              <p:nvPr/>
            </p:nvGrpSpPr>
            <p:grpSpPr>
              <a:xfrm>
                <a:off x="488156" y="6259349"/>
                <a:ext cx="128588" cy="129545"/>
                <a:chOff x="488156" y="6259349"/>
                <a:chExt cx="128588" cy="129545"/>
              </a:xfrm>
            </p:grpSpPr>
            <p:sp>
              <p:nvSpPr>
                <p:cNvPr id="162" name="Freeform 162"/>
                <p:cNvSpPr/>
                <p:nvPr/>
              </p:nvSpPr>
              <p:spPr>
                <a:xfrm>
                  <a:off x="531019" y="631745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FFFFFF"/>
                  </a:solidFill>
                </a:ln>
              </p:spPr>
            </p:sp>
            <p:sp>
              <p:nvSpPr>
                <p:cNvPr id="163" name="Freeform 163"/>
                <p:cNvSpPr/>
                <p:nvPr/>
              </p:nvSpPr>
              <p:spPr>
                <a:xfrm>
                  <a:off x="531019" y="633888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FFFFFF"/>
                  </a:solidFill>
                </a:ln>
              </p:spPr>
            </p:sp>
            <p:sp>
              <p:nvSpPr>
                <p:cNvPr id="164" name="Freeform 164"/>
                <p:cNvSpPr/>
                <p:nvPr/>
              </p:nvSpPr>
              <p:spPr>
                <a:xfrm>
                  <a:off x="488156" y="625934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FFFFFF"/>
                  </a:solidFill>
                </a:ln>
              </p:spPr>
            </p:sp>
            <p:sp>
              <p:nvSpPr>
                <p:cNvPr id="165" name="Freeform 165"/>
                <p:cNvSpPr/>
                <p:nvPr/>
              </p:nvSpPr>
              <p:spPr>
                <a:xfrm>
                  <a:off x="488156" y="628173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FFFFFF"/>
                  </a:solidFill>
                </a:ln>
              </p:spPr>
            </p:sp>
            <p:sp>
              <p:nvSpPr>
                <p:cNvPr id="166" name="Freeform 166"/>
                <p:cNvSpPr/>
                <p:nvPr/>
              </p:nvSpPr>
              <p:spPr>
                <a:xfrm>
                  <a:off x="488156" y="631745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FFFFFF"/>
                  </a:solidFill>
                </a:ln>
              </p:spPr>
            </p:sp>
          </p:grpSp>
          <p:sp>
            <p:nvSpPr>
              <p:cNvPr id="168" name="TextBox 168"/>
              <p:cNvSpPr txBox="1"/>
              <p:nvPr/>
            </p:nvSpPr>
            <p:spPr>
              <a:xfrm>
                <a:off x="776097" y="6266974"/>
                <a:ext cx="1293891"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质量（客单/留存）​​</a:t>
                </a:r>
              </a:p>
            </p:txBody>
          </p:sp>
          <p:sp>
            <p:nvSpPr>
              <p:cNvPr id="169" name="TextBox 169"/>
              <p:cNvSpPr txBox="1"/>
              <p:nvPr/>
            </p:nvSpPr>
            <p:spPr>
              <a:xfrm>
                <a:off x="2130285" y="6275070"/>
                <a:ext cx="2330729"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客单与留存较目标缺口 XX.X 个百分点​​​​</a:t>
                </a:r>
              </a:p>
            </p:txBody>
          </p:sp>
          <p:sp>
            <p:nvSpPr>
              <p:cNvPr id="170" name="TextBox 170"/>
              <p:cNvSpPr txBox="1"/>
              <p:nvPr/>
            </p:nvSpPr>
            <p:spPr>
              <a:xfrm>
                <a:off x="4662488" y="6202918"/>
                <a:ext cx="1593215" cy="330994"/>
              </a:xfrm>
              <a:prstGeom prst="rect">
                <a:avLst/>
              </a:prstGeom>
              <a:noFill/>
              <a:ln>
                <a:noFill/>
              </a:ln>
            </p:spPr>
            <p:txBody>
              <a:bodyPr wrap="none" lIns="0" tIns="0" rIns="0" bIns="0" anchor="t" anchorCtr="0">
                <a:spAutoFit/>
              </a:bodyPr>
              <a:lstStyle/>
              <a:p>
                <a:pPr algn="l" marL="92837" indent="-92837">
                  <a:lnSpc>
                    <a:spcPts val="1275"/>
                  </a:lnSpc>
                  <a:buClr>
                    <a:srgbClr val="473633"/>
                  </a:buClr>
                  <a:buSzTx/>
                  <a:buFontTx/>
                  <a:buChar char="•"/>
                </a:pPr>
                <a:r>
                  <a:rPr lang="zh-CN" sz="860" dirty="0">
                    <a:solidFill>
                      <a:srgbClr val="473633"/>
                    </a:solidFill>
                    <a:latin typeface="+mn-lt"/>
                    <a:ea typeface="+mn-ea"/>
                    <a:cs typeface="+mn-cs"/>
                  </a:rPr>
                  <a:t>高价值产品渗透不足​​</a:t>
                </a:r>
              </a:p>
              <a:p>
                <a:pPr algn="l" marL="92837" indent="-92837">
                  <a:lnSpc>
                    <a:spcPts val="1275"/>
                  </a:lnSpc>
                  <a:buClr>
                    <a:srgbClr val="473633"/>
                  </a:buClr>
                  <a:buSzTx/>
                  <a:buFontTx/>
                  <a:buChar char="•"/>
                </a:pPr>
                <a:r>
                  <a:rPr lang="zh-CN" sz="860" dirty="0">
                    <a:solidFill>
                      <a:srgbClr val="473633"/>
                    </a:solidFill>
                    <a:latin typeface="+mn-lt"/>
                    <a:ea typeface="+mn-ea"/>
                    <a:cs typeface="+mn-cs"/>
                  </a:rPr>
                  <a:t>客户黏性与服务体验待提升​​​</a:t>
                </a:r>
              </a:p>
            </p:txBody>
          </p:sp>
          <p:sp>
            <p:nvSpPr>
              <p:cNvPr id="171" name="TextBox 171"/>
              <p:cNvSpPr txBox="1"/>
              <p:nvPr/>
            </p:nvSpPr>
            <p:spPr>
              <a:xfrm>
                <a:off x="7767638" y="6202918"/>
                <a:ext cx="1702435" cy="330994"/>
              </a:xfrm>
              <a:prstGeom prst="rect">
                <a:avLst/>
              </a:prstGeom>
              <a:noFill/>
              <a:ln>
                <a:noFill/>
              </a:ln>
            </p:spPr>
            <p:txBody>
              <a:bodyPr wrap="none" lIns="0" tIns="0" rIns="0" bIns="0" anchor="t" anchorCtr="0">
                <a:spAutoFit/>
              </a:bodyPr>
              <a:lstStyle/>
              <a:p>
                <a:pPr algn="l" marL="92837" indent="-92837">
                  <a:lnSpc>
                    <a:spcPts val="1275"/>
                  </a:lnSpc>
                  <a:buClr>
                    <a:srgbClr val="473633"/>
                  </a:buClr>
                  <a:buSzTx/>
                  <a:buFontTx/>
                  <a:buChar char="•"/>
                </a:pPr>
                <a:r>
                  <a:rPr lang="zh-CN" sz="860" dirty="0">
                    <a:solidFill>
                      <a:srgbClr val="473633"/>
                    </a:solidFill>
                    <a:latin typeface="+mn-lt"/>
                    <a:ea typeface="+mn-ea"/>
                    <a:cs typeface="+mn-cs"/>
                  </a:rPr>
                  <a:t>提升重点产品交叉销售能力​​​</a:t>
                </a:r>
              </a:p>
              <a:p>
                <a:pPr algn="l" marL="92837" indent="-92837">
                  <a:lnSpc>
                    <a:spcPts val="1275"/>
                  </a:lnSpc>
                  <a:buClr>
                    <a:srgbClr val="473633"/>
                  </a:buClr>
                  <a:buSzTx/>
                  <a:buFontTx/>
                  <a:buChar char="•"/>
                </a:pPr>
                <a:r>
                  <a:rPr lang="zh-CN" sz="860" dirty="0">
                    <a:solidFill>
                      <a:srgbClr val="473633"/>
                    </a:solidFill>
                    <a:latin typeface="+mn-lt"/>
                    <a:ea typeface="+mn-ea"/>
                    <a:cs typeface="+mn-cs"/>
                  </a:rPr>
                  <a:t>加强客户分层经营与关怀触达​​​</a:t>
                </a:r>
              </a:p>
            </p:txBody>
          </p:sp>
        </p:grpSp>
      </p:gr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05​</a:t>
              </a:r>
            </a:p>
          </p:txBody>
        </p:sp>
        <p:sp>
          <p:nvSpPr>
            <p:cNvPr id="4" name="TextBox 4"/>
            <p:cNvSpPr txBox="1"/>
            <p:nvPr/>
          </p:nvSpPr>
          <p:spPr>
            <a:xfrm>
              <a:off x="942594" y="151448"/>
              <a:ext cx="6004720"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区域与网点表现</a:t>
              </a:r>
              <a:r>
                <a:rPr lang="zh-CN" sz="1950" b="1" dirty="0">
                  <a:solidFill>
                    <a:srgbClr val="1A1A1A"/>
                  </a:solidFill>
                  <a:latin typeface="SimSun"/>
                  <a:ea typeface="SimSun"/>
                  <a:cs typeface="SimSun"/>
                </a:rPr>
                <a:t>｜识别增长极、提升区与攻坚区​</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36" name="matrix"/>
          <p:cNvGrpSpPr/>
          <p:nvPr/>
        </p:nvGrpSpPr>
        <p:grpSpPr>
          <a:xfrm>
            <a:off x="266700" y="742950"/>
            <a:ext cx="7562850" cy="3689509"/>
            <a:chOff x="266700" y="742950"/>
            <a:chExt cx="7562850" cy="3689509"/>
          </a:xfrm>
        </p:grpSpPr>
        <p:sp>
          <p:nvSpPr>
            <p:cNvPr id="7" name="Rectangle 7"/>
            <p:cNvSpPr/>
            <p:nvPr/>
          </p:nvSpPr>
          <p:spPr>
            <a:xfrm>
              <a:off x="266700" y="742950"/>
              <a:ext cx="7562850" cy="3657600"/>
            </a:xfrm>
            <a:prstGeom prst="roundRect">
              <a:avLst>
                <a:gd name="adj" fmla="val 2083"/>
              </a:avLst>
            </a:prstGeom>
            <a:solidFill>
              <a:srgbClr val="F7FAFE"/>
            </a:solidFill>
            <a:ln w="9525">
              <a:solidFill>
                <a:srgbClr val="DCE6F8"/>
              </a:solidFill>
            </a:ln>
          </p:spPr>
        </p:sp>
        <p:sp>
          <p:nvSpPr>
            <p:cNvPr id="8" name="Rectangle 8"/>
            <p:cNvSpPr/>
            <p:nvPr/>
          </p:nvSpPr>
          <p:spPr>
            <a:xfrm>
              <a:off x="1143000" y="990600"/>
              <a:ext cx="2095500" cy="952500"/>
            </a:xfrm>
            <a:prstGeom prst="rect">
              <a:avLst/>
            </a:prstGeom>
            <a:solidFill>
              <a:srgbClr val="EAF3FE"/>
            </a:solidFill>
            <a:ln>
              <a:noFill/>
            </a:ln>
          </p:spPr>
        </p:sp>
        <p:sp>
          <p:nvSpPr>
            <p:cNvPr id="9" name="Rectangle 9"/>
            <p:cNvSpPr/>
            <p:nvPr/>
          </p:nvSpPr>
          <p:spPr>
            <a:xfrm>
              <a:off x="3238500" y="990600"/>
              <a:ext cx="2095500" cy="952500"/>
            </a:xfrm>
            <a:prstGeom prst="rect">
              <a:avLst/>
            </a:prstGeom>
            <a:solidFill>
              <a:srgbClr val="FDCCC2"/>
            </a:solidFill>
            <a:ln>
              <a:noFill/>
            </a:ln>
          </p:spPr>
        </p:sp>
        <p:sp>
          <p:nvSpPr>
            <p:cNvPr id="10" name="Rectangle 10"/>
            <p:cNvSpPr/>
            <p:nvPr/>
          </p:nvSpPr>
          <p:spPr>
            <a:xfrm>
              <a:off x="5334000" y="990600"/>
              <a:ext cx="2286000" cy="952500"/>
            </a:xfrm>
            <a:prstGeom prst="rect">
              <a:avLst/>
            </a:prstGeom>
            <a:solidFill>
              <a:srgbClr val="F3AC9D"/>
            </a:solidFill>
            <a:ln>
              <a:noFill/>
            </a:ln>
          </p:spPr>
        </p:sp>
        <p:sp>
          <p:nvSpPr>
            <p:cNvPr id="11" name="Rectangle 11"/>
            <p:cNvSpPr/>
            <p:nvPr/>
          </p:nvSpPr>
          <p:spPr>
            <a:xfrm>
              <a:off x="1143000" y="1943100"/>
              <a:ext cx="2095500" cy="952500"/>
            </a:xfrm>
            <a:prstGeom prst="rect">
              <a:avLst/>
            </a:prstGeom>
            <a:solidFill>
              <a:srgbClr val="EAF3FE"/>
            </a:solidFill>
            <a:ln>
              <a:noFill/>
            </a:ln>
          </p:spPr>
        </p:sp>
        <p:sp>
          <p:nvSpPr>
            <p:cNvPr id="12" name="Rectangle 12"/>
            <p:cNvSpPr/>
            <p:nvPr/>
          </p:nvSpPr>
          <p:spPr>
            <a:xfrm>
              <a:off x="3238500" y="1943100"/>
              <a:ext cx="2095500" cy="952500"/>
            </a:xfrm>
            <a:prstGeom prst="rect">
              <a:avLst/>
            </a:prstGeom>
            <a:solidFill>
              <a:srgbClr val="D5E5FB"/>
            </a:solidFill>
            <a:ln>
              <a:noFill/>
            </a:ln>
          </p:spPr>
        </p:sp>
        <p:sp>
          <p:nvSpPr>
            <p:cNvPr id="13" name="Rectangle 13"/>
            <p:cNvSpPr/>
            <p:nvPr/>
          </p:nvSpPr>
          <p:spPr>
            <a:xfrm>
              <a:off x="5334000" y="1943100"/>
              <a:ext cx="2286000" cy="952500"/>
            </a:xfrm>
            <a:prstGeom prst="rect">
              <a:avLst/>
            </a:prstGeom>
            <a:solidFill>
              <a:srgbClr val="FDCCC2"/>
            </a:solidFill>
            <a:ln>
              <a:noFill/>
            </a:ln>
          </p:spPr>
        </p:sp>
        <p:sp>
          <p:nvSpPr>
            <p:cNvPr id="14" name="Rectangle 14"/>
            <p:cNvSpPr/>
            <p:nvPr/>
          </p:nvSpPr>
          <p:spPr>
            <a:xfrm>
              <a:off x="1143000" y="2895600"/>
              <a:ext cx="2095500" cy="952500"/>
            </a:xfrm>
            <a:prstGeom prst="rect">
              <a:avLst/>
            </a:prstGeom>
            <a:solidFill>
              <a:srgbClr val="EAF3FE"/>
            </a:solidFill>
            <a:ln>
              <a:noFill/>
            </a:ln>
          </p:spPr>
        </p:sp>
        <p:sp>
          <p:nvSpPr>
            <p:cNvPr id="15" name="Rectangle 15"/>
            <p:cNvSpPr/>
            <p:nvPr/>
          </p:nvSpPr>
          <p:spPr>
            <a:xfrm>
              <a:off x="3238500" y="2895600"/>
              <a:ext cx="2095500" cy="952500"/>
            </a:xfrm>
            <a:prstGeom prst="rect">
              <a:avLst/>
            </a:prstGeom>
            <a:solidFill>
              <a:srgbClr val="EAF3FE"/>
            </a:solidFill>
            <a:ln>
              <a:noFill/>
            </a:ln>
          </p:spPr>
        </p:sp>
        <p:sp>
          <p:nvSpPr>
            <p:cNvPr id="16" name="Rectangle 16"/>
            <p:cNvSpPr/>
            <p:nvPr/>
          </p:nvSpPr>
          <p:spPr>
            <a:xfrm>
              <a:off x="5334000" y="2895600"/>
              <a:ext cx="2286000" cy="952500"/>
            </a:xfrm>
            <a:prstGeom prst="rect">
              <a:avLst/>
            </a:prstGeom>
            <a:solidFill>
              <a:srgbClr val="D5E5FB"/>
            </a:solidFill>
            <a:ln>
              <a:noFill/>
            </a:ln>
          </p:spPr>
        </p:sp>
        <p:sp>
          <p:nvSpPr>
            <p:cNvPr id="17" name="Line 17"/>
            <p:cNvSpPr/>
            <p:nvPr/>
          </p:nvSpPr>
          <p:spPr>
            <a:xfrm>
              <a:off x="3238500" y="990600"/>
              <a:ext cx="9525" cy="2857500"/>
            </a:xfrm>
            <a:custGeom>
              <a:avLst/>
              <a:gdLst/>
              <a:ahLst/>
              <a:cxnLst/>
              <a:rect l="l" t="t" r="r" b="b"/>
              <a:pathLst>
                <a:path w="9525" h="2857500">
                  <a:moveTo>
                    <a:pt x="0" y="0"/>
                  </a:moveTo>
                  <a:lnTo>
                    <a:pt x="0" y="2857500"/>
                  </a:lnTo>
                </a:path>
              </a:pathLst>
            </a:custGeom>
            <a:noFill/>
            <a:ln w="19050">
              <a:solidFill>
                <a:srgbClr val="FFFFFF"/>
              </a:solidFill>
            </a:ln>
          </p:spPr>
        </p:sp>
        <p:sp>
          <p:nvSpPr>
            <p:cNvPr id="18" name="Line 18"/>
            <p:cNvSpPr/>
            <p:nvPr/>
          </p:nvSpPr>
          <p:spPr>
            <a:xfrm>
              <a:off x="5334000" y="990600"/>
              <a:ext cx="9525" cy="2857500"/>
            </a:xfrm>
            <a:custGeom>
              <a:avLst/>
              <a:gdLst/>
              <a:ahLst/>
              <a:cxnLst/>
              <a:rect l="l" t="t" r="r" b="b"/>
              <a:pathLst>
                <a:path w="9525" h="2857500">
                  <a:moveTo>
                    <a:pt x="0" y="0"/>
                  </a:moveTo>
                  <a:lnTo>
                    <a:pt x="0" y="2857500"/>
                  </a:lnTo>
                </a:path>
              </a:pathLst>
            </a:custGeom>
            <a:noFill/>
            <a:ln w="19050">
              <a:solidFill>
                <a:srgbClr val="FFFFFF"/>
              </a:solidFill>
            </a:ln>
          </p:spPr>
        </p:sp>
        <p:sp>
          <p:nvSpPr>
            <p:cNvPr id="19" name="Line 19"/>
            <p:cNvSpPr/>
            <p:nvPr/>
          </p:nvSpPr>
          <p:spPr>
            <a:xfrm>
              <a:off x="1143000" y="1943100"/>
              <a:ext cx="6477000" cy="9525"/>
            </a:xfrm>
            <a:custGeom>
              <a:avLst/>
              <a:gdLst/>
              <a:ahLst/>
              <a:cxnLst/>
              <a:rect l="l" t="t" r="r" b="b"/>
              <a:pathLst>
                <a:path w="6477000" h="9525">
                  <a:moveTo>
                    <a:pt x="0" y="0"/>
                  </a:moveTo>
                  <a:lnTo>
                    <a:pt x="6477000" y="0"/>
                  </a:lnTo>
                </a:path>
              </a:pathLst>
            </a:custGeom>
            <a:noFill/>
            <a:ln w="19050">
              <a:solidFill>
                <a:srgbClr val="FFFFFF"/>
              </a:solidFill>
            </a:ln>
          </p:spPr>
        </p:sp>
        <p:sp>
          <p:nvSpPr>
            <p:cNvPr id="20" name="Line 20"/>
            <p:cNvSpPr/>
            <p:nvPr/>
          </p:nvSpPr>
          <p:spPr>
            <a:xfrm>
              <a:off x="1143000" y="2895600"/>
              <a:ext cx="6477000" cy="9525"/>
            </a:xfrm>
            <a:custGeom>
              <a:avLst/>
              <a:gdLst/>
              <a:ahLst/>
              <a:cxnLst/>
              <a:rect l="l" t="t" r="r" b="b"/>
              <a:pathLst>
                <a:path w="6477000" h="9525">
                  <a:moveTo>
                    <a:pt x="0" y="0"/>
                  </a:moveTo>
                  <a:lnTo>
                    <a:pt x="6477000" y="0"/>
                  </a:lnTo>
                </a:path>
              </a:pathLst>
            </a:custGeom>
            <a:noFill/>
            <a:ln w="19050">
              <a:solidFill>
                <a:srgbClr val="FFFFFF"/>
              </a:solidFill>
            </a:ln>
          </p:spPr>
        </p:sp>
        <p:sp>
          <p:nvSpPr>
            <p:cNvPr id="21" name="Line 21"/>
            <p:cNvSpPr/>
            <p:nvPr/>
          </p:nvSpPr>
          <p:spPr>
            <a:xfrm flipV="1">
              <a:off x="1123950" y="914400"/>
              <a:ext cx="1" cy="2952750"/>
            </a:xfrm>
            <a:prstGeom prst="line">
              <a:avLst/>
            </a:prstGeom>
            <a:noFill/>
            <a:ln w="19050">
              <a:solidFill>
                <a:srgbClr val="D44B2F"/>
              </a:solidFill>
              <a:tailEnd type="triangle" w="lg" len="lg"/>
            </a:ln>
          </p:spPr>
        </p:sp>
        <p:sp>
          <p:nvSpPr>
            <p:cNvPr id="22" name="Line 22"/>
            <p:cNvSpPr/>
            <p:nvPr/>
          </p:nvSpPr>
          <p:spPr>
            <a:xfrm>
              <a:off x="1123950" y="3867150"/>
              <a:ext cx="6591300" cy="1"/>
            </a:xfrm>
            <a:prstGeom prst="line">
              <a:avLst/>
            </a:prstGeom>
            <a:noFill/>
            <a:ln w="19050">
              <a:solidFill>
                <a:srgbClr val="D44B2F"/>
              </a:solidFill>
              <a:tailEnd type="triangle" w="lg" len="lg"/>
            </a:ln>
          </p:spPr>
        </p:sp>
        <p:sp>
          <p:nvSpPr>
            <p:cNvPr id="23" name="TextBox 23"/>
            <p:cNvSpPr txBox="1"/>
            <p:nvPr/>
          </p:nvSpPr>
          <p:spPr>
            <a:xfrm>
              <a:off x="3906624" y="1364932"/>
              <a:ext cx="759252" cy="322707"/>
            </a:xfrm>
            <a:prstGeom prst="rect">
              <a:avLst/>
            </a:prstGeom>
            <a:noFill/>
            <a:ln>
              <a:noFill/>
            </a:ln>
          </p:spPr>
          <p:txBody>
            <a:bodyPr wrap="none" lIns="0" tIns="0" rIns="0" bIns="0" anchor="t" anchorCtr="0">
              <a:spAutoFit/>
            </a:bodyPr>
            <a:lstStyle/>
            <a:p>
              <a:pPr algn="ctr"/>
              <a:r>
                <a:rPr lang="zh-CN" sz="1650" b="1" dirty="0">
                  <a:solidFill>
                    <a:srgbClr val="6E1604"/>
                  </a:solidFill>
                  <a:latin typeface="+mn-lt"/>
                  <a:ea typeface="+mn-ea"/>
                  <a:cs typeface="+mn-cs"/>
                </a:rPr>
                <a:t>A区​​​</a:t>
              </a:r>
            </a:p>
          </p:txBody>
        </p:sp>
        <p:sp>
          <p:nvSpPr>
            <p:cNvPr id="24" name="TextBox 24"/>
            <p:cNvSpPr txBox="1"/>
            <p:nvPr/>
          </p:nvSpPr>
          <p:spPr>
            <a:xfrm>
              <a:off x="6097374" y="1364932"/>
              <a:ext cx="759252" cy="322707"/>
            </a:xfrm>
            <a:prstGeom prst="rect">
              <a:avLst/>
            </a:prstGeom>
            <a:noFill/>
            <a:ln>
              <a:noFill/>
            </a:ln>
          </p:spPr>
          <p:txBody>
            <a:bodyPr wrap="none" lIns="0" tIns="0" rIns="0" bIns="0" anchor="t" anchorCtr="0">
              <a:spAutoFit/>
            </a:bodyPr>
            <a:lstStyle/>
            <a:p>
              <a:pPr algn="ctr"/>
              <a:r>
                <a:rPr lang="zh-CN" sz="1650" b="1" dirty="0">
                  <a:solidFill>
                    <a:srgbClr val="6E1604"/>
                  </a:solidFill>
                  <a:latin typeface="+mn-lt"/>
                  <a:ea typeface="+mn-ea"/>
                  <a:cs typeface="+mn-cs"/>
                </a:rPr>
                <a:t>B区​​​</a:t>
              </a:r>
            </a:p>
          </p:txBody>
        </p:sp>
        <p:sp>
          <p:nvSpPr>
            <p:cNvPr id="25" name="TextBox 25"/>
            <p:cNvSpPr txBox="1"/>
            <p:nvPr/>
          </p:nvSpPr>
          <p:spPr>
            <a:xfrm>
              <a:off x="3906624" y="2317432"/>
              <a:ext cx="759252" cy="322707"/>
            </a:xfrm>
            <a:prstGeom prst="rect">
              <a:avLst/>
            </a:prstGeom>
            <a:noFill/>
            <a:ln>
              <a:noFill/>
            </a:ln>
          </p:spPr>
          <p:txBody>
            <a:bodyPr wrap="none" lIns="0" tIns="0" rIns="0" bIns="0" anchor="t" anchorCtr="0">
              <a:spAutoFit/>
            </a:bodyPr>
            <a:lstStyle/>
            <a:p>
              <a:pPr algn="ctr"/>
              <a:r>
                <a:rPr lang="zh-CN" sz="1650" b="1" dirty="0">
                  <a:solidFill>
                    <a:srgbClr val="6E1604"/>
                  </a:solidFill>
                  <a:latin typeface="+mn-lt"/>
                  <a:ea typeface="+mn-ea"/>
                  <a:cs typeface="+mn-cs"/>
                </a:rPr>
                <a:t>C区​​​</a:t>
              </a:r>
            </a:p>
          </p:txBody>
        </p:sp>
        <p:sp>
          <p:nvSpPr>
            <p:cNvPr id="26" name="TextBox 26"/>
            <p:cNvSpPr txBox="1"/>
            <p:nvPr/>
          </p:nvSpPr>
          <p:spPr>
            <a:xfrm>
              <a:off x="3906624" y="3269932"/>
              <a:ext cx="759252" cy="322707"/>
            </a:xfrm>
            <a:prstGeom prst="rect">
              <a:avLst/>
            </a:prstGeom>
            <a:noFill/>
            <a:ln>
              <a:noFill/>
            </a:ln>
          </p:spPr>
          <p:txBody>
            <a:bodyPr wrap="none" lIns="0" tIns="0" rIns="0" bIns="0" anchor="t" anchorCtr="0">
              <a:spAutoFit/>
            </a:bodyPr>
            <a:lstStyle/>
            <a:p>
              <a:pPr algn="ctr"/>
              <a:r>
                <a:rPr lang="zh-CN" sz="1650" b="1" dirty="0">
                  <a:solidFill>
                    <a:srgbClr val="6E1604"/>
                  </a:solidFill>
                  <a:latin typeface="+mn-lt"/>
                  <a:ea typeface="+mn-ea"/>
                  <a:cs typeface="+mn-cs"/>
                </a:rPr>
                <a:t>D区​​​</a:t>
              </a:r>
            </a:p>
          </p:txBody>
        </p:sp>
        <p:sp>
          <p:nvSpPr>
            <p:cNvPr id="27" name="TextBox 27"/>
            <p:cNvSpPr txBox="1"/>
            <p:nvPr/>
          </p:nvSpPr>
          <p:spPr>
            <a:xfrm>
              <a:off x="6097374" y="3269932"/>
              <a:ext cx="759252" cy="322707"/>
            </a:xfrm>
            <a:prstGeom prst="rect">
              <a:avLst/>
            </a:prstGeom>
            <a:noFill/>
            <a:ln>
              <a:noFill/>
            </a:ln>
          </p:spPr>
          <p:txBody>
            <a:bodyPr wrap="none" lIns="0" tIns="0" rIns="0" bIns="0" anchor="t" anchorCtr="0">
              <a:spAutoFit/>
            </a:bodyPr>
            <a:lstStyle/>
            <a:p>
              <a:pPr algn="ctr"/>
              <a:r>
                <a:rPr lang="zh-CN" sz="1650" b="1" dirty="0">
                  <a:solidFill>
                    <a:srgbClr val="6E1604"/>
                  </a:solidFill>
                  <a:latin typeface="+mn-lt"/>
                  <a:ea typeface="+mn-ea"/>
                  <a:cs typeface="+mn-cs"/>
                </a:rPr>
                <a:t>E区​​​</a:t>
              </a:r>
            </a:p>
          </p:txBody>
        </p:sp>
        <p:sp>
          <p:nvSpPr>
            <p:cNvPr id="28" name="TextBox 28"/>
            <p:cNvSpPr txBox="1"/>
            <p:nvPr/>
          </p:nvSpPr>
          <p:spPr>
            <a:xfrm>
              <a:off x="781240" y="1401128"/>
              <a:ext cx="152019" cy="205359"/>
            </a:xfrm>
            <a:prstGeom prst="rect">
              <a:avLst/>
            </a:prstGeom>
            <a:noFill/>
            <a:ln>
              <a:noFill/>
            </a:ln>
          </p:spPr>
          <p:txBody>
            <a:bodyPr wrap="none" lIns="0" tIns="0" rIns="0" bIns="0" anchor="t" anchorCtr="0">
              <a:spAutoFit/>
            </a:bodyPr>
            <a:lstStyle/>
            <a:p>
              <a:pPr algn="ctr"/>
              <a:r>
                <a:rPr lang="zh-CN" sz="1050" dirty="0">
                  <a:solidFill>
                    <a:srgbClr val="473633"/>
                  </a:solidFill>
                  <a:latin typeface="+mn-lt"/>
                  <a:ea typeface="+mn-ea"/>
                  <a:cs typeface="+mn-cs"/>
                </a:rPr>
                <a:t>高</a:t>
              </a:r>
            </a:p>
          </p:txBody>
        </p:sp>
        <p:sp>
          <p:nvSpPr>
            <p:cNvPr id="29" name="TextBox 29"/>
            <p:cNvSpPr txBox="1"/>
            <p:nvPr/>
          </p:nvSpPr>
          <p:spPr>
            <a:xfrm>
              <a:off x="781240" y="2353628"/>
              <a:ext cx="152019" cy="205359"/>
            </a:xfrm>
            <a:prstGeom prst="rect">
              <a:avLst/>
            </a:prstGeom>
            <a:noFill/>
            <a:ln>
              <a:noFill/>
            </a:ln>
          </p:spPr>
          <p:txBody>
            <a:bodyPr wrap="none" lIns="0" tIns="0" rIns="0" bIns="0" anchor="t" anchorCtr="0">
              <a:spAutoFit/>
            </a:bodyPr>
            <a:lstStyle/>
            <a:p>
              <a:pPr algn="ctr"/>
              <a:r>
                <a:rPr lang="zh-CN" sz="1050" dirty="0">
                  <a:solidFill>
                    <a:srgbClr val="473633"/>
                  </a:solidFill>
                  <a:latin typeface="+mn-lt"/>
                  <a:ea typeface="+mn-ea"/>
                  <a:cs typeface="+mn-cs"/>
                </a:rPr>
                <a:t>中</a:t>
              </a:r>
            </a:p>
          </p:txBody>
        </p:sp>
        <p:sp>
          <p:nvSpPr>
            <p:cNvPr id="30" name="TextBox 30"/>
            <p:cNvSpPr txBox="1"/>
            <p:nvPr/>
          </p:nvSpPr>
          <p:spPr>
            <a:xfrm>
              <a:off x="781240" y="3306128"/>
              <a:ext cx="152019" cy="205359"/>
            </a:xfrm>
            <a:prstGeom prst="rect">
              <a:avLst/>
            </a:prstGeom>
            <a:noFill/>
            <a:ln>
              <a:noFill/>
            </a:ln>
          </p:spPr>
          <p:txBody>
            <a:bodyPr wrap="none" lIns="0" tIns="0" rIns="0" bIns="0" anchor="t" anchorCtr="0">
              <a:spAutoFit/>
            </a:bodyPr>
            <a:lstStyle/>
            <a:p>
              <a:pPr algn="ctr"/>
              <a:r>
                <a:rPr lang="zh-CN" sz="1050" dirty="0">
                  <a:solidFill>
                    <a:srgbClr val="473633"/>
                  </a:solidFill>
                  <a:latin typeface="+mn-lt"/>
                  <a:ea typeface="+mn-ea"/>
                  <a:cs typeface="+mn-cs"/>
                </a:rPr>
                <a:t>低</a:t>
              </a:r>
            </a:p>
          </p:txBody>
        </p:sp>
        <p:sp>
          <p:nvSpPr>
            <p:cNvPr id="31" name="TextBox 31"/>
            <p:cNvSpPr txBox="1"/>
            <p:nvPr/>
          </p:nvSpPr>
          <p:spPr>
            <a:xfrm>
              <a:off x="418465" y="1993106"/>
              <a:ext cx="153670" cy="791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6E1604"/>
                  </a:solidFill>
                  <a:latin typeface="+mn-lt"/>
                  <a:ea typeface="+mn-ea"/>
                  <a:cs typeface="+mn-cs"/>
                </a:rPr>
                <a:t>增</a:t>
              </a:r>
              <a:br/>
              <a:r>
                <a:rPr lang="zh-CN" sz="1120" b="1" dirty="0">
                  <a:solidFill>
                    <a:srgbClr val="6E1604"/>
                  </a:solidFill>
                  <a:latin typeface="+mn-lt"/>
                  <a:ea typeface="+mn-ea"/>
                  <a:cs typeface="+mn-cs"/>
                </a:rPr>
                <a:t>长</a:t>
              </a:r>
              <a:br/>
              <a:r>
                <a:rPr lang="zh-CN" sz="1120" b="1" dirty="0">
                  <a:solidFill>
                    <a:srgbClr val="6E1604"/>
                  </a:solidFill>
                  <a:latin typeface="+mn-lt"/>
                  <a:ea typeface="+mn-ea"/>
                  <a:cs typeface="+mn-cs"/>
                </a:rPr>
                <a:t>动</a:t>
              </a:r>
              <a:br/>
              <a:r>
                <a:rPr lang="zh-CN" sz="1120" b="1" dirty="0">
                  <a:solidFill>
                    <a:srgbClr val="6E1604"/>
                  </a:solidFill>
                  <a:latin typeface="+mn-lt"/>
                  <a:ea typeface="+mn-ea"/>
                  <a:cs typeface="+mn-cs"/>
                </a:rPr>
                <a:t>能</a:t>
              </a:r>
            </a:p>
          </p:txBody>
        </p:sp>
        <p:sp>
          <p:nvSpPr>
            <p:cNvPr id="32" name="TextBox 32"/>
            <p:cNvSpPr txBox="1"/>
            <p:nvPr/>
          </p:nvSpPr>
          <p:spPr>
            <a:xfrm>
              <a:off x="2114740" y="3982402"/>
              <a:ext cx="152019" cy="205359"/>
            </a:xfrm>
            <a:prstGeom prst="rect">
              <a:avLst/>
            </a:prstGeom>
            <a:noFill/>
            <a:ln>
              <a:noFill/>
            </a:ln>
          </p:spPr>
          <p:txBody>
            <a:bodyPr wrap="none" lIns="0" tIns="0" rIns="0" bIns="0" anchor="t" anchorCtr="0">
              <a:spAutoFit/>
            </a:bodyPr>
            <a:lstStyle/>
            <a:p>
              <a:pPr algn="ctr"/>
              <a:r>
                <a:rPr lang="zh-CN" sz="1050" dirty="0">
                  <a:solidFill>
                    <a:srgbClr val="473633"/>
                  </a:solidFill>
                  <a:latin typeface="+mn-lt"/>
                  <a:ea typeface="+mn-ea"/>
                  <a:cs typeface="+mn-cs"/>
                </a:rPr>
                <a:t>低</a:t>
              </a:r>
            </a:p>
          </p:txBody>
        </p:sp>
        <p:sp>
          <p:nvSpPr>
            <p:cNvPr id="33" name="TextBox 33"/>
            <p:cNvSpPr txBox="1"/>
            <p:nvPr/>
          </p:nvSpPr>
          <p:spPr>
            <a:xfrm>
              <a:off x="4210240" y="3982402"/>
              <a:ext cx="152019" cy="205359"/>
            </a:xfrm>
            <a:prstGeom prst="rect">
              <a:avLst/>
            </a:prstGeom>
            <a:noFill/>
            <a:ln>
              <a:noFill/>
            </a:ln>
          </p:spPr>
          <p:txBody>
            <a:bodyPr wrap="none" lIns="0" tIns="0" rIns="0" bIns="0" anchor="t" anchorCtr="0">
              <a:spAutoFit/>
            </a:bodyPr>
            <a:lstStyle/>
            <a:p>
              <a:pPr algn="ctr"/>
              <a:r>
                <a:rPr lang="zh-CN" sz="1050" dirty="0">
                  <a:solidFill>
                    <a:srgbClr val="473633"/>
                  </a:solidFill>
                  <a:latin typeface="+mn-lt"/>
                  <a:ea typeface="+mn-ea"/>
                  <a:cs typeface="+mn-cs"/>
                </a:rPr>
                <a:t>中</a:t>
              </a:r>
            </a:p>
          </p:txBody>
        </p:sp>
        <p:sp>
          <p:nvSpPr>
            <p:cNvPr id="34" name="TextBox 34"/>
            <p:cNvSpPr txBox="1"/>
            <p:nvPr/>
          </p:nvSpPr>
          <p:spPr>
            <a:xfrm>
              <a:off x="6400991" y="3982402"/>
              <a:ext cx="152019" cy="205359"/>
            </a:xfrm>
            <a:prstGeom prst="rect">
              <a:avLst/>
            </a:prstGeom>
            <a:noFill/>
            <a:ln>
              <a:noFill/>
            </a:ln>
          </p:spPr>
          <p:txBody>
            <a:bodyPr wrap="none" lIns="0" tIns="0" rIns="0" bIns="0" anchor="t" anchorCtr="0">
              <a:spAutoFit/>
            </a:bodyPr>
            <a:lstStyle/>
            <a:p>
              <a:pPr algn="ctr"/>
              <a:r>
                <a:rPr lang="zh-CN" sz="1050" dirty="0">
                  <a:solidFill>
                    <a:srgbClr val="473633"/>
                  </a:solidFill>
                  <a:latin typeface="+mn-lt"/>
                  <a:ea typeface="+mn-ea"/>
                  <a:cs typeface="+mn-cs"/>
                </a:rPr>
                <a:t>高</a:t>
              </a:r>
            </a:p>
          </p:txBody>
        </p:sp>
        <p:sp>
          <p:nvSpPr>
            <p:cNvPr id="35" name="TextBox 35"/>
            <p:cNvSpPr txBox="1"/>
            <p:nvPr/>
          </p:nvSpPr>
          <p:spPr>
            <a:xfrm>
              <a:off x="3978986" y="4212431"/>
              <a:ext cx="614528"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目标达成</a:t>
              </a:r>
            </a:p>
          </p:txBody>
        </p:sp>
      </p:grpSp>
      <p:grpSp>
        <p:nvGrpSpPr>
          <p:cNvPr id="62" name="strategy-panel"/>
          <p:cNvGrpSpPr/>
          <p:nvPr/>
        </p:nvGrpSpPr>
        <p:grpSpPr>
          <a:xfrm>
            <a:off x="8001000" y="742950"/>
            <a:ext cx="3924300" cy="3657600"/>
            <a:chOff x="8001000" y="742950"/>
            <a:chExt cx="3924300" cy="3657600"/>
          </a:xfrm>
        </p:grpSpPr>
        <p:sp>
          <p:nvSpPr>
            <p:cNvPr id="37" name="Rectangle 37"/>
            <p:cNvSpPr/>
            <p:nvPr/>
          </p:nvSpPr>
          <p:spPr>
            <a:xfrm>
              <a:off x="8001000" y="742950"/>
              <a:ext cx="3924300" cy="3657600"/>
            </a:xfrm>
            <a:prstGeom prst="roundRect">
              <a:avLst>
                <a:gd name="adj" fmla="val 2083"/>
              </a:avLst>
            </a:prstGeom>
            <a:solidFill>
              <a:srgbClr val="FFFFFF"/>
            </a:solidFill>
            <a:ln w="9525">
              <a:solidFill>
                <a:srgbClr val="F7D1C9"/>
              </a:solidFill>
            </a:ln>
          </p:spPr>
        </p:sp>
        <p:grpSp>
          <p:nvGrpSpPr>
            <p:cNvPr id="44" name="strat-growth"/>
            <p:cNvGrpSpPr/>
            <p:nvPr/>
          </p:nvGrpSpPr>
          <p:grpSpPr>
            <a:xfrm>
              <a:off x="8267700" y="1085850"/>
              <a:ext cx="2353285" cy="685800"/>
              <a:chOff x="8267700" y="1085850"/>
              <a:chExt cx="2353285" cy="685800"/>
            </a:xfrm>
          </p:grpSpPr>
          <p:sp>
            <p:nvSpPr>
              <p:cNvPr id="38" name="Ellipse 38"/>
              <p:cNvSpPr/>
              <p:nvPr/>
            </p:nvSpPr>
            <p:spPr>
              <a:xfrm>
                <a:off x="8267700" y="1085850"/>
                <a:ext cx="685800" cy="685800"/>
              </a:xfrm>
              <a:prstGeom prst="ellipse">
                <a:avLst/>
              </a:prstGeom>
              <a:solidFill>
                <a:srgbClr val="B92102"/>
              </a:solidFill>
              <a:ln>
                <a:noFill/>
              </a:ln>
            </p:spPr>
          </p:sp>
          <p:grpSp>
            <p:nvGrpSpPr>
              <p:cNvPr id="41" name="Group 41"/>
              <p:cNvGrpSpPr/>
              <p:nvPr/>
            </p:nvGrpSpPr>
            <p:grpSpPr>
              <a:xfrm>
                <a:off x="8467725" y="1349375"/>
                <a:ext cx="285751" cy="158750"/>
                <a:chOff x="8467725" y="1349375"/>
                <a:chExt cx="285751" cy="158750"/>
              </a:xfrm>
            </p:grpSpPr>
            <p:sp>
              <p:nvSpPr>
                <p:cNvPr id="39" name="Freeform 39"/>
                <p:cNvSpPr/>
                <p:nvPr/>
              </p:nvSpPr>
              <p:spPr>
                <a:xfrm>
                  <a:off x="8467725" y="1349375"/>
                  <a:ext cx="285751" cy="158750"/>
                </a:xfrm>
                <a:custGeom>
                  <a:avLst/>
                  <a:gdLst/>
                  <a:ahLst/>
                  <a:cxnLst/>
                  <a:rect l="l" t="t" r="r" b="b"/>
                  <a:pathLst>
                    <a:path w="285751" h="158750">
                      <a:moveTo>
                        <a:pt x="0" y="158750"/>
                      </a:moveTo>
                      <a:lnTo>
                        <a:pt x="95250" y="63500"/>
                      </a:lnTo>
                      <a:lnTo>
                        <a:pt x="158750" y="127000"/>
                      </a:lnTo>
                      <a:lnTo>
                        <a:pt x="285751" y="0"/>
                      </a:lnTo>
                    </a:path>
                  </a:pathLst>
                </a:custGeom>
                <a:noFill/>
                <a:ln w="31750">
                  <a:solidFill>
                    <a:srgbClr val="FFFFFF"/>
                  </a:solidFill>
                </a:ln>
              </p:spPr>
            </p:sp>
            <p:sp>
              <p:nvSpPr>
                <p:cNvPr id="40" name="Freeform 40"/>
                <p:cNvSpPr/>
                <p:nvPr/>
              </p:nvSpPr>
              <p:spPr>
                <a:xfrm>
                  <a:off x="8642350" y="1349375"/>
                  <a:ext cx="111125" cy="111125"/>
                </a:xfrm>
                <a:custGeom>
                  <a:avLst/>
                  <a:gdLst/>
                  <a:ahLst/>
                  <a:cxnLst/>
                  <a:rect l="l" t="t" r="r" b="b"/>
                  <a:pathLst>
                    <a:path w="111125" h="111125">
                      <a:moveTo>
                        <a:pt x="0" y="0"/>
                      </a:moveTo>
                      <a:lnTo>
                        <a:pt x="111125" y="0"/>
                      </a:lnTo>
                      <a:lnTo>
                        <a:pt x="111125" y="111125"/>
                      </a:lnTo>
                    </a:path>
                  </a:pathLst>
                </a:custGeom>
                <a:noFill/>
                <a:ln w="31750">
                  <a:solidFill>
                    <a:srgbClr val="FFFFFF"/>
                  </a:solidFill>
                </a:ln>
              </p:spPr>
            </p:sp>
          </p:grpSp>
          <p:sp>
            <p:nvSpPr>
              <p:cNvPr id="42" name="TextBox 42"/>
              <p:cNvSpPr txBox="1"/>
              <p:nvPr/>
            </p:nvSpPr>
            <p:spPr>
              <a:xfrm>
                <a:off x="9250680" y="1171575"/>
                <a:ext cx="822960" cy="293370"/>
              </a:xfrm>
              <a:prstGeom prst="rect">
                <a:avLst/>
              </a:prstGeom>
              <a:noFill/>
              <a:ln>
                <a:noFill/>
              </a:ln>
            </p:spPr>
            <p:txBody>
              <a:bodyPr wrap="none" lIns="0" tIns="0" rIns="0" bIns="0" anchor="t" anchorCtr="0">
                <a:spAutoFit/>
              </a:bodyPr>
              <a:lstStyle/>
              <a:p>
                <a:pPr algn="l"/>
                <a:r>
                  <a:rPr lang="zh-CN" sz="1500" b="1" dirty="0">
                    <a:solidFill>
                      <a:srgbClr val="6E1604"/>
                    </a:solidFill>
                    <a:latin typeface="+mn-lt"/>
                    <a:ea typeface="+mn-ea"/>
                    <a:cs typeface="+mn-cs"/>
                  </a:rPr>
                  <a:t>增长极：</a:t>
                </a:r>
              </a:p>
            </p:txBody>
          </p:sp>
          <p:sp>
            <p:nvSpPr>
              <p:cNvPr id="43" name="TextBox 43"/>
              <p:cNvSpPr txBox="1"/>
              <p:nvPr/>
            </p:nvSpPr>
            <p:spPr>
              <a:xfrm>
                <a:off x="9252585" y="1516856"/>
                <a:ext cx="1368400" cy="220028"/>
              </a:xfrm>
              <a:prstGeom prst="rect">
                <a:avLst/>
              </a:prstGeom>
              <a:noFill/>
              <a:ln>
                <a:noFill/>
              </a:ln>
            </p:spPr>
            <p:txBody>
              <a:bodyPr wrap="none" lIns="0" tIns="0" rIns="0" bIns="0" anchor="t" anchorCtr="0">
                <a:spAutoFit/>
              </a:bodyPr>
              <a:lstStyle/>
              <a:p>
                <a:pPr algn="l"/>
                <a:r>
                  <a:rPr lang="zh-CN" sz="1120" dirty="0">
                    <a:solidFill>
                      <a:srgbClr val="473633"/>
                    </a:solidFill>
                    <a:latin typeface="+mn-lt"/>
                    <a:ea typeface="+mn-ea"/>
                    <a:cs typeface="+mn-cs"/>
                  </a:rPr>
                  <a:t>复制打法、承接增量</a:t>
                </a:r>
              </a:p>
            </p:txBody>
          </p:sp>
        </p:grpSp>
        <p:sp>
          <p:nvSpPr>
            <p:cNvPr id="45" name="Line 45"/>
            <p:cNvSpPr/>
            <p:nvPr/>
          </p:nvSpPr>
          <p:spPr>
            <a:xfrm>
              <a:off x="8191500" y="1962150"/>
              <a:ext cx="3543300" cy="9525"/>
            </a:xfrm>
            <a:custGeom>
              <a:avLst/>
              <a:gdLst/>
              <a:ahLst/>
              <a:cxnLst/>
              <a:rect l="l" t="t" r="r" b="b"/>
              <a:pathLst>
                <a:path w="3543300" h="9525">
                  <a:moveTo>
                    <a:pt x="0" y="0"/>
                  </a:moveTo>
                  <a:lnTo>
                    <a:pt x="3543300" y="0"/>
                  </a:lnTo>
                </a:path>
              </a:pathLst>
            </a:custGeom>
            <a:noFill/>
            <a:ln w="9525">
              <a:solidFill>
                <a:srgbClr val="DCE6F8"/>
              </a:solidFill>
            </a:ln>
          </p:spPr>
        </p:sp>
        <p:grpSp>
          <p:nvGrpSpPr>
            <p:cNvPr id="53" name="strat-improve"/>
            <p:cNvGrpSpPr/>
            <p:nvPr/>
          </p:nvGrpSpPr>
          <p:grpSpPr>
            <a:xfrm>
              <a:off x="8267700" y="2228850"/>
              <a:ext cx="2353285" cy="685800"/>
              <a:chOff x="8267700" y="2228850"/>
              <a:chExt cx="2353285" cy="685800"/>
            </a:xfrm>
          </p:grpSpPr>
          <p:sp>
            <p:nvSpPr>
              <p:cNvPr id="46" name="Ellipse 46"/>
              <p:cNvSpPr/>
              <p:nvPr/>
            </p:nvSpPr>
            <p:spPr>
              <a:xfrm>
                <a:off x="8267700" y="2228850"/>
                <a:ext cx="685800" cy="685800"/>
              </a:xfrm>
              <a:prstGeom prst="ellipse">
                <a:avLst/>
              </a:prstGeom>
              <a:solidFill>
                <a:srgbClr val="D44B2F"/>
              </a:solidFill>
              <a:ln>
                <a:noFill/>
              </a:ln>
            </p:spPr>
          </p:sp>
          <p:grpSp>
            <p:nvGrpSpPr>
              <p:cNvPr id="50" name="Group 50"/>
              <p:cNvGrpSpPr/>
              <p:nvPr/>
            </p:nvGrpSpPr>
            <p:grpSpPr>
              <a:xfrm>
                <a:off x="8467725" y="2428875"/>
                <a:ext cx="285751" cy="285751"/>
                <a:chOff x="8467725" y="2428875"/>
                <a:chExt cx="285751" cy="285751"/>
              </a:xfrm>
            </p:grpSpPr>
            <p:sp>
              <p:nvSpPr>
                <p:cNvPr id="47" name="Freeform 47"/>
                <p:cNvSpPr/>
                <p:nvPr/>
              </p:nvSpPr>
              <p:spPr>
                <a:xfrm>
                  <a:off x="8594725" y="255587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31750">
                  <a:solidFill>
                    <a:srgbClr val="FFFFFF"/>
                  </a:solidFill>
                </a:ln>
              </p:spPr>
            </p:sp>
            <p:sp>
              <p:nvSpPr>
                <p:cNvPr id="48" name="Freeform 48"/>
                <p:cNvSpPr/>
                <p:nvPr/>
              </p:nvSpPr>
              <p:spPr>
                <a:xfrm>
                  <a:off x="8531225" y="2492375"/>
                  <a:ext cx="158750" cy="158750"/>
                </a:xfrm>
                <a:custGeom>
                  <a:avLst/>
                  <a:gdLst/>
                  <a:ahLst/>
                  <a:cxnLst/>
                  <a:rect l="l" t="t" r="r" b="b"/>
                  <a:pathLst>
                    <a:path w="158750" h="158750">
                      <a:moveTo>
                        <a:pt x="0" y="79375"/>
                      </a:moveTo>
                      <a:cubicBezTo>
                        <a:pt x="0" y="123213"/>
                        <a:pt x="35537" y="158750"/>
                        <a:pt x="79375" y="158750"/>
                      </a:cubicBezTo>
                      <a:cubicBezTo>
                        <a:pt x="123213" y="158750"/>
                        <a:pt x="158750" y="123213"/>
                        <a:pt x="158750" y="79375"/>
                      </a:cubicBezTo>
                      <a:cubicBezTo>
                        <a:pt x="158750" y="35537"/>
                        <a:pt x="123213" y="0"/>
                        <a:pt x="79375" y="0"/>
                      </a:cubicBezTo>
                      <a:cubicBezTo>
                        <a:pt x="35537" y="0"/>
                        <a:pt x="0" y="35537"/>
                        <a:pt x="0" y="79375"/>
                      </a:cubicBezTo>
                    </a:path>
                  </a:pathLst>
                </a:custGeom>
                <a:noFill/>
                <a:ln w="31750">
                  <a:solidFill>
                    <a:srgbClr val="FFFFFF"/>
                  </a:solidFill>
                </a:ln>
              </p:spPr>
            </p:sp>
            <p:sp>
              <p:nvSpPr>
                <p:cNvPr id="49" name="Freeform 49"/>
                <p:cNvSpPr/>
                <p:nvPr/>
              </p:nvSpPr>
              <p:spPr>
                <a:xfrm>
                  <a:off x="8467725" y="2428875"/>
                  <a:ext cx="285751" cy="285751"/>
                </a:xfrm>
                <a:custGeom>
                  <a:avLst/>
                  <a:gdLst/>
                  <a:ahLst/>
                  <a:cxnLst/>
                  <a:rect l="l" t="t" r="r" b="b"/>
                  <a:pathLst>
                    <a:path w="285751" h="285751">
                      <a:moveTo>
                        <a:pt x="0" y="142875"/>
                      </a:moveTo>
                      <a:cubicBezTo>
                        <a:pt x="0" y="221783"/>
                        <a:pt x="63967" y="285751"/>
                        <a:pt x="142875" y="285751"/>
                      </a:cubicBezTo>
                      <a:cubicBezTo>
                        <a:pt x="221783" y="285751"/>
                        <a:pt x="285751" y="221783"/>
                        <a:pt x="285751" y="142875"/>
                      </a:cubicBezTo>
                      <a:cubicBezTo>
                        <a:pt x="285751" y="63967"/>
                        <a:pt x="221783" y="0"/>
                        <a:pt x="142875" y="0"/>
                      </a:cubicBezTo>
                      <a:cubicBezTo>
                        <a:pt x="63967" y="0"/>
                        <a:pt x="0" y="63967"/>
                        <a:pt x="0" y="142875"/>
                      </a:cubicBezTo>
                    </a:path>
                  </a:pathLst>
                </a:custGeom>
                <a:noFill/>
                <a:ln w="31750">
                  <a:solidFill>
                    <a:srgbClr val="FFFFFF"/>
                  </a:solidFill>
                </a:ln>
              </p:spPr>
            </p:sp>
          </p:grpSp>
          <p:sp>
            <p:nvSpPr>
              <p:cNvPr id="51" name="TextBox 51"/>
              <p:cNvSpPr txBox="1"/>
              <p:nvPr/>
            </p:nvSpPr>
            <p:spPr>
              <a:xfrm>
                <a:off x="9250680" y="2314575"/>
                <a:ext cx="822960" cy="293370"/>
              </a:xfrm>
              <a:prstGeom prst="rect">
                <a:avLst/>
              </a:prstGeom>
              <a:noFill/>
              <a:ln>
                <a:noFill/>
              </a:ln>
            </p:spPr>
            <p:txBody>
              <a:bodyPr wrap="none" lIns="0" tIns="0" rIns="0" bIns="0" anchor="t" anchorCtr="0">
                <a:spAutoFit/>
              </a:bodyPr>
              <a:lstStyle/>
              <a:p>
                <a:pPr algn="l"/>
                <a:r>
                  <a:rPr lang="zh-CN" sz="1500" b="1" dirty="0">
                    <a:solidFill>
                      <a:srgbClr val="6E1604"/>
                    </a:solidFill>
                    <a:latin typeface="+mn-lt"/>
                    <a:ea typeface="+mn-ea"/>
                    <a:cs typeface="+mn-cs"/>
                  </a:rPr>
                  <a:t>提升区：</a:t>
                </a:r>
              </a:p>
            </p:txBody>
          </p:sp>
          <p:sp>
            <p:nvSpPr>
              <p:cNvPr id="52" name="TextBox 52"/>
              <p:cNvSpPr txBox="1"/>
              <p:nvPr/>
            </p:nvSpPr>
            <p:spPr>
              <a:xfrm>
                <a:off x="9252585" y="2659856"/>
                <a:ext cx="1368400" cy="220028"/>
              </a:xfrm>
              <a:prstGeom prst="rect">
                <a:avLst/>
              </a:prstGeom>
              <a:noFill/>
              <a:ln>
                <a:noFill/>
              </a:ln>
            </p:spPr>
            <p:txBody>
              <a:bodyPr wrap="none" lIns="0" tIns="0" rIns="0" bIns="0" anchor="t" anchorCtr="0">
                <a:spAutoFit/>
              </a:bodyPr>
              <a:lstStyle/>
              <a:p>
                <a:pPr algn="l"/>
                <a:r>
                  <a:rPr lang="zh-CN" sz="1120" dirty="0">
                    <a:solidFill>
                      <a:srgbClr val="473633"/>
                    </a:solidFill>
                    <a:latin typeface="+mn-lt"/>
                    <a:ea typeface="+mn-ea"/>
                    <a:cs typeface="+mn-cs"/>
                  </a:rPr>
                  <a:t>补齐产品与队伍短板</a:t>
                </a:r>
              </a:p>
            </p:txBody>
          </p:sp>
        </p:grpSp>
        <p:sp>
          <p:nvSpPr>
            <p:cNvPr id="54" name="Line 54"/>
            <p:cNvSpPr/>
            <p:nvPr/>
          </p:nvSpPr>
          <p:spPr>
            <a:xfrm>
              <a:off x="8191500" y="3105150"/>
              <a:ext cx="3543300" cy="9525"/>
            </a:xfrm>
            <a:custGeom>
              <a:avLst/>
              <a:gdLst/>
              <a:ahLst/>
              <a:cxnLst/>
              <a:rect l="l" t="t" r="r" b="b"/>
              <a:pathLst>
                <a:path w="3543300" h="9525">
                  <a:moveTo>
                    <a:pt x="0" y="0"/>
                  </a:moveTo>
                  <a:lnTo>
                    <a:pt x="3543300" y="0"/>
                  </a:lnTo>
                </a:path>
              </a:pathLst>
            </a:custGeom>
            <a:noFill/>
            <a:ln w="9525">
              <a:solidFill>
                <a:srgbClr val="DCE6F8"/>
              </a:solidFill>
            </a:ln>
          </p:spPr>
        </p:sp>
        <p:grpSp>
          <p:nvGrpSpPr>
            <p:cNvPr id="61" name="strat-attack"/>
            <p:cNvGrpSpPr/>
            <p:nvPr/>
          </p:nvGrpSpPr>
          <p:grpSpPr>
            <a:xfrm>
              <a:off x="8267700" y="3371850"/>
              <a:ext cx="2353285" cy="685800"/>
              <a:chOff x="8267700" y="3371850"/>
              <a:chExt cx="2353285" cy="685800"/>
            </a:xfrm>
          </p:grpSpPr>
          <p:sp>
            <p:nvSpPr>
              <p:cNvPr id="55" name="Ellipse 55"/>
              <p:cNvSpPr/>
              <p:nvPr/>
            </p:nvSpPr>
            <p:spPr>
              <a:xfrm>
                <a:off x="8267700" y="3371850"/>
                <a:ext cx="685800" cy="685800"/>
              </a:xfrm>
              <a:prstGeom prst="ellipse">
                <a:avLst/>
              </a:prstGeom>
              <a:solidFill>
                <a:srgbClr val="6E1604"/>
              </a:solidFill>
              <a:ln>
                <a:noFill/>
              </a:ln>
            </p:spPr>
          </p:sp>
          <p:grpSp>
            <p:nvGrpSpPr>
              <p:cNvPr id="58" name="Group 58"/>
              <p:cNvGrpSpPr/>
              <p:nvPr/>
            </p:nvGrpSpPr>
            <p:grpSpPr>
              <a:xfrm>
                <a:off x="8499475" y="3573372"/>
                <a:ext cx="222250" cy="284253"/>
                <a:chOff x="8499475" y="3573372"/>
                <a:chExt cx="222250" cy="284253"/>
              </a:xfrm>
            </p:grpSpPr>
            <p:sp>
              <p:nvSpPr>
                <p:cNvPr id="56" name="Freeform 56"/>
                <p:cNvSpPr/>
                <p:nvPr/>
              </p:nvSpPr>
              <p:spPr>
                <a:xfrm>
                  <a:off x="8499475" y="3573372"/>
                  <a:ext cx="222250" cy="203382"/>
                </a:xfrm>
                <a:custGeom>
                  <a:avLst/>
                  <a:gdLst/>
                  <a:ahLst/>
                  <a:cxnLst/>
                  <a:rect l="l" t="t" r="r" b="b"/>
                  <a:pathLst>
                    <a:path w="222250" h="203382">
                      <a:moveTo>
                        <a:pt x="0" y="30253"/>
                      </a:moveTo>
                      <a:cubicBezTo>
                        <a:pt x="30865" y="0"/>
                        <a:pt x="80261" y="0"/>
                        <a:pt x="111125" y="30253"/>
                      </a:cubicBezTo>
                      <a:cubicBezTo>
                        <a:pt x="141990" y="60507"/>
                        <a:pt x="191386" y="60507"/>
                        <a:pt x="222250" y="30253"/>
                      </a:cubicBezTo>
                      <a:lnTo>
                        <a:pt x="222250" y="173129"/>
                      </a:lnTo>
                      <a:cubicBezTo>
                        <a:pt x="191386" y="203382"/>
                        <a:pt x="141990" y="203382"/>
                        <a:pt x="111125" y="173129"/>
                      </a:cubicBezTo>
                      <a:cubicBezTo>
                        <a:pt x="80261" y="142875"/>
                        <a:pt x="30865" y="142875"/>
                        <a:pt x="0" y="173129"/>
                      </a:cubicBezTo>
                      <a:lnTo>
                        <a:pt x="0" y="30253"/>
                      </a:lnTo>
                    </a:path>
                  </a:pathLst>
                </a:custGeom>
                <a:noFill/>
                <a:ln w="31750">
                  <a:solidFill>
                    <a:srgbClr val="FFFFFF"/>
                  </a:solidFill>
                </a:ln>
              </p:spPr>
            </p:sp>
            <p:sp>
              <p:nvSpPr>
                <p:cNvPr id="57" name="Freeform 57"/>
                <p:cNvSpPr/>
                <p:nvPr/>
              </p:nvSpPr>
              <p:spPr>
                <a:xfrm>
                  <a:off x="8499475" y="3746500"/>
                  <a:ext cx="9525" cy="111125"/>
                </a:xfrm>
                <a:custGeom>
                  <a:avLst/>
                  <a:gdLst/>
                  <a:ahLst/>
                  <a:cxnLst/>
                  <a:rect l="l" t="t" r="r" b="b"/>
                  <a:pathLst>
                    <a:path w="9525" h="111125">
                      <a:moveTo>
                        <a:pt x="0" y="111125"/>
                      </a:moveTo>
                      <a:lnTo>
                        <a:pt x="0" y="0"/>
                      </a:lnTo>
                    </a:path>
                  </a:pathLst>
                </a:custGeom>
                <a:noFill/>
                <a:ln w="31750">
                  <a:solidFill>
                    <a:srgbClr val="FFFFFF"/>
                  </a:solidFill>
                </a:ln>
              </p:spPr>
            </p:sp>
          </p:grpSp>
          <p:sp>
            <p:nvSpPr>
              <p:cNvPr id="59" name="TextBox 59"/>
              <p:cNvSpPr txBox="1"/>
              <p:nvPr/>
            </p:nvSpPr>
            <p:spPr>
              <a:xfrm>
                <a:off x="9250680" y="3457575"/>
                <a:ext cx="822960" cy="293370"/>
              </a:xfrm>
              <a:prstGeom prst="rect">
                <a:avLst/>
              </a:prstGeom>
              <a:noFill/>
              <a:ln>
                <a:noFill/>
              </a:ln>
            </p:spPr>
            <p:txBody>
              <a:bodyPr wrap="none" lIns="0" tIns="0" rIns="0" bIns="0" anchor="t" anchorCtr="0">
                <a:spAutoFit/>
              </a:bodyPr>
              <a:lstStyle/>
              <a:p>
                <a:pPr algn="l"/>
                <a:r>
                  <a:rPr lang="zh-CN" sz="1500" b="1" dirty="0">
                    <a:solidFill>
                      <a:srgbClr val="6E1604"/>
                    </a:solidFill>
                    <a:latin typeface="+mn-lt"/>
                    <a:ea typeface="+mn-ea"/>
                    <a:cs typeface="+mn-cs"/>
                  </a:rPr>
                  <a:t>攻坚区：</a:t>
                </a:r>
              </a:p>
            </p:txBody>
          </p:sp>
          <p:sp>
            <p:nvSpPr>
              <p:cNvPr id="60" name="TextBox 60"/>
              <p:cNvSpPr txBox="1"/>
              <p:nvPr/>
            </p:nvSpPr>
            <p:spPr>
              <a:xfrm>
                <a:off x="9252585" y="3802856"/>
                <a:ext cx="1368400" cy="220028"/>
              </a:xfrm>
              <a:prstGeom prst="rect">
                <a:avLst/>
              </a:prstGeom>
              <a:noFill/>
              <a:ln>
                <a:noFill/>
              </a:ln>
            </p:spPr>
            <p:txBody>
              <a:bodyPr wrap="none" lIns="0" tIns="0" rIns="0" bIns="0" anchor="t" anchorCtr="0">
                <a:spAutoFit/>
              </a:bodyPr>
              <a:lstStyle/>
              <a:p>
                <a:pPr algn="l"/>
                <a:r>
                  <a:rPr lang="zh-CN" sz="1120" dirty="0">
                    <a:solidFill>
                      <a:srgbClr val="473633"/>
                    </a:solidFill>
                    <a:latin typeface="+mn-lt"/>
                    <a:ea typeface="+mn-ea"/>
                    <a:cs typeface="+mn-cs"/>
                  </a:rPr>
                  <a:t>驻点辅导、逐户突破</a:t>
                </a:r>
              </a:p>
            </p:txBody>
          </p:sp>
        </p:grpSp>
      </p:grpSp>
      <p:grpSp>
        <p:nvGrpSpPr>
          <p:cNvPr id="109" name="detail-table"/>
          <p:cNvGrpSpPr/>
          <p:nvPr/>
        </p:nvGrpSpPr>
        <p:grpSpPr>
          <a:xfrm>
            <a:off x="266700" y="4552950"/>
            <a:ext cx="11658600" cy="2019300"/>
            <a:chOff x="266700" y="4552950"/>
            <a:chExt cx="11658600" cy="2019300"/>
          </a:xfrm>
        </p:grpSpPr>
        <p:sp>
          <p:nvSpPr>
            <p:cNvPr id="63" name="Rectangle 63"/>
            <p:cNvSpPr/>
            <p:nvPr/>
          </p:nvSpPr>
          <p:spPr>
            <a:xfrm>
              <a:off x="266700" y="4552950"/>
              <a:ext cx="11658600" cy="2019300"/>
            </a:xfrm>
            <a:prstGeom prst="roundRect">
              <a:avLst>
                <a:gd name="adj" fmla="val 2830"/>
              </a:avLst>
            </a:prstGeom>
            <a:solidFill>
              <a:srgbClr val="FFFFFF"/>
            </a:solidFill>
            <a:ln w="9525">
              <a:solidFill>
                <a:srgbClr val="F7D1C9"/>
              </a:solidFill>
            </a:ln>
          </p:spPr>
        </p:sp>
        <p:sp>
          <p:nvSpPr>
            <p:cNvPr id="64" name="Freeform 64"/>
            <p:cNvSpPr/>
            <p:nvPr/>
          </p:nvSpPr>
          <p:spPr>
            <a:xfrm>
              <a:off x="266700" y="4552950"/>
              <a:ext cx="11658600" cy="342900"/>
            </a:xfrm>
            <a:custGeom>
              <a:avLst/>
              <a:gdLst/>
              <a:ahLst/>
              <a:cxnLst/>
              <a:rect l="l" t="t" r="r" b="b"/>
              <a:pathLst>
                <a:path w="11658600" h="342900">
                  <a:moveTo>
                    <a:pt x="0" y="57150"/>
                  </a:moveTo>
                  <a:cubicBezTo>
                    <a:pt x="0" y="25587"/>
                    <a:pt x="25587" y="0"/>
                    <a:pt x="57150" y="0"/>
                  </a:cubicBezTo>
                  <a:lnTo>
                    <a:pt x="11601450" y="0"/>
                  </a:lnTo>
                  <a:cubicBezTo>
                    <a:pt x="11633013" y="0"/>
                    <a:pt x="11658600" y="25587"/>
                    <a:pt x="11658600" y="57150"/>
                  </a:cubicBezTo>
                  <a:lnTo>
                    <a:pt x="11658600" y="342900"/>
                  </a:lnTo>
                  <a:lnTo>
                    <a:pt x="0" y="342900"/>
                  </a:lnTo>
                  <a:close/>
                </a:path>
              </a:pathLst>
            </a:custGeom>
            <a:solidFill>
              <a:srgbClr val="B92102"/>
            </a:solidFill>
            <a:ln>
              <a:noFill/>
            </a:ln>
          </p:spPr>
        </p:sp>
        <p:sp>
          <p:nvSpPr>
            <p:cNvPr id="65" name="Line 65"/>
            <p:cNvSpPr/>
            <p:nvPr/>
          </p:nvSpPr>
          <p:spPr>
            <a:xfrm>
              <a:off x="1714500" y="4610100"/>
              <a:ext cx="9525" cy="228600"/>
            </a:xfrm>
            <a:custGeom>
              <a:avLst/>
              <a:gdLst/>
              <a:ahLst/>
              <a:cxnLst/>
              <a:rect l="l" t="t" r="r" b="b"/>
              <a:pathLst>
                <a:path w="9525" h="228600">
                  <a:moveTo>
                    <a:pt x="0" y="0"/>
                  </a:moveTo>
                  <a:lnTo>
                    <a:pt x="0" y="228600"/>
                  </a:lnTo>
                </a:path>
              </a:pathLst>
            </a:custGeom>
            <a:noFill/>
            <a:ln w="9525">
              <a:solidFill>
                <a:srgbClr val="D9705B"/>
              </a:solidFill>
            </a:ln>
          </p:spPr>
        </p:sp>
        <p:sp>
          <p:nvSpPr>
            <p:cNvPr id="66" name="Line 66"/>
            <p:cNvSpPr/>
            <p:nvPr/>
          </p:nvSpPr>
          <p:spPr>
            <a:xfrm>
              <a:off x="4381500" y="4610100"/>
              <a:ext cx="9525" cy="228600"/>
            </a:xfrm>
            <a:custGeom>
              <a:avLst/>
              <a:gdLst/>
              <a:ahLst/>
              <a:cxnLst/>
              <a:rect l="l" t="t" r="r" b="b"/>
              <a:pathLst>
                <a:path w="9525" h="228600">
                  <a:moveTo>
                    <a:pt x="0" y="0"/>
                  </a:moveTo>
                  <a:lnTo>
                    <a:pt x="0" y="228600"/>
                  </a:lnTo>
                </a:path>
              </a:pathLst>
            </a:custGeom>
            <a:noFill/>
            <a:ln w="9525">
              <a:solidFill>
                <a:srgbClr val="D9705B"/>
              </a:solidFill>
            </a:ln>
          </p:spPr>
        </p:sp>
        <p:sp>
          <p:nvSpPr>
            <p:cNvPr id="67" name="Line 67"/>
            <p:cNvSpPr/>
            <p:nvPr/>
          </p:nvSpPr>
          <p:spPr>
            <a:xfrm>
              <a:off x="7048500" y="4610100"/>
              <a:ext cx="9525" cy="228600"/>
            </a:xfrm>
            <a:custGeom>
              <a:avLst/>
              <a:gdLst/>
              <a:ahLst/>
              <a:cxnLst/>
              <a:rect l="l" t="t" r="r" b="b"/>
              <a:pathLst>
                <a:path w="9525" h="228600">
                  <a:moveTo>
                    <a:pt x="0" y="0"/>
                  </a:moveTo>
                  <a:lnTo>
                    <a:pt x="0" y="228600"/>
                  </a:lnTo>
                </a:path>
              </a:pathLst>
            </a:custGeom>
            <a:noFill/>
            <a:ln w="9525">
              <a:solidFill>
                <a:srgbClr val="D9705B"/>
              </a:solidFill>
            </a:ln>
          </p:spPr>
        </p:sp>
        <p:sp>
          <p:nvSpPr>
            <p:cNvPr id="68" name="Line 68"/>
            <p:cNvSpPr/>
            <p:nvPr/>
          </p:nvSpPr>
          <p:spPr>
            <a:xfrm>
              <a:off x="9810750" y="4610100"/>
              <a:ext cx="9525" cy="228600"/>
            </a:xfrm>
            <a:custGeom>
              <a:avLst/>
              <a:gdLst/>
              <a:ahLst/>
              <a:cxnLst/>
              <a:rect l="l" t="t" r="r" b="b"/>
              <a:pathLst>
                <a:path w="9525" h="228600">
                  <a:moveTo>
                    <a:pt x="0" y="0"/>
                  </a:moveTo>
                  <a:lnTo>
                    <a:pt x="0" y="228600"/>
                  </a:lnTo>
                </a:path>
              </a:pathLst>
            </a:custGeom>
            <a:noFill/>
            <a:ln w="9525">
              <a:solidFill>
                <a:srgbClr val="D9705B"/>
              </a:solidFill>
            </a:ln>
          </p:spPr>
        </p:sp>
        <p:sp>
          <p:nvSpPr>
            <p:cNvPr id="69" name="TextBox 69"/>
            <p:cNvSpPr txBox="1"/>
            <p:nvPr/>
          </p:nvSpPr>
          <p:spPr>
            <a:xfrm>
              <a:off x="843915" y="465867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区域</a:t>
              </a:r>
            </a:p>
          </p:txBody>
        </p:sp>
        <p:sp>
          <p:nvSpPr>
            <p:cNvPr id="70" name="TextBox 70"/>
            <p:cNvSpPr txBox="1"/>
            <p:nvPr/>
          </p:nvSpPr>
          <p:spPr>
            <a:xfrm>
              <a:off x="2759964" y="46586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核心优势</a:t>
              </a:r>
            </a:p>
          </p:txBody>
        </p:sp>
        <p:sp>
          <p:nvSpPr>
            <p:cNvPr id="71" name="TextBox 71"/>
            <p:cNvSpPr txBox="1"/>
            <p:nvPr/>
          </p:nvSpPr>
          <p:spPr>
            <a:xfrm>
              <a:off x="5426964" y="46586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主要短板</a:t>
              </a:r>
            </a:p>
          </p:txBody>
        </p:sp>
        <p:sp>
          <p:nvSpPr>
            <p:cNvPr id="72" name="TextBox 72"/>
            <p:cNvSpPr txBox="1"/>
            <p:nvPr/>
          </p:nvSpPr>
          <p:spPr>
            <a:xfrm>
              <a:off x="8049004" y="4658678"/>
              <a:ext cx="76124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9月策略​​​</a:t>
              </a:r>
            </a:p>
          </p:txBody>
        </p:sp>
        <p:sp>
          <p:nvSpPr>
            <p:cNvPr id="73" name="TextBox 73"/>
            <p:cNvSpPr txBox="1"/>
            <p:nvPr/>
          </p:nvSpPr>
          <p:spPr>
            <a:xfrm>
              <a:off x="10650664" y="4658678"/>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责任人</a:t>
              </a:r>
            </a:p>
          </p:txBody>
        </p:sp>
        <p:sp>
          <p:nvSpPr>
            <p:cNvPr id="74" name="Rectangle 74"/>
            <p:cNvSpPr/>
            <p:nvPr/>
          </p:nvSpPr>
          <p:spPr>
            <a:xfrm>
              <a:off x="276225" y="5229225"/>
              <a:ext cx="11639550" cy="333375"/>
            </a:xfrm>
            <a:prstGeom prst="rect">
              <a:avLst/>
            </a:prstGeom>
            <a:solidFill>
              <a:srgbClr val="F2F7FE"/>
            </a:solidFill>
            <a:ln>
              <a:noFill/>
            </a:ln>
          </p:spPr>
        </p:sp>
        <p:sp>
          <p:nvSpPr>
            <p:cNvPr id="75" name="Rectangle 75"/>
            <p:cNvSpPr/>
            <p:nvPr/>
          </p:nvSpPr>
          <p:spPr>
            <a:xfrm>
              <a:off x="276225" y="5895975"/>
              <a:ext cx="11639550" cy="333375"/>
            </a:xfrm>
            <a:prstGeom prst="rect">
              <a:avLst/>
            </a:prstGeom>
            <a:solidFill>
              <a:srgbClr val="F2F7FE"/>
            </a:solidFill>
            <a:ln>
              <a:noFill/>
            </a:ln>
          </p:spPr>
        </p:sp>
        <p:sp>
          <p:nvSpPr>
            <p:cNvPr id="76" name="Line 76"/>
            <p:cNvSpPr/>
            <p:nvPr/>
          </p:nvSpPr>
          <p:spPr>
            <a:xfrm>
              <a:off x="266700" y="5229225"/>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77" name="Line 77"/>
            <p:cNvSpPr/>
            <p:nvPr/>
          </p:nvSpPr>
          <p:spPr>
            <a:xfrm>
              <a:off x="266700" y="556260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78" name="Line 78"/>
            <p:cNvSpPr/>
            <p:nvPr/>
          </p:nvSpPr>
          <p:spPr>
            <a:xfrm>
              <a:off x="266700" y="5895975"/>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79" name="Line 79"/>
            <p:cNvSpPr/>
            <p:nvPr/>
          </p:nvSpPr>
          <p:spPr>
            <a:xfrm>
              <a:off x="266700" y="622935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80" name="Line 80"/>
            <p:cNvSpPr/>
            <p:nvPr/>
          </p:nvSpPr>
          <p:spPr>
            <a:xfrm>
              <a:off x="1714500" y="4895850"/>
              <a:ext cx="9525" cy="1676400"/>
            </a:xfrm>
            <a:custGeom>
              <a:avLst/>
              <a:gdLst/>
              <a:ahLst/>
              <a:cxnLst/>
              <a:rect l="l" t="t" r="r" b="b"/>
              <a:pathLst>
                <a:path w="9525" h="1676400">
                  <a:moveTo>
                    <a:pt x="0" y="0"/>
                  </a:moveTo>
                  <a:lnTo>
                    <a:pt x="0" y="1676400"/>
                  </a:lnTo>
                </a:path>
              </a:pathLst>
            </a:custGeom>
            <a:noFill/>
            <a:ln w="9525">
              <a:solidFill>
                <a:srgbClr val="DCE6F8"/>
              </a:solidFill>
            </a:ln>
          </p:spPr>
        </p:sp>
        <p:sp>
          <p:nvSpPr>
            <p:cNvPr id="81" name="Line 81"/>
            <p:cNvSpPr/>
            <p:nvPr/>
          </p:nvSpPr>
          <p:spPr>
            <a:xfrm>
              <a:off x="4381500" y="4895850"/>
              <a:ext cx="9525" cy="1676400"/>
            </a:xfrm>
            <a:custGeom>
              <a:avLst/>
              <a:gdLst/>
              <a:ahLst/>
              <a:cxnLst/>
              <a:rect l="l" t="t" r="r" b="b"/>
              <a:pathLst>
                <a:path w="9525" h="1676400">
                  <a:moveTo>
                    <a:pt x="0" y="0"/>
                  </a:moveTo>
                  <a:lnTo>
                    <a:pt x="0" y="1676400"/>
                  </a:lnTo>
                </a:path>
              </a:pathLst>
            </a:custGeom>
            <a:noFill/>
            <a:ln w="9525">
              <a:solidFill>
                <a:srgbClr val="DCE6F8"/>
              </a:solidFill>
            </a:ln>
          </p:spPr>
        </p:sp>
        <p:sp>
          <p:nvSpPr>
            <p:cNvPr id="82" name="Line 82"/>
            <p:cNvSpPr/>
            <p:nvPr/>
          </p:nvSpPr>
          <p:spPr>
            <a:xfrm>
              <a:off x="7048500" y="4895850"/>
              <a:ext cx="9525" cy="1676400"/>
            </a:xfrm>
            <a:custGeom>
              <a:avLst/>
              <a:gdLst/>
              <a:ahLst/>
              <a:cxnLst/>
              <a:rect l="l" t="t" r="r" b="b"/>
              <a:pathLst>
                <a:path w="9525" h="1676400">
                  <a:moveTo>
                    <a:pt x="0" y="0"/>
                  </a:moveTo>
                  <a:lnTo>
                    <a:pt x="0" y="1676400"/>
                  </a:lnTo>
                </a:path>
              </a:pathLst>
            </a:custGeom>
            <a:noFill/>
            <a:ln w="9525">
              <a:solidFill>
                <a:srgbClr val="DCE6F8"/>
              </a:solidFill>
            </a:ln>
          </p:spPr>
        </p:sp>
        <p:sp>
          <p:nvSpPr>
            <p:cNvPr id="83" name="Line 83"/>
            <p:cNvSpPr/>
            <p:nvPr/>
          </p:nvSpPr>
          <p:spPr>
            <a:xfrm>
              <a:off x="9810750" y="4895850"/>
              <a:ext cx="9525" cy="1676400"/>
            </a:xfrm>
            <a:custGeom>
              <a:avLst/>
              <a:gdLst/>
              <a:ahLst/>
              <a:cxnLst/>
              <a:rect l="l" t="t" r="r" b="b"/>
              <a:pathLst>
                <a:path w="9525" h="1676400">
                  <a:moveTo>
                    <a:pt x="0" y="0"/>
                  </a:moveTo>
                  <a:lnTo>
                    <a:pt x="0" y="1676400"/>
                  </a:lnTo>
                </a:path>
              </a:pathLst>
            </a:custGeom>
            <a:noFill/>
            <a:ln w="9525">
              <a:solidFill>
                <a:srgbClr val="DCE6F8"/>
              </a:solidFill>
            </a:ln>
          </p:spPr>
        </p:sp>
        <p:sp>
          <p:nvSpPr>
            <p:cNvPr id="84" name="TextBox 84"/>
            <p:cNvSpPr txBox="1"/>
            <p:nvPr/>
          </p:nvSpPr>
          <p:spPr>
            <a:xfrm>
              <a:off x="749020" y="5001578"/>
              <a:ext cx="483160"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A区​​​</a:t>
              </a:r>
            </a:p>
          </p:txBody>
        </p:sp>
        <p:sp>
          <p:nvSpPr>
            <p:cNvPr id="85" name="TextBox 85"/>
            <p:cNvSpPr txBox="1"/>
            <p:nvPr/>
          </p:nvSpPr>
          <p:spPr>
            <a:xfrm>
              <a:off x="2934207" y="500967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86" name="TextBox 86"/>
            <p:cNvSpPr txBox="1"/>
            <p:nvPr/>
          </p:nvSpPr>
          <p:spPr>
            <a:xfrm>
              <a:off x="5601207" y="500967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87" name="TextBox 87"/>
            <p:cNvSpPr txBox="1"/>
            <p:nvPr/>
          </p:nvSpPr>
          <p:spPr>
            <a:xfrm>
              <a:off x="8315832" y="500967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88" name="TextBox 88"/>
            <p:cNvSpPr txBox="1"/>
            <p:nvPr/>
          </p:nvSpPr>
          <p:spPr>
            <a:xfrm>
              <a:off x="10754232" y="500967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89" name="TextBox 89"/>
            <p:cNvSpPr txBox="1"/>
            <p:nvPr/>
          </p:nvSpPr>
          <p:spPr>
            <a:xfrm>
              <a:off x="749020" y="5334952"/>
              <a:ext cx="483160"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B区​​​</a:t>
              </a:r>
            </a:p>
          </p:txBody>
        </p:sp>
        <p:sp>
          <p:nvSpPr>
            <p:cNvPr id="90" name="TextBox 90"/>
            <p:cNvSpPr txBox="1"/>
            <p:nvPr/>
          </p:nvSpPr>
          <p:spPr>
            <a:xfrm>
              <a:off x="2934207" y="5343049"/>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91" name="TextBox 91"/>
            <p:cNvSpPr txBox="1"/>
            <p:nvPr/>
          </p:nvSpPr>
          <p:spPr>
            <a:xfrm>
              <a:off x="5601207" y="5343049"/>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92" name="TextBox 92"/>
            <p:cNvSpPr txBox="1"/>
            <p:nvPr/>
          </p:nvSpPr>
          <p:spPr>
            <a:xfrm>
              <a:off x="8315832" y="5343049"/>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93" name="TextBox 93"/>
            <p:cNvSpPr txBox="1"/>
            <p:nvPr/>
          </p:nvSpPr>
          <p:spPr>
            <a:xfrm>
              <a:off x="10754232" y="5343049"/>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94" name="TextBox 94"/>
            <p:cNvSpPr txBox="1"/>
            <p:nvPr/>
          </p:nvSpPr>
          <p:spPr>
            <a:xfrm>
              <a:off x="749020" y="5668328"/>
              <a:ext cx="483160"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C区​​​</a:t>
              </a:r>
            </a:p>
          </p:txBody>
        </p:sp>
        <p:sp>
          <p:nvSpPr>
            <p:cNvPr id="95" name="TextBox 95"/>
            <p:cNvSpPr txBox="1"/>
            <p:nvPr/>
          </p:nvSpPr>
          <p:spPr>
            <a:xfrm>
              <a:off x="2934207" y="567642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96" name="TextBox 96"/>
            <p:cNvSpPr txBox="1"/>
            <p:nvPr/>
          </p:nvSpPr>
          <p:spPr>
            <a:xfrm>
              <a:off x="5601207" y="567642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97" name="TextBox 97"/>
            <p:cNvSpPr txBox="1"/>
            <p:nvPr/>
          </p:nvSpPr>
          <p:spPr>
            <a:xfrm>
              <a:off x="8315832" y="567642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98" name="TextBox 98"/>
            <p:cNvSpPr txBox="1"/>
            <p:nvPr/>
          </p:nvSpPr>
          <p:spPr>
            <a:xfrm>
              <a:off x="10754232" y="567642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99" name="TextBox 99"/>
            <p:cNvSpPr txBox="1"/>
            <p:nvPr/>
          </p:nvSpPr>
          <p:spPr>
            <a:xfrm>
              <a:off x="749020" y="6001702"/>
              <a:ext cx="483160"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D区​​​</a:t>
              </a:r>
            </a:p>
          </p:txBody>
        </p:sp>
        <p:sp>
          <p:nvSpPr>
            <p:cNvPr id="100" name="TextBox 100"/>
            <p:cNvSpPr txBox="1"/>
            <p:nvPr/>
          </p:nvSpPr>
          <p:spPr>
            <a:xfrm>
              <a:off x="2934207" y="6009799"/>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101" name="TextBox 101"/>
            <p:cNvSpPr txBox="1"/>
            <p:nvPr/>
          </p:nvSpPr>
          <p:spPr>
            <a:xfrm>
              <a:off x="5601207" y="6009799"/>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102" name="TextBox 102"/>
            <p:cNvSpPr txBox="1"/>
            <p:nvPr/>
          </p:nvSpPr>
          <p:spPr>
            <a:xfrm>
              <a:off x="8315832" y="6009799"/>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103" name="TextBox 103"/>
            <p:cNvSpPr txBox="1"/>
            <p:nvPr/>
          </p:nvSpPr>
          <p:spPr>
            <a:xfrm>
              <a:off x="10754232" y="6009799"/>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104" name="TextBox 104"/>
            <p:cNvSpPr txBox="1"/>
            <p:nvPr/>
          </p:nvSpPr>
          <p:spPr>
            <a:xfrm>
              <a:off x="749020" y="6335078"/>
              <a:ext cx="483160"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E区​​​</a:t>
              </a:r>
            </a:p>
          </p:txBody>
        </p:sp>
        <p:sp>
          <p:nvSpPr>
            <p:cNvPr id="105" name="TextBox 105"/>
            <p:cNvSpPr txBox="1"/>
            <p:nvPr/>
          </p:nvSpPr>
          <p:spPr>
            <a:xfrm>
              <a:off x="2934207" y="634317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106" name="TextBox 106"/>
            <p:cNvSpPr txBox="1"/>
            <p:nvPr/>
          </p:nvSpPr>
          <p:spPr>
            <a:xfrm>
              <a:off x="5601207" y="634317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107" name="TextBox 107"/>
            <p:cNvSpPr txBox="1"/>
            <p:nvPr/>
          </p:nvSpPr>
          <p:spPr>
            <a:xfrm>
              <a:off x="8315832" y="634317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sp>
          <p:nvSpPr>
            <p:cNvPr id="108" name="TextBox 108"/>
            <p:cNvSpPr txBox="1"/>
            <p:nvPr/>
          </p:nvSpPr>
          <p:spPr>
            <a:xfrm>
              <a:off x="10754232" y="6343174"/>
              <a:ext cx="227587" cy="190690"/>
            </a:xfrm>
            <a:prstGeom prst="rect">
              <a:avLst/>
            </a:prstGeom>
            <a:noFill/>
            <a:ln>
              <a:noFill/>
            </a:ln>
          </p:spPr>
          <p:txBody>
            <a:bodyPr wrap="none" lIns="0" tIns="0" rIns="0" bIns="0" anchor="t" anchorCtr="0">
              <a:spAutoFit/>
            </a:bodyPr>
            <a:lstStyle/>
            <a:p>
              <a:pPr algn="ctr"/>
              <a:r>
                <a:rPr lang="zh-CN" sz="980" dirty="0">
                  <a:solidFill>
                    <a:srgbClr val="6B7280"/>
                  </a:solidFill>
                  <a:latin typeface="+mn-lt"/>
                  <a:ea typeface="+mn-ea"/>
                  <a:cs typeface="+mn-cs"/>
                </a:rPr>
                <a:t>—​​</a:t>
              </a:r>
            </a:p>
          </p:txBody>
        </p:sp>
      </p:gr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06​</a:t>
              </a:r>
            </a:p>
          </p:txBody>
        </p:sp>
        <p:sp>
          <p:nvSpPr>
            <p:cNvPr id="4" name="TextBox 4"/>
            <p:cNvSpPr txBox="1"/>
            <p:nvPr/>
          </p:nvSpPr>
          <p:spPr>
            <a:xfrm>
              <a:off x="942594" y="151448"/>
              <a:ext cx="5727352"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客户结构复盘</a:t>
              </a:r>
              <a:r>
                <a:rPr lang="zh-CN" sz="1950" b="1" dirty="0">
                  <a:solidFill>
                    <a:srgbClr val="1A1A1A"/>
                  </a:solidFill>
                  <a:latin typeface="SimSun"/>
                  <a:ea typeface="SimSun"/>
                  <a:cs typeface="SimSun"/>
                </a:rPr>
                <a:t>｜从规模增长转向分层价值经营​</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38" name="pyramid-panel"/>
          <p:cNvGrpSpPr/>
          <p:nvPr/>
        </p:nvGrpSpPr>
        <p:grpSpPr>
          <a:xfrm>
            <a:off x="266700" y="819150"/>
            <a:ext cx="3143250" cy="3524250"/>
            <a:chOff x="266700" y="819150"/>
            <a:chExt cx="3143250" cy="3524250"/>
          </a:xfrm>
        </p:grpSpPr>
        <p:sp>
          <p:nvSpPr>
            <p:cNvPr id="7" name="Rectangle 7"/>
            <p:cNvSpPr/>
            <p:nvPr/>
          </p:nvSpPr>
          <p:spPr>
            <a:xfrm>
              <a:off x="266700" y="952500"/>
              <a:ext cx="3143250" cy="3390900"/>
            </a:xfrm>
            <a:prstGeom prst="roundRect">
              <a:avLst>
                <a:gd name="adj" fmla="val 2424"/>
              </a:avLst>
            </a:prstGeom>
            <a:solidFill>
              <a:srgbClr val="FFFFFF"/>
            </a:solidFill>
            <a:ln w="9525">
              <a:solidFill>
                <a:srgbClr val="F7D1C9"/>
              </a:solidFill>
            </a:ln>
          </p:spPr>
        </p:sp>
        <p:sp>
          <p:nvSpPr>
            <p:cNvPr id="8" name="Rectangle 8"/>
            <p:cNvSpPr/>
            <p:nvPr/>
          </p:nvSpPr>
          <p:spPr>
            <a:xfrm>
              <a:off x="685800" y="819150"/>
              <a:ext cx="2305050" cy="266700"/>
            </a:xfrm>
            <a:prstGeom prst="roundRect">
              <a:avLst>
                <a:gd name="adj" fmla="val 21429"/>
              </a:avLst>
            </a:prstGeom>
            <a:solidFill>
              <a:srgbClr val="6E1604"/>
            </a:solidFill>
            <a:ln>
              <a:noFill/>
            </a:ln>
          </p:spPr>
        </p:sp>
        <p:sp>
          <p:nvSpPr>
            <p:cNvPr id="9" name="TextBox 9"/>
            <p:cNvSpPr txBox="1"/>
            <p:nvPr/>
          </p:nvSpPr>
          <p:spPr>
            <a:xfrm>
              <a:off x="1014745" y="896302"/>
              <a:ext cx="16471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客户分层结构（金字塔）​</a:t>
              </a:r>
            </a:p>
          </p:txBody>
        </p:sp>
        <p:sp>
          <p:nvSpPr>
            <p:cNvPr id="10" name="Freeform 10"/>
            <p:cNvSpPr/>
            <p:nvPr/>
          </p:nvSpPr>
          <p:spPr>
            <a:xfrm>
              <a:off x="1009650" y="1333500"/>
              <a:ext cx="457200" cy="666750"/>
            </a:xfrm>
            <a:prstGeom prst="triangle">
              <a:avLst/>
            </a:prstGeom>
            <a:solidFill>
              <a:srgbClr val="B92102"/>
            </a:solidFill>
            <a:ln>
              <a:noFill/>
            </a:ln>
          </p:spPr>
        </p:sp>
        <p:sp>
          <p:nvSpPr>
            <p:cNvPr id="11" name="Freeform 11"/>
            <p:cNvSpPr/>
            <p:nvPr/>
          </p:nvSpPr>
          <p:spPr>
            <a:xfrm>
              <a:off x="762000" y="2000250"/>
              <a:ext cx="952500" cy="714375"/>
            </a:xfrm>
            <a:prstGeom prst="trapezoid">
              <a:avLst>
                <a:gd name="adj" fmla="val 34667"/>
              </a:avLst>
            </a:prstGeom>
            <a:solidFill>
              <a:srgbClr val="D44B2F"/>
            </a:solidFill>
            <a:ln>
              <a:noFill/>
            </a:ln>
          </p:spPr>
        </p:sp>
        <p:sp>
          <p:nvSpPr>
            <p:cNvPr id="12" name="Freeform 12"/>
            <p:cNvSpPr/>
            <p:nvPr/>
          </p:nvSpPr>
          <p:spPr>
            <a:xfrm>
              <a:off x="533400" y="2714625"/>
              <a:ext cx="1409700" cy="666750"/>
            </a:xfrm>
            <a:prstGeom prst="trapezoid">
              <a:avLst>
                <a:gd name="adj" fmla="val 34286"/>
              </a:avLst>
            </a:prstGeom>
            <a:solidFill>
              <a:srgbClr val="D9705B"/>
            </a:solidFill>
            <a:ln>
              <a:noFill/>
            </a:ln>
          </p:spPr>
        </p:sp>
        <p:sp>
          <p:nvSpPr>
            <p:cNvPr id="13" name="Freeform 13"/>
            <p:cNvSpPr/>
            <p:nvPr/>
          </p:nvSpPr>
          <p:spPr>
            <a:xfrm>
              <a:off x="285750" y="3381375"/>
              <a:ext cx="1905000" cy="714375"/>
            </a:xfrm>
            <a:prstGeom prst="trapezoid">
              <a:avLst>
                <a:gd name="adj" fmla="val 34667"/>
              </a:avLst>
            </a:prstGeom>
            <a:solidFill>
              <a:srgbClr val="F3AC9D"/>
            </a:solidFill>
            <a:ln>
              <a:noFill/>
            </a:ln>
          </p:spPr>
        </p:sp>
        <p:sp>
          <p:nvSpPr>
            <p:cNvPr id="14" name="Line 14"/>
            <p:cNvSpPr/>
            <p:nvPr/>
          </p:nvSpPr>
          <p:spPr>
            <a:xfrm>
              <a:off x="1238250" y="2000250"/>
              <a:ext cx="952500" cy="9525"/>
            </a:xfrm>
            <a:custGeom>
              <a:avLst/>
              <a:gdLst/>
              <a:ahLst/>
              <a:cxnLst/>
              <a:rect l="l" t="t" r="r" b="b"/>
              <a:pathLst>
                <a:path w="952500" h="9525">
                  <a:moveTo>
                    <a:pt x="0" y="0"/>
                  </a:moveTo>
                  <a:lnTo>
                    <a:pt x="952500" y="0"/>
                  </a:lnTo>
                </a:path>
              </a:pathLst>
            </a:custGeom>
            <a:noFill/>
            <a:ln w="14288">
              <a:solidFill>
                <a:srgbClr val="FFFFFF"/>
              </a:solidFill>
            </a:ln>
          </p:spPr>
        </p:sp>
        <p:sp>
          <p:nvSpPr>
            <p:cNvPr id="15" name="Line 15"/>
            <p:cNvSpPr/>
            <p:nvPr/>
          </p:nvSpPr>
          <p:spPr>
            <a:xfrm>
              <a:off x="1238250" y="2714625"/>
              <a:ext cx="952500" cy="9525"/>
            </a:xfrm>
            <a:custGeom>
              <a:avLst/>
              <a:gdLst/>
              <a:ahLst/>
              <a:cxnLst/>
              <a:rect l="l" t="t" r="r" b="b"/>
              <a:pathLst>
                <a:path w="952500" h="9525">
                  <a:moveTo>
                    <a:pt x="0" y="0"/>
                  </a:moveTo>
                  <a:lnTo>
                    <a:pt x="952500" y="0"/>
                  </a:lnTo>
                </a:path>
              </a:pathLst>
            </a:custGeom>
            <a:noFill/>
            <a:ln w="14288">
              <a:solidFill>
                <a:srgbClr val="FFFFFF"/>
              </a:solidFill>
            </a:ln>
          </p:spPr>
        </p:sp>
        <p:sp>
          <p:nvSpPr>
            <p:cNvPr id="16" name="Line 16"/>
            <p:cNvSpPr/>
            <p:nvPr/>
          </p:nvSpPr>
          <p:spPr>
            <a:xfrm>
              <a:off x="1238250" y="3381375"/>
              <a:ext cx="952500" cy="9525"/>
            </a:xfrm>
            <a:custGeom>
              <a:avLst/>
              <a:gdLst/>
              <a:ahLst/>
              <a:cxnLst/>
              <a:rect l="l" t="t" r="r" b="b"/>
              <a:pathLst>
                <a:path w="952500" h="9525">
                  <a:moveTo>
                    <a:pt x="0" y="0"/>
                  </a:moveTo>
                  <a:lnTo>
                    <a:pt x="952500" y="0"/>
                  </a:lnTo>
                </a:path>
              </a:pathLst>
            </a:custGeom>
            <a:noFill/>
            <a:ln w="14288">
              <a:solidFill>
                <a:srgbClr val="FFFFFF"/>
              </a:solidFill>
            </a:ln>
          </p:spPr>
        </p:sp>
        <p:sp>
          <p:nvSpPr>
            <p:cNvPr id="17" name="Freeform 17"/>
            <p:cNvSpPr/>
            <p:nvPr/>
          </p:nvSpPr>
          <p:spPr>
            <a:xfrm>
              <a:off x="1181100" y="1638300"/>
              <a:ext cx="114300" cy="76200"/>
            </a:xfrm>
            <a:custGeom>
              <a:avLst/>
              <a:gdLst/>
              <a:ahLst/>
              <a:cxnLst/>
              <a:rect l="l" t="t" r="r" b="b"/>
              <a:pathLst>
                <a:path w="114300" h="76200">
                  <a:moveTo>
                    <a:pt x="57150" y="0"/>
                  </a:moveTo>
                  <a:lnTo>
                    <a:pt x="82550" y="38100"/>
                  </a:lnTo>
                  <a:lnTo>
                    <a:pt x="114300" y="12700"/>
                  </a:lnTo>
                  <a:lnTo>
                    <a:pt x="101600" y="76200"/>
                  </a:lnTo>
                  <a:lnTo>
                    <a:pt x="12700" y="76200"/>
                  </a:lnTo>
                  <a:lnTo>
                    <a:pt x="0" y="12700"/>
                  </a:lnTo>
                  <a:lnTo>
                    <a:pt x="31750" y="38100"/>
                  </a:lnTo>
                  <a:lnTo>
                    <a:pt x="57150" y="0"/>
                  </a:lnTo>
                </a:path>
              </a:pathLst>
            </a:custGeom>
            <a:noFill/>
            <a:ln w="12700">
              <a:solidFill>
                <a:srgbClr val="FFFFFF"/>
              </a:solidFill>
            </a:ln>
          </p:spPr>
        </p:sp>
        <p:sp>
          <p:nvSpPr>
            <p:cNvPr id="18" name="TextBox 18"/>
            <p:cNvSpPr txBox="1"/>
            <p:nvPr/>
          </p:nvSpPr>
          <p:spPr>
            <a:xfrm>
              <a:off x="1001941" y="18309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战略客户</a:t>
              </a:r>
            </a:p>
          </p:txBody>
        </p:sp>
        <p:grpSp>
          <p:nvGrpSpPr>
            <p:cNvPr id="22" name="Group 22"/>
            <p:cNvGrpSpPr/>
            <p:nvPr/>
          </p:nvGrpSpPr>
          <p:grpSpPr>
            <a:xfrm>
              <a:off x="1176828" y="2135981"/>
              <a:ext cx="122830" cy="127802"/>
              <a:chOff x="1176828" y="2135981"/>
              <a:chExt cx="122830" cy="127802"/>
            </a:xfrm>
          </p:grpSpPr>
          <p:sp>
            <p:nvSpPr>
              <p:cNvPr id="19" name="Freeform 19"/>
              <p:cNvSpPr/>
              <p:nvPr/>
            </p:nvSpPr>
            <p:spPr>
              <a:xfrm>
                <a:off x="1195388" y="2135981"/>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FFFFFF"/>
                </a:solidFill>
              </a:ln>
            </p:spPr>
          </p:sp>
          <p:sp>
            <p:nvSpPr>
              <p:cNvPr id="20" name="Freeform 20"/>
              <p:cNvSpPr/>
              <p:nvPr/>
            </p:nvSpPr>
            <p:spPr>
              <a:xfrm>
                <a:off x="1238250" y="2200275"/>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FFFFFF"/>
                </a:solidFill>
              </a:ln>
            </p:spPr>
          </p:sp>
          <p:sp>
            <p:nvSpPr>
              <p:cNvPr id="21" name="Freeform 21"/>
              <p:cNvSpPr/>
              <p:nvPr/>
            </p:nvSpPr>
            <p:spPr>
              <a:xfrm>
                <a:off x="1176828" y="2200275"/>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FFFFFF"/>
                </a:solidFill>
              </a:ln>
            </p:spPr>
          </p:sp>
        </p:grpSp>
        <p:sp>
          <p:nvSpPr>
            <p:cNvPr id="23" name="TextBox 23"/>
            <p:cNvSpPr txBox="1"/>
            <p:nvPr/>
          </p:nvSpPr>
          <p:spPr>
            <a:xfrm>
              <a:off x="991172" y="24364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重点客户</a:t>
              </a:r>
            </a:p>
          </p:txBody>
        </p:sp>
        <p:grpSp>
          <p:nvGrpSpPr>
            <p:cNvPr id="26" name="Group 26"/>
            <p:cNvGrpSpPr/>
            <p:nvPr/>
          </p:nvGrpSpPr>
          <p:grpSpPr>
            <a:xfrm>
              <a:off x="1173956" y="2869406"/>
              <a:ext cx="128588" cy="71438"/>
              <a:chOff x="1173956" y="2869406"/>
              <a:chExt cx="128588" cy="71438"/>
            </a:xfrm>
          </p:grpSpPr>
          <p:sp>
            <p:nvSpPr>
              <p:cNvPr id="24" name="Freeform 24"/>
              <p:cNvSpPr/>
              <p:nvPr/>
            </p:nvSpPr>
            <p:spPr>
              <a:xfrm>
                <a:off x="1173956" y="286940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FFFFFF"/>
                </a:solidFill>
              </a:ln>
            </p:spPr>
          </p:sp>
          <p:sp>
            <p:nvSpPr>
              <p:cNvPr id="25" name="Freeform 25"/>
              <p:cNvSpPr/>
              <p:nvPr/>
            </p:nvSpPr>
            <p:spPr>
              <a:xfrm>
                <a:off x="1252538" y="2869406"/>
                <a:ext cx="50006" cy="50006"/>
              </a:xfrm>
              <a:custGeom>
                <a:avLst/>
                <a:gdLst/>
                <a:ahLst/>
                <a:cxnLst/>
                <a:rect l="l" t="t" r="r" b="b"/>
                <a:pathLst>
                  <a:path w="50006" h="50006">
                    <a:moveTo>
                      <a:pt x="0" y="0"/>
                    </a:moveTo>
                    <a:lnTo>
                      <a:pt x="50006" y="0"/>
                    </a:lnTo>
                    <a:lnTo>
                      <a:pt x="50006" y="50006"/>
                    </a:lnTo>
                  </a:path>
                </a:pathLst>
              </a:custGeom>
              <a:noFill/>
              <a:ln w="14288">
                <a:solidFill>
                  <a:srgbClr val="FFFFFF"/>
                </a:solidFill>
              </a:ln>
            </p:spPr>
          </p:sp>
        </p:grpSp>
        <p:sp>
          <p:nvSpPr>
            <p:cNvPr id="27" name="TextBox 27"/>
            <p:cNvSpPr txBox="1"/>
            <p:nvPr/>
          </p:nvSpPr>
          <p:spPr>
            <a:xfrm>
              <a:off x="991172" y="31222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成长客户</a:t>
              </a:r>
            </a:p>
          </p:txBody>
        </p:sp>
        <p:grpSp>
          <p:nvGrpSpPr>
            <p:cNvPr id="32" name="Group 32"/>
            <p:cNvGrpSpPr/>
            <p:nvPr/>
          </p:nvGrpSpPr>
          <p:grpSpPr>
            <a:xfrm>
              <a:off x="1173956" y="3507581"/>
              <a:ext cx="128588" cy="128588"/>
              <a:chOff x="1173956" y="3507581"/>
              <a:chExt cx="128588" cy="128588"/>
            </a:xfrm>
          </p:grpSpPr>
          <p:sp>
            <p:nvSpPr>
              <p:cNvPr id="28" name="Freeform 28"/>
              <p:cNvSpPr/>
              <p:nvPr/>
            </p:nvSpPr>
            <p:spPr>
              <a:xfrm>
                <a:off x="1188244" y="35075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29" name="Freeform 29"/>
              <p:cNvSpPr/>
              <p:nvPr/>
            </p:nvSpPr>
            <p:spPr>
              <a:xfrm>
                <a:off x="1173956" y="35933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30" name="Freeform 30"/>
              <p:cNvSpPr/>
              <p:nvPr/>
            </p:nvSpPr>
            <p:spPr>
              <a:xfrm>
                <a:off x="1266825" y="35085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31" name="Freeform 31"/>
              <p:cNvSpPr/>
              <p:nvPr/>
            </p:nvSpPr>
            <p:spPr>
              <a:xfrm>
                <a:off x="1281113" y="359437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33" name="TextBox 33"/>
            <p:cNvSpPr txBox="1"/>
            <p:nvPr/>
          </p:nvSpPr>
          <p:spPr>
            <a:xfrm>
              <a:off x="991172" y="38080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基础客户</a:t>
              </a:r>
            </a:p>
          </p:txBody>
        </p:sp>
        <p:sp>
          <p:nvSpPr>
            <p:cNvPr id="34" name="TextBox 34"/>
            <p:cNvSpPr txBox="1"/>
            <p:nvPr/>
          </p:nvSpPr>
          <p:spPr>
            <a:xfrm>
              <a:off x="2319338" y="1530191"/>
              <a:ext cx="842645" cy="485775"/>
            </a:xfrm>
            <a:prstGeom prst="rect">
              <a:avLst/>
            </a:prstGeom>
            <a:noFill/>
            <a:ln>
              <a:noFill/>
            </a:ln>
          </p:spPr>
          <p:txBody>
            <a:bodyPr wrap="none" lIns="0" tIns="0" rIns="0" bIns="0" anchor="t" anchorCtr="0">
              <a:spAutoFit/>
            </a:bodyPr>
            <a:lstStyle/>
            <a:p>
              <a:pPr algn="l" marL="88519" indent="-88519">
                <a:lnSpc>
                  <a:spcPts val="1275"/>
                </a:lnSpc>
                <a:buClr>
                  <a:srgbClr val="473633"/>
                </a:buClr>
                <a:buSzTx/>
                <a:buFontTx/>
                <a:buChar char="•"/>
              </a:pPr>
              <a:r>
                <a:rPr lang="zh-CN" sz="820" dirty="0">
                  <a:solidFill>
                    <a:srgbClr val="473633"/>
                  </a:solidFill>
                  <a:latin typeface="+mn-lt"/>
                  <a:ea typeface="+mn-ea"/>
                  <a:cs typeface="+mn-cs"/>
                </a:rPr>
                <a:t>客户数 XX​​​​​</a:t>
              </a:r>
            </a:p>
            <a:p>
              <a:pPr algn="l" marL="88519" indent="-88519">
                <a:lnSpc>
                  <a:spcPts val="1275"/>
                </a:lnSpc>
                <a:buClr>
                  <a:srgbClr val="473633"/>
                </a:buClr>
                <a:buSzTx/>
                <a:buFontTx/>
                <a:buChar char="•"/>
              </a:pPr>
              <a:r>
                <a:rPr lang="zh-CN" sz="820" dirty="0">
                  <a:solidFill>
                    <a:srgbClr val="473633"/>
                  </a:solidFill>
                  <a:latin typeface="+mn-lt"/>
                  <a:ea typeface="+mn-ea"/>
                  <a:cs typeface="+mn-cs"/>
                </a:rPr>
                <a:t>贡献 XX​​​​​</a:t>
              </a:r>
            </a:p>
            <a:p>
              <a:pPr algn="l" marL="88519" indent="-88519">
                <a:lnSpc>
                  <a:spcPts val="1275"/>
                </a:lnSpc>
                <a:buClr>
                  <a:srgbClr val="473633"/>
                </a:buClr>
                <a:buSzTx/>
                <a:buFontTx/>
                <a:buChar char="•"/>
              </a:pPr>
              <a:r>
                <a:rPr lang="zh-CN" sz="820" dirty="0">
                  <a:solidFill>
                    <a:srgbClr val="473633"/>
                  </a:solidFill>
                  <a:latin typeface="+mn-lt"/>
                  <a:ea typeface="+mn-ea"/>
                  <a:cs typeface="+mn-cs"/>
                </a:rPr>
                <a:t>活跃 XX​​​​​</a:t>
              </a:r>
            </a:p>
          </p:txBody>
        </p:sp>
        <p:sp>
          <p:nvSpPr>
            <p:cNvPr id="35" name="TextBox 35"/>
            <p:cNvSpPr txBox="1"/>
            <p:nvPr/>
          </p:nvSpPr>
          <p:spPr>
            <a:xfrm>
              <a:off x="2319338" y="2235041"/>
              <a:ext cx="842645" cy="485775"/>
            </a:xfrm>
            <a:prstGeom prst="rect">
              <a:avLst/>
            </a:prstGeom>
            <a:noFill/>
            <a:ln>
              <a:noFill/>
            </a:ln>
          </p:spPr>
          <p:txBody>
            <a:bodyPr wrap="none" lIns="0" tIns="0" rIns="0" bIns="0" anchor="t" anchorCtr="0">
              <a:spAutoFit/>
            </a:bodyPr>
            <a:lstStyle/>
            <a:p>
              <a:pPr algn="l" marL="88519" indent="-88519">
                <a:lnSpc>
                  <a:spcPts val="1275"/>
                </a:lnSpc>
                <a:buClr>
                  <a:srgbClr val="473633"/>
                </a:buClr>
                <a:buSzTx/>
                <a:buFontTx/>
                <a:buChar char="•"/>
              </a:pPr>
              <a:r>
                <a:rPr lang="zh-CN" sz="820" dirty="0">
                  <a:solidFill>
                    <a:srgbClr val="473633"/>
                  </a:solidFill>
                  <a:latin typeface="+mn-lt"/>
                  <a:ea typeface="+mn-ea"/>
                  <a:cs typeface="+mn-cs"/>
                </a:rPr>
                <a:t>客户数 XX​​​​​</a:t>
              </a:r>
            </a:p>
            <a:p>
              <a:pPr algn="l" marL="88519" indent="-88519">
                <a:lnSpc>
                  <a:spcPts val="1275"/>
                </a:lnSpc>
                <a:buClr>
                  <a:srgbClr val="473633"/>
                </a:buClr>
                <a:buSzTx/>
                <a:buFontTx/>
                <a:buChar char="•"/>
              </a:pPr>
              <a:r>
                <a:rPr lang="zh-CN" sz="820" dirty="0">
                  <a:solidFill>
                    <a:srgbClr val="473633"/>
                  </a:solidFill>
                  <a:latin typeface="+mn-lt"/>
                  <a:ea typeface="+mn-ea"/>
                  <a:cs typeface="+mn-cs"/>
                </a:rPr>
                <a:t>贡献 XX​​​​​</a:t>
              </a:r>
            </a:p>
            <a:p>
              <a:pPr algn="l" marL="88519" indent="-88519">
                <a:lnSpc>
                  <a:spcPts val="1275"/>
                </a:lnSpc>
                <a:buClr>
                  <a:srgbClr val="473633"/>
                </a:buClr>
                <a:buSzTx/>
                <a:buFontTx/>
                <a:buChar char="•"/>
              </a:pPr>
              <a:r>
                <a:rPr lang="zh-CN" sz="820" dirty="0">
                  <a:solidFill>
                    <a:srgbClr val="473633"/>
                  </a:solidFill>
                  <a:latin typeface="+mn-lt"/>
                  <a:ea typeface="+mn-ea"/>
                  <a:cs typeface="+mn-cs"/>
                </a:rPr>
                <a:t>活跃 XX​​​​​</a:t>
              </a:r>
            </a:p>
          </p:txBody>
        </p:sp>
        <p:sp>
          <p:nvSpPr>
            <p:cNvPr id="36" name="TextBox 36"/>
            <p:cNvSpPr txBox="1"/>
            <p:nvPr/>
          </p:nvSpPr>
          <p:spPr>
            <a:xfrm>
              <a:off x="2319338" y="2920841"/>
              <a:ext cx="842645" cy="485775"/>
            </a:xfrm>
            <a:prstGeom prst="rect">
              <a:avLst/>
            </a:prstGeom>
            <a:noFill/>
            <a:ln>
              <a:noFill/>
            </a:ln>
          </p:spPr>
          <p:txBody>
            <a:bodyPr wrap="none" lIns="0" tIns="0" rIns="0" bIns="0" anchor="t" anchorCtr="0">
              <a:spAutoFit/>
            </a:bodyPr>
            <a:lstStyle/>
            <a:p>
              <a:pPr algn="l" marL="88519" indent="-88519">
                <a:lnSpc>
                  <a:spcPts val="1275"/>
                </a:lnSpc>
                <a:buClr>
                  <a:srgbClr val="473633"/>
                </a:buClr>
                <a:buSzTx/>
                <a:buFontTx/>
                <a:buChar char="•"/>
              </a:pPr>
              <a:r>
                <a:rPr lang="zh-CN" sz="820" dirty="0">
                  <a:solidFill>
                    <a:srgbClr val="473633"/>
                  </a:solidFill>
                  <a:latin typeface="+mn-lt"/>
                  <a:ea typeface="+mn-ea"/>
                  <a:cs typeface="+mn-cs"/>
                </a:rPr>
                <a:t>客户数 XX​​​​​</a:t>
              </a:r>
            </a:p>
            <a:p>
              <a:pPr algn="l" marL="88519" indent="-88519">
                <a:lnSpc>
                  <a:spcPts val="1275"/>
                </a:lnSpc>
                <a:buClr>
                  <a:srgbClr val="473633"/>
                </a:buClr>
                <a:buSzTx/>
                <a:buFontTx/>
                <a:buChar char="•"/>
              </a:pPr>
              <a:r>
                <a:rPr lang="zh-CN" sz="820" dirty="0">
                  <a:solidFill>
                    <a:srgbClr val="473633"/>
                  </a:solidFill>
                  <a:latin typeface="+mn-lt"/>
                  <a:ea typeface="+mn-ea"/>
                  <a:cs typeface="+mn-cs"/>
                </a:rPr>
                <a:t>贡献 XX​​​​​</a:t>
              </a:r>
            </a:p>
            <a:p>
              <a:pPr algn="l" marL="88519" indent="-88519">
                <a:lnSpc>
                  <a:spcPts val="1275"/>
                </a:lnSpc>
                <a:buClr>
                  <a:srgbClr val="473633"/>
                </a:buClr>
                <a:buSzTx/>
                <a:buFontTx/>
                <a:buChar char="•"/>
              </a:pPr>
              <a:r>
                <a:rPr lang="zh-CN" sz="820" dirty="0">
                  <a:solidFill>
                    <a:srgbClr val="473633"/>
                  </a:solidFill>
                  <a:latin typeface="+mn-lt"/>
                  <a:ea typeface="+mn-ea"/>
                  <a:cs typeface="+mn-cs"/>
                </a:rPr>
                <a:t>活跃 XX​​​​​</a:t>
              </a:r>
            </a:p>
          </p:txBody>
        </p:sp>
        <p:sp>
          <p:nvSpPr>
            <p:cNvPr id="37" name="TextBox 37"/>
            <p:cNvSpPr txBox="1"/>
            <p:nvPr/>
          </p:nvSpPr>
          <p:spPr>
            <a:xfrm>
              <a:off x="2319338" y="3606641"/>
              <a:ext cx="842645" cy="485775"/>
            </a:xfrm>
            <a:prstGeom prst="rect">
              <a:avLst/>
            </a:prstGeom>
            <a:noFill/>
            <a:ln>
              <a:noFill/>
            </a:ln>
          </p:spPr>
          <p:txBody>
            <a:bodyPr wrap="none" lIns="0" tIns="0" rIns="0" bIns="0" anchor="t" anchorCtr="0">
              <a:spAutoFit/>
            </a:bodyPr>
            <a:lstStyle/>
            <a:p>
              <a:pPr algn="l" marL="88519" indent="-88519">
                <a:lnSpc>
                  <a:spcPts val="1275"/>
                </a:lnSpc>
                <a:buClr>
                  <a:srgbClr val="473633"/>
                </a:buClr>
                <a:buSzTx/>
                <a:buFontTx/>
                <a:buChar char="•"/>
              </a:pPr>
              <a:r>
                <a:rPr lang="zh-CN" sz="820" dirty="0">
                  <a:solidFill>
                    <a:srgbClr val="473633"/>
                  </a:solidFill>
                  <a:latin typeface="+mn-lt"/>
                  <a:ea typeface="+mn-ea"/>
                  <a:cs typeface="+mn-cs"/>
                </a:rPr>
                <a:t>客户数 XX​​​​​</a:t>
              </a:r>
            </a:p>
            <a:p>
              <a:pPr algn="l" marL="88519" indent="-88519">
                <a:lnSpc>
                  <a:spcPts val="1275"/>
                </a:lnSpc>
                <a:buClr>
                  <a:srgbClr val="473633"/>
                </a:buClr>
                <a:buSzTx/>
                <a:buFontTx/>
                <a:buChar char="•"/>
              </a:pPr>
              <a:r>
                <a:rPr lang="zh-CN" sz="820" dirty="0">
                  <a:solidFill>
                    <a:srgbClr val="473633"/>
                  </a:solidFill>
                  <a:latin typeface="+mn-lt"/>
                  <a:ea typeface="+mn-ea"/>
                  <a:cs typeface="+mn-cs"/>
                </a:rPr>
                <a:t>贡献 XX​​​​​</a:t>
              </a:r>
            </a:p>
            <a:p>
              <a:pPr algn="l" marL="88519" indent="-88519">
                <a:lnSpc>
                  <a:spcPts val="1275"/>
                </a:lnSpc>
                <a:buClr>
                  <a:srgbClr val="473633"/>
                </a:buClr>
                <a:buSzTx/>
                <a:buFontTx/>
                <a:buChar char="•"/>
              </a:pPr>
              <a:r>
                <a:rPr lang="zh-CN" sz="820" dirty="0">
                  <a:solidFill>
                    <a:srgbClr val="473633"/>
                  </a:solidFill>
                  <a:latin typeface="+mn-lt"/>
                  <a:ea typeface="+mn-ea"/>
                  <a:cs typeface="+mn-cs"/>
                </a:rPr>
                <a:t>活跃 XX​​​​​</a:t>
              </a:r>
            </a:p>
          </p:txBody>
        </p:sp>
      </p:grpSp>
      <p:grpSp>
        <p:nvGrpSpPr>
          <p:cNvPr id="99" name="lifecycle-panel"/>
          <p:cNvGrpSpPr/>
          <p:nvPr/>
        </p:nvGrpSpPr>
        <p:grpSpPr>
          <a:xfrm>
            <a:off x="3543300" y="819150"/>
            <a:ext cx="4476750" cy="3524250"/>
            <a:chOff x="3543300" y="819150"/>
            <a:chExt cx="4476750" cy="3524250"/>
          </a:xfrm>
        </p:grpSpPr>
        <p:sp>
          <p:nvSpPr>
            <p:cNvPr id="39" name="Rectangle 39"/>
            <p:cNvSpPr/>
            <p:nvPr/>
          </p:nvSpPr>
          <p:spPr>
            <a:xfrm>
              <a:off x="3543300" y="952500"/>
              <a:ext cx="4476750" cy="3390900"/>
            </a:xfrm>
            <a:prstGeom prst="roundRect">
              <a:avLst>
                <a:gd name="adj" fmla="val 2247"/>
              </a:avLst>
            </a:prstGeom>
            <a:solidFill>
              <a:srgbClr val="FFFFFF"/>
            </a:solidFill>
            <a:ln w="9525">
              <a:solidFill>
                <a:srgbClr val="F7D1C9"/>
              </a:solidFill>
            </a:ln>
          </p:spPr>
        </p:sp>
        <p:sp>
          <p:nvSpPr>
            <p:cNvPr id="40" name="Rectangle 40"/>
            <p:cNvSpPr/>
            <p:nvPr/>
          </p:nvSpPr>
          <p:spPr>
            <a:xfrm>
              <a:off x="4724400" y="819150"/>
              <a:ext cx="2114550" cy="266700"/>
            </a:xfrm>
            <a:prstGeom prst="roundRect">
              <a:avLst>
                <a:gd name="adj" fmla="val 21429"/>
              </a:avLst>
            </a:prstGeom>
            <a:solidFill>
              <a:srgbClr val="6E1604"/>
            </a:solidFill>
            <a:ln>
              <a:noFill/>
            </a:ln>
          </p:spPr>
        </p:sp>
        <p:sp>
          <p:nvSpPr>
            <p:cNvPr id="41" name="TextBox 41"/>
            <p:cNvSpPr txBox="1"/>
            <p:nvPr/>
          </p:nvSpPr>
          <p:spPr>
            <a:xfrm>
              <a:off x="5028771" y="896302"/>
              <a:ext cx="150580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客户生命周期经营路径​</a:t>
              </a:r>
            </a:p>
          </p:txBody>
        </p:sp>
        <p:sp>
          <p:nvSpPr>
            <p:cNvPr id="42" name="Ellipse 42"/>
            <p:cNvSpPr/>
            <p:nvPr/>
          </p:nvSpPr>
          <p:spPr>
            <a:xfrm>
              <a:off x="3762375" y="1476375"/>
              <a:ext cx="476250" cy="476250"/>
            </a:xfrm>
            <a:prstGeom prst="ellipse">
              <a:avLst/>
            </a:prstGeom>
            <a:solidFill>
              <a:srgbClr val="B92102"/>
            </a:solidFill>
            <a:ln>
              <a:noFill/>
            </a:ln>
          </p:spPr>
        </p:sp>
        <p:grpSp>
          <p:nvGrpSpPr>
            <p:cNvPr id="46" name="Group 46"/>
            <p:cNvGrpSpPr/>
            <p:nvPr/>
          </p:nvGrpSpPr>
          <p:grpSpPr>
            <a:xfrm>
              <a:off x="3933825" y="1614488"/>
              <a:ext cx="166688" cy="200025"/>
              <a:chOff x="3933825" y="1614488"/>
              <a:chExt cx="166688" cy="200025"/>
            </a:xfrm>
          </p:grpSpPr>
          <p:sp>
            <p:nvSpPr>
              <p:cNvPr id="43" name="Freeform 43"/>
              <p:cNvSpPr/>
              <p:nvPr/>
            </p:nvSpPr>
            <p:spPr>
              <a:xfrm>
                <a:off x="3956050" y="16144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44" name="Freeform 44"/>
              <p:cNvSpPr/>
              <p:nvPr/>
            </p:nvSpPr>
            <p:spPr>
              <a:xfrm>
                <a:off x="3933825" y="174783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FFFFFF"/>
                </a:solidFill>
              </a:ln>
            </p:spPr>
          </p:sp>
          <p:sp>
            <p:nvSpPr>
              <p:cNvPr id="45" name="Freeform 45"/>
              <p:cNvSpPr/>
              <p:nvPr/>
            </p:nvSpPr>
            <p:spPr>
              <a:xfrm>
                <a:off x="4033838" y="1770063"/>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47" name="Line 47"/>
            <p:cNvSpPr/>
            <p:nvPr/>
          </p:nvSpPr>
          <p:spPr>
            <a:xfrm>
              <a:off x="4276725" y="1714500"/>
              <a:ext cx="333375" cy="1"/>
            </a:xfrm>
            <a:prstGeom prst="line">
              <a:avLst/>
            </a:prstGeom>
            <a:noFill/>
            <a:ln w="14288">
              <a:solidFill>
                <a:srgbClr val="6E1604"/>
              </a:solidFill>
              <a:tailEnd type="triangle" w="lg" len="lg"/>
            </a:ln>
          </p:spPr>
        </p:sp>
        <p:sp>
          <p:nvSpPr>
            <p:cNvPr id="48" name="Ellipse 48"/>
            <p:cNvSpPr/>
            <p:nvPr/>
          </p:nvSpPr>
          <p:spPr>
            <a:xfrm>
              <a:off x="4657725" y="1476375"/>
              <a:ext cx="476250" cy="476250"/>
            </a:xfrm>
            <a:prstGeom prst="ellipse">
              <a:avLst/>
            </a:prstGeom>
            <a:solidFill>
              <a:srgbClr val="B92102"/>
            </a:solidFill>
            <a:ln>
              <a:noFill/>
            </a:ln>
          </p:spPr>
        </p:sp>
        <p:grpSp>
          <p:nvGrpSpPr>
            <p:cNvPr id="52" name="Group 52"/>
            <p:cNvGrpSpPr/>
            <p:nvPr/>
          </p:nvGrpSpPr>
          <p:grpSpPr>
            <a:xfrm>
              <a:off x="4806949" y="1620171"/>
              <a:ext cx="183215" cy="188636"/>
              <a:chOff x="4806949" y="1620171"/>
              <a:chExt cx="183215" cy="188636"/>
            </a:xfrm>
          </p:grpSpPr>
          <p:sp>
            <p:nvSpPr>
              <p:cNvPr id="49" name="Freeform 49"/>
              <p:cNvSpPr/>
              <p:nvPr/>
            </p:nvSpPr>
            <p:spPr>
              <a:xfrm>
                <a:off x="4862513" y="1681163"/>
                <a:ext cx="66675" cy="66675"/>
              </a:xfrm>
              <a:custGeom>
                <a:avLst/>
                <a:gdLst/>
                <a:ahLst/>
                <a:cxnLst/>
                <a:rect l="l" t="t" r="r" b="b"/>
                <a:pathLst>
                  <a:path w="66675" h="66675">
                    <a:moveTo>
                      <a:pt x="0" y="66675"/>
                    </a:moveTo>
                    <a:lnTo>
                      <a:pt x="66675" y="0"/>
                    </a:lnTo>
                  </a:path>
                </a:pathLst>
              </a:custGeom>
              <a:noFill/>
              <a:ln w="22225">
                <a:solidFill>
                  <a:srgbClr val="FFFFFF"/>
                </a:solidFill>
              </a:ln>
            </p:spPr>
          </p:sp>
          <p:sp>
            <p:nvSpPr>
              <p:cNvPr id="50" name="Freeform 50"/>
              <p:cNvSpPr/>
              <p:nvPr/>
            </p:nvSpPr>
            <p:spPr>
              <a:xfrm>
                <a:off x="4884738" y="1620171"/>
                <a:ext cx="105426" cy="105442"/>
              </a:xfrm>
              <a:custGeom>
                <a:avLst/>
                <a:gdLst/>
                <a:ahLst/>
                <a:cxnLst/>
                <a:rect l="l" t="t" r="r" b="b"/>
                <a:pathLst>
                  <a:path w="105426" h="105442">
                    <a:moveTo>
                      <a:pt x="0" y="27655"/>
                    </a:moveTo>
                    <a:lnTo>
                      <a:pt x="5145" y="21698"/>
                    </a:lnTo>
                    <a:cubicBezTo>
                      <a:pt x="26847" y="0"/>
                      <a:pt x="62029" y="2"/>
                      <a:pt x="83727" y="21704"/>
                    </a:cubicBezTo>
                    <a:cubicBezTo>
                      <a:pt x="105426" y="43405"/>
                      <a:pt x="105423" y="78588"/>
                      <a:pt x="83722" y="100286"/>
                    </a:cubicBezTo>
                    <a:lnTo>
                      <a:pt x="77788" y="105442"/>
                    </a:lnTo>
                  </a:path>
                </a:pathLst>
              </a:custGeom>
              <a:noFill/>
              <a:ln w="22225">
                <a:solidFill>
                  <a:srgbClr val="FFFFFF"/>
                </a:solidFill>
              </a:ln>
            </p:spPr>
          </p:sp>
          <p:sp>
            <p:nvSpPr>
              <p:cNvPr id="51" name="Freeform 51"/>
              <p:cNvSpPr/>
              <p:nvPr/>
            </p:nvSpPr>
            <p:spPr>
              <a:xfrm>
                <a:off x="4806949" y="1703388"/>
                <a:ext cx="100014" cy="105419"/>
              </a:xfrm>
              <a:custGeom>
                <a:avLst/>
                <a:gdLst/>
                <a:ahLst/>
                <a:cxnLst/>
                <a:rect l="l" t="t" r="r" b="b"/>
                <a:pathLst>
                  <a:path w="100014" h="105419">
                    <a:moveTo>
                      <a:pt x="100014" y="77788"/>
                    </a:moveTo>
                    <a:lnTo>
                      <a:pt x="95603" y="83722"/>
                    </a:lnTo>
                    <a:cubicBezTo>
                      <a:pt x="73661" y="105419"/>
                      <a:pt x="38345" y="105419"/>
                      <a:pt x="16404" y="83722"/>
                    </a:cubicBezTo>
                    <a:cubicBezTo>
                      <a:pt x="5907" y="73343"/>
                      <a:pt x="0" y="59195"/>
                      <a:pt x="0" y="44433"/>
                    </a:cubicBezTo>
                    <a:cubicBezTo>
                      <a:pt x="0" y="29672"/>
                      <a:pt x="5907" y="15524"/>
                      <a:pt x="16404" y="5145"/>
                    </a:cubicBezTo>
                    <a:lnTo>
                      <a:pt x="22227" y="0"/>
                    </a:lnTo>
                  </a:path>
                </a:pathLst>
              </a:custGeom>
              <a:noFill/>
              <a:ln w="22225">
                <a:solidFill>
                  <a:srgbClr val="FFFFFF"/>
                </a:solidFill>
              </a:ln>
            </p:spPr>
          </p:sp>
        </p:grpSp>
        <p:sp>
          <p:nvSpPr>
            <p:cNvPr id="53" name="Line 53"/>
            <p:cNvSpPr/>
            <p:nvPr/>
          </p:nvSpPr>
          <p:spPr>
            <a:xfrm>
              <a:off x="5172075" y="1714500"/>
              <a:ext cx="333375" cy="1"/>
            </a:xfrm>
            <a:prstGeom prst="line">
              <a:avLst/>
            </a:prstGeom>
            <a:noFill/>
            <a:ln w="14288">
              <a:solidFill>
                <a:srgbClr val="6E1604"/>
              </a:solidFill>
              <a:tailEnd type="triangle" w="lg" len="lg"/>
            </a:ln>
          </p:spPr>
        </p:sp>
        <p:sp>
          <p:nvSpPr>
            <p:cNvPr id="54" name="Ellipse 54"/>
            <p:cNvSpPr/>
            <p:nvPr/>
          </p:nvSpPr>
          <p:spPr>
            <a:xfrm>
              <a:off x="5553075" y="1476375"/>
              <a:ext cx="476250" cy="476250"/>
            </a:xfrm>
            <a:prstGeom prst="ellipse">
              <a:avLst/>
            </a:prstGeom>
            <a:solidFill>
              <a:srgbClr val="B92102"/>
            </a:solidFill>
            <a:ln>
              <a:noFill/>
            </a:ln>
          </p:spPr>
        </p:sp>
        <p:grpSp>
          <p:nvGrpSpPr>
            <p:cNvPr id="57" name="Group 57"/>
            <p:cNvGrpSpPr/>
            <p:nvPr/>
          </p:nvGrpSpPr>
          <p:grpSpPr>
            <a:xfrm>
              <a:off x="5691188" y="1658938"/>
              <a:ext cx="200026" cy="111125"/>
              <a:chOff x="5691188" y="1658938"/>
              <a:chExt cx="200026" cy="111125"/>
            </a:xfrm>
          </p:grpSpPr>
          <p:sp>
            <p:nvSpPr>
              <p:cNvPr id="55" name="Freeform 55"/>
              <p:cNvSpPr/>
              <p:nvPr/>
            </p:nvSpPr>
            <p:spPr>
              <a:xfrm>
                <a:off x="5691188" y="16589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FFFFFF"/>
                </a:solidFill>
              </a:ln>
            </p:spPr>
          </p:sp>
          <p:sp>
            <p:nvSpPr>
              <p:cNvPr id="56" name="Freeform 56"/>
              <p:cNvSpPr/>
              <p:nvPr/>
            </p:nvSpPr>
            <p:spPr>
              <a:xfrm>
                <a:off x="5813425" y="1658938"/>
                <a:ext cx="77788" cy="77788"/>
              </a:xfrm>
              <a:custGeom>
                <a:avLst/>
                <a:gdLst/>
                <a:ahLst/>
                <a:cxnLst/>
                <a:rect l="l" t="t" r="r" b="b"/>
                <a:pathLst>
                  <a:path w="77788" h="77788">
                    <a:moveTo>
                      <a:pt x="0" y="0"/>
                    </a:moveTo>
                    <a:lnTo>
                      <a:pt x="77788" y="0"/>
                    </a:lnTo>
                    <a:lnTo>
                      <a:pt x="77788" y="77788"/>
                    </a:lnTo>
                  </a:path>
                </a:pathLst>
              </a:custGeom>
              <a:noFill/>
              <a:ln w="22225">
                <a:solidFill>
                  <a:srgbClr val="FFFFFF"/>
                </a:solidFill>
              </a:ln>
            </p:spPr>
          </p:sp>
        </p:grpSp>
        <p:sp>
          <p:nvSpPr>
            <p:cNvPr id="58" name="Line 58"/>
            <p:cNvSpPr/>
            <p:nvPr/>
          </p:nvSpPr>
          <p:spPr>
            <a:xfrm>
              <a:off x="6067425" y="1714500"/>
              <a:ext cx="333375" cy="1"/>
            </a:xfrm>
            <a:prstGeom prst="line">
              <a:avLst/>
            </a:prstGeom>
            <a:noFill/>
            <a:ln w="14288">
              <a:solidFill>
                <a:srgbClr val="6E1604"/>
              </a:solidFill>
              <a:tailEnd type="triangle" w="lg" len="lg"/>
            </a:ln>
          </p:spPr>
        </p:sp>
        <p:sp>
          <p:nvSpPr>
            <p:cNvPr id="59" name="Ellipse 59"/>
            <p:cNvSpPr/>
            <p:nvPr/>
          </p:nvSpPr>
          <p:spPr>
            <a:xfrm>
              <a:off x="6448425" y="1476375"/>
              <a:ext cx="476250" cy="476250"/>
            </a:xfrm>
            <a:prstGeom prst="ellipse">
              <a:avLst/>
            </a:prstGeom>
            <a:solidFill>
              <a:srgbClr val="B92102"/>
            </a:solidFill>
            <a:ln>
              <a:noFill/>
            </a:ln>
          </p:spPr>
        </p:sp>
        <p:grpSp>
          <p:nvGrpSpPr>
            <p:cNvPr id="62" name="Group 62"/>
            <p:cNvGrpSpPr/>
            <p:nvPr/>
          </p:nvGrpSpPr>
          <p:grpSpPr>
            <a:xfrm>
              <a:off x="6571541" y="1614488"/>
              <a:ext cx="217008" cy="200025"/>
              <a:chOff x="6571541" y="1614488"/>
              <a:chExt cx="217008" cy="200025"/>
            </a:xfrm>
          </p:grpSpPr>
          <p:sp>
            <p:nvSpPr>
              <p:cNvPr id="60" name="Freeform 60"/>
              <p:cNvSpPr/>
              <p:nvPr/>
            </p:nvSpPr>
            <p:spPr>
              <a:xfrm>
                <a:off x="6571541" y="161448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FFFFFF"/>
                </a:solidFill>
              </a:ln>
            </p:spPr>
          </p:sp>
          <p:sp>
            <p:nvSpPr>
              <p:cNvPr id="61" name="Freeform 61"/>
              <p:cNvSpPr/>
              <p:nvPr/>
            </p:nvSpPr>
            <p:spPr>
              <a:xfrm>
                <a:off x="6719888" y="1770063"/>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63" name="Line 63"/>
            <p:cNvSpPr/>
            <p:nvPr/>
          </p:nvSpPr>
          <p:spPr>
            <a:xfrm>
              <a:off x="6962775" y="1714500"/>
              <a:ext cx="333375" cy="1"/>
            </a:xfrm>
            <a:prstGeom prst="line">
              <a:avLst/>
            </a:prstGeom>
            <a:noFill/>
            <a:ln w="14288">
              <a:solidFill>
                <a:srgbClr val="6E1604"/>
              </a:solidFill>
              <a:tailEnd type="triangle" w="lg" len="lg"/>
            </a:ln>
          </p:spPr>
        </p:sp>
        <p:sp>
          <p:nvSpPr>
            <p:cNvPr id="64" name="Ellipse 64"/>
            <p:cNvSpPr/>
            <p:nvPr/>
          </p:nvSpPr>
          <p:spPr>
            <a:xfrm>
              <a:off x="7343775" y="1476375"/>
              <a:ext cx="476250" cy="476250"/>
            </a:xfrm>
            <a:prstGeom prst="ellipse">
              <a:avLst/>
            </a:prstGeom>
            <a:solidFill>
              <a:srgbClr val="B92102"/>
            </a:solidFill>
            <a:ln>
              <a:noFill/>
            </a:ln>
          </p:spPr>
        </p:sp>
        <p:grpSp>
          <p:nvGrpSpPr>
            <p:cNvPr id="67" name="Group 67"/>
            <p:cNvGrpSpPr/>
            <p:nvPr/>
          </p:nvGrpSpPr>
          <p:grpSpPr>
            <a:xfrm>
              <a:off x="7493000" y="1621313"/>
              <a:ext cx="177801" cy="186375"/>
              <a:chOff x="7493000" y="1621313"/>
              <a:chExt cx="177801" cy="186375"/>
            </a:xfrm>
          </p:grpSpPr>
          <p:sp>
            <p:nvSpPr>
              <p:cNvPr id="65" name="Freeform 65"/>
              <p:cNvSpPr/>
              <p:nvPr/>
            </p:nvSpPr>
            <p:spPr>
              <a:xfrm>
                <a:off x="7493000" y="1621313"/>
                <a:ext cx="177801" cy="82075"/>
              </a:xfrm>
              <a:custGeom>
                <a:avLst/>
                <a:gdLst/>
                <a:ahLst/>
                <a:cxnLst/>
                <a:rect l="l" t="t" r="r" b="b"/>
                <a:pathLst>
                  <a:path w="177801" h="82075">
                    <a:moveTo>
                      <a:pt x="177801" y="82075"/>
                    </a:moveTo>
                    <a:cubicBezTo>
                      <a:pt x="172214" y="41876"/>
                      <a:pt x="140416" y="10388"/>
                      <a:pt x="100165" y="5194"/>
                    </a:cubicBezTo>
                    <a:cubicBezTo>
                      <a:pt x="59913" y="0"/>
                      <a:pt x="21164" y="22386"/>
                      <a:pt x="5556" y="59850"/>
                    </a:cubicBezTo>
                    <a:moveTo>
                      <a:pt x="0" y="15400"/>
                    </a:moveTo>
                    <a:lnTo>
                      <a:pt x="0" y="59850"/>
                    </a:lnTo>
                    <a:lnTo>
                      <a:pt x="44450" y="59850"/>
                    </a:lnTo>
                  </a:path>
                </a:pathLst>
              </a:custGeom>
              <a:noFill/>
              <a:ln w="22225">
                <a:solidFill>
                  <a:srgbClr val="FFFFFF"/>
                </a:solidFill>
              </a:ln>
            </p:spPr>
          </p:sp>
          <p:sp>
            <p:nvSpPr>
              <p:cNvPr id="66" name="Freeform 66"/>
              <p:cNvSpPr/>
              <p:nvPr/>
            </p:nvSpPr>
            <p:spPr>
              <a:xfrm>
                <a:off x="7493000" y="1725613"/>
                <a:ext cx="177801" cy="82075"/>
              </a:xfrm>
              <a:custGeom>
                <a:avLst/>
                <a:gdLst/>
                <a:ahLst/>
                <a:cxnLst/>
                <a:rect l="l" t="t" r="r" b="b"/>
                <a:pathLst>
                  <a:path w="177801" h="82075">
                    <a:moveTo>
                      <a:pt x="0" y="0"/>
                    </a:moveTo>
                    <a:cubicBezTo>
                      <a:pt x="5587" y="40199"/>
                      <a:pt x="37384" y="71688"/>
                      <a:pt x="77636" y="76881"/>
                    </a:cubicBezTo>
                    <a:cubicBezTo>
                      <a:pt x="117888" y="82075"/>
                      <a:pt x="156637" y="59689"/>
                      <a:pt x="172244" y="22225"/>
                    </a:cubicBezTo>
                    <a:moveTo>
                      <a:pt x="177801" y="66675"/>
                    </a:moveTo>
                    <a:lnTo>
                      <a:pt x="177801" y="22225"/>
                    </a:lnTo>
                    <a:lnTo>
                      <a:pt x="133350" y="22225"/>
                    </a:lnTo>
                  </a:path>
                </a:pathLst>
              </a:custGeom>
              <a:noFill/>
              <a:ln w="22225">
                <a:solidFill>
                  <a:srgbClr val="FFFFFF"/>
                </a:solidFill>
              </a:ln>
            </p:spPr>
          </p:sp>
        </p:grpSp>
        <p:sp>
          <p:nvSpPr>
            <p:cNvPr id="68" name="TextBox 68"/>
            <p:cNvSpPr txBox="1"/>
            <p:nvPr/>
          </p:nvSpPr>
          <p:spPr>
            <a:xfrm>
              <a:off x="3844011" y="2069306"/>
              <a:ext cx="312979"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获客</a:t>
              </a:r>
            </a:p>
          </p:txBody>
        </p:sp>
        <p:sp>
          <p:nvSpPr>
            <p:cNvPr id="69" name="TextBox 69"/>
            <p:cNvSpPr txBox="1"/>
            <p:nvPr/>
          </p:nvSpPr>
          <p:spPr>
            <a:xfrm>
              <a:off x="4739361" y="2069306"/>
              <a:ext cx="312979"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激活</a:t>
              </a:r>
            </a:p>
          </p:txBody>
        </p:sp>
        <p:sp>
          <p:nvSpPr>
            <p:cNvPr id="70" name="TextBox 70"/>
            <p:cNvSpPr txBox="1"/>
            <p:nvPr/>
          </p:nvSpPr>
          <p:spPr>
            <a:xfrm>
              <a:off x="5634711" y="2069306"/>
              <a:ext cx="312979"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提升</a:t>
              </a:r>
            </a:p>
          </p:txBody>
        </p:sp>
        <p:sp>
          <p:nvSpPr>
            <p:cNvPr id="71" name="TextBox 71"/>
            <p:cNvSpPr txBox="1"/>
            <p:nvPr/>
          </p:nvSpPr>
          <p:spPr>
            <a:xfrm>
              <a:off x="6530061" y="2069306"/>
              <a:ext cx="312979"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留存</a:t>
              </a:r>
            </a:p>
          </p:txBody>
        </p:sp>
        <p:sp>
          <p:nvSpPr>
            <p:cNvPr id="72" name="TextBox 72"/>
            <p:cNvSpPr txBox="1"/>
            <p:nvPr/>
          </p:nvSpPr>
          <p:spPr>
            <a:xfrm>
              <a:off x="7425411" y="2069306"/>
              <a:ext cx="312979"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挽回</a:t>
              </a:r>
            </a:p>
          </p:txBody>
        </p:sp>
        <p:sp>
          <p:nvSpPr>
            <p:cNvPr id="73" name="Line 73"/>
            <p:cNvSpPr/>
            <p:nvPr/>
          </p:nvSpPr>
          <p:spPr>
            <a:xfrm flipV="1">
              <a:off x="4000500" y="2305050"/>
              <a:ext cx="1" cy="209550"/>
            </a:xfrm>
            <a:prstGeom prst="line">
              <a:avLst/>
            </a:prstGeom>
            <a:noFill/>
            <a:ln w="11430">
              <a:solidFill>
                <a:srgbClr val="D44B2F"/>
              </a:solidFill>
              <a:custDash>
                <a:ds d="250000" sp="166667"/>
              </a:custDash>
              <a:tailEnd type="triangle" w="lg" len="lg"/>
            </a:ln>
          </p:spPr>
        </p:sp>
        <p:sp>
          <p:nvSpPr>
            <p:cNvPr id="74" name="Line 74"/>
            <p:cNvSpPr/>
            <p:nvPr/>
          </p:nvSpPr>
          <p:spPr>
            <a:xfrm flipV="1">
              <a:off x="4895850" y="2305050"/>
              <a:ext cx="1" cy="209550"/>
            </a:xfrm>
            <a:prstGeom prst="line">
              <a:avLst/>
            </a:prstGeom>
            <a:noFill/>
            <a:ln w="11430">
              <a:solidFill>
                <a:srgbClr val="D44B2F"/>
              </a:solidFill>
              <a:custDash>
                <a:ds d="250000" sp="166667"/>
              </a:custDash>
              <a:tailEnd type="triangle" w="lg" len="lg"/>
            </a:ln>
          </p:spPr>
        </p:sp>
        <p:sp>
          <p:nvSpPr>
            <p:cNvPr id="75" name="Line 75"/>
            <p:cNvSpPr/>
            <p:nvPr/>
          </p:nvSpPr>
          <p:spPr>
            <a:xfrm flipV="1">
              <a:off x="5791200" y="2305050"/>
              <a:ext cx="1" cy="209550"/>
            </a:xfrm>
            <a:prstGeom prst="line">
              <a:avLst/>
            </a:prstGeom>
            <a:noFill/>
            <a:ln w="11430">
              <a:solidFill>
                <a:srgbClr val="D44B2F"/>
              </a:solidFill>
              <a:custDash>
                <a:ds d="250000" sp="166667"/>
              </a:custDash>
              <a:tailEnd type="triangle" w="lg" len="lg"/>
            </a:ln>
          </p:spPr>
        </p:sp>
        <p:sp>
          <p:nvSpPr>
            <p:cNvPr id="76" name="Line 76"/>
            <p:cNvSpPr/>
            <p:nvPr/>
          </p:nvSpPr>
          <p:spPr>
            <a:xfrm flipV="1">
              <a:off x="6686550" y="2305050"/>
              <a:ext cx="1" cy="209550"/>
            </a:xfrm>
            <a:prstGeom prst="line">
              <a:avLst/>
            </a:prstGeom>
            <a:noFill/>
            <a:ln w="11430">
              <a:solidFill>
                <a:srgbClr val="D44B2F"/>
              </a:solidFill>
              <a:custDash>
                <a:ds d="250000" sp="166667"/>
              </a:custDash>
              <a:tailEnd type="triangle" w="lg" len="lg"/>
            </a:ln>
          </p:spPr>
        </p:sp>
        <p:sp>
          <p:nvSpPr>
            <p:cNvPr id="77" name="Line 77"/>
            <p:cNvSpPr/>
            <p:nvPr/>
          </p:nvSpPr>
          <p:spPr>
            <a:xfrm flipV="1">
              <a:off x="7581900" y="2305050"/>
              <a:ext cx="1" cy="209550"/>
            </a:xfrm>
            <a:prstGeom prst="line">
              <a:avLst/>
            </a:prstGeom>
            <a:noFill/>
            <a:ln w="11430">
              <a:solidFill>
                <a:srgbClr val="D44B2F"/>
              </a:solidFill>
              <a:custDash>
                <a:ds d="250000" sp="166667"/>
              </a:custDash>
              <a:tailEnd type="triangle" w="lg" len="lg"/>
            </a:ln>
          </p:spPr>
        </p:sp>
        <p:grpSp>
          <p:nvGrpSpPr>
            <p:cNvPr id="81" name="lc-card-1"/>
            <p:cNvGrpSpPr/>
            <p:nvPr/>
          </p:nvGrpSpPr>
          <p:grpSpPr>
            <a:xfrm>
              <a:off x="3600450" y="2533650"/>
              <a:ext cx="800100" cy="1428750"/>
              <a:chOff x="3600450" y="2533650"/>
              <a:chExt cx="800100" cy="1428750"/>
            </a:xfrm>
          </p:grpSpPr>
          <p:sp>
            <p:nvSpPr>
              <p:cNvPr id="78" name="Rectangle 78"/>
              <p:cNvSpPr/>
              <p:nvPr/>
            </p:nvSpPr>
            <p:spPr>
              <a:xfrm>
                <a:off x="3600450" y="2533650"/>
                <a:ext cx="800100" cy="1428750"/>
              </a:xfrm>
              <a:prstGeom prst="roundRect">
                <a:avLst>
                  <a:gd name="adj" fmla="val 7143"/>
                </a:avLst>
              </a:prstGeom>
              <a:solidFill>
                <a:srgbClr val="F2F7FE"/>
              </a:solidFill>
              <a:ln w="9525">
                <a:solidFill>
                  <a:srgbClr val="DCE6F8"/>
                </a:solidFill>
              </a:ln>
            </p:spPr>
          </p:sp>
          <p:sp>
            <p:nvSpPr>
              <p:cNvPr id="79" name="TextBox 79"/>
              <p:cNvSpPr txBox="1"/>
              <p:nvPr/>
            </p:nvSpPr>
            <p:spPr>
              <a:xfrm>
                <a:off x="3764191" y="263104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关键动作</a:t>
                </a:r>
              </a:p>
            </p:txBody>
          </p:sp>
          <p:sp>
            <p:nvSpPr>
              <p:cNvPr id="80" name="TextBox 80"/>
              <p:cNvSpPr txBox="1"/>
              <p:nvPr/>
            </p:nvSpPr>
            <p:spPr>
              <a:xfrm>
                <a:off x="3709988" y="2867739"/>
                <a:ext cx="606488" cy="812006"/>
              </a:xfrm>
              <a:prstGeom prst="rect">
                <a:avLst/>
              </a:prstGeom>
              <a:noFill/>
              <a:ln>
                <a:noFill/>
              </a:ln>
            </p:spPr>
            <p:txBody>
              <a:bodyPr wrap="none" lIns="0" tIns="0" rIns="0" bIns="0" anchor="t" anchorCtr="0">
                <a:spAutoFit/>
              </a:bodyPr>
              <a:lstStyle/>
              <a:p>
                <a:pPr algn="l" marL="85280" indent="-85280">
                  <a:lnSpc>
                    <a:spcPts val="1725"/>
                  </a:lnSpc>
                  <a:buClr>
                    <a:srgbClr val="473633"/>
                  </a:buClr>
                  <a:buSzTx/>
                  <a:buFontTx/>
                  <a:buChar char="•"/>
                </a:pPr>
                <a:r>
                  <a:rPr lang="zh-CN" sz="790" dirty="0">
                    <a:solidFill>
                      <a:srgbClr val="473633"/>
                    </a:solidFill>
                    <a:latin typeface="+mn-lt"/>
                    <a:ea typeface="+mn-ea"/>
                    <a:cs typeface="+mn-cs"/>
                  </a:rPr>
                  <a:t>精准定位​​</a:t>
                </a:r>
              </a:p>
              <a:p>
                <a:pPr algn="l" marL="85280" indent="-85280">
                  <a:lnSpc>
                    <a:spcPts val="1725"/>
                  </a:lnSpc>
                  <a:buClr>
                    <a:srgbClr val="473633"/>
                  </a:buClr>
                  <a:buSzTx/>
                  <a:buFontTx/>
                  <a:buChar char="•"/>
                </a:pPr>
                <a:r>
                  <a:rPr lang="zh-CN" sz="790" dirty="0">
                    <a:solidFill>
                      <a:srgbClr val="473633"/>
                    </a:solidFill>
                    <a:latin typeface="+mn-lt"/>
                    <a:ea typeface="+mn-ea"/>
                    <a:cs typeface="+mn-cs"/>
                  </a:rPr>
                  <a:t>渠道拓展​​</a:t>
                </a:r>
              </a:p>
              <a:p>
                <a:pPr algn="l" marL="85280" indent="-85280">
                  <a:lnSpc>
                    <a:spcPts val="1725"/>
                  </a:lnSpc>
                  <a:buClr>
                    <a:srgbClr val="473633"/>
                  </a:buClr>
                  <a:buSzTx/>
                  <a:buFontTx/>
                  <a:buChar char="•"/>
                </a:pPr>
                <a:r>
                  <a:rPr lang="zh-CN" sz="790" dirty="0">
                    <a:solidFill>
                      <a:srgbClr val="473633"/>
                    </a:solidFill>
                    <a:latin typeface="+mn-lt"/>
                    <a:ea typeface="+mn-ea"/>
                    <a:cs typeface="+mn-cs"/>
                  </a:rPr>
                  <a:t>线索获取​​</a:t>
                </a:r>
              </a:p>
              <a:p>
                <a:pPr algn="l" marL="85280" indent="-85280">
                  <a:lnSpc>
                    <a:spcPts val="1725"/>
                  </a:lnSpc>
                  <a:buClr>
                    <a:srgbClr val="473633"/>
                  </a:buClr>
                  <a:buSzTx/>
                  <a:buFontTx/>
                  <a:buChar char="•"/>
                </a:pPr>
                <a:r>
                  <a:rPr lang="zh-CN" sz="790" dirty="0">
                    <a:solidFill>
                      <a:srgbClr val="473633"/>
                    </a:solidFill>
                    <a:latin typeface="+mn-lt"/>
                    <a:ea typeface="+mn-ea"/>
                    <a:cs typeface="+mn-cs"/>
                  </a:rPr>
                  <a:t>首触转化​​</a:t>
                </a:r>
              </a:p>
            </p:txBody>
          </p:sp>
        </p:grpSp>
        <p:grpSp>
          <p:nvGrpSpPr>
            <p:cNvPr id="85" name="lc-card-2"/>
            <p:cNvGrpSpPr/>
            <p:nvPr/>
          </p:nvGrpSpPr>
          <p:grpSpPr>
            <a:xfrm>
              <a:off x="4495800" y="2533650"/>
              <a:ext cx="800100" cy="1428750"/>
              <a:chOff x="4495800" y="2533650"/>
              <a:chExt cx="800100" cy="1428750"/>
            </a:xfrm>
          </p:grpSpPr>
          <p:sp>
            <p:nvSpPr>
              <p:cNvPr id="82" name="Rectangle 82"/>
              <p:cNvSpPr/>
              <p:nvPr/>
            </p:nvSpPr>
            <p:spPr>
              <a:xfrm>
                <a:off x="4495800" y="2533650"/>
                <a:ext cx="800100" cy="1428750"/>
              </a:xfrm>
              <a:prstGeom prst="roundRect">
                <a:avLst>
                  <a:gd name="adj" fmla="val 7143"/>
                </a:avLst>
              </a:prstGeom>
              <a:solidFill>
                <a:srgbClr val="F2F7FE"/>
              </a:solidFill>
              <a:ln w="9525">
                <a:solidFill>
                  <a:srgbClr val="DCE6F8"/>
                </a:solidFill>
              </a:ln>
            </p:spPr>
          </p:sp>
          <p:sp>
            <p:nvSpPr>
              <p:cNvPr id="83" name="TextBox 83"/>
              <p:cNvSpPr txBox="1"/>
              <p:nvPr/>
            </p:nvSpPr>
            <p:spPr>
              <a:xfrm>
                <a:off x="4659541" y="263104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关键动作</a:t>
                </a:r>
              </a:p>
            </p:txBody>
          </p:sp>
          <p:sp>
            <p:nvSpPr>
              <p:cNvPr id="84" name="TextBox 84"/>
              <p:cNvSpPr txBox="1"/>
              <p:nvPr/>
            </p:nvSpPr>
            <p:spPr>
              <a:xfrm>
                <a:off x="4605338" y="2867739"/>
                <a:ext cx="606488" cy="812006"/>
              </a:xfrm>
              <a:prstGeom prst="rect">
                <a:avLst/>
              </a:prstGeom>
              <a:noFill/>
              <a:ln>
                <a:noFill/>
              </a:ln>
            </p:spPr>
            <p:txBody>
              <a:bodyPr wrap="none" lIns="0" tIns="0" rIns="0" bIns="0" anchor="t" anchorCtr="0">
                <a:spAutoFit/>
              </a:bodyPr>
              <a:lstStyle/>
              <a:p>
                <a:pPr algn="l" marL="85280" indent="-85280">
                  <a:lnSpc>
                    <a:spcPts val="1725"/>
                  </a:lnSpc>
                  <a:buClr>
                    <a:srgbClr val="473633"/>
                  </a:buClr>
                  <a:buSzTx/>
                  <a:buFontTx/>
                  <a:buChar char="•"/>
                </a:pPr>
                <a:r>
                  <a:rPr lang="zh-CN" sz="790" dirty="0">
                    <a:solidFill>
                      <a:srgbClr val="473633"/>
                    </a:solidFill>
                    <a:latin typeface="+mn-lt"/>
                    <a:ea typeface="+mn-ea"/>
                    <a:cs typeface="+mn-cs"/>
                  </a:rPr>
                  <a:t>首单引导​​</a:t>
                </a:r>
              </a:p>
              <a:p>
                <a:pPr algn="l" marL="85280" indent="-85280">
                  <a:lnSpc>
                    <a:spcPts val="1725"/>
                  </a:lnSpc>
                  <a:buClr>
                    <a:srgbClr val="473633"/>
                  </a:buClr>
                  <a:buSzTx/>
                  <a:buFontTx/>
                  <a:buChar char="•"/>
                </a:pPr>
                <a:r>
                  <a:rPr lang="zh-CN" sz="790" dirty="0">
                    <a:solidFill>
                      <a:srgbClr val="473633"/>
                    </a:solidFill>
                    <a:latin typeface="+mn-lt"/>
                    <a:ea typeface="+mn-ea"/>
                    <a:cs typeface="+mn-cs"/>
                  </a:rPr>
                  <a:t>体验优化​​</a:t>
                </a:r>
              </a:p>
              <a:p>
                <a:pPr algn="l" marL="85280" indent="-85280">
                  <a:lnSpc>
                    <a:spcPts val="1725"/>
                  </a:lnSpc>
                  <a:buClr>
                    <a:srgbClr val="473633"/>
                  </a:buClr>
                  <a:buSzTx/>
                  <a:buFontTx/>
                  <a:buChar char="•"/>
                </a:pPr>
                <a:r>
                  <a:rPr lang="zh-CN" sz="790" dirty="0">
                    <a:solidFill>
                      <a:srgbClr val="473633"/>
                    </a:solidFill>
                    <a:latin typeface="+mn-lt"/>
                    <a:ea typeface="+mn-ea"/>
                    <a:cs typeface="+mn-cs"/>
                  </a:rPr>
                  <a:t>快速上手​​</a:t>
                </a:r>
              </a:p>
              <a:p>
                <a:pPr algn="l" marL="85280" indent="-85280">
                  <a:lnSpc>
                    <a:spcPts val="1725"/>
                  </a:lnSpc>
                  <a:buClr>
                    <a:srgbClr val="473633"/>
                  </a:buClr>
                  <a:buSzTx/>
                  <a:buFontTx/>
                  <a:buChar char="•"/>
                </a:pPr>
                <a:r>
                  <a:rPr lang="zh-CN" sz="790" dirty="0">
                    <a:solidFill>
                      <a:srgbClr val="473633"/>
                    </a:solidFill>
                    <a:latin typeface="+mn-lt"/>
                    <a:ea typeface="+mn-ea"/>
                    <a:cs typeface="+mn-cs"/>
                  </a:rPr>
                  <a:t>价值感知​​</a:t>
                </a:r>
              </a:p>
            </p:txBody>
          </p:sp>
        </p:grpSp>
        <p:grpSp>
          <p:nvGrpSpPr>
            <p:cNvPr id="89" name="lc-card-3"/>
            <p:cNvGrpSpPr/>
            <p:nvPr/>
          </p:nvGrpSpPr>
          <p:grpSpPr>
            <a:xfrm>
              <a:off x="5391150" y="2533650"/>
              <a:ext cx="800100" cy="1428750"/>
              <a:chOff x="5391150" y="2533650"/>
              <a:chExt cx="800100" cy="1428750"/>
            </a:xfrm>
          </p:grpSpPr>
          <p:sp>
            <p:nvSpPr>
              <p:cNvPr id="86" name="Rectangle 86"/>
              <p:cNvSpPr/>
              <p:nvPr/>
            </p:nvSpPr>
            <p:spPr>
              <a:xfrm>
                <a:off x="5391150" y="2533650"/>
                <a:ext cx="800100" cy="1428750"/>
              </a:xfrm>
              <a:prstGeom prst="roundRect">
                <a:avLst>
                  <a:gd name="adj" fmla="val 7143"/>
                </a:avLst>
              </a:prstGeom>
              <a:solidFill>
                <a:srgbClr val="F2F7FE"/>
              </a:solidFill>
              <a:ln w="9525">
                <a:solidFill>
                  <a:srgbClr val="DCE6F8"/>
                </a:solidFill>
              </a:ln>
            </p:spPr>
          </p:sp>
          <p:sp>
            <p:nvSpPr>
              <p:cNvPr id="87" name="TextBox 87"/>
              <p:cNvSpPr txBox="1"/>
              <p:nvPr/>
            </p:nvSpPr>
            <p:spPr>
              <a:xfrm>
                <a:off x="5554891" y="263104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关键动作</a:t>
                </a:r>
              </a:p>
            </p:txBody>
          </p:sp>
          <p:sp>
            <p:nvSpPr>
              <p:cNvPr id="88" name="TextBox 88"/>
              <p:cNvSpPr txBox="1"/>
              <p:nvPr/>
            </p:nvSpPr>
            <p:spPr>
              <a:xfrm>
                <a:off x="5500688" y="2867739"/>
                <a:ext cx="606488" cy="812006"/>
              </a:xfrm>
              <a:prstGeom prst="rect">
                <a:avLst/>
              </a:prstGeom>
              <a:noFill/>
              <a:ln>
                <a:noFill/>
              </a:ln>
            </p:spPr>
            <p:txBody>
              <a:bodyPr wrap="none" lIns="0" tIns="0" rIns="0" bIns="0" anchor="t" anchorCtr="0">
                <a:spAutoFit/>
              </a:bodyPr>
              <a:lstStyle/>
              <a:p>
                <a:pPr algn="l" marL="85280" indent="-85280">
                  <a:lnSpc>
                    <a:spcPts val="1725"/>
                  </a:lnSpc>
                  <a:buClr>
                    <a:srgbClr val="473633"/>
                  </a:buClr>
                  <a:buSzTx/>
                  <a:buFontTx/>
                  <a:buChar char="•"/>
                </a:pPr>
                <a:r>
                  <a:rPr lang="zh-CN" sz="790" dirty="0">
                    <a:solidFill>
                      <a:srgbClr val="473633"/>
                    </a:solidFill>
                    <a:latin typeface="+mn-lt"/>
                    <a:ea typeface="+mn-ea"/>
                    <a:cs typeface="+mn-cs"/>
                  </a:rPr>
                  <a:t>交叉销售​​</a:t>
                </a:r>
              </a:p>
              <a:p>
                <a:pPr algn="l" marL="85280" indent="-85280">
                  <a:lnSpc>
                    <a:spcPts val="1725"/>
                  </a:lnSpc>
                  <a:buClr>
                    <a:srgbClr val="473633"/>
                  </a:buClr>
                  <a:buSzTx/>
                  <a:buFontTx/>
                  <a:buChar char="•"/>
                </a:pPr>
                <a:r>
                  <a:rPr lang="zh-CN" sz="790" dirty="0">
                    <a:solidFill>
                      <a:srgbClr val="473633"/>
                    </a:solidFill>
                    <a:latin typeface="+mn-lt"/>
                    <a:ea typeface="+mn-ea"/>
                    <a:cs typeface="+mn-cs"/>
                  </a:rPr>
                  <a:t>需求挖掘​​</a:t>
                </a:r>
              </a:p>
              <a:p>
                <a:pPr algn="l" marL="85280" indent="-85280">
                  <a:lnSpc>
                    <a:spcPts val="1725"/>
                  </a:lnSpc>
                  <a:buClr>
                    <a:srgbClr val="473633"/>
                  </a:buClr>
                  <a:buSzTx/>
                  <a:buFontTx/>
                  <a:buChar char="•"/>
                </a:pPr>
                <a:r>
                  <a:rPr lang="zh-CN" sz="790" dirty="0">
                    <a:solidFill>
                      <a:srgbClr val="473633"/>
                    </a:solidFill>
                    <a:latin typeface="+mn-lt"/>
                    <a:ea typeface="+mn-ea"/>
                    <a:cs typeface="+mn-cs"/>
                  </a:rPr>
                  <a:t>产品升级​​</a:t>
                </a:r>
              </a:p>
              <a:p>
                <a:pPr algn="l" marL="85280" indent="-85280">
                  <a:lnSpc>
                    <a:spcPts val="1725"/>
                  </a:lnSpc>
                  <a:buClr>
                    <a:srgbClr val="473633"/>
                  </a:buClr>
                  <a:buSzTx/>
                  <a:buFontTx/>
                  <a:buChar char="•"/>
                </a:pPr>
                <a:r>
                  <a:rPr lang="zh-CN" sz="790" dirty="0">
                    <a:solidFill>
                      <a:srgbClr val="473633"/>
                    </a:solidFill>
                    <a:latin typeface="+mn-lt"/>
                    <a:ea typeface="+mn-ea"/>
                    <a:cs typeface="+mn-cs"/>
                  </a:rPr>
                  <a:t>价值深化​​</a:t>
                </a:r>
              </a:p>
            </p:txBody>
          </p:sp>
        </p:grpSp>
        <p:grpSp>
          <p:nvGrpSpPr>
            <p:cNvPr id="93" name="lc-card-4"/>
            <p:cNvGrpSpPr/>
            <p:nvPr/>
          </p:nvGrpSpPr>
          <p:grpSpPr>
            <a:xfrm>
              <a:off x="6286500" y="2533650"/>
              <a:ext cx="816356" cy="1428750"/>
              <a:chOff x="6286500" y="2533650"/>
              <a:chExt cx="816356" cy="1428750"/>
            </a:xfrm>
          </p:grpSpPr>
          <p:sp>
            <p:nvSpPr>
              <p:cNvPr id="90" name="Rectangle 90"/>
              <p:cNvSpPr/>
              <p:nvPr/>
            </p:nvSpPr>
            <p:spPr>
              <a:xfrm>
                <a:off x="6286500" y="2533650"/>
                <a:ext cx="800100" cy="1428750"/>
              </a:xfrm>
              <a:prstGeom prst="roundRect">
                <a:avLst>
                  <a:gd name="adj" fmla="val 7143"/>
                </a:avLst>
              </a:prstGeom>
              <a:solidFill>
                <a:srgbClr val="F2F7FE"/>
              </a:solidFill>
              <a:ln w="9525">
                <a:solidFill>
                  <a:srgbClr val="DCE6F8"/>
                </a:solidFill>
              </a:ln>
            </p:spPr>
          </p:sp>
          <p:sp>
            <p:nvSpPr>
              <p:cNvPr id="91" name="TextBox 91"/>
              <p:cNvSpPr txBox="1"/>
              <p:nvPr/>
            </p:nvSpPr>
            <p:spPr>
              <a:xfrm>
                <a:off x="6450241" y="263104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关键动作</a:t>
                </a:r>
              </a:p>
            </p:txBody>
          </p:sp>
          <p:sp>
            <p:nvSpPr>
              <p:cNvPr id="92" name="TextBox 92"/>
              <p:cNvSpPr txBox="1"/>
              <p:nvPr/>
            </p:nvSpPr>
            <p:spPr>
              <a:xfrm>
                <a:off x="6396038" y="2867739"/>
                <a:ext cx="706818" cy="812006"/>
              </a:xfrm>
              <a:prstGeom prst="rect">
                <a:avLst/>
              </a:prstGeom>
              <a:noFill/>
              <a:ln>
                <a:noFill/>
              </a:ln>
            </p:spPr>
            <p:txBody>
              <a:bodyPr wrap="none" lIns="0" tIns="0" rIns="0" bIns="0" anchor="t" anchorCtr="0">
                <a:spAutoFit/>
              </a:bodyPr>
              <a:lstStyle/>
              <a:p>
                <a:pPr algn="l" marL="85280" indent="-85280">
                  <a:lnSpc>
                    <a:spcPts val="1725"/>
                  </a:lnSpc>
                  <a:buClr>
                    <a:srgbClr val="473633"/>
                  </a:buClr>
                  <a:buSzTx/>
                  <a:buFontTx/>
                  <a:buChar char="•"/>
                </a:pPr>
                <a:r>
                  <a:rPr lang="zh-CN" sz="790" dirty="0">
                    <a:solidFill>
                      <a:srgbClr val="473633"/>
                    </a:solidFill>
                    <a:latin typeface="+mn-lt"/>
                    <a:ea typeface="+mn-ea"/>
                    <a:cs typeface="+mn-cs"/>
                  </a:rPr>
                  <a:t>关系维护​​</a:t>
                </a:r>
              </a:p>
              <a:p>
                <a:pPr algn="l" marL="85280" indent="-85280">
                  <a:lnSpc>
                    <a:spcPts val="1725"/>
                  </a:lnSpc>
                  <a:buClr>
                    <a:srgbClr val="473633"/>
                  </a:buClr>
                  <a:buSzTx/>
                  <a:buFontTx/>
                  <a:buChar char="•"/>
                </a:pPr>
                <a:r>
                  <a:rPr lang="zh-CN" sz="790" dirty="0">
                    <a:solidFill>
                      <a:srgbClr val="473633"/>
                    </a:solidFill>
                    <a:latin typeface="+mn-lt"/>
                    <a:ea typeface="+mn-ea"/>
                    <a:cs typeface="+mn-cs"/>
                  </a:rPr>
                  <a:t>服务提效​​</a:t>
                </a:r>
              </a:p>
              <a:p>
                <a:pPr algn="l" marL="85280" indent="-85280">
                  <a:lnSpc>
                    <a:spcPts val="1725"/>
                  </a:lnSpc>
                  <a:buClr>
                    <a:srgbClr val="473633"/>
                  </a:buClr>
                  <a:buSzTx/>
                  <a:buFontTx/>
                  <a:buChar char="•"/>
                </a:pPr>
                <a:r>
                  <a:rPr lang="zh-CN" sz="790" dirty="0">
                    <a:solidFill>
                      <a:srgbClr val="473633"/>
                    </a:solidFill>
                    <a:latin typeface="+mn-lt"/>
                    <a:ea typeface="+mn-ea"/>
                    <a:cs typeface="+mn-cs"/>
                  </a:rPr>
                  <a:t>权益运营​​</a:t>
                </a:r>
              </a:p>
              <a:p>
                <a:pPr algn="l" marL="85280" indent="-85280">
                  <a:lnSpc>
                    <a:spcPts val="1725"/>
                  </a:lnSpc>
                  <a:buClr>
                    <a:srgbClr val="473633"/>
                  </a:buClr>
                  <a:buSzTx/>
                  <a:buFontTx/>
                  <a:buChar char="•"/>
                </a:pPr>
                <a:r>
                  <a:rPr lang="zh-CN" sz="790" dirty="0">
                    <a:solidFill>
                      <a:srgbClr val="473633"/>
                    </a:solidFill>
                    <a:latin typeface="+mn-lt"/>
                    <a:ea typeface="+mn-ea"/>
                    <a:cs typeface="+mn-cs"/>
                  </a:rPr>
                  <a:t>满意度提升​​</a:t>
                </a:r>
              </a:p>
            </p:txBody>
          </p:sp>
        </p:grpSp>
        <p:grpSp>
          <p:nvGrpSpPr>
            <p:cNvPr id="97" name="lc-card-5"/>
            <p:cNvGrpSpPr/>
            <p:nvPr/>
          </p:nvGrpSpPr>
          <p:grpSpPr>
            <a:xfrm>
              <a:off x="7181850" y="2533650"/>
              <a:ext cx="800100" cy="1428750"/>
              <a:chOff x="7181850" y="2533650"/>
              <a:chExt cx="800100" cy="1428750"/>
            </a:xfrm>
          </p:grpSpPr>
          <p:sp>
            <p:nvSpPr>
              <p:cNvPr id="94" name="Rectangle 94"/>
              <p:cNvSpPr/>
              <p:nvPr/>
            </p:nvSpPr>
            <p:spPr>
              <a:xfrm>
                <a:off x="7181850" y="2533650"/>
                <a:ext cx="800100" cy="1428750"/>
              </a:xfrm>
              <a:prstGeom prst="roundRect">
                <a:avLst>
                  <a:gd name="adj" fmla="val 7143"/>
                </a:avLst>
              </a:prstGeom>
              <a:solidFill>
                <a:srgbClr val="F2F7FE"/>
              </a:solidFill>
              <a:ln w="9525">
                <a:solidFill>
                  <a:srgbClr val="DCE6F8"/>
                </a:solidFill>
              </a:ln>
            </p:spPr>
          </p:sp>
          <p:sp>
            <p:nvSpPr>
              <p:cNvPr id="95" name="TextBox 95"/>
              <p:cNvSpPr txBox="1"/>
              <p:nvPr/>
            </p:nvSpPr>
            <p:spPr>
              <a:xfrm>
                <a:off x="7345591" y="263104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关键动作</a:t>
                </a:r>
              </a:p>
            </p:txBody>
          </p:sp>
          <p:sp>
            <p:nvSpPr>
              <p:cNvPr id="96" name="TextBox 96"/>
              <p:cNvSpPr txBox="1"/>
              <p:nvPr/>
            </p:nvSpPr>
            <p:spPr>
              <a:xfrm>
                <a:off x="7291388" y="2867739"/>
                <a:ext cx="606488" cy="812006"/>
              </a:xfrm>
              <a:prstGeom prst="rect">
                <a:avLst/>
              </a:prstGeom>
              <a:noFill/>
              <a:ln>
                <a:noFill/>
              </a:ln>
            </p:spPr>
            <p:txBody>
              <a:bodyPr wrap="none" lIns="0" tIns="0" rIns="0" bIns="0" anchor="t" anchorCtr="0">
                <a:spAutoFit/>
              </a:bodyPr>
              <a:lstStyle/>
              <a:p>
                <a:pPr algn="l" marL="85280" indent="-85280">
                  <a:lnSpc>
                    <a:spcPts val="1725"/>
                  </a:lnSpc>
                  <a:buClr>
                    <a:srgbClr val="473633"/>
                  </a:buClr>
                  <a:buSzTx/>
                  <a:buFontTx/>
                  <a:buChar char="•"/>
                </a:pPr>
                <a:r>
                  <a:rPr lang="zh-CN" sz="790" dirty="0">
                    <a:solidFill>
                      <a:srgbClr val="473633"/>
                    </a:solidFill>
                    <a:latin typeface="+mn-lt"/>
                    <a:ea typeface="+mn-ea"/>
                    <a:cs typeface="+mn-cs"/>
                  </a:rPr>
                  <a:t>流失识别​​</a:t>
                </a:r>
              </a:p>
              <a:p>
                <a:pPr algn="l" marL="85280" indent="-85280">
                  <a:lnSpc>
                    <a:spcPts val="1725"/>
                  </a:lnSpc>
                  <a:buClr>
                    <a:srgbClr val="473633"/>
                  </a:buClr>
                  <a:buSzTx/>
                  <a:buFontTx/>
                  <a:buChar char="•"/>
                </a:pPr>
                <a:r>
                  <a:rPr lang="zh-CN" sz="790" dirty="0">
                    <a:solidFill>
                      <a:srgbClr val="473633"/>
                    </a:solidFill>
                    <a:latin typeface="+mn-lt"/>
                    <a:ea typeface="+mn-ea"/>
                    <a:cs typeface="+mn-cs"/>
                  </a:rPr>
                  <a:t>原因分析​​</a:t>
                </a:r>
              </a:p>
              <a:p>
                <a:pPr algn="l" marL="85280" indent="-85280">
                  <a:lnSpc>
                    <a:spcPts val="1725"/>
                  </a:lnSpc>
                  <a:buClr>
                    <a:srgbClr val="473633"/>
                  </a:buClr>
                  <a:buSzTx/>
                  <a:buFontTx/>
                  <a:buChar char="•"/>
                </a:pPr>
                <a:r>
                  <a:rPr lang="zh-CN" sz="790" dirty="0">
                    <a:solidFill>
                      <a:srgbClr val="473633"/>
                    </a:solidFill>
                    <a:latin typeface="+mn-lt"/>
                    <a:ea typeface="+mn-ea"/>
                    <a:cs typeface="+mn-cs"/>
                  </a:rPr>
                  <a:t>定向触达​​</a:t>
                </a:r>
              </a:p>
              <a:p>
                <a:pPr algn="l" marL="85280" indent="-85280">
                  <a:lnSpc>
                    <a:spcPts val="1725"/>
                  </a:lnSpc>
                  <a:buClr>
                    <a:srgbClr val="473633"/>
                  </a:buClr>
                  <a:buSzTx/>
                  <a:buFontTx/>
                  <a:buChar char="•"/>
                </a:pPr>
                <a:r>
                  <a:rPr lang="zh-CN" sz="790" dirty="0">
                    <a:solidFill>
                      <a:srgbClr val="473633"/>
                    </a:solidFill>
                    <a:latin typeface="+mn-lt"/>
                    <a:ea typeface="+mn-ea"/>
                    <a:cs typeface="+mn-cs"/>
                  </a:rPr>
                  <a:t>召回激励​​</a:t>
                </a:r>
              </a:p>
            </p:txBody>
          </p:sp>
        </p:grpSp>
        <p:sp>
          <p:nvSpPr>
            <p:cNvPr id="98" name="Freeform 98"/>
            <p:cNvSpPr/>
            <p:nvPr/>
          </p:nvSpPr>
          <p:spPr>
            <a:xfrm>
              <a:off x="4000500" y="3981450"/>
              <a:ext cx="3581400" cy="190500"/>
            </a:xfrm>
            <a:custGeom>
              <a:avLst/>
              <a:gdLst/>
              <a:ahLst/>
              <a:cxnLst/>
              <a:rect l="l" t="t" r="r" b="b"/>
              <a:pathLst>
                <a:path w="3581400" h="190500">
                  <a:moveTo>
                    <a:pt x="3581400" y="0"/>
                  </a:moveTo>
                  <a:lnTo>
                    <a:pt x="3581400" y="190500"/>
                  </a:lnTo>
                  <a:lnTo>
                    <a:pt x="0" y="190500"/>
                  </a:lnTo>
                  <a:lnTo>
                    <a:pt x="0" y="57150"/>
                  </a:lnTo>
                </a:path>
              </a:pathLst>
            </a:custGeom>
            <a:noFill/>
            <a:ln w="11430">
              <a:solidFill>
                <a:srgbClr val="D44B2F"/>
              </a:solidFill>
              <a:custDash>
                <a:ds d="333333" sp="250000"/>
              </a:custDash>
              <a:tailEnd type="triangle" w="lg" len="lg"/>
            </a:ln>
          </p:spPr>
        </p:sp>
      </p:grpSp>
      <p:grpSp>
        <p:nvGrpSpPr>
          <p:cNvPr id="170" name="migration-panel"/>
          <p:cNvGrpSpPr/>
          <p:nvPr/>
        </p:nvGrpSpPr>
        <p:grpSpPr>
          <a:xfrm>
            <a:off x="8153400" y="819150"/>
            <a:ext cx="3771900" cy="3524250"/>
            <a:chOff x="8153400" y="819150"/>
            <a:chExt cx="3771900" cy="3524250"/>
          </a:xfrm>
        </p:grpSpPr>
        <p:sp>
          <p:nvSpPr>
            <p:cNvPr id="100" name="Rectangle 100"/>
            <p:cNvSpPr/>
            <p:nvPr/>
          </p:nvSpPr>
          <p:spPr>
            <a:xfrm>
              <a:off x="8153400" y="952500"/>
              <a:ext cx="3771900" cy="3390900"/>
            </a:xfrm>
            <a:prstGeom prst="roundRect">
              <a:avLst>
                <a:gd name="adj" fmla="val 2247"/>
              </a:avLst>
            </a:prstGeom>
            <a:solidFill>
              <a:srgbClr val="FFFFFF"/>
            </a:solidFill>
            <a:ln w="9525">
              <a:solidFill>
                <a:srgbClr val="F7D1C9"/>
              </a:solidFill>
            </a:ln>
          </p:spPr>
        </p:sp>
        <p:sp>
          <p:nvSpPr>
            <p:cNvPr id="101" name="Rectangle 101"/>
            <p:cNvSpPr/>
            <p:nvPr/>
          </p:nvSpPr>
          <p:spPr>
            <a:xfrm>
              <a:off x="8839200" y="819150"/>
              <a:ext cx="2400300" cy="266700"/>
            </a:xfrm>
            <a:prstGeom prst="roundRect">
              <a:avLst>
                <a:gd name="adj" fmla="val 21429"/>
              </a:avLst>
            </a:prstGeom>
            <a:solidFill>
              <a:srgbClr val="6E1604"/>
            </a:solidFill>
            <a:ln>
              <a:noFill/>
            </a:ln>
          </p:spPr>
        </p:sp>
        <p:sp>
          <p:nvSpPr>
            <p:cNvPr id="102" name="TextBox 102"/>
            <p:cNvSpPr txBox="1"/>
            <p:nvPr/>
          </p:nvSpPr>
          <p:spPr>
            <a:xfrm>
              <a:off x="9145095" y="896302"/>
              <a:ext cx="178851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客户迁移矩阵（期内迁移）​</a:t>
              </a:r>
            </a:p>
          </p:txBody>
        </p:sp>
        <p:sp>
          <p:nvSpPr>
            <p:cNvPr id="103" name="TextBox 103"/>
            <p:cNvSpPr txBox="1"/>
            <p:nvPr/>
          </p:nvSpPr>
          <p:spPr>
            <a:xfrm>
              <a:off x="8907691" y="148804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战略客户</a:t>
              </a:r>
            </a:p>
          </p:txBody>
        </p:sp>
        <p:sp>
          <p:nvSpPr>
            <p:cNvPr id="104" name="TextBox 104"/>
            <p:cNvSpPr txBox="1"/>
            <p:nvPr/>
          </p:nvSpPr>
          <p:spPr>
            <a:xfrm>
              <a:off x="9679216" y="148804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重点客户</a:t>
              </a:r>
            </a:p>
          </p:txBody>
        </p:sp>
        <p:sp>
          <p:nvSpPr>
            <p:cNvPr id="105" name="TextBox 105"/>
            <p:cNvSpPr txBox="1"/>
            <p:nvPr/>
          </p:nvSpPr>
          <p:spPr>
            <a:xfrm>
              <a:off x="10450741" y="148804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成长客户</a:t>
              </a:r>
            </a:p>
          </p:txBody>
        </p:sp>
        <p:sp>
          <p:nvSpPr>
            <p:cNvPr id="106" name="TextBox 106"/>
            <p:cNvSpPr txBox="1"/>
            <p:nvPr/>
          </p:nvSpPr>
          <p:spPr>
            <a:xfrm>
              <a:off x="11222266" y="148804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基础客户</a:t>
              </a:r>
            </a:p>
          </p:txBody>
        </p:sp>
        <p:sp>
          <p:nvSpPr>
            <p:cNvPr id="107" name="TextBox 107"/>
            <p:cNvSpPr txBox="1"/>
            <p:nvPr/>
          </p:nvSpPr>
          <p:spPr>
            <a:xfrm>
              <a:off x="8202841" y="192619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战略客户</a:t>
              </a:r>
            </a:p>
          </p:txBody>
        </p:sp>
        <p:sp>
          <p:nvSpPr>
            <p:cNvPr id="108" name="TextBox 108"/>
            <p:cNvSpPr txBox="1"/>
            <p:nvPr/>
          </p:nvSpPr>
          <p:spPr>
            <a:xfrm>
              <a:off x="8202841" y="253579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重点客户</a:t>
              </a:r>
            </a:p>
          </p:txBody>
        </p:sp>
        <p:sp>
          <p:nvSpPr>
            <p:cNvPr id="109" name="TextBox 109"/>
            <p:cNvSpPr txBox="1"/>
            <p:nvPr/>
          </p:nvSpPr>
          <p:spPr>
            <a:xfrm>
              <a:off x="8202841" y="314539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成长客户</a:t>
              </a:r>
            </a:p>
          </p:txBody>
        </p:sp>
        <p:sp>
          <p:nvSpPr>
            <p:cNvPr id="110" name="TextBox 110"/>
            <p:cNvSpPr txBox="1"/>
            <p:nvPr/>
          </p:nvSpPr>
          <p:spPr>
            <a:xfrm>
              <a:off x="8202841" y="3754993"/>
              <a:ext cx="472618" cy="169069"/>
            </a:xfrm>
            <a:prstGeom prst="rect">
              <a:avLst/>
            </a:prstGeom>
            <a:noFill/>
            <a:ln>
              <a:noFill/>
            </a:ln>
          </p:spPr>
          <p:txBody>
            <a:bodyPr wrap="none" lIns="0" tIns="0" rIns="0" bIns="0" anchor="t" anchorCtr="0">
              <a:spAutoFit/>
            </a:bodyPr>
            <a:lstStyle/>
            <a:p>
              <a:pPr algn="ctr"/>
              <a:r>
                <a:rPr lang="zh-CN" sz="860" b="1" dirty="0">
                  <a:solidFill>
                    <a:srgbClr val="6E1604"/>
                  </a:solidFill>
                  <a:latin typeface="+mn-lt"/>
                  <a:ea typeface="+mn-ea"/>
                  <a:cs typeface="+mn-cs"/>
                </a:rPr>
                <a:t>基础客户</a:t>
              </a:r>
            </a:p>
          </p:txBody>
        </p:sp>
        <p:sp>
          <p:nvSpPr>
            <p:cNvPr id="111" name="Rectangle 111"/>
            <p:cNvSpPr/>
            <p:nvPr/>
          </p:nvSpPr>
          <p:spPr>
            <a:xfrm>
              <a:off x="8763000" y="1676400"/>
              <a:ext cx="3086100" cy="2438400"/>
            </a:xfrm>
            <a:prstGeom prst="rect">
              <a:avLst/>
            </a:prstGeom>
            <a:solidFill>
              <a:srgbClr val="F7FAFE"/>
            </a:solidFill>
            <a:ln w="9525">
              <a:solidFill>
                <a:srgbClr val="F7D1C9"/>
              </a:solidFill>
            </a:ln>
          </p:spPr>
        </p:sp>
        <p:sp>
          <p:nvSpPr>
            <p:cNvPr id="112" name="Line 112"/>
            <p:cNvSpPr/>
            <p:nvPr/>
          </p:nvSpPr>
          <p:spPr>
            <a:xfrm>
              <a:off x="9534525" y="1676400"/>
              <a:ext cx="9525" cy="2438400"/>
            </a:xfrm>
            <a:custGeom>
              <a:avLst/>
              <a:gdLst/>
              <a:ahLst/>
              <a:cxnLst/>
              <a:rect l="l" t="t" r="r" b="b"/>
              <a:pathLst>
                <a:path w="9525" h="2438400">
                  <a:moveTo>
                    <a:pt x="0" y="0"/>
                  </a:moveTo>
                  <a:lnTo>
                    <a:pt x="0" y="2438400"/>
                  </a:lnTo>
                </a:path>
              </a:pathLst>
            </a:custGeom>
            <a:noFill/>
            <a:ln w="9525">
              <a:solidFill>
                <a:srgbClr val="DCE6F8"/>
              </a:solidFill>
            </a:ln>
          </p:spPr>
        </p:sp>
        <p:sp>
          <p:nvSpPr>
            <p:cNvPr id="113" name="Line 113"/>
            <p:cNvSpPr/>
            <p:nvPr/>
          </p:nvSpPr>
          <p:spPr>
            <a:xfrm>
              <a:off x="10306050" y="1676400"/>
              <a:ext cx="9525" cy="2438400"/>
            </a:xfrm>
            <a:custGeom>
              <a:avLst/>
              <a:gdLst/>
              <a:ahLst/>
              <a:cxnLst/>
              <a:rect l="l" t="t" r="r" b="b"/>
              <a:pathLst>
                <a:path w="9525" h="2438400">
                  <a:moveTo>
                    <a:pt x="0" y="0"/>
                  </a:moveTo>
                  <a:lnTo>
                    <a:pt x="0" y="2438400"/>
                  </a:lnTo>
                </a:path>
              </a:pathLst>
            </a:custGeom>
            <a:noFill/>
            <a:ln w="9525">
              <a:solidFill>
                <a:srgbClr val="DCE6F8"/>
              </a:solidFill>
            </a:ln>
          </p:spPr>
        </p:sp>
        <p:sp>
          <p:nvSpPr>
            <p:cNvPr id="114" name="Line 114"/>
            <p:cNvSpPr/>
            <p:nvPr/>
          </p:nvSpPr>
          <p:spPr>
            <a:xfrm>
              <a:off x="11077575" y="1676400"/>
              <a:ext cx="9525" cy="2438400"/>
            </a:xfrm>
            <a:custGeom>
              <a:avLst/>
              <a:gdLst/>
              <a:ahLst/>
              <a:cxnLst/>
              <a:rect l="l" t="t" r="r" b="b"/>
              <a:pathLst>
                <a:path w="9525" h="2438400">
                  <a:moveTo>
                    <a:pt x="0" y="0"/>
                  </a:moveTo>
                  <a:lnTo>
                    <a:pt x="0" y="2438400"/>
                  </a:lnTo>
                </a:path>
              </a:pathLst>
            </a:custGeom>
            <a:noFill/>
            <a:ln w="9525">
              <a:solidFill>
                <a:srgbClr val="DCE6F8"/>
              </a:solidFill>
            </a:ln>
          </p:spPr>
        </p:sp>
        <p:sp>
          <p:nvSpPr>
            <p:cNvPr id="115" name="Line 115"/>
            <p:cNvSpPr/>
            <p:nvPr/>
          </p:nvSpPr>
          <p:spPr>
            <a:xfrm>
              <a:off x="8763000" y="2286000"/>
              <a:ext cx="3086100" cy="9525"/>
            </a:xfrm>
            <a:custGeom>
              <a:avLst/>
              <a:gdLst/>
              <a:ahLst/>
              <a:cxnLst/>
              <a:rect l="l" t="t" r="r" b="b"/>
              <a:pathLst>
                <a:path w="3086100" h="9525">
                  <a:moveTo>
                    <a:pt x="0" y="0"/>
                  </a:moveTo>
                  <a:lnTo>
                    <a:pt x="3086100" y="0"/>
                  </a:lnTo>
                </a:path>
              </a:pathLst>
            </a:custGeom>
            <a:noFill/>
            <a:ln w="9525">
              <a:solidFill>
                <a:srgbClr val="DCE6F8"/>
              </a:solidFill>
            </a:ln>
          </p:spPr>
        </p:sp>
        <p:sp>
          <p:nvSpPr>
            <p:cNvPr id="116" name="Line 116"/>
            <p:cNvSpPr/>
            <p:nvPr/>
          </p:nvSpPr>
          <p:spPr>
            <a:xfrm>
              <a:off x="8763000" y="2895600"/>
              <a:ext cx="3086100" cy="9525"/>
            </a:xfrm>
            <a:custGeom>
              <a:avLst/>
              <a:gdLst/>
              <a:ahLst/>
              <a:cxnLst/>
              <a:rect l="l" t="t" r="r" b="b"/>
              <a:pathLst>
                <a:path w="3086100" h="9525">
                  <a:moveTo>
                    <a:pt x="0" y="0"/>
                  </a:moveTo>
                  <a:lnTo>
                    <a:pt x="3086100" y="0"/>
                  </a:lnTo>
                </a:path>
              </a:pathLst>
            </a:custGeom>
            <a:noFill/>
            <a:ln w="9525">
              <a:solidFill>
                <a:srgbClr val="DCE6F8"/>
              </a:solidFill>
            </a:ln>
          </p:spPr>
        </p:sp>
        <p:sp>
          <p:nvSpPr>
            <p:cNvPr id="117" name="Line 117"/>
            <p:cNvSpPr/>
            <p:nvPr/>
          </p:nvSpPr>
          <p:spPr>
            <a:xfrm>
              <a:off x="8763000" y="3505200"/>
              <a:ext cx="3086100" cy="9525"/>
            </a:xfrm>
            <a:custGeom>
              <a:avLst/>
              <a:gdLst/>
              <a:ahLst/>
              <a:cxnLst/>
              <a:rect l="l" t="t" r="r" b="b"/>
              <a:pathLst>
                <a:path w="3086100" h="9525">
                  <a:moveTo>
                    <a:pt x="0" y="0"/>
                  </a:moveTo>
                  <a:lnTo>
                    <a:pt x="3086100" y="0"/>
                  </a:lnTo>
                </a:path>
              </a:pathLst>
            </a:custGeom>
            <a:noFill/>
            <a:ln w="9525">
              <a:solidFill>
                <a:srgbClr val="DCE6F8"/>
              </a:solidFill>
            </a:ln>
          </p:spPr>
        </p:sp>
        <p:grpSp>
          <p:nvGrpSpPr>
            <p:cNvPr id="130" name="mig-row-1"/>
            <p:cNvGrpSpPr/>
            <p:nvPr/>
          </p:nvGrpSpPr>
          <p:grpSpPr>
            <a:xfrm>
              <a:off x="8881708" y="1832610"/>
              <a:ext cx="2859125" cy="313610"/>
              <a:chOff x="8881708" y="1832610"/>
              <a:chExt cx="2859125" cy="313610"/>
            </a:xfrm>
          </p:grpSpPr>
          <p:sp>
            <p:nvSpPr>
              <p:cNvPr id="118" name="TextBox 118"/>
              <p:cNvSpPr txBox="1"/>
              <p:nvPr/>
            </p:nvSpPr>
            <p:spPr>
              <a:xfrm>
                <a:off x="8881708" y="1832610"/>
                <a:ext cx="105484" cy="234696"/>
              </a:xfrm>
              <a:prstGeom prst="rect">
                <a:avLst/>
              </a:prstGeom>
              <a:noFill/>
              <a:ln>
                <a:noFill/>
              </a:ln>
            </p:spPr>
            <p:txBody>
              <a:bodyPr wrap="none" lIns="0" tIns="0" rIns="0" bIns="0" anchor="t" anchorCtr="0">
                <a:spAutoFit/>
              </a:bodyPr>
              <a:lstStyle/>
              <a:p>
                <a:pPr algn="ctr"/>
                <a:r>
                  <a:rPr lang="zh-CN" sz="1200" b="1" dirty="0">
                    <a:solidFill>
                      <a:srgbClr val="B92102"/>
                    </a:solidFill>
                    <a:latin typeface="+mn-lt"/>
                    <a:ea typeface="+mn-ea"/>
                    <a:cs typeface="+mn-cs"/>
                  </a:rPr>
                  <a:t>↑</a:t>
                </a:r>
              </a:p>
            </p:txBody>
          </p:sp>
          <p:sp>
            <p:nvSpPr>
              <p:cNvPr id="119" name="TextBox 119"/>
              <p:cNvSpPr txBox="1"/>
              <p:nvPr/>
            </p:nvSpPr>
            <p:spPr>
              <a:xfrm>
                <a:off x="9043988" y="18485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升级</a:t>
                </a:r>
                <a:br/>
                <a:r>
                  <a:rPr lang="en-US" sz="790" dirty="0">
                    <a:solidFill>
                      <a:srgbClr val="473633"/>
                    </a:solidFill>
                    <a:latin typeface="+mn-lt"/>
                    <a:ea typeface="+mn-ea"/>
                    <a:cs typeface="+mn-cs"/>
                  </a:rPr>
                  <a:t>XX%​​​</a:t>
                </a:r>
              </a:p>
            </p:txBody>
          </p:sp>
          <p:sp>
            <p:nvSpPr>
              <p:cNvPr id="120" name="Ellipse 120"/>
              <p:cNvSpPr/>
              <p:nvPr/>
            </p:nvSpPr>
            <p:spPr>
              <a:xfrm>
                <a:off x="9648825" y="1876425"/>
                <a:ext cx="114300" cy="114300"/>
              </a:xfrm>
              <a:prstGeom prst="ellipse">
                <a:avLst/>
              </a:prstGeom>
              <a:noFill/>
              <a:ln w="14288">
                <a:solidFill>
                  <a:srgbClr val="6B7280"/>
                </a:solidFill>
              </a:ln>
            </p:spPr>
          </p:sp>
          <p:sp>
            <p:nvSpPr>
              <p:cNvPr id="121" name="Line 121"/>
              <p:cNvSpPr/>
              <p:nvPr/>
            </p:nvSpPr>
            <p:spPr>
              <a:xfrm>
                <a:off x="9667875" y="1933575"/>
                <a:ext cx="76200" cy="9525"/>
              </a:xfrm>
              <a:custGeom>
                <a:avLst/>
                <a:gdLst/>
                <a:ahLst/>
                <a:cxnLst/>
                <a:rect l="l" t="t" r="r" b="b"/>
                <a:pathLst>
                  <a:path w="76200" h="9525">
                    <a:moveTo>
                      <a:pt x="0" y="0"/>
                    </a:moveTo>
                    <a:lnTo>
                      <a:pt x="76200" y="0"/>
                    </a:lnTo>
                  </a:path>
                </a:pathLst>
              </a:custGeom>
              <a:noFill/>
              <a:ln w="14288">
                <a:solidFill>
                  <a:srgbClr val="6B7280"/>
                </a:solidFill>
              </a:ln>
            </p:spPr>
          </p:sp>
          <p:sp>
            <p:nvSpPr>
              <p:cNvPr id="122" name="TextBox 122"/>
              <p:cNvSpPr txBox="1"/>
              <p:nvPr/>
            </p:nvSpPr>
            <p:spPr>
              <a:xfrm>
                <a:off x="9815512" y="18485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稳定</a:t>
                </a:r>
                <a:br/>
                <a:r>
                  <a:rPr lang="en-US" sz="790" dirty="0">
                    <a:solidFill>
                      <a:srgbClr val="473633"/>
                    </a:solidFill>
                    <a:latin typeface="+mn-lt"/>
                    <a:ea typeface="+mn-ea"/>
                    <a:cs typeface="+mn-cs"/>
                  </a:rPr>
                  <a:t>XX%​​​</a:t>
                </a:r>
              </a:p>
            </p:txBody>
          </p:sp>
          <p:sp>
            <p:nvSpPr>
              <p:cNvPr id="123" name="TextBox 123"/>
              <p:cNvSpPr txBox="1"/>
              <p:nvPr/>
            </p:nvSpPr>
            <p:spPr>
              <a:xfrm>
                <a:off x="10424758" y="1832610"/>
                <a:ext cx="105484" cy="234696"/>
              </a:xfrm>
              <a:prstGeom prst="rect">
                <a:avLst/>
              </a:prstGeom>
              <a:noFill/>
              <a:ln>
                <a:noFill/>
              </a:ln>
            </p:spPr>
            <p:txBody>
              <a:bodyPr wrap="none" lIns="0" tIns="0" rIns="0" bIns="0" anchor="t" anchorCtr="0">
                <a:spAutoFit/>
              </a:bodyPr>
              <a:lstStyle/>
              <a:p>
                <a:pPr algn="ctr"/>
                <a:r>
                  <a:rPr lang="zh-CN" sz="1200" b="1" dirty="0">
                    <a:solidFill>
                      <a:srgbClr val="D44B2F"/>
                    </a:solidFill>
                    <a:latin typeface="+mn-lt"/>
                    <a:ea typeface="+mn-ea"/>
                    <a:cs typeface="+mn-cs"/>
                  </a:rPr>
                  <a:t>↓</a:t>
                </a:r>
              </a:p>
            </p:txBody>
          </p:sp>
          <p:sp>
            <p:nvSpPr>
              <p:cNvPr id="124" name="TextBox 124"/>
              <p:cNvSpPr txBox="1"/>
              <p:nvPr/>
            </p:nvSpPr>
            <p:spPr>
              <a:xfrm>
                <a:off x="10587038" y="18485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降级</a:t>
                </a:r>
                <a:br/>
                <a:r>
                  <a:rPr lang="en-US" sz="790" dirty="0">
                    <a:solidFill>
                      <a:srgbClr val="473633"/>
                    </a:solidFill>
                    <a:latin typeface="+mn-lt"/>
                    <a:ea typeface="+mn-ea"/>
                    <a:cs typeface="+mn-cs"/>
                  </a:rPr>
                  <a:t>XX%​​​</a:t>
                </a:r>
              </a:p>
            </p:txBody>
          </p:sp>
          <p:grpSp>
            <p:nvGrpSpPr>
              <p:cNvPr id="128" name="Group 128"/>
              <p:cNvGrpSpPr/>
              <p:nvPr/>
            </p:nvGrpSpPr>
            <p:grpSpPr>
              <a:xfrm>
                <a:off x="11173940" y="1862673"/>
                <a:ext cx="112066" cy="96280"/>
                <a:chOff x="11173940" y="1862673"/>
                <a:chExt cx="112066" cy="96280"/>
              </a:xfrm>
            </p:grpSpPr>
            <p:sp>
              <p:nvSpPr>
                <p:cNvPr id="125" name="Freeform 125"/>
                <p:cNvSpPr/>
                <p:nvPr/>
              </p:nvSpPr>
              <p:spPr>
                <a:xfrm>
                  <a:off x="11229975" y="1897856"/>
                  <a:ext cx="9525" cy="22225"/>
                </a:xfrm>
                <a:custGeom>
                  <a:avLst/>
                  <a:gdLst/>
                  <a:ahLst/>
                  <a:cxnLst/>
                  <a:rect l="l" t="t" r="r" b="b"/>
                  <a:pathLst>
                    <a:path w="9525" h="22225">
                      <a:moveTo>
                        <a:pt x="0" y="0"/>
                      </a:moveTo>
                      <a:lnTo>
                        <a:pt x="0" y="22225"/>
                      </a:lnTo>
                    </a:path>
                  </a:pathLst>
                </a:custGeom>
                <a:noFill/>
                <a:ln w="11112">
                  <a:solidFill>
                    <a:srgbClr val="6B7280"/>
                  </a:solidFill>
                </a:ln>
              </p:spPr>
            </p:sp>
            <p:sp>
              <p:nvSpPr>
                <p:cNvPr id="126" name="Freeform 126"/>
                <p:cNvSpPr/>
                <p:nvPr/>
              </p:nvSpPr>
              <p:spPr>
                <a:xfrm>
                  <a:off x="11173940" y="1862673"/>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6B7280"/>
                  </a:solidFill>
                </a:ln>
              </p:spPr>
            </p:sp>
            <p:sp>
              <p:nvSpPr>
                <p:cNvPr id="127" name="Freeform 127"/>
                <p:cNvSpPr/>
                <p:nvPr/>
              </p:nvSpPr>
              <p:spPr>
                <a:xfrm>
                  <a:off x="11229975" y="1936750"/>
                  <a:ext cx="9525" cy="9525"/>
                </a:xfrm>
                <a:custGeom>
                  <a:avLst/>
                  <a:gdLst/>
                  <a:ahLst/>
                  <a:cxnLst/>
                  <a:rect l="l" t="t" r="r" b="b"/>
                  <a:pathLst>
                    <a:path w="9525" h="9525">
                      <a:moveTo>
                        <a:pt x="0" y="0"/>
                      </a:moveTo>
                      <a:lnTo>
                        <a:pt x="56" y="0"/>
                      </a:lnTo>
                    </a:path>
                  </a:pathLst>
                </a:custGeom>
                <a:noFill/>
                <a:ln w="11112">
                  <a:solidFill>
                    <a:srgbClr val="6B7280"/>
                  </a:solidFill>
                </a:ln>
              </p:spPr>
            </p:sp>
          </p:grpSp>
          <p:sp>
            <p:nvSpPr>
              <p:cNvPr id="129" name="TextBox 129"/>
              <p:cNvSpPr txBox="1"/>
              <p:nvPr/>
            </p:nvSpPr>
            <p:spPr>
              <a:xfrm>
                <a:off x="11329988" y="1848564"/>
                <a:ext cx="41084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流失预警</a:t>
                </a:r>
                <a:br/>
                <a:r>
                  <a:rPr lang="en-US" sz="790" dirty="0">
                    <a:solidFill>
                      <a:srgbClr val="473633"/>
                    </a:solidFill>
                    <a:latin typeface="+mn-lt"/>
                    <a:ea typeface="+mn-ea"/>
                    <a:cs typeface="+mn-cs"/>
                  </a:rPr>
                  <a:t>XX%​​​</a:t>
                </a:r>
              </a:p>
            </p:txBody>
          </p:sp>
        </p:grpSp>
        <p:grpSp>
          <p:nvGrpSpPr>
            <p:cNvPr id="143" name="mig-row-2"/>
            <p:cNvGrpSpPr/>
            <p:nvPr/>
          </p:nvGrpSpPr>
          <p:grpSpPr>
            <a:xfrm>
              <a:off x="8881708" y="2442210"/>
              <a:ext cx="2859125" cy="313610"/>
              <a:chOff x="8881708" y="2442210"/>
              <a:chExt cx="2859125" cy="313610"/>
            </a:xfrm>
          </p:grpSpPr>
          <p:sp>
            <p:nvSpPr>
              <p:cNvPr id="131" name="TextBox 131"/>
              <p:cNvSpPr txBox="1"/>
              <p:nvPr/>
            </p:nvSpPr>
            <p:spPr>
              <a:xfrm>
                <a:off x="8881708" y="2442210"/>
                <a:ext cx="105484" cy="234696"/>
              </a:xfrm>
              <a:prstGeom prst="rect">
                <a:avLst/>
              </a:prstGeom>
              <a:noFill/>
              <a:ln>
                <a:noFill/>
              </a:ln>
            </p:spPr>
            <p:txBody>
              <a:bodyPr wrap="none" lIns="0" tIns="0" rIns="0" bIns="0" anchor="t" anchorCtr="0">
                <a:spAutoFit/>
              </a:bodyPr>
              <a:lstStyle/>
              <a:p>
                <a:pPr algn="ctr"/>
                <a:r>
                  <a:rPr lang="zh-CN" sz="1200" b="1" dirty="0">
                    <a:solidFill>
                      <a:srgbClr val="B92102"/>
                    </a:solidFill>
                    <a:latin typeface="+mn-lt"/>
                    <a:ea typeface="+mn-ea"/>
                    <a:cs typeface="+mn-cs"/>
                  </a:rPr>
                  <a:t>↑</a:t>
                </a:r>
              </a:p>
            </p:txBody>
          </p:sp>
          <p:sp>
            <p:nvSpPr>
              <p:cNvPr id="132" name="TextBox 132"/>
              <p:cNvSpPr txBox="1"/>
              <p:nvPr/>
            </p:nvSpPr>
            <p:spPr>
              <a:xfrm>
                <a:off x="9043988" y="24581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升级</a:t>
                </a:r>
                <a:br/>
                <a:r>
                  <a:rPr lang="en-US" sz="790" dirty="0">
                    <a:solidFill>
                      <a:srgbClr val="473633"/>
                    </a:solidFill>
                    <a:latin typeface="+mn-lt"/>
                    <a:ea typeface="+mn-ea"/>
                    <a:cs typeface="+mn-cs"/>
                  </a:rPr>
                  <a:t>XX%​​​</a:t>
                </a:r>
              </a:p>
            </p:txBody>
          </p:sp>
          <p:sp>
            <p:nvSpPr>
              <p:cNvPr id="133" name="Ellipse 133"/>
              <p:cNvSpPr/>
              <p:nvPr/>
            </p:nvSpPr>
            <p:spPr>
              <a:xfrm>
                <a:off x="9648825" y="2486025"/>
                <a:ext cx="114300" cy="114300"/>
              </a:xfrm>
              <a:prstGeom prst="ellipse">
                <a:avLst/>
              </a:prstGeom>
              <a:noFill/>
              <a:ln w="14288">
                <a:solidFill>
                  <a:srgbClr val="6B7280"/>
                </a:solidFill>
              </a:ln>
            </p:spPr>
          </p:sp>
          <p:sp>
            <p:nvSpPr>
              <p:cNvPr id="134" name="Line 134"/>
              <p:cNvSpPr/>
              <p:nvPr/>
            </p:nvSpPr>
            <p:spPr>
              <a:xfrm>
                <a:off x="9667875" y="2543175"/>
                <a:ext cx="76200" cy="9525"/>
              </a:xfrm>
              <a:custGeom>
                <a:avLst/>
                <a:gdLst/>
                <a:ahLst/>
                <a:cxnLst/>
                <a:rect l="l" t="t" r="r" b="b"/>
                <a:pathLst>
                  <a:path w="76200" h="9525">
                    <a:moveTo>
                      <a:pt x="0" y="0"/>
                    </a:moveTo>
                    <a:lnTo>
                      <a:pt x="76200" y="0"/>
                    </a:lnTo>
                  </a:path>
                </a:pathLst>
              </a:custGeom>
              <a:noFill/>
              <a:ln w="14288">
                <a:solidFill>
                  <a:srgbClr val="6B7280"/>
                </a:solidFill>
              </a:ln>
            </p:spPr>
          </p:sp>
          <p:sp>
            <p:nvSpPr>
              <p:cNvPr id="135" name="TextBox 135"/>
              <p:cNvSpPr txBox="1"/>
              <p:nvPr/>
            </p:nvSpPr>
            <p:spPr>
              <a:xfrm>
                <a:off x="9815512" y="24581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稳定</a:t>
                </a:r>
                <a:br/>
                <a:r>
                  <a:rPr lang="en-US" sz="790" dirty="0">
                    <a:solidFill>
                      <a:srgbClr val="473633"/>
                    </a:solidFill>
                    <a:latin typeface="+mn-lt"/>
                    <a:ea typeface="+mn-ea"/>
                    <a:cs typeface="+mn-cs"/>
                  </a:rPr>
                  <a:t>XX%​​​</a:t>
                </a:r>
              </a:p>
            </p:txBody>
          </p:sp>
          <p:sp>
            <p:nvSpPr>
              <p:cNvPr id="136" name="TextBox 136"/>
              <p:cNvSpPr txBox="1"/>
              <p:nvPr/>
            </p:nvSpPr>
            <p:spPr>
              <a:xfrm>
                <a:off x="10424758" y="2442210"/>
                <a:ext cx="105484" cy="234696"/>
              </a:xfrm>
              <a:prstGeom prst="rect">
                <a:avLst/>
              </a:prstGeom>
              <a:noFill/>
              <a:ln>
                <a:noFill/>
              </a:ln>
            </p:spPr>
            <p:txBody>
              <a:bodyPr wrap="none" lIns="0" tIns="0" rIns="0" bIns="0" anchor="t" anchorCtr="0">
                <a:spAutoFit/>
              </a:bodyPr>
              <a:lstStyle/>
              <a:p>
                <a:pPr algn="ctr"/>
                <a:r>
                  <a:rPr lang="zh-CN" sz="1200" b="1" dirty="0">
                    <a:solidFill>
                      <a:srgbClr val="D44B2F"/>
                    </a:solidFill>
                    <a:latin typeface="+mn-lt"/>
                    <a:ea typeface="+mn-ea"/>
                    <a:cs typeface="+mn-cs"/>
                  </a:rPr>
                  <a:t>↓</a:t>
                </a:r>
              </a:p>
            </p:txBody>
          </p:sp>
          <p:sp>
            <p:nvSpPr>
              <p:cNvPr id="137" name="TextBox 137"/>
              <p:cNvSpPr txBox="1"/>
              <p:nvPr/>
            </p:nvSpPr>
            <p:spPr>
              <a:xfrm>
                <a:off x="10587038" y="24581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降级</a:t>
                </a:r>
                <a:br/>
                <a:r>
                  <a:rPr lang="en-US" sz="790" dirty="0">
                    <a:solidFill>
                      <a:srgbClr val="473633"/>
                    </a:solidFill>
                    <a:latin typeface="+mn-lt"/>
                    <a:ea typeface="+mn-ea"/>
                    <a:cs typeface="+mn-cs"/>
                  </a:rPr>
                  <a:t>XX%​​​</a:t>
                </a:r>
              </a:p>
            </p:txBody>
          </p:sp>
          <p:grpSp>
            <p:nvGrpSpPr>
              <p:cNvPr id="141" name="Group 141"/>
              <p:cNvGrpSpPr/>
              <p:nvPr/>
            </p:nvGrpSpPr>
            <p:grpSpPr>
              <a:xfrm>
                <a:off x="11173940" y="2472273"/>
                <a:ext cx="112066" cy="96280"/>
                <a:chOff x="11173940" y="2472273"/>
                <a:chExt cx="112066" cy="96280"/>
              </a:xfrm>
            </p:grpSpPr>
            <p:sp>
              <p:nvSpPr>
                <p:cNvPr id="138" name="Freeform 138"/>
                <p:cNvSpPr/>
                <p:nvPr/>
              </p:nvSpPr>
              <p:spPr>
                <a:xfrm>
                  <a:off x="11229975" y="2507456"/>
                  <a:ext cx="9525" cy="22225"/>
                </a:xfrm>
                <a:custGeom>
                  <a:avLst/>
                  <a:gdLst/>
                  <a:ahLst/>
                  <a:cxnLst/>
                  <a:rect l="l" t="t" r="r" b="b"/>
                  <a:pathLst>
                    <a:path w="9525" h="22225">
                      <a:moveTo>
                        <a:pt x="0" y="0"/>
                      </a:moveTo>
                      <a:lnTo>
                        <a:pt x="0" y="22225"/>
                      </a:lnTo>
                    </a:path>
                  </a:pathLst>
                </a:custGeom>
                <a:noFill/>
                <a:ln w="11112">
                  <a:solidFill>
                    <a:srgbClr val="6B7280"/>
                  </a:solidFill>
                </a:ln>
              </p:spPr>
            </p:sp>
            <p:sp>
              <p:nvSpPr>
                <p:cNvPr id="139" name="Freeform 139"/>
                <p:cNvSpPr/>
                <p:nvPr/>
              </p:nvSpPr>
              <p:spPr>
                <a:xfrm>
                  <a:off x="11173940" y="2472273"/>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6B7280"/>
                  </a:solidFill>
                </a:ln>
              </p:spPr>
            </p:sp>
            <p:sp>
              <p:nvSpPr>
                <p:cNvPr id="140" name="Freeform 140"/>
                <p:cNvSpPr/>
                <p:nvPr/>
              </p:nvSpPr>
              <p:spPr>
                <a:xfrm>
                  <a:off x="11229975" y="2546350"/>
                  <a:ext cx="9525" cy="9525"/>
                </a:xfrm>
                <a:custGeom>
                  <a:avLst/>
                  <a:gdLst/>
                  <a:ahLst/>
                  <a:cxnLst/>
                  <a:rect l="l" t="t" r="r" b="b"/>
                  <a:pathLst>
                    <a:path w="9525" h="9525">
                      <a:moveTo>
                        <a:pt x="0" y="0"/>
                      </a:moveTo>
                      <a:lnTo>
                        <a:pt x="56" y="0"/>
                      </a:lnTo>
                    </a:path>
                  </a:pathLst>
                </a:custGeom>
                <a:noFill/>
                <a:ln w="11112">
                  <a:solidFill>
                    <a:srgbClr val="6B7280"/>
                  </a:solidFill>
                </a:ln>
              </p:spPr>
            </p:sp>
          </p:grpSp>
          <p:sp>
            <p:nvSpPr>
              <p:cNvPr id="142" name="TextBox 142"/>
              <p:cNvSpPr txBox="1"/>
              <p:nvPr/>
            </p:nvSpPr>
            <p:spPr>
              <a:xfrm>
                <a:off x="11329988" y="2458164"/>
                <a:ext cx="41084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流失预警</a:t>
                </a:r>
                <a:br/>
                <a:r>
                  <a:rPr lang="en-US" sz="790" dirty="0">
                    <a:solidFill>
                      <a:srgbClr val="473633"/>
                    </a:solidFill>
                    <a:latin typeface="+mn-lt"/>
                    <a:ea typeface="+mn-ea"/>
                    <a:cs typeface="+mn-cs"/>
                  </a:rPr>
                  <a:t>XX%​​​</a:t>
                </a:r>
              </a:p>
            </p:txBody>
          </p:sp>
        </p:grpSp>
        <p:grpSp>
          <p:nvGrpSpPr>
            <p:cNvPr id="156" name="mig-row-3"/>
            <p:cNvGrpSpPr/>
            <p:nvPr/>
          </p:nvGrpSpPr>
          <p:grpSpPr>
            <a:xfrm>
              <a:off x="8881708" y="3051810"/>
              <a:ext cx="2859125" cy="313610"/>
              <a:chOff x="8881708" y="3051810"/>
              <a:chExt cx="2859125" cy="313610"/>
            </a:xfrm>
          </p:grpSpPr>
          <p:sp>
            <p:nvSpPr>
              <p:cNvPr id="144" name="TextBox 144"/>
              <p:cNvSpPr txBox="1"/>
              <p:nvPr/>
            </p:nvSpPr>
            <p:spPr>
              <a:xfrm>
                <a:off x="8881708" y="3051810"/>
                <a:ext cx="105484" cy="234696"/>
              </a:xfrm>
              <a:prstGeom prst="rect">
                <a:avLst/>
              </a:prstGeom>
              <a:noFill/>
              <a:ln>
                <a:noFill/>
              </a:ln>
            </p:spPr>
            <p:txBody>
              <a:bodyPr wrap="none" lIns="0" tIns="0" rIns="0" bIns="0" anchor="t" anchorCtr="0">
                <a:spAutoFit/>
              </a:bodyPr>
              <a:lstStyle/>
              <a:p>
                <a:pPr algn="ctr"/>
                <a:r>
                  <a:rPr lang="zh-CN" sz="1200" b="1" dirty="0">
                    <a:solidFill>
                      <a:srgbClr val="B92102"/>
                    </a:solidFill>
                    <a:latin typeface="+mn-lt"/>
                    <a:ea typeface="+mn-ea"/>
                    <a:cs typeface="+mn-cs"/>
                  </a:rPr>
                  <a:t>↑</a:t>
                </a:r>
              </a:p>
            </p:txBody>
          </p:sp>
          <p:sp>
            <p:nvSpPr>
              <p:cNvPr id="145" name="TextBox 145"/>
              <p:cNvSpPr txBox="1"/>
              <p:nvPr/>
            </p:nvSpPr>
            <p:spPr>
              <a:xfrm>
                <a:off x="9043988" y="30677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升级</a:t>
                </a:r>
                <a:br/>
                <a:r>
                  <a:rPr lang="en-US" sz="790" dirty="0">
                    <a:solidFill>
                      <a:srgbClr val="473633"/>
                    </a:solidFill>
                    <a:latin typeface="+mn-lt"/>
                    <a:ea typeface="+mn-ea"/>
                    <a:cs typeface="+mn-cs"/>
                  </a:rPr>
                  <a:t>XX%​​​</a:t>
                </a:r>
              </a:p>
            </p:txBody>
          </p:sp>
          <p:sp>
            <p:nvSpPr>
              <p:cNvPr id="146" name="Ellipse 146"/>
              <p:cNvSpPr/>
              <p:nvPr/>
            </p:nvSpPr>
            <p:spPr>
              <a:xfrm>
                <a:off x="9648825" y="3095625"/>
                <a:ext cx="114300" cy="114300"/>
              </a:xfrm>
              <a:prstGeom prst="ellipse">
                <a:avLst/>
              </a:prstGeom>
              <a:noFill/>
              <a:ln w="14288">
                <a:solidFill>
                  <a:srgbClr val="6B7280"/>
                </a:solidFill>
              </a:ln>
            </p:spPr>
          </p:sp>
          <p:sp>
            <p:nvSpPr>
              <p:cNvPr id="147" name="Line 147"/>
              <p:cNvSpPr/>
              <p:nvPr/>
            </p:nvSpPr>
            <p:spPr>
              <a:xfrm>
                <a:off x="9667875" y="3152775"/>
                <a:ext cx="76200" cy="9525"/>
              </a:xfrm>
              <a:custGeom>
                <a:avLst/>
                <a:gdLst/>
                <a:ahLst/>
                <a:cxnLst/>
                <a:rect l="l" t="t" r="r" b="b"/>
                <a:pathLst>
                  <a:path w="76200" h="9525">
                    <a:moveTo>
                      <a:pt x="0" y="0"/>
                    </a:moveTo>
                    <a:lnTo>
                      <a:pt x="76200" y="0"/>
                    </a:lnTo>
                  </a:path>
                </a:pathLst>
              </a:custGeom>
              <a:noFill/>
              <a:ln w="14288">
                <a:solidFill>
                  <a:srgbClr val="6B7280"/>
                </a:solidFill>
              </a:ln>
            </p:spPr>
          </p:sp>
          <p:sp>
            <p:nvSpPr>
              <p:cNvPr id="148" name="TextBox 148"/>
              <p:cNvSpPr txBox="1"/>
              <p:nvPr/>
            </p:nvSpPr>
            <p:spPr>
              <a:xfrm>
                <a:off x="9815512" y="30677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稳定</a:t>
                </a:r>
                <a:br/>
                <a:r>
                  <a:rPr lang="en-US" sz="790" dirty="0">
                    <a:solidFill>
                      <a:srgbClr val="473633"/>
                    </a:solidFill>
                    <a:latin typeface="+mn-lt"/>
                    <a:ea typeface="+mn-ea"/>
                    <a:cs typeface="+mn-cs"/>
                  </a:rPr>
                  <a:t>XX%​​​</a:t>
                </a:r>
              </a:p>
            </p:txBody>
          </p:sp>
          <p:sp>
            <p:nvSpPr>
              <p:cNvPr id="149" name="TextBox 149"/>
              <p:cNvSpPr txBox="1"/>
              <p:nvPr/>
            </p:nvSpPr>
            <p:spPr>
              <a:xfrm>
                <a:off x="10424758" y="3051810"/>
                <a:ext cx="105484" cy="234696"/>
              </a:xfrm>
              <a:prstGeom prst="rect">
                <a:avLst/>
              </a:prstGeom>
              <a:noFill/>
              <a:ln>
                <a:noFill/>
              </a:ln>
            </p:spPr>
            <p:txBody>
              <a:bodyPr wrap="none" lIns="0" tIns="0" rIns="0" bIns="0" anchor="t" anchorCtr="0">
                <a:spAutoFit/>
              </a:bodyPr>
              <a:lstStyle/>
              <a:p>
                <a:pPr algn="ctr"/>
                <a:r>
                  <a:rPr lang="zh-CN" sz="1200" b="1" dirty="0">
                    <a:solidFill>
                      <a:srgbClr val="D44B2F"/>
                    </a:solidFill>
                    <a:latin typeface="+mn-lt"/>
                    <a:ea typeface="+mn-ea"/>
                    <a:cs typeface="+mn-cs"/>
                  </a:rPr>
                  <a:t>↓</a:t>
                </a:r>
              </a:p>
            </p:txBody>
          </p:sp>
          <p:sp>
            <p:nvSpPr>
              <p:cNvPr id="150" name="TextBox 150"/>
              <p:cNvSpPr txBox="1"/>
              <p:nvPr/>
            </p:nvSpPr>
            <p:spPr>
              <a:xfrm>
                <a:off x="10587038" y="30677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降级</a:t>
                </a:r>
                <a:br/>
                <a:r>
                  <a:rPr lang="en-US" sz="790" dirty="0">
                    <a:solidFill>
                      <a:srgbClr val="473633"/>
                    </a:solidFill>
                    <a:latin typeface="+mn-lt"/>
                    <a:ea typeface="+mn-ea"/>
                    <a:cs typeface="+mn-cs"/>
                  </a:rPr>
                  <a:t>XX%​​​</a:t>
                </a:r>
              </a:p>
            </p:txBody>
          </p:sp>
          <p:grpSp>
            <p:nvGrpSpPr>
              <p:cNvPr id="154" name="Group 154"/>
              <p:cNvGrpSpPr/>
              <p:nvPr/>
            </p:nvGrpSpPr>
            <p:grpSpPr>
              <a:xfrm>
                <a:off x="11173940" y="3081873"/>
                <a:ext cx="112066" cy="96280"/>
                <a:chOff x="11173940" y="3081873"/>
                <a:chExt cx="112066" cy="96280"/>
              </a:xfrm>
            </p:grpSpPr>
            <p:sp>
              <p:nvSpPr>
                <p:cNvPr id="151" name="Freeform 151"/>
                <p:cNvSpPr/>
                <p:nvPr/>
              </p:nvSpPr>
              <p:spPr>
                <a:xfrm>
                  <a:off x="11229975" y="3117056"/>
                  <a:ext cx="9525" cy="22225"/>
                </a:xfrm>
                <a:custGeom>
                  <a:avLst/>
                  <a:gdLst/>
                  <a:ahLst/>
                  <a:cxnLst/>
                  <a:rect l="l" t="t" r="r" b="b"/>
                  <a:pathLst>
                    <a:path w="9525" h="22225">
                      <a:moveTo>
                        <a:pt x="0" y="0"/>
                      </a:moveTo>
                      <a:lnTo>
                        <a:pt x="0" y="22225"/>
                      </a:lnTo>
                    </a:path>
                  </a:pathLst>
                </a:custGeom>
                <a:noFill/>
                <a:ln w="11112">
                  <a:solidFill>
                    <a:srgbClr val="6B7280"/>
                  </a:solidFill>
                </a:ln>
              </p:spPr>
            </p:sp>
            <p:sp>
              <p:nvSpPr>
                <p:cNvPr id="152" name="Freeform 152"/>
                <p:cNvSpPr/>
                <p:nvPr/>
              </p:nvSpPr>
              <p:spPr>
                <a:xfrm>
                  <a:off x="11173940" y="3081873"/>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6B7280"/>
                  </a:solidFill>
                </a:ln>
              </p:spPr>
            </p:sp>
            <p:sp>
              <p:nvSpPr>
                <p:cNvPr id="153" name="Freeform 153"/>
                <p:cNvSpPr/>
                <p:nvPr/>
              </p:nvSpPr>
              <p:spPr>
                <a:xfrm>
                  <a:off x="11229975" y="3155950"/>
                  <a:ext cx="9525" cy="9525"/>
                </a:xfrm>
                <a:custGeom>
                  <a:avLst/>
                  <a:gdLst/>
                  <a:ahLst/>
                  <a:cxnLst/>
                  <a:rect l="l" t="t" r="r" b="b"/>
                  <a:pathLst>
                    <a:path w="9525" h="9525">
                      <a:moveTo>
                        <a:pt x="0" y="0"/>
                      </a:moveTo>
                      <a:lnTo>
                        <a:pt x="56" y="0"/>
                      </a:lnTo>
                    </a:path>
                  </a:pathLst>
                </a:custGeom>
                <a:noFill/>
                <a:ln w="11112">
                  <a:solidFill>
                    <a:srgbClr val="6B7280"/>
                  </a:solidFill>
                </a:ln>
              </p:spPr>
            </p:sp>
          </p:grpSp>
          <p:sp>
            <p:nvSpPr>
              <p:cNvPr id="155" name="TextBox 155"/>
              <p:cNvSpPr txBox="1"/>
              <p:nvPr/>
            </p:nvSpPr>
            <p:spPr>
              <a:xfrm>
                <a:off x="11329988" y="3067764"/>
                <a:ext cx="41084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流失预警</a:t>
                </a:r>
                <a:br/>
                <a:r>
                  <a:rPr lang="en-US" sz="790" dirty="0">
                    <a:solidFill>
                      <a:srgbClr val="473633"/>
                    </a:solidFill>
                    <a:latin typeface="+mn-lt"/>
                    <a:ea typeface="+mn-ea"/>
                    <a:cs typeface="+mn-cs"/>
                  </a:rPr>
                  <a:t>XX%​​​</a:t>
                </a:r>
              </a:p>
            </p:txBody>
          </p:sp>
        </p:grpSp>
        <p:grpSp>
          <p:nvGrpSpPr>
            <p:cNvPr id="169" name="mig-row-4"/>
            <p:cNvGrpSpPr/>
            <p:nvPr/>
          </p:nvGrpSpPr>
          <p:grpSpPr>
            <a:xfrm>
              <a:off x="8881708" y="3661410"/>
              <a:ext cx="2859125" cy="313610"/>
              <a:chOff x="8881708" y="3661410"/>
              <a:chExt cx="2859125" cy="313610"/>
            </a:xfrm>
          </p:grpSpPr>
          <p:sp>
            <p:nvSpPr>
              <p:cNvPr id="157" name="TextBox 157"/>
              <p:cNvSpPr txBox="1"/>
              <p:nvPr/>
            </p:nvSpPr>
            <p:spPr>
              <a:xfrm>
                <a:off x="8881708" y="3661410"/>
                <a:ext cx="105484" cy="234696"/>
              </a:xfrm>
              <a:prstGeom prst="rect">
                <a:avLst/>
              </a:prstGeom>
              <a:noFill/>
              <a:ln>
                <a:noFill/>
              </a:ln>
            </p:spPr>
            <p:txBody>
              <a:bodyPr wrap="none" lIns="0" tIns="0" rIns="0" bIns="0" anchor="t" anchorCtr="0">
                <a:spAutoFit/>
              </a:bodyPr>
              <a:lstStyle/>
              <a:p>
                <a:pPr algn="ctr"/>
                <a:r>
                  <a:rPr lang="zh-CN" sz="1200" b="1" dirty="0">
                    <a:solidFill>
                      <a:srgbClr val="B92102"/>
                    </a:solidFill>
                    <a:latin typeface="+mn-lt"/>
                    <a:ea typeface="+mn-ea"/>
                    <a:cs typeface="+mn-cs"/>
                  </a:rPr>
                  <a:t>↑</a:t>
                </a:r>
              </a:p>
            </p:txBody>
          </p:sp>
          <p:sp>
            <p:nvSpPr>
              <p:cNvPr id="158" name="TextBox 158"/>
              <p:cNvSpPr txBox="1"/>
              <p:nvPr/>
            </p:nvSpPr>
            <p:spPr>
              <a:xfrm>
                <a:off x="9043988" y="36773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升级</a:t>
                </a:r>
                <a:br/>
                <a:r>
                  <a:rPr lang="en-US" sz="790" dirty="0">
                    <a:solidFill>
                      <a:srgbClr val="473633"/>
                    </a:solidFill>
                    <a:latin typeface="+mn-lt"/>
                    <a:ea typeface="+mn-ea"/>
                    <a:cs typeface="+mn-cs"/>
                  </a:rPr>
                  <a:t>XX%​​​</a:t>
                </a:r>
              </a:p>
            </p:txBody>
          </p:sp>
          <p:sp>
            <p:nvSpPr>
              <p:cNvPr id="159" name="Ellipse 159"/>
              <p:cNvSpPr/>
              <p:nvPr/>
            </p:nvSpPr>
            <p:spPr>
              <a:xfrm>
                <a:off x="9648825" y="3705225"/>
                <a:ext cx="114300" cy="114300"/>
              </a:xfrm>
              <a:prstGeom prst="ellipse">
                <a:avLst/>
              </a:prstGeom>
              <a:noFill/>
              <a:ln w="14288">
                <a:solidFill>
                  <a:srgbClr val="6B7280"/>
                </a:solidFill>
              </a:ln>
            </p:spPr>
          </p:sp>
          <p:sp>
            <p:nvSpPr>
              <p:cNvPr id="160" name="Line 160"/>
              <p:cNvSpPr/>
              <p:nvPr/>
            </p:nvSpPr>
            <p:spPr>
              <a:xfrm>
                <a:off x="9667875" y="3762375"/>
                <a:ext cx="76200" cy="9525"/>
              </a:xfrm>
              <a:custGeom>
                <a:avLst/>
                <a:gdLst/>
                <a:ahLst/>
                <a:cxnLst/>
                <a:rect l="l" t="t" r="r" b="b"/>
                <a:pathLst>
                  <a:path w="76200" h="9525">
                    <a:moveTo>
                      <a:pt x="0" y="0"/>
                    </a:moveTo>
                    <a:lnTo>
                      <a:pt x="76200" y="0"/>
                    </a:lnTo>
                  </a:path>
                </a:pathLst>
              </a:custGeom>
              <a:noFill/>
              <a:ln w="14288">
                <a:solidFill>
                  <a:srgbClr val="6B7280"/>
                </a:solidFill>
              </a:ln>
            </p:spPr>
          </p:sp>
          <p:sp>
            <p:nvSpPr>
              <p:cNvPr id="161" name="TextBox 161"/>
              <p:cNvSpPr txBox="1"/>
              <p:nvPr/>
            </p:nvSpPr>
            <p:spPr>
              <a:xfrm>
                <a:off x="9815512" y="36773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稳定</a:t>
                </a:r>
                <a:br/>
                <a:r>
                  <a:rPr lang="en-US" sz="790" dirty="0">
                    <a:solidFill>
                      <a:srgbClr val="473633"/>
                    </a:solidFill>
                    <a:latin typeface="+mn-lt"/>
                    <a:ea typeface="+mn-ea"/>
                    <a:cs typeface="+mn-cs"/>
                  </a:rPr>
                  <a:t>XX%​​​</a:t>
                </a:r>
              </a:p>
            </p:txBody>
          </p:sp>
          <p:sp>
            <p:nvSpPr>
              <p:cNvPr id="162" name="TextBox 162"/>
              <p:cNvSpPr txBox="1"/>
              <p:nvPr/>
            </p:nvSpPr>
            <p:spPr>
              <a:xfrm>
                <a:off x="10424758" y="3661410"/>
                <a:ext cx="105484" cy="234696"/>
              </a:xfrm>
              <a:prstGeom prst="rect">
                <a:avLst/>
              </a:prstGeom>
              <a:noFill/>
              <a:ln>
                <a:noFill/>
              </a:ln>
            </p:spPr>
            <p:txBody>
              <a:bodyPr wrap="none" lIns="0" tIns="0" rIns="0" bIns="0" anchor="t" anchorCtr="0">
                <a:spAutoFit/>
              </a:bodyPr>
              <a:lstStyle/>
              <a:p>
                <a:pPr algn="ctr"/>
                <a:r>
                  <a:rPr lang="zh-CN" sz="1200" b="1" dirty="0">
                    <a:solidFill>
                      <a:srgbClr val="D44B2F"/>
                    </a:solidFill>
                    <a:latin typeface="+mn-lt"/>
                    <a:ea typeface="+mn-ea"/>
                    <a:cs typeface="+mn-cs"/>
                  </a:rPr>
                  <a:t>↓</a:t>
                </a:r>
              </a:p>
            </p:txBody>
          </p:sp>
          <p:sp>
            <p:nvSpPr>
              <p:cNvPr id="163" name="TextBox 163"/>
              <p:cNvSpPr txBox="1"/>
              <p:nvPr/>
            </p:nvSpPr>
            <p:spPr>
              <a:xfrm>
                <a:off x="10587038" y="3677364"/>
                <a:ext cx="36068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降级</a:t>
                </a:r>
                <a:br/>
                <a:r>
                  <a:rPr lang="en-US" sz="790" dirty="0">
                    <a:solidFill>
                      <a:srgbClr val="473633"/>
                    </a:solidFill>
                    <a:latin typeface="+mn-lt"/>
                    <a:ea typeface="+mn-ea"/>
                    <a:cs typeface="+mn-cs"/>
                  </a:rPr>
                  <a:t>XX%​​​</a:t>
                </a:r>
              </a:p>
            </p:txBody>
          </p:sp>
          <p:grpSp>
            <p:nvGrpSpPr>
              <p:cNvPr id="167" name="Group 167"/>
              <p:cNvGrpSpPr/>
              <p:nvPr/>
            </p:nvGrpSpPr>
            <p:grpSpPr>
              <a:xfrm>
                <a:off x="11173940" y="3691473"/>
                <a:ext cx="112066" cy="96280"/>
                <a:chOff x="11173940" y="3691473"/>
                <a:chExt cx="112066" cy="96280"/>
              </a:xfrm>
            </p:grpSpPr>
            <p:sp>
              <p:nvSpPr>
                <p:cNvPr id="164" name="Freeform 164"/>
                <p:cNvSpPr/>
                <p:nvPr/>
              </p:nvSpPr>
              <p:spPr>
                <a:xfrm>
                  <a:off x="11229975" y="3726656"/>
                  <a:ext cx="9525" cy="22225"/>
                </a:xfrm>
                <a:custGeom>
                  <a:avLst/>
                  <a:gdLst/>
                  <a:ahLst/>
                  <a:cxnLst/>
                  <a:rect l="l" t="t" r="r" b="b"/>
                  <a:pathLst>
                    <a:path w="9525" h="22225">
                      <a:moveTo>
                        <a:pt x="0" y="0"/>
                      </a:moveTo>
                      <a:lnTo>
                        <a:pt x="0" y="22225"/>
                      </a:lnTo>
                    </a:path>
                  </a:pathLst>
                </a:custGeom>
                <a:noFill/>
                <a:ln w="11112">
                  <a:solidFill>
                    <a:srgbClr val="6B7280"/>
                  </a:solidFill>
                </a:ln>
              </p:spPr>
            </p:sp>
            <p:sp>
              <p:nvSpPr>
                <p:cNvPr id="165" name="Freeform 165"/>
                <p:cNvSpPr/>
                <p:nvPr/>
              </p:nvSpPr>
              <p:spPr>
                <a:xfrm>
                  <a:off x="11173940" y="3691473"/>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6B7280"/>
                  </a:solidFill>
                </a:ln>
              </p:spPr>
            </p:sp>
            <p:sp>
              <p:nvSpPr>
                <p:cNvPr id="166" name="Freeform 166"/>
                <p:cNvSpPr/>
                <p:nvPr/>
              </p:nvSpPr>
              <p:spPr>
                <a:xfrm>
                  <a:off x="11229975" y="3765550"/>
                  <a:ext cx="9525" cy="9525"/>
                </a:xfrm>
                <a:custGeom>
                  <a:avLst/>
                  <a:gdLst/>
                  <a:ahLst/>
                  <a:cxnLst/>
                  <a:rect l="l" t="t" r="r" b="b"/>
                  <a:pathLst>
                    <a:path w="9525" h="9525">
                      <a:moveTo>
                        <a:pt x="0" y="0"/>
                      </a:moveTo>
                      <a:lnTo>
                        <a:pt x="56" y="0"/>
                      </a:lnTo>
                    </a:path>
                  </a:pathLst>
                </a:custGeom>
                <a:noFill/>
                <a:ln w="11112">
                  <a:solidFill>
                    <a:srgbClr val="6B7280"/>
                  </a:solidFill>
                </a:ln>
              </p:spPr>
            </p:sp>
          </p:grpSp>
          <p:sp>
            <p:nvSpPr>
              <p:cNvPr id="168" name="TextBox 168"/>
              <p:cNvSpPr txBox="1"/>
              <p:nvPr/>
            </p:nvSpPr>
            <p:spPr>
              <a:xfrm>
                <a:off x="11329988" y="3677364"/>
                <a:ext cx="41084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473633"/>
                    </a:solidFill>
                    <a:latin typeface="+mn-lt"/>
                    <a:ea typeface="+mn-ea"/>
                    <a:cs typeface="+mn-cs"/>
                  </a:rPr>
                  <a:t>流失预警</a:t>
                </a:r>
                <a:br/>
                <a:r>
                  <a:rPr lang="en-US" sz="790" dirty="0">
                    <a:solidFill>
                      <a:srgbClr val="473633"/>
                    </a:solidFill>
                    <a:latin typeface="+mn-lt"/>
                    <a:ea typeface="+mn-ea"/>
                    <a:cs typeface="+mn-cs"/>
                  </a:rPr>
                  <a:t>XX%​​​</a:t>
                </a:r>
              </a:p>
            </p:txBody>
          </p:sp>
        </p:grpSp>
      </p:grpSp>
      <p:grpSp>
        <p:nvGrpSpPr>
          <p:cNvPr id="219" name="segment-table"/>
          <p:cNvGrpSpPr/>
          <p:nvPr/>
        </p:nvGrpSpPr>
        <p:grpSpPr>
          <a:xfrm>
            <a:off x="266700" y="4476750"/>
            <a:ext cx="11658600" cy="2095500"/>
            <a:chOff x="266700" y="4476750"/>
            <a:chExt cx="11658600" cy="2095500"/>
          </a:xfrm>
        </p:grpSpPr>
        <p:sp>
          <p:nvSpPr>
            <p:cNvPr id="171" name="Rectangle 171"/>
            <p:cNvSpPr/>
            <p:nvPr/>
          </p:nvSpPr>
          <p:spPr>
            <a:xfrm>
              <a:off x="266700" y="4476750"/>
              <a:ext cx="11658600" cy="2095500"/>
            </a:xfrm>
            <a:prstGeom prst="roundRect">
              <a:avLst>
                <a:gd name="adj" fmla="val 2727"/>
              </a:avLst>
            </a:prstGeom>
            <a:solidFill>
              <a:srgbClr val="FFFFFF"/>
            </a:solidFill>
            <a:ln w="9525">
              <a:solidFill>
                <a:srgbClr val="F7D1C9"/>
              </a:solidFill>
            </a:ln>
          </p:spPr>
        </p:sp>
        <p:sp>
          <p:nvSpPr>
            <p:cNvPr id="172" name="Freeform 172"/>
            <p:cNvSpPr/>
            <p:nvPr/>
          </p:nvSpPr>
          <p:spPr>
            <a:xfrm>
              <a:off x="266700" y="4476750"/>
              <a:ext cx="11658600" cy="323850"/>
            </a:xfrm>
            <a:custGeom>
              <a:avLst/>
              <a:gdLst/>
              <a:ahLst/>
              <a:cxnLst/>
              <a:rect l="l" t="t" r="r" b="b"/>
              <a:pathLst>
                <a:path w="11658600" h="323850">
                  <a:moveTo>
                    <a:pt x="0" y="57150"/>
                  </a:moveTo>
                  <a:cubicBezTo>
                    <a:pt x="0" y="25587"/>
                    <a:pt x="25587" y="0"/>
                    <a:pt x="57150" y="0"/>
                  </a:cubicBezTo>
                  <a:lnTo>
                    <a:pt x="11601450" y="0"/>
                  </a:lnTo>
                  <a:cubicBezTo>
                    <a:pt x="11633013" y="0"/>
                    <a:pt x="11658600" y="25587"/>
                    <a:pt x="11658600" y="57150"/>
                  </a:cubicBezTo>
                  <a:lnTo>
                    <a:pt x="11658600" y="323850"/>
                  </a:lnTo>
                  <a:lnTo>
                    <a:pt x="0" y="323850"/>
                  </a:lnTo>
                  <a:close/>
                </a:path>
              </a:pathLst>
            </a:custGeom>
            <a:solidFill>
              <a:srgbClr val="B92102"/>
            </a:solidFill>
            <a:ln>
              <a:noFill/>
            </a:ln>
          </p:spPr>
        </p:sp>
        <p:sp>
          <p:nvSpPr>
            <p:cNvPr id="173" name="Line 173"/>
            <p:cNvSpPr/>
            <p:nvPr/>
          </p:nvSpPr>
          <p:spPr>
            <a:xfrm>
              <a:off x="1762125" y="4533900"/>
              <a:ext cx="9525" cy="209550"/>
            </a:xfrm>
            <a:custGeom>
              <a:avLst/>
              <a:gdLst/>
              <a:ahLst/>
              <a:cxnLst/>
              <a:rect l="l" t="t" r="r" b="b"/>
              <a:pathLst>
                <a:path w="9525" h="209550">
                  <a:moveTo>
                    <a:pt x="0" y="0"/>
                  </a:moveTo>
                  <a:lnTo>
                    <a:pt x="0" y="209550"/>
                  </a:lnTo>
                </a:path>
              </a:pathLst>
            </a:custGeom>
            <a:noFill/>
            <a:ln w="9525">
              <a:solidFill>
                <a:srgbClr val="D9705B"/>
              </a:solidFill>
            </a:ln>
          </p:spPr>
        </p:sp>
        <p:sp>
          <p:nvSpPr>
            <p:cNvPr id="174" name="Line 174"/>
            <p:cNvSpPr/>
            <p:nvPr/>
          </p:nvSpPr>
          <p:spPr>
            <a:xfrm>
              <a:off x="5219700" y="4533900"/>
              <a:ext cx="9525" cy="209550"/>
            </a:xfrm>
            <a:custGeom>
              <a:avLst/>
              <a:gdLst/>
              <a:ahLst/>
              <a:cxnLst/>
              <a:rect l="l" t="t" r="r" b="b"/>
              <a:pathLst>
                <a:path w="9525" h="209550">
                  <a:moveTo>
                    <a:pt x="0" y="0"/>
                  </a:moveTo>
                  <a:lnTo>
                    <a:pt x="0" y="209550"/>
                  </a:lnTo>
                </a:path>
              </a:pathLst>
            </a:custGeom>
            <a:noFill/>
            <a:ln w="9525">
              <a:solidFill>
                <a:srgbClr val="D9705B"/>
              </a:solidFill>
            </a:ln>
          </p:spPr>
        </p:sp>
        <p:sp>
          <p:nvSpPr>
            <p:cNvPr id="175" name="Line 175"/>
            <p:cNvSpPr/>
            <p:nvPr/>
          </p:nvSpPr>
          <p:spPr>
            <a:xfrm>
              <a:off x="9286875" y="4533900"/>
              <a:ext cx="9525" cy="209550"/>
            </a:xfrm>
            <a:custGeom>
              <a:avLst/>
              <a:gdLst/>
              <a:ahLst/>
              <a:cxnLst/>
              <a:rect l="l" t="t" r="r" b="b"/>
              <a:pathLst>
                <a:path w="9525" h="209550">
                  <a:moveTo>
                    <a:pt x="0" y="0"/>
                  </a:moveTo>
                  <a:lnTo>
                    <a:pt x="0" y="209550"/>
                  </a:lnTo>
                </a:path>
              </a:pathLst>
            </a:custGeom>
            <a:noFill/>
            <a:ln w="9525">
              <a:solidFill>
                <a:srgbClr val="D9705B"/>
              </a:solidFill>
            </a:ln>
          </p:spPr>
        </p:sp>
        <p:sp>
          <p:nvSpPr>
            <p:cNvPr id="176" name="TextBox 176"/>
            <p:cNvSpPr txBox="1"/>
            <p:nvPr/>
          </p:nvSpPr>
          <p:spPr>
            <a:xfrm>
              <a:off x="862965" y="45729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客群</a:t>
              </a:r>
            </a:p>
          </p:txBody>
        </p:sp>
        <p:sp>
          <p:nvSpPr>
            <p:cNvPr id="177" name="TextBox 177"/>
            <p:cNvSpPr txBox="1"/>
            <p:nvPr/>
          </p:nvSpPr>
          <p:spPr>
            <a:xfrm>
              <a:off x="3198114" y="45729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核心需求</a:t>
              </a:r>
            </a:p>
          </p:txBody>
        </p:sp>
        <p:sp>
          <p:nvSpPr>
            <p:cNvPr id="178" name="TextBox 178"/>
            <p:cNvSpPr txBox="1"/>
            <p:nvPr/>
          </p:nvSpPr>
          <p:spPr>
            <a:xfrm>
              <a:off x="6960489" y="45729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主推方案</a:t>
              </a:r>
            </a:p>
          </p:txBody>
        </p:sp>
        <p:sp>
          <p:nvSpPr>
            <p:cNvPr id="179" name="TextBox 179"/>
            <p:cNvSpPr txBox="1"/>
            <p:nvPr/>
          </p:nvSpPr>
          <p:spPr>
            <a:xfrm>
              <a:off x="10313289" y="45729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触达频次</a:t>
              </a:r>
            </a:p>
          </p:txBody>
        </p:sp>
        <p:sp>
          <p:nvSpPr>
            <p:cNvPr id="180" name="Line 180"/>
            <p:cNvSpPr/>
            <p:nvPr/>
          </p:nvSpPr>
          <p:spPr>
            <a:xfrm>
              <a:off x="266700" y="523875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181" name="Line 181"/>
            <p:cNvSpPr/>
            <p:nvPr/>
          </p:nvSpPr>
          <p:spPr>
            <a:xfrm>
              <a:off x="266700" y="567690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182" name="Line 182"/>
            <p:cNvSpPr/>
            <p:nvPr/>
          </p:nvSpPr>
          <p:spPr>
            <a:xfrm>
              <a:off x="266700" y="611505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183" name="Line 183"/>
            <p:cNvSpPr/>
            <p:nvPr/>
          </p:nvSpPr>
          <p:spPr>
            <a:xfrm>
              <a:off x="1762125" y="4800600"/>
              <a:ext cx="9525" cy="1771650"/>
            </a:xfrm>
            <a:custGeom>
              <a:avLst/>
              <a:gdLst/>
              <a:ahLst/>
              <a:cxnLst/>
              <a:rect l="l" t="t" r="r" b="b"/>
              <a:pathLst>
                <a:path w="9525" h="1771650">
                  <a:moveTo>
                    <a:pt x="0" y="0"/>
                  </a:moveTo>
                  <a:lnTo>
                    <a:pt x="0" y="1771650"/>
                  </a:lnTo>
                </a:path>
              </a:pathLst>
            </a:custGeom>
            <a:noFill/>
            <a:ln w="9525">
              <a:solidFill>
                <a:srgbClr val="DCE6F8"/>
              </a:solidFill>
            </a:ln>
          </p:spPr>
        </p:sp>
        <p:sp>
          <p:nvSpPr>
            <p:cNvPr id="184" name="Line 184"/>
            <p:cNvSpPr/>
            <p:nvPr/>
          </p:nvSpPr>
          <p:spPr>
            <a:xfrm>
              <a:off x="5219700" y="4800600"/>
              <a:ext cx="9525" cy="1771650"/>
            </a:xfrm>
            <a:custGeom>
              <a:avLst/>
              <a:gdLst/>
              <a:ahLst/>
              <a:cxnLst/>
              <a:rect l="l" t="t" r="r" b="b"/>
              <a:pathLst>
                <a:path w="9525" h="1771650">
                  <a:moveTo>
                    <a:pt x="0" y="0"/>
                  </a:moveTo>
                  <a:lnTo>
                    <a:pt x="0" y="1771650"/>
                  </a:lnTo>
                </a:path>
              </a:pathLst>
            </a:custGeom>
            <a:noFill/>
            <a:ln w="9525">
              <a:solidFill>
                <a:srgbClr val="DCE6F8"/>
              </a:solidFill>
            </a:ln>
          </p:spPr>
        </p:sp>
        <p:sp>
          <p:nvSpPr>
            <p:cNvPr id="185" name="Line 185"/>
            <p:cNvSpPr/>
            <p:nvPr/>
          </p:nvSpPr>
          <p:spPr>
            <a:xfrm>
              <a:off x="9286875" y="4800600"/>
              <a:ext cx="9525" cy="1771650"/>
            </a:xfrm>
            <a:custGeom>
              <a:avLst/>
              <a:gdLst/>
              <a:ahLst/>
              <a:cxnLst/>
              <a:rect l="l" t="t" r="r" b="b"/>
              <a:pathLst>
                <a:path w="9525" h="1771650">
                  <a:moveTo>
                    <a:pt x="0" y="0"/>
                  </a:moveTo>
                  <a:lnTo>
                    <a:pt x="0" y="1771650"/>
                  </a:lnTo>
                </a:path>
              </a:pathLst>
            </a:custGeom>
            <a:noFill/>
            <a:ln w="9525">
              <a:solidFill>
                <a:srgbClr val="DCE6F8"/>
              </a:solidFill>
            </a:ln>
          </p:spPr>
        </p:sp>
        <p:grpSp>
          <p:nvGrpSpPr>
            <p:cNvPr id="191" name="seg-row-1"/>
            <p:cNvGrpSpPr/>
            <p:nvPr/>
          </p:nvGrpSpPr>
          <p:grpSpPr>
            <a:xfrm>
              <a:off x="464344" y="4958001"/>
              <a:ext cx="10836675" cy="198025"/>
              <a:chOff x="464344" y="4958001"/>
              <a:chExt cx="10836675" cy="198025"/>
            </a:xfrm>
          </p:grpSpPr>
          <p:sp>
            <p:nvSpPr>
              <p:cNvPr id="186" name="Freeform 186"/>
              <p:cNvSpPr/>
              <p:nvPr/>
            </p:nvSpPr>
            <p:spPr>
              <a:xfrm>
                <a:off x="464344" y="4967288"/>
                <a:ext cx="157163" cy="104775"/>
              </a:xfrm>
              <a:custGeom>
                <a:avLst/>
                <a:gdLst/>
                <a:ahLst/>
                <a:cxnLst/>
                <a:rect l="l" t="t" r="r" b="b"/>
                <a:pathLst>
                  <a:path w="157163" h="104775">
                    <a:moveTo>
                      <a:pt x="78581" y="0"/>
                    </a:moveTo>
                    <a:lnTo>
                      <a:pt x="113506" y="52388"/>
                    </a:lnTo>
                    <a:lnTo>
                      <a:pt x="157163" y="17463"/>
                    </a:lnTo>
                    <a:lnTo>
                      <a:pt x="139700" y="104775"/>
                    </a:lnTo>
                    <a:lnTo>
                      <a:pt x="17463" y="104775"/>
                    </a:lnTo>
                    <a:lnTo>
                      <a:pt x="0" y="17463"/>
                    </a:lnTo>
                    <a:lnTo>
                      <a:pt x="43656" y="52388"/>
                    </a:lnTo>
                    <a:lnTo>
                      <a:pt x="78581" y="0"/>
                    </a:lnTo>
                  </a:path>
                </a:pathLst>
              </a:custGeom>
              <a:noFill/>
              <a:ln w="17463">
                <a:solidFill>
                  <a:srgbClr val="B92102"/>
                </a:solidFill>
              </a:ln>
            </p:spPr>
          </p:sp>
          <p:sp>
            <p:nvSpPr>
              <p:cNvPr id="187" name="TextBox 187"/>
              <p:cNvSpPr txBox="1"/>
              <p:nvPr/>
            </p:nvSpPr>
            <p:spPr>
              <a:xfrm>
                <a:off x="737806" y="4958001"/>
                <a:ext cx="554152" cy="198025"/>
              </a:xfrm>
              <a:prstGeom prst="rect">
                <a:avLst/>
              </a:prstGeom>
              <a:noFill/>
              <a:ln>
                <a:noFill/>
              </a:ln>
            </p:spPr>
            <p:txBody>
              <a:bodyPr wrap="none" lIns="0" tIns="0" rIns="0" bIns="0" anchor="t" anchorCtr="0">
                <a:spAutoFit/>
              </a:bodyPr>
              <a:lstStyle/>
              <a:p>
                <a:pPr algn="l"/>
                <a:r>
                  <a:rPr lang="zh-CN" sz="1010" b="1" dirty="0">
                    <a:solidFill>
                      <a:srgbClr val="6E1604"/>
                    </a:solidFill>
                    <a:latin typeface="+mn-lt"/>
                    <a:ea typeface="+mn-ea"/>
                    <a:cs typeface="+mn-cs"/>
                  </a:rPr>
                  <a:t>战略客户</a:t>
                </a:r>
              </a:p>
            </p:txBody>
          </p:sp>
          <p:sp>
            <p:nvSpPr>
              <p:cNvPr id="188" name="TextBox 188"/>
              <p:cNvSpPr txBox="1"/>
              <p:nvPr/>
            </p:nvSpPr>
            <p:spPr>
              <a:xfrm>
                <a:off x="1900238" y="4966097"/>
                <a:ext cx="2736522"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综合金融服务、资源协同、风险管理、战略支持​</a:t>
                </a:r>
              </a:p>
            </p:txBody>
          </p:sp>
          <p:sp>
            <p:nvSpPr>
              <p:cNvPr id="189" name="TextBox 189"/>
              <p:cNvSpPr txBox="1"/>
              <p:nvPr/>
            </p:nvSpPr>
            <p:spPr>
              <a:xfrm>
                <a:off x="5348288" y="4966097"/>
                <a:ext cx="3369236"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综合授信方案、全球现金管理、投行服务、定制化解决方案​</a:t>
                </a:r>
              </a:p>
            </p:txBody>
          </p:sp>
          <p:sp>
            <p:nvSpPr>
              <p:cNvPr id="190" name="TextBox 190"/>
              <p:cNvSpPr txBox="1"/>
              <p:nvPr/>
            </p:nvSpPr>
            <p:spPr>
              <a:xfrm>
                <a:off x="9424988" y="4966097"/>
                <a:ext cx="1876031"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高频：至少每月1次高层沟通​​​​</a:t>
                </a:r>
              </a:p>
            </p:txBody>
          </p:sp>
        </p:grpSp>
        <p:grpSp>
          <p:nvGrpSpPr>
            <p:cNvPr id="200" name="seg-row-2"/>
            <p:cNvGrpSpPr/>
            <p:nvPr/>
          </p:nvGrpSpPr>
          <p:grpSpPr>
            <a:xfrm>
              <a:off x="467854" y="5379244"/>
              <a:ext cx="10270050" cy="214932"/>
              <a:chOff x="467854" y="5379244"/>
              <a:chExt cx="10270050" cy="214932"/>
            </a:xfrm>
          </p:grpSpPr>
          <p:grpSp>
            <p:nvGrpSpPr>
              <p:cNvPr id="195" name="Group 195"/>
              <p:cNvGrpSpPr/>
              <p:nvPr/>
            </p:nvGrpSpPr>
            <p:grpSpPr>
              <a:xfrm>
                <a:off x="467854" y="5379244"/>
                <a:ext cx="150125" cy="156202"/>
                <a:chOff x="467854" y="5379244"/>
                <a:chExt cx="150125" cy="156202"/>
              </a:xfrm>
            </p:grpSpPr>
            <p:sp>
              <p:nvSpPr>
                <p:cNvPr id="192" name="Freeform 192"/>
                <p:cNvSpPr/>
                <p:nvPr/>
              </p:nvSpPr>
              <p:spPr>
                <a:xfrm>
                  <a:off x="490538" y="5379244"/>
                  <a:ext cx="104775" cy="104775"/>
                </a:xfrm>
                <a:custGeom>
                  <a:avLst/>
                  <a:gdLst/>
                  <a:ahLst/>
                  <a:cxnLst/>
                  <a:rect l="l" t="t" r="r" b="b"/>
                  <a:pathLst>
                    <a:path w="104775" h="104775">
                      <a:moveTo>
                        <a:pt x="0" y="52388"/>
                      </a:moveTo>
                      <a:cubicBezTo>
                        <a:pt x="0" y="81320"/>
                        <a:pt x="23455" y="104775"/>
                        <a:pt x="52388" y="104775"/>
                      </a:cubicBezTo>
                      <a:cubicBezTo>
                        <a:pt x="81320" y="104775"/>
                        <a:pt x="104775" y="81320"/>
                        <a:pt x="104775" y="52388"/>
                      </a:cubicBezTo>
                      <a:cubicBezTo>
                        <a:pt x="104775" y="23455"/>
                        <a:pt x="81320" y="0"/>
                        <a:pt x="52388" y="0"/>
                      </a:cubicBezTo>
                      <a:cubicBezTo>
                        <a:pt x="23455" y="0"/>
                        <a:pt x="0" y="23455"/>
                        <a:pt x="0" y="52388"/>
                      </a:cubicBezTo>
                    </a:path>
                  </a:pathLst>
                </a:custGeom>
                <a:noFill/>
                <a:ln w="17463">
                  <a:solidFill>
                    <a:srgbClr val="B92102"/>
                  </a:solidFill>
                </a:ln>
              </p:spPr>
            </p:sp>
            <p:sp>
              <p:nvSpPr>
                <p:cNvPr id="193" name="Freeform 193"/>
                <p:cNvSpPr/>
                <p:nvPr/>
              </p:nvSpPr>
              <p:spPr>
                <a:xfrm>
                  <a:off x="542925" y="5457825"/>
                  <a:ext cx="75054" cy="77621"/>
                </a:xfrm>
                <a:custGeom>
                  <a:avLst/>
                  <a:gdLst/>
                  <a:ahLst/>
                  <a:cxnLst/>
                  <a:rect l="l" t="t" r="r" b="b"/>
                  <a:pathLst>
                    <a:path w="75054" h="77621">
                      <a:moveTo>
                        <a:pt x="0" y="26194"/>
                      </a:moveTo>
                      <a:lnTo>
                        <a:pt x="29686" y="77621"/>
                      </a:lnTo>
                      <a:lnTo>
                        <a:pt x="43639" y="49393"/>
                      </a:lnTo>
                      <a:lnTo>
                        <a:pt x="75054" y="51418"/>
                      </a:lnTo>
                      <a:lnTo>
                        <a:pt x="45368" y="0"/>
                      </a:lnTo>
                    </a:path>
                  </a:pathLst>
                </a:custGeom>
                <a:noFill/>
                <a:ln w="17463">
                  <a:solidFill>
                    <a:srgbClr val="B92102"/>
                  </a:solidFill>
                </a:ln>
              </p:spPr>
            </p:sp>
            <p:sp>
              <p:nvSpPr>
                <p:cNvPr id="194" name="Freeform 194"/>
                <p:cNvSpPr/>
                <p:nvPr/>
              </p:nvSpPr>
              <p:spPr>
                <a:xfrm>
                  <a:off x="467854" y="5457825"/>
                  <a:ext cx="75054" cy="77612"/>
                </a:xfrm>
                <a:custGeom>
                  <a:avLst/>
                  <a:gdLst/>
                  <a:ahLst/>
                  <a:cxnLst/>
                  <a:rect l="l" t="t" r="r" b="b"/>
                  <a:pathLst>
                    <a:path w="75054" h="77612">
                      <a:moveTo>
                        <a:pt x="29686" y="0"/>
                      </a:moveTo>
                      <a:lnTo>
                        <a:pt x="0" y="51427"/>
                      </a:lnTo>
                      <a:lnTo>
                        <a:pt x="31415" y="49393"/>
                      </a:lnTo>
                      <a:lnTo>
                        <a:pt x="45368" y="77612"/>
                      </a:lnTo>
                      <a:lnTo>
                        <a:pt x="75054" y="26194"/>
                      </a:lnTo>
                    </a:path>
                  </a:pathLst>
                </a:custGeom>
                <a:noFill/>
                <a:ln w="17463">
                  <a:solidFill>
                    <a:srgbClr val="B92102"/>
                  </a:solidFill>
                </a:ln>
              </p:spPr>
            </p:sp>
          </p:grpSp>
          <p:sp>
            <p:nvSpPr>
              <p:cNvPr id="196" name="TextBox 196"/>
              <p:cNvSpPr txBox="1"/>
              <p:nvPr/>
            </p:nvSpPr>
            <p:spPr>
              <a:xfrm>
                <a:off x="737806" y="5396151"/>
                <a:ext cx="554152" cy="198025"/>
              </a:xfrm>
              <a:prstGeom prst="rect">
                <a:avLst/>
              </a:prstGeom>
              <a:noFill/>
              <a:ln>
                <a:noFill/>
              </a:ln>
            </p:spPr>
            <p:txBody>
              <a:bodyPr wrap="none" lIns="0" tIns="0" rIns="0" bIns="0" anchor="t" anchorCtr="0">
                <a:spAutoFit/>
              </a:bodyPr>
              <a:lstStyle/>
              <a:p>
                <a:pPr algn="l"/>
                <a:r>
                  <a:rPr lang="zh-CN" sz="1010" b="1" dirty="0">
                    <a:solidFill>
                      <a:srgbClr val="6E1604"/>
                    </a:solidFill>
                    <a:latin typeface="+mn-lt"/>
                    <a:ea typeface="+mn-ea"/>
                    <a:cs typeface="+mn-cs"/>
                  </a:rPr>
                  <a:t>重点客户</a:t>
                </a:r>
              </a:p>
            </p:txBody>
          </p:sp>
          <p:sp>
            <p:nvSpPr>
              <p:cNvPr id="197" name="TextBox 197"/>
              <p:cNvSpPr txBox="1"/>
              <p:nvPr/>
            </p:nvSpPr>
            <p:spPr>
              <a:xfrm>
                <a:off x="1900238" y="5404247"/>
                <a:ext cx="2989608"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业务增长支持、资金效率提升、成本优化、专业服务​</a:t>
                </a:r>
              </a:p>
            </p:txBody>
          </p:sp>
          <p:sp>
            <p:nvSpPr>
              <p:cNvPr id="198" name="TextBox 198"/>
              <p:cNvSpPr txBox="1"/>
              <p:nvPr/>
            </p:nvSpPr>
            <p:spPr>
              <a:xfrm>
                <a:off x="5348288" y="5404247"/>
                <a:ext cx="3495779"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供应链金融、贸易融资、现金管理、票据方案、资产配置服务​</a:t>
                </a:r>
              </a:p>
            </p:txBody>
          </p:sp>
          <p:sp>
            <p:nvSpPr>
              <p:cNvPr id="199" name="TextBox 199"/>
              <p:cNvSpPr txBox="1"/>
              <p:nvPr/>
            </p:nvSpPr>
            <p:spPr>
              <a:xfrm>
                <a:off x="9424988" y="5404247"/>
                <a:ext cx="1312916"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中高频：每月2-4次​​​</a:t>
                </a:r>
              </a:p>
            </p:txBody>
          </p:sp>
        </p:grpSp>
        <p:grpSp>
          <p:nvGrpSpPr>
            <p:cNvPr id="208" name="seg-row-3"/>
            <p:cNvGrpSpPr/>
            <p:nvPr/>
          </p:nvGrpSpPr>
          <p:grpSpPr>
            <a:xfrm>
              <a:off x="464344" y="5834301"/>
              <a:ext cx="10147017" cy="198025"/>
              <a:chOff x="464344" y="5834301"/>
              <a:chExt cx="10147017" cy="198025"/>
            </a:xfrm>
          </p:grpSpPr>
          <p:grpSp>
            <p:nvGrpSpPr>
              <p:cNvPr id="203" name="Group 203"/>
              <p:cNvGrpSpPr/>
              <p:nvPr/>
            </p:nvGrpSpPr>
            <p:grpSpPr>
              <a:xfrm>
                <a:off x="464344" y="5852319"/>
                <a:ext cx="157163" cy="87313"/>
                <a:chOff x="464344" y="5852319"/>
                <a:chExt cx="157163" cy="87313"/>
              </a:xfrm>
            </p:grpSpPr>
            <p:sp>
              <p:nvSpPr>
                <p:cNvPr id="201" name="Freeform 201"/>
                <p:cNvSpPr/>
                <p:nvPr/>
              </p:nvSpPr>
              <p:spPr>
                <a:xfrm>
                  <a:off x="464344" y="585231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B92102"/>
                  </a:solidFill>
                </a:ln>
              </p:spPr>
            </p:sp>
            <p:sp>
              <p:nvSpPr>
                <p:cNvPr id="202" name="Freeform 202"/>
                <p:cNvSpPr/>
                <p:nvPr/>
              </p:nvSpPr>
              <p:spPr>
                <a:xfrm>
                  <a:off x="560388" y="5852319"/>
                  <a:ext cx="61119" cy="61119"/>
                </a:xfrm>
                <a:custGeom>
                  <a:avLst/>
                  <a:gdLst/>
                  <a:ahLst/>
                  <a:cxnLst/>
                  <a:rect l="l" t="t" r="r" b="b"/>
                  <a:pathLst>
                    <a:path w="61119" h="61119">
                      <a:moveTo>
                        <a:pt x="0" y="0"/>
                      </a:moveTo>
                      <a:lnTo>
                        <a:pt x="61119" y="0"/>
                      </a:lnTo>
                      <a:lnTo>
                        <a:pt x="61119" y="61119"/>
                      </a:lnTo>
                    </a:path>
                  </a:pathLst>
                </a:custGeom>
                <a:noFill/>
                <a:ln w="17463">
                  <a:solidFill>
                    <a:srgbClr val="B92102"/>
                  </a:solidFill>
                </a:ln>
              </p:spPr>
            </p:sp>
          </p:grpSp>
          <p:sp>
            <p:nvSpPr>
              <p:cNvPr id="204" name="TextBox 204"/>
              <p:cNvSpPr txBox="1"/>
              <p:nvPr/>
            </p:nvSpPr>
            <p:spPr>
              <a:xfrm>
                <a:off x="737806" y="5834301"/>
                <a:ext cx="554152" cy="198025"/>
              </a:xfrm>
              <a:prstGeom prst="rect">
                <a:avLst/>
              </a:prstGeom>
              <a:noFill/>
              <a:ln>
                <a:noFill/>
              </a:ln>
            </p:spPr>
            <p:txBody>
              <a:bodyPr wrap="none" lIns="0" tIns="0" rIns="0" bIns="0" anchor="t" anchorCtr="0">
                <a:spAutoFit/>
              </a:bodyPr>
              <a:lstStyle/>
              <a:p>
                <a:pPr algn="l"/>
                <a:r>
                  <a:rPr lang="zh-CN" sz="1010" b="1" dirty="0">
                    <a:solidFill>
                      <a:srgbClr val="6E1604"/>
                    </a:solidFill>
                    <a:latin typeface="+mn-lt"/>
                    <a:ea typeface="+mn-ea"/>
                    <a:cs typeface="+mn-cs"/>
                  </a:rPr>
                  <a:t>成长客户</a:t>
                </a:r>
              </a:p>
            </p:txBody>
          </p:sp>
          <p:sp>
            <p:nvSpPr>
              <p:cNvPr id="205" name="TextBox 205"/>
              <p:cNvSpPr txBox="1"/>
              <p:nvPr/>
            </p:nvSpPr>
            <p:spPr>
              <a:xfrm>
                <a:off x="1900238" y="5842397"/>
                <a:ext cx="2736522"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融资支持、产品组合优化、能力提升、合规保障​</a:t>
                </a:r>
              </a:p>
            </p:txBody>
          </p:sp>
          <p:sp>
            <p:nvSpPr>
              <p:cNvPr id="206" name="TextBox 206"/>
              <p:cNvSpPr txBox="1"/>
              <p:nvPr/>
            </p:nvSpPr>
            <p:spPr>
              <a:xfrm>
                <a:off x="5348288" y="5842397"/>
                <a:ext cx="3369236"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小微金融方案、数字化产品包、信用贷款、结算及增值服务​</a:t>
                </a:r>
              </a:p>
            </p:txBody>
          </p:sp>
          <p:sp>
            <p:nvSpPr>
              <p:cNvPr id="207" name="TextBox 207"/>
              <p:cNvSpPr txBox="1"/>
              <p:nvPr/>
            </p:nvSpPr>
            <p:spPr>
              <a:xfrm>
                <a:off x="9424988" y="5842397"/>
                <a:ext cx="1186373"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中频：每月1-2次​​​</a:t>
                </a:r>
              </a:p>
            </p:txBody>
          </p:sp>
        </p:grpSp>
        <p:grpSp>
          <p:nvGrpSpPr>
            <p:cNvPr id="218" name="seg-row-4"/>
            <p:cNvGrpSpPr/>
            <p:nvPr/>
          </p:nvGrpSpPr>
          <p:grpSpPr>
            <a:xfrm>
              <a:off x="464344" y="6255544"/>
              <a:ext cx="10918928" cy="214932"/>
              <a:chOff x="464344" y="6255544"/>
              <a:chExt cx="10918928" cy="214932"/>
            </a:xfrm>
          </p:grpSpPr>
          <p:grpSp>
            <p:nvGrpSpPr>
              <p:cNvPr id="213" name="Group 213"/>
              <p:cNvGrpSpPr/>
              <p:nvPr/>
            </p:nvGrpSpPr>
            <p:grpSpPr>
              <a:xfrm>
                <a:off x="464344" y="6255544"/>
                <a:ext cx="157163" cy="157163"/>
                <a:chOff x="464344" y="6255544"/>
                <a:chExt cx="157163" cy="157163"/>
              </a:xfrm>
            </p:grpSpPr>
            <p:sp>
              <p:nvSpPr>
                <p:cNvPr id="209" name="Freeform 209"/>
                <p:cNvSpPr/>
                <p:nvPr/>
              </p:nvSpPr>
              <p:spPr>
                <a:xfrm>
                  <a:off x="481806" y="62555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B92102"/>
                  </a:solidFill>
                </a:ln>
              </p:spPr>
            </p:sp>
            <p:sp>
              <p:nvSpPr>
                <p:cNvPr id="210" name="Freeform 210"/>
                <p:cNvSpPr/>
                <p:nvPr/>
              </p:nvSpPr>
              <p:spPr>
                <a:xfrm>
                  <a:off x="464344" y="63603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B92102"/>
                  </a:solidFill>
                </a:ln>
              </p:spPr>
            </p:sp>
            <p:sp>
              <p:nvSpPr>
                <p:cNvPr id="211" name="Freeform 211"/>
                <p:cNvSpPr/>
                <p:nvPr/>
              </p:nvSpPr>
              <p:spPr>
                <a:xfrm>
                  <a:off x="577850" y="62566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B92102"/>
                  </a:solidFill>
                </a:ln>
              </p:spPr>
            </p:sp>
            <p:sp>
              <p:nvSpPr>
                <p:cNvPr id="212" name="Freeform 212"/>
                <p:cNvSpPr/>
                <p:nvPr/>
              </p:nvSpPr>
              <p:spPr>
                <a:xfrm>
                  <a:off x="595313" y="63616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B92102"/>
                  </a:solidFill>
                </a:ln>
              </p:spPr>
            </p:sp>
          </p:grpSp>
          <p:sp>
            <p:nvSpPr>
              <p:cNvPr id="214" name="TextBox 214"/>
              <p:cNvSpPr txBox="1"/>
              <p:nvPr/>
            </p:nvSpPr>
            <p:spPr>
              <a:xfrm>
                <a:off x="737806" y="6272451"/>
                <a:ext cx="554152" cy="198025"/>
              </a:xfrm>
              <a:prstGeom prst="rect">
                <a:avLst/>
              </a:prstGeom>
              <a:noFill/>
              <a:ln>
                <a:noFill/>
              </a:ln>
            </p:spPr>
            <p:txBody>
              <a:bodyPr wrap="none" lIns="0" tIns="0" rIns="0" bIns="0" anchor="t" anchorCtr="0">
                <a:spAutoFit/>
              </a:bodyPr>
              <a:lstStyle/>
              <a:p>
                <a:pPr algn="l"/>
                <a:r>
                  <a:rPr lang="zh-CN" sz="1010" b="1" dirty="0">
                    <a:solidFill>
                      <a:srgbClr val="6E1604"/>
                    </a:solidFill>
                    <a:latin typeface="+mn-lt"/>
                    <a:ea typeface="+mn-ea"/>
                    <a:cs typeface="+mn-cs"/>
                  </a:rPr>
                  <a:t>基础客户</a:t>
                </a:r>
              </a:p>
            </p:txBody>
          </p:sp>
          <p:sp>
            <p:nvSpPr>
              <p:cNvPr id="215" name="TextBox 215"/>
              <p:cNvSpPr txBox="1"/>
              <p:nvPr/>
            </p:nvSpPr>
            <p:spPr>
              <a:xfrm>
                <a:off x="1900238" y="6280547"/>
                <a:ext cx="2736522"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便捷服务、基础金融产品、费用敏感、操作简易​</a:t>
                </a:r>
              </a:p>
            </p:txBody>
          </p:sp>
          <p:sp>
            <p:nvSpPr>
              <p:cNvPr id="216" name="TextBox 216"/>
              <p:cNvSpPr txBox="1"/>
              <p:nvPr/>
            </p:nvSpPr>
            <p:spPr>
              <a:xfrm>
                <a:off x="5348288" y="6280547"/>
                <a:ext cx="2863065"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基础账户服务、线上工具、标准化产品、优惠活动​</a:t>
                </a:r>
              </a:p>
            </p:txBody>
          </p:sp>
          <p:sp>
            <p:nvSpPr>
              <p:cNvPr id="217" name="TextBox 217"/>
              <p:cNvSpPr txBox="1"/>
              <p:nvPr/>
            </p:nvSpPr>
            <p:spPr>
              <a:xfrm>
                <a:off x="9424988" y="6280547"/>
                <a:ext cx="1958284" cy="183356"/>
              </a:xfrm>
              <a:prstGeom prst="rect">
                <a:avLst/>
              </a:prstGeom>
              <a:noFill/>
              <a:ln>
                <a:noFill/>
              </a:ln>
            </p:spPr>
            <p:txBody>
              <a:bodyPr wrap="none" lIns="0" tIns="0" rIns="0" bIns="0" anchor="t" anchorCtr="0">
                <a:spAutoFit/>
              </a:bodyPr>
              <a:lstStyle/>
              <a:p>
                <a:pPr algn="l"/>
                <a:r>
                  <a:rPr lang="zh-CN" sz="940" dirty="0">
                    <a:solidFill>
                      <a:srgbClr val="473633"/>
                    </a:solidFill>
                    <a:latin typeface="+mn-lt"/>
                    <a:ea typeface="+mn-ea"/>
                    <a:cs typeface="+mn-cs"/>
                  </a:rPr>
                  <a:t>低频：每季度1次+关键触点​​​​​​</a:t>
                </a:r>
              </a:p>
            </p:txBody>
          </p:sp>
        </p:grpSp>
      </p:gr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07​</a:t>
              </a:r>
            </a:p>
          </p:txBody>
        </p:sp>
        <p:sp>
          <p:nvSpPr>
            <p:cNvPr id="4" name="TextBox 4"/>
            <p:cNvSpPr txBox="1"/>
            <p:nvPr/>
          </p:nvSpPr>
          <p:spPr>
            <a:xfrm>
              <a:off x="942594" y="151448"/>
              <a:ext cx="5449984"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重点客户经营</a:t>
              </a:r>
              <a:r>
                <a:rPr lang="zh-CN" sz="1950" b="1" dirty="0">
                  <a:solidFill>
                    <a:srgbClr val="1A1A1A"/>
                  </a:solidFill>
                  <a:latin typeface="SimSun"/>
                  <a:ea typeface="SimSun"/>
                  <a:cs typeface="SimSun"/>
                </a:rPr>
                <a:t>｜聚焦名单制，推进一户一策​</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64" name="battle-map"/>
          <p:cNvGrpSpPr/>
          <p:nvPr/>
        </p:nvGrpSpPr>
        <p:grpSpPr>
          <a:xfrm>
            <a:off x="266700" y="800100"/>
            <a:ext cx="5067300" cy="5772150"/>
            <a:chOff x="266700" y="800100"/>
            <a:chExt cx="5067300" cy="5772150"/>
          </a:xfrm>
        </p:grpSpPr>
        <p:sp>
          <p:nvSpPr>
            <p:cNvPr id="7" name="Rectangle 7"/>
            <p:cNvSpPr/>
            <p:nvPr/>
          </p:nvSpPr>
          <p:spPr>
            <a:xfrm>
              <a:off x="266700" y="800100"/>
              <a:ext cx="5067300" cy="5772150"/>
            </a:xfrm>
            <a:prstGeom prst="roundRect">
              <a:avLst>
                <a:gd name="adj" fmla="val 1504"/>
              </a:avLst>
            </a:prstGeom>
            <a:solidFill>
              <a:srgbClr val="F7FAFE"/>
            </a:solidFill>
            <a:ln w="9525">
              <a:solidFill>
                <a:srgbClr val="F7D1C9"/>
              </a:solidFill>
            </a:ln>
          </p:spPr>
        </p:sp>
        <p:sp>
          <p:nvSpPr>
            <p:cNvPr id="8" name="Freeform 8"/>
            <p:cNvSpPr/>
            <p:nvPr/>
          </p:nvSpPr>
          <p:spPr>
            <a:xfrm>
              <a:off x="266700" y="800100"/>
              <a:ext cx="5067300" cy="361950"/>
            </a:xfrm>
            <a:custGeom>
              <a:avLst/>
              <a:gdLst/>
              <a:ahLst/>
              <a:cxnLst/>
              <a:rect l="l" t="t" r="r" b="b"/>
              <a:pathLst>
                <a:path w="5067300" h="361950">
                  <a:moveTo>
                    <a:pt x="0" y="76200"/>
                  </a:moveTo>
                  <a:cubicBezTo>
                    <a:pt x="0" y="34116"/>
                    <a:pt x="34116" y="0"/>
                    <a:pt x="76200" y="0"/>
                  </a:cubicBezTo>
                  <a:lnTo>
                    <a:pt x="4991100" y="0"/>
                  </a:lnTo>
                  <a:cubicBezTo>
                    <a:pt x="5033184" y="0"/>
                    <a:pt x="5067300" y="34116"/>
                    <a:pt x="5067300" y="76200"/>
                  </a:cubicBezTo>
                  <a:lnTo>
                    <a:pt x="5067300" y="361950"/>
                  </a:lnTo>
                  <a:lnTo>
                    <a:pt x="0" y="361950"/>
                  </a:lnTo>
                  <a:close/>
                </a:path>
              </a:pathLst>
            </a:custGeom>
            <a:solidFill>
              <a:srgbClr val="6E1604"/>
            </a:solidFill>
            <a:ln>
              <a:noFill/>
            </a:ln>
          </p:spPr>
        </p:sp>
        <p:sp>
          <p:nvSpPr>
            <p:cNvPr id="9" name="TextBox 9"/>
            <p:cNvSpPr txBox="1"/>
            <p:nvPr/>
          </p:nvSpPr>
          <p:spPr>
            <a:xfrm>
              <a:off x="2191537" y="916781"/>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重点客户作战地图</a:t>
              </a:r>
            </a:p>
          </p:txBody>
        </p:sp>
        <p:sp>
          <p:nvSpPr>
            <p:cNvPr id="10" name="Line 10"/>
            <p:cNvSpPr/>
            <p:nvPr/>
          </p:nvSpPr>
          <p:spPr>
            <a:xfrm flipV="1">
              <a:off x="819150" y="1428750"/>
              <a:ext cx="1" cy="3771900"/>
            </a:xfrm>
            <a:prstGeom prst="line">
              <a:avLst/>
            </a:prstGeom>
            <a:noFill/>
            <a:ln w="19050">
              <a:solidFill>
                <a:srgbClr val="D44B2F"/>
              </a:solidFill>
              <a:tailEnd type="triangle" w="lg" len="lg"/>
            </a:ln>
          </p:spPr>
        </p:sp>
        <p:sp>
          <p:nvSpPr>
            <p:cNvPr id="11" name="Line 11"/>
            <p:cNvSpPr/>
            <p:nvPr/>
          </p:nvSpPr>
          <p:spPr>
            <a:xfrm>
              <a:off x="819150" y="5200650"/>
              <a:ext cx="4400550" cy="1"/>
            </a:xfrm>
            <a:prstGeom prst="line">
              <a:avLst/>
            </a:prstGeom>
            <a:noFill/>
            <a:ln w="19050">
              <a:solidFill>
                <a:srgbClr val="D44B2F"/>
              </a:solidFill>
              <a:tailEnd type="triangle" w="lg" len="lg"/>
            </a:ln>
          </p:spPr>
        </p:sp>
        <p:sp>
          <p:nvSpPr>
            <p:cNvPr id="12" name="TextBox 12"/>
            <p:cNvSpPr txBox="1"/>
            <p:nvPr/>
          </p:nvSpPr>
          <p:spPr>
            <a:xfrm>
              <a:off x="500583" y="1533049"/>
              <a:ext cx="141834" cy="190690"/>
            </a:xfrm>
            <a:prstGeom prst="rect">
              <a:avLst/>
            </a:prstGeom>
            <a:noFill/>
            <a:ln>
              <a:noFill/>
            </a:ln>
          </p:spPr>
          <p:txBody>
            <a:bodyPr wrap="none" lIns="0" tIns="0" rIns="0" bIns="0" anchor="t" anchorCtr="0">
              <a:spAutoFit/>
            </a:bodyPr>
            <a:lstStyle/>
            <a:p>
              <a:pPr algn="ctr"/>
              <a:r>
                <a:rPr lang="zh-CN" sz="980" dirty="0">
                  <a:solidFill>
                    <a:srgbClr val="473633"/>
                  </a:solidFill>
                  <a:latin typeface="+mn-lt"/>
                  <a:ea typeface="+mn-ea"/>
                  <a:cs typeface="+mn-cs"/>
                </a:rPr>
                <a:t>高</a:t>
              </a:r>
            </a:p>
          </p:txBody>
        </p:sp>
        <p:sp>
          <p:nvSpPr>
            <p:cNvPr id="13" name="TextBox 13"/>
            <p:cNvSpPr txBox="1"/>
            <p:nvPr/>
          </p:nvSpPr>
          <p:spPr>
            <a:xfrm>
              <a:off x="500583" y="5019199"/>
              <a:ext cx="141834" cy="190690"/>
            </a:xfrm>
            <a:prstGeom prst="rect">
              <a:avLst/>
            </a:prstGeom>
            <a:noFill/>
            <a:ln>
              <a:noFill/>
            </a:ln>
          </p:spPr>
          <p:txBody>
            <a:bodyPr wrap="none" lIns="0" tIns="0" rIns="0" bIns="0" anchor="t" anchorCtr="0">
              <a:spAutoFit/>
            </a:bodyPr>
            <a:lstStyle/>
            <a:p>
              <a:pPr algn="ctr"/>
              <a:r>
                <a:rPr lang="zh-CN" sz="980" dirty="0">
                  <a:solidFill>
                    <a:srgbClr val="473633"/>
                  </a:solidFill>
                  <a:latin typeface="+mn-lt"/>
                  <a:ea typeface="+mn-ea"/>
                  <a:cs typeface="+mn-cs"/>
                </a:rPr>
                <a:t>低</a:t>
              </a:r>
            </a:p>
          </p:txBody>
        </p:sp>
        <p:sp>
          <p:nvSpPr>
            <p:cNvPr id="14" name="TextBox 14"/>
            <p:cNvSpPr txBox="1"/>
            <p:nvPr/>
          </p:nvSpPr>
          <p:spPr>
            <a:xfrm>
              <a:off x="355854" y="2918460"/>
              <a:ext cx="164592" cy="863346"/>
            </a:xfrm>
            <a:prstGeom prst="rect">
              <a:avLst/>
            </a:prstGeom>
            <a:noFill/>
            <a:ln>
              <a:noFill/>
            </a:ln>
          </p:spPr>
          <p:txBody>
            <a:bodyPr wrap="none" lIns="0" tIns="0" rIns="0" bIns="0" anchor="t" anchorCtr="0">
              <a:spAutoFit/>
            </a:bodyPr>
            <a:lstStyle/>
            <a:p>
              <a:pPr algn="ctr">
                <a:lnSpc>
                  <a:spcPts val="1650"/>
                </a:lnSpc>
              </a:pPr>
              <a:r>
                <a:rPr lang="zh-CN" sz="1200" b="1" dirty="0">
                  <a:solidFill>
                    <a:srgbClr val="6E1604"/>
                  </a:solidFill>
                  <a:latin typeface="+mn-lt"/>
                  <a:ea typeface="+mn-ea"/>
                  <a:cs typeface="+mn-cs"/>
                </a:rPr>
                <a:t>客</a:t>
              </a:r>
              <a:br/>
              <a:r>
                <a:rPr lang="zh-CN" sz="1200" b="1" dirty="0">
                  <a:solidFill>
                    <a:srgbClr val="6E1604"/>
                  </a:solidFill>
                  <a:latin typeface="+mn-lt"/>
                  <a:ea typeface="+mn-ea"/>
                  <a:cs typeface="+mn-cs"/>
                </a:rPr>
                <a:t>户</a:t>
              </a:r>
              <a:br/>
              <a:r>
                <a:rPr lang="zh-CN" sz="1200" b="1" dirty="0">
                  <a:solidFill>
                    <a:srgbClr val="6E1604"/>
                  </a:solidFill>
                  <a:latin typeface="+mn-lt"/>
                  <a:ea typeface="+mn-ea"/>
                  <a:cs typeface="+mn-cs"/>
                </a:rPr>
                <a:t>价</a:t>
              </a:r>
              <a:br/>
              <a:r>
                <a:rPr lang="zh-CN" sz="1200" b="1" dirty="0">
                  <a:solidFill>
                    <a:srgbClr val="6E1604"/>
                  </a:solidFill>
                  <a:latin typeface="+mn-lt"/>
                  <a:ea typeface="+mn-ea"/>
                  <a:cs typeface="+mn-cs"/>
                </a:rPr>
                <a:t>值</a:t>
              </a:r>
            </a:p>
          </p:txBody>
        </p:sp>
        <p:sp>
          <p:nvSpPr>
            <p:cNvPr id="15" name="TextBox 15"/>
            <p:cNvSpPr txBox="1"/>
            <p:nvPr/>
          </p:nvSpPr>
          <p:spPr>
            <a:xfrm>
              <a:off x="919683" y="5304949"/>
              <a:ext cx="141834" cy="190690"/>
            </a:xfrm>
            <a:prstGeom prst="rect">
              <a:avLst/>
            </a:prstGeom>
            <a:noFill/>
            <a:ln>
              <a:noFill/>
            </a:ln>
          </p:spPr>
          <p:txBody>
            <a:bodyPr wrap="none" lIns="0" tIns="0" rIns="0" bIns="0" anchor="t" anchorCtr="0">
              <a:spAutoFit/>
            </a:bodyPr>
            <a:lstStyle/>
            <a:p>
              <a:pPr algn="ctr"/>
              <a:r>
                <a:rPr lang="zh-CN" sz="980" dirty="0">
                  <a:solidFill>
                    <a:srgbClr val="473633"/>
                  </a:solidFill>
                  <a:latin typeface="+mn-lt"/>
                  <a:ea typeface="+mn-ea"/>
                  <a:cs typeface="+mn-cs"/>
                </a:rPr>
                <a:t>低</a:t>
              </a:r>
            </a:p>
          </p:txBody>
        </p:sp>
        <p:sp>
          <p:nvSpPr>
            <p:cNvPr id="16" name="TextBox 16"/>
            <p:cNvSpPr txBox="1"/>
            <p:nvPr/>
          </p:nvSpPr>
          <p:spPr>
            <a:xfrm>
              <a:off x="2680716" y="5299710"/>
              <a:ext cx="658368" cy="234696"/>
            </a:xfrm>
            <a:prstGeom prst="rect">
              <a:avLst/>
            </a:prstGeom>
            <a:noFill/>
            <a:ln>
              <a:noFill/>
            </a:ln>
          </p:spPr>
          <p:txBody>
            <a:bodyPr wrap="none" lIns="0" tIns="0" rIns="0" bIns="0" anchor="t" anchorCtr="0">
              <a:spAutoFit/>
            </a:bodyPr>
            <a:lstStyle/>
            <a:p>
              <a:pPr algn="ctr"/>
              <a:r>
                <a:rPr lang="zh-CN" sz="1200" b="1" dirty="0">
                  <a:solidFill>
                    <a:srgbClr val="6E1604"/>
                  </a:solidFill>
                  <a:latin typeface="+mn-lt"/>
                  <a:ea typeface="+mn-ea"/>
                  <a:cs typeface="+mn-cs"/>
                </a:rPr>
                <a:t>合作深度</a:t>
              </a:r>
            </a:p>
          </p:txBody>
        </p:sp>
        <p:sp>
          <p:nvSpPr>
            <p:cNvPr id="17" name="TextBox 17"/>
            <p:cNvSpPr txBox="1"/>
            <p:nvPr/>
          </p:nvSpPr>
          <p:spPr>
            <a:xfrm>
              <a:off x="4958283" y="5304949"/>
              <a:ext cx="141834" cy="190690"/>
            </a:xfrm>
            <a:prstGeom prst="rect">
              <a:avLst/>
            </a:prstGeom>
            <a:noFill/>
            <a:ln>
              <a:noFill/>
            </a:ln>
          </p:spPr>
          <p:txBody>
            <a:bodyPr wrap="none" lIns="0" tIns="0" rIns="0" bIns="0" anchor="t" anchorCtr="0">
              <a:spAutoFit/>
            </a:bodyPr>
            <a:lstStyle/>
            <a:p>
              <a:pPr algn="ctr"/>
              <a:r>
                <a:rPr lang="zh-CN" sz="980" dirty="0">
                  <a:solidFill>
                    <a:srgbClr val="473633"/>
                  </a:solidFill>
                  <a:latin typeface="+mn-lt"/>
                  <a:ea typeface="+mn-ea"/>
                  <a:cs typeface="+mn-cs"/>
                </a:rPr>
                <a:t>高</a:t>
              </a:r>
            </a:p>
          </p:txBody>
        </p:sp>
        <p:grpSp>
          <p:nvGrpSpPr>
            <p:cNvPr id="26" name="quad-strategic"/>
            <p:cNvGrpSpPr/>
            <p:nvPr/>
          </p:nvGrpSpPr>
          <p:grpSpPr>
            <a:xfrm>
              <a:off x="952500" y="1524000"/>
              <a:ext cx="2019300" cy="1752600"/>
              <a:chOff x="952500" y="1524000"/>
              <a:chExt cx="2019300" cy="1752600"/>
            </a:xfrm>
          </p:grpSpPr>
          <p:sp>
            <p:nvSpPr>
              <p:cNvPr id="18" name="Rectangle 18"/>
              <p:cNvSpPr/>
              <p:nvPr/>
            </p:nvSpPr>
            <p:spPr>
              <a:xfrm>
                <a:off x="952500" y="1524000"/>
                <a:ext cx="2019300" cy="1752600"/>
              </a:xfrm>
              <a:prstGeom prst="roundRect">
                <a:avLst>
                  <a:gd name="adj" fmla="val 3261"/>
                </a:avLst>
              </a:prstGeom>
              <a:solidFill>
                <a:srgbClr val="FFFFFF"/>
              </a:solidFill>
              <a:ln w="9525">
                <a:solidFill>
                  <a:srgbClr val="F7D1C9"/>
                </a:solidFill>
              </a:ln>
            </p:spPr>
          </p:sp>
          <p:sp>
            <p:nvSpPr>
              <p:cNvPr id="19" name="Ellipse 19"/>
              <p:cNvSpPr/>
              <p:nvPr/>
            </p:nvSpPr>
            <p:spPr>
              <a:xfrm>
                <a:off x="1095375" y="1666875"/>
                <a:ext cx="323850" cy="323850"/>
              </a:xfrm>
              <a:prstGeom prst="ellipse">
                <a:avLst/>
              </a:prstGeom>
              <a:solidFill>
                <a:srgbClr val="B92102"/>
              </a:solidFill>
              <a:ln>
                <a:noFill/>
              </a:ln>
            </p:spPr>
          </p:sp>
          <p:grpSp>
            <p:nvGrpSpPr>
              <p:cNvPr id="23" name="Group 23"/>
              <p:cNvGrpSpPr/>
              <p:nvPr/>
            </p:nvGrpSpPr>
            <p:grpSpPr>
              <a:xfrm>
                <a:off x="1185862" y="1757362"/>
                <a:ext cx="142875" cy="142875"/>
                <a:chOff x="1185862" y="1757362"/>
                <a:chExt cx="142875" cy="142875"/>
              </a:xfrm>
            </p:grpSpPr>
            <p:sp>
              <p:nvSpPr>
                <p:cNvPr id="20" name="Freeform 20"/>
                <p:cNvSpPr/>
                <p:nvPr/>
              </p:nvSpPr>
              <p:spPr>
                <a:xfrm>
                  <a:off x="1249362" y="18208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21" name="Freeform 21"/>
                <p:cNvSpPr/>
                <p:nvPr/>
              </p:nvSpPr>
              <p:spPr>
                <a:xfrm>
                  <a:off x="1217612" y="17891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22" name="Freeform 22"/>
                <p:cNvSpPr/>
                <p:nvPr/>
              </p:nvSpPr>
              <p:spPr>
                <a:xfrm>
                  <a:off x="1185862" y="17573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24" name="TextBox 24"/>
              <p:cNvSpPr txBox="1"/>
              <p:nvPr/>
            </p:nvSpPr>
            <p:spPr>
              <a:xfrm>
                <a:off x="1517904" y="1756410"/>
                <a:ext cx="658368" cy="234696"/>
              </a:xfrm>
              <a:prstGeom prst="rect">
                <a:avLst/>
              </a:prstGeom>
              <a:noFill/>
              <a:ln>
                <a:noFill/>
              </a:ln>
            </p:spPr>
            <p:txBody>
              <a:bodyPr wrap="none" lIns="0" tIns="0" rIns="0" bIns="0" anchor="t" anchorCtr="0">
                <a:spAutoFit/>
              </a:bodyPr>
              <a:lstStyle/>
              <a:p>
                <a:pPr algn="l"/>
                <a:r>
                  <a:rPr lang="zh-CN" sz="1200" b="1" dirty="0">
                    <a:solidFill>
                      <a:srgbClr val="6E1604"/>
                    </a:solidFill>
                    <a:latin typeface="+mn-lt"/>
                    <a:ea typeface="+mn-ea"/>
                    <a:cs typeface="+mn-cs"/>
                  </a:rPr>
                  <a:t>战略深耕</a:t>
                </a:r>
              </a:p>
            </p:txBody>
          </p:sp>
          <p:sp>
            <p:nvSpPr>
              <p:cNvPr id="25" name="TextBox 25"/>
              <p:cNvSpPr txBox="1"/>
              <p:nvPr/>
            </p:nvSpPr>
            <p:spPr>
              <a:xfrm>
                <a:off x="1081088" y="2120741"/>
                <a:ext cx="1311275" cy="847725"/>
              </a:xfrm>
              <a:prstGeom prst="rect">
                <a:avLst/>
              </a:prstGeom>
              <a:noFill/>
              <a:ln>
                <a:noFill/>
              </a:ln>
            </p:spPr>
            <p:txBody>
              <a:bodyPr wrap="none" lIns="0" tIns="0" rIns="0" bIns="0" anchor="t" anchorCtr="0">
                <a:spAutoFit/>
              </a:bodyPr>
              <a:lstStyle/>
              <a:p>
                <a:pPr algn="l" marL="88519" indent="-88519">
                  <a:lnSpc>
                    <a:spcPts val="1800"/>
                  </a:lnSpc>
                  <a:buClr>
                    <a:srgbClr val="473633"/>
                  </a:buClr>
                  <a:buSzTx/>
                  <a:buFontTx/>
                  <a:buChar char="•"/>
                </a:pPr>
                <a:r>
                  <a:rPr lang="zh-CN" sz="820" dirty="0">
                    <a:solidFill>
                      <a:srgbClr val="473633"/>
                    </a:solidFill>
                    <a:latin typeface="+mn-lt"/>
                    <a:ea typeface="+mn-ea"/>
                    <a:cs typeface="+mn-cs"/>
                  </a:rPr>
                  <a:t>高价值 / 低深度​​​​</a:t>
                </a:r>
              </a:p>
              <a:p>
                <a:pPr algn="l" marL="88519" indent="-88519">
                  <a:lnSpc>
                    <a:spcPts val="1800"/>
                  </a:lnSpc>
                  <a:buClr>
                    <a:srgbClr val="473633"/>
                  </a:buClr>
                  <a:buSzTx/>
                  <a:buFontTx/>
                  <a:buChar char="•"/>
                </a:pPr>
                <a:r>
                  <a:rPr lang="zh-CN" sz="820" dirty="0">
                    <a:solidFill>
                      <a:srgbClr val="473633"/>
                    </a:solidFill>
                    <a:latin typeface="+mn-lt"/>
                    <a:ea typeface="+mn-ea"/>
                    <a:cs typeface="+mn-cs"/>
                  </a:rPr>
                  <a:t>聚焦高潜优势领域突破​​​</a:t>
                </a:r>
              </a:p>
              <a:p>
                <a:pPr algn="l" marL="88519" indent="-88519">
                  <a:lnSpc>
                    <a:spcPts val="1800"/>
                  </a:lnSpc>
                  <a:buClr>
                    <a:srgbClr val="473633"/>
                  </a:buClr>
                  <a:buSzTx/>
                  <a:buFontTx/>
                  <a:buChar char="•"/>
                </a:pPr>
                <a:r>
                  <a:rPr lang="zh-CN" sz="820" dirty="0">
                    <a:solidFill>
                      <a:srgbClr val="473633"/>
                    </a:solidFill>
                    <a:latin typeface="+mn-lt"/>
                    <a:ea typeface="+mn-ea"/>
                    <a:cs typeface="+mn-cs"/>
                  </a:rPr>
                  <a:t>制定中长期深耕计划​​</a:t>
                </a:r>
              </a:p>
              <a:p>
                <a:pPr algn="l" marL="88519" indent="-88519">
                  <a:lnSpc>
                    <a:spcPts val="1800"/>
                  </a:lnSpc>
                  <a:buClr>
                    <a:srgbClr val="473633"/>
                  </a:buClr>
                  <a:buSzTx/>
                  <a:buFontTx/>
                  <a:buChar char="•"/>
                </a:pPr>
                <a:r>
                  <a:rPr lang="zh-CN" sz="820" dirty="0">
                    <a:solidFill>
                      <a:srgbClr val="473633"/>
                    </a:solidFill>
                    <a:latin typeface="+mn-lt"/>
                    <a:ea typeface="+mn-ea"/>
                    <a:cs typeface="+mn-cs"/>
                  </a:rPr>
                  <a:t>资源倾斜，高层协同​​</a:t>
                </a:r>
              </a:p>
            </p:txBody>
          </p:sp>
        </p:grpSp>
        <p:grpSp>
          <p:nvGrpSpPr>
            <p:cNvPr id="35" name="quad-cross"/>
            <p:cNvGrpSpPr/>
            <p:nvPr/>
          </p:nvGrpSpPr>
          <p:grpSpPr>
            <a:xfrm>
              <a:off x="3067050" y="1524000"/>
              <a:ext cx="2019300" cy="1752600"/>
              <a:chOff x="3067050" y="1524000"/>
              <a:chExt cx="2019300" cy="1752600"/>
            </a:xfrm>
          </p:grpSpPr>
          <p:sp>
            <p:nvSpPr>
              <p:cNvPr id="27" name="Rectangle 27"/>
              <p:cNvSpPr/>
              <p:nvPr/>
            </p:nvSpPr>
            <p:spPr>
              <a:xfrm>
                <a:off x="3067050" y="1524000"/>
                <a:ext cx="2019300" cy="1752600"/>
              </a:xfrm>
              <a:prstGeom prst="roundRect">
                <a:avLst>
                  <a:gd name="adj" fmla="val 3261"/>
                </a:avLst>
              </a:prstGeom>
              <a:solidFill>
                <a:srgbClr val="FFFFFF"/>
              </a:solidFill>
              <a:ln w="9525">
                <a:solidFill>
                  <a:srgbClr val="F7D1C9"/>
                </a:solidFill>
              </a:ln>
            </p:spPr>
          </p:sp>
          <p:sp>
            <p:nvSpPr>
              <p:cNvPr id="28" name="Ellipse 28"/>
              <p:cNvSpPr/>
              <p:nvPr/>
            </p:nvSpPr>
            <p:spPr>
              <a:xfrm>
                <a:off x="3209925" y="1666875"/>
                <a:ext cx="323850" cy="323850"/>
              </a:xfrm>
              <a:prstGeom prst="ellipse">
                <a:avLst/>
              </a:prstGeom>
              <a:solidFill>
                <a:srgbClr val="B92102"/>
              </a:solidFill>
              <a:ln>
                <a:noFill/>
              </a:ln>
            </p:spPr>
          </p:sp>
          <p:grpSp>
            <p:nvGrpSpPr>
              <p:cNvPr id="32" name="Group 32"/>
              <p:cNvGrpSpPr/>
              <p:nvPr/>
            </p:nvGrpSpPr>
            <p:grpSpPr>
              <a:xfrm>
                <a:off x="3316287" y="1757362"/>
                <a:ext cx="111125" cy="142875"/>
                <a:chOff x="3316287" y="1757362"/>
                <a:chExt cx="111125" cy="142875"/>
              </a:xfrm>
            </p:grpSpPr>
            <p:sp>
              <p:nvSpPr>
                <p:cNvPr id="29" name="Freeform 29"/>
                <p:cNvSpPr/>
                <p:nvPr/>
              </p:nvSpPr>
              <p:spPr>
                <a:xfrm>
                  <a:off x="3316287" y="180498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FFFFFF"/>
                  </a:solidFill>
                </a:ln>
              </p:spPr>
            </p:sp>
            <p:sp>
              <p:nvSpPr>
                <p:cNvPr id="30" name="Freeform 30"/>
                <p:cNvSpPr/>
                <p:nvPr/>
              </p:nvSpPr>
              <p:spPr>
                <a:xfrm>
                  <a:off x="3371850" y="1757362"/>
                  <a:ext cx="9525" cy="87312"/>
                </a:xfrm>
                <a:custGeom>
                  <a:avLst/>
                  <a:gdLst/>
                  <a:ahLst/>
                  <a:cxnLst/>
                  <a:rect l="l" t="t" r="r" b="b"/>
                  <a:pathLst>
                    <a:path w="9525" h="87312">
                      <a:moveTo>
                        <a:pt x="0" y="87312"/>
                      </a:moveTo>
                      <a:lnTo>
                        <a:pt x="0" y="0"/>
                      </a:lnTo>
                    </a:path>
                  </a:pathLst>
                </a:custGeom>
                <a:noFill/>
                <a:ln w="15875">
                  <a:solidFill>
                    <a:srgbClr val="FFFFFF"/>
                  </a:solidFill>
                </a:ln>
              </p:spPr>
            </p:sp>
            <p:sp>
              <p:nvSpPr>
                <p:cNvPr id="31" name="Freeform 31"/>
                <p:cNvSpPr/>
                <p:nvPr/>
              </p:nvSpPr>
              <p:spPr>
                <a:xfrm>
                  <a:off x="3348037" y="1757362"/>
                  <a:ext cx="47625" cy="23812"/>
                </a:xfrm>
                <a:custGeom>
                  <a:avLst/>
                  <a:gdLst/>
                  <a:ahLst/>
                  <a:cxnLst/>
                  <a:rect l="l" t="t" r="r" b="b"/>
                  <a:pathLst>
                    <a:path w="47625" h="23812">
                      <a:moveTo>
                        <a:pt x="0" y="23812"/>
                      </a:moveTo>
                      <a:lnTo>
                        <a:pt x="23812" y="0"/>
                      </a:lnTo>
                      <a:lnTo>
                        <a:pt x="47625" y="23812"/>
                      </a:lnTo>
                    </a:path>
                  </a:pathLst>
                </a:custGeom>
                <a:noFill/>
                <a:ln w="15875">
                  <a:solidFill>
                    <a:srgbClr val="FFFFFF"/>
                  </a:solidFill>
                </a:ln>
              </p:spPr>
            </p:sp>
          </p:grpSp>
          <p:sp>
            <p:nvSpPr>
              <p:cNvPr id="33" name="TextBox 33"/>
              <p:cNvSpPr txBox="1"/>
              <p:nvPr/>
            </p:nvSpPr>
            <p:spPr>
              <a:xfrm>
                <a:off x="3632454" y="1756410"/>
                <a:ext cx="658368" cy="234696"/>
              </a:xfrm>
              <a:prstGeom prst="rect">
                <a:avLst/>
              </a:prstGeom>
              <a:noFill/>
              <a:ln>
                <a:noFill/>
              </a:ln>
            </p:spPr>
            <p:txBody>
              <a:bodyPr wrap="none" lIns="0" tIns="0" rIns="0" bIns="0" anchor="t" anchorCtr="0">
                <a:spAutoFit/>
              </a:bodyPr>
              <a:lstStyle/>
              <a:p>
                <a:pPr algn="l"/>
                <a:r>
                  <a:rPr lang="zh-CN" sz="1200" b="1" dirty="0">
                    <a:solidFill>
                      <a:srgbClr val="6E1604"/>
                    </a:solidFill>
                    <a:latin typeface="+mn-lt"/>
                    <a:ea typeface="+mn-ea"/>
                    <a:cs typeface="+mn-cs"/>
                  </a:rPr>
                  <a:t>交叉销售</a:t>
                </a:r>
              </a:p>
            </p:txBody>
          </p:sp>
          <p:sp>
            <p:nvSpPr>
              <p:cNvPr id="34" name="TextBox 34"/>
              <p:cNvSpPr txBox="1"/>
              <p:nvPr/>
            </p:nvSpPr>
            <p:spPr>
              <a:xfrm>
                <a:off x="3195638" y="2120741"/>
                <a:ext cx="1545590" cy="847725"/>
              </a:xfrm>
              <a:prstGeom prst="rect">
                <a:avLst/>
              </a:prstGeom>
              <a:noFill/>
              <a:ln>
                <a:noFill/>
              </a:ln>
            </p:spPr>
            <p:txBody>
              <a:bodyPr wrap="none" lIns="0" tIns="0" rIns="0" bIns="0" anchor="t" anchorCtr="0">
                <a:spAutoFit/>
              </a:bodyPr>
              <a:lstStyle/>
              <a:p>
                <a:pPr algn="l" marL="88519" indent="-88519">
                  <a:lnSpc>
                    <a:spcPts val="1800"/>
                  </a:lnSpc>
                  <a:buClr>
                    <a:srgbClr val="473633"/>
                  </a:buClr>
                  <a:buSzTx/>
                  <a:buFontTx/>
                  <a:buChar char="•"/>
                </a:pPr>
                <a:r>
                  <a:rPr lang="zh-CN" sz="820" dirty="0">
                    <a:solidFill>
                      <a:srgbClr val="473633"/>
                    </a:solidFill>
                    <a:latin typeface="+mn-lt"/>
                    <a:ea typeface="+mn-ea"/>
                    <a:cs typeface="+mn-cs"/>
                  </a:rPr>
                  <a:t>高价值 / 高深度​​​​</a:t>
                </a:r>
              </a:p>
              <a:p>
                <a:pPr algn="l" marL="88519" indent="-88519">
                  <a:lnSpc>
                    <a:spcPts val="1800"/>
                  </a:lnSpc>
                  <a:buClr>
                    <a:srgbClr val="473633"/>
                  </a:buClr>
                  <a:buSzTx/>
                  <a:buFontTx/>
                  <a:buChar char="•"/>
                </a:pPr>
                <a:r>
                  <a:rPr lang="zh-CN" sz="820" dirty="0">
                    <a:solidFill>
                      <a:srgbClr val="473633"/>
                    </a:solidFill>
                    <a:latin typeface="+mn-lt"/>
                    <a:ea typeface="+mn-ea"/>
                    <a:cs typeface="+mn-cs"/>
                  </a:rPr>
                  <a:t>挖掘多产品 / 多场景机会​​​​​</a:t>
                </a:r>
              </a:p>
              <a:p>
                <a:pPr algn="l" marL="88519" indent="-88519">
                  <a:lnSpc>
                    <a:spcPts val="1800"/>
                  </a:lnSpc>
                  <a:buClr>
                    <a:srgbClr val="473633"/>
                  </a:buClr>
                  <a:buSzTx/>
                  <a:buFontTx/>
                  <a:buChar char="•"/>
                </a:pPr>
                <a:r>
                  <a:rPr lang="zh-CN" sz="820" dirty="0">
                    <a:solidFill>
                      <a:srgbClr val="473633"/>
                    </a:solidFill>
                    <a:latin typeface="+mn-lt"/>
                    <a:ea typeface="+mn-ea"/>
                    <a:cs typeface="+mn-cs"/>
                  </a:rPr>
                  <a:t>提升份额与复购率​​</a:t>
                </a:r>
              </a:p>
              <a:p>
                <a:pPr algn="l" marL="88519" indent="-88519">
                  <a:lnSpc>
                    <a:spcPts val="1800"/>
                  </a:lnSpc>
                  <a:buClr>
                    <a:srgbClr val="473633"/>
                  </a:buClr>
                  <a:buSzTx/>
                  <a:buFontTx/>
                  <a:buChar char="•"/>
                </a:pPr>
                <a:r>
                  <a:rPr lang="zh-CN" sz="820" dirty="0">
                    <a:solidFill>
                      <a:srgbClr val="473633"/>
                    </a:solidFill>
                    <a:latin typeface="+mn-lt"/>
                    <a:ea typeface="+mn-ea"/>
                    <a:cs typeface="+mn-cs"/>
                  </a:rPr>
                  <a:t>打造标杆案例，复制扩展​​​</a:t>
                </a:r>
              </a:p>
            </p:txBody>
          </p:sp>
        </p:grpSp>
        <p:grpSp>
          <p:nvGrpSpPr>
            <p:cNvPr id="44" name="quad-potential"/>
            <p:cNvGrpSpPr/>
            <p:nvPr/>
          </p:nvGrpSpPr>
          <p:grpSpPr>
            <a:xfrm>
              <a:off x="952500" y="3371850"/>
              <a:ext cx="2019300" cy="1714500"/>
              <a:chOff x="952500" y="3371850"/>
              <a:chExt cx="2019300" cy="1714500"/>
            </a:xfrm>
          </p:grpSpPr>
          <p:sp>
            <p:nvSpPr>
              <p:cNvPr id="36" name="Rectangle 36"/>
              <p:cNvSpPr/>
              <p:nvPr/>
            </p:nvSpPr>
            <p:spPr>
              <a:xfrm>
                <a:off x="952500" y="3371850"/>
                <a:ext cx="2019300" cy="1714500"/>
              </a:xfrm>
              <a:prstGeom prst="roundRect">
                <a:avLst>
                  <a:gd name="adj" fmla="val 3333"/>
                </a:avLst>
              </a:prstGeom>
              <a:solidFill>
                <a:srgbClr val="FFFFFF"/>
              </a:solidFill>
              <a:ln w="9525">
                <a:solidFill>
                  <a:srgbClr val="F7D1C9"/>
                </a:solidFill>
              </a:ln>
            </p:spPr>
          </p:sp>
          <p:sp>
            <p:nvSpPr>
              <p:cNvPr id="37" name="Ellipse 37"/>
              <p:cNvSpPr/>
              <p:nvPr/>
            </p:nvSpPr>
            <p:spPr>
              <a:xfrm>
                <a:off x="1095375" y="3514725"/>
                <a:ext cx="323850" cy="323850"/>
              </a:xfrm>
              <a:prstGeom prst="ellipse">
                <a:avLst/>
              </a:prstGeom>
              <a:solidFill>
                <a:srgbClr val="D44B2F"/>
              </a:solidFill>
              <a:ln>
                <a:noFill/>
              </a:ln>
            </p:spPr>
          </p:sp>
          <p:grpSp>
            <p:nvGrpSpPr>
              <p:cNvPr id="41" name="Group 41"/>
              <p:cNvGrpSpPr/>
              <p:nvPr/>
            </p:nvGrpSpPr>
            <p:grpSpPr>
              <a:xfrm>
                <a:off x="1185862" y="3605212"/>
                <a:ext cx="142875" cy="142875"/>
                <a:chOff x="1185862" y="3605212"/>
                <a:chExt cx="142875" cy="142875"/>
              </a:xfrm>
            </p:grpSpPr>
            <p:sp>
              <p:nvSpPr>
                <p:cNvPr id="38" name="Freeform 38"/>
                <p:cNvSpPr/>
                <p:nvPr/>
              </p:nvSpPr>
              <p:spPr>
                <a:xfrm>
                  <a:off x="1185862" y="3605212"/>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FFFFFF"/>
                  </a:solidFill>
                </a:ln>
              </p:spPr>
            </p:sp>
            <p:sp>
              <p:nvSpPr>
                <p:cNvPr id="39" name="Freeform 39"/>
                <p:cNvSpPr/>
                <p:nvPr/>
              </p:nvSpPr>
              <p:spPr>
                <a:xfrm>
                  <a:off x="1214247" y="3636962"/>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FFFFFF"/>
                  </a:solidFill>
                </a:ln>
              </p:spPr>
            </p:sp>
            <p:sp>
              <p:nvSpPr>
                <p:cNvPr id="40" name="Freeform 40"/>
                <p:cNvSpPr/>
                <p:nvPr/>
              </p:nvSpPr>
              <p:spPr>
                <a:xfrm>
                  <a:off x="1239044" y="3716337"/>
                  <a:ext cx="36512" cy="9525"/>
                </a:xfrm>
                <a:custGeom>
                  <a:avLst/>
                  <a:gdLst/>
                  <a:ahLst/>
                  <a:cxnLst/>
                  <a:rect l="l" t="t" r="r" b="b"/>
                  <a:pathLst>
                    <a:path w="36512" h="9525">
                      <a:moveTo>
                        <a:pt x="0" y="0"/>
                      </a:moveTo>
                      <a:lnTo>
                        <a:pt x="36512" y="0"/>
                      </a:lnTo>
                    </a:path>
                  </a:pathLst>
                </a:custGeom>
                <a:noFill/>
                <a:ln w="15875">
                  <a:solidFill>
                    <a:srgbClr val="FFFFFF"/>
                  </a:solidFill>
                </a:ln>
              </p:spPr>
            </p:sp>
          </p:grpSp>
          <p:sp>
            <p:nvSpPr>
              <p:cNvPr id="42" name="TextBox 42"/>
              <p:cNvSpPr txBox="1"/>
              <p:nvPr/>
            </p:nvSpPr>
            <p:spPr>
              <a:xfrm>
                <a:off x="1517904" y="3604260"/>
                <a:ext cx="658368" cy="234696"/>
              </a:xfrm>
              <a:prstGeom prst="rect">
                <a:avLst/>
              </a:prstGeom>
              <a:noFill/>
              <a:ln>
                <a:noFill/>
              </a:ln>
            </p:spPr>
            <p:txBody>
              <a:bodyPr wrap="none" lIns="0" tIns="0" rIns="0" bIns="0" anchor="t" anchorCtr="0">
                <a:spAutoFit/>
              </a:bodyPr>
              <a:lstStyle/>
              <a:p>
                <a:pPr algn="l"/>
                <a:r>
                  <a:rPr lang="zh-CN" sz="1200" b="1" dirty="0">
                    <a:solidFill>
                      <a:srgbClr val="6E1604"/>
                    </a:solidFill>
                    <a:latin typeface="+mn-lt"/>
                    <a:ea typeface="+mn-ea"/>
                    <a:cs typeface="+mn-cs"/>
                  </a:rPr>
                  <a:t>潜力培育</a:t>
                </a:r>
              </a:p>
            </p:txBody>
          </p:sp>
          <p:sp>
            <p:nvSpPr>
              <p:cNvPr id="43" name="TextBox 43"/>
              <p:cNvSpPr txBox="1"/>
              <p:nvPr/>
            </p:nvSpPr>
            <p:spPr>
              <a:xfrm>
                <a:off x="1081088" y="3968591"/>
                <a:ext cx="1415415" cy="847725"/>
              </a:xfrm>
              <a:prstGeom prst="rect">
                <a:avLst/>
              </a:prstGeom>
              <a:noFill/>
              <a:ln>
                <a:noFill/>
              </a:ln>
            </p:spPr>
            <p:txBody>
              <a:bodyPr wrap="none" lIns="0" tIns="0" rIns="0" bIns="0" anchor="t" anchorCtr="0">
                <a:spAutoFit/>
              </a:bodyPr>
              <a:lstStyle/>
              <a:p>
                <a:pPr algn="l" marL="88519" indent="-88519">
                  <a:lnSpc>
                    <a:spcPts val="1800"/>
                  </a:lnSpc>
                  <a:buClr>
                    <a:srgbClr val="473633"/>
                  </a:buClr>
                  <a:buSzTx/>
                  <a:buFontTx/>
                  <a:buChar char="•"/>
                </a:pPr>
                <a:r>
                  <a:rPr lang="zh-CN" sz="820" dirty="0">
                    <a:solidFill>
                      <a:srgbClr val="473633"/>
                    </a:solidFill>
                    <a:latin typeface="+mn-lt"/>
                    <a:ea typeface="+mn-ea"/>
                    <a:cs typeface="+mn-cs"/>
                  </a:rPr>
                  <a:t>低价值 / 低深度​​​​</a:t>
                </a:r>
              </a:p>
              <a:p>
                <a:pPr algn="l" marL="88519" indent="-88519">
                  <a:lnSpc>
                    <a:spcPts val="1800"/>
                  </a:lnSpc>
                  <a:buClr>
                    <a:srgbClr val="473633"/>
                  </a:buClr>
                  <a:buSzTx/>
                  <a:buFontTx/>
                  <a:buChar char="•"/>
                </a:pPr>
                <a:r>
                  <a:rPr lang="zh-CN" sz="820" dirty="0">
                    <a:solidFill>
                      <a:srgbClr val="473633"/>
                    </a:solidFill>
                    <a:latin typeface="+mn-lt"/>
                    <a:ea typeface="+mn-ea"/>
                    <a:cs typeface="+mn-cs"/>
                  </a:rPr>
                  <a:t>识别潜力与成长路径​​</a:t>
                </a:r>
              </a:p>
              <a:p>
                <a:pPr algn="l" marL="88519" indent="-88519">
                  <a:lnSpc>
                    <a:spcPts val="1800"/>
                  </a:lnSpc>
                  <a:buClr>
                    <a:srgbClr val="473633"/>
                  </a:buClr>
                  <a:buSzTx/>
                  <a:buFontTx/>
                  <a:buChar char="•"/>
                </a:pPr>
                <a:r>
                  <a:rPr lang="zh-CN" sz="820" dirty="0">
                    <a:solidFill>
                      <a:srgbClr val="473633"/>
                    </a:solidFill>
                    <a:latin typeface="+mn-lt"/>
                    <a:ea typeface="+mn-ea"/>
                    <a:cs typeface="+mn-cs"/>
                  </a:rPr>
                  <a:t>小切口进入，建立信任​​​</a:t>
                </a:r>
              </a:p>
              <a:p>
                <a:pPr algn="l" marL="88519" indent="-88519">
                  <a:lnSpc>
                    <a:spcPts val="1800"/>
                  </a:lnSpc>
                  <a:buClr>
                    <a:srgbClr val="473633"/>
                  </a:buClr>
                  <a:buSzTx/>
                  <a:buFontTx/>
                  <a:buChar char="•"/>
                </a:pPr>
                <a:r>
                  <a:rPr lang="zh-CN" sz="820" dirty="0">
                    <a:solidFill>
                      <a:srgbClr val="473633"/>
                    </a:solidFill>
                    <a:latin typeface="+mn-lt"/>
                    <a:ea typeface="+mn-ea"/>
                    <a:cs typeface="+mn-cs"/>
                  </a:rPr>
                  <a:t>培育需求，逐步提升价值​​​</a:t>
                </a:r>
              </a:p>
            </p:txBody>
          </p:sp>
        </p:grpSp>
        <p:grpSp>
          <p:nvGrpSpPr>
            <p:cNvPr id="52" name="quad-basic"/>
            <p:cNvGrpSpPr/>
            <p:nvPr/>
          </p:nvGrpSpPr>
          <p:grpSpPr>
            <a:xfrm>
              <a:off x="3067050" y="3371850"/>
              <a:ext cx="2019300" cy="1714500"/>
              <a:chOff x="3067050" y="3371850"/>
              <a:chExt cx="2019300" cy="1714500"/>
            </a:xfrm>
          </p:grpSpPr>
          <p:sp>
            <p:nvSpPr>
              <p:cNvPr id="45" name="Rectangle 45"/>
              <p:cNvSpPr/>
              <p:nvPr/>
            </p:nvSpPr>
            <p:spPr>
              <a:xfrm>
                <a:off x="3067050" y="3371850"/>
                <a:ext cx="2019300" cy="1714500"/>
              </a:xfrm>
              <a:prstGeom prst="roundRect">
                <a:avLst>
                  <a:gd name="adj" fmla="val 3333"/>
                </a:avLst>
              </a:prstGeom>
              <a:solidFill>
                <a:srgbClr val="FFFFFF"/>
              </a:solidFill>
              <a:ln w="9525">
                <a:solidFill>
                  <a:srgbClr val="F7D1C9"/>
                </a:solidFill>
              </a:ln>
            </p:spPr>
          </p:sp>
          <p:sp>
            <p:nvSpPr>
              <p:cNvPr id="46" name="Ellipse 46"/>
              <p:cNvSpPr/>
              <p:nvPr/>
            </p:nvSpPr>
            <p:spPr>
              <a:xfrm>
                <a:off x="3209925" y="3514725"/>
                <a:ext cx="323850" cy="323850"/>
              </a:xfrm>
              <a:prstGeom prst="ellipse">
                <a:avLst/>
              </a:prstGeom>
              <a:solidFill>
                <a:srgbClr val="D44B2F"/>
              </a:solidFill>
              <a:ln>
                <a:noFill/>
              </a:ln>
            </p:spPr>
          </p:sp>
          <p:grpSp>
            <p:nvGrpSpPr>
              <p:cNvPr id="49" name="Group 49"/>
              <p:cNvGrpSpPr/>
              <p:nvPr/>
            </p:nvGrpSpPr>
            <p:grpSpPr>
              <a:xfrm>
                <a:off x="3289700" y="3605212"/>
                <a:ext cx="155005" cy="142875"/>
                <a:chOff x="3289700" y="3605212"/>
                <a:chExt cx="155005" cy="142875"/>
              </a:xfrm>
            </p:grpSpPr>
            <p:sp>
              <p:nvSpPr>
                <p:cNvPr id="47" name="Freeform 47"/>
                <p:cNvSpPr/>
                <p:nvPr/>
              </p:nvSpPr>
              <p:spPr>
                <a:xfrm>
                  <a:off x="3289700" y="36052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48" name="Freeform 48"/>
                <p:cNvSpPr/>
                <p:nvPr/>
              </p:nvSpPr>
              <p:spPr>
                <a:xfrm>
                  <a:off x="3395662" y="371633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50" name="TextBox 50"/>
              <p:cNvSpPr txBox="1"/>
              <p:nvPr/>
            </p:nvSpPr>
            <p:spPr>
              <a:xfrm>
                <a:off x="3632454" y="3604260"/>
                <a:ext cx="658368" cy="234696"/>
              </a:xfrm>
              <a:prstGeom prst="rect">
                <a:avLst/>
              </a:prstGeom>
              <a:noFill/>
              <a:ln>
                <a:noFill/>
              </a:ln>
            </p:spPr>
            <p:txBody>
              <a:bodyPr wrap="none" lIns="0" tIns="0" rIns="0" bIns="0" anchor="t" anchorCtr="0">
                <a:spAutoFit/>
              </a:bodyPr>
              <a:lstStyle/>
              <a:p>
                <a:pPr algn="l"/>
                <a:r>
                  <a:rPr lang="zh-CN" sz="1200" b="1" dirty="0">
                    <a:solidFill>
                      <a:srgbClr val="6E1604"/>
                    </a:solidFill>
                    <a:latin typeface="+mn-lt"/>
                    <a:ea typeface="+mn-ea"/>
                    <a:cs typeface="+mn-cs"/>
                  </a:rPr>
                  <a:t>基础培护</a:t>
                </a:r>
              </a:p>
            </p:txBody>
          </p:sp>
          <p:sp>
            <p:nvSpPr>
              <p:cNvPr id="51" name="TextBox 51"/>
              <p:cNvSpPr txBox="1"/>
              <p:nvPr/>
            </p:nvSpPr>
            <p:spPr>
              <a:xfrm>
                <a:off x="3195638" y="3968591"/>
                <a:ext cx="1149858" cy="847725"/>
              </a:xfrm>
              <a:prstGeom prst="rect">
                <a:avLst/>
              </a:prstGeom>
              <a:noFill/>
              <a:ln>
                <a:noFill/>
              </a:ln>
            </p:spPr>
            <p:txBody>
              <a:bodyPr wrap="none" lIns="0" tIns="0" rIns="0" bIns="0" anchor="t" anchorCtr="0">
                <a:spAutoFit/>
              </a:bodyPr>
              <a:lstStyle/>
              <a:p>
                <a:pPr algn="l" marL="88519" indent="-88519">
                  <a:lnSpc>
                    <a:spcPts val="1800"/>
                  </a:lnSpc>
                  <a:buClr>
                    <a:srgbClr val="473633"/>
                  </a:buClr>
                  <a:buSzTx/>
                  <a:buFontTx/>
                  <a:buChar char="•"/>
                </a:pPr>
                <a:r>
                  <a:rPr lang="zh-CN" sz="820" dirty="0">
                    <a:solidFill>
                      <a:srgbClr val="473633"/>
                    </a:solidFill>
                    <a:latin typeface="+mn-lt"/>
                    <a:ea typeface="+mn-ea"/>
                    <a:cs typeface="+mn-cs"/>
                  </a:rPr>
                  <a:t>低价值 / 高深度​​​​</a:t>
                </a:r>
              </a:p>
              <a:p>
                <a:pPr algn="l" marL="88519" indent="-88519">
                  <a:lnSpc>
                    <a:spcPts val="1800"/>
                  </a:lnSpc>
                  <a:buClr>
                    <a:srgbClr val="473633"/>
                  </a:buClr>
                  <a:buSzTx/>
                  <a:buFontTx/>
                  <a:buChar char="•"/>
                </a:pPr>
                <a:r>
                  <a:rPr lang="zh-CN" sz="820" dirty="0">
                    <a:solidFill>
                      <a:srgbClr val="473633"/>
                    </a:solidFill>
                    <a:latin typeface="+mn-lt"/>
                    <a:ea typeface="+mn-ea"/>
                    <a:cs typeface="+mn-cs"/>
                  </a:rPr>
                  <a:t>保障基础服务与体验​​</a:t>
                </a:r>
              </a:p>
              <a:p>
                <a:pPr algn="l" marL="88519" indent="-88519">
                  <a:lnSpc>
                    <a:spcPts val="1800"/>
                  </a:lnSpc>
                  <a:buClr>
                    <a:srgbClr val="473633"/>
                  </a:buClr>
                  <a:buSzTx/>
                  <a:buFontTx/>
                  <a:buChar char="•"/>
                </a:pPr>
                <a:r>
                  <a:rPr lang="zh-CN" sz="820" dirty="0">
                    <a:solidFill>
                      <a:srgbClr val="473633"/>
                    </a:solidFill>
                    <a:latin typeface="+mn-lt"/>
                    <a:ea typeface="+mn-ea"/>
                    <a:cs typeface="+mn-cs"/>
                  </a:rPr>
                  <a:t>控制成本，提升效率​​</a:t>
                </a:r>
              </a:p>
              <a:p>
                <a:pPr algn="l" marL="88519" indent="-88519">
                  <a:lnSpc>
                    <a:spcPts val="1800"/>
                  </a:lnSpc>
                  <a:buClr>
                    <a:srgbClr val="473633"/>
                  </a:buClr>
                  <a:buSzTx/>
                  <a:buFontTx/>
                  <a:buChar char="•"/>
                </a:pPr>
                <a:r>
                  <a:rPr lang="zh-CN" sz="820" dirty="0">
                    <a:solidFill>
                      <a:srgbClr val="473633"/>
                    </a:solidFill>
                    <a:latin typeface="+mn-lt"/>
                    <a:ea typeface="+mn-ea"/>
                    <a:cs typeface="+mn-cs"/>
                  </a:rPr>
                  <a:t>关注变化，防止流失​​</a:t>
                </a:r>
              </a:p>
            </p:txBody>
          </p:sp>
        </p:grpSp>
        <p:grpSp>
          <p:nvGrpSpPr>
            <p:cNvPr id="63" name="map-legend"/>
            <p:cNvGrpSpPr/>
            <p:nvPr/>
          </p:nvGrpSpPr>
          <p:grpSpPr>
            <a:xfrm>
              <a:off x="381000" y="5619750"/>
              <a:ext cx="4819650" cy="838200"/>
              <a:chOff x="381000" y="5619750"/>
              <a:chExt cx="4819650" cy="838200"/>
            </a:xfrm>
          </p:grpSpPr>
          <p:sp>
            <p:nvSpPr>
              <p:cNvPr id="53" name="Rectangle 53"/>
              <p:cNvSpPr/>
              <p:nvPr/>
            </p:nvSpPr>
            <p:spPr>
              <a:xfrm>
                <a:off x="381000" y="5619750"/>
                <a:ext cx="4819650" cy="838200"/>
              </a:xfrm>
              <a:prstGeom prst="roundRect">
                <a:avLst>
                  <a:gd name="adj" fmla="val 6818"/>
                </a:avLst>
              </a:prstGeom>
              <a:solidFill>
                <a:srgbClr val="FFFFFF"/>
              </a:solidFill>
              <a:ln w="9525">
                <a:solidFill>
                  <a:srgbClr val="DCE6F8"/>
                </a:solidFill>
                <a:custDash>
                  <a:ds d="400000" sp="300000"/>
                </a:custDash>
              </a:ln>
            </p:spPr>
          </p:sp>
          <p:sp>
            <p:nvSpPr>
              <p:cNvPr id="54" name="Rectangle 54"/>
              <p:cNvSpPr/>
              <p:nvPr/>
            </p:nvSpPr>
            <p:spPr>
              <a:xfrm>
                <a:off x="495300" y="5734050"/>
                <a:ext cx="209550" cy="95250"/>
              </a:xfrm>
              <a:prstGeom prst="rect">
                <a:avLst/>
              </a:prstGeom>
              <a:solidFill>
                <a:srgbClr val="B92102"/>
              </a:solidFill>
              <a:ln>
                <a:noFill/>
              </a:ln>
            </p:spPr>
          </p:sp>
          <p:sp>
            <p:nvSpPr>
              <p:cNvPr id="55" name="TextBox 55"/>
              <p:cNvSpPr txBox="1"/>
              <p:nvPr/>
            </p:nvSpPr>
            <p:spPr>
              <a:xfrm>
                <a:off x="757238" y="5734764"/>
                <a:ext cx="328574"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高价值</a:t>
                </a:r>
              </a:p>
            </p:txBody>
          </p:sp>
          <p:sp>
            <p:nvSpPr>
              <p:cNvPr id="56" name="Rectangle 56"/>
              <p:cNvSpPr/>
              <p:nvPr/>
            </p:nvSpPr>
            <p:spPr>
              <a:xfrm>
                <a:off x="495300" y="5924550"/>
                <a:ext cx="209550" cy="95250"/>
              </a:xfrm>
              <a:prstGeom prst="rect">
                <a:avLst/>
              </a:prstGeom>
              <a:solidFill>
                <a:srgbClr val="D9705B"/>
              </a:solidFill>
              <a:ln>
                <a:noFill/>
              </a:ln>
            </p:spPr>
          </p:sp>
          <p:sp>
            <p:nvSpPr>
              <p:cNvPr id="57" name="TextBox 57"/>
              <p:cNvSpPr txBox="1"/>
              <p:nvPr/>
            </p:nvSpPr>
            <p:spPr>
              <a:xfrm>
                <a:off x="757238" y="5925264"/>
                <a:ext cx="434924"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中等价值</a:t>
                </a:r>
              </a:p>
            </p:txBody>
          </p:sp>
          <p:sp>
            <p:nvSpPr>
              <p:cNvPr id="58" name="Rectangle 58"/>
              <p:cNvSpPr/>
              <p:nvPr/>
            </p:nvSpPr>
            <p:spPr>
              <a:xfrm>
                <a:off x="495300" y="6115050"/>
                <a:ext cx="209550" cy="95250"/>
              </a:xfrm>
              <a:prstGeom prst="rect">
                <a:avLst/>
              </a:prstGeom>
              <a:solidFill>
                <a:srgbClr val="FDCCC2"/>
              </a:solidFill>
              <a:ln>
                <a:noFill/>
              </a:ln>
            </p:spPr>
          </p:sp>
          <p:sp>
            <p:nvSpPr>
              <p:cNvPr id="59" name="TextBox 59"/>
              <p:cNvSpPr txBox="1"/>
              <p:nvPr/>
            </p:nvSpPr>
            <p:spPr>
              <a:xfrm>
                <a:off x="757238" y="6115764"/>
                <a:ext cx="328574"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低价值</a:t>
                </a:r>
              </a:p>
            </p:txBody>
          </p:sp>
          <p:sp>
            <p:nvSpPr>
              <p:cNvPr id="60" name="Line 60"/>
              <p:cNvSpPr/>
              <p:nvPr/>
            </p:nvSpPr>
            <p:spPr>
              <a:xfrm>
                <a:off x="1333500" y="5715000"/>
                <a:ext cx="9525" cy="647700"/>
              </a:xfrm>
              <a:custGeom>
                <a:avLst/>
                <a:gdLst/>
                <a:ahLst/>
                <a:cxnLst/>
                <a:rect l="l" t="t" r="r" b="b"/>
                <a:pathLst>
                  <a:path w="9525" h="647700">
                    <a:moveTo>
                      <a:pt x="0" y="0"/>
                    </a:moveTo>
                    <a:lnTo>
                      <a:pt x="0" y="647700"/>
                    </a:lnTo>
                  </a:path>
                </a:pathLst>
              </a:custGeom>
              <a:noFill/>
              <a:ln w="9525">
                <a:solidFill>
                  <a:srgbClr val="DCE6F8"/>
                </a:solidFill>
              </a:ln>
            </p:spPr>
          </p:sp>
          <p:sp>
            <p:nvSpPr>
              <p:cNvPr id="61" name="TextBox 61"/>
              <p:cNvSpPr txBox="1"/>
              <p:nvPr/>
            </p:nvSpPr>
            <p:spPr>
              <a:xfrm>
                <a:off x="1462088" y="5839539"/>
                <a:ext cx="3471211"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客户价值：</a:t>
                </a:r>
                <a:r>
                  <a:rPr lang="zh-CN" sz="790" dirty="0">
                    <a:solidFill>
                      <a:srgbClr val="473633"/>
                    </a:solidFill>
                    <a:latin typeface="+mn-lt"/>
                    <a:ea typeface="+mn-ea"/>
                    <a:cs typeface="+mn-cs"/>
                  </a:rPr>
                  <a:t>综合考虑收入贡献、利润贡献、战略重要性、成长潜力等因素​</a:t>
                </a:r>
              </a:p>
            </p:txBody>
          </p:sp>
          <p:sp>
            <p:nvSpPr>
              <p:cNvPr id="62" name="TextBox 62"/>
              <p:cNvSpPr txBox="1"/>
              <p:nvPr/>
            </p:nvSpPr>
            <p:spPr>
              <a:xfrm>
                <a:off x="1462088" y="6106239"/>
                <a:ext cx="3152162"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合作深度：</a:t>
                </a:r>
                <a:r>
                  <a:rPr lang="zh-CN" sz="790" dirty="0">
                    <a:solidFill>
                      <a:srgbClr val="473633"/>
                    </a:solidFill>
                    <a:latin typeface="+mn-lt"/>
                    <a:ea typeface="+mn-ea"/>
                    <a:cs typeface="+mn-cs"/>
                  </a:rPr>
                  <a:t>综合产品覆盖、业务渗透、关系密度、服务黏性等因素​</a:t>
                </a:r>
              </a:p>
            </p:txBody>
          </p:sp>
        </p:grpSp>
      </p:grpSp>
      <p:grpSp>
        <p:nvGrpSpPr>
          <p:cNvPr id="121" name="action-plan-table"/>
          <p:cNvGrpSpPr/>
          <p:nvPr/>
        </p:nvGrpSpPr>
        <p:grpSpPr>
          <a:xfrm>
            <a:off x="5505450" y="800100"/>
            <a:ext cx="6419850" cy="3009900"/>
            <a:chOff x="5505450" y="800100"/>
            <a:chExt cx="6419850" cy="3009900"/>
          </a:xfrm>
        </p:grpSpPr>
        <p:sp>
          <p:nvSpPr>
            <p:cNvPr id="65" name="Rectangle 65"/>
            <p:cNvSpPr/>
            <p:nvPr/>
          </p:nvSpPr>
          <p:spPr>
            <a:xfrm>
              <a:off x="5505450" y="800100"/>
              <a:ext cx="6419850" cy="3009900"/>
            </a:xfrm>
            <a:prstGeom prst="roundRect">
              <a:avLst>
                <a:gd name="adj" fmla="val 2532"/>
              </a:avLst>
            </a:prstGeom>
            <a:solidFill>
              <a:srgbClr val="FFFFFF"/>
            </a:solidFill>
            <a:ln w="9525">
              <a:solidFill>
                <a:srgbClr val="F7D1C9"/>
              </a:solidFill>
            </a:ln>
          </p:spPr>
        </p:sp>
        <p:sp>
          <p:nvSpPr>
            <p:cNvPr id="66" name="Freeform 66"/>
            <p:cNvSpPr/>
            <p:nvPr/>
          </p:nvSpPr>
          <p:spPr>
            <a:xfrm>
              <a:off x="5505450" y="800100"/>
              <a:ext cx="6419850" cy="361950"/>
            </a:xfrm>
            <a:custGeom>
              <a:avLst/>
              <a:gdLst/>
              <a:ahLst/>
              <a:cxnLst/>
              <a:rect l="l" t="t" r="r" b="b"/>
              <a:pathLst>
                <a:path w="6419850" h="361950">
                  <a:moveTo>
                    <a:pt x="0" y="76200"/>
                  </a:moveTo>
                  <a:cubicBezTo>
                    <a:pt x="0" y="34116"/>
                    <a:pt x="34116" y="0"/>
                    <a:pt x="76200" y="0"/>
                  </a:cubicBezTo>
                  <a:lnTo>
                    <a:pt x="6343650" y="0"/>
                  </a:lnTo>
                  <a:cubicBezTo>
                    <a:pt x="6385734" y="0"/>
                    <a:pt x="6419850" y="34116"/>
                    <a:pt x="6419850" y="76200"/>
                  </a:cubicBezTo>
                  <a:lnTo>
                    <a:pt x="6419850" y="361950"/>
                  </a:lnTo>
                  <a:lnTo>
                    <a:pt x="0" y="361950"/>
                  </a:lnTo>
                  <a:close/>
                </a:path>
              </a:pathLst>
            </a:custGeom>
            <a:solidFill>
              <a:srgbClr val="6E1604"/>
            </a:solidFill>
            <a:ln>
              <a:noFill/>
            </a:ln>
          </p:spPr>
        </p:sp>
        <p:sp>
          <p:nvSpPr>
            <p:cNvPr id="67" name="TextBox 67"/>
            <p:cNvSpPr txBox="1"/>
            <p:nvPr/>
          </p:nvSpPr>
          <p:spPr>
            <a:xfrm>
              <a:off x="7384541" y="916781"/>
              <a:ext cx="2661667"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一户一策：重点客户行动计划（示例）​</a:t>
              </a:r>
            </a:p>
          </p:txBody>
        </p:sp>
        <p:sp>
          <p:nvSpPr>
            <p:cNvPr id="68" name="Rectangle 68"/>
            <p:cNvSpPr/>
            <p:nvPr/>
          </p:nvSpPr>
          <p:spPr>
            <a:xfrm>
              <a:off x="5619750" y="1257300"/>
              <a:ext cx="6191250" cy="285750"/>
            </a:xfrm>
            <a:prstGeom prst="roundRect">
              <a:avLst>
                <a:gd name="adj" fmla="val 13333"/>
              </a:avLst>
            </a:prstGeom>
            <a:solidFill>
              <a:srgbClr val="B92102"/>
            </a:solidFill>
            <a:ln>
              <a:noFill/>
            </a:ln>
          </p:spPr>
        </p:sp>
        <p:sp>
          <p:nvSpPr>
            <p:cNvPr id="69" name="TextBox 69"/>
            <p:cNvSpPr txBox="1"/>
            <p:nvPr/>
          </p:nvSpPr>
          <p:spPr>
            <a:xfrm>
              <a:off x="5959119" y="135207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客户</a:t>
              </a:r>
            </a:p>
          </p:txBody>
        </p:sp>
        <p:sp>
          <p:nvSpPr>
            <p:cNvPr id="70" name="TextBox 70"/>
            <p:cNvSpPr txBox="1"/>
            <p:nvPr/>
          </p:nvSpPr>
          <p:spPr>
            <a:xfrm>
              <a:off x="6855892" y="13520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当前合作</a:t>
              </a:r>
            </a:p>
          </p:txBody>
        </p:sp>
        <p:sp>
          <p:nvSpPr>
            <p:cNvPr id="71" name="TextBox 71"/>
            <p:cNvSpPr txBox="1"/>
            <p:nvPr/>
          </p:nvSpPr>
          <p:spPr>
            <a:xfrm>
              <a:off x="7960792" y="13520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核心需求</a:t>
              </a:r>
            </a:p>
          </p:txBody>
        </p:sp>
        <p:sp>
          <p:nvSpPr>
            <p:cNvPr id="72" name="TextBox 72"/>
            <p:cNvSpPr txBox="1"/>
            <p:nvPr/>
          </p:nvSpPr>
          <p:spPr>
            <a:xfrm>
              <a:off x="9065692" y="13520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关键商机</a:t>
              </a:r>
            </a:p>
          </p:txBody>
        </p:sp>
        <p:sp>
          <p:nvSpPr>
            <p:cNvPr id="73" name="TextBox 73"/>
            <p:cNvSpPr txBox="1"/>
            <p:nvPr/>
          </p:nvSpPr>
          <p:spPr>
            <a:xfrm>
              <a:off x="10236556" y="135207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下一步</a:t>
              </a:r>
            </a:p>
          </p:txBody>
        </p:sp>
        <p:sp>
          <p:nvSpPr>
            <p:cNvPr id="74" name="TextBox 74"/>
            <p:cNvSpPr txBox="1"/>
            <p:nvPr/>
          </p:nvSpPr>
          <p:spPr>
            <a:xfrm>
              <a:off x="11227156" y="135207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责任人</a:t>
              </a:r>
            </a:p>
          </p:txBody>
        </p:sp>
        <p:sp>
          <p:nvSpPr>
            <p:cNvPr id="75" name="Line 75"/>
            <p:cNvSpPr/>
            <p:nvPr/>
          </p:nvSpPr>
          <p:spPr>
            <a:xfrm>
              <a:off x="5619750" y="1905000"/>
              <a:ext cx="6191250" cy="9525"/>
            </a:xfrm>
            <a:custGeom>
              <a:avLst/>
              <a:gdLst/>
              <a:ahLst/>
              <a:cxnLst/>
              <a:rect l="l" t="t" r="r" b="b"/>
              <a:pathLst>
                <a:path w="6191250" h="9525">
                  <a:moveTo>
                    <a:pt x="0" y="0"/>
                  </a:moveTo>
                  <a:lnTo>
                    <a:pt x="6191250" y="0"/>
                  </a:lnTo>
                </a:path>
              </a:pathLst>
            </a:custGeom>
            <a:noFill/>
            <a:ln w="9525">
              <a:solidFill>
                <a:srgbClr val="DCE6F8"/>
              </a:solidFill>
            </a:ln>
          </p:spPr>
        </p:sp>
        <p:sp>
          <p:nvSpPr>
            <p:cNvPr id="76" name="Line 76"/>
            <p:cNvSpPr/>
            <p:nvPr/>
          </p:nvSpPr>
          <p:spPr>
            <a:xfrm>
              <a:off x="5619750" y="2266950"/>
              <a:ext cx="6191250" cy="9525"/>
            </a:xfrm>
            <a:custGeom>
              <a:avLst/>
              <a:gdLst/>
              <a:ahLst/>
              <a:cxnLst/>
              <a:rect l="l" t="t" r="r" b="b"/>
              <a:pathLst>
                <a:path w="6191250" h="9525">
                  <a:moveTo>
                    <a:pt x="0" y="0"/>
                  </a:moveTo>
                  <a:lnTo>
                    <a:pt x="6191250" y="0"/>
                  </a:lnTo>
                </a:path>
              </a:pathLst>
            </a:custGeom>
            <a:noFill/>
            <a:ln w="9525">
              <a:solidFill>
                <a:srgbClr val="DCE6F8"/>
              </a:solidFill>
            </a:ln>
          </p:spPr>
        </p:sp>
        <p:sp>
          <p:nvSpPr>
            <p:cNvPr id="77" name="Line 77"/>
            <p:cNvSpPr/>
            <p:nvPr/>
          </p:nvSpPr>
          <p:spPr>
            <a:xfrm>
              <a:off x="5619750" y="2628900"/>
              <a:ext cx="6191250" cy="9525"/>
            </a:xfrm>
            <a:custGeom>
              <a:avLst/>
              <a:gdLst/>
              <a:ahLst/>
              <a:cxnLst/>
              <a:rect l="l" t="t" r="r" b="b"/>
              <a:pathLst>
                <a:path w="6191250" h="9525">
                  <a:moveTo>
                    <a:pt x="0" y="0"/>
                  </a:moveTo>
                  <a:lnTo>
                    <a:pt x="6191250" y="0"/>
                  </a:lnTo>
                </a:path>
              </a:pathLst>
            </a:custGeom>
            <a:noFill/>
            <a:ln w="9525">
              <a:solidFill>
                <a:srgbClr val="DCE6F8"/>
              </a:solidFill>
            </a:ln>
          </p:spPr>
        </p:sp>
        <p:sp>
          <p:nvSpPr>
            <p:cNvPr id="78" name="Line 78"/>
            <p:cNvSpPr/>
            <p:nvPr/>
          </p:nvSpPr>
          <p:spPr>
            <a:xfrm>
              <a:off x="5619750" y="2990850"/>
              <a:ext cx="6191250" cy="9525"/>
            </a:xfrm>
            <a:custGeom>
              <a:avLst/>
              <a:gdLst/>
              <a:ahLst/>
              <a:cxnLst/>
              <a:rect l="l" t="t" r="r" b="b"/>
              <a:pathLst>
                <a:path w="6191250" h="9525">
                  <a:moveTo>
                    <a:pt x="0" y="0"/>
                  </a:moveTo>
                  <a:lnTo>
                    <a:pt x="6191250" y="0"/>
                  </a:lnTo>
                </a:path>
              </a:pathLst>
            </a:custGeom>
            <a:noFill/>
            <a:ln w="9525">
              <a:solidFill>
                <a:srgbClr val="DCE6F8"/>
              </a:solidFill>
            </a:ln>
          </p:spPr>
        </p:sp>
        <p:sp>
          <p:nvSpPr>
            <p:cNvPr id="79" name="Line 79"/>
            <p:cNvSpPr/>
            <p:nvPr/>
          </p:nvSpPr>
          <p:spPr>
            <a:xfrm>
              <a:off x="5619750" y="3352800"/>
              <a:ext cx="6191250" cy="9525"/>
            </a:xfrm>
            <a:custGeom>
              <a:avLst/>
              <a:gdLst/>
              <a:ahLst/>
              <a:cxnLst/>
              <a:rect l="l" t="t" r="r" b="b"/>
              <a:pathLst>
                <a:path w="6191250" h="9525">
                  <a:moveTo>
                    <a:pt x="0" y="0"/>
                  </a:moveTo>
                  <a:lnTo>
                    <a:pt x="6191250" y="0"/>
                  </a:lnTo>
                </a:path>
              </a:pathLst>
            </a:custGeom>
            <a:noFill/>
            <a:ln w="9525">
              <a:solidFill>
                <a:srgbClr val="DCE6F8"/>
              </a:solidFill>
            </a:ln>
          </p:spPr>
        </p:sp>
        <p:sp>
          <p:nvSpPr>
            <p:cNvPr id="80" name="Line 80"/>
            <p:cNvSpPr/>
            <p:nvPr/>
          </p:nvSpPr>
          <p:spPr>
            <a:xfrm>
              <a:off x="6572250" y="1543050"/>
              <a:ext cx="9525" cy="2171700"/>
            </a:xfrm>
            <a:custGeom>
              <a:avLst/>
              <a:gdLst/>
              <a:ahLst/>
              <a:cxnLst/>
              <a:rect l="l" t="t" r="r" b="b"/>
              <a:pathLst>
                <a:path w="9525" h="2171700">
                  <a:moveTo>
                    <a:pt x="0" y="0"/>
                  </a:moveTo>
                  <a:lnTo>
                    <a:pt x="0" y="2171700"/>
                  </a:lnTo>
                </a:path>
              </a:pathLst>
            </a:custGeom>
            <a:noFill/>
            <a:ln w="9525">
              <a:solidFill>
                <a:srgbClr val="DCE6F8"/>
              </a:solidFill>
            </a:ln>
          </p:spPr>
        </p:sp>
        <p:sp>
          <p:nvSpPr>
            <p:cNvPr id="81" name="Line 81"/>
            <p:cNvSpPr/>
            <p:nvPr/>
          </p:nvSpPr>
          <p:spPr>
            <a:xfrm>
              <a:off x="7677150" y="1543050"/>
              <a:ext cx="9525" cy="2171700"/>
            </a:xfrm>
            <a:custGeom>
              <a:avLst/>
              <a:gdLst/>
              <a:ahLst/>
              <a:cxnLst/>
              <a:rect l="l" t="t" r="r" b="b"/>
              <a:pathLst>
                <a:path w="9525" h="2171700">
                  <a:moveTo>
                    <a:pt x="0" y="0"/>
                  </a:moveTo>
                  <a:lnTo>
                    <a:pt x="0" y="2171700"/>
                  </a:lnTo>
                </a:path>
              </a:pathLst>
            </a:custGeom>
            <a:noFill/>
            <a:ln w="9525">
              <a:solidFill>
                <a:srgbClr val="DCE6F8"/>
              </a:solidFill>
            </a:ln>
          </p:spPr>
        </p:sp>
        <p:sp>
          <p:nvSpPr>
            <p:cNvPr id="82" name="Line 82"/>
            <p:cNvSpPr/>
            <p:nvPr/>
          </p:nvSpPr>
          <p:spPr>
            <a:xfrm>
              <a:off x="8782050" y="1543050"/>
              <a:ext cx="9525" cy="2171700"/>
            </a:xfrm>
            <a:custGeom>
              <a:avLst/>
              <a:gdLst/>
              <a:ahLst/>
              <a:cxnLst/>
              <a:rect l="l" t="t" r="r" b="b"/>
              <a:pathLst>
                <a:path w="9525" h="2171700">
                  <a:moveTo>
                    <a:pt x="0" y="0"/>
                  </a:moveTo>
                  <a:lnTo>
                    <a:pt x="0" y="2171700"/>
                  </a:lnTo>
                </a:path>
              </a:pathLst>
            </a:custGeom>
            <a:noFill/>
            <a:ln w="9525">
              <a:solidFill>
                <a:srgbClr val="DCE6F8"/>
              </a:solidFill>
            </a:ln>
          </p:spPr>
        </p:sp>
        <p:sp>
          <p:nvSpPr>
            <p:cNvPr id="83" name="Line 83"/>
            <p:cNvSpPr/>
            <p:nvPr/>
          </p:nvSpPr>
          <p:spPr>
            <a:xfrm>
              <a:off x="9886950" y="1543050"/>
              <a:ext cx="9525" cy="2171700"/>
            </a:xfrm>
            <a:custGeom>
              <a:avLst/>
              <a:gdLst/>
              <a:ahLst/>
              <a:cxnLst/>
              <a:rect l="l" t="t" r="r" b="b"/>
              <a:pathLst>
                <a:path w="9525" h="2171700">
                  <a:moveTo>
                    <a:pt x="0" y="0"/>
                  </a:moveTo>
                  <a:lnTo>
                    <a:pt x="0" y="2171700"/>
                  </a:lnTo>
                </a:path>
              </a:pathLst>
            </a:custGeom>
            <a:noFill/>
            <a:ln w="9525">
              <a:solidFill>
                <a:srgbClr val="DCE6F8"/>
              </a:solidFill>
            </a:ln>
          </p:spPr>
        </p:sp>
        <p:sp>
          <p:nvSpPr>
            <p:cNvPr id="84" name="Line 84"/>
            <p:cNvSpPr/>
            <p:nvPr/>
          </p:nvSpPr>
          <p:spPr>
            <a:xfrm>
              <a:off x="10991850" y="1543050"/>
              <a:ext cx="9525" cy="2171700"/>
            </a:xfrm>
            <a:custGeom>
              <a:avLst/>
              <a:gdLst/>
              <a:ahLst/>
              <a:cxnLst/>
              <a:rect l="l" t="t" r="r" b="b"/>
              <a:pathLst>
                <a:path w="9525" h="2171700">
                  <a:moveTo>
                    <a:pt x="0" y="0"/>
                  </a:moveTo>
                  <a:lnTo>
                    <a:pt x="0" y="2171700"/>
                  </a:lnTo>
                </a:path>
              </a:pathLst>
            </a:custGeom>
            <a:noFill/>
            <a:ln w="9525">
              <a:solidFill>
                <a:srgbClr val="DCE6F8"/>
              </a:solidFill>
            </a:ln>
          </p:spPr>
        </p:sp>
        <p:sp>
          <p:nvSpPr>
            <p:cNvPr id="85" name="TextBox 85"/>
            <p:cNvSpPr txBox="1"/>
            <p:nvPr/>
          </p:nvSpPr>
          <p:spPr>
            <a:xfrm>
              <a:off x="5810265" y="1670447"/>
              <a:ext cx="571471" cy="183356"/>
            </a:xfrm>
            <a:prstGeom prst="rect">
              <a:avLst/>
            </a:prstGeom>
            <a:noFill/>
            <a:ln>
              <a:noFill/>
            </a:ln>
          </p:spPr>
          <p:txBody>
            <a:bodyPr wrap="none" lIns="0" tIns="0" rIns="0" bIns="0" anchor="t" anchorCtr="0">
              <a:spAutoFit/>
            </a:bodyPr>
            <a:lstStyle/>
            <a:p>
              <a:pPr algn="ctr"/>
              <a:r>
                <a:rPr lang="zh-CN" sz="940" b="1" dirty="0">
                  <a:solidFill>
                    <a:srgbClr val="6E1604"/>
                  </a:solidFill>
                  <a:latin typeface="+mn-lt"/>
                  <a:ea typeface="+mn-ea"/>
                  <a:cs typeface="+mn-cs"/>
                </a:rPr>
                <a:t>客户A​​​</a:t>
              </a:r>
            </a:p>
          </p:txBody>
        </p:sp>
        <p:sp>
          <p:nvSpPr>
            <p:cNvPr id="86" name="TextBox 86"/>
            <p:cNvSpPr txBox="1"/>
            <p:nvPr/>
          </p:nvSpPr>
          <p:spPr>
            <a:xfrm>
              <a:off x="7009630" y="16704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87" name="TextBox 87"/>
            <p:cNvSpPr txBox="1"/>
            <p:nvPr/>
          </p:nvSpPr>
          <p:spPr>
            <a:xfrm>
              <a:off x="8114530" y="16704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88" name="TextBox 88"/>
            <p:cNvSpPr txBox="1"/>
            <p:nvPr/>
          </p:nvSpPr>
          <p:spPr>
            <a:xfrm>
              <a:off x="9219430" y="16704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89" name="TextBox 89"/>
            <p:cNvSpPr txBox="1"/>
            <p:nvPr/>
          </p:nvSpPr>
          <p:spPr>
            <a:xfrm>
              <a:off x="10324330" y="16704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90" name="TextBox 90"/>
            <p:cNvSpPr txBox="1"/>
            <p:nvPr/>
          </p:nvSpPr>
          <p:spPr>
            <a:xfrm>
              <a:off x="11314930" y="16704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91" name="TextBox 91"/>
            <p:cNvSpPr txBox="1"/>
            <p:nvPr/>
          </p:nvSpPr>
          <p:spPr>
            <a:xfrm>
              <a:off x="5810265" y="2032397"/>
              <a:ext cx="571471" cy="183356"/>
            </a:xfrm>
            <a:prstGeom prst="rect">
              <a:avLst/>
            </a:prstGeom>
            <a:noFill/>
            <a:ln>
              <a:noFill/>
            </a:ln>
          </p:spPr>
          <p:txBody>
            <a:bodyPr wrap="none" lIns="0" tIns="0" rIns="0" bIns="0" anchor="t" anchorCtr="0">
              <a:spAutoFit/>
            </a:bodyPr>
            <a:lstStyle/>
            <a:p>
              <a:pPr algn="ctr"/>
              <a:r>
                <a:rPr lang="zh-CN" sz="940" b="1" dirty="0">
                  <a:solidFill>
                    <a:srgbClr val="6E1604"/>
                  </a:solidFill>
                  <a:latin typeface="+mn-lt"/>
                  <a:ea typeface="+mn-ea"/>
                  <a:cs typeface="+mn-cs"/>
                </a:rPr>
                <a:t>客户B​​​</a:t>
              </a:r>
            </a:p>
          </p:txBody>
        </p:sp>
        <p:sp>
          <p:nvSpPr>
            <p:cNvPr id="92" name="TextBox 92"/>
            <p:cNvSpPr txBox="1"/>
            <p:nvPr/>
          </p:nvSpPr>
          <p:spPr>
            <a:xfrm>
              <a:off x="7009630" y="20323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93" name="TextBox 93"/>
            <p:cNvSpPr txBox="1"/>
            <p:nvPr/>
          </p:nvSpPr>
          <p:spPr>
            <a:xfrm>
              <a:off x="8114530" y="20323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94" name="TextBox 94"/>
            <p:cNvSpPr txBox="1"/>
            <p:nvPr/>
          </p:nvSpPr>
          <p:spPr>
            <a:xfrm>
              <a:off x="9219430" y="20323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95" name="TextBox 95"/>
            <p:cNvSpPr txBox="1"/>
            <p:nvPr/>
          </p:nvSpPr>
          <p:spPr>
            <a:xfrm>
              <a:off x="10324330" y="20323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96" name="TextBox 96"/>
            <p:cNvSpPr txBox="1"/>
            <p:nvPr/>
          </p:nvSpPr>
          <p:spPr>
            <a:xfrm>
              <a:off x="11314930" y="20323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97" name="TextBox 97"/>
            <p:cNvSpPr txBox="1"/>
            <p:nvPr/>
          </p:nvSpPr>
          <p:spPr>
            <a:xfrm>
              <a:off x="5810265" y="2394347"/>
              <a:ext cx="571471" cy="183356"/>
            </a:xfrm>
            <a:prstGeom prst="rect">
              <a:avLst/>
            </a:prstGeom>
            <a:noFill/>
            <a:ln>
              <a:noFill/>
            </a:ln>
          </p:spPr>
          <p:txBody>
            <a:bodyPr wrap="none" lIns="0" tIns="0" rIns="0" bIns="0" anchor="t" anchorCtr="0">
              <a:spAutoFit/>
            </a:bodyPr>
            <a:lstStyle/>
            <a:p>
              <a:pPr algn="ctr"/>
              <a:r>
                <a:rPr lang="zh-CN" sz="940" b="1" dirty="0">
                  <a:solidFill>
                    <a:srgbClr val="6E1604"/>
                  </a:solidFill>
                  <a:latin typeface="+mn-lt"/>
                  <a:ea typeface="+mn-ea"/>
                  <a:cs typeface="+mn-cs"/>
                </a:rPr>
                <a:t>客户C​​​</a:t>
              </a:r>
            </a:p>
          </p:txBody>
        </p:sp>
        <p:sp>
          <p:nvSpPr>
            <p:cNvPr id="98" name="TextBox 98"/>
            <p:cNvSpPr txBox="1"/>
            <p:nvPr/>
          </p:nvSpPr>
          <p:spPr>
            <a:xfrm>
              <a:off x="7009630" y="23943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99" name="TextBox 99"/>
            <p:cNvSpPr txBox="1"/>
            <p:nvPr/>
          </p:nvSpPr>
          <p:spPr>
            <a:xfrm>
              <a:off x="8114530" y="23943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00" name="TextBox 100"/>
            <p:cNvSpPr txBox="1"/>
            <p:nvPr/>
          </p:nvSpPr>
          <p:spPr>
            <a:xfrm>
              <a:off x="9219430" y="23943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01" name="TextBox 101"/>
            <p:cNvSpPr txBox="1"/>
            <p:nvPr/>
          </p:nvSpPr>
          <p:spPr>
            <a:xfrm>
              <a:off x="10324330" y="23943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02" name="TextBox 102"/>
            <p:cNvSpPr txBox="1"/>
            <p:nvPr/>
          </p:nvSpPr>
          <p:spPr>
            <a:xfrm>
              <a:off x="11314930" y="23943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03" name="TextBox 103"/>
            <p:cNvSpPr txBox="1"/>
            <p:nvPr/>
          </p:nvSpPr>
          <p:spPr>
            <a:xfrm>
              <a:off x="5810265" y="2756297"/>
              <a:ext cx="571471" cy="183356"/>
            </a:xfrm>
            <a:prstGeom prst="rect">
              <a:avLst/>
            </a:prstGeom>
            <a:noFill/>
            <a:ln>
              <a:noFill/>
            </a:ln>
          </p:spPr>
          <p:txBody>
            <a:bodyPr wrap="none" lIns="0" tIns="0" rIns="0" bIns="0" anchor="t" anchorCtr="0">
              <a:spAutoFit/>
            </a:bodyPr>
            <a:lstStyle/>
            <a:p>
              <a:pPr algn="ctr"/>
              <a:r>
                <a:rPr lang="zh-CN" sz="940" b="1" dirty="0">
                  <a:solidFill>
                    <a:srgbClr val="6E1604"/>
                  </a:solidFill>
                  <a:latin typeface="+mn-lt"/>
                  <a:ea typeface="+mn-ea"/>
                  <a:cs typeface="+mn-cs"/>
                </a:rPr>
                <a:t>客户D​​​</a:t>
              </a:r>
            </a:p>
          </p:txBody>
        </p:sp>
        <p:sp>
          <p:nvSpPr>
            <p:cNvPr id="104" name="TextBox 104"/>
            <p:cNvSpPr txBox="1"/>
            <p:nvPr/>
          </p:nvSpPr>
          <p:spPr>
            <a:xfrm>
              <a:off x="7009630" y="27562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05" name="TextBox 105"/>
            <p:cNvSpPr txBox="1"/>
            <p:nvPr/>
          </p:nvSpPr>
          <p:spPr>
            <a:xfrm>
              <a:off x="8114530" y="27562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06" name="TextBox 106"/>
            <p:cNvSpPr txBox="1"/>
            <p:nvPr/>
          </p:nvSpPr>
          <p:spPr>
            <a:xfrm>
              <a:off x="9219430" y="27562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07" name="TextBox 107"/>
            <p:cNvSpPr txBox="1"/>
            <p:nvPr/>
          </p:nvSpPr>
          <p:spPr>
            <a:xfrm>
              <a:off x="10324330" y="27562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08" name="TextBox 108"/>
            <p:cNvSpPr txBox="1"/>
            <p:nvPr/>
          </p:nvSpPr>
          <p:spPr>
            <a:xfrm>
              <a:off x="11314930" y="275629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09" name="TextBox 109"/>
            <p:cNvSpPr txBox="1"/>
            <p:nvPr/>
          </p:nvSpPr>
          <p:spPr>
            <a:xfrm>
              <a:off x="5810265" y="3118247"/>
              <a:ext cx="571471" cy="183356"/>
            </a:xfrm>
            <a:prstGeom prst="rect">
              <a:avLst/>
            </a:prstGeom>
            <a:noFill/>
            <a:ln>
              <a:noFill/>
            </a:ln>
          </p:spPr>
          <p:txBody>
            <a:bodyPr wrap="none" lIns="0" tIns="0" rIns="0" bIns="0" anchor="t" anchorCtr="0">
              <a:spAutoFit/>
            </a:bodyPr>
            <a:lstStyle/>
            <a:p>
              <a:pPr algn="ctr"/>
              <a:r>
                <a:rPr lang="zh-CN" sz="940" b="1" dirty="0">
                  <a:solidFill>
                    <a:srgbClr val="6E1604"/>
                  </a:solidFill>
                  <a:latin typeface="+mn-lt"/>
                  <a:ea typeface="+mn-ea"/>
                  <a:cs typeface="+mn-cs"/>
                </a:rPr>
                <a:t>客户E​​​</a:t>
              </a:r>
            </a:p>
          </p:txBody>
        </p:sp>
        <p:sp>
          <p:nvSpPr>
            <p:cNvPr id="110" name="TextBox 110"/>
            <p:cNvSpPr txBox="1"/>
            <p:nvPr/>
          </p:nvSpPr>
          <p:spPr>
            <a:xfrm>
              <a:off x="7009630" y="31182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11" name="TextBox 111"/>
            <p:cNvSpPr txBox="1"/>
            <p:nvPr/>
          </p:nvSpPr>
          <p:spPr>
            <a:xfrm>
              <a:off x="8114530" y="31182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12" name="TextBox 112"/>
            <p:cNvSpPr txBox="1"/>
            <p:nvPr/>
          </p:nvSpPr>
          <p:spPr>
            <a:xfrm>
              <a:off x="9219430" y="31182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13" name="TextBox 113"/>
            <p:cNvSpPr txBox="1"/>
            <p:nvPr/>
          </p:nvSpPr>
          <p:spPr>
            <a:xfrm>
              <a:off x="10324330" y="31182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14" name="TextBox 114"/>
            <p:cNvSpPr txBox="1"/>
            <p:nvPr/>
          </p:nvSpPr>
          <p:spPr>
            <a:xfrm>
              <a:off x="11314930" y="3118247"/>
              <a:ext cx="230139" cy="183356"/>
            </a:xfrm>
            <a:prstGeom prst="rect">
              <a:avLst/>
            </a:prstGeom>
            <a:noFill/>
            <a:ln>
              <a:noFill/>
            </a:ln>
          </p:spPr>
          <p:txBody>
            <a:bodyPr wrap="none" lIns="0" tIns="0" rIns="0" bIns="0" anchor="t" anchorCtr="0">
              <a:spAutoFit/>
            </a:bodyPr>
            <a:lstStyle/>
            <a:p>
              <a:pPr algn="ctr"/>
              <a:r>
                <a:rPr lang="en-US" sz="940" dirty="0">
                  <a:solidFill>
                    <a:srgbClr val="473633"/>
                  </a:solidFill>
                  <a:latin typeface="+mn-lt"/>
                  <a:ea typeface="+mn-ea"/>
                  <a:cs typeface="+mn-cs"/>
                </a:rPr>
                <a:t>XX​</a:t>
              </a:r>
            </a:p>
          </p:txBody>
        </p:sp>
        <p:sp>
          <p:nvSpPr>
            <p:cNvPr id="115" name="TextBox 115"/>
            <p:cNvSpPr txBox="1"/>
            <p:nvPr/>
          </p:nvSpPr>
          <p:spPr>
            <a:xfrm>
              <a:off x="6056438" y="3480197"/>
              <a:ext cx="79124" cy="183356"/>
            </a:xfrm>
            <a:prstGeom prst="rect">
              <a:avLst/>
            </a:prstGeom>
            <a:noFill/>
            <a:ln>
              <a:noFill/>
            </a:ln>
          </p:spPr>
          <p:txBody>
            <a:bodyPr wrap="none" lIns="0" tIns="0" rIns="0" bIns="0" anchor="t" anchorCtr="0">
              <a:spAutoFit/>
            </a:bodyPr>
            <a:lstStyle/>
            <a:p>
              <a:pPr algn="ctr"/>
              <a:r>
                <a:rPr lang="zh-CN" sz="940" dirty="0">
                  <a:solidFill>
                    <a:srgbClr val="6B7280"/>
                  </a:solidFill>
                  <a:latin typeface="+mn-lt"/>
                  <a:ea typeface="+mn-ea"/>
                  <a:cs typeface="+mn-cs"/>
                </a:rPr>
                <a:t>…</a:t>
              </a:r>
            </a:p>
          </p:txBody>
        </p:sp>
        <p:sp>
          <p:nvSpPr>
            <p:cNvPr id="116" name="TextBox 116"/>
            <p:cNvSpPr txBox="1"/>
            <p:nvPr/>
          </p:nvSpPr>
          <p:spPr>
            <a:xfrm>
              <a:off x="7085138" y="3480197"/>
              <a:ext cx="79124" cy="183356"/>
            </a:xfrm>
            <a:prstGeom prst="rect">
              <a:avLst/>
            </a:prstGeom>
            <a:noFill/>
            <a:ln>
              <a:noFill/>
            </a:ln>
          </p:spPr>
          <p:txBody>
            <a:bodyPr wrap="none" lIns="0" tIns="0" rIns="0" bIns="0" anchor="t" anchorCtr="0">
              <a:spAutoFit/>
            </a:bodyPr>
            <a:lstStyle/>
            <a:p>
              <a:pPr algn="ctr"/>
              <a:r>
                <a:rPr lang="zh-CN" sz="940" dirty="0">
                  <a:solidFill>
                    <a:srgbClr val="6B7280"/>
                  </a:solidFill>
                  <a:latin typeface="+mn-lt"/>
                  <a:ea typeface="+mn-ea"/>
                  <a:cs typeface="+mn-cs"/>
                </a:rPr>
                <a:t>…</a:t>
              </a:r>
            </a:p>
          </p:txBody>
        </p:sp>
        <p:sp>
          <p:nvSpPr>
            <p:cNvPr id="117" name="TextBox 117"/>
            <p:cNvSpPr txBox="1"/>
            <p:nvPr/>
          </p:nvSpPr>
          <p:spPr>
            <a:xfrm>
              <a:off x="8190038" y="3480197"/>
              <a:ext cx="79124" cy="183356"/>
            </a:xfrm>
            <a:prstGeom prst="rect">
              <a:avLst/>
            </a:prstGeom>
            <a:noFill/>
            <a:ln>
              <a:noFill/>
            </a:ln>
          </p:spPr>
          <p:txBody>
            <a:bodyPr wrap="none" lIns="0" tIns="0" rIns="0" bIns="0" anchor="t" anchorCtr="0">
              <a:spAutoFit/>
            </a:bodyPr>
            <a:lstStyle/>
            <a:p>
              <a:pPr algn="ctr"/>
              <a:r>
                <a:rPr lang="zh-CN" sz="940" dirty="0">
                  <a:solidFill>
                    <a:srgbClr val="6B7280"/>
                  </a:solidFill>
                  <a:latin typeface="+mn-lt"/>
                  <a:ea typeface="+mn-ea"/>
                  <a:cs typeface="+mn-cs"/>
                </a:rPr>
                <a:t>…</a:t>
              </a:r>
            </a:p>
          </p:txBody>
        </p:sp>
        <p:sp>
          <p:nvSpPr>
            <p:cNvPr id="118" name="TextBox 118"/>
            <p:cNvSpPr txBox="1"/>
            <p:nvPr/>
          </p:nvSpPr>
          <p:spPr>
            <a:xfrm>
              <a:off x="9294938" y="3480197"/>
              <a:ext cx="79124" cy="183356"/>
            </a:xfrm>
            <a:prstGeom prst="rect">
              <a:avLst/>
            </a:prstGeom>
            <a:noFill/>
            <a:ln>
              <a:noFill/>
            </a:ln>
          </p:spPr>
          <p:txBody>
            <a:bodyPr wrap="none" lIns="0" tIns="0" rIns="0" bIns="0" anchor="t" anchorCtr="0">
              <a:spAutoFit/>
            </a:bodyPr>
            <a:lstStyle/>
            <a:p>
              <a:pPr algn="ctr"/>
              <a:r>
                <a:rPr lang="zh-CN" sz="940" dirty="0">
                  <a:solidFill>
                    <a:srgbClr val="6B7280"/>
                  </a:solidFill>
                  <a:latin typeface="+mn-lt"/>
                  <a:ea typeface="+mn-ea"/>
                  <a:cs typeface="+mn-cs"/>
                </a:rPr>
                <a:t>…</a:t>
              </a:r>
            </a:p>
          </p:txBody>
        </p:sp>
        <p:sp>
          <p:nvSpPr>
            <p:cNvPr id="119" name="TextBox 119"/>
            <p:cNvSpPr txBox="1"/>
            <p:nvPr/>
          </p:nvSpPr>
          <p:spPr>
            <a:xfrm>
              <a:off x="10399838" y="3480197"/>
              <a:ext cx="79124" cy="183356"/>
            </a:xfrm>
            <a:prstGeom prst="rect">
              <a:avLst/>
            </a:prstGeom>
            <a:noFill/>
            <a:ln>
              <a:noFill/>
            </a:ln>
          </p:spPr>
          <p:txBody>
            <a:bodyPr wrap="none" lIns="0" tIns="0" rIns="0" bIns="0" anchor="t" anchorCtr="0">
              <a:spAutoFit/>
            </a:bodyPr>
            <a:lstStyle/>
            <a:p>
              <a:pPr algn="ctr"/>
              <a:r>
                <a:rPr lang="zh-CN" sz="940" dirty="0">
                  <a:solidFill>
                    <a:srgbClr val="6B7280"/>
                  </a:solidFill>
                  <a:latin typeface="+mn-lt"/>
                  <a:ea typeface="+mn-ea"/>
                  <a:cs typeface="+mn-cs"/>
                </a:rPr>
                <a:t>…</a:t>
              </a:r>
            </a:p>
          </p:txBody>
        </p:sp>
        <p:sp>
          <p:nvSpPr>
            <p:cNvPr id="120" name="TextBox 120"/>
            <p:cNvSpPr txBox="1"/>
            <p:nvPr/>
          </p:nvSpPr>
          <p:spPr>
            <a:xfrm>
              <a:off x="11390438" y="3480197"/>
              <a:ext cx="79124" cy="183356"/>
            </a:xfrm>
            <a:prstGeom prst="rect">
              <a:avLst/>
            </a:prstGeom>
            <a:noFill/>
            <a:ln>
              <a:noFill/>
            </a:ln>
          </p:spPr>
          <p:txBody>
            <a:bodyPr wrap="none" lIns="0" tIns="0" rIns="0" bIns="0" anchor="t" anchorCtr="0">
              <a:spAutoFit/>
            </a:bodyPr>
            <a:lstStyle/>
            <a:p>
              <a:pPr algn="ctr"/>
              <a:r>
                <a:rPr lang="zh-CN" sz="940" dirty="0">
                  <a:solidFill>
                    <a:srgbClr val="6B7280"/>
                  </a:solidFill>
                  <a:latin typeface="+mn-lt"/>
                  <a:ea typeface="+mn-ea"/>
                  <a:cs typeface="+mn-cs"/>
                </a:rPr>
                <a:t>…</a:t>
              </a:r>
            </a:p>
          </p:txBody>
        </p:sp>
      </p:grpSp>
      <p:grpSp>
        <p:nvGrpSpPr>
          <p:cNvPr id="165" name="stakeholder-map"/>
          <p:cNvGrpSpPr/>
          <p:nvPr/>
        </p:nvGrpSpPr>
        <p:grpSpPr>
          <a:xfrm>
            <a:off x="5505450" y="3924300"/>
            <a:ext cx="6419850" cy="2647950"/>
            <a:chOff x="5505450" y="3924300"/>
            <a:chExt cx="6419850" cy="2647950"/>
          </a:xfrm>
        </p:grpSpPr>
        <p:sp>
          <p:nvSpPr>
            <p:cNvPr id="122" name="Rectangle 122"/>
            <p:cNvSpPr/>
            <p:nvPr/>
          </p:nvSpPr>
          <p:spPr>
            <a:xfrm>
              <a:off x="5505450" y="3924300"/>
              <a:ext cx="6419850" cy="2647950"/>
            </a:xfrm>
            <a:prstGeom prst="roundRect">
              <a:avLst>
                <a:gd name="adj" fmla="val 2878"/>
              </a:avLst>
            </a:prstGeom>
            <a:solidFill>
              <a:srgbClr val="FFFFFF"/>
            </a:solidFill>
            <a:ln w="9525">
              <a:solidFill>
                <a:srgbClr val="F7D1C9"/>
              </a:solidFill>
            </a:ln>
          </p:spPr>
        </p:sp>
        <p:sp>
          <p:nvSpPr>
            <p:cNvPr id="123" name="Freeform 123"/>
            <p:cNvSpPr/>
            <p:nvPr/>
          </p:nvSpPr>
          <p:spPr>
            <a:xfrm>
              <a:off x="5505450" y="3924300"/>
              <a:ext cx="6419850" cy="361950"/>
            </a:xfrm>
            <a:custGeom>
              <a:avLst/>
              <a:gdLst/>
              <a:ahLst/>
              <a:cxnLst/>
              <a:rect l="l" t="t" r="r" b="b"/>
              <a:pathLst>
                <a:path w="6419850" h="361950">
                  <a:moveTo>
                    <a:pt x="0" y="76200"/>
                  </a:moveTo>
                  <a:cubicBezTo>
                    <a:pt x="0" y="34116"/>
                    <a:pt x="34116" y="0"/>
                    <a:pt x="76200" y="0"/>
                  </a:cubicBezTo>
                  <a:lnTo>
                    <a:pt x="6343650" y="0"/>
                  </a:lnTo>
                  <a:cubicBezTo>
                    <a:pt x="6385734" y="0"/>
                    <a:pt x="6419850" y="34116"/>
                    <a:pt x="6419850" y="76200"/>
                  </a:cubicBezTo>
                  <a:lnTo>
                    <a:pt x="6419850" y="361950"/>
                  </a:lnTo>
                  <a:lnTo>
                    <a:pt x="0" y="361950"/>
                  </a:lnTo>
                  <a:close/>
                </a:path>
              </a:pathLst>
            </a:custGeom>
            <a:solidFill>
              <a:srgbClr val="6E1604"/>
            </a:solidFill>
            <a:ln>
              <a:noFill/>
            </a:ln>
          </p:spPr>
        </p:sp>
        <p:sp>
          <p:nvSpPr>
            <p:cNvPr id="124" name="TextBox 124"/>
            <p:cNvSpPr txBox="1"/>
            <p:nvPr/>
          </p:nvSpPr>
          <p:spPr>
            <a:xfrm>
              <a:off x="7535316" y="4040981"/>
              <a:ext cx="236011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客户关键利益相关方地图（示例）​</a:t>
              </a:r>
            </a:p>
          </p:txBody>
        </p:sp>
        <p:sp>
          <p:nvSpPr>
            <p:cNvPr id="125" name="Line 125"/>
            <p:cNvSpPr/>
            <p:nvPr/>
          </p:nvSpPr>
          <p:spPr>
            <a:xfrm>
              <a:off x="6858000" y="4762500"/>
              <a:ext cx="1857375" cy="704850"/>
            </a:xfrm>
            <a:custGeom>
              <a:avLst/>
              <a:gdLst/>
              <a:ahLst/>
              <a:cxnLst/>
              <a:rect l="l" t="t" r="r" b="b"/>
              <a:pathLst>
                <a:path w="1857375" h="704850">
                  <a:moveTo>
                    <a:pt x="1857375" y="704850"/>
                  </a:moveTo>
                  <a:lnTo>
                    <a:pt x="0" y="0"/>
                  </a:lnTo>
                </a:path>
              </a:pathLst>
            </a:custGeom>
            <a:noFill/>
            <a:ln w="9525">
              <a:solidFill>
                <a:srgbClr val="E3907F"/>
              </a:solidFill>
              <a:custDash>
                <a:ds d="400000" sp="300000"/>
              </a:custDash>
            </a:ln>
          </p:spPr>
        </p:sp>
        <p:sp>
          <p:nvSpPr>
            <p:cNvPr id="126" name="Line 126"/>
            <p:cNvSpPr/>
            <p:nvPr/>
          </p:nvSpPr>
          <p:spPr>
            <a:xfrm>
              <a:off x="8715375" y="4762500"/>
              <a:ext cx="1857375" cy="704850"/>
            </a:xfrm>
            <a:custGeom>
              <a:avLst/>
              <a:gdLst/>
              <a:ahLst/>
              <a:cxnLst/>
              <a:rect l="l" t="t" r="r" b="b"/>
              <a:pathLst>
                <a:path w="1857375" h="704850">
                  <a:moveTo>
                    <a:pt x="0" y="704850"/>
                  </a:moveTo>
                  <a:lnTo>
                    <a:pt x="1857375" y="0"/>
                  </a:lnTo>
                </a:path>
              </a:pathLst>
            </a:custGeom>
            <a:noFill/>
            <a:ln w="9525">
              <a:solidFill>
                <a:srgbClr val="E3907F"/>
              </a:solidFill>
              <a:custDash>
                <a:ds d="400000" sp="300000"/>
              </a:custDash>
            </a:ln>
          </p:spPr>
        </p:sp>
        <p:sp>
          <p:nvSpPr>
            <p:cNvPr id="127" name="Line 127"/>
            <p:cNvSpPr/>
            <p:nvPr/>
          </p:nvSpPr>
          <p:spPr>
            <a:xfrm>
              <a:off x="6858000" y="5467350"/>
              <a:ext cx="1857375" cy="628650"/>
            </a:xfrm>
            <a:custGeom>
              <a:avLst/>
              <a:gdLst/>
              <a:ahLst/>
              <a:cxnLst/>
              <a:rect l="l" t="t" r="r" b="b"/>
              <a:pathLst>
                <a:path w="1857375" h="628650">
                  <a:moveTo>
                    <a:pt x="1857375" y="0"/>
                  </a:moveTo>
                  <a:lnTo>
                    <a:pt x="0" y="628650"/>
                  </a:lnTo>
                </a:path>
              </a:pathLst>
            </a:custGeom>
            <a:noFill/>
            <a:ln w="9525">
              <a:solidFill>
                <a:srgbClr val="E3907F"/>
              </a:solidFill>
              <a:custDash>
                <a:ds d="400000" sp="300000"/>
              </a:custDash>
            </a:ln>
          </p:spPr>
        </p:sp>
        <p:sp>
          <p:nvSpPr>
            <p:cNvPr id="128" name="Line 128"/>
            <p:cNvSpPr/>
            <p:nvPr/>
          </p:nvSpPr>
          <p:spPr>
            <a:xfrm>
              <a:off x="8715375" y="5467350"/>
              <a:ext cx="1857375" cy="628650"/>
            </a:xfrm>
            <a:custGeom>
              <a:avLst/>
              <a:gdLst/>
              <a:ahLst/>
              <a:cxnLst/>
              <a:rect l="l" t="t" r="r" b="b"/>
              <a:pathLst>
                <a:path w="1857375" h="628650">
                  <a:moveTo>
                    <a:pt x="0" y="0"/>
                  </a:moveTo>
                  <a:lnTo>
                    <a:pt x="1857375" y="628650"/>
                  </a:lnTo>
                </a:path>
              </a:pathLst>
            </a:custGeom>
            <a:noFill/>
            <a:ln w="9525">
              <a:solidFill>
                <a:srgbClr val="E3907F"/>
              </a:solidFill>
              <a:custDash>
                <a:ds d="400000" sp="300000"/>
              </a:custDash>
            </a:ln>
          </p:spPr>
        </p:sp>
        <p:sp>
          <p:nvSpPr>
            <p:cNvPr id="129" name="Ellipse 129"/>
            <p:cNvSpPr/>
            <p:nvPr/>
          </p:nvSpPr>
          <p:spPr>
            <a:xfrm>
              <a:off x="8315325" y="5067300"/>
              <a:ext cx="800100" cy="800100"/>
            </a:xfrm>
            <a:prstGeom prst="ellipse">
              <a:avLst/>
            </a:prstGeom>
            <a:solidFill>
              <a:srgbClr val="B92102"/>
            </a:solidFill>
            <a:ln w="28575">
              <a:solidFill>
                <a:srgbClr val="FFFFFF"/>
              </a:solidFill>
            </a:ln>
          </p:spPr>
        </p:sp>
        <p:grpSp>
          <p:nvGrpSpPr>
            <p:cNvPr id="136" name="Group 136"/>
            <p:cNvGrpSpPr/>
            <p:nvPr/>
          </p:nvGrpSpPr>
          <p:grpSpPr>
            <a:xfrm>
              <a:off x="8601075" y="5238750"/>
              <a:ext cx="228599" cy="228599"/>
              <a:chOff x="8601075" y="5238750"/>
              <a:chExt cx="228599" cy="228599"/>
            </a:xfrm>
          </p:grpSpPr>
          <p:sp>
            <p:nvSpPr>
              <p:cNvPr id="130" name="Freeform 130"/>
              <p:cNvSpPr/>
              <p:nvPr/>
            </p:nvSpPr>
            <p:spPr>
              <a:xfrm>
                <a:off x="8689975" y="5340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131" name="Freeform 131"/>
              <p:cNvSpPr/>
              <p:nvPr/>
            </p:nvSpPr>
            <p:spPr>
              <a:xfrm>
                <a:off x="8664575" y="5429249"/>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FFFFFF"/>
                </a:solidFill>
              </a:ln>
            </p:spPr>
          </p:sp>
          <p:sp>
            <p:nvSpPr>
              <p:cNvPr id="132" name="Freeform 132"/>
              <p:cNvSpPr/>
              <p:nvPr/>
            </p:nvSpPr>
            <p:spPr>
              <a:xfrm>
                <a:off x="8753475" y="52387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133" name="Freeform 133"/>
              <p:cNvSpPr/>
              <p:nvPr/>
            </p:nvSpPr>
            <p:spPr>
              <a:xfrm>
                <a:off x="8778874" y="5327650"/>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FFFFFF"/>
                </a:solidFill>
              </a:ln>
            </p:spPr>
          </p:sp>
          <p:sp>
            <p:nvSpPr>
              <p:cNvPr id="134" name="Freeform 134"/>
              <p:cNvSpPr/>
              <p:nvPr/>
            </p:nvSpPr>
            <p:spPr>
              <a:xfrm>
                <a:off x="8626475" y="52387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135" name="Freeform 135"/>
              <p:cNvSpPr/>
              <p:nvPr/>
            </p:nvSpPr>
            <p:spPr>
              <a:xfrm>
                <a:off x="8601075" y="53276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FFFFFF"/>
                </a:solidFill>
              </a:ln>
            </p:spPr>
          </p:sp>
        </p:grpSp>
        <p:sp>
          <p:nvSpPr>
            <p:cNvPr id="137" name="TextBox 137"/>
            <p:cNvSpPr txBox="1"/>
            <p:nvPr/>
          </p:nvSpPr>
          <p:spPr>
            <a:xfrm>
              <a:off x="8568690" y="56016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客户</a:t>
              </a:r>
            </a:p>
          </p:txBody>
        </p:sp>
        <p:grpSp>
          <p:nvGrpSpPr>
            <p:cNvPr id="142" name="sh-decider"/>
            <p:cNvGrpSpPr/>
            <p:nvPr/>
          </p:nvGrpSpPr>
          <p:grpSpPr>
            <a:xfrm>
              <a:off x="5695950" y="4477702"/>
              <a:ext cx="2231708" cy="697468"/>
              <a:chOff x="5695950" y="4477702"/>
              <a:chExt cx="2231708" cy="697468"/>
            </a:xfrm>
          </p:grpSpPr>
          <p:sp>
            <p:nvSpPr>
              <p:cNvPr id="138" name="Ellipse 138"/>
              <p:cNvSpPr/>
              <p:nvPr/>
            </p:nvSpPr>
            <p:spPr>
              <a:xfrm>
                <a:off x="5695950" y="4533900"/>
                <a:ext cx="457200" cy="457200"/>
              </a:xfrm>
              <a:prstGeom prst="ellipse">
                <a:avLst/>
              </a:prstGeom>
              <a:solidFill>
                <a:srgbClr val="EAF3FE"/>
              </a:solidFill>
              <a:ln w="9525">
                <a:solidFill>
                  <a:srgbClr val="E3907F"/>
                </a:solidFill>
              </a:ln>
            </p:spPr>
          </p:sp>
          <p:sp>
            <p:nvSpPr>
              <p:cNvPr id="139" name="Freeform 139"/>
              <p:cNvSpPr/>
              <p:nvPr/>
            </p:nvSpPr>
            <p:spPr>
              <a:xfrm>
                <a:off x="5831681" y="4700587"/>
                <a:ext cx="185737" cy="123825"/>
              </a:xfrm>
              <a:custGeom>
                <a:avLst/>
                <a:gdLst/>
                <a:ahLst/>
                <a:cxnLst/>
                <a:rect l="l" t="t" r="r" b="b"/>
                <a:pathLst>
                  <a:path w="185737" h="123825">
                    <a:moveTo>
                      <a:pt x="92868" y="0"/>
                    </a:moveTo>
                    <a:lnTo>
                      <a:pt x="134143" y="61912"/>
                    </a:lnTo>
                    <a:lnTo>
                      <a:pt x="185737" y="20637"/>
                    </a:lnTo>
                    <a:lnTo>
                      <a:pt x="165099" y="123825"/>
                    </a:lnTo>
                    <a:lnTo>
                      <a:pt x="20637" y="123825"/>
                    </a:lnTo>
                    <a:lnTo>
                      <a:pt x="0" y="20637"/>
                    </a:lnTo>
                    <a:lnTo>
                      <a:pt x="51594" y="61912"/>
                    </a:lnTo>
                    <a:lnTo>
                      <a:pt x="92868" y="0"/>
                    </a:lnTo>
                  </a:path>
                </a:pathLst>
              </a:custGeom>
              <a:noFill/>
              <a:ln w="20637">
                <a:solidFill>
                  <a:srgbClr val="B92102"/>
                </a:solidFill>
              </a:ln>
            </p:spPr>
          </p:sp>
          <p:sp>
            <p:nvSpPr>
              <p:cNvPr id="140" name="TextBox 140"/>
              <p:cNvSpPr txBox="1"/>
              <p:nvPr/>
            </p:nvSpPr>
            <p:spPr>
              <a:xfrm>
                <a:off x="6262116" y="4477702"/>
                <a:ext cx="434721"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决策者</a:t>
                </a:r>
              </a:p>
            </p:txBody>
          </p:sp>
          <p:sp>
            <p:nvSpPr>
              <p:cNvPr id="141" name="TextBox 141"/>
              <p:cNvSpPr txBox="1"/>
              <p:nvPr/>
            </p:nvSpPr>
            <p:spPr>
              <a:xfrm>
                <a:off x="6262688" y="4696539"/>
                <a:ext cx="1664970" cy="478631"/>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角色：把握方向，拍板决策​​​</a:t>
                </a:r>
              </a:p>
              <a:p>
                <a:pPr algn="l" marL="85280" indent="-85280">
                  <a:lnSpc>
                    <a:spcPts val="1275"/>
                  </a:lnSpc>
                  <a:buClr>
                    <a:srgbClr val="473633"/>
                  </a:buClr>
                  <a:buSzTx/>
                  <a:buFontTx/>
                  <a:buChar char="•"/>
                </a:pPr>
                <a:r>
                  <a:rPr lang="zh-CN" sz="790" dirty="0">
                    <a:solidFill>
                      <a:srgbClr val="473633"/>
                    </a:solidFill>
                    <a:latin typeface="+mn-lt"/>
                    <a:ea typeface="+mn-ea"/>
                    <a:cs typeface="+mn-cs"/>
                  </a:rPr>
                  <a:t>关注点：战略匹配、收益回报​​​</a:t>
                </a:r>
              </a:p>
              <a:p>
                <a:pPr algn="l" marL="85280" indent="-85280">
                  <a:lnSpc>
                    <a:spcPts val="1275"/>
                  </a:lnSpc>
                  <a:buClr>
                    <a:srgbClr val="473633"/>
                  </a:buClr>
                  <a:buSzTx/>
                  <a:buFontTx/>
                  <a:buChar char="•"/>
                </a:pPr>
                <a:r>
                  <a:rPr lang="zh-CN" sz="790" dirty="0">
                    <a:solidFill>
                      <a:srgbClr val="473633"/>
                    </a:solidFill>
                    <a:latin typeface="+mn-lt"/>
                    <a:ea typeface="+mn-ea"/>
                    <a:cs typeface="+mn-cs"/>
                  </a:rPr>
                  <a:t>触达策略：高层拜访、价值呈现​​​</a:t>
                </a:r>
              </a:p>
            </p:txBody>
          </p:sp>
        </p:grpSp>
        <p:grpSp>
          <p:nvGrpSpPr>
            <p:cNvPr id="147" name="sh-influencer"/>
            <p:cNvGrpSpPr/>
            <p:nvPr/>
          </p:nvGrpSpPr>
          <p:grpSpPr>
            <a:xfrm>
              <a:off x="9410700" y="4477702"/>
              <a:ext cx="2231708" cy="697468"/>
              <a:chOff x="9410700" y="4477702"/>
              <a:chExt cx="2231708" cy="697468"/>
            </a:xfrm>
          </p:grpSpPr>
          <p:sp>
            <p:nvSpPr>
              <p:cNvPr id="143" name="Ellipse 143"/>
              <p:cNvSpPr/>
              <p:nvPr/>
            </p:nvSpPr>
            <p:spPr>
              <a:xfrm>
                <a:off x="9410700" y="4533900"/>
                <a:ext cx="457200" cy="457200"/>
              </a:xfrm>
              <a:prstGeom prst="ellipse">
                <a:avLst/>
              </a:prstGeom>
              <a:solidFill>
                <a:srgbClr val="EAF3FE"/>
              </a:solidFill>
              <a:ln w="9525">
                <a:solidFill>
                  <a:srgbClr val="E3907F"/>
                </a:solidFill>
              </a:ln>
            </p:spPr>
          </p:sp>
          <p:sp>
            <p:nvSpPr>
              <p:cNvPr id="144" name="Freeform 144"/>
              <p:cNvSpPr/>
              <p:nvPr/>
            </p:nvSpPr>
            <p:spPr>
              <a:xfrm>
                <a:off x="9535865" y="4671953"/>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B92102"/>
                </a:solidFill>
              </a:ln>
            </p:spPr>
          </p:sp>
          <p:sp>
            <p:nvSpPr>
              <p:cNvPr id="145" name="TextBox 145"/>
              <p:cNvSpPr txBox="1"/>
              <p:nvPr/>
            </p:nvSpPr>
            <p:spPr>
              <a:xfrm>
                <a:off x="9976866" y="4477702"/>
                <a:ext cx="434721"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影响者</a:t>
                </a:r>
              </a:p>
            </p:txBody>
          </p:sp>
          <p:sp>
            <p:nvSpPr>
              <p:cNvPr id="146" name="TextBox 146"/>
              <p:cNvSpPr txBox="1"/>
              <p:nvPr/>
            </p:nvSpPr>
            <p:spPr>
              <a:xfrm>
                <a:off x="9977438" y="4696539"/>
                <a:ext cx="1664970" cy="478631"/>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角色：影响决策，推动认可​​​</a:t>
                </a:r>
              </a:p>
              <a:p>
                <a:pPr algn="l" marL="85280" indent="-85280">
                  <a:lnSpc>
                    <a:spcPts val="1275"/>
                  </a:lnSpc>
                  <a:buClr>
                    <a:srgbClr val="473633"/>
                  </a:buClr>
                  <a:buSzTx/>
                  <a:buFontTx/>
                  <a:buChar char="•"/>
                </a:pPr>
                <a:r>
                  <a:rPr lang="zh-CN" sz="790" dirty="0">
                    <a:solidFill>
                      <a:srgbClr val="473633"/>
                    </a:solidFill>
                    <a:latin typeface="+mn-lt"/>
                    <a:ea typeface="+mn-ea"/>
                    <a:cs typeface="+mn-cs"/>
                  </a:rPr>
                  <a:t>关注点：方案优势、风险可控​​​</a:t>
                </a:r>
              </a:p>
              <a:p>
                <a:pPr algn="l" marL="85280" indent="-85280">
                  <a:lnSpc>
                    <a:spcPts val="1275"/>
                  </a:lnSpc>
                  <a:buClr>
                    <a:srgbClr val="473633"/>
                  </a:buClr>
                  <a:buSzTx/>
                  <a:buFontTx/>
                  <a:buChar char="•"/>
                </a:pPr>
                <a:r>
                  <a:rPr lang="zh-CN" sz="790" dirty="0">
                    <a:solidFill>
                      <a:srgbClr val="473633"/>
                    </a:solidFill>
                    <a:latin typeface="+mn-lt"/>
                    <a:ea typeface="+mn-ea"/>
                    <a:cs typeface="+mn-cs"/>
                  </a:rPr>
                  <a:t>触达策略：方案沟通、数据支撑​​​</a:t>
                </a:r>
              </a:p>
            </p:txBody>
          </p:sp>
        </p:grpSp>
        <p:grpSp>
          <p:nvGrpSpPr>
            <p:cNvPr id="155" name="sh-user"/>
            <p:cNvGrpSpPr/>
            <p:nvPr/>
          </p:nvGrpSpPr>
          <p:grpSpPr>
            <a:xfrm>
              <a:off x="5695950" y="5735002"/>
              <a:ext cx="2231708" cy="697468"/>
              <a:chOff x="5695950" y="5735002"/>
              <a:chExt cx="2231708" cy="697468"/>
            </a:xfrm>
          </p:grpSpPr>
          <p:sp>
            <p:nvSpPr>
              <p:cNvPr id="148" name="Ellipse 148"/>
              <p:cNvSpPr/>
              <p:nvPr/>
            </p:nvSpPr>
            <p:spPr>
              <a:xfrm>
                <a:off x="5695950" y="5791200"/>
                <a:ext cx="457200" cy="457200"/>
              </a:xfrm>
              <a:prstGeom prst="ellipse">
                <a:avLst/>
              </a:prstGeom>
              <a:solidFill>
                <a:srgbClr val="EAF3FE"/>
              </a:solidFill>
              <a:ln w="9525">
                <a:solidFill>
                  <a:srgbClr val="E3907F"/>
                </a:solidFill>
              </a:ln>
            </p:spPr>
          </p:sp>
          <p:grpSp>
            <p:nvGrpSpPr>
              <p:cNvPr id="152" name="Group 152"/>
              <p:cNvGrpSpPr/>
              <p:nvPr/>
            </p:nvGrpSpPr>
            <p:grpSpPr>
              <a:xfrm>
                <a:off x="5862637" y="5926931"/>
                <a:ext cx="154781" cy="185737"/>
                <a:chOff x="5862637" y="5926931"/>
                <a:chExt cx="154781" cy="185737"/>
              </a:xfrm>
            </p:grpSpPr>
            <p:sp>
              <p:nvSpPr>
                <p:cNvPr id="149" name="Freeform 149"/>
                <p:cNvSpPr/>
                <p:nvPr/>
              </p:nvSpPr>
              <p:spPr>
                <a:xfrm>
                  <a:off x="5883275" y="59269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B92102"/>
                  </a:solidFill>
                </a:ln>
              </p:spPr>
            </p:sp>
            <p:sp>
              <p:nvSpPr>
                <p:cNvPr id="150" name="Freeform 150"/>
                <p:cNvSpPr/>
                <p:nvPr/>
              </p:nvSpPr>
              <p:spPr>
                <a:xfrm>
                  <a:off x="5862637" y="6050756"/>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B92102"/>
                  </a:solidFill>
                </a:ln>
              </p:spPr>
            </p:sp>
            <p:sp>
              <p:nvSpPr>
                <p:cNvPr id="151" name="Freeform 151"/>
                <p:cNvSpPr/>
                <p:nvPr/>
              </p:nvSpPr>
              <p:spPr>
                <a:xfrm>
                  <a:off x="5955506" y="6071393"/>
                  <a:ext cx="61912" cy="41275"/>
                </a:xfrm>
                <a:custGeom>
                  <a:avLst/>
                  <a:gdLst/>
                  <a:ahLst/>
                  <a:cxnLst/>
                  <a:rect l="l" t="t" r="r" b="b"/>
                  <a:pathLst>
                    <a:path w="61912" h="41275">
                      <a:moveTo>
                        <a:pt x="0" y="20637"/>
                      </a:moveTo>
                      <a:lnTo>
                        <a:pt x="20637" y="41275"/>
                      </a:lnTo>
                      <a:lnTo>
                        <a:pt x="61912" y="0"/>
                      </a:lnTo>
                    </a:path>
                  </a:pathLst>
                </a:custGeom>
                <a:noFill/>
                <a:ln w="20637">
                  <a:solidFill>
                    <a:srgbClr val="B92102"/>
                  </a:solidFill>
                </a:ln>
              </p:spPr>
            </p:sp>
          </p:grpSp>
          <p:sp>
            <p:nvSpPr>
              <p:cNvPr id="153" name="TextBox 153"/>
              <p:cNvSpPr txBox="1"/>
              <p:nvPr/>
            </p:nvSpPr>
            <p:spPr>
              <a:xfrm>
                <a:off x="6262116" y="5735002"/>
                <a:ext cx="434721"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使用者</a:t>
                </a:r>
              </a:p>
            </p:txBody>
          </p:sp>
          <p:sp>
            <p:nvSpPr>
              <p:cNvPr id="154" name="TextBox 154"/>
              <p:cNvSpPr txBox="1"/>
              <p:nvPr/>
            </p:nvSpPr>
            <p:spPr>
              <a:xfrm>
                <a:off x="6262688" y="5953839"/>
                <a:ext cx="1664970" cy="478631"/>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角色：日常使用，体验反馈​​​</a:t>
                </a:r>
              </a:p>
              <a:p>
                <a:pPr algn="l" marL="85280" indent="-85280">
                  <a:lnSpc>
                    <a:spcPts val="1275"/>
                  </a:lnSpc>
                  <a:buClr>
                    <a:srgbClr val="473633"/>
                  </a:buClr>
                  <a:buSzTx/>
                  <a:buFontTx/>
                  <a:buChar char="•"/>
                </a:pPr>
                <a:r>
                  <a:rPr lang="zh-CN" sz="790" dirty="0">
                    <a:solidFill>
                      <a:srgbClr val="473633"/>
                    </a:solidFill>
                    <a:latin typeface="+mn-lt"/>
                    <a:ea typeface="+mn-ea"/>
                    <a:cs typeface="+mn-cs"/>
                  </a:rPr>
                  <a:t>关注点：易用性、效率提升​​​</a:t>
                </a:r>
              </a:p>
              <a:p>
                <a:pPr algn="l" marL="85280" indent="-85280">
                  <a:lnSpc>
                    <a:spcPts val="1275"/>
                  </a:lnSpc>
                  <a:buClr>
                    <a:srgbClr val="473633"/>
                  </a:buClr>
                  <a:buSzTx/>
                  <a:buFontTx/>
                  <a:buChar char="•"/>
                </a:pPr>
                <a:r>
                  <a:rPr lang="zh-CN" sz="790" dirty="0">
                    <a:solidFill>
                      <a:srgbClr val="473633"/>
                    </a:solidFill>
                    <a:latin typeface="+mn-lt"/>
                    <a:ea typeface="+mn-ea"/>
                    <a:cs typeface="+mn-cs"/>
                  </a:rPr>
                  <a:t>触达策略：方案演示、试点落地​​​</a:t>
                </a:r>
              </a:p>
            </p:txBody>
          </p:sp>
        </p:grpSp>
        <p:grpSp>
          <p:nvGrpSpPr>
            <p:cNvPr id="164" name="sh-gatekeeper"/>
            <p:cNvGrpSpPr/>
            <p:nvPr/>
          </p:nvGrpSpPr>
          <p:grpSpPr>
            <a:xfrm>
              <a:off x="9410700" y="5735002"/>
              <a:ext cx="2231708" cy="697468"/>
              <a:chOff x="9410700" y="5735002"/>
              <a:chExt cx="2231708" cy="697468"/>
            </a:xfrm>
          </p:grpSpPr>
          <p:sp>
            <p:nvSpPr>
              <p:cNvPr id="156" name="Ellipse 156"/>
              <p:cNvSpPr/>
              <p:nvPr/>
            </p:nvSpPr>
            <p:spPr>
              <a:xfrm>
                <a:off x="9410700" y="5791200"/>
                <a:ext cx="457200" cy="457200"/>
              </a:xfrm>
              <a:prstGeom prst="ellipse">
                <a:avLst/>
              </a:prstGeom>
              <a:solidFill>
                <a:srgbClr val="EAF3FE"/>
              </a:solidFill>
              <a:ln w="9525">
                <a:solidFill>
                  <a:srgbClr val="E3907F"/>
                </a:solidFill>
              </a:ln>
            </p:spPr>
          </p:sp>
          <p:grpSp>
            <p:nvGrpSpPr>
              <p:cNvPr id="161" name="Group 161"/>
              <p:cNvGrpSpPr/>
              <p:nvPr/>
            </p:nvGrpSpPr>
            <p:grpSpPr>
              <a:xfrm>
                <a:off x="9567069" y="5937250"/>
                <a:ext cx="154780" cy="175418"/>
                <a:chOff x="9567069" y="5937250"/>
                <a:chExt cx="154780" cy="175418"/>
              </a:xfrm>
            </p:grpSpPr>
            <p:sp>
              <p:nvSpPr>
                <p:cNvPr id="157" name="Freeform 157"/>
                <p:cNvSpPr/>
                <p:nvPr/>
              </p:nvSpPr>
              <p:spPr>
                <a:xfrm>
                  <a:off x="9567069" y="5937250"/>
                  <a:ext cx="123825" cy="165099"/>
                </a:xfrm>
                <a:custGeom>
                  <a:avLst/>
                  <a:gdLst/>
                  <a:ahLst/>
                  <a:cxnLst/>
                  <a:rect l="l" t="t" r="r" b="b"/>
                  <a:pathLst>
                    <a:path w="123825" h="165099">
                      <a:moveTo>
                        <a:pt x="47621" y="165099"/>
                      </a:moveTo>
                      <a:lnTo>
                        <a:pt x="20637" y="165099"/>
                      </a:lnTo>
                      <a:cubicBezTo>
                        <a:pt x="9240" y="165099"/>
                        <a:pt x="0" y="155860"/>
                        <a:pt x="0" y="144462"/>
                      </a:cubicBezTo>
                      <a:lnTo>
                        <a:pt x="0" y="20637"/>
                      </a:lnTo>
                      <a:cubicBezTo>
                        <a:pt x="0" y="9240"/>
                        <a:pt x="9240" y="0"/>
                        <a:pt x="20637" y="0"/>
                      </a:cubicBezTo>
                      <a:lnTo>
                        <a:pt x="103187" y="0"/>
                      </a:lnTo>
                      <a:cubicBezTo>
                        <a:pt x="114585" y="0"/>
                        <a:pt x="123825" y="9240"/>
                        <a:pt x="123825" y="20637"/>
                      </a:cubicBezTo>
                      <a:lnTo>
                        <a:pt x="123825" y="103187"/>
                      </a:lnTo>
                    </a:path>
                  </a:pathLst>
                </a:custGeom>
                <a:noFill/>
                <a:ln w="20637">
                  <a:solidFill>
                    <a:srgbClr val="B92102"/>
                  </a:solidFill>
                </a:ln>
              </p:spPr>
            </p:sp>
            <p:sp>
              <p:nvSpPr>
                <p:cNvPr id="158" name="Freeform 158"/>
                <p:cNvSpPr/>
                <p:nvPr/>
              </p:nvSpPr>
              <p:spPr>
                <a:xfrm>
                  <a:off x="9659937" y="6071393"/>
                  <a:ext cx="61912" cy="41275"/>
                </a:xfrm>
                <a:custGeom>
                  <a:avLst/>
                  <a:gdLst/>
                  <a:ahLst/>
                  <a:cxnLst/>
                  <a:rect l="l" t="t" r="r" b="b"/>
                  <a:pathLst>
                    <a:path w="61912" h="41275">
                      <a:moveTo>
                        <a:pt x="0" y="20637"/>
                      </a:moveTo>
                      <a:lnTo>
                        <a:pt x="20637" y="41275"/>
                      </a:lnTo>
                      <a:lnTo>
                        <a:pt x="61912" y="0"/>
                      </a:lnTo>
                    </a:path>
                  </a:pathLst>
                </a:custGeom>
                <a:noFill/>
                <a:ln w="20637">
                  <a:solidFill>
                    <a:srgbClr val="B92102"/>
                  </a:solidFill>
                </a:ln>
              </p:spPr>
            </p:sp>
            <p:sp>
              <p:nvSpPr>
                <p:cNvPr id="159" name="Freeform 159"/>
                <p:cNvSpPr/>
                <p:nvPr/>
              </p:nvSpPr>
              <p:spPr>
                <a:xfrm>
                  <a:off x="9608343" y="5978525"/>
                  <a:ext cx="41275" cy="9525"/>
                </a:xfrm>
                <a:custGeom>
                  <a:avLst/>
                  <a:gdLst/>
                  <a:ahLst/>
                  <a:cxnLst/>
                  <a:rect l="l" t="t" r="r" b="b"/>
                  <a:pathLst>
                    <a:path w="41275" h="9525">
                      <a:moveTo>
                        <a:pt x="0" y="0"/>
                      </a:moveTo>
                      <a:lnTo>
                        <a:pt x="41275" y="0"/>
                      </a:lnTo>
                    </a:path>
                  </a:pathLst>
                </a:custGeom>
                <a:noFill/>
                <a:ln w="20637">
                  <a:solidFill>
                    <a:srgbClr val="B92102"/>
                  </a:solidFill>
                </a:ln>
              </p:spPr>
            </p:sp>
            <p:sp>
              <p:nvSpPr>
                <p:cNvPr id="160" name="Freeform 160"/>
                <p:cNvSpPr/>
                <p:nvPr/>
              </p:nvSpPr>
              <p:spPr>
                <a:xfrm>
                  <a:off x="9608343" y="6019800"/>
                  <a:ext cx="20637" cy="9525"/>
                </a:xfrm>
                <a:custGeom>
                  <a:avLst/>
                  <a:gdLst/>
                  <a:ahLst/>
                  <a:cxnLst/>
                  <a:rect l="l" t="t" r="r" b="b"/>
                  <a:pathLst>
                    <a:path w="20637" h="9525">
                      <a:moveTo>
                        <a:pt x="0" y="0"/>
                      </a:moveTo>
                      <a:lnTo>
                        <a:pt x="20637" y="0"/>
                      </a:lnTo>
                    </a:path>
                  </a:pathLst>
                </a:custGeom>
                <a:noFill/>
                <a:ln w="20637">
                  <a:solidFill>
                    <a:srgbClr val="B92102"/>
                  </a:solidFill>
                </a:ln>
              </p:spPr>
            </p:sp>
          </p:grpSp>
          <p:sp>
            <p:nvSpPr>
              <p:cNvPr id="162" name="TextBox 162"/>
              <p:cNvSpPr txBox="1"/>
              <p:nvPr/>
            </p:nvSpPr>
            <p:spPr>
              <a:xfrm>
                <a:off x="9976866" y="5735002"/>
                <a:ext cx="434721"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把关者</a:t>
                </a:r>
              </a:p>
            </p:txBody>
          </p:sp>
          <p:sp>
            <p:nvSpPr>
              <p:cNvPr id="163" name="TextBox 163"/>
              <p:cNvSpPr txBox="1"/>
              <p:nvPr/>
            </p:nvSpPr>
            <p:spPr>
              <a:xfrm>
                <a:off x="9977438" y="5953839"/>
                <a:ext cx="1664970" cy="478631"/>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角色：评估合规，控制风险​​​</a:t>
                </a:r>
              </a:p>
              <a:p>
                <a:pPr algn="l" marL="85280" indent="-85280">
                  <a:lnSpc>
                    <a:spcPts val="1275"/>
                  </a:lnSpc>
                  <a:buClr>
                    <a:srgbClr val="473633"/>
                  </a:buClr>
                  <a:buSzTx/>
                  <a:buFontTx/>
                  <a:buChar char="•"/>
                </a:pPr>
                <a:r>
                  <a:rPr lang="zh-CN" sz="790" dirty="0">
                    <a:solidFill>
                      <a:srgbClr val="473633"/>
                    </a:solidFill>
                    <a:latin typeface="+mn-lt"/>
                    <a:ea typeface="+mn-ea"/>
                    <a:cs typeface="+mn-cs"/>
                  </a:rPr>
                  <a:t>关注点：合规要求、风险控制​​​</a:t>
                </a:r>
              </a:p>
              <a:p>
                <a:pPr algn="l" marL="85280" indent="-85280">
                  <a:lnSpc>
                    <a:spcPts val="1275"/>
                  </a:lnSpc>
                  <a:buClr>
                    <a:srgbClr val="473633"/>
                  </a:buClr>
                  <a:buSzTx/>
                  <a:buFontTx/>
                  <a:buChar char="•"/>
                </a:pPr>
                <a:r>
                  <a:rPr lang="zh-CN" sz="790" dirty="0">
                    <a:solidFill>
                      <a:srgbClr val="473633"/>
                    </a:solidFill>
                    <a:latin typeface="+mn-lt"/>
                    <a:ea typeface="+mn-ea"/>
                    <a:cs typeface="+mn-cs"/>
                  </a:rPr>
                  <a:t>触达策略：合规对接、方案校验​​​</a:t>
                </a:r>
              </a:p>
            </p:txBody>
          </p:sp>
        </p:grpSp>
      </p:gr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08​</a:t>
              </a:r>
            </a:p>
          </p:txBody>
        </p:sp>
        <p:sp>
          <p:nvSpPr>
            <p:cNvPr id="4" name="TextBox 4"/>
            <p:cNvSpPr txBox="1"/>
            <p:nvPr/>
          </p:nvSpPr>
          <p:spPr>
            <a:xfrm>
              <a:off x="942594" y="151448"/>
              <a:ext cx="5172616"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商机漏斗复盘</a:t>
              </a:r>
              <a:r>
                <a:rPr lang="zh-CN" sz="1950" b="1" dirty="0">
                  <a:solidFill>
                    <a:srgbClr val="1A1A1A"/>
                  </a:solidFill>
                  <a:latin typeface="SimSun"/>
                  <a:ea typeface="SimSun"/>
                  <a:cs typeface="SimSun"/>
                </a:rPr>
                <a:t>｜前端扩容与中段提速并重​</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82" name="funnel-panel"/>
          <p:cNvGrpSpPr/>
          <p:nvPr/>
        </p:nvGrpSpPr>
        <p:grpSpPr>
          <a:xfrm>
            <a:off x="266700" y="800100"/>
            <a:ext cx="5638800" cy="3943350"/>
            <a:chOff x="266700" y="800100"/>
            <a:chExt cx="5638800" cy="3943350"/>
          </a:xfrm>
        </p:grpSpPr>
        <p:sp>
          <p:nvSpPr>
            <p:cNvPr id="7" name="Rectangle 7"/>
            <p:cNvSpPr/>
            <p:nvPr/>
          </p:nvSpPr>
          <p:spPr>
            <a:xfrm>
              <a:off x="266700" y="800100"/>
              <a:ext cx="5638800" cy="3943350"/>
            </a:xfrm>
            <a:prstGeom prst="roundRect">
              <a:avLst>
                <a:gd name="adj" fmla="val 1932"/>
              </a:avLst>
            </a:prstGeom>
            <a:solidFill>
              <a:srgbClr val="FFFFFF"/>
            </a:solidFill>
            <a:ln w="9525">
              <a:solidFill>
                <a:srgbClr val="F7D1C9"/>
              </a:solidFill>
            </a:ln>
          </p:spPr>
        </p:sp>
        <p:sp>
          <p:nvSpPr>
            <p:cNvPr id="8" name="Line 8"/>
            <p:cNvSpPr/>
            <p:nvPr/>
          </p:nvSpPr>
          <p:spPr>
            <a:xfrm>
              <a:off x="1143000" y="971550"/>
              <a:ext cx="952500" cy="9525"/>
            </a:xfrm>
            <a:custGeom>
              <a:avLst/>
              <a:gdLst/>
              <a:ahLst/>
              <a:cxnLst/>
              <a:rect l="l" t="t" r="r" b="b"/>
              <a:pathLst>
                <a:path w="952500" h="9525">
                  <a:moveTo>
                    <a:pt x="0" y="0"/>
                  </a:moveTo>
                  <a:lnTo>
                    <a:pt x="952500" y="0"/>
                  </a:lnTo>
                </a:path>
              </a:pathLst>
            </a:custGeom>
            <a:noFill/>
            <a:ln w="9525">
              <a:solidFill>
                <a:srgbClr val="E3907F"/>
              </a:solidFill>
            </a:ln>
          </p:spPr>
        </p:sp>
        <p:sp>
          <p:nvSpPr>
            <p:cNvPr id="9" name="TextBox 9"/>
            <p:cNvSpPr txBox="1"/>
            <p:nvPr/>
          </p:nvSpPr>
          <p:spPr>
            <a:xfrm>
              <a:off x="2515362" y="905828"/>
              <a:ext cx="1141476"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商机漏斗（本期）</a:t>
              </a:r>
            </a:p>
          </p:txBody>
        </p:sp>
        <p:sp>
          <p:nvSpPr>
            <p:cNvPr id="10" name="Line 10"/>
            <p:cNvSpPr/>
            <p:nvPr/>
          </p:nvSpPr>
          <p:spPr>
            <a:xfrm>
              <a:off x="4076700" y="971550"/>
              <a:ext cx="952500" cy="9525"/>
            </a:xfrm>
            <a:custGeom>
              <a:avLst/>
              <a:gdLst/>
              <a:ahLst/>
              <a:cxnLst/>
              <a:rect l="l" t="t" r="r" b="b"/>
              <a:pathLst>
                <a:path w="952500" h="9525">
                  <a:moveTo>
                    <a:pt x="0" y="0"/>
                  </a:moveTo>
                  <a:lnTo>
                    <a:pt x="952500" y="0"/>
                  </a:lnTo>
                </a:path>
              </a:pathLst>
            </a:custGeom>
            <a:noFill/>
            <a:ln w="9525">
              <a:solidFill>
                <a:srgbClr val="E3907F"/>
              </a:solidFill>
            </a:ln>
          </p:spPr>
        </p:sp>
        <p:sp>
          <p:nvSpPr>
            <p:cNvPr id="11" name="Freeform 11"/>
            <p:cNvSpPr/>
            <p:nvPr/>
          </p:nvSpPr>
          <p:spPr>
            <a:xfrm flipH="1" rot="-10800000">
              <a:off x="1047750" y="1143000"/>
              <a:ext cx="3429000" cy="571500"/>
            </a:xfrm>
            <a:prstGeom prst="trapezoid">
              <a:avLst>
                <a:gd name="adj" fmla="val 30000"/>
              </a:avLst>
            </a:prstGeom>
            <a:solidFill>
              <a:srgbClr val="6E1604"/>
            </a:solidFill>
            <a:ln>
              <a:noFill/>
            </a:ln>
          </p:spPr>
        </p:sp>
        <p:sp>
          <p:nvSpPr>
            <p:cNvPr id="12" name="Freeform 12"/>
            <p:cNvSpPr/>
            <p:nvPr/>
          </p:nvSpPr>
          <p:spPr>
            <a:xfrm flipH="1" rot="-10800000">
              <a:off x="1219200" y="1714500"/>
              <a:ext cx="3086100" cy="571500"/>
            </a:xfrm>
            <a:prstGeom prst="trapezoid">
              <a:avLst>
                <a:gd name="adj" fmla="val 30000"/>
              </a:avLst>
            </a:prstGeom>
            <a:solidFill>
              <a:srgbClr val="B92102"/>
            </a:solidFill>
            <a:ln>
              <a:noFill/>
            </a:ln>
          </p:spPr>
        </p:sp>
        <p:sp>
          <p:nvSpPr>
            <p:cNvPr id="13" name="Freeform 13"/>
            <p:cNvSpPr/>
            <p:nvPr/>
          </p:nvSpPr>
          <p:spPr>
            <a:xfrm flipH="1" rot="-10800000">
              <a:off x="1390650" y="2286000"/>
              <a:ext cx="2743200" cy="571500"/>
            </a:xfrm>
            <a:prstGeom prst="trapezoid">
              <a:avLst>
                <a:gd name="adj" fmla="val 30000"/>
              </a:avLst>
            </a:prstGeom>
            <a:solidFill>
              <a:srgbClr val="D44B2F"/>
            </a:solidFill>
            <a:ln>
              <a:noFill/>
            </a:ln>
          </p:spPr>
        </p:sp>
        <p:sp>
          <p:nvSpPr>
            <p:cNvPr id="14" name="Freeform 14"/>
            <p:cNvSpPr/>
            <p:nvPr/>
          </p:nvSpPr>
          <p:spPr>
            <a:xfrm flipH="1" rot="-10800000">
              <a:off x="1562100" y="2857500"/>
              <a:ext cx="2400300" cy="571500"/>
            </a:xfrm>
            <a:prstGeom prst="trapezoid">
              <a:avLst>
                <a:gd name="adj" fmla="val 30000"/>
              </a:avLst>
            </a:prstGeom>
            <a:solidFill>
              <a:srgbClr val="D9705B"/>
            </a:solidFill>
            <a:ln>
              <a:noFill/>
            </a:ln>
          </p:spPr>
        </p:sp>
        <p:sp>
          <p:nvSpPr>
            <p:cNvPr id="15" name="Freeform 15"/>
            <p:cNvSpPr/>
            <p:nvPr/>
          </p:nvSpPr>
          <p:spPr>
            <a:xfrm flipH="1" rot="-10800000">
              <a:off x="1733550" y="3429000"/>
              <a:ext cx="2057400" cy="571500"/>
            </a:xfrm>
            <a:prstGeom prst="trapezoid">
              <a:avLst>
                <a:gd name="adj" fmla="val 30000"/>
              </a:avLst>
            </a:prstGeom>
            <a:solidFill>
              <a:srgbClr val="F3AC9D"/>
            </a:solidFill>
            <a:ln>
              <a:noFill/>
            </a:ln>
          </p:spPr>
        </p:sp>
        <p:sp>
          <p:nvSpPr>
            <p:cNvPr id="16" name="Line 16"/>
            <p:cNvSpPr/>
            <p:nvPr/>
          </p:nvSpPr>
          <p:spPr>
            <a:xfrm>
              <a:off x="1219200" y="1714500"/>
              <a:ext cx="3086100" cy="9525"/>
            </a:xfrm>
            <a:custGeom>
              <a:avLst/>
              <a:gdLst/>
              <a:ahLst/>
              <a:cxnLst/>
              <a:rect l="l" t="t" r="r" b="b"/>
              <a:pathLst>
                <a:path w="3086100" h="9525">
                  <a:moveTo>
                    <a:pt x="0" y="0"/>
                  </a:moveTo>
                  <a:lnTo>
                    <a:pt x="3086100" y="0"/>
                  </a:lnTo>
                </a:path>
              </a:pathLst>
            </a:custGeom>
            <a:noFill/>
            <a:ln w="14288">
              <a:solidFill>
                <a:srgbClr val="FFFFFF"/>
              </a:solidFill>
            </a:ln>
          </p:spPr>
        </p:sp>
        <p:sp>
          <p:nvSpPr>
            <p:cNvPr id="17" name="Line 17"/>
            <p:cNvSpPr/>
            <p:nvPr/>
          </p:nvSpPr>
          <p:spPr>
            <a:xfrm>
              <a:off x="1390650" y="2286000"/>
              <a:ext cx="2743200" cy="9525"/>
            </a:xfrm>
            <a:custGeom>
              <a:avLst/>
              <a:gdLst/>
              <a:ahLst/>
              <a:cxnLst/>
              <a:rect l="l" t="t" r="r" b="b"/>
              <a:pathLst>
                <a:path w="2743200" h="9525">
                  <a:moveTo>
                    <a:pt x="0" y="0"/>
                  </a:moveTo>
                  <a:lnTo>
                    <a:pt x="2743200" y="0"/>
                  </a:lnTo>
                </a:path>
              </a:pathLst>
            </a:custGeom>
            <a:noFill/>
            <a:ln w="14288">
              <a:solidFill>
                <a:srgbClr val="FFFFFF"/>
              </a:solidFill>
            </a:ln>
          </p:spPr>
        </p:sp>
        <p:sp>
          <p:nvSpPr>
            <p:cNvPr id="18" name="Line 18"/>
            <p:cNvSpPr/>
            <p:nvPr/>
          </p:nvSpPr>
          <p:spPr>
            <a:xfrm>
              <a:off x="1562100" y="2857500"/>
              <a:ext cx="2400300" cy="9525"/>
            </a:xfrm>
            <a:custGeom>
              <a:avLst/>
              <a:gdLst/>
              <a:ahLst/>
              <a:cxnLst/>
              <a:rect l="l" t="t" r="r" b="b"/>
              <a:pathLst>
                <a:path w="2400300" h="9525">
                  <a:moveTo>
                    <a:pt x="0" y="0"/>
                  </a:moveTo>
                  <a:lnTo>
                    <a:pt x="2400300" y="0"/>
                  </a:lnTo>
                </a:path>
              </a:pathLst>
            </a:custGeom>
            <a:noFill/>
            <a:ln w="14288">
              <a:solidFill>
                <a:srgbClr val="FFFFFF"/>
              </a:solidFill>
            </a:ln>
          </p:spPr>
        </p:sp>
        <p:sp>
          <p:nvSpPr>
            <p:cNvPr id="19" name="Line 19"/>
            <p:cNvSpPr/>
            <p:nvPr/>
          </p:nvSpPr>
          <p:spPr>
            <a:xfrm>
              <a:off x="1733550" y="3429000"/>
              <a:ext cx="2057400" cy="9525"/>
            </a:xfrm>
            <a:custGeom>
              <a:avLst/>
              <a:gdLst/>
              <a:ahLst/>
              <a:cxnLst/>
              <a:rect l="l" t="t" r="r" b="b"/>
              <a:pathLst>
                <a:path w="2057400" h="9525">
                  <a:moveTo>
                    <a:pt x="0" y="0"/>
                  </a:moveTo>
                  <a:lnTo>
                    <a:pt x="2057400" y="0"/>
                  </a:lnTo>
                </a:path>
              </a:pathLst>
            </a:custGeom>
            <a:noFill/>
            <a:ln w="14288">
              <a:solidFill>
                <a:srgbClr val="FFFFFF"/>
              </a:solidFill>
            </a:ln>
          </p:spPr>
        </p:sp>
        <p:grpSp>
          <p:nvGrpSpPr>
            <p:cNvPr id="22" name="Group 22"/>
            <p:cNvGrpSpPr/>
            <p:nvPr/>
          </p:nvGrpSpPr>
          <p:grpSpPr>
            <a:xfrm>
              <a:off x="2047875" y="1343025"/>
              <a:ext cx="171450" cy="171450"/>
              <a:chOff x="2047875" y="1343025"/>
              <a:chExt cx="171450" cy="171450"/>
            </a:xfrm>
          </p:grpSpPr>
          <p:sp>
            <p:nvSpPr>
              <p:cNvPr id="20" name="Freeform 20"/>
              <p:cNvSpPr/>
              <p:nvPr/>
            </p:nvSpPr>
            <p:spPr>
              <a:xfrm>
                <a:off x="2047875" y="1343025"/>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19050">
                <a:solidFill>
                  <a:srgbClr val="FFFFFF"/>
                </a:solidFill>
              </a:ln>
            </p:spPr>
          </p:sp>
          <p:sp>
            <p:nvSpPr>
              <p:cNvPr id="21" name="Freeform 21"/>
              <p:cNvSpPr/>
              <p:nvPr/>
            </p:nvSpPr>
            <p:spPr>
              <a:xfrm>
                <a:off x="2162175" y="1457325"/>
                <a:ext cx="57150" cy="57150"/>
              </a:xfrm>
              <a:custGeom>
                <a:avLst/>
                <a:gdLst/>
                <a:ahLst/>
                <a:cxnLst/>
                <a:rect l="l" t="t" r="r" b="b"/>
                <a:pathLst>
                  <a:path w="57150" h="57150">
                    <a:moveTo>
                      <a:pt x="57150" y="57150"/>
                    </a:moveTo>
                    <a:lnTo>
                      <a:pt x="0" y="0"/>
                    </a:lnTo>
                  </a:path>
                </a:pathLst>
              </a:custGeom>
              <a:noFill/>
              <a:ln w="19050">
                <a:solidFill>
                  <a:srgbClr val="FFFFFF"/>
                </a:solidFill>
              </a:ln>
            </p:spPr>
          </p:sp>
        </p:grpSp>
        <p:sp>
          <p:nvSpPr>
            <p:cNvPr id="23" name="TextBox 23"/>
            <p:cNvSpPr txBox="1"/>
            <p:nvPr/>
          </p:nvSpPr>
          <p:spPr>
            <a:xfrm>
              <a:off x="2375535" y="1373981"/>
              <a:ext cx="82316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线索 XX​​​</a:t>
              </a:r>
            </a:p>
          </p:txBody>
        </p:sp>
        <p:sp>
          <p:nvSpPr>
            <p:cNvPr id="24" name="Freeform 24"/>
            <p:cNvSpPr/>
            <p:nvPr/>
          </p:nvSpPr>
          <p:spPr>
            <a:xfrm>
              <a:off x="1943100" y="1924050"/>
              <a:ext cx="152400" cy="161925"/>
            </a:xfrm>
            <a:custGeom>
              <a:avLst/>
              <a:gdLst/>
              <a:ahLst/>
              <a:cxnLst/>
              <a:rect l="l" t="t" r="r" b="b"/>
              <a:pathLst>
                <a:path w="152400" h="161925">
                  <a:moveTo>
                    <a:pt x="0" y="0"/>
                  </a:moveTo>
                  <a:lnTo>
                    <a:pt x="152400" y="0"/>
                  </a:lnTo>
                  <a:lnTo>
                    <a:pt x="152400" y="20688"/>
                  </a:lnTo>
                  <a:cubicBezTo>
                    <a:pt x="152399" y="25740"/>
                    <a:pt x="150391" y="30585"/>
                    <a:pt x="146818" y="34157"/>
                  </a:cubicBezTo>
                  <a:lnTo>
                    <a:pt x="104775" y="76200"/>
                  </a:lnTo>
                  <a:lnTo>
                    <a:pt x="104775" y="142875"/>
                  </a:lnTo>
                  <a:lnTo>
                    <a:pt x="47625" y="161925"/>
                  </a:lnTo>
                  <a:lnTo>
                    <a:pt x="47625" y="80962"/>
                  </a:lnTo>
                  <a:lnTo>
                    <a:pt x="4953" y="34023"/>
                  </a:lnTo>
                  <a:cubicBezTo>
                    <a:pt x="1766" y="30517"/>
                    <a:pt x="1" y="25950"/>
                    <a:pt x="0" y="21212"/>
                  </a:cubicBezTo>
                  <a:lnTo>
                    <a:pt x="0" y="0"/>
                  </a:lnTo>
                </a:path>
              </a:pathLst>
            </a:custGeom>
            <a:noFill/>
            <a:ln w="19050">
              <a:solidFill>
                <a:srgbClr val="FFFFFF"/>
              </a:solidFill>
            </a:ln>
          </p:spPr>
        </p:sp>
        <p:sp>
          <p:nvSpPr>
            <p:cNvPr id="25" name="TextBox 25"/>
            <p:cNvSpPr txBox="1"/>
            <p:nvPr/>
          </p:nvSpPr>
          <p:spPr>
            <a:xfrm>
              <a:off x="2261235" y="1945481"/>
              <a:ext cx="1124714"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有效商机 XX​​​</a:t>
              </a:r>
            </a:p>
          </p:txBody>
        </p:sp>
        <p:sp>
          <p:nvSpPr>
            <p:cNvPr id="26" name="Freeform 26"/>
            <p:cNvSpPr/>
            <p:nvPr/>
          </p:nvSpPr>
          <p:spPr>
            <a:xfrm>
              <a:off x="1923821" y="2488168"/>
              <a:ext cx="190157" cy="168564"/>
            </a:xfrm>
            <a:custGeom>
              <a:avLst/>
              <a:gdLst/>
              <a:ahLst/>
              <a:cxnLst/>
              <a:rect l="l" t="t" r="r" b="b"/>
              <a:pathLst>
                <a:path w="190157" h="168564">
                  <a:moveTo>
                    <a:pt x="9754" y="159782"/>
                  </a:moveTo>
                  <a:lnTo>
                    <a:pt x="22136" y="122634"/>
                  </a:lnTo>
                  <a:cubicBezTo>
                    <a:pt x="0" y="89897"/>
                    <a:pt x="8553" y="47654"/>
                    <a:pt x="42139" y="23822"/>
                  </a:cubicBezTo>
                  <a:cubicBezTo>
                    <a:pt x="75724" y="0"/>
                    <a:pt x="123958" y="1953"/>
                    <a:pt x="154962" y="28394"/>
                  </a:cubicBezTo>
                  <a:cubicBezTo>
                    <a:pt x="185966" y="54845"/>
                    <a:pt x="190157" y="97603"/>
                    <a:pt x="164763" y="128416"/>
                  </a:cubicBezTo>
                  <a:cubicBezTo>
                    <a:pt x="139370" y="159229"/>
                    <a:pt x="92231" y="168564"/>
                    <a:pt x="54521" y="150257"/>
                  </a:cubicBezTo>
                  <a:lnTo>
                    <a:pt x="9754" y="159782"/>
                  </a:lnTo>
                </a:path>
              </a:pathLst>
            </a:custGeom>
            <a:noFill/>
            <a:ln w="19050">
              <a:solidFill>
                <a:srgbClr val="FFFFFF"/>
              </a:solidFill>
            </a:ln>
          </p:spPr>
        </p:sp>
        <p:sp>
          <p:nvSpPr>
            <p:cNvPr id="27" name="TextBox 27"/>
            <p:cNvSpPr txBox="1"/>
            <p:nvPr/>
          </p:nvSpPr>
          <p:spPr>
            <a:xfrm>
              <a:off x="2261235" y="2516981"/>
              <a:ext cx="1124714"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方案沟通 XX​​​</a:t>
              </a:r>
            </a:p>
          </p:txBody>
        </p:sp>
        <p:grpSp>
          <p:nvGrpSpPr>
            <p:cNvPr id="32" name="Group 32"/>
            <p:cNvGrpSpPr/>
            <p:nvPr/>
          </p:nvGrpSpPr>
          <p:grpSpPr>
            <a:xfrm>
              <a:off x="1933575" y="3057525"/>
              <a:ext cx="171450" cy="161925"/>
              <a:chOff x="1933575" y="3057525"/>
              <a:chExt cx="171450" cy="161925"/>
            </a:xfrm>
          </p:grpSpPr>
          <p:sp>
            <p:nvSpPr>
              <p:cNvPr id="28" name="Freeform 28"/>
              <p:cNvSpPr/>
              <p:nvPr/>
            </p:nvSpPr>
            <p:spPr>
              <a:xfrm>
                <a:off x="1933575" y="309562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FFFFFF"/>
                </a:solidFill>
              </a:ln>
            </p:spPr>
          </p:sp>
          <p:sp>
            <p:nvSpPr>
              <p:cNvPr id="29" name="Freeform 29"/>
              <p:cNvSpPr/>
              <p:nvPr/>
            </p:nvSpPr>
            <p:spPr>
              <a:xfrm>
                <a:off x="1981200" y="305752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FFFFFF"/>
                </a:solidFill>
              </a:ln>
            </p:spPr>
          </p:sp>
          <p:sp>
            <p:nvSpPr>
              <p:cNvPr id="30" name="Freeform 30"/>
              <p:cNvSpPr/>
              <p:nvPr/>
            </p:nvSpPr>
            <p:spPr>
              <a:xfrm>
                <a:off x="2019300" y="3143250"/>
                <a:ext cx="9525" cy="9525"/>
              </a:xfrm>
              <a:custGeom>
                <a:avLst/>
                <a:gdLst/>
                <a:ahLst/>
                <a:cxnLst/>
                <a:rect l="l" t="t" r="r" b="b"/>
                <a:pathLst>
                  <a:path w="9525" h="9525">
                    <a:moveTo>
                      <a:pt x="0" y="0"/>
                    </a:moveTo>
                    <a:lnTo>
                      <a:pt x="0" y="95"/>
                    </a:lnTo>
                  </a:path>
                </a:pathLst>
              </a:custGeom>
              <a:noFill/>
              <a:ln w="19050">
                <a:solidFill>
                  <a:srgbClr val="FFFFFF"/>
                </a:solidFill>
              </a:ln>
            </p:spPr>
          </p:sp>
          <p:sp>
            <p:nvSpPr>
              <p:cNvPr id="31" name="Freeform 31"/>
              <p:cNvSpPr/>
              <p:nvPr/>
            </p:nvSpPr>
            <p:spPr>
              <a:xfrm>
                <a:off x="1933575" y="315277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FFFFFF"/>
                </a:solidFill>
              </a:ln>
            </p:spPr>
          </p:sp>
        </p:grpSp>
        <p:sp>
          <p:nvSpPr>
            <p:cNvPr id="33" name="TextBox 33"/>
            <p:cNvSpPr txBox="1"/>
            <p:nvPr/>
          </p:nvSpPr>
          <p:spPr>
            <a:xfrm>
              <a:off x="2261235" y="3088481"/>
              <a:ext cx="1124714"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商务谈判 XX​​​</a:t>
              </a:r>
            </a:p>
          </p:txBody>
        </p:sp>
        <p:grpSp>
          <p:nvGrpSpPr>
            <p:cNvPr id="36" name="Group 36"/>
            <p:cNvGrpSpPr/>
            <p:nvPr/>
          </p:nvGrpSpPr>
          <p:grpSpPr>
            <a:xfrm>
              <a:off x="2162175" y="3629025"/>
              <a:ext cx="171450" cy="171450"/>
              <a:chOff x="2162175" y="3629025"/>
              <a:chExt cx="171450" cy="171450"/>
            </a:xfrm>
          </p:grpSpPr>
          <p:sp>
            <p:nvSpPr>
              <p:cNvPr id="34" name="Freeform 34"/>
              <p:cNvSpPr/>
              <p:nvPr/>
            </p:nvSpPr>
            <p:spPr>
              <a:xfrm>
                <a:off x="2162175" y="36290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6E1604"/>
                </a:solidFill>
              </a:ln>
            </p:spPr>
          </p:sp>
          <p:sp>
            <p:nvSpPr>
              <p:cNvPr id="35" name="Freeform 35"/>
              <p:cNvSpPr/>
              <p:nvPr/>
            </p:nvSpPr>
            <p:spPr>
              <a:xfrm>
                <a:off x="2219325" y="3695700"/>
                <a:ext cx="57150" cy="38100"/>
              </a:xfrm>
              <a:custGeom>
                <a:avLst/>
                <a:gdLst/>
                <a:ahLst/>
                <a:cxnLst/>
                <a:rect l="l" t="t" r="r" b="b"/>
                <a:pathLst>
                  <a:path w="57150" h="38100">
                    <a:moveTo>
                      <a:pt x="0" y="19050"/>
                    </a:moveTo>
                    <a:lnTo>
                      <a:pt x="19050" y="38100"/>
                    </a:lnTo>
                    <a:lnTo>
                      <a:pt x="57150" y="0"/>
                    </a:lnTo>
                  </a:path>
                </a:pathLst>
              </a:custGeom>
              <a:noFill/>
              <a:ln w="19050">
                <a:solidFill>
                  <a:srgbClr val="6E1604"/>
                </a:solidFill>
              </a:ln>
            </p:spPr>
          </p:sp>
        </p:grpSp>
        <p:sp>
          <p:nvSpPr>
            <p:cNvPr id="37" name="TextBox 37"/>
            <p:cNvSpPr txBox="1"/>
            <p:nvPr/>
          </p:nvSpPr>
          <p:spPr>
            <a:xfrm>
              <a:off x="2489835" y="3659981"/>
              <a:ext cx="823165"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成交 XX​​​</a:t>
              </a:r>
            </a:p>
          </p:txBody>
        </p:sp>
        <p:sp>
          <p:nvSpPr>
            <p:cNvPr id="38" name="Ellipse 38"/>
            <p:cNvSpPr/>
            <p:nvPr/>
          </p:nvSpPr>
          <p:spPr>
            <a:xfrm>
              <a:off x="371475" y="1304925"/>
              <a:ext cx="247650" cy="247650"/>
            </a:xfrm>
            <a:prstGeom prst="ellipse">
              <a:avLst/>
            </a:prstGeom>
            <a:solidFill>
              <a:srgbClr val="B92102"/>
            </a:solidFill>
            <a:ln>
              <a:noFill/>
            </a:ln>
          </p:spPr>
        </p:sp>
        <p:sp>
          <p:nvSpPr>
            <p:cNvPr id="39" name="TextBox 39"/>
            <p:cNvSpPr txBox="1"/>
            <p:nvPr/>
          </p:nvSpPr>
          <p:spPr>
            <a:xfrm>
              <a:off x="403077" y="13858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01​</a:t>
              </a:r>
            </a:p>
          </p:txBody>
        </p:sp>
        <p:sp>
          <p:nvSpPr>
            <p:cNvPr id="40" name="Line 40"/>
            <p:cNvSpPr/>
            <p:nvPr/>
          </p:nvSpPr>
          <p:spPr>
            <a:xfrm>
              <a:off x="628650" y="1428750"/>
              <a:ext cx="419100" cy="9525"/>
            </a:xfrm>
            <a:custGeom>
              <a:avLst/>
              <a:gdLst/>
              <a:ahLst/>
              <a:cxnLst/>
              <a:rect l="l" t="t" r="r" b="b"/>
              <a:pathLst>
                <a:path w="419100" h="9525">
                  <a:moveTo>
                    <a:pt x="0" y="0"/>
                  </a:moveTo>
                  <a:lnTo>
                    <a:pt x="419100" y="0"/>
                  </a:lnTo>
                </a:path>
              </a:pathLst>
            </a:custGeom>
            <a:noFill/>
            <a:ln w="9525">
              <a:solidFill>
                <a:srgbClr val="E3907F"/>
              </a:solidFill>
              <a:custDash>
                <a:ds d="300000" sp="200000"/>
              </a:custDash>
            </a:ln>
          </p:spPr>
        </p:sp>
        <p:sp>
          <p:nvSpPr>
            <p:cNvPr id="41" name="Ellipse 41"/>
            <p:cNvSpPr/>
            <p:nvPr/>
          </p:nvSpPr>
          <p:spPr>
            <a:xfrm>
              <a:off x="371475" y="1876425"/>
              <a:ext cx="247650" cy="247650"/>
            </a:xfrm>
            <a:prstGeom prst="ellipse">
              <a:avLst/>
            </a:prstGeom>
            <a:solidFill>
              <a:srgbClr val="B92102"/>
            </a:solidFill>
            <a:ln>
              <a:noFill/>
            </a:ln>
          </p:spPr>
        </p:sp>
        <p:sp>
          <p:nvSpPr>
            <p:cNvPr id="42" name="TextBox 42"/>
            <p:cNvSpPr txBox="1"/>
            <p:nvPr/>
          </p:nvSpPr>
          <p:spPr>
            <a:xfrm>
              <a:off x="403077" y="19573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02​</a:t>
              </a:r>
            </a:p>
          </p:txBody>
        </p:sp>
        <p:sp>
          <p:nvSpPr>
            <p:cNvPr id="43" name="Line 43"/>
            <p:cNvSpPr/>
            <p:nvPr/>
          </p:nvSpPr>
          <p:spPr>
            <a:xfrm>
              <a:off x="628650" y="2000250"/>
              <a:ext cx="590550" cy="9525"/>
            </a:xfrm>
            <a:custGeom>
              <a:avLst/>
              <a:gdLst/>
              <a:ahLst/>
              <a:cxnLst/>
              <a:rect l="l" t="t" r="r" b="b"/>
              <a:pathLst>
                <a:path w="590550" h="9525">
                  <a:moveTo>
                    <a:pt x="0" y="0"/>
                  </a:moveTo>
                  <a:lnTo>
                    <a:pt x="590550" y="0"/>
                  </a:lnTo>
                </a:path>
              </a:pathLst>
            </a:custGeom>
            <a:noFill/>
            <a:ln w="9525">
              <a:solidFill>
                <a:srgbClr val="E3907F"/>
              </a:solidFill>
              <a:custDash>
                <a:ds d="300000" sp="200000"/>
              </a:custDash>
            </a:ln>
          </p:spPr>
        </p:sp>
        <p:sp>
          <p:nvSpPr>
            <p:cNvPr id="44" name="Ellipse 44"/>
            <p:cNvSpPr/>
            <p:nvPr/>
          </p:nvSpPr>
          <p:spPr>
            <a:xfrm>
              <a:off x="371475" y="2447925"/>
              <a:ext cx="247650" cy="247650"/>
            </a:xfrm>
            <a:prstGeom prst="ellipse">
              <a:avLst/>
            </a:prstGeom>
            <a:solidFill>
              <a:srgbClr val="B92102"/>
            </a:solidFill>
            <a:ln>
              <a:noFill/>
            </a:ln>
          </p:spPr>
        </p:sp>
        <p:sp>
          <p:nvSpPr>
            <p:cNvPr id="45" name="TextBox 45"/>
            <p:cNvSpPr txBox="1"/>
            <p:nvPr/>
          </p:nvSpPr>
          <p:spPr>
            <a:xfrm>
              <a:off x="403077" y="25288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03​</a:t>
              </a:r>
            </a:p>
          </p:txBody>
        </p:sp>
        <p:sp>
          <p:nvSpPr>
            <p:cNvPr id="46" name="Line 46"/>
            <p:cNvSpPr/>
            <p:nvPr/>
          </p:nvSpPr>
          <p:spPr>
            <a:xfrm>
              <a:off x="628650" y="2571750"/>
              <a:ext cx="762000" cy="9525"/>
            </a:xfrm>
            <a:custGeom>
              <a:avLst/>
              <a:gdLst/>
              <a:ahLst/>
              <a:cxnLst/>
              <a:rect l="l" t="t" r="r" b="b"/>
              <a:pathLst>
                <a:path w="762000" h="9525">
                  <a:moveTo>
                    <a:pt x="0" y="0"/>
                  </a:moveTo>
                  <a:lnTo>
                    <a:pt x="762000" y="0"/>
                  </a:lnTo>
                </a:path>
              </a:pathLst>
            </a:custGeom>
            <a:noFill/>
            <a:ln w="9525">
              <a:solidFill>
                <a:srgbClr val="E3907F"/>
              </a:solidFill>
              <a:custDash>
                <a:ds d="300000" sp="200000"/>
              </a:custDash>
            </a:ln>
          </p:spPr>
        </p:sp>
        <p:sp>
          <p:nvSpPr>
            <p:cNvPr id="47" name="Ellipse 47"/>
            <p:cNvSpPr/>
            <p:nvPr/>
          </p:nvSpPr>
          <p:spPr>
            <a:xfrm>
              <a:off x="371475" y="3019425"/>
              <a:ext cx="247650" cy="247650"/>
            </a:xfrm>
            <a:prstGeom prst="ellipse">
              <a:avLst/>
            </a:prstGeom>
            <a:solidFill>
              <a:srgbClr val="B92102"/>
            </a:solidFill>
            <a:ln>
              <a:noFill/>
            </a:ln>
          </p:spPr>
        </p:sp>
        <p:sp>
          <p:nvSpPr>
            <p:cNvPr id="48" name="TextBox 48"/>
            <p:cNvSpPr txBox="1"/>
            <p:nvPr/>
          </p:nvSpPr>
          <p:spPr>
            <a:xfrm>
              <a:off x="403077" y="31003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04​</a:t>
              </a:r>
            </a:p>
          </p:txBody>
        </p:sp>
        <p:sp>
          <p:nvSpPr>
            <p:cNvPr id="49" name="Line 49"/>
            <p:cNvSpPr/>
            <p:nvPr/>
          </p:nvSpPr>
          <p:spPr>
            <a:xfrm>
              <a:off x="628650" y="3143250"/>
              <a:ext cx="933450" cy="9525"/>
            </a:xfrm>
            <a:custGeom>
              <a:avLst/>
              <a:gdLst/>
              <a:ahLst/>
              <a:cxnLst/>
              <a:rect l="l" t="t" r="r" b="b"/>
              <a:pathLst>
                <a:path w="933450" h="9525">
                  <a:moveTo>
                    <a:pt x="0" y="0"/>
                  </a:moveTo>
                  <a:lnTo>
                    <a:pt x="933450" y="0"/>
                  </a:lnTo>
                </a:path>
              </a:pathLst>
            </a:custGeom>
            <a:noFill/>
            <a:ln w="9525">
              <a:solidFill>
                <a:srgbClr val="E3907F"/>
              </a:solidFill>
              <a:custDash>
                <a:ds d="300000" sp="200000"/>
              </a:custDash>
            </a:ln>
          </p:spPr>
        </p:sp>
        <p:sp>
          <p:nvSpPr>
            <p:cNvPr id="50" name="Ellipse 50"/>
            <p:cNvSpPr/>
            <p:nvPr/>
          </p:nvSpPr>
          <p:spPr>
            <a:xfrm>
              <a:off x="371475" y="3590925"/>
              <a:ext cx="247650" cy="247650"/>
            </a:xfrm>
            <a:prstGeom prst="ellipse">
              <a:avLst/>
            </a:prstGeom>
            <a:solidFill>
              <a:srgbClr val="B92102"/>
            </a:solidFill>
            <a:ln>
              <a:noFill/>
            </a:ln>
          </p:spPr>
        </p:sp>
        <p:sp>
          <p:nvSpPr>
            <p:cNvPr id="51" name="TextBox 51"/>
            <p:cNvSpPr txBox="1"/>
            <p:nvPr/>
          </p:nvSpPr>
          <p:spPr>
            <a:xfrm>
              <a:off x="403077" y="367188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05​</a:t>
              </a:r>
            </a:p>
          </p:txBody>
        </p:sp>
        <p:sp>
          <p:nvSpPr>
            <p:cNvPr id="52" name="Line 52"/>
            <p:cNvSpPr/>
            <p:nvPr/>
          </p:nvSpPr>
          <p:spPr>
            <a:xfrm>
              <a:off x="628650" y="3714750"/>
              <a:ext cx="1104900" cy="9525"/>
            </a:xfrm>
            <a:custGeom>
              <a:avLst/>
              <a:gdLst/>
              <a:ahLst/>
              <a:cxnLst/>
              <a:rect l="l" t="t" r="r" b="b"/>
              <a:pathLst>
                <a:path w="1104900" h="9525">
                  <a:moveTo>
                    <a:pt x="0" y="0"/>
                  </a:moveTo>
                  <a:lnTo>
                    <a:pt x="1104900" y="0"/>
                  </a:lnTo>
                </a:path>
              </a:pathLst>
            </a:custGeom>
            <a:noFill/>
            <a:ln w="9525">
              <a:solidFill>
                <a:srgbClr val="E3907F"/>
              </a:solidFill>
              <a:custDash>
                <a:ds d="300000" sp="200000"/>
              </a:custDash>
            </a:ln>
          </p:spPr>
        </p:sp>
        <p:sp>
          <p:nvSpPr>
            <p:cNvPr id="53" name="TextBox 53"/>
            <p:cNvSpPr txBox="1"/>
            <p:nvPr/>
          </p:nvSpPr>
          <p:spPr>
            <a:xfrm>
              <a:off x="5015166" y="1111091"/>
              <a:ext cx="561467" cy="161925"/>
            </a:xfrm>
            <a:prstGeom prst="rect">
              <a:avLst/>
            </a:prstGeom>
            <a:noFill/>
            <a:ln>
              <a:noFill/>
            </a:ln>
          </p:spPr>
          <p:txBody>
            <a:bodyPr wrap="none" lIns="0" tIns="0" rIns="0" bIns="0" anchor="t" anchorCtr="0">
              <a:spAutoFit/>
            </a:bodyPr>
            <a:lstStyle/>
            <a:p>
              <a:pPr algn="ctr"/>
              <a:r>
                <a:rPr lang="zh-CN" sz="820" b="1" dirty="0">
                  <a:solidFill>
                    <a:srgbClr val="6E1604"/>
                  </a:solidFill>
                  <a:latin typeface="+mn-lt"/>
                  <a:ea typeface="+mn-ea"/>
                  <a:cs typeface="+mn-cs"/>
                </a:rPr>
                <a:t>阶段转化率</a:t>
              </a:r>
            </a:p>
          </p:txBody>
        </p:sp>
        <p:sp>
          <p:nvSpPr>
            <p:cNvPr id="54" name="Line 54"/>
            <p:cNvSpPr/>
            <p:nvPr/>
          </p:nvSpPr>
          <p:spPr>
            <a:xfrm>
              <a:off x="4476750" y="1428750"/>
              <a:ext cx="476250" cy="9525"/>
            </a:xfrm>
            <a:custGeom>
              <a:avLst/>
              <a:gdLst/>
              <a:ahLst/>
              <a:cxnLst/>
              <a:rect l="l" t="t" r="r" b="b"/>
              <a:pathLst>
                <a:path w="476250" h="9525">
                  <a:moveTo>
                    <a:pt x="0" y="0"/>
                  </a:moveTo>
                  <a:lnTo>
                    <a:pt x="476250" y="0"/>
                  </a:lnTo>
                </a:path>
              </a:pathLst>
            </a:custGeom>
            <a:noFill/>
            <a:ln w="9525">
              <a:solidFill>
                <a:srgbClr val="E3907F"/>
              </a:solidFill>
              <a:custDash>
                <a:ds d="300000" sp="200000"/>
              </a:custDash>
            </a:ln>
          </p:spPr>
        </p:sp>
        <p:sp>
          <p:nvSpPr>
            <p:cNvPr id="55" name="Rectangle 55"/>
            <p:cNvSpPr/>
            <p:nvPr/>
          </p:nvSpPr>
          <p:spPr>
            <a:xfrm>
              <a:off x="4953000" y="1304925"/>
              <a:ext cx="685800" cy="247650"/>
            </a:xfrm>
            <a:prstGeom prst="roundRect">
              <a:avLst>
                <a:gd name="adj" fmla="val 15385"/>
              </a:avLst>
            </a:prstGeom>
            <a:solidFill>
              <a:srgbClr val="FFFFFF"/>
            </a:solidFill>
            <a:ln w="9525">
              <a:solidFill>
                <a:srgbClr val="E3907F"/>
              </a:solidFill>
            </a:ln>
          </p:spPr>
        </p:sp>
        <p:sp>
          <p:nvSpPr>
            <p:cNvPr id="56" name="TextBox 56"/>
            <p:cNvSpPr txBox="1"/>
            <p:nvPr/>
          </p:nvSpPr>
          <p:spPr>
            <a:xfrm>
              <a:off x="5066363" y="1383268"/>
              <a:ext cx="459075" cy="169069"/>
            </a:xfrm>
            <a:prstGeom prst="rect">
              <a:avLst/>
            </a:prstGeom>
            <a:noFill/>
            <a:ln>
              <a:noFill/>
            </a:ln>
          </p:spPr>
          <p:txBody>
            <a:bodyPr wrap="none" lIns="0" tIns="0" rIns="0" bIns="0" anchor="t" anchorCtr="0">
              <a:spAutoFit/>
            </a:bodyPr>
            <a:lstStyle/>
            <a:p>
              <a:pPr algn="ctr"/>
              <a:r>
                <a:rPr lang="en-US" sz="860" b="1" dirty="0">
                  <a:solidFill>
                    <a:srgbClr val="6E1604"/>
                  </a:solidFill>
                  <a:latin typeface="+mn-lt"/>
                  <a:ea typeface="+mn-ea"/>
                  <a:cs typeface="+mn-cs"/>
                </a:rPr>
                <a:t>XX%​​​</a:t>
              </a:r>
            </a:p>
          </p:txBody>
        </p:sp>
        <p:sp>
          <p:nvSpPr>
            <p:cNvPr id="57" name="Line 57"/>
            <p:cNvSpPr/>
            <p:nvPr/>
          </p:nvSpPr>
          <p:spPr>
            <a:xfrm>
              <a:off x="5295900" y="1581150"/>
              <a:ext cx="1" cy="247650"/>
            </a:xfrm>
            <a:prstGeom prst="line">
              <a:avLst/>
            </a:prstGeom>
            <a:noFill/>
            <a:ln w="11430">
              <a:solidFill>
                <a:srgbClr val="6E1604"/>
              </a:solidFill>
              <a:tailEnd type="triangle" w="lg" len="lg"/>
            </a:ln>
          </p:spPr>
        </p:sp>
        <p:sp>
          <p:nvSpPr>
            <p:cNvPr id="58" name="Line 58"/>
            <p:cNvSpPr/>
            <p:nvPr/>
          </p:nvSpPr>
          <p:spPr>
            <a:xfrm>
              <a:off x="4305300" y="2000250"/>
              <a:ext cx="647700" cy="9525"/>
            </a:xfrm>
            <a:custGeom>
              <a:avLst/>
              <a:gdLst/>
              <a:ahLst/>
              <a:cxnLst/>
              <a:rect l="l" t="t" r="r" b="b"/>
              <a:pathLst>
                <a:path w="647700" h="9525">
                  <a:moveTo>
                    <a:pt x="0" y="0"/>
                  </a:moveTo>
                  <a:lnTo>
                    <a:pt x="647700" y="0"/>
                  </a:lnTo>
                </a:path>
              </a:pathLst>
            </a:custGeom>
            <a:noFill/>
            <a:ln w="9525">
              <a:solidFill>
                <a:srgbClr val="E3907F"/>
              </a:solidFill>
              <a:custDash>
                <a:ds d="300000" sp="200000"/>
              </a:custDash>
            </a:ln>
          </p:spPr>
        </p:sp>
        <p:sp>
          <p:nvSpPr>
            <p:cNvPr id="59" name="Rectangle 59"/>
            <p:cNvSpPr/>
            <p:nvPr/>
          </p:nvSpPr>
          <p:spPr>
            <a:xfrm>
              <a:off x="4953000" y="1876425"/>
              <a:ext cx="685800" cy="247650"/>
            </a:xfrm>
            <a:prstGeom prst="roundRect">
              <a:avLst>
                <a:gd name="adj" fmla="val 15385"/>
              </a:avLst>
            </a:prstGeom>
            <a:solidFill>
              <a:srgbClr val="FFFFFF"/>
            </a:solidFill>
            <a:ln w="9525">
              <a:solidFill>
                <a:srgbClr val="E3907F"/>
              </a:solidFill>
            </a:ln>
          </p:spPr>
        </p:sp>
        <p:sp>
          <p:nvSpPr>
            <p:cNvPr id="60" name="TextBox 60"/>
            <p:cNvSpPr txBox="1"/>
            <p:nvPr/>
          </p:nvSpPr>
          <p:spPr>
            <a:xfrm>
              <a:off x="5066363" y="1954768"/>
              <a:ext cx="459075" cy="169069"/>
            </a:xfrm>
            <a:prstGeom prst="rect">
              <a:avLst/>
            </a:prstGeom>
            <a:noFill/>
            <a:ln>
              <a:noFill/>
            </a:ln>
          </p:spPr>
          <p:txBody>
            <a:bodyPr wrap="none" lIns="0" tIns="0" rIns="0" bIns="0" anchor="t" anchorCtr="0">
              <a:spAutoFit/>
            </a:bodyPr>
            <a:lstStyle/>
            <a:p>
              <a:pPr algn="ctr"/>
              <a:r>
                <a:rPr lang="en-US" sz="860" b="1" dirty="0">
                  <a:solidFill>
                    <a:srgbClr val="6E1604"/>
                  </a:solidFill>
                  <a:latin typeface="+mn-lt"/>
                  <a:ea typeface="+mn-ea"/>
                  <a:cs typeface="+mn-cs"/>
                </a:rPr>
                <a:t>XX%​​​</a:t>
              </a:r>
            </a:p>
          </p:txBody>
        </p:sp>
        <p:sp>
          <p:nvSpPr>
            <p:cNvPr id="61" name="Line 61"/>
            <p:cNvSpPr/>
            <p:nvPr/>
          </p:nvSpPr>
          <p:spPr>
            <a:xfrm>
              <a:off x="5295900" y="2152650"/>
              <a:ext cx="1" cy="247650"/>
            </a:xfrm>
            <a:prstGeom prst="line">
              <a:avLst/>
            </a:prstGeom>
            <a:noFill/>
            <a:ln w="11430">
              <a:solidFill>
                <a:srgbClr val="6E1604"/>
              </a:solidFill>
              <a:tailEnd type="triangle" w="lg" len="lg"/>
            </a:ln>
          </p:spPr>
        </p:sp>
        <p:sp>
          <p:nvSpPr>
            <p:cNvPr id="62" name="Line 62"/>
            <p:cNvSpPr/>
            <p:nvPr/>
          </p:nvSpPr>
          <p:spPr>
            <a:xfrm>
              <a:off x="4133850" y="2571750"/>
              <a:ext cx="819150" cy="9525"/>
            </a:xfrm>
            <a:custGeom>
              <a:avLst/>
              <a:gdLst/>
              <a:ahLst/>
              <a:cxnLst/>
              <a:rect l="l" t="t" r="r" b="b"/>
              <a:pathLst>
                <a:path w="819150" h="9525">
                  <a:moveTo>
                    <a:pt x="0" y="0"/>
                  </a:moveTo>
                  <a:lnTo>
                    <a:pt x="819150" y="0"/>
                  </a:lnTo>
                </a:path>
              </a:pathLst>
            </a:custGeom>
            <a:noFill/>
            <a:ln w="9525">
              <a:solidFill>
                <a:srgbClr val="E3907F"/>
              </a:solidFill>
              <a:custDash>
                <a:ds d="300000" sp="200000"/>
              </a:custDash>
            </a:ln>
          </p:spPr>
        </p:sp>
        <p:sp>
          <p:nvSpPr>
            <p:cNvPr id="63" name="Rectangle 63"/>
            <p:cNvSpPr/>
            <p:nvPr/>
          </p:nvSpPr>
          <p:spPr>
            <a:xfrm>
              <a:off x="4953000" y="2447925"/>
              <a:ext cx="685800" cy="247650"/>
            </a:xfrm>
            <a:prstGeom prst="roundRect">
              <a:avLst>
                <a:gd name="adj" fmla="val 15385"/>
              </a:avLst>
            </a:prstGeom>
            <a:solidFill>
              <a:srgbClr val="FFFFFF"/>
            </a:solidFill>
            <a:ln w="9525">
              <a:solidFill>
                <a:srgbClr val="E3907F"/>
              </a:solidFill>
            </a:ln>
          </p:spPr>
        </p:sp>
        <p:sp>
          <p:nvSpPr>
            <p:cNvPr id="64" name="TextBox 64"/>
            <p:cNvSpPr txBox="1"/>
            <p:nvPr/>
          </p:nvSpPr>
          <p:spPr>
            <a:xfrm>
              <a:off x="5066363" y="2526268"/>
              <a:ext cx="459075" cy="169069"/>
            </a:xfrm>
            <a:prstGeom prst="rect">
              <a:avLst/>
            </a:prstGeom>
            <a:noFill/>
            <a:ln>
              <a:noFill/>
            </a:ln>
          </p:spPr>
          <p:txBody>
            <a:bodyPr wrap="none" lIns="0" tIns="0" rIns="0" bIns="0" anchor="t" anchorCtr="0">
              <a:spAutoFit/>
            </a:bodyPr>
            <a:lstStyle/>
            <a:p>
              <a:pPr algn="ctr"/>
              <a:r>
                <a:rPr lang="en-US" sz="860" b="1" dirty="0">
                  <a:solidFill>
                    <a:srgbClr val="6E1604"/>
                  </a:solidFill>
                  <a:latin typeface="+mn-lt"/>
                  <a:ea typeface="+mn-ea"/>
                  <a:cs typeface="+mn-cs"/>
                </a:rPr>
                <a:t>XX%​​​</a:t>
              </a:r>
            </a:p>
          </p:txBody>
        </p:sp>
        <p:sp>
          <p:nvSpPr>
            <p:cNvPr id="65" name="Line 65"/>
            <p:cNvSpPr/>
            <p:nvPr/>
          </p:nvSpPr>
          <p:spPr>
            <a:xfrm>
              <a:off x="5295900" y="2724150"/>
              <a:ext cx="1" cy="247650"/>
            </a:xfrm>
            <a:prstGeom prst="line">
              <a:avLst/>
            </a:prstGeom>
            <a:noFill/>
            <a:ln w="11430">
              <a:solidFill>
                <a:srgbClr val="6E1604"/>
              </a:solidFill>
              <a:tailEnd type="triangle" w="lg" len="lg"/>
            </a:ln>
          </p:spPr>
        </p:sp>
        <p:sp>
          <p:nvSpPr>
            <p:cNvPr id="66" name="Line 66"/>
            <p:cNvSpPr/>
            <p:nvPr/>
          </p:nvSpPr>
          <p:spPr>
            <a:xfrm>
              <a:off x="3962400" y="3143250"/>
              <a:ext cx="990600" cy="9525"/>
            </a:xfrm>
            <a:custGeom>
              <a:avLst/>
              <a:gdLst/>
              <a:ahLst/>
              <a:cxnLst/>
              <a:rect l="l" t="t" r="r" b="b"/>
              <a:pathLst>
                <a:path w="990600" h="9525">
                  <a:moveTo>
                    <a:pt x="0" y="0"/>
                  </a:moveTo>
                  <a:lnTo>
                    <a:pt x="990600" y="0"/>
                  </a:lnTo>
                </a:path>
              </a:pathLst>
            </a:custGeom>
            <a:noFill/>
            <a:ln w="9525">
              <a:solidFill>
                <a:srgbClr val="E3907F"/>
              </a:solidFill>
              <a:custDash>
                <a:ds d="300000" sp="200000"/>
              </a:custDash>
            </a:ln>
          </p:spPr>
        </p:sp>
        <p:sp>
          <p:nvSpPr>
            <p:cNvPr id="67" name="Rectangle 67"/>
            <p:cNvSpPr/>
            <p:nvPr/>
          </p:nvSpPr>
          <p:spPr>
            <a:xfrm>
              <a:off x="4953000" y="3019425"/>
              <a:ext cx="685800" cy="247650"/>
            </a:xfrm>
            <a:prstGeom prst="roundRect">
              <a:avLst>
                <a:gd name="adj" fmla="val 15385"/>
              </a:avLst>
            </a:prstGeom>
            <a:solidFill>
              <a:srgbClr val="FFFFFF"/>
            </a:solidFill>
            <a:ln w="9525">
              <a:solidFill>
                <a:srgbClr val="E3907F"/>
              </a:solidFill>
            </a:ln>
          </p:spPr>
        </p:sp>
        <p:sp>
          <p:nvSpPr>
            <p:cNvPr id="68" name="TextBox 68"/>
            <p:cNvSpPr txBox="1"/>
            <p:nvPr/>
          </p:nvSpPr>
          <p:spPr>
            <a:xfrm>
              <a:off x="5066363" y="3097768"/>
              <a:ext cx="459075" cy="169069"/>
            </a:xfrm>
            <a:prstGeom prst="rect">
              <a:avLst/>
            </a:prstGeom>
            <a:noFill/>
            <a:ln>
              <a:noFill/>
            </a:ln>
          </p:spPr>
          <p:txBody>
            <a:bodyPr wrap="none" lIns="0" tIns="0" rIns="0" bIns="0" anchor="t" anchorCtr="0">
              <a:spAutoFit/>
            </a:bodyPr>
            <a:lstStyle/>
            <a:p>
              <a:pPr algn="ctr"/>
              <a:r>
                <a:rPr lang="en-US" sz="860" b="1" dirty="0">
                  <a:solidFill>
                    <a:srgbClr val="6E1604"/>
                  </a:solidFill>
                  <a:latin typeface="+mn-lt"/>
                  <a:ea typeface="+mn-ea"/>
                  <a:cs typeface="+mn-cs"/>
                </a:rPr>
                <a:t>XX%​​​</a:t>
              </a:r>
            </a:p>
          </p:txBody>
        </p:sp>
        <p:sp>
          <p:nvSpPr>
            <p:cNvPr id="69" name="Line 69"/>
            <p:cNvSpPr/>
            <p:nvPr/>
          </p:nvSpPr>
          <p:spPr>
            <a:xfrm>
              <a:off x="5295900" y="3295650"/>
              <a:ext cx="1" cy="247650"/>
            </a:xfrm>
            <a:prstGeom prst="line">
              <a:avLst/>
            </a:prstGeom>
            <a:noFill/>
            <a:ln w="11430">
              <a:solidFill>
                <a:srgbClr val="6E1604"/>
              </a:solidFill>
              <a:tailEnd type="triangle" w="lg" len="lg"/>
            </a:ln>
          </p:spPr>
        </p:sp>
        <p:sp>
          <p:nvSpPr>
            <p:cNvPr id="70" name="Line 70"/>
            <p:cNvSpPr/>
            <p:nvPr/>
          </p:nvSpPr>
          <p:spPr>
            <a:xfrm>
              <a:off x="3790950" y="3714750"/>
              <a:ext cx="1162050" cy="9525"/>
            </a:xfrm>
            <a:custGeom>
              <a:avLst/>
              <a:gdLst/>
              <a:ahLst/>
              <a:cxnLst/>
              <a:rect l="l" t="t" r="r" b="b"/>
              <a:pathLst>
                <a:path w="1162050" h="9525">
                  <a:moveTo>
                    <a:pt x="0" y="0"/>
                  </a:moveTo>
                  <a:lnTo>
                    <a:pt x="1162050" y="0"/>
                  </a:lnTo>
                </a:path>
              </a:pathLst>
            </a:custGeom>
            <a:noFill/>
            <a:ln w="9525">
              <a:solidFill>
                <a:srgbClr val="E3907F"/>
              </a:solidFill>
              <a:custDash>
                <a:ds d="300000" sp="200000"/>
              </a:custDash>
            </a:ln>
          </p:spPr>
        </p:sp>
        <p:sp>
          <p:nvSpPr>
            <p:cNvPr id="71" name="Rectangle 71"/>
            <p:cNvSpPr/>
            <p:nvPr/>
          </p:nvSpPr>
          <p:spPr>
            <a:xfrm>
              <a:off x="4953000" y="3590925"/>
              <a:ext cx="685800" cy="247650"/>
            </a:xfrm>
            <a:prstGeom prst="roundRect">
              <a:avLst>
                <a:gd name="adj" fmla="val 15385"/>
              </a:avLst>
            </a:prstGeom>
            <a:solidFill>
              <a:srgbClr val="FFFFFF"/>
            </a:solidFill>
            <a:ln w="9525">
              <a:solidFill>
                <a:srgbClr val="E3907F"/>
              </a:solidFill>
            </a:ln>
          </p:spPr>
        </p:sp>
        <p:sp>
          <p:nvSpPr>
            <p:cNvPr id="72" name="TextBox 72"/>
            <p:cNvSpPr txBox="1"/>
            <p:nvPr/>
          </p:nvSpPr>
          <p:spPr>
            <a:xfrm>
              <a:off x="5066363" y="3669268"/>
              <a:ext cx="459075" cy="169069"/>
            </a:xfrm>
            <a:prstGeom prst="rect">
              <a:avLst/>
            </a:prstGeom>
            <a:noFill/>
            <a:ln>
              <a:noFill/>
            </a:ln>
          </p:spPr>
          <p:txBody>
            <a:bodyPr wrap="none" lIns="0" tIns="0" rIns="0" bIns="0" anchor="t" anchorCtr="0">
              <a:spAutoFit/>
            </a:bodyPr>
            <a:lstStyle/>
            <a:p>
              <a:pPr algn="ctr"/>
              <a:r>
                <a:rPr lang="en-US" sz="860" b="1" dirty="0">
                  <a:solidFill>
                    <a:srgbClr val="6E1604"/>
                  </a:solidFill>
                  <a:latin typeface="+mn-lt"/>
                  <a:ea typeface="+mn-ea"/>
                  <a:cs typeface="+mn-cs"/>
                </a:rPr>
                <a:t>XX%​​​</a:t>
              </a:r>
            </a:p>
          </p:txBody>
        </p:sp>
        <p:sp>
          <p:nvSpPr>
            <p:cNvPr id="73" name="Line 73"/>
            <p:cNvSpPr/>
            <p:nvPr/>
          </p:nvSpPr>
          <p:spPr>
            <a:xfrm>
              <a:off x="419100" y="4114800"/>
              <a:ext cx="5334000" cy="9525"/>
            </a:xfrm>
            <a:custGeom>
              <a:avLst/>
              <a:gdLst/>
              <a:ahLst/>
              <a:cxnLst/>
              <a:rect l="l" t="t" r="r" b="b"/>
              <a:pathLst>
                <a:path w="5334000" h="9525">
                  <a:moveTo>
                    <a:pt x="0" y="0"/>
                  </a:moveTo>
                  <a:lnTo>
                    <a:pt x="5334000" y="0"/>
                  </a:lnTo>
                </a:path>
              </a:pathLst>
            </a:custGeom>
            <a:noFill/>
            <a:ln w="9525">
              <a:solidFill>
                <a:srgbClr val="DCE6F8"/>
              </a:solidFill>
              <a:custDash>
                <a:ds d="400000" sp="300000"/>
              </a:custDash>
            </a:ln>
          </p:spPr>
        </p:sp>
        <p:sp>
          <p:nvSpPr>
            <p:cNvPr id="74" name="TextBox 74"/>
            <p:cNvSpPr txBox="1"/>
            <p:nvPr/>
          </p:nvSpPr>
          <p:spPr>
            <a:xfrm>
              <a:off x="738016" y="4265295"/>
              <a:ext cx="924268"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线索→成交转化率</a:t>
              </a:r>
            </a:p>
          </p:txBody>
        </p:sp>
        <p:sp>
          <p:nvSpPr>
            <p:cNvPr id="75" name="TextBox 75"/>
            <p:cNvSpPr txBox="1"/>
            <p:nvPr/>
          </p:nvSpPr>
          <p:spPr>
            <a:xfrm>
              <a:off x="880415" y="4480560"/>
              <a:ext cx="639470" cy="234696"/>
            </a:xfrm>
            <a:prstGeom prst="rect">
              <a:avLst/>
            </a:prstGeom>
            <a:noFill/>
            <a:ln>
              <a:noFill/>
            </a:ln>
          </p:spPr>
          <p:txBody>
            <a:bodyPr wrap="none" lIns="0" tIns="0" rIns="0" bIns="0" anchor="t" anchorCtr="0">
              <a:spAutoFit/>
            </a:bodyPr>
            <a:lstStyle/>
            <a:p>
              <a:pPr algn="ctr"/>
              <a:r>
                <a:rPr lang="en-US" sz="1200" b="1" dirty="0">
                  <a:solidFill>
                    <a:srgbClr val="6E1604"/>
                  </a:solidFill>
                  <a:latin typeface="+mn-lt"/>
                  <a:ea typeface="+mn-ea"/>
                  <a:cs typeface="+mn-cs"/>
                </a:rPr>
                <a:t>XX%​​​</a:t>
              </a:r>
            </a:p>
          </p:txBody>
        </p:sp>
        <p:sp>
          <p:nvSpPr>
            <p:cNvPr id="76" name="Line 76"/>
            <p:cNvSpPr/>
            <p:nvPr/>
          </p:nvSpPr>
          <p:spPr>
            <a:xfrm>
              <a:off x="2143125" y="4248150"/>
              <a:ext cx="9525" cy="419100"/>
            </a:xfrm>
            <a:custGeom>
              <a:avLst/>
              <a:gdLst/>
              <a:ahLst/>
              <a:cxnLst/>
              <a:rect l="l" t="t" r="r" b="b"/>
              <a:pathLst>
                <a:path w="9525" h="419100">
                  <a:moveTo>
                    <a:pt x="0" y="0"/>
                  </a:moveTo>
                  <a:lnTo>
                    <a:pt x="0" y="419100"/>
                  </a:lnTo>
                </a:path>
              </a:pathLst>
            </a:custGeom>
            <a:noFill/>
            <a:ln w="9525">
              <a:solidFill>
                <a:srgbClr val="DCE6F8"/>
              </a:solidFill>
            </a:ln>
          </p:spPr>
        </p:sp>
        <p:sp>
          <p:nvSpPr>
            <p:cNvPr id="77" name="TextBox 77"/>
            <p:cNvSpPr txBox="1"/>
            <p:nvPr/>
          </p:nvSpPr>
          <p:spPr>
            <a:xfrm>
              <a:off x="2839022" y="4265295"/>
              <a:ext cx="494157"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加权金额</a:t>
              </a:r>
            </a:p>
          </p:txBody>
        </p:sp>
        <p:sp>
          <p:nvSpPr>
            <p:cNvPr id="78" name="TextBox 78"/>
            <p:cNvSpPr txBox="1"/>
            <p:nvPr/>
          </p:nvSpPr>
          <p:spPr>
            <a:xfrm>
              <a:off x="2733839" y="4480560"/>
              <a:ext cx="704522" cy="234696"/>
            </a:xfrm>
            <a:prstGeom prst="rect">
              <a:avLst/>
            </a:prstGeom>
            <a:noFill/>
            <a:ln>
              <a:noFill/>
            </a:ln>
          </p:spPr>
          <p:txBody>
            <a:bodyPr wrap="none" lIns="0" tIns="0" rIns="0" bIns="0" anchor="t" anchorCtr="0">
              <a:spAutoFit/>
            </a:bodyPr>
            <a:lstStyle/>
            <a:p>
              <a:pPr algn="ctr"/>
              <a:r>
                <a:rPr lang="zh-CN" sz="1200" b="1" dirty="0">
                  <a:solidFill>
                    <a:srgbClr val="6E1604"/>
                  </a:solidFill>
                  <a:latin typeface="+mn-lt"/>
                  <a:ea typeface="+mn-ea"/>
                  <a:cs typeface="+mn-cs"/>
                </a:rPr>
                <a:t>XX 万​​​</a:t>
              </a:r>
            </a:p>
          </p:txBody>
        </p:sp>
        <p:sp>
          <p:nvSpPr>
            <p:cNvPr id="79" name="Line 79"/>
            <p:cNvSpPr/>
            <p:nvPr/>
          </p:nvSpPr>
          <p:spPr>
            <a:xfrm>
              <a:off x="4029075" y="4248150"/>
              <a:ext cx="9525" cy="419100"/>
            </a:xfrm>
            <a:custGeom>
              <a:avLst/>
              <a:gdLst/>
              <a:ahLst/>
              <a:cxnLst/>
              <a:rect l="l" t="t" r="r" b="b"/>
              <a:pathLst>
                <a:path w="9525" h="419100">
                  <a:moveTo>
                    <a:pt x="0" y="0"/>
                  </a:moveTo>
                  <a:lnTo>
                    <a:pt x="0" y="419100"/>
                  </a:lnTo>
                </a:path>
              </a:pathLst>
            </a:custGeom>
            <a:noFill/>
            <a:ln w="9525">
              <a:solidFill>
                <a:srgbClr val="DCE6F8"/>
              </a:solidFill>
            </a:ln>
          </p:spPr>
        </p:sp>
        <p:sp>
          <p:nvSpPr>
            <p:cNvPr id="80" name="TextBox 80"/>
            <p:cNvSpPr txBox="1"/>
            <p:nvPr/>
          </p:nvSpPr>
          <p:spPr>
            <a:xfrm>
              <a:off x="4603814" y="4265295"/>
              <a:ext cx="736473" cy="176212"/>
            </a:xfrm>
            <a:prstGeom prst="rect">
              <a:avLst/>
            </a:prstGeom>
            <a:noFill/>
            <a:ln>
              <a:noFill/>
            </a:ln>
          </p:spPr>
          <p:txBody>
            <a:bodyPr wrap="none" lIns="0" tIns="0" rIns="0" bIns="0" anchor="t" anchorCtr="0">
              <a:spAutoFit/>
            </a:bodyPr>
            <a:lstStyle/>
            <a:p>
              <a:pPr algn="ctr"/>
              <a:r>
                <a:rPr lang="zh-CN" sz="900" dirty="0">
                  <a:solidFill>
                    <a:srgbClr val="473633"/>
                  </a:solidFill>
                  <a:latin typeface="+mn-lt"/>
                  <a:ea typeface="+mn-ea"/>
                  <a:cs typeface="+mn-cs"/>
                </a:rPr>
                <a:t>预计成交金额</a:t>
              </a:r>
            </a:p>
          </p:txBody>
        </p:sp>
        <p:sp>
          <p:nvSpPr>
            <p:cNvPr id="81" name="TextBox 81"/>
            <p:cNvSpPr txBox="1"/>
            <p:nvPr/>
          </p:nvSpPr>
          <p:spPr>
            <a:xfrm>
              <a:off x="4619789" y="4480560"/>
              <a:ext cx="704522" cy="234696"/>
            </a:xfrm>
            <a:prstGeom prst="rect">
              <a:avLst/>
            </a:prstGeom>
            <a:noFill/>
            <a:ln>
              <a:noFill/>
            </a:ln>
          </p:spPr>
          <p:txBody>
            <a:bodyPr wrap="none" lIns="0" tIns="0" rIns="0" bIns="0" anchor="t" anchorCtr="0">
              <a:spAutoFit/>
            </a:bodyPr>
            <a:lstStyle/>
            <a:p>
              <a:pPr algn="ctr"/>
              <a:r>
                <a:rPr lang="zh-CN" sz="1200" b="1" dirty="0">
                  <a:solidFill>
                    <a:srgbClr val="6E1604"/>
                  </a:solidFill>
                  <a:latin typeface="+mn-lt"/>
                  <a:ea typeface="+mn-ea"/>
                  <a:cs typeface="+mn-cs"/>
                </a:rPr>
                <a:t>XX 万​​​</a:t>
              </a:r>
            </a:p>
          </p:txBody>
        </p:sp>
      </p:grpSp>
      <p:grpSp>
        <p:nvGrpSpPr>
          <p:cNvPr id="129" name="ageing-panel"/>
          <p:cNvGrpSpPr/>
          <p:nvPr/>
        </p:nvGrpSpPr>
        <p:grpSpPr>
          <a:xfrm>
            <a:off x="6096000" y="800100"/>
            <a:ext cx="5829300" cy="2250995"/>
            <a:chOff x="6096000" y="800100"/>
            <a:chExt cx="5829300" cy="2250995"/>
          </a:xfrm>
        </p:grpSpPr>
        <p:sp>
          <p:nvSpPr>
            <p:cNvPr id="83" name="Rectangle 83"/>
            <p:cNvSpPr/>
            <p:nvPr/>
          </p:nvSpPr>
          <p:spPr>
            <a:xfrm>
              <a:off x="6096000" y="800100"/>
              <a:ext cx="5829300" cy="2247900"/>
            </a:xfrm>
            <a:prstGeom prst="roundRect">
              <a:avLst>
                <a:gd name="adj" fmla="val 3390"/>
              </a:avLst>
            </a:prstGeom>
            <a:solidFill>
              <a:srgbClr val="FFFFFF"/>
            </a:solidFill>
            <a:ln w="9525">
              <a:solidFill>
                <a:srgbClr val="F7D1C9"/>
              </a:solidFill>
            </a:ln>
          </p:spPr>
        </p:sp>
        <p:sp>
          <p:nvSpPr>
            <p:cNvPr id="84" name="Line 84"/>
            <p:cNvSpPr/>
            <p:nvPr/>
          </p:nvSpPr>
          <p:spPr>
            <a:xfrm>
              <a:off x="6858000" y="971550"/>
              <a:ext cx="762000" cy="9525"/>
            </a:xfrm>
            <a:custGeom>
              <a:avLst/>
              <a:gdLst/>
              <a:ahLst/>
              <a:cxnLst/>
              <a:rect l="l" t="t" r="r" b="b"/>
              <a:pathLst>
                <a:path w="762000" h="9525">
                  <a:moveTo>
                    <a:pt x="0" y="0"/>
                  </a:moveTo>
                  <a:lnTo>
                    <a:pt x="762000" y="0"/>
                  </a:lnTo>
                </a:path>
              </a:pathLst>
            </a:custGeom>
            <a:noFill/>
            <a:ln w="9525">
              <a:solidFill>
                <a:srgbClr val="E3907F"/>
              </a:solidFill>
            </a:ln>
          </p:spPr>
        </p:sp>
        <p:sp>
          <p:nvSpPr>
            <p:cNvPr id="85" name="TextBox 85"/>
            <p:cNvSpPr txBox="1"/>
            <p:nvPr/>
          </p:nvSpPr>
          <p:spPr>
            <a:xfrm>
              <a:off x="8045719" y="905828"/>
              <a:ext cx="1929861"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商机账龄分析（按商机数量）​</a:t>
              </a:r>
            </a:p>
          </p:txBody>
        </p:sp>
        <p:sp>
          <p:nvSpPr>
            <p:cNvPr id="86" name="Line 86"/>
            <p:cNvSpPr/>
            <p:nvPr/>
          </p:nvSpPr>
          <p:spPr>
            <a:xfrm>
              <a:off x="10401300" y="971550"/>
              <a:ext cx="762000" cy="9525"/>
            </a:xfrm>
            <a:custGeom>
              <a:avLst/>
              <a:gdLst/>
              <a:ahLst/>
              <a:cxnLst/>
              <a:rect l="l" t="t" r="r" b="b"/>
              <a:pathLst>
                <a:path w="762000" h="9525">
                  <a:moveTo>
                    <a:pt x="0" y="0"/>
                  </a:moveTo>
                  <a:lnTo>
                    <a:pt x="762000" y="0"/>
                  </a:lnTo>
                </a:path>
              </a:pathLst>
            </a:custGeom>
            <a:noFill/>
            <a:ln w="9525">
              <a:solidFill>
                <a:srgbClr val="E3907F"/>
              </a:solidFill>
            </a:ln>
          </p:spPr>
        </p:sp>
        <p:grpSp>
          <p:nvGrpSpPr>
            <p:cNvPr id="95" name="age-card-1"/>
            <p:cNvGrpSpPr/>
            <p:nvPr/>
          </p:nvGrpSpPr>
          <p:grpSpPr>
            <a:xfrm>
              <a:off x="6191250" y="1123950"/>
              <a:ext cx="1333500" cy="1676400"/>
              <a:chOff x="6191250" y="1123950"/>
              <a:chExt cx="1333500" cy="1676400"/>
            </a:xfrm>
          </p:grpSpPr>
          <p:sp>
            <p:nvSpPr>
              <p:cNvPr id="87" name="Rectangle 87"/>
              <p:cNvSpPr/>
              <p:nvPr/>
            </p:nvSpPr>
            <p:spPr>
              <a:xfrm>
                <a:off x="6191250" y="1123950"/>
                <a:ext cx="1333500" cy="1676400"/>
              </a:xfrm>
              <a:prstGeom prst="roundRect">
                <a:avLst>
                  <a:gd name="adj" fmla="val 4286"/>
                </a:avLst>
              </a:prstGeom>
              <a:solidFill>
                <a:srgbClr val="F7FAFE"/>
              </a:solidFill>
              <a:ln w="9525">
                <a:solidFill>
                  <a:srgbClr val="DCE6F8"/>
                </a:solidFill>
              </a:ln>
            </p:spPr>
          </p:sp>
          <p:sp>
            <p:nvSpPr>
              <p:cNvPr id="88" name="Freeform 88"/>
              <p:cNvSpPr/>
              <p:nvPr/>
            </p:nvSpPr>
            <p:spPr>
              <a:xfrm>
                <a:off x="6191250" y="1123950"/>
                <a:ext cx="1333500" cy="228600"/>
              </a:xfrm>
              <a:custGeom>
                <a:avLst/>
                <a:gdLst/>
                <a:ahLst/>
                <a:cxnLst/>
                <a:rect l="l" t="t" r="r" b="b"/>
                <a:pathLst>
                  <a:path w="1333500" h="228600">
                    <a:moveTo>
                      <a:pt x="0" y="57150"/>
                    </a:moveTo>
                    <a:cubicBezTo>
                      <a:pt x="0" y="25587"/>
                      <a:pt x="25587" y="0"/>
                      <a:pt x="57150" y="0"/>
                    </a:cubicBezTo>
                    <a:lnTo>
                      <a:pt x="1276350" y="0"/>
                    </a:lnTo>
                    <a:cubicBezTo>
                      <a:pt x="1307913" y="0"/>
                      <a:pt x="1333500" y="25587"/>
                      <a:pt x="1333500" y="57150"/>
                    </a:cubicBezTo>
                    <a:lnTo>
                      <a:pt x="1333500" y="228600"/>
                    </a:lnTo>
                    <a:lnTo>
                      <a:pt x="0" y="228600"/>
                    </a:lnTo>
                    <a:close/>
                  </a:path>
                </a:pathLst>
              </a:custGeom>
              <a:solidFill>
                <a:srgbClr val="FDCCC2"/>
              </a:solidFill>
              <a:ln>
                <a:noFill/>
              </a:ln>
            </p:spPr>
          </p:sp>
          <p:sp>
            <p:nvSpPr>
              <p:cNvPr id="89" name="TextBox 89"/>
              <p:cNvSpPr txBox="1"/>
              <p:nvPr/>
            </p:nvSpPr>
            <p:spPr>
              <a:xfrm>
                <a:off x="6547768" y="1188720"/>
                <a:ext cx="620464" cy="176212"/>
              </a:xfrm>
              <a:prstGeom prst="rect">
                <a:avLst/>
              </a:prstGeom>
              <a:noFill/>
              <a:ln>
                <a:noFill/>
              </a:ln>
            </p:spPr>
            <p:txBody>
              <a:bodyPr wrap="none" lIns="0" tIns="0" rIns="0" bIns="0" anchor="t" anchorCtr="0">
                <a:spAutoFit/>
              </a:bodyPr>
              <a:lstStyle/>
              <a:p>
                <a:pPr algn="ctr"/>
                <a:r>
                  <a:rPr lang="zh-CN" sz="900" b="1" dirty="0">
                    <a:solidFill>
                      <a:srgbClr val="6E1604"/>
                    </a:solidFill>
                    <a:latin typeface="+mn-lt"/>
                    <a:ea typeface="+mn-ea"/>
                    <a:cs typeface="+mn-cs"/>
                  </a:rPr>
                  <a:t>0-15天​​​</a:t>
                </a:r>
              </a:p>
            </p:txBody>
          </p:sp>
          <p:sp>
            <p:nvSpPr>
              <p:cNvPr id="90" name="Freeform 90"/>
              <p:cNvSpPr/>
              <p:nvPr/>
            </p:nvSpPr>
            <p:spPr>
              <a:xfrm>
                <a:off x="6610350" y="1562100"/>
                <a:ext cx="495300" cy="495300"/>
              </a:xfrm>
              <a:prstGeom prst="donut">
                <a:avLst>
                  <a:gd name="adj" fmla="val 15385"/>
                </a:avLst>
              </a:prstGeom>
              <a:solidFill>
                <a:srgbClr val="DCE6F8"/>
              </a:solidFill>
              <a:ln>
                <a:noFill/>
              </a:ln>
            </p:spPr>
          </p:sp>
          <p:sp>
            <p:nvSpPr>
              <p:cNvPr id="91" name="Freeform 91"/>
              <p:cNvSpPr/>
              <p:nvPr/>
            </p:nvSpPr>
            <p:spPr>
              <a:xfrm>
                <a:off x="6610350" y="1562100"/>
                <a:ext cx="495300" cy="495300"/>
              </a:xfrm>
              <a:prstGeom prst="blockArc">
                <a:avLst>
                  <a:gd name="adj1" fmla="val 16200000"/>
                  <a:gd name="adj2" fmla="val 9288000"/>
                  <a:gd name="adj3" fmla="val 15385"/>
                </a:avLst>
              </a:prstGeom>
              <a:solidFill>
                <a:srgbClr val="B92102"/>
              </a:solidFill>
              <a:ln>
                <a:noFill/>
              </a:ln>
            </p:spPr>
          </p:sp>
          <p:sp>
            <p:nvSpPr>
              <p:cNvPr id="92" name="TextBox 92"/>
              <p:cNvSpPr txBox="1"/>
              <p:nvPr/>
            </p:nvSpPr>
            <p:spPr>
              <a:xfrm>
                <a:off x="6638917" y="1758791"/>
                <a:ext cx="438165" cy="161925"/>
              </a:xfrm>
              <a:prstGeom prst="rect">
                <a:avLst/>
              </a:prstGeom>
              <a:noFill/>
              <a:ln>
                <a:noFill/>
              </a:ln>
            </p:spPr>
            <p:txBody>
              <a:bodyPr wrap="none" lIns="0" tIns="0" rIns="0" bIns="0" anchor="t" anchorCtr="0">
                <a:spAutoFit/>
              </a:bodyPr>
              <a:lstStyle/>
              <a:p>
                <a:pPr algn="ctr"/>
                <a:r>
                  <a:rPr lang="en-US" sz="820" b="1" dirty="0">
                    <a:solidFill>
                      <a:srgbClr val="6E1604"/>
                    </a:solidFill>
                    <a:latin typeface="+mn-lt"/>
                    <a:ea typeface="+mn-ea"/>
                    <a:cs typeface="+mn-cs"/>
                  </a:rPr>
                  <a:t>XX%​​​</a:t>
                </a:r>
              </a:p>
            </p:txBody>
          </p:sp>
          <p:sp>
            <p:nvSpPr>
              <p:cNvPr id="93" name="TextBox 93"/>
              <p:cNvSpPr txBox="1"/>
              <p:nvPr/>
            </p:nvSpPr>
            <p:spPr>
              <a:xfrm>
                <a:off x="6300788" y="2162889"/>
                <a:ext cx="716852"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数量：XX​​​</a:t>
                </a:r>
                <a:br/>
                <a:r>
                  <a:rPr lang="zh-CN" sz="790" dirty="0">
                    <a:solidFill>
                      <a:srgbClr val="473633"/>
                    </a:solidFill>
                    <a:latin typeface="+mn-lt"/>
                    <a:ea typeface="+mn-ea"/>
                    <a:cs typeface="+mn-cs"/>
                  </a:rPr>
                  <a:t>金额：XX 万​​​</a:t>
                </a:r>
              </a:p>
            </p:txBody>
          </p:sp>
          <p:sp>
            <p:nvSpPr>
              <p:cNvPr id="94" name="TextBox 94"/>
              <p:cNvSpPr txBox="1"/>
              <p:nvPr/>
            </p:nvSpPr>
            <p:spPr>
              <a:xfrm>
                <a:off x="6300788" y="2620089"/>
                <a:ext cx="871320"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占比：XX%​​​​​</a:t>
                </a:r>
              </a:p>
            </p:txBody>
          </p:sp>
        </p:grpSp>
        <p:grpSp>
          <p:nvGrpSpPr>
            <p:cNvPr id="104" name="age-card-2"/>
            <p:cNvGrpSpPr/>
            <p:nvPr/>
          </p:nvGrpSpPr>
          <p:grpSpPr>
            <a:xfrm>
              <a:off x="7620000" y="1123950"/>
              <a:ext cx="1333500" cy="1676400"/>
              <a:chOff x="7620000" y="1123950"/>
              <a:chExt cx="1333500" cy="1676400"/>
            </a:xfrm>
          </p:grpSpPr>
          <p:sp>
            <p:nvSpPr>
              <p:cNvPr id="96" name="Rectangle 96"/>
              <p:cNvSpPr/>
              <p:nvPr/>
            </p:nvSpPr>
            <p:spPr>
              <a:xfrm>
                <a:off x="7620000" y="1123950"/>
                <a:ext cx="1333500" cy="1676400"/>
              </a:xfrm>
              <a:prstGeom prst="roundRect">
                <a:avLst>
                  <a:gd name="adj" fmla="val 4286"/>
                </a:avLst>
              </a:prstGeom>
              <a:solidFill>
                <a:srgbClr val="F7FAFE"/>
              </a:solidFill>
              <a:ln w="9525">
                <a:solidFill>
                  <a:srgbClr val="DCE6F8"/>
                </a:solidFill>
              </a:ln>
            </p:spPr>
          </p:sp>
          <p:sp>
            <p:nvSpPr>
              <p:cNvPr id="97" name="Freeform 97"/>
              <p:cNvSpPr/>
              <p:nvPr/>
            </p:nvSpPr>
            <p:spPr>
              <a:xfrm>
                <a:off x="7620000" y="1123950"/>
                <a:ext cx="1333500" cy="228600"/>
              </a:xfrm>
              <a:custGeom>
                <a:avLst/>
                <a:gdLst/>
                <a:ahLst/>
                <a:cxnLst/>
                <a:rect l="l" t="t" r="r" b="b"/>
                <a:pathLst>
                  <a:path w="1333500" h="228600">
                    <a:moveTo>
                      <a:pt x="0" y="57150"/>
                    </a:moveTo>
                    <a:cubicBezTo>
                      <a:pt x="0" y="25587"/>
                      <a:pt x="25587" y="0"/>
                      <a:pt x="57150" y="0"/>
                    </a:cubicBezTo>
                    <a:lnTo>
                      <a:pt x="1276350" y="0"/>
                    </a:lnTo>
                    <a:cubicBezTo>
                      <a:pt x="1307913" y="0"/>
                      <a:pt x="1333500" y="25587"/>
                      <a:pt x="1333500" y="57150"/>
                    </a:cubicBezTo>
                    <a:lnTo>
                      <a:pt x="1333500" y="228600"/>
                    </a:lnTo>
                    <a:lnTo>
                      <a:pt x="0" y="228600"/>
                    </a:lnTo>
                    <a:close/>
                  </a:path>
                </a:pathLst>
              </a:custGeom>
              <a:solidFill>
                <a:srgbClr val="FDCCC2"/>
              </a:solidFill>
              <a:ln>
                <a:noFill/>
              </a:ln>
            </p:spPr>
          </p:sp>
          <p:sp>
            <p:nvSpPr>
              <p:cNvPr id="98" name="TextBox 98"/>
              <p:cNvSpPr txBox="1"/>
              <p:nvPr/>
            </p:nvSpPr>
            <p:spPr>
              <a:xfrm>
                <a:off x="7941534" y="1188720"/>
                <a:ext cx="690433" cy="176212"/>
              </a:xfrm>
              <a:prstGeom prst="rect">
                <a:avLst/>
              </a:prstGeom>
              <a:noFill/>
              <a:ln>
                <a:noFill/>
              </a:ln>
            </p:spPr>
            <p:txBody>
              <a:bodyPr wrap="none" lIns="0" tIns="0" rIns="0" bIns="0" anchor="t" anchorCtr="0">
                <a:spAutoFit/>
              </a:bodyPr>
              <a:lstStyle/>
              <a:p>
                <a:pPr algn="ctr"/>
                <a:r>
                  <a:rPr lang="zh-CN" sz="900" b="1" dirty="0">
                    <a:solidFill>
                      <a:srgbClr val="6E1604"/>
                    </a:solidFill>
                    <a:latin typeface="+mn-lt"/>
                    <a:ea typeface="+mn-ea"/>
                    <a:cs typeface="+mn-cs"/>
                  </a:rPr>
                  <a:t>16-30天​​​</a:t>
                </a:r>
              </a:p>
            </p:txBody>
          </p:sp>
          <p:sp>
            <p:nvSpPr>
              <p:cNvPr id="99" name="Freeform 99"/>
              <p:cNvSpPr/>
              <p:nvPr/>
            </p:nvSpPr>
            <p:spPr>
              <a:xfrm>
                <a:off x="8039100" y="1562100"/>
                <a:ext cx="495300" cy="495300"/>
              </a:xfrm>
              <a:prstGeom prst="donut">
                <a:avLst>
                  <a:gd name="adj" fmla="val 15385"/>
                </a:avLst>
              </a:prstGeom>
              <a:solidFill>
                <a:srgbClr val="DCE6F8"/>
              </a:solidFill>
              <a:ln>
                <a:noFill/>
              </a:ln>
            </p:spPr>
          </p:sp>
          <p:sp>
            <p:nvSpPr>
              <p:cNvPr id="100" name="Freeform 100"/>
              <p:cNvSpPr/>
              <p:nvPr/>
            </p:nvSpPr>
            <p:spPr>
              <a:xfrm>
                <a:off x="8039100" y="1562100"/>
                <a:ext cx="495300" cy="495300"/>
              </a:xfrm>
              <a:prstGeom prst="blockArc">
                <a:avLst>
                  <a:gd name="adj1" fmla="val 16200000"/>
                  <a:gd name="adj2" fmla="val 7992000"/>
                  <a:gd name="adj3" fmla="val 15385"/>
                </a:avLst>
              </a:prstGeom>
              <a:solidFill>
                <a:srgbClr val="D44B2F"/>
              </a:solidFill>
              <a:ln>
                <a:noFill/>
              </a:ln>
            </p:spPr>
          </p:sp>
          <p:sp>
            <p:nvSpPr>
              <p:cNvPr id="101" name="TextBox 101"/>
              <p:cNvSpPr txBox="1"/>
              <p:nvPr/>
            </p:nvSpPr>
            <p:spPr>
              <a:xfrm>
                <a:off x="8067667" y="1758791"/>
                <a:ext cx="438165" cy="161925"/>
              </a:xfrm>
              <a:prstGeom prst="rect">
                <a:avLst/>
              </a:prstGeom>
              <a:noFill/>
              <a:ln>
                <a:noFill/>
              </a:ln>
            </p:spPr>
            <p:txBody>
              <a:bodyPr wrap="none" lIns="0" tIns="0" rIns="0" bIns="0" anchor="t" anchorCtr="0">
                <a:spAutoFit/>
              </a:bodyPr>
              <a:lstStyle/>
              <a:p>
                <a:pPr algn="ctr"/>
                <a:r>
                  <a:rPr lang="en-US" sz="820" b="1" dirty="0">
                    <a:solidFill>
                      <a:srgbClr val="6E1604"/>
                    </a:solidFill>
                    <a:latin typeface="+mn-lt"/>
                    <a:ea typeface="+mn-ea"/>
                    <a:cs typeface="+mn-cs"/>
                  </a:rPr>
                  <a:t>XX%​​​</a:t>
                </a:r>
              </a:p>
            </p:txBody>
          </p:sp>
          <p:sp>
            <p:nvSpPr>
              <p:cNvPr id="102" name="TextBox 102"/>
              <p:cNvSpPr txBox="1"/>
              <p:nvPr/>
            </p:nvSpPr>
            <p:spPr>
              <a:xfrm>
                <a:off x="7729538" y="2162889"/>
                <a:ext cx="716852"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数量：XX​​​</a:t>
                </a:r>
                <a:br/>
                <a:r>
                  <a:rPr lang="zh-CN" sz="790" dirty="0">
                    <a:solidFill>
                      <a:srgbClr val="473633"/>
                    </a:solidFill>
                    <a:latin typeface="+mn-lt"/>
                    <a:ea typeface="+mn-ea"/>
                    <a:cs typeface="+mn-cs"/>
                  </a:rPr>
                  <a:t>金额：XX 万​​​</a:t>
                </a:r>
              </a:p>
            </p:txBody>
          </p:sp>
          <p:sp>
            <p:nvSpPr>
              <p:cNvPr id="103" name="TextBox 103"/>
              <p:cNvSpPr txBox="1"/>
              <p:nvPr/>
            </p:nvSpPr>
            <p:spPr>
              <a:xfrm>
                <a:off x="7729538" y="2620089"/>
                <a:ext cx="871320"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占比：XX%​​​​​</a:t>
                </a:r>
              </a:p>
            </p:txBody>
          </p:sp>
        </p:grpSp>
        <p:grpSp>
          <p:nvGrpSpPr>
            <p:cNvPr id="113" name="age-card-3"/>
            <p:cNvGrpSpPr/>
            <p:nvPr/>
          </p:nvGrpSpPr>
          <p:grpSpPr>
            <a:xfrm>
              <a:off x="9048750" y="1123950"/>
              <a:ext cx="1333500" cy="1676400"/>
              <a:chOff x="9048750" y="1123950"/>
              <a:chExt cx="1333500" cy="1676400"/>
            </a:xfrm>
          </p:grpSpPr>
          <p:sp>
            <p:nvSpPr>
              <p:cNvPr id="105" name="Rectangle 105"/>
              <p:cNvSpPr/>
              <p:nvPr/>
            </p:nvSpPr>
            <p:spPr>
              <a:xfrm>
                <a:off x="9048750" y="1123950"/>
                <a:ext cx="1333500" cy="1676400"/>
              </a:xfrm>
              <a:prstGeom prst="roundRect">
                <a:avLst>
                  <a:gd name="adj" fmla="val 4286"/>
                </a:avLst>
              </a:prstGeom>
              <a:solidFill>
                <a:srgbClr val="F7FAFE"/>
              </a:solidFill>
              <a:ln w="9525">
                <a:solidFill>
                  <a:srgbClr val="DCE6F8"/>
                </a:solidFill>
              </a:ln>
            </p:spPr>
          </p:sp>
          <p:sp>
            <p:nvSpPr>
              <p:cNvPr id="106" name="Freeform 106"/>
              <p:cNvSpPr/>
              <p:nvPr/>
            </p:nvSpPr>
            <p:spPr>
              <a:xfrm>
                <a:off x="9048750" y="1123950"/>
                <a:ext cx="1333500" cy="228600"/>
              </a:xfrm>
              <a:custGeom>
                <a:avLst/>
                <a:gdLst/>
                <a:ahLst/>
                <a:cxnLst/>
                <a:rect l="l" t="t" r="r" b="b"/>
                <a:pathLst>
                  <a:path w="1333500" h="228600">
                    <a:moveTo>
                      <a:pt x="0" y="57150"/>
                    </a:moveTo>
                    <a:cubicBezTo>
                      <a:pt x="0" y="25587"/>
                      <a:pt x="25587" y="0"/>
                      <a:pt x="57150" y="0"/>
                    </a:cubicBezTo>
                    <a:lnTo>
                      <a:pt x="1276350" y="0"/>
                    </a:lnTo>
                    <a:cubicBezTo>
                      <a:pt x="1307913" y="0"/>
                      <a:pt x="1333500" y="25587"/>
                      <a:pt x="1333500" y="57150"/>
                    </a:cubicBezTo>
                    <a:lnTo>
                      <a:pt x="1333500" y="228600"/>
                    </a:lnTo>
                    <a:lnTo>
                      <a:pt x="0" y="228600"/>
                    </a:lnTo>
                    <a:close/>
                  </a:path>
                </a:pathLst>
              </a:custGeom>
              <a:solidFill>
                <a:srgbClr val="FDCCC2"/>
              </a:solidFill>
              <a:ln>
                <a:noFill/>
              </a:ln>
            </p:spPr>
          </p:sp>
          <p:sp>
            <p:nvSpPr>
              <p:cNvPr id="107" name="TextBox 107"/>
              <p:cNvSpPr txBox="1"/>
              <p:nvPr/>
            </p:nvSpPr>
            <p:spPr>
              <a:xfrm>
                <a:off x="9370284" y="1188720"/>
                <a:ext cx="690433" cy="176212"/>
              </a:xfrm>
              <a:prstGeom prst="rect">
                <a:avLst/>
              </a:prstGeom>
              <a:noFill/>
              <a:ln>
                <a:noFill/>
              </a:ln>
            </p:spPr>
            <p:txBody>
              <a:bodyPr wrap="none" lIns="0" tIns="0" rIns="0" bIns="0" anchor="t" anchorCtr="0">
                <a:spAutoFit/>
              </a:bodyPr>
              <a:lstStyle/>
              <a:p>
                <a:pPr algn="ctr"/>
                <a:r>
                  <a:rPr lang="zh-CN" sz="900" b="1" dirty="0">
                    <a:solidFill>
                      <a:srgbClr val="6E1604"/>
                    </a:solidFill>
                    <a:latin typeface="+mn-lt"/>
                    <a:ea typeface="+mn-ea"/>
                    <a:cs typeface="+mn-cs"/>
                  </a:rPr>
                  <a:t>31-60天​​​</a:t>
                </a:r>
              </a:p>
            </p:txBody>
          </p:sp>
          <p:sp>
            <p:nvSpPr>
              <p:cNvPr id="108" name="Freeform 108"/>
              <p:cNvSpPr/>
              <p:nvPr/>
            </p:nvSpPr>
            <p:spPr>
              <a:xfrm>
                <a:off x="9467850" y="1562100"/>
                <a:ext cx="495300" cy="495300"/>
              </a:xfrm>
              <a:prstGeom prst="donut">
                <a:avLst>
                  <a:gd name="adj" fmla="val 15385"/>
                </a:avLst>
              </a:prstGeom>
              <a:solidFill>
                <a:srgbClr val="DCE6F8"/>
              </a:solidFill>
              <a:ln>
                <a:noFill/>
              </a:ln>
            </p:spPr>
          </p:sp>
          <p:sp>
            <p:nvSpPr>
              <p:cNvPr id="109" name="Freeform 109"/>
              <p:cNvSpPr/>
              <p:nvPr/>
            </p:nvSpPr>
            <p:spPr>
              <a:xfrm>
                <a:off x="9467850" y="1562100"/>
                <a:ext cx="495300" cy="495300"/>
              </a:xfrm>
              <a:prstGeom prst="blockArc">
                <a:avLst>
                  <a:gd name="adj1" fmla="val 16200000"/>
                  <a:gd name="adj2" fmla="val 7128000"/>
                  <a:gd name="adj3" fmla="val 15385"/>
                </a:avLst>
              </a:prstGeom>
              <a:solidFill>
                <a:srgbClr val="D9705B"/>
              </a:solidFill>
              <a:ln>
                <a:noFill/>
              </a:ln>
            </p:spPr>
          </p:sp>
          <p:sp>
            <p:nvSpPr>
              <p:cNvPr id="110" name="TextBox 110"/>
              <p:cNvSpPr txBox="1"/>
              <p:nvPr/>
            </p:nvSpPr>
            <p:spPr>
              <a:xfrm>
                <a:off x="9496417" y="1758791"/>
                <a:ext cx="438165" cy="161925"/>
              </a:xfrm>
              <a:prstGeom prst="rect">
                <a:avLst/>
              </a:prstGeom>
              <a:noFill/>
              <a:ln>
                <a:noFill/>
              </a:ln>
            </p:spPr>
            <p:txBody>
              <a:bodyPr wrap="none" lIns="0" tIns="0" rIns="0" bIns="0" anchor="t" anchorCtr="0">
                <a:spAutoFit/>
              </a:bodyPr>
              <a:lstStyle/>
              <a:p>
                <a:pPr algn="ctr"/>
                <a:r>
                  <a:rPr lang="en-US" sz="820" b="1" dirty="0">
                    <a:solidFill>
                      <a:srgbClr val="6E1604"/>
                    </a:solidFill>
                    <a:latin typeface="+mn-lt"/>
                    <a:ea typeface="+mn-ea"/>
                    <a:cs typeface="+mn-cs"/>
                  </a:rPr>
                  <a:t>XX%​​​</a:t>
                </a:r>
              </a:p>
            </p:txBody>
          </p:sp>
          <p:sp>
            <p:nvSpPr>
              <p:cNvPr id="111" name="TextBox 111"/>
              <p:cNvSpPr txBox="1"/>
              <p:nvPr/>
            </p:nvSpPr>
            <p:spPr>
              <a:xfrm>
                <a:off x="9158288" y="2162889"/>
                <a:ext cx="716852"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数量：XX​​​</a:t>
                </a:r>
                <a:br/>
                <a:r>
                  <a:rPr lang="zh-CN" sz="790" dirty="0">
                    <a:solidFill>
                      <a:srgbClr val="473633"/>
                    </a:solidFill>
                    <a:latin typeface="+mn-lt"/>
                    <a:ea typeface="+mn-ea"/>
                    <a:cs typeface="+mn-cs"/>
                  </a:rPr>
                  <a:t>金额：XX 万​​​</a:t>
                </a:r>
              </a:p>
            </p:txBody>
          </p:sp>
          <p:sp>
            <p:nvSpPr>
              <p:cNvPr id="112" name="TextBox 112"/>
              <p:cNvSpPr txBox="1"/>
              <p:nvPr/>
            </p:nvSpPr>
            <p:spPr>
              <a:xfrm>
                <a:off x="9158288" y="2620089"/>
                <a:ext cx="871320"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占比：XX%​​​​​</a:t>
                </a:r>
              </a:p>
            </p:txBody>
          </p:sp>
        </p:grpSp>
        <p:grpSp>
          <p:nvGrpSpPr>
            <p:cNvPr id="122" name="age-card-4"/>
            <p:cNvGrpSpPr/>
            <p:nvPr/>
          </p:nvGrpSpPr>
          <p:grpSpPr>
            <a:xfrm>
              <a:off x="10477500" y="1123950"/>
              <a:ext cx="1333500" cy="1676400"/>
              <a:chOff x="10477500" y="1123950"/>
              <a:chExt cx="1333500" cy="1676400"/>
            </a:xfrm>
          </p:grpSpPr>
          <p:sp>
            <p:nvSpPr>
              <p:cNvPr id="114" name="Rectangle 114"/>
              <p:cNvSpPr/>
              <p:nvPr/>
            </p:nvSpPr>
            <p:spPr>
              <a:xfrm>
                <a:off x="10477500" y="1123950"/>
                <a:ext cx="1333500" cy="1676400"/>
              </a:xfrm>
              <a:prstGeom prst="roundRect">
                <a:avLst>
                  <a:gd name="adj" fmla="val 4286"/>
                </a:avLst>
              </a:prstGeom>
              <a:solidFill>
                <a:srgbClr val="F7FAFE"/>
              </a:solidFill>
              <a:ln w="9525">
                <a:solidFill>
                  <a:srgbClr val="DCE6F8"/>
                </a:solidFill>
              </a:ln>
            </p:spPr>
          </p:sp>
          <p:sp>
            <p:nvSpPr>
              <p:cNvPr id="115" name="Freeform 115"/>
              <p:cNvSpPr/>
              <p:nvPr/>
            </p:nvSpPr>
            <p:spPr>
              <a:xfrm>
                <a:off x="10477500" y="1123950"/>
                <a:ext cx="1333500" cy="228600"/>
              </a:xfrm>
              <a:custGeom>
                <a:avLst/>
                <a:gdLst/>
                <a:ahLst/>
                <a:cxnLst/>
                <a:rect l="l" t="t" r="r" b="b"/>
                <a:pathLst>
                  <a:path w="1333500" h="228600">
                    <a:moveTo>
                      <a:pt x="0" y="57150"/>
                    </a:moveTo>
                    <a:cubicBezTo>
                      <a:pt x="0" y="25587"/>
                      <a:pt x="25587" y="0"/>
                      <a:pt x="57150" y="0"/>
                    </a:cubicBezTo>
                    <a:lnTo>
                      <a:pt x="1276350" y="0"/>
                    </a:lnTo>
                    <a:cubicBezTo>
                      <a:pt x="1307913" y="0"/>
                      <a:pt x="1333500" y="25587"/>
                      <a:pt x="1333500" y="57150"/>
                    </a:cubicBezTo>
                    <a:lnTo>
                      <a:pt x="1333500" y="228600"/>
                    </a:lnTo>
                    <a:lnTo>
                      <a:pt x="0" y="228600"/>
                    </a:lnTo>
                    <a:close/>
                  </a:path>
                </a:pathLst>
              </a:custGeom>
              <a:solidFill>
                <a:srgbClr val="FDCCC2"/>
              </a:solidFill>
              <a:ln>
                <a:noFill/>
              </a:ln>
            </p:spPr>
          </p:sp>
          <p:sp>
            <p:nvSpPr>
              <p:cNvPr id="116" name="TextBox 116"/>
              <p:cNvSpPr txBox="1"/>
              <p:nvPr/>
            </p:nvSpPr>
            <p:spPr>
              <a:xfrm>
                <a:off x="10782829" y="1188720"/>
                <a:ext cx="722843" cy="176212"/>
              </a:xfrm>
              <a:prstGeom prst="rect">
                <a:avLst/>
              </a:prstGeom>
              <a:noFill/>
              <a:ln>
                <a:noFill/>
              </a:ln>
            </p:spPr>
            <p:txBody>
              <a:bodyPr wrap="none" lIns="0" tIns="0" rIns="0" bIns="0" anchor="t" anchorCtr="0">
                <a:spAutoFit/>
              </a:bodyPr>
              <a:lstStyle/>
              <a:p>
                <a:pPr algn="ctr"/>
                <a:r>
                  <a:rPr lang="zh-CN" sz="900" b="1" dirty="0">
                    <a:solidFill>
                      <a:srgbClr val="6E1604"/>
                    </a:solidFill>
                    <a:latin typeface="+mn-lt"/>
                    <a:ea typeface="+mn-ea"/>
                    <a:cs typeface="+mn-cs"/>
                  </a:rPr>
                  <a:t>60天以上​​​</a:t>
                </a:r>
              </a:p>
            </p:txBody>
          </p:sp>
          <p:sp>
            <p:nvSpPr>
              <p:cNvPr id="117" name="Freeform 117"/>
              <p:cNvSpPr/>
              <p:nvPr/>
            </p:nvSpPr>
            <p:spPr>
              <a:xfrm>
                <a:off x="10896600" y="1562100"/>
                <a:ext cx="495300" cy="495300"/>
              </a:xfrm>
              <a:prstGeom prst="donut">
                <a:avLst>
                  <a:gd name="adj" fmla="val 15385"/>
                </a:avLst>
              </a:prstGeom>
              <a:solidFill>
                <a:srgbClr val="DCE6F8"/>
              </a:solidFill>
              <a:ln>
                <a:noFill/>
              </a:ln>
            </p:spPr>
          </p:sp>
          <p:sp>
            <p:nvSpPr>
              <p:cNvPr id="118" name="Freeform 118"/>
              <p:cNvSpPr/>
              <p:nvPr/>
            </p:nvSpPr>
            <p:spPr>
              <a:xfrm>
                <a:off x="10896600" y="1562100"/>
                <a:ext cx="495300" cy="495300"/>
              </a:xfrm>
              <a:prstGeom prst="blockArc">
                <a:avLst>
                  <a:gd name="adj1" fmla="val 16200000"/>
                  <a:gd name="adj2" fmla="val 10152000"/>
                  <a:gd name="adj3" fmla="val 15385"/>
                </a:avLst>
              </a:prstGeom>
              <a:solidFill>
                <a:srgbClr val="F3AC9D"/>
              </a:solidFill>
              <a:ln>
                <a:noFill/>
              </a:ln>
            </p:spPr>
          </p:sp>
          <p:sp>
            <p:nvSpPr>
              <p:cNvPr id="119" name="TextBox 119"/>
              <p:cNvSpPr txBox="1"/>
              <p:nvPr/>
            </p:nvSpPr>
            <p:spPr>
              <a:xfrm>
                <a:off x="10925167" y="1758791"/>
                <a:ext cx="438165" cy="161925"/>
              </a:xfrm>
              <a:prstGeom prst="rect">
                <a:avLst/>
              </a:prstGeom>
              <a:noFill/>
              <a:ln>
                <a:noFill/>
              </a:ln>
            </p:spPr>
            <p:txBody>
              <a:bodyPr wrap="none" lIns="0" tIns="0" rIns="0" bIns="0" anchor="t" anchorCtr="0">
                <a:spAutoFit/>
              </a:bodyPr>
              <a:lstStyle/>
              <a:p>
                <a:pPr algn="ctr"/>
                <a:r>
                  <a:rPr lang="en-US" sz="820" b="1" dirty="0">
                    <a:solidFill>
                      <a:srgbClr val="6E1604"/>
                    </a:solidFill>
                    <a:latin typeface="+mn-lt"/>
                    <a:ea typeface="+mn-ea"/>
                    <a:cs typeface="+mn-cs"/>
                  </a:rPr>
                  <a:t>XX%​​​</a:t>
                </a:r>
              </a:p>
            </p:txBody>
          </p:sp>
          <p:sp>
            <p:nvSpPr>
              <p:cNvPr id="120" name="TextBox 120"/>
              <p:cNvSpPr txBox="1"/>
              <p:nvPr/>
            </p:nvSpPr>
            <p:spPr>
              <a:xfrm>
                <a:off x="10587038" y="2162889"/>
                <a:ext cx="716852"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数量：XX​​​</a:t>
                </a:r>
                <a:br/>
                <a:r>
                  <a:rPr lang="zh-CN" sz="790" dirty="0">
                    <a:solidFill>
                      <a:srgbClr val="473633"/>
                    </a:solidFill>
                    <a:latin typeface="+mn-lt"/>
                    <a:ea typeface="+mn-ea"/>
                    <a:cs typeface="+mn-cs"/>
                  </a:rPr>
                  <a:t>金额：XX 万​​​</a:t>
                </a:r>
              </a:p>
            </p:txBody>
          </p:sp>
          <p:sp>
            <p:nvSpPr>
              <p:cNvPr id="121" name="TextBox 121"/>
              <p:cNvSpPr txBox="1"/>
              <p:nvPr/>
            </p:nvSpPr>
            <p:spPr>
              <a:xfrm>
                <a:off x="10587038" y="2620089"/>
                <a:ext cx="871320"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占比：XX%​​​​​</a:t>
                </a:r>
              </a:p>
            </p:txBody>
          </p:sp>
        </p:grpSp>
        <p:sp>
          <p:nvSpPr>
            <p:cNvPr id="123" name="Rectangle 123"/>
            <p:cNvSpPr/>
            <p:nvPr/>
          </p:nvSpPr>
          <p:spPr>
            <a:xfrm>
              <a:off x="6915150" y="2905125"/>
              <a:ext cx="133350" cy="85725"/>
            </a:xfrm>
            <a:prstGeom prst="rect">
              <a:avLst/>
            </a:prstGeom>
            <a:solidFill>
              <a:srgbClr val="B92102"/>
            </a:solidFill>
            <a:ln>
              <a:noFill/>
            </a:ln>
          </p:spPr>
        </p:sp>
        <p:sp>
          <p:nvSpPr>
            <p:cNvPr id="124" name="TextBox 124"/>
            <p:cNvSpPr txBox="1"/>
            <p:nvPr/>
          </p:nvSpPr>
          <p:spPr>
            <a:xfrm>
              <a:off x="7100888" y="2896314"/>
              <a:ext cx="1205960"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高赢率（≥60%）​​​​​​​</a:t>
              </a:r>
            </a:p>
          </p:txBody>
        </p:sp>
        <p:sp>
          <p:nvSpPr>
            <p:cNvPr id="125" name="Rectangle 125"/>
            <p:cNvSpPr/>
            <p:nvPr/>
          </p:nvSpPr>
          <p:spPr>
            <a:xfrm>
              <a:off x="8248650" y="2905125"/>
              <a:ext cx="133350" cy="85725"/>
            </a:xfrm>
            <a:prstGeom prst="rect">
              <a:avLst/>
            </a:prstGeom>
            <a:solidFill>
              <a:srgbClr val="D9705B"/>
            </a:solidFill>
            <a:ln>
              <a:noFill/>
            </a:ln>
          </p:spPr>
        </p:sp>
        <p:sp>
          <p:nvSpPr>
            <p:cNvPr id="126" name="TextBox 126"/>
            <p:cNvSpPr txBox="1"/>
            <p:nvPr/>
          </p:nvSpPr>
          <p:spPr>
            <a:xfrm>
              <a:off x="8434388" y="2896314"/>
              <a:ext cx="1402707"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中赢率（30%-60%）​​​​​​​</a:t>
              </a:r>
            </a:p>
          </p:txBody>
        </p:sp>
        <p:sp>
          <p:nvSpPr>
            <p:cNvPr id="127" name="Rectangle 127"/>
            <p:cNvSpPr/>
            <p:nvPr/>
          </p:nvSpPr>
          <p:spPr>
            <a:xfrm>
              <a:off x="9867900" y="2905125"/>
              <a:ext cx="133350" cy="85725"/>
            </a:xfrm>
            <a:prstGeom prst="rect">
              <a:avLst/>
            </a:prstGeom>
            <a:solidFill>
              <a:srgbClr val="FDCCC2"/>
            </a:solidFill>
            <a:ln>
              <a:noFill/>
            </a:ln>
          </p:spPr>
        </p:sp>
        <p:sp>
          <p:nvSpPr>
            <p:cNvPr id="128" name="TextBox 128"/>
            <p:cNvSpPr txBox="1"/>
            <p:nvPr/>
          </p:nvSpPr>
          <p:spPr>
            <a:xfrm>
              <a:off x="10053638" y="2896314"/>
              <a:ext cx="108897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低赢率（&lt;30%）​​​​​</a:t>
              </a:r>
            </a:p>
          </p:txBody>
        </p:sp>
      </p:grpSp>
      <p:grpSp>
        <p:nvGrpSpPr>
          <p:cNvPr id="175" name="blocker-panel"/>
          <p:cNvGrpSpPr/>
          <p:nvPr/>
        </p:nvGrpSpPr>
        <p:grpSpPr>
          <a:xfrm>
            <a:off x="6096000" y="3200400"/>
            <a:ext cx="5829300" cy="1543050"/>
            <a:chOff x="6096000" y="3200400"/>
            <a:chExt cx="5829300" cy="1543050"/>
          </a:xfrm>
        </p:grpSpPr>
        <p:sp>
          <p:nvSpPr>
            <p:cNvPr id="130" name="Rectangle 130"/>
            <p:cNvSpPr/>
            <p:nvPr/>
          </p:nvSpPr>
          <p:spPr>
            <a:xfrm>
              <a:off x="6096000" y="3200400"/>
              <a:ext cx="5829300" cy="1543050"/>
            </a:xfrm>
            <a:prstGeom prst="roundRect">
              <a:avLst>
                <a:gd name="adj" fmla="val 4938"/>
              </a:avLst>
            </a:prstGeom>
            <a:solidFill>
              <a:srgbClr val="FFFFFF"/>
            </a:solidFill>
            <a:ln w="9525">
              <a:solidFill>
                <a:srgbClr val="F7D1C9"/>
              </a:solidFill>
            </a:ln>
          </p:spPr>
        </p:sp>
        <p:sp>
          <p:nvSpPr>
            <p:cNvPr id="131" name="Line 131"/>
            <p:cNvSpPr/>
            <p:nvPr/>
          </p:nvSpPr>
          <p:spPr>
            <a:xfrm>
              <a:off x="6858000" y="3371850"/>
              <a:ext cx="762000" cy="9525"/>
            </a:xfrm>
            <a:custGeom>
              <a:avLst/>
              <a:gdLst/>
              <a:ahLst/>
              <a:cxnLst/>
              <a:rect l="l" t="t" r="r" b="b"/>
              <a:pathLst>
                <a:path w="762000" h="9525">
                  <a:moveTo>
                    <a:pt x="0" y="0"/>
                  </a:moveTo>
                  <a:lnTo>
                    <a:pt x="762000" y="0"/>
                  </a:lnTo>
                </a:path>
              </a:pathLst>
            </a:custGeom>
            <a:noFill/>
            <a:ln w="9525">
              <a:solidFill>
                <a:srgbClr val="E3907F"/>
              </a:solidFill>
            </a:ln>
          </p:spPr>
        </p:sp>
        <p:sp>
          <p:nvSpPr>
            <p:cNvPr id="132" name="TextBox 132"/>
            <p:cNvSpPr txBox="1"/>
            <p:nvPr/>
          </p:nvSpPr>
          <p:spPr>
            <a:xfrm>
              <a:off x="8187070" y="3306128"/>
              <a:ext cx="1647159"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关键卡点分析与行动建议​</a:t>
              </a:r>
            </a:p>
          </p:txBody>
        </p:sp>
        <p:sp>
          <p:nvSpPr>
            <p:cNvPr id="133" name="Line 133"/>
            <p:cNvSpPr/>
            <p:nvPr/>
          </p:nvSpPr>
          <p:spPr>
            <a:xfrm>
              <a:off x="10401300" y="3371850"/>
              <a:ext cx="762000" cy="9525"/>
            </a:xfrm>
            <a:custGeom>
              <a:avLst/>
              <a:gdLst/>
              <a:ahLst/>
              <a:cxnLst/>
              <a:rect l="l" t="t" r="r" b="b"/>
              <a:pathLst>
                <a:path w="762000" h="9525">
                  <a:moveTo>
                    <a:pt x="0" y="0"/>
                  </a:moveTo>
                  <a:lnTo>
                    <a:pt x="762000" y="0"/>
                  </a:lnTo>
                </a:path>
              </a:pathLst>
            </a:custGeom>
            <a:noFill/>
            <a:ln w="9525">
              <a:solidFill>
                <a:srgbClr val="E3907F"/>
              </a:solidFill>
            </a:ln>
          </p:spPr>
        </p:sp>
        <p:grpSp>
          <p:nvGrpSpPr>
            <p:cNvPr id="146" name="blocker-1"/>
            <p:cNvGrpSpPr/>
            <p:nvPr/>
          </p:nvGrpSpPr>
          <p:grpSpPr>
            <a:xfrm>
              <a:off x="6191250" y="3524250"/>
              <a:ext cx="1809750" cy="1162050"/>
              <a:chOff x="6191250" y="3524250"/>
              <a:chExt cx="1809750" cy="1162050"/>
            </a:xfrm>
          </p:grpSpPr>
          <p:sp>
            <p:nvSpPr>
              <p:cNvPr id="134" name="Rectangle 134"/>
              <p:cNvSpPr/>
              <p:nvPr/>
            </p:nvSpPr>
            <p:spPr>
              <a:xfrm>
                <a:off x="6191250" y="3524250"/>
                <a:ext cx="1809750" cy="1162050"/>
              </a:xfrm>
              <a:prstGeom prst="roundRect">
                <a:avLst>
                  <a:gd name="adj" fmla="val 4918"/>
                </a:avLst>
              </a:prstGeom>
              <a:solidFill>
                <a:srgbClr val="F7FAFE"/>
              </a:solidFill>
              <a:ln w="9525">
                <a:solidFill>
                  <a:srgbClr val="DCE6F8"/>
                </a:solidFill>
              </a:ln>
            </p:spPr>
          </p:sp>
          <p:sp>
            <p:nvSpPr>
              <p:cNvPr id="135" name="Ellipse 135"/>
              <p:cNvSpPr/>
              <p:nvPr/>
            </p:nvSpPr>
            <p:spPr>
              <a:xfrm>
                <a:off x="6276975" y="3600450"/>
                <a:ext cx="247650" cy="247650"/>
              </a:xfrm>
              <a:prstGeom prst="ellipse">
                <a:avLst/>
              </a:prstGeom>
              <a:solidFill>
                <a:srgbClr val="B92102"/>
              </a:solidFill>
              <a:ln>
                <a:noFill/>
              </a:ln>
            </p:spPr>
          </p:sp>
          <p:grpSp>
            <p:nvGrpSpPr>
              <p:cNvPr id="138" name="Group 138"/>
              <p:cNvGrpSpPr/>
              <p:nvPr/>
            </p:nvGrpSpPr>
            <p:grpSpPr>
              <a:xfrm>
                <a:off x="6343650" y="3667125"/>
                <a:ext cx="114300" cy="114300"/>
                <a:chOff x="6343650" y="3667125"/>
                <a:chExt cx="114300" cy="114300"/>
              </a:xfrm>
            </p:grpSpPr>
            <p:sp>
              <p:nvSpPr>
                <p:cNvPr id="136" name="Freeform 136"/>
                <p:cNvSpPr/>
                <p:nvPr/>
              </p:nvSpPr>
              <p:spPr>
                <a:xfrm>
                  <a:off x="6343650" y="3667125"/>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FFFFFF"/>
                  </a:solidFill>
                </a:ln>
              </p:spPr>
            </p:sp>
            <p:sp>
              <p:nvSpPr>
                <p:cNvPr id="137" name="Freeform 137"/>
                <p:cNvSpPr/>
                <p:nvPr/>
              </p:nvSpPr>
              <p:spPr>
                <a:xfrm>
                  <a:off x="6419850" y="3743325"/>
                  <a:ext cx="38100" cy="38100"/>
                </a:xfrm>
                <a:custGeom>
                  <a:avLst/>
                  <a:gdLst/>
                  <a:ahLst/>
                  <a:cxnLst/>
                  <a:rect l="l" t="t" r="r" b="b"/>
                  <a:pathLst>
                    <a:path w="38100" h="38100">
                      <a:moveTo>
                        <a:pt x="38100" y="38100"/>
                      </a:moveTo>
                      <a:lnTo>
                        <a:pt x="0" y="0"/>
                      </a:lnTo>
                    </a:path>
                  </a:pathLst>
                </a:custGeom>
                <a:noFill/>
                <a:ln w="12700">
                  <a:solidFill>
                    <a:srgbClr val="FFFFFF"/>
                  </a:solidFill>
                </a:ln>
              </p:spPr>
            </p:sp>
          </p:grpSp>
          <p:sp>
            <p:nvSpPr>
              <p:cNvPr id="139" name="TextBox 139"/>
              <p:cNvSpPr txBox="1"/>
              <p:nvPr/>
            </p:nvSpPr>
            <p:spPr>
              <a:xfrm>
                <a:off x="6586347" y="3666649"/>
                <a:ext cx="669544"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需求未确认</a:t>
                </a:r>
              </a:p>
            </p:txBody>
          </p:sp>
          <p:sp>
            <p:nvSpPr>
              <p:cNvPr id="140" name="TextBox 140"/>
              <p:cNvSpPr txBox="1"/>
              <p:nvPr/>
            </p:nvSpPr>
            <p:spPr>
              <a:xfrm>
                <a:off x="6281738" y="3900488"/>
                <a:ext cx="1300162" cy="280988"/>
              </a:xfrm>
              <a:prstGeom prst="rect">
                <a:avLst/>
              </a:prstGeom>
              <a:noFill/>
              <a:ln>
                <a:noFill/>
              </a:ln>
            </p:spPr>
            <p:txBody>
              <a:bodyPr wrap="none" lIns="0" tIns="0" rIns="0" bIns="0" anchor="t" anchorCtr="0">
                <a:spAutoFit/>
              </a:bodyPr>
              <a:lstStyle/>
              <a:p>
                <a:pPr algn="l">
                  <a:lnSpc>
                    <a:spcPts val="1050"/>
                  </a:lnSpc>
                </a:pPr>
                <a:r>
                  <a:rPr lang="zh-CN" sz="750" b="1" dirty="0">
                    <a:solidFill>
                      <a:srgbClr val="6E1604"/>
                    </a:solidFill>
                    <a:latin typeface="+mn-lt"/>
                    <a:ea typeface="+mn-ea"/>
                    <a:cs typeface="+mn-cs"/>
                  </a:rPr>
                  <a:t>现状：</a:t>
                </a:r>
                <a:r>
                  <a:rPr lang="zh-CN" sz="750" dirty="0">
                    <a:solidFill>
                      <a:srgbClr val="473633"/>
                    </a:solidFill>
                    <a:latin typeface="+mn-lt"/>
                    <a:ea typeface="+mn-ea"/>
                    <a:cs typeface="+mn-cs"/>
                  </a:rPr>
                  <a:t>客户需求不清晰或频繁​</a:t>
                </a:r>
                <a:br/>
                <a:r>
                  <a:rPr lang="zh-CN" sz="750" dirty="0">
                    <a:solidFill>
                      <a:srgbClr val="473633"/>
                    </a:solidFill>
                    <a:latin typeface="+mn-lt"/>
                    <a:ea typeface="+mn-ea"/>
                    <a:cs typeface="+mn-cs"/>
                  </a:rPr>
                  <a:t>变更，影响方案聚焦与推进​</a:t>
                </a:r>
              </a:p>
            </p:txBody>
          </p:sp>
          <p:grpSp>
            <p:nvGrpSpPr>
              <p:cNvPr id="144" name="Group 144"/>
              <p:cNvGrpSpPr/>
              <p:nvPr/>
            </p:nvGrpSpPr>
            <p:grpSpPr>
              <a:xfrm>
                <a:off x="6305550" y="4324350"/>
                <a:ext cx="114300" cy="114300"/>
                <a:chOff x="6305550" y="4324350"/>
                <a:chExt cx="114300" cy="114300"/>
              </a:xfrm>
            </p:grpSpPr>
            <p:sp>
              <p:nvSpPr>
                <p:cNvPr id="141" name="Freeform 141"/>
                <p:cNvSpPr/>
                <p:nvPr/>
              </p:nvSpPr>
              <p:spPr>
                <a:xfrm>
                  <a:off x="6305550" y="432435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D44B2F"/>
                  </a:solidFill>
                </a:ln>
              </p:spPr>
            </p:sp>
            <p:sp>
              <p:nvSpPr>
                <p:cNvPr id="142" name="Freeform 142"/>
                <p:cNvSpPr/>
                <p:nvPr/>
              </p:nvSpPr>
              <p:spPr>
                <a:xfrm>
                  <a:off x="6328258" y="434975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D44B2F"/>
                  </a:solidFill>
                </a:ln>
              </p:spPr>
            </p:sp>
            <p:sp>
              <p:nvSpPr>
                <p:cNvPr id="143" name="Freeform 143"/>
                <p:cNvSpPr/>
                <p:nvPr/>
              </p:nvSpPr>
              <p:spPr>
                <a:xfrm>
                  <a:off x="6348095" y="4413250"/>
                  <a:ext cx="29210" cy="9525"/>
                </a:xfrm>
                <a:custGeom>
                  <a:avLst/>
                  <a:gdLst/>
                  <a:ahLst/>
                  <a:cxnLst/>
                  <a:rect l="l" t="t" r="r" b="b"/>
                  <a:pathLst>
                    <a:path w="29210" h="9525">
                      <a:moveTo>
                        <a:pt x="0" y="0"/>
                      </a:moveTo>
                      <a:lnTo>
                        <a:pt x="29210" y="0"/>
                      </a:lnTo>
                    </a:path>
                  </a:pathLst>
                </a:custGeom>
                <a:noFill/>
                <a:ln w="12700">
                  <a:solidFill>
                    <a:srgbClr val="D44B2F"/>
                  </a:solidFill>
                </a:ln>
              </p:spPr>
            </p:sp>
          </p:grpSp>
          <p:sp>
            <p:nvSpPr>
              <p:cNvPr id="145" name="TextBox 145"/>
              <p:cNvSpPr txBox="1"/>
              <p:nvPr/>
            </p:nvSpPr>
            <p:spPr>
              <a:xfrm>
                <a:off x="6491288" y="4300538"/>
                <a:ext cx="1300162" cy="280988"/>
              </a:xfrm>
              <a:prstGeom prst="rect">
                <a:avLst/>
              </a:prstGeom>
              <a:noFill/>
              <a:ln>
                <a:noFill/>
              </a:ln>
            </p:spPr>
            <p:txBody>
              <a:bodyPr wrap="none" lIns="0" tIns="0" rIns="0" bIns="0" anchor="t" anchorCtr="0">
                <a:spAutoFit/>
              </a:bodyPr>
              <a:lstStyle/>
              <a:p>
                <a:pPr algn="l">
                  <a:lnSpc>
                    <a:spcPts val="1050"/>
                  </a:lnSpc>
                </a:pPr>
                <a:r>
                  <a:rPr lang="zh-CN" sz="750" b="1" dirty="0">
                    <a:solidFill>
                      <a:srgbClr val="6E1604"/>
                    </a:solidFill>
                    <a:latin typeface="+mn-lt"/>
                    <a:ea typeface="+mn-ea"/>
                    <a:cs typeface="+mn-cs"/>
                  </a:rPr>
                  <a:t>行动建议：</a:t>
                </a:r>
                <a:r>
                  <a:rPr lang="zh-CN" sz="750" dirty="0">
                    <a:solidFill>
                      <a:srgbClr val="473633"/>
                    </a:solidFill>
                    <a:latin typeface="+mn-lt"/>
                    <a:ea typeface="+mn-ea"/>
                    <a:cs typeface="+mn-cs"/>
                  </a:rPr>
                  <a:t>组织需求澄清会，​</a:t>
                </a:r>
                <a:br/>
                <a:r>
                  <a:rPr lang="zh-CN" sz="750" dirty="0">
                    <a:solidFill>
                      <a:srgbClr val="473633"/>
                    </a:solidFill>
                    <a:latin typeface="+mn-lt"/>
                    <a:ea typeface="+mn-ea"/>
                    <a:cs typeface="+mn-cs"/>
                  </a:rPr>
                  <a:t>输出需求清单与优先级​</a:t>
                </a:r>
              </a:p>
            </p:txBody>
          </p:sp>
        </p:grpSp>
        <p:grpSp>
          <p:nvGrpSpPr>
            <p:cNvPr id="163" name="blocker-2"/>
            <p:cNvGrpSpPr/>
            <p:nvPr/>
          </p:nvGrpSpPr>
          <p:grpSpPr>
            <a:xfrm>
              <a:off x="8124825" y="3524250"/>
              <a:ext cx="1809750" cy="1162050"/>
              <a:chOff x="8124825" y="3524250"/>
              <a:chExt cx="1809750" cy="1162050"/>
            </a:xfrm>
          </p:grpSpPr>
          <p:sp>
            <p:nvSpPr>
              <p:cNvPr id="147" name="Rectangle 147"/>
              <p:cNvSpPr/>
              <p:nvPr/>
            </p:nvSpPr>
            <p:spPr>
              <a:xfrm>
                <a:off x="8124825" y="3524250"/>
                <a:ext cx="1809750" cy="1162050"/>
              </a:xfrm>
              <a:prstGeom prst="roundRect">
                <a:avLst>
                  <a:gd name="adj" fmla="val 4918"/>
                </a:avLst>
              </a:prstGeom>
              <a:solidFill>
                <a:srgbClr val="F7FAFE"/>
              </a:solidFill>
              <a:ln w="9525">
                <a:solidFill>
                  <a:srgbClr val="DCE6F8"/>
                </a:solidFill>
              </a:ln>
            </p:spPr>
          </p:sp>
          <p:sp>
            <p:nvSpPr>
              <p:cNvPr id="148" name="Ellipse 148"/>
              <p:cNvSpPr/>
              <p:nvPr/>
            </p:nvSpPr>
            <p:spPr>
              <a:xfrm>
                <a:off x="8210550" y="3600450"/>
                <a:ext cx="247650" cy="247650"/>
              </a:xfrm>
              <a:prstGeom prst="ellipse">
                <a:avLst/>
              </a:prstGeom>
              <a:solidFill>
                <a:srgbClr val="B92102"/>
              </a:solidFill>
              <a:ln>
                <a:noFill/>
              </a:ln>
            </p:spPr>
          </p:sp>
          <p:grpSp>
            <p:nvGrpSpPr>
              <p:cNvPr id="153" name="Group 153"/>
              <p:cNvGrpSpPr/>
              <p:nvPr/>
            </p:nvGrpSpPr>
            <p:grpSpPr>
              <a:xfrm>
                <a:off x="8277225" y="3667125"/>
                <a:ext cx="114300" cy="114301"/>
                <a:chOff x="8277225" y="3667125"/>
                <a:chExt cx="114300" cy="114301"/>
              </a:xfrm>
            </p:grpSpPr>
            <p:sp>
              <p:nvSpPr>
                <p:cNvPr id="149" name="Freeform 149"/>
                <p:cNvSpPr/>
                <p:nvPr/>
              </p:nvSpPr>
              <p:spPr>
                <a:xfrm>
                  <a:off x="8289925" y="36671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50" name="Freeform 150"/>
                <p:cNvSpPr/>
                <p:nvPr/>
              </p:nvSpPr>
              <p:spPr>
                <a:xfrm>
                  <a:off x="8277225" y="374332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151" name="Freeform 151"/>
                <p:cNvSpPr/>
                <p:nvPr/>
              </p:nvSpPr>
              <p:spPr>
                <a:xfrm>
                  <a:off x="8359775" y="3667951"/>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152" name="Freeform 152"/>
                <p:cNvSpPr/>
                <p:nvPr/>
              </p:nvSpPr>
              <p:spPr>
                <a:xfrm>
                  <a:off x="8372475" y="3744278"/>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154" name="TextBox 154"/>
              <p:cNvSpPr txBox="1"/>
              <p:nvPr/>
            </p:nvSpPr>
            <p:spPr>
              <a:xfrm>
                <a:off x="8519922" y="3666649"/>
                <a:ext cx="801472"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关键人未覆盖</a:t>
                </a:r>
              </a:p>
            </p:txBody>
          </p:sp>
          <p:sp>
            <p:nvSpPr>
              <p:cNvPr id="155" name="TextBox 155"/>
              <p:cNvSpPr txBox="1"/>
              <p:nvPr/>
            </p:nvSpPr>
            <p:spPr>
              <a:xfrm>
                <a:off x="8215312" y="3900488"/>
                <a:ext cx="1204912" cy="280988"/>
              </a:xfrm>
              <a:prstGeom prst="rect">
                <a:avLst/>
              </a:prstGeom>
              <a:noFill/>
              <a:ln>
                <a:noFill/>
              </a:ln>
            </p:spPr>
            <p:txBody>
              <a:bodyPr wrap="none" lIns="0" tIns="0" rIns="0" bIns="0" anchor="t" anchorCtr="0">
                <a:spAutoFit/>
              </a:bodyPr>
              <a:lstStyle/>
              <a:p>
                <a:pPr algn="l">
                  <a:lnSpc>
                    <a:spcPts val="1050"/>
                  </a:lnSpc>
                </a:pPr>
                <a:r>
                  <a:rPr lang="zh-CN" sz="750" b="1" dirty="0">
                    <a:solidFill>
                      <a:srgbClr val="6E1604"/>
                    </a:solidFill>
                    <a:latin typeface="+mn-lt"/>
                    <a:ea typeface="+mn-ea"/>
                    <a:cs typeface="+mn-cs"/>
                  </a:rPr>
                  <a:t>现状：</a:t>
                </a:r>
                <a:r>
                  <a:rPr lang="zh-CN" sz="750" dirty="0">
                    <a:solidFill>
                      <a:srgbClr val="473633"/>
                    </a:solidFill>
                    <a:latin typeface="+mn-lt"/>
                    <a:ea typeface="+mn-ea"/>
                    <a:cs typeface="+mn-cs"/>
                  </a:rPr>
                  <a:t>决策链关键人未充分​</a:t>
                </a:r>
                <a:br/>
                <a:r>
                  <a:rPr lang="zh-CN" sz="750" dirty="0">
                    <a:solidFill>
                      <a:srgbClr val="473633"/>
                    </a:solidFill>
                    <a:latin typeface="+mn-lt"/>
                    <a:ea typeface="+mn-ea"/>
                    <a:cs typeface="+mn-cs"/>
                  </a:rPr>
                  <a:t>触达，影响决策效率</a:t>
                </a:r>
              </a:p>
            </p:txBody>
          </p:sp>
          <p:grpSp>
            <p:nvGrpSpPr>
              <p:cNvPr id="161" name="Group 161"/>
              <p:cNvGrpSpPr/>
              <p:nvPr/>
            </p:nvGrpSpPr>
            <p:grpSpPr>
              <a:xfrm>
                <a:off x="8239125" y="4324350"/>
                <a:ext cx="114300" cy="114300"/>
                <a:chOff x="8239125" y="4324350"/>
                <a:chExt cx="114300" cy="114300"/>
              </a:xfrm>
            </p:grpSpPr>
            <p:sp>
              <p:nvSpPr>
                <p:cNvPr id="156" name="Freeform 156"/>
                <p:cNvSpPr/>
                <p:nvPr/>
              </p:nvSpPr>
              <p:spPr>
                <a:xfrm>
                  <a:off x="8239125" y="440055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D44B2F"/>
                  </a:solidFill>
                </a:ln>
              </p:spPr>
            </p:sp>
            <p:sp>
              <p:nvSpPr>
                <p:cNvPr id="157" name="Freeform 157"/>
                <p:cNvSpPr/>
                <p:nvPr/>
              </p:nvSpPr>
              <p:spPr>
                <a:xfrm>
                  <a:off x="8315325" y="440055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D44B2F"/>
                  </a:solidFill>
                </a:ln>
              </p:spPr>
            </p:sp>
            <p:sp>
              <p:nvSpPr>
                <p:cNvPr id="158" name="Freeform 158"/>
                <p:cNvSpPr/>
                <p:nvPr/>
              </p:nvSpPr>
              <p:spPr>
                <a:xfrm>
                  <a:off x="8277225" y="432435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D44B2F"/>
                  </a:solidFill>
                </a:ln>
              </p:spPr>
            </p:sp>
            <p:sp>
              <p:nvSpPr>
                <p:cNvPr id="159" name="Freeform 159"/>
                <p:cNvSpPr/>
                <p:nvPr/>
              </p:nvSpPr>
              <p:spPr>
                <a:xfrm>
                  <a:off x="8258175" y="4381500"/>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D44B2F"/>
                  </a:solidFill>
                </a:ln>
              </p:spPr>
            </p:sp>
            <p:sp>
              <p:nvSpPr>
                <p:cNvPr id="160" name="Freeform 160"/>
                <p:cNvSpPr/>
                <p:nvPr/>
              </p:nvSpPr>
              <p:spPr>
                <a:xfrm>
                  <a:off x="8296275" y="4362450"/>
                  <a:ext cx="9525" cy="19050"/>
                </a:xfrm>
                <a:custGeom>
                  <a:avLst/>
                  <a:gdLst/>
                  <a:ahLst/>
                  <a:cxnLst/>
                  <a:rect l="l" t="t" r="r" b="b"/>
                  <a:pathLst>
                    <a:path w="9525" h="19050">
                      <a:moveTo>
                        <a:pt x="0" y="0"/>
                      </a:moveTo>
                      <a:lnTo>
                        <a:pt x="0" y="19050"/>
                      </a:lnTo>
                    </a:path>
                  </a:pathLst>
                </a:custGeom>
                <a:noFill/>
                <a:ln w="12700">
                  <a:solidFill>
                    <a:srgbClr val="D44B2F"/>
                  </a:solidFill>
                </a:ln>
              </p:spPr>
            </p:sp>
          </p:grpSp>
          <p:sp>
            <p:nvSpPr>
              <p:cNvPr id="162" name="TextBox 162"/>
              <p:cNvSpPr txBox="1"/>
              <p:nvPr/>
            </p:nvSpPr>
            <p:spPr>
              <a:xfrm>
                <a:off x="8424862" y="4300538"/>
                <a:ext cx="1300162" cy="280988"/>
              </a:xfrm>
              <a:prstGeom prst="rect">
                <a:avLst/>
              </a:prstGeom>
              <a:noFill/>
              <a:ln>
                <a:noFill/>
              </a:ln>
            </p:spPr>
            <p:txBody>
              <a:bodyPr wrap="none" lIns="0" tIns="0" rIns="0" bIns="0" anchor="t" anchorCtr="0">
                <a:spAutoFit/>
              </a:bodyPr>
              <a:lstStyle/>
              <a:p>
                <a:pPr algn="l">
                  <a:lnSpc>
                    <a:spcPts val="1050"/>
                  </a:lnSpc>
                </a:pPr>
                <a:r>
                  <a:rPr lang="zh-CN" sz="750" b="1" dirty="0">
                    <a:solidFill>
                      <a:srgbClr val="6E1604"/>
                    </a:solidFill>
                    <a:latin typeface="+mn-lt"/>
                    <a:ea typeface="+mn-ea"/>
                    <a:cs typeface="+mn-cs"/>
                  </a:rPr>
                  <a:t>行动建议：</a:t>
                </a:r>
                <a:r>
                  <a:rPr lang="zh-CN" sz="750" dirty="0">
                    <a:solidFill>
                      <a:srgbClr val="473633"/>
                    </a:solidFill>
                    <a:latin typeface="+mn-lt"/>
                    <a:ea typeface="+mn-ea"/>
                    <a:cs typeface="+mn-cs"/>
                  </a:rPr>
                  <a:t>绘制决策链图谱，​</a:t>
                </a:r>
                <a:br/>
                <a:r>
                  <a:rPr lang="zh-CN" sz="750" dirty="0">
                    <a:solidFill>
                      <a:srgbClr val="473633"/>
                    </a:solidFill>
                    <a:latin typeface="+mn-lt"/>
                    <a:ea typeface="+mn-ea"/>
                    <a:cs typeface="+mn-cs"/>
                  </a:rPr>
                  <a:t>补齐关键人并持续触达​</a:t>
                </a:r>
              </a:p>
            </p:txBody>
          </p:sp>
        </p:grpSp>
        <p:grpSp>
          <p:nvGrpSpPr>
            <p:cNvPr id="174" name="blocker-3"/>
            <p:cNvGrpSpPr/>
            <p:nvPr/>
          </p:nvGrpSpPr>
          <p:grpSpPr>
            <a:xfrm>
              <a:off x="10058400" y="3524250"/>
              <a:ext cx="1771650" cy="1162050"/>
              <a:chOff x="10058400" y="3524250"/>
              <a:chExt cx="1771650" cy="1162050"/>
            </a:xfrm>
          </p:grpSpPr>
          <p:sp>
            <p:nvSpPr>
              <p:cNvPr id="164" name="Rectangle 164"/>
              <p:cNvSpPr/>
              <p:nvPr/>
            </p:nvSpPr>
            <p:spPr>
              <a:xfrm>
                <a:off x="10058400" y="3524250"/>
                <a:ext cx="1771650" cy="1162050"/>
              </a:xfrm>
              <a:prstGeom prst="roundRect">
                <a:avLst>
                  <a:gd name="adj" fmla="val 4918"/>
                </a:avLst>
              </a:prstGeom>
              <a:solidFill>
                <a:srgbClr val="F7FAFE"/>
              </a:solidFill>
              <a:ln w="9525">
                <a:solidFill>
                  <a:srgbClr val="DCE6F8"/>
                </a:solidFill>
              </a:ln>
            </p:spPr>
          </p:sp>
          <p:sp>
            <p:nvSpPr>
              <p:cNvPr id="165" name="Ellipse 165"/>
              <p:cNvSpPr/>
              <p:nvPr/>
            </p:nvSpPr>
            <p:spPr>
              <a:xfrm>
                <a:off x="10144125" y="3600450"/>
                <a:ext cx="247650" cy="247650"/>
              </a:xfrm>
              <a:prstGeom prst="ellipse">
                <a:avLst/>
              </a:prstGeom>
              <a:solidFill>
                <a:srgbClr val="B92102"/>
              </a:solidFill>
              <a:ln>
                <a:noFill/>
              </a:ln>
            </p:spPr>
          </p:sp>
          <p:sp>
            <p:nvSpPr>
              <p:cNvPr id="166" name="Freeform 166"/>
              <p:cNvSpPr/>
              <p:nvPr/>
            </p:nvSpPr>
            <p:spPr>
              <a:xfrm>
                <a:off x="10210800" y="3667125"/>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FFFFFF"/>
                </a:solidFill>
              </a:ln>
            </p:spPr>
          </p:sp>
          <p:sp>
            <p:nvSpPr>
              <p:cNvPr id="167" name="TextBox 167"/>
              <p:cNvSpPr txBox="1"/>
              <p:nvPr/>
            </p:nvSpPr>
            <p:spPr>
              <a:xfrm>
                <a:off x="10453497" y="3666649"/>
                <a:ext cx="933399"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方案差异化不足</a:t>
                </a:r>
              </a:p>
            </p:txBody>
          </p:sp>
          <p:sp>
            <p:nvSpPr>
              <p:cNvPr id="168" name="TextBox 168"/>
              <p:cNvSpPr txBox="1"/>
              <p:nvPr/>
            </p:nvSpPr>
            <p:spPr>
              <a:xfrm>
                <a:off x="10148888" y="3900488"/>
                <a:ext cx="1300162" cy="280988"/>
              </a:xfrm>
              <a:prstGeom prst="rect">
                <a:avLst/>
              </a:prstGeom>
              <a:noFill/>
              <a:ln>
                <a:noFill/>
              </a:ln>
            </p:spPr>
            <p:txBody>
              <a:bodyPr wrap="none" lIns="0" tIns="0" rIns="0" bIns="0" anchor="t" anchorCtr="0">
                <a:spAutoFit/>
              </a:bodyPr>
              <a:lstStyle/>
              <a:p>
                <a:pPr algn="l">
                  <a:lnSpc>
                    <a:spcPts val="1050"/>
                  </a:lnSpc>
                </a:pPr>
                <a:r>
                  <a:rPr lang="zh-CN" sz="750" b="1" dirty="0">
                    <a:solidFill>
                      <a:srgbClr val="6E1604"/>
                    </a:solidFill>
                    <a:latin typeface="+mn-lt"/>
                    <a:ea typeface="+mn-ea"/>
                    <a:cs typeface="+mn-cs"/>
                  </a:rPr>
                  <a:t>现状：</a:t>
                </a:r>
                <a:r>
                  <a:rPr lang="zh-CN" sz="750" dirty="0">
                    <a:solidFill>
                      <a:srgbClr val="473633"/>
                    </a:solidFill>
                    <a:latin typeface="+mn-lt"/>
                    <a:ea typeface="+mn-ea"/>
                    <a:cs typeface="+mn-cs"/>
                  </a:rPr>
                  <a:t>方案同质化严重，客户​</a:t>
                </a:r>
                <a:br/>
                <a:r>
                  <a:rPr lang="zh-CN" sz="750" dirty="0">
                    <a:solidFill>
                      <a:srgbClr val="473633"/>
                    </a:solidFill>
                    <a:latin typeface="+mn-lt"/>
                    <a:ea typeface="+mn-ea"/>
                    <a:cs typeface="+mn-cs"/>
                  </a:rPr>
                  <a:t>感知价值不突出</a:t>
                </a:r>
              </a:p>
            </p:txBody>
          </p:sp>
          <p:grpSp>
            <p:nvGrpSpPr>
              <p:cNvPr id="172" name="Group 172"/>
              <p:cNvGrpSpPr/>
              <p:nvPr/>
            </p:nvGrpSpPr>
            <p:grpSpPr>
              <a:xfrm>
                <a:off x="10175253" y="4324350"/>
                <a:ext cx="109182" cy="113602"/>
                <a:chOff x="10175253" y="4324350"/>
                <a:chExt cx="109182" cy="113602"/>
              </a:xfrm>
            </p:grpSpPr>
            <p:sp>
              <p:nvSpPr>
                <p:cNvPr id="169" name="Freeform 169"/>
                <p:cNvSpPr/>
                <p:nvPr/>
              </p:nvSpPr>
              <p:spPr>
                <a:xfrm>
                  <a:off x="10191750" y="43243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D44B2F"/>
                  </a:solidFill>
                </a:ln>
              </p:spPr>
            </p:sp>
            <p:sp>
              <p:nvSpPr>
                <p:cNvPr id="170" name="Freeform 170"/>
                <p:cNvSpPr/>
                <p:nvPr/>
              </p:nvSpPr>
              <p:spPr>
                <a:xfrm>
                  <a:off x="10229850" y="4381500"/>
                  <a:ext cx="54585" cy="56452"/>
                </a:xfrm>
                <a:custGeom>
                  <a:avLst/>
                  <a:gdLst/>
                  <a:ahLst/>
                  <a:cxnLst/>
                  <a:rect l="l" t="t" r="r" b="b"/>
                  <a:pathLst>
                    <a:path w="54585" h="56452">
                      <a:moveTo>
                        <a:pt x="0" y="19050"/>
                      </a:moveTo>
                      <a:lnTo>
                        <a:pt x="21590" y="56452"/>
                      </a:lnTo>
                      <a:lnTo>
                        <a:pt x="31737" y="35922"/>
                      </a:lnTo>
                      <a:lnTo>
                        <a:pt x="54585" y="37395"/>
                      </a:lnTo>
                      <a:lnTo>
                        <a:pt x="32995" y="0"/>
                      </a:lnTo>
                    </a:path>
                  </a:pathLst>
                </a:custGeom>
                <a:noFill/>
                <a:ln w="12700">
                  <a:solidFill>
                    <a:srgbClr val="D44B2F"/>
                  </a:solidFill>
                </a:ln>
              </p:spPr>
            </p:sp>
            <p:sp>
              <p:nvSpPr>
                <p:cNvPr id="171" name="Freeform 171"/>
                <p:cNvSpPr/>
                <p:nvPr/>
              </p:nvSpPr>
              <p:spPr>
                <a:xfrm>
                  <a:off x="10175253" y="4381500"/>
                  <a:ext cx="54585" cy="56445"/>
                </a:xfrm>
                <a:custGeom>
                  <a:avLst/>
                  <a:gdLst/>
                  <a:ahLst/>
                  <a:cxnLst/>
                  <a:rect l="l" t="t" r="r" b="b"/>
                  <a:pathLst>
                    <a:path w="54585" h="56445">
                      <a:moveTo>
                        <a:pt x="21590" y="0"/>
                      </a:moveTo>
                      <a:lnTo>
                        <a:pt x="0" y="37402"/>
                      </a:lnTo>
                      <a:lnTo>
                        <a:pt x="22847" y="35922"/>
                      </a:lnTo>
                      <a:lnTo>
                        <a:pt x="32995" y="56445"/>
                      </a:lnTo>
                      <a:lnTo>
                        <a:pt x="54585" y="19050"/>
                      </a:lnTo>
                    </a:path>
                  </a:pathLst>
                </a:custGeom>
                <a:noFill/>
                <a:ln w="12700">
                  <a:solidFill>
                    <a:srgbClr val="D44B2F"/>
                  </a:solidFill>
                </a:ln>
              </p:spPr>
            </p:sp>
          </p:grpSp>
          <p:sp>
            <p:nvSpPr>
              <p:cNvPr id="173" name="TextBox 173"/>
              <p:cNvSpPr txBox="1"/>
              <p:nvPr/>
            </p:nvSpPr>
            <p:spPr>
              <a:xfrm>
                <a:off x="10358438" y="4300538"/>
                <a:ext cx="1300162" cy="280988"/>
              </a:xfrm>
              <a:prstGeom prst="rect">
                <a:avLst/>
              </a:prstGeom>
              <a:noFill/>
              <a:ln>
                <a:noFill/>
              </a:ln>
            </p:spPr>
            <p:txBody>
              <a:bodyPr wrap="none" lIns="0" tIns="0" rIns="0" bIns="0" anchor="t" anchorCtr="0">
                <a:spAutoFit/>
              </a:bodyPr>
              <a:lstStyle/>
              <a:p>
                <a:pPr algn="l">
                  <a:lnSpc>
                    <a:spcPts val="1050"/>
                  </a:lnSpc>
                </a:pPr>
                <a:r>
                  <a:rPr lang="zh-CN" sz="750" b="1" dirty="0">
                    <a:solidFill>
                      <a:srgbClr val="6E1604"/>
                    </a:solidFill>
                    <a:latin typeface="+mn-lt"/>
                    <a:ea typeface="+mn-ea"/>
                    <a:cs typeface="+mn-cs"/>
                  </a:rPr>
                  <a:t>行动建议：</a:t>
                </a:r>
                <a:r>
                  <a:rPr lang="zh-CN" sz="750" dirty="0">
                    <a:solidFill>
                      <a:srgbClr val="473633"/>
                    </a:solidFill>
                    <a:latin typeface="+mn-lt"/>
                    <a:ea typeface="+mn-ea"/>
                    <a:cs typeface="+mn-cs"/>
                  </a:rPr>
                  <a:t>强化差异化卖点，​</a:t>
                </a:r>
                <a:br/>
                <a:r>
                  <a:rPr lang="zh-CN" sz="750" dirty="0">
                    <a:solidFill>
                      <a:srgbClr val="473633"/>
                    </a:solidFill>
                    <a:latin typeface="+mn-lt"/>
                    <a:ea typeface="+mn-ea"/>
                    <a:cs typeface="+mn-cs"/>
                  </a:rPr>
                  <a:t>打造行业化标杆案例</a:t>
                </a:r>
              </a:p>
            </p:txBody>
          </p:sp>
        </p:grpSp>
      </p:grpSp>
      <p:grpSp>
        <p:nvGrpSpPr>
          <p:cNvPr id="222" name="top10-table"/>
          <p:cNvGrpSpPr/>
          <p:nvPr/>
        </p:nvGrpSpPr>
        <p:grpSpPr>
          <a:xfrm>
            <a:off x="266700" y="4934902"/>
            <a:ext cx="11658600" cy="1637348"/>
            <a:chOff x="266700" y="4934902"/>
            <a:chExt cx="11658600" cy="1637348"/>
          </a:xfrm>
        </p:grpSpPr>
        <p:sp>
          <p:nvSpPr>
            <p:cNvPr id="176" name="TextBox 176"/>
            <p:cNvSpPr txBox="1"/>
            <p:nvPr/>
          </p:nvSpPr>
          <p:spPr>
            <a:xfrm>
              <a:off x="280416" y="4934902"/>
              <a:ext cx="1847584"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商机复盘清单（Top 10）​​​</a:t>
              </a:r>
            </a:p>
          </p:txBody>
        </p:sp>
        <p:sp>
          <p:nvSpPr>
            <p:cNvPr id="177" name="Rectangle 177"/>
            <p:cNvSpPr/>
            <p:nvPr/>
          </p:nvSpPr>
          <p:spPr>
            <a:xfrm>
              <a:off x="266700" y="5143500"/>
              <a:ext cx="11658600" cy="1428750"/>
            </a:xfrm>
            <a:prstGeom prst="rect">
              <a:avLst/>
            </a:prstGeom>
            <a:solidFill>
              <a:srgbClr val="FFFFFF"/>
            </a:solidFill>
            <a:ln w="9525">
              <a:solidFill>
                <a:srgbClr val="F7D1C9"/>
              </a:solidFill>
            </a:ln>
          </p:spPr>
        </p:sp>
        <p:sp>
          <p:nvSpPr>
            <p:cNvPr id="178" name="Rectangle 178"/>
            <p:cNvSpPr/>
            <p:nvPr/>
          </p:nvSpPr>
          <p:spPr>
            <a:xfrm>
              <a:off x="266700" y="5143500"/>
              <a:ext cx="11658600" cy="266700"/>
            </a:xfrm>
            <a:prstGeom prst="rect">
              <a:avLst/>
            </a:prstGeom>
            <a:solidFill>
              <a:srgbClr val="B92102"/>
            </a:solidFill>
            <a:ln>
              <a:noFill/>
            </a:ln>
          </p:spPr>
        </p:sp>
        <p:sp>
          <p:nvSpPr>
            <p:cNvPr id="179" name="TextBox 179"/>
            <p:cNvSpPr txBox="1"/>
            <p:nvPr/>
          </p:nvSpPr>
          <p:spPr>
            <a:xfrm>
              <a:off x="1106945" y="522327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商机</a:t>
              </a:r>
            </a:p>
          </p:txBody>
        </p:sp>
        <p:sp>
          <p:nvSpPr>
            <p:cNvPr id="180" name="TextBox 180"/>
            <p:cNvSpPr txBox="1"/>
            <p:nvPr/>
          </p:nvSpPr>
          <p:spPr>
            <a:xfrm>
              <a:off x="3050045" y="522327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阶段</a:t>
              </a:r>
            </a:p>
          </p:txBody>
        </p:sp>
        <p:sp>
          <p:nvSpPr>
            <p:cNvPr id="181" name="TextBox 181"/>
            <p:cNvSpPr txBox="1"/>
            <p:nvPr/>
          </p:nvSpPr>
          <p:spPr>
            <a:xfrm>
              <a:off x="4553226" y="5223272"/>
              <a:ext cx="114244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金额XX（万元）​​​</a:t>
              </a:r>
            </a:p>
          </p:txBody>
        </p:sp>
        <p:sp>
          <p:nvSpPr>
            <p:cNvPr id="182" name="TextBox 182"/>
            <p:cNvSpPr txBox="1"/>
            <p:nvPr/>
          </p:nvSpPr>
          <p:spPr>
            <a:xfrm>
              <a:off x="6743207" y="5223272"/>
              <a:ext cx="64868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赢率XX​​​</a:t>
              </a:r>
            </a:p>
          </p:txBody>
        </p:sp>
        <p:sp>
          <p:nvSpPr>
            <p:cNvPr id="183" name="TextBox 183"/>
            <p:cNvSpPr txBox="1"/>
            <p:nvPr/>
          </p:nvSpPr>
          <p:spPr>
            <a:xfrm>
              <a:off x="8879345" y="522327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卡点</a:t>
              </a:r>
            </a:p>
          </p:txBody>
        </p:sp>
        <p:sp>
          <p:nvSpPr>
            <p:cNvPr id="184" name="TextBox 184"/>
            <p:cNvSpPr txBox="1"/>
            <p:nvPr/>
          </p:nvSpPr>
          <p:spPr>
            <a:xfrm>
              <a:off x="10695902" y="52232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本周动作</a:t>
              </a:r>
            </a:p>
          </p:txBody>
        </p:sp>
        <p:sp>
          <p:nvSpPr>
            <p:cNvPr id="185" name="Rectangle 185"/>
            <p:cNvSpPr/>
            <p:nvPr/>
          </p:nvSpPr>
          <p:spPr>
            <a:xfrm>
              <a:off x="276225" y="5638800"/>
              <a:ext cx="11639550" cy="228600"/>
            </a:xfrm>
            <a:prstGeom prst="rect">
              <a:avLst/>
            </a:prstGeom>
            <a:solidFill>
              <a:srgbClr val="F2F7FE"/>
            </a:solidFill>
            <a:ln>
              <a:noFill/>
            </a:ln>
          </p:spPr>
        </p:sp>
        <p:sp>
          <p:nvSpPr>
            <p:cNvPr id="186" name="Rectangle 186"/>
            <p:cNvSpPr/>
            <p:nvPr/>
          </p:nvSpPr>
          <p:spPr>
            <a:xfrm>
              <a:off x="276225" y="6096000"/>
              <a:ext cx="11639550" cy="228600"/>
            </a:xfrm>
            <a:prstGeom prst="rect">
              <a:avLst/>
            </a:prstGeom>
            <a:solidFill>
              <a:srgbClr val="F2F7FE"/>
            </a:solidFill>
            <a:ln>
              <a:noFill/>
            </a:ln>
          </p:spPr>
        </p:sp>
        <p:sp>
          <p:nvSpPr>
            <p:cNvPr id="187" name="Line 187"/>
            <p:cNvSpPr/>
            <p:nvPr/>
          </p:nvSpPr>
          <p:spPr>
            <a:xfrm>
              <a:off x="2209800" y="5410200"/>
              <a:ext cx="9525" cy="1162050"/>
            </a:xfrm>
            <a:custGeom>
              <a:avLst/>
              <a:gdLst/>
              <a:ahLst/>
              <a:cxnLst/>
              <a:rect l="l" t="t" r="r" b="b"/>
              <a:pathLst>
                <a:path w="9525" h="1162050">
                  <a:moveTo>
                    <a:pt x="0" y="0"/>
                  </a:moveTo>
                  <a:lnTo>
                    <a:pt x="0" y="1162050"/>
                  </a:lnTo>
                </a:path>
              </a:pathLst>
            </a:custGeom>
            <a:noFill/>
            <a:ln w="9525">
              <a:solidFill>
                <a:srgbClr val="DCE6F8"/>
              </a:solidFill>
            </a:ln>
          </p:spPr>
        </p:sp>
        <p:sp>
          <p:nvSpPr>
            <p:cNvPr id="188" name="Line 188"/>
            <p:cNvSpPr/>
            <p:nvPr/>
          </p:nvSpPr>
          <p:spPr>
            <a:xfrm>
              <a:off x="4152900" y="5410200"/>
              <a:ext cx="9525" cy="1162050"/>
            </a:xfrm>
            <a:custGeom>
              <a:avLst/>
              <a:gdLst/>
              <a:ahLst/>
              <a:cxnLst/>
              <a:rect l="l" t="t" r="r" b="b"/>
              <a:pathLst>
                <a:path w="9525" h="1162050">
                  <a:moveTo>
                    <a:pt x="0" y="0"/>
                  </a:moveTo>
                  <a:lnTo>
                    <a:pt x="0" y="1162050"/>
                  </a:lnTo>
                </a:path>
              </a:pathLst>
            </a:custGeom>
            <a:noFill/>
            <a:ln w="9525">
              <a:solidFill>
                <a:srgbClr val="DCE6F8"/>
              </a:solidFill>
            </a:ln>
          </p:spPr>
        </p:sp>
        <p:sp>
          <p:nvSpPr>
            <p:cNvPr id="189" name="Line 189"/>
            <p:cNvSpPr/>
            <p:nvPr/>
          </p:nvSpPr>
          <p:spPr>
            <a:xfrm>
              <a:off x="6096000" y="5410200"/>
              <a:ext cx="9525" cy="1162050"/>
            </a:xfrm>
            <a:custGeom>
              <a:avLst/>
              <a:gdLst/>
              <a:ahLst/>
              <a:cxnLst/>
              <a:rect l="l" t="t" r="r" b="b"/>
              <a:pathLst>
                <a:path w="9525" h="1162050">
                  <a:moveTo>
                    <a:pt x="0" y="0"/>
                  </a:moveTo>
                  <a:lnTo>
                    <a:pt x="0" y="1162050"/>
                  </a:lnTo>
                </a:path>
              </a:pathLst>
            </a:custGeom>
            <a:noFill/>
            <a:ln w="9525">
              <a:solidFill>
                <a:srgbClr val="DCE6F8"/>
              </a:solidFill>
            </a:ln>
          </p:spPr>
        </p:sp>
        <p:sp>
          <p:nvSpPr>
            <p:cNvPr id="190" name="Line 190"/>
            <p:cNvSpPr/>
            <p:nvPr/>
          </p:nvSpPr>
          <p:spPr>
            <a:xfrm>
              <a:off x="8039100" y="5410200"/>
              <a:ext cx="9525" cy="1162050"/>
            </a:xfrm>
            <a:custGeom>
              <a:avLst/>
              <a:gdLst/>
              <a:ahLst/>
              <a:cxnLst/>
              <a:rect l="l" t="t" r="r" b="b"/>
              <a:pathLst>
                <a:path w="9525" h="1162050">
                  <a:moveTo>
                    <a:pt x="0" y="0"/>
                  </a:moveTo>
                  <a:lnTo>
                    <a:pt x="0" y="1162050"/>
                  </a:lnTo>
                </a:path>
              </a:pathLst>
            </a:custGeom>
            <a:noFill/>
            <a:ln w="9525">
              <a:solidFill>
                <a:srgbClr val="DCE6F8"/>
              </a:solidFill>
            </a:ln>
          </p:spPr>
        </p:sp>
        <p:sp>
          <p:nvSpPr>
            <p:cNvPr id="191" name="Line 191"/>
            <p:cNvSpPr/>
            <p:nvPr/>
          </p:nvSpPr>
          <p:spPr>
            <a:xfrm>
              <a:off x="9982200" y="5410200"/>
              <a:ext cx="9525" cy="1162050"/>
            </a:xfrm>
            <a:custGeom>
              <a:avLst/>
              <a:gdLst/>
              <a:ahLst/>
              <a:cxnLst/>
              <a:rect l="l" t="t" r="r" b="b"/>
              <a:pathLst>
                <a:path w="9525" h="1162050">
                  <a:moveTo>
                    <a:pt x="0" y="0"/>
                  </a:moveTo>
                  <a:lnTo>
                    <a:pt x="0" y="1162050"/>
                  </a:lnTo>
                </a:path>
              </a:pathLst>
            </a:custGeom>
            <a:noFill/>
            <a:ln w="9525">
              <a:solidFill>
                <a:srgbClr val="DCE6F8"/>
              </a:solidFill>
            </a:ln>
          </p:spPr>
        </p:sp>
        <p:sp>
          <p:nvSpPr>
            <p:cNvPr id="192" name="TextBox 192"/>
            <p:cNvSpPr txBox="1"/>
            <p:nvPr/>
          </p:nvSpPr>
          <p:spPr>
            <a:xfrm>
              <a:off x="1132568" y="54790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93" name="TextBox 193"/>
            <p:cNvSpPr txBox="1"/>
            <p:nvPr/>
          </p:nvSpPr>
          <p:spPr>
            <a:xfrm>
              <a:off x="3075668" y="54790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94" name="TextBox 194"/>
            <p:cNvSpPr txBox="1"/>
            <p:nvPr/>
          </p:nvSpPr>
          <p:spPr>
            <a:xfrm>
              <a:off x="5018768" y="54790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95" name="TextBox 195"/>
            <p:cNvSpPr txBox="1"/>
            <p:nvPr/>
          </p:nvSpPr>
          <p:spPr>
            <a:xfrm>
              <a:off x="6848716" y="5479018"/>
              <a:ext cx="437667"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96" name="TextBox 196"/>
            <p:cNvSpPr txBox="1"/>
            <p:nvPr/>
          </p:nvSpPr>
          <p:spPr>
            <a:xfrm>
              <a:off x="8904968" y="54790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97" name="TextBox 197"/>
            <p:cNvSpPr txBox="1"/>
            <p:nvPr/>
          </p:nvSpPr>
          <p:spPr>
            <a:xfrm>
              <a:off x="10848068" y="54790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98" name="TextBox 198"/>
            <p:cNvSpPr txBox="1"/>
            <p:nvPr/>
          </p:nvSpPr>
          <p:spPr>
            <a:xfrm>
              <a:off x="1132568" y="57076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99" name="TextBox 199"/>
            <p:cNvSpPr txBox="1"/>
            <p:nvPr/>
          </p:nvSpPr>
          <p:spPr>
            <a:xfrm>
              <a:off x="3075668" y="57076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0" name="TextBox 200"/>
            <p:cNvSpPr txBox="1"/>
            <p:nvPr/>
          </p:nvSpPr>
          <p:spPr>
            <a:xfrm>
              <a:off x="5018768" y="57076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1" name="TextBox 201"/>
            <p:cNvSpPr txBox="1"/>
            <p:nvPr/>
          </p:nvSpPr>
          <p:spPr>
            <a:xfrm>
              <a:off x="6848716" y="5707618"/>
              <a:ext cx="437667"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2" name="TextBox 202"/>
            <p:cNvSpPr txBox="1"/>
            <p:nvPr/>
          </p:nvSpPr>
          <p:spPr>
            <a:xfrm>
              <a:off x="8904968" y="57076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3" name="TextBox 203"/>
            <p:cNvSpPr txBox="1"/>
            <p:nvPr/>
          </p:nvSpPr>
          <p:spPr>
            <a:xfrm>
              <a:off x="10848068" y="57076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4" name="TextBox 204"/>
            <p:cNvSpPr txBox="1"/>
            <p:nvPr/>
          </p:nvSpPr>
          <p:spPr>
            <a:xfrm>
              <a:off x="1132568" y="59362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5" name="TextBox 205"/>
            <p:cNvSpPr txBox="1"/>
            <p:nvPr/>
          </p:nvSpPr>
          <p:spPr>
            <a:xfrm>
              <a:off x="3075668" y="59362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6" name="TextBox 206"/>
            <p:cNvSpPr txBox="1"/>
            <p:nvPr/>
          </p:nvSpPr>
          <p:spPr>
            <a:xfrm>
              <a:off x="5018768" y="59362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7" name="TextBox 207"/>
            <p:cNvSpPr txBox="1"/>
            <p:nvPr/>
          </p:nvSpPr>
          <p:spPr>
            <a:xfrm>
              <a:off x="6848716" y="5936218"/>
              <a:ext cx="437667"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8" name="TextBox 208"/>
            <p:cNvSpPr txBox="1"/>
            <p:nvPr/>
          </p:nvSpPr>
          <p:spPr>
            <a:xfrm>
              <a:off x="8904968" y="59362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09" name="TextBox 209"/>
            <p:cNvSpPr txBox="1"/>
            <p:nvPr/>
          </p:nvSpPr>
          <p:spPr>
            <a:xfrm>
              <a:off x="10848068" y="59362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0" name="TextBox 210"/>
            <p:cNvSpPr txBox="1"/>
            <p:nvPr/>
          </p:nvSpPr>
          <p:spPr>
            <a:xfrm>
              <a:off x="1132568" y="61648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1" name="TextBox 211"/>
            <p:cNvSpPr txBox="1"/>
            <p:nvPr/>
          </p:nvSpPr>
          <p:spPr>
            <a:xfrm>
              <a:off x="3075668" y="61648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2" name="TextBox 212"/>
            <p:cNvSpPr txBox="1"/>
            <p:nvPr/>
          </p:nvSpPr>
          <p:spPr>
            <a:xfrm>
              <a:off x="5018768" y="61648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3" name="TextBox 213"/>
            <p:cNvSpPr txBox="1"/>
            <p:nvPr/>
          </p:nvSpPr>
          <p:spPr>
            <a:xfrm>
              <a:off x="6848716" y="6164818"/>
              <a:ext cx="437667"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4" name="TextBox 214"/>
            <p:cNvSpPr txBox="1"/>
            <p:nvPr/>
          </p:nvSpPr>
          <p:spPr>
            <a:xfrm>
              <a:off x="8904968" y="61648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5" name="TextBox 215"/>
            <p:cNvSpPr txBox="1"/>
            <p:nvPr/>
          </p:nvSpPr>
          <p:spPr>
            <a:xfrm>
              <a:off x="10848068" y="61648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6" name="TextBox 216"/>
            <p:cNvSpPr txBox="1"/>
            <p:nvPr/>
          </p:nvSpPr>
          <p:spPr>
            <a:xfrm>
              <a:off x="1132568" y="63934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7" name="TextBox 217"/>
            <p:cNvSpPr txBox="1"/>
            <p:nvPr/>
          </p:nvSpPr>
          <p:spPr>
            <a:xfrm>
              <a:off x="3075668" y="63934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8" name="TextBox 218"/>
            <p:cNvSpPr txBox="1"/>
            <p:nvPr/>
          </p:nvSpPr>
          <p:spPr>
            <a:xfrm>
              <a:off x="5018768" y="63934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19" name="TextBox 219"/>
            <p:cNvSpPr txBox="1"/>
            <p:nvPr/>
          </p:nvSpPr>
          <p:spPr>
            <a:xfrm>
              <a:off x="6848716" y="6393418"/>
              <a:ext cx="437667"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20" name="TextBox 220"/>
            <p:cNvSpPr txBox="1"/>
            <p:nvPr/>
          </p:nvSpPr>
          <p:spPr>
            <a:xfrm>
              <a:off x="8904968" y="63934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221" name="TextBox 221"/>
            <p:cNvSpPr txBox="1"/>
            <p:nvPr/>
          </p:nvSpPr>
          <p:spPr>
            <a:xfrm>
              <a:off x="10848068" y="6393418"/>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gr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09​</a:t>
              </a:r>
            </a:p>
          </p:txBody>
        </p:sp>
        <p:sp>
          <p:nvSpPr>
            <p:cNvPr id="4" name="TextBox 4"/>
            <p:cNvSpPr txBox="1"/>
            <p:nvPr/>
          </p:nvSpPr>
          <p:spPr>
            <a:xfrm>
              <a:off x="942594" y="151448"/>
              <a:ext cx="6004720"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产品与组合经营</a:t>
              </a:r>
              <a:r>
                <a:rPr lang="zh-CN" sz="1950" b="1" dirty="0">
                  <a:solidFill>
                    <a:srgbClr val="1A1A1A"/>
                  </a:solidFill>
                  <a:latin typeface="SimSun"/>
                  <a:ea typeface="SimSun"/>
                  <a:cs typeface="SimSun"/>
                </a:rPr>
                <a:t>｜由单品推动转向综合解决方案​</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47" name="product-matrix"/>
          <p:cNvGrpSpPr/>
          <p:nvPr/>
        </p:nvGrpSpPr>
        <p:grpSpPr>
          <a:xfrm>
            <a:off x="266700" y="723900"/>
            <a:ext cx="3352800" cy="3390614"/>
            <a:chOff x="266700" y="723900"/>
            <a:chExt cx="3352800" cy="3390614"/>
          </a:xfrm>
        </p:grpSpPr>
        <p:sp>
          <p:nvSpPr>
            <p:cNvPr id="7" name="Rectangle 7"/>
            <p:cNvSpPr/>
            <p:nvPr/>
          </p:nvSpPr>
          <p:spPr>
            <a:xfrm>
              <a:off x="266700" y="723900"/>
              <a:ext cx="3352800" cy="3371850"/>
            </a:xfrm>
            <a:prstGeom prst="roundRect">
              <a:avLst>
                <a:gd name="adj" fmla="val 2273"/>
              </a:avLst>
            </a:prstGeom>
            <a:solidFill>
              <a:srgbClr val="F7FAFE"/>
            </a:solidFill>
            <a:ln w="9525">
              <a:solidFill>
                <a:srgbClr val="DCE6F8"/>
              </a:solidFill>
            </a:ln>
          </p:spPr>
        </p:sp>
        <p:sp>
          <p:nvSpPr>
            <p:cNvPr id="8" name="TextBox 8"/>
            <p:cNvSpPr txBox="1"/>
            <p:nvPr/>
          </p:nvSpPr>
          <p:spPr>
            <a:xfrm>
              <a:off x="766143" y="858202"/>
              <a:ext cx="2353914"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产品组合矩阵：聚焦资源，分层经营​</a:t>
              </a:r>
            </a:p>
          </p:txBody>
        </p:sp>
        <p:sp>
          <p:nvSpPr>
            <p:cNvPr id="9" name="Line 9"/>
            <p:cNvSpPr/>
            <p:nvPr/>
          </p:nvSpPr>
          <p:spPr>
            <a:xfrm flipV="1">
              <a:off x="762000" y="1200150"/>
              <a:ext cx="1" cy="2628900"/>
            </a:xfrm>
            <a:prstGeom prst="line">
              <a:avLst/>
            </a:prstGeom>
            <a:noFill/>
            <a:ln w="17145">
              <a:solidFill>
                <a:srgbClr val="D44B2F"/>
              </a:solidFill>
              <a:tailEnd type="triangle" w="lg" len="lg"/>
            </a:ln>
          </p:spPr>
        </p:sp>
        <p:sp>
          <p:nvSpPr>
            <p:cNvPr id="10" name="Line 10"/>
            <p:cNvSpPr/>
            <p:nvPr/>
          </p:nvSpPr>
          <p:spPr>
            <a:xfrm>
              <a:off x="762000" y="3829050"/>
              <a:ext cx="2724150" cy="1"/>
            </a:xfrm>
            <a:prstGeom prst="line">
              <a:avLst/>
            </a:prstGeom>
            <a:noFill/>
            <a:ln w="17145">
              <a:solidFill>
                <a:srgbClr val="D44B2F"/>
              </a:solidFill>
              <a:tailEnd type="triangle" w="lg" len="lg"/>
            </a:ln>
          </p:spPr>
        </p:sp>
        <p:sp>
          <p:nvSpPr>
            <p:cNvPr id="11" name="TextBox 11"/>
            <p:cNvSpPr txBox="1"/>
            <p:nvPr/>
          </p:nvSpPr>
          <p:spPr>
            <a:xfrm>
              <a:off x="527901" y="1354693"/>
              <a:ext cx="125298"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高</a:t>
              </a:r>
            </a:p>
          </p:txBody>
        </p:sp>
        <p:sp>
          <p:nvSpPr>
            <p:cNvPr id="12" name="TextBox 12"/>
            <p:cNvSpPr txBox="1"/>
            <p:nvPr/>
          </p:nvSpPr>
          <p:spPr>
            <a:xfrm>
              <a:off x="527901" y="3659743"/>
              <a:ext cx="125298"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低</a:t>
              </a:r>
            </a:p>
          </p:txBody>
        </p:sp>
        <p:sp>
          <p:nvSpPr>
            <p:cNvPr id="13" name="TextBox 13"/>
            <p:cNvSpPr txBox="1"/>
            <p:nvPr/>
          </p:nvSpPr>
          <p:spPr>
            <a:xfrm>
              <a:off x="357188" y="2112645"/>
              <a:ext cx="123825" cy="938212"/>
            </a:xfrm>
            <a:prstGeom prst="rect">
              <a:avLst/>
            </a:prstGeom>
            <a:noFill/>
            <a:ln>
              <a:noFill/>
            </a:ln>
          </p:spPr>
          <p:txBody>
            <a:bodyPr wrap="none" lIns="0" tIns="0" rIns="0" bIns="0" anchor="t" anchorCtr="0">
              <a:spAutoFit/>
            </a:bodyPr>
            <a:lstStyle/>
            <a:p>
              <a:pPr algn="ctr">
                <a:lnSpc>
                  <a:spcPts val="1200"/>
                </a:lnSpc>
              </a:pPr>
              <a:r>
                <a:rPr lang="zh-CN" sz="900" b="1" dirty="0">
                  <a:solidFill>
                    <a:srgbClr val="6E1604"/>
                  </a:solidFill>
                  <a:latin typeface="+mn-lt"/>
                  <a:ea typeface="+mn-ea"/>
                  <a:cs typeface="+mn-cs"/>
                </a:rPr>
                <a:t>客</a:t>
              </a:r>
              <a:br/>
              <a:r>
                <a:rPr lang="zh-CN" sz="900" b="1" dirty="0">
                  <a:solidFill>
                    <a:srgbClr val="6E1604"/>
                  </a:solidFill>
                  <a:latin typeface="+mn-lt"/>
                  <a:ea typeface="+mn-ea"/>
                  <a:cs typeface="+mn-cs"/>
                </a:rPr>
                <a:t>户</a:t>
              </a:r>
              <a:br/>
              <a:r>
                <a:rPr lang="zh-CN" sz="900" b="1" dirty="0">
                  <a:solidFill>
                    <a:srgbClr val="6E1604"/>
                  </a:solidFill>
                  <a:latin typeface="+mn-lt"/>
                  <a:ea typeface="+mn-ea"/>
                  <a:cs typeface="+mn-cs"/>
                </a:rPr>
                <a:t>需</a:t>
              </a:r>
              <a:br/>
              <a:r>
                <a:rPr lang="zh-CN" sz="900" b="1" dirty="0">
                  <a:solidFill>
                    <a:srgbClr val="6E1604"/>
                  </a:solidFill>
                  <a:latin typeface="+mn-lt"/>
                  <a:ea typeface="+mn-ea"/>
                  <a:cs typeface="+mn-cs"/>
                </a:rPr>
                <a:t>求</a:t>
              </a:r>
              <a:br/>
              <a:r>
                <a:rPr lang="zh-CN" sz="900" b="1" dirty="0">
                  <a:solidFill>
                    <a:srgbClr val="6E1604"/>
                  </a:solidFill>
                  <a:latin typeface="+mn-lt"/>
                  <a:ea typeface="+mn-ea"/>
                  <a:cs typeface="+mn-cs"/>
                </a:rPr>
                <a:t>强</a:t>
              </a:r>
              <a:br/>
              <a:r>
                <a:rPr lang="zh-CN" sz="900" b="1" dirty="0">
                  <a:solidFill>
                    <a:srgbClr val="6E1604"/>
                  </a:solidFill>
                  <a:latin typeface="+mn-lt"/>
                  <a:ea typeface="+mn-ea"/>
                  <a:cs typeface="+mn-cs"/>
                </a:rPr>
                <a:t>度</a:t>
              </a:r>
            </a:p>
          </p:txBody>
        </p:sp>
        <p:sp>
          <p:nvSpPr>
            <p:cNvPr id="14" name="TextBox 14"/>
            <p:cNvSpPr txBox="1"/>
            <p:nvPr/>
          </p:nvSpPr>
          <p:spPr>
            <a:xfrm>
              <a:off x="851751" y="3926443"/>
              <a:ext cx="125298"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弱</a:t>
              </a:r>
            </a:p>
          </p:txBody>
        </p:sp>
        <p:sp>
          <p:nvSpPr>
            <p:cNvPr id="15" name="TextBox 15"/>
            <p:cNvSpPr txBox="1"/>
            <p:nvPr/>
          </p:nvSpPr>
          <p:spPr>
            <a:xfrm>
              <a:off x="1779778" y="3923824"/>
              <a:ext cx="669544" cy="190690"/>
            </a:xfrm>
            <a:prstGeom prst="rect">
              <a:avLst/>
            </a:prstGeom>
            <a:noFill/>
            <a:ln>
              <a:noFill/>
            </a:ln>
          </p:spPr>
          <p:txBody>
            <a:bodyPr wrap="none" lIns="0" tIns="0" rIns="0" bIns="0" anchor="t" anchorCtr="0">
              <a:spAutoFit/>
            </a:bodyPr>
            <a:lstStyle/>
            <a:p>
              <a:pPr algn="ctr"/>
              <a:r>
                <a:rPr lang="zh-CN" sz="980" b="1" dirty="0">
                  <a:solidFill>
                    <a:srgbClr val="6E1604"/>
                  </a:solidFill>
                  <a:latin typeface="+mn-lt"/>
                  <a:ea typeface="+mn-ea"/>
                  <a:cs typeface="+mn-cs"/>
                </a:rPr>
                <a:t>区域竞争力</a:t>
              </a:r>
            </a:p>
          </p:txBody>
        </p:sp>
        <p:sp>
          <p:nvSpPr>
            <p:cNvPr id="16" name="TextBox 16"/>
            <p:cNvSpPr txBox="1"/>
            <p:nvPr/>
          </p:nvSpPr>
          <p:spPr>
            <a:xfrm>
              <a:off x="3271101" y="3926443"/>
              <a:ext cx="125298"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强</a:t>
              </a:r>
            </a:p>
          </p:txBody>
        </p:sp>
        <p:grpSp>
          <p:nvGrpSpPr>
            <p:cNvPr id="24" name="pm-core"/>
            <p:cNvGrpSpPr/>
            <p:nvPr/>
          </p:nvGrpSpPr>
          <p:grpSpPr>
            <a:xfrm>
              <a:off x="876300" y="1295400"/>
              <a:ext cx="1219200" cy="1200150"/>
              <a:chOff x="876300" y="1295400"/>
              <a:chExt cx="1219200" cy="1200150"/>
            </a:xfrm>
          </p:grpSpPr>
          <p:sp>
            <p:nvSpPr>
              <p:cNvPr id="17" name="Rectangle 17"/>
              <p:cNvSpPr/>
              <p:nvPr/>
            </p:nvSpPr>
            <p:spPr>
              <a:xfrm>
                <a:off x="876300" y="1295400"/>
                <a:ext cx="1219200" cy="1200150"/>
              </a:xfrm>
              <a:prstGeom prst="roundRect">
                <a:avLst>
                  <a:gd name="adj" fmla="val 3968"/>
                </a:avLst>
              </a:prstGeom>
              <a:solidFill>
                <a:srgbClr val="FDCCC2"/>
              </a:solidFill>
              <a:ln w="9525">
                <a:solidFill>
                  <a:srgbClr val="F3AC9D"/>
                </a:solidFill>
              </a:ln>
            </p:spPr>
          </p:sp>
          <p:grpSp>
            <p:nvGrpSpPr>
              <p:cNvPr id="21" name="Group 21"/>
              <p:cNvGrpSpPr/>
              <p:nvPr/>
            </p:nvGrpSpPr>
            <p:grpSpPr>
              <a:xfrm>
                <a:off x="992981" y="1431131"/>
                <a:ext cx="128588" cy="128588"/>
                <a:chOff x="992981" y="1431131"/>
                <a:chExt cx="128588" cy="128588"/>
              </a:xfrm>
            </p:grpSpPr>
            <p:sp>
              <p:nvSpPr>
                <p:cNvPr id="18" name="Freeform 18"/>
                <p:cNvSpPr/>
                <p:nvPr/>
              </p:nvSpPr>
              <p:spPr>
                <a:xfrm>
                  <a:off x="1050131" y="14882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B92102"/>
                  </a:solidFill>
                </a:ln>
              </p:spPr>
            </p:sp>
            <p:sp>
              <p:nvSpPr>
                <p:cNvPr id="19" name="Freeform 19"/>
                <p:cNvSpPr/>
                <p:nvPr/>
              </p:nvSpPr>
              <p:spPr>
                <a:xfrm>
                  <a:off x="1021556" y="14597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B92102"/>
                  </a:solidFill>
                </a:ln>
              </p:spPr>
            </p:sp>
            <p:sp>
              <p:nvSpPr>
                <p:cNvPr id="20" name="Freeform 20"/>
                <p:cNvSpPr/>
                <p:nvPr/>
              </p:nvSpPr>
              <p:spPr>
                <a:xfrm>
                  <a:off x="992981" y="14311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B92102"/>
                  </a:solidFill>
                </a:ln>
              </p:spPr>
            </p:sp>
          </p:grpSp>
          <p:sp>
            <p:nvSpPr>
              <p:cNvPr id="22" name="TextBox 22"/>
              <p:cNvSpPr txBox="1"/>
              <p:nvPr/>
            </p:nvSpPr>
            <p:spPr>
              <a:xfrm>
                <a:off x="1195197" y="143779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主攻产品</a:t>
                </a:r>
              </a:p>
            </p:txBody>
          </p:sp>
          <p:sp>
            <p:nvSpPr>
              <p:cNvPr id="23" name="TextBox 23"/>
              <p:cNvSpPr txBox="1"/>
              <p:nvPr/>
            </p:nvSpPr>
            <p:spPr>
              <a:xfrm>
                <a:off x="966788" y="1709738"/>
                <a:ext cx="890588" cy="490538"/>
              </a:xfrm>
              <a:prstGeom prst="rect">
                <a:avLst/>
              </a:prstGeom>
              <a:noFill/>
              <a:ln>
                <a:noFill/>
              </a:ln>
            </p:spPr>
            <p:txBody>
              <a:bodyPr wrap="none" lIns="0" tIns="0" rIns="0" bIns="0" anchor="t" anchorCtr="0">
                <a:spAutoFit/>
              </a:bodyPr>
              <a:lstStyle/>
              <a:p>
                <a:pPr algn="l">
                  <a:lnSpc>
                    <a:spcPts val="1350"/>
                  </a:lnSpc>
                </a:pPr>
                <a:r>
                  <a:rPr lang="zh-CN" sz="750" dirty="0">
                    <a:solidFill>
                      <a:srgbClr val="473633"/>
                    </a:solidFill>
                    <a:latin typeface="+mn-lt"/>
                    <a:ea typeface="+mn-ea"/>
                    <a:cs typeface="+mn-cs"/>
                  </a:rPr>
                  <a:t>高需求 × 强竞争力​​</a:t>
                </a:r>
                <a:br/>
                <a:r>
                  <a:rPr lang="zh-CN" sz="750" dirty="0">
                    <a:solidFill>
                      <a:srgbClr val="473633"/>
                    </a:solidFill>
                    <a:latin typeface="+mn-lt"/>
                    <a:ea typeface="+mn-ea"/>
                    <a:cs typeface="+mn-cs"/>
                  </a:rPr>
                  <a:t>集中资源突破，</a:t>
                </a:r>
                <a:br/>
                <a:r>
                  <a:rPr lang="zh-CN" sz="750" dirty="0">
                    <a:solidFill>
                      <a:srgbClr val="473633"/>
                    </a:solidFill>
                    <a:latin typeface="+mn-lt"/>
                    <a:ea typeface="+mn-ea"/>
                    <a:cs typeface="+mn-cs"/>
                  </a:rPr>
                  <a:t>建立优势地位</a:t>
                </a:r>
              </a:p>
            </p:txBody>
          </p:sp>
        </p:grpSp>
        <p:grpSp>
          <p:nvGrpSpPr>
            <p:cNvPr id="31" name="pm-growth"/>
            <p:cNvGrpSpPr/>
            <p:nvPr/>
          </p:nvGrpSpPr>
          <p:grpSpPr>
            <a:xfrm>
              <a:off x="2171700" y="1295400"/>
              <a:ext cx="1219200" cy="1200150"/>
              <a:chOff x="2171700" y="1295400"/>
              <a:chExt cx="1219200" cy="1200150"/>
            </a:xfrm>
          </p:grpSpPr>
          <p:sp>
            <p:nvSpPr>
              <p:cNvPr id="25" name="Rectangle 25"/>
              <p:cNvSpPr/>
              <p:nvPr/>
            </p:nvSpPr>
            <p:spPr>
              <a:xfrm>
                <a:off x="2171700" y="1295400"/>
                <a:ext cx="1219200" cy="1200150"/>
              </a:xfrm>
              <a:prstGeom prst="roundRect">
                <a:avLst>
                  <a:gd name="adj" fmla="val 3968"/>
                </a:avLst>
              </a:prstGeom>
              <a:solidFill>
                <a:srgbClr val="EAF3FE"/>
              </a:solidFill>
              <a:ln w="9525">
                <a:solidFill>
                  <a:srgbClr val="F7D1C9"/>
                </a:solidFill>
              </a:ln>
            </p:spPr>
          </p:sp>
          <p:grpSp>
            <p:nvGrpSpPr>
              <p:cNvPr id="28" name="Group 28"/>
              <p:cNvGrpSpPr/>
              <p:nvPr/>
            </p:nvGrpSpPr>
            <p:grpSpPr>
              <a:xfrm>
                <a:off x="2288381" y="1459706"/>
                <a:ext cx="128588" cy="71438"/>
                <a:chOff x="2288381" y="1459706"/>
                <a:chExt cx="128588" cy="71438"/>
              </a:xfrm>
            </p:grpSpPr>
            <p:sp>
              <p:nvSpPr>
                <p:cNvPr id="26" name="Freeform 26"/>
                <p:cNvSpPr/>
                <p:nvPr/>
              </p:nvSpPr>
              <p:spPr>
                <a:xfrm>
                  <a:off x="2288381" y="145970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B92102"/>
                  </a:solidFill>
                </a:ln>
              </p:spPr>
            </p:sp>
            <p:sp>
              <p:nvSpPr>
                <p:cNvPr id="27" name="Freeform 27"/>
                <p:cNvSpPr/>
                <p:nvPr/>
              </p:nvSpPr>
              <p:spPr>
                <a:xfrm>
                  <a:off x="2366962" y="1459706"/>
                  <a:ext cx="50006" cy="50006"/>
                </a:xfrm>
                <a:custGeom>
                  <a:avLst/>
                  <a:gdLst/>
                  <a:ahLst/>
                  <a:cxnLst/>
                  <a:rect l="l" t="t" r="r" b="b"/>
                  <a:pathLst>
                    <a:path w="50006" h="50006">
                      <a:moveTo>
                        <a:pt x="0" y="0"/>
                      </a:moveTo>
                      <a:lnTo>
                        <a:pt x="50006" y="0"/>
                      </a:lnTo>
                      <a:lnTo>
                        <a:pt x="50006" y="50006"/>
                      </a:lnTo>
                    </a:path>
                  </a:pathLst>
                </a:custGeom>
                <a:noFill/>
                <a:ln w="14288">
                  <a:solidFill>
                    <a:srgbClr val="B92102"/>
                  </a:solidFill>
                </a:ln>
              </p:spPr>
            </p:sp>
          </p:grpSp>
          <p:sp>
            <p:nvSpPr>
              <p:cNvPr id="29" name="TextBox 29"/>
              <p:cNvSpPr txBox="1"/>
              <p:nvPr/>
            </p:nvSpPr>
            <p:spPr>
              <a:xfrm>
                <a:off x="2490597" y="143779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增长产品</a:t>
                </a:r>
              </a:p>
            </p:txBody>
          </p:sp>
          <p:sp>
            <p:nvSpPr>
              <p:cNvPr id="30" name="TextBox 30"/>
              <p:cNvSpPr txBox="1"/>
              <p:nvPr/>
            </p:nvSpPr>
            <p:spPr>
              <a:xfrm>
                <a:off x="2262188" y="1709738"/>
                <a:ext cx="890588" cy="490538"/>
              </a:xfrm>
              <a:prstGeom prst="rect">
                <a:avLst/>
              </a:prstGeom>
              <a:noFill/>
              <a:ln>
                <a:noFill/>
              </a:ln>
            </p:spPr>
            <p:txBody>
              <a:bodyPr wrap="none" lIns="0" tIns="0" rIns="0" bIns="0" anchor="t" anchorCtr="0">
                <a:spAutoFit/>
              </a:bodyPr>
              <a:lstStyle/>
              <a:p>
                <a:pPr algn="l">
                  <a:lnSpc>
                    <a:spcPts val="1350"/>
                  </a:lnSpc>
                </a:pPr>
                <a:r>
                  <a:rPr lang="zh-CN" sz="750" dirty="0">
                    <a:solidFill>
                      <a:srgbClr val="473633"/>
                    </a:solidFill>
                    <a:latin typeface="+mn-lt"/>
                    <a:ea typeface="+mn-ea"/>
                    <a:cs typeface="+mn-cs"/>
                  </a:rPr>
                  <a:t>高需求 × 弱竞争力​​</a:t>
                </a:r>
                <a:br/>
                <a:r>
                  <a:rPr lang="zh-CN" sz="750" dirty="0">
                    <a:solidFill>
                      <a:srgbClr val="473633"/>
                    </a:solidFill>
                    <a:latin typeface="+mn-lt"/>
                    <a:ea typeface="+mn-ea"/>
                    <a:cs typeface="+mn-cs"/>
                  </a:rPr>
                  <a:t>扩大份额，提升渗透</a:t>
                </a:r>
                <a:br/>
                <a:r>
                  <a:rPr lang="zh-CN" sz="750" dirty="0">
                    <a:solidFill>
                      <a:srgbClr val="473633"/>
                    </a:solidFill>
                    <a:latin typeface="+mn-lt"/>
                    <a:ea typeface="+mn-ea"/>
                    <a:cs typeface="+mn-cs"/>
                  </a:rPr>
                  <a:t>与客户深度</a:t>
                </a:r>
              </a:p>
            </p:txBody>
          </p:sp>
        </p:grpSp>
        <p:grpSp>
          <p:nvGrpSpPr>
            <p:cNvPr id="39" name="pm-nurture"/>
            <p:cNvGrpSpPr/>
            <p:nvPr/>
          </p:nvGrpSpPr>
          <p:grpSpPr>
            <a:xfrm>
              <a:off x="876300" y="2571750"/>
              <a:ext cx="1219200" cy="1200150"/>
              <a:chOff x="876300" y="2571750"/>
              <a:chExt cx="1219200" cy="1200150"/>
            </a:xfrm>
          </p:grpSpPr>
          <p:sp>
            <p:nvSpPr>
              <p:cNvPr id="32" name="Rectangle 32"/>
              <p:cNvSpPr/>
              <p:nvPr/>
            </p:nvSpPr>
            <p:spPr>
              <a:xfrm>
                <a:off x="876300" y="2571750"/>
                <a:ext cx="1219200" cy="1200150"/>
              </a:xfrm>
              <a:prstGeom prst="roundRect">
                <a:avLst>
                  <a:gd name="adj" fmla="val 3968"/>
                </a:avLst>
              </a:prstGeom>
              <a:solidFill>
                <a:srgbClr val="EAF3FE"/>
              </a:solidFill>
              <a:ln w="9525">
                <a:solidFill>
                  <a:srgbClr val="F7D1C9"/>
                </a:solidFill>
              </a:ln>
            </p:spPr>
          </p:sp>
          <p:grpSp>
            <p:nvGrpSpPr>
              <p:cNvPr id="36" name="Group 36"/>
              <p:cNvGrpSpPr/>
              <p:nvPr/>
            </p:nvGrpSpPr>
            <p:grpSpPr>
              <a:xfrm>
                <a:off x="992981" y="2707481"/>
                <a:ext cx="128588" cy="128587"/>
                <a:chOff x="992981" y="2707481"/>
                <a:chExt cx="128588" cy="128587"/>
              </a:xfrm>
            </p:grpSpPr>
            <p:sp>
              <p:nvSpPr>
                <p:cNvPr id="33" name="Freeform 33"/>
                <p:cNvSpPr/>
                <p:nvPr/>
              </p:nvSpPr>
              <p:spPr>
                <a:xfrm>
                  <a:off x="992981" y="2707481"/>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B92102"/>
                  </a:solidFill>
                </a:ln>
              </p:spPr>
            </p:sp>
            <p:sp>
              <p:nvSpPr>
                <p:cNvPr id="34" name="Freeform 34"/>
                <p:cNvSpPr/>
                <p:nvPr/>
              </p:nvSpPr>
              <p:spPr>
                <a:xfrm>
                  <a:off x="1018527" y="2736056"/>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B92102"/>
                  </a:solidFill>
                </a:ln>
              </p:spPr>
            </p:sp>
            <p:sp>
              <p:nvSpPr>
                <p:cNvPr id="35" name="Freeform 35"/>
                <p:cNvSpPr/>
                <p:nvPr/>
              </p:nvSpPr>
              <p:spPr>
                <a:xfrm>
                  <a:off x="1040844" y="2807494"/>
                  <a:ext cx="32861" cy="9525"/>
                </a:xfrm>
                <a:custGeom>
                  <a:avLst/>
                  <a:gdLst/>
                  <a:ahLst/>
                  <a:cxnLst/>
                  <a:rect l="l" t="t" r="r" b="b"/>
                  <a:pathLst>
                    <a:path w="32861" h="9525">
                      <a:moveTo>
                        <a:pt x="0" y="0"/>
                      </a:moveTo>
                      <a:lnTo>
                        <a:pt x="32861" y="0"/>
                      </a:lnTo>
                    </a:path>
                  </a:pathLst>
                </a:custGeom>
                <a:noFill/>
                <a:ln w="14288">
                  <a:solidFill>
                    <a:srgbClr val="B92102"/>
                  </a:solidFill>
                </a:ln>
              </p:spPr>
            </p:sp>
          </p:grpSp>
          <p:sp>
            <p:nvSpPr>
              <p:cNvPr id="37" name="TextBox 37"/>
              <p:cNvSpPr txBox="1"/>
              <p:nvPr/>
            </p:nvSpPr>
            <p:spPr>
              <a:xfrm>
                <a:off x="1195197" y="271414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培育产品</a:t>
                </a:r>
              </a:p>
            </p:txBody>
          </p:sp>
          <p:sp>
            <p:nvSpPr>
              <p:cNvPr id="38" name="TextBox 38"/>
              <p:cNvSpPr txBox="1"/>
              <p:nvPr/>
            </p:nvSpPr>
            <p:spPr>
              <a:xfrm>
                <a:off x="966788" y="2986088"/>
                <a:ext cx="1014412" cy="490538"/>
              </a:xfrm>
              <a:prstGeom prst="rect">
                <a:avLst/>
              </a:prstGeom>
              <a:noFill/>
              <a:ln>
                <a:noFill/>
              </a:ln>
            </p:spPr>
            <p:txBody>
              <a:bodyPr wrap="none" lIns="0" tIns="0" rIns="0" bIns="0" anchor="t" anchorCtr="0">
                <a:spAutoFit/>
              </a:bodyPr>
              <a:lstStyle/>
              <a:p>
                <a:pPr algn="l">
                  <a:lnSpc>
                    <a:spcPts val="1350"/>
                  </a:lnSpc>
                </a:pPr>
                <a:r>
                  <a:rPr lang="zh-CN" sz="750" dirty="0">
                    <a:solidFill>
                      <a:srgbClr val="473633"/>
                    </a:solidFill>
                    <a:latin typeface="+mn-lt"/>
                    <a:ea typeface="+mn-ea"/>
                    <a:cs typeface="+mn-cs"/>
                  </a:rPr>
                  <a:t>低需求 × 弱竞争力​​</a:t>
                </a:r>
                <a:br/>
                <a:r>
                  <a:rPr lang="zh-CN" sz="750" dirty="0">
                    <a:solidFill>
                      <a:srgbClr val="473633"/>
                    </a:solidFill>
                    <a:latin typeface="+mn-lt"/>
                    <a:ea typeface="+mn-ea"/>
                    <a:cs typeface="+mn-cs"/>
                  </a:rPr>
                  <a:t>市场培育与需求激发，​</a:t>
                </a:r>
                <a:br/>
                <a:r>
                  <a:rPr lang="zh-CN" sz="750" dirty="0">
                    <a:solidFill>
                      <a:srgbClr val="473633"/>
                    </a:solidFill>
                    <a:latin typeface="+mn-lt"/>
                    <a:ea typeface="+mn-ea"/>
                    <a:cs typeface="+mn-cs"/>
                  </a:rPr>
                  <a:t>验证场景与价值</a:t>
                </a:r>
              </a:p>
            </p:txBody>
          </p:sp>
        </p:grpSp>
        <p:grpSp>
          <p:nvGrpSpPr>
            <p:cNvPr id="46" name="pm-maintain"/>
            <p:cNvGrpSpPr/>
            <p:nvPr/>
          </p:nvGrpSpPr>
          <p:grpSpPr>
            <a:xfrm>
              <a:off x="2171700" y="2571750"/>
              <a:ext cx="1219200" cy="1200150"/>
              <a:chOff x="2171700" y="2571750"/>
              <a:chExt cx="1219200" cy="1200150"/>
            </a:xfrm>
          </p:grpSpPr>
          <p:sp>
            <p:nvSpPr>
              <p:cNvPr id="40" name="Rectangle 40"/>
              <p:cNvSpPr/>
              <p:nvPr/>
            </p:nvSpPr>
            <p:spPr>
              <a:xfrm>
                <a:off x="2171700" y="2571750"/>
                <a:ext cx="1219200" cy="1200150"/>
              </a:xfrm>
              <a:prstGeom prst="roundRect">
                <a:avLst>
                  <a:gd name="adj" fmla="val 3968"/>
                </a:avLst>
              </a:prstGeom>
              <a:solidFill>
                <a:srgbClr val="EAF3FE"/>
              </a:solidFill>
              <a:ln w="9525">
                <a:solidFill>
                  <a:srgbClr val="F7D1C9"/>
                </a:solidFill>
              </a:ln>
            </p:spPr>
          </p:sp>
          <p:grpSp>
            <p:nvGrpSpPr>
              <p:cNvPr id="43" name="Group 43"/>
              <p:cNvGrpSpPr/>
              <p:nvPr/>
            </p:nvGrpSpPr>
            <p:grpSpPr>
              <a:xfrm>
                <a:off x="2278740" y="2707481"/>
                <a:ext cx="139505" cy="128588"/>
                <a:chOff x="2278740" y="2707481"/>
                <a:chExt cx="139505" cy="128588"/>
              </a:xfrm>
            </p:grpSpPr>
            <p:sp>
              <p:nvSpPr>
                <p:cNvPr id="41" name="Freeform 41"/>
                <p:cNvSpPr/>
                <p:nvPr/>
              </p:nvSpPr>
              <p:spPr>
                <a:xfrm>
                  <a:off x="2278740" y="270748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B92102"/>
                  </a:solidFill>
                </a:ln>
              </p:spPr>
            </p:sp>
            <p:sp>
              <p:nvSpPr>
                <p:cNvPr id="42" name="Freeform 42"/>
                <p:cNvSpPr/>
                <p:nvPr/>
              </p:nvSpPr>
              <p:spPr>
                <a:xfrm>
                  <a:off x="2374106" y="2807494"/>
                  <a:ext cx="42862" cy="28575"/>
                </a:xfrm>
                <a:custGeom>
                  <a:avLst/>
                  <a:gdLst/>
                  <a:ahLst/>
                  <a:cxnLst/>
                  <a:rect l="l" t="t" r="r" b="b"/>
                  <a:pathLst>
                    <a:path w="42862" h="28575">
                      <a:moveTo>
                        <a:pt x="0" y="14288"/>
                      </a:moveTo>
                      <a:lnTo>
                        <a:pt x="14288" y="28575"/>
                      </a:lnTo>
                      <a:lnTo>
                        <a:pt x="42862" y="0"/>
                      </a:lnTo>
                    </a:path>
                  </a:pathLst>
                </a:custGeom>
                <a:noFill/>
                <a:ln w="14288">
                  <a:solidFill>
                    <a:srgbClr val="B92102"/>
                  </a:solidFill>
                </a:ln>
              </p:spPr>
            </p:sp>
          </p:grpSp>
          <p:sp>
            <p:nvSpPr>
              <p:cNvPr id="44" name="TextBox 44"/>
              <p:cNvSpPr txBox="1"/>
              <p:nvPr/>
            </p:nvSpPr>
            <p:spPr>
              <a:xfrm>
                <a:off x="2490597" y="271414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维护产品</a:t>
                </a:r>
              </a:p>
            </p:txBody>
          </p:sp>
          <p:sp>
            <p:nvSpPr>
              <p:cNvPr id="45" name="TextBox 45"/>
              <p:cNvSpPr txBox="1"/>
              <p:nvPr/>
            </p:nvSpPr>
            <p:spPr>
              <a:xfrm>
                <a:off x="2262188" y="2986088"/>
                <a:ext cx="1014412" cy="490538"/>
              </a:xfrm>
              <a:prstGeom prst="rect">
                <a:avLst/>
              </a:prstGeom>
              <a:noFill/>
              <a:ln>
                <a:noFill/>
              </a:ln>
            </p:spPr>
            <p:txBody>
              <a:bodyPr wrap="none" lIns="0" tIns="0" rIns="0" bIns="0" anchor="t" anchorCtr="0">
                <a:spAutoFit/>
              </a:bodyPr>
              <a:lstStyle/>
              <a:p>
                <a:pPr algn="l">
                  <a:lnSpc>
                    <a:spcPts val="1350"/>
                  </a:lnSpc>
                </a:pPr>
                <a:r>
                  <a:rPr lang="zh-CN" sz="750" dirty="0">
                    <a:solidFill>
                      <a:srgbClr val="473633"/>
                    </a:solidFill>
                    <a:latin typeface="+mn-lt"/>
                    <a:ea typeface="+mn-ea"/>
                    <a:cs typeface="+mn-cs"/>
                  </a:rPr>
                  <a:t>低需求 × 强竞争力​​</a:t>
                </a:r>
                <a:br/>
                <a:r>
                  <a:rPr lang="zh-CN" sz="750" dirty="0">
                    <a:solidFill>
                      <a:srgbClr val="473633"/>
                    </a:solidFill>
                    <a:latin typeface="+mn-lt"/>
                    <a:ea typeface="+mn-ea"/>
                    <a:cs typeface="+mn-cs"/>
                  </a:rPr>
                  <a:t>稳定份额，控制成本，​</a:t>
                </a:r>
                <a:br/>
                <a:r>
                  <a:rPr lang="zh-CN" sz="750" dirty="0">
                    <a:solidFill>
                      <a:srgbClr val="473633"/>
                    </a:solidFill>
                    <a:latin typeface="+mn-lt"/>
                    <a:ea typeface="+mn-ea"/>
                    <a:cs typeface="+mn-cs"/>
                  </a:rPr>
                  <a:t>巩固基础服务能力</a:t>
                </a:r>
              </a:p>
            </p:txBody>
          </p:sp>
        </p:grpSp>
      </p:grpSp>
      <p:grpSp>
        <p:nvGrpSpPr>
          <p:cNvPr id="151" name="solution-packs"/>
          <p:cNvGrpSpPr/>
          <p:nvPr/>
        </p:nvGrpSpPr>
        <p:grpSpPr>
          <a:xfrm>
            <a:off x="3771900" y="723900"/>
            <a:ext cx="4419600" cy="3371850"/>
            <a:chOff x="3771900" y="723900"/>
            <a:chExt cx="4419600" cy="3371850"/>
          </a:xfrm>
        </p:grpSpPr>
        <p:sp>
          <p:nvSpPr>
            <p:cNvPr id="48" name="Rectangle 48"/>
            <p:cNvSpPr/>
            <p:nvPr/>
          </p:nvSpPr>
          <p:spPr>
            <a:xfrm>
              <a:off x="3771900" y="723900"/>
              <a:ext cx="4419600" cy="3371850"/>
            </a:xfrm>
            <a:prstGeom prst="roundRect">
              <a:avLst>
                <a:gd name="adj" fmla="val 2260"/>
              </a:avLst>
            </a:prstGeom>
            <a:solidFill>
              <a:srgbClr val="FFFFFF"/>
            </a:solidFill>
            <a:ln w="9525">
              <a:solidFill>
                <a:srgbClr val="F7D1C9"/>
              </a:solidFill>
            </a:ln>
          </p:spPr>
        </p:sp>
        <p:sp>
          <p:nvSpPr>
            <p:cNvPr id="49" name="TextBox 49"/>
            <p:cNvSpPr txBox="1"/>
            <p:nvPr/>
          </p:nvSpPr>
          <p:spPr>
            <a:xfrm>
              <a:off x="4522041" y="858202"/>
              <a:ext cx="2919318" cy="205359"/>
            </a:xfrm>
            <a:prstGeom prst="rect">
              <a:avLst/>
            </a:prstGeom>
            <a:noFill/>
            <a:ln>
              <a:noFill/>
            </a:ln>
          </p:spPr>
          <p:txBody>
            <a:bodyPr wrap="none" lIns="0" tIns="0" rIns="0" bIns="0" anchor="t" anchorCtr="0">
              <a:spAutoFit/>
            </a:bodyPr>
            <a:lstStyle/>
            <a:p>
              <a:pPr algn="ctr"/>
              <a:r>
                <a:rPr lang="zh-CN" sz="1050" b="1" dirty="0">
                  <a:solidFill>
                    <a:srgbClr val="6E1604"/>
                  </a:solidFill>
                  <a:latin typeface="+mn-lt"/>
                  <a:ea typeface="+mn-ea"/>
                  <a:cs typeface="+mn-cs"/>
                </a:rPr>
                <a:t>三大解决方案包：按场景打包，提升综合价值​</a:t>
              </a:r>
            </a:p>
          </p:txBody>
        </p:sp>
        <p:grpSp>
          <p:nvGrpSpPr>
            <p:cNvPr id="89" name="pack-basic"/>
            <p:cNvGrpSpPr/>
            <p:nvPr/>
          </p:nvGrpSpPr>
          <p:grpSpPr>
            <a:xfrm>
              <a:off x="3905250" y="1123950"/>
              <a:ext cx="1333500" cy="2857500"/>
              <a:chOff x="3905250" y="1123950"/>
              <a:chExt cx="1333500" cy="2857500"/>
            </a:xfrm>
          </p:grpSpPr>
          <p:sp>
            <p:nvSpPr>
              <p:cNvPr id="50" name="Rectangle 50"/>
              <p:cNvSpPr/>
              <p:nvPr/>
            </p:nvSpPr>
            <p:spPr>
              <a:xfrm>
                <a:off x="3905250" y="1123950"/>
                <a:ext cx="1333500" cy="2857500"/>
              </a:xfrm>
              <a:prstGeom prst="roundRect">
                <a:avLst>
                  <a:gd name="adj" fmla="val 4286"/>
                </a:avLst>
              </a:prstGeom>
              <a:solidFill>
                <a:srgbClr val="F7FAFE"/>
              </a:solidFill>
              <a:ln w="9525">
                <a:solidFill>
                  <a:srgbClr val="DCE6F8"/>
                </a:solidFill>
              </a:ln>
            </p:spPr>
          </p:sp>
          <p:sp>
            <p:nvSpPr>
              <p:cNvPr id="51" name="Rectangle 51"/>
              <p:cNvSpPr/>
              <p:nvPr/>
            </p:nvSpPr>
            <p:spPr>
              <a:xfrm>
                <a:off x="4057650" y="1219200"/>
                <a:ext cx="1028700" cy="228600"/>
              </a:xfrm>
              <a:prstGeom prst="roundRect">
                <a:avLst>
                  <a:gd name="adj" fmla="val 25000"/>
                </a:avLst>
              </a:prstGeom>
              <a:solidFill>
                <a:srgbClr val="B92102"/>
              </a:solidFill>
              <a:ln>
                <a:noFill/>
              </a:ln>
            </p:spPr>
          </p:sp>
          <p:sp>
            <p:nvSpPr>
              <p:cNvPr id="52" name="TextBox 52"/>
              <p:cNvSpPr txBox="1"/>
              <p:nvPr/>
            </p:nvSpPr>
            <p:spPr>
              <a:xfrm>
                <a:off x="4250880" y="1279922"/>
                <a:ext cx="6422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基础金融包</a:t>
                </a:r>
              </a:p>
            </p:txBody>
          </p:sp>
          <p:sp>
            <p:nvSpPr>
              <p:cNvPr id="53" name="Ellipse 53"/>
              <p:cNvSpPr/>
              <p:nvPr/>
            </p:nvSpPr>
            <p:spPr>
              <a:xfrm>
                <a:off x="4400550" y="1543050"/>
                <a:ext cx="342900" cy="342900"/>
              </a:xfrm>
              <a:prstGeom prst="ellipse">
                <a:avLst/>
              </a:prstGeom>
              <a:solidFill>
                <a:srgbClr val="EAF3FE"/>
              </a:solidFill>
              <a:ln w="9525">
                <a:solidFill>
                  <a:srgbClr val="E3907F"/>
                </a:solidFill>
              </a:ln>
            </p:spPr>
          </p:sp>
          <p:grpSp>
            <p:nvGrpSpPr>
              <p:cNvPr id="62" name="Group 62"/>
              <p:cNvGrpSpPr/>
              <p:nvPr/>
            </p:nvGrpSpPr>
            <p:grpSpPr>
              <a:xfrm>
                <a:off x="4493419" y="1635919"/>
                <a:ext cx="157956" cy="166687"/>
                <a:chOff x="4493419" y="1635919"/>
                <a:chExt cx="157956" cy="166687"/>
              </a:xfrm>
            </p:grpSpPr>
            <p:sp>
              <p:nvSpPr>
                <p:cNvPr id="54" name="Freeform 54"/>
                <p:cNvSpPr/>
                <p:nvPr/>
              </p:nvSpPr>
              <p:spPr>
                <a:xfrm>
                  <a:off x="4493419" y="1793081"/>
                  <a:ext cx="157163" cy="9525"/>
                </a:xfrm>
                <a:custGeom>
                  <a:avLst/>
                  <a:gdLst/>
                  <a:ahLst/>
                  <a:cxnLst/>
                  <a:rect l="l" t="t" r="r" b="b"/>
                  <a:pathLst>
                    <a:path w="157163" h="9525">
                      <a:moveTo>
                        <a:pt x="0" y="0"/>
                      </a:moveTo>
                      <a:lnTo>
                        <a:pt x="157163" y="0"/>
                      </a:lnTo>
                    </a:path>
                  </a:pathLst>
                </a:custGeom>
                <a:noFill/>
                <a:ln w="17463">
                  <a:solidFill>
                    <a:srgbClr val="B92102"/>
                  </a:solidFill>
                </a:ln>
              </p:spPr>
            </p:sp>
            <p:sp>
              <p:nvSpPr>
                <p:cNvPr id="55" name="Freeform 55"/>
                <p:cNvSpPr/>
                <p:nvPr/>
              </p:nvSpPr>
              <p:spPr>
                <a:xfrm>
                  <a:off x="4493419" y="1697038"/>
                  <a:ext cx="157163" cy="9525"/>
                </a:xfrm>
                <a:custGeom>
                  <a:avLst/>
                  <a:gdLst/>
                  <a:ahLst/>
                  <a:cxnLst/>
                  <a:rect l="l" t="t" r="r" b="b"/>
                  <a:pathLst>
                    <a:path w="157163" h="9525">
                      <a:moveTo>
                        <a:pt x="0" y="0"/>
                      </a:moveTo>
                      <a:lnTo>
                        <a:pt x="157163" y="0"/>
                      </a:lnTo>
                    </a:path>
                  </a:pathLst>
                </a:custGeom>
                <a:noFill/>
                <a:ln w="17463">
                  <a:solidFill>
                    <a:srgbClr val="B92102"/>
                  </a:solidFill>
                </a:ln>
              </p:spPr>
            </p:sp>
            <p:sp>
              <p:nvSpPr>
                <p:cNvPr id="56" name="Freeform 56"/>
                <p:cNvSpPr/>
                <p:nvPr/>
              </p:nvSpPr>
              <p:spPr>
                <a:xfrm>
                  <a:off x="4510881" y="1635919"/>
                  <a:ext cx="122238" cy="26194"/>
                </a:xfrm>
                <a:custGeom>
                  <a:avLst/>
                  <a:gdLst/>
                  <a:ahLst/>
                  <a:cxnLst/>
                  <a:rect l="l" t="t" r="r" b="b"/>
                  <a:pathLst>
                    <a:path w="122238" h="26194">
                      <a:moveTo>
                        <a:pt x="0" y="26194"/>
                      </a:moveTo>
                      <a:lnTo>
                        <a:pt x="61119" y="0"/>
                      </a:lnTo>
                      <a:lnTo>
                        <a:pt x="122238" y="26194"/>
                      </a:lnTo>
                    </a:path>
                  </a:pathLst>
                </a:custGeom>
                <a:noFill/>
                <a:ln w="17463">
                  <a:solidFill>
                    <a:srgbClr val="B92102"/>
                  </a:solidFill>
                </a:ln>
              </p:spPr>
            </p:sp>
            <p:sp>
              <p:nvSpPr>
                <p:cNvPr id="57" name="Freeform 57"/>
                <p:cNvSpPr/>
                <p:nvPr/>
              </p:nvSpPr>
              <p:spPr>
                <a:xfrm>
                  <a:off x="4502150" y="1697038"/>
                  <a:ext cx="9525" cy="96044"/>
                </a:xfrm>
                <a:custGeom>
                  <a:avLst/>
                  <a:gdLst/>
                  <a:ahLst/>
                  <a:cxnLst/>
                  <a:rect l="l" t="t" r="r" b="b"/>
                  <a:pathLst>
                    <a:path w="9525" h="96044">
                      <a:moveTo>
                        <a:pt x="0" y="0"/>
                      </a:moveTo>
                      <a:lnTo>
                        <a:pt x="0" y="96044"/>
                      </a:lnTo>
                    </a:path>
                  </a:pathLst>
                </a:custGeom>
                <a:noFill/>
                <a:ln w="17463">
                  <a:solidFill>
                    <a:srgbClr val="B92102"/>
                  </a:solidFill>
                </a:ln>
              </p:spPr>
            </p:sp>
            <p:sp>
              <p:nvSpPr>
                <p:cNvPr id="58" name="Freeform 58"/>
                <p:cNvSpPr/>
                <p:nvPr/>
              </p:nvSpPr>
              <p:spPr>
                <a:xfrm>
                  <a:off x="4641850" y="1697038"/>
                  <a:ext cx="9525" cy="96044"/>
                </a:xfrm>
                <a:custGeom>
                  <a:avLst/>
                  <a:gdLst/>
                  <a:ahLst/>
                  <a:cxnLst/>
                  <a:rect l="l" t="t" r="r" b="b"/>
                  <a:pathLst>
                    <a:path w="9525" h="96044">
                      <a:moveTo>
                        <a:pt x="0" y="0"/>
                      </a:moveTo>
                      <a:lnTo>
                        <a:pt x="0" y="96044"/>
                      </a:lnTo>
                    </a:path>
                  </a:pathLst>
                </a:custGeom>
                <a:noFill/>
                <a:ln w="17463">
                  <a:solidFill>
                    <a:srgbClr val="B92102"/>
                  </a:solidFill>
                </a:ln>
              </p:spPr>
            </p:sp>
            <p:sp>
              <p:nvSpPr>
                <p:cNvPr id="59" name="Freeform 59"/>
                <p:cNvSpPr/>
                <p:nvPr/>
              </p:nvSpPr>
              <p:spPr>
                <a:xfrm>
                  <a:off x="4537075" y="1731963"/>
                  <a:ext cx="9525" cy="26194"/>
                </a:xfrm>
                <a:custGeom>
                  <a:avLst/>
                  <a:gdLst/>
                  <a:ahLst/>
                  <a:cxnLst/>
                  <a:rect l="l" t="t" r="r" b="b"/>
                  <a:pathLst>
                    <a:path w="9525" h="26194">
                      <a:moveTo>
                        <a:pt x="0" y="0"/>
                      </a:moveTo>
                      <a:lnTo>
                        <a:pt x="0" y="26194"/>
                      </a:lnTo>
                    </a:path>
                  </a:pathLst>
                </a:custGeom>
                <a:noFill/>
                <a:ln w="17463">
                  <a:solidFill>
                    <a:srgbClr val="B92102"/>
                  </a:solidFill>
                </a:ln>
              </p:spPr>
            </p:sp>
            <p:sp>
              <p:nvSpPr>
                <p:cNvPr id="60" name="Freeform 60"/>
                <p:cNvSpPr/>
                <p:nvPr/>
              </p:nvSpPr>
              <p:spPr>
                <a:xfrm>
                  <a:off x="4572000" y="1731963"/>
                  <a:ext cx="9525" cy="26194"/>
                </a:xfrm>
                <a:custGeom>
                  <a:avLst/>
                  <a:gdLst/>
                  <a:ahLst/>
                  <a:cxnLst/>
                  <a:rect l="l" t="t" r="r" b="b"/>
                  <a:pathLst>
                    <a:path w="9525" h="26194">
                      <a:moveTo>
                        <a:pt x="0" y="0"/>
                      </a:moveTo>
                      <a:lnTo>
                        <a:pt x="0" y="26194"/>
                      </a:lnTo>
                    </a:path>
                  </a:pathLst>
                </a:custGeom>
                <a:noFill/>
                <a:ln w="17463">
                  <a:solidFill>
                    <a:srgbClr val="B92102"/>
                  </a:solidFill>
                </a:ln>
              </p:spPr>
            </p:sp>
            <p:sp>
              <p:nvSpPr>
                <p:cNvPr id="61" name="Freeform 61"/>
                <p:cNvSpPr/>
                <p:nvPr/>
              </p:nvSpPr>
              <p:spPr>
                <a:xfrm>
                  <a:off x="4606925" y="1731963"/>
                  <a:ext cx="9525" cy="26194"/>
                </a:xfrm>
                <a:custGeom>
                  <a:avLst/>
                  <a:gdLst/>
                  <a:ahLst/>
                  <a:cxnLst/>
                  <a:rect l="l" t="t" r="r" b="b"/>
                  <a:pathLst>
                    <a:path w="9525" h="26194">
                      <a:moveTo>
                        <a:pt x="0" y="0"/>
                      </a:moveTo>
                      <a:lnTo>
                        <a:pt x="0" y="26194"/>
                      </a:lnTo>
                    </a:path>
                  </a:pathLst>
                </a:custGeom>
                <a:noFill/>
                <a:ln w="17463">
                  <a:solidFill>
                    <a:srgbClr val="B92102"/>
                  </a:solidFill>
                </a:ln>
              </p:spPr>
            </p:sp>
          </p:grpSp>
          <p:grpSp>
            <p:nvGrpSpPr>
              <p:cNvPr id="67" name="Group 67"/>
              <p:cNvGrpSpPr/>
              <p:nvPr/>
            </p:nvGrpSpPr>
            <p:grpSpPr>
              <a:xfrm>
                <a:off x="4060031" y="2055019"/>
                <a:ext cx="128588" cy="100012"/>
                <a:chOff x="4060031" y="2055019"/>
                <a:chExt cx="128588" cy="100012"/>
              </a:xfrm>
            </p:grpSpPr>
            <p:sp>
              <p:nvSpPr>
                <p:cNvPr id="63" name="Freeform 63"/>
                <p:cNvSpPr/>
                <p:nvPr/>
              </p:nvSpPr>
              <p:spPr>
                <a:xfrm>
                  <a:off x="4060031" y="2055019"/>
                  <a:ext cx="128588" cy="100012"/>
                </a:xfrm>
                <a:custGeom>
                  <a:avLst/>
                  <a:gdLst/>
                  <a:ahLst/>
                  <a:cxnLst/>
                  <a:rect l="l" t="t" r="r" b="b"/>
                  <a:pathLst>
                    <a:path w="128588" h="100012">
                      <a:moveTo>
                        <a:pt x="0" y="21431"/>
                      </a:moveTo>
                      <a:cubicBezTo>
                        <a:pt x="0" y="9595"/>
                        <a:pt x="9595" y="0"/>
                        <a:pt x="21431" y="0"/>
                      </a:cubicBezTo>
                      <a:lnTo>
                        <a:pt x="107156" y="0"/>
                      </a:lnTo>
                      <a:cubicBezTo>
                        <a:pt x="118992" y="0"/>
                        <a:pt x="128588" y="9595"/>
                        <a:pt x="128588" y="21431"/>
                      </a:cubicBezTo>
                      <a:lnTo>
                        <a:pt x="128588" y="78581"/>
                      </a:lnTo>
                      <a:cubicBezTo>
                        <a:pt x="128588" y="90417"/>
                        <a:pt x="118992" y="100012"/>
                        <a:pt x="107156" y="100012"/>
                      </a:cubicBezTo>
                      <a:lnTo>
                        <a:pt x="21431" y="100012"/>
                      </a:lnTo>
                      <a:cubicBezTo>
                        <a:pt x="9595" y="100012"/>
                        <a:pt x="0" y="90417"/>
                        <a:pt x="0" y="78581"/>
                      </a:cubicBezTo>
                      <a:lnTo>
                        <a:pt x="0" y="21431"/>
                      </a:lnTo>
                    </a:path>
                  </a:pathLst>
                </a:custGeom>
                <a:noFill/>
                <a:ln w="14288">
                  <a:solidFill>
                    <a:srgbClr val="B92102"/>
                  </a:solidFill>
                </a:ln>
              </p:spPr>
            </p:sp>
            <p:sp>
              <p:nvSpPr>
                <p:cNvPr id="64" name="Freeform 64"/>
                <p:cNvSpPr/>
                <p:nvPr/>
              </p:nvSpPr>
              <p:spPr>
                <a:xfrm>
                  <a:off x="4060031" y="2090738"/>
                  <a:ext cx="128588" cy="9525"/>
                </a:xfrm>
                <a:custGeom>
                  <a:avLst/>
                  <a:gdLst/>
                  <a:ahLst/>
                  <a:cxnLst/>
                  <a:rect l="l" t="t" r="r" b="b"/>
                  <a:pathLst>
                    <a:path w="128588" h="9525">
                      <a:moveTo>
                        <a:pt x="0" y="0"/>
                      </a:moveTo>
                      <a:lnTo>
                        <a:pt x="128588" y="0"/>
                      </a:lnTo>
                    </a:path>
                  </a:pathLst>
                </a:custGeom>
                <a:noFill/>
                <a:ln w="14288">
                  <a:solidFill>
                    <a:srgbClr val="B92102"/>
                  </a:solidFill>
                </a:ln>
              </p:spPr>
            </p:sp>
            <p:sp>
              <p:nvSpPr>
                <p:cNvPr id="65" name="Freeform 65"/>
                <p:cNvSpPr/>
                <p:nvPr/>
              </p:nvSpPr>
              <p:spPr>
                <a:xfrm>
                  <a:off x="4088606" y="2126456"/>
                  <a:ext cx="9525" cy="9525"/>
                </a:xfrm>
                <a:custGeom>
                  <a:avLst/>
                  <a:gdLst/>
                  <a:ahLst/>
                  <a:cxnLst/>
                  <a:rect l="l" t="t" r="r" b="b"/>
                  <a:pathLst>
                    <a:path w="9525" h="9525">
                      <a:moveTo>
                        <a:pt x="0" y="0"/>
                      </a:moveTo>
                      <a:lnTo>
                        <a:pt x="71" y="0"/>
                      </a:lnTo>
                    </a:path>
                  </a:pathLst>
                </a:custGeom>
                <a:noFill/>
                <a:ln w="14288">
                  <a:solidFill>
                    <a:srgbClr val="B92102"/>
                  </a:solidFill>
                </a:ln>
              </p:spPr>
            </p:sp>
            <p:sp>
              <p:nvSpPr>
                <p:cNvPr id="66" name="Freeform 66"/>
                <p:cNvSpPr/>
                <p:nvPr/>
              </p:nvSpPr>
              <p:spPr>
                <a:xfrm>
                  <a:off x="4117181" y="2126456"/>
                  <a:ext cx="14288" cy="9525"/>
                </a:xfrm>
                <a:custGeom>
                  <a:avLst/>
                  <a:gdLst/>
                  <a:ahLst/>
                  <a:cxnLst/>
                  <a:rect l="l" t="t" r="r" b="b"/>
                  <a:pathLst>
                    <a:path w="14288" h="9525">
                      <a:moveTo>
                        <a:pt x="0" y="0"/>
                      </a:moveTo>
                      <a:lnTo>
                        <a:pt x="14288" y="0"/>
                      </a:lnTo>
                    </a:path>
                  </a:pathLst>
                </a:custGeom>
                <a:noFill/>
                <a:ln w="14288">
                  <a:solidFill>
                    <a:srgbClr val="B92102"/>
                  </a:solidFill>
                </a:ln>
              </p:spPr>
            </p:sp>
          </p:grpSp>
          <p:sp>
            <p:nvSpPr>
              <p:cNvPr id="68" name="TextBox 68"/>
              <p:cNvSpPr txBox="1"/>
              <p:nvPr/>
            </p:nvSpPr>
            <p:spPr>
              <a:xfrm>
                <a:off x="4281488" y="2055495"/>
                <a:ext cx="494157"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账户结算</a:t>
                </a:r>
              </a:p>
            </p:txBody>
          </p:sp>
          <p:grpSp>
            <p:nvGrpSpPr>
              <p:cNvPr id="74" name="Group 74"/>
              <p:cNvGrpSpPr/>
              <p:nvPr/>
            </p:nvGrpSpPr>
            <p:grpSpPr>
              <a:xfrm>
                <a:off x="4060031" y="2325524"/>
                <a:ext cx="128588" cy="129544"/>
                <a:chOff x="4060031" y="2325524"/>
                <a:chExt cx="128588" cy="129544"/>
              </a:xfrm>
            </p:grpSpPr>
            <p:sp>
              <p:nvSpPr>
                <p:cNvPr id="69" name="Freeform 69"/>
                <p:cNvSpPr/>
                <p:nvPr/>
              </p:nvSpPr>
              <p:spPr>
                <a:xfrm>
                  <a:off x="4102894" y="238363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B92102"/>
                  </a:solidFill>
                </a:ln>
              </p:spPr>
            </p:sp>
            <p:sp>
              <p:nvSpPr>
                <p:cNvPr id="70" name="Freeform 70"/>
                <p:cNvSpPr/>
                <p:nvPr/>
              </p:nvSpPr>
              <p:spPr>
                <a:xfrm>
                  <a:off x="4102894" y="240506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B92102"/>
                  </a:solidFill>
                </a:ln>
              </p:spPr>
            </p:sp>
            <p:sp>
              <p:nvSpPr>
                <p:cNvPr id="71" name="Freeform 71"/>
                <p:cNvSpPr/>
                <p:nvPr/>
              </p:nvSpPr>
              <p:spPr>
                <a:xfrm>
                  <a:off x="4060031" y="232552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B92102"/>
                  </a:solidFill>
                </a:ln>
              </p:spPr>
            </p:sp>
            <p:sp>
              <p:nvSpPr>
                <p:cNvPr id="72" name="Freeform 72"/>
                <p:cNvSpPr/>
                <p:nvPr/>
              </p:nvSpPr>
              <p:spPr>
                <a:xfrm>
                  <a:off x="4060031" y="234791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B92102"/>
                  </a:solidFill>
                </a:ln>
              </p:spPr>
            </p:sp>
            <p:sp>
              <p:nvSpPr>
                <p:cNvPr id="73" name="Freeform 73"/>
                <p:cNvSpPr/>
                <p:nvPr/>
              </p:nvSpPr>
              <p:spPr>
                <a:xfrm>
                  <a:off x="4060031" y="238363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B92102"/>
                  </a:solidFill>
                </a:ln>
              </p:spPr>
            </p:sp>
          </p:grpSp>
          <p:sp>
            <p:nvSpPr>
              <p:cNvPr id="75" name="TextBox 75"/>
              <p:cNvSpPr txBox="1"/>
              <p:nvPr/>
            </p:nvSpPr>
            <p:spPr>
              <a:xfrm>
                <a:off x="4281488" y="2341245"/>
                <a:ext cx="494157"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融资服务</a:t>
                </a:r>
              </a:p>
            </p:txBody>
          </p:sp>
          <p:grpSp>
            <p:nvGrpSpPr>
              <p:cNvPr id="78" name="Group 78"/>
              <p:cNvGrpSpPr/>
              <p:nvPr/>
            </p:nvGrpSpPr>
            <p:grpSpPr>
              <a:xfrm>
                <a:off x="4067175" y="2619375"/>
                <a:ext cx="114299" cy="114300"/>
                <a:chOff x="4067175" y="2619375"/>
                <a:chExt cx="114299" cy="114300"/>
              </a:xfrm>
            </p:grpSpPr>
            <p:sp>
              <p:nvSpPr>
                <p:cNvPr id="76" name="Freeform 76"/>
                <p:cNvSpPr/>
                <p:nvPr/>
              </p:nvSpPr>
              <p:spPr>
                <a:xfrm>
                  <a:off x="4067175" y="2619375"/>
                  <a:ext cx="107156" cy="114300"/>
                </a:xfrm>
                <a:custGeom>
                  <a:avLst/>
                  <a:gdLst/>
                  <a:ahLst/>
                  <a:cxnLst/>
                  <a:rect l="l" t="t" r="r" b="b"/>
                  <a:pathLst>
                    <a:path w="107156" h="114300">
                      <a:moveTo>
                        <a:pt x="92869" y="28575"/>
                      </a:moveTo>
                      <a:lnTo>
                        <a:pt x="92869" y="7144"/>
                      </a:lnTo>
                      <a:cubicBezTo>
                        <a:pt x="92869" y="3198"/>
                        <a:pt x="89670" y="0"/>
                        <a:pt x="85725" y="0"/>
                      </a:cubicBezTo>
                      <a:lnTo>
                        <a:pt x="14288" y="0"/>
                      </a:lnTo>
                      <a:cubicBezTo>
                        <a:pt x="6397" y="0"/>
                        <a:pt x="0" y="6397"/>
                        <a:pt x="0" y="14288"/>
                      </a:cubicBezTo>
                      <a:cubicBezTo>
                        <a:pt x="0" y="22178"/>
                        <a:pt x="6397" y="28575"/>
                        <a:pt x="14288" y="28575"/>
                      </a:cubicBezTo>
                      <a:lnTo>
                        <a:pt x="100012" y="28575"/>
                      </a:lnTo>
                      <a:cubicBezTo>
                        <a:pt x="103958" y="28575"/>
                        <a:pt x="107156" y="31773"/>
                        <a:pt x="107156" y="35719"/>
                      </a:cubicBezTo>
                      <a:lnTo>
                        <a:pt x="107156" y="57150"/>
                      </a:lnTo>
                      <a:moveTo>
                        <a:pt x="107156" y="85725"/>
                      </a:moveTo>
                      <a:lnTo>
                        <a:pt x="107156" y="107156"/>
                      </a:lnTo>
                      <a:cubicBezTo>
                        <a:pt x="107156" y="111102"/>
                        <a:pt x="103958" y="114300"/>
                        <a:pt x="100012" y="114300"/>
                      </a:cubicBezTo>
                      <a:lnTo>
                        <a:pt x="14288" y="114300"/>
                      </a:lnTo>
                      <a:cubicBezTo>
                        <a:pt x="6397" y="114300"/>
                        <a:pt x="0" y="107903"/>
                        <a:pt x="0" y="100012"/>
                      </a:cubicBezTo>
                      <a:lnTo>
                        <a:pt x="0" y="14288"/>
                      </a:lnTo>
                    </a:path>
                  </a:pathLst>
                </a:custGeom>
                <a:noFill/>
                <a:ln w="14288">
                  <a:solidFill>
                    <a:srgbClr val="B92102"/>
                  </a:solidFill>
                </a:ln>
              </p:spPr>
            </p:sp>
            <p:sp>
              <p:nvSpPr>
                <p:cNvPr id="77" name="Freeform 77"/>
                <p:cNvSpPr/>
                <p:nvPr/>
              </p:nvSpPr>
              <p:spPr>
                <a:xfrm>
                  <a:off x="4138612" y="2676525"/>
                  <a:ext cx="42862" cy="28575"/>
                </a:xfrm>
                <a:custGeom>
                  <a:avLst/>
                  <a:gdLst/>
                  <a:ahLst/>
                  <a:cxnLst/>
                  <a:rect l="l" t="t" r="r" b="b"/>
                  <a:pathLst>
                    <a:path w="42862" h="28575">
                      <a:moveTo>
                        <a:pt x="42862" y="0"/>
                      </a:moveTo>
                      <a:lnTo>
                        <a:pt x="42862" y="28575"/>
                      </a:lnTo>
                      <a:lnTo>
                        <a:pt x="14288" y="28575"/>
                      </a:lnTo>
                      <a:cubicBezTo>
                        <a:pt x="6397" y="28575"/>
                        <a:pt x="0" y="22178"/>
                        <a:pt x="0" y="14288"/>
                      </a:cubicBezTo>
                      <a:cubicBezTo>
                        <a:pt x="0" y="6397"/>
                        <a:pt x="6397" y="0"/>
                        <a:pt x="14288" y="0"/>
                      </a:cubicBezTo>
                      <a:lnTo>
                        <a:pt x="42862" y="0"/>
                      </a:lnTo>
                    </a:path>
                  </a:pathLst>
                </a:custGeom>
                <a:noFill/>
                <a:ln w="14288">
                  <a:solidFill>
                    <a:srgbClr val="B92102"/>
                  </a:solidFill>
                </a:ln>
              </p:spPr>
            </p:sp>
          </p:grpSp>
          <p:sp>
            <p:nvSpPr>
              <p:cNvPr id="79" name="TextBox 79"/>
              <p:cNvSpPr txBox="1"/>
              <p:nvPr/>
            </p:nvSpPr>
            <p:spPr>
              <a:xfrm>
                <a:off x="4281488" y="2626995"/>
                <a:ext cx="494157"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现金管理</a:t>
                </a:r>
              </a:p>
            </p:txBody>
          </p:sp>
          <p:grpSp>
            <p:nvGrpSpPr>
              <p:cNvPr id="85" name="Group 85"/>
              <p:cNvGrpSpPr/>
              <p:nvPr/>
            </p:nvGrpSpPr>
            <p:grpSpPr>
              <a:xfrm>
                <a:off x="4074319" y="2897981"/>
                <a:ext cx="100012" cy="128588"/>
                <a:chOff x="4074319" y="2897981"/>
                <a:chExt cx="100012" cy="128588"/>
              </a:xfrm>
            </p:grpSpPr>
            <p:sp>
              <p:nvSpPr>
                <p:cNvPr id="80" name="Freeform 80"/>
                <p:cNvSpPr/>
                <p:nvPr/>
              </p:nvSpPr>
              <p:spPr>
                <a:xfrm>
                  <a:off x="4138612" y="28979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B92102"/>
                  </a:solidFill>
                </a:ln>
              </p:spPr>
            </p:sp>
            <p:sp>
              <p:nvSpPr>
                <p:cNvPr id="81" name="Freeform 81"/>
                <p:cNvSpPr/>
                <p:nvPr/>
              </p:nvSpPr>
              <p:spPr>
                <a:xfrm>
                  <a:off x="4074319" y="28979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B92102"/>
                  </a:solidFill>
                </a:ln>
              </p:spPr>
            </p:sp>
            <p:sp>
              <p:nvSpPr>
                <p:cNvPr id="82" name="Freeform 82"/>
                <p:cNvSpPr/>
                <p:nvPr/>
              </p:nvSpPr>
              <p:spPr>
                <a:xfrm>
                  <a:off x="4102894" y="2940844"/>
                  <a:ext cx="9525" cy="9525"/>
                </a:xfrm>
                <a:custGeom>
                  <a:avLst/>
                  <a:gdLst/>
                  <a:ahLst/>
                  <a:cxnLst/>
                  <a:rect l="l" t="t" r="r" b="b"/>
                  <a:pathLst>
                    <a:path w="9525" h="9525">
                      <a:moveTo>
                        <a:pt x="0" y="0"/>
                      </a:moveTo>
                      <a:lnTo>
                        <a:pt x="7144" y="0"/>
                      </a:lnTo>
                    </a:path>
                  </a:pathLst>
                </a:custGeom>
                <a:noFill/>
                <a:ln w="14288">
                  <a:solidFill>
                    <a:srgbClr val="B92102"/>
                  </a:solidFill>
                </a:ln>
              </p:spPr>
            </p:sp>
            <p:sp>
              <p:nvSpPr>
                <p:cNvPr id="83" name="Freeform 83"/>
                <p:cNvSpPr/>
                <p:nvPr/>
              </p:nvSpPr>
              <p:spPr>
                <a:xfrm>
                  <a:off x="4102894" y="2969419"/>
                  <a:ext cx="42862" cy="9525"/>
                </a:xfrm>
                <a:custGeom>
                  <a:avLst/>
                  <a:gdLst/>
                  <a:ahLst/>
                  <a:cxnLst/>
                  <a:rect l="l" t="t" r="r" b="b"/>
                  <a:pathLst>
                    <a:path w="42862" h="9525">
                      <a:moveTo>
                        <a:pt x="0" y="0"/>
                      </a:moveTo>
                      <a:lnTo>
                        <a:pt x="42862" y="0"/>
                      </a:lnTo>
                    </a:path>
                  </a:pathLst>
                </a:custGeom>
                <a:noFill/>
                <a:ln w="14288">
                  <a:solidFill>
                    <a:srgbClr val="B92102"/>
                  </a:solidFill>
                </a:ln>
              </p:spPr>
            </p:sp>
            <p:sp>
              <p:nvSpPr>
                <p:cNvPr id="84" name="Freeform 84"/>
                <p:cNvSpPr/>
                <p:nvPr/>
              </p:nvSpPr>
              <p:spPr>
                <a:xfrm>
                  <a:off x="4102894" y="2997994"/>
                  <a:ext cx="42862" cy="9525"/>
                </a:xfrm>
                <a:custGeom>
                  <a:avLst/>
                  <a:gdLst/>
                  <a:ahLst/>
                  <a:cxnLst/>
                  <a:rect l="l" t="t" r="r" b="b"/>
                  <a:pathLst>
                    <a:path w="42862" h="9525">
                      <a:moveTo>
                        <a:pt x="0" y="0"/>
                      </a:moveTo>
                      <a:lnTo>
                        <a:pt x="42862" y="0"/>
                      </a:lnTo>
                    </a:path>
                  </a:pathLst>
                </a:custGeom>
                <a:noFill/>
                <a:ln w="14288">
                  <a:solidFill>
                    <a:srgbClr val="B92102"/>
                  </a:solidFill>
                </a:ln>
              </p:spPr>
            </p:sp>
          </p:grpSp>
          <p:sp>
            <p:nvSpPr>
              <p:cNvPr id="86" name="TextBox 86"/>
              <p:cNvSpPr txBox="1"/>
              <p:nvPr/>
            </p:nvSpPr>
            <p:spPr>
              <a:xfrm>
                <a:off x="4281488" y="2912745"/>
                <a:ext cx="494157"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票据服务</a:t>
                </a:r>
              </a:p>
            </p:txBody>
          </p:sp>
          <p:sp>
            <p:nvSpPr>
              <p:cNvPr id="87" name="Line 87"/>
              <p:cNvSpPr/>
              <p:nvPr/>
            </p:nvSpPr>
            <p:spPr>
              <a:xfrm>
                <a:off x="4038600" y="3200400"/>
                <a:ext cx="1066800" cy="9525"/>
              </a:xfrm>
              <a:custGeom>
                <a:avLst/>
                <a:gdLst/>
                <a:ahLst/>
                <a:cxnLst/>
                <a:rect l="l" t="t" r="r" b="b"/>
                <a:pathLst>
                  <a:path w="1066800" h="9525">
                    <a:moveTo>
                      <a:pt x="0" y="0"/>
                    </a:moveTo>
                    <a:lnTo>
                      <a:pt x="1066800" y="0"/>
                    </a:lnTo>
                  </a:path>
                </a:pathLst>
              </a:custGeom>
              <a:noFill/>
              <a:ln w="9525">
                <a:solidFill>
                  <a:srgbClr val="DCE6F8"/>
                </a:solidFill>
              </a:ln>
            </p:spPr>
          </p:sp>
          <p:sp>
            <p:nvSpPr>
              <p:cNvPr id="88" name="TextBox 88"/>
              <p:cNvSpPr txBox="1"/>
              <p:nvPr/>
            </p:nvSpPr>
            <p:spPr>
              <a:xfrm>
                <a:off x="4138612" y="3328988"/>
                <a:ext cx="866775" cy="433388"/>
              </a:xfrm>
              <a:prstGeom prst="rect">
                <a:avLst/>
              </a:prstGeom>
              <a:noFill/>
              <a:ln>
                <a:noFill/>
              </a:ln>
            </p:spPr>
            <p:txBody>
              <a:bodyPr wrap="none" lIns="0" tIns="0" rIns="0" bIns="0" anchor="t" anchorCtr="0">
                <a:spAutoFit/>
              </a:bodyPr>
              <a:lstStyle/>
              <a:p>
                <a:pPr algn="ctr">
                  <a:lnSpc>
                    <a:spcPts val="1125"/>
                  </a:lnSpc>
                </a:pPr>
                <a:r>
                  <a:rPr lang="zh-CN" sz="750" dirty="0">
                    <a:solidFill>
                      <a:srgbClr val="6B7280"/>
                    </a:solidFill>
                    <a:latin typeface="+mn-lt"/>
                    <a:ea typeface="+mn-ea"/>
                    <a:cs typeface="+mn-cs"/>
                  </a:rPr>
                  <a:t>满足客户日常经营</a:t>
                </a:r>
                <a:br/>
                <a:r>
                  <a:rPr lang="zh-CN" sz="750" dirty="0">
                    <a:solidFill>
                      <a:srgbClr val="6B7280"/>
                    </a:solidFill>
                    <a:latin typeface="+mn-lt"/>
                    <a:ea typeface="+mn-ea"/>
                    <a:cs typeface="+mn-cs"/>
                  </a:rPr>
                  <a:t>基础需求，夯实交易</a:t>
                </a:r>
                <a:br/>
                <a:r>
                  <a:rPr lang="zh-CN" sz="750" dirty="0">
                    <a:solidFill>
                      <a:srgbClr val="6B7280"/>
                    </a:solidFill>
                    <a:latin typeface="+mn-lt"/>
                    <a:ea typeface="+mn-ea"/>
                    <a:cs typeface="+mn-cs"/>
                  </a:rPr>
                  <a:t>与资金基础</a:t>
                </a:r>
              </a:p>
            </p:txBody>
          </p:sp>
        </p:grpSp>
        <p:grpSp>
          <p:nvGrpSpPr>
            <p:cNvPr id="120" name="pack-efficiency"/>
            <p:cNvGrpSpPr/>
            <p:nvPr/>
          </p:nvGrpSpPr>
          <p:grpSpPr>
            <a:xfrm>
              <a:off x="5314950" y="1123950"/>
              <a:ext cx="1333500" cy="2857500"/>
              <a:chOff x="5314950" y="1123950"/>
              <a:chExt cx="1333500" cy="2857500"/>
            </a:xfrm>
          </p:grpSpPr>
          <p:sp>
            <p:nvSpPr>
              <p:cNvPr id="90" name="Rectangle 90"/>
              <p:cNvSpPr/>
              <p:nvPr/>
            </p:nvSpPr>
            <p:spPr>
              <a:xfrm>
                <a:off x="5314950" y="1123950"/>
                <a:ext cx="1333500" cy="2857500"/>
              </a:xfrm>
              <a:prstGeom prst="roundRect">
                <a:avLst>
                  <a:gd name="adj" fmla="val 4286"/>
                </a:avLst>
              </a:prstGeom>
              <a:solidFill>
                <a:srgbClr val="F7FAFE"/>
              </a:solidFill>
              <a:ln w="9525">
                <a:solidFill>
                  <a:srgbClr val="DCE6F8"/>
                </a:solidFill>
              </a:ln>
            </p:spPr>
          </p:sp>
          <p:sp>
            <p:nvSpPr>
              <p:cNvPr id="91" name="Rectangle 91"/>
              <p:cNvSpPr/>
              <p:nvPr/>
            </p:nvSpPr>
            <p:spPr>
              <a:xfrm>
                <a:off x="5467350" y="1219200"/>
                <a:ext cx="1028700" cy="228600"/>
              </a:xfrm>
              <a:prstGeom prst="roundRect">
                <a:avLst>
                  <a:gd name="adj" fmla="val 25000"/>
                </a:avLst>
              </a:prstGeom>
              <a:solidFill>
                <a:srgbClr val="B92102"/>
              </a:solidFill>
              <a:ln>
                <a:noFill/>
              </a:ln>
            </p:spPr>
          </p:sp>
          <p:sp>
            <p:nvSpPr>
              <p:cNvPr id="92" name="TextBox 92"/>
              <p:cNvSpPr txBox="1"/>
              <p:nvPr/>
            </p:nvSpPr>
            <p:spPr>
              <a:xfrm>
                <a:off x="5660580" y="1279922"/>
                <a:ext cx="6422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经营提效包</a:t>
                </a:r>
              </a:p>
            </p:txBody>
          </p:sp>
          <p:sp>
            <p:nvSpPr>
              <p:cNvPr id="93" name="Ellipse 93"/>
              <p:cNvSpPr/>
              <p:nvPr/>
            </p:nvSpPr>
            <p:spPr>
              <a:xfrm>
                <a:off x="5810250" y="1543050"/>
                <a:ext cx="342900" cy="342900"/>
              </a:xfrm>
              <a:prstGeom prst="ellipse">
                <a:avLst/>
              </a:prstGeom>
              <a:solidFill>
                <a:srgbClr val="EAF3FE"/>
              </a:solidFill>
              <a:ln w="9525">
                <a:solidFill>
                  <a:srgbClr val="E3907F"/>
                </a:solidFill>
              </a:ln>
            </p:spPr>
          </p:sp>
          <p:grpSp>
            <p:nvGrpSpPr>
              <p:cNvPr id="96" name="Group 96"/>
              <p:cNvGrpSpPr/>
              <p:nvPr/>
            </p:nvGrpSpPr>
            <p:grpSpPr>
              <a:xfrm>
                <a:off x="5911850" y="1662113"/>
                <a:ext cx="139700" cy="123031"/>
                <a:chOff x="5911850" y="1662113"/>
                <a:chExt cx="139700" cy="123031"/>
              </a:xfrm>
            </p:grpSpPr>
            <p:sp>
              <p:nvSpPr>
                <p:cNvPr id="94" name="Freeform 94"/>
                <p:cNvSpPr/>
                <p:nvPr/>
              </p:nvSpPr>
              <p:spPr>
                <a:xfrm>
                  <a:off x="5911850" y="1775619"/>
                  <a:ext cx="139700" cy="9525"/>
                </a:xfrm>
                <a:custGeom>
                  <a:avLst/>
                  <a:gdLst/>
                  <a:ahLst/>
                  <a:cxnLst/>
                  <a:rect l="l" t="t" r="r" b="b"/>
                  <a:pathLst>
                    <a:path w="139700" h="9525">
                      <a:moveTo>
                        <a:pt x="0" y="0"/>
                      </a:moveTo>
                      <a:lnTo>
                        <a:pt x="139700" y="0"/>
                      </a:lnTo>
                    </a:path>
                  </a:pathLst>
                </a:custGeom>
                <a:noFill/>
                <a:ln w="17463">
                  <a:solidFill>
                    <a:srgbClr val="B92102"/>
                  </a:solidFill>
                </a:ln>
              </p:spPr>
            </p:sp>
            <p:sp>
              <p:nvSpPr>
                <p:cNvPr id="95" name="Freeform 95"/>
                <p:cNvSpPr/>
                <p:nvPr/>
              </p:nvSpPr>
              <p:spPr>
                <a:xfrm>
                  <a:off x="5911850" y="1662113"/>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7463">
                  <a:solidFill>
                    <a:srgbClr val="B92102"/>
                  </a:solidFill>
                </a:ln>
              </p:spPr>
            </p:sp>
          </p:grpSp>
          <p:grpSp>
            <p:nvGrpSpPr>
              <p:cNvPr id="100" name="Group 100"/>
              <p:cNvGrpSpPr/>
              <p:nvPr/>
            </p:nvGrpSpPr>
            <p:grpSpPr>
              <a:xfrm>
                <a:off x="5476874" y="2044385"/>
                <a:ext cx="117780" cy="121265"/>
                <a:chOff x="5476874" y="2044385"/>
                <a:chExt cx="117780" cy="121265"/>
              </a:xfrm>
            </p:grpSpPr>
            <p:sp>
              <p:nvSpPr>
                <p:cNvPr id="97" name="Freeform 97"/>
                <p:cNvSpPr/>
                <p:nvPr/>
              </p:nvSpPr>
              <p:spPr>
                <a:xfrm>
                  <a:off x="5512594" y="2083594"/>
                  <a:ext cx="42862" cy="42862"/>
                </a:xfrm>
                <a:custGeom>
                  <a:avLst/>
                  <a:gdLst/>
                  <a:ahLst/>
                  <a:cxnLst/>
                  <a:rect l="l" t="t" r="r" b="b"/>
                  <a:pathLst>
                    <a:path w="42862" h="42862">
                      <a:moveTo>
                        <a:pt x="0" y="42862"/>
                      </a:moveTo>
                      <a:lnTo>
                        <a:pt x="42862" y="0"/>
                      </a:lnTo>
                    </a:path>
                  </a:pathLst>
                </a:custGeom>
                <a:noFill/>
                <a:ln w="14288">
                  <a:solidFill>
                    <a:srgbClr val="B92102"/>
                  </a:solidFill>
                </a:ln>
              </p:spPr>
            </p:sp>
            <p:sp>
              <p:nvSpPr>
                <p:cNvPr id="98" name="Freeform 98"/>
                <p:cNvSpPr/>
                <p:nvPr/>
              </p:nvSpPr>
              <p:spPr>
                <a:xfrm>
                  <a:off x="5526881" y="2044385"/>
                  <a:ext cx="67773" cy="67784"/>
                </a:xfrm>
                <a:custGeom>
                  <a:avLst/>
                  <a:gdLst/>
                  <a:ahLst/>
                  <a:cxnLst/>
                  <a:rect l="l" t="t" r="r" b="b"/>
                  <a:pathLst>
                    <a:path w="67773" h="67784">
                      <a:moveTo>
                        <a:pt x="0" y="17778"/>
                      </a:moveTo>
                      <a:lnTo>
                        <a:pt x="3308" y="13949"/>
                      </a:lnTo>
                      <a:cubicBezTo>
                        <a:pt x="17258" y="0"/>
                        <a:pt x="39876" y="2"/>
                        <a:pt x="53825" y="13952"/>
                      </a:cubicBezTo>
                      <a:cubicBezTo>
                        <a:pt x="67773" y="27903"/>
                        <a:pt x="67772" y="50521"/>
                        <a:pt x="53821" y="64470"/>
                      </a:cubicBezTo>
                      <a:lnTo>
                        <a:pt x="50006" y="67784"/>
                      </a:lnTo>
                    </a:path>
                  </a:pathLst>
                </a:custGeom>
                <a:noFill/>
                <a:ln w="14288">
                  <a:solidFill>
                    <a:srgbClr val="B92102"/>
                  </a:solidFill>
                </a:ln>
              </p:spPr>
            </p:sp>
            <p:sp>
              <p:nvSpPr>
                <p:cNvPr id="99" name="Freeform 99"/>
                <p:cNvSpPr/>
                <p:nvPr/>
              </p:nvSpPr>
              <p:spPr>
                <a:xfrm>
                  <a:off x="5476874" y="2097881"/>
                  <a:ext cx="64295" cy="67769"/>
                </a:xfrm>
                <a:custGeom>
                  <a:avLst/>
                  <a:gdLst/>
                  <a:ahLst/>
                  <a:cxnLst/>
                  <a:rect l="l" t="t" r="r" b="b"/>
                  <a:pathLst>
                    <a:path w="64295" h="67769">
                      <a:moveTo>
                        <a:pt x="64295" y="50006"/>
                      </a:moveTo>
                      <a:lnTo>
                        <a:pt x="61459" y="53821"/>
                      </a:lnTo>
                      <a:cubicBezTo>
                        <a:pt x="47353" y="67769"/>
                        <a:pt x="24650" y="67769"/>
                        <a:pt x="10545" y="53821"/>
                      </a:cubicBezTo>
                      <a:cubicBezTo>
                        <a:pt x="3797" y="47149"/>
                        <a:pt x="0" y="38054"/>
                        <a:pt x="0" y="28564"/>
                      </a:cubicBezTo>
                      <a:cubicBezTo>
                        <a:pt x="0" y="19075"/>
                        <a:pt x="3797" y="9980"/>
                        <a:pt x="10545" y="3308"/>
                      </a:cubicBezTo>
                      <a:lnTo>
                        <a:pt x="14289" y="0"/>
                      </a:lnTo>
                    </a:path>
                  </a:pathLst>
                </a:custGeom>
                <a:noFill/>
                <a:ln w="14288">
                  <a:solidFill>
                    <a:srgbClr val="B92102"/>
                  </a:solidFill>
                </a:ln>
              </p:spPr>
            </p:sp>
          </p:grpSp>
          <p:sp>
            <p:nvSpPr>
              <p:cNvPr id="101" name="TextBox 101"/>
              <p:cNvSpPr txBox="1"/>
              <p:nvPr/>
            </p:nvSpPr>
            <p:spPr>
              <a:xfrm>
                <a:off x="5691188" y="2055495"/>
                <a:ext cx="615315"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供应链金融</a:t>
                </a:r>
              </a:p>
            </p:txBody>
          </p:sp>
          <p:grpSp>
            <p:nvGrpSpPr>
              <p:cNvPr id="106" name="Group 106"/>
              <p:cNvGrpSpPr/>
              <p:nvPr/>
            </p:nvGrpSpPr>
            <p:grpSpPr>
              <a:xfrm>
                <a:off x="5469731" y="2333625"/>
                <a:ext cx="128588" cy="114299"/>
                <a:chOff x="5469731" y="2333625"/>
                <a:chExt cx="128588" cy="114299"/>
              </a:xfrm>
            </p:grpSpPr>
            <p:sp>
              <p:nvSpPr>
                <p:cNvPr id="102" name="Freeform 102"/>
                <p:cNvSpPr/>
                <p:nvPr/>
              </p:nvSpPr>
              <p:spPr>
                <a:xfrm>
                  <a:off x="5469731" y="2355056"/>
                  <a:ext cx="128588" cy="9525"/>
                </a:xfrm>
                <a:custGeom>
                  <a:avLst/>
                  <a:gdLst/>
                  <a:ahLst/>
                  <a:cxnLst/>
                  <a:rect l="l" t="t" r="r" b="b"/>
                  <a:pathLst>
                    <a:path w="128588" h="9525">
                      <a:moveTo>
                        <a:pt x="128588" y="0"/>
                      </a:moveTo>
                      <a:lnTo>
                        <a:pt x="0" y="0"/>
                      </a:lnTo>
                    </a:path>
                  </a:pathLst>
                </a:custGeom>
                <a:noFill/>
                <a:ln w="14288">
                  <a:solidFill>
                    <a:srgbClr val="B92102"/>
                  </a:solidFill>
                </a:ln>
              </p:spPr>
            </p:sp>
            <p:sp>
              <p:nvSpPr>
                <p:cNvPr id="103" name="Freeform 103"/>
                <p:cNvSpPr/>
                <p:nvPr/>
              </p:nvSpPr>
              <p:spPr>
                <a:xfrm>
                  <a:off x="5576888" y="2333625"/>
                  <a:ext cx="21431" cy="42862"/>
                </a:xfrm>
                <a:custGeom>
                  <a:avLst/>
                  <a:gdLst/>
                  <a:ahLst/>
                  <a:cxnLst/>
                  <a:rect l="l" t="t" r="r" b="b"/>
                  <a:pathLst>
                    <a:path w="21431" h="42862">
                      <a:moveTo>
                        <a:pt x="0" y="42862"/>
                      </a:moveTo>
                      <a:lnTo>
                        <a:pt x="21431" y="21431"/>
                      </a:lnTo>
                      <a:lnTo>
                        <a:pt x="0" y="0"/>
                      </a:lnTo>
                    </a:path>
                  </a:pathLst>
                </a:custGeom>
                <a:noFill/>
                <a:ln w="14288">
                  <a:solidFill>
                    <a:srgbClr val="B92102"/>
                  </a:solidFill>
                </a:ln>
              </p:spPr>
            </p:sp>
            <p:sp>
              <p:nvSpPr>
                <p:cNvPr id="104" name="Freeform 104"/>
                <p:cNvSpPr/>
                <p:nvPr/>
              </p:nvSpPr>
              <p:spPr>
                <a:xfrm>
                  <a:off x="5469731" y="2405062"/>
                  <a:ext cx="21431" cy="42862"/>
                </a:xfrm>
                <a:custGeom>
                  <a:avLst/>
                  <a:gdLst/>
                  <a:ahLst/>
                  <a:cxnLst/>
                  <a:rect l="l" t="t" r="r" b="b"/>
                  <a:pathLst>
                    <a:path w="21431" h="42862">
                      <a:moveTo>
                        <a:pt x="21431" y="42862"/>
                      </a:moveTo>
                      <a:lnTo>
                        <a:pt x="0" y="21431"/>
                      </a:lnTo>
                      <a:lnTo>
                        <a:pt x="21431" y="0"/>
                      </a:lnTo>
                    </a:path>
                  </a:pathLst>
                </a:custGeom>
                <a:noFill/>
                <a:ln w="14288">
                  <a:solidFill>
                    <a:srgbClr val="B92102"/>
                  </a:solidFill>
                </a:ln>
              </p:spPr>
            </p:sp>
            <p:sp>
              <p:nvSpPr>
                <p:cNvPr id="105" name="Freeform 105"/>
                <p:cNvSpPr/>
                <p:nvPr/>
              </p:nvSpPr>
              <p:spPr>
                <a:xfrm>
                  <a:off x="5469731" y="2426494"/>
                  <a:ext cx="128588" cy="9525"/>
                </a:xfrm>
                <a:custGeom>
                  <a:avLst/>
                  <a:gdLst/>
                  <a:ahLst/>
                  <a:cxnLst/>
                  <a:rect l="l" t="t" r="r" b="b"/>
                  <a:pathLst>
                    <a:path w="128588" h="9525">
                      <a:moveTo>
                        <a:pt x="0" y="0"/>
                      </a:moveTo>
                      <a:lnTo>
                        <a:pt x="128588" y="0"/>
                      </a:lnTo>
                    </a:path>
                  </a:pathLst>
                </a:custGeom>
                <a:noFill/>
                <a:ln w="14288">
                  <a:solidFill>
                    <a:srgbClr val="B92102"/>
                  </a:solidFill>
                </a:ln>
              </p:spPr>
            </p:sp>
          </p:grpSp>
          <p:sp>
            <p:nvSpPr>
              <p:cNvPr id="107" name="TextBox 107"/>
              <p:cNvSpPr txBox="1"/>
              <p:nvPr/>
            </p:nvSpPr>
            <p:spPr>
              <a:xfrm>
                <a:off x="5691188" y="2341245"/>
                <a:ext cx="615315"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收付款优化</a:t>
                </a:r>
              </a:p>
            </p:txBody>
          </p:sp>
          <p:grpSp>
            <p:nvGrpSpPr>
              <p:cNvPr id="112" name="Group 112"/>
              <p:cNvGrpSpPr/>
              <p:nvPr/>
            </p:nvGrpSpPr>
            <p:grpSpPr>
              <a:xfrm>
                <a:off x="5484019" y="2612231"/>
                <a:ext cx="100012" cy="128588"/>
                <a:chOff x="5484019" y="2612231"/>
                <a:chExt cx="100012" cy="128588"/>
              </a:xfrm>
            </p:grpSpPr>
            <p:sp>
              <p:nvSpPr>
                <p:cNvPr id="108" name="Freeform 108"/>
                <p:cNvSpPr/>
                <p:nvPr/>
              </p:nvSpPr>
              <p:spPr>
                <a:xfrm>
                  <a:off x="5484019" y="2626519"/>
                  <a:ext cx="100012" cy="114300"/>
                </a:xfrm>
                <a:custGeom>
                  <a:avLst/>
                  <a:gdLst/>
                  <a:ahLst/>
                  <a:cxnLst/>
                  <a:rect l="l" t="t" r="r" b="b"/>
                  <a:pathLst>
                    <a:path w="100012" h="114300">
                      <a:moveTo>
                        <a:pt x="28575" y="0"/>
                      </a:moveTo>
                      <a:lnTo>
                        <a:pt x="14288" y="0"/>
                      </a:lnTo>
                      <a:cubicBezTo>
                        <a:pt x="6397" y="0"/>
                        <a:pt x="0" y="6397"/>
                        <a:pt x="0" y="14288"/>
                      </a:cubicBezTo>
                      <a:lnTo>
                        <a:pt x="0" y="100012"/>
                      </a:lnTo>
                      <a:cubicBezTo>
                        <a:pt x="0" y="107903"/>
                        <a:pt x="6397" y="114300"/>
                        <a:pt x="14288" y="114300"/>
                      </a:cubicBezTo>
                      <a:lnTo>
                        <a:pt x="85725" y="114300"/>
                      </a:lnTo>
                      <a:cubicBezTo>
                        <a:pt x="93616" y="114300"/>
                        <a:pt x="100012" y="107903"/>
                        <a:pt x="100012" y="100012"/>
                      </a:cubicBezTo>
                      <a:lnTo>
                        <a:pt x="100012" y="14288"/>
                      </a:lnTo>
                      <a:cubicBezTo>
                        <a:pt x="100012" y="6397"/>
                        <a:pt x="93616" y="0"/>
                        <a:pt x="85725" y="0"/>
                      </a:cubicBezTo>
                      <a:lnTo>
                        <a:pt x="71438" y="0"/>
                      </a:lnTo>
                    </a:path>
                  </a:pathLst>
                </a:custGeom>
                <a:noFill/>
                <a:ln w="14288">
                  <a:solidFill>
                    <a:srgbClr val="B92102"/>
                  </a:solidFill>
                </a:ln>
              </p:spPr>
            </p:sp>
            <p:sp>
              <p:nvSpPr>
                <p:cNvPr id="109" name="Freeform 109"/>
                <p:cNvSpPr/>
                <p:nvPr/>
              </p:nvSpPr>
              <p:spPr>
                <a:xfrm>
                  <a:off x="5512594" y="2612231"/>
                  <a:ext cx="42862" cy="28575"/>
                </a:xfrm>
                <a:custGeom>
                  <a:avLst/>
                  <a:gdLst/>
                  <a:ahLst/>
                  <a:cxnLst/>
                  <a:rect l="l" t="t" r="r" b="b"/>
                  <a:pathLst>
                    <a:path w="42862" h="28575">
                      <a:moveTo>
                        <a:pt x="0" y="14288"/>
                      </a:moveTo>
                      <a:cubicBezTo>
                        <a:pt x="0" y="6397"/>
                        <a:pt x="6397" y="0"/>
                        <a:pt x="14288" y="0"/>
                      </a:cubicBezTo>
                      <a:lnTo>
                        <a:pt x="28575" y="0"/>
                      </a:lnTo>
                      <a:cubicBezTo>
                        <a:pt x="36466" y="0"/>
                        <a:pt x="42862" y="6397"/>
                        <a:pt x="42862" y="14288"/>
                      </a:cubicBezTo>
                      <a:cubicBezTo>
                        <a:pt x="42862" y="22178"/>
                        <a:pt x="36466" y="28575"/>
                        <a:pt x="28575" y="28575"/>
                      </a:cubicBezTo>
                      <a:lnTo>
                        <a:pt x="14288" y="28575"/>
                      </a:lnTo>
                      <a:cubicBezTo>
                        <a:pt x="6397" y="28575"/>
                        <a:pt x="0" y="22178"/>
                        <a:pt x="0" y="14288"/>
                      </a:cubicBezTo>
                    </a:path>
                  </a:pathLst>
                </a:custGeom>
                <a:noFill/>
                <a:ln w="14288">
                  <a:solidFill>
                    <a:srgbClr val="B92102"/>
                  </a:solidFill>
                </a:ln>
              </p:spPr>
            </p:sp>
            <p:sp>
              <p:nvSpPr>
                <p:cNvPr id="110" name="Freeform 110"/>
                <p:cNvSpPr/>
                <p:nvPr/>
              </p:nvSpPr>
              <p:spPr>
                <a:xfrm>
                  <a:off x="5519738" y="2669381"/>
                  <a:ext cx="28575" cy="42862"/>
                </a:xfrm>
                <a:custGeom>
                  <a:avLst/>
                  <a:gdLst/>
                  <a:ahLst/>
                  <a:cxnLst/>
                  <a:rect l="l" t="t" r="r" b="b"/>
                  <a:pathLst>
                    <a:path w="28575" h="42862">
                      <a:moveTo>
                        <a:pt x="28575" y="0"/>
                      </a:moveTo>
                      <a:lnTo>
                        <a:pt x="10716" y="0"/>
                      </a:lnTo>
                      <a:cubicBezTo>
                        <a:pt x="4798" y="0"/>
                        <a:pt x="0" y="4798"/>
                        <a:pt x="0" y="10716"/>
                      </a:cubicBezTo>
                      <a:cubicBezTo>
                        <a:pt x="0" y="16634"/>
                        <a:pt x="4798" y="21431"/>
                        <a:pt x="10716" y="21431"/>
                      </a:cubicBezTo>
                      <a:lnTo>
                        <a:pt x="17859" y="21431"/>
                      </a:lnTo>
                      <a:cubicBezTo>
                        <a:pt x="23777" y="21431"/>
                        <a:pt x="28575" y="26229"/>
                        <a:pt x="28575" y="32147"/>
                      </a:cubicBezTo>
                      <a:cubicBezTo>
                        <a:pt x="28575" y="38065"/>
                        <a:pt x="23777" y="42862"/>
                        <a:pt x="17859" y="42862"/>
                      </a:cubicBezTo>
                      <a:lnTo>
                        <a:pt x="0" y="42862"/>
                      </a:lnTo>
                    </a:path>
                  </a:pathLst>
                </a:custGeom>
                <a:noFill/>
                <a:ln w="14288">
                  <a:solidFill>
                    <a:srgbClr val="B92102"/>
                  </a:solidFill>
                </a:ln>
              </p:spPr>
            </p:sp>
            <p:sp>
              <p:nvSpPr>
                <p:cNvPr id="111" name="Freeform 111"/>
                <p:cNvSpPr/>
                <p:nvPr/>
              </p:nvSpPr>
              <p:spPr>
                <a:xfrm>
                  <a:off x="5534025" y="2662238"/>
                  <a:ext cx="9525" cy="57150"/>
                </a:xfrm>
                <a:custGeom>
                  <a:avLst/>
                  <a:gdLst/>
                  <a:ahLst/>
                  <a:cxnLst/>
                  <a:rect l="l" t="t" r="r" b="b"/>
                  <a:pathLst>
                    <a:path w="9525" h="57150">
                      <a:moveTo>
                        <a:pt x="0" y="50006"/>
                      </a:moveTo>
                      <a:lnTo>
                        <a:pt x="0" y="57150"/>
                      </a:lnTo>
                      <a:moveTo>
                        <a:pt x="0" y="0"/>
                      </a:moveTo>
                      <a:lnTo>
                        <a:pt x="0" y="7144"/>
                      </a:lnTo>
                    </a:path>
                  </a:pathLst>
                </a:custGeom>
                <a:noFill/>
                <a:ln w="14288">
                  <a:solidFill>
                    <a:srgbClr val="B92102"/>
                  </a:solidFill>
                </a:ln>
              </p:spPr>
            </p:sp>
          </p:grpSp>
          <p:sp>
            <p:nvSpPr>
              <p:cNvPr id="113" name="TextBox 113"/>
              <p:cNvSpPr txBox="1"/>
              <p:nvPr/>
            </p:nvSpPr>
            <p:spPr>
              <a:xfrm>
                <a:off x="5691188" y="2626995"/>
                <a:ext cx="857631"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费用与报销管理</a:t>
                </a:r>
              </a:p>
            </p:txBody>
          </p:sp>
          <p:grpSp>
            <p:nvGrpSpPr>
              <p:cNvPr id="116" name="Group 116"/>
              <p:cNvGrpSpPr/>
              <p:nvPr/>
            </p:nvGrpSpPr>
            <p:grpSpPr>
              <a:xfrm>
                <a:off x="5467740" y="2899210"/>
                <a:ext cx="129150" cy="129350"/>
                <a:chOff x="5467740" y="2899210"/>
                <a:chExt cx="129150" cy="129350"/>
              </a:xfrm>
            </p:grpSpPr>
            <p:sp>
              <p:nvSpPr>
                <p:cNvPr id="114" name="Freeform 114"/>
                <p:cNvSpPr/>
                <p:nvPr/>
              </p:nvSpPr>
              <p:spPr>
                <a:xfrm>
                  <a:off x="5467740" y="2899210"/>
                  <a:ext cx="129150" cy="129350"/>
                </a:xfrm>
                <a:custGeom>
                  <a:avLst/>
                  <a:gdLst/>
                  <a:ahLst/>
                  <a:cxnLst/>
                  <a:rect l="l" t="t" r="r" b="b"/>
                  <a:pathLst>
                    <a:path w="129150" h="129350">
                      <a:moveTo>
                        <a:pt x="51998" y="200"/>
                      </a:moveTo>
                      <a:cubicBezTo>
                        <a:pt x="21065" y="7371"/>
                        <a:pt x="0" y="36049"/>
                        <a:pt x="2409" y="67710"/>
                      </a:cubicBezTo>
                      <a:cubicBezTo>
                        <a:pt x="4818" y="99372"/>
                        <a:pt x="29979" y="124533"/>
                        <a:pt x="61640" y="126942"/>
                      </a:cubicBezTo>
                      <a:cubicBezTo>
                        <a:pt x="93301" y="129350"/>
                        <a:pt x="121979" y="108285"/>
                        <a:pt x="129150" y="77353"/>
                      </a:cubicBezTo>
                      <a:cubicBezTo>
                        <a:pt x="129150" y="73407"/>
                        <a:pt x="125952" y="70209"/>
                        <a:pt x="122006" y="70209"/>
                      </a:cubicBezTo>
                      <a:lnTo>
                        <a:pt x="73429" y="70209"/>
                      </a:lnTo>
                      <a:cubicBezTo>
                        <a:pt x="65538" y="70209"/>
                        <a:pt x="59141" y="63812"/>
                        <a:pt x="59141" y="55922"/>
                      </a:cubicBezTo>
                      <a:lnTo>
                        <a:pt x="59141" y="5915"/>
                      </a:lnTo>
                      <a:cubicBezTo>
                        <a:pt x="58962" y="4206"/>
                        <a:pt x="58106" y="2639"/>
                        <a:pt x="56763" y="1565"/>
                      </a:cubicBezTo>
                      <a:cubicBezTo>
                        <a:pt x="55421" y="492"/>
                        <a:pt x="53705" y="0"/>
                        <a:pt x="51998" y="200"/>
                      </a:cubicBezTo>
                    </a:path>
                  </a:pathLst>
                </a:custGeom>
                <a:noFill/>
                <a:ln w="14288">
                  <a:solidFill>
                    <a:srgbClr val="B92102"/>
                  </a:solidFill>
                </a:ln>
              </p:spPr>
            </p:sp>
            <p:sp>
              <p:nvSpPr>
                <p:cNvPr id="115" name="Freeform 115"/>
                <p:cNvSpPr/>
                <p:nvPr/>
              </p:nvSpPr>
              <p:spPr>
                <a:xfrm>
                  <a:off x="5555456" y="2901553"/>
                  <a:ext cx="39291" cy="39291"/>
                </a:xfrm>
                <a:custGeom>
                  <a:avLst/>
                  <a:gdLst/>
                  <a:ahLst/>
                  <a:cxnLst/>
                  <a:rect l="l" t="t" r="r" b="b"/>
                  <a:pathLst>
                    <a:path w="39291" h="39291">
                      <a:moveTo>
                        <a:pt x="0" y="0"/>
                      </a:moveTo>
                      <a:cubicBezTo>
                        <a:pt x="18372" y="6469"/>
                        <a:pt x="32822" y="20918"/>
                        <a:pt x="39291" y="39291"/>
                      </a:cubicBezTo>
                      <a:lnTo>
                        <a:pt x="7144" y="39291"/>
                      </a:lnTo>
                      <a:cubicBezTo>
                        <a:pt x="3198" y="39291"/>
                        <a:pt x="0" y="36092"/>
                        <a:pt x="0" y="32147"/>
                      </a:cubicBezTo>
                      <a:lnTo>
                        <a:pt x="0" y="0"/>
                      </a:lnTo>
                    </a:path>
                  </a:pathLst>
                </a:custGeom>
                <a:noFill/>
                <a:ln w="14288">
                  <a:solidFill>
                    <a:srgbClr val="B92102"/>
                  </a:solidFill>
                </a:ln>
              </p:spPr>
            </p:sp>
          </p:grpSp>
          <p:sp>
            <p:nvSpPr>
              <p:cNvPr id="117" name="TextBox 117"/>
              <p:cNvSpPr txBox="1"/>
              <p:nvPr/>
            </p:nvSpPr>
            <p:spPr>
              <a:xfrm>
                <a:off x="5691188" y="2912745"/>
                <a:ext cx="857631"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数据分析与洞察</a:t>
                </a:r>
              </a:p>
            </p:txBody>
          </p:sp>
          <p:sp>
            <p:nvSpPr>
              <p:cNvPr id="118" name="Line 118"/>
              <p:cNvSpPr/>
              <p:nvPr/>
            </p:nvSpPr>
            <p:spPr>
              <a:xfrm>
                <a:off x="5448300" y="3200400"/>
                <a:ext cx="1066800" cy="9525"/>
              </a:xfrm>
              <a:custGeom>
                <a:avLst/>
                <a:gdLst/>
                <a:ahLst/>
                <a:cxnLst/>
                <a:rect l="l" t="t" r="r" b="b"/>
                <a:pathLst>
                  <a:path w="1066800" h="9525">
                    <a:moveTo>
                      <a:pt x="0" y="0"/>
                    </a:moveTo>
                    <a:lnTo>
                      <a:pt x="1066800" y="0"/>
                    </a:lnTo>
                  </a:path>
                </a:pathLst>
              </a:custGeom>
              <a:noFill/>
              <a:ln w="9525">
                <a:solidFill>
                  <a:srgbClr val="DCE6F8"/>
                </a:solidFill>
              </a:ln>
            </p:spPr>
          </p:sp>
          <p:sp>
            <p:nvSpPr>
              <p:cNvPr id="119" name="TextBox 119"/>
              <p:cNvSpPr txBox="1"/>
              <p:nvPr/>
            </p:nvSpPr>
            <p:spPr>
              <a:xfrm>
                <a:off x="5548312" y="3328988"/>
                <a:ext cx="8667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6B7280"/>
                    </a:solidFill>
                    <a:latin typeface="+mn-lt"/>
                    <a:ea typeface="+mn-ea"/>
                    <a:cs typeface="+mn-cs"/>
                  </a:rPr>
                  <a:t>提升运营效率与资金</a:t>
                </a:r>
                <a:br/>
                <a:r>
                  <a:rPr lang="zh-CN" sz="750" dirty="0">
                    <a:solidFill>
                      <a:srgbClr val="6B7280"/>
                    </a:solidFill>
                    <a:latin typeface="+mn-lt"/>
                    <a:ea typeface="+mn-ea"/>
                    <a:cs typeface="+mn-cs"/>
                  </a:rPr>
                  <a:t>效率，助力降本增效</a:t>
                </a:r>
              </a:p>
            </p:txBody>
          </p:sp>
        </p:grpSp>
        <p:grpSp>
          <p:nvGrpSpPr>
            <p:cNvPr id="150" name="pack-comprehensive"/>
            <p:cNvGrpSpPr/>
            <p:nvPr/>
          </p:nvGrpSpPr>
          <p:grpSpPr>
            <a:xfrm>
              <a:off x="6724650" y="1123950"/>
              <a:ext cx="1333500" cy="2857500"/>
              <a:chOff x="6724650" y="1123950"/>
              <a:chExt cx="1333500" cy="2857500"/>
            </a:xfrm>
          </p:grpSpPr>
          <p:sp>
            <p:nvSpPr>
              <p:cNvPr id="121" name="Rectangle 121"/>
              <p:cNvSpPr/>
              <p:nvPr/>
            </p:nvSpPr>
            <p:spPr>
              <a:xfrm>
                <a:off x="6724650" y="1123950"/>
                <a:ext cx="1333500" cy="2857500"/>
              </a:xfrm>
              <a:prstGeom prst="roundRect">
                <a:avLst>
                  <a:gd name="adj" fmla="val 4286"/>
                </a:avLst>
              </a:prstGeom>
              <a:solidFill>
                <a:srgbClr val="F7FAFE"/>
              </a:solidFill>
              <a:ln w="9525">
                <a:solidFill>
                  <a:srgbClr val="DCE6F8"/>
                </a:solidFill>
              </a:ln>
            </p:spPr>
          </p:sp>
          <p:sp>
            <p:nvSpPr>
              <p:cNvPr id="122" name="Rectangle 122"/>
              <p:cNvSpPr/>
              <p:nvPr/>
            </p:nvSpPr>
            <p:spPr>
              <a:xfrm>
                <a:off x="6877050" y="1219200"/>
                <a:ext cx="1028700" cy="228600"/>
              </a:xfrm>
              <a:prstGeom prst="roundRect">
                <a:avLst>
                  <a:gd name="adj" fmla="val 25000"/>
                </a:avLst>
              </a:prstGeom>
              <a:solidFill>
                <a:srgbClr val="B92102"/>
              </a:solidFill>
              <a:ln>
                <a:noFill/>
              </a:ln>
            </p:spPr>
          </p:sp>
          <p:sp>
            <p:nvSpPr>
              <p:cNvPr id="123" name="TextBox 123"/>
              <p:cNvSpPr txBox="1"/>
              <p:nvPr/>
            </p:nvSpPr>
            <p:spPr>
              <a:xfrm>
                <a:off x="7070280" y="1279922"/>
                <a:ext cx="6422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综合服务包</a:t>
                </a:r>
              </a:p>
            </p:txBody>
          </p:sp>
          <p:sp>
            <p:nvSpPr>
              <p:cNvPr id="124" name="Ellipse 124"/>
              <p:cNvSpPr/>
              <p:nvPr/>
            </p:nvSpPr>
            <p:spPr>
              <a:xfrm>
                <a:off x="7219950" y="1543050"/>
                <a:ext cx="342900" cy="342900"/>
              </a:xfrm>
              <a:prstGeom prst="ellipse">
                <a:avLst/>
              </a:prstGeom>
              <a:solidFill>
                <a:srgbClr val="EAF3FE"/>
              </a:solidFill>
              <a:ln w="9525">
                <a:solidFill>
                  <a:srgbClr val="E3907F"/>
                </a:solidFill>
              </a:ln>
            </p:spPr>
          </p:sp>
          <p:grpSp>
            <p:nvGrpSpPr>
              <p:cNvPr id="129" name="Group 129"/>
              <p:cNvGrpSpPr/>
              <p:nvPr/>
            </p:nvGrpSpPr>
            <p:grpSpPr>
              <a:xfrm>
                <a:off x="7312819" y="1635919"/>
                <a:ext cx="157163" cy="157163"/>
                <a:chOff x="7312819" y="1635919"/>
                <a:chExt cx="157163" cy="157163"/>
              </a:xfrm>
            </p:grpSpPr>
            <p:sp>
              <p:nvSpPr>
                <p:cNvPr id="125" name="Freeform 125"/>
                <p:cNvSpPr/>
                <p:nvPr/>
              </p:nvSpPr>
              <p:spPr>
                <a:xfrm>
                  <a:off x="7330281" y="16359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B92102"/>
                  </a:solidFill>
                </a:ln>
              </p:spPr>
            </p:sp>
            <p:sp>
              <p:nvSpPr>
                <p:cNvPr id="126" name="Freeform 126"/>
                <p:cNvSpPr/>
                <p:nvPr/>
              </p:nvSpPr>
              <p:spPr>
                <a:xfrm>
                  <a:off x="7312819" y="174069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B92102"/>
                  </a:solidFill>
                </a:ln>
              </p:spPr>
            </p:sp>
            <p:sp>
              <p:nvSpPr>
                <p:cNvPr id="127" name="Freeform 127"/>
                <p:cNvSpPr/>
                <p:nvPr/>
              </p:nvSpPr>
              <p:spPr>
                <a:xfrm>
                  <a:off x="7426325" y="163705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B92102"/>
                  </a:solidFill>
                </a:ln>
              </p:spPr>
            </p:sp>
            <p:sp>
              <p:nvSpPr>
                <p:cNvPr id="128" name="Freeform 128"/>
                <p:cNvSpPr/>
                <p:nvPr/>
              </p:nvSpPr>
              <p:spPr>
                <a:xfrm>
                  <a:off x="7443788" y="174200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B92102"/>
                  </a:solidFill>
                </a:ln>
              </p:spPr>
            </p:sp>
          </p:grpSp>
          <p:grpSp>
            <p:nvGrpSpPr>
              <p:cNvPr id="133" name="Group 133"/>
              <p:cNvGrpSpPr/>
              <p:nvPr/>
            </p:nvGrpSpPr>
            <p:grpSpPr>
              <a:xfrm>
                <a:off x="6879431" y="2055019"/>
                <a:ext cx="128587" cy="100013"/>
                <a:chOff x="6879431" y="2055019"/>
                <a:chExt cx="128587" cy="100013"/>
              </a:xfrm>
            </p:grpSpPr>
            <p:sp>
              <p:nvSpPr>
                <p:cNvPr id="130" name="Freeform 130"/>
                <p:cNvSpPr/>
                <p:nvPr/>
              </p:nvSpPr>
              <p:spPr>
                <a:xfrm>
                  <a:off x="6879431" y="2055019"/>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B92102"/>
                  </a:solidFill>
                </a:ln>
              </p:spPr>
            </p:sp>
            <p:sp>
              <p:nvSpPr>
                <p:cNvPr id="131" name="Freeform 131"/>
                <p:cNvSpPr/>
                <p:nvPr/>
              </p:nvSpPr>
              <p:spPr>
                <a:xfrm>
                  <a:off x="6908006" y="2083594"/>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B92102"/>
                  </a:solidFill>
                </a:ln>
              </p:spPr>
            </p:sp>
            <p:sp>
              <p:nvSpPr>
                <p:cNvPr id="132" name="Freeform 132"/>
                <p:cNvSpPr/>
                <p:nvPr/>
              </p:nvSpPr>
              <p:spPr>
                <a:xfrm>
                  <a:off x="6943725" y="210502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B92102"/>
                  </a:solidFill>
                </a:ln>
              </p:spPr>
            </p:sp>
          </p:grpSp>
          <p:sp>
            <p:nvSpPr>
              <p:cNvPr id="134" name="TextBox 134"/>
              <p:cNvSpPr txBox="1"/>
              <p:nvPr/>
            </p:nvSpPr>
            <p:spPr>
              <a:xfrm>
                <a:off x="7100888" y="2055495"/>
                <a:ext cx="615315"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代发与薪酬</a:t>
                </a:r>
              </a:p>
            </p:txBody>
          </p:sp>
          <p:grpSp>
            <p:nvGrpSpPr>
              <p:cNvPr id="137" name="Group 137"/>
              <p:cNvGrpSpPr/>
              <p:nvPr/>
            </p:nvGrpSpPr>
            <p:grpSpPr>
              <a:xfrm>
                <a:off x="6879431" y="2340769"/>
                <a:ext cx="128588" cy="105085"/>
                <a:chOff x="6879431" y="2340769"/>
                <a:chExt cx="128588" cy="105085"/>
              </a:xfrm>
            </p:grpSpPr>
            <p:sp>
              <p:nvSpPr>
                <p:cNvPr id="135" name="Freeform 135"/>
                <p:cNvSpPr/>
                <p:nvPr/>
              </p:nvSpPr>
              <p:spPr>
                <a:xfrm>
                  <a:off x="6879431" y="2340769"/>
                  <a:ext cx="128588" cy="105085"/>
                </a:xfrm>
                <a:custGeom>
                  <a:avLst/>
                  <a:gdLst/>
                  <a:ahLst/>
                  <a:cxnLst/>
                  <a:rect l="l" t="t" r="r" b="b"/>
                  <a:pathLst>
                    <a:path w="128588" h="105085">
                      <a:moveTo>
                        <a:pt x="21431" y="0"/>
                      </a:moveTo>
                      <a:lnTo>
                        <a:pt x="107156" y="0"/>
                      </a:lnTo>
                      <a:lnTo>
                        <a:pt x="128588" y="35719"/>
                      </a:lnTo>
                      <a:lnTo>
                        <a:pt x="67866" y="103584"/>
                      </a:lnTo>
                      <a:cubicBezTo>
                        <a:pt x="66925" y="104544"/>
                        <a:pt x="65638" y="105085"/>
                        <a:pt x="64294" y="105085"/>
                      </a:cubicBezTo>
                      <a:cubicBezTo>
                        <a:pt x="62950" y="105085"/>
                        <a:pt x="61662" y="104544"/>
                        <a:pt x="60722" y="103584"/>
                      </a:cubicBezTo>
                      <a:lnTo>
                        <a:pt x="0" y="35719"/>
                      </a:lnTo>
                      <a:lnTo>
                        <a:pt x="21431" y="0"/>
                      </a:lnTo>
                    </a:path>
                  </a:pathLst>
                </a:custGeom>
                <a:noFill/>
                <a:ln w="14288">
                  <a:solidFill>
                    <a:srgbClr val="B92102"/>
                  </a:solidFill>
                </a:ln>
              </p:spPr>
            </p:sp>
            <p:sp>
              <p:nvSpPr>
                <p:cNvPr id="136" name="Freeform 136"/>
                <p:cNvSpPr/>
                <p:nvPr/>
              </p:nvSpPr>
              <p:spPr>
                <a:xfrm>
                  <a:off x="6915150" y="2367915"/>
                  <a:ext cx="14288" cy="22860"/>
                </a:xfrm>
                <a:custGeom>
                  <a:avLst/>
                  <a:gdLst/>
                  <a:ahLst/>
                  <a:cxnLst/>
                  <a:rect l="l" t="t" r="r" b="b"/>
                  <a:pathLst>
                    <a:path w="14288" h="22860">
                      <a:moveTo>
                        <a:pt x="14288" y="22860"/>
                      </a:moveTo>
                      <a:lnTo>
                        <a:pt x="0" y="7144"/>
                      </a:lnTo>
                      <a:lnTo>
                        <a:pt x="4286" y="0"/>
                      </a:lnTo>
                    </a:path>
                  </a:pathLst>
                </a:custGeom>
                <a:noFill/>
                <a:ln w="14288">
                  <a:solidFill>
                    <a:srgbClr val="B92102"/>
                  </a:solidFill>
                </a:ln>
              </p:spPr>
            </p:sp>
          </p:grpSp>
          <p:sp>
            <p:nvSpPr>
              <p:cNvPr id="138" name="TextBox 138"/>
              <p:cNvSpPr txBox="1"/>
              <p:nvPr/>
            </p:nvSpPr>
            <p:spPr>
              <a:xfrm>
                <a:off x="7100888" y="2341245"/>
                <a:ext cx="494157"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财富管理</a:t>
                </a:r>
              </a:p>
            </p:txBody>
          </p:sp>
          <p:grpSp>
            <p:nvGrpSpPr>
              <p:cNvPr id="141" name="Group 141"/>
              <p:cNvGrpSpPr/>
              <p:nvPr/>
            </p:nvGrpSpPr>
            <p:grpSpPr>
              <a:xfrm>
                <a:off x="6869790" y="2612231"/>
                <a:ext cx="139505" cy="128588"/>
                <a:chOff x="6869790" y="2612231"/>
                <a:chExt cx="139505" cy="128588"/>
              </a:xfrm>
            </p:grpSpPr>
            <p:sp>
              <p:nvSpPr>
                <p:cNvPr id="139" name="Freeform 139"/>
                <p:cNvSpPr/>
                <p:nvPr/>
              </p:nvSpPr>
              <p:spPr>
                <a:xfrm>
                  <a:off x="6869790" y="261223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B92102"/>
                  </a:solidFill>
                </a:ln>
              </p:spPr>
            </p:sp>
            <p:sp>
              <p:nvSpPr>
                <p:cNvPr id="140" name="Freeform 140"/>
                <p:cNvSpPr/>
                <p:nvPr/>
              </p:nvSpPr>
              <p:spPr>
                <a:xfrm>
                  <a:off x="6965156" y="2712244"/>
                  <a:ext cx="42862" cy="28575"/>
                </a:xfrm>
                <a:custGeom>
                  <a:avLst/>
                  <a:gdLst/>
                  <a:ahLst/>
                  <a:cxnLst/>
                  <a:rect l="l" t="t" r="r" b="b"/>
                  <a:pathLst>
                    <a:path w="42862" h="28575">
                      <a:moveTo>
                        <a:pt x="0" y="14288"/>
                      </a:moveTo>
                      <a:lnTo>
                        <a:pt x="14288" y="28575"/>
                      </a:lnTo>
                      <a:lnTo>
                        <a:pt x="42862" y="0"/>
                      </a:lnTo>
                    </a:path>
                  </a:pathLst>
                </a:custGeom>
                <a:noFill/>
                <a:ln w="14288">
                  <a:solidFill>
                    <a:srgbClr val="B92102"/>
                  </a:solidFill>
                </a:ln>
              </p:spPr>
            </p:sp>
          </p:grpSp>
          <p:sp>
            <p:nvSpPr>
              <p:cNvPr id="142" name="TextBox 142"/>
              <p:cNvSpPr txBox="1"/>
              <p:nvPr/>
            </p:nvSpPr>
            <p:spPr>
              <a:xfrm>
                <a:off x="7100888" y="2626995"/>
                <a:ext cx="494157"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保险保障</a:t>
                </a:r>
              </a:p>
            </p:txBody>
          </p:sp>
          <p:grpSp>
            <p:nvGrpSpPr>
              <p:cNvPr id="146" name="Group 146"/>
              <p:cNvGrpSpPr/>
              <p:nvPr/>
            </p:nvGrpSpPr>
            <p:grpSpPr>
              <a:xfrm>
                <a:off x="6893719" y="2897981"/>
                <a:ext cx="100012" cy="128588"/>
                <a:chOff x="6893719" y="2897981"/>
                <a:chExt cx="100012" cy="128588"/>
              </a:xfrm>
            </p:grpSpPr>
            <p:sp>
              <p:nvSpPr>
                <p:cNvPr id="143" name="Freeform 143"/>
                <p:cNvSpPr/>
                <p:nvPr/>
              </p:nvSpPr>
              <p:spPr>
                <a:xfrm>
                  <a:off x="6893719" y="2940844"/>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B92102"/>
                  </a:solidFill>
                </a:ln>
              </p:spPr>
            </p:sp>
            <p:sp>
              <p:nvSpPr>
                <p:cNvPr id="144" name="Freeform 144"/>
                <p:cNvSpPr/>
                <p:nvPr/>
              </p:nvSpPr>
              <p:spPr>
                <a:xfrm>
                  <a:off x="6943725" y="2897981"/>
                  <a:ext cx="9525" cy="78581"/>
                </a:xfrm>
                <a:custGeom>
                  <a:avLst/>
                  <a:gdLst/>
                  <a:ahLst/>
                  <a:cxnLst/>
                  <a:rect l="l" t="t" r="r" b="b"/>
                  <a:pathLst>
                    <a:path w="9525" h="78581">
                      <a:moveTo>
                        <a:pt x="0" y="78581"/>
                      </a:moveTo>
                      <a:lnTo>
                        <a:pt x="0" y="0"/>
                      </a:lnTo>
                    </a:path>
                  </a:pathLst>
                </a:custGeom>
                <a:noFill/>
                <a:ln w="14288">
                  <a:solidFill>
                    <a:srgbClr val="B92102"/>
                  </a:solidFill>
                </a:ln>
              </p:spPr>
            </p:sp>
            <p:sp>
              <p:nvSpPr>
                <p:cNvPr id="145" name="Freeform 145"/>
                <p:cNvSpPr/>
                <p:nvPr/>
              </p:nvSpPr>
              <p:spPr>
                <a:xfrm>
                  <a:off x="6922294" y="2897981"/>
                  <a:ext cx="42862" cy="21431"/>
                </a:xfrm>
                <a:custGeom>
                  <a:avLst/>
                  <a:gdLst/>
                  <a:ahLst/>
                  <a:cxnLst/>
                  <a:rect l="l" t="t" r="r" b="b"/>
                  <a:pathLst>
                    <a:path w="42862" h="21431">
                      <a:moveTo>
                        <a:pt x="0" y="21431"/>
                      </a:moveTo>
                      <a:lnTo>
                        <a:pt x="21431" y="0"/>
                      </a:lnTo>
                      <a:lnTo>
                        <a:pt x="42862" y="21431"/>
                      </a:lnTo>
                    </a:path>
                  </a:pathLst>
                </a:custGeom>
                <a:noFill/>
                <a:ln w="14288">
                  <a:solidFill>
                    <a:srgbClr val="B92102"/>
                  </a:solidFill>
                </a:ln>
              </p:spPr>
            </p:sp>
          </p:grpSp>
          <p:sp>
            <p:nvSpPr>
              <p:cNvPr id="147" name="TextBox 147"/>
              <p:cNvSpPr txBox="1"/>
              <p:nvPr/>
            </p:nvSpPr>
            <p:spPr>
              <a:xfrm>
                <a:off x="7100888" y="2912745"/>
                <a:ext cx="494157" cy="176212"/>
              </a:xfrm>
              <a:prstGeom prst="rect">
                <a:avLst/>
              </a:prstGeom>
              <a:noFill/>
              <a:ln>
                <a:noFill/>
              </a:ln>
            </p:spPr>
            <p:txBody>
              <a:bodyPr wrap="none" lIns="0" tIns="0" rIns="0" bIns="0" anchor="t" anchorCtr="0">
                <a:spAutoFit/>
              </a:bodyPr>
              <a:lstStyle/>
              <a:p>
                <a:pPr algn="l"/>
                <a:r>
                  <a:rPr lang="zh-CN" sz="900" dirty="0">
                    <a:solidFill>
                      <a:srgbClr val="473633"/>
                    </a:solidFill>
                    <a:latin typeface="+mn-lt"/>
                    <a:ea typeface="+mn-ea"/>
                    <a:cs typeface="+mn-cs"/>
                  </a:rPr>
                  <a:t>跨境服务</a:t>
                </a:r>
              </a:p>
            </p:txBody>
          </p:sp>
          <p:sp>
            <p:nvSpPr>
              <p:cNvPr id="148" name="Line 148"/>
              <p:cNvSpPr/>
              <p:nvPr/>
            </p:nvSpPr>
            <p:spPr>
              <a:xfrm>
                <a:off x="6858000" y="3200400"/>
                <a:ext cx="1066800" cy="9525"/>
              </a:xfrm>
              <a:custGeom>
                <a:avLst/>
                <a:gdLst/>
                <a:ahLst/>
                <a:cxnLst/>
                <a:rect l="l" t="t" r="r" b="b"/>
                <a:pathLst>
                  <a:path w="1066800" h="9525">
                    <a:moveTo>
                      <a:pt x="0" y="0"/>
                    </a:moveTo>
                    <a:lnTo>
                      <a:pt x="1066800" y="0"/>
                    </a:lnTo>
                  </a:path>
                </a:pathLst>
              </a:custGeom>
              <a:noFill/>
              <a:ln w="9525">
                <a:solidFill>
                  <a:srgbClr val="DCE6F8"/>
                </a:solidFill>
              </a:ln>
            </p:spPr>
          </p:sp>
          <p:sp>
            <p:nvSpPr>
              <p:cNvPr id="149" name="TextBox 149"/>
              <p:cNvSpPr txBox="1"/>
              <p:nvPr/>
            </p:nvSpPr>
            <p:spPr>
              <a:xfrm>
                <a:off x="6958012" y="3328988"/>
                <a:ext cx="866775" cy="433388"/>
              </a:xfrm>
              <a:prstGeom prst="rect">
                <a:avLst/>
              </a:prstGeom>
              <a:noFill/>
              <a:ln>
                <a:noFill/>
              </a:ln>
            </p:spPr>
            <p:txBody>
              <a:bodyPr wrap="none" lIns="0" tIns="0" rIns="0" bIns="0" anchor="t" anchorCtr="0">
                <a:spAutoFit/>
              </a:bodyPr>
              <a:lstStyle/>
              <a:p>
                <a:pPr algn="ctr">
                  <a:lnSpc>
                    <a:spcPts val="1125"/>
                  </a:lnSpc>
                </a:pPr>
                <a:r>
                  <a:rPr lang="zh-CN" sz="750" dirty="0">
                    <a:solidFill>
                      <a:srgbClr val="6B7280"/>
                    </a:solidFill>
                    <a:latin typeface="+mn-lt"/>
                    <a:ea typeface="+mn-ea"/>
                    <a:cs typeface="+mn-cs"/>
                  </a:rPr>
                  <a:t>覆盖员工与企业多元</a:t>
                </a:r>
                <a:br/>
                <a:r>
                  <a:rPr lang="zh-CN" sz="750" dirty="0">
                    <a:solidFill>
                      <a:srgbClr val="6B7280"/>
                    </a:solidFill>
                    <a:latin typeface="+mn-lt"/>
                    <a:ea typeface="+mn-ea"/>
                    <a:cs typeface="+mn-cs"/>
                  </a:rPr>
                  <a:t>需求，构建综合服务</a:t>
                </a:r>
                <a:br/>
                <a:r>
                  <a:rPr lang="zh-CN" sz="750" dirty="0">
                    <a:solidFill>
                      <a:srgbClr val="6B7280"/>
                    </a:solidFill>
                    <a:latin typeface="+mn-lt"/>
                    <a:ea typeface="+mn-ea"/>
                    <a:cs typeface="+mn-cs"/>
                  </a:rPr>
                  <a:t>生态</a:t>
                </a:r>
              </a:p>
            </p:txBody>
          </p:sp>
        </p:grpSp>
      </p:grpSp>
      <p:grpSp>
        <p:nvGrpSpPr>
          <p:cNvPr id="204" name="portfolio-path"/>
          <p:cNvGrpSpPr/>
          <p:nvPr/>
        </p:nvGrpSpPr>
        <p:grpSpPr>
          <a:xfrm>
            <a:off x="8343900" y="723900"/>
            <a:ext cx="3581400" cy="3371850"/>
            <a:chOff x="8343900" y="723900"/>
            <a:chExt cx="3581400" cy="3371850"/>
          </a:xfrm>
        </p:grpSpPr>
        <p:sp>
          <p:nvSpPr>
            <p:cNvPr id="152" name="Rectangle 152"/>
            <p:cNvSpPr/>
            <p:nvPr/>
          </p:nvSpPr>
          <p:spPr>
            <a:xfrm>
              <a:off x="8343900" y="723900"/>
              <a:ext cx="3581400" cy="3371850"/>
            </a:xfrm>
            <a:prstGeom prst="roundRect">
              <a:avLst>
                <a:gd name="adj" fmla="val 2260"/>
              </a:avLst>
            </a:prstGeom>
            <a:solidFill>
              <a:srgbClr val="F7FAFE"/>
            </a:solidFill>
            <a:ln w="9525">
              <a:solidFill>
                <a:srgbClr val="DCE6F8"/>
              </a:solidFill>
            </a:ln>
          </p:spPr>
        </p:sp>
        <p:sp>
          <p:nvSpPr>
            <p:cNvPr id="153" name="TextBox 153"/>
            <p:cNvSpPr txBox="1"/>
            <p:nvPr/>
          </p:nvSpPr>
          <p:spPr>
            <a:xfrm>
              <a:off x="8730534" y="862251"/>
              <a:ext cx="2808131" cy="198025"/>
            </a:xfrm>
            <a:prstGeom prst="rect">
              <a:avLst/>
            </a:prstGeom>
            <a:noFill/>
            <a:ln>
              <a:noFill/>
            </a:ln>
          </p:spPr>
          <p:txBody>
            <a:bodyPr wrap="none" lIns="0" tIns="0" rIns="0" bIns="0" anchor="t" anchorCtr="0">
              <a:spAutoFit/>
            </a:bodyPr>
            <a:lstStyle/>
            <a:p>
              <a:pPr algn="ctr"/>
              <a:r>
                <a:rPr lang="zh-CN" sz="1010" b="1" dirty="0">
                  <a:solidFill>
                    <a:srgbClr val="6E1604"/>
                  </a:solidFill>
                  <a:latin typeface="+mn-lt"/>
                  <a:ea typeface="+mn-ea"/>
                  <a:cs typeface="+mn-cs"/>
                </a:rPr>
                <a:t>组合经营路径：从单一到综合，提升客户价值​</a:t>
              </a:r>
            </a:p>
          </p:txBody>
        </p:sp>
        <p:sp>
          <p:nvSpPr>
            <p:cNvPr id="154" name="Ellipse 154"/>
            <p:cNvSpPr/>
            <p:nvPr/>
          </p:nvSpPr>
          <p:spPr>
            <a:xfrm>
              <a:off x="8705850" y="1238250"/>
              <a:ext cx="571500" cy="571500"/>
            </a:xfrm>
            <a:prstGeom prst="ellipse">
              <a:avLst/>
            </a:prstGeom>
            <a:solidFill>
              <a:srgbClr val="EAF3FE"/>
            </a:solidFill>
            <a:ln w="14288">
              <a:solidFill>
                <a:srgbClr val="E3907F"/>
              </a:solidFill>
            </a:ln>
          </p:spPr>
        </p:sp>
        <p:grpSp>
          <p:nvGrpSpPr>
            <p:cNvPr id="159" name="Group 159"/>
            <p:cNvGrpSpPr/>
            <p:nvPr/>
          </p:nvGrpSpPr>
          <p:grpSpPr>
            <a:xfrm>
              <a:off x="8877300" y="1409700"/>
              <a:ext cx="228599" cy="215900"/>
              <a:chOff x="8877300" y="1409700"/>
              <a:chExt cx="228599" cy="215900"/>
            </a:xfrm>
          </p:grpSpPr>
          <p:sp>
            <p:nvSpPr>
              <p:cNvPr id="155" name="Freeform 155"/>
              <p:cNvSpPr/>
              <p:nvPr/>
            </p:nvSpPr>
            <p:spPr>
              <a:xfrm>
                <a:off x="8877300" y="1460500"/>
                <a:ext cx="228599" cy="165100"/>
              </a:xfrm>
              <a:custGeom>
                <a:avLst/>
                <a:gdLst/>
                <a:ahLst/>
                <a:cxnLst/>
                <a:rect l="l" t="t" r="r" b="b"/>
                <a:pathLst>
                  <a:path w="228599" h="165100">
                    <a:moveTo>
                      <a:pt x="0" y="25400"/>
                    </a:moveTo>
                    <a:cubicBezTo>
                      <a:pt x="0" y="11372"/>
                      <a:pt x="11372" y="0"/>
                      <a:pt x="25400" y="0"/>
                    </a:cubicBezTo>
                    <a:lnTo>
                      <a:pt x="203199" y="0"/>
                    </a:lnTo>
                    <a:cubicBezTo>
                      <a:pt x="217227" y="0"/>
                      <a:pt x="228599" y="11372"/>
                      <a:pt x="228599" y="25400"/>
                    </a:cubicBezTo>
                    <a:lnTo>
                      <a:pt x="228599" y="139700"/>
                    </a:lnTo>
                    <a:cubicBezTo>
                      <a:pt x="228599" y="153728"/>
                      <a:pt x="217227" y="165100"/>
                      <a:pt x="203199" y="165100"/>
                    </a:cubicBezTo>
                    <a:lnTo>
                      <a:pt x="25400" y="165100"/>
                    </a:lnTo>
                    <a:cubicBezTo>
                      <a:pt x="11372" y="165100"/>
                      <a:pt x="0" y="153728"/>
                      <a:pt x="0" y="139700"/>
                    </a:cubicBezTo>
                    <a:lnTo>
                      <a:pt x="0" y="25400"/>
                    </a:lnTo>
                  </a:path>
                </a:pathLst>
              </a:custGeom>
              <a:noFill/>
              <a:ln w="25400">
                <a:solidFill>
                  <a:srgbClr val="B92102"/>
                </a:solidFill>
              </a:ln>
            </p:spPr>
          </p:sp>
          <p:sp>
            <p:nvSpPr>
              <p:cNvPr id="156" name="Freeform 156"/>
              <p:cNvSpPr/>
              <p:nvPr/>
            </p:nvSpPr>
            <p:spPr>
              <a:xfrm>
                <a:off x="8940800" y="1409700"/>
                <a:ext cx="101600" cy="50800"/>
              </a:xfrm>
              <a:custGeom>
                <a:avLst/>
                <a:gdLst/>
                <a:ahLst/>
                <a:cxnLst/>
                <a:rect l="l" t="t" r="r" b="b"/>
                <a:pathLst>
                  <a:path w="101600" h="50800">
                    <a:moveTo>
                      <a:pt x="0" y="50800"/>
                    </a:moveTo>
                    <a:lnTo>
                      <a:pt x="0" y="25400"/>
                    </a:lnTo>
                    <a:cubicBezTo>
                      <a:pt x="0" y="11372"/>
                      <a:pt x="11372" y="0"/>
                      <a:pt x="25400" y="0"/>
                    </a:cubicBezTo>
                    <a:lnTo>
                      <a:pt x="76200" y="0"/>
                    </a:lnTo>
                    <a:cubicBezTo>
                      <a:pt x="90228" y="0"/>
                      <a:pt x="101600" y="11372"/>
                      <a:pt x="101600" y="25400"/>
                    </a:cubicBezTo>
                    <a:lnTo>
                      <a:pt x="101600" y="50800"/>
                    </a:lnTo>
                  </a:path>
                </a:pathLst>
              </a:custGeom>
              <a:noFill/>
              <a:ln w="25400">
                <a:solidFill>
                  <a:srgbClr val="B92102"/>
                </a:solidFill>
              </a:ln>
            </p:spPr>
          </p:sp>
          <p:sp>
            <p:nvSpPr>
              <p:cNvPr id="157" name="Freeform 157"/>
              <p:cNvSpPr/>
              <p:nvPr/>
            </p:nvSpPr>
            <p:spPr>
              <a:xfrm>
                <a:off x="8991600" y="1524000"/>
                <a:ext cx="9525" cy="9525"/>
              </a:xfrm>
              <a:custGeom>
                <a:avLst/>
                <a:gdLst/>
                <a:ahLst/>
                <a:cxnLst/>
                <a:rect l="l" t="t" r="r" b="b"/>
                <a:pathLst>
                  <a:path w="9525" h="9525">
                    <a:moveTo>
                      <a:pt x="0" y="0"/>
                    </a:moveTo>
                    <a:lnTo>
                      <a:pt x="0" y="127"/>
                    </a:lnTo>
                  </a:path>
                </a:pathLst>
              </a:custGeom>
              <a:noFill/>
              <a:ln w="25400">
                <a:solidFill>
                  <a:srgbClr val="B92102"/>
                </a:solidFill>
              </a:ln>
            </p:spPr>
          </p:sp>
          <p:sp>
            <p:nvSpPr>
              <p:cNvPr id="158" name="Freeform 158"/>
              <p:cNvSpPr/>
              <p:nvPr/>
            </p:nvSpPr>
            <p:spPr>
              <a:xfrm>
                <a:off x="8877300" y="1536700"/>
                <a:ext cx="228599" cy="36228"/>
              </a:xfrm>
              <a:custGeom>
                <a:avLst/>
                <a:gdLst/>
                <a:ahLst/>
                <a:cxnLst/>
                <a:rect l="l" t="t" r="r" b="b"/>
                <a:pathLst>
                  <a:path w="228599" h="36228">
                    <a:moveTo>
                      <a:pt x="0" y="0"/>
                    </a:moveTo>
                    <a:cubicBezTo>
                      <a:pt x="71894" y="36228"/>
                      <a:pt x="156706" y="36228"/>
                      <a:pt x="228599" y="0"/>
                    </a:cubicBezTo>
                  </a:path>
                </a:pathLst>
              </a:custGeom>
              <a:noFill/>
              <a:ln w="25400">
                <a:solidFill>
                  <a:srgbClr val="B92102"/>
                </a:solidFill>
              </a:ln>
            </p:spPr>
          </p:sp>
        </p:grpSp>
        <p:sp>
          <p:nvSpPr>
            <p:cNvPr id="160" name="Line 160"/>
            <p:cNvSpPr/>
            <p:nvPr/>
          </p:nvSpPr>
          <p:spPr>
            <a:xfrm>
              <a:off x="9334500" y="1524000"/>
              <a:ext cx="438150" cy="1"/>
            </a:xfrm>
            <a:prstGeom prst="line">
              <a:avLst/>
            </a:prstGeom>
            <a:noFill/>
            <a:ln w="14288">
              <a:solidFill>
                <a:srgbClr val="6E1604"/>
              </a:solidFill>
              <a:tailEnd type="triangle" w="lg" len="lg"/>
            </a:ln>
          </p:spPr>
        </p:sp>
        <p:sp>
          <p:nvSpPr>
            <p:cNvPr id="161" name="Ellipse 161"/>
            <p:cNvSpPr/>
            <p:nvPr/>
          </p:nvSpPr>
          <p:spPr>
            <a:xfrm>
              <a:off x="9848850" y="1238250"/>
              <a:ext cx="571500" cy="571500"/>
            </a:xfrm>
            <a:prstGeom prst="ellipse">
              <a:avLst/>
            </a:prstGeom>
            <a:solidFill>
              <a:srgbClr val="EAF3FE"/>
            </a:solidFill>
            <a:ln w="14288">
              <a:solidFill>
                <a:srgbClr val="E3907F"/>
              </a:solidFill>
            </a:ln>
          </p:spPr>
        </p:sp>
        <p:sp>
          <p:nvSpPr>
            <p:cNvPr id="162" name="Freeform 162"/>
            <p:cNvSpPr/>
            <p:nvPr/>
          </p:nvSpPr>
          <p:spPr>
            <a:xfrm>
              <a:off x="10020300" y="1409700"/>
              <a:ext cx="228599" cy="228599"/>
            </a:xfrm>
            <a:custGeom>
              <a:avLst/>
              <a:gdLst/>
              <a:ahLst/>
              <a:cxnLst/>
              <a:rect l="l" t="t" r="r" b="b"/>
              <a:pathLst>
                <a:path w="228599" h="228599">
                  <a:moveTo>
                    <a:pt x="12700" y="50800"/>
                  </a:moveTo>
                  <a:lnTo>
                    <a:pt x="50800" y="50800"/>
                  </a:lnTo>
                  <a:cubicBezTo>
                    <a:pt x="57814" y="50800"/>
                    <a:pt x="63500" y="45114"/>
                    <a:pt x="63500" y="38100"/>
                  </a:cubicBezTo>
                  <a:lnTo>
                    <a:pt x="63500" y="25400"/>
                  </a:lnTo>
                  <a:cubicBezTo>
                    <a:pt x="63500" y="11372"/>
                    <a:pt x="74872" y="0"/>
                    <a:pt x="88900" y="0"/>
                  </a:cubicBezTo>
                  <a:cubicBezTo>
                    <a:pt x="102928" y="0"/>
                    <a:pt x="114300" y="11372"/>
                    <a:pt x="114300" y="25400"/>
                  </a:cubicBezTo>
                  <a:lnTo>
                    <a:pt x="114300" y="38100"/>
                  </a:lnTo>
                  <a:cubicBezTo>
                    <a:pt x="114300" y="45114"/>
                    <a:pt x="119986" y="50800"/>
                    <a:pt x="127000" y="50800"/>
                  </a:cubicBezTo>
                  <a:lnTo>
                    <a:pt x="165100" y="50800"/>
                  </a:lnTo>
                  <a:cubicBezTo>
                    <a:pt x="172114" y="50800"/>
                    <a:pt x="177800" y="56486"/>
                    <a:pt x="177800" y="63500"/>
                  </a:cubicBezTo>
                  <a:lnTo>
                    <a:pt x="177800" y="101600"/>
                  </a:lnTo>
                  <a:cubicBezTo>
                    <a:pt x="177800" y="108614"/>
                    <a:pt x="183486" y="114300"/>
                    <a:pt x="190500" y="114300"/>
                  </a:cubicBezTo>
                  <a:lnTo>
                    <a:pt x="203199" y="114300"/>
                  </a:lnTo>
                  <a:cubicBezTo>
                    <a:pt x="217227" y="114300"/>
                    <a:pt x="228599" y="125672"/>
                    <a:pt x="228599" y="139700"/>
                  </a:cubicBezTo>
                  <a:cubicBezTo>
                    <a:pt x="228599" y="153728"/>
                    <a:pt x="217227" y="165100"/>
                    <a:pt x="203199" y="165100"/>
                  </a:cubicBezTo>
                  <a:lnTo>
                    <a:pt x="190500" y="165100"/>
                  </a:lnTo>
                  <a:cubicBezTo>
                    <a:pt x="183486" y="165100"/>
                    <a:pt x="177800" y="170786"/>
                    <a:pt x="177800" y="177800"/>
                  </a:cubicBezTo>
                  <a:lnTo>
                    <a:pt x="177800" y="215899"/>
                  </a:lnTo>
                  <a:cubicBezTo>
                    <a:pt x="177800" y="222913"/>
                    <a:pt x="172114" y="228599"/>
                    <a:pt x="165100" y="228599"/>
                  </a:cubicBezTo>
                  <a:lnTo>
                    <a:pt x="127000" y="228599"/>
                  </a:lnTo>
                  <a:cubicBezTo>
                    <a:pt x="119986" y="228599"/>
                    <a:pt x="114300" y="222913"/>
                    <a:pt x="114300" y="215899"/>
                  </a:cubicBezTo>
                  <a:lnTo>
                    <a:pt x="114300" y="203199"/>
                  </a:lnTo>
                  <a:cubicBezTo>
                    <a:pt x="114300" y="189171"/>
                    <a:pt x="102928" y="177800"/>
                    <a:pt x="88900" y="177800"/>
                  </a:cubicBezTo>
                  <a:cubicBezTo>
                    <a:pt x="74872" y="177800"/>
                    <a:pt x="63500" y="189171"/>
                    <a:pt x="63500" y="203199"/>
                  </a:cubicBezTo>
                  <a:lnTo>
                    <a:pt x="63500" y="215899"/>
                  </a:lnTo>
                  <a:cubicBezTo>
                    <a:pt x="63500" y="222913"/>
                    <a:pt x="57814" y="228599"/>
                    <a:pt x="50800" y="228599"/>
                  </a:cubicBezTo>
                  <a:lnTo>
                    <a:pt x="12700" y="228599"/>
                  </a:lnTo>
                  <a:cubicBezTo>
                    <a:pt x="5686" y="228599"/>
                    <a:pt x="0" y="222913"/>
                    <a:pt x="0" y="215899"/>
                  </a:cubicBezTo>
                  <a:lnTo>
                    <a:pt x="0" y="177800"/>
                  </a:lnTo>
                  <a:cubicBezTo>
                    <a:pt x="0" y="170786"/>
                    <a:pt x="5686" y="165100"/>
                    <a:pt x="12700" y="165100"/>
                  </a:cubicBezTo>
                  <a:lnTo>
                    <a:pt x="25400" y="165100"/>
                  </a:lnTo>
                  <a:cubicBezTo>
                    <a:pt x="39428" y="165100"/>
                    <a:pt x="50800" y="153728"/>
                    <a:pt x="50800" y="139700"/>
                  </a:cubicBezTo>
                  <a:cubicBezTo>
                    <a:pt x="50800" y="125672"/>
                    <a:pt x="39428" y="114300"/>
                    <a:pt x="25400" y="114300"/>
                  </a:cubicBezTo>
                  <a:lnTo>
                    <a:pt x="12700" y="114300"/>
                  </a:lnTo>
                  <a:cubicBezTo>
                    <a:pt x="5686" y="114300"/>
                    <a:pt x="0" y="108614"/>
                    <a:pt x="0" y="101600"/>
                  </a:cubicBezTo>
                  <a:lnTo>
                    <a:pt x="0" y="63500"/>
                  </a:lnTo>
                  <a:cubicBezTo>
                    <a:pt x="0" y="56486"/>
                    <a:pt x="5686" y="50800"/>
                    <a:pt x="12700" y="50800"/>
                  </a:cubicBezTo>
                </a:path>
              </a:pathLst>
            </a:custGeom>
            <a:noFill/>
            <a:ln w="25400">
              <a:solidFill>
                <a:srgbClr val="B92102"/>
              </a:solidFill>
            </a:ln>
          </p:spPr>
        </p:sp>
        <p:sp>
          <p:nvSpPr>
            <p:cNvPr id="163" name="Line 163"/>
            <p:cNvSpPr/>
            <p:nvPr/>
          </p:nvSpPr>
          <p:spPr>
            <a:xfrm>
              <a:off x="10477500" y="1524000"/>
              <a:ext cx="438150" cy="1"/>
            </a:xfrm>
            <a:prstGeom prst="line">
              <a:avLst/>
            </a:prstGeom>
            <a:noFill/>
            <a:ln w="14288">
              <a:solidFill>
                <a:srgbClr val="6E1604"/>
              </a:solidFill>
              <a:tailEnd type="triangle" w="lg" len="lg"/>
            </a:ln>
          </p:spPr>
        </p:sp>
        <p:sp>
          <p:nvSpPr>
            <p:cNvPr id="164" name="Ellipse 164"/>
            <p:cNvSpPr/>
            <p:nvPr/>
          </p:nvSpPr>
          <p:spPr>
            <a:xfrm>
              <a:off x="10991850" y="1238250"/>
              <a:ext cx="571500" cy="571500"/>
            </a:xfrm>
            <a:prstGeom prst="ellipse">
              <a:avLst/>
            </a:prstGeom>
            <a:solidFill>
              <a:srgbClr val="EAF3FE"/>
            </a:solidFill>
            <a:ln w="14288">
              <a:solidFill>
                <a:srgbClr val="E3907F"/>
              </a:solidFill>
            </a:ln>
          </p:spPr>
        </p:sp>
        <p:grpSp>
          <p:nvGrpSpPr>
            <p:cNvPr id="171" name="Group 171"/>
            <p:cNvGrpSpPr/>
            <p:nvPr/>
          </p:nvGrpSpPr>
          <p:grpSpPr>
            <a:xfrm>
              <a:off x="11163300" y="1409700"/>
              <a:ext cx="228599" cy="228599"/>
              <a:chOff x="11163300" y="1409700"/>
              <a:chExt cx="228599" cy="228599"/>
            </a:xfrm>
          </p:grpSpPr>
          <p:sp>
            <p:nvSpPr>
              <p:cNvPr id="165" name="Freeform 165"/>
              <p:cNvSpPr/>
              <p:nvPr/>
            </p:nvSpPr>
            <p:spPr>
              <a:xfrm>
                <a:off x="11252200" y="15113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B92102"/>
                </a:solidFill>
              </a:ln>
            </p:spPr>
          </p:sp>
          <p:sp>
            <p:nvSpPr>
              <p:cNvPr id="166" name="Freeform 166"/>
              <p:cNvSpPr/>
              <p:nvPr/>
            </p:nvSpPr>
            <p:spPr>
              <a:xfrm>
                <a:off x="11226800" y="1600199"/>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B92102"/>
                </a:solidFill>
              </a:ln>
            </p:spPr>
          </p:sp>
          <p:sp>
            <p:nvSpPr>
              <p:cNvPr id="167" name="Freeform 167"/>
              <p:cNvSpPr/>
              <p:nvPr/>
            </p:nvSpPr>
            <p:spPr>
              <a:xfrm>
                <a:off x="11315700" y="14097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B92102"/>
                </a:solidFill>
              </a:ln>
            </p:spPr>
          </p:sp>
          <p:sp>
            <p:nvSpPr>
              <p:cNvPr id="168" name="Freeform 168"/>
              <p:cNvSpPr/>
              <p:nvPr/>
            </p:nvSpPr>
            <p:spPr>
              <a:xfrm>
                <a:off x="11341099" y="1498600"/>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B92102"/>
                </a:solidFill>
              </a:ln>
            </p:spPr>
          </p:sp>
          <p:sp>
            <p:nvSpPr>
              <p:cNvPr id="169" name="Freeform 169"/>
              <p:cNvSpPr/>
              <p:nvPr/>
            </p:nvSpPr>
            <p:spPr>
              <a:xfrm>
                <a:off x="11188700" y="14097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B92102"/>
                </a:solidFill>
              </a:ln>
            </p:spPr>
          </p:sp>
          <p:sp>
            <p:nvSpPr>
              <p:cNvPr id="170" name="Freeform 170"/>
              <p:cNvSpPr/>
              <p:nvPr/>
            </p:nvSpPr>
            <p:spPr>
              <a:xfrm>
                <a:off x="11163300" y="14986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B92102"/>
                </a:solidFill>
              </a:ln>
            </p:spPr>
          </p:sp>
        </p:grpSp>
        <p:sp>
          <p:nvSpPr>
            <p:cNvPr id="172" name="Rectangle 172"/>
            <p:cNvSpPr/>
            <p:nvPr/>
          </p:nvSpPr>
          <p:spPr>
            <a:xfrm>
              <a:off x="8572500" y="1905000"/>
              <a:ext cx="838200" cy="228600"/>
            </a:xfrm>
            <a:prstGeom prst="roundRect">
              <a:avLst>
                <a:gd name="adj" fmla="val 50000"/>
              </a:avLst>
            </a:prstGeom>
            <a:solidFill>
              <a:srgbClr val="FDCCC2"/>
            </a:solidFill>
            <a:ln>
              <a:noFill/>
            </a:ln>
          </p:spPr>
        </p:sp>
        <p:sp>
          <p:nvSpPr>
            <p:cNvPr id="173" name="TextBox 173"/>
            <p:cNvSpPr txBox="1"/>
            <p:nvPr/>
          </p:nvSpPr>
          <p:spPr>
            <a:xfrm>
              <a:off x="8733752" y="1965722"/>
              <a:ext cx="515696" cy="183356"/>
            </a:xfrm>
            <a:prstGeom prst="rect">
              <a:avLst/>
            </a:prstGeom>
            <a:noFill/>
            <a:ln>
              <a:noFill/>
            </a:ln>
          </p:spPr>
          <p:txBody>
            <a:bodyPr wrap="none" lIns="0" tIns="0" rIns="0" bIns="0" anchor="t" anchorCtr="0">
              <a:spAutoFit/>
            </a:bodyPr>
            <a:lstStyle/>
            <a:p>
              <a:pPr algn="ctr"/>
              <a:r>
                <a:rPr lang="zh-CN" sz="940" b="1" dirty="0">
                  <a:solidFill>
                    <a:srgbClr val="6E1604"/>
                  </a:solidFill>
                  <a:latin typeface="+mn-lt"/>
                  <a:ea typeface="+mn-ea"/>
                  <a:cs typeface="+mn-cs"/>
                </a:rPr>
                <a:t>单一产品</a:t>
              </a:r>
            </a:p>
          </p:txBody>
        </p:sp>
        <p:sp>
          <p:nvSpPr>
            <p:cNvPr id="174" name="Rectangle 174"/>
            <p:cNvSpPr/>
            <p:nvPr/>
          </p:nvSpPr>
          <p:spPr>
            <a:xfrm>
              <a:off x="9715500" y="1905000"/>
              <a:ext cx="838200" cy="228600"/>
            </a:xfrm>
            <a:prstGeom prst="roundRect">
              <a:avLst>
                <a:gd name="adj" fmla="val 50000"/>
              </a:avLst>
            </a:prstGeom>
            <a:solidFill>
              <a:srgbClr val="FDCCC2"/>
            </a:solidFill>
            <a:ln>
              <a:noFill/>
            </a:ln>
          </p:spPr>
        </p:sp>
        <p:sp>
          <p:nvSpPr>
            <p:cNvPr id="175" name="TextBox 175"/>
            <p:cNvSpPr txBox="1"/>
            <p:nvPr/>
          </p:nvSpPr>
          <p:spPr>
            <a:xfrm>
              <a:off x="9876752" y="1965722"/>
              <a:ext cx="515696" cy="183356"/>
            </a:xfrm>
            <a:prstGeom prst="rect">
              <a:avLst/>
            </a:prstGeom>
            <a:noFill/>
            <a:ln>
              <a:noFill/>
            </a:ln>
          </p:spPr>
          <p:txBody>
            <a:bodyPr wrap="none" lIns="0" tIns="0" rIns="0" bIns="0" anchor="t" anchorCtr="0">
              <a:spAutoFit/>
            </a:bodyPr>
            <a:lstStyle/>
            <a:p>
              <a:pPr algn="ctr"/>
              <a:r>
                <a:rPr lang="zh-CN" sz="940" b="1" dirty="0">
                  <a:solidFill>
                    <a:srgbClr val="6E1604"/>
                  </a:solidFill>
                  <a:latin typeface="+mn-lt"/>
                  <a:ea typeface="+mn-ea"/>
                  <a:cs typeface="+mn-cs"/>
                </a:rPr>
                <a:t>场景组合</a:t>
              </a:r>
            </a:p>
          </p:txBody>
        </p:sp>
        <p:sp>
          <p:nvSpPr>
            <p:cNvPr id="176" name="Rectangle 176"/>
            <p:cNvSpPr/>
            <p:nvPr/>
          </p:nvSpPr>
          <p:spPr>
            <a:xfrm>
              <a:off x="10858500" y="1905000"/>
              <a:ext cx="838200" cy="228600"/>
            </a:xfrm>
            <a:prstGeom prst="roundRect">
              <a:avLst>
                <a:gd name="adj" fmla="val 50000"/>
              </a:avLst>
            </a:prstGeom>
            <a:solidFill>
              <a:srgbClr val="FDCCC2"/>
            </a:solidFill>
            <a:ln>
              <a:noFill/>
            </a:ln>
          </p:spPr>
        </p:sp>
        <p:sp>
          <p:nvSpPr>
            <p:cNvPr id="177" name="TextBox 177"/>
            <p:cNvSpPr txBox="1"/>
            <p:nvPr/>
          </p:nvSpPr>
          <p:spPr>
            <a:xfrm>
              <a:off x="11019752" y="1965722"/>
              <a:ext cx="515696" cy="183356"/>
            </a:xfrm>
            <a:prstGeom prst="rect">
              <a:avLst/>
            </a:prstGeom>
            <a:noFill/>
            <a:ln>
              <a:noFill/>
            </a:ln>
          </p:spPr>
          <p:txBody>
            <a:bodyPr wrap="none" lIns="0" tIns="0" rIns="0" bIns="0" anchor="t" anchorCtr="0">
              <a:spAutoFit/>
            </a:bodyPr>
            <a:lstStyle/>
            <a:p>
              <a:pPr algn="ctr"/>
              <a:r>
                <a:rPr lang="zh-CN" sz="940" b="1" dirty="0">
                  <a:solidFill>
                    <a:srgbClr val="6E1604"/>
                  </a:solidFill>
                  <a:latin typeface="+mn-lt"/>
                  <a:ea typeface="+mn-ea"/>
                  <a:cs typeface="+mn-cs"/>
                </a:rPr>
                <a:t>综合关系</a:t>
              </a:r>
            </a:p>
          </p:txBody>
        </p:sp>
        <p:grpSp>
          <p:nvGrpSpPr>
            <p:cNvPr id="183" name="path-card-1"/>
            <p:cNvGrpSpPr/>
            <p:nvPr/>
          </p:nvGrpSpPr>
          <p:grpSpPr>
            <a:xfrm>
              <a:off x="8458200" y="2228850"/>
              <a:ext cx="1066800" cy="1333500"/>
              <a:chOff x="8458200" y="2228850"/>
              <a:chExt cx="1066800" cy="1333500"/>
            </a:xfrm>
          </p:grpSpPr>
          <p:sp>
            <p:nvSpPr>
              <p:cNvPr id="178" name="Rectangle 178"/>
              <p:cNvSpPr/>
              <p:nvPr/>
            </p:nvSpPr>
            <p:spPr>
              <a:xfrm>
                <a:off x="8458200" y="2228850"/>
                <a:ext cx="1066800" cy="1333500"/>
              </a:xfrm>
              <a:prstGeom prst="roundRect">
                <a:avLst>
                  <a:gd name="adj" fmla="val 5357"/>
                </a:avLst>
              </a:prstGeom>
              <a:solidFill>
                <a:srgbClr val="FFFFFF"/>
              </a:solidFill>
              <a:ln w="9525">
                <a:solidFill>
                  <a:srgbClr val="F7D1C9"/>
                </a:solidFill>
              </a:ln>
            </p:spPr>
          </p:sp>
          <p:sp>
            <p:nvSpPr>
              <p:cNvPr id="179" name="TextBox 179"/>
              <p:cNvSpPr txBox="1"/>
              <p:nvPr/>
            </p:nvSpPr>
            <p:spPr>
              <a:xfrm>
                <a:off x="8653462" y="2338388"/>
                <a:ext cx="6762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473633"/>
                    </a:solidFill>
                    <a:latin typeface="+mn-lt"/>
                    <a:ea typeface="+mn-ea"/>
                    <a:cs typeface="+mn-cs"/>
                  </a:rPr>
                  <a:t>满足单一需求，</a:t>
                </a:r>
                <a:br/>
                <a:r>
                  <a:rPr lang="zh-CN" sz="750" dirty="0">
                    <a:solidFill>
                      <a:srgbClr val="473633"/>
                    </a:solidFill>
                    <a:latin typeface="+mn-lt"/>
                    <a:ea typeface="+mn-ea"/>
                    <a:cs typeface="+mn-cs"/>
                  </a:rPr>
                  <a:t>交易型关系</a:t>
                </a:r>
              </a:p>
            </p:txBody>
          </p:sp>
          <p:sp>
            <p:nvSpPr>
              <p:cNvPr id="180" name="Line 180"/>
              <p:cNvSpPr/>
              <p:nvPr/>
            </p:nvSpPr>
            <p:spPr>
              <a:xfrm>
                <a:off x="8572500" y="2686050"/>
                <a:ext cx="838200" cy="9525"/>
              </a:xfrm>
              <a:custGeom>
                <a:avLst/>
                <a:gdLst/>
                <a:ahLst/>
                <a:cxnLst/>
                <a:rect l="l" t="t" r="r" b="b"/>
                <a:pathLst>
                  <a:path w="838200" h="9525">
                    <a:moveTo>
                      <a:pt x="0" y="0"/>
                    </a:moveTo>
                    <a:lnTo>
                      <a:pt x="838200" y="0"/>
                    </a:lnTo>
                  </a:path>
                </a:pathLst>
              </a:custGeom>
              <a:noFill/>
              <a:ln w="9525">
                <a:solidFill>
                  <a:srgbClr val="DCE6F8"/>
                </a:solidFill>
                <a:custDash>
                  <a:ds d="300000" sp="200000"/>
                </a:custDash>
              </a:ln>
            </p:spPr>
          </p:sp>
          <p:sp>
            <p:nvSpPr>
              <p:cNvPr id="181" name="TextBox 181"/>
              <p:cNvSpPr txBox="1"/>
              <p:nvPr/>
            </p:nvSpPr>
            <p:spPr>
              <a:xfrm>
                <a:off x="8548688" y="2772489"/>
                <a:ext cx="434924"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关键动作</a:t>
                </a:r>
              </a:p>
            </p:txBody>
          </p:sp>
          <p:sp>
            <p:nvSpPr>
              <p:cNvPr id="182" name="TextBox 182"/>
              <p:cNvSpPr txBox="1"/>
              <p:nvPr/>
            </p:nvSpPr>
            <p:spPr>
              <a:xfrm>
                <a:off x="8548688" y="2947988"/>
                <a:ext cx="766762" cy="452438"/>
              </a:xfrm>
              <a:prstGeom prst="rect">
                <a:avLst/>
              </a:prstGeom>
              <a:noFill/>
              <a:ln>
                <a:noFill/>
              </a:ln>
            </p:spPr>
            <p:txBody>
              <a:bodyPr wrap="none" lIns="0" tIns="0" rIns="0" bIns="0" anchor="t" anchorCtr="0">
                <a:spAutoFit/>
              </a:bodyPr>
              <a:lstStyle/>
              <a:p>
                <a:pPr algn="l" marL="80962" indent="-80962">
                  <a:lnSpc>
                    <a:spcPts val="1200"/>
                  </a:lnSpc>
                  <a:buClr>
                    <a:srgbClr val="473633"/>
                  </a:buClr>
                  <a:buSzTx/>
                  <a:buFontTx/>
                  <a:buChar char="•"/>
                </a:pPr>
                <a:r>
                  <a:rPr lang="zh-CN" sz="750" dirty="0">
                    <a:solidFill>
                      <a:srgbClr val="473633"/>
                    </a:solidFill>
                    <a:latin typeface="+mn-lt"/>
                    <a:ea typeface="+mn-ea"/>
                    <a:cs typeface="+mn-cs"/>
                  </a:rPr>
                  <a:t>明确核心需求​​</a:t>
                </a:r>
              </a:p>
              <a:p>
                <a:pPr algn="l" marL="80962" indent="-80962">
                  <a:lnSpc>
                    <a:spcPts val="1200"/>
                  </a:lnSpc>
                  <a:buClr>
                    <a:srgbClr val="473633"/>
                  </a:buClr>
                  <a:buSzTx/>
                  <a:buFontTx/>
                  <a:buChar char="•"/>
                </a:pPr>
                <a:r>
                  <a:rPr lang="zh-CN" sz="750" dirty="0">
                    <a:solidFill>
                      <a:srgbClr val="473633"/>
                    </a:solidFill>
                    <a:latin typeface="+mn-lt"/>
                    <a:ea typeface="+mn-ea"/>
                    <a:cs typeface="+mn-cs"/>
                  </a:rPr>
                  <a:t>快速匹配产品​​</a:t>
                </a:r>
              </a:p>
              <a:p>
                <a:pPr algn="l" marL="80962" indent="-80962">
                  <a:lnSpc>
                    <a:spcPts val="1200"/>
                  </a:lnSpc>
                  <a:buClr>
                    <a:srgbClr val="473633"/>
                  </a:buClr>
                  <a:buSzTx/>
                  <a:buFontTx/>
                  <a:buChar char="•"/>
                </a:pPr>
                <a:r>
                  <a:rPr lang="zh-CN" sz="750" dirty="0">
                    <a:solidFill>
                      <a:srgbClr val="473633"/>
                    </a:solidFill>
                    <a:latin typeface="+mn-lt"/>
                    <a:ea typeface="+mn-ea"/>
                    <a:cs typeface="+mn-cs"/>
                  </a:rPr>
                  <a:t>完成交付​​</a:t>
                </a:r>
              </a:p>
            </p:txBody>
          </p:sp>
        </p:grpSp>
        <p:grpSp>
          <p:nvGrpSpPr>
            <p:cNvPr id="189" name="path-card-2"/>
            <p:cNvGrpSpPr/>
            <p:nvPr/>
          </p:nvGrpSpPr>
          <p:grpSpPr>
            <a:xfrm>
              <a:off x="9601200" y="2228850"/>
              <a:ext cx="1066800" cy="1333500"/>
              <a:chOff x="9601200" y="2228850"/>
              <a:chExt cx="1066800" cy="1333500"/>
            </a:xfrm>
          </p:grpSpPr>
          <p:sp>
            <p:nvSpPr>
              <p:cNvPr id="184" name="Rectangle 184"/>
              <p:cNvSpPr/>
              <p:nvPr/>
            </p:nvSpPr>
            <p:spPr>
              <a:xfrm>
                <a:off x="9601200" y="2228850"/>
                <a:ext cx="1066800" cy="1333500"/>
              </a:xfrm>
              <a:prstGeom prst="roundRect">
                <a:avLst>
                  <a:gd name="adj" fmla="val 5357"/>
                </a:avLst>
              </a:prstGeom>
              <a:solidFill>
                <a:srgbClr val="FFFFFF"/>
              </a:solidFill>
              <a:ln w="9525">
                <a:solidFill>
                  <a:srgbClr val="F7D1C9"/>
                </a:solidFill>
              </a:ln>
            </p:spPr>
          </p:sp>
          <p:sp>
            <p:nvSpPr>
              <p:cNvPr id="185" name="TextBox 185"/>
              <p:cNvSpPr txBox="1"/>
              <p:nvPr/>
            </p:nvSpPr>
            <p:spPr>
              <a:xfrm>
                <a:off x="9796462" y="2338388"/>
                <a:ext cx="6762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473633"/>
                    </a:solidFill>
                    <a:latin typeface="+mn-lt"/>
                    <a:ea typeface="+mn-ea"/>
                    <a:cs typeface="+mn-cs"/>
                  </a:rPr>
                  <a:t>匹配关联场景，</a:t>
                </a:r>
                <a:br/>
                <a:r>
                  <a:rPr lang="zh-CN" sz="750" dirty="0">
                    <a:solidFill>
                      <a:srgbClr val="473633"/>
                    </a:solidFill>
                    <a:latin typeface="+mn-lt"/>
                    <a:ea typeface="+mn-ea"/>
                    <a:cs typeface="+mn-cs"/>
                  </a:rPr>
                  <a:t>组合型关系</a:t>
                </a:r>
              </a:p>
            </p:txBody>
          </p:sp>
          <p:sp>
            <p:nvSpPr>
              <p:cNvPr id="186" name="Line 186"/>
              <p:cNvSpPr/>
              <p:nvPr/>
            </p:nvSpPr>
            <p:spPr>
              <a:xfrm>
                <a:off x="9715500" y="2686050"/>
                <a:ext cx="838200" cy="9525"/>
              </a:xfrm>
              <a:custGeom>
                <a:avLst/>
                <a:gdLst/>
                <a:ahLst/>
                <a:cxnLst/>
                <a:rect l="l" t="t" r="r" b="b"/>
                <a:pathLst>
                  <a:path w="838200" h="9525">
                    <a:moveTo>
                      <a:pt x="0" y="0"/>
                    </a:moveTo>
                    <a:lnTo>
                      <a:pt x="838200" y="0"/>
                    </a:lnTo>
                  </a:path>
                </a:pathLst>
              </a:custGeom>
              <a:noFill/>
              <a:ln w="9525">
                <a:solidFill>
                  <a:srgbClr val="DCE6F8"/>
                </a:solidFill>
                <a:custDash>
                  <a:ds d="300000" sp="200000"/>
                </a:custDash>
              </a:ln>
            </p:spPr>
          </p:sp>
          <p:sp>
            <p:nvSpPr>
              <p:cNvPr id="187" name="TextBox 187"/>
              <p:cNvSpPr txBox="1"/>
              <p:nvPr/>
            </p:nvSpPr>
            <p:spPr>
              <a:xfrm>
                <a:off x="9691688" y="2772489"/>
                <a:ext cx="434924"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关键动作</a:t>
                </a:r>
              </a:p>
            </p:txBody>
          </p:sp>
          <p:sp>
            <p:nvSpPr>
              <p:cNvPr id="188" name="TextBox 188"/>
              <p:cNvSpPr txBox="1"/>
              <p:nvPr/>
            </p:nvSpPr>
            <p:spPr>
              <a:xfrm>
                <a:off x="9691688" y="2947988"/>
                <a:ext cx="766762" cy="452438"/>
              </a:xfrm>
              <a:prstGeom prst="rect">
                <a:avLst/>
              </a:prstGeom>
              <a:noFill/>
              <a:ln>
                <a:noFill/>
              </a:ln>
            </p:spPr>
            <p:txBody>
              <a:bodyPr wrap="none" lIns="0" tIns="0" rIns="0" bIns="0" anchor="t" anchorCtr="0">
                <a:spAutoFit/>
              </a:bodyPr>
              <a:lstStyle/>
              <a:p>
                <a:pPr algn="l" marL="80962" indent="-80962">
                  <a:lnSpc>
                    <a:spcPts val="1200"/>
                  </a:lnSpc>
                  <a:buClr>
                    <a:srgbClr val="473633"/>
                  </a:buClr>
                  <a:buSzTx/>
                  <a:buFontTx/>
                  <a:buChar char="•"/>
                </a:pPr>
                <a:r>
                  <a:rPr lang="zh-CN" sz="750" dirty="0">
                    <a:solidFill>
                      <a:srgbClr val="473633"/>
                    </a:solidFill>
                    <a:latin typeface="+mn-lt"/>
                    <a:ea typeface="+mn-ea"/>
                    <a:cs typeface="+mn-cs"/>
                  </a:rPr>
                  <a:t>识别关联场景​​</a:t>
                </a:r>
              </a:p>
              <a:p>
                <a:pPr algn="l" marL="80962" indent="-80962">
                  <a:lnSpc>
                    <a:spcPts val="1200"/>
                  </a:lnSpc>
                  <a:buClr>
                    <a:srgbClr val="473633"/>
                  </a:buClr>
                  <a:buSzTx/>
                  <a:buFontTx/>
                  <a:buChar char="•"/>
                </a:pPr>
                <a:r>
                  <a:rPr lang="zh-CN" sz="750" dirty="0">
                    <a:solidFill>
                      <a:srgbClr val="473633"/>
                    </a:solidFill>
                    <a:latin typeface="+mn-lt"/>
                    <a:ea typeface="+mn-ea"/>
                    <a:cs typeface="+mn-cs"/>
                  </a:rPr>
                  <a:t>打包组合方案​​</a:t>
                </a:r>
              </a:p>
              <a:p>
                <a:pPr algn="l" marL="80962" indent="-80962">
                  <a:lnSpc>
                    <a:spcPts val="1200"/>
                  </a:lnSpc>
                  <a:buClr>
                    <a:srgbClr val="473633"/>
                  </a:buClr>
                  <a:buSzTx/>
                  <a:buFontTx/>
                  <a:buChar char="•"/>
                </a:pPr>
                <a:r>
                  <a:rPr lang="zh-CN" sz="750" dirty="0">
                    <a:solidFill>
                      <a:srgbClr val="473633"/>
                    </a:solidFill>
                    <a:latin typeface="+mn-lt"/>
                    <a:ea typeface="+mn-ea"/>
                    <a:cs typeface="+mn-cs"/>
                  </a:rPr>
                  <a:t>提升使用深度​​</a:t>
                </a:r>
              </a:p>
            </p:txBody>
          </p:sp>
        </p:grpSp>
        <p:grpSp>
          <p:nvGrpSpPr>
            <p:cNvPr id="195" name="path-card-3"/>
            <p:cNvGrpSpPr/>
            <p:nvPr/>
          </p:nvGrpSpPr>
          <p:grpSpPr>
            <a:xfrm>
              <a:off x="10744200" y="2228850"/>
              <a:ext cx="1066800" cy="1333500"/>
              <a:chOff x="10744200" y="2228850"/>
              <a:chExt cx="1066800" cy="1333500"/>
            </a:xfrm>
          </p:grpSpPr>
          <p:sp>
            <p:nvSpPr>
              <p:cNvPr id="190" name="Rectangle 190"/>
              <p:cNvSpPr/>
              <p:nvPr/>
            </p:nvSpPr>
            <p:spPr>
              <a:xfrm>
                <a:off x="10744200" y="2228850"/>
                <a:ext cx="1066800" cy="1333500"/>
              </a:xfrm>
              <a:prstGeom prst="roundRect">
                <a:avLst>
                  <a:gd name="adj" fmla="val 5357"/>
                </a:avLst>
              </a:prstGeom>
              <a:solidFill>
                <a:srgbClr val="FFFFFF"/>
              </a:solidFill>
              <a:ln w="9525">
                <a:solidFill>
                  <a:srgbClr val="F7D1C9"/>
                </a:solidFill>
              </a:ln>
            </p:spPr>
          </p:sp>
          <p:sp>
            <p:nvSpPr>
              <p:cNvPr id="191" name="TextBox 191"/>
              <p:cNvSpPr txBox="1"/>
              <p:nvPr/>
            </p:nvSpPr>
            <p:spPr>
              <a:xfrm>
                <a:off x="10939462" y="2338388"/>
                <a:ext cx="6762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473633"/>
                    </a:solidFill>
                    <a:latin typeface="+mn-lt"/>
                    <a:ea typeface="+mn-ea"/>
                    <a:cs typeface="+mn-cs"/>
                  </a:rPr>
                  <a:t>覆盖多元需求，</a:t>
                </a:r>
                <a:br/>
                <a:r>
                  <a:rPr lang="zh-CN" sz="750" dirty="0">
                    <a:solidFill>
                      <a:srgbClr val="473633"/>
                    </a:solidFill>
                    <a:latin typeface="+mn-lt"/>
                    <a:ea typeface="+mn-ea"/>
                    <a:cs typeface="+mn-cs"/>
                  </a:rPr>
                  <a:t>伙伴型关系</a:t>
                </a:r>
              </a:p>
            </p:txBody>
          </p:sp>
          <p:sp>
            <p:nvSpPr>
              <p:cNvPr id="192" name="Line 192"/>
              <p:cNvSpPr/>
              <p:nvPr/>
            </p:nvSpPr>
            <p:spPr>
              <a:xfrm>
                <a:off x="10858500" y="2686050"/>
                <a:ext cx="838200" cy="9525"/>
              </a:xfrm>
              <a:custGeom>
                <a:avLst/>
                <a:gdLst/>
                <a:ahLst/>
                <a:cxnLst/>
                <a:rect l="l" t="t" r="r" b="b"/>
                <a:pathLst>
                  <a:path w="838200" h="9525">
                    <a:moveTo>
                      <a:pt x="0" y="0"/>
                    </a:moveTo>
                    <a:lnTo>
                      <a:pt x="838200" y="0"/>
                    </a:lnTo>
                  </a:path>
                </a:pathLst>
              </a:custGeom>
              <a:noFill/>
              <a:ln w="9525">
                <a:solidFill>
                  <a:srgbClr val="DCE6F8"/>
                </a:solidFill>
                <a:custDash>
                  <a:ds d="300000" sp="200000"/>
                </a:custDash>
              </a:ln>
            </p:spPr>
          </p:sp>
          <p:sp>
            <p:nvSpPr>
              <p:cNvPr id="193" name="TextBox 193"/>
              <p:cNvSpPr txBox="1"/>
              <p:nvPr/>
            </p:nvSpPr>
            <p:spPr>
              <a:xfrm>
                <a:off x="10834688" y="2772489"/>
                <a:ext cx="434924"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关键动作</a:t>
                </a:r>
              </a:p>
            </p:txBody>
          </p:sp>
          <p:sp>
            <p:nvSpPr>
              <p:cNvPr id="194" name="TextBox 194"/>
              <p:cNvSpPr txBox="1"/>
              <p:nvPr/>
            </p:nvSpPr>
            <p:spPr>
              <a:xfrm>
                <a:off x="10834688" y="2947988"/>
                <a:ext cx="766762" cy="452438"/>
              </a:xfrm>
              <a:prstGeom prst="rect">
                <a:avLst/>
              </a:prstGeom>
              <a:noFill/>
              <a:ln>
                <a:noFill/>
              </a:ln>
            </p:spPr>
            <p:txBody>
              <a:bodyPr wrap="none" lIns="0" tIns="0" rIns="0" bIns="0" anchor="t" anchorCtr="0">
                <a:spAutoFit/>
              </a:bodyPr>
              <a:lstStyle/>
              <a:p>
                <a:pPr algn="l" marL="80962" indent="-80962">
                  <a:lnSpc>
                    <a:spcPts val="1200"/>
                  </a:lnSpc>
                  <a:buClr>
                    <a:srgbClr val="473633"/>
                  </a:buClr>
                  <a:buSzTx/>
                  <a:buFontTx/>
                  <a:buChar char="•"/>
                </a:pPr>
                <a:r>
                  <a:rPr lang="zh-CN" sz="750" dirty="0">
                    <a:solidFill>
                      <a:srgbClr val="473633"/>
                    </a:solidFill>
                    <a:latin typeface="+mn-lt"/>
                    <a:ea typeface="+mn-ea"/>
                    <a:cs typeface="+mn-cs"/>
                  </a:rPr>
                  <a:t>统筹客户需求​​</a:t>
                </a:r>
              </a:p>
              <a:p>
                <a:pPr algn="l" marL="80962" indent="-80962">
                  <a:lnSpc>
                    <a:spcPts val="1200"/>
                  </a:lnSpc>
                  <a:buClr>
                    <a:srgbClr val="473633"/>
                  </a:buClr>
                  <a:buSzTx/>
                  <a:buFontTx/>
                  <a:buChar char="•"/>
                </a:pPr>
                <a:r>
                  <a:rPr lang="zh-CN" sz="750" dirty="0">
                    <a:solidFill>
                      <a:srgbClr val="473633"/>
                    </a:solidFill>
                    <a:latin typeface="+mn-lt"/>
                    <a:ea typeface="+mn-ea"/>
                    <a:cs typeface="+mn-cs"/>
                  </a:rPr>
                  <a:t>提供综合方案​​</a:t>
                </a:r>
              </a:p>
              <a:p>
                <a:pPr algn="l" marL="80962" indent="-80962">
                  <a:lnSpc>
                    <a:spcPts val="1200"/>
                  </a:lnSpc>
                  <a:buClr>
                    <a:srgbClr val="473633"/>
                  </a:buClr>
                  <a:buSzTx/>
                  <a:buFontTx/>
                  <a:buChar char="•"/>
                </a:pPr>
                <a:r>
                  <a:rPr lang="zh-CN" sz="750" dirty="0">
                    <a:solidFill>
                      <a:srgbClr val="473633"/>
                    </a:solidFill>
                    <a:latin typeface="+mn-lt"/>
                    <a:ea typeface="+mn-ea"/>
                    <a:cs typeface="+mn-cs"/>
                  </a:rPr>
                  <a:t>长期价值共创​​</a:t>
                </a:r>
              </a:p>
            </p:txBody>
          </p:sp>
        </p:grpSp>
        <p:sp>
          <p:nvSpPr>
            <p:cNvPr id="196" name="TextBox 196"/>
            <p:cNvSpPr txBox="1"/>
            <p:nvPr/>
          </p:nvSpPr>
          <p:spPr>
            <a:xfrm>
              <a:off x="8472488" y="3705939"/>
              <a:ext cx="434924"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客户价值</a:t>
              </a:r>
            </a:p>
          </p:txBody>
        </p:sp>
        <p:sp>
          <p:nvSpPr>
            <p:cNvPr id="197" name="TextBox 197"/>
            <p:cNvSpPr txBox="1"/>
            <p:nvPr/>
          </p:nvSpPr>
          <p:spPr>
            <a:xfrm>
              <a:off x="9005888" y="3705939"/>
              <a:ext cx="115875" cy="154781"/>
            </a:xfrm>
            <a:prstGeom prst="rect">
              <a:avLst/>
            </a:prstGeom>
            <a:noFill/>
            <a:ln>
              <a:noFill/>
            </a:ln>
          </p:spPr>
          <p:txBody>
            <a:bodyPr wrap="none" lIns="0" tIns="0" rIns="0" bIns="0" anchor="t" anchorCtr="0">
              <a:spAutoFit/>
            </a:bodyPr>
            <a:lstStyle/>
            <a:p>
              <a:pPr algn="l"/>
              <a:r>
                <a:rPr lang="zh-CN" sz="790" dirty="0">
                  <a:solidFill>
                    <a:srgbClr val="6B7280"/>
                  </a:solidFill>
                  <a:latin typeface="+mn-lt"/>
                  <a:ea typeface="+mn-ea"/>
                  <a:cs typeface="+mn-cs"/>
                </a:rPr>
                <a:t>低</a:t>
              </a:r>
            </a:p>
          </p:txBody>
        </p:sp>
        <p:sp>
          <p:nvSpPr>
            <p:cNvPr id="198" name="Line 198"/>
            <p:cNvSpPr/>
            <p:nvPr/>
          </p:nvSpPr>
          <p:spPr>
            <a:xfrm>
              <a:off x="9182100" y="3752850"/>
              <a:ext cx="2343150" cy="1"/>
            </a:xfrm>
            <a:prstGeom prst="line">
              <a:avLst/>
            </a:prstGeom>
            <a:noFill/>
            <a:ln w="11430">
              <a:solidFill>
                <a:srgbClr val="D44B2F"/>
              </a:solidFill>
              <a:custDash>
                <a:ds d="333333" sp="250000"/>
              </a:custDash>
              <a:tailEnd type="triangle" w="lg" len="lg"/>
            </a:ln>
          </p:spPr>
        </p:sp>
        <p:sp>
          <p:nvSpPr>
            <p:cNvPr id="199" name="TextBox 199"/>
            <p:cNvSpPr txBox="1"/>
            <p:nvPr/>
          </p:nvSpPr>
          <p:spPr>
            <a:xfrm>
              <a:off x="11634788" y="3705939"/>
              <a:ext cx="115875"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高</a:t>
              </a:r>
            </a:p>
          </p:txBody>
        </p:sp>
        <p:sp>
          <p:nvSpPr>
            <p:cNvPr id="200" name="TextBox 200"/>
            <p:cNvSpPr txBox="1"/>
            <p:nvPr/>
          </p:nvSpPr>
          <p:spPr>
            <a:xfrm>
              <a:off x="8472488" y="3896439"/>
              <a:ext cx="434924"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银行收益</a:t>
              </a:r>
            </a:p>
          </p:txBody>
        </p:sp>
        <p:sp>
          <p:nvSpPr>
            <p:cNvPr id="201" name="TextBox 201"/>
            <p:cNvSpPr txBox="1"/>
            <p:nvPr/>
          </p:nvSpPr>
          <p:spPr>
            <a:xfrm>
              <a:off x="9005888" y="3896439"/>
              <a:ext cx="115875" cy="154781"/>
            </a:xfrm>
            <a:prstGeom prst="rect">
              <a:avLst/>
            </a:prstGeom>
            <a:noFill/>
            <a:ln>
              <a:noFill/>
            </a:ln>
          </p:spPr>
          <p:txBody>
            <a:bodyPr wrap="none" lIns="0" tIns="0" rIns="0" bIns="0" anchor="t" anchorCtr="0">
              <a:spAutoFit/>
            </a:bodyPr>
            <a:lstStyle/>
            <a:p>
              <a:pPr algn="l"/>
              <a:r>
                <a:rPr lang="zh-CN" sz="790" dirty="0">
                  <a:solidFill>
                    <a:srgbClr val="6B7280"/>
                  </a:solidFill>
                  <a:latin typeface="+mn-lt"/>
                  <a:ea typeface="+mn-ea"/>
                  <a:cs typeface="+mn-cs"/>
                </a:rPr>
                <a:t>低</a:t>
              </a:r>
            </a:p>
          </p:txBody>
        </p:sp>
        <p:sp>
          <p:nvSpPr>
            <p:cNvPr id="202" name="Line 202"/>
            <p:cNvSpPr/>
            <p:nvPr/>
          </p:nvSpPr>
          <p:spPr>
            <a:xfrm>
              <a:off x="9182100" y="3943350"/>
              <a:ext cx="2343150" cy="1"/>
            </a:xfrm>
            <a:prstGeom prst="line">
              <a:avLst/>
            </a:prstGeom>
            <a:noFill/>
            <a:ln w="11430">
              <a:solidFill>
                <a:srgbClr val="D44B2F"/>
              </a:solidFill>
              <a:custDash>
                <a:ds d="333333" sp="250000"/>
              </a:custDash>
              <a:tailEnd type="triangle" w="lg" len="lg"/>
            </a:ln>
          </p:spPr>
        </p:sp>
        <p:sp>
          <p:nvSpPr>
            <p:cNvPr id="203" name="TextBox 203"/>
            <p:cNvSpPr txBox="1"/>
            <p:nvPr/>
          </p:nvSpPr>
          <p:spPr>
            <a:xfrm>
              <a:off x="11634788" y="3896439"/>
              <a:ext cx="115875"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高</a:t>
              </a:r>
            </a:p>
          </p:txBody>
        </p:sp>
      </p:grpSp>
      <p:grpSp>
        <p:nvGrpSpPr>
          <p:cNvPr id="287" name="family-table"/>
          <p:cNvGrpSpPr/>
          <p:nvPr/>
        </p:nvGrpSpPr>
        <p:grpSpPr>
          <a:xfrm>
            <a:off x="266700" y="4248150"/>
            <a:ext cx="11658600" cy="2324100"/>
            <a:chOff x="266700" y="4248150"/>
            <a:chExt cx="11658600" cy="2324100"/>
          </a:xfrm>
        </p:grpSpPr>
        <p:sp>
          <p:nvSpPr>
            <p:cNvPr id="205" name="Rectangle 205"/>
            <p:cNvSpPr/>
            <p:nvPr/>
          </p:nvSpPr>
          <p:spPr>
            <a:xfrm>
              <a:off x="266700" y="4248150"/>
              <a:ext cx="11658600" cy="2324100"/>
            </a:xfrm>
            <a:prstGeom prst="roundRect">
              <a:avLst>
                <a:gd name="adj" fmla="val 2459"/>
              </a:avLst>
            </a:prstGeom>
            <a:solidFill>
              <a:srgbClr val="FFFFFF"/>
            </a:solidFill>
            <a:ln w="9525">
              <a:solidFill>
                <a:srgbClr val="F7D1C9"/>
              </a:solidFill>
            </a:ln>
          </p:spPr>
        </p:sp>
        <p:sp>
          <p:nvSpPr>
            <p:cNvPr id="206" name="Freeform 206"/>
            <p:cNvSpPr/>
            <p:nvPr/>
          </p:nvSpPr>
          <p:spPr>
            <a:xfrm>
              <a:off x="266700" y="4248150"/>
              <a:ext cx="11658600" cy="304800"/>
            </a:xfrm>
            <a:custGeom>
              <a:avLst/>
              <a:gdLst/>
              <a:ahLst/>
              <a:cxnLst/>
              <a:rect l="l" t="t" r="r" b="b"/>
              <a:pathLst>
                <a:path w="11658600" h="304800">
                  <a:moveTo>
                    <a:pt x="0" y="57150"/>
                  </a:moveTo>
                  <a:cubicBezTo>
                    <a:pt x="0" y="25587"/>
                    <a:pt x="25587" y="0"/>
                    <a:pt x="57150" y="0"/>
                  </a:cubicBezTo>
                  <a:lnTo>
                    <a:pt x="11601450" y="0"/>
                  </a:lnTo>
                  <a:cubicBezTo>
                    <a:pt x="11633013" y="0"/>
                    <a:pt x="11658600" y="25587"/>
                    <a:pt x="11658600" y="57150"/>
                  </a:cubicBezTo>
                  <a:lnTo>
                    <a:pt x="11658600" y="304800"/>
                  </a:lnTo>
                  <a:lnTo>
                    <a:pt x="0" y="304800"/>
                  </a:lnTo>
                  <a:close/>
                </a:path>
              </a:pathLst>
            </a:custGeom>
            <a:solidFill>
              <a:srgbClr val="B92102"/>
            </a:solidFill>
            <a:ln>
              <a:noFill/>
            </a:ln>
          </p:spPr>
        </p:sp>
        <p:sp>
          <p:nvSpPr>
            <p:cNvPr id="207" name="Line 207"/>
            <p:cNvSpPr/>
            <p:nvPr/>
          </p:nvSpPr>
          <p:spPr>
            <a:xfrm>
              <a:off x="1809750" y="4305300"/>
              <a:ext cx="9525" cy="190500"/>
            </a:xfrm>
            <a:custGeom>
              <a:avLst/>
              <a:gdLst/>
              <a:ahLst/>
              <a:cxnLst/>
              <a:rect l="l" t="t" r="r" b="b"/>
              <a:pathLst>
                <a:path w="9525" h="190500">
                  <a:moveTo>
                    <a:pt x="0" y="0"/>
                  </a:moveTo>
                  <a:lnTo>
                    <a:pt x="0" y="190500"/>
                  </a:lnTo>
                </a:path>
              </a:pathLst>
            </a:custGeom>
            <a:noFill/>
            <a:ln w="9525">
              <a:solidFill>
                <a:srgbClr val="D9705B"/>
              </a:solidFill>
            </a:ln>
          </p:spPr>
        </p:sp>
        <p:sp>
          <p:nvSpPr>
            <p:cNvPr id="208" name="Line 208"/>
            <p:cNvSpPr/>
            <p:nvPr/>
          </p:nvSpPr>
          <p:spPr>
            <a:xfrm>
              <a:off x="3667125" y="4305300"/>
              <a:ext cx="9525" cy="190500"/>
            </a:xfrm>
            <a:custGeom>
              <a:avLst/>
              <a:gdLst/>
              <a:ahLst/>
              <a:cxnLst/>
              <a:rect l="l" t="t" r="r" b="b"/>
              <a:pathLst>
                <a:path w="9525" h="190500">
                  <a:moveTo>
                    <a:pt x="0" y="0"/>
                  </a:moveTo>
                  <a:lnTo>
                    <a:pt x="0" y="190500"/>
                  </a:lnTo>
                </a:path>
              </a:pathLst>
            </a:custGeom>
            <a:noFill/>
            <a:ln w="9525">
              <a:solidFill>
                <a:srgbClr val="D9705B"/>
              </a:solidFill>
            </a:ln>
          </p:spPr>
        </p:sp>
        <p:sp>
          <p:nvSpPr>
            <p:cNvPr id="209" name="Line 209"/>
            <p:cNvSpPr/>
            <p:nvPr/>
          </p:nvSpPr>
          <p:spPr>
            <a:xfrm>
              <a:off x="6238875" y="4305300"/>
              <a:ext cx="9525" cy="190500"/>
            </a:xfrm>
            <a:custGeom>
              <a:avLst/>
              <a:gdLst/>
              <a:ahLst/>
              <a:cxnLst/>
              <a:rect l="l" t="t" r="r" b="b"/>
              <a:pathLst>
                <a:path w="9525" h="190500">
                  <a:moveTo>
                    <a:pt x="0" y="0"/>
                  </a:moveTo>
                  <a:lnTo>
                    <a:pt x="0" y="190500"/>
                  </a:lnTo>
                </a:path>
              </a:pathLst>
            </a:custGeom>
            <a:noFill/>
            <a:ln w="9525">
              <a:solidFill>
                <a:srgbClr val="D9705B"/>
              </a:solidFill>
            </a:ln>
          </p:spPr>
        </p:sp>
        <p:sp>
          <p:nvSpPr>
            <p:cNvPr id="210" name="Line 210"/>
            <p:cNvSpPr/>
            <p:nvPr/>
          </p:nvSpPr>
          <p:spPr>
            <a:xfrm>
              <a:off x="8715375" y="4305300"/>
              <a:ext cx="9525" cy="190500"/>
            </a:xfrm>
            <a:custGeom>
              <a:avLst/>
              <a:gdLst/>
              <a:ahLst/>
              <a:cxnLst/>
              <a:rect l="l" t="t" r="r" b="b"/>
              <a:pathLst>
                <a:path w="9525" h="190500">
                  <a:moveTo>
                    <a:pt x="0" y="0"/>
                  </a:moveTo>
                  <a:lnTo>
                    <a:pt x="0" y="190500"/>
                  </a:lnTo>
                </a:path>
              </a:pathLst>
            </a:custGeom>
            <a:noFill/>
            <a:ln w="9525">
              <a:solidFill>
                <a:srgbClr val="D9705B"/>
              </a:solidFill>
            </a:ln>
          </p:spPr>
        </p:sp>
        <p:sp>
          <p:nvSpPr>
            <p:cNvPr id="211" name="TextBox 211"/>
            <p:cNvSpPr txBox="1"/>
            <p:nvPr/>
          </p:nvSpPr>
          <p:spPr>
            <a:xfrm>
              <a:off x="829132" y="4338876"/>
              <a:ext cx="418186"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产品族</a:t>
              </a:r>
            </a:p>
          </p:txBody>
        </p:sp>
        <p:sp>
          <p:nvSpPr>
            <p:cNvPr id="212" name="TextBox 212"/>
            <p:cNvSpPr txBox="1"/>
            <p:nvPr/>
          </p:nvSpPr>
          <p:spPr>
            <a:xfrm>
              <a:off x="2456599" y="4338876"/>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目标客群</a:t>
              </a:r>
            </a:p>
          </p:txBody>
        </p:sp>
        <p:sp>
          <p:nvSpPr>
            <p:cNvPr id="213" name="TextBox 213"/>
            <p:cNvSpPr txBox="1"/>
            <p:nvPr/>
          </p:nvSpPr>
          <p:spPr>
            <a:xfrm>
              <a:off x="4675924" y="4338876"/>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核心场景</a:t>
              </a:r>
            </a:p>
          </p:txBody>
        </p:sp>
        <p:sp>
          <p:nvSpPr>
            <p:cNvPr id="214" name="TextBox 214"/>
            <p:cNvSpPr txBox="1"/>
            <p:nvPr/>
          </p:nvSpPr>
          <p:spPr>
            <a:xfrm>
              <a:off x="7200049" y="4338876"/>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联动部门</a:t>
              </a:r>
            </a:p>
          </p:txBody>
        </p:sp>
        <p:sp>
          <p:nvSpPr>
            <p:cNvPr id="215" name="TextBox 215"/>
            <p:cNvSpPr txBox="1"/>
            <p:nvPr/>
          </p:nvSpPr>
          <p:spPr>
            <a:xfrm>
              <a:off x="9949441" y="4338876"/>
              <a:ext cx="732268"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9月动作​​​</a:t>
              </a:r>
            </a:p>
          </p:txBody>
        </p:sp>
        <p:sp>
          <p:nvSpPr>
            <p:cNvPr id="216" name="Rectangle 216"/>
            <p:cNvSpPr/>
            <p:nvPr/>
          </p:nvSpPr>
          <p:spPr>
            <a:xfrm>
              <a:off x="276225" y="4886325"/>
              <a:ext cx="11639550" cy="333375"/>
            </a:xfrm>
            <a:prstGeom prst="rect">
              <a:avLst/>
            </a:prstGeom>
            <a:solidFill>
              <a:srgbClr val="F2F7FE"/>
            </a:solidFill>
            <a:ln>
              <a:noFill/>
            </a:ln>
          </p:spPr>
        </p:sp>
        <p:sp>
          <p:nvSpPr>
            <p:cNvPr id="217" name="Rectangle 217"/>
            <p:cNvSpPr/>
            <p:nvPr/>
          </p:nvSpPr>
          <p:spPr>
            <a:xfrm>
              <a:off x="276225" y="5553075"/>
              <a:ext cx="11639550" cy="333375"/>
            </a:xfrm>
            <a:prstGeom prst="rect">
              <a:avLst/>
            </a:prstGeom>
            <a:solidFill>
              <a:srgbClr val="F2F7FE"/>
            </a:solidFill>
            <a:ln>
              <a:noFill/>
            </a:ln>
          </p:spPr>
        </p:sp>
        <p:sp>
          <p:nvSpPr>
            <p:cNvPr id="218" name="Rectangle 218"/>
            <p:cNvSpPr/>
            <p:nvPr/>
          </p:nvSpPr>
          <p:spPr>
            <a:xfrm>
              <a:off x="276225" y="6219825"/>
              <a:ext cx="11639550" cy="333375"/>
            </a:xfrm>
            <a:prstGeom prst="rect">
              <a:avLst/>
            </a:prstGeom>
            <a:solidFill>
              <a:srgbClr val="F2F7FE"/>
            </a:solidFill>
            <a:ln>
              <a:noFill/>
            </a:ln>
          </p:spPr>
        </p:sp>
        <p:sp>
          <p:nvSpPr>
            <p:cNvPr id="219" name="Line 219"/>
            <p:cNvSpPr/>
            <p:nvPr/>
          </p:nvSpPr>
          <p:spPr>
            <a:xfrm>
              <a:off x="1809750" y="4552950"/>
              <a:ext cx="9525" cy="2019300"/>
            </a:xfrm>
            <a:custGeom>
              <a:avLst/>
              <a:gdLst/>
              <a:ahLst/>
              <a:cxnLst/>
              <a:rect l="l" t="t" r="r" b="b"/>
              <a:pathLst>
                <a:path w="9525" h="2019300">
                  <a:moveTo>
                    <a:pt x="0" y="0"/>
                  </a:moveTo>
                  <a:lnTo>
                    <a:pt x="0" y="2019300"/>
                  </a:lnTo>
                </a:path>
              </a:pathLst>
            </a:custGeom>
            <a:noFill/>
            <a:ln w="9525">
              <a:solidFill>
                <a:srgbClr val="DCE6F8"/>
              </a:solidFill>
            </a:ln>
          </p:spPr>
        </p:sp>
        <p:sp>
          <p:nvSpPr>
            <p:cNvPr id="220" name="Line 220"/>
            <p:cNvSpPr/>
            <p:nvPr/>
          </p:nvSpPr>
          <p:spPr>
            <a:xfrm>
              <a:off x="3667125" y="4552950"/>
              <a:ext cx="9525" cy="2019300"/>
            </a:xfrm>
            <a:custGeom>
              <a:avLst/>
              <a:gdLst/>
              <a:ahLst/>
              <a:cxnLst/>
              <a:rect l="l" t="t" r="r" b="b"/>
              <a:pathLst>
                <a:path w="9525" h="2019300">
                  <a:moveTo>
                    <a:pt x="0" y="0"/>
                  </a:moveTo>
                  <a:lnTo>
                    <a:pt x="0" y="2019300"/>
                  </a:lnTo>
                </a:path>
              </a:pathLst>
            </a:custGeom>
            <a:noFill/>
            <a:ln w="9525">
              <a:solidFill>
                <a:srgbClr val="DCE6F8"/>
              </a:solidFill>
            </a:ln>
          </p:spPr>
        </p:sp>
        <p:sp>
          <p:nvSpPr>
            <p:cNvPr id="221" name="Line 221"/>
            <p:cNvSpPr/>
            <p:nvPr/>
          </p:nvSpPr>
          <p:spPr>
            <a:xfrm>
              <a:off x="6238875" y="4552950"/>
              <a:ext cx="9525" cy="2019300"/>
            </a:xfrm>
            <a:custGeom>
              <a:avLst/>
              <a:gdLst/>
              <a:ahLst/>
              <a:cxnLst/>
              <a:rect l="l" t="t" r="r" b="b"/>
              <a:pathLst>
                <a:path w="9525" h="2019300">
                  <a:moveTo>
                    <a:pt x="0" y="0"/>
                  </a:moveTo>
                  <a:lnTo>
                    <a:pt x="0" y="2019300"/>
                  </a:lnTo>
                </a:path>
              </a:pathLst>
            </a:custGeom>
            <a:noFill/>
            <a:ln w="9525">
              <a:solidFill>
                <a:srgbClr val="DCE6F8"/>
              </a:solidFill>
            </a:ln>
          </p:spPr>
        </p:sp>
        <p:sp>
          <p:nvSpPr>
            <p:cNvPr id="222" name="Line 222"/>
            <p:cNvSpPr/>
            <p:nvPr/>
          </p:nvSpPr>
          <p:spPr>
            <a:xfrm>
              <a:off x="8715375" y="4552950"/>
              <a:ext cx="9525" cy="2019300"/>
            </a:xfrm>
            <a:custGeom>
              <a:avLst/>
              <a:gdLst/>
              <a:ahLst/>
              <a:cxnLst/>
              <a:rect l="l" t="t" r="r" b="b"/>
              <a:pathLst>
                <a:path w="9525" h="2019300">
                  <a:moveTo>
                    <a:pt x="0" y="0"/>
                  </a:moveTo>
                  <a:lnTo>
                    <a:pt x="0" y="2019300"/>
                  </a:lnTo>
                </a:path>
              </a:pathLst>
            </a:custGeom>
            <a:noFill/>
            <a:ln w="9525">
              <a:solidFill>
                <a:srgbClr val="DCE6F8"/>
              </a:solidFill>
            </a:ln>
          </p:spPr>
        </p:sp>
        <p:grpSp>
          <p:nvGrpSpPr>
            <p:cNvPr id="233" name="fam-1"/>
            <p:cNvGrpSpPr/>
            <p:nvPr/>
          </p:nvGrpSpPr>
          <p:grpSpPr>
            <a:xfrm>
              <a:off x="421481" y="4670822"/>
              <a:ext cx="10992647" cy="183356"/>
              <a:chOff x="421481" y="4670822"/>
              <a:chExt cx="10992647" cy="183356"/>
            </a:xfrm>
          </p:grpSpPr>
          <p:grpSp>
            <p:nvGrpSpPr>
              <p:cNvPr id="227" name="Group 227"/>
              <p:cNvGrpSpPr/>
              <p:nvPr/>
            </p:nvGrpSpPr>
            <p:grpSpPr>
              <a:xfrm>
                <a:off x="421481" y="4674394"/>
                <a:ext cx="128588" cy="100012"/>
                <a:chOff x="421481" y="4674394"/>
                <a:chExt cx="128588" cy="100012"/>
              </a:xfrm>
            </p:grpSpPr>
            <p:sp>
              <p:nvSpPr>
                <p:cNvPr id="223" name="Freeform 223"/>
                <p:cNvSpPr/>
                <p:nvPr/>
              </p:nvSpPr>
              <p:spPr>
                <a:xfrm>
                  <a:off x="421481" y="4674394"/>
                  <a:ext cx="128588" cy="100012"/>
                </a:xfrm>
                <a:custGeom>
                  <a:avLst/>
                  <a:gdLst/>
                  <a:ahLst/>
                  <a:cxnLst/>
                  <a:rect l="l" t="t" r="r" b="b"/>
                  <a:pathLst>
                    <a:path w="128588" h="100012">
                      <a:moveTo>
                        <a:pt x="0" y="21431"/>
                      </a:moveTo>
                      <a:cubicBezTo>
                        <a:pt x="0" y="9595"/>
                        <a:pt x="9595" y="0"/>
                        <a:pt x="21431" y="0"/>
                      </a:cubicBezTo>
                      <a:lnTo>
                        <a:pt x="107156" y="0"/>
                      </a:lnTo>
                      <a:cubicBezTo>
                        <a:pt x="118992" y="0"/>
                        <a:pt x="128588" y="9595"/>
                        <a:pt x="128588" y="21431"/>
                      </a:cubicBezTo>
                      <a:lnTo>
                        <a:pt x="128588" y="78581"/>
                      </a:lnTo>
                      <a:cubicBezTo>
                        <a:pt x="128588" y="90417"/>
                        <a:pt x="118992" y="100012"/>
                        <a:pt x="107156" y="100012"/>
                      </a:cubicBezTo>
                      <a:lnTo>
                        <a:pt x="21431" y="100012"/>
                      </a:lnTo>
                      <a:cubicBezTo>
                        <a:pt x="9595" y="100012"/>
                        <a:pt x="0" y="90417"/>
                        <a:pt x="0" y="78581"/>
                      </a:cubicBezTo>
                      <a:lnTo>
                        <a:pt x="0" y="21431"/>
                      </a:lnTo>
                    </a:path>
                  </a:pathLst>
                </a:custGeom>
                <a:noFill/>
                <a:ln w="14288">
                  <a:solidFill>
                    <a:srgbClr val="B92102"/>
                  </a:solidFill>
                </a:ln>
              </p:spPr>
            </p:sp>
            <p:sp>
              <p:nvSpPr>
                <p:cNvPr id="224" name="Freeform 224"/>
                <p:cNvSpPr/>
                <p:nvPr/>
              </p:nvSpPr>
              <p:spPr>
                <a:xfrm>
                  <a:off x="421481" y="4710112"/>
                  <a:ext cx="128588" cy="9525"/>
                </a:xfrm>
                <a:custGeom>
                  <a:avLst/>
                  <a:gdLst/>
                  <a:ahLst/>
                  <a:cxnLst/>
                  <a:rect l="l" t="t" r="r" b="b"/>
                  <a:pathLst>
                    <a:path w="128588" h="9525">
                      <a:moveTo>
                        <a:pt x="0" y="0"/>
                      </a:moveTo>
                      <a:lnTo>
                        <a:pt x="128588" y="0"/>
                      </a:lnTo>
                    </a:path>
                  </a:pathLst>
                </a:custGeom>
                <a:noFill/>
                <a:ln w="14288">
                  <a:solidFill>
                    <a:srgbClr val="B92102"/>
                  </a:solidFill>
                </a:ln>
              </p:spPr>
            </p:sp>
            <p:sp>
              <p:nvSpPr>
                <p:cNvPr id="225" name="Freeform 225"/>
                <p:cNvSpPr/>
                <p:nvPr/>
              </p:nvSpPr>
              <p:spPr>
                <a:xfrm>
                  <a:off x="450056" y="4745831"/>
                  <a:ext cx="9525" cy="9525"/>
                </a:xfrm>
                <a:custGeom>
                  <a:avLst/>
                  <a:gdLst/>
                  <a:ahLst/>
                  <a:cxnLst/>
                  <a:rect l="l" t="t" r="r" b="b"/>
                  <a:pathLst>
                    <a:path w="9525" h="9525">
                      <a:moveTo>
                        <a:pt x="0" y="0"/>
                      </a:moveTo>
                      <a:lnTo>
                        <a:pt x="71" y="0"/>
                      </a:lnTo>
                    </a:path>
                  </a:pathLst>
                </a:custGeom>
                <a:noFill/>
                <a:ln w="14288">
                  <a:solidFill>
                    <a:srgbClr val="B92102"/>
                  </a:solidFill>
                </a:ln>
              </p:spPr>
            </p:sp>
            <p:sp>
              <p:nvSpPr>
                <p:cNvPr id="226" name="Freeform 226"/>
                <p:cNvSpPr/>
                <p:nvPr/>
              </p:nvSpPr>
              <p:spPr>
                <a:xfrm>
                  <a:off x="478631" y="4745831"/>
                  <a:ext cx="14288" cy="9525"/>
                </a:xfrm>
                <a:custGeom>
                  <a:avLst/>
                  <a:gdLst/>
                  <a:ahLst/>
                  <a:cxnLst/>
                  <a:rect l="l" t="t" r="r" b="b"/>
                  <a:pathLst>
                    <a:path w="14288" h="9525">
                      <a:moveTo>
                        <a:pt x="0" y="0"/>
                      </a:moveTo>
                      <a:lnTo>
                        <a:pt x="14288" y="0"/>
                      </a:lnTo>
                    </a:path>
                  </a:pathLst>
                </a:custGeom>
                <a:noFill/>
                <a:ln w="14288">
                  <a:solidFill>
                    <a:srgbClr val="B92102"/>
                  </a:solidFill>
                </a:ln>
              </p:spPr>
            </p:sp>
          </p:grpSp>
          <p:sp>
            <p:nvSpPr>
              <p:cNvPr id="228" name="TextBox 228"/>
              <p:cNvSpPr txBox="1"/>
              <p:nvPr/>
            </p:nvSpPr>
            <p:spPr>
              <a:xfrm>
                <a:off x="642938" y="4670822"/>
                <a:ext cx="642239"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结算服务族</a:t>
                </a:r>
              </a:p>
            </p:txBody>
          </p:sp>
          <p:sp>
            <p:nvSpPr>
              <p:cNvPr id="229" name="TextBox 229"/>
              <p:cNvSpPr txBox="1"/>
              <p:nvPr/>
            </p:nvSpPr>
            <p:spPr>
              <a:xfrm>
                <a:off x="1919288" y="4678918"/>
                <a:ext cx="1346705"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贸易型企业、个体工商户​</a:t>
                </a:r>
              </a:p>
            </p:txBody>
          </p:sp>
          <p:sp>
            <p:nvSpPr>
              <p:cNvPr id="230" name="TextBox 230"/>
              <p:cNvSpPr txBox="1"/>
              <p:nvPr/>
            </p:nvSpPr>
            <p:spPr>
              <a:xfrm>
                <a:off x="3786188" y="4678918"/>
                <a:ext cx="1809798"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日常收付款、批量代发、对公结算​</a:t>
                </a:r>
              </a:p>
            </p:txBody>
          </p:sp>
          <p:sp>
            <p:nvSpPr>
              <p:cNvPr id="231" name="TextBox 231"/>
              <p:cNvSpPr txBox="1"/>
              <p:nvPr/>
            </p:nvSpPr>
            <p:spPr>
              <a:xfrm>
                <a:off x="6357938" y="4678918"/>
                <a:ext cx="1809798"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公司业务部、交易银行部、科技部​</a:t>
                </a:r>
              </a:p>
            </p:txBody>
          </p:sp>
          <p:sp>
            <p:nvSpPr>
              <p:cNvPr id="232" name="TextBox 232"/>
              <p:cNvSpPr txBox="1"/>
              <p:nvPr/>
            </p:nvSpPr>
            <p:spPr>
              <a:xfrm>
                <a:off x="8834438" y="4678918"/>
                <a:ext cx="2579690"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深化存量客户结算渗透，拓展新客户+代发组合​​​</a:t>
                </a:r>
              </a:p>
            </p:txBody>
          </p:sp>
        </p:grpSp>
        <p:grpSp>
          <p:nvGrpSpPr>
            <p:cNvPr id="245" name="fam-2"/>
            <p:cNvGrpSpPr/>
            <p:nvPr/>
          </p:nvGrpSpPr>
          <p:grpSpPr>
            <a:xfrm>
              <a:off x="421481" y="4992524"/>
              <a:ext cx="10917394" cy="195029"/>
              <a:chOff x="421481" y="4992524"/>
              <a:chExt cx="10917394" cy="195029"/>
            </a:xfrm>
          </p:grpSpPr>
          <p:grpSp>
            <p:nvGrpSpPr>
              <p:cNvPr id="239" name="Group 239"/>
              <p:cNvGrpSpPr/>
              <p:nvPr/>
            </p:nvGrpSpPr>
            <p:grpSpPr>
              <a:xfrm>
                <a:off x="421481" y="4992524"/>
                <a:ext cx="128588" cy="129544"/>
                <a:chOff x="421481" y="4992524"/>
                <a:chExt cx="128588" cy="129544"/>
              </a:xfrm>
            </p:grpSpPr>
            <p:sp>
              <p:nvSpPr>
                <p:cNvPr id="234" name="Freeform 234"/>
                <p:cNvSpPr/>
                <p:nvPr/>
              </p:nvSpPr>
              <p:spPr>
                <a:xfrm>
                  <a:off x="464344" y="505063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B92102"/>
                  </a:solidFill>
                </a:ln>
              </p:spPr>
            </p:sp>
            <p:sp>
              <p:nvSpPr>
                <p:cNvPr id="235" name="Freeform 235"/>
                <p:cNvSpPr/>
                <p:nvPr/>
              </p:nvSpPr>
              <p:spPr>
                <a:xfrm>
                  <a:off x="464344" y="507206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B92102"/>
                  </a:solidFill>
                </a:ln>
              </p:spPr>
            </p:sp>
            <p:sp>
              <p:nvSpPr>
                <p:cNvPr id="236" name="Freeform 236"/>
                <p:cNvSpPr/>
                <p:nvPr/>
              </p:nvSpPr>
              <p:spPr>
                <a:xfrm>
                  <a:off x="421481" y="499252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B92102"/>
                  </a:solidFill>
                </a:ln>
              </p:spPr>
            </p:sp>
            <p:sp>
              <p:nvSpPr>
                <p:cNvPr id="237" name="Freeform 237"/>
                <p:cNvSpPr/>
                <p:nvPr/>
              </p:nvSpPr>
              <p:spPr>
                <a:xfrm>
                  <a:off x="421481" y="501491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B92102"/>
                  </a:solidFill>
                </a:ln>
              </p:spPr>
            </p:sp>
            <p:sp>
              <p:nvSpPr>
                <p:cNvPr id="238" name="Freeform 238"/>
                <p:cNvSpPr/>
                <p:nvPr/>
              </p:nvSpPr>
              <p:spPr>
                <a:xfrm>
                  <a:off x="421481" y="505063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B92102"/>
                  </a:solidFill>
                </a:ln>
              </p:spPr>
            </p:sp>
          </p:grpSp>
          <p:sp>
            <p:nvSpPr>
              <p:cNvPr id="240" name="TextBox 240"/>
              <p:cNvSpPr txBox="1"/>
              <p:nvPr/>
            </p:nvSpPr>
            <p:spPr>
              <a:xfrm>
                <a:off x="642938" y="5004197"/>
                <a:ext cx="642239"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融资服务族</a:t>
                </a:r>
              </a:p>
            </p:txBody>
          </p:sp>
          <p:sp>
            <p:nvSpPr>
              <p:cNvPr id="241" name="TextBox 241"/>
              <p:cNvSpPr txBox="1"/>
              <p:nvPr/>
            </p:nvSpPr>
            <p:spPr>
              <a:xfrm>
                <a:off x="1919288" y="5012293"/>
                <a:ext cx="1230932"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中小企业、上下游企业​</a:t>
                </a:r>
              </a:p>
            </p:txBody>
          </p:sp>
          <p:sp>
            <p:nvSpPr>
              <p:cNvPr id="242" name="TextBox 242"/>
              <p:cNvSpPr txBox="1"/>
              <p:nvPr/>
            </p:nvSpPr>
            <p:spPr>
              <a:xfrm>
                <a:off x="3786188" y="5012293"/>
                <a:ext cx="1925571"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流动资金周转、设备采购、订单融资​</a:t>
                </a:r>
              </a:p>
            </p:txBody>
          </p:sp>
          <p:sp>
            <p:nvSpPr>
              <p:cNvPr id="243" name="TextBox 243"/>
              <p:cNvSpPr txBox="1"/>
              <p:nvPr/>
            </p:nvSpPr>
            <p:spPr>
              <a:xfrm>
                <a:off x="6357938" y="5012293"/>
                <a:ext cx="1809798"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公司业务部、风险管理部、审批部​</a:t>
                </a:r>
              </a:p>
            </p:txBody>
          </p:sp>
          <p:sp>
            <p:nvSpPr>
              <p:cNvPr id="244" name="TextBox 244"/>
              <p:cNvSpPr txBox="1"/>
              <p:nvPr/>
            </p:nvSpPr>
            <p:spPr>
              <a:xfrm>
                <a:off x="8834438" y="5012293"/>
                <a:ext cx="2504437"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推进线上化融资产品，提升审批效率与放款体验​</a:t>
                </a:r>
              </a:p>
            </p:txBody>
          </p:sp>
        </p:grpSp>
        <p:grpSp>
          <p:nvGrpSpPr>
            <p:cNvPr id="256" name="fam-3"/>
            <p:cNvGrpSpPr/>
            <p:nvPr/>
          </p:nvGrpSpPr>
          <p:grpSpPr>
            <a:xfrm>
              <a:off x="421481" y="5334000"/>
              <a:ext cx="10801621" cy="186928"/>
              <a:chOff x="421481" y="5334000"/>
              <a:chExt cx="10801621" cy="186928"/>
            </a:xfrm>
          </p:grpSpPr>
          <p:grpSp>
            <p:nvGrpSpPr>
              <p:cNvPr id="250" name="Group 250"/>
              <p:cNvGrpSpPr/>
              <p:nvPr/>
            </p:nvGrpSpPr>
            <p:grpSpPr>
              <a:xfrm>
                <a:off x="421481" y="5334000"/>
                <a:ext cx="128587" cy="123825"/>
                <a:chOff x="421481" y="5334000"/>
                <a:chExt cx="128587" cy="123825"/>
              </a:xfrm>
            </p:grpSpPr>
            <p:sp>
              <p:nvSpPr>
                <p:cNvPr id="246" name="Freeform 246"/>
                <p:cNvSpPr/>
                <p:nvPr/>
              </p:nvSpPr>
              <p:spPr>
                <a:xfrm>
                  <a:off x="421481" y="539115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B92102"/>
                  </a:solidFill>
                </a:ln>
              </p:spPr>
            </p:sp>
            <p:sp>
              <p:nvSpPr>
                <p:cNvPr id="247" name="Freeform 247"/>
                <p:cNvSpPr/>
                <p:nvPr/>
              </p:nvSpPr>
              <p:spPr>
                <a:xfrm>
                  <a:off x="507206" y="536257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B92102"/>
                  </a:solidFill>
                </a:ln>
              </p:spPr>
            </p:sp>
            <p:sp>
              <p:nvSpPr>
                <p:cNvPr id="248" name="Freeform 248"/>
                <p:cNvSpPr/>
                <p:nvPr/>
              </p:nvSpPr>
              <p:spPr>
                <a:xfrm>
                  <a:off x="464344" y="533400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B92102"/>
                  </a:solidFill>
                </a:ln>
              </p:spPr>
            </p:sp>
            <p:sp>
              <p:nvSpPr>
                <p:cNvPr id="249" name="Freeform 249"/>
                <p:cNvSpPr/>
                <p:nvPr/>
              </p:nvSpPr>
              <p:spPr>
                <a:xfrm>
                  <a:off x="428625" y="5448300"/>
                  <a:ext cx="100012" cy="9525"/>
                </a:xfrm>
                <a:custGeom>
                  <a:avLst/>
                  <a:gdLst/>
                  <a:ahLst/>
                  <a:cxnLst/>
                  <a:rect l="l" t="t" r="r" b="b"/>
                  <a:pathLst>
                    <a:path w="100012" h="9525">
                      <a:moveTo>
                        <a:pt x="0" y="0"/>
                      </a:moveTo>
                      <a:lnTo>
                        <a:pt x="100012" y="0"/>
                      </a:lnTo>
                    </a:path>
                  </a:pathLst>
                </a:custGeom>
                <a:noFill/>
                <a:ln w="14288">
                  <a:solidFill>
                    <a:srgbClr val="B92102"/>
                  </a:solidFill>
                </a:ln>
              </p:spPr>
            </p:sp>
          </p:grpSp>
          <p:sp>
            <p:nvSpPr>
              <p:cNvPr id="251" name="TextBox 251"/>
              <p:cNvSpPr txBox="1"/>
              <p:nvPr/>
            </p:nvSpPr>
            <p:spPr>
              <a:xfrm>
                <a:off x="642938" y="5337572"/>
                <a:ext cx="642239"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现金管理族</a:t>
                </a:r>
              </a:p>
            </p:txBody>
          </p:sp>
          <p:sp>
            <p:nvSpPr>
              <p:cNvPr id="252" name="TextBox 252"/>
              <p:cNvSpPr txBox="1"/>
              <p:nvPr/>
            </p:nvSpPr>
            <p:spPr>
              <a:xfrm>
                <a:off x="1919288" y="5345668"/>
                <a:ext cx="1230932"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中大型企业、集团客户​</a:t>
                </a:r>
              </a:p>
            </p:txBody>
          </p:sp>
          <p:sp>
            <p:nvSpPr>
              <p:cNvPr id="253" name="TextBox 253"/>
              <p:cNvSpPr txBox="1"/>
              <p:nvPr/>
            </p:nvSpPr>
            <p:spPr>
              <a:xfrm>
                <a:off x="3786188" y="5345668"/>
                <a:ext cx="1925571"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账户归集、资金池、资金调度、投资​</a:t>
                </a:r>
              </a:p>
            </p:txBody>
          </p:sp>
          <p:sp>
            <p:nvSpPr>
              <p:cNvPr id="254" name="TextBox 254"/>
              <p:cNvSpPr txBox="1"/>
              <p:nvPr/>
            </p:nvSpPr>
            <p:spPr>
              <a:xfrm>
                <a:off x="6357938" y="5345668"/>
                <a:ext cx="2041345"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交易银行部、金融市场部、信息科技部​</a:t>
                </a:r>
              </a:p>
            </p:txBody>
          </p:sp>
          <p:sp>
            <p:nvSpPr>
              <p:cNvPr id="255" name="TextBox 255"/>
              <p:cNvSpPr txBox="1"/>
              <p:nvPr/>
            </p:nvSpPr>
            <p:spPr>
              <a:xfrm>
                <a:off x="8834438" y="5345668"/>
                <a:ext cx="2388664"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推广资金池与自动对账，提升资金效率与粘性​</a:t>
                </a:r>
              </a:p>
            </p:txBody>
          </p:sp>
        </p:grpSp>
        <p:grpSp>
          <p:nvGrpSpPr>
            <p:cNvPr id="267" name="fam-4"/>
            <p:cNvGrpSpPr/>
            <p:nvPr/>
          </p:nvGrpSpPr>
          <p:grpSpPr>
            <a:xfrm>
              <a:off x="421481" y="5660231"/>
              <a:ext cx="10801621" cy="194072"/>
              <a:chOff x="421481" y="5660231"/>
              <a:chExt cx="10801621" cy="194072"/>
            </a:xfrm>
          </p:grpSpPr>
          <p:grpSp>
            <p:nvGrpSpPr>
              <p:cNvPr id="261" name="Group 261"/>
              <p:cNvGrpSpPr/>
              <p:nvPr/>
            </p:nvGrpSpPr>
            <p:grpSpPr>
              <a:xfrm>
                <a:off x="421481" y="5660231"/>
                <a:ext cx="128588" cy="128588"/>
                <a:chOff x="421481" y="5660231"/>
                <a:chExt cx="128588" cy="128588"/>
              </a:xfrm>
            </p:grpSpPr>
            <p:sp>
              <p:nvSpPr>
                <p:cNvPr id="257" name="Freeform 257"/>
                <p:cNvSpPr/>
                <p:nvPr/>
              </p:nvSpPr>
              <p:spPr>
                <a:xfrm>
                  <a:off x="435769" y="56602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B92102"/>
                  </a:solidFill>
                </a:ln>
              </p:spPr>
            </p:sp>
            <p:sp>
              <p:nvSpPr>
                <p:cNvPr id="258" name="Freeform 258"/>
                <p:cNvSpPr/>
                <p:nvPr/>
              </p:nvSpPr>
              <p:spPr>
                <a:xfrm>
                  <a:off x="421481" y="57459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B92102"/>
                  </a:solidFill>
                </a:ln>
              </p:spPr>
            </p:sp>
            <p:sp>
              <p:nvSpPr>
                <p:cNvPr id="259" name="Freeform 259"/>
                <p:cNvSpPr/>
                <p:nvPr/>
              </p:nvSpPr>
              <p:spPr>
                <a:xfrm>
                  <a:off x="514350" y="56611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B92102"/>
                  </a:solidFill>
                </a:ln>
              </p:spPr>
            </p:sp>
            <p:sp>
              <p:nvSpPr>
                <p:cNvPr id="260" name="Freeform 260"/>
                <p:cNvSpPr/>
                <p:nvPr/>
              </p:nvSpPr>
              <p:spPr>
                <a:xfrm>
                  <a:off x="528638" y="57470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B92102"/>
                  </a:solidFill>
                </a:ln>
              </p:spPr>
            </p:sp>
          </p:grpSp>
          <p:sp>
            <p:nvSpPr>
              <p:cNvPr id="262" name="TextBox 262"/>
              <p:cNvSpPr txBox="1"/>
              <p:nvPr/>
            </p:nvSpPr>
            <p:spPr>
              <a:xfrm>
                <a:off x="642938" y="5670947"/>
                <a:ext cx="768782"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代发与财富族</a:t>
                </a:r>
              </a:p>
            </p:txBody>
          </p:sp>
          <p:sp>
            <p:nvSpPr>
              <p:cNvPr id="263" name="TextBox 263"/>
              <p:cNvSpPr txBox="1"/>
              <p:nvPr/>
            </p:nvSpPr>
            <p:spPr>
              <a:xfrm>
                <a:off x="1919288" y="5679043"/>
                <a:ext cx="1462479"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企事业单位、员工、管理层​</a:t>
                </a:r>
              </a:p>
            </p:txBody>
          </p:sp>
          <p:sp>
            <p:nvSpPr>
              <p:cNvPr id="264" name="TextBox 264"/>
              <p:cNvSpPr txBox="1"/>
              <p:nvPr/>
            </p:nvSpPr>
            <p:spPr>
              <a:xfrm>
                <a:off x="3786188" y="5679043"/>
                <a:ext cx="1925571"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代发薪资、员工福利、个人财富管理​</a:t>
                </a:r>
              </a:p>
            </p:txBody>
          </p:sp>
          <p:sp>
            <p:nvSpPr>
              <p:cNvPr id="265" name="TextBox 265"/>
              <p:cNvSpPr txBox="1"/>
              <p:nvPr/>
            </p:nvSpPr>
            <p:spPr>
              <a:xfrm>
                <a:off x="6357938" y="5679043"/>
                <a:ext cx="2041345"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零售银行部、财富管理部、公司业务部​</a:t>
                </a:r>
              </a:p>
            </p:txBody>
          </p:sp>
          <p:sp>
            <p:nvSpPr>
              <p:cNvPr id="266" name="TextBox 266"/>
              <p:cNvSpPr txBox="1"/>
              <p:nvPr/>
            </p:nvSpPr>
            <p:spPr>
              <a:xfrm>
                <a:off x="8834438" y="5679043"/>
                <a:ext cx="2388664"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扩大代发覆盖，联动财富权益提升客户活跃度​</a:t>
                </a:r>
              </a:p>
            </p:txBody>
          </p:sp>
        </p:grpSp>
        <p:grpSp>
          <p:nvGrpSpPr>
            <p:cNvPr id="277" name="fam-5"/>
            <p:cNvGrpSpPr/>
            <p:nvPr/>
          </p:nvGrpSpPr>
          <p:grpSpPr>
            <a:xfrm>
              <a:off x="435769" y="5993606"/>
              <a:ext cx="10787333" cy="194072"/>
              <a:chOff x="435769" y="5993606"/>
              <a:chExt cx="10787333" cy="194072"/>
            </a:xfrm>
          </p:grpSpPr>
          <p:grpSp>
            <p:nvGrpSpPr>
              <p:cNvPr id="271" name="Group 271"/>
              <p:cNvGrpSpPr/>
              <p:nvPr/>
            </p:nvGrpSpPr>
            <p:grpSpPr>
              <a:xfrm>
                <a:off x="435769" y="5993606"/>
                <a:ext cx="100012" cy="128588"/>
                <a:chOff x="435769" y="5993606"/>
                <a:chExt cx="100012" cy="128588"/>
              </a:xfrm>
            </p:grpSpPr>
            <p:sp>
              <p:nvSpPr>
                <p:cNvPr id="268" name="Freeform 268"/>
                <p:cNvSpPr/>
                <p:nvPr/>
              </p:nvSpPr>
              <p:spPr>
                <a:xfrm>
                  <a:off x="435769" y="6036469"/>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B92102"/>
                  </a:solidFill>
                </a:ln>
              </p:spPr>
            </p:sp>
            <p:sp>
              <p:nvSpPr>
                <p:cNvPr id="269" name="Freeform 269"/>
                <p:cNvSpPr/>
                <p:nvPr/>
              </p:nvSpPr>
              <p:spPr>
                <a:xfrm>
                  <a:off x="485775" y="5993606"/>
                  <a:ext cx="9525" cy="78581"/>
                </a:xfrm>
                <a:custGeom>
                  <a:avLst/>
                  <a:gdLst/>
                  <a:ahLst/>
                  <a:cxnLst/>
                  <a:rect l="l" t="t" r="r" b="b"/>
                  <a:pathLst>
                    <a:path w="9525" h="78581">
                      <a:moveTo>
                        <a:pt x="0" y="78581"/>
                      </a:moveTo>
                      <a:lnTo>
                        <a:pt x="0" y="0"/>
                      </a:lnTo>
                    </a:path>
                  </a:pathLst>
                </a:custGeom>
                <a:noFill/>
                <a:ln w="14288">
                  <a:solidFill>
                    <a:srgbClr val="B92102"/>
                  </a:solidFill>
                </a:ln>
              </p:spPr>
            </p:sp>
            <p:sp>
              <p:nvSpPr>
                <p:cNvPr id="270" name="Freeform 270"/>
                <p:cNvSpPr/>
                <p:nvPr/>
              </p:nvSpPr>
              <p:spPr>
                <a:xfrm>
                  <a:off x="464344" y="5993606"/>
                  <a:ext cx="42862" cy="21431"/>
                </a:xfrm>
                <a:custGeom>
                  <a:avLst/>
                  <a:gdLst/>
                  <a:ahLst/>
                  <a:cxnLst/>
                  <a:rect l="l" t="t" r="r" b="b"/>
                  <a:pathLst>
                    <a:path w="42862" h="21431">
                      <a:moveTo>
                        <a:pt x="0" y="21431"/>
                      </a:moveTo>
                      <a:lnTo>
                        <a:pt x="21431" y="0"/>
                      </a:lnTo>
                      <a:lnTo>
                        <a:pt x="42862" y="21431"/>
                      </a:lnTo>
                    </a:path>
                  </a:pathLst>
                </a:custGeom>
                <a:noFill/>
                <a:ln w="14288">
                  <a:solidFill>
                    <a:srgbClr val="B92102"/>
                  </a:solidFill>
                </a:ln>
              </p:spPr>
            </p:sp>
          </p:grpSp>
          <p:sp>
            <p:nvSpPr>
              <p:cNvPr id="272" name="TextBox 272"/>
              <p:cNvSpPr txBox="1"/>
              <p:nvPr/>
            </p:nvSpPr>
            <p:spPr>
              <a:xfrm>
                <a:off x="642938" y="6004322"/>
                <a:ext cx="642239"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跨境服务族</a:t>
                </a:r>
              </a:p>
            </p:txBody>
          </p:sp>
          <p:sp>
            <p:nvSpPr>
              <p:cNvPr id="273" name="TextBox 273"/>
              <p:cNvSpPr txBox="1"/>
              <p:nvPr/>
            </p:nvSpPr>
            <p:spPr>
              <a:xfrm>
                <a:off x="1919288" y="6012418"/>
                <a:ext cx="1230932"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进出口企业、跨境电商​</a:t>
                </a:r>
              </a:p>
            </p:txBody>
          </p:sp>
          <p:sp>
            <p:nvSpPr>
              <p:cNvPr id="274" name="TextBox 274"/>
              <p:cNvSpPr txBox="1"/>
              <p:nvPr/>
            </p:nvSpPr>
            <p:spPr>
              <a:xfrm>
                <a:off x="3786188" y="6012418"/>
                <a:ext cx="1809798"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跨境收付款、外汇管理、国际结算​</a:t>
                </a:r>
              </a:p>
            </p:txBody>
          </p:sp>
          <p:sp>
            <p:nvSpPr>
              <p:cNvPr id="275" name="TextBox 275"/>
              <p:cNvSpPr txBox="1"/>
              <p:nvPr/>
            </p:nvSpPr>
            <p:spPr>
              <a:xfrm>
                <a:off x="6357938" y="6012418"/>
                <a:ext cx="1809798"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国际业务部、合规部、风险管理部​</a:t>
                </a:r>
              </a:p>
            </p:txBody>
          </p:sp>
          <p:sp>
            <p:nvSpPr>
              <p:cNvPr id="276" name="TextBox 276"/>
              <p:cNvSpPr txBox="1"/>
              <p:nvPr/>
            </p:nvSpPr>
            <p:spPr>
              <a:xfrm>
                <a:off x="8834438" y="6012418"/>
                <a:ext cx="2388664"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打通跨境场景链路，提升跨境服务一站式体验​</a:t>
                </a:r>
              </a:p>
            </p:txBody>
          </p:sp>
        </p:grpSp>
        <p:grpSp>
          <p:nvGrpSpPr>
            <p:cNvPr id="286" name="fam-6"/>
            <p:cNvGrpSpPr/>
            <p:nvPr/>
          </p:nvGrpSpPr>
          <p:grpSpPr>
            <a:xfrm>
              <a:off x="411840" y="6326981"/>
              <a:ext cx="10811262" cy="194072"/>
              <a:chOff x="411840" y="6326981"/>
              <a:chExt cx="10811262" cy="194072"/>
            </a:xfrm>
          </p:grpSpPr>
          <p:grpSp>
            <p:nvGrpSpPr>
              <p:cNvPr id="280" name="Group 280"/>
              <p:cNvGrpSpPr/>
              <p:nvPr/>
            </p:nvGrpSpPr>
            <p:grpSpPr>
              <a:xfrm>
                <a:off x="411840" y="6326981"/>
                <a:ext cx="139505" cy="128588"/>
                <a:chOff x="411840" y="6326981"/>
                <a:chExt cx="139505" cy="128588"/>
              </a:xfrm>
            </p:grpSpPr>
            <p:sp>
              <p:nvSpPr>
                <p:cNvPr id="278" name="Freeform 278"/>
                <p:cNvSpPr/>
                <p:nvPr/>
              </p:nvSpPr>
              <p:spPr>
                <a:xfrm>
                  <a:off x="411840" y="632698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B92102"/>
                  </a:solidFill>
                </a:ln>
              </p:spPr>
            </p:sp>
            <p:sp>
              <p:nvSpPr>
                <p:cNvPr id="279" name="Freeform 279"/>
                <p:cNvSpPr/>
                <p:nvPr/>
              </p:nvSpPr>
              <p:spPr>
                <a:xfrm>
                  <a:off x="507206" y="6426994"/>
                  <a:ext cx="42862" cy="28575"/>
                </a:xfrm>
                <a:custGeom>
                  <a:avLst/>
                  <a:gdLst/>
                  <a:ahLst/>
                  <a:cxnLst/>
                  <a:rect l="l" t="t" r="r" b="b"/>
                  <a:pathLst>
                    <a:path w="42862" h="28575">
                      <a:moveTo>
                        <a:pt x="0" y="14288"/>
                      </a:moveTo>
                      <a:lnTo>
                        <a:pt x="14288" y="28575"/>
                      </a:lnTo>
                      <a:lnTo>
                        <a:pt x="42862" y="0"/>
                      </a:lnTo>
                    </a:path>
                  </a:pathLst>
                </a:custGeom>
                <a:noFill/>
                <a:ln w="14288">
                  <a:solidFill>
                    <a:srgbClr val="B92102"/>
                  </a:solidFill>
                </a:ln>
              </p:spPr>
            </p:sp>
          </p:grpSp>
          <p:sp>
            <p:nvSpPr>
              <p:cNvPr id="281" name="TextBox 281"/>
              <p:cNvSpPr txBox="1"/>
              <p:nvPr/>
            </p:nvSpPr>
            <p:spPr>
              <a:xfrm>
                <a:off x="642938" y="6337697"/>
                <a:ext cx="642239"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风险保障族</a:t>
                </a:r>
              </a:p>
            </p:txBody>
          </p:sp>
          <p:sp>
            <p:nvSpPr>
              <p:cNvPr id="282" name="TextBox 282"/>
              <p:cNvSpPr txBox="1"/>
              <p:nvPr/>
            </p:nvSpPr>
            <p:spPr>
              <a:xfrm>
                <a:off x="1919288" y="6345793"/>
                <a:ext cx="472618"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各类企业</a:t>
                </a:r>
              </a:p>
            </p:txBody>
          </p:sp>
          <p:sp>
            <p:nvSpPr>
              <p:cNvPr id="283" name="TextBox 283"/>
              <p:cNvSpPr txBox="1"/>
              <p:nvPr/>
            </p:nvSpPr>
            <p:spPr>
              <a:xfrm>
                <a:off x="3786188" y="6345793"/>
                <a:ext cx="1694025"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财产保险、信用保险、保证保险​</a:t>
                </a:r>
              </a:p>
            </p:txBody>
          </p:sp>
          <p:sp>
            <p:nvSpPr>
              <p:cNvPr id="284" name="TextBox 284"/>
              <p:cNvSpPr txBox="1"/>
              <p:nvPr/>
            </p:nvSpPr>
            <p:spPr>
              <a:xfrm>
                <a:off x="6357938" y="6345793"/>
                <a:ext cx="1885051"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风险管理部、保险经纪/合作机构​​​</a:t>
                </a:r>
              </a:p>
            </p:txBody>
          </p:sp>
          <p:sp>
            <p:nvSpPr>
              <p:cNvPr id="285" name="TextBox 285"/>
              <p:cNvSpPr txBox="1"/>
              <p:nvPr/>
            </p:nvSpPr>
            <p:spPr>
              <a:xfrm>
                <a:off x="8834438" y="6345793"/>
                <a:ext cx="2388664" cy="169069"/>
              </a:xfrm>
              <a:prstGeom prst="rect">
                <a:avLst/>
              </a:prstGeom>
              <a:noFill/>
              <a:ln>
                <a:noFill/>
              </a:ln>
            </p:spPr>
            <p:txBody>
              <a:bodyPr wrap="none" lIns="0" tIns="0" rIns="0" bIns="0" anchor="t" anchorCtr="0">
                <a:spAutoFit/>
              </a:bodyPr>
              <a:lstStyle/>
              <a:p>
                <a:pPr algn="l"/>
                <a:r>
                  <a:rPr lang="zh-CN" sz="860" dirty="0">
                    <a:solidFill>
                      <a:srgbClr val="473633"/>
                    </a:solidFill>
                    <a:latin typeface="+mn-lt"/>
                    <a:ea typeface="+mn-ea"/>
                    <a:cs typeface="+mn-cs"/>
                  </a:rPr>
                  <a:t>结合授信与交易场景，打包风险保障解决方案​</a:t>
                </a:r>
              </a:p>
            </p:txBody>
          </p:sp>
        </p:grpSp>
      </p:gr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10​</a:t>
              </a:r>
            </a:p>
          </p:txBody>
        </p:sp>
        <p:sp>
          <p:nvSpPr>
            <p:cNvPr id="4" name="TextBox 4"/>
            <p:cNvSpPr txBox="1"/>
            <p:nvPr/>
          </p:nvSpPr>
          <p:spPr>
            <a:xfrm>
              <a:off x="942594" y="151448"/>
              <a:ext cx="5727352"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渠道与活动复盘</a:t>
              </a:r>
              <a:r>
                <a:rPr lang="zh-CN" sz="1950" b="1" dirty="0">
                  <a:solidFill>
                    <a:srgbClr val="1A1A1A"/>
                  </a:solidFill>
                  <a:latin typeface="SimSun"/>
                  <a:ea typeface="SimSun"/>
                  <a:cs typeface="SimSun"/>
                </a:rPr>
                <a:t>｜线上线下协同提升有效触达​</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92" name="channel-loop"/>
          <p:cNvGrpSpPr/>
          <p:nvPr/>
        </p:nvGrpSpPr>
        <p:grpSpPr>
          <a:xfrm>
            <a:off x="266700" y="781050"/>
            <a:ext cx="3638550" cy="5791200"/>
            <a:chOff x="266700" y="781050"/>
            <a:chExt cx="3638550" cy="5791200"/>
          </a:xfrm>
        </p:grpSpPr>
        <p:sp>
          <p:nvSpPr>
            <p:cNvPr id="7" name="Rectangle 7"/>
            <p:cNvSpPr/>
            <p:nvPr/>
          </p:nvSpPr>
          <p:spPr>
            <a:xfrm>
              <a:off x="266700" y="914400"/>
              <a:ext cx="3638550" cy="5657850"/>
            </a:xfrm>
            <a:prstGeom prst="roundRect">
              <a:avLst>
                <a:gd name="adj" fmla="val 2094"/>
              </a:avLst>
            </a:prstGeom>
            <a:solidFill>
              <a:srgbClr val="FFFFFF"/>
            </a:solidFill>
            <a:ln w="9525">
              <a:solidFill>
                <a:srgbClr val="F7D1C9"/>
              </a:solidFill>
            </a:ln>
          </p:spPr>
        </p:sp>
        <p:sp>
          <p:nvSpPr>
            <p:cNvPr id="8" name="Rectangle 8"/>
            <p:cNvSpPr/>
            <p:nvPr/>
          </p:nvSpPr>
          <p:spPr>
            <a:xfrm>
              <a:off x="495300" y="781050"/>
              <a:ext cx="3181350" cy="266700"/>
            </a:xfrm>
            <a:prstGeom prst="roundRect">
              <a:avLst>
                <a:gd name="adj" fmla="val 21429"/>
              </a:avLst>
            </a:prstGeom>
            <a:solidFill>
              <a:srgbClr val="6E1604"/>
            </a:solidFill>
            <a:ln>
              <a:noFill/>
            </a:ln>
          </p:spPr>
        </p:sp>
        <p:sp>
          <p:nvSpPr>
            <p:cNvPr id="9" name="TextBox 9"/>
            <p:cNvSpPr txBox="1"/>
            <p:nvPr/>
          </p:nvSpPr>
          <p:spPr>
            <a:xfrm>
              <a:off x="1050369" y="858202"/>
              <a:ext cx="207121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全渠道协同闭环：以客户为中心​</a:t>
              </a:r>
            </a:p>
          </p:txBody>
        </p:sp>
        <p:sp>
          <p:nvSpPr>
            <p:cNvPr id="10" name="Freeform 10"/>
            <p:cNvSpPr/>
            <p:nvPr/>
          </p:nvSpPr>
          <p:spPr>
            <a:xfrm>
              <a:off x="2430780" y="2331720"/>
              <a:ext cx="773430" cy="561023"/>
            </a:xfrm>
            <a:custGeom>
              <a:avLst/>
              <a:gdLst/>
              <a:ahLst/>
              <a:cxnLst/>
              <a:rect l="l" t="t" r="r" b="b"/>
              <a:pathLst>
                <a:path w="773430" h="561023">
                  <a:moveTo>
                    <a:pt x="0" y="0"/>
                  </a:moveTo>
                  <a:cubicBezTo>
                    <a:pt x="318257" y="85054"/>
                    <a:pt x="593767" y="284901"/>
                    <a:pt x="773430" y="561023"/>
                  </a:cubicBezTo>
                </a:path>
              </a:pathLst>
            </a:custGeom>
            <a:noFill/>
            <a:ln w="19050">
              <a:solidFill>
                <a:srgbClr val="D44B2F"/>
              </a:solidFill>
              <a:tailEnd type="triangle" w="lg" len="lg"/>
            </a:ln>
          </p:spPr>
        </p:sp>
        <p:sp>
          <p:nvSpPr>
            <p:cNvPr id="11" name="Freeform 11"/>
            <p:cNvSpPr/>
            <p:nvPr/>
          </p:nvSpPr>
          <p:spPr>
            <a:xfrm>
              <a:off x="3122295" y="3549968"/>
              <a:ext cx="312466" cy="908685"/>
            </a:xfrm>
            <a:custGeom>
              <a:avLst/>
              <a:gdLst/>
              <a:ahLst/>
              <a:cxnLst/>
              <a:rect l="l" t="t" r="r" b="b"/>
              <a:pathLst>
                <a:path w="312466" h="908685">
                  <a:moveTo>
                    <a:pt x="295275" y="0"/>
                  </a:moveTo>
                  <a:cubicBezTo>
                    <a:pt x="312466" y="328969"/>
                    <a:pt x="207284" y="652659"/>
                    <a:pt x="0" y="908685"/>
                  </a:cubicBezTo>
                </a:path>
              </a:pathLst>
            </a:custGeom>
            <a:noFill/>
            <a:ln w="19050">
              <a:solidFill>
                <a:srgbClr val="D44B2F"/>
              </a:solidFill>
              <a:tailEnd type="triangle" w="lg" len="lg"/>
            </a:ln>
          </p:spPr>
        </p:sp>
        <p:sp>
          <p:nvSpPr>
            <p:cNvPr id="12" name="Freeform 12"/>
            <p:cNvSpPr/>
            <p:nvPr/>
          </p:nvSpPr>
          <p:spPr>
            <a:xfrm>
              <a:off x="1607820" y="4864418"/>
              <a:ext cx="956310" cy="118233"/>
            </a:xfrm>
            <a:custGeom>
              <a:avLst/>
              <a:gdLst/>
              <a:ahLst/>
              <a:cxnLst/>
              <a:rect l="l" t="t" r="r" b="b"/>
              <a:pathLst>
                <a:path w="956310" h="118233">
                  <a:moveTo>
                    <a:pt x="956310" y="0"/>
                  </a:moveTo>
                  <a:cubicBezTo>
                    <a:pt x="648503" y="118233"/>
                    <a:pt x="307807" y="118233"/>
                    <a:pt x="0" y="0"/>
                  </a:cubicBezTo>
                </a:path>
              </a:pathLst>
            </a:custGeom>
            <a:noFill/>
            <a:ln w="19050">
              <a:solidFill>
                <a:srgbClr val="D44B2F"/>
              </a:solidFill>
              <a:tailEnd type="triangle" w="lg" len="lg"/>
            </a:ln>
          </p:spPr>
        </p:sp>
        <p:sp>
          <p:nvSpPr>
            <p:cNvPr id="13" name="Freeform 13"/>
            <p:cNvSpPr/>
            <p:nvPr/>
          </p:nvSpPr>
          <p:spPr>
            <a:xfrm>
              <a:off x="737189" y="3549967"/>
              <a:ext cx="312466" cy="908685"/>
            </a:xfrm>
            <a:custGeom>
              <a:avLst/>
              <a:gdLst/>
              <a:ahLst/>
              <a:cxnLst/>
              <a:rect l="l" t="t" r="r" b="b"/>
              <a:pathLst>
                <a:path w="312466" h="908685">
                  <a:moveTo>
                    <a:pt x="312466" y="908685"/>
                  </a:moveTo>
                  <a:cubicBezTo>
                    <a:pt x="105182" y="652659"/>
                    <a:pt x="0" y="328969"/>
                    <a:pt x="17191" y="0"/>
                  </a:cubicBezTo>
                </a:path>
              </a:pathLst>
            </a:custGeom>
            <a:noFill/>
            <a:ln w="19050">
              <a:solidFill>
                <a:srgbClr val="D44B2F"/>
              </a:solidFill>
              <a:tailEnd type="triangle" w="lg" len="lg"/>
            </a:ln>
          </p:spPr>
        </p:sp>
        <p:sp>
          <p:nvSpPr>
            <p:cNvPr id="14" name="Freeform 14"/>
            <p:cNvSpPr/>
            <p:nvPr/>
          </p:nvSpPr>
          <p:spPr>
            <a:xfrm>
              <a:off x="967740" y="2331720"/>
              <a:ext cx="773430" cy="561022"/>
            </a:xfrm>
            <a:custGeom>
              <a:avLst/>
              <a:gdLst/>
              <a:ahLst/>
              <a:cxnLst/>
              <a:rect l="l" t="t" r="r" b="b"/>
              <a:pathLst>
                <a:path w="773430" h="561022">
                  <a:moveTo>
                    <a:pt x="0" y="561022"/>
                  </a:moveTo>
                  <a:cubicBezTo>
                    <a:pt x="179663" y="284901"/>
                    <a:pt x="455173" y="85054"/>
                    <a:pt x="773430" y="0"/>
                  </a:cubicBezTo>
                </a:path>
              </a:pathLst>
            </a:custGeom>
            <a:noFill/>
            <a:ln w="19050">
              <a:solidFill>
                <a:srgbClr val="D44B2F"/>
              </a:solidFill>
              <a:tailEnd type="triangle" w="lg" len="lg"/>
            </a:ln>
          </p:spPr>
        </p:sp>
        <p:sp>
          <p:nvSpPr>
            <p:cNvPr id="15" name="Line 15"/>
            <p:cNvSpPr/>
            <p:nvPr/>
          </p:nvSpPr>
          <p:spPr>
            <a:xfrm flipV="1">
              <a:off x="2085975" y="2590800"/>
              <a:ext cx="1" cy="476250"/>
            </a:xfrm>
            <a:prstGeom prst="line">
              <a:avLst/>
            </a:prstGeom>
            <a:noFill/>
            <a:ln w="11430">
              <a:solidFill>
                <a:srgbClr val="E3907F"/>
              </a:solidFill>
              <a:custDash>
                <a:ds d="250000" sp="250000"/>
              </a:custDash>
              <a:tailEnd type="triangle" w="lg" len="lg"/>
            </a:ln>
          </p:spPr>
        </p:sp>
        <p:sp>
          <p:nvSpPr>
            <p:cNvPr id="16" name="Line 16"/>
            <p:cNvSpPr/>
            <p:nvPr/>
          </p:nvSpPr>
          <p:spPr>
            <a:xfrm flipV="1">
              <a:off x="2571750" y="3305175"/>
              <a:ext cx="495300" cy="161925"/>
            </a:xfrm>
            <a:prstGeom prst="line">
              <a:avLst/>
            </a:prstGeom>
            <a:noFill/>
            <a:ln w="11430">
              <a:solidFill>
                <a:srgbClr val="E3907F"/>
              </a:solidFill>
              <a:custDash>
                <a:ds d="250000" sp="250000"/>
              </a:custDash>
              <a:tailEnd type="triangle" w="lg" len="lg"/>
            </a:ln>
          </p:spPr>
        </p:sp>
        <p:sp>
          <p:nvSpPr>
            <p:cNvPr id="17" name="Line 17"/>
            <p:cNvSpPr/>
            <p:nvPr/>
          </p:nvSpPr>
          <p:spPr>
            <a:xfrm>
              <a:off x="2400300" y="4057650"/>
              <a:ext cx="304800" cy="419100"/>
            </a:xfrm>
            <a:prstGeom prst="line">
              <a:avLst/>
            </a:prstGeom>
            <a:noFill/>
            <a:ln w="11430">
              <a:solidFill>
                <a:srgbClr val="E3907F"/>
              </a:solidFill>
              <a:custDash>
                <a:ds d="250000" sp="250000"/>
              </a:custDash>
              <a:tailEnd type="triangle" w="lg" len="lg"/>
            </a:ln>
          </p:spPr>
        </p:sp>
        <p:sp>
          <p:nvSpPr>
            <p:cNvPr id="18" name="Line 18"/>
            <p:cNvSpPr/>
            <p:nvPr/>
          </p:nvSpPr>
          <p:spPr>
            <a:xfrm flipH="1">
              <a:off x="1466850" y="4057650"/>
              <a:ext cx="304800" cy="419100"/>
            </a:xfrm>
            <a:prstGeom prst="line">
              <a:avLst/>
            </a:prstGeom>
            <a:noFill/>
            <a:ln w="11430">
              <a:solidFill>
                <a:srgbClr val="E3907F"/>
              </a:solidFill>
              <a:custDash>
                <a:ds d="250000" sp="250000"/>
              </a:custDash>
              <a:tailEnd type="triangle" w="lg" len="lg"/>
            </a:ln>
          </p:spPr>
        </p:sp>
        <p:sp>
          <p:nvSpPr>
            <p:cNvPr id="19" name="Line 19"/>
            <p:cNvSpPr/>
            <p:nvPr/>
          </p:nvSpPr>
          <p:spPr>
            <a:xfrm flipH="1" flipV="1">
              <a:off x="1104900" y="3305175"/>
              <a:ext cx="495300" cy="161925"/>
            </a:xfrm>
            <a:prstGeom prst="line">
              <a:avLst/>
            </a:prstGeom>
            <a:noFill/>
            <a:ln w="11430">
              <a:solidFill>
                <a:srgbClr val="E3907F"/>
              </a:solidFill>
              <a:custDash>
                <a:ds d="250000" sp="250000"/>
              </a:custDash>
              <a:tailEnd type="triangle" w="lg" len="lg"/>
            </a:ln>
          </p:spPr>
        </p:sp>
        <p:sp>
          <p:nvSpPr>
            <p:cNvPr id="20" name="Ellipse 20"/>
            <p:cNvSpPr/>
            <p:nvPr/>
          </p:nvSpPr>
          <p:spPr>
            <a:xfrm>
              <a:off x="1552575" y="3086100"/>
              <a:ext cx="1066800" cy="1066800"/>
            </a:xfrm>
            <a:prstGeom prst="ellipse">
              <a:avLst/>
            </a:prstGeom>
            <a:solidFill>
              <a:srgbClr val="FDCCC2"/>
            </a:solidFill>
            <a:ln w="28575">
              <a:solidFill>
                <a:srgbClr val="FFFFFF"/>
              </a:solidFill>
            </a:ln>
          </p:spPr>
        </p:sp>
        <p:sp>
          <p:nvSpPr>
            <p:cNvPr id="21" name="Ellipse 21"/>
            <p:cNvSpPr/>
            <p:nvPr/>
          </p:nvSpPr>
          <p:spPr>
            <a:xfrm>
              <a:off x="1552575" y="3086100"/>
              <a:ext cx="1066800" cy="1066800"/>
            </a:xfrm>
            <a:prstGeom prst="ellipse">
              <a:avLst/>
            </a:prstGeom>
            <a:noFill/>
            <a:ln w="9525">
              <a:solidFill>
                <a:srgbClr val="E3907F"/>
              </a:solidFill>
              <a:custDash>
                <a:ds d="400000" sp="300000"/>
              </a:custDash>
            </a:ln>
          </p:spPr>
        </p:sp>
        <p:grpSp>
          <p:nvGrpSpPr>
            <p:cNvPr id="26" name="Group 26"/>
            <p:cNvGrpSpPr/>
            <p:nvPr/>
          </p:nvGrpSpPr>
          <p:grpSpPr>
            <a:xfrm>
              <a:off x="1957388" y="3338512"/>
              <a:ext cx="257174" cy="257176"/>
              <a:chOff x="1957388" y="3338512"/>
              <a:chExt cx="257174" cy="257176"/>
            </a:xfrm>
          </p:grpSpPr>
          <p:sp>
            <p:nvSpPr>
              <p:cNvPr id="22" name="Freeform 22"/>
              <p:cNvSpPr/>
              <p:nvPr/>
            </p:nvSpPr>
            <p:spPr>
              <a:xfrm>
                <a:off x="1985962" y="333851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B92102"/>
                </a:solidFill>
              </a:ln>
            </p:spPr>
          </p:sp>
          <p:sp>
            <p:nvSpPr>
              <p:cNvPr id="23" name="Freeform 23"/>
              <p:cNvSpPr/>
              <p:nvPr/>
            </p:nvSpPr>
            <p:spPr>
              <a:xfrm>
                <a:off x="1957388" y="350996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B92102"/>
                </a:solidFill>
              </a:ln>
            </p:spPr>
          </p:sp>
          <p:sp>
            <p:nvSpPr>
              <p:cNvPr id="24" name="Freeform 24"/>
              <p:cNvSpPr/>
              <p:nvPr/>
            </p:nvSpPr>
            <p:spPr>
              <a:xfrm>
                <a:off x="2143125" y="334037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B92102"/>
                </a:solidFill>
              </a:ln>
            </p:spPr>
          </p:sp>
          <p:sp>
            <p:nvSpPr>
              <p:cNvPr id="25" name="Freeform 25"/>
              <p:cNvSpPr/>
              <p:nvPr/>
            </p:nvSpPr>
            <p:spPr>
              <a:xfrm>
                <a:off x="2171700" y="351210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B92102"/>
                </a:solidFill>
              </a:ln>
            </p:spPr>
          </p:sp>
        </p:grpSp>
        <p:sp>
          <p:nvSpPr>
            <p:cNvPr id="27" name="TextBox 27"/>
            <p:cNvSpPr txBox="1"/>
            <p:nvPr/>
          </p:nvSpPr>
          <p:spPr>
            <a:xfrm>
              <a:off x="1897380" y="3759518"/>
              <a:ext cx="377190" cy="264033"/>
            </a:xfrm>
            <a:prstGeom prst="rect">
              <a:avLst/>
            </a:prstGeom>
            <a:noFill/>
            <a:ln>
              <a:noFill/>
            </a:ln>
          </p:spPr>
          <p:txBody>
            <a:bodyPr wrap="none" lIns="0" tIns="0" rIns="0" bIns="0" anchor="t" anchorCtr="0">
              <a:spAutoFit/>
            </a:bodyPr>
            <a:lstStyle/>
            <a:p>
              <a:pPr algn="ctr"/>
              <a:r>
                <a:rPr lang="zh-CN" sz="1350" b="1" dirty="0">
                  <a:solidFill>
                    <a:srgbClr val="6E1604"/>
                  </a:solidFill>
                  <a:latin typeface="+mn-lt"/>
                  <a:ea typeface="+mn-ea"/>
                  <a:cs typeface="+mn-cs"/>
                </a:rPr>
                <a:t>客户</a:t>
              </a:r>
            </a:p>
          </p:txBody>
        </p:sp>
        <p:grpSp>
          <p:nvGrpSpPr>
            <p:cNvPr id="40" name="node-branch"/>
            <p:cNvGrpSpPr/>
            <p:nvPr/>
          </p:nvGrpSpPr>
          <p:grpSpPr>
            <a:xfrm>
              <a:off x="1795462" y="1342549"/>
              <a:ext cx="581025" cy="1191101"/>
              <a:chOff x="1795462" y="1342549"/>
              <a:chExt cx="581025" cy="1191101"/>
            </a:xfrm>
          </p:grpSpPr>
          <p:sp>
            <p:nvSpPr>
              <p:cNvPr id="28" name="Ellipse 28"/>
              <p:cNvSpPr/>
              <p:nvPr/>
            </p:nvSpPr>
            <p:spPr>
              <a:xfrm>
                <a:off x="1838325" y="2038350"/>
                <a:ext cx="495300" cy="495300"/>
              </a:xfrm>
              <a:prstGeom prst="ellipse">
                <a:avLst/>
              </a:prstGeom>
              <a:solidFill>
                <a:srgbClr val="B92102"/>
              </a:solidFill>
              <a:ln>
                <a:noFill/>
              </a:ln>
            </p:spPr>
          </p:sp>
          <p:grpSp>
            <p:nvGrpSpPr>
              <p:cNvPr id="37" name="Group 37"/>
              <p:cNvGrpSpPr/>
              <p:nvPr/>
            </p:nvGrpSpPr>
            <p:grpSpPr>
              <a:xfrm>
                <a:off x="1985963" y="2185988"/>
                <a:ext cx="200026" cy="209550"/>
                <a:chOff x="1985963" y="2185988"/>
                <a:chExt cx="200026" cy="209550"/>
              </a:xfrm>
            </p:grpSpPr>
            <p:sp>
              <p:nvSpPr>
                <p:cNvPr id="29" name="Freeform 29"/>
                <p:cNvSpPr/>
                <p:nvPr/>
              </p:nvSpPr>
              <p:spPr>
                <a:xfrm>
                  <a:off x="1985963" y="2386013"/>
                  <a:ext cx="200026" cy="9525"/>
                </a:xfrm>
                <a:custGeom>
                  <a:avLst/>
                  <a:gdLst/>
                  <a:ahLst/>
                  <a:cxnLst/>
                  <a:rect l="l" t="t" r="r" b="b"/>
                  <a:pathLst>
                    <a:path w="200026" h="9525">
                      <a:moveTo>
                        <a:pt x="0" y="0"/>
                      </a:moveTo>
                      <a:lnTo>
                        <a:pt x="200026" y="0"/>
                      </a:lnTo>
                    </a:path>
                  </a:pathLst>
                </a:custGeom>
                <a:noFill/>
                <a:ln w="22225">
                  <a:solidFill>
                    <a:srgbClr val="FFFFFF"/>
                  </a:solidFill>
                </a:ln>
              </p:spPr>
            </p:sp>
            <p:sp>
              <p:nvSpPr>
                <p:cNvPr id="30" name="Freeform 30"/>
                <p:cNvSpPr/>
                <p:nvPr/>
              </p:nvSpPr>
              <p:spPr>
                <a:xfrm>
                  <a:off x="1985963" y="2263775"/>
                  <a:ext cx="200026" cy="9525"/>
                </a:xfrm>
                <a:custGeom>
                  <a:avLst/>
                  <a:gdLst/>
                  <a:ahLst/>
                  <a:cxnLst/>
                  <a:rect l="l" t="t" r="r" b="b"/>
                  <a:pathLst>
                    <a:path w="200026" h="9525">
                      <a:moveTo>
                        <a:pt x="0" y="0"/>
                      </a:moveTo>
                      <a:lnTo>
                        <a:pt x="200026" y="0"/>
                      </a:lnTo>
                    </a:path>
                  </a:pathLst>
                </a:custGeom>
                <a:noFill/>
                <a:ln w="22225">
                  <a:solidFill>
                    <a:srgbClr val="FFFFFF"/>
                  </a:solidFill>
                </a:ln>
              </p:spPr>
            </p:sp>
            <p:sp>
              <p:nvSpPr>
                <p:cNvPr id="31" name="Freeform 31"/>
                <p:cNvSpPr/>
                <p:nvPr/>
              </p:nvSpPr>
              <p:spPr>
                <a:xfrm>
                  <a:off x="2008188" y="2185988"/>
                  <a:ext cx="155575" cy="33338"/>
                </a:xfrm>
                <a:custGeom>
                  <a:avLst/>
                  <a:gdLst/>
                  <a:ahLst/>
                  <a:cxnLst/>
                  <a:rect l="l" t="t" r="r" b="b"/>
                  <a:pathLst>
                    <a:path w="155575" h="33338">
                      <a:moveTo>
                        <a:pt x="0" y="33338"/>
                      </a:moveTo>
                      <a:lnTo>
                        <a:pt x="77788" y="0"/>
                      </a:lnTo>
                      <a:lnTo>
                        <a:pt x="155575" y="33338"/>
                      </a:lnTo>
                    </a:path>
                  </a:pathLst>
                </a:custGeom>
                <a:noFill/>
                <a:ln w="22225">
                  <a:solidFill>
                    <a:srgbClr val="FFFFFF"/>
                  </a:solidFill>
                </a:ln>
              </p:spPr>
            </p:sp>
            <p:sp>
              <p:nvSpPr>
                <p:cNvPr id="32" name="Freeform 32"/>
                <p:cNvSpPr/>
                <p:nvPr/>
              </p:nvSpPr>
              <p:spPr>
                <a:xfrm>
                  <a:off x="1997075" y="2263775"/>
                  <a:ext cx="9525" cy="122238"/>
                </a:xfrm>
                <a:custGeom>
                  <a:avLst/>
                  <a:gdLst/>
                  <a:ahLst/>
                  <a:cxnLst/>
                  <a:rect l="l" t="t" r="r" b="b"/>
                  <a:pathLst>
                    <a:path w="9525" h="122238">
                      <a:moveTo>
                        <a:pt x="0" y="0"/>
                      </a:moveTo>
                      <a:lnTo>
                        <a:pt x="0" y="122238"/>
                      </a:lnTo>
                    </a:path>
                  </a:pathLst>
                </a:custGeom>
                <a:noFill/>
                <a:ln w="22225">
                  <a:solidFill>
                    <a:srgbClr val="FFFFFF"/>
                  </a:solidFill>
                </a:ln>
              </p:spPr>
            </p:sp>
            <p:sp>
              <p:nvSpPr>
                <p:cNvPr id="33" name="Freeform 33"/>
                <p:cNvSpPr/>
                <p:nvPr/>
              </p:nvSpPr>
              <p:spPr>
                <a:xfrm>
                  <a:off x="2174876" y="2263775"/>
                  <a:ext cx="9525" cy="122238"/>
                </a:xfrm>
                <a:custGeom>
                  <a:avLst/>
                  <a:gdLst/>
                  <a:ahLst/>
                  <a:cxnLst/>
                  <a:rect l="l" t="t" r="r" b="b"/>
                  <a:pathLst>
                    <a:path w="9525" h="122238">
                      <a:moveTo>
                        <a:pt x="0" y="0"/>
                      </a:moveTo>
                      <a:lnTo>
                        <a:pt x="0" y="122238"/>
                      </a:lnTo>
                    </a:path>
                  </a:pathLst>
                </a:custGeom>
                <a:noFill/>
                <a:ln w="22225">
                  <a:solidFill>
                    <a:srgbClr val="FFFFFF"/>
                  </a:solidFill>
                </a:ln>
              </p:spPr>
            </p:sp>
            <p:sp>
              <p:nvSpPr>
                <p:cNvPr id="34" name="Freeform 34"/>
                <p:cNvSpPr/>
                <p:nvPr/>
              </p:nvSpPr>
              <p:spPr>
                <a:xfrm>
                  <a:off x="2041525" y="2308225"/>
                  <a:ext cx="9525" cy="33338"/>
                </a:xfrm>
                <a:custGeom>
                  <a:avLst/>
                  <a:gdLst/>
                  <a:ahLst/>
                  <a:cxnLst/>
                  <a:rect l="l" t="t" r="r" b="b"/>
                  <a:pathLst>
                    <a:path w="9525" h="33338">
                      <a:moveTo>
                        <a:pt x="0" y="0"/>
                      </a:moveTo>
                      <a:lnTo>
                        <a:pt x="0" y="33338"/>
                      </a:lnTo>
                    </a:path>
                  </a:pathLst>
                </a:custGeom>
                <a:noFill/>
                <a:ln w="22225">
                  <a:solidFill>
                    <a:srgbClr val="FFFFFF"/>
                  </a:solidFill>
                </a:ln>
              </p:spPr>
            </p:sp>
            <p:sp>
              <p:nvSpPr>
                <p:cNvPr id="35" name="Freeform 35"/>
                <p:cNvSpPr/>
                <p:nvPr/>
              </p:nvSpPr>
              <p:spPr>
                <a:xfrm>
                  <a:off x="2085975" y="2308225"/>
                  <a:ext cx="9525" cy="33338"/>
                </a:xfrm>
                <a:custGeom>
                  <a:avLst/>
                  <a:gdLst/>
                  <a:ahLst/>
                  <a:cxnLst/>
                  <a:rect l="l" t="t" r="r" b="b"/>
                  <a:pathLst>
                    <a:path w="9525" h="33338">
                      <a:moveTo>
                        <a:pt x="0" y="0"/>
                      </a:moveTo>
                      <a:lnTo>
                        <a:pt x="0" y="33338"/>
                      </a:lnTo>
                    </a:path>
                  </a:pathLst>
                </a:custGeom>
                <a:noFill/>
                <a:ln w="22225">
                  <a:solidFill>
                    <a:srgbClr val="FFFFFF"/>
                  </a:solidFill>
                </a:ln>
              </p:spPr>
            </p:sp>
            <p:sp>
              <p:nvSpPr>
                <p:cNvPr id="36" name="Freeform 36"/>
                <p:cNvSpPr/>
                <p:nvPr/>
              </p:nvSpPr>
              <p:spPr>
                <a:xfrm>
                  <a:off x="2130426" y="2308225"/>
                  <a:ext cx="9525" cy="33338"/>
                </a:xfrm>
                <a:custGeom>
                  <a:avLst/>
                  <a:gdLst/>
                  <a:ahLst/>
                  <a:cxnLst/>
                  <a:rect l="l" t="t" r="r" b="b"/>
                  <a:pathLst>
                    <a:path w="9525" h="33338">
                      <a:moveTo>
                        <a:pt x="0" y="0"/>
                      </a:moveTo>
                      <a:lnTo>
                        <a:pt x="0" y="33338"/>
                      </a:lnTo>
                    </a:path>
                  </a:pathLst>
                </a:custGeom>
                <a:noFill/>
                <a:ln w="22225">
                  <a:solidFill>
                    <a:srgbClr val="FFFFFF"/>
                  </a:solidFill>
                </a:ln>
              </p:spPr>
            </p:sp>
          </p:grpSp>
          <p:sp>
            <p:nvSpPr>
              <p:cNvPr id="38" name="TextBox 38"/>
              <p:cNvSpPr txBox="1"/>
              <p:nvPr/>
            </p:nvSpPr>
            <p:spPr>
              <a:xfrm>
                <a:off x="1949094" y="1342549"/>
                <a:ext cx="273761" cy="190690"/>
              </a:xfrm>
              <a:prstGeom prst="rect">
                <a:avLst/>
              </a:prstGeom>
              <a:noFill/>
              <a:ln>
                <a:noFill/>
              </a:ln>
            </p:spPr>
            <p:txBody>
              <a:bodyPr wrap="none" lIns="0" tIns="0" rIns="0" bIns="0" anchor="t" anchorCtr="0">
                <a:spAutoFit/>
              </a:bodyPr>
              <a:lstStyle/>
              <a:p>
                <a:pPr algn="ctr"/>
                <a:r>
                  <a:rPr lang="zh-CN" sz="980" b="1" dirty="0">
                    <a:solidFill>
                      <a:srgbClr val="6E1604"/>
                    </a:solidFill>
                    <a:latin typeface="+mn-lt"/>
                    <a:ea typeface="+mn-ea"/>
                    <a:cs typeface="+mn-cs"/>
                  </a:rPr>
                  <a:t>网点</a:t>
                </a:r>
              </a:p>
            </p:txBody>
          </p:sp>
          <p:sp>
            <p:nvSpPr>
              <p:cNvPr id="39" name="TextBox 39"/>
              <p:cNvSpPr txBox="1"/>
              <p:nvPr/>
            </p:nvSpPr>
            <p:spPr>
              <a:xfrm>
                <a:off x="1795462" y="1557338"/>
                <a:ext cx="581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473633"/>
                    </a:solidFill>
                    <a:latin typeface="+mn-lt"/>
                    <a:ea typeface="+mn-ea"/>
                    <a:cs typeface="+mn-cs"/>
                  </a:rPr>
                  <a:t>线下服务触点</a:t>
                </a:r>
                <a:br/>
                <a:r>
                  <a:rPr lang="zh-CN" sz="750" dirty="0">
                    <a:solidFill>
                      <a:srgbClr val="473633"/>
                    </a:solidFill>
                    <a:latin typeface="+mn-lt"/>
                    <a:ea typeface="+mn-ea"/>
                    <a:cs typeface="+mn-cs"/>
                  </a:rPr>
                  <a:t>信任建立</a:t>
                </a:r>
              </a:p>
            </p:txBody>
          </p:sp>
        </p:grpSp>
        <p:grpSp>
          <p:nvGrpSpPr>
            <p:cNvPr id="48" name="node-manager"/>
            <p:cNvGrpSpPr/>
            <p:nvPr/>
          </p:nvGrpSpPr>
          <p:grpSpPr>
            <a:xfrm>
              <a:off x="3083992" y="2637949"/>
              <a:ext cx="537616" cy="1181577"/>
              <a:chOff x="3083992" y="2637949"/>
              <a:chExt cx="537616" cy="1181577"/>
            </a:xfrm>
          </p:grpSpPr>
          <p:sp>
            <p:nvSpPr>
              <p:cNvPr id="41" name="Ellipse 41"/>
              <p:cNvSpPr/>
              <p:nvPr/>
            </p:nvSpPr>
            <p:spPr>
              <a:xfrm>
                <a:off x="3105150" y="2962275"/>
                <a:ext cx="495300" cy="495300"/>
              </a:xfrm>
              <a:prstGeom prst="ellipse">
                <a:avLst/>
              </a:prstGeom>
              <a:solidFill>
                <a:srgbClr val="B92102"/>
              </a:solidFill>
              <a:ln>
                <a:noFill/>
              </a:ln>
            </p:spPr>
          </p:sp>
          <p:grpSp>
            <p:nvGrpSpPr>
              <p:cNvPr id="45" name="Group 45"/>
              <p:cNvGrpSpPr/>
              <p:nvPr/>
            </p:nvGrpSpPr>
            <p:grpSpPr>
              <a:xfrm>
                <a:off x="3286125" y="3109913"/>
                <a:ext cx="166688" cy="200025"/>
                <a:chOff x="3286125" y="3109913"/>
                <a:chExt cx="166688" cy="200025"/>
              </a:xfrm>
            </p:grpSpPr>
            <p:sp>
              <p:nvSpPr>
                <p:cNvPr id="42" name="Freeform 42"/>
                <p:cNvSpPr/>
                <p:nvPr/>
              </p:nvSpPr>
              <p:spPr>
                <a:xfrm>
                  <a:off x="3308350" y="310991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43" name="Freeform 43"/>
                <p:cNvSpPr/>
                <p:nvPr/>
              </p:nvSpPr>
              <p:spPr>
                <a:xfrm>
                  <a:off x="3286125" y="3243263"/>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FFFFFF"/>
                  </a:solidFill>
                </a:ln>
              </p:spPr>
            </p:sp>
            <p:sp>
              <p:nvSpPr>
                <p:cNvPr id="44" name="Freeform 44"/>
                <p:cNvSpPr/>
                <p:nvPr/>
              </p:nvSpPr>
              <p:spPr>
                <a:xfrm>
                  <a:off x="3386138" y="3265488"/>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46" name="TextBox 46"/>
              <p:cNvSpPr txBox="1"/>
              <p:nvPr/>
            </p:nvSpPr>
            <p:spPr>
              <a:xfrm>
                <a:off x="3083992" y="2637949"/>
                <a:ext cx="537616" cy="190690"/>
              </a:xfrm>
              <a:prstGeom prst="rect">
                <a:avLst/>
              </a:prstGeom>
              <a:noFill/>
              <a:ln>
                <a:noFill/>
              </a:ln>
            </p:spPr>
            <p:txBody>
              <a:bodyPr wrap="none" lIns="0" tIns="0" rIns="0" bIns="0" anchor="t" anchorCtr="0">
                <a:spAutoFit/>
              </a:bodyPr>
              <a:lstStyle/>
              <a:p>
                <a:pPr algn="ctr"/>
                <a:r>
                  <a:rPr lang="zh-CN" sz="980" b="1" dirty="0">
                    <a:solidFill>
                      <a:srgbClr val="6E1604"/>
                    </a:solidFill>
                    <a:latin typeface="+mn-lt"/>
                    <a:ea typeface="+mn-ea"/>
                    <a:cs typeface="+mn-cs"/>
                  </a:rPr>
                  <a:t>客户经理</a:t>
                </a:r>
              </a:p>
            </p:txBody>
          </p:sp>
          <p:sp>
            <p:nvSpPr>
              <p:cNvPr id="47" name="TextBox 47"/>
              <p:cNvSpPr txBox="1"/>
              <p:nvPr/>
            </p:nvSpPr>
            <p:spPr>
              <a:xfrm>
                <a:off x="3157538" y="3538538"/>
                <a:ext cx="390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473633"/>
                    </a:solidFill>
                    <a:latin typeface="+mn-lt"/>
                    <a:ea typeface="+mn-ea"/>
                    <a:cs typeface="+mn-cs"/>
                  </a:rPr>
                  <a:t>专业服务</a:t>
                </a:r>
                <a:br/>
                <a:r>
                  <a:rPr lang="zh-CN" sz="750" dirty="0">
                    <a:solidFill>
                      <a:srgbClr val="473633"/>
                    </a:solidFill>
                    <a:latin typeface="+mn-lt"/>
                    <a:ea typeface="+mn-ea"/>
                    <a:cs typeface="+mn-cs"/>
                  </a:rPr>
                  <a:t>深度经营</a:t>
                </a:r>
              </a:p>
            </p:txBody>
          </p:sp>
        </p:grpSp>
        <p:grpSp>
          <p:nvGrpSpPr>
            <p:cNvPr id="53" name="node-wecom"/>
            <p:cNvGrpSpPr/>
            <p:nvPr/>
          </p:nvGrpSpPr>
          <p:grpSpPr>
            <a:xfrm>
              <a:off x="2598217" y="4448175"/>
              <a:ext cx="537616" cy="1066801"/>
              <a:chOff x="2598217" y="4448175"/>
              <a:chExt cx="537616" cy="1066801"/>
            </a:xfrm>
          </p:grpSpPr>
          <p:sp>
            <p:nvSpPr>
              <p:cNvPr id="49" name="Ellipse 49"/>
              <p:cNvSpPr/>
              <p:nvPr/>
            </p:nvSpPr>
            <p:spPr>
              <a:xfrm>
                <a:off x="2619375" y="4448175"/>
                <a:ext cx="495300" cy="495300"/>
              </a:xfrm>
              <a:prstGeom prst="ellipse">
                <a:avLst/>
              </a:prstGeom>
              <a:solidFill>
                <a:srgbClr val="B92102"/>
              </a:solidFill>
              <a:ln>
                <a:noFill/>
              </a:ln>
            </p:spPr>
          </p:sp>
          <p:sp>
            <p:nvSpPr>
              <p:cNvPr id="50" name="Freeform 50"/>
              <p:cNvSpPr/>
              <p:nvPr/>
            </p:nvSpPr>
            <p:spPr>
              <a:xfrm>
                <a:off x="2755633" y="4598313"/>
                <a:ext cx="221851" cy="196658"/>
              </a:xfrm>
              <a:custGeom>
                <a:avLst/>
                <a:gdLst/>
                <a:ahLst/>
                <a:cxnLst/>
                <a:rect l="l" t="t" r="r" b="b"/>
                <a:pathLst>
                  <a:path w="221851" h="196658">
                    <a:moveTo>
                      <a:pt x="11379" y="186413"/>
                    </a:moveTo>
                    <a:lnTo>
                      <a:pt x="25826" y="143074"/>
                    </a:lnTo>
                    <a:cubicBezTo>
                      <a:pt x="0" y="104880"/>
                      <a:pt x="9979" y="55596"/>
                      <a:pt x="49162" y="27792"/>
                    </a:cubicBezTo>
                    <a:cubicBezTo>
                      <a:pt x="88345" y="0"/>
                      <a:pt x="144618" y="2278"/>
                      <a:pt x="180790" y="33126"/>
                    </a:cubicBezTo>
                    <a:cubicBezTo>
                      <a:pt x="216961" y="63986"/>
                      <a:pt x="221851" y="113870"/>
                      <a:pt x="192225" y="149819"/>
                    </a:cubicBezTo>
                    <a:cubicBezTo>
                      <a:pt x="162599" y="185768"/>
                      <a:pt x="107603" y="196658"/>
                      <a:pt x="63608" y="175300"/>
                    </a:cubicBezTo>
                    <a:lnTo>
                      <a:pt x="11379" y="186413"/>
                    </a:lnTo>
                  </a:path>
                </a:pathLst>
              </a:custGeom>
              <a:noFill/>
              <a:ln w="22225">
                <a:solidFill>
                  <a:srgbClr val="FFFFFF"/>
                </a:solidFill>
              </a:ln>
            </p:spPr>
          </p:sp>
          <p:sp>
            <p:nvSpPr>
              <p:cNvPr id="51" name="TextBox 51"/>
              <p:cNvSpPr txBox="1"/>
              <p:nvPr/>
            </p:nvSpPr>
            <p:spPr>
              <a:xfrm>
                <a:off x="2598217" y="5038249"/>
                <a:ext cx="537616" cy="190690"/>
              </a:xfrm>
              <a:prstGeom prst="rect">
                <a:avLst/>
              </a:prstGeom>
              <a:noFill/>
              <a:ln>
                <a:noFill/>
              </a:ln>
            </p:spPr>
            <p:txBody>
              <a:bodyPr wrap="none" lIns="0" tIns="0" rIns="0" bIns="0" anchor="t" anchorCtr="0">
                <a:spAutoFit/>
              </a:bodyPr>
              <a:lstStyle/>
              <a:p>
                <a:pPr algn="ctr"/>
                <a:r>
                  <a:rPr lang="zh-CN" sz="980" b="1" dirty="0">
                    <a:solidFill>
                      <a:srgbClr val="6E1604"/>
                    </a:solidFill>
                    <a:latin typeface="+mn-lt"/>
                    <a:ea typeface="+mn-ea"/>
                    <a:cs typeface="+mn-cs"/>
                  </a:rPr>
                  <a:t>企业微信</a:t>
                </a:r>
              </a:p>
            </p:txBody>
          </p:sp>
          <p:sp>
            <p:nvSpPr>
              <p:cNvPr id="52" name="TextBox 52"/>
              <p:cNvSpPr txBox="1"/>
              <p:nvPr/>
            </p:nvSpPr>
            <p:spPr>
              <a:xfrm>
                <a:off x="2671762" y="5233988"/>
                <a:ext cx="390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473633"/>
                    </a:solidFill>
                    <a:latin typeface="+mn-lt"/>
                    <a:ea typeface="+mn-ea"/>
                    <a:cs typeface="+mn-cs"/>
                  </a:rPr>
                  <a:t>日常触达</a:t>
                </a:r>
                <a:br/>
                <a:r>
                  <a:rPr lang="zh-CN" sz="750" dirty="0">
                    <a:solidFill>
                      <a:srgbClr val="473633"/>
                    </a:solidFill>
                    <a:latin typeface="+mn-lt"/>
                    <a:ea typeface="+mn-ea"/>
                    <a:cs typeface="+mn-cs"/>
                  </a:rPr>
                  <a:t>关系维护</a:t>
                </a:r>
              </a:p>
            </p:txBody>
          </p:sp>
        </p:grpSp>
        <p:grpSp>
          <p:nvGrpSpPr>
            <p:cNvPr id="61" name="node-online"/>
            <p:cNvGrpSpPr/>
            <p:nvPr/>
          </p:nvGrpSpPr>
          <p:grpSpPr>
            <a:xfrm>
              <a:off x="1036117" y="4448175"/>
              <a:ext cx="537616" cy="1066801"/>
              <a:chOff x="1036117" y="4448175"/>
              <a:chExt cx="537616" cy="1066801"/>
            </a:xfrm>
          </p:grpSpPr>
          <p:sp>
            <p:nvSpPr>
              <p:cNvPr id="54" name="Ellipse 54"/>
              <p:cNvSpPr/>
              <p:nvPr/>
            </p:nvSpPr>
            <p:spPr>
              <a:xfrm>
                <a:off x="1057275" y="4448175"/>
                <a:ext cx="495300" cy="495300"/>
              </a:xfrm>
              <a:prstGeom prst="ellipse">
                <a:avLst/>
              </a:prstGeom>
              <a:solidFill>
                <a:srgbClr val="B92102"/>
              </a:solidFill>
              <a:ln>
                <a:noFill/>
              </a:ln>
            </p:spPr>
          </p:sp>
          <p:grpSp>
            <p:nvGrpSpPr>
              <p:cNvPr id="58" name="Group 58"/>
              <p:cNvGrpSpPr/>
              <p:nvPr/>
            </p:nvGrpSpPr>
            <p:grpSpPr>
              <a:xfrm>
                <a:off x="1238250" y="4595813"/>
                <a:ext cx="133350" cy="200026"/>
                <a:chOff x="1238250" y="4595813"/>
                <a:chExt cx="133350" cy="200026"/>
              </a:xfrm>
            </p:grpSpPr>
            <p:sp>
              <p:nvSpPr>
                <p:cNvPr id="55" name="Freeform 55"/>
                <p:cNvSpPr/>
                <p:nvPr/>
              </p:nvSpPr>
              <p:spPr>
                <a:xfrm>
                  <a:off x="1238250" y="4595813"/>
                  <a:ext cx="133350" cy="200026"/>
                </a:xfrm>
                <a:custGeom>
                  <a:avLst/>
                  <a:gdLst/>
                  <a:ahLst/>
                  <a:cxnLst/>
                  <a:rect l="l" t="t" r="r" b="b"/>
                  <a:pathLst>
                    <a:path w="133350" h="200026">
                      <a:moveTo>
                        <a:pt x="0" y="22225"/>
                      </a:moveTo>
                      <a:cubicBezTo>
                        <a:pt x="0" y="9950"/>
                        <a:pt x="9950" y="0"/>
                        <a:pt x="22225" y="0"/>
                      </a:cubicBezTo>
                      <a:lnTo>
                        <a:pt x="111125" y="0"/>
                      </a:lnTo>
                      <a:cubicBezTo>
                        <a:pt x="123400" y="0"/>
                        <a:pt x="133350" y="9950"/>
                        <a:pt x="133350" y="22225"/>
                      </a:cubicBezTo>
                      <a:lnTo>
                        <a:pt x="133350" y="177801"/>
                      </a:lnTo>
                      <a:cubicBezTo>
                        <a:pt x="133350" y="190075"/>
                        <a:pt x="123400" y="200026"/>
                        <a:pt x="111125" y="200026"/>
                      </a:cubicBezTo>
                      <a:lnTo>
                        <a:pt x="22225" y="200026"/>
                      </a:lnTo>
                      <a:cubicBezTo>
                        <a:pt x="9950" y="200026"/>
                        <a:pt x="0" y="190075"/>
                        <a:pt x="0" y="177801"/>
                      </a:cubicBezTo>
                      <a:lnTo>
                        <a:pt x="0" y="22225"/>
                      </a:lnTo>
                    </a:path>
                  </a:pathLst>
                </a:custGeom>
                <a:noFill/>
                <a:ln w="22225">
                  <a:solidFill>
                    <a:srgbClr val="FFFFFF"/>
                  </a:solidFill>
                </a:ln>
              </p:spPr>
            </p:sp>
            <p:sp>
              <p:nvSpPr>
                <p:cNvPr id="56" name="Freeform 56"/>
                <p:cNvSpPr/>
                <p:nvPr/>
              </p:nvSpPr>
              <p:spPr>
                <a:xfrm>
                  <a:off x="1293813" y="4606925"/>
                  <a:ext cx="22225" cy="9525"/>
                </a:xfrm>
                <a:custGeom>
                  <a:avLst/>
                  <a:gdLst/>
                  <a:ahLst/>
                  <a:cxnLst/>
                  <a:rect l="l" t="t" r="r" b="b"/>
                  <a:pathLst>
                    <a:path w="22225" h="9525">
                      <a:moveTo>
                        <a:pt x="0" y="0"/>
                      </a:moveTo>
                      <a:lnTo>
                        <a:pt x="22225" y="0"/>
                      </a:lnTo>
                    </a:path>
                  </a:pathLst>
                </a:custGeom>
                <a:noFill/>
                <a:ln w="22225">
                  <a:solidFill>
                    <a:srgbClr val="FFFFFF"/>
                  </a:solidFill>
                </a:ln>
              </p:spPr>
            </p:sp>
            <p:sp>
              <p:nvSpPr>
                <p:cNvPr id="57" name="Freeform 57"/>
                <p:cNvSpPr/>
                <p:nvPr/>
              </p:nvSpPr>
              <p:spPr>
                <a:xfrm>
                  <a:off x="1304925" y="4751388"/>
                  <a:ext cx="9525" cy="9525"/>
                </a:xfrm>
                <a:custGeom>
                  <a:avLst/>
                  <a:gdLst/>
                  <a:ahLst/>
                  <a:cxnLst/>
                  <a:rect l="l" t="t" r="r" b="b"/>
                  <a:pathLst>
                    <a:path w="9525" h="9525">
                      <a:moveTo>
                        <a:pt x="0" y="0"/>
                      </a:moveTo>
                      <a:lnTo>
                        <a:pt x="0" y="111"/>
                      </a:lnTo>
                    </a:path>
                  </a:pathLst>
                </a:custGeom>
                <a:noFill/>
                <a:ln w="22225">
                  <a:solidFill>
                    <a:srgbClr val="FFFFFF"/>
                  </a:solidFill>
                </a:ln>
              </p:spPr>
            </p:sp>
          </p:grpSp>
          <p:sp>
            <p:nvSpPr>
              <p:cNvPr id="59" name="TextBox 59"/>
              <p:cNvSpPr txBox="1"/>
              <p:nvPr/>
            </p:nvSpPr>
            <p:spPr>
              <a:xfrm>
                <a:off x="1036117" y="5038249"/>
                <a:ext cx="537616" cy="190690"/>
              </a:xfrm>
              <a:prstGeom prst="rect">
                <a:avLst/>
              </a:prstGeom>
              <a:noFill/>
              <a:ln>
                <a:noFill/>
              </a:ln>
            </p:spPr>
            <p:txBody>
              <a:bodyPr wrap="none" lIns="0" tIns="0" rIns="0" bIns="0" anchor="t" anchorCtr="0">
                <a:spAutoFit/>
              </a:bodyPr>
              <a:lstStyle/>
              <a:p>
                <a:pPr algn="ctr"/>
                <a:r>
                  <a:rPr lang="zh-CN" sz="980" b="1" dirty="0">
                    <a:solidFill>
                      <a:srgbClr val="6E1604"/>
                    </a:solidFill>
                    <a:latin typeface="+mn-lt"/>
                    <a:ea typeface="+mn-ea"/>
                    <a:cs typeface="+mn-cs"/>
                  </a:rPr>
                  <a:t>线上平台</a:t>
                </a:r>
              </a:p>
            </p:txBody>
          </p:sp>
          <p:sp>
            <p:nvSpPr>
              <p:cNvPr id="60" name="TextBox 60"/>
              <p:cNvSpPr txBox="1"/>
              <p:nvPr/>
            </p:nvSpPr>
            <p:spPr>
              <a:xfrm>
                <a:off x="1109662" y="5233988"/>
                <a:ext cx="390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473633"/>
                    </a:solidFill>
                    <a:latin typeface="+mn-lt"/>
                    <a:ea typeface="+mn-ea"/>
                    <a:cs typeface="+mn-cs"/>
                  </a:rPr>
                  <a:t>内容触达</a:t>
                </a:r>
                <a:br/>
                <a:r>
                  <a:rPr lang="zh-CN" sz="750" dirty="0">
                    <a:solidFill>
                      <a:srgbClr val="473633"/>
                    </a:solidFill>
                    <a:latin typeface="+mn-lt"/>
                    <a:ea typeface="+mn-ea"/>
                    <a:cs typeface="+mn-cs"/>
                  </a:rPr>
                  <a:t>产品展示</a:t>
                </a:r>
              </a:p>
            </p:txBody>
          </p:sp>
        </p:grpSp>
        <p:grpSp>
          <p:nvGrpSpPr>
            <p:cNvPr id="69" name="node-partner"/>
            <p:cNvGrpSpPr/>
            <p:nvPr/>
          </p:nvGrpSpPr>
          <p:grpSpPr>
            <a:xfrm>
              <a:off x="550342" y="2637949"/>
              <a:ext cx="537616" cy="1181577"/>
              <a:chOff x="550342" y="2637949"/>
              <a:chExt cx="537616" cy="1181577"/>
            </a:xfrm>
          </p:grpSpPr>
          <p:sp>
            <p:nvSpPr>
              <p:cNvPr id="62" name="Ellipse 62"/>
              <p:cNvSpPr/>
              <p:nvPr/>
            </p:nvSpPr>
            <p:spPr>
              <a:xfrm>
                <a:off x="571500" y="2962275"/>
                <a:ext cx="495300" cy="495300"/>
              </a:xfrm>
              <a:prstGeom prst="ellipse">
                <a:avLst/>
              </a:prstGeom>
              <a:solidFill>
                <a:srgbClr val="B92102"/>
              </a:solidFill>
              <a:ln>
                <a:noFill/>
              </a:ln>
            </p:spPr>
          </p:sp>
          <p:grpSp>
            <p:nvGrpSpPr>
              <p:cNvPr id="66" name="Group 66"/>
              <p:cNvGrpSpPr/>
              <p:nvPr/>
            </p:nvGrpSpPr>
            <p:grpSpPr>
              <a:xfrm>
                <a:off x="741363" y="3109913"/>
                <a:ext cx="155575" cy="200025"/>
                <a:chOff x="741363" y="3109913"/>
                <a:chExt cx="155575" cy="200025"/>
              </a:xfrm>
            </p:grpSpPr>
            <p:sp>
              <p:nvSpPr>
                <p:cNvPr id="63" name="Freeform 63"/>
                <p:cNvSpPr/>
                <p:nvPr/>
              </p:nvSpPr>
              <p:spPr>
                <a:xfrm>
                  <a:off x="741363" y="3176588"/>
                  <a:ext cx="155575" cy="133350"/>
                </a:xfrm>
                <a:custGeom>
                  <a:avLst/>
                  <a:gdLst/>
                  <a:ahLst/>
                  <a:cxnLst/>
                  <a:rect l="l" t="t" r="r" b="b"/>
                  <a:pathLst>
                    <a:path w="155575" h="133350">
                      <a:moveTo>
                        <a:pt x="33338" y="0"/>
                      </a:moveTo>
                      <a:lnTo>
                        <a:pt x="22225" y="0"/>
                      </a:lnTo>
                      <a:cubicBezTo>
                        <a:pt x="9950" y="0"/>
                        <a:pt x="0" y="9950"/>
                        <a:pt x="0" y="22225"/>
                      </a:cubicBezTo>
                      <a:lnTo>
                        <a:pt x="0" y="111125"/>
                      </a:lnTo>
                      <a:cubicBezTo>
                        <a:pt x="0" y="123400"/>
                        <a:pt x="9950" y="133350"/>
                        <a:pt x="22225" y="133350"/>
                      </a:cubicBezTo>
                      <a:lnTo>
                        <a:pt x="133350" y="133350"/>
                      </a:lnTo>
                      <a:cubicBezTo>
                        <a:pt x="145625" y="133350"/>
                        <a:pt x="155575" y="123400"/>
                        <a:pt x="155575" y="111125"/>
                      </a:cubicBezTo>
                      <a:lnTo>
                        <a:pt x="155575" y="22225"/>
                      </a:lnTo>
                      <a:cubicBezTo>
                        <a:pt x="155575" y="9950"/>
                        <a:pt x="145625" y="0"/>
                        <a:pt x="133350" y="0"/>
                      </a:cubicBezTo>
                      <a:lnTo>
                        <a:pt x="122238" y="0"/>
                      </a:lnTo>
                    </a:path>
                  </a:pathLst>
                </a:custGeom>
                <a:noFill/>
                <a:ln w="22225">
                  <a:solidFill>
                    <a:srgbClr val="FFFFFF"/>
                  </a:solidFill>
                </a:ln>
              </p:spPr>
            </p:sp>
            <p:sp>
              <p:nvSpPr>
                <p:cNvPr id="64" name="Freeform 64"/>
                <p:cNvSpPr/>
                <p:nvPr/>
              </p:nvSpPr>
              <p:spPr>
                <a:xfrm>
                  <a:off x="819150" y="3109913"/>
                  <a:ext cx="9525" cy="122238"/>
                </a:xfrm>
                <a:custGeom>
                  <a:avLst/>
                  <a:gdLst/>
                  <a:ahLst/>
                  <a:cxnLst/>
                  <a:rect l="l" t="t" r="r" b="b"/>
                  <a:pathLst>
                    <a:path w="9525" h="122238">
                      <a:moveTo>
                        <a:pt x="0" y="122238"/>
                      </a:moveTo>
                      <a:lnTo>
                        <a:pt x="0" y="0"/>
                      </a:lnTo>
                    </a:path>
                  </a:pathLst>
                </a:custGeom>
                <a:noFill/>
                <a:ln w="22225">
                  <a:solidFill>
                    <a:srgbClr val="FFFFFF"/>
                  </a:solidFill>
                </a:ln>
              </p:spPr>
            </p:sp>
            <p:sp>
              <p:nvSpPr>
                <p:cNvPr id="65" name="Freeform 65"/>
                <p:cNvSpPr/>
                <p:nvPr/>
              </p:nvSpPr>
              <p:spPr>
                <a:xfrm>
                  <a:off x="785813" y="3109913"/>
                  <a:ext cx="66675" cy="33338"/>
                </a:xfrm>
                <a:custGeom>
                  <a:avLst/>
                  <a:gdLst/>
                  <a:ahLst/>
                  <a:cxnLst/>
                  <a:rect l="l" t="t" r="r" b="b"/>
                  <a:pathLst>
                    <a:path w="66675" h="33338">
                      <a:moveTo>
                        <a:pt x="0" y="33338"/>
                      </a:moveTo>
                      <a:lnTo>
                        <a:pt x="33338" y="0"/>
                      </a:lnTo>
                      <a:lnTo>
                        <a:pt x="66675" y="33338"/>
                      </a:lnTo>
                    </a:path>
                  </a:pathLst>
                </a:custGeom>
                <a:noFill/>
                <a:ln w="22225">
                  <a:solidFill>
                    <a:srgbClr val="FFFFFF"/>
                  </a:solidFill>
                </a:ln>
              </p:spPr>
            </p:sp>
          </p:grpSp>
          <p:sp>
            <p:nvSpPr>
              <p:cNvPr id="67" name="TextBox 67"/>
              <p:cNvSpPr txBox="1"/>
              <p:nvPr/>
            </p:nvSpPr>
            <p:spPr>
              <a:xfrm>
                <a:off x="550342" y="2637949"/>
                <a:ext cx="537616" cy="190690"/>
              </a:xfrm>
              <a:prstGeom prst="rect">
                <a:avLst/>
              </a:prstGeom>
              <a:noFill/>
              <a:ln>
                <a:noFill/>
              </a:ln>
            </p:spPr>
            <p:txBody>
              <a:bodyPr wrap="none" lIns="0" tIns="0" rIns="0" bIns="0" anchor="t" anchorCtr="0">
                <a:spAutoFit/>
              </a:bodyPr>
              <a:lstStyle/>
              <a:p>
                <a:pPr algn="ctr"/>
                <a:r>
                  <a:rPr lang="zh-CN" sz="980" b="1" dirty="0">
                    <a:solidFill>
                      <a:srgbClr val="6E1604"/>
                    </a:solidFill>
                    <a:latin typeface="+mn-lt"/>
                    <a:ea typeface="+mn-ea"/>
                    <a:cs typeface="+mn-cs"/>
                  </a:rPr>
                  <a:t>生态伙伴</a:t>
                </a:r>
              </a:p>
            </p:txBody>
          </p:sp>
          <p:sp>
            <p:nvSpPr>
              <p:cNvPr id="68" name="TextBox 68"/>
              <p:cNvSpPr txBox="1"/>
              <p:nvPr/>
            </p:nvSpPr>
            <p:spPr>
              <a:xfrm>
                <a:off x="623888" y="3538538"/>
                <a:ext cx="390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473633"/>
                    </a:solidFill>
                    <a:latin typeface="+mn-lt"/>
                    <a:ea typeface="+mn-ea"/>
                    <a:cs typeface="+mn-cs"/>
                  </a:rPr>
                  <a:t>场景连接</a:t>
                </a:r>
                <a:br/>
                <a:r>
                  <a:rPr lang="zh-CN" sz="750" dirty="0">
                    <a:solidFill>
                      <a:srgbClr val="473633"/>
                    </a:solidFill>
                    <a:latin typeface="+mn-lt"/>
                    <a:ea typeface="+mn-ea"/>
                    <a:cs typeface="+mn-cs"/>
                  </a:rPr>
                  <a:t>资源协同</a:t>
                </a:r>
              </a:p>
            </p:txBody>
          </p:sp>
        </p:grpSp>
        <p:sp>
          <p:nvSpPr>
            <p:cNvPr id="70" name="Rectangle 70"/>
            <p:cNvSpPr/>
            <p:nvPr/>
          </p:nvSpPr>
          <p:spPr>
            <a:xfrm>
              <a:off x="381000" y="5829300"/>
              <a:ext cx="3409950" cy="628650"/>
            </a:xfrm>
            <a:prstGeom prst="roundRect">
              <a:avLst>
                <a:gd name="adj" fmla="val 9091"/>
              </a:avLst>
            </a:prstGeom>
            <a:solidFill>
              <a:srgbClr val="EAF3FE"/>
            </a:solidFill>
            <a:ln>
              <a:noFill/>
            </a:ln>
          </p:spPr>
        </p:sp>
        <p:grpSp>
          <p:nvGrpSpPr>
            <p:cNvPr id="77" name="Group 77"/>
            <p:cNvGrpSpPr/>
            <p:nvPr/>
          </p:nvGrpSpPr>
          <p:grpSpPr>
            <a:xfrm>
              <a:off x="519112" y="6062662"/>
              <a:ext cx="142875" cy="142875"/>
              <a:chOff x="519112" y="6062662"/>
              <a:chExt cx="142875" cy="142875"/>
            </a:xfrm>
          </p:grpSpPr>
          <p:sp>
            <p:nvSpPr>
              <p:cNvPr id="71" name="Freeform 71"/>
              <p:cNvSpPr/>
              <p:nvPr/>
            </p:nvSpPr>
            <p:spPr>
              <a:xfrm>
                <a:off x="574675" y="61261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92102"/>
                </a:solidFill>
              </a:ln>
            </p:spPr>
          </p:sp>
          <p:sp>
            <p:nvSpPr>
              <p:cNvPr id="72" name="Freeform 72"/>
              <p:cNvSpPr/>
              <p:nvPr/>
            </p:nvSpPr>
            <p:spPr>
              <a:xfrm>
                <a:off x="558800" y="61817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B92102"/>
                </a:solidFill>
              </a:ln>
            </p:spPr>
          </p:sp>
          <p:sp>
            <p:nvSpPr>
              <p:cNvPr id="73" name="Freeform 73"/>
              <p:cNvSpPr/>
              <p:nvPr/>
            </p:nvSpPr>
            <p:spPr>
              <a:xfrm>
                <a:off x="614362" y="60626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92102"/>
                </a:solidFill>
              </a:ln>
            </p:spPr>
          </p:sp>
          <p:sp>
            <p:nvSpPr>
              <p:cNvPr id="74" name="Freeform 74"/>
              <p:cNvSpPr/>
              <p:nvPr/>
            </p:nvSpPr>
            <p:spPr>
              <a:xfrm>
                <a:off x="630237" y="61182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B92102"/>
                </a:solidFill>
              </a:ln>
            </p:spPr>
          </p:sp>
          <p:sp>
            <p:nvSpPr>
              <p:cNvPr id="75" name="Freeform 75"/>
              <p:cNvSpPr/>
              <p:nvPr/>
            </p:nvSpPr>
            <p:spPr>
              <a:xfrm>
                <a:off x="534987" y="60626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92102"/>
                </a:solidFill>
              </a:ln>
            </p:spPr>
          </p:sp>
          <p:sp>
            <p:nvSpPr>
              <p:cNvPr id="76" name="Freeform 76"/>
              <p:cNvSpPr/>
              <p:nvPr/>
            </p:nvSpPr>
            <p:spPr>
              <a:xfrm>
                <a:off x="519112" y="61182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B92102"/>
                </a:solidFill>
              </a:ln>
            </p:spPr>
          </p:sp>
        </p:grpSp>
        <p:sp>
          <p:nvSpPr>
            <p:cNvPr id="78" name="TextBox 78"/>
            <p:cNvSpPr txBox="1"/>
            <p:nvPr/>
          </p:nvSpPr>
          <p:spPr>
            <a:xfrm>
              <a:off x="719138" y="6088618"/>
              <a:ext cx="588391" cy="169069"/>
            </a:xfrm>
            <a:prstGeom prst="rect">
              <a:avLst/>
            </a:prstGeom>
            <a:noFill/>
            <a:ln>
              <a:noFill/>
            </a:ln>
          </p:spPr>
          <p:txBody>
            <a:bodyPr wrap="none" lIns="0" tIns="0" rIns="0" bIns="0" anchor="t" anchorCtr="0">
              <a:spAutoFit/>
            </a:bodyPr>
            <a:lstStyle/>
            <a:p>
              <a:pPr algn="l"/>
              <a:r>
                <a:rPr lang="zh-CN" sz="860" b="1" dirty="0">
                  <a:solidFill>
                    <a:srgbClr val="6E1604"/>
                  </a:solidFill>
                  <a:latin typeface="+mn-lt"/>
                  <a:ea typeface="+mn-ea"/>
                  <a:cs typeface="+mn-cs"/>
                </a:rPr>
                <a:t>多触点触达</a:t>
              </a:r>
            </a:p>
          </p:txBody>
        </p:sp>
        <p:grpSp>
          <p:nvGrpSpPr>
            <p:cNvPr id="82" name="Group 82"/>
            <p:cNvGrpSpPr/>
            <p:nvPr/>
          </p:nvGrpSpPr>
          <p:grpSpPr>
            <a:xfrm>
              <a:off x="1395412" y="6062662"/>
              <a:ext cx="142875" cy="142875"/>
              <a:chOff x="1395412" y="6062662"/>
              <a:chExt cx="142875" cy="142875"/>
            </a:xfrm>
          </p:grpSpPr>
          <p:sp>
            <p:nvSpPr>
              <p:cNvPr id="79" name="Freeform 79"/>
              <p:cNvSpPr/>
              <p:nvPr/>
            </p:nvSpPr>
            <p:spPr>
              <a:xfrm>
                <a:off x="1458912" y="61261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B92102"/>
                </a:solidFill>
              </a:ln>
            </p:spPr>
          </p:sp>
          <p:sp>
            <p:nvSpPr>
              <p:cNvPr id="80" name="Freeform 80"/>
              <p:cNvSpPr/>
              <p:nvPr/>
            </p:nvSpPr>
            <p:spPr>
              <a:xfrm>
                <a:off x="1427162" y="60944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B92102"/>
                </a:solidFill>
              </a:ln>
            </p:spPr>
          </p:sp>
          <p:sp>
            <p:nvSpPr>
              <p:cNvPr id="81" name="Freeform 81"/>
              <p:cNvSpPr/>
              <p:nvPr/>
            </p:nvSpPr>
            <p:spPr>
              <a:xfrm>
                <a:off x="1395412" y="60626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B92102"/>
                </a:solidFill>
              </a:ln>
            </p:spPr>
          </p:sp>
        </p:grpSp>
        <p:sp>
          <p:nvSpPr>
            <p:cNvPr id="83" name="TextBox 83"/>
            <p:cNvSpPr txBox="1"/>
            <p:nvPr/>
          </p:nvSpPr>
          <p:spPr>
            <a:xfrm>
              <a:off x="1595438" y="6088618"/>
              <a:ext cx="472618" cy="169069"/>
            </a:xfrm>
            <a:prstGeom prst="rect">
              <a:avLst/>
            </a:prstGeom>
            <a:noFill/>
            <a:ln>
              <a:noFill/>
            </a:ln>
          </p:spPr>
          <p:txBody>
            <a:bodyPr wrap="none" lIns="0" tIns="0" rIns="0" bIns="0" anchor="t" anchorCtr="0">
              <a:spAutoFit/>
            </a:bodyPr>
            <a:lstStyle/>
            <a:p>
              <a:pPr algn="l"/>
              <a:r>
                <a:rPr lang="zh-CN" sz="860" b="1" dirty="0">
                  <a:solidFill>
                    <a:srgbClr val="6E1604"/>
                  </a:solidFill>
                  <a:latin typeface="+mn-lt"/>
                  <a:ea typeface="+mn-ea"/>
                  <a:cs typeface="+mn-cs"/>
                </a:rPr>
                <a:t>精准识别</a:t>
              </a:r>
            </a:p>
          </p:txBody>
        </p:sp>
        <p:grpSp>
          <p:nvGrpSpPr>
            <p:cNvPr id="86" name="Group 86"/>
            <p:cNvGrpSpPr/>
            <p:nvPr/>
          </p:nvGrpSpPr>
          <p:grpSpPr>
            <a:xfrm>
              <a:off x="2146300" y="6067537"/>
              <a:ext cx="127000" cy="133125"/>
              <a:chOff x="2146300" y="6067537"/>
              <a:chExt cx="127000" cy="133125"/>
            </a:xfrm>
          </p:grpSpPr>
          <p:sp>
            <p:nvSpPr>
              <p:cNvPr id="84" name="Freeform 84"/>
              <p:cNvSpPr/>
              <p:nvPr/>
            </p:nvSpPr>
            <p:spPr>
              <a:xfrm>
                <a:off x="2146300" y="606753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B92102"/>
                </a:solidFill>
              </a:ln>
            </p:spPr>
          </p:sp>
          <p:sp>
            <p:nvSpPr>
              <p:cNvPr id="85" name="Freeform 85"/>
              <p:cNvSpPr/>
              <p:nvPr/>
            </p:nvSpPr>
            <p:spPr>
              <a:xfrm>
                <a:off x="2146300" y="614203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B92102"/>
                </a:solidFill>
              </a:ln>
            </p:spPr>
          </p:sp>
        </p:grpSp>
        <p:sp>
          <p:nvSpPr>
            <p:cNvPr id="87" name="TextBox 87"/>
            <p:cNvSpPr txBox="1"/>
            <p:nvPr/>
          </p:nvSpPr>
          <p:spPr>
            <a:xfrm>
              <a:off x="2338388" y="6088618"/>
              <a:ext cx="472618" cy="169069"/>
            </a:xfrm>
            <a:prstGeom prst="rect">
              <a:avLst/>
            </a:prstGeom>
            <a:noFill/>
            <a:ln>
              <a:noFill/>
            </a:ln>
          </p:spPr>
          <p:txBody>
            <a:bodyPr wrap="none" lIns="0" tIns="0" rIns="0" bIns="0" anchor="t" anchorCtr="0">
              <a:spAutoFit/>
            </a:bodyPr>
            <a:lstStyle/>
            <a:p>
              <a:pPr algn="l"/>
              <a:r>
                <a:rPr lang="zh-CN" sz="860" b="1" dirty="0">
                  <a:solidFill>
                    <a:srgbClr val="6E1604"/>
                  </a:solidFill>
                  <a:latin typeface="+mn-lt"/>
                  <a:ea typeface="+mn-ea"/>
                  <a:cs typeface="+mn-cs"/>
                </a:rPr>
                <a:t>协同转化</a:t>
              </a:r>
            </a:p>
          </p:txBody>
        </p:sp>
        <p:grpSp>
          <p:nvGrpSpPr>
            <p:cNvPr id="90" name="Group 90"/>
            <p:cNvGrpSpPr/>
            <p:nvPr/>
          </p:nvGrpSpPr>
          <p:grpSpPr>
            <a:xfrm>
              <a:off x="2881312" y="6094412"/>
              <a:ext cx="142875" cy="79375"/>
              <a:chOff x="2881312" y="6094412"/>
              <a:chExt cx="142875" cy="79375"/>
            </a:xfrm>
          </p:grpSpPr>
          <p:sp>
            <p:nvSpPr>
              <p:cNvPr id="88" name="Freeform 88"/>
              <p:cNvSpPr/>
              <p:nvPr/>
            </p:nvSpPr>
            <p:spPr>
              <a:xfrm>
                <a:off x="2881312" y="609441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B92102"/>
                </a:solidFill>
              </a:ln>
            </p:spPr>
          </p:sp>
          <p:sp>
            <p:nvSpPr>
              <p:cNvPr id="89" name="Freeform 89"/>
              <p:cNvSpPr/>
              <p:nvPr/>
            </p:nvSpPr>
            <p:spPr>
              <a:xfrm>
                <a:off x="2968625" y="6094412"/>
                <a:ext cx="55562" cy="55562"/>
              </a:xfrm>
              <a:custGeom>
                <a:avLst/>
                <a:gdLst/>
                <a:ahLst/>
                <a:cxnLst/>
                <a:rect l="l" t="t" r="r" b="b"/>
                <a:pathLst>
                  <a:path w="55562" h="55562">
                    <a:moveTo>
                      <a:pt x="0" y="0"/>
                    </a:moveTo>
                    <a:lnTo>
                      <a:pt x="55562" y="0"/>
                    </a:lnTo>
                    <a:lnTo>
                      <a:pt x="55562" y="55562"/>
                    </a:lnTo>
                  </a:path>
                </a:pathLst>
              </a:custGeom>
              <a:noFill/>
              <a:ln w="15875">
                <a:solidFill>
                  <a:srgbClr val="B92102"/>
                </a:solidFill>
              </a:ln>
            </p:spPr>
          </p:sp>
        </p:grpSp>
        <p:sp>
          <p:nvSpPr>
            <p:cNvPr id="91" name="TextBox 91"/>
            <p:cNvSpPr txBox="1"/>
            <p:nvPr/>
          </p:nvSpPr>
          <p:spPr>
            <a:xfrm>
              <a:off x="3081338" y="6088618"/>
              <a:ext cx="472618" cy="169069"/>
            </a:xfrm>
            <a:prstGeom prst="rect">
              <a:avLst/>
            </a:prstGeom>
            <a:noFill/>
            <a:ln>
              <a:noFill/>
            </a:ln>
          </p:spPr>
          <p:txBody>
            <a:bodyPr wrap="none" lIns="0" tIns="0" rIns="0" bIns="0" anchor="t" anchorCtr="0">
              <a:spAutoFit/>
            </a:bodyPr>
            <a:lstStyle/>
            <a:p>
              <a:pPr algn="l"/>
              <a:r>
                <a:rPr lang="zh-CN" sz="860" b="1" dirty="0">
                  <a:solidFill>
                    <a:srgbClr val="6E1604"/>
                  </a:solidFill>
                  <a:latin typeface="+mn-lt"/>
                  <a:ea typeface="+mn-ea"/>
                  <a:cs typeface="+mn-cs"/>
                </a:rPr>
                <a:t>持续经营</a:t>
              </a:r>
            </a:p>
          </p:txBody>
        </p:sp>
      </p:grpSp>
      <p:grpSp>
        <p:nvGrpSpPr>
          <p:cNvPr id="161" name="activity-board"/>
          <p:cNvGrpSpPr/>
          <p:nvPr/>
        </p:nvGrpSpPr>
        <p:grpSpPr>
          <a:xfrm>
            <a:off x="4057650" y="781050"/>
            <a:ext cx="4419600" cy="5791200"/>
            <a:chOff x="4057650" y="781050"/>
            <a:chExt cx="4419600" cy="5791200"/>
          </a:xfrm>
        </p:grpSpPr>
        <p:sp>
          <p:nvSpPr>
            <p:cNvPr id="93" name="Rectangle 93"/>
            <p:cNvSpPr/>
            <p:nvPr/>
          </p:nvSpPr>
          <p:spPr>
            <a:xfrm>
              <a:off x="4057650" y="914400"/>
              <a:ext cx="4419600" cy="5657850"/>
            </a:xfrm>
            <a:prstGeom prst="roundRect">
              <a:avLst>
                <a:gd name="adj" fmla="val 1724"/>
              </a:avLst>
            </a:prstGeom>
            <a:solidFill>
              <a:srgbClr val="FFFFFF"/>
            </a:solidFill>
            <a:ln w="9525">
              <a:solidFill>
                <a:srgbClr val="F7D1C9"/>
              </a:solidFill>
            </a:ln>
          </p:spPr>
        </p:sp>
        <p:sp>
          <p:nvSpPr>
            <p:cNvPr id="94" name="Rectangle 94"/>
            <p:cNvSpPr/>
            <p:nvPr/>
          </p:nvSpPr>
          <p:spPr>
            <a:xfrm>
              <a:off x="5105400" y="781050"/>
              <a:ext cx="2324100" cy="266700"/>
            </a:xfrm>
            <a:prstGeom prst="roundRect">
              <a:avLst>
                <a:gd name="adj" fmla="val 21429"/>
              </a:avLst>
            </a:prstGeom>
            <a:solidFill>
              <a:srgbClr val="6E1604"/>
            </a:solidFill>
            <a:ln>
              <a:noFill/>
            </a:ln>
          </p:spPr>
        </p:sp>
        <p:sp>
          <p:nvSpPr>
            <p:cNvPr id="95" name="TextBox 95"/>
            <p:cNvSpPr txBox="1"/>
            <p:nvPr/>
          </p:nvSpPr>
          <p:spPr>
            <a:xfrm>
              <a:off x="5514546" y="858202"/>
              <a:ext cx="150580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活动复盘看板（示例）​</a:t>
              </a:r>
            </a:p>
          </p:txBody>
        </p:sp>
        <p:sp>
          <p:nvSpPr>
            <p:cNvPr id="96" name="Rectangle 96"/>
            <p:cNvSpPr/>
            <p:nvPr/>
          </p:nvSpPr>
          <p:spPr>
            <a:xfrm>
              <a:off x="4191000" y="1219200"/>
              <a:ext cx="4152900" cy="495300"/>
            </a:xfrm>
            <a:prstGeom prst="roundRect">
              <a:avLst>
                <a:gd name="adj" fmla="val 7692"/>
              </a:avLst>
            </a:prstGeom>
            <a:solidFill>
              <a:srgbClr val="B92102"/>
            </a:solidFill>
            <a:ln>
              <a:noFill/>
            </a:ln>
          </p:spPr>
        </p:sp>
        <p:sp>
          <p:nvSpPr>
            <p:cNvPr id="97" name="TextBox 97"/>
            <p:cNvSpPr txBox="1"/>
            <p:nvPr/>
          </p:nvSpPr>
          <p:spPr>
            <a:xfrm>
              <a:off x="4430941" y="142136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活动主题</a:t>
              </a:r>
            </a:p>
          </p:txBody>
        </p:sp>
        <p:sp>
          <p:nvSpPr>
            <p:cNvPr id="98" name="TextBox 98"/>
            <p:cNvSpPr txBox="1"/>
            <p:nvPr/>
          </p:nvSpPr>
          <p:spPr>
            <a:xfrm>
              <a:off x="5364391" y="142136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目标客群</a:t>
              </a:r>
            </a:p>
          </p:txBody>
        </p:sp>
        <p:sp>
          <p:nvSpPr>
            <p:cNvPr id="99" name="TextBox 99"/>
            <p:cNvSpPr txBox="1"/>
            <p:nvPr/>
          </p:nvSpPr>
          <p:spPr>
            <a:xfrm>
              <a:off x="6130608" y="1349216"/>
              <a:ext cx="426085" cy="304800"/>
            </a:xfrm>
            <a:prstGeom prst="rect">
              <a:avLst/>
            </a:prstGeom>
            <a:noFill/>
            <a:ln>
              <a:noFill/>
            </a:ln>
          </p:spPr>
          <p:txBody>
            <a:bodyPr wrap="none" lIns="0" tIns="0" rIns="0" bIns="0" anchor="t" anchorCtr="0">
              <a:spAutoFit/>
            </a:bodyPr>
            <a:lstStyle/>
            <a:p>
              <a:pPr algn="ctr">
                <a:lnSpc>
                  <a:spcPts val="1125"/>
                </a:lnSpc>
              </a:pPr>
              <a:r>
                <a:rPr lang="zh-CN" sz="820" b="1" dirty="0">
                  <a:solidFill>
                    <a:srgbClr val="FFFFFF"/>
                  </a:solidFill>
                  <a:latin typeface="+mn-lt"/>
                  <a:ea typeface="+mn-ea"/>
                  <a:cs typeface="+mn-cs"/>
                </a:rPr>
                <a:t>邀约</a:t>
              </a:r>
              <a:br/>
              <a:r>
                <a:rPr lang="zh-CN" sz="820" b="1" dirty="0">
                  <a:solidFill>
                    <a:srgbClr val="FFFFFF"/>
                  </a:solidFill>
                  <a:latin typeface="+mn-lt"/>
                  <a:ea typeface="+mn-ea"/>
                  <a:cs typeface="+mn-cs"/>
                </a:rPr>
                <a:t>（人数）</a:t>
              </a:r>
            </a:p>
          </p:txBody>
        </p:sp>
        <p:sp>
          <p:nvSpPr>
            <p:cNvPr id="100" name="TextBox 100"/>
            <p:cNvSpPr txBox="1"/>
            <p:nvPr/>
          </p:nvSpPr>
          <p:spPr>
            <a:xfrm>
              <a:off x="6702108" y="1349216"/>
              <a:ext cx="426085" cy="304800"/>
            </a:xfrm>
            <a:prstGeom prst="rect">
              <a:avLst/>
            </a:prstGeom>
            <a:noFill/>
            <a:ln>
              <a:noFill/>
            </a:ln>
          </p:spPr>
          <p:txBody>
            <a:bodyPr wrap="none" lIns="0" tIns="0" rIns="0" bIns="0" anchor="t" anchorCtr="0">
              <a:spAutoFit/>
            </a:bodyPr>
            <a:lstStyle/>
            <a:p>
              <a:pPr algn="ctr">
                <a:lnSpc>
                  <a:spcPts val="1125"/>
                </a:lnSpc>
              </a:pPr>
              <a:r>
                <a:rPr lang="zh-CN" sz="820" b="1" dirty="0">
                  <a:solidFill>
                    <a:srgbClr val="FFFFFF"/>
                  </a:solidFill>
                  <a:latin typeface="+mn-lt"/>
                  <a:ea typeface="+mn-ea"/>
                  <a:cs typeface="+mn-cs"/>
                </a:rPr>
                <a:t>到场</a:t>
              </a:r>
              <a:br/>
              <a:r>
                <a:rPr lang="zh-CN" sz="820" b="1" dirty="0">
                  <a:solidFill>
                    <a:srgbClr val="FFFFFF"/>
                  </a:solidFill>
                  <a:latin typeface="+mn-lt"/>
                  <a:ea typeface="+mn-ea"/>
                  <a:cs typeface="+mn-cs"/>
                </a:rPr>
                <a:t>（人数）</a:t>
              </a:r>
            </a:p>
          </p:txBody>
        </p:sp>
        <p:sp>
          <p:nvSpPr>
            <p:cNvPr id="101" name="TextBox 101"/>
            <p:cNvSpPr txBox="1"/>
            <p:nvPr/>
          </p:nvSpPr>
          <p:spPr>
            <a:xfrm>
              <a:off x="7273608" y="1349216"/>
              <a:ext cx="426085" cy="304800"/>
            </a:xfrm>
            <a:prstGeom prst="rect">
              <a:avLst/>
            </a:prstGeom>
            <a:noFill/>
            <a:ln>
              <a:noFill/>
            </a:ln>
          </p:spPr>
          <p:txBody>
            <a:bodyPr wrap="none" lIns="0" tIns="0" rIns="0" bIns="0" anchor="t" anchorCtr="0">
              <a:spAutoFit/>
            </a:bodyPr>
            <a:lstStyle/>
            <a:p>
              <a:pPr algn="ctr">
                <a:lnSpc>
                  <a:spcPts val="1125"/>
                </a:lnSpc>
              </a:pPr>
              <a:r>
                <a:rPr lang="zh-CN" sz="820" b="1" dirty="0">
                  <a:solidFill>
                    <a:srgbClr val="FFFFFF"/>
                  </a:solidFill>
                  <a:latin typeface="+mn-lt"/>
                  <a:ea typeface="+mn-ea"/>
                  <a:cs typeface="+mn-cs"/>
                </a:rPr>
                <a:t>有效商机</a:t>
              </a:r>
              <a:br/>
              <a:r>
                <a:rPr lang="zh-CN" sz="820" b="1" dirty="0">
                  <a:solidFill>
                    <a:srgbClr val="FFFFFF"/>
                  </a:solidFill>
                  <a:latin typeface="+mn-lt"/>
                  <a:ea typeface="+mn-ea"/>
                  <a:cs typeface="+mn-cs"/>
                </a:rPr>
                <a:t>（个）</a:t>
              </a:r>
            </a:p>
          </p:txBody>
        </p:sp>
        <p:sp>
          <p:nvSpPr>
            <p:cNvPr id="102" name="TextBox 102"/>
            <p:cNvSpPr txBox="1"/>
            <p:nvPr/>
          </p:nvSpPr>
          <p:spPr>
            <a:xfrm>
              <a:off x="7845108" y="1349216"/>
              <a:ext cx="426085" cy="304800"/>
            </a:xfrm>
            <a:prstGeom prst="rect">
              <a:avLst/>
            </a:prstGeom>
            <a:noFill/>
            <a:ln>
              <a:noFill/>
            </a:ln>
          </p:spPr>
          <p:txBody>
            <a:bodyPr wrap="none" lIns="0" tIns="0" rIns="0" bIns="0" anchor="t" anchorCtr="0">
              <a:spAutoFit/>
            </a:bodyPr>
            <a:lstStyle/>
            <a:p>
              <a:pPr algn="ctr">
                <a:lnSpc>
                  <a:spcPts val="1125"/>
                </a:lnSpc>
              </a:pPr>
              <a:r>
                <a:rPr lang="zh-CN" sz="820" b="1" dirty="0">
                  <a:solidFill>
                    <a:srgbClr val="FFFFFF"/>
                  </a:solidFill>
                  <a:latin typeface="+mn-lt"/>
                  <a:ea typeface="+mn-ea"/>
                  <a:cs typeface="+mn-cs"/>
                </a:rPr>
                <a:t>后续跟进</a:t>
              </a:r>
              <a:br/>
              <a:r>
                <a:rPr lang="zh-CN" sz="820" b="1" dirty="0">
                  <a:solidFill>
                    <a:srgbClr val="FFFFFF"/>
                  </a:solidFill>
                  <a:latin typeface="+mn-lt"/>
                  <a:ea typeface="+mn-ea"/>
                  <a:cs typeface="+mn-cs"/>
                </a:rPr>
                <a:t>（人数）</a:t>
              </a:r>
            </a:p>
          </p:txBody>
        </p:sp>
        <p:sp>
          <p:nvSpPr>
            <p:cNvPr id="103" name="Line 103"/>
            <p:cNvSpPr/>
            <p:nvPr/>
          </p:nvSpPr>
          <p:spPr>
            <a:xfrm>
              <a:off x="4191000" y="2247900"/>
              <a:ext cx="4152900" cy="9525"/>
            </a:xfrm>
            <a:custGeom>
              <a:avLst/>
              <a:gdLst/>
              <a:ahLst/>
              <a:cxnLst/>
              <a:rect l="l" t="t" r="r" b="b"/>
              <a:pathLst>
                <a:path w="4152900" h="9525">
                  <a:moveTo>
                    <a:pt x="0" y="0"/>
                  </a:moveTo>
                  <a:lnTo>
                    <a:pt x="4152900" y="0"/>
                  </a:lnTo>
                </a:path>
              </a:pathLst>
            </a:custGeom>
            <a:noFill/>
            <a:ln w="9525">
              <a:solidFill>
                <a:srgbClr val="DCE6F8"/>
              </a:solidFill>
            </a:ln>
          </p:spPr>
        </p:sp>
        <p:sp>
          <p:nvSpPr>
            <p:cNvPr id="104" name="Line 104"/>
            <p:cNvSpPr/>
            <p:nvPr/>
          </p:nvSpPr>
          <p:spPr>
            <a:xfrm>
              <a:off x="4191000" y="2781300"/>
              <a:ext cx="4152900" cy="9525"/>
            </a:xfrm>
            <a:custGeom>
              <a:avLst/>
              <a:gdLst/>
              <a:ahLst/>
              <a:cxnLst/>
              <a:rect l="l" t="t" r="r" b="b"/>
              <a:pathLst>
                <a:path w="4152900" h="9525">
                  <a:moveTo>
                    <a:pt x="0" y="0"/>
                  </a:moveTo>
                  <a:lnTo>
                    <a:pt x="4152900" y="0"/>
                  </a:lnTo>
                </a:path>
              </a:pathLst>
            </a:custGeom>
            <a:noFill/>
            <a:ln w="9525">
              <a:solidFill>
                <a:srgbClr val="DCE6F8"/>
              </a:solidFill>
            </a:ln>
          </p:spPr>
        </p:sp>
        <p:sp>
          <p:nvSpPr>
            <p:cNvPr id="105" name="Line 105"/>
            <p:cNvSpPr/>
            <p:nvPr/>
          </p:nvSpPr>
          <p:spPr>
            <a:xfrm>
              <a:off x="4191000" y="3314700"/>
              <a:ext cx="4152900" cy="9525"/>
            </a:xfrm>
            <a:custGeom>
              <a:avLst/>
              <a:gdLst/>
              <a:ahLst/>
              <a:cxnLst/>
              <a:rect l="l" t="t" r="r" b="b"/>
              <a:pathLst>
                <a:path w="4152900" h="9525">
                  <a:moveTo>
                    <a:pt x="0" y="0"/>
                  </a:moveTo>
                  <a:lnTo>
                    <a:pt x="4152900" y="0"/>
                  </a:lnTo>
                </a:path>
              </a:pathLst>
            </a:custGeom>
            <a:noFill/>
            <a:ln w="9525">
              <a:solidFill>
                <a:srgbClr val="DCE6F8"/>
              </a:solidFill>
            </a:ln>
          </p:spPr>
        </p:sp>
        <p:sp>
          <p:nvSpPr>
            <p:cNvPr id="106" name="Line 106"/>
            <p:cNvSpPr/>
            <p:nvPr/>
          </p:nvSpPr>
          <p:spPr>
            <a:xfrm>
              <a:off x="4191000" y="3848100"/>
              <a:ext cx="4152900" cy="9525"/>
            </a:xfrm>
            <a:custGeom>
              <a:avLst/>
              <a:gdLst/>
              <a:ahLst/>
              <a:cxnLst/>
              <a:rect l="l" t="t" r="r" b="b"/>
              <a:pathLst>
                <a:path w="4152900" h="9525">
                  <a:moveTo>
                    <a:pt x="0" y="0"/>
                  </a:moveTo>
                  <a:lnTo>
                    <a:pt x="4152900" y="0"/>
                  </a:lnTo>
                </a:path>
              </a:pathLst>
            </a:custGeom>
            <a:noFill/>
            <a:ln w="9525">
              <a:solidFill>
                <a:srgbClr val="DCE6F8"/>
              </a:solidFill>
            </a:ln>
          </p:spPr>
        </p:sp>
        <p:sp>
          <p:nvSpPr>
            <p:cNvPr id="107" name="Rectangle 107"/>
            <p:cNvSpPr/>
            <p:nvPr/>
          </p:nvSpPr>
          <p:spPr>
            <a:xfrm>
              <a:off x="4191000" y="4381500"/>
              <a:ext cx="4152900" cy="419100"/>
            </a:xfrm>
            <a:prstGeom prst="rect">
              <a:avLst/>
            </a:prstGeom>
            <a:solidFill>
              <a:srgbClr val="FDCCC2"/>
            </a:solidFill>
            <a:ln>
              <a:noFill/>
            </a:ln>
          </p:spPr>
        </p:sp>
        <p:sp>
          <p:nvSpPr>
            <p:cNvPr id="108" name="Line 108"/>
            <p:cNvSpPr/>
            <p:nvPr/>
          </p:nvSpPr>
          <p:spPr>
            <a:xfrm>
              <a:off x="5143500" y="1714500"/>
              <a:ext cx="9525" cy="3086100"/>
            </a:xfrm>
            <a:custGeom>
              <a:avLst/>
              <a:gdLst/>
              <a:ahLst/>
              <a:cxnLst/>
              <a:rect l="l" t="t" r="r" b="b"/>
              <a:pathLst>
                <a:path w="9525" h="3086100">
                  <a:moveTo>
                    <a:pt x="0" y="0"/>
                  </a:moveTo>
                  <a:lnTo>
                    <a:pt x="0" y="3086100"/>
                  </a:lnTo>
                </a:path>
              </a:pathLst>
            </a:custGeom>
            <a:noFill/>
            <a:ln w="9525">
              <a:solidFill>
                <a:srgbClr val="DCE6F8"/>
              </a:solidFill>
            </a:ln>
          </p:spPr>
        </p:sp>
        <p:sp>
          <p:nvSpPr>
            <p:cNvPr id="109" name="Line 109"/>
            <p:cNvSpPr/>
            <p:nvPr/>
          </p:nvSpPr>
          <p:spPr>
            <a:xfrm>
              <a:off x="6057900" y="1714500"/>
              <a:ext cx="9525" cy="3086100"/>
            </a:xfrm>
            <a:custGeom>
              <a:avLst/>
              <a:gdLst/>
              <a:ahLst/>
              <a:cxnLst/>
              <a:rect l="l" t="t" r="r" b="b"/>
              <a:pathLst>
                <a:path w="9525" h="3086100">
                  <a:moveTo>
                    <a:pt x="0" y="0"/>
                  </a:moveTo>
                  <a:lnTo>
                    <a:pt x="0" y="3086100"/>
                  </a:lnTo>
                </a:path>
              </a:pathLst>
            </a:custGeom>
            <a:noFill/>
            <a:ln w="9525">
              <a:solidFill>
                <a:srgbClr val="DCE6F8"/>
              </a:solidFill>
            </a:ln>
          </p:spPr>
        </p:sp>
        <p:sp>
          <p:nvSpPr>
            <p:cNvPr id="110" name="Line 110"/>
            <p:cNvSpPr/>
            <p:nvPr/>
          </p:nvSpPr>
          <p:spPr>
            <a:xfrm>
              <a:off x="6629400" y="1714500"/>
              <a:ext cx="9525" cy="3086100"/>
            </a:xfrm>
            <a:custGeom>
              <a:avLst/>
              <a:gdLst/>
              <a:ahLst/>
              <a:cxnLst/>
              <a:rect l="l" t="t" r="r" b="b"/>
              <a:pathLst>
                <a:path w="9525" h="3086100">
                  <a:moveTo>
                    <a:pt x="0" y="0"/>
                  </a:moveTo>
                  <a:lnTo>
                    <a:pt x="0" y="3086100"/>
                  </a:lnTo>
                </a:path>
              </a:pathLst>
            </a:custGeom>
            <a:noFill/>
            <a:ln w="9525">
              <a:solidFill>
                <a:srgbClr val="DCE6F8"/>
              </a:solidFill>
            </a:ln>
          </p:spPr>
        </p:sp>
        <p:sp>
          <p:nvSpPr>
            <p:cNvPr id="111" name="Line 111"/>
            <p:cNvSpPr/>
            <p:nvPr/>
          </p:nvSpPr>
          <p:spPr>
            <a:xfrm>
              <a:off x="7200900" y="1714500"/>
              <a:ext cx="9525" cy="3086100"/>
            </a:xfrm>
            <a:custGeom>
              <a:avLst/>
              <a:gdLst/>
              <a:ahLst/>
              <a:cxnLst/>
              <a:rect l="l" t="t" r="r" b="b"/>
              <a:pathLst>
                <a:path w="9525" h="3086100">
                  <a:moveTo>
                    <a:pt x="0" y="0"/>
                  </a:moveTo>
                  <a:lnTo>
                    <a:pt x="0" y="3086100"/>
                  </a:lnTo>
                </a:path>
              </a:pathLst>
            </a:custGeom>
            <a:noFill/>
            <a:ln w="9525">
              <a:solidFill>
                <a:srgbClr val="DCE6F8"/>
              </a:solidFill>
            </a:ln>
          </p:spPr>
        </p:sp>
        <p:sp>
          <p:nvSpPr>
            <p:cNvPr id="112" name="Line 112"/>
            <p:cNvSpPr/>
            <p:nvPr/>
          </p:nvSpPr>
          <p:spPr>
            <a:xfrm>
              <a:off x="7772400" y="1714500"/>
              <a:ext cx="9525" cy="3086100"/>
            </a:xfrm>
            <a:custGeom>
              <a:avLst/>
              <a:gdLst/>
              <a:ahLst/>
              <a:cxnLst/>
              <a:rect l="l" t="t" r="r" b="b"/>
              <a:pathLst>
                <a:path w="9525" h="3086100">
                  <a:moveTo>
                    <a:pt x="0" y="0"/>
                  </a:moveTo>
                  <a:lnTo>
                    <a:pt x="0" y="3086100"/>
                  </a:lnTo>
                </a:path>
              </a:pathLst>
            </a:custGeom>
            <a:noFill/>
            <a:ln w="9525">
              <a:solidFill>
                <a:srgbClr val="DCE6F8"/>
              </a:solidFill>
            </a:ln>
          </p:spPr>
        </p:sp>
        <p:grpSp>
          <p:nvGrpSpPr>
            <p:cNvPr id="119" name="act-row-1"/>
            <p:cNvGrpSpPr/>
            <p:nvPr/>
          </p:nvGrpSpPr>
          <p:grpSpPr>
            <a:xfrm>
              <a:off x="4454208" y="1863566"/>
              <a:ext cx="3709624" cy="304800"/>
              <a:chOff x="4454208" y="1863566"/>
              <a:chExt cx="3709624" cy="304800"/>
            </a:xfrm>
          </p:grpSpPr>
          <p:sp>
            <p:nvSpPr>
              <p:cNvPr id="113" name="TextBox 113"/>
              <p:cNvSpPr txBox="1"/>
              <p:nvPr/>
            </p:nvSpPr>
            <p:spPr>
              <a:xfrm>
                <a:off x="4454208" y="1863566"/>
                <a:ext cx="42608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4251F"/>
                    </a:solidFill>
                    <a:latin typeface="+mn-lt"/>
                    <a:ea typeface="+mn-ea"/>
                    <a:cs typeface="+mn-cs"/>
                  </a:rPr>
                  <a:t>科创企业</a:t>
                </a:r>
                <a:br/>
                <a:r>
                  <a:rPr lang="zh-CN" sz="820" dirty="0">
                    <a:solidFill>
                      <a:srgbClr val="44251F"/>
                    </a:solidFill>
                    <a:latin typeface="+mn-lt"/>
                    <a:ea typeface="+mn-ea"/>
                    <a:cs typeface="+mn-cs"/>
                  </a:rPr>
                  <a:t>融资沙龙</a:t>
                </a:r>
              </a:p>
            </p:txBody>
          </p:sp>
          <p:sp>
            <p:nvSpPr>
              <p:cNvPr id="114" name="TextBox 114"/>
              <p:cNvSpPr txBox="1"/>
              <p:nvPr/>
            </p:nvSpPr>
            <p:spPr>
              <a:xfrm>
                <a:off x="5387658" y="1863566"/>
                <a:ext cx="42608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73633"/>
                    </a:solidFill>
                    <a:latin typeface="+mn-lt"/>
                    <a:ea typeface="+mn-ea"/>
                    <a:cs typeface="+mn-cs"/>
                  </a:rPr>
                  <a:t>科创企业</a:t>
                </a:r>
                <a:br/>
                <a:r>
                  <a:rPr lang="zh-CN" sz="820" dirty="0">
                    <a:solidFill>
                      <a:srgbClr val="473633"/>
                    </a:solidFill>
                    <a:latin typeface="+mn-lt"/>
                    <a:ea typeface="+mn-ea"/>
                    <a:cs typeface="+mn-cs"/>
                  </a:rPr>
                  <a:t>决策人</a:t>
                </a:r>
              </a:p>
            </p:txBody>
          </p:sp>
          <p:sp>
            <p:nvSpPr>
              <p:cNvPr id="115" name="TextBox 115"/>
              <p:cNvSpPr txBox="1"/>
              <p:nvPr/>
            </p:nvSpPr>
            <p:spPr>
              <a:xfrm>
                <a:off x="6237968" y="19261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16" name="TextBox 116"/>
              <p:cNvSpPr txBox="1"/>
              <p:nvPr/>
            </p:nvSpPr>
            <p:spPr>
              <a:xfrm>
                <a:off x="6809468" y="19261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17" name="TextBox 117"/>
              <p:cNvSpPr txBox="1"/>
              <p:nvPr/>
            </p:nvSpPr>
            <p:spPr>
              <a:xfrm>
                <a:off x="7380968" y="19261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18" name="TextBox 118"/>
              <p:cNvSpPr txBox="1"/>
              <p:nvPr/>
            </p:nvSpPr>
            <p:spPr>
              <a:xfrm>
                <a:off x="7952468" y="19261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grpSp>
        <p:grpSp>
          <p:nvGrpSpPr>
            <p:cNvPr id="126" name="act-row-2"/>
            <p:cNvGrpSpPr/>
            <p:nvPr/>
          </p:nvGrpSpPr>
          <p:grpSpPr>
            <a:xfrm>
              <a:off x="4402138" y="2396966"/>
              <a:ext cx="3761694" cy="304800"/>
              <a:chOff x="4402138" y="2396966"/>
              <a:chExt cx="3761694" cy="304800"/>
            </a:xfrm>
          </p:grpSpPr>
          <p:sp>
            <p:nvSpPr>
              <p:cNvPr id="120" name="TextBox 120"/>
              <p:cNvSpPr txBox="1"/>
              <p:nvPr/>
            </p:nvSpPr>
            <p:spPr>
              <a:xfrm>
                <a:off x="4402138" y="2396966"/>
                <a:ext cx="53022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4251F"/>
                    </a:solidFill>
                    <a:latin typeface="+mn-lt"/>
                    <a:ea typeface="+mn-ea"/>
                    <a:cs typeface="+mn-cs"/>
                  </a:rPr>
                  <a:t>供应链金融</a:t>
                </a:r>
                <a:br/>
                <a:r>
                  <a:rPr lang="zh-CN" sz="820" dirty="0">
                    <a:solidFill>
                      <a:srgbClr val="44251F"/>
                    </a:solidFill>
                    <a:latin typeface="+mn-lt"/>
                    <a:ea typeface="+mn-ea"/>
                    <a:cs typeface="+mn-cs"/>
                  </a:rPr>
                  <a:t>专场对接会</a:t>
                </a:r>
              </a:p>
            </p:txBody>
          </p:sp>
          <p:sp>
            <p:nvSpPr>
              <p:cNvPr id="121" name="TextBox 121"/>
              <p:cNvSpPr txBox="1"/>
              <p:nvPr/>
            </p:nvSpPr>
            <p:spPr>
              <a:xfrm>
                <a:off x="5335588" y="2396966"/>
                <a:ext cx="53022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73633"/>
                    </a:solidFill>
                    <a:latin typeface="+mn-lt"/>
                    <a:ea typeface="+mn-ea"/>
                    <a:cs typeface="+mn-cs"/>
                  </a:rPr>
                  <a:t>核心企业</a:t>
                </a:r>
                <a:br/>
                <a:r>
                  <a:rPr lang="zh-CN" sz="820" dirty="0">
                    <a:solidFill>
                      <a:srgbClr val="473633"/>
                    </a:solidFill>
                    <a:latin typeface="+mn-lt"/>
                    <a:ea typeface="+mn-ea"/>
                    <a:cs typeface="+mn-cs"/>
                  </a:rPr>
                  <a:t>财务负责人</a:t>
                </a:r>
              </a:p>
            </p:txBody>
          </p:sp>
          <p:sp>
            <p:nvSpPr>
              <p:cNvPr id="122" name="TextBox 122"/>
              <p:cNvSpPr txBox="1"/>
              <p:nvPr/>
            </p:nvSpPr>
            <p:spPr>
              <a:xfrm>
                <a:off x="6237968" y="24595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23" name="TextBox 123"/>
              <p:cNvSpPr txBox="1"/>
              <p:nvPr/>
            </p:nvSpPr>
            <p:spPr>
              <a:xfrm>
                <a:off x="6809468" y="24595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24" name="TextBox 124"/>
              <p:cNvSpPr txBox="1"/>
              <p:nvPr/>
            </p:nvSpPr>
            <p:spPr>
              <a:xfrm>
                <a:off x="7380968" y="24595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25" name="TextBox 125"/>
              <p:cNvSpPr txBox="1"/>
              <p:nvPr/>
            </p:nvSpPr>
            <p:spPr>
              <a:xfrm>
                <a:off x="7952468" y="24595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grpSp>
        <p:grpSp>
          <p:nvGrpSpPr>
            <p:cNvPr id="133" name="act-row-3"/>
            <p:cNvGrpSpPr/>
            <p:nvPr/>
          </p:nvGrpSpPr>
          <p:grpSpPr>
            <a:xfrm>
              <a:off x="4402138" y="2930366"/>
              <a:ext cx="3761694" cy="304800"/>
              <a:chOff x="4402138" y="2930366"/>
              <a:chExt cx="3761694" cy="304800"/>
            </a:xfrm>
          </p:grpSpPr>
          <p:sp>
            <p:nvSpPr>
              <p:cNvPr id="127" name="TextBox 127"/>
              <p:cNvSpPr txBox="1"/>
              <p:nvPr/>
            </p:nvSpPr>
            <p:spPr>
              <a:xfrm>
                <a:off x="4402138" y="2930366"/>
                <a:ext cx="53022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4251F"/>
                    </a:solidFill>
                    <a:latin typeface="+mn-lt"/>
                    <a:ea typeface="+mn-ea"/>
                    <a:cs typeface="+mn-cs"/>
                  </a:rPr>
                  <a:t>小微企业</a:t>
                </a:r>
                <a:br/>
                <a:r>
                  <a:rPr lang="zh-CN" sz="820" dirty="0">
                    <a:solidFill>
                      <a:srgbClr val="44251F"/>
                    </a:solidFill>
                    <a:latin typeface="+mn-lt"/>
                    <a:ea typeface="+mn-ea"/>
                    <a:cs typeface="+mn-cs"/>
                  </a:rPr>
                  <a:t>政策宣讲会</a:t>
                </a:r>
              </a:p>
            </p:txBody>
          </p:sp>
          <p:sp>
            <p:nvSpPr>
              <p:cNvPr id="128" name="TextBox 128"/>
              <p:cNvSpPr txBox="1"/>
              <p:nvPr/>
            </p:nvSpPr>
            <p:spPr>
              <a:xfrm>
                <a:off x="5387658" y="2930366"/>
                <a:ext cx="42608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73633"/>
                    </a:solidFill>
                    <a:latin typeface="+mn-lt"/>
                    <a:ea typeface="+mn-ea"/>
                    <a:cs typeface="+mn-cs"/>
                  </a:rPr>
                  <a:t>小微企业</a:t>
                </a:r>
                <a:br/>
                <a:r>
                  <a:rPr lang="zh-CN" sz="820" dirty="0">
                    <a:solidFill>
                      <a:srgbClr val="473633"/>
                    </a:solidFill>
                    <a:latin typeface="+mn-lt"/>
                    <a:ea typeface="+mn-ea"/>
                    <a:cs typeface="+mn-cs"/>
                  </a:rPr>
                  <a:t>经营者</a:t>
                </a:r>
              </a:p>
            </p:txBody>
          </p:sp>
          <p:sp>
            <p:nvSpPr>
              <p:cNvPr id="129" name="TextBox 129"/>
              <p:cNvSpPr txBox="1"/>
              <p:nvPr/>
            </p:nvSpPr>
            <p:spPr>
              <a:xfrm>
                <a:off x="6237968" y="29929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30" name="TextBox 130"/>
              <p:cNvSpPr txBox="1"/>
              <p:nvPr/>
            </p:nvSpPr>
            <p:spPr>
              <a:xfrm>
                <a:off x="6809468" y="29929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31" name="TextBox 131"/>
              <p:cNvSpPr txBox="1"/>
              <p:nvPr/>
            </p:nvSpPr>
            <p:spPr>
              <a:xfrm>
                <a:off x="7380968" y="29929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32" name="TextBox 132"/>
              <p:cNvSpPr txBox="1"/>
              <p:nvPr/>
            </p:nvSpPr>
            <p:spPr>
              <a:xfrm>
                <a:off x="7952468" y="29929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grpSp>
        <p:grpSp>
          <p:nvGrpSpPr>
            <p:cNvPr id="140" name="act-row-4"/>
            <p:cNvGrpSpPr/>
            <p:nvPr/>
          </p:nvGrpSpPr>
          <p:grpSpPr>
            <a:xfrm>
              <a:off x="4402138" y="3463766"/>
              <a:ext cx="3761694" cy="304800"/>
              <a:chOff x="4402138" y="3463766"/>
              <a:chExt cx="3761694" cy="304800"/>
            </a:xfrm>
          </p:grpSpPr>
          <p:sp>
            <p:nvSpPr>
              <p:cNvPr id="134" name="TextBox 134"/>
              <p:cNvSpPr txBox="1"/>
              <p:nvPr/>
            </p:nvSpPr>
            <p:spPr>
              <a:xfrm>
                <a:off x="4402138" y="3463766"/>
                <a:ext cx="53022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4251F"/>
                    </a:solidFill>
                    <a:latin typeface="+mn-lt"/>
                    <a:ea typeface="+mn-ea"/>
                    <a:cs typeface="+mn-cs"/>
                  </a:rPr>
                  <a:t>跨境贸易</a:t>
                </a:r>
                <a:br/>
                <a:r>
                  <a:rPr lang="zh-CN" sz="820" dirty="0">
                    <a:solidFill>
                      <a:srgbClr val="44251F"/>
                    </a:solidFill>
                    <a:latin typeface="+mn-lt"/>
                    <a:ea typeface="+mn-ea"/>
                    <a:cs typeface="+mn-cs"/>
                  </a:rPr>
                  <a:t>解决方案会</a:t>
                </a:r>
              </a:p>
            </p:txBody>
          </p:sp>
          <p:sp>
            <p:nvSpPr>
              <p:cNvPr id="135" name="TextBox 135"/>
              <p:cNvSpPr txBox="1"/>
              <p:nvPr/>
            </p:nvSpPr>
            <p:spPr>
              <a:xfrm>
                <a:off x="5387658" y="3463766"/>
                <a:ext cx="42608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73633"/>
                    </a:solidFill>
                    <a:latin typeface="+mn-lt"/>
                    <a:ea typeface="+mn-ea"/>
                    <a:cs typeface="+mn-cs"/>
                  </a:rPr>
                  <a:t>外贸企业</a:t>
                </a:r>
                <a:br/>
                <a:r>
                  <a:rPr lang="zh-CN" sz="820" dirty="0">
                    <a:solidFill>
                      <a:srgbClr val="473633"/>
                    </a:solidFill>
                    <a:latin typeface="+mn-lt"/>
                    <a:ea typeface="+mn-ea"/>
                    <a:cs typeface="+mn-cs"/>
                  </a:rPr>
                  <a:t>负责人</a:t>
                </a:r>
              </a:p>
            </p:txBody>
          </p:sp>
          <p:sp>
            <p:nvSpPr>
              <p:cNvPr id="136" name="TextBox 136"/>
              <p:cNvSpPr txBox="1"/>
              <p:nvPr/>
            </p:nvSpPr>
            <p:spPr>
              <a:xfrm>
                <a:off x="6237968" y="35263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37" name="TextBox 137"/>
              <p:cNvSpPr txBox="1"/>
              <p:nvPr/>
            </p:nvSpPr>
            <p:spPr>
              <a:xfrm>
                <a:off x="6809468" y="35263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38" name="TextBox 138"/>
              <p:cNvSpPr txBox="1"/>
              <p:nvPr/>
            </p:nvSpPr>
            <p:spPr>
              <a:xfrm>
                <a:off x="7380968" y="35263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39" name="TextBox 139"/>
              <p:cNvSpPr txBox="1"/>
              <p:nvPr/>
            </p:nvSpPr>
            <p:spPr>
              <a:xfrm>
                <a:off x="7952468" y="35263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grpSp>
        <p:grpSp>
          <p:nvGrpSpPr>
            <p:cNvPr id="147" name="act-row-5"/>
            <p:cNvGrpSpPr/>
            <p:nvPr/>
          </p:nvGrpSpPr>
          <p:grpSpPr>
            <a:xfrm>
              <a:off x="4402138" y="3997166"/>
              <a:ext cx="3761694" cy="304800"/>
              <a:chOff x="4402138" y="3997166"/>
              <a:chExt cx="3761694" cy="304800"/>
            </a:xfrm>
          </p:grpSpPr>
          <p:sp>
            <p:nvSpPr>
              <p:cNvPr id="141" name="TextBox 141"/>
              <p:cNvSpPr txBox="1"/>
              <p:nvPr/>
            </p:nvSpPr>
            <p:spPr>
              <a:xfrm>
                <a:off x="4402138" y="3997166"/>
                <a:ext cx="53022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4251F"/>
                    </a:solidFill>
                    <a:latin typeface="+mn-lt"/>
                    <a:ea typeface="+mn-ea"/>
                    <a:cs typeface="+mn-cs"/>
                  </a:rPr>
                  <a:t>数字化转型</a:t>
                </a:r>
                <a:br/>
                <a:r>
                  <a:rPr lang="zh-CN" sz="820" dirty="0">
                    <a:solidFill>
                      <a:srgbClr val="44251F"/>
                    </a:solidFill>
                    <a:latin typeface="+mn-lt"/>
                    <a:ea typeface="+mn-ea"/>
                    <a:cs typeface="+mn-cs"/>
                  </a:rPr>
                  <a:t>主题分享会</a:t>
                </a:r>
              </a:p>
            </p:txBody>
          </p:sp>
          <p:sp>
            <p:nvSpPr>
              <p:cNvPr id="142" name="TextBox 142"/>
              <p:cNvSpPr txBox="1"/>
              <p:nvPr/>
            </p:nvSpPr>
            <p:spPr>
              <a:xfrm>
                <a:off x="5119497" y="3997166"/>
                <a:ext cx="962406"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73633"/>
                    </a:solidFill>
                    <a:latin typeface="+mn-lt"/>
                    <a:ea typeface="+mn-ea"/>
                    <a:cs typeface="+mn-cs"/>
                  </a:rPr>
                  <a:t>制造业企业</a:t>
                </a:r>
                <a:br/>
                <a:r>
                  <a:rPr lang="zh-CN" sz="820" dirty="0">
                    <a:solidFill>
                      <a:srgbClr val="473633"/>
                    </a:solidFill>
                    <a:latin typeface="+mn-lt"/>
                    <a:ea typeface="+mn-ea"/>
                    <a:cs typeface="+mn-cs"/>
                  </a:rPr>
                  <a:t>IT/财务负责人​​​​​</a:t>
                </a:r>
              </a:p>
            </p:txBody>
          </p:sp>
          <p:sp>
            <p:nvSpPr>
              <p:cNvPr id="143" name="TextBox 143"/>
              <p:cNvSpPr txBox="1"/>
              <p:nvPr/>
            </p:nvSpPr>
            <p:spPr>
              <a:xfrm>
                <a:off x="6237968" y="40597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44" name="TextBox 144"/>
              <p:cNvSpPr txBox="1"/>
              <p:nvPr/>
            </p:nvSpPr>
            <p:spPr>
              <a:xfrm>
                <a:off x="6809468" y="40597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45" name="TextBox 145"/>
              <p:cNvSpPr txBox="1"/>
              <p:nvPr/>
            </p:nvSpPr>
            <p:spPr>
              <a:xfrm>
                <a:off x="7380968" y="40597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sp>
            <p:nvSpPr>
              <p:cNvPr id="146" name="TextBox 146"/>
              <p:cNvSpPr txBox="1"/>
              <p:nvPr/>
            </p:nvSpPr>
            <p:spPr>
              <a:xfrm>
                <a:off x="7952468" y="4059793"/>
                <a:ext cx="21136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XX​</a:t>
                </a:r>
              </a:p>
            </p:txBody>
          </p:sp>
        </p:grpSp>
        <p:grpSp>
          <p:nvGrpSpPr>
            <p:cNvPr id="153" name="act-total"/>
            <p:cNvGrpSpPr/>
            <p:nvPr/>
          </p:nvGrpSpPr>
          <p:grpSpPr>
            <a:xfrm>
              <a:off x="4535945" y="4527947"/>
              <a:ext cx="3637862" cy="183356"/>
              <a:chOff x="4535945" y="4527947"/>
              <a:chExt cx="3637862" cy="183356"/>
            </a:xfrm>
          </p:grpSpPr>
          <p:sp>
            <p:nvSpPr>
              <p:cNvPr id="148" name="TextBox 148"/>
              <p:cNvSpPr txBox="1"/>
              <p:nvPr/>
            </p:nvSpPr>
            <p:spPr>
              <a:xfrm>
                <a:off x="4535945" y="4527947"/>
                <a:ext cx="262611" cy="183356"/>
              </a:xfrm>
              <a:prstGeom prst="rect">
                <a:avLst/>
              </a:prstGeom>
              <a:noFill/>
              <a:ln>
                <a:noFill/>
              </a:ln>
            </p:spPr>
            <p:txBody>
              <a:bodyPr wrap="none" lIns="0" tIns="0" rIns="0" bIns="0" anchor="t" anchorCtr="0">
                <a:spAutoFit/>
              </a:bodyPr>
              <a:lstStyle/>
              <a:p>
                <a:pPr algn="ctr"/>
                <a:r>
                  <a:rPr lang="zh-CN" sz="940" b="1" dirty="0">
                    <a:solidFill>
                      <a:srgbClr val="6E1604"/>
                    </a:solidFill>
                    <a:latin typeface="+mn-lt"/>
                    <a:ea typeface="+mn-ea"/>
                    <a:cs typeface="+mn-cs"/>
                  </a:rPr>
                  <a:t>合计</a:t>
                </a:r>
              </a:p>
            </p:txBody>
          </p:sp>
          <p:sp>
            <p:nvSpPr>
              <p:cNvPr id="149" name="TextBox 149"/>
              <p:cNvSpPr txBox="1"/>
              <p:nvPr/>
            </p:nvSpPr>
            <p:spPr>
              <a:xfrm>
                <a:off x="6227994" y="4531995"/>
                <a:ext cx="231313" cy="176212"/>
              </a:xfrm>
              <a:prstGeom prst="rect">
                <a:avLst/>
              </a:prstGeom>
              <a:noFill/>
              <a:ln>
                <a:noFill/>
              </a:ln>
            </p:spPr>
            <p:txBody>
              <a:bodyPr wrap="none" lIns="0" tIns="0" rIns="0" bIns="0" anchor="t" anchorCtr="0">
                <a:spAutoFit/>
              </a:bodyPr>
              <a:lstStyle/>
              <a:p>
                <a:pPr algn="ctr"/>
                <a:r>
                  <a:rPr lang="en-US" sz="900" b="1" dirty="0">
                    <a:solidFill>
                      <a:srgbClr val="6E1604"/>
                    </a:solidFill>
                    <a:latin typeface="+mn-lt"/>
                    <a:ea typeface="+mn-ea"/>
                    <a:cs typeface="+mn-cs"/>
                  </a:rPr>
                  <a:t>XX​</a:t>
                </a:r>
              </a:p>
            </p:txBody>
          </p:sp>
          <p:sp>
            <p:nvSpPr>
              <p:cNvPr id="150" name="TextBox 150"/>
              <p:cNvSpPr txBox="1"/>
              <p:nvPr/>
            </p:nvSpPr>
            <p:spPr>
              <a:xfrm>
                <a:off x="6799494" y="4531995"/>
                <a:ext cx="231313" cy="176212"/>
              </a:xfrm>
              <a:prstGeom prst="rect">
                <a:avLst/>
              </a:prstGeom>
              <a:noFill/>
              <a:ln>
                <a:noFill/>
              </a:ln>
            </p:spPr>
            <p:txBody>
              <a:bodyPr wrap="none" lIns="0" tIns="0" rIns="0" bIns="0" anchor="t" anchorCtr="0">
                <a:spAutoFit/>
              </a:bodyPr>
              <a:lstStyle/>
              <a:p>
                <a:pPr algn="ctr"/>
                <a:r>
                  <a:rPr lang="en-US" sz="900" b="1" dirty="0">
                    <a:solidFill>
                      <a:srgbClr val="6E1604"/>
                    </a:solidFill>
                    <a:latin typeface="+mn-lt"/>
                    <a:ea typeface="+mn-ea"/>
                    <a:cs typeface="+mn-cs"/>
                  </a:rPr>
                  <a:t>XX​</a:t>
                </a:r>
              </a:p>
            </p:txBody>
          </p:sp>
          <p:sp>
            <p:nvSpPr>
              <p:cNvPr id="151" name="TextBox 151"/>
              <p:cNvSpPr txBox="1"/>
              <p:nvPr/>
            </p:nvSpPr>
            <p:spPr>
              <a:xfrm>
                <a:off x="7370994" y="4531995"/>
                <a:ext cx="231313" cy="176212"/>
              </a:xfrm>
              <a:prstGeom prst="rect">
                <a:avLst/>
              </a:prstGeom>
              <a:noFill/>
              <a:ln>
                <a:noFill/>
              </a:ln>
            </p:spPr>
            <p:txBody>
              <a:bodyPr wrap="none" lIns="0" tIns="0" rIns="0" bIns="0" anchor="t" anchorCtr="0">
                <a:spAutoFit/>
              </a:bodyPr>
              <a:lstStyle/>
              <a:p>
                <a:pPr algn="ctr"/>
                <a:r>
                  <a:rPr lang="en-US" sz="900" b="1" dirty="0">
                    <a:solidFill>
                      <a:srgbClr val="6E1604"/>
                    </a:solidFill>
                    <a:latin typeface="+mn-lt"/>
                    <a:ea typeface="+mn-ea"/>
                    <a:cs typeface="+mn-cs"/>
                  </a:rPr>
                  <a:t>XX​</a:t>
                </a:r>
              </a:p>
            </p:txBody>
          </p:sp>
          <p:sp>
            <p:nvSpPr>
              <p:cNvPr id="152" name="TextBox 152"/>
              <p:cNvSpPr txBox="1"/>
              <p:nvPr/>
            </p:nvSpPr>
            <p:spPr>
              <a:xfrm>
                <a:off x="7942494" y="4531995"/>
                <a:ext cx="231313" cy="176212"/>
              </a:xfrm>
              <a:prstGeom prst="rect">
                <a:avLst/>
              </a:prstGeom>
              <a:noFill/>
              <a:ln>
                <a:noFill/>
              </a:ln>
            </p:spPr>
            <p:txBody>
              <a:bodyPr wrap="none" lIns="0" tIns="0" rIns="0" bIns="0" anchor="t" anchorCtr="0">
                <a:spAutoFit/>
              </a:bodyPr>
              <a:lstStyle/>
              <a:p>
                <a:pPr algn="ctr"/>
                <a:r>
                  <a:rPr lang="en-US" sz="900" b="1" dirty="0">
                    <a:solidFill>
                      <a:srgbClr val="6E1604"/>
                    </a:solidFill>
                    <a:latin typeface="+mn-lt"/>
                    <a:ea typeface="+mn-ea"/>
                    <a:cs typeface="+mn-cs"/>
                  </a:rPr>
                  <a:t>XX​</a:t>
                </a:r>
              </a:p>
            </p:txBody>
          </p:sp>
        </p:grpSp>
        <p:sp>
          <p:nvSpPr>
            <p:cNvPr id="154" name="Rectangle 154"/>
            <p:cNvSpPr/>
            <p:nvPr/>
          </p:nvSpPr>
          <p:spPr>
            <a:xfrm>
              <a:off x="4191000" y="5581650"/>
              <a:ext cx="4152900" cy="876300"/>
            </a:xfrm>
            <a:prstGeom prst="roundRect">
              <a:avLst>
                <a:gd name="adj" fmla="val 6522"/>
              </a:avLst>
            </a:prstGeom>
            <a:solidFill>
              <a:srgbClr val="F2F7FE"/>
            </a:solidFill>
            <a:ln w="9525">
              <a:solidFill>
                <a:srgbClr val="DCE6F8"/>
              </a:solidFill>
            </a:ln>
          </p:spPr>
        </p:sp>
        <p:grpSp>
          <p:nvGrpSpPr>
            <p:cNvPr id="159" name="Group 159"/>
            <p:cNvGrpSpPr/>
            <p:nvPr/>
          </p:nvGrpSpPr>
          <p:grpSpPr>
            <a:xfrm>
              <a:off x="4341019" y="5915025"/>
              <a:ext cx="214313" cy="200025"/>
              <a:chOff x="4341019" y="5915025"/>
              <a:chExt cx="214313" cy="200025"/>
            </a:xfrm>
          </p:grpSpPr>
          <p:sp>
            <p:nvSpPr>
              <p:cNvPr id="155" name="Freeform 155"/>
              <p:cNvSpPr/>
              <p:nvPr/>
            </p:nvSpPr>
            <p:spPr>
              <a:xfrm>
                <a:off x="4341019" y="6010275"/>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B92102"/>
                </a:solidFill>
              </a:ln>
            </p:spPr>
          </p:sp>
          <p:sp>
            <p:nvSpPr>
              <p:cNvPr id="156" name="Freeform 156"/>
              <p:cNvSpPr/>
              <p:nvPr/>
            </p:nvSpPr>
            <p:spPr>
              <a:xfrm>
                <a:off x="4483894" y="5962650"/>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B92102"/>
                </a:solidFill>
              </a:ln>
            </p:spPr>
          </p:sp>
          <p:sp>
            <p:nvSpPr>
              <p:cNvPr id="157" name="Freeform 157"/>
              <p:cNvSpPr/>
              <p:nvPr/>
            </p:nvSpPr>
            <p:spPr>
              <a:xfrm>
                <a:off x="4412456" y="5915025"/>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B92102"/>
                </a:solidFill>
              </a:ln>
            </p:spPr>
          </p:sp>
          <p:sp>
            <p:nvSpPr>
              <p:cNvPr id="158" name="Freeform 158"/>
              <p:cNvSpPr/>
              <p:nvPr/>
            </p:nvSpPr>
            <p:spPr>
              <a:xfrm>
                <a:off x="4352925" y="6105525"/>
                <a:ext cx="166688" cy="9525"/>
              </a:xfrm>
              <a:custGeom>
                <a:avLst/>
                <a:gdLst/>
                <a:ahLst/>
                <a:cxnLst/>
                <a:rect l="l" t="t" r="r" b="b"/>
                <a:pathLst>
                  <a:path w="166688" h="9525">
                    <a:moveTo>
                      <a:pt x="0" y="0"/>
                    </a:moveTo>
                    <a:lnTo>
                      <a:pt x="166688" y="0"/>
                    </a:lnTo>
                  </a:path>
                </a:pathLst>
              </a:custGeom>
              <a:noFill/>
              <a:ln w="23812">
                <a:solidFill>
                  <a:srgbClr val="B92102"/>
                </a:solidFill>
              </a:ln>
            </p:spPr>
          </p:sp>
        </p:grpSp>
        <p:sp>
          <p:nvSpPr>
            <p:cNvPr id="160" name="TextBox 160"/>
            <p:cNvSpPr txBox="1"/>
            <p:nvPr/>
          </p:nvSpPr>
          <p:spPr>
            <a:xfrm>
              <a:off x="4700588" y="5725239"/>
              <a:ext cx="3641471" cy="478631"/>
            </a:xfrm>
            <a:prstGeom prst="rect">
              <a:avLst/>
            </a:prstGeom>
            <a:noFill/>
            <a:ln>
              <a:noFill/>
            </a:ln>
          </p:spPr>
          <p:txBody>
            <a:bodyPr wrap="none" lIns="0" tIns="0" rIns="0" bIns="0" anchor="t" anchorCtr="0">
              <a:spAutoFit/>
            </a:bodyPr>
            <a:lstStyle/>
            <a:p>
              <a:pPr algn="l">
                <a:lnSpc>
                  <a:spcPts val="1275"/>
                </a:lnSpc>
              </a:pPr>
              <a:r>
                <a:rPr lang="zh-CN" sz="790" b="1" dirty="0">
                  <a:solidFill>
                    <a:srgbClr val="6E1604"/>
                  </a:solidFill>
                  <a:latin typeface="+mn-lt"/>
                  <a:ea typeface="+mn-ea"/>
                  <a:cs typeface="+mn-cs"/>
                </a:rPr>
                <a:t>数据说明：</a:t>
              </a:r>
              <a:r>
                <a:rPr lang="zh-CN" sz="790" dirty="0">
                  <a:solidFill>
                    <a:srgbClr val="473633"/>
                  </a:solidFill>
                  <a:latin typeface="+mn-lt"/>
                  <a:ea typeface="+mn-ea"/>
                  <a:cs typeface="+mn-cs"/>
                </a:rPr>
                <a:t>以上数据为活动周期内统计（时间：XX/XX/XX-XX/XX/XX），​​​​​​​</a:t>
              </a:r>
              <a:br/>
              <a:r>
                <a:rPr lang="zh-CN" sz="790" dirty="0">
                  <a:solidFill>
                    <a:srgbClr val="473633"/>
                  </a:solidFill>
                  <a:latin typeface="+mn-lt"/>
                  <a:ea typeface="+mn-ea"/>
                  <a:cs typeface="+mn-cs"/>
                </a:rPr>
                <a:t>"有效商机"指客户明确表达需求并进入商机池，"后续跟进"含已分配​</a:t>
              </a:r>
              <a:br/>
              <a:r>
                <a:rPr lang="zh-CN" sz="790" dirty="0">
                  <a:solidFill>
                    <a:srgbClr val="473633"/>
                  </a:solidFill>
                  <a:latin typeface="+mn-lt"/>
                  <a:ea typeface="+mn-ea"/>
                  <a:cs typeface="+mn-cs"/>
                </a:rPr>
                <a:t>客户经理持续跟进的客户数量​</a:t>
              </a:r>
            </a:p>
          </p:txBody>
        </p:sp>
      </p:grpSp>
      <p:grpSp>
        <p:nvGrpSpPr>
          <p:cNvPr id="227" name="quality-checklist"/>
          <p:cNvGrpSpPr/>
          <p:nvPr/>
        </p:nvGrpSpPr>
        <p:grpSpPr>
          <a:xfrm>
            <a:off x="8629650" y="781050"/>
            <a:ext cx="3300056" cy="5791200"/>
            <a:chOff x="8629650" y="781050"/>
            <a:chExt cx="3300056" cy="5791200"/>
          </a:xfrm>
        </p:grpSpPr>
        <p:sp>
          <p:nvSpPr>
            <p:cNvPr id="162" name="Rectangle 162"/>
            <p:cNvSpPr/>
            <p:nvPr/>
          </p:nvSpPr>
          <p:spPr>
            <a:xfrm>
              <a:off x="8629650" y="914400"/>
              <a:ext cx="3295650" cy="5657850"/>
            </a:xfrm>
            <a:prstGeom prst="roundRect">
              <a:avLst>
                <a:gd name="adj" fmla="val 2312"/>
              </a:avLst>
            </a:prstGeom>
            <a:solidFill>
              <a:srgbClr val="FFFFFF"/>
            </a:solidFill>
            <a:ln w="9525">
              <a:solidFill>
                <a:srgbClr val="F7D1C9"/>
              </a:solidFill>
            </a:ln>
          </p:spPr>
        </p:sp>
        <p:sp>
          <p:nvSpPr>
            <p:cNvPr id="163" name="Rectangle 163"/>
            <p:cNvSpPr/>
            <p:nvPr/>
          </p:nvSpPr>
          <p:spPr>
            <a:xfrm>
              <a:off x="8915400" y="781050"/>
              <a:ext cx="2724150" cy="266700"/>
            </a:xfrm>
            <a:prstGeom prst="roundRect">
              <a:avLst>
                <a:gd name="adj" fmla="val 21429"/>
              </a:avLst>
            </a:prstGeom>
            <a:solidFill>
              <a:srgbClr val="6E1604"/>
            </a:solidFill>
            <a:ln>
              <a:noFill/>
            </a:ln>
          </p:spPr>
        </p:sp>
        <p:sp>
          <p:nvSpPr>
            <p:cNvPr id="164" name="TextBox 164"/>
            <p:cNvSpPr txBox="1"/>
            <p:nvPr/>
          </p:nvSpPr>
          <p:spPr>
            <a:xfrm>
              <a:off x="9312544" y="858202"/>
              <a:ext cx="192986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活动质量清单（全流程把控）​</a:t>
              </a:r>
            </a:p>
          </p:txBody>
        </p:sp>
        <p:sp>
          <p:nvSpPr>
            <p:cNvPr id="165" name="Line 165"/>
            <p:cNvSpPr/>
            <p:nvPr/>
          </p:nvSpPr>
          <p:spPr>
            <a:xfrm>
              <a:off x="8953500" y="1733550"/>
              <a:ext cx="9525" cy="4552950"/>
            </a:xfrm>
            <a:custGeom>
              <a:avLst/>
              <a:gdLst/>
              <a:ahLst/>
              <a:cxnLst/>
              <a:rect l="l" t="t" r="r" b="b"/>
              <a:pathLst>
                <a:path w="9525" h="4552950">
                  <a:moveTo>
                    <a:pt x="0" y="0"/>
                  </a:moveTo>
                  <a:lnTo>
                    <a:pt x="0" y="4552950"/>
                  </a:lnTo>
                </a:path>
              </a:pathLst>
            </a:custGeom>
            <a:noFill/>
            <a:ln w="11430">
              <a:solidFill>
                <a:srgbClr val="E3907F"/>
              </a:solidFill>
              <a:custDash>
                <a:ds d="333333" sp="250000"/>
              </a:custDash>
            </a:ln>
          </p:spPr>
        </p:sp>
        <p:grpSp>
          <p:nvGrpSpPr>
            <p:cNvPr id="184" name="cl-before"/>
            <p:cNvGrpSpPr/>
            <p:nvPr/>
          </p:nvGrpSpPr>
          <p:grpSpPr>
            <a:xfrm>
              <a:off x="8743950" y="1314450"/>
              <a:ext cx="3185756" cy="1431845"/>
              <a:chOff x="8743950" y="1314450"/>
              <a:chExt cx="3185756" cy="1431845"/>
            </a:xfrm>
          </p:grpSpPr>
          <p:sp>
            <p:nvSpPr>
              <p:cNvPr id="166" name="Ellipse 166"/>
              <p:cNvSpPr/>
              <p:nvPr/>
            </p:nvSpPr>
            <p:spPr>
              <a:xfrm>
                <a:off x="8743950" y="1314450"/>
                <a:ext cx="419100" cy="419100"/>
              </a:xfrm>
              <a:prstGeom prst="ellipse">
                <a:avLst/>
              </a:prstGeom>
              <a:solidFill>
                <a:srgbClr val="B92102"/>
              </a:solidFill>
              <a:ln>
                <a:noFill/>
              </a:ln>
            </p:spPr>
          </p:sp>
          <p:grpSp>
            <p:nvGrpSpPr>
              <p:cNvPr id="171" name="Group 171"/>
              <p:cNvGrpSpPr/>
              <p:nvPr/>
            </p:nvGrpSpPr>
            <p:grpSpPr>
              <a:xfrm>
                <a:off x="8886825" y="1447800"/>
                <a:ext cx="142875" cy="161925"/>
                <a:chOff x="8886825" y="1447800"/>
                <a:chExt cx="142875" cy="161925"/>
              </a:xfrm>
            </p:grpSpPr>
            <p:sp>
              <p:nvSpPr>
                <p:cNvPr id="167" name="Freeform 167"/>
                <p:cNvSpPr/>
                <p:nvPr/>
              </p:nvSpPr>
              <p:spPr>
                <a:xfrm>
                  <a:off x="8886825" y="144780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FFFFFF"/>
                  </a:solidFill>
                </a:ln>
              </p:spPr>
            </p:sp>
            <p:sp>
              <p:nvSpPr>
                <p:cNvPr id="168" name="Freeform 168"/>
                <p:cNvSpPr/>
                <p:nvPr/>
              </p:nvSpPr>
              <p:spPr>
                <a:xfrm>
                  <a:off x="8972550" y="157162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sp>
              <p:nvSpPr>
                <p:cNvPr id="169" name="Freeform 169"/>
                <p:cNvSpPr/>
                <p:nvPr/>
              </p:nvSpPr>
              <p:spPr>
                <a:xfrm>
                  <a:off x="8924925" y="1485900"/>
                  <a:ext cx="38100" cy="9525"/>
                </a:xfrm>
                <a:custGeom>
                  <a:avLst/>
                  <a:gdLst/>
                  <a:ahLst/>
                  <a:cxnLst/>
                  <a:rect l="l" t="t" r="r" b="b"/>
                  <a:pathLst>
                    <a:path w="38100" h="9525">
                      <a:moveTo>
                        <a:pt x="0" y="0"/>
                      </a:moveTo>
                      <a:lnTo>
                        <a:pt x="38100" y="0"/>
                      </a:lnTo>
                    </a:path>
                  </a:pathLst>
                </a:custGeom>
                <a:noFill/>
                <a:ln w="19050">
                  <a:solidFill>
                    <a:srgbClr val="FFFFFF"/>
                  </a:solidFill>
                </a:ln>
              </p:spPr>
            </p:sp>
            <p:sp>
              <p:nvSpPr>
                <p:cNvPr id="170" name="Freeform 170"/>
                <p:cNvSpPr/>
                <p:nvPr/>
              </p:nvSpPr>
              <p:spPr>
                <a:xfrm>
                  <a:off x="8924925" y="1524000"/>
                  <a:ext cx="19050" cy="9525"/>
                </a:xfrm>
                <a:custGeom>
                  <a:avLst/>
                  <a:gdLst/>
                  <a:ahLst/>
                  <a:cxnLst/>
                  <a:rect l="l" t="t" r="r" b="b"/>
                  <a:pathLst>
                    <a:path w="19050" h="9525">
                      <a:moveTo>
                        <a:pt x="0" y="0"/>
                      </a:moveTo>
                      <a:lnTo>
                        <a:pt x="19050" y="0"/>
                      </a:lnTo>
                    </a:path>
                  </a:pathLst>
                </a:custGeom>
                <a:noFill/>
                <a:ln w="19050">
                  <a:solidFill>
                    <a:srgbClr val="FFFFFF"/>
                  </a:solidFill>
                </a:ln>
              </p:spPr>
            </p:sp>
          </p:grpSp>
          <p:sp>
            <p:nvSpPr>
              <p:cNvPr id="172" name="Rectangle 172"/>
              <p:cNvSpPr/>
              <p:nvPr/>
            </p:nvSpPr>
            <p:spPr>
              <a:xfrm>
                <a:off x="9296400" y="1390650"/>
                <a:ext cx="1905000" cy="247650"/>
              </a:xfrm>
              <a:prstGeom prst="roundRect">
                <a:avLst>
                  <a:gd name="adj" fmla="val 23077"/>
                </a:avLst>
              </a:prstGeom>
              <a:solidFill>
                <a:srgbClr val="6E1604"/>
              </a:solidFill>
              <a:ln>
                <a:noFill/>
              </a:ln>
            </p:spPr>
          </p:sp>
          <p:sp>
            <p:nvSpPr>
              <p:cNvPr id="173" name="TextBox 173"/>
              <p:cNvSpPr txBox="1"/>
              <p:nvPr/>
            </p:nvSpPr>
            <p:spPr>
              <a:xfrm>
                <a:off x="9674695" y="1460897"/>
                <a:ext cx="114841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活动前：名单与脚本</a:t>
                </a:r>
              </a:p>
            </p:txBody>
          </p:sp>
          <p:sp>
            <p:nvSpPr>
              <p:cNvPr id="174" name="Rectangle 174"/>
              <p:cNvSpPr/>
              <p:nvPr/>
            </p:nvSpPr>
            <p:spPr>
              <a:xfrm>
                <a:off x="9429750" y="1752600"/>
                <a:ext cx="95250" cy="95250"/>
              </a:xfrm>
              <a:prstGeom prst="roundRect">
                <a:avLst>
                  <a:gd name="adj" fmla="val 20000"/>
                </a:avLst>
              </a:prstGeom>
              <a:noFill/>
              <a:ln w="11430">
                <a:solidFill>
                  <a:srgbClr val="E3907F"/>
                </a:solidFill>
              </a:ln>
            </p:spPr>
          </p:sp>
          <p:sp>
            <p:nvSpPr>
              <p:cNvPr id="175" name="TextBox 175"/>
              <p:cNvSpPr txBox="1"/>
              <p:nvPr/>
            </p:nvSpPr>
            <p:spPr>
              <a:xfrm>
                <a:off x="9596438" y="1753314"/>
                <a:ext cx="2333268"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客户名单精细筛选（行业/规模/需求痛点）​​​​​</a:t>
                </a:r>
              </a:p>
            </p:txBody>
          </p:sp>
          <p:sp>
            <p:nvSpPr>
              <p:cNvPr id="176" name="Rectangle 176"/>
              <p:cNvSpPr/>
              <p:nvPr/>
            </p:nvSpPr>
            <p:spPr>
              <a:xfrm>
                <a:off x="9429750" y="1962150"/>
                <a:ext cx="95250" cy="95250"/>
              </a:xfrm>
              <a:prstGeom prst="roundRect">
                <a:avLst>
                  <a:gd name="adj" fmla="val 20000"/>
                </a:avLst>
              </a:prstGeom>
              <a:noFill/>
              <a:ln w="11430">
                <a:solidFill>
                  <a:srgbClr val="E3907F"/>
                </a:solidFill>
              </a:ln>
            </p:spPr>
          </p:sp>
          <p:sp>
            <p:nvSpPr>
              <p:cNvPr id="177" name="TextBox 177"/>
              <p:cNvSpPr txBox="1"/>
              <p:nvPr/>
            </p:nvSpPr>
            <p:spPr>
              <a:xfrm>
                <a:off x="9596438" y="1962864"/>
                <a:ext cx="134421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邀约话术与利益点清晰匹配​</a:t>
                </a:r>
              </a:p>
            </p:txBody>
          </p:sp>
          <p:sp>
            <p:nvSpPr>
              <p:cNvPr id="178" name="Rectangle 178"/>
              <p:cNvSpPr/>
              <p:nvPr/>
            </p:nvSpPr>
            <p:spPr>
              <a:xfrm>
                <a:off x="9429750" y="2171700"/>
                <a:ext cx="95250" cy="95250"/>
              </a:xfrm>
              <a:prstGeom prst="roundRect">
                <a:avLst>
                  <a:gd name="adj" fmla="val 20000"/>
                </a:avLst>
              </a:prstGeom>
              <a:noFill/>
              <a:ln w="11430">
                <a:solidFill>
                  <a:srgbClr val="E3907F"/>
                </a:solidFill>
              </a:ln>
            </p:spPr>
          </p:sp>
          <p:sp>
            <p:nvSpPr>
              <p:cNvPr id="179" name="TextBox 179"/>
              <p:cNvSpPr txBox="1"/>
              <p:nvPr/>
            </p:nvSpPr>
            <p:spPr>
              <a:xfrm>
                <a:off x="9596438" y="2172414"/>
                <a:ext cx="966673"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活动流程与分工明确</a:t>
                </a:r>
              </a:p>
            </p:txBody>
          </p:sp>
          <p:sp>
            <p:nvSpPr>
              <p:cNvPr id="180" name="Rectangle 180"/>
              <p:cNvSpPr/>
              <p:nvPr/>
            </p:nvSpPr>
            <p:spPr>
              <a:xfrm>
                <a:off x="9429750" y="2381250"/>
                <a:ext cx="95250" cy="95250"/>
              </a:xfrm>
              <a:prstGeom prst="roundRect">
                <a:avLst>
                  <a:gd name="adj" fmla="val 20000"/>
                </a:avLst>
              </a:prstGeom>
              <a:noFill/>
              <a:ln w="11430">
                <a:solidFill>
                  <a:srgbClr val="E3907F"/>
                </a:solidFill>
              </a:ln>
            </p:spPr>
          </p:sp>
          <p:sp>
            <p:nvSpPr>
              <p:cNvPr id="181" name="TextBox 181"/>
              <p:cNvSpPr txBox="1"/>
              <p:nvPr/>
            </p:nvSpPr>
            <p:spPr>
              <a:xfrm>
                <a:off x="9596438" y="2381964"/>
                <a:ext cx="210722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物料准备到位（PPT/手册/礼品等）​​​​​​​</a:t>
                </a:r>
              </a:p>
            </p:txBody>
          </p:sp>
          <p:sp>
            <p:nvSpPr>
              <p:cNvPr id="182" name="Rectangle 182"/>
              <p:cNvSpPr/>
              <p:nvPr/>
            </p:nvSpPr>
            <p:spPr>
              <a:xfrm>
                <a:off x="9429750" y="2590800"/>
                <a:ext cx="95250" cy="95250"/>
              </a:xfrm>
              <a:prstGeom prst="roundRect">
                <a:avLst>
                  <a:gd name="adj" fmla="val 20000"/>
                </a:avLst>
              </a:prstGeom>
              <a:noFill/>
              <a:ln w="11430">
                <a:solidFill>
                  <a:srgbClr val="E3907F"/>
                </a:solidFill>
              </a:ln>
            </p:spPr>
          </p:sp>
          <p:sp>
            <p:nvSpPr>
              <p:cNvPr id="183" name="TextBox 183"/>
              <p:cNvSpPr txBox="1"/>
              <p:nvPr/>
            </p:nvSpPr>
            <p:spPr>
              <a:xfrm>
                <a:off x="9596438" y="2591514"/>
                <a:ext cx="123786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预设常见问题与应答要点​</a:t>
                </a:r>
              </a:p>
            </p:txBody>
          </p:sp>
        </p:grpSp>
        <p:grpSp>
          <p:nvGrpSpPr>
            <p:cNvPr id="207" name="cl-during"/>
            <p:cNvGrpSpPr/>
            <p:nvPr/>
          </p:nvGrpSpPr>
          <p:grpSpPr>
            <a:xfrm>
              <a:off x="8743950" y="2914650"/>
              <a:ext cx="2647950" cy="1641395"/>
              <a:chOff x="8743950" y="2914650"/>
              <a:chExt cx="2647950" cy="1641395"/>
            </a:xfrm>
          </p:grpSpPr>
          <p:sp>
            <p:nvSpPr>
              <p:cNvPr id="185" name="Ellipse 185"/>
              <p:cNvSpPr/>
              <p:nvPr/>
            </p:nvSpPr>
            <p:spPr>
              <a:xfrm>
                <a:off x="8743950" y="2914650"/>
                <a:ext cx="419100" cy="419100"/>
              </a:xfrm>
              <a:prstGeom prst="ellipse">
                <a:avLst/>
              </a:prstGeom>
              <a:solidFill>
                <a:srgbClr val="B92102"/>
              </a:solidFill>
              <a:ln>
                <a:noFill/>
              </a:ln>
            </p:spPr>
          </p:sp>
          <p:grpSp>
            <p:nvGrpSpPr>
              <p:cNvPr id="192" name="Group 192"/>
              <p:cNvGrpSpPr/>
              <p:nvPr/>
            </p:nvGrpSpPr>
            <p:grpSpPr>
              <a:xfrm>
                <a:off x="8867775" y="3038475"/>
                <a:ext cx="171450" cy="171450"/>
                <a:chOff x="8867775" y="3038475"/>
                <a:chExt cx="171450" cy="171450"/>
              </a:xfrm>
            </p:grpSpPr>
            <p:sp>
              <p:nvSpPr>
                <p:cNvPr id="186" name="Freeform 186"/>
                <p:cNvSpPr/>
                <p:nvPr/>
              </p:nvSpPr>
              <p:spPr>
                <a:xfrm>
                  <a:off x="8934450" y="3114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87" name="Freeform 187"/>
                <p:cNvSpPr/>
                <p:nvPr/>
              </p:nvSpPr>
              <p:spPr>
                <a:xfrm>
                  <a:off x="8915400" y="31813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FFFFFF"/>
                  </a:solidFill>
                </a:ln>
              </p:spPr>
            </p:sp>
            <p:sp>
              <p:nvSpPr>
                <p:cNvPr id="188" name="Freeform 188"/>
                <p:cNvSpPr/>
                <p:nvPr/>
              </p:nvSpPr>
              <p:spPr>
                <a:xfrm>
                  <a:off x="8982075" y="3038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89" name="Freeform 189"/>
                <p:cNvSpPr/>
                <p:nvPr/>
              </p:nvSpPr>
              <p:spPr>
                <a:xfrm>
                  <a:off x="9001125" y="31051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FFFFFF"/>
                  </a:solidFill>
                </a:ln>
              </p:spPr>
            </p:sp>
            <p:sp>
              <p:nvSpPr>
                <p:cNvPr id="190" name="Freeform 190"/>
                <p:cNvSpPr/>
                <p:nvPr/>
              </p:nvSpPr>
              <p:spPr>
                <a:xfrm>
                  <a:off x="8886825" y="3038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91" name="Freeform 191"/>
                <p:cNvSpPr/>
                <p:nvPr/>
              </p:nvSpPr>
              <p:spPr>
                <a:xfrm>
                  <a:off x="8867775" y="31051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FFFFFF"/>
                  </a:solidFill>
                </a:ln>
              </p:spPr>
            </p:sp>
          </p:grpSp>
          <p:sp>
            <p:nvSpPr>
              <p:cNvPr id="193" name="Rectangle 193"/>
              <p:cNvSpPr/>
              <p:nvPr/>
            </p:nvSpPr>
            <p:spPr>
              <a:xfrm>
                <a:off x="9296400" y="2990850"/>
                <a:ext cx="2095500" cy="247650"/>
              </a:xfrm>
              <a:prstGeom prst="roundRect">
                <a:avLst>
                  <a:gd name="adj" fmla="val 23077"/>
                </a:avLst>
              </a:prstGeom>
              <a:solidFill>
                <a:srgbClr val="6E1604"/>
              </a:solidFill>
              <a:ln>
                <a:noFill/>
              </a:ln>
            </p:spPr>
          </p:sp>
          <p:sp>
            <p:nvSpPr>
              <p:cNvPr id="194" name="TextBox 194"/>
              <p:cNvSpPr txBox="1"/>
              <p:nvPr/>
            </p:nvSpPr>
            <p:spPr>
              <a:xfrm>
                <a:off x="9606863" y="3061097"/>
                <a:ext cx="147457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活动中：需求诊断与留资​</a:t>
                </a:r>
              </a:p>
            </p:txBody>
          </p:sp>
          <p:sp>
            <p:nvSpPr>
              <p:cNvPr id="195" name="Rectangle 195"/>
              <p:cNvSpPr/>
              <p:nvPr/>
            </p:nvSpPr>
            <p:spPr>
              <a:xfrm>
                <a:off x="9429750" y="3352800"/>
                <a:ext cx="95250" cy="95250"/>
              </a:xfrm>
              <a:prstGeom prst="roundRect">
                <a:avLst>
                  <a:gd name="adj" fmla="val 20000"/>
                </a:avLst>
              </a:prstGeom>
              <a:noFill/>
              <a:ln w="11430">
                <a:solidFill>
                  <a:srgbClr val="E3907F"/>
                </a:solidFill>
              </a:ln>
            </p:spPr>
          </p:sp>
          <p:sp>
            <p:nvSpPr>
              <p:cNvPr id="196" name="TextBox 196"/>
              <p:cNvSpPr txBox="1"/>
              <p:nvPr/>
            </p:nvSpPr>
            <p:spPr>
              <a:xfrm>
                <a:off x="9596438" y="3353514"/>
                <a:ext cx="966673"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开场破冰与价值传递</a:t>
                </a:r>
              </a:p>
            </p:txBody>
          </p:sp>
          <p:sp>
            <p:nvSpPr>
              <p:cNvPr id="197" name="Rectangle 197"/>
              <p:cNvSpPr/>
              <p:nvPr/>
            </p:nvSpPr>
            <p:spPr>
              <a:xfrm>
                <a:off x="9429750" y="3562350"/>
                <a:ext cx="95250" cy="95250"/>
              </a:xfrm>
              <a:prstGeom prst="roundRect">
                <a:avLst>
                  <a:gd name="adj" fmla="val 20000"/>
                </a:avLst>
              </a:prstGeom>
              <a:noFill/>
              <a:ln w="11430">
                <a:solidFill>
                  <a:srgbClr val="E3907F"/>
                </a:solidFill>
              </a:ln>
            </p:spPr>
          </p:sp>
          <p:sp>
            <p:nvSpPr>
              <p:cNvPr id="198" name="TextBox 198"/>
              <p:cNvSpPr txBox="1"/>
              <p:nvPr/>
            </p:nvSpPr>
            <p:spPr>
              <a:xfrm>
                <a:off x="9596438" y="3563064"/>
                <a:ext cx="1689852"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需求挖掘：痛点识别 + 场景确认​​​</a:t>
                </a:r>
              </a:p>
            </p:txBody>
          </p:sp>
          <p:sp>
            <p:nvSpPr>
              <p:cNvPr id="199" name="Rectangle 199"/>
              <p:cNvSpPr/>
              <p:nvPr/>
            </p:nvSpPr>
            <p:spPr>
              <a:xfrm>
                <a:off x="9429750" y="3771900"/>
                <a:ext cx="95250" cy="95250"/>
              </a:xfrm>
              <a:prstGeom prst="roundRect">
                <a:avLst>
                  <a:gd name="adj" fmla="val 20000"/>
                </a:avLst>
              </a:prstGeom>
              <a:noFill/>
              <a:ln w="11430">
                <a:solidFill>
                  <a:srgbClr val="E3907F"/>
                </a:solidFill>
              </a:ln>
            </p:spPr>
          </p:sp>
          <p:sp>
            <p:nvSpPr>
              <p:cNvPr id="200" name="TextBox 200"/>
              <p:cNvSpPr txBox="1"/>
              <p:nvPr/>
            </p:nvSpPr>
            <p:spPr>
              <a:xfrm>
                <a:off x="9596438" y="3772614"/>
                <a:ext cx="1626042"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方案匹配：产品/服务价值呈现​​​</a:t>
                </a:r>
              </a:p>
            </p:txBody>
          </p:sp>
          <p:sp>
            <p:nvSpPr>
              <p:cNvPr id="201" name="Rectangle 201"/>
              <p:cNvSpPr/>
              <p:nvPr/>
            </p:nvSpPr>
            <p:spPr>
              <a:xfrm>
                <a:off x="9429750" y="3981450"/>
                <a:ext cx="95250" cy="95250"/>
              </a:xfrm>
              <a:prstGeom prst="roundRect">
                <a:avLst>
                  <a:gd name="adj" fmla="val 20000"/>
                </a:avLst>
              </a:prstGeom>
              <a:noFill/>
              <a:ln w="11430">
                <a:solidFill>
                  <a:srgbClr val="E3907F"/>
                </a:solidFill>
              </a:ln>
            </p:spPr>
          </p:sp>
          <p:sp>
            <p:nvSpPr>
              <p:cNvPr id="202" name="TextBox 202"/>
              <p:cNvSpPr txBox="1"/>
              <p:nvPr/>
            </p:nvSpPr>
            <p:spPr>
              <a:xfrm>
                <a:off x="9596438" y="3982164"/>
                <a:ext cx="966673"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现场答疑与信任建立</a:t>
                </a:r>
              </a:p>
            </p:txBody>
          </p:sp>
          <p:sp>
            <p:nvSpPr>
              <p:cNvPr id="203" name="Rectangle 203"/>
              <p:cNvSpPr/>
              <p:nvPr/>
            </p:nvSpPr>
            <p:spPr>
              <a:xfrm>
                <a:off x="9429750" y="4191000"/>
                <a:ext cx="95250" cy="95250"/>
              </a:xfrm>
              <a:prstGeom prst="roundRect">
                <a:avLst>
                  <a:gd name="adj" fmla="val 20000"/>
                </a:avLst>
              </a:prstGeom>
              <a:noFill/>
              <a:ln w="11430">
                <a:solidFill>
                  <a:srgbClr val="E3907F"/>
                </a:solidFill>
              </a:ln>
            </p:spPr>
          </p:sp>
          <p:sp>
            <p:nvSpPr>
              <p:cNvPr id="204" name="TextBox 204"/>
              <p:cNvSpPr txBox="1"/>
              <p:nvPr/>
            </p:nvSpPr>
            <p:spPr>
              <a:xfrm>
                <a:off x="9596438" y="4191714"/>
                <a:ext cx="1626042"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留资完整：信息准确/需求清晰​​​</a:t>
                </a:r>
              </a:p>
            </p:txBody>
          </p:sp>
          <p:sp>
            <p:nvSpPr>
              <p:cNvPr id="205" name="Rectangle 205"/>
              <p:cNvSpPr/>
              <p:nvPr/>
            </p:nvSpPr>
            <p:spPr>
              <a:xfrm>
                <a:off x="9429750" y="4400550"/>
                <a:ext cx="95250" cy="95250"/>
              </a:xfrm>
              <a:prstGeom prst="roundRect">
                <a:avLst>
                  <a:gd name="adj" fmla="val 20000"/>
                </a:avLst>
              </a:prstGeom>
              <a:noFill/>
              <a:ln w="11430">
                <a:solidFill>
                  <a:srgbClr val="E3907F"/>
                </a:solidFill>
              </a:ln>
            </p:spPr>
          </p:sp>
          <p:sp>
            <p:nvSpPr>
              <p:cNvPr id="206" name="TextBox 206"/>
              <p:cNvSpPr txBox="1"/>
              <p:nvPr/>
            </p:nvSpPr>
            <p:spPr>
              <a:xfrm>
                <a:off x="9596438" y="4401264"/>
                <a:ext cx="113151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商机判定与优先级标注​</a:t>
                </a:r>
              </a:p>
            </p:txBody>
          </p:sp>
        </p:grpSp>
        <p:grpSp>
          <p:nvGrpSpPr>
            <p:cNvPr id="226" name="cl-after"/>
            <p:cNvGrpSpPr/>
            <p:nvPr/>
          </p:nvGrpSpPr>
          <p:grpSpPr>
            <a:xfrm>
              <a:off x="8743950" y="4724400"/>
              <a:ext cx="2800350" cy="1641395"/>
              <a:chOff x="8743950" y="4724400"/>
              <a:chExt cx="2800350" cy="1641395"/>
            </a:xfrm>
          </p:grpSpPr>
          <p:sp>
            <p:nvSpPr>
              <p:cNvPr id="208" name="Ellipse 208"/>
              <p:cNvSpPr/>
              <p:nvPr/>
            </p:nvSpPr>
            <p:spPr>
              <a:xfrm>
                <a:off x="8743950" y="4724400"/>
                <a:ext cx="419100" cy="419100"/>
              </a:xfrm>
              <a:prstGeom prst="ellipse">
                <a:avLst/>
              </a:prstGeom>
              <a:solidFill>
                <a:srgbClr val="B92102"/>
              </a:solidFill>
              <a:ln>
                <a:noFill/>
              </a:ln>
            </p:spPr>
          </p:sp>
          <p:grpSp>
            <p:nvGrpSpPr>
              <p:cNvPr id="211" name="Group 211"/>
              <p:cNvGrpSpPr/>
              <p:nvPr/>
            </p:nvGrpSpPr>
            <p:grpSpPr>
              <a:xfrm>
                <a:off x="8867775" y="4886325"/>
                <a:ext cx="171450" cy="95250"/>
                <a:chOff x="8867775" y="4886325"/>
                <a:chExt cx="171450" cy="95250"/>
              </a:xfrm>
            </p:grpSpPr>
            <p:sp>
              <p:nvSpPr>
                <p:cNvPr id="209" name="Freeform 209"/>
                <p:cNvSpPr/>
                <p:nvPr/>
              </p:nvSpPr>
              <p:spPr>
                <a:xfrm>
                  <a:off x="8867775" y="488632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FFFFFF"/>
                  </a:solidFill>
                </a:ln>
              </p:spPr>
            </p:sp>
            <p:sp>
              <p:nvSpPr>
                <p:cNvPr id="210" name="Freeform 210"/>
                <p:cNvSpPr/>
                <p:nvPr/>
              </p:nvSpPr>
              <p:spPr>
                <a:xfrm>
                  <a:off x="8972550" y="4886325"/>
                  <a:ext cx="66675" cy="66675"/>
                </a:xfrm>
                <a:custGeom>
                  <a:avLst/>
                  <a:gdLst/>
                  <a:ahLst/>
                  <a:cxnLst/>
                  <a:rect l="l" t="t" r="r" b="b"/>
                  <a:pathLst>
                    <a:path w="66675" h="66675">
                      <a:moveTo>
                        <a:pt x="0" y="0"/>
                      </a:moveTo>
                      <a:lnTo>
                        <a:pt x="66675" y="0"/>
                      </a:lnTo>
                      <a:lnTo>
                        <a:pt x="66675" y="66675"/>
                      </a:lnTo>
                    </a:path>
                  </a:pathLst>
                </a:custGeom>
                <a:noFill/>
                <a:ln w="19050">
                  <a:solidFill>
                    <a:srgbClr val="FFFFFF"/>
                  </a:solidFill>
                </a:ln>
              </p:spPr>
            </p:sp>
          </p:grpSp>
          <p:sp>
            <p:nvSpPr>
              <p:cNvPr id="212" name="Rectangle 212"/>
              <p:cNvSpPr/>
              <p:nvPr/>
            </p:nvSpPr>
            <p:spPr>
              <a:xfrm>
                <a:off x="9296400" y="4800600"/>
                <a:ext cx="2247900" cy="247650"/>
              </a:xfrm>
              <a:prstGeom prst="roundRect">
                <a:avLst>
                  <a:gd name="adj" fmla="val 23077"/>
                </a:avLst>
              </a:prstGeom>
              <a:solidFill>
                <a:srgbClr val="6E1604"/>
              </a:solidFill>
              <a:ln>
                <a:noFill/>
              </a:ln>
            </p:spPr>
          </p:sp>
          <p:sp>
            <p:nvSpPr>
              <p:cNvPr id="213" name="TextBox 213"/>
              <p:cNvSpPr txBox="1"/>
              <p:nvPr/>
            </p:nvSpPr>
            <p:spPr>
              <a:xfrm>
                <a:off x="9500367" y="4870847"/>
                <a:ext cx="183996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活动后：48小时跟进与转化​​​​</a:t>
                </a:r>
              </a:p>
            </p:txBody>
          </p:sp>
          <p:sp>
            <p:nvSpPr>
              <p:cNvPr id="214" name="Rectangle 214"/>
              <p:cNvSpPr/>
              <p:nvPr/>
            </p:nvSpPr>
            <p:spPr>
              <a:xfrm>
                <a:off x="9429750" y="5162550"/>
                <a:ext cx="95250" cy="95250"/>
              </a:xfrm>
              <a:prstGeom prst="roundRect">
                <a:avLst>
                  <a:gd name="adj" fmla="val 20000"/>
                </a:avLst>
              </a:prstGeom>
              <a:noFill/>
              <a:ln w="11430">
                <a:solidFill>
                  <a:srgbClr val="E3907F"/>
                </a:solidFill>
              </a:ln>
            </p:spPr>
          </p:sp>
          <p:sp>
            <p:nvSpPr>
              <p:cNvPr id="215" name="TextBox 215"/>
              <p:cNvSpPr txBox="1"/>
              <p:nvPr/>
            </p:nvSpPr>
            <p:spPr>
              <a:xfrm>
                <a:off x="9596438" y="5163264"/>
                <a:ext cx="1918504"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48小时内首次跟进（电话/企微）​​​​​​</a:t>
                </a:r>
              </a:p>
            </p:txBody>
          </p:sp>
          <p:sp>
            <p:nvSpPr>
              <p:cNvPr id="216" name="Rectangle 216"/>
              <p:cNvSpPr/>
              <p:nvPr/>
            </p:nvSpPr>
            <p:spPr>
              <a:xfrm>
                <a:off x="9429750" y="5372100"/>
                <a:ext cx="95250" cy="95250"/>
              </a:xfrm>
              <a:prstGeom prst="roundRect">
                <a:avLst>
                  <a:gd name="adj" fmla="val 20000"/>
                </a:avLst>
              </a:prstGeom>
              <a:noFill/>
              <a:ln w="11430">
                <a:solidFill>
                  <a:srgbClr val="E3907F"/>
                </a:solidFill>
              </a:ln>
            </p:spPr>
          </p:sp>
          <p:sp>
            <p:nvSpPr>
              <p:cNvPr id="217" name="TextBox 217"/>
              <p:cNvSpPr txBox="1"/>
              <p:nvPr/>
            </p:nvSpPr>
            <p:spPr>
              <a:xfrm>
                <a:off x="9596438" y="5372814"/>
                <a:ext cx="966673"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需求沉淀与方案输出</a:t>
                </a:r>
              </a:p>
            </p:txBody>
          </p:sp>
          <p:sp>
            <p:nvSpPr>
              <p:cNvPr id="218" name="Rectangle 218"/>
              <p:cNvSpPr/>
              <p:nvPr/>
            </p:nvSpPr>
            <p:spPr>
              <a:xfrm>
                <a:off x="9429750" y="5581650"/>
                <a:ext cx="95250" cy="95250"/>
              </a:xfrm>
              <a:prstGeom prst="roundRect">
                <a:avLst>
                  <a:gd name="adj" fmla="val 20000"/>
                </a:avLst>
              </a:prstGeom>
              <a:noFill/>
              <a:ln w="11430">
                <a:solidFill>
                  <a:srgbClr val="E3907F"/>
                </a:solidFill>
              </a:ln>
            </p:spPr>
          </p:sp>
          <p:sp>
            <p:nvSpPr>
              <p:cNvPr id="219" name="TextBox 219"/>
              <p:cNvSpPr txBox="1"/>
              <p:nvPr/>
            </p:nvSpPr>
            <p:spPr>
              <a:xfrm>
                <a:off x="9596438" y="5582364"/>
                <a:ext cx="1685136"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客户分层：A/B/C分层推进​​​​​​​</a:t>
                </a:r>
              </a:p>
            </p:txBody>
          </p:sp>
          <p:sp>
            <p:nvSpPr>
              <p:cNvPr id="220" name="Rectangle 220"/>
              <p:cNvSpPr/>
              <p:nvPr/>
            </p:nvSpPr>
            <p:spPr>
              <a:xfrm>
                <a:off x="9429750" y="5791200"/>
                <a:ext cx="95250" cy="95250"/>
              </a:xfrm>
              <a:prstGeom prst="roundRect">
                <a:avLst>
                  <a:gd name="adj" fmla="val 20000"/>
                </a:avLst>
              </a:prstGeom>
              <a:noFill/>
              <a:ln w="11430">
                <a:solidFill>
                  <a:srgbClr val="E3907F"/>
                </a:solidFill>
              </a:ln>
            </p:spPr>
          </p:sp>
          <p:sp>
            <p:nvSpPr>
              <p:cNvPr id="221" name="TextBox 221"/>
              <p:cNvSpPr txBox="1"/>
              <p:nvPr/>
            </p:nvSpPr>
            <p:spPr>
              <a:xfrm>
                <a:off x="9596438" y="5791914"/>
                <a:ext cx="145056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分配客户经理并设定跟进计划​</a:t>
                </a:r>
              </a:p>
            </p:txBody>
          </p:sp>
          <p:sp>
            <p:nvSpPr>
              <p:cNvPr id="222" name="Rectangle 222"/>
              <p:cNvSpPr/>
              <p:nvPr/>
            </p:nvSpPr>
            <p:spPr>
              <a:xfrm>
                <a:off x="9429750" y="6000750"/>
                <a:ext cx="95250" cy="95250"/>
              </a:xfrm>
              <a:prstGeom prst="roundRect">
                <a:avLst>
                  <a:gd name="adj" fmla="val 20000"/>
                </a:avLst>
              </a:prstGeom>
              <a:noFill/>
              <a:ln w="11430">
                <a:solidFill>
                  <a:srgbClr val="E3907F"/>
                </a:solidFill>
              </a:ln>
            </p:spPr>
          </p:sp>
          <p:sp>
            <p:nvSpPr>
              <p:cNvPr id="223" name="TextBox 223"/>
              <p:cNvSpPr txBox="1"/>
              <p:nvPr/>
            </p:nvSpPr>
            <p:spPr>
              <a:xfrm>
                <a:off x="9596438" y="6001464"/>
                <a:ext cx="1237865"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关键节点记录与动态更新​</a:t>
                </a:r>
              </a:p>
            </p:txBody>
          </p:sp>
          <p:sp>
            <p:nvSpPr>
              <p:cNvPr id="224" name="Rectangle 224"/>
              <p:cNvSpPr/>
              <p:nvPr/>
            </p:nvSpPr>
            <p:spPr>
              <a:xfrm>
                <a:off x="9429750" y="6210300"/>
                <a:ext cx="95250" cy="95250"/>
              </a:xfrm>
              <a:prstGeom prst="roundRect">
                <a:avLst>
                  <a:gd name="adj" fmla="val 20000"/>
                </a:avLst>
              </a:prstGeom>
              <a:noFill/>
              <a:ln w="11430">
                <a:solidFill>
                  <a:srgbClr val="E3907F"/>
                </a:solidFill>
              </a:ln>
            </p:spPr>
          </p:sp>
          <p:sp>
            <p:nvSpPr>
              <p:cNvPr id="225" name="TextBox 225"/>
              <p:cNvSpPr txBox="1"/>
              <p:nvPr/>
            </p:nvSpPr>
            <p:spPr>
              <a:xfrm>
                <a:off x="9596438" y="6211014"/>
                <a:ext cx="1663264"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转化复盘：商机进展与改进点沉淀​</a:t>
                </a:r>
              </a:p>
            </p:txBody>
          </p:sp>
        </p:grpSp>
      </p:gr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11​</a:t>
              </a:r>
            </a:p>
          </p:txBody>
        </p:sp>
        <p:sp>
          <p:nvSpPr>
            <p:cNvPr id="4" name="TextBox 4"/>
            <p:cNvSpPr txBox="1"/>
            <p:nvPr/>
          </p:nvSpPr>
          <p:spPr>
            <a:xfrm>
              <a:off x="942594" y="151448"/>
              <a:ext cx="5449984"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销售过程管理</a:t>
              </a:r>
              <a:r>
                <a:rPr lang="zh-CN" sz="1950" b="1" dirty="0">
                  <a:solidFill>
                    <a:srgbClr val="1A1A1A"/>
                  </a:solidFill>
                  <a:latin typeface="SimSun"/>
                  <a:ea typeface="SimSun"/>
                  <a:cs typeface="SimSun"/>
                </a:rPr>
                <a:t>｜用规定动作提升转化确定性​</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186" name="raci-matrix"/>
          <p:cNvGrpSpPr/>
          <p:nvPr/>
        </p:nvGrpSpPr>
        <p:grpSpPr>
          <a:xfrm>
            <a:off x="266700" y="742950"/>
            <a:ext cx="9696450" cy="4305300"/>
            <a:chOff x="266700" y="742950"/>
            <a:chExt cx="9696450" cy="4305300"/>
          </a:xfrm>
        </p:grpSpPr>
        <p:sp>
          <p:nvSpPr>
            <p:cNvPr id="7" name="Rectangle 7"/>
            <p:cNvSpPr/>
            <p:nvPr/>
          </p:nvSpPr>
          <p:spPr>
            <a:xfrm>
              <a:off x="266700" y="1143000"/>
              <a:ext cx="9696450" cy="3905250"/>
            </a:xfrm>
            <a:prstGeom prst="roundRect">
              <a:avLst>
                <a:gd name="adj" fmla="val 1463"/>
              </a:avLst>
            </a:prstGeom>
            <a:solidFill>
              <a:srgbClr val="FFFFFF"/>
            </a:solidFill>
            <a:ln w="9525">
              <a:solidFill>
                <a:srgbClr val="F7D1C9"/>
              </a:solidFill>
            </a:ln>
          </p:spPr>
        </p:sp>
        <p:sp>
          <p:nvSpPr>
            <p:cNvPr id="8" name="Rectangle 8"/>
            <p:cNvSpPr/>
            <p:nvPr/>
          </p:nvSpPr>
          <p:spPr>
            <a:xfrm>
              <a:off x="276225" y="1152525"/>
              <a:ext cx="1152525" cy="3886200"/>
            </a:xfrm>
            <a:prstGeom prst="rect">
              <a:avLst/>
            </a:prstGeom>
            <a:solidFill>
              <a:srgbClr val="EAF3FE"/>
            </a:solidFill>
            <a:ln>
              <a:noFill/>
            </a:ln>
          </p:spPr>
        </p:sp>
        <p:sp>
          <p:nvSpPr>
            <p:cNvPr id="9" name="Freeform 9"/>
            <p:cNvSpPr/>
            <p:nvPr/>
          </p:nvSpPr>
          <p:spPr>
            <a:xfrm>
              <a:off x="1447800" y="742950"/>
              <a:ext cx="1476375" cy="381000"/>
            </a:xfrm>
            <a:prstGeom prst="homePlate">
              <a:avLst>
                <a:gd name="adj" fmla="val 45000"/>
              </a:avLst>
            </a:prstGeom>
            <a:solidFill>
              <a:srgbClr val="B92102"/>
            </a:solidFill>
            <a:ln>
              <a:noFill/>
            </a:ln>
          </p:spPr>
        </p:sp>
        <p:sp>
          <p:nvSpPr>
            <p:cNvPr id="10" name="Freeform 10"/>
            <p:cNvSpPr/>
            <p:nvPr/>
          </p:nvSpPr>
          <p:spPr>
            <a:xfrm>
              <a:off x="2867025" y="742950"/>
              <a:ext cx="1476375" cy="381000"/>
            </a:xfrm>
            <a:prstGeom prst="chevron">
              <a:avLst>
                <a:gd name="adj" fmla="val 45000"/>
              </a:avLst>
            </a:prstGeom>
            <a:solidFill>
              <a:srgbClr val="B92102"/>
            </a:solidFill>
            <a:ln>
              <a:noFill/>
            </a:ln>
          </p:spPr>
        </p:sp>
        <p:sp>
          <p:nvSpPr>
            <p:cNvPr id="11" name="Freeform 11"/>
            <p:cNvSpPr/>
            <p:nvPr/>
          </p:nvSpPr>
          <p:spPr>
            <a:xfrm>
              <a:off x="4286250" y="742950"/>
              <a:ext cx="1476375" cy="381000"/>
            </a:xfrm>
            <a:prstGeom prst="chevron">
              <a:avLst>
                <a:gd name="adj" fmla="val 45000"/>
              </a:avLst>
            </a:prstGeom>
            <a:solidFill>
              <a:srgbClr val="B92102"/>
            </a:solidFill>
            <a:ln>
              <a:noFill/>
            </a:ln>
          </p:spPr>
        </p:sp>
        <p:sp>
          <p:nvSpPr>
            <p:cNvPr id="12" name="Freeform 12"/>
            <p:cNvSpPr/>
            <p:nvPr/>
          </p:nvSpPr>
          <p:spPr>
            <a:xfrm>
              <a:off x="5705475" y="742950"/>
              <a:ext cx="1476375" cy="381000"/>
            </a:xfrm>
            <a:prstGeom prst="chevron">
              <a:avLst>
                <a:gd name="adj" fmla="val 45000"/>
              </a:avLst>
            </a:prstGeom>
            <a:solidFill>
              <a:srgbClr val="B92102"/>
            </a:solidFill>
            <a:ln>
              <a:noFill/>
            </a:ln>
          </p:spPr>
        </p:sp>
        <p:sp>
          <p:nvSpPr>
            <p:cNvPr id="13" name="Freeform 13"/>
            <p:cNvSpPr/>
            <p:nvPr/>
          </p:nvSpPr>
          <p:spPr>
            <a:xfrm>
              <a:off x="7124700" y="742950"/>
              <a:ext cx="1476375" cy="381000"/>
            </a:xfrm>
            <a:prstGeom prst="chevron">
              <a:avLst>
                <a:gd name="adj" fmla="val 45000"/>
              </a:avLst>
            </a:prstGeom>
            <a:solidFill>
              <a:srgbClr val="B92102"/>
            </a:solidFill>
            <a:ln>
              <a:noFill/>
            </a:ln>
          </p:spPr>
        </p:sp>
        <p:sp>
          <p:nvSpPr>
            <p:cNvPr id="14" name="Freeform 14"/>
            <p:cNvSpPr/>
            <p:nvPr/>
          </p:nvSpPr>
          <p:spPr>
            <a:xfrm>
              <a:off x="8543925" y="742950"/>
              <a:ext cx="1419225" cy="381000"/>
            </a:xfrm>
            <a:prstGeom prst="chevron">
              <a:avLst>
                <a:gd name="adj" fmla="val 45000"/>
              </a:avLst>
            </a:prstGeom>
            <a:solidFill>
              <a:srgbClr val="B92102"/>
            </a:solidFill>
            <a:ln>
              <a:noFill/>
            </a:ln>
          </p:spPr>
        </p:sp>
        <p:sp>
          <p:nvSpPr>
            <p:cNvPr id="15" name="TextBox 15"/>
            <p:cNvSpPr txBox="1"/>
            <p:nvPr/>
          </p:nvSpPr>
          <p:spPr>
            <a:xfrm>
              <a:off x="1845386" y="8691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目标拆解</a:t>
              </a:r>
            </a:p>
          </p:txBody>
        </p:sp>
        <p:sp>
          <p:nvSpPr>
            <p:cNvPr id="16" name="TextBox 16"/>
            <p:cNvSpPr txBox="1"/>
            <p:nvPr/>
          </p:nvSpPr>
          <p:spPr>
            <a:xfrm>
              <a:off x="3350336" y="8691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名单分配</a:t>
              </a:r>
            </a:p>
          </p:txBody>
        </p:sp>
        <p:sp>
          <p:nvSpPr>
            <p:cNvPr id="17" name="TextBox 17"/>
            <p:cNvSpPr txBox="1"/>
            <p:nvPr/>
          </p:nvSpPr>
          <p:spPr>
            <a:xfrm>
              <a:off x="4769561" y="8691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首触诊断</a:t>
              </a:r>
            </a:p>
          </p:txBody>
        </p:sp>
        <p:sp>
          <p:nvSpPr>
            <p:cNvPr id="18" name="TextBox 18"/>
            <p:cNvSpPr txBox="1"/>
            <p:nvPr/>
          </p:nvSpPr>
          <p:spPr>
            <a:xfrm>
              <a:off x="6188786" y="8691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方案跟进</a:t>
              </a:r>
            </a:p>
          </p:txBody>
        </p:sp>
        <p:sp>
          <p:nvSpPr>
            <p:cNvPr id="19" name="TextBox 19"/>
            <p:cNvSpPr txBox="1"/>
            <p:nvPr/>
          </p:nvSpPr>
          <p:spPr>
            <a:xfrm>
              <a:off x="7608011" y="8691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商务推进</a:t>
              </a:r>
            </a:p>
          </p:txBody>
        </p:sp>
        <p:sp>
          <p:nvSpPr>
            <p:cNvPr id="20" name="TextBox 20"/>
            <p:cNvSpPr txBox="1"/>
            <p:nvPr/>
          </p:nvSpPr>
          <p:spPr>
            <a:xfrm>
              <a:off x="8998661" y="8691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成交复盘</a:t>
              </a:r>
            </a:p>
          </p:txBody>
        </p:sp>
        <p:sp>
          <p:nvSpPr>
            <p:cNvPr id="21" name="Line 21"/>
            <p:cNvSpPr/>
            <p:nvPr/>
          </p:nvSpPr>
          <p:spPr>
            <a:xfrm>
              <a:off x="266700" y="2114550"/>
              <a:ext cx="9696450" cy="9525"/>
            </a:xfrm>
            <a:custGeom>
              <a:avLst/>
              <a:gdLst/>
              <a:ahLst/>
              <a:cxnLst/>
              <a:rect l="l" t="t" r="r" b="b"/>
              <a:pathLst>
                <a:path w="9696450" h="9525">
                  <a:moveTo>
                    <a:pt x="0" y="0"/>
                  </a:moveTo>
                  <a:lnTo>
                    <a:pt x="9696450" y="0"/>
                  </a:lnTo>
                </a:path>
              </a:pathLst>
            </a:custGeom>
            <a:noFill/>
            <a:ln w="9525">
              <a:solidFill>
                <a:srgbClr val="DCE6F8"/>
              </a:solidFill>
            </a:ln>
          </p:spPr>
        </p:sp>
        <p:sp>
          <p:nvSpPr>
            <p:cNvPr id="22" name="Line 22"/>
            <p:cNvSpPr/>
            <p:nvPr/>
          </p:nvSpPr>
          <p:spPr>
            <a:xfrm>
              <a:off x="266700" y="3095625"/>
              <a:ext cx="9696450" cy="9525"/>
            </a:xfrm>
            <a:custGeom>
              <a:avLst/>
              <a:gdLst/>
              <a:ahLst/>
              <a:cxnLst/>
              <a:rect l="l" t="t" r="r" b="b"/>
              <a:pathLst>
                <a:path w="9696450" h="9525">
                  <a:moveTo>
                    <a:pt x="0" y="0"/>
                  </a:moveTo>
                  <a:lnTo>
                    <a:pt x="9696450" y="0"/>
                  </a:lnTo>
                </a:path>
              </a:pathLst>
            </a:custGeom>
            <a:noFill/>
            <a:ln w="9525">
              <a:solidFill>
                <a:srgbClr val="DCE6F8"/>
              </a:solidFill>
            </a:ln>
          </p:spPr>
        </p:sp>
        <p:sp>
          <p:nvSpPr>
            <p:cNvPr id="23" name="Line 23"/>
            <p:cNvSpPr/>
            <p:nvPr/>
          </p:nvSpPr>
          <p:spPr>
            <a:xfrm>
              <a:off x="266700" y="4076700"/>
              <a:ext cx="9696450" cy="9525"/>
            </a:xfrm>
            <a:custGeom>
              <a:avLst/>
              <a:gdLst/>
              <a:ahLst/>
              <a:cxnLst/>
              <a:rect l="l" t="t" r="r" b="b"/>
              <a:pathLst>
                <a:path w="9696450" h="9525">
                  <a:moveTo>
                    <a:pt x="0" y="0"/>
                  </a:moveTo>
                  <a:lnTo>
                    <a:pt x="9696450" y="0"/>
                  </a:lnTo>
                </a:path>
              </a:pathLst>
            </a:custGeom>
            <a:noFill/>
            <a:ln w="9525">
              <a:solidFill>
                <a:srgbClr val="DCE6F8"/>
              </a:solidFill>
            </a:ln>
          </p:spPr>
        </p:sp>
        <p:sp>
          <p:nvSpPr>
            <p:cNvPr id="24" name="Line 24"/>
            <p:cNvSpPr/>
            <p:nvPr/>
          </p:nvSpPr>
          <p:spPr>
            <a:xfrm>
              <a:off x="1428750" y="1143000"/>
              <a:ext cx="9525" cy="3905250"/>
            </a:xfrm>
            <a:custGeom>
              <a:avLst/>
              <a:gdLst/>
              <a:ahLst/>
              <a:cxnLst/>
              <a:rect l="l" t="t" r="r" b="b"/>
              <a:pathLst>
                <a:path w="9525" h="3905250">
                  <a:moveTo>
                    <a:pt x="0" y="0"/>
                  </a:moveTo>
                  <a:lnTo>
                    <a:pt x="0" y="3905250"/>
                  </a:lnTo>
                </a:path>
              </a:pathLst>
            </a:custGeom>
            <a:noFill/>
            <a:ln w="9525">
              <a:solidFill>
                <a:srgbClr val="DCE6F8"/>
              </a:solidFill>
            </a:ln>
          </p:spPr>
        </p:sp>
        <p:sp>
          <p:nvSpPr>
            <p:cNvPr id="25" name="Line 25"/>
            <p:cNvSpPr/>
            <p:nvPr/>
          </p:nvSpPr>
          <p:spPr>
            <a:xfrm>
              <a:off x="2867025" y="1143000"/>
              <a:ext cx="9525" cy="3905250"/>
            </a:xfrm>
            <a:custGeom>
              <a:avLst/>
              <a:gdLst/>
              <a:ahLst/>
              <a:cxnLst/>
              <a:rect l="l" t="t" r="r" b="b"/>
              <a:pathLst>
                <a:path w="9525" h="3905250">
                  <a:moveTo>
                    <a:pt x="0" y="0"/>
                  </a:moveTo>
                  <a:lnTo>
                    <a:pt x="0" y="3905250"/>
                  </a:lnTo>
                </a:path>
              </a:pathLst>
            </a:custGeom>
            <a:noFill/>
            <a:ln w="9525">
              <a:solidFill>
                <a:srgbClr val="DCE6F8"/>
              </a:solidFill>
            </a:ln>
          </p:spPr>
        </p:sp>
        <p:sp>
          <p:nvSpPr>
            <p:cNvPr id="26" name="Line 26"/>
            <p:cNvSpPr/>
            <p:nvPr/>
          </p:nvSpPr>
          <p:spPr>
            <a:xfrm>
              <a:off x="4286250" y="1143000"/>
              <a:ext cx="9525" cy="3905250"/>
            </a:xfrm>
            <a:custGeom>
              <a:avLst/>
              <a:gdLst/>
              <a:ahLst/>
              <a:cxnLst/>
              <a:rect l="l" t="t" r="r" b="b"/>
              <a:pathLst>
                <a:path w="9525" h="3905250">
                  <a:moveTo>
                    <a:pt x="0" y="0"/>
                  </a:moveTo>
                  <a:lnTo>
                    <a:pt x="0" y="3905250"/>
                  </a:lnTo>
                </a:path>
              </a:pathLst>
            </a:custGeom>
            <a:noFill/>
            <a:ln w="9525">
              <a:solidFill>
                <a:srgbClr val="DCE6F8"/>
              </a:solidFill>
            </a:ln>
          </p:spPr>
        </p:sp>
        <p:sp>
          <p:nvSpPr>
            <p:cNvPr id="27" name="Line 27"/>
            <p:cNvSpPr/>
            <p:nvPr/>
          </p:nvSpPr>
          <p:spPr>
            <a:xfrm>
              <a:off x="5705475" y="1143000"/>
              <a:ext cx="9525" cy="3905250"/>
            </a:xfrm>
            <a:custGeom>
              <a:avLst/>
              <a:gdLst/>
              <a:ahLst/>
              <a:cxnLst/>
              <a:rect l="l" t="t" r="r" b="b"/>
              <a:pathLst>
                <a:path w="9525" h="3905250">
                  <a:moveTo>
                    <a:pt x="0" y="0"/>
                  </a:moveTo>
                  <a:lnTo>
                    <a:pt x="0" y="3905250"/>
                  </a:lnTo>
                </a:path>
              </a:pathLst>
            </a:custGeom>
            <a:noFill/>
            <a:ln w="9525">
              <a:solidFill>
                <a:srgbClr val="DCE6F8"/>
              </a:solidFill>
            </a:ln>
          </p:spPr>
        </p:sp>
        <p:sp>
          <p:nvSpPr>
            <p:cNvPr id="28" name="Line 28"/>
            <p:cNvSpPr/>
            <p:nvPr/>
          </p:nvSpPr>
          <p:spPr>
            <a:xfrm>
              <a:off x="7124700" y="1143000"/>
              <a:ext cx="9525" cy="3905250"/>
            </a:xfrm>
            <a:custGeom>
              <a:avLst/>
              <a:gdLst/>
              <a:ahLst/>
              <a:cxnLst/>
              <a:rect l="l" t="t" r="r" b="b"/>
              <a:pathLst>
                <a:path w="9525" h="3905250">
                  <a:moveTo>
                    <a:pt x="0" y="0"/>
                  </a:moveTo>
                  <a:lnTo>
                    <a:pt x="0" y="3905250"/>
                  </a:lnTo>
                </a:path>
              </a:pathLst>
            </a:custGeom>
            <a:noFill/>
            <a:ln w="9525">
              <a:solidFill>
                <a:srgbClr val="DCE6F8"/>
              </a:solidFill>
            </a:ln>
          </p:spPr>
        </p:sp>
        <p:sp>
          <p:nvSpPr>
            <p:cNvPr id="29" name="Line 29"/>
            <p:cNvSpPr/>
            <p:nvPr/>
          </p:nvSpPr>
          <p:spPr>
            <a:xfrm>
              <a:off x="8543925" y="1143000"/>
              <a:ext cx="9525" cy="3905250"/>
            </a:xfrm>
            <a:custGeom>
              <a:avLst/>
              <a:gdLst/>
              <a:ahLst/>
              <a:cxnLst/>
              <a:rect l="l" t="t" r="r" b="b"/>
              <a:pathLst>
                <a:path w="9525" h="3905250">
                  <a:moveTo>
                    <a:pt x="0" y="0"/>
                  </a:moveTo>
                  <a:lnTo>
                    <a:pt x="0" y="3905250"/>
                  </a:lnTo>
                </a:path>
              </a:pathLst>
            </a:custGeom>
            <a:noFill/>
            <a:ln w="9525">
              <a:solidFill>
                <a:srgbClr val="DCE6F8"/>
              </a:solidFill>
            </a:ln>
          </p:spPr>
        </p:sp>
        <p:grpSp>
          <p:nvGrpSpPr>
            <p:cNvPr id="73" name="row-regional"/>
            <p:cNvGrpSpPr/>
            <p:nvPr/>
          </p:nvGrpSpPr>
          <p:grpSpPr>
            <a:xfrm>
              <a:off x="548729" y="1290638"/>
              <a:ext cx="8988081" cy="709659"/>
              <a:chOff x="548729" y="1290638"/>
              <a:chExt cx="8988081" cy="709659"/>
            </a:xfrm>
          </p:grpSpPr>
          <p:grpSp>
            <p:nvGrpSpPr>
              <p:cNvPr id="34" name="Group 34"/>
              <p:cNvGrpSpPr/>
              <p:nvPr/>
            </p:nvGrpSpPr>
            <p:grpSpPr>
              <a:xfrm>
                <a:off x="733425" y="1352550"/>
                <a:ext cx="228599" cy="228600"/>
                <a:chOff x="733425" y="1352550"/>
                <a:chExt cx="228599" cy="228600"/>
              </a:xfrm>
            </p:grpSpPr>
            <p:sp>
              <p:nvSpPr>
                <p:cNvPr id="30" name="Freeform 30"/>
                <p:cNvSpPr/>
                <p:nvPr/>
              </p:nvSpPr>
              <p:spPr>
                <a:xfrm>
                  <a:off x="758825" y="135255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rgbClr val="B92102"/>
                  </a:solidFill>
                </a:ln>
              </p:spPr>
            </p:sp>
            <p:sp>
              <p:nvSpPr>
                <p:cNvPr id="31" name="Freeform 31"/>
                <p:cNvSpPr/>
                <p:nvPr/>
              </p:nvSpPr>
              <p:spPr>
                <a:xfrm>
                  <a:off x="733425" y="1504950"/>
                  <a:ext cx="152400" cy="76200"/>
                </a:xfrm>
                <a:custGeom>
                  <a:avLst/>
                  <a:gdLst/>
                  <a:ahLst/>
                  <a:cxnLst/>
                  <a:rect l="l" t="t" r="r" b="b"/>
                  <a:pathLst>
                    <a:path w="152400" h="76200">
                      <a:moveTo>
                        <a:pt x="0" y="76200"/>
                      </a:moveTo>
                      <a:lnTo>
                        <a:pt x="0" y="50800"/>
                      </a:lnTo>
                      <a:cubicBezTo>
                        <a:pt x="0" y="22744"/>
                        <a:pt x="22744" y="0"/>
                        <a:pt x="50800" y="0"/>
                      </a:cubicBezTo>
                      <a:lnTo>
                        <a:pt x="101600" y="0"/>
                      </a:lnTo>
                      <a:cubicBezTo>
                        <a:pt x="129656" y="0"/>
                        <a:pt x="152400" y="22744"/>
                        <a:pt x="152400" y="50800"/>
                      </a:cubicBezTo>
                      <a:lnTo>
                        <a:pt x="152400" y="76200"/>
                      </a:lnTo>
                    </a:path>
                  </a:pathLst>
                </a:custGeom>
                <a:noFill/>
                <a:ln w="25400">
                  <a:solidFill>
                    <a:srgbClr val="B92102"/>
                  </a:solidFill>
                </a:ln>
              </p:spPr>
            </p:sp>
            <p:sp>
              <p:nvSpPr>
                <p:cNvPr id="32" name="Freeform 32"/>
                <p:cNvSpPr/>
                <p:nvPr/>
              </p:nvSpPr>
              <p:spPr>
                <a:xfrm>
                  <a:off x="898524" y="1354201"/>
                  <a:ext cx="38200" cy="98425"/>
                </a:xfrm>
                <a:custGeom>
                  <a:avLst/>
                  <a:gdLst/>
                  <a:ahLst/>
                  <a:cxnLst/>
                  <a:rect l="l" t="t" r="r" b="b"/>
                  <a:pathLst>
                    <a:path w="38200" h="98425">
                      <a:moveTo>
                        <a:pt x="0" y="0"/>
                      </a:moveTo>
                      <a:cubicBezTo>
                        <a:pt x="22478" y="5755"/>
                        <a:pt x="38200" y="26009"/>
                        <a:pt x="38200" y="49212"/>
                      </a:cubicBezTo>
                      <a:cubicBezTo>
                        <a:pt x="38200" y="72415"/>
                        <a:pt x="22478" y="92670"/>
                        <a:pt x="0" y="98425"/>
                      </a:cubicBezTo>
                    </a:path>
                  </a:pathLst>
                </a:custGeom>
                <a:noFill/>
                <a:ln w="25400">
                  <a:solidFill>
                    <a:srgbClr val="B92102"/>
                  </a:solidFill>
                </a:ln>
              </p:spPr>
            </p:sp>
            <p:sp>
              <p:nvSpPr>
                <p:cNvPr id="33" name="Freeform 33"/>
                <p:cNvSpPr/>
                <p:nvPr/>
              </p:nvSpPr>
              <p:spPr>
                <a:xfrm>
                  <a:off x="923924" y="1506855"/>
                  <a:ext cx="38100" cy="74295"/>
                </a:xfrm>
                <a:custGeom>
                  <a:avLst/>
                  <a:gdLst/>
                  <a:ahLst/>
                  <a:cxnLst/>
                  <a:rect l="l" t="t" r="r" b="b"/>
                  <a:pathLst>
                    <a:path w="38100" h="74295">
                      <a:moveTo>
                        <a:pt x="38100" y="74295"/>
                      </a:moveTo>
                      <a:lnTo>
                        <a:pt x="38100" y="48895"/>
                      </a:lnTo>
                      <a:cubicBezTo>
                        <a:pt x="37967" y="25839"/>
                        <a:pt x="22324" y="5764"/>
                        <a:pt x="0" y="0"/>
                      </a:cubicBezTo>
                    </a:path>
                  </a:pathLst>
                </a:custGeom>
                <a:noFill/>
                <a:ln w="25400">
                  <a:solidFill>
                    <a:srgbClr val="B92102"/>
                  </a:solidFill>
                </a:ln>
              </p:spPr>
            </p:sp>
          </p:grpSp>
          <p:sp>
            <p:nvSpPr>
              <p:cNvPr id="35" name="TextBox 35"/>
              <p:cNvSpPr txBox="1"/>
              <p:nvPr/>
            </p:nvSpPr>
            <p:spPr>
              <a:xfrm>
                <a:off x="548729" y="1787604"/>
                <a:ext cx="597992" cy="212693"/>
              </a:xfrm>
              <a:prstGeom prst="rect">
                <a:avLst/>
              </a:prstGeom>
              <a:noFill/>
              <a:ln>
                <a:noFill/>
              </a:ln>
            </p:spPr>
            <p:txBody>
              <a:bodyPr wrap="none" lIns="0" tIns="0" rIns="0" bIns="0" anchor="t" anchorCtr="0">
                <a:spAutoFit/>
              </a:bodyPr>
              <a:lstStyle/>
              <a:p>
                <a:pPr algn="ctr"/>
                <a:r>
                  <a:rPr lang="zh-CN" sz="1090" b="1" dirty="0">
                    <a:solidFill>
                      <a:srgbClr val="6E1604"/>
                    </a:solidFill>
                    <a:latin typeface="+mn-lt"/>
                    <a:ea typeface="+mn-ea"/>
                    <a:cs typeface="+mn-cs"/>
                  </a:rPr>
                  <a:t>区域经理</a:t>
                </a:r>
              </a:p>
            </p:txBody>
          </p:sp>
          <p:grpSp>
            <p:nvGrpSpPr>
              <p:cNvPr id="39" name="Group 39"/>
              <p:cNvGrpSpPr/>
              <p:nvPr/>
            </p:nvGrpSpPr>
            <p:grpSpPr>
              <a:xfrm>
                <a:off x="2052638" y="1290638"/>
                <a:ext cx="200026" cy="200026"/>
                <a:chOff x="2052638" y="1290638"/>
                <a:chExt cx="200026" cy="200026"/>
              </a:xfrm>
            </p:grpSpPr>
            <p:sp>
              <p:nvSpPr>
                <p:cNvPr id="36" name="Freeform 36"/>
                <p:cNvSpPr/>
                <p:nvPr/>
              </p:nvSpPr>
              <p:spPr>
                <a:xfrm>
                  <a:off x="2141538" y="137953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B92102"/>
                  </a:solidFill>
                </a:ln>
              </p:spPr>
            </p:sp>
            <p:sp>
              <p:nvSpPr>
                <p:cNvPr id="37" name="Freeform 37"/>
                <p:cNvSpPr/>
                <p:nvPr/>
              </p:nvSpPr>
              <p:spPr>
                <a:xfrm>
                  <a:off x="2097088" y="1335088"/>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22225">
                  <a:solidFill>
                    <a:srgbClr val="B92102"/>
                  </a:solidFill>
                </a:ln>
              </p:spPr>
            </p:sp>
            <p:sp>
              <p:nvSpPr>
                <p:cNvPr id="38" name="Freeform 38"/>
                <p:cNvSpPr/>
                <p:nvPr/>
              </p:nvSpPr>
              <p:spPr>
                <a:xfrm>
                  <a:off x="2052638" y="12906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B92102"/>
                  </a:solidFill>
                </a:ln>
              </p:spPr>
            </p:sp>
          </p:grpSp>
          <p:sp>
            <p:nvSpPr>
              <p:cNvPr id="40" name="TextBox 40"/>
              <p:cNvSpPr txBox="1"/>
              <p:nvPr/>
            </p:nvSpPr>
            <p:spPr>
              <a:xfrm>
                <a:off x="1633538" y="1667589"/>
                <a:ext cx="90747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拆解区域目标​​</a:t>
                </a:r>
              </a:p>
              <a:p>
                <a:pPr algn="l" marL="85280" indent="-85280">
                  <a:lnSpc>
                    <a:spcPts val="1200"/>
                  </a:lnSpc>
                  <a:buClr>
                    <a:srgbClr val="473633"/>
                  </a:buClr>
                  <a:buSzTx/>
                  <a:buFontTx/>
                  <a:buChar char="•"/>
                </a:pPr>
                <a:r>
                  <a:rPr lang="zh-CN" sz="790" dirty="0">
                    <a:solidFill>
                      <a:srgbClr val="473633"/>
                    </a:solidFill>
                    <a:latin typeface="+mn-lt"/>
                    <a:ea typeface="+mn-ea"/>
                    <a:cs typeface="+mn-cs"/>
                  </a:rPr>
                  <a:t>明确结构与节奏​​</a:t>
                </a:r>
              </a:p>
            </p:txBody>
          </p:sp>
          <p:grpSp>
            <p:nvGrpSpPr>
              <p:cNvPr id="47" name="Group 47"/>
              <p:cNvGrpSpPr/>
              <p:nvPr/>
            </p:nvGrpSpPr>
            <p:grpSpPr>
              <a:xfrm>
                <a:off x="3471863" y="1290638"/>
                <a:ext cx="200025" cy="200026"/>
                <a:chOff x="3471863" y="1290638"/>
                <a:chExt cx="200025" cy="200026"/>
              </a:xfrm>
            </p:grpSpPr>
            <p:sp>
              <p:nvSpPr>
                <p:cNvPr id="41" name="Freeform 41"/>
                <p:cNvSpPr/>
                <p:nvPr/>
              </p:nvSpPr>
              <p:spPr>
                <a:xfrm>
                  <a:off x="3549650" y="13795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B92102"/>
                  </a:solidFill>
                </a:ln>
              </p:spPr>
            </p:sp>
            <p:sp>
              <p:nvSpPr>
                <p:cNvPr id="42" name="Freeform 42"/>
                <p:cNvSpPr/>
                <p:nvPr/>
              </p:nvSpPr>
              <p:spPr>
                <a:xfrm>
                  <a:off x="3527425" y="145732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B92102"/>
                  </a:solidFill>
                </a:ln>
              </p:spPr>
            </p:sp>
            <p:sp>
              <p:nvSpPr>
                <p:cNvPr id="43" name="Freeform 43"/>
                <p:cNvSpPr/>
                <p:nvPr/>
              </p:nvSpPr>
              <p:spPr>
                <a:xfrm>
                  <a:off x="3605213" y="12906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B92102"/>
                  </a:solidFill>
                </a:ln>
              </p:spPr>
            </p:sp>
            <p:sp>
              <p:nvSpPr>
                <p:cNvPr id="44" name="Freeform 44"/>
                <p:cNvSpPr/>
                <p:nvPr/>
              </p:nvSpPr>
              <p:spPr>
                <a:xfrm>
                  <a:off x="3627438" y="136842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B92102"/>
                  </a:solidFill>
                </a:ln>
              </p:spPr>
            </p:sp>
            <p:sp>
              <p:nvSpPr>
                <p:cNvPr id="45" name="Freeform 45"/>
                <p:cNvSpPr/>
                <p:nvPr/>
              </p:nvSpPr>
              <p:spPr>
                <a:xfrm>
                  <a:off x="3494088" y="12906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B92102"/>
                  </a:solidFill>
                </a:ln>
              </p:spPr>
            </p:sp>
            <p:sp>
              <p:nvSpPr>
                <p:cNvPr id="46" name="Freeform 46"/>
                <p:cNvSpPr/>
                <p:nvPr/>
              </p:nvSpPr>
              <p:spPr>
                <a:xfrm>
                  <a:off x="3471863" y="136842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B92102"/>
                  </a:solidFill>
                </a:ln>
              </p:spPr>
            </p:sp>
          </p:grpSp>
          <p:sp>
            <p:nvSpPr>
              <p:cNvPr id="48" name="TextBox 48"/>
              <p:cNvSpPr txBox="1"/>
              <p:nvPr/>
            </p:nvSpPr>
            <p:spPr>
              <a:xfrm>
                <a:off x="3052762" y="166758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审核名单规模​​</a:t>
                </a:r>
              </a:p>
              <a:p>
                <a:pPr algn="l" marL="85280" indent="-85280">
                  <a:lnSpc>
                    <a:spcPts val="1200"/>
                  </a:lnSpc>
                  <a:buClr>
                    <a:srgbClr val="473633"/>
                  </a:buClr>
                  <a:buSzTx/>
                  <a:buFontTx/>
                  <a:buChar char="•"/>
                </a:pPr>
                <a:r>
                  <a:rPr lang="zh-CN" sz="790" dirty="0">
                    <a:solidFill>
                      <a:srgbClr val="473633"/>
                    </a:solidFill>
                    <a:latin typeface="+mn-lt"/>
                    <a:ea typeface="+mn-ea"/>
                    <a:cs typeface="+mn-cs"/>
                  </a:rPr>
                  <a:t>统筹资源倾斜​​</a:t>
                </a:r>
              </a:p>
            </p:txBody>
          </p:sp>
          <p:grpSp>
            <p:nvGrpSpPr>
              <p:cNvPr id="53" name="Group 53"/>
              <p:cNvGrpSpPr/>
              <p:nvPr/>
            </p:nvGrpSpPr>
            <p:grpSpPr>
              <a:xfrm>
                <a:off x="4913313" y="1301750"/>
                <a:ext cx="166687" cy="188913"/>
                <a:chOff x="4913313" y="1301750"/>
                <a:chExt cx="166687" cy="188913"/>
              </a:xfrm>
            </p:grpSpPr>
            <p:sp>
              <p:nvSpPr>
                <p:cNvPr id="49" name="Freeform 49"/>
                <p:cNvSpPr/>
                <p:nvPr/>
              </p:nvSpPr>
              <p:spPr>
                <a:xfrm>
                  <a:off x="4913313" y="1301750"/>
                  <a:ext cx="133350" cy="177801"/>
                </a:xfrm>
                <a:custGeom>
                  <a:avLst/>
                  <a:gdLst/>
                  <a:ahLst/>
                  <a:cxnLst/>
                  <a:rect l="l" t="t" r="r" b="b"/>
                  <a:pathLst>
                    <a:path w="133350" h="177801">
                      <a:moveTo>
                        <a:pt x="51284" y="177801"/>
                      </a:moveTo>
                      <a:lnTo>
                        <a:pt x="22225" y="177801"/>
                      </a:lnTo>
                      <a:cubicBezTo>
                        <a:pt x="9950" y="177801"/>
                        <a:pt x="0" y="167850"/>
                        <a:pt x="0" y="155575"/>
                      </a:cubicBezTo>
                      <a:lnTo>
                        <a:pt x="0" y="22225"/>
                      </a:lnTo>
                      <a:cubicBezTo>
                        <a:pt x="0" y="9950"/>
                        <a:pt x="9950" y="0"/>
                        <a:pt x="22225" y="0"/>
                      </a:cubicBezTo>
                      <a:lnTo>
                        <a:pt x="111125" y="0"/>
                      </a:lnTo>
                      <a:cubicBezTo>
                        <a:pt x="123400" y="0"/>
                        <a:pt x="133350" y="9950"/>
                        <a:pt x="133350" y="22225"/>
                      </a:cubicBezTo>
                      <a:lnTo>
                        <a:pt x="133350" y="111125"/>
                      </a:lnTo>
                    </a:path>
                  </a:pathLst>
                </a:custGeom>
                <a:noFill/>
                <a:ln w="22225">
                  <a:solidFill>
                    <a:srgbClr val="B92102"/>
                  </a:solidFill>
                </a:ln>
              </p:spPr>
            </p:sp>
            <p:sp>
              <p:nvSpPr>
                <p:cNvPr id="50" name="Freeform 50"/>
                <p:cNvSpPr/>
                <p:nvPr/>
              </p:nvSpPr>
              <p:spPr>
                <a:xfrm>
                  <a:off x="5013325" y="1446213"/>
                  <a:ext cx="66675" cy="44450"/>
                </a:xfrm>
                <a:custGeom>
                  <a:avLst/>
                  <a:gdLst/>
                  <a:ahLst/>
                  <a:cxnLst/>
                  <a:rect l="l" t="t" r="r" b="b"/>
                  <a:pathLst>
                    <a:path w="66675" h="44450">
                      <a:moveTo>
                        <a:pt x="0" y="22225"/>
                      </a:moveTo>
                      <a:lnTo>
                        <a:pt x="22225" y="44450"/>
                      </a:lnTo>
                      <a:lnTo>
                        <a:pt x="66675" y="0"/>
                      </a:lnTo>
                    </a:path>
                  </a:pathLst>
                </a:custGeom>
                <a:noFill/>
                <a:ln w="22225">
                  <a:solidFill>
                    <a:srgbClr val="B92102"/>
                  </a:solidFill>
                </a:ln>
              </p:spPr>
            </p:sp>
            <p:sp>
              <p:nvSpPr>
                <p:cNvPr id="51" name="Freeform 51"/>
                <p:cNvSpPr/>
                <p:nvPr/>
              </p:nvSpPr>
              <p:spPr>
                <a:xfrm>
                  <a:off x="4957763" y="1346200"/>
                  <a:ext cx="44450" cy="9525"/>
                </a:xfrm>
                <a:custGeom>
                  <a:avLst/>
                  <a:gdLst/>
                  <a:ahLst/>
                  <a:cxnLst/>
                  <a:rect l="l" t="t" r="r" b="b"/>
                  <a:pathLst>
                    <a:path w="44450" h="9525">
                      <a:moveTo>
                        <a:pt x="0" y="0"/>
                      </a:moveTo>
                      <a:lnTo>
                        <a:pt x="44450" y="0"/>
                      </a:lnTo>
                    </a:path>
                  </a:pathLst>
                </a:custGeom>
                <a:noFill/>
                <a:ln w="22225">
                  <a:solidFill>
                    <a:srgbClr val="B92102"/>
                  </a:solidFill>
                </a:ln>
              </p:spPr>
            </p:sp>
            <p:sp>
              <p:nvSpPr>
                <p:cNvPr id="52" name="Freeform 52"/>
                <p:cNvSpPr/>
                <p:nvPr/>
              </p:nvSpPr>
              <p:spPr>
                <a:xfrm>
                  <a:off x="4957763" y="1390650"/>
                  <a:ext cx="22225" cy="9525"/>
                </a:xfrm>
                <a:custGeom>
                  <a:avLst/>
                  <a:gdLst/>
                  <a:ahLst/>
                  <a:cxnLst/>
                  <a:rect l="l" t="t" r="r" b="b"/>
                  <a:pathLst>
                    <a:path w="22225" h="9525">
                      <a:moveTo>
                        <a:pt x="0" y="0"/>
                      </a:moveTo>
                      <a:lnTo>
                        <a:pt x="22225" y="0"/>
                      </a:lnTo>
                    </a:path>
                  </a:pathLst>
                </a:custGeom>
                <a:noFill/>
                <a:ln w="22225">
                  <a:solidFill>
                    <a:srgbClr val="B92102"/>
                  </a:solidFill>
                </a:ln>
              </p:spPr>
            </p:sp>
          </p:grpSp>
          <p:sp>
            <p:nvSpPr>
              <p:cNvPr id="54" name="TextBox 54"/>
              <p:cNvSpPr txBox="1"/>
              <p:nvPr/>
            </p:nvSpPr>
            <p:spPr>
              <a:xfrm>
                <a:off x="4471988" y="166758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抽检首触质量​​</a:t>
                </a:r>
              </a:p>
              <a:p>
                <a:pPr algn="l" marL="85280" indent="-85280">
                  <a:lnSpc>
                    <a:spcPts val="1200"/>
                  </a:lnSpc>
                  <a:buClr>
                    <a:srgbClr val="473633"/>
                  </a:buClr>
                  <a:buSzTx/>
                  <a:buFontTx/>
                  <a:buChar char="•"/>
                </a:pPr>
                <a:r>
                  <a:rPr lang="zh-CN" sz="790" dirty="0">
                    <a:solidFill>
                      <a:srgbClr val="473633"/>
                    </a:solidFill>
                    <a:latin typeface="+mn-lt"/>
                    <a:ea typeface="+mn-ea"/>
                    <a:cs typeface="+mn-cs"/>
                  </a:rPr>
                  <a:t>指导诊断方向​​</a:t>
                </a:r>
              </a:p>
            </p:txBody>
          </p:sp>
          <p:grpSp>
            <p:nvGrpSpPr>
              <p:cNvPr id="60" name="Group 60"/>
              <p:cNvGrpSpPr/>
              <p:nvPr/>
            </p:nvGrpSpPr>
            <p:grpSpPr>
              <a:xfrm>
                <a:off x="6332538" y="1290638"/>
                <a:ext cx="155575" cy="200026"/>
                <a:chOff x="6332538" y="1290638"/>
                <a:chExt cx="155575" cy="200026"/>
              </a:xfrm>
            </p:grpSpPr>
            <p:sp>
              <p:nvSpPr>
                <p:cNvPr id="55" name="Freeform 55"/>
                <p:cNvSpPr/>
                <p:nvPr/>
              </p:nvSpPr>
              <p:spPr>
                <a:xfrm>
                  <a:off x="6432550" y="1290638"/>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22225">
                  <a:solidFill>
                    <a:srgbClr val="B92102"/>
                  </a:solidFill>
                </a:ln>
              </p:spPr>
            </p:sp>
            <p:sp>
              <p:nvSpPr>
                <p:cNvPr id="56" name="Freeform 56"/>
                <p:cNvSpPr/>
                <p:nvPr/>
              </p:nvSpPr>
              <p:spPr>
                <a:xfrm>
                  <a:off x="6332538" y="1290638"/>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22225">
                  <a:solidFill>
                    <a:srgbClr val="B92102"/>
                  </a:solidFill>
                </a:ln>
              </p:spPr>
            </p:sp>
            <p:sp>
              <p:nvSpPr>
                <p:cNvPr id="57" name="Freeform 57"/>
                <p:cNvSpPr/>
                <p:nvPr/>
              </p:nvSpPr>
              <p:spPr>
                <a:xfrm>
                  <a:off x="6376988" y="1357313"/>
                  <a:ext cx="11113" cy="9525"/>
                </a:xfrm>
                <a:custGeom>
                  <a:avLst/>
                  <a:gdLst/>
                  <a:ahLst/>
                  <a:cxnLst/>
                  <a:rect l="l" t="t" r="r" b="b"/>
                  <a:pathLst>
                    <a:path w="11113" h="9525">
                      <a:moveTo>
                        <a:pt x="0" y="0"/>
                      </a:moveTo>
                      <a:lnTo>
                        <a:pt x="11113" y="0"/>
                      </a:lnTo>
                    </a:path>
                  </a:pathLst>
                </a:custGeom>
                <a:noFill/>
                <a:ln w="22225">
                  <a:solidFill>
                    <a:srgbClr val="B92102"/>
                  </a:solidFill>
                </a:ln>
              </p:spPr>
            </p:sp>
            <p:sp>
              <p:nvSpPr>
                <p:cNvPr id="58" name="Freeform 58"/>
                <p:cNvSpPr/>
                <p:nvPr/>
              </p:nvSpPr>
              <p:spPr>
                <a:xfrm>
                  <a:off x="6376988" y="1401763"/>
                  <a:ext cx="66675" cy="9525"/>
                </a:xfrm>
                <a:custGeom>
                  <a:avLst/>
                  <a:gdLst/>
                  <a:ahLst/>
                  <a:cxnLst/>
                  <a:rect l="l" t="t" r="r" b="b"/>
                  <a:pathLst>
                    <a:path w="66675" h="9525">
                      <a:moveTo>
                        <a:pt x="0" y="0"/>
                      </a:moveTo>
                      <a:lnTo>
                        <a:pt x="66675" y="0"/>
                      </a:lnTo>
                    </a:path>
                  </a:pathLst>
                </a:custGeom>
                <a:noFill/>
                <a:ln w="22225">
                  <a:solidFill>
                    <a:srgbClr val="B92102"/>
                  </a:solidFill>
                </a:ln>
              </p:spPr>
            </p:sp>
            <p:sp>
              <p:nvSpPr>
                <p:cNvPr id="59" name="Freeform 59"/>
                <p:cNvSpPr/>
                <p:nvPr/>
              </p:nvSpPr>
              <p:spPr>
                <a:xfrm>
                  <a:off x="6376988" y="1446213"/>
                  <a:ext cx="66675" cy="9525"/>
                </a:xfrm>
                <a:custGeom>
                  <a:avLst/>
                  <a:gdLst/>
                  <a:ahLst/>
                  <a:cxnLst/>
                  <a:rect l="l" t="t" r="r" b="b"/>
                  <a:pathLst>
                    <a:path w="66675" h="9525">
                      <a:moveTo>
                        <a:pt x="0" y="0"/>
                      </a:moveTo>
                      <a:lnTo>
                        <a:pt x="66675" y="0"/>
                      </a:lnTo>
                    </a:path>
                  </a:pathLst>
                </a:custGeom>
                <a:noFill/>
                <a:ln w="22225">
                  <a:solidFill>
                    <a:srgbClr val="B92102"/>
                  </a:solidFill>
                </a:ln>
              </p:spPr>
            </p:sp>
          </p:grpSp>
          <p:sp>
            <p:nvSpPr>
              <p:cNvPr id="61" name="TextBox 61"/>
              <p:cNvSpPr txBox="1"/>
              <p:nvPr/>
            </p:nvSpPr>
            <p:spPr>
              <a:xfrm>
                <a:off x="5891212" y="166758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评审方案质量​​</a:t>
                </a:r>
              </a:p>
              <a:p>
                <a:pPr algn="l" marL="85280" indent="-85280">
                  <a:lnSpc>
                    <a:spcPts val="1200"/>
                  </a:lnSpc>
                  <a:buClr>
                    <a:srgbClr val="473633"/>
                  </a:buClr>
                  <a:buSzTx/>
                  <a:buFontTx/>
                  <a:buChar char="•"/>
                </a:pPr>
                <a:r>
                  <a:rPr lang="zh-CN" sz="790" dirty="0">
                    <a:solidFill>
                      <a:srgbClr val="473633"/>
                    </a:solidFill>
                    <a:latin typeface="+mn-lt"/>
                    <a:ea typeface="+mn-ea"/>
                    <a:cs typeface="+mn-cs"/>
                  </a:rPr>
                  <a:t>识别关键风险​​</a:t>
                </a:r>
              </a:p>
            </p:txBody>
          </p:sp>
          <p:grpSp>
            <p:nvGrpSpPr>
              <p:cNvPr id="65" name="Group 65"/>
              <p:cNvGrpSpPr/>
              <p:nvPr/>
            </p:nvGrpSpPr>
            <p:grpSpPr>
              <a:xfrm>
                <a:off x="7751763" y="1290638"/>
                <a:ext cx="155575" cy="200025"/>
                <a:chOff x="7751763" y="1290638"/>
                <a:chExt cx="155575" cy="200025"/>
              </a:xfrm>
            </p:grpSpPr>
            <p:sp>
              <p:nvSpPr>
                <p:cNvPr id="62" name="Freeform 62"/>
                <p:cNvSpPr/>
                <p:nvPr/>
              </p:nvSpPr>
              <p:spPr>
                <a:xfrm>
                  <a:off x="7751763" y="1357313"/>
                  <a:ext cx="155575" cy="133350"/>
                </a:xfrm>
                <a:custGeom>
                  <a:avLst/>
                  <a:gdLst/>
                  <a:ahLst/>
                  <a:cxnLst/>
                  <a:rect l="l" t="t" r="r" b="b"/>
                  <a:pathLst>
                    <a:path w="155575" h="133350">
                      <a:moveTo>
                        <a:pt x="33338" y="0"/>
                      </a:moveTo>
                      <a:lnTo>
                        <a:pt x="22225" y="0"/>
                      </a:lnTo>
                      <a:cubicBezTo>
                        <a:pt x="9950" y="0"/>
                        <a:pt x="0" y="9950"/>
                        <a:pt x="0" y="22225"/>
                      </a:cubicBezTo>
                      <a:lnTo>
                        <a:pt x="0" y="111125"/>
                      </a:lnTo>
                      <a:cubicBezTo>
                        <a:pt x="0" y="123400"/>
                        <a:pt x="9950" y="133350"/>
                        <a:pt x="22225" y="133350"/>
                      </a:cubicBezTo>
                      <a:lnTo>
                        <a:pt x="133350" y="133350"/>
                      </a:lnTo>
                      <a:cubicBezTo>
                        <a:pt x="145625" y="133350"/>
                        <a:pt x="155575" y="123400"/>
                        <a:pt x="155575" y="111125"/>
                      </a:cubicBezTo>
                      <a:lnTo>
                        <a:pt x="155575" y="22225"/>
                      </a:lnTo>
                      <a:cubicBezTo>
                        <a:pt x="155575" y="9950"/>
                        <a:pt x="145625" y="0"/>
                        <a:pt x="133350" y="0"/>
                      </a:cubicBezTo>
                      <a:lnTo>
                        <a:pt x="122238" y="0"/>
                      </a:lnTo>
                    </a:path>
                  </a:pathLst>
                </a:custGeom>
                <a:noFill/>
                <a:ln w="22225">
                  <a:solidFill>
                    <a:srgbClr val="B92102"/>
                  </a:solidFill>
                </a:ln>
              </p:spPr>
            </p:sp>
            <p:sp>
              <p:nvSpPr>
                <p:cNvPr id="63" name="Freeform 63"/>
                <p:cNvSpPr/>
                <p:nvPr/>
              </p:nvSpPr>
              <p:spPr>
                <a:xfrm>
                  <a:off x="7829550" y="1290638"/>
                  <a:ext cx="9525" cy="122238"/>
                </a:xfrm>
                <a:custGeom>
                  <a:avLst/>
                  <a:gdLst/>
                  <a:ahLst/>
                  <a:cxnLst/>
                  <a:rect l="l" t="t" r="r" b="b"/>
                  <a:pathLst>
                    <a:path w="9525" h="122238">
                      <a:moveTo>
                        <a:pt x="0" y="122238"/>
                      </a:moveTo>
                      <a:lnTo>
                        <a:pt x="0" y="0"/>
                      </a:lnTo>
                    </a:path>
                  </a:pathLst>
                </a:custGeom>
                <a:noFill/>
                <a:ln w="22225">
                  <a:solidFill>
                    <a:srgbClr val="B92102"/>
                  </a:solidFill>
                </a:ln>
              </p:spPr>
            </p:sp>
            <p:sp>
              <p:nvSpPr>
                <p:cNvPr id="64" name="Freeform 64"/>
                <p:cNvSpPr/>
                <p:nvPr/>
              </p:nvSpPr>
              <p:spPr>
                <a:xfrm>
                  <a:off x="7796213" y="1290638"/>
                  <a:ext cx="66675" cy="33338"/>
                </a:xfrm>
                <a:custGeom>
                  <a:avLst/>
                  <a:gdLst/>
                  <a:ahLst/>
                  <a:cxnLst/>
                  <a:rect l="l" t="t" r="r" b="b"/>
                  <a:pathLst>
                    <a:path w="66675" h="33338">
                      <a:moveTo>
                        <a:pt x="0" y="33338"/>
                      </a:moveTo>
                      <a:lnTo>
                        <a:pt x="33338" y="0"/>
                      </a:lnTo>
                      <a:lnTo>
                        <a:pt x="66675" y="33338"/>
                      </a:lnTo>
                    </a:path>
                  </a:pathLst>
                </a:custGeom>
                <a:noFill/>
                <a:ln w="22225">
                  <a:solidFill>
                    <a:srgbClr val="B92102"/>
                  </a:solidFill>
                </a:ln>
              </p:spPr>
            </p:sp>
          </p:grpSp>
          <p:sp>
            <p:nvSpPr>
              <p:cNvPr id="66" name="TextBox 66"/>
              <p:cNvSpPr txBox="1"/>
              <p:nvPr/>
            </p:nvSpPr>
            <p:spPr>
              <a:xfrm>
                <a:off x="7310438" y="166758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协调资源支持​​</a:t>
                </a:r>
              </a:p>
              <a:p>
                <a:pPr algn="l" marL="85280" indent="-85280">
                  <a:lnSpc>
                    <a:spcPts val="1200"/>
                  </a:lnSpc>
                  <a:buClr>
                    <a:srgbClr val="473633"/>
                  </a:buClr>
                  <a:buSzTx/>
                  <a:buFontTx/>
                  <a:buChar char="•"/>
                </a:pPr>
                <a:r>
                  <a:rPr lang="zh-CN" sz="790" dirty="0">
                    <a:solidFill>
                      <a:srgbClr val="473633"/>
                    </a:solidFill>
                    <a:latin typeface="+mn-lt"/>
                    <a:ea typeface="+mn-ea"/>
                    <a:cs typeface="+mn-cs"/>
                  </a:rPr>
                  <a:t>推动关键节点​​</a:t>
                </a:r>
              </a:p>
            </p:txBody>
          </p:sp>
          <p:grpSp>
            <p:nvGrpSpPr>
              <p:cNvPr id="71" name="Group 71"/>
              <p:cNvGrpSpPr/>
              <p:nvPr/>
            </p:nvGrpSpPr>
            <p:grpSpPr>
              <a:xfrm>
                <a:off x="9148763" y="1301750"/>
                <a:ext cx="200025" cy="187326"/>
                <a:chOff x="9148763" y="1301750"/>
                <a:chExt cx="200025" cy="187326"/>
              </a:xfrm>
            </p:grpSpPr>
            <p:sp>
              <p:nvSpPr>
                <p:cNvPr id="67" name="Freeform 67"/>
                <p:cNvSpPr/>
                <p:nvPr/>
              </p:nvSpPr>
              <p:spPr>
                <a:xfrm>
                  <a:off x="9148763" y="139065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B92102"/>
                  </a:solidFill>
                </a:ln>
              </p:spPr>
            </p:sp>
            <p:sp>
              <p:nvSpPr>
                <p:cNvPr id="68" name="Freeform 68"/>
                <p:cNvSpPr/>
                <p:nvPr/>
              </p:nvSpPr>
              <p:spPr>
                <a:xfrm>
                  <a:off x="9282113" y="134620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B92102"/>
                  </a:solidFill>
                </a:ln>
              </p:spPr>
            </p:sp>
            <p:sp>
              <p:nvSpPr>
                <p:cNvPr id="69" name="Freeform 69"/>
                <p:cNvSpPr/>
                <p:nvPr/>
              </p:nvSpPr>
              <p:spPr>
                <a:xfrm>
                  <a:off x="9215438" y="130175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B92102"/>
                  </a:solidFill>
                </a:ln>
              </p:spPr>
            </p:sp>
            <p:sp>
              <p:nvSpPr>
                <p:cNvPr id="70" name="Freeform 70"/>
                <p:cNvSpPr/>
                <p:nvPr/>
              </p:nvSpPr>
              <p:spPr>
                <a:xfrm>
                  <a:off x="9159875" y="1479551"/>
                  <a:ext cx="155575" cy="9525"/>
                </a:xfrm>
                <a:custGeom>
                  <a:avLst/>
                  <a:gdLst/>
                  <a:ahLst/>
                  <a:cxnLst/>
                  <a:rect l="l" t="t" r="r" b="b"/>
                  <a:pathLst>
                    <a:path w="155575" h="9525">
                      <a:moveTo>
                        <a:pt x="0" y="0"/>
                      </a:moveTo>
                      <a:lnTo>
                        <a:pt x="155575" y="0"/>
                      </a:lnTo>
                    </a:path>
                  </a:pathLst>
                </a:custGeom>
                <a:noFill/>
                <a:ln w="22225">
                  <a:solidFill>
                    <a:srgbClr val="B92102"/>
                  </a:solidFill>
                </a:ln>
              </p:spPr>
            </p:sp>
          </p:grpSp>
          <p:sp>
            <p:nvSpPr>
              <p:cNvPr id="72" name="TextBox 72"/>
              <p:cNvSpPr txBox="1"/>
              <p:nvPr/>
            </p:nvSpPr>
            <p:spPr>
              <a:xfrm>
                <a:off x="8729662" y="166758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复盘成交得失​​</a:t>
                </a:r>
              </a:p>
              <a:p>
                <a:pPr algn="l" marL="85280" indent="-85280">
                  <a:lnSpc>
                    <a:spcPts val="1200"/>
                  </a:lnSpc>
                  <a:buClr>
                    <a:srgbClr val="473633"/>
                  </a:buClr>
                  <a:buSzTx/>
                  <a:buFontTx/>
                  <a:buChar char="•"/>
                </a:pPr>
                <a:r>
                  <a:rPr lang="zh-CN" sz="790" dirty="0">
                    <a:solidFill>
                      <a:srgbClr val="473633"/>
                    </a:solidFill>
                    <a:latin typeface="+mn-lt"/>
                    <a:ea typeface="+mn-ea"/>
                    <a:cs typeface="+mn-cs"/>
                  </a:rPr>
                  <a:t>沉淀改进动作​​</a:t>
                </a:r>
              </a:p>
            </p:txBody>
          </p:sp>
        </p:grpSp>
        <p:grpSp>
          <p:nvGrpSpPr>
            <p:cNvPr id="118" name="row-branch"/>
            <p:cNvGrpSpPr/>
            <p:nvPr/>
          </p:nvGrpSpPr>
          <p:grpSpPr>
            <a:xfrm>
              <a:off x="475361" y="2271713"/>
              <a:ext cx="9061449" cy="709659"/>
              <a:chOff x="475361" y="2271713"/>
              <a:chExt cx="9061449" cy="709659"/>
            </a:xfrm>
          </p:grpSpPr>
          <p:grpSp>
            <p:nvGrpSpPr>
              <p:cNvPr id="82" name="Group 82"/>
              <p:cNvGrpSpPr/>
              <p:nvPr/>
            </p:nvGrpSpPr>
            <p:grpSpPr>
              <a:xfrm>
                <a:off x="733425" y="2333625"/>
                <a:ext cx="228599" cy="238124"/>
                <a:chOff x="733425" y="2333625"/>
                <a:chExt cx="228599" cy="238124"/>
              </a:xfrm>
            </p:grpSpPr>
            <p:sp>
              <p:nvSpPr>
                <p:cNvPr id="74" name="Freeform 74"/>
                <p:cNvSpPr/>
                <p:nvPr/>
              </p:nvSpPr>
              <p:spPr>
                <a:xfrm>
                  <a:off x="733425" y="2562224"/>
                  <a:ext cx="228599" cy="9525"/>
                </a:xfrm>
                <a:custGeom>
                  <a:avLst/>
                  <a:gdLst/>
                  <a:ahLst/>
                  <a:cxnLst/>
                  <a:rect l="l" t="t" r="r" b="b"/>
                  <a:pathLst>
                    <a:path w="228599" h="9525">
                      <a:moveTo>
                        <a:pt x="0" y="0"/>
                      </a:moveTo>
                      <a:lnTo>
                        <a:pt x="228599" y="0"/>
                      </a:lnTo>
                    </a:path>
                  </a:pathLst>
                </a:custGeom>
                <a:noFill/>
                <a:ln w="25400">
                  <a:solidFill>
                    <a:srgbClr val="B92102"/>
                  </a:solidFill>
                </a:ln>
              </p:spPr>
            </p:sp>
            <p:sp>
              <p:nvSpPr>
                <p:cNvPr id="75" name="Freeform 75"/>
                <p:cNvSpPr/>
                <p:nvPr/>
              </p:nvSpPr>
              <p:spPr>
                <a:xfrm>
                  <a:off x="733425" y="2422525"/>
                  <a:ext cx="228599" cy="9525"/>
                </a:xfrm>
                <a:custGeom>
                  <a:avLst/>
                  <a:gdLst/>
                  <a:ahLst/>
                  <a:cxnLst/>
                  <a:rect l="l" t="t" r="r" b="b"/>
                  <a:pathLst>
                    <a:path w="228599" h="9525">
                      <a:moveTo>
                        <a:pt x="0" y="0"/>
                      </a:moveTo>
                      <a:lnTo>
                        <a:pt x="228599" y="0"/>
                      </a:lnTo>
                    </a:path>
                  </a:pathLst>
                </a:custGeom>
                <a:noFill/>
                <a:ln w="25400">
                  <a:solidFill>
                    <a:srgbClr val="B92102"/>
                  </a:solidFill>
                </a:ln>
              </p:spPr>
            </p:sp>
            <p:sp>
              <p:nvSpPr>
                <p:cNvPr id="76" name="Freeform 76"/>
                <p:cNvSpPr/>
                <p:nvPr/>
              </p:nvSpPr>
              <p:spPr>
                <a:xfrm>
                  <a:off x="758825" y="2333625"/>
                  <a:ext cx="177800" cy="38100"/>
                </a:xfrm>
                <a:custGeom>
                  <a:avLst/>
                  <a:gdLst/>
                  <a:ahLst/>
                  <a:cxnLst/>
                  <a:rect l="l" t="t" r="r" b="b"/>
                  <a:pathLst>
                    <a:path w="177800" h="38100">
                      <a:moveTo>
                        <a:pt x="0" y="38100"/>
                      </a:moveTo>
                      <a:lnTo>
                        <a:pt x="88900" y="0"/>
                      </a:lnTo>
                      <a:lnTo>
                        <a:pt x="177800" y="38100"/>
                      </a:lnTo>
                    </a:path>
                  </a:pathLst>
                </a:custGeom>
                <a:noFill/>
                <a:ln w="25400">
                  <a:solidFill>
                    <a:srgbClr val="B92102"/>
                  </a:solidFill>
                </a:ln>
              </p:spPr>
            </p:sp>
            <p:sp>
              <p:nvSpPr>
                <p:cNvPr id="77" name="Freeform 77"/>
                <p:cNvSpPr/>
                <p:nvPr/>
              </p:nvSpPr>
              <p:spPr>
                <a:xfrm>
                  <a:off x="746125" y="2422525"/>
                  <a:ext cx="9525" cy="139700"/>
                </a:xfrm>
                <a:custGeom>
                  <a:avLst/>
                  <a:gdLst/>
                  <a:ahLst/>
                  <a:cxnLst/>
                  <a:rect l="l" t="t" r="r" b="b"/>
                  <a:pathLst>
                    <a:path w="9525" h="139700">
                      <a:moveTo>
                        <a:pt x="0" y="0"/>
                      </a:moveTo>
                      <a:lnTo>
                        <a:pt x="0" y="139700"/>
                      </a:lnTo>
                    </a:path>
                  </a:pathLst>
                </a:custGeom>
                <a:noFill/>
                <a:ln w="25400">
                  <a:solidFill>
                    <a:srgbClr val="B92102"/>
                  </a:solidFill>
                </a:ln>
              </p:spPr>
            </p:sp>
            <p:sp>
              <p:nvSpPr>
                <p:cNvPr id="78" name="Freeform 78"/>
                <p:cNvSpPr/>
                <p:nvPr/>
              </p:nvSpPr>
              <p:spPr>
                <a:xfrm>
                  <a:off x="949324" y="2422525"/>
                  <a:ext cx="9525" cy="139700"/>
                </a:xfrm>
                <a:custGeom>
                  <a:avLst/>
                  <a:gdLst/>
                  <a:ahLst/>
                  <a:cxnLst/>
                  <a:rect l="l" t="t" r="r" b="b"/>
                  <a:pathLst>
                    <a:path w="9525" h="139700">
                      <a:moveTo>
                        <a:pt x="0" y="0"/>
                      </a:moveTo>
                      <a:lnTo>
                        <a:pt x="0" y="139700"/>
                      </a:lnTo>
                    </a:path>
                  </a:pathLst>
                </a:custGeom>
                <a:noFill/>
                <a:ln w="25400">
                  <a:solidFill>
                    <a:srgbClr val="B92102"/>
                  </a:solidFill>
                </a:ln>
              </p:spPr>
            </p:sp>
            <p:sp>
              <p:nvSpPr>
                <p:cNvPr id="79" name="Freeform 79"/>
                <p:cNvSpPr/>
                <p:nvPr/>
              </p:nvSpPr>
              <p:spPr>
                <a:xfrm>
                  <a:off x="796925" y="2473325"/>
                  <a:ext cx="9525" cy="38100"/>
                </a:xfrm>
                <a:custGeom>
                  <a:avLst/>
                  <a:gdLst/>
                  <a:ahLst/>
                  <a:cxnLst/>
                  <a:rect l="l" t="t" r="r" b="b"/>
                  <a:pathLst>
                    <a:path w="9525" h="38100">
                      <a:moveTo>
                        <a:pt x="0" y="0"/>
                      </a:moveTo>
                      <a:lnTo>
                        <a:pt x="0" y="38100"/>
                      </a:lnTo>
                    </a:path>
                  </a:pathLst>
                </a:custGeom>
                <a:noFill/>
                <a:ln w="25400">
                  <a:solidFill>
                    <a:srgbClr val="B92102"/>
                  </a:solidFill>
                </a:ln>
              </p:spPr>
            </p:sp>
            <p:sp>
              <p:nvSpPr>
                <p:cNvPr id="80" name="Freeform 80"/>
                <p:cNvSpPr/>
                <p:nvPr/>
              </p:nvSpPr>
              <p:spPr>
                <a:xfrm>
                  <a:off x="847725" y="2473325"/>
                  <a:ext cx="9525" cy="38100"/>
                </a:xfrm>
                <a:custGeom>
                  <a:avLst/>
                  <a:gdLst/>
                  <a:ahLst/>
                  <a:cxnLst/>
                  <a:rect l="l" t="t" r="r" b="b"/>
                  <a:pathLst>
                    <a:path w="9525" h="38100">
                      <a:moveTo>
                        <a:pt x="0" y="0"/>
                      </a:moveTo>
                      <a:lnTo>
                        <a:pt x="0" y="38100"/>
                      </a:lnTo>
                    </a:path>
                  </a:pathLst>
                </a:custGeom>
                <a:noFill/>
                <a:ln w="25400">
                  <a:solidFill>
                    <a:srgbClr val="B92102"/>
                  </a:solidFill>
                </a:ln>
              </p:spPr>
            </p:sp>
            <p:sp>
              <p:nvSpPr>
                <p:cNvPr id="81" name="Freeform 81"/>
                <p:cNvSpPr/>
                <p:nvPr/>
              </p:nvSpPr>
              <p:spPr>
                <a:xfrm>
                  <a:off x="898524" y="2473325"/>
                  <a:ext cx="9525" cy="38100"/>
                </a:xfrm>
                <a:custGeom>
                  <a:avLst/>
                  <a:gdLst/>
                  <a:ahLst/>
                  <a:cxnLst/>
                  <a:rect l="l" t="t" r="r" b="b"/>
                  <a:pathLst>
                    <a:path w="9525" h="38100">
                      <a:moveTo>
                        <a:pt x="0" y="0"/>
                      </a:moveTo>
                      <a:lnTo>
                        <a:pt x="0" y="38100"/>
                      </a:lnTo>
                    </a:path>
                  </a:pathLst>
                </a:custGeom>
                <a:noFill/>
                <a:ln w="25400">
                  <a:solidFill>
                    <a:srgbClr val="B92102"/>
                  </a:solidFill>
                </a:ln>
              </p:spPr>
            </p:sp>
          </p:grpSp>
          <p:sp>
            <p:nvSpPr>
              <p:cNvPr id="83" name="TextBox 83"/>
              <p:cNvSpPr txBox="1"/>
              <p:nvPr/>
            </p:nvSpPr>
            <p:spPr>
              <a:xfrm>
                <a:off x="475361" y="2768679"/>
                <a:ext cx="744728" cy="212693"/>
              </a:xfrm>
              <a:prstGeom prst="rect">
                <a:avLst/>
              </a:prstGeom>
              <a:noFill/>
              <a:ln>
                <a:noFill/>
              </a:ln>
            </p:spPr>
            <p:txBody>
              <a:bodyPr wrap="none" lIns="0" tIns="0" rIns="0" bIns="0" anchor="t" anchorCtr="0">
                <a:spAutoFit/>
              </a:bodyPr>
              <a:lstStyle/>
              <a:p>
                <a:pPr algn="ctr"/>
                <a:r>
                  <a:rPr lang="zh-CN" sz="1090" b="1" dirty="0">
                    <a:solidFill>
                      <a:srgbClr val="6E1604"/>
                    </a:solidFill>
                    <a:latin typeface="+mn-lt"/>
                    <a:ea typeface="+mn-ea"/>
                    <a:cs typeface="+mn-cs"/>
                  </a:rPr>
                  <a:t>网点负责人</a:t>
                </a:r>
              </a:p>
            </p:txBody>
          </p:sp>
          <p:grpSp>
            <p:nvGrpSpPr>
              <p:cNvPr id="86" name="Group 86"/>
              <p:cNvGrpSpPr/>
              <p:nvPr/>
            </p:nvGrpSpPr>
            <p:grpSpPr>
              <a:xfrm>
                <a:off x="2049540" y="2273623"/>
                <a:ext cx="200901" cy="201212"/>
                <a:chOff x="2049540" y="2273623"/>
                <a:chExt cx="200901" cy="201212"/>
              </a:xfrm>
            </p:grpSpPr>
            <p:sp>
              <p:nvSpPr>
                <p:cNvPr id="84" name="Freeform 84"/>
                <p:cNvSpPr/>
                <p:nvPr/>
              </p:nvSpPr>
              <p:spPr>
                <a:xfrm>
                  <a:off x="2049540" y="2273623"/>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14223" y="109214"/>
                      </a:lnTo>
                      <a:cubicBezTo>
                        <a:pt x="101948" y="109214"/>
                        <a:pt x="91998" y="99264"/>
                        <a:pt x="91998" y="86989"/>
                      </a:cubicBezTo>
                      <a:lnTo>
                        <a:pt x="91998" y="9202"/>
                      </a:lnTo>
                      <a:cubicBezTo>
                        <a:pt x="91719" y="6542"/>
                        <a:pt x="90387" y="4105"/>
                        <a:pt x="88299" y="2435"/>
                      </a:cubicBezTo>
                      <a:cubicBezTo>
                        <a:pt x="86211" y="765"/>
                        <a:pt x="83541" y="0"/>
                        <a:pt x="80885" y="312"/>
                      </a:cubicBezTo>
                    </a:path>
                  </a:pathLst>
                </a:custGeom>
                <a:noFill/>
                <a:ln w="22225">
                  <a:solidFill>
                    <a:srgbClr val="B92102"/>
                  </a:solidFill>
                </a:ln>
              </p:spPr>
            </p:sp>
            <p:sp>
              <p:nvSpPr>
                <p:cNvPr id="85" name="Freeform 85"/>
                <p:cNvSpPr/>
                <p:nvPr/>
              </p:nvSpPr>
              <p:spPr>
                <a:xfrm>
                  <a:off x="2185988" y="2277269"/>
                  <a:ext cx="61119" cy="61119"/>
                </a:xfrm>
                <a:custGeom>
                  <a:avLst/>
                  <a:gdLst/>
                  <a:ahLst/>
                  <a:cxnLst/>
                  <a:rect l="l" t="t" r="r" b="b"/>
                  <a:pathLst>
                    <a:path w="61119" h="61119">
                      <a:moveTo>
                        <a:pt x="0" y="0"/>
                      </a:moveTo>
                      <a:cubicBezTo>
                        <a:pt x="28579" y="10063"/>
                        <a:pt x="51056" y="32540"/>
                        <a:pt x="61119" y="61119"/>
                      </a:cubicBezTo>
                      <a:lnTo>
                        <a:pt x="11113" y="61119"/>
                      </a:lnTo>
                      <a:cubicBezTo>
                        <a:pt x="4975" y="61119"/>
                        <a:pt x="0" y="56144"/>
                        <a:pt x="0" y="50006"/>
                      </a:cubicBezTo>
                      <a:lnTo>
                        <a:pt x="0" y="0"/>
                      </a:lnTo>
                    </a:path>
                  </a:pathLst>
                </a:custGeom>
                <a:noFill/>
                <a:ln w="22225">
                  <a:solidFill>
                    <a:srgbClr val="B92102"/>
                  </a:solidFill>
                </a:ln>
              </p:spPr>
            </p:sp>
          </p:grpSp>
          <p:sp>
            <p:nvSpPr>
              <p:cNvPr id="87" name="TextBox 87"/>
              <p:cNvSpPr txBox="1"/>
              <p:nvPr/>
            </p:nvSpPr>
            <p:spPr>
              <a:xfrm>
                <a:off x="1633538" y="264866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分解网点目标​​</a:t>
                </a:r>
              </a:p>
              <a:p>
                <a:pPr algn="l" marL="85280" indent="-85280">
                  <a:lnSpc>
                    <a:spcPts val="1200"/>
                  </a:lnSpc>
                  <a:buClr>
                    <a:srgbClr val="473633"/>
                  </a:buClr>
                  <a:buSzTx/>
                  <a:buFontTx/>
                  <a:buChar char="•"/>
                </a:pPr>
                <a:r>
                  <a:rPr lang="zh-CN" sz="790" dirty="0">
                    <a:solidFill>
                      <a:srgbClr val="473633"/>
                    </a:solidFill>
                    <a:latin typeface="+mn-lt"/>
                    <a:ea typeface="+mn-ea"/>
                    <a:cs typeface="+mn-cs"/>
                  </a:rPr>
                  <a:t>设定过程指标​​</a:t>
                </a:r>
              </a:p>
            </p:txBody>
          </p:sp>
          <p:grpSp>
            <p:nvGrpSpPr>
              <p:cNvPr id="94" name="Group 94"/>
              <p:cNvGrpSpPr/>
              <p:nvPr/>
            </p:nvGrpSpPr>
            <p:grpSpPr>
              <a:xfrm>
                <a:off x="3477419" y="2288381"/>
                <a:ext cx="183357" cy="161132"/>
                <a:chOff x="3477419" y="2288381"/>
                <a:chExt cx="183357" cy="161132"/>
              </a:xfrm>
            </p:grpSpPr>
            <p:sp>
              <p:nvSpPr>
                <p:cNvPr id="88" name="Freeform 88"/>
                <p:cNvSpPr/>
                <p:nvPr/>
              </p:nvSpPr>
              <p:spPr>
                <a:xfrm>
                  <a:off x="3477419" y="2288381"/>
                  <a:ext cx="44450" cy="27781"/>
                </a:xfrm>
                <a:custGeom>
                  <a:avLst/>
                  <a:gdLst/>
                  <a:ahLst/>
                  <a:cxnLst/>
                  <a:rect l="l" t="t" r="r" b="b"/>
                  <a:pathLst>
                    <a:path w="44450" h="27781">
                      <a:moveTo>
                        <a:pt x="0" y="11113"/>
                      </a:moveTo>
                      <a:lnTo>
                        <a:pt x="16669" y="27781"/>
                      </a:lnTo>
                      <a:lnTo>
                        <a:pt x="44450" y="0"/>
                      </a:lnTo>
                    </a:path>
                  </a:pathLst>
                </a:custGeom>
                <a:noFill/>
                <a:ln w="22225">
                  <a:solidFill>
                    <a:srgbClr val="B92102"/>
                  </a:solidFill>
                </a:ln>
              </p:spPr>
            </p:sp>
            <p:sp>
              <p:nvSpPr>
                <p:cNvPr id="89" name="Freeform 89"/>
                <p:cNvSpPr/>
                <p:nvPr/>
              </p:nvSpPr>
              <p:spPr>
                <a:xfrm>
                  <a:off x="3477419" y="2355057"/>
                  <a:ext cx="44450" cy="27781"/>
                </a:xfrm>
                <a:custGeom>
                  <a:avLst/>
                  <a:gdLst/>
                  <a:ahLst/>
                  <a:cxnLst/>
                  <a:rect l="l" t="t" r="r" b="b"/>
                  <a:pathLst>
                    <a:path w="44450" h="27781">
                      <a:moveTo>
                        <a:pt x="0" y="11113"/>
                      </a:moveTo>
                      <a:lnTo>
                        <a:pt x="16669" y="27781"/>
                      </a:lnTo>
                      <a:lnTo>
                        <a:pt x="44450" y="0"/>
                      </a:lnTo>
                    </a:path>
                  </a:pathLst>
                </a:custGeom>
                <a:noFill/>
                <a:ln w="22225">
                  <a:solidFill>
                    <a:srgbClr val="B92102"/>
                  </a:solidFill>
                </a:ln>
              </p:spPr>
            </p:sp>
            <p:sp>
              <p:nvSpPr>
                <p:cNvPr id="90" name="Freeform 90"/>
                <p:cNvSpPr/>
                <p:nvPr/>
              </p:nvSpPr>
              <p:spPr>
                <a:xfrm>
                  <a:off x="3477419" y="2421732"/>
                  <a:ext cx="44450" cy="27781"/>
                </a:xfrm>
                <a:custGeom>
                  <a:avLst/>
                  <a:gdLst/>
                  <a:ahLst/>
                  <a:cxnLst/>
                  <a:rect l="l" t="t" r="r" b="b"/>
                  <a:pathLst>
                    <a:path w="44450" h="27781">
                      <a:moveTo>
                        <a:pt x="0" y="11113"/>
                      </a:moveTo>
                      <a:lnTo>
                        <a:pt x="16669" y="27781"/>
                      </a:lnTo>
                      <a:lnTo>
                        <a:pt x="44450" y="0"/>
                      </a:lnTo>
                    </a:path>
                  </a:pathLst>
                </a:custGeom>
                <a:noFill/>
                <a:ln w="22225">
                  <a:solidFill>
                    <a:srgbClr val="B92102"/>
                  </a:solidFill>
                </a:ln>
              </p:spPr>
            </p:sp>
            <p:sp>
              <p:nvSpPr>
                <p:cNvPr id="91" name="Freeform 91"/>
                <p:cNvSpPr/>
                <p:nvPr/>
              </p:nvSpPr>
              <p:spPr>
                <a:xfrm>
                  <a:off x="3560763" y="2305050"/>
                  <a:ext cx="100013" cy="9525"/>
                </a:xfrm>
                <a:custGeom>
                  <a:avLst/>
                  <a:gdLst/>
                  <a:ahLst/>
                  <a:cxnLst/>
                  <a:rect l="l" t="t" r="r" b="b"/>
                  <a:pathLst>
                    <a:path w="100013" h="9525">
                      <a:moveTo>
                        <a:pt x="0" y="0"/>
                      </a:moveTo>
                      <a:lnTo>
                        <a:pt x="100013" y="0"/>
                      </a:lnTo>
                    </a:path>
                  </a:pathLst>
                </a:custGeom>
                <a:noFill/>
                <a:ln w="22225">
                  <a:solidFill>
                    <a:srgbClr val="B92102"/>
                  </a:solidFill>
                </a:ln>
              </p:spPr>
            </p:sp>
            <p:sp>
              <p:nvSpPr>
                <p:cNvPr id="92" name="Freeform 92"/>
                <p:cNvSpPr/>
                <p:nvPr/>
              </p:nvSpPr>
              <p:spPr>
                <a:xfrm>
                  <a:off x="3560763" y="2371725"/>
                  <a:ext cx="100013" cy="9525"/>
                </a:xfrm>
                <a:custGeom>
                  <a:avLst/>
                  <a:gdLst/>
                  <a:ahLst/>
                  <a:cxnLst/>
                  <a:rect l="l" t="t" r="r" b="b"/>
                  <a:pathLst>
                    <a:path w="100013" h="9525">
                      <a:moveTo>
                        <a:pt x="0" y="0"/>
                      </a:moveTo>
                      <a:lnTo>
                        <a:pt x="100013" y="0"/>
                      </a:lnTo>
                    </a:path>
                  </a:pathLst>
                </a:custGeom>
                <a:noFill/>
                <a:ln w="22225">
                  <a:solidFill>
                    <a:srgbClr val="B92102"/>
                  </a:solidFill>
                </a:ln>
              </p:spPr>
            </p:sp>
            <p:sp>
              <p:nvSpPr>
                <p:cNvPr id="93" name="Freeform 93"/>
                <p:cNvSpPr/>
                <p:nvPr/>
              </p:nvSpPr>
              <p:spPr>
                <a:xfrm>
                  <a:off x="3560763" y="2438401"/>
                  <a:ext cx="100013" cy="9525"/>
                </a:xfrm>
                <a:custGeom>
                  <a:avLst/>
                  <a:gdLst/>
                  <a:ahLst/>
                  <a:cxnLst/>
                  <a:rect l="l" t="t" r="r" b="b"/>
                  <a:pathLst>
                    <a:path w="100013" h="9525">
                      <a:moveTo>
                        <a:pt x="0" y="0"/>
                      </a:moveTo>
                      <a:lnTo>
                        <a:pt x="100013" y="0"/>
                      </a:lnTo>
                    </a:path>
                  </a:pathLst>
                </a:custGeom>
                <a:noFill/>
                <a:ln w="22225">
                  <a:solidFill>
                    <a:srgbClr val="B92102"/>
                  </a:solidFill>
                </a:ln>
              </p:spPr>
            </p:sp>
          </p:grpSp>
          <p:sp>
            <p:nvSpPr>
              <p:cNvPr id="95" name="TextBox 95"/>
              <p:cNvSpPr txBox="1"/>
              <p:nvPr/>
            </p:nvSpPr>
            <p:spPr>
              <a:xfrm>
                <a:off x="3052762" y="264866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分配客户名单​​</a:t>
                </a:r>
              </a:p>
              <a:p>
                <a:pPr algn="l" marL="85280" indent="-85280">
                  <a:lnSpc>
                    <a:spcPts val="1200"/>
                  </a:lnSpc>
                  <a:buClr>
                    <a:srgbClr val="473633"/>
                  </a:buClr>
                  <a:buSzTx/>
                  <a:buFontTx/>
                  <a:buChar char="•"/>
                </a:pPr>
                <a:r>
                  <a:rPr lang="zh-CN" sz="790" dirty="0">
                    <a:solidFill>
                      <a:srgbClr val="473633"/>
                    </a:solidFill>
                    <a:latin typeface="+mn-lt"/>
                    <a:ea typeface="+mn-ea"/>
                    <a:cs typeface="+mn-cs"/>
                  </a:rPr>
                  <a:t>平衡人力负荷​​</a:t>
                </a:r>
              </a:p>
            </p:txBody>
          </p:sp>
          <p:grpSp>
            <p:nvGrpSpPr>
              <p:cNvPr id="98" name="Group 98"/>
              <p:cNvGrpSpPr/>
              <p:nvPr/>
            </p:nvGrpSpPr>
            <p:grpSpPr>
              <a:xfrm>
                <a:off x="4891088" y="2271713"/>
                <a:ext cx="200025" cy="200025"/>
                <a:chOff x="4891088" y="2271713"/>
                <a:chExt cx="200025" cy="200025"/>
              </a:xfrm>
            </p:grpSpPr>
            <p:sp>
              <p:nvSpPr>
                <p:cNvPr id="96" name="Freeform 96"/>
                <p:cNvSpPr/>
                <p:nvPr/>
              </p:nvSpPr>
              <p:spPr>
                <a:xfrm>
                  <a:off x="4891088" y="2271713"/>
                  <a:ext cx="155575" cy="155575"/>
                </a:xfrm>
                <a:custGeom>
                  <a:avLst/>
                  <a:gdLst/>
                  <a:ahLst/>
                  <a:cxnLst/>
                  <a:rect l="l" t="t" r="r" b="b"/>
                  <a:pathLst>
                    <a:path w="155575" h="155575">
                      <a:moveTo>
                        <a:pt x="0" y="77788"/>
                      </a:moveTo>
                      <a:cubicBezTo>
                        <a:pt x="0" y="120749"/>
                        <a:pt x="34827" y="155575"/>
                        <a:pt x="77788" y="155575"/>
                      </a:cubicBezTo>
                      <a:cubicBezTo>
                        <a:pt x="120749" y="155575"/>
                        <a:pt x="155575" y="120749"/>
                        <a:pt x="155575" y="77788"/>
                      </a:cubicBezTo>
                      <a:cubicBezTo>
                        <a:pt x="155575" y="34827"/>
                        <a:pt x="120749" y="0"/>
                        <a:pt x="77788" y="0"/>
                      </a:cubicBezTo>
                      <a:cubicBezTo>
                        <a:pt x="34827" y="0"/>
                        <a:pt x="0" y="34827"/>
                        <a:pt x="0" y="77788"/>
                      </a:cubicBezTo>
                    </a:path>
                  </a:pathLst>
                </a:custGeom>
                <a:noFill/>
                <a:ln w="22225">
                  <a:solidFill>
                    <a:srgbClr val="B92102"/>
                  </a:solidFill>
                </a:ln>
              </p:spPr>
            </p:sp>
            <p:sp>
              <p:nvSpPr>
                <p:cNvPr id="97" name="Freeform 97"/>
                <p:cNvSpPr/>
                <p:nvPr/>
              </p:nvSpPr>
              <p:spPr>
                <a:xfrm>
                  <a:off x="5024438" y="2405063"/>
                  <a:ext cx="66675" cy="66675"/>
                </a:xfrm>
                <a:custGeom>
                  <a:avLst/>
                  <a:gdLst/>
                  <a:ahLst/>
                  <a:cxnLst/>
                  <a:rect l="l" t="t" r="r" b="b"/>
                  <a:pathLst>
                    <a:path w="66675" h="66675">
                      <a:moveTo>
                        <a:pt x="66675" y="66675"/>
                      </a:moveTo>
                      <a:lnTo>
                        <a:pt x="0" y="0"/>
                      </a:lnTo>
                    </a:path>
                  </a:pathLst>
                </a:custGeom>
                <a:noFill/>
                <a:ln w="22225">
                  <a:solidFill>
                    <a:srgbClr val="B92102"/>
                  </a:solidFill>
                </a:ln>
              </p:spPr>
            </p:sp>
          </p:grpSp>
          <p:sp>
            <p:nvSpPr>
              <p:cNvPr id="99" name="TextBox 99"/>
              <p:cNvSpPr txBox="1"/>
              <p:nvPr/>
            </p:nvSpPr>
            <p:spPr>
              <a:xfrm>
                <a:off x="4471988" y="264866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监督首触执行​​</a:t>
                </a:r>
              </a:p>
              <a:p>
                <a:pPr algn="l" marL="85280" indent="-85280">
                  <a:lnSpc>
                    <a:spcPts val="1200"/>
                  </a:lnSpc>
                  <a:buClr>
                    <a:srgbClr val="473633"/>
                  </a:buClr>
                  <a:buSzTx/>
                  <a:buFontTx/>
                  <a:buChar char="•"/>
                </a:pPr>
                <a:r>
                  <a:rPr lang="zh-CN" sz="790" dirty="0">
                    <a:solidFill>
                      <a:srgbClr val="473633"/>
                    </a:solidFill>
                    <a:latin typeface="+mn-lt"/>
                    <a:ea typeface="+mn-ea"/>
                    <a:cs typeface="+mn-cs"/>
                  </a:rPr>
                  <a:t>把关准入标准​​</a:t>
                </a:r>
              </a:p>
            </p:txBody>
          </p:sp>
          <p:grpSp>
            <p:nvGrpSpPr>
              <p:cNvPr id="105" name="Group 105"/>
              <p:cNvGrpSpPr/>
              <p:nvPr/>
            </p:nvGrpSpPr>
            <p:grpSpPr>
              <a:xfrm>
                <a:off x="6332538" y="2271713"/>
                <a:ext cx="155575" cy="200026"/>
                <a:chOff x="6332538" y="2271713"/>
                <a:chExt cx="155575" cy="200026"/>
              </a:xfrm>
            </p:grpSpPr>
            <p:sp>
              <p:nvSpPr>
                <p:cNvPr id="100" name="Freeform 100"/>
                <p:cNvSpPr/>
                <p:nvPr/>
              </p:nvSpPr>
              <p:spPr>
                <a:xfrm>
                  <a:off x="6432550" y="2271713"/>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22225">
                  <a:solidFill>
                    <a:srgbClr val="B92102"/>
                  </a:solidFill>
                </a:ln>
              </p:spPr>
            </p:sp>
            <p:sp>
              <p:nvSpPr>
                <p:cNvPr id="101" name="Freeform 101"/>
                <p:cNvSpPr/>
                <p:nvPr/>
              </p:nvSpPr>
              <p:spPr>
                <a:xfrm>
                  <a:off x="6332538" y="2271713"/>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22225">
                  <a:solidFill>
                    <a:srgbClr val="B92102"/>
                  </a:solidFill>
                </a:ln>
              </p:spPr>
            </p:sp>
            <p:sp>
              <p:nvSpPr>
                <p:cNvPr id="102" name="Freeform 102"/>
                <p:cNvSpPr/>
                <p:nvPr/>
              </p:nvSpPr>
              <p:spPr>
                <a:xfrm>
                  <a:off x="6376988" y="2338388"/>
                  <a:ext cx="11113" cy="9525"/>
                </a:xfrm>
                <a:custGeom>
                  <a:avLst/>
                  <a:gdLst/>
                  <a:ahLst/>
                  <a:cxnLst/>
                  <a:rect l="l" t="t" r="r" b="b"/>
                  <a:pathLst>
                    <a:path w="11113" h="9525">
                      <a:moveTo>
                        <a:pt x="0" y="0"/>
                      </a:moveTo>
                      <a:lnTo>
                        <a:pt x="11113" y="0"/>
                      </a:lnTo>
                    </a:path>
                  </a:pathLst>
                </a:custGeom>
                <a:noFill/>
                <a:ln w="22225">
                  <a:solidFill>
                    <a:srgbClr val="B92102"/>
                  </a:solidFill>
                </a:ln>
              </p:spPr>
            </p:sp>
            <p:sp>
              <p:nvSpPr>
                <p:cNvPr id="103" name="Freeform 103"/>
                <p:cNvSpPr/>
                <p:nvPr/>
              </p:nvSpPr>
              <p:spPr>
                <a:xfrm>
                  <a:off x="6376988" y="2382838"/>
                  <a:ext cx="66675" cy="9525"/>
                </a:xfrm>
                <a:custGeom>
                  <a:avLst/>
                  <a:gdLst/>
                  <a:ahLst/>
                  <a:cxnLst/>
                  <a:rect l="l" t="t" r="r" b="b"/>
                  <a:pathLst>
                    <a:path w="66675" h="9525">
                      <a:moveTo>
                        <a:pt x="0" y="0"/>
                      </a:moveTo>
                      <a:lnTo>
                        <a:pt x="66675" y="0"/>
                      </a:lnTo>
                    </a:path>
                  </a:pathLst>
                </a:custGeom>
                <a:noFill/>
                <a:ln w="22225">
                  <a:solidFill>
                    <a:srgbClr val="B92102"/>
                  </a:solidFill>
                </a:ln>
              </p:spPr>
            </p:sp>
            <p:sp>
              <p:nvSpPr>
                <p:cNvPr id="104" name="Freeform 104"/>
                <p:cNvSpPr/>
                <p:nvPr/>
              </p:nvSpPr>
              <p:spPr>
                <a:xfrm>
                  <a:off x="6376988" y="2427288"/>
                  <a:ext cx="66675" cy="9525"/>
                </a:xfrm>
                <a:custGeom>
                  <a:avLst/>
                  <a:gdLst/>
                  <a:ahLst/>
                  <a:cxnLst/>
                  <a:rect l="l" t="t" r="r" b="b"/>
                  <a:pathLst>
                    <a:path w="66675" h="9525">
                      <a:moveTo>
                        <a:pt x="0" y="0"/>
                      </a:moveTo>
                      <a:lnTo>
                        <a:pt x="66675" y="0"/>
                      </a:lnTo>
                    </a:path>
                  </a:pathLst>
                </a:custGeom>
                <a:noFill/>
                <a:ln w="22225">
                  <a:solidFill>
                    <a:srgbClr val="B92102"/>
                  </a:solidFill>
                </a:ln>
              </p:spPr>
            </p:sp>
          </p:grpSp>
          <p:sp>
            <p:nvSpPr>
              <p:cNvPr id="106" name="TextBox 106"/>
              <p:cNvSpPr txBox="1"/>
              <p:nvPr/>
            </p:nvSpPr>
            <p:spPr>
              <a:xfrm>
                <a:off x="5891212" y="264866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审核方案要点​​</a:t>
                </a:r>
              </a:p>
              <a:p>
                <a:pPr algn="l" marL="85280" indent="-85280">
                  <a:lnSpc>
                    <a:spcPts val="1200"/>
                  </a:lnSpc>
                  <a:buClr>
                    <a:srgbClr val="473633"/>
                  </a:buClr>
                  <a:buSzTx/>
                  <a:buFontTx/>
                  <a:buChar char="•"/>
                </a:pPr>
                <a:r>
                  <a:rPr lang="zh-CN" sz="790" dirty="0">
                    <a:solidFill>
                      <a:srgbClr val="473633"/>
                    </a:solidFill>
                    <a:latin typeface="+mn-lt"/>
                    <a:ea typeface="+mn-ea"/>
                    <a:cs typeface="+mn-cs"/>
                  </a:rPr>
                  <a:t>确认跟进计划​​</a:t>
                </a:r>
              </a:p>
            </p:txBody>
          </p:sp>
          <p:grpSp>
            <p:nvGrpSpPr>
              <p:cNvPr id="111" name="Group 111"/>
              <p:cNvGrpSpPr/>
              <p:nvPr/>
            </p:nvGrpSpPr>
            <p:grpSpPr>
              <a:xfrm>
                <a:off x="7751763" y="2282825"/>
                <a:ext cx="166687" cy="188913"/>
                <a:chOff x="7751763" y="2282825"/>
                <a:chExt cx="166687" cy="188913"/>
              </a:xfrm>
            </p:grpSpPr>
            <p:sp>
              <p:nvSpPr>
                <p:cNvPr id="107" name="Freeform 107"/>
                <p:cNvSpPr/>
                <p:nvPr/>
              </p:nvSpPr>
              <p:spPr>
                <a:xfrm>
                  <a:off x="7751763" y="2282825"/>
                  <a:ext cx="133350" cy="177801"/>
                </a:xfrm>
                <a:custGeom>
                  <a:avLst/>
                  <a:gdLst/>
                  <a:ahLst/>
                  <a:cxnLst/>
                  <a:rect l="l" t="t" r="r" b="b"/>
                  <a:pathLst>
                    <a:path w="133350" h="177801">
                      <a:moveTo>
                        <a:pt x="51284" y="177801"/>
                      </a:moveTo>
                      <a:lnTo>
                        <a:pt x="22225" y="177801"/>
                      </a:lnTo>
                      <a:cubicBezTo>
                        <a:pt x="9950" y="177801"/>
                        <a:pt x="0" y="167850"/>
                        <a:pt x="0" y="155575"/>
                      </a:cubicBezTo>
                      <a:lnTo>
                        <a:pt x="0" y="22225"/>
                      </a:lnTo>
                      <a:cubicBezTo>
                        <a:pt x="0" y="9950"/>
                        <a:pt x="9950" y="0"/>
                        <a:pt x="22225" y="0"/>
                      </a:cubicBezTo>
                      <a:lnTo>
                        <a:pt x="111125" y="0"/>
                      </a:lnTo>
                      <a:cubicBezTo>
                        <a:pt x="123400" y="0"/>
                        <a:pt x="133350" y="9950"/>
                        <a:pt x="133350" y="22225"/>
                      </a:cubicBezTo>
                      <a:lnTo>
                        <a:pt x="133350" y="111125"/>
                      </a:lnTo>
                    </a:path>
                  </a:pathLst>
                </a:custGeom>
                <a:noFill/>
                <a:ln w="22225">
                  <a:solidFill>
                    <a:srgbClr val="B92102"/>
                  </a:solidFill>
                </a:ln>
              </p:spPr>
            </p:sp>
            <p:sp>
              <p:nvSpPr>
                <p:cNvPr id="108" name="Freeform 108"/>
                <p:cNvSpPr/>
                <p:nvPr/>
              </p:nvSpPr>
              <p:spPr>
                <a:xfrm>
                  <a:off x="7851775" y="2427288"/>
                  <a:ext cx="66675" cy="44450"/>
                </a:xfrm>
                <a:custGeom>
                  <a:avLst/>
                  <a:gdLst/>
                  <a:ahLst/>
                  <a:cxnLst/>
                  <a:rect l="l" t="t" r="r" b="b"/>
                  <a:pathLst>
                    <a:path w="66675" h="44450">
                      <a:moveTo>
                        <a:pt x="0" y="22225"/>
                      </a:moveTo>
                      <a:lnTo>
                        <a:pt x="22225" y="44450"/>
                      </a:lnTo>
                      <a:lnTo>
                        <a:pt x="66675" y="0"/>
                      </a:lnTo>
                    </a:path>
                  </a:pathLst>
                </a:custGeom>
                <a:noFill/>
                <a:ln w="22225">
                  <a:solidFill>
                    <a:srgbClr val="B92102"/>
                  </a:solidFill>
                </a:ln>
              </p:spPr>
            </p:sp>
            <p:sp>
              <p:nvSpPr>
                <p:cNvPr id="109" name="Freeform 109"/>
                <p:cNvSpPr/>
                <p:nvPr/>
              </p:nvSpPr>
              <p:spPr>
                <a:xfrm>
                  <a:off x="7796213" y="2327275"/>
                  <a:ext cx="44450" cy="9525"/>
                </a:xfrm>
                <a:custGeom>
                  <a:avLst/>
                  <a:gdLst/>
                  <a:ahLst/>
                  <a:cxnLst/>
                  <a:rect l="l" t="t" r="r" b="b"/>
                  <a:pathLst>
                    <a:path w="44450" h="9525">
                      <a:moveTo>
                        <a:pt x="0" y="0"/>
                      </a:moveTo>
                      <a:lnTo>
                        <a:pt x="44450" y="0"/>
                      </a:lnTo>
                    </a:path>
                  </a:pathLst>
                </a:custGeom>
                <a:noFill/>
                <a:ln w="22225">
                  <a:solidFill>
                    <a:srgbClr val="B92102"/>
                  </a:solidFill>
                </a:ln>
              </p:spPr>
            </p:sp>
            <p:sp>
              <p:nvSpPr>
                <p:cNvPr id="110" name="Freeform 110"/>
                <p:cNvSpPr/>
                <p:nvPr/>
              </p:nvSpPr>
              <p:spPr>
                <a:xfrm>
                  <a:off x="7796213" y="2371725"/>
                  <a:ext cx="22225" cy="9525"/>
                </a:xfrm>
                <a:custGeom>
                  <a:avLst/>
                  <a:gdLst/>
                  <a:ahLst/>
                  <a:cxnLst/>
                  <a:rect l="l" t="t" r="r" b="b"/>
                  <a:pathLst>
                    <a:path w="22225" h="9525">
                      <a:moveTo>
                        <a:pt x="0" y="0"/>
                      </a:moveTo>
                      <a:lnTo>
                        <a:pt x="22225" y="0"/>
                      </a:lnTo>
                    </a:path>
                  </a:pathLst>
                </a:custGeom>
                <a:noFill/>
                <a:ln w="22225">
                  <a:solidFill>
                    <a:srgbClr val="B92102"/>
                  </a:solidFill>
                </a:ln>
              </p:spPr>
            </p:sp>
          </p:grpSp>
          <p:sp>
            <p:nvSpPr>
              <p:cNvPr id="112" name="TextBox 112"/>
              <p:cNvSpPr txBox="1"/>
              <p:nvPr/>
            </p:nvSpPr>
            <p:spPr>
              <a:xfrm>
                <a:off x="7310438" y="264866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审批商务条款​​</a:t>
                </a:r>
              </a:p>
              <a:p>
                <a:pPr algn="l" marL="85280" indent="-85280">
                  <a:lnSpc>
                    <a:spcPts val="1200"/>
                  </a:lnSpc>
                  <a:buClr>
                    <a:srgbClr val="473633"/>
                  </a:buClr>
                  <a:buSzTx/>
                  <a:buFontTx/>
                  <a:buChar char="•"/>
                </a:pPr>
                <a:r>
                  <a:rPr lang="zh-CN" sz="790" dirty="0">
                    <a:solidFill>
                      <a:srgbClr val="473633"/>
                    </a:solidFill>
                    <a:latin typeface="+mn-lt"/>
                    <a:ea typeface="+mn-ea"/>
                    <a:cs typeface="+mn-cs"/>
                  </a:rPr>
                  <a:t>跟踪进度风险​​</a:t>
                </a:r>
              </a:p>
            </p:txBody>
          </p:sp>
          <p:grpSp>
            <p:nvGrpSpPr>
              <p:cNvPr id="116" name="Group 116"/>
              <p:cNvGrpSpPr/>
              <p:nvPr/>
            </p:nvGrpSpPr>
            <p:grpSpPr>
              <a:xfrm>
                <a:off x="9170988" y="2282825"/>
                <a:ext cx="155575" cy="177801"/>
                <a:chOff x="9170988" y="2282825"/>
                <a:chExt cx="155575" cy="177801"/>
              </a:xfrm>
            </p:grpSpPr>
            <p:sp>
              <p:nvSpPr>
                <p:cNvPr id="113" name="Freeform 113"/>
                <p:cNvSpPr/>
                <p:nvPr/>
              </p:nvSpPr>
              <p:spPr>
                <a:xfrm>
                  <a:off x="9170988" y="2282825"/>
                  <a:ext cx="155575" cy="177801"/>
                </a:xfrm>
                <a:custGeom>
                  <a:avLst/>
                  <a:gdLst/>
                  <a:ahLst/>
                  <a:cxnLst/>
                  <a:rect l="l" t="t" r="r" b="b"/>
                  <a:pathLst>
                    <a:path w="155575" h="177801">
                      <a:moveTo>
                        <a:pt x="155575" y="0"/>
                      </a:moveTo>
                      <a:lnTo>
                        <a:pt x="155575" y="177801"/>
                      </a:lnTo>
                      <a:lnTo>
                        <a:pt x="22225" y="177801"/>
                      </a:lnTo>
                      <a:cubicBezTo>
                        <a:pt x="9950" y="177801"/>
                        <a:pt x="0" y="167850"/>
                        <a:pt x="0" y="155575"/>
                      </a:cubicBezTo>
                      <a:lnTo>
                        <a:pt x="0" y="22225"/>
                      </a:lnTo>
                      <a:cubicBezTo>
                        <a:pt x="0" y="9950"/>
                        <a:pt x="9950" y="0"/>
                        <a:pt x="22225" y="0"/>
                      </a:cubicBezTo>
                      <a:lnTo>
                        <a:pt x="155575" y="0"/>
                      </a:lnTo>
                    </a:path>
                  </a:pathLst>
                </a:custGeom>
                <a:noFill/>
                <a:ln w="22225">
                  <a:solidFill>
                    <a:srgbClr val="B92102"/>
                  </a:solidFill>
                </a:ln>
              </p:spPr>
            </p:sp>
            <p:sp>
              <p:nvSpPr>
                <p:cNvPr id="114" name="Freeform 114"/>
                <p:cNvSpPr/>
                <p:nvPr/>
              </p:nvSpPr>
              <p:spPr>
                <a:xfrm>
                  <a:off x="9170988" y="2416176"/>
                  <a:ext cx="155575" cy="22225"/>
                </a:xfrm>
                <a:custGeom>
                  <a:avLst/>
                  <a:gdLst/>
                  <a:ahLst/>
                  <a:cxnLst/>
                  <a:rect l="l" t="t" r="r" b="b"/>
                  <a:pathLst>
                    <a:path w="155575" h="22225">
                      <a:moveTo>
                        <a:pt x="155575" y="0"/>
                      </a:moveTo>
                      <a:lnTo>
                        <a:pt x="22225" y="0"/>
                      </a:lnTo>
                      <a:cubicBezTo>
                        <a:pt x="9950" y="0"/>
                        <a:pt x="0" y="9950"/>
                        <a:pt x="0" y="22225"/>
                      </a:cubicBezTo>
                    </a:path>
                  </a:pathLst>
                </a:custGeom>
                <a:noFill/>
                <a:ln w="22225">
                  <a:solidFill>
                    <a:srgbClr val="B92102"/>
                  </a:solidFill>
                </a:ln>
              </p:spPr>
            </p:sp>
            <p:sp>
              <p:nvSpPr>
                <p:cNvPr id="115" name="Freeform 115"/>
                <p:cNvSpPr/>
                <p:nvPr/>
              </p:nvSpPr>
              <p:spPr>
                <a:xfrm>
                  <a:off x="9215438" y="2327275"/>
                  <a:ext cx="66675" cy="9525"/>
                </a:xfrm>
                <a:custGeom>
                  <a:avLst/>
                  <a:gdLst/>
                  <a:ahLst/>
                  <a:cxnLst/>
                  <a:rect l="l" t="t" r="r" b="b"/>
                  <a:pathLst>
                    <a:path w="66675" h="9525">
                      <a:moveTo>
                        <a:pt x="0" y="0"/>
                      </a:moveTo>
                      <a:lnTo>
                        <a:pt x="66675" y="0"/>
                      </a:lnTo>
                    </a:path>
                  </a:pathLst>
                </a:custGeom>
                <a:noFill/>
                <a:ln w="22225">
                  <a:solidFill>
                    <a:srgbClr val="B92102"/>
                  </a:solidFill>
                </a:ln>
              </p:spPr>
            </p:sp>
          </p:grpSp>
          <p:sp>
            <p:nvSpPr>
              <p:cNvPr id="117" name="TextBox 117"/>
              <p:cNvSpPr txBox="1"/>
              <p:nvPr/>
            </p:nvSpPr>
            <p:spPr>
              <a:xfrm>
                <a:off x="8729662" y="264866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组织复盘会议​​</a:t>
                </a:r>
              </a:p>
              <a:p>
                <a:pPr algn="l" marL="85280" indent="-85280">
                  <a:lnSpc>
                    <a:spcPts val="1200"/>
                  </a:lnSpc>
                  <a:buClr>
                    <a:srgbClr val="473633"/>
                  </a:buClr>
                  <a:buSzTx/>
                  <a:buFontTx/>
                  <a:buChar char="•"/>
                </a:pPr>
                <a:r>
                  <a:rPr lang="zh-CN" sz="790" dirty="0">
                    <a:solidFill>
                      <a:srgbClr val="473633"/>
                    </a:solidFill>
                    <a:latin typeface="+mn-lt"/>
                    <a:ea typeface="+mn-ea"/>
                    <a:cs typeface="+mn-cs"/>
                  </a:rPr>
                  <a:t>输出改进清单​​</a:t>
                </a:r>
              </a:p>
            </p:txBody>
          </p:sp>
        </p:grpSp>
        <p:grpSp>
          <p:nvGrpSpPr>
            <p:cNvPr id="151" name="row-rm"/>
            <p:cNvGrpSpPr/>
            <p:nvPr/>
          </p:nvGrpSpPr>
          <p:grpSpPr>
            <a:xfrm>
              <a:off x="548729" y="3252788"/>
              <a:ext cx="8988081" cy="709659"/>
              <a:chOff x="548729" y="3252788"/>
              <a:chExt cx="8988081" cy="709659"/>
            </a:xfrm>
          </p:grpSpPr>
          <p:grpSp>
            <p:nvGrpSpPr>
              <p:cNvPr id="122" name="Group 122"/>
              <p:cNvGrpSpPr/>
              <p:nvPr/>
            </p:nvGrpSpPr>
            <p:grpSpPr>
              <a:xfrm>
                <a:off x="771525" y="3314700"/>
                <a:ext cx="190500" cy="228600"/>
                <a:chOff x="771525" y="3314700"/>
                <a:chExt cx="190500" cy="228600"/>
              </a:xfrm>
            </p:grpSpPr>
            <p:sp>
              <p:nvSpPr>
                <p:cNvPr id="119" name="Freeform 119"/>
                <p:cNvSpPr/>
                <p:nvPr/>
              </p:nvSpPr>
              <p:spPr>
                <a:xfrm>
                  <a:off x="796925" y="331470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rgbClr val="B92102"/>
                  </a:solidFill>
                </a:ln>
              </p:spPr>
            </p:sp>
            <p:sp>
              <p:nvSpPr>
                <p:cNvPr id="120" name="Freeform 120"/>
                <p:cNvSpPr/>
                <p:nvPr/>
              </p:nvSpPr>
              <p:spPr>
                <a:xfrm>
                  <a:off x="771525" y="3467100"/>
                  <a:ext cx="101600" cy="76200"/>
                </a:xfrm>
                <a:custGeom>
                  <a:avLst/>
                  <a:gdLst/>
                  <a:ahLst/>
                  <a:cxnLst/>
                  <a:rect l="l" t="t" r="r" b="b"/>
                  <a:pathLst>
                    <a:path w="101600" h="76200">
                      <a:moveTo>
                        <a:pt x="0" y="76200"/>
                      </a:moveTo>
                      <a:lnTo>
                        <a:pt x="0" y="50800"/>
                      </a:lnTo>
                      <a:cubicBezTo>
                        <a:pt x="0" y="22744"/>
                        <a:pt x="22744" y="0"/>
                        <a:pt x="50800" y="0"/>
                      </a:cubicBezTo>
                      <a:lnTo>
                        <a:pt x="101600" y="0"/>
                      </a:lnTo>
                    </a:path>
                  </a:pathLst>
                </a:custGeom>
                <a:noFill/>
                <a:ln w="25400">
                  <a:solidFill>
                    <a:srgbClr val="B92102"/>
                  </a:solidFill>
                </a:ln>
              </p:spPr>
            </p:sp>
            <p:sp>
              <p:nvSpPr>
                <p:cNvPr id="121" name="Freeform 121"/>
                <p:cNvSpPr/>
                <p:nvPr/>
              </p:nvSpPr>
              <p:spPr>
                <a:xfrm>
                  <a:off x="885825" y="3492499"/>
                  <a:ext cx="76200" cy="50800"/>
                </a:xfrm>
                <a:custGeom>
                  <a:avLst/>
                  <a:gdLst/>
                  <a:ahLst/>
                  <a:cxnLst/>
                  <a:rect l="l" t="t" r="r" b="b"/>
                  <a:pathLst>
                    <a:path w="76200" h="50800">
                      <a:moveTo>
                        <a:pt x="0" y="25400"/>
                      </a:moveTo>
                      <a:lnTo>
                        <a:pt x="25400" y="50800"/>
                      </a:lnTo>
                      <a:lnTo>
                        <a:pt x="76200" y="0"/>
                      </a:lnTo>
                    </a:path>
                  </a:pathLst>
                </a:custGeom>
                <a:noFill/>
                <a:ln w="25400">
                  <a:solidFill>
                    <a:srgbClr val="B92102"/>
                  </a:solidFill>
                </a:ln>
              </p:spPr>
            </p:sp>
          </p:grpSp>
          <p:sp>
            <p:nvSpPr>
              <p:cNvPr id="123" name="TextBox 123"/>
              <p:cNvSpPr txBox="1"/>
              <p:nvPr/>
            </p:nvSpPr>
            <p:spPr>
              <a:xfrm>
                <a:off x="548729" y="3749754"/>
                <a:ext cx="597992" cy="212693"/>
              </a:xfrm>
              <a:prstGeom prst="rect">
                <a:avLst/>
              </a:prstGeom>
              <a:noFill/>
              <a:ln>
                <a:noFill/>
              </a:ln>
            </p:spPr>
            <p:txBody>
              <a:bodyPr wrap="none" lIns="0" tIns="0" rIns="0" bIns="0" anchor="t" anchorCtr="0">
                <a:spAutoFit/>
              </a:bodyPr>
              <a:lstStyle/>
              <a:p>
                <a:pPr algn="ctr"/>
                <a:r>
                  <a:rPr lang="zh-CN" sz="1090" b="1" dirty="0">
                    <a:solidFill>
                      <a:srgbClr val="6E1604"/>
                    </a:solidFill>
                    <a:latin typeface="+mn-lt"/>
                    <a:ea typeface="+mn-ea"/>
                    <a:cs typeface="+mn-cs"/>
                  </a:rPr>
                  <a:t>客户经理</a:t>
                </a:r>
              </a:p>
            </p:txBody>
          </p:sp>
          <p:grpSp>
            <p:nvGrpSpPr>
              <p:cNvPr id="126" name="Group 126"/>
              <p:cNvGrpSpPr/>
              <p:nvPr/>
            </p:nvGrpSpPr>
            <p:grpSpPr>
              <a:xfrm>
                <a:off x="2052638" y="3297238"/>
                <a:ext cx="200026" cy="111125"/>
                <a:chOff x="2052638" y="3297238"/>
                <a:chExt cx="200026" cy="111125"/>
              </a:xfrm>
            </p:grpSpPr>
            <p:sp>
              <p:nvSpPr>
                <p:cNvPr id="124" name="Freeform 124"/>
                <p:cNvSpPr/>
                <p:nvPr/>
              </p:nvSpPr>
              <p:spPr>
                <a:xfrm>
                  <a:off x="2052638" y="32972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B92102"/>
                  </a:solidFill>
                </a:ln>
              </p:spPr>
            </p:sp>
            <p:sp>
              <p:nvSpPr>
                <p:cNvPr id="125" name="Freeform 125"/>
                <p:cNvSpPr/>
                <p:nvPr/>
              </p:nvSpPr>
              <p:spPr>
                <a:xfrm>
                  <a:off x="2174875" y="3297238"/>
                  <a:ext cx="77788" cy="77788"/>
                </a:xfrm>
                <a:custGeom>
                  <a:avLst/>
                  <a:gdLst/>
                  <a:ahLst/>
                  <a:cxnLst/>
                  <a:rect l="l" t="t" r="r" b="b"/>
                  <a:pathLst>
                    <a:path w="77788" h="77788">
                      <a:moveTo>
                        <a:pt x="0" y="0"/>
                      </a:moveTo>
                      <a:lnTo>
                        <a:pt x="77788" y="0"/>
                      </a:lnTo>
                      <a:lnTo>
                        <a:pt x="77788" y="77788"/>
                      </a:lnTo>
                    </a:path>
                  </a:pathLst>
                </a:custGeom>
                <a:noFill/>
                <a:ln w="22225">
                  <a:solidFill>
                    <a:srgbClr val="B92102"/>
                  </a:solidFill>
                </a:ln>
              </p:spPr>
            </p:sp>
          </p:grpSp>
          <p:sp>
            <p:nvSpPr>
              <p:cNvPr id="127" name="TextBox 127"/>
              <p:cNvSpPr txBox="1"/>
              <p:nvPr/>
            </p:nvSpPr>
            <p:spPr>
              <a:xfrm>
                <a:off x="1633538" y="362973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承接个人目标​​</a:t>
                </a:r>
              </a:p>
              <a:p>
                <a:pPr algn="l" marL="85280" indent="-85280">
                  <a:lnSpc>
                    <a:spcPts val="1200"/>
                  </a:lnSpc>
                  <a:buClr>
                    <a:srgbClr val="473633"/>
                  </a:buClr>
                  <a:buSzTx/>
                  <a:buFontTx/>
                  <a:buChar char="•"/>
                </a:pPr>
                <a:r>
                  <a:rPr lang="zh-CN" sz="790" dirty="0">
                    <a:solidFill>
                      <a:srgbClr val="473633"/>
                    </a:solidFill>
                    <a:latin typeface="+mn-lt"/>
                    <a:ea typeface="+mn-ea"/>
                    <a:cs typeface="+mn-cs"/>
                  </a:rPr>
                  <a:t>制定行动计划​​</a:t>
                </a:r>
              </a:p>
            </p:txBody>
          </p:sp>
          <p:grpSp>
            <p:nvGrpSpPr>
              <p:cNvPr id="131" name="Group 131"/>
              <p:cNvGrpSpPr/>
              <p:nvPr/>
            </p:nvGrpSpPr>
            <p:grpSpPr>
              <a:xfrm>
                <a:off x="3505200" y="3252788"/>
                <a:ext cx="166688" cy="200025"/>
                <a:chOff x="3505200" y="3252788"/>
                <a:chExt cx="166688" cy="200025"/>
              </a:xfrm>
            </p:grpSpPr>
            <p:sp>
              <p:nvSpPr>
                <p:cNvPr id="128" name="Freeform 128"/>
                <p:cNvSpPr/>
                <p:nvPr/>
              </p:nvSpPr>
              <p:spPr>
                <a:xfrm>
                  <a:off x="3527425" y="32527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B92102"/>
                  </a:solidFill>
                </a:ln>
              </p:spPr>
            </p:sp>
            <p:sp>
              <p:nvSpPr>
                <p:cNvPr id="129" name="Freeform 129"/>
                <p:cNvSpPr/>
                <p:nvPr/>
              </p:nvSpPr>
              <p:spPr>
                <a:xfrm>
                  <a:off x="3505200" y="338613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B92102"/>
                  </a:solidFill>
                </a:ln>
              </p:spPr>
            </p:sp>
            <p:sp>
              <p:nvSpPr>
                <p:cNvPr id="130" name="Freeform 130"/>
                <p:cNvSpPr/>
                <p:nvPr/>
              </p:nvSpPr>
              <p:spPr>
                <a:xfrm>
                  <a:off x="3605213" y="3408363"/>
                  <a:ext cx="66675" cy="44450"/>
                </a:xfrm>
                <a:custGeom>
                  <a:avLst/>
                  <a:gdLst/>
                  <a:ahLst/>
                  <a:cxnLst/>
                  <a:rect l="l" t="t" r="r" b="b"/>
                  <a:pathLst>
                    <a:path w="66675" h="44450">
                      <a:moveTo>
                        <a:pt x="0" y="22225"/>
                      </a:moveTo>
                      <a:lnTo>
                        <a:pt x="22225" y="44450"/>
                      </a:lnTo>
                      <a:lnTo>
                        <a:pt x="66675" y="0"/>
                      </a:lnTo>
                    </a:path>
                  </a:pathLst>
                </a:custGeom>
                <a:noFill/>
                <a:ln w="22225">
                  <a:solidFill>
                    <a:srgbClr val="B92102"/>
                  </a:solidFill>
                </a:ln>
              </p:spPr>
            </p:sp>
          </p:grpSp>
          <p:sp>
            <p:nvSpPr>
              <p:cNvPr id="132" name="TextBox 132"/>
              <p:cNvSpPr txBox="1"/>
              <p:nvPr/>
            </p:nvSpPr>
            <p:spPr>
              <a:xfrm>
                <a:off x="3052762" y="3629739"/>
                <a:ext cx="90747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认领客户名单​​</a:t>
                </a:r>
              </a:p>
              <a:p>
                <a:pPr algn="l" marL="85280" indent="-85280">
                  <a:lnSpc>
                    <a:spcPts val="1200"/>
                  </a:lnSpc>
                  <a:buClr>
                    <a:srgbClr val="473633"/>
                  </a:buClr>
                  <a:buSzTx/>
                  <a:buFontTx/>
                  <a:buChar char="•"/>
                </a:pPr>
                <a:r>
                  <a:rPr lang="zh-CN" sz="790" dirty="0">
                    <a:solidFill>
                      <a:srgbClr val="473633"/>
                    </a:solidFill>
                    <a:latin typeface="+mn-lt"/>
                    <a:ea typeface="+mn-ea"/>
                    <a:cs typeface="+mn-cs"/>
                  </a:rPr>
                  <a:t>明确跟进优先级​​</a:t>
                </a:r>
              </a:p>
            </p:txBody>
          </p:sp>
          <p:sp>
            <p:nvSpPr>
              <p:cNvPr id="133" name="Freeform 133"/>
              <p:cNvSpPr/>
              <p:nvPr/>
            </p:nvSpPr>
            <p:spPr>
              <a:xfrm>
                <a:off x="4879708" y="3255288"/>
                <a:ext cx="221851" cy="196658"/>
              </a:xfrm>
              <a:custGeom>
                <a:avLst/>
                <a:gdLst/>
                <a:ahLst/>
                <a:cxnLst/>
                <a:rect l="l" t="t" r="r" b="b"/>
                <a:pathLst>
                  <a:path w="221851" h="196658">
                    <a:moveTo>
                      <a:pt x="11379" y="186413"/>
                    </a:moveTo>
                    <a:lnTo>
                      <a:pt x="25826" y="143074"/>
                    </a:lnTo>
                    <a:cubicBezTo>
                      <a:pt x="0" y="104880"/>
                      <a:pt x="9979" y="55596"/>
                      <a:pt x="49162" y="27792"/>
                    </a:cubicBezTo>
                    <a:cubicBezTo>
                      <a:pt x="88345" y="0"/>
                      <a:pt x="144618" y="2278"/>
                      <a:pt x="180790" y="33126"/>
                    </a:cubicBezTo>
                    <a:cubicBezTo>
                      <a:pt x="216961" y="63986"/>
                      <a:pt x="221851" y="113870"/>
                      <a:pt x="192225" y="149819"/>
                    </a:cubicBezTo>
                    <a:cubicBezTo>
                      <a:pt x="162599" y="185768"/>
                      <a:pt x="107603" y="196658"/>
                      <a:pt x="63608" y="175300"/>
                    </a:cubicBezTo>
                    <a:lnTo>
                      <a:pt x="11379" y="186413"/>
                    </a:lnTo>
                  </a:path>
                </a:pathLst>
              </a:custGeom>
              <a:noFill/>
              <a:ln w="22225">
                <a:solidFill>
                  <a:srgbClr val="B92102"/>
                </a:solidFill>
              </a:ln>
            </p:spPr>
          </p:sp>
          <p:sp>
            <p:nvSpPr>
              <p:cNvPr id="134" name="TextBox 134"/>
              <p:cNvSpPr txBox="1"/>
              <p:nvPr/>
            </p:nvSpPr>
            <p:spPr>
              <a:xfrm>
                <a:off x="4471988" y="362973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首次触达客户​​</a:t>
                </a:r>
              </a:p>
              <a:p>
                <a:pPr algn="l" marL="85280" indent="-85280">
                  <a:lnSpc>
                    <a:spcPts val="1200"/>
                  </a:lnSpc>
                  <a:buClr>
                    <a:srgbClr val="473633"/>
                  </a:buClr>
                  <a:buSzTx/>
                  <a:buFontTx/>
                  <a:buChar char="•"/>
                </a:pPr>
                <a:r>
                  <a:rPr lang="zh-CN" sz="790" dirty="0">
                    <a:solidFill>
                      <a:srgbClr val="473633"/>
                    </a:solidFill>
                    <a:latin typeface="+mn-lt"/>
                    <a:ea typeface="+mn-ea"/>
                    <a:cs typeface="+mn-cs"/>
                  </a:rPr>
                  <a:t>诊断需求痛点​​</a:t>
                </a:r>
              </a:p>
            </p:txBody>
          </p:sp>
          <p:grpSp>
            <p:nvGrpSpPr>
              <p:cNvPr id="139" name="Group 139"/>
              <p:cNvGrpSpPr/>
              <p:nvPr/>
            </p:nvGrpSpPr>
            <p:grpSpPr>
              <a:xfrm>
                <a:off x="6310313" y="3252788"/>
                <a:ext cx="200026" cy="188913"/>
                <a:chOff x="6310313" y="3252788"/>
                <a:chExt cx="200026" cy="188913"/>
              </a:xfrm>
            </p:grpSpPr>
            <p:sp>
              <p:nvSpPr>
                <p:cNvPr id="135" name="Freeform 135"/>
                <p:cNvSpPr/>
                <p:nvPr/>
              </p:nvSpPr>
              <p:spPr>
                <a:xfrm>
                  <a:off x="6310313" y="3297238"/>
                  <a:ext cx="200026" cy="144463"/>
                </a:xfrm>
                <a:custGeom>
                  <a:avLst/>
                  <a:gdLst/>
                  <a:ahLst/>
                  <a:cxnLst/>
                  <a:rect l="l" t="t" r="r" b="b"/>
                  <a:pathLst>
                    <a:path w="200026" h="144463">
                      <a:moveTo>
                        <a:pt x="0" y="22225"/>
                      </a:moveTo>
                      <a:cubicBezTo>
                        <a:pt x="0" y="9950"/>
                        <a:pt x="9950" y="0"/>
                        <a:pt x="22225" y="0"/>
                      </a:cubicBezTo>
                      <a:lnTo>
                        <a:pt x="177801" y="0"/>
                      </a:lnTo>
                      <a:cubicBezTo>
                        <a:pt x="190075" y="0"/>
                        <a:pt x="200026" y="9950"/>
                        <a:pt x="200026" y="22225"/>
                      </a:cubicBezTo>
                      <a:lnTo>
                        <a:pt x="200026" y="122238"/>
                      </a:lnTo>
                      <a:cubicBezTo>
                        <a:pt x="200026" y="134512"/>
                        <a:pt x="190075" y="144463"/>
                        <a:pt x="177801" y="144463"/>
                      </a:cubicBezTo>
                      <a:lnTo>
                        <a:pt x="22225" y="144463"/>
                      </a:lnTo>
                      <a:cubicBezTo>
                        <a:pt x="9950" y="144463"/>
                        <a:pt x="0" y="134512"/>
                        <a:pt x="0" y="122238"/>
                      </a:cubicBezTo>
                      <a:lnTo>
                        <a:pt x="0" y="22225"/>
                      </a:lnTo>
                    </a:path>
                  </a:pathLst>
                </a:custGeom>
                <a:noFill/>
                <a:ln w="22225">
                  <a:solidFill>
                    <a:srgbClr val="B92102"/>
                  </a:solidFill>
                </a:ln>
              </p:spPr>
            </p:sp>
            <p:sp>
              <p:nvSpPr>
                <p:cNvPr id="136" name="Freeform 136"/>
                <p:cNvSpPr/>
                <p:nvPr/>
              </p:nvSpPr>
              <p:spPr>
                <a:xfrm>
                  <a:off x="6365875" y="3252788"/>
                  <a:ext cx="88900" cy="44450"/>
                </a:xfrm>
                <a:custGeom>
                  <a:avLst/>
                  <a:gdLst/>
                  <a:ahLst/>
                  <a:cxnLst/>
                  <a:rect l="l" t="t" r="r" b="b"/>
                  <a:pathLst>
                    <a:path w="88900" h="44450">
                      <a:moveTo>
                        <a:pt x="0" y="44450"/>
                      </a:moveTo>
                      <a:lnTo>
                        <a:pt x="0" y="22225"/>
                      </a:lnTo>
                      <a:cubicBezTo>
                        <a:pt x="0" y="9950"/>
                        <a:pt x="9950" y="0"/>
                        <a:pt x="22225" y="0"/>
                      </a:cubicBezTo>
                      <a:lnTo>
                        <a:pt x="66675" y="0"/>
                      </a:lnTo>
                      <a:cubicBezTo>
                        <a:pt x="78950" y="0"/>
                        <a:pt x="88900" y="9950"/>
                        <a:pt x="88900" y="22225"/>
                      </a:cubicBezTo>
                      <a:lnTo>
                        <a:pt x="88900" y="44450"/>
                      </a:lnTo>
                    </a:path>
                  </a:pathLst>
                </a:custGeom>
                <a:noFill/>
                <a:ln w="22225">
                  <a:solidFill>
                    <a:srgbClr val="B92102"/>
                  </a:solidFill>
                </a:ln>
              </p:spPr>
            </p:sp>
            <p:sp>
              <p:nvSpPr>
                <p:cNvPr id="137" name="Freeform 137"/>
                <p:cNvSpPr/>
                <p:nvPr/>
              </p:nvSpPr>
              <p:spPr>
                <a:xfrm>
                  <a:off x="6410325" y="3352800"/>
                  <a:ext cx="9525" cy="9525"/>
                </a:xfrm>
                <a:custGeom>
                  <a:avLst/>
                  <a:gdLst/>
                  <a:ahLst/>
                  <a:cxnLst/>
                  <a:rect l="l" t="t" r="r" b="b"/>
                  <a:pathLst>
                    <a:path w="9525" h="9525">
                      <a:moveTo>
                        <a:pt x="0" y="0"/>
                      </a:moveTo>
                      <a:lnTo>
                        <a:pt x="0" y="111"/>
                      </a:lnTo>
                    </a:path>
                  </a:pathLst>
                </a:custGeom>
                <a:noFill/>
                <a:ln w="22225">
                  <a:solidFill>
                    <a:srgbClr val="B92102"/>
                  </a:solidFill>
                </a:ln>
              </p:spPr>
            </p:sp>
            <p:sp>
              <p:nvSpPr>
                <p:cNvPr id="138" name="Freeform 138"/>
                <p:cNvSpPr/>
                <p:nvPr/>
              </p:nvSpPr>
              <p:spPr>
                <a:xfrm>
                  <a:off x="6310313" y="3363913"/>
                  <a:ext cx="200026" cy="31699"/>
                </a:xfrm>
                <a:custGeom>
                  <a:avLst/>
                  <a:gdLst/>
                  <a:ahLst/>
                  <a:cxnLst/>
                  <a:rect l="l" t="t" r="r" b="b"/>
                  <a:pathLst>
                    <a:path w="200026" h="31699">
                      <a:moveTo>
                        <a:pt x="0" y="0"/>
                      </a:moveTo>
                      <a:cubicBezTo>
                        <a:pt x="62908" y="31699"/>
                        <a:pt x="137118" y="31699"/>
                        <a:pt x="200026" y="0"/>
                      </a:cubicBezTo>
                    </a:path>
                  </a:pathLst>
                </a:custGeom>
                <a:noFill/>
                <a:ln w="22225">
                  <a:solidFill>
                    <a:srgbClr val="B92102"/>
                  </a:solidFill>
                </a:ln>
              </p:spPr>
            </p:sp>
          </p:grpSp>
          <p:sp>
            <p:nvSpPr>
              <p:cNvPr id="140" name="TextBox 140"/>
              <p:cNvSpPr txBox="1"/>
              <p:nvPr/>
            </p:nvSpPr>
            <p:spPr>
              <a:xfrm>
                <a:off x="5891212" y="362973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输出解决方案​​</a:t>
                </a:r>
              </a:p>
              <a:p>
                <a:pPr algn="l" marL="85280" indent="-85280">
                  <a:lnSpc>
                    <a:spcPts val="1200"/>
                  </a:lnSpc>
                  <a:buClr>
                    <a:srgbClr val="473633"/>
                  </a:buClr>
                  <a:buSzTx/>
                  <a:buFontTx/>
                  <a:buChar char="•"/>
                </a:pPr>
                <a:r>
                  <a:rPr lang="zh-CN" sz="790" dirty="0">
                    <a:solidFill>
                      <a:srgbClr val="473633"/>
                    </a:solidFill>
                    <a:latin typeface="+mn-lt"/>
                    <a:ea typeface="+mn-ea"/>
                    <a:cs typeface="+mn-cs"/>
                  </a:rPr>
                  <a:t>持续跟进反馈​​</a:t>
                </a:r>
              </a:p>
            </p:txBody>
          </p:sp>
          <p:grpSp>
            <p:nvGrpSpPr>
              <p:cNvPr id="145" name="Group 145"/>
              <p:cNvGrpSpPr/>
              <p:nvPr/>
            </p:nvGrpSpPr>
            <p:grpSpPr>
              <a:xfrm>
                <a:off x="7751763" y="3252788"/>
                <a:ext cx="155575" cy="200026"/>
                <a:chOff x="7751763" y="3252788"/>
                <a:chExt cx="155575" cy="200026"/>
              </a:xfrm>
            </p:grpSpPr>
            <p:sp>
              <p:nvSpPr>
                <p:cNvPr id="141" name="Freeform 141"/>
                <p:cNvSpPr/>
                <p:nvPr/>
              </p:nvSpPr>
              <p:spPr>
                <a:xfrm>
                  <a:off x="7751763" y="3275013"/>
                  <a:ext cx="155575" cy="177801"/>
                </a:xfrm>
                <a:custGeom>
                  <a:avLst/>
                  <a:gdLst/>
                  <a:ahLst/>
                  <a:cxnLst/>
                  <a:rect l="l" t="t" r="r" b="b"/>
                  <a:pathLst>
                    <a:path w="155575" h="177801">
                      <a:moveTo>
                        <a:pt x="44450" y="0"/>
                      </a:moveTo>
                      <a:lnTo>
                        <a:pt x="22225" y="0"/>
                      </a:lnTo>
                      <a:cubicBezTo>
                        <a:pt x="9950" y="0"/>
                        <a:pt x="0" y="9950"/>
                        <a:pt x="0" y="22225"/>
                      </a:cubicBezTo>
                      <a:lnTo>
                        <a:pt x="0" y="155575"/>
                      </a:lnTo>
                      <a:cubicBezTo>
                        <a:pt x="0" y="167850"/>
                        <a:pt x="9950" y="177801"/>
                        <a:pt x="22225" y="177801"/>
                      </a:cubicBezTo>
                      <a:lnTo>
                        <a:pt x="133350" y="177801"/>
                      </a:lnTo>
                      <a:cubicBezTo>
                        <a:pt x="145625" y="177801"/>
                        <a:pt x="155575" y="167850"/>
                        <a:pt x="155575" y="155575"/>
                      </a:cubicBezTo>
                      <a:lnTo>
                        <a:pt x="155575" y="22225"/>
                      </a:lnTo>
                      <a:cubicBezTo>
                        <a:pt x="155575" y="9950"/>
                        <a:pt x="145625" y="0"/>
                        <a:pt x="133350" y="0"/>
                      </a:cubicBezTo>
                      <a:lnTo>
                        <a:pt x="111125" y="0"/>
                      </a:lnTo>
                    </a:path>
                  </a:pathLst>
                </a:custGeom>
                <a:noFill/>
                <a:ln w="22225">
                  <a:solidFill>
                    <a:srgbClr val="B92102"/>
                  </a:solidFill>
                </a:ln>
              </p:spPr>
            </p:sp>
            <p:sp>
              <p:nvSpPr>
                <p:cNvPr id="142" name="Freeform 142"/>
                <p:cNvSpPr/>
                <p:nvPr/>
              </p:nvSpPr>
              <p:spPr>
                <a:xfrm>
                  <a:off x="7796213" y="3252788"/>
                  <a:ext cx="66675" cy="44450"/>
                </a:xfrm>
                <a:custGeom>
                  <a:avLst/>
                  <a:gdLst/>
                  <a:ahLst/>
                  <a:cxnLst/>
                  <a:rect l="l" t="t" r="r" b="b"/>
                  <a:pathLst>
                    <a:path w="66675" h="44450">
                      <a:moveTo>
                        <a:pt x="0" y="22225"/>
                      </a:moveTo>
                      <a:cubicBezTo>
                        <a:pt x="0" y="9950"/>
                        <a:pt x="9950" y="0"/>
                        <a:pt x="22225" y="0"/>
                      </a:cubicBezTo>
                      <a:lnTo>
                        <a:pt x="44450" y="0"/>
                      </a:lnTo>
                      <a:cubicBezTo>
                        <a:pt x="56725" y="0"/>
                        <a:pt x="66675" y="9950"/>
                        <a:pt x="66675" y="22225"/>
                      </a:cubicBezTo>
                      <a:cubicBezTo>
                        <a:pt x="66675" y="34500"/>
                        <a:pt x="56725" y="44450"/>
                        <a:pt x="44450" y="44450"/>
                      </a:cubicBezTo>
                      <a:lnTo>
                        <a:pt x="22225" y="44450"/>
                      </a:lnTo>
                      <a:cubicBezTo>
                        <a:pt x="9950" y="44450"/>
                        <a:pt x="0" y="34500"/>
                        <a:pt x="0" y="22225"/>
                      </a:cubicBezTo>
                    </a:path>
                  </a:pathLst>
                </a:custGeom>
                <a:noFill/>
                <a:ln w="22225">
                  <a:solidFill>
                    <a:srgbClr val="B92102"/>
                  </a:solidFill>
                </a:ln>
              </p:spPr>
            </p:sp>
            <p:sp>
              <p:nvSpPr>
                <p:cNvPr id="143" name="Freeform 143"/>
                <p:cNvSpPr/>
                <p:nvPr/>
              </p:nvSpPr>
              <p:spPr>
                <a:xfrm>
                  <a:off x="7807325" y="3341688"/>
                  <a:ext cx="44450" cy="66675"/>
                </a:xfrm>
                <a:custGeom>
                  <a:avLst/>
                  <a:gdLst/>
                  <a:ahLst/>
                  <a:cxnLst/>
                  <a:rect l="l" t="t" r="r" b="b"/>
                  <a:pathLst>
                    <a:path w="44450" h="66675">
                      <a:moveTo>
                        <a:pt x="44450" y="0"/>
                      </a:moveTo>
                      <a:lnTo>
                        <a:pt x="16669" y="0"/>
                      </a:lnTo>
                      <a:cubicBezTo>
                        <a:pt x="7463" y="0"/>
                        <a:pt x="0" y="7463"/>
                        <a:pt x="0" y="16669"/>
                      </a:cubicBezTo>
                      <a:cubicBezTo>
                        <a:pt x="0" y="25875"/>
                        <a:pt x="7463" y="33338"/>
                        <a:pt x="16669" y="33338"/>
                      </a:cubicBezTo>
                      <a:lnTo>
                        <a:pt x="27781" y="33338"/>
                      </a:lnTo>
                      <a:cubicBezTo>
                        <a:pt x="36987" y="33338"/>
                        <a:pt x="44450" y="40800"/>
                        <a:pt x="44450" y="50006"/>
                      </a:cubicBezTo>
                      <a:cubicBezTo>
                        <a:pt x="44450" y="59212"/>
                        <a:pt x="36987" y="66675"/>
                        <a:pt x="27781" y="66675"/>
                      </a:cubicBezTo>
                      <a:lnTo>
                        <a:pt x="0" y="66675"/>
                      </a:lnTo>
                    </a:path>
                  </a:pathLst>
                </a:custGeom>
                <a:noFill/>
                <a:ln w="22225">
                  <a:solidFill>
                    <a:srgbClr val="B92102"/>
                  </a:solidFill>
                </a:ln>
              </p:spPr>
            </p:sp>
            <p:sp>
              <p:nvSpPr>
                <p:cNvPr id="144" name="Freeform 144"/>
                <p:cNvSpPr/>
                <p:nvPr/>
              </p:nvSpPr>
              <p:spPr>
                <a:xfrm>
                  <a:off x="7829550" y="3330575"/>
                  <a:ext cx="9525" cy="88900"/>
                </a:xfrm>
                <a:custGeom>
                  <a:avLst/>
                  <a:gdLst/>
                  <a:ahLst/>
                  <a:cxnLst/>
                  <a:rect l="l" t="t" r="r" b="b"/>
                  <a:pathLst>
                    <a:path w="9525" h="88900">
                      <a:moveTo>
                        <a:pt x="0" y="77788"/>
                      </a:moveTo>
                      <a:lnTo>
                        <a:pt x="0" y="88900"/>
                      </a:lnTo>
                      <a:moveTo>
                        <a:pt x="0" y="0"/>
                      </a:moveTo>
                      <a:lnTo>
                        <a:pt x="0" y="11113"/>
                      </a:lnTo>
                    </a:path>
                  </a:pathLst>
                </a:custGeom>
                <a:noFill/>
                <a:ln w="22225">
                  <a:solidFill>
                    <a:srgbClr val="B92102"/>
                  </a:solidFill>
                </a:ln>
              </p:spPr>
            </p:sp>
          </p:grpSp>
          <p:sp>
            <p:nvSpPr>
              <p:cNvPr id="146" name="TextBox 146"/>
              <p:cNvSpPr txBox="1"/>
              <p:nvPr/>
            </p:nvSpPr>
            <p:spPr>
              <a:xfrm>
                <a:off x="7310438" y="362973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推进商务谈判​​</a:t>
                </a:r>
              </a:p>
              <a:p>
                <a:pPr algn="l" marL="85280" indent="-85280">
                  <a:lnSpc>
                    <a:spcPts val="1200"/>
                  </a:lnSpc>
                  <a:buClr>
                    <a:srgbClr val="473633"/>
                  </a:buClr>
                  <a:buSzTx/>
                  <a:buFontTx/>
                  <a:buChar char="•"/>
                </a:pPr>
                <a:r>
                  <a:rPr lang="zh-CN" sz="790" dirty="0">
                    <a:solidFill>
                      <a:srgbClr val="473633"/>
                    </a:solidFill>
                    <a:latin typeface="+mn-lt"/>
                    <a:ea typeface="+mn-ea"/>
                    <a:cs typeface="+mn-cs"/>
                  </a:rPr>
                  <a:t>处理异议顾虑​​</a:t>
                </a:r>
              </a:p>
            </p:txBody>
          </p:sp>
          <p:grpSp>
            <p:nvGrpSpPr>
              <p:cNvPr id="149" name="Group 149"/>
              <p:cNvGrpSpPr/>
              <p:nvPr/>
            </p:nvGrpSpPr>
            <p:grpSpPr>
              <a:xfrm>
                <a:off x="9148763" y="3252788"/>
                <a:ext cx="200026" cy="200026"/>
                <a:chOff x="9148763" y="3252788"/>
                <a:chExt cx="200026" cy="200026"/>
              </a:xfrm>
            </p:grpSpPr>
            <p:sp>
              <p:nvSpPr>
                <p:cNvPr id="147" name="Freeform 147"/>
                <p:cNvSpPr/>
                <p:nvPr/>
              </p:nvSpPr>
              <p:spPr>
                <a:xfrm>
                  <a:off x="9148763" y="32527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B92102"/>
                  </a:solidFill>
                </a:ln>
              </p:spPr>
            </p:sp>
            <p:sp>
              <p:nvSpPr>
                <p:cNvPr id="148" name="Freeform 148"/>
                <p:cNvSpPr/>
                <p:nvPr/>
              </p:nvSpPr>
              <p:spPr>
                <a:xfrm>
                  <a:off x="9215438" y="3330575"/>
                  <a:ext cx="66675" cy="44450"/>
                </a:xfrm>
                <a:custGeom>
                  <a:avLst/>
                  <a:gdLst/>
                  <a:ahLst/>
                  <a:cxnLst/>
                  <a:rect l="l" t="t" r="r" b="b"/>
                  <a:pathLst>
                    <a:path w="66675" h="44450">
                      <a:moveTo>
                        <a:pt x="0" y="22225"/>
                      </a:moveTo>
                      <a:lnTo>
                        <a:pt x="22225" y="44450"/>
                      </a:lnTo>
                      <a:lnTo>
                        <a:pt x="66675" y="0"/>
                      </a:lnTo>
                    </a:path>
                  </a:pathLst>
                </a:custGeom>
                <a:noFill/>
                <a:ln w="22225">
                  <a:solidFill>
                    <a:srgbClr val="B92102"/>
                  </a:solidFill>
                </a:ln>
              </p:spPr>
            </p:sp>
          </p:grpSp>
          <p:sp>
            <p:nvSpPr>
              <p:cNvPr id="150" name="TextBox 150"/>
              <p:cNvSpPr txBox="1"/>
              <p:nvPr/>
            </p:nvSpPr>
            <p:spPr>
              <a:xfrm>
                <a:off x="8729662" y="3629739"/>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确认成交落地​​</a:t>
                </a:r>
              </a:p>
              <a:p>
                <a:pPr algn="l" marL="85280" indent="-85280">
                  <a:lnSpc>
                    <a:spcPts val="1200"/>
                  </a:lnSpc>
                  <a:buClr>
                    <a:srgbClr val="473633"/>
                  </a:buClr>
                  <a:buSzTx/>
                  <a:buFontTx/>
                  <a:buChar char="•"/>
                </a:pPr>
                <a:r>
                  <a:rPr lang="zh-CN" sz="790" dirty="0">
                    <a:solidFill>
                      <a:srgbClr val="473633"/>
                    </a:solidFill>
                    <a:latin typeface="+mn-lt"/>
                    <a:ea typeface="+mn-ea"/>
                    <a:cs typeface="+mn-cs"/>
                  </a:rPr>
                  <a:t>客户满意回访​​</a:t>
                </a:r>
              </a:p>
            </p:txBody>
          </p:sp>
        </p:grpSp>
        <p:grpSp>
          <p:nvGrpSpPr>
            <p:cNvPr id="185" name="row-backoffice"/>
            <p:cNvGrpSpPr/>
            <p:nvPr/>
          </p:nvGrpSpPr>
          <p:grpSpPr>
            <a:xfrm>
              <a:off x="622097" y="4233863"/>
              <a:ext cx="8814383" cy="709659"/>
              <a:chOff x="622097" y="4233863"/>
              <a:chExt cx="8814383" cy="709659"/>
            </a:xfrm>
          </p:grpSpPr>
          <p:grpSp>
            <p:nvGrpSpPr>
              <p:cNvPr id="154" name="Group 154"/>
              <p:cNvGrpSpPr/>
              <p:nvPr/>
            </p:nvGrpSpPr>
            <p:grpSpPr>
              <a:xfrm>
                <a:off x="727850" y="4290200"/>
                <a:ext cx="239750" cy="239750"/>
                <a:chOff x="727850" y="4290200"/>
                <a:chExt cx="239750" cy="239750"/>
              </a:xfrm>
            </p:grpSpPr>
            <p:sp>
              <p:nvSpPr>
                <p:cNvPr id="152" name="Freeform 152"/>
                <p:cNvSpPr/>
                <p:nvPr/>
              </p:nvSpPr>
              <p:spPr>
                <a:xfrm>
                  <a:off x="727850" y="4290200"/>
                  <a:ext cx="239750" cy="239750"/>
                </a:xfrm>
                <a:custGeom>
                  <a:avLst/>
                  <a:gdLst/>
                  <a:ahLst/>
                  <a:cxnLst/>
                  <a:rect l="l" t="t" r="r" b="b"/>
                  <a:pathLst>
                    <a:path w="239750" h="239750">
                      <a:moveTo>
                        <a:pt x="98603" y="22301"/>
                      </a:moveTo>
                      <a:cubicBezTo>
                        <a:pt x="104013" y="0"/>
                        <a:pt x="135737" y="0"/>
                        <a:pt x="141147" y="22301"/>
                      </a:cubicBezTo>
                      <a:cubicBezTo>
                        <a:pt x="142794" y="29096"/>
                        <a:pt x="147587" y="34697"/>
                        <a:pt x="154046" y="37373"/>
                      </a:cubicBezTo>
                      <a:cubicBezTo>
                        <a:pt x="160506" y="40049"/>
                        <a:pt x="167855" y="39479"/>
                        <a:pt x="173824" y="35839"/>
                      </a:cubicBezTo>
                      <a:cubicBezTo>
                        <a:pt x="193421" y="23901"/>
                        <a:pt x="215861" y="46329"/>
                        <a:pt x="203923" y="65938"/>
                      </a:cubicBezTo>
                      <a:cubicBezTo>
                        <a:pt x="200289" y="71905"/>
                        <a:pt x="199720" y="79249"/>
                        <a:pt x="202393" y="85704"/>
                      </a:cubicBezTo>
                      <a:cubicBezTo>
                        <a:pt x="205066" y="92160"/>
                        <a:pt x="210660" y="96952"/>
                        <a:pt x="217449" y="98603"/>
                      </a:cubicBezTo>
                      <a:cubicBezTo>
                        <a:pt x="239750" y="104013"/>
                        <a:pt x="239750" y="135737"/>
                        <a:pt x="217449" y="141147"/>
                      </a:cubicBezTo>
                      <a:cubicBezTo>
                        <a:pt x="210654" y="142794"/>
                        <a:pt x="205053" y="147587"/>
                        <a:pt x="202377" y="154046"/>
                      </a:cubicBezTo>
                      <a:cubicBezTo>
                        <a:pt x="199701" y="160506"/>
                        <a:pt x="200271" y="167855"/>
                        <a:pt x="203911" y="173824"/>
                      </a:cubicBezTo>
                      <a:cubicBezTo>
                        <a:pt x="215849" y="193421"/>
                        <a:pt x="193421" y="215861"/>
                        <a:pt x="173812" y="203923"/>
                      </a:cubicBezTo>
                      <a:cubicBezTo>
                        <a:pt x="167845" y="200289"/>
                        <a:pt x="160501" y="199720"/>
                        <a:pt x="154046" y="202393"/>
                      </a:cubicBezTo>
                      <a:cubicBezTo>
                        <a:pt x="147590" y="205066"/>
                        <a:pt x="142798" y="210660"/>
                        <a:pt x="141147" y="217449"/>
                      </a:cubicBezTo>
                      <a:cubicBezTo>
                        <a:pt x="135737" y="239750"/>
                        <a:pt x="104013" y="239750"/>
                        <a:pt x="98603" y="217449"/>
                      </a:cubicBezTo>
                      <a:cubicBezTo>
                        <a:pt x="96956" y="210654"/>
                        <a:pt x="92163" y="205053"/>
                        <a:pt x="85704" y="202377"/>
                      </a:cubicBezTo>
                      <a:cubicBezTo>
                        <a:pt x="79244" y="199701"/>
                        <a:pt x="71895" y="200271"/>
                        <a:pt x="65926" y="203911"/>
                      </a:cubicBezTo>
                      <a:cubicBezTo>
                        <a:pt x="46329" y="215849"/>
                        <a:pt x="23889" y="193421"/>
                        <a:pt x="35827" y="173812"/>
                      </a:cubicBezTo>
                      <a:cubicBezTo>
                        <a:pt x="39461" y="167845"/>
                        <a:pt x="40030" y="160501"/>
                        <a:pt x="37357" y="154046"/>
                      </a:cubicBezTo>
                      <a:cubicBezTo>
                        <a:pt x="34684" y="147590"/>
                        <a:pt x="29090" y="142798"/>
                        <a:pt x="22301" y="141147"/>
                      </a:cubicBezTo>
                      <a:cubicBezTo>
                        <a:pt x="0" y="135737"/>
                        <a:pt x="0" y="104013"/>
                        <a:pt x="22301" y="98603"/>
                      </a:cubicBezTo>
                      <a:cubicBezTo>
                        <a:pt x="29096" y="96956"/>
                        <a:pt x="34697" y="92163"/>
                        <a:pt x="37373" y="85704"/>
                      </a:cubicBezTo>
                      <a:cubicBezTo>
                        <a:pt x="40049" y="79244"/>
                        <a:pt x="39479" y="71895"/>
                        <a:pt x="35839" y="65926"/>
                      </a:cubicBezTo>
                      <a:cubicBezTo>
                        <a:pt x="23901" y="46329"/>
                        <a:pt x="46329" y="23889"/>
                        <a:pt x="65938" y="35827"/>
                      </a:cubicBezTo>
                      <a:cubicBezTo>
                        <a:pt x="78638" y="43548"/>
                        <a:pt x="95097" y="36716"/>
                        <a:pt x="98603" y="22301"/>
                      </a:cubicBezTo>
                    </a:path>
                  </a:pathLst>
                </a:custGeom>
                <a:noFill/>
                <a:ln w="25400">
                  <a:solidFill>
                    <a:srgbClr val="B92102"/>
                  </a:solidFill>
                </a:ln>
              </p:spPr>
            </p:sp>
            <p:sp>
              <p:nvSpPr>
                <p:cNvPr id="153" name="Freeform 153"/>
                <p:cNvSpPr/>
                <p:nvPr/>
              </p:nvSpPr>
              <p:spPr>
                <a:xfrm>
                  <a:off x="809625" y="43719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5400">
                  <a:solidFill>
                    <a:srgbClr val="B92102"/>
                  </a:solidFill>
                </a:ln>
              </p:spPr>
            </p:sp>
          </p:grpSp>
          <p:sp>
            <p:nvSpPr>
              <p:cNvPr id="155" name="TextBox 155"/>
              <p:cNvSpPr txBox="1"/>
              <p:nvPr/>
            </p:nvSpPr>
            <p:spPr>
              <a:xfrm>
                <a:off x="622097" y="4730829"/>
                <a:ext cx="451256" cy="212693"/>
              </a:xfrm>
              <a:prstGeom prst="rect">
                <a:avLst/>
              </a:prstGeom>
              <a:noFill/>
              <a:ln>
                <a:noFill/>
              </a:ln>
            </p:spPr>
            <p:txBody>
              <a:bodyPr wrap="none" lIns="0" tIns="0" rIns="0" bIns="0" anchor="t" anchorCtr="0">
                <a:spAutoFit/>
              </a:bodyPr>
              <a:lstStyle/>
              <a:p>
                <a:pPr algn="ctr"/>
                <a:r>
                  <a:rPr lang="zh-CN" sz="1090" b="1" dirty="0">
                    <a:solidFill>
                      <a:srgbClr val="6E1604"/>
                    </a:solidFill>
                    <a:latin typeface="+mn-lt"/>
                    <a:ea typeface="+mn-ea"/>
                    <a:cs typeface="+mn-cs"/>
                  </a:rPr>
                  <a:t>中后台</a:t>
                </a:r>
              </a:p>
            </p:txBody>
          </p:sp>
          <p:grpSp>
            <p:nvGrpSpPr>
              <p:cNvPr id="159" name="Group 159"/>
              <p:cNvGrpSpPr/>
              <p:nvPr/>
            </p:nvGrpSpPr>
            <p:grpSpPr>
              <a:xfrm>
                <a:off x="2063750" y="4233863"/>
                <a:ext cx="177801" cy="200025"/>
                <a:chOff x="2063750" y="4233863"/>
                <a:chExt cx="177801" cy="200025"/>
              </a:xfrm>
            </p:grpSpPr>
            <p:sp>
              <p:nvSpPr>
                <p:cNvPr id="156" name="Freeform 156"/>
                <p:cNvSpPr/>
                <p:nvPr/>
              </p:nvSpPr>
              <p:spPr>
                <a:xfrm>
                  <a:off x="2063750" y="4233863"/>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22225">
                  <a:solidFill>
                    <a:srgbClr val="B92102"/>
                  </a:solidFill>
                </a:ln>
              </p:spPr>
            </p:sp>
            <p:sp>
              <p:nvSpPr>
                <p:cNvPr id="157" name="Freeform 157"/>
                <p:cNvSpPr/>
                <p:nvPr/>
              </p:nvSpPr>
              <p:spPr>
                <a:xfrm>
                  <a:off x="2063750" y="42672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B92102"/>
                  </a:solidFill>
                </a:ln>
              </p:spPr>
            </p:sp>
            <p:sp>
              <p:nvSpPr>
                <p:cNvPr id="158" name="Freeform 158"/>
                <p:cNvSpPr/>
                <p:nvPr/>
              </p:nvSpPr>
              <p:spPr>
                <a:xfrm>
                  <a:off x="2063750" y="433387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B92102"/>
                  </a:solidFill>
                </a:ln>
              </p:spPr>
            </p:sp>
          </p:grpSp>
          <p:sp>
            <p:nvSpPr>
              <p:cNvPr id="160" name="TextBox 160"/>
              <p:cNvSpPr txBox="1"/>
              <p:nvPr/>
            </p:nvSpPr>
            <p:spPr>
              <a:xfrm>
                <a:off x="1633538" y="461081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提供数据支持​​</a:t>
                </a:r>
              </a:p>
              <a:p>
                <a:pPr algn="l" marL="85280" indent="-85280">
                  <a:lnSpc>
                    <a:spcPts val="1200"/>
                  </a:lnSpc>
                  <a:buClr>
                    <a:srgbClr val="473633"/>
                  </a:buClr>
                  <a:buSzTx/>
                  <a:buFontTx/>
                  <a:buChar char="•"/>
                </a:pPr>
                <a:r>
                  <a:rPr lang="zh-CN" sz="790" dirty="0">
                    <a:solidFill>
                      <a:srgbClr val="473633"/>
                    </a:solidFill>
                    <a:latin typeface="+mn-lt"/>
                    <a:ea typeface="+mn-ea"/>
                    <a:cs typeface="+mn-cs"/>
                  </a:rPr>
                  <a:t>测算目标基线​​</a:t>
                </a:r>
              </a:p>
            </p:txBody>
          </p:sp>
          <p:grpSp>
            <p:nvGrpSpPr>
              <p:cNvPr id="167" name="Group 167"/>
              <p:cNvGrpSpPr/>
              <p:nvPr/>
            </p:nvGrpSpPr>
            <p:grpSpPr>
              <a:xfrm>
                <a:off x="3477419" y="4250531"/>
                <a:ext cx="183357" cy="161132"/>
                <a:chOff x="3477419" y="4250531"/>
                <a:chExt cx="183357" cy="161132"/>
              </a:xfrm>
            </p:grpSpPr>
            <p:sp>
              <p:nvSpPr>
                <p:cNvPr id="161" name="Freeform 161"/>
                <p:cNvSpPr/>
                <p:nvPr/>
              </p:nvSpPr>
              <p:spPr>
                <a:xfrm>
                  <a:off x="3477419" y="4250531"/>
                  <a:ext cx="44450" cy="27781"/>
                </a:xfrm>
                <a:custGeom>
                  <a:avLst/>
                  <a:gdLst/>
                  <a:ahLst/>
                  <a:cxnLst/>
                  <a:rect l="l" t="t" r="r" b="b"/>
                  <a:pathLst>
                    <a:path w="44450" h="27781">
                      <a:moveTo>
                        <a:pt x="0" y="11113"/>
                      </a:moveTo>
                      <a:lnTo>
                        <a:pt x="16669" y="27781"/>
                      </a:lnTo>
                      <a:lnTo>
                        <a:pt x="44450" y="0"/>
                      </a:lnTo>
                    </a:path>
                  </a:pathLst>
                </a:custGeom>
                <a:noFill/>
                <a:ln w="22225">
                  <a:solidFill>
                    <a:srgbClr val="B92102"/>
                  </a:solidFill>
                </a:ln>
              </p:spPr>
            </p:sp>
            <p:sp>
              <p:nvSpPr>
                <p:cNvPr id="162" name="Freeform 162"/>
                <p:cNvSpPr/>
                <p:nvPr/>
              </p:nvSpPr>
              <p:spPr>
                <a:xfrm>
                  <a:off x="3477419" y="4317207"/>
                  <a:ext cx="44450" cy="27781"/>
                </a:xfrm>
                <a:custGeom>
                  <a:avLst/>
                  <a:gdLst/>
                  <a:ahLst/>
                  <a:cxnLst/>
                  <a:rect l="l" t="t" r="r" b="b"/>
                  <a:pathLst>
                    <a:path w="44450" h="27781">
                      <a:moveTo>
                        <a:pt x="0" y="11113"/>
                      </a:moveTo>
                      <a:lnTo>
                        <a:pt x="16669" y="27781"/>
                      </a:lnTo>
                      <a:lnTo>
                        <a:pt x="44450" y="0"/>
                      </a:lnTo>
                    </a:path>
                  </a:pathLst>
                </a:custGeom>
                <a:noFill/>
                <a:ln w="22225">
                  <a:solidFill>
                    <a:srgbClr val="B92102"/>
                  </a:solidFill>
                </a:ln>
              </p:spPr>
            </p:sp>
            <p:sp>
              <p:nvSpPr>
                <p:cNvPr id="163" name="Freeform 163"/>
                <p:cNvSpPr/>
                <p:nvPr/>
              </p:nvSpPr>
              <p:spPr>
                <a:xfrm>
                  <a:off x="3477419" y="4383882"/>
                  <a:ext cx="44450" cy="27781"/>
                </a:xfrm>
                <a:custGeom>
                  <a:avLst/>
                  <a:gdLst/>
                  <a:ahLst/>
                  <a:cxnLst/>
                  <a:rect l="l" t="t" r="r" b="b"/>
                  <a:pathLst>
                    <a:path w="44450" h="27781">
                      <a:moveTo>
                        <a:pt x="0" y="11113"/>
                      </a:moveTo>
                      <a:lnTo>
                        <a:pt x="16669" y="27781"/>
                      </a:lnTo>
                      <a:lnTo>
                        <a:pt x="44450" y="0"/>
                      </a:lnTo>
                    </a:path>
                  </a:pathLst>
                </a:custGeom>
                <a:noFill/>
                <a:ln w="22225">
                  <a:solidFill>
                    <a:srgbClr val="B92102"/>
                  </a:solidFill>
                </a:ln>
              </p:spPr>
            </p:sp>
            <p:sp>
              <p:nvSpPr>
                <p:cNvPr id="164" name="Freeform 164"/>
                <p:cNvSpPr/>
                <p:nvPr/>
              </p:nvSpPr>
              <p:spPr>
                <a:xfrm>
                  <a:off x="3560763" y="4267200"/>
                  <a:ext cx="100013" cy="9525"/>
                </a:xfrm>
                <a:custGeom>
                  <a:avLst/>
                  <a:gdLst/>
                  <a:ahLst/>
                  <a:cxnLst/>
                  <a:rect l="l" t="t" r="r" b="b"/>
                  <a:pathLst>
                    <a:path w="100013" h="9525">
                      <a:moveTo>
                        <a:pt x="0" y="0"/>
                      </a:moveTo>
                      <a:lnTo>
                        <a:pt x="100013" y="0"/>
                      </a:lnTo>
                    </a:path>
                  </a:pathLst>
                </a:custGeom>
                <a:noFill/>
                <a:ln w="22225">
                  <a:solidFill>
                    <a:srgbClr val="B92102"/>
                  </a:solidFill>
                </a:ln>
              </p:spPr>
            </p:sp>
            <p:sp>
              <p:nvSpPr>
                <p:cNvPr id="165" name="Freeform 165"/>
                <p:cNvSpPr/>
                <p:nvPr/>
              </p:nvSpPr>
              <p:spPr>
                <a:xfrm>
                  <a:off x="3560763" y="4333875"/>
                  <a:ext cx="100013" cy="9525"/>
                </a:xfrm>
                <a:custGeom>
                  <a:avLst/>
                  <a:gdLst/>
                  <a:ahLst/>
                  <a:cxnLst/>
                  <a:rect l="l" t="t" r="r" b="b"/>
                  <a:pathLst>
                    <a:path w="100013" h="9525">
                      <a:moveTo>
                        <a:pt x="0" y="0"/>
                      </a:moveTo>
                      <a:lnTo>
                        <a:pt x="100013" y="0"/>
                      </a:lnTo>
                    </a:path>
                  </a:pathLst>
                </a:custGeom>
                <a:noFill/>
                <a:ln w="22225">
                  <a:solidFill>
                    <a:srgbClr val="B92102"/>
                  </a:solidFill>
                </a:ln>
              </p:spPr>
            </p:sp>
            <p:sp>
              <p:nvSpPr>
                <p:cNvPr id="166" name="Freeform 166"/>
                <p:cNvSpPr/>
                <p:nvPr/>
              </p:nvSpPr>
              <p:spPr>
                <a:xfrm>
                  <a:off x="3560763" y="4400551"/>
                  <a:ext cx="100013" cy="9525"/>
                </a:xfrm>
                <a:custGeom>
                  <a:avLst/>
                  <a:gdLst/>
                  <a:ahLst/>
                  <a:cxnLst/>
                  <a:rect l="l" t="t" r="r" b="b"/>
                  <a:pathLst>
                    <a:path w="100013" h="9525">
                      <a:moveTo>
                        <a:pt x="0" y="0"/>
                      </a:moveTo>
                      <a:lnTo>
                        <a:pt x="100013" y="0"/>
                      </a:lnTo>
                    </a:path>
                  </a:pathLst>
                </a:custGeom>
                <a:noFill/>
                <a:ln w="22225">
                  <a:solidFill>
                    <a:srgbClr val="B92102"/>
                  </a:solidFill>
                </a:ln>
              </p:spPr>
            </p:sp>
          </p:grpSp>
          <p:sp>
            <p:nvSpPr>
              <p:cNvPr id="168" name="TextBox 168"/>
              <p:cNvSpPr txBox="1"/>
              <p:nvPr/>
            </p:nvSpPr>
            <p:spPr>
              <a:xfrm>
                <a:off x="3052762" y="461081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生成名单清单​​</a:t>
                </a:r>
              </a:p>
              <a:p>
                <a:pPr algn="l" marL="85280" indent="-85280">
                  <a:lnSpc>
                    <a:spcPts val="1200"/>
                  </a:lnSpc>
                  <a:buClr>
                    <a:srgbClr val="473633"/>
                  </a:buClr>
                  <a:buSzTx/>
                  <a:buFontTx/>
                  <a:buChar char="•"/>
                </a:pPr>
                <a:r>
                  <a:rPr lang="zh-CN" sz="790" dirty="0">
                    <a:solidFill>
                      <a:srgbClr val="473633"/>
                    </a:solidFill>
                    <a:latin typeface="+mn-lt"/>
                    <a:ea typeface="+mn-ea"/>
                    <a:cs typeface="+mn-cs"/>
                  </a:rPr>
                  <a:t>校验名单质量​​</a:t>
                </a:r>
              </a:p>
            </p:txBody>
          </p:sp>
          <p:grpSp>
            <p:nvGrpSpPr>
              <p:cNvPr id="172" name="Group 172"/>
              <p:cNvGrpSpPr/>
              <p:nvPr/>
            </p:nvGrpSpPr>
            <p:grpSpPr>
              <a:xfrm>
                <a:off x="4891088" y="4233863"/>
                <a:ext cx="200026" cy="200025"/>
                <a:chOff x="4891088" y="4233863"/>
                <a:chExt cx="200026" cy="200025"/>
              </a:xfrm>
            </p:grpSpPr>
            <p:sp>
              <p:nvSpPr>
                <p:cNvPr id="169" name="Freeform 169"/>
                <p:cNvSpPr/>
                <p:nvPr/>
              </p:nvSpPr>
              <p:spPr>
                <a:xfrm>
                  <a:off x="4891088" y="423386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B92102"/>
                  </a:solidFill>
                </a:ln>
              </p:spPr>
            </p:sp>
            <p:sp>
              <p:nvSpPr>
                <p:cNvPr id="170" name="Freeform 170"/>
                <p:cNvSpPr/>
                <p:nvPr/>
              </p:nvSpPr>
              <p:spPr>
                <a:xfrm>
                  <a:off x="4930826" y="427831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B92102"/>
                  </a:solidFill>
                </a:ln>
              </p:spPr>
            </p:sp>
            <p:sp>
              <p:nvSpPr>
                <p:cNvPr id="171" name="Freeform 171"/>
                <p:cNvSpPr/>
                <p:nvPr/>
              </p:nvSpPr>
              <p:spPr>
                <a:xfrm>
                  <a:off x="4965542" y="4389438"/>
                  <a:ext cx="51118" cy="9525"/>
                </a:xfrm>
                <a:custGeom>
                  <a:avLst/>
                  <a:gdLst/>
                  <a:ahLst/>
                  <a:cxnLst/>
                  <a:rect l="l" t="t" r="r" b="b"/>
                  <a:pathLst>
                    <a:path w="51118" h="9525">
                      <a:moveTo>
                        <a:pt x="0" y="0"/>
                      </a:moveTo>
                      <a:lnTo>
                        <a:pt x="51118" y="0"/>
                      </a:lnTo>
                    </a:path>
                  </a:pathLst>
                </a:custGeom>
                <a:noFill/>
                <a:ln w="22225">
                  <a:solidFill>
                    <a:srgbClr val="B92102"/>
                  </a:solidFill>
                </a:ln>
              </p:spPr>
            </p:sp>
          </p:grpSp>
          <p:sp>
            <p:nvSpPr>
              <p:cNvPr id="173" name="TextBox 173"/>
              <p:cNvSpPr txBox="1"/>
              <p:nvPr/>
            </p:nvSpPr>
            <p:spPr>
              <a:xfrm>
                <a:off x="4471988" y="461081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提供诊断工具​​</a:t>
                </a:r>
              </a:p>
              <a:p>
                <a:pPr algn="l" marL="85280" indent="-85280">
                  <a:lnSpc>
                    <a:spcPts val="1200"/>
                  </a:lnSpc>
                  <a:buClr>
                    <a:srgbClr val="473633"/>
                  </a:buClr>
                  <a:buSzTx/>
                  <a:buFontTx/>
                  <a:buChar char="•"/>
                </a:pPr>
                <a:r>
                  <a:rPr lang="zh-CN" sz="790" dirty="0">
                    <a:solidFill>
                      <a:srgbClr val="473633"/>
                    </a:solidFill>
                    <a:latin typeface="+mn-lt"/>
                    <a:ea typeface="+mn-ea"/>
                    <a:cs typeface="+mn-cs"/>
                  </a:rPr>
                  <a:t>数据洞察支持​​</a:t>
                </a:r>
              </a:p>
            </p:txBody>
          </p:sp>
          <p:sp>
            <p:nvSpPr>
              <p:cNvPr id="174" name="Freeform 174"/>
              <p:cNvSpPr/>
              <p:nvPr/>
            </p:nvSpPr>
            <p:spPr>
              <a:xfrm>
                <a:off x="6310313" y="4233863"/>
                <a:ext cx="200026" cy="200026"/>
              </a:xfrm>
              <a:custGeom>
                <a:avLst/>
                <a:gdLst/>
                <a:ahLst/>
                <a:cxnLst/>
                <a:rect l="l" t="t" r="r" b="b"/>
                <a:pathLst>
                  <a:path w="200026" h="200026">
                    <a:moveTo>
                      <a:pt x="11113" y="44450"/>
                    </a:moveTo>
                    <a:lnTo>
                      <a:pt x="44450" y="44450"/>
                    </a:lnTo>
                    <a:cubicBezTo>
                      <a:pt x="50587" y="44450"/>
                      <a:pt x="55563" y="39475"/>
                      <a:pt x="55563" y="33338"/>
                    </a:cubicBezTo>
                    <a:lnTo>
                      <a:pt x="55563" y="22225"/>
                    </a:lnTo>
                    <a:cubicBezTo>
                      <a:pt x="55563" y="9950"/>
                      <a:pt x="65513" y="0"/>
                      <a:pt x="77788" y="0"/>
                    </a:cubicBezTo>
                    <a:cubicBezTo>
                      <a:pt x="90062" y="0"/>
                      <a:pt x="100013" y="9950"/>
                      <a:pt x="100013" y="22225"/>
                    </a:cubicBezTo>
                    <a:lnTo>
                      <a:pt x="100013" y="33338"/>
                    </a:lnTo>
                    <a:cubicBezTo>
                      <a:pt x="100013" y="39475"/>
                      <a:pt x="104988" y="44450"/>
                      <a:pt x="111125" y="44450"/>
                    </a:cubicBezTo>
                    <a:lnTo>
                      <a:pt x="144463" y="44450"/>
                    </a:lnTo>
                    <a:cubicBezTo>
                      <a:pt x="150600" y="44450"/>
                      <a:pt x="155575" y="49425"/>
                      <a:pt x="155575" y="55563"/>
                    </a:cubicBezTo>
                    <a:lnTo>
                      <a:pt x="155575" y="88900"/>
                    </a:lnTo>
                    <a:cubicBezTo>
                      <a:pt x="155575" y="95038"/>
                      <a:pt x="160551" y="100013"/>
                      <a:pt x="166688" y="100013"/>
                    </a:cubicBezTo>
                    <a:lnTo>
                      <a:pt x="177801" y="100013"/>
                    </a:lnTo>
                    <a:cubicBezTo>
                      <a:pt x="190075" y="100013"/>
                      <a:pt x="200026" y="109963"/>
                      <a:pt x="200026" y="122238"/>
                    </a:cubicBezTo>
                    <a:cubicBezTo>
                      <a:pt x="200026" y="134512"/>
                      <a:pt x="190075" y="144463"/>
                      <a:pt x="177801" y="144463"/>
                    </a:cubicBezTo>
                    <a:lnTo>
                      <a:pt x="166688" y="144463"/>
                    </a:lnTo>
                    <a:cubicBezTo>
                      <a:pt x="160551" y="144463"/>
                      <a:pt x="155575" y="149438"/>
                      <a:pt x="155575" y="155575"/>
                    </a:cubicBezTo>
                    <a:lnTo>
                      <a:pt x="155575" y="188913"/>
                    </a:lnTo>
                    <a:cubicBezTo>
                      <a:pt x="155575" y="195050"/>
                      <a:pt x="150600" y="200026"/>
                      <a:pt x="144463" y="200026"/>
                    </a:cubicBezTo>
                    <a:lnTo>
                      <a:pt x="111125" y="200026"/>
                    </a:lnTo>
                    <a:cubicBezTo>
                      <a:pt x="104988" y="200026"/>
                      <a:pt x="100013" y="195050"/>
                      <a:pt x="100013" y="188913"/>
                    </a:cubicBezTo>
                    <a:lnTo>
                      <a:pt x="100013" y="177801"/>
                    </a:lnTo>
                    <a:cubicBezTo>
                      <a:pt x="100013" y="165526"/>
                      <a:pt x="90062" y="155575"/>
                      <a:pt x="77788" y="155575"/>
                    </a:cubicBezTo>
                    <a:cubicBezTo>
                      <a:pt x="65513" y="155575"/>
                      <a:pt x="55563" y="165526"/>
                      <a:pt x="55563" y="177801"/>
                    </a:cubicBezTo>
                    <a:lnTo>
                      <a:pt x="55563" y="188913"/>
                    </a:lnTo>
                    <a:cubicBezTo>
                      <a:pt x="55563" y="195050"/>
                      <a:pt x="50587" y="200026"/>
                      <a:pt x="44450" y="200026"/>
                    </a:cubicBezTo>
                    <a:lnTo>
                      <a:pt x="11113" y="200026"/>
                    </a:lnTo>
                    <a:cubicBezTo>
                      <a:pt x="4975" y="200026"/>
                      <a:pt x="0" y="195050"/>
                      <a:pt x="0" y="188913"/>
                    </a:cubicBezTo>
                    <a:lnTo>
                      <a:pt x="0" y="155575"/>
                    </a:lnTo>
                    <a:cubicBezTo>
                      <a:pt x="0" y="149438"/>
                      <a:pt x="4975" y="144463"/>
                      <a:pt x="11113" y="144463"/>
                    </a:cubicBezTo>
                    <a:lnTo>
                      <a:pt x="22225" y="144463"/>
                    </a:lnTo>
                    <a:cubicBezTo>
                      <a:pt x="34500" y="144463"/>
                      <a:pt x="44450" y="134512"/>
                      <a:pt x="44450" y="122238"/>
                    </a:cubicBezTo>
                    <a:cubicBezTo>
                      <a:pt x="44450" y="109963"/>
                      <a:pt x="34500" y="100013"/>
                      <a:pt x="22225" y="100013"/>
                    </a:cubicBezTo>
                    <a:lnTo>
                      <a:pt x="11113" y="100013"/>
                    </a:lnTo>
                    <a:cubicBezTo>
                      <a:pt x="4975" y="100013"/>
                      <a:pt x="0" y="95038"/>
                      <a:pt x="0" y="88900"/>
                    </a:cubicBezTo>
                    <a:lnTo>
                      <a:pt x="0" y="55563"/>
                    </a:lnTo>
                    <a:cubicBezTo>
                      <a:pt x="0" y="49425"/>
                      <a:pt x="4975" y="44450"/>
                      <a:pt x="11113" y="44450"/>
                    </a:cubicBezTo>
                  </a:path>
                </a:pathLst>
              </a:custGeom>
              <a:noFill/>
              <a:ln w="22225">
                <a:solidFill>
                  <a:srgbClr val="B92102"/>
                </a:solidFill>
              </a:ln>
            </p:spPr>
          </p:sp>
          <p:sp>
            <p:nvSpPr>
              <p:cNvPr id="175" name="TextBox 175"/>
              <p:cNvSpPr txBox="1"/>
              <p:nvPr/>
            </p:nvSpPr>
            <p:spPr>
              <a:xfrm>
                <a:off x="5891212" y="4610814"/>
                <a:ext cx="90747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提供产品方案​​</a:t>
                </a:r>
              </a:p>
              <a:p>
                <a:pPr algn="l" marL="85280" indent="-85280">
                  <a:lnSpc>
                    <a:spcPts val="1200"/>
                  </a:lnSpc>
                  <a:buClr>
                    <a:srgbClr val="473633"/>
                  </a:buClr>
                  <a:buSzTx/>
                  <a:buFontTx/>
                  <a:buChar char="•"/>
                </a:pPr>
                <a:r>
                  <a:rPr lang="zh-CN" sz="790" dirty="0">
                    <a:solidFill>
                      <a:srgbClr val="473633"/>
                    </a:solidFill>
                    <a:latin typeface="+mn-lt"/>
                    <a:ea typeface="+mn-ea"/>
                    <a:cs typeface="+mn-cs"/>
                  </a:rPr>
                  <a:t>合规与风控支持​​</a:t>
                </a:r>
              </a:p>
            </p:txBody>
          </p:sp>
          <p:grpSp>
            <p:nvGrpSpPr>
              <p:cNvPr id="178" name="Group 178"/>
              <p:cNvGrpSpPr/>
              <p:nvPr/>
            </p:nvGrpSpPr>
            <p:grpSpPr>
              <a:xfrm>
                <a:off x="7714541" y="4233863"/>
                <a:ext cx="217008" cy="200025"/>
                <a:chOff x="7714541" y="4233863"/>
                <a:chExt cx="217008" cy="200025"/>
              </a:xfrm>
            </p:grpSpPr>
            <p:sp>
              <p:nvSpPr>
                <p:cNvPr id="176" name="Freeform 176"/>
                <p:cNvSpPr/>
                <p:nvPr/>
              </p:nvSpPr>
              <p:spPr>
                <a:xfrm>
                  <a:off x="7714541" y="4233863"/>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B92102"/>
                  </a:solidFill>
                </a:ln>
              </p:spPr>
            </p:sp>
            <p:sp>
              <p:nvSpPr>
                <p:cNvPr id="177" name="Freeform 177"/>
                <p:cNvSpPr/>
                <p:nvPr/>
              </p:nvSpPr>
              <p:spPr>
                <a:xfrm>
                  <a:off x="7862888" y="4389438"/>
                  <a:ext cx="66675" cy="44450"/>
                </a:xfrm>
                <a:custGeom>
                  <a:avLst/>
                  <a:gdLst/>
                  <a:ahLst/>
                  <a:cxnLst/>
                  <a:rect l="l" t="t" r="r" b="b"/>
                  <a:pathLst>
                    <a:path w="66675" h="44450">
                      <a:moveTo>
                        <a:pt x="0" y="22225"/>
                      </a:moveTo>
                      <a:lnTo>
                        <a:pt x="22225" y="44450"/>
                      </a:lnTo>
                      <a:lnTo>
                        <a:pt x="66675" y="0"/>
                      </a:lnTo>
                    </a:path>
                  </a:pathLst>
                </a:custGeom>
                <a:noFill/>
                <a:ln w="22225">
                  <a:solidFill>
                    <a:srgbClr val="B92102"/>
                  </a:solidFill>
                </a:ln>
              </p:spPr>
            </p:sp>
          </p:grpSp>
          <p:sp>
            <p:nvSpPr>
              <p:cNvPr id="179" name="TextBox 179"/>
              <p:cNvSpPr txBox="1"/>
              <p:nvPr/>
            </p:nvSpPr>
            <p:spPr>
              <a:xfrm>
                <a:off x="7310438" y="4610814"/>
                <a:ext cx="80714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合同合规审查​​</a:t>
                </a:r>
              </a:p>
              <a:p>
                <a:pPr algn="l" marL="85280" indent="-85280">
                  <a:lnSpc>
                    <a:spcPts val="1200"/>
                  </a:lnSpc>
                  <a:buClr>
                    <a:srgbClr val="473633"/>
                  </a:buClr>
                  <a:buSzTx/>
                  <a:buFontTx/>
                  <a:buChar char="•"/>
                </a:pPr>
                <a:r>
                  <a:rPr lang="zh-CN" sz="790" dirty="0">
                    <a:solidFill>
                      <a:srgbClr val="473633"/>
                    </a:solidFill>
                    <a:latin typeface="+mn-lt"/>
                    <a:ea typeface="+mn-ea"/>
                    <a:cs typeface="+mn-cs"/>
                  </a:rPr>
                  <a:t>授信审批支持​​</a:t>
                </a:r>
              </a:p>
            </p:txBody>
          </p:sp>
          <p:grpSp>
            <p:nvGrpSpPr>
              <p:cNvPr id="183" name="Group 183"/>
              <p:cNvGrpSpPr/>
              <p:nvPr/>
            </p:nvGrpSpPr>
            <p:grpSpPr>
              <a:xfrm>
                <a:off x="9170988" y="4244975"/>
                <a:ext cx="155575" cy="177801"/>
                <a:chOff x="9170988" y="4244975"/>
                <a:chExt cx="155575" cy="177801"/>
              </a:xfrm>
            </p:grpSpPr>
            <p:sp>
              <p:nvSpPr>
                <p:cNvPr id="180" name="Freeform 180"/>
                <p:cNvSpPr/>
                <p:nvPr/>
              </p:nvSpPr>
              <p:spPr>
                <a:xfrm>
                  <a:off x="9170988" y="4244975"/>
                  <a:ext cx="155575" cy="177801"/>
                </a:xfrm>
                <a:custGeom>
                  <a:avLst/>
                  <a:gdLst/>
                  <a:ahLst/>
                  <a:cxnLst/>
                  <a:rect l="l" t="t" r="r" b="b"/>
                  <a:pathLst>
                    <a:path w="155575" h="177801">
                      <a:moveTo>
                        <a:pt x="155575" y="0"/>
                      </a:moveTo>
                      <a:lnTo>
                        <a:pt x="155575" y="177801"/>
                      </a:lnTo>
                      <a:lnTo>
                        <a:pt x="22225" y="177801"/>
                      </a:lnTo>
                      <a:cubicBezTo>
                        <a:pt x="9950" y="177801"/>
                        <a:pt x="0" y="167850"/>
                        <a:pt x="0" y="155575"/>
                      </a:cubicBezTo>
                      <a:lnTo>
                        <a:pt x="0" y="22225"/>
                      </a:lnTo>
                      <a:cubicBezTo>
                        <a:pt x="0" y="9950"/>
                        <a:pt x="9950" y="0"/>
                        <a:pt x="22225" y="0"/>
                      </a:cubicBezTo>
                      <a:lnTo>
                        <a:pt x="155575" y="0"/>
                      </a:lnTo>
                    </a:path>
                  </a:pathLst>
                </a:custGeom>
                <a:noFill/>
                <a:ln w="22225">
                  <a:solidFill>
                    <a:srgbClr val="B92102"/>
                  </a:solidFill>
                </a:ln>
              </p:spPr>
            </p:sp>
            <p:sp>
              <p:nvSpPr>
                <p:cNvPr id="181" name="Freeform 181"/>
                <p:cNvSpPr/>
                <p:nvPr/>
              </p:nvSpPr>
              <p:spPr>
                <a:xfrm>
                  <a:off x="9170988" y="4378326"/>
                  <a:ext cx="155575" cy="22225"/>
                </a:xfrm>
                <a:custGeom>
                  <a:avLst/>
                  <a:gdLst/>
                  <a:ahLst/>
                  <a:cxnLst/>
                  <a:rect l="l" t="t" r="r" b="b"/>
                  <a:pathLst>
                    <a:path w="155575" h="22225">
                      <a:moveTo>
                        <a:pt x="155575" y="0"/>
                      </a:moveTo>
                      <a:lnTo>
                        <a:pt x="22225" y="0"/>
                      </a:lnTo>
                      <a:cubicBezTo>
                        <a:pt x="9950" y="0"/>
                        <a:pt x="0" y="9950"/>
                        <a:pt x="0" y="22225"/>
                      </a:cubicBezTo>
                    </a:path>
                  </a:pathLst>
                </a:custGeom>
                <a:noFill/>
                <a:ln w="22225">
                  <a:solidFill>
                    <a:srgbClr val="B92102"/>
                  </a:solidFill>
                </a:ln>
              </p:spPr>
            </p:sp>
            <p:sp>
              <p:nvSpPr>
                <p:cNvPr id="182" name="Freeform 182"/>
                <p:cNvSpPr/>
                <p:nvPr/>
              </p:nvSpPr>
              <p:spPr>
                <a:xfrm>
                  <a:off x="9215438" y="4289425"/>
                  <a:ext cx="66675" cy="9525"/>
                </a:xfrm>
                <a:custGeom>
                  <a:avLst/>
                  <a:gdLst/>
                  <a:ahLst/>
                  <a:cxnLst/>
                  <a:rect l="l" t="t" r="r" b="b"/>
                  <a:pathLst>
                    <a:path w="66675" h="9525">
                      <a:moveTo>
                        <a:pt x="0" y="0"/>
                      </a:moveTo>
                      <a:lnTo>
                        <a:pt x="66675" y="0"/>
                      </a:lnTo>
                    </a:path>
                  </a:pathLst>
                </a:custGeom>
                <a:noFill/>
                <a:ln w="22225">
                  <a:solidFill>
                    <a:srgbClr val="B92102"/>
                  </a:solidFill>
                </a:ln>
              </p:spPr>
            </p:sp>
          </p:grpSp>
          <p:sp>
            <p:nvSpPr>
              <p:cNvPr id="184" name="TextBox 184"/>
              <p:cNvSpPr txBox="1"/>
              <p:nvPr/>
            </p:nvSpPr>
            <p:spPr>
              <a:xfrm>
                <a:off x="8729662" y="4610814"/>
                <a:ext cx="706818" cy="307181"/>
              </a:xfrm>
              <a:prstGeom prst="rect">
                <a:avLst/>
              </a:prstGeom>
              <a:noFill/>
              <a:ln>
                <a:noFill/>
              </a:ln>
            </p:spPr>
            <p:txBody>
              <a:bodyPr wrap="none" lIns="0" tIns="0" rIns="0" bIns="0" anchor="t" anchorCtr="0">
                <a:spAutoFit/>
              </a:bodyPr>
              <a:lstStyle/>
              <a:p>
                <a:pPr algn="l" marL="85280" indent="-85280">
                  <a:lnSpc>
                    <a:spcPts val="1200"/>
                  </a:lnSpc>
                  <a:buClr>
                    <a:srgbClr val="473633"/>
                  </a:buClr>
                  <a:buSzTx/>
                  <a:buFontTx/>
                  <a:buChar char="•"/>
                </a:pPr>
                <a:r>
                  <a:rPr lang="zh-CN" sz="790" dirty="0">
                    <a:solidFill>
                      <a:srgbClr val="473633"/>
                    </a:solidFill>
                    <a:latin typeface="+mn-lt"/>
                    <a:ea typeface="+mn-ea"/>
                    <a:cs typeface="+mn-cs"/>
                  </a:rPr>
                  <a:t>沉淀案例库​​</a:t>
                </a:r>
              </a:p>
              <a:p>
                <a:pPr algn="l" marL="85280" indent="-85280">
                  <a:lnSpc>
                    <a:spcPts val="1200"/>
                  </a:lnSpc>
                  <a:buClr>
                    <a:srgbClr val="473633"/>
                  </a:buClr>
                  <a:buSzTx/>
                  <a:buFontTx/>
                  <a:buChar char="•"/>
                </a:pPr>
                <a:r>
                  <a:rPr lang="zh-CN" sz="790" dirty="0">
                    <a:solidFill>
                      <a:srgbClr val="473633"/>
                    </a:solidFill>
                    <a:latin typeface="+mn-lt"/>
                    <a:ea typeface="+mn-ea"/>
                    <a:cs typeface="+mn-cs"/>
                  </a:rPr>
                  <a:t>更新知识库​​</a:t>
                </a:r>
              </a:p>
            </p:txBody>
          </p:sp>
        </p:grpSp>
      </p:grpSp>
      <p:grpSp>
        <p:nvGrpSpPr>
          <p:cNvPr id="220" name="rhythm-panel"/>
          <p:cNvGrpSpPr/>
          <p:nvPr/>
        </p:nvGrpSpPr>
        <p:grpSpPr>
          <a:xfrm>
            <a:off x="10115550" y="742950"/>
            <a:ext cx="1809750" cy="4305300"/>
            <a:chOff x="10115550" y="742950"/>
            <a:chExt cx="1809750" cy="4305300"/>
          </a:xfrm>
        </p:grpSpPr>
        <p:sp>
          <p:nvSpPr>
            <p:cNvPr id="187" name="Rectangle 187"/>
            <p:cNvSpPr/>
            <p:nvPr/>
          </p:nvSpPr>
          <p:spPr>
            <a:xfrm>
              <a:off x="10115550" y="742950"/>
              <a:ext cx="1809750" cy="4305300"/>
            </a:xfrm>
            <a:prstGeom prst="roundRect">
              <a:avLst>
                <a:gd name="adj" fmla="val 4211"/>
              </a:avLst>
            </a:prstGeom>
            <a:solidFill>
              <a:srgbClr val="FFFFFF"/>
            </a:solidFill>
            <a:ln w="9525">
              <a:solidFill>
                <a:srgbClr val="F7D1C9"/>
              </a:solidFill>
            </a:ln>
          </p:spPr>
        </p:sp>
        <p:sp>
          <p:nvSpPr>
            <p:cNvPr id="188" name="Freeform 188"/>
            <p:cNvSpPr/>
            <p:nvPr/>
          </p:nvSpPr>
          <p:spPr>
            <a:xfrm>
              <a:off x="10115550" y="742950"/>
              <a:ext cx="1809750" cy="381000"/>
            </a:xfrm>
            <a:custGeom>
              <a:avLst/>
              <a:gdLst/>
              <a:ahLst/>
              <a:cxnLst/>
              <a:rect l="l" t="t" r="r" b="b"/>
              <a:pathLst>
                <a:path w="1809750" h="381000">
                  <a:moveTo>
                    <a:pt x="0" y="76200"/>
                  </a:moveTo>
                  <a:cubicBezTo>
                    <a:pt x="0" y="34116"/>
                    <a:pt x="34116" y="0"/>
                    <a:pt x="76200" y="0"/>
                  </a:cubicBezTo>
                  <a:lnTo>
                    <a:pt x="1733550" y="0"/>
                  </a:lnTo>
                  <a:cubicBezTo>
                    <a:pt x="1775634" y="0"/>
                    <a:pt x="1809750" y="34116"/>
                    <a:pt x="1809750" y="76200"/>
                  </a:cubicBezTo>
                  <a:lnTo>
                    <a:pt x="1809750" y="381000"/>
                  </a:lnTo>
                  <a:lnTo>
                    <a:pt x="0" y="381000"/>
                  </a:lnTo>
                  <a:close/>
                </a:path>
              </a:pathLst>
            </a:custGeom>
            <a:solidFill>
              <a:srgbClr val="B92102"/>
            </a:solidFill>
            <a:ln>
              <a:noFill/>
            </a:ln>
          </p:spPr>
        </p:sp>
        <p:sp>
          <p:nvSpPr>
            <p:cNvPr id="189" name="TextBox 189"/>
            <p:cNvSpPr txBox="1"/>
            <p:nvPr/>
          </p:nvSpPr>
          <p:spPr>
            <a:xfrm>
              <a:off x="10713161" y="8691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管理节奏</a:t>
              </a:r>
            </a:p>
          </p:txBody>
        </p:sp>
        <p:grpSp>
          <p:nvGrpSpPr>
            <p:cNvPr id="195" name="rhythm-1"/>
            <p:cNvGrpSpPr/>
            <p:nvPr/>
          </p:nvGrpSpPr>
          <p:grpSpPr>
            <a:xfrm>
              <a:off x="10229850" y="1257300"/>
              <a:ext cx="1581150" cy="838200"/>
              <a:chOff x="10229850" y="1257300"/>
              <a:chExt cx="1581150" cy="838200"/>
            </a:xfrm>
          </p:grpSpPr>
          <p:sp>
            <p:nvSpPr>
              <p:cNvPr id="190" name="Rectangle 190"/>
              <p:cNvSpPr/>
              <p:nvPr/>
            </p:nvSpPr>
            <p:spPr>
              <a:xfrm>
                <a:off x="10229850" y="1257300"/>
                <a:ext cx="1581150" cy="838200"/>
              </a:xfrm>
              <a:prstGeom prst="roundRect">
                <a:avLst>
                  <a:gd name="adj" fmla="val 6818"/>
                </a:avLst>
              </a:prstGeom>
              <a:solidFill>
                <a:srgbClr val="F2F7FE"/>
              </a:solidFill>
              <a:ln w="9525">
                <a:solidFill>
                  <a:srgbClr val="DCE6F8"/>
                </a:solidFill>
              </a:ln>
            </p:spPr>
          </p:sp>
          <p:grpSp>
            <p:nvGrpSpPr>
              <p:cNvPr id="193" name="Group 193"/>
              <p:cNvGrpSpPr/>
              <p:nvPr/>
            </p:nvGrpSpPr>
            <p:grpSpPr>
              <a:xfrm>
                <a:off x="10358438" y="1576388"/>
                <a:ext cx="200026" cy="200026"/>
                <a:chOff x="10358438" y="1576388"/>
                <a:chExt cx="200026" cy="200026"/>
              </a:xfrm>
            </p:grpSpPr>
            <p:sp>
              <p:nvSpPr>
                <p:cNvPr id="191" name="Freeform 191"/>
                <p:cNvSpPr/>
                <p:nvPr/>
              </p:nvSpPr>
              <p:spPr>
                <a:xfrm>
                  <a:off x="10358438" y="1576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D44B2F"/>
                  </a:solidFill>
                </a:ln>
              </p:spPr>
            </p:sp>
            <p:sp>
              <p:nvSpPr>
                <p:cNvPr id="192" name="Freeform 192"/>
                <p:cNvSpPr/>
                <p:nvPr/>
              </p:nvSpPr>
              <p:spPr>
                <a:xfrm>
                  <a:off x="10458450" y="1620838"/>
                  <a:ext cx="33338" cy="88900"/>
                </a:xfrm>
                <a:custGeom>
                  <a:avLst/>
                  <a:gdLst/>
                  <a:ahLst/>
                  <a:cxnLst/>
                  <a:rect l="l" t="t" r="r" b="b"/>
                  <a:pathLst>
                    <a:path w="33338" h="88900">
                      <a:moveTo>
                        <a:pt x="0" y="0"/>
                      </a:moveTo>
                      <a:lnTo>
                        <a:pt x="0" y="55563"/>
                      </a:lnTo>
                      <a:lnTo>
                        <a:pt x="33338" y="88900"/>
                      </a:lnTo>
                    </a:path>
                  </a:pathLst>
                </a:custGeom>
                <a:noFill/>
                <a:ln w="22225">
                  <a:solidFill>
                    <a:srgbClr val="D44B2F"/>
                  </a:solidFill>
                </a:ln>
              </p:spPr>
            </p:sp>
          </p:grpSp>
          <p:sp>
            <p:nvSpPr>
              <p:cNvPr id="194" name="TextBox 194"/>
              <p:cNvSpPr txBox="1"/>
              <p:nvPr/>
            </p:nvSpPr>
            <p:spPr>
              <a:xfrm>
                <a:off x="10681716" y="1620202"/>
                <a:ext cx="717423"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晨会看计划</a:t>
                </a:r>
              </a:p>
            </p:txBody>
          </p:sp>
        </p:grpSp>
        <p:grpSp>
          <p:nvGrpSpPr>
            <p:cNvPr id="205" name="rhythm-2"/>
            <p:cNvGrpSpPr/>
            <p:nvPr/>
          </p:nvGrpSpPr>
          <p:grpSpPr>
            <a:xfrm>
              <a:off x="10229850" y="2190750"/>
              <a:ext cx="1581150" cy="838200"/>
              <a:chOff x="10229850" y="2190750"/>
              <a:chExt cx="1581150" cy="838200"/>
            </a:xfrm>
          </p:grpSpPr>
          <p:sp>
            <p:nvSpPr>
              <p:cNvPr id="196" name="Rectangle 196"/>
              <p:cNvSpPr/>
              <p:nvPr/>
            </p:nvSpPr>
            <p:spPr>
              <a:xfrm>
                <a:off x="10229850" y="2190750"/>
                <a:ext cx="1581150" cy="838200"/>
              </a:xfrm>
              <a:prstGeom prst="roundRect">
                <a:avLst>
                  <a:gd name="adj" fmla="val 6818"/>
                </a:avLst>
              </a:prstGeom>
              <a:solidFill>
                <a:srgbClr val="F2F7FE"/>
              </a:solidFill>
              <a:ln w="9525">
                <a:solidFill>
                  <a:srgbClr val="DCE6F8"/>
                </a:solidFill>
              </a:ln>
            </p:spPr>
          </p:sp>
          <p:grpSp>
            <p:nvGrpSpPr>
              <p:cNvPr id="203" name="Group 203"/>
              <p:cNvGrpSpPr/>
              <p:nvPr/>
            </p:nvGrpSpPr>
            <p:grpSpPr>
              <a:xfrm>
                <a:off x="10369550" y="2509838"/>
                <a:ext cx="177801" cy="200026"/>
                <a:chOff x="10369550" y="2509838"/>
                <a:chExt cx="177801" cy="200026"/>
              </a:xfrm>
            </p:grpSpPr>
            <p:sp>
              <p:nvSpPr>
                <p:cNvPr id="197" name="Freeform 197"/>
                <p:cNvSpPr/>
                <p:nvPr/>
              </p:nvSpPr>
              <p:spPr>
                <a:xfrm>
                  <a:off x="10369550" y="2532063"/>
                  <a:ext cx="177801" cy="177801"/>
                </a:xfrm>
                <a:custGeom>
                  <a:avLst/>
                  <a:gdLst/>
                  <a:ahLst/>
                  <a:cxnLst/>
                  <a:rect l="l" t="t" r="r" b="b"/>
                  <a:pathLst>
                    <a:path w="177801" h="177801">
                      <a:moveTo>
                        <a:pt x="0" y="22225"/>
                      </a:moveTo>
                      <a:cubicBezTo>
                        <a:pt x="0" y="9950"/>
                        <a:pt x="9950" y="0"/>
                        <a:pt x="22225" y="0"/>
                      </a:cubicBezTo>
                      <a:lnTo>
                        <a:pt x="155575" y="0"/>
                      </a:lnTo>
                      <a:cubicBezTo>
                        <a:pt x="167850" y="0"/>
                        <a:pt x="177801" y="9950"/>
                        <a:pt x="177801" y="22225"/>
                      </a:cubicBezTo>
                      <a:lnTo>
                        <a:pt x="177801" y="155575"/>
                      </a:lnTo>
                      <a:cubicBezTo>
                        <a:pt x="177801" y="167850"/>
                        <a:pt x="167850" y="177801"/>
                        <a:pt x="155575" y="177801"/>
                      </a:cubicBezTo>
                      <a:lnTo>
                        <a:pt x="22225" y="177801"/>
                      </a:lnTo>
                      <a:cubicBezTo>
                        <a:pt x="9950" y="177801"/>
                        <a:pt x="0" y="167850"/>
                        <a:pt x="0" y="155575"/>
                      </a:cubicBezTo>
                      <a:lnTo>
                        <a:pt x="0" y="22225"/>
                      </a:lnTo>
                    </a:path>
                  </a:pathLst>
                </a:custGeom>
                <a:noFill/>
                <a:ln w="22225">
                  <a:solidFill>
                    <a:srgbClr val="D44B2F"/>
                  </a:solidFill>
                </a:ln>
              </p:spPr>
            </p:sp>
            <p:sp>
              <p:nvSpPr>
                <p:cNvPr id="198" name="Freeform 198"/>
                <p:cNvSpPr/>
                <p:nvPr/>
              </p:nvSpPr>
              <p:spPr>
                <a:xfrm>
                  <a:off x="10502901" y="2509838"/>
                  <a:ext cx="9525" cy="44450"/>
                </a:xfrm>
                <a:custGeom>
                  <a:avLst/>
                  <a:gdLst/>
                  <a:ahLst/>
                  <a:cxnLst/>
                  <a:rect l="l" t="t" r="r" b="b"/>
                  <a:pathLst>
                    <a:path w="9525" h="44450">
                      <a:moveTo>
                        <a:pt x="0" y="0"/>
                      </a:moveTo>
                      <a:lnTo>
                        <a:pt x="0" y="44450"/>
                      </a:lnTo>
                    </a:path>
                  </a:pathLst>
                </a:custGeom>
                <a:noFill/>
                <a:ln w="22225">
                  <a:solidFill>
                    <a:srgbClr val="D44B2F"/>
                  </a:solidFill>
                </a:ln>
              </p:spPr>
            </p:sp>
            <p:sp>
              <p:nvSpPr>
                <p:cNvPr id="199" name="Freeform 199"/>
                <p:cNvSpPr/>
                <p:nvPr/>
              </p:nvSpPr>
              <p:spPr>
                <a:xfrm>
                  <a:off x="10414000" y="2509838"/>
                  <a:ext cx="9525" cy="44450"/>
                </a:xfrm>
                <a:custGeom>
                  <a:avLst/>
                  <a:gdLst/>
                  <a:ahLst/>
                  <a:cxnLst/>
                  <a:rect l="l" t="t" r="r" b="b"/>
                  <a:pathLst>
                    <a:path w="9525" h="44450">
                      <a:moveTo>
                        <a:pt x="0" y="0"/>
                      </a:moveTo>
                      <a:lnTo>
                        <a:pt x="0" y="44450"/>
                      </a:lnTo>
                    </a:path>
                  </a:pathLst>
                </a:custGeom>
                <a:noFill/>
                <a:ln w="22225">
                  <a:solidFill>
                    <a:srgbClr val="D44B2F"/>
                  </a:solidFill>
                </a:ln>
              </p:spPr>
            </p:sp>
            <p:sp>
              <p:nvSpPr>
                <p:cNvPr id="200" name="Freeform 200"/>
                <p:cNvSpPr/>
                <p:nvPr/>
              </p:nvSpPr>
              <p:spPr>
                <a:xfrm>
                  <a:off x="10369550" y="2598738"/>
                  <a:ext cx="177801" cy="9525"/>
                </a:xfrm>
                <a:custGeom>
                  <a:avLst/>
                  <a:gdLst/>
                  <a:ahLst/>
                  <a:cxnLst/>
                  <a:rect l="l" t="t" r="r" b="b"/>
                  <a:pathLst>
                    <a:path w="177801" h="9525">
                      <a:moveTo>
                        <a:pt x="0" y="0"/>
                      </a:moveTo>
                      <a:lnTo>
                        <a:pt x="177801" y="0"/>
                      </a:lnTo>
                    </a:path>
                  </a:pathLst>
                </a:custGeom>
                <a:noFill/>
                <a:ln w="22225">
                  <a:solidFill>
                    <a:srgbClr val="D44B2F"/>
                  </a:solidFill>
                </a:ln>
              </p:spPr>
            </p:sp>
            <p:sp>
              <p:nvSpPr>
                <p:cNvPr id="201" name="Freeform 201"/>
                <p:cNvSpPr/>
                <p:nvPr/>
              </p:nvSpPr>
              <p:spPr>
                <a:xfrm>
                  <a:off x="10447338" y="2643188"/>
                  <a:ext cx="11113" cy="9525"/>
                </a:xfrm>
                <a:custGeom>
                  <a:avLst/>
                  <a:gdLst/>
                  <a:ahLst/>
                  <a:cxnLst/>
                  <a:rect l="l" t="t" r="r" b="b"/>
                  <a:pathLst>
                    <a:path w="11113" h="9525">
                      <a:moveTo>
                        <a:pt x="0" y="0"/>
                      </a:moveTo>
                      <a:lnTo>
                        <a:pt x="11113" y="0"/>
                      </a:lnTo>
                    </a:path>
                  </a:pathLst>
                </a:custGeom>
                <a:noFill/>
                <a:ln w="22225">
                  <a:solidFill>
                    <a:srgbClr val="D44B2F"/>
                  </a:solidFill>
                </a:ln>
              </p:spPr>
            </p:sp>
            <p:sp>
              <p:nvSpPr>
                <p:cNvPr id="202" name="Freeform 202"/>
                <p:cNvSpPr/>
                <p:nvPr/>
              </p:nvSpPr>
              <p:spPr>
                <a:xfrm>
                  <a:off x="10458450" y="2643188"/>
                  <a:ext cx="9525" cy="33338"/>
                </a:xfrm>
                <a:custGeom>
                  <a:avLst/>
                  <a:gdLst/>
                  <a:ahLst/>
                  <a:cxnLst/>
                  <a:rect l="l" t="t" r="r" b="b"/>
                  <a:pathLst>
                    <a:path w="9525" h="33338">
                      <a:moveTo>
                        <a:pt x="0" y="0"/>
                      </a:moveTo>
                      <a:lnTo>
                        <a:pt x="0" y="33338"/>
                      </a:lnTo>
                    </a:path>
                  </a:pathLst>
                </a:custGeom>
                <a:noFill/>
                <a:ln w="22225">
                  <a:solidFill>
                    <a:srgbClr val="D44B2F"/>
                  </a:solidFill>
                </a:ln>
              </p:spPr>
            </p:sp>
          </p:grpSp>
          <p:sp>
            <p:nvSpPr>
              <p:cNvPr id="204" name="TextBox 204"/>
              <p:cNvSpPr txBox="1"/>
              <p:nvPr/>
            </p:nvSpPr>
            <p:spPr>
              <a:xfrm>
                <a:off x="10681716" y="2553652"/>
                <a:ext cx="717423"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周中看推进</a:t>
                </a:r>
              </a:p>
            </p:txBody>
          </p:sp>
        </p:grpSp>
        <p:grpSp>
          <p:nvGrpSpPr>
            <p:cNvPr id="213" name="rhythm-3"/>
            <p:cNvGrpSpPr/>
            <p:nvPr/>
          </p:nvGrpSpPr>
          <p:grpSpPr>
            <a:xfrm>
              <a:off x="10229850" y="3124200"/>
              <a:ext cx="1581150" cy="838200"/>
              <a:chOff x="10229850" y="3124200"/>
              <a:chExt cx="1581150" cy="838200"/>
            </a:xfrm>
          </p:grpSpPr>
          <p:sp>
            <p:nvSpPr>
              <p:cNvPr id="206" name="Rectangle 206"/>
              <p:cNvSpPr/>
              <p:nvPr/>
            </p:nvSpPr>
            <p:spPr>
              <a:xfrm>
                <a:off x="10229850" y="3124200"/>
                <a:ext cx="1581150" cy="838200"/>
              </a:xfrm>
              <a:prstGeom prst="roundRect">
                <a:avLst>
                  <a:gd name="adj" fmla="val 6818"/>
                </a:avLst>
              </a:prstGeom>
              <a:solidFill>
                <a:srgbClr val="F2F7FE"/>
              </a:solidFill>
              <a:ln w="9525">
                <a:solidFill>
                  <a:srgbClr val="DCE6F8"/>
                </a:solidFill>
              </a:ln>
            </p:spPr>
          </p:sp>
          <p:grpSp>
            <p:nvGrpSpPr>
              <p:cNvPr id="211" name="Group 211"/>
              <p:cNvGrpSpPr/>
              <p:nvPr/>
            </p:nvGrpSpPr>
            <p:grpSpPr>
              <a:xfrm>
                <a:off x="10358438" y="3454400"/>
                <a:ext cx="200025" cy="187326"/>
                <a:chOff x="10358438" y="3454400"/>
                <a:chExt cx="200025" cy="187326"/>
              </a:xfrm>
            </p:grpSpPr>
            <p:sp>
              <p:nvSpPr>
                <p:cNvPr id="207" name="Freeform 207"/>
                <p:cNvSpPr/>
                <p:nvPr/>
              </p:nvSpPr>
              <p:spPr>
                <a:xfrm>
                  <a:off x="10358438" y="354330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D44B2F"/>
                  </a:solidFill>
                </a:ln>
              </p:spPr>
            </p:sp>
            <p:sp>
              <p:nvSpPr>
                <p:cNvPr id="208" name="Freeform 208"/>
                <p:cNvSpPr/>
                <p:nvPr/>
              </p:nvSpPr>
              <p:spPr>
                <a:xfrm>
                  <a:off x="10491788" y="349885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D44B2F"/>
                  </a:solidFill>
                </a:ln>
              </p:spPr>
            </p:sp>
            <p:sp>
              <p:nvSpPr>
                <p:cNvPr id="209" name="Freeform 209"/>
                <p:cNvSpPr/>
                <p:nvPr/>
              </p:nvSpPr>
              <p:spPr>
                <a:xfrm>
                  <a:off x="10425113" y="345440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D44B2F"/>
                  </a:solidFill>
                </a:ln>
              </p:spPr>
            </p:sp>
            <p:sp>
              <p:nvSpPr>
                <p:cNvPr id="210" name="Freeform 210"/>
                <p:cNvSpPr/>
                <p:nvPr/>
              </p:nvSpPr>
              <p:spPr>
                <a:xfrm>
                  <a:off x="10369550" y="3632201"/>
                  <a:ext cx="155575" cy="9525"/>
                </a:xfrm>
                <a:custGeom>
                  <a:avLst/>
                  <a:gdLst/>
                  <a:ahLst/>
                  <a:cxnLst/>
                  <a:rect l="l" t="t" r="r" b="b"/>
                  <a:pathLst>
                    <a:path w="155575" h="9525">
                      <a:moveTo>
                        <a:pt x="0" y="0"/>
                      </a:moveTo>
                      <a:lnTo>
                        <a:pt x="155575" y="0"/>
                      </a:lnTo>
                    </a:path>
                  </a:pathLst>
                </a:custGeom>
                <a:noFill/>
                <a:ln w="22225">
                  <a:solidFill>
                    <a:srgbClr val="D44B2F"/>
                  </a:solidFill>
                </a:ln>
              </p:spPr>
            </p:sp>
          </p:grpSp>
          <p:sp>
            <p:nvSpPr>
              <p:cNvPr id="212" name="TextBox 212"/>
              <p:cNvSpPr txBox="1"/>
              <p:nvPr/>
            </p:nvSpPr>
            <p:spPr>
              <a:xfrm>
                <a:off x="10681716" y="3487102"/>
                <a:ext cx="717423"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周末看转化</a:t>
                </a:r>
              </a:p>
            </p:txBody>
          </p:sp>
        </p:grpSp>
        <p:grpSp>
          <p:nvGrpSpPr>
            <p:cNvPr id="219" name="rhythm-4"/>
            <p:cNvGrpSpPr/>
            <p:nvPr/>
          </p:nvGrpSpPr>
          <p:grpSpPr>
            <a:xfrm>
              <a:off x="10229850" y="4057650"/>
              <a:ext cx="1581150" cy="838200"/>
              <a:chOff x="10229850" y="4057650"/>
              <a:chExt cx="1581150" cy="838200"/>
            </a:xfrm>
          </p:grpSpPr>
          <p:sp>
            <p:nvSpPr>
              <p:cNvPr id="214" name="Rectangle 214"/>
              <p:cNvSpPr/>
              <p:nvPr/>
            </p:nvSpPr>
            <p:spPr>
              <a:xfrm>
                <a:off x="10229850" y="4057650"/>
                <a:ext cx="1581150" cy="838200"/>
              </a:xfrm>
              <a:prstGeom prst="roundRect">
                <a:avLst>
                  <a:gd name="adj" fmla="val 6818"/>
                </a:avLst>
              </a:prstGeom>
              <a:solidFill>
                <a:srgbClr val="F2F7FE"/>
              </a:solidFill>
              <a:ln w="9525">
                <a:solidFill>
                  <a:srgbClr val="DCE6F8"/>
                </a:solidFill>
              </a:ln>
            </p:spPr>
          </p:sp>
          <p:grpSp>
            <p:nvGrpSpPr>
              <p:cNvPr id="217" name="Group 217"/>
              <p:cNvGrpSpPr/>
              <p:nvPr/>
            </p:nvGrpSpPr>
            <p:grpSpPr>
              <a:xfrm>
                <a:off x="10355340" y="4378648"/>
                <a:ext cx="200901" cy="201212"/>
                <a:chOff x="10355340" y="4378648"/>
                <a:chExt cx="200901" cy="201212"/>
              </a:xfrm>
            </p:grpSpPr>
            <p:sp>
              <p:nvSpPr>
                <p:cNvPr id="215" name="Freeform 215"/>
                <p:cNvSpPr/>
                <p:nvPr/>
              </p:nvSpPr>
              <p:spPr>
                <a:xfrm>
                  <a:off x="10355340" y="437864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14223" y="109214"/>
                      </a:lnTo>
                      <a:cubicBezTo>
                        <a:pt x="101948" y="109214"/>
                        <a:pt x="91998" y="99264"/>
                        <a:pt x="91998" y="86989"/>
                      </a:cubicBezTo>
                      <a:lnTo>
                        <a:pt x="91998" y="9202"/>
                      </a:lnTo>
                      <a:cubicBezTo>
                        <a:pt x="91719" y="6542"/>
                        <a:pt x="90387" y="4105"/>
                        <a:pt x="88299" y="2435"/>
                      </a:cubicBezTo>
                      <a:cubicBezTo>
                        <a:pt x="86211" y="765"/>
                        <a:pt x="83541" y="0"/>
                        <a:pt x="80885" y="312"/>
                      </a:cubicBezTo>
                    </a:path>
                  </a:pathLst>
                </a:custGeom>
                <a:noFill/>
                <a:ln w="22225">
                  <a:solidFill>
                    <a:srgbClr val="D44B2F"/>
                  </a:solidFill>
                </a:ln>
              </p:spPr>
            </p:sp>
            <p:sp>
              <p:nvSpPr>
                <p:cNvPr id="216" name="Freeform 216"/>
                <p:cNvSpPr/>
                <p:nvPr/>
              </p:nvSpPr>
              <p:spPr>
                <a:xfrm>
                  <a:off x="10491788" y="4382294"/>
                  <a:ext cx="61119" cy="61119"/>
                </a:xfrm>
                <a:custGeom>
                  <a:avLst/>
                  <a:gdLst/>
                  <a:ahLst/>
                  <a:cxnLst/>
                  <a:rect l="l" t="t" r="r" b="b"/>
                  <a:pathLst>
                    <a:path w="61119" h="61119">
                      <a:moveTo>
                        <a:pt x="0" y="0"/>
                      </a:moveTo>
                      <a:cubicBezTo>
                        <a:pt x="28579" y="10063"/>
                        <a:pt x="51056" y="32540"/>
                        <a:pt x="61119" y="61119"/>
                      </a:cubicBezTo>
                      <a:lnTo>
                        <a:pt x="11113" y="61119"/>
                      </a:lnTo>
                      <a:cubicBezTo>
                        <a:pt x="4975" y="61119"/>
                        <a:pt x="0" y="56144"/>
                        <a:pt x="0" y="50006"/>
                      </a:cubicBezTo>
                      <a:lnTo>
                        <a:pt x="0" y="0"/>
                      </a:lnTo>
                    </a:path>
                  </a:pathLst>
                </a:custGeom>
                <a:noFill/>
                <a:ln w="22225">
                  <a:solidFill>
                    <a:srgbClr val="D44B2F"/>
                  </a:solidFill>
                </a:ln>
              </p:spPr>
            </p:sp>
          </p:grpSp>
          <p:sp>
            <p:nvSpPr>
              <p:cNvPr id="218" name="TextBox 218"/>
              <p:cNvSpPr txBox="1"/>
              <p:nvPr/>
            </p:nvSpPr>
            <p:spPr>
              <a:xfrm>
                <a:off x="10681716" y="4420552"/>
                <a:ext cx="717423"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月末看复盘</a:t>
                </a:r>
              </a:p>
            </p:txBody>
          </p:sp>
        </p:grpSp>
      </p:grpSp>
      <p:grpSp>
        <p:nvGrpSpPr>
          <p:cNvPr id="270" name="escalation-table"/>
          <p:cNvGrpSpPr/>
          <p:nvPr/>
        </p:nvGrpSpPr>
        <p:grpSpPr>
          <a:xfrm>
            <a:off x="266700" y="5181600"/>
            <a:ext cx="11658600" cy="1390650"/>
            <a:chOff x="266700" y="5181600"/>
            <a:chExt cx="11658600" cy="1390650"/>
          </a:xfrm>
        </p:grpSpPr>
        <p:sp>
          <p:nvSpPr>
            <p:cNvPr id="221" name="Rectangle 221"/>
            <p:cNvSpPr/>
            <p:nvPr/>
          </p:nvSpPr>
          <p:spPr>
            <a:xfrm>
              <a:off x="266700" y="5181600"/>
              <a:ext cx="11658600" cy="1390650"/>
            </a:xfrm>
            <a:prstGeom prst="roundRect">
              <a:avLst>
                <a:gd name="adj" fmla="val 4110"/>
              </a:avLst>
            </a:prstGeom>
            <a:solidFill>
              <a:srgbClr val="FFFFFF"/>
            </a:solidFill>
            <a:ln w="9525">
              <a:solidFill>
                <a:srgbClr val="F7D1C9"/>
              </a:solidFill>
            </a:ln>
          </p:spPr>
        </p:sp>
        <p:sp>
          <p:nvSpPr>
            <p:cNvPr id="222" name="Freeform 222"/>
            <p:cNvSpPr/>
            <p:nvPr/>
          </p:nvSpPr>
          <p:spPr>
            <a:xfrm>
              <a:off x="266700" y="5181600"/>
              <a:ext cx="11658600" cy="285750"/>
            </a:xfrm>
            <a:custGeom>
              <a:avLst/>
              <a:gdLst/>
              <a:ahLst/>
              <a:cxnLst/>
              <a:rect l="l" t="t" r="r" b="b"/>
              <a:pathLst>
                <a:path w="11658600" h="285750">
                  <a:moveTo>
                    <a:pt x="0" y="57150"/>
                  </a:moveTo>
                  <a:cubicBezTo>
                    <a:pt x="0" y="25587"/>
                    <a:pt x="25587" y="0"/>
                    <a:pt x="57150" y="0"/>
                  </a:cubicBezTo>
                  <a:lnTo>
                    <a:pt x="11601450" y="0"/>
                  </a:lnTo>
                  <a:cubicBezTo>
                    <a:pt x="11633013" y="0"/>
                    <a:pt x="11658600" y="25587"/>
                    <a:pt x="11658600" y="57150"/>
                  </a:cubicBezTo>
                  <a:lnTo>
                    <a:pt x="11658600" y="285750"/>
                  </a:lnTo>
                  <a:lnTo>
                    <a:pt x="0" y="285750"/>
                  </a:lnTo>
                  <a:close/>
                </a:path>
              </a:pathLst>
            </a:custGeom>
            <a:solidFill>
              <a:srgbClr val="B92102"/>
            </a:solidFill>
            <a:ln>
              <a:noFill/>
            </a:ln>
          </p:spPr>
        </p:sp>
        <p:sp>
          <p:nvSpPr>
            <p:cNvPr id="223" name="Line 223"/>
            <p:cNvSpPr/>
            <p:nvPr/>
          </p:nvSpPr>
          <p:spPr>
            <a:xfrm>
              <a:off x="1714500" y="5238750"/>
              <a:ext cx="9525" cy="171450"/>
            </a:xfrm>
            <a:custGeom>
              <a:avLst/>
              <a:gdLst/>
              <a:ahLst/>
              <a:cxnLst/>
              <a:rect l="l" t="t" r="r" b="b"/>
              <a:pathLst>
                <a:path w="9525" h="171450">
                  <a:moveTo>
                    <a:pt x="0" y="0"/>
                  </a:moveTo>
                  <a:lnTo>
                    <a:pt x="0" y="171450"/>
                  </a:lnTo>
                </a:path>
              </a:pathLst>
            </a:custGeom>
            <a:noFill/>
            <a:ln w="9525">
              <a:solidFill>
                <a:srgbClr val="D9705B"/>
              </a:solidFill>
            </a:ln>
          </p:spPr>
        </p:sp>
        <p:sp>
          <p:nvSpPr>
            <p:cNvPr id="224" name="Line 224"/>
            <p:cNvSpPr/>
            <p:nvPr/>
          </p:nvSpPr>
          <p:spPr>
            <a:xfrm>
              <a:off x="4572000" y="5238750"/>
              <a:ext cx="9525" cy="171450"/>
            </a:xfrm>
            <a:custGeom>
              <a:avLst/>
              <a:gdLst/>
              <a:ahLst/>
              <a:cxnLst/>
              <a:rect l="l" t="t" r="r" b="b"/>
              <a:pathLst>
                <a:path w="9525" h="171450">
                  <a:moveTo>
                    <a:pt x="0" y="0"/>
                  </a:moveTo>
                  <a:lnTo>
                    <a:pt x="0" y="171450"/>
                  </a:lnTo>
                </a:path>
              </a:pathLst>
            </a:custGeom>
            <a:noFill/>
            <a:ln w="9525">
              <a:solidFill>
                <a:srgbClr val="D9705B"/>
              </a:solidFill>
            </a:ln>
          </p:spPr>
        </p:sp>
        <p:sp>
          <p:nvSpPr>
            <p:cNvPr id="225" name="Line 225"/>
            <p:cNvSpPr/>
            <p:nvPr/>
          </p:nvSpPr>
          <p:spPr>
            <a:xfrm>
              <a:off x="8286750" y="5238750"/>
              <a:ext cx="9525" cy="171450"/>
            </a:xfrm>
            <a:custGeom>
              <a:avLst/>
              <a:gdLst/>
              <a:ahLst/>
              <a:cxnLst/>
              <a:rect l="l" t="t" r="r" b="b"/>
              <a:pathLst>
                <a:path w="9525" h="171450">
                  <a:moveTo>
                    <a:pt x="0" y="0"/>
                  </a:moveTo>
                  <a:lnTo>
                    <a:pt x="0" y="171450"/>
                  </a:lnTo>
                </a:path>
              </a:pathLst>
            </a:custGeom>
            <a:noFill/>
            <a:ln w="9525">
              <a:solidFill>
                <a:srgbClr val="D9705B"/>
              </a:solidFill>
            </a:ln>
          </p:spPr>
        </p:sp>
        <p:sp>
          <p:nvSpPr>
            <p:cNvPr id="226" name="TextBox 226"/>
            <p:cNvSpPr txBox="1"/>
            <p:nvPr/>
          </p:nvSpPr>
          <p:spPr>
            <a:xfrm>
              <a:off x="732752" y="52613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异常类型</a:t>
              </a:r>
            </a:p>
          </p:txBody>
        </p:sp>
        <p:sp>
          <p:nvSpPr>
            <p:cNvPr id="227" name="TextBox 227"/>
            <p:cNvSpPr txBox="1"/>
            <p:nvPr/>
          </p:nvSpPr>
          <p:spPr>
            <a:xfrm>
              <a:off x="2885402" y="52613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识别规则</a:t>
              </a:r>
            </a:p>
          </p:txBody>
        </p:sp>
        <p:sp>
          <p:nvSpPr>
            <p:cNvPr id="228" name="TextBox 228"/>
            <p:cNvSpPr txBox="1"/>
            <p:nvPr/>
          </p:nvSpPr>
          <p:spPr>
            <a:xfrm>
              <a:off x="6171527" y="52613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升级机制</a:t>
              </a:r>
            </a:p>
          </p:txBody>
        </p:sp>
        <p:sp>
          <p:nvSpPr>
            <p:cNvPr id="229" name="TextBox 229"/>
            <p:cNvSpPr txBox="1"/>
            <p:nvPr/>
          </p:nvSpPr>
          <p:spPr>
            <a:xfrm>
              <a:off x="9848177" y="52613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责任角色</a:t>
              </a:r>
            </a:p>
          </p:txBody>
        </p:sp>
        <p:sp>
          <p:nvSpPr>
            <p:cNvPr id="230" name="Rectangle 230"/>
            <p:cNvSpPr/>
            <p:nvPr/>
          </p:nvSpPr>
          <p:spPr>
            <a:xfrm>
              <a:off x="276225" y="5743575"/>
              <a:ext cx="11639550" cy="276225"/>
            </a:xfrm>
            <a:prstGeom prst="rect">
              <a:avLst/>
            </a:prstGeom>
            <a:solidFill>
              <a:srgbClr val="F2F7FE"/>
            </a:solidFill>
            <a:ln>
              <a:noFill/>
            </a:ln>
          </p:spPr>
        </p:sp>
        <p:sp>
          <p:nvSpPr>
            <p:cNvPr id="231" name="Rectangle 231"/>
            <p:cNvSpPr/>
            <p:nvPr/>
          </p:nvSpPr>
          <p:spPr>
            <a:xfrm>
              <a:off x="276225" y="6296025"/>
              <a:ext cx="11639550" cy="266700"/>
            </a:xfrm>
            <a:prstGeom prst="rect">
              <a:avLst/>
            </a:prstGeom>
            <a:solidFill>
              <a:srgbClr val="F2F7FE"/>
            </a:solidFill>
            <a:ln>
              <a:noFill/>
            </a:ln>
          </p:spPr>
        </p:sp>
        <p:sp>
          <p:nvSpPr>
            <p:cNvPr id="232" name="Line 232"/>
            <p:cNvSpPr/>
            <p:nvPr/>
          </p:nvSpPr>
          <p:spPr>
            <a:xfrm>
              <a:off x="1714500" y="5467350"/>
              <a:ext cx="9525" cy="1104900"/>
            </a:xfrm>
            <a:custGeom>
              <a:avLst/>
              <a:gdLst/>
              <a:ahLst/>
              <a:cxnLst/>
              <a:rect l="l" t="t" r="r" b="b"/>
              <a:pathLst>
                <a:path w="9525" h="1104900">
                  <a:moveTo>
                    <a:pt x="0" y="0"/>
                  </a:moveTo>
                  <a:lnTo>
                    <a:pt x="0" y="1104900"/>
                  </a:lnTo>
                </a:path>
              </a:pathLst>
            </a:custGeom>
            <a:noFill/>
            <a:ln w="9525">
              <a:solidFill>
                <a:srgbClr val="DCE6F8"/>
              </a:solidFill>
            </a:ln>
          </p:spPr>
        </p:sp>
        <p:sp>
          <p:nvSpPr>
            <p:cNvPr id="233" name="Line 233"/>
            <p:cNvSpPr/>
            <p:nvPr/>
          </p:nvSpPr>
          <p:spPr>
            <a:xfrm>
              <a:off x="4572000" y="5467350"/>
              <a:ext cx="9525" cy="1104900"/>
            </a:xfrm>
            <a:custGeom>
              <a:avLst/>
              <a:gdLst/>
              <a:ahLst/>
              <a:cxnLst/>
              <a:rect l="l" t="t" r="r" b="b"/>
              <a:pathLst>
                <a:path w="9525" h="1104900">
                  <a:moveTo>
                    <a:pt x="0" y="0"/>
                  </a:moveTo>
                  <a:lnTo>
                    <a:pt x="0" y="1104900"/>
                  </a:lnTo>
                </a:path>
              </a:pathLst>
            </a:custGeom>
            <a:noFill/>
            <a:ln w="9525">
              <a:solidFill>
                <a:srgbClr val="DCE6F8"/>
              </a:solidFill>
            </a:ln>
          </p:spPr>
        </p:sp>
        <p:sp>
          <p:nvSpPr>
            <p:cNvPr id="234" name="Line 234"/>
            <p:cNvSpPr/>
            <p:nvPr/>
          </p:nvSpPr>
          <p:spPr>
            <a:xfrm>
              <a:off x="8286750" y="5467350"/>
              <a:ext cx="9525" cy="1104900"/>
            </a:xfrm>
            <a:custGeom>
              <a:avLst/>
              <a:gdLst/>
              <a:ahLst/>
              <a:cxnLst/>
              <a:rect l="l" t="t" r="r" b="b"/>
              <a:pathLst>
                <a:path w="9525" h="1104900">
                  <a:moveTo>
                    <a:pt x="0" y="0"/>
                  </a:moveTo>
                  <a:lnTo>
                    <a:pt x="0" y="1104900"/>
                  </a:lnTo>
                </a:path>
              </a:pathLst>
            </a:custGeom>
            <a:noFill/>
            <a:ln w="9525">
              <a:solidFill>
                <a:srgbClr val="DCE6F8"/>
              </a:solidFill>
            </a:ln>
          </p:spPr>
        </p:sp>
        <p:grpSp>
          <p:nvGrpSpPr>
            <p:cNvPr id="243" name="esc-1"/>
            <p:cNvGrpSpPr/>
            <p:nvPr/>
          </p:nvGrpSpPr>
          <p:grpSpPr>
            <a:xfrm>
              <a:off x="392400" y="5549907"/>
              <a:ext cx="9638614" cy="171284"/>
              <a:chOff x="392400" y="5549907"/>
              <a:chExt cx="9638614" cy="171284"/>
            </a:xfrm>
          </p:grpSpPr>
          <p:grpSp>
            <p:nvGrpSpPr>
              <p:cNvPr id="238" name="Group 238"/>
              <p:cNvGrpSpPr/>
              <p:nvPr/>
            </p:nvGrpSpPr>
            <p:grpSpPr>
              <a:xfrm>
                <a:off x="392400" y="5549907"/>
                <a:ext cx="120071" cy="103157"/>
                <a:chOff x="392400" y="5549907"/>
                <a:chExt cx="120071" cy="103157"/>
              </a:xfrm>
            </p:grpSpPr>
            <p:sp>
              <p:nvSpPr>
                <p:cNvPr id="235" name="Freeform 235"/>
                <p:cNvSpPr/>
                <p:nvPr/>
              </p:nvSpPr>
              <p:spPr>
                <a:xfrm>
                  <a:off x="452438" y="5587603"/>
                  <a:ext cx="9525" cy="23812"/>
                </a:xfrm>
                <a:custGeom>
                  <a:avLst/>
                  <a:gdLst/>
                  <a:ahLst/>
                  <a:cxnLst/>
                  <a:rect l="l" t="t" r="r" b="b"/>
                  <a:pathLst>
                    <a:path w="9525" h="23812">
                      <a:moveTo>
                        <a:pt x="0" y="0"/>
                      </a:moveTo>
                      <a:lnTo>
                        <a:pt x="0" y="23812"/>
                      </a:lnTo>
                    </a:path>
                  </a:pathLst>
                </a:custGeom>
                <a:noFill/>
                <a:ln w="11906">
                  <a:solidFill>
                    <a:srgbClr val="B92102"/>
                  </a:solidFill>
                </a:ln>
              </p:spPr>
            </p:sp>
            <p:sp>
              <p:nvSpPr>
                <p:cNvPr id="236" name="Freeform 236"/>
                <p:cNvSpPr/>
                <p:nvPr/>
              </p:nvSpPr>
              <p:spPr>
                <a:xfrm>
                  <a:off x="392400" y="5549907"/>
                  <a:ext cx="120071" cy="103157"/>
                </a:xfrm>
                <a:custGeom>
                  <a:avLst/>
                  <a:gdLst/>
                  <a:ahLst/>
                  <a:cxnLst/>
                  <a:rect l="l" t="t" r="r" b="b"/>
                  <a:pathLst>
                    <a:path w="120071" h="103157">
                      <a:moveTo>
                        <a:pt x="50293" y="5496"/>
                      </a:moveTo>
                      <a:lnTo>
                        <a:pt x="2037" y="86066"/>
                      </a:lnTo>
                      <a:cubicBezTo>
                        <a:pt x="12" y="89571"/>
                        <a:pt x="0" y="93888"/>
                        <a:pt x="2004" y="97405"/>
                      </a:cubicBezTo>
                      <a:cubicBezTo>
                        <a:pt x="4008" y="100922"/>
                        <a:pt x="7728" y="103112"/>
                        <a:pt x="11776" y="103157"/>
                      </a:cubicBezTo>
                      <a:lnTo>
                        <a:pt x="108300" y="103157"/>
                      </a:lnTo>
                      <a:cubicBezTo>
                        <a:pt x="112346" y="103110"/>
                        <a:pt x="116064" y="100922"/>
                        <a:pt x="118067" y="97406"/>
                      </a:cubicBezTo>
                      <a:cubicBezTo>
                        <a:pt x="120071" y="93891"/>
                        <a:pt x="120061" y="89577"/>
                        <a:pt x="118039" y="86072"/>
                      </a:cubicBezTo>
                      <a:lnTo>
                        <a:pt x="69783" y="5490"/>
                      </a:lnTo>
                      <a:cubicBezTo>
                        <a:pt x="67718" y="2082"/>
                        <a:pt x="64023" y="0"/>
                        <a:pt x="60038" y="0"/>
                      </a:cubicBezTo>
                      <a:cubicBezTo>
                        <a:pt x="56053" y="0"/>
                        <a:pt x="52358" y="2082"/>
                        <a:pt x="50293" y="5490"/>
                      </a:cubicBezTo>
                    </a:path>
                  </a:pathLst>
                </a:custGeom>
                <a:noFill/>
                <a:ln w="11906">
                  <a:solidFill>
                    <a:srgbClr val="B92102"/>
                  </a:solidFill>
                </a:ln>
              </p:spPr>
            </p:sp>
            <p:sp>
              <p:nvSpPr>
                <p:cNvPr id="237" name="Freeform 237"/>
                <p:cNvSpPr/>
                <p:nvPr/>
              </p:nvSpPr>
              <p:spPr>
                <a:xfrm>
                  <a:off x="452438" y="5629275"/>
                  <a:ext cx="9525" cy="9525"/>
                </a:xfrm>
                <a:custGeom>
                  <a:avLst/>
                  <a:gdLst/>
                  <a:ahLst/>
                  <a:cxnLst/>
                  <a:rect l="l" t="t" r="r" b="b"/>
                  <a:pathLst>
                    <a:path w="9525" h="9525">
                      <a:moveTo>
                        <a:pt x="0" y="0"/>
                      </a:moveTo>
                      <a:lnTo>
                        <a:pt x="60" y="0"/>
                      </a:lnTo>
                    </a:path>
                  </a:pathLst>
                </a:custGeom>
                <a:noFill/>
                <a:ln w="11906">
                  <a:solidFill>
                    <a:srgbClr val="B92102"/>
                  </a:solidFill>
                </a:ln>
              </p:spPr>
            </p:sp>
          </p:grpSp>
          <p:sp>
            <p:nvSpPr>
              <p:cNvPr id="239" name="TextBox 239"/>
              <p:cNvSpPr txBox="1"/>
              <p:nvPr/>
            </p:nvSpPr>
            <p:spPr>
              <a:xfrm>
                <a:off x="585788" y="5559266"/>
                <a:ext cx="671855" cy="161925"/>
              </a:xfrm>
              <a:prstGeom prst="rect">
                <a:avLst/>
              </a:prstGeom>
              <a:noFill/>
              <a:ln>
                <a:noFill/>
              </a:ln>
            </p:spPr>
            <p:txBody>
              <a:bodyPr wrap="none" lIns="0" tIns="0" rIns="0" bIns="0" anchor="t" anchorCtr="0">
                <a:spAutoFit/>
              </a:bodyPr>
              <a:lstStyle/>
              <a:p>
                <a:pPr algn="l"/>
                <a:r>
                  <a:rPr lang="zh-CN" sz="820" b="1" dirty="0">
                    <a:solidFill>
                      <a:srgbClr val="6E1604"/>
                    </a:solidFill>
                    <a:latin typeface="+mn-lt"/>
                    <a:ea typeface="+mn-ea"/>
                    <a:cs typeface="+mn-cs"/>
                  </a:rPr>
                  <a:t>名单质量异常</a:t>
                </a:r>
              </a:p>
            </p:txBody>
          </p:sp>
          <p:sp>
            <p:nvSpPr>
              <p:cNvPr id="240" name="TextBox 240"/>
              <p:cNvSpPr txBox="1"/>
              <p:nvPr/>
            </p:nvSpPr>
            <p:spPr>
              <a:xfrm>
                <a:off x="1843088" y="5559266"/>
                <a:ext cx="2078162"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近7天退回/无效名单占比 ＞ XX%​​​​​​​</a:t>
                </a:r>
              </a:p>
            </p:txBody>
          </p:sp>
          <p:sp>
            <p:nvSpPr>
              <p:cNvPr id="241" name="TextBox 241"/>
              <p:cNvSpPr txBox="1"/>
              <p:nvPr/>
            </p:nvSpPr>
            <p:spPr>
              <a:xfrm>
                <a:off x="4700588" y="5559266"/>
                <a:ext cx="2421512"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网点负责人初判 → 区域经理确认 → 相关部门支持​</a:t>
                </a:r>
              </a:p>
            </p:txBody>
          </p:sp>
          <p:sp>
            <p:nvSpPr>
              <p:cNvPr id="242" name="TextBox 242"/>
              <p:cNvSpPr txBox="1"/>
              <p:nvPr/>
            </p:nvSpPr>
            <p:spPr>
              <a:xfrm>
                <a:off x="8415338" y="5559266"/>
                <a:ext cx="1615676"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客户经理、网点负责人、中后台​</a:t>
                </a:r>
              </a:p>
            </p:txBody>
          </p:sp>
        </p:grpSp>
        <p:grpSp>
          <p:nvGrpSpPr>
            <p:cNvPr id="253" name="esc-2"/>
            <p:cNvGrpSpPr/>
            <p:nvPr/>
          </p:nvGrpSpPr>
          <p:grpSpPr>
            <a:xfrm>
              <a:off x="398859" y="5828109"/>
              <a:ext cx="9742544" cy="169307"/>
              <a:chOff x="398859" y="5828109"/>
              <a:chExt cx="9742544" cy="169307"/>
            </a:xfrm>
          </p:grpSpPr>
          <p:grpSp>
            <p:nvGrpSpPr>
              <p:cNvPr id="248" name="Group 248"/>
              <p:cNvGrpSpPr/>
              <p:nvPr/>
            </p:nvGrpSpPr>
            <p:grpSpPr>
              <a:xfrm>
                <a:off x="398859" y="5828109"/>
                <a:ext cx="107156" cy="107157"/>
                <a:chOff x="398859" y="5828109"/>
                <a:chExt cx="107156" cy="107157"/>
              </a:xfrm>
            </p:grpSpPr>
            <p:sp>
              <p:nvSpPr>
                <p:cNvPr id="244" name="Freeform 244"/>
                <p:cNvSpPr/>
                <p:nvPr/>
              </p:nvSpPr>
              <p:spPr>
                <a:xfrm>
                  <a:off x="410766" y="582810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1906">
                  <a:solidFill>
                    <a:srgbClr val="B92102"/>
                  </a:solidFill>
                </a:ln>
              </p:spPr>
            </p:sp>
            <p:sp>
              <p:nvSpPr>
                <p:cNvPr id="245" name="Freeform 245"/>
                <p:cNvSpPr/>
                <p:nvPr/>
              </p:nvSpPr>
              <p:spPr>
                <a:xfrm>
                  <a:off x="398859" y="5899547"/>
                  <a:ext cx="71438" cy="35719"/>
                </a:xfrm>
                <a:custGeom>
                  <a:avLst/>
                  <a:gdLst/>
                  <a:ahLst/>
                  <a:cxnLst/>
                  <a:rect l="l" t="t" r="r" b="b"/>
                  <a:pathLst>
                    <a:path w="71438" h="35719">
                      <a:moveTo>
                        <a:pt x="0" y="35719"/>
                      </a:moveTo>
                      <a:lnTo>
                        <a:pt x="0" y="23812"/>
                      </a:lnTo>
                      <a:cubicBezTo>
                        <a:pt x="0" y="10661"/>
                        <a:pt x="10661" y="0"/>
                        <a:pt x="23812" y="0"/>
                      </a:cubicBezTo>
                      <a:lnTo>
                        <a:pt x="47625" y="0"/>
                      </a:lnTo>
                      <a:cubicBezTo>
                        <a:pt x="60776" y="0"/>
                        <a:pt x="71438" y="10661"/>
                        <a:pt x="71438" y="23812"/>
                      </a:cubicBezTo>
                      <a:lnTo>
                        <a:pt x="71438" y="35719"/>
                      </a:lnTo>
                    </a:path>
                  </a:pathLst>
                </a:custGeom>
                <a:noFill/>
                <a:ln w="11906">
                  <a:solidFill>
                    <a:srgbClr val="B92102"/>
                  </a:solidFill>
                </a:ln>
              </p:spPr>
            </p:sp>
            <p:sp>
              <p:nvSpPr>
                <p:cNvPr id="246" name="Freeform 246"/>
                <p:cNvSpPr/>
                <p:nvPr/>
              </p:nvSpPr>
              <p:spPr>
                <a:xfrm>
                  <a:off x="476250" y="5828883"/>
                  <a:ext cx="17906" cy="46137"/>
                </a:xfrm>
                <a:custGeom>
                  <a:avLst/>
                  <a:gdLst/>
                  <a:ahLst/>
                  <a:cxnLst/>
                  <a:rect l="l" t="t" r="r" b="b"/>
                  <a:pathLst>
                    <a:path w="17906" h="46137">
                      <a:moveTo>
                        <a:pt x="0" y="0"/>
                      </a:moveTo>
                      <a:cubicBezTo>
                        <a:pt x="10537" y="2698"/>
                        <a:pt x="17906" y="12192"/>
                        <a:pt x="17906" y="23068"/>
                      </a:cubicBezTo>
                      <a:cubicBezTo>
                        <a:pt x="17906" y="33945"/>
                        <a:pt x="10537" y="43439"/>
                        <a:pt x="0" y="46137"/>
                      </a:cubicBezTo>
                    </a:path>
                  </a:pathLst>
                </a:custGeom>
                <a:noFill/>
                <a:ln w="11906">
                  <a:solidFill>
                    <a:srgbClr val="B92102"/>
                  </a:solidFill>
                </a:ln>
              </p:spPr>
            </p:sp>
            <p:sp>
              <p:nvSpPr>
                <p:cNvPr id="247" name="Freeform 247"/>
                <p:cNvSpPr/>
                <p:nvPr/>
              </p:nvSpPr>
              <p:spPr>
                <a:xfrm>
                  <a:off x="488156" y="5900440"/>
                  <a:ext cx="17859" cy="34826"/>
                </a:xfrm>
                <a:custGeom>
                  <a:avLst/>
                  <a:gdLst/>
                  <a:ahLst/>
                  <a:cxnLst/>
                  <a:rect l="l" t="t" r="r" b="b"/>
                  <a:pathLst>
                    <a:path w="17859" h="34826">
                      <a:moveTo>
                        <a:pt x="17859" y="34826"/>
                      </a:moveTo>
                      <a:lnTo>
                        <a:pt x="17859" y="22920"/>
                      </a:lnTo>
                      <a:cubicBezTo>
                        <a:pt x="17797" y="12112"/>
                        <a:pt x="10465" y="2702"/>
                        <a:pt x="0" y="0"/>
                      </a:cubicBezTo>
                    </a:path>
                  </a:pathLst>
                </a:custGeom>
                <a:noFill/>
                <a:ln w="11906">
                  <a:solidFill>
                    <a:srgbClr val="B92102"/>
                  </a:solidFill>
                </a:ln>
              </p:spPr>
            </p:sp>
          </p:grpSp>
          <p:sp>
            <p:nvSpPr>
              <p:cNvPr id="249" name="TextBox 249"/>
              <p:cNvSpPr txBox="1"/>
              <p:nvPr/>
            </p:nvSpPr>
            <p:spPr>
              <a:xfrm>
                <a:off x="585788" y="5835491"/>
                <a:ext cx="561467" cy="161925"/>
              </a:xfrm>
              <a:prstGeom prst="rect">
                <a:avLst/>
              </a:prstGeom>
              <a:noFill/>
              <a:ln>
                <a:noFill/>
              </a:ln>
            </p:spPr>
            <p:txBody>
              <a:bodyPr wrap="none" lIns="0" tIns="0" rIns="0" bIns="0" anchor="t" anchorCtr="0">
                <a:spAutoFit/>
              </a:bodyPr>
              <a:lstStyle/>
              <a:p>
                <a:pPr algn="l"/>
                <a:r>
                  <a:rPr lang="zh-CN" sz="820" b="1" dirty="0">
                    <a:solidFill>
                      <a:srgbClr val="6E1604"/>
                    </a:solidFill>
                    <a:latin typeface="+mn-lt"/>
                    <a:ea typeface="+mn-ea"/>
                    <a:cs typeface="+mn-cs"/>
                  </a:rPr>
                  <a:t>首触未达标</a:t>
                </a:r>
              </a:p>
            </p:txBody>
          </p:sp>
          <p:sp>
            <p:nvSpPr>
              <p:cNvPr id="250" name="TextBox 250"/>
              <p:cNvSpPr txBox="1"/>
              <p:nvPr/>
            </p:nvSpPr>
            <p:spPr>
              <a:xfrm>
                <a:off x="1843088" y="5835491"/>
                <a:ext cx="2331951"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首触完成率 ＜ XX% 或 首触质检不合格​​​​​​​</a:t>
                </a:r>
              </a:p>
            </p:txBody>
          </p:sp>
          <p:sp>
            <p:nvSpPr>
              <p:cNvPr id="251" name="TextBox 251"/>
              <p:cNvSpPr txBox="1"/>
              <p:nvPr/>
            </p:nvSpPr>
            <p:spPr>
              <a:xfrm>
                <a:off x="4700588" y="5835491"/>
                <a:ext cx="2200735"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网点负责人督导 → 区域经理介入 → 专项辅导​</a:t>
                </a:r>
              </a:p>
            </p:txBody>
          </p:sp>
          <p:sp>
            <p:nvSpPr>
              <p:cNvPr id="252" name="TextBox 252"/>
              <p:cNvSpPr txBox="1"/>
              <p:nvPr/>
            </p:nvSpPr>
            <p:spPr>
              <a:xfrm>
                <a:off x="8415338" y="5835491"/>
                <a:ext cx="1726065"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客户经理、网点负责人、区域经理​</a:t>
                </a:r>
              </a:p>
            </p:txBody>
          </p:sp>
        </p:grpSp>
        <p:grpSp>
          <p:nvGrpSpPr>
            <p:cNvPr id="261" name="esc-3"/>
            <p:cNvGrpSpPr/>
            <p:nvPr/>
          </p:nvGrpSpPr>
          <p:grpSpPr>
            <a:xfrm>
              <a:off x="398859" y="6104334"/>
              <a:ext cx="9742544" cy="169307"/>
              <a:chOff x="398859" y="6104334"/>
              <a:chExt cx="9742544" cy="169307"/>
            </a:xfrm>
          </p:grpSpPr>
          <p:grpSp>
            <p:nvGrpSpPr>
              <p:cNvPr id="256" name="Group 256"/>
              <p:cNvGrpSpPr/>
              <p:nvPr/>
            </p:nvGrpSpPr>
            <p:grpSpPr>
              <a:xfrm>
                <a:off x="398859" y="6104334"/>
                <a:ext cx="107156" cy="107156"/>
                <a:chOff x="398859" y="6104334"/>
                <a:chExt cx="107156" cy="107156"/>
              </a:xfrm>
            </p:grpSpPr>
            <p:sp>
              <p:nvSpPr>
                <p:cNvPr id="254" name="Freeform 254"/>
                <p:cNvSpPr/>
                <p:nvPr/>
              </p:nvSpPr>
              <p:spPr>
                <a:xfrm>
                  <a:off x="398859" y="6104334"/>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11906">
                  <a:solidFill>
                    <a:srgbClr val="B92102"/>
                  </a:solidFill>
                </a:ln>
              </p:spPr>
            </p:sp>
            <p:sp>
              <p:nvSpPr>
                <p:cNvPr id="255" name="Freeform 255"/>
                <p:cNvSpPr/>
                <p:nvPr/>
              </p:nvSpPr>
              <p:spPr>
                <a:xfrm>
                  <a:off x="452438" y="6128147"/>
                  <a:ext cx="17859" cy="47625"/>
                </a:xfrm>
                <a:custGeom>
                  <a:avLst/>
                  <a:gdLst/>
                  <a:ahLst/>
                  <a:cxnLst/>
                  <a:rect l="l" t="t" r="r" b="b"/>
                  <a:pathLst>
                    <a:path w="17859" h="47625">
                      <a:moveTo>
                        <a:pt x="0" y="0"/>
                      </a:moveTo>
                      <a:lnTo>
                        <a:pt x="0" y="29766"/>
                      </a:lnTo>
                      <a:lnTo>
                        <a:pt x="17859" y="47625"/>
                      </a:lnTo>
                    </a:path>
                  </a:pathLst>
                </a:custGeom>
                <a:noFill/>
                <a:ln w="11906">
                  <a:solidFill>
                    <a:srgbClr val="B92102"/>
                  </a:solidFill>
                </a:ln>
              </p:spPr>
            </p:sp>
          </p:grpSp>
          <p:sp>
            <p:nvSpPr>
              <p:cNvPr id="257" name="TextBox 257"/>
              <p:cNvSpPr txBox="1"/>
              <p:nvPr/>
            </p:nvSpPr>
            <p:spPr>
              <a:xfrm>
                <a:off x="585788" y="6111716"/>
                <a:ext cx="451079" cy="161925"/>
              </a:xfrm>
              <a:prstGeom prst="rect">
                <a:avLst/>
              </a:prstGeom>
              <a:noFill/>
              <a:ln>
                <a:noFill/>
              </a:ln>
            </p:spPr>
            <p:txBody>
              <a:bodyPr wrap="none" lIns="0" tIns="0" rIns="0" bIns="0" anchor="t" anchorCtr="0">
                <a:spAutoFit/>
              </a:bodyPr>
              <a:lstStyle/>
              <a:p>
                <a:pPr algn="l"/>
                <a:r>
                  <a:rPr lang="zh-CN" sz="820" b="1" dirty="0">
                    <a:solidFill>
                      <a:srgbClr val="6E1604"/>
                    </a:solidFill>
                    <a:latin typeface="+mn-lt"/>
                    <a:ea typeface="+mn-ea"/>
                    <a:cs typeface="+mn-cs"/>
                  </a:rPr>
                  <a:t>跟进停滞</a:t>
                </a:r>
              </a:p>
            </p:txBody>
          </p:sp>
          <p:sp>
            <p:nvSpPr>
              <p:cNvPr id="258" name="TextBox 258"/>
              <p:cNvSpPr txBox="1"/>
              <p:nvPr/>
            </p:nvSpPr>
            <p:spPr>
              <a:xfrm>
                <a:off x="1843088" y="6111716"/>
                <a:ext cx="1751579"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连续X个工作日无有效跟进记录​​​​</a:t>
                </a:r>
              </a:p>
            </p:txBody>
          </p:sp>
          <p:sp>
            <p:nvSpPr>
              <p:cNvPr id="259" name="TextBox 259"/>
              <p:cNvSpPr txBox="1"/>
              <p:nvPr/>
            </p:nvSpPr>
            <p:spPr>
              <a:xfrm>
                <a:off x="4700588" y="6111716"/>
                <a:ext cx="2421512"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客户经理自查 → 网点负责人提醒 → 区域经理督办​</a:t>
                </a:r>
              </a:p>
            </p:txBody>
          </p:sp>
          <p:sp>
            <p:nvSpPr>
              <p:cNvPr id="260" name="TextBox 260"/>
              <p:cNvSpPr txBox="1"/>
              <p:nvPr/>
            </p:nvSpPr>
            <p:spPr>
              <a:xfrm>
                <a:off x="8415338" y="6111716"/>
                <a:ext cx="1726065"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客户经理、网点负责人、区域经理​</a:t>
                </a:r>
              </a:p>
            </p:txBody>
          </p:sp>
        </p:grpSp>
        <p:grpSp>
          <p:nvGrpSpPr>
            <p:cNvPr id="269" name="esc-4"/>
            <p:cNvGrpSpPr/>
            <p:nvPr/>
          </p:nvGrpSpPr>
          <p:grpSpPr>
            <a:xfrm>
              <a:off x="390825" y="6380559"/>
              <a:ext cx="10153495" cy="169307"/>
              <a:chOff x="390825" y="6380559"/>
              <a:chExt cx="10153495" cy="169307"/>
            </a:xfrm>
          </p:grpSpPr>
          <p:grpSp>
            <p:nvGrpSpPr>
              <p:cNvPr id="264" name="Group 264"/>
              <p:cNvGrpSpPr/>
              <p:nvPr/>
            </p:nvGrpSpPr>
            <p:grpSpPr>
              <a:xfrm>
                <a:off x="390825" y="6380559"/>
                <a:ext cx="116254" cy="107156"/>
                <a:chOff x="390825" y="6380559"/>
                <a:chExt cx="116254" cy="107156"/>
              </a:xfrm>
            </p:grpSpPr>
            <p:sp>
              <p:nvSpPr>
                <p:cNvPr id="262" name="Freeform 262"/>
                <p:cNvSpPr/>
                <p:nvPr/>
              </p:nvSpPr>
              <p:spPr>
                <a:xfrm>
                  <a:off x="390825" y="6380559"/>
                  <a:ext cx="116254" cy="106239"/>
                </a:xfrm>
                <a:custGeom>
                  <a:avLst/>
                  <a:gdLst/>
                  <a:ahLst/>
                  <a:cxnLst/>
                  <a:rect l="l" t="t" r="r" b="b"/>
                  <a:pathLst>
                    <a:path w="116254" h="106239">
                      <a:moveTo>
                        <a:pt x="58397" y="106239"/>
                      </a:moveTo>
                      <a:cubicBezTo>
                        <a:pt x="21104" y="94679"/>
                        <a:pt x="0" y="55319"/>
                        <a:pt x="11011" y="17859"/>
                      </a:cubicBezTo>
                      <a:cubicBezTo>
                        <a:pt x="29558" y="18708"/>
                        <a:pt x="47707" y="12303"/>
                        <a:pt x="61612" y="0"/>
                      </a:cubicBezTo>
                      <a:cubicBezTo>
                        <a:pt x="75518" y="12303"/>
                        <a:pt x="93667" y="18708"/>
                        <a:pt x="112214" y="17859"/>
                      </a:cubicBezTo>
                      <a:cubicBezTo>
                        <a:pt x="116254" y="31606"/>
                        <a:pt x="116067" y="46249"/>
                        <a:pt x="111678" y="59888"/>
                      </a:cubicBezTo>
                    </a:path>
                  </a:pathLst>
                </a:custGeom>
                <a:noFill/>
                <a:ln w="11906">
                  <a:solidFill>
                    <a:srgbClr val="B92102"/>
                  </a:solidFill>
                </a:ln>
              </p:spPr>
            </p:sp>
            <p:sp>
              <p:nvSpPr>
                <p:cNvPr id="263" name="Freeform 263"/>
                <p:cNvSpPr/>
                <p:nvPr/>
              </p:nvSpPr>
              <p:spPr>
                <a:xfrm>
                  <a:off x="470297" y="6463903"/>
                  <a:ext cx="35719" cy="23812"/>
                </a:xfrm>
                <a:custGeom>
                  <a:avLst/>
                  <a:gdLst/>
                  <a:ahLst/>
                  <a:cxnLst/>
                  <a:rect l="l" t="t" r="r" b="b"/>
                  <a:pathLst>
                    <a:path w="35719" h="23812">
                      <a:moveTo>
                        <a:pt x="0" y="11906"/>
                      </a:moveTo>
                      <a:lnTo>
                        <a:pt x="11906" y="23812"/>
                      </a:lnTo>
                      <a:lnTo>
                        <a:pt x="35719" y="0"/>
                      </a:lnTo>
                    </a:path>
                  </a:pathLst>
                </a:custGeom>
                <a:noFill/>
                <a:ln w="11906">
                  <a:solidFill>
                    <a:srgbClr val="B92102"/>
                  </a:solidFill>
                </a:ln>
              </p:spPr>
            </p:sp>
          </p:grpSp>
          <p:sp>
            <p:nvSpPr>
              <p:cNvPr id="265" name="TextBox 265"/>
              <p:cNvSpPr txBox="1"/>
              <p:nvPr/>
            </p:nvSpPr>
            <p:spPr>
              <a:xfrm>
                <a:off x="585788" y="6387941"/>
                <a:ext cx="451079" cy="161925"/>
              </a:xfrm>
              <a:prstGeom prst="rect">
                <a:avLst/>
              </a:prstGeom>
              <a:noFill/>
              <a:ln>
                <a:noFill/>
              </a:ln>
            </p:spPr>
            <p:txBody>
              <a:bodyPr wrap="none" lIns="0" tIns="0" rIns="0" bIns="0" anchor="t" anchorCtr="0">
                <a:spAutoFit/>
              </a:bodyPr>
              <a:lstStyle/>
              <a:p>
                <a:pPr algn="l"/>
                <a:r>
                  <a:rPr lang="zh-CN" sz="820" b="1" dirty="0">
                    <a:solidFill>
                      <a:srgbClr val="6E1604"/>
                    </a:solidFill>
                    <a:latin typeface="+mn-lt"/>
                    <a:ea typeface="+mn-ea"/>
                    <a:cs typeface="+mn-cs"/>
                  </a:rPr>
                  <a:t>风险事件</a:t>
                </a:r>
              </a:p>
            </p:txBody>
          </p:sp>
          <p:sp>
            <p:nvSpPr>
              <p:cNvPr id="266" name="TextBox 266"/>
              <p:cNvSpPr txBox="1"/>
              <p:nvPr/>
            </p:nvSpPr>
            <p:spPr>
              <a:xfrm>
                <a:off x="1843088" y="6387941"/>
                <a:ext cx="1869570"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触发合规/信用/舆情等风险预警​​​​​</a:t>
                </a:r>
              </a:p>
            </p:txBody>
          </p:sp>
          <p:sp>
            <p:nvSpPr>
              <p:cNvPr id="267" name="TextBox 267"/>
              <p:cNvSpPr txBox="1"/>
              <p:nvPr/>
            </p:nvSpPr>
            <p:spPr>
              <a:xfrm>
                <a:off x="4700588" y="6387941"/>
                <a:ext cx="2603652"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立即上报网点负责人 → 区域经理 → 风控/合规部门​​​</a:t>
                </a:r>
              </a:p>
            </p:txBody>
          </p:sp>
          <p:sp>
            <p:nvSpPr>
              <p:cNvPr id="268" name="TextBox 268"/>
              <p:cNvSpPr txBox="1"/>
              <p:nvPr/>
            </p:nvSpPr>
            <p:spPr>
              <a:xfrm>
                <a:off x="8415338" y="6387941"/>
                <a:ext cx="2128982" cy="161925"/>
              </a:xfrm>
              <a:prstGeom prst="rect">
                <a:avLst/>
              </a:prstGeom>
              <a:noFill/>
              <a:ln>
                <a:noFill/>
              </a:ln>
            </p:spPr>
            <p:txBody>
              <a:bodyPr wrap="none" lIns="0" tIns="0" rIns="0" bIns="0" anchor="t" anchorCtr="0">
                <a:spAutoFit/>
              </a:bodyPr>
              <a:lstStyle/>
              <a:p>
                <a:pPr algn="l"/>
                <a:r>
                  <a:rPr lang="zh-CN" sz="820" dirty="0">
                    <a:solidFill>
                      <a:srgbClr val="473633"/>
                    </a:solidFill>
                    <a:latin typeface="+mn-lt"/>
                    <a:ea typeface="+mn-ea"/>
                    <a:cs typeface="+mn-cs"/>
                  </a:rPr>
                  <a:t>客户经理、网点负责人、风控/合规部门​​​</a:t>
                </a:r>
              </a:p>
            </p:txBody>
          </p:sp>
        </p:grpSp>
      </p:gr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12​</a:t>
              </a:r>
            </a:p>
          </p:txBody>
        </p:sp>
        <p:sp>
          <p:nvSpPr>
            <p:cNvPr id="4" name="TextBox 4"/>
            <p:cNvSpPr txBox="1"/>
            <p:nvPr/>
          </p:nvSpPr>
          <p:spPr>
            <a:xfrm>
              <a:off x="942594" y="151448"/>
              <a:ext cx="6004720"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团队效能与能力建设</a:t>
              </a:r>
              <a:r>
                <a:rPr lang="zh-CN" sz="1950" b="1" dirty="0">
                  <a:solidFill>
                    <a:srgbClr val="1A1A1A"/>
                  </a:solidFill>
                  <a:latin typeface="SimSun"/>
                  <a:ea typeface="SimSun"/>
                  <a:cs typeface="SimSun"/>
                </a:rPr>
                <a:t>｜从个体经验走向组织复制​</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54" name="efficacy-matrix"/>
          <p:cNvGrpSpPr/>
          <p:nvPr/>
        </p:nvGrpSpPr>
        <p:grpSpPr>
          <a:xfrm>
            <a:off x="266700" y="723900"/>
            <a:ext cx="5543550" cy="3165634"/>
            <a:chOff x="266700" y="723900"/>
            <a:chExt cx="5543550" cy="3165634"/>
          </a:xfrm>
        </p:grpSpPr>
        <p:sp>
          <p:nvSpPr>
            <p:cNvPr id="7" name="Rectangle 7"/>
            <p:cNvSpPr/>
            <p:nvPr/>
          </p:nvSpPr>
          <p:spPr>
            <a:xfrm>
              <a:off x="266700" y="723900"/>
              <a:ext cx="5543550" cy="3086100"/>
            </a:xfrm>
            <a:prstGeom prst="roundRect">
              <a:avLst>
                <a:gd name="adj" fmla="val 2469"/>
              </a:avLst>
            </a:prstGeom>
            <a:solidFill>
              <a:srgbClr val="FFFFFF"/>
            </a:solidFill>
            <a:ln w="9525">
              <a:solidFill>
                <a:srgbClr val="F7D1C9"/>
              </a:solidFill>
            </a:ln>
          </p:spPr>
        </p:sp>
        <p:sp>
          <p:nvSpPr>
            <p:cNvPr id="8" name="Rectangle 8"/>
            <p:cNvSpPr/>
            <p:nvPr/>
          </p:nvSpPr>
          <p:spPr>
            <a:xfrm>
              <a:off x="381000" y="838200"/>
              <a:ext cx="38100" cy="190500"/>
            </a:xfrm>
            <a:prstGeom prst="rect">
              <a:avLst/>
            </a:prstGeom>
            <a:solidFill>
              <a:srgbClr val="B92102"/>
            </a:solidFill>
            <a:ln>
              <a:noFill/>
            </a:ln>
          </p:spPr>
        </p:sp>
        <p:sp>
          <p:nvSpPr>
            <p:cNvPr id="9" name="TextBox 9"/>
            <p:cNvSpPr txBox="1"/>
            <p:nvPr/>
          </p:nvSpPr>
          <p:spPr>
            <a:xfrm>
              <a:off x="489204" y="861060"/>
              <a:ext cx="981456" cy="234696"/>
            </a:xfrm>
            <a:prstGeom prst="rect">
              <a:avLst/>
            </a:prstGeom>
            <a:noFill/>
            <a:ln>
              <a:noFill/>
            </a:ln>
          </p:spPr>
          <p:txBody>
            <a:bodyPr wrap="none" lIns="0" tIns="0" rIns="0" bIns="0" anchor="t" anchorCtr="0">
              <a:spAutoFit/>
            </a:bodyPr>
            <a:lstStyle/>
            <a:p>
              <a:pPr algn="l"/>
              <a:r>
                <a:rPr lang="zh-CN" sz="1200" b="1" dirty="0">
                  <a:solidFill>
                    <a:srgbClr val="6E1604"/>
                  </a:solidFill>
                  <a:latin typeface="+mn-lt"/>
                  <a:ea typeface="+mn-ea"/>
                  <a:cs typeface="+mn-cs"/>
                </a:rPr>
                <a:t>团队效能矩阵</a:t>
              </a:r>
            </a:p>
          </p:txBody>
        </p:sp>
        <p:sp>
          <p:nvSpPr>
            <p:cNvPr id="10" name="Line 10"/>
            <p:cNvSpPr/>
            <p:nvPr/>
          </p:nvSpPr>
          <p:spPr>
            <a:xfrm flipV="1">
              <a:off x="876300" y="1143000"/>
              <a:ext cx="1" cy="2457450"/>
            </a:xfrm>
            <a:prstGeom prst="line">
              <a:avLst/>
            </a:prstGeom>
            <a:noFill/>
            <a:ln w="17145">
              <a:solidFill>
                <a:srgbClr val="D44B2F"/>
              </a:solidFill>
              <a:tailEnd type="triangle" w="lg" len="lg"/>
            </a:ln>
          </p:spPr>
        </p:sp>
        <p:sp>
          <p:nvSpPr>
            <p:cNvPr id="11" name="Line 11"/>
            <p:cNvSpPr/>
            <p:nvPr/>
          </p:nvSpPr>
          <p:spPr>
            <a:xfrm>
              <a:off x="876300" y="3600450"/>
              <a:ext cx="4800600" cy="1"/>
            </a:xfrm>
            <a:prstGeom prst="line">
              <a:avLst/>
            </a:prstGeom>
            <a:noFill/>
            <a:ln w="17145">
              <a:solidFill>
                <a:srgbClr val="D44B2F"/>
              </a:solidFill>
              <a:tailEnd type="triangle" w="lg" len="lg"/>
            </a:ln>
          </p:spPr>
        </p:sp>
        <p:sp>
          <p:nvSpPr>
            <p:cNvPr id="12" name="TextBox 12"/>
            <p:cNvSpPr txBox="1"/>
            <p:nvPr/>
          </p:nvSpPr>
          <p:spPr>
            <a:xfrm>
              <a:off x="642201" y="1202293"/>
              <a:ext cx="125298"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高</a:t>
              </a:r>
            </a:p>
          </p:txBody>
        </p:sp>
        <p:sp>
          <p:nvSpPr>
            <p:cNvPr id="13" name="TextBox 13"/>
            <p:cNvSpPr txBox="1"/>
            <p:nvPr/>
          </p:nvSpPr>
          <p:spPr>
            <a:xfrm>
              <a:off x="642201" y="3393043"/>
              <a:ext cx="125298"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低</a:t>
              </a:r>
            </a:p>
          </p:txBody>
        </p:sp>
        <p:sp>
          <p:nvSpPr>
            <p:cNvPr id="14" name="TextBox 14"/>
            <p:cNvSpPr txBox="1"/>
            <p:nvPr/>
          </p:nvSpPr>
          <p:spPr>
            <a:xfrm>
              <a:off x="407543" y="2110264"/>
              <a:ext cx="175514" cy="668465"/>
            </a:xfrm>
            <a:prstGeom prst="rect">
              <a:avLst/>
            </a:prstGeom>
            <a:noFill/>
            <a:ln>
              <a:noFill/>
            </a:ln>
          </p:spPr>
          <p:txBody>
            <a:bodyPr wrap="none" lIns="0" tIns="0" rIns="0" bIns="0" anchor="t" anchorCtr="0">
              <a:spAutoFit/>
            </a:bodyPr>
            <a:lstStyle/>
            <a:p>
              <a:pPr algn="ctr">
                <a:lnSpc>
                  <a:spcPts val="1650"/>
                </a:lnSpc>
              </a:pPr>
              <a:r>
                <a:rPr lang="zh-CN" sz="1280" b="1" dirty="0">
                  <a:solidFill>
                    <a:srgbClr val="6E1604"/>
                  </a:solidFill>
                  <a:latin typeface="+mn-lt"/>
                  <a:ea typeface="+mn-ea"/>
                  <a:cs typeface="+mn-cs"/>
                </a:rPr>
                <a:t>执</a:t>
              </a:r>
              <a:br/>
              <a:r>
                <a:rPr lang="zh-CN" sz="1280" b="1" dirty="0">
                  <a:solidFill>
                    <a:srgbClr val="6E1604"/>
                  </a:solidFill>
                  <a:latin typeface="+mn-lt"/>
                  <a:ea typeface="+mn-ea"/>
                  <a:cs typeface="+mn-cs"/>
                </a:rPr>
                <a:t>行</a:t>
              </a:r>
              <a:br/>
              <a:r>
                <a:rPr lang="zh-CN" sz="1280" b="1" dirty="0">
                  <a:solidFill>
                    <a:srgbClr val="6E1604"/>
                  </a:solidFill>
                  <a:latin typeface="+mn-lt"/>
                  <a:ea typeface="+mn-ea"/>
                  <a:cs typeface="+mn-cs"/>
                </a:rPr>
                <a:t>力</a:t>
              </a:r>
            </a:p>
          </p:txBody>
        </p:sp>
        <p:sp>
          <p:nvSpPr>
            <p:cNvPr id="15" name="TextBox 15"/>
            <p:cNvSpPr txBox="1"/>
            <p:nvPr/>
          </p:nvSpPr>
          <p:spPr>
            <a:xfrm>
              <a:off x="966051" y="3678793"/>
              <a:ext cx="125298"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低</a:t>
              </a:r>
            </a:p>
          </p:txBody>
        </p:sp>
        <p:sp>
          <p:nvSpPr>
            <p:cNvPr id="16" name="TextBox 16"/>
            <p:cNvSpPr txBox="1"/>
            <p:nvPr/>
          </p:nvSpPr>
          <p:spPr>
            <a:xfrm>
              <a:off x="3044723" y="3669506"/>
              <a:ext cx="463753" cy="220028"/>
            </a:xfrm>
            <a:prstGeom prst="rect">
              <a:avLst/>
            </a:prstGeom>
            <a:noFill/>
            <a:ln>
              <a:noFill/>
            </a:ln>
          </p:spPr>
          <p:txBody>
            <a:bodyPr wrap="none" lIns="0" tIns="0" rIns="0" bIns="0" anchor="t" anchorCtr="0">
              <a:spAutoFit/>
            </a:bodyPr>
            <a:lstStyle/>
            <a:p>
              <a:pPr algn="ctr"/>
              <a:r>
                <a:rPr lang="zh-CN" sz="1120" b="1" dirty="0">
                  <a:solidFill>
                    <a:srgbClr val="6E1604"/>
                  </a:solidFill>
                  <a:latin typeface="+mn-lt"/>
                  <a:ea typeface="+mn-ea"/>
                  <a:cs typeface="+mn-cs"/>
                </a:rPr>
                <a:t>专业力</a:t>
              </a:r>
            </a:p>
          </p:txBody>
        </p:sp>
        <p:sp>
          <p:nvSpPr>
            <p:cNvPr id="17" name="TextBox 17"/>
            <p:cNvSpPr txBox="1"/>
            <p:nvPr/>
          </p:nvSpPr>
          <p:spPr>
            <a:xfrm>
              <a:off x="5461851" y="3678793"/>
              <a:ext cx="125298" cy="169069"/>
            </a:xfrm>
            <a:prstGeom prst="rect">
              <a:avLst/>
            </a:prstGeom>
            <a:noFill/>
            <a:ln>
              <a:noFill/>
            </a:ln>
          </p:spPr>
          <p:txBody>
            <a:bodyPr wrap="none" lIns="0" tIns="0" rIns="0" bIns="0" anchor="t" anchorCtr="0">
              <a:spAutoFit/>
            </a:bodyPr>
            <a:lstStyle/>
            <a:p>
              <a:pPr algn="ctr"/>
              <a:r>
                <a:rPr lang="zh-CN" sz="860" dirty="0">
                  <a:solidFill>
                    <a:srgbClr val="473633"/>
                  </a:solidFill>
                  <a:latin typeface="+mn-lt"/>
                  <a:ea typeface="+mn-ea"/>
                  <a:cs typeface="+mn-cs"/>
                </a:rPr>
                <a:t>高</a:t>
              </a:r>
            </a:p>
          </p:txBody>
        </p:sp>
        <p:grpSp>
          <p:nvGrpSpPr>
            <p:cNvPr id="26" name="em-benchmark"/>
            <p:cNvGrpSpPr/>
            <p:nvPr/>
          </p:nvGrpSpPr>
          <p:grpSpPr>
            <a:xfrm>
              <a:off x="1047750" y="1200150"/>
              <a:ext cx="2190750" cy="1104900"/>
              <a:chOff x="1047750" y="1200150"/>
              <a:chExt cx="2190750" cy="1104900"/>
            </a:xfrm>
          </p:grpSpPr>
          <p:sp>
            <p:nvSpPr>
              <p:cNvPr id="18" name="Rectangle 18"/>
              <p:cNvSpPr/>
              <p:nvPr/>
            </p:nvSpPr>
            <p:spPr>
              <a:xfrm>
                <a:off x="1047750" y="1200150"/>
                <a:ext cx="2190750" cy="1104900"/>
              </a:xfrm>
              <a:prstGeom prst="roundRect">
                <a:avLst>
                  <a:gd name="adj" fmla="val 5172"/>
                </a:avLst>
              </a:prstGeom>
              <a:solidFill>
                <a:srgbClr val="F2F7FE"/>
              </a:solidFill>
              <a:ln w="9525">
                <a:solidFill>
                  <a:srgbClr val="F7D1C9"/>
                </a:solidFill>
              </a:ln>
            </p:spPr>
          </p:sp>
          <p:sp>
            <p:nvSpPr>
              <p:cNvPr id="19" name="Ellipse 19"/>
              <p:cNvSpPr/>
              <p:nvPr/>
            </p:nvSpPr>
            <p:spPr>
              <a:xfrm>
                <a:off x="1181100" y="1333500"/>
                <a:ext cx="304800" cy="304800"/>
              </a:xfrm>
              <a:prstGeom prst="ellipse">
                <a:avLst/>
              </a:prstGeom>
              <a:solidFill>
                <a:srgbClr val="B92102"/>
              </a:solidFill>
              <a:ln>
                <a:noFill/>
              </a:ln>
            </p:spPr>
          </p:sp>
          <p:grpSp>
            <p:nvGrpSpPr>
              <p:cNvPr id="23" name="Group 23"/>
              <p:cNvGrpSpPr/>
              <p:nvPr/>
            </p:nvGrpSpPr>
            <p:grpSpPr>
              <a:xfrm>
                <a:off x="1265253" y="1414462"/>
                <a:ext cx="136478" cy="142002"/>
                <a:chOff x="1265253" y="1414462"/>
                <a:chExt cx="136478" cy="142002"/>
              </a:xfrm>
            </p:grpSpPr>
            <p:sp>
              <p:nvSpPr>
                <p:cNvPr id="20" name="Freeform 20"/>
                <p:cNvSpPr/>
                <p:nvPr/>
              </p:nvSpPr>
              <p:spPr>
                <a:xfrm>
                  <a:off x="1285875" y="1414462"/>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FFFFFF"/>
                  </a:solidFill>
                </a:ln>
              </p:spPr>
            </p:sp>
            <p:sp>
              <p:nvSpPr>
                <p:cNvPr id="21" name="Freeform 21"/>
                <p:cNvSpPr/>
                <p:nvPr/>
              </p:nvSpPr>
              <p:spPr>
                <a:xfrm>
                  <a:off x="1333500" y="1485900"/>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FFFFFF"/>
                  </a:solidFill>
                </a:ln>
              </p:spPr>
            </p:sp>
            <p:sp>
              <p:nvSpPr>
                <p:cNvPr id="22" name="Freeform 22"/>
                <p:cNvSpPr/>
                <p:nvPr/>
              </p:nvSpPr>
              <p:spPr>
                <a:xfrm>
                  <a:off x="1265253" y="1485900"/>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FFFFFF"/>
                  </a:solidFill>
                </a:ln>
              </p:spPr>
            </p:sp>
          </p:grpSp>
          <p:sp>
            <p:nvSpPr>
              <p:cNvPr id="24" name="TextBox 24"/>
              <p:cNvSpPr txBox="1"/>
              <p:nvPr/>
            </p:nvSpPr>
            <p:spPr>
              <a:xfrm>
                <a:off x="1575435" y="1421606"/>
                <a:ext cx="463753"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标杆型</a:t>
                </a:r>
              </a:p>
            </p:txBody>
          </p:sp>
          <p:sp>
            <p:nvSpPr>
              <p:cNvPr id="25" name="TextBox 25"/>
              <p:cNvSpPr txBox="1"/>
              <p:nvPr/>
            </p:nvSpPr>
            <p:spPr>
              <a:xfrm>
                <a:off x="1195388" y="1777841"/>
                <a:ext cx="1238377" cy="333375"/>
              </a:xfrm>
              <a:prstGeom prst="rect">
                <a:avLst/>
              </a:prstGeom>
              <a:noFill/>
              <a:ln>
                <a:noFill/>
              </a:ln>
            </p:spPr>
            <p:txBody>
              <a:bodyPr wrap="none" lIns="0" tIns="0" rIns="0" bIns="0" anchor="t" anchorCtr="0">
                <a:spAutoFit/>
              </a:bodyPr>
              <a:lstStyle/>
              <a:p>
                <a:pPr algn="l">
                  <a:lnSpc>
                    <a:spcPts val="1350"/>
                  </a:lnSpc>
                </a:pPr>
                <a:r>
                  <a:rPr lang="zh-CN" sz="820" dirty="0">
                    <a:solidFill>
                      <a:srgbClr val="473633"/>
                    </a:solidFill>
                    <a:latin typeface="+mn-lt"/>
                    <a:ea typeface="+mn-ea"/>
                    <a:cs typeface="+mn-cs"/>
                  </a:rPr>
                  <a:t>高执行力 × 低-中专业力​​</a:t>
                </a:r>
                <a:br/>
                <a:r>
                  <a:rPr lang="zh-CN" sz="820" dirty="0">
                    <a:solidFill>
                      <a:srgbClr val="473633"/>
                    </a:solidFill>
                    <a:latin typeface="+mn-lt"/>
                    <a:ea typeface="+mn-ea"/>
                    <a:cs typeface="+mn-cs"/>
                  </a:rPr>
                  <a:t>稳定交付，复制经验</a:t>
                </a:r>
              </a:p>
            </p:txBody>
          </p:sp>
        </p:grpSp>
        <p:grpSp>
          <p:nvGrpSpPr>
            <p:cNvPr id="32" name="em-assault"/>
            <p:cNvGrpSpPr/>
            <p:nvPr/>
          </p:nvGrpSpPr>
          <p:grpSpPr>
            <a:xfrm>
              <a:off x="3333750" y="1200150"/>
              <a:ext cx="2190750" cy="1104900"/>
              <a:chOff x="3333750" y="1200150"/>
              <a:chExt cx="2190750" cy="1104900"/>
            </a:xfrm>
          </p:grpSpPr>
          <p:sp>
            <p:nvSpPr>
              <p:cNvPr id="27" name="Rectangle 27"/>
              <p:cNvSpPr/>
              <p:nvPr/>
            </p:nvSpPr>
            <p:spPr>
              <a:xfrm>
                <a:off x="3333750" y="1200150"/>
                <a:ext cx="2190750" cy="1104900"/>
              </a:xfrm>
              <a:prstGeom prst="roundRect">
                <a:avLst>
                  <a:gd name="adj" fmla="val 5172"/>
                </a:avLst>
              </a:prstGeom>
              <a:solidFill>
                <a:srgbClr val="F2F7FE"/>
              </a:solidFill>
              <a:ln w="9525">
                <a:solidFill>
                  <a:srgbClr val="F7D1C9"/>
                </a:solidFill>
              </a:ln>
            </p:spPr>
          </p:sp>
          <p:sp>
            <p:nvSpPr>
              <p:cNvPr id="28" name="Ellipse 28"/>
              <p:cNvSpPr/>
              <p:nvPr/>
            </p:nvSpPr>
            <p:spPr>
              <a:xfrm>
                <a:off x="3467100" y="1333500"/>
                <a:ext cx="304800" cy="304800"/>
              </a:xfrm>
              <a:prstGeom prst="ellipse">
                <a:avLst/>
              </a:prstGeom>
              <a:solidFill>
                <a:srgbClr val="B92102"/>
              </a:solidFill>
              <a:ln>
                <a:noFill/>
              </a:ln>
            </p:spPr>
          </p:sp>
          <p:sp>
            <p:nvSpPr>
              <p:cNvPr id="29" name="Freeform 29"/>
              <p:cNvSpPr/>
              <p:nvPr/>
            </p:nvSpPr>
            <p:spPr>
              <a:xfrm>
                <a:off x="3548062" y="1438275"/>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FFFFFF"/>
                </a:solidFill>
              </a:ln>
            </p:spPr>
          </p:sp>
          <p:sp>
            <p:nvSpPr>
              <p:cNvPr id="30" name="TextBox 30"/>
              <p:cNvSpPr txBox="1"/>
              <p:nvPr/>
            </p:nvSpPr>
            <p:spPr>
              <a:xfrm>
                <a:off x="3861435" y="1421606"/>
                <a:ext cx="463753"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攻坚型</a:t>
                </a:r>
              </a:p>
            </p:txBody>
          </p:sp>
          <p:sp>
            <p:nvSpPr>
              <p:cNvPr id="31" name="TextBox 31"/>
              <p:cNvSpPr txBox="1"/>
              <p:nvPr/>
            </p:nvSpPr>
            <p:spPr>
              <a:xfrm>
                <a:off x="3481388" y="1777841"/>
                <a:ext cx="1212342" cy="333375"/>
              </a:xfrm>
              <a:prstGeom prst="rect">
                <a:avLst/>
              </a:prstGeom>
              <a:noFill/>
              <a:ln>
                <a:noFill/>
              </a:ln>
            </p:spPr>
            <p:txBody>
              <a:bodyPr wrap="none" lIns="0" tIns="0" rIns="0" bIns="0" anchor="t" anchorCtr="0">
                <a:spAutoFit/>
              </a:bodyPr>
              <a:lstStyle/>
              <a:p>
                <a:pPr algn="l">
                  <a:lnSpc>
                    <a:spcPts val="1350"/>
                  </a:lnSpc>
                </a:pPr>
                <a:r>
                  <a:rPr lang="zh-CN" sz="820" dirty="0">
                    <a:solidFill>
                      <a:srgbClr val="473633"/>
                    </a:solidFill>
                    <a:latin typeface="+mn-lt"/>
                    <a:ea typeface="+mn-ea"/>
                    <a:cs typeface="+mn-cs"/>
                  </a:rPr>
                  <a:t>高执行力 × 高专业力​​</a:t>
                </a:r>
                <a:br/>
                <a:r>
                  <a:rPr lang="zh-CN" sz="820" dirty="0">
                    <a:solidFill>
                      <a:srgbClr val="473633"/>
                    </a:solidFill>
                    <a:latin typeface="+mn-lt"/>
                    <a:ea typeface="+mn-ea"/>
                    <a:cs typeface="+mn-cs"/>
                  </a:rPr>
                  <a:t>突破复杂目标，打造标杆​</a:t>
                </a:r>
              </a:p>
            </p:txBody>
          </p:sp>
        </p:grpSp>
        <p:grpSp>
          <p:nvGrpSpPr>
            <p:cNvPr id="41" name="em-growth"/>
            <p:cNvGrpSpPr/>
            <p:nvPr/>
          </p:nvGrpSpPr>
          <p:grpSpPr>
            <a:xfrm>
              <a:off x="1047750" y="2400300"/>
              <a:ext cx="2190750" cy="1104900"/>
              <a:chOff x="1047750" y="2400300"/>
              <a:chExt cx="2190750" cy="1104900"/>
            </a:xfrm>
          </p:grpSpPr>
          <p:sp>
            <p:nvSpPr>
              <p:cNvPr id="33" name="Rectangle 33"/>
              <p:cNvSpPr/>
              <p:nvPr/>
            </p:nvSpPr>
            <p:spPr>
              <a:xfrm>
                <a:off x="1047750" y="2400300"/>
                <a:ext cx="2190750" cy="1104900"/>
              </a:xfrm>
              <a:prstGeom prst="roundRect">
                <a:avLst>
                  <a:gd name="adj" fmla="val 5172"/>
                </a:avLst>
              </a:prstGeom>
              <a:solidFill>
                <a:srgbClr val="F2F7FE"/>
              </a:solidFill>
              <a:ln w="9525">
                <a:solidFill>
                  <a:srgbClr val="F7D1C9"/>
                </a:solidFill>
              </a:ln>
            </p:spPr>
          </p:sp>
          <p:sp>
            <p:nvSpPr>
              <p:cNvPr id="34" name="Ellipse 34"/>
              <p:cNvSpPr/>
              <p:nvPr/>
            </p:nvSpPr>
            <p:spPr>
              <a:xfrm>
                <a:off x="1181100" y="2533650"/>
                <a:ext cx="304800" cy="304800"/>
              </a:xfrm>
              <a:prstGeom prst="ellipse">
                <a:avLst/>
              </a:prstGeom>
              <a:solidFill>
                <a:srgbClr val="D44B2F"/>
              </a:solidFill>
              <a:ln>
                <a:noFill/>
              </a:ln>
            </p:spPr>
          </p:sp>
          <p:grpSp>
            <p:nvGrpSpPr>
              <p:cNvPr id="38" name="Group 38"/>
              <p:cNvGrpSpPr/>
              <p:nvPr/>
            </p:nvGrpSpPr>
            <p:grpSpPr>
              <a:xfrm>
                <a:off x="1262062" y="2614612"/>
                <a:ext cx="142875" cy="142875"/>
                <a:chOff x="1262062" y="2614612"/>
                <a:chExt cx="142875" cy="142875"/>
              </a:xfrm>
            </p:grpSpPr>
            <p:sp>
              <p:nvSpPr>
                <p:cNvPr id="35" name="Freeform 35"/>
                <p:cNvSpPr/>
                <p:nvPr/>
              </p:nvSpPr>
              <p:spPr>
                <a:xfrm>
                  <a:off x="1262062" y="2614612"/>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FFFFFF"/>
                  </a:solidFill>
                </a:ln>
              </p:spPr>
            </p:sp>
            <p:sp>
              <p:nvSpPr>
                <p:cNvPr id="36" name="Freeform 36"/>
                <p:cNvSpPr/>
                <p:nvPr/>
              </p:nvSpPr>
              <p:spPr>
                <a:xfrm>
                  <a:off x="1290447" y="2646362"/>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FFFFFF"/>
                  </a:solidFill>
                </a:ln>
              </p:spPr>
            </p:sp>
            <p:sp>
              <p:nvSpPr>
                <p:cNvPr id="37" name="Freeform 37"/>
                <p:cNvSpPr/>
                <p:nvPr/>
              </p:nvSpPr>
              <p:spPr>
                <a:xfrm>
                  <a:off x="1315244" y="2725737"/>
                  <a:ext cx="36512" cy="9525"/>
                </a:xfrm>
                <a:custGeom>
                  <a:avLst/>
                  <a:gdLst/>
                  <a:ahLst/>
                  <a:cxnLst/>
                  <a:rect l="l" t="t" r="r" b="b"/>
                  <a:pathLst>
                    <a:path w="36512" h="9525">
                      <a:moveTo>
                        <a:pt x="0" y="0"/>
                      </a:moveTo>
                      <a:lnTo>
                        <a:pt x="36512" y="0"/>
                      </a:lnTo>
                    </a:path>
                  </a:pathLst>
                </a:custGeom>
                <a:noFill/>
                <a:ln w="15875">
                  <a:solidFill>
                    <a:srgbClr val="FFFFFF"/>
                  </a:solidFill>
                </a:ln>
              </p:spPr>
            </p:sp>
          </p:grpSp>
          <p:sp>
            <p:nvSpPr>
              <p:cNvPr id="39" name="TextBox 39"/>
              <p:cNvSpPr txBox="1"/>
              <p:nvPr/>
            </p:nvSpPr>
            <p:spPr>
              <a:xfrm>
                <a:off x="1575435" y="2621756"/>
                <a:ext cx="463753"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成长型</a:t>
                </a:r>
              </a:p>
            </p:txBody>
          </p:sp>
          <p:sp>
            <p:nvSpPr>
              <p:cNvPr id="40" name="TextBox 40"/>
              <p:cNvSpPr txBox="1"/>
              <p:nvPr/>
            </p:nvSpPr>
            <p:spPr>
              <a:xfrm>
                <a:off x="1195388" y="2977991"/>
                <a:ext cx="1076960" cy="333375"/>
              </a:xfrm>
              <a:prstGeom prst="rect">
                <a:avLst/>
              </a:prstGeom>
              <a:noFill/>
              <a:ln>
                <a:noFill/>
              </a:ln>
            </p:spPr>
            <p:txBody>
              <a:bodyPr wrap="none" lIns="0" tIns="0" rIns="0" bIns="0" anchor="t" anchorCtr="0">
                <a:spAutoFit/>
              </a:bodyPr>
              <a:lstStyle/>
              <a:p>
                <a:pPr algn="l">
                  <a:lnSpc>
                    <a:spcPts val="1350"/>
                  </a:lnSpc>
                </a:pPr>
                <a:r>
                  <a:rPr lang="zh-CN" sz="820" dirty="0">
                    <a:solidFill>
                      <a:srgbClr val="473633"/>
                    </a:solidFill>
                    <a:latin typeface="+mn-lt"/>
                    <a:ea typeface="+mn-ea"/>
                    <a:cs typeface="+mn-cs"/>
                  </a:rPr>
                  <a:t>低执行力 × 低专业力​​</a:t>
                </a:r>
                <a:br/>
                <a:r>
                  <a:rPr lang="zh-CN" sz="820" dirty="0">
                    <a:solidFill>
                      <a:srgbClr val="473633"/>
                    </a:solidFill>
                    <a:latin typeface="+mn-lt"/>
                    <a:ea typeface="+mn-ea"/>
                    <a:cs typeface="+mn-cs"/>
                  </a:rPr>
                  <a:t>夯实基础，重点培养</a:t>
                </a:r>
              </a:p>
            </p:txBody>
          </p:sp>
        </p:grpSp>
        <p:grpSp>
          <p:nvGrpSpPr>
            <p:cNvPr id="53" name="em-coach"/>
            <p:cNvGrpSpPr/>
            <p:nvPr/>
          </p:nvGrpSpPr>
          <p:grpSpPr>
            <a:xfrm>
              <a:off x="3333750" y="2400300"/>
              <a:ext cx="2190750" cy="1104900"/>
              <a:chOff x="3333750" y="2400300"/>
              <a:chExt cx="2190750" cy="1104900"/>
            </a:xfrm>
          </p:grpSpPr>
          <p:sp>
            <p:nvSpPr>
              <p:cNvPr id="42" name="Rectangle 42"/>
              <p:cNvSpPr/>
              <p:nvPr/>
            </p:nvSpPr>
            <p:spPr>
              <a:xfrm>
                <a:off x="3333750" y="2400300"/>
                <a:ext cx="2190750" cy="1104900"/>
              </a:xfrm>
              <a:prstGeom prst="roundRect">
                <a:avLst>
                  <a:gd name="adj" fmla="val 5172"/>
                </a:avLst>
              </a:prstGeom>
              <a:solidFill>
                <a:srgbClr val="F2F7FE"/>
              </a:solidFill>
              <a:ln w="9525">
                <a:solidFill>
                  <a:srgbClr val="F7D1C9"/>
                </a:solidFill>
              </a:ln>
            </p:spPr>
          </p:sp>
          <p:sp>
            <p:nvSpPr>
              <p:cNvPr id="43" name="Ellipse 43"/>
              <p:cNvSpPr/>
              <p:nvPr/>
            </p:nvSpPr>
            <p:spPr>
              <a:xfrm>
                <a:off x="3467100" y="2533650"/>
                <a:ext cx="304800" cy="304800"/>
              </a:xfrm>
              <a:prstGeom prst="ellipse">
                <a:avLst/>
              </a:prstGeom>
              <a:solidFill>
                <a:srgbClr val="D44B2F"/>
              </a:solidFill>
              <a:ln>
                <a:noFill/>
              </a:ln>
            </p:spPr>
          </p:sp>
          <p:grpSp>
            <p:nvGrpSpPr>
              <p:cNvPr id="50" name="Group 50"/>
              <p:cNvGrpSpPr/>
              <p:nvPr/>
            </p:nvGrpSpPr>
            <p:grpSpPr>
              <a:xfrm>
                <a:off x="3548062" y="2614612"/>
                <a:ext cx="142875" cy="142875"/>
                <a:chOff x="3548062" y="2614612"/>
                <a:chExt cx="142875" cy="142875"/>
              </a:xfrm>
            </p:grpSpPr>
            <p:sp>
              <p:nvSpPr>
                <p:cNvPr id="44" name="Freeform 44"/>
                <p:cNvSpPr/>
                <p:nvPr/>
              </p:nvSpPr>
              <p:spPr>
                <a:xfrm>
                  <a:off x="3603625" y="26781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45" name="Freeform 45"/>
                <p:cNvSpPr/>
                <p:nvPr/>
              </p:nvSpPr>
              <p:spPr>
                <a:xfrm>
                  <a:off x="3587750" y="273367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FFFFFF"/>
                  </a:solidFill>
                </a:ln>
              </p:spPr>
            </p:sp>
            <p:sp>
              <p:nvSpPr>
                <p:cNvPr id="46" name="Freeform 46"/>
                <p:cNvSpPr/>
                <p:nvPr/>
              </p:nvSpPr>
              <p:spPr>
                <a:xfrm>
                  <a:off x="3643312" y="26146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47" name="Freeform 47"/>
                <p:cNvSpPr/>
                <p:nvPr/>
              </p:nvSpPr>
              <p:spPr>
                <a:xfrm>
                  <a:off x="3659187" y="267017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FFFFFF"/>
                  </a:solidFill>
                </a:ln>
              </p:spPr>
            </p:sp>
            <p:sp>
              <p:nvSpPr>
                <p:cNvPr id="48" name="Freeform 48"/>
                <p:cNvSpPr/>
                <p:nvPr/>
              </p:nvSpPr>
              <p:spPr>
                <a:xfrm>
                  <a:off x="3563937" y="26146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49" name="Freeform 49"/>
                <p:cNvSpPr/>
                <p:nvPr/>
              </p:nvSpPr>
              <p:spPr>
                <a:xfrm>
                  <a:off x="3548062" y="267017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FFFFFF"/>
                  </a:solidFill>
                </a:ln>
              </p:spPr>
            </p:sp>
          </p:grpSp>
          <p:sp>
            <p:nvSpPr>
              <p:cNvPr id="51" name="TextBox 51"/>
              <p:cNvSpPr txBox="1"/>
              <p:nvPr/>
            </p:nvSpPr>
            <p:spPr>
              <a:xfrm>
                <a:off x="3861435" y="2621756"/>
                <a:ext cx="463753"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辅导型</a:t>
                </a:r>
              </a:p>
            </p:txBody>
          </p:sp>
          <p:sp>
            <p:nvSpPr>
              <p:cNvPr id="52" name="TextBox 52"/>
              <p:cNvSpPr txBox="1"/>
              <p:nvPr/>
            </p:nvSpPr>
            <p:spPr>
              <a:xfrm>
                <a:off x="3481388" y="2977991"/>
                <a:ext cx="1352931" cy="333375"/>
              </a:xfrm>
              <a:prstGeom prst="rect">
                <a:avLst/>
              </a:prstGeom>
              <a:noFill/>
              <a:ln>
                <a:noFill/>
              </a:ln>
            </p:spPr>
            <p:txBody>
              <a:bodyPr wrap="none" lIns="0" tIns="0" rIns="0" bIns="0" anchor="t" anchorCtr="0">
                <a:spAutoFit/>
              </a:bodyPr>
              <a:lstStyle/>
              <a:p>
                <a:pPr algn="l">
                  <a:lnSpc>
                    <a:spcPts val="1350"/>
                  </a:lnSpc>
                </a:pPr>
                <a:r>
                  <a:rPr lang="zh-CN" sz="820" dirty="0">
                    <a:solidFill>
                      <a:srgbClr val="473633"/>
                    </a:solidFill>
                    <a:latin typeface="+mn-lt"/>
                    <a:ea typeface="+mn-ea"/>
                    <a:cs typeface="+mn-cs"/>
                  </a:rPr>
                  <a:t>低/中执行力 × 高专业力​​​​</a:t>
                </a:r>
                <a:br/>
                <a:r>
                  <a:rPr lang="zh-CN" sz="820" dirty="0">
                    <a:solidFill>
                      <a:srgbClr val="473633"/>
                    </a:solidFill>
                    <a:latin typeface="+mn-lt"/>
                    <a:ea typeface="+mn-ea"/>
                    <a:cs typeface="+mn-cs"/>
                  </a:rPr>
                  <a:t>传帮带教，赋能他人</a:t>
                </a:r>
              </a:p>
            </p:txBody>
          </p:sp>
        </p:grpSp>
      </p:grpSp>
      <p:grpSp>
        <p:nvGrpSpPr>
          <p:cNvPr id="119" name="capability-wheel"/>
          <p:cNvGrpSpPr/>
          <p:nvPr/>
        </p:nvGrpSpPr>
        <p:grpSpPr>
          <a:xfrm>
            <a:off x="5962650" y="723900"/>
            <a:ext cx="5962650" cy="3086100"/>
            <a:chOff x="5962650" y="723900"/>
            <a:chExt cx="5962650" cy="3086100"/>
          </a:xfrm>
        </p:grpSpPr>
        <p:sp>
          <p:nvSpPr>
            <p:cNvPr id="55" name="Rectangle 55"/>
            <p:cNvSpPr/>
            <p:nvPr/>
          </p:nvSpPr>
          <p:spPr>
            <a:xfrm>
              <a:off x="5962650" y="723900"/>
              <a:ext cx="5962650" cy="3086100"/>
            </a:xfrm>
            <a:prstGeom prst="roundRect">
              <a:avLst>
                <a:gd name="adj" fmla="val 2469"/>
              </a:avLst>
            </a:prstGeom>
            <a:solidFill>
              <a:srgbClr val="FFFFFF"/>
            </a:solidFill>
            <a:ln w="9525">
              <a:solidFill>
                <a:srgbClr val="F7D1C9"/>
              </a:solidFill>
            </a:ln>
          </p:spPr>
        </p:sp>
        <p:sp>
          <p:nvSpPr>
            <p:cNvPr id="56" name="Rectangle 56"/>
            <p:cNvSpPr/>
            <p:nvPr/>
          </p:nvSpPr>
          <p:spPr>
            <a:xfrm>
              <a:off x="6076950" y="838200"/>
              <a:ext cx="38100" cy="190500"/>
            </a:xfrm>
            <a:prstGeom prst="rect">
              <a:avLst/>
            </a:prstGeom>
            <a:solidFill>
              <a:srgbClr val="B92102"/>
            </a:solidFill>
            <a:ln>
              <a:noFill/>
            </a:ln>
          </p:spPr>
        </p:sp>
        <p:sp>
          <p:nvSpPr>
            <p:cNvPr id="57" name="TextBox 57"/>
            <p:cNvSpPr txBox="1"/>
            <p:nvPr/>
          </p:nvSpPr>
          <p:spPr>
            <a:xfrm>
              <a:off x="6185154" y="861060"/>
              <a:ext cx="1143000" cy="234696"/>
            </a:xfrm>
            <a:prstGeom prst="rect">
              <a:avLst/>
            </a:prstGeom>
            <a:noFill/>
            <a:ln>
              <a:noFill/>
            </a:ln>
          </p:spPr>
          <p:txBody>
            <a:bodyPr wrap="none" lIns="0" tIns="0" rIns="0" bIns="0" anchor="t" anchorCtr="0">
              <a:spAutoFit/>
            </a:bodyPr>
            <a:lstStyle/>
            <a:p>
              <a:pPr algn="l"/>
              <a:r>
                <a:rPr lang="zh-CN" sz="1200" b="1" dirty="0">
                  <a:solidFill>
                    <a:srgbClr val="6E1604"/>
                  </a:solidFill>
                  <a:latin typeface="+mn-lt"/>
                  <a:ea typeface="+mn-ea"/>
                  <a:cs typeface="+mn-cs"/>
                </a:rPr>
                <a:t>能力建设六维轮</a:t>
              </a:r>
            </a:p>
          </p:txBody>
        </p:sp>
        <p:sp>
          <p:nvSpPr>
            <p:cNvPr id="58" name="Freeform 58"/>
            <p:cNvSpPr/>
            <p:nvPr/>
          </p:nvSpPr>
          <p:spPr>
            <a:xfrm>
              <a:off x="7924800" y="1209675"/>
              <a:ext cx="2057400" cy="2057400"/>
            </a:xfrm>
            <a:prstGeom prst="blockArc">
              <a:avLst>
                <a:gd name="adj1" fmla="val 14520000"/>
                <a:gd name="adj2" fmla="val 17880000"/>
                <a:gd name="adj3" fmla="val 23148"/>
              </a:avLst>
            </a:prstGeom>
            <a:solidFill>
              <a:srgbClr val="D44B2F"/>
            </a:solidFill>
            <a:ln>
              <a:noFill/>
            </a:ln>
          </p:spPr>
        </p:sp>
        <p:sp>
          <p:nvSpPr>
            <p:cNvPr id="59" name="Freeform 59"/>
            <p:cNvSpPr/>
            <p:nvPr/>
          </p:nvSpPr>
          <p:spPr>
            <a:xfrm>
              <a:off x="7924800" y="1209675"/>
              <a:ext cx="2057400" cy="2057400"/>
            </a:xfrm>
            <a:prstGeom prst="blockArc">
              <a:avLst>
                <a:gd name="adj1" fmla="val 18120000"/>
                <a:gd name="adj2" fmla="val 21480000"/>
                <a:gd name="adj3" fmla="val 23148"/>
              </a:avLst>
            </a:prstGeom>
            <a:solidFill>
              <a:srgbClr val="D9705B"/>
            </a:solidFill>
            <a:ln>
              <a:noFill/>
            </a:ln>
          </p:spPr>
        </p:sp>
        <p:sp>
          <p:nvSpPr>
            <p:cNvPr id="60" name="Freeform 60"/>
            <p:cNvSpPr/>
            <p:nvPr/>
          </p:nvSpPr>
          <p:spPr>
            <a:xfrm>
              <a:off x="7924800" y="1209675"/>
              <a:ext cx="2057400" cy="2057400"/>
            </a:xfrm>
            <a:prstGeom prst="blockArc">
              <a:avLst>
                <a:gd name="adj1" fmla="val 120000"/>
                <a:gd name="adj2" fmla="val 3480000"/>
                <a:gd name="adj3" fmla="val 23148"/>
              </a:avLst>
            </a:prstGeom>
            <a:solidFill>
              <a:srgbClr val="F3AC9D"/>
            </a:solidFill>
            <a:ln>
              <a:noFill/>
            </a:ln>
          </p:spPr>
        </p:sp>
        <p:sp>
          <p:nvSpPr>
            <p:cNvPr id="61" name="Freeform 61"/>
            <p:cNvSpPr/>
            <p:nvPr/>
          </p:nvSpPr>
          <p:spPr>
            <a:xfrm>
              <a:off x="7924800" y="1209675"/>
              <a:ext cx="2057400" cy="2057400"/>
            </a:xfrm>
            <a:prstGeom prst="blockArc">
              <a:avLst>
                <a:gd name="adj1" fmla="val 3720000"/>
                <a:gd name="adj2" fmla="val 7080000"/>
                <a:gd name="adj3" fmla="val 23148"/>
              </a:avLst>
            </a:prstGeom>
            <a:solidFill>
              <a:srgbClr val="D44B2F"/>
            </a:solidFill>
            <a:ln>
              <a:noFill/>
            </a:ln>
          </p:spPr>
        </p:sp>
        <p:sp>
          <p:nvSpPr>
            <p:cNvPr id="62" name="Freeform 62"/>
            <p:cNvSpPr/>
            <p:nvPr/>
          </p:nvSpPr>
          <p:spPr>
            <a:xfrm>
              <a:off x="7924800" y="1209675"/>
              <a:ext cx="2057400" cy="2057400"/>
            </a:xfrm>
            <a:prstGeom prst="blockArc">
              <a:avLst>
                <a:gd name="adj1" fmla="val 7320000"/>
                <a:gd name="adj2" fmla="val 10680000"/>
                <a:gd name="adj3" fmla="val 23148"/>
              </a:avLst>
            </a:prstGeom>
            <a:solidFill>
              <a:srgbClr val="D9705B"/>
            </a:solidFill>
            <a:ln>
              <a:noFill/>
            </a:ln>
          </p:spPr>
        </p:sp>
        <p:sp>
          <p:nvSpPr>
            <p:cNvPr id="63" name="Freeform 63"/>
            <p:cNvSpPr/>
            <p:nvPr/>
          </p:nvSpPr>
          <p:spPr>
            <a:xfrm>
              <a:off x="7924800" y="1209675"/>
              <a:ext cx="2057400" cy="2057400"/>
            </a:xfrm>
            <a:prstGeom prst="blockArc">
              <a:avLst>
                <a:gd name="adj1" fmla="val 10920000"/>
                <a:gd name="adj2" fmla="val 14280000"/>
                <a:gd name="adj3" fmla="val 23148"/>
              </a:avLst>
            </a:prstGeom>
            <a:solidFill>
              <a:srgbClr val="F3AC9D"/>
            </a:solidFill>
            <a:ln>
              <a:noFill/>
            </a:ln>
          </p:spPr>
        </p:sp>
        <p:grpSp>
          <p:nvGrpSpPr>
            <p:cNvPr id="66" name="Group 66"/>
            <p:cNvGrpSpPr/>
            <p:nvPr/>
          </p:nvGrpSpPr>
          <p:grpSpPr>
            <a:xfrm>
              <a:off x="8874919" y="1395413"/>
              <a:ext cx="157163" cy="104775"/>
              <a:chOff x="8874919" y="1395413"/>
              <a:chExt cx="157163" cy="104775"/>
            </a:xfrm>
          </p:grpSpPr>
          <p:sp>
            <p:nvSpPr>
              <p:cNvPr id="64" name="Freeform 64"/>
              <p:cNvSpPr/>
              <p:nvPr/>
            </p:nvSpPr>
            <p:spPr>
              <a:xfrm>
                <a:off x="8936038" y="1430338"/>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65" name="Freeform 65"/>
              <p:cNvSpPr/>
              <p:nvPr/>
            </p:nvSpPr>
            <p:spPr>
              <a:xfrm>
                <a:off x="8874919" y="1395413"/>
                <a:ext cx="157163" cy="104775"/>
              </a:xfrm>
              <a:custGeom>
                <a:avLst/>
                <a:gdLst/>
                <a:ahLst/>
                <a:cxnLst/>
                <a:rect l="l" t="t" r="r" b="b"/>
                <a:pathLst>
                  <a:path w="157163" h="104775">
                    <a:moveTo>
                      <a:pt x="157163" y="52388"/>
                    </a:moveTo>
                    <a:cubicBezTo>
                      <a:pt x="136208" y="87313"/>
                      <a:pt x="110014" y="104775"/>
                      <a:pt x="78581" y="104775"/>
                    </a:cubicBezTo>
                    <a:cubicBezTo>
                      <a:pt x="47149" y="104775"/>
                      <a:pt x="20955" y="87313"/>
                      <a:pt x="0" y="52388"/>
                    </a:cubicBezTo>
                    <a:cubicBezTo>
                      <a:pt x="20955" y="17463"/>
                      <a:pt x="47149" y="0"/>
                      <a:pt x="78581" y="0"/>
                    </a:cubicBezTo>
                    <a:cubicBezTo>
                      <a:pt x="110014" y="0"/>
                      <a:pt x="136208" y="17463"/>
                      <a:pt x="157163" y="52388"/>
                    </a:cubicBezTo>
                  </a:path>
                </a:pathLst>
              </a:custGeom>
              <a:noFill/>
              <a:ln w="17463">
                <a:solidFill>
                  <a:srgbClr val="FFFFFF"/>
                </a:solidFill>
              </a:ln>
            </p:spPr>
          </p:sp>
        </p:grpSp>
        <p:grpSp>
          <p:nvGrpSpPr>
            <p:cNvPr id="69" name="Group 69"/>
            <p:cNvGrpSpPr/>
            <p:nvPr/>
          </p:nvGrpSpPr>
          <p:grpSpPr>
            <a:xfrm>
              <a:off x="9560719" y="1759744"/>
              <a:ext cx="157163" cy="157163"/>
              <a:chOff x="9560719" y="1759744"/>
              <a:chExt cx="157163" cy="157163"/>
            </a:xfrm>
          </p:grpSpPr>
          <p:sp>
            <p:nvSpPr>
              <p:cNvPr id="67" name="Freeform 67"/>
              <p:cNvSpPr/>
              <p:nvPr/>
            </p:nvSpPr>
            <p:spPr>
              <a:xfrm>
                <a:off x="9560719" y="175974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FFFFFF"/>
                </a:solidFill>
              </a:ln>
            </p:spPr>
          </p:sp>
          <p:sp>
            <p:nvSpPr>
              <p:cNvPr id="68" name="Freeform 68"/>
              <p:cNvSpPr/>
              <p:nvPr/>
            </p:nvSpPr>
            <p:spPr>
              <a:xfrm>
                <a:off x="9665494" y="1864519"/>
                <a:ext cx="52388" cy="52388"/>
              </a:xfrm>
              <a:custGeom>
                <a:avLst/>
                <a:gdLst/>
                <a:ahLst/>
                <a:cxnLst/>
                <a:rect l="l" t="t" r="r" b="b"/>
                <a:pathLst>
                  <a:path w="52388" h="52388">
                    <a:moveTo>
                      <a:pt x="52388" y="52388"/>
                    </a:moveTo>
                    <a:lnTo>
                      <a:pt x="0" y="0"/>
                    </a:lnTo>
                  </a:path>
                </a:pathLst>
              </a:custGeom>
              <a:noFill/>
              <a:ln w="17463">
                <a:solidFill>
                  <a:srgbClr val="FFFFFF"/>
                </a:solidFill>
              </a:ln>
            </p:spPr>
          </p:sp>
        </p:grpSp>
        <p:grpSp>
          <p:nvGrpSpPr>
            <p:cNvPr id="75" name="Group 75"/>
            <p:cNvGrpSpPr/>
            <p:nvPr/>
          </p:nvGrpSpPr>
          <p:grpSpPr>
            <a:xfrm>
              <a:off x="9578181" y="2550319"/>
              <a:ext cx="122238" cy="157163"/>
              <a:chOff x="9578181" y="2550319"/>
              <a:chExt cx="122238" cy="157163"/>
            </a:xfrm>
          </p:grpSpPr>
          <p:sp>
            <p:nvSpPr>
              <p:cNvPr id="70" name="Freeform 70"/>
              <p:cNvSpPr/>
              <p:nvPr/>
            </p:nvSpPr>
            <p:spPr>
              <a:xfrm>
                <a:off x="9656763" y="2550319"/>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FFFFFF"/>
                </a:solidFill>
              </a:ln>
            </p:spPr>
          </p:sp>
          <p:sp>
            <p:nvSpPr>
              <p:cNvPr id="71" name="Freeform 71"/>
              <p:cNvSpPr/>
              <p:nvPr/>
            </p:nvSpPr>
            <p:spPr>
              <a:xfrm>
                <a:off x="9578181" y="2550319"/>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FFFFFF"/>
                </a:solidFill>
              </a:ln>
            </p:spPr>
          </p:sp>
          <p:sp>
            <p:nvSpPr>
              <p:cNvPr id="72" name="Freeform 72"/>
              <p:cNvSpPr/>
              <p:nvPr/>
            </p:nvSpPr>
            <p:spPr>
              <a:xfrm>
                <a:off x="9613106" y="2602706"/>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73" name="Freeform 73"/>
              <p:cNvSpPr/>
              <p:nvPr/>
            </p:nvSpPr>
            <p:spPr>
              <a:xfrm>
                <a:off x="9613106" y="2637631"/>
                <a:ext cx="52388" cy="9525"/>
              </a:xfrm>
              <a:custGeom>
                <a:avLst/>
                <a:gdLst/>
                <a:ahLst/>
                <a:cxnLst/>
                <a:rect l="l" t="t" r="r" b="b"/>
                <a:pathLst>
                  <a:path w="52388" h="9525">
                    <a:moveTo>
                      <a:pt x="0" y="0"/>
                    </a:moveTo>
                    <a:lnTo>
                      <a:pt x="52388" y="0"/>
                    </a:lnTo>
                  </a:path>
                </a:pathLst>
              </a:custGeom>
              <a:noFill/>
              <a:ln w="17463">
                <a:solidFill>
                  <a:srgbClr val="FFFFFF"/>
                </a:solidFill>
              </a:ln>
            </p:spPr>
          </p:sp>
          <p:sp>
            <p:nvSpPr>
              <p:cNvPr id="74" name="Freeform 74"/>
              <p:cNvSpPr/>
              <p:nvPr/>
            </p:nvSpPr>
            <p:spPr>
              <a:xfrm>
                <a:off x="9613106" y="2672556"/>
                <a:ext cx="52388" cy="9525"/>
              </a:xfrm>
              <a:custGeom>
                <a:avLst/>
                <a:gdLst/>
                <a:ahLst/>
                <a:cxnLst/>
                <a:rect l="l" t="t" r="r" b="b"/>
                <a:pathLst>
                  <a:path w="52388" h="9525">
                    <a:moveTo>
                      <a:pt x="0" y="0"/>
                    </a:moveTo>
                    <a:lnTo>
                      <a:pt x="52388" y="0"/>
                    </a:lnTo>
                  </a:path>
                </a:pathLst>
              </a:custGeom>
              <a:noFill/>
              <a:ln w="17463">
                <a:solidFill>
                  <a:srgbClr val="FFFFFF"/>
                </a:solidFill>
              </a:ln>
            </p:spPr>
          </p:sp>
        </p:grpSp>
        <p:sp>
          <p:nvSpPr>
            <p:cNvPr id="76" name="Freeform 76"/>
            <p:cNvSpPr/>
            <p:nvPr/>
          </p:nvSpPr>
          <p:spPr>
            <a:xfrm>
              <a:off x="8865978" y="2952333"/>
              <a:ext cx="174311" cy="154517"/>
            </a:xfrm>
            <a:custGeom>
              <a:avLst/>
              <a:gdLst/>
              <a:ahLst/>
              <a:cxnLst/>
              <a:rect l="l" t="t" r="r" b="b"/>
              <a:pathLst>
                <a:path w="174311" h="154517">
                  <a:moveTo>
                    <a:pt x="8941" y="146467"/>
                  </a:moveTo>
                  <a:lnTo>
                    <a:pt x="20291" y="112415"/>
                  </a:lnTo>
                  <a:cubicBezTo>
                    <a:pt x="0" y="82406"/>
                    <a:pt x="7841" y="43682"/>
                    <a:pt x="38627" y="21837"/>
                  </a:cubicBezTo>
                  <a:cubicBezTo>
                    <a:pt x="69413" y="0"/>
                    <a:pt x="113629" y="1790"/>
                    <a:pt x="142049" y="26028"/>
                  </a:cubicBezTo>
                  <a:cubicBezTo>
                    <a:pt x="170469" y="50275"/>
                    <a:pt x="174311" y="89469"/>
                    <a:pt x="151033" y="117715"/>
                  </a:cubicBezTo>
                  <a:cubicBezTo>
                    <a:pt x="127756" y="145960"/>
                    <a:pt x="84545" y="154517"/>
                    <a:pt x="49978" y="137736"/>
                  </a:cubicBezTo>
                  <a:lnTo>
                    <a:pt x="8941" y="146467"/>
                  </a:lnTo>
                </a:path>
              </a:pathLst>
            </a:custGeom>
            <a:noFill/>
            <a:ln w="17463">
              <a:solidFill>
                <a:srgbClr val="FFFFFF"/>
              </a:solidFill>
            </a:ln>
          </p:spPr>
        </p:sp>
        <p:grpSp>
          <p:nvGrpSpPr>
            <p:cNvPr id="79" name="Group 79"/>
            <p:cNvGrpSpPr/>
            <p:nvPr/>
          </p:nvGrpSpPr>
          <p:grpSpPr>
            <a:xfrm>
              <a:off x="8177335" y="2550319"/>
              <a:ext cx="170506" cy="157162"/>
              <a:chOff x="8177335" y="2550319"/>
              <a:chExt cx="170506" cy="157162"/>
            </a:xfrm>
          </p:grpSpPr>
          <p:sp>
            <p:nvSpPr>
              <p:cNvPr id="77" name="Freeform 77"/>
              <p:cNvSpPr/>
              <p:nvPr/>
            </p:nvSpPr>
            <p:spPr>
              <a:xfrm>
                <a:off x="8177335" y="255031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FFFFFF"/>
                </a:solidFill>
              </a:ln>
            </p:spPr>
          </p:sp>
          <p:sp>
            <p:nvSpPr>
              <p:cNvPr id="78" name="Freeform 78"/>
              <p:cNvSpPr/>
              <p:nvPr/>
            </p:nvSpPr>
            <p:spPr>
              <a:xfrm>
                <a:off x="8293894" y="2672556"/>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grpSp>
          <p:nvGrpSpPr>
            <p:cNvPr id="86" name="Group 86"/>
            <p:cNvGrpSpPr/>
            <p:nvPr/>
          </p:nvGrpSpPr>
          <p:grpSpPr>
            <a:xfrm>
              <a:off x="8189119" y="1759744"/>
              <a:ext cx="157162" cy="157163"/>
              <a:chOff x="8189119" y="1759744"/>
              <a:chExt cx="157162" cy="157163"/>
            </a:xfrm>
          </p:grpSpPr>
          <p:sp>
            <p:nvSpPr>
              <p:cNvPr id="80" name="Freeform 80"/>
              <p:cNvSpPr/>
              <p:nvPr/>
            </p:nvSpPr>
            <p:spPr>
              <a:xfrm>
                <a:off x="8250238" y="18295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81" name="Freeform 81"/>
              <p:cNvSpPr/>
              <p:nvPr/>
            </p:nvSpPr>
            <p:spPr>
              <a:xfrm>
                <a:off x="8232775" y="189071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FFFFFF"/>
                </a:solidFill>
              </a:ln>
            </p:spPr>
          </p:sp>
          <p:sp>
            <p:nvSpPr>
              <p:cNvPr id="82" name="Freeform 82"/>
              <p:cNvSpPr/>
              <p:nvPr/>
            </p:nvSpPr>
            <p:spPr>
              <a:xfrm>
                <a:off x="8293894" y="17597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83" name="Freeform 83"/>
              <p:cNvSpPr/>
              <p:nvPr/>
            </p:nvSpPr>
            <p:spPr>
              <a:xfrm>
                <a:off x="8311356" y="182086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FFFFFF"/>
                </a:solidFill>
              </a:ln>
            </p:spPr>
          </p:sp>
          <p:sp>
            <p:nvSpPr>
              <p:cNvPr id="84" name="Freeform 84"/>
              <p:cNvSpPr/>
              <p:nvPr/>
            </p:nvSpPr>
            <p:spPr>
              <a:xfrm>
                <a:off x="8206581" y="17597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85" name="Freeform 85"/>
              <p:cNvSpPr/>
              <p:nvPr/>
            </p:nvSpPr>
            <p:spPr>
              <a:xfrm>
                <a:off x="8189119" y="182086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FFFFFF"/>
                </a:solidFill>
              </a:ln>
            </p:spPr>
          </p:sp>
        </p:grpSp>
        <p:sp>
          <p:nvSpPr>
            <p:cNvPr id="87" name="Ellipse 87"/>
            <p:cNvSpPr/>
            <p:nvPr/>
          </p:nvSpPr>
          <p:spPr>
            <a:xfrm>
              <a:off x="8458200" y="1743075"/>
              <a:ext cx="990600" cy="990600"/>
            </a:xfrm>
            <a:prstGeom prst="ellipse">
              <a:avLst/>
            </a:prstGeom>
            <a:solidFill>
              <a:srgbClr val="6E1604"/>
            </a:solidFill>
            <a:ln w="28575">
              <a:solidFill>
                <a:srgbClr val="FFFFFF"/>
              </a:solidFill>
            </a:ln>
          </p:spPr>
        </p:sp>
        <p:sp>
          <p:nvSpPr>
            <p:cNvPr id="88" name="TextBox 88"/>
            <p:cNvSpPr txBox="1"/>
            <p:nvPr/>
          </p:nvSpPr>
          <p:spPr>
            <a:xfrm>
              <a:off x="8681466" y="2096452"/>
              <a:ext cx="544068" cy="395859"/>
            </a:xfrm>
            <a:prstGeom prst="rect">
              <a:avLst/>
            </a:prstGeom>
            <a:noFill/>
            <a:ln>
              <a:noFill/>
            </a:ln>
          </p:spPr>
          <p:txBody>
            <a:bodyPr wrap="none" lIns="0" tIns="0" rIns="0" bIns="0" anchor="t" anchorCtr="0">
              <a:spAutoFit/>
            </a:bodyPr>
            <a:lstStyle/>
            <a:p>
              <a:pPr algn="ctr">
                <a:lnSpc>
                  <a:spcPts val="1500"/>
                </a:lnSpc>
              </a:pPr>
              <a:r>
                <a:rPr lang="zh-CN" sz="1050" b="1" dirty="0">
                  <a:solidFill>
                    <a:srgbClr val="FFFFFF"/>
                  </a:solidFill>
                  <a:latin typeface="+mn-lt"/>
                  <a:ea typeface="+mn-ea"/>
                  <a:cs typeface="+mn-cs"/>
                </a:rPr>
                <a:t>客户价值</a:t>
              </a:r>
              <a:br/>
              <a:r>
                <a:rPr lang="zh-CN" sz="1050" b="1" dirty="0">
                  <a:solidFill>
                    <a:srgbClr val="FFFFFF"/>
                  </a:solidFill>
                  <a:latin typeface="+mn-lt"/>
                  <a:ea typeface="+mn-ea"/>
                  <a:cs typeface="+mn-cs"/>
                </a:rPr>
                <a:t>创造闭环</a:t>
              </a:r>
            </a:p>
          </p:txBody>
        </p:sp>
        <p:sp>
          <p:nvSpPr>
            <p:cNvPr id="89" name="Ellipse 89"/>
            <p:cNvSpPr/>
            <p:nvPr/>
          </p:nvSpPr>
          <p:spPr>
            <a:xfrm>
              <a:off x="8848725" y="1104900"/>
              <a:ext cx="209550" cy="209550"/>
            </a:xfrm>
            <a:prstGeom prst="ellipse">
              <a:avLst/>
            </a:prstGeom>
            <a:solidFill>
              <a:srgbClr val="B92102"/>
            </a:solidFill>
            <a:ln w="19050">
              <a:solidFill>
                <a:srgbClr val="FFFFFF"/>
              </a:solidFill>
            </a:ln>
          </p:spPr>
        </p:sp>
        <p:sp>
          <p:nvSpPr>
            <p:cNvPr id="90" name="TextBox 90"/>
            <p:cNvSpPr txBox="1"/>
            <p:nvPr/>
          </p:nvSpPr>
          <p:spPr>
            <a:xfrm>
              <a:off x="8869440" y="1174909"/>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01​</a:t>
              </a:r>
            </a:p>
          </p:txBody>
        </p:sp>
        <p:sp>
          <p:nvSpPr>
            <p:cNvPr id="91" name="Ellipse 91"/>
            <p:cNvSpPr/>
            <p:nvPr/>
          </p:nvSpPr>
          <p:spPr>
            <a:xfrm>
              <a:off x="9739312" y="1619250"/>
              <a:ext cx="209550" cy="209550"/>
            </a:xfrm>
            <a:prstGeom prst="ellipse">
              <a:avLst/>
            </a:prstGeom>
            <a:solidFill>
              <a:srgbClr val="B92102"/>
            </a:solidFill>
            <a:ln w="19050">
              <a:solidFill>
                <a:srgbClr val="FFFFFF"/>
              </a:solidFill>
            </a:ln>
          </p:spPr>
        </p:sp>
        <p:sp>
          <p:nvSpPr>
            <p:cNvPr id="92" name="TextBox 92"/>
            <p:cNvSpPr txBox="1"/>
            <p:nvPr/>
          </p:nvSpPr>
          <p:spPr>
            <a:xfrm>
              <a:off x="9760027" y="1689259"/>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02​</a:t>
              </a:r>
            </a:p>
          </p:txBody>
        </p:sp>
        <p:sp>
          <p:nvSpPr>
            <p:cNvPr id="93" name="Ellipse 93"/>
            <p:cNvSpPr/>
            <p:nvPr/>
          </p:nvSpPr>
          <p:spPr>
            <a:xfrm>
              <a:off x="9739312" y="2647950"/>
              <a:ext cx="209550" cy="209550"/>
            </a:xfrm>
            <a:prstGeom prst="ellipse">
              <a:avLst/>
            </a:prstGeom>
            <a:solidFill>
              <a:srgbClr val="B92102"/>
            </a:solidFill>
            <a:ln w="19050">
              <a:solidFill>
                <a:srgbClr val="FFFFFF"/>
              </a:solidFill>
            </a:ln>
          </p:spPr>
        </p:sp>
        <p:sp>
          <p:nvSpPr>
            <p:cNvPr id="94" name="TextBox 94"/>
            <p:cNvSpPr txBox="1"/>
            <p:nvPr/>
          </p:nvSpPr>
          <p:spPr>
            <a:xfrm>
              <a:off x="9760027" y="2717959"/>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03​</a:t>
              </a:r>
            </a:p>
          </p:txBody>
        </p:sp>
        <p:sp>
          <p:nvSpPr>
            <p:cNvPr id="95" name="Ellipse 95"/>
            <p:cNvSpPr/>
            <p:nvPr/>
          </p:nvSpPr>
          <p:spPr>
            <a:xfrm>
              <a:off x="8848725" y="3162300"/>
              <a:ext cx="209550" cy="209550"/>
            </a:xfrm>
            <a:prstGeom prst="ellipse">
              <a:avLst/>
            </a:prstGeom>
            <a:solidFill>
              <a:srgbClr val="B92102"/>
            </a:solidFill>
            <a:ln w="19050">
              <a:solidFill>
                <a:srgbClr val="FFFFFF"/>
              </a:solidFill>
            </a:ln>
          </p:spPr>
        </p:sp>
        <p:sp>
          <p:nvSpPr>
            <p:cNvPr id="96" name="TextBox 96"/>
            <p:cNvSpPr txBox="1"/>
            <p:nvPr/>
          </p:nvSpPr>
          <p:spPr>
            <a:xfrm>
              <a:off x="8869440" y="3232309"/>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04​</a:t>
              </a:r>
            </a:p>
          </p:txBody>
        </p:sp>
        <p:sp>
          <p:nvSpPr>
            <p:cNvPr id="97" name="Ellipse 97"/>
            <p:cNvSpPr/>
            <p:nvPr/>
          </p:nvSpPr>
          <p:spPr>
            <a:xfrm>
              <a:off x="7958138" y="2647950"/>
              <a:ext cx="209550" cy="209550"/>
            </a:xfrm>
            <a:prstGeom prst="ellipse">
              <a:avLst/>
            </a:prstGeom>
            <a:solidFill>
              <a:srgbClr val="B92102"/>
            </a:solidFill>
            <a:ln w="19050">
              <a:solidFill>
                <a:srgbClr val="FFFFFF"/>
              </a:solidFill>
            </a:ln>
          </p:spPr>
        </p:sp>
        <p:sp>
          <p:nvSpPr>
            <p:cNvPr id="98" name="TextBox 98"/>
            <p:cNvSpPr txBox="1"/>
            <p:nvPr/>
          </p:nvSpPr>
          <p:spPr>
            <a:xfrm>
              <a:off x="7978852" y="2717959"/>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05​</a:t>
              </a:r>
            </a:p>
          </p:txBody>
        </p:sp>
        <p:sp>
          <p:nvSpPr>
            <p:cNvPr id="99" name="Ellipse 99"/>
            <p:cNvSpPr/>
            <p:nvPr/>
          </p:nvSpPr>
          <p:spPr>
            <a:xfrm>
              <a:off x="7958138" y="1619250"/>
              <a:ext cx="209550" cy="209550"/>
            </a:xfrm>
            <a:prstGeom prst="ellipse">
              <a:avLst/>
            </a:prstGeom>
            <a:solidFill>
              <a:srgbClr val="B92102"/>
            </a:solidFill>
            <a:ln w="19050">
              <a:solidFill>
                <a:srgbClr val="FFFFFF"/>
              </a:solidFill>
            </a:ln>
          </p:spPr>
        </p:sp>
        <p:sp>
          <p:nvSpPr>
            <p:cNvPr id="100" name="TextBox 100"/>
            <p:cNvSpPr txBox="1"/>
            <p:nvPr/>
          </p:nvSpPr>
          <p:spPr>
            <a:xfrm>
              <a:off x="7978852" y="1689259"/>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06​</a:t>
              </a:r>
            </a:p>
          </p:txBody>
        </p:sp>
        <p:sp>
          <p:nvSpPr>
            <p:cNvPr id="101" name="Line 101"/>
            <p:cNvSpPr/>
            <p:nvPr/>
          </p:nvSpPr>
          <p:spPr>
            <a:xfrm>
              <a:off x="9067800" y="1009650"/>
              <a:ext cx="933450" cy="152400"/>
            </a:xfrm>
            <a:custGeom>
              <a:avLst/>
              <a:gdLst/>
              <a:ahLst/>
              <a:cxnLst/>
              <a:rect l="l" t="t" r="r" b="b"/>
              <a:pathLst>
                <a:path w="933450" h="152400">
                  <a:moveTo>
                    <a:pt x="0" y="152400"/>
                  </a:moveTo>
                  <a:lnTo>
                    <a:pt x="933450" y="0"/>
                  </a:lnTo>
                </a:path>
              </a:pathLst>
            </a:custGeom>
            <a:noFill/>
            <a:ln w="9525">
              <a:solidFill>
                <a:srgbClr val="E3907F"/>
              </a:solidFill>
              <a:custDash>
                <a:ds d="300000" sp="200000"/>
              </a:custDash>
            </a:ln>
          </p:spPr>
        </p:sp>
        <p:sp>
          <p:nvSpPr>
            <p:cNvPr id="102" name="TextBox 102"/>
            <p:cNvSpPr txBox="1"/>
            <p:nvPr/>
          </p:nvSpPr>
          <p:spPr>
            <a:xfrm>
              <a:off x="10091738" y="893445"/>
              <a:ext cx="494157" cy="176212"/>
            </a:xfrm>
            <a:prstGeom prst="rect">
              <a:avLst/>
            </a:prstGeom>
            <a:noFill/>
            <a:ln>
              <a:noFill/>
            </a:ln>
          </p:spPr>
          <p:txBody>
            <a:bodyPr wrap="none" lIns="0" tIns="0" rIns="0" bIns="0" anchor="t" anchorCtr="0">
              <a:spAutoFit/>
            </a:bodyPr>
            <a:lstStyle/>
            <a:p>
              <a:pPr algn="l"/>
              <a:r>
                <a:rPr lang="zh-CN" sz="900" b="1" dirty="0">
                  <a:solidFill>
                    <a:srgbClr val="6E1604"/>
                  </a:solidFill>
                  <a:latin typeface="+mn-lt"/>
                  <a:ea typeface="+mn-ea"/>
                  <a:cs typeface="+mn-cs"/>
                </a:rPr>
                <a:t>客户洞察</a:t>
              </a:r>
            </a:p>
          </p:txBody>
        </p:sp>
        <p:sp>
          <p:nvSpPr>
            <p:cNvPr id="103" name="TextBox 103"/>
            <p:cNvSpPr txBox="1"/>
            <p:nvPr/>
          </p:nvSpPr>
          <p:spPr>
            <a:xfrm>
              <a:off x="10091738" y="1066086"/>
              <a:ext cx="1231328"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73633"/>
                  </a:solidFill>
                  <a:latin typeface="+mn-lt"/>
                  <a:ea typeface="+mn-ea"/>
                  <a:cs typeface="+mn-cs"/>
                </a:rPr>
                <a:t>洞察客户业务与决策链，识别​</a:t>
              </a:r>
              <a:br/>
              <a:r>
                <a:rPr lang="zh-CN" sz="710" dirty="0">
                  <a:solidFill>
                    <a:srgbClr val="473633"/>
                  </a:solidFill>
                  <a:latin typeface="+mn-lt"/>
                  <a:ea typeface="+mn-ea"/>
                  <a:cs typeface="+mn-cs"/>
                </a:rPr>
                <a:t>机会与痛点</a:t>
              </a:r>
            </a:p>
          </p:txBody>
        </p:sp>
        <p:sp>
          <p:nvSpPr>
            <p:cNvPr id="104" name="Line 104"/>
            <p:cNvSpPr/>
            <p:nvPr/>
          </p:nvSpPr>
          <p:spPr>
            <a:xfrm>
              <a:off x="9963150" y="1724025"/>
              <a:ext cx="247650" cy="9525"/>
            </a:xfrm>
            <a:custGeom>
              <a:avLst/>
              <a:gdLst/>
              <a:ahLst/>
              <a:cxnLst/>
              <a:rect l="l" t="t" r="r" b="b"/>
              <a:pathLst>
                <a:path w="247650" h="9525">
                  <a:moveTo>
                    <a:pt x="0" y="0"/>
                  </a:moveTo>
                  <a:lnTo>
                    <a:pt x="247650" y="0"/>
                  </a:lnTo>
                </a:path>
              </a:pathLst>
            </a:custGeom>
            <a:noFill/>
            <a:ln w="9525">
              <a:solidFill>
                <a:srgbClr val="E3907F"/>
              </a:solidFill>
              <a:custDash>
                <a:ds d="300000" sp="200000"/>
              </a:custDash>
            </a:ln>
          </p:spPr>
        </p:sp>
        <p:sp>
          <p:nvSpPr>
            <p:cNvPr id="105" name="TextBox 105"/>
            <p:cNvSpPr txBox="1"/>
            <p:nvPr/>
          </p:nvSpPr>
          <p:spPr>
            <a:xfrm>
              <a:off x="10282238" y="1598295"/>
              <a:ext cx="494157" cy="176212"/>
            </a:xfrm>
            <a:prstGeom prst="rect">
              <a:avLst/>
            </a:prstGeom>
            <a:noFill/>
            <a:ln>
              <a:noFill/>
            </a:ln>
          </p:spPr>
          <p:txBody>
            <a:bodyPr wrap="none" lIns="0" tIns="0" rIns="0" bIns="0" anchor="t" anchorCtr="0">
              <a:spAutoFit/>
            </a:bodyPr>
            <a:lstStyle/>
            <a:p>
              <a:pPr algn="l"/>
              <a:r>
                <a:rPr lang="zh-CN" sz="900" b="1" dirty="0">
                  <a:solidFill>
                    <a:srgbClr val="6E1604"/>
                  </a:solidFill>
                  <a:latin typeface="+mn-lt"/>
                  <a:ea typeface="+mn-ea"/>
                  <a:cs typeface="+mn-cs"/>
                </a:rPr>
                <a:t>需求诊断</a:t>
              </a:r>
            </a:p>
          </p:txBody>
        </p:sp>
        <p:sp>
          <p:nvSpPr>
            <p:cNvPr id="106" name="TextBox 106"/>
            <p:cNvSpPr txBox="1"/>
            <p:nvPr/>
          </p:nvSpPr>
          <p:spPr>
            <a:xfrm>
              <a:off x="10282238" y="1770936"/>
              <a:ext cx="1231328"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73633"/>
                  </a:solidFill>
                  <a:latin typeface="+mn-lt"/>
                  <a:ea typeface="+mn-ea"/>
                  <a:cs typeface="+mn-cs"/>
                </a:rPr>
                <a:t>结构化梳理需求，明确关键问​</a:t>
              </a:r>
              <a:br/>
              <a:r>
                <a:rPr lang="zh-CN" sz="710" dirty="0">
                  <a:solidFill>
                    <a:srgbClr val="473633"/>
                  </a:solidFill>
                  <a:latin typeface="+mn-lt"/>
                  <a:ea typeface="+mn-ea"/>
                  <a:cs typeface="+mn-cs"/>
                </a:rPr>
                <a:t>题与优先级</a:t>
              </a:r>
            </a:p>
          </p:txBody>
        </p:sp>
        <p:sp>
          <p:nvSpPr>
            <p:cNvPr id="107" name="Line 107"/>
            <p:cNvSpPr/>
            <p:nvPr/>
          </p:nvSpPr>
          <p:spPr>
            <a:xfrm>
              <a:off x="9963150" y="2752725"/>
              <a:ext cx="247650" cy="9525"/>
            </a:xfrm>
            <a:custGeom>
              <a:avLst/>
              <a:gdLst/>
              <a:ahLst/>
              <a:cxnLst/>
              <a:rect l="l" t="t" r="r" b="b"/>
              <a:pathLst>
                <a:path w="247650" h="9525">
                  <a:moveTo>
                    <a:pt x="0" y="0"/>
                  </a:moveTo>
                  <a:lnTo>
                    <a:pt x="247650" y="0"/>
                  </a:lnTo>
                </a:path>
              </a:pathLst>
            </a:custGeom>
            <a:noFill/>
            <a:ln w="9525">
              <a:solidFill>
                <a:srgbClr val="E3907F"/>
              </a:solidFill>
              <a:custDash>
                <a:ds d="300000" sp="200000"/>
              </a:custDash>
            </a:ln>
          </p:spPr>
        </p:sp>
        <p:sp>
          <p:nvSpPr>
            <p:cNvPr id="108" name="TextBox 108"/>
            <p:cNvSpPr txBox="1"/>
            <p:nvPr/>
          </p:nvSpPr>
          <p:spPr>
            <a:xfrm>
              <a:off x="10282238" y="2626995"/>
              <a:ext cx="494157" cy="176212"/>
            </a:xfrm>
            <a:prstGeom prst="rect">
              <a:avLst/>
            </a:prstGeom>
            <a:noFill/>
            <a:ln>
              <a:noFill/>
            </a:ln>
          </p:spPr>
          <p:txBody>
            <a:bodyPr wrap="none" lIns="0" tIns="0" rIns="0" bIns="0" anchor="t" anchorCtr="0">
              <a:spAutoFit/>
            </a:bodyPr>
            <a:lstStyle/>
            <a:p>
              <a:pPr algn="l"/>
              <a:r>
                <a:rPr lang="zh-CN" sz="900" b="1" dirty="0">
                  <a:solidFill>
                    <a:srgbClr val="6E1604"/>
                  </a:solidFill>
                  <a:latin typeface="+mn-lt"/>
                  <a:ea typeface="+mn-ea"/>
                  <a:cs typeface="+mn-cs"/>
                </a:rPr>
                <a:t>方案设计</a:t>
              </a:r>
            </a:p>
          </p:txBody>
        </p:sp>
        <p:sp>
          <p:nvSpPr>
            <p:cNvPr id="109" name="TextBox 109"/>
            <p:cNvSpPr txBox="1"/>
            <p:nvPr/>
          </p:nvSpPr>
          <p:spPr>
            <a:xfrm>
              <a:off x="10282238" y="2799636"/>
              <a:ext cx="1231328"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73633"/>
                  </a:solidFill>
                  <a:latin typeface="+mn-lt"/>
                  <a:ea typeface="+mn-ea"/>
                  <a:cs typeface="+mn-cs"/>
                </a:rPr>
                <a:t>匹配客户需求，输出差异化、​</a:t>
              </a:r>
              <a:br/>
              <a:r>
                <a:rPr lang="zh-CN" sz="710" dirty="0">
                  <a:solidFill>
                    <a:srgbClr val="473633"/>
                  </a:solidFill>
                  <a:latin typeface="+mn-lt"/>
                  <a:ea typeface="+mn-ea"/>
                  <a:cs typeface="+mn-cs"/>
                </a:rPr>
                <a:t>可落地的解决方案</a:t>
              </a:r>
            </a:p>
          </p:txBody>
        </p:sp>
        <p:sp>
          <p:nvSpPr>
            <p:cNvPr id="110" name="Line 110"/>
            <p:cNvSpPr/>
            <p:nvPr/>
          </p:nvSpPr>
          <p:spPr>
            <a:xfrm>
              <a:off x="8382000" y="3324225"/>
              <a:ext cx="457200" cy="142875"/>
            </a:xfrm>
            <a:custGeom>
              <a:avLst/>
              <a:gdLst/>
              <a:ahLst/>
              <a:cxnLst/>
              <a:rect l="l" t="t" r="r" b="b"/>
              <a:pathLst>
                <a:path w="457200" h="142875">
                  <a:moveTo>
                    <a:pt x="457200" y="0"/>
                  </a:moveTo>
                  <a:lnTo>
                    <a:pt x="0" y="142875"/>
                  </a:lnTo>
                </a:path>
              </a:pathLst>
            </a:custGeom>
            <a:noFill/>
            <a:ln w="9525">
              <a:solidFill>
                <a:srgbClr val="E3907F"/>
              </a:solidFill>
              <a:custDash>
                <a:ds d="300000" sp="200000"/>
              </a:custDash>
            </a:ln>
          </p:spPr>
        </p:sp>
        <p:sp>
          <p:nvSpPr>
            <p:cNvPr id="111" name="TextBox 111"/>
            <p:cNvSpPr txBox="1"/>
            <p:nvPr/>
          </p:nvSpPr>
          <p:spPr>
            <a:xfrm>
              <a:off x="7816406" y="3408045"/>
              <a:ext cx="494157" cy="176212"/>
            </a:xfrm>
            <a:prstGeom prst="rect">
              <a:avLst/>
            </a:prstGeom>
            <a:noFill/>
            <a:ln>
              <a:noFill/>
            </a:ln>
          </p:spPr>
          <p:txBody>
            <a:bodyPr wrap="none" lIns="0" tIns="0" rIns="0" bIns="0" anchor="t" anchorCtr="0">
              <a:spAutoFit/>
            </a:bodyPr>
            <a:lstStyle/>
            <a:p>
              <a:pPr algn="r"/>
              <a:r>
                <a:rPr lang="zh-CN" sz="900" b="1" dirty="0">
                  <a:solidFill>
                    <a:srgbClr val="6E1604"/>
                  </a:solidFill>
                  <a:latin typeface="+mn-lt"/>
                  <a:ea typeface="+mn-ea"/>
                  <a:cs typeface="+mn-cs"/>
                </a:rPr>
                <a:t>异议处理</a:t>
              </a:r>
            </a:p>
          </p:txBody>
        </p:sp>
        <p:sp>
          <p:nvSpPr>
            <p:cNvPr id="112" name="TextBox 112"/>
            <p:cNvSpPr txBox="1"/>
            <p:nvPr/>
          </p:nvSpPr>
          <p:spPr>
            <a:xfrm>
              <a:off x="6241284" y="3580686"/>
              <a:ext cx="2069278" cy="140494"/>
            </a:xfrm>
            <a:prstGeom prst="rect">
              <a:avLst/>
            </a:prstGeom>
            <a:noFill/>
            <a:ln>
              <a:noFill/>
            </a:ln>
          </p:spPr>
          <p:txBody>
            <a:bodyPr wrap="none" lIns="0" tIns="0" rIns="0" bIns="0" anchor="t" anchorCtr="0">
              <a:spAutoFit/>
            </a:bodyPr>
            <a:lstStyle/>
            <a:p>
              <a:pPr algn="r"/>
              <a:r>
                <a:rPr lang="zh-CN" sz="710" dirty="0">
                  <a:solidFill>
                    <a:srgbClr val="473633"/>
                  </a:solidFill>
                  <a:latin typeface="+mn-lt"/>
                  <a:ea typeface="+mn-ea"/>
                  <a:cs typeface="+mn-cs"/>
                </a:rPr>
                <a:t>识别异议本质，提供证据与价值，推动共识达成​</a:t>
              </a:r>
            </a:p>
          </p:txBody>
        </p:sp>
        <p:sp>
          <p:nvSpPr>
            <p:cNvPr id="113" name="Line 113"/>
            <p:cNvSpPr/>
            <p:nvPr/>
          </p:nvSpPr>
          <p:spPr>
            <a:xfrm>
              <a:off x="7696200" y="2752725"/>
              <a:ext cx="247650" cy="9525"/>
            </a:xfrm>
            <a:custGeom>
              <a:avLst/>
              <a:gdLst/>
              <a:ahLst/>
              <a:cxnLst/>
              <a:rect l="l" t="t" r="r" b="b"/>
              <a:pathLst>
                <a:path w="247650" h="9525">
                  <a:moveTo>
                    <a:pt x="247650" y="0"/>
                  </a:moveTo>
                  <a:lnTo>
                    <a:pt x="0" y="0"/>
                  </a:lnTo>
                </a:path>
              </a:pathLst>
            </a:custGeom>
            <a:noFill/>
            <a:ln w="9525">
              <a:solidFill>
                <a:srgbClr val="E3907F"/>
              </a:solidFill>
              <a:custDash>
                <a:ds d="300000" sp="200000"/>
              </a:custDash>
            </a:ln>
          </p:spPr>
        </p:sp>
        <p:sp>
          <p:nvSpPr>
            <p:cNvPr id="114" name="TextBox 114"/>
            <p:cNvSpPr txBox="1"/>
            <p:nvPr/>
          </p:nvSpPr>
          <p:spPr>
            <a:xfrm>
              <a:off x="7130606" y="2626995"/>
              <a:ext cx="494157" cy="176212"/>
            </a:xfrm>
            <a:prstGeom prst="rect">
              <a:avLst/>
            </a:prstGeom>
            <a:noFill/>
            <a:ln>
              <a:noFill/>
            </a:ln>
          </p:spPr>
          <p:txBody>
            <a:bodyPr wrap="none" lIns="0" tIns="0" rIns="0" bIns="0" anchor="t" anchorCtr="0">
              <a:spAutoFit/>
            </a:bodyPr>
            <a:lstStyle/>
            <a:p>
              <a:pPr algn="r"/>
              <a:r>
                <a:rPr lang="zh-CN" sz="900" b="1" dirty="0">
                  <a:solidFill>
                    <a:srgbClr val="6E1604"/>
                  </a:solidFill>
                  <a:latin typeface="+mn-lt"/>
                  <a:ea typeface="+mn-ea"/>
                  <a:cs typeface="+mn-cs"/>
                </a:rPr>
                <a:t>合规销售</a:t>
              </a:r>
            </a:p>
          </p:txBody>
        </p:sp>
        <p:sp>
          <p:nvSpPr>
            <p:cNvPr id="115" name="TextBox 115"/>
            <p:cNvSpPr txBox="1"/>
            <p:nvPr/>
          </p:nvSpPr>
          <p:spPr>
            <a:xfrm>
              <a:off x="6303264" y="2799636"/>
              <a:ext cx="1321498" cy="264319"/>
            </a:xfrm>
            <a:prstGeom prst="rect">
              <a:avLst/>
            </a:prstGeom>
            <a:noFill/>
            <a:ln>
              <a:noFill/>
            </a:ln>
          </p:spPr>
          <p:txBody>
            <a:bodyPr wrap="none" lIns="0" tIns="0" rIns="0" bIns="0" anchor="t" anchorCtr="0">
              <a:spAutoFit/>
            </a:bodyPr>
            <a:lstStyle/>
            <a:p>
              <a:pPr algn="r">
                <a:lnSpc>
                  <a:spcPts val="975"/>
                </a:lnSpc>
              </a:pPr>
              <a:r>
                <a:rPr lang="zh-CN" sz="710" dirty="0">
                  <a:solidFill>
                    <a:srgbClr val="473633"/>
                  </a:solidFill>
                  <a:latin typeface="+mn-lt"/>
                  <a:ea typeface="+mn-ea"/>
                  <a:cs typeface="+mn-cs"/>
                </a:rPr>
                <a:t>坚守合规底线，规范销售行为，​</a:t>
              </a:r>
              <a:br/>
              <a:r>
                <a:rPr lang="zh-CN" sz="710" dirty="0">
                  <a:solidFill>
                    <a:srgbClr val="473633"/>
                  </a:solidFill>
                  <a:latin typeface="+mn-lt"/>
                  <a:ea typeface="+mn-ea"/>
                  <a:cs typeface="+mn-cs"/>
                </a:rPr>
                <a:t>降低风险</a:t>
              </a:r>
            </a:p>
          </p:txBody>
        </p:sp>
        <p:sp>
          <p:nvSpPr>
            <p:cNvPr id="116" name="Line 116"/>
            <p:cNvSpPr/>
            <p:nvPr/>
          </p:nvSpPr>
          <p:spPr>
            <a:xfrm>
              <a:off x="7696200" y="1724025"/>
              <a:ext cx="247650" cy="9525"/>
            </a:xfrm>
            <a:custGeom>
              <a:avLst/>
              <a:gdLst/>
              <a:ahLst/>
              <a:cxnLst/>
              <a:rect l="l" t="t" r="r" b="b"/>
              <a:pathLst>
                <a:path w="247650" h="9525">
                  <a:moveTo>
                    <a:pt x="247650" y="0"/>
                  </a:moveTo>
                  <a:lnTo>
                    <a:pt x="0" y="0"/>
                  </a:lnTo>
                </a:path>
              </a:pathLst>
            </a:custGeom>
            <a:noFill/>
            <a:ln w="9525">
              <a:solidFill>
                <a:srgbClr val="E3907F"/>
              </a:solidFill>
              <a:custDash>
                <a:ds d="300000" sp="200000"/>
              </a:custDash>
            </a:ln>
          </p:spPr>
        </p:sp>
        <p:sp>
          <p:nvSpPr>
            <p:cNvPr id="117" name="TextBox 117"/>
            <p:cNvSpPr txBox="1"/>
            <p:nvPr/>
          </p:nvSpPr>
          <p:spPr>
            <a:xfrm>
              <a:off x="7130606" y="1598295"/>
              <a:ext cx="494157" cy="176212"/>
            </a:xfrm>
            <a:prstGeom prst="rect">
              <a:avLst/>
            </a:prstGeom>
            <a:noFill/>
            <a:ln>
              <a:noFill/>
            </a:ln>
          </p:spPr>
          <p:txBody>
            <a:bodyPr wrap="none" lIns="0" tIns="0" rIns="0" bIns="0" anchor="t" anchorCtr="0">
              <a:spAutoFit/>
            </a:bodyPr>
            <a:lstStyle/>
            <a:p>
              <a:pPr algn="r"/>
              <a:r>
                <a:rPr lang="zh-CN" sz="900" b="1" dirty="0">
                  <a:solidFill>
                    <a:srgbClr val="6E1604"/>
                  </a:solidFill>
                  <a:latin typeface="+mn-lt"/>
                  <a:ea typeface="+mn-ea"/>
                  <a:cs typeface="+mn-cs"/>
                </a:rPr>
                <a:t>协同推进</a:t>
              </a:r>
            </a:p>
          </p:txBody>
        </p:sp>
        <p:sp>
          <p:nvSpPr>
            <p:cNvPr id="118" name="TextBox 118"/>
            <p:cNvSpPr txBox="1"/>
            <p:nvPr/>
          </p:nvSpPr>
          <p:spPr>
            <a:xfrm>
              <a:off x="6393434" y="1770936"/>
              <a:ext cx="1231328" cy="264319"/>
            </a:xfrm>
            <a:prstGeom prst="rect">
              <a:avLst/>
            </a:prstGeom>
            <a:noFill/>
            <a:ln>
              <a:noFill/>
            </a:ln>
          </p:spPr>
          <p:txBody>
            <a:bodyPr wrap="none" lIns="0" tIns="0" rIns="0" bIns="0" anchor="t" anchorCtr="0">
              <a:spAutoFit/>
            </a:bodyPr>
            <a:lstStyle/>
            <a:p>
              <a:pPr algn="r">
                <a:lnSpc>
                  <a:spcPts val="975"/>
                </a:lnSpc>
              </a:pPr>
              <a:r>
                <a:rPr lang="zh-CN" sz="710" dirty="0">
                  <a:solidFill>
                    <a:srgbClr val="473633"/>
                  </a:solidFill>
                  <a:latin typeface="+mn-lt"/>
                  <a:ea typeface="+mn-ea"/>
                  <a:cs typeface="+mn-cs"/>
                </a:rPr>
                <a:t>跨部门协同，整合资源，保障​</a:t>
              </a:r>
              <a:br/>
              <a:r>
                <a:rPr lang="zh-CN" sz="710" dirty="0">
                  <a:solidFill>
                    <a:srgbClr val="473633"/>
                  </a:solidFill>
                  <a:latin typeface="+mn-lt"/>
                  <a:ea typeface="+mn-ea"/>
                  <a:cs typeface="+mn-cs"/>
                </a:rPr>
                <a:t>项目高效落地</a:t>
              </a:r>
            </a:p>
          </p:txBody>
        </p:sp>
      </p:grpSp>
      <p:grpSp>
        <p:nvGrpSpPr>
          <p:cNvPr id="160" name="coaching-table"/>
          <p:cNvGrpSpPr/>
          <p:nvPr/>
        </p:nvGrpSpPr>
        <p:grpSpPr>
          <a:xfrm>
            <a:off x="266700" y="3962400"/>
            <a:ext cx="9067800" cy="2609850"/>
            <a:chOff x="266700" y="3962400"/>
            <a:chExt cx="9067800" cy="2609850"/>
          </a:xfrm>
        </p:grpSpPr>
        <p:sp>
          <p:nvSpPr>
            <p:cNvPr id="120" name="Rectangle 120"/>
            <p:cNvSpPr/>
            <p:nvPr/>
          </p:nvSpPr>
          <p:spPr>
            <a:xfrm>
              <a:off x="266700" y="3962400"/>
              <a:ext cx="9067800" cy="2609850"/>
            </a:xfrm>
            <a:prstGeom prst="roundRect">
              <a:avLst>
                <a:gd name="adj" fmla="val 2920"/>
              </a:avLst>
            </a:prstGeom>
            <a:solidFill>
              <a:srgbClr val="FFFFFF"/>
            </a:solidFill>
            <a:ln w="9525">
              <a:solidFill>
                <a:srgbClr val="F7D1C9"/>
              </a:solidFill>
            </a:ln>
          </p:spPr>
        </p:sp>
        <p:sp>
          <p:nvSpPr>
            <p:cNvPr id="121" name="Rectangle 121"/>
            <p:cNvSpPr/>
            <p:nvPr/>
          </p:nvSpPr>
          <p:spPr>
            <a:xfrm>
              <a:off x="381000" y="4076700"/>
              <a:ext cx="38100" cy="190500"/>
            </a:xfrm>
            <a:prstGeom prst="rect">
              <a:avLst/>
            </a:prstGeom>
            <a:solidFill>
              <a:srgbClr val="B92102"/>
            </a:solidFill>
            <a:ln>
              <a:noFill/>
            </a:ln>
          </p:spPr>
        </p:sp>
        <p:sp>
          <p:nvSpPr>
            <p:cNvPr id="122" name="TextBox 122"/>
            <p:cNvSpPr txBox="1"/>
            <p:nvPr/>
          </p:nvSpPr>
          <p:spPr>
            <a:xfrm>
              <a:off x="489204" y="4099560"/>
              <a:ext cx="1143000" cy="234696"/>
            </a:xfrm>
            <a:prstGeom prst="rect">
              <a:avLst/>
            </a:prstGeom>
            <a:noFill/>
            <a:ln>
              <a:noFill/>
            </a:ln>
          </p:spPr>
          <p:txBody>
            <a:bodyPr wrap="none" lIns="0" tIns="0" rIns="0" bIns="0" anchor="t" anchorCtr="0">
              <a:spAutoFit/>
            </a:bodyPr>
            <a:lstStyle/>
            <a:p>
              <a:pPr algn="l"/>
              <a:r>
                <a:rPr lang="zh-CN" sz="1200" b="1" dirty="0">
                  <a:solidFill>
                    <a:srgbClr val="6E1604"/>
                  </a:solidFill>
                  <a:latin typeface="+mn-lt"/>
                  <a:ea typeface="+mn-ea"/>
                  <a:cs typeface="+mn-cs"/>
                </a:rPr>
                <a:t>教练式培养体系</a:t>
              </a:r>
            </a:p>
          </p:txBody>
        </p:sp>
        <p:sp>
          <p:nvSpPr>
            <p:cNvPr id="123" name="Rectangle 123"/>
            <p:cNvSpPr/>
            <p:nvPr/>
          </p:nvSpPr>
          <p:spPr>
            <a:xfrm>
              <a:off x="381000" y="4362450"/>
              <a:ext cx="8839200" cy="266700"/>
            </a:xfrm>
            <a:prstGeom prst="roundRect">
              <a:avLst>
                <a:gd name="adj" fmla="val 14286"/>
              </a:avLst>
            </a:prstGeom>
            <a:solidFill>
              <a:srgbClr val="B92102"/>
            </a:solidFill>
            <a:ln>
              <a:noFill/>
            </a:ln>
          </p:spPr>
        </p:sp>
        <p:sp>
          <p:nvSpPr>
            <p:cNvPr id="124" name="TextBox 124"/>
            <p:cNvSpPr txBox="1"/>
            <p:nvPr/>
          </p:nvSpPr>
          <p:spPr>
            <a:xfrm>
              <a:off x="744995" y="444222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对象</a:t>
              </a:r>
            </a:p>
          </p:txBody>
        </p:sp>
        <p:sp>
          <p:nvSpPr>
            <p:cNvPr id="125" name="TextBox 125"/>
            <p:cNvSpPr txBox="1"/>
            <p:nvPr/>
          </p:nvSpPr>
          <p:spPr>
            <a:xfrm>
              <a:off x="2066252" y="44422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能力短板</a:t>
              </a:r>
            </a:p>
          </p:txBody>
        </p:sp>
        <p:sp>
          <p:nvSpPr>
            <p:cNvPr id="126" name="TextBox 126"/>
            <p:cNvSpPr txBox="1"/>
            <p:nvPr/>
          </p:nvSpPr>
          <p:spPr>
            <a:xfrm>
              <a:off x="4066502" y="44422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训练方式</a:t>
              </a:r>
            </a:p>
          </p:txBody>
        </p:sp>
        <p:sp>
          <p:nvSpPr>
            <p:cNvPr id="127" name="TextBox 127"/>
            <p:cNvSpPr txBox="1"/>
            <p:nvPr/>
          </p:nvSpPr>
          <p:spPr>
            <a:xfrm>
              <a:off x="6066752" y="44422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应用场景</a:t>
              </a:r>
            </a:p>
          </p:txBody>
        </p:sp>
        <p:sp>
          <p:nvSpPr>
            <p:cNvPr id="128" name="TextBox 128"/>
            <p:cNvSpPr txBox="1"/>
            <p:nvPr/>
          </p:nvSpPr>
          <p:spPr>
            <a:xfrm>
              <a:off x="7952702" y="44422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检验标准</a:t>
              </a:r>
            </a:p>
          </p:txBody>
        </p:sp>
        <p:sp>
          <p:nvSpPr>
            <p:cNvPr id="129" name="Line 129"/>
            <p:cNvSpPr/>
            <p:nvPr/>
          </p:nvSpPr>
          <p:spPr>
            <a:xfrm>
              <a:off x="381000" y="5105400"/>
              <a:ext cx="8839200" cy="9525"/>
            </a:xfrm>
            <a:custGeom>
              <a:avLst/>
              <a:gdLst/>
              <a:ahLst/>
              <a:cxnLst/>
              <a:rect l="l" t="t" r="r" b="b"/>
              <a:pathLst>
                <a:path w="8839200" h="9525">
                  <a:moveTo>
                    <a:pt x="0" y="0"/>
                  </a:moveTo>
                  <a:lnTo>
                    <a:pt x="8839200" y="0"/>
                  </a:lnTo>
                </a:path>
              </a:pathLst>
            </a:custGeom>
            <a:noFill/>
            <a:ln w="9525">
              <a:solidFill>
                <a:srgbClr val="DCE6F8"/>
              </a:solidFill>
            </a:ln>
          </p:spPr>
        </p:sp>
        <p:sp>
          <p:nvSpPr>
            <p:cNvPr id="130" name="Line 130"/>
            <p:cNvSpPr/>
            <p:nvPr/>
          </p:nvSpPr>
          <p:spPr>
            <a:xfrm>
              <a:off x="381000" y="5581650"/>
              <a:ext cx="8839200" cy="9525"/>
            </a:xfrm>
            <a:custGeom>
              <a:avLst/>
              <a:gdLst/>
              <a:ahLst/>
              <a:cxnLst/>
              <a:rect l="l" t="t" r="r" b="b"/>
              <a:pathLst>
                <a:path w="8839200" h="9525">
                  <a:moveTo>
                    <a:pt x="0" y="0"/>
                  </a:moveTo>
                  <a:lnTo>
                    <a:pt x="8839200" y="0"/>
                  </a:lnTo>
                </a:path>
              </a:pathLst>
            </a:custGeom>
            <a:noFill/>
            <a:ln w="9525">
              <a:solidFill>
                <a:srgbClr val="DCE6F8"/>
              </a:solidFill>
            </a:ln>
          </p:spPr>
        </p:sp>
        <p:sp>
          <p:nvSpPr>
            <p:cNvPr id="131" name="Line 131"/>
            <p:cNvSpPr/>
            <p:nvPr/>
          </p:nvSpPr>
          <p:spPr>
            <a:xfrm>
              <a:off x="381000" y="6057900"/>
              <a:ext cx="8839200" cy="9525"/>
            </a:xfrm>
            <a:custGeom>
              <a:avLst/>
              <a:gdLst/>
              <a:ahLst/>
              <a:cxnLst/>
              <a:rect l="l" t="t" r="r" b="b"/>
              <a:pathLst>
                <a:path w="8839200" h="9525">
                  <a:moveTo>
                    <a:pt x="0" y="0"/>
                  </a:moveTo>
                  <a:lnTo>
                    <a:pt x="8839200" y="0"/>
                  </a:lnTo>
                </a:path>
              </a:pathLst>
            </a:custGeom>
            <a:noFill/>
            <a:ln w="9525">
              <a:solidFill>
                <a:srgbClr val="DCE6F8"/>
              </a:solidFill>
            </a:ln>
          </p:spPr>
        </p:sp>
        <p:sp>
          <p:nvSpPr>
            <p:cNvPr id="132" name="Line 132"/>
            <p:cNvSpPr/>
            <p:nvPr/>
          </p:nvSpPr>
          <p:spPr>
            <a:xfrm>
              <a:off x="1371600" y="4629150"/>
              <a:ext cx="9525" cy="1905000"/>
            </a:xfrm>
            <a:custGeom>
              <a:avLst/>
              <a:gdLst/>
              <a:ahLst/>
              <a:cxnLst/>
              <a:rect l="l" t="t" r="r" b="b"/>
              <a:pathLst>
                <a:path w="9525" h="1905000">
                  <a:moveTo>
                    <a:pt x="0" y="0"/>
                  </a:moveTo>
                  <a:lnTo>
                    <a:pt x="0" y="1905000"/>
                  </a:lnTo>
                </a:path>
              </a:pathLst>
            </a:custGeom>
            <a:noFill/>
            <a:ln w="9525">
              <a:solidFill>
                <a:srgbClr val="DCE6F8"/>
              </a:solidFill>
            </a:ln>
          </p:spPr>
        </p:sp>
        <p:sp>
          <p:nvSpPr>
            <p:cNvPr id="133" name="Line 133"/>
            <p:cNvSpPr/>
            <p:nvPr/>
          </p:nvSpPr>
          <p:spPr>
            <a:xfrm>
              <a:off x="3276600" y="4629150"/>
              <a:ext cx="9525" cy="1905000"/>
            </a:xfrm>
            <a:custGeom>
              <a:avLst/>
              <a:gdLst/>
              <a:ahLst/>
              <a:cxnLst/>
              <a:rect l="l" t="t" r="r" b="b"/>
              <a:pathLst>
                <a:path w="9525" h="1905000">
                  <a:moveTo>
                    <a:pt x="0" y="0"/>
                  </a:moveTo>
                  <a:lnTo>
                    <a:pt x="0" y="1905000"/>
                  </a:lnTo>
                </a:path>
              </a:pathLst>
            </a:custGeom>
            <a:noFill/>
            <a:ln w="9525">
              <a:solidFill>
                <a:srgbClr val="DCE6F8"/>
              </a:solidFill>
            </a:ln>
          </p:spPr>
        </p:sp>
        <p:sp>
          <p:nvSpPr>
            <p:cNvPr id="134" name="Line 134"/>
            <p:cNvSpPr/>
            <p:nvPr/>
          </p:nvSpPr>
          <p:spPr>
            <a:xfrm>
              <a:off x="5372100" y="4629150"/>
              <a:ext cx="9525" cy="1905000"/>
            </a:xfrm>
            <a:custGeom>
              <a:avLst/>
              <a:gdLst/>
              <a:ahLst/>
              <a:cxnLst/>
              <a:rect l="l" t="t" r="r" b="b"/>
              <a:pathLst>
                <a:path w="9525" h="1905000">
                  <a:moveTo>
                    <a:pt x="0" y="0"/>
                  </a:moveTo>
                  <a:lnTo>
                    <a:pt x="0" y="1905000"/>
                  </a:lnTo>
                </a:path>
              </a:pathLst>
            </a:custGeom>
            <a:noFill/>
            <a:ln w="9525">
              <a:solidFill>
                <a:srgbClr val="DCE6F8"/>
              </a:solidFill>
            </a:ln>
          </p:spPr>
        </p:sp>
        <p:sp>
          <p:nvSpPr>
            <p:cNvPr id="135" name="Line 135"/>
            <p:cNvSpPr/>
            <p:nvPr/>
          </p:nvSpPr>
          <p:spPr>
            <a:xfrm>
              <a:off x="7277100" y="4629150"/>
              <a:ext cx="9525" cy="1905000"/>
            </a:xfrm>
            <a:custGeom>
              <a:avLst/>
              <a:gdLst/>
              <a:ahLst/>
              <a:cxnLst/>
              <a:rect l="l" t="t" r="r" b="b"/>
              <a:pathLst>
                <a:path w="9525" h="1905000">
                  <a:moveTo>
                    <a:pt x="0" y="0"/>
                  </a:moveTo>
                  <a:lnTo>
                    <a:pt x="0" y="1905000"/>
                  </a:lnTo>
                </a:path>
              </a:pathLst>
            </a:custGeom>
            <a:noFill/>
            <a:ln w="9525">
              <a:solidFill>
                <a:srgbClr val="DCE6F8"/>
              </a:solidFill>
            </a:ln>
          </p:spPr>
        </p:sp>
        <p:grpSp>
          <p:nvGrpSpPr>
            <p:cNvPr id="141" name="ct-row-1"/>
            <p:cNvGrpSpPr/>
            <p:nvPr/>
          </p:nvGrpSpPr>
          <p:grpSpPr>
            <a:xfrm>
              <a:off x="568642" y="4749641"/>
              <a:ext cx="8182992" cy="304800"/>
              <a:chOff x="568642" y="4749641"/>
              <a:chExt cx="8182992" cy="304800"/>
            </a:xfrm>
          </p:grpSpPr>
          <p:sp>
            <p:nvSpPr>
              <p:cNvPr id="136" name="TextBox 136"/>
              <p:cNvSpPr txBox="1"/>
              <p:nvPr/>
            </p:nvSpPr>
            <p:spPr>
              <a:xfrm>
                <a:off x="568642" y="4808220"/>
                <a:ext cx="615315" cy="176212"/>
              </a:xfrm>
              <a:prstGeom prst="rect">
                <a:avLst/>
              </a:prstGeom>
              <a:noFill/>
              <a:ln>
                <a:noFill/>
              </a:ln>
            </p:spPr>
            <p:txBody>
              <a:bodyPr wrap="none" lIns="0" tIns="0" rIns="0" bIns="0" anchor="t" anchorCtr="0">
                <a:spAutoFit/>
              </a:bodyPr>
              <a:lstStyle/>
              <a:p>
                <a:pPr algn="ctr"/>
                <a:r>
                  <a:rPr lang="zh-CN" sz="900" b="1" dirty="0">
                    <a:solidFill>
                      <a:srgbClr val="6E1604"/>
                    </a:solidFill>
                    <a:latin typeface="+mn-lt"/>
                    <a:ea typeface="+mn-ea"/>
                    <a:cs typeface="+mn-cs"/>
                  </a:rPr>
                  <a:t>新入职员工</a:t>
                </a:r>
              </a:p>
            </p:txBody>
          </p:sp>
          <p:sp>
            <p:nvSpPr>
              <p:cNvPr id="137" name="TextBox 137"/>
              <p:cNvSpPr txBox="1"/>
              <p:nvPr/>
            </p:nvSpPr>
            <p:spPr>
              <a:xfrm>
                <a:off x="1516262" y="4816316"/>
                <a:ext cx="1615676"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产品知识、客户沟通、流程规范​</a:t>
                </a:r>
              </a:p>
            </p:txBody>
          </p:sp>
          <p:sp>
            <p:nvSpPr>
              <p:cNvPr id="138" name="TextBox 138"/>
              <p:cNvSpPr txBox="1"/>
              <p:nvPr/>
            </p:nvSpPr>
            <p:spPr>
              <a:xfrm>
                <a:off x="3378526" y="4816316"/>
                <a:ext cx="1891647"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课程学习 + 情景演练 + 师徒带教​​​​​</a:t>
                </a:r>
              </a:p>
            </p:txBody>
          </p:sp>
          <p:sp>
            <p:nvSpPr>
              <p:cNvPr id="139" name="TextBox 139"/>
              <p:cNvSpPr txBox="1"/>
              <p:nvPr/>
            </p:nvSpPr>
            <p:spPr>
              <a:xfrm>
                <a:off x="5682344" y="4816316"/>
                <a:ext cx="1284511"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日常拜访、客户初次沟通​</a:t>
                </a:r>
              </a:p>
            </p:txBody>
          </p:sp>
          <p:sp>
            <p:nvSpPr>
              <p:cNvPr id="140" name="TextBox 140"/>
              <p:cNvSpPr txBox="1"/>
              <p:nvPr/>
            </p:nvSpPr>
            <p:spPr>
              <a:xfrm>
                <a:off x="7669467" y="4749641"/>
                <a:ext cx="1082167"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73633"/>
                    </a:solidFill>
                    <a:latin typeface="+mn-lt"/>
                    <a:ea typeface="+mn-ea"/>
                    <a:cs typeface="+mn-cs"/>
                  </a:rPr>
                  <a:t>通关测评 ≥ 80 分​​​​​</a:t>
                </a:r>
                <a:br/>
                <a:r>
                  <a:rPr lang="zh-CN" sz="820" dirty="0">
                    <a:solidFill>
                      <a:srgbClr val="473633"/>
                    </a:solidFill>
                    <a:latin typeface="+mn-lt"/>
                    <a:ea typeface="+mn-ea"/>
                    <a:cs typeface="+mn-cs"/>
                  </a:rPr>
                  <a:t>独立完成标准流程</a:t>
                </a:r>
              </a:p>
            </p:txBody>
          </p:sp>
        </p:grpSp>
        <p:grpSp>
          <p:nvGrpSpPr>
            <p:cNvPr id="147" name="ct-row-2"/>
            <p:cNvGrpSpPr/>
            <p:nvPr/>
          </p:nvGrpSpPr>
          <p:grpSpPr>
            <a:xfrm>
              <a:off x="568642" y="5225891"/>
              <a:ext cx="8367840" cy="304800"/>
              <a:chOff x="568642" y="5225891"/>
              <a:chExt cx="8367840" cy="304800"/>
            </a:xfrm>
          </p:grpSpPr>
          <p:sp>
            <p:nvSpPr>
              <p:cNvPr id="142" name="TextBox 142"/>
              <p:cNvSpPr txBox="1"/>
              <p:nvPr/>
            </p:nvSpPr>
            <p:spPr>
              <a:xfrm>
                <a:off x="568642" y="5284470"/>
                <a:ext cx="615315" cy="176212"/>
              </a:xfrm>
              <a:prstGeom prst="rect">
                <a:avLst/>
              </a:prstGeom>
              <a:noFill/>
              <a:ln>
                <a:noFill/>
              </a:ln>
            </p:spPr>
            <p:txBody>
              <a:bodyPr wrap="none" lIns="0" tIns="0" rIns="0" bIns="0" anchor="t" anchorCtr="0">
                <a:spAutoFit/>
              </a:bodyPr>
              <a:lstStyle/>
              <a:p>
                <a:pPr algn="ctr"/>
                <a:r>
                  <a:rPr lang="zh-CN" sz="900" b="1" dirty="0">
                    <a:solidFill>
                      <a:srgbClr val="6E1604"/>
                    </a:solidFill>
                    <a:latin typeface="+mn-lt"/>
                    <a:ea typeface="+mn-ea"/>
                    <a:cs typeface="+mn-cs"/>
                  </a:rPr>
                  <a:t>在岗成长者</a:t>
                </a:r>
              </a:p>
            </p:txBody>
          </p:sp>
          <p:sp>
            <p:nvSpPr>
              <p:cNvPr id="143" name="TextBox 143"/>
              <p:cNvSpPr txBox="1"/>
              <p:nvPr/>
            </p:nvSpPr>
            <p:spPr>
              <a:xfrm>
                <a:off x="1516262" y="5292566"/>
                <a:ext cx="1615676"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需求洞察、方案呈现、异议处理​</a:t>
                </a:r>
              </a:p>
            </p:txBody>
          </p:sp>
          <p:sp>
            <p:nvSpPr>
              <p:cNvPr id="144" name="TextBox 144"/>
              <p:cNvSpPr txBox="1"/>
              <p:nvPr/>
            </p:nvSpPr>
            <p:spPr>
              <a:xfrm>
                <a:off x="3378526" y="5292566"/>
                <a:ext cx="1891647"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案例复盘 + 话术演练 + 陪访辅导​​​​​</a:t>
                </a:r>
              </a:p>
            </p:txBody>
          </p:sp>
          <p:sp>
            <p:nvSpPr>
              <p:cNvPr id="145" name="TextBox 145"/>
              <p:cNvSpPr txBox="1"/>
              <p:nvPr/>
            </p:nvSpPr>
            <p:spPr>
              <a:xfrm>
                <a:off x="5516762" y="5292566"/>
                <a:ext cx="1615676"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需求挖掘、方案宣讲、客户跟进​</a:t>
                </a:r>
              </a:p>
            </p:txBody>
          </p:sp>
          <p:sp>
            <p:nvSpPr>
              <p:cNvPr id="146" name="TextBox 146"/>
              <p:cNvSpPr txBox="1"/>
              <p:nvPr/>
            </p:nvSpPr>
            <p:spPr>
              <a:xfrm>
                <a:off x="7484618" y="5225891"/>
                <a:ext cx="1451864"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73633"/>
                    </a:solidFill>
                    <a:latin typeface="+mn-lt"/>
                    <a:ea typeface="+mn-ea"/>
                    <a:cs typeface="+mn-cs"/>
                  </a:rPr>
                  <a:t>客户满意度 ≥ XX%​​​​​​​</a:t>
                </a:r>
                <a:br/>
                <a:r>
                  <a:rPr lang="zh-CN" sz="820" dirty="0">
                    <a:solidFill>
                      <a:srgbClr val="473633"/>
                    </a:solidFill>
                    <a:latin typeface="+mn-lt"/>
                    <a:ea typeface="+mn-ea"/>
                    <a:cs typeface="+mn-cs"/>
                  </a:rPr>
                  <a:t>关键行为达标率 ≥ XX%​​​​​​​</a:t>
                </a:r>
              </a:p>
            </p:txBody>
          </p:sp>
        </p:grpSp>
        <p:grpSp>
          <p:nvGrpSpPr>
            <p:cNvPr id="153" name="ct-row-3"/>
            <p:cNvGrpSpPr/>
            <p:nvPr/>
          </p:nvGrpSpPr>
          <p:grpSpPr>
            <a:xfrm>
              <a:off x="568642" y="5702141"/>
              <a:ext cx="8263700" cy="304800"/>
              <a:chOff x="568642" y="5702141"/>
              <a:chExt cx="8263700" cy="304800"/>
            </a:xfrm>
          </p:grpSpPr>
          <p:sp>
            <p:nvSpPr>
              <p:cNvPr id="148" name="TextBox 148"/>
              <p:cNvSpPr txBox="1"/>
              <p:nvPr/>
            </p:nvSpPr>
            <p:spPr>
              <a:xfrm>
                <a:off x="568642" y="5760720"/>
                <a:ext cx="615315" cy="176212"/>
              </a:xfrm>
              <a:prstGeom prst="rect">
                <a:avLst/>
              </a:prstGeom>
              <a:noFill/>
              <a:ln>
                <a:noFill/>
              </a:ln>
            </p:spPr>
            <p:txBody>
              <a:bodyPr wrap="none" lIns="0" tIns="0" rIns="0" bIns="0" anchor="t" anchorCtr="0">
                <a:spAutoFit/>
              </a:bodyPr>
              <a:lstStyle/>
              <a:p>
                <a:pPr algn="ctr"/>
                <a:r>
                  <a:rPr lang="zh-CN" sz="900" b="1" dirty="0">
                    <a:solidFill>
                      <a:srgbClr val="6E1604"/>
                    </a:solidFill>
                    <a:latin typeface="+mn-lt"/>
                    <a:ea typeface="+mn-ea"/>
                    <a:cs typeface="+mn-cs"/>
                  </a:rPr>
                  <a:t>骨干输出者</a:t>
                </a:r>
              </a:p>
            </p:txBody>
          </p:sp>
          <p:sp>
            <p:nvSpPr>
              <p:cNvPr id="149" name="TextBox 149"/>
              <p:cNvSpPr txBox="1"/>
              <p:nvPr/>
            </p:nvSpPr>
            <p:spPr>
              <a:xfrm>
                <a:off x="1405873" y="5768816"/>
                <a:ext cx="1836453"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复杂方案设计、谈判博弈、价值引领​</a:t>
                </a:r>
              </a:p>
            </p:txBody>
          </p:sp>
          <p:sp>
            <p:nvSpPr>
              <p:cNvPr id="150" name="TextBox 150"/>
              <p:cNvSpPr txBox="1"/>
              <p:nvPr/>
            </p:nvSpPr>
            <p:spPr>
              <a:xfrm>
                <a:off x="3378526" y="5768816"/>
                <a:ext cx="1891647"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沙盘模拟 + 高阶研讨 + 专题研讨​​​​​</a:t>
                </a:r>
              </a:p>
            </p:txBody>
          </p:sp>
          <p:sp>
            <p:nvSpPr>
              <p:cNvPr id="151" name="TextBox 151"/>
              <p:cNvSpPr txBox="1"/>
              <p:nvPr/>
            </p:nvSpPr>
            <p:spPr>
              <a:xfrm>
                <a:off x="5571956" y="5768816"/>
                <a:ext cx="1505288"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复杂项目谈判、重要客户经营​</a:t>
                </a:r>
              </a:p>
            </p:txBody>
          </p:sp>
          <p:sp>
            <p:nvSpPr>
              <p:cNvPr id="152" name="TextBox 152"/>
              <p:cNvSpPr txBox="1"/>
              <p:nvPr/>
            </p:nvSpPr>
            <p:spPr>
              <a:xfrm>
                <a:off x="7588758" y="5702141"/>
                <a:ext cx="1243584"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73633"/>
                    </a:solidFill>
                    <a:latin typeface="+mn-lt"/>
                    <a:ea typeface="+mn-ea"/>
                    <a:cs typeface="+mn-cs"/>
                  </a:rPr>
                  <a:t>项目中标率 ≥ XX%​​​​​​​</a:t>
                </a:r>
                <a:br/>
                <a:r>
                  <a:rPr lang="zh-CN" sz="820" dirty="0">
                    <a:solidFill>
                      <a:srgbClr val="473633"/>
                    </a:solidFill>
                    <a:latin typeface="+mn-lt"/>
                    <a:ea typeface="+mn-ea"/>
                    <a:cs typeface="+mn-cs"/>
                  </a:rPr>
                  <a:t>客户满意度 ≥ XX%​​​​​​​</a:t>
                </a:r>
              </a:p>
            </p:txBody>
          </p:sp>
        </p:grpSp>
        <p:grpSp>
          <p:nvGrpSpPr>
            <p:cNvPr id="159" name="ct-row-4"/>
            <p:cNvGrpSpPr/>
            <p:nvPr/>
          </p:nvGrpSpPr>
          <p:grpSpPr>
            <a:xfrm>
              <a:off x="568642" y="6178391"/>
              <a:ext cx="8419910" cy="304800"/>
              <a:chOff x="568642" y="6178391"/>
              <a:chExt cx="8419910" cy="304800"/>
            </a:xfrm>
          </p:grpSpPr>
          <p:sp>
            <p:nvSpPr>
              <p:cNvPr id="154" name="TextBox 154"/>
              <p:cNvSpPr txBox="1"/>
              <p:nvPr/>
            </p:nvSpPr>
            <p:spPr>
              <a:xfrm>
                <a:off x="568642" y="6236970"/>
                <a:ext cx="615315" cy="176212"/>
              </a:xfrm>
              <a:prstGeom prst="rect">
                <a:avLst/>
              </a:prstGeom>
              <a:noFill/>
              <a:ln>
                <a:noFill/>
              </a:ln>
            </p:spPr>
            <p:txBody>
              <a:bodyPr wrap="none" lIns="0" tIns="0" rIns="0" bIns="0" anchor="t" anchorCtr="0">
                <a:spAutoFit/>
              </a:bodyPr>
              <a:lstStyle/>
              <a:p>
                <a:pPr algn="ctr"/>
                <a:r>
                  <a:rPr lang="zh-CN" sz="900" b="1" dirty="0">
                    <a:solidFill>
                      <a:srgbClr val="6E1604"/>
                    </a:solidFill>
                    <a:latin typeface="+mn-lt"/>
                    <a:ea typeface="+mn-ea"/>
                    <a:cs typeface="+mn-cs"/>
                  </a:rPr>
                  <a:t>团队负责人</a:t>
                </a:r>
              </a:p>
            </p:txBody>
          </p:sp>
          <p:sp>
            <p:nvSpPr>
              <p:cNvPr id="155" name="TextBox 155"/>
              <p:cNvSpPr txBox="1"/>
              <p:nvPr/>
            </p:nvSpPr>
            <p:spPr>
              <a:xfrm>
                <a:off x="1516262" y="6245066"/>
                <a:ext cx="1615676"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团队辅导、目标拆解、过程管理​</a:t>
                </a:r>
              </a:p>
            </p:txBody>
          </p:sp>
          <p:sp>
            <p:nvSpPr>
              <p:cNvPr id="156" name="TextBox 156"/>
              <p:cNvSpPr txBox="1"/>
              <p:nvPr/>
            </p:nvSpPr>
            <p:spPr>
              <a:xfrm>
                <a:off x="3323332" y="6245066"/>
                <a:ext cx="2002036"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管理工作坊 + 教练辅导 + 复盘改进​​​​​</a:t>
                </a:r>
              </a:p>
            </p:txBody>
          </p:sp>
          <p:sp>
            <p:nvSpPr>
              <p:cNvPr id="157" name="TextBox 157"/>
              <p:cNvSpPr txBox="1"/>
              <p:nvPr/>
            </p:nvSpPr>
            <p:spPr>
              <a:xfrm>
                <a:off x="5516762" y="6245066"/>
                <a:ext cx="1615676"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团队辅导、项目复盘、绩效改进​</a:t>
                </a:r>
              </a:p>
            </p:txBody>
          </p:sp>
          <p:sp>
            <p:nvSpPr>
              <p:cNvPr id="158" name="TextBox 158"/>
              <p:cNvSpPr txBox="1"/>
              <p:nvPr/>
            </p:nvSpPr>
            <p:spPr>
              <a:xfrm>
                <a:off x="7432548" y="6178391"/>
                <a:ext cx="1556004"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473633"/>
                    </a:solidFill>
                    <a:latin typeface="+mn-lt"/>
                    <a:ea typeface="+mn-ea"/>
                    <a:cs typeface="+mn-cs"/>
                  </a:rPr>
                  <a:t>团队指标达成提升 ≥ XX%​​​​​​​</a:t>
                </a:r>
                <a:br/>
                <a:r>
                  <a:rPr lang="zh-CN" sz="820" dirty="0">
                    <a:solidFill>
                      <a:srgbClr val="473633"/>
                    </a:solidFill>
                    <a:latin typeface="+mn-lt"/>
                    <a:ea typeface="+mn-ea"/>
                    <a:cs typeface="+mn-cs"/>
                  </a:rPr>
                  <a:t>辅导有效性评分 ≥ XX 分​​​​​</a:t>
                </a:r>
              </a:p>
            </p:txBody>
          </p:sp>
        </p:grpSp>
      </p:grpSp>
      <p:grpSp>
        <p:nvGrpSpPr>
          <p:cNvPr id="194" name="mechanism-steps"/>
          <p:cNvGrpSpPr/>
          <p:nvPr/>
        </p:nvGrpSpPr>
        <p:grpSpPr>
          <a:xfrm>
            <a:off x="9486900" y="3962400"/>
            <a:ext cx="2438400" cy="2609850"/>
            <a:chOff x="9486900" y="3962400"/>
            <a:chExt cx="2438400" cy="2609850"/>
          </a:xfrm>
        </p:grpSpPr>
        <p:sp>
          <p:nvSpPr>
            <p:cNvPr id="161" name="Rectangle 161"/>
            <p:cNvSpPr/>
            <p:nvPr/>
          </p:nvSpPr>
          <p:spPr>
            <a:xfrm>
              <a:off x="9486900" y="3962400"/>
              <a:ext cx="2438400" cy="2609850"/>
            </a:xfrm>
            <a:prstGeom prst="roundRect">
              <a:avLst>
                <a:gd name="adj" fmla="val 3125"/>
              </a:avLst>
            </a:prstGeom>
            <a:solidFill>
              <a:srgbClr val="F7FAFE"/>
            </a:solidFill>
            <a:ln w="9525">
              <a:solidFill>
                <a:srgbClr val="DCE6F8"/>
              </a:solidFill>
            </a:ln>
          </p:spPr>
        </p:sp>
        <p:grpSp>
          <p:nvGrpSpPr>
            <p:cNvPr id="169" name="mech-1"/>
            <p:cNvGrpSpPr/>
            <p:nvPr/>
          </p:nvGrpSpPr>
          <p:grpSpPr>
            <a:xfrm>
              <a:off x="9582150" y="4057650"/>
              <a:ext cx="2247900" cy="533400"/>
              <a:chOff x="9582150" y="4057650"/>
              <a:chExt cx="2247900" cy="533400"/>
            </a:xfrm>
          </p:grpSpPr>
          <p:sp>
            <p:nvSpPr>
              <p:cNvPr id="162" name="Rectangle 162"/>
              <p:cNvSpPr/>
              <p:nvPr/>
            </p:nvSpPr>
            <p:spPr>
              <a:xfrm>
                <a:off x="9582150" y="4057650"/>
                <a:ext cx="2247900" cy="533400"/>
              </a:xfrm>
              <a:prstGeom prst="roundRect">
                <a:avLst>
                  <a:gd name="adj" fmla="val 10714"/>
                </a:avLst>
              </a:prstGeom>
              <a:solidFill>
                <a:srgbClr val="FFFFFF"/>
              </a:solidFill>
              <a:ln w="9525">
                <a:solidFill>
                  <a:srgbClr val="F7D1C9"/>
                </a:solidFill>
              </a:ln>
            </p:spPr>
          </p:sp>
          <p:grpSp>
            <p:nvGrpSpPr>
              <p:cNvPr id="166" name="Group 166"/>
              <p:cNvGrpSpPr/>
              <p:nvPr/>
            </p:nvGrpSpPr>
            <p:grpSpPr>
              <a:xfrm>
                <a:off x="9767094" y="4232275"/>
                <a:ext cx="144462" cy="165099"/>
                <a:chOff x="9767094" y="4232275"/>
                <a:chExt cx="144462" cy="165099"/>
              </a:xfrm>
            </p:grpSpPr>
            <p:sp>
              <p:nvSpPr>
                <p:cNvPr id="163" name="Freeform 163"/>
                <p:cNvSpPr/>
                <p:nvPr/>
              </p:nvSpPr>
              <p:spPr>
                <a:xfrm>
                  <a:off x="9767094" y="4232275"/>
                  <a:ext cx="144462" cy="165099"/>
                </a:xfrm>
                <a:custGeom>
                  <a:avLst/>
                  <a:gdLst/>
                  <a:ahLst/>
                  <a:cxnLst/>
                  <a:rect l="l" t="t" r="r" b="b"/>
                  <a:pathLst>
                    <a:path w="144462" h="165099">
                      <a:moveTo>
                        <a:pt x="144462" y="0"/>
                      </a:moveTo>
                      <a:lnTo>
                        <a:pt x="144462" y="165099"/>
                      </a:lnTo>
                      <a:lnTo>
                        <a:pt x="20637" y="165099"/>
                      </a:lnTo>
                      <a:cubicBezTo>
                        <a:pt x="9240" y="165099"/>
                        <a:pt x="0" y="155860"/>
                        <a:pt x="0" y="144462"/>
                      </a:cubicBezTo>
                      <a:lnTo>
                        <a:pt x="0" y="20637"/>
                      </a:lnTo>
                      <a:cubicBezTo>
                        <a:pt x="0" y="9240"/>
                        <a:pt x="9240" y="0"/>
                        <a:pt x="20637" y="0"/>
                      </a:cubicBezTo>
                      <a:lnTo>
                        <a:pt x="144462" y="0"/>
                      </a:lnTo>
                    </a:path>
                  </a:pathLst>
                </a:custGeom>
                <a:noFill/>
                <a:ln w="20637">
                  <a:solidFill>
                    <a:srgbClr val="B92102"/>
                  </a:solidFill>
                </a:ln>
              </p:spPr>
            </p:sp>
            <p:sp>
              <p:nvSpPr>
                <p:cNvPr id="164" name="Freeform 164"/>
                <p:cNvSpPr/>
                <p:nvPr/>
              </p:nvSpPr>
              <p:spPr>
                <a:xfrm>
                  <a:off x="9767094" y="4356099"/>
                  <a:ext cx="144462" cy="20637"/>
                </a:xfrm>
                <a:custGeom>
                  <a:avLst/>
                  <a:gdLst/>
                  <a:ahLst/>
                  <a:cxnLst/>
                  <a:rect l="l" t="t" r="r" b="b"/>
                  <a:pathLst>
                    <a:path w="144462" h="20637">
                      <a:moveTo>
                        <a:pt x="144462" y="0"/>
                      </a:moveTo>
                      <a:lnTo>
                        <a:pt x="20637" y="0"/>
                      </a:lnTo>
                      <a:cubicBezTo>
                        <a:pt x="9240" y="0"/>
                        <a:pt x="0" y="9240"/>
                        <a:pt x="0" y="20637"/>
                      </a:cubicBezTo>
                    </a:path>
                  </a:pathLst>
                </a:custGeom>
                <a:noFill/>
                <a:ln w="20637">
                  <a:solidFill>
                    <a:srgbClr val="B92102"/>
                  </a:solidFill>
                </a:ln>
              </p:spPr>
            </p:sp>
            <p:sp>
              <p:nvSpPr>
                <p:cNvPr id="165" name="Freeform 165"/>
                <p:cNvSpPr/>
                <p:nvPr/>
              </p:nvSpPr>
              <p:spPr>
                <a:xfrm>
                  <a:off x="9808368" y="4273550"/>
                  <a:ext cx="61912" cy="9525"/>
                </a:xfrm>
                <a:custGeom>
                  <a:avLst/>
                  <a:gdLst/>
                  <a:ahLst/>
                  <a:cxnLst/>
                  <a:rect l="l" t="t" r="r" b="b"/>
                  <a:pathLst>
                    <a:path w="61912" h="9525">
                      <a:moveTo>
                        <a:pt x="0" y="0"/>
                      </a:moveTo>
                      <a:lnTo>
                        <a:pt x="61912" y="0"/>
                      </a:lnTo>
                    </a:path>
                  </a:pathLst>
                </a:custGeom>
                <a:noFill/>
                <a:ln w="20637">
                  <a:solidFill>
                    <a:srgbClr val="B92102"/>
                  </a:solidFill>
                </a:ln>
              </p:spPr>
            </p:sp>
          </p:grpSp>
          <p:sp>
            <p:nvSpPr>
              <p:cNvPr id="167" name="TextBox 167"/>
              <p:cNvSpPr txBox="1"/>
              <p:nvPr/>
            </p:nvSpPr>
            <p:spPr>
              <a:xfrm>
                <a:off x="10072497" y="416194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案例复盘</a:t>
                </a:r>
              </a:p>
            </p:txBody>
          </p:sp>
          <p:sp>
            <p:nvSpPr>
              <p:cNvPr id="168" name="TextBox 168"/>
              <p:cNvSpPr txBox="1"/>
              <p:nvPr/>
            </p:nvSpPr>
            <p:spPr>
              <a:xfrm>
                <a:off x="10072688" y="4376738"/>
                <a:ext cx="1175671"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提炼成功要素与关键动作​</a:t>
                </a:r>
              </a:p>
            </p:txBody>
          </p:sp>
        </p:grpSp>
        <p:sp>
          <p:nvSpPr>
            <p:cNvPr id="170" name="Line 170"/>
            <p:cNvSpPr/>
            <p:nvPr/>
          </p:nvSpPr>
          <p:spPr>
            <a:xfrm>
              <a:off x="10706100" y="4610100"/>
              <a:ext cx="1" cy="57150"/>
            </a:xfrm>
            <a:prstGeom prst="line">
              <a:avLst/>
            </a:prstGeom>
            <a:noFill/>
            <a:ln w="11430">
              <a:solidFill>
                <a:srgbClr val="D44B2F"/>
              </a:solidFill>
              <a:tailEnd type="triangle" w="lg" len="lg"/>
            </a:ln>
          </p:spPr>
        </p:sp>
        <p:grpSp>
          <p:nvGrpSpPr>
            <p:cNvPr id="175" name="mech-2"/>
            <p:cNvGrpSpPr/>
            <p:nvPr/>
          </p:nvGrpSpPr>
          <p:grpSpPr>
            <a:xfrm>
              <a:off x="9582150" y="4705350"/>
              <a:ext cx="2247900" cy="533400"/>
              <a:chOff x="9582150" y="4705350"/>
              <a:chExt cx="2247900" cy="533400"/>
            </a:xfrm>
          </p:grpSpPr>
          <p:sp>
            <p:nvSpPr>
              <p:cNvPr id="171" name="Rectangle 171"/>
              <p:cNvSpPr/>
              <p:nvPr/>
            </p:nvSpPr>
            <p:spPr>
              <a:xfrm>
                <a:off x="9582150" y="4705350"/>
                <a:ext cx="2247900" cy="533400"/>
              </a:xfrm>
              <a:prstGeom prst="roundRect">
                <a:avLst>
                  <a:gd name="adj" fmla="val 10714"/>
                </a:avLst>
              </a:prstGeom>
              <a:solidFill>
                <a:srgbClr val="FFFFFF"/>
              </a:solidFill>
              <a:ln w="9525">
                <a:solidFill>
                  <a:srgbClr val="F7D1C9"/>
                </a:solidFill>
              </a:ln>
            </p:spPr>
          </p:sp>
          <p:sp>
            <p:nvSpPr>
              <p:cNvPr id="172" name="Freeform 172"/>
              <p:cNvSpPr/>
              <p:nvPr/>
            </p:nvSpPr>
            <p:spPr>
              <a:xfrm>
                <a:off x="9735890" y="4871978"/>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B92102"/>
                </a:solidFill>
              </a:ln>
            </p:spPr>
          </p:sp>
          <p:sp>
            <p:nvSpPr>
              <p:cNvPr id="173" name="TextBox 173"/>
              <p:cNvSpPr txBox="1"/>
              <p:nvPr/>
            </p:nvSpPr>
            <p:spPr>
              <a:xfrm>
                <a:off x="10072497" y="480964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话术沉淀</a:t>
                </a:r>
              </a:p>
            </p:txBody>
          </p:sp>
          <p:sp>
            <p:nvSpPr>
              <p:cNvPr id="174" name="TextBox 174"/>
              <p:cNvSpPr txBox="1"/>
              <p:nvPr/>
            </p:nvSpPr>
            <p:spPr>
              <a:xfrm>
                <a:off x="10072688" y="5024438"/>
                <a:ext cx="1175671"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结构化输出可复用话术库​</a:t>
                </a:r>
              </a:p>
            </p:txBody>
          </p:sp>
        </p:grpSp>
        <p:sp>
          <p:nvSpPr>
            <p:cNvPr id="176" name="Line 176"/>
            <p:cNvSpPr/>
            <p:nvPr/>
          </p:nvSpPr>
          <p:spPr>
            <a:xfrm>
              <a:off x="10706100" y="5257800"/>
              <a:ext cx="1" cy="57150"/>
            </a:xfrm>
            <a:prstGeom prst="line">
              <a:avLst/>
            </a:prstGeom>
            <a:noFill/>
            <a:ln w="11430">
              <a:solidFill>
                <a:srgbClr val="D44B2F"/>
              </a:solidFill>
              <a:tailEnd type="triangle" w="lg" len="lg"/>
            </a:ln>
          </p:spPr>
        </p:sp>
        <p:grpSp>
          <p:nvGrpSpPr>
            <p:cNvPr id="184" name="mech-3"/>
            <p:cNvGrpSpPr/>
            <p:nvPr/>
          </p:nvGrpSpPr>
          <p:grpSpPr>
            <a:xfrm>
              <a:off x="9582150" y="5353050"/>
              <a:ext cx="2247900" cy="533400"/>
              <a:chOff x="9582150" y="5353050"/>
              <a:chExt cx="2247900" cy="533400"/>
            </a:xfrm>
          </p:grpSpPr>
          <p:sp>
            <p:nvSpPr>
              <p:cNvPr id="177" name="Rectangle 177"/>
              <p:cNvSpPr/>
              <p:nvPr/>
            </p:nvSpPr>
            <p:spPr>
              <a:xfrm>
                <a:off x="9582150" y="5353050"/>
                <a:ext cx="2247900" cy="533400"/>
              </a:xfrm>
              <a:prstGeom prst="roundRect">
                <a:avLst>
                  <a:gd name="adj" fmla="val 10714"/>
                </a:avLst>
              </a:prstGeom>
              <a:solidFill>
                <a:srgbClr val="FFFFFF"/>
              </a:solidFill>
              <a:ln w="9525">
                <a:solidFill>
                  <a:srgbClr val="F7D1C9"/>
                </a:solidFill>
              </a:ln>
            </p:spPr>
          </p:sp>
          <p:grpSp>
            <p:nvGrpSpPr>
              <p:cNvPr id="181" name="Group 181"/>
              <p:cNvGrpSpPr/>
              <p:nvPr/>
            </p:nvGrpSpPr>
            <p:grpSpPr>
              <a:xfrm>
                <a:off x="9777412" y="5517356"/>
                <a:ext cx="154781" cy="185737"/>
                <a:chOff x="9777412" y="5517356"/>
                <a:chExt cx="154781" cy="185737"/>
              </a:xfrm>
            </p:grpSpPr>
            <p:sp>
              <p:nvSpPr>
                <p:cNvPr id="178" name="Freeform 178"/>
                <p:cNvSpPr/>
                <p:nvPr/>
              </p:nvSpPr>
              <p:spPr>
                <a:xfrm>
                  <a:off x="9798050" y="55173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B92102"/>
                  </a:solidFill>
                </a:ln>
              </p:spPr>
            </p:sp>
            <p:sp>
              <p:nvSpPr>
                <p:cNvPr id="179" name="Freeform 179"/>
                <p:cNvSpPr/>
                <p:nvPr/>
              </p:nvSpPr>
              <p:spPr>
                <a:xfrm>
                  <a:off x="9777412" y="5641181"/>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B92102"/>
                  </a:solidFill>
                </a:ln>
              </p:spPr>
            </p:sp>
            <p:sp>
              <p:nvSpPr>
                <p:cNvPr id="180" name="Freeform 180"/>
                <p:cNvSpPr/>
                <p:nvPr/>
              </p:nvSpPr>
              <p:spPr>
                <a:xfrm>
                  <a:off x="9870281" y="5661818"/>
                  <a:ext cx="61912" cy="41275"/>
                </a:xfrm>
                <a:custGeom>
                  <a:avLst/>
                  <a:gdLst/>
                  <a:ahLst/>
                  <a:cxnLst/>
                  <a:rect l="l" t="t" r="r" b="b"/>
                  <a:pathLst>
                    <a:path w="61912" h="41275">
                      <a:moveTo>
                        <a:pt x="0" y="20637"/>
                      </a:moveTo>
                      <a:lnTo>
                        <a:pt x="20637" y="41275"/>
                      </a:lnTo>
                      <a:lnTo>
                        <a:pt x="61912" y="0"/>
                      </a:lnTo>
                    </a:path>
                  </a:pathLst>
                </a:custGeom>
                <a:noFill/>
                <a:ln w="20637">
                  <a:solidFill>
                    <a:srgbClr val="B92102"/>
                  </a:solidFill>
                </a:ln>
              </p:spPr>
            </p:sp>
          </p:grpSp>
          <p:sp>
            <p:nvSpPr>
              <p:cNvPr id="182" name="TextBox 182"/>
              <p:cNvSpPr txBox="1"/>
              <p:nvPr/>
            </p:nvSpPr>
            <p:spPr>
              <a:xfrm>
                <a:off x="10072497" y="545734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陪访辅导</a:t>
                </a:r>
              </a:p>
            </p:txBody>
          </p:sp>
          <p:sp>
            <p:nvSpPr>
              <p:cNvPr id="183" name="TextBox 183"/>
              <p:cNvSpPr txBox="1"/>
              <p:nvPr/>
            </p:nvSpPr>
            <p:spPr>
              <a:xfrm>
                <a:off x="10072688" y="5672138"/>
                <a:ext cx="1175671"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现场随行指导、及时纠偏​</a:t>
                </a:r>
              </a:p>
            </p:txBody>
          </p:sp>
        </p:grpSp>
        <p:sp>
          <p:nvSpPr>
            <p:cNvPr id="185" name="Line 185"/>
            <p:cNvSpPr/>
            <p:nvPr/>
          </p:nvSpPr>
          <p:spPr>
            <a:xfrm>
              <a:off x="10706100" y="5905500"/>
              <a:ext cx="1" cy="57150"/>
            </a:xfrm>
            <a:prstGeom prst="line">
              <a:avLst/>
            </a:prstGeom>
            <a:noFill/>
            <a:ln w="11430">
              <a:solidFill>
                <a:srgbClr val="D44B2F"/>
              </a:solidFill>
              <a:tailEnd type="triangle" w="lg" len="lg"/>
            </a:ln>
          </p:spPr>
        </p:sp>
        <p:grpSp>
          <p:nvGrpSpPr>
            <p:cNvPr id="193" name="mech-4"/>
            <p:cNvGrpSpPr/>
            <p:nvPr/>
          </p:nvGrpSpPr>
          <p:grpSpPr>
            <a:xfrm>
              <a:off x="9582150" y="6000750"/>
              <a:ext cx="2247900" cy="495300"/>
              <a:chOff x="9582150" y="6000750"/>
              <a:chExt cx="2247900" cy="495300"/>
            </a:xfrm>
          </p:grpSpPr>
          <p:sp>
            <p:nvSpPr>
              <p:cNvPr id="186" name="Rectangle 186"/>
              <p:cNvSpPr/>
              <p:nvPr/>
            </p:nvSpPr>
            <p:spPr>
              <a:xfrm>
                <a:off x="9582150" y="6000750"/>
                <a:ext cx="2247900" cy="495300"/>
              </a:xfrm>
              <a:prstGeom prst="roundRect">
                <a:avLst>
                  <a:gd name="adj" fmla="val 11538"/>
                </a:avLst>
              </a:prstGeom>
              <a:solidFill>
                <a:srgbClr val="FFFFFF"/>
              </a:solidFill>
              <a:ln w="9525">
                <a:solidFill>
                  <a:srgbClr val="F7D1C9"/>
                </a:solidFill>
              </a:ln>
            </p:spPr>
          </p:sp>
          <p:grpSp>
            <p:nvGrpSpPr>
              <p:cNvPr id="190" name="Group 190"/>
              <p:cNvGrpSpPr/>
              <p:nvPr/>
            </p:nvGrpSpPr>
            <p:grpSpPr>
              <a:xfrm>
                <a:off x="9750604" y="6155531"/>
                <a:ext cx="177421" cy="184602"/>
                <a:chOff x="9750604" y="6155531"/>
                <a:chExt cx="177421" cy="184602"/>
              </a:xfrm>
            </p:grpSpPr>
            <p:sp>
              <p:nvSpPr>
                <p:cNvPr id="187" name="Freeform 187"/>
                <p:cNvSpPr/>
                <p:nvPr/>
              </p:nvSpPr>
              <p:spPr>
                <a:xfrm>
                  <a:off x="9777412" y="6155531"/>
                  <a:ext cx="123825" cy="123825"/>
                </a:xfrm>
                <a:custGeom>
                  <a:avLst/>
                  <a:gdLst/>
                  <a:ahLst/>
                  <a:cxnLst/>
                  <a:rect l="l" t="t" r="r" b="b"/>
                  <a:pathLst>
                    <a:path w="123825" h="123825">
                      <a:moveTo>
                        <a:pt x="0" y="61912"/>
                      </a:moveTo>
                      <a:cubicBezTo>
                        <a:pt x="0" y="96106"/>
                        <a:pt x="27719" y="123825"/>
                        <a:pt x="61912" y="123825"/>
                      </a:cubicBezTo>
                      <a:cubicBezTo>
                        <a:pt x="96106" y="123825"/>
                        <a:pt x="123825" y="96106"/>
                        <a:pt x="123825" y="61912"/>
                      </a:cubicBezTo>
                      <a:cubicBezTo>
                        <a:pt x="123825" y="27719"/>
                        <a:pt x="96106" y="0"/>
                        <a:pt x="61912" y="0"/>
                      </a:cubicBezTo>
                      <a:cubicBezTo>
                        <a:pt x="27719" y="0"/>
                        <a:pt x="0" y="27719"/>
                        <a:pt x="0" y="61912"/>
                      </a:cubicBezTo>
                    </a:path>
                  </a:pathLst>
                </a:custGeom>
                <a:noFill/>
                <a:ln w="20637">
                  <a:solidFill>
                    <a:srgbClr val="B92102"/>
                  </a:solidFill>
                </a:ln>
              </p:spPr>
            </p:sp>
            <p:sp>
              <p:nvSpPr>
                <p:cNvPr id="188" name="Freeform 188"/>
                <p:cNvSpPr/>
                <p:nvPr/>
              </p:nvSpPr>
              <p:spPr>
                <a:xfrm>
                  <a:off x="9839325" y="6248400"/>
                  <a:ext cx="88700" cy="91733"/>
                </a:xfrm>
                <a:custGeom>
                  <a:avLst/>
                  <a:gdLst/>
                  <a:ahLst/>
                  <a:cxnLst/>
                  <a:rect l="l" t="t" r="r" b="b"/>
                  <a:pathLst>
                    <a:path w="88700" h="91733">
                      <a:moveTo>
                        <a:pt x="0" y="30956"/>
                      </a:moveTo>
                      <a:lnTo>
                        <a:pt x="35084" y="91733"/>
                      </a:lnTo>
                      <a:lnTo>
                        <a:pt x="51573" y="58373"/>
                      </a:lnTo>
                      <a:lnTo>
                        <a:pt x="88700" y="60767"/>
                      </a:lnTo>
                      <a:lnTo>
                        <a:pt x="53616" y="0"/>
                      </a:lnTo>
                    </a:path>
                  </a:pathLst>
                </a:custGeom>
                <a:noFill/>
                <a:ln w="20637">
                  <a:solidFill>
                    <a:srgbClr val="B92102"/>
                  </a:solidFill>
                </a:ln>
              </p:spPr>
            </p:sp>
            <p:sp>
              <p:nvSpPr>
                <p:cNvPr id="189" name="Freeform 189"/>
                <p:cNvSpPr/>
                <p:nvPr/>
              </p:nvSpPr>
              <p:spPr>
                <a:xfrm>
                  <a:off x="9750604" y="6248400"/>
                  <a:ext cx="88700" cy="91723"/>
                </a:xfrm>
                <a:custGeom>
                  <a:avLst/>
                  <a:gdLst/>
                  <a:ahLst/>
                  <a:cxnLst/>
                  <a:rect l="l" t="t" r="r" b="b"/>
                  <a:pathLst>
                    <a:path w="88700" h="91723">
                      <a:moveTo>
                        <a:pt x="35084" y="0"/>
                      </a:moveTo>
                      <a:lnTo>
                        <a:pt x="0" y="60777"/>
                      </a:lnTo>
                      <a:lnTo>
                        <a:pt x="37127" y="58373"/>
                      </a:lnTo>
                      <a:lnTo>
                        <a:pt x="53616" y="91723"/>
                      </a:lnTo>
                      <a:lnTo>
                        <a:pt x="88700" y="30956"/>
                      </a:lnTo>
                    </a:path>
                  </a:pathLst>
                </a:custGeom>
                <a:noFill/>
                <a:ln w="20637">
                  <a:solidFill>
                    <a:srgbClr val="B92102"/>
                  </a:solidFill>
                </a:ln>
              </p:spPr>
            </p:sp>
          </p:grpSp>
          <p:sp>
            <p:nvSpPr>
              <p:cNvPr id="191" name="TextBox 191"/>
              <p:cNvSpPr txBox="1"/>
              <p:nvPr/>
            </p:nvSpPr>
            <p:spPr>
              <a:xfrm>
                <a:off x="10072497" y="6095524"/>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认证通关</a:t>
                </a:r>
              </a:p>
            </p:txBody>
          </p:sp>
          <p:sp>
            <p:nvSpPr>
              <p:cNvPr id="192" name="TextBox 192"/>
              <p:cNvSpPr txBox="1"/>
              <p:nvPr/>
            </p:nvSpPr>
            <p:spPr>
              <a:xfrm>
                <a:off x="10072688" y="6310312"/>
                <a:ext cx="1175671"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能力测评达标、获取认证​</a:t>
                </a:r>
              </a:p>
            </p:txBody>
          </p:sp>
        </p:grpSp>
      </p:gr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13​</a:t>
              </a:r>
            </a:p>
          </p:txBody>
        </p:sp>
        <p:sp>
          <p:nvSpPr>
            <p:cNvPr id="4" name="TextBox 4"/>
            <p:cNvSpPr txBox="1"/>
            <p:nvPr/>
          </p:nvSpPr>
          <p:spPr>
            <a:xfrm>
              <a:off x="942594" y="151448"/>
              <a:ext cx="4895248"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问题诊断</a:t>
              </a:r>
              <a:r>
                <a:rPr lang="zh-CN" sz="1950" b="1" dirty="0">
                  <a:solidFill>
                    <a:srgbClr val="1A1A1A"/>
                  </a:solidFill>
                  <a:latin typeface="SimSun"/>
                  <a:ea typeface="SimSun"/>
                  <a:cs typeface="SimSun"/>
                </a:rPr>
                <a:t>｜从表象差距穿透到可控根因​</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51" name="problem-tree"/>
          <p:cNvGrpSpPr/>
          <p:nvPr/>
        </p:nvGrpSpPr>
        <p:grpSpPr>
          <a:xfrm>
            <a:off x="266700" y="723900"/>
            <a:ext cx="3543300" cy="2895600"/>
            <a:chOff x="266700" y="723900"/>
            <a:chExt cx="3543300" cy="2895600"/>
          </a:xfrm>
        </p:grpSpPr>
        <p:sp>
          <p:nvSpPr>
            <p:cNvPr id="7" name="Rectangle 7"/>
            <p:cNvSpPr/>
            <p:nvPr/>
          </p:nvSpPr>
          <p:spPr>
            <a:xfrm>
              <a:off x="266700" y="857250"/>
              <a:ext cx="3543300" cy="2762250"/>
            </a:xfrm>
            <a:prstGeom prst="roundRect">
              <a:avLst>
                <a:gd name="adj" fmla="val 2759"/>
              </a:avLst>
            </a:prstGeom>
            <a:solidFill>
              <a:srgbClr val="FFFFFF"/>
            </a:solidFill>
            <a:ln w="9525">
              <a:solidFill>
                <a:srgbClr val="F7D1C9"/>
              </a:solidFill>
            </a:ln>
          </p:spPr>
        </p:sp>
        <p:sp>
          <p:nvSpPr>
            <p:cNvPr id="8" name="Rectangle 8"/>
            <p:cNvSpPr/>
            <p:nvPr/>
          </p:nvSpPr>
          <p:spPr>
            <a:xfrm>
              <a:off x="419100" y="723900"/>
              <a:ext cx="3238500" cy="247650"/>
            </a:xfrm>
            <a:prstGeom prst="roundRect">
              <a:avLst>
                <a:gd name="adj" fmla="val 23077"/>
              </a:avLst>
            </a:prstGeom>
            <a:solidFill>
              <a:srgbClr val="6E1604"/>
            </a:solidFill>
            <a:ln>
              <a:noFill/>
            </a:ln>
          </p:spPr>
        </p:sp>
        <p:sp>
          <p:nvSpPr>
            <p:cNvPr id="9" name="TextBox 9"/>
            <p:cNvSpPr txBox="1"/>
            <p:nvPr/>
          </p:nvSpPr>
          <p:spPr>
            <a:xfrm>
              <a:off x="939882" y="790099"/>
              <a:ext cx="219693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一、问题树：从表象问题到本质分层​</a:t>
              </a:r>
            </a:p>
          </p:txBody>
        </p:sp>
        <p:sp>
          <p:nvSpPr>
            <p:cNvPr id="10" name="Ellipse 10"/>
            <p:cNvSpPr/>
            <p:nvPr/>
          </p:nvSpPr>
          <p:spPr>
            <a:xfrm>
              <a:off x="323850" y="1971675"/>
              <a:ext cx="723900" cy="723900"/>
            </a:xfrm>
            <a:prstGeom prst="ellipse">
              <a:avLst/>
            </a:prstGeom>
            <a:solidFill>
              <a:srgbClr val="B92102"/>
            </a:solidFill>
            <a:ln>
              <a:noFill/>
            </a:ln>
          </p:spPr>
        </p:sp>
        <p:sp>
          <p:nvSpPr>
            <p:cNvPr id="11" name="TextBox 11"/>
            <p:cNvSpPr txBox="1"/>
            <p:nvPr/>
          </p:nvSpPr>
          <p:spPr>
            <a:xfrm>
              <a:off x="462597" y="2211943"/>
              <a:ext cx="446405" cy="311944"/>
            </a:xfrm>
            <a:prstGeom prst="rect">
              <a:avLst/>
            </a:prstGeom>
            <a:noFill/>
            <a:ln>
              <a:noFill/>
            </a:ln>
          </p:spPr>
          <p:txBody>
            <a:bodyPr wrap="none" lIns="0" tIns="0" rIns="0" bIns="0" anchor="t" anchorCtr="0">
              <a:spAutoFit/>
            </a:bodyPr>
            <a:lstStyle/>
            <a:p>
              <a:pPr algn="ctr">
                <a:lnSpc>
                  <a:spcPts val="1125"/>
                </a:lnSpc>
              </a:pPr>
              <a:r>
                <a:rPr lang="zh-CN" sz="860" b="1" dirty="0">
                  <a:solidFill>
                    <a:srgbClr val="FFFFFF"/>
                  </a:solidFill>
                  <a:latin typeface="+mn-lt"/>
                  <a:ea typeface="+mn-ea"/>
                  <a:cs typeface="+mn-cs"/>
                </a:rPr>
                <a:t>业务差距</a:t>
              </a:r>
              <a:br/>
              <a:r>
                <a:rPr lang="zh-CN" sz="860" b="1" dirty="0">
                  <a:solidFill>
                    <a:srgbClr val="FFFFFF"/>
                  </a:solidFill>
                  <a:latin typeface="+mn-lt"/>
                  <a:ea typeface="+mn-ea"/>
                  <a:cs typeface="+mn-cs"/>
                </a:rPr>
                <a:t>（表象）</a:t>
              </a:r>
            </a:p>
          </p:txBody>
        </p:sp>
        <p:sp>
          <p:nvSpPr>
            <p:cNvPr id="12" name="Line 12"/>
            <p:cNvSpPr/>
            <p:nvPr/>
          </p:nvSpPr>
          <p:spPr>
            <a:xfrm>
              <a:off x="1047750" y="2333625"/>
              <a:ext cx="57150" cy="9525"/>
            </a:xfrm>
            <a:custGeom>
              <a:avLst/>
              <a:gdLst/>
              <a:ahLst/>
              <a:cxnLst/>
              <a:rect l="l" t="t" r="r" b="b"/>
              <a:pathLst>
                <a:path w="57150" h="9525">
                  <a:moveTo>
                    <a:pt x="0" y="0"/>
                  </a:moveTo>
                  <a:lnTo>
                    <a:pt x="57150" y="0"/>
                  </a:lnTo>
                </a:path>
              </a:pathLst>
            </a:custGeom>
            <a:noFill/>
            <a:ln w="11430">
              <a:solidFill>
                <a:srgbClr val="E3907F"/>
              </a:solidFill>
            </a:ln>
          </p:spPr>
        </p:sp>
        <p:sp>
          <p:nvSpPr>
            <p:cNvPr id="13" name="Line 13"/>
            <p:cNvSpPr/>
            <p:nvPr/>
          </p:nvSpPr>
          <p:spPr>
            <a:xfrm>
              <a:off x="1104900" y="1533525"/>
              <a:ext cx="9525" cy="1600200"/>
            </a:xfrm>
            <a:custGeom>
              <a:avLst/>
              <a:gdLst/>
              <a:ahLst/>
              <a:cxnLst/>
              <a:rect l="l" t="t" r="r" b="b"/>
              <a:pathLst>
                <a:path w="9525" h="1600200">
                  <a:moveTo>
                    <a:pt x="0" y="0"/>
                  </a:moveTo>
                  <a:lnTo>
                    <a:pt x="0" y="1600200"/>
                  </a:lnTo>
                </a:path>
              </a:pathLst>
            </a:custGeom>
            <a:noFill/>
            <a:ln w="11430">
              <a:solidFill>
                <a:srgbClr val="E3907F"/>
              </a:solidFill>
            </a:ln>
          </p:spPr>
        </p:sp>
        <p:sp>
          <p:nvSpPr>
            <p:cNvPr id="14" name="Line 14"/>
            <p:cNvSpPr/>
            <p:nvPr/>
          </p:nvSpPr>
          <p:spPr>
            <a:xfrm>
              <a:off x="1104900" y="1533525"/>
              <a:ext cx="57150" cy="9525"/>
            </a:xfrm>
            <a:custGeom>
              <a:avLst/>
              <a:gdLst/>
              <a:ahLst/>
              <a:cxnLst/>
              <a:rect l="l" t="t" r="r" b="b"/>
              <a:pathLst>
                <a:path w="57150" h="9525">
                  <a:moveTo>
                    <a:pt x="0" y="0"/>
                  </a:moveTo>
                  <a:lnTo>
                    <a:pt x="57150" y="0"/>
                  </a:lnTo>
                </a:path>
              </a:pathLst>
            </a:custGeom>
            <a:noFill/>
            <a:ln w="11430">
              <a:solidFill>
                <a:srgbClr val="E3907F"/>
              </a:solidFill>
            </a:ln>
          </p:spPr>
        </p:sp>
        <p:sp>
          <p:nvSpPr>
            <p:cNvPr id="15" name="Line 15"/>
            <p:cNvSpPr/>
            <p:nvPr/>
          </p:nvSpPr>
          <p:spPr>
            <a:xfrm>
              <a:off x="1104900" y="2333625"/>
              <a:ext cx="57150" cy="9525"/>
            </a:xfrm>
            <a:custGeom>
              <a:avLst/>
              <a:gdLst/>
              <a:ahLst/>
              <a:cxnLst/>
              <a:rect l="l" t="t" r="r" b="b"/>
              <a:pathLst>
                <a:path w="57150" h="9525">
                  <a:moveTo>
                    <a:pt x="0" y="0"/>
                  </a:moveTo>
                  <a:lnTo>
                    <a:pt x="57150" y="0"/>
                  </a:lnTo>
                </a:path>
              </a:pathLst>
            </a:custGeom>
            <a:noFill/>
            <a:ln w="11430">
              <a:solidFill>
                <a:srgbClr val="E3907F"/>
              </a:solidFill>
            </a:ln>
          </p:spPr>
        </p:sp>
        <p:sp>
          <p:nvSpPr>
            <p:cNvPr id="16" name="Line 16"/>
            <p:cNvSpPr/>
            <p:nvPr/>
          </p:nvSpPr>
          <p:spPr>
            <a:xfrm>
              <a:off x="1104900" y="3133725"/>
              <a:ext cx="57150" cy="9525"/>
            </a:xfrm>
            <a:custGeom>
              <a:avLst/>
              <a:gdLst/>
              <a:ahLst/>
              <a:cxnLst/>
              <a:rect l="l" t="t" r="r" b="b"/>
              <a:pathLst>
                <a:path w="57150" h="9525">
                  <a:moveTo>
                    <a:pt x="0" y="0"/>
                  </a:moveTo>
                  <a:lnTo>
                    <a:pt x="57150" y="0"/>
                  </a:lnTo>
                </a:path>
              </a:pathLst>
            </a:custGeom>
            <a:noFill/>
            <a:ln w="11430">
              <a:solidFill>
                <a:srgbClr val="E3907F"/>
              </a:solidFill>
            </a:ln>
          </p:spPr>
        </p:sp>
        <p:grpSp>
          <p:nvGrpSpPr>
            <p:cNvPr id="28" name="pt-result"/>
            <p:cNvGrpSpPr/>
            <p:nvPr/>
          </p:nvGrpSpPr>
          <p:grpSpPr>
            <a:xfrm>
              <a:off x="1162050" y="1219200"/>
              <a:ext cx="2571750" cy="641270"/>
              <a:chOff x="1162050" y="1219200"/>
              <a:chExt cx="2571750" cy="641270"/>
            </a:xfrm>
          </p:grpSpPr>
          <p:sp>
            <p:nvSpPr>
              <p:cNvPr id="17" name="Rectangle 17"/>
              <p:cNvSpPr/>
              <p:nvPr/>
            </p:nvSpPr>
            <p:spPr>
              <a:xfrm>
                <a:off x="1162050" y="1219200"/>
                <a:ext cx="1333500" cy="628650"/>
              </a:xfrm>
              <a:prstGeom prst="roundRect">
                <a:avLst>
                  <a:gd name="adj" fmla="val 7576"/>
                </a:avLst>
              </a:prstGeom>
              <a:solidFill>
                <a:srgbClr val="EAF3FE"/>
              </a:solidFill>
              <a:ln w="9525">
                <a:solidFill>
                  <a:srgbClr val="F7D1C9"/>
                </a:solidFill>
              </a:ln>
            </p:spPr>
          </p:sp>
          <p:sp>
            <p:nvSpPr>
              <p:cNvPr id="18" name="Ellipse 18"/>
              <p:cNvSpPr/>
              <p:nvPr/>
            </p:nvSpPr>
            <p:spPr>
              <a:xfrm>
                <a:off x="1238250" y="1400175"/>
                <a:ext cx="266700" cy="266700"/>
              </a:xfrm>
              <a:prstGeom prst="ellipse">
                <a:avLst/>
              </a:prstGeom>
              <a:solidFill>
                <a:srgbClr val="FFFFFF"/>
              </a:solidFill>
              <a:ln w="9525">
                <a:solidFill>
                  <a:srgbClr val="E3907F"/>
                </a:solidFill>
              </a:ln>
            </p:spPr>
          </p:sp>
          <p:grpSp>
            <p:nvGrpSpPr>
              <p:cNvPr id="23" name="Group 23"/>
              <p:cNvGrpSpPr/>
              <p:nvPr/>
            </p:nvGrpSpPr>
            <p:grpSpPr>
              <a:xfrm>
                <a:off x="1307306" y="1476375"/>
                <a:ext cx="128587" cy="123825"/>
                <a:chOff x="1307306" y="1476375"/>
                <a:chExt cx="128587" cy="123825"/>
              </a:xfrm>
            </p:grpSpPr>
            <p:sp>
              <p:nvSpPr>
                <p:cNvPr id="19" name="Freeform 19"/>
                <p:cNvSpPr/>
                <p:nvPr/>
              </p:nvSpPr>
              <p:spPr>
                <a:xfrm>
                  <a:off x="1307306" y="153352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B92102"/>
                  </a:solidFill>
                </a:ln>
              </p:spPr>
            </p:sp>
            <p:sp>
              <p:nvSpPr>
                <p:cNvPr id="20" name="Freeform 20"/>
                <p:cNvSpPr/>
                <p:nvPr/>
              </p:nvSpPr>
              <p:spPr>
                <a:xfrm>
                  <a:off x="1393031" y="150495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B92102"/>
                  </a:solidFill>
                </a:ln>
              </p:spPr>
            </p:sp>
            <p:sp>
              <p:nvSpPr>
                <p:cNvPr id="21" name="Freeform 21"/>
                <p:cNvSpPr/>
                <p:nvPr/>
              </p:nvSpPr>
              <p:spPr>
                <a:xfrm>
                  <a:off x="1350169" y="147637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B92102"/>
                  </a:solidFill>
                </a:ln>
              </p:spPr>
            </p:sp>
            <p:sp>
              <p:nvSpPr>
                <p:cNvPr id="22" name="Freeform 22"/>
                <p:cNvSpPr/>
                <p:nvPr/>
              </p:nvSpPr>
              <p:spPr>
                <a:xfrm>
                  <a:off x="1314450" y="1590675"/>
                  <a:ext cx="100012" cy="9525"/>
                </a:xfrm>
                <a:custGeom>
                  <a:avLst/>
                  <a:gdLst/>
                  <a:ahLst/>
                  <a:cxnLst/>
                  <a:rect l="l" t="t" r="r" b="b"/>
                  <a:pathLst>
                    <a:path w="100012" h="9525">
                      <a:moveTo>
                        <a:pt x="0" y="0"/>
                      </a:moveTo>
                      <a:lnTo>
                        <a:pt x="100012" y="0"/>
                      </a:lnTo>
                    </a:path>
                  </a:pathLst>
                </a:custGeom>
                <a:noFill/>
                <a:ln w="14288">
                  <a:solidFill>
                    <a:srgbClr val="B92102"/>
                  </a:solidFill>
                </a:ln>
              </p:spPr>
            </p:sp>
          </p:grpSp>
          <p:sp>
            <p:nvSpPr>
              <p:cNvPr id="24" name="TextBox 24"/>
              <p:cNvSpPr txBox="1"/>
              <p:nvPr/>
            </p:nvSpPr>
            <p:spPr>
              <a:xfrm>
                <a:off x="1576388" y="1305639"/>
                <a:ext cx="511175" cy="554831"/>
              </a:xfrm>
              <a:prstGeom prst="rect">
                <a:avLst/>
              </a:prstGeom>
              <a:noFill/>
              <a:ln>
                <a:noFill/>
              </a:ln>
            </p:spPr>
            <p:txBody>
              <a:bodyPr wrap="none" lIns="0" tIns="0" rIns="0" bIns="0" anchor="t" anchorCtr="0">
                <a:spAutoFit/>
              </a:bodyPr>
              <a:lstStyle/>
              <a:p>
                <a:pPr algn="l">
                  <a:lnSpc>
                    <a:spcPts val="1050"/>
                  </a:lnSpc>
                </a:pPr>
                <a:r>
                  <a:rPr lang="zh-CN" sz="790" b="1" dirty="0">
                    <a:solidFill>
                      <a:srgbClr val="6E1604"/>
                    </a:solidFill>
                    <a:latin typeface="+mn-lt"/>
                    <a:ea typeface="+mn-ea"/>
                    <a:cs typeface="+mn-cs"/>
                  </a:rPr>
                  <a:t>结果问题：</a:t>
                </a:r>
                <a:br/>
                <a:r>
                  <a:rPr lang="zh-CN" sz="790" dirty="0">
                    <a:solidFill>
                      <a:srgbClr val="473633"/>
                    </a:solidFill>
                    <a:latin typeface="+mn-lt"/>
                    <a:ea typeface="+mn-ea"/>
                    <a:cs typeface="+mn-cs"/>
                  </a:rPr>
                  <a:t>区域分化、</a:t>
                </a:r>
                <a:br/>
                <a:r>
                  <a:rPr lang="zh-CN" sz="790" dirty="0">
                    <a:solidFill>
                      <a:srgbClr val="473633"/>
                    </a:solidFill>
                    <a:latin typeface="+mn-lt"/>
                    <a:ea typeface="+mn-ea"/>
                    <a:cs typeface="+mn-cs"/>
                  </a:rPr>
                  <a:t>结构偏科、</a:t>
                </a:r>
                <a:br/>
                <a:r>
                  <a:rPr lang="zh-CN" sz="790" dirty="0">
                    <a:solidFill>
                      <a:srgbClr val="473633"/>
                    </a:solidFill>
                    <a:latin typeface="+mn-lt"/>
                    <a:ea typeface="+mn-ea"/>
                    <a:cs typeface="+mn-cs"/>
                  </a:rPr>
                  <a:t>转化不足</a:t>
                </a:r>
              </a:p>
            </p:txBody>
          </p:sp>
          <p:sp>
            <p:nvSpPr>
              <p:cNvPr id="25" name="Line 25"/>
              <p:cNvSpPr/>
              <p:nvPr/>
            </p:nvSpPr>
            <p:spPr>
              <a:xfrm>
                <a:off x="2495550" y="1533525"/>
                <a:ext cx="76200" cy="9525"/>
              </a:xfrm>
              <a:custGeom>
                <a:avLst/>
                <a:gdLst/>
                <a:ahLst/>
                <a:cxnLst/>
                <a:rect l="l" t="t" r="r" b="b"/>
                <a:pathLst>
                  <a:path w="76200" h="9525">
                    <a:moveTo>
                      <a:pt x="0" y="0"/>
                    </a:moveTo>
                    <a:lnTo>
                      <a:pt x="76200" y="0"/>
                    </a:lnTo>
                  </a:path>
                </a:pathLst>
              </a:custGeom>
              <a:noFill/>
              <a:ln w="9525">
                <a:solidFill>
                  <a:srgbClr val="E3907F"/>
                </a:solidFill>
                <a:prstDash val="sysDot"/>
              </a:ln>
            </p:spPr>
          </p:sp>
          <p:sp>
            <p:nvSpPr>
              <p:cNvPr id="26" name="Rectangle 26"/>
              <p:cNvSpPr/>
              <p:nvPr/>
            </p:nvSpPr>
            <p:spPr>
              <a:xfrm>
                <a:off x="2571750" y="1257300"/>
                <a:ext cx="1162050" cy="552450"/>
              </a:xfrm>
              <a:prstGeom prst="roundRect">
                <a:avLst>
                  <a:gd name="adj" fmla="val 6897"/>
                </a:avLst>
              </a:prstGeom>
              <a:solidFill>
                <a:srgbClr val="FFFFFF"/>
              </a:solidFill>
              <a:ln w="9525">
                <a:solidFill>
                  <a:srgbClr val="F7D1C9"/>
                </a:solidFill>
              </a:ln>
            </p:spPr>
          </p:sp>
          <p:sp>
            <p:nvSpPr>
              <p:cNvPr id="27" name="TextBox 27"/>
              <p:cNvSpPr txBox="1"/>
              <p:nvPr/>
            </p:nvSpPr>
            <p:spPr>
              <a:xfrm>
                <a:off x="2643188" y="1351836"/>
                <a:ext cx="906717" cy="445294"/>
              </a:xfrm>
              <a:prstGeom prst="rect">
                <a:avLst/>
              </a:prstGeom>
              <a:noFill/>
              <a:ln>
                <a:noFill/>
              </a:ln>
            </p:spPr>
            <p:txBody>
              <a:bodyPr wrap="none" lIns="0" tIns="0" rIns="0" bIns="0" anchor="t" anchorCtr="0">
                <a:spAutoFit/>
              </a:bodyPr>
              <a:lstStyle/>
              <a:p>
                <a:pPr algn="l" marL="76644" indent="-76644">
                  <a:lnSpc>
                    <a:spcPts val="1200"/>
                  </a:lnSpc>
                  <a:buClr>
                    <a:srgbClr val="473633"/>
                  </a:buClr>
                  <a:buSzTx/>
                  <a:buFontTx/>
                  <a:buChar char="•"/>
                </a:pPr>
                <a:r>
                  <a:rPr lang="zh-CN" sz="710" dirty="0">
                    <a:solidFill>
                      <a:srgbClr val="473633"/>
                    </a:solidFill>
                    <a:latin typeface="+mn-lt"/>
                    <a:ea typeface="+mn-ea"/>
                    <a:cs typeface="+mn-cs"/>
                  </a:rPr>
                  <a:t>区域业绩分化明显​​</a:t>
                </a:r>
              </a:p>
              <a:p>
                <a:pPr algn="l" marL="76644" indent="-76644">
                  <a:lnSpc>
                    <a:spcPts val="1200"/>
                  </a:lnSpc>
                  <a:buClr>
                    <a:srgbClr val="473633"/>
                  </a:buClr>
                  <a:buSzTx/>
                  <a:buFontTx/>
                  <a:buChar char="•"/>
                </a:pPr>
                <a:r>
                  <a:rPr lang="zh-CN" sz="710" dirty="0">
                    <a:solidFill>
                      <a:srgbClr val="473633"/>
                    </a:solidFill>
                    <a:latin typeface="+mn-lt"/>
                    <a:ea typeface="+mn-ea"/>
                    <a:cs typeface="+mn-cs"/>
                  </a:rPr>
                  <a:t>产品结构单一​​</a:t>
                </a:r>
              </a:p>
              <a:p>
                <a:pPr algn="l" marL="76644" indent="-76644">
                  <a:lnSpc>
                    <a:spcPts val="1200"/>
                  </a:lnSpc>
                  <a:buClr>
                    <a:srgbClr val="473633"/>
                  </a:buClr>
                  <a:buSzTx/>
                  <a:buFontTx/>
                  <a:buChar char="•"/>
                </a:pPr>
                <a:r>
                  <a:rPr lang="zh-CN" sz="710" dirty="0">
                    <a:solidFill>
                      <a:srgbClr val="473633"/>
                    </a:solidFill>
                    <a:latin typeface="+mn-lt"/>
                    <a:ea typeface="+mn-ea"/>
                    <a:cs typeface="+mn-cs"/>
                  </a:rPr>
                  <a:t>转化率低于目标​​</a:t>
                </a:r>
              </a:p>
            </p:txBody>
          </p:sp>
        </p:grpSp>
        <p:grpSp>
          <p:nvGrpSpPr>
            <p:cNvPr id="38" name="pt-process"/>
            <p:cNvGrpSpPr/>
            <p:nvPr/>
          </p:nvGrpSpPr>
          <p:grpSpPr>
            <a:xfrm>
              <a:off x="1162050" y="2019300"/>
              <a:ext cx="2571750" cy="641270"/>
              <a:chOff x="1162050" y="2019300"/>
              <a:chExt cx="2571750" cy="641270"/>
            </a:xfrm>
          </p:grpSpPr>
          <p:sp>
            <p:nvSpPr>
              <p:cNvPr id="29" name="Rectangle 29"/>
              <p:cNvSpPr/>
              <p:nvPr/>
            </p:nvSpPr>
            <p:spPr>
              <a:xfrm>
                <a:off x="1162050" y="2019300"/>
                <a:ext cx="1333500" cy="628650"/>
              </a:xfrm>
              <a:prstGeom prst="roundRect">
                <a:avLst>
                  <a:gd name="adj" fmla="val 7576"/>
                </a:avLst>
              </a:prstGeom>
              <a:solidFill>
                <a:srgbClr val="EAF3FE"/>
              </a:solidFill>
              <a:ln w="9525">
                <a:solidFill>
                  <a:srgbClr val="F7D1C9"/>
                </a:solidFill>
              </a:ln>
            </p:spPr>
          </p:sp>
          <p:sp>
            <p:nvSpPr>
              <p:cNvPr id="30" name="Ellipse 30"/>
              <p:cNvSpPr/>
              <p:nvPr/>
            </p:nvSpPr>
            <p:spPr>
              <a:xfrm>
                <a:off x="1238250" y="2200275"/>
                <a:ext cx="266700" cy="266700"/>
              </a:xfrm>
              <a:prstGeom prst="ellipse">
                <a:avLst/>
              </a:prstGeom>
              <a:solidFill>
                <a:srgbClr val="FFFFFF"/>
              </a:solidFill>
              <a:ln w="9525">
                <a:solidFill>
                  <a:srgbClr val="E3907F"/>
                </a:solidFill>
              </a:ln>
            </p:spPr>
          </p:sp>
          <p:grpSp>
            <p:nvGrpSpPr>
              <p:cNvPr id="33" name="Group 33"/>
              <p:cNvGrpSpPr/>
              <p:nvPr/>
            </p:nvGrpSpPr>
            <p:grpSpPr>
              <a:xfrm>
                <a:off x="1304170" y="2266195"/>
                <a:ext cx="134860" cy="134860"/>
                <a:chOff x="1304170" y="2266195"/>
                <a:chExt cx="134860" cy="134860"/>
              </a:xfrm>
            </p:grpSpPr>
            <p:sp>
              <p:nvSpPr>
                <p:cNvPr id="31" name="Freeform 31"/>
                <p:cNvSpPr/>
                <p:nvPr/>
              </p:nvSpPr>
              <p:spPr>
                <a:xfrm>
                  <a:off x="1304170" y="2266195"/>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B92102"/>
                  </a:solidFill>
                </a:ln>
              </p:spPr>
            </p:sp>
            <p:sp>
              <p:nvSpPr>
                <p:cNvPr id="32" name="Freeform 32"/>
                <p:cNvSpPr/>
                <p:nvPr/>
              </p:nvSpPr>
              <p:spPr>
                <a:xfrm>
                  <a:off x="1350169" y="2312194"/>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B92102"/>
                  </a:solidFill>
                </a:ln>
              </p:spPr>
            </p:sp>
          </p:grpSp>
          <p:sp>
            <p:nvSpPr>
              <p:cNvPr id="34" name="TextBox 34"/>
              <p:cNvSpPr txBox="1"/>
              <p:nvPr/>
            </p:nvSpPr>
            <p:spPr>
              <a:xfrm>
                <a:off x="1576388" y="2105739"/>
                <a:ext cx="511175" cy="554831"/>
              </a:xfrm>
              <a:prstGeom prst="rect">
                <a:avLst/>
              </a:prstGeom>
              <a:noFill/>
              <a:ln>
                <a:noFill/>
              </a:ln>
            </p:spPr>
            <p:txBody>
              <a:bodyPr wrap="none" lIns="0" tIns="0" rIns="0" bIns="0" anchor="t" anchorCtr="0">
                <a:spAutoFit/>
              </a:bodyPr>
              <a:lstStyle/>
              <a:p>
                <a:pPr algn="l">
                  <a:lnSpc>
                    <a:spcPts val="1050"/>
                  </a:lnSpc>
                </a:pPr>
                <a:r>
                  <a:rPr lang="zh-CN" sz="790" b="1" dirty="0">
                    <a:solidFill>
                      <a:srgbClr val="6E1604"/>
                    </a:solidFill>
                    <a:latin typeface="+mn-lt"/>
                    <a:ea typeface="+mn-ea"/>
                    <a:cs typeface="+mn-cs"/>
                  </a:rPr>
                  <a:t>过程问题：</a:t>
                </a:r>
                <a:br/>
                <a:r>
                  <a:rPr lang="zh-CN" sz="790" dirty="0">
                    <a:solidFill>
                      <a:srgbClr val="473633"/>
                    </a:solidFill>
                    <a:latin typeface="+mn-lt"/>
                    <a:ea typeface="+mn-ea"/>
                    <a:cs typeface="+mn-cs"/>
                  </a:rPr>
                  <a:t>名单质量、</a:t>
                </a:r>
                <a:br/>
                <a:r>
                  <a:rPr lang="zh-CN" sz="790" dirty="0">
                    <a:solidFill>
                      <a:srgbClr val="473633"/>
                    </a:solidFill>
                    <a:latin typeface="+mn-lt"/>
                    <a:ea typeface="+mn-ea"/>
                    <a:cs typeface="+mn-cs"/>
                  </a:rPr>
                  <a:t>跟进节奏、</a:t>
                </a:r>
                <a:br/>
                <a:r>
                  <a:rPr lang="zh-CN" sz="790" dirty="0">
                    <a:solidFill>
                      <a:srgbClr val="473633"/>
                    </a:solidFill>
                    <a:latin typeface="+mn-lt"/>
                    <a:ea typeface="+mn-ea"/>
                    <a:cs typeface="+mn-cs"/>
                  </a:rPr>
                  <a:t>协同效率</a:t>
                </a:r>
              </a:p>
            </p:txBody>
          </p:sp>
          <p:sp>
            <p:nvSpPr>
              <p:cNvPr id="35" name="Line 35"/>
              <p:cNvSpPr/>
              <p:nvPr/>
            </p:nvSpPr>
            <p:spPr>
              <a:xfrm>
                <a:off x="2495550" y="2333625"/>
                <a:ext cx="76200" cy="9525"/>
              </a:xfrm>
              <a:custGeom>
                <a:avLst/>
                <a:gdLst/>
                <a:ahLst/>
                <a:cxnLst/>
                <a:rect l="l" t="t" r="r" b="b"/>
                <a:pathLst>
                  <a:path w="76200" h="9525">
                    <a:moveTo>
                      <a:pt x="0" y="0"/>
                    </a:moveTo>
                    <a:lnTo>
                      <a:pt x="76200" y="0"/>
                    </a:lnTo>
                  </a:path>
                </a:pathLst>
              </a:custGeom>
              <a:noFill/>
              <a:ln w="9525">
                <a:solidFill>
                  <a:srgbClr val="E3907F"/>
                </a:solidFill>
                <a:prstDash val="sysDot"/>
              </a:ln>
            </p:spPr>
          </p:sp>
          <p:sp>
            <p:nvSpPr>
              <p:cNvPr id="36" name="Rectangle 36"/>
              <p:cNvSpPr/>
              <p:nvPr/>
            </p:nvSpPr>
            <p:spPr>
              <a:xfrm>
                <a:off x="2571750" y="2057400"/>
                <a:ext cx="1162050" cy="552450"/>
              </a:xfrm>
              <a:prstGeom prst="roundRect">
                <a:avLst>
                  <a:gd name="adj" fmla="val 6897"/>
                </a:avLst>
              </a:prstGeom>
              <a:solidFill>
                <a:srgbClr val="FFFFFF"/>
              </a:solidFill>
              <a:ln w="9525">
                <a:solidFill>
                  <a:srgbClr val="F7D1C9"/>
                </a:solidFill>
              </a:ln>
            </p:spPr>
          </p:sp>
          <p:sp>
            <p:nvSpPr>
              <p:cNvPr id="37" name="TextBox 37"/>
              <p:cNvSpPr txBox="1"/>
              <p:nvPr/>
            </p:nvSpPr>
            <p:spPr>
              <a:xfrm>
                <a:off x="2643188" y="2151936"/>
                <a:ext cx="1055497" cy="445294"/>
              </a:xfrm>
              <a:prstGeom prst="rect">
                <a:avLst/>
              </a:prstGeom>
              <a:noFill/>
              <a:ln>
                <a:noFill/>
              </a:ln>
            </p:spPr>
            <p:txBody>
              <a:bodyPr wrap="none" lIns="0" tIns="0" rIns="0" bIns="0" anchor="t" anchorCtr="0">
                <a:spAutoFit/>
              </a:bodyPr>
              <a:lstStyle/>
              <a:p>
                <a:pPr algn="l" marL="76644" indent="-76644">
                  <a:lnSpc>
                    <a:spcPts val="1200"/>
                  </a:lnSpc>
                  <a:buClr>
                    <a:srgbClr val="473633"/>
                  </a:buClr>
                  <a:buSzTx/>
                  <a:buFontTx/>
                  <a:buChar char="•"/>
                </a:pPr>
                <a:r>
                  <a:rPr lang="zh-CN" sz="710" dirty="0">
                    <a:solidFill>
                      <a:srgbClr val="473633"/>
                    </a:solidFill>
                    <a:latin typeface="+mn-lt"/>
                    <a:ea typeface="+mn-ea"/>
                    <a:cs typeface="+mn-cs"/>
                  </a:rPr>
                  <a:t>名单质量不高​​</a:t>
                </a:r>
              </a:p>
              <a:p>
                <a:pPr algn="l" marL="76644" indent="-76644">
                  <a:lnSpc>
                    <a:spcPts val="1200"/>
                  </a:lnSpc>
                  <a:buClr>
                    <a:srgbClr val="473633"/>
                  </a:buClr>
                  <a:buSzTx/>
                  <a:buFontTx/>
                  <a:buChar char="•"/>
                </a:pPr>
                <a:r>
                  <a:rPr lang="zh-CN" sz="710" dirty="0">
                    <a:solidFill>
                      <a:srgbClr val="473633"/>
                    </a:solidFill>
                    <a:latin typeface="+mn-lt"/>
                    <a:ea typeface="+mn-ea"/>
                    <a:cs typeface="+mn-cs"/>
                  </a:rPr>
                  <a:t>跟进不及时/不持续​​​​</a:t>
                </a:r>
              </a:p>
              <a:p>
                <a:pPr algn="l" marL="76644" indent="-76644">
                  <a:lnSpc>
                    <a:spcPts val="1200"/>
                  </a:lnSpc>
                  <a:buClr>
                    <a:srgbClr val="473633"/>
                  </a:buClr>
                  <a:buSzTx/>
                  <a:buFontTx/>
                  <a:buChar char="•"/>
                </a:pPr>
                <a:r>
                  <a:rPr lang="zh-CN" sz="710" dirty="0">
                    <a:solidFill>
                      <a:srgbClr val="473633"/>
                    </a:solidFill>
                    <a:latin typeface="+mn-lt"/>
                    <a:ea typeface="+mn-ea"/>
                    <a:cs typeface="+mn-cs"/>
                  </a:rPr>
                  <a:t>跨条线协同效率低​​</a:t>
                </a:r>
              </a:p>
            </p:txBody>
          </p:sp>
        </p:grpSp>
        <p:grpSp>
          <p:nvGrpSpPr>
            <p:cNvPr id="50" name="pt-capability"/>
            <p:cNvGrpSpPr/>
            <p:nvPr/>
          </p:nvGrpSpPr>
          <p:grpSpPr>
            <a:xfrm>
              <a:off x="1162050" y="2819400"/>
              <a:ext cx="2571750" cy="641270"/>
              <a:chOff x="1162050" y="2819400"/>
              <a:chExt cx="2571750" cy="641270"/>
            </a:xfrm>
          </p:grpSpPr>
          <p:sp>
            <p:nvSpPr>
              <p:cNvPr id="39" name="Rectangle 39"/>
              <p:cNvSpPr/>
              <p:nvPr/>
            </p:nvSpPr>
            <p:spPr>
              <a:xfrm>
                <a:off x="1162050" y="2819400"/>
                <a:ext cx="1333500" cy="628650"/>
              </a:xfrm>
              <a:prstGeom prst="roundRect">
                <a:avLst>
                  <a:gd name="adj" fmla="val 7576"/>
                </a:avLst>
              </a:prstGeom>
              <a:solidFill>
                <a:srgbClr val="EAF3FE"/>
              </a:solidFill>
              <a:ln w="9525">
                <a:solidFill>
                  <a:srgbClr val="F7D1C9"/>
                </a:solidFill>
              </a:ln>
            </p:spPr>
          </p:sp>
          <p:sp>
            <p:nvSpPr>
              <p:cNvPr id="40" name="Ellipse 40"/>
              <p:cNvSpPr/>
              <p:nvPr/>
            </p:nvSpPr>
            <p:spPr>
              <a:xfrm>
                <a:off x="1238250" y="3000375"/>
                <a:ext cx="266700" cy="266700"/>
              </a:xfrm>
              <a:prstGeom prst="ellipse">
                <a:avLst/>
              </a:prstGeom>
              <a:solidFill>
                <a:srgbClr val="FFFFFF"/>
              </a:solidFill>
              <a:ln w="9525">
                <a:solidFill>
                  <a:srgbClr val="E3907F"/>
                </a:solidFill>
              </a:ln>
            </p:spPr>
          </p:sp>
          <p:grpSp>
            <p:nvGrpSpPr>
              <p:cNvPr id="45" name="Group 45"/>
              <p:cNvGrpSpPr/>
              <p:nvPr/>
            </p:nvGrpSpPr>
            <p:grpSpPr>
              <a:xfrm>
                <a:off x="1307306" y="3069431"/>
                <a:ext cx="128588" cy="128588"/>
                <a:chOff x="1307306" y="3069431"/>
                <a:chExt cx="128588" cy="128588"/>
              </a:xfrm>
            </p:grpSpPr>
            <p:sp>
              <p:nvSpPr>
                <p:cNvPr id="41" name="Freeform 41"/>
                <p:cNvSpPr/>
                <p:nvPr/>
              </p:nvSpPr>
              <p:spPr>
                <a:xfrm>
                  <a:off x="1321594" y="30694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B92102"/>
                  </a:solidFill>
                </a:ln>
              </p:spPr>
            </p:sp>
            <p:sp>
              <p:nvSpPr>
                <p:cNvPr id="42" name="Freeform 42"/>
                <p:cNvSpPr/>
                <p:nvPr/>
              </p:nvSpPr>
              <p:spPr>
                <a:xfrm>
                  <a:off x="1307306" y="31551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B92102"/>
                  </a:solidFill>
                </a:ln>
              </p:spPr>
            </p:sp>
            <p:sp>
              <p:nvSpPr>
                <p:cNvPr id="43" name="Freeform 43"/>
                <p:cNvSpPr/>
                <p:nvPr/>
              </p:nvSpPr>
              <p:spPr>
                <a:xfrm>
                  <a:off x="1400175" y="30703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B92102"/>
                  </a:solidFill>
                </a:ln>
              </p:spPr>
            </p:sp>
            <p:sp>
              <p:nvSpPr>
                <p:cNvPr id="44" name="Freeform 44"/>
                <p:cNvSpPr/>
                <p:nvPr/>
              </p:nvSpPr>
              <p:spPr>
                <a:xfrm>
                  <a:off x="1414463" y="31562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B92102"/>
                  </a:solidFill>
                </a:ln>
              </p:spPr>
            </p:sp>
          </p:grpSp>
          <p:sp>
            <p:nvSpPr>
              <p:cNvPr id="46" name="TextBox 46"/>
              <p:cNvSpPr txBox="1"/>
              <p:nvPr/>
            </p:nvSpPr>
            <p:spPr>
              <a:xfrm>
                <a:off x="1576388" y="2905839"/>
                <a:ext cx="511175" cy="554831"/>
              </a:xfrm>
              <a:prstGeom prst="rect">
                <a:avLst/>
              </a:prstGeom>
              <a:noFill/>
              <a:ln>
                <a:noFill/>
              </a:ln>
            </p:spPr>
            <p:txBody>
              <a:bodyPr wrap="none" lIns="0" tIns="0" rIns="0" bIns="0" anchor="t" anchorCtr="0">
                <a:spAutoFit/>
              </a:bodyPr>
              <a:lstStyle/>
              <a:p>
                <a:pPr algn="l">
                  <a:lnSpc>
                    <a:spcPts val="1050"/>
                  </a:lnSpc>
                </a:pPr>
                <a:r>
                  <a:rPr lang="zh-CN" sz="790" b="1" dirty="0">
                    <a:solidFill>
                      <a:srgbClr val="6E1604"/>
                    </a:solidFill>
                    <a:latin typeface="+mn-lt"/>
                    <a:ea typeface="+mn-ea"/>
                    <a:cs typeface="+mn-cs"/>
                  </a:rPr>
                  <a:t>能力问题：</a:t>
                </a:r>
                <a:br/>
                <a:r>
                  <a:rPr lang="zh-CN" sz="790" dirty="0">
                    <a:solidFill>
                      <a:srgbClr val="473633"/>
                    </a:solidFill>
                    <a:latin typeface="+mn-lt"/>
                    <a:ea typeface="+mn-ea"/>
                    <a:cs typeface="+mn-cs"/>
                  </a:rPr>
                  <a:t>客户洞察、</a:t>
                </a:r>
                <a:br/>
                <a:r>
                  <a:rPr lang="zh-CN" sz="790" dirty="0">
                    <a:solidFill>
                      <a:srgbClr val="473633"/>
                    </a:solidFill>
                    <a:latin typeface="+mn-lt"/>
                    <a:ea typeface="+mn-ea"/>
                    <a:cs typeface="+mn-cs"/>
                  </a:rPr>
                  <a:t>方案销售、</a:t>
                </a:r>
                <a:br/>
                <a:r>
                  <a:rPr lang="zh-CN" sz="790" dirty="0">
                    <a:solidFill>
                      <a:srgbClr val="473633"/>
                    </a:solidFill>
                    <a:latin typeface="+mn-lt"/>
                    <a:ea typeface="+mn-ea"/>
                    <a:cs typeface="+mn-cs"/>
                  </a:rPr>
                  <a:t>团队复制</a:t>
                </a:r>
              </a:p>
            </p:txBody>
          </p:sp>
          <p:sp>
            <p:nvSpPr>
              <p:cNvPr id="47" name="Line 47"/>
              <p:cNvSpPr/>
              <p:nvPr/>
            </p:nvSpPr>
            <p:spPr>
              <a:xfrm>
                <a:off x="2495550" y="3133725"/>
                <a:ext cx="76200" cy="9525"/>
              </a:xfrm>
              <a:custGeom>
                <a:avLst/>
                <a:gdLst/>
                <a:ahLst/>
                <a:cxnLst/>
                <a:rect l="l" t="t" r="r" b="b"/>
                <a:pathLst>
                  <a:path w="76200" h="9525">
                    <a:moveTo>
                      <a:pt x="0" y="0"/>
                    </a:moveTo>
                    <a:lnTo>
                      <a:pt x="76200" y="0"/>
                    </a:lnTo>
                  </a:path>
                </a:pathLst>
              </a:custGeom>
              <a:noFill/>
              <a:ln w="9525">
                <a:solidFill>
                  <a:srgbClr val="E3907F"/>
                </a:solidFill>
                <a:prstDash val="sysDot"/>
              </a:ln>
            </p:spPr>
          </p:sp>
          <p:sp>
            <p:nvSpPr>
              <p:cNvPr id="48" name="Rectangle 48"/>
              <p:cNvSpPr/>
              <p:nvPr/>
            </p:nvSpPr>
            <p:spPr>
              <a:xfrm>
                <a:off x="2571750" y="2857500"/>
                <a:ext cx="1162050" cy="552450"/>
              </a:xfrm>
              <a:prstGeom prst="roundRect">
                <a:avLst>
                  <a:gd name="adj" fmla="val 6897"/>
                </a:avLst>
              </a:prstGeom>
              <a:solidFill>
                <a:srgbClr val="FFFFFF"/>
              </a:solidFill>
              <a:ln w="9525">
                <a:solidFill>
                  <a:srgbClr val="F7D1C9"/>
                </a:solidFill>
              </a:ln>
            </p:spPr>
          </p:sp>
          <p:sp>
            <p:nvSpPr>
              <p:cNvPr id="49" name="TextBox 49"/>
              <p:cNvSpPr txBox="1"/>
              <p:nvPr/>
            </p:nvSpPr>
            <p:spPr>
              <a:xfrm>
                <a:off x="2643188" y="2952036"/>
                <a:ext cx="906717" cy="445294"/>
              </a:xfrm>
              <a:prstGeom prst="rect">
                <a:avLst/>
              </a:prstGeom>
              <a:noFill/>
              <a:ln>
                <a:noFill/>
              </a:ln>
            </p:spPr>
            <p:txBody>
              <a:bodyPr wrap="none" lIns="0" tIns="0" rIns="0" bIns="0" anchor="t" anchorCtr="0">
                <a:spAutoFit/>
              </a:bodyPr>
              <a:lstStyle/>
              <a:p>
                <a:pPr algn="l" marL="76644" indent="-76644">
                  <a:lnSpc>
                    <a:spcPts val="1200"/>
                  </a:lnSpc>
                  <a:buClr>
                    <a:srgbClr val="473633"/>
                  </a:buClr>
                  <a:buSzTx/>
                  <a:buFontTx/>
                  <a:buChar char="•"/>
                </a:pPr>
                <a:r>
                  <a:rPr lang="zh-CN" sz="710" dirty="0">
                    <a:solidFill>
                      <a:srgbClr val="473633"/>
                    </a:solidFill>
                    <a:latin typeface="+mn-lt"/>
                    <a:ea typeface="+mn-ea"/>
                    <a:cs typeface="+mn-cs"/>
                  </a:rPr>
                  <a:t>客户洞察不深入​​</a:t>
                </a:r>
              </a:p>
              <a:p>
                <a:pPr algn="l" marL="76644" indent="-76644">
                  <a:lnSpc>
                    <a:spcPts val="1200"/>
                  </a:lnSpc>
                  <a:buClr>
                    <a:srgbClr val="473633"/>
                  </a:buClr>
                  <a:buSzTx/>
                  <a:buFontTx/>
                  <a:buChar char="•"/>
                </a:pPr>
                <a:r>
                  <a:rPr lang="zh-CN" sz="710" dirty="0">
                    <a:solidFill>
                      <a:srgbClr val="473633"/>
                    </a:solidFill>
                    <a:latin typeface="+mn-lt"/>
                    <a:ea typeface="+mn-ea"/>
                    <a:cs typeface="+mn-cs"/>
                  </a:rPr>
                  <a:t>方案匹配度不足​​</a:t>
                </a:r>
              </a:p>
              <a:p>
                <a:pPr algn="l" marL="76644" indent="-76644">
                  <a:lnSpc>
                    <a:spcPts val="1200"/>
                  </a:lnSpc>
                  <a:buClr>
                    <a:srgbClr val="473633"/>
                  </a:buClr>
                  <a:buSzTx/>
                  <a:buFontTx/>
                  <a:buChar char="•"/>
                </a:pPr>
                <a:r>
                  <a:rPr lang="zh-CN" sz="710" dirty="0">
                    <a:solidFill>
                      <a:srgbClr val="473633"/>
                    </a:solidFill>
                    <a:latin typeface="+mn-lt"/>
                    <a:ea typeface="+mn-ea"/>
                    <a:cs typeface="+mn-cs"/>
                  </a:rPr>
                  <a:t>团队复制能力不足​​</a:t>
                </a:r>
              </a:p>
            </p:txBody>
          </p:sp>
        </p:grpSp>
      </p:grpSp>
      <p:grpSp>
        <p:nvGrpSpPr>
          <p:cNvPr id="88" name="fishbone"/>
          <p:cNvGrpSpPr/>
          <p:nvPr/>
        </p:nvGrpSpPr>
        <p:grpSpPr>
          <a:xfrm>
            <a:off x="3962400" y="723900"/>
            <a:ext cx="4610100" cy="2895600"/>
            <a:chOff x="3962400" y="723900"/>
            <a:chExt cx="4610100" cy="2895600"/>
          </a:xfrm>
        </p:grpSpPr>
        <p:sp>
          <p:nvSpPr>
            <p:cNvPr id="52" name="Rectangle 52"/>
            <p:cNvSpPr/>
            <p:nvPr/>
          </p:nvSpPr>
          <p:spPr>
            <a:xfrm>
              <a:off x="3962400" y="857250"/>
              <a:ext cx="4610100" cy="2762250"/>
            </a:xfrm>
            <a:prstGeom prst="roundRect">
              <a:avLst>
                <a:gd name="adj" fmla="val 2759"/>
              </a:avLst>
            </a:prstGeom>
            <a:solidFill>
              <a:srgbClr val="FFFFFF"/>
            </a:solidFill>
            <a:ln w="9525">
              <a:solidFill>
                <a:srgbClr val="F7D1C9"/>
              </a:solidFill>
            </a:ln>
          </p:spPr>
        </p:sp>
        <p:sp>
          <p:nvSpPr>
            <p:cNvPr id="53" name="Rectangle 53"/>
            <p:cNvSpPr/>
            <p:nvPr/>
          </p:nvSpPr>
          <p:spPr>
            <a:xfrm>
              <a:off x="4514850" y="723900"/>
              <a:ext cx="3505200" cy="247650"/>
            </a:xfrm>
            <a:prstGeom prst="roundRect">
              <a:avLst>
                <a:gd name="adj" fmla="val 23077"/>
              </a:avLst>
            </a:prstGeom>
            <a:solidFill>
              <a:srgbClr val="6E1604"/>
            </a:solidFill>
            <a:ln>
              <a:noFill/>
            </a:ln>
          </p:spPr>
        </p:sp>
        <p:sp>
          <p:nvSpPr>
            <p:cNvPr id="54" name="TextBox 54"/>
            <p:cNvSpPr txBox="1"/>
            <p:nvPr/>
          </p:nvSpPr>
          <p:spPr>
            <a:xfrm>
              <a:off x="5234946" y="790099"/>
              <a:ext cx="2065008"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二、根因鱼骨图：六大类根因穿透​</a:t>
              </a:r>
            </a:p>
          </p:txBody>
        </p:sp>
        <p:sp>
          <p:nvSpPr>
            <p:cNvPr id="55" name="Line 55"/>
            <p:cNvSpPr/>
            <p:nvPr/>
          </p:nvSpPr>
          <p:spPr>
            <a:xfrm>
              <a:off x="4095750" y="2381250"/>
              <a:ext cx="3619500" cy="1"/>
            </a:xfrm>
            <a:prstGeom prst="line">
              <a:avLst/>
            </a:prstGeom>
            <a:noFill/>
            <a:ln w="23812">
              <a:solidFill>
                <a:srgbClr val="6E1604"/>
              </a:solidFill>
              <a:tailEnd type="triangle" w="lg" len="lg"/>
            </a:ln>
          </p:spPr>
        </p:sp>
        <p:sp>
          <p:nvSpPr>
            <p:cNvPr id="56" name="Ellipse 56"/>
            <p:cNvSpPr/>
            <p:nvPr/>
          </p:nvSpPr>
          <p:spPr>
            <a:xfrm>
              <a:off x="7810500" y="2038350"/>
              <a:ext cx="685800" cy="685800"/>
            </a:xfrm>
            <a:prstGeom prst="ellipse">
              <a:avLst/>
            </a:prstGeom>
            <a:solidFill>
              <a:srgbClr val="B92102"/>
            </a:solidFill>
            <a:ln>
              <a:noFill/>
            </a:ln>
          </p:spPr>
        </p:sp>
        <p:sp>
          <p:nvSpPr>
            <p:cNvPr id="57" name="TextBox 57"/>
            <p:cNvSpPr txBox="1"/>
            <p:nvPr/>
          </p:nvSpPr>
          <p:spPr>
            <a:xfrm>
              <a:off x="7847648" y="2267664"/>
              <a:ext cx="61150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FFFFFF"/>
                  </a:solidFill>
                  <a:latin typeface="+mn-lt"/>
                  <a:ea typeface="+mn-ea"/>
                  <a:cs typeface="+mn-cs"/>
                </a:rPr>
                <a:t>业务差距</a:t>
              </a:r>
              <a:br/>
              <a:r>
                <a:rPr lang="zh-CN" sz="790" b="1" dirty="0">
                  <a:solidFill>
                    <a:srgbClr val="FFFFFF"/>
                  </a:solidFill>
                  <a:latin typeface="+mn-lt"/>
                  <a:ea typeface="+mn-ea"/>
                  <a:cs typeface="+mn-cs"/>
                </a:rPr>
                <a:t>（本质原因）</a:t>
              </a:r>
            </a:p>
          </p:txBody>
        </p:sp>
        <p:sp>
          <p:nvSpPr>
            <p:cNvPr id="58" name="Line 58"/>
            <p:cNvSpPr/>
            <p:nvPr/>
          </p:nvSpPr>
          <p:spPr>
            <a:xfrm>
              <a:off x="4762500" y="1333500"/>
              <a:ext cx="619125" cy="1028700"/>
            </a:xfrm>
            <a:custGeom>
              <a:avLst/>
              <a:gdLst/>
              <a:ahLst/>
              <a:cxnLst/>
              <a:rect l="l" t="t" r="r" b="b"/>
              <a:pathLst>
                <a:path w="619125" h="1028700">
                  <a:moveTo>
                    <a:pt x="0" y="0"/>
                  </a:moveTo>
                  <a:lnTo>
                    <a:pt x="619125" y="1028700"/>
                  </a:lnTo>
                </a:path>
              </a:pathLst>
            </a:custGeom>
            <a:noFill/>
            <a:ln w="11430">
              <a:solidFill>
                <a:srgbClr val="D9705B"/>
              </a:solidFill>
            </a:ln>
          </p:spPr>
        </p:sp>
        <p:sp>
          <p:nvSpPr>
            <p:cNvPr id="59" name="Line 59"/>
            <p:cNvSpPr/>
            <p:nvPr/>
          </p:nvSpPr>
          <p:spPr>
            <a:xfrm>
              <a:off x="6000750" y="1333500"/>
              <a:ext cx="619125" cy="1028700"/>
            </a:xfrm>
            <a:custGeom>
              <a:avLst/>
              <a:gdLst/>
              <a:ahLst/>
              <a:cxnLst/>
              <a:rect l="l" t="t" r="r" b="b"/>
              <a:pathLst>
                <a:path w="619125" h="1028700">
                  <a:moveTo>
                    <a:pt x="0" y="0"/>
                  </a:moveTo>
                  <a:lnTo>
                    <a:pt x="619125" y="1028700"/>
                  </a:lnTo>
                </a:path>
              </a:pathLst>
            </a:custGeom>
            <a:noFill/>
            <a:ln w="11430">
              <a:solidFill>
                <a:srgbClr val="D9705B"/>
              </a:solidFill>
            </a:ln>
          </p:spPr>
        </p:sp>
        <p:sp>
          <p:nvSpPr>
            <p:cNvPr id="60" name="Line 60"/>
            <p:cNvSpPr/>
            <p:nvPr/>
          </p:nvSpPr>
          <p:spPr>
            <a:xfrm>
              <a:off x="7239000" y="1333500"/>
              <a:ext cx="476250" cy="781050"/>
            </a:xfrm>
            <a:custGeom>
              <a:avLst/>
              <a:gdLst/>
              <a:ahLst/>
              <a:cxnLst/>
              <a:rect l="l" t="t" r="r" b="b"/>
              <a:pathLst>
                <a:path w="476250" h="781050">
                  <a:moveTo>
                    <a:pt x="0" y="0"/>
                  </a:moveTo>
                  <a:lnTo>
                    <a:pt x="476250" y="781050"/>
                  </a:lnTo>
                </a:path>
              </a:pathLst>
            </a:custGeom>
            <a:noFill/>
            <a:ln w="11430">
              <a:solidFill>
                <a:srgbClr val="D9705B"/>
              </a:solidFill>
            </a:ln>
          </p:spPr>
        </p:sp>
        <p:sp>
          <p:nvSpPr>
            <p:cNvPr id="61" name="Line 61"/>
            <p:cNvSpPr/>
            <p:nvPr/>
          </p:nvSpPr>
          <p:spPr>
            <a:xfrm>
              <a:off x="4762500" y="2400300"/>
              <a:ext cx="619125" cy="819150"/>
            </a:xfrm>
            <a:custGeom>
              <a:avLst/>
              <a:gdLst/>
              <a:ahLst/>
              <a:cxnLst/>
              <a:rect l="l" t="t" r="r" b="b"/>
              <a:pathLst>
                <a:path w="619125" h="819150">
                  <a:moveTo>
                    <a:pt x="0" y="819150"/>
                  </a:moveTo>
                  <a:lnTo>
                    <a:pt x="619125" y="0"/>
                  </a:lnTo>
                </a:path>
              </a:pathLst>
            </a:custGeom>
            <a:noFill/>
            <a:ln w="11430">
              <a:solidFill>
                <a:srgbClr val="D9705B"/>
              </a:solidFill>
            </a:ln>
          </p:spPr>
        </p:sp>
        <p:sp>
          <p:nvSpPr>
            <p:cNvPr id="62" name="Line 62"/>
            <p:cNvSpPr/>
            <p:nvPr/>
          </p:nvSpPr>
          <p:spPr>
            <a:xfrm>
              <a:off x="6000750" y="2400300"/>
              <a:ext cx="619125" cy="819150"/>
            </a:xfrm>
            <a:custGeom>
              <a:avLst/>
              <a:gdLst/>
              <a:ahLst/>
              <a:cxnLst/>
              <a:rect l="l" t="t" r="r" b="b"/>
              <a:pathLst>
                <a:path w="619125" h="819150">
                  <a:moveTo>
                    <a:pt x="0" y="819150"/>
                  </a:moveTo>
                  <a:lnTo>
                    <a:pt x="619125" y="0"/>
                  </a:lnTo>
                </a:path>
              </a:pathLst>
            </a:custGeom>
            <a:noFill/>
            <a:ln w="11430">
              <a:solidFill>
                <a:srgbClr val="D9705B"/>
              </a:solidFill>
            </a:ln>
          </p:spPr>
        </p:sp>
        <p:sp>
          <p:nvSpPr>
            <p:cNvPr id="63" name="Line 63"/>
            <p:cNvSpPr/>
            <p:nvPr/>
          </p:nvSpPr>
          <p:spPr>
            <a:xfrm>
              <a:off x="7239000" y="2647950"/>
              <a:ext cx="476250" cy="571500"/>
            </a:xfrm>
            <a:custGeom>
              <a:avLst/>
              <a:gdLst/>
              <a:ahLst/>
              <a:cxnLst/>
              <a:rect l="l" t="t" r="r" b="b"/>
              <a:pathLst>
                <a:path w="476250" h="571500">
                  <a:moveTo>
                    <a:pt x="0" y="571500"/>
                  </a:moveTo>
                  <a:lnTo>
                    <a:pt x="476250" y="0"/>
                  </a:lnTo>
                </a:path>
              </a:pathLst>
            </a:custGeom>
            <a:noFill/>
            <a:ln w="11430">
              <a:solidFill>
                <a:srgbClr val="D9705B"/>
              </a:solidFill>
            </a:ln>
          </p:spPr>
        </p:sp>
        <p:grpSp>
          <p:nvGrpSpPr>
            <p:cNvPr id="67" name="fb-customer"/>
            <p:cNvGrpSpPr/>
            <p:nvPr/>
          </p:nvGrpSpPr>
          <p:grpSpPr>
            <a:xfrm>
              <a:off x="4052888" y="1123950"/>
              <a:ext cx="816547" cy="968455"/>
              <a:chOff x="4052888" y="1123950"/>
              <a:chExt cx="816547" cy="968455"/>
            </a:xfrm>
          </p:grpSpPr>
          <p:sp>
            <p:nvSpPr>
              <p:cNvPr id="64" name="Rectangle 64"/>
              <p:cNvSpPr/>
              <p:nvPr/>
            </p:nvSpPr>
            <p:spPr>
              <a:xfrm>
                <a:off x="4286250" y="1123950"/>
                <a:ext cx="514350" cy="209550"/>
              </a:xfrm>
              <a:prstGeom prst="roundRect">
                <a:avLst>
                  <a:gd name="adj" fmla="val 18182"/>
                </a:avLst>
              </a:prstGeom>
              <a:solidFill>
                <a:srgbClr val="B92102"/>
              </a:solidFill>
              <a:ln>
                <a:noFill/>
              </a:ln>
            </p:spPr>
          </p:sp>
          <p:sp>
            <p:nvSpPr>
              <p:cNvPr id="65" name="TextBox 65"/>
              <p:cNvSpPr txBox="1"/>
              <p:nvPr/>
            </p:nvSpPr>
            <p:spPr>
              <a:xfrm>
                <a:off x="4428274" y="11872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客户</a:t>
                </a:r>
              </a:p>
            </p:txBody>
          </p:sp>
          <p:sp>
            <p:nvSpPr>
              <p:cNvPr id="66" name="TextBox 66"/>
              <p:cNvSpPr txBox="1"/>
              <p:nvPr/>
            </p:nvSpPr>
            <p:spPr>
              <a:xfrm>
                <a:off x="4052888" y="1466136"/>
                <a:ext cx="816547" cy="626269"/>
              </a:xfrm>
              <a:prstGeom prst="rect">
                <a:avLst/>
              </a:prstGeom>
              <a:noFill/>
              <a:ln>
                <a:noFill/>
              </a:ln>
            </p:spPr>
            <p:txBody>
              <a:bodyPr wrap="none" lIns="0" tIns="0" rIns="0" bIns="0" anchor="t" anchorCtr="0">
                <a:spAutoFit/>
              </a:bodyPr>
              <a:lstStyle/>
              <a:p>
                <a:pPr algn="l" marL="76644" indent="-76644">
                  <a:lnSpc>
                    <a:spcPts val="1275"/>
                  </a:lnSpc>
                  <a:buClr>
                    <a:srgbClr val="473633"/>
                  </a:buClr>
                  <a:buSzTx/>
                  <a:buFontTx/>
                  <a:buChar char="•"/>
                </a:pPr>
                <a:r>
                  <a:rPr lang="zh-CN" sz="710" dirty="0">
                    <a:solidFill>
                      <a:srgbClr val="473633"/>
                    </a:solidFill>
                    <a:latin typeface="+mn-lt"/>
                    <a:ea typeface="+mn-ea"/>
                    <a:cs typeface="+mn-cs"/>
                  </a:rPr>
                  <a:t>客户需求不清晰​​</a:t>
                </a:r>
              </a:p>
              <a:p>
                <a:pPr algn="l" marL="76644" indent="-76644">
                  <a:lnSpc>
                    <a:spcPts val="1275"/>
                  </a:lnSpc>
                  <a:buClr>
                    <a:srgbClr val="473633"/>
                  </a:buClr>
                  <a:buSzTx/>
                  <a:buFontTx/>
                  <a:buChar char="•"/>
                </a:pPr>
                <a:r>
                  <a:rPr lang="zh-CN" sz="710" dirty="0">
                    <a:solidFill>
                      <a:srgbClr val="473633"/>
                    </a:solidFill>
                    <a:latin typeface="+mn-lt"/>
                    <a:ea typeface="+mn-ea"/>
                    <a:cs typeface="+mn-cs"/>
                  </a:rPr>
                  <a:t>决策链不完整​​</a:t>
                </a:r>
              </a:p>
              <a:p>
                <a:pPr algn="l" marL="76644" indent="-76644">
                  <a:lnSpc>
                    <a:spcPts val="1275"/>
                  </a:lnSpc>
                  <a:buClr>
                    <a:srgbClr val="473633"/>
                  </a:buClr>
                  <a:buSzTx/>
                  <a:buFontTx/>
                  <a:buChar char="•"/>
                </a:pPr>
                <a:r>
                  <a:rPr lang="zh-CN" sz="710" dirty="0">
                    <a:solidFill>
                      <a:srgbClr val="473633"/>
                    </a:solidFill>
                    <a:latin typeface="+mn-lt"/>
                    <a:ea typeface="+mn-ea"/>
                    <a:cs typeface="+mn-cs"/>
                  </a:rPr>
                  <a:t>经营痛点未把握​​</a:t>
                </a:r>
              </a:p>
              <a:p>
                <a:pPr algn="l" marL="76644" indent="-76644">
                  <a:lnSpc>
                    <a:spcPts val="1275"/>
                  </a:lnSpc>
                  <a:buClr>
                    <a:srgbClr val="473633"/>
                  </a:buClr>
                  <a:buSzTx/>
                  <a:buFontTx/>
                  <a:buChar char="•"/>
                </a:pPr>
                <a:r>
                  <a:rPr lang="zh-CN" sz="710" dirty="0">
                    <a:solidFill>
                      <a:srgbClr val="473633"/>
                    </a:solidFill>
                    <a:latin typeface="+mn-lt"/>
                    <a:ea typeface="+mn-ea"/>
                    <a:cs typeface="+mn-cs"/>
                  </a:rPr>
                  <a:t>客户分层不精细​​</a:t>
                </a:r>
              </a:p>
            </p:txBody>
          </p:sp>
        </p:grpSp>
        <p:grpSp>
          <p:nvGrpSpPr>
            <p:cNvPr id="71" name="fb-product"/>
            <p:cNvGrpSpPr/>
            <p:nvPr/>
          </p:nvGrpSpPr>
          <p:grpSpPr>
            <a:xfrm>
              <a:off x="5291138" y="1123950"/>
              <a:ext cx="816547" cy="968455"/>
              <a:chOff x="5291138" y="1123950"/>
              <a:chExt cx="816547" cy="968455"/>
            </a:xfrm>
          </p:grpSpPr>
          <p:sp>
            <p:nvSpPr>
              <p:cNvPr id="68" name="Rectangle 68"/>
              <p:cNvSpPr/>
              <p:nvPr/>
            </p:nvSpPr>
            <p:spPr>
              <a:xfrm>
                <a:off x="5524500" y="1123950"/>
                <a:ext cx="514350" cy="209550"/>
              </a:xfrm>
              <a:prstGeom prst="roundRect">
                <a:avLst>
                  <a:gd name="adj" fmla="val 18182"/>
                </a:avLst>
              </a:prstGeom>
              <a:solidFill>
                <a:srgbClr val="B92102"/>
              </a:solidFill>
              <a:ln>
                <a:noFill/>
              </a:ln>
            </p:spPr>
          </p:sp>
          <p:sp>
            <p:nvSpPr>
              <p:cNvPr id="69" name="TextBox 69"/>
              <p:cNvSpPr txBox="1"/>
              <p:nvPr/>
            </p:nvSpPr>
            <p:spPr>
              <a:xfrm>
                <a:off x="5666524" y="11872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产品</a:t>
                </a:r>
              </a:p>
            </p:txBody>
          </p:sp>
          <p:sp>
            <p:nvSpPr>
              <p:cNvPr id="70" name="TextBox 70"/>
              <p:cNvSpPr txBox="1"/>
              <p:nvPr/>
            </p:nvSpPr>
            <p:spPr>
              <a:xfrm>
                <a:off x="5291138" y="1466136"/>
                <a:ext cx="816547" cy="626269"/>
              </a:xfrm>
              <a:prstGeom prst="rect">
                <a:avLst/>
              </a:prstGeom>
              <a:noFill/>
              <a:ln>
                <a:noFill/>
              </a:ln>
            </p:spPr>
            <p:txBody>
              <a:bodyPr wrap="none" lIns="0" tIns="0" rIns="0" bIns="0" anchor="t" anchorCtr="0">
                <a:spAutoFit/>
              </a:bodyPr>
              <a:lstStyle/>
              <a:p>
                <a:pPr algn="l" marL="76644" indent="-76644">
                  <a:lnSpc>
                    <a:spcPts val="1275"/>
                  </a:lnSpc>
                  <a:buClr>
                    <a:srgbClr val="473633"/>
                  </a:buClr>
                  <a:buSzTx/>
                  <a:buFontTx/>
                  <a:buChar char="•"/>
                </a:pPr>
                <a:r>
                  <a:rPr lang="zh-CN" sz="710" dirty="0">
                    <a:solidFill>
                      <a:srgbClr val="473633"/>
                    </a:solidFill>
                    <a:latin typeface="+mn-lt"/>
                    <a:ea typeface="+mn-ea"/>
                    <a:cs typeface="+mn-cs"/>
                  </a:rPr>
                  <a:t>产品组合单一​​</a:t>
                </a:r>
              </a:p>
              <a:p>
                <a:pPr algn="l" marL="76644" indent="-76644">
                  <a:lnSpc>
                    <a:spcPts val="1275"/>
                  </a:lnSpc>
                  <a:buClr>
                    <a:srgbClr val="473633"/>
                  </a:buClr>
                  <a:buSzTx/>
                  <a:buFontTx/>
                  <a:buChar char="•"/>
                </a:pPr>
                <a:r>
                  <a:rPr lang="zh-CN" sz="710" dirty="0">
                    <a:solidFill>
                      <a:srgbClr val="473633"/>
                    </a:solidFill>
                    <a:latin typeface="+mn-lt"/>
                    <a:ea typeface="+mn-ea"/>
                    <a:cs typeface="+mn-cs"/>
                  </a:rPr>
                  <a:t>差异化不明显​​</a:t>
                </a:r>
              </a:p>
              <a:p>
                <a:pPr algn="l" marL="76644" indent="-76644">
                  <a:lnSpc>
                    <a:spcPts val="1275"/>
                  </a:lnSpc>
                  <a:buClr>
                    <a:srgbClr val="473633"/>
                  </a:buClr>
                  <a:buSzTx/>
                  <a:buFontTx/>
                  <a:buChar char="•"/>
                </a:pPr>
                <a:r>
                  <a:rPr lang="zh-CN" sz="710" dirty="0">
                    <a:solidFill>
                      <a:srgbClr val="473633"/>
                    </a:solidFill>
                    <a:latin typeface="+mn-lt"/>
                    <a:ea typeface="+mn-ea"/>
                    <a:cs typeface="+mn-cs"/>
                  </a:rPr>
                  <a:t>方案适配性弱​​</a:t>
                </a:r>
              </a:p>
              <a:p>
                <a:pPr algn="l" marL="76644" indent="-76644">
                  <a:lnSpc>
                    <a:spcPts val="1275"/>
                  </a:lnSpc>
                  <a:buClr>
                    <a:srgbClr val="473633"/>
                  </a:buClr>
                  <a:buSzTx/>
                  <a:buFontTx/>
                  <a:buChar char="•"/>
                </a:pPr>
                <a:r>
                  <a:rPr lang="zh-CN" sz="710" dirty="0">
                    <a:solidFill>
                      <a:srgbClr val="473633"/>
                    </a:solidFill>
                    <a:latin typeface="+mn-lt"/>
                    <a:ea typeface="+mn-ea"/>
                    <a:cs typeface="+mn-cs"/>
                  </a:rPr>
                  <a:t>定价竞争力不足​​</a:t>
                </a:r>
              </a:p>
            </p:txBody>
          </p:sp>
        </p:grpSp>
        <p:grpSp>
          <p:nvGrpSpPr>
            <p:cNvPr id="75" name="fb-channel"/>
            <p:cNvGrpSpPr/>
            <p:nvPr/>
          </p:nvGrpSpPr>
          <p:grpSpPr>
            <a:xfrm>
              <a:off x="6529388" y="1123950"/>
              <a:ext cx="816547" cy="968455"/>
              <a:chOff x="6529388" y="1123950"/>
              <a:chExt cx="816547" cy="968455"/>
            </a:xfrm>
          </p:grpSpPr>
          <p:sp>
            <p:nvSpPr>
              <p:cNvPr id="72" name="Rectangle 72"/>
              <p:cNvSpPr/>
              <p:nvPr/>
            </p:nvSpPr>
            <p:spPr>
              <a:xfrm>
                <a:off x="6762750" y="1123950"/>
                <a:ext cx="514350" cy="209550"/>
              </a:xfrm>
              <a:prstGeom prst="roundRect">
                <a:avLst>
                  <a:gd name="adj" fmla="val 18182"/>
                </a:avLst>
              </a:prstGeom>
              <a:solidFill>
                <a:srgbClr val="B92102"/>
              </a:solidFill>
              <a:ln>
                <a:noFill/>
              </a:ln>
            </p:spPr>
          </p:sp>
          <p:sp>
            <p:nvSpPr>
              <p:cNvPr id="73" name="TextBox 73"/>
              <p:cNvSpPr txBox="1"/>
              <p:nvPr/>
            </p:nvSpPr>
            <p:spPr>
              <a:xfrm>
                <a:off x="6904774" y="11872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渠道</a:t>
                </a:r>
              </a:p>
            </p:txBody>
          </p:sp>
          <p:sp>
            <p:nvSpPr>
              <p:cNvPr id="74" name="TextBox 74"/>
              <p:cNvSpPr txBox="1"/>
              <p:nvPr/>
            </p:nvSpPr>
            <p:spPr>
              <a:xfrm>
                <a:off x="6529388" y="1466136"/>
                <a:ext cx="816547" cy="626269"/>
              </a:xfrm>
              <a:prstGeom prst="rect">
                <a:avLst/>
              </a:prstGeom>
              <a:noFill/>
              <a:ln>
                <a:noFill/>
              </a:ln>
            </p:spPr>
            <p:txBody>
              <a:bodyPr wrap="none" lIns="0" tIns="0" rIns="0" bIns="0" anchor="t" anchorCtr="0">
                <a:spAutoFit/>
              </a:bodyPr>
              <a:lstStyle/>
              <a:p>
                <a:pPr algn="l" marL="76644" indent="-76644">
                  <a:lnSpc>
                    <a:spcPts val="1275"/>
                  </a:lnSpc>
                  <a:buClr>
                    <a:srgbClr val="473633"/>
                  </a:buClr>
                  <a:buSzTx/>
                  <a:buFontTx/>
                  <a:buChar char="•"/>
                </a:pPr>
                <a:r>
                  <a:rPr lang="zh-CN" sz="710" dirty="0">
                    <a:solidFill>
                      <a:srgbClr val="473633"/>
                    </a:solidFill>
                    <a:latin typeface="+mn-lt"/>
                    <a:ea typeface="+mn-ea"/>
                    <a:cs typeface="+mn-cs"/>
                  </a:rPr>
                  <a:t>渠道覆盖不均衡​​</a:t>
                </a:r>
              </a:p>
              <a:p>
                <a:pPr algn="l" marL="76644" indent="-76644">
                  <a:lnSpc>
                    <a:spcPts val="1275"/>
                  </a:lnSpc>
                  <a:buClr>
                    <a:srgbClr val="473633"/>
                  </a:buClr>
                  <a:buSzTx/>
                  <a:buFontTx/>
                  <a:buChar char="•"/>
                </a:pPr>
                <a:r>
                  <a:rPr lang="zh-CN" sz="710" dirty="0">
                    <a:solidFill>
                      <a:srgbClr val="473633"/>
                    </a:solidFill>
                    <a:latin typeface="+mn-lt"/>
                    <a:ea typeface="+mn-ea"/>
                    <a:cs typeface="+mn-cs"/>
                  </a:rPr>
                  <a:t>渠道政策低效​​</a:t>
                </a:r>
              </a:p>
              <a:p>
                <a:pPr algn="l" marL="76644" indent="-76644">
                  <a:lnSpc>
                    <a:spcPts val="1275"/>
                  </a:lnSpc>
                  <a:buClr>
                    <a:srgbClr val="473633"/>
                  </a:buClr>
                  <a:buSzTx/>
                  <a:buFontTx/>
                  <a:buChar char="•"/>
                </a:pPr>
                <a:r>
                  <a:rPr lang="zh-CN" sz="710" dirty="0">
                    <a:solidFill>
                      <a:srgbClr val="473633"/>
                    </a:solidFill>
                    <a:latin typeface="+mn-lt"/>
                    <a:ea typeface="+mn-ea"/>
                    <a:cs typeface="+mn-cs"/>
                  </a:rPr>
                  <a:t>渠道赋能不足​​</a:t>
                </a:r>
              </a:p>
              <a:p>
                <a:pPr algn="l" marL="76644" indent="-76644">
                  <a:lnSpc>
                    <a:spcPts val="1275"/>
                  </a:lnSpc>
                  <a:buClr>
                    <a:srgbClr val="473633"/>
                  </a:buClr>
                  <a:buSzTx/>
                  <a:buFontTx/>
                  <a:buChar char="•"/>
                </a:pPr>
                <a:r>
                  <a:rPr lang="zh-CN" sz="710" dirty="0">
                    <a:solidFill>
                      <a:srgbClr val="473633"/>
                    </a:solidFill>
                    <a:latin typeface="+mn-lt"/>
                    <a:ea typeface="+mn-ea"/>
                    <a:cs typeface="+mn-cs"/>
                  </a:rPr>
                  <a:t>渠道协同弱​​</a:t>
                </a:r>
              </a:p>
            </p:txBody>
          </p:sp>
        </p:grpSp>
        <p:grpSp>
          <p:nvGrpSpPr>
            <p:cNvPr id="79" name="fb-team"/>
            <p:cNvGrpSpPr/>
            <p:nvPr/>
          </p:nvGrpSpPr>
          <p:grpSpPr>
            <a:xfrm>
              <a:off x="4052888" y="2532936"/>
              <a:ext cx="747712" cy="911780"/>
              <a:chOff x="4052888" y="2532936"/>
              <a:chExt cx="747712" cy="911780"/>
            </a:xfrm>
          </p:grpSpPr>
          <p:sp>
            <p:nvSpPr>
              <p:cNvPr id="76" name="Rectangle 76"/>
              <p:cNvSpPr/>
              <p:nvPr/>
            </p:nvSpPr>
            <p:spPr>
              <a:xfrm>
                <a:off x="4286250" y="3219450"/>
                <a:ext cx="514350" cy="209550"/>
              </a:xfrm>
              <a:prstGeom prst="roundRect">
                <a:avLst>
                  <a:gd name="adj" fmla="val 18182"/>
                </a:avLst>
              </a:prstGeom>
              <a:solidFill>
                <a:srgbClr val="B92102"/>
              </a:solidFill>
              <a:ln>
                <a:noFill/>
              </a:ln>
            </p:spPr>
          </p:sp>
          <p:sp>
            <p:nvSpPr>
              <p:cNvPr id="77" name="TextBox 77"/>
              <p:cNvSpPr txBox="1"/>
              <p:nvPr/>
            </p:nvSpPr>
            <p:spPr>
              <a:xfrm>
                <a:off x="4428274" y="32827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队伍</a:t>
                </a:r>
              </a:p>
            </p:txBody>
          </p:sp>
          <p:sp>
            <p:nvSpPr>
              <p:cNvPr id="78" name="TextBox 78"/>
              <p:cNvSpPr txBox="1"/>
              <p:nvPr/>
            </p:nvSpPr>
            <p:spPr>
              <a:xfrm>
                <a:off x="4052888" y="2532936"/>
                <a:ext cx="726376" cy="626269"/>
              </a:xfrm>
              <a:prstGeom prst="rect">
                <a:avLst/>
              </a:prstGeom>
              <a:noFill/>
              <a:ln>
                <a:noFill/>
              </a:ln>
            </p:spPr>
            <p:txBody>
              <a:bodyPr wrap="none" lIns="0" tIns="0" rIns="0" bIns="0" anchor="t" anchorCtr="0">
                <a:spAutoFit/>
              </a:bodyPr>
              <a:lstStyle/>
              <a:p>
                <a:pPr algn="l" marL="76644" indent="-76644">
                  <a:lnSpc>
                    <a:spcPts val="1275"/>
                  </a:lnSpc>
                  <a:buClr>
                    <a:srgbClr val="473633"/>
                  </a:buClr>
                  <a:buSzTx/>
                  <a:buFontTx/>
                  <a:buChar char="•"/>
                </a:pPr>
                <a:r>
                  <a:rPr lang="zh-CN" sz="710" dirty="0">
                    <a:solidFill>
                      <a:srgbClr val="473633"/>
                    </a:solidFill>
                    <a:latin typeface="+mn-lt"/>
                    <a:ea typeface="+mn-ea"/>
                    <a:cs typeface="+mn-cs"/>
                  </a:rPr>
                  <a:t>专业能力不足​​</a:t>
                </a:r>
              </a:p>
              <a:p>
                <a:pPr algn="l" marL="76644" indent="-76644">
                  <a:lnSpc>
                    <a:spcPts val="1275"/>
                  </a:lnSpc>
                  <a:buClr>
                    <a:srgbClr val="473633"/>
                  </a:buClr>
                  <a:buSzTx/>
                  <a:buFontTx/>
                  <a:buChar char="•"/>
                </a:pPr>
                <a:r>
                  <a:rPr lang="zh-CN" sz="710" dirty="0">
                    <a:solidFill>
                      <a:srgbClr val="473633"/>
                    </a:solidFill>
                    <a:latin typeface="+mn-lt"/>
                    <a:ea typeface="+mn-ea"/>
                    <a:cs typeface="+mn-cs"/>
                  </a:rPr>
                  <a:t>经验转化不足​​</a:t>
                </a:r>
              </a:p>
              <a:p>
                <a:pPr algn="l" marL="76644" indent="-76644">
                  <a:lnSpc>
                    <a:spcPts val="1275"/>
                  </a:lnSpc>
                  <a:buClr>
                    <a:srgbClr val="473633"/>
                  </a:buClr>
                  <a:buSzTx/>
                  <a:buFontTx/>
                  <a:buChar char="•"/>
                </a:pPr>
                <a:r>
                  <a:rPr lang="zh-CN" sz="710" dirty="0">
                    <a:solidFill>
                      <a:srgbClr val="473633"/>
                    </a:solidFill>
                    <a:latin typeface="+mn-lt"/>
                    <a:ea typeface="+mn-ea"/>
                    <a:cs typeface="+mn-cs"/>
                  </a:rPr>
                  <a:t>目标牵引不足​​</a:t>
                </a:r>
              </a:p>
              <a:p>
                <a:pPr algn="l" marL="76644" indent="-76644">
                  <a:lnSpc>
                    <a:spcPts val="1275"/>
                  </a:lnSpc>
                  <a:buClr>
                    <a:srgbClr val="473633"/>
                  </a:buClr>
                  <a:buSzTx/>
                  <a:buFontTx/>
                  <a:buChar char="•"/>
                </a:pPr>
                <a:r>
                  <a:rPr lang="zh-CN" sz="710" dirty="0">
                    <a:solidFill>
                      <a:srgbClr val="473633"/>
                    </a:solidFill>
                    <a:latin typeface="+mn-lt"/>
                    <a:ea typeface="+mn-ea"/>
                    <a:cs typeface="+mn-cs"/>
                  </a:rPr>
                  <a:t>执行力有差距​​</a:t>
                </a:r>
              </a:p>
            </p:txBody>
          </p:sp>
        </p:grpSp>
        <p:grpSp>
          <p:nvGrpSpPr>
            <p:cNvPr id="83" name="fb-mechanism"/>
            <p:cNvGrpSpPr/>
            <p:nvPr/>
          </p:nvGrpSpPr>
          <p:grpSpPr>
            <a:xfrm>
              <a:off x="5291138" y="2532936"/>
              <a:ext cx="816547" cy="911780"/>
              <a:chOff x="5291138" y="2532936"/>
              <a:chExt cx="816547" cy="911780"/>
            </a:xfrm>
          </p:grpSpPr>
          <p:sp>
            <p:nvSpPr>
              <p:cNvPr id="80" name="Rectangle 80"/>
              <p:cNvSpPr/>
              <p:nvPr/>
            </p:nvSpPr>
            <p:spPr>
              <a:xfrm>
                <a:off x="5524500" y="3219450"/>
                <a:ext cx="514350" cy="209550"/>
              </a:xfrm>
              <a:prstGeom prst="roundRect">
                <a:avLst>
                  <a:gd name="adj" fmla="val 18182"/>
                </a:avLst>
              </a:prstGeom>
              <a:solidFill>
                <a:srgbClr val="B92102"/>
              </a:solidFill>
              <a:ln>
                <a:noFill/>
              </a:ln>
            </p:spPr>
          </p:sp>
          <p:sp>
            <p:nvSpPr>
              <p:cNvPr id="81" name="TextBox 81"/>
              <p:cNvSpPr txBox="1"/>
              <p:nvPr/>
            </p:nvSpPr>
            <p:spPr>
              <a:xfrm>
                <a:off x="5666524" y="32827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机制</a:t>
                </a:r>
              </a:p>
            </p:txBody>
          </p:sp>
          <p:sp>
            <p:nvSpPr>
              <p:cNvPr id="82" name="TextBox 82"/>
              <p:cNvSpPr txBox="1"/>
              <p:nvPr/>
            </p:nvSpPr>
            <p:spPr>
              <a:xfrm>
                <a:off x="5291138" y="2532936"/>
                <a:ext cx="816547" cy="626269"/>
              </a:xfrm>
              <a:prstGeom prst="rect">
                <a:avLst/>
              </a:prstGeom>
              <a:noFill/>
              <a:ln>
                <a:noFill/>
              </a:ln>
            </p:spPr>
            <p:txBody>
              <a:bodyPr wrap="none" lIns="0" tIns="0" rIns="0" bIns="0" anchor="t" anchorCtr="0">
                <a:spAutoFit/>
              </a:bodyPr>
              <a:lstStyle/>
              <a:p>
                <a:pPr algn="l" marL="76644" indent="-76644">
                  <a:lnSpc>
                    <a:spcPts val="1275"/>
                  </a:lnSpc>
                  <a:buClr>
                    <a:srgbClr val="473633"/>
                  </a:buClr>
                  <a:buSzTx/>
                  <a:buFontTx/>
                  <a:buChar char="•"/>
                </a:pPr>
                <a:r>
                  <a:rPr lang="zh-CN" sz="710" dirty="0">
                    <a:solidFill>
                      <a:srgbClr val="473633"/>
                    </a:solidFill>
                    <a:latin typeface="+mn-lt"/>
                    <a:ea typeface="+mn-ea"/>
                    <a:cs typeface="+mn-cs"/>
                  </a:rPr>
                  <a:t>激励约束不足​​</a:t>
                </a:r>
              </a:p>
              <a:p>
                <a:pPr algn="l" marL="76644" indent="-76644">
                  <a:lnSpc>
                    <a:spcPts val="1275"/>
                  </a:lnSpc>
                  <a:buClr>
                    <a:srgbClr val="473633"/>
                  </a:buClr>
                  <a:buSzTx/>
                  <a:buFontTx/>
                  <a:buChar char="•"/>
                </a:pPr>
                <a:r>
                  <a:rPr lang="zh-CN" sz="710" dirty="0">
                    <a:solidFill>
                      <a:srgbClr val="473633"/>
                    </a:solidFill>
                    <a:latin typeface="+mn-lt"/>
                    <a:ea typeface="+mn-ea"/>
                    <a:cs typeface="+mn-cs"/>
                  </a:rPr>
                  <a:t>流程繁琐低效​​</a:t>
                </a:r>
              </a:p>
              <a:p>
                <a:pPr algn="l" marL="76644" indent="-76644">
                  <a:lnSpc>
                    <a:spcPts val="1275"/>
                  </a:lnSpc>
                  <a:buClr>
                    <a:srgbClr val="473633"/>
                  </a:buClr>
                  <a:buSzTx/>
                  <a:buFontTx/>
                  <a:buChar char="•"/>
                </a:pPr>
                <a:r>
                  <a:rPr lang="zh-CN" sz="710" dirty="0">
                    <a:solidFill>
                      <a:srgbClr val="473633"/>
                    </a:solidFill>
                    <a:latin typeface="+mn-lt"/>
                    <a:ea typeface="+mn-ea"/>
                    <a:cs typeface="+mn-cs"/>
                  </a:rPr>
                  <a:t>协同机制不健全​​</a:t>
                </a:r>
              </a:p>
              <a:p>
                <a:pPr algn="l" marL="76644" indent="-76644">
                  <a:lnSpc>
                    <a:spcPts val="1275"/>
                  </a:lnSpc>
                  <a:buClr>
                    <a:srgbClr val="473633"/>
                  </a:buClr>
                  <a:buSzTx/>
                  <a:buFontTx/>
                  <a:buChar char="•"/>
                </a:pPr>
                <a:r>
                  <a:rPr lang="zh-CN" sz="710" dirty="0">
                    <a:solidFill>
                      <a:srgbClr val="473633"/>
                    </a:solidFill>
                    <a:latin typeface="+mn-lt"/>
                    <a:ea typeface="+mn-ea"/>
                    <a:cs typeface="+mn-cs"/>
                  </a:rPr>
                  <a:t>资源配置失衡​​</a:t>
                </a:r>
              </a:p>
            </p:txBody>
          </p:sp>
        </p:grpSp>
        <p:grpSp>
          <p:nvGrpSpPr>
            <p:cNvPr id="87" name="fb-data"/>
            <p:cNvGrpSpPr/>
            <p:nvPr/>
          </p:nvGrpSpPr>
          <p:grpSpPr>
            <a:xfrm>
              <a:off x="6529388" y="2532936"/>
              <a:ext cx="747712" cy="911780"/>
              <a:chOff x="6529388" y="2532936"/>
              <a:chExt cx="747712" cy="911780"/>
            </a:xfrm>
          </p:grpSpPr>
          <p:sp>
            <p:nvSpPr>
              <p:cNvPr id="84" name="Rectangle 84"/>
              <p:cNvSpPr/>
              <p:nvPr/>
            </p:nvSpPr>
            <p:spPr>
              <a:xfrm>
                <a:off x="6762750" y="3219450"/>
                <a:ext cx="514350" cy="209550"/>
              </a:xfrm>
              <a:prstGeom prst="roundRect">
                <a:avLst>
                  <a:gd name="adj" fmla="val 18182"/>
                </a:avLst>
              </a:prstGeom>
              <a:solidFill>
                <a:srgbClr val="B92102"/>
              </a:solidFill>
              <a:ln>
                <a:noFill/>
              </a:ln>
            </p:spPr>
          </p:sp>
          <p:sp>
            <p:nvSpPr>
              <p:cNvPr id="85" name="TextBox 85"/>
              <p:cNvSpPr txBox="1"/>
              <p:nvPr/>
            </p:nvSpPr>
            <p:spPr>
              <a:xfrm>
                <a:off x="6904774" y="32827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数据</a:t>
                </a:r>
              </a:p>
            </p:txBody>
          </p:sp>
          <p:sp>
            <p:nvSpPr>
              <p:cNvPr id="86" name="TextBox 86"/>
              <p:cNvSpPr txBox="1"/>
              <p:nvPr/>
            </p:nvSpPr>
            <p:spPr>
              <a:xfrm>
                <a:off x="6529388" y="2532936"/>
                <a:ext cx="726376" cy="626269"/>
              </a:xfrm>
              <a:prstGeom prst="rect">
                <a:avLst/>
              </a:prstGeom>
              <a:noFill/>
              <a:ln>
                <a:noFill/>
              </a:ln>
            </p:spPr>
            <p:txBody>
              <a:bodyPr wrap="none" lIns="0" tIns="0" rIns="0" bIns="0" anchor="t" anchorCtr="0">
                <a:spAutoFit/>
              </a:bodyPr>
              <a:lstStyle/>
              <a:p>
                <a:pPr algn="l" marL="76644" indent="-76644">
                  <a:lnSpc>
                    <a:spcPts val="1275"/>
                  </a:lnSpc>
                  <a:buClr>
                    <a:srgbClr val="473633"/>
                  </a:buClr>
                  <a:buSzTx/>
                  <a:buFontTx/>
                  <a:buChar char="•"/>
                </a:pPr>
                <a:r>
                  <a:rPr lang="zh-CN" sz="710" dirty="0">
                    <a:solidFill>
                      <a:srgbClr val="473633"/>
                    </a:solidFill>
                    <a:latin typeface="+mn-lt"/>
                    <a:ea typeface="+mn-ea"/>
                    <a:cs typeface="+mn-cs"/>
                  </a:rPr>
                  <a:t>数据质量不高​​</a:t>
                </a:r>
              </a:p>
              <a:p>
                <a:pPr algn="l" marL="76644" indent="-76644">
                  <a:lnSpc>
                    <a:spcPts val="1275"/>
                  </a:lnSpc>
                  <a:buClr>
                    <a:srgbClr val="473633"/>
                  </a:buClr>
                  <a:buSzTx/>
                  <a:buFontTx/>
                  <a:buChar char="•"/>
                </a:pPr>
                <a:r>
                  <a:rPr lang="zh-CN" sz="710" dirty="0">
                    <a:solidFill>
                      <a:srgbClr val="473633"/>
                    </a:solidFill>
                    <a:latin typeface="+mn-lt"/>
                    <a:ea typeface="+mn-ea"/>
                    <a:cs typeface="+mn-cs"/>
                  </a:rPr>
                  <a:t>口径不统一​​</a:t>
                </a:r>
              </a:p>
              <a:p>
                <a:pPr algn="l" marL="76644" indent="-76644">
                  <a:lnSpc>
                    <a:spcPts val="1275"/>
                  </a:lnSpc>
                  <a:buClr>
                    <a:srgbClr val="473633"/>
                  </a:buClr>
                  <a:buSzTx/>
                  <a:buFontTx/>
                  <a:buChar char="•"/>
                </a:pPr>
                <a:r>
                  <a:rPr lang="zh-CN" sz="710" dirty="0">
                    <a:solidFill>
                      <a:srgbClr val="473633"/>
                    </a:solidFill>
                    <a:latin typeface="+mn-lt"/>
                    <a:ea typeface="+mn-ea"/>
                    <a:cs typeface="+mn-cs"/>
                  </a:rPr>
                  <a:t>洞察深度不足​​</a:t>
                </a:r>
              </a:p>
              <a:p>
                <a:pPr algn="l" marL="76644" indent="-76644">
                  <a:lnSpc>
                    <a:spcPts val="1275"/>
                  </a:lnSpc>
                  <a:buClr>
                    <a:srgbClr val="473633"/>
                  </a:buClr>
                  <a:buSzTx/>
                  <a:buFontTx/>
                  <a:buChar char="•"/>
                </a:pPr>
                <a:r>
                  <a:rPr lang="zh-CN" sz="710" dirty="0">
                    <a:solidFill>
                      <a:srgbClr val="473633"/>
                    </a:solidFill>
                    <a:latin typeface="+mn-lt"/>
                    <a:ea typeface="+mn-ea"/>
                    <a:cs typeface="+mn-cs"/>
                  </a:rPr>
                  <a:t>数据应用不足​​</a:t>
                </a:r>
              </a:p>
            </p:txBody>
          </p:sp>
        </p:grpSp>
      </p:grpSp>
      <p:grpSp>
        <p:nvGrpSpPr>
          <p:cNvPr id="125" name="priority-matrix"/>
          <p:cNvGrpSpPr/>
          <p:nvPr/>
        </p:nvGrpSpPr>
        <p:grpSpPr>
          <a:xfrm>
            <a:off x="8724900" y="723900"/>
            <a:ext cx="3200400" cy="2930366"/>
            <a:chOff x="8724900" y="723900"/>
            <a:chExt cx="3200400" cy="2930366"/>
          </a:xfrm>
        </p:grpSpPr>
        <p:sp>
          <p:nvSpPr>
            <p:cNvPr id="89" name="Rectangle 89"/>
            <p:cNvSpPr/>
            <p:nvPr/>
          </p:nvSpPr>
          <p:spPr>
            <a:xfrm>
              <a:off x="8724900" y="857250"/>
              <a:ext cx="3200400" cy="2762250"/>
            </a:xfrm>
            <a:prstGeom prst="roundRect">
              <a:avLst>
                <a:gd name="adj" fmla="val 2759"/>
              </a:avLst>
            </a:prstGeom>
            <a:solidFill>
              <a:srgbClr val="FFFFFF"/>
            </a:solidFill>
            <a:ln w="9525">
              <a:solidFill>
                <a:srgbClr val="F7D1C9"/>
              </a:solidFill>
            </a:ln>
          </p:spPr>
        </p:sp>
        <p:sp>
          <p:nvSpPr>
            <p:cNvPr id="90" name="Rectangle 90"/>
            <p:cNvSpPr/>
            <p:nvPr/>
          </p:nvSpPr>
          <p:spPr>
            <a:xfrm>
              <a:off x="9010650" y="723900"/>
              <a:ext cx="2628900" cy="247650"/>
            </a:xfrm>
            <a:prstGeom prst="roundRect">
              <a:avLst>
                <a:gd name="adj" fmla="val 23077"/>
              </a:avLst>
            </a:prstGeom>
            <a:solidFill>
              <a:srgbClr val="6E1604"/>
            </a:solidFill>
            <a:ln>
              <a:noFill/>
            </a:ln>
          </p:spPr>
        </p:sp>
        <p:sp>
          <p:nvSpPr>
            <p:cNvPr id="91" name="TextBox 91"/>
            <p:cNvSpPr txBox="1"/>
            <p:nvPr/>
          </p:nvSpPr>
          <p:spPr>
            <a:xfrm>
              <a:off x="9202720" y="790099"/>
              <a:ext cx="224476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三、优先级矩阵：影响度 × 可控度​​​</a:t>
              </a:r>
            </a:p>
          </p:txBody>
        </p:sp>
        <p:sp>
          <p:nvSpPr>
            <p:cNvPr id="92" name="Line 92"/>
            <p:cNvSpPr/>
            <p:nvPr/>
          </p:nvSpPr>
          <p:spPr>
            <a:xfrm flipV="1">
              <a:off x="9144000" y="1123950"/>
              <a:ext cx="1" cy="2133600"/>
            </a:xfrm>
            <a:prstGeom prst="line">
              <a:avLst/>
            </a:prstGeom>
            <a:noFill/>
            <a:ln w="15240">
              <a:solidFill>
                <a:srgbClr val="D44B2F"/>
              </a:solidFill>
              <a:tailEnd type="triangle" w="lg" len="lg"/>
            </a:ln>
          </p:spPr>
        </p:sp>
        <p:sp>
          <p:nvSpPr>
            <p:cNvPr id="93" name="Line 93"/>
            <p:cNvSpPr/>
            <p:nvPr/>
          </p:nvSpPr>
          <p:spPr>
            <a:xfrm>
              <a:off x="9144000" y="3257550"/>
              <a:ext cx="2724150" cy="1"/>
            </a:xfrm>
            <a:prstGeom prst="line">
              <a:avLst/>
            </a:prstGeom>
            <a:noFill/>
            <a:ln w="15240">
              <a:solidFill>
                <a:srgbClr val="D44B2F"/>
              </a:solidFill>
              <a:tailEnd type="triangle" w="lg" len="lg"/>
            </a:ln>
          </p:spPr>
        </p:sp>
        <p:sp>
          <p:nvSpPr>
            <p:cNvPr id="94" name="TextBox 94"/>
            <p:cNvSpPr txBox="1"/>
            <p:nvPr/>
          </p:nvSpPr>
          <p:spPr>
            <a:xfrm>
              <a:off x="8950693" y="1473041"/>
              <a:ext cx="119913"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高</a:t>
              </a:r>
            </a:p>
          </p:txBody>
        </p:sp>
        <p:sp>
          <p:nvSpPr>
            <p:cNvPr id="95" name="TextBox 95"/>
            <p:cNvSpPr txBox="1"/>
            <p:nvPr/>
          </p:nvSpPr>
          <p:spPr>
            <a:xfrm>
              <a:off x="8950693" y="2158841"/>
              <a:ext cx="119913"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中</a:t>
              </a:r>
            </a:p>
          </p:txBody>
        </p:sp>
        <p:sp>
          <p:nvSpPr>
            <p:cNvPr id="96" name="TextBox 96"/>
            <p:cNvSpPr txBox="1"/>
            <p:nvPr/>
          </p:nvSpPr>
          <p:spPr>
            <a:xfrm>
              <a:off x="8950693" y="2825591"/>
              <a:ext cx="119913"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低</a:t>
              </a:r>
            </a:p>
          </p:txBody>
        </p:sp>
        <p:sp>
          <p:nvSpPr>
            <p:cNvPr id="97" name="TextBox 97"/>
            <p:cNvSpPr txBox="1"/>
            <p:nvPr/>
          </p:nvSpPr>
          <p:spPr>
            <a:xfrm>
              <a:off x="9541243" y="3339941"/>
              <a:ext cx="119913"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低</a:t>
              </a:r>
            </a:p>
          </p:txBody>
        </p:sp>
        <p:sp>
          <p:nvSpPr>
            <p:cNvPr id="98" name="TextBox 98"/>
            <p:cNvSpPr txBox="1"/>
            <p:nvPr/>
          </p:nvSpPr>
          <p:spPr>
            <a:xfrm>
              <a:off x="10427068" y="3339941"/>
              <a:ext cx="119913"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中</a:t>
              </a:r>
            </a:p>
          </p:txBody>
        </p:sp>
        <p:sp>
          <p:nvSpPr>
            <p:cNvPr id="99" name="TextBox 99"/>
            <p:cNvSpPr txBox="1"/>
            <p:nvPr/>
          </p:nvSpPr>
          <p:spPr>
            <a:xfrm>
              <a:off x="11312893" y="3339941"/>
              <a:ext cx="119913" cy="161925"/>
            </a:xfrm>
            <a:prstGeom prst="rect">
              <a:avLst/>
            </a:prstGeom>
            <a:noFill/>
            <a:ln>
              <a:noFill/>
            </a:ln>
          </p:spPr>
          <p:txBody>
            <a:bodyPr wrap="none" lIns="0" tIns="0" rIns="0" bIns="0" anchor="t" anchorCtr="0">
              <a:spAutoFit/>
            </a:bodyPr>
            <a:lstStyle/>
            <a:p>
              <a:pPr algn="ctr"/>
              <a:r>
                <a:rPr lang="zh-CN" sz="820" dirty="0">
                  <a:solidFill>
                    <a:srgbClr val="473633"/>
                  </a:solidFill>
                  <a:latin typeface="+mn-lt"/>
                  <a:ea typeface="+mn-ea"/>
                  <a:cs typeface="+mn-cs"/>
                </a:rPr>
                <a:t>高</a:t>
              </a:r>
            </a:p>
          </p:txBody>
        </p:sp>
        <p:sp>
          <p:nvSpPr>
            <p:cNvPr id="100" name="TextBox 100"/>
            <p:cNvSpPr txBox="1"/>
            <p:nvPr/>
          </p:nvSpPr>
          <p:spPr>
            <a:xfrm>
              <a:off x="10261486" y="3492341"/>
              <a:ext cx="451079" cy="161925"/>
            </a:xfrm>
            <a:prstGeom prst="rect">
              <a:avLst/>
            </a:prstGeom>
            <a:noFill/>
            <a:ln>
              <a:noFill/>
            </a:ln>
          </p:spPr>
          <p:txBody>
            <a:bodyPr wrap="none" lIns="0" tIns="0" rIns="0" bIns="0" anchor="t" anchorCtr="0">
              <a:spAutoFit/>
            </a:bodyPr>
            <a:lstStyle/>
            <a:p>
              <a:pPr algn="ctr"/>
              <a:r>
                <a:rPr lang="zh-CN" sz="820" b="1" dirty="0">
                  <a:solidFill>
                    <a:srgbClr val="6E1604"/>
                  </a:solidFill>
                  <a:latin typeface="+mn-lt"/>
                  <a:ea typeface="+mn-ea"/>
                  <a:cs typeface="+mn-cs"/>
                </a:rPr>
                <a:t>可控程度</a:t>
              </a:r>
            </a:p>
          </p:txBody>
        </p:sp>
        <p:sp>
          <p:nvSpPr>
            <p:cNvPr id="101" name="Rectangle 101"/>
            <p:cNvSpPr/>
            <p:nvPr/>
          </p:nvSpPr>
          <p:spPr>
            <a:xfrm>
              <a:off x="9182100" y="1219200"/>
              <a:ext cx="866775" cy="647700"/>
            </a:xfrm>
            <a:prstGeom prst="rect">
              <a:avLst/>
            </a:prstGeom>
            <a:solidFill>
              <a:srgbClr val="FDCCC2"/>
            </a:solidFill>
            <a:ln>
              <a:noFill/>
            </a:ln>
          </p:spPr>
        </p:sp>
        <p:sp>
          <p:nvSpPr>
            <p:cNvPr id="102" name="Rectangle 102"/>
            <p:cNvSpPr/>
            <p:nvPr/>
          </p:nvSpPr>
          <p:spPr>
            <a:xfrm>
              <a:off x="10067925" y="1219200"/>
              <a:ext cx="866775" cy="647700"/>
            </a:xfrm>
            <a:prstGeom prst="rect">
              <a:avLst/>
            </a:prstGeom>
            <a:solidFill>
              <a:srgbClr val="D44B2F"/>
            </a:solidFill>
            <a:ln>
              <a:noFill/>
            </a:ln>
          </p:spPr>
        </p:sp>
        <p:sp>
          <p:nvSpPr>
            <p:cNvPr id="103" name="Rectangle 103"/>
            <p:cNvSpPr/>
            <p:nvPr/>
          </p:nvSpPr>
          <p:spPr>
            <a:xfrm>
              <a:off x="10953750" y="1219200"/>
              <a:ext cx="866775" cy="647700"/>
            </a:xfrm>
            <a:prstGeom prst="rect">
              <a:avLst/>
            </a:prstGeom>
            <a:solidFill>
              <a:srgbClr val="B92102"/>
            </a:solidFill>
            <a:ln>
              <a:noFill/>
            </a:ln>
          </p:spPr>
        </p:sp>
        <p:sp>
          <p:nvSpPr>
            <p:cNvPr id="104" name="Rectangle 104"/>
            <p:cNvSpPr/>
            <p:nvPr/>
          </p:nvSpPr>
          <p:spPr>
            <a:xfrm>
              <a:off x="9182100" y="1885950"/>
              <a:ext cx="866775" cy="647700"/>
            </a:xfrm>
            <a:prstGeom prst="rect">
              <a:avLst/>
            </a:prstGeom>
            <a:solidFill>
              <a:srgbClr val="EAF3FE"/>
            </a:solidFill>
            <a:ln>
              <a:noFill/>
            </a:ln>
          </p:spPr>
        </p:sp>
        <p:sp>
          <p:nvSpPr>
            <p:cNvPr id="105" name="Rectangle 105"/>
            <p:cNvSpPr/>
            <p:nvPr/>
          </p:nvSpPr>
          <p:spPr>
            <a:xfrm>
              <a:off x="10067925" y="1885950"/>
              <a:ext cx="866775" cy="647700"/>
            </a:xfrm>
            <a:prstGeom prst="rect">
              <a:avLst/>
            </a:prstGeom>
            <a:solidFill>
              <a:srgbClr val="FDCCC2"/>
            </a:solidFill>
            <a:ln>
              <a:noFill/>
            </a:ln>
          </p:spPr>
        </p:sp>
        <p:sp>
          <p:nvSpPr>
            <p:cNvPr id="106" name="Rectangle 106"/>
            <p:cNvSpPr/>
            <p:nvPr/>
          </p:nvSpPr>
          <p:spPr>
            <a:xfrm>
              <a:off x="10953750" y="1885950"/>
              <a:ext cx="866775" cy="647700"/>
            </a:xfrm>
            <a:prstGeom prst="rect">
              <a:avLst/>
            </a:prstGeom>
            <a:solidFill>
              <a:srgbClr val="D9705B"/>
            </a:solidFill>
            <a:ln>
              <a:noFill/>
            </a:ln>
          </p:spPr>
        </p:sp>
        <p:sp>
          <p:nvSpPr>
            <p:cNvPr id="107" name="Rectangle 107"/>
            <p:cNvSpPr/>
            <p:nvPr/>
          </p:nvSpPr>
          <p:spPr>
            <a:xfrm>
              <a:off x="9182100" y="2552700"/>
              <a:ext cx="866775" cy="647700"/>
            </a:xfrm>
            <a:prstGeom prst="rect">
              <a:avLst/>
            </a:prstGeom>
            <a:solidFill>
              <a:srgbClr val="F2F7FE"/>
            </a:solidFill>
            <a:ln>
              <a:noFill/>
            </a:ln>
          </p:spPr>
        </p:sp>
        <p:sp>
          <p:nvSpPr>
            <p:cNvPr id="108" name="Rectangle 108"/>
            <p:cNvSpPr/>
            <p:nvPr/>
          </p:nvSpPr>
          <p:spPr>
            <a:xfrm>
              <a:off x="10067925" y="2552700"/>
              <a:ext cx="866775" cy="647700"/>
            </a:xfrm>
            <a:prstGeom prst="rect">
              <a:avLst/>
            </a:prstGeom>
            <a:solidFill>
              <a:srgbClr val="F2F7FE"/>
            </a:solidFill>
            <a:ln>
              <a:noFill/>
            </a:ln>
          </p:spPr>
        </p:sp>
        <p:sp>
          <p:nvSpPr>
            <p:cNvPr id="109" name="Rectangle 109"/>
            <p:cNvSpPr/>
            <p:nvPr/>
          </p:nvSpPr>
          <p:spPr>
            <a:xfrm>
              <a:off x="10953750" y="2552700"/>
              <a:ext cx="866775" cy="647700"/>
            </a:xfrm>
            <a:prstGeom prst="rect">
              <a:avLst/>
            </a:prstGeom>
            <a:solidFill>
              <a:srgbClr val="F2F7FE"/>
            </a:solidFill>
            <a:ln>
              <a:noFill/>
            </a:ln>
          </p:spPr>
        </p:sp>
        <p:sp>
          <p:nvSpPr>
            <p:cNvPr id="110" name="TextBox 110"/>
            <p:cNvSpPr txBox="1"/>
            <p:nvPr/>
          </p:nvSpPr>
          <p:spPr>
            <a:xfrm>
              <a:off x="9476015" y="1372552"/>
              <a:ext cx="269420" cy="205359"/>
            </a:xfrm>
            <a:prstGeom prst="rect">
              <a:avLst/>
            </a:prstGeom>
            <a:noFill/>
            <a:ln>
              <a:noFill/>
            </a:ln>
          </p:spPr>
          <p:txBody>
            <a:bodyPr wrap="none" lIns="0" tIns="0" rIns="0" bIns="0" anchor="t" anchorCtr="0">
              <a:spAutoFit/>
            </a:bodyPr>
            <a:lstStyle/>
            <a:p>
              <a:pPr algn="ctr"/>
              <a:r>
                <a:rPr lang="en-US" sz="1050" b="1" dirty="0">
                  <a:solidFill>
                    <a:srgbClr val="6E1604"/>
                  </a:solidFill>
                  <a:latin typeface="+mn-lt"/>
                  <a:ea typeface="+mn-ea"/>
                  <a:cs typeface="+mn-cs"/>
                </a:rPr>
                <a:t>P3​</a:t>
              </a:r>
            </a:p>
          </p:txBody>
        </p:sp>
        <p:sp>
          <p:nvSpPr>
            <p:cNvPr id="111" name="TextBox 111"/>
            <p:cNvSpPr txBox="1"/>
            <p:nvPr/>
          </p:nvSpPr>
          <p:spPr>
            <a:xfrm>
              <a:off x="9303068" y="1595438"/>
              <a:ext cx="615315"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渠道覆盖优化</a:t>
              </a:r>
            </a:p>
          </p:txBody>
        </p:sp>
        <p:sp>
          <p:nvSpPr>
            <p:cNvPr id="112" name="TextBox 112"/>
            <p:cNvSpPr txBox="1"/>
            <p:nvPr/>
          </p:nvSpPr>
          <p:spPr>
            <a:xfrm>
              <a:off x="10361840" y="1372552"/>
              <a:ext cx="26942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P1​</a:t>
              </a:r>
            </a:p>
          </p:txBody>
        </p:sp>
        <p:sp>
          <p:nvSpPr>
            <p:cNvPr id="113" name="TextBox 113"/>
            <p:cNvSpPr txBox="1"/>
            <p:nvPr/>
          </p:nvSpPr>
          <p:spPr>
            <a:xfrm>
              <a:off x="10188892" y="1595438"/>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名单质量提升</a:t>
              </a:r>
            </a:p>
          </p:txBody>
        </p:sp>
        <p:sp>
          <p:nvSpPr>
            <p:cNvPr id="114" name="TextBox 114"/>
            <p:cNvSpPr txBox="1"/>
            <p:nvPr/>
          </p:nvSpPr>
          <p:spPr>
            <a:xfrm>
              <a:off x="11247665" y="1372552"/>
              <a:ext cx="26942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P2​</a:t>
              </a:r>
            </a:p>
          </p:txBody>
        </p:sp>
        <p:sp>
          <p:nvSpPr>
            <p:cNvPr id="115" name="TextBox 115"/>
            <p:cNvSpPr txBox="1"/>
            <p:nvPr/>
          </p:nvSpPr>
          <p:spPr>
            <a:xfrm>
              <a:off x="11074718" y="1595438"/>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跟进节奏优化</a:t>
              </a:r>
            </a:p>
          </p:txBody>
        </p:sp>
        <p:sp>
          <p:nvSpPr>
            <p:cNvPr id="116" name="TextBox 116"/>
            <p:cNvSpPr txBox="1"/>
            <p:nvPr/>
          </p:nvSpPr>
          <p:spPr>
            <a:xfrm>
              <a:off x="9476015" y="2039302"/>
              <a:ext cx="269420" cy="205359"/>
            </a:xfrm>
            <a:prstGeom prst="rect">
              <a:avLst/>
            </a:prstGeom>
            <a:noFill/>
            <a:ln>
              <a:noFill/>
            </a:ln>
          </p:spPr>
          <p:txBody>
            <a:bodyPr wrap="none" lIns="0" tIns="0" rIns="0" bIns="0" anchor="t" anchorCtr="0">
              <a:spAutoFit/>
            </a:bodyPr>
            <a:lstStyle/>
            <a:p>
              <a:pPr algn="ctr"/>
              <a:r>
                <a:rPr lang="en-US" sz="1050" b="1" dirty="0">
                  <a:solidFill>
                    <a:srgbClr val="6E1604"/>
                  </a:solidFill>
                  <a:latin typeface="+mn-lt"/>
                  <a:ea typeface="+mn-ea"/>
                  <a:cs typeface="+mn-cs"/>
                </a:rPr>
                <a:t>P4​</a:t>
              </a:r>
            </a:p>
          </p:txBody>
        </p:sp>
        <p:sp>
          <p:nvSpPr>
            <p:cNvPr id="117" name="TextBox 117"/>
            <p:cNvSpPr txBox="1"/>
            <p:nvPr/>
          </p:nvSpPr>
          <p:spPr>
            <a:xfrm>
              <a:off x="9303068" y="2262188"/>
              <a:ext cx="615315"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产品组合优化</a:t>
              </a:r>
            </a:p>
          </p:txBody>
        </p:sp>
        <p:sp>
          <p:nvSpPr>
            <p:cNvPr id="118" name="TextBox 118"/>
            <p:cNvSpPr txBox="1"/>
            <p:nvPr/>
          </p:nvSpPr>
          <p:spPr>
            <a:xfrm>
              <a:off x="10361840" y="2039302"/>
              <a:ext cx="269420" cy="205359"/>
            </a:xfrm>
            <a:prstGeom prst="rect">
              <a:avLst/>
            </a:prstGeom>
            <a:noFill/>
            <a:ln>
              <a:noFill/>
            </a:ln>
          </p:spPr>
          <p:txBody>
            <a:bodyPr wrap="none" lIns="0" tIns="0" rIns="0" bIns="0" anchor="t" anchorCtr="0">
              <a:spAutoFit/>
            </a:bodyPr>
            <a:lstStyle/>
            <a:p>
              <a:pPr algn="ctr"/>
              <a:r>
                <a:rPr lang="en-US" sz="1050" b="1" dirty="0">
                  <a:solidFill>
                    <a:srgbClr val="6E1604"/>
                  </a:solidFill>
                  <a:latin typeface="+mn-lt"/>
                  <a:ea typeface="+mn-ea"/>
                  <a:cs typeface="+mn-cs"/>
                </a:rPr>
                <a:t>P5​</a:t>
              </a:r>
            </a:p>
          </p:txBody>
        </p:sp>
        <p:sp>
          <p:nvSpPr>
            <p:cNvPr id="119" name="TextBox 119"/>
            <p:cNvSpPr txBox="1"/>
            <p:nvPr/>
          </p:nvSpPr>
          <p:spPr>
            <a:xfrm>
              <a:off x="10188892" y="2262188"/>
              <a:ext cx="615315"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协同效率提升</a:t>
              </a:r>
            </a:p>
          </p:txBody>
        </p:sp>
        <p:sp>
          <p:nvSpPr>
            <p:cNvPr id="120" name="TextBox 120"/>
            <p:cNvSpPr txBox="1"/>
            <p:nvPr/>
          </p:nvSpPr>
          <p:spPr>
            <a:xfrm>
              <a:off x="11247665" y="2039302"/>
              <a:ext cx="26942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P6​</a:t>
              </a:r>
            </a:p>
          </p:txBody>
        </p:sp>
        <p:sp>
          <p:nvSpPr>
            <p:cNvPr id="121" name="TextBox 121"/>
            <p:cNvSpPr txBox="1"/>
            <p:nvPr/>
          </p:nvSpPr>
          <p:spPr>
            <a:xfrm>
              <a:off x="11074718" y="2262188"/>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团队能力提升</a:t>
              </a:r>
            </a:p>
          </p:txBody>
        </p:sp>
        <p:sp>
          <p:nvSpPr>
            <p:cNvPr id="122" name="TextBox 122"/>
            <p:cNvSpPr txBox="1"/>
            <p:nvPr/>
          </p:nvSpPr>
          <p:spPr>
            <a:xfrm>
              <a:off x="9506007" y="2817495"/>
              <a:ext cx="209436" cy="176212"/>
            </a:xfrm>
            <a:prstGeom prst="rect">
              <a:avLst/>
            </a:prstGeom>
            <a:noFill/>
            <a:ln>
              <a:noFill/>
            </a:ln>
          </p:spPr>
          <p:txBody>
            <a:bodyPr wrap="none" lIns="0" tIns="0" rIns="0" bIns="0" anchor="t" anchorCtr="0">
              <a:spAutoFit/>
            </a:bodyPr>
            <a:lstStyle/>
            <a:p>
              <a:pPr algn="ctr"/>
              <a:r>
                <a:rPr lang="zh-CN" sz="900" dirty="0">
                  <a:solidFill>
                    <a:srgbClr val="6B7280"/>
                  </a:solidFill>
                  <a:latin typeface="+mn-lt"/>
                  <a:ea typeface="+mn-ea"/>
                  <a:cs typeface="+mn-cs"/>
                </a:rPr>
                <a:t>—​​</a:t>
              </a:r>
            </a:p>
          </p:txBody>
        </p:sp>
        <p:sp>
          <p:nvSpPr>
            <p:cNvPr id="123" name="TextBox 123"/>
            <p:cNvSpPr txBox="1"/>
            <p:nvPr/>
          </p:nvSpPr>
          <p:spPr>
            <a:xfrm>
              <a:off x="10391832" y="2817495"/>
              <a:ext cx="209436" cy="176212"/>
            </a:xfrm>
            <a:prstGeom prst="rect">
              <a:avLst/>
            </a:prstGeom>
            <a:noFill/>
            <a:ln>
              <a:noFill/>
            </a:ln>
          </p:spPr>
          <p:txBody>
            <a:bodyPr wrap="none" lIns="0" tIns="0" rIns="0" bIns="0" anchor="t" anchorCtr="0">
              <a:spAutoFit/>
            </a:bodyPr>
            <a:lstStyle/>
            <a:p>
              <a:pPr algn="ctr"/>
              <a:r>
                <a:rPr lang="zh-CN" sz="900" dirty="0">
                  <a:solidFill>
                    <a:srgbClr val="6B7280"/>
                  </a:solidFill>
                  <a:latin typeface="+mn-lt"/>
                  <a:ea typeface="+mn-ea"/>
                  <a:cs typeface="+mn-cs"/>
                </a:rPr>
                <a:t>—​​</a:t>
              </a:r>
            </a:p>
          </p:txBody>
        </p:sp>
        <p:sp>
          <p:nvSpPr>
            <p:cNvPr id="124" name="TextBox 124"/>
            <p:cNvSpPr txBox="1"/>
            <p:nvPr/>
          </p:nvSpPr>
          <p:spPr>
            <a:xfrm>
              <a:off x="11277657" y="2817495"/>
              <a:ext cx="209436" cy="176212"/>
            </a:xfrm>
            <a:prstGeom prst="rect">
              <a:avLst/>
            </a:prstGeom>
            <a:noFill/>
            <a:ln>
              <a:noFill/>
            </a:ln>
          </p:spPr>
          <p:txBody>
            <a:bodyPr wrap="none" lIns="0" tIns="0" rIns="0" bIns="0" anchor="t" anchorCtr="0">
              <a:spAutoFit/>
            </a:bodyPr>
            <a:lstStyle/>
            <a:p>
              <a:pPr algn="ctr"/>
              <a:r>
                <a:rPr lang="zh-CN" sz="900" dirty="0">
                  <a:solidFill>
                    <a:srgbClr val="6B7280"/>
                  </a:solidFill>
                  <a:latin typeface="+mn-lt"/>
                  <a:ea typeface="+mn-ea"/>
                  <a:cs typeface="+mn-cs"/>
                </a:rPr>
                <a:t>—​​</a:t>
              </a:r>
            </a:p>
          </p:txBody>
        </p:sp>
      </p:grpSp>
      <p:grpSp>
        <p:nvGrpSpPr>
          <p:cNvPr id="187" name="improvement-table"/>
          <p:cNvGrpSpPr/>
          <p:nvPr/>
        </p:nvGrpSpPr>
        <p:grpSpPr>
          <a:xfrm>
            <a:off x="266700" y="3733800"/>
            <a:ext cx="11658600" cy="2838450"/>
            <a:chOff x="266700" y="3733800"/>
            <a:chExt cx="11658600" cy="2838450"/>
          </a:xfrm>
        </p:grpSpPr>
        <p:sp>
          <p:nvSpPr>
            <p:cNvPr id="126" name="Rectangle 126"/>
            <p:cNvSpPr/>
            <p:nvPr/>
          </p:nvSpPr>
          <p:spPr>
            <a:xfrm>
              <a:off x="266700" y="3733800"/>
              <a:ext cx="11658600" cy="2838450"/>
            </a:xfrm>
            <a:prstGeom prst="roundRect">
              <a:avLst>
                <a:gd name="adj" fmla="val 2013"/>
              </a:avLst>
            </a:prstGeom>
            <a:solidFill>
              <a:srgbClr val="FFFFFF"/>
            </a:solidFill>
            <a:ln w="9525">
              <a:solidFill>
                <a:srgbClr val="F7D1C9"/>
              </a:solidFill>
            </a:ln>
          </p:spPr>
        </p:sp>
        <p:sp>
          <p:nvSpPr>
            <p:cNvPr id="127" name="Freeform 127"/>
            <p:cNvSpPr/>
            <p:nvPr/>
          </p:nvSpPr>
          <p:spPr>
            <a:xfrm>
              <a:off x="266700" y="3733800"/>
              <a:ext cx="11658600" cy="228600"/>
            </a:xfrm>
            <a:custGeom>
              <a:avLst/>
              <a:gdLst/>
              <a:ahLst/>
              <a:cxnLst/>
              <a:rect l="l" t="t" r="r" b="b"/>
              <a:pathLst>
                <a:path w="11658600" h="228600">
                  <a:moveTo>
                    <a:pt x="0" y="57150"/>
                  </a:moveTo>
                  <a:cubicBezTo>
                    <a:pt x="0" y="25587"/>
                    <a:pt x="25587" y="0"/>
                    <a:pt x="57150" y="0"/>
                  </a:cubicBezTo>
                  <a:lnTo>
                    <a:pt x="11601450" y="0"/>
                  </a:lnTo>
                  <a:cubicBezTo>
                    <a:pt x="11633013" y="0"/>
                    <a:pt x="11658600" y="25587"/>
                    <a:pt x="11658600" y="57150"/>
                  </a:cubicBezTo>
                  <a:lnTo>
                    <a:pt x="11658600" y="228600"/>
                  </a:lnTo>
                  <a:lnTo>
                    <a:pt x="0" y="228600"/>
                  </a:lnTo>
                  <a:close/>
                </a:path>
              </a:pathLst>
            </a:custGeom>
            <a:solidFill>
              <a:srgbClr val="6E1604"/>
            </a:solidFill>
            <a:ln>
              <a:noFill/>
            </a:ln>
          </p:spPr>
        </p:sp>
        <p:sp>
          <p:nvSpPr>
            <p:cNvPr id="128" name="TextBox 128"/>
            <p:cNvSpPr txBox="1"/>
            <p:nvPr/>
          </p:nvSpPr>
          <p:spPr>
            <a:xfrm>
              <a:off x="5546026" y="3798570"/>
              <a:ext cx="109994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四、问题与改进清单</a:t>
              </a:r>
            </a:p>
          </p:txBody>
        </p:sp>
        <p:sp>
          <p:nvSpPr>
            <p:cNvPr id="129" name="Rectangle 129"/>
            <p:cNvSpPr/>
            <p:nvPr/>
          </p:nvSpPr>
          <p:spPr>
            <a:xfrm>
              <a:off x="266700" y="3962400"/>
              <a:ext cx="11658600" cy="228600"/>
            </a:xfrm>
            <a:prstGeom prst="rect">
              <a:avLst/>
            </a:prstGeom>
            <a:solidFill>
              <a:srgbClr val="B92102"/>
            </a:solidFill>
            <a:ln>
              <a:noFill/>
            </a:ln>
          </p:spPr>
        </p:sp>
        <p:sp>
          <p:nvSpPr>
            <p:cNvPr id="130" name="TextBox 130"/>
            <p:cNvSpPr txBox="1"/>
            <p:nvPr/>
          </p:nvSpPr>
          <p:spPr>
            <a:xfrm>
              <a:off x="889114" y="403121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问题</a:t>
              </a:r>
            </a:p>
          </p:txBody>
        </p:sp>
        <p:sp>
          <p:nvSpPr>
            <p:cNvPr id="131" name="TextBox 131"/>
            <p:cNvSpPr txBox="1"/>
            <p:nvPr/>
          </p:nvSpPr>
          <p:spPr>
            <a:xfrm>
              <a:off x="2851264" y="403121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根因</a:t>
              </a:r>
            </a:p>
          </p:txBody>
        </p:sp>
        <p:sp>
          <p:nvSpPr>
            <p:cNvPr id="132" name="TextBox 132"/>
            <p:cNvSpPr txBox="1"/>
            <p:nvPr/>
          </p:nvSpPr>
          <p:spPr>
            <a:xfrm>
              <a:off x="5022964" y="403121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影响</a:t>
              </a:r>
            </a:p>
          </p:txBody>
        </p:sp>
        <p:sp>
          <p:nvSpPr>
            <p:cNvPr id="133" name="TextBox 133"/>
            <p:cNvSpPr txBox="1"/>
            <p:nvPr/>
          </p:nvSpPr>
          <p:spPr>
            <a:xfrm>
              <a:off x="7497991" y="403121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改进措施</a:t>
              </a:r>
            </a:p>
          </p:txBody>
        </p:sp>
        <p:sp>
          <p:nvSpPr>
            <p:cNvPr id="134" name="TextBox 134"/>
            <p:cNvSpPr txBox="1"/>
            <p:nvPr/>
          </p:nvSpPr>
          <p:spPr>
            <a:xfrm>
              <a:off x="9889503" y="4031218"/>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责任人</a:t>
              </a:r>
            </a:p>
          </p:txBody>
        </p:sp>
        <p:sp>
          <p:nvSpPr>
            <p:cNvPr id="135" name="TextBox 135"/>
            <p:cNvSpPr txBox="1"/>
            <p:nvPr/>
          </p:nvSpPr>
          <p:spPr>
            <a:xfrm>
              <a:off x="11223739" y="403121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时限</a:t>
              </a:r>
            </a:p>
          </p:txBody>
        </p:sp>
        <p:sp>
          <p:nvSpPr>
            <p:cNvPr id="136" name="Rectangle 136"/>
            <p:cNvSpPr/>
            <p:nvPr/>
          </p:nvSpPr>
          <p:spPr>
            <a:xfrm>
              <a:off x="276225" y="4591050"/>
              <a:ext cx="11639550" cy="390525"/>
            </a:xfrm>
            <a:prstGeom prst="rect">
              <a:avLst/>
            </a:prstGeom>
            <a:solidFill>
              <a:srgbClr val="F2F7FE"/>
            </a:solidFill>
            <a:ln>
              <a:noFill/>
            </a:ln>
          </p:spPr>
        </p:sp>
        <p:sp>
          <p:nvSpPr>
            <p:cNvPr id="137" name="Rectangle 137"/>
            <p:cNvSpPr/>
            <p:nvPr/>
          </p:nvSpPr>
          <p:spPr>
            <a:xfrm>
              <a:off x="276225" y="5372100"/>
              <a:ext cx="11639550" cy="390525"/>
            </a:xfrm>
            <a:prstGeom prst="rect">
              <a:avLst/>
            </a:prstGeom>
            <a:solidFill>
              <a:srgbClr val="F2F7FE"/>
            </a:solidFill>
            <a:ln>
              <a:noFill/>
            </a:ln>
          </p:spPr>
        </p:sp>
        <p:sp>
          <p:nvSpPr>
            <p:cNvPr id="138" name="Rectangle 138"/>
            <p:cNvSpPr/>
            <p:nvPr/>
          </p:nvSpPr>
          <p:spPr>
            <a:xfrm>
              <a:off x="276225" y="6153150"/>
              <a:ext cx="11639550" cy="390525"/>
            </a:xfrm>
            <a:prstGeom prst="rect">
              <a:avLst/>
            </a:prstGeom>
            <a:solidFill>
              <a:srgbClr val="F2F7FE"/>
            </a:solidFill>
            <a:ln>
              <a:noFill/>
            </a:ln>
          </p:spPr>
        </p:sp>
        <p:sp>
          <p:nvSpPr>
            <p:cNvPr id="139" name="Line 139"/>
            <p:cNvSpPr/>
            <p:nvPr/>
          </p:nvSpPr>
          <p:spPr>
            <a:xfrm>
              <a:off x="1762125" y="4191000"/>
              <a:ext cx="9525" cy="2381250"/>
            </a:xfrm>
            <a:custGeom>
              <a:avLst/>
              <a:gdLst/>
              <a:ahLst/>
              <a:cxnLst/>
              <a:rect l="l" t="t" r="r" b="b"/>
              <a:pathLst>
                <a:path w="9525" h="2381250">
                  <a:moveTo>
                    <a:pt x="0" y="0"/>
                  </a:moveTo>
                  <a:lnTo>
                    <a:pt x="0" y="2381250"/>
                  </a:lnTo>
                </a:path>
              </a:pathLst>
            </a:custGeom>
            <a:noFill/>
            <a:ln w="9525">
              <a:solidFill>
                <a:srgbClr val="DCE6F8"/>
              </a:solidFill>
            </a:ln>
          </p:spPr>
        </p:sp>
        <p:sp>
          <p:nvSpPr>
            <p:cNvPr id="140" name="Line 140"/>
            <p:cNvSpPr/>
            <p:nvPr/>
          </p:nvSpPr>
          <p:spPr>
            <a:xfrm>
              <a:off x="4191000" y="4191000"/>
              <a:ext cx="9525" cy="2381250"/>
            </a:xfrm>
            <a:custGeom>
              <a:avLst/>
              <a:gdLst/>
              <a:ahLst/>
              <a:cxnLst/>
              <a:rect l="l" t="t" r="r" b="b"/>
              <a:pathLst>
                <a:path w="9525" h="2381250">
                  <a:moveTo>
                    <a:pt x="0" y="0"/>
                  </a:moveTo>
                  <a:lnTo>
                    <a:pt x="0" y="2381250"/>
                  </a:lnTo>
                </a:path>
              </a:pathLst>
            </a:custGeom>
            <a:noFill/>
            <a:ln w="9525">
              <a:solidFill>
                <a:srgbClr val="DCE6F8"/>
              </a:solidFill>
            </a:ln>
          </p:spPr>
        </p:sp>
        <p:sp>
          <p:nvSpPr>
            <p:cNvPr id="141" name="Line 141"/>
            <p:cNvSpPr/>
            <p:nvPr/>
          </p:nvSpPr>
          <p:spPr>
            <a:xfrm>
              <a:off x="6096000" y="4191000"/>
              <a:ext cx="9525" cy="2381250"/>
            </a:xfrm>
            <a:custGeom>
              <a:avLst/>
              <a:gdLst/>
              <a:ahLst/>
              <a:cxnLst/>
              <a:rect l="l" t="t" r="r" b="b"/>
              <a:pathLst>
                <a:path w="9525" h="2381250">
                  <a:moveTo>
                    <a:pt x="0" y="0"/>
                  </a:moveTo>
                  <a:lnTo>
                    <a:pt x="0" y="2381250"/>
                  </a:lnTo>
                </a:path>
              </a:pathLst>
            </a:custGeom>
            <a:noFill/>
            <a:ln w="9525">
              <a:solidFill>
                <a:srgbClr val="DCE6F8"/>
              </a:solidFill>
            </a:ln>
          </p:spPr>
        </p:sp>
        <p:sp>
          <p:nvSpPr>
            <p:cNvPr id="142" name="Line 142"/>
            <p:cNvSpPr/>
            <p:nvPr/>
          </p:nvSpPr>
          <p:spPr>
            <a:xfrm>
              <a:off x="9382125" y="4191000"/>
              <a:ext cx="9525" cy="2381250"/>
            </a:xfrm>
            <a:custGeom>
              <a:avLst/>
              <a:gdLst/>
              <a:ahLst/>
              <a:cxnLst/>
              <a:rect l="l" t="t" r="r" b="b"/>
              <a:pathLst>
                <a:path w="9525" h="2381250">
                  <a:moveTo>
                    <a:pt x="0" y="0"/>
                  </a:moveTo>
                  <a:lnTo>
                    <a:pt x="0" y="2381250"/>
                  </a:lnTo>
                </a:path>
              </a:pathLst>
            </a:custGeom>
            <a:noFill/>
            <a:ln w="9525">
              <a:solidFill>
                <a:srgbClr val="DCE6F8"/>
              </a:solidFill>
            </a:ln>
          </p:spPr>
        </p:sp>
        <p:sp>
          <p:nvSpPr>
            <p:cNvPr id="143" name="Line 143"/>
            <p:cNvSpPr/>
            <p:nvPr/>
          </p:nvSpPr>
          <p:spPr>
            <a:xfrm>
              <a:off x="10763250" y="4191000"/>
              <a:ext cx="9525" cy="2381250"/>
            </a:xfrm>
            <a:custGeom>
              <a:avLst/>
              <a:gdLst/>
              <a:ahLst/>
              <a:cxnLst/>
              <a:rect l="l" t="t" r="r" b="b"/>
              <a:pathLst>
                <a:path w="9525" h="2381250">
                  <a:moveTo>
                    <a:pt x="0" y="0"/>
                  </a:moveTo>
                  <a:lnTo>
                    <a:pt x="0" y="2381250"/>
                  </a:lnTo>
                </a:path>
              </a:pathLst>
            </a:custGeom>
            <a:noFill/>
            <a:ln w="9525">
              <a:solidFill>
                <a:srgbClr val="DCE6F8"/>
              </a:solidFill>
            </a:ln>
          </p:spPr>
        </p:sp>
        <p:grpSp>
          <p:nvGrpSpPr>
            <p:cNvPr id="149" name="imp-row-1"/>
            <p:cNvGrpSpPr/>
            <p:nvPr/>
          </p:nvGrpSpPr>
          <p:grpSpPr>
            <a:xfrm>
              <a:off x="376238" y="4295061"/>
              <a:ext cx="11154988" cy="264319"/>
              <a:chOff x="376238" y="4295061"/>
              <a:chExt cx="11154988" cy="264319"/>
            </a:xfrm>
          </p:grpSpPr>
          <p:sp>
            <p:nvSpPr>
              <p:cNvPr id="144" name="TextBox 144"/>
              <p:cNvSpPr txBox="1"/>
              <p:nvPr/>
            </p:nvSpPr>
            <p:spPr>
              <a:xfrm>
                <a:off x="376238" y="4344114"/>
                <a:ext cx="860323"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区域业绩分化明显</a:t>
                </a:r>
              </a:p>
            </p:txBody>
          </p:sp>
          <p:sp>
            <p:nvSpPr>
              <p:cNvPr id="145" name="TextBox 145"/>
              <p:cNvSpPr txBox="1"/>
              <p:nvPr/>
            </p:nvSpPr>
            <p:spPr>
              <a:xfrm>
                <a:off x="1862138" y="4352211"/>
                <a:ext cx="2164859"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客户分层不到位；渠道覆盖不均衡；激励约束不足​</a:t>
                </a:r>
              </a:p>
            </p:txBody>
          </p:sp>
          <p:sp>
            <p:nvSpPr>
              <p:cNvPr id="146" name="TextBox 146"/>
              <p:cNvSpPr txBox="1"/>
              <p:nvPr/>
            </p:nvSpPr>
            <p:spPr>
              <a:xfrm>
                <a:off x="4281488" y="4295061"/>
                <a:ext cx="1447736"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73633"/>
                    </a:solidFill>
                    <a:latin typeface="+mn-lt"/>
                    <a:ea typeface="+mn-ea"/>
                    <a:cs typeface="+mn-cs"/>
                  </a:rPr>
                  <a:t>部分区域增速低于目标XXpct；​​​​</a:t>
                </a:r>
                <a:br/>
                <a:r>
                  <a:rPr lang="zh-CN" sz="710" dirty="0">
                    <a:solidFill>
                      <a:srgbClr val="473633"/>
                    </a:solidFill>
                    <a:latin typeface="+mn-lt"/>
                    <a:ea typeface="+mn-ea"/>
                    <a:cs typeface="+mn-cs"/>
                  </a:rPr>
                  <a:t>整体规模增长受限XX亿元​​​​</a:t>
                </a:r>
              </a:p>
            </p:txBody>
          </p:sp>
          <p:sp>
            <p:nvSpPr>
              <p:cNvPr id="147" name="TextBox 147"/>
              <p:cNvSpPr txBox="1"/>
              <p:nvPr/>
            </p:nvSpPr>
            <p:spPr>
              <a:xfrm>
                <a:off x="9501188" y="4352211"/>
                <a:ext cx="947383"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XX（区域负责人）​​​</a:t>
                </a:r>
              </a:p>
            </p:txBody>
          </p:sp>
          <p:sp>
            <p:nvSpPr>
              <p:cNvPr id="148" name="TextBox 148"/>
              <p:cNvSpPr txBox="1"/>
              <p:nvPr/>
            </p:nvSpPr>
            <p:spPr>
              <a:xfrm>
                <a:off x="11157324" y="4352211"/>
                <a:ext cx="373902" cy="140494"/>
              </a:xfrm>
              <a:prstGeom prst="rect">
                <a:avLst/>
              </a:prstGeom>
              <a:noFill/>
              <a:ln>
                <a:noFill/>
              </a:ln>
            </p:spPr>
            <p:txBody>
              <a:bodyPr wrap="none" lIns="0" tIns="0" rIns="0" bIns="0" anchor="t" anchorCtr="0">
                <a:spAutoFit/>
              </a:bodyPr>
              <a:lstStyle/>
              <a:p>
                <a:pPr algn="ctr"/>
                <a:r>
                  <a:rPr lang="zh-CN" sz="710" dirty="0">
                    <a:solidFill>
                      <a:srgbClr val="473633"/>
                    </a:solidFill>
                    <a:latin typeface="+mn-lt"/>
                    <a:ea typeface="+mn-ea"/>
                    <a:cs typeface="+mn-cs"/>
                  </a:rPr>
                  <a:t>XX周​​​</a:t>
                </a:r>
              </a:p>
            </p:txBody>
          </p:sp>
        </p:grpSp>
        <p:grpSp>
          <p:nvGrpSpPr>
            <p:cNvPr id="155" name="imp-row-2"/>
            <p:cNvGrpSpPr/>
            <p:nvPr/>
          </p:nvGrpSpPr>
          <p:grpSpPr>
            <a:xfrm>
              <a:off x="376238" y="4685586"/>
              <a:ext cx="11154988" cy="264319"/>
              <a:chOff x="376238" y="4685586"/>
              <a:chExt cx="11154988" cy="264319"/>
            </a:xfrm>
          </p:grpSpPr>
          <p:sp>
            <p:nvSpPr>
              <p:cNvPr id="150" name="TextBox 150"/>
              <p:cNvSpPr txBox="1"/>
              <p:nvPr/>
            </p:nvSpPr>
            <p:spPr>
              <a:xfrm>
                <a:off x="376238" y="4734639"/>
                <a:ext cx="647624"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产品结构单一</a:t>
                </a:r>
              </a:p>
            </p:txBody>
          </p:sp>
          <p:sp>
            <p:nvSpPr>
              <p:cNvPr id="151" name="TextBox 151"/>
              <p:cNvSpPr txBox="1"/>
              <p:nvPr/>
            </p:nvSpPr>
            <p:spPr>
              <a:xfrm>
                <a:off x="1862138" y="4742736"/>
                <a:ext cx="1973698"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产品组合单一；差异化不明显；方案适配性弱​</a:t>
                </a:r>
              </a:p>
            </p:txBody>
          </p:sp>
          <p:sp>
            <p:nvSpPr>
              <p:cNvPr id="152" name="TextBox 152"/>
              <p:cNvSpPr txBox="1"/>
              <p:nvPr/>
            </p:nvSpPr>
            <p:spPr>
              <a:xfrm>
                <a:off x="4281488" y="4685586"/>
                <a:ext cx="1217803"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73633"/>
                    </a:solidFill>
                    <a:latin typeface="+mn-lt"/>
                    <a:ea typeface="+mn-ea"/>
                    <a:cs typeface="+mn-cs"/>
                  </a:rPr>
                  <a:t>中收占比低于目标XXpct；​​​</a:t>
                </a:r>
                <a:br/>
                <a:r>
                  <a:rPr lang="zh-CN" sz="710" dirty="0">
                    <a:solidFill>
                      <a:srgbClr val="473633"/>
                    </a:solidFill>
                    <a:latin typeface="+mn-lt"/>
                    <a:ea typeface="+mn-ea"/>
                    <a:cs typeface="+mn-cs"/>
                  </a:rPr>
                  <a:t>客户黏性不足</a:t>
                </a:r>
              </a:p>
            </p:txBody>
          </p:sp>
          <p:sp>
            <p:nvSpPr>
              <p:cNvPr id="153" name="TextBox 153"/>
              <p:cNvSpPr txBox="1"/>
              <p:nvPr/>
            </p:nvSpPr>
            <p:spPr>
              <a:xfrm>
                <a:off x="9501188" y="4742736"/>
                <a:ext cx="947383"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XX（产品负责人）​​​</a:t>
                </a:r>
              </a:p>
            </p:txBody>
          </p:sp>
          <p:sp>
            <p:nvSpPr>
              <p:cNvPr id="154" name="TextBox 154"/>
              <p:cNvSpPr txBox="1"/>
              <p:nvPr/>
            </p:nvSpPr>
            <p:spPr>
              <a:xfrm>
                <a:off x="11157324" y="4742736"/>
                <a:ext cx="373902" cy="140494"/>
              </a:xfrm>
              <a:prstGeom prst="rect">
                <a:avLst/>
              </a:prstGeom>
              <a:noFill/>
              <a:ln>
                <a:noFill/>
              </a:ln>
            </p:spPr>
            <p:txBody>
              <a:bodyPr wrap="none" lIns="0" tIns="0" rIns="0" bIns="0" anchor="t" anchorCtr="0">
                <a:spAutoFit/>
              </a:bodyPr>
              <a:lstStyle/>
              <a:p>
                <a:pPr algn="ctr"/>
                <a:r>
                  <a:rPr lang="zh-CN" sz="710" dirty="0">
                    <a:solidFill>
                      <a:srgbClr val="473633"/>
                    </a:solidFill>
                    <a:latin typeface="+mn-lt"/>
                    <a:ea typeface="+mn-ea"/>
                    <a:cs typeface="+mn-cs"/>
                  </a:rPr>
                  <a:t>XX周​​​</a:t>
                </a:r>
              </a:p>
            </p:txBody>
          </p:sp>
        </p:grpSp>
        <p:grpSp>
          <p:nvGrpSpPr>
            <p:cNvPr id="161" name="imp-row-3"/>
            <p:cNvGrpSpPr/>
            <p:nvPr/>
          </p:nvGrpSpPr>
          <p:grpSpPr>
            <a:xfrm>
              <a:off x="376238" y="5076111"/>
              <a:ext cx="11154988" cy="264319"/>
              <a:chOff x="376238" y="5076111"/>
              <a:chExt cx="11154988" cy="264319"/>
            </a:xfrm>
          </p:grpSpPr>
          <p:sp>
            <p:nvSpPr>
              <p:cNvPr id="156" name="TextBox 156"/>
              <p:cNvSpPr txBox="1"/>
              <p:nvPr/>
            </p:nvSpPr>
            <p:spPr>
              <a:xfrm>
                <a:off x="376238" y="5125164"/>
                <a:ext cx="753974"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转化率低于目标</a:t>
                </a:r>
              </a:p>
            </p:txBody>
          </p:sp>
          <p:sp>
            <p:nvSpPr>
              <p:cNvPr id="157" name="TextBox 157"/>
              <p:cNvSpPr txBox="1"/>
              <p:nvPr/>
            </p:nvSpPr>
            <p:spPr>
              <a:xfrm>
                <a:off x="1862138" y="5133261"/>
                <a:ext cx="2069278"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名单质量不高；跟进节奏不佳；方案销售能力弱​</a:t>
                </a:r>
              </a:p>
            </p:txBody>
          </p:sp>
          <p:sp>
            <p:nvSpPr>
              <p:cNvPr id="158" name="TextBox 158"/>
              <p:cNvSpPr txBox="1"/>
              <p:nvPr/>
            </p:nvSpPr>
            <p:spPr>
              <a:xfrm>
                <a:off x="4281488" y="5076111"/>
                <a:ext cx="1127633"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73633"/>
                    </a:solidFill>
                    <a:latin typeface="+mn-lt"/>
                    <a:ea typeface="+mn-ea"/>
                    <a:cs typeface="+mn-cs"/>
                  </a:rPr>
                  <a:t>转化率低于目标XXpct；​​​</a:t>
                </a:r>
                <a:br/>
                <a:r>
                  <a:rPr lang="zh-CN" sz="710" dirty="0">
                    <a:solidFill>
                      <a:srgbClr val="473633"/>
                    </a:solidFill>
                    <a:latin typeface="+mn-lt"/>
                    <a:ea typeface="+mn-ea"/>
                    <a:cs typeface="+mn-cs"/>
                  </a:rPr>
                  <a:t>线索浪费率XX%​​​​​</a:t>
                </a:r>
              </a:p>
            </p:txBody>
          </p:sp>
          <p:sp>
            <p:nvSpPr>
              <p:cNvPr id="159" name="TextBox 159"/>
              <p:cNvSpPr txBox="1"/>
              <p:nvPr/>
            </p:nvSpPr>
            <p:spPr>
              <a:xfrm>
                <a:off x="9501188" y="5133261"/>
                <a:ext cx="947383"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XX（营销负责人）​​​</a:t>
                </a:r>
              </a:p>
            </p:txBody>
          </p:sp>
          <p:sp>
            <p:nvSpPr>
              <p:cNvPr id="160" name="TextBox 160"/>
              <p:cNvSpPr txBox="1"/>
              <p:nvPr/>
            </p:nvSpPr>
            <p:spPr>
              <a:xfrm>
                <a:off x="11157324" y="5133261"/>
                <a:ext cx="373902" cy="140494"/>
              </a:xfrm>
              <a:prstGeom prst="rect">
                <a:avLst/>
              </a:prstGeom>
              <a:noFill/>
              <a:ln>
                <a:noFill/>
              </a:ln>
            </p:spPr>
            <p:txBody>
              <a:bodyPr wrap="none" lIns="0" tIns="0" rIns="0" bIns="0" anchor="t" anchorCtr="0">
                <a:spAutoFit/>
              </a:bodyPr>
              <a:lstStyle/>
              <a:p>
                <a:pPr algn="ctr"/>
                <a:r>
                  <a:rPr lang="zh-CN" sz="710" dirty="0">
                    <a:solidFill>
                      <a:srgbClr val="473633"/>
                    </a:solidFill>
                    <a:latin typeface="+mn-lt"/>
                    <a:ea typeface="+mn-ea"/>
                    <a:cs typeface="+mn-cs"/>
                  </a:rPr>
                  <a:t>XX周​​​</a:t>
                </a:r>
              </a:p>
            </p:txBody>
          </p:sp>
        </p:grpSp>
        <p:grpSp>
          <p:nvGrpSpPr>
            <p:cNvPr id="167" name="imp-row-4"/>
            <p:cNvGrpSpPr/>
            <p:nvPr/>
          </p:nvGrpSpPr>
          <p:grpSpPr>
            <a:xfrm>
              <a:off x="376238" y="5466636"/>
              <a:ext cx="11154988" cy="264319"/>
              <a:chOff x="376238" y="5466636"/>
              <a:chExt cx="11154988" cy="264319"/>
            </a:xfrm>
          </p:grpSpPr>
          <p:sp>
            <p:nvSpPr>
              <p:cNvPr id="162" name="TextBox 162"/>
              <p:cNvSpPr txBox="1"/>
              <p:nvPr/>
            </p:nvSpPr>
            <p:spPr>
              <a:xfrm>
                <a:off x="376238" y="5515689"/>
                <a:ext cx="860323"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跨条线协同效率低</a:t>
                </a:r>
              </a:p>
            </p:txBody>
          </p:sp>
          <p:sp>
            <p:nvSpPr>
              <p:cNvPr id="163" name="TextBox 163"/>
              <p:cNvSpPr txBox="1"/>
              <p:nvPr/>
            </p:nvSpPr>
            <p:spPr>
              <a:xfrm>
                <a:off x="1862138" y="5523786"/>
                <a:ext cx="2164859"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流程繁琐低效；协同机制不健全；数据口径不统一​</a:t>
                </a:r>
              </a:p>
            </p:txBody>
          </p:sp>
          <p:sp>
            <p:nvSpPr>
              <p:cNvPr id="164" name="TextBox 164"/>
              <p:cNvSpPr txBox="1"/>
              <p:nvPr/>
            </p:nvSpPr>
            <p:spPr>
              <a:xfrm>
                <a:off x="4281488" y="5466636"/>
                <a:ext cx="978852"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73633"/>
                    </a:solidFill>
                    <a:latin typeface="+mn-lt"/>
                    <a:ea typeface="+mn-ea"/>
                    <a:cs typeface="+mn-cs"/>
                  </a:rPr>
                  <a:t>项目周期延长XX天；​​​</a:t>
                </a:r>
                <a:br/>
                <a:r>
                  <a:rPr lang="zh-CN" sz="710" dirty="0">
                    <a:solidFill>
                      <a:srgbClr val="473633"/>
                    </a:solidFill>
                    <a:latin typeface="+mn-lt"/>
                    <a:ea typeface="+mn-ea"/>
                    <a:cs typeface="+mn-cs"/>
                  </a:rPr>
                  <a:t>客户体验下降</a:t>
                </a:r>
              </a:p>
            </p:txBody>
          </p:sp>
          <p:sp>
            <p:nvSpPr>
              <p:cNvPr id="165" name="TextBox 165"/>
              <p:cNvSpPr txBox="1"/>
              <p:nvPr/>
            </p:nvSpPr>
            <p:spPr>
              <a:xfrm>
                <a:off x="9501188" y="5523786"/>
                <a:ext cx="947383"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XX（运营负责人）​​​</a:t>
                </a:r>
              </a:p>
            </p:txBody>
          </p:sp>
          <p:sp>
            <p:nvSpPr>
              <p:cNvPr id="166" name="TextBox 166"/>
              <p:cNvSpPr txBox="1"/>
              <p:nvPr/>
            </p:nvSpPr>
            <p:spPr>
              <a:xfrm>
                <a:off x="11157324" y="5523786"/>
                <a:ext cx="373902" cy="140494"/>
              </a:xfrm>
              <a:prstGeom prst="rect">
                <a:avLst/>
              </a:prstGeom>
              <a:noFill/>
              <a:ln>
                <a:noFill/>
              </a:ln>
            </p:spPr>
            <p:txBody>
              <a:bodyPr wrap="none" lIns="0" tIns="0" rIns="0" bIns="0" anchor="t" anchorCtr="0">
                <a:spAutoFit/>
              </a:bodyPr>
              <a:lstStyle/>
              <a:p>
                <a:pPr algn="ctr"/>
                <a:r>
                  <a:rPr lang="zh-CN" sz="710" dirty="0">
                    <a:solidFill>
                      <a:srgbClr val="473633"/>
                    </a:solidFill>
                    <a:latin typeface="+mn-lt"/>
                    <a:ea typeface="+mn-ea"/>
                    <a:cs typeface="+mn-cs"/>
                  </a:rPr>
                  <a:t>XX周​​​</a:t>
                </a:r>
              </a:p>
            </p:txBody>
          </p:sp>
        </p:grpSp>
        <p:grpSp>
          <p:nvGrpSpPr>
            <p:cNvPr id="173" name="imp-row-5"/>
            <p:cNvGrpSpPr/>
            <p:nvPr/>
          </p:nvGrpSpPr>
          <p:grpSpPr>
            <a:xfrm>
              <a:off x="376238" y="5857161"/>
              <a:ext cx="11154988" cy="264319"/>
              <a:chOff x="376238" y="5857161"/>
              <a:chExt cx="11154988" cy="264319"/>
            </a:xfrm>
          </p:grpSpPr>
          <p:sp>
            <p:nvSpPr>
              <p:cNvPr id="168" name="TextBox 168"/>
              <p:cNvSpPr txBox="1"/>
              <p:nvPr/>
            </p:nvSpPr>
            <p:spPr>
              <a:xfrm>
                <a:off x="376238" y="5906214"/>
                <a:ext cx="860323"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团队复制能力不足</a:t>
                </a:r>
              </a:p>
            </p:txBody>
          </p:sp>
          <p:sp>
            <p:nvSpPr>
              <p:cNvPr id="169" name="TextBox 169"/>
              <p:cNvSpPr txBox="1"/>
              <p:nvPr/>
            </p:nvSpPr>
            <p:spPr>
              <a:xfrm>
                <a:off x="1862138" y="5914311"/>
                <a:ext cx="2069278"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经验结构不合理；专业能力不足；目标牵引不足​</a:t>
                </a:r>
              </a:p>
            </p:txBody>
          </p:sp>
          <p:sp>
            <p:nvSpPr>
              <p:cNvPr id="170" name="TextBox 170"/>
              <p:cNvSpPr txBox="1"/>
              <p:nvPr/>
            </p:nvSpPr>
            <p:spPr>
              <a:xfrm>
                <a:off x="4281488" y="5857161"/>
                <a:ext cx="1145667"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73633"/>
                    </a:solidFill>
                    <a:latin typeface="+mn-lt"/>
                    <a:ea typeface="+mn-ea"/>
                    <a:cs typeface="+mn-cs"/>
                  </a:rPr>
                  <a:t>新人达标周期XX天；​​​</a:t>
                </a:r>
                <a:br/>
                <a:r>
                  <a:rPr lang="zh-CN" sz="710" dirty="0">
                    <a:solidFill>
                      <a:srgbClr val="473633"/>
                    </a:solidFill>
                    <a:latin typeface="+mn-lt"/>
                    <a:ea typeface="+mn-ea"/>
                    <a:cs typeface="+mn-cs"/>
                  </a:rPr>
                  <a:t>人均产能低于标杆XX%​​​​​</a:t>
                </a:r>
              </a:p>
            </p:txBody>
          </p:sp>
          <p:sp>
            <p:nvSpPr>
              <p:cNvPr id="171" name="TextBox 171"/>
              <p:cNvSpPr txBox="1"/>
              <p:nvPr/>
            </p:nvSpPr>
            <p:spPr>
              <a:xfrm>
                <a:off x="9501188" y="5914311"/>
                <a:ext cx="947383"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XX（人力负责人）​​​</a:t>
                </a:r>
              </a:p>
            </p:txBody>
          </p:sp>
          <p:sp>
            <p:nvSpPr>
              <p:cNvPr id="172" name="TextBox 172"/>
              <p:cNvSpPr txBox="1"/>
              <p:nvPr/>
            </p:nvSpPr>
            <p:spPr>
              <a:xfrm>
                <a:off x="11157324" y="5914311"/>
                <a:ext cx="373902" cy="140494"/>
              </a:xfrm>
              <a:prstGeom prst="rect">
                <a:avLst/>
              </a:prstGeom>
              <a:noFill/>
              <a:ln>
                <a:noFill/>
              </a:ln>
            </p:spPr>
            <p:txBody>
              <a:bodyPr wrap="none" lIns="0" tIns="0" rIns="0" bIns="0" anchor="t" anchorCtr="0">
                <a:spAutoFit/>
              </a:bodyPr>
              <a:lstStyle/>
              <a:p>
                <a:pPr algn="ctr"/>
                <a:r>
                  <a:rPr lang="zh-CN" sz="710" dirty="0">
                    <a:solidFill>
                      <a:srgbClr val="473633"/>
                    </a:solidFill>
                    <a:latin typeface="+mn-lt"/>
                    <a:ea typeface="+mn-ea"/>
                    <a:cs typeface="+mn-cs"/>
                  </a:rPr>
                  <a:t>XX周​​​</a:t>
                </a:r>
              </a:p>
            </p:txBody>
          </p:sp>
        </p:grpSp>
        <p:grpSp>
          <p:nvGrpSpPr>
            <p:cNvPr id="179" name="imp-row-6"/>
            <p:cNvGrpSpPr/>
            <p:nvPr/>
          </p:nvGrpSpPr>
          <p:grpSpPr>
            <a:xfrm>
              <a:off x="376238" y="6247686"/>
              <a:ext cx="11154988" cy="264319"/>
              <a:chOff x="376238" y="6247686"/>
              <a:chExt cx="11154988" cy="264319"/>
            </a:xfrm>
          </p:grpSpPr>
          <p:sp>
            <p:nvSpPr>
              <p:cNvPr id="174" name="TextBox 174"/>
              <p:cNvSpPr txBox="1"/>
              <p:nvPr/>
            </p:nvSpPr>
            <p:spPr>
              <a:xfrm>
                <a:off x="376238" y="6296739"/>
                <a:ext cx="647624" cy="154781"/>
              </a:xfrm>
              <a:prstGeom prst="rect">
                <a:avLst/>
              </a:prstGeom>
              <a:noFill/>
              <a:ln>
                <a:noFill/>
              </a:ln>
            </p:spPr>
            <p:txBody>
              <a:bodyPr wrap="none" lIns="0" tIns="0" rIns="0" bIns="0" anchor="t" anchorCtr="0">
                <a:spAutoFit/>
              </a:bodyPr>
              <a:lstStyle/>
              <a:p>
                <a:pPr algn="l"/>
                <a:r>
                  <a:rPr lang="zh-CN" sz="790" b="1" dirty="0">
                    <a:solidFill>
                      <a:srgbClr val="6E1604"/>
                    </a:solidFill>
                    <a:latin typeface="+mn-lt"/>
                    <a:ea typeface="+mn-ea"/>
                    <a:cs typeface="+mn-cs"/>
                  </a:rPr>
                  <a:t>数据应用不足</a:t>
                </a:r>
              </a:p>
            </p:txBody>
          </p:sp>
          <p:sp>
            <p:nvSpPr>
              <p:cNvPr id="175" name="TextBox 175"/>
              <p:cNvSpPr txBox="1"/>
              <p:nvPr/>
            </p:nvSpPr>
            <p:spPr>
              <a:xfrm>
                <a:off x="1862138" y="6304836"/>
                <a:ext cx="1973698"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数据质量不高；洞察深度不足；数据应用不足​</a:t>
                </a:r>
              </a:p>
            </p:txBody>
          </p:sp>
          <p:sp>
            <p:nvSpPr>
              <p:cNvPr id="176" name="TextBox 176"/>
              <p:cNvSpPr txBox="1"/>
              <p:nvPr/>
            </p:nvSpPr>
            <p:spPr>
              <a:xfrm>
                <a:off x="4281488" y="6247686"/>
                <a:ext cx="843598"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73633"/>
                    </a:solidFill>
                    <a:latin typeface="+mn-lt"/>
                    <a:ea typeface="+mn-ea"/>
                    <a:cs typeface="+mn-cs"/>
                  </a:rPr>
                  <a:t>决策精准性不足；</a:t>
                </a:r>
                <a:br/>
                <a:r>
                  <a:rPr lang="zh-CN" sz="710" dirty="0">
                    <a:solidFill>
                      <a:srgbClr val="473633"/>
                    </a:solidFill>
                    <a:latin typeface="+mn-lt"/>
                    <a:ea typeface="+mn-ea"/>
                    <a:cs typeface="+mn-cs"/>
                  </a:rPr>
                  <a:t>资源投放ROI偏低​​​</a:t>
                </a:r>
              </a:p>
            </p:txBody>
          </p:sp>
          <p:sp>
            <p:nvSpPr>
              <p:cNvPr id="177" name="TextBox 177"/>
              <p:cNvSpPr txBox="1"/>
              <p:nvPr/>
            </p:nvSpPr>
            <p:spPr>
              <a:xfrm>
                <a:off x="9501188" y="6304836"/>
                <a:ext cx="947383" cy="140494"/>
              </a:xfrm>
              <a:prstGeom prst="rect">
                <a:avLst/>
              </a:prstGeom>
              <a:noFill/>
              <a:ln>
                <a:noFill/>
              </a:ln>
            </p:spPr>
            <p:txBody>
              <a:bodyPr wrap="none" lIns="0" tIns="0" rIns="0" bIns="0" anchor="t" anchorCtr="0">
                <a:spAutoFit/>
              </a:bodyPr>
              <a:lstStyle/>
              <a:p>
                <a:pPr algn="l"/>
                <a:r>
                  <a:rPr lang="zh-CN" sz="710" dirty="0">
                    <a:solidFill>
                      <a:srgbClr val="473633"/>
                    </a:solidFill>
                    <a:latin typeface="+mn-lt"/>
                    <a:ea typeface="+mn-ea"/>
                    <a:cs typeface="+mn-cs"/>
                  </a:rPr>
                  <a:t>XX（数据负责人）​​​</a:t>
                </a:r>
              </a:p>
            </p:txBody>
          </p:sp>
          <p:sp>
            <p:nvSpPr>
              <p:cNvPr id="178" name="TextBox 178"/>
              <p:cNvSpPr txBox="1"/>
              <p:nvPr/>
            </p:nvSpPr>
            <p:spPr>
              <a:xfrm>
                <a:off x="11157324" y="6304836"/>
                <a:ext cx="373902" cy="140494"/>
              </a:xfrm>
              <a:prstGeom prst="rect">
                <a:avLst/>
              </a:prstGeom>
              <a:noFill/>
              <a:ln>
                <a:noFill/>
              </a:ln>
            </p:spPr>
            <p:txBody>
              <a:bodyPr wrap="none" lIns="0" tIns="0" rIns="0" bIns="0" anchor="t" anchorCtr="0">
                <a:spAutoFit/>
              </a:bodyPr>
              <a:lstStyle/>
              <a:p>
                <a:pPr algn="ctr"/>
                <a:r>
                  <a:rPr lang="zh-CN" sz="710" dirty="0">
                    <a:solidFill>
                      <a:srgbClr val="473633"/>
                    </a:solidFill>
                    <a:latin typeface="+mn-lt"/>
                    <a:ea typeface="+mn-ea"/>
                    <a:cs typeface="+mn-cs"/>
                  </a:rPr>
                  <a:t>XX周​​​</a:t>
                </a:r>
              </a:p>
            </p:txBody>
          </p:sp>
        </p:grpSp>
        <p:grpSp>
          <p:nvGrpSpPr>
            <p:cNvPr id="186" name="imp-measures"/>
            <p:cNvGrpSpPr/>
            <p:nvPr/>
          </p:nvGrpSpPr>
          <p:grpSpPr>
            <a:xfrm>
              <a:off x="6205538" y="4228386"/>
              <a:ext cx="1587500" cy="2340769"/>
              <a:chOff x="6205538" y="4228386"/>
              <a:chExt cx="1587500" cy="2340769"/>
            </a:xfrm>
          </p:grpSpPr>
          <p:sp>
            <p:nvSpPr>
              <p:cNvPr id="180" name="TextBox 180"/>
              <p:cNvSpPr txBox="1"/>
              <p:nvPr/>
            </p:nvSpPr>
            <p:spPr>
              <a:xfrm>
                <a:off x="6205538" y="4228386"/>
                <a:ext cx="1587500" cy="388144"/>
              </a:xfrm>
              <a:prstGeom prst="rect">
                <a:avLst/>
              </a:prstGeom>
              <a:noFill/>
              <a:ln>
                <a:noFill/>
              </a:ln>
            </p:spPr>
            <p:txBody>
              <a:bodyPr wrap="none" lIns="0" tIns="0" rIns="0" bIns="0" anchor="t" anchorCtr="0">
                <a:spAutoFit/>
              </a:bodyPr>
              <a:lstStyle/>
              <a:p>
                <a:pPr algn="l" marL="76644" indent="-76644">
                  <a:lnSpc>
                    <a:spcPts val="975"/>
                  </a:lnSpc>
                  <a:buClr>
                    <a:srgbClr val="473633"/>
                  </a:buClr>
                  <a:buSzTx/>
                  <a:buFontTx/>
                  <a:buChar char="•"/>
                </a:pPr>
                <a:r>
                  <a:rPr lang="zh-CN" sz="710" dirty="0">
                    <a:solidFill>
                      <a:srgbClr val="473633"/>
                    </a:solidFill>
                    <a:latin typeface="+mn-lt"/>
                    <a:ea typeface="+mn-ea"/>
                    <a:cs typeface="+mn-cs"/>
                  </a:rPr>
                  <a:t>建立客户分层与区域策略匹配机制​​​</a:t>
                </a:r>
              </a:p>
              <a:p>
                <a:pPr algn="l" marL="76644" indent="-76644">
                  <a:lnSpc>
                    <a:spcPts val="975"/>
                  </a:lnSpc>
                  <a:buClr>
                    <a:srgbClr val="473633"/>
                  </a:buClr>
                  <a:buSzTx/>
                  <a:buFontTx/>
                  <a:buChar char="•"/>
                </a:pPr>
                <a:r>
                  <a:rPr lang="zh-CN" sz="710" dirty="0">
                    <a:solidFill>
                      <a:srgbClr val="473633"/>
                    </a:solidFill>
                    <a:latin typeface="+mn-lt"/>
                    <a:ea typeface="+mn-ea"/>
                    <a:cs typeface="+mn-cs"/>
                  </a:rPr>
                  <a:t>优化渠道布局与资源测算配置​​​</a:t>
                </a:r>
              </a:p>
              <a:p>
                <a:pPr algn="l" marL="76644" indent="-76644">
                  <a:lnSpc>
                    <a:spcPts val="975"/>
                  </a:lnSpc>
                  <a:buClr>
                    <a:srgbClr val="473633"/>
                  </a:buClr>
                  <a:buSzTx/>
                  <a:buFontTx/>
                  <a:buChar char="•"/>
                </a:pPr>
                <a:r>
                  <a:rPr lang="zh-CN" sz="710" dirty="0">
                    <a:solidFill>
                      <a:srgbClr val="473633"/>
                    </a:solidFill>
                    <a:latin typeface="+mn-lt"/>
                    <a:ea typeface="+mn-ea"/>
                    <a:cs typeface="+mn-cs"/>
                  </a:rPr>
                  <a:t>强化区域联动与过程管控​​​</a:t>
                </a:r>
              </a:p>
            </p:txBody>
          </p:sp>
          <p:sp>
            <p:nvSpPr>
              <p:cNvPr id="181" name="TextBox 181"/>
              <p:cNvSpPr txBox="1"/>
              <p:nvPr/>
            </p:nvSpPr>
            <p:spPr>
              <a:xfrm>
                <a:off x="6205538" y="4618911"/>
                <a:ext cx="1316990" cy="388144"/>
              </a:xfrm>
              <a:prstGeom prst="rect">
                <a:avLst/>
              </a:prstGeom>
              <a:noFill/>
              <a:ln>
                <a:noFill/>
              </a:ln>
            </p:spPr>
            <p:txBody>
              <a:bodyPr wrap="none" lIns="0" tIns="0" rIns="0" bIns="0" anchor="t" anchorCtr="0">
                <a:spAutoFit/>
              </a:bodyPr>
              <a:lstStyle/>
              <a:p>
                <a:pPr algn="l" marL="76644" indent="-76644">
                  <a:lnSpc>
                    <a:spcPts val="975"/>
                  </a:lnSpc>
                  <a:buClr>
                    <a:srgbClr val="473633"/>
                  </a:buClr>
                  <a:buSzTx/>
                  <a:buFontTx/>
                  <a:buChar char="•"/>
                </a:pPr>
                <a:r>
                  <a:rPr lang="zh-CN" sz="710" dirty="0">
                    <a:solidFill>
                      <a:srgbClr val="473633"/>
                    </a:solidFill>
                    <a:latin typeface="+mn-lt"/>
                    <a:ea typeface="+mn-ea"/>
                    <a:cs typeface="+mn-cs"/>
                  </a:rPr>
                  <a:t>梳理产品体系聚焦组合​​​</a:t>
                </a:r>
              </a:p>
              <a:p>
                <a:pPr algn="l" marL="76644" indent="-76644">
                  <a:lnSpc>
                    <a:spcPts val="975"/>
                  </a:lnSpc>
                  <a:buClr>
                    <a:srgbClr val="473633"/>
                  </a:buClr>
                  <a:buSzTx/>
                  <a:buFontTx/>
                  <a:buChar char="•"/>
                </a:pPr>
                <a:r>
                  <a:rPr lang="zh-CN" sz="710" dirty="0">
                    <a:solidFill>
                      <a:srgbClr val="473633"/>
                    </a:solidFill>
                    <a:latin typeface="+mn-lt"/>
                    <a:ea typeface="+mn-ea"/>
                    <a:cs typeface="+mn-cs"/>
                  </a:rPr>
                  <a:t>打造场景化配置与标杆方案​​​</a:t>
                </a:r>
              </a:p>
              <a:p>
                <a:pPr algn="l" marL="76644" indent="-76644">
                  <a:lnSpc>
                    <a:spcPts val="975"/>
                  </a:lnSpc>
                  <a:buClr>
                    <a:srgbClr val="473633"/>
                  </a:buClr>
                  <a:buSzTx/>
                  <a:buFontTx/>
                  <a:buChar char="•"/>
                </a:pPr>
                <a:r>
                  <a:rPr lang="zh-CN" sz="710" dirty="0">
                    <a:solidFill>
                      <a:srgbClr val="473633"/>
                    </a:solidFill>
                    <a:latin typeface="+mn-lt"/>
                    <a:ea typeface="+mn-ea"/>
                    <a:cs typeface="+mn-cs"/>
                  </a:rPr>
                  <a:t>强化差异化配置与价值呈现​​​</a:t>
                </a:r>
              </a:p>
            </p:txBody>
          </p:sp>
          <p:sp>
            <p:nvSpPr>
              <p:cNvPr id="182" name="TextBox 182"/>
              <p:cNvSpPr txBox="1"/>
              <p:nvPr/>
            </p:nvSpPr>
            <p:spPr>
              <a:xfrm>
                <a:off x="6205538" y="5009436"/>
                <a:ext cx="1542415" cy="388144"/>
              </a:xfrm>
              <a:prstGeom prst="rect">
                <a:avLst/>
              </a:prstGeom>
              <a:noFill/>
              <a:ln>
                <a:noFill/>
              </a:ln>
            </p:spPr>
            <p:txBody>
              <a:bodyPr wrap="none" lIns="0" tIns="0" rIns="0" bIns="0" anchor="t" anchorCtr="0">
                <a:spAutoFit/>
              </a:bodyPr>
              <a:lstStyle/>
              <a:p>
                <a:pPr algn="l" marL="76644" indent="-76644">
                  <a:lnSpc>
                    <a:spcPts val="975"/>
                  </a:lnSpc>
                  <a:buClr>
                    <a:srgbClr val="473633"/>
                  </a:buClr>
                  <a:buSzTx/>
                  <a:buFontTx/>
                  <a:buChar char="•"/>
                </a:pPr>
                <a:r>
                  <a:rPr lang="zh-CN" sz="710" dirty="0">
                    <a:solidFill>
                      <a:srgbClr val="473633"/>
                    </a:solidFill>
                    <a:latin typeface="+mn-lt"/>
                    <a:ea typeface="+mn-ea"/>
                    <a:cs typeface="+mn-cs"/>
                  </a:rPr>
                  <a:t>提升名单质量与清洗标准​​​</a:t>
                </a:r>
              </a:p>
              <a:p>
                <a:pPr algn="l" marL="76644" indent="-76644">
                  <a:lnSpc>
                    <a:spcPts val="975"/>
                  </a:lnSpc>
                  <a:buClr>
                    <a:srgbClr val="473633"/>
                  </a:buClr>
                  <a:buSzTx/>
                  <a:buFontTx/>
                  <a:buChar char="•"/>
                </a:pPr>
                <a:r>
                  <a:rPr lang="zh-CN" sz="710" dirty="0">
                    <a:solidFill>
                      <a:srgbClr val="473633"/>
                    </a:solidFill>
                    <a:latin typeface="+mn-lt"/>
                    <a:ea typeface="+mn-ea"/>
                    <a:cs typeface="+mn-cs"/>
                  </a:rPr>
                  <a:t>优化跟进SOP与关键节点提醒​​​​​​</a:t>
                </a:r>
              </a:p>
              <a:p>
                <a:pPr algn="l" marL="76644" indent="-76644">
                  <a:lnSpc>
                    <a:spcPts val="975"/>
                  </a:lnSpc>
                  <a:buClr>
                    <a:srgbClr val="473633"/>
                  </a:buClr>
                  <a:buSzTx/>
                  <a:buFontTx/>
                  <a:buChar char="•"/>
                </a:pPr>
                <a:r>
                  <a:rPr lang="zh-CN" sz="710" dirty="0">
                    <a:solidFill>
                      <a:srgbClr val="473633"/>
                    </a:solidFill>
                    <a:latin typeface="+mn-lt"/>
                    <a:ea typeface="+mn-ea"/>
                    <a:cs typeface="+mn-cs"/>
                  </a:rPr>
                  <a:t>强化方案销售培训与辅导​​​</a:t>
                </a:r>
              </a:p>
            </p:txBody>
          </p:sp>
          <p:sp>
            <p:nvSpPr>
              <p:cNvPr id="183" name="TextBox 183"/>
              <p:cNvSpPr txBox="1"/>
              <p:nvPr/>
            </p:nvSpPr>
            <p:spPr>
              <a:xfrm>
                <a:off x="6205538" y="5399961"/>
                <a:ext cx="1497330" cy="388144"/>
              </a:xfrm>
              <a:prstGeom prst="rect">
                <a:avLst/>
              </a:prstGeom>
              <a:noFill/>
              <a:ln>
                <a:noFill/>
              </a:ln>
            </p:spPr>
            <p:txBody>
              <a:bodyPr wrap="none" lIns="0" tIns="0" rIns="0" bIns="0" anchor="t" anchorCtr="0">
                <a:spAutoFit/>
              </a:bodyPr>
              <a:lstStyle/>
              <a:p>
                <a:pPr algn="l" marL="76644" indent="-76644">
                  <a:lnSpc>
                    <a:spcPts val="975"/>
                  </a:lnSpc>
                  <a:buClr>
                    <a:srgbClr val="473633"/>
                  </a:buClr>
                  <a:buSzTx/>
                  <a:buFontTx/>
                  <a:buChar char="•"/>
                </a:pPr>
                <a:r>
                  <a:rPr lang="zh-CN" sz="710" dirty="0">
                    <a:solidFill>
                      <a:srgbClr val="473633"/>
                    </a:solidFill>
                    <a:latin typeface="+mn-lt"/>
                    <a:ea typeface="+mn-ea"/>
                    <a:cs typeface="+mn-cs"/>
                  </a:rPr>
                  <a:t>精简流程明确协同节点与清单​​​</a:t>
                </a:r>
              </a:p>
              <a:p>
                <a:pPr algn="l" marL="76644" indent="-76644">
                  <a:lnSpc>
                    <a:spcPts val="975"/>
                  </a:lnSpc>
                  <a:buClr>
                    <a:srgbClr val="473633"/>
                  </a:buClr>
                  <a:buSzTx/>
                  <a:buFontTx/>
                  <a:buChar char="•"/>
                </a:pPr>
                <a:r>
                  <a:rPr lang="zh-CN" sz="710" dirty="0">
                    <a:solidFill>
                      <a:srgbClr val="473633"/>
                    </a:solidFill>
                    <a:latin typeface="+mn-lt"/>
                    <a:ea typeface="+mn-ea"/>
                    <a:cs typeface="+mn-cs"/>
                  </a:rPr>
                  <a:t>建立跨条线协同机制与责任矩阵​​​</a:t>
                </a:r>
              </a:p>
              <a:p>
                <a:pPr algn="l" marL="76644" indent="-76644">
                  <a:lnSpc>
                    <a:spcPts val="975"/>
                  </a:lnSpc>
                  <a:buClr>
                    <a:srgbClr val="473633"/>
                  </a:buClr>
                  <a:buSzTx/>
                  <a:buFontTx/>
                  <a:buChar char="•"/>
                </a:pPr>
                <a:r>
                  <a:rPr lang="zh-CN" sz="710" dirty="0">
                    <a:solidFill>
                      <a:srgbClr val="473633"/>
                    </a:solidFill>
                    <a:latin typeface="+mn-lt"/>
                    <a:ea typeface="+mn-ea"/>
                    <a:cs typeface="+mn-cs"/>
                  </a:rPr>
                  <a:t>统一数据口径与看板管理​​​</a:t>
                </a:r>
              </a:p>
            </p:txBody>
          </p:sp>
          <p:sp>
            <p:nvSpPr>
              <p:cNvPr id="184" name="TextBox 184"/>
              <p:cNvSpPr txBox="1"/>
              <p:nvPr/>
            </p:nvSpPr>
            <p:spPr>
              <a:xfrm>
                <a:off x="6205538" y="5790486"/>
                <a:ext cx="1316990" cy="388144"/>
              </a:xfrm>
              <a:prstGeom prst="rect">
                <a:avLst/>
              </a:prstGeom>
              <a:noFill/>
              <a:ln>
                <a:noFill/>
              </a:ln>
            </p:spPr>
            <p:txBody>
              <a:bodyPr wrap="none" lIns="0" tIns="0" rIns="0" bIns="0" anchor="t" anchorCtr="0">
                <a:spAutoFit/>
              </a:bodyPr>
              <a:lstStyle/>
              <a:p>
                <a:pPr algn="l" marL="76644" indent="-76644">
                  <a:lnSpc>
                    <a:spcPts val="975"/>
                  </a:lnSpc>
                  <a:buClr>
                    <a:srgbClr val="473633"/>
                  </a:buClr>
                  <a:buSzTx/>
                  <a:buFontTx/>
                  <a:buChar char="•"/>
                </a:pPr>
                <a:r>
                  <a:rPr lang="zh-CN" sz="710" dirty="0">
                    <a:solidFill>
                      <a:srgbClr val="473633"/>
                    </a:solidFill>
                    <a:latin typeface="+mn-lt"/>
                    <a:ea typeface="+mn-ea"/>
                    <a:cs typeface="+mn-cs"/>
                  </a:rPr>
                  <a:t>建立人才培养与认证体系​​​</a:t>
                </a:r>
              </a:p>
              <a:p>
                <a:pPr algn="l" marL="76644" indent="-76644">
                  <a:lnSpc>
                    <a:spcPts val="975"/>
                  </a:lnSpc>
                  <a:buClr>
                    <a:srgbClr val="473633"/>
                  </a:buClr>
                  <a:buSzTx/>
                  <a:buFontTx/>
                  <a:buChar char="•"/>
                </a:pPr>
                <a:r>
                  <a:rPr lang="zh-CN" sz="710" dirty="0">
                    <a:solidFill>
                      <a:srgbClr val="473633"/>
                    </a:solidFill>
                    <a:latin typeface="+mn-lt"/>
                    <a:ea typeface="+mn-ea"/>
                    <a:cs typeface="+mn-cs"/>
                  </a:rPr>
                  <a:t>打磨标杆打法与复制工具包​​​</a:t>
                </a:r>
              </a:p>
              <a:p>
                <a:pPr algn="l" marL="76644" indent="-76644">
                  <a:lnSpc>
                    <a:spcPts val="975"/>
                  </a:lnSpc>
                  <a:buClr>
                    <a:srgbClr val="473633"/>
                  </a:buClr>
                  <a:buSzTx/>
                  <a:buFontTx/>
                  <a:buChar char="•"/>
                </a:pPr>
                <a:r>
                  <a:rPr lang="zh-CN" sz="710" dirty="0">
                    <a:solidFill>
                      <a:srgbClr val="473633"/>
                    </a:solidFill>
                    <a:latin typeface="+mn-lt"/>
                    <a:ea typeface="+mn-ea"/>
                    <a:cs typeface="+mn-cs"/>
                  </a:rPr>
                  <a:t>强化策略与目标牵引​​</a:t>
                </a:r>
              </a:p>
            </p:txBody>
          </p:sp>
          <p:sp>
            <p:nvSpPr>
              <p:cNvPr id="185" name="TextBox 185"/>
              <p:cNvSpPr txBox="1"/>
              <p:nvPr/>
            </p:nvSpPr>
            <p:spPr>
              <a:xfrm>
                <a:off x="6205538" y="6181011"/>
                <a:ext cx="1497330" cy="388144"/>
              </a:xfrm>
              <a:prstGeom prst="rect">
                <a:avLst/>
              </a:prstGeom>
              <a:noFill/>
              <a:ln>
                <a:noFill/>
              </a:ln>
            </p:spPr>
            <p:txBody>
              <a:bodyPr wrap="none" lIns="0" tIns="0" rIns="0" bIns="0" anchor="t" anchorCtr="0">
                <a:spAutoFit/>
              </a:bodyPr>
              <a:lstStyle/>
              <a:p>
                <a:pPr algn="l" marL="76644" indent="-76644">
                  <a:lnSpc>
                    <a:spcPts val="975"/>
                  </a:lnSpc>
                  <a:buClr>
                    <a:srgbClr val="473633"/>
                  </a:buClr>
                  <a:buSzTx/>
                  <a:buFontTx/>
                  <a:buChar char="•"/>
                </a:pPr>
                <a:r>
                  <a:rPr lang="zh-CN" sz="710" dirty="0">
                    <a:solidFill>
                      <a:srgbClr val="473633"/>
                    </a:solidFill>
                    <a:latin typeface="+mn-lt"/>
                    <a:ea typeface="+mn-ea"/>
                    <a:cs typeface="+mn-cs"/>
                  </a:rPr>
                  <a:t>提升数据质量与治理​​</a:t>
                </a:r>
              </a:p>
              <a:p>
                <a:pPr algn="l" marL="76644" indent="-76644">
                  <a:lnSpc>
                    <a:spcPts val="975"/>
                  </a:lnSpc>
                  <a:buClr>
                    <a:srgbClr val="473633"/>
                  </a:buClr>
                  <a:buSzTx/>
                  <a:buFontTx/>
                  <a:buChar char="•"/>
                </a:pPr>
                <a:r>
                  <a:rPr lang="zh-CN" sz="710" dirty="0">
                    <a:solidFill>
                      <a:srgbClr val="473633"/>
                    </a:solidFill>
                    <a:latin typeface="+mn-lt"/>
                    <a:ea typeface="+mn-ea"/>
                    <a:cs typeface="+mn-cs"/>
                  </a:rPr>
                  <a:t>建设客户洞察模型与分析看板​​​</a:t>
                </a:r>
              </a:p>
              <a:p>
                <a:pPr algn="l" marL="76644" indent="-76644">
                  <a:lnSpc>
                    <a:spcPts val="975"/>
                  </a:lnSpc>
                  <a:buClr>
                    <a:srgbClr val="473633"/>
                  </a:buClr>
                  <a:buSzTx/>
                  <a:buFontTx/>
                  <a:buChar char="•"/>
                </a:pPr>
                <a:r>
                  <a:rPr lang="zh-CN" sz="710" dirty="0">
                    <a:solidFill>
                      <a:srgbClr val="473633"/>
                    </a:solidFill>
                    <a:latin typeface="+mn-lt"/>
                    <a:ea typeface="+mn-ea"/>
                    <a:cs typeface="+mn-cs"/>
                  </a:rPr>
                  <a:t>推动数据驱动的策略与执行闭环​​​</a:t>
                </a:r>
              </a:p>
            </p:txBody>
          </p:sp>
        </p:grpSp>
      </p:gr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14​</a:t>
              </a:r>
            </a:p>
          </p:txBody>
        </p:sp>
        <p:sp>
          <p:nvSpPr>
            <p:cNvPr id="4" name="TextBox 4"/>
            <p:cNvSpPr txBox="1"/>
            <p:nvPr/>
          </p:nvSpPr>
          <p:spPr>
            <a:xfrm>
              <a:off x="942594" y="151448"/>
              <a:ext cx="6645440"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9月目标体系</a:t>
              </a:r>
              <a:r>
                <a:rPr lang="zh-CN" sz="1950" b="1" dirty="0">
                  <a:solidFill>
                    <a:srgbClr val="1A1A1A"/>
                  </a:solidFill>
                  <a:latin typeface="SimSun"/>
                  <a:ea typeface="SimSun"/>
                  <a:cs typeface="SimSun"/>
                </a:rPr>
                <a:t>｜规模、结构、质量、过程协同推进​​​​</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64" name="goal-tree"/>
          <p:cNvGrpSpPr/>
          <p:nvPr/>
        </p:nvGrpSpPr>
        <p:grpSpPr>
          <a:xfrm>
            <a:off x="342900" y="723900"/>
            <a:ext cx="11391900" cy="1962150"/>
            <a:chOff x="342900" y="723900"/>
            <a:chExt cx="11391900" cy="1962150"/>
          </a:xfrm>
        </p:grpSpPr>
        <p:sp>
          <p:nvSpPr>
            <p:cNvPr id="7" name="Rectangle 7"/>
            <p:cNvSpPr/>
            <p:nvPr/>
          </p:nvSpPr>
          <p:spPr>
            <a:xfrm>
              <a:off x="5143500" y="723900"/>
              <a:ext cx="1905000" cy="361950"/>
            </a:xfrm>
            <a:prstGeom prst="roundRect">
              <a:avLst>
                <a:gd name="adj" fmla="val 15789"/>
              </a:avLst>
            </a:prstGeom>
            <a:solidFill>
              <a:srgbClr val="6E1604"/>
            </a:solidFill>
            <a:ln>
              <a:noFill/>
            </a:ln>
          </p:spPr>
        </p:sp>
        <p:sp>
          <p:nvSpPr>
            <p:cNvPr id="8" name="TextBox 8"/>
            <p:cNvSpPr txBox="1"/>
            <p:nvPr/>
          </p:nvSpPr>
          <p:spPr>
            <a:xfrm>
              <a:off x="5634799" y="825818"/>
              <a:ext cx="92240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区域总目标</a:t>
              </a:r>
            </a:p>
          </p:txBody>
        </p:sp>
        <p:sp>
          <p:nvSpPr>
            <p:cNvPr id="9" name="Line 9"/>
            <p:cNvSpPr/>
            <p:nvPr/>
          </p:nvSpPr>
          <p:spPr>
            <a:xfrm>
              <a:off x="6096000" y="1085850"/>
              <a:ext cx="9525" cy="190500"/>
            </a:xfrm>
            <a:custGeom>
              <a:avLst/>
              <a:gdLst/>
              <a:ahLst/>
              <a:cxnLst/>
              <a:rect l="l" t="t" r="r" b="b"/>
              <a:pathLst>
                <a:path w="9525" h="190500">
                  <a:moveTo>
                    <a:pt x="0" y="0"/>
                  </a:moveTo>
                  <a:lnTo>
                    <a:pt x="0" y="190500"/>
                  </a:lnTo>
                </a:path>
              </a:pathLst>
            </a:custGeom>
            <a:noFill/>
            <a:ln w="14288">
              <a:solidFill>
                <a:srgbClr val="D44B2F"/>
              </a:solidFill>
            </a:ln>
          </p:spPr>
        </p:sp>
        <p:sp>
          <p:nvSpPr>
            <p:cNvPr id="10" name="Line 10"/>
            <p:cNvSpPr/>
            <p:nvPr/>
          </p:nvSpPr>
          <p:spPr>
            <a:xfrm>
              <a:off x="1352550" y="1276350"/>
              <a:ext cx="9372600" cy="9525"/>
            </a:xfrm>
            <a:custGeom>
              <a:avLst/>
              <a:gdLst/>
              <a:ahLst/>
              <a:cxnLst/>
              <a:rect l="l" t="t" r="r" b="b"/>
              <a:pathLst>
                <a:path w="9372600" h="9525">
                  <a:moveTo>
                    <a:pt x="0" y="0"/>
                  </a:moveTo>
                  <a:lnTo>
                    <a:pt x="9372600" y="0"/>
                  </a:lnTo>
                </a:path>
              </a:pathLst>
            </a:custGeom>
            <a:noFill/>
            <a:ln w="14288">
              <a:solidFill>
                <a:srgbClr val="D44B2F"/>
              </a:solidFill>
            </a:ln>
          </p:spPr>
        </p:sp>
        <p:sp>
          <p:nvSpPr>
            <p:cNvPr id="11" name="Line 11"/>
            <p:cNvSpPr/>
            <p:nvPr/>
          </p:nvSpPr>
          <p:spPr>
            <a:xfrm>
              <a:off x="1352550" y="1276350"/>
              <a:ext cx="1" cy="209550"/>
            </a:xfrm>
            <a:prstGeom prst="line">
              <a:avLst/>
            </a:prstGeom>
            <a:noFill/>
            <a:ln w="14288">
              <a:solidFill>
                <a:srgbClr val="D44B2F"/>
              </a:solidFill>
              <a:tailEnd type="triangle" w="lg" len="lg"/>
            </a:ln>
          </p:spPr>
        </p:sp>
        <p:sp>
          <p:nvSpPr>
            <p:cNvPr id="12" name="Line 12"/>
            <p:cNvSpPr/>
            <p:nvPr/>
          </p:nvSpPr>
          <p:spPr>
            <a:xfrm>
              <a:off x="3695700" y="1276350"/>
              <a:ext cx="1" cy="209550"/>
            </a:xfrm>
            <a:prstGeom prst="line">
              <a:avLst/>
            </a:prstGeom>
            <a:noFill/>
            <a:ln w="14288">
              <a:solidFill>
                <a:srgbClr val="D44B2F"/>
              </a:solidFill>
              <a:tailEnd type="triangle" w="lg" len="lg"/>
            </a:ln>
          </p:spPr>
        </p:sp>
        <p:sp>
          <p:nvSpPr>
            <p:cNvPr id="13" name="Line 13"/>
            <p:cNvSpPr/>
            <p:nvPr/>
          </p:nvSpPr>
          <p:spPr>
            <a:xfrm>
              <a:off x="6096000" y="1276350"/>
              <a:ext cx="1" cy="209550"/>
            </a:xfrm>
            <a:prstGeom prst="line">
              <a:avLst/>
            </a:prstGeom>
            <a:noFill/>
            <a:ln w="14288">
              <a:solidFill>
                <a:srgbClr val="D44B2F"/>
              </a:solidFill>
              <a:tailEnd type="triangle" w="lg" len="lg"/>
            </a:ln>
          </p:spPr>
        </p:sp>
        <p:sp>
          <p:nvSpPr>
            <p:cNvPr id="14" name="Line 14"/>
            <p:cNvSpPr/>
            <p:nvPr/>
          </p:nvSpPr>
          <p:spPr>
            <a:xfrm>
              <a:off x="8382000" y="1276350"/>
              <a:ext cx="1" cy="209550"/>
            </a:xfrm>
            <a:prstGeom prst="line">
              <a:avLst/>
            </a:prstGeom>
            <a:noFill/>
            <a:ln w="14288">
              <a:solidFill>
                <a:srgbClr val="D44B2F"/>
              </a:solidFill>
              <a:tailEnd type="triangle" w="lg" len="lg"/>
            </a:ln>
          </p:spPr>
        </p:sp>
        <p:sp>
          <p:nvSpPr>
            <p:cNvPr id="15" name="Line 15"/>
            <p:cNvSpPr/>
            <p:nvPr/>
          </p:nvSpPr>
          <p:spPr>
            <a:xfrm>
              <a:off x="10725150" y="1276350"/>
              <a:ext cx="1" cy="209550"/>
            </a:xfrm>
            <a:prstGeom prst="line">
              <a:avLst/>
            </a:prstGeom>
            <a:noFill/>
            <a:ln w="14288">
              <a:solidFill>
                <a:srgbClr val="D44B2F"/>
              </a:solidFill>
              <a:tailEnd type="triangle" w="lg" len="lg"/>
            </a:ln>
          </p:spPr>
        </p:sp>
        <p:grpSp>
          <p:nvGrpSpPr>
            <p:cNvPr id="25" name="goal-scale"/>
            <p:cNvGrpSpPr/>
            <p:nvPr/>
          </p:nvGrpSpPr>
          <p:grpSpPr>
            <a:xfrm>
              <a:off x="342900" y="1543050"/>
              <a:ext cx="2019300" cy="1143000"/>
              <a:chOff x="342900" y="1543050"/>
              <a:chExt cx="2019300" cy="1143000"/>
            </a:xfrm>
          </p:grpSpPr>
          <p:sp>
            <p:nvSpPr>
              <p:cNvPr id="16" name="Rectangle 16"/>
              <p:cNvSpPr/>
              <p:nvPr/>
            </p:nvSpPr>
            <p:spPr>
              <a:xfrm>
                <a:off x="342900" y="1543050"/>
                <a:ext cx="2019300" cy="1143000"/>
              </a:xfrm>
              <a:prstGeom prst="roundRect">
                <a:avLst>
                  <a:gd name="adj" fmla="val 6667"/>
                </a:avLst>
              </a:prstGeom>
              <a:solidFill>
                <a:srgbClr val="FFFFFF"/>
              </a:solidFill>
              <a:ln w="9525">
                <a:solidFill>
                  <a:srgbClr val="F7D1C9"/>
                </a:solidFill>
              </a:ln>
            </p:spPr>
          </p:sp>
          <p:sp>
            <p:nvSpPr>
              <p:cNvPr id="17" name="Freeform 17"/>
              <p:cNvSpPr/>
              <p:nvPr/>
            </p:nvSpPr>
            <p:spPr>
              <a:xfrm>
                <a:off x="342900" y="1543050"/>
                <a:ext cx="2019300" cy="361950"/>
              </a:xfrm>
              <a:custGeom>
                <a:avLst/>
                <a:gdLst/>
                <a:ahLst/>
                <a:cxnLst/>
                <a:rect l="l" t="t" r="r" b="b"/>
                <a:pathLst>
                  <a:path w="2019300" h="361950">
                    <a:moveTo>
                      <a:pt x="0" y="76200"/>
                    </a:moveTo>
                    <a:cubicBezTo>
                      <a:pt x="0" y="34116"/>
                      <a:pt x="34116" y="0"/>
                      <a:pt x="76200" y="0"/>
                    </a:cubicBezTo>
                    <a:lnTo>
                      <a:pt x="1943100" y="0"/>
                    </a:lnTo>
                    <a:cubicBezTo>
                      <a:pt x="1985184" y="0"/>
                      <a:pt x="2019300" y="34116"/>
                      <a:pt x="2019300" y="76200"/>
                    </a:cubicBezTo>
                    <a:lnTo>
                      <a:pt x="2019300" y="361950"/>
                    </a:lnTo>
                    <a:lnTo>
                      <a:pt x="0" y="361950"/>
                    </a:lnTo>
                    <a:close/>
                  </a:path>
                </a:pathLst>
              </a:custGeom>
              <a:solidFill>
                <a:srgbClr val="FDCCC2"/>
              </a:solidFill>
              <a:ln>
                <a:noFill/>
              </a:ln>
            </p:spPr>
          </p:sp>
          <p:grpSp>
            <p:nvGrpSpPr>
              <p:cNvPr id="22" name="Group 22"/>
              <p:cNvGrpSpPr/>
              <p:nvPr/>
            </p:nvGrpSpPr>
            <p:grpSpPr>
              <a:xfrm>
                <a:off x="521494" y="1654175"/>
                <a:ext cx="157163" cy="149225"/>
                <a:chOff x="521494" y="1654175"/>
                <a:chExt cx="157163" cy="149225"/>
              </a:xfrm>
            </p:grpSpPr>
            <p:sp>
              <p:nvSpPr>
                <p:cNvPr id="18" name="Freeform 18"/>
                <p:cNvSpPr/>
                <p:nvPr/>
              </p:nvSpPr>
              <p:spPr>
                <a:xfrm>
                  <a:off x="521494" y="172402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B92102"/>
                  </a:solidFill>
                </a:ln>
              </p:spPr>
            </p:sp>
            <p:sp>
              <p:nvSpPr>
                <p:cNvPr id="19" name="Freeform 19"/>
                <p:cNvSpPr/>
                <p:nvPr/>
              </p:nvSpPr>
              <p:spPr>
                <a:xfrm>
                  <a:off x="626269" y="168910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B92102"/>
                  </a:solidFill>
                </a:ln>
              </p:spPr>
            </p:sp>
            <p:sp>
              <p:nvSpPr>
                <p:cNvPr id="20" name="Freeform 20"/>
                <p:cNvSpPr/>
                <p:nvPr/>
              </p:nvSpPr>
              <p:spPr>
                <a:xfrm>
                  <a:off x="573881" y="165417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B92102"/>
                  </a:solidFill>
                </a:ln>
              </p:spPr>
            </p:sp>
            <p:sp>
              <p:nvSpPr>
                <p:cNvPr id="21" name="Freeform 21"/>
                <p:cNvSpPr/>
                <p:nvPr/>
              </p:nvSpPr>
              <p:spPr>
                <a:xfrm>
                  <a:off x="530225" y="1793875"/>
                  <a:ext cx="122238" cy="9525"/>
                </a:xfrm>
                <a:custGeom>
                  <a:avLst/>
                  <a:gdLst/>
                  <a:ahLst/>
                  <a:cxnLst/>
                  <a:rect l="l" t="t" r="r" b="b"/>
                  <a:pathLst>
                    <a:path w="122238" h="9525">
                      <a:moveTo>
                        <a:pt x="0" y="0"/>
                      </a:moveTo>
                      <a:lnTo>
                        <a:pt x="122238" y="0"/>
                      </a:lnTo>
                    </a:path>
                  </a:pathLst>
                </a:custGeom>
                <a:noFill/>
                <a:ln w="17463">
                  <a:solidFill>
                    <a:srgbClr val="B92102"/>
                  </a:solidFill>
                </a:ln>
              </p:spPr>
            </p:sp>
          </p:grpSp>
          <p:sp>
            <p:nvSpPr>
              <p:cNvPr id="23" name="TextBox 23"/>
              <p:cNvSpPr txBox="1"/>
              <p:nvPr/>
            </p:nvSpPr>
            <p:spPr>
              <a:xfrm>
                <a:off x="794385" y="1659731"/>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规模目标</a:t>
                </a:r>
              </a:p>
            </p:txBody>
          </p:sp>
          <p:sp>
            <p:nvSpPr>
              <p:cNvPr id="24" name="TextBox 24"/>
              <p:cNvSpPr txBox="1"/>
              <p:nvPr/>
            </p:nvSpPr>
            <p:spPr>
              <a:xfrm>
                <a:off x="670306" y="2070497"/>
                <a:ext cx="1364488" cy="411956"/>
              </a:xfrm>
              <a:prstGeom prst="rect">
                <a:avLst/>
              </a:prstGeom>
              <a:noFill/>
              <a:ln>
                <a:noFill/>
              </a:ln>
            </p:spPr>
            <p:txBody>
              <a:bodyPr wrap="none" lIns="0" tIns="0" rIns="0" bIns="0" anchor="t" anchorCtr="0">
                <a:spAutoFit/>
              </a:bodyPr>
              <a:lstStyle/>
              <a:p>
                <a:pPr algn="ctr">
                  <a:lnSpc>
                    <a:spcPts val="1800"/>
                  </a:lnSpc>
                </a:pPr>
                <a:r>
                  <a:rPr lang="zh-CN" sz="940" dirty="0">
                    <a:solidFill>
                      <a:srgbClr val="473633"/>
                    </a:solidFill>
                    <a:latin typeface="+mn-lt"/>
                    <a:ea typeface="+mn-ea"/>
                    <a:cs typeface="+mn-cs"/>
                  </a:rPr>
                  <a:t>本月新增授信 XX 亿元​​​</a:t>
                </a:r>
                <a:br/>
                <a:r>
                  <a:rPr lang="zh-CN" sz="940" dirty="0">
                    <a:solidFill>
                      <a:srgbClr val="473633"/>
                    </a:solidFill>
                    <a:latin typeface="+mn-lt"/>
                    <a:ea typeface="+mn-ea"/>
                    <a:cs typeface="+mn-cs"/>
                  </a:rPr>
                  <a:t>新增存款 XX 亿元​​​</a:t>
                </a:r>
              </a:p>
            </p:txBody>
          </p:sp>
        </p:grpSp>
        <p:grpSp>
          <p:nvGrpSpPr>
            <p:cNvPr id="37" name="goal-customer"/>
            <p:cNvGrpSpPr/>
            <p:nvPr/>
          </p:nvGrpSpPr>
          <p:grpSpPr>
            <a:xfrm>
              <a:off x="2686050" y="1543050"/>
              <a:ext cx="2019300" cy="1143000"/>
              <a:chOff x="2686050" y="1543050"/>
              <a:chExt cx="2019300" cy="1143000"/>
            </a:xfrm>
          </p:grpSpPr>
          <p:sp>
            <p:nvSpPr>
              <p:cNvPr id="26" name="Rectangle 26"/>
              <p:cNvSpPr/>
              <p:nvPr/>
            </p:nvSpPr>
            <p:spPr>
              <a:xfrm>
                <a:off x="2686050" y="1543050"/>
                <a:ext cx="2019300" cy="1143000"/>
              </a:xfrm>
              <a:prstGeom prst="roundRect">
                <a:avLst>
                  <a:gd name="adj" fmla="val 6667"/>
                </a:avLst>
              </a:prstGeom>
              <a:solidFill>
                <a:srgbClr val="FFFFFF"/>
              </a:solidFill>
              <a:ln w="9525">
                <a:solidFill>
                  <a:srgbClr val="F7D1C9"/>
                </a:solidFill>
              </a:ln>
            </p:spPr>
          </p:sp>
          <p:sp>
            <p:nvSpPr>
              <p:cNvPr id="27" name="Freeform 27"/>
              <p:cNvSpPr/>
              <p:nvPr/>
            </p:nvSpPr>
            <p:spPr>
              <a:xfrm>
                <a:off x="2686050" y="1543050"/>
                <a:ext cx="2019300" cy="361950"/>
              </a:xfrm>
              <a:custGeom>
                <a:avLst/>
                <a:gdLst/>
                <a:ahLst/>
                <a:cxnLst/>
                <a:rect l="l" t="t" r="r" b="b"/>
                <a:pathLst>
                  <a:path w="2019300" h="361950">
                    <a:moveTo>
                      <a:pt x="0" y="76200"/>
                    </a:moveTo>
                    <a:cubicBezTo>
                      <a:pt x="0" y="34116"/>
                      <a:pt x="34116" y="0"/>
                      <a:pt x="76200" y="0"/>
                    </a:cubicBezTo>
                    <a:lnTo>
                      <a:pt x="1943100" y="0"/>
                    </a:lnTo>
                    <a:cubicBezTo>
                      <a:pt x="1985184" y="0"/>
                      <a:pt x="2019300" y="34116"/>
                      <a:pt x="2019300" y="76200"/>
                    </a:cubicBezTo>
                    <a:lnTo>
                      <a:pt x="2019300" y="361950"/>
                    </a:lnTo>
                    <a:lnTo>
                      <a:pt x="0" y="361950"/>
                    </a:lnTo>
                    <a:close/>
                  </a:path>
                </a:pathLst>
              </a:custGeom>
              <a:solidFill>
                <a:srgbClr val="FDCCC2"/>
              </a:solidFill>
              <a:ln>
                <a:noFill/>
              </a:ln>
            </p:spPr>
          </p:sp>
          <p:grpSp>
            <p:nvGrpSpPr>
              <p:cNvPr id="34" name="Group 34"/>
              <p:cNvGrpSpPr/>
              <p:nvPr/>
            </p:nvGrpSpPr>
            <p:grpSpPr>
              <a:xfrm>
                <a:off x="2864644" y="1645444"/>
                <a:ext cx="157162" cy="157163"/>
                <a:chOff x="2864644" y="1645444"/>
                <a:chExt cx="157162" cy="157163"/>
              </a:xfrm>
            </p:grpSpPr>
            <p:sp>
              <p:nvSpPr>
                <p:cNvPr id="28" name="Freeform 28"/>
                <p:cNvSpPr/>
                <p:nvPr/>
              </p:nvSpPr>
              <p:spPr>
                <a:xfrm>
                  <a:off x="2925763" y="17152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92102"/>
                  </a:solidFill>
                </a:ln>
              </p:spPr>
            </p:sp>
            <p:sp>
              <p:nvSpPr>
                <p:cNvPr id="29" name="Freeform 29"/>
                <p:cNvSpPr/>
                <p:nvPr/>
              </p:nvSpPr>
              <p:spPr>
                <a:xfrm>
                  <a:off x="2908300" y="177641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B92102"/>
                  </a:solidFill>
                </a:ln>
              </p:spPr>
            </p:sp>
            <p:sp>
              <p:nvSpPr>
                <p:cNvPr id="30" name="Freeform 30"/>
                <p:cNvSpPr/>
                <p:nvPr/>
              </p:nvSpPr>
              <p:spPr>
                <a:xfrm>
                  <a:off x="2969419" y="16454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92102"/>
                  </a:solidFill>
                </a:ln>
              </p:spPr>
            </p:sp>
            <p:sp>
              <p:nvSpPr>
                <p:cNvPr id="31" name="Freeform 31"/>
                <p:cNvSpPr/>
                <p:nvPr/>
              </p:nvSpPr>
              <p:spPr>
                <a:xfrm>
                  <a:off x="2986881" y="170656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B92102"/>
                  </a:solidFill>
                </a:ln>
              </p:spPr>
            </p:sp>
            <p:sp>
              <p:nvSpPr>
                <p:cNvPr id="32" name="Freeform 32"/>
                <p:cNvSpPr/>
                <p:nvPr/>
              </p:nvSpPr>
              <p:spPr>
                <a:xfrm>
                  <a:off x="2882106" y="16454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92102"/>
                  </a:solidFill>
                </a:ln>
              </p:spPr>
            </p:sp>
            <p:sp>
              <p:nvSpPr>
                <p:cNvPr id="33" name="Freeform 33"/>
                <p:cNvSpPr/>
                <p:nvPr/>
              </p:nvSpPr>
              <p:spPr>
                <a:xfrm>
                  <a:off x="2864644" y="170656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B92102"/>
                  </a:solidFill>
                </a:ln>
              </p:spPr>
            </p:sp>
          </p:grpSp>
          <p:sp>
            <p:nvSpPr>
              <p:cNvPr id="35" name="TextBox 35"/>
              <p:cNvSpPr txBox="1"/>
              <p:nvPr/>
            </p:nvSpPr>
            <p:spPr>
              <a:xfrm>
                <a:off x="3137535" y="1659731"/>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客户目标</a:t>
                </a:r>
              </a:p>
            </p:txBody>
          </p:sp>
          <p:sp>
            <p:nvSpPr>
              <p:cNvPr id="36" name="TextBox 36"/>
              <p:cNvSpPr txBox="1"/>
              <p:nvPr/>
            </p:nvSpPr>
            <p:spPr>
              <a:xfrm>
                <a:off x="2980626" y="2070497"/>
                <a:ext cx="1430147" cy="411956"/>
              </a:xfrm>
              <a:prstGeom prst="rect">
                <a:avLst/>
              </a:prstGeom>
              <a:noFill/>
              <a:ln>
                <a:noFill/>
              </a:ln>
            </p:spPr>
            <p:txBody>
              <a:bodyPr wrap="none" lIns="0" tIns="0" rIns="0" bIns="0" anchor="t" anchorCtr="0">
                <a:spAutoFit/>
              </a:bodyPr>
              <a:lstStyle/>
              <a:p>
                <a:pPr algn="ctr">
                  <a:lnSpc>
                    <a:spcPts val="1800"/>
                  </a:lnSpc>
                </a:pPr>
                <a:r>
                  <a:rPr lang="zh-CN" sz="940" dirty="0">
                    <a:solidFill>
                      <a:srgbClr val="473633"/>
                    </a:solidFill>
                    <a:latin typeface="+mn-lt"/>
                    <a:ea typeface="+mn-ea"/>
                    <a:cs typeface="+mn-cs"/>
                  </a:rPr>
                  <a:t>新增客户 XX 户​​​</a:t>
                </a:r>
                <a:br/>
                <a:r>
                  <a:rPr lang="zh-CN" sz="940" dirty="0">
                    <a:solidFill>
                      <a:srgbClr val="473633"/>
                    </a:solidFill>
                    <a:latin typeface="+mn-lt"/>
                    <a:ea typeface="+mn-ea"/>
                    <a:cs typeface="+mn-cs"/>
                  </a:rPr>
                  <a:t>重点客户触达率 XX%​​​​​</a:t>
                </a:r>
              </a:p>
            </p:txBody>
          </p:sp>
        </p:grpSp>
        <p:grpSp>
          <p:nvGrpSpPr>
            <p:cNvPr id="45" name="goal-structure"/>
            <p:cNvGrpSpPr/>
            <p:nvPr/>
          </p:nvGrpSpPr>
          <p:grpSpPr>
            <a:xfrm>
              <a:off x="5086350" y="1543050"/>
              <a:ext cx="2019300" cy="1143000"/>
              <a:chOff x="5086350" y="1543050"/>
              <a:chExt cx="2019300" cy="1143000"/>
            </a:xfrm>
          </p:grpSpPr>
          <p:sp>
            <p:nvSpPr>
              <p:cNvPr id="38" name="Rectangle 38"/>
              <p:cNvSpPr/>
              <p:nvPr/>
            </p:nvSpPr>
            <p:spPr>
              <a:xfrm>
                <a:off x="5086350" y="1543050"/>
                <a:ext cx="2019300" cy="1143000"/>
              </a:xfrm>
              <a:prstGeom prst="roundRect">
                <a:avLst>
                  <a:gd name="adj" fmla="val 6667"/>
                </a:avLst>
              </a:prstGeom>
              <a:solidFill>
                <a:srgbClr val="FFFFFF"/>
              </a:solidFill>
              <a:ln w="9525">
                <a:solidFill>
                  <a:srgbClr val="F7D1C9"/>
                </a:solidFill>
              </a:ln>
            </p:spPr>
          </p:sp>
          <p:sp>
            <p:nvSpPr>
              <p:cNvPr id="39" name="Freeform 39"/>
              <p:cNvSpPr/>
              <p:nvPr/>
            </p:nvSpPr>
            <p:spPr>
              <a:xfrm>
                <a:off x="5086350" y="1543050"/>
                <a:ext cx="2019300" cy="361950"/>
              </a:xfrm>
              <a:custGeom>
                <a:avLst/>
                <a:gdLst/>
                <a:ahLst/>
                <a:cxnLst/>
                <a:rect l="l" t="t" r="r" b="b"/>
                <a:pathLst>
                  <a:path w="2019300" h="361950">
                    <a:moveTo>
                      <a:pt x="0" y="76200"/>
                    </a:moveTo>
                    <a:cubicBezTo>
                      <a:pt x="0" y="34116"/>
                      <a:pt x="34116" y="0"/>
                      <a:pt x="76200" y="0"/>
                    </a:cubicBezTo>
                    <a:lnTo>
                      <a:pt x="1943100" y="0"/>
                    </a:lnTo>
                    <a:cubicBezTo>
                      <a:pt x="1985184" y="0"/>
                      <a:pt x="2019300" y="34116"/>
                      <a:pt x="2019300" y="76200"/>
                    </a:cubicBezTo>
                    <a:lnTo>
                      <a:pt x="2019300" y="361950"/>
                    </a:lnTo>
                    <a:lnTo>
                      <a:pt x="0" y="361950"/>
                    </a:lnTo>
                    <a:close/>
                  </a:path>
                </a:pathLst>
              </a:custGeom>
              <a:solidFill>
                <a:srgbClr val="FDCCC2"/>
              </a:solidFill>
              <a:ln>
                <a:noFill/>
              </a:ln>
            </p:spPr>
          </p:sp>
          <p:grpSp>
            <p:nvGrpSpPr>
              <p:cNvPr id="42" name="Group 42"/>
              <p:cNvGrpSpPr/>
              <p:nvPr/>
            </p:nvGrpSpPr>
            <p:grpSpPr>
              <a:xfrm>
                <a:off x="5262510" y="1646945"/>
                <a:ext cx="157850" cy="158095"/>
                <a:chOff x="5262510" y="1646945"/>
                <a:chExt cx="157850" cy="158095"/>
              </a:xfrm>
            </p:grpSpPr>
            <p:sp>
              <p:nvSpPr>
                <p:cNvPr id="40" name="Freeform 40"/>
                <p:cNvSpPr/>
                <p:nvPr/>
              </p:nvSpPr>
              <p:spPr>
                <a:xfrm>
                  <a:off x="5262510" y="1646945"/>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B92102"/>
                  </a:solidFill>
                </a:ln>
              </p:spPr>
            </p:sp>
            <p:sp>
              <p:nvSpPr>
                <p:cNvPr id="41" name="Freeform 41"/>
                <p:cNvSpPr/>
                <p:nvPr/>
              </p:nvSpPr>
              <p:spPr>
                <a:xfrm>
                  <a:off x="5369719" y="1649809"/>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B92102"/>
                  </a:solidFill>
                </a:ln>
              </p:spPr>
            </p:sp>
          </p:grpSp>
          <p:sp>
            <p:nvSpPr>
              <p:cNvPr id="43" name="TextBox 43"/>
              <p:cNvSpPr txBox="1"/>
              <p:nvPr/>
            </p:nvSpPr>
            <p:spPr>
              <a:xfrm>
                <a:off x="5537835" y="1659731"/>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结构目标</a:t>
                </a:r>
              </a:p>
            </p:txBody>
          </p:sp>
          <p:sp>
            <p:nvSpPr>
              <p:cNvPr id="44" name="TextBox 44"/>
              <p:cNvSpPr txBox="1"/>
              <p:nvPr/>
            </p:nvSpPr>
            <p:spPr>
              <a:xfrm>
                <a:off x="5380926" y="2070497"/>
                <a:ext cx="1430147" cy="411956"/>
              </a:xfrm>
              <a:prstGeom prst="rect">
                <a:avLst/>
              </a:prstGeom>
              <a:noFill/>
              <a:ln>
                <a:noFill/>
              </a:ln>
            </p:spPr>
            <p:txBody>
              <a:bodyPr wrap="none" lIns="0" tIns="0" rIns="0" bIns="0" anchor="t" anchorCtr="0">
                <a:spAutoFit/>
              </a:bodyPr>
              <a:lstStyle/>
              <a:p>
                <a:pPr algn="ctr">
                  <a:lnSpc>
                    <a:spcPts val="1800"/>
                  </a:lnSpc>
                </a:pPr>
                <a:r>
                  <a:rPr lang="zh-CN" sz="940" dirty="0">
                    <a:solidFill>
                      <a:srgbClr val="473633"/>
                    </a:solidFill>
                    <a:latin typeface="+mn-lt"/>
                    <a:ea typeface="+mn-ea"/>
                    <a:cs typeface="+mn-cs"/>
                  </a:rPr>
                  <a:t>对公业务占比 XX%​​​​​</a:t>
                </a:r>
                <a:br/>
                <a:r>
                  <a:rPr lang="zh-CN" sz="940" dirty="0">
                    <a:solidFill>
                      <a:srgbClr val="473633"/>
                    </a:solidFill>
                    <a:latin typeface="+mn-lt"/>
                    <a:ea typeface="+mn-ea"/>
                    <a:cs typeface="+mn-cs"/>
                  </a:rPr>
                  <a:t>中长期业务占比 XX%​​​​​</a:t>
                </a:r>
              </a:p>
            </p:txBody>
          </p:sp>
        </p:grpSp>
        <p:grpSp>
          <p:nvGrpSpPr>
            <p:cNvPr id="55" name="goal-process"/>
            <p:cNvGrpSpPr/>
            <p:nvPr/>
          </p:nvGrpSpPr>
          <p:grpSpPr>
            <a:xfrm>
              <a:off x="7372350" y="1543050"/>
              <a:ext cx="2019300" cy="1143000"/>
              <a:chOff x="7372350" y="1543050"/>
              <a:chExt cx="2019300" cy="1143000"/>
            </a:xfrm>
          </p:grpSpPr>
          <p:sp>
            <p:nvSpPr>
              <p:cNvPr id="46" name="Rectangle 46"/>
              <p:cNvSpPr/>
              <p:nvPr/>
            </p:nvSpPr>
            <p:spPr>
              <a:xfrm>
                <a:off x="7372350" y="1543050"/>
                <a:ext cx="2019300" cy="1143000"/>
              </a:xfrm>
              <a:prstGeom prst="roundRect">
                <a:avLst>
                  <a:gd name="adj" fmla="val 6667"/>
                </a:avLst>
              </a:prstGeom>
              <a:solidFill>
                <a:srgbClr val="FFFFFF"/>
              </a:solidFill>
              <a:ln w="9525">
                <a:solidFill>
                  <a:srgbClr val="F7D1C9"/>
                </a:solidFill>
              </a:ln>
            </p:spPr>
          </p:sp>
          <p:sp>
            <p:nvSpPr>
              <p:cNvPr id="47" name="Freeform 47"/>
              <p:cNvSpPr/>
              <p:nvPr/>
            </p:nvSpPr>
            <p:spPr>
              <a:xfrm>
                <a:off x="7372350" y="1543050"/>
                <a:ext cx="2019300" cy="361950"/>
              </a:xfrm>
              <a:custGeom>
                <a:avLst/>
                <a:gdLst/>
                <a:ahLst/>
                <a:cxnLst/>
                <a:rect l="l" t="t" r="r" b="b"/>
                <a:pathLst>
                  <a:path w="2019300" h="361950">
                    <a:moveTo>
                      <a:pt x="0" y="76200"/>
                    </a:moveTo>
                    <a:cubicBezTo>
                      <a:pt x="0" y="34116"/>
                      <a:pt x="34116" y="0"/>
                      <a:pt x="76200" y="0"/>
                    </a:cubicBezTo>
                    <a:lnTo>
                      <a:pt x="1943100" y="0"/>
                    </a:lnTo>
                    <a:cubicBezTo>
                      <a:pt x="1985184" y="0"/>
                      <a:pt x="2019300" y="34116"/>
                      <a:pt x="2019300" y="76200"/>
                    </a:cubicBezTo>
                    <a:lnTo>
                      <a:pt x="2019300" y="361950"/>
                    </a:lnTo>
                    <a:lnTo>
                      <a:pt x="0" y="361950"/>
                    </a:lnTo>
                    <a:close/>
                  </a:path>
                </a:pathLst>
              </a:custGeom>
              <a:solidFill>
                <a:srgbClr val="FDCCC2"/>
              </a:solidFill>
              <a:ln>
                <a:noFill/>
              </a:ln>
            </p:spPr>
          </p:sp>
          <p:grpSp>
            <p:nvGrpSpPr>
              <p:cNvPr id="52" name="Group 52"/>
              <p:cNvGrpSpPr/>
              <p:nvPr/>
            </p:nvGrpSpPr>
            <p:grpSpPr>
              <a:xfrm>
                <a:off x="7568406" y="1654175"/>
                <a:ext cx="130970" cy="148431"/>
                <a:chOff x="7568406" y="1654175"/>
                <a:chExt cx="130970" cy="148431"/>
              </a:xfrm>
            </p:grpSpPr>
            <p:sp>
              <p:nvSpPr>
                <p:cNvPr id="48" name="Freeform 48"/>
                <p:cNvSpPr/>
                <p:nvPr/>
              </p:nvSpPr>
              <p:spPr>
                <a:xfrm>
                  <a:off x="7568406" y="1654175"/>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B92102"/>
                  </a:solidFill>
                </a:ln>
              </p:spPr>
            </p:sp>
            <p:sp>
              <p:nvSpPr>
                <p:cNvPr id="49" name="Freeform 49"/>
                <p:cNvSpPr/>
                <p:nvPr/>
              </p:nvSpPr>
              <p:spPr>
                <a:xfrm>
                  <a:off x="7646988" y="1767681"/>
                  <a:ext cx="52388" cy="34925"/>
                </a:xfrm>
                <a:custGeom>
                  <a:avLst/>
                  <a:gdLst/>
                  <a:ahLst/>
                  <a:cxnLst/>
                  <a:rect l="l" t="t" r="r" b="b"/>
                  <a:pathLst>
                    <a:path w="52388" h="34925">
                      <a:moveTo>
                        <a:pt x="0" y="17463"/>
                      </a:moveTo>
                      <a:lnTo>
                        <a:pt x="17463" y="34925"/>
                      </a:lnTo>
                      <a:lnTo>
                        <a:pt x="52388" y="0"/>
                      </a:lnTo>
                    </a:path>
                  </a:pathLst>
                </a:custGeom>
                <a:noFill/>
                <a:ln w="17463">
                  <a:solidFill>
                    <a:srgbClr val="B92102"/>
                  </a:solidFill>
                </a:ln>
              </p:spPr>
            </p:sp>
            <p:sp>
              <p:nvSpPr>
                <p:cNvPr id="50" name="Freeform 50"/>
                <p:cNvSpPr/>
                <p:nvPr/>
              </p:nvSpPr>
              <p:spPr>
                <a:xfrm>
                  <a:off x="7603331" y="1689100"/>
                  <a:ext cx="34925" cy="9525"/>
                </a:xfrm>
                <a:custGeom>
                  <a:avLst/>
                  <a:gdLst/>
                  <a:ahLst/>
                  <a:cxnLst/>
                  <a:rect l="l" t="t" r="r" b="b"/>
                  <a:pathLst>
                    <a:path w="34925" h="9525">
                      <a:moveTo>
                        <a:pt x="0" y="0"/>
                      </a:moveTo>
                      <a:lnTo>
                        <a:pt x="34925" y="0"/>
                      </a:lnTo>
                    </a:path>
                  </a:pathLst>
                </a:custGeom>
                <a:noFill/>
                <a:ln w="17463">
                  <a:solidFill>
                    <a:srgbClr val="B92102"/>
                  </a:solidFill>
                </a:ln>
              </p:spPr>
            </p:sp>
            <p:sp>
              <p:nvSpPr>
                <p:cNvPr id="51" name="Freeform 51"/>
                <p:cNvSpPr/>
                <p:nvPr/>
              </p:nvSpPr>
              <p:spPr>
                <a:xfrm>
                  <a:off x="7603331" y="1724025"/>
                  <a:ext cx="17463" cy="9525"/>
                </a:xfrm>
                <a:custGeom>
                  <a:avLst/>
                  <a:gdLst/>
                  <a:ahLst/>
                  <a:cxnLst/>
                  <a:rect l="l" t="t" r="r" b="b"/>
                  <a:pathLst>
                    <a:path w="17463" h="9525">
                      <a:moveTo>
                        <a:pt x="0" y="0"/>
                      </a:moveTo>
                      <a:lnTo>
                        <a:pt x="17463" y="0"/>
                      </a:lnTo>
                    </a:path>
                  </a:pathLst>
                </a:custGeom>
                <a:noFill/>
                <a:ln w="17463">
                  <a:solidFill>
                    <a:srgbClr val="B92102"/>
                  </a:solidFill>
                </a:ln>
              </p:spPr>
            </p:sp>
          </p:grpSp>
          <p:sp>
            <p:nvSpPr>
              <p:cNvPr id="53" name="TextBox 53"/>
              <p:cNvSpPr txBox="1"/>
              <p:nvPr/>
            </p:nvSpPr>
            <p:spPr>
              <a:xfrm>
                <a:off x="7823835" y="1659731"/>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过程目标</a:t>
                </a:r>
              </a:p>
            </p:txBody>
          </p:sp>
          <p:sp>
            <p:nvSpPr>
              <p:cNvPr id="54" name="TextBox 54"/>
              <p:cNvSpPr txBox="1"/>
              <p:nvPr/>
            </p:nvSpPr>
            <p:spPr>
              <a:xfrm>
                <a:off x="7786306" y="2070497"/>
                <a:ext cx="1191387" cy="411956"/>
              </a:xfrm>
              <a:prstGeom prst="rect">
                <a:avLst/>
              </a:prstGeom>
              <a:noFill/>
              <a:ln>
                <a:noFill/>
              </a:ln>
            </p:spPr>
            <p:txBody>
              <a:bodyPr wrap="none" lIns="0" tIns="0" rIns="0" bIns="0" anchor="t" anchorCtr="0">
                <a:spAutoFit/>
              </a:bodyPr>
              <a:lstStyle/>
              <a:p>
                <a:pPr algn="ctr">
                  <a:lnSpc>
                    <a:spcPts val="1800"/>
                  </a:lnSpc>
                </a:pPr>
                <a:r>
                  <a:rPr lang="zh-CN" sz="940" dirty="0">
                    <a:solidFill>
                      <a:srgbClr val="473633"/>
                    </a:solidFill>
                    <a:latin typeface="+mn-lt"/>
                    <a:ea typeface="+mn-ea"/>
                    <a:cs typeface="+mn-cs"/>
                  </a:rPr>
                  <a:t>商机覆盖 XX 亿元​​​</a:t>
                </a:r>
                <a:br/>
                <a:r>
                  <a:rPr lang="zh-CN" sz="940" dirty="0">
                    <a:solidFill>
                      <a:srgbClr val="473633"/>
                    </a:solidFill>
                    <a:latin typeface="+mn-lt"/>
                    <a:ea typeface="+mn-ea"/>
                    <a:cs typeface="+mn-cs"/>
                  </a:rPr>
                  <a:t>商机转化率 XX%​​​​​</a:t>
                </a:r>
              </a:p>
            </p:txBody>
          </p:sp>
        </p:grpSp>
        <p:grpSp>
          <p:nvGrpSpPr>
            <p:cNvPr id="63" name="goal-compliance"/>
            <p:cNvGrpSpPr/>
            <p:nvPr/>
          </p:nvGrpSpPr>
          <p:grpSpPr>
            <a:xfrm>
              <a:off x="9715500" y="1543050"/>
              <a:ext cx="2019300" cy="1143000"/>
              <a:chOff x="9715500" y="1543050"/>
              <a:chExt cx="2019300" cy="1143000"/>
            </a:xfrm>
          </p:grpSpPr>
          <p:sp>
            <p:nvSpPr>
              <p:cNvPr id="56" name="Rectangle 56"/>
              <p:cNvSpPr/>
              <p:nvPr/>
            </p:nvSpPr>
            <p:spPr>
              <a:xfrm>
                <a:off x="9715500" y="1543050"/>
                <a:ext cx="2019300" cy="1143000"/>
              </a:xfrm>
              <a:prstGeom prst="roundRect">
                <a:avLst>
                  <a:gd name="adj" fmla="val 6667"/>
                </a:avLst>
              </a:prstGeom>
              <a:solidFill>
                <a:srgbClr val="FFFFFF"/>
              </a:solidFill>
              <a:ln w="9525">
                <a:solidFill>
                  <a:srgbClr val="F7D1C9"/>
                </a:solidFill>
              </a:ln>
            </p:spPr>
          </p:sp>
          <p:sp>
            <p:nvSpPr>
              <p:cNvPr id="57" name="Freeform 57"/>
              <p:cNvSpPr/>
              <p:nvPr/>
            </p:nvSpPr>
            <p:spPr>
              <a:xfrm>
                <a:off x="9715500" y="1543050"/>
                <a:ext cx="2019300" cy="361950"/>
              </a:xfrm>
              <a:custGeom>
                <a:avLst/>
                <a:gdLst/>
                <a:ahLst/>
                <a:cxnLst/>
                <a:rect l="l" t="t" r="r" b="b"/>
                <a:pathLst>
                  <a:path w="2019300" h="361950">
                    <a:moveTo>
                      <a:pt x="0" y="76200"/>
                    </a:moveTo>
                    <a:cubicBezTo>
                      <a:pt x="0" y="34116"/>
                      <a:pt x="34116" y="0"/>
                      <a:pt x="76200" y="0"/>
                    </a:cubicBezTo>
                    <a:lnTo>
                      <a:pt x="1943100" y="0"/>
                    </a:lnTo>
                    <a:cubicBezTo>
                      <a:pt x="1985184" y="0"/>
                      <a:pt x="2019300" y="34116"/>
                      <a:pt x="2019300" y="76200"/>
                    </a:cubicBezTo>
                    <a:lnTo>
                      <a:pt x="2019300" y="361950"/>
                    </a:lnTo>
                    <a:lnTo>
                      <a:pt x="0" y="361950"/>
                    </a:lnTo>
                    <a:close/>
                  </a:path>
                </a:pathLst>
              </a:custGeom>
              <a:solidFill>
                <a:srgbClr val="FDCCC2"/>
              </a:solidFill>
              <a:ln>
                <a:noFill/>
              </a:ln>
            </p:spPr>
          </p:sp>
          <p:grpSp>
            <p:nvGrpSpPr>
              <p:cNvPr id="60" name="Group 60"/>
              <p:cNvGrpSpPr/>
              <p:nvPr/>
            </p:nvGrpSpPr>
            <p:grpSpPr>
              <a:xfrm>
                <a:off x="9882310" y="1645444"/>
                <a:ext cx="170506" cy="157162"/>
                <a:chOff x="9882310" y="1645444"/>
                <a:chExt cx="170506" cy="157162"/>
              </a:xfrm>
            </p:grpSpPr>
            <p:sp>
              <p:nvSpPr>
                <p:cNvPr id="58" name="Freeform 58"/>
                <p:cNvSpPr/>
                <p:nvPr/>
              </p:nvSpPr>
              <p:spPr>
                <a:xfrm>
                  <a:off x="9882310" y="164544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B92102"/>
                  </a:solidFill>
                </a:ln>
              </p:spPr>
            </p:sp>
            <p:sp>
              <p:nvSpPr>
                <p:cNvPr id="59" name="Freeform 59"/>
                <p:cNvSpPr/>
                <p:nvPr/>
              </p:nvSpPr>
              <p:spPr>
                <a:xfrm>
                  <a:off x="9998869" y="1767681"/>
                  <a:ext cx="52388" cy="34925"/>
                </a:xfrm>
                <a:custGeom>
                  <a:avLst/>
                  <a:gdLst/>
                  <a:ahLst/>
                  <a:cxnLst/>
                  <a:rect l="l" t="t" r="r" b="b"/>
                  <a:pathLst>
                    <a:path w="52388" h="34925">
                      <a:moveTo>
                        <a:pt x="0" y="17463"/>
                      </a:moveTo>
                      <a:lnTo>
                        <a:pt x="17463" y="34925"/>
                      </a:lnTo>
                      <a:lnTo>
                        <a:pt x="52388" y="0"/>
                      </a:lnTo>
                    </a:path>
                  </a:pathLst>
                </a:custGeom>
                <a:noFill/>
                <a:ln w="17463">
                  <a:solidFill>
                    <a:srgbClr val="B92102"/>
                  </a:solidFill>
                </a:ln>
              </p:spPr>
            </p:sp>
          </p:grpSp>
          <p:sp>
            <p:nvSpPr>
              <p:cNvPr id="61" name="TextBox 61"/>
              <p:cNvSpPr txBox="1"/>
              <p:nvPr/>
            </p:nvSpPr>
            <p:spPr>
              <a:xfrm>
                <a:off x="10166985" y="1659731"/>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合规目标</a:t>
                </a:r>
              </a:p>
            </p:txBody>
          </p:sp>
          <p:sp>
            <p:nvSpPr>
              <p:cNvPr id="62" name="TextBox 62"/>
              <p:cNvSpPr txBox="1"/>
              <p:nvPr/>
            </p:nvSpPr>
            <p:spPr>
              <a:xfrm>
                <a:off x="10132441" y="2070497"/>
                <a:ext cx="1185418" cy="411956"/>
              </a:xfrm>
              <a:prstGeom prst="rect">
                <a:avLst/>
              </a:prstGeom>
              <a:noFill/>
              <a:ln>
                <a:noFill/>
              </a:ln>
            </p:spPr>
            <p:txBody>
              <a:bodyPr wrap="none" lIns="0" tIns="0" rIns="0" bIns="0" anchor="t" anchorCtr="0">
                <a:spAutoFit/>
              </a:bodyPr>
              <a:lstStyle/>
              <a:p>
                <a:pPr algn="ctr">
                  <a:lnSpc>
                    <a:spcPts val="1800"/>
                  </a:lnSpc>
                </a:pPr>
                <a:r>
                  <a:rPr lang="zh-CN" sz="940" dirty="0">
                    <a:solidFill>
                      <a:srgbClr val="473633"/>
                    </a:solidFill>
                    <a:latin typeface="+mn-lt"/>
                    <a:ea typeface="+mn-ea"/>
                    <a:cs typeface="+mn-cs"/>
                  </a:rPr>
                  <a:t>不良率 ≤ XX%​​​​​​​</a:t>
                </a:r>
                <a:br/>
                <a:r>
                  <a:rPr lang="zh-CN" sz="940" dirty="0">
                    <a:solidFill>
                      <a:srgbClr val="473633"/>
                    </a:solidFill>
                    <a:latin typeface="+mn-lt"/>
                    <a:ea typeface="+mn-ea"/>
                    <a:cs typeface="+mn-cs"/>
                  </a:rPr>
                  <a:t>合规零事件</a:t>
                </a:r>
              </a:p>
            </p:txBody>
          </p:sp>
        </p:grpSp>
      </p:grpSp>
      <p:grpSp>
        <p:nvGrpSpPr>
          <p:cNvPr id="141" name="breakdown-table"/>
          <p:cNvGrpSpPr/>
          <p:nvPr/>
        </p:nvGrpSpPr>
        <p:grpSpPr>
          <a:xfrm>
            <a:off x="266700" y="2876550"/>
            <a:ext cx="6972300" cy="3695700"/>
            <a:chOff x="266700" y="2876550"/>
            <a:chExt cx="6972300" cy="3695700"/>
          </a:xfrm>
        </p:grpSpPr>
        <p:sp>
          <p:nvSpPr>
            <p:cNvPr id="65" name="Rectangle 65"/>
            <p:cNvSpPr/>
            <p:nvPr/>
          </p:nvSpPr>
          <p:spPr>
            <a:xfrm>
              <a:off x="266700" y="3009900"/>
              <a:ext cx="6972300" cy="3562350"/>
            </a:xfrm>
            <a:prstGeom prst="roundRect">
              <a:avLst>
                <a:gd name="adj" fmla="val 2139"/>
              </a:avLst>
            </a:prstGeom>
            <a:solidFill>
              <a:srgbClr val="FFFFFF"/>
            </a:solidFill>
            <a:ln w="9525">
              <a:solidFill>
                <a:srgbClr val="F7D1C9"/>
              </a:solidFill>
            </a:ln>
          </p:spPr>
        </p:sp>
        <p:sp>
          <p:nvSpPr>
            <p:cNvPr id="66" name="Rectangle 66"/>
            <p:cNvSpPr/>
            <p:nvPr/>
          </p:nvSpPr>
          <p:spPr>
            <a:xfrm>
              <a:off x="266700" y="2876550"/>
              <a:ext cx="2190750" cy="266700"/>
            </a:xfrm>
            <a:prstGeom prst="roundRect">
              <a:avLst>
                <a:gd name="adj" fmla="val 21429"/>
              </a:avLst>
            </a:prstGeom>
            <a:solidFill>
              <a:srgbClr val="6E1604"/>
            </a:solidFill>
            <a:ln>
              <a:noFill/>
            </a:ln>
          </p:spPr>
        </p:sp>
        <p:sp>
          <p:nvSpPr>
            <p:cNvPr id="67" name="TextBox 67"/>
            <p:cNvSpPr txBox="1"/>
            <p:nvPr/>
          </p:nvSpPr>
          <p:spPr>
            <a:xfrm>
              <a:off x="720662" y="2953702"/>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目标分解（按区域）</a:t>
              </a:r>
            </a:p>
          </p:txBody>
        </p:sp>
        <p:sp>
          <p:nvSpPr>
            <p:cNvPr id="68" name="Rectangle 68"/>
            <p:cNvSpPr/>
            <p:nvPr/>
          </p:nvSpPr>
          <p:spPr>
            <a:xfrm>
              <a:off x="381000" y="3257550"/>
              <a:ext cx="6743700" cy="495300"/>
            </a:xfrm>
            <a:prstGeom prst="roundRect">
              <a:avLst>
                <a:gd name="adj" fmla="val 7692"/>
              </a:avLst>
            </a:prstGeom>
            <a:solidFill>
              <a:srgbClr val="B92102"/>
            </a:solidFill>
            <a:ln>
              <a:noFill/>
            </a:ln>
          </p:spPr>
        </p:sp>
        <p:sp>
          <p:nvSpPr>
            <p:cNvPr id="69" name="TextBox 69"/>
            <p:cNvSpPr txBox="1"/>
            <p:nvPr/>
          </p:nvSpPr>
          <p:spPr>
            <a:xfrm>
              <a:off x="777519" y="344757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区域</a:t>
              </a:r>
            </a:p>
          </p:txBody>
        </p:sp>
        <p:sp>
          <p:nvSpPr>
            <p:cNvPr id="70" name="TextBox 70"/>
            <p:cNvSpPr txBox="1"/>
            <p:nvPr/>
          </p:nvSpPr>
          <p:spPr>
            <a:xfrm>
              <a:off x="1662112" y="3369945"/>
              <a:ext cx="866775" cy="328612"/>
            </a:xfrm>
            <a:prstGeom prst="rect">
              <a:avLst/>
            </a:prstGeom>
            <a:noFill/>
            <a:ln>
              <a:noFill/>
            </a:ln>
          </p:spPr>
          <p:txBody>
            <a:bodyPr wrap="none" lIns="0" tIns="0" rIns="0" bIns="0" anchor="t" anchorCtr="0">
              <a:spAutoFit/>
            </a:bodyPr>
            <a:lstStyle/>
            <a:p>
              <a:pPr algn="ctr">
                <a:lnSpc>
                  <a:spcPts val="1200"/>
                </a:lnSpc>
              </a:pPr>
              <a:r>
                <a:rPr lang="zh-CN" sz="900" b="1" dirty="0">
                  <a:solidFill>
                    <a:srgbClr val="FFFFFF"/>
                  </a:solidFill>
                  <a:latin typeface="+mn-lt"/>
                  <a:ea typeface="+mn-ea"/>
                  <a:cs typeface="+mn-cs"/>
                </a:rPr>
                <a:t>月度目标</a:t>
              </a:r>
            </a:p>
            <a:p>
              <a:pPr algn="ctr">
                <a:lnSpc>
                  <a:spcPts val="1200"/>
                </a:lnSpc>
              </a:pPr>
              <a:r>
                <a:rPr lang="zh-CN" sz="750" dirty="0">
                  <a:solidFill>
                    <a:srgbClr val="FFFFFF"/>
                  </a:solidFill>
                  <a:latin typeface="+mn-lt"/>
                  <a:ea typeface="+mn-ea"/>
                  <a:cs typeface="+mn-cs"/>
                </a:rPr>
                <a:t>（新增授信，亿元）</a:t>
              </a:r>
            </a:p>
          </p:txBody>
        </p:sp>
        <p:sp>
          <p:nvSpPr>
            <p:cNvPr id="71" name="TextBox 71"/>
            <p:cNvSpPr txBox="1"/>
            <p:nvPr/>
          </p:nvSpPr>
          <p:spPr>
            <a:xfrm>
              <a:off x="3100388" y="3369945"/>
              <a:ext cx="466725" cy="328612"/>
            </a:xfrm>
            <a:prstGeom prst="rect">
              <a:avLst/>
            </a:prstGeom>
            <a:noFill/>
            <a:ln>
              <a:noFill/>
            </a:ln>
          </p:spPr>
          <p:txBody>
            <a:bodyPr wrap="none" lIns="0" tIns="0" rIns="0" bIns="0" anchor="t" anchorCtr="0">
              <a:spAutoFit/>
            </a:bodyPr>
            <a:lstStyle/>
            <a:p>
              <a:pPr algn="ctr">
                <a:lnSpc>
                  <a:spcPts val="1200"/>
                </a:lnSpc>
              </a:pPr>
              <a:r>
                <a:rPr lang="zh-CN" sz="900" b="1" dirty="0">
                  <a:solidFill>
                    <a:srgbClr val="FFFFFF"/>
                  </a:solidFill>
                  <a:latin typeface="+mn-lt"/>
                  <a:ea typeface="+mn-ea"/>
                  <a:cs typeface="+mn-cs"/>
                </a:rPr>
                <a:t>重点客户</a:t>
              </a:r>
            </a:p>
            <a:p>
              <a:pPr algn="ctr">
                <a:lnSpc>
                  <a:spcPts val="1200"/>
                </a:lnSpc>
              </a:pPr>
              <a:r>
                <a:rPr lang="zh-CN" sz="750" dirty="0">
                  <a:solidFill>
                    <a:srgbClr val="FFFFFF"/>
                  </a:solidFill>
                  <a:latin typeface="+mn-lt"/>
                  <a:ea typeface="+mn-ea"/>
                  <a:cs typeface="+mn-cs"/>
                </a:rPr>
                <a:t>（户）</a:t>
              </a:r>
            </a:p>
          </p:txBody>
        </p:sp>
        <p:sp>
          <p:nvSpPr>
            <p:cNvPr id="72" name="TextBox 72"/>
            <p:cNvSpPr txBox="1"/>
            <p:nvPr/>
          </p:nvSpPr>
          <p:spPr>
            <a:xfrm>
              <a:off x="4243388" y="3369945"/>
              <a:ext cx="466725" cy="328612"/>
            </a:xfrm>
            <a:prstGeom prst="rect">
              <a:avLst/>
            </a:prstGeom>
            <a:noFill/>
            <a:ln>
              <a:noFill/>
            </a:ln>
          </p:spPr>
          <p:txBody>
            <a:bodyPr wrap="none" lIns="0" tIns="0" rIns="0" bIns="0" anchor="t" anchorCtr="0">
              <a:spAutoFit/>
            </a:bodyPr>
            <a:lstStyle/>
            <a:p>
              <a:pPr algn="ctr">
                <a:lnSpc>
                  <a:spcPts val="1200"/>
                </a:lnSpc>
              </a:pPr>
              <a:r>
                <a:rPr lang="zh-CN" sz="900" b="1" dirty="0">
                  <a:solidFill>
                    <a:srgbClr val="FFFFFF"/>
                  </a:solidFill>
                  <a:latin typeface="+mn-lt"/>
                  <a:ea typeface="+mn-ea"/>
                  <a:cs typeface="+mn-cs"/>
                </a:rPr>
                <a:t>重点产品</a:t>
              </a:r>
            </a:p>
            <a:p>
              <a:pPr algn="ctr">
                <a:lnSpc>
                  <a:spcPts val="1200"/>
                </a:lnSpc>
              </a:pPr>
              <a:r>
                <a:rPr lang="zh-CN" sz="750" dirty="0">
                  <a:solidFill>
                    <a:srgbClr val="FFFFFF"/>
                  </a:solidFill>
                  <a:latin typeface="+mn-lt"/>
                  <a:ea typeface="+mn-ea"/>
                  <a:cs typeface="+mn-cs"/>
                </a:rPr>
                <a:t>（亿元）</a:t>
              </a:r>
            </a:p>
          </p:txBody>
        </p:sp>
        <p:sp>
          <p:nvSpPr>
            <p:cNvPr id="73" name="TextBox 73"/>
            <p:cNvSpPr txBox="1"/>
            <p:nvPr/>
          </p:nvSpPr>
          <p:spPr>
            <a:xfrm>
              <a:off x="5386388" y="3369945"/>
              <a:ext cx="466725" cy="328612"/>
            </a:xfrm>
            <a:prstGeom prst="rect">
              <a:avLst/>
            </a:prstGeom>
            <a:noFill/>
            <a:ln>
              <a:noFill/>
            </a:ln>
          </p:spPr>
          <p:txBody>
            <a:bodyPr wrap="none" lIns="0" tIns="0" rIns="0" bIns="0" anchor="t" anchorCtr="0">
              <a:spAutoFit/>
            </a:bodyPr>
            <a:lstStyle/>
            <a:p>
              <a:pPr algn="ctr">
                <a:lnSpc>
                  <a:spcPts val="1200"/>
                </a:lnSpc>
              </a:pPr>
              <a:r>
                <a:rPr lang="zh-CN" sz="900" b="1" dirty="0">
                  <a:solidFill>
                    <a:srgbClr val="FFFFFF"/>
                  </a:solidFill>
                  <a:latin typeface="+mn-lt"/>
                  <a:ea typeface="+mn-ea"/>
                  <a:cs typeface="+mn-cs"/>
                </a:rPr>
                <a:t>商机覆盖</a:t>
              </a:r>
            </a:p>
            <a:p>
              <a:pPr algn="ctr">
                <a:lnSpc>
                  <a:spcPts val="1200"/>
                </a:lnSpc>
              </a:pPr>
              <a:r>
                <a:rPr lang="zh-CN" sz="750" dirty="0">
                  <a:solidFill>
                    <a:srgbClr val="FFFFFF"/>
                  </a:solidFill>
                  <a:latin typeface="+mn-lt"/>
                  <a:ea typeface="+mn-ea"/>
                  <a:cs typeface="+mn-cs"/>
                </a:rPr>
                <a:t>（亿元）</a:t>
              </a:r>
            </a:p>
          </p:txBody>
        </p:sp>
        <p:sp>
          <p:nvSpPr>
            <p:cNvPr id="74" name="TextBox 74"/>
            <p:cNvSpPr txBox="1"/>
            <p:nvPr/>
          </p:nvSpPr>
          <p:spPr>
            <a:xfrm>
              <a:off x="6464656" y="344757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责任人</a:t>
              </a:r>
            </a:p>
          </p:txBody>
        </p:sp>
        <p:sp>
          <p:nvSpPr>
            <p:cNvPr id="75" name="Rectangle 75"/>
            <p:cNvSpPr/>
            <p:nvPr/>
          </p:nvSpPr>
          <p:spPr>
            <a:xfrm>
              <a:off x="381000" y="4286250"/>
              <a:ext cx="6743700" cy="533400"/>
            </a:xfrm>
            <a:prstGeom prst="rect">
              <a:avLst/>
            </a:prstGeom>
            <a:solidFill>
              <a:srgbClr val="F2F7FE"/>
            </a:solidFill>
            <a:ln>
              <a:noFill/>
            </a:ln>
          </p:spPr>
        </p:sp>
        <p:sp>
          <p:nvSpPr>
            <p:cNvPr id="76" name="Rectangle 76"/>
            <p:cNvSpPr/>
            <p:nvPr/>
          </p:nvSpPr>
          <p:spPr>
            <a:xfrm>
              <a:off x="381000" y="5353050"/>
              <a:ext cx="6743700" cy="533400"/>
            </a:xfrm>
            <a:prstGeom prst="rect">
              <a:avLst/>
            </a:prstGeom>
            <a:solidFill>
              <a:srgbClr val="F2F7FE"/>
            </a:solidFill>
            <a:ln>
              <a:noFill/>
            </a:ln>
          </p:spPr>
        </p:sp>
        <p:sp>
          <p:nvSpPr>
            <p:cNvPr id="77" name="Line 77"/>
            <p:cNvSpPr/>
            <p:nvPr/>
          </p:nvSpPr>
          <p:spPr>
            <a:xfrm>
              <a:off x="381000" y="4286250"/>
              <a:ext cx="6743700" cy="9525"/>
            </a:xfrm>
            <a:custGeom>
              <a:avLst/>
              <a:gdLst/>
              <a:ahLst/>
              <a:cxnLst/>
              <a:rect l="l" t="t" r="r" b="b"/>
              <a:pathLst>
                <a:path w="6743700" h="9525">
                  <a:moveTo>
                    <a:pt x="0" y="0"/>
                  </a:moveTo>
                  <a:lnTo>
                    <a:pt x="6743700" y="0"/>
                  </a:lnTo>
                </a:path>
              </a:pathLst>
            </a:custGeom>
            <a:noFill/>
            <a:ln w="9525">
              <a:solidFill>
                <a:srgbClr val="DCE6F8"/>
              </a:solidFill>
            </a:ln>
          </p:spPr>
        </p:sp>
        <p:sp>
          <p:nvSpPr>
            <p:cNvPr id="78" name="Line 78"/>
            <p:cNvSpPr/>
            <p:nvPr/>
          </p:nvSpPr>
          <p:spPr>
            <a:xfrm>
              <a:off x="381000" y="4819650"/>
              <a:ext cx="6743700" cy="9525"/>
            </a:xfrm>
            <a:custGeom>
              <a:avLst/>
              <a:gdLst/>
              <a:ahLst/>
              <a:cxnLst/>
              <a:rect l="l" t="t" r="r" b="b"/>
              <a:pathLst>
                <a:path w="6743700" h="9525">
                  <a:moveTo>
                    <a:pt x="0" y="0"/>
                  </a:moveTo>
                  <a:lnTo>
                    <a:pt x="6743700" y="0"/>
                  </a:lnTo>
                </a:path>
              </a:pathLst>
            </a:custGeom>
            <a:noFill/>
            <a:ln w="9525">
              <a:solidFill>
                <a:srgbClr val="DCE6F8"/>
              </a:solidFill>
            </a:ln>
          </p:spPr>
        </p:sp>
        <p:sp>
          <p:nvSpPr>
            <p:cNvPr id="79" name="Line 79"/>
            <p:cNvSpPr/>
            <p:nvPr/>
          </p:nvSpPr>
          <p:spPr>
            <a:xfrm>
              <a:off x="381000" y="5353050"/>
              <a:ext cx="6743700" cy="9525"/>
            </a:xfrm>
            <a:custGeom>
              <a:avLst/>
              <a:gdLst/>
              <a:ahLst/>
              <a:cxnLst/>
              <a:rect l="l" t="t" r="r" b="b"/>
              <a:pathLst>
                <a:path w="6743700" h="9525">
                  <a:moveTo>
                    <a:pt x="0" y="0"/>
                  </a:moveTo>
                  <a:lnTo>
                    <a:pt x="6743700" y="0"/>
                  </a:lnTo>
                </a:path>
              </a:pathLst>
            </a:custGeom>
            <a:noFill/>
            <a:ln w="9525">
              <a:solidFill>
                <a:srgbClr val="DCE6F8"/>
              </a:solidFill>
            </a:ln>
          </p:spPr>
        </p:sp>
        <p:sp>
          <p:nvSpPr>
            <p:cNvPr id="80" name="Line 80"/>
            <p:cNvSpPr/>
            <p:nvPr/>
          </p:nvSpPr>
          <p:spPr>
            <a:xfrm>
              <a:off x="381000" y="5886450"/>
              <a:ext cx="6743700" cy="9525"/>
            </a:xfrm>
            <a:custGeom>
              <a:avLst/>
              <a:gdLst/>
              <a:ahLst/>
              <a:cxnLst/>
              <a:rect l="l" t="t" r="r" b="b"/>
              <a:pathLst>
                <a:path w="6743700" h="9525">
                  <a:moveTo>
                    <a:pt x="0" y="0"/>
                  </a:moveTo>
                  <a:lnTo>
                    <a:pt x="6743700" y="0"/>
                  </a:lnTo>
                </a:path>
              </a:pathLst>
            </a:custGeom>
            <a:noFill/>
            <a:ln w="9525">
              <a:solidFill>
                <a:srgbClr val="DCE6F8"/>
              </a:solidFill>
            </a:ln>
          </p:spPr>
        </p:sp>
        <p:sp>
          <p:nvSpPr>
            <p:cNvPr id="81" name="Line 81"/>
            <p:cNvSpPr/>
            <p:nvPr/>
          </p:nvSpPr>
          <p:spPr>
            <a:xfrm>
              <a:off x="1447800" y="3752850"/>
              <a:ext cx="9525" cy="2667000"/>
            </a:xfrm>
            <a:custGeom>
              <a:avLst/>
              <a:gdLst/>
              <a:ahLst/>
              <a:cxnLst/>
              <a:rect l="l" t="t" r="r" b="b"/>
              <a:pathLst>
                <a:path w="9525" h="2667000">
                  <a:moveTo>
                    <a:pt x="0" y="0"/>
                  </a:moveTo>
                  <a:lnTo>
                    <a:pt x="0" y="2667000"/>
                  </a:lnTo>
                </a:path>
              </a:pathLst>
            </a:custGeom>
            <a:noFill/>
            <a:ln w="9525">
              <a:solidFill>
                <a:srgbClr val="DCE6F8"/>
              </a:solidFill>
            </a:ln>
          </p:spPr>
        </p:sp>
        <p:sp>
          <p:nvSpPr>
            <p:cNvPr id="82" name="Line 82"/>
            <p:cNvSpPr/>
            <p:nvPr/>
          </p:nvSpPr>
          <p:spPr>
            <a:xfrm>
              <a:off x="2762250" y="3752850"/>
              <a:ext cx="9525" cy="2667000"/>
            </a:xfrm>
            <a:custGeom>
              <a:avLst/>
              <a:gdLst/>
              <a:ahLst/>
              <a:cxnLst/>
              <a:rect l="l" t="t" r="r" b="b"/>
              <a:pathLst>
                <a:path w="9525" h="2667000">
                  <a:moveTo>
                    <a:pt x="0" y="0"/>
                  </a:moveTo>
                  <a:lnTo>
                    <a:pt x="0" y="2667000"/>
                  </a:lnTo>
                </a:path>
              </a:pathLst>
            </a:custGeom>
            <a:noFill/>
            <a:ln w="9525">
              <a:solidFill>
                <a:srgbClr val="DCE6F8"/>
              </a:solidFill>
            </a:ln>
          </p:spPr>
        </p:sp>
        <p:sp>
          <p:nvSpPr>
            <p:cNvPr id="83" name="Line 83"/>
            <p:cNvSpPr/>
            <p:nvPr/>
          </p:nvSpPr>
          <p:spPr>
            <a:xfrm>
              <a:off x="3905250" y="3752850"/>
              <a:ext cx="9525" cy="2667000"/>
            </a:xfrm>
            <a:custGeom>
              <a:avLst/>
              <a:gdLst/>
              <a:ahLst/>
              <a:cxnLst/>
              <a:rect l="l" t="t" r="r" b="b"/>
              <a:pathLst>
                <a:path w="9525" h="2667000">
                  <a:moveTo>
                    <a:pt x="0" y="0"/>
                  </a:moveTo>
                  <a:lnTo>
                    <a:pt x="0" y="2667000"/>
                  </a:lnTo>
                </a:path>
              </a:pathLst>
            </a:custGeom>
            <a:noFill/>
            <a:ln w="9525">
              <a:solidFill>
                <a:srgbClr val="DCE6F8"/>
              </a:solidFill>
            </a:ln>
          </p:spPr>
        </p:sp>
        <p:sp>
          <p:nvSpPr>
            <p:cNvPr id="84" name="Line 84"/>
            <p:cNvSpPr/>
            <p:nvPr/>
          </p:nvSpPr>
          <p:spPr>
            <a:xfrm>
              <a:off x="5048250" y="3752850"/>
              <a:ext cx="9525" cy="2667000"/>
            </a:xfrm>
            <a:custGeom>
              <a:avLst/>
              <a:gdLst/>
              <a:ahLst/>
              <a:cxnLst/>
              <a:rect l="l" t="t" r="r" b="b"/>
              <a:pathLst>
                <a:path w="9525" h="2667000">
                  <a:moveTo>
                    <a:pt x="0" y="0"/>
                  </a:moveTo>
                  <a:lnTo>
                    <a:pt x="0" y="2667000"/>
                  </a:lnTo>
                </a:path>
              </a:pathLst>
            </a:custGeom>
            <a:noFill/>
            <a:ln w="9525">
              <a:solidFill>
                <a:srgbClr val="DCE6F8"/>
              </a:solidFill>
            </a:ln>
          </p:spPr>
        </p:sp>
        <p:sp>
          <p:nvSpPr>
            <p:cNvPr id="85" name="Line 85"/>
            <p:cNvSpPr/>
            <p:nvPr/>
          </p:nvSpPr>
          <p:spPr>
            <a:xfrm>
              <a:off x="6191250" y="3752850"/>
              <a:ext cx="9525" cy="2667000"/>
            </a:xfrm>
            <a:custGeom>
              <a:avLst/>
              <a:gdLst/>
              <a:ahLst/>
              <a:cxnLst/>
              <a:rect l="l" t="t" r="r" b="b"/>
              <a:pathLst>
                <a:path w="9525" h="2667000">
                  <a:moveTo>
                    <a:pt x="0" y="0"/>
                  </a:moveTo>
                  <a:lnTo>
                    <a:pt x="0" y="2667000"/>
                  </a:lnTo>
                </a:path>
              </a:pathLst>
            </a:custGeom>
            <a:noFill/>
            <a:ln w="9525">
              <a:solidFill>
                <a:srgbClr val="DCE6F8"/>
              </a:solidFill>
            </a:ln>
          </p:spPr>
        </p:sp>
        <p:grpSp>
          <p:nvGrpSpPr>
            <p:cNvPr id="96" name="bd-row-a"/>
            <p:cNvGrpSpPr/>
            <p:nvPr/>
          </p:nvGrpSpPr>
          <p:grpSpPr>
            <a:xfrm>
              <a:off x="592931" y="3945731"/>
              <a:ext cx="6194523" cy="206883"/>
              <a:chOff x="592931" y="3945731"/>
              <a:chExt cx="6194523" cy="206883"/>
            </a:xfrm>
          </p:grpSpPr>
          <p:grpSp>
            <p:nvGrpSpPr>
              <p:cNvPr id="89" name="Group 89"/>
              <p:cNvGrpSpPr/>
              <p:nvPr/>
            </p:nvGrpSpPr>
            <p:grpSpPr>
              <a:xfrm>
                <a:off x="592931" y="3945731"/>
                <a:ext cx="128588" cy="128588"/>
                <a:chOff x="592931" y="3945731"/>
                <a:chExt cx="128588" cy="128588"/>
              </a:xfrm>
            </p:grpSpPr>
            <p:sp>
              <p:nvSpPr>
                <p:cNvPr id="86" name="Freeform 86"/>
                <p:cNvSpPr/>
                <p:nvPr/>
              </p:nvSpPr>
              <p:spPr>
                <a:xfrm>
                  <a:off x="650081" y="40028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B92102"/>
                  </a:solidFill>
                </a:ln>
              </p:spPr>
            </p:sp>
            <p:sp>
              <p:nvSpPr>
                <p:cNvPr id="87" name="Freeform 87"/>
                <p:cNvSpPr/>
                <p:nvPr/>
              </p:nvSpPr>
              <p:spPr>
                <a:xfrm>
                  <a:off x="621506" y="39743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B92102"/>
                  </a:solidFill>
                </a:ln>
              </p:spPr>
            </p:sp>
            <p:sp>
              <p:nvSpPr>
                <p:cNvPr id="88" name="Freeform 88"/>
                <p:cNvSpPr/>
                <p:nvPr/>
              </p:nvSpPr>
              <p:spPr>
                <a:xfrm>
                  <a:off x="592931" y="39457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B92102"/>
                  </a:solidFill>
                </a:ln>
              </p:spPr>
            </p:sp>
          </p:grpSp>
          <p:sp>
            <p:nvSpPr>
              <p:cNvPr id="90" name="TextBox 90"/>
              <p:cNvSpPr txBox="1"/>
              <p:nvPr/>
            </p:nvSpPr>
            <p:spPr>
              <a:xfrm>
                <a:off x="814197" y="3961924"/>
                <a:ext cx="595764"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区域A​​​</a:t>
                </a:r>
              </a:p>
            </p:txBody>
          </p:sp>
          <p:sp>
            <p:nvSpPr>
              <p:cNvPr id="91" name="TextBox 91"/>
              <p:cNvSpPr txBox="1"/>
              <p:nvPr/>
            </p:nvSpPr>
            <p:spPr>
              <a:xfrm>
                <a:off x="1975546" y="39619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92" name="TextBox 92"/>
              <p:cNvSpPr txBox="1"/>
              <p:nvPr/>
            </p:nvSpPr>
            <p:spPr>
              <a:xfrm>
                <a:off x="3213796" y="39619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93" name="TextBox 93"/>
              <p:cNvSpPr txBox="1"/>
              <p:nvPr/>
            </p:nvSpPr>
            <p:spPr>
              <a:xfrm>
                <a:off x="4356796" y="39619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94" name="TextBox 94"/>
              <p:cNvSpPr txBox="1"/>
              <p:nvPr/>
            </p:nvSpPr>
            <p:spPr>
              <a:xfrm>
                <a:off x="5499796" y="39619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95" name="TextBox 95"/>
              <p:cNvSpPr txBox="1"/>
              <p:nvPr/>
            </p:nvSpPr>
            <p:spPr>
              <a:xfrm>
                <a:off x="6547546" y="39619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nvGrpSpPr>
            <p:cNvPr id="107" name="bd-row-b"/>
            <p:cNvGrpSpPr/>
            <p:nvPr/>
          </p:nvGrpSpPr>
          <p:grpSpPr>
            <a:xfrm>
              <a:off x="592931" y="4479131"/>
              <a:ext cx="6194523" cy="206883"/>
              <a:chOff x="592931" y="4479131"/>
              <a:chExt cx="6194523" cy="206883"/>
            </a:xfrm>
          </p:grpSpPr>
          <p:grpSp>
            <p:nvGrpSpPr>
              <p:cNvPr id="100" name="Group 100"/>
              <p:cNvGrpSpPr/>
              <p:nvPr/>
            </p:nvGrpSpPr>
            <p:grpSpPr>
              <a:xfrm>
                <a:off x="592931" y="4479131"/>
                <a:ext cx="128588" cy="128588"/>
                <a:chOff x="592931" y="4479131"/>
                <a:chExt cx="128588" cy="128588"/>
              </a:xfrm>
            </p:grpSpPr>
            <p:sp>
              <p:nvSpPr>
                <p:cNvPr id="97" name="Freeform 97"/>
                <p:cNvSpPr/>
                <p:nvPr/>
              </p:nvSpPr>
              <p:spPr>
                <a:xfrm>
                  <a:off x="650081" y="45362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B92102"/>
                  </a:solidFill>
                </a:ln>
              </p:spPr>
            </p:sp>
            <p:sp>
              <p:nvSpPr>
                <p:cNvPr id="98" name="Freeform 98"/>
                <p:cNvSpPr/>
                <p:nvPr/>
              </p:nvSpPr>
              <p:spPr>
                <a:xfrm>
                  <a:off x="621506" y="45077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B92102"/>
                  </a:solidFill>
                </a:ln>
              </p:spPr>
            </p:sp>
            <p:sp>
              <p:nvSpPr>
                <p:cNvPr id="99" name="Freeform 99"/>
                <p:cNvSpPr/>
                <p:nvPr/>
              </p:nvSpPr>
              <p:spPr>
                <a:xfrm>
                  <a:off x="592931" y="44791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B92102"/>
                  </a:solidFill>
                </a:ln>
              </p:spPr>
            </p:sp>
          </p:grpSp>
          <p:sp>
            <p:nvSpPr>
              <p:cNvPr id="101" name="TextBox 101"/>
              <p:cNvSpPr txBox="1"/>
              <p:nvPr/>
            </p:nvSpPr>
            <p:spPr>
              <a:xfrm>
                <a:off x="814197" y="4495324"/>
                <a:ext cx="595764"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区域B​​​</a:t>
                </a:r>
              </a:p>
            </p:txBody>
          </p:sp>
          <p:sp>
            <p:nvSpPr>
              <p:cNvPr id="102" name="TextBox 102"/>
              <p:cNvSpPr txBox="1"/>
              <p:nvPr/>
            </p:nvSpPr>
            <p:spPr>
              <a:xfrm>
                <a:off x="1975546" y="44953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03" name="TextBox 103"/>
              <p:cNvSpPr txBox="1"/>
              <p:nvPr/>
            </p:nvSpPr>
            <p:spPr>
              <a:xfrm>
                <a:off x="3213796" y="44953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04" name="TextBox 104"/>
              <p:cNvSpPr txBox="1"/>
              <p:nvPr/>
            </p:nvSpPr>
            <p:spPr>
              <a:xfrm>
                <a:off x="4356796" y="44953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05" name="TextBox 105"/>
              <p:cNvSpPr txBox="1"/>
              <p:nvPr/>
            </p:nvSpPr>
            <p:spPr>
              <a:xfrm>
                <a:off x="5499796" y="44953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06" name="TextBox 106"/>
              <p:cNvSpPr txBox="1"/>
              <p:nvPr/>
            </p:nvSpPr>
            <p:spPr>
              <a:xfrm>
                <a:off x="6547546" y="44953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nvGrpSpPr>
            <p:cNvPr id="118" name="bd-row-c"/>
            <p:cNvGrpSpPr/>
            <p:nvPr/>
          </p:nvGrpSpPr>
          <p:grpSpPr>
            <a:xfrm>
              <a:off x="592931" y="5012531"/>
              <a:ext cx="6194523" cy="206883"/>
              <a:chOff x="592931" y="5012531"/>
              <a:chExt cx="6194523" cy="206883"/>
            </a:xfrm>
          </p:grpSpPr>
          <p:grpSp>
            <p:nvGrpSpPr>
              <p:cNvPr id="111" name="Group 111"/>
              <p:cNvGrpSpPr/>
              <p:nvPr/>
            </p:nvGrpSpPr>
            <p:grpSpPr>
              <a:xfrm>
                <a:off x="592931" y="5012531"/>
                <a:ext cx="128588" cy="128588"/>
                <a:chOff x="592931" y="5012531"/>
                <a:chExt cx="128588" cy="128588"/>
              </a:xfrm>
            </p:grpSpPr>
            <p:sp>
              <p:nvSpPr>
                <p:cNvPr id="108" name="Freeform 108"/>
                <p:cNvSpPr/>
                <p:nvPr/>
              </p:nvSpPr>
              <p:spPr>
                <a:xfrm>
                  <a:off x="650081" y="50696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B92102"/>
                  </a:solidFill>
                </a:ln>
              </p:spPr>
            </p:sp>
            <p:sp>
              <p:nvSpPr>
                <p:cNvPr id="109" name="Freeform 109"/>
                <p:cNvSpPr/>
                <p:nvPr/>
              </p:nvSpPr>
              <p:spPr>
                <a:xfrm>
                  <a:off x="621506" y="50411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B92102"/>
                  </a:solidFill>
                </a:ln>
              </p:spPr>
            </p:sp>
            <p:sp>
              <p:nvSpPr>
                <p:cNvPr id="110" name="Freeform 110"/>
                <p:cNvSpPr/>
                <p:nvPr/>
              </p:nvSpPr>
              <p:spPr>
                <a:xfrm>
                  <a:off x="592931" y="50125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B92102"/>
                  </a:solidFill>
                </a:ln>
              </p:spPr>
            </p:sp>
          </p:grpSp>
          <p:sp>
            <p:nvSpPr>
              <p:cNvPr id="112" name="TextBox 112"/>
              <p:cNvSpPr txBox="1"/>
              <p:nvPr/>
            </p:nvSpPr>
            <p:spPr>
              <a:xfrm>
                <a:off x="814197" y="5028724"/>
                <a:ext cx="595764"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区域C​​​</a:t>
                </a:r>
              </a:p>
            </p:txBody>
          </p:sp>
          <p:sp>
            <p:nvSpPr>
              <p:cNvPr id="113" name="TextBox 113"/>
              <p:cNvSpPr txBox="1"/>
              <p:nvPr/>
            </p:nvSpPr>
            <p:spPr>
              <a:xfrm>
                <a:off x="1975546" y="50287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14" name="TextBox 114"/>
              <p:cNvSpPr txBox="1"/>
              <p:nvPr/>
            </p:nvSpPr>
            <p:spPr>
              <a:xfrm>
                <a:off x="3213796" y="50287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15" name="TextBox 115"/>
              <p:cNvSpPr txBox="1"/>
              <p:nvPr/>
            </p:nvSpPr>
            <p:spPr>
              <a:xfrm>
                <a:off x="4356796" y="50287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16" name="TextBox 116"/>
              <p:cNvSpPr txBox="1"/>
              <p:nvPr/>
            </p:nvSpPr>
            <p:spPr>
              <a:xfrm>
                <a:off x="5499796" y="50287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17" name="TextBox 117"/>
              <p:cNvSpPr txBox="1"/>
              <p:nvPr/>
            </p:nvSpPr>
            <p:spPr>
              <a:xfrm>
                <a:off x="6547546" y="50287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nvGrpSpPr>
            <p:cNvPr id="129" name="bd-row-d"/>
            <p:cNvGrpSpPr/>
            <p:nvPr/>
          </p:nvGrpSpPr>
          <p:grpSpPr>
            <a:xfrm>
              <a:off x="592931" y="5545931"/>
              <a:ext cx="6194523" cy="206883"/>
              <a:chOff x="592931" y="5545931"/>
              <a:chExt cx="6194523" cy="206883"/>
            </a:xfrm>
          </p:grpSpPr>
          <p:grpSp>
            <p:nvGrpSpPr>
              <p:cNvPr id="122" name="Group 122"/>
              <p:cNvGrpSpPr/>
              <p:nvPr/>
            </p:nvGrpSpPr>
            <p:grpSpPr>
              <a:xfrm>
                <a:off x="592931" y="5545931"/>
                <a:ext cx="128588" cy="128588"/>
                <a:chOff x="592931" y="5545931"/>
                <a:chExt cx="128588" cy="128588"/>
              </a:xfrm>
            </p:grpSpPr>
            <p:sp>
              <p:nvSpPr>
                <p:cNvPr id="119" name="Freeform 119"/>
                <p:cNvSpPr/>
                <p:nvPr/>
              </p:nvSpPr>
              <p:spPr>
                <a:xfrm>
                  <a:off x="650081" y="56030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B92102"/>
                  </a:solidFill>
                </a:ln>
              </p:spPr>
            </p:sp>
            <p:sp>
              <p:nvSpPr>
                <p:cNvPr id="120" name="Freeform 120"/>
                <p:cNvSpPr/>
                <p:nvPr/>
              </p:nvSpPr>
              <p:spPr>
                <a:xfrm>
                  <a:off x="621506" y="55745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B92102"/>
                  </a:solidFill>
                </a:ln>
              </p:spPr>
            </p:sp>
            <p:sp>
              <p:nvSpPr>
                <p:cNvPr id="121" name="Freeform 121"/>
                <p:cNvSpPr/>
                <p:nvPr/>
              </p:nvSpPr>
              <p:spPr>
                <a:xfrm>
                  <a:off x="592931" y="55459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B92102"/>
                  </a:solidFill>
                </a:ln>
              </p:spPr>
            </p:sp>
          </p:grpSp>
          <p:sp>
            <p:nvSpPr>
              <p:cNvPr id="123" name="TextBox 123"/>
              <p:cNvSpPr txBox="1"/>
              <p:nvPr/>
            </p:nvSpPr>
            <p:spPr>
              <a:xfrm>
                <a:off x="814197" y="5562124"/>
                <a:ext cx="595764"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区域D​​​</a:t>
                </a:r>
              </a:p>
            </p:txBody>
          </p:sp>
          <p:sp>
            <p:nvSpPr>
              <p:cNvPr id="124" name="TextBox 124"/>
              <p:cNvSpPr txBox="1"/>
              <p:nvPr/>
            </p:nvSpPr>
            <p:spPr>
              <a:xfrm>
                <a:off x="1975546" y="55621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25" name="TextBox 125"/>
              <p:cNvSpPr txBox="1"/>
              <p:nvPr/>
            </p:nvSpPr>
            <p:spPr>
              <a:xfrm>
                <a:off x="3213796" y="55621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26" name="TextBox 126"/>
              <p:cNvSpPr txBox="1"/>
              <p:nvPr/>
            </p:nvSpPr>
            <p:spPr>
              <a:xfrm>
                <a:off x="4356796" y="55621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27" name="TextBox 127"/>
              <p:cNvSpPr txBox="1"/>
              <p:nvPr/>
            </p:nvSpPr>
            <p:spPr>
              <a:xfrm>
                <a:off x="5499796" y="55621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28" name="TextBox 128"/>
              <p:cNvSpPr txBox="1"/>
              <p:nvPr/>
            </p:nvSpPr>
            <p:spPr>
              <a:xfrm>
                <a:off x="6547546" y="55621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nvGrpSpPr>
            <p:cNvPr id="140" name="bd-row-e"/>
            <p:cNvGrpSpPr/>
            <p:nvPr/>
          </p:nvGrpSpPr>
          <p:grpSpPr>
            <a:xfrm>
              <a:off x="592931" y="6079331"/>
              <a:ext cx="6194523" cy="206883"/>
              <a:chOff x="592931" y="6079331"/>
              <a:chExt cx="6194523" cy="206883"/>
            </a:xfrm>
          </p:grpSpPr>
          <p:grpSp>
            <p:nvGrpSpPr>
              <p:cNvPr id="133" name="Group 133"/>
              <p:cNvGrpSpPr/>
              <p:nvPr/>
            </p:nvGrpSpPr>
            <p:grpSpPr>
              <a:xfrm>
                <a:off x="592931" y="6079331"/>
                <a:ext cx="128588" cy="128588"/>
                <a:chOff x="592931" y="6079331"/>
                <a:chExt cx="128588" cy="128588"/>
              </a:xfrm>
            </p:grpSpPr>
            <p:sp>
              <p:nvSpPr>
                <p:cNvPr id="130" name="Freeform 130"/>
                <p:cNvSpPr/>
                <p:nvPr/>
              </p:nvSpPr>
              <p:spPr>
                <a:xfrm>
                  <a:off x="650081" y="61364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B92102"/>
                  </a:solidFill>
                </a:ln>
              </p:spPr>
            </p:sp>
            <p:sp>
              <p:nvSpPr>
                <p:cNvPr id="131" name="Freeform 131"/>
                <p:cNvSpPr/>
                <p:nvPr/>
              </p:nvSpPr>
              <p:spPr>
                <a:xfrm>
                  <a:off x="621506" y="61079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B92102"/>
                  </a:solidFill>
                </a:ln>
              </p:spPr>
            </p:sp>
            <p:sp>
              <p:nvSpPr>
                <p:cNvPr id="132" name="Freeform 132"/>
                <p:cNvSpPr/>
                <p:nvPr/>
              </p:nvSpPr>
              <p:spPr>
                <a:xfrm>
                  <a:off x="592931" y="60793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B92102"/>
                  </a:solidFill>
                </a:ln>
              </p:spPr>
            </p:sp>
          </p:grpSp>
          <p:sp>
            <p:nvSpPr>
              <p:cNvPr id="134" name="TextBox 134"/>
              <p:cNvSpPr txBox="1"/>
              <p:nvPr/>
            </p:nvSpPr>
            <p:spPr>
              <a:xfrm>
                <a:off x="814197" y="6095524"/>
                <a:ext cx="595764"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区域E​​​</a:t>
                </a:r>
              </a:p>
            </p:txBody>
          </p:sp>
          <p:sp>
            <p:nvSpPr>
              <p:cNvPr id="135" name="TextBox 135"/>
              <p:cNvSpPr txBox="1"/>
              <p:nvPr/>
            </p:nvSpPr>
            <p:spPr>
              <a:xfrm>
                <a:off x="1975546" y="60955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36" name="TextBox 136"/>
              <p:cNvSpPr txBox="1"/>
              <p:nvPr/>
            </p:nvSpPr>
            <p:spPr>
              <a:xfrm>
                <a:off x="3213796" y="60955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37" name="TextBox 137"/>
              <p:cNvSpPr txBox="1"/>
              <p:nvPr/>
            </p:nvSpPr>
            <p:spPr>
              <a:xfrm>
                <a:off x="4356796" y="60955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38" name="TextBox 138"/>
              <p:cNvSpPr txBox="1"/>
              <p:nvPr/>
            </p:nvSpPr>
            <p:spPr>
              <a:xfrm>
                <a:off x="5499796" y="60955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sp>
            <p:nvSpPr>
              <p:cNvPr id="139" name="TextBox 139"/>
              <p:cNvSpPr txBox="1"/>
              <p:nvPr/>
            </p:nvSpPr>
            <p:spPr>
              <a:xfrm>
                <a:off x="6547546" y="6095524"/>
                <a:ext cx="239908" cy="190690"/>
              </a:xfrm>
              <a:prstGeom prst="rect">
                <a:avLst/>
              </a:prstGeom>
              <a:noFill/>
              <a:ln>
                <a:noFill/>
              </a:ln>
            </p:spPr>
            <p:txBody>
              <a:bodyPr wrap="none" lIns="0" tIns="0" rIns="0" bIns="0" anchor="t" anchorCtr="0">
                <a:spAutoFit/>
              </a:bodyPr>
              <a:lstStyle/>
              <a:p>
                <a:pPr algn="ctr"/>
                <a:r>
                  <a:rPr lang="en-US" sz="980" dirty="0">
                    <a:solidFill>
                      <a:srgbClr val="473633"/>
                    </a:solidFill>
                    <a:latin typeface="+mn-lt"/>
                    <a:ea typeface="+mn-ea"/>
                    <a:cs typeface="+mn-cs"/>
                  </a:rPr>
                  <a:t>XX​</a:t>
                </a:r>
              </a:p>
            </p:txBody>
          </p:sp>
        </p:grpSp>
      </p:grpSp>
      <p:grpSp>
        <p:nvGrpSpPr>
          <p:cNvPr id="191" name="milestones"/>
          <p:cNvGrpSpPr/>
          <p:nvPr/>
        </p:nvGrpSpPr>
        <p:grpSpPr>
          <a:xfrm>
            <a:off x="7429500" y="2876550"/>
            <a:ext cx="4495800" cy="3695700"/>
            <a:chOff x="7429500" y="2876550"/>
            <a:chExt cx="4495800" cy="3695700"/>
          </a:xfrm>
        </p:grpSpPr>
        <p:sp>
          <p:nvSpPr>
            <p:cNvPr id="142" name="Rectangle 142"/>
            <p:cNvSpPr/>
            <p:nvPr/>
          </p:nvSpPr>
          <p:spPr>
            <a:xfrm>
              <a:off x="7429500" y="3009900"/>
              <a:ext cx="4495800" cy="3562350"/>
            </a:xfrm>
            <a:prstGeom prst="roundRect">
              <a:avLst>
                <a:gd name="adj" fmla="val 2139"/>
              </a:avLst>
            </a:prstGeom>
            <a:solidFill>
              <a:srgbClr val="FFFFFF"/>
            </a:solidFill>
            <a:ln w="9525">
              <a:solidFill>
                <a:srgbClr val="F7D1C9"/>
              </a:solidFill>
            </a:ln>
          </p:spPr>
        </p:sp>
        <p:sp>
          <p:nvSpPr>
            <p:cNvPr id="143" name="Rectangle 143"/>
            <p:cNvSpPr/>
            <p:nvPr/>
          </p:nvSpPr>
          <p:spPr>
            <a:xfrm>
              <a:off x="7429500" y="2876550"/>
              <a:ext cx="2381250" cy="266700"/>
            </a:xfrm>
            <a:prstGeom prst="roundRect">
              <a:avLst>
                <a:gd name="adj" fmla="val 21429"/>
              </a:avLst>
            </a:prstGeom>
            <a:solidFill>
              <a:srgbClr val="6E1604"/>
            </a:solidFill>
            <a:ln>
              <a:noFill/>
            </a:ln>
          </p:spPr>
        </p:sp>
        <p:sp>
          <p:nvSpPr>
            <p:cNvPr id="144" name="TextBox 144"/>
            <p:cNvSpPr txBox="1"/>
            <p:nvPr/>
          </p:nvSpPr>
          <p:spPr>
            <a:xfrm>
              <a:off x="7796545" y="2953702"/>
              <a:ext cx="16471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过程里程碑（周度推进）​</a:t>
              </a:r>
            </a:p>
          </p:txBody>
        </p:sp>
        <p:grpSp>
          <p:nvGrpSpPr>
            <p:cNvPr id="158" name="ms-row-1"/>
            <p:cNvGrpSpPr/>
            <p:nvPr/>
          </p:nvGrpSpPr>
          <p:grpSpPr>
            <a:xfrm>
              <a:off x="7543800" y="3295650"/>
              <a:ext cx="4267200" cy="571500"/>
              <a:chOff x="7543800" y="3295650"/>
              <a:chExt cx="4267200" cy="571500"/>
            </a:xfrm>
          </p:grpSpPr>
          <p:sp>
            <p:nvSpPr>
              <p:cNvPr id="145" name="Rectangle 145"/>
              <p:cNvSpPr/>
              <p:nvPr/>
            </p:nvSpPr>
            <p:spPr>
              <a:xfrm>
                <a:off x="7543800" y="3295650"/>
                <a:ext cx="4267200" cy="571500"/>
              </a:xfrm>
              <a:prstGeom prst="roundRect">
                <a:avLst>
                  <a:gd name="adj" fmla="val 10000"/>
                </a:avLst>
              </a:prstGeom>
              <a:solidFill>
                <a:srgbClr val="F2F7FE"/>
              </a:solidFill>
              <a:ln w="9525">
                <a:solidFill>
                  <a:srgbClr val="DCE6F8"/>
                </a:solidFill>
              </a:ln>
            </p:spPr>
          </p:sp>
          <p:sp>
            <p:nvSpPr>
              <p:cNvPr id="146" name="Freeform 146"/>
              <p:cNvSpPr/>
              <p:nvPr/>
            </p:nvSpPr>
            <p:spPr>
              <a:xfrm>
                <a:off x="7543800" y="3295650"/>
                <a:ext cx="800100" cy="571500"/>
              </a:xfrm>
              <a:prstGeom prst="homePlate">
                <a:avLst>
                  <a:gd name="adj" fmla="val 35000"/>
                </a:avLst>
              </a:prstGeom>
              <a:solidFill>
                <a:srgbClr val="B92102"/>
              </a:solidFill>
              <a:ln>
                <a:noFill/>
              </a:ln>
            </p:spPr>
          </p:sp>
          <p:sp>
            <p:nvSpPr>
              <p:cNvPr id="147" name="TextBox 147"/>
              <p:cNvSpPr txBox="1"/>
              <p:nvPr/>
            </p:nvSpPr>
            <p:spPr>
              <a:xfrm>
                <a:off x="7664237" y="3503771"/>
                <a:ext cx="406826" cy="278702"/>
              </a:xfrm>
              <a:prstGeom prst="rect">
                <a:avLst/>
              </a:prstGeom>
              <a:noFill/>
              <a:ln>
                <a:noFill/>
              </a:ln>
            </p:spPr>
            <p:txBody>
              <a:bodyPr wrap="none" lIns="0" tIns="0" rIns="0" bIns="0" anchor="t" anchorCtr="0">
                <a:spAutoFit/>
              </a:bodyPr>
              <a:lstStyle/>
              <a:p>
                <a:pPr algn="ctr"/>
                <a:r>
                  <a:rPr lang="en-US" sz="1420" b="1" dirty="0">
                    <a:solidFill>
                      <a:srgbClr val="FFFFFF"/>
                    </a:solidFill>
                    <a:latin typeface="+mn-lt"/>
                    <a:ea typeface="+mn-ea"/>
                    <a:cs typeface="+mn-cs"/>
                  </a:rPr>
                  <a:t>W1​</a:t>
                </a:r>
              </a:p>
            </p:txBody>
          </p:sp>
          <p:sp>
            <p:nvSpPr>
              <p:cNvPr id="148" name="Ellipse 148"/>
              <p:cNvSpPr/>
              <p:nvPr/>
            </p:nvSpPr>
            <p:spPr>
              <a:xfrm>
                <a:off x="8496300" y="3390900"/>
                <a:ext cx="381000" cy="381000"/>
              </a:xfrm>
              <a:prstGeom prst="ellipse">
                <a:avLst/>
              </a:prstGeom>
              <a:solidFill>
                <a:srgbClr val="FFFFFF"/>
              </a:solidFill>
              <a:ln w="11430">
                <a:solidFill>
                  <a:srgbClr val="E3907F"/>
                </a:solidFill>
              </a:ln>
            </p:spPr>
          </p:sp>
          <p:grpSp>
            <p:nvGrpSpPr>
              <p:cNvPr id="155" name="Group 155"/>
              <p:cNvGrpSpPr/>
              <p:nvPr/>
            </p:nvGrpSpPr>
            <p:grpSpPr>
              <a:xfrm>
                <a:off x="8601075" y="3495675"/>
                <a:ext cx="171450" cy="171450"/>
                <a:chOff x="8601075" y="3495675"/>
                <a:chExt cx="171450" cy="171450"/>
              </a:xfrm>
            </p:grpSpPr>
            <p:sp>
              <p:nvSpPr>
                <p:cNvPr id="149" name="Freeform 149"/>
                <p:cNvSpPr/>
                <p:nvPr/>
              </p:nvSpPr>
              <p:spPr>
                <a:xfrm>
                  <a:off x="8667750" y="35718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92102"/>
                  </a:solidFill>
                </a:ln>
              </p:spPr>
            </p:sp>
            <p:sp>
              <p:nvSpPr>
                <p:cNvPr id="150" name="Freeform 150"/>
                <p:cNvSpPr/>
                <p:nvPr/>
              </p:nvSpPr>
              <p:spPr>
                <a:xfrm>
                  <a:off x="8648700" y="36385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B92102"/>
                  </a:solidFill>
                </a:ln>
              </p:spPr>
            </p:sp>
            <p:sp>
              <p:nvSpPr>
                <p:cNvPr id="151" name="Freeform 151"/>
                <p:cNvSpPr/>
                <p:nvPr/>
              </p:nvSpPr>
              <p:spPr>
                <a:xfrm>
                  <a:off x="8715375" y="3495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92102"/>
                  </a:solidFill>
                </a:ln>
              </p:spPr>
            </p:sp>
            <p:sp>
              <p:nvSpPr>
                <p:cNvPr id="152" name="Freeform 152"/>
                <p:cNvSpPr/>
                <p:nvPr/>
              </p:nvSpPr>
              <p:spPr>
                <a:xfrm>
                  <a:off x="8734425" y="35623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B92102"/>
                  </a:solidFill>
                </a:ln>
              </p:spPr>
            </p:sp>
            <p:sp>
              <p:nvSpPr>
                <p:cNvPr id="153" name="Freeform 153"/>
                <p:cNvSpPr/>
                <p:nvPr/>
              </p:nvSpPr>
              <p:spPr>
                <a:xfrm>
                  <a:off x="8620125" y="3495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92102"/>
                  </a:solidFill>
                </a:ln>
              </p:spPr>
            </p:sp>
            <p:sp>
              <p:nvSpPr>
                <p:cNvPr id="154" name="Freeform 154"/>
                <p:cNvSpPr/>
                <p:nvPr/>
              </p:nvSpPr>
              <p:spPr>
                <a:xfrm>
                  <a:off x="8601075" y="35623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B92102"/>
                  </a:solidFill>
                </a:ln>
              </p:spPr>
            </p:sp>
          </p:grpSp>
          <p:sp>
            <p:nvSpPr>
              <p:cNvPr id="156" name="TextBox 156"/>
              <p:cNvSpPr txBox="1"/>
              <p:nvPr/>
            </p:nvSpPr>
            <p:spPr>
              <a:xfrm>
                <a:off x="9003792" y="3511868"/>
                <a:ext cx="377190" cy="264033"/>
              </a:xfrm>
              <a:prstGeom prst="rect">
                <a:avLst/>
              </a:prstGeom>
              <a:noFill/>
              <a:ln>
                <a:noFill/>
              </a:ln>
            </p:spPr>
            <p:txBody>
              <a:bodyPr wrap="none" lIns="0" tIns="0" rIns="0" bIns="0" anchor="t" anchorCtr="0">
                <a:spAutoFit/>
              </a:bodyPr>
              <a:lstStyle/>
              <a:p>
                <a:pPr algn="l"/>
                <a:r>
                  <a:rPr lang="zh-CN" sz="1350" b="1" dirty="0">
                    <a:solidFill>
                      <a:srgbClr val="6E1604"/>
                    </a:solidFill>
                    <a:latin typeface="+mn-lt"/>
                    <a:ea typeface="+mn-ea"/>
                    <a:cs typeface="+mn-cs"/>
                  </a:rPr>
                  <a:t>蓄客</a:t>
                </a:r>
              </a:p>
            </p:txBody>
          </p:sp>
          <p:sp>
            <p:nvSpPr>
              <p:cNvPr id="157" name="TextBox 157"/>
              <p:cNvSpPr txBox="1"/>
              <p:nvPr/>
            </p:nvSpPr>
            <p:spPr>
              <a:xfrm>
                <a:off x="9710738" y="3391614"/>
                <a:ext cx="1108138" cy="440531"/>
              </a:xfrm>
              <a:prstGeom prst="rect">
                <a:avLst/>
              </a:prstGeom>
              <a:noFill/>
              <a:ln>
                <a:noFill/>
              </a:ln>
            </p:spPr>
            <p:txBody>
              <a:bodyPr wrap="none" lIns="0" tIns="0" rIns="0" bIns="0" anchor="t" anchorCtr="0">
                <a:spAutoFit/>
              </a:bodyPr>
              <a:lstStyle/>
              <a:p>
                <a:pPr algn="l" marL="85280" indent="-85280">
                  <a:lnSpc>
                    <a:spcPts val="1125"/>
                  </a:lnSpc>
                  <a:buClr>
                    <a:srgbClr val="473633"/>
                  </a:buClr>
                  <a:buSzTx/>
                  <a:buFontTx/>
                  <a:buChar char="•"/>
                </a:pPr>
                <a:r>
                  <a:rPr lang="zh-CN" sz="790" dirty="0">
                    <a:solidFill>
                      <a:srgbClr val="473633"/>
                    </a:solidFill>
                    <a:latin typeface="+mn-lt"/>
                    <a:ea typeface="+mn-ea"/>
                    <a:cs typeface="+mn-cs"/>
                  </a:rPr>
                  <a:t>客户清单梳理与分层​​</a:t>
                </a:r>
              </a:p>
              <a:p>
                <a:pPr algn="l" marL="85280" indent="-85280">
                  <a:lnSpc>
                    <a:spcPts val="1125"/>
                  </a:lnSpc>
                  <a:buClr>
                    <a:srgbClr val="473633"/>
                  </a:buClr>
                  <a:buSzTx/>
                  <a:buFontTx/>
                  <a:buChar char="•"/>
                </a:pPr>
                <a:r>
                  <a:rPr lang="zh-CN" sz="790" dirty="0">
                    <a:solidFill>
                      <a:srgbClr val="473633"/>
                    </a:solidFill>
                    <a:latin typeface="+mn-lt"/>
                    <a:ea typeface="+mn-ea"/>
                    <a:cs typeface="+mn-cs"/>
                  </a:rPr>
                  <a:t>重点客户集中拜访​​</a:t>
                </a:r>
              </a:p>
              <a:p>
                <a:pPr algn="l" marL="85280" indent="-85280">
                  <a:lnSpc>
                    <a:spcPts val="1125"/>
                  </a:lnSpc>
                  <a:buClr>
                    <a:srgbClr val="473633"/>
                  </a:buClr>
                  <a:buSzTx/>
                  <a:buFontTx/>
                  <a:buChar char="•"/>
                </a:pPr>
                <a:r>
                  <a:rPr lang="zh-CN" sz="790" dirty="0">
                    <a:solidFill>
                      <a:srgbClr val="473633"/>
                    </a:solidFill>
                    <a:latin typeface="+mn-lt"/>
                    <a:ea typeface="+mn-ea"/>
                    <a:cs typeface="+mn-cs"/>
                  </a:rPr>
                  <a:t>商机线索储备​​</a:t>
                </a:r>
              </a:p>
            </p:txBody>
          </p:sp>
        </p:grpSp>
        <p:grpSp>
          <p:nvGrpSpPr>
            <p:cNvPr id="170" name="ms-row-2"/>
            <p:cNvGrpSpPr/>
            <p:nvPr/>
          </p:nvGrpSpPr>
          <p:grpSpPr>
            <a:xfrm>
              <a:off x="7543800" y="4076700"/>
              <a:ext cx="4267200" cy="571500"/>
              <a:chOff x="7543800" y="4076700"/>
              <a:chExt cx="4267200" cy="571500"/>
            </a:xfrm>
          </p:grpSpPr>
          <p:sp>
            <p:nvSpPr>
              <p:cNvPr id="159" name="Rectangle 159"/>
              <p:cNvSpPr/>
              <p:nvPr/>
            </p:nvSpPr>
            <p:spPr>
              <a:xfrm>
                <a:off x="7543800" y="4076700"/>
                <a:ext cx="4267200" cy="571500"/>
              </a:xfrm>
              <a:prstGeom prst="roundRect">
                <a:avLst>
                  <a:gd name="adj" fmla="val 10000"/>
                </a:avLst>
              </a:prstGeom>
              <a:solidFill>
                <a:srgbClr val="F2F7FE"/>
              </a:solidFill>
              <a:ln w="9525">
                <a:solidFill>
                  <a:srgbClr val="DCE6F8"/>
                </a:solidFill>
              </a:ln>
            </p:spPr>
          </p:sp>
          <p:sp>
            <p:nvSpPr>
              <p:cNvPr id="160" name="Freeform 160"/>
              <p:cNvSpPr/>
              <p:nvPr/>
            </p:nvSpPr>
            <p:spPr>
              <a:xfrm>
                <a:off x="7543800" y="4076700"/>
                <a:ext cx="800100" cy="571500"/>
              </a:xfrm>
              <a:prstGeom prst="homePlate">
                <a:avLst>
                  <a:gd name="adj" fmla="val 35000"/>
                </a:avLst>
              </a:prstGeom>
              <a:solidFill>
                <a:srgbClr val="B92102"/>
              </a:solidFill>
              <a:ln>
                <a:noFill/>
              </a:ln>
            </p:spPr>
          </p:sp>
          <p:sp>
            <p:nvSpPr>
              <p:cNvPr id="161" name="TextBox 161"/>
              <p:cNvSpPr txBox="1"/>
              <p:nvPr/>
            </p:nvSpPr>
            <p:spPr>
              <a:xfrm>
                <a:off x="7664237" y="4284821"/>
                <a:ext cx="406826" cy="278702"/>
              </a:xfrm>
              <a:prstGeom prst="rect">
                <a:avLst/>
              </a:prstGeom>
              <a:noFill/>
              <a:ln>
                <a:noFill/>
              </a:ln>
            </p:spPr>
            <p:txBody>
              <a:bodyPr wrap="none" lIns="0" tIns="0" rIns="0" bIns="0" anchor="t" anchorCtr="0">
                <a:spAutoFit/>
              </a:bodyPr>
              <a:lstStyle/>
              <a:p>
                <a:pPr algn="ctr"/>
                <a:r>
                  <a:rPr lang="en-US" sz="1420" b="1" dirty="0">
                    <a:solidFill>
                      <a:srgbClr val="FFFFFF"/>
                    </a:solidFill>
                    <a:latin typeface="+mn-lt"/>
                    <a:ea typeface="+mn-ea"/>
                    <a:cs typeface="+mn-cs"/>
                  </a:rPr>
                  <a:t>W2​</a:t>
                </a:r>
              </a:p>
            </p:txBody>
          </p:sp>
          <p:sp>
            <p:nvSpPr>
              <p:cNvPr id="162" name="Ellipse 162"/>
              <p:cNvSpPr/>
              <p:nvPr/>
            </p:nvSpPr>
            <p:spPr>
              <a:xfrm>
                <a:off x="8496300" y="4171950"/>
                <a:ext cx="381000" cy="381000"/>
              </a:xfrm>
              <a:prstGeom prst="ellipse">
                <a:avLst/>
              </a:prstGeom>
              <a:solidFill>
                <a:srgbClr val="FFFFFF"/>
              </a:solidFill>
              <a:ln w="11430">
                <a:solidFill>
                  <a:srgbClr val="E3907F"/>
                </a:solidFill>
              </a:ln>
            </p:spPr>
          </p:sp>
          <p:grpSp>
            <p:nvGrpSpPr>
              <p:cNvPr id="167" name="Group 167"/>
              <p:cNvGrpSpPr/>
              <p:nvPr/>
            </p:nvGrpSpPr>
            <p:grpSpPr>
              <a:xfrm>
                <a:off x="8601075" y="4286250"/>
                <a:ext cx="171450" cy="152400"/>
                <a:chOff x="8601075" y="4286250"/>
                <a:chExt cx="171450" cy="152400"/>
              </a:xfrm>
            </p:grpSpPr>
            <p:sp>
              <p:nvSpPr>
                <p:cNvPr id="163" name="Freeform 163"/>
                <p:cNvSpPr/>
                <p:nvPr/>
              </p:nvSpPr>
              <p:spPr>
                <a:xfrm>
                  <a:off x="8601075" y="4314825"/>
                  <a:ext cx="171450" cy="9525"/>
                </a:xfrm>
                <a:custGeom>
                  <a:avLst/>
                  <a:gdLst/>
                  <a:ahLst/>
                  <a:cxnLst/>
                  <a:rect l="l" t="t" r="r" b="b"/>
                  <a:pathLst>
                    <a:path w="171450" h="9525">
                      <a:moveTo>
                        <a:pt x="171450" y="0"/>
                      </a:moveTo>
                      <a:lnTo>
                        <a:pt x="0" y="0"/>
                      </a:lnTo>
                    </a:path>
                  </a:pathLst>
                </a:custGeom>
                <a:noFill/>
                <a:ln w="19050">
                  <a:solidFill>
                    <a:srgbClr val="B92102"/>
                  </a:solidFill>
                </a:ln>
              </p:spPr>
            </p:sp>
            <p:sp>
              <p:nvSpPr>
                <p:cNvPr id="164" name="Freeform 164"/>
                <p:cNvSpPr/>
                <p:nvPr/>
              </p:nvSpPr>
              <p:spPr>
                <a:xfrm>
                  <a:off x="8743950" y="4286250"/>
                  <a:ext cx="28575" cy="57150"/>
                </a:xfrm>
                <a:custGeom>
                  <a:avLst/>
                  <a:gdLst/>
                  <a:ahLst/>
                  <a:cxnLst/>
                  <a:rect l="l" t="t" r="r" b="b"/>
                  <a:pathLst>
                    <a:path w="28575" h="57150">
                      <a:moveTo>
                        <a:pt x="0" y="57150"/>
                      </a:moveTo>
                      <a:lnTo>
                        <a:pt x="28575" y="28575"/>
                      </a:lnTo>
                      <a:lnTo>
                        <a:pt x="0" y="0"/>
                      </a:lnTo>
                    </a:path>
                  </a:pathLst>
                </a:custGeom>
                <a:noFill/>
                <a:ln w="19050">
                  <a:solidFill>
                    <a:srgbClr val="B92102"/>
                  </a:solidFill>
                </a:ln>
              </p:spPr>
            </p:sp>
            <p:sp>
              <p:nvSpPr>
                <p:cNvPr id="165" name="Freeform 165"/>
                <p:cNvSpPr/>
                <p:nvPr/>
              </p:nvSpPr>
              <p:spPr>
                <a:xfrm>
                  <a:off x="8601075" y="4381500"/>
                  <a:ext cx="28575" cy="57150"/>
                </a:xfrm>
                <a:custGeom>
                  <a:avLst/>
                  <a:gdLst/>
                  <a:ahLst/>
                  <a:cxnLst/>
                  <a:rect l="l" t="t" r="r" b="b"/>
                  <a:pathLst>
                    <a:path w="28575" h="57150">
                      <a:moveTo>
                        <a:pt x="28575" y="57150"/>
                      </a:moveTo>
                      <a:lnTo>
                        <a:pt x="0" y="28575"/>
                      </a:lnTo>
                      <a:lnTo>
                        <a:pt x="28575" y="0"/>
                      </a:lnTo>
                    </a:path>
                  </a:pathLst>
                </a:custGeom>
                <a:noFill/>
                <a:ln w="19050">
                  <a:solidFill>
                    <a:srgbClr val="B92102"/>
                  </a:solidFill>
                </a:ln>
              </p:spPr>
            </p:sp>
            <p:sp>
              <p:nvSpPr>
                <p:cNvPr id="166" name="Freeform 166"/>
                <p:cNvSpPr/>
                <p:nvPr/>
              </p:nvSpPr>
              <p:spPr>
                <a:xfrm>
                  <a:off x="8601075" y="4410075"/>
                  <a:ext cx="171450" cy="9525"/>
                </a:xfrm>
                <a:custGeom>
                  <a:avLst/>
                  <a:gdLst/>
                  <a:ahLst/>
                  <a:cxnLst/>
                  <a:rect l="l" t="t" r="r" b="b"/>
                  <a:pathLst>
                    <a:path w="171450" h="9525">
                      <a:moveTo>
                        <a:pt x="0" y="0"/>
                      </a:moveTo>
                      <a:lnTo>
                        <a:pt x="171450" y="0"/>
                      </a:lnTo>
                    </a:path>
                  </a:pathLst>
                </a:custGeom>
                <a:noFill/>
                <a:ln w="19050">
                  <a:solidFill>
                    <a:srgbClr val="B92102"/>
                  </a:solidFill>
                </a:ln>
              </p:spPr>
            </p:sp>
          </p:grpSp>
          <p:sp>
            <p:nvSpPr>
              <p:cNvPr id="168" name="TextBox 168"/>
              <p:cNvSpPr txBox="1"/>
              <p:nvPr/>
            </p:nvSpPr>
            <p:spPr>
              <a:xfrm>
                <a:off x="9003792" y="4292918"/>
                <a:ext cx="377190" cy="264033"/>
              </a:xfrm>
              <a:prstGeom prst="rect">
                <a:avLst/>
              </a:prstGeom>
              <a:noFill/>
              <a:ln>
                <a:noFill/>
              </a:ln>
            </p:spPr>
            <p:txBody>
              <a:bodyPr wrap="none" lIns="0" tIns="0" rIns="0" bIns="0" anchor="t" anchorCtr="0">
                <a:spAutoFit/>
              </a:bodyPr>
              <a:lstStyle/>
              <a:p>
                <a:pPr algn="l"/>
                <a:r>
                  <a:rPr lang="zh-CN" sz="1350" b="1" dirty="0">
                    <a:solidFill>
                      <a:srgbClr val="6E1604"/>
                    </a:solidFill>
                    <a:latin typeface="+mn-lt"/>
                    <a:ea typeface="+mn-ea"/>
                    <a:cs typeface="+mn-cs"/>
                  </a:rPr>
                  <a:t>转化</a:t>
                </a:r>
              </a:p>
            </p:txBody>
          </p:sp>
          <p:sp>
            <p:nvSpPr>
              <p:cNvPr id="169" name="TextBox 169"/>
              <p:cNvSpPr txBox="1"/>
              <p:nvPr/>
            </p:nvSpPr>
            <p:spPr>
              <a:xfrm>
                <a:off x="9710738" y="4172664"/>
                <a:ext cx="1108138" cy="440531"/>
              </a:xfrm>
              <a:prstGeom prst="rect">
                <a:avLst/>
              </a:prstGeom>
              <a:noFill/>
              <a:ln>
                <a:noFill/>
              </a:ln>
            </p:spPr>
            <p:txBody>
              <a:bodyPr wrap="none" lIns="0" tIns="0" rIns="0" bIns="0" anchor="t" anchorCtr="0">
                <a:spAutoFit/>
              </a:bodyPr>
              <a:lstStyle/>
              <a:p>
                <a:pPr algn="l" marL="85280" indent="-85280">
                  <a:lnSpc>
                    <a:spcPts val="1125"/>
                  </a:lnSpc>
                  <a:buClr>
                    <a:srgbClr val="473633"/>
                  </a:buClr>
                  <a:buSzTx/>
                  <a:buFontTx/>
                  <a:buChar char="•"/>
                </a:pPr>
                <a:r>
                  <a:rPr lang="zh-CN" sz="790" dirty="0">
                    <a:solidFill>
                      <a:srgbClr val="473633"/>
                    </a:solidFill>
                    <a:latin typeface="+mn-lt"/>
                    <a:ea typeface="+mn-ea"/>
                    <a:cs typeface="+mn-cs"/>
                  </a:rPr>
                  <a:t>需求挖掘与方案匹配​​</a:t>
                </a:r>
              </a:p>
              <a:p>
                <a:pPr algn="l" marL="85280" indent="-85280">
                  <a:lnSpc>
                    <a:spcPts val="1125"/>
                  </a:lnSpc>
                  <a:buClr>
                    <a:srgbClr val="473633"/>
                  </a:buClr>
                  <a:buSzTx/>
                  <a:buFontTx/>
                  <a:buChar char="•"/>
                </a:pPr>
                <a:r>
                  <a:rPr lang="zh-CN" sz="790" dirty="0">
                    <a:solidFill>
                      <a:srgbClr val="473633"/>
                    </a:solidFill>
                    <a:latin typeface="+mn-lt"/>
                    <a:ea typeface="+mn-ea"/>
                    <a:cs typeface="+mn-cs"/>
                  </a:rPr>
                  <a:t>产品组合与定价沟通​​</a:t>
                </a:r>
              </a:p>
              <a:p>
                <a:pPr algn="l" marL="85280" indent="-85280">
                  <a:lnSpc>
                    <a:spcPts val="1125"/>
                  </a:lnSpc>
                  <a:buClr>
                    <a:srgbClr val="473633"/>
                  </a:buClr>
                  <a:buSzTx/>
                  <a:buFontTx/>
                  <a:buChar char="•"/>
                </a:pPr>
                <a:r>
                  <a:rPr lang="zh-CN" sz="790" dirty="0">
                    <a:solidFill>
                      <a:srgbClr val="473633"/>
                    </a:solidFill>
                    <a:latin typeface="+mn-lt"/>
                    <a:ea typeface="+mn-ea"/>
                    <a:cs typeface="+mn-cs"/>
                  </a:rPr>
                  <a:t>商机推进与提速​​</a:t>
                </a:r>
              </a:p>
            </p:txBody>
          </p:sp>
        </p:grpSp>
        <p:grpSp>
          <p:nvGrpSpPr>
            <p:cNvPr id="180" name="ms-row-3"/>
            <p:cNvGrpSpPr/>
            <p:nvPr/>
          </p:nvGrpSpPr>
          <p:grpSpPr>
            <a:xfrm>
              <a:off x="7543800" y="4857750"/>
              <a:ext cx="4267200" cy="571500"/>
              <a:chOff x="7543800" y="4857750"/>
              <a:chExt cx="4267200" cy="571500"/>
            </a:xfrm>
          </p:grpSpPr>
          <p:sp>
            <p:nvSpPr>
              <p:cNvPr id="171" name="Rectangle 171"/>
              <p:cNvSpPr/>
              <p:nvPr/>
            </p:nvSpPr>
            <p:spPr>
              <a:xfrm>
                <a:off x="7543800" y="4857750"/>
                <a:ext cx="4267200" cy="571500"/>
              </a:xfrm>
              <a:prstGeom prst="roundRect">
                <a:avLst>
                  <a:gd name="adj" fmla="val 10000"/>
                </a:avLst>
              </a:prstGeom>
              <a:solidFill>
                <a:srgbClr val="F2F7FE"/>
              </a:solidFill>
              <a:ln w="9525">
                <a:solidFill>
                  <a:srgbClr val="DCE6F8"/>
                </a:solidFill>
              </a:ln>
            </p:spPr>
          </p:sp>
          <p:sp>
            <p:nvSpPr>
              <p:cNvPr id="172" name="Freeform 172"/>
              <p:cNvSpPr/>
              <p:nvPr/>
            </p:nvSpPr>
            <p:spPr>
              <a:xfrm>
                <a:off x="7543800" y="4857750"/>
                <a:ext cx="800100" cy="571500"/>
              </a:xfrm>
              <a:prstGeom prst="homePlate">
                <a:avLst>
                  <a:gd name="adj" fmla="val 35000"/>
                </a:avLst>
              </a:prstGeom>
              <a:solidFill>
                <a:srgbClr val="B92102"/>
              </a:solidFill>
              <a:ln>
                <a:noFill/>
              </a:ln>
            </p:spPr>
          </p:sp>
          <p:sp>
            <p:nvSpPr>
              <p:cNvPr id="173" name="TextBox 173"/>
              <p:cNvSpPr txBox="1"/>
              <p:nvPr/>
            </p:nvSpPr>
            <p:spPr>
              <a:xfrm>
                <a:off x="7664237" y="5065871"/>
                <a:ext cx="406826" cy="278702"/>
              </a:xfrm>
              <a:prstGeom prst="rect">
                <a:avLst/>
              </a:prstGeom>
              <a:noFill/>
              <a:ln>
                <a:noFill/>
              </a:ln>
            </p:spPr>
            <p:txBody>
              <a:bodyPr wrap="none" lIns="0" tIns="0" rIns="0" bIns="0" anchor="t" anchorCtr="0">
                <a:spAutoFit/>
              </a:bodyPr>
              <a:lstStyle/>
              <a:p>
                <a:pPr algn="ctr"/>
                <a:r>
                  <a:rPr lang="en-US" sz="1420" b="1" dirty="0">
                    <a:solidFill>
                      <a:srgbClr val="FFFFFF"/>
                    </a:solidFill>
                    <a:latin typeface="+mn-lt"/>
                    <a:ea typeface="+mn-ea"/>
                    <a:cs typeface="+mn-cs"/>
                  </a:rPr>
                  <a:t>W3​</a:t>
                </a:r>
              </a:p>
            </p:txBody>
          </p:sp>
          <p:sp>
            <p:nvSpPr>
              <p:cNvPr id="174" name="Ellipse 174"/>
              <p:cNvSpPr/>
              <p:nvPr/>
            </p:nvSpPr>
            <p:spPr>
              <a:xfrm>
                <a:off x="8496300" y="4953000"/>
                <a:ext cx="381000" cy="381000"/>
              </a:xfrm>
              <a:prstGeom prst="ellipse">
                <a:avLst/>
              </a:prstGeom>
              <a:solidFill>
                <a:srgbClr val="FFFFFF"/>
              </a:solidFill>
              <a:ln w="11430">
                <a:solidFill>
                  <a:srgbClr val="E3907F"/>
                </a:solidFill>
              </a:ln>
            </p:spPr>
          </p:sp>
          <p:grpSp>
            <p:nvGrpSpPr>
              <p:cNvPr id="177" name="Group 177"/>
              <p:cNvGrpSpPr/>
              <p:nvPr/>
            </p:nvGrpSpPr>
            <p:grpSpPr>
              <a:xfrm>
                <a:off x="8601075" y="5095875"/>
                <a:ext cx="171450" cy="95250"/>
                <a:chOff x="8601075" y="5095875"/>
                <a:chExt cx="171450" cy="95250"/>
              </a:xfrm>
            </p:grpSpPr>
            <p:sp>
              <p:nvSpPr>
                <p:cNvPr id="175" name="Freeform 175"/>
                <p:cNvSpPr/>
                <p:nvPr/>
              </p:nvSpPr>
              <p:spPr>
                <a:xfrm>
                  <a:off x="8601075" y="509587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B92102"/>
                  </a:solidFill>
                </a:ln>
              </p:spPr>
            </p:sp>
            <p:sp>
              <p:nvSpPr>
                <p:cNvPr id="176" name="Freeform 176"/>
                <p:cNvSpPr/>
                <p:nvPr/>
              </p:nvSpPr>
              <p:spPr>
                <a:xfrm>
                  <a:off x="8705850" y="5095875"/>
                  <a:ext cx="66675" cy="66675"/>
                </a:xfrm>
                <a:custGeom>
                  <a:avLst/>
                  <a:gdLst/>
                  <a:ahLst/>
                  <a:cxnLst/>
                  <a:rect l="l" t="t" r="r" b="b"/>
                  <a:pathLst>
                    <a:path w="66675" h="66675">
                      <a:moveTo>
                        <a:pt x="0" y="0"/>
                      </a:moveTo>
                      <a:lnTo>
                        <a:pt x="66675" y="0"/>
                      </a:lnTo>
                      <a:lnTo>
                        <a:pt x="66675" y="66675"/>
                      </a:lnTo>
                    </a:path>
                  </a:pathLst>
                </a:custGeom>
                <a:noFill/>
                <a:ln w="19050">
                  <a:solidFill>
                    <a:srgbClr val="B92102"/>
                  </a:solidFill>
                </a:ln>
              </p:spPr>
            </p:sp>
          </p:grpSp>
          <p:sp>
            <p:nvSpPr>
              <p:cNvPr id="178" name="TextBox 178"/>
              <p:cNvSpPr txBox="1"/>
              <p:nvPr/>
            </p:nvSpPr>
            <p:spPr>
              <a:xfrm>
                <a:off x="9003792" y="5073968"/>
                <a:ext cx="377190" cy="264033"/>
              </a:xfrm>
              <a:prstGeom prst="rect">
                <a:avLst/>
              </a:prstGeom>
              <a:noFill/>
              <a:ln>
                <a:noFill/>
              </a:ln>
            </p:spPr>
            <p:txBody>
              <a:bodyPr wrap="none" lIns="0" tIns="0" rIns="0" bIns="0" anchor="t" anchorCtr="0">
                <a:spAutoFit/>
              </a:bodyPr>
              <a:lstStyle/>
              <a:p>
                <a:pPr algn="l"/>
                <a:r>
                  <a:rPr lang="zh-CN" sz="1350" b="1" dirty="0">
                    <a:solidFill>
                      <a:srgbClr val="6E1604"/>
                    </a:solidFill>
                    <a:latin typeface="+mn-lt"/>
                    <a:ea typeface="+mn-ea"/>
                    <a:cs typeface="+mn-cs"/>
                  </a:rPr>
                  <a:t>突破</a:t>
                </a:r>
              </a:p>
            </p:txBody>
          </p:sp>
          <p:sp>
            <p:nvSpPr>
              <p:cNvPr id="179" name="TextBox 179"/>
              <p:cNvSpPr txBox="1"/>
              <p:nvPr/>
            </p:nvSpPr>
            <p:spPr>
              <a:xfrm>
                <a:off x="9710738" y="4953714"/>
                <a:ext cx="907478" cy="440531"/>
              </a:xfrm>
              <a:prstGeom prst="rect">
                <a:avLst/>
              </a:prstGeom>
              <a:noFill/>
              <a:ln>
                <a:noFill/>
              </a:ln>
            </p:spPr>
            <p:txBody>
              <a:bodyPr wrap="none" lIns="0" tIns="0" rIns="0" bIns="0" anchor="t" anchorCtr="0">
                <a:spAutoFit/>
              </a:bodyPr>
              <a:lstStyle/>
              <a:p>
                <a:pPr algn="l" marL="85280" indent="-85280">
                  <a:lnSpc>
                    <a:spcPts val="1125"/>
                  </a:lnSpc>
                  <a:buClr>
                    <a:srgbClr val="473633"/>
                  </a:buClr>
                  <a:buSzTx/>
                  <a:buFontTx/>
                  <a:buChar char="•"/>
                </a:pPr>
                <a:r>
                  <a:rPr lang="zh-CN" sz="790" dirty="0">
                    <a:solidFill>
                      <a:srgbClr val="473633"/>
                    </a:solidFill>
                    <a:latin typeface="+mn-lt"/>
                    <a:ea typeface="+mn-ea"/>
                    <a:cs typeface="+mn-cs"/>
                  </a:rPr>
                  <a:t>重点项目攻坚​​</a:t>
                </a:r>
              </a:p>
              <a:p>
                <a:pPr algn="l" marL="85280" indent="-85280">
                  <a:lnSpc>
                    <a:spcPts val="1125"/>
                  </a:lnSpc>
                  <a:buClr>
                    <a:srgbClr val="473633"/>
                  </a:buClr>
                  <a:buSzTx/>
                  <a:buFontTx/>
                  <a:buChar char="•"/>
                </a:pPr>
                <a:r>
                  <a:rPr lang="zh-CN" sz="790" dirty="0">
                    <a:solidFill>
                      <a:srgbClr val="473633"/>
                    </a:solidFill>
                    <a:latin typeface="+mn-lt"/>
                    <a:ea typeface="+mn-ea"/>
                    <a:cs typeface="+mn-cs"/>
                  </a:rPr>
                  <a:t>决策链条突破​​</a:t>
                </a:r>
              </a:p>
              <a:p>
                <a:pPr algn="l" marL="85280" indent="-85280">
                  <a:lnSpc>
                    <a:spcPts val="1125"/>
                  </a:lnSpc>
                  <a:buClr>
                    <a:srgbClr val="473633"/>
                  </a:buClr>
                  <a:buSzTx/>
                  <a:buFontTx/>
                  <a:buChar char="•"/>
                </a:pPr>
                <a:r>
                  <a:rPr lang="zh-CN" sz="790" dirty="0">
                    <a:solidFill>
                      <a:srgbClr val="473633"/>
                    </a:solidFill>
                    <a:latin typeface="+mn-lt"/>
                    <a:ea typeface="+mn-ea"/>
                    <a:cs typeface="+mn-cs"/>
                  </a:rPr>
                  <a:t>授信与放款提速​​</a:t>
                </a:r>
              </a:p>
            </p:txBody>
          </p:sp>
        </p:grpSp>
        <p:grpSp>
          <p:nvGrpSpPr>
            <p:cNvPr id="190" name="ms-row-4"/>
            <p:cNvGrpSpPr/>
            <p:nvPr/>
          </p:nvGrpSpPr>
          <p:grpSpPr>
            <a:xfrm>
              <a:off x="7543800" y="5638800"/>
              <a:ext cx="4267200" cy="571500"/>
              <a:chOff x="7543800" y="5638800"/>
              <a:chExt cx="4267200" cy="571500"/>
            </a:xfrm>
          </p:grpSpPr>
          <p:sp>
            <p:nvSpPr>
              <p:cNvPr id="181" name="Rectangle 181"/>
              <p:cNvSpPr/>
              <p:nvPr/>
            </p:nvSpPr>
            <p:spPr>
              <a:xfrm>
                <a:off x="7543800" y="5638800"/>
                <a:ext cx="4267200" cy="571500"/>
              </a:xfrm>
              <a:prstGeom prst="roundRect">
                <a:avLst>
                  <a:gd name="adj" fmla="val 10000"/>
                </a:avLst>
              </a:prstGeom>
              <a:solidFill>
                <a:srgbClr val="F2F7FE"/>
              </a:solidFill>
              <a:ln w="9525">
                <a:solidFill>
                  <a:srgbClr val="DCE6F8"/>
                </a:solidFill>
              </a:ln>
            </p:spPr>
          </p:sp>
          <p:sp>
            <p:nvSpPr>
              <p:cNvPr id="182" name="Freeform 182"/>
              <p:cNvSpPr/>
              <p:nvPr/>
            </p:nvSpPr>
            <p:spPr>
              <a:xfrm>
                <a:off x="7543800" y="5638800"/>
                <a:ext cx="800100" cy="571500"/>
              </a:xfrm>
              <a:prstGeom prst="homePlate">
                <a:avLst>
                  <a:gd name="adj" fmla="val 35000"/>
                </a:avLst>
              </a:prstGeom>
              <a:solidFill>
                <a:srgbClr val="B92102"/>
              </a:solidFill>
              <a:ln>
                <a:noFill/>
              </a:ln>
            </p:spPr>
          </p:sp>
          <p:sp>
            <p:nvSpPr>
              <p:cNvPr id="183" name="TextBox 183"/>
              <p:cNvSpPr txBox="1"/>
              <p:nvPr/>
            </p:nvSpPr>
            <p:spPr>
              <a:xfrm>
                <a:off x="7664237" y="5846921"/>
                <a:ext cx="406826" cy="278702"/>
              </a:xfrm>
              <a:prstGeom prst="rect">
                <a:avLst/>
              </a:prstGeom>
              <a:noFill/>
              <a:ln>
                <a:noFill/>
              </a:ln>
            </p:spPr>
            <p:txBody>
              <a:bodyPr wrap="none" lIns="0" tIns="0" rIns="0" bIns="0" anchor="t" anchorCtr="0">
                <a:spAutoFit/>
              </a:bodyPr>
              <a:lstStyle/>
              <a:p>
                <a:pPr algn="ctr"/>
                <a:r>
                  <a:rPr lang="en-US" sz="1420" b="1" dirty="0">
                    <a:solidFill>
                      <a:srgbClr val="FFFFFF"/>
                    </a:solidFill>
                    <a:latin typeface="+mn-lt"/>
                    <a:ea typeface="+mn-ea"/>
                    <a:cs typeface="+mn-cs"/>
                  </a:rPr>
                  <a:t>W4​</a:t>
                </a:r>
              </a:p>
            </p:txBody>
          </p:sp>
          <p:sp>
            <p:nvSpPr>
              <p:cNvPr id="184" name="Ellipse 184"/>
              <p:cNvSpPr/>
              <p:nvPr/>
            </p:nvSpPr>
            <p:spPr>
              <a:xfrm>
                <a:off x="8496300" y="5734050"/>
                <a:ext cx="381000" cy="381000"/>
              </a:xfrm>
              <a:prstGeom prst="ellipse">
                <a:avLst/>
              </a:prstGeom>
              <a:solidFill>
                <a:srgbClr val="FFFFFF"/>
              </a:solidFill>
              <a:ln w="11430">
                <a:solidFill>
                  <a:srgbClr val="E3907F"/>
                </a:solidFill>
              </a:ln>
            </p:spPr>
          </p:sp>
          <p:grpSp>
            <p:nvGrpSpPr>
              <p:cNvPr id="187" name="Group 187"/>
              <p:cNvGrpSpPr/>
              <p:nvPr/>
            </p:nvGrpSpPr>
            <p:grpSpPr>
              <a:xfrm>
                <a:off x="8601075" y="5838825"/>
                <a:ext cx="171450" cy="171450"/>
                <a:chOff x="8601075" y="5838825"/>
                <a:chExt cx="171450" cy="171450"/>
              </a:xfrm>
            </p:grpSpPr>
            <p:sp>
              <p:nvSpPr>
                <p:cNvPr id="185" name="Freeform 185"/>
                <p:cNvSpPr/>
                <p:nvPr/>
              </p:nvSpPr>
              <p:spPr>
                <a:xfrm>
                  <a:off x="8601075" y="58388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B92102"/>
                  </a:solidFill>
                </a:ln>
              </p:spPr>
            </p:sp>
            <p:sp>
              <p:nvSpPr>
                <p:cNvPr id="186" name="Freeform 186"/>
                <p:cNvSpPr/>
                <p:nvPr/>
              </p:nvSpPr>
              <p:spPr>
                <a:xfrm>
                  <a:off x="8658225" y="5905500"/>
                  <a:ext cx="57150" cy="38100"/>
                </a:xfrm>
                <a:custGeom>
                  <a:avLst/>
                  <a:gdLst/>
                  <a:ahLst/>
                  <a:cxnLst/>
                  <a:rect l="l" t="t" r="r" b="b"/>
                  <a:pathLst>
                    <a:path w="57150" h="38100">
                      <a:moveTo>
                        <a:pt x="0" y="19050"/>
                      </a:moveTo>
                      <a:lnTo>
                        <a:pt x="19050" y="38100"/>
                      </a:lnTo>
                      <a:lnTo>
                        <a:pt x="57150" y="0"/>
                      </a:lnTo>
                    </a:path>
                  </a:pathLst>
                </a:custGeom>
                <a:noFill/>
                <a:ln w="19050">
                  <a:solidFill>
                    <a:srgbClr val="B92102"/>
                  </a:solidFill>
                </a:ln>
              </p:spPr>
            </p:sp>
          </p:grpSp>
          <p:sp>
            <p:nvSpPr>
              <p:cNvPr id="188" name="TextBox 188"/>
              <p:cNvSpPr txBox="1"/>
              <p:nvPr/>
            </p:nvSpPr>
            <p:spPr>
              <a:xfrm>
                <a:off x="9003792" y="5855018"/>
                <a:ext cx="377190" cy="264033"/>
              </a:xfrm>
              <a:prstGeom prst="rect">
                <a:avLst/>
              </a:prstGeom>
              <a:noFill/>
              <a:ln>
                <a:noFill/>
              </a:ln>
            </p:spPr>
            <p:txBody>
              <a:bodyPr wrap="none" lIns="0" tIns="0" rIns="0" bIns="0" anchor="t" anchorCtr="0">
                <a:spAutoFit/>
              </a:bodyPr>
              <a:lstStyle/>
              <a:p>
                <a:pPr algn="l"/>
                <a:r>
                  <a:rPr lang="zh-CN" sz="1350" b="1" dirty="0">
                    <a:solidFill>
                      <a:srgbClr val="6E1604"/>
                    </a:solidFill>
                    <a:latin typeface="+mn-lt"/>
                    <a:ea typeface="+mn-ea"/>
                    <a:cs typeface="+mn-cs"/>
                  </a:rPr>
                  <a:t>收口</a:t>
                </a:r>
              </a:p>
            </p:txBody>
          </p:sp>
          <p:sp>
            <p:nvSpPr>
              <p:cNvPr id="189" name="TextBox 189"/>
              <p:cNvSpPr txBox="1"/>
              <p:nvPr/>
            </p:nvSpPr>
            <p:spPr>
              <a:xfrm>
                <a:off x="9710738" y="5734764"/>
                <a:ext cx="1108138" cy="440531"/>
              </a:xfrm>
              <a:prstGeom prst="rect">
                <a:avLst/>
              </a:prstGeom>
              <a:noFill/>
              <a:ln>
                <a:noFill/>
              </a:ln>
            </p:spPr>
            <p:txBody>
              <a:bodyPr wrap="none" lIns="0" tIns="0" rIns="0" bIns="0" anchor="t" anchorCtr="0">
                <a:spAutoFit/>
              </a:bodyPr>
              <a:lstStyle/>
              <a:p>
                <a:pPr algn="l" marL="85280" indent="-85280">
                  <a:lnSpc>
                    <a:spcPts val="1125"/>
                  </a:lnSpc>
                  <a:buClr>
                    <a:srgbClr val="473633"/>
                  </a:buClr>
                  <a:buSzTx/>
                  <a:buFontTx/>
                  <a:buChar char="•"/>
                </a:pPr>
                <a:r>
                  <a:rPr lang="zh-CN" sz="790" dirty="0">
                    <a:solidFill>
                      <a:srgbClr val="473633"/>
                    </a:solidFill>
                    <a:latin typeface="+mn-lt"/>
                    <a:ea typeface="+mn-ea"/>
                    <a:cs typeface="+mn-cs"/>
                  </a:rPr>
                  <a:t>目标达成冲刺​​</a:t>
                </a:r>
              </a:p>
              <a:p>
                <a:pPr algn="l" marL="85280" indent="-85280">
                  <a:lnSpc>
                    <a:spcPts val="1125"/>
                  </a:lnSpc>
                  <a:buClr>
                    <a:srgbClr val="473633"/>
                  </a:buClr>
                  <a:buSzTx/>
                  <a:buFontTx/>
                  <a:buChar char="•"/>
                </a:pPr>
                <a:r>
                  <a:rPr lang="zh-CN" sz="790" dirty="0">
                    <a:solidFill>
                      <a:srgbClr val="473633"/>
                    </a:solidFill>
                    <a:latin typeface="+mn-lt"/>
                    <a:ea typeface="+mn-ea"/>
                    <a:cs typeface="+mn-cs"/>
                  </a:rPr>
                  <a:t>风险排查与合规把控​​</a:t>
                </a:r>
              </a:p>
              <a:p>
                <a:pPr algn="l" marL="85280" indent="-85280">
                  <a:lnSpc>
                    <a:spcPts val="1125"/>
                  </a:lnSpc>
                  <a:buClr>
                    <a:srgbClr val="473633"/>
                  </a:buClr>
                  <a:buSzTx/>
                  <a:buFontTx/>
                  <a:buChar char="•"/>
                </a:pPr>
                <a:r>
                  <a:rPr lang="zh-CN" sz="790" dirty="0">
                    <a:solidFill>
                      <a:srgbClr val="473633"/>
                    </a:solidFill>
                    <a:latin typeface="+mn-lt"/>
                    <a:ea typeface="+mn-ea"/>
                    <a:cs typeface="+mn-cs"/>
                  </a:rPr>
                  <a:t>数据复盘与闭环​​</a:t>
                </a:r>
              </a:p>
            </p:txBody>
          </p:sp>
        </p:grpSp>
      </p:gr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15​</a:t>
              </a:r>
            </a:p>
          </p:txBody>
        </p:sp>
        <p:sp>
          <p:nvSpPr>
            <p:cNvPr id="4" name="TextBox 4"/>
            <p:cNvSpPr txBox="1"/>
            <p:nvPr/>
          </p:nvSpPr>
          <p:spPr>
            <a:xfrm>
              <a:off x="942594" y="151448"/>
              <a:ext cx="5258600"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9月核心策略</a:t>
              </a:r>
              <a:r>
                <a:rPr lang="zh-CN" sz="1950" b="1" dirty="0">
                  <a:solidFill>
                    <a:srgbClr val="1A1A1A"/>
                  </a:solidFill>
                  <a:latin typeface="SimSun"/>
                  <a:ea typeface="SimSun"/>
                  <a:cs typeface="SimSun"/>
                </a:rPr>
                <a:t>｜四大战役牵引区域增长​​​​</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31" name="campaign-1"/>
          <p:cNvGrpSpPr/>
          <p:nvPr/>
        </p:nvGrpSpPr>
        <p:grpSpPr>
          <a:xfrm>
            <a:off x="266700" y="800100"/>
            <a:ext cx="2743200" cy="2819400"/>
            <a:chOff x="266700" y="800100"/>
            <a:chExt cx="2743200" cy="2819400"/>
          </a:xfrm>
        </p:grpSpPr>
        <p:sp>
          <p:nvSpPr>
            <p:cNvPr id="7" name="Rectangle 7"/>
            <p:cNvSpPr/>
            <p:nvPr/>
          </p:nvSpPr>
          <p:spPr>
            <a:xfrm>
              <a:off x="266700" y="800100"/>
              <a:ext cx="2743200" cy="2819400"/>
            </a:xfrm>
            <a:prstGeom prst="roundRect">
              <a:avLst>
                <a:gd name="adj" fmla="val 2778"/>
              </a:avLst>
            </a:prstGeom>
            <a:solidFill>
              <a:srgbClr val="FFFFFF"/>
            </a:solidFill>
            <a:ln w="9525">
              <a:solidFill>
                <a:srgbClr val="F7D1C9"/>
              </a:solidFill>
            </a:ln>
          </p:spPr>
        </p:sp>
        <p:sp>
          <p:nvSpPr>
            <p:cNvPr id="8" name="Freeform 8"/>
            <p:cNvSpPr/>
            <p:nvPr/>
          </p:nvSpPr>
          <p:spPr>
            <a:xfrm>
              <a:off x="266700" y="800100"/>
              <a:ext cx="476250" cy="247650"/>
            </a:xfrm>
            <a:custGeom>
              <a:avLst/>
              <a:gdLst/>
              <a:ahLst/>
              <a:cxnLst/>
              <a:rect l="l" t="t" r="r" b="b"/>
              <a:pathLst>
                <a:path w="476250" h="247650">
                  <a:moveTo>
                    <a:pt x="0" y="76200"/>
                  </a:moveTo>
                  <a:cubicBezTo>
                    <a:pt x="0" y="34116"/>
                    <a:pt x="34116" y="0"/>
                    <a:pt x="76200" y="0"/>
                  </a:cubicBezTo>
                  <a:lnTo>
                    <a:pt x="476250" y="0"/>
                  </a:lnTo>
                  <a:lnTo>
                    <a:pt x="381000" y="247650"/>
                  </a:lnTo>
                  <a:lnTo>
                    <a:pt x="0" y="247650"/>
                  </a:lnTo>
                  <a:close/>
                </a:path>
              </a:pathLst>
            </a:custGeom>
            <a:solidFill>
              <a:srgbClr val="B92102"/>
            </a:solidFill>
            <a:ln>
              <a:noFill/>
            </a:ln>
          </p:spPr>
        </p:sp>
        <p:sp>
          <p:nvSpPr>
            <p:cNvPr id="9" name="TextBox 9"/>
            <p:cNvSpPr txBox="1"/>
            <p:nvPr/>
          </p:nvSpPr>
          <p:spPr>
            <a:xfrm>
              <a:off x="337965" y="875824"/>
              <a:ext cx="23847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01​</a:t>
              </a:r>
            </a:p>
          </p:txBody>
        </p:sp>
        <p:sp>
          <p:nvSpPr>
            <p:cNvPr id="10" name="Ellipse 10"/>
            <p:cNvSpPr/>
            <p:nvPr/>
          </p:nvSpPr>
          <p:spPr>
            <a:xfrm>
              <a:off x="495300" y="1123950"/>
              <a:ext cx="533400" cy="533400"/>
            </a:xfrm>
            <a:prstGeom prst="ellipse">
              <a:avLst/>
            </a:prstGeom>
            <a:solidFill>
              <a:srgbClr val="EAF3FE"/>
            </a:solidFill>
            <a:ln w="9525">
              <a:solidFill>
                <a:srgbClr val="E3907F"/>
              </a:solidFill>
            </a:ln>
          </p:spPr>
        </p:sp>
        <p:grpSp>
          <p:nvGrpSpPr>
            <p:cNvPr id="14" name="Group 14"/>
            <p:cNvGrpSpPr/>
            <p:nvPr/>
          </p:nvGrpSpPr>
          <p:grpSpPr>
            <a:xfrm>
              <a:off x="647700" y="1276350"/>
              <a:ext cx="228599" cy="228599"/>
              <a:chOff x="647700" y="1276350"/>
              <a:chExt cx="228599" cy="228599"/>
            </a:xfrm>
          </p:grpSpPr>
          <p:sp>
            <p:nvSpPr>
              <p:cNvPr id="11" name="Freeform 11"/>
              <p:cNvSpPr/>
              <p:nvPr/>
            </p:nvSpPr>
            <p:spPr>
              <a:xfrm>
                <a:off x="749300" y="13779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B92102"/>
                </a:solidFill>
              </a:ln>
            </p:spPr>
          </p:sp>
          <p:sp>
            <p:nvSpPr>
              <p:cNvPr id="12" name="Freeform 12"/>
              <p:cNvSpPr/>
              <p:nvPr/>
            </p:nvSpPr>
            <p:spPr>
              <a:xfrm>
                <a:off x="698500" y="132715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B92102"/>
                </a:solidFill>
              </a:ln>
            </p:spPr>
          </p:sp>
          <p:sp>
            <p:nvSpPr>
              <p:cNvPr id="13" name="Freeform 13"/>
              <p:cNvSpPr/>
              <p:nvPr/>
            </p:nvSpPr>
            <p:spPr>
              <a:xfrm>
                <a:off x="647700" y="127635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B92102"/>
                </a:solidFill>
              </a:ln>
            </p:spPr>
          </p:sp>
        </p:grpSp>
        <p:sp>
          <p:nvSpPr>
            <p:cNvPr id="15" name="TextBox 15"/>
            <p:cNvSpPr txBox="1"/>
            <p:nvPr/>
          </p:nvSpPr>
          <p:spPr>
            <a:xfrm>
              <a:off x="1136523" y="1081564"/>
              <a:ext cx="1046836" cy="249364"/>
            </a:xfrm>
            <a:prstGeom prst="rect">
              <a:avLst/>
            </a:prstGeom>
            <a:noFill/>
            <a:ln>
              <a:noFill/>
            </a:ln>
          </p:spPr>
          <p:txBody>
            <a:bodyPr wrap="none" lIns="0" tIns="0" rIns="0" bIns="0" anchor="t" anchorCtr="0">
              <a:spAutoFit/>
            </a:bodyPr>
            <a:lstStyle/>
            <a:p>
              <a:pPr algn="l"/>
              <a:r>
                <a:rPr lang="zh-CN" sz="1280" b="1" dirty="0">
                  <a:solidFill>
                    <a:srgbClr val="6E1604"/>
                  </a:solidFill>
                  <a:latin typeface="+mn-lt"/>
                  <a:ea typeface="+mn-ea"/>
                  <a:cs typeface="+mn-cs"/>
                </a:rPr>
                <a:t>存量深耕战：</a:t>
              </a:r>
            </a:p>
          </p:txBody>
        </p:sp>
        <p:sp>
          <p:nvSpPr>
            <p:cNvPr id="16" name="TextBox 16"/>
            <p:cNvSpPr txBox="1"/>
            <p:nvPr/>
          </p:nvSpPr>
          <p:spPr>
            <a:xfrm>
              <a:off x="1137856" y="1338501"/>
              <a:ext cx="1367063" cy="388525"/>
            </a:xfrm>
            <a:prstGeom prst="rect">
              <a:avLst/>
            </a:prstGeom>
            <a:noFill/>
            <a:ln>
              <a:noFill/>
            </a:ln>
          </p:spPr>
          <p:txBody>
            <a:bodyPr wrap="none" lIns="0" tIns="0" rIns="0" bIns="0" anchor="t" anchorCtr="0">
              <a:spAutoFit/>
            </a:bodyPr>
            <a:lstStyle/>
            <a:p>
              <a:pPr algn="l">
                <a:lnSpc>
                  <a:spcPts val="1500"/>
                </a:lnSpc>
              </a:pPr>
              <a:r>
                <a:rPr lang="zh-CN" sz="1010" b="1" dirty="0">
                  <a:solidFill>
                    <a:srgbClr val="473633"/>
                  </a:solidFill>
                  <a:latin typeface="+mn-lt"/>
                  <a:ea typeface="+mn-ea"/>
                  <a:cs typeface="+mn-cs"/>
                </a:rPr>
                <a:t>客户迁移、到期承接、​</a:t>
              </a:r>
              <a:br/>
              <a:r>
                <a:rPr lang="zh-CN" sz="1010" b="1" dirty="0">
                  <a:solidFill>
                    <a:srgbClr val="473633"/>
                  </a:solidFill>
                  <a:latin typeface="+mn-lt"/>
                  <a:ea typeface="+mn-ea"/>
                  <a:cs typeface="+mn-cs"/>
                </a:rPr>
                <a:t>交叉销售</a:t>
              </a:r>
            </a:p>
          </p:txBody>
        </p:sp>
        <p:sp>
          <p:nvSpPr>
            <p:cNvPr id="17" name="Line 17"/>
            <p:cNvSpPr/>
            <p:nvPr/>
          </p:nvSpPr>
          <p:spPr>
            <a:xfrm>
              <a:off x="381000" y="1809750"/>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18" name="TextBox 18"/>
            <p:cNvSpPr txBox="1"/>
            <p:nvPr/>
          </p:nvSpPr>
          <p:spPr>
            <a:xfrm>
              <a:off x="395288" y="1934289"/>
              <a:ext cx="2141538" cy="754856"/>
            </a:xfrm>
            <a:prstGeom prst="rect">
              <a:avLst/>
            </a:prstGeom>
            <a:noFill/>
            <a:ln>
              <a:noFill/>
            </a:ln>
          </p:spPr>
          <p:txBody>
            <a:bodyPr wrap="none" lIns="0" tIns="0" rIns="0" bIns="0" anchor="t" anchorCtr="0">
              <a:spAutoFit/>
            </a:bodyPr>
            <a:lstStyle/>
            <a:p>
              <a:pPr algn="l" marL="85280" indent="-85280">
                <a:lnSpc>
                  <a:spcPts val="1575"/>
                </a:lnSpc>
                <a:buClr>
                  <a:srgbClr val="473633"/>
                </a:buClr>
                <a:buSzTx/>
                <a:buFontTx/>
                <a:buChar char="•"/>
              </a:pPr>
              <a:r>
                <a:rPr lang="zh-CN" sz="790" dirty="0">
                  <a:solidFill>
                    <a:srgbClr val="473633"/>
                  </a:solidFill>
                  <a:latin typeface="+mn-lt"/>
                  <a:ea typeface="+mn-ea"/>
                  <a:cs typeface="+mn-cs"/>
                </a:rPr>
                <a:t>核心客户分层，明确迁移与承接清单​​​</a:t>
              </a:r>
            </a:p>
            <a:p>
              <a:pPr algn="l" marL="85280" indent="-85280">
                <a:lnSpc>
                  <a:spcPts val="1575"/>
                </a:lnSpc>
                <a:buClr>
                  <a:srgbClr val="473633"/>
                </a:buClr>
                <a:buSzTx/>
                <a:buFontTx/>
                <a:buChar char="•"/>
              </a:pPr>
              <a:r>
                <a:rPr lang="zh-CN" sz="790" dirty="0">
                  <a:solidFill>
                    <a:srgbClr val="473633"/>
                  </a:solidFill>
                  <a:latin typeface="+mn-lt"/>
                  <a:ea typeface="+mn-ea"/>
                  <a:cs typeface="+mn-cs"/>
                </a:rPr>
                <a:t>到期资产提前90天触达，制定承接方案​​​​​​</a:t>
              </a:r>
            </a:p>
            <a:p>
              <a:pPr algn="l" marL="85280" indent="-85280">
                <a:lnSpc>
                  <a:spcPts val="1575"/>
                </a:lnSpc>
                <a:buClr>
                  <a:srgbClr val="473633"/>
                </a:buClr>
                <a:buSzTx/>
                <a:buFontTx/>
                <a:buChar char="•"/>
              </a:pPr>
              <a:r>
                <a:rPr lang="zh-CN" sz="790" dirty="0">
                  <a:solidFill>
                    <a:srgbClr val="473633"/>
                  </a:solidFill>
                  <a:latin typeface="+mn-lt"/>
                  <a:ea typeface="+mn-ea"/>
                  <a:cs typeface="+mn-cs"/>
                </a:rPr>
                <a:t>以客户为中心推进交叉销售与产品组合​​​</a:t>
              </a:r>
            </a:p>
            <a:p>
              <a:pPr algn="l" marL="85280" indent="-85280">
                <a:lnSpc>
                  <a:spcPts val="1575"/>
                </a:lnSpc>
                <a:buClr>
                  <a:srgbClr val="473633"/>
                </a:buClr>
                <a:buSzTx/>
                <a:buFontTx/>
                <a:buChar char="•"/>
              </a:pPr>
              <a:r>
                <a:rPr lang="zh-CN" sz="790" dirty="0">
                  <a:solidFill>
                    <a:srgbClr val="473633"/>
                  </a:solidFill>
                  <a:latin typeface="+mn-lt"/>
                  <a:ea typeface="+mn-ea"/>
                  <a:cs typeface="+mn-cs"/>
                </a:rPr>
                <a:t>老客回访与价值复盘，提升客户黏性​​​</a:t>
              </a:r>
            </a:p>
          </p:txBody>
        </p:sp>
        <p:sp>
          <p:nvSpPr>
            <p:cNvPr id="19" name="Rectangle 19"/>
            <p:cNvSpPr/>
            <p:nvPr/>
          </p:nvSpPr>
          <p:spPr>
            <a:xfrm>
              <a:off x="381000" y="2819400"/>
              <a:ext cx="581025" cy="666750"/>
            </a:xfrm>
            <a:prstGeom prst="roundRect">
              <a:avLst>
                <a:gd name="adj" fmla="val 6557"/>
              </a:avLst>
            </a:prstGeom>
            <a:solidFill>
              <a:srgbClr val="EAF3FE"/>
            </a:solidFill>
            <a:ln>
              <a:noFill/>
            </a:ln>
          </p:spPr>
        </p:sp>
        <p:sp>
          <p:nvSpPr>
            <p:cNvPr id="20" name="TextBox 20"/>
            <p:cNvSpPr txBox="1"/>
            <p:nvPr/>
          </p:nvSpPr>
          <p:spPr>
            <a:xfrm>
              <a:off x="433134" y="2937034"/>
              <a:ext cx="467233"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存量迁移率</a:t>
              </a:r>
            </a:p>
          </p:txBody>
        </p:sp>
        <p:sp>
          <p:nvSpPr>
            <p:cNvPr id="21" name="TextBox 21"/>
            <p:cNvSpPr txBox="1"/>
            <p:nvPr/>
          </p:nvSpPr>
          <p:spPr>
            <a:xfrm>
              <a:off x="405658" y="3190399"/>
              <a:ext cx="522183"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22" name="Rectangle 22"/>
            <p:cNvSpPr/>
            <p:nvPr/>
          </p:nvSpPr>
          <p:spPr>
            <a:xfrm>
              <a:off x="1019175" y="2819400"/>
              <a:ext cx="581025" cy="666750"/>
            </a:xfrm>
            <a:prstGeom prst="roundRect">
              <a:avLst>
                <a:gd name="adj" fmla="val 6557"/>
              </a:avLst>
            </a:prstGeom>
            <a:solidFill>
              <a:srgbClr val="EAF3FE"/>
            </a:solidFill>
            <a:ln>
              <a:noFill/>
            </a:ln>
          </p:spPr>
        </p:sp>
        <p:sp>
          <p:nvSpPr>
            <p:cNvPr id="23" name="TextBox 23"/>
            <p:cNvSpPr txBox="1"/>
            <p:nvPr/>
          </p:nvSpPr>
          <p:spPr>
            <a:xfrm>
              <a:off x="1071308" y="2937034"/>
              <a:ext cx="467233"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到期承接率</a:t>
              </a:r>
            </a:p>
          </p:txBody>
        </p:sp>
        <p:sp>
          <p:nvSpPr>
            <p:cNvPr id="24" name="TextBox 24"/>
            <p:cNvSpPr txBox="1"/>
            <p:nvPr/>
          </p:nvSpPr>
          <p:spPr>
            <a:xfrm>
              <a:off x="1043833" y="3190399"/>
              <a:ext cx="522183"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25" name="Rectangle 25"/>
            <p:cNvSpPr/>
            <p:nvPr/>
          </p:nvSpPr>
          <p:spPr>
            <a:xfrm>
              <a:off x="1657350" y="2819400"/>
              <a:ext cx="581025" cy="666750"/>
            </a:xfrm>
            <a:prstGeom prst="roundRect">
              <a:avLst>
                <a:gd name="adj" fmla="val 6557"/>
              </a:avLst>
            </a:prstGeom>
            <a:solidFill>
              <a:srgbClr val="EAF3FE"/>
            </a:solidFill>
            <a:ln>
              <a:noFill/>
            </a:ln>
          </p:spPr>
        </p:sp>
        <p:sp>
          <p:nvSpPr>
            <p:cNvPr id="26" name="TextBox 26"/>
            <p:cNvSpPr txBox="1"/>
            <p:nvPr/>
          </p:nvSpPr>
          <p:spPr>
            <a:xfrm>
              <a:off x="1709484" y="2937034"/>
              <a:ext cx="467233"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交叉销售率</a:t>
              </a:r>
            </a:p>
          </p:txBody>
        </p:sp>
        <p:sp>
          <p:nvSpPr>
            <p:cNvPr id="27" name="TextBox 27"/>
            <p:cNvSpPr txBox="1"/>
            <p:nvPr/>
          </p:nvSpPr>
          <p:spPr>
            <a:xfrm>
              <a:off x="1682008" y="3190399"/>
              <a:ext cx="522183"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28" name="Rectangle 28"/>
            <p:cNvSpPr/>
            <p:nvPr/>
          </p:nvSpPr>
          <p:spPr>
            <a:xfrm>
              <a:off x="2295525" y="2819400"/>
              <a:ext cx="581025" cy="666750"/>
            </a:xfrm>
            <a:prstGeom prst="roundRect">
              <a:avLst>
                <a:gd name="adj" fmla="val 6557"/>
              </a:avLst>
            </a:prstGeom>
            <a:solidFill>
              <a:srgbClr val="EAF3FE"/>
            </a:solidFill>
            <a:ln>
              <a:noFill/>
            </a:ln>
          </p:spPr>
        </p:sp>
        <p:sp>
          <p:nvSpPr>
            <p:cNvPr id="29" name="TextBox 29"/>
            <p:cNvSpPr txBox="1"/>
            <p:nvPr/>
          </p:nvSpPr>
          <p:spPr>
            <a:xfrm>
              <a:off x="2347658" y="2937034"/>
              <a:ext cx="467233"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客户留存率</a:t>
              </a:r>
            </a:p>
          </p:txBody>
        </p:sp>
        <p:sp>
          <p:nvSpPr>
            <p:cNvPr id="30" name="TextBox 30"/>
            <p:cNvSpPr txBox="1"/>
            <p:nvPr/>
          </p:nvSpPr>
          <p:spPr>
            <a:xfrm>
              <a:off x="2320183" y="3190399"/>
              <a:ext cx="522183"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grpSp>
      <p:grpSp>
        <p:nvGrpSpPr>
          <p:cNvPr id="59" name="campaign-2"/>
          <p:cNvGrpSpPr/>
          <p:nvPr/>
        </p:nvGrpSpPr>
        <p:grpSpPr>
          <a:xfrm>
            <a:off x="3238500" y="800100"/>
            <a:ext cx="2743200" cy="2819400"/>
            <a:chOff x="3238500" y="800100"/>
            <a:chExt cx="2743200" cy="2819400"/>
          </a:xfrm>
        </p:grpSpPr>
        <p:sp>
          <p:nvSpPr>
            <p:cNvPr id="32" name="Rectangle 32"/>
            <p:cNvSpPr/>
            <p:nvPr/>
          </p:nvSpPr>
          <p:spPr>
            <a:xfrm>
              <a:off x="3238500" y="800100"/>
              <a:ext cx="2743200" cy="2819400"/>
            </a:xfrm>
            <a:prstGeom prst="roundRect">
              <a:avLst>
                <a:gd name="adj" fmla="val 2778"/>
              </a:avLst>
            </a:prstGeom>
            <a:solidFill>
              <a:srgbClr val="FFFFFF"/>
            </a:solidFill>
            <a:ln w="9525">
              <a:solidFill>
                <a:srgbClr val="F7D1C9"/>
              </a:solidFill>
            </a:ln>
          </p:spPr>
        </p:sp>
        <p:sp>
          <p:nvSpPr>
            <p:cNvPr id="33" name="Freeform 33"/>
            <p:cNvSpPr/>
            <p:nvPr/>
          </p:nvSpPr>
          <p:spPr>
            <a:xfrm>
              <a:off x="3238500" y="800100"/>
              <a:ext cx="476250" cy="247650"/>
            </a:xfrm>
            <a:custGeom>
              <a:avLst/>
              <a:gdLst/>
              <a:ahLst/>
              <a:cxnLst/>
              <a:rect l="l" t="t" r="r" b="b"/>
              <a:pathLst>
                <a:path w="476250" h="247650">
                  <a:moveTo>
                    <a:pt x="0" y="76200"/>
                  </a:moveTo>
                  <a:cubicBezTo>
                    <a:pt x="0" y="34116"/>
                    <a:pt x="34116" y="0"/>
                    <a:pt x="76200" y="0"/>
                  </a:cubicBezTo>
                  <a:lnTo>
                    <a:pt x="476250" y="0"/>
                  </a:lnTo>
                  <a:lnTo>
                    <a:pt x="381000" y="247650"/>
                  </a:lnTo>
                  <a:lnTo>
                    <a:pt x="0" y="247650"/>
                  </a:lnTo>
                  <a:close/>
                </a:path>
              </a:pathLst>
            </a:custGeom>
            <a:solidFill>
              <a:srgbClr val="B92102"/>
            </a:solidFill>
            <a:ln>
              <a:noFill/>
            </a:ln>
          </p:spPr>
        </p:sp>
        <p:sp>
          <p:nvSpPr>
            <p:cNvPr id="34" name="TextBox 34"/>
            <p:cNvSpPr txBox="1"/>
            <p:nvPr/>
          </p:nvSpPr>
          <p:spPr>
            <a:xfrm>
              <a:off x="3309765" y="875824"/>
              <a:ext cx="23847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02​</a:t>
              </a:r>
            </a:p>
          </p:txBody>
        </p:sp>
        <p:sp>
          <p:nvSpPr>
            <p:cNvPr id="35" name="Ellipse 35"/>
            <p:cNvSpPr/>
            <p:nvPr/>
          </p:nvSpPr>
          <p:spPr>
            <a:xfrm>
              <a:off x="3467100" y="1123950"/>
              <a:ext cx="533400" cy="533400"/>
            </a:xfrm>
            <a:prstGeom prst="ellipse">
              <a:avLst/>
            </a:prstGeom>
            <a:solidFill>
              <a:srgbClr val="EAF3FE"/>
            </a:solidFill>
            <a:ln w="9525">
              <a:solidFill>
                <a:srgbClr val="E3907F"/>
              </a:solidFill>
            </a:ln>
          </p:spPr>
        </p:sp>
        <p:grpSp>
          <p:nvGrpSpPr>
            <p:cNvPr id="42" name="Group 42"/>
            <p:cNvGrpSpPr/>
            <p:nvPr/>
          </p:nvGrpSpPr>
          <p:grpSpPr>
            <a:xfrm>
              <a:off x="3619500" y="1276350"/>
              <a:ext cx="228599" cy="228599"/>
              <a:chOff x="3619500" y="1276350"/>
              <a:chExt cx="228599" cy="228599"/>
            </a:xfrm>
          </p:grpSpPr>
          <p:sp>
            <p:nvSpPr>
              <p:cNvPr id="36" name="Freeform 36"/>
              <p:cNvSpPr/>
              <p:nvPr/>
            </p:nvSpPr>
            <p:spPr>
              <a:xfrm>
                <a:off x="3708400" y="13779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B92102"/>
                </a:solidFill>
              </a:ln>
            </p:spPr>
          </p:sp>
          <p:sp>
            <p:nvSpPr>
              <p:cNvPr id="37" name="Freeform 37"/>
              <p:cNvSpPr/>
              <p:nvPr/>
            </p:nvSpPr>
            <p:spPr>
              <a:xfrm>
                <a:off x="3683000" y="1466849"/>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B92102"/>
                </a:solidFill>
              </a:ln>
            </p:spPr>
          </p:sp>
          <p:sp>
            <p:nvSpPr>
              <p:cNvPr id="38" name="Freeform 38"/>
              <p:cNvSpPr/>
              <p:nvPr/>
            </p:nvSpPr>
            <p:spPr>
              <a:xfrm>
                <a:off x="3771900" y="1276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B92102"/>
                </a:solidFill>
              </a:ln>
            </p:spPr>
          </p:sp>
          <p:sp>
            <p:nvSpPr>
              <p:cNvPr id="39" name="Freeform 39"/>
              <p:cNvSpPr/>
              <p:nvPr/>
            </p:nvSpPr>
            <p:spPr>
              <a:xfrm>
                <a:off x="3797299" y="1365250"/>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B92102"/>
                </a:solidFill>
              </a:ln>
            </p:spPr>
          </p:sp>
          <p:sp>
            <p:nvSpPr>
              <p:cNvPr id="40" name="Freeform 40"/>
              <p:cNvSpPr/>
              <p:nvPr/>
            </p:nvSpPr>
            <p:spPr>
              <a:xfrm>
                <a:off x="3644900" y="1276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B92102"/>
                </a:solidFill>
              </a:ln>
            </p:spPr>
          </p:sp>
          <p:sp>
            <p:nvSpPr>
              <p:cNvPr id="41" name="Freeform 41"/>
              <p:cNvSpPr/>
              <p:nvPr/>
            </p:nvSpPr>
            <p:spPr>
              <a:xfrm>
                <a:off x="3619500" y="13652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B92102"/>
                </a:solidFill>
              </a:ln>
            </p:spPr>
          </p:sp>
        </p:grpSp>
        <p:sp>
          <p:nvSpPr>
            <p:cNvPr id="43" name="TextBox 43"/>
            <p:cNvSpPr txBox="1"/>
            <p:nvPr/>
          </p:nvSpPr>
          <p:spPr>
            <a:xfrm>
              <a:off x="4108323" y="1081564"/>
              <a:ext cx="1046836" cy="249364"/>
            </a:xfrm>
            <a:prstGeom prst="rect">
              <a:avLst/>
            </a:prstGeom>
            <a:noFill/>
            <a:ln>
              <a:noFill/>
            </a:ln>
          </p:spPr>
          <p:txBody>
            <a:bodyPr wrap="none" lIns="0" tIns="0" rIns="0" bIns="0" anchor="t" anchorCtr="0">
              <a:spAutoFit/>
            </a:bodyPr>
            <a:lstStyle/>
            <a:p>
              <a:pPr algn="l"/>
              <a:r>
                <a:rPr lang="zh-CN" sz="1280" b="1" dirty="0">
                  <a:solidFill>
                    <a:srgbClr val="6E1604"/>
                  </a:solidFill>
                  <a:latin typeface="+mn-lt"/>
                  <a:ea typeface="+mn-ea"/>
                  <a:cs typeface="+mn-cs"/>
                </a:rPr>
                <a:t>增量拓客战：</a:t>
              </a:r>
            </a:p>
          </p:txBody>
        </p:sp>
        <p:sp>
          <p:nvSpPr>
            <p:cNvPr id="44" name="TextBox 44"/>
            <p:cNvSpPr txBox="1"/>
            <p:nvPr/>
          </p:nvSpPr>
          <p:spPr>
            <a:xfrm>
              <a:off x="4109656" y="1338501"/>
              <a:ext cx="1367063" cy="388525"/>
            </a:xfrm>
            <a:prstGeom prst="rect">
              <a:avLst/>
            </a:prstGeom>
            <a:noFill/>
            <a:ln>
              <a:noFill/>
            </a:ln>
          </p:spPr>
          <p:txBody>
            <a:bodyPr wrap="none" lIns="0" tIns="0" rIns="0" bIns="0" anchor="t" anchorCtr="0">
              <a:spAutoFit/>
            </a:bodyPr>
            <a:lstStyle/>
            <a:p>
              <a:pPr algn="l">
                <a:lnSpc>
                  <a:spcPts val="1500"/>
                </a:lnSpc>
              </a:pPr>
              <a:r>
                <a:rPr lang="zh-CN" sz="1010" b="1" dirty="0">
                  <a:solidFill>
                    <a:srgbClr val="473633"/>
                  </a:solidFill>
                  <a:latin typeface="+mn-lt"/>
                  <a:ea typeface="+mn-ea"/>
                  <a:cs typeface="+mn-cs"/>
                </a:rPr>
                <a:t>园区名单、生态伙伴、​</a:t>
              </a:r>
              <a:br/>
              <a:r>
                <a:rPr lang="zh-CN" sz="1010" b="1" dirty="0">
                  <a:solidFill>
                    <a:srgbClr val="473633"/>
                  </a:solidFill>
                  <a:latin typeface="+mn-lt"/>
                  <a:ea typeface="+mn-ea"/>
                  <a:cs typeface="+mn-cs"/>
                </a:rPr>
                <a:t>活动获客</a:t>
              </a:r>
            </a:p>
          </p:txBody>
        </p:sp>
        <p:sp>
          <p:nvSpPr>
            <p:cNvPr id="45" name="Line 45"/>
            <p:cNvSpPr/>
            <p:nvPr/>
          </p:nvSpPr>
          <p:spPr>
            <a:xfrm>
              <a:off x="3352800" y="1809750"/>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46" name="TextBox 46"/>
            <p:cNvSpPr txBox="1"/>
            <p:nvPr/>
          </p:nvSpPr>
          <p:spPr>
            <a:xfrm>
              <a:off x="3367088" y="1934289"/>
              <a:ext cx="2131504" cy="754856"/>
            </a:xfrm>
            <a:prstGeom prst="rect">
              <a:avLst/>
            </a:prstGeom>
            <a:noFill/>
            <a:ln>
              <a:noFill/>
            </a:ln>
          </p:spPr>
          <p:txBody>
            <a:bodyPr wrap="none" lIns="0" tIns="0" rIns="0" bIns="0" anchor="t" anchorCtr="0">
              <a:spAutoFit/>
            </a:bodyPr>
            <a:lstStyle/>
            <a:p>
              <a:pPr algn="l" marL="85280" indent="-85280">
                <a:lnSpc>
                  <a:spcPts val="1575"/>
                </a:lnSpc>
                <a:buClr>
                  <a:srgbClr val="473633"/>
                </a:buClr>
                <a:buSzTx/>
                <a:buFontTx/>
                <a:buChar char="•"/>
              </a:pPr>
              <a:r>
                <a:rPr lang="zh-CN" sz="790" dirty="0">
                  <a:solidFill>
                    <a:srgbClr val="473633"/>
                  </a:solidFill>
                  <a:latin typeface="+mn-lt"/>
                  <a:ea typeface="+mn-ea"/>
                  <a:cs typeface="+mn-cs"/>
                </a:rPr>
                <a:t>园区/楼宇名单精准覆盖，分级分层跟进​​​​​</a:t>
              </a:r>
            </a:p>
            <a:p>
              <a:pPr algn="l" marL="85280" indent="-85280">
                <a:lnSpc>
                  <a:spcPts val="1575"/>
                </a:lnSpc>
                <a:buClr>
                  <a:srgbClr val="473633"/>
                </a:buClr>
                <a:buSzTx/>
                <a:buFontTx/>
                <a:buChar char="•"/>
              </a:pPr>
              <a:r>
                <a:rPr lang="zh-CN" sz="790" dirty="0">
                  <a:solidFill>
                    <a:srgbClr val="473633"/>
                  </a:solidFill>
                  <a:latin typeface="+mn-lt"/>
                  <a:ea typeface="+mn-ea"/>
                  <a:cs typeface="+mn-cs"/>
                </a:rPr>
                <a:t>联合生态伙伴共建场景，互荐客户​​​</a:t>
              </a:r>
            </a:p>
            <a:p>
              <a:pPr algn="l" marL="85280" indent="-85280">
                <a:lnSpc>
                  <a:spcPts val="1575"/>
                </a:lnSpc>
                <a:buClr>
                  <a:srgbClr val="473633"/>
                </a:buClr>
                <a:buSzTx/>
                <a:buFontTx/>
                <a:buChar char="•"/>
              </a:pPr>
              <a:r>
                <a:rPr lang="zh-CN" sz="790" dirty="0">
                  <a:solidFill>
                    <a:srgbClr val="473633"/>
                  </a:solidFill>
                  <a:latin typeface="+mn-lt"/>
                  <a:ea typeface="+mn-ea"/>
                  <a:cs typeface="+mn-cs"/>
                </a:rPr>
                <a:t>举办/参与行业活动与沙龙，批量获客​​​​​</a:t>
              </a:r>
            </a:p>
            <a:p>
              <a:pPr algn="l" marL="85280" indent="-85280">
                <a:lnSpc>
                  <a:spcPts val="1575"/>
                </a:lnSpc>
                <a:buClr>
                  <a:srgbClr val="473633"/>
                </a:buClr>
                <a:buSzTx/>
                <a:buFontTx/>
                <a:buChar char="•"/>
              </a:pPr>
              <a:r>
                <a:rPr lang="zh-CN" sz="790" dirty="0">
                  <a:solidFill>
                    <a:srgbClr val="473633"/>
                  </a:solidFill>
                  <a:latin typeface="+mn-lt"/>
                  <a:ea typeface="+mn-ea"/>
                  <a:cs typeface="+mn-cs"/>
                </a:rPr>
                <a:t>线上线下联动触达，沉淀线索池​​​</a:t>
              </a:r>
            </a:p>
          </p:txBody>
        </p:sp>
        <p:sp>
          <p:nvSpPr>
            <p:cNvPr id="47" name="Rectangle 47"/>
            <p:cNvSpPr/>
            <p:nvPr/>
          </p:nvSpPr>
          <p:spPr>
            <a:xfrm>
              <a:off x="3352800" y="2819400"/>
              <a:ext cx="581025" cy="666750"/>
            </a:xfrm>
            <a:prstGeom prst="roundRect">
              <a:avLst>
                <a:gd name="adj" fmla="val 6557"/>
              </a:avLst>
            </a:prstGeom>
            <a:solidFill>
              <a:srgbClr val="EAF3FE"/>
            </a:solidFill>
            <a:ln>
              <a:noFill/>
            </a:ln>
          </p:spPr>
        </p:sp>
        <p:sp>
          <p:nvSpPr>
            <p:cNvPr id="48" name="TextBox 48"/>
            <p:cNvSpPr txBox="1"/>
            <p:nvPr/>
          </p:nvSpPr>
          <p:spPr>
            <a:xfrm>
              <a:off x="3404934" y="2937034"/>
              <a:ext cx="467233"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新增线索数</a:t>
              </a:r>
            </a:p>
          </p:txBody>
        </p:sp>
        <p:sp>
          <p:nvSpPr>
            <p:cNvPr id="49" name="TextBox 49"/>
            <p:cNvSpPr txBox="1"/>
            <p:nvPr/>
          </p:nvSpPr>
          <p:spPr>
            <a:xfrm>
              <a:off x="3512846" y="3190399"/>
              <a:ext cx="251408"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50" name="Rectangle 50"/>
            <p:cNvSpPr/>
            <p:nvPr/>
          </p:nvSpPr>
          <p:spPr>
            <a:xfrm>
              <a:off x="3990975" y="2819400"/>
              <a:ext cx="581025" cy="666750"/>
            </a:xfrm>
            <a:prstGeom prst="roundRect">
              <a:avLst>
                <a:gd name="adj" fmla="val 6557"/>
              </a:avLst>
            </a:prstGeom>
            <a:solidFill>
              <a:srgbClr val="EAF3FE"/>
            </a:solidFill>
            <a:ln>
              <a:noFill/>
            </a:ln>
          </p:spPr>
        </p:sp>
        <p:sp>
          <p:nvSpPr>
            <p:cNvPr id="51" name="TextBox 51"/>
            <p:cNvSpPr txBox="1"/>
            <p:nvPr/>
          </p:nvSpPr>
          <p:spPr>
            <a:xfrm>
              <a:off x="4043108" y="2937034"/>
              <a:ext cx="467233"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有效线索数</a:t>
              </a:r>
            </a:p>
          </p:txBody>
        </p:sp>
        <p:sp>
          <p:nvSpPr>
            <p:cNvPr id="52" name="TextBox 52"/>
            <p:cNvSpPr txBox="1"/>
            <p:nvPr/>
          </p:nvSpPr>
          <p:spPr>
            <a:xfrm>
              <a:off x="4151021" y="3190399"/>
              <a:ext cx="251408"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53" name="Rectangle 53"/>
            <p:cNvSpPr/>
            <p:nvPr/>
          </p:nvSpPr>
          <p:spPr>
            <a:xfrm>
              <a:off x="4629150" y="2819400"/>
              <a:ext cx="581025" cy="666750"/>
            </a:xfrm>
            <a:prstGeom prst="roundRect">
              <a:avLst>
                <a:gd name="adj" fmla="val 6557"/>
              </a:avLst>
            </a:prstGeom>
            <a:solidFill>
              <a:srgbClr val="EAF3FE"/>
            </a:solidFill>
            <a:ln>
              <a:noFill/>
            </a:ln>
          </p:spPr>
        </p:sp>
        <p:sp>
          <p:nvSpPr>
            <p:cNvPr id="54" name="TextBox 54"/>
            <p:cNvSpPr txBox="1"/>
            <p:nvPr/>
          </p:nvSpPr>
          <p:spPr>
            <a:xfrm>
              <a:off x="4772825" y="2937034"/>
              <a:ext cx="284150"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转化率</a:t>
              </a:r>
            </a:p>
          </p:txBody>
        </p:sp>
        <p:sp>
          <p:nvSpPr>
            <p:cNvPr id="55" name="TextBox 55"/>
            <p:cNvSpPr txBox="1"/>
            <p:nvPr/>
          </p:nvSpPr>
          <p:spPr>
            <a:xfrm>
              <a:off x="4789196" y="3190399"/>
              <a:ext cx="251408"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56" name="Rectangle 56"/>
            <p:cNvSpPr/>
            <p:nvPr/>
          </p:nvSpPr>
          <p:spPr>
            <a:xfrm>
              <a:off x="5267325" y="2819400"/>
              <a:ext cx="581025" cy="666750"/>
            </a:xfrm>
            <a:prstGeom prst="roundRect">
              <a:avLst>
                <a:gd name="adj" fmla="val 6557"/>
              </a:avLst>
            </a:prstGeom>
            <a:solidFill>
              <a:srgbClr val="EAF3FE"/>
            </a:solidFill>
            <a:ln>
              <a:noFill/>
            </a:ln>
          </p:spPr>
        </p:sp>
        <p:sp>
          <p:nvSpPr>
            <p:cNvPr id="57" name="TextBox 57"/>
            <p:cNvSpPr txBox="1"/>
            <p:nvPr/>
          </p:nvSpPr>
          <p:spPr>
            <a:xfrm>
              <a:off x="5319458" y="2937034"/>
              <a:ext cx="467233"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新增客户数</a:t>
              </a:r>
            </a:p>
          </p:txBody>
        </p:sp>
        <p:sp>
          <p:nvSpPr>
            <p:cNvPr id="58" name="TextBox 58"/>
            <p:cNvSpPr txBox="1"/>
            <p:nvPr/>
          </p:nvSpPr>
          <p:spPr>
            <a:xfrm>
              <a:off x="5427371" y="3190399"/>
              <a:ext cx="251408"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grpSp>
      <p:grpSp>
        <p:nvGrpSpPr>
          <p:cNvPr id="84" name="campaign-3"/>
          <p:cNvGrpSpPr/>
          <p:nvPr/>
        </p:nvGrpSpPr>
        <p:grpSpPr>
          <a:xfrm>
            <a:off x="6210300" y="800100"/>
            <a:ext cx="2743200" cy="2819400"/>
            <a:chOff x="6210300" y="800100"/>
            <a:chExt cx="2743200" cy="2819400"/>
          </a:xfrm>
        </p:grpSpPr>
        <p:sp>
          <p:nvSpPr>
            <p:cNvPr id="60" name="Rectangle 60"/>
            <p:cNvSpPr/>
            <p:nvPr/>
          </p:nvSpPr>
          <p:spPr>
            <a:xfrm>
              <a:off x="6210300" y="800100"/>
              <a:ext cx="2743200" cy="2819400"/>
            </a:xfrm>
            <a:prstGeom prst="roundRect">
              <a:avLst>
                <a:gd name="adj" fmla="val 2778"/>
              </a:avLst>
            </a:prstGeom>
            <a:solidFill>
              <a:srgbClr val="FFFFFF"/>
            </a:solidFill>
            <a:ln w="9525">
              <a:solidFill>
                <a:srgbClr val="F7D1C9"/>
              </a:solidFill>
            </a:ln>
          </p:spPr>
        </p:sp>
        <p:sp>
          <p:nvSpPr>
            <p:cNvPr id="61" name="Freeform 61"/>
            <p:cNvSpPr/>
            <p:nvPr/>
          </p:nvSpPr>
          <p:spPr>
            <a:xfrm>
              <a:off x="6210300" y="800100"/>
              <a:ext cx="476250" cy="247650"/>
            </a:xfrm>
            <a:custGeom>
              <a:avLst/>
              <a:gdLst/>
              <a:ahLst/>
              <a:cxnLst/>
              <a:rect l="l" t="t" r="r" b="b"/>
              <a:pathLst>
                <a:path w="476250" h="247650">
                  <a:moveTo>
                    <a:pt x="0" y="76200"/>
                  </a:moveTo>
                  <a:cubicBezTo>
                    <a:pt x="0" y="34116"/>
                    <a:pt x="34116" y="0"/>
                    <a:pt x="76200" y="0"/>
                  </a:cubicBezTo>
                  <a:lnTo>
                    <a:pt x="476250" y="0"/>
                  </a:lnTo>
                  <a:lnTo>
                    <a:pt x="381000" y="247650"/>
                  </a:lnTo>
                  <a:lnTo>
                    <a:pt x="0" y="247650"/>
                  </a:lnTo>
                  <a:close/>
                </a:path>
              </a:pathLst>
            </a:custGeom>
            <a:solidFill>
              <a:srgbClr val="B92102"/>
            </a:solidFill>
            <a:ln>
              <a:noFill/>
            </a:ln>
          </p:spPr>
        </p:sp>
        <p:sp>
          <p:nvSpPr>
            <p:cNvPr id="62" name="TextBox 62"/>
            <p:cNvSpPr txBox="1"/>
            <p:nvPr/>
          </p:nvSpPr>
          <p:spPr>
            <a:xfrm>
              <a:off x="6281565" y="875824"/>
              <a:ext cx="23847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03​</a:t>
              </a:r>
            </a:p>
          </p:txBody>
        </p:sp>
        <p:sp>
          <p:nvSpPr>
            <p:cNvPr id="63" name="Ellipse 63"/>
            <p:cNvSpPr/>
            <p:nvPr/>
          </p:nvSpPr>
          <p:spPr>
            <a:xfrm>
              <a:off x="6438900" y="1123950"/>
              <a:ext cx="533400" cy="533400"/>
            </a:xfrm>
            <a:prstGeom prst="ellipse">
              <a:avLst/>
            </a:prstGeom>
            <a:solidFill>
              <a:srgbClr val="EAF3FE"/>
            </a:solidFill>
            <a:ln w="9525">
              <a:solidFill>
                <a:srgbClr val="E3907F"/>
              </a:solidFill>
            </a:ln>
          </p:spPr>
        </p:sp>
        <p:grpSp>
          <p:nvGrpSpPr>
            <p:cNvPr id="67" name="Group 67"/>
            <p:cNvGrpSpPr/>
            <p:nvPr/>
          </p:nvGrpSpPr>
          <p:grpSpPr>
            <a:xfrm>
              <a:off x="6596405" y="1276350"/>
              <a:ext cx="218364" cy="227203"/>
              <a:chOff x="6596405" y="1276350"/>
              <a:chExt cx="218364" cy="227203"/>
            </a:xfrm>
          </p:grpSpPr>
          <p:sp>
            <p:nvSpPr>
              <p:cNvPr id="64" name="Freeform 64"/>
              <p:cNvSpPr/>
              <p:nvPr/>
            </p:nvSpPr>
            <p:spPr>
              <a:xfrm>
                <a:off x="6629400" y="1276350"/>
                <a:ext cx="152400" cy="152400"/>
              </a:xfrm>
              <a:custGeom>
                <a:avLst/>
                <a:gdLst/>
                <a:ahLst/>
                <a:cxnLst/>
                <a:rect l="l" t="t" r="r" b="b"/>
                <a:pathLst>
                  <a:path w="152400" h="152400">
                    <a:moveTo>
                      <a:pt x="0" y="76200"/>
                    </a:moveTo>
                    <a:cubicBezTo>
                      <a:pt x="0" y="118284"/>
                      <a:pt x="34116" y="152400"/>
                      <a:pt x="76200" y="152400"/>
                    </a:cubicBezTo>
                    <a:cubicBezTo>
                      <a:pt x="118284" y="152400"/>
                      <a:pt x="152400" y="118284"/>
                      <a:pt x="152400" y="76200"/>
                    </a:cubicBezTo>
                    <a:cubicBezTo>
                      <a:pt x="152400" y="34116"/>
                      <a:pt x="118284" y="0"/>
                      <a:pt x="76200" y="0"/>
                    </a:cubicBezTo>
                    <a:cubicBezTo>
                      <a:pt x="34116" y="0"/>
                      <a:pt x="0" y="34116"/>
                      <a:pt x="0" y="76200"/>
                    </a:cubicBezTo>
                  </a:path>
                </a:pathLst>
              </a:custGeom>
              <a:noFill/>
              <a:ln w="25400">
                <a:solidFill>
                  <a:srgbClr val="B92102"/>
                </a:solidFill>
              </a:ln>
            </p:spPr>
          </p:sp>
          <p:sp>
            <p:nvSpPr>
              <p:cNvPr id="65" name="Freeform 65"/>
              <p:cNvSpPr/>
              <p:nvPr/>
            </p:nvSpPr>
            <p:spPr>
              <a:xfrm>
                <a:off x="6705600" y="1390650"/>
                <a:ext cx="109169" cy="112903"/>
              </a:xfrm>
              <a:custGeom>
                <a:avLst/>
                <a:gdLst/>
                <a:ahLst/>
                <a:cxnLst/>
                <a:rect l="l" t="t" r="r" b="b"/>
                <a:pathLst>
                  <a:path w="109169" h="112903">
                    <a:moveTo>
                      <a:pt x="0" y="38100"/>
                    </a:moveTo>
                    <a:lnTo>
                      <a:pt x="43180" y="112903"/>
                    </a:lnTo>
                    <a:lnTo>
                      <a:pt x="63474" y="71844"/>
                    </a:lnTo>
                    <a:lnTo>
                      <a:pt x="109169" y="74790"/>
                    </a:lnTo>
                    <a:lnTo>
                      <a:pt x="65989" y="0"/>
                    </a:lnTo>
                  </a:path>
                </a:pathLst>
              </a:custGeom>
              <a:noFill/>
              <a:ln w="25400">
                <a:solidFill>
                  <a:srgbClr val="B92102"/>
                </a:solidFill>
              </a:ln>
            </p:spPr>
          </p:sp>
          <p:sp>
            <p:nvSpPr>
              <p:cNvPr id="66" name="Freeform 66"/>
              <p:cNvSpPr/>
              <p:nvPr/>
            </p:nvSpPr>
            <p:spPr>
              <a:xfrm>
                <a:off x="6596405" y="1390650"/>
                <a:ext cx="109169" cy="112890"/>
              </a:xfrm>
              <a:custGeom>
                <a:avLst/>
                <a:gdLst/>
                <a:ahLst/>
                <a:cxnLst/>
                <a:rect l="l" t="t" r="r" b="b"/>
                <a:pathLst>
                  <a:path w="109169" h="112890">
                    <a:moveTo>
                      <a:pt x="43180" y="0"/>
                    </a:moveTo>
                    <a:lnTo>
                      <a:pt x="0" y="74803"/>
                    </a:lnTo>
                    <a:lnTo>
                      <a:pt x="45694" y="71844"/>
                    </a:lnTo>
                    <a:lnTo>
                      <a:pt x="65989" y="112890"/>
                    </a:lnTo>
                    <a:lnTo>
                      <a:pt x="109169" y="38100"/>
                    </a:lnTo>
                  </a:path>
                </a:pathLst>
              </a:custGeom>
              <a:noFill/>
              <a:ln w="25400">
                <a:solidFill>
                  <a:srgbClr val="B92102"/>
                </a:solidFill>
              </a:ln>
            </p:spPr>
          </p:sp>
        </p:grpSp>
        <p:sp>
          <p:nvSpPr>
            <p:cNvPr id="68" name="TextBox 68"/>
            <p:cNvSpPr txBox="1"/>
            <p:nvPr/>
          </p:nvSpPr>
          <p:spPr>
            <a:xfrm>
              <a:off x="7080123" y="1081564"/>
              <a:ext cx="1046836" cy="249364"/>
            </a:xfrm>
            <a:prstGeom prst="rect">
              <a:avLst/>
            </a:prstGeom>
            <a:noFill/>
            <a:ln>
              <a:noFill/>
            </a:ln>
          </p:spPr>
          <p:txBody>
            <a:bodyPr wrap="none" lIns="0" tIns="0" rIns="0" bIns="0" anchor="t" anchorCtr="0">
              <a:spAutoFit/>
            </a:bodyPr>
            <a:lstStyle/>
            <a:p>
              <a:pPr algn="l"/>
              <a:r>
                <a:rPr lang="zh-CN" sz="1280" b="1" dirty="0">
                  <a:solidFill>
                    <a:srgbClr val="6E1604"/>
                  </a:solidFill>
                  <a:latin typeface="+mn-lt"/>
                  <a:ea typeface="+mn-ea"/>
                  <a:cs typeface="+mn-cs"/>
                </a:rPr>
                <a:t>商机攻坚战：</a:t>
              </a:r>
            </a:p>
          </p:txBody>
        </p:sp>
        <p:sp>
          <p:nvSpPr>
            <p:cNvPr id="69" name="TextBox 69"/>
            <p:cNvSpPr txBox="1"/>
            <p:nvPr/>
          </p:nvSpPr>
          <p:spPr>
            <a:xfrm>
              <a:off x="7081456" y="1338501"/>
              <a:ext cx="1352633" cy="388525"/>
            </a:xfrm>
            <a:prstGeom prst="rect">
              <a:avLst/>
            </a:prstGeom>
            <a:noFill/>
            <a:ln>
              <a:noFill/>
            </a:ln>
          </p:spPr>
          <p:txBody>
            <a:bodyPr wrap="none" lIns="0" tIns="0" rIns="0" bIns="0" anchor="t" anchorCtr="0">
              <a:spAutoFit/>
            </a:bodyPr>
            <a:lstStyle/>
            <a:p>
              <a:pPr algn="l">
                <a:lnSpc>
                  <a:spcPts val="1500"/>
                </a:lnSpc>
              </a:pPr>
              <a:r>
                <a:rPr lang="zh-CN" sz="1010" b="1" dirty="0">
                  <a:solidFill>
                    <a:srgbClr val="473633"/>
                  </a:solidFill>
                  <a:latin typeface="+mn-lt"/>
                  <a:ea typeface="+mn-ea"/>
                  <a:cs typeface="+mn-cs"/>
                </a:rPr>
                <a:t>Top商机、关键人、​​​</a:t>
              </a:r>
              <a:br/>
              <a:r>
                <a:rPr lang="zh-CN" sz="1010" b="1" dirty="0">
                  <a:solidFill>
                    <a:srgbClr val="473633"/>
                  </a:solidFill>
                  <a:latin typeface="+mn-lt"/>
                  <a:ea typeface="+mn-ea"/>
                  <a:cs typeface="+mn-cs"/>
                </a:rPr>
                <a:t>联合方案</a:t>
              </a:r>
            </a:p>
          </p:txBody>
        </p:sp>
        <p:sp>
          <p:nvSpPr>
            <p:cNvPr id="70" name="Line 70"/>
            <p:cNvSpPr/>
            <p:nvPr/>
          </p:nvSpPr>
          <p:spPr>
            <a:xfrm>
              <a:off x="6324600" y="1809750"/>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71" name="TextBox 71"/>
            <p:cNvSpPr txBox="1"/>
            <p:nvPr/>
          </p:nvSpPr>
          <p:spPr>
            <a:xfrm>
              <a:off x="6338888" y="1934289"/>
              <a:ext cx="2096389" cy="754856"/>
            </a:xfrm>
            <a:prstGeom prst="rect">
              <a:avLst/>
            </a:prstGeom>
            <a:noFill/>
            <a:ln>
              <a:noFill/>
            </a:ln>
          </p:spPr>
          <p:txBody>
            <a:bodyPr wrap="none" lIns="0" tIns="0" rIns="0" bIns="0" anchor="t" anchorCtr="0">
              <a:spAutoFit/>
            </a:bodyPr>
            <a:lstStyle/>
            <a:p>
              <a:pPr algn="l" marL="85280" indent="-85280">
                <a:lnSpc>
                  <a:spcPts val="1575"/>
                </a:lnSpc>
                <a:buClr>
                  <a:srgbClr val="473633"/>
                </a:buClr>
                <a:buSzTx/>
                <a:buFontTx/>
                <a:buChar char="•"/>
              </a:pPr>
              <a:r>
                <a:rPr lang="zh-CN" sz="790" dirty="0">
                  <a:solidFill>
                    <a:srgbClr val="473633"/>
                  </a:solidFill>
                  <a:latin typeface="+mn-lt"/>
                  <a:ea typeface="+mn-ea"/>
                  <a:cs typeface="+mn-cs"/>
                </a:rPr>
                <a:t>识别Top商机，建立攻坚清单与里程碑​​​​​​</a:t>
              </a:r>
            </a:p>
            <a:p>
              <a:pPr algn="l" marL="85280" indent="-85280">
                <a:lnSpc>
                  <a:spcPts val="1575"/>
                </a:lnSpc>
                <a:buClr>
                  <a:srgbClr val="473633"/>
                </a:buClr>
                <a:buSzTx/>
                <a:buFontTx/>
                <a:buChar char="•"/>
              </a:pPr>
              <a:r>
                <a:rPr lang="zh-CN" sz="790" dirty="0">
                  <a:solidFill>
                    <a:srgbClr val="473633"/>
                  </a:solidFill>
                  <a:latin typeface="+mn-lt"/>
                  <a:ea typeface="+mn-ea"/>
                  <a:cs typeface="+mn-cs"/>
                </a:rPr>
                <a:t>制定关键人图谱，强化关键人影响力​​​</a:t>
              </a:r>
            </a:p>
            <a:p>
              <a:pPr algn="l" marL="85280" indent="-85280">
                <a:lnSpc>
                  <a:spcPts val="1575"/>
                </a:lnSpc>
                <a:buClr>
                  <a:srgbClr val="473633"/>
                </a:buClr>
                <a:buSzTx/>
                <a:buFontTx/>
                <a:buChar char="•"/>
              </a:pPr>
              <a:r>
                <a:rPr lang="zh-CN" sz="790" dirty="0">
                  <a:solidFill>
                    <a:srgbClr val="473633"/>
                  </a:solidFill>
                  <a:latin typeface="+mn-lt"/>
                  <a:ea typeface="+mn-ea"/>
                  <a:cs typeface="+mn-cs"/>
                </a:rPr>
                <a:t>联合产品/风控/运营输出一体化方案​​​​​​​</a:t>
              </a:r>
            </a:p>
            <a:p>
              <a:pPr algn="l" marL="85280" indent="-85280">
                <a:lnSpc>
                  <a:spcPts val="1575"/>
                </a:lnSpc>
                <a:buClr>
                  <a:srgbClr val="473633"/>
                </a:buClr>
                <a:buSzTx/>
                <a:buFontTx/>
                <a:buChar char="•"/>
              </a:pPr>
              <a:r>
                <a:rPr lang="zh-CN" sz="790" dirty="0">
                  <a:solidFill>
                    <a:srgbClr val="473633"/>
                  </a:solidFill>
                  <a:latin typeface="+mn-lt"/>
                  <a:ea typeface="+mn-ea"/>
                  <a:cs typeface="+mn-cs"/>
                </a:rPr>
                <a:t>高频推进与风险预警，确保商机落地​​​</a:t>
              </a:r>
            </a:p>
          </p:txBody>
        </p:sp>
        <p:sp>
          <p:nvSpPr>
            <p:cNvPr id="72" name="Rectangle 72"/>
            <p:cNvSpPr/>
            <p:nvPr/>
          </p:nvSpPr>
          <p:spPr>
            <a:xfrm>
              <a:off x="6324600" y="2819400"/>
              <a:ext cx="581025" cy="666750"/>
            </a:xfrm>
            <a:prstGeom prst="roundRect">
              <a:avLst>
                <a:gd name="adj" fmla="val 6557"/>
              </a:avLst>
            </a:prstGeom>
            <a:solidFill>
              <a:srgbClr val="EAF3FE"/>
            </a:solidFill>
            <a:ln>
              <a:noFill/>
            </a:ln>
          </p:spPr>
        </p:sp>
        <p:sp>
          <p:nvSpPr>
            <p:cNvPr id="73" name="TextBox 73"/>
            <p:cNvSpPr txBox="1"/>
            <p:nvPr/>
          </p:nvSpPr>
          <p:spPr>
            <a:xfrm>
              <a:off x="6308183" y="2937034"/>
              <a:ext cx="604334"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Top商机数​​​</a:t>
              </a:r>
            </a:p>
          </p:txBody>
        </p:sp>
        <p:sp>
          <p:nvSpPr>
            <p:cNvPr id="74" name="TextBox 74"/>
            <p:cNvSpPr txBox="1"/>
            <p:nvPr/>
          </p:nvSpPr>
          <p:spPr>
            <a:xfrm>
              <a:off x="6484646" y="3190399"/>
              <a:ext cx="251408"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75" name="Rectangle 75"/>
            <p:cNvSpPr/>
            <p:nvPr/>
          </p:nvSpPr>
          <p:spPr>
            <a:xfrm>
              <a:off x="6962775" y="2819400"/>
              <a:ext cx="581025" cy="666750"/>
            </a:xfrm>
            <a:prstGeom prst="roundRect">
              <a:avLst>
                <a:gd name="adj" fmla="val 6557"/>
              </a:avLst>
            </a:prstGeom>
            <a:solidFill>
              <a:srgbClr val="EAF3FE"/>
            </a:solidFill>
            <a:ln>
              <a:noFill/>
            </a:ln>
          </p:spPr>
        </p:sp>
        <p:sp>
          <p:nvSpPr>
            <p:cNvPr id="76" name="TextBox 76"/>
            <p:cNvSpPr txBox="1"/>
            <p:nvPr/>
          </p:nvSpPr>
          <p:spPr>
            <a:xfrm>
              <a:off x="7060679" y="2937034"/>
              <a:ext cx="375691"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商机金额</a:t>
              </a:r>
            </a:p>
          </p:txBody>
        </p:sp>
        <p:sp>
          <p:nvSpPr>
            <p:cNvPr id="77" name="TextBox 77"/>
            <p:cNvSpPr txBox="1"/>
            <p:nvPr/>
          </p:nvSpPr>
          <p:spPr>
            <a:xfrm>
              <a:off x="6943722" y="3198495"/>
              <a:ext cx="609606" cy="176212"/>
            </a:xfrm>
            <a:prstGeom prst="rect">
              <a:avLst/>
            </a:prstGeom>
            <a:noFill/>
            <a:ln>
              <a:noFill/>
            </a:ln>
          </p:spPr>
          <p:txBody>
            <a:bodyPr wrap="none" lIns="0" tIns="0" rIns="0" bIns="0" anchor="t" anchorCtr="0">
              <a:spAutoFit/>
            </a:bodyPr>
            <a:lstStyle/>
            <a:p>
              <a:pPr algn="ctr"/>
              <a:r>
                <a:rPr lang="zh-CN" sz="900" b="1" dirty="0">
                  <a:solidFill>
                    <a:srgbClr val="B92102"/>
                  </a:solidFill>
                  <a:latin typeface="+mn-lt"/>
                  <a:ea typeface="+mn-ea"/>
                  <a:cs typeface="+mn-cs"/>
                </a:rPr>
                <a:t>XX亿元​​​</a:t>
              </a:r>
            </a:p>
          </p:txBody>
        </p:sp>
        <p:sp>
          <p:nvSpPr>
            <p:cNvPr id="78" name="Rectangle 78"/>
            <p:cNvSpPr/>
            <p:nvPr/>
          </p:nvSpPr>
          <p:spPr>
            <a:xfrm>
              <a:off x="7600950" y="2819400"/>
              <a:ext cx="581025" cy="666750"/>
            </a:xfrm>
            <a:prstGeom prst="roundRect">
              <a:avLst>
                <a:gd name="adj" fmla="val 6557"/>
              </a:avLst>
            </a:prstGeom>
            <a:solidFill>
              <a:srgbClr val="EAF3FE"/>
            </a:solidFill>
            <a:ln>
              <a:noFill/>
            </a:ln>
          </p:spPr>
        </p:sp>
        <p:sp>
          <p:nvSpPr>
            <p:cNvPr id="79" name="TextBox 79"/>
            <p:cNvSpPr txBox="1"/>
            <p:nvPr/>
          </p:nvSpPr>
          <p:spPr>
            <a:xfrm>
              <a:off x="7744625" y="2937034"/>
              <a:ext cx="284150"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赢单率</a:t>
              </a:r>
            </a:p>
          </p:txBody>
        </p:sp>
        <p:sp>
          <p:nvSpPr>
            <p:cNvPr id="80" name="TextBox 80"/>
            <p:cNvSpPr txBox="1"/>
            <p:nvPr/>
          </p:nvSpPr>
          <p:spPr>
            <a:xfrm>
              <a:off x="7625608" y="3190399"/>
              <a:ext cx="522183"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81" name="Rectangle 81"/>
            <p:cNvSpPr/>
            <p:nvPr/>
          </p:nvSpPr>
          <p:spPr>
            <a:xfrm>
              <a:off x="8239125" y="2819400"/>
              <a:ext cx="581025" cy="666750"/>
            </a:xfrm>
            <a:prstGeom prst="roundRect">
              <a:avLst>
                <a:gd name="adj" fmla="val 6557"/>
              </a:avLst>
            </a:prstGeom>
            <a:solidFill>
              <a:srgbClr val="EAF3FE"/>
            </a:solidFill>
            <a:ln>
              <a:noFill/>
            </a:ln>
          </p:spPr>
        </p:sp>
        <p:sp>
          <p:nvSpPr>
            <p:cNvPr id="82" name="TextBox 82"/>
            <p:cNvSpPr txBox="1"/>
            <p:nvPr/>
          </p:nvSpPr>
          <p:spPr>
            <a:xfrm>
              <a:off x="8337029" y="2937034"/>
              <a:ext cx="375691"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落地金额</a:t>
              </a:r>
            </a:p>
          </p:txBody>
        </p:sp>
        <p:sp>
          <p:nvSpPr>
            <p:cNvPr id="83" name="TextBox 83"/>
            <p:cNvSpPr txBox="1"/>
            <p:nvPr/>
          </p:nvSpPr>
          <p:spPr>
            <a:xfrm>
              <a:off x="8220072" y="3198495"/>
              <a:ext cx="609606" cy="176212"/>
            </a:xfrm>
            <a:prstGeom prst="rect">
              <a:avLst/>
            </a:prstGeom>
            <a:noFill/>
            <a:ln>
              <a:noFill/>
            </a:ln>
          </p:spPr>
          <p:txBody>
            <a:bodyPr wrap="none" lIns="0" tIns="0" rIns="0" bIns="0" anchor="t" anchorCtr="0">
              <a:spAutoFit/>
            </a:bodyPr>
            <a:lstStyle/>
            <a:p>
              <a:pPr algn="ctr"/>
              <a:r>
                <a:rPr lang="zh-CN" sz="900" b="1" dirty="0">
                  <a:solidFill>
                    <a:srgbClr val="B92102"/>
                  </a:solidFill>
                  <a:latin typeface="+mn-lt"/>
                  <a:ea typeface="+mn-ea"/>
                  <a:cs typeface="+mn-cs"/>
                </a:rPr>
                <a:t>XX亿元​​​</a:t>
              </a:r>
            </a:p>
          </p:txBody>
        </p:sp>
      </p:grpSp>
      <p:grpSp>
        <p:nvGrpSpPr>
          <p:cNvPr id="110" name="campaign-4"/>
          <p:cNvGrpSpPr/>
          <p:nvPr/>
        </p:nvGrpSpPr>
        <p:grpSpPr>
          <a:xfrm>
            <a:off x="9168718" y="800100"/>
            <a:ext cx="2756582" cy="2819400"/>
            <a:chOff x="9168718" y="800100"/>
            <a:chExt cx="2756582" cy="2819400"/>
          </a:xfrm>
        </p:grpSpPr>
        <p:sp>
          <p:nvSpPr>
            <p:cNvPr id="85" name="Rectangle 85"/>
            <p:cNvSpPr/>
            <p:nvPr/>
          </p:nvSpPr>
          <p:spPr>
            <a:xfrm>
              <a:off x="9182100" y="800100"/>
              <a:ext cx="2743200" cy="2819400"/>
            </a:xfrm>
            <a:prstGeom prst="roundRect">
              <a:avLst>
                <a:gd name="adj" fmla="val 2778"/>
              </a:avLst>
            </a:prstGeom>
            <a:solidFill>
              <a:srgbClr val="FFFFFF"/>
            </a:solidFill>
            <a:ln w="9525">
              <a:solidFill>
                <a:srgbClr val="F7D1C9"/>
              </a:solidFill>
            </a:ln>
          </p:spPr>
        </p:sp>
        <p:sp>
          <p:nvSpPr>
            <p:cNvPr id="86" name="Freeform 86"/>
            <p:cNvSpPr/>
            <p:nvPr/>
          </p:nvSpPr>
          <p:spPr>
            <a:xfrm>
              <a:off x="9182100" y="800100"/>
              <a:ext cx="476250" cy="247650"/>
            </a:xfrm>
            <a:custGeom>
              <a:avLst/>
              <a:gdLst/>
              <a:ahLst/>
              <a:cxnLst/>
              <a:rect l="l" t="t" r="r" b="b"/>
              <a:pathLst>
                <a:path w="476250" h="247650">
                  <a:moveTo>
                    <a:pt x="0" y="76200"/>
                  </a:moveTo>
                  <a:cubicBezTo>
                    <a:pt x="0" y="34116"/>
                    <a:pt x="34116" y="0"/>
                    <a:pt x="76200" y="0"/>
                  </a:cubicBezTo>
                  <a:lnTo>
                    <a:pt x="476250" y="0"/>
                  </a:lnTo>
                  <a:lnTo>
                    <a:pt x="381000" y="247650"/>
                  </a:lnTo>
                  <a:lnTo>
                    <a:pt x="0" y="247650"/>
                  </a:lnTo>
                  <a:close/>
                </a:path>
              </a:pathLst>
            </a:custGeom>
            <a:solidFill>
              <a:srgbClr val="B92102"/>
            </a:solidFill>
            <a:ln>
              <a:noFill/>
            </a:ln>
          </p:spPr>
        </p:sp>
        <p:sp>
          <p:nvSpPr>
            <p:cNvPr id="87" name="TextBox 87"/>
            <p:cNvSpPr txBox="1"/>
            <p:nvPr/>
          </p:nvSpPr>
          <p:spPr>
            <a:xfrm>
              <a:off x="9253365" y="875824"/>
              <a:ext cx="23847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04​</a:t>
              </a:r>
            </a:p>
          </p:txBody>
        </p:sp>
        <p:sp>
          <p:nvSpPr>
            <p:cNvPr id="88" name="Ellipse 88"/>
            <p:cNvSpPr/>
            <p:nvPr/>
          </p:nvSpPr>
          <p:spPr>
            <a:xfrm>
              <a:off x="9410700" y="1123950"/>
              <a:ext cx="533400" cy="533400"/>
            </a:xfrm>
            <a:prstGeom prst="ellipse">
              <a:avLst/>
            </a:prstGeom>
            <a:solidFill>
              <a:srgbClr val="EAF3FE"/>
            </a:solidFill>
            <a:ln w="9525">
              <a:solidFill>
                <a:srgbClr val="E3907F"/>
              </a:solidFill>
            </a:ln>
          </p:spPr>
        </p:sp>
        <p:grpSp>
          <p:nvGrpSpPr>
            <p:cNvPr id="93" name="Group 93"/>
            <p:cNvGrpSpPr/>
            <p:nvPr/>
          </p:nvGrpSpPr>
          <p:grpSpPr>
            <a:xfrm>
              <a:off x="9563100" y="1289050"/>
              <a:ext cx="228600" cy="212724"/>
              <a:chOff x="9563100" y="1289050"/>
              <a:chExt cx="228600" cy="212724"/>
            </a:xfrm>
          </p:grpSpPr>
          <p:sp>
            <p:nvSpPr>
              <p:cNvPr id="89" name="Freeform 89"/>
              <p:cNvSpPr/>
              <p:nvPr/>
            </p:nvSpPr>
            <p:spPr>
              <a:xfrm>
                <a:off x="9563100" y="1390650"/>
                <a:ext cx="76200" cy="101600"/>
              </a:xfrm>
              <a:custGeom>
                <a:avLst/>
                <a:gdLst/>
                <a:ahLst/>
                <a:cxnLst/>
                <a:rect l="l" t="t" r="r" b="b"/>
                <a:pathLst>
                  <a:path w="76200" h="101600">
                    <a:moveTo>
                      <a:pt x="0" y="12700"/>
                    </a:moveTo>
                    <a:cubicBezTo>
                      <a:pt x="0" y="5686"/>
                      <a:pt x="5686" y="0"/>
                      <a:pt x="12700" y="0"/>
                    </a:cubicBezTo>
                    <a:lnTo>
                      <a:pt x="63500" y="0"/>
                    </a:lnTo>
                    <a:cubicBezTo>
                      <a:pt x="70514" y="0"/>
                      <a:pt x="76200" y="5686"/>
                      <a:pt x="76200" y="12700"/>
                    </a:cubicBezTo>
                    <a:lnTo>
                      <a:pt x="76200" y="88900"/>
                    </a:lnTo>
                    <a:cubicBezTo>
                      <a:pt x="76200" y="95914"/>
                      <a:pt x="70514" y="101600"/>
                      <a:pt x="63500" y="101600"/>
                    </a:cubicBezTo>
                    <a:lnTo>
                      <a:pt x="12700" y="101600"/>
                    </a:lnTo>
                    <a:cubicBezTo>
                      <a:pt x="5686" y="101600"/>
                      <a:pt x="0" y="95914"/>
                      <a:pt x="0" y="88900"/>
                    </a:cubicBezTo>
                    <a:lnTo>
                      <a:pt x="0" y="12700"/>
                    </a:lnTo>
                  </a:path>
                </a:pathLst>
              </a:custGeom>
              <a:noFill/>
              <a:ln w="25400">
                <a:solidFill>
                  <a:srgbClr val="B92102"/>
                </a:solidFill>
              </a:ln>
            </p:spPr>
          </p:sp>
          <p:sp>
            <p:nvSpPr>
              <p:cNvPr id="90" name="Freeform 90"/>
              <p:cNvSpPr/>
              <p:nvPr/>
            </p:nvSpPr>
            <p:spPr>
              <a:xfrm>
                <a:off x="9715500" y="1339850"/>
                <a:ext cx="76200" cy="152400"/>
              </a:xfrm>
              <a:custGeom>
                <a:avLst/>
                <a:gdLst/>
                <a:ahLst/>
                <a:cxnLst/>
                <a:rect l="l" t="t" r="r" b="b"/>
                <a:pathLst>
                  <a:path w="76200" h="152400">
                    <a:moveTo>
                      <a:pt x="0" y="12700"/>
                    </a:moveTo>
                    <a:cubicBezTo>
                      <a:pt x="0" y="5686"/>
                      <a:pt x="5686" y="0"/>
                      <a:pt x="12700" y="0"/>
                    </a:cubicBezTo>
                    <a:lnTo>
                      <a:pt x="63500" y="0"/>
                    </a:lnTo>
                    <a:cubicBezTo>
                      <a:pt x="70514" y="0"/>
                      <a:pt x="76200" y="5686"/>
                      <a:pt x="76200" y="12700"/>
                    </a:cubicBezTo>
                    <a:lnTo>
                      <a:pt x="76200" y="139700"/>
                    </a:lnTo>
                    <a:cubicBezTo>
                      <a:pt x="76200" y="146714"/>
                      <a:pt x="70514" y="152400"/>
                      <a:pt x="63500" y="152400"/>
                    </a:cubicBezTo>
                    <a:lnTo>
                      <a:pt x="12700" y="152400"/>
                    </a:lnTo>
                    <a:cubicBezTo>
                      <a:pt x="5686" y="152400"/>
                      <a:pt x="0" y="146714"/>
                      <a:pt x="0" y="139700"/>
                    </a:cubicBezTo>
                    <a:lnTo>
                      <a:pt x="0" y="12700"/>
                    </a:lnTo>
                  </a:path>
                </a:pathLst>
              </a:custGeom>
              <a:noFill/>
              <a:ln w="25400">
                <a:solidFill>
                  <a:srgbClr val="B92102"/>
                </a:solidFill>
              </a:ln>
            </p:spPr>
          </p:sp>
          <p:sp>
            <p:nvSpPr>
              <p:cNvPr id="91" name="Freeform 91"/>
              <p:cNvSpPr/>
              <p:nvPr/>
            </p:nvSpPr>
            <p:spPr>
              <a:xfrm>
                <a:off x="9639300" y="1289050"/>
                <a:ext cx="76200" cy="203199"/>
              </a:xfrm>
              <a:custGeom>
                <a:avLst/>
                <a:gdLst/>
                <a:ahLst/>
                <a:cxnLst/>
                <a:rect l="l" t="t" r="r" b="b"/>
                <a:pathLst>
                  <a:path w="76200" h="203199">
                    <a:moveTo>
                      <a:pt x="0" y="12700"/>
                    </a:moveTo>
                    <a:cubicBezTo>
                      <a:pt x="0" y="5686"/>
                      <a:pt x="5686" y="0"/>
                      <a:pt x="12700" y="0"/>
                    </a:cubicBezTo>
                    <a:lnTo>
                      <a:pt x="63500" y="0"/>
                    </a:lnTo>
                    <a:cubicBezTo>
                      <a:pt x="70514" y="0"/>
                      <a:pt x="76200" y="5686"/>
                      <a:pt x="76200" y="12700"/>
                    </a:cubicBezTo>
                    <a:lnTo>
                      <a:pt x="76200" y="190500"/>
                    </a:lnTo>
                    <a:cubicBezTo>
                      <a:pt x="76200" y="197514"/>
                      <a:pt x="70514" y="203199"/>
                      <a:pt x="63500" y="203199"/>
                    </a:cubicBezTo>
                    <a:lnTo>
                      <a:pt x="12700" y="203199"/>
                    </a:lnTo>
                    <a:cubicBezTo>
                      <a:pt x="5686" y="203199"/>
                      <a:pt x="0" y="197514"/>
                      <a:pt x="0" y="190500"/>
                    </a:cubicBezTo>
                    <a:lnTo>
                      <a:pt x="0" y="12700"/>
                    </a:lnTo>
                  </a:path>
                </a:pathLst>
              </a:custGeom>
              <a:noFill/>
              <a:ln w="25400">
                <a:solidFill>
                  <a:srgbClr val="B92102"/>
                </a:solidFill>
              </a:ln>
            </p:spPr>
          </p:sp>
          <p:sp>
            <p:nvSpPr>
              <p:cNvPr id="92" name="Freeform 92"/>
              <p:cNvSpPr/>
              <p:nvPr/>
            </p:nvSpPr>
            <p:spPr>
              <a:xfrm>
                <a:off x="9575800" y="1492249"/>
                <a:ext cx="177800" cy="9525"/>
              </a:xfrm>
              <a:custGeom>
                <a:avLst/>
                <a:gdLst/>
                <a:ahLst/>
                <a:cxnLst/>
                <a:rect l="l" t="t" r="r" b="b"/>
                <a:pathLst>
                  <a:path w="177800" h="9525">
                    <a:moveTo>
                      <a:pt x="0" y="0"/>
                    </a:moveTo>
                    <a:lnTo>
                      <a:pt x="177800" y="0"/>
                    </a:lnTo>
                  </a:path>
                </a:pathLst>
              </a:custGeom>
              <a:noFill/>
              <a:ln w="25400">
                <a:solidFill>
                  <a:srgbClr val="B92102"/>
                </a:solidFill>
              </a:ln>
            </p:spPr>
          </p:sp>
        </p:grpSp>
        <p:sp>
          <p:nvSpPr>
            <p:cNvPr id="94" name="TextBox 94"/>
            <p:cNvSpPr txBox="1"/>
            <p:nvPr/>
          </p:nvSpPr>
          <p:spPr>
            <a:xfrm>
              <a:off x="10051923" y="1081564"/>
              <a:ext cx="1046836" cy="249364"/>
            </a:xfrm>
            <a:prstGeom prst="rect">
              <a:avLst/>
            </a:prstGeom>
            <a:noFill/>
            <a:ln>
              <a:noFill/>
            </a:ln>
          </p:spPr>
          <p:txBody>
            <a:bodyPr wrap="none" lIns="0" tIns="0" rIns="0" bIns="0" anchor="t" anchorCtr="0">
              <a:spAutoFit/>
            </a:bodyPr>
            <a:lstStyle/>
            <a:p>
              <a:pPr algn="l"/>
              <a:r>
                <a:rPr lang="zh-CN" sz="1280" b="1" dirty="0">
                  <a:solidFill>
                    <a:srgbClr val="6E1604"/>
                  </a:solidFill>
                  <a:latin typeface="+mn-lt"/>
                  <a:ea typeface="+mn-ea"/>
                  <a:cs typeface="+mn-cs"/>
                </a:rPr>
                <a:t>网点提效战：</a:t>
              </a:r>
            </a:p>
          </p:txBody>
        </p:sp>
        <p:sp>
          <p:nvSpPr>
            <p:cNvPr id="95" name="TextBox 95"/>
            <p:cNvSpPr txBox="1"/>
            <p:nvPr/>
          </p:nvSpPr>
          <p:spPr>
            <a:xfrm>
              <a:off x="10053256" y="1338501"/>
              <a:ext cx="1367063" cy="388525"/>
            </a:xfrm>
            <a:prstGeom prst="rect">
              <a:avLst/>
            </a:prstGeom>
            <a:noFill/>
            <a:ln>
              <a:noFill/>
            </a:ln>
          </p:spPr>
          <p:txBody>
            <a:bodyPr wrap="none" lIns="0" tIns="0" rIns="0" bIns="0" anchor="t" anchorCtr="0">
              <a:spAutoFit/>
            </a:bodyPr>
            <a:lstStyle/>
            <a:p>
              <a:pPr algn="l">
                <a:lnSpc>
                  <a:spcPts val="1500"/>
                </a:lnSpc>
              </a:pPr>
              <a:r>
                <a:rPr lang="zh-CN" sz="1010" b="1" dirty="0">
                  <a:solidFill>
                    <a:srgbClr val="473633"/>
                  </a:solidFill>
                  <a:latin typeface="+mn-lt"/>
                  <a:ea typeface="+mn-ea"/>
                  <a:cs typeface="+mn-cs"/>
                </a:rPr>
                <a:t>分层经营、驻点辅导、​</a:t>
              </a:r>
              <a:br/>
              <a:r>
                <a:rPr lang="zh-CN" sz="1010" b="1" dirty="0">
                  <a:solidFill>
                    <a:srgbClr val="473633"/>
                  </a:solidFill>
                  <a:latin typeface="+mn-lt"/>
                  <a:ea typeface="+mn-ea"/>
                  <a:cs typeface="+mn-cs"/>
                </a:rPr>
                <a:t>标杆复制</a:t>
              </a:r>
            </a:p>
          </p:txBody>
        </p:sp>
        <p:sp>
          <p:nvSpPr>
            <p:cNvPr id="96" name="Line 96"/>
            <p:cNvSpPr/>
            <p:nvPr/>
          </p:nvSpPr>
          <p:spPr>
            <a:xfrm>
              <a:off x="9296400" y="1809750"/>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97" name="TextBox 97"/>
            <p:cNvSpPr txBox="1"/>
            <p:nvPr/>
          </p:nvSpPr>
          <p:spPr>
            <a:xfrm>
              <a:off x="9310688" y="1934289"/>
              <a:ext cx="1865630" cy="754856"/>
            </a:xfrm>
            <a:prstGeom prst="rect">
              <a:avLst/>
            </a:prstGeom>
            <a:noFill/>
            <a:ln>
              <a:noFill/>
            </a:ln>
          </p:spPr>
          <p:txBody>
            <a:bodyPr wrap="none" lIns="0" tIns="0" rIns="0" bIns="0" anchor="t" anchorCtr="0">
              <a:spAutoFit/>
            </a:bodyPr>
            <a:lstStyle/>
            <a:p>
              <a:pPr algn="l" marL="85280" indent="-85280">
                <a:lnSpc>
                  <a:spcPts val="1575"/>
                </a:lnSpc>
                <a:buClr>
                  <a:srgbClr val="473633"/>
                </a:buClr>
                <a:buSzTx/>
                <a:buFontTx/>
                <a:buChar char="•"/>
              </a:pPr>
              <a:r>
                <a:rPr lang="zh-CN" sz="790" dirty="0">
                  <a:solidFill>
                    <a:srgbClr val="473633"/>
                  </a:solidFill>
                  <a:latin typeface="+mn-lt"/>
                  <a:ea typeface="+mn-ea"/>
                  <a:cs typeface="+mn-cs"/>
                </a:rPr>
                <a:t>网点分层分组，制定差异化经营策略​​​</a:t>
              </a:r>
            </a:p>
            <a:p>
              <a:pPr algn="l" marL="85280" indent="-85280">
                <a:lnSpc>
                  <a:spcPts val="1575"/>
                </a:lnSpc>
                <a:buClr>
                  <a:srgbClr val="473633"/>
                </a:buClr>
                <a:buSzTx/>
                <a:buFontTx/>
                <a:buChar char="•"/>
              </a:pPr>
              <a:r>
                <a:rPr lang="zh-CN" sz="790" dirty="0">
                  <a:solidFill>
                    <a:srgbClr val="473633"/>
                  </a:solidFill>
                  <a:latin typeface="+mn-lt"/>
                  <a:ea typeface="+mn-ea"/>
                  <a:cs typeface="+mn-cs"/>
                </a:rPr>
                <a:t>驻点辅导与跟进，解决一线经营问题​​​</a:t>
              </a:r>
            </a:p>
            <a:p>
              <a:pPr algn="l" marL="85280" indent="-85280">
                <a:lnSpc>
                  <a:spcPts val="1575"/>
                </a:lnSpc>
                <a:buClr>
                  <a:srgbClr val="473633"/>
                </a:buClr>
                <a:buSzTx/>
                <a:buFontTx/>
                <a:buChar char="•"/>
              </a:pPr>
              <a:r>
                <a:rPr lang="zh-CN" sz="790" dirty="0">
                  <a:solidFill>
                    <a:srgbClr val="473633"/>
                  </a:solidFill>
                  <a:latin typeface="+mn-lt"/>
                  <a:ea typeface="+mn-ea"/>
                  <a:cs typeface="+mn-cs"/>
                </a:rPr>
                <a:t>标杆网点打法沉淀，快速复制推广​​​</a:t>
              </a:r>
            </a:p>
            <a:p>
              <a:pPr algn="l" marL="85280" indent="-85280">
                <a:lnSpc>
                  <a:spcPts val="1575"/>
                </a:lnSpc>
                <a:buClr>
                  <a:srgbClr val="473633"/>
                </a:buClr>
                <a:buSzTx/>
                <a:buFontTx/>
                <a:buChar char="•"/>
              </a:pPr>
              <a:r>
                <a:rPr lang="zh-CN" sz="790" dirty="0">
                  <a:solidFill>
                    <a:srgbClr val="473633"/>
                  </a:solidFill>
                  <a:latin typeface="+mn-lt"/>
                  <a:ea typeface="+mn-ea"/>
                  <a:cs typeface="+mn-cs"/>
                </a:rPr>
                <a:t>过程管理与检查，持续提升网点效能​​​</a:t>
              </a:r>
            </a:p>
          </p:txBody>
        </p:sp>
        <p:sp>
          <p:nvSpPr>
            <p:cNvPr id="98" name="Rectangle 98"/>
            <p:cNvSpPr/>
            <p:nvPr/>
          </p:nvSpPr>
          <p:spPr>
            <a:xfrm>
              <a:off x="9296400" y="2819400"/>
              <a:ext cx="581025" cy="666750"/>
            </a:xfrm>
            <a:prstGeom prst="roundRect">
              <a:avLst>
                <a:gd name="adj" fmla="val 6557"/>
              </a:avLst>
            </a:prstGeom>
            <a:solidFill>
              <a:srgbClr val="EAF3FE"/>
            </a:solidFill>
            <a:ln>
              <a:noFill/>
            </a:ln>
          </p:spPr>
        </p:sp>
        <p:sp>
          <p:nvSpPr>
            <p:cNvPr id="99" name="TextBox 99"/>
            <p:cNvSpPr txBox="1"/>
            <p:nvPr/>
          </p:nvSpPr>
          <p:spPr>
            <a:xfrm>
              <a:off x="9394304" y="2937034"/>
              <a:ext cx="375691"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网点产能</a:t>
              </a:r>
            </a:p>
          </p:txBody>
        </p:sp>
        <p:sp>
          <p:nvSpPr>
            <p:cNvPr id="100" name="TextBox 100"/>
            <p:cNvSpPr txBox="1"/>
            <p:nvPr/>
          </p:nvSpPr>
          <p:spPr>
            <a:xfrm>
              <a:off x="9168718" y="3210639"/>
              <a:ext cx="826863" cy="154781"/>
            </a:xfrm>
            <a:prstGeom prst="rect">
              <a:avLst/>
            </a:prstGeom>
            <a:noFill/>
            <a:ln>
              <a:noFill/>
            </a:ln>
          </p:spPr>
          <p:txBody>
            <a:bodyPr wrap="none" lIns="0" tIns="0" rIns="0" bIns="0" anchor="t" anchorCtr="0">
              <a:spAutoFit/>
            </a:bodyPr>
            <a:lstStyle/>
            <a:p>
              <a:pPr algn="ctr"/>
              <a:r>
                <a:rPr lang="zh-CN" sz="790" b="1" dirty="0">
                  <a:solidFill>
                    <a:srgbClr val="B92102"/>
                  </a:solidFill>
                  <a:latin typeface="+mn-lt"/>
                  <a:ea typeface="+mn-ea"/>
                  <a:cs typeface="+mn-cs"/>
                </a:rPr>
                <a:t>XX万元/人​​​​​</a:t>
              </a:r>
            </a:p>
          </p:txBody>
        </p:sp>
        <p:sp>
          <p:nvSpPr>
            <p:cNvPr id="101" name="Rectangle 101"/>
            <p:cNvSpPr/>
            <p:nvPr/>
          </p:nvSpPr>
          <p:spPr>
            <a:xfrm>
              <a:off x="9934575" y="2819400"/>
              <a:ext cx="581025" cy="666750"/>
            </a:xfrm>
            <a:prstGeom prst="roundRect">
              <a:avLst>
                <a:gd name="adj" fmla="val 6557"/>
              </a:avLst>
            </a:prstGeom>
            <a:solidFill>
              <a:srgbClr val="EAF3FE"/>
            </a:solidFill>
            <a:ln>
              <a:noFill/>
            </a:ln>
          </p:spPr>
        </p:sp>
        <p:sp>
          <p:nvSpPr>
            <p:cNvPr id="102" name="TextBox 102"/>
            <p:cNvSpPr txBox="1"/>
            <p:nvPr/>
          </p:nvSpPr>
          <p:spPr>
            <a:xfrm>
              <a:off x="9940938" y="2937034"/>
              <a:ext cx="558775"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人均产能提升</a:t>
              </a:r>
            </a:p>
          </p:txBody>
        </p:sp>
        <p:sp>
          <p:nvSpPr>
            <p:cNvPr id="103" name="TextBox 103"/>
            <p:cNvSpPr txBox="1"/>
            <p:nvPr/>
          </p:nvSpPr>
          <p:spPr>
            <a:xfrm>
              <a:off x="9959233" y="3190399"/>
              <a:ext cx="522183"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104" name="Rectangle 104"/>
            <p:cNvSpPr/>
            <p:nvPr/>
          </p:nvSpPr>
          <p:spPr>
            <a:xfrm>
              <a:off x="10572750" y="2819400"/>
              <a:ext cx="581025" cy="666750"/>
            </a:xfrm>
            <a:prstGeom prst="roundRect">
              <a:avLst>
                <a:gd name="adj" fmla="val 6557"/>
              </a:avLst>
            </a:prstGeom>
            <a:solidFill>
              <a:srgbClr val="EAF3FE"/>
            </a:solidFill>
            <a:ln>
              <a:noFill/>
            </a:ln>
          </p:spPr>
        </p:sp>
        <p:sp>
          <p:nvSpPr>
            <p:cNvPr id="105" name="TextBox 105"/>
            <p:cNvSpPr txBox="1"/>
            <p:nvPr/>
          </p:nvSpPr>
          <p:spPr>
            <a:xfrm>
              <a:off x="10624884" y="2937034"/>
              <a:ext cx="467233"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有效客户数</a:t>
              </a:r>
            </a:p>
          </p:txBody>
        </p:sp>
        <p:sp>
          <p:nvSpPr>
            <p:cNvPr id="106" name="TextBox 106"/>
            <p:cNvSpPr txBox="1"/>
            <p:nvPr/>
          </p:nvSpPr>
          <p:spPr>
            <a:xfrm>
              <a:off x="10732796" y="3190399"/>
              <a:ext cx="251408"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sp>
          <p:nvSpPr>
            <p:cNvPr id="107" name="Rectangle 107"/>
            <p:cNvSpPr/>
            <p:nvPr/>
          </p:nvSpPr>
          <p:spPr>
            <a:xfrm>
              <a:off x="11210925" y="2819400"/>
              <a:ext cx="581025" cy="666750"/>
            </a:xfrm>
            <a:prstGeom prst="roundRect">
              <a:avLst>
                <a:gd name="adj" fmla="val 6557"/>
              </a:avLst>
            </a:prstGeom>
            <a:solidFill>
              <a:srgbClr val="EAF3FE"/>
            </a:solidFill>
            <a:ln>
              <a:noFill/>
            </a:ln>
          </p:spPr>
        </p:sp>
        <p:sp>
          <p:nvSpPr>
            <p:cNvPr id="108" name="TextBox 108"/>
            <p:cNvSpPr txBox="1"/>
            <p:nvPr/>
          </p:nvSpPr>
          <p:spPr>
            <a:xfrm>
              <a:off x="11217288" y="2937034"/>
              <a:ext cx="558775" cy="133350"/>
            </a:xfrm>
            <a:prstGeom prst="rect">
              <a:avLst/>
            </a:prstGeom>
            <a:noFill/>
            <a:ln>
              <a:noFill/>
            </a:ln>
          </p:spPr>
          <p:txBody>
            <a:bodyPr wrap="none" lIns="0" tIns="0" rIns="0" bIns="0" anchor="t" anchorCtr="0">
              <a:spAutoFit/>
            </a:bodyPr>
            <a:lstStyle/>
            <a:p>
              <a:pPr algn="ctr"/>
              <a:r>
                <a:rPr lang="zh-CN" sz="680" b="1" dirty="0">
                  <a:solidFill>
                    <a:srgbClr val="6E1604"/>
                  </a:solidFill>
                  <a:latin typeface="+mn-lt"/>
                  <a:ea typeface="+mn-ea"/>
                  <a:cs typeface="+mn-cs"/>
                </a:rPr>
                <a:t>达标网点占比</a:t>
              </a:r>
            </a:p>
          </p:txBody>
        </p:sp>
        <p:sp>
          <p:nvSpPr>
            <p:cNvPr id="109" name="TextBox 109"/>
            <p:cNvSpPr txBox="1"/>
            <p:nvPr/>
          </p:nvSpPr>
          <p:spPr>
            <a:xfrm>
              <a:off x="11235583" y="3190399"/>
              <a:ext cx="522183" cy="190690"/>
            </a:xfrm>
            <a:prstGeom prst="rect">
              <a:avLst/>
            </a:prstGeom>
            <a:noFill/>
            <a:ln>
              <a:noFill/>
            </a:ln>
          </p:spPr>
          <p:txBody>
            <a:bodyPr wrap="none" lIns="0" tIns="0" rIns="0" bIns="0" anchor="t" anchorCtr="0">
              <a:spAutoFit/>
            </a:bodyPr>
            <a:lstStyle/>
            <a:p>
              <a:pPr algn="ctr"/>
              <a:r>
                <a:rPr lang="en-US" sz="980" b="1" dirty="0">
                  <a:solidFill>
                    <a:srgbClr val="B92102"/>
                  </a:solidFill>
                  <a:latin typeface="+mn-lt"/>
                  <a:ea typeface="+mn-ea"/>
                  <a:cs typeface="+mn-cs"/>
                </a:rPr>
                <a:t>XX%​​​</a:t>
              </a:r>
            </a:p>
          </p:txBody>
        </p:sp>
      </p:grpSp>
      <p:grpSp>
        <p:nvGrpSpPr>
          <p:cNvPr id="175" name="campaign-table"/>
          <p:cNvGrpSpPr/>
          <p:nvPr/>
        </p:nvGrpSpPr>
        <p:grpSpPr>
          <a:xfrm>
            <a:off x="266700" y="3771900"/>
            <a:ext cx="11658600" cy="2800350"/>
            <a:chOff x="266700" y="3771900"/>
            <a:chExt cx="11658600" cy="2800350"/>
          </a:xfrm>
        </p:grpSpPr>
        <p:sp>
          <p:nvSpPr>
            <p:cNvPr id="111" name="Rectangle 111"/>
            <p:cNvSpPr/>
            <p:nvPr/>
          </p:nvSpPr>
          <p:spPr>
            <a:xfrm>
              <a:off x="266700" y="3771900"/>
              <a:ext cx="11658600" cy="2800350"/>
            </a:xfrm>
            <a:prstGeom prst="roundRect">
              <a:avLst>
                <a:gd name="adj" fmla="val 2041"/>
              </a:avLst>
            </a:prstGeom>
            <a:solidFill>
              <a:srgbClr val="FFFFFF"/>
            </a:solidFill>
            <a:ln w="9525">
              <a:solidFill>
                <a:srgbClr val="F7D1C9"/>
              </a:solidFill>
            </a:ln>
          </p:spPr>
        </p:sp>
        <p:sp>
          <p:nvSpPr>
            <p:cNvPr id="112" name="Freeform 112"/>
            <p:cNvSpPr/>
            <p:nvPr/>
          </p:nvSpPr>
          <p:spPr>
            <a:xfrm>
              <a:off x="266700" y="3771900"/>
              <a:ext cx="11658600" cy="285750"/>
            </a:xfrm>
            <a:custGeom>
              <a:avLst/>
              <a:gdLst/>
              <a:ahLst/>
              <a:cxnLst/>
              <a:rect l="l" t="t" r="r" b="b"/>
              <a:pathLst>
                <a:path w="11658600" h="285750">
                  <a:moveTo>
                    <a:pt x="0" y="57150"/>
                  </a:moveTo>
                  <a:cubicBezTo>
                    <a:pt x="0" y="25587"/>
                    <a:pt x="25587" y="0"/>
                    <a:pt x="57150" y="0"/>
                  </a:cubicBezTo>
                  <a:lnTo>
                    <a:pt x="11601450" y="0"/>
                  </a:lnTo>
                  <a:cubicBezTo>
                    <a:pt x="11633013" y="0"/>
                    <a:pt x="11658600" y="25587"/>
                    <a:pt x="11658600" y="57150"/>
                  </a:cubicBezTo>
                  <a:lnTo>
                    <a:pt x="11658600" y="285750"/>
                  </a:lnTo>
                  <a:lnTo>
                    <a:pt x="0" y="285750"/>
                  </a:lnTo>
                  <a:close/>
                </a:path>
              </a:pathLst>
            </a:custGeom>
            <a:solidFill>
              <a:srgbClr val="B92102"/>
            </a:solidFill>
            <a:ln>
              <a:noFill/>
            </a:ln>
          </p:spPr>
        </p:sp>
        <p:sp>
          <p:nvSpPr>
            <p:cNvPr id="113" name="Line 113"/>
            <p:cNvSpPr/>
            <p:nvPr/>
          </p:nvSpPr>
          <p:spPr>
            <a:xfrm>
              <a:off x="2400300" y="3829050"/>
              <a:ext cx="9525" cy="171450"/>
            </a:xfrm>
            <a:custGeom>
              <a:avLst/>
              <a:gdLst/>
              <a:ahLst/>
              <a:cxnLst/>
              <a:rect l="l" t="t" r="r" b="b"/>
              <a:pathLst>
                <a:path w="9525" h="171450">
                  <a:moveTo>
                    <a:pt x="0" y="0"/>
                  </a:moveTo>
                  <a:lnTo>
                    <a:pt x="0" y="171450"/>
                  </a:lnTo>
                </a:path>
              </a:pathLst>
            </a:custGeom>
            <a:noFill/>
            <a:ln w="9525">
              <a:solidFill>
                <a:srgbClr val="D9705B"/>
              </a:solidFill>
            </a:ln>
          </p:spPr>
        </p:sp>
        <p:sp>
          <p:nvSpPr>
            <p:cNvPr id="114" name="Line 114"/>
            <p:cNvSpPr/>
            <p:nvPr/>
          </p:nvSpPr>
          <p:spPr>
            <a:xfrm>
              <a:off x="4114800" y="3829050"/>
              <a:ext cx="9525" cy="171450"/>
            </a:xfrm>
            <a:custGeom>
              <a:avLst/>
              <a:gdLst/>
              <a:ahLst/>
              <a:cxnLst/>
              <a:rect l="l" t="t" r="r" b="b"/>
              <a:pathLst>
                <a:path w="9525" h="171450">
                  <a:moveTo>
                    <a:pt x="0" y="0"/>
                  </a:moveTo>
                  <a:lnTo>
                    <a:pt x="0" y="171450"/>
                  </a:lnTo>
                </a:path>
              </a:pathLst>
            </a:custGeom>
            <a:noFill/>
            <a:ln w="9525">
              <a:solidFill>
                <a:srgbClr val="D9705B"/>
              </a:solidFill>
            </a:ln>
          </p:spPr>
        </p:sp>
        <p:sp>
          <p:nvSpPr>
            <p:cNvPr id="115" name="Line 115"/>
            <p:cNvSpPr/>
            <p:nvPr/>
          </p:nvSpPr>
          <p:spPr>
            <a:xfrm>
              <a:off x="7000875" y="3829050"/>
              <a:ext cx="9525" cy="171450"/>
            </a:xfrm>
            <a:custGeom>
              <a:avLst/>
              <a:gdLst/>
              <a:ahLst/>
              <a:cxnLst/>
              <a:rect l="l" t="t" r="r" b="b"/>
              <a:pathLst>
                <a:path w="9525" h="171450">
                  <a:moveTo>
                    <a:pt x="0" y="0"/>
                  </a:moveTo>
                  <a:lnTo>
                    <a:pt x="0" y="171450"/>
                  </a:lnTo>
                </a:path>
              </a:pathLst>
            </a:custGeom>
            <a:noFill/>
            <a:ln w="9525">
              <a:solidFill>
                <a:srgbClr val="D9705B"/>
              </a:solidFill>
            </a:ln>
          </p:spPr>
        </p:sp>
        <p:sp>
          <p:nvSpPr>
            <p:cNvPr id="116" name="Line 116"/>
            <p:cNvSpPr/>
            <p:nvPr/>
          </p:nvSpPr>
          <p:spPr>
            <a:xfrm>
              <a:off x="9286875" y="3829050"/>
              <a:ext cx="9525" cy="171450"/>
            </a:xfrm>
            <a:custGeom>
              <a:avLst/>
              <a:gdLst/>
              <a:ahLst/>
              <a:cxnLst/>
              <a:rect l="l" t="t" r="r" b="b"/>
              <a:pathLst>
                <a:path w="9525" h="171450">
                  <a:moveTo>
                    <a:pt x="0" y="0"/>
                  </a:moveTo>
                  <a:lnTo>
                    <a:pt x="0" y="171450"/>
                  </a:lnTo>
                </a:path>
              </a:pathLst>
            </a:custGeom>
            <a:noFill/>
            <a:ln w="9525">
              <a:solidFill>
                <a:srgbClr val="D9705B"/>
              </a:solidFill>
            </a:ln>
          </p:spPr>
        </p:sp>
        <p:sp>
          <p:nvSpPr>
            <p:cNvPr id="117" name="TextBox 117"/>
            <p:cNvSpPr txBox="1"/>
            <p:nvPr/>
          </p:nvSpPr>
          <p:spPr>
            <a:xfrm>
              <a:off x="1202195" y="385167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战役</a:t>
              </a:r>
            </a:p>
          </p:txBody>
        </p:sp>
        <p:sp>
          <p:nvSpPr>
            <p:cNvPr id="118" name="TextBox 118"/>
            <p:cNvSpPr txBox="1"/>
            <p:nvPr/>
          </p:nvSpPr>
          <p:spPr>
            <a:xfrm>
              <a:off x="2999702" y="38516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目标对象</a:t>
              </a:r>
            </a:p>
          </p:txBody>
        </p:sp>
        <p:sp>
          <p:nvSpPr>
            <p:cNvPr id="119" name="TextBox 119"/>
            <p:cNvSpPr txBox="1"/>
            <p:nvPr/>
          </p:nvSpPr>
          <p:spPr>
            <a:xfrm>
              <a:off x="5295227" y="38516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核心动作</a:t>
              </a:r>
            </a:p>
          </p:txBody>
        </p:sp>
        <p:sp>
          <p:nvSpPr>
            <p:cNvPr id="120" name="TextBox 120"/>
            <p:cNvSpPr txBox="1"/>
            <p:nvPr/>
          </p:nvSpPr>
          <p:spPr>
            <a:xfrm>
              <a:off x="7886027" y="38516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资源投入</a:t>
              </a:r>
            </a:p>
          </p:txBody>
        </p:sp>
        <p:sp>
          <p:nvSpPr>
            <p:cNvPr id="121" name="TextBox 121"/>
            <p:cNvSpPr txBox="1"/>
            <p:nvPr/>
          </p:nvSpPr>
          <p:spPr>
            <a:xfrm>
              <a:off x="10343477" y="38516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检验方式</a:t>
              </a:r>
            </a:p>
          </p:txBody>
        </p:sp>
        <p:sp>
          <p:nvSpPr>
            <p:cNvPr id="122" name="Rectangle 122"/>
            <p:cNvSpPr/>
            <p:nvPr/>
          </p:nvSpPr>
          <p:spPr>
            <a:xfrm>
              <a:off x="276225" y="4686300"/>
              <a:ext cx="11639550" cy="628650"/>
            </a:xfrm>
            <a:prstGeom prst="rect">
              <a:avLst/>
            </a:prstGeom>
            <a:solidFill>
              <a:srgbClr val="F2F7FE"/>
            </a:solidFill>
            <a:ln>
              <a:noFill/>
            </a:ln>
          </p:spPr>
        </p:sp>
        <p:sp>
          <p:nvSpPr>
            <p:cNvPr id="123" name="Rectangle 123"/>
            <p:cNvSpPr/>
            <p:nvPr/>
          </p:nvSpPr>
          <p:spPr>
            <a:xfrm>
              <a:off x="276225" y="5943600"/>
              <a:ext cx="11639550" cy="619125"/>
            </a:xfrm>
            <a:prstGeom prst="rect">
              <a:avLst/>
            </a:prstGeom>
            <a:solidFill>
              <a:srgbClr val="F2F7FE"/>
            </a:solidFill>
            <a:ln>
              <a:noFill/>
            </a:ln>
          </p:spPr>
        </p:sp>
        <p:sp>
          <p:nvSpPr>
            <p:cNvPr id="124" name="Line 124"/>
            <p:cNvSpPr/>
            <p:nvPr/>
          </p:nvSpPr>
          <p:spPr>
            <a:xfrm>
              <a:off x="266700" y="468630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125" name="Line 125"/>
            <p:cNvSpPr/>
            <p:nvPr/>
          </p:nvSpPr>
          <p:spPr>
            <a:xfrm>
              <a:off x="266700" y="531495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126" name="Line 126"/>
            <p:cNvSpPr/>
            <p:nvPr/>
          </p:nvSpPr>
          <p:spPr>
            <a:xfrm>
              <a:off x="266700" y="5943600"/>
              <a:ext cx="11658600" cy="9525"/>
            </a:xfrm>
            <a:custGeom>
              <a:avLst/>
              <a:gdLst/>
              <a:ahLst/>
              <a:cxnLst/>
              <a:rect l="l" t="t" r="r" b="b"/>
              <a:pathLst>
                <a:path w="11658600" h="9525">
                  <a:moveTo>
                    <a:pt x="0" y="0"/>
                  </a:moveTo>
                  <a:lnTo>
                    <a:pt x="11658600" y="0"/>
                  </a:lnTo>
                </a:path>
              </a:pathLst>
            </a:custGeom>
            <a:noFill/>
            <a:ln w="9525">
              <a:solidFill>
                <a:srgbClr val="DCE6F8"/>
              </a:solidFill>
            </a:ln>
          </p:spPr>
        </p:sp>
        <p:sp>
          <p:nvSpPr>
            <p:cNvPr id="127" name="Line 127"/>
            <p:cNvSpPr/>
            <p:nvPr/>
          </p:nvSpPr>
          <p:spPr>
            <a:xfrm>
              <a:off x="2400300" y="4057650"/>
              <a:ext cx="9525" cy="2514600"/>
            </a:xfrm>
            <a:custGeom>
              <a:avLst/>
              <a:gdLst/>
              <a:ahLst/>
              <a:cxnLst/>
              <a:rect l="l" t="t" r="r" b="b"/>
              <a:pathLst>
                <a:path w="9525" h="2514600">
                  <a:moveTo>
                    <a:pt x="0" y="0"/>
                  </a:moveTo>
                  <a:lnTo>
                    <a:pt x="0" y="2514600"/>
                  </a:lnTo>
                </a:path>
              </a:pathLst>
            </a:custGeom>
            <a:noFill/>
            <a:ln w="9525">
              <a:solidFill>
                <a:srgbClr val="DCE6F8"/>
              </a:solidFill>
            </a:ln>
          </p:spPr>
        </p:sp>
        <p:sp>
          <p:nvSpPr>
            <p:cNvPr id="128" name="Line 128"/>
            <p:cNvSpPr/>
            <p:nvPr/>
          </p:nvSpPr>
          <p:spPr>
            <a:xfrm>
              <a:off x="4114800" y="4057650"/>
              <a:ext cx="9525" cy="2514600"/>
            </a:xfrm>
            <a:custGeom>
              <a:avLst/>
              <a:gdLst/>
              <a:ahLst/>
              <a:cxnLst/>
              <a:rect l="l" t="t" r="r" b="b"/>
              <a:pathLst>
                <a:path w="9525" h="2514600">
                  <a:moveTo>
                    <a:pt x="0" y="0"/>
                  </a:moveTo>
                  <a:lnTo>
                    <a:pt x="0" y="2514600"/>
                  </a:lnTo>
                </a:path>
              </a:pathLst>
            </a:custGeom>
            <a:noFill/>
            <a:ln w="9525">
              <a:solidFill>
                <a:srgbClr val="DCE6F8"/>
              </a:solidFill>
            </a:ln>
          </p:spPr>
        </p:sp>
        <p:sp>
          <p:nvSpPr>
            <p:cNvPr id="129" name="Line 129"/>
            <p:cNvSpPr/>
            <p:nvPr/>
          </p:nvSpPr>
          <p:spPr>
            <a:xfrm>
              <a:off x="7000875" y="4057650"/>
              <a:ext cx="9525" cy="2514600"/>
            </a:xfrm>
            <a:custGeom>
              <a:avLst/>
              <a:gdLst/>
              <a:ahLst/>
              <a:cxnLst/>
              <a:rect l="l" t="t" r="r" b="b"/>
              <a:pathLst>
                <a:path w="9525" h="2514600">
                  <a:moveTo>
                    <a:pt x="0" y="0"/>
                  </a:moveTo>
                  <a:lnTo>
                    <a:pt x="0" y="2514600"/>
                  </a:lnTo>
                </a:path>
              </a:pathLst>
            </a:custGeom>
            <a:noFill/>
            <a:ln w="9525">
              <a:solidFill>
                <a:srgbClr val="DCE6F8"/>
              </a:solidFill>
            </a:ln>
          </p:spPr>
        </p:sp>
        <p:sp>
          <p:nvSpPr>
            <p:cNvPr id="130" name="Line 130"/>
            <p:cNvSpPr/>
            <p:nvPr/>
          </p:nvSpPr>
          <p:spPr>
            <a:xfrm>
              <a:off x="9286875" y="4057650"/>
              <a:ext cx="9525" cy="2514600"/>
            </a:xfrm>
            <a:custGeom>
              <a:avLst/>
              <a:gdLst/>
              <a:ahLst/>
              <a:cxnLst/>
              <a:rect l="l" t="t" r="r" b="b"/>
              <a:pathLst>
                <a:path w="9525" h="2514600">
                  <a:moveTo>
                    <a:pt x="0" y="0"/>
                  </a:moveTo>
                  <a:lnTo>
                    <a:pt x="0" y="2514600"/>
                  </a:lnTo>
                </a:path>
              </a:pathLst>
            </a:custGeom>
            <a:noFill/>
            <a:ln w="9525">
              <a:solidFill>
                <a:srgbClr val="DCE6F8"/>
              </a:solidFill>
            </a:ln>
          </p:spPr>
        </p:sp>
        <p:grpSp>
          <p:nvGrpSpPr>
            <p:cNvPr id="140" name="ct-row-1"/>
            <p:cNvGrpSpPr/>
            <p:nvPr/>
          </p:nvGrpSpPr>
          <p:grpSpPr>
            <a:xfrm>
              <a:off x="431006" y="4167188"/>
              <a:ext cx="10641806" cy="414338"/>
              <a:chOff x="431006" y="4167188"/>
              <a:chExt cx="10641806" cy="414338"/>
            </a:xfrm>
          </p:grpSpPr>
          <p:grpSp>
            <p:nvGrpSpPr>
              <p:cNvPr id="134" name="Group 134"/>
              <p:cNvGrpSpPr/>
              <p:nvPr/>
            </p:nvGrpSpPr>
            <p:grpSpPr>
              <a:xfrm>
                <a:off x="431006" y="4279106"/>
                <a:ext cx="185737" cy="185737"/>
                <a:chOff x="431006" y="4279106"/>
                <a:chExt cx="185737" cy="185737"/>
              </a:xfrm>
            </p:grpSpPr>
            <p:sp>
              <p:nvSpPr>
                <p:cNvPr id="131" name="Freeform 131"/>
                <p:cNvSpPr/>
                <p:nvPr/>
              </p:nvSpPr>
              <p:spPr>
                <a:xfrm>
                  <a:off x="513556" y="436165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B92102"/>
                  </a:solidFill>
                </a:ln>
              </p:spPr>
            </p:sp>
            <p:sp>
              <p:nvSpPr>
                <p:cNvPr id="132" name="Freeform 132"/>
                <p:cNvSpPr/>
                <p:nvPr/>
              </p:nvSpPr>
              <p:spPr>
                <a:xfrm>
                  <a:off x="472281" y="432038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B92102"/>
                  </a:solidFill>
                </a:ln>
              </p:spPr>
            </p:sp>
            <p:sp>
              <p:nvSpPr>
                <p:cNvPr id="133" name="Freeform 133"/>
                <p:cNvSpPr/>
                <p:nvPr/>
              </p:nvSpPr>
              <p:spPr>
                <a:xfrm>
                  <a:off x="431006" y="42791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B92102"/>
                  </a:solidFill>
                </a:ln>
              </p:spPr>
            </p:sp>
          </p:grpSp>
          <p:sp>
            <p:nvSpPr>
              <p:cNvPr id="135" name="TextBox 135"/>
              <p:cNvSpPr txBox="1"/>
              <p:nvPr/>
            </p:nvSpPr>
            <p:spPr>
              <a:xfrm>
                <a:off x="738188" y="4227195"/>
                <a:ext cx="1469326" cy="338138"/>
              </a:xfrm>
              <a:prstGeom prst="rect">
                <a:avLst/>
              </a:prstGeom>
              <a:noFill/>
              <a:ln>
                <a:noFill/>
              </a:ln>
            </p:spPr>
            <p:txBody>
              <a:bodyPr wrap="none" lIns="0" tIns="0" rIns="0" bIns="0" anchor="t" anchorCtr="0">
                <a:spAutoFit/>
              </a:bodyPr>
              <a:lstStyle/>
              <a:p>
                <a:pPr algn="l">
                  <a:lnSpc>
                    <a:spcPts val="1275"/>
                  </a:lnSpc>
                </a:pPr>
                <a:r>
                  <a:rPr lang="zh-CN" sz="900" b="1" dirty="0">
                    <a:solidFill>
                      <a:srgbClr val="6E1604"/>
                    </a:solidFill>
                    <a:latin typeface="+mn-lt"/>
                    <a:ea typeface="+mn-ea"/>
                    <a:cs typeface="+mn-cs"/>
                  </a:rPr>
                  <a:t>存量深耕战：</a:t>
                </a:r>
              </a:p>
              <a:p>
                <a:pPr algn="l">
                  <a:lnSpc>
                    <a:spcPts val="1275"/>
                  </a:lnSpc>
                </a:pPr>
                <a:r>
                  <a:rPr lang="zh-CN" sz="790" dirty="0">
                    <a:solidFill>
                      <a:srgbClr val="473633"/>
                    </a:solidFill>
                    <a:latin typeface="+mn-lt"/>
                    <a:ea typeface="+mn-ea"/>
                    <a:cs typeface="+mn-cs"/>
                  </a:rPr>
                  <a:t>客户迁移、到期承接、交叉销售​</a:t>
                </a:r>
              </a:p>
            </p:txBody>
          </p:sp>
          <p:sp>
            <p:nvSpPr>
              <p:cNvPr id="136" name="TextBox 136"/>
              <p:cNvSpPr txBox="1"/>
              <p:nvPr/>
            </p:nvSpPr>
            <p:spPr>
              <a:xfrm>
                <a:off x="2509838" y="4239339"/>
                <a:ext cx="1068006"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存量客户、到期客户、​</a:t>
                </a:r>
                <a:br/>
                <a:r>
                  <a:rPr lang="zh-CN" sz="790" dirty="0">
                    <a:solidFill>
                      <a:srgbClr val="473633"/>
                    </a:solidFill>
                    <a:latin typeface="+mn-lt"/>
                    <a:ea typeface="+mn-ea"/>
                    <a:cs typeface="+mn-cs"/>
                  </a:rPr>
                  <a:t>高价值客户、沉睡客户​</a:t>
                </a:r>
              </a:p>
            </p:txBody>
          </p:sp>
          <p:sp>
            <p:nvSpPr>
              <p:cNvPr id="137" name="TextBox 137"/>
              <p:cNvSpPr txBox="1"/>
              <p:nvPr/>
            </p:nvSpPr>
            <p:spPr>
              <a:xfrm>
                <a:off x="4224338" y="4239339"/>
                <a:ext cx="2071306"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客户分层与清单管理；到期预警与承接方案；​</a:t>
                </a:r>
                <a:br/>
                <a:r>
                  <a:rPr lang="zh-CN" sz="790" dirty="0">
                    <a:solidFill>
                      <a:srgbClr val="473633"/>
                    </a:solidFill>
                    <a:latin typeface="+mn-lt"/>
                    <a:ea typeface="+mn-ea"/>
                    <a:cs typeface="+mn-cs"/>
                  </a:rPr>
                  <a:t>交叉销售场景挖掘；客户回访与价值复盘​</a:t>
                </a:r>
              </a:p>
            </p:txBody>
          </p:sp>
          <p:sp>
            <p:nvSpPr>
              <p:cNvPr id="138" name="TextBox 138"/>
              <p:cNvSpPr txBox="1"/>
              <p:nvPr/>
            </p:nvSpPr>
            <p:spPr>
              <a:xfrm>
                <a:off x="7110412" y="4167188"/>
                <a:ext cx="1376362" cy="414338"/>
              </a:xfrm>
              <a:prstGeom prst="rect">
                <a:avLst/>
              </a:prstGeom>
              <a:noFill/>
              <a:ln>
                <a:noFill/>
              </a:ln>
            </p:spPr>
            <p:txBody>
              <a:bodyPr wrap="none" lIns="0" tIns="0" rIns="0" bIns="0" anchor="t" anchorCtr="0">
                <a:spAutoFit/>
              </a:bodyPr>
              <a:lstStyle/>
              <a:p>
                <a:pPr algn="l" marL="80962" indent="-80962">
                  <a:lnSpc>
                    <a:spcPts val="1050"/>
                  </a:lnSpc>
                  <a:buClr>
                    <a:srgbClr val="473633"/>
                  </a:buClr>
                  <a:buSzTx/>
                  <a:buFontTx/>
                  <a:buChar char="•"/>
                </a:pPr>
                <a:r>
                  <a:rPr lang="zh-CN" sz="750" dirty="0">
                    <a:solidFill>
                      <a:srgbClr val="473633"/>
                    </a:solidFill>
                    <a:latin typeface="+mn-lt"/>
                    <a:ea typeface="+mn-ea"/>
                    <a:cs typeface="+mn-cs"/>
                  </a:rPr>
                  <a:t>客户经理：XX人​​​​​</a:t>
                </a:r>
              </a:p>
              <a:p>
                <a:pPr algn="l" marL="80962" indent="-80962">
                  <a:lnSpc>
                    <a:spcPts val="1050"/>
                  </a:lnSpc>
                  <a:buClr>
                    <a:srgbClr val="473633"/>
                  </a:buClr>
                  <a:buSzTx/>
                  <a:buFontTx/>
                  <a:buChar char="•"/>
                </a:pPr>
                <a:r>
                  <a:rPr lang="zh-CN" sz="750" dirty="0">
                    <a:solidFill>
                      <a:srgbClr val="473633"/>
                    </a:solidFill>
                    <a:latin typeface="+mn-lt"/>
                    <a:ea typeface="+mn-ea"/>
                    <a:cs typeface="+mn-cs"/>
                  </a:rPr>
                  <a:t>专项额度：XX亿元​​​​​</a:t>
                </a:r>
              </a:p>
              <a:p>
                <a:pPr algn="l" marL="80962" indent="-80962">
                  <a:lnSpc>
                    <a:spcPts val="1050"/>
                  </a:lnSpc>
                  <a:buClr>
                    <a:srgbClr val="473633"/>
                  </a:buClr>
                  <a:buSzTx/>
                  <a:buFontTx/>
                  <a:buChar char="•"/>
                </a:pPr>
                <a:r>
                  <a:rPr lang="zh-CN" sz="750" dirty="0">
                    <a:solidFill>
                      <a:srgbClr val="473633"/>
                    </a:solidFill>
                    <a:latin typeface="+mn-lt"/>
                    <a:ea typeface="+mn-ea"/>
                    <a:cs typeface="+mn-cs"/>
                  </a:rPr>
                  <a:t>产品/方案支持：XX项​​​​​​​</a:t>
                </a:r>
              </a:p>
            </p:txBody>
          </p:sp>
          <p:sp>
            <p:nvSpPr>
              <p:cNvPr id="139" name="TextBox 139"/>
              <p:cNvSpPr txBox="1"/>
              <p:nvPr/>
            </p:nvSpPr>
            <p:spPr>
              <a:xfrm>
                <a:off x="9396412" y="4205288"/>
                <a:ext cx="1676400" cy="280988"/>
              </a:xfrm>
              <a:prstGeom prst="rect">
                <a:avLst/>
              </a:prstGeom>
              <a:noFill/>
              <a:ln>
                <a:noFill/>
              </a:ln>
            </p:spPr>
            <p:txBody>
              <a:bodyPr wrap="none" lIns="0" tIns="0" rIns="0" bIns="0" anchor="t" anchorCtr="0">
                <a:spAutoFit/>
              </a:bodyPr>
              <a:lstStyle/>
              <a:p>
                <a:pPr algn="l" marL="80962" indent="-80962">
                  <a:lnSpc>
                    <a:spcPts val="1050"/>
                  </a:lnSpc>
                  <a:buClr>
                    <a:srgbClr val="473633"/>
                  </a:buClr>
                  <a:buSzTx/>
                  <a:buFontTx/>
                  <a:buChar char="•"/>
                </a:pPr>
                <a:r>
                  <a:rPr lang="zh-CN" sz="750" dirty="0">
                    <a:solidFill>
                      <a:srgbClr val="473633"/>
                    </a:solidFill>
                    <a:latin typeface="+mn-lt"/>
                    <a:ea typeface="+mn-ea"/>
                    <a:cs typeface="+mn-cs"/>
                  </a:rPr>
                  <a:t>存量迁移率、到期承接率​​​</a:t>
                </a:r>
              </a:p>
              <a:p>
                <a:pPr algn="l" marL="80962" indent="-80962">
                  <a:lnSpc>
                    <a:spcPts val="1050"/>
                  </a:lnSpc>
                  <a:buClr>
                    <a:srgbClr val="473633"/>
                  </a:buClr>
                  <a:buSzTx/>
                  <a:buFontTx/>
                  <a:buChar char="•"/>
                </a:pPr>
                <a:r>
                  <a:rPr lang="zh-CN" sz="750" dirty="0">
                    <a:solidFill>
                      <a:srgbClr val="473633"/>
                    </a:solidFill>
                    <a:latin typeface="+mn-lt"/>
                    <a:ea typeface="+mn-ea"/>
                    <a:cs typeface="+mn-cs"/>
                  </a:rPr>
                  <a:t>交叉销售率、客户贡献度提升情况​​​</a:t>
                </a:r>
              </a:p>
            </p:txBody>
          </p:sp>
        </p:grpSp>
        <p:grpSp>
          <p:nvGrpSpPr>
            <p:cNvPr id="153" name="ct-row-2"/>
            <p:cNvGrpSpPr/>
            <p:nvPr/>
          </p:nvGrpSpPr>
          <p:grpSpPr>
            <a:xfrm>
              <a:off x="431006" y="4795838"/>
              <a:ext cx="10260806" cy="414338"/>
              <a:chOff x="431006" y="4795838"/>
              <a:chExt cx="10260806" cy="414338"/>
            </a:xfrm>
          </p:grpSpPr>
          <p:grpSp>
            <p:nvGrpSpPr>
              <p:cNvPr id="147" name="Group 147"/>
              <p:cNvGrpSpPr/>
              <p:nvPr/>
            </p:nvGrpSpPr>
            <p:grpSpPr>
              <a:xfrm>
                <a:off x="431006" y="4907756"/>
                <a:ext cx="185737" cy="185737"/>
                <a:chOff x="431006" y="4907756"/>
                <a:chExt cx="185737" cy="185737"/>
              </a:xfrm>
            </p:grpSpPr>
            <p:sp>
              <p:nvSpPr>
                <p:cNvPr id="141" name="Freeform 141"/>
                <p:cNvSpPr/>
                <p:nvPr/>
              </p:nvSpPr>
              <p:spPr>
                <a:xfrm>
                  <a:off x="503237" y="49903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B92102"/>
                  </a:solidFill>
                </a:ln>
              </p:spPr>
            </p:sp>
            <p:sp>
              <p:nvSpPr>
                <p:cNvPr id="142" name="Freeform 142"/>
                <p:cNvSpPr/>
                <p:nvPr/>
              </p:nvSpPr>
              <p:spPr>
                <a:xfrm>
                  <a:off x="482600" y="506253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B92102"/>
                  </a:solidFill>
                </a:ln>
              </p:spPr>
            </p:sp>
            <p:sp>
              <p:nvSpPr>
                <p:cNvPr id="143" name="Freeform 143"/>
                <p:cNvSpPr/>
                <p:nvPr/>
              </p:nvSpPr>
              <p:spPr>
                <a:xfrm>
                  <a:off x="554831" y="49077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B92102"/>
                  </a:solidFill>
                </a:ln>
              </p:spPr>
            </p:sp>
            <p:sp>
              <p:nvSpPr>
                <p:cNvPr id="144" name="Freeform 144"/>
                <p:cNvSpPr/>
                <p:nvPr/>
              </p:nvSpPr>
              <p:spPr>
                <a:xfrm>
                  <a:off x="575468" y="497998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B92102"/>
                  </a:solidFill>
                </a:ln>
              </p:spPr>
            </p:sp>
            <p:sp>
              <p:nvSpPr>
                <p:cNvPr id="145" name="Freeform 145"/>
                <p:cNvSpPr/>
                <p:nvPr/>
              </p:nvSpPr>
              <p:spPr>
                <a:xfrm>
                  <a:off x="451644" y="49077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B92102"/>
                  </a:solidFill>
                </a:ln>
              </p:spPr>
            </p:sp>
            <p:sp>
              <p:nvSpPr>
                <p:cNvPr id="146" name="Freeform 146"/>
                <p:cNvSpPr/>
                <p:nvPr/>
              </p:nvSpPr>
              <p:spPr>
                <a:xfrm>
                  <a:off x="431006" y="497998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B92102"/>
                  </a:solidFill>
                </a:ln>
              </p:spPr>
            </p:sp>
          </p:grpSp>
          <p:sp>
            <p:nvSpPr>
              <p:cNvPr id="148" name="TextBox 148"/>
              <p:cNvSpPr txBox="1"/>
              <p:nvPr/>
            </p:nvSpPr>
            <p:spPr>
              <a:xfrm>
                <a:off x="738188" y="4855845"/>
                <a:ext cx="1469326" cy="338138"/>
              </a:xfrm>
              <a:prstGeom prst="rect">
                <a:avLst/>
              </a:prstGeom>
              <a:noFill/>
              <a:ln>
                <a:noFill/>
              </a:ln>
            </p:spPr>
            <p:txBody>
              <a:bodyPr wrap="none" lIns="0" tIns="0" rIns="0" bIns="0" anchor="t" anchorCtr="0">
                <a:spAutoFit/>
              </a:bodyPr>
              <a:lstStyle/>
              <a:p>
                <a:pPr algn="l">
                  <a:lnSpc>
                    <a:spcPts val="1275"/>
                  </a:lnSpc>
                </a:pPr>
                <a:r>
                  <a:rPr lang="zh-CN" sz="900" b="1" dirty="0">
                    <a:solidFill>
                      <a:srgbClr val="6E1604"/>
                    </a:solidFill>
                    <a:latin typeface="+mn-lt"/>
                    <a:ea typeface="+mn-ea"/>
                    <a:cs typeface="+mn-cs"/>
                  </a:rPr>
                  <a:t>增量拓客战：</a:t>
                </a:r>
              </a:p>
              <a:p>
                <a:pPr algn="l">
                  <a:lnSpc>
                    <a:spcPts val="1275"/>
                  </a:lnSpc>
                </a:pPr>
                <a:r>
                  <a:rPr lang="zh-CN" sz="790" dirty="0">
                    <a:solidFill>
                      <a:srgbClr val="473633"/>
                    </a:solidFill>
                    <a:latin typeface="+mn-lt"/>
                    <a:ea typeface="+mn-ea"/>
                    <a:cs typeface="+mn-cs"/>
                  </a:rPr>
                  <a:t>园区名单、生态伙伴、活动获客​</a:t>
                </a:r>
              </a:p>
            </p:txBody>
          </p:sp>
          <p:sp>
            <p:nvSpPr>
              <p:cNvPr id="149" name="TextBox 149"/>
              <p:cNvSpPr txBox="1"/>
              <p:nvPr/>
            </p:nvSpPr>
            <p:spPr>
              <a:xfrm>
                <a:off x="2509838" y="4867989"/>
                <a:ext cx="1469326"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园区企业、生态伙伴推荐客户、​</a:t>
                </a:r>
                <a:br/>
                <a:r>
                  <a:rPr lang="zh-CN" sz="790" dirty="0">
                    <a:solidFill>
                      <a:srgbClr val="473633"/>
                    </a:solidFill>
                    <a:latin typeface="+mn-lt"/>
                    <a:ea typeface="+mn-ea"/>
                    <a:cs typeface="+mn-cs"/>
                  </a:rPr>
                  <a:t>活动触达客群</a:t>
                </a:r>
              </a:p>
            </p:txBody>
          </p:sp>
          <p:sp>
            <p:nvSpPr>
              <p:cNvPr id="150" name="TextBox 150"/>
              <p:cNvSpPr txBox="1"/>
              <p:nvPr/>
            </p:nvSpPr>
            <p:spPr>
              <a:xfrm>
                <a:off x="4224338" y="4867989"/>
                <a:ext cx="1870646"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园区名单覆盖与拜访；伙伴共建与互荐；​</a:t>
                </a:r>
                <a:br/>
                <a:r>
                  <a:rPr lang="zh-CN" sz="790" dirty="0">
                    <a:solidFill>
                      <a:srgbClr val="473633"/>
                    </a:solidFill>
                    <a:latin typeface="+mn-lt"/>
                    <a:ea typeface="+mn-ea"/>
                    <a:cs typeface="+mn-cs"/>
                  </a:rPr>
                  <a:t>行业活动组织/参与；线索孵化与跟进​​​</a:t>
                </a:r>
              </a:p>
            </p:txBody>
          </p:sp>
          <p:sp>
            <p:nvSpPr>
              <p:cNvPr id="151" name="TextBox 151"/>
              <p:cNvSpPr txBox="1"/>
              <p:nvPr/>
            </p:nvSpPr>
            <p:spPr>
              <a:xfrm>
                <a:off x="7110412" y="4795838"/>
                <a:ext cx="1471612" cy="414338"/>
              </a:xfrm>
              <a:prstGeom prst="rect">
                <a:avLst/>
              </a:prstGeom>
              <a:noFill/>
              <a:ln>
                <a:noFill/>
              </a:ln>
            </p:spPr>
            <p:txBody>
              <a:bodyPr wrap="none" lIns="0" tIns="0" rIns="0" bIns="0" anchor="t" anchorCtr="0">
                <a:spAutoFit/>
              </a:bodyPr>
              <a:lstStyle/>
              <a:p>
                <a:pPr algn="l" marL="80962" indent="-80962">
                  <a:lnSpc>
                    <a:spcPts val="1050"/>
                  </a:lnSpc>
                  <a:buClr>
                    <a:srgbClr val="473633"/>
                  </a:buClr>
                  <a:buSzTx/>
                  <a:buFontTx/>
                  <a:buChar char="•"/>
                </a:pPr>
                <a:r>
                  <a:rPr lang="zh-CN" sz="750" dirty="0">
                    <a:solidFill>
                      <a:srgbClr val="473633"/>
                    </a:solidFill>
                    <a:latin typeface="+mn-lt"/>
                    <a:ea typeface="+mn-ea"/>
                    <a:cs typeface="+mn-cs"/>
                  </a:rPr>
                  <a:t>拓客团队：XX人​​​​​</a:t>
                </a:r>
              </a:p>
              <a:p>
                <a:pPr algn="l" marL="80962" indent="-80962">
                  <a:lnSpc>
                    <a:spcPts val="1050"/>
                  </a:lnSpc>
                  <a:buClr>
                    <a:srgbClr val="473633"/>
                  </a:buClr>
                  <a:buSzTx/>
                  <a:buFontTx/>
                  <a:buChar char="•"/>
                </a:pPr>
                <a:r>
                  <a:rPr lang="zh-CN" sz="750" dirty="0">
                    <a:solidFill>
                      <a:srgbClr val="473633"/>
                    </a:solidFill>
                    <a:latin typeface="+mn-lt"/>
                    <a:ea typeface="+mn-ea"/>
                    <a:cs typeface="+mn-cs"/>
                  </a:rPr>
                  <a:t>市场/活动预算：XX万元​​​​​​​</a:t>
                </a:r>
              </a:p>
              <a:p>
                <a:pPr algn="l" marL="80962" indent="-80962">
                  <a:lnSpc>
                    <a:spcPts val="1050"/>
                  </a:lnSpc>
                  <a:buClr>
                    <a:srgbClr val="473633"/>
                  </a:buClr>
                  <a:buSzTx/>
                  <a:buFontTx/>
                  <a:buChar char="•"/>
                </a:pPr>
                <a:r>
                  <a:rPr lang="zh-CN" sz="750" dirty="0">
                    <a:solidFill>
                      <a:srgbClr val="473633"/>
                    </a:solidFill>
                    <a:latin typeface="+mn-lt"/>
                    <a:ea typeface="+mn-ea"/>
                    <a:cs typeface="+mn-cs"/>
                  </a:rPr>
                  <a:t>渠道合作伙伴：XX家​​​​​</a:t>
                </a:r>
              </a:p>
            </p:txBody>
          </p:sp>
          <p:sp>
            <p:nvSpPr>
              <p:cNvPr id="152" name="TextBox 152"/>
              <p:cNvSpPr txBox="1"/>
              <p:nvPr/>
            </p:nvSpPr>
            <p:spPr>
              <a:xfrm>
                <a:off x="9396412" y="4795838"/>
                <a:ext cx="1295400" cy="414338"/>
              </a:xfrm>
              <a:prstGeom prst="rect">
                <a:avLst/>
              </a:prstGeom>
              <a:noFill/>
              <a:ln>
                <a:noFill/>
              </a:ln>
            </p:spPr>
            <p:txBody>
              <a:bodyPr wrap="none" lIns="0" tIns="0" rIns="0" bIns="0" anchor="t" anchorCtr="0">
                <a:spAutoFit/>
              </a:bodyPr>
              <a:lstStyle/>
              <a:p>
                <a:pPr algn="l" marL="80962" indent="-80962">
                  <a:lnSpc>
                    <a:spcPts val="1050"/>
                  </a:lnSpc>
                  <a:buClr>
                    <a:srgbClr val="473633"/>
                  </a:buClr>
                  <a:buSzTx/>
                  <a:buFontTx/>
                  <a:buChar char="•"/>
                </a:pPr>
                <a:r>
                  <a:rPr lang="zh-CN" sz="750" dirty="0">
                    <a:solidFill>
                      <a:srgbClr val="473633"/>
                    </a:solidFill>
                    <a:latin typeface="+mn-lt"/>
                    <a:ea typeface="+mn-ea"/>
                    <a:cs typeface="+mn-cs"/>
                  </a:rPr>
                  <a:t>新增线索数、有效线索数​​​</a:t>
                </a:r>
              </a:p>
              <a:p>
                <a:pPr algn="l" marL="80962" indent="-80962">
                  <a:lnSpc>
                    <a:spcPts val="1050"/>
                  </a:lnSpc>
                  <a:buClr>
                    <a:srgbClr val="473633"/>
                  </a:buClr>
                  <a:buSzTx/>
                  <a:buFontTx/>
                  <a:buChar char="•"/>
                </a:pPr>
                <a:r>
                  <a:rPr lang="zh-CN" sz="750" dirty="0">
                    <a:solidFill>
                      <a:srgbClr val="473633"/>
                    </a:solidFill>
                    <a:latin typeface="+mn-lt"/>
                    <a:ea typeface="+mn-ea"/>
                    <a:cs typeface="+mn-cs"/>
                  </a:rPr>
                  <a:t>转化率、新增客户数​​</a:t>
                </a:r>
              </a:p>
              <a:p>
                <a:pPr algn="l" marL="80962" indent="-80962">
                  <a:lnSpc>
                    <a:spcPts val="1050"/>
                  </a:lnSpc>
                  <a:buClr>
                    <a:srgbClr val="473633"/>
                  </a:buClr>
                  <a:buSzTx/>
                  <a:buFontTx/>
                  <a:buChar char="•"/>
                </a:pPr>
                <a:r>
                  <a:rPr lang="zh-CN" sz="750" dirty="0">
                    <a:solidFill>
                      <a:srgbClr val="473633"/>
                    </a:solidFill>
                    <a:latin typeface="+mn-lt"/>
                    <a:ea typeface="+mn-ea"/>
                    <a:cs typeface="+mn-cs"/>
                  </a:rPr>
                  <a:t>活动ROI​​​​​</a:t>
                </a:r>
              </a:p>
            </p:txBody>
          </p:sp>
        </p:grpSp>
        <p:grpSp>
          <p:nvGrpSpPr>
            <p:cNvPr id="163" name="ct-row-3"/>
            <p:cNvGrpSpPr/>
            <p:nvPr/>
          </p:nvGrpSpPr>
          <p:grpSpPr>
            <a:xfrm>
              <a:off x="435154" y="5424488"/>
              <a:ext cx="10232846" cy="414338"/>
              <a:chOff x="435154" y="5424488"/>
              <a:chExt cx="10232846" cy="414338"/>
            </a:xfrm>
          </p:grpSpPr>
          <p:grpSp>
            <p:nvGrpSpPr>
              <p:cNvPr id="157" name="Group 157"/>
              <p:cNvGrpSpPr/>
              <p:nvPr/>
            </p:nvGrpSpPr>
            <p:grpSpPr>
              <a:xfrm>
                <a:off x="435154" y="5536406"/>
                <a:ext cx="177421" cy="184602"/>
                <a:chOff x="435154" y="5536406"/>
                <a:chExt cx="177421" cy="184602"/>
              </a:xfrm>
            </p:grpSpPr>
            <p:sp>
              <p:nvSpPr>
                <p:cNvPr id="154" name="Freeform 154"/>
                <p:cNvSpPr/>
                <p:nvPr/>
              </p:nvSpPr>
              <p:spPr>
                <a:xfrm>
                  <a:off x="461962" y="5536406"/>
                  <a:ext cx="123825" cy="123825"/>
                </a:xfrm>
                <a:custGeom>
                  <a:avLst/>
                  <a:gdLst/>
                  <a:ahLst/>
                  <a:cxnLst/>
                  <a:rect l="l" t="t" r="r" b="b"/>
                  <a:pathLst>
                    <a:path w="123825" h="123825">
                      <a:moveTo>
                        <a:pt x="0" y="61912"/>
                      </a:moveTo>
                      <a:cubicBezTo>
                        <a:pt x="0" y="96106"/>
                        <a:pt x="27719" y="123825"/>
                        <a:pt x="61912" y="123825"/>
                      </a:cubicBezTo>
                      <a:cubicBezTo>
                        <a:pt x="96106" y="123825"/>
                        <a:pt x="123825" y="96106"/>
                        <a:pt x="123825" y="61912"/>
                      </a:cubicBezTo>
                      <a:cubicBezTo>
                        <a:pt x="123825" y="27719"/>
                        <a:pt x="96106" y="0"/>
                        <a:pt x="61912" y="0"/>
                      </a:cubicBezTo>
                      <a:cubicBezTo>
                        <a:pt x="27719" y="0"/>
                        <a:pt x="0" y="27719"/>
                        <a:pt x="0" y="61912"/>
                      </a:cubicBezTo>
                    </a:path>
                  </a:pathLst>
                </a:custGeom>
                <a:noFill/>
                <a:ln w="20637">
                  <a:solidFill>
                    <a:srgbClr val="B92102"/>
                  </a:solidFill>
                </a:ln>
              </p:spPr>
            </p:sp>
            <p:sp>
              <p:nvSpPr>
                <p:cNvPr id="155" name="Freeform 155"/>
                <p:cNvSpPr/>
                <p:nvPr/>
              </p:nvSpPr>
              <p:spPr>
                <a:xfrm>
                  <a:off x="523875" y="5629275"/>
                  <a:ext cx="88700" cy="91733"/>
                </a:xfrm>
                <a:custGeom>
                  <a:avLst/>
                  <a:gdLst/>
                  <a:ahLst/>
                  <a:cxnLst/>
                  <a:rect l="l" t="t" r="r" b="b"/>
                  <a:pathLst>
                    <a:path w="88700" h="91733">
                      <a:moveTo>
                        <a:pt x="0" y="30956"/>
                      </a:moveTo>
                      <a:lnTo>
                        <a:pt x="35084" y="91733"/>
                      </a:lnTo>
                      <a:lnTo>
                        <a:pt x="51573" y="58373"/>
                      </a:lnTo>
                      <a:lnTo>
                        <a:pt x="88700" y="60767"/>
                      </a:lnTo>
                      <a:lnTo>
                        <a:pt x="53616" y="0"/>
                      </a:lnTo>
                    </a:path>
                  </a:pathLst>
                </a:custGeom>
                <a:noFill/>
                <a:ln w="20637">
                  <a:solidFill>
                    <a:srgbClr val="B92102"/>
                  </a:solidFill>
                </a:ln>
              </p:spPr>
            </p:sp>
            <p:sp>
              <p:nvSpPr>
                <p:cNvPr id="156" name="Freeform 156"/>
                <p:cNvSpPr/>
                <p:nvPr/>
              </p:nvSpPr>
              <p:spPr>
                <a:xfrm>
                  <a:off x="435154" y="5629275"/>
                  <a:ext cx="88700" cy="91723"/>
                </a:xfrm>
                <a:custGeom>
                  <a:avLst/>
                  <a:gdLst/>
                  <a:ahLst/>
                  <a:cxnLst/>
                  <a:rect l="l" t="t" r="r" b="b"/>
                  <a:pathLst>
                    <a:path w="88700" h="91723">
                      <a:moveTo>
                        <a:pt x="35084" y="0"/>
                      </a:moveTo>
                      <a:lnTo>
                        <a:pt x="0" y="60777"/>
                      </a:lnTo>
                      <a:lnTo>
                        <a:pt x="37127" y="58373"/>
                      </a:lnTo>
                      <a:lnTo>
                        <a:pt x="53616" y="91723"/>
                      </a:lnTo>
                      <a:lnTo>
                        <a:pt x="88700" y="30956"/>
                      </a:lnTo>
                    </a:path>
                  </a:pathLst>
                </a:custGeom>
                <a:noFill/>
                <a:ln w="20637">
                  <a:solidFill>
                    <a:srgbClr val="B92102"/>
                  </a:solidFill>
                </a:ln>
              </p:spPr>
            </p:sp>
          </p:grpSp>
          <p:sp>
            <p:nvSpPr>
              <p:cNvPr id="158" name="TextBox 158"/>
              <p:cNvSpPr txBox="1"/>
              <p:nvPr/>
            </p:nvSpPr>
            <p:spPr>
              <a:xfrm>
                <a:off x="738188" y="5484495"/>
                <a:ext cx="1499426" cy="338138"/>
              </a:xfrm>
              <a:prstGeom prst="rect">
                <a:avLst/>
              </a:prstGeom>
              <a:noFill/>
              <a:ln>
                <a:noFill/>
              </a:ln>
            </p:spPr>
            <p:txBody>
              <a:bodyPr wrap="none" lIns="0" tIns="0" rIns="0" bIns="0" anchor="t" anchorCtr="0">
                <a:spAutoFit/>
              </a:bodyPr>
              <a:lstStyle/>
              <a:p>
                <a:pPr algn="l">
                  <a:lnSpc>
                    <a:spcPts val="1275"/>
                  </a:lnSpc>
                </a:pPr>
                <a:r>
                  <a:rPr lang="zh-CN" sz="900" b="1" dirty="0">
                    <a:solidFill>
                      <a:srgbClr val="6E1604"/>
                    </a:solidFill>
                    <a:latin typeface="+mn-lt"/>
                    <a:ea typeface="+mn-ea"/>
                    <a:cs typeface="+mn-cs"/>
                  </a:rPr>
                  <a:t>商机攻坚战：</a:t>
                </a:r>
              </a:p>
              <a:p>
                <a:pPr algn="l">
                  <a:lnSpc>
                    <a:spcPts val="1275"/>
                  </a:lnSpc>
                </a:pPr>
                <a:r>
                  <a:rPr lang="zh-CN" sz="790" dirty="0">
                    <a:solidFill>
                      <a:srgbClr val="473633"/>
                    </a:solidFill>
                    <a:latin typeface="+mn-lt"/>
                    <a:ea typeface="+mn-ea"/>
                    <a:cs typeface="+mn-cs"/>
                  </a:rPr>
                  <a:t>Top商机、关键人、联合方案​​​​</a:t>
                </a:r>
              </a:p>
            </p:txBody>
          </p:sp>
          <p:sp>
            <p:nvSpPr>
              <p:cNvPr id="159" name="TextBox 159"/>
              <p:cNvSpPr txBox="1"/>
              <p:nvPr/>
            </p:nvSpPr>
            <p:spPr>
              <a:xfrm>
                <a:off x="2509838" y="5496639"/>
                <a:ext cx="1143254"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Top商机、重点客户、​​​</a:t>
                </a:r>
                <a:br/>
                <a:r>
                  <a:rPr lang="zh-CN" sz="790" dirty="0">
                    <a:solidFill>
                      <a:srgbClr val="473633"/>
                    </a:solidFill>
                    <a:latin typeface="+mn-lt"/>
                    <a:ea typeface="+mn-ea"/>
                    <a:cs typeface="+mn-cs"/>
                  </a:rPr>
                  <a:t>关键决策人</a:t>
                </a:r>
              </a:p>
            </p:txBody>
          </p:sp>
          <p:sp>
            <p:nvSpPr>
              <p:cNvPr id="160" name="TextBox 160"/>
              <p:cNvSpPr txBox="1"/>
              <p:nvPr/>
            </p:nvSpPr>
            <p:spPr>
              <a:xfrm>
                <a:off x="4224338" y="5496639"/>
                <a:ext cx="2001076"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Top商机识别与分级；关键人关系经营；​​​​</a:t>
                </a:r>
                <a:br/>
                <a:r>
                  <a:rPr lang="zh-CN" sz="790" dirty="0">
                    <a:solidFill>
                      <a:srgbClr val="473633"/>
                    </a:solidFill>
                    <a:latin typeface="+mn-lt"/>
                    <a:ea typeface="+mn-ea"/>
                    <a:cs typeface="+mn-cs"/>
                  </a:rPr>
                  <a:t>联合方案设计与评审；高频推进与风险管控​</a:t>
                </a:r>
              </a:p>
            </p:txBody>
          </p:sp>
          <p:sp>
            <p:nvSpPr>
              <p:cNvPr id="161" name="TextBox 161"/>
              <p:cNvSpPr txBox="1"/>
              <p:nvPr/>
            </p:nvSpPr>
            <p:spPr>
              <a:xfrm>
                <a:off x="7110412" y="5424488"/>
                <a:ext cx="1557338" cy="414338"/>
              </a:xfrm>
              <a:prstGeom prst="rect">
                <a:avLst/>
              </a:prstGeom>
              <a:noFill/>
              <a:ln>
                <a:noFill/>
              </a:ln>
            </p:spPr>
            <p:txBody>
              <a:bodyPr wrap="none" lIns="0" tIns="0" rIns="0" bIns="0" anchor="t" anchorCtr="0">
                <a:spAutoFit/>
              </a:bodyPr>
              <a:lstStyle/>
              <a:p>
                <a:pPr algn="l" marL="80962" indent="-80962">
                  <a:lnSpc>
                    <a:spcPts val="1050"/>
                  </a:lnSpc>
                  <a:buClr>
                    <a:srgbClr val="473633"/>
                  </a:buClr>
                  <a:buSzTx/>
                  <a:buFontTx/>
                  <a:buChar char="•"/>
                </a:pPr>
                <a:r>
                  <a:rPr lang="zh-CN" sz="750" dirty="0">
                    <a:solidFill>
                      <a:srgbClr val="473633"/>
                    </a:solidFill>
                    <a:latin typeface="+mn-lt"/>
                    <a:ea typeface="+mn-ea"/>
                    <a:cs typeface="+mn-cs"/>
                  </a:rPr>
                  <a:t>方案团队：XX人​​​​​</a:t>
                </a:r>
              </a:p>
              <a:p>
                <a:pPr algn="l" marL="80962" indent="-80962">
                  <a:lnSpc>
                    <a:spcPts val="1050"/>
                  </a:lnSpc>
                  <a:buClr>
                    <a:srgbClr val="473633"/>
                  </a:buClr>
                  <a:buSzTx/>
                  <a:buFontTx/>
                  <a:buChar char="•"/>
                </a:pPr>
                <a:r>
                  <a:rPr lang="zh-CN" sz="750" dirty="0">
                    <a:solidFill>
                      <a:srgbClr val="473633"/>
                    </a:solidFill>
                    <a:latin typeface="+mn-lt"/>
                    <a:ea typeface="+mn-ea"/>
                    <a:cs typeface="+mn-cs"/>
                  </a:rPr>
                  <a:t>产品/风控资源：XX人​​​​​​​</a:t>
                </a:r>
              </a:p>
              <a:p>
                <a:pPr algn="l" marL="80962" indent="-80962">
                  <a:lnSpc>
                    <a:spcPts val="1050"/>
                  </a:lnSpc>
                  <a:buClr>
                    <a:srgbClr val="473633"/>
                  </a:buClr>
                  <a:buSzTx/>
                  <a:buFontTx/>
                  <a:buChar char="•"/>
                </a:pPr>
                <a:r>
                  <a:rPr lang="zh-CN" sz="750" dirty="0">
                    <a:solidFill>
                      <a:srgbClr val="473633"/>
                    </a:solidFill>
                    <a:latin typeface="+mn-lt"/>
                    <a:ea typeface="+mn-ea"/>
                    <a:cs typeface="+mn-cs"/>
                  </a:rPr>
                  <a:t>授信与审批绿色通道：XX项​​​​​​</a:t>
                </a:r>
              </a:p>
            </p:txBody>
          </p:sp>
          <p:sp>
            <p:nvSpPr>
              <p:cNvPr id="162" name="TextBox 162"/>
              <p:cNvSpPr txBox="1"/>
              <p:nvPr/>
            </p:nvSpPr>
            <p:spPr>
              <a:xfrm>
                <a:off x="9396412" y="5424488"/>
                <a:ext cx="1271588" cy="414338"/>
              </a:xfrm>
              <a:prstGeom prst="rect">
                <a:avLst/>
              </a:prstGeom>
              <a:noFill/>
              <a:ln>
                <a:noFill/>
              </a:ln>
            </p:spPr>
            <p:txBody>
              <a:bodyPr wrap="none" lIns="0" tIns="0" rIns="0" bIns="0" anchor="t" anchorCtr="0">
                <a:spAutoFit/>
              </a:bodyPr>
              <a:lstStyle/>
              <a:p>
                <a:pPr algn="l" marL="80962" indent="-80962">
                  <a:lnSpc>
                    <a:spcPts val="1050"/>
                  </a:lnSpc>
                  <a:buClr>
                    <a:srgbClr val="473633"/>
                  </a:buClr>
                  <a:buSzTx/>
                  <a:buFontTx/>
                  <a:buChar char="•"/>
                </a:pPr>
                <a:r>
                  <a:rPr lang="zh-CN" sz="750" dirty="0">
                    <a:solidFill>
                      <a:srgbClr val="473633"/>
                    </a:solidFill>
                    <a:latin typeface="+mn-lt"/>
                    <a:ea typeface="+mn-ea"/>
                    <a:cs typeface="+mn-cs"/>
                  </a:rPr>
                  <a:t>Top商机数、商机金额​​​​​</a:t>
                </a:r>
              </a:p>
              <a:p>
                <a:pPr algn="l" marL="80962" indent="-80962">
                  <a:lnSpc>
                    <a:spcPts val="1050"/>
                  </a:lnSpc>
                  <a:buClr>
                    <a:srgbClr val="473633"/>
                  </a:buClr>
                  <a:buSzTx/>
                  <a:buFontTx/>
                  <a:buChar char="•"/>
                </a:pPr>
                <a:r>
                  <a:rPr lang="zh-CN" sz="750" dirty="0">
                    <a:solidFill>
                      <a:srgbClr val="473633"/>
                    </a:solidFill>
                    <a:latin typeface="+mn-lt"/>
                    <a:ea typeface="+mn-ea"/>
                    <a:cs typeface="+mn-cs"/>
                  </a:rPr>
                  <a:t>赢单率、落地金额​​</a:t>
                </a:r>
              </a:p>
              <a:p>
                <a:pPr algn="l" marL="80962" indent="-80962">
                  <a:lnSpc>
                    <a:spcPts val="1050"/>
                  </a:lnSpc>
                  <a:buClr>
                    <a:srgbClr val="473633"/>
                  </a:buClr>
                  <a:buSzTx/>
                  <a:buFontTx/>
                  <a:buChar char="•"/>
                </a:pPr>
                <a:r>
                  <a:rPr lang="zh-CN" sz="750" dirty="0">
                    <a:solidFill>
                      <a:srgbClr val="473633"/>
                    </a:solidFill>
                    <a:latin typeface="+mn-lt"/>
                    <a:ea typeface="+mn-ea"/>
                    <a:cs typeface="+mn-cs"/>
                  </a:rPr>
                  <a:t>商机推进达标率​​</a:t>
                </a:r>
              </a:p>
            </p:txBody>
          </p:sp>
        </p:grpSp>
        <p:grpSp>
          <p:nvGrpSpPr>
            <p:cNvPr id="174" name="ct-row-4"/>
            <p:cNvGrpSpPr/>
            <p:nvPr/>
          </p:nvGrpSpPr>
          <p:grpSpPr>
            <a:xfrm>
              <a:off x="431006" y="6053138"/>
              <a:ext cx="10356056" cy="414338"/>
              <a:chOff x="431006" y="6053138"/>
              <a:chExt cx="10356056" cy="414338"/>
            </a:xfrm>
          </p:grpSpPr>
          <p:grpSp>
            <p:nvGrpSpPr>
              <p:cNvPr id="168" name="Group 168"/>
              <p:cNvGrpSpPr/>
              <p:nvPr/>
            </p:nvGrpSpPr>
            <p:grpSpPr>
              <a:xfrm>
                <a:off x="431006" y="6175375"/>
                <a:ext cx="185737" cy="174624"/>
                <a:chOff x="431006" y="6175375"/>
                <a:chExt cx="185737" cy="174624"/>
              </a:xfrm>
            </p:grpSpPr>
            <p:sp>
              <p:nvSpPr>
                <p:cNvPr id="164" name="Freeform 164"/>
                <p:cNvSpPr/>
                <p:nvPr/>
              </p:nvSpPr>
              <p:spPr>
                <a:xfrm>
                  <a:off x="431006" y="625792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B92102"/>
                  </a:solidFill>
                </a:ln>
              </p:spPr>
            </p:sp>
            <p:sp>
              <p:nvSpPr>
                <p:cNvPr id="165" name="Freeform 165"/>
                <p:cNvSpPr/>
                <p:nvPr/>
              </p:nvSpPr>
              <p:spPr>
                <a:xfrm>
                  <a:off x="554831" y="621665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B92102"/>
                  </a:solidFill>
                </a:ln>
              </p:spPr>
            </p:sp>
            <p:sp>
              <p:nvSpPr>
                <p:cNvPr id="166" name="Freeform 166"/>
                <p:cNvSpPr/>
                <p:nvPr/>
              </p:nvSpPr>
              <p:spPr>
                <a:xfrm>
                  <a:off x="492918" y="617537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B92102"/>
                  </a:solidFill>
                </a:ln>
              </p:spPr>
            </p:sp>
            <p:sp>
              <p:nvSpPr>
                <p:cNvPr id="167" name="Freeform 167"/>
                <p:cNvSpPr/>
                <p:nvPr/>
              </p:nvSpPr>
              <p:spPr>
                <a:xfrm>
                  <a:off x="441325" y="6340474"/>
                  <a:ext cx="144462" cy="9525"/>
                </a:xfrm>
                <a:custGeom>
                  <a:avLst/>
                  <a:gdLst/>
                  <a:ahLst/>
                  <a:cxnLst/>
                  <a:rect l="l" t="t" r="r" b="b"/>
                  <a:pathLst>
                    <a:path w="144462" h="9525">
                      <a:moveTo>
                        <a:pt x="0" y="0"/>
                      </a:moveTo>
                      <a:lnTo>
                        <a:pt x="144462" y="0"/>
                      </a:lnTo>
                    </a:path>
                  </a:pathLst>
                </a:custGeom>
                <a:noFill/>
                <a:ln w="20637">
                  <a:solidFill>
                    <a:srgbClr val="B92102"/>
                  </a:solidFill>
                </a:ln>
              </p:spPr>
            </p:sp>
          </p:grpSp>
          <p:sp>
            <p:nvSpPr>
              <p:cNvPr id="169" name="TextBox 169"/>
              <p:cNvSpPr txBox="1"/>
              <p:nvPr/>
            </p:nvSpPr>
            <p:spPr>
              <a:xfrm>
                <a:off x="738188" y="6113145"/>
                <a:ext cx="1469326" cy="338138"/>
              </a:xfrm>
              <a:prstGeom prst="rect">
                <a:avLst/>
              </a:prstGeom>
              <a:noFill/>
              <a:ln>
                <a:noFill/>
              </a:ln>
            </p:spPr>
            <p:txBody>
              <a:bodyPr wrap="none" lIns="0" tIns="0" rIns="0" bIns="0" anchor="t" anchorCtr="0">
                <a:spAutoFit/>
              </a:bodyPr>
              <a:lstStyle/>
              <a:p>
                <a:pPr algn="l">
                  <a:lnSpc>
                    <a:spcPts val="1275"/>
                  </a:lnSpc>
                </a:pPr>
                <a:r>
                  <a:rPr lang="zh-CN" sz="900" b="1" dirty="0">
                    <a:solidFill>
                      <a:srgbClr val="6E1604"/>
                    </a:solidFill>
                    <a:latin typeface="+mn-lt"/>
                    <a:ea typeface="+mn-ea"/>
                    <a:cs typeface="+mn-cs"/>
                  </a:rPr>
                  <a:t>网点提效战：</a:t>
                </a:r>
              </a:p>
              <a:p>
                <a:pPr algn="l">
                  <a:lnSpc>
                    <a:spcPts val="1275"/>
                  </a:lnSpc>
                </a:pPr>
                <a:r>
                  <a:rPr lang="zh-CN" sz="790" dirty="0">
                    <a:solidFill>
                      <a:srgbClr val="473633"/>
                    </a:solidFill>
                    <a:latin typeface="+mn-lt"/>
                    <a:ea typeface="+mn-ea"/>
                    <a:cs typeface="+mn-cs"/>
                  </a:rPr>
                  <a:t>分层经营、驻点辅导、标杆复制​</a:t>
                </a:r>
              </a:p>
            </p:txBody>
          </p:sp>
          <p:sp>
            <p:nvSpPr>
              <p:cNvPr id="170" name="TextBox 170"/>
              <p:cNvSpPr txBox="1"/>
              <p:nvPr/>
            </p:nvSpPr>
            <p:spPr>
              <a:xfrm>
                <a:off x="2509838" y="6125289"/>
                <a:ext cx="1268666"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全部网点、重点提升网点、​</a:t>
                </a:r>
                <a:br/>
                <a:r>
                  <a:rPr lang="zh-CN" sz="790" dirty="0">
                    <a:solidFill>
                      <a:srgbClr val="473633"/>
                    </a:solidFill>
                    <a:latin typeface="+mn-lt"/>
                    <a:ea typeface="+mn-ea"/>
                    <a:cs typeface="+mn-cs"/>
                  </a:rPr>
                  <a:t>标杆网点</a:t>
                </a:r>
              </a:p>
            </p:txBody>
          </p:sp>
          <p:sp>
            <p:nvSpPr>
              <p:cNvPr id="171" name="TextBox 171"/>
              <p:cNvSpPr txBox="1"/>
              <p:nvPr/>
            </p:nvSpPr>
            <p:spPr>
              <a:xfrm>
                <a:off x="4224338" y="6125289"/>
                <a:ext cx="1970976"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73633"/>
                    </a:solidFill>
                    <a:latin typeface="+mn-lt"/>
                    <a:ea typeface="+mn-ea"/>
                    <a:cs typeface="+mn-cs"/>
                  </a:rPr>
                  <a:t>网点分层分组经营；驻点辅导与能力提升；​</a:t>
                </a:r>
                <a:br/>
                <a:r>
                  <a:rPr lang="zh-CN" sz="790" dirty="0">
                    <a:solidFill>
                      <a:srgbClr val="473633"/>
                    </a:solidFill>
                    <a:latin typeface="+mn-lt"/>
                    <a:ea typeface="+mn-ea"/>
                    <a:cs typeface="+mn-cs"/>
                  </a:rPr>
                  <a:t>标杆打法沉淀与复制；过程管理与检查​</a:t>
                </a:r>
              </a:p>
            </p:txBody>
          </p:sp>
          <p:sp>
            <p:nvSpPr>
              <p:cNvPr id="172" name="TextBox 172"/>
              <p:cNvSpPr txBox="1"/>
              <p:nvPr/>
            </p:nvSpPr>
            <p:spPr>
              <a:xfrm>
                <a:off x="7110412" y="6053138"/>
                <a:ext cx="1462088" cy="414338"/>
              </a:xfrm>
              <a:prstGeom prst="rect">
                <a:avLst/>
              </a:prstGeom>
              <a:noFill/>
              <a:ln>
                <a:noFill/>
              </a:ln>
            </p:spPr>
            <p:txBody>
              <a:bodyPr wrap="none" lIns="0" tIns="0" rIns="0" bIns="0" anchor="t" anchorCtr="0">
                <a:spAutoFit/>
              </a:bodyPr>
              <a:lstStyle/>
              <a:p>
                <a:pPr algn="l" marL="80962" indent="-80962">
                  <a:lnSpc>
                    <a:spcPts val="1050"/>
                  </a:lnSpc>
                  <a:buClr>
                    <a:srgbClr val="473633"/>
                  </a:buClr>
                  <a:buSzTx/>
                  <a:buFontTx/>
                  <a:buChar char="•"/>
                </a:pPr>
                <a:r>
                  <a:rPr lang="zh-CN" sz="750" dirty="0">
                    <a:solidFill>
                      <a:srgbClr val="473633"/>
                    </a:solidFill>
                    <a:latin typeface="+mn-lt"/>
                    <a:ea typeface="+mn-ea"/>
                    <a:cs typeface="+mn-cs"/>
                  </a:rPr>
                  <a:t>驻点辅导：XX人​​​​​</a:t>
                </a:r>
              </a:p>
              <a:p>
                <a:pPr algn="l" marL="80962" indent="-80962">
                  <a:lnSpc>
                    <a:spcPts val="1050"/>
                  </a:lnSpc>
                  <a:buClr>
                    <a:srgbClr val="473633"/>
                  </a:buClr>
                  <a:buSzTx/>
                  <a:buFontTx/>
                  <a:buChar char="•"/>
                </a:pPr>
                <a:r>
                  <a:rPr lang="zh-CN" sz="750" dirty="0">
                    <a:solidFill>
                      <a:srgbClr val="473633"/>
                    </a:solidFill>
                    <a:latin typeface="+mn-lt"/>
                    <a:ea typeface="+mn-ea"/>
                    <a:cs typeface="+mn-cs"/>
                  </a:rPr>
                  <a:t>培训与赋能预算：XX万元​​​​​​</a:t>
                </a:r>
              </a:p>
              <a:p>
                <a:pPr algn="l" marL="80962" indent="-80962">
                  <a:lnSpc>
                    <a:spcPts val="1050"/>
                  </a:lnSpc>
                  <a:buClr>
                    <a:srgbClr val="473633"/>
                  </a:buClr>
                  <a:buSzTx/>
                  <a:buFontTx/>
                  <a:buChar char="•"/>
                </a:pPr>
                <a:r>
                  <a:rPr lang="zh-CN" sz="750" dirty="0">
                    <a:solidFill>
                      <a:srgbClr val="473633"/>
                    </a:solidFill>
                    <a:latin typeface="+mn-lt"/>
                    <a:ea typeface="+mn-ea"/>
                    <a:cs typeface="+mn-cs"/>
                  </a:rPr>
                  <a:t>标杆打造资源：XX家​​​​​</a:t>
                </a:r>
              </a:p>
            </p:txBody>
          </p:sp>
          <p:sp>
            <p:nvSpPr>
              <p:cNvPr id="173" name="TextBox 173"/>
              <p:cNvSpPr txBox="1"/>
              <p:nvPr/>
            </p:nvSpPr>
            <p:spPr>
              <a:xfrm>
                <a:off x="9396412" y="6053138"/>
                <a:ext cx="1390650" cy="414338"/>
              </a:xfrm>
              <a:prstGeom prst="rect">
                <a:avLst/>
              </a:prstGeom>
              <a:noFill/>
              <a:ln>
                <a:noFill/>
              </a:ln>
            </p:spPr>
            <p:txBody>
              <a:bodyPr wrap="none" lIns="0" tIns="0" rIns="0" bIns="0" anchor="t" anchorCtr="0">
                <a:spAutoFit/>
              </a:bodyPr>
              <a:lstStyle/>
              <a:p>
                <a:pPr algn="l" marL="80962" indent="-80962">
                  <a:lnSpc>
                    <a:spcPts val="1050"/>
                  </a:lnSpc>
                  <a:buClr>
                    <a:srgbClr val="473633"/>
                  </a:buClr>
                  <a:buSzTx/>
                  <a:buFontTx/>
                  <a:buChar char="•"/>
                </a:pPr>
                <a:r>
                  <a:rPr lang="zh-CN" sz="750" dirty="0">
                    <a:solidFill>
                      <a:srgbClr val="473633"/>
                    </a:solidFill>
                    <a:latin typeface="+mn-lt"/>
                    <a:ea typeface="+mn-ea"/>
                    <a:cs typeface="+mn-cs"/>
                  </a:rPr>
                  <a:t>网点产能、人均产能提升​​​</a:t>
                </a:r>
              </a:p>
              <a:p>
                <a:pPr algn="l" marL="80962" indent="-80962">
                  <a:lnSpc>
                    <a:spcPts val="1050"/>
                  </a:lnSpc>
                  <a:buClr>
                    <a:srgbClr val="473633"/>
                  </a:buClr>
                  <a:buSzTx/>
                  <a:buFontTx/>
                  <a:buChar char="•"/>
                </a:pPr>
                <a:r>
                  <a:rPr lang="zh-CN" sz="750" dirty="0">
                    <a:solidFill>
                      <a:srgbClr val="473633"/>
                    </a:solidFill>
                    <a:latin typeface="+mn-lt"/>
                    <a:ea typeface="+mn-ea"/>
                    <a:cs typeface="+mn-cs"/>
                  </a:rPr>
                  <a:t>有效客户数、达标网点占比​​​</a:t>
                </a:r>
              </a:p>
              <a:p>
                <a:pPr algn="l" marL="80962" indent="-80962">
                  <a:lnSpc>
                    <a:spcPts val="1050"/>
                  </a:lnSpc>
                  <a:buClr>
                    <a:srgbClr val="473633"/>
                  </a:buClr>
                  <a:buSzTx/>
                  <a:buFontTx/>
                  <a:buChar char="•"/>
                </a:pPr>
                <a:r>
                  <a:rPr lang="zh-CN" sz="750" dirty="0">
                    <a:solidFill>
                      <a:srgbClr val="473633"/>
                    </a:solidFill>
                    <a:latin typeface="+mn-lt"/>
                    <a:ea typeface="+mn-ea"/>
                    <a:cs typeface="+mn-cs"/>
                  </a:rPr>
                  <a:t>标杆复制网点数​​</a:t>
                </a:r>
              </a:p>
            </p:txBody>
          </p:sp>
        </p:grpSp>
      </p:gr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16​</a:t>
              </a:r>
            </a:p>
          </p:txBody>
        </p:sp>
        <p:sp>
          <p:nvSpPr>
            <p:cNvPr id="4" name="TextBox 4"/>
            <p:cNvSpPr txBox="1"/>
            <p:nvPr/>
          </p:nvSpPr>
          <p:spPr>
            <a:xfrm>
              <a:off x="942594" y="151448"/>
              <a:ext cx="6645440"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9月客户与商机行动</a:t>
              </a:r>
              <a:r>
                <a:rPr lang="zh-CN" sz="1950" b="1" dirty="0">
                  <a:solidFill>
                    <a:srgbClr val="1A1A1A"/>
                  </a:solidFill>
                  <a:latin typeface="SimSun"/>
                  <a:ea typeface="SimSun"/>
                  <a:cs typeface="SimSun"/>
                </a:rPr>
                <a:t>｜名单到成交的周度排兵布阵​​​​</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113" name="gantt"/>
          <p:cNvGrpSpPr/>
          <p:nvPr/>
        </p:nvGrpSpPr>
        <p:grpSpPr>
          <a:xfrm>
            <a:off x="266700" y="704850"/>
            <a:ext cx="7448550" cy="3771900"/>
            <a:chOff x="266700" y="704850"/>
            <a:chExt cx="7448550" cy="3771900"/>
          </a:xfrm>
        </p:grpSpPr>
        <p:sp>
          <p:nvSpPr>
            <p:cNvPr id="7" name="Rectangle 7"/>
            <p:cNvSpPr/>
            <p:nvPr/>
          </p:nvSpPr>
          <p:spPr>
            <a:xfrm>
              <a:off x="266700" y="704850"/>
              <a:ext cx="7448550" cy="3771900"/>
            </a:xfrm>
            <a:prstGeom prst="roundRect">
              <a:avLst>
                <a:gd name="adj" fmla="val 2020"/>
              </a:avLst>
            </a:prstGeom>
            <a:solidFill>
              <a:srgbClr val="FFFFFF"/>
            </a:solidFill>
            <a:ln w="9525">
              <a:solidFill>
                <a:srgbClr val="F7D1C9"/>
              </a:solidFill>
            </a:ln>
          </p:spPr>
        </p:sp>
        <p:grpSp>
          <p:nvGrpSpPr>
            <p:cNvPr id="14" name="Group 14"/>
            <p:cNvGrpSpPr/>
            <p:nvPr/>
          </p:nvGrpSpPr>
          <p:grpSpPr>
            <a:xfrm>
              <a:off x="412750" y="823912"/>
              <a:ext cx="127000" cy="142875"/>
              <a:chOff x="412750" y="823912"/>
              <a:chExt cx="127000" cy="142875"/>
            </a:xfrm>
          </p:grpSpPr>
          <p:sp>
            <p:nvSpPr>
              <p:cNvPr id="8" name="Freeform 8"/>
              <p:cNvSpPr/>
              <p:nvPr/>
            </p:nvSpPr>
            <p:spPr>
              <a:xfrm>
                <a:off x="412750" y="8397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B92102"/>
                </a:solidFill>
              </a:ln>
            </p:spPr>
          </p:sp>
          <p:sp>
            <p:nvSpPr>
              <p:cNvPr id="9" name="Freeform 9"/>
              <p:cNvSpPr/>
              <p:nvPr/>
            </p:nvSpPr>
            <p:spPr>
              <a:xfrm>
                <a:off x="508000" y="823912"/>
                <a:ext cx="9525" cy="31750"/>
              </a:xfrm>
              <a:custGeom>
                <a:avLst/>
                <a:gdLst/>
                <a:ahLst/>
                <a:cxnLst/>
                <a:rect l="l" t="t" r="r" b="b"/>
                <a:pathLst>
                  <a:path w="9525" h="31750">
                    <a:moveTo>
                      <a:pt x="0" y="0"/>
                    </a:moveTo>
                    <a:lnTo>
                      <a:pt x="0" y="31750"/>
                    </a:lnTo>
                  </a:path>
                </a:pathLst>
              </a:custGeom>
              <a:noFill/>
              <a:ln w="15875">
                <a:solidFill>
                  <a:srgbClr val="B92102"/>
                </a:solidFill>
              </a:ln>
            </p:spPr>
          </p:sp>
          <p:sp>
            <p:nvSpPr>
              <p:cNvPr id="10" name="Freeform 10"/>
              <p:cNvSpPr/>
              <p:nvPr/>
            </p:nvSpPr>
            <p:spPr>
              <a:xfrm>
                <a:off x="444500" y="823912"/>
                <a:ext cx="9525" cy="31750"/>
              </a:xfrm>
              <a:custGeom>
                <a:avLst/>
                <a:gdLst/>
                <a:ahLst/>
                <a:cxnLst/>
                <a:rect l="l" t="t" r="r" b="b"/>
                <a:pathLst>
                  <a:path w="9525" h="31750">
                    <a:moveTo>
                      <a:pt x="0" y="0"/>
                    </a:moveTo>
                    <a:lnTo>
                      <a:pt x="0" y="31750"/>
                    </a:lnTo>
                  </a:path>
                </a:pathLst>
              </a:custGeom>
              <a:noFill/>
              <a:ln w="15875">
                <a:solidFill>
                  <a:srgbClr val="B92102"/>
                </a:solidFill>
              </a:ln>
            </p:spPr>
          </p:sp>
          <p:sp>
            <p:nvSpPr>
              <p:cNvPr id="11" name="Freeform 11"/>
              <p:cNvSpPr/>
              <p:nvPr/>
            </p:nvSpPr>
            <p:spPr>
              <a:xfrm>
                <a:off x="412750" y="887412"/>
                <a:ext cx="127000" cy="9525"/>
              </a:xfrm>
              <a:custGeom>
                <a:avLst/>
                <a:gdLst/>
                <a:ahLst/>
                <a:cxnLst/>
                <a:rect l="l" t="t" r="r" b="b"/>
                <a:pathLst>
                  <a:path w="127000" h="9525">
                    <a:moveTo>
                      <a:pt x="0" y="0"/>
                    </a:moveTo>
                    <a:lnTo>
                      <a:pt x="127000" y="0"/>
                    </a:lnTo>
                  </a:path>
                </a:pathLst>
              </a:custGeom>
              <a:noFill/>
              <a:ln w="15875">
                <a:solidFill>
                  <a:srgbClr val="B92102"/>
                </a:solidFill>
              </a:ln>
            </p:spPr>
          </p:sp>
          <p:sp>
            <p:nvSpPr>
              <p:cNvPr id="12" name="Freeform 12"/>
              <p:cNvSpPr/>
              <p:nvPr/>
            </p:nvSpPr>
            <p:spPr>
              <a:xfrm>
                <a:off x="468312" y="919162"/>
                <a:ext cx="9525" cy="9525"/>
              </a:xfrm>
              <a:custGeom>
                <a:avLst/>
                <a:gdLst/>
                <a:ahLst/>
                <a:cxnLst/>
                <a:rect l="l" t="t" r="r" b="b"/>
                <a:pathLst>
                  <a:path w="9525" h="9525">
                    <a:moveTo>
                      <a:pt x="0" y="0"/>
                    </a:moveTo>
                    <a:lnTo>
                      <a:pt x="7937" y="0"/>
                    </a:lnTo>
                  </a:path>
                </a:pathLst>
              </a:custGeom>
              <a:noFill/>
              <a:ln w="15875">
                <a:solidFill>
                  <a:srgbClr val="B92102"/>
                </a:solidFill>
              </a:ln>
            </p:spPr>
          </p:sp>
          <p:sp>
            <p:nvSpPr>
              <p:cNvPr id="13" name="Freeform 13"/>
              <p:cNvSpPr/>
              <p:nvPr/>
            </p:nvSpPr>
            <p:spPr>
              <a:xfrm>
                <a:off x="476250" y="919162"/>
                <a:ext cx="9525" cy="23812"/>
              </a:xfrm>
              <a:custGeom>
                <a:avLst/>
                <a:gdLst/>
                <a:ahLst/>
                <a:cxnLst/>
                <a:rect l="l" t="t" r="r" b="b"/>
                <a:pathLst>
                  <a:path w="9525" h="23812">
                    <a:moveTo>
                      <a:pt x="0" y="0"/>
                    </a:moveTo>
                    <a:lnTo>
                      <a:pt x="0" y="23812"/>
                    </a:lnTo>
                  </a:path>
                </a:pathLst>
              </a:custGeom>
              <a:noFill/>
              <a:ln w="15875">
                <a:solidFill>
                  <a:srgbClr val="B92102"/>
                </a:solidFill>
              </a:ln>
            </p:spPr>
          </p:sp>
        </p:grpSp>
        <p:sp>
          <p:nvSpPr>
            <p:cNvPr id="15" name="TextBox 15"/>
            <p:cNvSpPr txBox="1"/>
            <p:nvPr/>
          </p:nvSpPr>
          <p:spPr>
            <a:xfrm>
              <a:off x="642366" y="839152"/>
              <a:ext cx="2071212"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四周行动计划（从名单到成交）​</a:t>
              </a:r>
            </a:p>
          </p:txBody>
        </p:sp>
        <p:sp>
          <p:nvSpPr>
            <p:cNvPr id="16" name="Rectangle 16"/>
            <p:cNvSpPr/>
            <p:nvPr/>
          </p:nvSpPr>
          <p:spPr>
            <a:xfrm>
              <a:off x="266700" y="1123950"/>
              <a:ext cx="1495425" cy="323850"/>
            </a:xfrm>
            <a:prstGeom prst="rect">
              <a:avLst/>
            </a:prstGeom>
            <a:solidFill>
              <a:srgbClr val="6E1604"/>
            </a:solidFill>
            <a:ln>
              <a:noFill/>
            </a:ln>
          </p:spPr>
        </p:sp>
        <p:sp>
          <p:nvSpPr>
            <p:cNvPr id="17" name="TextBox 17"/>
            <p:cNvSpPr txBox="1"/>
            <p:nvPr/>
          </p:nvSpPr>
          <p:spPr>
            <a:xfrm>
              <a:off x="740842" y="12282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工作主线</a:t>
              </a:r>
            </a:p>
          </p:txBody>
        </p:sp>
        <p:sp>
          <p:nvSpPr>
            <p:cNvPr id="18" name="Freeform 18"/>
            <p:cNvSpPr/>
            <p:nvPr/>
          </p:nvSpPr>
          <p:spPr>
            <a:xfrm>
              <a:off x="1800225" y="1123950"/>
              <a:ext cx="1447800" cy="323850"/>
            </a:xfrm>
            <a:prstGeom prst="parallelogram">
              <a:avLst>
                <a:gd name="adj" fmla="val 18000"/>
              </a:avLst>
            </a:prstGeom>
            <a:solidFill>
              <a:srgbClr val="B92102"/>
            </a:solidFill>
            <a:ln>
              <a:noFill/>
            </a:ln>
          </p:spPr>
        </p:sp>
        <p:sp>
          <p:nvSpPr>
            <p:cNvPr id="19" name="Freeform 19"/>
            <p:cNvSpPr/>
            <p:nvPr/>
          </p:nvSpPr>
          <p:spPr>
            <a:xfrm>
              <a:off x="3286125" y="1123950"/>
              <a:ext cx="1447800" cy="323850"/>
            </a:xfrm>
            <a:prstGeom prst="parallelogram">
              <a:avLst>
                <a:gd name="adj" fmla="val 18000"/>
              </a:avLst>
            </a:prstGeom>
            <a:solidFill>
              <a:srgbClr val="B92102"/>
            </a:solidFill>
            <a:ln>
              <a:noFill/>
            </a:ln>
          </p:spPr>
        </p:sp>
        <p:sp>
          <p:nvSpPr>
            <p:cNvPr id="20" name="Freeform 20"/>
            <p:cNvSpPr/>
            <p:nvPr/>
          </p:nvSpPr>
          <p:spPr>
            <a:xfrm>
              <a:off x="4772025" y="1123950"/>
              <a:ext cx="1447800" cy="323850"/>
            </a:xfrm>
            <a:prstGeom prst="parallelogram">
              <a:avLst>
                <a:gd name="adj" fmla="val 18000"/>
              </a:avLst>
            </a:prstGeom>
            <a:solidFill>
              <a:srgbClr val="B92102"/>
            </a:solidFill>
            <a:ln>
              <a:noFill/>
            </a:ln>
          </p:spPr>
        </p:sp>
        <p:sp>
          <p:nvSpPr>
            <p:cNvPr id="21" name="Freeform 21"/>
            <p:cNvSpPr/>
            <p:nvPr/>
          </p:nvSpPr>
          <p:spPr>
            <a:xfrm>
              <a:off x="6257925" y="1123950"/>
              <a:ext cx="1447800" cy="323850"/>
            </a:xfrm>
            <a:prstGeom prst="parallelogram">
              <a:avLst>
                <a:gd name="adj" fmla="val 18000"/>
              </a:avLst>
            </a:prstGeom>
            <a:solidFill>
              <a:srgbClr val="B92102"/>
            </a:solidFill>
            <a:ln>
              <a:noFill/>
            </a:ln>
          </p:spPr>
        </p:sp>
        <p:sp>
          <p:nvSpPr>
            <p:cNvPr id="22" name="TextBox 22"/>
            <p:cNvSpPr txBox="1"/>
            <p:nvPr/>
          </p:nvSpPr>
          <p:spPr>
            <a:xfrm>
              <a:off x="2098190" y="1232297"/>
              <a:ext cx="851870" cy="183356"/>
            </a:xfrm>
            <a:prstGeom prst="rect">
              <a:avLst/>
            </a:prstGeom>
            <a:noFill/>
            <a:ln>
              <a:noFill/>
            </a:ln>
          </p:spPr>
          <p:txBody>
            <a:bodyPr wrap="none" lIns="0" tIns="0" rIns="0" bIns="0" anchor="t" anchorCtr="0">
              <a:spAutoFit/>
            </a:bodyPr>
            <a:lstStyle/>
            <a:p>
              <a:pPr algn="ctr"/>
              <a:r>
                <a:rPr lang="en-US" sz="940" b="1" dirty="0">
                  <a:solidFill>
                    <a:srgbClr val="FFFFFF"/>
                  </a:solidFill>
                  <a:latin typeface="+mn-lt"/>
                  <a:ea typeface="+mn-ea"/>
                  <a:cs typeface="+mn-cs"/>
                </a:rPr>
                <a:t>W1 9.1-9.7​</a:t>
              </a:r>
            </a:p>
          </p:txBody>
        </p:sp>
        <p:sp>
          <p:nvSpPr>
            <p:cNvPr id="23" name="TextBox 23"/>
            <p:cNvSpPr txBox="1"/>
            <p:nvPr/>
          </p:nvSpPr>
          <p:spPr>
            <a:xfrm>
              <a:off x="3545482" y="1232297"/>
              <a:ext cx="929085" cy="183356"/>
            </a:xfrm>
            <a:prstGeom prst="rect">
              <a:avLst/>
            </a:prstGeom>
            <a:noFill/>
            <a:ln>
              <a:noFill/>
            </a:ln>
          </p:spPr>
          <p:txBody>
            <a:bodyPr wrap="none" lIns="0" tIns="0" rIns="0" bIns="0" anchor="t" anchorCtr="0">
              <a:spAutoFit/>
            </a:bodyPr>
            <a:lstStyle/>
            <a:p>
              <a:pPr algn="ctr"/>
              <a:r>
                <a:rPr lang="en-US" sz="940" b="1" dirty="0">
                  <a:solidFill>
                    <a:srgbClr val="FFFFFF"/>
                  </a:solidFill>
                  <a:latin typeface="+mn-lt"/>
                  <a:ea typeface="+mn-ea"/>
                  <a:cs typeface="+mn-cs"/>
                </a:rPr>
                <a:t>W2 9.8-9.14​</a:t>
              </a:r>
            </a:p>
          </p:txBody>
        </p:sp>
        <p:sp>
          <p:nvSpPr>
            <p:cNvPr id="24" name="TextBox 24"/>
            <p:cNvSpPr txBox="1"/>
            <p:nvPr/>
          </p:nvSpPr>
          <p:spPr>
            <a:xfrm>
              <a:off x="4992775" y="1232297"/>
              <a:ext cx="1006300" cy="183356"/>
            </a:xfrm>
            <a:prstGeom prst="rect">
              <a:avLst/>
            </a:prstGeom>
            <a:noFill/>
            <a:ln>
              <a:noFill/>
            </a:ln>
          </p:spPr>
          <p:txBody>
            <a:bodyPr wrap="none" lIns="0" tIns="0" rIns="0" bIns="0" anchor="t" anchorCtr="0">
              <a:spAutoFit/>
            </a:bodyPr>
            <a:lstStyle/>
            <a:p>
              <a:pPr algn="ctr"/>
              <a:r>
                <a:rPr lang="en-US" sz="940" b="1" dirty="0">
                  <a:solidFill>
                    <a:srgbClr val="FFFFFF"/>
                  </a:solidFill>
                  <a:latin typeface="+mn-lt"/>
                  <a:ea typeface="+mn-ea"/>
                  <a:cs typeface="+mn-cs"/>
                </a:rPr>
                <a:t>W3 9.15-9.21​</a:t>
              </a:r>
            </a:p>
          </p:txBody>
        </p:sp>
        <p:sp>
          <p:nvSpPr>
            <p:cNvPr id="25" name="TextBox 25"/>
            <p:cNvSpPr txBox="1"/>
            <p:nvPr/>
          </p:nvSpPr>
          <p:spPr>
            <a:xfrm>
              <a:off x="6478675" y="1232297"/>
              <a:ext cx="1006300" cy="183356"/>
            </a:xfrm>
            <a:prstGeom prst="rect">
              <a:avLst/>
            </a:prstGeom>
            <a:noFill/>
            <a:ln>
              <a:noFill/>
            </a:ln>
          </p:spPr>
          <p:txBody>
            <a:bodyPr wrap="none" lIns="0" tIns="0" rIns="0" bIns="0" anchor="t" anchorCtr="0">
              <a:spAutoFit/>
            </a:bodyPr>
            <a:lstStyle/>
            <a:p>
              <a:pPr algn="ctr"/>
              <a:r>
                <a:rPr lang="en-US" sz="940" b="1" dirty="0">
                  <a:solidFill>
                    <a:srgbClr val="FFFFFF"/>
                  </a:solidFill>
                  <a:latin typeface="+mn-lt"/>
                  <a:ea typeface="+mn-ea"/>
                  <a:cs typeface="+mn-cs"/>
                </a:rPr>
                <a:t>W4 9.22-9.30​</a:t>
              </a:r>
            </a:p>
          </p:txBody>
        </p:sp>
        <p:sp>
          <p:nvSpPr>
            <p:cNvPr id="26" name="Line 26"/>
            <p:cNvSpPr/>
            <p:nvPr/>
          </p:nvSpPr>
          <p:spPr>
            <a:xfrm>
              <a:off x="266700" y="1952625"/>
              <a:ext cx="7448550" cy="9525"/>
            </a:xfrm>
            <a:custGeom>
              <a:avLst/>
              <a:gdLst/>
              <a:ahLst/>
              <a:cxnLst/>
              <a:rect l="l" t="t" r="r" b="b"/>
              <a:pathLst>
                <a:path w="7448550" h="9525">
                  <a:moveTo>
                    <a:pt x="0" y="0"/>
                  </a:moveTo>
                  <a:lnTo>
                    <a:pt x="7448550" y="0"/>
                  </a:lnTo>
                </a:path>
              </a:pathLst>
            </a:custGeom>
            <a:noFill/>
            <a:ln w="9525">
              <a:solidFill>
                <a:srgbClr val="DCE6F8"/>
              </a:solidFill>
            </a:ln>
          </p:spPr>
        </p:sp>
        <p:sp>
          <p:nvSpPr>
            <p:cNvPr id="27" name="Line 27"/>
            <p:cNvSpPr/>
            <p:nvPr/>
          </p:nvSpPr>
          <p:spPr>
            <a:xfrm>
              <a:off x="266700" y="2457450"/>
              <a:ext cx="7448550" cy="9525"/>
            </a:xfrm>
            <a:custGeom>
              <a:avLst/>
              <a:gdLst/>
              <a:ahLst/>
              <a:cxnLst/>
              <a:rect l="l" t="t" r="r" b="b"/>
              <a:pathLst>
                <a:path w="7448550" h="9525">
                  <a:moveTo>
                    <a:pt x="0" y="0"/>
                  </a:moveTo>
                  <a:lnTo>
                    <a:pt x="7448550" y="0"/>
                  </a:lnTo>
                </a:path>
              </a:pathLst>
            </a:custGeom>
            <a:noFill/>
            <a:ln w="9525">
              <a:solidFill>
                <a:srgbClr val="DCE6F8"/>
              </a:solidFill>
            </a:ln>
          </p:spPr>
        </p:sp>
        <p:sp>
          <p:nvSpPr>
            <p:cNvPr id="28" name="Line 28"/>
            <p:cNvSpPr/>
            <p:nvPr/>
          </p:nvSpPr>
          <p:spPr>
            <a:xfrm>
              <a:off x="266700" y="2962275"/>
              <a:ext cx="7448550" cy="9525"/>
            </a:xfrm>
            <a:custGeom>
              <a:avLst/>
              <a:gdLst/>
              <a:ahLst/>
              <a:cxnLst/>
              <a:rect l="l" t="t" r="r" b="b"/>
              <a:pathLst>
                <a:path w="7448550" h="9525">
                  <a:moveTo>
                    <a:pt x="0" y="0"/>
                  </a:moveTo>
                  <a:lnTo>
                    <a:pt x="7448550" y="0"/>
                  </a:lnTo>
                </a:path>
              </a:pathLst>
            </a:custGeom>
            <a:noFill/>
            <a:ln w="9525">
              <a:solidFill>
                <a:srgbClr val="DCE6F8"/>
              </a:solidFill>
            </a:ln>
          </p:spPr>
        </p:sp>
        <p:sp>
          <p:nvSpPr>
            <p:cNvPr id="29" name="Line 29"/>
            <p:cNvSpPr/>
            <p:nvPr/>
          </p:nvSpPr>
          <p:spPr>
            <a:xfrm>
              <a:off x="266700" y="3467100"/>
              <a:ext cx="7448550" cy="9525"/>
            </a:xfrm>
            <a:custGeom>
              <a:avLst/>
              <a:gdLst/>
              <a:ahLst/>
              <a:cxnLst/>
              <a:rect l="l" t="t" r="r" b="b"/>
              <a:pathLst>
                <a:path w="7448550" h="9525">
                  <a:moveTo>
                    <a:pt x="0" y="0"/>
                  </a:moveTo>
                  <a:lnTo>
                    <a:pt x="7448550" y="0"/>
                  </a:lnTo>
                </a:path>
              </a:pathLst>
            </a:custGeom>
            <a:noFill/>
            <a:ln w="9525">
              <a:solidFill>
                <a:srgbClr val="DCE6F8"/>
              </a:solidFill>
            </a:ln>
          </p:spPr>
        </p:sp>
        <p:sp>
          <p:nvSpPr>
            <p:cNvPr id="30" name="Line 30"/>
            <p:cNvSpPr/>
            <p:nvPr/>
          </p:nvSpPr>
          <p:spPr>
            <a:xfrm>
              <a:off x="266700" y="3971925"/>
              <a:ext cx="7448550" cy="9525"/>
            </a:xfrm>
            <a:custGeom>
              <a:avLst/>
              <a:gdLst/>
              <a:ahLst/>
              <a:cxnLst/>
              <a:rect l="l" t="t" r="r" b="b"/>
              <a:pathLst>
                <a:path w="7448550" h="9525">
                  <a:moveTo>
                    <a:pt x="0" y="0"/>
                  </a:moveTo>
                  <a:lnTo>
                    <a:pt x="7448550" y="0"/>
                  </a:lnTo>
                </a:path>
              </a:pathLst>
            </a:custGeom>
            <a:noFill/>
            <a:ln w="9525">
              <a:solidFill>
                <a:srgbClr val="DCE6F8"/>
              </a:solidFill>
            </a:ln>
          </p:spPr>
        </p:sp>
        <p:sp>
          <p:nvSpPr>
            <p:cNvPr id="31" name="Line 31"/>
            <p:cNvSpPr/>
            <p:nvPr/>
          </p:nvSpPr>
          <p:spPr>
            <a:xfrm>
              <a:off x="1762125" y="1447800"/>
              <a:ext cx="9525" cy="3028950"/>
            </a:xfrm>
            <a:custGeom>
              <a:avLst/>
              <a:gdLst/>
              <a:ahLst/>
              <a:cxnLst/>
              <a:rect l="l" t="t" r="r" b="b"/>
              <a:pathLst>
                <a:path w="9525" h="3028950">
                  <a:moveTo>
                    <a:pt x="0" y="0"/>
                  </a:moveTo>
                  <a:lnTo>
                    <a:pt x="0" y="3028950"/>
                  </a:lnTo>
                </a:path>
              </a:pathLst>
            </a:custGeom>
            <a:noFill/>
            <a:ln w="9525">
              <a:solidFill>
                <a:srgbClr val="DCE6F8"/>
              </a:solidFill>
            </a:ln>
          </p:spPr>
        </p:sp>
        <p:sp>
          <p:nvSpPr>
            <p:cNvPr id="32" name="Line 32"/>
            <p:cNvSpPr/>
            <p:nvPr/>
          </p:nvSpPr>
          <p:spPr>
            <a:xfrm>
              <a:off x="3248025" y="1447800"/>
              <a:ext cx="9525" cy="3028950"/>
            </a:xfrm>
            <a:custGeom>
              <a:avLst/>
              <a:gdLst/>
              <a:ahLst/>
              <a:cxnLst/>
              <a:rect l="l" t="t" r="r" b="b"/>
              <a:pathLst>
                <a:path w="9525" h="3028950">
                  <a:moveTo>
                    <a:pt x="0" y="0"/>
                  </a:moveTo>
                  <a:lnTo>
                    <a:pt x="0" y="3028950"/>
                  </a:lnTo>
                </a:path>
              </a:pathLst>
            </a:custGeom>
            <a:noFill/>
            <a:ln w="9525">
              <a:solidFill>
                <a:srgbClr val="DCE6F8"/>
              </a:solidFill>
              <a:custDash>
                <a:ds d="300000" sp="300000"/>
              </a:custDash>
            </a:ln>
          </p:spPr>
        </p:sp>
        <p:sp>
          <p:nvSpPr>
            <p:cNvPr id="33" name="Line 33"/>
            <p:cNvSpPr/>
            <p:nvPr/>
          </p:nvSpPr>
          <p:spPr>
            <a:xfrm>
              <a:off x="4733925" y="1447800"/>
              <a:ext cx="9525" cy="3028950"/>
            </a:xfrm>
            <a:custGeom>
              <a:avLst/>
              <a:gdLst/>
              <a:ahLst/>
              <a:cxnLst/>
              <a:rect l="l" t="t" r="r" b="b"/>
              <a:pathLst>
                <a:path w="9525" h="3028950">
                  <a:moveTo>
                    <a:pt x="0" y="0"/>
                  </a:moveTo>
                  <a:lnTo>
                    <a:pt x="0" y="3028950"/>
                  </a:lnTo>
                </a:path>
              </a:pathLst>
            </a:custGeom>
            <a:noFill/>
            <a:ln w="9525">
              <a:solidFill>
                <a:srgbClr val="DCE6F8"/>
              </a:solidFill>
              <a:custDash>
                <a:ds d="300000" sp="300000"/>
              </a:custDash>
            </a:ln>
          </p:spPr>
        </p:sp>
        <p:sp>
          <p:nvSpPr>
            <p:cNvPr id="34" name="Line 34"/>
            <p:cNvSpPr/>
            <p:nvPr/>
          </p:nvSpPr>
          <p:spPr>
            <a:xfrm>
              <a:off x="6219825" y="1447800"/>
              <a:ext cx="9525" cy="3028950"/>
            </a:xfrm>
            <a:custGeom>
              <a:avLst/>
              <a:gdLst/>
              <a:ahLst/>
              <a:cxnLst/>
              <a:rect l="l" t="t" r="r" b="b"/>
              <a:pathLst>
                <a:path w="9525" h="3028950">
                  <a:moveTo>
                    <a:pt x="0" y="0"/>
                  </a:moveTo>
                  <a:lnTo>
                    <a:pt x="0" y="3028950"/>
                  </a:lnTo>
                </a:path>
              </a:pathLst>
            </a:custGeom>
            <a:noFill/>
            <a:ln w="9525">
              <a:solidFill>
                <a:srgbClr val="DCE6F8"/>
              </a:solidFill>
              <a:custDash>
                <a:ds d="300000" sp="300000"/>
              </a:custDash>
            </a:ln>
          </p:spPr>
        </p:sp>
        <p:grpSp>
          <p:nvGrpSpPr>
            <p:cNvPr id="49" name="gr-1"/>
            <p:cNvGrpSpPr/>
            <p:nvPr/>
          </p:nvGrpSpPr>
          <p:grpSpPr>
            <a:xfrm>
              <a:off x="411559" y="1571625"/>
              <a:ext cx="5770166" cy="253603"/>
              <a:chOff x="411559" y="1571625"/>
              <a:chExt cx="5770166" cy="253603"/>
            </a:xfrm>
          </p:grpSpPr>
          <p:grpSp>
            <p:nvGrpSpPr>
              <p:cNvPr id="41" name="Group 41"/>
              <p:cNvGrpSpPr/>
              <p:nvPr/>
            </p:nvGrpSpPr>
            <p:grpSpPr>
              <a:xfrm>
                <a:off x="411559" y="1629966"/>
                <a:ext cx="144066" cy="127397"/>
                <a:chOff x="411559" y="1629966"/>
                <a:chExt cx="144066" cy="127397"/>
              </a:xfrm>
            </p:grpSpPr>
            <p:sp>
              <p:nvSpPr>
                <p:cNvPr id="35" name="Freeform 35"/>
                <p:cNvSpPr/>
                <p:nvPr/>
              </p:nvSpPr>
              <p:spPr>
                <a:xfrm>
                  <a:off x="411559" y="1629966"/>
                  <a:ext cx="34925" cy="21828"/>
                </a:xfrm>
                <a:custGeom>
                  <a:avLst/>
                  <a:gdLst/>
                  <a:ahLst/>
                  <a:cxnLst/>
                  <a:rect l="l" t="t" r="r" b="b"/>
                  <a:pathLst>
                    <a:path w="34925" h="21828">
                      <a:moveTo>
                        <a:pt x="0" y="8731"/>
                      </a:moveTo>
                      <a:lnTo>
                        <a:pt x="13097" y="21828"/>
                      </a:lnTo>
                      <a:lnTo>
                        <a:pt x="34925" y="0"/>
                      </a:lnTo>
                    </a:path>
                  </a:pathLst>
                </a:custGeom>
                <a:noFill/>
                <a:ln w="17463">
                  <a:solidFill>
                    <a:srgbClr val="B92102"/>
                  </a:solidFill>
                </a:ln>
              </p:spPr>
            </p:sp>
            <p:sp>
              <p:nvSpPr>
                <p:cNvPr id="36" name="Freeform 36"/>
                <p:cNvSpPr/>
                <p:nvPr/>
              </p:nvSpPr>
              <p:spPr>
                <a:xfrm>
                  <a:off x="411559" y="1682353"/>
                  <a:ext cx="34925" cy="21828"/>
                </a:xfrm>
                <a:custGeom>
                  <a:avLst/>
                  <a:gdLst/>
                  <a:ahLst/>
                  <a:cxnLst/>
                  <a:rect l="l" t="t" r="r" b="b"/>
                  <a:pathLst>
                    <a:path w="34925" h="21828">
                      <a:moveTo>
                        <a:pt x="0" y="8731"/>
                      </a:moveTo>
                      <a:lnTo>
                        <a:pt x="13097" y="21828"/>
                      </a:lnTo>
                      <a:lnTo>
                        <a:pt x="34925" y="0"/>
                      </a:lnTo>
                    </a:path>
                  </a:pathLst>
                </a:custGeom>
                <a:noFill/>
                <a:ln w="17463">
                  <a:solidFill>
                    <a:srgbClr val="B92102"/>
                  </a:solidFill>
                </a:ln>
              </p:spPr>
            </p:sp>
            <p:sp>
              <p:nvSpPr>
                <p:cNvPr id="37" name="Freeform 37"/>
                <p:cNvSpPr/>
                <p:nvPr/>
              </p:nvSpPr>
              <p:spPr>
                <a:xfrm>
                  <a:off x="411559" y="1734741"/>
                  <a:ext cx="34925" cy="21828"/>
                </a:xfrm>
                <a:custGeom>
                  <a:avLst/>
                  <a:gdLst/>
                  <a:ahLst/>
                  <a:cxnLst/>
                  <a:rect l="l" t="t" r="r" b="b"/>
                  <a:pathLst>
                    <a:path w="34925" h="21828">
                      <a:moveTo>
                        <a:pt x="0" y="8731"/>
                      </a:moveTo>
                      <a:lnTo>
                        <a:pt x="13097" y="21828"/>
                      </a:lnTo>
                      <a:lnTo>
                        <a:pt x="34925" y="0"/>
                      </a:lnTo>
                    </a:path>
                  </a:pathLst>
                </a:custGeom>
                <a:noFill/>
                <a:ln w="17463">
                  <a:solidFill>
                    <a:srgbClr val="B92102"/>
                  </a:solidFill>
                </a:ln>
              </p:spPr>
            </p:sp>
            <p:sp>
              <p:nvSpPr>
                <p:cNvPr id="38" name="Freeform 38"/>
                <p:cNvSpPr/>
                <p:nvPr/>
              </p:nvSpPr>
              <p:spPr>
                <a:xfrm>
                  <a:off x="477044" y="1643063"/>
                  <a:ext cx="78581" cy="9525"/>
                </a:xfrm>
                <a:custGeom>
                  <a:avLst/>
                  <a:gdLst/>
                  <a:ahLst/>
                  <a:cxnLst/>
                  <a:rect l="l" t="t" r="r" b="b"/>
                  <a:pathLst>
                    <a:path w="78581" h="9525">
                      <a:moveTo>
                        <a:pt x="0" y="0"/>
                      </a:moveTo>
                      <a:lnTo>
                        <a:pt x="78581" y="0"/>
                      </a:lnTo>
                    </a:path>
                  </a:pathLst>
                </a:custGeom>
                <a:noFill/>
                <a:ln w="17463">
                  <a:solidFill>
                    <a:srgbClr val="B92102"/>
                  </a:solidFill>
                </a:ln>
              </p:spPr>
            </p:sp>
            <p:sp>
              <p:nvSpPr>
                <p:cNvPr id="39" name="Freeform 39"/>
                <p:cNvSpPr/>
                <p:nvPr/>
              </p:nvSpPr>
              <p:spPr>
                <a:xfrm>
                  <a:off x="477044" y="1695450"/>
                  <a:ext cx="78581" cy="9525"/>
                </a:xfrm>
                <a:custGeom>
                  <a:avLst/>
                  <a:gdLst/>
                  <a:ahLst/>
                  <a:cxnLst/>
                  <a:rect l="l" t="t" r="r" b="b"/>
                  <a:pathLst>
                    <a:path w="78581" h="9525">
                      <a:moveTo>
                        <a:pt x="0" y="0"/>
                      </a:moveTo>
                      <a:lnTo>
                        <a:pt x="78581" y="0"/>
                      </a:lnTo>
                    </a:path>
                  </a:pathLst>
                </a:custGeom>
                <a:noFill/>
                <a:ln w="17463">
                  <a:solidFill>
                    <a:srgbClr val="B92102"/>
                  </a:solidFill>
                </a:ln>
              </p:spPr>
            </p:sp>
            <p:sp>
              <p:nvSpPr>
                <p:cNvPr id="40" name="Freeform 40"/>
                <p:cNvSpPr/>
                <p:nvPr/>
              </p:nvSpPr>
              <p:spPr>
                <a:xfrm>
                  <a:off x="477044" y="1747838"/>
                  <a:ext cx="78581" cy="9525"/>
                </a:xfrm>
                <a:custGeom>
                  <a:avLst/>
                  <a:gdLst/>
                  <a:ahLst/>
                  <a:cxnLst/>
                  <a:rect l="l" t="t" r="r" b="b"/>
                  <a:pathLst>
                    <a:path w="78581" h="9525">
                      <a:moveTo>
                        <a:pt x="0" y="0"/>
                      </a:moveTo>
                      <a:lnTo>
                        <a:pt x="78581" y="0"/>
                      </a:lnTo>
                    </a:path>
                  </a:pathLst>
                </a:custGeom>
                <a:noFill/>
                <a:ln w="17463">
                  <a:solidFill>
                    <a:srgbClr val="B92102"/>
                  </a:solidFill>
                </a:ln>
              </p:spPr>
            </p:sp>
          </p:grpSp>
          <p:sp>
            <p:nvSpPr>
              <p:cNvPr id="42" name="TextBox 42"/>
              <p:cNvSpPr txBox="1"/>
              <p:nvPr/>
            </p:nvSpPr>
            <p:spPr>
              <a:xfrm>
                <a:off x="681038" y="1641872"/>
                <a:ext cx="768782"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客户名单清洗</a:t>
                </a:r>
              </a:p>
            </p:txBody>
          </p:sp>
          <p:sp>
            <p:nvSpPr>
              <p:cNvPr id="43" name="Rectangle 43"/>
              <p:cNvSpPr/>
              <p:nvPr/>
            </p:nvSpPr>
            <p:spPr>
              <a:xfrm>
                <a:off x="1838325" y="1571625"/>
                <a:ext cx="1371600" cy="247650"/>
              </a:xfrm>
              <a:prstGeom prst="roundRect">
                <a:avLst>
                  <a:gd name="adj" fmla="val 19231"/>
                </a:avLst>
              </a:prstGeom>
              <a:solidFill>
                <a:srgbClr val="FDCCC2"/>
              </a:solidFill>
              <a:ln>
                <a:noFill/>
              </a:ln>
            </p:spPr>
          </p:sp>
          <p:sp>
            <p:nvSpPr>
              <p:cNvPr id="44" name="TextBox 44"/>
              <p:cNvSpPr txBox="1"/>
              <p:nvPr/>
            </p:nvSpPr>
            <p:spPr>
              <a:xfrm>
                <a:off x="2065020" y="1652588"/>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名单去重与标签完善</a:t>
                </a:r>
              </a:p>
            </p:txBody>
          </p:sp>
          <p:sp>
            <p:nvSpPr>
              <p:cNvPr id="45" name="Rectangle 45"/>
              <p:cNvSpPr/>
              <p:nvPr/>
            </p:nvSpPr>
            <p:spPr>
              <a:xfrm>
                <a:off x="3324225" y="1571625"/>
                <a:ext cx="1371600" cy="247650"/>
              </a:xfrm>
              <a:prstGeom prst="roundRect">
                <a:avLst>
                  <a:gd name="adj" fmla="val 19231"/>
                </a:avLst>
              </a:prstGeom>
              <a:solidFill>
                <a:srgbClr val="FDCCC2"/>
              </a:solidFill>
              <a:ln>
                <a:noFill/>
              </a:ln>
            </p:spPr>
          </p:sp>
          <p:sp>
            <p:nvSpPr>
              <p:cNvPr id="46" name="TextBox 46"/>
              <p:cNvSpPr txBox="1"/>
              <p:nvPr/>
            </p:nvSpPr>
            <p:spPr>
              <a:xfrm>
                <a:off x="3472672" y="1652588"/>
                <a:ext cx="1074706"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分层分级与优先级排序​</a:t>
                </a:r>
              </a:p>
            </p:txBody>
          </p:sp>
          <p:sp>
            <p:nvSpPr>
              <p:cNvPr id="47" name="Rectangle 47"/>
              <p:cNvSpPr/>
              <p:nvPr/>
            </p:nvSpPr>
            <p:spPr>
              <a:xfrm>
                <a:off x="4810125" y="1571625"/>
                <a:ext cx="1371600" cy="247650"/>
              </a:xfrm>
              <a:prstGeom prst="roundRect">
                <a:avLst>
                  <a:gd name="adj" fmla="val 19231"/>
                </a:avLst>
              </a:prstGeom>
              <a:solidFill>
                <a:srgbClr val="FDCCC2"/>
              </a:solidFill>
              <a:ln>
                <a:noFill/>
              </a:ln>
            </p:spPr>
          </p:sp>
          <p:sp>
            <p:nvSpPr>
              <p:cNvPr id="48" name="TextBox 48"/>
              <p:cNvSpPr txBox="1"/>
              <p:nvPr/>
            </p:nvSpPr>
            <p:spPr>
              <a:xfrm>
                <a:off x="5036820" y="1652588"/>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名单动态更新与补充</a:t>
                </a:r>
              </a:p>
            </p:txBody>
          </p:sp>
        </p:grpSp>
        <p:grpSp>
          <p:nvGrpSpPr>
            <p:cNvPr id="63" name="gr-2"/>
            <p:cNvGrpSpPr/>
            <p:nvPr/>
          </p:nvGrpSpPr>
          <p:grpSpPr>
            <a:xfrm>
              <a:off x="407194" y="2076450"/>
              <a:ext cx="6947735" cy="253603"/>
              <a:chOff x="407194" y="2076450"/>
              <a:chExt cx="6947735" cy="253603"/>
            </a:xfrm>
          </p:grpSpPr>
          <p:grpSp>
            <p:nvGrpSpPr>
              <p:cNvPr id="54" name="Group 54"/>
              <p:cNvGrpSpPr/>
              <p:nvPr/>
            </p:nvGrpSpPr>
            <p:grpSpPr>
              <a:xfrm>
                <a:off x="407194" y="2121694"/>
                <a:ext cx="157163" cy="157163"/>
                <a:chOff x="407194" y="2121694"/>
                <a:chExt cx="157163" cy="157163"/>
              </a:xfrm>
            </p:grpSpPr>
            <p:sp>
              <p:nvSpPr>
                <p:cNvPr id="50" name="Freeform 50"/>
                <p:cNvSpPr/>
                <p:nvPr/>
              </p:nvSpPr>
              <p:spPr>
                <a:xfrm>
                  <a:off x="424656" y="21216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B92102"/>
                  </a:solidFill>
                </a:ln>
              </p:spPr>
            </p:sp>
            <p:sp>
              <p:nvSpPr>
                <p:cNvPr id="51" name="Freeform 51"/>
                <p:cNvSpPr/>
                <p:nvPr/>
              </p:nvSpPr>
              <p:spPr>
                <a:xfrm>
                  <a:off x="407194" y="222646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B92102"/>
                  </a:solidFill>
                </a:ln>
              </p:spPr>
            </p:sp>
            <p:sp>
              <p:nvSpPr>
                <p:cNvPr id="52" name="Freeform 52"/>
                <p:cNvSpPr/>
                <p:nvPr/>
              </p:nvSpPr>
              <p:spPr>
                <a:xfrm>
                  <a:off x="520700" y="212282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B92102"/>
                  </a:solidFill>
                </a:ln>
              </p:spPr>
            </p:sp>
            <p:sp>
              <p:nvSpPr>
                <p:cNvPr id="53" name="Freeform 53"/>
                <p:cNvSpPr/>
                <p:nvPr/>
              </p:nvSpPr>
              <p:spPr>
                <a:xfrm>
                  <a:off x="538163" y="222777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B92102"/>
                  </a:solidFill>
                </a:ln>
              </p:spPr>
            </p:sp>
          </p:grpSp>
          <p:sp>
            <p:nvSpPr>
              <p:cNvPr id="55" name="TextBox 55"/>
              <p:cNvSpPr txBox="1"/>
              <p:nvPr/>
            </p:nvSpPr>
            <p:spPr>
              <a:xfrm>
                <a:off x="681038" y="2146697"/>
                <a:ext cx="768782"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重点客户拜访</a:t>
                </a:r>
              </a:p>
            </p:txBody>
          </p:sp>
          <p:sp>
            <p:nvSpPr>
              <p:cNvPr id="56" name="Rectangle 56"/>
              <p:cNvSpPr/>
              <p:nvPr/>
            </p:nvSpPr>
            <p:spPr>
              <a:xfrm>
                <a:off x="1838325" y="2076450"/>
                <a:ext cx="1371600" cy="247650"/>
              </a:xfrm>
              <a:prstGeom prst="roundRect">
                <a:avLst>
                  <a:gd name="adj" fmla="val 19231"/>
                </a:avLst>
              </a:prstGeom>
              <a:solidFill>
                <a:srgbClr val="FDCCC2"/>
              </a:solidFill>
              <a:ln>
                <a:noFill/>
              </a:ln>
            </p:spPr>
          </p:sp>
          <p:sp>
            <p:nvSpPr>
              <p:cNvPr id="57" name="TextBox 57"/>
              <p:cNvSpPr txBox="1"/>
              <p:nvPr/>
            </p:nvSpPr>
            <p:spPr>
              <a:xfrm>
                <a:off x="2065020" y="2157412"/>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拜访计划制定与预约</a:t>
                </a:r>
              </a:p>
            </p:txBody>
          </p:sp>
          <p:sp>
            <p:nvSpPr>
              <p:cNvPr id="58" name="Rectangle 58"/>
              <p:cNvSpPr/>
              <p:nvPr/>
            </p:nvSpPr>
            <p:spPr>
              <a:xfrm>
                <a:off x="3324225" y="2076450"/>
                <a:ext cx="1371600" cy="247650"/>
              </a:xfrm>
              <a:prstGeom prst="roundRect">
                <a:avLst>
                  <a:gd name="adj" fmla="val 19231"/>
                </a:avLst>
              </a:prstGeom>
              <a:solidFill>
                <a:srgbClr val="F3AC9D"/>
              </a:solidFill>
              <a:ln>
                <a:noFill/>
              </a:ln>
            </p:spPr>
          </p:sp>
          <p:sp>
            <p:nvSpPr>
              <p:cNvPr id="59" name="TextBox 59"/>
              <p:cNvSpPr txBox="1"/>
              <p:nvPr/>
            </p:nvSpPr>
            <p:spPr>
              <a:xfrm>
                <a:off x="3550920" y="2157412"/>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集中拜访与需求挖掘</a:t>
                </a:r>
              </a:p>
            </p:txBody>
          </p:sp>
          <p:sp>
            <p:nvSpPr>
              <p:cNvPr id="60" name="Rectangle 60"/>
              <p:cNvSpPr/>
              <p:nvPr/>
            </p:nvSpPr>
            <p:spPr>
              <a:xfrm>
                <a:off x="4810125" y="2076450"/>
                <a:ext cx="1371600" cy="247650"/>
              </a:xfrm>
              <a:prstGeom prst="roundRect">
                <a:avLst>
                  <a:gd name="adj" fmla="val 19231"/>
                </a:avLst>
              </a:prstGeom>
              <a:solidFill>
                <a:srgbClr val="FDCCC2"/>
              </a:solidFill>
              <a:ln>
                <a:noFill/>
              </a:ln>
            </p:spPr>
          </p:sp>
          <p:sp>
            <p:nvSpPr>
              <p:cNvPr id="61" name="TextBox 61"/>
              <p:cNvSpPr txBox="1"/>
              <p:nvPr/>
            </p:nvSpPr>
            <p:spPr>
              <a:xfrm>
                <a:off x="5036820" y="2157412"/>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深度拜访与方案沟通</a:t>
                </a:r>
              </a:p>
            </p:txBody>
          </p:sp>
          <p:sp>
            <p:nvSpPr>
              <p:cNvPr id="62" name="TextBox 62"/>
              <p:cNvSpPr txBox="1"/>
              <p:nvPr/>
            </p:nvSpPr>
            <p:spPr>
              <a:xfrm>
                <a:off x="6357938" y="2158841"/>
                <a:ext cx="996991" cy="161925"/>
              </a:xfrm>
              <a:prstGeom prst="rect">
                <a:avLst/>
              </a:prstGeom>
              <a:noFill/>
              <a:ln>
                <a:noFill/>
              </a:ln>
            </p:spPr>
            <p:txBody>
              <a:bodyPr wrap="none" lIns="0" tIns="0" rIns="0" bIns="0" anchor="t" anchorCtr="0">
                <a:spAutoFit/>
              </a:bodyPr>
              <a:lstStyle/>
              <a:p>
                <a:pPr algn="l" marL="92945" indent="-92945">
                  <a:buClr>
                    <a:srgbClr val="B92102"/>
                  </a:buClr>
                  <a:buSzTx/>
                  <a:buFontTx/>
                  <a:buChar char="◆"/>
                </a:pPr>
                <a:r>
                  <a:rPr lang="zh-CN" sz="820" b="1" dirty="0">
                    <a:solidFill>
                      <a:srgbClr val="B92102"/>
                    </a:solidFill>
                    <a:latin typeface="+mn-lt"/>
                    <a:ea typeface="+mn-ea"/>
                    <a:cs typeface="+mn-cs"/>
                  </a:rPr>
                  <a:t>覆盖率XX%​​​​​</a:t>
                </a:r>
              </a:p>
            </p:txBody>
          </p:sp>
        </p:grpSp>
        <p:grpSp>
          <p:nvGrpSpPr>
            <p:cNvPr id="73" name="gr-3"/>
            <p:cNvGrpSpPr/>
            <p:nvPr/>
          </p:nvGrpSpPr>
          <p:grpSpPr>
            <a:xfrm>
              <a:off x="398253" y="2581275"/>
              <a:ext cx="6932182" cy="253603"/>
              <a:chOff x="398253" y="2581275"/>
              <a:chExt cx="6932182" cy="253603"/>
            </a:xfrm>
          </p:grpSpPr>
          <p:sp>
            <p:nvSpPr>
              <p:cNvPr id="64" name="Freeform 64"/>
              <p:cNvSpPr/>
              <p:nvPr/>
            </p:nvSpPr>
            <p:spPr>
              <a:xfrm>
                <a:off x="398253" y="2628483"/>
                <a:ext cx="174311" cy="154517"/>
              </a:xfrm>
              <a:custGeom>
                <a:avLst/>
                <a:gdLst/>
                <a:ahLst/>
                <a:cxnLst/>
                <a:rect l="l" t="t" r="r" b="b"/>
                <a:pathLst>
                  <a:path w="174311" h="154517">
                    <a:moveTo>
                      <a:pt x="8941" y="146467"/>
                    </a:moveTo>
                    <a:lnTo>
                      <a:pt x="20291" y="112415"/>
                    </a:lnTo>
                    <a:cubicBezTo>
                      <a:pt x="0" y="82406"/>
                      <a:pt x="7841" y="43682"/>
                      <a:pt x="38627" y="21837"/>
                    </a:cubicBezTo>
                    <a:cubicBezTo>
                      <a:pt x="69413" y="0"/>
                      <a:pt x="113629" y="1790"/>
                      <a:pt x="142049" y="26028"/>
                    </a:cubicBezTo>
                    <a:cubicBezTo>
                      <a:pt x="170469" y="50275"/>
                      <a:pt x="174311" y="89469"/>
                      <a:pt x="151033" y="117715"/>
                    </a:cubicBezTo>
                    <a:cubicBezTo>
                      <a:pt x="127756" y="145960"/>
                      <a:pt x="84545" y="154517"/>
                      <a:pt x="49978" y="137736"/>
                    </a:cubicBezTo>
                    <a:lnTo>
                      <a:pt x="8941" y="146467"/>
                    </a:lnTo>
                  </a:path>
                </a:pathLst>
              </a:custGeom>
              <a:noFill/>
              <a:ln w="17463">
                <a:solidFill>
                  <a:srgbClr val="B92102"/>
                </a:solidFill>
              </a:ln>
            </p:spPr>
          </p:sp>
          <p:sp>
            <p:nvSpPr>
              <p:cNvPr id="65" name="TextBox 65"/>
              <p:cNvSpPr txBox="1"/>
              <p:nvPr/>
            </p:nvSpPr>
            <p:spPr>
              <a:xfrm>
                <a:off x="681038" y="2651522"/>
                <a:ext cx="768782"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主题营销活动</a:t>
                </a:r>
              </a:p>
            </p:txBody>
          </p:sp>
          <p:sp>
            <p:nvSpPr>
              <p:cNvPr id="66" name="Rectangle 66"/>
              <p:cNvSpPr/>
              <p:nvPr/>
            </p:nvSpPr>
            <p:spPr>
              <a:xfrm>
                <a:off x="1838325" y="2581275"/>
                <a:ext cx="1371600" cy="247650"/>
              </a:xfrm>
              <a:prstGeom prst="roundRect">
                <a:avLst>
                  <a:gd name="adj" fmla="val 19231"/>
                </a:avLst>
              </a:prstGeom>
              <a:solidFill>
                <a:srgbClr val="FDCCC2"/>
              </a:solidFill>
              <a:ln>
                <a:noFill/>
              </a:ln>
            </p:spPr>
          </p:sp>
          <p:sp>
            <p:nvSpPr>
              <p:cNvPr id="67" name="TextBox 67"/>
              <p:cNvSpPr txBox="1"/>
              <p:nvPr/>
            </p:nvSpPr>
            <p:spPr>
              <a:xfrm>
                <a:off x="2065020" y="2662238"/>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主题策划与物料准备</a:t>
                </a:r>
              </a:p>
            </p:txBody>
          </p:sp>
          <p:sp>
            <p:nvSpPr>
              <p:cNvPr id="68" name="Rectangle 68"/>
              <p:cNvSpPr/>
              <p:nvPr/>
            </p:nvSpPr>
            <p:spPr>
              <a:xfrm>
                <a:off x="3324225" y="2581275"/>
                <a:ext cx="1371600" cy="247650"/>
              </a:xfrm>
              <a:prstGeom prst="roundRect">
                <a:avLst>
                  <a:gd name="adj" fmla="val 19231"/>
                </a:avLst>
              </a:prstGeom>
              <a:solidFill>
                <a:srgbClr val="F3AC9D"/>
              </a:solidFill>
              <a:ln>
                <a:noFill/>
              </a:ln>
            </p:spPr>
          </p:sp>
          <p:sp>
            <p:nvSpPr>
              <p:cNvPr id="69" name="TextBox 69"/>
              <p:cNvSpPr txBox="1"/>
              <p:nvPr/>
            </p:nvSpPr>
            <p:spPr>
              <a:xfrm>
                <a:off x="3702368" y="2662238"/>
                <a:ext cx="615315"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线下活动执行</a:t>
                </a:r>
              </a:p>
            </p:txBody>
          </p:sp>
          <p:sp>
            <p:nvSpPr>
              <p:cNvPr id="70" name="Rectangle 70"/>
              <p:cNvSpPr/>
              <p:nvPr/>
            </p:nvSpPr>
            <p:spPr>
              <a:xfrm>
                <a:off x="4810125" y="2581275"/>
                <a:ext cx="1371600" cy="247650"/>
              </a:xfrm>
              <a:prstGeom prst="roundRect">
                <a:avLst>
                  <a:gd name="adj" fmla="val 19231"/>
                </a:avLst>
              </a:prstGeom>
              <a:solidFill>
                <a:srgbClr val="FDCCC2"/>
              </a:solidFill>
              <a:ln>
                <a:noFill/>
              </a:ln>
            </p:spPr>
          </p:sp>
          <p:sp>
            <p:nvSpPr>
              <p:cNvPr id="71" name="TextBox 71"/>
              <p:cNvSpPr txBox="1"/>
              <p:nvPr/>
            </p:nvSpPr>
            <p:spPr>
              <a:xfrm>
                <a:off x="5036820" y="2662238"/>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线上触达与二次营销</a:t>
                </a:r>
              </a:p>
            </p:txBody>
          </p:sp>
          <p:sp>
            <p:nvSpPr>
              <p:cNvPr id="72" name="TextBox 72"/>
              <p:cNvSpPr txBox="1"/>
              <p:nvPr/>
            </p:nvSpPr>
            <p:spPr>
              <a:xfrm>
                <a:off x="6357938" y="2663666"/>
                <a:ext cx="972497" cy="161925"/>
              </a:xfrm>
              <a:prstGeom prst="rect">
                <a:avLst/>
              </a:prstGeom>
              <a:noFill/>
              <a:ln>
                <a:noFill/>
              </a:ln>
            </p:spPr>
            <p:txBody>
              <a:bodyPr wrap="none" lIns="0" tIns="0" rIns="0" bIns="0" anchor="t" anchorCtr="0">
                <a:spAutoFit/>
              </a:bodyPr>
              <a:lstStyle/>
              <a:p>
                <a:pPr algn="l" marL="92945" indent="-92945">
                  <a:buClr>
                    <a:srgbClr val="B92102"/>
                  </a:buClr>
                  <a:buSzTx/>
                  <a:buFontTx/>
                  <a:buChar char="◆"/>
                </a:pPr>
                <a:r>
                  <a:rPr lang="zh-CN" sz="820" b="1" dirty="0">
                    <a:solidFill>
                      <a:srgbClr val="B92102"/>
                    </a:solidFill>
                    <a:latin typeface="+mn-lt"/>
                    <a:ea typeface="+mn-ea"/>
                    <a:cs typeface="+mn-cs"/>
                  </a:rPr>
                  <a:t>触达量XX+​​​​​</a:t>
                </a:r>
              </a:p>
            </p:txBody>
          </p:sp>
        </p:grpSp>
        <p:grpSp>
          <p:nvGrpSpPr>
            <p:cNvPr id="86" name="gr-4"/>
            <p:cNvGrpSpPr/>
            <p:nvPr/>
          </p:nvGrpSpPr>
          <p:grpSpPr>
            <a:xfrm>
              <a:off x="424656" y="3086100"/>
              <a:ext cx="6913657" cy="253603"/>
              <a:chOff x="424656" y="3086100"/>
              <a:chExt cx="6913657" cy="253603"/>
            </a:xfrm>
          </p:grpSpPr>
          <p:grpSp>
            <p:nvGrpSpPr>
              <p:cNvPr id="79" name="Group 79"/>
              <p:cNvGrpSpPr/>
              <p:nvPr/>
            </p:nvGrpSpPr>
            <p:grpSpPr>
              <a:xfrm>
                <a:off x="424656" y="3131344"/>
                <a:ext cx="122238" cy="157163"/>
                <a:chOff x="424656" y="3131344"/>
                <a:chExt cx="122238" cy="157163"/>
              </a:xfrm>
            </p:grpSpPr>
            <p:sp>
              <p:nvSpPr>
                <p:cNvPr id="74" name="Freeform 74"/>
                <p:cNvSpPr/>
                <p:nvPr/>
              </p:nvSpPr>
              <p:spPr>
                <a:xfrm>
                  <a:off x="503238" y="31313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B92102"/>
                  </a:solidFill>
                </a:ln>
              </p:spPr>
            </p:sp>
            <p:sp>
              <p:nvSpPr>
                <p:cNvPr id="75" name="Freeform 75"/>
                <p:cNvSpPr/>
                <p:nvPr/>
              </p:nvSpPr>
              <p:spPr>
                <a:xfrm>
                  <a:off x="424656" y="31313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B92102"/>
                  </a:solidFill>
                </a:ln>
              </p:spPr>
            </p:sp>
            <p:sp>
              <p:nvSpPr>
                <p:cNvPr id="76" name="Freeform 76"/>
                <p:cNvSpPr/>
                <p:nvPr/>
              </p:nvSpPr>
              <p:spPr>
                <a:xfrm>
                  <a:off x="459581" y="3183731"/>
                  <a:ext cx="9525" cy="9525"/>
                </a:xfrm>
                <a:custGeom>
                  <a:avLst/>
                  <a:gdLst/>
                  <a:ahLst/>
                  <a:cxnLst/>
                  <a:rect l="l" t="t" r="r" b="b"/>
                  <a:pathLst>
                    <a:path w="9525" h="9525">
                      <a:moveTo>
                        <a:pt x="0" y="0"/>
                      </a:moveTo>
                      <a:lnTo>
                        <a:pt x="8731" y="0"/>
                      </a:lnTo>
                    </a:path>
                  </a:pathLst>
                </a:custGeom>
                <a:noFill/>
                <a:ln w="17463">
                  <a:solidFill>
                    <a:srgbClr val="B92102"/>
                  </a:solidFill>
                </a:ln>
              </p:spPr>
            </p:sp>
            <p:sp>
              <p:nvSpPr>
                <p:cNvPr id="77" name="Freeform 77"/>
                <p:cNvSpPr/>
                <p:nvPr/>
              </p:nvSpPr>
              <p:spPr>
                <a:xfrm>
                  <a:off x="459581" y="3218656"/>
                  <a:ext cx="52388" cy="9525"/>
                </a:xfrm>
                <a:custGeom>
                  <a:avLst/>
                  <a:gdLst/>
                  <a:ahLst/>
                  <a:cxnLst/>
                  <a:rect l="l" t="t" r="r" b="b"/>
                  <a:pathLst>
                    <a:path w="52388" h="9525">
                      <a:moveTo>
                        <a:pt x="0" y="0"/>
                      </a:moveTo>
                      <a:lnTo>
                        <a:pt x="52388" y="0"/>
                      </a:lnTo>
                    </a:path>
                  </a:pathLst>
                </a:custGeom>
                <a:noFill/>
                <a:ln w="17463">
                  <a:solidFill>
                    <a:srgbClr val="B92102"/>
                  </a:solidFill>
                </a:ln>
              </p:spPr>
            </p:sp>
            <p:sp>
              <p:nvSpPr>
                <p:cNvPr id="78" name="Freeform 78"/>
                <p:cNvSpPr/>
                <p:nvPr/>
              </p:nvSpPr>
              <p:spPr>
                <a:xfrm>
                  <a:off x="459581" y="3253581"/>
                  <a:ext cx="52388" cy="9525"/>
                </a:xfrm>
                <a:custGeom>
                  <a:avLst/>
                  <a:gdLst/>
                  <a:ahLst/>
                  <a:cxnLst/>
                  <a:rect l="l" t="t" r="r" b="b"/>
                  <a:pathLst>
                    <a:path w="52388" h="9525">
                      <a:moveTo>
                        <a:pt x="0" y="0"/>
                      </a:moveTo>
                      <a:lnTo>
                        <a:pt x="52388" y="0"/>
                      </a:lnTo>
                    </a:path>
                  </a:pathLst>
                </a:custGeom>
                <a:noFill/>
                <a:ln w="17463">
                  <a:solidFill>
                    <a:srgbClr val="B92102"/>
                  </a:solidFill>
                </a:ln>
              </p:spPr>
            </p:sp>
          </p:grpSp>
          <p:sp>
            <p:nvSpPr>
              <p:cNvPr id="80" name="TextBox 80"/>
              <p:cNvSpPr txBox="1"/>
              <p:nvPr/>
            </p:nvSpPr>
            <p:spPr>
              <a:xfrm>
                <a:off x="681038" y="3156347"/>
                <a:ext cx="768782"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方案联合评审</a:t>
                </a:r>
              </a:p>
            </p:txBody>
          </p:sp>
          <p:sp>
            <p:nvSpPr>
              <p:cNvPr id="81" name="Rectangle 81"/>
              <p:cNvSpPr/>
              <p:nvPr/>
            </p:nvSpPr>
            <p:spPr>
              <a:xfrm>
                <a:off x="3324225" y="3086100"/>
                <a:ext cx="1371600" cy="247650"/>
              </a:xfrm>
              <a:prstGeom prst="roundRect">
                <a:avLst>
                  <a:gd name="adj" fmla="val 19231"/>
                </a:avLst>
              </a:prstGeom>
              <a:solidFill>
                <a:srgbClr val="FDCCC2"/>
              </a:solidFill>
              <a:ln>
                <a:noFill/>
              </a:ln>
            </p:spPr>
          </p:sp>
          <p:sp>
            <p:nvSpPr>
              <p:cNvPr id="82" name="TextBox 82"/>
              <p:cNvSpPr txBox="1"/>
              <p:nvPr/>
            </p:nvSpPr>
            <p:spPr>
              <a:xfrm>
                <a:off x="3550920" y="3167062"/>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方案初稿与内部评审</a:t>
                </a:r>
              </a:p>
            </p:txBody>
          </p:sp>
          <p:sp>
            <p:nvSpPr>
              <p:cNvPr id="83" name="Rectangle 83"/>
              <p:cNvSpPr/>
              <p:nvPr/>
            </p:nvSpPr>
            <p:spPr>
              <a:xfrm>
                <a:off x="4810125" y="3086100"/>
                <a:ext cx="1371600" cy="247650"/>
              </a:xfrm>
              <a:prstGeom prst="roundRect">
                <a:avLst>
                  <a:gd name="adj" fmla="val 19231"/>
                </a:avLst>
              </a:prstGeom>
              <a:solidFill>
                <a:srgbClr val="F3AC9D"/>
              </a:solidFill>
              <a:ln>
                <a:noFill/>
              </a:ln>
            </p:spPr>
          </p:sp>
          <p:sp>
            <p:nvSpPr>
              <p:cNvPr id="84" name="TextBox 84"/>
              <p:cNvSpPr txBox="1"/>
              <p:nvPr/>
            </p:nvSpPr>
            <p:spPr>
              <a:xfrm>
                <a:off x="5036820" y="3167062"/>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客户联合评审与优化</a:t>
                </a:r>
              </a:p>
            </p:txBody>
          </p:sp>
          <p:sp>
            <p:nvSpPr>
              <p:cNvPr id="85" name="TextBox 85"/>
              <p:cNvSpPr txBox="1"/>
              <p:nvPr/>
            </p:nvSpPr>
            <p:spPr>
              <a:xfrm>
                <a:off x="6357938" y="3168491"/>
                <a:ext cx="980375" cy="161925"/>
              </a:xfrm>
              <a:prstGeom prst="rect">
                <a:avLst/>
              </a:prstGeom>
              <a:noFill/>
              <a:ln>
                <a:noFill/>
              </a:ln>
            </p:spPr>
            <p:txBody>
              <a:bodyPr wrap="none" lIns="0" tIns="0" rIns="0" bIns="0" anchor="t" anchorCtr="0">
                <a:spAutoFit/>
              </a:bodyPr>
              <a:lstStyle/>
              <a:p>
                <a:pPr algn="l" marL="92945" indent="-92945">
                  <a:buClr>
                    <a:srgbClr val="B92102"/>
                  </a:buClr>
                  <a:buSzTx/>
                  <a:buFontTx/>
                  <a:buChar char="◆"/>
                </a:pPr>
                <a:r>
                  <a:rPr lang="zh-CN" sz="820" b="1" dirty="0">
                    <a:solidFill>
                      <a:srgbClr val="B92102"/>
                    </a:solidFill>
                    <a:latin typeface="+mn-lt"/>
                    <a:ea typeface="+mn-ea"/>
                    <a:cs typeface="+mn-cs"/>
                  </a:rPr>
                  <a:t>评审通过XX个​​​</a:t>
                </a:r>
              </a:p>
            </p:txBody>
          </p:sp>
        </p:grpSp>
        <p:grpSp>
          <p:nvGrpSpPr>
            <p:cNvPr id="99" name="gr-5"/>
            <p:cNvGrpSpPr/>
            <p:nvPr/>
          </p:nvGrpSpPr>
          <p:grpSpPr>
            <a:xfrm>
              <a:off x="407194" y="3590925"/>
              <a:ext cx="6710343" cy="253603"/>
              <a:chOff x="407194" y="3590925"/>
              <a:chExt cx="6710343" cy="253603"/>
            </a:xfrm>
          </p:grpSpPr>
          <p:grpSp>
            <p:nvGrpSpPr>
              <p:cNvPr id="90" name="Group 90"/>
              <p:cNvGrpSpPr/>
              <p:nvPr/>
            </p:nvGrpSpPr>
            <p:grpSpPr>
              <a:xfrm>
                <a:off x="407194" y="3636169"/>
                <a:ext cx="157163" cy="157163"/>
                <a:chOff x="407194" y="3636169"/>
                <a:chExt cx="157163" cy="157163"/>
              </a:xfrm>
            </p:grpSpPr>
            <p:sp>
              <p:nvSpPr>
                <p:cNvPr id="87" name="Freeform 87"/>
                <p:cNvSpPr/>
                <p:nvPr/>
              </p:nvSpPr>
              <p:spPr>
                <a:xfrm>
                  <a:off x="477044" y="370601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B92102"/>
                  </a:solidFill>
                </a:ln>
              </p:spPr>
            </p:sp>
            <p:sp>
              <p:nvSpPr>
                <p:cNvPr id="88" name="Freeform 88"/>
                <p:cNvSpPr/>
                <p:nvPr/>
              </p:nvSpPr>
              <p:spPr>
                <a:xfrm>
                  <a:off x="442119" y="367109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B92102"/>
                  </a:solidFill>
                </a:ln>
              </p:spPr>
            </p:sp>
            <p:sp>
              <p:nvSpPr>
                <p:cNvPr id="89" name="Freeform 89"/>
                <p:cNvSpPr/>
                <p:nvPr/>
              </p:nvSpPr>
              <p:spPr>
                <a:xfrm>
                  <a:off x="407194" y="36361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B92102"/>
                  </a:solidFill>
                </a:ln>
              </p:spPr>
            </p:sp>
          </p:grpSp>
          <p:sp>
            <p:nvSpPr>
              <p:cNvPr id="91" name="TextBox 91"/>
              <p:cNvSpPr txBox="1"/>
              <p:nvPr/>
            </p:nvSpPr>
            <p:spPr>
              <a:xfrm>
                <a:off x="681038" y="3661172"/>
                <a:ext cx="958304"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Top商机攻坚​​​</a:t>
                </a:r>
              </a:p>
            </p:txBody>
          </p:sp>
          <p:sp>
            <p:nvSpPr>
              <p:cNvPr id="92" name="Rectangle 92"/>
              <p:cNvSpPr/>
              <p:nvPr/>
            </p:nvSpPr>
            <p:spPr>
              <a:xfrm>
                <a:off x="1838325" y="3590925"/>
                <a:ext cx="1371600" cy="247650"/>
              </a:xfrm>
              <a:prstGeom prst="roundRect">
                <a:avLst>
                  <a:gd name="adj" fmla="val 19231"/>
                </a:avLst>
              </a:prstGeom>
              <a:solidFill>
                <a:srgbClr val="FDCCC2"/>
              </a:solidFill>
              <a:ln>
                <a:noFill/>
              </a:ln>
            </p:spPr>
          </p:sp>
          <p:sp>
            <p:nvSpPr>
              <p:cNvPr id="93" name="TextBox 93"/>
              <p:cNvSpPr txBox="1"/>
              <p:nvPr/>
            </p:nvSpPr>
            <p:spPr>
              <a:xfrm>
                <a:off x="2165985" y="3671888"/>
                <a:ext cx="71628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商机筛选与分层</a:t>
                </a:r>
              </a:p>
            </p:txBody>
          </p:sp>
          <p:sp>
            <p:nvSpPr>
              <p:cNvPr id="94" name="Rectangle 94"/>
              <p:cNvSpPr/>
              <p:nvPr/>
            </p:nvSpPr>
            <p:spPr>
              <a:xfrm>
                <a:off x="3324225" y="3590925"/>
                <a:ext cx="1371600" cy="247650"/>
              </a:xfrm>
              <a:prstGeom prst="roundRect">
                <a:avLst>
                  <a:gd name="adj" fmla="val 19231"/>
                </a:avLst>
              </a:prstGeom>
              <a:solidFill>
                <a:srgbClr val="F3AC9D"/>
              </a:solidFill>
              <a:ln>
                <a:noFill/>
              </a:ln>
            </p:spPr>
          </p:sp>
          <p:sp>
            <p:nvSpPr>
              <p:cNvPr id="95" name="TextBox 95"/>
              <p:cNvSpPr txBox="1"/>
              <p:nvPr/>
            </p:nvSpPr>
            <p:spPr>
              <a:xfrm>
                <a:off x="3422190" y="3671888"/>
                <a:ext cx="1175671"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攻坚策略制定与资源调配​</a:t>
                </a:r>
              </a:p>
            </p:txBody>
          </p:sp>
          <p:sp>
            <p:nvSpPr>
              <p:cNvPr id="96" name="Rectangle 96"/>
              <p:cNvSpPr/>
              <p:nvPr/>
            </p:nvSpPr>
            <p:spPr>
              <a:xfrm>
                <a:off x="4810125" y="3590925"/>
                <a:ext cx="1371600" cy="247650"/>
              </a:xfrm>
              <a:prstGeom prst="roundRect">
                <a:avLst>
                  <a:gd name="adj" fmla="val 19231"/>
                </a:avLst>
              </a:prstGeom>
              <a:solidFill>
                <a:srgbClr val="FDCCC2"/>
              </a:solidFill>
              <a:ln>
                <a:noFill/>
              </a:ln>
            </p:spPr>
          </p:sp>
          <p:sp>
            <p:nvSpPr>
              <p:cNvPr id="97" name="TextBox 97"/>
              <p:cNvSpPr txBox="1"/>
              <p:nvPr/>
            </p:nvSpPr>
            <p:spPr>
              <a:xfrm>
                <a:off x="5188268" y="3671888"/>
                <a:ext cx="615315"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关键节点突破</a:t>
                </a:r>
              </a:p>
            </p:txBody>
          </p:sp>
          <p:sp>
            <p:nvSpPr>
              <p:cNvPr id="98" name="TextBox 98"/>
              <p:cNvSpPr txBox="1"/>
              <p:nvPr/>
            </p:nvSpPr>
            <p:spPr>
              <a:xfrm>
                <a:off x="6357938" y="3673316"/>
                <a:ext cx="759599" cy="161925"/>
              </a:xfrm>
              <a:prstGeom prst="rect">
                <a:avLst/>
              </a:prstGeom>
              <a:noFill/>
              <a:ln>
                <a:noFill/>
              </a:ln>
            </p:spPr>
            <p:txBody>
              <a:bodyPr wrap="none" lIns="0" tIns="0" rIns="0" bIns="0" anchor="t" anchorCtr="0">
                <a:spAutoFit/>
              </a:bodyPr>
              <a:lstStyle/>
              <a:p>
                <a:pPr algn="l" marL="92945" indent="-92945">
                  <a:buClr>
                    <a:srgbClr val="B92102"/>
                  </a:buClr>
                  <a:buSzTx/>
                  <a:buFontTx/>
                  <a:buChar char="◆"/>
                </a:pPr>
                <a:r>
                  <a:rPr lang="zh-CN" sz="820" b="1" dirty="0">
                    <a:solidFill>
                      <a:srgbClr val="B92102"/>
                    </a:solidFill>
                    <a:latin typeface="+mn-lt"/>
                    <a:ea typeface="+mn-ea"/>
                    <a:cs typeface="+mn-cs"/>
                  </a:rPr>
                  <a:t>推进XX个​​​</a:t>
                </a:r>
              </a:p>
            </p:txBody>
          </p:sp>
        </p:grpSp>
        <p:grpSp>
          <p:nvGrpSpPr>
            <p:cNvPr id="112" name="gr-6"/>
            <p:cNvGrpSpPr/>
            <p:nvPr/>
          </p:nvGrpSpPr>
          <p:grpSpPr>
            <a:xfrm>
              <a:off x="424656" y="4095750"/>
              <a:ext cx="7242969" cy="253603"/>
              <a:chOff x="424656" y="4095750"/>
              <a:chExt cx="7242969" cy="253603"/>
            </a:xfrm>
          </p:grpSpPr>
          <p:grpSp>
            <p:nvGrpSpPr>
              <p:cNvPr id="104" name="Group 104"/>
              <p:cNvGrpSpPr/>
              <p:nvPr/>
            </p:nvGrpSpPr>
            <p:grpSpPr>
              <a:xfrm>
                <a:off x="424656" y="4149725"/>
                <a:ext cx="130970" cy="148431"/>
                <a:chOff x="424656" y="4149725"/>
                <a:chExt cx="130970" cy="148431"/>
              </a:xfrm>
            </p:grpSpPr>
            <p:sp>
              <p:nvSpPr>
                <p:cNvPr id="100" name="Freeform 100"/>
                <p:cNvSpPr/>
                <p:nvPr/>
              </p:nvSpPr>
              <p:spPr>
                <a:xfrm>
                  <a:off x="424656" y="4149725"/>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B92102"/>
                  </a:solidFill>
                </a:ln>
              </p:spPr>
            </p:sp>
            <p:sp>
              <p:nvSpPr>
                <p:cNvPr id="101" name="Freeform 101"/>
                <p:cNvSpPr/>
                <p:nvPr/>
              </p:nvSpPr>
              <p:spPr>
                <a:xfrm>
                  <a:off x="503238" y="4263231"/>
                  <a:ext cx="52388" cy="34925"/>
                </a:xfrm>
                <a:custGeom>
                  <a:avLst/>
                  <a:gdLst/>
                  <a:ahLst/>
                  <a:cxnLst/>
                  <a:rect l="l" t="t" r="r" b="b"/>
                  <a:pathLst>
                    <a:path w="52388" h="34925">
                      <a:moveTo>
                        <a:pt x="0" y="17463"/>
                      </a:moveTo>
                      <a:lnTo>
                        <a:pt x="17463" y="34925"/>
                      </a:lnTo>
                      <a:lnTo>
                        <a:pt x="52388" y="0"/>
                      </a:lnTo>
                    </a:path>
                  </a:pathLst>
                </a:custGeom>
                <a:noFill/>
                <a:ln w="17463">
                  <a:solidFill>
                    <a:srgbClr val="B92102"/>
                  </a:solidFill>
                </a:ln>
              </p:spPr>
            </p:sp>
            <p:sp>
              <p:nvSpPr>
                <p:cNvPr id="102" name="Freeform 102"/>
                <p:cNvSpPr/>
                <p:nvPr/>
              </p:nvSpPr>
              <p:spPr>
                <a:xfrm>
                  <a:off x="459581" y="4184650"/>
                  <a:ext cx="34925" cy="9525"/>
                </a:xfrm>
                <a:custGeom>
                  <a:avLst/>
                  <a:gdLst/>
                  <a:ahLst/>
                  <a:cxnLst/>
                  <a:rect l="l" t="t" r="r" b="b"/>
                  <a:pathLst>
                    <a:path w="34925" h="9525">
                      <a:moveTo>
                        <a:pt x="0" y="0"/>
                      </a:moveTo>
                      <a:lnTo>
                        <a:pt x="34925" y="0"/>
                      </a:lnTo>
                    </a:path>
                  </a:pathLst>
                </a:custGeom>
                <a:noFill/>
                <a:ln w="17463">
                  <a:solidFill>
                    <a:srgbClr val="B92102"/>
                  </a:solidFill>
                </a:ln>
              </p:spPr>
            </p:sp>
            <p:sp>
              <p:nvSpPr>
                <p:cNvPr id="103" name="Freeform 103"/>
                <p:cNvSpPr/>
                <p:nvPr/>
              </p:nvSpPr>
              <p:spPr>
                <a:xfrm>
                  <a:off x="459581" y="4219575"/>
                  <a:ext cx="17463" cy="9525"/>
                </a:xfrm>
                <a:custGeom>
                  <a:avLst/>
                  <a:gdLst/>
                  <a:ahLst/>
                  <a:cxnLst/>
                  <a:rect l="l" t="t" r="r" b="b"/>
                  <a:pathLst>
                    <a:path w="17463" h="9525">
                      <a:moveTo>
                        <a:pt x="0" y="0"/>
                      </a:moveTo>
                      <a:lnTo>
                        <a:pt x="17463" y="0"/>
                      </a:lnTo>
                    </a:path>
                  </a:pathLst>
                </a:custGeom>
                <a:noFill/>
                <a:ln w="17463">
                  <a:solidFill>
                    <a:srgbClr val="B92102"/>
                  </a:solidFill>
                </a:ln>
              </p:spPr>
            </p:sp>
          </p:grpSp>
          <p:sp>
            <p:nvSpPr>
              <p:cNvPr id="105" name="TextBox 105"/>
              <p:cNvSpPr txBox="1"/>
              <p:nvPr/>
            </p:nvSpPr>
            <p:spPr>
              <a:xfrm>
                <a:off x="681038" y="4165997"/>
                <a:ext cx="642239"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成交与复盘</a:t>
                </a:r>
              </a:p>
            </p:txBody>
          </p:sp>
          <p:sp>
            <p:nvSpPr>
              <p:cNvPr id="106" name="Rectangle 106"/>
              <p:cNvSpPr/>
              <p:nvPr/>
            </p:nvSpPr>
            <p:spPr>
              <a:xfrm>
                <a:off x="3324225" y="4095750"/>
                <a:ext cx="1371600" cy="247650"/>
              </a:xfrm>
              <a:prstGeom prst="roundRect">
                <a:avLst>
                  <a:gd name="adj" fmla="val 19231"/>
                </a:avLst>
              </a:prstGeom>
              <a:solidFill>
                <a:srgbClr val="FDCCC2"/>
              </a:solidFill>
              <a:ln>
                <a:noFill/>
              </a:ln>
            </p:spPr>
          </p:sp>
          <p:sp>
            <p:nvSpPr>
              <p:cNvPr id="107" name="TextBox 107"/>
              <p:cNvSpPr txBox="1"/>
              <p:nvPr/>
            </p:nvSpPr>
            <p:spPr>
              <a:xfrm>
                <a:off x="3550920" y="4176712"/>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条件协商与签约准备</a:t>
                </a:r>
              </a:p>
            </p:txBody>
          </p:sp>
          <p:sp>
            <p:nvSpPr>
              <p:cNvPr id="108" name="Rectangle 108"/>
              <p:cNvSpPr/>
              <p:nvPr/>
            </p:nvSpPr>
            <p:spPr>
              <a:xfrm>
                <a:off x="4810125" y="4095750"/>
                <a:ext cx="1371600" cy="247650"/>
              </a:xfrm>
              <a:prstGeom prst="roundRect">
                <a:avLst>
                  <a:gd name="adj" fmla="val 19231"/>
                </a:avLst>
              </a:prstGeom>
              <a:solidFill>
                <a:srgbClr val="F3AC9D"/>
              </a:solidFill>
              <a:ln>
                <a:noFill/>
              </a:ln>
            </p:spPr>
          </p:sp>
          <p:sp>
            <p:nvSpPr>
              <p:cNvPr id="109" name="TextBox 109"/>
              <p:cNvSpPr txBox="1"/>
              <p:nvPr/>
            </p:nvSpPr>
            <p:spPr>
              <a:xfrm>
                <a:off x="5289232" y="4176712"/>
                <a:ext cx="413385"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签约落地</a:t>
                </a:r>
              </a:p>
            </p:txBody>
          </p:sp>
          <p:sp>
            <p:nvSpPr>
              <p:cNvPr id="110" name="Rectangle 110"/>
              <p:cNvSpPr/>
              <p:nvPr/>
            </p:nvSpPr>
            <p:spPr>
              <a:xfrm>
                <a:off x="6296025" y="4095750"/>
                <a:ext cx="1371600" cy="247650"/>
              </a:xfrm>
              <a:prstGeom prst="roundRect">
                <a:avLst>
                  <a:gd name="adj" fmla="val 19231"/>
                </a:avLst>
              </a:prstGeom>
              <a:solidFill>
                <a:srgbClr val="FDCCC2"/>
              </a:solidFill>
              <a:ln>
                <a:noFill/>
              </a:ln>
            </p:spPr>
          </p:sp>
          <p:sp>
            <p:nvSpPr>
              <p:cNvPr id="111" name="TextBox 111"/>
              <p:cNvSpPr txBox="1"/>
              <p:nvPr/>
            </p:nvSpPr>
            <p:spPr>
              <a:xfrm>
                <a:off x="6522720" y="4176712"/>
                <a:ext cx="918210" cy="147638"/>
              </a:xfrm>
              <a:prstGeom prst="rect">
                <a:avLst/>
              </a:prstGeom>
              <a:noFill/>
              <a:ln>
                <a:noFill/>
              </a:ln>
            </p:spPr>
            <p:txBody>
              <a:bodyPr wrap="none" lIns="0" tIns="0" rIns="0" bIns="0" anchor="t" anchorCtr="0">
                <a:spAutoFit/>
              </a:bodyPr>
              <a:lstStyle/>
              <a:p>
                <a:pPr algn="ctr"/>
                <a:r>
                  <a:rPr lang="zh-CN" sz="750" dirty="0">
                    <a:solidFill>
                      <a:srgbClr val="6E1604"/>
                    </a:solidFill>
                    <a:latin typeface="+mn-lt"/>
                    <a:ea typeface="+mn-ea"/>
                    <a:cs typeface="+mn-cs"/>
                  </a:rPr>
                  <a:t>复盘总结与经验沉淀</a:t>
                </a:r>
              </a:p>
            </p:txBody>
          </p:sp>
        </p:grpSp>
      </p:grpSp>
      <p:grpSp>
        <p:nvGrpSpPr>
          <p:cNvPr id="174" name="raci"/>
          <p:cNvGrpSpPr/>
          <p:nvPr/>
        </p:nvGrpSpPr>
        <p:grpSpPr>
          <a:xfrm>
            <a:off x="266700" y="4610100"/>
            <a:ext cx="7448550" cy="1971437"/>
            <a:chOff x="266700" y="4610100"/>
            <a:chExt cx="7448550" cy="1971437"/>
          </a:xfrm>
        </p:grpSpPr>
        <p:sp>
          <p:nvSpPr>
            <p:cNvPr id="114" name="Rectangle 114"/>
            <p:cNvSpPr/>
            <p:nvPr/>
          </p:nvSpPr>
          <p:spPr>
            <a:xfrm>
              <a:off x="266700" y="4610100"/>
              <a:ext cx="7448550" cy="1962150"/>
            </a:xfrm>
            <a:prstGeom prst="roundRect">
              <a:avLst>
                <a:gd name="adj" fmla="val 3883"/>
              </a:avLst>
            </a:prstGeom>
            <a:solidFill>
              <a:srgbClr val="FFFFFF"/>
            </a:solidFill>
            <a:ln w="9525">
              <a:solidFill>
                <a:srgbClr val="F7D1C9"/>
              </a:solidFill>
            </a:ln>
          </p:spPr>
        </p:sp>
        <p:grpSp>
          <p:nvGrpSpPr>
            <p:cNvPr id="121" name="Group 121"/>
            <p:cNvGrpSpPr/>
            <p:nvPr/>
          </p:nvGrpSpPr>
          <p:grpSpPr>
            <a:xfrm>
              <a:off x="404812" y="4729162"/>
              <a:ext cx="142875" cy="142875"/>
              <a:chOff x="404812" y="4729162"/>
              <a:chExt cx="142875" cy="142875"/>
            </a:xfrm>
          </p:grpSpPr>
          <p:sp>
            <p:nvSpPr>
              <p:cNvPr id="115" name="Freeform 115"/>
              <p:cNvSpPr/>
              <p:nvPr/>
            </p:nvSpPr>
            <p:spPr>
              <a:xfrm>
                <a:off x="460375" y="47926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92102"/>
                </a:solidFill>
              </a:ln>
            </p:spPr>
          </p:sp>
          <p:sp>
            <p:nvSpPr>
              <p:cNvPr id="116" name="Freeform 116"/>
              <p:cNvSpPr/>
              <p:nvPr/>
            </p:nvSpPr>
            <p:spPr>
              <a:xfrm>
                <a:off x="444500" y="48482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B92102"/>
                </a:solidFill>
              </a:ln>
            </p:spPr>
          </p:sp>
          <p:sp>
            <p:nvSpPr>
              <p:cNvPr id="117" name="Freeform 117"/>
              <p:cNvSpPr/>
              <p:nvPr/>
            </p:nvSpPr>
            <p:spPr>
              <a:xfrm>
                <a:off x="500062" y="47291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92102"/>
                </a:solidFill>
              </a:ln>
            </p:spPr>
          </p:sp>
          <p:sp>
            <p:nvSpPr>
              <p:cNvPr id="118" name="Freeform 118"/>
              <p:cNvSpPr/>
              <p:nvPr/>
            </p:nvSpPr>
            <p:spPr>
              <a:xfrm>
                <a:off x="515937" y="47847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B92102"/>
                </a:solidFill>
              </a:ln>
            </p:spPr>
          </p:sp>
          <p:sp>
            <p:nvSpPr>
              <p:cNvPr id="119" name="Freeform 119"/>
              <p:cNvSpPr/>
              <p:nvPr/>
            </p:nvSpPr>
            <p:spPr>
              <a:xfrm>
                <a:off x="420687" y="47291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92102"/>
                </a:solidFill>
              </a:ln>
            </p:spPr>
          </p:sp>
          <p:sp>
            <p:nvSpPr>
              <p:cNvPr id="120" name="Freeform 120"/>
              <p:cNvSpPr/>
              <p:nvPr/>
            </p:nvSpPr>
            <p:spPr>
              <a:xfrm>
                <a:off x="404812" y="47847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B92102"/>
                </a:solidFill>
              </a:ln>
            </p:spPr>
          </p:sp>
        </p:grpSp>
        <p:sp>
          <p:nvSpPr>
            <p:cNvPr id="122" name="TextBox 122"/>
            <p:cNvSpPr txBox="1"/>
            <p:nvPr/>
          </p:nvSpPr>
          <p:spPr>
            <a:xfrm>
              <a:off x="642366" y="4744402"/>
              <a:ext cx="1126761"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RACI责任分工​​​</a:t>
              </a:r>
            </a:p>
          </p:txBody>
        </p:sp>
        <p:sp>
          <p:nvSpPr>
            <p:cNvPr id="123" name="Rectangle 123"/>
            <p:cNvSpPr/>
            <p:nvPr/>
          </p:nvSpPr>
          <p:spPr>
            <a:xfrm>
              <a:off x="266700" y="4953000"/>
              <a:ext cx="7448550" cy="247650"/>
            </a:xfrm>
            <a:prstGeom prst="rect">
              <a:avLst/>
            </a:prstGeom>
            <a:solidFill>
              <a:srgbClr val="B92102"/>
            </a:solidFill>
            <a:ln>
              <a:noFill/>
            </a:ln>
          </p:spPr>
        </p:sp>
        <p:sp>
          <p:nvSpPr>
            <p:cNvPr id="124" name="TextBox 124"/>
            <p:cNvSpPr txBox="1"/>
            <p:nvPr/>
          </p:nvSpPr>
          <p:spPr>
            <a:xfrm>
              <a:off x="817054" y="502729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任务</a:t>
              </a:r>
            </a:p>
          </p:txBody>
        </p:sp>
        <p:sp>
          <p:nvSpPr>
            <p:cNvPr id="125" name="TextBox 125"/>
            <p:cNvSpPr txBox="1"/>
            <p:nvPr/>
          </p:nvSpPr>
          <p:spPr>
            <a:xfrm>
              <a:off x="2134172" y="50272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区域经理</a:t>
              </a:r>
            </a:p>
          </p:txBody>
        </p:sp>
        <p:sp>
          <p:nvSpPr>
            <p:cNvPr id="126" name="TextBox 126"/>
            <p:cNvSpPr txBox="1"/>
            <p:nvPr/>
          </p:nvSpPr>
          <p:spPr>
            <a:xfrm>
              <a:off x="3684079" y="502729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网点</a:t>
              </a:r>
            </a:p>
          </p:txBody>
        </p:sp>
        <p:sp>
          <p:nvSpPr>
            <p:cNvPr id="127" name="TextBox 127"/>
            <p:cNvSpPr txBox="1"/>
            <p:nvPr/>
          </p:nvSpPr>
          <p:spPr>
            <a:xfrm>
              <a:off x="4896421" y="50272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客户经理</a:t>
              </a:r>
            </a:p>
          </p:txBody>
        </p:sp>
        <p:sp>
          <p:nvSpPr>
            <p:cNvPr id="128" name="TextBox 128"/>
            <p:cNvSpPr txBox="1"/>
            <p:nvPr/>
          </p:nvSpPr>
          <p:spPr>
            <a:xfrm>
              <a:off x="6039421" y="50272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产品团队</a:t>
              </a:r>
            </a:p>
          </p:txBody>
        </p:sp>
        <p:sp>
          <p:nvSpPr>
            <p:cNvPr id="129" name="TextBox 129"/>
            <p:cNvSpPr txBox="1"/>
            <p:nvPr/>
          </p:nvSpPr>
          <p:spPr>
            <a:xfrm>
              <a:off x="6991921" y="50272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风控运营</a:t>
              </a:r>
            </a:p>
          </p:txBody>
        </p:sp>
        <p:sp>
          <p:nvSpPr>
            <p:cNvPr id="130" name="Rectangle 130"/>
            <p:cNvSpPr/>
            <p:nvPr/>
          </p:nvSpPr>
          <p:spPr>
            <a:xfrm>
              <a:off x="276225" y="5429250"/>
              <a:ext cx="7429500" cy="228600"/>
            </a:xfrm>
            <a:prstGeom prst="rect">
              <a:avLst/>
            </a:prstGeom>
            <a:solidFill>
              <a:srgbClr val="F2F7FE"/>
            </a:solidFill>
            <a:ln>
              <a:noFill/>
            </a:ln>
          </p:spPr>
        </p:sp>
        <p:sp>
          <p:nvSpPr>
            <p:cNvPr id="131" name="Rectangle 131"/>
            <p:cNvSpPr/>
            <p:nvPr/>
          </p:nvSpPr>
          <p:spPr>
            <a:xfrm>
              <a:off x="276225" y="5886450"/>
              <a:ext cx="7429500" cy="228600"/>
            </a:xfrm>
            <a:prstGeom prst="rect">
              <a:avLst/>
            </a:prstGeom>
            <a:solidFill>
              <a:srgbClr val="F2F7FE"/>
            </a:solidFill>
            <a:ln>
              <a:noFill/>
            </a:ln>
          </p:spPr>
        </p:sp>
        <p:sp>
          <p:nvSpPr>
            <p:cNvPr id="132" name="Rectangle 132"/>
            <p:cNvSpPr/>
            <p:nvPr/>
          </p:nvSpPr>
          <p:spPr>
            <a:xfrm>
              <a:off x="276225" y="6343650"/>
              <a:ext cx="7429500" cy="219075"/>
            </a:xfrm>
            <a:prstGeom prst="rect">
              <a:avLst/>
            </a:prstGeom>
            <a:solidFill>
              <a:srgbClr val="F2F7FE"/>
            </a:solidFill>
            <a:ln>
              <a:noFill/>
            </a:ln>
          </p:spPr>
        </p:sp>
        <p:sp>
          <p:nvSpPr>
            <p:cNvPr id="133" name="Line 133"/>
            <p:cNvSpPr/>
            <p:nvPr/>
          </p:nvSpPr>
          <p:spPr>
            <a:xfrm>
              <a:off x="1619250" y="5200650"/>
              <a:ext cx="9525" cy="1371600"/>
            </a:xfrm>
            <a:custGeom>
              <a:avLst/>
              <a:gdLst/>
              <a:ahLst/>
              <a:cxnLst/>
              <a:rect l="l" t="t" r="r" b="b"/>
              <a:pathLst>
                <a:path w="9525" h="1371600">
                  <a:moveTo>
                    <a:pt x="0" y="0"/>
                  </a:moveTo>
                  <a:lnTo>
                    <a:pt x="0" y="1371600"/>
                  </a:lnTo>
                </a:path>
              </a:pathLst>
            </a:custGeom>
            <a:noFill/>
            <a:ln w="9525">
              <a:solidFill>
                <a:srgbClr val="DCE6F8"/>
              </a:solidFill>
            </a:ln>
          </p:spPr>
        </p:sp>
        <p:sp>
          <p:nvSpPr>
            <p:cNvPr id="134" name="Line 134"/>
            <p:cNvSpPr/>
            <p:nvPr/>
          </p:nvSpPr>
          <p:spPr>
            <a:xfrm>
              <a:off x="3143250" y="5200650"/>
              <a:ext cx="9525" cy="1371600"/>
            </a:xfrm>
            <a:custGeom>
              <a:avLst/>
              <a:gdLst/>
              <a:ahLst/>
              <a:cxnLst/>
              <a:rect l="l" t="t" r="r" b="b"/>
              <a:pathLst>
                <a:path w="9525" h="1371600">
                  <a:moveTo>
                    <a:pt x="0" y="0"/>
                  </a:moveTo>
                  <a:lnTo>
                    <a:pt x="0" y="1371600"/>
                  </a:lnTo>
                </a:path>
              </a:pathLst>
            </a:custGeom>
            <a:noFill/>
            <a:ln w="9525">
              <a:solidFill>
                <a:srgbClr val="DCE6F8"/>
              </a:solidFill>
            </a:ln>
          </p:spPr>
        </p:sp>
        <p:sp>
          <p:nvSpPr>
            <p:cNvPr id="135" name="Line 135"/>
            <p:cNvSpPr/>
            <p:nvPr/>
          </p:nvSpPr>
          <p:spPr>
            <a:xfrm>
              <a:off x="4476750" y="5200650"/>
              <a:ext cx="9525" cy="1371600"/>
            </a:xfrm>
            <a:custGeom>
              <a:avLst/>
              <a:gdLst/>
              <a:ahLst/>
              <a:cxnLst/>
              <a:rect l="l" t="t" r="r" b="b"/>
              <a:pathLst>
                <a:path w="9525" h="1371600">
                  <a:moveTo>
                    <a:pt x="0" y="0"/>
                  </a:moveTo>
                  <a:lnTo>
                    <a:pt x="0" y="1371600"/>
                  </a:lnTo>
                </a:path>
              </a:pathLst>
            </a:custGeom>
            <a:noFill/>
            <a:ln w="9525">
              <a:solidFill>
                <a:srgbClr val="DCE6F8"/>
              </a:solidFill>
            </a:ln>
          </p:spPr>
        </p:sp>
        <p:sp>
          <p:nvSpPr>
            <p:cNvPr id="136" name="Line 136"/>
            <p:cNvSpPr/>
            <p:nvPr/>
          </p:nvSpPr>
          <p:spPr>
            <a:xfrm>
              <a:off x="5810250" y="5200650"/>
              <a:ext cx="9525" cy="1371600"/>
            </a:xfrm>
            <a:custGeom>
              <a:avLst/>
              <a:gdLst/>
              <a:ahLst/>
              <a:cxnLst/>
              <a:rect l="l" t="t" r="r" b="b"/>
              <a:pathLst>
                <a:path w="9525" h="1371600">
                  <a:moveTo>
                    <a:pt x="0" y="0"/>
                  </a:moveTo>
                  <a:lnTo>
                    <a:pt x="0" y="1371600"/>
                  </a:lnTo>
                </a:path>
              </a:pathLst>
            </a:custGeom>
            <a:noFill/>
            <a:ln w="9525">
              <a:solidFill>
                <a:srgbClr val="DCE6F8"/>
              </a:solidFill>
            </a:ln>
          </p:spPr>
        </p:sp>
        <p:sp>
          <p:nvSpPr>
            <p:cNvPr id="137" name="Line 137"/>
            <p:cNvSpPr/>
            <p:nvPr/>
          </p:nvSpPr>
          <p:spPr>
            <a:xfrm>
              <a:off x="6762750" y="5200650"/>
              <a:ext cx="9525" cy="1371600"/>
            </a:xfrm>
            <a:custGeom>
              <a:avLst/>
              <a:gdLst/>
              <a:ahLst/>
              <a:cxnLst/>
              <a:rect l="l" t="t" r="r" b="b"/>
              <a:pathLst>
                <a:path w="9525" h="1371600">
                  <a:moveTo>
                    <a:pt x="0" y="0"/>
                  </a:moveTo>
                  <a:lnTo>
                    <a:pt x="0" y="1371600"/>
                  </a:lnTo>
                </a:path>
              </a:pathLst>
            </a:custGeom>
            <a:noFill/>
            <a:ln w="9525">
              <a:solidFill>
                <a:srgbClr val="DCE6F8"/>
              </a:solidFill>
            </a:ln>
          </p:spPr>
        </p:sp>
        <p:sp>
          <p:nvSpPr>
            <p:cNvPr id="138" name="TextBox 138"/>
            <p:cNvSpPr txBox="1"/>
            <p:nvPr/>
          </p:nvSpPr>
          <p:spPr>
            <a:xfrm>
              <a:off x="607047" y="5273516"/>
              <a:ext cx="671855" cy="161925"/>
            </a:xfrm>
            <a:prstGeom prst="rect">
              <a:avLst/>
            </a:prstGeom>
            <a:noFill/>
            <a:ln>
              <a:noFill/>
            </a:ln>
          </p:spPr>
          <p:txBody>
            <a:bodyPr wrap="none" lIns="0" tIns="0" rIns="0" bIns="0" anchor="t" anchorCtr="0">
              <a:spAutoFit/>
            </a:bodyPr>
            <a:lstStyle/>
            <a:p>
              <a:pPr algn="ctr"/>
              <a:r>
                <a:rPr lang="zh-CN" sz="820" dirty="0">
                  <a:solidFill>
                    <a:srgbClr val="44251F"/>
                  </a:solidFill>
                  <a:latin typeface="+mn-lt"/>
                  <a:ea typeface="+mn-ea"/>
                  <a:cs typeface="+mn-cs"/>
                </a:rPr>
                <a:t>客户名单清洗</a:t>
              </a:r>
            </a:p>
          </p:txBody>
        </p:sp>
        <p:sp>
          <p:nvSpPr>
            <p:cNvPr id="139" name="TextBox 139"/>
            <p:cNvSpPr txBox="1"/>
            <p:nvPr/>
          </p:nvSpPr>
          <p:spPr>
            <a:xfrm>
              <a:off x="2305844" y="5269468"/>
              <a:ext cx="150812" cy="169069"/>
            </a:xfrm>
            <a:prstGeom prst="rect">
              <a:avLst/>
            </a:prstGeom>
            <a:noFill/>
            <a:ln>
              <a:noFill/>
            </a:ln>
          </p:spPr>
          <p:txBody>
            <a:bodyPr wrap="none" lIns="0" tIns="0" rIns="0" bIns="0" anchor="t" anchorCtr="0">
              <a:spAutoFit/>
            </a:bodyPr>
            <a:lstStyle/>
            <a:p>
              <a:pPr algn="ctr"/>
              <a:r>
                <a:rPr lang="en-US" sz="860" b="1" dirty="0">
                  <a:solidFill>
                    <a:srgbClr val="B92102"/>
                  </a:solidFill>
                  <a:latin typeface="+mn-lt"/>
                  <a:ea typeface="+mn-ea"/>
                  <a:cs typeface="+mn-cs"/>
                </a:rPr>
                <a:t>A​</a:t>
              </a:r>
            </a:p>
          </p:txBody>
        </p:sp>
        <p:sp>
          <p:nvSpPr>
            <p:cNvPr id="140" name="TextBox 140"/>
            <p:cNvSpPr txBox="1"/>
            <p:nvPr/>
          </p:nvSpPr>
          <p:spPr>
            <a:xfrm>
              <a:off x="3737958" y="52694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41" name="TextBox 141"/>
            <p:cNvSpPr txBox="1"/>
            <p:nvPr/>
          </p:nvSpPr>
          <p:spPr>
            <a:xfrm>
              <a:off x="5068094" y="52694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sp>
          <p:nvSpPr>
            <p:cNvPr id="142" name="TextBox 142"/>
            <p:cNvSpPr txBox="1"/>
            <p:nvPr/>
          </p:nvSpPr>
          <p:spPr>
            <a:xfrm>
              <a:off x="6214458" y="52694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43" name="TextBox 143"/>
            <p:cNvSpPr txBox="1"/>
            <p:nvPr/>
          </p:nvSpPr>
          <p:spPr>
            <a:xfrm>
              <a:off x="7182249" y="5269468"/>
              <a:ext cx="113502" cy="169069"/>
            </a:xfrm>
            <a:prstGeom prst="rect">
              <a:avLst/>
            </a:prstGeom>
            <a:noFill/>
            <a:ln>
              <a:noFill/>
            </a:ln>
          </p:spPr>
          <p:txBody>
            <a:bodyPr wrap="none" lIns="0" tIns="0" rIns="0" bIns="0" anchor="t" anchorCtr="0">
              <a:spAutoFit/>
            </a:bodyPr>
            <a:lstStyle/>
            <a:p>
              <a:pPr algn="ctr"/>
              <a:r>
                <a:rPr lang="en-US" sz="860" dirty="0">
                  <a:solidFill>
                    <a:srgbClr val="6B7280"/>
                  </a:solidFill>
                  <a:latin typeface="+mn-lt"/>
                  <a:ea typeface="+mn-ea"/>
                  <a:cs typeface="+mn-cs"/>
                </a:rPr>
                <a:t>I​</a:t>
              </a:r>
            </a:p>
          </p:txBody>
        </p:sp>
        <p:sp>
          <p:nvSpPr>
            <p:cNvPr id="144" name="TextBox 144"/>
            <p:cNvSpPr txBox="1"/>
            <p:nvPr/>
          </p:nvSpPr>
          <p:spPr>
            <a:xfrm>
              <a:off x="607047" y="5502116"/>
              <a:ext cx="671855" cy="161925"/>
            </a:xfrm>
            <a:prstGeom prst="rect">
              <a:avLst/>
            </a:prstGeom>
            <a:noFill/>
            <a:ln>
              <a:noFill/>
            </a:ln>
          </p:spPr>
          <p:txBody>
            <a:bodyPr wrap="none" lIns="0" tIns="0" rIns="0" bIns="0" anchor="t" anchorCtr="0">
              <a:spAutoFit/>
            </a:bodyPr>
            <a:lstStyle/>
            <a:p>
              <a:pPr algn="ctr"/>
              <a:r>
                <a:rPr lang="zh-CN" sz="820" dirty="0">
                  <a:solidFill>
                    <a:srgbClr val="44251F"/>
                  </a:solidFill>
                  <a:latin typeface="+mn-lt"/>
                  <a:ea typeface="+mn-ea"/>
                  <a:cs typeface="+mn-cs"/>
                </a:rPr>
                <a:t>重点客户拜访</a:t>
              </a:r>
            </a:p>
          </p:txBody>
        </p:sp>
        <p:sp>
          <p:nvSpPr>
            <p:cNvPr id="145" name="TextBox 145"/>
            <p:cNvSpPr txBox="1"/>
            <p:nvPr/>
          </p:nvSpPr>
          <p:spPr>
            <a:xfrm>
              <a:off x="2305844" y="5498068"/>
              <a:ext cx="150812" cy="169069"/>
            </a:xfrm>
            <a:prstGeom prst="rect">
              <a:avLst/>
            </a:prstGeom>
            <a:noFill/>
            <a:ln>
              <a:noFill/>
            </a:ln>
          </p:spPr>
          <p:txBody>
            <a:bodyPr wrap="none" lIns="0" tIns="0" rIns="0" bIns="0" anchor="t" anchorCtr="0">
              <a:spAutoFit/>
            </a:bodyPr>
            <a:lstStyle/>
            <a:p>
              <a:pPr algn="ctr"/>
              <a:r>
                <a:rPr lang="en-US" sz="860" b="1" dirty="0">
                  <a:solidFill>
                    <a:srgbClr val="B92102"/>
                  </a:solidFill>
                  <a:latin typeface="+mn-lt"/>
                  <a:ea typeface="+mn-ea"/>
                  <a:cs typeface="+mn-cs"/>
                </a:rPr>
                <a:t>A​</a:t>
              </a:r>
            </a:p>
          </p:txBody>
        </p:sp>
        <p:sp>
          <p:nvSpPr>
            <p:cNvPr id="146" name="TextBox 146"/>
            <p:cNvSpPr txBox="1"/>
            <p:nvPr/>
          </p:nvSpPr>
          <p:spPr>
            <a:xfrm>
              <a:off x="3737958" y="54980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47" name="TextBox 147"/>
            <p:cNvSpPr txBox="1"/>
            <p:nvPr/>
          </p:nvSpPr>
          <p:spPr>
            <a:xfrm>
              <a:off x="5068094" y="54980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sp>
          <p:nvSpPr>
            <p:cNvPr id="148" name="TextBox 148"/>
            <p:cNvSpPr txBox="1"/>
            <p:nvPr/>
          </p:nvSpPr>
          <p:spPr>
            <a:xfrm>
              <a:off x="6214458" y="54980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49" name="TextBox 149"/>
            <p:cNvSpPr txBox="1"/>
            <p:nvPr/>
          </p:nvSpPr>
          <p:spPr>
            <a:xfrm>
              <a:off x="7182249" y="5498068"/>
              <a:ext cx="113502" cy="169069"/>
            </a:xfrm>
            <a:prstGeom prst="rect">
              <a:avLst/>
            </a:prstGeom>
            <a:noFill/>
            <a:ln>
              <a:noFill/>
            </a:ln>
          </p:spPr>
          <p:txBody>
            <a:bodyPr wrap="none" lIns="0" tIns="0" rIns="0" bIns="0" anchor="t" anchorCtr="0">
              <a:spAutoFit/>
            </a:bodyPr>
            <a:lstStyle/>
            <a:p>
              <a:pPr algn="ctr"/>
              <a:r>
                <a:rPr lang="en-US" sz="860" dirty="0">
                  <a:solidFill>
                    <a:srgbClr val="6B7280"/>
                  </a:solidFill>
                  <a:latin typeface="+mn-lt"/>
                  <a:ea typeface="+mn-ea"/>
                  <a:cs typeface="+mn-cs"/>
                </a:rPr>
                <a:t>I​</a:t>
              </a:r>
            </a:p>
          </p:txBody>
        </p:sp>
        <p:sp>
          <p:nvSpPr>
            <p:cNvPr id="150" name="TextBox 150"/>
            <p:cNvSpPr txBox="1"/>
            <p:nvPr/>
          </p:nvSpPr>
          <p:spPr>
            <a:xfrm>
              <a:off x="607047" y="5730716"/>
              <a:ext cx="671855" cy="161925"/>
            </a:xfrm>
            <a:prstGeom prst="rect">
              <a:avLst/>
            </a:prstGeom>
            <a:noFill/>
            <a:ln>
              <a:noFill/>
            </a:ln>
          </p:spPr>
          <p:txBody>
            <a:bodyPr wrap="none" lIns="0" tIns="0" rIns="0" bIns="0" anchor="t" anchorCtr="0">
              <a:spAutoFit/>
            </a:bodyPr>
            <a:lstStyle/>
            <a:p>
              <a:pPr algn="ctr"/>
              <a:r>
                <a:rPr lang="zh-CN" sz="820" dirty="0">
                  <a:solidFill>
                    <a:srgbClr val="44251F"/>
                  </a:solidFill>
                  <a:latin typeface="+mn-lt"/>
                  <a:ea typeface="+mn-ea"/>
                  <a:cs typeface="+mn-cs"/>
                </a:rPr>
                <a:t>主题营销活动</a:t>
              </a:r>
            </a:p>
          </p:txBody>
        </p:sp>
        <p:sp>
          <p:nvSpPr>
            <p:cNvPr id="151" name="TextBox 151"/>
            <p:cNvSpPr txBox="1"/>
            <p:nvPr/>
          </p:nvSpPr>
          <p:spPr>
            <a:xfrm>
              <a:off x="2305844" y="5726668"/>
              <a:ext cx="150812" cy="169069"/>
            </a:xfrm>
            <a:prstGeom prst="rect">
              <a:avLst/>
            </a:prstGeom>
            <a:noFill/>
            <a:ln>
              <a:noFill/>
            </a:ln>
          </p:spPr>
          <p:txBody>
            <a:bodyPr wrap="none" lIns="0" tIns="0" rIns="0" bIns="0" anchor="t" anchorCtr="0">
              <a:spAutoFit/>
            </a:bodyPr>
            <a:lstStyle/>
            <a:p>
              <a:pPr algn="ctr"/>
              <a:r>
                <a:rPr lang="en-US" sz="860" b="1" dirty="0">
                  <a:solidFill>
                    <a:srgbClr val="B92102"/>
                  </a:solidFill>
                  <a:latin typeface="+mn-lt"/>
                  <a:ea typeface="+mn-ea"/>
                  <a:cs typeface="+mn-cs"/>
                </a:rPr>
                <a:t>A​</a:t>
              </a:r>
            </a:p>
          </p:txBody>
        </p:sp>
        <p:sp>
          <p:nvSpPr>
            <p:cNvPr id="152" name="TextBox 152"/>
            <p:cNvSpPr txBox="1"/>
            <p:nvPr/>
          </p:nvSpPr>
          <p:spPr>
            <a:xfrm>
              <a:off x="3734594" y="57266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sp>
          <p:nvSpPr>
            <p:cNvPr id="153" name="TextBox 153"/>
            <p:cNvSpPr txBox="1"/>
            <p:nvPr/>
          </p:nvSpPr>
          <p:spPr>
            <a:xfrm>
              <a:off x="5068094" y="57266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sp>
          <p:nvSpPr>
            <p:cNvPr id="154" name="TextBox 154"/>
            <p:cNvSpPr txBox="1"/>
            <p:nvPr/>
          </p:nvSpPr>
          <p:spPr>
            <a:xfrm>
              <a:off x="6214458" y="57266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55" name="TextBox 155"/>
            <p:cNvSpPr txBox="1"/>
            <p:nvPr/>
          </p:nvSpPr>
          <p:spPr>
            <a:xfrm>
              <a:off x="7182249" y="5726668"/>
              <a:ext cx="113502" cy="169069"/>
            </a:xfrm>
            <a:prstGeom prst="rect">
              <a:avLst/>
            </a:prstGeom>
            <a:noFill/>
            <a:ln>
              <a:noFill/>
            </a:ln>
          </p:spPr>
          <p:txBody>
            <a:bodyPr wrap="none" lIns="0" tIns="0" rIns="0" bIns="0" anchor="t" anchorCtr="0">
              <a:spAutoFit/>
            </a:bodyPr>
            <a:lstStyle/>
            <a:p>
              <a:pPr algn="ctr"/>
              <a:r>
                <a:rPr lang="en-US" sz="860" dirty="0">
                  <a:solidFill>
                    <a:srgbClr val="6B7280"/>
                  </a:solidFill>
                  <a:latin typeface="+mn-lt"/>
                  <a:ea typeface="+mn-ea"/>
                  <a:cs typeface="+mn-cs"/>
                </a:rPr>
                <a:t>I​</a:t>
              </a:r>
            </a:p>
          </p:txBody>
        </p:sp>
        <p:sp>
          <p:nvSpPr>
            <p:cNvPr id="156" name="TextBox 156"/>
            <p:cNvSpPr txBox="1"/>
            <p:nvPr/>
          </p:nvSpPr>
          <p:spPr>
            <a:xfrm>
              <a:off x="607047" y="5959316"/>
              <a:ext cx="671855" cy="161925"/>
            </a:xfrm>
            <a:prstGeom prst="rect">
              <a:avLst/>
            </a:prstGeom>
            <a:noFill/>
            <a:ln>
              <a:noFill/>
            </a:ln>
          </p:spPr>
          <p:txBody>
            <a:bodyPr wrap="none" lIns="0" tIns="0" rIns="0" bIns="0" anchor="t" anchorCtr="0">
              <a:spAutoFit/>
            </a:bodyPr>
            <a:lstStyle/>
            <a:p>
              <a:pPr algn="ctr"/>
              <a:r>
                <a:rPr lang="zh-CN" sz="820" dirty="0">
                  <a:solidFill>
                    <a:srgbClr val="44251F"/>
                  </a:solidFill>
                  <a:latin typeface="+mn-lt"/>
                  <a:ea typeface="+mn-ea"/>
                  <a:cs typeface="+mn-cs"/>
                </a:rPr>
                <a:t>方案联合评审</a:t>
              </a:r>
            </a:p>
          </p:txBody>
        </p:sp>
        <p:sp>
          <p:nvSpPr>
            <p:cNvPr id="157" name="TextBox 157"/>
            <p:cNvSpPr txBox="1"/>
            <p:nvPr/>
          </p:nvSpPr>
          <p:spPr>
            <a:xfrm>
              <a:off x="2305844" y="5955268"/>
              <a:ext cx="150812" cy="169069"/>
            </a:xfrm>
            <a:prstGeom prst="rect">
              <a:avLst/>
            </a:prstGeom>
            <a:noFill/>
            <a:ln>
              <a:noFill/>
            </a:ln>
          </p:spPr>
          <p:txBody>
            <a:bodyPr wrap="none" lIns="0" tIns="0" rIns="0" bIns="0" anchor="t" anchorCtr="0">
              <a:spAutoFit/>
            </a:bodyPr>
            <a:lstStyle/>
            <a:p>
              <a:pPr algn="ctr"/>
              <a:r>
                <a:rPr lang="en-US" sz="860" b="1" dirty="0">
                  <a:solidFill>
                    <a:srgbClr val="B92102"/>
                  </a:solidFill>
                  <a:latin typeface="+mn-lt"/>
                  <a:ea typeface="+mn-ea"/>
                  <a:cs typeface="+mn-cs"/>
                </a:rPr>
                <a:t>A​</a:t>
              </a:r>
            </a:p>
          </p:txBody>
        </p:sp>
        <p:sp>
          <p:nvSpPr>
            <p:cNvPr id="158" name="TextBox 158"/>
            <p:cNvSpPr txBox="1"/>
            <p:nvPr/>
          </p:nvSpPr>
          <p:spPr>
            <a:xfrm>
              <a:off x="3737958" y="59552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59" name="TextBox 159"/>
            <p:cNvSpPr txBox="1"/>
            <p:nvPr/>
          </p:nvSpPr>
          <p:spPr>
            <a:xfrm>
              <a:off x="5068094" y="59552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sp>
          <p:nvSpPr>
            <p:cNvPr id="160" name="TextBox 160"/>
            <p:cNvSpPr txBox="1"/>
            <p:nvPr/>
          </p:nvSpPr>
          <p:spPr>
            <a:xfrm>
              <a:off x="6211094" y="59552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sp>
          <p:nvSpPr>
            <p:cNvPr id="161" name="TextBox 161"/>
            <p:cNvSpPr txBox="1"/>
            <p:nvPr/>
          </p:nvSpPr>
          <p:spPr>
            <a:xfrm>
              <a:off x="7166958" y="59552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62" name="TextBox 162"/>
            <p:cNvSpPr txBox="1"/>
            <p:nvPr/>
          </p:nvSpPr>
          <p:spPr>
            <a:xfrm>
              <a:off x="533577" y="6187916"/>
              <a:ext cx="818797" cy="161925"/>
            </a:xfrm>
            <a:prstGeom prst="rect">
              <a:avLst/>
            </a:prstGeom>
            <a:noFill/>
            <a:ln>
              <a:noFill/>
            </a:ln>
          </p:spPr>
          <p:txBody>
            <a:bodyPr wrap="none" lIns="0" tIns="0" rIns="0" bIns="0" anchor="t" anchorCtr="0">
              <a:spAutoFit/>
            </a:bodyPr>
            <a:lstStyle/>
            <a:p>
              <a:pPr algn="ctr"/>
              <a:r>
                <a:rPr lang="zh-CN" sz="820" dirty="0">
                  <a:solidFill>
                    <a:srgbClr val="44251F"/>
                  </a:solidFill>
                  <a:latin typeface="+mn-lt"/>
                  <a:ea typeface="+mn-ea"/>
                  <a:cs typeface="+mn-cs"/>
                </a:rPr>
                <a:t>Top商机攻坚​​​</a:t>
              </a:r>
            </a:p>
          </p:txBody>
        </p:sp>
        <p:sp>
          <p:nvSpPr>
            <p:cNvPr id="163" name="TextBox 163"/>
            <p:cNvSpPr txBox="1"/>
            <p:nvPr/>
          </p:nvSpPr>
          <p:spPr>
            <a:xfrm>
              <a:off x="2305844" y="6183868"/>
              <a:ext cx="150812" cy="169069"/>
            </a:xfrm>
            <a:prstGeom prst="rect">
              <a:avLst/>
            </a:prstGeom>
            <a:noFill/>
            <a:ln>
              <a:noFill/>
            </a:ln>
          </p:spPr>
          <p:txBody>
            <a:bodyPr wrap="none" lIns="0" tIns="0" rIns="0" bIns="0" anchor="t" anchorCtr="0">
              <a:spAutoFit/>
            </a:bodyPr>
            <a:lstStyle/>
            <a:p>
              <a:pPr algn="ctr"/>
              <a:r>
                <a:rPr lang="en-US" sz="860" b="1" dirty="0">
                  <a:solidFill>
                    <a:srgbClr val="B92102"/>
                  </a:solidFill>
                  <a:latin typeface="+mn-lt"/>
                  <a:ea typeface="+mn-ea"/>
                  <a:cs typeface="+mn-cs"/>
                </a:rPr>
                <a:t>A​</a:t>
              </a:r>
            </a:p>
          </p:txBody>
        </p:sp>
        <p:sp>
          <p:nvSpPr>
            <p:cNvPr id="164" name="TextBox 164"/>
            <p:cNvSpPr txBox="1"/>
            <p:nvPr/>
          </p:nvSpPr>
          <p:spPr>
            <a:xfrm>
              <a:off x="3737958" y="61838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65" name="TextBox 165"/>
            <p:cNvSpPr txBox="1"/>
            <p:nvPr/>
          </p:nvSpPr>
          <p:spPr>
            <a:xfrm>
              <a:off x="5068094" y="61838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sp>
          <p:nvSpPr>
            <p:cNvPr id="166" name="TextBox 166"/>
            <p:cNvSpPr txBox="1"/>
            <p:nvPr/>
          </p:nvSpPr>
          <p:spPr>
            <a:xfrm>
              <a:off x="6211094" y="61838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sp>
          <p:nvSpPr>
            <p:cNvPr id="167" name="TextBox 167"/>
            <p:cNvSpPr txBox="1"/>
            <p:nvPr/>
          </p:nvSpPr>
          <p:spPr>
            <a:xfrm>
              <a:off x="7166958" y="61838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68" name="TextBox 168"/>
            <p:cNvSpPr txBox="1"/>
            <p:nvPr/>
          </p:nvSpPr>
          <p:spPr>
            <a:xfrm>
              <a:off x="662242" y="6416516"/>
              <a:ext cx="561467" cy="161925"/>
            </a:xfrm>
            <a:prstGeom prst="rect">
              <a:avLst/>
            </a:prstGeom>
            <a:noFill/>
            <a:ln>
              <a:noFill/>
            </a:ln>
          </p:spPr>
          <p:txBody>
            <a:bodyPr wrap="none" lIns="0" tIns="0" rIns="0" bIns="0" anchor="t" anchorCtr="0">
              <a:spAutoFit/>
            </a:bodyPr>
            <a:lstStyle/>
            <a:p>
              <a:pPr algn="ctr"/>
              <a:r>
                <a:rPr lang="zh-CN" sz="820" dirty="0">
                  <a:solidFill>
                    <a:srgbClr val="44251F"/>
                  </a:solidFill>
                  <a:latin typeface="+mn-lt"/>
                  <a:ea typeface="+mn-ea"/>
                  <a:cs typeface="+mn-cs"/>
                </a:rPr>
                <a:t>成交与复盘</a:t>
              </a:r>
            </a:p>
          </p:txBody>
        </p:sp>
        <p:sp>
          <p:nvSpPr>
            <p:cNvPr id="169" name="TextBox 169"/>
            <p:cNvSpPr txBox="1"/>
            <p:nvPr/>
          </p:nvSpPr>
          <p:spPr>
            <a:xfrm>
              <a:off x="2305844" y="6412468"/>
              <a:ext cx="150812" cy="169069"/>
            </a:xfrm>
            <a:prstGeom prst="rect">
              <a:avLst/>
            </a:prstGeom>
            <a:noFill/>
            <a:ln>
              <a:noFill/>
            </a:ln>
          </p:spPr>
          <p:txBody>
            <a:bodyPr wrap="none" lIns="0" tIns="0" rIns="0" bIns="0" anchor="t" anchorCtr="0">
              <a:spAutoFit/>
            </a:bodyPr>
            <a:lstStyle/>
            <a:p>
              <a:pPr algn="ctr"/>
              <a:r>
                <a:rPr lang="en-US" sz="860" b="1" dirty="0">
                  <a:solidFill>
                    <a:srgbClr val="B92102"/>
                  </a:solidFill>
                  <a:latin typeface="+mn-lt"/>
                  <a:ea typeface="+mn-ea"/>
                  <a:cs typeface="+mn-cs"/>
                </a:rPr>
                <a:t>A​</a:t>
              </a:r>
            </a:p>
          </p:txBody>
        </p:sp>
        <p:sp>
          <p:nvSpPr>
            <p:cNvPr id="170" name="TextBox 170"/>
            <p:cNvSpPr txBox="1"/>
            <p:nvPr/>
          </p:nvSpPr>
          <p:spPr>
            <a:xfrm>
              <a:off x="3737958" y="64124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71" name="TextBox 171"/>
            <p:cNvSpPr txBox="1"/>
            <p:nvPr/>
          </p:nvSpPr>
          <p:spPr>
            <a:xfrm>
              <a:off x="5068094" y="64124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sp>
          <p:nvSpPr>
            <p:cNvPr id="172" name="TextBox 172"/>
            <p:cNvSpPr txBox="1"/>
            <p:nvPr/>
          </p:nvSpPr>
          <p:spPr>
            <a:xfrm>
              <a:off x="6214458" y="6412468"/>
              <a:ext cx="144084" cy="169069"/>
            </a:xfrm>
            <a:prstGeom prst="rect">
              <a:avLst/>
            </a:prstGeom>
            <a:noFill/>
            <a:ln>
              <a:noFill/>
            </a:ln>
          </p:spPr>
          <p:txBody>
            <a:bodyPr wrap="none" lIns="0" tIns="0" rIns="0" bIns="0" anchor="t" anchorCtr="0">
              <a:spAutoFit/>
            </a:bodyPr>
            <a:lstStyle/>
            <a:p>
              <a:pPr algn="ctr"/>
              <a:r>
                <a:rPr lang="en-US" sz="860" dirty="0">
                  <a:solidFill>
                    <a:srgbClr val="473633"/>
                  </a:solidFill>
                  <a:latin typeface="+mn-lt"/>
                  <a:ea typeface="+mn-ea"/>
                  <a:cs typeface="+mn-cs"/>
                </a:rPr>
                <a:t>C​</a:t>
              </a:r>
            </a:p>
          </p:txBody>
        </p:sp>
        <p:sp>
          <p:nvSpPr>
            <p:cNvPr id="173" name="TextBox 173"/>
            <p:cNvSpPr txBox="1"/>
            <p:nvPr/>
          </p:nvSpPr>
          <p:spPr>
            <a:xfrm>
              <a:off x="7163594" y="6412468"/>
              <a:ext cx="150812" cy="169069"/>
            </a:xfrm>
            <a:prstGeom prst="rect">
              <a:avLst/>
            </a:prstGeom>
            <a:noFill/>
            <a:ln>
              <a:noFill/>
            </a:ln>
          </p:spPr>
          <p:txBody>
            <a:bodyPr wrap="none" lIns="0" tIns="0" rIns="0" bIns="0" anchor="t" anchorCtr="0">
              <a:spAutoFit/>
            </a:bodyPr>
            <a:lstStyle/>
            <a:p>
              <a:pPr algn="ctr"/>
              <a:r>
                <a:rPr lang="en-US" sz="860" b="1" dirty="0">
                  <a:solidFill>
                    <a:srgbClr val="D44B2F"/>
                  </a:solidFill>
                  <a:latin typeface="+mn-lt"/>
                  <a:ea typeface="+mn-ea"/>
                  <a:cs typeface="+mn-cs"/>
                </a:rPr>
                <a:t>R​</a:t>
              </a:r>
            </a:p>
          </p:txBody>
        </p:sp>
      </p:grpSp>
      <p:grpSp>
        <p:nvGrpSpPr>
          <p:cNvPr id="234" name="war-room"/>
          <p:cNvGrpSpPr/>
          <p:nvPr/>
        </p:nvGrpSpPr>
        <p:grpSpPr>
          <a:xfrm>
            <a:off x="7848600" y="704850"/>
            <a:ext cx="4213114" cy="5886450"/>
            <a:chOff x="7848600" y="704850"/>
            <a:chExt cx="4213114" cy="5886450"/>
          </a:xfrm>
        </p:grpSpPr>
        <p:sp>
          <p:nvSpPr>
            <p:cNvPr id="175" name="Rectangle 175"/>
            <p:cNvSpPr/>
            <p:nvPr/>
          </p:nvSpPr>
          <p:spPr>
            <a:xfrm>
              <a:off x="7848600" y="704850"/>
              <a:ext cx="4076700" cy="5886450"/>
            </a:xfrm>
            <a:prstGeom prst="roundRect">
              <a:avLst>
                <a:gd name="adj" fmla="val 1869"/>
              </a:avLst>
            </a:prstGeom>
            <a:solidFill>
              <a:srgbClr val="F7FAFE"/>
            </a:solidFill>
            <a:ln w="9525">
              <a:solidFill>
                <a:srgbClr val="F7D1C9"/>
              </a:solidFill>
            </a:ln>
          </p:spPr>
        </p:sp>
        <p:grpSp>
          <p:nvGrpSpPr>
            <p:cNvPr id="179" name="Group 179"/>
            <p:cNvGrpSpPr/>
            <p:nvPr/>
          </p:nvGrpSpPr>
          <p:grpSpPr>
            <a:xfrm>
              <a:off x="7986712" y="823912"/>
              <a:ext cx="142875" cy="142875"/>
              <a:chOff x="7986712" y="823912"/>
              <a:chExt cx="142875" cy="142875"/>
            </a:xfrm>
          </p:grpSpPr>
          <p:sp>
            <p:nvSpPr>
              <p:cNvPr id="176" name="Freeform 176"/>
              <p:cNvSpPr/>
              <p:nvPr/>
            </p:nvSpPr>
            <p:spPr>
              <a:xfrm>
                <a:off x="8050212" y="8874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B92102"/>
                </a:solidFill>
              </a:ln>
            </p:spPr>
          </p:sp>
          <p:sp>
            <p:nvSpPr>
              <p:cNvPr id="177" name="Freeform 177"/>
              <p:cNvSpPr/>
              <p:nvPr/>
            </p:nvSpPr>
            <p:spPr>
              <a:xfrm>
                <a:off x="8018462" y="8556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B92102"/>
                </a:solidFill>
              </a:ln>
            </p:spPr>
          </p:sp>
          <p:sp>
            <p:nvSpPr>
              <p:cNvPr id="178" name="Freeform 178"/>
              <p:cNvSpPr/>
              <p:nvPr/>
            </p:nvSpPr>
            <p:spPr>
              <a:xfrm>
                <a:off x="7986712" y="8239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B92102"/>
                </a:solidFill>
              </a:ln>
            </p:spPr>
          </p:sp>
        </p:grpSp>
        <p:sp>
          <p:nvSpPr>
            <p:cNvPr id="180" name="TextBox 180"/>
            <p:cNvSpPr txBox="1"/>
            <p:nvPr/>
          </p:nvSpPr>
          <p:spPr>
            <a:xfrm>
              <a:off x="8224266" y="839152"/>
              <a:ext cx="1494527" cy="205359"/>
            </a:xfrm>
            <a:prstGeom prst="rect">
              <a:avLst/>
            </a:prstGeom>
            <a:noFill/>
            <a:ln>
              <a:noFill/>
            </a:ln>
          </p:spPr>
          <p:txBody>
            <a:bodyPr wrap="none" lIns="0" tIns="0" rIns="0" bIns="0" anchor="t" anchorCtr="0">
              <a:spAutoFit/>
            </a:bodyPr>
            <a:lstStyle/>
            <a:p>
              <a:pPr algn="l"/>
              <a:r>
                <a:rPr lang="zh-CN" sz="1050" b="1" dirty="0">
                  <a:solidFill>
                    <a:srgbClr val="6E1604"/>
                  </a:solidFill>
                  <a:latin typeface="+mn-lt"/>
                  <a:ea typeface="+mn-ea"/>
                  <a:cs typeface="+mn-cs"/>
                </a:rPr>
                <a:t>Top商机攻坚作战室​​​</a:t>
              </a:r>
            </a:p>
          </p:txBody>
        </p:sp>
        <p:grpSp>
          <p:nvGrpSpPr>
            <p:cNvPr id="197" name="wr-card-1"/>
            <p:cNvGrpSpPr/>
            <p:nvPr/>
          </p:nvGrpSpPr>
          <p:grpSpPr>
            <a:xfrm>
              <a:off x="7943850" y="1104900"/>
              <a:ext cx="4117864" cy="1562100"/>
              <a:chOff x="7943850" y="1104900"/>
              <a:chExt cx="4117864" cy="1562100"/>
            </a:xfrm>
          </p:grpSpPr>
          <p:sp>
            <p:nvSpPr>
              <p:cNvPr id="181" name="Rectangle 181"/>
              <p:cNvSpPr/>
              <p:nvPr/>
            </p:nvSpPr>
            <p:spPr>
              <a:xfrm>
                <a:off x="7943850" y="1104900"/>
                <a:ext cx="3886200" cy="1562100"/>
              </a:xfrm>
              <a:prstGeom prst="roundRect">
                <a:avLst>
                  <a:gd name="adj" fmla="val 3659"/>
                </a:avLst>
              </a:prstGeom>
              <a:solidFill>
                <a:srgbClr val="FFFFFF"/>
              </a:solidFill>
              <a:ln w="9525">
                <a:solidFill>
                  <a:srgbClr val="F7D1C9"/>
                </a:solidFill>
              </a:ln>
            </p:spPr>
          </p:sp>
          <p:sp>
            <p:nvSpPr>
              <p:cNvPr id="182" name="Rectangle 182"/>
              <p:cNvSpPr/>
              <p:nvPr/>
            </p:nvSpPr>
            <p:spPr>
              <a:xfrm>
                <a:off x="7943850" y="1104900"/>
                <a:ext cx="38100" cy="1562100"/>
              </a:xfrm>
              <a:prstGeom prst="rect">
                <a:avLst/>
              </a:prstGeom>
              <a:solidFill>
                <a:srgbClr val="B92102"/>
              </a:solidFill>
              <a:ln>
                <a:noFill/>
              </a:ln>
            </p:spPr>
          </p:sp>
          <p:sp>
            <p:nvSpPr>
              <p:cNvPr id="183" name="TextBox 183"/>
              <p:cNvSpPr txBox="1"/>
              <p:nvPr/>
            </p:nvSpPr>
            <p:spPr>
              <a:xfrm>
                <a:off x="8111800" y="1576864"/>
                <a:ext cx="883300" cy="249364"/>
              </a:xfrm>
              <a:prstGeom prst="rect">
                <a:avLst/>
              </a:prstGeom>
              <a:noFill/>
              <a:ln>
                <a:noFill/>
              </a:ln>
            </p:spPr>
            <p:txBody>
              <a:bodyPr wrap="none" lIns="0" tIns="0" rIns="0" bIns="0" anchor="t" anchorCtr="0">
                <a:spAutoFit/>
              </a:bodyPr>
              <a:lstStyle/>
              <a:p>
                <a:pPr algn="ctr"/>
                <a:r>
                  <a:rPr lang="zh-CN" sz="1280" b="1" dirty="0">
                    <a:solidFill>
                      <a:srgbClr val="6E1604"/>
                    </a:solidFill>
                    <a:latin typeface="+mn-lt"/>
                    <a:ea typeface="+mn-ea"/>
                    <a:cs typeface="+mn-cs"/>
                  </a:rPr>
                  <a:t>客户XX​​​</a:t>
                </a:r>
              </a:p>
            </p:txBody>
          </p:sp>
          <p:sp>
            <p:nvSpPr>
              <p:cNvPr id="184" name="TextBox 184"/>
              <p:cNvSpPr txBox="1"/>
              <p:nvPr/>
            </p:nvSpPr>
            <p:spPr>
              <a:xfrm>
                <a:off x="8109744" y="1877139"/>
                <a:ext cx="887412" cy="326231"/>
              </a:xfrm>
              <a:prstGeom prst="rect">
                <a:avLst/>
              </a:prstGeom>
              <a:noFill/>
              <a:ln>
                <a:noFill/>
              </a:ln>
            </p:spPr>
            <p:txBody>
              <a:bodyPr wrap="none" lIns="0" tIns="0" rIns="0" bIns="0" anchor="t" anchorCtr="0">
                <a:spAutoFit/>
              </a:bodyPr>
              <a:lstStyle/>
              <a:p>
                <a:pPr algn="ctr">
                  <a:lnSpc>
                    <a:spcPts val="1350"/>
                  </a:lnSpc>
                </a:pPr>
                <a:r>
                  <a:rPr lang="zh-CN" sz="790" dirty="0">
                    <a:solidFill>
                      <a:srgbClr val="473633"/>
                    </a:solidFill>
                    <a:latin typeface="+mn-lt"/>
                    <a:ea typeface="+mn-ea"/>
                    <a:cs typeface="+mn-cs"/>
                  </a:rPr>
                  <a:t>商机金额：XX万​​​</a:t>
                </a:r>
                <a:br/>
                <a:r>
                  <a:rPr lang="zh-CN" sz="790" dirty="0">
                    <a:solidFill>
                      <a:srgbClr val="473633"/>
                    </a:solidFill>
                    <a:latin typeface="+mn-lt"/>
                    <a:ea typeface="+mn-ea"/>
                    <a:cs typeface="+mn-cs"/>
                  </a:rPr>
                  <a:t>预计成交：XX​​​</a:t>
                </a:r>
              </a:p>
            </p:txBody>
          </p:sp>
          <p:sp>
            <p:nvSpPr>
              <p:cNvPr id="185" name="Line 185"/>
              <p:cNvSpPr/>
              <p:nvPr/>
            </p:nvSpPr>
            <p:spPr>
              <a:xfrm>
                <a:off x="9163050" y="1181100"/>
                <a:ext cx="9525" cy="1409700"/>
              </a:xfrm>
              <a:custGeom>
                <a:avLst/>
                <a:gdLst/>
                <a:ahLst/>
                <a:cxnLst/>
                <a:rect l="l" t="t" r="r" b="b"/>
                <a:pathLst>
                  <a:path w="9525" h="1409700">
                    <a:moveTo>
                      <a:pt x="0" y="0"/>
                    </a:moveTo>
                    <a:lnTo>
                      <a:pt x="0" y="1409700"/>
                    </a:lnTo>
                  </a:path>
                </a:pathLst>
              </a:custGeom>
              <a:noFill/>
              <a:ln w="9525">
                <a:solidFill>
                  <a:srgbClr val="DCE6F8"/>
                </a:solidFill>
              </a:ln>
            </p:spPr>
          </p:sp>
          <p:sp>
            <p:nvSpPr>
              <p:cNvPr id="186" name="Line 186"/>
              <p:cNvSpPr/>
              <p:nvPr/>
            </p:nvSpPr>
            <p:spPr>
              <a:xfrm>
                <a:off x="9239250" y="1495425"/>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187" name="Line 187"/>
              <p:cNvSpPr/>
              <p:nvPr/>
            </p:nvSpPr>
            <p:spPr>
              <a:xfrm>
                <a:off x="9239250" y="1885950"/>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188" name="Line 188"/>
              <p:cNvSpPr/>
              <p:nvPr/>
            </p:nvSpPr>
            <p:spPr>
              <a:xfrm>
                <a:off x="9239250" y="2276475"/>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189" name="TextBox 189"/>
              <p:cNvSpPr txBox="1"/>
              <p:nvPr/>
            </p:nvSpPr>
            <p:spPr>
              <a:xfrm>
                <a:off x="9371749" y="1263491"/>
                <a:ext cx="230302"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阶段</a:t>
                </a:r>
              </a:p>
            </p:txBody>
          </p:sp>
          <p:sp>
            <p:nvSpPr>
              <p:cNvPr id="190" name="TextBox 190"/>
              <p:cNvSpPr txBox="1"/>
              <p:nvPr/>
            </p:nvSpPr>
            <p:spPr>
              <a:xfrm>
                <a:off x="9786938" y="1267539"/>
                <a:ext cx="2274776"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需求确认 / 方案评审 / 商务谈判 / 签约​​​​​​​</a:t>
                </a:r>
              </a:p>
            </p:txBody>
          </p:sp>
          <p:sp>
            <p:nvSpPr>
              <p:cNvPr id="191" name="TextBox 191"/>
              <p:cNvSpPr txBox="1"/>
              <p:nvPr/>
            </p:nvSpPr>
            <p:spPr>
              <a:xfrm>
                <a:off x="9371749" y="1654016"/>
                <a:ext cx="230302"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卡点</a:t>
                </a:r>
              </a:p>
            </p:txBody>
          </p:sp>
          <p:sp>
            <p:nvSpPr>
              <p:cNvPr id="192" name="TextBox 192"/>
              <p:cNvSpPr txBox="1"/>
              <p:nvPr/>
            </p:nvSpPr>
            <p:spPr>
              <a:xfrm>
                <a:off x="9786938" y="1658064"/>
                <a:ext cx="2068698"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XX（如：预算审批慢、内部决策链长）​​​​</a:t>
                </a:r>
              </a:p>
            </p:txBody>
          </p:sp>
          <p:sp>
            <p:nvSpPr>
              <p:cNvPr id="193" name="TextBox 193"/>
              <p:cNvSpPr txBox="1"/>
              <p:nvPr/>
            </p:nvSpPr>
            <p:spPr>
              <a:xfrm>
                <a:off x="9316555" y="2044541"/>
                <a:ext cx="340690"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决策链</a:t>
                </a:r>
              </a:p>
            </p:txBody>
          </p:sp>
          <p:sp>
            <p:nvSpPr>
              <p:cNvPr id="194" name="TextBox 194"/>
              <p:cNvSpPr txBox="1"/>
              <p:nvPr/>
            </p:nvSpPr>
            <p:spPr>
              <a:xfrm>
                <a:off x="9786938" y="2048589"/>
                <a:ext cx="2136722"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XX（关键决策人：XX / 影响人：XX）​​​​​​</a:t>
                </a:r>
              </a:p>
            </p:txBody>
          </p:sp>
          <p:sp>
            <p:nvSpPr>
              <p:cNvPr id="195" name="TextBox 195"/>
              <p:cNvSpPr txBox="1"/>
              <p:nvPr/>
            </p:nvSpPr>
            <p:spPr>
              <a:xfrm>
                <a:off x="9316555" y="2435066"/>
                <a:ext cx="340690"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下一步</a:t>
                </a:r>
              </a:p>
            </p:txBody>
          </p:sp>
          <p:sp>
            <p:nvSpPr>
              <p:cNvPr id="196" name="TextBox 196"/>
              <p:cNvSpPr txBox="1"/>
              <p:nvPr/>
            </p:nvSpPr>
            <p:spPr>
              <a:xfrm>
                <a:off x="9786938" y="2439114"/>
                <a:ext cx="2142139"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XX（如：补充ROI测算、安排高层拜访）​​​​</a:t>
                </a:r>
              </a:p>
            </p:txBody>
          </p:sp>
        </p:grpSp>
        <p:grpSp>
          <p:nvGrpSpPr>
            <p:cNvPr id="214" name="wr-card-2"/>
            <p:cNvGrpSpPr/>
            <p:nvPr/>
          </p:nvGrpSpPr>
          <p:grpSpPr>
            <a:xfrm>
              <a:off x="7943850" y="2762250"/>
              <a:ext cx="4117864" cy="1562100"/>
              <a:chOff x="7943850" y="2762250"/>
              <a:chExt cx="4117864" cy="1562100"/>
            </a:xfrm>
          </p:grpSpPr>
          <p:sp>
            <p:nvSpPr>
              <p:cNvPr id="198" name="Rectangle 198"/>
              <p:cNvSpPr/>
              <p:nvPr/>
            </p:nvSpPr>
            <p:spPr>
              <a:xfrm>
                <a:off x="7943850" y="2762250"/>
                <a:ext cx="3886200" cy="1562100"/>
              </a:xfrm>
              <a:prstGeom prst="roundRect">
                <a:avLst>
                  <a:gd name="adj" fmla="val 3659"/>
                </a:avLst>
              </a:prstGeom>
              <a:solidFill>
                <a:srgbClr val="FFFFFF"/>
              </a:solidFill>
              <a:ln w="9525">
                <a:solidFill>
                  <a:srgbClr val="F7D1C9"/>
                </a:solidFill>
              </a:ln>
            </p:spPr>
          </p:sp>
          <p:sp>
            <p:nvSpPr>
              <p:cNvPr id="199" name="Rectangle 199"/>
              <p:cNvSpPr/>
              <p:nvPr/>
            </p:nvSpPr>
            <p:spPr>
              <a:xfrm>
                <a:off x="7943850" y="2762250"/>
                <a:ext cx="38100" cy="1562100"/>
              </a:xfrm>
              <a:prstGeom prst="rect">
                <a:avLst/>
              </a:prstGeom>
              <a:solidFill>
                <a:srgbClr val="B92102"/>
              </a:solidFill>
              <a:ln>
                <a:noFill/>
              </a:ln>
            </p:spPr>
          </p:sp>
          <p:sp>
            <p:nvSpPr>
              <p:cNvPr id="200" name="TextBox 200"/>
              <p:cNvSpPr txBox="1"/>
              <p:nvPr/>
            </p:nvSpPr>
            <p:spPr>
              <a:xfrm>
                <a:off x="8111800" y="3234214"/>
                <a:ext cx="883300" cy="249364"/>
              </a:xfrm>
              <a:prstGeom prst="rect">
                <a:avLst/>
              </a:prstGeom>
              <a:noFill/>
              <a:ln>
                <a:noFill/>
              </a:ln>
            </p:spPr>
            <p:txBody>
              <a:bodyPr wrap="none" lIns="0" tIns="0" rIns="0" bIns="0" anchor="t" anchorCtr="0">
                <a:spAutoFit/>
              </a:bodyPr>
              <a:lstStyle/>
              <a:p>
                <a:pPr algn="ctr"/>
                <a:r>
                  <a:rPr lang="zh-CN" sz="1280" b="1" dirty="0">
                    <a:solidFill>
                      <a:srgbClr val="6E1604"/>
                    </a:solidFill>
                    <a:latin typeface="+mn-lt"/>
                    <a:ea typeface="+mn-ea"/>
                    <a:cs typeface="+mn-cs"/>
                  </a:rPr>
                  <a:t>客户XX​​​</a:t>
                </a:r>
              </a:p>
            </p:txBody>
          </p:sp>
          <p:sp>
            <p:nvSpPr>
              <p:cNvPr id="201" name="TextBox 201"/>
              <p:cNvSpPr txBox="1"/>
              <p:nvPr/>
            </p:nvSpPr>
            <p:spPr>
              <a:xfrm>
                <a:off x="8109744" y="3534489"/>
                <a:ext cx="887412" cy="326231"/>
              </a:xfrm>
              <a:prstGeom prst="rect">
                <a:avLst/>
              </a:prstGeom>
              <a:noFill/>
              <a:ln>
                <a:noFill/>
              </a:ln>
            </p:spPr>
            <p:txBody>
              <a:bodyPr wrap="none" lIns="0" tIns="0" rIns="0" bIns="0" anchor="t" anchorCtr="0">
                <a:spAutoFit/>
              </a:bodyPr>
              <a:lstStyle/>
              <a:p>
                <a:pPr algn="ctr">
                  <a:lnSpc>
                    <a:spcPts val="1350"/>
                  </a:lnSpc>
                </a:pPr>
                <a:r>
                  <a:rPr lang="zh-CN" sz="790" dirty="0">
                    <a:solidFill>
                      <a:srgbClr val="473633"/>
                    </a:solidFill>
                    <a:latin typeface="+mn-lt"/>
                    <a:ea typeface="+mn-ea"/>
                    <a:cs typeface="+mn-cs"/>
                  </a:rPr>
                  <a:t>商机金额：XX万​​​</a:t>
                </a:r>
                <a:br/>
                <a:r>
                  <a:rPr lang="zh-CN" sz="790" dirty="0">
                    <a:solidFill>
                      <a:srgbClr val="473633"/>
                    </a:solidFill>
                    <a:latin typeface="+mn-lt"/>
                    <a:ea typeface="+mn-ea"/>
                    <a:cs typeface="+mn-cs"/>
                  </a:rPr>
                  <a:t>预计成交：XX​​​</a:t>
                </a:r>
              </a:p>
            </p:txBody>
          </p:sp>
          <p:sp>
            <p:nvSpPr>
              <p:cNvPr id="202" name="Line 202"/>
              <p:cNvSpPr/>
              <p:nvPr/>
            </p:nvSpPr>
            <p:spPr>
              <a:xfrm>
                <a:off x="9163050" y="2838450"/>
                <a:ext cx="9525" cy="1409700"/>
              </a:xfrm>
              <a:custGeom>
                <a:avLst/>
                <a:gdLst/>
                <a:ahLst/>
                <a:cxnLst/>
                <a:rect l="l" t="t" r="r" b="b"/>
                <a:pathLst>
                  <a:path w="9525" h="1409700">
                    <a:moveTo>
                      <a:pt x="0" y="0"/>
                    </a:moveTo>
                    <a:lnTo>
                      <a:pt x="0" y="1409700"/>
                    </a:lnTo>
                  </a:path>
                </a:pathLst>
              </a:custGeom>
              <a:noFill/>
              <a:ln w="9525">
                <a:solidFill>
                  <a:srgbClr val="DCE6F8"/>
                </a:solidFill>
              </a:ln>
            </p:spPr>
          </p:sp>
          <p:sp>
            <p:nvSpPr>
              <p:cNvPr id="203" name="Line 203"/>
              <p:cNvSpPr/>
              <p:nvPr/>
            </p:nvSpPr>
            <p:spPr>
              <a:xfrm>
                <a:off x="9239250" y="3152775"/>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204" name="Line 204"/>
              <p:cNvSpPr/>
              <p:nvPr/>
            </p:nvSpPr>
            <p:spPr>
              <a:xfrm>
                <a:off x="9239250" y="3543300"/>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205" name="Line 205"/>
              <p:cNvSpPr/>
              <p:nvPr/>
            </p:nvSpPr>
            <p:spPr>
              <a:xfrm>
                <a:off x="9239250" y="3933825"/>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206" name="TextBox 206"/>
              <p:cNvSpPr txBox="1"/>
              <p:nvPr/>
            </p:nvSpPr>
            <p:spPr>
              <a:xfrm>
                <a:off x="9371749" y="2920841"/>
                <a:ext cx="230302"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阶段</a:t>
                </a:r>
              </a:p>
            </p:txBody>
          </p:sp>
          <p:sp>
            <p:nvSpPr>
              <p:cNvPr id="207" name="TextBox 207"/>
              <p:cNvSpPr txBox="1"/>
              <p:nvPr/>
            </p:nvSpPr>
            <p:spPr>
              <a:xfrm>
                <a:off x="9786938" y="2924889"/>
                <a:ext cx="2274776"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需求确认 / 方案评审 / 商务谈判 / 签约​​​​​​​</a:t>
                </a:r>
              </a:p>
            </p:txBody>
          </p:sp>
          <p:sp>
            <p:nvSpPr>
              <p:cNvPr id="208" name="TextBox 208"/>
              <p:cNvSpPr txBox="1"/>
              <p:nvPr/>
            </p:nvSpPr>
            <p:spPr>
              <a:xfrm>
                <a:off x="9371749" y="3311366"/>
                <a:ext cx="230302"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卡点</a:t>
                </a:r>
              </a:p>
            </p:txBody>
          </p:sp>
          <p:sp>
            <p:nvSpPr>
              <p:cNvPr id="209" name="TextBox 209"/>
              <p:cNvSpPr txBox="1"/>
              <p:nvPr/>
            </p:nvSpPr>
            <p:spPr>
              <a:xfrm>
                <a:off x="9786938" y="3315414"/>
                <a:ext cx="1962348"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XX（如：竞品方案对比、条款分歧）​​​​</a:t>
                </a:r>
              </a:p>
            </p:txBody>
          </p:sp>
          <p:sp>
            <p:nvSpPr>
              <p:cNvPr id="210" name="TextBox 210"/>
              <p:cNvSpPr txBox="1"/>
              <p:nvPr/>
            </p:nvSpPr>
            <p:spPr>
              <a:xfrm>
                <a:off x="9316555" y="3701891"/>
                <a:ext cx="340690"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决策链</a:t>
                </a:r>
              </a:p>
            </p:txBody>
          </p:sp>
          <p:sp>
            <p:nvSpPr>
              <p:cNvPr id="211" name="TextBox 211"/>
              <p:cNvSpPr txBox="1"/>
              <p:nvPr/>
            </p:nvSpPr>
            <p:spPr>
              <a:xfrm>
                <a:off x="9786938" y="3705939"/>
                <a:ext cx="2136722"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XX（关键决策人：XX / 影响人：XX）​​​​​​</a:t>
                </a:r>
              </a:p>
            </p:txBody>
          </p:sp>
          <p:sp>
            <p:nvSpPr>
              <p:cNvPr id="212" name="TextBox 212"/>
              <p:cNvSpPr txBox="1"/>
              <p:nvPr/>
            </p:nvSpPr>
            <p:spPr>
              <a:xfrm>
                <a:off x="9316555" y="4092416"/>
                <a:ext cx="340690"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下一步</a:t>
                </a:r>
              </a:p>
            </p:txBody>
          </p:sp>
          <p:sp>
            <p:nvSpPr>
              <p:cNvPr id="213" name="TextBox 213"/>
              <p:cNvSpPr txBox="1"/>
              <p:nvPr/>
            </p:nvSpPr>
            <p:spPr>
              <a:xfrm>
                <a:off x="9786938" y="4096464"/>
                <a:ext cx="2175048"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XX（如：组织标杆客户参访、打消顾虑）​​​​</a:t>
                </a:r>
              </a:p>
            </p:txBody>
          </p:sp>
        </p:grpSp>
        <p:grpSp>
          <p:nvGrpSpPr>
            <p:cNvPr id="231" name="wr-card-3"/>
            <p:cNvGrpSpPr/>
            <p:nvPr/>
          </p:nvGrpSpPr>
          <p:grpSpPr>
            <a:xfrm>
              <a:off x="7943850" y="4419600"/>
              <a:ext cx="4117864" cy="1562100"/>
              <a:chOff x="7943850" y="4419600"/>
              <a:chExt cx="4117864" cy="1562100"/>
            </a:xfrm>
          </p:grpSpPr>
          <p:sp>
            <p:nvSpPr>
              <p:cNvPr id="215" name="Rectangle 215"/>
              <p:cNvSpPr/>
              <p:nvPr/>
            </p:nvSpPr>
            <p:spPr>
              <a:xfrm>
                <a:off x="7943850" y="4419600"/>
                <a:ext cx="3886200" cy="1562100"/>
              </a:xfrm>
              <a:prstGeom prst="roundRect">
                <a:avLst>
                  <a:gd name="adj" fmla="val 3659"/>
                </a:avLst>
              </a:prstGeom>
              <a:solidFill>
                <a:srgbClr val="FFFFFF"/>
              </a:solidFill>
              <a:ln w="9525">
                <a:solidFill>
                  <a:srgbClr val="F7D1C9"/>
                </a:solidFill>
              </a:ln>
            </p:spPr>
          </p:sp>
          <p:sp>
            <p:nvSpPr>
              <p:cNvPr id="216" name="Rectangle 216"/>
              <p:cNvSpPr/>
              <p:nvPr/>
            </p:nvSpPr>
            <p:spPr>
              <a:xfrm>
                <a:off x="7943850" y="4419600"/>
                <a:ext cx="38100" cy="1562100"/>
              </a:xfrm>
              <a:prstGeom prst="rect">
                <a:avLst/>
              </a:prstGeom>
              <a:solidFill>
                <a:srgbClr val="B92102"/>
              </a:solidFill>
              <a:ln>
                <a:noFill/>
              </a:ln>
            </p:spPr>
          </p:sp>
          <p:sp>
            <p:nvSpPr>
              <p:cNvPr id="217" name="TextBox 217"/>
              <p:cNvSpPr txBox="1"/>
              <p:nvPr/>
            </p:nvSpPr>
            <p:spPr>
              <a:xfrm>
                <a:off x="8111800" y="4891564"/>
                <a:ext cx="883300" cy="249364"/>
              </a:xfrm>
              <a:prstGeom prst="rect">
                <a:avLst/>
              </a:prstGeom>
              <a:noFill/>
              <a:ln>
                <a:noFill/>
              </a:ln>
            </p:spPr>
            <p:txBody>
              <a:bodyPr wrap="none" lIns="0" tIns="0" rIns="0" bIns="0" anchor="t" anchorCtr="0">
                <a:spAutoFit/>
              </a:bodyPr>
              <a:lstStyle/>
              <a:p>
                <a:pPr algn="ctr"/>
                <a:r>
                  <a:rPr lang="zh-CN" sz="1280" b="1" dirty="0">
                    <a:solidFill>
                      <a:srgbClr val="6E1604"/>
                    </a:solidFill>
                    <a:latin typeface="+mn-lt"/>
                    <a:ea typeface="+mn-ea"/>
                    <a:cs typeface="+mn-cs"/>
                  </a:rPr>
                  <a:t>客户XX​​​</a:t>
                </a:r>
              </a:p>
            </p:txBody>
          </p:sp>
          <p:sp>
            <p:nvSpPr>
              <p:cNvPr id="218" name="TextBox 218"/>
              <p:cNvSpPr txBox="1"/>
              <p:nvPr/>
            </p:nvSpPr>
            <p:spPr>
              <a:xfrm>
                <a:off x="8109744" y="5191839"/>
                <a:ext cx="887412" cy="326231"/>
              </a:xfrm>
              <a:prstGeom prst="rect">
                <a:avLst/>
              </a:prstGeom>
              <a:noFill/>
              <a:ln>
                <a:noFill/>
              </a:ln>
            </p:spPr>
            <p:txBody>
              <a:bodyPr wrap="none" lIns="0" tIns="0" rIns="0" bIns="0" anchor="t" anchorCtr="0">
                <a:spAutoFit/>
              </a:bodyPr>
              <a:lstStyle/>
              <a:p>
                <a:pPr algn="ctr">
                  <a:lnSpc>
                    <a:spcPts val="1350"/>
                  </a:lnSpc>
                </a:pPr>
                <a:r>
                  <a:rPr lang="zh-CN" sz="790" dirty="0">
                    <a:solidFill>
                      <a:srgbClr val="473633"/>
                    </a:solidFill>
                    <a:latin typeface="+mn-lt"/>
                    <a:ea typeface="+mn-ea"/>
                    <a:cs typeface="+mn-cs"/>
                  </a:rPr>
                  <a:t>商机金额：XX万​​​</a:t>
                </a:r>
                <a:br/>
                <a:r>
                  <a:rPr lang="zh-CN" sz="790" dirty="0">
                    <a:solidFill>
                      <a:srgbClr val="473633"/>
                    </a:solidFill>
                    <a:latin typeface="+mn-lt"/>
                    <a:ea typeface="+mn-ea"/>
                    <a:cs typeface="+mn-cs"/>
                  </a:rPr>
                  <a:t>预计成交：XX​​​</a:t>
                </a:r>
              </a:p>
            </p:txBody>
          </p:sp>
          <p:sp>
            <p:nvSpPr>
              <p:cNvPr id="219" name="Line 219"/>
              <p:cNvSpPr/>
              <p:nvPr/>
            </p:nvSpPr>
            <p:spPr>
              <a:xfrm>
                <a:off x="9163050" y="4495800"/>
                <a:ext cx="9525" cy="1409700"/>
              </a:xfrm>
              <a:custGeom>
                <a:avLst/>
                <a:gdLst/>
                <a:ahLst/>
                <a:cxnLst/>
                <a:rect l="l" t="t" r="r" b="b"/>
                <a:pathLst>
                  <a:path w="9525" h="1409700">
                    <a:moveTo>
                      <a:pt x="0" y="0"/>
                    </a:moveTo>
                    <a:lnTo>
                      <a:pt x="0" y="1409700"/>
                    </a:lnTo>
                  </a:path>
                </a:pathLst>
              </a:custGeom>
              <a:noFill/>
              <a:ln w="9525">
                <a:solidFill>
                  <a:srgbClr val="DCE6F8"/>
                </a:solidFill>
              </a:ln>
            </p:spPr>
          </p:sp>
          <p:sp>
            <p:nvSpPr>
              <p:cNvPr id="220" name="Line 220"/>
              <p:cNvSpPr/>
              <p:nvPr/>
            </p:nvSpPr>
            <p:spPr>
              <a:xfrm>
                <a:off x="9239250" y="4810125"/>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221" name="Line 221"/>
              <p:cNvSpPr/>
              <p:nvPr/>
            </p:nvSpPr>
            <p:spPr>
              <a:xfrm>
                <a:off x="9239250" y="5200650"/>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222" name="Line 222"/>
              <p:cNvSpPr/>
              <p:nvPr/>
            </p:nvSpPr>
            <p:spPr>
              <a:xfrm>
                <a:off x="9239250" y="5591175"/>
                <a:ext cx="2514600" cy="9525"/>
              </a:xfrm>
              <a:custGeom>
                <a:avLst/>
                <a:gdLst/>
                <a:ahLst/>
                <a:cxnLst/>
                <a:rect l="l" t="t" r="r" b="b"/>
                <a:pathLst>
                  <a:path w="2514600" h="9525">
                    <a:moveTo>
                      <a:pt x="0" y="0"/>
                    </a:moveTo>
                    <a:lnTo>
                      <a:pt x="2514600" y="0"/>
                    </a:lnTo>
                  </a:path>
                </a:pathLst>
              </a:custGeom>
              <a:noFill/>
              <a:ln w="9525">
                <a:solidFill>
                  <a:srgbClr val="DCE6F8"/>
                </a:solidFill>
              </a:ln>
            </p:spPr>
          </p:sp>
          <p:sp>
            <p:nvSpPr>
              <p:cNvPr id="223" name="TextBox 223"/>
              <p:cNvSpPr txBox="1"/>
              <p:nvPr/>
            </p:nvSpPr>
            <p:spPr>
              <a:xfrm>
                <a:off x="9371749" y="4578191"/>
                <a:ext cx="230302"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阶段</a:t>
                </a:r>
              </a:p>
            </p:txBody>
          </p:sp>
          <p:sp>
            <p:nvSpPr>
              <p:cNvPr id="224" name="TextBox 224"/>
              <p:cNvSpPr txBox="1"/>
              <p:nvPr/>
            </p:nvSpPr>
            <p:spPr>
              <a:xfrm>
                <a:off x="9786938" y="4582239"/>
                <a:ext cx="2274776"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需求确认 / 方案评审 / 商务谈判 / 签约​​​​​​​</a:t>
                </a:r>
              </a:p>
            </p:txBody>
          </p:sp>
          <p:sp>
            <p:nvSpPr>
              <p:cNvPr id="225" name="TextBox 225"/>
              <p:cNvSpPr txBox="1"/>
              <p:nvPr/>
            </p:nvSpPr>
            <p:spPr>
              <a:xfrm>
                <a:off x="9371749" y="4968716"/>
                <a:ext cx="230302"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卡点</a:t>
                </a:r>
              </a:p>
            </p:txBody>
          </p:sp>
          <p:sp>
            <p:nvSpPr>
              <p:cNvPr id="226" name="TextBox 226"/>
              <p:cNvSpPr txBox="1"/>
              <p:nvPr/>
            </p:nvSpPr>
            <p:spPr>
              <a:xfrm>
                <a:off x="9786938" y="4972764"/>
                <a:ext cx="1855998"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XX（如：风控要求高、数据合规）​​​​</a:t>
                </a:r>
              </a:p>
            </p:txBody>
          </p:sp>
          <p:sp>
            <p:nvSpPr>
              <p:cNvPr id="227" name="TextBox 227"/>
              <p:cNvSpPr txBox="1"/>
              <p:nvPr/>
            </p:nvSpPr>
            <p:spPr>
              <a:xfrm>
                <a:off x="9316555" y="5359241"/>
                <a:ext cx="340690"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决策链</a:t>
                </a:r>
              </a:p>
            </p:txBody>
          </p:sp>
          <p:sp>
            <p:nvSpPr>
              <p:cNvPr id="228" name="TextBox 228"/>
              <p:cNvSpPr txBox="1"/>
              <p:nvPr/>
            </p:nvSpPr>
            <p:spPr>
              <a:xfrm>
                <a:off x="9786938" y="5363289"/>
                <a:ext cx="2136722"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XX（关键决策人：XX / 影响人：XX）​​​​​​</a:t>
                </a:r>
              </a:p>
            </p:txBody>
          </p:sp>
          <p:sp>
            <p:nvSpPr>
              <p:cNvPr id="229" name="TextBox 229"/>
              <p:cNvSpPr txBox="1"/>
              <p:nvPr/>
            </p:nvSpPr>
            <p:spPr>
              <a:xfrm>
                <a:off x="9316555" y="5749766"/>
                <a:ext cx="340690" cy="161925"/>
              </a:xfrm>
              <a:prstGeom prst="rect">
                <a:avLst/>
              </a:prstGeom>
              <a:noFill/>
              <a:ln>
                <a:noFill/>
              </a:ln>
            </p:spPr>
            <p:txBody>
              <a:bodyPr wrap="none" lIns="0" tIns="0" rIns="0" bIns="0" anchor="t" anchorCtr="0">
                <a:spAutoFit/>
              </a:bodyPr>
              <a:lstStyle/>
              <a:p>
                <a:pPr algn="ctr"/>
                <a:r>
                  <a:rPr lang="zh-CN" sz="820" b="1" dirty="0">
                    <a:solidFill>
                      <a:srgbClr val="B92102"/>
                    </a:solidFill>
                    <a:latin typeface="+mn-lt"/>
                    <a:ea typeface="+mn-ea"/>
                    <a:cs typeface="+mn-cs"/>
                  </a:rPr>
                  <a:t>下一步</a:t>
                </a:r>
              </a:p>
            </p:txBody>
          </p:sp>
          <p:sp>
            <p:nvSpPr>
              <p:cNvPr id="230" name="TextBox 230"/>
              <p:cNvSpPr txBox="1"/>
              <p:nvPr/>
            </p:nvSpPr>
            <p:spPr>
              <a:xfrm>
                <a:off x="9786938" y="5753814"/>
                <a:ext cx="1962348" cy="154781"/>
              </a:xfrm>
              <a:prstGeom prst="rect">
                <a:avLst/>
              </a:prstGeom>
              <a:noFill/>
              <a:ln>
                <a:noFill/>
              </a:ln>
            </p:spPr>
            <p:txBody>
              <a:bodyPr wrap="none" lIns="0" tIns="0" rIns="0" bIns="0" anchor="t" anchorCtr="0">
                <a:spAutoFit/>
              </a:bodyPr>
              <a:lstStyle/>
              <a:p>
                <a:pPr algn="l"/>
                <a:r>
                  <a:rPr lang="zh-CN" sz="790" dirty="0">
                    <a:solidFill>
                      <a:srgbClr val="473633"/>
                    </a:solidFill>
                    <a:latin typeface="+mn-lt"/>
                    <a:ea typeface="+mn-ea"/>
                    <a:cs typeface="+mn-cs"/>
                  </a:rPr>
                  <a:t>XX（如：联合风控预审、完善材料）​​​​</a:t>
                </a:r>
              </a:p>
            </p:txBody>
          </p:sp>
        </p:grpSp>
        <p:sp>
          <p:nvSpPr>
            <p:cNvPr id="232" name="Rectangle 232"/>
            <p:cNvSpPr/>
            <p:nvPr/>
          </p:nvSpPr>
          <p:spPr>
            <a:xfrm>
              <a:off x="7943850" y="6076950"/>
              <a:ext cx="3886200" cy="438150"/>
            </a:xfrm>
            <a:prstGeom prst="roundRect">
              <a:avLst>
                <a:gd name="adj" fmla="val 13043"/>
              </a:avLst>
            </a:prstGeom>
            <a:solidFill>
              <a:srgbClr val="EAF3FE"/>
            </a:solidFill>
            <a:ln>
              <a:noFill/>
            </a:ln>
          </p:spPr>
        </p:sp>
        <p:sp>
          <p:nvSpPr>
            <p:cNvPr id="233" name="TextBox 233"/>
            <p:cNvSpPr txBox="1"/>
            <p:nvPr/>
          </p:nvSpPr>
          <p:spPr>
            <a:xfrm>
              <a:off x="8053388" y="6167438"/>
              <a:ext cx="3114675" cy="319088"/>
            </a:xfrm>
            <a:prstGeom prst="rect">
              <a:avLst/>
            </a:prstGeom>
            <a:noFill/>
            <a:ln>
              <a:noFill/>
            </a:ln>
          </p:spPr>
          <p:txBody>
            <a:bodyPr wrap="none" lIns="0" tIns="0" rIns="0" bIns="0" anchor="t" anchorCtr="0">
              <a:spAutoFit/>
            </a:bodyPr>
            <a:lstStyle/>
            <a:p>
              <a:pPr algn="l">
                <a:lnSpc>
                  <a:spcPts val="1350"/>
                </a:lnSpc>
              </a:pPr>
              <a:r>
                <a:rPr lang="zh-CN" sz="750" dirty="0">
                  <a:solidFill>
                    <a:srgbClr val="473633"/>
                  </a:solidFill>
                  <a:latin typeface="+mn-lt"/>
                  <a:ea typeface="+mn-ea"/>
                  <a:cs typeface="+mn-cs"/>
                </a:rPr>
                <a:t>R = 负责执行（Responsible）　　A = 最终负责（Accountable）​​​​​​​</a:t>
              </a:r>
              <a:br/>
              <a:r>
                <a:rPr lang="zh-CN" sz="750" dirty="0">
                  <a:solidFill>
                    <a:srgbClr val="473633"/>
                  </a:solidFill>
                  <a:latin typeface="+mn-lt"/>
                  <a:ea typeface="+mn-ea"/>
                  <a:cs typeface="+mn-cs"/>
                </a:rPr>
                <a:t>C = 协作支持（Consulted）　　　I = 知会（Informed）​​​​​​​</a:t>
              </a:r>
            </a:p>
          </p:txBody>
        </p:sp>
      </p:gr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17​</a:t>
              </a:r>
            </a:p>
          </p:txBody>
        </p:sp>
        <p:sp>
          <p:nvSpPr>
            <p:cNvPr id="4" name="TextBox 4"/>
            <p:cNvSpPr txBox="1"/>
            <p:nvPr/>
          </p:nvSpPr>
          <p:spPr>
            <a:xfrm>
              <a:off x="942594" y="151448"/>
              <a:ext cx="6559456"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管理机制与资源保障</a:t>
              </a:r>
              <a:r>
                <a:rPr lang="zh-CN" sz="1950" b="1" dirty="0">
                  <a:solidFill>
                    <a:srgbClr val="1A1A1A"/>
                  </a:solidFill>
                  <a:latin typeface="SimSun"/>
                  <a:ea typeface="SimSun"/>
                  <a:cs typeface="SimSun"/>
                </a:rPr>
                <a:t>｜用节奏、协同和风控护航执行​</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57" name="rhythm-column"/>
          <p:cNvGrpSpPr/>
          <p:nvPr/>
        </p:nvGrpSpPr>
        <p:grpSpPr>
          <a:xfrm>
            <a:off x="266700" y="723900"/>
            <a:ext cx="3771900" cy="3829050"/>
            <a:chOff x="266700" y="723900"/>
            <a:chExt cx="3771900" cy="3829050"/>
          </a:xfrm>
        </p:grpSpPr>
        <p:sp>
          <p:nvSpPr>
            <p:cNvPr id="7" name="Rectangle 7"/>
            <p:cNvSpPr/>
            <p:nvPr/>
          </p:nvSpPr>
          <p:spPr>
            <a:xfrm>
              <a:off x="266700" y="723900"/>
              <a:ext cx="3771900" cy="3829050"/>
            </a:xfrm>
            <a:prstGeom prst="roundRect">
              <a:avLst>
                <a:gd name="adj" fmla="val 2020"/>
              </a:avLst>
            </a:prstGeom>
            <a:solidFill>
              <a:srgbClr val="FFFFFF"/>
            </a:solidFill>
            <a:ln w="9525">
              <a:solidFill>
                <a:srgbClr val="F7D1C9"/>
              </a:solidFill>
            </a:ln>
          </p:spPr>
        </p:sp>
        <p:sp>
          <p:nvSpPr>
            <p:cNvPr id="8" name="Freeform 8"/>
            <p:cNvSpPr/>
            <p:nvPr/>
          </p:nvSpPr>
          <p:spPr>
            <a:xfrm>
              <a:off x="266700" y="723900"/>
              <a:ext cx="3771900" cy="381000"/>
            </a:xfrm>
            <a:custGeom>
              <a:avLst/>
              <a:gdLst/>
              <a:ahLst/>
              <a:cxnLst/>
              <a:rect l="l" t="t" r="r" b="b"/>
              <a:pathLst>
                <a:path w="3771900" h="381000">
                  <a:moveTo>
                    <a:pt x="0" y="76200"/>
                  </a:moveTo>
                  <a:cubicBezTo>
                    <a:pt x="0" y="34116"/>
                    <a:pt x="34116" y="0"/>
                    <a:pt x="76200" y="0"/>
                  </a:cubicBezTo>
                  <a:lnTo>
                    <a:pt x="3695700" y="0"/>
                  </a:lnTo>
                  <a:cubicBezTo>
                    <a:pt x="3737784" y="0"/>
                    <a:pt x="3771900" y="34116"/>
                    <a:pt x="3771900" y="76200"/>
                  </a:cubicBezTo>
                  <a:lnTo>
                    <a:pt x="3771900" y="381000"/>
                  </a:lnTo>
                  <a:lnTo>
                    <a:pt x="0" y="381000"/>
                  </a:lnTo>
                  <a:close/>
                </a:path>
              </a:pathLst>
            </a:custGeom>
            <a:solidFill>
              <a:srgbClr val="B92102"/>
            </a:solidFill>
            <a:ln>
              <a:noFill/>
            </a:ln>
          </p:spPr>
        </p:sp>
        <p:grpSp>
          <p:nvGrpSpPr>
            <p:cNvPr id="11" name="Group 11"/>
            <p:cNvGrpSpPr/>
            <p:nvPr/>
          </p:nvGrpSpPr>
          <p:grpSpPr>
            <a:xfrm>
              <a:off x="1588294" y="835819"/>
              <a:ext cx="157163" cy="157163"/>
              <a:chOff x="1588294" y="835819"/>
              <a:chExt cx="157163" cy="157163"/>
            </a:xfrm>
          </p:grpSpPr>
          <p:sp>
            <p:nvSpPr>
              <p:cNvPr id="9" name="Freeform 9"/>
              <p:cNvSpPr/>
              <p:nvPr/>
            </p:nvSpPr>
            <p:spPr>
              <a:xfrm>
                <a:off x="1588294" y="8358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sp>
            <p:nvSpPr>
              <p:cNvPr id="10" name="Freeform 10"/>
              <p:cNvSpPr/>
              <p:nvPr/>
            </p:nvSpPr>
            <p:spPr>
              <a:xfrm>
                <a:off x="1666875" y="870744"/>
                <a:ext cx="26194" cy="69850"/>
              </a:xfrm>
              <a:custGeom>
                <a:avLst/>
                <a:gdLst/>
                <a:ahLst/>
                <a:cxnLst/>
                <a:rect l="l" t="t" r="r" b="b"/>
                <a:pathLst>
                  <a:path w="26194" h="69850">
                    <a:moveTo>
                      <a:pt x="0" y="0"/>
                    </a:moveTo>
                    <a:lnTo>
                      <a:pt x="0" y="43656"/>
                    </a:lnTo>
                    <a:lnTo>
                      <a:pt x="26194" y="69850"/>
                    </a:lnTo>
                  </a:path>
                </a:pathLst>
              </a:custGeom>
              <a:noFill/>
              <a:ln w="17463">
                <a:solidFill>
                  <a:srgbClr val="FFFFFF"/>
                </a:solidFill>
              </a:ln>
            </p:spPr>
          </p:sp>
        </p:grpSp>
        <p:sp>
          <p:nvSpPr>
            <p:cNvPr id="12" name="TextBox 12"/>
            <p:cNvSpPr txBox="1"/>
            <p:nvPr/>
          </p:nvSpPr>
          <p:spPr>
            <a:xfrm>
              <a:off x="1861185" y="85010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经营节奏</a:t>
              </a:r>
            </a:p>
          </p:txBody>
        </p:sp>
        <p:sp>
          <p:nvSpPr>
            <p:cNvPr id="13" name="Line 13"/>
            <p:cNvSpPr/>
            <p:nvPr/>
          </p:nvSpPr>
          <p:spPr>
            <a:xfrm>
              <a:off x="609600" y="1733550"/>
              <a:ext cx="1" cy="228600"/>
            </a:xfrm>
            <a:prstGeom prst="line">
              <a:avLst/>
            </a:prstGeom>
            <a:noFill/>
            <a:ln w="11430">
              <a:solidFill>
                <a:srgbClr val="D44B2F"/>
              </a:solidFill>
              <a:tailEnd type="triangle" w="lg" len="lg"/>
            </a:ln>
          </p:spPr>
        </p:sp>
        <p:sp>
          <p:nvSpPr>
            <p:cNvPr id="14" name="Line 14"/>
            <p:cNvSpPr/>
            <p:nvPr/>
          </p:nvSpPr>
          <p:spPr>
            <a:xfrm>
              <a:off x="609600" y="2762250"/>
              <a:ext cx="1" cy="228600"/>
            </a:xfrm>
            <a:prstGeom prst="line">
              <a:avLst/>
            </a:prstGeom>
            <a:noFill/>
            <a:ln w="11430">
              <a:solidFill>
                <a:srgbClr val="D44B2F"/>
              </a:solidFill>
              <a:tailEnd type="triangle" w="lg" len="lg"/>
            </a:ln>
          </p:spPr>
        </p:sp>
        <p:grpSp>
          <p:nvGrpSpPr>
            <p:cNvPr id="26" name="rhythm-daily"/>
            <p:cNvGrpSpPr/>
            <p:nvPr/>
          </p:nvGrpSpPr>
          <p:grpSpPr>
            <a:xfrm>
              <a:off x="419100" y="1228249"/>
              <a:ext cx="3505200" cy="705327"/>
              <a:chOff x="419100" y="1228249"/>
              <a:chExt cx="3505200" cy="705327"/>
            </a:xfrm>
          </p:grpSpPr>
          <p:sp>
            <p:nvSpPr>
              <p:cNvPr id="15" name="Ellipse 15"/>
              <p:cNvSpPr/>
              <p:nvPr/>
            </p:nvSpPr>
            <p:spPr>
              <a:xfrm>
                <a:off x="419100" y="1333500"/>
                <a:ext cx="381000" cy="381000"/>
              </a:xfrm>
              <a:prstGeom prst="ellipse">
                <a:avLst/>
              </a:prstGeom>
              <a:solidFill>
                <a:srgbClr val="FFFFFF"/>
              </a:solidFill>
              <a:ln w="11430">
                <a:solidFill>
                  <a:srgbClr val="E3907F"/>
                </a:solidFill>
              </a:ln>
            </p:spPr>
          </p:sp>
          <p:grpSp>
            <p:nvGrpSpPr>
              <p:cNvPr id="18" name="Group 18"/>
              <p:cNvGrpSpPr/>
              <p:nvPr/>
            </p:nvGrpSpPr>
            <p:grpSpPr>
              <a:xfrm>
                <a:off x="523875" y="1438275"/>
                <a:ext cx="171450" cy="171450"/>
                <a:chOff x="523875" y="1438275"/>
                <a:chExt cx="171450" cy="171450"/>
              </a:xfrm>
            </p:grpSpPr>
            <p:sp>
              <p:nvSpPr>
                <p:cNvPr id="16" name="Freeform 16"/>
                <p:cNvSpPr/>
                <p:nvPr/>
              </p:nvSpPr>
              <p:spPr>
                <a:xfrm>
                  <a:off x="523875" y="14382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B92102"/>
                  </a:solidFill>
                </a:ln>
              </p:spPr>
            </p:sp>
            <p:sp>
              <p:nvSpPr>
                <p:cNvPr id="17" name="Freeform 17"/>
                <p:cNvSpPr/>
                <p:nvPr/>
              </p:nvSpPr>
              <p:spPr>
                <a:xfrm>
                  <a:off x="609600" y="1476375"/>
                  <a:ext cx="28575" cy="76200"/>
                </a:xfrm>
                <a:custGeom>
                  <a:avLst/>
                  <a:gdLst/>
                  <a:ahLst/>
                  <a:cxnLst/>
                  <a:rect l="l" t="t" r="r" b="b"/>
                  <a:pathLst>
                    <a:path w="28575" h="76200">
                      <a:moveTo>
                        <a:pt x="0" y="0"/>
                      </a:moveTo>
                      <a:lnTo>
                        <a:pt x="0" y="47625"/>
                      </a:lnTo>
                      <a:lnTo>
                        <a:pt x="28575" y="76200"/>
                      </a:lnTo>
                    </a:path>
                  </a:pathLst>
                </a:custGeom>
                <a:noFill/>
                <a:ln w="19050">
                  <a:solidFill>
                    <a:srgbClr val="B92102"/>
                  </a:solidFill>
                </a:ln>
              </p:spPr>
            </p:sp>
          </p:grpSp>
          <p:sp>
            <p:nvSpPr>
              <p:cNvPr id="19" name="TextBox 19"/>
              <p:cNvSpPr txBox="1"/>
              <p:nvPr/>
            </p:nvSpPr>
            <p:spPr>
              <a:xfrm>
                <a:off x="909447" y="122824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每日节奏</a:t>
                </a:r>
              </a:p>
            </p:txBody>
          </p:sp>
          <p:sp>
            <p:nvSpPr>
              <p:cNvPr id="20" name="TextBox 20"/>
              <p:cNvSpPr txBox="1"/>
              <p:nvPr/>
            </p:nvSpPr>
            <p:spPr>
              <a:xfrm>
                <a:off x="2414844" y="1248489"/>
                <a:ext cx="828418" cy="154781"/>
              </a:xfrm>
              <a:prstGeom prst="rect">
                <a:avLst/>
              </a:prstGeom>
              <a:noFill/>
              <a:ln>
                <a:noFill/>
              </a:ln>
            </p:spPr>
            <p:txBody>
              <a:bodyPr wrap="none" lIns="0" tIns="0" rIns="0" bIns="0" anchor="t" anchorCtr="0">
                <a:spAutoFit/>
              </a:bodyPr>
              <a:lstStyle/>
              <a:p>
                <a:pPr algn="r"/>
                <a:r>
                  <a:rPr lang="zh-CN" sz="790" dirty="0">
                    <a:solidFill>
                      <a:srgbClr val="6B7280"/>
                    </a:solidFill>
                    <a:latin typeface="+mn-lt"/>
                    <a:ea typeface="+mn-ea"/>
                    <a:cs typeface="+mn-cs"/>
                  </a:rPr>
                  <a:t>09:00—20:00​​​</a:t>
                </a:r>
              </a:p>
            </p:txBody>
          </p:sp>
          <p:sp>
            <p:nvSpPr>
              <p:cNvPr id="21" name="Line 21"/>
              <p:cNvSpPr/>
              <p:nvPr/>
            </p:nvSpPr>
            <p:spPr>
              <a:xfrm>
                <a:off x="914400" y="1400175"/>
                <a:ext cx="2324100" cy="9525"/>
              </a:xfrm>
              <a:custGeom>
                <a:avLst/>
                <a:gdLst/>
                <a:ahLst/>
                <a:cxnLst/>
                <a:rect l="l" t="t" r="r" b="b"/>
                <a:pathLst>
                  <a:path w="2324100" h="9525">
                    <a:moveTo>
                      <a:pt x="0" y="0"/>
                    </a:moveTo>
                    <a:lnTo>
                      <a:pt x="2324100" y="0"/>
                    </a:lnTo>
                  </a:path>
                </a:pathLst>
              </a:custGeom>
              <a:noFill/>
              <a:ln w="9525">
                <a:solidFill>
                  <a:srgbClr val="DCE6F8"/>
                </a:solidFill>
              </a:ln>
            </p:spPr>
          </p:sp>
          <p:sp>
            <p:nvSpPr>
              <p:cNvPr id="22" name="TextBox 22"/>
              <p:cNvSpPr txBox="1"/>
              <p:nvPr/>
            </p:nvSpPr>
            <p:spPr>
              <a:xfrm>
                <a:off x="909638" y="1481138"/>
                <a:ext cx="1866900" cy="452438"/>
              </a:xfrm>
              <a:prstGeom prst="rect">
                <a:avLst/>
              </a:prstGeom>
              <a:noFill/>
              <a:ln>
                <a:noFill/>
              </a:ln>
            </p:spPr>
            <p:txBody>
              <a:bodyPr wrap="none" lIns="0" tIns="0" rIns="0" bIns="0" anchor="t" anchorCtr="0">
                <a:spAutoFit/>
              </a:bodyPr>
              <a:lstStyle/>
              <a:p>
                <a:pPr algn="l" marL="80962" indent="-80962">
                  <a:lnSpc>
                    <a:spcPts val="1200"/>
                  </a:lnSpc>
                  <a:buClr>
                    <a:srgbClr val="473633"/>
                  </a:buClr>
                  <a:buSzTx/>
                  <a:buFontTx/>
                  <a:buChar char="•"/>
                </a:pPr>
                <a:r>
                  <a:rPr lang="zh-CN" sz="750" dirty="0">
                    <a:solidFill>
                      <a:srgbClr val="473633"/>
                    </a:solidFill>
                    <a:latin typeface="+mn-lt"/>
                    <a:ea typeface="+mn-ea"/>
                    <a:cs typeface="+mn-cs"/>
                  </a:rPr>
                  <a:t>早会：目标、重点、客户清单与分工​​​</a:t>
                </a:r>
              </a:p>
              <a:p>
                <a:pPr algn="l" marL="80962" indent="-80962">
                  <a:lnSpc>
                    <a:spcPts val="1200"/>
                  </a:lnSpc>
                  <a:buClr>
                    <a:srgbClr val="473633"/>
                  </a:buClr>
                  <a:buSzTx/>
                  <a:buFontTx/>
                  <a:buChar char="•"/>
                </a:pPr>
                <a:r>
                  <a:rPr lang="zh-CN" sz="750" dirty="0">
                    <a:solidFill>
                      <a:srgbClr val="473633"/>
                    </a:solidFill>
                    <a:latin typeface="+mn-lt"/>
                    <a:ea typeface="+mn-ea"/>
                    <a:cs typeface="+mn-cs"/>
                  </a:rPr>
                  <a:t>日中：过程跟踪、问题识别与支援​​​</a:t>
                </a:r>
              </a:p>
              <a:p>
                <a:pPr algn="l" marL="80962" indent="-80962">
                  <a:lnSpc>
                    <a:spcPts val="1200"/>
                  </a:lnSpc>
                  <a:buClr>
                    <a:srgbClr val="473633"/>
                  </a:buClr>
                  <a:buSzTx/>
                  <a:buFontTx/>
                  <a:buChar char="•"/>
                </a:pPr>
                <a:r>
                  <a:rPr lang="zh-CN" sz="750" dirty="0">
                    <a:solidFill>
                      <a:srgbClr val="473633"/>
                    </a:solidFill>
                    <a:latin typeface="+mn-lt"/>
                    <a:ea typeface="+mn-ea"/>
                    <a:cs typeface="+mn-cs"/>
                  </a:rPr>
                  <a:t>日终：结果数据、更新客户与明日计划​​​</a:t>
                </a:r>
              </a:p>
            </p:txBody>
          </p:sp>
          <p:sp>
            <p:nvSpPr>
              <p:cNvPr id="23" name="Rectangle 23"/>
              <p:cNvSpPr/>
              <p:nvPr/>
            </p:nvSpPr>
            <p:spPr>
              <a:xfrm>
                <a:off x="3333750" y="1409700"/>
                <a:ext cx="590550" cy="476250"/>
              </a:xfrm>
              <a:prstGeom prst="roundRect">
                <a:avLst>
                  <a:gd name="adj" fmla="val 10000"/>
                </a:avLst>
              </a:prstGeom>
              <a:solidFill>
                <a:srgbClr val="EAF3FE"/>
              </a:solidFill>
              <a:ln>
                <a:noFill/>
              </a:ln>
            </p:spPr>
          </p:sp>
          <p:sp>
            <p:nvSpPr>
              <p:cNvPr id="24" name="TextBox 24"/>
              <p:cNvSpPr txBox="1"/>
              <p:nvPr/>
            </p:nvSpPr>
            <p:spPr>
              <a:xfrm>
                <a:off x="3433102" y="1523286"/>
                <a:ext cx="391846" cy="140494"/>
              </a:xfrm>
              <a:prstGeom prst="rect">
                <a:avLst/>
              </a:prstGeom>
              <a:noFill/>
              <a:ln>
                <a:noFill/>
              </a:ln>
            </p:spPr>
            <p:txBody>
              <a:bodyPr wrap="none" lIns="0" tIns="0" rIns="0" bIns="0" anchor="t" anchorCtr="0">
                <a:spAutoFit/>
              </a:bodyPr>
              <a:lstStyle/>
              <a:p>
                <a:pPr algn="ctr"/>
                <a:r>
                  <a:rPr lang="zh-CN" sz="710" dirty="0">
                    <a:solidFill>
                      <a:srgbClr val="6E1604"/>
                    </a:solidFill>
                    <a:latin typeface="+mn-lt"/>
                    <a:ea typeface="+mn-ea"/>
                    <a:cs typeface="+mn-cs"/>
                  </a:rPr>
                  <a:t>关键指标</a:t>
                </a:r>
              </a:p>
            </p:txBody>
          </p:sp>
          <p:sp>
            <p:nvSpPr>
              <p:cNvPr id="25" name="TextBox 25"/>
              <p:cNvSpPr txBox="1"/>
              <p:nvPr/>
            </p:nvSpPr>
            <p:spPr>
              <a:xfrm>
                <a:off x="3513369" y="1693545"/>
                <a:ext cx="231313" cy="176212"/>
              </a:xfrm>
              <a:prstGeom prst="rect">
                <a:avLst/>
              </a:prstGeom>
              <a:noFill/>
              <a:ln>
                <a:noFill/>
              </a:ln>
            </p:spPr>
            <p:txBody>
              <a:bodyPr wrap="none" lIns="0" tIns="0" rIns="0" bIns="0" anchor="t" anchorCtr="0">
                <a:spAutoFit/>
              </a:bodyPr>
              <a:lstStyle/>
              <a:p>
                <a:pPr algn="ctr"/>
                <a:r>
                  <a:rPr lang="en-US" sz="900" b="1" dirty="0">
                    <a:solidFill>
                      <a:srgbClr val="B92102"/>
                    </a:solidFill>
                    <a:latin typeface="+mn-lt"/>
                    <a:ea typeface="+mn-ea"/>
                    <a:cs typeface="+mn-cs"/>
                  </a:rPr>
                  <a:t>XX​</a:t>
                </a:r>
              </a:p>
            </p:txBody>
          </p:sp>
        </p:grpSp>
        <p:grpSp>
          <p:nvGrpSpPr>
            <p:cNvPr id="42" name="rhythm-weekly"/>
            <p:cNvGrpSpPr/>
            <p:nvPr/>
          </p:nvGrpSpPr>
          <p:grpSpPr>
            <a:xfrm>
              <a:off x="419100" y="2256949"/>
              <a:ext cx="3505200" cy="705327"/>
              <a:chOff x="419100" y="2256949"/>
              <a:chExt cx="3505200" cy="705327"/>
            </a:xfrm>
          </p:grpSpPr>
          <p:sp>
            <p:nvSpPr>
              <p:cNvPr id="27" name="Ellipse 27"/>
              <p:cNvSpPr/>
              <p:nvPr/>
            </p:nvSpPr>
            <p:spPr>
              <a:xfrm>
                <a:off x="419100" y="2362200"/>
                <a:ext cx="381000" cy="381000"/>
              </a:xfrm>
              <a:prstGeom prst="ellipse">
                <a:avLst/>
              </a:prstGeom>
              <a:solidFill>
                <a:srgbClr val="FFFFFF"/>
              </a:solidFill>
              <a:ln w="11430">
                <a:solidFill>
                  <a:srgbClr val="E3907F"/>
                </a:solidFill>
              </a:ln>
            </p:spPr>
          </p:sp>
          <p:grpSp>
            <p:nvGrpSpPr>
              <p:cNvPr id="34" name="Group 34"/>
              <p:cNvGrpSpPr/>
              <p:nvPr/>
            </p:nvGrpSpPr>
            <p:grpSpPr>
              <a:xfrm>
                <a:off x="533400" y="2466975"/>
                <a:ext cx="152400" cy="171450"/>
                <a:chOff x="533400" y="2466975"/>
                <a:chExt cx="152400" cy="171450"/>
              </a:xfrm>
            </p:grpSpPr>
            <p:sp>
              <p:nvSpPr>
                <p:cNvPr id="28" name="Freeform 28"/>
                <p:cNvSpPr/>
                <p:nvPr/>
              </p:nvSpPr>
              <p:spPr>
                <a:xfrm>
                  <a:off x="533400" y="2486025"/>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B92102"/>
                  </a:solidFill>
                </a:ln>
              </p:spPr>
            </p:sp>
            <p:sp>
              <p:nvSpPr>
                <p:cNvPr id="29" name="Freeform 29"/>
                <p:cNvSpPr/>
                <p:nvPr/>
              </p:nvSpPr>
              <p:spPr>
                <a:xfrm>
                  <a:off x="647700" y="2466975"/>
                  <a:ext cx="9525" cy="38100"/>
                </a:xfrm>
                <a:custGeom>
                  <a:avLst/>
                  <a:gdLst/>
                  <a:ahLst/>
                  <a:cxnLst/>
                  <a:rect l="l" t="t" r="r" b="b"/>
                  <a:pathLst>
                    <a:path w="9525" h="38100">
                      <a:moveTo>
                        <a:pt x="0" y="0"/>
                      </a:moveTo>
                      <a:lnTo>
                        <a:pt x="0" y="38100"/>
                      </a:lnTo>
                    </a:path>
                  </a:pathLst>
                </a:custGeom>
                <a:noFill/>
                <a:ln w="19050">
                  <a:solidFill>
                    <a:srgbClr val="B92102"/>
                  </a:solidFill>
                </a:ln>
              </p:spPr>
            </p:sp>
            <p:sp>
              <p:nvSpPr>
                <p:cNvPr id="30" name="Freeform 30"/>
                <p:cNvSpPr/>
                <p:nvPr/>
              </p:nvSpPr>
              <p:spPr>
                <a:xfrm>
                  <a:off x="571500" y="2466975"/>
                  <a:ext cx="9525" cy="38100"/>
                </a:xfrm>
                <a:custGeom>
                  <a:avLst/>
                  <a:gdLst/>
                  <a:ahLst/>
                  <a:cxnLst/>
                  <a:rect l="l" t="t" r="r" b="b"/>
                  <a:pathLst>
                    <a:path w="9525" h="38100">
                      <a:moveTo>
                        <a:pt x="0" y="0"/>
                      </a:moveTo>
                      <a:lnTo>
                        <a:pt x="0" y="38100"/>
                      </a:lnTo>
                    </a:path>
                  </a:pathLst>
                </a:custGeom>
                <a:noFill/>
                <a:ln w="19050">
                  <a:solidFill>
                    <a:srgbClr val="B92102"/>
                  </a:solidFill>
                </a:ln>
              </p:spPr>
            </p:sp>
            <p:sp>
              <p:nvSpPr>
                <p:cNvPr id="31" name="Freeform 31"/>
                <p:cNvSpPr/>
                <p:nvPr/>
              </p:nvSpPr>
              <p:spPr>
                <a:xfrm>
                  <a:off x="533400" y="2543175"/>
                  <a:ext cx="152400" cy="9525"/>
                </a:xfrm>
                <a:custGeom>
                  <a:avLst/>
                  <a:gdLst/>
                  <a:ahLst/>
                  <a:cxnLst/>
                  <a:rect l="l" t="t" r="r" b="b"/>
                  <a:pathLst>
                    <a:path w="152400" h="9525">
                      <a:moveTo>
                        <a:pt x="0" y="0"/>
                      </a:moveTo>
                      <a:lnTo>
                        <a:pt x="152400" y="0"/>
                      </a:lnTo>
                    </a:path>
                  </a:pathLst>
                </a:custGeom>
                <a:noFill/>
                <a:ln w="19050">
                  <a:solidFill>
                    <a:srgbClr val="B92102"/>
                  </a:solidFill>
                </a:ln>
              </p:spPr>
            </p:sp>
            <p:sp>
              <p:nvSpPr>
                <p:cNvPr id="32" name="Freeform 32"/>
                <p:cNvSpPr/>
                <p:nvPr/>
              </p:nvSpPr>
              <p:spPr>
                <a:xfrm>
                  <a:off x="600075" y="2581275"/>
                  <a:ext cx="9525" cy="9525"/>
                </a:xfrm>
                <a:custGeom>
                  <a:avLst/>
                  <a:gdLst/>
                  <a:ahLst/>
                  <a:cxnLst/>
                  <a:rect l="l" t="t" r="r" b="b"/>
                  <a:pathLst>
                    <a:path w="9525" h="9525">
                      <a:moveTo>
                        <a:pt x="0" y="0"/>
                      </a:moveTo>
                      <a:lnTo>
                        <a:pt x="9525" y="0"/>
                      </a:lnTo>
                    </a:path>
                  </a:pathLst>
                </a:custGeom>
                <a:noFill/>
                <a:ln w="19050">
                  <a:solidFill>
                    <a:srgbClr val="B92102"/>
                  </a:solidFill>
                </a:ln>
              </p:spPr>
            </p:sp>
            <p:sp>
              <p:nvSpPr>
                <p:cNvPr id="33" name="Freeform 33"/>
                <p:cNvSpPr/>
                <p:nvPr/>
              </p:nvSpPr>
              <p:spPr>
                <a:xfrm>
                  <a:off x="609600" y="2581275"/>
                  <a:ext cx="9525" cy="28575"/>
                </a:xfrm>
                <a:custGeom>
                  <a:avLst/>
                  <a:gdLst/>
                  <a:ahLst/>
                  <a:cxnLst/>
                  <a:rect l="l" t="t" r="r" b="b"/>
                  <a:pathLst>
                    <a:path w="9525" h="28575">
                      <a:moveTo>
                        <a:pt x="0" y="0"/>
                      </a:moveTo>
                      <a:lnTo>
                        <a:pt x="0" y="28575"/>
                      </a:lnTo>
                    </a:path>
                  </a:pathLst>
                </a:custGeom>
                <a:noFill/>
                <a:ln w="19050">
                  <a:solidFill>
                    <a:srgbClr val="B92102"/>
                  </a:solidFill>
                </a:ln>
              </p:spPr>
            </p:sp>
          </p:grpSp>
          <p:sp>
            <p:nvSpPr>
              <p:cNvPr id="35" name="TextBox 35"/>
              <p:cNvSpPr txBox="1"/>
              <p:nvPr/>
            </p:nvSpPr>
            <p:spPr>
              <a:xfrm>
                <a:off x="909447" y="225694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每周节奏</a:t>
                </a:r>
              </a:p>
            </p:txBody>
          </p:sp>
          <p:sp>
            <p:nvSpPr>
              <p:cNvPr id="36" name="TextBox 36"/>
              <p:cNvSpPr txBox="1"/>
              <p:nvPr/>
            </p:nvSpPr>
            <p:spPr>
              <a:xfrm>
                <a:off x="2632861" y="2277189"/>
                <a:ext cx="610401" cy="154781"/>
              </a:xfrm>
              <a:prstGeom prst="rect">
                <a:avLst/>
              </a:prstGeom>
              <a:noFill/>
              <a:ln>
                <a:noFill/>
              </a:ln>
            </p:spPr>
            <p:txBody>
              <a:bodyPr wrap="none" lIns="0" tIns="0" rIns="0" bIns="0" anchor="t" anchorCtr="0">
                <a:spAutoFit/>
              </a:bodyPr>
              <a:lstStyle/>
              <a:p>
                <a:pPr algn="r"/>
                <a:r>
                  <a:rPr lang="zh-CN" sz="790" dirty="0">
                    <a:solidFill>
                      <a:srgbClr val="6B7280"/>
                    </a:solidFill>
                    <a:latin typeface="+mn-lt"/>
                    <a:ea typeface="+mn-ea"/>
                    <a:cs typeface="+mn-cs"/>
                  </a:rPr>
                  <a:t>周一—周日​​</a:t>
                </a:r>
              </a:p>
            </p:txBody>
          </p:sp>
          <p:sp>
            <p:nvSpPr>
              <p:cNvPr id="37" name="Line 37"/>
              <p:cNvSpPr/>
              <p:nvPr/>
            </p:nvSpPr>
            <p:spPr>
              <a:xfrm>
                <a:off x="914400" y="2428875"/>
                <a:ext cx="2324100" cy="9525"/>
              </a:xfrm>
              <a:custGeom>
                <a:avLst/>
                <a:gdLst/>
                <a:ahLst/>
                <a:cxnLst/>
                <a:rect l="l" t="t" r="r" b="b"/>
                <a:pathLst>
                  <a:path w="2324100" h="9525">
                    <a:moveTo>
                      <a:pt x="0" y="0"/>
                    </a:moveTo>
                    <a:lnTo>
                      <a:pt x="2324100" y="0"/>
                    </a:lnTo>
                  </a:path>
                </a:pathLst>
              </a:custGeom>
              <a:noFill/>
              <a:ln w="9525">
                <a:solidFill>
                  <a:srgbClr val="DCE6F8"/>
                </a:solidFill>
              </a:ln>
            </p:spPr>
          </p:sp>
          <p:sp>
            <p:nvSpPr>
              <p:cNvPr id="38" name="TextBox 38"/>
              <p:cNvSpPr txBox="1"/>
              <p:nvPr/>
            </p:nvSpPr>
            <p:spPr>
              <a:xfrm>
                <a:off x="909638" y="2509838"/>
                <a:ext cx="1962150" cy="452438"/>
              </a:xfrm>
              <a:prstGeom prst="rect">
                <a:avLst/>
              </a:prstGeom>
              <a:noFill/>
              <a:ln>
                <a:noFill/>
              </a:ln>
            </p:spPr>
            <p:txBody>
              <a:bodyPr wrap="none" lIns="0" tIns="0" rIns="0" bIns="0" anchor="t" anchorCtr="0">
                <a:spAutoFit/>
              </a:bodyPr>
              <a:lstStyle/>
              <a:p>
                <a:pPr algn="l" marL="80962" indent="-80962">
                  <a:lnSpc>
                    <a:spcPts val="1200"/>
                  </a:lnSpc>
                  <a:buClr>
                    <a:srgbClr val="473633"/>
                  </a:buClr>
                  <a:buSzTx/>
                  <a:buFontTx/>
                  <a:buChar char="•"/>
                </a:pPr>
                <a:r>
                  <a:rPr lang="zh-CN" sz="750" dirty="0">
                    <a:solidFill>
                      <a:srgbClr val="473633"/>
                    </a:solidFill>
                    <a:latin typeface="+mn-lt"/>
                    <a:ea typeface="+mn-ea"/>
                    <a:cs typeface="+mn-cs"/>
                  </a:rPr>
                  <a:t>周例会：目标达成、指标看板与问题清单​​​</a:t>
                </a:r>
              </a:p>
              <a:p>
                <a:pPr algn="l" marL="80962" indent="-80962">
                  <a:lnSpc>
                    <a:spcPts val="1200"/>
                  </a:lnSpc>
                  <a:buClr>
                    <a:srgbClr val="473633"/>
                  </a:buClr>
                  <a:buSzTx/>
                  <a:buFontTx/>
                  <a:buChar char="•"/>
                </a:pPr>
                <a:r>
                  <a:rPr lang="zh-CN" sz="750" dirty="0">
                    <a:solidFill>
                      <a:srgbClr val="473633"/>
                    </a:solidFill>
                    <a:latin typeface="+mn-lt"/>
                    <a:ea typeface="+mn-ea"/>
                    <a:cs typeface="+mn-cs"/>
                  </a:rPr>
                  <a:t>管理回顾：新增、转化、储备与质量分析​​​</a:t>
                </a:r>
              </a:p>
              <a:p>
                <a:pPr algn="l" marL="80962" indent="-80962">
                  <a:lnSpc>
                    <a:spcPts val="1200"/>
                  </a:lnSpc>
                  <a:buClr>
                    <a:srgbClr val="473633"/>
                  </a:buClr>
                  <a:buSzTx/>
                  <a:buFontTx/>
                  <a:buChar char="•"/>
                </a:pPr>
                <a:r>
                  <a:rPr lang="zh-CN" sz="750" dirty="0">
                    <a:solidFill>
                      <a:srgbClr val="473633"/>
                    </a:solidFill>
                    <a:latin typeface="+mn-lt"/>
                    <a:ea typeface="+mn-ea"/>
                    <a:cs typeface="+mn-cs"/>
                  </a:rPr>
                  <a:t>能力提升：案例复盘、经验分享与训练​​​</a:t>
                </a:r>
              </a:p>
            </p:txBody>
          </p:sp>
          <p:sp>
            <p:nvSpPr>
              <p:cNvPr id="39" name="Rectangle 39"/>
              <p:cNvSpPr/>
              <p:nvPr/>
            </p:nvSpPr>
            <p:spPr>
              <a:xfrm>
                <a:off x="3333750" y="2438400"/>
                <a:ext cx="590550" cy="476250"/>
              </a:xfrm>
              <a:prstGeom prst="roundRect">
                <a:avLst>
                  <a:gd name="adj" fmla="val 10000"/>
                </a:avLst>
              </a:prstGeom>
              <a:solidFill>
                <a:srgbClr val="EAF3FE"/>
              </a:solidFill>
              <a:ln>
                <a:noFill/>
              </a:ln>
            </p:spPr>
          </p:sp>
          <p:sp>
            <p:nvSpPr>
              <p:cNvPr id="40" name="TextBox 40"/>
              <p:cNvSpPr txBox="1"/>
              <p:nvPr/>
            </p:nvSpPr>
            <p:spPr>
              <a:xfrm>
                <a:off x="3433102" y="2551986"/>
                <a:ext cx="391846" cy="140494"/>
              </a:xfrm>
              <a:prstGeom prst="rect">
                <a:avLst/>
              </a:prstGeom>
              <a:noFill/>
              <a:ln>
                <a:noFill/>
              </a:ln>
            </p:spPr>
            <p:txBody>
              <a:bodyPr wrap="none" lIns="0" tIns="0" rIns="0" bIns="0" anchor="t" anchorCtr="0">
                <a:spAutoFit/>
              </a:bodyPr>
              <a:lstStyle/>
              <a:p>
                <a:pPr algn="ctr"/>
                <a:r>
                  <a:rPr lang="zh-CN" sz="710" dirty="0">
                    <a:solidFill>
                      <a:srgbClr val="6E1604"/>
                    </a:solidFill>
                    <a:latin typeface="+mn-lt"/>
                    <a:ea typeface="+mn-ea"/>
                    <a:cs typeface="+mn-cs"/>
                  </a:rPr>
                  <a:t>关键指标</a:t>
                </a:r>
              </a:p>
            </p:txBody>
          </p:sp>
          <p:sp>
            <p:nvSpPr>
              <p:cNvPr id="41" name="TextBox 41"/>
              <p:cNvSpPr txBox="1"/>
              <p:nvPr/>
            </p:nvSpPr>
            <p:spPr>
              <a:xfrm>
                <a:off x="3513369" y="2722245"/>
                <a:ext cx="231313" cy="176212"/>
              </a:xfrm>
              <a:prstGeom prst="rect">
                <a:avLst/>
              </a:prstGeom>
              <a:noFill/>
              <a:ln>
                <a:noFill/>
              </a:ln>
            </p:spPr>
            <p:txBody>
              <a:bodyPr wrap="none" lIns="0" tIns="0" rIns="0" bIns="0" anchor="t" anchorCtr="0">
                <a:spAutoFit/>
              </a:bodyPr>
              <a:lstStyle/>
              <a:p>
                <a:pPr algn="ctr"/>
                <a:r>
                  <a:rPr lang="en-US" sz="900" b="1" dirty="0">
                    <a:solidFill>
                      <a:srgbClr val="B92102"/>
                    </a:solidFill>
                    <a:latin typeface="+mn-lt"/>
                    <a:ea typeface="+mn-ea"/>
                    <a:cs typeface="+mn-cs"/>
                  </a:rPr>
                  <a:t>XX​</a:t>
                </a:r>
              </a:p>
            </p:txBody>
          </p:sp>
        </p:grpSp>
        <p:grpSp>
          <p:nvGrpSpPr>
            <p:cNvPr id="56" name="rhythm-monthly"/>
            <p:cNvGrpSpPr/>
            <p:nvPr/>
          </p:nvGrpSpPr>
          <p:grpSpPr>
            <a:xfrm>
              <a:off x="419100" y="3285649"/>
              <a:ext cx="3505200" cy="705327"/>
              <a:chOff x="419100" y="3285649"/>
              <a:chExt cx="3505200" cy="705327"/>
            </a:xfrm>
          </p:grpSpPr>
          <p:sp>
            <p:nvSpPr>
              <p:cNvPr id="43" name="Ellipse 43"/>
              <p:cNvSpPr/>
              <p:nvPr/>
            </p:nvSpPr>
            <p:spPr>
              <a:xfrm>
                <a:off x="419100" y="3390900"/>
                <a:ext cx="381000" cy="381000"/>
              </a:xfrm>
              <a:prstGeom prst="ellipse">
                <a:avLst/>
              </a:prstGeom>
              <a:solidFill>
                <a:srgbClr val="FFFFFF"/>
              </a:solidFill>
              <a:ln w="11430">
                <a:solidFill>
                  <a:srgbClr val="E3907F"/>
                </a:solidFill>
              </a:ln>
            </p:spPr>
          </p:sp>
          <p:grpSp>
            <p:nvGrpSpPr>
              <p:cNvPr id="48" name="Group 48"/>
              <p:cNvGrpSpPr/>
              <p:nvPr/>
            </p:nvGrpSpPr>
            <p:grpSpPr>
              <a:xfrm>
                <a:off x="523875" y="3505200"/>
                <a:ext cx="171450" cy="161925"/>
                <a:chOff x="523875" y="3505200"/>
                <a:chExt cx="171450" cy="161925"/>
              </a:xfrm>
            </p:grpSpPr>
            <p:sp>
              <p:nvSpPr>
                <p:cNvPr id="44" name="Freeform 44"/>
                <p:cNvSpPr/>
                <p:nvPr/>
              </p:nvSpPr>
              <p:spPr>
                <a:xfrm>
                  <a:off x="523875" y="35814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B92102"/>
                  </a:solidFill>
                </a:ln>
              </p:spPr>
            </p:sp>
            <p:sp>
              <p:nvSpPr>
                <p:cNvPr id="45" name="Freeform 45"/>
                <p:cNvSpPr/>
                <p:nvPr/>
              </p:nvSpPr>
              <p:spPr>
                <a:xfrm>
                  <a:off x="638175" y="35433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B92102"/>
                  </a:solidFill>
                </a:ln>
              </p:spPr>
            </p:sp>
            <p:sp>
              <p:nvSpPr>
                <p:cNvPr id="46" name="Freeform 46"/>
                <p:cNvSpPr/>
                <p:nvPr/>
              </p:nvSpPr>
              <p:spPr>
                <a:xfrm>
                  <a:off x="581025" y="35052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B92102"/>
                  </a:solidFill>
                </a:ln>
              </p:spPr>
            </p:sp>
            <p:sp>
              <p:nvSpPr>
                <p:cNvPr id="47" name="Freeform 47"/>
                <p:cNvSpPr/>
                <p:nvPr/>
              </p:nvSpPr>
              <p:spPr>
                <a:xfrm>
                  <a:off x="533400" y="3657600"/>
                  <a:ext cx="133350" cy="9525"/>
                </a:xfrm>
                <a:custGeom>
                  <a:avLst/>
                  <a:gdLst/>
                  <a:ahLst/>
                  <a:cxnLst/>
                  <a:rect l="l" t="t" r="r" b="b"/>
                  <a:pathLst>
                    <a:path w="133350" h="9525">
                      <a:moveTo>
                        <a:pt x="0" y="0"/>
                      </a:moveTo>
                      <a:lnTo>
                        <a:pt x="133350" y="0"/>
                      </a:lnTo>
                    </a:path>
                  </a:pathLst>
                </a:custGeom>
                <a:noFill/>
                <a:ln w="19050">
                  <a:solidFill>
                    <a:srgbClr val="B92102"/>
                  </a:solidFill>
                </a:ln>
              </p:spPr>
            </p:sp>
          </p:grpSp>
          <p:sp>
            <p:nvSpPr>
              <p:cNvPr id="49" name="TextBox 49"/>
              <p:cNvSpPr txBox="1"/>
              <p:nvPr/>
            </p:nvSpPr>
            <p:spPr>
              <a:xfrm>
                <a:off x="909447" y="328564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每月节奏</a:t>
                </a:r>
              </a:p>
            </p:txBody>
          </p:sp>
          <p:sp>
            <p:nvSpPr>
              <p:cNvPr id="50" name="TextBox 50"/>
              <p:cNvSpPr txBox="1"/>
              <p:nvPr/>
            </p:nvSpPr>
            <p:spPr>
              <a:xfrm>
                <a:off x="2914688" y="3305889"/>
                <a:ext cx="328574" cy="154781"/>
              </a:xfrm>
              <a:prstGeom prst="rect">
                <a:avLst/>
              </a:prstGeom>
              <a:noFill/>
              <a:ln>
                <a:noFill/>
              </a:ln>
            </p:spPr>
            <p:txBody>
              <a:bodyPr wrap="none" lIns="0" tIns="0" rIns="0" bIns="0" anchor="t" anchorCtr="0">
                <a:spAutoFit/>
              </a:bodyPr>
              <a:lstStyle/>
              <a:p>
                <a:pPr algn="r"/>
                <a:r>
                  <a:rPr lang="zh-CN" sz="790" dirty="0">
                    <a:solidFill>
                      <a:srgbClr val="6B7280"/>
                    </a:solidFill>
                    <a:latin typeface="+mn-lt"/>
                    <a:ea typeface="+mn-ea"/>
                    <a:cs typeface="+mn-cs"/>
                  </a:rPr>
                  <a:t>自然月</a:t>
                </a:r>
              </a:p>
            </p:txBody>
          </p:sp>
          <p:sp>
            <p:nvSpPr>
              <p:cNvPr id="51" name="Line 51"/>
              <p:cNvSpPr/>
              <p:nvPr/>
            </p:nvSpPr>
            <p:spPr>
              <a:xfrm>
                <a:off x="914400" y="3457575"/>
                <a:ext cx="2324100" cy="9525"/>
              </a:xfrm>
              <a:custGeom>
                <a:avLst/>
                <a:gdLst/>
                <a:ahLst/>
                <a:cxnLst/>
                <a:rect l="l" t="t" r="r" b="b"/>
                <a:pathLst>
                  <a:path w="2324100" h="9525">
                    <a:moveTo>
                      <a:pt x="0" y="0"/>
                    </a:moveTo>
                    <a:lnTo>
                      <a:pt x="2324100" y="0"/>
                    </a:lnTo>
                  </a:path>
                </a:pathLst>
              </a:custGeom>
              <a:noFill/>
              <a:ln w="9525">
                <a:solidFill>
                  <a:srgbClr val="DCE6F8"/>
                </a:solidFill>
              </a:ln>
            </p:spPr>
          </p:sp>
          <p:sp>
            <p:nvSpPr>
              <p:cNvPr id="52" name="TextBox 52"/>
              <p:cNvSpPr txBox="1"/>
              <p:nvPr/>
            </p:nvSpPr>
            <p:spPr>
              <a:xfrm>
                <a:off x="909638" y="3538538"/>
                <a:ext cx="2152650" cy="452438"/>
              </a:xfrm>
              <a:prstGeom prst="rect">
                <a:avLst/>
              </a:prstGeom>
              <a:noFill/>
              <a:ln>
                <a:noFill/>
              </a:ln>
            </p:spPr>
            <p:txBody>
              <a:bodyPr wrap="none" lIns="0" tIns="0" rIns="0" bIns="0" anchor="t" anchorCtr="0">
                <a:spAutoFit/>
              </a:bodyPr>
              <a:lstStyle/>
              <a:p>
                <a:pPr algn="l" marL="80962" indent="-80962">
                  <a:lnSpc>
                    <a:spcPts val="1200"/>
                  </a:lnSpc>
                  <a:buClr>
                    <a:srgbClr val="473633"/>
                  </a:buClr>
                  <a:buSzTx/>
                  <a:buFontTx/>
                  <a:buChar char="•"/>
                </a:pPr>
                <a:r>
                  <a:rPr lang="zh-CN" sz="750" dirty="0">
                    <a:solidFill>
                      <a:srgbClr val="473633"/>
                    </a:solidFill>
                    <a:latin typeface="+mn-lt"/>
                    <a:ea typeface="+mn-ea"/>
                    <a:cs typeface="+mn-cs"/>
                  </a:rPr>
                  <a:t>月度经营会：目标复盘、差距分析与改进计划​​​</a:t>
                </a:r>
              </a:p>
              <a:p>
                <a:pPr algn="l" marL="80962" indent="-80962">
                  <a:lnSpc>
                    <a:spcPts val="1200"/>
                  </a:lnSpc>
                  <a:buClr>
                    <a:srgbClr val="473633"/>
                  </a:buClr>
                  <a:buSzTx/>
                  <a:buFontTx/>
                  <a:buChar char="•"/>
                </a:pPr>
                <a:r>
                  <a:rPr lang="zh-CN" sz="750" dirty="0">
                    <a:solidFill>
                      <a:srgbClr val="473633"/>
                    </a:solidFill>
                    <a:latin typeface="+mn-lt"/>
                    <a:ea typeface="+mn-ea"/>
                    <a:cs typeface="+mn-cs"/>
                  </a:rPr>
                  <a:t>重点回顾：项目复盘、产品策略与资源配置​​​</a:t>
                </a:r>
              </a:p>
              <a:p>
                <a:pPr algn="l" marL="80962" indent="-80962">
                  <a:lnSpc>
                    <a:spcPts val="1200"/>
                  </a:lnSpc>
                  <a:buClr>
                    <a:srgbClr val="473633"/>
                  </a:buClr>
                  <a:buSzTx/>
                  <a:buFontTx/>
                  <a:buChar char="•"/>
                </a:pPr>
                <a:r>
                  <a:rPr lang="zh-CN" sz="750" dirty="0">
                    <a:solidFill>
                      <a:srgbClr val="473633"/>
                    </a:solidFill>
                    <a:latin typeface="+mn-lt"/>
                    <a:ea typeface="+mn-ea"/>
                    <a:cs typeface="+mn-cs"/>
                  </a:rPr>
                  <a:t>效能检视：人效、产能与波段校准​​​</a:t>
                </a:r>
              </a:p>
            </p:txBody>
          </p:sp>
          <p:sp>
            <p:nvSpPr>
              <p:cNvPr id="53" name="Rectangle 53"/>
              <p:cNvSpPr/>
              <p:nvPr/>
            </p:nvSpPr>
            <p:spPr>
              <a:xfrm>
                <a:off x="3333750" y="3467100"/>
                <a:ext cx="590550" cy="476250"/>
              </a:xfrm>
              <a:prstGeom prst="roundRect">
                <a:avLst>
                  <a:gd name="adj" fmla="val 10000"/>
                </a:avLst>
              </a:prstGeom>
              <a:solidFill>
                <a:srgbClr val="EAF3FE"/>
              </a:solidFill>
              <a:ln>
                <a:noFill/>
              </a:ln>
            </p:spPr>
          </p:sp>
          <p:sp>
            <p:nvSpPr>
              <p:cNvPr id="54" name="TextBox 54"/>
              <p:cNvSpPr txBox="1"/>
              <p:nvPr/>
            </p:nvSpPr>
            <p:spPr>
              <a:xfrm>
                <a:off x="3433102" y="3580686"/>
                <a:ext cx="391846" cy="140494"/>
              </a:xfrm>
              <a:prstGeom prst="rect">
                <a:avLst/>
              </a:prstGeom>
              <a:noFill/>
              <a:ln>
                <a:noFill/>
              </a:ln>
            </p:spPr>
            <p:txBody>
              <a:bodyPr wrap="none" lIns="0" tIns="0" rIns="0" bIns="0" anchor="t" anchorCtr="0">
                <a:spAutoFit/>
              </a:bodyPr>
              <a:lstStyle/>
              <a:p>
                <a:pPr algn="ctr"/>
                <a:r>
                  <a:rPr lang="zh-CN" sz="710" dirty="0">
                    <a:solidFill>
                      <a:srgbClr val="6E1604"/>
                    </a:solidFill>
                    <a:latin typeface="+mn-lt"/>
                    <a:ea typeface="+mn-ea"/>
                    <a:cs typeface="+mn-cs"/>
                  </a:rPr>
                  <a:t>关键指标</a:t>
                </a:r>
              </a:p>
            </p:txBody>
          </p:sp>
          <p:sp>
            <p:nvSpPr>
              <p:cNvPr id="55" name="TextBox 55"/>
              <p:cNvSpPr txBox="1"/>
              <p:nvPr/>
            </p:nvSpPr>
            <p:spPr>
              <a:xfrm>
                <a:off x="3513369" y="3750945"/>
                <a:ext cx="231313" cy="176212"/>
              </a:xfrm>
              <a:prstGeom prst="rect">
                <a:avLst/>
              </a:prstGeom>
              <a:noFill/>
              <a:ln>
                <a:noFill/>
              </a:ln>
            </p:spPr>
            <p:txBody>
              <a:bodyPr wrap="none" lIns="0" tIns="0" rIns="0" bIns="0" anchor="t" anchorCtr="0">
                <a:spAutoFit/>
              </a:bodyPr>
              <a:lstStyle/>
              <a:p>
                <a:pPr algn="ctr"/>
                <a:r>
                  <a:rPr lang="en-US" sz="900" b="1" dirty="0">
                    <a:solidFill>
                      <a:srgbClr val="B92102"/>
                    </a:solidFill>
                    <a:latin typeface="+mn-lt"/>
                    <a:ea typeface="+mn-ea"/>
                    <a:cs typeface="+mn-cs"/>
                  </a:rPr>
                  <a:t>XX​</a:t>
                </a:r>
              </a:p>
            </p:txBody>
          </p:sp>
        </p:grpSp>
      </p:grpSp>
      <p:grpSp>
        <p:nvGrpSpPr>
          <p:cNvPr id="118" name="collab-column"/>
          <p:cNvGrpSpPr/>
          <p:nvPr/>
        </p:nvGrpSpPr>
        <p:grpSpPr>
          <a:xfrm>
            <a:off x="4191000" y="723900"/>
            <a:ext cx="3962400" cy="3829050"/>
            <a:chOff x="4191000" y="723900"/>
            <a:chExt cx="3962400" cy="3829050"/>
          </a:xfrm>
        </p:grpSpPr>
        <p:sp>
          <p:nvSpPr>
            <p:cNvPr id="58" name="Rectangle 58"/>
            <p:cNvSpPr/>
            <p:nvPr/>
          </p:nvSpPr>
          <p:spPr>
            <a:xfrm>
              <a:off x="4191000" y="723900"/>
              <a:ext cx="3962400" cy="3829050"/>
            </a:xfrm>
            <a:prstGeom prst="roundRect">
              <a:avLst>
                <a:gd name="adj" fmla="val 1990"/>
              </a:avLst>
            </a:prstGeom>
            <a:solidFill>
              <a:srgbClr val="FFFFFF"/>
            </a:solidFill>
            <a:ln w="9525">
              <a:solidFill>
                <a:srgbClr val="F7D1C9"/>
              </a:solidFill>
            </a:ln>
          </p:spPr>
        </p:sp>
        <p:sp>
          <p:nvSpPr>
            <p:cNvPr id="59" name="Freeform 59"/>
            <p:cNvSpPr/>
            <p:nvPr/>
          </p:nvSpPr>
          <p:spPr>
            <a:xfrm>
              <a:off x="4191000" y="723900"/>
              <a:ext cx="3962400" cy="381000"/>
            </a:xfrm>
            <a:custGeom>
              <a:avLst/>
              <a:gdLst/>
              <a:ahLst/>
              <a:cxnLst/>
              <a:rect l="l" t="t" r="r" b="b"/>
              <a:pathLst>
                <a:path w="3962400" h="381000">
                  <a:moveTo>
                    <a:pt x="0" y="76200"/>
                  </a:moveTo>
                  <a:cubicBezTo>
                    <a:pt x="0" y="34116"/>
                    <a:pt x="34116" y="0"/>
                    <a:pt x="76200" y="0"/>
                  </a:cubicBezTo>
                  <a:lnTo>
                    <a:pt x="3886200" y="0"/>
                  </a:lnTo>
                  <a:cubicBezTo>
                    <a:pt x="3928284" y="0"/>
                    <a:pt x="3962400" y="34116"/>
                    <a:pt x="3962400" y="76200"/>
                  </a:cubicBezTo>
                  <a:lnTo>
                    <a:pt x="3962400" y="381000"/>
                  </a:lnTo>
                  <a:lnTo>
                    <a:pt x="0" y="381000"/>
                  </a:lnTo>
                  <a:close/>
                </a:path>
              </a:pathLst>
            </a:custGeom>
            <a:solidFill>
              <a:srgbClr val="B92102"/>
            </a:solidFill>
            <a:ln>
              <a:noFill/>
            </a:ln>
          </p:spPr>
        </p:sp>
        <p:grpSp>
          <p:nvGrpSpPr>
            <p:cNvPr id="66" name="Group 66"/>
            <p:cNvGrpSpPr/>
            <p:nvPr/>
          </p:nvGrpSpPr>
          <p:grpSpPr>
            <a:xfrm>
              <a:off x="5607844" y="835819"/>
              <a:ext cx="157162" cy="157163"/>
              <a:chOff x="5607844" y="835819"/>
              <a:chExt cx="157162" cy="157163"/>
            </a:xfrm>
          </p:grpSpPr>
          <p:sp>
            <p:nvSpPr>
              <p:cNvPr id="60" name="Freeform 60"/>
              <p:cNvSpPr/>
              <p:nvPr/>
            </p:nvSpPr>
            <p:spPr>
              <a:xfrm>
                <a:off x="5668963" y="90566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61" name="Freeform 61"/>
              <p:cNvSpPr/>
              <p:nvPr/>
            </p:nvSpPr>
            <p:spPr>
              <a:xfrm>
                <a:off x="5651500" y="966788"/>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FFFFFF"/>
                </a:solidFill>
              </a:ln>
            </p:spPr>
          </p:sp>
          <p:sp>
            <p:nvSpPr>
              <p:cNvPr id="62" name="Freeform 62"/>
              <p:cNvSpPr/>
              <p:nvPr/>
            </p:nvSpPr>
            <p:spPr>
              <a:xfrm>
                <a:off x="5712619" y="8358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63" name="Freeform 63"/>
              <p:cNvSpPr/>
              <p:nvPr/>
            </p:nvSpPr>
            <p:spPr>
              <a:xfrm>
                <a:off x="5730081" y="896938"/>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FFFFFF"/>
                </a:solidFill>
              </a:ln>
            </p:spPr>
          </p:sp>
          <p:sp>
            <p:nvSpPr>
              <p:cNvPr id="64" name="Freeform 64"/>
              <p:cNvSpPr/>
              <p:nvPr/>
            </p:nvSpPr>
            <p:spPr>
              <a:xfrm>
                <a:off x="5625306" y="8358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65" name="Freeform 65"/>
              <p:cNvSpPr/>
              <p:nvPr/>
            </p:nvSpPr>
            <p:spPr>
              <a:xfrm>
                <a:off x="5607844" y="896938"/>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FFFFFF"/>
                </a:solidFill>
              </a:ln>
            </p:spPr>
          </p:sp>
        </p:grpSp>
        <p:sp>
          <p:nvSpPr>
            <p:cNvPr id="67" name="TextBox 67"/>
            <p:cNvSpPr txBox="1"/>
            <p:nvPr/>
          </p:nvSpPr>
          <p:spPr>
            <a:xfrm>
              <a:off x="5880735" y="85010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协同机制</a:t>
              </a:r>
            </a:p>
          </p:txBody>
        </p:sp>
        <p:sp>
          <p:nvSpPr>
            <p:cNvPr id="68" name="TextBox 68"/>
            <p:cNvSpPr txBox="1"/>
            <p:nvPr/>
          </p:nvSpPr>
          <p:spPr>
            <a:xfrm>
              <a:off x="5093220" y="1217295"/>
              <a:ext cx="2157959" cy="176212"/>
            </a:xfrm>
            <a:prstGeom prst="rect">
              <a:avLst/>
            </a:prstGeom>
            <a:noFill/>
            <a:ln>
              <a:noFill/>
            </a:ln>
          </p:spPr>
          <p:txBody>
            <a:bodyPr wrap="none" lIns="0" tIns="0" rIns="0" bIns="0" anchor="t" anchorCtr="0">
              <a:spAutoFit/>
            </a:bodyPr>
            <a:lstStyle/>
            <a:p>
              <a:pPr algn="ctr"/>
              <a:r>
                <a:rPr lang="zh-CN" sz="900" b="1" dirty="0">
                  <a:solidFill>
                    <a:srgbClr val="473633"/>
                  </a:solidFill>
                  <a:latin typeface="+mn-lt"/>
                  <a:ea typeface="+mn-ea"/>
                  <a:cs typeface="+mn-cs"/>
                </a:rPr>
                <a:t>前-中-后台协同，分层支撑，快速响应​</a:t>
              </a:r>
            </a:p>
          </p:txBody>
        </p:sp>
        <p:grpSp>
          <p:nvGrpSpPr>
            <p:cNvPr id="77" name="tier-front"/>
            <p:cNvGrpSpPr/>
            <p:nvPr/>
          </p:nvGrpSpPr>
          <p:grpSpPr>
            <a:xfrm>
              <a:off x="4438650" y="1428750"/>
              <a:ext cx="3467100" cy="476250"/>
              <a:chOff x="4438650" y="1428750"/>
              <a:chExt cx="3467100" cy="476250"/>
            </a:xfrm>
          </p:grpSpPr>
          <p:sp>
            <p:nvSpPr>
              <p:cNvPr id="69" name="Rectangle 69"/>
              <p:cNvSpPr/>
              <p:nvPr/>
            </p:nvSpPr>
            <p:spPr>
              <a:xfrm>
                <a:off x="4438650" y="1428750"/>
                <a:ext cx="3467100" cy="476250"/>
              </a:xfrm>
              <a:prstGeom prst="roundRect">
                <a:avLst>
                  <a:gd name="adj" fmla="val 12000"/>
                </a:avLst>
              </a:prstGeom>
              <a:solidFill>
                <a:srgbClr val="EAF3FE"/>
              </a:solidFill>
              <a:ln w="9525">
                <a:solidFill>
                  <a:srgbClr val="F7D1C9"/>
                </a:solidFill>
              </a:ln>
            </p:spPr>
          </p:sp>
          <p:sp>
            <p:nvSpPr>
              <p:cNvPr id="70" name="Ellipse 70"/>
              <p:cNvSpPr/>
              <p:nvPr/>
            </p:nvSpPr>
            <p:spPr>
              <a:xfrm>
                <a:off x="4562475" y="1524000"/>
                <a:ext cx="285750" cy="285750"/>
              </a:xfrm>
              <a:prstGeom prst="ellipse">
                <a:avLst/>
              </a:prstGeom>
              <a:solidFill>
                <a:srgbClr val="B92102"/>
              </a:solidFill>
              <a:ln>
                <a:noFill/>
              </a:ln>
            </p:spPr>
          </p:sp>
          <p:grpSp>
            <p:nvGrpSpPr>
              <p:cNvPr id="74" name="Group 74"/>
              <p:cNvGrpSpPr/>
              <p:nvPr/>
            </p:nvGrpSpPr>
            <p:grpSpPr>
              <a:xfrm>
                <a:off x="4662488" y="1602581"/>
                <a:ext cx="107155" cy="128588"/>
                <a:chOff x="4662488" y="1602581"/>
                <a:chExt cx="107155" cy="128588"/>
              </a:xfrm>
            </p:grpSpPr>
            <p:sp>
              <p:nvSpPr>
                <p:cNvPr id="71" name="Freeform 71"/>
                <p:cNvSpPr/>
                <p:nvPr/>
              </p:nvSpPr>
              <p:spPr>
                <a:xfrm>
                  <a:off x="4676775" y="16025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72" name="Freeform 72"/>
                <p:cNvSpPr/>
                <p:nvPr/>
              </p:nvSpPr>
              <p:spPr>
                <a:xfrm>
                  <a:off x="4662488" y="168830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FFFFFF"/>
                  </a:solidFill>
                </a:ln>
              </p:spPr>
            </p:sp>
            <p:sp>
              <p:nvSpPr>
                <p:cNvPr id="73" name="Freeform 73"/>
                <p:cNvSpPr/>
                <p:nvPr/>
              </p:nvSpPr>
              <p:spPr>
                <a:xfrm>
                  <a:off x="4726781" y="1702594"/>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75" name="TextBox 75"/>
              <p:cNvSpPr txBox="1"/>
              <p:nvPr/>
            </p:nvSpPr>
            <p:spPr>
              <a:xfrm>
                <a:off x="4948238" y="1527572"/>
                <a:ext cx="1567267"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前台（客户经理/团队）​​​</a:t>
                </a:r>
              </a:p>
            </p:txBody>
          </p:sp>
          <p:sp>
            <p:nvSpPr>
              <p:cNvPr id="76" name="TextBox 76"/>
              <p:cNvSpPr txBox="1"/>
              <p:nvPr/>
            </p:nvSpPr>
            <p:spPr>
              <a:xfrm>
                <a:off x="4948238" y="1728788"/>
                <a:ext cx="1983391"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客户经营、需求挖掘、方案呈现、签约服务​</a:t>
                </a:r>
              </a:p>
            </p:txBody>
          </p:sp>
        </p:grpSp>
        <p:sp>
          <p:nvSpPr>
            <p:cNvPr id="78" name="Line 78"/>
            <p:cNvSpPr/>
            <p:nvPr/>
          </p:nvSpPr>
          <p:spPr>
            <a:xfrm flipV="1">
              <a:off x="5334000" y="1981200"/>
              <a:ext cx="1" cy="323850"/>
            </a:xfrm>
            <a:prstGeom prst="line">
              <a:avLst/>
            </a:prstGeom>
            <a:noFill/>
            <a:ln w="11430">
              <a:solidFill>
                <a:srgbClr val="D44B2F"/>
              </a:solidFill>
              <a:tailEnd type="triangle" w="lg" len="lg"/>
            </a:ln>
          </p:spPr>
        </p:sp>
        <p:sp>
          <p:nvSpPr>
            <p:cNvPr id="79" name="TextBox 79"/>
            <p:cNvSpPr txBox="1"/>
            <p:nvPr/>
          </p:nvSpPr>
          <p:spPr>
            <a:xfrm>
              <a:off x="4314736" y="2117884"/>
              <a:ext cx="947826" cy="133350"/>
            </a:xfrm>
            <a:prstGeom prst="rect">
              <a:avLst/>
            </a:prstGeom>
            <a:noFill/>
            <a:ln>
              <a:noFill/>
            </a:ln>
          </p:spPr>
          <p:txBody>
            <a:bodyPr wrap="none" lIns="0" tIns="0" rIns="0" bIns="0" anchor="t" anchorCtr="0">
              <a:spAutoFit/>
            </a:bodyPr>
            <a:lstStyle/>
            <a:p>
              <a:pPr algn="r"/>
              <a:r>
                <a:rPr lang="zh-CN" sz="680" dirty="0">
                  <a:solidFill>
                    <a:srgbClr val="6B7280"/>
                  </a:solidFill>
                  <a:latin typeface="+mn-lt"/>
                  <a:ea typeface="+mn-ea"/>
                  <a:cs typeface="+mn-cs"/>
                </a:rPr>
                <a:t>问题上报 / 支援请求​​</a:t>
              </a:r>
            </a:p>
          </p:txBody>
        </p:sp>
        <p:sp>
          <p:nvSpPr>
            <p:cNvPr id="80" name="Line 80"/>
            <p:cNvSpPr/>
            <p:nvPr/>
          </p:nvSpPr>
          <p:spPr>
            <a:xfrm>
              <a:off x="7010400" y="1981200"/>
              <a:ext cx="1" cy="323850"/>
            </a:xfrm>
            <a:prstGeom prst="line">
              <a:avLst/>
            </a:prstGeom>
            <a:noFill/>
            <a:ln w="11430">
              <a:solidFill>
                <a:srgbClr val="D44B2F"/>
              </a:solidFill>
              <a:tailEnd type="triangle" w="lg" len="lg"/>
            </a:ln>
          </p:spPr>
        </p:sp>
        <p:sp>
          <p:nvSpPr>
            <p:cNvPr id="81" name="TextBox 81"/>
            <p:cNvSpPr txBox="1"/>
            <p:nvPr/>
          </p:nvSpPr>
          <p:spPr>
            <a:xfrm>
              <a:off x="7081838" y="2117884"/>
              <a:ext cx="947826" cy="133350"/>
            </a:xfrm>
            <a:prstGeom prst="rect">
              <a:avLst/>
            </a:prstGeom>
            <a:noFill/>
            <a:ln>
              <a:noFill/>
            </a:ln>
          </p:spPr>
          <p:txBody>
            <a:bodyPr wrap="none" lIns="0" tIns="0" rIns="0" bIns="0" anchor="t" anchorCtr="0">
              <a:spAutoFit/>
            </a:bodyPr>
            <a:lstStyle/>
            <a:p>
              <a:pPr algn="l"/>
              <a:r>
                <a:rPr lang="zh-CN" sz="680" dirty="0">
                  <a:solidFill>
                    <a:srgbClr val="6B7280"/>
                  </a:solidFill>
                  <a:latin typeface="+mn-lt"/>
                  <a:ea typeface="+mn-ea"/>
                  <a:cs typeface="+mn-cs"/>
                </a:rPr>
                <a:t>解决方案 / 资源支持​​</a:t>
              </a:r>
            </a:p>
          </p:txBody>
        </p:sp>
        <p:grpSp>
          <p:nvGrpSpPr>
            <p:cNvPr id="90" name="tier-middle"/>
            <p:cNvGrpSpPr/>
            <p:nvPr/>
          </p:nvGrpSpPr>
          <p:grpSpPr>
            <a:xfrm>
              <a:off x="4438650" y="2362200"/>
              <a:ext cx="3467100" cy="476250"/>
              <a:chOff x="4438650" y="2362200"/>
              <a:chExt cx="3467100" cy="476250"/>
            </a:xfrm>
          </p:grpSpPr>
          <p:sp>
            <p:nvSpPr>
              <p:cNvPr id="82" name="Rectangle 82"/>
              <p:cNvSpPr/>
              <p:nvPr/>
            </p:nvSpPr>
            <p:spPr>
              <a:xfrm>
                <a:off x="4438650" y="2362200"/>
                <a:ext cx="3467100" cy="476250"/>
              </a:xfrm>
              <a:prstGeom prst="roundRect">
                <a:avLst>
                  <a:gd name="adj" fmla="val 12000"/>
                </a:avLst>
              </a:prstGeom>
              <a:solidFill>
                <a:srgbClr val="EAF3FE"/>
              </a:solidFill>
              <a:ln w="9525">
                <a:solidFill>
                  <a:srgbClr val="F7D1C9"/>
                </a:solidFill>
              </a:ln>
            </p:spPr>
          </p:sp>
          <p:sp>
            <p:nvSpPr>
              <p:cNvPr id="83" name="Ellipse 83"/>
              <p:cNvSpPr/>
              <p:nvPr/>
            </p:nvSpPr>
            <p:spPr>
              <a:xfrm>
                <a:off x="4562475" y="2457450"/>
                <a:ext cx="285750" cy="285750"/>
              </a:xfrm>
              <a:prstGeom prst="ellipse">
                <a:avLst/>
              </a:prstGeom>
              <a:solidFill>
                <a:srgbClr val="B92102"/>
              </a:solidFill>
              <a:ln>
                <a:noFill/>
              </a:ln>
            </p:spPr>
          </p:sp>
          <p:grpSp>
            <p:nvGrpSpPr>
              <p:cNvPr id="87" name="Group 87"/>
              <p:cNvGrpSpPr/>
              <p:nvPr/>
            </p:nvGrpSpPr>
            <p:grpSpPr>
              <a:xfrm>
                <a:off x="4648200" y="2536031"/>
                <a:ext cx="114300" cy="128588"/>
                <a:chOff x="4648200" y="2536031"/>
                <a:chExt cx="114300" cy="128588"/>
              </a:xfrm>
            </p:grpSpPr>
            <p:sp>
              <p:nvSpPr>
                <p:cNvPr id="84" name="Freeform 84"/>
                <p:cNvSpPr/>
                <p:nvPr/>
              </p:nvSpPr>
              <p:spPr>
                <a:xfrm>
                  <a:off x="4648200" y="253603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85" name="Freeform 85"/>
                <p:cNvSpPr/>
                <p:nvPr/>
              </p:nvSpPr>
              <p:spPr>
                <a:xfrm>
                  <a:off x="4648200" y="255746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86" name="Freeform 86"/>
                <p:cNvSpPr/>
                <p:nvPr/>
              </p:nvSpPr>
              <p:spPr>
                <a:xfrm>
                  <a:off x="4648200" y="260032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sp>
            <p:nvSpPr>
              <p:cNvPr id="88" name="TextBox 88"/>
              <p:cNvSpPr txBox="1"/>
              <p:nvPr/>
            </p:nvSpPr>
            <p:spPr>
              <a:xfrm>
                <a:off x="4948238" y="2461022"/>
                <a:ext cx="2258823"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中台（产品/风控/运营/数据）​​​​​​​</a:t>
                </a:r>
              </a:p>
            </p:txBody>
          </p:sp>
          <p:sp>
            <p:nvSpPr>
              <p:cNvPr id="89" name="TextBox 89"/>
              <p:cNvSpPr txBox="1"/>
              <p:nvPr/>
            </p:nvSpPr>
            <p:spPr>
              <a:xfrm>
                <a:off x="4948238" y="2662238"/>
                <a:ext cx="1983391"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产品支持、风险审核、运营处理、数据洞察​</a:t>
                </a:r>
              </a:p>
            </p:txBody>
          </p:sp>
        </p:grpSp>
        <p:sp>
          <p:nvSpPr>
            <p:cNvPr id="91" name="Line 91"/>
            <p:cNvSpPr/>
            <p:nvPr/>
          </p:nvSpPr>
          <p:spPr>
            <a:xfrm flipV="1">
              <a:off x="5334000" y="2914650"/>
              <a:ext cx="1" cy="323850"/>
            </a:xfrm>
            <a:prstGeom prst="line">
              <a:avLst/>
            </a:prstGeom>
            <a:noFill/>
            <a:ln w="11430">
              <a:solidFill>
                <a:srgbClr val="D44B2F"/>
              </a:solidFill>
              <a:tailEnd type="triangle" w="lg" len="lg"/>
            </a:ln>
          </p:spPr>
        </p:sp>
        <p:sp>
          <p:nvSpPr>
            <p:cNvPr id="92" name="TextBox 92"/>
            <p:cNvSpPr txBox="1"/>
            <p:nvPr/>
          </p:nvSpPr>
          <p:spPr>
            <a:xfrm>
              <a:off x="4314736" y="3051334"/>
              <a:ext cx="947826" cy="133350"/>
            </a:xfrm>
            <a:prstGeom prst="rect">
              <a:avLst/>
            </a:prstGeom>
            <a:noFill/>
            <a:ln>
              <a:noFill/>
            </a:ln>
          </p:spPr>
          <p:txBody>
            <a:bodyPr wrap="none" lIns="0" tIns="0" rIns="0" bIns="0" anchor="t" anchorCtr="0">
              <a:spAutoFit/>
            </a:bodyPr>
            <a:lstStyle/>
            <a:p>
              <a:pPr algn="r"/>
              <a:r>
                <a:rPr lang="zh-CN" sz="680" dirty="0">
                  <a:solidFill>
                    <a:srgbClr val="6B7280"/>
                  </a:solidFill>
                  <a:latin typeface="+mn-lt"/>
                  <a:ea typeface="+mn-ea"/>
                  <a:cs typeface="+mn-cs"/>
                </a:rPr>
                <a:t>升级上报 / 风险事件​​</a:t>
              </a:r>
            </a:p>
          </p:txBody>
        </p:sp>
        <p:sp>
          <p:nvSpPr>
            <p:cNvPr id="93" name="Line 93"/>
            <p:cNvSpPr/>
            <p:nvPr/>
          </p:nvSpPr>
          <p:spPr>
            <a:xfrm>
              <a:off x="7010400" y="2914650"/>
              <a:ext cx="1" cy="323850"/>
            </a:xfrm>
            <a:prstGeom prst="line">
              <a:avLst/>
            </a:prstGeom>
            <a:noFill/>
            <a:ln w="11430">
              <a:solidFill>
                <a:srgbClr val="D44B2F"/>
              </a:solidFill>
              <a:tailEnd type="triangle" w="lg" len="lg"/>
            </a:ln>
          </p:spPr>
        </p:sp>
        <p:sp>
          <p:nvSpPr>
            <p:cNvPr id="94" name="TextBox 94"/>
            <p:cNvSpPr txBox="1"/>
            <p:nvPr/>
          </p:nvSpPr>
          <p:spPr>
            <a:xfrm>
              <a:off x="7081838" y="3051334"/>
              <a:ext cx="947826" cy="133350"/>
            </a:xfrm>
            <a:prstGeom prst="rect">
              <a:avLst/>
            </a:prstGeom>
            <a:noFill/>
            <a:ln>
              <a:noFill/>
            </a:ln>
          </p:spPr>
          <p:txBody>
            <a:bodyPr wrap="none" lIns="0" tIns="0" rIns="0" bIns="0" anchor="t" anchorCtr="0">
              <a:spAutoFit/>
            </a:bodyPr>
            <a:lstStyle/>
            <a:p>
              <a:pPr algn="l"/>
              <a:r>
                <a:rPr lang="zh-CN" sz="680" dirty="0">
                  <a:solidFill>
                    <a:srgbClr val="6B7280"/>
                  </a:solidFill>
                  <a:latin typeface="+mn-lt"/>
                  <a:ea typeface="+mn-ea"/>
                  <a:cs typeface="+mn-cs"/>
                </a:rPr>
                <a:t>策略指引 / 统筹协调​​</a:t>
              </a:r>
            </a:p>
          </p:txBody>
        </p:sp>
        <p:grpSp>
          <p:nvGrpSpPr>
            <p:cNvPr id="108" name="tier-back"/>
            <p:cNvGrpSpPr/>
            <p:nvPr/>
          </p:nvGrpSpPr>
          <p:grpSpPr>
            <a:xfrm>
              <a:off x="4438650" y="3295650"/>
              <a:ext cx="3467100" cy="476250"/>
              <a:chOff x="4438650" y="3295650"/>
              <a:chExt cx="3467100" cy="476250"/>
            </a:xfrm>
          </p:grpSpPr>
          <p:sp>
            <p:nvSpPr>
              <p:cNvPr id="95" name="Rectangle 95"/>
              <p:cNvSpPr/>
              <p:nvPr/>
            </p:nvSpPr>
            <p:spPr>
              <a:xfrm>
                <a:off x="4438650" y="3295650"/>
                <a:ext cx="3467100" cy="476250"/>
              </a:xfrm>
              <a:prstGeom prst="roundRect">
                <a:avLst>
                  <a:gd name="adj" fmla="val 12000"/>
                </a:avLst>
              </a:prstGeom>
              <a:solidFill>
                <a:srgbClr val="EAF3FE"/>
              </a:solidFill>
              <a:ln w="9525">
                <a:solidFill>
                  <a:srgbClr val="F7D1C9"/>
                </a:solidFill>
              </a:ln>
            </p:spPr>
          </p:sp>
          <p:sp>
            <p:nvSpPr>
              <p:cNvPr id="96" name="Ellipse 96"/>
              <p:cNvSpPr/>
              <p:nvPr/>
            </p:nvSpPr>
            <p:spPr>
              <a:xfrm>
                <a:off x="4562475" y="3390900"/>
                <a:ext cx="285750" cy="285750"/>
              </a:xfrm>
              <a:prstGeom prst="ellipse">
                <a:avLst/>
              </a:prstGeom>
              <a:solidFill>
                <a:srgbClr val="B92102"/>
              </a:solidFill>
              <a:ln>
                <a:noFill/>
              </a:ln>
            </p:spPr>
          </p:sp>
          <p:grpSp>
            <p:nvGrpSpPr>
              <p:cNvPr id="105" name="Group 105"/>
              <p:cNvGrpSpPr/>
              <p:nvPr/>
            </p:nvGrpSpPr>
            <p:grpSpPr>
              <a:xfrm>
                <a:off x="4641056" y="3469481"/>
                <a:ext cx="130969" cy="138113"/>
                <a:chOff x="4641056" y="3469481"/>
                <a:chExt cx="130969" cy="138113"/>
              </a:xfrm>
            </p:grpSpPr>
            <p:sp>
              <p:nvSpPr>
                <p:cNvPr id="97" name="Freeform 97"/>
                <p:cNvSpPr/>
                <p:nvPr/>
              </p:nvSpPr>
              <p:spPr>
                <a:xfrm>
                  <a:off x="4641056" y="3598069"/>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98" name="Freeform 98"/>
                <p:cNvSpPr/>
                <p:nvPr/>
              </p:nvSpPr>
              <p:spPr>
                <a:xfrm>
                  <a:off x="4641056" y="3519488"/>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99" name="Freeform 99"/>
                <p:cNvSpPr/>
                <p:nvPr/>
              </p:nvSpPr>
              <p:spPr>
                <a:xfrm>
                  <a:off x="4655344" y="3469481"/>
                  <a:ext cx="100012" cy="21431"/>
                </a:xfrm>
                <a:custGeom>
                  <a:avLst/>
                  <a:gdLst/>
                  <a:ahLst/>
                  <a:cxnLst/>
                  <a:rect l="l" t="t" r="r" b="b"/>
                  <a:pathLst>
                    <a:path w="100012" h="21431">
                      <a:moveTo>
                        <a:pt x="0" y="21431"/>
                      </a:moveTo>
                      <a:lnTo>
                        <a:pt x="50006" y="0"/>
                      </a:lnTo>
                      <a:lnTo>
                        <a:pt x="100012" y="21431"/>
                      </a:lnTo>
                    </a:path>
                  </a:pathLst>
                </a:custGeom>
                <a:noFill/>
                <a:ln w="14288">
                  <a:solidFill>
                    <a:srgbClr val="FFFFFF"/>
                  </a:solidFill>
                </a:ln>
              </p:spPr>
            </p:sp>
            <p:sp>
              <p:nvSpPr>
                <p:cNvPr id="100" name="Freeform 100"/>
                <p:cNvSpPr/>
                <p:nvPr/>
              </p:nvSpPr>
              <p:spPr>
                <a:xfrm>
                  <a:off x="4648200" y="3519488"/>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101" name="Freeform 101"/>
                <p:cNvSpPr/>
                <p:nvPr/>
              </p:nvSpPr>
              <p:spPr>
                <a:xfrm>
                  <a:off x="4762500" y="3519488"/>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102" name="Freeform 102"/>
                <p:cNvSpPr/>
                <p:nvPr/>
              </p:nvSpPr>
              <p:spPr>
                <a:xfrm>
                  <a:off x="4676775" y="3548062"/>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103" name="Freeform 103"/>
                <p:cNvSpPr/>
                <p:nvPr/>
              </p:nvSpPr>
              <p:spPr>
                <a:xfrm>
                  <a:off x="4705350" y="3548062"/>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104" name="Freeform 104"/>
                <p:cNvSpPr/>
                <p:nvPr/>
              </p:nvSpPr>
              <p:spPr>
                <a:xfrm>
                  <a:off x="4733925" y="3548062"/>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106" name="TextBox 106"/>
              <p:cNvSpPr txBox="1"/>
              <p:nvPr/>
            </p:nvSpPr>
            <p:spPr>
              <a:xfrm>
                <a:off x="4948238" y="3394472"/>
                <a:ext cx="1693810"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后台（管理层/专业部门）​​​</a:t>
                </a:r>
              </a:p>
            </p:txBody>
          </p:sp>
          <p:sp>
            <p:nvSpPr>
              <p:cNvPr id="107" name="TextBox 107"/>
              <p:cNvSpPr txBox="1"/>
              <p:nvPr/>
            </p:nvSpPr>
            <p:spPr>
              <a:xfrm>
                <a:off x="4948238" y="3595688"/>
                <a:ext cx="1983391"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策略制定、资源配置、重大决策与风险兜底​</a:t>
                </a:r>
              </a:p>
            </p:txBody>
          </p:sp>
        </p:grpSp>
        <p:sp>
          <p:nvSpPr>
            <p:cNvPr id="109" name="TextBox 109"/>
            <p:cNvSpPr txBox="1"/>
            <p:nvPr/>
          </p:nvSpPr>
          <p:spPr>
            <a:xfrm>
              <a:off x="5331766" y="3892391"/>
              <a:ext cx="1680868" cy="161925"/>
            </a:xfrm>
            <a:prstGeom prst="rect">
              <a:avLst/>
            </a:prstGeom>
            <a:noFill/>
            <a:ln>
              <a:noFill/>
            </a:ln>
          </p:spPr>
          <p:txBody>
            <a:bodyPr wrap="none" lIns="0" tIns="0" rIns="0" bIns="0" anchor="t" anchorCtr="0">
              <a:spAutoFit/>
            </a:bodyPr>
            <a:lstStyle/>
            <a:p>
              <a:pPr algn="ctr"/>
              <a:r>
                <a:rPr lang="zh-CN" sz="820" b="1" dirty="0">
                  <a:solidFill>
                    <a:srgbClr val="6E1604"/>
                  </a:solidFill>
                  <a:latin typeface="+mn-lt"/>
                  <a:ea typeface="+mn-ea"/>
                  <a:cs typeface="+mn-cs"/>
                </a:rPr>
                <a:t>问题分级与升级路径（SLA）​​​​</a:t>
              </a:r>
            </a:p>
          </p:txBody>
        </p:sp>
        <p:sp>
          <p:nvSpPr>
            <p:cNvPr id="110" name="Rectangle 110"/>
            <p:cNvSpPr/>
            <p:nvPr/>
          </p:nvSpPr>
          <p:spPr>
            <a:xfrm>
              <a:off x="4343400" y="4076700"/>
              <a:ext cx="857250" cy="400050"/>
            </a:xfrm>
            <a:prstGeom prst="roundRect">
              <a:avLst>
                <a:gd name="adj" fmla="val 11905"/>
              </a:avLst>
            </a:prstGeom>
            <a:solidFill>
              <a:srgbClr val="FDCCC2"/>
            </a:solidFill>
            <a:ln>
              <a:noFill/>
            </a:ln>
          </p:spPr>
        </p:sp>
        <p:sp>
          <p:nvSpPr>
            <p:cNvPr id="111" name="TextBox 111"/>
            <p:cNvSpPr txBox="1"/>
            <p:nvPr/>
          </p:nvSpPr>
          <p:spPr>
            <a:xfrm>
              <a:off x="4424243" y="4157662"/>
              <a:ext cx="695563" cy="290512"/>
            </a:xfrm>
            <a:prstGeom prst="rect">
              <a:avLst/>
            </a:prstGeom>
            <a:noFill/>
            <a:ln>
              <a:noFill/>
            </a:ln>
          </p:spPr>
          <p:txBody>
            <a:bodyPr wrap="none" lIns="0" tIns="0" rIns="0" bIns="0" anchor="t" anchorCtr="0">
              <a:spAutoFit/>
            </a:bodyPr>
            <a:lstStyle/>
            <a:p>
              <a:pPr algn="ctr">
                <a:lnSpc>
                  <a:spcPts val="1125"/>
                </a:lnSpc>
              </a:pPr>
              <a:r>
                <a:rPr lang="zh-CN" sz="750" b="1" dirty="0">
                  <a:solidFill>
                    <a:srgbClr val="6E1604"/>
                  </a:solidFill>
                  <a:latin typeface="+mn-lt"/>
                  <a:ea typeface="+mn-ea"/>
                  <a:cs typeface="+mn-cs"/>
                </a:rPr>
                <a:t>L1 一般问题​​​</a:t>
              </a:r>
              <a:br/>
              <a:r>
                <a:rPr lang="zh-CN" sz="750" dirty="0">
                  <a:solidFill>
                    <a:srgbClr val="473633"/>
                  </a:solidFill>
                  <a:latin typeface="+mn-lt"/>
                  <a:ea typeface="+mn-ea"/>
                  <a:cs typeface="+mn-cs"/>
                </a:rPr>
                <a:t>当日解决</a:t>
              </a:r>
            </a:p>
          </p:txBody>
        </p:sp>
        <p:sp>
          <p:nvSpPr>
            <p:cNvPr id="112" name="Rectangle 112"/>
            <p:cNvSpPr/>
            <p:nvPr/>
          </p:nvSpPr>
          <p:spPr>
            <a:xfrm>
              <a:off x="5276850" y="4076700"/>
              <a:ext cx="857250" cy="400050"/>
            </a:xfrm>
            <a:prstGeom prst="roundRect">
              <a:avLst>
                <a:gd name="adj" fmla="val 11905"/>
              </a:avLst>
            </a:prstGeom>
            <a:solidFill>
              <a:srgbClr val="FDCCC2"/>
            </a:solidFill>
            <a:ln>
              <a:noFill/>
            </a:ln>
          </p:spPr>
        </p:sp>
        <p:sp>
          <p:nvSpPr>
            <p:cNvPr id="113" name="TextBox 113"/>
            <p:cNvSpPr txBox="1"/>
            <p:nvPr/>
          </p:nvSpPr>
          <p:spPr>
            <a:xfrm>
              <a:off x="5357693" y="4157662"/>
              <a:ext cx="695563" cy="290512"/>
            </a:xfrm>
            <a:prstGeom prst="rect">
              <a:avLst/>
            </a:prstGeom>
            <a:noFill/>
            <a:ln>
              <a:noFill/>
            </a:ln>
          </p:spPr>
          <p:txBody>
            <a:bodyPr wrap="none" lIns="0" tIns="0" rIns="0" bIns="0" anchor="t" anchorCtr="0">
              <a:spAutoFit/>
            </a:bodyPr>
            <a:lstStyle/>
            <a:p>
              <a:pPr algn="ctr">
                <a:lnSpc>
                  <a:spcPts val="1125"/>
                </a:lnSpc>
              </a:pPr>
              <a:r>
                <a:rPr lang="zh-CN" sz="750" b="1" dirty="0">
                  <a:solidFill>
                    <a:srgbClr val="6E1604"/>
                  </a:solidFill>
                  <a:latin typeface="+mn-lt"/>
                  <a:ea typeface="+mn-ea"/>
                  <a:cs typeface="+mn-cs"/>
                </a:rPr>
                <a:t>L2 较大问题​​​</a:t>
              </a:r>
              <a:br/>
              <a:r>
                <a:rPr lang="zh-CN" sz="750" dirty="0">
                  <a:solidFill>
                    <a:srgbClr val="473633"/>
                  </a:solidFill>
                  <a:latin typeface="+mn-lt"/>
                  <a:ea typeface="+mn-ea"/>
                  <a:cs typeface="+mn-cs"/>
                </a:rPr>
                <a:t>3个工作日内​​​</a:t>
              </a:r>
            </a:p>
          </p:txBody>
        </p:sp>
        <p:sp>
          <p:nvSpPr>
            <p:cNvPr id="114" name="Rectangle 114"/>
            <p:cNvSpPr/>
            <p:nvPr/>
          </p:nvSpPr>
          <p:spPr>
            <a:xfrm>
              <a:off x="6210300" y="4076700"/>
              <a:ext cx="857250" cy="400050"/>
            </a:xfrm>
            <a:prstGeom prst="roundRect">
              <a:avLst>
                <a:gd name="adj" fmla="val 11905"/>
              </a:avLst>
            </a:prstGeom>
            <a:solidFill>
              <a:srgbClr val="FDCCC2"/>
            </a:solidFill>
            <a:ln>
              <a:noFill/>
            </a:ln>
          </p:spPr>
        </p:sp>
        <p:sp>
          <p:nvSpPr>
            <p:cNvPr id="115" name="TextBox 115"/>
            <p:cNvSpPr txBox="1"/>
            <p:nvPr/>
          </p:nvSpPr>
          <p:spPr>
            <a:xfrm>
              <a:off x="6291143" y="4157662"/>
              <a:ext cx="695563" cy="290512"/>
            </a:xfrm>
            <a:prstGeom prst="rect">
              <a:avLst/>
            </a:prstGeom>
            <a:noFill/>
            <a:ln>
              <a:noFill/>
            </a:ln>
          </p:spPr>
          <p:txBody>
            <a:bodyPr wrap="none" lIns="0" tIns="0" rIns="0" bIns="0" anchor="t" anchorCtr="0">
              <a:spAutoFit/>
            </a:bodyPr>
            <a:lstStyle/>
            <a:p>
              <a:pPr algn="ctr">
                <a:lnSpc>
                  <a:spcPts val="1125"/>
                </a:lnSpc>
              </a:pPr>
              <a:r>
                <a:rPr lang="zh-CN" sz="750" b="1" dirty="0">
                  <a:solidFill>
                    <a:srgbClr val="6E1604"/>
                  </a:solidFill>
                  <a:latin typeface="+mn-lt"/>
                  <a:ea typeface="+mn-ea"/>
                  <a:cs typeface="+mn-cs"/>
                </a:rPr>
                <a:t>L3 重大问题​​​</a:t>
              </a:r>
              <a:br/>
              <a:r>
                <a:rPr lang="zh-CN" sz="750" dirty="0">
                  <a:solidFill>
                    <a:srgbClr val="473633"/>
                  </a:solidFill>
                  <a:latin typeface="+mn-lt"/>
                  <a:ea typeface="+mn-ea"/>
                  <a:cs typeface="+mn-cs"/>
                </a:rPr>
                <a:t>5个工作日内​​​</a:t>
              </a:r>
            </a:p>
          </p:txBody>
        </p:sp>
        <p:sp>
          <p:nvSpPr>
            <p:cNvPr id="116" name="Rectangle 116"/>
            <p:cNvSpPr/>
            <p:nvPr/>
          </p:nvSpPr>
          <p:spPr>
            <a:xfrm>
              <a:off x="7143750" y="4076700"/>
              <a:ext cx="857250" cy="400050"/>
            </a:xfrm>
            <a:prstGeom prst="roundRect">
              <a:avLst>
                <a:gd name="adj" fmla="val 11905"/>
              </a:avLst>
            </a:prstGeom>
            <a:solidFill>
              <a:srgbClr val="FDCCC2"/>
            </a:solidFill>
            <a:ln>
              <a:noFill/>
            </a:ln>
          </p:spPr>
        </p:sp>
        <p:sp>
          <p:nvSpPr>
            <p:cNvPr id="117" name="TextBox 117"/>
            <p:cNvSpPr txBox="1"/>
            <p:nvPr/>
          </p:nvSpPr>
          <p:spPr>
            <a:xfrm>
              <a:off x="7224593" y="4157662"/>
              <a:ext cx="695563" cy="290512"/>
            </a:xfrm>
            <a:prstGeom prst="rect">
              <a:avLst/>
            </a:prstGeom>
            <a:noFill/>
            <a:ln>
              <a:noFill/>
            </a:ln>
          </p:spPr>
          <p:txBody>
            <a:bodyPr wrap="none" lIns="0" tIns="0" rIns="0" bIns="0" anchor="t" anchorCtr="0">
              <a:spAutoFit/>
            </a:bodyPr>
            <a:lstStyle/>
            <a:p>
              <a:pPr algn="ctr">
                <a:lnSpc>
                  <a:spcPts val="1125"/>
                </a:lnSpc>
              </a:pPr>
              <a:r>
                <a:rPr lang="zh-CN" sz="750" b="1" dirty="0">
                  <a:solidFill>
                    <a:srgbClr val="6E1604"/>
                  </a:solidFill>
                  <a:latin typeface="+mn-lt"/>
                  <a:ea typeface="+mn-ea"/>
                  <a:cs typeface="+mn-cs"/>
                </a:rPr>
                <a:t>L4 重大风险​​​</a:t>
              </a:r>
              <a:br/>
              <a:r>
                <a:rPr lang="zh-CN" sz="750" dirty="0">
                  <a:solidFill>
                    <a:srgbClr val="473633"/>
                  </a:solidFill>
                  <a:latin typeface="+mn-lt"/>
                  <a:ea typeface="+mn-ea"/>
                  <a:cs typeface="+mn-cs"/>
                </a:rPr>
                <a:t>24小时内​​​</a:t>
              </a:r>
            </a:p>
          </p:txBody>
        </p:sp>
      </p:grpSp>
      <p:grpSp>
        <p:nvGrpSpPr>
          <p:cNvPr id="163" name="resource-column"/>
          <p:cNvGrpSpPr/>
          <p:nvPr/>
        </p:nvGrpSpPr>
        <p:grpSpPr>
          <a:xfrm>
            <a:off x="8305800" y="723900"/>
            <a:ext cx="3619500" cy="3829050"/>
            <a:chOff x="8305800" y="723900"/>
            <a:chExt cx="3619500" cy="3829050"/>
          </a:xfrm>
        </p:grpSpPr>
        <p:sp>
          <p:nvSpPr>
            <p:cNvPr id="119" name="Rectangle 119"/>
            <p:cNvSpPr/>
            <p:nvPr/>
          </p:nvSpPr>
          <p:spPr>
            <a:xfrm>
              <a:off x="8305800" y="723900"/>
              <a:ext cx="3619500" cy="3829050"/>
            </a:xfrm>
            <a:prstGeom prst="roundRect">
              <a:avLst>
                <a:gd name="adj" fmla="val 2105"/>
              </a:avLst>
            </a:prstGeom>
            <a:solidFill>
              <a:srgbClr val="FFFFFF"/>
            </a:solidFill>
            <a:ln w="9525">
              <a:solidFill>
                <a:srgbClr val="F7D1C9"/>
              </a:solidFill>
            </a:ln>
          </p:spPr>
        </p:sp>
        <p:sp>
          <p:nvSpPr>
            <p:cNvPr id="120" name="Freeform 120"/>
            <p:cNvSpPr/>
            <p:nvPr/>
          </p:nvSpPr>
          <p:spPr>
            <a:xfrm>
              <a:off x="8305800" y="723900"/>
              <a:ext cx="3619500" cy="381000"/>
            </a:xfrm>
            <a:custGeom>
              <a:avLst/>
              <a:gdLst/>
              <a:ahLst/>
              <a:cxnLst/>
              <a:rect l="l" t="t" r="r" b="b"/>
              <a:pathLst>
                <a:path w="3619500" h="381000">
                  <a:moveTo>
                    <a:pt x="0" y="76200"/>
                  </a:moveTo>
                  <a:cubicBezTo>
                    <a:pt x="0" y="34116"/>
                    <a:pt x="34116" y="0"/>
                    <a:pt x="76200" y="0"/>
                  </a:cubicBezTo>
                  <a:lnTo>
                    <a:pt x="3543300" y="0"/>
                  </a:lnTo>
                  <a:cubicBezTo>
                    <a:pt x="3585384" y="0"/>
                    <a:pt x="3619500" y="34116"/>
                    <a:pt x="3619500" y="76200"/>
                  </a:cubicBezTo>
                  <a:lnTo>
                    <a:pt x="3619500" y="381000"/>
                  </a:lnTo>
                  <a:lnTo>
                    <a:pt x="0" y="381000"/>
                  </a:lnTo>
                  <a:close/>
                </a:path>
              </a:pathLst>
            </a:custGeom>
            <a:solidFill>
              <a:srgbClr val="B92102"/>
            </a:solidFill>
            <a:ln>
              <a:noFill/>
            </a:ln>
          </p:spPr>
        </p:sp>
        <p:grpSp>
          <p:nvGrpSpPr>
            <p:cNvPr id="123" name="Group 123"/>
            <p:cNvGrpSpPr/>
            <p:nvPr/>
          </p:nvGrpSpPr>
          <p:grpSpPr>
            <a:xfrm>
              <a:off x="9539410" y="835819"/>
              <a:ext cx="170506" cy="157162"/>
              <a:chOff x="9539410" y="835819"/>
              <a:chExt cx="170506" cy="157162"/>
            </a:xfrm>
          </p:grpSpPr>
          <p:sp>
            <p:nvSpPr>
              <p:cNvPr id="121" name="Freeform 121"/>
              <p:cNvSpPr/>
              <p:nvPr/>
            </p:nvSpPr>
            <p:spPr>
              <a:xfrm>
                <a:off x="9539410" y="83581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FFFFFF"/>
                </a:solidFill>
              </a:ln>
            </p:spPr>
          </p:sp>
          <p:sp>
            <p:nvSpPr>
              <p:cNvPr id="122" name="Freeform 122"/>
              <p:cNvSpPr/>
              <p:nvPr/>
            </p:nvSpPr>
            <p:spPr>
              <a:xfrm>
                <a:off x="9655969" y="958056"/>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124" name="TextBox 124"/>
            <p:cNvSpPr txBox="1"/>
            <p:nvPr/>
          </p:nvSpPr>
          <p:spPr>
            <a:xfrm>
              <a:off x="9824085" y="85010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资源保障</a:t>
              </a:r>
            </a:p>
          </p:txBody>
        </p:sp>
        <p:grpSp>
          <p:nvGrpSpPr>
            <p:cNvPr id="129" name="res-product"/>
            <p:cNvGrpSpPr/>
            <p:nvPr/>
          </p:nvGrpSpPr>
          <p:grpSpPr>
            <a:xfrm>
              <a:off x="8496300" y="1257300"/>
              <a:ext cx="2987358" cy="381000"/>
              <a:chOff x="8496300" y="1257300"/>
              <a:chExt cx="2987358" cy="381000"/>
            </a:xfrm>
          </p:grpSpPr>
          <p:sp>
            <p:nvSpPr>
              <p:cNvPr id="125" name="Ellipse 125"/>
              <p:cNvSpPr/>
              <p:nvPr/>
            </p:nvSpPr>
            <p:spPr>
              <a:xfrm>
                <a:off x="8496300" y="1257300"/>
                <a:ext cx="381000" cy="381000"/>
              </a:xfrm>
              <a:prstGeom prst="ellipse">
                <a:avLst/>
              </a:prstGeom>
              <a:solidFill>
                <a:srgbClr val="FFFFFF"/>
              </a:solidFill>
              <a:ln w="11430">
                <a:solidFill>
                  <a:srgbClr val="E3907F"/>
                </a:solidFill>
              </a:ln>
            </p:spPr>
          </p:sp>
          <p:sp>
            <p:nvSpPr>
              <p:cNvPr id="126" name="Freeform 126"/>
              <p:cNvSpPr/>
              <p:nvPr/>
            </p:nvSpPr>
            <p:spPr>
              <a:xfrm>
                <a:off x="8601075" y="1362075"/>
                <a:ext cx="171450" cy="171450"/>
              </a:xfrm>
              <a:custGeom>
                <a:avLst/>
                <a:gdLst/>
                <a:ahLst/>
                <a:cxnLst/>
                <a:rect l="l" t="t" r="r" b="b"/>
                <a:pathLst>
                  <a:path w="171450" h="171450">
                    <a:moveTo>
                      <a:pt x="9525" y="38100"/>
                    </a:moveTo>
                    <a:lnTo>
                      <a:pt x="38100" y="38100"/>
                    </a:lnTo>
                    <a:cubicBezTo>
                      <a:pt x="43361" y="38100"/>
                      <a:pt x="47625" y="33836"/>
                      <a:pt x="47625" y="28575"/>
                    </a:cubicBezTo>
                    <a:lnTo>
                      <a:pt x="47625" y="19050"/>
                    </a:lnTo>
                    <a:cubicBezTo>
                      <a:pt x="47625" y="8529"/>
                      <a:pt x="56154" y="0"/>
                      <a:pt x="66675" y="0"/>
                    </a:cubicBezTo>
                    <a:cubicBezTo>
                      <a:pt x="77196" y="0"/>
                      <a:pt x="85725" y="8529"/>
                      <a:pt x="85725" y="19050"/>
                    </a:cubicBezTo>
                    <a:lnTo>
                      <a:pt x="85725" y="28575"/>
                    </a:lnTo>
                    <a:cubicBezTo>
                      <a:pt x="85725" y="33836"/>
                      <a:pt x="89989" y="38100"/>
                      <a:pt x="95250" y="38100"/>
                    </a:cubicBezTo>
                    <a:lnTo>
                      <a:pt x="123825" y="38100"/>
                    </a:lnTo>
                    <a:cubicBezTo>
                      <a:pt x="129086" y="38100"/>
                      <a:pt x="133350" y="42364"/>
                      <a:pt x="133350" y="47625"/>
                    </a:cubicBezTo>
                    <a:lnTo>
                      <a:pt x="133350" y="76200"/>
                    </a:lnTo>
                    <a:cubicBezTo>
                      <a:pt x="133350" y="81461"/>
                      <a:pt x="137614" y="85725"/>
                      <a:pt x="142875" y="85725"/>
                    </a:cubicBezTo>
                    <a:lnTo>
                      <a:pt x="152400" y="85725"/>
                    </a:lnTo>
                    <a:cubicBezTo>
                      <a:pt x="162921" y="85725"/>
                      <a:pt x="171450" y="94254"/>
                      <a:pt x="171450" y="104775"/>
                    </a:cubicBezTo>
                    <a:cubicBezTo>
                      <a:pt x="171450" y="115296"/>
                      <a:pt x="162921" y="123825"/>
                      <a:pt x="152400" y="123825"/>
                    </a:cubicBezTo>
                    <a:lnTo>
                      <a:pt x="142875" y="123825"/>
                    </a:lnTo>
                    <a:cubicBezTo>
                      <a:pt x="137614" y="123825"/>
                      <a:pt x="133350" y="128089"/>
                      <a:pt x="133350" y="133350"/>
                    </a:cubicBezTo>
                    <a:lnTo>
                      <a:pt x="133350" y="161925"/>
                    </a:lnTo>
                    <a:cubicBezTo>
                      <a:pt x="133350" y="167186"/>
                      <a:pt x="129086" y="171450"/>
                      <a:pt x="123825" y="171450"/>
                    </a:cubicBezTo>
                    <a:lnTo>
                      <a:pt x="95250" y="171450"/>
                    </a:lnTo>
                    <a:cubicBezTo>
                      <a:pt x="89989" y="171450"/>
                      <a:pt x="85725" y="167186"/>
                      <a:pt x="85725" y="161925"/>
                    </a:cubicBezTo>
                    <a:lnTo>
                      <a:pt x="85725" y="152400"/>
                    </a:lnTo>
                    <a:cubicBezTo>
                      <a:pt x="85725" y="141879"/>
                      <a:pt x="77196" y="133350"/>
                      <a:pt x="66675" y="133350"/>
                    </a:cubicBezTo>
                    <a:cubicBezTo>
                      <a:pt x="56154" y="133350"/>
                      <a:pt x="47625" y="141879"/>
                      <a:pt x="47625" y="152400"/>
                    </a:cubicBezTo>
                    <a:lnTo>
                      <a:pt x="47625" y="161925"/>
                    </a:lnTo>
                    <a:cubicBezTo>
                      <a:pt x="47625" y="167186"/>
                      <a:pt x="43361" y="171450"/>
                      <a:pt x="38100" y="171450"/>
                    </a:cubicBezTo>
                    <a:lnTo>
                      <a:pt x="9525" y="171450"/>
                    </a:lnTo>
                    <a:cubicBezTo>
                      <a:pt x="4264" y="171450"/>
                      <a:pt x="0" y="167186"/>
                      <a:pt x="0" y="161925"/>
                    </a:cubicBezTo>
                    <a:lnTo>
                      <a:pt x="0" y="133350"/>
                    </a:lnTo>
                    <a:cubicBezTo>
                      <a:pt x="0" y="128089"/>
                      <a:pt x="4264" y="123825"/>
                      <a:pt x="9525" y="123825"/>
                    </a:cubicBezTo>
                    <a:lnTo>
                      <a:pt x="19050" y="123825"/>
                    </a:lnTo>
                    <a:cubicBezTo>
                      <a:pt x="29571" y="123825"/>
                      <a:pt x="38100" y="115296"/>
                      <a:pt x="38100" y="104775"/>
                    </a:cubicBezTo>
                    <a:cubicBezTo>
                      <a:pt x="38100" y="94254"/>
                      <a:pt x="29571" y="85725"/>
                      <a:pt x="19050" y="85725"/>
                    </a:cubicBezTo>
                    <a:lnTo>
                      <a:pt x="9525" y="85725"/>
                    </a:lnTo>
                    <a:cubicBezTo>
                      <a:pt x="4264" y="85725"/>
                      <a:pt x="0" y="81461"/>
                      <a:pt x="0" y="76200"/>
                    </a:cubicBezTo>
                    <a:lnTo>
                      <a:pt x="0" y="47625"/>
                    </a:lnTo>
                    <a:cubicBezTo>
                      <a:pt x="0" y="42364"/>
                      <a:pt x="4264" y="38100"/>
                      <a:pt x="9525" y="38100"/>
                    </a:cubicBezTo>
                  </a:path>
                </a:pathLst>
              </a:custGeom>
              <a:noFill/>
              <a:ln w="19050">
                <a:solidFill>
                  <a:srgbClr val="B92102"/>
                </a:solidFill>
              </a:ln>
            </p:spPr>
          </p:sp>
          <p:sp>
            <p:nvSpPr>
              <p:cNvPr id="127" name="TextBox 127"/>
              <p:cNvSpPr txBox="1"/>
              <p:nvPr/>
            </p:nvSpPr>
            <p:spPr>
              <a:xfrm>
                <a:off x="8986647" y="128539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产品保障</a:t>
                </a:r>
              </a:p>
            </p:txBody>
          </p:sp>
          <p:sp>
            <p:nvSpPr>
              <p:cNvPr id="128" name="TextBox 128"/>
              <p:cNvSpPr txBox="1"/>
              <p:nvPr/>
            </p:nvSpPr>
            <p:spPr>
              <a:xfrm>
                <a:off x="9805988" y="1275636"/>
                <a:ext cx="1677670" cy="27384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丰富的产品货架与组合方案​​​</a:t>
                </a:r>
              </a:p>
              <a:p>
                <a:pPr algn="l" marL="76644" indent="-76644">
                  <a:lnSpc>
                    <a:spcPts val="1050"/>
                  </a:lnSpc>
                  <a:buClr>
                    <a:srgbClr val="473633"/>
                  </a:buClr>
                  <a:buSzTx/>
                  <a:buFontTx/>
                  <a:buChar char="•"/>
                </a:pPr>
                <a:r>
                  <a:rPr lang="zh-CN" sz="710" dirty="0">
                    <a:solidFill>
                      <a:srgbClr val="473633"/>
                    </a:solidFill>
                    <a:latin typeface="+mn-lt"/>
                    <a:ea typeface="+mn-ea"/>
                    <a:cs typeface="+mn-cs"/>
                  </a:rPr>
                  <a:t>定期上新与迭代支持，满足多元需求​​​</a:t>
                </a:r>
              </a:p>
            </p:txBody>
          </p:sp>
        </p:grpSp>
        <p:sp>
          <p:nvSpPr>
            <p:cNvPr id="130" name="Line 130"/>
            <p:cNvSpPr/>
            <p:nvPr/>
          </p:nvSpPr>
          <p:spPr>
            <a:xfrm>
              <a:off x="8496300" y="1771650"/>
              <a:ext cx="3276600" cy="9525"/>
            </a:xfrm>
            <a:custGeom>
              <a:avLst/>
              <a:gdLst/>
              <a:ahLst/>
              <a:cxnLst/>
              <a:rect l="l" t="t" r="r" b="b"/>
              <a:pathLst>
                <a:path w="3276600" h="9525">
                  <a:moveTo>
                    <a:pt x="0" y="0"/>
                  </a:moveTo>
                  <a:lnTo>
                    <a:pt x="3276600" y="0"/>
                  </a:lnTo>
                </a:path>
              </a:pathLst>
            </a:custGeom>
            <a:noFill/>
            <a:ln w="9525">
              <a:solidFill>
                <a:srgbClr val="DCE6F8"/>
              </a:solidFill>
            </a:ln>
          </p:spPr>
        </p:sp>
        <p:grpSp>
          <p:nvGrpSpPr>
            <p:cNvPr id="139" name="res-pricing"/>
            <p:cNvGrpSpPr/>
            <p:nvPr/>
          </p:nvGrpSpPr>
          <p:grpSpPr>
            <a:xfrm>
              <a:off x="8496300" y="1905000"/>
              <a:ext cx="2807018" cy="381000"/>
              <a:chOff x="8496300" y="1905000"/>
              <a:chExt cx="2807018" cy="381000"/>
            </a:xfrm>
          </p:grpSpPr>
          <p:sp>
            <p:nvSpPr>
              <p:cNvPr id="131" name="Ellipse 131"/>
              <p:cNvSpPr/>
              <p:nvPr/>
            </p:nvSpPr>
            <p:spPr>
              <a:xfrm>
                <a:off x="8496300" y="1905000"/>
                <a:ext cx="381000" cy="381000"/>
              </a:xfrm>
              <a:prstGeom prst="ellipse">
                <a:avLst/>
              </a:prstGeom>
              <a:solidFill>
                <a:srgbClr val="FFFFFF"/>
              </a:solidFill>
              <a:ln w="11430">
                <a:solidFill>
                  <a:srgbClr val="E3907F"/>
                </a:solidFill>
              </a:ln>
            </p:spPr>
          </p:sp>
          <p:grpSp>
            <p:nvGrpSpPr>
              <p:cNvPr id="136" name="Group 136"/>
              <p:cNvGrpSpPr/>
              <p:nvPr/>
            </p:nvGrpSpPr>
            <p:grpSpPr>
              <a:xfrm>
                <a:off x="8620125" y="2009775"/>
                <a:ext cx="133350" cy="171450"/>
                <a:chOff x="8620125" y="2009775"/>
                <a:chExt cx="133350" cy="171450"/>
              </a:xfrm>
            </p:grpSpPr>
            <p:sp>
              <p:nvSpPr>
                <p:cNvPr id="132" name="Freeform 132"/>
                <p:cNvSpPr/>
                <p:nvPr/>
              </p:nvSpPr>
              <p:spPr>
                <a:xfrm>
                  <a:off x="8620125" y="2028825"/>
                  <a:ext cx="133350" cy="152400"/>
                </a:xfrm>
                <a:custGeom>
                  <a:avLst/>
                  <a:gdLst/>
                  <a:ahLst/>
                  <a:cxnLst/>
                  <a:rect l="l" t="t" r="r" b="b"/>
                  <a:pathLst>
                    <a:path w="133350" h="152400">
                      <a:moveTo>
                        <a:pt x="38100" y="0"/>
                      </a:moveTo>
                      <a:lnTo>
                        <a:pt x="19050" y="0"/>
                      </a:lnTo>
                      <a:cubicBezTo>
                        <a:pt x="8529" y="0"/>
                        <a:pt x="0" y="8529"/>
                        <a:pt x="0" y="19050"/>
                      </a:cubicBezTo>
                      <a:lnTo>
                        <a:pt x="0" y="133350"/>
                      </a:lnTo>
                      <a:cubicBezTo>
                        <a:pt x="0" y="143871"/>
                        <a:pt x="8529" y="152400"/>
                        <a:pt x="19050" y="152400"/>
                      </a:cubicBezTo>
                      <a:lnTo>
                        <a:pt x="114300" y="152400"/>
                      </a:lnTo>
                      <a:cubicBezTo>
                        <a:pt x="124821" y="152400"/>
                        <a:pt x="133350" y="143871"/>
                        <a:pt x="133350" y="133350"/>
                      </a:cubicBezTo>
                      <a:lnTo>
                        <a:pt x="133350" y="19050"/>
                      </a:lnTo>
                      <a:cubicBezTo>
                        <a:pt x="133350" y="8529"/>
                        <a:pt x="124821" y="0"/>
                        <a:pt x="114300" y="0"/>
                      </a:cubicBezTo>
                      <a:lnTo>
                        <a:pt x="95250" y="0"/>
                      </a:lnTo>
                    </a:path>
                  </a:pathLst>
                </a:custGeom>
                <a:noFill/>
                <a:ln w="19050">
                  <a:solidFill>
                    <a:srgbClr val="B92102"/>
                  </a:solidFill>
                </a:ln>
              </p:spPr>
            </p:sp>
            <p:sp>
              <p:nvSpPr>
                <p:cNvPr id="133" name="Freeform 133"/>
                <p:cNvSpPr/>
                <p:nvPr/>
              </p:nvSpPr>
              <p:spPr>
                <a:xfrm>
                  <a:off x="8658225" y="2009775"/>
                  <a:ext cx="57150" cy="38100"/>
                </a:xfrm>
                <a:custGeom>
                  <a:avLst/>
                  <a:gdLst/>
                  <a:ahLst/>
                  <a:cxnLst/>
                  <a:rect l="l" t="t" r="r" b="b"/>
                  <a:pathLst>
                    <a:path w="57150" h="38100">
                      <a:moveTo>
                        <a:pt x="0" y="19050"/>
                      </a:moveTo>
                      <a:cubicBezTo>
                        <a:pt x="0" y="8529"/>
                        <a:pt x="8529" y="0"/>
                        <a:pt x="19050" y="0"/>
                      </a:cubicBezTo>
                      <a:lnTo>
                        <a:pt x="38100" y="0"/>
                      </a:lnTo>
                      <a:cubicBezTo>
                        <a:pt x="48621" y="0"/>
                        <a:pt x="57150" y="8529"/>
                        <a:pt x="57150" y="19050"/>
                      </a:cubicBezTo>
                      <a:cubicBezTo>
                        <a:pt x="57150" y="29571"/>
                        <a:pt x="48621" y="38100"/>
                        <a:pt x="38100" y="38100"/>
                      </a:cubicBezTo>
                      <a:lnTo>
                        <a:pt x="19050" y="38100"/>
                      </a:lnTo>
                      <a:cubicBezTo>
                        <a:pt x="8529" y="38100"/>
                        <a:pt x="0" y="29571"/>
                        <a:pt x="0" y="19050"/>
                      </a:cubicBezTo>
                    </a:path>
                  </a:pathLst>
                </a:custGeom>
                <a:noFill/>
                <a:ln w="19050">
                  <a:solidFill>
                    <a:srgbClr val="B92102"/>
                  </a:solidFill>
                </a:ln>
              </p:spPr>
            </p:sp>
            <p:sp>
              <p:nvSpPr>
                <p:cNvPr id="134" name="Freeform 134"/>
                <p:cNvSpPr/>
                <p:nvPr/>
              </p:nvSpPr>
              <p:spPr>
                <a:xfrm>
                  <a:off x="8667750" y="2085975"/>
                  <a:ext cx="38100" cy="57150"/>
                </a:xfrm>
                <a:custGeom>
                  <a:avLst/>
                  <a:gdLst/>
                  <a:ahLst/>
                  <a:cxnLst/>
                  <a:rect l="l" t="t" r="r" b="b"/>
                  <a:pathLst>
                    <a:path w="38100" h="57150">
                      <a:moveTo>
                        <a:pt x="38100" y="0"/>
                      </a:moveTo>
                      <a:lnTo>
                        <a:pt x="14288" y="0"/>
                      </a:lnTo>
                      <a:cubicBezTo>
                        <a:pt x="6397" y="0"/>
                        <a:pt x="0" y="6397"/>
                        <a:pt x="0" y="14288"/>
                      </a:cubicBezTo>
                      <a:cubicBezTo>
                        <a:pt x="0" y="22178"/>
                        <a:pt x="6397" y="28575"/>
                        <a:pt x="14288" y="28575"/>
                      </a:cubicBezTo>
                      <a:lnTo>
                        <a:pt x="23812" y="28575"/>
                      </a:lnTo>
                      <a:cubicBezTo>
                        <a:pt x="31703" y="28575"/>
                        <a:pt x="38100" y="34972"/>
                        <a:pt x="38100" y="42862"/>
                      </a:cubicBezTo>
                      <a:cubicBezTo>
                        <a:pt x="38100" y="50753"/>
                        <a:pt x="31703" y="57150"/>
                        <a:pt x="23812" y="57150"/>
                      </a:cubicBezTo>
                      <a:lnTo>
                        <a:pt x="0" y="57150"/>
                      </a:lnTo>
                    </a:path>
                  </a:pathLst>
                </a:custGeom>
                <a:noFill/>
                <a:ln w="19050">
                  <a:solidFill>
                    <a:srgbClr val="B92102"/>
                  </a:solidFill>
                </a:ln>
              </p:spPr>
            </p:sp>
            <p:sp>
              <p:nvSpPr>
                <p:cNvPr id="135" name="Freeform 135"/>
                <p:cNvSpPr/>
                <p:nvPr/>
              </p:nvSpPr>
              <p:spPr>
                <a:xfrm>
                  <a:off x="8686800" y="2076450"/>
                  <a:ext cx="9525" cy="76200"/>
                </a:xfrm>
                <a:custGeom>
                  <a:avLst/>
                  <a:gdLst/>
                  <a:ahLst/>
                  <a:cxnLst/>
                  <a:rect l="l" t="t" r="r" b="b"/>
                  <a:pathLst>
                    <a:path w="9525" h="76200">
                      <a:moveTo>
                        <a:pt x="0" y="66675"/>
                      </a:moveTo>
                      <a:lnTo>
                        <a:pt x="0" y="76200"/>
                      </a:lnTo>
                      <a:moveTo>
                        <a:pt x="0" y="0"/>
                      </a:moveTo>
                      <a:lnTo>
                        <a:pt x="0" y="9525"/>
                      </a:lnTo>
                    </a:path>
                  </a:pathLst>
                </a:custGeom>
                <a:noFill/>
                <a:ln w="19050">
                  <a:solidFill>
                    <a:srgbClr val="B92102"/>
                  </a:solidFill>
                </a:ln>
              </p:spPr>
            </p:sp>
          </p:grpSp>
          <p:sp>
            <p:nvSpPr>
              <p:cNvPr id="137" name="TextBox 137"/>
              <p:cNvSpPr txBox="1"/>
              <p:nvPr/>
            </p:nvSpPr>
            <p:spPr>
              <a:xfrm>
                <a:off x="8986647" y="193309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定价保障</a:t>
                </a:r>
              </a:p>
            </p:txBody>
          </p:sp>
          <p:sp>
            <p:nvSpPr>
              <p:cNvPr id="138" name="TextBox 138"/>
              <p:cNvSpPr txBox="1"/>
              <p:nvPr/>
            </p:nvSpPr>
            <p:spPr>
              <a:xfrm>
                <a:off x="9805988" y="1923336"/>
                <a:ext cx="1497330" cy="27384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清晰透明的定价体系与优惠政策​​​</a:t>
                </a:r>
              </a:p>
              <a:p>
                <a:pPr algn="l" marL="76644" indent="-76644">
                  <a:lnSpc>
                    <a:spcPts val="1050"/>
                  </a:lnSpc>
                  <a:buClr>
                    <a:srgbClr val="473633"/>
                  </a:buClr>
                  <a:buSzTx/>
                  <a:buFontTx/>
                  <a:buChar char="•"/>
                </a:pPr>
                <a:r>
                  <a:rPr lang="zh-CN" sz="710" dirty="0">
                    <a:solidFill>
                      <a:srgbClr val="473633"/>
                    </a:solidFill>
                    <a:latin typeface="+mn-lt"/>
                    <a:ea typeface="+mn-ea"/>
                    <a:cs typeface="+mn-cs"/>
                  </a:rPr>
                  <a:t>快速审批机制，提升响应效率​​​</a:t>
                </a:r>
              </a:p>
            </p:txBody>
          </p:sp>
        </p:grpSp>
        <p:sp>
          <p:nvSpPr>
            <p:cNvPr id="140" name="Line 140"/>
            <p:cNvSpPr/>
            <p:nvPr/>
          </p:nvSpPr>
          <p:spPr>
            <a:xfrm>
              <a:off x="8496300" y="2419350"/>
              <a:ext cx="3276600" cy="9525"/>
            </a:xfrm>
            <a:custGeom>
              <a:avLst/>
              <a:gdLst/>
              <a:ahLst/>
              <a:cxnLst/>
              <a:rect l="l" t="t" r="r" b="b"/>
              <a:pathLst>
                <a:path w="3276600" h="9525">
                  <a:moveTo>
                    <a:pt x="0" y="0"/>
                  </a:moveTo>
                  <a:lnTo>
                    <a:pt x="3276600" y="0"/>
                  </a:lnTo>
                </a:path>
              </a:pathLst>
            </a:custGeom>
            <a:noFill/>
            <a:ln w="9525">
              <a:solidFill>
                <a:srgbClr val="DCE6F8"/>
              </a:solidFill>
            </a:ln>
          </p:spPr>
        </p:sp>
        <p:grpSp>
          <p:nvGrpSpPr>
            <p:cNvPr id="145" name="res-marketing"/>
            <p:cNvGrpSpPr/>
            <p:nvPr/>
          </p:nvGrpSpPr>
          <p:grpSpPr>
            <a:xfrm>
              <a:off x="8496300" y="2552700"/>
              <a:ext cx="2716848" cy="381000"/>
              <a:chOff x="8496300" y="2552700"/>
              <a:chExt cx="2716848" cy="381000"/>
            </a:xfrm>
          </p:grpSpPr>
          <p:sp>
            <p:nvSpPr>
              <p:cNvPr id="141" name="Ellipse 141"/>
              <p:cNvSpPr/>
              <p:nvPr/>
            </p:nvSpPr>
            <p:spPr>
              <a:xfrm>
                <a:off x="8496300" y="2552700"/>
                <a:ext cx="381000" cy="381000"/>
              </a:xfrm>
              <a:prstGeom prst="ellipse">
                <a:avLst/>
              </a:prstGeom>
              <a:solidFill>
                <a:srgbClr val="FFFFFF"/>
              </a:solidFill>
              <a:ln w="11430">
                <a:solidFill>
                  <a:srgbClr val="E3907F"/>
                </a:solidFill>
              </a:ln>
            </p:spPr>
          </p:sp>
          <p:sp>
            <p:nvSpPr>
              <p:cNvPr id="142" name="Freeform 142"/>
              <p:cNvSpPr/>
              <p:nvPr/>
            </p:nvSpPr>
            <p:spPr>
              <a:xfrm>
                <a:off x="8591321" y="2659618"/>
                <a:ext cx="190157" cy="168564"/>
              </a:xfrm>
              <a:custGeom>
                <a:avLst/>
                <a:gdLst/>
                <a:ahLst/>
                <a:cxnLst/>
                <a:rect l="l" t="t" r="r" b="b"/>
                <a:pathLst>
                  <a:path w="190157" h="168564">
                    <a:moveTo>
                      <a:pt x="9754" y="159782"/>
                    </a:moveTo>
                    <a:lnTo>
                      <a:pt x="22136" y="122634"/>
                    </a:lnTo>
                    <a:cubicBezTo>
                      <a:pt x="0" y="89897"/>
                      <a:pt x="8553" y="47654"/>
                      <a:pt x="42139" y="23822"/>
                    </a:cubicBezTo>
                    <a:cubicBezTo>
                      <a:pt x="75724" y="0"/>
                      <a:pt x="123958" y="1953"/>
                      <a:pt x="154962" y="28394"/>
                    </a:cubicBezTo>
                    <a:cubicBezTo>
                      <a:pt x="185966" y="54845"/>
                      <a:pt x="190157" y="97603"/>
                      <a:pt x="164763" y="128416"/>
                    </a:cubicBezTo>
                    <a:cubicBezTo>
                      <a:pt x="139370" y="159229"/>
                      <a:pt x="92231" y="168564"/>
                      <a:pt x="54521" y="150257"/>
                    </a:cubicBezTo>
                    <a:lnTo>
                      <a:pt x="9754" y="159782"/>
                    </a:lnTo>
                  </a:path>
                </a:pathLst>
              </a:custGeom>
              <a:noFill/>
              <a:ln w="19050">
                <a:solidFill>
                  <a:srgbClr val="B92102"/>
                </a:solidFill>
              </a:ln>
            </p:spPr>
          </p:sp>
          <p:sp>
            <p:nvSpPr>
              <p:cNvPr id="143" name="TextBox 143"/>
              <p:cNvSpPr txBox="1"/>
              <p:nvPr/>
            </p:nvSpPr>
            <p:spPr>
              <a:xfrm>
                <a:off x="8986647" y="258079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营销支持</a:t>
                </a:r>
              </a:p>
            </p:txBody>
          </p:sp>
          <p:sp>
            <p:nvSpPr>
              <p:cNvPr id="144" name="TextBox 144"/>
              <p:cNvSpPr txBox="1"/>
              <p:nvPr/>
            </p:nvSpPr>
            <p:spPr>
              <a:xfrm>
                <a:off x="9805988" y="2571036"/>
                <a:ext cx="1407160" cy="27384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营销活动与物料工具包​​​</a:t>
                </a:r>
              </a:p>
              <a:p>
                <a:pPr algn="l" marL="76644" indent="-76644">
                  <a:lnSpc>
                    <a:spcPts val="1050"/>
                  </a:lnSpc>
                  <a:buClr>
                    <a:srgbClr val="473633"/>
                  </a:buClr>
                  <a:buSzTx/>
                  <a:buFontTx/>
                  <a:buChar char="•"/>
                </a:pPr>
                <a:r>
                  <a:rPr lang="zh-CN" sz="710" dirty="0">
                    <a:solidFill>
                      <a:srgbClr val="473633"/>
                    </a:solidFill>
                    <a:latin typeface="+mn-lt"/>
                    <a:ea typeface="+mn-ea"/>
                    <a:cs typeface="+mn-cs"/>
                  </a:rPr>
                  <a:t>线上线下联动，扩大客户触达​​​</a:t>
                </a:r>
              </a:p>
            </p:txBody>
          </p:sp>
        </p:grpSp>
        <p:sp>
          <p:nvSpPr>
            <p:cNvPr id="146" name="Line 146"/>
            <p:cNvSpPr/>
            <p:nvPr/>
          </p:nvSpPr>
          <p:spPr>
            <a:xfrm>
              <a:off x="8496300" y="3067050"/>
              <a:ext cx="3276600" cy="9525"/>
            </a:xfrm>
            <a:custGeom>
              <a:avLst/>
              <a:gdLst/>
              <a:ahLst/>
              <a:cxnLst/>
              <a:rect l="l" t="t" r="r" b="b"/>
              <a:pathLst>
                <a:path w="3276600" h="9525">
                  <a:moveTo>
                    <a:pt x="0" y="0"/>
                  </a:moveTo>
                  <a:lnTo>
                    <a:pt x="3276600" y="0"/>
                  </a:lnTo>
                </a:path>
              </a:pathLst>
            </a:custGeom>
            <a:noFill/>
            <a:ln w="9525">
              <a:solidFill>
                <a:srgbClr val="DCE6F8"/>
              </a:solidFill>
            </a:ln>
          </p:spPr>
        </p:sp>
        <p:grpSp>
          <p:nvGrpSpPr>
            <p:cNvPr id="154" name="res-data"/>
            <p:cNvGrpSpPr/>
            <p:nvPr/>
          </p:nvGrpSpPr>
          <p:grpSpPr>
            <a:xfrm>
              <a:off x="8496300" y="3200400"/>
              <a:ext cx="2807018" cy="381000"/>
              <a:chOff x="8496300" y="3200400"/>
              <a:chExt cx="2807018" cy="381000"/>
            </a:xfrm>
          </p:grpSpPr>
          <p:sp>
            <p:nvSpPr>
              <p:cNvPr id="147" name="Ellipse 147"/>
              <p:cNvSpPr/>
              <p:nvPr/>
            </p:nvSpPr>
            <p:spPr>
              <a:xfrm>
                <a:off x="8496300" y="3200400"/>
                <a:ext cx="381000" cy="381000"/>
              </a:xfrm>
              <a:prstGeom prst="ellipse">
                <a:avLst/>
              </a:prstGeom>
              <a:solidFill>
                <a:srgbClr val="FFFFFF"/>
              </a:solidFill>
              <a:ln w="11430">
                <a:solidFill>
                  <a:srgbClr val="E3907F"/>
                </a:solidFill>
              </a:ln>
            </p:spPr>
          </p:sp>
          <p:grpSp>
            <p:nvGrpSpPr>
              <p:cNvPr id="151" name="Group 151"/>
              <p:cNvGrpSpPr/>
              <p:nvPr/>
            </p:nvGrpSpPr>
            <p:grpSpPr>
              <a:xfrm>
                <a:off x="8610600" y="3305175"/>
                <a:ext cx="152400" cy="171450"/>
                <a:chOff x="8610600" y="3305175"/>
                <a:chExt cx="152400" cy="171450"/>
              </a:xfrm>
            </p:grpSpPr>
            <p:sp>
              <p:nvSpPr>
                <p:cNvPr id="148" name="Freeform 148"/>
                <p:cNvSpPr/>
                <p:nvPr/>
              </p:nvSpPr>
              <p:spPr>
                <a:xfrm>
                  <a:off x="8610600" y="330517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B92102"/>
                  </a:solidFill>
                </a:ln>
              </p:spPr>
            </p:sp>
            <p:sp>
              <p:nvSpPr>
                <p:cNvPr id="149" name="Freeform 149"/>
                <p:cNvSpPr/>
                <p:nvPr/>
              </p:nvSpPr>
              <p:spPr>
                <a:xfrm>
                  <a:off x="8610600" y="33337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B92102"/>
                  </a:solidFill>
                </a:ln>
              </p:spPr>
            </p:sp>
            <p:sp>
              <p:nvSpPr>
                <p:cNvPr id="150" name="Freeform 150"/>
                <p:cNvSpPr/>
                <p:nvPr/>
              </p:nvSpPr>
              <p:spPr>
                <a:xfrm>
                  <a:off x="8610600" y="33909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B92102"/>
                  </a:solidFill>
                </a:ln>
              </p:spPr>
            </p:sp>
          </p:grpSp>
          <p:sp>
            <p:nvSpPr>
              <p:cNvPr id="152" name="TextBox 152"/>
              <p:cNvSpPr txBox="1"/>
              <p:nvPr/>
            </p:nvSpPr>
            <p:spPr>
              <a:xfrm>
                <a:off x="8986647" y="322849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数据支持</a:t>
                </a:r>
              </a:p>
            </p:txBody>
          </p:sp>
          <p:sp>
            <p:nvSpPr>
              <p:cNvPr id="153" name="TextBox 153"/>
              <p:cNvSpPr txBox="1"/>
              <p:nvPr/>
            </p:nvSpPr>
            <p:spPr>
              <a:xfrm>
                <a:off x="9805988" y="3218736"/>
                <a:ext cx="1497330" cy="27384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客户画像、需求洞察与商机推荐​​​</a:t>
                </a:r>
              </a:p>
              <a:p>
                <a:pPr algn="l" marL="76644" indent="-76644">
                  <a:lnSpc>
                    <a:spcPts val="1050"/>
                  </a:lnSpc>
                  <a:buClr>
                    <a:srgbClr val="473633"/>
                  </a:buClr>
                  <a:buSzTx/>
                  <a:buFontTx/>
                  <a:buChar char="•"/>
                </a:pPr>
                <a:r>
                  <a:rPr lang="zh-CN" sz="710" dirty="0">
                    <a:solidFill>
                      <a:srgbClr val="473633"/>
                    </a:solidFill>
                    <a:latin typeface="+mn-lt"/>
                    <a:ea typeface="+mn-ea"/>
                    <a:cs typeface="+mn-cs"/>
                  </a:rPr>
                  <a:t>经营看板与预警，精准决策​​​</a:t>
                </a:r>
              </a:p>
            </p:txBody>
          </p:sp>
        </p:grpSp>
        <p:sp>
          <p:nvSpPr>
            <p:cNvPr id="155" name="Line 155"/>
            <p:cNvSpPr/>
            <p:nvPr/>
          </p:nvSpPr>
          <p:spPr>
            <a:xfrm>
              <a:off x="8496300" y="3714750"/>
              <a:ext cx="3276600" cy="9525"/>
            </a:xfrm>
            <a:custGeom>
              <a:avLst/>
              <a:gdLst/>
              <a:ahLst/>
              <a:cxnLst/>
              <a:rect l="l" t="t" r="r" b="b"/>
              <a:pathLst>
                <a:path w="3276600" h="9525">
                  <a:moveTo>
                    <a:pt x="0" y="0"/>
                  </a:moveTo>
                  <a:lnTo>
                    <a:pt x="3276600" y="0"/>
                  </a:lnTo>
                </a:path>
              </a:pathLst>
            </a:custGeom>
            <a:noFill/>
            <a:ln w="9525">
              <a:solidFill>
                <a:srgbClr val="DCE6F8"/>
              </a:solidFill>
            </a:ln>
          </p:spPr>
        </p:sp>
        <p:grpSp>
          <p:nvGrpSpPr>
            <p:cNvPr id="162" name="res-training"/>
            <p:cNvGrpSpPr/>
            <p:nvPr/>
          </p:nvGrpSpPr>
          <p:grpSpPr>
            <a:xfrm>
              <a:off x="8496300" y="3848100"/>
              <a:ext cx="2807018" cy="381000"/>
              <a:chOff x="8496300" y="3848100"/>
              <a:chExt cx="2807018" cy="381000"/>
            </a:xfrm>
          </p:grpSpPr>
          <p:sp>
            <p:nvSpPr>
              <p:cNvPr id="156" name="Ellipse 156"/>
              <p:cNvSpPr/>
              <p:nvPr/>
            </p:nvSpPr>
            <p:spPr>
              <a:xfrm>
                <a:off x="8496300" y="3848100"/>
                <a:ext cx="381000" cy="381000"/>
              </a:xfrm>
              <a:prstGeom prst="ellipse">
                <a:avLst/>
              </a:prstGeom>
              <a:solidFill>
                <a:srgbClr val="FFFFFF"/>
              </a:solidFill>
              <a:ln w="11430">
                <a:solidFill>
                  <a:srgbClr val="E3907F"/>
                </a:solidFill>
              </a:ln>
            </p:spPr>
          </p:sp>
          <p:grpSp>
            <p:nvGrpSpPr>
              <p:cNvPr id="159" name="Group 159"/>
              <p:cNvGrpSpPr/>
              <p:nvPr/>
            </p:nvGrpSpPr>
            <p:grpSpPr>
              <a:xfrm>
                <a:off x="8591550" y="3971925"/>
                <a:ext cx="190500" cy="133350"/>
                <a:chOff x="8591550" y="3971925"/>
                <a:chExt cx="190500" cy="133350"/>
              </a:xfrm>
            </p:grpSpPr>
            <p:sp>
              <p:nvSpPr>
                <p:cNvPr id="157" name="Freeform 157"/>
                <p:cNvSpPr/>
                <p:nvPr/>
              </p:nvSpPr>
              <p:spPr>
                <a:xfrm>
                  <a:off x="8591550" y="3971925"/>
                  <a:ext cx="190500" cy="95250"/>
                </a:xfrm>
                <a:custGeom>
                  <a:avLst/>
                  <a:gdLst/>
                  <a:ahLst/>
                  <a:cxnLst/>
                  <a:rect l="l" t="t" r="r" b="b"/>
                  <a:pathLst>
                    <a:path w="190500" h="95250">
                      <a:moveTo>
                        <a:pt x="190500" y="38100"/>
                      </a:moveTo>
                      <a:lnTo>
                        <a:pt x="95250" y="0"/>
                      </a:lnTo>
                      <a:lnTo>
                        <a:pt x="0" y="38100"/>
                      </a:lnTo>
                      <a:lnTo>
                        <a:pt x="95250" y="76200"/>
                      </a:lnTo>
                      <a:lnTo>
                        <a:pt x="190500" y="38100"/>
                      </a:lnTo>
                      <a:lnTo>
                        <a:pt x="190500" y="95250"/>
                      </a:lnTo>
                    </a:path>
                  </a:pathLst>
                </a:custGeom>
                <a:noFill/>
                <a:ln w="19050">
                  <a:solidFill>
                    <a:srgbClr val="B92102"/>
                  </a:solidFill>
                </a:ln>
              </p:spPr>
            </p:sp>
            <p:sp>
              <p:nvSpPr>
                <p:cNvPr id="158" name="Freeform 158"/>
                <p:cNvSpPr/>
                <p:nvPr/>
              </p:nvSpPr>
              <p:spPr>
                <a:xfrm>
                  <a:off x="8629650" y="4025265"/>
                  <a:ext cx="114300" cy="80010"/>
                </a:xfrm>
                <a:custGeom>
                  <a:avLst/>
                  <a:gdLst/>
                  <a:ahLst/>
                  <a:cxnLst/>
                  <a:rect l="l" t="t" r="r" b="b"/>
                  <a:pathLst>
                    <a:path w="114300" h="80010">
                      <a:moveTo>
                        <a:pt x="0" y="0"/>
                      </a:moveTo>
                      <a:lnTo>
                        <a:pt x="0" y="51435"/>
                      </a:lnTo>
                      <a:cubicBezTo>
                        <a:pt x="0" y="67217"/>
                        <a:pt x="25587" y="80010"/>
                        <a:pt x="57150" y="80010"/>
                      </a:cubicBezTo>
                      <a:cubicBezTo>
                        <a:pt x="88713" y="80010"/>
                        <a:pt x="114300" y="67217"/>
                        <a:pt x="114300" y="51435"/>
                      </a:cubicBezTo>
                      <a:lnTo>
                        <a:pt x="114300" y="0"/>
                      </a:lnTo>
                    </a:path>
                  </a:pathLst>
                </a:custGeom>
                <a:noFill/>
                <a:ln w="19050">
                  <a:solidFill>
                    <a:srgbClr val="B92102"/>
                  </a:solidFill>
                </a:ln>
              </p:spPr>
            </p:sp>
          </p:grpSp>
          <p:sp>
            <p:nvSpPr>
              <p:cNvPr id="160" name="TextBox 160"/>
              <p:cNvSpPr txBox="1"/>
              <p:nvPr/>
            </p:nvSpPr>
            <p:spPr>
              <a:xfrm>
                <a:off x="8986647" y="387619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培训赋能</a:t>
                </a:r>
              </a:p>
            </p:txBody>
          </p:sp>
          <p:sp>
            <p:nvSpPr>
              <p:cNvPr id="161" name="TextBox 161"/>
              <p:cNvSpPr txBox="1"/>
              <p:nvPr/>
            </p:nvSpPr>
            <p:spPr>
              <a:xfrm>
                <a:off x="9805988" y="3866436"/>
                <a:ext cx="1497330" cy="27384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新人培训、专业认证与实战演练​​​</a:t>
                </a:r>
              </a:p>
              <a:p>
                <a:pPr algn="l" marL="76644" indent="-76644">
                  <a:lnSpc>
                    <a:spcPts val="1050"/>
                  </a:lnSpc>
                  <a:buClr>
                    <a:srgbClr val="473633"/>
                  </a:buClr>
                  <a:buSzTx/>
                  <a:buFontTx/>
                  <a:buChar char="•"/>
                </a:pPr>
                <a:r>
                  <a:rPr lang="zh-CN" sz="710" dirty="0">
                    <a:solidFill>
                      <a:srgbClr val="473633"/>
                    </a:solidFill>
                    <a:latin typeface="+mn-lt"/>
                    <a:ea typeface="+mn-ea"/>
                    <a:cs typeface="+mn-cs"/>
                  </a:rPr>
                  <a:t>案例库与知识库，持续能力提升​​​</a:t>
                </a:r>
              </a:p>
            </p:txBody>
          </p:sp>
        </p:grpSp>
      </p:grpSp>
      <p:grpSp>
        <p:nvGrpSpPr>
          <p:cNvPr id="211" name="compliance-band"/>
          <p:cNvGrpSpPr/>
          <p:nvPr/>
        </p:nvGrpSpPr>
        <p:grpSpPr>
          <a:xfrm>
            <a:off x="266700" y="4686300"/>
            <a:ext cx="11658600" cy="914400"/>
            <a:chOff x="266700" y="4686300"/>
            <a:chExt cx="11658600" cy="914400"/>
          </a:xfrm>
        </p:grpSpPr>
        <p:sp>
          <p:nvSpPr>
            <p:cNvPr id="164" name="Rectangle 164"/>
            <p:cNvSpPr/>
            <p:nvPr/>
          </p:nvSpPr>
          <p:spPr>
            <a:xfrm>
              <a:off x="266700" y="4686300"/>
              <a:ext cx="11658600" cy="914400"/>
            </a:xfrm>
            <a:prstGeom prst="roundRect">
              <a:avLst>
                <a:gd name="adj" fmla="val 8333"/>
              </a:avLst>
            </a:prstGeom>
            <a:solidFill>
              <a:srgbClr val="FFFFFF"/>
            </a:solidFill>
            <a:ln w="9525">
              <a:solidFill>
                <a:srgbClr val="F7D1C9"/>
              </a:solidFill>
            </a:ln>
          </p:spPr>
        </p:sp>
        <p:sp>
          <p:nvSpPr>
            <p:cNvPr id="165" name="Freeform 165"/>
            <p:cNvSpPr/>
            <p:nvPr/>
          </p:nvSpPr>
          <p:spPr>
            <a:xfrm>
              <a:off x="266700" y="4686300"/>
              <a:ext cx="1638300" cy="914400"/>
            </a:xfrm>
            <a:custGeom>
              <a:avLst/>
              <a:gdLst/>
              <a:ahLst/>
              <a:cxnLst/>
              <a:rect l="l" t="t" r="r" b="b"/>
              <a:pathLst>
                <a:path w="1638300" h="914400">
                  <a:moveTo>
                    <a:pt x="0" y="76200"/>
                  </a:moveTo>
                  <a:cubicBezTo>
                    <a:pt x="0" y="34116"/>
                    <a:pt x="34116" y="0"/>
                    <a:pt x="76200" y="0"/>
                  </a:cubicBezTo>
                  <a:lnTo>
                    <a:pt x="1638300" y="0"/>
                  </a:lnTo>
                  <a:lnTo>
                    <a:pt x="1638300" y="914400"/>
                  </a:lnTo>
                  <a:lnTo>
                    <a:pt x="76200" y="914400"/>
                  </a:lnTo>
                  <a:cubicBezTo>
                    <a:pt x="34116" y="914400"/>
                    <a:pt x="0" y="880284"/>
                    <a:pt x="0" y="838200"/>
                  </a:cubicBezTo>
                  <a:close/>
                </a:path>
              </a:pathLst>
            </a:custGeom>
            <a:solidFill>
              <a:srgbClr val="B92102"/>
            </a:solidFill>
            <a:ln>
              <a:noFill/>
            </a:ln>
          </p:spPr>
        </p:sp>
        <p:grpSp>
          <p:nvGrpSpPr>
            <p:cNvPr id="168" name="Group 168"/>
            <p:cNvGrpSpPr/>
            <p:nvPr/>
          </p:nvGrpSpPr>
          <p:grpSpPr>
            <a:xfrm>
              <a:off x="480781" y="5014912"/>
              <a:ext cx="279010" cy="257176"/>
              <a:chOff x="480781" y="5014912"/>
              <a:chExt cx="279010" cy="257176"/>
            </a:xfrm>
          </p:grpSpPr>
          <p:sp>
            <p:nvSpPr>
              <p:cNvPr id="166" name="Freeform 166"/>
              <p:cNvSpPr/>
              <p:nvPr/>
            </p:nvSpPr>
            <p:spPr>
              <a:xfrm>
                <a:off x="480781" y="50149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28575">
                <a:solidFill>
                  <a:srgbClr val="FFFFFF"/>
                </a:solidFill>
              </a:ln>
            </p:spPr>
          </p:sp>
          <p:sp>
            <p:nvSpPr>
              <p:cNvPr id="167" name="Freeform 167"/>
              <p:cNvSpPr/>
              <p:nvPr/>
            </p:nvSpPr>
            <p:spPr>
              <a:xfrm>
                <a:off x="671512" y="5214938"/>
                <a:ext cx="85725" cy="57150"/>
              </a:xfrm>
              <a:custGeom>
                <a:avLst/>
                <a:gdLst/>
                <a:ahLst/>
                <a:cxnLst/>
                <a:rect l="l" t="t" r="r" b="b"/>
                <a:pathLst>
                  <a:path w="85725" h="57150">
                    <a:moveTo>
                      <a:pt x="0" y="28575"/>
                    </a:moveTo>
                    <a:lnTo>
                      <a:pt x="28575" y="57150"/>
                    </a:lnTo>
                    <a:lnTo>
                      <a:pt x="85725" y="0"/>
                    </a:lnTo>
                  </a:path>
                </a:pathLst>
              </a:custGeom>
              <a:noFill/>
              <a:ln w="28575">
                <a:solidFill>
                  <a:srgbClr val="FFFFFF"/>
                </a:solidFill>
              </a:ln>
            </p:spPr>
          </p:sp>
        </p:grpSp>
        <p:sp>
          <p:nvSpPr>
            <p:cNvPr id="169" name="TextBox 169"/>
            <p:cNvSpPr txBox="1"/>
            <p:nvPr/>
          </p:nvSpPr>
          <p:spPr>
            <a:xfrm>
              <a:off x="946785" y="4964906"/>
              <a:ext cx="580390" cy="429578"/>
            </a:xfrm>
            <a:prstGeom prst="rect">
              <a:avLst/>
            </a:prstGeom>
            <a:noFill/>
            <a:ln>
              <a:noFill/>
            </a:ln>
          </p:spPr>
          <p:txBody>
            <a:bodyPr wrap="none" lIns="0" tIns="0" rIns="0" bIns="0" anchor="t" anchorCtr="0">
              <a:spAutoFit/>
            </a:bodyPr>
            <a:lstStyle/>
            <a:p>
              <a:pPr algn="l">
                <a:lnSpc>
                  <a:spcPts val="1650"/>
                </a:lnSpc>
              </a:pPr>
              <a:r>
                <a:rPr lang="zh-CN" sz="1120" b="1" dirty="0">
                  <a:solidFill>
                    <a:srgbClr val="FFFFFF"/>
                  </a:solidFill>
                  <a:latin typeface="+mn-lt"/>
                  <a:ea typeface="+mn-ea"/>
                  <a:cs typeface="+mn-cs"/>
                </a:rPr>
                <a:t>合规销售</a:t>
              </a:r>
              <a:br/>
              <a:r>
                <a:rPr lang="zh-CN" sz="1120" b="1" dirty="0">
                  <a:solidFill>
                    <a:srgbClr val="FFFFFF"/>
                  </a:solidFill>
                  <a:latin typeface="+mn-lt"/>
                  <a:ea typeface="+mn-ea"/>
                  <a:cs typeface="+mn-cs"/>
                </a:rPr>
                <a:t>控制点</a:t>
              </a:r>
            </a:p>
          </p:txBody>
        </p:sp>
        <p:grpSp>
          <p:nvGrpSpPr>
            <p:cNvPr id="177" name="cp-1"/>
            <p:cNvGrpSpPr/>
            <p:nvPr/>
          </p:nvGrpSpPr>
          <p:grpSpPr>
            <a:xfrm>
              <a:off x="2105025" y="4889897"/>
              <a:ext cx="1228725" cy="501253"/>
              <a:chOff x="2105025" y="4889897"/>
              <a:chExt cx="1228725" cy="501253"/>
            </a:xfrm>
          </p:grpSpPr>
          <p:sp>
            <p:nvSpPr>
              <p:cNvPr id="170" name="Ellipse 170"/>
              <p:cNvSpPr/>
              <p:nvPr/>
            </p:nvSpPr>
            <p:spPr>
              <a:xfrm>
                <a:off x="2105025" y="4962525"/>
                <a:ext cx="361950" cy="361950"/>
              </a:xfrm>
              <a:prstGeom prst="ellipse">
                <a:avLst/>
              </a:prstGeom>
              <a:solidFill>
                <a:srgbClr val="EAF3FE"/>
              </a:solidFill>
              <a:ln w="9525">
                <a:solidFill>
                  <a:srgbClr val="E3907F"/>
                </a:solidFill>
              </a:ln>
            </p:spPr>
          </p:sp>
          <p:grpSp>
            <p:nvGrpSpPr>
              <p:cNvPr id="174" name="Group 174"/>
              <p:cNvGrpSpPr/>
              <p:nvPr/>
            </p:nvGrpSpPr>
            <p:grpSpPr>
              <a:xfrm>
                <a:off x="2233613" y="5064919"/>
                <a:ext cx="130969" cy="157163"/>
                <a:chOff x="2233613" y="5064919"/>
                <a:chExt cx="130969" cy="157163"/>
              </a:xfrm>
            </p:grpSpPr>
            <p:sp>
              <p:nvSpPr>
                <p:cNvPr id="171" name="Freeform 171"/>
                <p:cNvSpPr/>
                <p:nvPr/>
              </p:nvSpPr>
              <p:spPr>
                <a:xfrm>
                  <a:off x="2251075" y="50649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B92102"/>
                  </a:solidFill>
                </a:ln>
              </p:spPr>
            </p:sp>
            <p:sp>
              <p:nvSpPr>
                <p:cNvPr id="172" name="Freeform 172"/>
                <p:cNvSpPr/>
                <p:nvPr/>
              </p:nvSpPr>
              <p:spPr>
                <a:xfrm>
                  <a:off x="2233613" y="5169694"/>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B92102"/>
                  </a:solidFill>
                </a:ln>
              </p:spPr>
            </p:sp>
            <p:sp>
              <p:nvSpPr>
                <p:cNvPr id="173" name="Freeform 173"/>
                <p:cNvSpPr/>
                <p:nvPr/>
              </p:nvSpPr>
              <p:spPr>
                <a:xfrm>
                  <a:off x="2312194" y="5187156"/>
                  <a:ext cx="52388" cy="34925"/>
                </a:xfrm>
                <a:custGeom>
                  <a:avLst/>
                  <a:gdLst/>
                  <a:ahLst/>
                  <a:cxnLst/>
                  <a:rect l="l" t="t" r="r" b="b"/>
                  <a:pathLst>
                    <a:path w="52388" h="34925">
                      <a:moveTo>
                        <a:pt x="0" y="17463"/>
                      </a:moveTo>
                      <a:lnTo>
                        <a:pt x="17463" y="34925"/>
                      </a:lnTo>
                      <a:lnTo>
                        <a:pt x="52388" y="0"/>
                      </a:lnTo>
                    </a:path>
                  </a:pathLst>
                </a:custGeom>
                <a:noFill/>
                <a:ln w="17463">
                  <a:solidFill>
                    <a:srgbClr val="B92102"/>
                  </a:solidFill>
                </a:ln>
              </p:spPr>
            </p:sp>
          </p:grpSp>
          <p:sp>
            <p:nvSpPr>
              <p:cNvPr id="175" name="TextBox 175"/>
              <p:cNvSpPr txBox="1"/>
              <p:nvPr/>
            </p:nvSpPr>
            <p:spPr>
              <a:xfrm>
                <a:off x="2566988" y="4889897"/>
                <a:ext cx="515696"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客户识别</a:t>
                </a:r>
              </a:p>
            </p:txBody>
          </p:sp>
          <p:sp>
            <p:nvSpPr>
              <p:cNvPr id="176" name="TextBox 176"/>
              <p:cNvSpPr txBox="1"/>
              <p:nvPr/>
            </p:nvSpPr>
            <p:spPr>
              <a:xfrm>
                <a:off x="2566988" y="5100638"/>
                <a:ext cx="766762" cy="290512"/>
              </a:xfrm>
              <a:prstGeom prst="rect">
                <a:avLst/>
              </a:prstGeom>
              <a:noFill/>
              <a:ln>
                <a:noFill/>
              </a:ln>
            </p:spPr>
            <p:txBody>
              <a:bodyPr wrap="none" lIns="0" tIns="0" rIns="0" bIns="0" anchor="t" anchorCtr="0">
                <a:spAutoFit/>
              </a:bodyPr>
              <a:lstStyle/>
              <a:p>
                <a:pPr algn="l" marL="80962" indent="-80962">
                  <a:lnSpc>
                    <a:spcPts val="1125"/>
                  </a:lnSpc>
                  <a:buClr>
                    <a:srgbClr val="473633"/>
                  </a:buClr>
                  <a:buSzTx/>
                  <a:buFontTx/>
                  <a:buChar char="•"/>
                </a:pPr>
                <a:r>
                  <a:rPr lang="zh-CN" sz="750" dirty="0">
                    <a:solidFill>
                      <a:srgbClr val="473633"/>
                    </a:solidFill>
                    <a:latin typeface="+mn-lt"/>
                    <a:ea typeface="+mn-ea"/>
                    <a:cs typeface="+mn-cs"/>
                  </a:rPr>
                  <a:t>客户身份识别​​</a:t>
                </a:r>
              </a:p>
              <a:p>
                <a:pPr algn="l" marL="80962" indent="-80962">
                  <a:lnSpc>
                    <a:spcPts val="1125"/>
                  </a:lnSpc>
                  <a:buClr>
                    <a:srgbClr val="473633"/>
                  </a:buClr>
                  <a:buSzTx/>
                  <a:buFontTx/>
                  <a:buChar char="•"/>
                </a:pPr>
                <a:r>
                  <a:rPr lang="zh-CN" sz="750" dirty="0">
                    <a:solidFill>
                      <a:srgbClr val="473633"/>
                    </a:solidFill>
                    <a:latin typeface="+mn-lt"/>
                    <a:ea typeface="+mn-ea"/>
                    <a:cs typeface="+mn-cs"/>
                  </a:rPr>
                  <a:t>风险等级评估​​</a:t>
                </a:r>
              </a:p>
            </p:txBody>
          </p:sp>
        </p:grpSp>
        <p:sp>
          <p:nvSpPr>
            <p:cNvPr id="178" name="Line 178"/>
            <p:cNvSpPr/>
            <p:nvPr/>
          </p:nvSpPr>
          <p:spPr>
            <a:xfrm>
              <a:off x="3733800" y="5143500"/>
              <a:ext cx="247650" cy="1"/>
            </a:xfrm>
            <a:prstGeom prst="line">
              <a:avLst/>
            </a:prstGeom>
            <a:noFill/>
            <a:ln w="14288">
              <a:solidFill>
                <a:srgbClr val="6E1604"/>
              </a:solidFill>
              <a:tailEnd type="triangle" w="lg" len="lg"/>
            </a:ln>
          </p:spPr>
        </p:sp>
        <p:grpSp>
          <p:nvGrpSpPr>
            <p:cNvPr id="186" name="cp-2"/>
            <p:cNvGrpSpPr/>
            <p:nvPr/>
          </p:nvGrpSpPr>
          <p:grpSpPr>
            <a:xfrm>
              <a:off x="4067175" y="4889897"/>
              <a:ext cx="1385888" cy="501253"/>
              <a:chOff x="4067175" y="4889897"/>
              <a:chExt cx="1385888" cy="501253"/>
            </a:xfrm>
          </p:grpSpPr>
          <p:sp>
            <p:nvSpPr>
              <p:cNvPr id="179" name="Ellipse 179"/>
              <p:cNvSpPr/>
              <p:nvPr/>
            </p:nvSpPr>
            <p:spPr>
              <a:xfrm>
                <a:off x="4067175" y="4962525"/>
                <a:ext cx="361950" cy="361950"/>
              </a:xfrm>
              <a:prstGeom prst="ellipse">
                <a:avLst/>
              </a:prstGeom>
              <a:solidFill>
                <a:srgbClr val="EAF3FE"/>
              </a:solidFill>
              <a:ln w="9525">
                <a:solidFill>
                  <a:srgbClr val="E3907F"/>
                </a:solidFill>
              </a:ln>
            </p:spPr>
          </p:sp>
          <p:grpSp>
            <p:nvGrpSpPr>
              <p:cNvPr id="183" name="Group 183"/>
              <p:cNvGrpSpPr/>
              <p:nvPr/>
            </p:nvGrpSpPr>
            <p:grpSpPr>
              <a:xfrm>
                <a:off x="4169569" y="5064919"/>
                <a:ext cx="157163" cy="157163"/>
                <a:chOff x="4169569" y="5064919"/>
                <a:chExt cx="157163" cy="157163"/>
              </a:xfrm>
            </p:grpSpPr>
            <p:sp>
              <p:nvSpPr>
                <p:cNvPr id="180" name="Freeform 180"/>
                <p:cNvSpPr/>
                <p:nvPr/>
              </p:nvSpPr>
              <p:spPr>
                <a:xfrm>
                  <a:off x="4239419" y="513476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B92102"/>
                  </a:solidFill>
                </a:ln>
              </p:spPr>
            </p:sp>
            <p:sp>
              <p:nvSpPr>
                <p:cNvPr id="181" name="Freeform 181"/>
                <p:cNvSpPr/>
                <p:nvPr/>
              </p:nvSpPr>
              <p:spPr>
                <a:xfrm>
                  <a:off x="4204494" y="509984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B92102"/>
                  </a:solidFill>
                </a:ln>
              </p:spPr>
            </p:sp>
            <p:sp>
              <p:nvSpPr>
                <p:cNvPr id="182" name="Freeform 182"/>
                <p:cNvSpPr/>
                <p:nvPr/>
              </p:nvSpPr>
              <p:spPr>
                <a:xfrm>
                  <a:off x="4169569" y="50649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B92102"/>
                  </a:solidFill>
                </a:ln>
              </p:spPr>
            </p:sp>
          </p:grpSp>
          <p:sp>
            <p:nvSpPr>
              <p:cNvPr id="184" name="TextBox 184"/>
              <p:cNvSpPr txBox="1"/>
              <p:nvPr/>
            </p:nvSpPr>
            <p:spPr>
              <a:xfrm>
                <a:off x="4529138" y="4889897"/>
                <a:ext cx="515696"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需求匹配</a:t>
                </a:r>
              </a:p>
            </p:txBody>
          </p:sp>
          <p:sp>
            <p:nvSpPr>
              <p:cNvPr id="185" name="TextBox 185"/>
              <p:cNvSpPr txBox="1"/>
              <p:nvPr/>
            </p:nvSpPr>
            <p:spPr>
              <a:xfrm>
                <a:off x="4529138" y="5100638"/>
                <a:ext cx="923925" cy="290512"/>
              </a:xfrm>
              <a:prstGeom prst="rect">
                <a:avLst/>
              </a:prstGeom>
              <a:noFill/>
              <a:ln>
                <a:noFill/>
              </a:ln>
            </p:spPr>
            <p:txBody>
              <a:bodyPr wrap="none" lIns="0" tIns="0" rIns="0" bIns="0" anchor="t" anchorCtr="0">
                <a:spAutoFit/>
              </a:bodyPr>
              <a:lstStyle/>
              <a:p>
                <a:pPr algn="l" marL="80962" indent="-80962">
                  <a:lnSpc>
                    <a:spcPts val="1125"/>
                  </a:lnSpc>
                  <a:buClr>
                    <a:srgbClr val="473633"/>
                  </a:buClr>
                  <a:buSzTx/>
                  <a:buFontTx/>
                  <a:buChar char="•"/>
                </a:pPr>
                <a:r>
                  <a:rPr lang="zh-CN" sz="750" dirty="0">
                    <a:solidFill>
                      <a:srgbClr val="473633"/>
                    </a:solidFill>
                    <a:latin typeface="+mn-lt"/>
                    <a:ea typeface="+mn-ea"/>
                    <a:cs typeface="+mn-cs"/>
                  </a:rPr>
                  <a:t>了解客户需求​​</a:t>
                </a:r>
              </a:p>
              <a:p>
                <a:pPr algn="l" marL="80962" indent="-80962">
                  <a:lnSpc>
                    <a:spcPts val="1125"/>
                  </a:lnSpc>
                  <a:buClr>
                    <a:srgbClr val="473633"/>
                  </a:buClr>
                  <a:buSzTx/>
                  <a:buFontTx/>
                  <a:buChar char="•"/>
                </a:pPr>
                <a:r>
                  <a:rPr lang="zh-CN" sz="750" dirty="0">
                    <a:solidFill>
                      <a:srgbClr val="473633"/>
                    </a:solidFill>
                    <a:latin typeface="+mn-lt"/>
                    <a:ea typeface="+mn-ea"/>
                    <a:cs typeface="+mn-cs"/>
                  </a:rPr>
                  <a:t>产品/服务匹配​​​​</a:t>
                </a:r>
              </a:p>
            </p:txBody>
          </p:sp>
        </p:grpSp>
        <p:sp>
          <p:nvSpPr>
            <p:cNvPr id="187" name="Line 187"/>
            <p:cNvSpPr/>
            <p:nvPr/>
          </p:nvSpPr>
          <p:spPr>
            <a:xfrm>
              <a:off x="5695950" y="5143500"/>
              <a:ext cx="247650" cy="1"/>
            </a:xfrm>
            <a:prstGeom prst="line">
              <a:avLst/>
            </a:prstGeom>
            <a:noFill/>
            <a:ln w="14288">
              <a:solidFill>
                <a:srgbClr val="6E1604"/>
              </a:solidFill>
              <a:tailEnd type="triangle" w="lg" len="lg"/>
            </a:ln>
          </p:spPr>
        </p:sp>
        <p:grpSp>
          <p:nvGrpSpPr>
            <p:cNvPr id="196" name="cp-3"/>
            <p:cNvGrpSpPr/>
            <p:nvPr/>
          </p:nvGrpSpPr>
          <p:grpSpPr>
            <a:xfrm>
              <a:off x="6029325" y="4889897"/>
              <a:ext cx="1419225" cy="501253"/>
              <a:chOff x="6029325" y="4889897"/>
              <a:chExt cx="1419225" cy="501253"/>
            </a:xfrm>
          </p:grpSpPr>
          <p:sp>
            <p:nvSpPr>
              <p:cNvPr id="188" name="Ellipse 188"/>
              <p:cNvSpPr/>
              <p:nvPr/>
            </p:nvSpPr>
            <p:spPr>
              <a:xfrm>
                <a:off x="6029325" y="4962525"/>
                <a:ext cx="361950" cy="361950"/>
              </a:xfrm>
              <a:prstGeom prst="ellipse">
                <a:avLst/>
              </a:prstGeom>
              <a:solidFill>
                <a:srgbClr val="EAF3FE"/>
              </a:solidFill>
              <a:ln w="9525">
                <a:solidFill>
                  <a:srgbClr val="E3907F"/>
                </a:solidFill>
              </a:ln>
            </p:spPr>
          </p:sp>
          <p:grpSp>
            <p:nvGrpSpPr>
              <p:cNvPr id="193" name="Group 193"/>
              <p:cNvGrpSpPr/>
              <p:nvPr/>
            </p:nvGrpSpPr>
            <p:grpSpPr>
              <a:xfrm>
                <a:off x="6149181" y="5073650"/>
                <a:ext cx="130970" cy="148431"/>
                <a:chOff x="6149181" y="5073650"/>
                <a:chExt cx="130970" cy="148431"/>
              </a:xfrm>
            </p:grpSpPr>
            <p:sp>
              <p:nvSpPr>
                <p:cNvPr id="189" name="Freeform 189"/>
                <p:cNvSpPr/>
                <p:nvPr/>
              </p:nvSpPr>
              <p:spPr>
                <a:xfrm>
                  <a:off x="6149181" y="5073650"/>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B92102"/>
                  </a:solidFill>
                </a:ln>
              </p:spPr>
            </p:sp>
            <p:sp>
              <p:nvSpPr>
                <p:cNvPr id="190" name="Freeform 190"/>
                <p:cNvSpPr/>
                <p:nvPr/>
              </p:nvSpPr>
              <p:spPr>
                <a:xfrm>
                  <a:off x="6227763" y="5187156"/>
                  <a:ext cx="52388" cy="34925"/>
                </a:xfrm>
                <a:custGeom>
                  <a:avLst/>
                  <a:gdLst/>
                  <a:ahLst/>
                  <a:cxnLst/>
                  <a:rect l="l" t="t" r="r" b="b"/>
                  <a:pathLst>
                    <a:path w="52388" h="34925">
                      <a:moveTo>
                        <a:pt x="0" y="17463"/>
                      </a:moveTo>
                      <a:lnTo>
                        <a:pt x="17463" y="34925"/>
                      </a:lnTo>
                      <a:lnTo>
                        <a:pt x="52388" y="0"/>
                      </a:lnTo>
                    </a:path>
                  </a:pathLst>
                </a:custGeom>
                <a:noFill/>
                <a:ln w="17463">
                  <a:solidFill>
                    <a:srgbClr val="B92102"/>
                  </a:solidFill>
                </a:ln>
              </p:spPr>
            </p:sp>
            <p:sp>
              <p:nvSpPr>
                <p:cNvPr id="191" name="Freeform 191"/>
                <p:cNvSpPr/>
                <p:nvPr/>
              </p:nvSpPr>
              <p:spPr>
                <a:xfrm>
                  <a:off x="6184106" y="5108575"/>
                  <a:ext cx="34925" cy="9525"/>
                </a:xfrm>
                <a:custGeom>
                  <a:avLst/>
                  <a:gdLst/>
                  <a:ahLst/>
                  <a:cxnLst/>
                  <a:rect l="l" t="t" r="r" b="b"/>
                  <a:pathLst>
                    <a:path w="34925" h="9525">
                      <a:moveTo>
                        <a:pt x="0" y="0"/>
                      </a:moveTo>
                      <a:lnTo>
                        <a:pt x="34925" y="0"/>
                      </a:lnTo>
                    </a:path>
                  </a:pathLst>
                </a:custGeom>
                <a:noFill/>
                <a:ln w="17463">
                  <a:solidFill>
                    <a:srgbClr val="B92102"/>
                  </a:solidFill>
                </a:ln>
              </p:spPr>
            </p:sp>
            <p:sp>
              <p:nvSpPr>
                <p:cNvPr id="192" name="Freeform 192"/>
                <p:cNvSpPr/>
                <p:nvPr/>
              </p:nvSpPr>
              <p:spPr>
                <a:xfrm>
                  <a:off x="6184106" y="5143500"/>
                  <a:ext cx="17463" cy="9525"/>
                </a:xfrm>
                <a:custGeom>
                  <a:avLst/>
                  <a:gdLst/>
                  <a:ahLst/>
                  <a:cxnLst/>
                  <a:rect l="l" t="t" r="r" b="b"/>
                  <a:pathLst>
                    <a:path w="17463" h="9525">
                      <a:moveTo>
                        <a:pt x="0" y="0"/>
                      </a:moveTo>
                      <a:lnTo>
                        <a:pt x="17463" y="0"/>
                      </a:lnTo>
                    </a:path>
                  </a:pathLst>
                </a:custGeom>
                <a:noFill/>
                <a:ln w="17463">
                  <a:solidFill>
                    <a:srgbClr val="B92102"/>
                  </a:solidFill>
                </a:ln>
              </p:spPr>
            </p:sp>
          </p:grpSp>
          <p:sp>
            <p:nvSpPr>
              <p:cNvPr id="194" name="TextBox 194"/>
              <p:cNvSpPr txBox="1"/>
              <p:nvPr/>
            </p:nvSpPr>
            <p:spPr>
              <a:xfrm>
                <a:off x="6491288" y="4889897"/>
                <a:ext cx="389153"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适当性</a:t>
                </a:r>
              </a:p>
            </p:txBody>
          </p:sp>
          <p:sp>
            <p:nvSpPr>
              <p:cNvPr id="195" name="TextBox 195"/>
              <p:cNvSpPr txBox="1"/>
              <p:nvPr/>
            </p:nvSpPr>
            <p:spPr>
              <a:xfrm>
                <a:off x="6491288" y="5100638"/>
                <a:ext cx="957262" cy="290512"/>
              </a:xfrm>
              <a:prstGeom prst="rect">
                <a:avLst/>
              </a:prstGeom>
              <a:noFill/>
              <a:ln>
                <a:noFill/>
              </a:ln>
            </p:spPr>
            <p:txBody>
              <a:bodyPr wrap="none" lIns="0" tIns="0" rIns="0" bIns="0" anchor="t" anchorCtr="0">
                <a:spAutoFit/>
              </a:bodyPr>
              <a:lstStyle/>
              <a:p>
                <a:pPr algn="l" marL="80962" indent="-80962">
                  <a:lnSpc>
                    <a:spcPts val="1125"/>
                  </a:lnSpc>
                  <a:buClr>
                    <a:srgbClr val="473633"/>
                  </a:buClr>
                  <a:buSzTx/>
                  <a:buFontTx/>
                  <a:buChar char="•"/>
                </a:pPr>
                <a:r>
                  <a:rPr lang="zh-CN" sz="750" dirty="0">
                    <a:solidFill>
                      <a:srgbClr val="473633"/>
                    </a:solidFill>
                    <a:latin typeface="+mn-lt"/>
                    <a:ea typeface="+mn-ea"/>
                    <a:cs typeface="+mn-cs"/>
                  </a:rPr>
                  <a:t>评估风险承受能力​​</a:t>
                </a:r>
              </a:p>
              <a:p>
                <a:pPr algn="l" marL="80962" indent="-80962">
                  <a:lnSpc>
                    <a:spcPts val="1125"/>
                  </a:lnSpc>
                  <a:buClr>
                    <a:srgbClr val="473633"/>
                  </a:buClr>
                  <a:buSzTx/>
                  <a:buFontTx/>
                  <a:buChar char="•"/>
                </a:pPr>
                <a:r>
                  <a:rPr lang="zh-CN" sz="750" dirty="0">
                    <a:solidFill>
                      <a:srgbClr val="473633"/>
                    </a:solidFill>
                    <a:latin typeface="+mn-lt"/>
                    <a:ea typeface="+mn-ea"/>
                    <a:cs typeface="+mn-cs"/>
                  </a:rPr>
                  <a:t>适当性匹配判断​​</a:t>
                </a:r>
              </a:p>
            </p:txBody>
          </p:sp>
        </p:grpSp>
        <p:sp>
          <p:nvSpPr>
            <p:cNvPr id="197" name="Line 197"/>
            <p:cNvSpPr/>
            <p:nvPr/>
          </p:nvSpPr>
          <p:spPr>
            <a:xfrm>
              <a:off x="7658100" y="5143500"/>
              <a:ext cx="247650" cy="1"/>
            </a:xfrm>
            <a:prstGeom prst="line">
              <a:avLst/>
            </a:prstGeom>
            <a:noFill/>
            <a:ln w="14288">
              <a:solidFill>
                <a:srgbClr val="6E1604"/>
              </a:solidFill>
              <a:tailEnd type="triangle" w="lg" len="lg"/>
            </a:ln>
          </p:spPr>
        </p:sp>
        <p:grpSp>
          <p:nvGrpSpPr>
            <p:cNvPr id="204" name="cp-4"/>
            <p:cNvGrpSpPr/>
            <p:nvPr/>
          </p:nvGrpSpPr>
          <p:grpSpPr>
            <a:xfrm>
              <a:off x="7991475" y="4889897"/>
              <a:ext cx="1228725" cy="501253"/>
              <a:chOff x="7991475" y="4889897"/>
              <a:chExt cx="1228725" cy="501253"/>
            </a:xfrm>
          </p:grpSpPr>
          <p:sp>
            <p:nvSpPr>
              <p:cNvPr id="198" name="Ellipse 198"/>
              <p:cNvSpPr/>
              <p:nvPr/>
            </p:nvSpPr>
            <p:spPr>
              <a:xfrm>
                <a:off x="7991475" y="4962525"/>
                <a:ext cx="361950" cy="361950"/>
              </a:xfrm>
              <a:prstGeom prst="ellipse">
                <a:avLst/>
              </a:prstGeom>
              <a:solidFill>
                <a:srgbClr val="EAF3FE"/>
              </a:solidFill>
              <a:ln w="9525">
                <a:solidFill>
                  <a:srgbClr val="E3907F"/>
                </a:solidFill>
              </a:ln>
            </p:spPr>
          </p:sp>
          <p:grpSp>
            <p:nvGrpSpPr>
              <p:cNvPr id="201" name="Group 201"/>
              <p:cNvGrpSpPr/>
              <p:nvPr/>
            </p:nvGrpSpPr>
            <p:grpSpPr>
              <a:xfrm>
                <a:off x="8093869" y="5091113"/>
                <a:ext cx="157163" cy="104775"/>
                <a:chOff x="8093869" y="5091113"/>
                <a:chExt cx="157163" cy="104775"/>
              </a:xfrm>
            </p:grpSpPr>
            <p:sp>
              <p:nvSpPr>
                <p:cNvPr id="199" name="Freeform 199"/>
                <p:cNvSpPr/>
                <p:nvPr/>
              </p:nvSpPr>
              <p:spPr>
                <a:xfrm>
                  <a:off x="8198644" y="5104813"/>
                  <a:ext cx="52388" cy="77374"/>
                </a:xfrm>
                <a:custGeom>
                  <a:avLst/>
                  <a:gdLst/>
                  <a:ahLst/>
                  <a:cxnLst/>
                  <a:rect l="l" t="t" r="r" b="b"/>
                  <a:pathLst>
                    <a:path w="52388" h="77374">
                      <a:moveTo>
                        <a:pt x="0" y="21224"/>
                      </a:moveTo>
                      <a:lnTo>
                        <a:pt x="39753" y="1352"/>
                      </a:lnTo>
                      <a:cubicBezTo>
                        <a:pt x="42459" y="0"/>
                        <a:pt x="45672" y="145"/>
                        <a:pt x="48245" y="1735"/>
                      </a:cubicBezTo>
                      <a:cubicBezTo>
                        <a:pt x="50819" y="3324"/>
                        <a:pt x="52386" y="6133"/>
                        <a:pt x="52388" y="9158"/>
                      </a:cubicBezTo>
                      <a:lnTo>
                        <a:pt x="52388" y="68216"/>
                      </a:lnTo>
                      <a:cubicBezTo>
                        <a:pt x="52386" y="71241"/>
                        <a:pt x="50819" y="74049"/>
                        <a:pt x="48245" y="75639"/>
                      </a:cubicBezTo>
                      <a:cubicBezTo>
                        <a:pt x="45672" y="77229"/>
                        <a:pt x="42459" y="77374"/>
                        <a:pt x="39753" y="76022"/>
                      </a:cubicBezTo>
                      <a:lnTo>
                        <a:pt x="0" y="56149"/>
                      </a:lnTo>
                      <a:lnTo>
                        <a:pt x="0" y="21224"/>
                      </a:lnTo>
                    </a:path>
                  </a:pathLst>
                </a:custGeom>
                <a:noFill/>
                <a:ln w="17463">
                  <a:solidFill>
                    <a:srgbClr val="B92102"/>
                  </a:solidFill>
                </a:ln>
              </p:spPr>
            </p:sp>
            <p:sp>
              <p:nvSpPr>
                <p:cNvPr id="200" name="Freeform 200"/>
                <p:cNvSpPr/>
                <p:nvPr/>
              </p:nvSpPr>
              <p:spPr>
                <a:xfrm>
                  <a:off x="8093869" y="5091113"/>
                  <a:ext cx="104775" cy="104775"/>
                </a:xfrm>
                <a:custGeom>
                  <a:avLst/>
                  <a:gdLst/>
                  <a:ahLst/>
                  <a:cxnLst/>
                  <a:rect l="l" t="t" r="r" b="b"/>
                  <a:pathLst>
                    <a:path w="104775" h="104775">
                      <a:moveTo>
                        <a:pt x="0" y="17463"/>
                      </a:moveTo>
                      <a:cubicBezTo>
                        <a:pt x="0" y="7818"/>
                        <a:pt x="7818" y="0"/>
                        <a:pt x="17463" y="0"/>
                      </a:cubicBezTo>
                      <a:lnTo>
                        <a:pt x="87313" y="0"/>
                      </a:lnTo>
                      <a:cubicBezTo>
                        <a:pt x="96957" y="0"/>
                        <a:pt x="104775" y="7818"/>
                        <a:pt x="104775" y="17463"/>
                      </a:cubicBezTo>
                      <a:lnTo>
                        <a:pt x="104775" y="87313"/>
                      </a:lnTo>
                      <a:cubicBezTo>
                        <a:pt x="104775" y="96957"/>
                        <a:pt x="96957" y="104775"/>
                        <a:pt x="87313" y="104775"/>
                      </a:cubicBezTo>
                      <a:lnTo>
                        <a:pt x="17463" y="104775"/>
                      </a:lnTo>
                      <a:cubicBezTo>
                        <a:pt x="7818" y="104775"/>
                        <a:pt x="0" y="96957"/>
                        <a:pt x="0" y="87313"/>
                      </a:cubicBezTo>
                      <a:lnTo>
                        <a:pt x="0" y="17463"/>
                      </a:lnTo>
                    </a:path>
                  </a:pathLst>
                </a:custGeom>
                <a:noFill/>
                <a:ln w="17463">
                  <a:solidFill>
                    <a:srgbClr val="B92102"/>
                  </a:solidFill>
                </a:ln>
              </p:spPr>
            </p:sp>
          </p:grpSp>
          <p:sp>
            <p:nvSpPr>
              <p:cNvPr id="202" name="TextBox 202"/>
              <p:cNvSpPr txBox="1"/>
              <p:nvPr/>
            </p:nvSpPr>
            <p:spPr>
              <a:xfrm>
                <a:off x="8453438" y="4889897"/>
                <a:ext cx="734932"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双录/留痕​​</a:t>
                </a:r>
              </a:p>
            </p:txBody>
          </p:sp>
          <p:sp>
            <p:nvSpPr>
              <p:cNvPr id="203" name="TextBox 203"/>
              <p:cNvSpPr txBox="1"/>
              <p:nvPr/>
            </p:nvSpPr>
            <p:spPr>
              <a:xfrm>
                <a:off x="8453438" y="5100638"/>
                <a:ext cx="766762" cy="290512"/>
              </a:xfrm>
              <a:prstGeom prst="rect">
                <a:avLst/>
              </a:prstGeom>
              <a:noFill/>
              <a:ln>
                <a:noFill/>
              </a:ln>
            </p:spPr>
            <p:txBody>
              <a:bodyPr wrap="none" lIns="0" tIns="0" rIns="0" bIns="0" anchor="t" anchorCtr="0">
                <a:spAutoFit/>
              </a:bodyPr>
              <a:lstStyle/>
              <a:p>
                <a:pPr algn="l" marL="80962" indent="-80962">
                  <a:lnSpc>
                    <a:spcPts val="1125"/>
                  </a:lnSpc>
                  <a:buClr>
                    <a:srgbClr val="473633"/>
                  </a:buClr>
                  <a:buSzTx/>
                  <a:buFontTx/>
                  <a:buChar char="•"/>
                </a:pPr>
                <a:r>
                  <a:rPr lang="zh-CN" sz="750" dirty="0">
                    <a:solidFill>
                      <a:srgbClr val="473633"/>
                    </a:solidFill>
                    <a:latin typeface="+mn-lt"/>
                    <a:ea typeface="+mn-ea"/>
                    <a:cs typeface="+mn-cs"/>
                  </a:rPr>
                  <a:t>双录管理​​</a:t>
                </a:r>
              </a:p>
              <a:p>
                <a:pPr algn="l" marL="80962" indent="-80962">
                  <a:lnSpc>
                    <a:spcPts val="1125"/>
                  </a:lnSpc>
                  <a:buClr>
                    <a:srgbClr val="473633"/>
                  </a:buClr>
                  <a:buSzTx/>
                  <a:buFontTx/>
                  <a:buChar char="•"/>
                </a:pPr>
                <a:r>
                  <a:rPr lang="zh-CN" sz="750" dirty="0">
                    <a:solidFill>
                      <a:srgbClr val="473633"/>
                    </a:solidFill>
                    <a:latin typeface="+mn-lt"/>
                    <a:ea typeface="+mn-ea"/>
                    <a:cs typeface="+mn-cs"/>
                  </a:rPr>
                  <a:t>资料留存完整​​</a:t>
                </a:r>
              </a:p>
            </p:txBody>
          </p:sp>
        </p:grpSp>
        <p:sp>
          <p:nvSpPr>
            <p:cNvPr id="205" name="Line 205"/>
            <p:cNvSpPr/>
            <p:nvPr/>
          </p:nvSpPr>
          <p:spPr>
            <a:xfrm>
              <a:off x="9620250" y="5143500"/>
              <a:ext cx="247650" cy="1"/>
            </a:xfrm>
            <a:prstGeom prst="line">
              <a:avLst/>
            </a:prstGeom>
            <a:noFill/>
            <a:ln w="14288">
              <a:solidFill>
                <a:srgbClr val="6E1604"/>
              </a:solidFill>
              <a:tailEnd type="triangle" w="lg" len="lg"/>
            </a:ln>
          </p:spPr>
        </p:sp>
        <p:grpSp>
          <p:nvGrpSpPr>
            <p:cNvPr id="210" name="cp-5"/>
            <p:cNvGrpSpPr/>
            <p:nvPr/>
          </p:nvGrpSpPr>
          <p:grpSpPr>
            <a:xfrm>
              <a:off x="9953625" y="4889897"/>
              <a:ext cx="1419225" cy="501253"/>
              <a:chOff x="9953625" y="4889897"/>
              <a:chExt cx="1419225" cy="501253"/>
            </a:xfrm>
          </p:grpSpPr>
          <p:sp>
            <p:nvSpPr>
              <p:cNvPr id="206" name="Ellipse 206"/>
              <p:cNvSpPr/>
              <p:nvPr/>
            </p:nvSpPr>
            <p:spPr>
              <a:xfrm>
                <a:off x="9953625" y="4962525"/>
                <a:ext cx="361950" cy="361950"/>
              </a:xfrm>
              <a:prstGeom prst="ellipse">
                <a:avLst/>
              </a:prstGeom>
              <a:solidFill>
                <a:srgbClr val="EAF3FE"/>
              </a:solidFill>
              <a:ln w="9525">
                <a:solidFill>
                  <a:srgbClr val="E3907F"/>
                </a:solidFill>
              </a:ln>
            </p:spPr>
          </p:sp>
          <p:sp>
            <p:nvSpPr>
              <p:cNvPr id="207" name="Freeform 207"/>
              <p:cNvSpPr/>
              <p:nvPr/>
            </p:nvSpPr>
            <p:spPr>
              <a:xfrm>
                <a:off x="10047078" y="5066883"/>
                <a:ext cx="174311" cy="154517"/>
              </a:xfrm>
              <a:custGeom>
                <a:avLst/>
                <a:gdLst/>
                <a:ahLst/>
                <a:cxnLst/>
                <a:rect l="l" t="t" r="r" b="b"/>
                <a:pathLst>
                  <a:path w="174311" h="154517">
                    <a:moveTo>
                      <a:pt x="8941" y="146467"/>
                    </a:moveTo>
                    <a:lnTo>
                      <a:pt x="20291" y="112415"/>
                    </a:lnTo>
                    <a:cubicBezTo>
                      <a:pt x="0" y="82406"/>
                      <a:pt x="7841" y="43682"/>
                      <a:pt x="38627" y="21837"/>
                    </a:cubicBezTo>
                    <a:cubicBezTo>
                      <a:pt x="69413" y="0"/>
                      <a:pt x="113629" y="1790"/>
                      <a:pt x="142049" y="26028"/>
                    </a:cubicBezTo>
                    <a:cubicBezTo>
                      <a:pt x="170469" y="50275"/>
                      <a:pt x="174311" y="89469"/>
                      <a:pt x="151033" y="117715"/>
                    </a:cubicBezTo>
                    <a:cubicBezTo>
                      <a:pt x="127756" y="145960"/>
                      <a:pt x="84545" y="154517"/>
                      <a:pt x="49978" y="137736"/>
                    </a:cubicBezTo>
                    <a:lnTo>
                      <a:pt x="8941" y="146467"/>
                    </a:lnTo>
                  </a:path>
                </a:pathLst>
              </a:custGeom>
              <a:noFill/>
              <a:ln w="17463">
                <a:solidFill>
                  <a:srgbClr val="B92102"/>
                </a:solidFill>
              </a:ln>
            </p:spPr>
          </p:sp>
          <p:sp>
            <p:nvSpPr>
              <p:cNvPr id="208" name="TextBox 208"/>
              <p:cNvSpPr txBox="1"/>
              <p:nvPr/>
            </p:nvSpPr>
            <p:spPr>
              <a:xfrm>
                <a:off x="10415588" y="4889897"/>
                <a:ext cx="515696"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售后回访</a:t>
                </a:r>
              </a:p>
            </p:txBody>
          </p:sp>
          <p:sp>
            <p:nvSpPr>
              <p:cNvPr id="209" name="TextBox 209"/>
              <p:cNvSpPr txBox="1"/>
              <p:nvPr/>
            </p:nvSpPr>
            <p:spPr>
              <a:xfrm>
                <a:off x="10415588" y="5100638"/>
                <a:ext cx="957262" cy="290512"/>
              </a:xfrm>
              <a:prstGeom prst="rect">
                <a:avLst/>
              </a:prstGeom>
              <a:noFill/>
              <a:ln>
                <a:noFill/>
              </a:ln>
            </p:spPr>
            <p:txBody>
              <a:bodyPr wrap="none" lIns="0" tIns="0" rIns="0" bIns="0" anchor="t" anchorCtr="0">
                <a:spAutoFit/>
              </a:bodyPr>
              <a:lstStyle/>
              <a:p>
                <a:pPr algn="l" marL="80962" indent="-80962">
                  <a:lnSpc>
                    <a:spcPts val="1125"/>
                  </a:lnSpc>
                  <a:buClr>
                    <a:srgbClr val="473633"/>
                  </a:buClr>
                  <a:buSzTx/>
                  <a:buFontTx/>
                  <a:buChar char="•"/>
                </a:pPr>
                <a:r>
                  <a:rPr lang="zh-CN" sz="750" dirty="0">
                    <a:solidFill>
                      <a:srgbClr val="473633"/>
                    </a:solidFill>
                    <a:latin typeface="+mn-lt"/>
                    <a:ea typeface="+mn-ea"/>
                    <a:cs typeface="+mn-cs"/>
                  </a:rPr>
                  <a:t>定期回访​​</a:t>
                </a:r>
              </a:p>
              <a:p>
                <a:pPr algn="l" marL="80962" indent="-80962">
                  <a:lnSpc>
                    <a:spcPts val="1125"/>
                  </a:lnSpc>
                  <a:buClr>
                    <a:srgbClr val="473633"/>
                  </a:buClr>
                  <a:buSzTx/>
                  <a:buFontTx/>
                  <a:buChar char="•"/>
                </a:pPr>
                <a:r>
                  <a:rPr lang="zh-CN" sz="750" dirty="0">
                    <a:solidFill>
                      <a:srgbClr val="473633"/>
                    </a:solidFill>
                    <a:latin typeface="+mn-lt"/>
                    <a:ea typeface="+mn-ea"/>
                    <a:cs typeface="+mn-cs"/>
                  </a:rPr>
                  <a:t>服务与满意度跟踪​​</a:t>
                </a:r>
              </a:p>
            </p:txBody>
          </p:sp>
        </p:grpSp>
      </p:grpSp>
      <p:grpSp>
        <p:nvGrpSpPr>
          <p:cNvPr id="246" name="risk-band"/>
          <p:cNvGrpSpPr/>
          <p:nvPr/>
        </p:nvGrpSpPr>
        <p:grpSpPr>
          <a:xfrm>
            <a:off x="266700" y="5734050"/>
            <a:ext cx="11658600" cy="838200"/>
            <a:chOff x="266700" y="5734050"/>
            <a:chExt cx="11658600" cy="838200"/>
          </a:xfrm>
        </p:grpSpPr>
        <p:sp>
          <p:nvSpPr>
            <p:cNvPr id="212" name="Rectangle 212"/>
            <p:cNvSpPr/>
            <p:nvPr/>
          </p:nvSpPr>
          <p:spPr>
            <a:xfrm>
              <a:off x="266700" y="5734050"/>
              <a:ext cx="11658600" cy="838200"/>
            </a:xfrm>
            <a:prstGeom prst="roundRect">
              <a:avLst>
                <a:gd name="adj" fmla="val 9091"/>
              </a:avLst>
            </a:prstGeom>
            <a:solidFill>
              <a:srgbClr val="FFFFFF"/>
            </a:solidFill>
            <a:ln w="9525">
              <a:solidFill>
                <a:srgbClr val="F7D1C9"/>
              </a:solidFill>
            </a:ln>
          </p:spPr>
        </p:sp>
        <p:sp>
          <p:nvSpPr>
            <p:cNvPr id="213" name="Freeform 213"/>
            <p:cNvSpPr/>
            <p:nvPr/>
          </p:nvSpPr>
          <p:spPr>
            <a:xfrm>
              <a:off x="266700" y="5734050"/>
              <a:ext cx="1638300" cy="838200"/>
            </a:xfrm>
            <a:custGeom>
              <a:avLst/>
              <a:gdLst/>
              <a:ahLst/>
              <a:cxnLst/>
              <a:rect l="l" t="t" r="r" b="b"/>
              <a:pathLst>
                <a:path w="1638300" h="838200">
                  <a:moveTo>
                    <a:pt x="0" y="76200"/>
                  </a:moveTo>
                  <a:cubicBezTo>
                    <a:pt x="0" y="34116"/>
                    <a:pt x="34116" y="0"/>
                    <a:pt x="76200" y="0"/>
                  </a:cubicBezTo>
                  <a:lnTo>
                    <a:pt x="1638300" y="0"/>
                  </a:lnTo>
                  <a:lnTo>
                    <a:pt x="1638300" y="838200"/>
                  </a:lnTo>
                  <a:lnTo>
                    <a:pt x="76200" y="838200"/>
                  </a:lnTo>
                  <a:cubicBezTo>
                    <a:pt x="34116" y="838200"/>
                    <a:pt x="0" y="804084"/>
                    <a:pt x="0" y="762000"/>
                  </a:cubicBezTo>
                  <a:close/>
                </a:path>
              </a:pathLst>
            </a:custGeom>
            <a:solidFill>
              <a:srgbClr val="D44B2F"/>
            </a:solidFill>
            <a:ln>
              <a:noFill/>
            </a:ln>
          </p:spPr>
        </p:sp>
        <p:grpSp>
          <p:nvGrpSpPr>
            <p:cNvPr id="220" name="Group 220"/>
            <p:cNvGrpSpPr/>
            <p:nvPr/>
          </p:nvGrpSpPr>
          <p:grpSpPr>
            <a:xfrm>
              <a:off x="507206" y="6045994"/>
              <a:ext cx="235744" cy="207169"/>
              <a:chOff x="507206" y="6045994"/>
              <a:chExt cx="235744" cy="207169"/>
            </a:xfrm>
          </p:grpSpPr>
          <p:sp>
            <p:nvSpPr>
              <p:cNvPr id="214" name="Freeform 214"/>
              <p:cNvSpPr/>
              <p:nvPr/>
            </p:nvSpPr>
            <p:spPr>
              <a:xfrm>
                <a:off x="507206" y="6045994"/>
                <a:ext cx="57150" cy="35719"/>
              </a:xfrm>
              <a:custGeom>
                <a:avLst/>
                <a:gdLst/>
                <a:ahLst/>
                <a:cxnLst/>
                <a:rect l="l" t="t" r="r" b="b"/>
                <a:pathLst>
                  <a:path w="57150" h="35719">
                    <a:moveTo>
                      <a:pt x="0" y="14288"/>
                    </a:moveTo>
                    <a:lnTo>
                      <a:pt x="21431" y="35719"/>
                    </a:lnTo>
                    <a:lnTo>
                      <a:pt x="57150" y="0"/>
                    </a:lnTo>
                  </a:path>
                </a:pathLst>
              </a:custGeom>
              <a:noFill/>
              <a:ln w="28575">
                <a:solidFill>
                  <a:srgbClr val="FFFFFF"/>
                </a:solidFill>
              </a:ln>
            </p:spPr>
          </p:sp>
          <p:sp>
            <p:nvSpPr>
              <p:cNvPr id="215" name="Freeform 215"/>
              <p:cNvSpPr/>
              <p:nvPr/>
            </p:nvSpPr>
            <p:spPr>
              <a:xfrm>
                <a:off x="507206" y="6131719"/>
                <a:ext cx="57150" cy="35719"/>
              </a:xfrm>
              <a:custGeom>
                <a:avLst/>
                <a:gdLst/>
                <a:ahLst/>
                <a:cxnLst/>
                <a:rect l="l" t="t" r="r" b="b"/>
                <a:pathLst>
                  <a:path w="57150" h="35719">
                    <a:moveTo>
                      <a:pt x="0" y="14288"/>
                    </a:moveTo>
                    <a:lnTo>
                      <a:pt x="21431" y="35719"/>
                    </a:lnTo>
                    <a:lnTo>
                      <a:pt x="57150" y="0"/>
                    </a:lnTo>
                  </a:path>
                </a:pathLst>
              </a:custGeom>
              <a:noFill/>
              <a:ln w="28575">
                <a:solidFill>
                  <a:srgbClr val="FFFFFF"/>
                </a:solidFill>
              </a:ln>
            </p:spPr>
          </p:sp>
          <p:sp>
            <p:nvSpPr>
              <p:cNvPr id="216" name="Freeform 216"/>
              <p:cNvSpPr/>
              <p:nvPr/>
            </p:nvSpPr>
            <p:spPr>
              <a:xfrm>
                <a:off x="507206" y="6217444"/>
                <a:ext cx="57150" cy="35719"/>
              </a:xfrm>
              <a:custGeom>
                <a:avLst/>
                <a:gdLst/>
                <a:ahLst/>
                <a:cxnLst/>
                <a:rect l="l" t="t" r="r" b="b"/>
                <a:pathLst>
                  <a:path w="57150" h="35719">
                    <a:moveTo>
                      <a:pt x="0" y="14288"/>
                    </a:moveTo>
                    <a:lnTo>
                      <a:pt x="21431" y="35719"/>
                    </a:lnTo>
                    <a:lnTo>
                      <a:pt x="57150" y="0"/>
                    </a:lnTo>
                  </a:path>
                </a:pathLst>
              </a:custGeom>
              <a:noFill/>
              <a:ln w="28575">
                <a:solidFill>
                  <a:srgbClr val="FFFFFF"/>
                </a:solidFill>
              </a:ln>
            </p:spPr>
          </p:sp>
          <p:sp>
            <p:nvSpPr>
              <p:cNvPr id="217" name="Freeform 217"/>
              <p:cNvSpPr/>
              <p:nvPr/>
            </p:nvSpPr>
            <p:spPr>
              <a:xfrm>
                <a:off x="614362" y="6067425"/>
                <a:ext cx="128588" cy="9525"/>
              </a:xfrm>
              <a:custGeom>
                <a:avLst/>
                <a:gdLst/>
                <a:ahLst/>
                <a:cxnLst/>
                <a:rect l="l" t="t" r="r" b="b"/>
                <a:pathLst>
                  <a:path w="128588" h="9525">
                    <a:moveTo>
                      <a:pt x="0" y="0"/>
                    </a:moveTo>
                    <a:lnTo>
                      <a:pt x="128588" y="0"/>
                    </a:lnTo>
                  </a:path>
                </a:pathLst>
              </a:custGeom>
              <a:noFill/>
              <a:ln w="28575">
                <a:solidFill>
                  <a:srgbClr val="FFFFFF"/>
                </a:solidFill>
              </a:ln>
            </p:spPr>
          </p:sp>
          <p:sp>
            <p:nvSpPr>
              <p:cNvPr id="218" name="Freeform 218"/>
              <p:cNvSpPr/>
              <p:nvPr/>
            </p:nvSpPr>
            <p:spPr>
              <a:xfrm>
                <a:off x="614362" y="6153150"/>
                <a:ext cx="128588" cy="9525"/>
              </a:xfrm>
              <a:custGeom>
                <a:avLst/>
                <a:gdLst/>
                <a:ahLst/>
                <a:cxnLst/>
                <a:rect l="l" t="t" r="r" b="b"/>
                <a:pathLst>
                  <a:path w="128588" h="9525">
                    <a:moveTo>
                      <a:pt x="0" y="0"/>
                    </a:moveTo>
                    <a:lnTo>
                      <a:pt x="128588" y="0"/>
                    </a:lnTo>
                  </a:path>
                </a:pathLst>
              </a:custGeom>
              <a:noFill/>
              <a:ln w="28575">
                <a:solidFill>
                  <a:srgbClr val="FFFFFF"/>
                </a:solidFill>
              </a:ln>
            </p:spPr>
          </p:sp>
          <p:sp>
            <p:nvSpPr>
              <p:cNvPr id="219" name="Freeform 219"/>
              <p:cNvSpPr/>
              <p:nvPr/>
            </p:nvSpPr>
            <p:spPr>
              <a:xfrm>
                <a:off x="614362" y="6238875"/>
                <a:ext cx="128588" cy="9525"/>
              </a:xfrm>
              <a:custGeom>
                <a:avLst/>
                <a:gdLst/>
                <a:ahLst/>
                <a:cxnLst/>
                <a:rect l="l" t="t" r="r" b="b"/>
                <a:pathLst>
                  <a:path w="128588" h="9525">
                    <a:moveTo>
                      <a:pt x="0" y="0"/>
                    </a:moveTo>
                    <a:lnTo>
                      <a:pt x="128588" y="0"/>
                    </a:lnTo>
                  </a:path>
                </a:pathLst>
              </a:custGeom>
              <a:noFill/>
              <a:ln w="28575">
                <a:solidFill>
                  <a:srgbClr val="FFFFFF"/>
                </a:solidFill>
              </a:ln>
            </p:spPr>
          </p:sp>
        </p:grpSp>
        <p:sp>
          <p:nvSpPr>
            <p:cNvPr id="221" name="TextBox 221"/>
            <p:cNvSpPr txBox="1"/>
            <p:nvPr/>
          </p:nvSpPr>
          <p:spPr>
            <a:xfrm>
              <a:off x="946785" y="5974556"/>
              <a:ext cx="580390" cy="429578"/>
            </a:xfrm>
            <a:prstGeom prst="rect">
              <a:avLst/>
            </a:prstGeom>
            <a:noFill/>
            <a:ln>
              <a:noFill/>
            </a:ln>
          </p:spPr>
          <p:txBody>
            <a:bodyPr wrap="none" lIns="0" tIns="0" rIns="0" bIns="0" anchor="t" anchorCtr="0">
              <a:spAutoFit/>
            </a:bodyPr>
            <a:lstStyle/>
            <a:p>
              <a:pPr algn="l">
                <a:lnSpc>
                  <a:spcPts val="1650"/>
                </a:lnSpc>
              </a:pPr>
              <a:r>
                <a:rPr lang="zh-CN" sz="1120" b="1" dirty="0">
                  <a:solidFill>
                    <a:srgbClr val="FFFFFF"/>
                  </a:solidFill>
                  <a:latin typeface="+mn-lt"/>
                  <a:ea typeface="+mn-ea"/>
                  <a:cs typeface="+mn-cs"/>
                </a:rPr>
                <a:t>风险控制</a:t>
              </a:r>
              <a:br/>
              <a:r>
                <a:rPr lang="zh-CN" sz="1120" b="1" dirty="0">
                  <a:solidFill>
                    <a:srgbClr val="FFFFFF"/>
                  </a:solidFill>
                  <a:latin typeface="+mn-lt"/>
                  <a:ea typeface="+mn-ea"/>
                  <a:cs typeface="+mn-cs"/>
                </a:rPr>
                <a:t>清单</a:t>
              </a:r>
            </a:p>
          </p:txBody>
        </p:sp>
        <p:grpSp>
          <p:nvGrpSpPr>
            <p:cNvPr id="227" name="rk-1"/>
            <p:cNvGrpSpPr/>
            <p:nvPr/>
          </p:nvGrpSpPr>
          <p:grpSpPr>
            <a:xfrm>
              <a:off x="2164556" y="5956697"/>
              <a:ext cx="1626394" cy="501253"/>
              <a:chOff x="2164556" y="5956697"/>
              <a:chExt cx="1626394" cy="501253"/>
            </a:xfrm>
          </p:grpSpPr>
          <p:grpSp>
            <p:nvGrpSpPr>
              <p:cNvPr id="224" name="Group 224"/>
              <p:cNvGrpSpPr/>
              <p:nvPr/>
            </p:nvGrpSpPr>
            <p:grpSpPr>
              <a:xfrm>
                <a:off x="2164556" y="6031706"/>
                <a:ext cx="185737" cy="185737"/>
                <a:chOff x="2164556" y="6031706"/>
                <a:chExt cx="185737" cy="185737"/>
              </a:xfrm>
            </p:grpSpPr>
            <p:sp>
              <p:nvSpPr>
                <p:cNvPr id="222" name="Freeform 222"/>
                <p:cNvSpPr/>
                <p:nvPr/>
              </p:nvSpPr>
              <p:spPr>
                <a:xfrm>
                  <a:off x="2164556" y="60317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B92102"/>
                  </a:solidFill>
                </a:ln>
              </p:spPr>
            </p:sp>
            <p:sp>
              <p:nvSpPr>
                <p:cNvPr id="223" name="Freeform 223"/>
                <p:cNvSpPr/>
                <p:nvPr/>
              </p:nvSpPr>
              <p:spPr>
                <a:xfrm>
                  <a:off x="2226468" y="6103937"/>
                  <a:ext cx="61912" cy="41275"/>
                </a:xfrm>
                <a:custGeom>
                  <a:avLst/>
                  <a:gdLst/>
                  <a:ahLst/>
                  <a:cxnLst/>
                  <a:rect l="l" t="t" r="r" b="b"/>
                  <a:pathLst>
                    <a:path w="61912" h="41275">
                      <a:moveTo>
                        <a:pt x="0" y="20637"/>
                      </a:moveTo>
                      <a:lnTo>
                        <a:pt x="20637" y="41275"/>
                      </a:lnTo>
                      <a:lnTo>
                        <a:pt x="61912" y="0"/>
                      </a:lnTo>
                    </a:path>
                  </a:pathLst>
                </a:custGeom>
                <a:noFill/>
                <a:ln w="20637">
                  <a:solidFill>
                    <a:srgbClr val="B92102"/>
                  </a:solidFill>
                </a:ln>
              </p:spPr>
            </p:sp>
          </p:grpSp>
          <p:sp>
            <p:nvSpPr>
              <p:cNvPr id="225" name="TextBox 225"/>
              <p:cNvSpPr txBox="1"/>
              <p:nvPr/>
            </p:nvSpPr>
            <p:spPr>
              <a:xfrm>
                <a:off x="2490788" y="5956697"/>
                <a:ext cx="515696"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信息真实</a:t>
                </a:r>
              </a:p>
            </p:txBody>
          </p:sp>
          <p:sp>
            <p:nvSpPr>
              <p:cNvPr id="226" name="TextBox 226"/>
              <p:cNvSpPr txBox="1"/>
              <p:nvPr/>
            </p:nvSpPr>
            <p:spPr>
              <a:xfrm>
                <a:off x="2490788" y="6167438"/>
                <a:ext cx="1300162" cy="290512"/>
              </a:xfrm>
              <a:prstGeom prst="rect">
                <a:avLst/>
              </a:prstGeom>
              <a:noFill/>
              <a:ln>
                <a:noFill/>
              </a:ln>
            </p:spPr>
            <p:txBody>
              <a:bodyPr wrap="none" lIns="0" tIns="0" rIns="0" bIns="0" anchor="t" anchorCtr="0">
                <a:spAutoFit/>
              </a:bodyPr>
              <a:lstStyle/>
              <a:p>
                <a:pPr algn="l">
                  <a:lnSpc>
                    <a:spcPts val="1125"/>
                  </a:lnSpc>
                </a:pPr>
                <a:r>
                  <a:rPr lang="zh-CN" sz="750" dirty="0">
                    <a:solidFill>
                      <a:srgbClr val="473633"/>
                    </a:solidFill>
                    <a:latin typeface="+mn-lt"/>
                    <a:ea typeface="+mn-ea"/>
                    <a:cs typeface="+mn-cs"/>
                  </a:rPr>
                  <a:t>客户信息、需求与资料真实、​</a:t>
                </a:r>
                <a:br/>
                <a:r>
                  <a:rPr lang="zh-CN" sz="750" dirty="0">
                    <a:solidFill>
                      <a:srgbClr val="473633"/>
                    </a:solidFill>
                    <a:latin typeface="+mn-lt"/>
                    <a:ea typeface="+mn-ea"/>
                    <a:cs typeface="+mn-cs"/>
                  </a:rPr>
                  <a:t>准确、完整</a:t>
                </a:r>
              </a:p>
            </p:txBody>
          </p:sp>
        </p:grpSp>
        <p:grpSp>
          <p:nvGrpSpPr>
            <p:cNvPr id="233" name="rk-2"/>
            <p:cNvGrpSpPr/>
            <p:nvPr/>
          </p:nvGrpSpPr>
          <p:grpSpPr>
            <a:xfrm>
              <a:off x="4602956" y="5956697"/>
              <a:ext cx="1905763" cy="358379"/>
              <a:chOff x="4602956" y="5956697"/>
              <a:chExt cx="1905763" cy="358379"/>
            </a:xfrm>
          </p:grpSpPr>
          <p:grpSp>
            <p:nvGrpSpPr>
              <p:cNvPr id="230" name="Group 230"/>
              <p:cNvGrpSpPr/>
              <p:nvPr/>
            </p:nvGrpSpPr>
            <p:grpSpPr>
              <a:xfrm>
                <a:off x="4602956" y="6031706"/>
                <a:ext cx="185737" cy="185737"/>
                <a:chOff x="4602956" y="6031706"/>
                <a:chExt cx="185737" cy="185737"/>
              </a:xfrm>
            </p:grpSpPr>
            <p:sp>
              <p:nvSpPr>
                <p:cNvPr id="228" name="Freeform 228"/>
                <p:cNvSpPr/>
                <p:nvPr/>
              </p:nvSpPr>
              <p:spPr>
                <a:xfrm>
                  <a:off x="4602956" y="60317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B92102"/>
                  </a:solidFill>
                </a:ln>
              </p:spPr>
            </p:sp>
            <p:sp>
              <p:nvSpPr>
                <p:cNvPr id="229" name="Freeform 229"/>
                <p:cNvSpPr/>
                <p:nvPr/>
              </p:nvSpPr>
              <p:spPr>
                <a:xfrm>
                  <a:off x="4664868" y="6103937"/>
                  <a:ext cx="61912" cy="41275"/>
                </a:xfrm>
                <a:custGeom>
                  <a:avLst/>
                  <a:gdLst/>
                  <a:ahLst/>
                  <a:cxnLst/>
                  <a:rect l="l" t="t" r="r" b="b"/>
                  <a:pathLst>
                    <a:path w="61912" h="41275">
                      <a:moveTo>
                        <a:pt x="0" y="20637"/>
                      </a:moveTo>
                      <a:lnTo>
                        <a:pt x="20637" y="41275"/>
                      </a:lnTo>
                      <a:lnTo>
                        <a:pt x="61912" y="0"/>
                      </a:lnTo>
                    </a:path>
                  </a:pathLst>
                </a:custGeom>
                <a:noFill/>
                <a:ln w="20637">
                  <a:solidFill>
                    <a:srgbClr val="B92102"/>
                  </a:solidFill>
                </a:ln>
              </p:spPr>
            </p:sp>
          </p:grpSp>
          <p:sp>
            <p:nvSpPr>
              <p:cNvPr id="231" name="TextBox 231"/>
              <p:cNvSpPr txBox="1"/>
              <p:nvPr/>
            </p:nvSpPr>
            <p:spPr>
              <a:xfrm>
                <a:off x="4929188" y="5956697"/>
                <a:ext cx="515696"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授权完整</a:t>
                </a:r>
              </a:p>
            </p:txBody>
          </p:sp>
          <p:sp>
            <p:nvSpPr>
              <p:cNvPr id="232" name="TextBox 232"/>
              <p:cNvSpPr txBox="1"/>
              <p:nvPr/>
            </p:nvSpPr>
            <p:spPr>
              <a:xfrm>
                <a:off x="4929188" y="6167438"/>
                <a:ext cx="1579531"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客户授权手续齐备，使用范围合规​</a:t>
                </a:r>
              </a:p>
            </p:txBody>
          </p:sp>
        </p:grpSp>
        <p:grpSp>
          <p:nvGrpSpPr>
            <p:cNvPr id="239" name="rk-3"/>
            <p:cNvGrpSpPr/>
            <p:nvPr/>
          </p:nvGrpSpPr>
          <p:grpSpPr>
            <a:xfrm>
              <a:off x="7041356" y="5956697"/>
              <a:ext cx="1905763" cy="358379"/>
              <a:chOff x="7041356" y="5956697"/>
              <a:chExt cx="1905763" cy="358379"/>
            </a:xfrm>
          </p:grpSpPr>
          <p:grpSp>
            <p:nvGrpSpPr>
              <p:cNvPr id="236" name="Group 236"/>
              <p:cNvGrpSpPr/>
              <p:nvPr/>
            </p:nvGrpSpPr>
            <p:grpSpPr>
              <a:xfrm>
                <a:off x="7041356" y="6031706"/>
                <a:ext cx="185737" cy="185737"/>
                <a:chOff x="7041356" y="6031706"/>
                <a:chExt cx="185737" cy="185737"/>
              </a:xfrm>
            </p:grpSpPr>
            <p:sp>
              <p:nvSpPr>
                <p:cNvPr id="234" name="Freeform 234"/>
                <p:cNvSpPr/>
                <p:nvPr/>
              </p:nvSpPr>
              <p:spPr>
                <a:xfrm>
                  <a:off x="7041356" y="60317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B92102"/>
                  </a:solidFill>
                </a:ln>
              </p:spPr>
            </p:sp>
            <p:sp>
              <p:nvSpPr>
                <p:cNvPr id="235" name="Freeform 235"/>
                <p:cNvSpPr/>
                <p:nvPr/>
              </p:nvSpPr>
              <p:spPr>
                <a:xfrm>
                  <a:off x="7103268" y="6103937"/>
                  <a:ext cx="61912" cy="41275"/>
                </a:xfrm>
                <a:custGeom>
                  <a:avLst/>
                  <a:gdLst/>
                  <a:ahLst/>
                  <a:cxnLst/>
                  <a:rect l="l" t="t" r="r" b="b"/>
                  <a:pathLst>
                    <a:path w="61912" h="41275">
                      <a:moveTo>
                        <a:pt x="0" y="20637"/>
                      </a:moveTo>
                      <a:lnTo>
                        <a:pt x="20637" y="41275"/>
                      </a:lnTo>
                      <a:lnTo>
                        <a:pt x="61912" y="0"/>
                      </a:lnTo>
                    </a:path>
                  </a:pathLst>
                </a:custGeom>
                <a:noFill/>
                <a:ln w="20637">
                  <a:solidFill>
                    <a:srgbClr val="B92102"/>
                  </a:solidFill>
                </a:ln>
              </p:spPr>
            </p:sp>
          </p:grpSp>
          <p:sp>
            <p:nvSpPr>
              <p:cNvPr id="237" name="TextBox 237"/>
              <p:cNvSpPr txBox="1"/>
              <p:nvPr/>
            </p:nvSpPr>
            <p:spPr>
              <a:xfrm>
                <a:off x="7367588" y="5956697"/>
                <a:ext cx="642239"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过程可追溯</a:t>
                </a:r>
              </a:p>
            </p:txBody>
          </p:sp>
          <p:sp>
            <p:nvSpPr>
              <p:cNvPr id="238" name="TextBox 238"/>
              <p:cNvSpPr txBox="1"/>
              <p:nvPr/>
            </p:nvSpPr>
            <p:spPr>
              <a:xfrm>
                <a:off x="7367588" y="6167438"/>
                <a:ext cx="1579531"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销售全流程留痕、记录完整可追溯​</a:t>
                </a:r>
              </a:p>
            </p:txBody>
          </p:sp>
        </p:grpSp>
        <p:grpSp>
          <p:nvGrpSpPr>
            <p:cNvPr id="245" name="rk-4"/>
            <p:cNvGrpSpPr/>
            <p:nvPr/>
          </p:nvGrpSpPr>
          <p:grpSpPr>
            <a:xfrm>
              <a:off x="9479756" y="5956697"/>
              <a:ext cx="1804798" cy="358379"/>
              <a:chOff x="9479756" y="5956697"/>
              <a:chExt cx="1804798" cy="358379"/>
            </a:xfrm>
          </p:grpSpPr>
          <p:grpSp>
            <p:nvGrpSpPr>
              <p:cNvPr id="242" name="Group 242"/>
              <p:cNvGrpSpPr/>
              <p:nvPr/>
            </p:nvGrpSpPr>
            <p:grpSpPr>
              <a:xfrm>
                <a:off x="9479756" y="6031706"/>
                <a:ext cx="185737" cy="185737"/>
                <a:chOff x="9479756" y="6031706"/>
                <a:chExt cx="185737" cy="185737"/>
              </a:xfrm>
            </p:grpSpPr>
            <p:sp>
              <p:nvSpPr>
                <p:cNvPr id="240" name="Freeform 240"/>
                <p:cNvSpPr/>
                <p:nvPr/>
              </p:nvSpPr>
              <p:spPr>
                <a:xfrm>
                  <a:off x="9479756" y="60317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B92102"/>
                  </a:solidFill>
                </a:ln>
              </p:spPr>
            </p:sp>
            <p:sp>
              <p:nvSpPr>
                <p:cNvPr id="241" name="Freeform 241"/>
                <p:cNvSpPr/>
                <p:nvPr/>
              </p:nvSpPr>
              <p:spPr>
                <a:xfrm>
                  <a:off x="9541668" y="6103937"/>
                  <a:ext cx="61912" cy="41275"/>
                </a:xfrm>
                <a:custGeom>
                  <a:avLst/>
                  <a:gdLst/>
                  <a:ahLst/>
                  <a:cxnLst/>
                  <a:rect l="l" t="t" r="r" b="b"/>
                  <a:pathLst>
                    <a:path w="61912" h="41275">
                      <a:moveTo>
                        <a:pt x="0" y="20637"/>
                      </a:moveTo>
                      <a:lnTo>
                        <a:pt x="20637" y="41275"/>
                      </a:lnTo>
                      <a:lnTo>
                        <a:pt x="61912" y="0"/>
                      </a:lnTo>
                    </a:path>
                  </a:pathLst>
                </a:custGeom>
                <a:noFill/>
                <a:ln w="20637">
                  <a:solidFill>
                    <a:srgbClr val="B92102"/>
                  </a:solidFill>
                </a:ln>
              </p:spPr>
            </p:sp>
          </p:grpSp>
          <p:sp>
            <p:nvSpPr>
              <p:cNvPr id="243" name="TextBox 243"/>
              <p:cNvSpPr txBox="1"/>
              <p:nvPr/>
            </p:nvSpPr>
            <p:spPr>
              <a:xfrm>
                <a:off x="9805988" y="5956697"/>
                <a:ext cx="768782" cy="183356"/>
              </a:xfrm>
              <a:prstGeom prst="rect">
                <a:avLst/>
              </a:prstGeom>
              <a:noFill/>
              <a:ln>
                <a:noFill/>
              </a:ln>
            </p:spPr>
            <p:txBody>
              <a:bodyPr wrap="none" lIns="0" tIns="0" rIns="0" bIns="0" anchor="t" anchorCtr="0">
                <a:spAutoFit/>
              </a:bodyPr>
              <a:lstStyle/>
              <a:p>
                <a:pPr algn="l"/>
                <a:r>
                  <a:rPr lang="zh-CN" sz="940" b="1" dirty="0">
                    <a:solidFill>
                      <a:srgbClr val="6E1604"/>
                    </a:solidFill>
                    <a:latin typeface="+mn-lt"/>
                    <a:ea typeface="+mn-ea"/>
                    <a:cs typeface="+mn-cs"/>
                  </a:rPr>
                  <a:t>投诉及时闭环</a:t>
                </a:r>
              </a:p>
            </p:txBody>
          </p:sp>
          <p:sp>
            <p:nvSpPr>
              <p:cNvPr id="244" name="TextBox 244"/>
              <p:cNvSpPr txBox="1"/>
              <p:nvPr/>
            </p:nvSpPr>
            <p:spPr>
              <a:xfrm>
                <a:off x="9805988" y="6167438"/>
                <a:ext cx="1478566" cy="147638"/>
              </a:xfrm>
              <a:prstGeom prst="rect">
                <a:avLst/>
              </a:prstGeom>
              <a:noFill/>
              <a:ln>
                <a:noFill/>
              </a:ln>
            </p:spPr>
            <p:txBody>
              <a:bodyPr wrap="none" lIns="0" tIns="0" rIns="0" bIns="0" anchor="t" anchorCtr="0">
                <a:spAutoFit/>
              </a:bodyPr>
              <a:lstStyle/>
              <a:p>
                <a:pPr algn="l"/>
                <a:r>
                  <a:rPr lang="zh-CN" sz="750" dirty="0">
                    <a:solidFill>
                      <a:srgbClr val="473633"/>
                    </a:solidFill>
                    <a:latin typeface="+mn-lt"/>
                    <a:ea typeface="+mn-ea"/>
                    <a:cs typeface="+mn-cs"/>
                  </a:rPr>
                  <a:t>投诉受理、处理与反馈及时闭环​</a:t>
                </a:r>
              </a:p>
            </p:txBody>
          </p:sp>
        </p:grpSp>
      </p:gr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92102"/>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18​</a:t>
              </a:r>
            </a:p>
          </p:txBody>
        </p:sp>
        <p:sp>
          <p:nvSpPr>
            <p:cNvPr id="4" name="TextBox 4"/>
            <p:cNvSpPr txBox="1"/>
            <p:nvPr/>
          </p:nvSpPr>
          <p:spPr>
            <a:xfrm>
              <a:off x="942594" y="151448"/>
              <a:ext cx="6922808" cy="381381"/>
            </a:xfrm>
            <a:prstGeom prst="rect">
              <a:avLst/>
            </a:prstGeom>
            <a:noFill/>
            <a:ln>
              <a:noFill/>
            </a:ln>
          </p:spPr>
          <p:txBody>
            <a:bodyPr wrap="none" lIns="0" tIns="0" rIns="0" bIns="0" anchor="t" anchorCtr="0">
              <a:spAutoFit/>
            </a:bodyPr>
            <a:lstStyle/>
            <a:p>
              <a:pPr algn="l"/>
              <a:r>
                <a:rPr lang="zh-CN" sz="1950" b="1" dirty="0">
                  <a:solidFill>
                    <a:srgbClr val="B92102"/>
                  </a:solidFill>
                  <a:latin typeface="SimSun"/>
                  <a:ea typeface="SimSun"/>
                  <a:cs typeface="SimSun"/>
                </a:rPr>
                <a:t>9月重点任务清单</a:t>
              </a:r>
              <a:r>
                <a:rPr lang="zh-CN" sz="1950" b="1" dirty="0">
                  <a:solidFill>
                    <a:srgbClr val="1A1A1A"/>
                  </a:solidFill>
                  <a:latin typeface="SimSun"/>
                  <a:ea typeface="SimSun"/>
                  <a:cs typeface="SimSun"/>
                </a:rPr>
                <a:t>｜责任到人、节点到周、结果闭环​​​​</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92102"/>
              </a:solidFill>
            </a:ln>
          </p:spPr>
        </p:sp>
      </p:grpSp>
      <p:grpSp>
        <p:nvGrpSpPr>
          <p:cNvPr id="130" name="task-table"/>
          <p:cNvGrpSpPr/>
          <p:nvPr/>
        </p:nvGrpSpPr>
        <p:grpSpPr>
          <a:xfrm>
            <a:off x="266700" y="819150"/>
            <a:ext cx="9163050" cy="5753100"/>
            <a:chOff x="266700" y="819150"/>
            <a:chExt cx="9163050" cy="5753100"/>
          </a:xfrm>
        </p:grpSpPr>
        <p:sp>
          <p:nvSpPr>
            <p:cNvPr id="7" name="Rectangle 7"/>
            <p:cNvSpPr/>
            <p:nvPr/>
          </p:nvSpPr>
          <p:spPr>
            <a:xfrm>
              <a:off x="266700" y="819150"/>
              <a:ext cx="9163050" cy="5753100"/>
            </a:xfrm>
            <a:prstGeom prst="roundRect">
              <a:avLst>
                <a:gd name="adj" fmla="val 1325"/>
              </a:avLst>
            </a:prstGeom>
            <a:solidFill>
              <a:srgbClr val="FFFFFF"/>
            </a:solidFill>
            <a:ln w="9525">
              <a:solidFill>
                <a:srgbClr val="F7D1C9"/>
              </a:solidFill>
            </a:ln>
          </p:spPr>
        </p:sp>
        <p:sp>
          <p:nvSpPr>
            <p:cNvPr id="8" name="Freeform 8"/>
            <p:cNvSpPr/>
            <p:nvPr/>
          </p:nvSpPr>
          <p:spPr>
            <a:xfrm>
              <a:off x="266700" y="819150"/>
              <a:ext cx="9163050" cy="400050"/>
            </a:xfrm>
            <a:custGeom>
              <a:avLst/>
              <a:gdLst/>
              <a:ahLst/>
              <a:cxnLst/>
              <a:rect l="l" t="t" r="r" b="b"/>
              <a:pathLst>
                <a:path w="9163050" h="400050">
                  <a:moveTo>
                    <a:pt x="0" y="76200"/>
                  </a:moveTo>
                  <a:cubicBezTo>
                    <a:pt x="0" y="34116"/>
                    <a:pt x="34116" y="0"/>
                    <a:pt x="76200" y="0"/>
                  </a:cubicBezTo>
                  <a:lnTo>
                    <a:pt x="9086850" y="0"/>
                  </a:lnTo>
                  <a:cubicBezTo>
                    <a:pt x="9128934" y="0"/>
                    <a:pt x="9163050" y="34116"/>
                    <a:pt x="9163050" y="76200"/>
                  </a:cubicBezTo>
                  <a:lnTo>
                    <a:pt x="9163050" y="400050"/>
                  </a:lnTo>
                  <a:lnTo>
                    <a:pt x="0" y="400050"/>
                  </a:lnTo>
                  <a:close/>
                </a:path>
              </a:pathLst>
            </a:custGeom>
            <a:solidFill>
              <a:srgbClr val="B92102"/>
            </a:solidFill>
            <a:ln>
              <a:noFill/>
            </a:ln>
          </p:spPr>
        </p:sp>
        <p:sp>
          <p:nvSpPr>
            <p:cNvPr id="9" name="Line 9"/>
            <p:cNvSpPr/>
            <p:nvPr/>
          </p:nvSpPr>
          <p:spPr>
            <a:xfrm>
              <a:off x="1857375" y="895350"/>
              <a:ext cx="9525" cy="247650"/>
            </a:xfrm>
            <a:custGeom>
              <a:avLst/>
              <a:gdLst/>
              <a:ahLst/>
              <a:cxnLst/>
              <a:rect l="l" t="t" r="r" b="b"/>
              <a:pathLst>
                <a:path w="9525" h="247650">
                  <a:moveTo>
                    <a:pt x="0" y="0"/>
                  </a:moveTo>
                  <a:lnTo>
                    <a:pt x="0" y="247650"/>
                  </a:lnTo>
                </a:path>
              </a:pathLst>
            </a:custGeom>
            <a:noFill/>
            <a:ln w="9525">
              <a:solidFill>
                <a:srgbClr val="D9705B"/>
              </a:solidFill>
            </a:ln>
          </p:spPr>
        </p:sp>
        <p:sp>
          <p:nvSpPr>
            <p:cNvPr id="10" name="Line 10"/>
            <p:cNvSpPr/>
            <p:nvPr/>
          </p:nvSpPr>
          <p:spPr>
            <a:xfrm>
              <a:off x="3905250" y="895350"/>
              <a:ext cx="9525" cy="247650"/>
            </a:xfrm>
            <a:custGeom>
              <a:avLst/>
              <a:gdLst/>
              <a:ahLst/>
              <a:cxnLst/>
              <a:rect l="l" t="t" r="r" b="b"/>
              <a:pathLst>
                <a:path w="9525" h="247650">
                  <a:moveTo>
                    <a:pt x="0" y="0"/>
                  </a:moveTo>
                  <a:lnTo>
                    <a:pt x="0" y="247650"/>
                  </a:lnTo>
                </a:path>
              </a:pathLst>
            </a:custGeom>
            <a:noFill/>
            <a:ln w="9525">
              <a:solidFill>
                <a:srgbClr val="D9705B"/>
              </a:solidFill>
            </a:ln>
          </p:spPr>
        </p:sp>
        <p:sp>
          <p:nvSpPr>
            <p:cNvPr id="11" name="Line 11"/>
            <p:cNvSpPr/>
            <p:nvPr/>
          </p:nvSpPr>
          <p:spPr>
            <a:xfrm>
              <a:off x="4638675" y="895350"/>
              <a:ext cx="9525" cy="247650"/>
            </a:xfrm>
            <a:custGeom>
              <a:avLst/>
              <a:gdLst/>
              <a:ahLst/>
              <a:cxnLst/>
              <a:rect l="l" t="t" r="r" b="b"/>
              <a:pathLst>
                <a:path w="9525" h="247650">
                  <a:moveTo>
                    <a:pt x="0" y="0"/>
                  </a:moveTo>
                  <a:lnTo>
                    <a:pt x="0" y="247650"/>
                  </a:lnTo>
                </a:path>
              </a:pathLst>
            </a:custGeom>
            <a:noFill/>
            <a:ln w="9525">
              <a:solidFill>
                <a:srgbClr val="D9705B"/>
              </a:solidFill>
            </a:ln>
          </p:spPr>
        </p:sp>
        <p:sp>
          <p:nvSpPr>
            <p:cNvPr id="12" name="Line 12"/>
            <p:cNvSpPr/>
            <p:nvPr/>
          </p:nvSpPr>
          <p:spPr>
            <a:xfrm>
              <a:off x="5457825" y="895350"/>
              <a:ext cx="9525" cy="247650"/>
            </a:xfrm>
            <a:custGeom>
              <a:avLst/>
              <a:gdLst/>
              <a:ahLst/>
              <a:cxnLst/>
              <a:rect l="l" t="t" r="r" b="b"/>
              <a:pathLst>
                <a:path w="9525" h="247650">
                  <a:moveTo>
                    <a:pt x="0" y="0"/>
                  </a:moveTo>
                  <a:lnTo>
                    <a:pt x="0" y="247650"/>
                  </a:lnTo>
                </a:path>
              </a:pathLst>
            </a:custGeom>
            <a:noFill/>
            <a:ln w="9525">
              <a:solidFill>
                <a:srgbClr val="D9705B"/>
              </a:solidFill>
            </a:ln>
          </p:spPr>
        </p:sp>
        <p:sp>
          <p:nvSpPr>
            <p:cNvPr id="13" name="Line 13"/>
            <p:cNvSpPr/>
            <p:nvPr/>
          </p:nvSpPr>
          <p:spPr>
            <a:xfrm>
              <a:off x="6276975" y="895350"/>
              <a:ext cx="9525" cy="247650"/>
            </a:xfrm>
            <a:custGeom>
              <a:avLst/>
              <a:gdLst/>
              <a:ahLst/>
              <a:cxnLst/>
              <a:rect l="l" t="t" r="r" b="b"/>
              <a:pathLst>
                <a:path w="9525" h="247650">
                  <a:moveTo>
                    <a:pt x="0" y="0"/>
                  </a:moveTo>
                  <a:lnTo>
                    <a:pt x="0" y="247650"/>
                  </a:lnTo>
                </a:path>
              </a:pathLst>
            </a:custGeom>
            <a:noFill/>
            <a:ln w="9525">
              <a:solidFill>
                <a:srgbClr val="D9705B"/>
              </a:solidFill>
            </a:ln>
          </p:spPr>
        </p:sp>
        <p:sp>
          <p:nvSpPr>
            <p:cNvPr id="14" name="Line 14"/>
            <p:cNvSpPr/>
            <p:nvPr/>
          </p:nvSpPr>
          <p:spPr>
            <a:xfrm>
              <a:off x="7096125" y="895350"/>
              <a:ext cx="9525" cy="247650"/>
            </a:xfrm>
            <a:custGeom>
              <a:avLst/>
              <a:gdLst/>
              <a:ahLst/>
              <a:cxnLst/>
              <a:rect l="l" t="t" r="r" b="b"/>
              <a:pathLst>
                <a:path w="9525" h="247650">
                  <a:moveTo>
                    <a:pt x="0" y="0"/>
                  </a:moveTo>
                  <a:lnTo>
                    <a:pt x="0" y="247650"/>
                  </a:lnTo>
                </a:path>
              </a:pathLst>
            </a:custGeom>
            <a:noFill/>
            <a:ln w="9525">
              <a:solidFill>
                <a:srgbClr val="D9705B"/>
              </a:solidFill>
            </a:ln>
          </p:spPr>
        </p:sp>
        <p:sp>
          <p:nvSpPr>
            <p:cNvPr id="15" name="Line 15"/>
            <p:cNvSpPr/>
            <p:nvPr/>
          </p:nvSpPr>
          <p:spPr>
            <a:xfrm>
              <a:off x="7915275" y="895350"/>
              <a:ext cx="9525" cy="247650"/>
            </a:xfrm>
            <a:custGeom>
              <a:avLst/>
              <a:gdLst/>
              <a:ahLst/>
              <a:cxnLst/>
              <a:rect l="l" t="t" r="r" b="b"/>
              <a:pathLst>
                <a:path w="9525" h="247650">
                  <a:moveTo>
                    <a:pt x="0" y="0"/>
                  </a:moveTo>
                  <a:lnTo>
                    <a:pt x="0" y="247650"/>
                  </a:lnTo>
                </a:path>
              </a:pathLst>
            </a:custGeom>
            <a:noFill/>
            <a:ln w="9525">
              <a:solidFill>
                <a:srgbClr val="D9705B"/>
              </a:solidFill>
            </a:ln>
          </p:spPr>
        </p:sp>
        <p:sp>
          <p:nvSpPr>
            <p:cNvPr id="16" name="TextBox 16"/>
            <p:cNvSpPr txBox="1"/>
            <p:nvPr/>
          </p:nvSpPr>
          <p:spPr>
            <a:xfrm>
              <a:off x="916165" y="957501"/>
              <a:ext cx="282219"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目标</a:t>
              </a:r>
            </a:p>
          </p:txBody>
        </p:sp>
        <p:sp>
          <p:nvSpPr>
            <p:cNvPr id="17" name="TextBox 17"/>
            <p:cNvSpPr txBox="1"/>
            <p:nvPr/>
          </p:nvSpPr>
          <p:spPr>
            <a:xfrm>
              <a:off x="2599474" y="95750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关键动作</a:t>
              </a:r>
            </a:p>
          </p:txBody>
        </p:sp>
        <p:sp>
          <p:nvSpPr>
            <p:cNvPr id="18" name="TextBox 18"/>
            <p:cNvSpPr txBox="1"/>
            <p:nvPr/>
          </p:nvSpPr>
          <p:spPr>
            <a:xfrm>
              <a:off x="4058107" y="957501"/>
              <a:ext cx="418186"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责任人</a:t>
              </a:r>
            </a:p>
          </p:txBody>
        </p:sp>
        <p:sp>
          <p:nvSpPr>
            <p:cNvPr id="19" name="TextBox 19"/>
            <p:cNvSpPr txBox="1"/>
            <p:nvPr/>
          </p:nvSpPr>
          <p:spPr>
            <a:xfrm>
              <a:off x="4903574" y="957501"/>
              <a:ext cx="289351" cy="198025"/>
            </a:xfrm>
            <a:prstGeom prst="rect">
              <a:avLst/>
            </a:prstGeom>
            <a:noFill/>
            <a:ln>
              <a:noFill/>
            </a:ln>
          </p:spPr>
          <p:txBody>
            <a:bodyPr wrap="none" lIns="0" tIns="0" rIns="0" bIns="0" anchor="t" anchorCtr="0">
              <a:spAutoFit/>
            </a:bodyPr>
            <a:lstStyle/>
            <a:p>
              <a:pPr algn="ctr"/>
              <a:r>
                <a:rPr lang="en-US" sz="1010" b="1" dirty="0">
                  <a:solidFill>
                    <a:srgbClr val="FFFFFF"/>
                  </a:solidFill>
                  <a:latin typeface="+mn-lt"/>
                  <a:ea typeface="+mn-ea"/>
                  <a:cs typeface="+mn-cs"/>
                </a:rPr>
                <a:t>W1​</a:t>
              </a:r>
            </a:p>
          </p:txBody>
        </p:sp>
        <p:sp>
          <p:nvSpPr>
            <p:cNvPr id="20" name="TextBox 20"/>
            <p:cNvSpPr txBox="1"/>
            <p:nvPr/>
          </p:nvSpPr>
          <p:spPr>
            <a:xfrm>
              <a:off x="5722724" y="957501"/>
              <a:ext cx="289351" cy="198025"/>
            </a:xfrm>
            <a:prstGeom prst="rect">
              <a:avLst/>
            </a:prstGeom>
            <a:noFill/>
            <a:ln>
              <a:noFill/>
            </a:ln>
          </p:spPr>
          <p:txBody>
            <a:bodyPr wrap="none" lIns="0" tIns="0" rIns="0" bIns="0" anchor="t" anchorCtr="0">
              <a:spAutoFit/>
            </a:bodyPr>
            <a:lstStyle/>
            <a:p>
              <a:pPr algn="ctr"/>
              <a:r>
                <a:rPr lang="en-US" sz="1010" b="1" dirty="0">
                  <a:solidFill>
                    <a:srgbClr val="FFFFFF"/>
                  </a:solidFill>
                  <a:latin typeface="+mn-lt"/>
                  <a:ea typeface="+mn-ea"/>
                  <a:cs typeface="+mn-cs"/>
                </a:rPr>
                <a:t>W2​</a:t>
              </a:r>
            </a:p>
          </p:txBody>
        </p:sp>
        <p:sp>
          <p:nvSpPr>
            <p:cNvPr id="21" name="TextBox 21"/>
            <p:cNvSpPr txBox="1"/>
            <p:nvPr/>
          </p:nvSpPr>
          <p:spPr>
            <a:xfrm>
              <a:off x="6541874" y="957501"/>
              <a:ext cx="289351" cy="198025"/>
            </a:xfrm>
            <a:prstGeom prst="rect">
              <a:avLst/>
            </a:prstGeom>
            <a:noFill/>
            <a:ln>
              <a:noFill/>
            </a:ln>
          </p:spPr>
          <p:txBody>
            <a:bodyPr wrap="none" lIns="0" tIns="0" rIns="0" bIns="0" anchor="t" anchorCtr="0">
              <a:spAutoFit/>
            </a:bodyPr>
            <a:lstStyle/>
            <a:p>
              <a:pPr algn="ctr"/>
              <a:r>
                <a:rPr lang="en-US" sz="1010" b="1" dirty="0">
                  <a:solidFill>
                    <a:srgbClr val="FFFFFF"/>
                  </a:solidFill>
                  <a:latin typeface="+mn-lt"/>
                  <a:ea typeface="+mn-ea"/>
                  <a:cs typeface="+mn-cs"/>
                </a:rPr>
                <a:t>W3​</a:t>
              </a:r>
            </a:p>
          </p:txBody>
        </p:sp>
        <p:sp>
          <p:nvSpPr>
            <p:cNvPr id="22" name="TextBox 22"/>
            <p:cNvSpPr txBox="1"/>
            <p:nvPr/>
          </p:nvSpPr>
          <p:spPr>
            <a:xfrm>
              <a:off x="7361024" y="957501"/>
              <a:ext cx="289351" cy="198025"/>
            </a:xfrm>
            <a:prstGeom prst="rect">
              <a:avLst/>
            </a:prstGeom>
            <a:noFill/>
            <a:ln>
              <a:noFill/>
            </a:ln>
          </p:spPr>
          <p:txBody>
            <a:bodyPr wrap="none" lIns="0" tIns="0" rIns="0" bIns="0" anchor="t" anchorCtr="0">
              <a:spAutoFit/>
            </a:bodyPr>
            <a:lstStyle/>
            <a:p>
              <a:pPr algn="ctr"/>
              <a:r>
                <a:rPr lang="en-US" sz="1010" b="1" dirty="0">
                  <a:solidFill>
                    <a:srgbClr val="FFFFFF"/>
                  </a:solidFill>
                  <a:latin typeface="+mn-lt"/>
                  <a:ea typeface="+mn-ea"/>
                  <a:cs typeface="+mn-cs"/>
                </a:rPr>
                <a:t>W4​</a:t>
              </a:r>
            </a:p>
          </p:txBody>
        </p:sp>
        <p:sp>
          <p:nvSpPr>
            <p:cNvPr id="23" name="TextBox 23"/>
            <p:cNvSpPr txBox="1"/>
            <p:nvPr/>
          </p:nvSpPr>
          <p:spPr>
            <a:xfrm>
              <a:off x="8390674" y="95750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验收标准</a:t>
              </a:r>
            </a:p>
          </p:txBody>
        </p:sp>
        <p:sp>
          <p:nvSpPr>
            <p:cNvPr id="24" name="Rectangle 24"/>
            <p:cNvSpPr/>
            <p:nvPr/>
          </p:nvSpPr>
          <p:spPr>
            <a:xfrm>
              <a:off x="276225" y="1885950"/>
              <a:ext cx="9144000" cy="666750"/>
            </a:xfrm>
            <a:prstGeom prst="rect">
              <a:avLst/>
            </a:prstGeom>
            <a:solidFill>
              <a:srgbClr val="F7FAFE"/>
            </a:solidFill>
            <a:ln>
              <a:noFill/>
            </a:ln>
          </p:spPr>
        </p:sp>
        <p:sp>
          <p:nvSpPr>
            <p:cNvPr id="25" name="Rectangle 25"/>
            <p:cNvSpPr/>
            <p:nvPr/>
          </p:nvSpPr>
          <p:spPr>
            <a:xfrm>
              <a:off x="276225" y="3219450"/>
              <a:ext cx="9144000" cy="666750"/>
            </a:xfrm>
            <a:prstGeom prst="rect">
              <a:avLst/>
            </a:prstGeom>
            <a:solidFill>
              <a:srgbClr val="F7FAFE"/>
            </a:solidFill>
            <a:ln>
              <a:noFill/>
            </a:ln>
          </p:spPr>
        </p:sp>
        <p:sp>
          <p:nvSpPr>
            <p:cNvPr id="26" name="Rectangle 26"/>
            <p:cNvSpPr/>
            <p:nvPr/>
          </p:nvSpPr>
          <p:spPr>
            <a:xfrm>
              <a:off x="276225" y="4552950"/>
              <a:ext cx="9144000" cy="666750"/>
            </a:xfrm>
            <a:prstGeom prst="rect">
              <a:avLst/>
            </a:prstGeom>
            <a:solidFill>
              <a:srgbClr val="F7FAFE"/>
            </a:solidFill>
            <a:ln>
              <a:noFill/>
            </a:ln>
          </p:spPr>
        </p:sp>
        <p:sp>
          <p:nvSpPr>
            <p:cNvPr id="27" name="Rectangle 27"/>
            <p:cNvSpPr/>
            <p:nvPr/>
          </p:nvSpPr>
          <p:spPr>
            <a:xfrm>
              <a:off x="276225" y="5886450"/>
              <a:ext cx="9144000" cy="676275"/>
            </a:xfrm>
            <a:prstGeom prst="rect">
              <a:avLst/>
            </a:prstGeom>
            <a:solidFill>
              <a:srgbClr val="F7FAFE"/>
            </a:solidFill>
            <a:ln>
              <a:noFill/>
            </a:ln>
          </p:spPr>
        </p:sp>
        <p:sp>
          <p:nvSpPr>
            <p:cNvPr id="28" name="Line 28"/>
            <p:cNvSpPr/>
            <p:nvPr/>
          </p:nvSpPr>
          <p:spPr>
            <a:xfrm>
              <a:off x="266700" y="1885950"/>
              <a:ext cx="9163050" cy="9525"/>
            </a:xfrm>
            <a:custGeom>
              <a:avLst/>
              <a:gdLst/>
              <a:ahLst/>
              <a:cxnLst/>
              <a:rect l="l" t="t" r="r" b="b"/>
              <a:pathLst>
                <a:path w="9163050" h="9525">
                  <a:moveTo>
                    <a:pt x="0" y="0"/>
                  </a:moveTo>
                  <a:lnTo>
                    <a:pt x="9163050" y="0"/>
                  </a:lnTo>
                </a:path>
              </a:pathLst>
            </a:custGeom>
            <a:noFill/>
            <a:ln w="9525">
              <a:solidFill>
                <a:srgbClr val="DCE6F8"/>
              </a:solidFill>
            </a:ln>
          </p:spPr>
        </p:sp>
        <p:sp>
          <p:nvSpPr>
            <p:cNvPr id="29" name="Line 29"/>
            <p:cNvSpPr/>
            <p:nvPr/>
          </p:nvSpPr>
          <p:spPr>
            <a:xfrm>
              <a:off x="266700" y="2552700"/>
              <a:ext cx="9163050" cy="9525"/>
            </a:xfrm>
            <a:custGeom>
              <a:avLst/>
              <a:gdLst/>
              <a:ahLst/>
              <a:cxnLst/>
              <a:rect l="l" t="t" r="r" b="b"/>
              <a:pathLst>
                <a:path w="9163050" h="9525">
                  <a:moveTo>
                    <a:pt x="0" y="0"/>
                  </a:moveTo>
                  <a:lnTo>
                    <a:pt x="9163050" y="0"/>
                  </a:lnTo>
                </a:path>
              </a:pathLst>
            </a:custGeom>
            <a:noFill/>
            <a:ln w="9525">
              <a:solidFill>
                <a:srgbClr val="DCE6F8"/>
              </a:solidFill>
            </a:ln>
          </p:spPr>
        </p:sp>
        <p:sp>
          <p:nvSpPr>
            <p:cNvPr id="30" name="Line 30"/>
            <p:cNvSpPr/>
            <p:nvPr/>
          </p:nvSpPr>
          <p:spPr>
            <a:xfrm>
              <a:off x="266700" y="3219450"/>
              <a:ext cx="9163050" cy="9525"/>
            </a:xfrm>
            <a:custGeom>
              <a:avLst/>
              <a:gdLst/>
              <a:ahLst/>
              <a:cxnLst/>
              <a:rect l="l" t="t" r="r" b="b"/>
              <a:pathLst>
                <a:path w="9163050" h="9525">
                  <a:moveTo>
                    <a:pt x="0" y="0"/>
                  </a:moveTo>
                  <a:lnTo>
                    <a:pt x="9163050" y="0"/>
                  </a:lnTo>
                </a:path>
              </a:pathLst>
            </a:custGeom>
            <a:noFill/>
            <a:ln w="9525">
              <a:solidFill>
                <a:srgbClr val="DCE6F8"/>
              </a:solidFill>
            </a:ln>
          </p:spPr>
        </p:sp>
        <p:sp>
          <p:nvSpPr>
            <p:cNvPr id="31" name="Line 31"/>
            <p:cNvSpPr/>
            <p:nvPr/>
          </p:nvSpPr>
          <p:spPr>
            <a:xfrm>
              <a:off x="266700" y="3886200"/>
              <a:ext cx="9163050" cy="9525"/>
            </a:xfrm>
            <a:custGeom>
              <a:avLst/>
              <a:gdLst/>
              <a:ahLst/>
              <a:cxnLst/>
              <a:rect l="l" t="t" r="r" b="b"/>
              <a:pathLst>
                <a:path w="9163050" h="9525">
                  <a:moveTo>
                    <a:pt x="0" y="0"/>
                  </a:moveTo>
                  <a:lnTo>
                    <a:pt x="9163050" y="0"/>
                  </a:lnTo>
                </a:path>
              </a:pathLst>
            </a:custGeom>
            <a:noFill/>
            <a:ln w="9525">
              <a:solidFill>
                <a:srgbClr val="DCE6F8"/>
              </a:solidFill>
            </a:ln>
          </p:spPr>
        </p:sp>
        <p:sp>
          <p:nvSpPr>
            <p:cNvPr id="32" name="Line 32"/>
            <p:cNvSpPr/>
            <p:nvPr/>
          </p:nvSpPr>
          <p:spPr>
            <a:xfrm>
              <a:off x="266700" y="4552950"/>
              <a:ext cx="9163050" cy="9525"/>
            </a:xfrm>
            <a:custGeom>
              <a:avLst/>
              <a:gdLst/>
              <a:ahLst/>
              <a:cxnLst/>
              <a:rect l="l" t="t" r="r" b="b"/>
              <a:pathLst>
                <a:path w="9163050" h="9525">
                  <a:moveTo>
                    <a:pt x="0" y="0"/>
                  </a:moveTo>
                  <a:lnTo>
                    <a:pt x="9163050" y="0"/>
                  </a:lnTo>
                </a:path>
              </a:pathLst>
            </a:custGeom>
            <a:noFill/>
            <a:ln w="9525">
              <a:solidFill>
                <a:srgbClr val="DCE6F8"/>
              </a:solidFill>
            </a:ln>
          </p:spPr>
        </p:sp>
        <p:sp>
          <p:nvSpPr>
            <p:cNvPr id="33" name="Line 33"/>
            <p:cNvSpPr/>
            <p:nvPr/>
          </p:nvSpPr>
          <p:spPr>
            <a:xfrm>
              <a:off x="266700" y="5219700"/>
              <a:ext cx="9163050" cy="9525"/>
            </a:xfrm>
            <a:custGeom>
              <a:avLst/>
              <a:gdLst/>
              <a:ahLst/>
              <a:cxnLst/>
              <a:rect l="l" t="t" r="r" b="b"/>
              <a:pathLst>
                <a:path w="9163050" h="9525">
                  <a:moveTo>
                    <a:pt x="0" y="0"/>
                  </a:moveTo>
                  <a:lnTo>
                    <a:pt x="9163050" y="0"/>
                  </a:lnTo>
                </a:path>
              </a:pathLst>
            </a:custGeom>
            <a:noFill/>
            <a:ln w="9525">
              <a:solidFill>
                <a:srgbClr val="DCE6F8"/>
              </a:solidFill>
            </a:ln>
          </p:spPr>
        </p:sp>
        <p:sp>
          <p:nvSpPr>
            <p:cNvPr id="34" name="Line 34"/>
            <p:cNvSpPr/>
            <p:nvPr/>
          </p:nvSpPr>
          <p:spPr>
            <a:xfrm>
              <a:off x="266700" y="5886450"/>
              <a:ext cx="9163050" cy="9525"/>
            </a:xfrm>
            <a:custGeom>
              <a:avLst/>
              <a:gdLst/>
              <a:ahLst/>
              <a:cxnLst/>
              <a:rect l="l" t="t" r="r" b="b"/>
              <a:pathLst>
                <a:path w="9163050" h="9525">
                  <a:moveTo>
                    <a:pt x="0" y="0"/>
                  </a:moveTo>
                  <a:lnTo>
                    <a:pt x="9163050" y="0"/>
                  </a:lnTo>
                </a:path>
              </a:pathLst>
            </a:custGeom>
            <a:noFill/>
            <a:ln w="9525">
              <a:solidFill>
                <a:srgbClr val="DCE6F8"/>
              </a:solidFill>
            </a:ln>
          </p:spPr>
        </p:sp>
        <p:sp>
          <p:nvSpPr>
            <p:cNvPr id="35" name="Line 35"/>
            <p:cNvSpPr/>
            <p:nvPr/>
          </p:nvSpPr>
          <p:spPr>
            <a:xfrm>
              <a:off x="1857375" y="1219200"/>
              <a:ext cx="9525" cy="5353050"/>
            </a:xfrm>
            <a:custGeom>
              <a:avLst/>
              <a:gdLst/>
              <a:ahLst/>
              <a:cxnLst/>
              <a:rect l="l" t="t" r="r" b="b"/>
              <a:pathLst>
                <a:path w="9525" h="5353050">
                  <a:moveTo>
                    <a:pt x="0" y="0"/>
                  </a:moveTo>
                  <a:lnTo>
                    <a:pt x="0" y="5353050"/>
                  </a:lnTo>
                </a:path>
              </a:pathLst>
            </a:custGeom>
            <a:noFill/>
            <a:ln w="9525">
              <a:solidFill>
                <a:srgbClr val="DCE6F8"/>
              </a:solidFill>
            </a:ln>
          </p:spPr>
        </p:sp>
        <p:sp>
          <p:nvSpPr>
            <p:cNvPr id="36" name="Line 36"/>
            <p:cNvSpPr/>
            <p:nvPr/>
          </p:nvSpPr>
          <p:spPr>
            <a:xfrm>
              <a:off x="3905250" y="1219200"/>
              <a:ext cx="9525" cy="5353050"/>
            </a:xfrm>
            <a:custGeom>
              <a:avLst/>
              <a:gdLst/>
              <a:ahLst/>
              <a:cxnLst/>
              <a:rect l="l" t="t" r="r" b="b"/>
              <a:pathLst>
                <a:path w="9525" h="5353050">
                  <a:moveTo>
                    <a:pt x="0" y="0"/>
                  </a:moveTo>
                  <a:lnTo>
                    <a:pt x="0" y="5353050"/>
                  </a:lnTo>
                </a:path>
              </a:pathLst>
            </a:custGeom>
            <a:noFill/>
            <a:ln w="9525">
              <a:solidFill>
                <a:srgbClr val="DCE6F8"/>
              </a:solidFill>
            </a:ln>
          </p:spPr>
        </p:sp>
        <p:sp>
          <p:nvSpPr>
            <p:cNvPr id="37" name="Line 37"/>
            <p:cNvSpPr/>
            <p:nvPr/>
          </p:nvSpPr>
          <p:spPr>
            <a:xfrm>
              <a:off x="4638675" y="1219200"/>
              <a:ext cx="9525" cy="5353050"/>
            </a:xfrm>
            <a:custGeom>
              <a:avLst/>
              <a:gdLst/>
              <a:ahLst/>
              <a:cxnLst/>
              <a:rect l="l" t="t" r="r" b="b"/>
              <a:pathLst>
                <a:path w="9525" h="5353050">
                  <a:moveTo>
                    <a:pt x="0" y="0"/>
                  </a:moveTo>
                  <a:lnTo>
                    <a:pt x="0" y="5353050"/>
                  </a:lnTo>
                </a:path>
              </a:pathLst>
            </a:custGeom>
            <a:noFill/>
            <a:ln w="9525">
              <a:solidFill>
                <a:srgbClr val="DCE6F8"/>
              </a:solidFill>
            </a:ln>
          </p:spPr>
        </p:sp>
        <p:sp>
          <p:nvSpPr>
            <p:cNvPr id="38" name="Line 38"/>
            <p:cNvSpPr/>
            <p:nvPr/>
          </p:nvSpPr>
          <p:spPr>
            <a:xfrm>
              <a:off x="5457825" y="1219200"/>
              <a:ext cx="9525" cy="5353050"/>
            </a:xfrm>
            <a:custGeom>
              <a:avLst/>
              <a:gdLst/>
              <a:ahLst/>
              <a:cxnLst/>
              <a:rect l="l" t="t" r="r" b="b"/>
              <a:pathLst>
                <a:path w="9525" h="5353050">
                  <a:moveTo>
                    <a:pt x="0" y="0"/>
                  </a:moveTo>
                  <a:lnTo>
                    <a:pt x="0" y="5353050"/>
                  </a:lnTo>
                </a:path>
              </a:pathLst>
            </a:custGeom>
            <a:noFill/>
            <a:ln w="9525">
              <a:solidFill>
                <a:srgbClr val="DCE6F8"/>
              </a:solidFill>
              <a:custDash>
                <a:ds d="300000" sp="300000"/>
              </a:custDash>
            </a:ln>
          </p:spPr>
        </p:sp>
        <p:sp>
          <p:nvSpPr>
            <p:cNvPr id="39" name="Line 39"/>
            <p:cNvSpPr/>
            <p:nvPr/>
          </p:nvSpPr>
          <p:spPr>
            <a:xfrm>
              <a:off x="6276975" y="1219200"/>
              <a:ext cx="9525" cy="5353050"/>
            </a:xfrm>
            <a:custGeom>
              <a:avLst/>
              <a:gdLst/>
              <a:ahLst/>
              <a:cxnLst/>
              <a:rect l="l" t="t" r="r" b="b"/>
              <a:pathLst>
                <a:path w="9525" h="5353050">
                  <a:moveTo>
                    <a:pt x="0" y="0"/>
                  </a:moveTo>
                  <a:lnTo>
                    <a:pt x="0" y="5353050"/>
                  </a:lnTo>
                </a:path>
              </a:pathLst>
            </a:custGeom>
            <a:noFill/>
            <a:ln w="9525">
              <a:solidFill>
                <a:srgbClr val="DCE6F8"/>
              </a:solidFill>
              <a:custDash>
                <a:ds d="300000" sp="300000"/>
              </a:custDash>
            </a:ln>
          </p:spPr>
        </p:sp>
        <p:sp>
          <p:nvSpPr>
            <p:cNvPr id="40" name="Line 40"/>
            <p:cNvSpPr/>
            <p:nvPr/>
          </p:nvSpPr>
          <p:spPr>
            <a:xfrm>
              <a:off x="7096125" y="1219200"/>
              <a:ext cx="9525" cy="5353050"/>
            </a:xfrm>
            <a:custGeom>
              <a:avLst/>
              <a:gdLst/>
              <a:ahLst/>
              <a:cxnLst/>
              <a:rect l="l" t="t" r="r" b="b"/>
              <a:pathLst>
                <a:path w="9525" h="5353050">
                  <a:moveTo>
                    <a:pt x="0" y="0"/>
                  </a:moveTo>
                  <a:lnTo>
                    <a:pt x="0" y="5353050"/>
                  </a:lnTo>
                </a:path>
              </a:pathLst>
            </a:custGeom>
            <a:noFill/>
            <a:ln w="9525">
              <a:solidFill>
                <a:srgbClr val="DCE6F8"/>
              </a:solidFill>
              <a:custDash>
                <a:ds d="300000" sp="300000"/>
              </a:custDash>
            </a:ln>
          </p:spPr>
        </p:sp>
        <p:sp>
          <p:nvSpPr>
            <p:cNvPr id="41" name="Line 41"/>
            <p:cNvSpPr/>
            <p:nvPr/>
          </p:nvSpPr>
          <p:spPr>
            <a:xfrm>
              <a:off x="7915275" y="1219200"/>
              <a:ext cx="9525" cy="5353050"/>
            </a:xfrm>
            <a:custGeom>
              <a:avLst/>
              <a:gdLst/>
              <a:ahLst/>
              <a:cxnLst/>
              <a:rect l="l" t="t" r="r" b="b"/>
              <a:pathLst>
                <a:path w="9525" h="5353050">
                  <a:moveTo>
                    <a:pt x="0" y="0"/>
                  </a:moveTo>
                  <a:lnTo>
                    <a:pt x="0" y="5353050"/>
                  </a:lnTo>
                </a:path>
              </a:pathLst>
            </a:custGeom>
            <a:noFill/>
            <a:ln w="9525">
              <a:solidFill>
                <a:srgbClr val="DCE6F8"/>
              </a:solidFill>
            </a:ln>
          </p:spPr>
        </p:sp>
        <p:grpSp>
          <p:nvGrpSpPr>
            <p:cNvPr id="52" name="task-1"/>
            <p:cNvGrpSpPr/>
            <p:nvPr/>
          </p:nvGrpSpPr>
          <p:grpSpPr>
            <a:xfrm>
              <a:off x="381000" y="1351836"/>
              <a:ext cx="8757412" cy="407194"/>
              <a:chOff x="381000" y="1351836"/>
              <a:chExt cx="8757412" cy="407194"/>
            </a:xfrm>
          </p:grpSpPr>
          <p:sp>
            <p:nvSpPr>
              <p:cNvPr id="42" name="Rectangle 42"/>
              <p:cNvSpPr/>
              <p:nvPr/>
            </p:nvSpPr>
            <p:spPr>
              <a:xfrm>
                <a:off x="381000" y="1447800"/>
                <a:ext cx="209550" cy="209550"/>
              </a:xfrm>
              <a:prstGeom prst="roundRect">
                <a:avLst>
                  <a:gd name="adj" fmla="val 18182"/>
                </a:avLst>
              </a:prstGeom>
              <a:solidFill>
                <a:srgbClr val="B92102"/>
              </a:solidFill>
              <a:ln>
                <a:noFill/>
              </a:ln>
            </p:spPr>
          </p:sp>
          <p:sp>
            <p:nvSpPr>
              <p:cNvPr id="43" name="TextBox 43"/>
              <p:cNvSpPr txBox="1"/>
              <p:nvPr/>
            </p:nvSpPr>
            <p:spPr>
              <a:xfrm>
                <a:off x="411044" y="150304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a:t>
                </a:r>
              </a:p>
            </p:txBody>
          </p:sp>
          <p:sp>
            <p:nvSpPr>
              <p:cNvPr id="44" name="TextBox 44"/>
              <p:cNvSpPr txBox="1"/>
              <p:nvPr/>
            </p:nvSpPr>
            <p:spPr>
              <a:xfrm>
                <a:off x="680847" y="1494949"/>
                <a:ext cx="801472"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重点客户深耕</a:t>
                </a:r>
              </a:p>
            </p:txBody>
          </p:sp>
          <p:sp>
            <p:nvSpPr>
              <p:cNvPr id="45" name="TextBox 45"/>
              <p:cNvSpPr txBox="1"/>
              <p:nvPr/>
            </p:nvSpPr>
            <p:spPr>
              <a:xfrm>
                <a:off x="1957388" y="1410414"/>
                <a:ext cx="1363980" cy="316706"/>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制定客户经营方案并拜访​​​</a:t>
                </a:r>
              </a:p>
              <a:p>
                <a:pPr algn="l" marL="85280" indent="-85280">
                  <a:lnSpc>
                    <a:spcPts val="1275"/>
                  </a:lnSpc>
                  <a:buClr>
                    <a:srgbClr val="473633"/>
                  </a:buClr>
                  <a:buSzTx/>
                  <a:buFontTx/>
                  <a:buChar char="•"/>
                </a:pPr>
                <a:r>
                  <a:rPr lang="zh-CN" sz="790" dirty="0">
                    <a:solidFill>
                      <a:srgbClr val="473633"/>
                    </a:solidFill>
                    <a:latin typeface="+mn-lt"/>
                    <a:ea typeface="+mn-ea"/>
                    <a:cs typeface="+mn-cs"/>
                  </a:rPr>
                  <a:t>推进授信/产品落地​​​​</a:t>
                </a:r>
              </a:p>
            </p:txBody>
          </p:sp>
          <p:sp>
            <p:nvSpPr>
              <p:cNvPr id="46" name="TextBox 46"/>
              <p:cNvSpPr txBox="1"/>
              <p:nvPr/>
            </p:nvSpPr>
            <p:spPr>
              <a:xfrm>
                <a:off x="4156824" y="1503045"/>
                <a:ext cx="220751" cy="176212"/>
              </a:xfrm>
              <a:prstGeom prst="rect">
                <a:avLst/>
              </a:prstGeom>
              <a:noFill/>
              <a:ln>
                <a:noFill/>
              </a:ln>
            </p:spPr>
            <p:txBody>
              <a:bodyPr wrap="none" lIns="0" tIns="0" rIns="0" bIns="0" anchor="t" anchorCtr="0">
                <a:spAutoFit/>
              </a:bodyPr>
              <a:lstStyle/>
              <a:p>
                <a:pPr algn="ctr"/>
                <a:r>
                  <a:rPr lang="en-US" sz="900" dirty="0">
                    <a:solidFill>
                      <a:srgbClr val="473633"/>
                    </a:solidFill>
                    <a:latin typeface="+mn-lt"/>
                    <a:ea typeface="+mn-ea"/>
                    <a:cs typeface="+mn-cs"/>
                  </a:rPr>
                  <a:t>XX​</a:t>
                </a:r>
              </a:p>
            </p:txBody>
          </p:sp>
          <p:sp>
            <p:nvSpPr>
              <p:cNvPr id="47" name="Rectangle 47"/>
              <p:cNvSpPr/>
              <p:nvPr/>
            </p:nvSpPr>
            <p:spPr>
              <a:xfrm>
                <a:off x="4686300" y="1390650"/>
                <a:ext cx="762000" cy="85725"/>
              </a:xfrm>
              <a:prstGeom prst="roundRect">
                <a:avLst>
                  <a:gd name="adj" fmla="val 44444"/>
                </a:avLst>
              </a:prstGeom>
              <a:solidFill>
                <a:srgbClr val="B92102"/>
              </a:solidFill>
              <a:ln>
                <a:noFill/>
              </a:ln>
            </p:spPr>
          </p:sp>
          <p:sp>
            <p:nvSpPr>
              <p:cNvPr id="48" name="Rectangle 48"/>
              <p:cNvSpPr/>
              <p:nvPr/>
            </p:nvSpPr>
            <p:spPr>
              <a:xfrm>
                <a:off x="5505450" y="1476375"/>
                <a:ext cx="762000" cy="85725"/>
              </a:xfrm>
              <a:prstGeom prst="roundRect">
                <a:avLst>
                  <a:gd name="adj" fmla="val 44444"/>
                </a:avLst>
              </a:prstGeom>
              <a:solidFill>
                <a:srgbClr val="D44B2F"/>
              </a:solidFill>
              <a:ln>
                <a:noFill/>
              </a:ln>
            </p:spPr>
          </p:sp>
          <p:sp>
            <p:nvSpPr>
              <p:cNvPr id="49" name="Rectangle 49"/>
              <p:cNvSpPr/>
              <p:nvPr/>
            </p:nvSpPr>
            <p:spPr>
              <a:xfrm>
                <a:off x="6324600" y="1562100"/>
                <a:ext cx="762000" cy="85725"/>
              </a:xfrm>
              <a:prstGeom prst="roundRect">
                <a:avLst>
                  <a:gd name="adj" fmla="val 44444"/>
                </a:avLst>
              </a:prstGeom>
              <a:solidFill>
                <a:srgbClr val="D9705B"/>
              </a:solidFill>
              <a:ln>
                <a:noFill/>
              </a:ln>
            </p:spPr>
          </p:sp>
          <p:sp>
            <p:nvSpPr>
              <p:cNvPr id="50" name="Rectangle 50"/>
              <p:cNvSpPr/>
              <p:nvPr/>
            </p:nvSpPr>
            <p:spPr>
              <a:xfrm>
                <a:off x="7143750" y="1647825"/>
                <a:ext cx="742950" cy="85725"/>
              </a:xfrm>
              <a:prstGeom prst="roundRect">
                <a:avLst>
                  <a:gd name="adj" fmla="val 44444"/>
                </a:avLst>
              </a:prstGeom>
              <a:gradFill>
                <a:gsLst>
                  <a:gs pos="0">
                    <a:srgbClr val="F3AC9D"/>
                  </a:gs>
                  <a:gs pos="100000">
                    <a:srgbClr val="F3AC9D">
                      <a:alpha val="10000"/>
                    </a:srgbClr>
                  </a:gs>
                </a:gsLst>
                <a:lin ang="0" scaled="1"/>
              </a:gradFill>
              <a:ln>
                <a:noFill/>
              </a:ln>
            </p:spPr>
          </p:sp>
          <p:sp>
            <p:nvSpPr>
              <p:cNvPr id="51" name="TextBox 51"/>
              <p:cNvSpPr txBox="1"/>
              <p:nvPr/>
            </p:nvSpPr>
            <p:spPr>
              <a:xfrm>
                <a:off x="8015288" y="1351836"/>
                <a:ext cx="1123124" cy="40719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拜访覆盖率≥XX%​​​​​​​</a:t>
                </a:r>
              </a:p>
              <a:p>
                <a:pPr algn="l" marL="76644" indent="-76644">
                  <a:lnSpc>
                    <a:spcPts val="1050"/>
                  </a:lnSpc>
                  <a:buClr>
                    <a:srgbClr val="473633"/>
                  </a:buClr>
                  <a:buSzTx/>
                  <a:buFontTx/>
                  <a:buChar char="•"/>
                </a:pPr>
                <a:r>
                  <a:rPr lang="zh-CN" sz="710" dirty="0">
                    <a:solidFill>
                      <a:srgbClr val="473633"/>
                    </a:solidFill>
                    <a:latin typeface="+mn-lt"/>
                    <a:ea typeface="+mn-ea"/>
                    <a:cs typeface="+mn-cs"/>
                  </a:rPr>
                  <a:t>授信落地XX户​​​​​</a:t>
                </a:r>
              </a:p>
              <a:p>
                <a:pPr algn="l" marL="76644" indent="-76644">
                  <a:lnSpc>
                    <a:spcPts val="1050"/>
                  </a:lnSpc>
                  <a:buClr>
                    <a:srgbClr val="473633"/>
                  </a:buClr>
                  <a:buSzTx/>
                  <a:buFontTx/>
                  <a:buChar char="•"/>
                </a:pPr>
                <a:r>
                  <a:rPr lang="zh-CN" sz="710" dirty="0">
                    <a:solidFill>
                      <a:srgbClr val="473633"/>
                    </a:solidFill>
                    <a:latin typeface="+mn-lt"/>
                    <a:ea typeface="+mn-ea"/>
                    <a:cs typeface="+mn-cs"/>
                  </a:rPr>
                  <a:t>新增贡献≥XX万元​​​​​​​</a:t>
                </a:r>
              </a:p>
            </p:txBody>
          </p:sp>
        </p:grpSp>
        <p:grpSp>
          <p:nvGrpSpPr>
            <p:cNvPr id="63" name="task-2"/>
            <p:cNvGrpSpPr/>
            <p:nvPr/>
          </p:nvGrpSpPr>
          <p:grpSpPr>
            <a:xfrm>
              <a:off x="381000" y="2018586"/>
              <a:ext cx="8667242" cy="407194"/>
              <a:chOff x="381000" y="2018586"/>
              <a:chExt cx="8667242" cy="407194"/>
            </a:xfrm>
          </p:grpSpPr>
          <p:sp>
            <p:nvSpPr>
              <p:cNvPr id="53" name="Rectangle 53"/>
              <p:cNvSpPr/>
              <p:nvPr/>
            </p:nvSpPr>
            <p:spPr>
              <a:xfrm>
                <a:off x="381000" y="2114550"/>
                <a:ext cx="209550" cy="209550"/>
              </a:xfrm>
              <a:prstGeom prst="roundRect">
                <a:avLst>
                  <a:gd name="adj" fmla="val 18182"/>
                </a:avLst>
              </a:prstGeom>
              <a:solidFill>
                <a:srgbClr val="B92102"/>
              </a:solidFill>
              <a:ln>
                <a:noFill/>
              </a:ln>
            </p:spPr>
          </p:sp>
          <p:sp>
            <p:nvSpPr>
              <p:cNvPr id="54" name="TextBox 54"/>
              <p:cNvSpPr txBox="1"/>
              <p:nvPr/>
            </p:nvSpPr>
            <p:spPr>
              <a:xfrm>
                <a:off x="411044" y="216979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a:t>
                </a:r>
              </a:p>
            </p:txBody>
          </p:sp>
          <p:sp>
            <p:nvSpPr>
              <p:cNvPr id="55" name="TextBox 55"/>
              <p:cNvSpPr txBox="1"/>
              <p:nvPr/>
            </p:nvSpPr>
            <p:spPr>
              <a:xfrm>
                <a:off x="680847" y="2161699"/>
                <a:ext cx="537616"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园区拓客</a:t>
                </a:r>
              </a:p>
            </p:txBody>
          </p:sp>
          <p:sp>
            <p:nvSpPr>
              <p:cNvPr id="56" name="TextBox 56"/>
              <p:cNvSpPr txBox="1"/>
              <p:nvPr/>
            </p:nvSpPr>
            <p:spPr>
              <a:xfrm>
                <a:off x="1957388" y="2077164"/>
                <a:ext cx="1464310" cy="316706"/>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锁定园区清单并对接管委会​​​</a:t>
                </a:r>
              </a:p>
              <a:p>
                <a:pPr algn="l" marL="85280" indent="-85280">
                  <a:lnSpc>
                    <a:spcPts val="1275"/>
                  </a:lnSpc>
                  <a:buClr>
                    <a:srgbClr val="473633"/>
                  </a:buClr>
                  <a:buSzTx/>
                  <a:buFontTx/>
                  <a:buChar char="•"/>
                </a:pPr>
                <a:r>
                  <a:rPr lang="zh-CN" sz="790" dirty="0">
                    <a:solidFill>
                      <a:srgbClr val="473633"/>
                    </a:solidFill>
                    <a:latin typeface="+mn-lt"/>
                    <a:ea typeface="+mn-ea"/>
                    <a:cs typeface="+mn-cs"/>
                  </a:rPr>
                  <a:t>批量拓客与建档​​</a:t>
                </a:r>
              </a:p>
            </p:txBody>
          </p:sp>
          <p:sp>
            <p:nvSpPr>
              <p:cNvPr id="57" name="TextBox 57"/>
              <p:cNvSpPr txBox="1"/>
              <p:nvPr/>
            </p:nvSpPr>
            <p:spPr>
              <a:xfrm>
                <a:off x="4156824" y="2169795"/>
                <a:ext cx="220751" cy="176212"/>
              </a:xfrm>
              <a:prstGeom prst="rect">
                <a:avLst/>
              </a:prstGeom>
              <a:noFill/>
              <a:ln>
                <a:noFill/>
              </a:ln>
            </p:spPr>
            <p:txBody>
              <a:bodyPr wrap="none" lIns="0" tIns="0" rIns="0" bIns="0" anchor="t" anchorCtr="0">
                <a:spAutoFit/>
              </a:bodyPr>
              <a:lstStyle/>
              <a:p>
                <a:pPr algn="ctr"/>
                <a:r>
                  <a:rPr lang="en-US" sz="900" dirty="0">
                    <a:solidFill>
                      <a:srgbClr val="473633"/>
                    </a:solidFill>
                    <a:latin typeface="+mn-lt"/>
                    <a:ea typeface="+mn-ea"/>
                    <a:cs typeface="+mn-cs"/>
                  </a:rPr>
                  <a:t>XX​</a:t>
                </a:r>
              </a:p>
            </p:txBody>
          </p:sp>
          <p:sp>
            <p:nvSpPr>
              <p:cNvPr id="58" name="Rectangle 58"/>
              <p:cNvSpPr/>
              <p:nvPr/>
            </p:nvSpPr>
            <p:spPr>
              <a:xfrm>
                <a:off x="4686300" y="2057400"/>
                <a:ext cx="762000" cy="85725"/>
              </a:xfrm>
              <a:prstGeom prst="roundRect">
                <a:avLst>
                  <a:gd name="adj" fmla="val 44444"/>
                </a:avLst>
              </a:prstGeom>
              <a:solidFill>
                <a:srgbClr val="B92102"/>
              </a:solidFill>
              <a:ln>
                <a:noFill/>
              </a:ln>
            </p:spPr>
          </p:sp>
          <p:sp>
            <p:nvSpPr>
              <p:cNvPr id="59" name="Rectangle 59"/>
              <p:cNvSpPr/>
              <p:nvPr/>
            </p:nvSpPr>
            <p:spPr>
              <a:xfrm>
                <a:off x="5505450" y="2143125"/>
                <a:ext cx="762000" cy="85725"/>
              </a:xfrm>
              <a:prstGeom prst="roundRect">
                <a:avLst>
                  <a:gd name="adj" fmla="val 44444"/>
                </a:avLst>
              </a:prstGeom>
              <a:solidFill>
                <a:srgbClr val="D44B2F"/>
              </a:solidFill>
              <a:ln>
                <a:noFill/>
              </a:ln>
            </p:spPr>
          </p:sp>
          <p:sp>
            <p:nvSpPr>
              <p:cNvPr id="60" name="Rectangle 60"/>
              <p:cNvSpPr/>
              <p:nvPr/>
            </p:nvSpPr>
            <p:spPr>
              <a:xfrm>
                <a:off x="6324600" y="2228850"/>
                <a:ext cx="762000" cy="85725"/>
              </a:xfrm>
              <a:prstGeom prst="roundRect">
                <a:avLst>
                  <a:gd name="adj" fmla="val 44444"/>
                </a:avLst>
              </a:prstGeom>
              <a:solidFill>
                <a:srgbClr val="D9705B"/>
              </a:solidFill>
              <a:ln>
                <a:noFill/>
              </a:ln>
            </p:spPr>
          </p:sp>
          <p:sp>
            <p:nvSpPr>
              <p:cNvPr id="61" name="Rectangle 61"/>
              <p:cNvSpPr/>
              <p:nvPr/>
            </p:nvSpPr>
            <p:spPr>
              <a:xfrm>
                <a:off x="7143750" y="2314575"/>
                <a:ext cx="742950" cy="85725"/>
              </a:xfrm>
              <a:prstGeom prst="roundRect">
                <a:avLst>
                  <a:gd name="adj" fmla="val 44444"/>
                </a:avLst>
              </a:prstGeom>
              <a:gradFill>
                <a:gsLst>
                  <a:gs pos="0">
                    <a:srgbClr val="F3AC9D"/>
                  </a:gs>
                  <a:gs pos="100000">
                    <a:srgbClr val="F3AC9D">
                      <a:alpha val="10000"/>
                    </a:srgbClr>
                  </a:gs>
                </a:gsLst>
                <a:lin ang="0" scaled="1"/>
              </a:gradFill>
              <a:ln>
                <a:noFill/>
              </a:ln>
            </p:spPr>
          </p:sp>
          <p:sp>
            <p:nvSpPr>
              <p:cNvPr id="62" name="TextBox 62"/>
              <p:cNvSpPr txBox="1"/>
              <p:nvPr/>
            </p:nvSpPr>
            <p:spPr>
              <a:xfrm>
                <a:off x="8015288" y="2018586"/>
                <a:ext cx="1032954" cy="40719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园区覆盖≥XX个​​​​​​​</a:t>
                </a:r>
              </a:p>
              <a:p>
                <a:pPr algn="l" marL="76644" indent="-76644">
                  <a:lnSpc>
                    <a:spcPts val="1050"/>
                  </a:lnSpc>
                  <a:buClr>
                    <a:srgbClr val="473633"/>
                  </a:buClr>
                  <a:buSzTx/>
                  <a:buFontTx/>
                  <a:buChar char="•"/>
                </a:pPr>
                <a:r>
                  <a:rPr lang="zh-CN" sz="710" dirty="0">
                    <a:solidFill>
                      <a:srgbClr val="473633"/>
                    </a:solidFill>
                    <a:latin typeface="+mn-lt"/>
                    <a:ea typeface="+mn-ea"/>
                    <a:cs typeface="+mn-cs"/>
                  </a:rPr>
                  <a:t>新增建档≥XX户​​​​​​​</a:t>
                </a:r>
              </a:p>
              <a:p>
                <a:pPr algn="l" marL="76644" indent="-76644">
                  <a:lnSpc>
                    <a:spcPts val="1050"/>
                  </a:lnSpc>
                  <a:buClr>
                    <a:srgbClr val="473633"/>
                  </a:buClr>
                  <a:buSzTx/>
                  <a:buFontTx/>
                  <a:buChar char="•"/>
                </a:pPr>
                <a:r>
                  <a:rPr lang="zh-CN" sz="710" dirty="0">
                    <a:solidFill>
                      <a:srgbClr val="473633"/>
                    </a:solidFill>
                    <a:latin typeface="+mn-lt"/>
                    <a:ea typeface="+mn-ea"/>
                    <a:cs typeface="+mn-cs"/>
                  </a:rPr>
                  <a:t>有效商机≥XX个​​​​​​​</a:t>
                </a:r>
              </a:p>
            </p:txBody>
          </p:sp>
        </p:grpSp>
        <p:grpSp>
          <p:nvGrpSpPr>
            <p:cNvPr id="74" name="task-3"/>
            <p:cNvGrpSpPr/>
            <p:nvPr/>
          </p:nvGrpSpPr>
          <p:grpSpPr>
            <a:xfrm>
              <a:off x="381000" y="2685336"/>
              <a:ext cx="8757412" cy="407194"/>
              <a:chOff x="381000" y="2685336"/>
              <a:chExt cx="8757412" cy="407194"/>
            </a:xfrm>
          </p:grpSpPr>
          <p:sp>
            <p:nvSpPr>
              <p:cNvPr id="64" name="Rectangle 64"/>
              <p:cNvSpPr/>
              <p:nvPr/>
            </p:nvSpPr>
            <p:spPr>
              <a:xfrm>
                <a:off x="381000" y="2781300"/>
                <a:ext cx="209550" cy="209550"/>
              </a:xfrm>
              <a:prstGeom prst="roundRect">
                <a:avLst>
                  <a:gd name="adj" fmla="val 18182"/>
                </a:avLst>
              </a:prstGeom>
              <a:solidFill>
                <a:srgbClr val="B92102"/>
              </a:solidFill>
              <a:ln>
                <a:noFill/>
              </a:ln>
            </p:spPr>
          </p:sp>
          <p:sp>
            <p:nvSpPr>
              <p:cNvPr id="65" name="TextBox 65"/>
              <p:cNvSpPr txBox="1"/>
              <p:nvPr/>
            </p:nvSpPr>
            <p:spPr>
              <a:xfrm>
                <a:off x="411044" y="283654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a:t>
                </a:r>
              </a:p>
            </p:txBody>
          </p:sp>
          <p:sp>
            <p:nvSpPr>
              <p:cNvPr id="66" name="TextBox 66"/>
              <p:cNvSpPr txBox="1"/>
              <p:nvPr/>
            </p:nvSpPr>
            <p:spPr>
              <a:xfrm>
                <a:off x="680847" y="2828449"/>
                <a:ext cx="999058"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Top商机攻坚​​​</a:t>
                </a:r>
              </a:p>
            </p:txBody>
          </p:sp>
          <p:sp>
            <p:nvSpPr>
              <p:cNvPr id="67" name="TextBox 67"/>
              <p:cNvSpPr txBox="1"/>
              <p:nvPr/>
            </p:nvSpPr>
            <p:spPr>
              <a:xfrm>
                <a:off x="1957388" y="2743914"/>
                <a:ext cx="1464310" cy="316706"/>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梳理Top商机清单与策略​​​​​</a:t>
                </a:r>
              </a:p>
              <a:p>
                <a:pPr algn="l" marL="85280" indent="-85280">
                  <a:lnSpc>
                    <a:spcPts val="1275"/>
                  </a:lnSpc>
                  <a:buClr>
                    <a:srgbClr val="473633"/>
                  </a:buClr>
                  <a:buSzTx/>
                  <a:buFontTx/>
                  <a:buChar char="•"/>
                </a:pPr>
                <a:r>
                  <a:rPr lang="zh-CN" sz="790" dirty="0">
                    <a:solidFill>
                      <a:srgbClr val="473633"/>
                    </a:solidFill>
                    <a:latin typeface="+mn-lt"/>
                    <a:ea typeface="+mn-ea"/>
                    <a:cs typeface="+mn-cs"/>
                  </a:rPr>
                  <a:t>推进决策链沟通与方案落地​​​</a:t>
                </a:r>
              </a:p>
            </p:txBody>
          </p:sp>
          <p:sp>
            <p:nvSpPr>
              <p:cNvPr id="68" name="TextBox 68"/>
              <p:cNvSpPr txBox="1"/>
              <p:nvPr/>
            </p:nvSpPr>
            <p:spPr>
              <a:xfrm>
                <a:off x="4156824" y="2836545"/>
                <a:ext cx="220751" cy="176212"/>
              </a:xfrm>
              <a:prstGeom prst="rect">
                <a:avLst/>
              </a:prstGeom>
              <a:noFill/>
              <a:ln>
                <a:noFill/>
              </a:ln>
            </p:spPr>
            <p:txBody>
              <a:bodyPr wrap="none" lIns="0" tIns="0" rIns="0" bIns="0" anchor="t" anchorCtr="0">
                <a:spAutoFit/>
              </a:bodyPr>
              <a:lstStyle/>
              <a:p>
                <a:pPr algn="ctr"/>
                <a:r>
                  <a:rPr lang="en-US" sz="900" dirty="0">
                    <a:solidFill>
                      <a:srgbClr val="473633"/>
                    </a:solidFill>
                    <a:latin typeface="+mn-lt"/>
                    <a:ea typeface="+mn-ea"/>
                    <a:cs typeface="+mn-cs"/>
                  </a:rPr>
                  <a:t>XX​</a:t>
                </a:r>
              </a:p>
            </p:txBody>
          </p:sp>
          <p:sp>
            <p:nvSpPr>
              <p:cNvPr id="69" name="Rectangle 69"/>
              <p:cNvSpPr/>
              <p:nvPr/>
            </p:nvSpPr>
            <p:spPr>
              <a:xfrm>
                <a:off x="4686300" y="2724150"/>
                <a:ext cx="762000" cy="85725"/>
              </a:xfrm>
              <a:prstGeom prst="roundRect">
                <a:avLst>
                  <a:gd name="adj" fmla="val 44444"/>
                </a:avLst>
              </a:prstGeom>
              <a:solidFill>
                <a:srgbClr val="B92102"/>
              </a:solidFill>
              <a:ln>
                <a:noFill/>
              </a:ln>
            </p:spPr>
          </p:sp>
          <p:sp>
            <p:nvSpPr>
              <p:cNvPr id="70" name="Rectangle 70"/>
              <p:cNvSpPr/>
              <p:nvPr/>
            </p:nvSpPr>
            <p:spPr>
              <a:xfrm>
                <a:off x="5505450" y="2809875"/>
                <a:ext cx="762000" cy="85725"/>
              </a:xfrm>
              <a:prstGeom prst="roundRect">
                <a:avLst>
                  <a:gd name="adj" fmla="val 44444"/>
                </a:avLst>
              </a:prstGeom>
              <a:solidFill>
                <a:srgbClr val="D44B2F"/>
              </a:solidFill>
              <a:ln>
                <a:noFill/>
              </a:ln>
            </p:spPr>
          </p:sp>
          <p:sp>
            <p:nvSpPr>
              <p:cNvPr id="71" name="Rectangle 71"/>
              <p:cNvSpPr/>
              <p:nvPr/>
            </p:nvSpPr>
            <p:spPr>
              <a:xfrm>
                <a:off x="6324600" y="2895600"/>
                <a:ext cx="762000" cy="85725"/>
              </a:xfrm>
              <a:prstGeom prst="roundRect">
                <a:avLst>
                  <a:gd name="adj" fmla="val 44444"/>
                </a:avLst>
              </a:prstGeom>
              <a:solidFill>
                <a:srgbClr val="D9705B"/>
              </a:solidFill>
              <a:ln>
                <a:noFill/>
              </a:ln>
            </p:spPr>
          </p:sp>
          <p:sp>
            <p:nvSpPr>
              <p:cNvPr id="72" name="Rectangle 72"/>
              <p:cNvSpPr/>
              <p:nvPr/>
            </p:nvSpPr>
            <p:spPr>
              <a:xfrm>
                <a:off x="7143750" y="2981325"/>
                <a:ext cx="742950" cy="85725"/>
              </a:xfrm>
              <a:prstGeom prst="roundRect">
                <a:avLst>
                  <a:gd name="adj" fmla="val 44444"/>
                </a:avLst>
              </a:prstGeom>
              <a:gradFill>
                <a:gsLst>
                  <a:gs pos="0">
                    <a:srgbClr val="F3AC9D"/>
                  </a:gs>
                  <a:gs pos="100000">
                    <a:srgbClr val="F3AC9D">
                      <a:alpha val="10000"/>
                    </a:srgbClr>
                  </a:gs>
                </a:gsLst>
                <a:lin ang="0" scaled="1"/>
              </a:gradFill>
              <a:ln>
                <a:noFill/>
              </a:ln>
            </p:spPr>
          </p:sp>
          <p:sp>
            <p:nvSpPr>
              <p:cNvPr id="73" name="TextBox 73"/>
              <p:cNvSpPr txBox="1"/>
              <p:nvPr/>
            </p:nvSpPr>
            <p:spPr>
              <a:xfrm>
                <a:off x="8015288" y="2685336"/>
                <a:ext cx="1123124" cy="40719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商机推进率XX%​​​​​​​</a:t>
                </a:r>
              </a:p>
              <a:p>
                <a:pPr algn="l" marL="76644" indent="-76644">
                  <a:lnSpc>
                    <a:spcPts val="1050"/>
                  </a:lnSpc>
                  <a:buClr>
                    <a:srgbClr val="473633"/>
                  </a:buClr>
                  <a:buSzTx/>
                  <a:buFontTx/>
                  <a:buChar char="•"/>
                </a:pPr>
                <a:r>
                  <a:rPr lang="zh-CN" sz="710" dirty="0">
                    <a:solidFill>
                      <a:srgbClr val="473633"/>
                    </a:solidFill>
                    <a:latin typeface="+mn-lt"/>
                    <a:ea typeface="+mn-ea"/>
                    <a:cs typeface="+mn-cs"/>
                  </a:rPr>
                  <a:t>转化落地≥XX户​​​​​​​</a:t>
                </a:r>
              </a:p>
              <a:p>
                <a:pPr algn="l" marL="76644" indent="-76644">
                  <a:lnSpc>
                    <a:spcPts val="1050"/>
                  </a:lnSpc>
                  <a:buClr>
                    <a:srgbClr val="473633"/>
                  </a:buClr>
                  <a:buSzTx/>
                  <a:buFontTx/>
                  <a:buChar char="•"/>
                </a:pPr>
                <a:r>
                  <a:rPr lang="zh-CN" sz="710" dirty="0">
                    <a:solidFill>
                      <a:srgbClr val="473633"/>
                    </a:solidFill>
                    <a:latin typeface="+mn-lt"/>
                    <a:ea typeface="+mn-ea"/>
                    <a:cs typeface="+mn-cs"/>
                  </a:rPr>
                  <a:t>授信金额≥XX万元​​​​​​​</a:t>
                </a:r>
              </a:p>
            </p:txBody>
          </p:sp>
        </p:grpSp>
        <p:grpSp>
          <p:nvGrpSpPr>
            <p:cNvPr id="85" name="task-4"/>
            <p:cNvGrpSpPr/>
            <p:nvPr/>
          </p:nvGrpSpPr>
          <p:grpSpPr>
            <a:xfrm>
              <a:off x="381000" y="3352086"/>
              <a:ext cx="8757412" cy="407194"/>
              <a:chOff x="381000" y="3352086"/>
              <a:chExt cx="8757412" cy="407194"/>
            </a:xfrm>
          </p:grpSpPr>
          <p:sp>
            <p:nvSpPr>
              <p:cNvPr id="75" name="Rectangle 75"/>
              <p:cNvSpPr/>
              <p:nvPr/>
            </p:nvSpPr>
            <p:spPr>
              <a:xfrm>
                <a:off x="381000" y="3448050"/>
                <a:ext cx="209550" cy="209550"/>
              </a:xfrm>
              <a:prstGeom prst="roundRect">
                <a:avLst>
                  <a:gd name="adj" fmla="val 18182"/>
                </a:avLst>
              </a:prstGeom>
              <a:solidFill>
                <a:srgbClr val="B92102"/>
              </a:solidFill>
              <a:ln>
                <a:noFill/>
              </a:ln>
            </p:spPr>
          </p:sp>
          <p:sp>
            <p:nvSpPr>
              <p:cNvPr id="76" name="TextBox 76"/>
              <p:cNvSpPr txBox="1"/>
              <p:nvPr/>
            </p:nvSpPr>
            <p:spPr>
              <a:xfrm>
                <a:off x="411044" y="350329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4​</a:t>
                </a:r>
              </a:p>
            </p:txBody>
          </p:sp>
          <p:sp>
            <p:nvSpPr>
              <p:cNvPr id="77" name="TextBox 77"/>
              <p:cNvSpPr txBox="1"/>
              <p:nvPr/>
            </p:nvSpPr>
            <p:spPr>
              <a:xfrm>
                <a:off x="680847" y="3495199"/>
                <a:ext cx="801472"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产品组合提升</a:t>
                </a:r>
              </a:p>
            </p:txBody>
          </p:sp>
          <p:sp>
            <p:nvSpPr>
              <p:cNvPr id="78" name="TextBox 78"/>
              <p:cNvSpPr txBox="1"/>
              <p:nvPr/>
            </p:nvSpPr>
            <p:spPr>
              <a:xfrm>
                <a:off x="1957388" y="3410664"/>
                <a:ext cx="1108138" cy="316706"/>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客户分层与需求匹配​​</a:t>
                </a:r>
              </a:p>
              <a:p>
                <a:pPr algn="l" marL="85280" indent="-85280">
                  <a:lnSpc>
                    <a:spcPts val="1275"/>
                  </a:lnSpc>
                  <a:buClr>
                    <a:srgbClr val="473633"/>
                  </a:buClr>
                  <a:buSzTx/>
                  <a:buFontTx/>
                  <a:buChar char="•"/>
                </a:pPr>
                <a:r>
                  <a:rPr lang="zh-CN" sz="790" dirty="0">
                    <a:solidFill>
                      <a:srgbClr val="473633"/>
                    </a:solidFill>
                    <a:latin typeface="+mn-lt"/>
                    <a:ea typeface="+mn-ea"/>
                    <a:cs typeface="+mn-cs"/>
                  </a:rPr>
                  <a:t>交叉销售与套餐推荐​​</a:t>
                </a:r>
              </a:p>
            </p:txBody>
          </p:sp>
          <p:sp>
            <p:nvSpPr>
              <p:cNvPr id="79" name="TextBox 79"/>
              <p:cNvSpPr txBox="1"/>
              <p:nvPr/>
            </p:nvSpPr>
            <p:spPr>
              <a:xfrm>
                <a:off x="4156824" y="3503295"/>
                <a:ext cx="220751" cy="176212"/>
              </a:xfrm>
              <a:prstGeom prst="rect">
                <a:avLst/>
              </a:prstGeom>
              <a:noFill/>
              <a:ln>
                <a:noFill/>
              </a:ln>
            </p:spPr>
            <p:txBody>
              <a:bodyPr wrap="none" lIns="0" tIns="0" rIns="0" bIns="0" anchor="t" anchorCtr="0">
                <a:spAutoFit/>
              </a:bodyPr>
              <a:lstStyle/>
              <a:p>
                <a:pPr algn="ctr"/>
                <a:r>
                  <a:rPr lang="en-US" sz="900" dirty="0">
                    <a:solidFill>
                      <a:srgbClr val="473633"/>
                    </a:solidFill>
                    <a:latin typeface="+mn-lt"/>
                    <a:ea typeface="+mn-ea"/>
                    <a:cs typeface="+mn-cs"/>
                  </a:rPr>
                  <a:t>XX​</a:t>
                </a:r>
              </a:p>
            </p:txBody>
          </p:sp>
          <p:sp>
            <p:nvSpPr>
              <p:cNvPr id="80" name="Rectangle 80"/>
              <p:cNvSpPr/>
              <p:nvPr/>
            </p:nvSpPr>
            <p:spPr>
              <a:xfrm>
                <a:off x="4686300" y="3390900"/>
                <a:ext cx="762000" cy="85725"/>
              </a:xfrm>
              <a:prstGeom prst="roundRect">
                <a:avLst>
                  <a:gd name="adj" fmla="val 44444"/>
                </a:avLst>
              </a:prstGeom>
              <a:solidFill>
                <a:srgbClr val="B92102"/>
              </a:solidFill>
              <a:ln>
                <a:noFill/>
              </a:ln>
            </p:spPr>
          </p:sp>
          <p:sp>
            <p:nvSpPr>
              <p:cNvPr id="81" name="Rectangle 81"/>
              <p:cNvSpPr/>
              <p:nvPr/>
            </p:nvSpPr>
            <p:spPr>
              <a:xfrm>
                <a:off x="5505450" y="3476625"/>
                <a:ext cx="762000" cy="85725"/>
              </a:xfrm>
              <a:prstGeom prst="roundRect">
                <a:avLst>
                  <a:gd name="adj" fmla="val 44444"/>
                </a:avLst>
              </a:prstGeom>
              <a:solidFill>
                <a:srgbClr val="D44B2F"/>
              </a:solidFill>
              <a:ln>
                <a:noFill/>
              </a:ln>
            </p:spPr>
          </p:sp>
          <p:sp>
            <p:nvSpPr>
              <p:cNvPr id="82" name="Rectangle 82"/>
              <p:cNvSpPr/>
              <p:nvPr/>
            </p:nvSpPr>
            <p:spPr>
              <a:xfrm>
                <a:off x="6324600" y="3562350"/>
                <a:ext cx="762000" cy="85725"/>
              </a:xfrm>
              <a:prstGeom prst="roundRect">
                <a:avLst>
                  <a:gd name="adj" fmla="val 44444"/>
                </a:avLst>
              </a:prstGeom>
              <a:solidFill>
                <a:srgbClr val="D9705B"/>
              </a:solidFill>
              <a:ln>
                <a:noFill/>
              </a:ln>
            </p:spPr>
          </p:sp>
          <p:sp>
            <p:nvSpPr>
              <p:cNvPr id="83" name="Rectangle 83"/>
              <p:cNvSpPr/>
              <p:nvPr/>
            </p:nvSpPr>
            <p:spPr>
              <a:xfrm>
                <a:off x="7143750" y="3648075"/>
                <a:ext cx="742950" cy="85725"/>
              </a:xfrm>
              <a:prstGeom prst="roundRect">
                <a:avLst>
                  <a:gd name="adj" fmla="val 44444"/>
                </a:avLst>
              </a:prstGeom>
              <a:gradFill>
                <a:gsLst>
                  <a:gs pos="0">
                    <a:srgbClr val="F3AC9D"/>
                  </a:gs>
                  <a:gs pos="100000">
                    <a:srgbClr val="F3AC9D">
                      <a:alpha val="10000"/>
                    </a:srgbClr>
                  </a:gs>
                </a:gsLst>
                <a:lin ang="0" scaled="1"/>
              </a:gradFill>
              <a:ln>
                <a:noFill/>
              </a:ln>
            </p:spPr>
          </p:sp>
          <p:sp>
            <p:nvSpPr>
              <p:cNvPr id="84" name="TextBox 84"/>
              <p:cNvSpPr txBox="1"/>
              <p:nvPr/>
            </p:nvSpPr>
            <p:spPr>
              <a:xfrm>
                <a:off x="8015288" y="3352086"/>
                <a:ext cx="1123124" cy="40719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组合渗透率≥XX%​​​​​​​</a:t>
                </a:r>
              </a:p>
              <a:p>
                <a:pPr algn="l" marL="76644" indent="-76644">
                  <a:lnSpc>
                    <a:spcPts val="1050"/>
                  </a:lnSpc>
                  <a:buClr>
                    <a:srgbClr val="473633"/>
                  </a:buClr>
                  <a:buSzTx/>
                  <a:buFontTx/>
                  <a:buChar char="•"/>
                </a:pPr>
                <a:r>
                  <a:rPr lang="zh-CN" sz="710" dirty="0">
                    <a:solidFill>
                      <a:srgbClr val="473633"/>
                    </a:solidFill>
                    <a:latin typeface="+mn-lt"/>
                    <a:ea typeface="+mn-ea"/>
                    <a:cs typeface="+mn-cs"/>
                  </a:rPr>
                  <a:t>人均产品≥XX个​​​​​​​</a:t>
                </a:r>
              </a:p>
              <a:p>
                <a:pPr algn="l" marL="76644" indent="-76644">
                  <a:lnSpc>
                    <a:spcPts val="1050"/>
                  </a:lnSpc>
                  <a:buClr>
                    <a:srgbClr val="473633"/>
                  </a:buClr>
                  <a:buSzTx/>
                  <a:buFontTx/>
                  <a:buChar char="•"/>
                </a:pPr>
                <a:r>
                  <a:rPr lang="zh-CN" sz="710" dirty="0">
                    <a:solidFill>
                      <a:srgbClr val="473633"/>
                    </a:solidFill>
                    <a:latin typeface="+mn-lt"/>
                    <a:ea typeface="+mn-ea"/>
                    <a:cs typeface="+mn-cs"/>
                  </a:rPr>
                  <a:t>中收贡献≥XX万元​​​​​​​</a:t>
                </a:r>
              </a:p>
            </p:txBody>
          </p:sp>
        </p:grpSp>
        <p:grpSp>
          <p:nvGrpSpPr>
            <p:cNvPr id="96" name="task-5"/>
            <p:cNvGrpSpPr/>
            <p:nvPr/>
          </p:nvGrpSpPr>
          <p:grpSpPr>
            <a:xfrm>
              <a:off x="381000" y="4018836"/>
              <a:ext cx="8946770" cy="407194"/>
              <a:chOff x="381000" y="4018836"/>
              <a:chExt cx="8946770" cy="407194"/>
            </a:xfrm>
          </p:grpSpPr>
          <p:sp>
            <p:nvSpPr>
              <p:cNvPr id="86" name="Rectangle 86"/>
              <p:cNvSpPr/>
              <p:nvPr/>
            </p:nvSpPr>
            <p:spPr>
              <a:xfrm>
                <a:off x="381000" y="4114800"/>
                <a:ext cx="209550" cy="209550"/>
              </a:xfrm>
              <a:prstGeom prst="roundRect">
                <a:avLst>
                  <a:gd name="adj" fmla="val 18182"/>
                </a:avLst>
              </a:prstGeom>
              <a:solidFill>
                <a:srgbClr val="B92102"/>
              </a:solidFill>
              <a:ln>
                <a:noFill/>
              </a:ln>
            </p:spPr>
          </p:sp>
          <p:sp>
            <p:nvSpPr>
              <p:cNvPr id="87" name="TextBox 87"/>
              <p:cNvSpPr txBox="1"/>
              <p:nvPr/>
            </p:nvSpPr>
            <p:spPr>
              <a:xfrm>
                <a:off x="411044" y="417004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5​</a:t>
                </a:r>
              </a:p>
            </p:txBody>
          </p:sp>
          <p:sp>
            <p:nvSpPr>
              <p:cNvPr id="88" name="TextBox 88"/>
              <p:cNvSpPr txBox="1"/>
              <p:nvPr/>
            </p:nvSpPr>
            <p:spPr>
              <a:xfrm>
                <a:off x="680847" y="4161949"/>
                <a:ext cx="801472"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低效网点帮扶</a:t>
                </a:r>
              </a:p>
            </p:txBody>
          </p:sp>
          <p:sp>
            <p:nvSpPr>
              <p:cNvPr id="89" name="TextBox 89"/>
              <p:cNvSpPr txBox="1"/>
              <p:nvPr/>
            </p:nvSpPr>
            <p:spPr>
              <a:xfrm>
                <a:off x="1957388" y="4077414"/>
                <a:ext cx="1363980" cy="316706"/>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诊断问题与定制帮扶方案​​​</a:t>
                </a:r>
              </a:p>
              <a:p>
                <a:pPr algn="l" marL="85280" indent="-85280">
                  <a:lnSpc>
                    <a:spcPts val="1275"/>
                  </a:lnSpc>
                  <a:buClr>
                    <a:srgbClr val="473633"/>
                  </a:buClr>
                  <a:buSzTx/>
                  <a:buFontTx/>
                  <a:buChar char="•"/>
                </a:pPr>
                <a:r>
                  <a:rPr lang="zh-CN" sz="790" dirty="0">
                    <a:solidFill>
                      <a:srgbClr val="473633"/>
                    </a:solidFill>
                    <a:latin typeface="+mn-lt"/>
                    <a:ea typeface="+mn-ea"/>
                    <a:cs typeface="+mn-cs"/>
                  </a:rPr>
                  <a:t>跟踪辅导与资源支持​​</a:t>
                </a:r>
              </a:p>
            </p:txBody>
          </p:sp>
          <p:sp>
            <p:nvSpPr>
              <p:cNvPr id="90" name="TextBox 90"/>
              <p:cNvSpPr txBox="1"/>
              <p:nvPr/>
            </p:nvSpPr>
            <p:spPr>
              <a:xfrm>
                <a:off x="4156824" y="4170045"/>
                <a:ext cx="220751" cy="176212"/>
              </a:xfrm>
              <a:prstGeom prst="rect">
                <a:avLst/>
              </a:prstGeom>
              <a:noFill/>
              <a:ln>
                <a:noFill/>
              </a:ln>
            </p:spPr>
            <p:txBody>
              <a:bodyPr wrap="none" lIns="0" tIns="0" rIns="0" bIns="0" anchor="t" anchorCtr="0">
                <a:spAutoFit/>
              </a:bodyPr>
              <a:lstStyle/>
              <a:p>
                <a:pPr algn="ctr"/>
                <a:r>
                  <a:rPr lang="en-US" sz="900" dirty="0">
                    <a:solidFill>
                      <a:srgbClr val="473633"/>
                    </a:solidFill>
                    <a:latin typeface="+mn-lt"/>
                    <a:ea typeface="+mn-ea"/>
                    <a:cs typeface="+mn-cs"/>
                  </a:rPr>
                  <a:t>XX​</a:t>
                </a:r>
              </a:p>
            </p:txBody>
          </p:sp>
          <p:sp>
            <p:nvSpPr>
              <p:cNvPr id="91" name="Rectangle 91"/>
              <p:cNvSpPr/>
              <p:nvPr/>
            </p:nvSpPr>
            <p:spPr>
              <a:xfrm>
                <a:off x="4686300" y="4057650"/>
                <a:ext cx="762000" cy="85725"/>
              </a:xfrm>
              <a:prstGeom prst="roundRect">
                <a:avLst>
                  <a:gd name="adj" fmla="val 44444"/>
                </a:avLst>
              </a:prstGeom>
              <a:solidFill>
                <a:srgbClr val="B92102"/>
              </a:solidFill>
              <a:ln>
                <a:noFill/>
              </a:ln>
            </p:spPr>
          </p:sp>
          <p:sp>
            <p:nvSpPr>
              <p:cNvPr id="92" name="Rectangle 92"/>
              <p:cNvSpPr/>
              <p:nvPr/>
            </p:nvSpPr>
            <p:spPr>
              <a:xfrm>
                <a:off x="5505450" y="4143375"/>
                <a:ext cx="762000" cy="85725"/>
              </a:xfrm>
              <a:prstGeom prst="roundRect">
                <a:avLst>
                  <a:gd name="adj" fmla="val 44444"/>
                </a:avLst>
              </a:prstGeom>
              <a:solidFill>
                <a:srgbClr val="D44B2F"/>
              </a:solidFill>
              <a:ln>
                <a:noFill/>
              </a:ln>
            </p:spPr>
          </p:sp>
          <p:sp>
            <p:nvSpPr>
              <p:cNvPr id="93" name="Rectangle 93"/>
              <p:cNvSpPr/>
              <p:nvPr/>
            </p:nvSpPr>
            <p:spPr>
              <a:xfrm>
                <a:off x="6324600" y="4229100"/>
                <a:ext cx="762000" cy="85725"/>
              </a:xfrm>
              <a:prstGeom prst="roundRect">
                <a:avLst>
                  <a:gd name="adj" fmla="val 44444"/>
                </a:avLst>
              </a:prstGeom>
              <a:solidFill>
                <a:srgbClr val="D9705B"/>
              </a:solidFill>
              <a:ln>
                <a:noFill/>
              </a:ln>
            </p:spPr>
          </p:sp>
          <p:sp>
            <p:nvSpPr>
              <p:cNvPr id="94" name="Rectangle 94"/>
              <p:cNvSpPr/>
              <p:nvPr/>
            </p:nvSpPr>
            <p:spPr>
              <a:xfrm>
                <a:off x="7143750" y="4314825"/>
                <a:ext cx="742950" cy="85725"/>
              </a:xfrm>
              <a:prstGeom prst="roundRect">
                <a:avLst>
                  <a:gd name="adj" fmla="val 44444"/>
                </a:avLst>
              </a:prstGeom>
              <a:gradFill>
                <a:gsLst>
                  <a:gs pos="0">
                    <a:srgbClr val="F3AC9D"/>
                  </a:gs>
                  <a:gs pos="100000">
                    <a:srgbClr val="F3AC9D">
                      <a:alpha val="10000"/>
                    </a:srgbClr>
                  </a:gs>
                </a:gsLst>
                <a:lin ang="0" scaled="1"/>
              </a:gradFill>
              <a:ln>
                <a:noFill/>
              </a:ln>
            </p:spPr>
          </p:sp>
          <p:sp>
            <p:nvSpPr>
              <p:cNvPr id="95" name="TextBox 95"/>
              <p:cNvSpPr txBox="1"/>
              <p:nvPr/>
            </p:nvSpPr>
            <p:spPr>
              <a:xfrm>
                <a:off x="8015288" y="4018836"/>
                <a:ext cx="1312482" cy="40719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低效网点数下降≥XX%​​​​​​​</a:t>
                </a:r>
              </a:p>
              <a:p>
                <a:pPr algn="l" marL="76644" indent="-76644">
                  <a:lnSpc>
                    <a:spcPts val="1050"/>
                  </a:lnSpc>
                  <a:buClr>
                    <a:srgbClr val="473633"/>
                  </a:buClr>
                  <a:buSzTx/>
                  <a:buFontTx/>
                  <a:buChar char="•"/>
                </a:pPr>
                <a:r>
                  <a:rPr lang="zh-CN" sz="710" dirty="0">
                    <a:solidFill>
                      <a:srgbClr val="473633"/>
                    </a:solidFill>
                    <a:latin typeface="+mn-lt"/>
                    <a:ea typeface="+mn-ea"/>
                    <a:cs typeface="+mn-cs"/>
                  </a:rPr>
                  <a:t>存贷增量≥XX万元​​​​​​​</a:t>
                </a:r>
              </a:p>
              <a:p>
                <a:pPr algn="l" marL="76644" indent="-76644">
                  <a:lnSpc>
                    <a:spcPts val="1050"/>
                  </a:lnSpc>
                  <a:buClr>
                    <a:srgbClr val="473633"/>
                  </a:buClr>
                  <a:buSzTx/>
                  <a:buFontTx/>
                  <a:buChar char="•"/>
                </a:pPr>
                <a:r>
                  <a:rPr lang="zh-CN" sz="710" dirty="0">
                    <a:solidFill>
                      <a:srgbClr val="473633"/>
                    </a:solidFill>
                    <a:latin typeface="+mn-lt"/>
                    <a:ea typeface="+mn-ea"/>
                    <a:cs typeface="+mn-cs"/>
                  </a:rPr>
                  <a:t>指标达成率提升≥XXpt​​​​​​​</a:t>
                </a:r>
              </a:p>
            </p:txBody>
          </p:sp>
        </p:grpSp>
        <p:grpSp>
          <p:nvGrpSpPr>
            <p:cNvPr id="107" name="task-6"/>
            <p:cNvGrpSpPr/>
            <p:nvPr/>
          </p:nvGrpSpPr>
          <p:grpSpPr>
            <a:xfrm>
              <a:off x="381000" y="4685586"/>
              <a:ext cx="8667242" cy="407194"/>
              <a:chOff x="381000" y="4685586"/>
              <a:chExt cx="8667242" cy="407194"/>
            </a:xfrm>
          </p:grpSpPr>
          <p:sp>
            <p:nvSpPr>
              <p:cNvPr id="97" name="Rectangle 97"/>
              <p:cNvSpPr/>
              <p:nvPr/>
            </p:nvSpPr>
            <p:spPr>
              <a:xfrm>
                <a:off x="381000" y="4781550"/>
                <a:ext cx="209550" cy="209550"/>
              </a:xfrm>
              <a:prstGeom prst="roundRect">
                <a:avLst>
                  <a:gd name="adj" fmla="val 18182"/>
                </a:avLst>
              </a:prstGeom>
              <a:solidFill>
                <a:srgbClr val="B92102"/>
              </a:solidFill>
              <a:ln>
                <a:noFill/>
              </a:ln>
            </p:spPr>
          </p:sp>
          <p:sp>
            <p:nvSpPr>
              <p:cNvPr id="98" name="TextBox 98"/>
              <p:cNvSpPr txBox="1"/>
              <p:nvPr/>
            </p:nvSpPr>
            <p:spPr>
              <a:xfrm>
                <a:off x="411044" y="483679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6​</a:t>
                </a:r>
              </a:p>
            </p:txBody>
          </p:sp>
          <p:sp>
            <p:nvSpPr>
              <p:cNvPr id="99" name="TextBox 99"/>
              <p:cNvSpPr txBox="1"/>
              <p:nvPr/>
            </p:nvSpPr>
            <p:spPr>
              <a:xfrm>
                <a:off x="680847" y="4828699"/>
                <a:ext cx="801472"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活动转化提升</a:t>
                </a:r>
              </a:p>
            </p:txBody>
          </p:sp>
          <p:sp>
            <p:nvSpPr>
              <p:cNvPr id="100" name="TextBox 100"/>
              <p:cNvSpPr txBox="1"/>
              <p:nvPr/>
            </p:nvSpPr>
            <p:spPr>
              <a:xfrm>
                <a:off x="1957388" y="4744164"/>
                <a:ext cx="1363980" cy="316706"/>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策划主题活动与名单邀约​​​</a:t>
                </a:r>
              </a:p>
              <a:p>
                <a:pPr algn="l" marL="85280" indent="-85280">
                  <a:lnSpc>
                    <a:spcPts val="1275"/>
                  </a:lnSpc>
                  <a:buClr>
                    <a:srgbClr val="473633"/>
                  </a:buClr>
                  <a:buSzTx/>
                  <a:buFontTx/>
                  <a:buChar char="•"/>
                </a:pPr>
                <a:r>
                  <a:rPr lang="zh-CN" sz="790" dirty="0">
                    <a:solidFill>
                      <a:srgbClr val="473633"/>
                    </a:solidFill>
                    <a:latin typeface="+mn-lt"/>
                    <a:ea typeface="+mn-ea"/>
                    <a:cs typeface="+mn-cs"/>
                  </a:rPr>
                  <a:t>活动执行与转化跟进​​</a:t>
                </a:r>
              </a:p>
            </p:txBody>
          </p:sp>
          <p:sp>
            <p:nvSpPr>
              <p:cNvPr id="101" name="TextBox 101"/>
              <p:cNvSpPr txBox="1"/>
              <p:nvPr/>
            </p:nvSpPr>
            <p:spPr>
              <a:xfrm>
                <a:off x="4156824" y="4836795"/>
                <a:ext cx="220751" cy="176212"/>
              </a:xfrm>
              <a:prstGeom prst="rect">
                <a:avLst/>
              </a:prstGeom>
              <a:noFill/>
              <a:ln>
                <a:noFill/>
              </a:ln>
            </p:spPr>
            <p:txBody>
              <a:bodyPr wrap="none" lIns="0" tIns="0" rIns="0" bIns="0" anchor="t" anchorCtr="0">
                <a:spAutoFit/>
              </a:bodyPr>
              <a:lstStyle/>
              <a:p>
                <a:pPr algn="ctr"/>
                <a:r>
                  <a:rPr lang="en-US" sz="900" dirty="0">
                    <a:solidFill>
                      <a:srgbClr val="473633"/>
                    </a:solidFill>
                    <a:latin typeface="+mn-lt"/>
                    <a:ea typeface="+mn-ea"/>
                    <a:cs typeface="+mn-cs"/>
                  </a:rPr>
                  <a:t>XX​</a:t>
                </a:r>
              </a:p>
            </p:txBody>
          </p:sp>
          <p:sp>
            <p:nvSpPr>
              <p:cNvPr id="102" name="Rectangle 102"/>
              <p:cNvSpPr/>
              <p:nvPr/>
            </p:nvSpPr>
            <p:spPr>
              <a:xfrm>
                <a:off x="4686300" y="4724400"/>
                <a:ext cx="762000" cy="85725"/>
              </a:xfrm>
              <a:prstGeom prst="roundRect">
                <a:avLst>
                  <a:gd name="adj" fmla="val 44444"/>
                </a:avLst>
              </a:prstGeom>
              <a:solidFill>
                <a:srgbClr val="B92102"/>
              </a:solidFill>
              <a:ln>
                <a:noFill/>
              </a:ln>
            </p:spPr>
          </p:sp>
          <p:sp>
            <p:nvSpPr>
              <p:cNvPr id="103" name="Rectangle 103"/>
              <p:cNvSpPr/>
              <p:nvPr/>
            </p:nvSpPr>
            <p:spPr>
              <a:xfrm>
                <a:off x="5505450" y="4810125"/>
                <a:ext cx="762000" cy="85725"/>
              </a:xfrm>
              <a:prstGeom prst="roundRect">
                <a:avLst>
                  <a:gd name="adj" fmla="val 44444"/>
                </a:avLst>
              </a:prstGeom>
              <a:solidFill>
                <a:srgbClr val="D44B2F"/>
              </a:solidFill>
              <a:ln>
                <a:noFill/>
              </a:ln>
            </p:spPr>
          </p:sp>
          <p:sp>
            <p:nvSpPr>
              <p:cNvPr id="104" name="Rectangle 104"/>
              <p:cNvSpPr/>
              <p:nvPr/>
            </p:nvSpPr>
            <p:spPr>
              <a:xfrm>
                <a:off x="6324600" y="4895850"/>
                <a:ext cx="762000" cy="85725"/>
              </a:xfrm>
              <a:prstGeom prst="roundRect">
                <a:avLst>
                  <a:gd name="adj" fmla="val 44444"/>
                </a:avLst>
              </a:prstGeom>
              <a:solidFill>
                <a:srgbClr val="D9705B"/>
              </a:solidFill>
              <a:ln>
                <a:noFill/>
              </a:ln>
            </p:spPr>
          </p:sp>
          <p:sp>
            <p:nvSpPr>
              <p:cNvPr id="105" name="Rectangle 105"/>
              <p:cNvSpPr/>
              <p:nvPr/>
            </p:nvSpPr>
            <p:spPr>
              <a:xfrm>
                <a:off x="7143750" y="4981575"/>
                <a:ext cx="742950" cy="85725"/>
              </a:xfrm>
              <a:prstGeom prst="roundRect">
                <a:avLst>
                  <a:gd name="adj" fmla="val 44444"/>
                </a:avLst>
              </a:prstGeom>
              <a:gradFill>
                <a:gsLst>
                  <a:gs pos="0">
                    <a:srgbClr val="F3AC9D"/>
                  </a:gs>
                  <a:gs pos="100000">
                    <a:srgbClr val="F3AC9D">
                      <a:alpha val="10000"/>
                    </a:srgbClr>
                  </a:gs>
                </a:gsLst>
                <a:lin ang="0" scaled="1"/>
              </a:gradFill>
              <a:ln>
                <a:noFill/>
              </a:ln>
            </p:spPr>
          </p:sp>
          <p:sp>
            <p:nvSpPr>
              <p:cNvPr id="106" name="TextBox 106"/>
              <p:cNvSpPr txBox="1"/>
              <p:nvPr/>
            </p:nvSpPr>
            <p:spPr>
              <a:xfrm>
                <a:off x="8015288" y="4685586"/>
                <a:ext cx="1032954" cy="40719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活动场次≥XX场​​​​​​​</a:t>
                </a:r>
              </a:p>
              <a:p>
                <a:pPr algn="l" marL="76644" indent="-76644">
                  <a:lnSpc>
                    <a:spcPts val="1050"/>
                  </a:lnSpc>
                  <a:buClr>
                    <a:srgbClr val="473633"/>
                  </a:buClr>
                  <a:buSzTx/>
                  <a:buFontTx/>
                  <a:buChar char="•"/>
                </a:pPr>
                <a:r>
                  <a:rPr lang="zh-CN" sz="710" dirty="0">
                    <a:solidFill>
                      <a:srgbClr val="473633"/>
                    </a:solidFill>
                    <a:latin typeface="+mn-lt"/>
                    <a:ea typeface="+mn-ea"/>
                    <a:cs typeface="+mn-cs"/>
                  </a:rPr>
                  <a:t>到场客户≥XX人​​​​​​​</a:t>
                </a:r>
              </a:p>
              <a:p>
                <a:pPr algn="l" marL="76644" indent="-76644">
                  <a:lnSpc>
                    <a:spcPts val="1050"/>
                  </a:lnSpc>
                  <a:buClr>
                    <a:srgbClr val="473633"/>
                  </a:buClr>
                  <a:buSzTx/>
                  <a:buFontTx/>
                  <a:buChar char="•"/>
                </a:pPr>
                <a:r>
                  <a:rPr lang="zh-CN" sz="710" dirty="0">
                    <a:solidFill>
                      <a:srgbClr val="473633"/>
                    </a:solidFill>
                    <a:latin typeface="+mn-lt"/>
                    <a:ea typeface="+mn-ea"/>
                    <a:cs typeface="+mn-cs"/>
                  </a:rPr>
                  <a:t>转化率≥XX%​​​​​​​</a:t>
                </a:r>
              </a:p>
            </p:txBody>
          </p:sp>
        </p:grpSp>
        <p:grpSp>
          <p:nvGrpSpPr>
            <p:cNvPr id="118" name="task-7"/>
            <p:cNvGrpSpPr/>
            <p:nvPr/>
          </p:nvGrpSpPr>
          <p:grpSpPr>
            <a:xfrm>
              <a:off x="381000" y="5352336"/>
              <a:ext cx="8847582" cy="407194"/>
              <a:chOff x="381000" y="5352336"/>
              <a:chExt cx="8847582" cy="407194"/>
            </a:xfrm>
          </p:grpSpPr>
          <p:sp>
            <p:nvSpPr>
              <p:cNvPr id="108" name="Rectangle 108"/>
              <p:cNvSpPr/>
              <p:nvPr/>
            </p:nvSpPr>
            <p:spPr>
              <a:xfrm>
                <a:off x="381000" y="5448300"/>
                <a:ext cx="209550" cy="209550"/>
              </a:xfrm>
              <a:prstGeom prst="roundRect">
                <a:avLst>
                  <a:gd name="adj" fmla="val 18182"/>
                </a:avLst>
              </a:prstGeom>
              <a:solidFill>
                <a:srgbClr val="B92102"/>
              </a:solidFill>
              <a:ln>
                <a:noFill/>
              </a:ln>
            </p:spPr>
          </p:sp>
          <p:sp>
            <p:nvSpPr>
              <p:cNvPr id="109" name="TextBox 109"/>
              <p:cNvSpPr txBox="1"/>
              <p:nvPr/>
            </p:nvSpPr>
            <p:spPr>
              <a:xfrm>
                <a:off x="411044" y="550354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7​</a:t>
                </a:r>
              </a:p>
            </p:txBody>
          </p:sp>
          <p:sp>
            <p:nvSpPr>
              <p:cNvPr id="110" name="TextBox 110"/>
              <p:cNvSpPr txBox="1"/>
              <p:nvPr/>
            </p:nvSpPr>
            <p:spPr>
              <a:xfrm>
                <a:off x="680847" y="5495449"/>
                <a:ext cx="801472"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客户经理训练</a:t>
                </a:r>
              </a:p>
            </p:txBody>
          </p:sp>
          <p:sp>
            <p:nvSpPr>
              <p:cNvPr id="111" name="TextBox 111"/>
              <p:cNvSpPr txBox="1"/>
              <p:nvPr/>
            </p:nvSpPr>
            <p:spPr>
              <a:xfrm>
                <a:off x="1957388" y="5410914"/>
                <a:ext cx="1363980" cy="316706"/>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能力短板识别与课程安排​​​</a:t>
                </a:r>
              </a:p>
              <a:p>
                <a:pPr algn="l" marL="85280" indent="-85280">
                  <a:lnSpc>
                    <a:spcPts val="1275"/>
                  </a:lnSpc>
                  <a:buClr>
                    <a:srgbClr val="473633"/>
                  </a:buClr>
                  <a:buSzTx/>
                  <a:buFontTx/>
                  <a:buChar char="•"/>
                </a:pPr>
                <a:r>
                  <a:rPr lang="zh-CN" sz="790" dirty="0">
                    <a:solidFill>
                      <a:srgbClr val="473633"/>
                    </a:solidFill>
                    <a:latin typeface="+mn-lt"/>
                    <a:ea typeface="+mn-ea"/>
                    <a:cs typeface="+mn-cs"/>
                  </a:rPr>
                  <a:t>实战演练与通关考核​​</a:t>
                </a:r>
              </a:p>
            </p:txBody>
          </p:sp>
          <p:sp>
            <p:nvSpPr>
              <p:cNvPr id="112" name="TextBox 112"/>
              <p:cNvSpPr txBox="1"/>
              <p:nvPr/>
            </p:nvSpPr>
            <p:spPr>
              <a:xfrm>
                <a:off x="4156824" y="5503545"/>
                <a:ext cx="220751" cy="176212"/>
              </a:xfrm>
              <a:prstGeom prst="rect">
                <a:avLst/>
              </a:prstGeom>
              <a:noFill/>
              <a:ln>
                <a:noFill/>
              </a:ln>
            </p:spPr>
            <p:txBody>
              <a:bodyPr wrap="none" lIns="0" tIns="0" rIns="0" bIns="0" anchor="t" anchorCtr="0">
                <a:spAutoFit/>
              </a:bodyPr>
              <a:lstStyle/>
              <a:p>
                <a:pPr algn="ctr"/>
                <a:r>
                  <a:rPr lang="en-US" sz="900" dirty="0">
                    <a:solidFill>
                      <a:srgbClr val="473633"/>
                    </a:solidFill>
                    <a:latin typeface="+mn-lt"/>
                    <a:ea typeface="+mn-ea"/>
                    <a:cs typeface="+mn-cs"/>
                  </a:rPr>
                  <a:t>XX​</a:t>
                </a:r>
              </a:p>
            </p:txBody>
          </p:sp>
          <p:sp>
            <p:nvSpPr>
              <p:cNvPr id="113" name="Rectangle 113"/>
              <p:cNvSpPr/>
              <p:nvPr/>
            </p:nvSpPr>
            <p:spPr>
              <a:xfrm>
                <a:off x="4686300" y="5391150"/>
                <a:ext cx="762000" cy="85725"/>
              </a:xfrm>
              <a:prstGeom prst="roundRect">
                <a:avLst>
                  <a:gd name="adj" fmla="val 44444"/>
                </a:avLst>
              </a:prstGeom>
              <a:solidFill>
                <a:srgbClr val="B92102"/>
              </a:solidFill>
              <a:ln>
                <a:noFill/>
              </a:ln>
            </p:spPr>
          </p:sp>
          <p:sp>
            <p:nvSpPr>
              <p:cNvPr id="114" name="Rectangle 114"/>
              <p:cNvSpPr/>
              <p:nvPr/>
            </p:nvSpPr>
            <p:spPr>
              <a:xfrm>
                <a:off x="5505450" y="5476875"/>
                <a:ext cx="762000" cy="85725"/>
              </a:xfrm>
              <a:prstGeom prst="roundRect">
                <a:avLst>
                  <a:gd name="adj" fmla="val 44444"/>
                </a:avLst>
              </a:prstGeom>
              <a:solidFill>
                <a:srgbClr val="D44B2F"/>
              </a:solidFill>
              <a:ln>
                <a:noFill/>
              </a:ln>
            </p:spPr>
          </p:sp>
          <p:sp>
            <p:nvSpPr>
              <p:cNvPr id="115" name="Rectangle 115"/>
              <p:cNvSpPr/>
              <p:nvPr/>
            </p:nvSpPr>
            <p:spPr>
              <a:xfrm>
                <a:off x="6324600" y="5562600"/>
                <a:ext cx="762000" cy="85725"/>
              </a:xfrm>
              <a:prstGeom prst="roundRect">
                <a:avLst>
                  <a:gd name="adj" fmla="val 44444"/>
                </a:avLst>
              </a:prstGeom>
              <a:solidFill>
                <a:srgbClr val="D9705B"/>
              </a:solidFill>
              <a:ln>
                <a:noFill/>
              </a:ln>
            </p:spPr>
          </p:sp>
          <p:sp>
            <p:nvSpPr>
              <p:cNvPr id="116" name="Rectangle 116"/>
              <p:cNvSpPr/>
              <p:nvPr/>
            </p:nvSpPr>
            <p:spPr>
              <a:xfrm>
                <a:off x="7143750" y="5648325"/>
                <a:ext cx="742950" cy="85725"/>
              </a:xfrm>
              <a:prstGeom prst="roundRect">
                <a:avLst>
                  <a:gd name="adj" fmla="val 44444"/>
                </a:avLst>
              </a:prstGeom>
              <a:gradFill>
                <a:gsLst>
                  <a:gs pos="0">
                    <a:srgbClr val="F3AC9D"/>
                  </a:gs>
                  <a:gs pos="100000">
                    <a:srgbClr val="F3AC9D">
                      <a:alpha val="10000"/>
                    </a:srgbClr>
                  </a:gs>
                </a:gsLst>
                <a:lin ang="0" scaled="1"/>
              </a:gradFill>
              <a:ln>
                <a:noFill/>
              </a:ln>
            </p:spPr>
          </p:sp>
          <p:sp>
            <p:nvSpPr>
              <p:cNvPr id="117" name="TextBox 117"/>
              <p:cNvSpPr txBox="1"/>
              <p:nvPr/>
            </p:nvSpPr>
            <p:spPr>
              <a:xfrm>
                <a:off x="8015288" y="5352336"/>
                <a:ext cx="1213294" cy="40719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参训覆盖率≥XX%​​​​​​​</a:t>
                </a:r>
              </a:p>
              <a:p>
                <a:pPr algn="l" marL="76644" indent="-76644">
                  <a:lnSpc>
                    <a:spcPts val="1050"/>
                  </a:lnSpc>
                  <a:buClr>
                    <a:srgbClr val="473633"/>
                  </a:buClr>
                  <a:buSzTx/>
                  <a:buFontTx/>
                  <a:buChar char="•"/>
                </a:pPr>
                <a:r>
                  <a:rPr lang="zh-CN" sz="710" dirty="0">
                    <a:solidFill>
                      <a:srgbClr val="473633"/>
                    </a:solidFill>
                    <a:latin typeface="+mn-lt"/>
                    <a:ea typeface="+mn-ea"/>
                    <a:cs typeface="+mn-cs"/>
                  </a:rPr>
                  <a:t>通关率XX%​​​​​​​</a:t>
                </a:r>
              </a:p>
              <a:p>
                <a:pPr algn="l" marL="76644" indent="-76644">
                  <a:lnSpc>
                    <a:spcPts val="1050"/>
                  </a:lnSpc>
                  <a:buClr>
                    <a:srgbClr val="473633"/>
                  </a:buClr>
                  <a:buSzTx/>
                  <a:buFontTx/>
                  <a:buChar char="•"/>
                </a:pPr>
                <a:r>
                  <a:rPr lang="zh-CN" sz="710" dirty="0">
                    <a:solidFill>
                      <a:srgbClr val="473633"/>
                    </a:solidFill>
                    <a:latin typeface="+mn-lt"/>
                    <a:ea typeface="+mn-ea"/>
                    <a:cs typeface="+mn-cs"/>
                  </a:rPr>
                  <a:t>能力评分提升≥XX分​​​​​​​</a:t>
                </a:r>
              </a:p>
            </p:txBody>
          </p:sp>
        </p:grpSp>
        <p:grpSp>
          <p:nvGrpSpPr>
            <p:cNvPr id="129" name="task-8"/>
            <p:cNvGrpSpPr/>
            <p:nvPr/>
          </p:nvGrpSpPr>
          <p:grpSpPr>
            <a:xfrm>
              <a:off x="381000" y="6019086"/>
              <a:ext cx="8964804" cy="407194"/>
              <a:chOff x="381000" y="6019086"/>
              <a:chExt cx="8964804" cy="407194"/>
            </a:xfrm>
          </p:grpSpPr>
          <p:sp>
            <p:nvSpPr>
              <p:cNvPr id="119" name="Rectangle 119"/>
              <p:cNvSpPr/>
              <p:nvPr/>
            </p:nvSpPr>
            <p:spPr>
              <a:xfrm>
                <a:off x="381000" y="6115050"/>
                <a:ext cx="209550" cy="209550"/>
              </a:xfrm>
              <a:prstGeom prst="roundRect">
                <a:avLst>
                  <a:gd name="adj" fmla="val 18182"/>
                </a:avLst>
              </a:prstGeom>
              <a:solidFill>
                <a:srgbClr val="B92102"/>
              </a:solidFill>
              <a:ln>
                <a:noFill/>
              </a:ln>
            </p:spPr>
          </p:sp>
          <p:sp>
            <p:nvSpPr>
              <p:cNvPr id="120" name="TextBox 120"/>
              <p:cNvSpPr txBox="1"/>
              <p:nvPr/>
            </p:nvSpPr>
            <p:spPr>
              <a:xfrm>
                <a:off x="411044" y="617029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8​</a:t>
                </a:r>
              </a:p>
            </p:txBody>
          </p:sp>
          <p:sp>
            <p:nvSpPr>
              <p:cNvPr id="121" name="TextBox 121"/>
              <p:cNvSpPr txBox="1"/>
              <p:nvPr/>
            </p:nvSpPr>
            <p:spPr>
              <a:xfrm>
                <a:off x="680847" y="6162199"/>
                <a:ext cx="801472" cy="190690"/>
              </a:xfrm>
              <a:prstGeom prst="rect">
                <a:avLst/>
              </a:prstGeom>
              <a:noFill/>
              <a:ln>
                <a:noFill/>
              </a:ln>
            </p:spPr>
            <p:txBody>
              <a:bodyPr wrap="none" lIns="0" tIns="0" rIns="0" bIns="0" anchor="t" anchorCtr="0">
                <a:spAutoFit/>
              </a:bodyPr>
              <a:lstStyle/>
              <a:p>
                <a:pPr algn="l"/>
                <a:r>
                  <a:rPr lang="zh-CN" sz="980" b="1" dirty="0">
                    <a:solidFill>
                      <a:srgbClr val="6E1604"/>
                    </a:solidFill>
                    <a:latin typeface="+mn-lt"/>
                    <a:ea typeface="+mn-ea"/>
                    <a:cs typeface="+mn-cs"/>
                  </a:rPr>
                  <a:t>合规风险排查</a:t>
                </a:r>
              </a:p>
            </p:txBody>
          </p:sp>
          <p:sp>
            <p:nvSpPr>
              <p:cNvPr id="122" name="TextBox 122"/>
              <p:cNvSpPr txBox="1"/>
              <p:nvPr/>
            </p:nvSpPr>
            <p:spPr>
              <a:xfrm>
                <a:off x="1957388" y="6077664"/>
                <a:ext cx="1108138" cy="316706"/>
              </a:xfrm>
              <a:prstGeom prst="rect">
                <a:avLst/>
              </a:prstGeom>
              <a:noFill/>
              <a:ln>
                <a:noFill/>
              </a:ln>
            </p:spPr>
            <p:txBody>
              <a:bodyPr wrap="none" lIns="0" tIns="0" rIns="0" bIns="0" anchor="t" anchorCtr="0">
                <a:spAutoFit/>
              </a:bodyPr>
              <a:lstStyle/>
              <a:p>
                <a:pPr algn="l" marL="85280" indent="-85280">
                  <a:lnSpc>
                    <a:spcPts val="1275"/>
                  </a:lnSpc>
                  <a:buClr>
                    <a:srgbClr val="473633"/>
                  </a:buClr>
                  <a:buSzTx/>
                  <a:buFontTx/>
                  <a:buChar char="•"/>
                </a:pPr>
                <a:r>
                  <a:rPr lang="zh-CN" sz="790" dirty="0">
                    <a:solidFill>
                      <a:srgbClr val="473633"/>
                    </a:solidFill>
                    <a:latin typeface="+mn-lt"/>
                    <a:ea typeface="+mn-ea"/>
                    <a:cs typeface="+mn-cs"/>
                  </a:rPr>
                  <a:t>重点领域风险排查​​</a:t>
                </a:r>
              </a:p>
              <a:p>
                <a:pPr algn="l" marL="85280" indent="-85280">
                  <a:lnSpc>
                    <a:spcPts val="1275"/>
                  </a:lnSpc>
                  <a:buClr>
                    <a:srgbClr val="473633"/>
                  </a:buClr>
                  <a:buSzTx/>
                  <a:buFontTx/>
                  <a:buChar char="•"/>
                </a:pPr>
                <a:r>
                  <a:rPr lang="zh-CN" sz="790" dirty="0">
                    <a:solidFill>
                      <a:srgbClr val="473633"/>
                    </a:solidFill>
                    <a:latin typeface="+mn-lt"/>
                    <a:ea typeface="+mn-ea"/>
                    <a:cs typeface="+mn-cs"/>
                  </a:rPr>
                  <a:t>整改落实与闭环管理​​</a:t>
                </a:r>
              </a:p>
            </p:txBody>
          </p:sp>
          <p:sp>
            <p:nvSpPr>
              <p:cNvPr id="123" name="TextBox 123"/>
              <p:cNvSpPr txBox="1"/>
              <p:nvPr/>
            </p:nvSpPr>
            <p:spPr>
              <a:xfrm>
                <a:off x="4156824" y="6170295"/>
                <a:ext cx="220751" cy="176212"/>
              </a:xfrm>
              <a:prstGeom prst="rect">
                <a:avLst/>
              </a:prstGeom>
              <a:noFill/>
              <a:ln>
                <a:noFill/>
              </a:ln>
            </p:spPr>
            <p:txBody>
              <a:bodyPr wrap="none" lIns="0" tIns="0" rIns="0" bIns="0" anchor="t" anchorCtr="0">
                <a:spAutoFit/>
              </a:bodyPr>
              <a:lstStyle/>
              <a:p>
                <a:pPr algn="ctr"/>
                <a:r>
                  <a:rPr lang="en-US" sz="900" dirty="0">
                    <a:solidFill>
                      <a:srgbClr val="473633"/>
                    </a:solidFill>
                    <a:latin typeface="+mn-lt"/>
                    <a:ea typeface="+mn-ea"/>
                    <a:cs typeface="+mn-cs"/>
                  </a:rPr>
                  <a:t>XX​</a:t>
                </a:r>
              </a:p>
            </p:txBody>
          </p:sp>
          <p:sp>
            <p:nvSpPr>
              <p:cNvPr id="124" name="Rectangle 124"/>
              <p:cNvSpPr/>
              <p:nvPr/>
            </p:nvSpPr>
            <p:spPr>
              <a:xfrm>
                <a:off x="4686300" y="6057900"/>
                <a:ext cx="762000" cy="85725"/>
              </a:xfrm>
              <a:prstGeom prst="roundRect">
                <a:avLst>
                  <a:gd name="adj" fmla="val 44444"/>
                </a:avLst>
              </a:prstGeom>
              <a:solidFill>
                <a:srgbClr val="B92102"/>
              </a:solidFill>
              <a:ln>
                <a:noFill/>
              </a:ln>
            </p:spPr>
          </p:sp>
          <p:sp>
            <p:nvSpPr>
              <p:cNvPr id="125" name="Rectangle 125"/>
              <p:cNvSpPr/>
              <p:nvPr/>
            </p:nvSpPr>
            <p:spPr>
              <a:xfrm>
                <a:off x="5505450" y="6143625"/>
                <a:ext cx="762000" cy="85725"/>
              </a:xfrm>
              <a:prstGeom prst="roundRect">
                <a:avLst>
                  <a:gd name="adj" fmla="val 44444"/>
                </a:avLst>
              </a:prstGeom>
              <a:solidFill>
                <a:srgbClr val="D44B2F"/>
              </a:solidFill>
              <a:ln>
                <a:noFill/>
              </a:ln>
            </p:spPr>
          </p:sp>
          <p:sp>
            <p:nvSpPr>
              <p:cNvPr id="126" name="Rectangle 126"/>
              <p:cNvSpPr/>
              <p:nvPr/>
            </p:nvSpPr>
            <p:spPr>
              <a:xfrm>
                <a:off x="6324600" y="6229350"/>
                <a:ext cx="762000" cy="85725"/>
              </a:xfrm>
              <a:prstGeom prst="roundRect">
                <a:avLst>
                  <a:gd name="adj" fmla="val 44444"/>
                </a:avLst>
              </a:prstGeom>
              <a:solidFill>
                <a:srgbClr val="D9705B"/>
              </a:solidFill>
              <a:ln>
                <a:noFill/>
              </a:ln>
            </p:spPr>
          </p:sp>
          <p:sp>
            <p:nvSpPr>
              <p:cNvPr id="127" name="Rectangle 127"/>
              <p:cNvSpPr/>
              <p:nvPr/>
            </p:nvSpPr>
            <p:spPr>
              <a:xfrm>
                <a:off x="7143750" y="6315075"/>
                <a:ext cx="742950" cy="85725"/>
              </a:xfrm>
              <a:prstGeom prst="roundRect">
                <a:avLst>
                  <a:gd name="adj" fmla="val 44444"/>
                </a:avLst>
              </a:prstGeom>
              <a:gradFill>
                <a:gsLst>
                  <a:gs pos="0">
                    <a:srgbClr val="F3AC9D"/>
                  </a:gs>
                  <a:gs pos="100000">
                    <a:srgbClr val="F3AC9D">
                      <a:alpha val="10000"/>
                    </a:srgbClr>
                  </a:gs>
                </a:gsLst>
                <a:lin ang="0" scaled="1"/>
              </a:gradFill>
              <a:ln>
                <a:noFill/>
              </a:ln>
            </p:spPr>
          </p:sp>
          <p:sp>
            <p:nvSpPr>
              <p:cNvPr id="128" name="TextBox 128"/>
              <p:cNvSpPr txBox="1"/>
              <p:nvPr/>
            </p:nvSpPr>
            <p:spPr>
              <a:xfrm>
                <a:off x="8015288" y="6019086"/>
                <a:ext cx="1330516" cy="407194"/>
              </a:xfrm>
              <a:prstGeom prst="rect">
                <a:avLst/>
              </a:prstGeom>
              <a:noFill/>
              <a:ln>
                <a:noFill/>
              </a:ln>
            </p:spPr>
            <p:txBody>
              <a:bodyPr wrap="none" lIns="0" tIns="0" rIns="0" bIns="0" anchor="t" anchorCtr="0">
                <a:spAutoFit/>
              </a:bodyPr>
              <a:lstStyle/>
              <a:p>
                <a:pPr algn="l" marL="76644" indent="-76644">
                  <a:lnSpc>
                    <a:spcPts val="1050"/>
                  </a:lnSpc>
                  <a:buClr>
                    <a:srgbClr val="473633"/>
                  </a:buClr>
                  <a:buSzTx/>
                  <a:buFontTx/>
                  <a:buChar char="•"/>
                </a:pPr>
                <a:r>
                  <a:rPr lang="zh-CN" sz="710" dirty="0">
                    <a:solidFill>
                      <a:srgbClr val="473633"/>
                    </a:solidFill>
                    <a:latin typeface="+mn-lt"/>
                    <a:ea typeface="+mn-ea"/>
                    <a:cs typeface="+mn-cs"/>
                  </a:rPr>
                  <a:t>排查覆盖率=100%​​​​​​​</a:t>
                </a:r>
              </a:p>
              <a:p>
                <a:pPr algn="l" marL="76644" indent="-76644">
                  <a:lnSpc>
                    <a:spcPts val="1050"/>
                  </a:lnSpc>
                  <a:buClr>
                    <a:srgbClr val="473633"/>
                  </a:buClr>
                  <a:buSzTx/>
                  <a:buFontTx/>
                  <a:buChar char="•"/>
                </a:pPr>
                <a:r>
                  <a:rPr lang="zh-CN" sz="710" dirty="0">
                    <a:solidFill>
                      <a:srgbClr val="473633"/>
                    </a:solidFill>
                    <a:latin typeface="+mn-lt"/>
                    <a:ea typeface="+mn-ea"/>
                    <a:cs typeface="+mn-cs"/>
                  </a:rPr>
                  <a:t>发现问题整改率=100%​​​​​​​</a:t>
                </a:r>
              </a:p>
              <a:p>
                <a:pPr algn="l" marL="76644" indent="-76644">
                  <a:lnSpc>
                    <a:spcPts val="1050"/>
                  </a:lnSpc>
                  <a:buClr>
                    <a:srgbClr val="473633"/>
                  </a:buClr>
                  <a:buSzTx/>
                  <a:buFontTx/>
                  <a:buChar char="•"/>
                </a:pPr>
                <a:r>
                  <a:rPr lang="zh-CN" sz="710" dirty="0">
                    <a:solidFill>
                      <a:srgbClr val="473633"/>
                    </a:solidFill>
                    <a:latin typeface="+mn-lt"/>
                    <a:ea typeface="+mn-ea"/>
                    <a:cs typeface="+mn-cs"/>
                  </a:rPr>
                  <a:t>重大风险为0​​​​​</a:t>
                </a:r>
              </a:p>
            </p:txBody>
          </p:sp>
        </p:grpSp>
      </p:grpSp>
      <p:grpSp>
        <p:nvGrpSpPr>
          <p:cNvPr id="163" name="review-mechanism"/>
          <p:cNvGrpSpPr/>
          <p:nvPr/>
        </p:nvGrpSpPr>
        <p:grpSpPr>
          <a:xfrm>
            <a:off x="9601200" y="819150"/>
            <a:ext cx="2324100" cy="5753100"/>
            <a:chOff x="9601200" y="819150"/>
            <a:chExt cx="2324100" cy="5753100"/>
          </a:xfrm>
        </p:grpSpPr>
        <p:sp>
          <p:nvSpPr>
            <p:cNvPr id="131" name="Rectangle 131"/>
            <p:cNvSpPr/>
            <p:nvPr/>
          </p:nvSpPr>
          <p:spPr>
            <a:xfrm>
              <a:off x="9601200" y="952500"/>
              <a:ext cx="2324100" cy="5619750"/>
            </a:xfrm>
            <a:prstGeom prst="roundRect">
              <a:avLst>
                <a:gd name="adj" fmla="val 3279"/>
              </a:avLst>
            </a:prstGeom>
            <a:solidFill>
              <a:srgbClr val="F7FAFE"/>
            </a:solidFill>
            <a:ln w="9525">
              <a:solidFill>
                <a:srgbClr val="F7D1C9"/>
              </a:solidFill>
            </a:ln>
          </p:spPr>
        </p:sp>
        <p:sp>
          <p:nvSpPr>
            <p:cNvPr id="132" name="Rectangle 132"/>
            <p:cNvSpPr/>
            <p:nvPr/>
          </p:nvSpPr>
          <p:spPr>
            <a:xfrm>
              <a:off x="9906000" y="819150"/>
              <a:ext cx="1714500" cy="285750"/>
            </a:xfrm>
            <a:prstGeom prst="roundRect">
              <a:avLst>
                <a:gd name="adj" fmla="val 20000"/>
              </a:avLst>
            </a:prstGeom>
            <a:solidFill>
              <a:srgbClr val="6E1604"/>
            </a:solidFill>
            <a:ln>
              <a:noFill/>
            </a:ln>
          </p:spPr>
        </p:sp>
        <p:sp>
          <p:nvSpPr>
            <p:cNvPr id="133" name="TextBox 133"/>
            <p:cNvSpPr txBox="1"/>
            <p:nvPr/>
          </p:nvSpPr>
          <p:spPr>
            <a:xfrm>
              <a:off x="10475214" y="9058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复盘机制</a:t>
              </a:r>
            </a:p>
          </p:txBody>
        </p:sp>
        <p:grpSp>
          <p:nvGrpSpPr>
            <p:cNvPr id="144" name="rev-weekly"/>
            <p:cNvGrpSpPr/>
            <p:nvPr/>
          </p:nvGrpSpPr>
          <p:grpSpPr>
            <a:xfrm>
              <a:off x="9791700" y="1497806"/>
              <a:ext cx="1693926" cy="781764"/>
              <a:chOff x="9791700" y="1497806"/>
              <a:chExt cx="1693926" cy="781764"/>
            </a:xfrm>
          </p:grpSpPr>
          <p:sp>
            <p:nvSpPr>
              <p:cNvPr id="134" name="Ellipse 134"/>
              <p:cNvSpPr/>
              <p:nvPr/>
            </p:nvSpPr>
            <p:spPr>
              <a:xfrm>
                <a:off x="9791700" y="1619250"/>
                <a:ext cx="457200" cy="457200"/>
              </a:xfrm>
              <a:prstGeom prst="ellipse">
                <a:avLst/>
              </a:prstGeom>
              <a:solidFill>
                <a:srgbClr val="FFFFFF"/>
              </a:solidFill>
              <a:ln w="11430">
                <a:solidFill>
                  <a:srgbClr val="E3907F"/>
                </a:solidFill>
              </a:ln>
            </p:spPr>
          </p:sp>
          <p:grpSp>
            <p:nvGrpSpPr>
              <p:cNvPr id="141" name="Group 141"/>
              <p:cNvGrpSpPr/>
              <p:nvPr/>
            </p:nvGrpSpPr>
            <p:grpSpPr>
              <a:xfrm>
                <a:off x="9931400" y="1747838"/>
                <a:ext cx="177801" cy="200026"/>
                <a:chOff x="9931400" y="1747838"/>
                <a:chExt cx="177801" cy="200026"/>
              </a:xfrm>
            </p:grpSpPr>
            <p:sp>
              <p:nvSpPr>
                <p:cNvPr id="135" name="Freeform 135"/>
                <p:cNvSpPr/>
                <p:nvPr/>
              </p:nvSpPr>
              <p:spPr>
                <a:xfrm>
                  <a:off x="9931400" y="1770063"/>
                  <a:ext cx="177801" cy="177801"/>
                </a:xfrm>
                <a:custGeom>
                  <a:avLst/>
                  <a:gdLst/>
                  <a:ahLst/>
                  <a:cxnLst/>
                  <a:rect l="l" t="t" r="r" b="b"/>
                  <a:pathLst>
                    <a:path w="177801" h="177801">
                      <a:moveTo>
                        <a:pt x="0" y="22225"/>
                      </a:moveTo>
                      <a:cubicBezTo>
                        <a:pt x="0" y="9950"/>
                        <a:pt x="9950" y="0"/>
                        <a:pt x="22225" y="0"/>
                      </a:cubicBezTo>
                      <a:lnTo>
                        <a:pt x="155575" y="0"/>
                      </a:lnTo>
                      <a:cubicBezTo>
                        <a:pt x="167850" y="0"/>
                        <a:pt x="177801" y="9950"/>
                        <a:pt x="177801" y="22225"/>
                      </a:cubicBezTo>
                      <a:lnTo>
                        <a:pt x="177801" y="155575"/>
                      </a:lnTo>
                      <a:cubicBezTo>
                        <a:pt x="177801" y="167850"/>
                        <a:pt x="167850" y="177801"/>
                        <a:pt x="155575" y="177801"/>
                      </a:cubicBezTo>
                      <a:lnTo>
                        <a:pt x="22225" y="177801"/>
                      </a:lnTo>
                      <a:cubicBezTo>
                        <a:pt x="9950" y="177801"/>
                        <a:pt x="0" y="167850"/>
                        <a:pt x="0" y="155575"/>
                      </a:cubicBezTo>
                      <a:lnTo>
                        <a:pt x="0" y="22225"/>
                      </a:lnTo>
                    </a:path>
                  </a:pathLst>
                </a:custGeom>
                <a:noFill/>
                <a:ln w="22225">
                  <a:solidFill>
                    <a:srgbClr val="B92102"/>
                  </a:solidFill>
                </a:ln>
              </p:spPr>
            </p:sp>
            <p:sp>
              <p:nvSpPr>
                <p:cNvPr id="136" name="Freeform 136"/>
                <p:cNvSpPr/>
                <p:nvPr/>
              </p:nvSpPr>
              <p:spPr>
                <a:xfrm>
                  <a:off x="10064751" y="1747838"/>
                  <a:ext cx="9525" cy="44450"/>
                </a:xfrm>
                <a:custGeom>
                  <a:avLst/>
                  <a:gdLst/>
                  <a:ahLst/>
                  <a:cxnLst/>
                  <a:rect l="l" t="t" r="r" b="b"/>
                  <a:pathLst>
                    <a:path w="9525" h="44450">
                      <a:moveTo>
                        <a:pt x="0" y="0"/>
                      </a:moveTo>
                      <a:lnTo>
                        <a:pt x="0" y="44450"/>
                      </a:lnTo>
                    </a:path>
                  </a:pathLst>
                </a:custGeom>
                <a:noFill/>
                <a:ln w="22225">
                  <a:solidFill>
                    <a:srgbClr val="B92102"/>
                  </a:solidFill>
                </a:ln>
              </p:spPr>
            </p:sp>
            <p:sp>
              <p:nvSpPr>
                <p:cNvPr id="137" name="Freeform 137"/>
                <p:cNvSpPr/>
                <p:nvPr/>
              </p:nvSpPr>
              <p:spPr>
                <a:xfrm>
                  <a:off x="9975850" y="1747838"/>
                  <a:ext cx="9525" cy="44450"/>
                </a:xfrm>
                <a:custGeom>
                  <a:avLst/>
                  <a:gdLst/>
                  <a:ahLst/>
                  <a:cxnLst/>
                  <a:rect l="l" t="t" r="r" b="b"/>
                  <a:pathLst>
                    <a:path w="9525" h="44450">
                      <a:moveTo>
                        <a:pt x="0" y="0"/>
                      </a:moveTo>
                      <a:lnTo>
                        <a:pt x="0" y="44450"/>
                      </a:lnTo>
                    </a:path>
                  </a:pathLst>
                </a:custGeom>
                <a:noFill/>
                <a:ln w="22225">
                  <a:solidFill>
                    <a:srgbClr val="B92102"/>
                  </a:solidFill>
                </a:ln>
              </p:spPr>
            </p:sp>
            <p:sp>
              <p:nvSpPr>
                <p:cNvPr id="138" name="Freeform 138"/>
                <p:cNvSpPr/>
                <p:nvPr/>
              </p:nvSpPr>
              <p:spPr>
                <a:xfrm>
                  <a:off x="9931400" y="1836738"/>
                  <a:ext cx="177801" cy="9525"/>
                </a:xfrm>
                <a:custGeom>
                  <a:avLst/>
                  <a:gdLst/>
                  <a:ahLst/>
                  <a:cxnLst/>
                  <a:rect l="l" t="t" r="r" b="b"/>
                  <a:pathLst>
                    <a:path w="177801" h="9525">
                      <a:moveTo>
                        <a:pt x="0" y="0"/>
                      </a:moveTo>
                      <a:lnTo>
                        <a:pt x="177801" y="0"/>
                      </a:lnTo>
                    </a:path>
                  </a:pathLst>
                </a:custGeom>
                <a:noFill/>
                <a:ln w="22225">
                  <a:solidFill>
                    <a:srgbClr val="B92102"/>
                  </a:solidFill>
                </a:ln>
              </p:spPr>
            </p:sp>
            <p:sp>
              <p:nvSpPr>
                <p:cNvPr id="139" name="Freeform 139"/>
                <p:cNvSpPr/>
                <p:nvPr/>
              </p:nvSpPr>
              <p:spPr>
                <a:xfrm>
                  <a:off x="10009188" y="1881188"/>
                  <a:ext cx="11113" cy="9525"/>
                </a:xfrm>
                <a:custGeom>
                  <a:avLst/>
                  <a:gdLst/>
                  <a:ahLst/>
                  <a:cxnLst/>
                  <a:rect l="l" t="t" r="r" b="b"/>
                  <a:pathLst>
                    <a:path w="11113" h="9525">
                      <a:moveTo>
                        <a:pt x="0" y="0"/>
                      </a:moveTo>
                      <a:lnTo>
                        <a:pt x="11113" y="0"/>
                      </a:lnTo>
                    </a:path>
                  </a:pathLst>
                </a:custGeom>
                <a:noFill/>
                <a:ln w="22225">
                  <a:solidFill>
                    <a:srgbClr val="B92102"/>
                  </a:solidFill>
                </a:ln>
              </p:spPr>
            </p:sp>
            <p:sp>
              <p:nvSpPr>
                <p:cNvPr id="140" name="Freeform 140"/>
                <p:cNvSpPr/>
                <p:nvPr/>
              </p:nvSpPr>
              <p:spPr>
                <a:xfrm>
                  <a:off x="10020300" y="1881188"/>
                  <a:ext cx="9525" cy="33338"/>
                </a:xfrm>
                <a:custGeom>
                  <a:avLst/>
                  <a:gdLst/>
                  <a:ahLst/>
                  <a:cxnLst/>
                  <a:rect l="l" t="t" r="r" b="b"/>
                  <a:pathLst>
                    <a:path w="9525" h="33338">
                      <a:moveTo>
                        <a:pt x="0" y="0"/>
                      </a:moveTo>
                      <a:lnTo>
                        <a:pt x="0" y="33338"/>
                      </a:lnTo>
                    </a:path>
                  </a:pathLst>
                </a:custGeom>
                <a:noFill/>
                <a:ln w="22225">
                  <a:solidFill>
                    <a:srgbClr val="B92102"/>
                  </a:solidFill>
                </a:ln>
              </p:spPr>
            </p:sp>
          </p:grpSp>
          <p:sp>
            <p:nvSpPr>
              <p:cNvPr id="142" name="TextBox 142"/>
              <p:cNvSpPr txBox="1"/>
              <p:nvPr/>
            </p:nvSpPr>
            <p:spPr>
              <a:xfrm>
                <a:off x="10376535" y="1497806"/>
                <a:ext cx="463753"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周跟踪</a:t>
                </a:r>
              </a:p>
            </p:txBody>
          </p:sp>
          <p:sp>
            <p:nvSpPr>
              <p:cNvPr id="143" name="TextBox 143"/>
              <p:cNvSpPr txBox="1"/>
              <p:nvPr/>
            </p:nvSpPr>
            <p:spPr>
              <a:xfrm>
                <a:off x="10377488" y="1781889"/>
                <a:ext cx="1108138" cy="497681"/>
              </a:xfrm>
              <a:prstGeom prst="rect">
                <a:avLst/>
              </a:prstGeom>
              <a:noFill/>
              <a:ln>
                <a:noFill/>
              </a:ln>
            </p:spPr>
            <p:txBody>
              <a:bodyPr wrap="none" lIns="0" tIns="0" rIns="0" bIns="0" anchor="t" anchorCtr="0">
                <a:spAutoFit/>
              </a:bodyPr>
              <a:lstStyle/>
              <a:p>
                <a:pPr algn="l" marL="85280" indent="-85280">
                  <a:lnSpc>
                    <a:spcPts val="1350"/>
                  </a:lnSpc>
                  <a:buClr>
                    <a:srgbClr val="473633"/>
                  </a:buClr>
                  <a:buSzTx/>
                  <a:buFontTx/>
                  <a:buChar char="•"/>
                </a:pPr>
                <a:r>
                  <a:rPr lang="zh-CN" sz="790" dirty="0">
                    <a:solidFill>
                      <a:srgbClr val="473633"/>
                    </a:solidFill>
                    <a:latin typeface="+mn-lt"/>
                    <a:ea typeface="+mn-ea"/>
                    <a:cs typeface="+mn-cs"/>
                  </a:rPr>
                  <a:t>每周例会进度通报​​</a:t>
                </a:r>
              </a:p>
              <a:p>
                <a:pPr algn="l" marL="85280" indent="-85280">
                  <a:lnSpc>
                    <a:spcPts val="1350"/>
                  </a:lnSpc>
                  <a:buClr>
                    <a:srgbClr val="473633"/>
                  </a:buClr>
                  <a:buSzTx/>
                  <a:buFontTx/>
                  <a:buChar char="•"/>
                </a:pPr>
                <a:r>
                  <a:rPr lang="zh-CN" sz="790" dirty="0">
                    <a:solidFill>
                      <a:srgbClr val="473633"/>
                    </a:solidFill>
                    <a:latin typeface="+mn-lt"/>
                    <a:ea typeface="+mn-ea"/>
                    <a:cs typeface="+mn-cs"/>
                  </a:rPr>
                  <a:t>未达标任务预警​​</a:t>
                </a:r>
              </a:p>
              <a:p>
                <a:pPr algn="l" marL="85280" indent="-85280">
                  <a:lnSpc>
                    <a:spcPts val="1350"/>
                  </a:lnSpc>
                  <a:buClr>
                    <a:srgbClr val="473633"/>
                  </a:buClr>
                  <a:buSzTx/>
                  <a:buFontTx/>
                  <a:buChar char="•"/>
                </a:pPr>
                <a:r>
                  <a:rPr lang="zh-CN" sz="790" dirty="0">
                    <a:solidFill>
                      <a:srgbClr val="473633"/>
                    </a:solidFill>
                    <a:latin typeface="+mn-lt"/>
                    <a:ea typeface="+mn-ea"/>
                    <a:cs typeface="+mn-cs"/>
                  </a:rPr>
                  <a:t>调整动作与资源支持​​</a:t>
                </a:r>
              </a:p>
            </p:txBody>
          </p:sp>
        </p:grpSp>
        <p:sp>
          <p:nvSpPr>
            <p:cNvPr id="145" name="Line 145"/>
            <p:cNvSpPr/>
            <p:nvPr/>
          </p:nvSpPr>
          <p:spPr>
            <a:xfrm>
              <a:off x="9810750" y="2476500"/>
              <a:ext cx="1905000" cy="9525"/>
            </a:xfrm>
            <a:custGeom>
              <a:avLst/>
              <a:gdLst/>
              <a:ahLst/>
              <a:cxnLst/>
              <a:rect l="l" t="t" r="r" b="b"/>
              <a:pathLst>
                <a:path w="1905000" h="9525">
                  <a:moveTo>
                    <a:pt x="0" y="0"/>
                  </a:moveTo>
                  <a:lnTo>
                    <a:pt x="1905000" y="0"/>
                  </a:lnTo>
                </a:path>
              </a:pathLst>
            </a:custGeom>
            <a:noFill/>
            <a:ln w="9525">
              <a:solidFill>
                <a:srgbClr val="DCE6F8"/>
              </a:solidFill>
              <a:custDash>
                <a:ds d="400000" sp="300000"/>
              </a:custDash>
            </a:ln>
          </p:spPr>
        </p:sp>
        <p:grpSp>
          <p:nvGrpSpPr>
            <p:cNvPr id="152" name="rev-biweekly"/>
            <p:cNvGrpSpPr/>
            <p:nvPr/>
          </p:nvGrpSpPr>
          <p:grpSpPr>
            <a:xfrm>
              <a:off x="9791700" y="3002756"/>
              <a:ext cx="1693926" cy="781764"/>
              <a:chOff x="9791700" y="3002756"/>
              <a:chExt cx="1693926" cy="781764"/>
            </a:xfrm>
          </p:grpSpPr>
          <p:sp>
            <p:nvSpPr>
              <p:cNvPr id="146" name="Ellipse 146"/>
              <p:cNvSpPr/>
              <p:nvPr/>
            </p:nvSpPr>
            <p:spPr>
              <a:xfrm>
                <a:off x="9791700" y="3124200"/>
                <a:ext cx="457200" cy="457200"/>
              </a:xfrm>
              <a:prstGeom prst="ellipse">
                <a:avLst/>
              </a:prstGeom>
              <a:solidFill>
                <a:srgbClr val="FFFFFF"/>
              </a:solidFill>
              <a:ln w="11430">
                <a:solidFill>
                  <a:srgbClr val="E3907F"/>
                </a:solidFill>
              </a:ln>
            </p:spPr>
          </p:sp>
          <p:grpSp>
            <p:nvGrpSpPr>
              <p:cNvPr id="149" name="Group 149"/>
              <p:cNvGrpSpPr/>
              <p:nvPr/>
            </p:nvGrpSpPr>
            <p:grpSpPr>
              <a:xfrm>
                <a:off x="9931400" y="3286125"/>
                <a:ext cx="177801" cy="153988"/>
                <a:chOff x="9931400" y="3286125"/>
                <a:chExt cx="177801" cy="153988"/>
              </a:xfrm>
            </p:grpSpPr>
            <p:sp>
              <p:nvSpPr>
                <p:cNvPr id="147" name="Freeform 147"/>
                <p:cNvSpPr/>
                <p:nvPr/>
              </p:nvSpPr>
              <p:spPr>
                <a:xfrm>
                  <a:off x="9931400" y="3430588"/>
                  <a:ext cx="177801" cy="9525"/>
                </a:xfrm>
                <a:custGeom>
                  <a:avLst/>
                  <a:gdLst/>
                  <a:ahLst/>
                  <a:cxnLst/>
                  <a:rect l="l" t="t" r="r" b="b"/>
                  <a:pathLst>
                    <a:path w="177801" h="9525">
                      <a:moveTo>
                        <a:pt x="0" y="0"/>
                      </a:moveTo>
                      <a:lnTo>
                        <a:pt x="177801" y="0"/>
                      </a:lnTo>
                    </a:path>
                  </a:pathLst>
                </a:custGeom>
                <a:noFill/>
                <a:ln w="22225">
                  <a:solidFill>
                    <a:srgbClr val="B92102"/>
                  </a:solidFill>
                </a:ln>
              </p:spPr>
            </p:sp>
            <p:sp>
              <p:nvSpPr>
                <p:cNvPr id="148" name="Freeform 148"/>
                <p:cNvSpPr/>
                <p:nvPr/>
              </p:nvSpPr>
              <p:spPr>
                <a:xfrm>
                  <a:off x="9931400" y="3286125"/>
                  <a:ext cx="177801" cy="100013"/>
                </a:xfrm>
                <a:custGeom>
                  <a:avLst/>
                  <a:gdLst/>
                  <a:ahLst/>
                  <a:cxnLst/>
                  <a:rect l="l" t="t" r="r" b="b"/>
                  <a:pathLst>
                    <a:path w="177801" h="100013">
                      <a:moveTo>
                        <a:pt x="0" y="100013"/>
                      </a:moveTo>
                      <a:lnTo>
                        <a:pt x="44450" y="33338"/>
                      </a:lnTo>
                      <a:lnTo>
                        <a:pt x="88900" y="55563"/>
                      </a:lnTo>
                      <a:lnTo>
                        <a:pt x="133350" y="0"/>
                      </a:lnTo>
                      <a:lnTo>
                        <a:pt x="177801" y="44450"/>
                      </a:lnTo>
                    </a:path>
                  </a:pathLst>
                </a:custGeom>
                <a:noFill/>
                <a:ln w="22225">
                  <a:solidFill>
                    <a:srgbClr val="B92102"/>
                  </a:solidFill>
                </a:ln>
              </p:spPr>
            </p:sp>
          </p:grpSp>
          <p:sp>
            <p:nvSpPr>
              <p:cNvPr id="150" name="TextBox 150"/>
              <p:cNvSpPr txBox="1"/>
              <p:nvPr/>
            </p:nvSpPr>
            <p:spPr>
              <a:xfrm>
                <a:off x="10376535" y="3002756"/>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双周校准</a:t>
                </a:r>
              </a:p>
            </p:txBody>
          </p:sp>
          <p:sp>
            <p:nvSpPr>
              <p:cNvPr id="151" name="TextBox 151"/>
              <p:cNvSpPr txBox="1"/>
              <p:nvPr/>
            </p:nvSpPr>
            <p:spPr>
              <a:xfrm>
                <a:off x="10377488" y="3286839"/>
                <a:ext cx="1108138" cy="497681"/>
              </a:xfrm>
              <a:prstGeom prst="rect">
                <a:avLst/>
              </a:prstGeom>
              <a:noFill/>
              <a:ln>
                <a:noFill/>
              </a:ln>
            </p:spPr>
            <p:txBody>
              <a:bodyPr wrap="none" lIns="0" tIns="0" rIns="0" bIns="0" anchor="t" anchorCtr="0">
                <a:spAutoFit/>
              </a:bodyPr>
              <a:lstStyle/>
              <a:p>
                <a:pPr algn="l" marL="85280" indent="-85280">
                  <a:lnSpc>
                    <a:spcPts val="1350"/>
                  </a:lnSpc>
                  <a:buClr>
                    <a:srgbClr val="473633"/>
                  </a:buClr>
                  <a:buSzTx/>
                  <a:buFontTx/>
                  <a:buChar char="•"/>
                </a:pPr>
                <a:r>
                  <a:rPr lang="zh-CN" sz="790" dirty="0">
                    <a:solidFill>
                      <a:srgbClr val="473633"/>
                    </a:solidFill>
                    <a:latin typeface="+mn-lt"/>
                    <a:ea typeface="+mn-ea"/>
                    <a:cs typeface="+mn-cs"/>
                  </a:rPr>
                  <a:t>双周复盘进度与质量​​</a:t>
                </a:r>
              </a:p>
              <a:p>
                <a:pPr algn="l" marL="85280" indent="-85280">
                  <a:lnSpc>
                    <a:spcPts val="1350"/>
                  </a:lnSpc>
                  <a:buClr>
                    <a:srgbClr val="473633"/>
                  </a:buClr>
                  <a:buSzTx/>
                  <a:buFontTx/>
                  <a:buChar char="•"/>
                </a:pPr>
                <a:r>
                  <a:rPr lang="zh-CN" sz="790" dirty="0">
                    <a:solidFill>
                      <a:srgbClr val="473633"/>
                    </a:solidFill>
                    <a:latin typeface="+mn-lt"/>
                    <a:ea typeface="+mn-ea"/>
                    <a:cs typeface="+mn-cs"/>
                  </a:rPr>
                  <a:t>校准目标与策略​​</a:t>
                </a:r>
              </a:p>
              <a:p>
                <a:pPr algn="l" marL="85280" indent="-85280">
                  <a:lnSpc>
                    <a:spcPts val="1350"/>
                  </a:lnSpc>
                  <a:buClr>
                    <a:srgbClr val="473633"/>
                  </a:buClr>
                  <a:buSzTx/>
                  <a:buFontTx/>
                  <a:buChar char="•"/>
                </a:pPr>
                <a:r>
                  <a:rPr lang="zh-CN" sz="790" dirty="0">
                    <a:solidFill>
                      <a:srgbClr val="473633"/>
                    </a:solidFill>
                    <a:latin typeface="+mn-lt"/>
                    <a:ea typeface="+mn-ea"/>
                    <a:cs typeface="+mn-cs"/>
                  </a:rPr>
                  <a:t>优化关键动作与节奏​​</a:t>
                </a:r>
              </a:p>
            </p:txBody>
          </p:sp>
        </p:grpSp>
        <p:sp>
          <p:nvSpPr>
            <p:cNvPr id="153" name="Line 153"/>
            <p:cNvSpPr/>
            <p:nvPr/>
          </p:nvSpPr>
          <p:spPr>
            <a:xfrm>
              <a:off x="9810750" y="3981450"/>
              <a:ext cx="1905000" cy="9525"/>
            </a:xfrm>
            <a:custGeom>
              <a:avLst/>
              <a:gdLst/>
              <a:ahLst/>
              <a:cxnLst/>
              <a:rect l="l" t="t" r="r" b="b"/>
              <a:pathLst>
                <a:path w="1905000" h="9525">
                  <a:moveTo>
                    <a:pt x="0" y="0"/>
                  </a:moveTo>
                  <a:lnTo>
                    <a:pt x="1905000" y="0"/>
                  </a:lnTo>
                </a:path>
              </a:pathLst>
            </a:custGeom>
            <a:noFill/>
            <a:ln w="9525">
              <a:solidFill>
                <a:srgbClr val="DCE6F8"/>
              </a:solidFill>
              <a:custDash>
                <a:ds d="400000" sp="300000"/>
              </a:custDash>
            </a:ln>
          </p:spPr>
        </p:sp>
        <p:grpSp>
          <p:nvGrpSpPr>
            <p:cNvPr id="162" name="rev-monthly"/>
            <p:cNvGrpSpPr/>
            <p:nvPr/>
          </p:nvGrpSpPr>
          <p:grpSpPr>
            <a:xfrm>
              <a:off x="9791700" y="4507706"/>
              <a:ext cx="1949768" cy="781764"/>
              <a:chOff x="9791700" y="4507706"/>
              <a:chExt cx="1949768" cy="781764"/>
            </a:xfrm>
          </p:grpSpPr>
          <p:sp>
            <p:nvSpPr>
              <p:cNvPr id="154" name="Ellipse 154"/>
              <p:cNvSpPr/>
              <p:nvPr/>
            </p:nvSpPr>
            <p:spPr>
              <a:xfrm>
                <a:off x="9791700" y="4629150"/>
                <a:ext cx="457200" cy="457200"/>
              </a:xfrm>
              <a:prstGeom prst="ellipse">
                <a:avLst/>
              </a:prstGeom>
              <a:solidFill>
                <a:srgbClr val="FFFFFF"/>
              </a:solidFill>
              <a:ln w="11430">
                <a:solidFill>
                  <a:srgbClr val="E3907F"/>
                </a:solidFill>
              </a:ln>
            </p:spPr>
          </p:sp>
          <p:grpSp>
            <p:nvGrpSpPr>
              <p:cNvPr id="159" name="Group 159"/>
              <p:cNvGrpSpPr/>
              <p:nvPr/>
            </p:nvGrpSpPr>
            <p:grpSpPr>
              <a:xfrm>
                <a:off x="9942513" y="4768850"/>
                <a:ext cx="166687" cy="188913"/>
                <a:chOff x="9942513" y="4768850"/>
                <a:chExt cx="166687" cy="188913"/>
              </a:xfrm>
            </p:grpSpPr>
            <p:sp>
              <p:nvSpPr>
                <p:cNvPr id="155" name="Freeform 155"/>
                <p:cNvSpPr/>
                <p:nvPr/>
              </p:nvSpPr>
              <p:spPr>
                <a:xfrm>
                  <a:off x="9942513" y="4768850"/>
                  <a:ext cx="133350" cy="177801"/>
                </a:xfrm>
                <a:custGeom>
                  <a:avLst/>
                  <a:gdLst/>
                  <a:ahLst/>
                  <a:cxnLst/>
                  <a:rect l="l" t="t" r="r" b="b"/>
                  <a:pathLst>
                    <a:path w="133350" h="177801">
                      <a:moveTo>
                        <a:pt x="51284" y="177801"/>
                      </a:moveTo>
                      <a:lnTo>
                        <a:pt x="22225" y="177801"/>
                      </a:lnTo>
                      <a:cubicBezTo>
                        <a:pt x="9950" y="177801"/>
                        <a:pt x="0" y="167850"/>
                        <a:pt x="0" y="155575"/>
                      </a:cubicBezTo>
                      <a:lnTo>
                        <a:pt x="0" y="22225"/>
                      </a:lnTo>
                      <a:cubicBezTo>
                        <a:pt x="0" y="9950"/>
                        <a:pt x="9950" y="0"/>
                        <a:pt x="22225" y="0"/>
                      </a:cubicBezTo>
                      <a:lnTo>
                        <a:pt x="111125" y="0"/>
                      </a:lnTo>
                      <a:cubicBezTo>
                        <a:pt x="123400" y="0"/>
                        <a:pt x="133350" y="9950"/>
                        <a:pt x="133350" y="22225"/>
                      </a:cubicBezTo>
                      <a:lnTo>
                        <a:pt x="133350" y="111125"/>
                      </a:lnTo>
                    </a:path>
                  </a:pathLst>
                </a:custGeom>
                <a:noFill/>
                <a:ln w="22225">
                  <a:solidFill>
                    <a:srgbClr val="B92102"/>
                  </a:solidFill>
                </a:ln>
              </p:spPr>
            </p:sp>
            <p:sp>
              <p:nvSpPr>
                <p:cNvPr id="156" name="Freeform 156"/>
                <p:cNvSpPr/>
                <p:nvPr/>
              </p:nvSpPr>
              <p:spPr>
                <a:xfrm>
                  <a:off x="10042525" y="4913313"/>
                  <a:ext cx="66675" cy="44450"/>
                </a:xfrm>
                <a:custGeom>
                  <a:avLst/>
                  <a:gdLst/>
                  <a:ahLst/>
                  <a:cxnLst/>
                  <a:rect l="l" t="t" r="r" b="b"/>
                  <a:pathLst>
                    <a:path w="66675" h="44450">
                      <a:moveTo>
                        <a:pt x="0" y="22225"/>
                      </a:moveTo>
                      <a:lnTo>
                        <a:pt x="22225" y="44450"/>
                      </a:lnTo>
                      <a:lnTo>
                        <a:pt x="66675" y="0"/>
                      </a:lnTo>
                    </a:path>
                  </a:pathLst>
                </a:custGeom>
                <a:noFill/>
                <a:ln w="22225">
                  <a:solidFill>
                    <a:srgbClr val="B92102"/>
                  </a:solidFill>
                </a:ln>
              </p:spPr>
            </p:sp>
            <p:sp>
              <p:nvSpPr>
                <p:cNvPr id="157" name="Freeform 157"/>
                <p:cNvSpPr/>
                <p:nvPr/>
              </p:nvSpPr>
              <p:spPr>
                <a:xfrm>
                  <a:off x="9986963" y="4813300"/>
                  <a:ext cx="44450" cy="9525"/>
                </a:xfrm>
                <a:custGeom>
                  <a:avLst/>
                  <a:gdLst/>
                  <a:ahLst/>
                  <a:cxnLst/>
                  <a:rect l="l" t="t" r="r" b="b"/>
                  <a:pathLst>
                    <a:path w="44450" h="9525">
                      <a:moveTo>
                        <a:pt x="0" y="0"/>
                      </a:moveTo>
                      <a:lnTo>
                        <a:pt x="44450" y="0"/>
                      </a:lnTo>
                    </a:path>
                  </a:pathLst>
                </a:custGeom>
                <a:noFill/>
                <a:ln w="22225">
                  <a:solidFill>
                    <a:srgbClr val="B92102"/>
                  </a:solidFill>
                </a:ln>
              </p:spPr>
            </p:sp>
            <p:sp>
              <p:nvSpPr>
                <p:cNvPr id="158" name="Freeform 158"/>
                <p:cNvSpPr/>
                <p:nvPr/>
              </p:nvSpPr>
              <p:spPr>
                <a:xfrm>
                  <a:off x="9986963" y="4857750"/>
                  <a:ext cx="22225" cy="9525"/>
                </a:xfrm>
                <a:custGeom>
                  <a:avLst/>
                  <a:gdLst/>
                  <a:ahLst/>
                  <a:cxnLst/>
                  <a:rect l="l" t="t" r="r" b="b"/>
                  <a:pathLst>
                    <a:path w="22225" h="9525">
                      <a:moveTo>
                        <a:pt x="0" y="0"/>
                      </a:moveTo>
                      <a:lnTo>
                        <a:pt x="22225" y="0"/>
                      </a:lnTo>
                    </a:path>
                  </a:pathLst>
                </a:custGeom>
                <a:noFill/>
                <a:ln w="22225">
                  <a:solidFill>
                    <a:srgbClr val="B92102"/>
                  </a:solidFill>
                </a:ln>
              </p:spPr>
            </p:sp>
          </p:grpSp>
          <p:sp>
            <p:nvSpPr>
              <p:cNvPr id="160" name="TextBox 160"/>
              <p:cNvSpPr txBox="1"/>
              <p:nvPr/>
            </p:nvSpPr>
            <p:spPr>
              <a:xfrm>
                <a:off x="10376535" y="4507706"/>
                <a:ext cx="614528" cy="220028"/>
              </a:xfrm>
              <a:prstGeom prst="rect">
                <a:avLst/>
              </a:prstGeom>
              <a:noFill/>
              <a:ln>
                <a:noFill/>
              </a:ln>
            </p:spPr>
            <p:txBody>
              <a:bodyPr wrap="none" lIns="0" tIns="0" rIns="0" bIns="0" anchor="t" anchorCtr="0">
                <a:spAutoFit/>
              </a:bodyPr>
              <a:lstStyle/>
              <a:p>
                <a:pPr algn="l"/>
                <a:r>
                  <a:rPr lang="zh-CN" sz="1120" b="1" dirty="0">
                    <a:solidFill>
                      <a:srgbClr val="6E1604"/>
                    </a:solidFill>
                    <a:latin typeface="+mn-lt"/>
                    <a:ea typeface="+mn-ea"/>
                    <a:cs typeface="+mn-cs"/>
                  </a:rPr>
                  <a:t>月末验收</a:t>
                </a:r>
              </a:p>
            </p:txBody>
          </p:sp>
          <p:sp>
            <p:nvSpPr>
              <p:cNvPr id="161" name="TextBox 161"/>
              <p:cNvSpPr txBox="1"/>
              <p:nvPr/>
            </p:nvSpPr>
            <p:spPr>
              <a:xfrm>
                <a:off x="10377488" y="4791789"/>
                <a:ext cx="1363980" cy="497681"/>
              </a:xfrm>
              <a:prstGeom prst="rect">
                <a:avLst/>
              </a:prstGeom>
              <a:noFill/>
              <a:ln>
                <a:noFill/>
              </a:ln>
            </p:spPr>
            <p:txBody>
              <a:bodyPr wrap="none" lIns="0" tIns="0" rIns="0" bIns="0" anchor="t" anchorCtr="0">
                <a:spAutoFit/>
              </a:bodyPr>
              <a:lstStyle/>
              <a:p>
                <a:pPr algn="l" marL="85280" indent="-85280">
                  <a:lnSpc>
                    <a:spcPts val="1350"/>
                  </a:lnSpc>
                  <a:buClr>
                    <a:srgbClr val="473633"/>
                  </a:buClr>
                  <a:buSzTx/>
                  <a:buFontTx/>
                  <a:buChar char="•"/>
                </a:pPr>
                <a:r>
                  <a:rPr lang="zh-CN" sz="790" dirty="0">
                    <a:solidFill>
                      <a:srgbClr val="473633"/>
                    </a:solidFill>
                    <a:latin typeface="+mn-lt"/>
                    <a:ea typeface="+mn-ea"/>
                    <a:cs typeface="+mn-cs"/>
                  </a:rPr>
                  <a:t>对照验收标准评估​​</a:t>
                </a:r>
              </a:p>
              <a:p>
                <a:pPr algn="l" marL="85280" indent="-85280">
                  <a:lnSpc>
                    <a:spcPts val="1350"/>
                  </a:lnSpc>
                  <a:buClr>
                    <a:srgbClr val="473633"/>
                  </a:buClr>
                  <a:buSzTx/>
                  <a:buFontTx/>
                  <a:buChar char="•"/>
                </a:pPr>
                <a:r>
                  <a:rPr lang="zh-CN" sz="790" dirty="0">
                    <a:solidFill>
                      <a:srgbClr val="473633"/>
                    </a:solidFill>
                    <a:latin typeface="+mn-lt"/>
                    <a:ea typeface="+mn-ea"/>
                    <a:cs typeface="+mn-cs"/>
                  </a:rPr>
                  <a:t>形成验收结果与关键结论​​​</a:t>
                </a:r>
              </a:p>
              <a:p>
                <a:pPr algn="l" marL="85280" indent="-85280">
                  <a:lnSpc>
                    <a:spcPts val="1350"/>
                  </a:lnSpc>
                  <a:buClr>
                    <a:srgbClr val="473633"/>
                  </a:buClr>
                  <a:buSzTx/>
                  <a:buFontTx/>
                  <a:buChar char="•"/>
                </a:pPr>
                <a:r>
                  <a:rPr lang="zh-CN" sz="790" dirty="0">
                    <a:solidFill>
                      <a:srgbClr val="473633"/>
                    </a:solidFill>
                    <a:latin typeface="+mn-lt"/>
                    <a:ea typeface="+mn-ea"/>
                    <a:cs typeface="+mn-cs"/>
                  </a:rPr>
                  <a:t>问题整改与闭环跟踪​​</a:t>
                </a:r>
              </a:p>
            </p:txBody>
          </p:sp>
        </p:grpSp>
      </p:gr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cover-title"/>
          <p:cNvGrpSpPr/>
          <p:nvPr/>
        </p:nvGrpSpPr>
        <p:grpSpPr>
          <a:xfrm>
            <a:off x="3467176" y="704850"/>
            <a:ext cx="5257648" cy="815340"/>
            <a:chOff x="3467176" y="704850"/>
            <a:chExt cx="5257648" cy="815340"/>
          </a:xfrm>
        </p:grpSpPr>
        <p:sp>
          <p:nvSpPr>
            <p:cNvPr id="2" name="Rectangle 2"/>
            <p:cNvSpPr/>
            <p:nvPr/>
          </p:nvSpPr>
          <p:spPr>
            <a:xfrm>
              <a:off x="5381625" y="704850"/>
              <a:ext cx="1428750" cy="47625"/>
            </a:xfrm>
            <a:prstGeom prst="rect">
              <a:avLst/>
            </a:prstGeom>
            <a:gradFill>
              <a:gsLst>
                <a:gs pos="0">
                  <a:srgbClr val="42140B"/>
                </a:gs>
                <a:gs pos="100000">
                  <a:srgbClr val="9A4B3C"/>
                </a:gs>
              </a:gsLst>
              <a:lin ang="0" scaled="1"/>
            </a:gradFill>
            <a:ln>
              <a:noFill/>
            </a:ln>
          </p:spPr>
        </p:sp>
        <p:sp>
          <p:nvSpPr>
            <p:cNvPr id="3" name="TextBox 3"/>
            <p:cNvSpPr txBox="1"/>
            <p:nvPr/>
          </p:nvSpPr>
          <p:spPr>
            <a:xfrm>
              <a:off x="3467176" y="933450"/>
              <a:ext cx="5257648" cy="586740"/>
            </a:xfrm>
            <a:prstGeom prst="rect">
              <a:avLst/>
            </a:prstGeom>
            <a:noFill/>
            <a:ln>
              <a:noFill/>
            </a:ln>
          </p:spPr>
          <p:txBody>
            <a:bodyPr wrap="none" lIns="0" tIns="0" rIns="0" bIns="0" anchor="t" anchorCtr="0">
              <a:spAutoFit/>
            </a:bodyPr>
            <a:lstStyle/>
            <a:p>
              <a:pPr algn="ctr"/>
              <a:r>
                <a:rPr lang="zh-CN" sz="3000" b="1" dirty="0">
                  <a:solidFill>
                    <a:srgbClr val="42140B"/>
                  </a:solidFill>
                  <a:latin typeface="+mn-lt"/>
                  <a:ea typeface="+mn-ea"/>
                  <a:cs typeface="+mn-cs"/>
                </a:rPr>
                <a:t>德勤企业级</a:t>
              </a:r>
              <a:r>
                <a:rPr lang="zh-CN" sz="3000" b="1" dirty="0">
                  <a:solidFill>
                    <a:srgbClr val="7C3B2F"/>
                  </a:solidFill>
                  <a:latin typeface="+mn-lt"/>
                  <a:ea typeface="+mn-ea"/>
                  <a:cs typeface="+mn-cs"/>
                </a:rPr>
                <a:t>AI知识库</a:t>
              </a:r>
              <a:r>
                <a:rPr lang="zh-CN" sz="3000" b="1" dirty="0">
                  <a:solidFill>
                    <a:srgbClr val="42140B"/>
                  </a:solidFill>
                  <a:latin typeface="+mn-lt"/>
                  <a:ea typeface="+mn-ea"/>
                  <a:cs typeface="+mn-cs"/>
                </a:rPr>
                <a:t>落地实践</a:t>
              </a:r>
            </a:p>
          </p:txBody>
        </p:sp>
      </p:grpSp>
      <p:grpSp>
        <p:nvGrpSpPr>
          <p:cNvPr id="7" name="cover-subtitle"/>
          <p:cNvGrpSpPr/>
          <p:nvPr/>
        </p:nvGrpSpPr>
        <p:grpSpPr>
          <a:xfrm>
            <a:off x="3797021" y="2034064"/>
            <a:ext cx="4597959" cy="299561"/>
            <a:chOff x="3797021" y="2034064"/>
            <a:chExt cx="4597959" cy="299561"/>
          </a:xfrm>
        </p:grpSpPr>
        <p:sp>
          <p:nvSpPr>
            <p:cNvPr id="5" name="TextBox 5"/>
            <p:cNvSpPr txBox="1"/>
            <p:nvPr/>
          </p:nvSpPr>
          <p:spPr>
            <a:xfrm>
              <a:off x="3797021" y="2034064"/>
              <a:ext cx="4597959" cy="249364"/>
            </a:xfrm>
            <a:prstGeom prst="rect">
              <a:avLst/>
            </a:prstGeom>
            <a:noFill/>
            <a:ln>
              <a:noFill/>
            </a:ln>
          </p:spPr>
          <p:txBody>
            <a:bodyPr wrap="none" lIns="0" tIns="0" rIns="0" bIns="0" anchor="t" anchorCtr="0">
              <a:spAutoFit/>
            </a:bodyPr>
            <a:lstStyle/>
            <a:p>
              <a:pPr algn="ctr"/>
              <a:r>
                <a:rPr lang="zh-CN" sz="1280" dirty="0">
                  <a:solidFill>
                    <a:srgbClr val="7C3B2F"/>
                  </a:solidFill>
                  <a:latin typeface="+mn-lt"/>
                  <a:ea typeface="+mn-ea"/>
                  <a:cs typeface="+mn-cs"/>
                </a:rPr>
                <a:t>战略价值 × 知识治理 × RAG架构 × 可信运营 × 规模推广​​​​</a:t>
              </a:r>
            </a:p>
          </p:txBody>
        </p:sp>
        <p:sp>
          <p:nvSpPr>
            <p:cNvPr id="6" name="Rectangle 6"/>
            <p:cNvSpPr/>
            <p:nvPr/>
          </p:nvSpPr>
          <p:spPr>
            <a:xfrm>
              <a:off x="5905500" y="2305050"/>
              <a:ext cx="381000" cy="28575"/>
            </a:xfrm>
            <a:prstGeom prst="rect">
              <a:avLst/>
            </a:prstGeom>
            <a:solidFill>
              <a:srgbClr val="C93F27"/>
            </a:solidFill>
            <a:ln>
              <a:noFill/>
            </a:ln>
          </p:spPr>
        </p:sp>
      </p:grpSp>
      <p:grpSp>
        <p:nvGrpSpPr>
          <p:cNvPr id="79" name="cover-diagram"/>
          <p:cNvGrpSpPr/>
          <p:nvPr/>
        </p:nvGrpSpPr>
        <p:grpSpPr>
          <a:xfrm>
            <a:off x="628650" y="2724150"/>
            <a:ext cx="8952738" cy="3181350"/>
            <a:chOff x="628650" y="2724150"/>
            <a:chExt cx="8952738" cy="3181350"/>
          </a:xfrm>
        </p:grpSpPr>
        <p:grpSp>
          <p:nvGrpSpPr>
            <p:cNvPr id="37" name="doc-cards"/>
            <p:cNvGrpSpPr/>
            <p:nvPr/>
          </p:nvGrpSpPr>
          <p:grpSpPr>
            <a:xfrm>
              <a:off x="628650" y="2724150"/>
              <a:ext cx="2362200" cy="2057400"/>
              <a:chOff x="628650" y="2724150"/>
              <a:chExt cx="2362200" cy="2057400"/>
            </a:xfrm>
          </p:grpSpPr>
          <p:sp>
            <p:nvSpPr>
              <p:cNvPr id="8" name="Rectangle 8"/>
              <p:cNvSpPr/>
              <p:nvPr/>
            </p:nvSpPr>
            <p:spPr>
              <a:xfrm>
                <a:off x="628650" y="3009900"/>
                <a:ext cx="400050" cy="514350"/>
              </a:xfrm>
              <a:prstGeom prst="roundRect">
                <a:avLst>
                  <a:gd name="adj" fmla="val 9524"/>
                </a:avLst>
              </a:prstGeom>
              <a:solidFill>
                <a:srgbClr val="F4F8EC"/>
              </a:solidFill>
              <a:ln w="9525">
                <a:solidFill>
                  <a:srgbClr val="E0BBB4"/>
                </a:solidFill>
              </a:ln>
            </p:spPr>
          </p:sp>
          <p:sp>
            <p:nvSpPr>
              <p:cNvPr id="9" name="Rectangle 9"/>
              <p:cNvSpPr/>
              <p:nvPr/>
            </p:nvSpPr>
            <p:spPr>
              <a:xfrm>
                <a:off x="704850" y="3143250"/>
                <a:ext cx="247650" cy="28575"/>
              </a:xfrm>
              <a:prstGeom prst="rect">
                <a:avLst/>
              </a:prstGeom>
              <a:solidFill>
                <a:srgbClr val="BE776A"/>
              </a:solidFill>
              <a:ln>
                <a:noFill/>
              </a:ln>
            </p:spPr>
          </p:sp>
          <p:sp>
            <p:nvSpPr>
              <p:cNvPr id="10" name="Rectangle 10"/>
              <p:cNvSpPr/>
              <p:nvPr/>
            </p:nvSpPr>
            <p:spPr>
              <a:xfrm>
                <a:off x="704850" y="3228975"/>
                <a:ext cx="247650" cy="28575"/>
              </a:xfrm>
              <a:prstGeom prst="rect">
                <a:avLst/>
              </a:prstGeom>
              <a:solidFill>
                <a:srgbClr val="E0BBB4"/>
              </a:solidFill>
              <a:ln>
                <a:noFill/>
              </a:ln>
            </p:spPr>
          </p:sp>
          <p:sp>
            <p:nvSpPr>
              <p:cNvPr id="11" name="Rectangle 11"/>
              <p:cNvSpPr/>
              <p:nvPr/>
            </p:nvSpPr>
            <p:spPr>
              <a:xfrm>
                <a:off x="704850" y="3314700"/>
                <a:ext cx="171450" cy="28575"/>
              </a:xfrm>
              <a:prstGeom prst="rect">
                <a:avLst/>
              </a:prstGeom>
              <a:solidFill>
                <a:srgbClr val="E0BBB4"/>
              </a:solidFill>
              <a:ln>
                <a:noFill/>
              </a:ln>
            </p:spPr>
          </p:sp>
          <p:sp>
            <p:nvSpPr>
              <p:cNvPr id="12" name="Rectangle 12"/>
              <p:cNvSpPr/>
              <p:nvPr/>
            </p:nvSpPr>
            <p:spPr>
              <a:xfrm>
                <a:off x="1409700" y="2724150"/>
                <a:ext cx="400050" cy="514350"/>
              </a:xfrm>
              <a:prstGeom prst="roundRect">
                <a:avLst>
                  <a:gd name="adj" fmla="val 9524"/>
                </a:avLst>
              </a:prstGeom>
              <a:solidFill>
                <a:srgbClr val="FFFFFF"/>
              </a:solidFill>
              <a:ln w="9525">
                <a:solidFill>
                  <a:srgbClr val="D4A39A"/>
                </a:solidFill>
              </a:ln>
            </p:spPr>
          </p:sp>
          <p:grpSp>
            <p:nvGrpSpPr>
              <p:cNvPr id="18" name="Group 18"/>
              <p:cNvGrpSpPr/>
              <p:nvPr/>
            </p:nvGrpSpPr>
            <p:grpSpPr>
              <a:xfrm>
                <a:off x="1554162" y="2862262"/>
                <a:ext cx="111125" cy="142875"/>
                <a:chOff x="1554162" y="2862262"/>
                <a:chExt cx="111125" cy="142875"/>
              </a:xfrm>
            </p:grpSpPr>
            <p:sp>
              <p:nvSpPr>
                <p:cNvPr id="13" name="Freeform 13"/>
                <p:cNvSpPr/>
                <p:nvPr/>
              </p:nvSpPr>
              <p:spPr>
                <a:xfrm>
                  <a:off x="1625600" y="28622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9A4B3C"/>
                  </a:solidFill>
                </a:ln>
              </p:spPr>
            </p:sp>
            <p:sp>
              <p:nvSpPr>
                <p:cNvPr id="14" name="Freeform 14"/>
                <p:cNvSpPr/>
                <p:nvPr/>
              </p:nvSpPr>
              <p:spPr>
                <a:xfrm>
                  <a:off x="1554162" y="28622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9A4B3C"/>
                  </a:solidFill>
                </a:ln>
              </p:spPr>
            </p:sp>
            <p:sp>
              <p:nvSpPr>
                <p:cNvPr id="15" name="Freeform 15"/>
                <p:cNvSpPr/>
                <p:nvPr/>
              </p:nvSpPr>
              <p:spPr>
                <a:xfrm>
                  <a:off x="1585912" y="2909887"/>
                  <a:ext cx="9525" cy="9525"/>
                </a:xfrm>
                <a:custGeom>
                  <a:avLst/>
                  <a:gdLst/>
                  <a:ahLst/>
                  <a:cxnLst/>
                  <a:rect l="l" t="t" r="r" b="b"/>
                  <a:pathLst>
                    <a:path w="9525" h="9525">
                      <a:moveTo>
                        <a:pt x="0" y="0"/>
                      </a:moveTo>
                      <a:lnTo>
                        <a:pt x="7937" y="0"/>
                      </a:lnTo>
                    </a:path>
                  </a:pathLst>
                </a:custGeom>
                <a:noFill/>
                <a:ln w="15875">
                  <a:solidFill>
                    <a:srgbClr val="9A4B3C"/>
                  </a:solidFill>
                </a:ln>
              </p:spPr>
            </p:sp>
            <p:sp>
              <p:nvSpPr>
                <p:cNvPr id="16" name="Freeform 16"/>
                <p:cNvSpPr/>
                <p:nvPr/>
              </p:nvSpPr>
              <p:spPr>
                <a:xfrm>
                  <a:off x="1585912" y="2941637"/>
                  <a:ext cx="47625" cy="9525"/>
                </a:xfrm>
                <a:custGeom>
                  <a:avLst/>
                  <a:gdLst/>
                  <a:ahLst/>
                  <a:cxnLst/>
                  <a:rect l="l" t="t" r="r" b="b"/>
                  <a:pathLst>
                    <a:path w="47625" h="9525">
                      <a:moveTo>
                        <a:pt x="0" y="0"/>
                      </a:moveTo>
                      <a:lnTo>
                        <a:pt x="47625" y="0"/>
                      </a:lnTo>
                    </a:path>
                  </a:pathLst>
                </a:custGeom>
                <a:noFill/>
                <a:ln w="15875">
                  <a:solidFill>
                    <a:srgbClr val="9A4B3C"/>
                  </a:solidFill>
                </a:ln>
              </p:spPr>
            </p:sp>
            <p:sp>
              <p:nvSpPr>
                <p:cNvPr id="17" name="Freeform 17"/>
                <p:cNvSpPr/>
                <p:nvPr/>
              </p:nvSpPr>
              <p:spPr>
                <a:xfrm>
                  <a:off x="1585912" y="2973387"/>
                  <a:ext cx="47625" cy="9525"/>
                </a:xfrm>
                <a:custGeom>
                  <a:avLst/>
                  <a:gdLst/>
                  <a:ahLst/>
                  <a:cxnLst/>
                  <a:rect l="l" t="t" r="r" b="b"/>
                  <a:pathLst>
                    <a:path w="47625" h="9525">
                      <a:moveTo>
                        <a:pt x="0" y="0"/>
                      </a:moveTo>
                      <a:lnTo>
                        <a:pt x="47625" y="0"/>
                      </a:lnTo>
                    </a:path>
                  </a:pathLst>
                </a:custGeom>
                <a:noFill/>
                <a:ln w="15875">
                  <a:solidFill>
                    <a:srgbClr val="9A4B3C"/>
                  </a:solidFill>
                </a:ln>
              </p:spPr>
            </p:sp>
          </p:grpSp>
          <p:sp>
            <p:nvSpPr>
              <p:cNvPr id="19" name="Rectangle 19"/>
              <p:cNvSpPr/>
              <p:nvPr/>
            </p:nvSpPr>
            <p:spPr>
              <a:xfrm>
                <a:off x="1485900" y="3105150"/>
                <a:ext cx="247650" cy="28575"/>
              </a:xfrm>
              <a:prstGeom prst="rect">
                <a:avLst/>
              </a:prstGeom>
              <a:solidFill>
                <a:srgbClr val="D9E8C6"/>
              </a:solidFill>
              <a:ln>
                <a:noFill/>
              </a:ln>
            </p:spPr>
          </p:sp>
          <p:sp>
            <p:nvSpPr>
              <p:cNvPr id="20" name="Rectangle 20"/>
              <p:cNvSpPr/>
              <p:nvPr/>
            </p:nvSpPr>
            <p:spPr>
              <a:xfrm>
                <a:off x="2190750" y="3105150"/>
                <a:ext cx="400050" cy="514350"/>
              </a:xfrm>
              <a:prstGeom prst="roundRect">
                <a:avLst>
                  <a:gd name="adj" fmla="val 9524"/>
                </a:avLst>
              </a:prstGeom>
              <a:solidFill>
                <a:srgbClr val="F4F8EC"/>
              </a:solidFill>
              <a:ln w="9525">
                <a:solidFill>
                  <a:srgbClr val="E0BBB4"/>
                </a:solidFill>
              </a:ln>
            </p:spPr>
          </p:sp>
          <p:sp>
            <p:nvSpPr>
              <p:cNvPr id="21" name="Rectangle 21"/>
              <p:cNvSpPr/>
              <p:nvPr/>
            </p:nvSpPr>
            <p:spPr>
              <a:xfrm>
                <a:off x="2266950" y="3238500"/>
                <a:ext cx="247650" cy="28575"/>
              </a:xfrm>
              <a:prstGeom prst="rect">
                <a:avLst/>
              </a:prstGeom>
              <a:solidFill>
                <a:srgbClr val="BE776A"/>
              </a:solidFill>
              <a:ln>
                <a:noFill/>
              </a:ln>
            </p:spPr>
          </p:sp>
          <p:sp>
            <p:nvSpPr>
              <p:cNvPr id="22" name="Rectangle 22"/>
              <p:cNvSpPr/>
              <p:nvPr/>
            </p:nvSpPr>
            <p:spPr>
              <a:xfrm>
                <a:off x="2266950" y="3324225"/>
                <a:ext cx="247650" cy="28575"/>
              </a:xfrm>
              <a:prstGeom prst="rect">
                <a:avLst/>
              </a:prstGeom>
              <a:solidFill>
                <a:srgbClr val="E0BBB4"/>
              </a:solidFill>
              <a:ln>
                <a:noFill/>
              </a:ln>
            </p:spPr>
          </p:sp>
          <p:sp>
            <p:nvSpPr>
              <p:cNvPr id="23" name="Rectangle 23"/>
              <p:cNvSpPr/>
              <p:nvPr/>
            </p:nvSpPr>
            <p:spPr>
              <a:xfrm>
                <a:off x="2266950" y="3409950"/>
                <a:ext cx="171450" cy="28575"/>
              </a:xfrm>
              <a:prstGeom prst="rect">
                <a:avLst/>
              </a:prstGeom>
              <a:solidFill>
                <a:srgbClr val="E0BBB4"/>
              </a:solidFill>
              <a:ln>
                <a:noFill/>
              </a:ln>
            </p:spPr>
          </p:sp>
          <p:sp>
            <p:nvSpPr>
              <p:cNvPr id="24" name="Rectangle 24"/>
              <p:cNvSpPr/>
              <p:nvPr/>
            </p:nvSpPr>
            <p:spPr>
              <a:xfrm>
                <a:off x="914400" y="3848100"/>
                <a:ext cx="400050" cy="514350"/>
              </a:xfrm>
              <a:prstGeom prst="roundRect">
                <a:avLst>
                  <a:gd name="adj" fmla="val 9524"/>
                </a:avLst>
              </a:prstGeom>
              <a:solidFill>
                <a:srgbClr val="FFFFFF"/>
              </a:solidFill>
              <a:ln w="9525">
                <a:solidFill>
                  <a:srgbClr val="D4A39A"/>
                </a:solidFill>
              </a:ln>
            </p:spPr>
          </p:sp>
          <p:grpSp>
            <p:nvGrpSpPr>
              <p:cNvPr id="28" name="Group 28"/>
              <p:cNvGrpSpPr/>
              <p:nvPr/>
            </p:nvGrpSpPr>
            <p:grpSpPr>
              <a:xfrm>
                <a:off x="1050925" y="3986212"/>
                <a:ext cx="127000" cy="142875"/>
                <a:chOff x="1050925" y="3986212"/>
                <a:chExt cx="127000" cy="142875"/>
              </a:xfrm>
            </p:grpSpPr>
            <p:sp>
              <p:nvSpPr>
                <p:cNvPr id="25" name="Freeform 25"/>
                <p:cNvSpPr/>
                <p:nvPr/>
              </p:nvSpPr>
              <p:spPr>
                <a:xfrm>
                  <a:off x="1050925" y="39862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7C3B2F"/>
                  </a:solidFill>
                </a:ln>
              </p:spPr>
            </p:sp>
            <p:sp>
              <p:nvSpPr>
                <p:cNvPr id="26" name="Freeform 26"/>
                <p:cNvSpPr/>
                <p:nvPr/>
              </p:nvSpPr>
              <p:spPr>
                <a:xfrm>
                  <a:off x="1050925" y="40100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sp>
              <p:nvSpPr>
                <p:cNvPr id="27" name="Freeform 27"/>
                <p:cNvSpPr/>
                <p:nvPr/>
              </p:nvSpPr>
              <p:spPr>
                <a:xfrm>
                  <a:off x="1050925" y="40576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grpSp>
          <p:sp>
            <p:nvSpPr>
              <p:cNvPr id="29" name="Rectangle 29"/>
              <p:cNvSpPr/>
              <p:nvPr/>
            </p:nvSpPr>
            <p:spPr>
              <a:xfrm>
                <a:off x="990600" y="4229100"/>
                <a:ext cx="247650" cy="28575"/>
              </a:xfrm>
              <a:prstGeom prst="rect">
                <a:avLst/>
              </a:prstGeom>
              <a:solidFill>
                <a:srgbClr val="D9E8C6"/>
              </a:solidFill>
              <a:ln>
                <a:noFill/>
              </a:ln>
            </p:spPr>
          </p:sp>
          <p:sp>
            <p:nvSpPr>
              <p:cNvPr id="30" name="Rectangle 30"/>
              <p:cNvSpPr/>
              <p:nvPr/>
            </p:nvSpPr>
            <p:spPr>
              <a:xfrm>
                <a:off x="1771650" y="4267200"/>
                <a:ext cx="400050" cy="514350"/>
              </a:xfrm>
              <a:prstGeom prst="roundRect">
                <a:avLst>
                  <a:gd name="adj" fmla="val 9524"/>
                </a:avLst>
              </a:prstGeom>
              <a:solidFill>
                <a:srgbClr val="F4F8EC"/>
              </a:solidFill>
              <a:ln w="9525">
                <a:solidFill>
                  <a:srgbClr val="E0BBB4"/>
                </a:solidFill>
              </a:ln>
            </p:spPr>
          </p:sp>
          <p:sp>
            <p:nvSpPr>
              <p:cNvPr id="31" name="Rectangle 31"/>
              <p:cNvSpPr/>
              <p:nvPr/>
            </p:nvSpPr>
            <p:spPr>
              <a:xfrm>
                <a:off x="1847850" y="4400550"/>
                <a:ext cx="247650" cy="28575"/>
              </a:xfrm>
              <a:prstGeom prst="rect">
                <a:avLst/>
              </a:prstGeom>
              <a:solidFill>
                <a:srgbClr val="BE776A"/>
              </a:solidFill>
              <a:ln>
                <a:noFill/>
              </a:ln>
            </p:spPr>
          </p:sp>
          <p:sp>
            <p:nvSpPr>
              <p:cNvPr id="32" name="Rectangle 32"/>
              <p:cNvSpPr/>
              <p:nvPr/>
            </p:nvSpPr>
            <p:spPr>
              <a:xfrm>
                <a:off x="1847850" y="4486275"/>
                <a:ext cx="247650" cy="28575"/>
              </a:xfrm>
              <a:prstGeom prst="rect">
                <a:avLst/>
              </a:prstGeom>
              <a:solidFill>
                <a:srgbClr val="E0BBB4"/>
              </a:solidFill>
              <a:ln>
                <a:noFill/>
              </a:ln>
            </p:spPr>
          </p:sp>
          <p:sp>
            <p:nvSpPr>
              <p:cNvPr id="33" name="Rectangle 33"/>
              <p:cNvSpPr/>
              <p:nvPr/>
            </p:nvSpPr>
            <p:spPr>
              <a:xfrm>
                <a:off x="1847850" y="4572000"/>
                <a:ext cx="171450" cy="28575"/>
              </a:xfrm>
              <a:prstGeom prst="rect">
                <a:avLst/>
              </a:prstGeom>
              <a:solidFill>
                <a:srgbClr val="E0BBB4"/>
              </a:solidFill>
              <a:ln>
                <a:noFill/>
              </a:ln>
            </p:spPr>
          </p:sp>
          <p:sp>
            <p:nvSpPr>
              <p:cNvPr id="34" name="Rectangle 34"/>
              <p:cNvSpPr/>
              <p:nvPr/>
            </p:nvSpPr>
            <p:spPr>
              <a:xfrm>
                <a:off x="2590800" y="3676650"/>
                <a:ext cx="400050" cy="514350"/>
              </a:xfrm>
              <a:prstGeom prst="roundRect">
                <a:avLst>
                  <a:gd name="adj" fmla="val 9524"/>
                </a:avLst>
              </a:prstGeom>
              <a:solidFill>
                <a:srgbClr val="FFFFFF"/>
              </a:solidFill>
              <a:ln w="9525">
                <a:solidFill>
                  <a:srgbClr val="D4A39A"/>
                </a:solidFill>
              </a:ln>
            </p:spPr>
          </p:sp>
          <p:sp>
            <p:nvSpPr>
              <p:cNvPr id="35" name="Freeform 35"/>
              <p:cNvSpPr/>
              <p:nvPr/>
            </p:nvSpPr>
            <p:spPr>
              <a:xfrm>
                <a:off x="2711259" y="381654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9A4B3C"/>
                </a:solidFill>
              </a:ln>
            </p:spPr>
          </p:sp>
          <p:sp>
            <p:nvSpPr>
              <p:cNvPr id="36" name="Rectangle 36"/>
              <p:cNvSpPr/>
              <p:nvPr/>
            </p:nvSpPr>
            <p:spPr>
              <a:xfrm>
                <a:off x="2667000" y="4057650"/>
                <a:ext cx="247650" cy="28575"/>
              </a:xfrm>
              <a:prstGeom prst="rect">
                <a:avLst/>
              </a:prstGeom>
              <a:solidFill>
                <a:srgbClr val="D9E8C6"/>
              </a:solidFill>
              <a:ln>
                <a:noFill/>
              </a:ln>
            </p:spPr>
          </p:sp>
        </p:grpSp>
        <p:grpSp>
          <p:nvGrpSpPr>
            <p:cNvPr id="47" name="flow-lines"/>
            <p:cNvGrpSpPr/>
            <p:nvPr/>
          </p:nvGrpSpPr>
          <p:grpSpPr>
            <a:xfrm>
              <a:off x="1028700" y="3238500"/>
              <a:ext cx="3638550" cy="1543050"/>
              <a:chOff x="1028700" y="3238500"/>
              <a:chExt cx="3638550" cy="1543050"/>
            </a:xfrm>
          </p:grpSpPr>
          <p:sp>
            <p:nvSpPr>
              <p:cNvPr id="38" name="Line 38"/>
              <p:cNvSpPr/>
              <p:nvPr/>
            </p:nvSpPr>
            <p:spPr>
              <a:xfrm>
                <a:off x="1028700" y="3524250"/>
                <a:ext cx="3600450" cy="723900"/>
              </a:xfrm>
              <a:custGeom>
                <a:avLst/>
                <a:gdLst/>
                <a:ahLst/>
                <a:cxnLst/>
                <a:rect l="l" t="t" r="r" b="b"/>
                <a:pathLst>
                  <a:path w="3600450" h="723900">
                    <a:moveTo>
                      <a:pt x="0" y="0"/>
                    </a:moveTo>
                    <a:lnTo>
                      <a:pt x="3600450" y="723900"/>
                    </a:lnTo>
                  </a:path>
                </a:pathLst>
              </a:custGeom>
              <a:noFill/>
              <a:ln w="9525">
                <a:solidFill>
                  <a:srgbClr val="BE776A">
                    <a:alpha val="60000"/>
                  </a:srgbClr>
                </a:solidFill>
              </a:ln>
            </p:spPr>
          </p:sp>
          <p:sp>
            <p:nvSpPr>
              <p:cNvPr id="39" name="Line 39"/>
              <p:cNvSpPr/>
              <p:nvPr/>
            </p:nvSpPr>
            <p:spPr>
              <a:xfrm>
                <a:off x="1809750" y="3238500"/>
                <a:ext cx="2800350" cy="1066800"/>
              </a:xfrm>
              <a:custGeom>
                <a:avLst/>
                <a:gdLst/>
                <a:ahLst/>
                <a:cxnLst/>
                <a:rect l="l" t="t" r="r" b="b"/>
                <a:pathLst>
                  <a:path w="2800350" h="1066800">
                    <a:moveTo>
                      <a:pt x="0" y="0"/>
                    </a:moveTo>
                    <a:lnTo>
                      <a:pt x="2800350" y="1066800"/>
                    </a:lnTo>
                  </a:path>
                </a:pathLst>
              </a:custGeom>
              <a:noFill/>
              <a:ln w="9525">
                <a:solidFill>
                  <a:srgbClr val="BE776A">
                    <a:alpha val="60000"/>
                  </a:srgbClr>
                </a:solidFill>
              </a:ln>
            </p:spPr>
          </p:sp>
          <p:sp>
            <p:nvSpPr>
              <p:cNvPr id="40" name="Line 40"/>
              <p:cNvSpPr/>
              <p:nvPr/>
            </p:nvSpPr>
            <p:spPr>
              <a:xfrm>
                <a:off x="2590800" y="3619500"/>
                <a:ext cx="2000250" cy="742950"/>
              </a:xfrm>
              <a:custGeom>
                <a:avLst/>
                <a:gdLst/>
                <a:ahLst/>
                <a:cxnLst/>
                <a:rect l="l" t="t" r="r" b="b"/>
                <a:pathLst>
                  <a:path w="2000250" h="742950">
                    <a:moveTo>
                      <a:pt x="0" y="0"/>
                    </a:moveTo>
                    <a:lnTo>
                      <a:pt x="2000250" y="742950"/>
                    </a:lnTo>
                  </a:path>
                </a:pathLst>
              </a:custGeom>
              <a:noFill/>
              <a:ln w="9525">
                <a:solidFill>
                  <a:srgbClr val="BE776A">
                    <a:alpha val="60000"/>
                  </a:srgbClr>
                </a:solidFill>
              </a:ln>
            </p:spPr>
          </p:sp>
          <p:sp>
            <p:nvSpPr>
              <p:cNvPr id="41" name="Line 41"/>
              <p:cNvSpPr/>
              <p:nvPr/>
            </p:nvSpPr>
            <p:spPr>
              <a:xfrm>
                <a:off x="1314450" y="4362450"/>
                <a:ext cx="3295650" cy="76200"/>
              </a:xfrm>
              <a:custGeom>
                <a:avLst/>
                <a:gdLst/>
                <a:ahLst/>
                <a:cxnLst/>
                <a:rect l="l" t="t" r="r" b="b"/>
                <a:pathLst>
                  <a:path w="3295650" h="76200">
                    <a:moveTo>
                      <a:pt x="0" y="0"/>
                    </a:moveTo>
                    <a:lnTo>
                      <a:pt x="3295650" y="76200"/>
                    </a:lnTo>
                  </a:path>
                </a:pathLst>
              </a:custGeom>
              <a:noFill/>
              <a:ln w="9525">
                <a:solidFill>
                  <a:srgbClr val="BE776A">
                    <a:alpha val="60000"/>
                  </a:srgbClr>
                </a:solidFill>
              </a:ln>
            </p:spPr>
          </p:sp>
          <p:sp>
            <p:nvSpPr>
              <p:cNvPr id="42" name="Line 42"/>
              <p:cNvSpPr/>
              <p:nvPr/>
            </p:nvSpPr>
            <p:spPr>
              <a:xfrm>
                <a:off x="2171700" y="4552950"/>
                <a:ext cx="2495550" cy="228600"/>
              </a:xfrm>
              <a:custGeom>
                <a:avLst/>
                <a:gdLst/>
                <a:ahLst/>
                <a:cxnLst/>
                <a:rect l="l" t="t" r="r" b="b"/>
                <a:pathLst>
                  <a:path w="2495550" h="228600">
                    <a:moveTo>
                      <a:pt x="0" y="228600"/>
                    </a:moveTo>
                    <a:lnTo>
                      <a:pt x="2495550" y="0"/>
                    </a:lnTo>
                  </a:path>
                </a:pathLst>
              </a:custGeom>
              <a:noFill/>
              <a:ln w="9525">
                <a:solidFill>
                  <a:srgbClr val="BE776A">
                    <a:alpha val="60000"/>
                  </a:srgbClr>
                </a:solidFill>
              </a:ln>
            </p:spPr>
          </p:sp>
          <p:sp>
            <p:nvSpPr>
              <p:cNvPr id="43" name="Line 43"/>
              <p:cNvSpPr/>
              <p:nvPr/>
            </p:nvSpPr>
            <p:spPr>
              <a:xfrm>
                <a:off x="2990850" y="4191000"/>
                <a:ext cx="1600200" cy="209550"/>
              </a:xfrm>
              <a:custGeom>
                <a:avLst/>
                <a:gdLst/>
                <a:ahLst/>
                <a:cxnLst/>
                <a:rect l="l" t="t" r="r" b="b"/>
                <a:pathLst>
                  <a:path w="1600200" h="209550">
                    <a:moveTo>
                      <a:pt x="0" y="0"/>
                    </a:moveTo>
                    <a:lnTo>
                      <a:pt x="1600200" y="209550"/>
                    </a:lnTo>
                  </a:path>
                </a:pathLst>
              </a:custGeom>
              <a:noFill/>
              <a:ln w="9525">
                <a:solidFill>
                  <a:srgbClr val="BE776A">
                    <a:alpha val="60000"/>
                  </a:srgbClr>
                </a:solidFill>
              </a:ln>
            </p:spPr>
          </p:sp>
          <p:sp>
            <p:nvSpPr>
              <p:cNvPr id="44" name="Ellipse 44"/>
              <p:cNvSpPr/>
              <p:nvPr/>
            </p:nvSpPr>
            <p:spPr>
              <a:xfrm>
                <a:off x="2257425" y="3705225"/>
                <a:ext cx="57150" cy="57150"/>
              </a:xfrm>
              <a:prstGeom prst="ellipse">
                <a:avLst/>
              </a:prstGeom>
              <a:solidFill>
                <a:srgbClr val="9A4B3C"/>
              </a:solidFill>
              <a:ln>
                <a:noFill/>
              </a:ln>
            </p:spPr>
          </p:sp>
          <p:sp>
            <p:nvSpPr>
              <p:cNvPr id="45" name="Ellipse 45"/>
              <p:cNvSpPr/>
              <p:nvPr/>
            </p:nvSpPr>
            <p:spPr>
              <a:xfrm>
                <a:off x="3114675" y="4048125"/>
                <a:ext cx="57150" cy="57150"/>
              </a:xfrm>
              <a:prstGeom prst="ellipse">
                <a:avLst/>
              </a:prstGeom>
              <a:solidFill>
                <a:srgbClr val="BE776A"/>
              </a:solidFill>
              <a:ln>
                <a:noFill/>
              </a:ln>
            </p:spPr>
          </p:sp>
          <p:sp>
            <p:nvSpPr>
              <p:cNvPr id="46" name="Ellipse 46"/>
              <p:cNvSpPr/>
              <p:nvPr/>
            </p:nvSpPr>
            <p:spPr>
              <a:xfrm>
                <a:off x="3781425" y="4276725"/>
                <a:ext cx="57150" cy="57150"/>
              </a:xfrm>
              <a:prstGeom prst="ellipse">
                <a:avLst/>
              </a:prstGeom>
              <a:solidFill>
                <a:srgbClr val="9A4B3C"/>
              </a:solidFill>
              <a:ln>
                <a:noFill/>
              </a:ln>
            </p:spPr>
          </p:sp>
        </p:grpSp>
        <p:grpSp>
          <p:nvGrpSpPr>
            <p:cNvPr id="68" name="prism"/>
            <p:cNvGrpSpPr/>
            <p:nvPr/>
          </p:nvGrpSpPr>
          <p:grpSpPr>
            <a:xfrm>
              <a:off x="4429125" y="2762250"/>
              <a:ext cx="2952750" cy="3143250"/>
              <a:chOff x="4429125" y="2762250"/>
              <a:chExt cx="2952750" cy="3143250"/>
            </a:xfrm>
          </p:grpSpPr>
          <p:sp>
            <p:nvSpPr>
              <p:cNvPr id="48" name="Polygon 48"/>
              <p:cNvSpPr/>
              <p:nvPr/>
            </p:nvSpPr>
            <p:spPr>
              <a:xfrm>
                <a:off x="4429125" y="2762250"/>
                <a:ext cx="2952750" cy="3143250"/>
              </a:xfrm>
              <a:custGeom>
                <a:avLst/>
                <a:gdLst/>
                <a:ahLst/>
                <a:cxnLst/>
                <a:rect l="l" t="t" r="r" b="b"/>
                <a:pathLst>
                  <a:path w="2952750" h="3143250">
                    <a:moveTo>
                      <a:pt x="1476375" y="0"/>
                    </a:moveTo>
                    <a:lnTo>
                      <a:pt x="2952750" y="1571625"/>
                    </a:lnTo>
                    <a:lnTo>
                      <a:pt x="1476375" y="3143250"/>
                    </a:lnTo>
                    <a:lnTo>
                      <a:pt x="0" y="1571625"/>
                    </a:lnTo>
                    <a:close/>
                  </a:path>
                </a:pathLst>
              </a:custGeom>
              <a:gradFill>
                <a:gsLst>
                  <a:gs pos="0">
                    <a:srgbClr val="42140B">
                      <a:alpha val="92000"/>
                    </a:srgbClr>
                  </a:gs>
                  <a:gs pos="45000">
                    <a:srgbClr val="8C4336">
                      <a:alpha val="92000"/>
                    </a:srgbClr>
                  </a:gs>
                  <a:gs pos="100000">
                    <a:srgbClr val="E4B7AF">
                      <a:alpha val="92000"/>
                    </a:srgbClr>
                  </a:gs>
                </a:gsLst>
                <a:lin ang="2700000" scaled="1"/>
              </a:gradFill>
              <a:ln>
                <a:noFill/>
              </a:ln>
            </p:spPr>
          </p:sp>
          <p:sp>
            <p:nvSpPr>
              <p:cNvPr id="49" name="Polygon 49"/>
              <p:cNvSpPr/>
              <p:nvPr/>
            </p:nvSpPr>
            <p:spPr>
              <a:xfrm>
                <a:off x="4429125" y="2762250"/>
                <a:ext cx="1476375" cy="3143250"/>
              </a:xfrm>
              <a:custGeom>
                <a:avLst/>
                <a:gdLst/>
                <a:ahLst/>
                <a:cxnLst/>
                <a:rect l="l" t="t" r="r" b="b"/>
                <a:pathLst>
                  <a:path w="1476375" h="3143250">
                    <a:moveTo>
                      <a:pt x="1476375" y="0"/>
                    </a:moveTo>
                    <a:lnTo>
                      <a:pt x="0" y="1571625"/>
                    </a:lnTo>
                    <a:lnTo>
                      <a:pt x="1476375" y="3143250"/>
                    </a:lnTo>
                    <a:close/>
                  </a:path>
                </a:pathLst>
              </a:custGeom>
              <a:solidFill>
                <a:srgbClr val="42140B">
                  <a:alpha val="28000"/>
                </a:srgbClr>
              </a:solidFill>
              <a:ln>
                <a:noFill/>
              </a:ln>
            </p:spPr>
          </p:sp>
          <p:sp>
            <p:nvSpPr>
              <p:cNvPr id="50" name="Polygon 50"/>
              <p:cNvSpPr/>
              <p:nvPr/>
            </p:nvSpPr>
            <p:spPr>
              <a:xfrm>
                <a:off x="5086350" y="3352800"/>
                <a:ext cx="1638300" cy="1962150"/>
              </a:xfrm>
              <a:custGeom>
                <a:avLst/>
                <a:gdLst/>
                <a:ahLst/>
                <a:cxnLst/>
                <a:rect l="l" t="t" r="r" b="b"/>
                <a:pathLst>
                  <a:path w="1638300" h="1962150">
                    <a:moveTo>
                      <a:pt x="819150" y="0"/>
                    </a:moveTo>
                    <a:lnTo>
                      <a:pt x="1638300" y="981075"/>
                    </a:lnTo>
                    <a:lnTo>
                      <a:pt x="819150" y="1962150"/>
                    </a:lnTo>
                    <a:lnTo>
                      <a:pt x="0" y="981075"/>
                    </a:lnTo>
                    <a:close/>
                  </a:path>
                </a:pathLst>
              </a:custGeom>
              <a:noFill/>
              <a:ln w="9525">
                <a:solidFill>
                  <a:srgbClr val="FFFFFF">
                    <a:alpha val="55000"/>
                  </a:srgbClr>
                </a:solidFill>
              </a:ln>
            </p:spPr>
          </p:sp>
          <p:sp>
            <p:nvSpPr>
              <p:cNvPr id="51" name="Line 51"/>
              <p:cNvSpPr/>
              <p:nvPr/>
            </p:nvSpPr>
            <p:spPr>
              <a:xfrm>
                <a:off x="4429125" y="4333875"/>
                <a:ext cx="2952750" cy="9525"/>
              </a:xfrm>
              <a:custGeom>
                <a:avLst/>
                <a:gdLst/>
                <a:ahLst/>
                <a:cxnLst/>
                <a:rect l="l" t="t" r="r" b="b"/>
                <a:pathLst>
                  <a:path w="2952750" h="9525">
                    <a:moveTo>
                      <a:pt x="0" y="0"/>
                    </a:moveTo>
                    <a:lnTo>
                      <a:pt x="2952750" y="0"/>
                    </a:lnTo>
                  </a:path>
                </a:pathLst>
              </a:custGeom>
              <a:noFill/>
              <a:ln w="7620">
                <a:solidFill>
                  <a:srgbClr val="FFFFFF">
                    <a:alpha val="40000"/>
                  </a:srgbClr>
                </a:solidFill>
              </a:ln>
            </p:spPr>
          </p:sp>
          <p:sp>
            <p:nvSpPr>
              <p:cNvPr id="52" name="Ellipse 52"/>
              <p:cNvSpPr/>
              <p:nvPr/>
            </p:nvSpPr>
            <p:spPr>
              <a:xfrm>
                <a:off x="5743575" y="3648075"/>
                <a:ext cx="323850" cy="323850"/>
              </a:xfrm>
              <a:prstGeom prst="ellipse">
                <a:avLst/>
              </a:prstGeom>
              <a:solidFill>
                <a:srgbClr val="FFFFFF">
                  <a:alpha val="92000"/>
                </a:srgbClr>
              </a:solidFill>
              <a:ln>
                <a:noFill/>
              </a:ln>
            </p:spPr>
          </p:sp>
          <p:grpSp>
            <p:nvGrpSpPr>
              <p:cNvPr id="56" name="Group 56"/>
              <p:cNvGrpSpPr/>
              <p:nvPr/>
            </p:nvGrpSpPr>
            <p:grpSpPr>
              <a:xfrm>
                <a:off x="5848350" y="3745706"/>
                <a:ext cx="114300" cy="128588"/>
                <a:chOff x="5848350" y="3745706"/>
                <a:chExt cx="114300" cy="128588"/>
              </a:xfrm>
            </p:grpSpPr>
            <p:sp>
              <p:nvSpPr>
                <p:cNvPr id="53" name="Freeform 53"/>
                <p:cNvSpPr/>
                <p:nvPr/>
              </p:nvSpPr>
              <p:spPr>
                <a:xfrm>
                  <a:off x="5848350" y="374570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C3B2F"/>
                  </a:solidFill>
                </a:ln>
              </p:spPr>
            </p:sp>
            <p:sp>
              <p:nvSpPr>
                <p:cNvPr id="54" name="Freeform 54"/>
                <p:cNvSpPr/>
                <p:nvPr/>
              </p:nvSpPr>
              <p:spPr>
                <a:xfrm>
                  <a:off x="5848350" y="376713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C3B2F"/>
                  </a:solidFill>
                </a:ln>
              </p:spPr>
            </p:sp>
            <p:sp>
              <p:nvSpPr>
                <p:cNvPr id="55" name="Freeform 55"/>
                <p:cNvSpPr/>
                <p:nvPr/>
              </p:nvSpPr>
              <p:spPr>
                <a:xfrm>
                  <a:off x="5848350" y="381000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C3B2F"/>
                  </a:solidFill>
                </a:ln>
              </p:spPr>
            </p:sp>
          </p:grpSp>
          <p:sp>
            <p:nvSpPr>
              <p:cNvPr id="57" name="Ellipse 57"/>
              <p:cNvSpPr/>
              <p:nvPr/>
            </p:nvSpPr>
            <p:spPr>
              <a:xfrm>
                <a:off x="5743575" y="4171950"/>
                <a:ext cx="323850" cy="323850"/>
              </a:xfrm>
              <a:prstGeom prst="ellipse">
                <a:avLst/>
              </a:prstGeom>
              <a:solidFill>
                <a:srgbClr val="FFFFFF">
                  <a:alpha val="92000"/>
                </a:srgbClr>
              </a:solidFill>
              <a:ln>
                <a:noFill/>
              </a:ln>
            </p:spPr>
          </p:sp>
          <p:grpSp>
            <p:nvGrpSpPr>
              <p:cNvPr id="60" name="Group 60"/>
              <p:cNvGrpSpPr/>
              <p:nvPr/>
            </p:nvGrpSpPr>
            <p:grpSpPr>
              <a:xfrm>
                <a:off x="5831565" y="4269581"/>
                <a:ext cx="139505" cy="128588"/>
                <a:chOff x="5831565" y="4269581"/>
                <a:chExt cx="139505" cy="128588"/>
              </a:xfrm>
            </p:grpSpPr>
            <p:sp>
              <p:nvSpPr>
                <p:cNvPr id="58" name="Freeform 58"/>
                <p:cNvSpPr/>
                <p:nvPr/>
              </p:nvSpPr>
              <p:spPr>
                <a:xfrm>
                  <a:off x="5831565" y="426958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7C3B2F"/>
                  </a:solidFill>
                </a:ln>
              </p:spPr>
            </p:sp>
            <p:sp>
              <p:nvSpPr>
                <p:cNvPr id="59" name="Freeform 59"/>
                <p:cNvSpPr/>
                <p:nvPr/>
              </p:nvSpPr>
              <p:spPr>
                <a:xfrm>
                  <a:off x="5926931" y="4369594"/>
                  <a:ext cx="42862" cy="28575"/>
                </a:xfrm>
                <a:custGeom>
                  <a:avLst/>
                  <a:gdLst/>
                  <a:ahLst/>
                  <a:cxnLst/>
                  <a:rect l="l" t="t" r="r" b="b"/>
                  <a:pathLst>
                    <a:path w="42862" h="28575">
                      <a:moveTo>
                        <a:pt x="0" y="14288"/>
                      </a:moveTo>
                      <a:lnTo>
                        <a:pt x="14288" y="28575"/>
                      </a:lnTo>
                      <a:lnTo>
                        <a:pt x="42862" y="0"/>
                      </a:lnTo>
                    </a:path>
                  </a:pathLst>
                </a:custGeom>
                <a:noFill/>
                <a:ln w="14288">
                  <a:solidFill>
                    <a:srgbClr val="7C3B2F"/>
                  </a:solidFill>
                </a:ln>
              </p:spPr>
            </p:sp>
          </p:grpSp>
          <p:sp>
            <p:nvSpPr>
              <p:cNvPr id="61" name="Ellipse 61"/>
              <p:cNvSpPr/>
              <p:nvPr/>
            </p:nvSpPr>
            <p:spPr>
              <a:xfrm>
                <a:off x="5743575" y="4695825"/>
                <a:ext cx="323850" cy="323850"/>
              </a:xfrm>
              <a:prstGeom prst="ellipse">
                <a:avLst/>
              </a:prstGeom>
              <a:solidFill>
                <a:srgbClr val="FFFFFF">
                  <a:alpha val="92000"/>
                </a:srgbClr>
              </a:solidFill>
              <a:ln>
                <a:noFill/>
              </a:ln>
            </p:spPr>
          </p:sp>
          <p:grpSp>
            <p:nvGrpSpPr>
              <p:cNvPr id="67" name="Group 67"/>
              <p:cNvGrpSpPr/>
              <p:nvPr/>
            </p:nvGrpSpPr>
            <p:grpSpPr>
              <a:xfrm>
                <a:off x="5841206" y="4793456"/>
                <a:ext cx="128587" cy="128587"/>
                <a:chOff x="5841206" y="4793456"/>
                <a:chExt cx="128587" cy="128587"/>
              </a:xfrm>
            </p:grpSpPr>
            <p:sp>
              <p:nvSpPr>
                <p:cNvPr id="62" name="Freeform 62"/>
                <p:cNvSpPr/>
                <p:nvPr/>
              </p:nvSpPr>
              <p:spPr>
                <a:xfrm>
                  <a:off x="5841206" y="487918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C3B2F"/>
                  </a:solidFill>
                </a:ln>
              </p:spPr>
            </p:sp>
            <p:sp>
              <p:nvSpPr>
                <p:cNvPr id="63" name="Freeform 63"/>
                <p:cNvSpPr/>
                <p:nvPr/>
              </p:nvSpPr>
              <p:spPr>
                <a:xfrm>
                  <a:off x="5926931" y="487918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C3B2F"/>
                  </a:solidFill>
                </a:ln>
              </p:spPr>
            </p:sp>
            <p:sp>
              <p:nvSpPr>
                <p:cNvPr id="64" name="Freeform 64"/>
                <p:cNvSpPr/>
                <p:nvPr/>
              </p:nvSpPr>
              <p:spPr>
                <a:xfrm>
                  <a:off x="5884069" y="479345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C3B2F"/>
                  </a:solidFill>
                </a:ln>
              </p:spPr>
            </p:sp>
            <p:sp>
              <p:nvSpPr>
                <p:cNvPr id="65" name="Freeform 65"/>
                <p:cNvSpPr/>
                <p:nvPr/>
              </p:nvSpPr>
              <p:spPr>
                <a:xfrm>
                  <a:off x="5862638" y="4857750"/>
                  <a:ext cx="85725" cy="21431"/>
                </a:xfrm>
                <a:custGeom>
                  <a:avLst/>
                  <a:gdLst/>
                  <a:ahLst/>
                  <a:cxnLst/>
                  <a:rect l="l" t="t" r="r" b="b"/>
                  <a:pathLst>
                    <a:path w="85725" h="21431">
                      <a:moveTo>
                        <a:pt x="0" y="21431"/>
                      </a:moveTo>
                      <a:lnTo>
                        <a:pt x="0" y="14288"/>
                      </a:lnTo>
                      <a:cubicBezTo>
                        <a:pt x="0" y="6397"/>
                        <a:pt x="6397" y="0"/>
                        <a:pt x="14288" y="0"/>
                      </a:cubicBezTo>
                      <a:lnTo>
                        <a:pt x="71438" y="0"/>
                      </a:lnTo>
                      <a:cubicBezTo>
                        <a:pt x="79328" y="0"/>
                        <a:pt x="85725" y="6397"/>
                        <a:pt x="85725" y="14288"/>
                      </a:cubicBezTo>
                      <a:lnTo>
                        <a:pt x="85725" y="21431"/>
                      </a:lnTo>
                    </a:path>
                  </a:pathLst>
                </a:custGeom>
                <a:noFill/>
                <a:ln w="14288">
                  <a:solidFill>
                    <a:srgbClr val="7C3B2F"/>
                  </a:solidFill>
                </a:ln>
              </p:spPr>
            </p:sp>
            <p:sp>
              <p:nvSpPr>
                <p:cNvPr id="66" name="Freeform 66"/>
                <p:cNvSpPr/>
                <p:nvPr/>
              </p:nvSpPr>
              <p:spPr>
                <a:xfrm>
                  <a:off x="5905500" y="4836319"/>
                  <a:ext cx="9525" cy="21431"/>
                </a:xfrm>
                <a:custGeom>
                  <a:avLst/>
                  <a:gdLst/>
                  <a:ahLst/>
                  <a:cxnLst/>
                  <a:rect l="l" t="t" r="r" b="b"/>
                  <a:pathLst>
                    <a:path w="9525" h="21431">
                      <a:moveTo>
                        <a:pt x="0" y="0"/>
                      </a:moveTo>
                      <a:lnTo>
                        <a:pt x="0" y="21431"/>
                      </a:lnTo>
                    </a:path>
                  </a:pathLst>
                </a:custGeom>
                <a:noFill/>
                <a:ln w="14288">
                  <a:solidFill>
                    <a:srgbClr val="7C3B2F"/>
                  </a:solidFill>
                </a:ln>
              </p:spPr>
            </p:sp>
          </p:grpSp>
        </p:grpSp>
        <p:grpSp>
          <p:nvGrpSpPr>
            <p:cNvPr id="78" name="output-beam"/>
            <p:cNvGrpSpPr/>
            <p:nvPr/>
          </p:nvGrpSpPr>
          <p:grpSpPr>
            <a:xfrm>
              <a:off x="7362825" y="3962400"/>
              <a:ext cx="2218563" cy="838200"/>
              <a:chOff x="7362825" y="3962400"/>
              <a:chExt cx="2218563" cy="838200"/>
            </a:xfrm>
          </p:grpSpPr>
          <p:sp>
            <p:nvSpPr>
              <p:cNvPr id="69" name="Polygon 69"/>
              <p:cNvSpPr/>
              <p:nvPr/>
            </p:nvSpPr>
            <p:spPr>
              <a:xfrm>
                <a:off x="7362825" y="4200525"/>
                <a:ext cx="1057275" cy="361950"/>
              </a:xfrm>
              <a:custGeom>
                <a:avLst/>
                <a:gdLst/>
                <a:ahLst/>
                <a:cxnLst/>
                <a:rect l="l" t="t" r="r" b="b"/>
                <a:pathLst>
                  <a:path w="1057275" h="361950">
                    <a:moveTo>
                      <a:pt x="0" y="57150"/>
                    </a:moveTo>
                    <a:lnTo>
                      <a:pt x="1057275" y="0"/>
                    </a:lnTo>
                    <a:lnTo>
                      <a:pt x="1057275" y="361950"/>
                    </a:lnTo>
                    <a:lnTo>
                      <a:pt x="0" y="209550"/>
                    </a:lnTo>
                    <a:close/>
                  </a:path>
                </a:pathLst>
              </a:custGeom>
              <a:gradFill>
                <a:gsLst>
                  <a:gs pos="0">
                    <a:srgbClr val="9A4B3C">
                      <a:alpha val="55000"/>
                    </a:srgbClr>
                  </a:gs>
                  <a:gs pos="100000">
                    <a:srgbClr val="9A4B3C">
                      <a:alpha val="8000"/>
                    </a:srgbClr>
                  </a:gs>
                </a:gsLst>
                <a:lin ang="0" scaled="1"/>
              </a:gradFill>
              <a:ln>
                <a:noFill/>
              </a:ln>
            </p:spPr>
          </p:sp>
          <p:sp>
            <p:nvSpPr>
              <p:cNvPr id="70" name="Ellipse 70"/>
              <p:cNvSpPr/>
              <p:nvPr/>
            </p:nvSpPr>
            <p:spPr>
              <a:xfrm>
                <a:off x="7962900" y="3962400"/>
                <a:ext cx="838200" cy="838200"/>
              </a:xfrm>
              <a:prstGeom prst="ellipse">
                <a:avLst/>
              </a:prstGeom>
              <a:solidFill>
                <a:srgbClr val="FFFFFF"/>
              </a:solidFill>
              <a:ln w="19050">
                <a:solidFill>
                  <a:srgbClr val="7C3B2F"/>
                </a:solidFill>
              </a:ln>
            </p:spPr>
          </p:sp>
          <p:sp>
            <p:nvSpPr>
              <p:cNvPr id="71" name="Freeform 71"/>
              <p:cNvSpPr/>
              <p:nvPr/>
            </p:nvSpPr>
            <p:spPr>
              <a:xfrm>
                <a:off x="8382000" y="4032135"/>
                <a:ext cx="377369" cy="520815"/>
              </a:xfrm>
              <a:custGeom>
                <a:avLst/>
                <a:gdLst/>
                <a:ahLst/>
                <a:cxnLst/>
                <a:rect l="l" t="t" r="r" b="b"/>
                <a:pathLst>
                  <a:path w="377369" h="520815">
                    <a:moveTo>
                      <a:pt x="0" y="6465"/>
                    </a:moveTo>
                    <a:cubicBezTo>
                      <a:pt x="125590" y="0"/>
                      <a:pt x="244642" y="62801"/>
                      <a:pt x="310217" y="170106"/>
                    </a:cubicBezTo>
                    <a:cubicBezTo>
                      <a:pt x="375793" y="277411"/>
                      <a:pt x="377369" y="412003"/>
                      <a:pt x="314325" y="520815"/>
                    </a:cubicBezTo>
                  </a:path>
                </a:pathLst>
              </a:custGeom>
              <a:noFill/>
              <a:ln w="19050">
                <a:solidFill>
                  <a:srgbClr val="BE776A"/>
                </a:solidFill>
                <a:custDash>
                  <a:ds d="300000" sp="250000"/>
                </a:custDash>
              </a:ln>
            </p:spPr>
          </p:sp>
          <p:sp>
            <p:nvSpPr>
              <p:cNvPr id="72" name="Freeform 72"/>
              <p:cNvSpPr/>
              <p:nvPr/>
            </p:nvSpPr>
            <p:spPr>
              <a:xfrm>
                <a:off x="8004631" y="4210050"/>
                <a:ext cx="377369" cy="520815"/>
              </a:xfrm>
              <a:custGeom>
                <a:avLst/>
                <a:gdLst/>
                <a:ahLst/>
                <a:cxnLst/>
                <a:rect l="l" t="t" r="r" b="b"/>
                <a:pathLst>
                  <a:path w="377369" h="520815">
                    <a:moveTo>
                      <a:pt x="377369" y="514350"/>
                    </a:moveTo>
                    <a:cubicBezTo>
                      <a:pt x="251780" y="520815"/>
                      <a:pt x="132727" y="458014"/>
                      <a:pt x="67152" y="350709"/>
                    </a:cubicBezTo>
                    <a:cubicBezTo>
                      <a:pt x="1576" y="243403"/>
                      <a:pt x="0" y="108812"/>
                      <a:pt x="63044" y="0"/>
                    </a:cubicBezTo>
                  </a:path>
                </a:pathLst>
              </a:custGeom>
              <a:noFill/>
              <a:ln w="19050">
                <a:solidFill>
                  <a:srgbClr val="E4B7AF"/>
                </a:solidFill>
                <a:custDash>
                  <a:ds d="300000" sp="250000"/>
                </a:custDash>
              </a:ln>
            </p:spPr>
          </p:sp>
          <p:grpSp>
            <p:nvGrpSpPr>
              <p:cNvPr id="75" name="Group 75"/>
              <p:cNvGrpSpPr/>
              <p:nvPr/>
            </p:nvGrpSpPr>
            <p:grpSpPr>
              <a:xfrm>
                <a:off x="8274050" y="4300538"/>
                <a:ext cx="215901" cy="184944"/>
                <a:chOff x="8274050" y="4300538"/>
                <a:chExt cx="215901" cy="184944"/>
              </a:xfrm>
            </p:grpSpPr>
            <p:sp>
              <p:nvSpPr>
                <p:cNvPr id="73" name="Freeform 73"/>
                <p:cNvSpPr/>
                <p:nvPr/>
              </p:nvSpPr>
              <p:spPr>
                <a:xfrm>
                  <a:off x="8274050" y="4475957"/>
                  <a:ext cx="215901" cy="9525"/>
                </a:xfrm>
                <a:custGeom>
                  <a:avLst/>
                  <a:gdLst/>
                  <a:ahLst/>
                  <a:cxnLst/>
                  <a:rect l="l" t="t" r="r" b="b"/>
                  <a:pathLst>
                    <a:path w="215901" h="9525">
                      <a:moveTo>
                        <a:pt x="0" y="0"/>
                      </a:moveTo>
                      <a:lnTo>
                        <a:pt x="215901" y="0"/>
                      </a:lnTo>
                    </a:path>
                  </a:pathLst>
                </a:custGeom>
                <a:noFill/>
                <a:ln w="26988">
                  <a:solidFill>
                    <a:srgbClr val="7C3B2F"/>
                  </a:solidFill>
                </a:ln>
              </p:spPr>
            </p:sp>
            <p:sp>
              <p:nvSpPr>
                <p:cNvPr id="74" name="Freeform 74"/>
                <p:cNvSpPr/>
                <p:nvPr/>
              </p:nvSpPr>
              <p:spPr>
                <a:xfrm>
                  <a:off x="8274050" y="4300538"/>
                  <a:ext cx="215901" cy="121444"/>
                </a:xfrm>
                <a:custGeom>
                  <a:avLst/>
                  <a:gdLst/>
                  <a:ahLst/>
                  <a:cxnLst/>
                  <a:rect l="l" t="t" r="r" b="b"/>
                  <a:pathLst>
                    <a:path w="215901" h="121444">
                      <a:moveTo>
                        <a:pt x="0" y="121444"/>
                      </a:moveTo>
                      <a:lnTo>
                        <a:pt x="53975" y="40481"/>
                      </a:lnTo>
                      <a:lnTo>
                        <a:pt x="107950" y="67469"/>
                      </a:lnTo>
                      <a:lnTo>
                        <a:pt x="161925" y="0"/>
                      </a:lnTo>
                      <a:lnTo>
                        <a:pt x="215901" y="53975"/>
                      </a:lnTo>
                    </a:path>
                  </a:pathLst>
                </a:custGeom>
                <a:noFill/>
                <a:ln w="26988">
                  <a:solidFill>
                    <a:srgbClr val="7C3B2F"/>
                  </a:solidFill>
                </a:ln>
              </p:spPr>
            </p:sp>
          </p:grpSp>
          <p:sp>
            <p:nvSpPr>
              <p:cNvPr id="76" name="TextBox 76"/>
              <p:cNvSpPr txBox="1"/>
              <p:nvPr/>
            </p:nvSpPr>
            <p:spPr>
              <a:xfrm>
                <a:off x="9005316" y="4172902"/>
                <a:ext cx="576072" cy="205359"/>
              </a:xfrm>
              <a:prstGeom prst="rect">
                <a:avLst/>
              </a:prstGeom>
              <a:noFill/>
              <a:ln>
                <a:noFill/>
              </a:ln>
            </p:spPr>
            <p:txBody>
              <a:bodyPr wrap="none" lIns="0" tIns="0" rIns="0" bIns="0" anchor="t" anchorCtr="0">
                <a:spAutoFit/>
              </a:bodyPr>
              <a:lstStyle/>
              <a:p>
                <a:pPr algn="l"/>
                <a:r>
                  <a:rPr lang="zh-CN" sz="1050" b="1" dirty="0">
                    <a:solidFill>
                      <a:srgbClr val="42140B"/>
                    </a:solidFill>
                    <a:latin typeface="+mn-lt"/>
                    <a:ea typeface="+mn-ea"/>
                    <a:cs typeface="+mn-cs"/>
                  </a:rPr>
                  <a:t>精准洞察</a:t>
                </a:r>
              </a:p>
            </p:txBody>
          </p:sp>
          <p:sp>
            <p:nvSpPr>
              <p:cNvPr id="77" name="TextBox 77"/>
              <p:cNvSpPr txBox="1"/>
              <p:nvPr/>
            </p:nvSpPr>
            <p:spPr>
              <a:xfrm>
                <a:off x="9005316" y="4401502"/>
                <a:ext cx="576072" cy="205359"/>
              </a:xfrm>
              <a:prstGeom prst="rect">
                <a:avLst/>
              </a:prstGeom>
              <a:noFill/>
              <a:ln>
                <a:noFill/>
              </a:ln>
            </p:spPr>
            <p:txBody>
              <a:bodyPr wrap="none" lIns="0" tIns="0" rIns="0" bIns="0" anchor="t" anchorCtr="0">
                <a:spAutoFit/>
              </a:bodyPr>
              <a:lstStyle/>
              <a:p>
                <a:pPr algn="l"/>
                <a:r>
                  <a:rPr lang="zh-CN" sz="1050" b="1" dirty="0">
                    <a:solidFill>
                      <a:srgbClr val="42140B"/>
                    </a:solidFill>
                    <a:latin typeface="+mn-lt"/>
                    <a:ea typeface="+mn-ea"/>
                    <a:cs typeface="+mn-cs"/>
                  </a:rPr>
                  <a:t>驱动决策</a:t>
                </a:r>
              </a:p>
            </p:txBody>
          </p:sp>
        </p:grpSp>
      </p:grpSp>
      <p:grpSp>
        <p:nvGrpSpPr>
          <p:cNvPr id="85" name="cover-caption"/>
          <p:cNvGrpSpPr/>
          <p:nvPr/>
        </p:nvGrpSpPr>
        <p:grpSpPr>
          <a:xfrm>
            <a:off x="3143250" y="6294120"/>
            <a:ext cx="5905500" cy="176212"/>
            <a:chOff x="3143250" y="6294120"/>
            <a:chExt cx="5905500" cy="176212"/>
          </a:xfrm>
        </p:grpSpPr>
        <p:sp>
          <p:nvSpPr>
            <p:cNvPr id="80" name="Line 80"/>
            <p:cNvSpPr/>
            <p:nvPr/>
          </p:nvSpPr>
          <p:spPr>
            <a:xfrm>
              <a:off x="3143250" y="6343650"/>
              <a:ext cx="1047750" cy="9525"/>
            </a:xfrm>
            <a:custGeom>
              <a:avLst/>
              <a:gdLst/>
              <a:ahLst/>
              <a:cxnLst/>
              <a:rect l="l" t="t" r="r" b="b"/>
              <a:pathLst>
                <a:path w="1047750" h="9525">
                  <a:moveTo>
                    <a:pt x="0" y="0"/>
                  </a:moveTo>
                  <a:lnTo>
                    <a:pt x="1047750" y="0"/>
                  </a:lnTo>
                </a:path>
              </a:pathLst>
            </a:custGeom>
            <a:noFill/>
            <a:ln w="9525">
              <a:solidFill>
                <a:srgbClr val="E0BBB4"/>
              </a:solidFill>
            </a:ln>
          </p:spPr>
        </p:sp>
        <p:sp>
          <p:nvSpPr>
            <p:cNvPr id="81" name="Ellipse 81"/>
            <p:cNvSpPr/>
            <p:nvPr/>
          </p:nvSpPr>
          <p:spPr>
            <a:xfrm>
              <a:off x="4224338" y="6319838"/>
              <a:ext cx="47625" cy="47625"/>
            </a:xfrm>
            <a:prstGeom prst="ellipse">
              <a:avLst/>
            </a:prstGeom>
            <a:solidFill>
              <a:srgbClr val="BE776A"/>
            </a:solidFill>
            <a:ln>
              <a:noFill/>
            </a:ln>
          </p:spPr>
        </p:sp>
        <p:sp>
          <p:nvSpPr>
            <p:cNvPr id="82" name="TextBox 82"/>
            <p:cNvSpPr txBox="1"/>
            <p:nvPr/>
          </p:nvSpPr>
          <p:spPr>
            <a:xfrm>
              <a:off x="4301147" y="6294120"/>
              <a:ext cx="3589706" cy="176212"/>
            </a:xfrm>
            <a:prstGeom prst="rect">
              <a:avLst/>
            </a:prstGeom>
            <a:noFill/>
            <a:ln>
              <a:noFill/>
            </a:ln>
          </p:spPr>
          <p:txBody>
            <a:bodyPr wrap="none" lIns="0" tIns="0" rIns="0" bIns="0" anchor="t" anchorCtr="0">
              <a:spAutoFit/>
            </a:bodyPr>
            <a:lstStyle/>
            <a:p>
              <a:pPr algn="ctr"/>
              <a:r>
                <a:rPr lang="en-US" sz="900" spc="300" dirty="0">
                  <a:solidFill>
                    <a:srgbClr val="66705F"/>
                  </a:solidFill>
                  <a:latin typeface="+mn-lt"/>
                  <a:ea typeface="+mn-ea"/>
                  <a:cs typeface="+mn-cs"/>
                </a:rPr>
                <a:t>ENTERPRISE KNOWLEDGE INTELLIGENCE</a:t>
              </a:r>
            </a:p>
          </p:txBody>
        </p:sp>
        <p:sp>
          <p:nvSpPr>
            <p:cNvPr id="83" name="Ellipse 83"/>
            <p:cNvSpPr/>
            <p:nvPr/>
          </p:nvSpPr>
          <p:spPr>
            <a:xfrm>
              <a:off x="7920038" y="6319838"/>
              <a:ext cx="47625" cy="47625"/>
            </a:xfrm>
            <a:prstGeom prst="ellipse">
              <a:avLst/>
            </a:prstGeom>
            <a:solidFill>
              <a:srgbClr val="BE776A"/>
            </a:solidFill>
            <a:ln>
              <a:noFill/>
            </a:ln>
          </p:spPr>
        </p:sp>
        <p:sp>
          <p:nvSpPr>
            <p:cNvPr id="84" name="Line 84"/>
            <p:cNvSpPr/>
            <p:nvPr/>
          </p:nvSpPr>
          <p:spPr>
            <a:xfrm>
              <a:off x="8001000" y="6343650"/>
              <a:ext cx="1047750" cy="9525"/>
            </a:xfrm>
            <a:custGeom>
              <a:avLst/>
              <a:gdLst/>
              <a:ahLst/>
              <a:cxnLst/>
              <a:rect l="l" t="t" r="r" b="b"/>
              <a:pathLst>
                <a:path w="1047750" h="9525">
                  <a:moveTo>
                    <a:pt x="0" y="0"/>
                  </a:moveTo>
                  <a:lnTo>
                    <a:pt x="1047750" y="0"/>
                  </a:lnTo>
                </a:path>
              </a:pathLst>
            </a:custGeom>
            <a:noFill/>
            <a:ln w="9525">
              <a:solidFill>
                <a:srgbClr val="E0BBB4"/>
              </a:solidFill>
            </a:ln>
          </p:spPr>
        </p:sp>
      </p:gr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2"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01</a:t>
              </a:r>
            </a:p>
          </p:txBody>
        </p:sp>
        <p:sp>
          <p:nvSpPr>
            <p:cNvPr id="4" name="TextBox 4"/>
            <p:cNvSpPr txBox="1"/>
            <p:nvPr/>
          </p:nvSpPr>
          <p:spPr>
            <a:xfrm>
              <a:off x="942594" y="151448"/>
              <a:ext cx="67196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企业知识正在从</a:t>
              </a:r>
              <a:r>
                <a:rPr lang="zh-CN" sz="1950" b="1" dirty="0">
                  <a:solidFill>
                    <a:srgbClr val="42140B"/>
                  </a:solidFill>
                  <a:latin typeface="SimSun"/>
                  <a:ea typeface="SimSun"/>
                  <a:cs typeface="SimSun"/>
                </a:rPr>
                <a:t>“文档库存”</a:t>
              </a:r>
              <a:r>
                <a:rPr lang="zh-CN" sz="1950" b="1" dirty="0">
                  <a:solidFill>
                    <a:srgbClr val="1A1A1A"/>
                  </a:solidFill>
                  <a:latin typeface="SimSun"/>
                  <a:ea typeface="SimSun"/>
                  <a:cs typeface="SimSun"/>
                </a:rPr>
                <a:t>升级为</a:t>
              </a:r>
              <a:r>
                <a:rPr lang="zh-CN" sz="1950" b="1" dirty="0">
                  <a:solidFill>
                    <a:srgbClr val="7C3B2F"/>
                  </a:solidFill>
                  <a:latin typeface="SimSun"/>
                  <a:ea typeface="SimSun"/>
                  <a:cs typeface="SimSun"/>
                </a:rPr>
                <a:t>可调用的智能生产力</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sp>
          <p:nvSpPr>
            <p:cNvPr id="6" name="TextBox 6"/>
            <p:cNvSpPr txBox="1"/>
            <p:nvPr/>
          </p:nvSpPr>
          <p:spPr>
            <a:xfrm>
              <a:off x="10487025" y="90488"/>
              <a:ext cx="514350" cy="147638"/>
            </a:xfrm>
            <a:prstGeom prst="rect">
              <a:avLst/>
            </a:prstGeom>
            <a:noFill/>
            <a:ln>
              <a:noFill/>
            </a:ln>
          </p:spPr>
          <p:txBody>
            <a:bodyPr wrap="none" lIns="0" tIns="0" rIns="0" bIns="0" anchor="t" anchorCtr="0">
              <a:spAutoFit/>
            </a:bodyPr>
            <a:lstStyle/>
            <a:p>
              <a:pPr algn="ctr"/>
              <a:r>
                <a:rPr lang="zh-CN" sz="750" dirty="0">
                  <a:solidFill>
                    <a:srgbClr val="66705F"/>
                  </a:solidFill>
                  <a:latin typeface="+mn-lt"/>
                  <a:ea typeface="+mn-ea"/>
                  <a:cs typeface="+mn-cs"/>
                </a:rPr>
                <a:t>带来的价值</a:t>
              </a:r>
            </a:p>
          </p:txBody>
        </p:sp>
        <p:sp>
          <p:nvSpPr>
            <p:cNvPr id="7" name="Rectangle 7"/>
            <p:cNvSpPr/>
            <p:nvPr/>
          </p:nvSpPr>
          <p:spPr>
            <a:xfrm>
              <a:off x="8153400" y="247650"/>
              <a:ext cx="1123950" cy="247650"/>
            </a:xfrm>
            <a:prstGeom prst="roundRect">
              <a:avLst>
                <a:gd name="adj" fmla="val 50000"/>
              </a:avLst>
            </a:prstGeom>
            <a:solidFill>
              <a:srgbClr val="FFFFFF"/>
            </a:solidFill>
            <a:ln w="9525">
              <a:solidFill>
                <a:srgbClr val="BE776A"/>
              </a:solidFill>
            </a:ln>
          </p:spPr>
        </p:sp>
        <p:grpSp>
          <p:nvGrpSpPr>
            <p:cNvPr id="10" name="Group 10"/>
            <p:cNvGrpSpPr/>
            <p:nvPr/>
          </p:nvGrpSpPr>
          <p:grpSpPr>
            <a:xfrm>
              <a:off x="8265319" y="321469"/>
              <a:ext cx="100012" cy="100012"/>
              <a:chOff x="8265319" y="321469"/>
              <a:chExt cx="100012" cy="100012"/>
            </a:xfrm>
          </p:grpSpPr>
          <p:sp>
            <p:nvSpPr>
              <p:cNvPr id="8" name="Freeform 8"/>
              <p:cNvSpPr/>
              <p:nvPr/>
            </p:nvSpPr>
            <p:spPr>
              <a:xfrm>
                <a:off x="8265319" y="321469"/>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7C3B2F"/>
                </a:solidFill>
              </a:ln>
            </p:spPr>
          </p:sp>
          <p:sp>
            <p:nvSpPr>
              <p:cNvPr id="9" name="Freeform 9"/>
              <p:cNvSpPr/>
              <p:nvPr/>
            </p:nvSpPr>
            <p:spPr>
              <a:xfrm>
                <a:off x="8331994" y="388144"/>
                <a:ext cx="33337" cy="33337"/>
              </a:xfrm>
              <a:custGeom>
                <a:avLst/>
                <a:gdLst/>
                <a:ahLst/>
                <a:cxnLst/>
                <a:rect l="l" t="t" r="r" b="b"/>
                <a:pathLst>
                  <a:path w="33337" h="33337">
                    <a:moveTo>
                      <a:pt x="33337" y="33337"/>
                    </a:moveTo>
                    <a:lnTo>
                      <a:pt x="0" y="0"/>
                    </a:lnTo>
                  </a:path>
                </a:pathLst>
              </a:custGeom>
              <a:noFill/>
              <a:ln w="11112">
                <a:solidFill>
                  <a:srgbClr val="7C3B2F"/>
                </a:solidFill>
              </a:ln>
            </p:spPr>
          </p:sp>
        </p:grpSp>
        <p:sp>
          <p:nvSpPr>
            <p:cNvPr id="11" name="TextBox 11"/>
            <p:cNvSpPr txBox="1"/>
            <p:nvPr/>
          </p:nvSpPr>
          <p:spPr>
            <a:xfrm>
              <a:off x="8859355" y="330041"/>
              <a:ext cx="340690" cy="161925"/>
            </a:xfrm>
            <a:prstGeom prst="rect">
              <a:avLst/>
            </a:prstGeom>
            <a:noFill/>
            <a:ln>
              <a:noFill/>
            </a:ln>
          </p:spPr>
          <p:txBody>
            <a:bodyPr wrap="none" lIns="0" tIns="0" rIns="0" bIns="0" anchor="t" anchorCtr="0">
              <a:spAutoFit/>
            </a:bodyPr>
            <a:lstStyle/>
            <a:p>
              <a:pPr algn="ctr"/>
              <a:r>
                <a:rPr lang="zh-CN" sz="820" dirty="0">
                  <a:solidFill>
                    <a:srgbClr val="3A4238"/>
                  </a:solidFill>
                  <a:latin typeface="+mn-lt"/>
                  <a:ea typeface="+mn-ea"/>
                  <a:cs typeface="+mn-cs"/>
                </a:rPr>
                <a:t>查得到</a:t>
              </a:r>
            </a:p>
          </p:txBody>
        </p:sp>
        <p:sp>
          <p:nvSpPr>
            <p:cNvPr id="12" name="Rectangle 12"/>
            <p:cNvSpPr/>
            <p:nvPr/>
          </p:nvSpPr>
          <p:spPr>
            <a:xfrm>
              <a:off x="9353550" y="247650"/>
              <a:ext cx="1123950" cy="247650"/>
            </a:xfrm>
            <a:prstGeom prst="roundRect">
              <a:avLst>
                <a:gd name="adj" fmla="val 50000"/>
              </a:avLst>
            </a:prstGeom>
            <a:solidFill>
              <a:srgbClr val="FFFFFF"/>
            </a:solidFill>
            <a:ln w="9525">
              <a:solidFill>
                <a:srgbClr val="BE776A"/>
              </a:solidFill>
            </a:ln>
          </p:spPr>
        </p:sp>
        <p:grpSp>
          <p:nvGrpSpPr>
            <p:cNvPr id="15" name="Group 15"/>
            <p:cNvGrpSpPr/>
            <p:nvPr/>
          </p:nvGrpSpPr>
          <p:grpSpPr>
            <a:xfrm>
              <a:off x="9465469" y="321469"/>
              <a:ext cx="100012" cy="100012"/>
              <a:chOff x="9465469" y="321469"/>
              <a:chExt cx="100012" cy="100012"/>
            </a:xfrm>
          </p:grpSpPr>
          <p:sp>
            <p:nvSpPr>
              <p:cNvPr id="13" name="Freeform 13"/>
              <p:cNvSpPr/>
              <p:nvPr/>
            </p:nvSpPr>
            <p:spPr>
              <a:xfrm>
                <a:off x="9465469" y="3214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C3B2F"/>
                </a:solidFill>
              </a:ln>
            </p:spPr>
          </p:sp>
          <p:sp>
            <p:nvSpPr>
              <p:cNvPr id="14" name="Freeform 14"/>
              <p:cNvSpPr/>
              <p:nvPr/>
            </p:nvSpPr>
            <p:spPr>
              <a:xfrm>
                <a:off x="9498806" y="360362"/>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16" name="TextBox 16"/>
            <p:cNvSpPr txBox="1"/>
            <p:nvPr/>
          </p:nvSpPr>
          <p:spPr>
            <a:xfrm>
              <a:off x="10059505" y="330041"/>
              <a:ext cx="340690" cy="161925"/>
            </a:xfrm>
            <a:prstGeom prst="rect">
              <a:avLst/>
            </a:prstGeom>
            <a:noFill/>
            <a:ln>
              <a:noFill/>
            </a:ln>
          </p:spPr>
          <p:txBody>
            <a:bodyPr wrap="none" lIns="0" tIns="0" rIns="0" bIns="0" anchor="t" anchorCtr="0">
              <a:spAutoFit/>
            </a:bodyPr>
            <a:lstStyle/>
            <a:p>
              <a:pPr algn="ctr"/>
              <a:r>
                <a:rPr lang="zh-CN" sz="820" dirty="0">
                  <a:solidFill>
                    <a:srgbClr val="3A4238"/>
                  </a:solidFill>
                  <a:latin typeface="+mn-lt"/>
                  <a:ea typeface="+mn-ea"/>
                  <a:cs typeface="+mn-cs"/>
                </a:rPr>
                <a:t>答得准</a:t>
              </a:r>
            </a:p>
          </p:txBody>
        </p:sp>
        <p:sp>
          <p:nvSpPr>
            <p:cNvPr id="17" name="Rectangle 17"/>
            <p:cNvSpPr/>
            <p:nvPr/>
          </p:nvSpPr>
          <p:spPr>
            <a:xfrm>
              <a:off x="10553700" y="247650"/>
              <a:ext cx="1123950" cy="247650"/>
            </a:xfrm>
            <a:prstGeom prst="roundRect">
              <a:avLst>
                <a:gd name="adj" fmla="val 50000"/>
              </a:avLst>
            </a:prstGeom>
            <a:solidFill>
              <a:srgbClr val="FFFFFF"/>
            </a:solidFill>
            <a:ln w="9525">
              <a:solidFill>
                <a:srgbClr val="BE776A"/>
              </a:solidFill>
            </a:ln>
          </p:spPr>
        </p:sp>
        <p:grpSp>
          <p:nvGrpSpPr>
            <p:cNvPr id="20" name="Group 20"/>
            <p:cNvGrpSpPr/>
            <p:nvPr/>
          </p:nvGrpSpPr>
          <p:grpSpPr>
            <a:xfrm>
              <a:off x="10671175" y="338137"/>
              <a:ext cx="88900" cy="81757"/>
              <a:chOff x="10671175" y="338137"/>
              <a:chExt cx="88900" cy="81757"/>
            </a:xfrm>
          </p:grpSpPr>
          <p:sp>
            <p:nvSpPr>
              <p:cNvPr id="18" name="Freeform 18"/>
              <p:cNvSpPr/>
              <p:nvPr/>
            </p:nvSpPr>
            <p:spPr>
              <a:xfrm>
                <a:off x="10671175" y="410369"/>
                <a:ext cx="88900" cy="9525"/>
              </a:xfrm>
              <a:custGeom>
                <a:avLst/>
                <a:gdLst/>
                <a:ahLst/>
                <a:cxnLst/>
                <a:rect l="l" t="t" r="r" b="b"/>
                <a:pathLst>
                  <a:path w="88900" h="9525">
                    <a:moveTo>
                      <a:pt x="0" y="0"/>
                    </a:moveTo>
                    <a:lnTo>
                      <a:pt x="88900" y="0"/>
                    </a:lnTo>
                  </a:path>
                </a:pathLst>
              </a:custGeom>
              <a:noFill/>
              <a:ln w="11112">
                <a:solidFill>
                  <a:srgbClr val="7C3B2F"/>
                </a:solidFill>
              </a:ln>
            </p:spPr>
          </p:sp>
          <p:sp>
            <p:nvSpPr>
              <p:cNvPr id="19" name="Freeform 19"/>
              <p:cNvSpPr/>
              <p:nvPr/>
            </p:nvSpPr>
            <p:spPr>
              <a:xfrm>
                <a:off x="10671175" y="338137"/>
                <a:ext cx="88900" cy="50006"/>
              </a:xfrm>
              <a:custGeom>
                <a:avLst/>
                <a:gdLst/>
                <a:ahLst/>
                <a:cxnLst/>
                <a:rect l="l" t="t" r="r" b="b"/>
                <a:pathLst>
                  <a:path w="88900" h="50006">
                    <a:moveTo>
                      <a:pt x="0" y="50006"/>
                    </a:moveTo>
                    <a:lnTo>
                      <a:pt x="22225" y="16669"/>
                    </a:lnTo>
                    <a:lnTo>
                      <a:pt x="44450" y="27781"/>
                    </a:lnTo>
                    <a:lnTo>
                      <a:pt x="66675" y="0"/>
                    </a:lnTo>
                    <a:lnTo>
                      <a:pt x="88900" y="22225"/>
                    </a:lnTo>
                  </a:path>
                </a:pathLst>
              </a:custGeom>
              <a:noFill/>
              <a:ln w="11112">
                <a:solidFill>
                  <a:srgbClr val="7C3B2F"/>
                </a:solidFill>
              </a:ln>
            </p:spPr>
          </p:sp>
        </p:grpSp>
        <p:sp>
          <p:nvSpPr>
            <p:cNvPr id="21" name="TextBox 21"/>
            <p:cNvSpPr txBox="1"/>
            <p:nvPr/>
          </p:nvSpPr>
          <p:spPr>
            <a:xfrm>
              <a:off x="11259655" y="330041"/>
              <a:ext cx="340690" cy="161925"/>
            </a:xfrm>
            <a:prstGeom prst="rect">
              <a:avLst/>
            </a:prstGeom>
            <a:noFill/>
            <a:ln>
              <a:noFill/>
            </a:ln>
          </p:spPr>
          <p:txBody>
            <a:bodyPr wrap="none" lIns="0" tIns="0" rIns="0" bIns="0" anchor="t" anchorCtr="0">
              <a:spAutoFit/>
            </a:bodyPr>
            <a:lstStyle/>
            <a:p>
              <a:pPr algn="ctr"/>
              <a:r>
                <a:rPr lang="zh-CN" sz="820" dirty="0">
                  <a:solidFill>
                    <a:srgbClr val="3A4238"/>
                  </a:solidFill>
                  <a:latin typeface="+mn-lt"/>
                  <a:ea typeface="+mn-ea"/>
                  <a:cs typeface="+mn-cs"/>
                </a:rPr>
                <a:t>用得上</a:t>
              </a:r>
            </a:p>
          </p:txBody>
        </p:sp>
      </p:grpSp>
      <p:grpSp>
        <p:nvGrpSpPr>
          <p:cNvPr id="33" name="chain-flow"/>
          <p:cNvGrpSpPr/>
          <p:nvPr/>
        </p:nvGrpSpPr>
        <p:grpSpPr>
          <a:xfrm>
            <a:off x="228600" y="1219200"/>
            <a:ext cx="11353800" cy="323850"/>
            <a:chOff x="228600" y="1219200"/>
            <a:chExt cx="11353800" cy="323850"/>
          </a:xfrm>
        </p:grpSpPr>
        <p:sp>
          <p:nvSpPr>
            <p:cNvPr id="23" name="Freeform 23"/>
            <p:cNvSpPr/>
            <p:nvPr/>
          </p:nvSpPr>
          <p:spPr>
            <a:xfrm>
              <a:off x="228600" y="1219200"/>
              <a:ext cx="2209800" cy="323850"/>
            </a:xfrm>
            <a:prstGeom prst="chevron">
              <a:avLst/>
            </a:prstGeom>
            <a:solidFill>
              <a:srgbClr val="42140B"/>
            </a:solidFill>
            <a:ln>
              <a:noFill/>
            </a:ln>
          </p:spPr>
        </p:sp>
        <p:sp>
          <p:nvSpPr>
            <p:cNvPr id="24" name="Freeform 24"/>
            <p:cNvSpPr/>
            <p:nvPr/>
          </p:nvSpPr>
          <p:spPr>
            <a:xfrm>
              <a:off x="2514600" y="1219200"/>
              <a:ext cx="2209800" cy="323850"/>
            </a:xfrm>
            <a:prstGeom prst="chevron">
              <a:avLst/>
            </a:prstGeom>
            <a:solidFill>
              <a:srgbClr val="643228"/>
            </a:solidFill>
            <a:ln>
              <a:noFill/>
            </a:ln>
          </p:spPr>
        </p:sp>
        <p:sp>
          <p:nvSpPr>
            <p:cNvPr id="25" name="Freeform 25"/>
            <p:cNvSpPr/>
            <p:nvPr/>
          </p:nvSpPr>
          <p:spPr>
            <a:xfrm>
              <a:off x="4800600" y="1219200"/>
              <a:ext cx="2209800" cy="323850"/>
            </a:xfrm>
            <a:prstGeom prst="chevron">
              <a:avLst/>
            </a:prstGeom>
            <a:solidFill>
              <a:srgbClr val="7C3B2F"/>
            </a:solidFill>
            <a:ln>
              <a:noFill/>
            </a:ln>
          </p:spPr>
        </p:sp>
        <p:sp>
          <p:nvSpPr>
            <p:cNvPr id="26" name="Freeform 26"/>
            <p:cNvSpPr/>
            <p:nvPr/>
          </p:nvSpPr>
          <p:spPr>
            <a:xfrm>
              <a:off x="7086600" y="1219200"/>
              <a:ext cx="2209800" cy="323850"/>
            </a:xfrm>
            <a:prstGeom prst="chevron">
              <a:avLst/>
            </a:prstGeom>
            <a:solidFill>
              <a:srgbClr val="8C4336"/>
            </a:solidFill>
            <a:ln>
              <a:noFill/>
            </a:ln>
          </p:spPr>
        </p:sp>
        <p:sp>
          <p:nvSpPr>
            <p:cNvPr id="27" name="Freeform 27"/>
            <p:cNvSpPr/>
            <p:nvPr/>
          </p:nvSpPr>
          <p:spPr>
            <a:xfrm>
              <a:off x="9372600" y="1219200"/>
              <a:ext cx="2209800" cy="323850"/>
            </a:xfrm>
            <a:prstGeom prst="chevron">
              <a:avLst/>
            </a:prstGeom>
            <a:solidFill>
              <a:srgbClr val="9A4B3C"/>
            </a:solidFill>
            <a:ln>
              <a:noFill/>
            </a:ln>
          </p:spPr>
        </p:sp>
        <p:sp>
          <p:nvSpPr>
            <p:cNvPr id="28" name="TextBox 28"/>
            <p:cNvSpPr txBox="1"/>
            <p:nvPr/>
          </p:nvSpPr>
          <p:spPr>
            <a:xfrm>
              <a:off x="760757" y="1319451"/>
              <a:ext cx="1297887"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1. 知识分散与碎片化</a:t>
              </a:r>
            </a:p>
          </p:txBody>
        </p:sp>
        <p:sp>
          <p:nvSpPr>
            <p:cNvPr id="29" name="TextBox 29"/>
            <p:cNvSpPr txBox="1"/>
            <p:nvPr/>
          </p:nvSpPr>
          <p:spPr>
            <a:xfrm>
              <a:off x="3114740" y="1319451"/>
              <a:ext cx="1161921"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2. 治理为知识资产</a:t>
              </a:r>
            </a:p>
          </p:txBody>
        </p:sp>
        <p:sp>
          <p:nvSpPr>
            <p:cNvPr id="30" name="TextBox 30"/>
            <p:cNvSpPr txBox="1"/>
            <p:nvPr/>
          </p:nvSpPr>
          <p:spPr>
            <a:xfrm>
              <a:off x="5522599" y="1319451"/>
              <a:ext cx="918201"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3. 检索 + 推理</a:t>
              </a:r>
            </a:p>
          </p:txBody>
        </p:sp>
        <p:sp>
          <p:nvSpPr>
            <p:cNvPr id="31" name="TextBox 31"/>
            <p:cNvSpPr txBox="1"/>
            <p:nvPr/>
          </p:nvSpPr>
          <p:spPr>
            <a:xfrm>
              <a:off x="7686740" y="1319451"/>
              <a:ext cx="1161921"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4. 角色化智能助手</a:t>
              </a:r>
            </a:p>
          </p:txBody>
        </p:sp>
        <p:sp>
          <p:nvSpPr>
            <p:cNvPr id="32" name="TextBox 32"/>
            <p:cNvSpPr txBox="1"/>
            <p:nvPr/>
          </p:nvSpPr>
          <p:spPr>
            <a:xfrm>
              <a:off x="10108706" y="1319451"/>
              <a:ext cx="889988"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5. 决策与行动</a:t>
              </a:r>
            </a:p>
          </p:txBody>
        </p:sp>
      </p:grpSp>
      <p:sp>
        <p:nvSpPr>
          <p:cNvPr id="34" name="flow-link-1"/>
          <p:cNvSpPr/>
          <p:nvPr/>
        </p:nvSpPr>
        <p:spPr>
          <a:xfrm>
            <a:off x="2428875" y="3200400"/>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sp>
        <p:nvSpPr>
          <p:cNvPr id="35" name="flow-link-2"/>
          <p:cNvSpPr/>
          <p:nvPr/>
        </p:nvSpPr>
        <p:spPr>
          <a:xfrm>
            <a:off x="4714875" y="3200400"/>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sp>
        <p:nvSpPr>
          <p:cNvPr id="36" name="flow-link-3"/>
          <p:cNvSpPr/>
          <p:nvPr/>
        </p:nvSpPr>
        <p:spPr>
          <a:xfrm>
            <a:off x="7000875" y="3200400"/>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sp>
        <p:nvSpPr>
          <p:cNvPr id="37" name="flow-link-4"/>
          <p:cNvSpPr/>
          <p:nvPr/>
        </p:nvSpPr>
        <p:spPr>
          <a:xfrm>
            <a:off x="9286875" y="3200400"/>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grpSp>
        <p:nvGrpSpPr>
          <p:cNvPr id="63" name="card-1"/>
          <p:cNvGrpSpPr/>
          <p:nvPr/>
        </p:nvGrpSpPr>
        <p:grpSpPr>
          <a:xfrm>
            <a:off x="228600" y="1695450"/>
            <a:ext cx="2209800" cy="3143250"/>
            <a:chOff x="228600" y="1695450"/>
            <a:chExt cx="2209800" cy="3143250"/>
          </a:xfrm>
        </p:grpSpPr>
        <p:sp>
          <p:nvSpPr>
            <p:cNvPr id="38" name="Rectangle 38"/>
            <p:cNvSpPr/>
            <p:nvPr/>
          </p:nvSpPr>
          <p:spPr>
            <a:xfrm>
              <a:off x="228600" y="1695450"/>
              <a:ext cx="2209800" cy="3143250"/>
            </a:xfrm>
            <a:prstGeom prst="roundRect">
              <a:avLst>
                <a:gd name="adj" fmla="val 4310"/>
              </a:avLst>
            </a:prstGeom>
            <a:solidFill>
              <a:srgbClr val="F4F8EC"/>
            </a:solidFill>
            <a:ln w="9525">
              <a:solidFill>
                <a:srgbClr val="D9E8C6"/>
              </a:solidFill>
            </a:ln>
          </p:spPr>
        </p:sp>
        <p:grpSp>
          <p:nvGrpSpPr>
            <p:cNvPr id="48" name="card1-item1"/>
            <p:cNvGrpSpPr/>
            <p:nvPr/>
          </p:nvGrpSpPr>
          <p:grpSpPr>
            <a:xfrm>
              <a:off x="428625" y="1952625"/>
              <a:ext cx="1241108" cy="361951"/>
              <a:chOff x="428625" y="1952625"/>
              <a:chExt cx="1241108" cy="361951"/>
            </a:xfrm>
          </p:grpSpPr>
          <p:sp>
            <p:nvSpPr>
              <p:cNvPr id="39" name="Ellipse 39"/>
              <p:cNvSpPr/>
              <p:nvPr/>
            </p:nvSpPr>
            <p:spPr>
              <a:xfrm>
                <a:off x="428625" y="1952625"/>
                <a:ext cx="323850" cy="323850"/>
              </a:xfrm>
              <a:prstGeom prst="ellipse">
                <a:avLst/>
              </a:prstGeom>
              <a:solidFill>
                <a:srgbClr val="FFFFFF"/>
              </a:solidFill>
              <a:ln w="14288">
                <a:solidFill>
                  <a:srgbClr val="BE776A"/>
                </a:solidFill>
              </a:ln>
            </p:spPr>
          </p:sp>
          <p:grpSp>
            <p:nvGrpSpPr>
              <p:cNvPr id="45" name="Group 45"/>
              <p:cNvGrpSpPr/>
              <p:nvPr/>
            </p:nvGrpSpPr>
            <p:grpSpPr>
              <a:xfrm>
                <a:off x="534987" y="2043112"/>
                <a:ext cx="111125" cy="142875"/>
                <a:chOff x="534987" y="2043112"/>
                <a:chExt cx="111125" cy="142875"/>
              </a:xfrm>
            </p:grpSpPr>
            <p:sp>
              <p:nvSpPr>
                <p:cNvPr id="40" name="Freeform 40"/>
                <p:cNvSpPr/>
                <p:nvPr/>
              </p:nvSpPr>
              <p:spPr>
                <a:xfrm>
                  <a:off x="606425" y="20431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7C3B2F"/>
                  </a:solidFill>
                </a:ln>
              </p:spPr>
            </p:sp>
            <p:sp>
              <p:nvSpPr>
                <p:cNvPr id="41" name="Freeform 41"/>
                <p:cNvSpPr/>
                <p:nvPr/>
              </p:nvSpPr>
              <p:spPr>
                <a:xfrm>
                  <a:off x="534987" y="20431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7C3B2F"/>
                  </a:solidFill>
                </a:ln>
              </p:spPr>
            </p:sp>
            <p:sp>
              <p:nvSpPr>
                <p:cNvPr id="42" name="Freeform 42"/>
                <p:cNvSpPr/>
                <p:nvPr/>
              </p:nvSpPr>
              <p:spPr>
                <a:xfrm>
                  <a:off x="566737" y="2090737"/>
                  <a:ext cx="9525" cy="9525"/>
                </a:xfrm>
                <a:custGeom>
                  <a:avLst/>
                  <a:gdLst/>
                  <a:ahLst/>
                  <a:cxnLst/>
                  <a:rect l="l" t="t" r="r" b="b"/>
                  <a:pathLst>
                    <a:path w="9525" h="9525">
                      <a:moveTo>
                        <a:pt x="0" y="0"/>
                      </a:moveTo>
                      <a:lnTo>
                        <a:pt x="7937" y="0"/>
                      </a:lnTo>
                    </a:path>
                  </a:pathLst>
                </a:custGeom>
                <a:noFill/>
                <a:ln w="15875">
                  <a:solidFill>
                    <a:srgbClr val="7C3B2F"/>
                  </a:solidFill>
                </a:ln>
              </p:spPr>
            </p:sp>
            <p:sp>
              <p:nvSpPr>
                <p:cNvPr id="43" name="Freeform 43"/>
                <p:cNvSpPr/>
                <p:nvPr/>
              </p:nvSpPr>
              <p:spPr>
                <a:xfrm>
                  <a:off x="566737" y="2122487"/>
                  <a:ext cx="47625" cy="9525"/>
                </a:xfrm>
                <a:custGeom>
                  <a:avLst/>
                  <a:gdLst/>
                  <a:ahLst/>
                  <a:cxnLst/>
                  <a:rect l="l" t="t" r="r" b="b"/>
                  <a:pathLst>
                    <a:path w="47625" h="9525">
                      <a:moveTo>
                        <a:pt x="0" y="0"/>
                      </a:moveTo>
                      <a:lnTo>
                        <a:pt x="47625" y="0"/>
                      </a:lnTo>
                    </a:path>
                  </a:pathLst>
                </a:custGeom>
                <a:noFill/>
                <a:ln w="15875">
                  <a:solidFill>
                    <a:srgbClr val="7C3B2F"/>
                  </a:solidFill>
                </a:ln>
              </p:spPr>
            </p:sp>
            <p:sp>
              <p:nvSpPr>
                <p:cNvPr id="44" name="Freeform 44"/>
                <p:cNvSpPr/>
                <p:nvPr/>
              </p:nvSpPr>
              <p:spPr>
                <a:xfrm>
                  <a:off x="566737" y="2154237"/>
                  <a:ext cx="47625" cy="9525"/>
                </a:xfrm>
                <a:custGeom>
                  <a:avLst/>
                  <a:gdLst/>
                  <a:ahLst/>
                  <a:cxnLst/>
                  <a:rect l="l" t="t" r="r" b="b"/>
                  <a:pathLst>
                    <a:path w="47625" h="9525">
                      <a:moveTo>
                        <a:pt x="0" y="0"/>
                      </a:moveTo>
                      <a:lnTo>
                        <a:pt x="47625" y="0"/>
                      </a:lnTo>
                    </a:path>
                  </a:pathLst>
                </a:custGeom>
                <a:noFill/>
                <a:ln w="15875">
                  <a:solidFill>
                    <a:srgbClr val="7C3B2F"/>
                  </a:solidFill>
                </a:ln>
              </p:spPr>
            </p:sp>
          </p:grpSp>
          <p:sp>
            <p:nvSpPr>
              <p:cNvPr id="46" name="TextBox 46"/>
              <p:cNvSpPr txBox="1"/>
              <p:nvPr/>
            </p:nvSpPr>
            <p:spPr>
              <a:xfrm>
                <a:off x="852488" y="1998345"/>
                <a:ext cx="615315"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碎片化文档</a:t>
                </a:r>
              </a:p>
            </p:txBody>
          </p:sp>
          <p:sp>
            <p:nvSpPr>
              <p:cNvPr id="47" name="TextBox 47"/>
              <p:cNvSpPr txBox="1"/>
              <p:nvPr/>
            </p:nvSpPr>
            <p:spPr>
              <a:xfrm>
                <a:off x="852488" y="2166938"/>
                <a:ext cx="817245" cy="147638"/>
              </a:xfrm>
              <a:prstGeom prst="rect">
                <a:avLst/>
              </a:prstGeom>
              <a:noFill/>
              <a:ln>
                <a:noFill/>
              </a:ln>
            </p:spPr>
            <p:txBody>
              <a:bodyPr wrap="none" lIns="0" tIns="0" rIns="0" bIns="0" anchor="t" anchorCtr="0">
                <a:spAutoFit/>
              </a:bodyPr>
              <a:lstStyle/>
              <a:p>
                <a:pPr algn="l"/>
                <a:r>
                  <a:rPr lang="zh-CN" sz="750" dirty="0">
                    <a:solidFill>
                      <a:srgbClr val="66705F"/>
                    </a:solidFill>
                    <a:latin typeface="+mn-lt"/>
                    <a:ea typeface="+mn-ea"/>
                    <a:cs typeface="+mn-cs"/>
                  </a:rPr>
                  <a:t>版本多、分散存储</a:t>
                </a:r>
              </a:p>
            </p:txBody>
          </p:sp>
        </p:grpSp>
        <p:grpSp>
          <p:nvGrpSpPr>
            <p:cNvPr id="57" name="card1-item2"/>
            <p:cNvGrpSpPr/>
            <p:nvPr/>
          </p:nvGrpSpPr>
          <p:grpSpPr>
            <a:xfrm>
              <a:off x="428625" y="2695575"/>
              <a:ext cx="1342073" cy="361951"/>
              <a:chOff x="428625" y="2695575"/>
              <a:chExt cx="1342073" cy="361951"/>
            </a:xfrm>
          </p:grpSpPr>
          <p:sp>
            <p:nvSpPr>
              <p:cNvPr id="49" name="Ellipse 49"/>
              <p:cNvSpPr/>
              <p:nvPr/>
            </p:nvSpPr>
            <p:spPr>
              <a:xfrm>
                <a:off x="428625" y="2695575"/>
                <a:ext cx="323850" cy="323850"/>
              </a:xfrm>
              <a:prstGeom prst="ellipse">
                <a:avLst/>
              </a:prstGeom>
              <a:solidFill>
                <a:srgbClr val="FFFFFF"/>
              </a:solidFill>
              <a:ln w="14288">
                <a:solidFill>
                  <a:srgbClr val="BE776A"/>
                </a:solidFill>
              </a:ln>
            </p:spPr>
          </p:sp>
          <p:grpSp>
            <p:nvGrpSpPr>
              <p:cNvPr id="54" name="Group 54"/>
              <p:cNvGrpSpPr/>
              <p:nvPr/>
            </p:nvGrpSpPr>
            <p:grpSpPr>
              <a:xfrm>
                <a:off x="519112" y="2786062"/>
                <a:ext cx="142875" cy="142875"/>
                <a:chOff x="519112" y="2786062"/>
                <a:chExt cx="142875" cy="142875"/>
              </a:xfrm>
            </p:grpSpPr>
            <p:sp>
              <p:nvSpPr>
                <p:cNvPr id="50" name="Freeform 50"/>
                <p:cNvSpPr/>
                <p:nvPr/>
              </p:nvSpPr>
              <p:spPr>
                <a:xfrm>
                  <a:off x="534987" y="27860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7C3B2F"/>
                  </a:solidFill>
                </a:ln>
              </p:spPr>
            </p:sp>
            <p:sp>
              <p:nvSpPr>
                <p:cNvPr id="51" name="Freeform 51"/>
                <p:cNvSpPr/>
                <p:nvPr/>
              </p:nvSpPr>
              <p:spPr>
                <a:xfrm>
                  <a:off x="519112" y="28813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7C3B2F"/>
                  </a:solidFill>
                </a:ln>
              </p:spPr>
            </p:sp>
            <p:sp>
              <p:nvSpPr>
                <p:cNvPr id="52" name="Freeform 52"/>
                <p:cNvSpPr/>
                <p:nvPr/>
              </p:nvSpPr>
              <p:spPr>
                <a:xfrm>
                  <a:off x="622300" y="27870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7C3B2F"/>
                  </a:solidFill>
                </a:ln>
              </p:spPr>
            </p:sp>
            <p:sp>
              <p:nvSpPr>
                <p:cNvPr id="53" name="Freeform 53"/>
                <p:cNvSpPr/>
                <p:nvPr/>
              </p:nvSpPr>
              <p:spPr>
                <a:xfrm>
                  <a:off x="638175" y="28825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7C3B2F"/>
                  </a:solidFill>
                </a:ln>
              </p:spPr>
            </p:sp>
          </p:grpSp>
          <p:sp>
            <p:nvSpPr>
              <p:cNvPr id="55" name="TextBox 55"/>
              <p:cNvSpPr txBox="1"/>
              <p:nvPr/>
            </p:nvSpPr>
            <p:spPr>
              <a:xfrm>
                <a:off x="852488" y="2741295"/>
                <a:ext cx="494157"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专家记忆</a:t>
                </a:r>
              </a:p>
            </p:txBody>
          </p:sp>
          <p:sp>
            <p:nvSpPr>
              <p:cNvPr id="56" name="TextBox 56"/>
              <p:cNvSpPr txBox="1"/>
              <p:nvPr/>
            </p:nvSpPr>
            <p:spPr>
              <a:xfrm>
                <a:off x="852488" y="2909888"/>
                <a:ext cx="918210" cy="147638"/>
              </a:xfrm>
              <a:prstGeom prst="rect">
                <a:avLst/>
              </a:prstGeom>
              <a:noFill/>
              <a:ln>
                <a:noFill/>
              </a:ln>
            </p:spPr>
            <p:txBody>
              <a:bodyPr wrap="none" lIns="0" tIns="0" rIns="0" bIns="0" anchor="t" anchorCtr="0">
                <a:spAutoFit/>
              </a:bodyPr>
              <a:lstStyle/>
              <a:p>
                <a:pPr algn="l"/>
                <a:r>
                  <a:rPr lang="zh-CN" sz="750" dirty="0">
                    <a:solidFill>
                      <a:srgbClr val="66705F"/>
                    </a:solidFill>
                    <a:latin typeface="+mn-lt"/>
                    <a:ea typeface="+mn-ea"/>
                    <a:cs typeface="+mn-cs"/>
                  </a:rPr>
                  <a:t>个人经验、隐性知识</a:t>
                </a:r>
              </a:p>
            </p:txBody>
          </p:sp>
        </p:grpSp>
        <p:grpSp>
          <p:nvGrpSpPr>
            <p:cNvPr id="62" name="card1-item3"/>
            <p:cNvGrpSpPr/>
            <p:nvPr/>
          </p:nvGrpSpPr>
          <p:grpSpPr>
            <a:xfrm>
              <a:off x="428625" y="3438525"/>
              <a:ext cx="1342073" cy="361951"/>
              <a:chOff x="428625" y="3438525"/>
              <a:chExt cx="1342073" cy="361951"/>
            </a:xfrm>
          </p:grpSpPr>
          <p:sp>
            <p:nvSpPr>
              <p:cNvPr id="58" name="Ellipse 58"/>
              <p:cNvSpPr/>
              <p:nvPr/>
            </p:nvSpPr>
            <p:spPr>
              <a:xfrm>
                <a:off x="428625" y="3438525"/>
                <a:ext cx="323850" cy="323850"/>
              </a:xfrm>
              <a:prstGeom prst="ellipse">
                <a:avLst/>
              </a:prstGeom>
              <a:solidFill>
                <a:srgbClr val="FFFFFF"/>
              </a:solidFill>
              <a:ln w="14288">
                <a:solidFill>
                  <a:srgbClr val="BE776A"/>
                </a:solidFill>
              </a:ln>
            </p:spPr>
          </p:sp>
          <p:sp>
            <p:nvSpPr>
              <p:cNvPr id="59" name="Freeform 59"/>
              <p:cNvSpPr/>
              <p:nvPr/>
            </p:nvSpPr>
            <p:spPr>
              <a:xfrm>
                <a:off x="510984" y="353079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7C3B2F"/>
                </a:solidFill>
              </a:ln>
            </p:spPr>
          </p:sp>
          <p:sp>
            <p:nvSpPr>
              <p:cNvPr id="60" name="TextBox 60"/>
              <p:cNvSpPr txBox="1"/>
              <p:nvPr/>
            </p:nvSpPr>
            <p:spPr>
              <a:xfrm>
                <a:off x="852488" y="3484245"/>
                <a:ext cx="615315"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系统与对话</a:t>
                </a:r>
              </a:p>
            </p:txBody>
          </p:sp>
          <p:sp>
            <p:nvSpPr>
              <p:cNvPr id="61" name="TextBox 61"/>
              <p:cNvSpPr txBox="1"/>
              <p:nvPr/>
            </p:nvSpPr>
            <p:spPr>
              <a:xfrm>
                <a:off x="852488" y="3652838"/>
                <a:ext cx="918210" cy="147638"/>
              </a:xfrm>
              <a:prstGeom prst="rect">
                <a:avLst/>
              </a:prstGeom>
              <a:noFill/>
              <a:ln>
                <a:noFill/>
              </a:ln>
            </p:spPr>
            <p:txBody>
              <a:bodyPr wrap="none" lIns="0" tIns="0" rIns="0" bIns="0" anchor="t" anchorCtr="0">
                <a:spAutoFit/>
              </a:bodyPr>
              <a:lstStyle/>
              <a:p>
                <a:pPr algn="l"/>
                <a:r>
                  <a:rPr lang="zh-CN" sz="750" dirty="0">
                    <a:solidFill>
                      <a:srgbClr val="66705F"/>
                    </a:solidFill>
                    <a:latin typeface="+mn-lt"/>
                    <a:ea typeface="+mn-ea"/>
                    <a:cs typeface="+mn-cs"/>
                  </a:rPr>
                  <a:t>系统数据、沟通记录</a:t>
                </a:r>
              </a:p>
            </p:txBody>
          </p:sp>
        </p:grpSp>
      </p:grpSp>
      <p:grpSp>
        <p:nvGrpSpPr>
          <p:cNvPr id="99" name="card-2"/>
          <p:cNvGrpSpPr/>
          <p:nvPr/>
        </p:nvGrpSpPr>
        <p:grpSpPr>
          <a:xfrm>
            <a:off x="2514600" y="1695450"/>
            <a:ext cx="2209800" cy="3143250"/>
            <a:chOff x="2514600" y="1695450"/>
            <a:chExt cx="2209800" cy="3143250"/>
          </a:xfrm>
        </p:grpSpPr>
        <p:sp>
          <p:nvSpPr>
            <p:cNvPr id="64" name="Rectangle 64"/>
            <p:cNvSpPr/>
            <p:nvPr/>
          </p:nvSpPr>
          <p:spPr>
            <a:xfrm>
              <a:off x="2514600" y="1695450"/>
              <a:ext cx="2209800" cy="3143250"/>
            </a:xfrm>
            <a:prstGeom prst="roundRect">
              <a:avLst>
                <a:gd name="adj" fmla="val 4310"/>
              </a:avLst>
            </a:prstGeom>
            <a:solidFill>
              <a:srgbClr val="FFFFFF"/>
            </a:solidFill>
            <a:ln w="9525">
              <a:solidFill>
                <a:srgbClr val="D9E8C6"/>
              </a:solidFill>
            </a:ln>
          </p:spPr>
        </p:sp>
        <p:grpSp>
          <p:nvGrpSpPr>
            <p:cNvPr id="73" name="card2-pyramid"/>
            <p:cNvGrpSpPr/>
            <p:nvPr/>
          </p:nvGrpSpPr>
          <p:grpSpPr>
            <a:xfrm>
              <a:off x="2762250" y="1962150"/>
              <a:ext cx="1714500" cy="1238250"/>
              <a:chOff x="2762250" y="1962150"/>
              <a:chExt cx="1714500" cy="1238250"/>
            </a:xfrm>
          </p:grpSpPr>
          <p:sp>
            <p:nvSpPr>
              <p:cNvPr id="65" name="Polygon 65"/>
              <p:cNvSpPr/>
              <p:nvPr/>
            </p:nvSpPr>
            <p:spPr>
              <a:xfrm>
                <a:off x="3086100" y="1962150"/>
                <a:ext cx="1066800" cy="304800"/>
              </a:xfrm>
              <a:custGeom>
                <a:avLst/>
                <a:gdLst/>
                <a:ahLst/>
                <a:cxnLst/>
                <a:rect l="l" t="t" r="r" b="b"/>
                <a:pathLst>
                  <a:path w="1066800" h="304800">
                    <a:moveTo>
                      <a:pt x="533400" y="0"/>
                    </a:moveTo>
                    <a:lnTo>
                      <a:pt x="1066800" y="304800"/>
                    </a:lnTo>
                    <a:lnTo>
                      <a:pt x="0" y="304800"/>
                    </a:lnTo>
                    <a:close/>
                  </a:path>
                </a:pathLst>
              </a:custGeom>
              <a:solidFill>
                <a:srgbClr val="E4B7AF"/>
              </a:solidFill>
              <a:ln>
                <a:noFill/>
              </a:ln>
            </p:spPr>
          </p:sp>
          <p:sp>
            <p:nvSpPr>
              <p:cNvPr id="66" name="TextBox 66"/>
              <p:cNvSpPr txBox="1"/>
              <p:nvPr/>
            </p:nvSpPr>
            <p:spPr>
              <a:xfrm>
                <a:off x="3455213" y="2105739"/>
                <a:ext cx="3285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标准化</a:t>
                </a:r>
              </a:p>
            </p:txBody>
          </p:sp>
          <p:sp>
            <p:nvSpPr>
              <p:cNvPr id="67" name="Polygon 67"/>
              <p:cNvSpPr/>
              <p:nvPr/>
            </p:nvSpPr>
            <p:spPr>
              <a:xfrm>
                <a:off x="2971800" y="2286000"/>
                <a:ext cx="1295400" cy="304800"/>
              </a:xfrm>
              <a:custGeom>
                <a:avLst/>
                <a:gdLst/>
                <a:ahLst/>
                <a:cxnLst/>
                <a:rect l="l" t="t" r="r" b="b"/>
                <a:pathLst>
                  <a:path w="1295400" h="304800">
                    <a:moveTo>
                      <a:pt x="647700" y="0"/>
                    </a:moveTo>
                    <a:lnTo>
                      <a:pt x="1295400" y="304800"/>
                    </a:lnTo>
                    <a:lnTo>
                      <a:pt x="0" y="304800"/>
                    </a:lnTo>
                    <a:close/>
                  </a:path>
                </a:pathLst>
              </a:custGeom>
              <a:solidFill>
                <a:srgbClr val="CE9085"/>
              </a:solidFill>
              <a:ln>
                <a:noFill/>
              </a:ln>
            </p:spPr>
          </p:sp>
          <p:sp>
            <p:nvSpPr>
              <p:cNvPr id="68" name="TextBox 68"/>
              <p:cNvSpPr txBox="1"/>
              <p:nvPr/>
            </p:nvSpPr>
            <p:spPr>
              <a:xfrm>
                <a:off x="3455213" y="2429589"/>
                <a:ext cx="3285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结构化</a:t>
                </a:r>
              </a:p>
            </p:txBody>
          </p:sp>
          <p:sp>
            <p:nvSpPr>
              <p:cNvPr id="69" name="Polygon 69"/>
              <p:cNvSpPr/>
              <p:nvPr/>
            </p:nvSpPr>
            <p:spPr>
              <a:xfrm>
                <a:off x="2857500" y="2609850"/>
                <a:ext cx="1524000" cy="304800"/>
              </a:xfrm>
              <a:custGeom>
                <a:avLst/>
                <a:gdLst/>
                <a:ahLst/>
                <a:cxnLst/>
                <a:rect l="l" t="t" r="r" b="b"/>
                <a:pathLst>
                  <a:path w="1524000" h="304800">
                    <a:moveTo>
                      <a:pt x="762000" y="0"/>
                    </a:moveTo>
                    <a:lnTo>
                      <a:pt x="1524000" y="304800"/>
                    </a:lnTo>
                    <a:lnTo>
                      <a:pt x="0" y="304800"/>
                    </a:lnTo>
                    <a:close/>
                  </a:path>
                </a:pathLst>
              </a:custGeom>
              <a:solidFill>
                <a:srgbClr val="B76B5D"/>
              </a:solidFill>
              <a:ln>
                <a:noFill/>
              </a:ln>
            </p:spPr>
          </p:sp>
          <p:sp>
            <p:nvSpPr>
              <p:cNvPr id="70" name="TextBox 70"/>
              <p:cNvSpPr txBox="1"/>
              <p:nvPr/>
            </p:nvSpPr>
            <p:spPr>
              <a:xfrm>
                <a:off x="3455213" y="2753439"/>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标签化</a:t>
                </a:r>
              </a:p>
            </p:txBody>
          </p:sp>
          <p:sp>
            <p:nvSpPr>
              <p:cNvPr id="71" name="Rectangle 71"/>
              <p:cNvSpPr/>
              <p:nvPr/>
            </p:nvSpPr>
            <p:spPr>
              <a:xfrm>
                <a:off x="2762250" y="2952750"/>
                <a:ext cx="1714500" cy="247650"/>
              </a:xfrm>
              <a:prstGeom prst="roundRect">
                <a:avLst>
                  <a:gd name="adj" fmla="val 23077"/>
                </a:avLst>
              </a:prstGeom>
              <a:solidFill>
                <a:srgbClr val="42140B"/>
              </a:solidFill>
              <a:ln>
                <a:noFill/>
              </a:ln>
            </p:spPr>
          </p:sp>
          <p:sp>
            <p:nvSpPr>
              <p:cNvPr id="72" name="TextBox 72"/>
              <p:cNvSpPr txBox="1"/>
              <p:nvPr/>
            </p:nvSpPr>
            <p:spPr>
              <a:xfrm>
                <a:off x="3348863" y="3039189"/>
                <a:ext cx="5412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权限与合规</a:t>
                </a:r>
              </a:p>
            </p:txBody>
          </p:sp>
        </p:grpSp>
        <p:grpSp>
          <p:nvGrpSpPr>
            <p:cNvPr id="98" name="card2-chips"/>
            <p:cNvGrpSpPr/>
            <p:nvPr/>
          </p:nvGrpSpPr>
          <p:grpSpPr>
            <a:xfrm>
              <a:off x="2628900" y="3486150"/>
              <a:ext cx="1981200" cy="647700"/>
              <a:chOff x="2628900" y="3486150"/>
              <a:chExt cx="1981200" cy="647700"/>
            </a:xfrm>
          </p:grpSpPr>
          <p:sp>
            <p:nvSpPr>
              <p:cNvPr id="74" name="Rectangle 74"/>
              <p:cNvSpPr/>
              <p:nvPr/>
            </p:nvSpPr>
            <p:spPr>
              <a:xfrm>
                <a:off x="2628900" y="3486150"/>
                <a:ext cx="952500" cy="285750"/>
              </a:xfrm>
              <a:prstGeom prst="roundRect">
                <a:avLst>
                  <a:gd name="adj" fmla="val 16667"/>
                </a:avLst>
              </a:prstGeom>
              <a:solidFill>
                <a:srgbClr val="F4F8EC"/>
              </a:solidFill>
              <a:ln w="9525">
                <a:solidFill>
                  <a:srgbClr val="D9E8C6"/>
                </a:solidFill>
              </a:ln>
            </p:spPr>
          </p:sp>
          <p:grpSp>
            <p:nvGrpSpPr>
              <p:cNvPr id="79" name="Group 79"/>
              <p:cNvGrpSpPr/>
              <p:nvPr/>
            </p:nvGrpSpPr>
            <p:grpSpPr>
              <a:xfrm>
                <a:off x="2732881" y="3584575"/>
                <a:ext cx="83343" cy="94456"/>
                <a:chOff x="2732881" y="3584575"/>
                <a:chExt cx="83343" cy="94456"/>
              </a:xfrm>
            </p:grpSpPr>
            <p:sp>
              <p:nvSpPr>
                <p:cNvPr id="75" name="Freeform 75"/>
                <p:cNvSpPr/>
                <p:nvPr/>
              </p:nvSpPr>
              <p:spPr>
                <a:xfrm>
                  <a:off x="2732881" y="3584575"/>
                  <a:ext cx="66675" cy="88900"/>
                </a:xfrm>
                <a:custGeom>
                  <a:avLst/>
                  <a:gdLst/>
                  <a:ahLst/>
                  <a:cxnLst/>
                  <a:rect l="l" t="t" r="r" b="b"/>
                  <a:pathLst>
                    <a:path w="66675" h="88900">
                      <a:moveTo>
                        <a:pt x="25642" y="88900"/>
                      </a:moveTo>
                      <a:lnTo>
                        <a:pt x="11112" y="88900"/>
                      </a:lnTo>
                      <a:cubicBezTo>
                        <a:pt x="4975" y="88900"/>
                        <a:pt x="0" y="83925"/>
                        <a:pt x="0" y="77787"/>
                      </a:cubicBezTo>
                      <a:lnTo>
                        <a:pt x="0" y="11112"/>
                      </a:lnTo>
                      <a:cubicBezTo>
                        <a:pt x="0" y="4975"/>
                        <a:pt x="4975" y="0"/>
                        <a:pt x="11112" y="0"/>
                      </a:cubicBezTo>
                      <a:lnTo>
                        <a:pt x="55562" y="0"/>
                      </a:lnTo>
                      <a:cubicBezTo>
                        <a:pt x="61700" y="0"/>
                        <a:pt x="66675" y="4975"/>
                        <a:pt x="66675" y="11112"/>
                      </a:cubicBezTo>
                      <a:lnTo>
                        <a:pt x="66675" y="55562"/>
                      </a:lnTo>
                    </a:path>
                  </a:pathLst>
                </a:custGeom>
                <a:noFill/>
                <a:ln w="11112">
                  <a:solidFill>
                    <a:srgbClr val="7C3B2F"/>
                  </a:solidFill>
                </a:ln>
              </p:spPr>
            </p:sp>
            <p:sp>
              <p:nvSpPr>
                <p:cNvPr id="76" name="Freeform 76"/>
                <p:cNvSpPr/>
                <p:nvPr/>
              </p:nvSpPr>
              <p:spPr>
                <a:xfrm>
                  <a:off x="2782887" y="3656806"/>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sp>
              <p:nvSpPr>
                <p:cNvPr id="77" name="Freeform 77"/>
                <p:cNvSpPr/>
                <p:nvPr/>
              </p:nvSpPr>
              <p:spPr>
                <a:xfrm>
                  <a:off x="2755106" y="3606800"/>
                  <a:ext cx="22225" cy="9525"/>
                </a:xfrm>
                <a:custGeom>
                  <a:avLst/>
                  <a:gdLst/>
                  <a:ahLst/>
                  <a:cxnLst/>
                  <a:rect l="l" t="t" r="r" b="b"/>
                  <a:pathLst>
                    <a:path w="22225" h="9525">
                      <a:moveTo>
                        <a:pt x="0" y="0"/>
                      </a:moveTo>
                      <a:lnTo>
                        <a:pt x="22225" y="0"/>
                      </a:lnTo>
                    </a:path>
                  </a:pathLst>
                </a:custGeom>
                <a:noFill/>
                <a:ln w="11112">
                  <a:solidFill>
                    <a:srgbClr val="7C3B2F"/>
                  </a:solidFill>
                </a:ln>
              </p:spPr>
            </p:sp>
            <p:sp>
              <p:nvSpPr>
                <p:cNvPr id="78" name="Freeform 78"/>
                <p:cNvSpPr/>
                <p:nvPr/>
              </p:nvSpPr>
              <p:spPr>
                <a:xfrm>
                  <a:off x="2755106" y="3629025"/>
                  <a:ext cx="11112" cy="9525"/>
                </a:xfrm>
                <a:custGeom>
                  <a:avLst/>
                  <a:gdLst/>
                  <a:ahLst/>
                  <a:cxnLst/>
                  <a:rect l="l" t="t" r="r" b="b"/>
                  <a:pathLst>
                    <a:path w="11112" h="9525">
                      <a:moveTo>
                        <a:pt x="0" y="0"/>
                      </a:moveTo>
                      <a:lnTo>
                        <a:pt x="11112" y="0"/>
                      </a:lnTo>
                    </a:path>
                  </a:pathLst>
                </a:custGeom>
                <a:noFill/>
                <a:ln w="11112">
                  <a:solidFill>
                    <a:srgbClr val="7C3B2F"/>
                  </a:solidFill>
                </a:ln>
              </p:spPr>
            </p:sp>
          </p:grpSp>
          <p:sp>
            <p:nvSpPr>
              <p:cNvPr id="80" name="TextBox 80"/>
              <p:cNvSpPr txBox="1"/>
              <p:nvPr/>
            </p:nvSpPr>
            <p:spPr>
              <a:xfrm>
                <a:off x="2985427" y="3590211"/>
                <a:ext cx="391846" cy="140494"/>
              </a:xfrm>
              <a:prstGeom prst="rect">
                <a:avLst/>
              </a:prstGeom>
              <a:noFill/>
              <a:ln>
                <a:noFill/>
              </a:ln>
            </p:spPr>
            <p:txBody>
              <a:bodyPr wrap="none" lIns="0" tIns="0" rIns="0" bIns="0" anchor="t" anchorCtr="0">
                <a:spAutoFit/>
              </a:bodyPr>
              <a:lstStyle/>
              <a:p>
                <a:pPr algn="ctr"/>
                <a:r>
                  <a:rPr lang="zh-CN" sz="710" dirty="0">
                    <a:solidFill>
                      <a:srgbClr val="3A4238"/>
                    </a:solidFill>
                    <a:latin typeface="+mn-lt"/>
                    <a:ea typeface="+mn-ea"/>
                    <a:cs typeface="+mn-cs"/>
                  </a:rPr>
                  <a:t>质量控制</a:t>
                </a:r>
              </a:p>
            </p:txBody>
          </p:sp>
          <p:sp>
            <p:nvSpPr>
              <p:cNvPr id="81" name="Rectangle 81"/>
              <p:cNvSpPr/>
              <p:nvPr/>
            </p:nvSpPr>
            <p:spPr>
              <a:xfrm>
                <a:off x="3657600" y="3486150"/>
                <a:ext cx="952500" cy="285750"/>
              </a:xfrm>
              <a:prstGeom prst="roundRect">
                <a:avLst>
                  <a:gd name="adj" fmla="val 16667"/>
                </a:avLst>
              </a:prstGeom>
              <a:solidFill>
                <a:srgbClr val="F4F8EC"/>
              </a:solidFill>
              <a:ln w="9525">
                <a:solidFill>
                  <a:srgbClr val="D9E8C6"/>
                </a:solidFill>
              </a:ln>
            </p:spPr>
          </p:sp>
          <p:grpSp>
            <p:nvGrpSpPr>
              <p:cNvPr id="85" name="Group 85"/>
              <p:cNvGrpSpPr/>
              <p:nvPr/>
            </p:nvGrpSpPr>
            <p:grpSpPr>
              <a:xfrm>
                <a:off x="3756025" y="3579019"/>
                <a:ext cx="88900" cy="100012"/>
                <a:chOff x="3756025" y="3579019"/>
                <a:chExt cx="88900" cy="100012"/>
              </a:xfrm>
            </p:grpSpPr>
            <p:sp>
              <p:nvSpPr>
                <p:cNvPr id="82" name="Freeform 82"/>
                <p:cNvSpPr/>
                <p:nvPr/>
              </p:nvSpPr>
              <p:spPr>
                <a:xfrm>
                  <a:off x="3756025" y="3579019"/>
                  <a:ext cx="88900" cy="33337"/>
                </a:xfrm>
                <a:custGeom>
                  <a:avLst/>
                  <a:gdLst/>
                  <a:ahLst/>
                  <a:cxnLst/>
                  <a:rect l="l" t="t" r="r" b="b"/>
                  <a:pathLst>
                    <a:path w="88900" h="33337">
                      <a:moveTo>
                        <a:pt x="0" y="16669"/>
                      </a:moveTo>
                      <a:cubicBezTo>
                        <a:pt x="0" y="25875"/>
                        <a:pt x="19901" y="33337"/>
                        <a:pt x="44450" y="33337"/>
                      </a:cubicBezTo>
                      <a:cubicBezTo>
                        <a:pt x="68999" y="33337"/>
                        <a:pt x="88900" y="25875"/>
                        <a:pt x="88900" y="16669"/>
                      </a:cubicBezTo>
                      <a:cubicBezTo>
                        <a:pt x="88900" y="7463"/>
                        <a:pt x="68999" y="0"/>
                        <a:pt x="44450" y="0"/>
                      </a:cubicBezTo>
                      <a:cubicBezTo>
                        <a:pt x="19901" y="0"/>
                        <a:pt x="0" y="7463"/>
                        <a:pt x="0" y="16669"/>
                      </a:cubicBezTo>
                    </a:path>
                  </a:pathLst>
                </a:custGeom>
                <a:noFill/>
                <a:ln w="11112">
                  <a:solidFill>
                    <a:srgbClr val="7C3B2F"/>
                  </a:solidFill>
                </a:ln>
              </p:spPr>
            </p:sp>
            <p:sp>
              <p:nvSpPr>
                <p:cNvPr id="83" name="Freeform 83"/>
                <p:cNvSpPr/>
                <p:nvPr/>
              </p:nvSpPr>
              <p:spPr>
                <a:xfrm>
                  <a:off x="3756025" y="3595687"/>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7C3B2F"/>
                  </a:solidFill>
                </a:ln>
              </p:spPr>
            </p:sp>
            <p:sp>
              <p:nvSpPr>
                <p:cNvPr id="84" name="Freeform 84"/>
                <p:cNvSpPr/>
                <p:nvPr/>
              </p:nvSpPr>
              <p:spPr>
                <a:xfrm>
                  <a:off x="3756025" y="3629025"/>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7C3B2F"/>
                  </a:solidFill>
                </a:ln>
              </p:spPr>
            </p:sp>
          </p:grpSp>
          <p:sp>
            <p:nvSpPr>
              <p:cNvPr id="86" name="TextBox 86"/>
              <p:cNvSpPr txBox="1"/>
              <p:nvPr/>
            </p:nvSpPr>
            <p:spPr>
              <a:xfrm>
                <a:off x="4061917" y="3590211"/>
                <a:ext cx="296266" cy="140494"/>
              </a:xfrm>
              <a:prstGeom prst="rect">
                <a:avLst/>
              </a:prstGeom>
              <a:noFill/>
              <a:ln>
                <a:noFill/>
              </a:ln>
            </p:spPr>
            <p:txBody>
              <a:bodyPr wrap="none" lIns="0" tIns="0" rIns="0" bIns="0" anchor="t" anchorCtr="0">
                <a:spAutoFit/>
              </a:bodyPr>
              <a:lstStyle/>
              <a:p>
                <a:pPr algn="ctr"/>
                <a:r>
                  <a:rPr lang="zh-CN" sz="710" dirty="0">
                    <a:solidFill>
                      <a:srgbClr val="3A4238"/>
                    </a:solidFill>
                    <a:latin typeface="+mn-lt"/>
                    <a:ea typeface="+mn-ea"/>
                    <a:cs typeface="+mn-cs"/>
                  </a:rPr>
                  <a:t>元数据</a:t>
                </a:r>
              </a:p>
            </p:txBody>
          </p:sp>
          <p:sp>
            <p:nvSpPr>
              <p:cNvPr id="87" name="Rectangle 87"/>
              <p:cNvSpPr/>
              <p:nvPr/>
            </p:nvSpPr>
            <p:spPr>
              <a:xfrm>
                <a:off x="2628900" y="3848100"/>
                <a:ext cx="952500" cy="285750"/>
              </a:xfrm>
              <a:prstGeom prst="roundRect">
                <a:avLst>
                  <a:gd name="adj" fmla="val 16667"/>
                </a:avLst>
              </a:prstGeom>
              <a:solidFill>
                <a:srgbClr val="F4F8EC"/>
              </a:solidFill>
              <a:ln w="9525">
                <a:solidFill>
                  <a:srgbClr val="D9E8C6"/>
                </a:solidFill>
              </a:ln>
            </p:spPr>
          </p:sp>
          <p:grpSp>
            <p:nvGrpSpPr>
              <p:cNvPr id="91" name="Group 91"/>
              <p:cNvGrpSpPr/>
              <p:nvPr/>
            </p:nvGrpSpPr>
            <p:grpSpPr>
              <a:xfrm>
                <a:off x="2732881" y="3940969"/>
                <a:ext cx="77787" cy="100012"/>
                <a:chOff x="2732881" y="3940969"/>
                <a:chExt cx="77787" cy="100012"/>
              </a:xfrm>
            </p:grpSpPr>
            <p:sp>
              <p:nvSpPr>
                <p:cNvPr id="88" name="Freeform 88"/>
                <p:cNvSpPr/>
                <p:nvPr/>
              </p:nvSpPr>
              <p:spPr>
                <a:xfrm>
                  <a:off x="2732881" y="3985419"/>
                  <a:ext cx="77787" cy="55562"/>
                </a:xfrm>
                <a:custGeom>
                  <a:avLst/>
                  <a:gdLst/>
                  <a:ahLst/>
                  <a:cxnLst/>
                  <a:rect l="l" t="t" r="r" b="b"/>
                  <a:pathLst>
                    <a:path w="77787" h="55562">
                      <a:moveTo>
                        <a:pt x="0" y="11112"/>
                      </a:moveTo>
                      <a:cubicBezTo>
                        <a:pt x="0" y="4975"/>
                        <a:pt x="4975" y="0"/>
                        <a:pt x="11112" y="0"/>
                      </a:cubicBezTo>
                      <a:lnTo>
                        <a:pt x="66675" y="0"/>
                      </a:lnTo>
                      <a:cubicBezTo>
                        <a:pt x="72812" y="0"/>
                        <a:pt x="77787" y="4975"/>
                        <a:pt x="77787" y="11112"/>
                      </a:cubicBezTo>
                      <a:lnTo>
                        <a:pt x="77787" y="44450"/>
                      </a:lnTo>
                      <a:cubicBezTo>
                        <a:pt x="77787" y="50587"/>
                        <a:pt x="72812" y="55562"/>
                        <a:pt x="66675" y="55562"/>
                      </a:cubicBezTo>
                      <a:lnTo>
                        <a:pt x="11112" y="55562"/>
                      </a:lnTo>
                      <a:cubicBezTo>
                        <a:pt x="4975" y="55562"/>
                        <a:pt x="0" y="50587"/>
                        <a:pt x="0" y="44450"/>
                      </a:cubicBezTo>
                      <a:lnTo>
                        <a:pt x="0" y="11112"/>
                      </a:lnTo>
                    </a:path>
                  </a:pathLst>
                </a:custGeom>
                <a:noFill/>
                <a:ln w="11112">
                  <a:solidFill>
                    <a:srgbClr val="7C3B2F"/>
                  </a:solidFill>
                </a:ln>
              </p:spPr>
            </p:sp>
            <p:sp>
              <p:nvSpPr>
                <p:cNvPr id="89" name="Freeform 89"/>
                <p:cNvSpPr/>
                <p:nvPr/>
              </p:nvSpPr>
              <p:spPr>
                <a:xfrm>
                  <a:off x="2766219" y="400764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7C3B2F"/>
                  </a:solidFill>
                </a:ln>
              </p:spPr>
            </p:sp>
            <p:sp>
              <p:nvSpPr>
                <p:cNvPr id="90" name="Freeform 90"/>
                <p:cNvSpPr/>
                <p:nvPr/>
              </p:nvSpPr>
              <p:spPr>
                <a:xfrm>
                  <a:off x="2749550" y="3940969"/>
                  <a:ext cx="44450" cy="44450"/>
                </a:xfrm>
                <a:custGeom>
                  <a:avLst/>
                  <a:gdLst/>
                  <a:ahLst/>
                  <a:cxnLst/>
                  <a:rect l="l" t="t" r="r" b="b"/>
                  <a:pathLst>
                    <a:path w="44450" h="44450">
                      <a:moveTo>
                        <a:pt x="0" y="44450"/>
                      </a:moveTo>
                      <a:lnTo>
                        <a:pt x="0" y="22225"/>
                      </a:lnTo>
                      <a:cubicBezTo>
                        <a:pt x="0" y="9950"/>
                        <a:pt x="9950" y="0"/>
                        <a:pt x="22225" y="0"/>
                      </a:cubicBezTo>
                      <a:cubicBezTo>
                        <a:pt x="34500" y="0"/>
                        <a:pt x="44450" y="9950"/>
                        <a:pt x="44450" y="22225"/>
                      </a:cubicBezTo>
                      <a:lnTo>
                        <a:pt x="44450" y="44450"/>
                      </a:lnTo>
                    </a:path>
                  </a:pathLst>
                </a:custGeom>
                <a:noFill/>
                <a:ln w="11112">
                  <a:solidFill>
                    <a:srgbClr val="7C3B2F"/>
                  </a:solidFill>
                </a:ln>
              </p:spPr>
            </p:sp>
          </p:grpSp>
          <p:sp>
            <p:nvSpPr>
              <p:cNvPr id="92" name="TextBox 92"/>
              <p:cNvSpPr txBox="1"/>
              <p:nvPr/>
            </p:nvSpPr>
            <p:spPr>
              <a:xfrm>
                <a:off x="2985427" y="3952161"/>
                <a:ext cx="391846" cy="140494"/>
              </a:xfrm>
              <a:prstGeom prst="rect">
                <a:avLst/>
              </a:prstGeom>
              <a:noFill/>
              <a:ln>
                <a:noFill/>
              </a:ln>
            </p:spPr>
            <p:txBody>
              <a:bodyPr wrap="none" lIns="0" tIns="0" rIns="0" bIns="0" anchor="t" anchorCtr="0">
                <a:spAutoFit/>
              </a:bodyPr>
              <a:lstStyle/>
              <a:p>
                <a:pPr algn="ctr"/>
                <a:r>
                  <a:rPr lang="zh-CN" sz="710" dirty="0">
                    <a:solidFill>
                      <a:srgbClr val="3A4238"/>
                    </a:solidFill>
                    <a:latin typeface="+mn-lt"/>
                    <a:ea typeface="+mn-ea"/>
                    <a:cs typeface="+mn-cs"/>
                  </a:rPr>
                  <a:t>权限管理</a:t>
                </a:r>
              </a:p>
            </p:txBody>
          </p:sp>
          <p:sp>
            <p:nvSpPr>
              <p:cNvPr id="93" name="Rectangle 93"/>
              <p:cNvSpPr/>
              <p:nvPr/>
            </p:nvSpPr>
            <p:spPr>
              <a:xfrm>
                <a:off x="3657600" y="3848100"/>
                <a:ext cx="952500" cy="285750"/>
              </a:xfrm>
              <a:prstGeom prst="roundRect">
                <a:avLst>
                  <a:gd name="adj" fmla="val 16667"/>
                </a:avLst>
              </a:prstGeom>
              <a:solidFill>
                <a:srgbClr val="F4F8EC"/>
              </a:solidFill>
              <a:ln w="9525">
                <a:solidFill>
                  <a:srgbClr val="D9E8C6"/>
                </a:solidFill>
              </a:ln>
            </p:spPr>
          </p:sp>
          <p:grpSp>
            <p:nvGrpSpPr>
              <p:cNvPr id="96" name="Group 96"/>
              <p:cNvGrpSpPr/>
              <p:nvPr/>
            </p:nvGrpSpPr>
            <p:grpSpPr>
              <a:xfrm>
                <a:off x="3756025" y="3944381"/>
                <a:ext cx="88900" cy="93187"/>
                <a:chOff x="3756025" y="3944381"/>
                <a:chExt cx="88900" cy="93187"/>
              </a:xfrm>
            </p:grpSpPr>
            <p:sp>
              <p:nvSpPr>
                <p:cNvPr id="94" name="Freeform 94"/>
                <p:cNvSpPr/>
                <p:nvPr/>
              </p:nvSpPr>
              <p:spPr>
                <a:xfrm>
                  <a:off x="3756025" y="3944381"/>
                  <a:ext cx="88900" cy="41037"/>
                </a:xfrm>
                <a:custGeom>
                  <a:avLst/>
                  <a:gdLst/>
                  <a:ahLst/>
                  <a:cxnLst/>
                  <a:rect l="l" t="t" r="r" b="b"/>
                  <a:pathLst>
                    <a:path w="88900" h="41037">
                      <a:moveTo>
                        <a:pt x="88900" y="41037"/>
                      </a:moveTo>
                      <a:cubicBezTo>
                        <a:pt x="86107" y="20938"/>
                        <a:pt x="70208" y="5194"/>
                        <a:pt x="50082" y="2597"/>
                      </a:cubicBezTo>
                      <a:cubicBezTo>
                        <a:pt x="29956" y="0"/>
                        <a:pt x="10582" y="11193"/>
                        <a:pt x="2778" y="29925"/>
                      </a:cubicBezTo>
                      <a:moveTo>
                        <a:pt x="0" y="7700"/>
                      </a:moveTo>
                      <a:lnTo>
                        <a:pt x="0" y="29925"/>
                      </a:lnTo>
                      <a:lnTo>
                        <a:pt x="22225" y="29925"/>
                      </a:lnTo>
                    </a:path>
                  </a:pathLst>
                </a:custGeom>
                <a:noFill/>
                <a:ln w="11112">
                  <a:solidFill>
                    <a:srgbClr val="7C3B2F"/>
                  </a:solidFill>
                </a:ln>
              </p:spPr>
            </p:sp>
            <p:sp>
              <p:nvSpPr>
                <p:cNvPr id="95" name="Freeform 95"/>
                <p:cNvSpPr/>
                <p:nvPr/>
              </p:nvSpPr>
              <p:spPr>
                <a:xfrm>
                  <a:off x="3756025" y="3996531"/>
                  <a:ext cx="88900" cy="41037"/>
                </a:xfrm>
                <a:custGeom>
                  <a:avLst/>
                  <a:gdLst/>
                  <a:ahLst/>
                  <a:cxnLst/>
                  <a:rect l="l" t="t" r="r" b="b"/>
                  <a:pathLst>
                    <a:path w="88900" h="41037">
                      <a:moveTo>
                        <a:pt x="0" y="0"/>
                      </a:moveTo>
                      <a:cubicBezTo>
                        <a:pt x="2793" y="20100"/>
                        <a:pt x="18692" y="35844"/>
                        <a:pt x="38818" y="38441"/>
                      </a:cubicBezTo>
                      <a:cubicBezTo>
                        <a:pt x="58944" y="41037"/>
                        <a:pt x="78318" y="29845"/>
                        <a:pt x="86122" y="11112"/>
                      </a:cubicBezTo>
                      <a:moveTo>
                        <a:pt x="88900" y="33337"/>
                      </a:moveTo>
                      <a:lnTo>
                        <a:pt x="88900" y="11112"/>
                      </a:lnTo>
                      <a:lnTo>
                        <a:pt x="66675" y="11112"/>
                      </a:lnTo>
                    </a:path>
                  </a:pathLst>
                </a:custGeom>
                <a:noFill/>
                <a:ln w="11112">
                  <a:solidFill>
                    <a:srgbClr val="7C3B2F"/>
                  </a:solidFill>
                </a:ln>
              </p:spPr>
            </p:sp>
          </p:grpSp>
          <p:sp>
            <p:nvSpPr>
              <p:cNvPr id="97" name="TextBox 97"/>
              <p:cNvSpPr txBox="1"/>
              <p:nvPr/>
            </p:nvSpPr>
            <p:spPr>
              <a:xfrm>
                <a:off x="4014127" y="3952161"/>
                <a:ext cx="391846" cy="140494"/>
              </a:xfrm>
              <a:prstGeom prst="rect">
                <a:avLst/>
              </a:prstGeom>
              <a:noFill/>
              <a:ln>
                <a:noFill/>
              </a:ln>
            </p:spPr>
            <p:txBody>
              <a:bodyPr wrap="none" lIns="0" tIns="0" rIns="0" bIns="0" anchor="t" anchorCtr="0">
                <a:spAutoFit/>
              </a:bodyPr>
              <a:lstStyle/>
              <a:p>
                <a:pPr algn="ctr"/>
                <a:r>
                  <a:rPr lang="zh-CN" sz="710" dirty="0">
                    <a:solidFill>
                      <a:srgbClr val="3A4238"/>
                    </a:solidFill>
                    <a:latin typeface="+mn-lt"/>
                    <a:ea typeface="+mn-ea"/>
                    <a:cs typeface="+mn-cs"/>
                  </a:rPr>
                  <a:t>生命周期</a:t>
                </a:r>
              </a:p>
            </p:txBody>
          </p:sp>
        </p:grpSp>
      </p:grpSp>
      <p:grpSp>
        <p:nvGrpSpPr>
          <p:cNvPr id="126" name="card-3"/>
          <p:cNvGrpSpPr/>
          <p:nvPr/>
        </p:nvGrpSpPr>
        <p:grpSpPr>
          <a:xfrm>
            <a:off x="4800600" y="1695450"/>
            <a:ext cx="2209800" cy="3143250"/>
            <a:chOff x="4800600" y="1695450"/>
            <a:chExt cx="2209800" cy="3143250"/>
          </a:xfrm>
        </p:grpSpPr>
        <p:sp>
          <p:nvSpPr>
            <p:cNvPr id="100" name="Rectangle 100"/>
            <p:cNvSpPr/>
            <p:nvPr/>
          </p:nvSpPr>
          <p:spPr>
            <a:xfrm>
              <a:off x="4800600" y="1695450"/>
              <a:ext cx="2209800" cy="3143250"/>
            </a:xfrm>
            <a:prstGeom prst="roundRect">
              <a:avLst>
                <a:gd name="adj" fmla="val 4310"/>
              </a:avLst>
            </a:prstGeom>
            <a:solidFill>
              <a:srgbClr val="F4F8EC"/>
            </a:solidFill>
            <a:ln w="9525">
              <a:solidFill>
                <a:srgbClr val="D9E8C6"/>
              </a:solidFill>
            </a:ln>
          </p:spPr>
        </p:sp>
        <p:grpSp>
          <p:nvGrpSpPr>
            <p:cNvPr id="107" name="card3-semantic"/>
            <p:cNvGrpSpPr/>
            <p:nvPr/>
          </p:nvGrpSpPr>
          <p:grpSpPr>
            <a:xfrm>
              <a:off x="5010150" y="1981200"/>
              <a:ext cx="1423893" cy="381000"/>
              <a:chOff x="5010150" y="1981200"/>
              <a:chExt cx="1423893" cy="381000"/>
            </a:xfrm>
          </p:grpSpPr>
          <p:sp>
            <p:nvSpPr>
              <p:cNvPr id="101" name="Ellipse 101"/>
              <p:cNvSpPr/>
              <p:nvPr/>
            </p:nvSpPr>
            <p:spPr>
              <a:xfrm>
                <a:off x="5010150" y="1981200"/>
                <a:ext cx="381000" cy="381000"/>
              </a:xfrm>
              <a:prstGeom prst="ellipse">
                <a:avLst/>
              </a:prstGeom>
              <a:solidFill>
                <a:srgbClr val="FFFFFF"/>
              </a:solidFill>
              <a:ln w="14288">
                <a:solidFill>
                  <a:srgbClr val="BE776A"/>
                </a:solidFill>
              </a:ln>
            </p:spPr>
          </p:sp>
          <p:grpSp>
            <p:nvGrpSpPr>
              <p:cNvPr id="104" name="Group 104"/>
              <p:cNvGrpSpPr/>
              <p:nvPr/>
            </p:nvGrpSpPr>
            <p:grpSpPr>
              <a:xfrm>
                <a:off x="5122069" y="2093119"/>
                <a:ext cx="157163" cy="157163"/>
                <a:chOff x="5122069" y="2093119"/>
                <a:chExt cx="157163" cy="157163"/>
              </a:xfrm>
            </p:grpSpPr>
            <p:sp>
              <p:nvSpPr>
                <p:cNvPr id="102" name="Freeform 102"/>
                <p:cNvSpPr/>
                <p:nvPr/>
              </p:nvSpPr>
              <p:spPr>
                <a:xfrm>
                  <a:off x="5122069" y="2093119"/>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7C3B2F"/>
                  </a:solidFill>
                </a:ln>
              </p:spPr>
            </p:sp>
            <p:sp>
              <p:nvSpPr>
                <p:cNvPr id="103" name="Freeform 103"/>
                <p:cNvSpPr/>
                <p:nvPr/>
              </p:nvSpPr>
              <p:spPr>
                <a:xfrm>
                  <a:off x="5226844" y="2197894"/>
                  <a:ext cx="52388" cy="52388"/>
                </a:xfrm>
                <a:custGeom>
                  <a:avLst/>
                  <a:gdLst/>
                  <a:ahLst/>
                  <a:cxnLst/>
                  <a:rect l="l" t="t" r="r" b="b"/>
                  <a:pathLst>
                    <a:path w="52388" h="52388">
                      <a:moveTo>
                        <a:pt x="52388" y="52388"/>
                      </a:moveTo>
                      <a:lnTo>
                        <a:pt x="0" y="0"/>
                      </a:lnTo>
                    </a:path>
                  </a:pathLst>
                </a:custGeom>
                <a:noFill/>
                <a:ln w="17463">
                  <a:solidFill>
                    <a:srgbClr val="7C3B2F"/>
                  </a:solidFill>
                </a:ln>
              </p:spPr>
            </p:sp>
          </p:grpSp>
          <p:sp>
            <p:nvSpPr>
              <p:cNvPr id="105" name="TextBox 105"/>
              <p:cNvSpPr txBox="1"/>
              <p:nvPr/>
            </p:nvSpPr>
            <p:spPr>
              <a:xfrm>
                <a:off x="5500688" y="2036445"/>
                <a:ext cx="494157"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语义检索</a:t>
                </a:r>
              </a:p>
            </p:txBody>
          </p:sp>
          <p:sp>
            <p:nvSpPr>
              <p:cNvPr id="106" name="TextBox 106"/>
              <p:cNvSpPr txBox="1"/>
              <p:nvPr/>
            </p:nvSpPr>
            <p:spPr>
              <a:xfrm>
                <a:off x="5500688" y="2205038"/>
                <a:ext cx="933355" cy="147638"/>
              </a:xfrm>
              <a:prstGeom prst="rect">
                <a:avLst/>
              </a:prstGeom>
              <a:noFill/>
              <a:ln>
                <a:noFill/>
              </a:ln>
            </p:spPr>
            <p:txBody>
              <a:bodyPr wrap="none" lIns="0" tIns="0" rIns="0" bIns="0" anchor="t" anchorCtr="0">
                <a:spAutoFit/>
              </a:bodyPr>
              <a:lstStyle/>
              <a:p>
                <a:pPr algn="l"/>
                <a:r>
                  <a:rPr lang="zh-CN" sz="750" dirty="0">
                    <a:solidFill>
                      <a:srgbClr val="66705F"/>
                    </a:solidFill>
                    <a:latin typeface="+mn-lt"/>
                    <a:ea typeface="+mn-ea"/>
                    <a:cs typeface="+mn-cs"/>
                  </a:rPr>
                  <a:t>向量检索 + 混合检索</a:t>
                </a:r>
              </a:p>
            </p:txBody>
          </p:sp>
        </p:grpSp>
        <p:sp>
          <p:nvSpPr>
            <p:cNvPr id="108" name="TextBox 108"/>
            <p:cNvSpPr txBox="1"/>
            <p:nvPr/>
          </p:nvSpPr>
          <p:spPr>
            <a:xfrm>
              <a:off x="5852758" y="2518410"/>
              <a:ext cx="105484" cy="234696"/>
            </a:xfrm>
            <a:prstGeom prst="rect">
              <a:avLst/>
            </a:prstGeom>
            <a:noFill/>
            <a:ln>
              <a:noFill/>
            </a:ln>
          </p:spPr>
          <p:txBody>
            <a:bodyPr wrap="none" lIns="0" tIns="0" rIns="0" bIns="0" anchor="t" anchorCtr="0">
              <a:spAutoFit/>
            </a:bodyPr>
            <a:lstStyle/>
            <a:p>
              <a:pPr algn="ctr"/>
              <a:r>
                <a:rPr lang="zh-CN" sz="1200" b="1" dirty="0">
                  <a:solidFill>
                    <a:srgbClr val="9A4B3C"/>
                  </a:solidFill>
                  <a:latin typeface="+mn-lt"/>
                  <a:ea typeface="+mn-ea"/>
                  <a:cs typeface="+mn-cs"/>
                </a:rPr>
                <a:t>+</a:t>
              </a:r>
            </a:p>
          </p:txBody>
        </p:sp>
        <p:grpSp>
          <p:nvGrpSpPr>
            <p:cNvPr id="116" name="card3-reasoning"/>
            <p:cNvGrpSpPr/>
            <p:nvPr/>
          </p:nvGrpSpPr>
          <p:grpSpPr>
            <a:xfrm>
              <a:off x="5010150" y="2781300"/>
              <a:ext cx="1408748" cy="381000"/>
              <a:chOff x="5010150" y="2781300"/>
              <a:chExt cx="1408748" cy="381000"/>
            </a:xfrm>
          </p:grpSpPr>
          <p:sp>
            <p:nvSpPr>
              <p:cNvPr id="109" name="Ellipse 109"/>
              <p:cNvSpPr/>
              <p:nvPr/>
            </p:nvSpPr>
            <p:spPr>
              <a:xfrm>
                <a:off x="5010150" y="2781300"/>
                <a:ext cx="381000" cy="381000"/>
              </a:xfrm>
              <a:prstGeom prst="ellipse">
                <a:avLst/>
              </a:prstGeom>
              <a:solidFill>
                <a:srgbClr val="FFFFFF"/>
              </a:solidFill>
              <a:ln w="14288">
                <a:solidFill>
                  <a:srgbClr val="BE776A"/>
                </a:solidFill>
              </a:ln>
            </p:spPr>
          </p:sp>
          <p:grpSp>
            <p:nvGrpSpPr>
              <p:cNvPr id="113" name="Group 113"/>
              <p:cNvGrpSpPr/>
              <p:nvPr/>
            </p:nvGrpSpPr>
            <p:grpSpPr>
              <a:xfrm>
                <a:off x="5122069" y="2893219"/>
                <a:ext cx="157163" cy="157163"/>
                <a:chOff x="5122069" y="2893219"/>
                <a:chExt cx="157163" cy="157163"/>
              </a:xfrm>
            </p:grpSpPr>
            <p:sp>
              <p:nvSpPr>
                <p:cNvPr id="110" name="Freeform 110"/>
                <p:cNvSpPr/>
                <p:nvPr/>
              </p:nvSpPr>
              <p:spPr>
                <a:xfrm>
                  <a:off x="5122069" y="2893219"/>
                  <a:ext cx="157163" cy="78581"/>
                </a:xfrm>
                <a:custGeom>
                  <a:avLst/>
                  <a:gdLst/>
                  <a:ahLst/>
                  <a:cxnLst/>
                  <a:rect l="l" t="t" r="r" b="b"/>
                  <a:pathLst>
                    <a:path w="157163" h="78581">
                      <a:moveTo>
                        <a:pt x="0" y="78581"/>
                      </a:moveTo>
                      <a:lnTo>
                        <a:pt x="8731" y="78581"/>
                      </a:lnTo>
                      <a:moveTo>
                        <a:pt x="78581" y="0"/>
                      </a:moveTo>
                      <a:lnTo>
                        <a:pt x="78581" y="8731"/>
                      </a:lnTo>
                      <a:moveTo>
                        <a:pt x="148431" y="78581"/>
                      </a:moveTo>
                      <a:lnTo>
                        <a:pt x="157163" y="78581"/>
                      </a:lnTo>
                      <a:moveTo>
                        <a:pt x="22701" y="22701"/>
                      </a:moveTo>
                      <a:lnTo>
                        <a:pt x="28813" y="28813"/>
                      </a:lnTo>
                      <a:moveTo>
                        <a:pt x="134461" y="22701"/>
                      </a:moveTo>
                      <a:lnTo>
                        <a:pt x="128349" y="28813"/>
                      </a:lnTo>
                    </a:path>
                  </a:pathLst>
                </a:custGeom>
                <a:noFill/>
                <a:ln w="17463">
                  <a:solidFill>
                    <a:srgbClr val="7C3B2F"/>
                  </a:solidFill>
                </a:ln>
              </p:spPr>
            </p:sp>
            <p:sp>
              <p:nvSpPr>
                <p:cNvPr id="111" name="Freeform 111"/>
                <p:cNvSpPr/>
                <p:nvPr/>
              </p:nvSpPr>
              <p:spPr>
                <a:xfrm>
                  <a:off x="5153292" y="2928144"/>
                  <a:ext cx="94716" cy="122238"/>
                </a:xfrm>
                <a:custGeom>
                  <a:avLst/>
                  <a:gdLst/>
                  <a:ahLst/>
                  <a:cxnLst/>
                  <a:rect l="l" t="t" r="r" b="b"/>
                  <a:pathLst>
                    <a:path w="94716" h="122238">
                      <a:moveTo>
                        <a:pt x="21164" y="78581"/>
                      </a:moveTo>
                      <a:cubicBezTo>
                        <a:pt x="6132" y="67307"/>
                        <a:pt x="0" y="47678"/>
                        <a:pt x="5942" y="29851"/>
                      </a:cubicBezTo>
                      <a:cubicBezTo>
                        <a:pt x="11884" y="12024"/>
                        <a:pt x="28567" y="0"/>
                        <a:pt x="47358" y="0"/>
                      </a:cubicBezTo>
                      <a:cubicBezTo>
                        <a:pt x="66149" y="0"/>
                        <a:pt x="82832" y="12024"/>
                        <a:pt x="88774" y="29851"/>
                      </a:cubicBezTo>
                      <a:cubicBezTo>
                        <a:pt x="94716" y="47678"/>
                        <a:pt x="88585" y="67307"/>
                        <a:pt x="73552" y="78581"/>
                      </a:cubicBezTo>
                      <a:cubicBezTo>
                        <a:pt x="66638" y="85425"/>
                        <a:pt x="63396" y="95152"/>
                        <a:pt x="64821" y="104775"/>
                      </a:cubicBezTo>
                      <a:cubicBezTo>
                        <a:pt x="64821" y="114419"/>
                        <a:pt x="57002" y="122238"/>
                        <a:pt x="47358" y="122238"/>
                      </a:cubicBezTo>
                      <a:cubicBezTo>
                        <a:pt x="37714" y="122238"/>
                        <a:pt x="29896" y="114419"/>
                        <a:pt x="29896" y="104775"/>
                      </a:cubicBezTo>
                      <a:cubicBezTo>
                        <a:pt x="31320" y="95152"/>
                        <a:pt x="28078" y="85425"/>
                        <a:pt x="21164" y="78581"/>
                      </a:cubicBezTo>
                    </a:path>
                  </a:pathLst>
                </a:custGeom>
                <a:noFill/>
                <a:ln w="17463">
                  <a:solidFill>
                    <a:srgbClr val="7C3B2F"/>
                  </a:solidFill>
                </a:ln>
              </p:spPr>
            </p:sp>
            <p:sp>
              <p:nvSpPr>
                <p:cNvPr id="112" name="Freeform 112"/>
                <p:cNvSpPr/>
                <p:nvPr/>
              </p:nvSpPr>
              <p:spPr>
                <a:xfrm>
                  <a:off x="5180568" y="3015456"/>
                  <a:ext cx="40164" cy="9525"/>
                </a:xfrm>
                <a:custGeom>
                  <a:avLst/>
                  <a:gdLst/>
                  <a:ahLst/>
                  <a:cxnLst/>
                  <a:rect l="l" t="t" r="r" b="b"/>
                  <a:pathLst>
                    <a:path w="40164" h="9525">
                      <a:moveTo>
                        <a:pt x="0" y="0"/>
                      </a:moveTo>
                      <a:lnTo>
                        <a:pt x="40164" y="0"/>
                      </a:lnTo>
                    </a:path>
                  </a:pathLst>
                </a:custGeom>
                <a:noFill/>
                <a:ln w="17463">
                  <a:solidFill>
                    <a:srgbClr val="7C3B2F"/>
                  </a:solidFill>
                </a:ln>
              </p:spPr>
            </p:sp>
          </p:grpSp>
          <p:sp>
            <p:nvSpPr>
              <p:cNvPr id="114" name="TextBox 114"/>
              <p:cNvSpPr txBox="1"/>
              <p:nvPr/>
            </p:nvSpPr>
            <p:spPr>
              <a:xfrm>
                <a:off x="5500688" y="2836545"/>
                <a:ext cx="494157"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推理增强</a:t>
                </a:r>
              </a:p>
            </p:txBody>
          </p:sp>
          <p:sp>
            <p:nvSpPr>
              <p:cNvPr id="115" name="TextBox 115"/>
              <p:cNvSpPr txBox="1"/>
              <p:nvPr/>
            </p:nvSpPr>
            <p:spPr>
              <a:xfrm>
                <a:off x="5500688" y="3005138"/>
                <a:ext cx="918210" cy="147638"/>
              </a:xfrm>
              <a:prstGeom prst="rect">
                <a:avLst/>
              </a:prstGeom>
              <a:noFill/>
              <a:ln>
                <a:noFill/>
              </a:ln>
            </p:spPr>
            <p:txBody>
              <a:bodyPr wrap="none" lIns="0" tIns="0" rIns="0" bIns="0" anchor="t" anchorCtr="0">
                <a:spAutoFit/>
              </a:bodyPr>
              <a:lstStyle/>
              <a:p>
                <a:pPr algn="l"/>
                <a:r>
                  <a:rPr lang="zh-CN" sz="750" dirty="0">
                    <a:solidFill>
                      <a:srgbClr val="66705F"/>
                    </a:solidFill>
                    <a:latin typeface="+mn-lt"/>
                    <a:ea typeface="+mn-ea"/>
                    <a:cs typeface="+mn-cs"/>
                  </a:rPr>
                  <a:t xml:space="preserve">重挑、摘要、归因　</a:t>
                </a:r>
              </a:p>
            </p:txBody>
          </p:sp>
        </p:grpSp>
        <p:sp>
          <p:nvSpPr>
            <p:cNvPr id="117" name="card3-arrow"/>
            <p:cNvSpPr/>
            <p:nvPr/>
          </p:nvSpPr>
          <p:spPr>
            <a:xfrm>
              <a:off x="5791200" y="3200400"/>
              <a:ext cx="152400" cy="114300"/>
            </a:xfrm>
            <a:custGeom>
              <a:avLst/>
              <a:gdLst/>
              <a:ahLst/>
              <a:cxnLst/>
              <a:rect l="l" t="t" r="r" b="b"/>
              <a:pathLst>
                <a:path w="152400" h="114300">
                  <a:moveTo>
                    <a:pt x="76200" y="0"/>
                  </a:moveTo>
                  <a:lnTo>
                    <a:pt x="152400" y="114300"/>
                  </a:lnTo>
                  <a:lnTo>
                    <a:pt x="0" y="114300"/>
                  </a:lnTo>
                  <a:close/>
                </a:path>
              </a:pathLst>
            </a:custGeom>
            <a:solidFill>
              <a:srgbClr val="9A4B3C"/>
            </a:solidFill>
            <a:ln>
              <a:noFill/>
            </a:ln>
          </p:spPr>
        </p:sp>
        <p:grpSp>
          <p:nvGrpSpPr>
            <p:cNvPr id="125" name="card3-trust"/>
            <p:cNvGrpSpPr/>
            <p:nvPr/>
          </p:nvGrpSpPr>
          <p:grpSpPr>
            <a:xfrm>
              <a:off x="4991100" y="3429000"/>
              <a:ext cx="1828800" cy="495300"/>
              <a:chOff x="4991100" y="3429000"/>
              <a:chExt cx="1828800" cy="495300"/>
            </a:xfrm>
          </p:grpSpPr>
          <p:sp>
            <p:nvSpPr>
              <p:cNvPr id="118" name="Rectangle 118"/>
              <p:cNvSpPr/>
              <p:nvPr/>
            </p:nvSpPr>
            <p:spPr>
              <a:xfrm>
                <a:off x="4991100" y="3429000"/>
                <a:ext cx="1828800" cy="495300"/>
              </a:xfrm>
              <a:prstGeom prst="roundRect">
                <a:avLst>
                  <a:gd name="adj" fmla="val 15385"/>
                </a:avLst>
              </a:prstGeom>
              <a:solidFill>
                <a:srgbClr val="42140B"/>
              </a:solidFill>
              <a:ln>
                <a:noFill/>
              </a:ln>
            </p:spPr>
          </p:sp>
          <p:grpSp>
            <p:nvGrpSpPr>
              <p:cNvPr id="122" name="Group 122"/>
              <p:cNvGrpSpPr/>
              <p:nvPr/>
            </p:nvGrpSpPr>
            <p:grpSpPr>
              <a:xfrm>
                <a:off x="5184775" y="3574256"/>
                <a:ext cx="165099" cy="185737"/>
                <a:chOff x="5184775" y="3574256"/>
                <a:chExt cx="165099" cy="185737"/>
              </a:xfrm>
            </p:grpSpPr>
            <p:sp>
              <p:nvSpPr>
                <p:cNvPr id="119" name="Freeform 119"/>
                <p:cNvSpPr/>
                <p:nvPr/>
              </p:nvSpPr>
              <p:spPr>
                <a:xfrm>
                  <a:off x="5184775" y="357425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FFFFFF"/>
                  </a:solidFill>
                </a:ln>
              </p:spPr>
            </p:sp>
            <p:sp>
              <p:nvSpPr>
                <p:cNvPr id="120" name="Freeform 120"/>
                <p:cNvSpPr/>
                <p:nvPr/>
              </p:nvSpPr>
              <p:spPr>
                <a:xfrm>
                  <a:off x="5184775" y="360521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sp>
              <p:nvSpPr>
                <p:cNvPr id="121" name="Freeform 121"/>
                <p:cNvSpPr/>
                <p:nvPr/>
              </p:nvSpPr>
              <p:spPr>
                <a:xfrm>
                  <a:off x="5184775" y="366712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grpSp>
          <p:sp>
            <p:nvSpPr>
              <p:cNvPr id="123" name="TextBox 123"/>
              <p:cNvSpPr txBox="1"/>
              <p:nvPr/>
            </p:nvSpPr>
            <p:spPr>
              <a:xfrm>
                <a:off x="5553418" y="354544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可信知识底座</a:t>
                </a:r>
              </a:p>
            </p:txBody>
          </p:sp>
          <p:sp>
            <p:nvSpPr>
              <p:cNvPr id="124" name="TextBox 124"/>
              <p:cNvSpPr txBox="1"/>
              <p:nvPr/>
            </p:nvSpPr>
            <p:spPr>
              <a:xfrm>
                <a:off x="5566207" y="3733086"/>
                <a:ext cx="678586" cy="140494"/>
              </a:xfrm>
              <a:prstGeom prst="rect">
                <a:avLst/>
              </a:prstGeom>
              <a:noFill/>
              <a:ln>
                <a:noFill/>
              </a:ln>
            </p:spPr>
            <p:txBody>
              <a:bodyPr wrap="none" lIns="0" tIns="0" rIns="0" bIns="0" anchor="t" anchorCtr="0">
                <a:spAutoFit/>
              </a:bodyPr>
              <a:lstStyle/>
              <a:p>
                <a:pPr algn="ctr"/>
                <a:r>
                  <a:rPr lang="zh-CN" sz="710" dirty="0">
                    <a:solidFill>
                      <a:srgbClr val="E4B7AF"/>
                    </a:solidFill>
                    <a:latin typeface="+mn-lt"/>
                    <a:ea typeface="+mn-ea"/>
                    <a:cs typeface="+mn-cs"/>
                  </a:rPr>
                  <a:t>可追溯、可验证</a:t>
                </a:r>
              </a:p>
            </p:txBody>
          </p:sp>
        </p:grpSp>
      </p:grpSp>
      <p:grpSp>
        <p:nvGrpSpPr>
          <p:cNvPr id="163" name="card-4"/>
          <p:cNvGrpSpPr/>
          <p:nvPr/>
        </p:nvGrpSpPr>
        <p:grpSpPr>
          <a:xfrm>
            <a:off x="7086600" y="1695450"/>
            <a:ext cx="2209800" cy="3143250"/>
            <a:chOff x="7086600" y="1695450"/>
            <a:chExt cx="2209800" cy="3143250"/>
          </a:xfrm>
        </p:grpSpPr>
        <p:sp>
          <p:nvSpPr>
            <p:cNvPr id="127" name="Rectangle 127"/>
            <p:cNvSpPr/>
            <p:nvPr/>
          </p:nvSpPr>
          <p:spPr>
            <a:xfrm>
              <a:off x="7086600" y="1695450"/>
              <a:ext cx="2209800" cy="3143250"/>
            </a:xfrm>
            <a:prstGeom prst="roundRect">
              <a:avLst>
                <a:gd name="adj" fmla="val 4310"/>
              </a:avLst>
            </a:prstGeom>
            <a:solidFill>
              <a:srgbClr val="FFFFFF"/>
            </a:solidFill>
            <a:ln w="9525">
              <a:solidFill>
                <a:srgbClr val="D9E8C6"/>
              </a:solidFill>
            </a:ln>
          </p:spPr>
        </p:sp>
        <p:grpSp>
          <p:nvGrpSpPr>
            <p:cNvPr id="135" name="card4-role1"/>
            <p:cNvGrpSpPr/>
            <p:nvPr/>
          </p:nvGrpSpPr>
          <p:grpSpPr>
            <a:xfrm>
              <a:off x="7267575" y="1952625"/>
              <a:ext cx="1236460" cy="311230"/>
              <a:chOff x="7267575" y="1952625"/>
              <a:chExt cx="1236460" cy="311230"/>
            </a:xfrm>
          </p:grpSpPr>
          <p:sp>
            <p:nvSpPr>
              <p:cNvPr id="128" name="Ellipse 128"/>
              <p:cNvSpPr/>
              <p:nvPr/>
            </p:nvSpPr>
            <p:spPr>
              <a:xfrm>
                <a:off x="7267575" y="1952625"/>
                <a:ext cx="285750" cy="285750"/>
              </a:xfrm>
              <a:prstGeom prst="ellipse">
                <a:avLst/>
              </a:prstGeom>
              <a:solidFill>
                <a:srgbClr val="7C3B2F"/>
              </a:solidFill>
              <a:ln>
                <a:noFill/>
              </a:ln>
            </p:spPr>
          </p:sp>
          <p:grpSp>
            <p:nvGrpSpPr>
              <p:cNvPr id="132" name="Group 132"/>
              <p:cNvGrpSpPr/>
              <p:nvPr/>
            </p:nvGrpSpPr>
            <p:grpSpPr>
              <a:xfrm>
                <a:off x="7367588" y="2031206"/>
                <a:ext cx="107155" cy="128588"/>
                <a:chOff x="7367588" y="2031206"/>
                <a:chExt cx="107155" cy="128588"/>
              </a:xfrm>
            </p:grpSpPr>
            <p:sp>
              <p:nvSpPr>
                <p:cNvPr id="129" name="Freeform 129"/>
                <p:cNvSpPr/>
                <p:nvPr/>
              </p:nvSpPr>
              <p:spPr>
                <a:xfrm>
                  <a:off x="7381875" y="20312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30" name="Freeform 130"/>
                <p:cNvSpPr/>
                <p:nvPr/>
              </p:nvSpPr>
              <p:spPr>
                <a:xfrm>
                  <a:off x="7367588" y="2116931"/>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FFFFFF"/>
                  </a:solidFill>
                </a:ln>
              </p:spPr>
            </p:sp>
            <p:sp>
              <p:nvSpPr>
                <p:cNvPr id="131" name="Freeform 131"/>
                <p:cNvSpPr/>
                <p:nvPr/>
              </p:nvSpPr>
              <p:spPr>
                <a:xfrm>
                  <a:off x="7431881" y="213121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133" name="TextBox 133"/>
              <p:cNvSpPr txBox="1"/>
              <p:nvPr/>
            </p:nvSpPr>
            <p:spPr>
              <a:xfrm>
                <a:off x="7634288" y="1964293"/>
                <a:ext cx="804133"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 xml:space="preserve">销售 Copilot　</a:t>
                </a:r>
              </a:p>
            </p:txBody>
          </p:sp>
          <p:sp>
            <p:nvSpPr>
              <p:cNvPr id="134" name="TextBox 134"/>
              <p:cNvSpPr txBox="1"/>
              <p:nvPr/>
            </p:nvSpPr>
            <p:spPr>
              <a:xfrm>
                <a:off x="7634288" y="2123361"/>
                <a:ext cx="869747"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客户洞察、方案生成</a:t>
                </a:r>
              </a:p>
            </p:txBody>
          </p:sp>
        </p:grpSp>
        <p:grpSp>
          <p:nvGrpSpPr>
            <p:cNvPr id="142" name="card4-role2"/>
            <p:cNvGrpSpPr/>
            <p:nvPr/>
          </p:nvGrpSpPr>
          <p:grpSpPr>
            <a:xfrm>
              <a:off x="7267575" y="2524125"/>
              <a:ext cx="1236460" cy="311230"/>
              <a:chOff x="7267575" y="2524125"/>
              <a:chExt cx="1236460" cy="311230"/>
            </a:xfrm>
          </p:grpSpPr>
          <p:sp>
            <p:nvSpPr>
              <p:cNvPr id="136" name="Ellipse 136"/>
              <p:cNvSpPr/>
              <p:nvPr/>
            </p:nvSpPr>
            <p:spPr>
              <a:xfrm>
                <a:off x="7267575" y="2524125"/>
                <a:ext cx="285750" cy="285750"/>
              </a:xfrm>
              <a:prstGeom prst="ellipse">
                <a:avLst/>
              </a:prstGeom>
              <a:solidFill>
                <a:srgbClr val="8C4336"/>
              </a:solidFill>
              <a:ln>
                <a:noFill/>
              </a:ln>
            </p:spPr>
          </p:sp>
          <p:grpSp>
            <p:nvGrpSpPr>
              <p:cNvPr id="139" name="Group 139"/>
              <p:cNvGrpSpPr/>
              <p:nvPr/>
            </p:nvGrpSpPr>
            <p:grpSpPr>
              <a:xfrm>
                <a:off x="7343020" y="2599570"/>
                <a:ext cx="134860" cy="134860"/>
                <a:chOff x="7343020" y="2599570"/>
                <a:chExt cx="134860" cy="134860"/>
              </a:xfrm>
            </p:grpSpPr>
            <p:sp>
              <p:nvSpPr>
                <p:cNvPr id="137" name="Freeform 137"/>
                <p:cNvSpPr/>
                <p:nvPr/>
              </p:nvSpPr>
              <p:spPr>
                <a:xfrm>
                  <a:off x="7343020" y="2599570"/>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FFFFFF"/>
                  </a:solidFill>
                </a:ln>
              </p:spPr>
            </p:sp>
            <p:sp>
              <p:nvSpPr>
                <p:cNvPr id="138" name="Freeform 138"/>
                <p:cNvSpPr/>
                <p:nvPr/>
              </p:nvSpPr>
              <p:spPr>
                <a:xfrm>
                  <a:off x="7389019" y="2645569"/>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FFFFFF"/>
                  </a:solidFill>
                </a:ln>
              </p:spPr>
            </p:sp>
          </p:grpSp>
          <p:sp>
            <p:nvSpPr>
              <p:cNvPr id="140" name="TextBox 140"/>
              <p:cNvSpPr txBox="1"/>
              <p:nvPr/>
            </p:nvSpPr>
            <p:spPr>
              <a:xfrm>
                <a:off x="7634288" y="2535793"/>
                <a:ext cx="804133"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 xml:space="preserve">研发 Copilot　</a:t>
                </a:r>
              </a:p>
            </p:txBody>
          </p:sp>
          <p:sp>
            <p:nvSpPr>
              <p:cNvPr id="141" name="TextBox 141"/>
              <p:cNvSpPr txBox="1"/>
              <p:nvPr/>
            </p:nvSpPr>
            <p:spPr>
              <a:xfrm>
                <a:off x="7634288" y="2694861"/>
                <a:ext cx="869747"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技术问答、方案设计</a:t>
                </a:r>
              </a:p>
            </p:txBody>
          </p:sp>
        </p:grpSp>
        <p:grpSp>
          <p:nvGrpSpPr>
            <p:cNvPr id="152" name="card4-role3"/>
            <p:cNvGrpSpPr/>
            <p:nvPr/>
          </p:nvGrpSpPr>
          <p:grpSpPr>
            <a:xfrm>
              <a:off x="7267575" y="3095625"/>
              <a:ext cx="1236460" cy="311230"/>
              <a:chOff x="7267575" y="3095625"/>
              <a:chExt cx="1236460" cy="311230"/>
            </a:xfrm>
          </p:grpSpPr>
          <p:sp>
            <p:nvSpPr>
              <p:cNvPr id="143" name="Ellipse 143"/>
              <p:cNvSpPr/>
              <p:nvPr/>
            </p:nvSpPr>
            <p:spPr>
              <a:xfrm>
                <a:off x="7267575" y="3095625"/>
                <a:ext cx="285750" cy="285750"/>
              </a:xfrm>
              <a:prstGeom prst="ellipse">
                <a:avLst/>
              </a:prstGeom>
              <a:solidFill>
                <a:srgbClr val="9A4B3C"/>
              </a:solidFill>
              <a:ln>
                <a:noFill/>
              </a:ln>
            </p:spPr>
          </p:sp>
          <p:grpSp>
            <p:nvGrpSpPr>
              <p:cNvPr id="149" name="Group 149"/>
              <p:cNvGrpSpPr/>
              <p:nvPr/>
            </p:nvGrpSpPr>
            <p:grpSpPr>
              <a:xfrm>
                <a:off x="7346156" y="3174206"/>
                <a:ext cx="128587" cy="130969"/>
                <a:chOff x="7346156" y="3174206"/>
                <a:chExt cx="128587" cy="130969"/>
              </a:xfrm>
            </p:grpSpPr>
            <p:sp>
              <p:nvSpPr>
                <p:cNvPr id="144" name="Freeform 144"/>
                <p:cNvSpPr/>
                <p:nvPr/>
              </p:nvSpPr>
              <p:spPr>
                <a:xfrm>
                  <a:off x="7374731" y="3295650"/>
                  <a:ext cx="71438" cy="9525"/>
                </a:xfrm>
                <a:custGeom>
                  <a:avLst/>
                  <a:gdLst/>
                  <a:ahLst/>
                  <a:cxnLst/>
                  <a:rect l="l" t="t" r="r" b="b"/>
                  <a:pathLst>
                    <a:path w="71438" h="9525">
                      <a:moveTo>
                        <a:pt x="0" y="0"/>
                      </a:moveTo>
                      <a:lnTo>
                        <a:pt x="71438" y="0"/>
                      </a:lnTo>
                    </a:path>
                  </a:pathLst>
                </a:custGeom>
                <a:noFill/>
                <a:ln w="14288">
                  <a:solidFill>
                    <a:srgbClr val="FFFFFF"/>
                  </a:solidFill>
                </a:ln>
              </p:spPr>
            </p:sp>
            <p:sp>
              <p:nvSpPr>
                <p:cNvPr id="145" name="Freeform 145"/>
                <p:cNvSpPr/>
                <p:nvPr/>
              </p:nvSpPr>
              <p:spPr>
                <a:xfrm>
                  <a:off x="7367588" y="3188494"/>
                  <a:ext cx="85725" cy="9525"/>
                </a:xfrm>
                <a:custGeom>
                  <a:avLst/>
                  <a:gdLst/>
                  <a:ahLst/>
                  <a:cxnLst/>
                  <a:rect l="l" t="t" r="r" b="b"/>
                  <a:pathLst>
                    <a:path w="85725" h="9525">
                      <a:moveTo>
                        <a:pt x="0" y="7144"/>
                      </a:moveTo>
                      <a:lnTo>
                        <a:pt x="42862" y="0"/>
                      </a:lnTo>
                      <a:lnTo>
                        <a:pt x="85725" y="7144"/>
                      </a:lnTo>
                    </a:path>
                  </a:pathLst>
                </a:custGeom>
                <a:noFill/>
                <a:ln w="14288">
                  <a:solidFill>
                    <a:srgbClr val="FFFFFF"/>
                  </a:solidFill>
                </a:ln>
              </p:spPr>
            </p:sp>
            <p:sp>
              <p:nvSpPr>
                <p:cNvPr id="146" name="Freeform 146"/>
                <p:cNvSpPr/>
                <p:nvPr/>
              </p:nvSpPr>
              <p:spPr>
                <a:xfrm>
                  <a:off x="7410450" y="3174206"/>
                  <a:ext cx="9525" cy="121444"/>
                </a:xfrm>
                <a:custGeom>
                  <a:avLst/>
                  <a:gdLst/>
                  <a:ahLst/>
                  <a:cxnLst/>
                  <a:rect l="l" t="t" r="r" b="b"/>
                  <a:pathLst>
                    <a:path w="9525" h="121444">
                      <a:moveTo>
                        <a:pt x="0" y="0"/>
                      </a:moveTo>
                      <a:lnTo>
                        <a:pt x="0" y="121444"/>
                      </a:lnTo>
                    </a:path>
                  </a:pathLst>
                </a:custGeom>
                <a:noFill/>
                <a:ln w="14288">
                  <a:solidFill>
                    <a:srgbClr val="FFFFFF"/>
                  </a:solidFill>
                </a:ln>
              </p:spPr>
            </p:sp>
            <p:sp>
              <p:nvSpPr>
                <p:cNvPr id="147" name="Freeform 147"/>
                <p:cNvSpPr/>
                <p:nvPr/>
              </p:nvSpPr>
              <p:spPr>
                <a:xfrm>
                  <a:off x="7346156" y="3195638"/>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FFFFFF"/>
                  </a:solidFill>
                </a:ln>
              </p:spPr>
            </p:sp>
            <p:sp>
              <p:nvSpPr>
                <p:cNvPr id="148" name="Freeform 148"/>
                <p:cNvSpPr/>
                <p:nvPr/>
              </p:nvSpPr>
              <p:spPr>
                <a:xfrm>
                  <a:off x="7431881" y="3195638"/>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FFFFFF"/>
                  </a:solidFill>
                </a:ln>
              </p:spPr>
            </p:sp>
          </p:grpSp>
          <p:sp>
            <p:nvSpPr>
              <p:cNvPr id="150" name="TextBox 150"/>
              <p:cNvSpPr txBox="1"/>
              <p:nvPr/>
            </p:nvSpPr>
            <p:spPr>
              <a:xfrm>
                <a:off x="7634288" y="3107293"/>
                <a:ext cx="804133"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 xml:space="preserve">法务 Copilot　</a:t>
                </a:r>
              </a:p>
            </p:txBody>
          </p:sp>
          <p:sp>
            <p:nvSpPr>
              <p:cNvPr id="151" name="TextBox 151"/>
              <p:cNvSpPr txBox="1"/>
              <p:nvPr/>
            </p:nvSpPr>
            <p:spPr>
              <a:xfrm>
                <a:off x="7634288" y="3266361"/>
                <a:ext cx="869747"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条款检索、风险识别</a:t>
                </a:r>
              </a:p>
            </p:txBody>
          </p:sp>
        </p:grpSp>
        <p:grpSp>
          <p:nvGrpSpPr>
            <p:cNvPr id="161" name="card4-role4"/>
            <p:cNvGrpSpPr/>
            <p:nvPr/>
          </p:nvGrpSpPr>
          <p:grpSpPr>
            <a:xfrm>
              <a:off x="7267575" y="3667125"/>
              <a:ext cx="1236460" cy="311230"/>
              <a:chOff x="7267575" y="3667125"/>
              <a:chExt cx="1236460" cy="311230"/>
            </a:xfrm>
          </p:grpSpPr>
          <p:sp>
            <p:nvSpPr>
              <p:cNvPr id="153" name="Ellipse 153"/>
              <p:cNvSpPr/>
              <p:nvPr/>
            </p:nvSpPr>
            <p:spPr>
              <a:xfrm>
                <a:off x="7267575" y="3667125"/>
                <a:ext cx="285750" cy="285750"/>
              </a:xfrm>
              <a:prstGeom prst="ellipse">
                <a:avLst/>
              </a:prstGeom>
              <a:solidFill>
                <a:srgbClr val="BE776A"/>
              </a:solidFill>
              <a:ln>
                <a:noFill/>
              </a:ln>
            </p:spPr>
          </p:sp>
          <p:grpSp>
            <p:nvGrpSpPr>
              <p:cNvPr id="158" name="Group 158"/>
              <p:cNvGrpSpPr/>
              <p:nvPr/>
            </p:nvGrpSpPr>
            <p:grpSpPr>
              <a:xfrm>
                <a:off x="7346156" y="3745706"/>
                <a:ext cx="128587" cy="128588"/>
                <a:chOff x="7346156" y="3745706"/>
                <a:chExt cx="128587" cy="128588"/>
              </a:xfrm>
            </p:grpSpPr>
            <p:sp>
              <p:nvSpPr>
                <p:cNvPr id="154" name="Freeform 154"/>
                <p:cNvSpPr/>
                <p:nvPr/>
              </p:nvSpPr>
              <p:spPr>
                <a:xfrm>
                  <a:off x="7360444" y="37457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55" name="Freeform 155"/>
                <p:cNvSpPr/>
                <p:nvPr/>
              </p:nvSpPr>
              <p:spPr>
                <a:xfrm>
                  <a:off x="7346156" y="38314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156" name="Freeform 156"/>
                <p:cNvSpPr/>
                <p:nvPr/>
              </p:nvSpPr>
              <p:spPr>
                <a:xfrm>
                  <a:off x="7439025" y="37466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157" name="Freeform 157"/>
                <p:cNvSpPr/>
                <p:nvPr/>
              </p:nvSpPr>
              <p:spPr>
                <a:xfrm>
                  <a:off x="7453312" y="38325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159" name="TextBox 159"/>
              <p:cNvSpPr txBox="1"/>
              <p:nvPr/>
            </p:nvSpPr>
            <p:spPr>
              <a:xfrm>
                <a:off x="7634288" y="3678793"/>
                <a:ext cx="713612"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 xml:space="preserve">HR Copilot　</a:t>
                </a:r>
              </a:p>
            </p:txBody>
          </p:sp>
          <p:sp>
            <p:nvSpPr>
              <p:cNvPr id="160" name="TextBox 160"/>
              <p:cNvSpPr txBox="1"/>
              <p:nvPr/>
            </p:nvSpPr>
            <p:spPr>
              <a:xfrm>
                <a:off x="7634288" y="3837861"/>
                <a:ext cx="869747"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政策解读、流程指引</a:t>
                </a:r>
              </a:p>
            </p:txBody>
          </p:sp>
        </p:grpSp>
        <p:sp>
          <p:nvSpPr>
            <p:cNvPr id="162" name="TextBox 162"/>
            <p:cNvSpPr txBox="1"/>
            <p:nvPr/>
          </p:nvSpPr>
          <p:spPr>
            <a:xfrm>
              <a:off x="7865162" y="4220289"/>
              <a:ext cx="652675" cy="154781"/>
            </a:xfrm>
            <a:prstGeom prst="rect">
              <a:avLst/>
            </a:prstGeom>
            <a:noFill/>
            <a:ln>
              <a:noFill/>
            </a:ln>
          </p:spPr>
          <p:txBody>
            <a:bodyPr wrap="none" lIns="0" tIns="0" rIns="0" bIns="0" anchor="t" anchorCtr="0">
              <a:spAutoFit/>
            </a:bodyPr>
            <a:lstStyle/>
            <a:p>
              <a:pPr algn="ctr"/>
              <a:r>
                <a:rPr lang="zh-CN" sz="790" b="1" dirty="0">
                  <a:solidFill>
                    <a:srgbClr val="7C3B2F"/>
                  </a:solidFill>
                  <a:latin typeface="+mn-lt"/>
                  <a:ea typeface="+mn-ea"/>
                  <a:cs typeface="+mn-cs"/>
                </a:rPr>
                <a:t>更多角色 ...</a:t>
              </a:r>
            </a:p>
          </p:txBody>
        </p:sp>
      </p:grpSp>
      <p:grpSp>
        <p:nvGrpSpPr>
          <p:cNvPr id="194" name="card-5"/>
          <p:cNvGrpSpPr/>
          <p:nvPr/>
        </p:nvGrpSpPr>
        <p:grpSpPr>
          <a:xfrm>
            <a:off x="9372600" y="1695450"/>
            <a:ext cx="2209800" cy="3143250"/>
            <a:chOff x="9372600" y="1695450"/>
            <a:chExt cx="2209800" cy="3143250"/>
          </a:xfrm>
        </p:grpSpPr>
        <p:sp>
          <p:nvSpPr>
            <p:cNvPr id="164" name="Rectangle 164"/>
            <p:cNvSpPr/>
            <p:nvPr/>
          </p:nvSpPr>
          <p:spPr>
            <a:xfrm>
              <a:off x="9372600" y="1695450"/>
              <a:ext cx="2209800" cy="3143250"/>
            </a:xfrm>
            <a:prstGeom prst="roundRect">
              <a:avLst>
                <a:gd name="adj" fmla="val 4310"/>
              </a:avLst>
            </a:prstGeom>
            <a:solidFill>
              <a:srgbClr val="F4F8EC"/>
            </a:solidFill>
            <a:ln w="9525">
              <a:solidFill>
                <a:srgbClr val="D9E8C6"/>
              </a:solidFill>
            </a:ln>
          </p:spPr>
        </p:sp>
        <p:grpSp>
          <p:nvGrpSpPr>
            <p:cNvPr id="173" name="card5-item1"/>
            <p:cNvGrpSpPr/>
            <p:nvPr/>
          </p:nvGrpSpPr>
          <p:grpSpPr>
            <a:xfrm>
              <a:off x="9486900" y="1866900"/>
              <a:ext cx="1303135" cy="349330"/>
              <a:chOff x="9486900" y="1866900"/>
              <a:chExt cx="1303135" cy="349330"/>
            </a:xfrm>
          </p:grpSpPr>
          <p:sp>
            <p:nvSpPr>
              <p:cNvPr id="165" name="Rectangle 165"/>
              <p:cNvSpPr/>
              <p:nvPr/>
            </p:nvSpPr>
            <p:spPr>
              <a:xfrm>
                <a:off x="9486900" y="1866900"/>
                <a:ext cx="323850" cy="323850"/>
              </a:xfrm>
              <a:prstGeom prst="roundRect">
                <a:avLst>
                  <a:gd name="adj" fmla="val 17647"/>
                </a:avLst>
              </a:prstGeom>
              <a:solidFill>
                <a:srgbClr val="FFFFFF"/>
              </a:solidFill>
              <a:ln w="9525">
                <a:solidFill>
                  <a:srgbClr val="D4A39A"/>
                </a:solidFill>
              </a:ln>
            </p:spPr>
          </p:sp>
          <p:grpSp>
            <p:nvGrpSpPr>
              <p:cNvPr id="170" name="Group 170"/>
              <p:cNvGrpSpPr/>
              <p:nvPr/>
            </p:nvGrpSpPr>
            <p:grpSpPr>
              <a:xfrm>
                <a:off x="9577387" y="1965325"/>
                <a:ext cx="142875" cy="136525"/>
                <a:chOff x="9577387" y="1965325"/>
                <a:chExt cx="142875" cy="136525"/>
              </a:xfrm>
            </p:grpSpPr>
            <p:sp>
              <p:nvSpPr>
                <p:cNvPr id="166" name="Freeform 166"/>
                <p:cNvSpPr/>
                <p:nvPr/>
              </p:nvSpPr>
              <p:spPr>
                <a:xfrm>
                  <a:off x="9577387" y="2028825"/>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7C3B2F"/>
                  </a:solidFill>
                </a:ln>
              </p:spPr>
            </p:sp>
            <p:sp>
              <p:nvSpPr>
                <p:cNvPr id="167" name="Freeform 167"/>
                <p:cNvSpPr/>
                <p:nvPr/>
              </p:nvSpPr>
              <p:spPr>
                <a:xfrm>
                  <a:off x="9672637" y="1997075"/>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7C3B2F"/>
                  </a:solidFill>
                </a:ln>
              </p:spPr>
            </p:sp>
            <p:sp>
              <p:nvSpPr>
                <p:cNvPr id="168" name="Freeform 168"/>
                <p:cNvSpPr/>
                <p:nvPr/>
              </p:nvSpPr>
              <p:spPr>
                <a:xfrm>
                  <a:off x="9625012" y="1965325"/>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7C3B2F"/>
                  </a:solidFill>
                </a:ln>
              </p:spPr>
            </p:sp>
            <p:sp>
              <p:nvSpPr>
                <p:cNvPr id="169" name="Freeform 169"/>
                <p:cNvSpPr/>
                <p:nvPr/>
              </p:nvSpPr>
              <p:spPr>
                <a:xfrm>
                  <a:off x="9585325" y="2092325"/>
                  <a:ext cx="111125" cy="9525"/>
                </a:xfrm>
                <a:custGeom>
                  <a:avLst/>
                  <a:gdLst/>
                  <a:ahLst/>
                  <a:cxnLst/>
                  <a:rect l="l" t="t" r="r" b="b"/>
                  <a:pathLst>
                    <a:path w="111125" h="9525">
                      <a:moveTo>
                        <a:pt x="0" y="0"/>
                      </a:moveTo>
                      <a:lnTo>
                        <a:pt x="111125" y="0"/>
                      </a:lnTo>
                    </a:path>
                  </a:pathLst>
                </a:custGeom>
                <a:noFill/>
                <a:ln w="15875">
                  <a:solidFill>
                    <a:srgbClr val="7C3B2F"/>
                  </a:solidFill>
                </a:ln>
              </p:spPr>
            </p:sp>
          </p:grpSp>
          <p:sp>
            <p:nvSpPr>
              <p:cNvPr id="171" name="TextBox 171"/>
              <p:cNvSpPr txBox="1"/>
              <p:nvPr/>
            </p:nvSpPr>
            <p:spPr>
              <a:xfrm>
                <a:off x="9920288" y="19071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洞察支持</a:t>
                </a:r>
              </a:p>
            </p:txBody>
          </p:sp>
          <p:sp>
            <p:nvSpPr>
              <p:cNvPr id="172" name="TextBox 172"/>
              <p:cNvSpPr txBox="1"/>
              <p:nvPr/>
            </p:nvSpPr>
            <p:spPr>
              <a:xfrm>
                <a:off x="9920288" y="2075736"/>
                <a:ext cx="869747"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趋势洞察、影响分析</a:t>
                </a:r>
              </a:p>
            </p:txBody>
          </p:sp>
        </p:grpSp>
        <p:grpSp>
          <p:nvGrpSpPr>
            <p:cNvPr id="182" name="card5-item2"/>
            <p:cNvGrpSpPr/>
            <p:nvPr/>
          </p:nvGrpSpPr>
          <p:grpSpPr>
            <a:xfrm>
              <a:off x="9486900" y="2362200"/>
              <a:ext cx="1303135" cy="349330"/>
              <a:chOff x="9486900" y="2362200"/>
              <a:chExt cx="1303135" cy="349330"/>
            </a:xfrm>
          </p:grpSpPr>
          <p:sp>
            <p:nvSpPr>
              <p:cNvPr id="174" name="Rectangle 174"/>
              <p:cNvSpPr/>
              <p:nvPr/>
            </p:nvSpPr>
            <p:spPr>
              <a:xfrm>
                <a:off x="9486900" y="2362200"/>
                <a:ext cx="323850" cy="323850"/>
              </a:xfrm>
              <a:prstGeom prst="roundRect">
                <a:avLst>
                  <a:gd name="adj" fmla="val 17647"/>
                </a:avLst>
              </a:prstGeom>
              <a:solidFill>
                <a:srgbClr val="FFFFFF"/>
              </a:solidFill>
              <a:ln w="9525">
                <a:solidFill>
                  <a:srgbClr val="D4A39A"/>
                </a:solidFill>
              </a:ln>
            </p:spPr>
          </p:sp>
          <p:grpSp>
            <p:nvGrpSpPr>
              <p:cNvPr id="179" name="Group 179"/>
              <p:cNvGrpSpPr/>
              <p:nvPr/>
            </p:nvGrpSpPr>
            <p:grpSpPr>
              <a:xfrm>
                <a:off x="9593262" y="2460625"/>
                <a:ext cx="119063" cy="134937"/>
                <a:chOff x="9593262" y="2460625"/>
                <a:chExt cx="119063" cy="134937"/>
              </a:xfrm>
            </p:grpSpPr>
            <p:sp>
              <p:nvSpPr>
                <p:cNvPr id="175" name="Freeform 175"/>
                <p:cNvSpPr/>
                <p:nvPr/>
              </p:nvSpPr>
              <p:spPr>
                <a:xfrm>
                  <a:off x="9593262" y="2460625"/>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7C3B2F"/>
                  </a:solidFill>
                </a:ln>
              </p:spPr>
            </p:sp>
            <p:sp>
              <p:nvSpPr>
                <p:cNvPr id="176" name="Freeform 176"/>
                <p:cNvSpPr/>
                <p:nvPr/>
              </p:nvSpPr>
              <p:spPr>
                <a:xfrm>
                  <a:off x="9664700" y="2563812"/>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sp>
              <p:nvSpPr>
                <p:cNvPr id="177" name="Freeform 177"/>
                <p:cNvSpPr/>
                <p:nvPr/>
              </p:nvSpPr>
              <p:spPr>
                <a:xfrm>
                  <a:off x="9625012" y="2492375"/>
                  <a:ext cx="31750" cy="9525"/>
                </a:xfrm>
                <a:custGeom>
                  <a:avLst/>
                  <a:gdLst/>
                  <a:ahLst/>
                  <a:cxnLst/>
                  <a:rect l="l" t="t" r="r" b="b"/>
                  <a:pathLst>
                    <a:path w="31750" h="9525">
                      <a:moveTo>
                        <a:pt x="0" y="0"/>
                      </a:moveTo>
                      <a:lnTo>
                        <a:pt x="31750" y="0"/>
                      </a:lnTo>
                    </a:path>
                  </a:pathLst>
                </a:custGeom>
                <a:noFill/>
                <a:ln w="15875">
                  <a:solidFill>
                    <a:srgbClr val="7C3B2F"/>
                  </a:solidFill>
                </a:ln>
              </p:spPr>
            </p:sp>
            <p:sp>
              <p:nvSpPr>
                <p:cNvPr id="178" name="Freeform 178"/>
                <p:cNvSpPr/>
                <p:nvPr/>
              </p:nvSpPr>
              <p:spPr>
                <a:xfrm>
                  <a:off x="9625012" y="2524125"/>
                  <a:ext cx="15875" cy="9525"/>
                </a:xfrm>
                <a:custGeom>
                  <a:avLst/>
                  <a:gdLst/>
                  <a:ahLst/>
                  <a:cxnLst/>
                  <a:rect l="l" t="t" r="r" b="b"/>
                  <a:pathLst>
                    <a:path w="15875" h="9525">
                      <a:moveTo>
                        <a:pt x="0" y="0"/>
                      </a:moveTo>
                      <a:lnTo>
                        <a:pt x="15875" y="0"/>
                      </a:lnTo>
                    </a:path>
                  </a:pathLst>
                </a:custGeom>
                <a:noFill/>
                <a:ln w="15875">
                  <a:solidFill>
                    <a:srgbClr val="7C3B2F"/>
                  </a:solidFill>
                </a:ln>
              </p:spPr>
            </p:sp>
          </p:grpSp>
          <p:sp>
            <p:nvSpPr>
              <p:cNvPr id="180" name="TextBox 180"/>
              <p:cNvSpPr txBox="1"/>
              <p:nvPr/>
            </p:nvSpPr>
            <p:spPr>
              <a:xfrm>
                <a:off x="9920288" y="24024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建议生成</a:t>
                </a:r>
              </a:p>
            </p:txBody>
          </p:sp>
          <p:sp>
            <p:nvSpPr>
              <p:cNvPr id="181" name="TextBox 181"/>
              <p:cNvSpPr txBox="1"/>
              <p:nvPr/>
            </p:nvSpPr>
            <p:spPr>
              <a:xfrm>
                <a:off x="9920288" y="2571036"/>
                <a:ext cx="869747"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备选方案、利弊评估</a:t>
                </a:r>
              </a:p>
            </p:txBody>
          </p:sp>
        </p:grpSp>
        <p:grpSp>
          <p:nvGrpSpPr>
            <p:cNvPr id="190" name="card5-item3"/>
            <p:cNvGrpSpPr/>
            <p:nvPr/>
          </p:nvGrpSpPr>
          <p:grpSpPr>
            <a:xfrm>
              <a:off x="9486900" y="2857500"/>
              <a:ext cx="1303135" cy="349330"/>
              <a:chOff x="9486900" y="2857500"/>
              <a:chExt cx="1303135" cy="349330"/>
            </a:xfrm>
          </p:grpSpPr>
          <p:sp>
            <p:nvSpPr>
              <p:cNvPr id="183" name="Rectangle 183"/>
              <p:cNvSpPr/>
              <p:nvPr/>
            </p:nvSpPr>
            <p:spPr>
              <a:xfrm>
                <a:off x="9486900" y="2857500"/>
                <a:ext cx="323850" cy="323850"/>
              </a:xfrm>
              <a:prstGeom prst="roundRect">
                <a:avLst>
                  <a:gd name="adj" fmla="val 17647"/>
                </a:avLst>
              </a:prstGeom>
              <a:solidFill>
                <a:srgbClr val="FFFFFF"/>
              </a:solidFill>
              <a:ln w="9525">
                <a:solidFill>
                  <a:srgbClr val="D4A39A"/>
                </a:solidFill>
              </a:ln>
            </p:spPr>
          </p:sp>
          <p:grpSp>
            <p:nvGrpSpPr>
              <p:cNvPr id="187" name="Group 187"/>
              <p:cNvGrpSpPr/>
              <p:nvPr/>
            </p:nvGrpSpPr>
            <p:grpSpPr>
              <a:xfrm>
                <a:off x="9582818" y="2955925"/>
                <a:ext cx="129507" cy="129507"/>
                <a:chOff x="9582818" y="2955925"/>
                <a:chExt cx="129507" cy="129507"/>
              </a:xfrm>
            </p:grpSpPr>
            <p:sp>
              <p:nvSpPr>
                <p:cNvPr id="184" name="Freeform 184"/>
                <p:cNvSpPr/>
                <p:nvPr/>
              </p:nvSpPr>
              <p:spPr>
                <a:xfrm>
                  <a:off x="9585325" y="2955925"/>
                  <a:ext cx="127000" cy="127000"/>
                </a:xfrm>
                <a:custGeom>
                  <a:avLst/>
                  <a:gdLst/>
                  <a:ahLst/>
                  <a:cxnLst/>
                  <a:rect l="l" t="t" r="r" b="b"/>
                  <a:pathLst>
                    <a:path w="127000" h="127000">
                      <a:moveTo>
                        <a:pt x="0" y="71437"/>
                      </a:moveTo>
                      <a:cubicBezTo>
                        <a:pt x="29132" y="74900"/>
                        <a:pt x="52100" y="97868"/>
                        <a:pt x="55562" y="127000"/>
                      </a:cubicBezTo>
                      <a:cubicBezTo>
                        <a:pt x="69827" y="118776"/>
                        <a:pt x="78832" y="103768"/>
                        <a:pt x="79375" y="87312"/>
                      </a:cubicBezTo>
                      <a:cubicBezTo>
                        <a:pt x="106631" y="77724"/>
                        <a:pt x="125427" y="52662"/>
                        <a:pt x="127000" y="23812"/>
                      </a:cubicBezTo>
                      <a:cubicBezTo>
                        <a:pt x="127000" y="10661"/>
                        <a:pt x="116339" y="0"/>
                        <a:pt x="103187" y="0"/>
                      </a:cubicBezTo>
                      <a:cubicBezTo>
                        <a:pt x="74337" y="1573"/>
                        <a:pt x="49276" y="20369"/>
                        <a:pt x="39687" y="47625"/>
                      </a:cubicBezTo>
                      <a:cubicBezTo>
                        <a:pt x="23232" y="48168"/>
                        <a:pt x="8224" y="57173"/>
                        <a:pt x="0" y="71437"/>
                      </a:cubicBezTo>
                    </a:path>
                  </a:pathLst>
                </a:custGeom>
                <a:noFill/>
                <a:ln w="15875">
                  <a:solidFill>
                    <a:srgbClr val="7C3B2F"/>
                  </a:solidFill>
                </a:ln>
              </p:spPr>
            </p:sp>
            <p:sp>
              <p:nvSpPr>
                <p:cNvPr id="185" name="Freeform 185"/>
                <p:cNvSpPr/>
                <p:nvPr/>
              </p:nvSpPr>
              <p:spPr>
                <a:xfrm>
                  <a:off x="9582818" y="3035300"/>
                  <a:ext cx="50132" cy="50132"/>
                </a:xfrm>
                <a:custGeom>
                  <a:avLst/>
                  <a:gdLst/>
                  <a:ahLst/>
                  <a:cxnLst/>
                  <a:rect l="l" t="t" r="r" b="b"/>
                  <a:pathLst>
                    <a:path w="50132" h="50132">
                      <a:moveTo>
                        <a:pt x="26320" y="0"/>
                      </a:moveTo>
                      <a:cubicBezTo>
                        <a:pt x="9420" y="9541"/>
                        <a:pt x="0" y="28381"/>
                        <a:pt x="2507" y="47625"/>
                      </a:cubicBezTo>
                      <a:cubicBezTo>
                        <a:pt x="21751" y="50132"/>
                        <a:pt x="40591" y="40712"/>
                        <a:pt x="50132" y="23812"/>
                      </a:cubicBezTo>
                    </a:path>
                  </a:pathLst>
                </a:custGeom>
                <a:noFill/>
                <a:ln w="15875">
                  <a:solidFill>
                    <a:srgbClr val="7C3B2F"/>
                  </a:solidFill>
                </a:ln>
              </p:spPr>
            </p:sp>
            <p:sp>
              <p:nvSpPr>
                <p:cNvPr id="186" name="Freeform 186"/>
                <p:cNvSpPr/>
                <p:nvPr/>
              </p:nvSpPr>
              <p:spPr>
                <a:xfrm>
                  <a:off x="9664700" y="2987675"/>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7C3B2F"/>
                  </a:solidFill>
                </a:ln>
              </p:spPr>
            </p:sp>
          </p:grpSp>
          <p:sp>
            <p:nvSpPr>
              <p:cNvPr id="188" name="TextBox 188"/>
              <p:cNvSpPr txBox="1"/>
              <p:nvPr/>
            </p:nvSpPr>
            <p:spPr>
              <a:xfrm>
                <a:off x="9920288" y="28977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任务驱动</a:t>
                </a:r>
              </a:p>
            </p:txBody>
          </p:sp>
          <p:sp>
            <p:nvSpPr>
              <p:cNvPr id="189" name="TextBox 189"/>
              <p:cNvSpPr txBox="1"/>
              <p:nvPr/>
            </p:nvSpPr>
            <p:spPr>
              <a:xfrm>
                <a:off x="9920288" y="3066336"/>
                <a:ext cx="869747"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执行指派、跟踪闭环</a:t>
                </a:r>
              </a:p>
            </p:txBody>
          </p:sp>
        </p:grpSp>
        <p:grpSp>
          <p:nvGrpSpPr>
            <p:cNvPr id="193" name="card5-closure"/>
            <p:cNvGrpSpPr/>
            <p:nvPr/>
          </p:nvGrpSpPr>
          <p:grpSpPr>
            <a:xfrm>
              <a:off x="9505950" y="3486150"/>
              <a:ext cx="1943100" cy="381000"/>
              <a:chOff x="9505950" y="3486150"/>
              <a:chExt cx="1943100" cy="381000"/>
            </a:xfrm>
          </p:grpSpPr>
          <p:sp>
            <p:nvSpPr>
              <p:cNvPr id="191" name="Rectangle 191"/>
              <p:cNvSpPr/>
              <p:nvPr/>
            </p:nvSpPr>
            <p:spPr>
              <a:xfrm>
                <a:off x="9505950" y="3486150"/>
                <a:ext cx="1943100" cy="381000"/>
              </a:xfrm>
              <a:prstGeom prst="roundRect">
                <a:avLst>
                  <a:gd name="adj" fmla="val 20000"/>
                </a:avLst>
              </a:prstGeom>
              <a:solidFill>
                <a:srgbClr val="42140B"/>
              </a:solidFill>
              <a:ln>
                <a:noFill/>
              </a:ln>
            </p:spPr>
          </p:sp>
          <p:sp>
            <p:nvSpPr>
              <p:cNvPr id="192" name="TextBox 192"/>
              <p:cNvSpPr txBox="1"/>
              <p:nvPr/>
            </p:nvSpPr>
            <p:spPr>
              <a:xfrm>
                <a:off x="10009645" y="3631168"/>
                <a:ext cx="93571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知识驱动业务闭环</a:t>
                </a:r>
              </a:p>
            </p:txBody>
          </p:sp>
        </p:grpSp>
      </p:grpSp>
      <p:grpSp>
        <p:nvGrpSpPr>
          <p:cNvPr id="241" name="bottom-value-kpi"/>
          <p:cNvGrpSpPr/>
          <p:nvPr/>
        </p:nvGrpSpPr>
        <p:grpSpPr>
          <a:xfrm>
            <a:off x="181521" y="5000149"/>
            <a:ext cx="6124029" cy="1327785"/>
            <a:chOff x="181521" y="5000149"/>
            <a:chExt cx="6124029" cy="1327785"/>
          </a:xfrm>
        </p:grpSpPr>
        <p:sp>
          <p:nvSpPr>
            <p:cNvPr id="195" name="TextBox 195"/>
            <p:cNvSpPr txBox="1"/>
            <p:nvPr/>
          </p:nvSpPr>
          <p:spPr>
            <a:xfrm>
              <a:off x="280797" y="5000149"/>
              <a:ext cx="2252675" cy="190690"/>
            </a:xfrm>
            <a:prstGeom prst="rect">
              <a:avLst/>
            </a:prstGeom>
            <a:noFill/>
            <a:ln>
              <a:noFill/>
            </a:ln>
          </p:spPr>
          <p:txBody>
            <a:bodyPr wrap="none" lIns="0" tIns="0" rIns="0" bIns="0" anchor="t" anchorCtr="0">
              <a:spAutoFit/>
            </a:bodyPr>
            <a:lstStyle/>
            <a:p>
              <a:pPr algn="l"/>
              <a:r>
                <a:rPr lang="zh-CN" sz="980" b="1" dirty="0">
                  <a:solidFill>
                    <a:srgbClr val="42140B"/>
                  </a:solidFill>
                  <a:latin typeface="+mn-lt"/>
                  <a:ea typeface="+mn-ea"/>
                  <a:cs typeface="+mn-cs"/>
                </a:rPr>
                <a:t>价值链路：</a:t>
              </a:r>
              <a:r>
                <a:rPr lang="zh-CN" sz="980" b="1" dirty="0">
                  <a:solidFill>
                    <a:srgbClr val="7C3B2F"/>
                  </a:solidFill>
                  <a:latin typeface="+mn-lt"/>
                  <a:ea typeface="+mn-ea"/>
                  <a:cs typeface="+mn-cs"/>
                </a:rPr>
                <a:t>从效率到效果的可量化提升</a:t>
              </a:r>
            </a:p>
          </p:txBody>
        </p:sp>
        <p:sp>
          <p:nvSpPr>
            <p:cNvPr id="196" name="Line 196"/>
            <p:cNvSpPr/>
            <p:nvPr/>
          </p:nvSpPr>
          <p:spPr>
            <a:xfrm>
              <a:off x="285750" y="5200650"/>
              <a:ext cx="6019800" cy="9525"/>
            </a:xfrm>
            <a:custGeom>
              <a:avLst/>
              <a:gdLst/>
              <a:ahLst/>
              <a:cxnLst/>
              <a:rect l="l" t="t" r="r" b="b"/>
              <a:pathLst>
                <a:path w="6019800" h="9525">
                  <a:moveTo>
                    <a:pt x="0" y="0"/>
                  </a:moveTo>
                  <a:lnTo>
                    <a:pt x="6019800" y="0"/>
                  </a:lnTo>
                </a:path>
              </a:pathLst>
            </a:custGeom>
            <a:noFill/>
            <a:ln w="9525">
              <a:solidFill>
                <a:srgbClr val="D9E8C6"/>
              </a:solidFill>
            </a:ln>
          </p:spPr>
        </p:sp>
        <p:grpSp>
          <p:nvGrpSpPr>
            <p:cNvPr id="204" name="kpi-1"/>
            <p:cNvGrpSpPr/>
            <p:nvPr/>
          </p:nvGrpSpPr>
          <p:grpSpPr>
            <a:xfrm>
              <a:off x="181521" y="5381625"/>
              <a:ext cx="741858" cy="946309"/>
              <a:chOff x="181521" y="5381625"/>
              <a:chExt cx="741858" cy="946309"/>
            </a:xfrm>
          </p:grpSpPr>
          <p:sp>
            <p:nvSpPr>
              <p:cNvPr id="197" name="Ellipse 197"/>
              <p:cNvSpPr/>
              <p:nvPr/>
            </p:nvSpPr>
            <p:spPr>
              <a:xfrm>
                <a:off x="409575" y="5381625"/>
                <a:ext cx="285750" cy="285750"/>
              </a:xfrm>
              <a:prstGeom prst="ellipse">
                <a:avLst/>
              </a:prstGeom>
              <a:solidFill>
                <a:srgbClr val="F4F8EC"/>
              </a:solidFill>
              <a:ln w="9525">
                <a:solidFill>
                  <a:srgbClr val="BE776A"/>
                </a:solidFill>
              </a:ln>
            </p:spPr>
          </p:sp>
          <p:grpSp>
            <p:nvGrpSpPr>
              <p:cNvPr id="200" name="Group 200"/>
              <p:cNvGrpSpPr/>
              <p:nvPr/>
            </p:nvGrpSpPr>
            <p:grpSpPr>
              <a:xfrm>
                <a:off x="495300" y="5467350"/>
                <a:ext cx="114300" cy="114300"/>
                <a:chOff x="495300" y="5467350"/>
                <a:chExt cx="114300" cy="114300"/>
              </a:xfrm>
            </p:grpSpPr>
            <p:sp>
              <p:nvSpPr>
                <p:cNvPr id="198" name="Freeform 198"/>
                <p:cNvSpPr/>
                <p:nvPr/>
              </p:nvSpPr>
              <p:spPr>
                <a:xfrm>
                  <a:off x="495300" y="54673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C3B2F"/>
                  </a:solidFill>
                </a:ln>
              </p:spPr>
            </p:sp>
            <p:sp>
              <p:nvSpPr>
                <p:cNvPr id="199" name="Freeform 199"/>
                <p:cNvSpPr/>
                <p:nvPr/>
              </p:nvSpPr>
              <p:spPr>
                <a:xfrm>
                  <a:off x="552450" y="5492750"/>
                  <a:ext cx="19050" cy="50800"/>
                </a:xfrm>
                <a:custGeom>
                  <a:avLst/>
                  <a:gdLst/>
                  <a:ahLst/>
                  <a:cxnLst/>
                  <a:rect l="l" t="t" r="r" b="b"/>
                  <a:pathLst>
                    <a:path w="19050" h="50800">
                      <a:moveTo>
                        <a:pt x="0" y="0"/>
                      </a:moveTo>
                      <a:lnTo>
                        <a:pt x="0" y="31750"/>
                      </a:lnTo>
                      <a:lnTo>
                        <a:pt x="19050" y="50800"/>
                      </a:lnTo>
                    </a:path>
                  </a:pathLst>
                </a:custGeom>
                <a:noFill/>
                <a:ln w="12700">
                  <a:solidFill>
                    <a:srgbClr val="7C3B2F"/>
                  </a:solidFill>
                </a:ln>
              </p:spPr>
            </p:sp>
          </p:grpSp>
          <p:sp>
            <p:nvSpPr>
              <p:cNvPr id="201" name="TextBox 201"/>
              <p:cNvSpPr txBox="1"/>
              <p:nvPr/>
            </p:nvSpPr>
            <p:spPr>
              <a:xfrm>
                <a:off x="345758" y="5767388"/>
                <a:ext cx="413385"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搜索时间</a:t>
                </a:r>
              </a:p>
            </p:txBody>
          </p:sp>
          <p:sp>
            <p:nvSpPr>
              <p:cNvPr id="202" name="TextBox 202"/>
              <p:cNvSpPr txBox="1"/>
              <p:nvPr/>
            </p:nvSpPr>
            <p:spPr>
              <a:xfrm>
                <a:off x="237836" y="5955506"/>
                <a:ext cx="629228" cy="220028"/>
              </a:xfrm>
              <a:prstGeom prst="rect">
                <a:avLst/>
              </a:prstGeom>
              <a:noFill/>
              <a:ln>
                <a:noFill/>
              </a:ln>
            </p:spPr>
            <p:txBody>
              <a:bodyPr wrap="none" lIns="0" tIns="0" rIns="0" bIns="0" anchor="t" anchorCtr="0">
                <a:spAutoFit/>
              </a:bodyPr>
              <a:lstStyle/>
              <a:p>
                <a:pPr algn="ctr"/>
                <a:r>
                  <a:rPr lang="zh-CN" sz="1120" b="1" dirty="0">
                    <a:solidFill>
                      <a:srgbClr val="7C3B2F"/>
                    </a:solidFill>
                    <a:latin typeface="+mn-lt"/>
                    <a:ea typeface="+mn-ea"/>
                    <a:cs typeface="+mn-cs"/>
                  </a:rPr>
                  <a:t xml:space="preserve">↓70%+　</a:t>
                </a:r>
              </a:p>
            </p:txBody>
          </p:sp>
          <p:sp>
            <p:nvSpPr>
              <p:cNvPr id="203" name="TextBox 203"/>
              <p:cNvSpPr txBox="1"/>
              <p:nvPr/>
            </p:nvSpPr>
            <p:spPr>
              <a:xfrm>
                <a:off x="181521" y="6194584"/>
                <a:ext cx="741858"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平均查找时间减少</a:t>
                </a:r>
              </a:p>
            </p:txBody>
          </p:sp>
        </p:grpSp>
        <p:grpSp>
          <p:nvGrpSpPr>
            <p:cNvPr id="212" name="kpi-2"/>
            <p:cNvGrpSpPr/>
            <p:nvPr/>
          </p:nvGrpSpPr>
          <p:grpSpPr>
            <a:xfrm>
              <a:off x="1381671" y="5381625"/>
              <a:ext cx="741858" cy="946309"/>
              <a:chOff x="1381671" y="5381625"/>
              <a:chExt cx="741858" cy="946309"/>
            </a:xfrm>
          </p:grpSpPr>
          <p:sp>
            <p:nvSpPr>
              <p:cNvPr id="205" name="Ellipse 205"/>
              <p:cNvSpPr/>
              <p:nvPr/>
            </p:nvSpPr>
            <p:spPr>
              <a:xfrm>
                <a:off x="1609725" y="5381625"/>
                <a:ext cx="285750" cy="285750"/>
              </a:xfrm>
              <a:prstGeom prst="ellipse">
                <a:avLst/>
              </a:prstGeom>
              <a:solidFill>
                <a:srgbClr val="F4F8EC"/>
              </a:solidFill>
              <a:ln w="9525">
                <a:solidFill>
                  <a:srgbClr val="BE776A"/>
                </a:solidFill>
              </a:ln>
            </p:spPr>
          </p:sp>
          <p:grpSp>
            <p:nvGrpSpPr>
              <p:cNvPr id="208" name="Group 208"/>
              <p:cNvGrpSpPr/>
              <p:nvPr/>
            </p:nvGrpSpPr>
            <p:grpSpPr>
              <a:xfrm>
                <a:off x="1695450" y="5467350"/>
                <a:ext cx="114300" cy="114300"/>
                <a:chOff x="1695450" y="5467350"/>
                <a:chExt cx="114300" cy="114300"/>
              </a:xfrm>
            </p:grpSpPr>
            <p:sp>
              <p:nvSpPr>
                <p:cNvPr id="206" name="Freeform 206"/>
                <p:cNvSpPr/>
                <p:nvPr/>
              </p:nvSpPr>
              <p:spPr>
                <a:xfrm>
                  <a:off x="1695450" y="54673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C3B2F"/>
                  </a:solidFill>
                </a:ln>
              </p:spPr>
            </p:sp>
            <p:sp>
              <p:nvSpPr>
                <p:cNvPr id="207" name="Freeform 207"/>
                <p:cNvSpPr/>
                <p:nvPr/>
              </p:nvSpPr>
              <p:spPr>
                <a:xfrm>
                  <a:off x="1733550" y="551180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209" name="TextBox 209"/>
              <p:cNvSpPr txBox="1"/>
              <p:nvPr/>
            </p:nvSpPr>
            <p:spPr>
              <a:xfrm>
                <a:off x="1495425" y="5767388"/>
                <a:ext cx="514350"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首问解决率</a:t>
                </a:r>
              </a:p>
            </p:txBody>
          </p:sp>
          <p:sp>
            <p:nvSpPr>
              <p:cNvPr id="210" name="TextBox 210"/>
              <p:cNvSpPr txBox="1"/>
              <p:nvPr/>
            </p:nvSpPr>
            <p:spPr>
              <a:xfrm>
                <a:off x="1437986" y="5955506"/>
                <a:ext cx="629228" cy="220028"/>
              </a:xfrm>
              <a:prstGeom prst="rect">
                <a:avLst/>
              </a:prstGeom>
              <a:noFill/>
              <a:ln>
                <a:noFill/>
              </a:ln>
            </p:spPr>
            <p:txBody>
              <a:bodyPr wrap="none" lIns="0" tIns="0" rIns="0" bIns="0" anchor="t" anchorCtr="0">
                <a:spAutoFit/>
              </a:bodyPr>
              <a:lstStyle/>
              <a:p>
                <a:pPr algn="ctr"/>
                <a:r>
                  <a:rPr lang="zh-CN" sz="1120" b="1" dirty="0">
                    <a:solidFill>
                      <a:srgbClr val="7C3B2F"/>
                    </a:solidFill>
                    <a:latin typeface="+mn-lt"/>
                    <a:ea typeface="+mn-ea"/>
                    <a:cs typeface="+mn-cs"/>
                  </a:rPr>
                  <a:t xml:space="preserve">↑30%+　</a:t>
                </a:r>
              </a:p>
            </p:txBody>
          </p:sp>
          <p:sp>
            <p:nvSpPr>
              <p:cNvPr id="211" name="TextBox 211"/>
              <p:cNvSpPr txBox="1"/>
              <p:nvPr/>
            </p:nvSpPr>
            <p:spPr>
              <a:xfrm>
                <a:off x="1381671" y="6194584"/>
                <a:ext cx="741858"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一次提问解决占比</a:t>
                </a:r>
              </a:p>
            </p:txBody>
          </p:sp>
        </p:grpSp>
        <p:grpSp>
          <p:nvGrpSpPr>
            <p:cNvPr id="220" name="kpi-3"/>
            <p:cNvGrpSpPr/>
            <p:nvPr/>
          </p:nvGrpSpPr>
          <p:grpSpPr>
            <a:xfrm>
              <a:off x="2529185" y="5381625"/>
              <a:ext cx="847131" cy="946309"/>
              <a:chOff x="2529185" y="5381625"/>
              <a:chExt cx="847131" cy="946309"/>
            </a:xfrm>
          </p:grpSpPr>
          <p:sp>
            <p:nvSpPr>
              <p:cNvPr id="213" name="Ellipse 213"/>
              <p:cNvSpPr/>
              <p:nvPr/>
            </p:nvSpPr>
            <p:spPr>
              <a:xfrm>
                <a:off x="2809875" y="5381625"/>
                <a:ext cx="285750" cy="285750"/>
              </a:xfrm>
              <a:prstGeom prst="ellipse">
                <a:avLst/>
              </a:prstGeom>
              <a:solidFill>
                <a:srgbClr val="F4F8EC"/>
              </a:solidFill>
              <a:ln w="9525">
                <a:solidFill>
                  <a:srgbClr val="BE776A"/>
                </a:solidFill>
              </a:ln>
            </p:spPr>
          </p:sp>
          <p:grpSp>
            <p:nvGrpSpPr>
              <p:cNvPr id="216" name="Group 216"/>
              <p:cNvGrpSpPr/>
              <p:nvPr/>
            </p:nvGrpSpPr>
            <p:grpSpPr>
              <a:xfrm>
                <a:off x="2901950" y="5467350"/>
                <a:ext cx="101600" cy="114300"/>
                <a:chOff x="2901950" y="5467350"/>
                <a:chExt cx="101600" cy="114300"/>
              </a:xfrm>
            </p:grpSpPr>
            <p:sp>
              <p:nvSpPr>
                <p:cNvPr id="214" name="Freeform 214"/>
                <p:cNvSpPr/>
                <p:nvPr/>
              </p:nvSpPr>
              <p:spPr>
                <a:xfrm>
                  <a:off x="2901950" y="5467350"/>
                  <a:ext cx="101600" cy="57150"/>
                </a:xfrm>
                <a:custGeom>
                  <a:avLst/>
                  <a:gdLst/>
                  <a:ahLst/>
                  <a:cxnLst/>
                  <a:rect l="l" t="t" r="r" b="b"/>
                  <a:pathLst>
                    <a:path w="101600" h="57150">
                      <a:moveTo>
                        <a:pt x="0" y="57150"/>
                      </a:moveTo>
                      <a:lnTo>
                        <a:pt x="0" y="38100"/>
                      </a:lnTo>
                      <a:cubicBezTo>
                        <a:pt x="0" y="27579"/>
                        <a:pt x="8529" y="19050"/>
                        <a:pt x="19050" y="19050"/>
                      </a:cubicBezTo>
                      <a:lnTo>
                        <a:pt x="101600" y="19050"/>
                      </a:lnTo>
                      <a:moveTo>
                        <a:pt x="82550" y="0"/>
                      </a:moveTo>
                      <a:lnTo>
                        <a:pt x="101600" y="19050"/>
                      </a:lnTo>
                      <a:lnTo>
                        <a:pt x="82550" y="38100"/>
                      </a:lnTo>
                    </a:path>
                  </a:pathLst>
                </a:custGeom>
                <a:noFill/>
                <a:ln w="12700">
                  <a:solidFill>
                    <a:srgbClr val="7C3B2F"/>
                  </a:solidFill>
                </a:ln>
              </p:spPr>
            </p:sp>
            <p:sp>
              <p:nvSpPr>
                <p:cNvPr id="215" name="Freeform 215"/>
                <p:cNvSpPr/>
                <p:nvPr/>
              </p:nvSpPr>
              <p:spPr>
                <a:xfrm>
                  <a:off x="2901950" y="5524500"/>
                  <a:ext cx="101600" cy="57150"/>
                </a:xfrm>
                <a:custGeom>
                  <a:avLst/>
                  <a:gdLst/>
                  <a:ahLst/>
                  <a:cxnLst/>
                  <a:rect l="l" t="t" r="r" b="b"/>
                  <a:pathLst>
                    <a:path w="101600" h="57150">
                      <a:moveTo>
                        <a:pt x="101600" y="0"/>
                      </a:moveTo>
                      <a:lnTo>
                        <a:pt x="101600" y="19050"/>
                      </a:lnTo>
                      <a:cubicBezTo>
                        <a:pt x="101600" y="29571"/>
                        <a:pt x="93071" y="38100"/>
                        <a:pt x="82550" y="38100"/>
                      </a:cubicBezTo>
                      <a:lnTo>
                        <a:pt x="0" y="38100"/>
                      </a:lnTo>
                      <a:moveTo>
                        <a:pt x="19050" y="57150"/>
                      </a:moveTo>
                      <a:lnTo>
                        <a:pt x="0" y="38100"/>
                      </a:lnTo>
                      <a:lnTo>
                        <a:pt x="19050" y="19050"/>
                      </a:lnTo>
                    </a:path>
                  </a:pathLst>
                </a:custGeom>
                <a:noFill/>
                <a:ln w="12700">
                  <a:solidFill>
                    <a:srgbClr val="7C3B2F"/>
                  </a:solidFill>
                </a:ln>
              </p:spPr>
            </p:sp>
          </p:grpSp>
          <p:sp>
            <p:nvSpPr>
              <p:cNvPr id="217" name="TextBox 217"/>
              <p:cNvSpPr txBox="1"/>
              <p:nvPr/>
            </p:nvSpPr>
            <p:spPr>
              <a:xfrm>
                <a:off x="2695575" y="5767388"/>
                <a:ext cx="514350"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知识复用率</a:t>
                </a:r>
              </a:p>
            </p:txBody>
          </p:sp>
          <p:sp>
            <p:nvSpPr>
              <p:cNvPr id="218" name="TextBox 218"/>
              <p:cNvSpPr txBox="1"/>
              <p:nvPr/>
            </p:nvSpPr>
            <p:spPr>
              <a:xfrm>
                <a:off x="2638136" y="5955506"/>
                <a:ext cx="629228" cy="220028"/>
              </a:xfrm>
              <a:prstGeom prst="rect">
                <a:avLst/>
              </a:prstGeom>
              <a:noFill/>
              <a:ln>
                <a:noFill/>
              </a:ln>
            </p:spPr>
            <p:txBody>
              <a:bodyPr wrap="none" lIns="0" tIns="0" rIns="0" bIns="0" anchor="t" anchorCtr="0">
                <a:spAutoFit/>
              </a:bodyPr>
              <a:lstStyle/>
              <a:p>
                <a:pPr algn="ctr"/>
                <a:r>
                  <a:rPr lang="zh-CN" sz="1120" b="1" dirty="0">
                    <a:solidFill>
                      <a:srgbClr val="7C3B2F"/>
                    </a:solidFill>
                    <a:latin typeface="+mn-lt"/>
                    <a:ea typeface="+mn-ea"/>
                    <a:cs typeface="+mn-cs"/>
                  </a:rPr>
                  <a:t xml:space="preserve">↑50%+　</a:t>
                </a:r>
              </a:p>
            </p:txBody>
          </p:sp>
          <p:sp>
            <p:nvSpPr>
              <p:cNvPr id="219" name="TextBox 219"/>
              <p:cNvSpPr txBox="1"/>
              <p:nvPr/>
            </p:nvSpPr>
            <p:spPr>
              <a:xfrm>
                <a:off x="2529185" y="6194584"/>
                <a:ext cx="847131"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复用次数 / 知识总量</a:t>
                </a:r>
              </a:p>
            </p:txBody>
          </p:sp>
        </p:grpSp>
        <p:grpSp>
          <p:nvGrpSpPr>
            <p:cNvPr id="232" name="kpi-4"/>
            <p:cNvGrpSpPr/>
            <p:nvPr/>
          </p:nvGrpSpPr>
          <p:grpSpPr>
            <a:xfrm>
              <a:off x="3736200" y="5381625"/>
              <a:ext cx="833399" cy="946309"/>
              <a:chOff x="3736200" y="5381625"/>
              <a:chExt cx="833399" cy="946309"/>
            </a:xfrm>
          </p:grpSpPr>
          <p:sp>
            <p:nvSpPr>
              <p:cNvPr id="221" name="Ellipse 221"/>
              <p:cNvSpPr/>
              <p:nvPr/>
            </p:nvSpPr>
            <p:spPr>
              <a:xfrm>
                <a:off x="4010025" y="5381625"/>
                <a:ext cx="285750" cy="285750"/>
              </a:xfrm>
              <a:prstGeom prst="ellipse">
                <a:avLst/>
              </a:prstGeom>
              <a:solidFill>
                <a:srgbClr val="F4F8EC"/>
              </a:solidFill>
              <a:ln w="9525">
                <a:solidFill>
                  <a:srgbClr val="BE776A"/>
                </a:solidFill>
              </a:ln>
            </p:spPr>
          </p:sp>
          <p:grpSp>
            <p:nvGrpSpPr>
              <p:cNvPr id="228" name="Group 228"/>
              <p:cNvGrpSpPr/>
              <p:nvPr/>
            </p:nvGrpSpPr>
            <p:grpSpPr>
              <a:xfrm>
                <a:off x="4102100" y="5467350"/>
                <a:ext cx="101600" cy="114300"/>
                <a:chOff x="4102100" y="5467350"/>
                <a:chExt cx="101600" cy="114300"/>
              </a:xfrm>
            </p:grpSpPr>
            <p:sp>
              <p:nvSpPr>
                <p:cNvPr id="222" name="Freeform 222"/>
                <p:cNvSpPr/>
                <p:nvPr/>
              </p:nvSpPr>
              <p:spPr>
                <a:xfrm>
                  <a:off x="4102100" y="5480050"/>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7C3B2F"/>
                  </a:solidFill>
                </a:ln>
              </p:spPr>
            </p:sp>
            <p:sp>
              <p:nvSpPr>
                <p:cNvPr id="223" name="Freeform 223"/>
                <p:cNvSpPr/>
                <p:nvPr/>
              </p:nvSpPr>
              <p:spPr>
                <a:xfrm>
                  <a:off x="4178300" y="5467350"/>
                  <a:ext cx="9525" cy="25400"/>
                </a:xfrm>
                <a:custGeom>
                  <a:avLst/>
                  <a:gdLst/>
                  <a:ahLst/>
                  <a:cxnLst/>
                  <a:rect l="l" t="t" r="r" b="b"/>
                  <a:pathLst>
                    <a:path w="9525" h="25400">
                      <a:moveTo>
                        <a:pt x="0" y="0"/>
                      </a:moveTo>
                      <a:lnTo>
                        <a:pt x="0" y="25400"/>
                      </a:lnTo>
                    </a:path>
                  </a:pathLst>
                </a:custGeom>
                <a:noFill/>
                <a:ln w="12700">
                  <a:solidFill>
                    <a:srgbClr val="7C3B2F"/>
                  </a:solidFill>
                </a:ln>
              </p:spPr>
            </p:sp>
            <p:sp>
              <p:nvSpPr>
                <p:cNvPr id="224" name="Freeform 224"/>
                <p:cNvSpPr/>
                <p:nvPr/>
              </p:nvSpPr>
              <p:spPr>
                <a:xfrm>
                  <a:off x="4127500" y="5467350"/>
                  <a:ext cx="9525" cy="25400"/>
                </a:xfrm>
                <a:custGeom>
                  <a:avLst/>
                  <a:gdLst/>
                  <a:ahLst/>
                  <a:cxnLst/>
                  <a:rect l="l" t="t" r="r" b="b"/>
                  <a:pathLst>
                    <a:path w="9525" h="25400">
                      <a:moveTo>
                        <a:pt x="0" y="0"/>
                      </a:moveTo>
                      <a:lnTo>
                        <a:pt x="0" y="25400"/>
                      </a:lnTo>
                    </a:path>
                  </a:pathLst>
                </a:custGeom>
                <a:noFill/>
                <a:ln w="12700">
                  <a:solidFill>
                    <a:srgbClr val="7C3B2F"/>
                  </a:solidFill>
                </a:ln>
              </p:spPr>
            </p:sp>
            <p:sp>
              <p:nvSpPr>
                <p:cNvPr id="225" name="Freeform 225"/>
                <p:cNvSpPr/>
                <p:nvPr/>
              </p:nvSpPr>
              <p:spPr>
                <a:xfrm>
                  <a:off x="4102100" y="5518150"/>
                  <a:ext cx="101600" cy="9525"/>
                </a:xfrm>
                <a:custGeom>
                  <a:avLst/>
                  <a:gdLst/>
                  <a:ahLst/>
                  <a:cxnLst/>
                  <a:rect l="l" t="t" r="r" b="b"/>
                  <a:pathLst>
                    <a:path w="101600" h="9525">
                      <a:moveTo>
                        <a:pt x="0" y="0"/>
                      </a:moveTo>
                      <a:lnTo>
                        <a:pt x="101600" y="0"/>
                      </a:lnTo>
                    </a:path>
                  </a:pathLst>
                </a:custGeom>
                <a:noFill/>
                <a:ln w="12700">
                  <a:solidFill>
                    <a:srgbClr val="7C3B2F"/>
                  </a:solidFill>
                </a:ln>
              </p:spPr>
            </p:sp>
            <p:sp>
              <p:nvSpPr>
                <p:cNvPr id="226" name="Freeform 226"/>
                <p:cNvSpPr/>
                <p:nvPr/>
              </p:nvSpPr>
              <p:spPr>
                <a:xfrm>
                  <a:off x="4146550" y="5543550"/>
                  <a:ext cx="9525" cy="9525"/>
                </a:xfrm>
                <a:custGeom>
                  <a:avLst/>
                  <a:gdLst/>
                  <a:ahLst/>
                  <a:cxnLst/>
                  <a:rect l="l" t="t" r="r" b="b"/>
                  <a:pathLst>
                    <a:path w="9525" h="9525">
                      <a:moveTo>
                        <a:pt x="0" y="0"/>
                      </a:moveTo>
                      <a:lnTo>
                        <a:pt x="6350" y="0"/>
                      </a:lnTo>
                    </a:path>
                  </a:pathLst>
                </a:custGeom>
                <a:noFill/>
                <a:ln w="12700">
                  <a:solidFill>
                    <a:srgbClr val="7C3B2F"/>
                  </a:solidFill>
                </a:ln>
              </p:spPr>
            </p:sp>
            <p:sp>
              <p:nvSpPr>
                <p:cNvPr id="227" name="Freeform 227"/>
                <p:cNvSpPr/>
                <p:nvPr/>
              </p:nvSpPr>
              <p:spPr>
                <a:xfrm>
                  <a:off x="4152900" y="5543550"/>
                  <a:ext cx="9525" cy="19050"/>
                </a:xfrm>
                <a:custGeom>
                  <a:avLst/>
                  <a:gdLst/>
                  <a:ahLst/>
                  <a:cxnLst/>
                  <a:rect l="l" t="t" r="r" b="b"/>
                  <a:pathLst>
                    <a:path w="9525" h="19050">
                      <a:moveTo>
                        <a:pt x="0" y="0"/>
                      </a:moveTo>
                      <a:lnTo>
                        <a:pt x="0" y="19050"/>
                      </a:lnTo>
                    </a:path>
                  </a:pathLst>
                </a:custGeom>
                <a:noFill/>
                <a:ln w="12700">
                  <a:solidFill>
                    <a:srgbClr val="7C3B2F"/>
                  </a:solidFill>
                </a:ln>
              </p:spPr>
            </p:sp>
          </p:grpSp>
          <p:sp>
            <p:nvSpPr>
              <p:cNvPr id="229" name="TextBox 229"/>
              <p:cNvSpPr txBox="1"/>
              <p:nvPr/>
            </p:nvSpPr>
            <p:spPr>
              <a:xfrm>
                <a:off x="3946208" y="5767388"/>
                <a:ext cx="413385"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决策周期</a:t>
                </a:r>
              </a:p>
            </p:txBody>
          </p:sp>
          <p:sp>
            <p:nvSpPr>
              <p:cNvPr id="230" name="TextBox 230"/>
              <p:cNvSpPr txBox="1"/>
              <p:nvPr/>
            </p:nvSpPr>
            <p:spPr>
              <a:xfrm>
                <a:off x="3838286" y="5955506"/>
                <a:ext cx="629228" cy="220028"/>
              </a:xfrm>
              <a:prstGeom prst="rect">
                <a:avLst/>
              </a:prstGeom>
              <a:noFill/>
              <a:ln>
                <a:noFill/>
              </a:ln>
            </p:spPr>
            <p:txBody>
              <a:bodyPr wrap="none" lIns="0" tIns="0" rIns="0" bIns="0" anchor="t" anchorCtr="0">
                <a:spAutoFit/>
              </a:bodyPr>
              <a:lstStyle/>
              <a:p>
                <a:pPr algn="ctr"/>
                <a:r>
                  <a:rPr lang="zh-CN" sz="1120" b="1" dirty="0">
                    <a:solidFill>
                      <a:srgbClr val="7C3B2F"/>
                    </a:solidFill>
                    <a:latin typeface="+mn-lt"/>
                    <a:ea typeface="+mn-ea"/>
                    <a:cs typeface="+mn-cs"/>
                  </a:rPr>
                  <a:t xml:space="preserve">↓30%+　</a:t>
                </a:r>
              </a:p>
            </p:txBody>
          </p:sp>
          <p:sp>
            <p:nvSpPr>
              <p:cNvPr id="231" name="TextBox 231"/>
              <p:cNvSpPr txBox="1"/>
              <p:nvPr/>
            </p:nvSpPr>
            <p:spPr>
              <a:xfrm>
                <a:off x="3736200" y="6194584"/>
                <a:ext cx="833399"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端到端决策周期缩短</a:t>
                </a:r>
              </a:p>
            </p:txBody>
          </p:sp>
        </p:grpSp>
        <p:grpSp>
          <p:nvGrpSpPr>
            <p:cNvPr id="240" name="kpi-5"/>
            <p:cNvGrpSpPr/>
            <p:nvPr/>
          </p:nvGrpSpPr>
          <p:grpSpPr>
            <a:xfrm>
              <a:off x="4936350" y="5381625"/>
              <a:ext cx="833399" cy="946309"/>
              <a:chOff x="4936350" y="5381625"/>
              <a:chExt cx="833399" cy="946309"/>
            </a:xfrm>
          </p:grpSpPr>
          <p:sp>
            <p:nvSpPr>
              <p:cNvPr id="233" name="Ellipse 233"/>
              <p:cNvSpPr/>
              <p:nvPr/>
            </p:nvSpPr>
            <p:spPr>
              <a:xfrm>
                <a:off x="5210175" y="5381625"/>
                <a:ext cx="285750" cy="285750"/>
              </a:xfrm>
              <a:prstGeom prst="ellipse">
                <a:avLst/>
              </a:prstGeom>
              <a:solidFill>
                <a:srgbClr val="F4F8EC"/>
              </a:solidFill>
              <a:ln w="9525">
                <a:solidFill>
                  <a:srgbClr val="BE776A"/>
                </a:solidFill>
              </a:ln>
            </p:spPr>
          </p:sp>
          <p:grpSp>
            <p:nvGrpSpPr>
              <p:cNvPr id="236" name="Group 236"/>
              <p:cNvGrpSpPr/>
              <p:nvPr/>
            </p:nvGrpSpPr>
            <p:grpSpPr>
              <a:xfrm>
                <a:off x="5287330" y="5467350"/>
                <a:ext cx="124004" cy="114300"/>
                <a:chOff x="5287330" y="5467350"/>
                <a:chExt cx="124004" cy="114300"/>
              </a:xfrm>
            </p:grpSpPr>
            <p:sp>
              <p:nvSpPr>
                <p:cNvPr id="234" name="Freeform 234"/>
                <p:cNvSpPr/>
                <p:nvPr/>
              </p:nvSpPr>
              <p:spPr>
                <a:xfrm>
                  <a:off x="5287330" y="54673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7C3B2F"/>
                  </a:solidFill>
                </a:ln>
              </p:spPr>
            </p:sp>
            <p:sp>
              <p:nvSpPr>
                <p:cNvPr id="235" name="Freeform 235"/>
                <p:cNvSpPr/>
                <p:nvPr/>
              </p:nvSpPr>
              <p:spPr>
                <a:xfrm>
                  <a:off x="5372100" y="555625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237" name="TextBox 237"/>
              <p:cNvSpPr txBox="1"/>
              <p:nvPr/>
            </p:nvSpPr>
            <p:spPr>
              <a:xfrm>
                <a:off x="5146358" y="5767388"/>
                <a:ext cx="413385"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合规风险</a:t>
                </a:r>
              </a:p>
            </p:txBody>
          </p:sp>
          <p:sp>
            <p:nvSpPr>
              <p:cNvPr id="238" name="TextBox 238"/>
              <p:cNvSpPr txBox="1"/>
              <p:nvPr/>
            </p:nvSpPr>
            <p:spPr>
              <a:xfrm>
                <a:off x="5038436" y="5955506"/>
                <a:ext cx="629228" cy="220028"/>
              </a:xfrm>
              <a:prstGeom prst="rect">
                <a:avLst/>
              </a:prstGeom>
              <a:noFill/>
              <a:ln>
                <a:noFill/>
              </a:ln>
            </p:spPr>
            <p:txBody>
              <a:bodyPr wrap="none" lIns="0" tIns="0" rIns="0" bIns="0" anchor="t" anchorCtr="0">
                <a:spAutoFit/>
              </a:bodyPr>
              <a:lstStyle/>
              <a:p>
                <a:pPr algn="ctr"/>
                <a:r>
                  <a:rPr lang="zh-CN" sz="1120" b="1" dirty="0">
                    <a:solidFill>
                      <a:srgbClr val="7C3B2F"/>
                    </a:solidFill>
                    <a:latin typeface="+mn-lt"/>
                    <a:ea typeface="+mn-ea"/>
                    <a:cs typeface="+mn-cs"/>
                  </a:rPr>
                  <a:t xml:space="preserve">↓40%+　</a:t>
                </a:r>
              </a:p>
            </p:txBody>
          </p:sp>
          <p:sp>
            <p:nvSpPr>
              <p:cNvPr id="239" name="TextBox 239"/>
              <p:cNvSpPr txBox="1"/>
              <p:nvPr/>
            </p:nvSpPr>
            <p:spPr>
              <a:xfrm>
                <a:off x="4936350" y="6194584"/>
                <a:ext cx="833399"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违规与审计问题减少</a:t>
                </a:r>
              </a:p>
            </p:txBody>
          </p:sp>
        </p:grpSp>
      </p:grpSp>
      <p:grpSp>
        <p:nvGrpSpPr>
          <p:cNvPr id="282" name="bottom-maturity"/>
          <p:cNvGrpSpPr/>
          <p:nvPr/>
        </p:nvGrpSpPr>
        <p:grpSpPr>
          <a:xfrm>
            <a:off x="6605397" y="5000149"/>
            <a:ext cx="5300853" cy="1610439"/>
            <a:chOff x="6605397" y="5000149"/>
            <a:chExt cx="5300853" cy="1610439"/>
          </a:xfrm>
        </p:grpSpPr>
        <p:sp>
          <p:nvSpPr>
            <p:cNvPr id="242" name="TextBox 242"/>
            <p:cNvSpPr txBox="1"/>
            <p:nvPr/>
          </p:nvSpPr>
          <p:spPr>
            <a:xfrm>
              <a:off x="6605397" y="5000149"/>
              <a:ext cx="2120748" cy="190690"/>
            </a:xfrm>
            <a:prstGeom prst="rect">
              <a:avLst/>
            </a:prstGeom>
            <a:noFill/>
            <a:ln>
              <a:noFill/>
            </a:ln>
          </p:spPr>
          <p:txBody>
            <a:bodyPr wrap="none" lIns="0" tIns="0" rIns="0" bIns="0" anchor="t" anchorCtr="0">
              <a:spAutoFit/>
            </a:bodyPr>
            <a:lstStyle/>
            <a:p>
              <a:pPr algn="l"/>
              <a:r>
                <a:rPr lang="zh-CN" sz="980" b="1" dirty="0">
                  <a:solidFill>
                    <a:srgbClr val="42140B"/>
                  </a:solidFill>
                  <a:latin typeface="+mn-lt"/>
                  <a:ea typeface="+mn-ea"/>
                  <a:cs typeface="+mn-cs"/>
                </a:rPr>
                <a:t>成熟度阶梯：</a:t>
              </a:r>
              <a:r>
                <a:rPr lang="zh-CN" sz="980" b="1" dirty="0">
                  <a:solidFill>
                    <a:srgbClr val="7C3B2F"/>
                  </a:solidFill>
                  <a:latin typeface="+mn-lt"/>
                  <a:ea typeface="+mn-ea"/>
                  <a:cs typeface="+mn-cs"/>
                </a:rPr>
                <a:t>从静态文档到智能行动</a:t>
              </a:r>
            </a:p>
          </p:txBody>
        </p:sp>
        <p:sp>
          <p:nvSpPr>
            <p:cNvPr id="243" name="Line 243"/>
            <p:cNvSpPr/>
            <p:nvPr/>
          </p:nvSpPr>
          <p:spPr>
            <a:xfrm>
              <a:off x="6610350" y="5200650"/>
              <a:ext cx="5295900" cy="9525"/>
            </a:xfrm>
            <a:custGeom>
              <a:avLst/>
              <a:gdLst/>
              <a:ahLst/>
              <a:cxnLst/>
              <a:rect l="l" t="t" r="r" b="b"/>
              <a:pathLst>
                <a:path w="5295900" h="9525">
                  <a:moveTo>
                    <a:pt x="0" y="0"/>
                  </a:moveTo>
                  <a:lnTo>
                    <a:pt x="5295900" y="0"/>
                  </a:lnTo>
                </a:path>
              </a:pathLst>
            </a:custGeom>
            <a:noFill/>
            <a:ln w="9525">
              <a:solidFill>
                <a:srgbClr val="D9E8C6"/>
              </a:solidFill>
            </a:ln>
          </p:spPr>
        </p:sp>
        <p:sp>
          <p:nvSpPr>
            <p:cNvPr id="244" name="Freeform 244"/>
            <p:cNvSpPr/>
            <p:nvPr/>
          </p:nvSpPr>
          <p:spPr>
            <a:xfrm>
              <a:off x="6667500" y="5391150"/>
              <a:ext cx="4953000" cy="209550"/>
            </a:xfrm>
            <a:custGeom>
              <a:avLst/>
              <a:gdLst/>
              <a:ahLst/>
              <a:cxnLst/>
              <a:rect l="l" t="t" r="r" b="b"/>
              <a:pathLst>
                <a:path w="4953000" h="209550">
                  <a:moveTo>
                    <a:pt x="0" y="209550"/>
                  </a:moveTo>
                  <a:lnTo>
                    <a:pt x="4953000" y="0"/>
                  </a:lnTo>
                </a:path>
              </a:pathLst>
            </a:custGeom>
            <a:solidFill>
              <a:srgbClr val="000000"/>
            </a:solidFill>
            <a:ln w="14288">
              <a:solidFill>
                <a:srgbClr val="9A4B3C"/>
              </a:solidFill>
              <a:custDash>
                <a:ds d="400000" sp="266667"/>
              </a:custDash>
              <a:tailEnd type="arrow" w="lg" len="lg"/>
            </a:ln>
          </p:spPr>
        </p:sp>
        <p:grpSp>
          <p:nvGrpSpPr>
            <p:cNvPr id="281" name="maturity-steps"/>
            <p:cNvGrpSpPr/>
            <p:nvPr/>
          </p:nvGrpSpPr>
          <p:grpSpPr>
            <a:xfrm>
              <a:off x="6800850" y="5092700"/>
              <a:ext cx="4781550" cy="1517888"/>
              <a:chOff x="6800850" y="5092700"/>
              <a:chExt cx="4781550" cy="1517888"/>
            </a:xfrm>
          </p:grpSpPr>
          <p:sp>
            <p:nvSpPr>
              <p:cNvPr id="245" name="Rectangle 245"/>
              <p:cNvSpPr/>
              <p:nvPr/>
            </p:nvSpPr>
            <p:spPr>
              <a:xfrm>
                <a:off x="6800850" y="5924550"/>
                <a:ext cx="895350" cy="381000"/>
              </a:xfrm>
              <a:prstGeom prst="roundRect">
                <a:avLst>
                  <a:gd name="adj" fmla="val 12500"/>
                </a:avLst>
              </a:prstGeom>
              <a:solidFill>
                <a:srgbClr val="E4B7AF"/>
              </a:solidFill>
              <a:ln>
                <a:noFill/>
              </a:ln>
            </p:spPr>
          </p:sp>
          <p:grpSp>
            <p:nvGrpSpPr>
              <p:cNvPr id="249" name="Group 249"/>
              <p:cNvGrpSpPr/>
              <p:nvPr/>
            </p:nvGrpSpPr>
            <p:grpSpPr>
              <a:xfrm>
                <a:off x="7197725" y="5695950"/>
                <a:ext cx="101600" cy="114300"/>
                <a:chOff x="7197725" y="5695950"/>
                <a:chExt cx="101600" cy="114300"/>
              </a:xfrm>
            </p:grpSpPr>
            <p:sp>
              <p:nvSpPr>
                <p:cNvPr id="246" name="Freeform 246"/>
                <p:cNvSpPr/>
                <p:nvPr/>
              </p:nvSpPr>
              <p:spPr>
                <a:xfrm>
                  <a:off x="7197725" y="56959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7C3B2F"/>
                  </a:solidFill>
                </a:ln>
              </p:spPr>
            </p:sp>
            <p:sp>
              <p:nvSpPr>
                <p:cNvPr id="247" name="Freeform 247"/>
                <p:cNvSpPr/>
                <p:nvPr/>
              </p:nvSpPr>
              <p:spPr>
                <a:xfrm>
                  <a:off x="7197725" y="57150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7C3B2F"/>
                  </a:solidFill>
                </a:ln>
              </p:spPr>
            </p:sp>
            <p:sp>
              <p:nvSpPr>
                <p:cNvPr id="248" name="Freeform 248"/>
                <p:cNvSpPr/>
                <p:nvPr/>
              </p:nvSpPr>
              <p:spPr>
                <a:xfrm>
                  <a:off x="7197725" y="57531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7C3B2F"/>
                  </a:solidFill>
                </a:ln>
              </p:spPr>
            </p:sp>
          </p:grpSp>
          <p:sp>
            <p:nvSpPr>
              <p:cNvPr id="250" name="TextBox 250"/>
              <p:cNvSpPr txBox="1"/>
              <p:nvPr/>
            </p:nvSpPr>
            <p:spPr>
              <a:xfrm>
                <a:off x="7084238" y="6068139"/>
                <a:ext cx="3285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文档库</a:t>
                </a:r>
              </a:p>
            </p:txBody>
          </p:sp>
          <p:sp>
            <p:nvSpPr>
              <p:cNvPr id="251" name="TextBox 251"/>
              <p:cNvSpPr txBox="1"/>
              <p:nvPr/>
            </p:nvSpPr>
            <p:spPr>
              <a:xfrm>
                <a:off x="7028370" y="6370082"/>
                <a:ext cx="440309"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 xml:space="preserve">存储为主　</a:t>
                </a:r>
              </a:p>
            </p:txBody>
          </p:sp>
          <p:sp>
            <p:nvSpPr>
              <p:cNvPr id="252" name="TextBox 252"/>
              <p:cNvSpPr txBox="1"/>
              <p:nvPr/>
            </p:nvSpPr>
            <p:spPr>
              <a:xfrm>
                <a:off x="7071449" y="6484382"/>
                <a:ext cx="354152"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人工查找</a:t>
                </a:r>
              </a:p>
            </p:txBody>
          </p:sp>
          <p:sp>
            <p:nvSpPr>
              <p:cNvPr id="253" name="Rectangle 253"/>
              <p:cNvSpPr/>
              <p:nvPr/>
            </p:nvSpPr>
            <p:spPr>
              <a:xfrm>
                <a:off x="7772400" y="5772150"/>
                <a:ext cx="895350" cy="533400"/>
              </a:xfrm>
              <a:prstGeom prst="roundRect">
                <a:avLst>
                  <a:gd name="adj" fmla="val 8929"/>
                </a:avLst>
              </a:prstGeom>
              <a:solidFill>
                <a:srgbClr val="CE9085"/>
              </a:solidFill>
              <a:ln>
                <a:noFill/>
              </a:ln>
            </p:spPr>
          </p:sp>
          <p:grpSp>
            <p:nvGrpSpPr>
              <p:cNvPr id="256" name="Group 256"/>
              <p:cNvGrpSpPr/>
              <p:nvPr/>
            </p:nvGrpSpPr>
            <p:grpSpPr>
              <a:xfrm>
                <a:off x="8162925" y="5543550"/>
                <a:ext cx="114300" cy="114300"/>
                <a:chOff x="8162925" y="5543550"/>
                <a:chExt cx="114300" cy="114300"/>
              </a:xfrm>
            </p:grpSpPr>
            <p:sp>
              <p:nvSpPr>
                <p:cNvPr id="254" name="Freeform 254"/>
                <p:cNvSpPr/>
                <p:nvPr/>
              </p:nvSpPr>
              <p:spPr>
                <a:xfrm>
                  <a:off x="8162925" y="554355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7C3B2F"/>
                  </a:solidFill>
                </a:ln>
              </p:spPr>
            </p:sp>
            <p:sp>
              <p:nvSpPr>
                <p:cNvPr id="255" name="Freeform 255"/>
                <p:cNvSpPr/>
                <p:nvPr/>
              </p:nvSpPr>
              <p:spPr>
                <a:xfrm>
                  <a:off x="8239125" y="5619750"/>
                  <a:ext cx="38100" cy="38100"/>
                </a:xfrm>
                <a:custGeom>
                  <a:avLst/>
                  <a:gdLst/>
                  <a:ahLst/>
                  <a:cxnLst/>
                  <a:rect l="l" t="t" r="r" b="b"/>
                  <a:pathLst>
                    <a:path w="38100" h="38100">
                      <a:moveTo>
                        <a:pt x="38100" y="38100"/>
                      </a:moveTo>
                      <a:lnTo>
                        <a:pt x="0" y="0"/>
                      </a:lnTo>
                    </a:path>
                  </a:pathLst>
                </a:custGeom>
                <a:noFill/>
                <a:ln w="12700">
                  <a:solidFill>
                    <a:srgbClr val="7C3B2F"/>
                  </a:solidFill>
                </a:ln>
              </p:spPr>
            </p:sp>
          </p:grpSp>
          <p:sp>
            <p:nvSpPr>
              <p:cNvPr id="257" name="TextBox 257"/>
              <p:cNvSpPr txBox="1"/>
              <p:nvPr/>
            </p:nvSpPr>
            <p:spPr>
              <a:xfrm>
                <a:off x="8055788" y="5915739"/>
                <a:ext cx="3285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检索库</a:t>
                </a:r>
              </a:p>
            </p:txBody>
          </p:sp>
          <p:sp>
            <p:nvSpPr>
              <p:cNvPr id="258" name="TextBox 258"/>
              <p:cNvSpPr txBox="1"/>
              <p:nvPr/>
            </p:nvSpPr>
            <p:spPr>
              <a:xfrm>
                <a:off x="7999920" y="6370082"/>
                <a:ext cx="440309"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关键词检索</a:t>
                </a:r>
              </a:p>
            </p:txBody>
          </p:sp>
          <p:sp>
            <p:nvSpPr>
              <p:cNvPr id="259" name="TextBox 259"/>
              <p:cNvSpPr txBox="1"/>
              <p:nvPr/>
            </p:nvSpPr>
            <p:spPr>
              <a:xfrm>
                <a:off x="8042999" y="6484382"/>
                <a:ext cx="354152"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找到文档</a:t>
                </a:r>
              </a:p>
            </p:txBody>
          </p:sp>
          <p:sp>
            <p:nvSpPr>
              <p:cNvPr id="260" name="Rectangle 260"/>
              <p:cNvSpPr/>
              <p:nvPr/>
            </p:nvSpPr>
            <p:spPr>
              <a:xfrm>
                <a:off x="8743950" y="5619750"/>
                <a:ext cx="895350" cy="685800"/>
              </a:xfrm>
              <a:prstGeom prst="roundRect">
                <a:avLst>
                  <a:gd name="adj" fmla="val 6944"/>
                </a:avLst>
              </a:prstGeom>
              <a:solidFill>
                <a:srgbClr val="B76B5D"/>
              </a:solidFill>
              <a:ln>
                <a:noFill/>
              </a:ln>
            </p:spPr>
          </p:sp>
          <p:sp>
            <p:nvSpPr>
              <p:cNvPr id="261" name="Freeform 261"/>
              <p:cNvSpPr/>
              <p:nvPr/>
            </p:nvSpPr>
            <p:spPr>
              <a:xfrm>
                <a:off x="9127973" y="539257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FFFFFF"/>
                </a:solidFill>
              </a:ln>
            </p:spPr>
          </p:sp>
          <p:sp>
            <p:nvSpPr>
              <p:cNvPr id="262" name="TextBox 262"/>
              <p:cNvSpPr txBox="1"/>
              <p:nvPr/>
            </p:nvSpPr>
            <p:spPr>
              <a:xfrm>
                <a:off x="9027338" y="5763339"/>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问答库</a:t>
                </a:r>
              </a:p>
            </p:txBody>
          </p:sp>
          <p:sp>
            <p:nvSpPr>
              <p:cNvPr id="263" name="TextBox 263"/>
              <p:cNvSpPr txBox="1"/>
              <p:nvPr/>
            </p:nvSpPr>
            <p:spPr>
              <a:xfrm>
                <a:off x="8928392" y="6370082"/>
                <a:ext cx="526466"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自然语言问答</a:t>
                </a:r>
              </a:p>
            </p:txBody>
          </p:sp>
          <p:sp>
            <p:nvSpPr>
              <p:cNvPr id="264" name="TextBox 264"/>
              <p:cNvSpPr txBox="1"/>
              <p:nvPr/>
            </p:nvSpPr>
            <p:spPr>
              <a:xfrm>
                <a:off x="9014549" y="6484382"/>
                <a:ext cx="354152"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获取答案</a:t>
                </a:r>
              </a:p>
            </p:txBody>
          </p:sp>
          <p:sp>
            <p:nvSpPr>
              <p:cNvPr id="265" name="Rectangle 265"/>
              <p:cNvSpPr/>
              <p:nvPr/>
            </p:nvSpPr>
            <p:spPr>
              <a:xfrm>
                <a:off x="9715500" y="5467350"/>
                <a:ext cx="895350" cy="838200"/>
              </a:xfrm>
              <a:prstGeom prst="roundRect">
                <a:avLst>
                  <a:gd name="adj" fmla="val 5682"/>
                </a:avLst>
              </a:prstGeom>
              <a:solidFill>
                <a:srgbClr val="8C4336"/>
              </a:solidFill>
              <a:ln>
                <a:noFill/>
              </a:ln>
            </p:spPr>
          </p:sp>
          <p:grpSp>
            <p:nvGrpSpPr>
              <p:cNvPr id="269" name="Group 269"/>
              <p:cNvGrpSpPr/>
              <p:nvPr/>
            </p:nvGrpSpPr>
            <p:grpSpPr>
              <a:xfrm>
                <a:off x="10106025" y="5238750"/>
                <a:ext cx="114300" cy="114300"/>
                <a:chOff x="10106025" y="5238750"/>
                <a:chExt cx="114300" cy="114300"/>
              </a:xfrm>
            </p:grpSpPr>
            <p:sp>
              <p:nvSpPr>
                <p:cNvPr id="266" name="Freeform 266"/>
                <p:cNvSpPr/>
                <p:nvPr/>
              </p:nvSpPr>
              <p:spPr>
                <a:xfrm>
                  <a:off x="10106025" y="523875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FFFFFF"/>
                  </a:solidFill>
                </a:ln>
              </p:spPr>
            </p:sp>
            <p:sp>
              <p:nvSpPr>
                <p:cNvPr id="267" name="Freeform 267"/>
                <p:cNvSpPr/>
                <p:nvPr/>
              </p:nvSpPr>
              <p:spPr>
                <a:xfrm>
                  <a:off x="10128733" y="526415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FFFFFF"/>
                  </a:solidFill>
                </a:ln>
              </p:spPr>
            </p:sp>
            <p:sp>
              <p:nvSpPr>
                <p:cNvPr id="268" name="Freeform 268"/>
                <p:cNvSpPr/>
                <p:nvPr/>
              </p:nvSpPr>
              <p:spPr>
                <a:xfrm>
                  <a:off x="10148570" y="5327650"/>
                  <a:ext cx="29210" cy="9525"/>
                </a:xfrm>
                <a:custGeom>
                  <a:avLst/>
                  <a:gdLst/>
                  <a:ahLst/>
                  <a:cxnLst/>
                  <a:rect l="l" t="t" r="r" b="b"/>
                  <a:pathLst>
                    <a:path w="29210" h="9525">
                      <a:moveTo>
                        <a:pt x="0" y="0"/>
                      </a:moveTo>
                      <a:lnTo>
                        <a:pt x="29210" y="0"/>
                      </a:lnTo>
                    </a:path>
                  </a:pathLst>
                </a:custGeom>
                <a:noFill/>
                <a:ln w="12700">
                  <a:solidFill>
                    <a:srgbClr val="FFFFFF"/>
                  </a:solidFill>
                </a:ln>
              </p:spPr>
            </p:sp>
          </p:grpSp>
          <p:sp>
            <p:nvSpPr>
              <p:cNvPr id="270" name="TextBox 270"/>
              <p:cNvSpPr txBox="1"/>
              <p:nvPr/>
            </p:nvSpPr>
            <p:spPr>
              <a:xfrm>
                <a:off x="9998888" y="5610939"/>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决策库</a:t>
                </a:r>
              </a:p>
            </p:txBody>
          </p:sp>
          <p:sp>
            <p:nvSpPr>
              <p:cNvPr id="271" name="TextBox 271"/>
              <p:cNvSpPr txBox="1"/>
              <p:nvPr/>
            </p:nvSpPr>
            <p:spPr>
              <a:xfrm>
                <a:off x="9943021" y="6370082"/>
                <a:ext cx="440309"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洞察与议事</a:t>
                </a:r>
              </a:p>
            </p:txBody>
          </p:sp>
          <p:sp>
            <p:nvSpPr>
              <p:cNvPr id="272" name="TextBox 272"/>
              <p:cNvSpPr txBox="1"/>
              <p:nvPr/>
            </p:nvSpPr>
            <p:spPr>
              <a:xfrm>
                <a:off x="9986099" y="6484382"/>
                <a:ext cx="354152"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辅助决策</a:t>
                </a:r>
              </a:p>
            </p:txBody>
          </p:sp>
          <p:sp>
            <p:nvSpPr>
              <p:cNvPr id="273" name="Rectangle 273"/>
              <p:cNvSpPr/>
              <p:nvPr/>
            </p:nvSpPr>
            <p:spPr>
              <a:xfrm>
                <a:off x="10687050" y="5314950"/>
                <a:ext cx="895350" cy="990600"/>
              </a:xfrm>
              <a:prstGeom prst="roundRect">
                <a:avLst>
                  <a:gd name="adj" fmla="val 5319"/>
                </a:avLst>
              </a:prstGeom>
              <a:solidFill>
                <a:srgbClr val="42140B"/>
              </a:solidFill>
              <a:ln>
                <a:noFill/>
              </a:ln>
            </p:spPr>
          </p:sp>
          <p:grpSp>
            <p:nvGrpSpPr>
              <p:cNvPr id="277" name="Group 277"/>
              <p:cNvGrpSpPr/>
              <p:nvPr/>
            </p:nvGrpSpPr>
            <p:grpSpPr>
              <a:xfrm>
                <a:off x="11081919" y="5092700"/>
                <a:ext cx="103606" cy="103606"/>
                <a:chOff x="11081919" y="5092700"/>
                <a:chExt cx="103606" cy="103606"/>
              </a:xfrm>
            </p:grpSpPr>
            <p:sp>
              <p:nvSpPr>
                <p:cNvPr id="274" name="Freeform 274"/>
                <p:cNvSpPr/>
                <p:nvPr/>
              </p:nvSpPr>
              <p:spPr>
                <a:xfrm>
                  <a:off x="11083925" y="5092700"/>
                  <a:ext cx="101600" cy="101600"/>
                </a:xfrm>
                <a:custGeom>
                  <a:avLst/>
                  <a:gdLst/>
                  <a:ahLst/>
                  <a:cxnLst/>
                  <a:rect l="l" t="t" r="r" b="b"/>
                  <a:pathLst>
                    <a:path w="101600" h="101600">
                      <a:moveTo>
                        <a:pt x="0" y="57150"/>
                      </a:moveTo>
                      <a:cubicBezTo>
                        <a:pt x="23306" y="59920"/>
                        <a:pt x="41680" y="78294"/>
                        <a:pt x="44450" y="101600"/>
                      </a:cubicBezTo>
                      <a:cubicBezTo>
                        <a:pt x="55861" y="95021"/>
                        <a:pt x="63065" y="83015"/>
                        <a:pt x="63500" y="69850"/>
                      </a:cubicBezTo>
                      <a:cubicBezTo>
                        <a:pt x="85304" y="62180"/>
                        <a:pt x="100342" y="42130"/>
                        <a:pt x="101600" y="19050"/>
                      </a:cubicBezTo>
                      <a:cubicBezTo>
                        <a:pt x="101600" y="8529"/>
                        <a:pt x="93071" y="0"/>
                        <a:pt x="82550" y="0"/>
                      </a:cubicBezTo>
                      <a:cubicBezTo>
                        <a:pt x="59470" y="1258"/>
                        <a:pt x="39420" y="16296"/>
                        <a:pt x="31750" y="38100"/>
                      </a:cubicBezTo>
                      <a:cubicBezTo>
                        <a:pt x="18585" y="38535"/>
                        <a:pt x="6579" y="45739"/>
                        <a:pt x="0" y="57150"/>
                      </a:cubicBezTo>
                    </a:path>
                  </a:pathLst>
                </a:custGeom>
                <a:noFill/>
                <a:ln w="12700">
                  <a:solidFill>
                    <a:srgbClr val="C93F27"/>
                  </a:solidFill>
                </a:ln>
              </p:spPr>
            </p:sp>
            <p:sp>
              <p:nvSpPr>
                <p:cNvPr id="275" name="Freeform 275"/>
                <p:cNvSpPr/>
                <p:nvPr/>
              </p:nvSpPr>
              <p:spPr>
                <a:xfrm>
                  <a:off x="11081919" y="5156200"/>
                  <a:ext cx="40106" cy="40106"/>
                </a:xfrm>
                <a:custGeom>
                  <a:avLst/>
                  <a:gdLst/>
                  <a:ahLst/>
                  <a:cxnLst/>
                  <a:rect l="l" t="t" r="r" b="b"/>
                  <a:pathLst>
                    <a:path w="40106" h="40106">
                      <a:moveTo>
                        <a:pt x="21056" y="0"/>
                      </a:moveTo>
                      <a:cubicBezTo>
                        <a:pt x="7536" y="7633"/>
                        <a:pt x="0" y="22705"/>
                        <a:pt x="2006" y="38100"/>
                      </a:cubicBezTo>
                      <a:cubicBezTo>
                        <a:pt x="17401" y="40106"/>
                        <a:pt x="32473" y="32570"/>
                        <a:pt x="40106" y="19050"/>
                      </a:cubicBezTo>
                    </a:path>
                  </a:pathLst>
                </a:custGeom>
                <a:noFill/>
                <a:ln w="12700">
                  <a:solidFill>
                    <a:srgbClr val="C93F27"/>
                  </a:solidFill>
                </a:ln>
              </p:spPr>
            </p:sp>
            <p:sp>
              <p:nvSpPr>
                <p:cNvPr id="276" name="Freeform 276"/>
                <p:cNvSpPr/>
                <p:nvPr/>
              </p:nvSpPr>
              <p:spPr>
                <a:xfrm>
                  <a:off x="11147425" y="51181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C93F27"/>
                  </a:solidFill>
                </a:ln>
              </p:spPr>
            </p:sp>
          </p:grpSp>
          <p:sp>
            <p:nvSpPr>
              <p:cNvPr id="278" name="TextBox 278"/>
              <p:cNvSpPr txBox="1"/>
              <p:nvPr/>
            </p:nvSpPr>
            <p:spPr>
              <a:xfrm>
                <a:off x="10970438" y="5458539"/>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行动库</a:t>
                </a:r>
              </a:p>
            </p:txBody>
          </p:sp>
          <p:sp>
            <p:nvSpPr>
              <p:cNvPr id="279" name="TextBox 279"/>
              <p:cNvSpPr txBox="1"/>
              <p:nvPr/>
            </p:nvSpPr>
            <p:spPr>
              <a:xfrm>
                <a:off x="10957649" y="6370082"/>
                <a:ext cx="354152"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驱动任务</a:t>
                </a:r>
              </a:p>
            </p:txBody>
          </p:sp>
          <p:sp>
            <p:nvSpPr>
              <p:cNvPr id="280" name="TextBox 280"/>
              <p:cNvSpPr txBox="1"/>
              <p:nvPr/>
            </p:nvSpPr>
            <p:spPr>
              <a:xfrm>
                <a:off x="10957649" y="6484382"/>
                <a:ext cx="354152"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闭环执行</a:t>
                </a:r>
              </a:p>
            </p:txBody>
          </p:sp>
        </p:grpSp>
      </p:gr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942594" y="151448"/>
              <a:ext cx="695401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知识孤岛不是技术问题，而是</a:t>
              </a:r>
              <a:r>
                <a:rPr lang="zh-CN" sz="1950" b="1" dirty="0">
                  <a:solidFill>
                    <a:srgbClr val="7C3B2F"/>
                  </a:solidFill>
                  <a:latin typeface="SimSun"/>
                  <a:ea typeface="SimSun"/>
                  <a:cs typeface="SimSun"/>
                </a:rPr>
                <a:t>价值、治理与运营同时失配</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103" name="gap-table"/>
          <p:cNvGrpSpPr/>
          <p:nvPr/>
        </p:nvGrpSpPr>
        <p:grpSpPr>
          <a:xfrm>
            <a:off x="228600" y="609600"/>
            <a:ext cx="3924300" cy="4152900"/>
            <a:chOff x="228600" y="609600"/>
            <a:chExt cx="3924300" cy="4152900"/>
          </a:xfrm>
        </p:grpSpPr>
        <p:sp>
          <p:nvSpPr>
            <p:cNvPr id="7" name="Rectangle 7"/>
            <p:cNvSpPr/>
            <p:nvPr/>
          </p:nvSpPr>
          <p:spPr>
            <a:xfrm>
              <a:off x="228600" y="609600"/>
              <a:ext cx="3924300" cy="4152900"/>
            </a:xfrm>
            <a:prstGeom prst="roundRect">
              <a:avLst>
                <a:gd name="adj" fmla="val 1942"/>
              </a:avLst>
            </a:prstGeom>
            <a:solidFill>
              <a:srgbClr val="FFFFFF"/>
            </a:solidFill>
            <a:ln w="9525">
              <a:solidFill>
                <a:srgbClr val="D9E8C6"/>
              </a:solidFill>
            </a:ln>
          </p:spPr>
        </p:sp>
        <p:sp>
          <p:nvSpPr>
            <p:cNvPr id="8" name="Rectangle 8"/>
            <p:cNvSpPr/>
            <p:nvPr/>
          </p:nvSpPr>
          <p:spPr>
            <a:xfrm>
              <a:off x="228600" y="609600"/>
              <a:ext cx="3924300" cy="266700"/>
            </a:xfrm>
            <a:prstGeom prst="roundRect">
              <a:avLst>
                <a:gd name="adj" fmla="val 28571"/>
              </a:avLst>
            </a:prstGeom>
            <a:solidFill>
              <a:srgbClr val="42140B"/>
            </a:solidFill>
            <a:ln>
              <a:noFill/>
            </a:ln>
          </p:spPr>
        </p:sp>
        <p:sp>
          <p:nvSpPr>
            <p:cNvPr id="9" name="Rectangle 9"/>
            <p:cNvSpPr/>
            <p:nvPr/>
          </p:nvSpPr>
          <p:spPr>
            <a:xfrm>
              <a:off x="228600" y="762000"/>
              <a:ext cx="3924300" cy="114300"/>
            </a:xfrm>
            <a:prstGeom prst="rect">
              <a:avLst/>
            </a:prstGeom>
            <a:solidFill>
              <a:srgbClr val="42140B"/>
            </a:solidFill>
            <a:ln>
              <a:noFill/>
            </a:ln>
          </p:spPr>
        </p:sp>
        <p:sp>
          <p:nvSpPr>
            <p:cNvPr id="10" name="TextBox 10"/>
            <p:cNvSpPr txBox="1"/>
            <p:nvPr/>
          </p:nvSpPr>
          <p:spPr>
            <a:xfrm>
              <a:off x="1790014" y="6853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五大断层诊断</a:t>
              </a:r>
            </a:p>
          </p:txBody>
        </p:sp>
        <p:sp>
          <p:nvSpPr>
            <p:cNvPr id="11" name="TextBox 11"/>
            <p:cNvSpPr txBox="1"/>
            <p:nvPr/>
          </p:nvSpPr>
          <p:spPr>
            <a:xfrm>
              <a:off x="627799" y="958691"/>
              <a:ext cx="230302"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断层</a:t>
              </a:r>
            </a:p>
          </p:txBody>
        </p:sp>
        <p:sp>
          <p:nvSpPr>
            <p:cNvPr id="12" name="TextBox 12"/>
            <p:cNvSpPr txBox="1"/>
            <p:nvPr/>
          </p:nvSpPr>
          <p:spPr>
            <a:xfrm>
              <a:off x="1508011" y="958691"/>
              <a:ext cx="451079"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典型症状</a:t>
              </a:r>
            </a:p>
          </p:txBody>
        </p:sp>
        <p:sp>
          <p:nvSpPr>
            <p:cNvPr id="13" name="TextBox 13"/>
            <p:cNvSpPr txBox="1"/>
            <p:nvPr/>
          </p:nvSpPr>
          <p:spPr>
            <a:xfrm>
              <a:off x="2517661" y="958691"/>
              <a:ext cx="451079"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根因分析</a:t>
              </a:r>
            </a:p>
          </p:txBody>
        </p:sp>
        <p:sp>
          <p:nvSpPr>
            <p:cNvPr id="14" name="TextBox 14"/>
            <p:cNvSpPr txBox="1"/>
            <p:nvPr/>
          </p:nvSpPr>
          <p:spPr>
            <a:xfrm>
              <a:off x="3413011" y="958691"/>
              <a:ext cx="451079"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业务影响</a:t>
              </a:r>
            </a:p>
          </p:txBody>
        </p:sp>
        <p:sp>
          <p:nvSpPr>
            <p:cNvPr id="15" name="Line 15"/>
            <p:cNvSpPr/>
            <p:nvPr/>
          </p:nvSpPr>
          <p:spPr>
            <a:xfrm>
              <a:off x="266700" y="1123950"/>
              <a:ext cx="3848100" cy="9525"/>
            </a:xfrm>
            <a:custGeom>
              <a:avLst/>
              <a:gdLst/>
              <a:ahLst/>
              <a:cxnLst/>
              <a:rect l="l" t="t" r="r" b="b"/>
              <a:pathLst>
                <a:path w="3848100" h="9525">
                  <a:moveTo>
                    <a:pt x="0" y="0"/>
                  </a:moveTo>
                  <a:lnTo>
                    <a:pt x="3848100" y="0"/>
                  </a:lnTo>
                </a:path>
              </a:pathLst>
            </a:custGeom>
            <a:noFill/>
            <a:ln w="14288">
              <a:solidFill>
                <a:srgbClr val="42140B"/>
              </a:solidFill>
            </a:ln>
          </p:spPr>
        </p:sp>
        <p:grpSp>
          <p:nvGrpSpPr>
            <p:cNvPr id="32" name="gap-row-content"/>
            <p:cNvGrpSpPr/>
            <p:nvPr/>
          </p:nvGrpSpPr>
          <p:grpSpPr>
            <a:xfrm>
              <a:off x="266700" y="1181100"/>
              <a:ext cx="3848100" cy="685800"/>
              <a:chOff x="266700" y="1181100"/>
              <a:chExt cx="3848100" cy="685800"/>
            </a:xfrm>
          </p:grpSpPr>
          <p:sp>
            <p:nvSpPr>
              <p:cNvPr id="16" name="Rectangle 16"/>
              <p:cNvSpPr/>
              <p:nvPr/>
            </p:nvSpPr>
            <p:spPr>
              <a:xfrm>
                <a:off x="266700" y="1181100"/>
                <a:ext cx="3848100" cy="685800"/>
              </a:xfrm>
              <a:prstGeom prst="roundRect">
                <a:avLst>
                  <a:gd name="adj" fmla="val 8333"/>
                </a:avLst>
              </a:prstGeom>
              <a:solidFill>
                <a:srgbClr val="F4F8EC"/>
              </a:solidFill>
              <a:ln>
                <a:noFill/>
              </a:ln>
            </p:spPr>
          </p:sp>
          <p:sp>
            <p:nvSpPr>
              <p:cNvPr id="17" name="Ellipse 17"/>
              <p:cNvSpPr/>
              <p:nvPr/>
            </p:nvSpPr>
            <p:spPr>
              <a:xfrm>
                <a:off x="476250" y="1295400"/>
                <a:ext cx="304800" cy="304800"/>
              </a:xfrm>
              <a:prstGeom prst="ellipse">
                <a:avLst/>
              </a:prstGeom>
              <a:solidFill>
                <a:srgbClr val="42140B"/>
              </a:solidFill>
              <a:ln>
                <a:noFill/>
              </a:ln>
            </p:spPr>
          </p:sp>
          <p:grpSp>
            <p:nvGrpSpPr>
              <p:cNvPr id="21" name="Group 21"/>
              <p:cNvGrpSpPr/>
              <p:nvPr/>
            </p:nvGrpSpPr>
            <p:grpSpPr>
              <a:xfrm>
                <a:off x="571500" y="1383506"/>
                <a:ext cx="114300" cy="128588"/>
                <a:chOff x="571500" y="1383506"/>
                <a:chExt cx="114300" cy="128588"/>
              </a:xfrm>
            </p:grpSpPr>
            <p:sp>
              <p:nvSpPr>
                <p:cNvPr id="18" name="Freeform 18"/>
                <p:cNvSpPr/>
                <p:nvPr/>
              </p:nvSpPr>
              <p:spPr>
                <a:xfrm>
                  <a:off x="571500" y="138350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19" name="Freeform 19"/>
                <p:cNvSpPr/>
                <p:nvPr/>
              </p:nvSpPr>
              <p:spPr>
                <a:xfrm>
                  <a:off x="571500" y="140493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20" name="Freeform 20"/>
                <p:cNvSpPr/>
                <p:nvPr/>
              </p:nvSpPr>
              <p:spPr>
                <a:xfrm>
                  <a:off x="571500" y="144780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sp>
            <p:nvSpPr>
              <p:cNvPr id="22" name="TextBox 22"/>
              <p:cNvSpPr txBox="1"/>
              <p:nvPr/>
            </p:nvSpPr>
            <p:spPr>
              <a:xfrm>
                <a:off x="411188" y="16866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内容断层</a:t>
                </a:r>
              </a:p>
            </p:txBody>
          </p:sp>
          <p:sp>
            <p:nvSpPr>
              <p:cNvPr id="23" name="TextBox 23"/>
              <p:cNvSpPr txBox="1"/>
              <p:nvPr/>
            </p:nvSpPr>
            <p:spPr>
              <a:xfrm>
                <a:off x="1119188" y="12987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内容分散在多处</a:t>
                </a:r>
              </a:p>
            </p:txBody>
          </p:sp>
          <p:sp>
            <p:nvSpPr>
              <p:cNvPr id="24" name="TextBox 24"/>
              <p:cNvSpPr txBox="1"/>
              <p:nvPr/>
            </p:nvSpPr>
            <p:spPr>
              <a:xfrm>
                <a:off x="1119188" y="14511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版本混乱、重复</a:t>
                </a:r>
              </a:p>
            </p:txBody>
          </p:sp>
          <p:sp>
            <p:nvSpPr>
              <p:cNvPr id="25" name="TextBox 25"/>
              <p:cNvSpPr txBox="1"/>
              <p:nvPr/>
            </p:nvSpPr>
            <p:spPr>
              <a:xfrm>
                <a:off x="1119188" y="1603534"/>
                <a:ext cx="818058"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难以找到权威信息</a:t>
                </a:r>
              </a:p>
            </p:txBody>
          </p:sp>
          <p:sp>
            <p:nvSpPr>
              <p:cNvPr id="26" name="TextBox 26"/>
              <p:cNvSpPr txBox="1"/>
              <p:nvPr/>
            </p:nvSpPr>
            <p:spPr>
              <a:xfrm>
                <a:off x="2262188" y="1298734"/>
                <a:ext cx="909599"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缺乏统一标准与模型</a:t>
                </a:r>
              </a:p>
            </p:txBody>
          </p:sp>
          <p:sp>
            <p:nvSpPr>
              <p:cNvPr id="27" name="TextBox 27"/>
              <p:cNvSpPr txBox="1"/>
              <p:nvPr/>
            </p:nvSpPr>
            <p:spPr>
              <a:xfrm>
                <a:off x="2262188" y="1451134"/>
                <a:ext cx="818058"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采集与沉淀不系统</a:t>
                </a:r>
              </a:p>
            </p:txBody>
          </p:sp>
          <p:sp>
            <p:nvSpPr>
              <p:cNvPr id="28" name="TextBox 28"/>
              <p:cNvSpPr txBox="1"/>
              <p:nvPr/>
            </p:nvSpPr>
            <p:spPr>
              <a:xfrm>
                <a:off x="2262188" y="16035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质量治理缺位</a:t>
                </a:r>
              </a:p>
            </p:txBody>
          </p:sp>
          <p:sp>
            <p:nvSpPr>
              <p:cNvPr id="29" name="TextBox 29"/>
              <p:cNvSpPr txBox="1"/>
              <p:nvPr/>
            </p:nvSpPr>
            <p:spPr>
              <a:xfrm>
                <a:off x="3195638" y="12987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决策依据不一致</a:t>
                </a:r>
              </a:p>
            </p:txBody>
          </p:sp>
          <p:sp>
            <p:nvSpPr>
              <p:cNvPr id="30" name="TextBox 30"/>
              <p:cNvSpPr txBox="1"/>
              <p:nvPr/>
            </p:nvSpPr>
            <p:spPr>
              <a:xfrm>
                <a:off x="3195638" y="14511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重复投入与返工</a:t>
                </a:r>
              </a:p>
            </p:txBody>
          </p:sp>
          <p:sp>
            <p:nvSpPr>
              <p:cNvPr id="31" name="TextBox 31"/>
              <p:cNvSpPr txBox="1"/>
              <p:nvPr/>
            </p:nvSpPr>
            <p:spPr>
              <a:xfrm>
                <a:off x="3195638" y="16035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合规与质量风险</a:t>
                </a:r>
              </a:p>
            </p:txBody>
          </p:sp>
        </p:grpSp>
        <p:grpSp>
          <p:nvGrpSpPr>
            <p:cNvPr id="49" name="gap-row-permission"/>
            <p:cNvGrpSpPr/>
            <p:nvPr/>
          </p:nvGrpSpPr>
          <p:grpSpPr>
            <a:xfrm>
              <a:off x="266700" y="1905000"/>
              <a:ext cx="3848100" cy="685800"/>
              <a:chOff x="266700" y="1905000"/>
              <a:chExt cx="3848100" cy="685800"/>
            </a:xfrm>
          </p:grpSpPr>
          <p:sp>
            <p:nvSpPr>
              <p:cNvPr id="33" name="Rectangle 33"/>
              <p:cNvSpPr/>
              <p:nvPr/>
            </p:nvSpPr>
            <p:spPr>
              <a:xfrm>
                <a:off x="266700" y="1905000"/>
                <a:ext cx="3848100" cy="685800"/>
              </a:xfrm>
              <a:prstGeom prst="roundRect">
                <a:avLst>
                  <a:gd name="adj" fmla="val 8333"/>
                </a:avLst>
              </a:prstGeom>
              <a:solidFill>
                <a:srgbClr val="FFFFFF"/>
              </a:solidFill>
              <a:ln>
                <a:noFill/>
              </a:ln>
            </p:spPr>
          </p:sp>
          <p:sp>
            <p:nvSpPr>
              <p:cNvPr id="34" name="Ellipse 34"/>
              <p:cNvSpPr/>
              <p:nvPr/>
            </p:nvSpPr>
            <p:spPr>
              <a:xfrm>
                <a:off x="476250" y="2019300"/>
                <a:ext cx="304800" cy="304800"/>
              </a:xfrm>
              <a:prstGeom prst="ellipse">
                <a:avLst/>
              </a:prstGeom>
              <a:solidFill>
                <a:srgbClr val="7C3B2F"/>
              </a:solidFill>
              <a:ln>
                <a:noFill/>
              </a:ln>
            </p:spPr>
          </p:sp>
          <p:grpSp>
            <p:nvGrpSpPr>
              <p:cNvPr id="38" name="Group 38"/>
              <p:cNvGrpSpPr/>
              <p:nvPr/>
            </p:nvGrpSpPr>
            <p:grpSpPr>
              <a:xfrm>
                <a:off x="578644" y="2107406"/>
                <a:ext cx="100012" cy="128588"/>
                <a:chOff x="578644" y="2107406"/>
                <a:chExt cx="100012" cy="128588"/>
              </a:xfrm>
            </p:grpSpPr>
            <p:sp>
              <p:nvSpPr>
                <p:cNvPr id="35" name="Freeform 35"/>
                <p:cNvSpPr/>
                <p:nvPr/>
              </p:nvSpPr>
              <p:spPr>
                <a:xfrm>
                  <a:off x="578644" y="2164556"/>
                  <a:ext cx="100012" cy="71438"/>
                </a:xfrm>
                <a:custGeom>
                  <a:avLst/>
                  <a:gdLst/>
                  <a:ahLst/>
                  <a:cxnLst/>
                  <a:rect l="l" t="t" r="r" b="b"/>
                  <a:pathLst>
                    <a:path w="100012" h="71438">
                      <a:moveTo>
                        <a:pt x="0" y="14288"/>
                      </a:moveTo>
                      <a:cubicBezTo>
                        <a:pt x="0" y="6397"/>
                        <a:pt x="6397" y="0"/>
                        <a:pt x="14288" y="0"/>
                      </a:cubicBezTo>
                      <a:lnTo>
                        <a:pt x="85725" y="0"/>
                      </a:lnTo>
                      <a:cubicBezTo>
                        <a:pt x="93616" y="0"/>
                        <a:pt x="100012" y="6397"/>
                        <a:pt x="100012" y="14288"/>
                      </a:cubicBezTo>
                      <a:lnTo>
                        <a:pt x="100012" y="57150"/>
                      </a:lnTo>
                      <a:cubicBezTo>
                        <a:pt x="100012" y="65041"/>
                        <a:pt x="93616" y="71438"/>
                        <a:pt x="85725" y="71438"/>
                      </a:cubicBezTo>
                      <a:lnTo>
                        <a:pt x="14288" y="71438"/>
                      </a:lnTo>
                      <a:cubicBezTo>
                        <a:pt x="6397" y="71438"/>
                        <a:pt x="0" y="65041"/>
                        <a:pt x="0" y="57150"/>
                      </a:cubicBezTo>
                      <a:lnTo>
                        <a:pt x="0" y="14288"/>
                      </a:lnTo>
                    </a:path>
                  </a:pathLst>
                </a:custGeom>
                <a:noFill/>
                <a:ln w="14288">
                  <a:solidFill>
                    <a:srgbClr val="FFFFFF"/>
                  </a:solidFill>
                </a:ln>
              </p:spPr>
            </p:sp>
            <p:sp>
              <p:nvSpPr>
                <p:cNvPr id="36" name="Freeform 36"/>
                <p:cNvSpPr/>
                <p:nvPr/>
              </p:nvSpPr>
              <p:spPr>
                <a:xfrm>
                  <a:off x="621506" y="21931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37" name="Freeform 37"/>
                <p:cNvSpPr/>
                <p:nvPr/>
              </p:nvSpPr>
              <p:spPr>
                <a:xfrm>
                  <a:off x="600075" y="2107406"/>
                  <a:ext cx="57150" cy="57150"/>
                </a:xfrm>
                <a:custGeom>
                  <a:avLst/>
                  <a:gdLst/>
                  <a:ahLst/>
                  <a:cxnLst/>
                  <a:rect l="l" t="t" r="r" b="b"/>
                  <a:pathLst>
                    <a:path w="57150" h="57150">
                      <a:moveTo>
                        <a:pt x="0" y="57150"/>
                      </a:moveTo>
                      <a:lnTo>
                        <a:pt x="0" y="28575"/>
                      </a:lnTo>
                      <a:cubicBezTo>
                        <a:pt x="0" y="12793"/>
                        <a:pt x="12793" y="0"/>
                        <a:pt x="28575" y="0"/>
                      </a:cubicBezTo>
                      <a:cubicBezTo>
                        <a:pt x="44357" y="0"/>
                        <a:pt x="57150" y="12793"/>
                        <a:pt x="57150" y="28575"/>
                      </a:cubicBezTo>
                      <a:lnTo>
                        <a:pt x="57150" y="57150"/>
                      </a:lnTo>
                    </a:path>
                  </a:pathLst>
                </a:custGeom>
                <a:noFill/>
                <a:ln w="14288">
                  <a:solidFill>
                    <a:srgbClr val="FFFFFF"/>
                  </a:solidFill>
                </a:ln>
              </p:spPr>
            </p:sp>
          </p:grpSp>
          <p:sp>
            <p:nvSpPr>
              <p:cNvPr id="39" name="TextBox 39"/>
              <p:cNvSpPr txBox="1"/>
              <p:nvPr/>
            </p:nvSpPr>
            <p:spPr>
              <a:xfrm>
                <a:off x="411188" y="24105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权限断层</a:t>
                </a:r>
              </a:p>
            </p:txBody>
          </p:sp>
          <p:sp>
            <p:nvSpPr>
              <p:cNvPr id="40" name="TextBox 40"/>
              <p:cNvSpPr txBox="1"/>
              <p:nvPr/>
            </p:nvSpPr>
            <p:spPr>
              <a:xfrm>
                <a:off x="1119188" y="20226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该看的看不到</a:t>
                </a:r>
              </a:p>
            </p:txBody>
          </p:sp>
          <p:sp>
            <p:nvSpPr>
              <p:cNvPr id="41" name="TextBox 41"/>
              <p:cNvSpPr txBox="1"/>
              <p:nvPr/>
            </p:nvSpPr>
            <p:spPr>
              <a:xfrm>
                <a:off x="1119188" y="21750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过度授权隐患大</a:t>
                </a:r>
              </a:p>
            </p:txBody>
          </p:sp>
          <p:sp>
            <p:nvSpPr>
              <p:cNvPr id="42" name="TextBox 42"/>
              <p:cNvSpPr txBox="1"/>
              <p:nvPr/>
            </p:nvSpPr>
            <p:spPr>
              <a:xfrm>
                <a:off x="1119188" y="23274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临时授权频繁</a:t>
                </a:r>
              </a:p>
            </p:txBody>
          </p:sp>
          <p:sp>
            <p:nvSpPr>
              <p:cNvPr id="43" name="TextBox 43"/>
              <p:cNvSpPr txBox="1"/>
              <p:nvPr/>
            </p:nvSpPr>
            <p:spPr>
              <a:xfrm>
                <a:off x="2262188" y="20226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权限模型粗放</a:t>
                </a:r>
              </a:p>
            </p:txBody>
          </p:sp>
          <p:sp>
            <p:nvSpPr>
              <p:cNvPr id="44" name="TextBox 44"/>
              <p:cNvSpPr txBox="1"/>
              <p:nvPr/>
            </p:nvSpPr>
            <p:spPr>
              <a:xfrm>
                <a:off x="2262188" y="2175034"/>
                <a:ext cx="818058"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身份与组织不同步</a:t>
                </a:r>
              </a:p>
            </p:txBody>
          </p:sp>
          <p:sp>
            <p:nvSpPr>
              <p:cNvPr id="45" name="TextBox 45"/>
              <p:cNvSpPr txBox="1"/>
              <p:nvPr/>
            </p:nvSpPr>
            <p:spPr>
              <a:xfrm>
                <a:off x="2262188" y="2327434"/>
                <a:ext cx="818058"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审批与回收不闭环</a:t>
                </a:r>
              </a:p>
            </p:txBody>
          </p:sp>
          <p:sp>
            <p:nvSpPr>
              <p:cNvPr id="46" name="TextBox 46"/>
              <p:cNvSpPr txBox="1"/>
              <p:nvPr/>
            </p:nvSpPr>
            <p:spPr>
              <a:xfrm>
                <a:off x="3195638" y="2022634"/>
                <a:ext cx="451891"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效率低下</a:t>
                </a:r>
              </a:p>
            </p:txBody>
          </p:sp>
          <p:sp>
            <p:nvSpPr>
              <p:cNvPr id="47" name="TextBox 47"/>
              <p:cNvSpPr txBox="1"/>
              <p:nvPr/>
            </p:nvSpPr>
            <p:spPr>
              <a:xfrm>
                <a:off x="3195638" y="21750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数据泄露风险</a:t>
                </a:r>
              </a:p>
            </p:txBody>
          </p:sp>
          <p:sp>
            <p:nvSpPr>
              <p:cNvPr id="48" name="TextBox 48"/>
              <p:cNvSpPr txBox="1"/>
              <p:nvPr/>
            </p:nvSpPr>
            <p:spPr>
              <a:xfrm>
                <a:off x="3195638" y="2327434"/>
                <a:ext cx="909599"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审计与合规成本上升</a:t>
                </a:r>
              </a:p>
            </p:txBody>
          </p:sp>
        </p:grpSp>
        <p:grpSp>
          <p:nvGrpSpPr>
            <p:cNvPr id="63" name="gap-row-semantic"/>
            <p:cNvGrpSpPr/>
            <p:nvPr/>
          </p:nvGrpSpPr>
          <p:grpSpPr>
            <a:xfrm>
              <a:off x="266700" y="2628900"/>
              <a:ext cx="3848100" cy="685800"/>
              <a:chOff x="266700" y="2628900"/>
              <a:chExt cx="3848100" cy="685800"/>
            </a:xfrm>
          </p:grpSpPr>
          <p:sp>
            <p:nvSpPr>
              <p:cNvPr id="50" name="Rectangle 50"/>
              <p:cNvSpPr/>
              <p:nvPr/>
            </p:nvSpPr>
            <p:spPr>
              <a:xfrm>
                <a:off x="266700" y="2628900"/>
                <a:ext cx="3848100" cy="685800"/>
              </a:xfrm>
              <a:prstGeom prst="roundRect">
                <a:avLst>
                  <a:gd name="adj" fmla="val 8333"/>
                </a:avLst>
              </a:prstGeom>
              <a:solidFill>
                <a:srgbClr val="F4F8EC"/>
              </a:solidFill>
              <a:ln>
                <a:noFill/>
              </a:ln>
            </p:spPr>
          </p:sp>
          <p:sp>
            <p:nvSpPr>
              <p:cNvPr id="51" name="Ellipse 51"/>
              <p:cNvSpPr/>
              <p:nvPr/>
            </p:nvSpPr>
            <p:spPr>
              <a:xfrm>
                <a:off x="476250" y="2743200"/>
                <a:ext cx="304800" cy="304800"/>
              </a:xfrm>
              <a:prstGeom prst="ellipse">
                <a:avLst/>
              </a:prstGeom>
              <a:solidFill>
                <a:srgbClr val="8C4336"/>
              </a:solidFill>
              <a:ln>
                <a:noFill/>
              </a:ln>
            </p:spPr>
          </p:sp>
          <p:sp>
            <p:nvSpPr>
              <p:cNvPr id="52" name="Freeform 52"/>
              <p:cNvSpPr/>
              <p:nvPr/>
            </p:nvSpPr>
            <p:spPr>
              <a:xfrm>
                <a:off x="557041" y="283291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FFFFFF"/>
                </a:solidFill>
              </a:ln>
            </p:spPr>
          </p:sp>
          <p:sp>
            <p:nvSpPr>
              <p:cNvPr id="53" name="TextBox 53"/>
              <p:cNvSpPr txBox="1"/>
              <p:nvPr/>
            </p:nvSpPr>
            <p:spPr>
              <a:xfrm>
                <a:off x="411188" y="31344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语义断层</a:t>
                </a:r>
              </a:p>
            </p:txBody>
          </p:sp>
          <p:sp>
            <p:nvSpPr>
              <p:cNvPr id="54" name="TextBox 54"/>
              <p:cNvSpPr txBox="1"/>
              <p:nvPr/>
            </p:nvSpPr>
            <p:spPr>
              <a:xfrm>
                <a:off x="1119188" y="2746534"/>
                <a:ext cx="543433"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术语不统一</a:t>
                </a:r>
              </a:p>
            </p:txBody>
          </p:sp>
          <p:sp>
            <p:nvSpPr>
              <p:cNvPr id="55" name="TextBox 55"/>
              <p:cNvSpPr txBox="1"/>
              <p:nvPr/>
            </p:nvSpPr>
            <p:spPr>
              <a:xfrm>
                <a:off x="1119188" y="2898934"/>
                <a:ext cx="543433"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同义不同名</a:t>
                </a:r>
              </a:p>
            </p:txBody>
          </p:sp>
          <p:sp>
            <p:nvSpPr>
              <p:cNvPr id="56" name="TextBox 56"/>
              <p:cNvSpPr txBox="1"/>
              <p:nvPr/>
            </p:nvSpPr>
            <p:spPr>
              <a:xfrm>
                <a:off x="1119188" y="30513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检索结果不准</a:t>
                </a:r>
              </a:p>
            </p:txBody>
          </p:sp>
          <p:sp>
            <p:nvSpPr>
              <p:cNvPr id="57" name="TextBox 57"/>
              <p:cNvSpPr txBox="1"/>
              <p:nvPr/>
            </p:nvSpPr>
            <p:spPr>
              <a:xfrm>
                <a:off x="2262188" y="27465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本体与标签缺失</a:t>
                </a:r>
              </a:p>
            </p:txBody>
          </p:sp>
          <p:sp>
            <p:nvSpPr>
              <p:cNvPr id="58" name="TextBox 58"/>
              <p:cNvSpPr txBox="1"/>
              <p:nvPr/>
            </p:nvSpPr>
            <p:spPr>
              <a:xfrm>
                <a:off x="2262188" y="28989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语义理解能力弱</a:t>
                </a:r>
              </a:p>
            </p:txBody>
          </p:sp>
          <p:sp>
            <p:nvSpPr>
              <p:cNvPr id="59" name="TextBox 59"/>
              <p:cNvSpPr txBox="1"/>
              <p:nvPr/>
            </p:nvSpPr>
            <p:spPr>
              <a:xfrm>
                <a:off x="2262188" y="30513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上下文建模不足</a:t>
                </a:r>
              </a:p>
            </p:txBody>
          </p:sp>
          <p:sp>
            <p:nvSpPr>
              <p:cNvPr id="60" name="TextBox 60"/>
              <p:cNvSpPr txBox="1"/>
              <p:nvPr/>
            </p:nvSpPr>
            <p:spPr>
              <a:xfrm>
                <a:off x="3195638" y="2746534"/>
                <a:ext cx="543433"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检索效率低</a:t>
                </a:r>
              </a:p>
            </p:txBody>
          </p:sp>
          <p:sp>
            <p:nvSpPr>
              <p:cNvPr id="61" name="TextBox 61"/>
              <p:cNvSpPr txBox="1"/>
              <p:nvPr/>
            </p:nvSpPr>
            <p:spPr>
              <a:xfrm>
                <a:off x="3195638" y="2898934"/>
                <a:ext cx="543433"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误用与误解</a:t>
                </a:r>
              </a:p>
            </p:txBody>
          </p:sp>
          <p:sp>
            <p:nvSpPr>
              <p:cNvPr id="62" name="TextBox 62"/>
              <p:cNvSpPr txBox="1"/>
              <p:nvPr/>
            </p:nvSpPr>
            <p:spPr>
              <a:xfrm>
                <a:off x="3195638" y="30513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知识复用率低</a:t>
                </a:r>
              </a:p>
            </p:txBody>
          </p:sp>
        </p:grpSp>
        <p:grpSp>
          <p:nvGrpSpPr>
            <p:cNvPr id="82" name="gap-row-process"/>
            <p:cNvGrpSpPr/>
            <p:nvPr/>
          </p:nvGrpSpPr>
          <p:grpSpPr>
            <a:xfrm>
              <a:off x="266700" y="3352800"/>
              <a:ext cx="3848100" cy="685800"/>
              <a:chOff x="266700" y="3352800"/>
              <a:chExt cx="3848100" cy="685800"/>
            </a:xfrm>
          </p:grpSpPr>
          <p:sp>
            <p:nvSpPr>
              <p:cNvPr id="64" name="Rectangle 64"/>
              <p:cNvSpPr/>
              <p:nvPr/>
            </p:nvSpPr>
            <p:spPr>
              <a:xfrm>
                <a:off x="266700" y="3352800"/>
                <a:ext cx="3848100" cy="685800"/>
              </a:xfrm>
              <a:prstGeom prst="roundRect">
                <a:avLst>
                  <a:gd name="adj" fmla="val 8333"/>
                </a:avLst>
              </a:prstGeom>
              <a:solidFill>
                <a:srgbClr val="FFFFFF"/>
              </a:solidFill>
              <a:ln>
                <a:noFill/>
              </a:ln>
            </p:spPr>
          </p:sp>
          <p:sp>
            <p:nvSpPr>
              <p:cNvPr id="65" name="Ellipse 65"/>
              <p:cNvSpPr/>
              <p:nvPr/>
            </p:nvSpPr>
            <p:spPr>
              <a:xfrm>
                <a:off x="476250" y="3467100"/>
                <a:ext cx="304800" cy="304800"/>
              </a:xfrm>
              <a:prstGeom prst="ellipse">
                <a:avLst/>
              </a:prstGeom>
              <a:solidFill>
                <a:srgbClr val="9A4B3C"/>
              </a:solidFill>
              <a:ln>
                <a:noFill/>
              </a:ln>
            </p:spPr>
          </p:sp>
          <p:grpSp>
            <p:nvGrpSpPr>
              <p:cNvPr id="71" name="Group 71"/>
              <p:cNvGrpSpPr/>
              <p:nvPr/>
            </p:nvGrpSpPr>
            <p:grpSpPr>
              <a:xfrm>
                <a:off x="564356" y="3555206"/>
                <a:ext cx="128587" cy="128587"/>
                <a:chOff x="564356" y="3555206"/>
                <a:chExt cx="128587" cy="128587"/>
              </a:xfrm>
            </p:grpSpPr>
            <p:sp>
              <p:nvSpPr>
                <p:cNvPr id="66" name="Freeform 66"/>
                <p:cNvSpPr/>
                <p:nvPr/>
              </p:nvSpPr>
              <p:spPr>
                <a:xfrm>
                  <a:off x="564356" y="364093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FFFFFF"/>
                  </a:solidFill>
                </a:ln>
              </p:spPr>
            </p:sp>
            <p:sp>
              <p:nvSpPr>
                <p:cNvPr id="67" name="Freeform 67"/>
                <p:cNvSpPr/>
                <p:nvPr/>
              </p:nvSpPr>
              <p:spPr>
                <a:xfrm>
                  <a:off x="650081" y="364093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FFFFFF"/>
                  </a:solidFill>
                </a:ln>
              </p:spPr>
            </p:sp>
            <p:sp>
              <p:nvSpPr>
                <p:cNvPr id="68" name="Freeform 68"/>
                <p:cNvSpPr/>
                <p:nvPr/>
              </p:nvSpPr>
              <p:spPr>
                <a:xfrm>
                  <a:off x="607219" y="355520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FFFFFF"/>
                  </a:solidFill>
                </a:ln>
              </p:spPr>
            </p:sp>
            <p:sp>
              <p:nvSpPr>
                <p:cNvPr id="69" name="Freeform 69"/>
                <p:cNvSpPr/>
                <p:nvPr/>
              </p:nvSpPr>
              <p:spPr>
                <a:xfrm>
                  <a:off x="585788" y="3619500"/>
                  <a:ext cx="85725" cy="21431"/>
                </a:xfrm>
                <a:custGeom>
                  <a:avLst/>
                  <a:gdLst/>
                  <a:ahLst/>
                  <a:cxnLst/>
                  <a:rect l="l" t="t" r="r" b="b"/>
                  <a:pathLst>
                    <a:path w="85725" h="21431">
                      <a:moveTo>
                        <a:pt x="0" y="21431"/>
                      </a:moveTo>
                      <a:lnTo>
                        <a:pt x="0" y="14288"/>
                      </a:lnTo>
                      <a:cubicBezTo>
                        <a:pt x="0" y="6397"/>
                        <a:pt x="6397" y="0"/>
                        <a:pt x="14288" y="0"/>
                      </a:cubicBezTo>
                      <a:lnTo>
                        <a:pt x="71438" y="0"/>
                      </a:lnTo>
                      <a:cubicBezTo>
                        <a:pt x="79328" y="0"/>
                        <a:pt x="85725" y="6397"/>
                        <a:pt x="85725" y="14288"/>
                      </a:cubicBezTo>
                      <a:lnTo>
                        <a:pt x="85725" y="21431"/>
                      </a:lnTo>
                    </a:path>
                  </a:pathLst>
                </a:custGeom>
                <a:noFill/>
                <a:ln w="14288">
                  <a:solidFill>
                    <a:srgbClr val="FFFFFF"/>
                  </a:solidFill>
                </a:ln>
              </p:spPr>
            </p:sp>
            <p:sp>
              <p:nvSpPr>
                <p:cNvPr id="70" name="Freeform 70"/>
                <p:cNvSpPr/>
                <p:nvPr/>
              </p:nvSpPr>
              <p:spPr>
                <a:xfrm>
                  <a:off x="628650" y="3598069"/>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72" name="TextBox 72"/>
              <p:cNvSpPr txBox="1"/>
              <p:nvPr/>
            </p:nvSpPr>
            <p:spPr>
              <a:xfrm>
                <a:off x="411188" y="38583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流程断层</a:t>
                </a:r>
              </a:p>
            </p:txBody>
          </p:sp>
          <p:sp>
            <p:nvSpPr>
              <p:cNvPr id="73" name="TextBox 73"/>
              <p:cNvSpPr txBox="1"/>
              <p:nvPr/>
            </p:nvSpPr>
            <p:spPr>
              <a:xfrm>
                <a:off x="1119188" y="34704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流程与工具割裂</a:t>
                </a:r>
              </a:p>
            </p:txBody>
          </p:sp>
          <p:sp>
            <p:nvSpPr>
              <p:cNvPr id="74" name="TextBox 74"/>
              <p:cNvSpPr txBox="1"/>
              <p:nvPr/>
            </p:nvSpPr>
            <p:spPr>
              <a:xfrm>
                <a:off x="1119188" y="3622834"/>
                <a:ext cx="543433"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手工流转多</a:t>
                </a:r>
              </a:p>
            </p:txBody>
          </p:sp>
          <p:sp>
            <p:nvSpPr>
              <p:cNvPr id="75" name="TextBox 75"/>
              <p:cNvSpPr txBox="1"/>
              <p:nvPr/>
            </p:nvSpPr>
            <p:spPr>
              <a:xfrm>
                <a:off x="1119188" y="37752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跨系统协同难</a:t>
                </a:r>
              </a:p>
            </p:txBody>
          </p:sp>
          <p:sp>
            <p:nvSpPr>
              <p:cNvPr id="76" name="TextBox 76"/>
              <p:cNvSpPr txBox="1"/>
              <p:nvPr/>
            </p:nvSpPr>
            <p:spPr>
              <a:xfrm>
                <a:off x="2262188" y="34704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流程未标准化</a:t>
                </a:r>
              </a:p>
            </p:txBody>
          </p:sp>
          <p:sp>
            <p:nvSpPr>
              <p:cNvPr id="77" name="TextBox 77"/>
              <p:cNvSpPr txBox="1"/>
              <p:nvPr/>
            </p:nvSpPr>
            <p:spPr>
              <a:xfrm>
                <a:off x="2262188" y="36228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系统集成度低</a:t>
                </a:r>
              </a:p>
            </p:txBody>
          </p:sp>
          <p:sp>
            <p:nvSpPr>
              <p:cNvPr id="78" name="TextBox 78"/>
              <p:cNvSpPr txBox="1"/>
              <p:nvPr/>
            </p:nvSpPr>
            <p:spPr>
              <a:xfrm>
                <a:off x="2262188" y="37752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节点责任不清晰</a:t>
                </a:r>
              </a:p>
            </p:txBody>
          </p:sp>
          <p:sp>
            <p:nvSpPr>
              <p:cNvPr id="79" name="TextBox 79"/>
              <p:cNvSpPr txBox="1"/>
              <p:nvPr/>
            </p:nvSpPr>
            <p:spPr>
              <a:xfrm>
                <a:off x="3195638" y="34704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周期长、成本高</a:t>
                </a:r>
              </a:p>
            </p:txBody>
          </p:sp>
          <p:sp>
            <p:nvSpPr>
              <p:cNvPr id="80" name="TextBox 80"/>
              <p:cNvSpPr txBox="1"/>
              <p:nvPr/>
            </p:nvSpPr>
            <p:spPr>
              <a:xfrm>
                <a:off x="3195638" y="3622834"/>
                <a:ext cx="543433"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执行偏差大</a:t>
                </a:r>
              </a:p>
            </p:txBody>
          </p:sp>
          <p:sp>
            <p:nvSpPr>
              <p:cNvPr id="81" name="TextBox 81"/>
              <p:cNvSpPr txBox="1"/>
              <p:nvPr/>
            </p:nvSpPr>
            <p:spPr>
              <a:xfrm>
                <a:off x="3195638" y="37752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客户体验受影响</a:t>
                </a:r>
              </a:p>
            </p:txBody>
          </p:sp>
        </p:grpSp>
        <p:grpSp>
          <p:nvGrpSpPr>
            <p:cNvPr id="102" name="gap-row-operations"/>
            <p:cNvGrpSpPr/>
            <p:nvPr/>
          </p:nvGrpSpPr>
          <p:grpSpPr>
            <a:xfrm>
              <a:off x="266700" y="4076700"/>
              <a:ext cx="3848100" cy="628650"/>
              <a:chOff x="266700" y="4076700"/>
              <a:chExt cx="3848100" cy="628650"/>
            </a:xfrm>
          </p:grpSpPr>
          <p:sp>
            <p:nvSpPr>
              <p:cNvPr id="83" name="Rectangle 83"/>
              <p:cNvSpPr/>
              <p:nvPr/>
            </p:nvSpPr>
            <p:spPr>
              <a:xfrm>
                <a:off x="266700" y="4076700"/>
                <a:ext cx="3848100" cy="628650"/>
              </a:xfrm>
              <a:prstGeom prst="roundRect">
                <a:avLst>
                  <a:gd name="adj" fmla="val 9091"/>
                </a:avLst>
              </a:prstGeom>
              <a:solidFill>
                <a:srgbClr val="F4F8EC"/>
              </a:solidFill>
              <a:ln>
                <a:noFill/>
              </a:ln>
            </p:spPr>
          </p:sp>
          <p:sp>
            <p:nvSpPr>
              <p:cNvPr id="84" name="Ellipse 84"/>
              <p:cNvSpPr/>
              <p:nvPr/>
            </p:nvSpPr>
            <p:spPr>
              <a:xfrm>
                <a:off x="476250" y="4152900"/>
                <a:ext cx="304800" cy="304800"/>
              </a:xfrm>
              <a:prstGeom prst="ellipse">
                <a:avLst/>
              </a:prstGeom>
              <a:solidFill>
                <a:srgbClr val="BE776A"/>
              </a:solidFill>
              <a:ln>
                <a:noFill/>
              </a:ln>
            </p:spPr>
          </p:sp>
          <p:grpSp>
            <p:nvGrpSpPr>
              <p:cNvPr id="91" name="Group 91"/>
              <p:cNvGrpSpPr/>
              <p:nvPr/>
            </p:nvGrpSpPr>
            <p:grpSpPr>
              <a:xfrm>
                <a:off x="564356" y="4241006"/>
                <a:ext cx="128588" cy="128587"/>
                <a:chOff x="564356" y="4241006"/>
                <a:chExt cx="128588" cy="128587"/>
              </a:xfrm>
            </p:grpSpPr>
            <p:sp>
              <p:nvSpPr>
                <p:cNvPr id="85" name="Freeform 85"/>
                <p:cNvSpPr/>
                <p:nvPr/>
              </p:nvSpPr>
              <p:spPr>
                <a:xfrm>
                  <a:off x="614362" y="42981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86" name="Freeform 86"/>
                <p:cNvSpPr/>
                <p:nvPr/>
              </p:nvSpPr>
              <p:spPr>
                <a:xfrm>
                  <a:off x="600075" y="434816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FFFFFF"/>
                  </a:solidFill>
                </a:ln>
              </p:spPr>
            </p:sp>
            <p:sp>
              <p:nvSpPr>
                <p:cNvPr id="87" name="Freeform 87"/>
                <p:cNvSpPr/>
                <p:nvPr/>
              </p:nvSpPr>
              <p:spPr>
                <a:xfrm>
                  <a:off x="650081" y="42410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88" name="Freeform 88"/>
                <p:cNvSpPr/>
                <p:nvPr/>
              </p:nvSpPr>
              <p:spPr>
                <a:xfrm>
                  <a:off x="664369" y="429101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FFFFFF"/>
                  </a:solidFill>
                </a:ln>
              </p:spPr>
            </p:sp>
            <p:sp>
              <p:nvSpPr>
                <p:cNvPr id="89" name="Freeform 89"/>
                <p:cNvSpPr/>
                <p:nvPr/>
              </p:nvSpPr>
              <p:spPr>
                <a:xfrm>
                  <a:off x="578644" y="42410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90" name="Freeform 90"/>
                <p:cNvSpPr/>
                <p:nvPr/>
              </p:nvSpPr>
              <p:spPr>
                <a:xfrm>
                  <a:off x="564356" y="429101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FFFFFF"/>
                  </a:solidFill>
                </a:ln>
              </p:spPr>
            </p:sp>
          </p:grpSp>
          <p:sp>
            <p:nvSpPr>
              <p:cNvPr id="92" name="TextBox 92"/>
              <p:cNvSpPr txBox="1"/>
              <p:nvPr/>
            </p:nvSpPr>
            <p:spPr>
              <a:xfrm>
                <a:off x="411188" y="45441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运营断层</a:t>
                </a:r>
              </a:p>
            </p:txBody>
          </p:sp>
          <p:sp>
            <p:nvSpPr>
              <p:cNvPr id="93" name="TextBox 93"/>
              <p:cNvSpPr txBox="1"/>
              <p:nvPr/>
            </p:nvSpPr>
            <p:spPr>
              <a:xfrm>
                <a:off x="1119188" y="41943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缺乏持续运营</a:t>
                </a:r>
              </a:p>
            </p:txBody>
          </p:sp>
          <p:sp>
            <p:nvSpPr>
              <p:cNvPr id="94" name="TextBox 94"/>
              <p:cNvSpPr txBox="1"/>
              <p:nvPr/>
            </p:nvSpPr>
            <p:spPr>
              <a:xfrm>
                <a:off x="1119188" y="4346734"/>
                <a:ext cx="451891"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使用率低</a:t>
                </a:r>
              </a:p>
            </p:txBody>
          </p:sp>
          <p:sp>
            <p:nvSpPr>
              <p:cNvPr id="95" name="TextBox 95"/>
              <p:cNvSpPr txBox="1"/>
              <p:nvPr/>
            </p:nvSpPr>
            <p:spPr>
              <a:xfrm>
                <a:off x="1119188" y="44991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无人负责与改进</a:t>
                </a:r>
              </a:p>
            </p:txBody>
          </p:sp>
          <p:sp>
            <p:nvSpPr>
              <p:cNvPr id="96" name="TextBox 96"/>
              <p:cNvSpPr txBox="1"/>
              <p:nvPr/>
            </p:nvSpPr>
            <p:spPr>
              <a:xfrm>
                <a:off x="2262188" y="41943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激励与考核缺失</a:t>
                </a:r>
              </a:p>
            </p:txBody>
          </p:sp>
          <p:sp>
            <p:nvSpPr>
              <p:cNvPr id="97" name="TextBox 97"/>
              <p:cNvSpPr txBox="1"/>
              <p:nvPr/>
            </p:nvSpPr>
            <p:spPr>
              <a:xfrm>
                <a:off x="2262188" y="43467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数据驱动不足</a:t>
                </a:r>
              </a:p>
            </p:txBody>
          </p:sp>
          <p:sp>
            <p:nvSpPr>
              <p:cNvPr id="98" name="TextBox 98"/>
              <p:cNvSpPr txBox="1"/>
              <p:nvPr/>
            </p:nvSpPr>
            <p:spPr>
              <a:xfrm>
                <a:off x="2262188" y="4499134"/>
                <a:ext cx="726516"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运营角色不清晰</a:t>
                </a:r>
              </a:p>
            </p:txBody>
          </p:sp>
          <p:sp>
            <p:nvSpPr>
              <p:cNvPr id="99" name="TextBox 99"/>
              <p:cNvSpPr txBox="1"/>
              <p:nvPr/>
            </p:nvSpPr>
            <p:spPr>
              <a:xfrm>
                <a:off x="3195638" y="4194334"/>
                <a:ext cx="818058"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平台价值难以释放</a:t>
                </a:r>
              </a:p>
            </p:txBody>
          </p:sp>
          <p:sp>
            <p:nvSpPr>
              <p:cNvPr id="100" name="TextBox 100"/>
              <p:cNvSpPr txBox="1"/>
              <p:nvPr/>
            </p:nvSpPr>
            <p:spPr>
              <a:xfrm>
                <a:off x="3195638" y="4346734"/>
                <a:ext cx="634975"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投入产出比低</a:t>
                </a:r>
              </a:p>
            </p:txBody>
          </p:sp>
          <p:sp>
            <p:nvSpPr>
              <p:cNvPr id="101" name="TextBox 101"/>
              <p:cNvSpPr txBox="1"/>
              <p:nvPr/>
            </p:nvSpPr>
            <p:spPr>
              <a:xfrm>
                <a:off x="3195638" y="4499134"/>
                <a:ext cx="818058" cy="133350"/>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80" dirty="0">
                    <a:solidFill>
                      <a:srgbClr val="3A4238"/>
                    </a:solidFill>
                    <a:latin typeface="+mn-lt"/>
                    <a:ea typeface="+mn-ea"/>
                    <a:cs typeface="+mn-cs"/>
                  </a:rPr>
                  <a:t>文化与习惯难改变</a:t>
                </a:r>
              </a:p>
            </p:txBody>
          </p:sp>
        </p:grpSp>
      </p:grpSp>
      <p:grpSp>
        <p:nvGrpSpPr>
          <p:cNvPr id="229" name="knowledge-flow"/>
          <p:cNvGrpSpPr/>
          <p:nvPr/>
        </p:nvGrpSpPr>
        <p:grpSpPr>
          <a:xfrm>
            <a:off x="4267200" y="609600"/>
            <a:ext cx="3755708" cy="4095988"/>
            <a:chOff x="4267200" y="609600"/>
            <a:chExt cx="3755708" cy="4095988"/>
          </a:xfrm>
        </p:grpSpPr>
        <p:sp>
          <p:nvSpPr>
            <p:cNvPr id="104" name="Rectangle 104"/>
            <p:cNvSpPr/>
            <p:nvPr/>
          </p:nvSpPr>
          <p:spPr>
            <a:xfrm>
              <a:off x="4267200" y="609600"/>
              <a:ext cx="3714750" cy="247650"/>
            </a:xfrm>
            <a:prstGeom prst="roundRect">
              <a:avLst>
                <a:gd name="adj" fmla="val 30769"/>
              </a:avLst>
            </a:prstGeom>
            <a:solidFill>
              <a:srgbClr val="42140B"/>
            </a:solidFill>
            <a:ln>
              <a:noFill/>
            </a:ln>
          </p:spPr>
        </p:sp>
        <p:sp>
          <p:nvSpPr>
            <p:cNvPr id="105" name="TextBox 105"/>
            <p:cNvSpPr txBox="1"/>
            <p:nvPr/>
          </p:nvSpPr>
          <p:spPr>
            <a:xfrm>
              <a:off x="5262093" y="675799"/>
              <a:ext cx="172496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企业知识流在五大断层处断裂</a:t>
              </a:r>
            </a:p>
          </p:txBody>
        </p:sp>
        <p:sp>
          <p:nvSpPr>
            <p:cNvPr id="106" name="TextBox 106"/>
            <p:cNvSpPr txBox="1"/>
            <p:nvPr/>
          </p:nvSpPr>
          <p:spPr>
            <a:xfrm>
              <a:off x="4610672" y="950595"/>
              <a:ext cx="494157" cy="176212"/>
            </a:xfrm>
            <a:prstGeom prst="rect">
              <a:avLst/>
            </a:prstGeom>
            <a:noFill/>
            <a:ln>
              <a:noFill/>
            </a:ln>
          </p:spPr>
          <p:txBody>
            <a:bodyPr wrap="none" lIns="0" tIns="0" rIns="0" bIns="0" anchor="t" anchorCtr="0">
              <a:spAutoFit/>
            </a:bodyPr>
            <a:lstStyle/>
            <a:p>
              <a:pPr algn="ctr"/>
              <a:r>
                <a:rPr lang="zh-CN" sz="900" b="1" dirty="0">
                  <a:solidFill>
                    <a:srgbClr val="42140B"/>
                  </a:solidFill>
                  <a:latin typeface="+mn-lt"/>
                  <a:ea typeface="+mn-ea"/>
                  <a:cs typeface="+mn-cs"/>
                </a:rPr>
                <a:t>业务部门</a:t>
              </a:r>
            </a:p>
          </p:txBody>
        </p:sp>
        <p:sp>
          <p:nvSpPr>
            <p:cNvPr id="107" name="TextBox 107"/>
            <p:cNvSpPr txBox="1"/>
            <p:nvPr/>
          </p:nvSpPr>
          <p:spPr>
            <a:xfrm>
              <a:off x="5877496" y="950595"/>
              <a:ext cx="494157" cy="176212"/>
            </a:xfrm>
            <a:prstGeom prst="rect">
              <a:avLst/>
            </a:prstGeom>
            <a:noFill/>
            <a:ln>
              <a:noFill/>
            </a:ln>
          </p:spPr>
          <p:txBody>
            <a:bodyPr wrap="none" lIns="0" tIns="0" rIns="0" bIns="0" anchor="t" anchorCtr="0">
              <a:spAutoFit/>
            </a:bodyPr>
            <a:lstStyle/>
            <a:p>
              <a:pPr algn="ctr"/>
              <a:r>
                <a:rPr lang="zh-CN" sz="900" b="1" dirty="0">
                  <a:solidFill>
                    <a:srgbClr val="42140B"/>
                  </a:solidFill>
                  <a:latin typeface="+mn-lt"/>
                  <a:ea typeface="+mn-ea"/>
                  <a:cs typeface="+mn-cs"/>
                </a:rPr>
                <a:t>知识平台</a:t>
              </a:r>
            </a:p>
          </p:txBody>
        </p:sp>
        <p:sp>
          <p:nvSpPr>
            <p:cNvPr id="108" name="TextBox 108"/>
            <p:cNvSpPr txBox="1"/>
            <p:nvPr/>
          </p:nvSpPr>
          <p:spPr>
            <a:xfrm>
              <a:off x="7239571" y="950595"/>
              <a:ext cx="494157" cy="176212"/>
            </a:xfrm>
            <a:prstGeom prst="rect">
              <a:avLst/>
            </a:prstGeom>
            <a:noFill/>
            <a:ln>
              <a:noFill/>
            </a:ln>
          </p:spPr>
          <p:txBody>
            <a:bodyPr wrap="none" lIns="0" tIns="0" rIns="0" bIns="0" anchor="t" anchorCtr="0">
              <a:spAutoFit/>
            </a:bodyPr>
            <a:lstStyle/>
            <a:p>
              <a:pPr algn="ctr"/>
              <a:r>
                <a:rPr lang="zh-CN" sz="900" b="1" dirty="0">
                  <a:solidFill>
                    <a:srgbClr val="42140B"/>
                  </a:solidFill>
                  <a:latin typeface="+mn-lt"/>
                  <a:ea typeface="+mn-ea"/>
                  <a:cs typeface="+mn-cs"/>
                </a:rPr>
                <a:t>员工场景</a:t>
              </a:r>
            </a:p>
          </p:txBody>
        </p:sp>
        <p:grpSp>
          <p:nvGrpSpPr>
            <p:cNvPr id="139" name="flow-departments"/>
            <p:cNvGrpSpPr/>
            <p:nvPr/>
          </p:nvGrpSpPr>
          <p:grpSpPr>
            <a:xfrm>
              <a:off x="4305300" y="1143000"/>
              <a:ext cx="1104900" cy="2362200"/>
              <a:chOff x="4305300" y="1143000"/>
              <a:chExt cx="1104900" cy="2362200"/>
            </a:xfrm>
          </p:grpSpPr>
          <p:sp>
            <p:nvSpPr>
              <p:cNvPr id="109" name="Rectangle 109"/>
              <p:cNvSpPr/>
              <p:nvPr/>
            </p:nvSpPr>
            <p:spPr>
              <a:xfrm>
                <a:off x="4305300" y="1143000"/>
                <a:ext cx="1104900" cy="2362200"/>
              </a:xfrm>
              <a:prstGeom prst="roundRect">
                <a:avLst>
                  <a:gd name="adj" fmla="val 6897"/>
                </a:avLst>
              </a:prstGeom>
              <a:solidFill>
                <a:srgbClr val="F4F8EC"/>
              </a:solidFill>
              <a:ln w="9525">
                <a:solidFill>
                  <a:srgbClr val="D9E8C6"/>
                </a:solidFill>
              </a:ln>
            </p:spPr>
          </p:sp>
          <p:grpSp>
            <p:nvGrpSpPr>
              <p:cNvPr id="113" name="Group 113"/>
              <p:cNvGrpSpPr/>
              <p:nvPr/>
            </p:nvGrpSpPr>
            <p:grpSpPr>
              <a:xfrm>
                <a:off x="4419600" y="1276350"/>
                <a:ext cx="114300" cy="114300"/>
                <a:chOff x="4419600" y="1276350"/>
                <a:chExt cx="114300" cy="114300"/>
              </a:xfrm>
            </p:grpSpPr>
            <p:sp>
              <p:nvSpPr>
                <p:cNvPr id="110" name="Freeform 110"/>
                <p:cNvSpPr/>
                <p:nvPr/>
              </p:nvSpPr>
              <p:spPr>
                <a:xfrm>
                  <a:off x="4470400" y="13271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7C3B2F"/>
                  </a:solidFill>
                </a:ln>
              </p:spPr>
            </p:sp>
            <p:sp>
              <p:nvSpPr>
                <p:cNvPr id="111" name="Freeform 111"/>
                <p:cNvSpPr/>
                <p:nvPr/>
              </p:nvSpPr>
              <p:spPr>
                <a:xfrm>
                  <a:off x="4445000" y="13017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7C3B2F"/>
                  </a:solidFill>
                </a:ln>
              </p:spPr>
            </p:sp>
            <p:sp>
              <p:nvSpPr>
                <p:cNvPr id="112" name="Freeform 112"/>
                <p:cNvSpPr/>
                <p:nvPr/>
              </p:nvSpPr>
              <p:spPr>
                <a:xfrm>
                  <a:off x="4419600" y="12763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C3B2F"/>
                  </a:solidFill>
                </a:ln>
              </p:spPr>
            </p:sp>
          </p:grpSp>
          <p:sp>
            <p:nvSpPr>
              <p:cNvPr id="114" name="TextBox 114"/>
              <p:cNvSpPr txBox="1"/>
              <p:nvPr/>
            </p:nvSpPr>
            <p:spPr>
              <a:xfrm>
                <a:off x="4624388" y="1300162"/>
                <a:ext cx="514350"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战略与规划</a:t>
                </a:r>
              </a:p>
            </p:txBody>
          </p:sp>
          <p:sp>
            <p:nvSpPr>
              <p:cNvPr id="115" name="Freeform 115"/>
              <p:cNvSpPr/>
              <p:nvPr/>
            </p:nvSpPr>
            <p:spPr>
              <a:xfrm>
                <a:off x="4419600" y="163830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7C3B2F"/>
                </a:solidFill>
              </a:ln>
            </p:spPr>
          </p:sp>
          <p:sp>
            <p:nvSpPr>
              <p:cNvPr id="116" name="TextBox 116"/>
              <p:cNvSpPr txBox="1"/>
              <p:nvPr/>
            </p:nvSpPr>
            <p:spPr>
              <a:xfrm>
                <a:off x="4624388" y="1662112"/>
                <a:ext cx="514350"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研发与产品</a:t>
                </a:r>
              </a:p>
            </p:txBody>
          </p:sp>
          <p:grpSp>
            <p:nvGrpSpPr>
              <p:cNvPr id="119" name="Group 119"/>
              <p:cNvGrpSpPr/>
              <p:nvPr/>
            </p:nvGrpSpPr>
            <p:grpSpPr>
              <a:xfrm>
                <a:off x="4419600" y="2025650"/>
                <a:ext cx="114300" cy="63500"/>
                <a:chOff x="4419600" y="2025650"/>
                <a:chExt cx="114300" cy="63500"/>
              </a:xfrm>
            </p:grpSpPr>
            <p:sp>
              <p:nvSpPr>
                <p:cNvPr id="117" name="Freeform 117"/>
                <p:cNvSpPr/>
                <p:nvPr/>
              </p:nvSpPr>
              <p:spPr>
                <a:xfrm>
                  <a:off x="4419600" y="20256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7C3B2F"/>
                  </a:solidFill>
                </a:ln>
              </p:spPr>
            </p:sp>
            <p:sp>
              <p:nvSpPr>
                <p:cNvPr id="118" name="Freeform 118"/>
                <p:cNvSpPr/>
                <p:nvPr/>
              </p:nvSpPr>
              <p:spPr>
                <a:xfrm>
                  <a:off x="4489450" y="2025650"/>
                  <a:ext cx="44450" cy="44450"/>
                </a:xfrm>
                <a:custGeom>
                  <a:avLst/>
                  <a:gdLst/>
                  <a:ahLst/>
                  <a:cxnLst/>
                  <a:rect l="l" t="t" r="r" b="b"/>
                  <a:pathLst>
                    <a:path w="44450" h="44450">
                      <a:moveTo>
                        <a:pt x="0" y="0"/>
                      </a:moveTo>
                      <a:lnTo>
                        <a:pt x="44450" y="0"/>
                      </a:lnTo>
                      <a:lnTo>
                        <a:pt x="44450" y="44450"/>
                      </a:lnTo>
                    </a:path>
                  </a:pathLst>
                </a:custGeom>
                <a:noFill/>
                <a:ln w="12700">
                  <a:solidFill>
                    <a:srgbClr val="7C3B2F"/>
                  </a:solidFill>
                </a:ln>
              </p:spPr>
            </p:sp>
          </p:grpSp>
          <p:sp>
            <p:nvSpPr>
              <p:cNvPr id="120" name="TextBox 120"/>
              <p:cNvSpPr txBox="1"/>
              <p:nvPr/>
            </p:nvSpPr>
            <p:spPr>
              <a:xfrm>
                <a:off x="4624388" y="2024062"/>
                <a:ext cx="514350"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市场与销售</a:t>
                </a:r>
              </a:p>
            </p:txBody>
          </p:sp>
          <p:grpSp>
            <p:nvGrpSpPr>
              <p:cNvPr id="125" name="Group 125"/>
              <p:cNvGrpSpPr/>
              <p:nvPr/>
            </p:nvGrpSpPr>
            <p:grpSpPr>
              <a:xfrm>
                <a:off x="4425950" y="2362200"/>
                <a:ext cx="101600" cy="114300"/>
                <a:chOff x="4425950" y="2362200"/>
                <a:chExt cx="101600" cy="114300"/>
              </a:xfrm>
            </p:grpSpPr>
            <p:sp>
              <p:nvSpPr>
                <p:cNvPr id="121" name="Freeform 121"/>
                <p:cNvSpPr/>
                <p:nvPr/>
              </p:nvSpPr>
              <p:spPr>
                <a:xfrm>
                  <a:off x="4425950" y="2451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sp>
              <p:nvSpPr>
                <p:cNvPr id="122" name="Freeform 122"/>
                <p:cNvSpPr/>
                <p:nvPr/>
              </p:nvSpPr>
              <p:spPr>
                <a:xfrm>
                  <a:off x="4495800" y="2451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sp>
              <p:nvSpPr>
                <p:cNvPr id="123" name="Freeform 123"/>
                <p:cNvSpPr/>
                <p:nvPr/>
              </p:nvSpPr>
              <p:spPr>
                <a:xfrm>
                  <a:off x="4425950" y="2362200"/>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7C3B2F"/>
                  </a:solidFill>
                </a:ln>
              </p:spPr>
            </p:sp>
            <p:sp>
              <p:nvSpPr>
                <p:cNvPr id="124" name="Freeform 124"/>
                <p:cNvSpPr/>
                <p:nvPr/>
              </p:nvSpPr>
              <p:spPr>
                <a:xfrm>
                  <a:off x="4438650" y="2374900"/>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7C3B2F"/>
                  </a:solidFill>
                </a:ln>
              </p:spPr>
            </p:sp>
          </p:grpSp>
          <p:sp>
            <p:nvSpPr>
              <p:cNvPr id="126" name="TextBox 126"/>
              <p:cNvSpPr txBox="1"/>
              <p:nvPr/>
            </p:nvSpPr>
            <p:spPr>
              <a:xfrm>
                <a:off x="4624388" y="2386012"/>
                <a:ext cx="615315"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供应链与采购</a:t>
                </a:r>
              </a:p>
            </p:txBody>
          </p:sp>
          <p:grpSp>
            <p:nvGrpSpPr>
              <p:cNvPr id="130" name="Group 130"/>
              <p:cNvGrpSpPr/>
              <p:nvPr/>
            </p:nvGrpSpPr>
            <p:grpSpPr>
              <a:xfrm>
                <a:off x="4432300" y="2730500"/>
                <a:ext cx="88900" cy="101600"/>
                <a:chOff x="4432300" y="2730500"/>
                <a:chExt cx="88900" cy="101600"/>
              </a:xfrm>
            </p:grpSpPr>
            <p:sp>
              <p:nvSpPr>
                <p:cNvPr id="127" name="Freeform 127"/>
                <p:cNvSpPr/>
                <p:nvPr/>
              </p:nvSpPr>
              <p:spPr>
                <a:xfrm>
                  <a:off x="4432300" y="2730500"/>
                  <a:ext cx="88900" cy="101600"/>
                </a:xfrm>
                <a:custGeom>
                  <a:avLst/>
                  <a:gdLst/>
                  <a:ahLst/>
                  <a:cxnLst/>
                  <a:rect l="l" t="t" r="r" b="b"/>
                  <a:pathLst>
                    <a:path w="88900" h="101600">
                      <a:moveTo>
                        <a:pt x="88900" y="0"/>
                      </a:moveTo>
                      <a:lnTo>
                        <a:pt x="88900" y="101600"/>
                      </a:lnTo>
                      <a:lnTo>
                        <a:pt x="12700" y="101600"/>
                      </a:lnTo>
                      <a:cubicBezTo>
                        <a:pt x="5686" y="101600"/>
                        <a:pt x="0" y="95914"/>
                        <a:pt x="0" y="88900"/>
                      </a:cubicBezTo>
                      <a:lnTo>
                        <a:pt x="0" y="12700"/>
                      </a:lnTo>
                      <a:cubicBezTo>
                        <a:pt x="0" y="5686"/>
                        <a:pt x="5686" y="0"/>
                        <a:pt x="12700" y="0"/>
                      </a:cubicBezTo>
                      <a:lnTo>
                        <a:pt x="88900" y="0"/>
                      </a:lnTo>
                    </a:path>
                  </a:pathLst>
                </a:custGeom>
                <a:noFill/>
                <a:ln w="12700">
                  <a:solidFill>
                    <a:srgbClr val="7C3B2F"/>
                  </a:solidFill>
                </a:ln>
              </p:spPr>
            </p:sp>
            <p:sp>
              <p:nvSpPr>
                <p:cNvPr id="128" name="Freeform 128"/>
                <p:cNvSpPr/>
                <p:nvPr/>
              </p:nvSpPr>
              <p:spPr>
                <a:xfrm>
                  <a:off x="4432300" y="2806700"/>
                  <a:ext cx="88900" cy="12700"/>
                </a:xfrm>
                <a:custGeom>
                  <a:avLst/>
                  <a:gdLst/>
                  <a:ahLst/>
                  <a:cxnLst/>
                  <a:rect l="l" t="t" r="r" b="b"/>
                  <a:pathLst>
                    <a:path w="88900" h="12700">
                      <a:moveTo>
                        <a:pt x="88900" y="0"/>
                      </a:moveTo>
                      <a:lnTo>
                        <a:pt x="12700" y="0"/>
                      </a:lnTo>
                      <a:cubicBezTo>
                        <a:pt x="5686" y="0"/>
                        <a:pt x="0" y="5686"/>
                        <a:pt x="0" y="12700"/>
                      </a:cubicBezTo>
                    </a:path>
                  </a:pathLst>
                </a:custGeom>
                <a:noFill/>
                <a:ln w="12700">
                  <a:solidFill>
                    <a:srgbClr val="7C3B2F"/>
                  </a:solidFill>
                </a:ln>
              </p:spPr>
            </p:sp>
            <p:sp>
              <p:nvSpPr>
                <p:cNvPr id="129" name="Freeform 129"/>
                <p:cNvSpPr/>
                <p:nvPr/>
              </p:nvSpPr>
              <p:spPr>
                <a:xfrm>
                  <a:off x="4457700" y="2755900"/>
                  <a:ext cx="38100" cy="9525"/>
                </a:xfrm>
                <a:custGeom>
                  <a:avLst/>
                  <a:gdLst/>
                  <a:ahLst/>
                  <a:cxnLst/>
                  <a:rect l="l" t="t" r="r" b="b"/>
                  <a:pathLst>
                    <a:path w="38100" h="9525">
                      <a:moveTo>
                        <a:pt x="0" y="0"/>
                      </a:moveTo>
                      <a:lnTo>
                        <a:pt x="38100" y="0"/>
                      </a:lnTo>
                    </a:path>
                  </a:pathLst>
                </a:custGeom>
                <a:noFill/>
                <a:ln w="12700">
                  <a:solidFill>
                    <a:srgbClr val="7C3B2F"/>
                  </a:solidFill>
                </a:ln>
              </p:spPr>
            </p:sp>
          </p:grpSp>
          <p:sp>
            <p:nvSpPr>
              <p:cNvPr id="131" name="TextBox 131"/>
              <p:cNvSpPr txBox="1"/>
              <p:nvPr/>
            </p:nvSpPr>
            <p:spPr>
              <a:xfrm>
                <a:off x="4624388" y="2747962"/>
                <a:ext cx="514350"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财务与法务</a:t>
                </a:r>
              </a:p>
            </p:txBody>
          </p:sp>
          <p:grpSp>
            <p:nvGrpSpPr>
              <p:cNvPr id="136" name="Group 136"/>
              <p:cNvGrpSpPr/>
              <p:nvPr/>
            </p:nvGrpSpPr>
            <p:grpSpPr>
              <a:xfrm>
                <a:off x="4419600" y="3086100"/>
                <a:ext cx="114300" cy="114301"/>
                <a:chOff x="4419600" y="3086100"/>
                <a:chExt cx="114300" cy="114301"/>
              </a:xfrm>
            </p:grpSpPr>
            <p:sp>
              <p:nvSpPr>
                <p:cNvPr id="132" name="Freeform 132"/>
                <p:cNvSpPr/>
                <p:nvPr/>
              </p:nvSpPr>
              <p:spPr>
                <a:xfrm>
                  <a:off x="4432300" y="30861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C3B2F"/>
                  </a:solidFill>
                </a:ln>
              </p:spPr>
            </p:sp>
            <p:sp>
              <p:nvSpPr>
                <p:cNvPr id="133" name="Freeform 133"/>
                <p:cNvSpPr/>
                <p:nvPr/>
              </p:nvSpPr>
              <p:spPr>
                <a:xfrm>
                  <a:off x="4419600" y="31623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7C3B2F"/>
                  </a:solidFill>
                </a:ln>
              </p:spPr>
            </p:sp>
            <p:sp>
              <p:nvSpPr>
                <p:cNvPr id="134" name="Freeform 134"/>
                <p:cNvSpPr/>
                <p:nvPr/>
              </p:nvSpPr>
              <p:spPr>
                <a:xfrm>
                  <a:off x="4502150" y="30869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7C3B2F"/>
                  </a:solidFill>
                </a:ln>
              </p:spPr>
            </p:sp>
            <p:sp>
              <p:nvSpPr>
                <p:cNvPr id="135" name="Freeform 135"/>
                <p:cNvSpPr/>
                <p:nvPr/>
              </p:nvSpPr>
              <p:spPr>
                <a:xfrm>
                  <a:off x="4514850" y="31632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7C3B2F"/>
                  </a:solidFill>
                </a:ln>
              </p:spPr>
            </p:sp>
          </p:grpSp>
          <p:sp>
            <p:nvSpPr>
              <p:cNvPr id="137" name="TextBox 137"/>
              <p:cNvSpPr txBox="1"/>
              <p:nvPr/>
            </p:nvSpPr>
            <p:spPr>
              <a:xfrm>
                <a:off x="4624388" y="3109912"/>
                <a:ext cx="514350"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人力与行政</a:t>
                </a:r>
              </a:p>
            </p:txBody>
          </p:sp>
          <p:sp>
            <p:nvSpPr>
              <p:cNvPr id="138" name="TextBox 138"/>
              <p:cNvSpPr txBox="1"/>
              <p:nvPr/>
            </p:nvSpPr>
            <p:spPr>
              <a:xfrm>
                <a:off x="4802640" y="3337084"/>
                <a:ext cx="110221"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a:t>
                </a:r>
              </a:p>
            </p:txBody>
          </p:sp>
        </p:grpSp>
        <p:grpSp>
          <p:nvGrpSpPr>
            <p:cNvPr id="172" name="flow-scenes"/>
            <p:cNvGrpSpPr/>
            <p:nvPr/>
          </p:nvGrpSpPr>
          <p:grpSpPr>
            <a:xfrm>
              <a:off x="6838950" y="1143000"/>
              <a:ext cx="1104900" cy="2362200"/>
              <a:chOff x="6838950" y="1143000"/>
              <a:chExt cx="1104900" cy="2362200"/>
            </a:xfrm>
          </p:grpSpPr>
          <p:sp>
            <p:nvSpPr>
              <p:cNvPr id="140" name="Rectangle 140"/>
              <p:cNvSpPr/>
              <p:nvPr/>
            </p:nvSpPr>
            <p:spPr>
              <a:xfrm>
                <a:off x="6838950" y="1143000"/>
                <a:ext cx="1104900" cy="2362200"/>
              </a:xfrm>
              <a:prstGeom prst="roundRect">
                <a:avLst>
                  <a:gd name="adj" fmla="val 6897"/>
                </a:avLst>
              </a:prstGeom>
              <a:solidFill>
                <a:srgbClr val="F4F8EC"/>
              </a:solidFill>
              <a:ln w="9525">
                <a:solidFill>
                  <a:srgbClr val="D9E8C6"/>
                </a:solidFill>
              </a:ln>
            </p:spPr>
          </p:sp>
          <p:grpSp>
            <p:nvGrpSpPr>
              <p:cNvPr id="144" name="Group 144"/>
              <p:cNvGrpSpPr/>
              <p:nvPr/>
            </p:nvGrpSpPr>
            <p:grpSpPr>
              <a:xfrm>
                <a:off x="6972300" y="1276350"/>
                <a:ext cx="76200" cy="114300"/>
                <a:chOff x="6972300" y="1276350"/>
                <a:chExt cx="76200" cy="114300"/>
              </a:xfrm>
            </p:grpSpPr>
            <p:sp>
              <p:nvSpPr>
                <p:cNvPr id="141" name="Freeform 141"/>
                <p:cNvSpPr/>
                <p:nvPr/>
              </p:nvSpPr>
              <p:spPr>
                <a:xfrm>
                  <a:off x="6972300" y="127635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7C3B2F"/>
                  </a:solidFill>
                </a:ln>
              </p:spPr>
            </p:sp>
            <p:sp>
              <p:nvSpPr>
                <p:cNvPr id="142" name="Freeform 142"/>
                <p:cNvSpPr/>
                <p:nvPr/>
              </p:nvSpPr>
              <p:spPr>
                <a:xfrm>
                  <a:off x="7004050" y="1282700"/>
                  <a:ext cx="12700" cy="9525"/>
                </a:xfrm>
                <a:custGeom>
                  <a:avLst/>
                  <a:gdLst/>
                  <a:ahLst/>
                  <a:cxnLst/>
                  <a:rect l="l" t="t" r="r" b="b"/>
                  <a:pathLst>
                    <a:path w="12700" h="9525">
                      <a:moveTo>
                        <a:pt x="0" y="0"/>
                      </a:moveTo>
                      <a:lnTo>
                        <a:pt x="12700" y="0"/>
                      </a:lnTo>
                    </a:path>
                  </a:pathLst>
                </a:custGeom>
                <a:noFill/>
                <a:ln w="12700">
                  <a:solidFill>
                    <a:srgbClr val="7C3B2F"/>
                  </a:solidFill>
                </a:ln>
              </p:spPr>
            </p:sp>
            <p:sp>
              <p:nvSpPr>
                <p:cNvPr id="143" name="Freeform 143"/>
                <p:cNvSpPr/>
                <p:nvPr/>
              </p:nvSpPr>
              <p:spPr>
                <a:xfrm>
                  <a:off x="7010400" y="1365250"/>
                  <a:ext cx="9525" cy="9525"/>
                </a:xfrm>
                <a:custGeom>
                  <a:avLst/>
                  <a:gdLst/>
                  <a:ahLst/>
                  <a:cxnLst/>
                  <a:rect l="l" t="t" r="r" b="b"/>
                  <a:pathLst>
                    <a:path w="9525" h="9525">
                      <a:moveTo>
                        <a:pt x="0" y="0"/>
                      </a:moveTo>
                      <a:lnTo>
                        <a:pt x="0" y="64"/>
                      </a:lnTo>
                    </a:path>
                  </a:pathLst>
                </a:custGeom>
                <a:noFill/>
                <a:ln w="12700">
                  <a:solidFill>
                    <a:srgbClr val="7C3B2F"/>
                  </a:solidFill>
                </a:ln>
              </p:spPr>
            </p:sp>
          </p:grpSp>
          <p:sp>
            <p:nvSpPr>
              <p:cNvPr id="145" name="TextBox 145"/>
              <p:cNvSpPr txBox="1"/>
              <p:nvPr/>
            </p:nvSpPr>
            <p:spPr>
              <a:xfrm>
                <a:off x="7158038" y="1300162"/>
                <a:ext cx="413385"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日常办公</a:t>
                </a:r>
              </a:p>
            </p:txBody>
          </p:sp>
          <p:grpSp>
            <p:nvGrpSpPr>
              <p:cNvPr id="148" name="Group 148"/>
              <p:cNvGrpSpPr/>
              <p:nvPr/>
            </p:nvGrpSpPr>
            <p:grpSpPr>
              <a:xfrm>
                <a:off x="6953250" y="1638300"/>
                <a:ext cx="114300" cy="114300"/>
                <a:chOff x="6953250" y="1638300"/>
                <a:chExt cx="114300" cy="114300"/>
              </a:xfrm>
            </p:grpSpPr>
            <p:sp>
              <p:nvSpPr>
                <p:cNvPr id="146" name="Freeform 146"/>
                <p:cNvSpPr/>
                <p:nvPr/>
              </p:nvSpPr>
              <p:spPr>
                <a:xfrm>
                  <a:off x="6953250" y="16383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C3B2F"/>
                  </a:solidFill>
                </a:ln>
              </p:spPr>
            </p:sp>
            <p:sp>
              <p:nvSpPr>
                <p:cNvPr id="147" name="Freeform 147"/>
                <p:cNvSpPr/>
                <p:nvPr/>
              </p:nvSpPr>
              <p:spPr>
                <a:xfrm>
                  <a:off x="6991350" y="168275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149" name="TextBox 149"/>
              <p:cNvSpPr txBox="1"/>
              <p:nvPr/>
            </p:nvSpPr>
            <p:spPr>
              <a:xfrm>
                <a:off x="7158038" y="1662112"/>
                <a:ext cx="413385"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问题解决</a:t>
                </a:r>
              </a:p>
            </p:txBody>
          </p:sp>
          <p:grpSp>
            <p:nvGrpSpPr>
              <p:cNvPr id="155" name="Group 155"/>
              <p:cNvGrpSpPr/>
              <p:nvPr/>
            </p:nvGrpSpPr>
            <p:grpSpPr>
              <a:xfrm>
                <a:off x="6965950" y="2000250"/>
                <a:ext cx="88900" cy="114300"/>
                <a:chOff x="6965950" y="2000250"/>
                <a:chExt cx="88900" cy="114300"/>
              </a:xfrm>
            </p:grpSpPr>
            <p:sp>
              <p:nvSpPr>
                <p:cNvPr id="150" name="Freeform 150"/>
                <p:cNvSpPr/>
                <p:nvPr/>
              </p:nvSpPr>
              <p:spPr>
                <a:xfrm>
                  <a:off x="7023100" y="20002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7C3B2F"/>
                  </a:solidFill>
                </a:ln>
              </p:spPr>
            </p:sp>
            <p:sp>
              <p:nvSpPr>
                <p:cNvPr id="151" name="Freeform 151"/>
                <p:cNvSpPr/>
                <p:nvPr/>
              </p:nvSpPr>
              <p:spPr>
                <a:xfrm>
                  <a:off x="6965950" y="20002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7C3B2F"/>
                  </a:solidFill>
                </a:ln>
              </p:spPr>
            </p:sp>
            <p:sp>
              <p:nvSpPr>
                <p:cNvPr id="152" name="Freeform 152"/>
                <p:cNvSpPr/>
                <p:nvPr/>
              </p:nvSpPr>
              <p:spPr>
                <a:xfrm>
                  <a:off x="6991350" y="2038350"/>
                  <a:ext cx="9525" cy="9525"/>
                </a:xfrm>
                <a:custGeom>
                  <a:avLst/>
                  <a:gdLst/>
                  <a:ahLst/>
                  <a:cxnLst/>
                  <a:rect l="l" t="t" r="r" b="b"/>
                  <a:pathLst>
                    <a:path w="9525" h="9525">
                      <a:moveTo>
                        <a:pt x="0" y="0"/>
                      </a:moveTo>
                      <a:lnTo>
                        <a:pt x="6350" y="0"/>
                      </a:lnTo>
                    </a:path>
                  </a:pathLst>
                </a:custGeom>
                <a:noFill/>
                <a:ln w="12700">
                  <a:solidFill>
                    <a:srgbClr val="7C3B2F"/>
                  </a:solidFill>
                </a:ln>
              </p:spPr>
            </p:sp>
            <p:sp>
              <p:nvSpPr>
                <p:cNvPr id="153" name="Freeform 153"/>
                <p:cNvSpPr/>
                <p:nvPr/>
              </p:nvSpPr>
              <p:spPr>
                <a:xfrm>
                  <a:off x="6991350" y="2063750"/>
                  <a:ext cx="38100" cy="9525"/>
                </a:xfrm>
                <a:custGeom>
                  <a:avLst/>
                  <a:gdLst/>
                  <a:ahLst/>
                  <a:cxnLst/>
                  <a:rect l="l" t="t" r="r" b="b"/>
                  <a:pathLst>
                    <a:path w="38100" h="9525">
                      <a:moveTo>
                        <a:pt x="0" y="0"/>
                      </a:moveTo>
                      <a:lnTo>
                        <a:pt x="38100" y="0"/>
                      </a:lnTo>
                    </a:path>
                  </a:pathLst>
                </a:custGeom>
                <a:noFill/>
                <a:ln w="12700">
                  <a:solidFill>
                    <a:srgbClr val="7C3B2F"/>
                  </a:solidFill>
                </a:ln>
              </p:spPr>
            </p:sp>
            <p:sp>
              <p:nvSpPr>
                <p:cNvPr id="154" name="Freeform 154"/>
                <p:cNvSpPr/>
                <p:nvPr/>
              </p:nvSpPr>
              <p:spPr>
                <a:xfrm>
                  <a:off x="6991350" y="2089150"/>
                  <a:ext cx="38100" cy="9525"/>
                </a:xfrm>
                <a:custGeom>
                  <a:avLst/>
                  <a:gdLst/>
                  <a:ahLst/>
                  <a:cxnLst/>
                  <a:rect l="l" t="t" r="r" b="b"/>
                  <a:pathLst>
                    <a:path w="38100" h="9525">
                      <a:moveTo>
                        <a:pt x="0" y="0"/>
                      </a:moveTo>
                      <a:lnTo>
                        <a:pt x="38100" y="0"/>
                      </a:lnTo>
                    </a:path>
                  </a:pathLst>
                </a:custGeom>
                <a:noFill/>
                <a:ln w="12700">
                  <a:solidFill>
                    <a:srgbClr val="7C3B2F"/>
                  </a:solidFill>
                </a:ln>
              </p:spPr>
            </p:sp>
          </p:grpSp>
          <p:sp>
            <p:nvSpPr>
              <p:cNvPr id="156" name="TextBox 156"/>
              <p:cNvSpPr txBox="1"/>
              <p:nvPr/>
            </p:nvSpPr>
            <p:spPr>
              <a:xfrm>
                <a:off x="7158038" y="2024062"/>
                <a:ext cx="413385"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项目交付</a:t>
                </a:r>
              </a:p>
            </p:txBody>
          </p:sp>
          <p:grpSp>
            <p:nvGrpSpPr>
              <p:cNvPr id="161" name="Group 161"/>
              <p:cNvGrpSpPr/>
              <p:nvPr/>
            </p:nvGrpSpPr>
            <p:grpSpPr>
              <a:xfrm>
                <a:off x="6953250" y="2368550"/>
                <a:ext cx="114300" cy="111125"/>
                <a:chOff x="6953250" y="2368550"/>
                <a:chExt cx="114300" cy="111125"/>
              </a:xfrm>
            </p:grpSpPr>
            <p:sp>
              <p:nvSpPr>
                <p:cNvPr id="157" name="Freeform 157"/>
                <p:cNvSpPr/>
                <p:nvPr/>
              </p:nvSpPr>
              <p:spPr>
                <a:xfrm>
                  <a:off x="6953250" y="24193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7C3B2F"/>
                  </a:solidFill>
                </a:ln>
              </p:spPr>
            </p:sp>
            <p:sp>
              <p:nvSpPr>
                <p:cNvPr id="158" name="Freeform 158"/>
                <p:cNvSpPr/>
                <p:nvPr/>
              </p:nvSpPr>
              <p:spPr>
                <a:xfrm>
                  <a:off x="7029450" y="23939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7C3B2F"/>
                  </a:solidFill>
                </a:ln>
              </p:spPr>
            </p:sp>
            <p:sp>
              <p:nvSpPr>
                <p:cNvPr id="159" name="Freeform 159"/>
                <p:cNvSpPr/>
                <p:nvPr/>
              </p:nvSpPr>
              <p:spPr>
                <a:xfrm>
                  <a:off x="6991350" y="23685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7C3B2F"/>
                  </a:solidFill>
                </a:ln>
              </p:spPr>
            </p:sp>
            <p:sp>
              <p:nvSpPr>
                <p:cNvPr id="160" name="Freeform 160"/>
                <p:cNvSpPr/>
                <p:nvPr/>
              </p:nvSpPr>
              <p:spPr>
                <a:xfrm>
                  <a:off x="6959600" y="2470150"/>
                  <a:ext cx="88900" cy="9525"/>
                </a:xfrm>
                <a:custGeom>
                  <a:avLst/>
                  <a:gdLst/>
                  <a:ahLst/>
                  <a:cxnLst/>
                  <a:rect l="l" t="t" r="r" b="b"/>
                  <a:pathLst>
                    <a:path w="88900" h="9525">
                      <a:moveTo>
                        <a:pt x="0" y="0"/>
                      </a:moveTo>
                      <a:lnTo>
                        <a:pt x="88900" y="0"/>
                      </a:lnTo>
                    </a:path>
                  </a:pathLst>
                </a:custGeom>
                <a:noFill/>
                <a:ln w="12700">
                  <a:solidFill>
                    <a:srgbClr val="7C3B2F"/>
                  </a:solidFill>
                </a:ln>
              </p:spPr>
            </p:sp>
          </p:grpSp>
          <p:sp>
            <p:nvSpPr>
              <p:cNvPr id="162" name="TextBox 162"/>
              <p:cNvSpPr txBox="1"/>
              <p:nvPr/>
            </p:nvSpPr>
            <p:spPr>
              <a:xfrm>
                <a:off x="7158038" y="2386012"/>
                <a:ext cx="413385"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决策支持</a:t>
                </a:r>
              </a:p>
            </p:txBody>
          </p:sp>
          <p:grpSp>
            <p:nvGrpSpPr>
              <p:cNvPr id="165" name="Group 165"/>
              <p:cNvGrpSpPr/>
              <p:nvPr/>
            </p:nvGrpSpPr>
            <p:grpSpPr>
              <a:xfrm>
                <a:off x="6946900" y="2736850"/>
                <a:ext cx="127000" cy="88900"/>
                <a:chOff x="6946900" y="2736850"/>
                <a:chExt cx="127000" cy="88900"/>
              </a:xfrm>
            </p:grpSpPr>
            <p:sp>
              <p:nvSpPr>
                <p:cNvPr id="163" name="Freeform 163"/>
                <p:cNvSpPr/>
                <p:nvPr/>
              </p:nvSpPr>
              <p:spPr>
                <a:xfrm>
                  <a:off x="6946900" y="2736850"/>
                  <a:ext cx="127000" cy="63500"/>
                </a:xfrm>
                <a:custGeom>
                  <a:avLst/>
                  <a:gdLst/>
                  <a:ahLst/>
                  <a:cxnLst/>
                  <a:rect l="l" t="t" r="r" b="b"/>
                  <a:pathLst>
                    <a:path w="127000" h="63500">
                      <a:moveTo>
                        <a:pt x="127000" y="25400"/>
                      </a:moveTo>
                      <a:lnTo>
                        <a:pt x="63500" y="0"/>
                      </a:lnTo>
                      <a:lnTo>
                        <a:pt x="0" y="25400"/>
                      </a:lnTo>
                      <a:lnTo>
                        <a:pt x="63500" y="50800"/>
                      </a:lnTo>
                      <a:lnTo>
                        <a:pt x="127000" y="25400"/>
                      </a:lnTo>
                      <a:lnTo>
                        <a:pt x="127000" y="63500"/>
                      </a:lnTo>
                    </a:path>
                  </a:pathLst>
                </a:custGeom>
                <a:noFill/>
                <a:ln w="12700">
                  <a:solidFill>
                    <a:srgbClr val="7C3B2F"/>
                  </a:solidFill>
                </a:ln>
              </p:spPr>
            </p:sp>
            <p:sp>
              <p:nvSpPr>
                <p:cNvPr id="164" name="Freeform 164"/>
                <p:cNvSpPr/>
                <p:nvPr/>
              </p:nvSpPr>
              <p:spPr>
                <a:xfrm>
                  <a:off x="6972300" y="2772410"/>
                  <a:ext cx="76200" cy="53340"/>
                </a:xfrm>
                <a:custGeom>
                  <a:avLst/>
                  <a:gdLst/>
                  <a:ahLst/>
                  <a:cxnLst/>
                  <a:rect l="l" t="t" r="r" b="b"/>
                  <a:pathLst>
                    <a:path w="76200" h="53340">
                      <a:moveTo>
                        <a:pt x="0" y="0"/>
                      </a:moveTo>
                      <a:lnTo>
                        <a:pt x="0" y="34290"/>
                      </a:lnTo>
                      <a:cubicBezTo>
                        <a:pt x="0" y="44811"/>
                        <a:pt x="17058" y="53340"/>
                        <a:pt x="38100" y="53340"/>
                      </a:cubicBezTo>
                      <a:cubicBezTo>
                        <a:pt x="59142" y="53340"/>
                        <a:pt x="76200" y="44811"/>
                        <a:pt x="76200" y="34290"/>
                      </a:cubicBezTo>
                      <a:lnTo>
                        <a:pt x="76200" y="0"/>
                      </a:lnTo>
                    </a:path>
                  </a:pathLst>
                </a:custGeom>
                <a:noFill/>
                <a:ln w="12700">
                  <a:solidFill>
                    <a:srgbClr val="7C3B2F"/>
                  </a:solidFill>
                </a:ln>
              </p:spPr>
            </p:sp>
          </p:grpSp>
          <p:sp>
            <p:nvSpPr>
              <p:cNvPr id="166" name="TextBox 166"/>
              <p:cNvSpPr txBox="1"/>
              <p:nvPr/>
            </p:nvSpPr>
            <p:spPr>
              <a:xfrm>
                <a:off x="7158038" y="2747962"/>
                <a:ext cx="413385"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学习成长</a:t>
                </a:r>
              </a:p>
            </p:txBody>
          </p:sp>
          <p:grpSp>
            <p:nvGrpSpPr>
              <p:cNvPr id="169" name="Group 169"/>
              <p:cNvGrpSpPr/>
              <p:nvPr/>
            </p:nvGrpSpPr>
            <p:grpSpPr>
              <a:xfrm>
                <a:off x="6944680" y="3086100"/>
                <a:ext cx="124004" cy="114300"/>
                <a:chOff x="6944680" y="3086100"/>
                <a:chExt cx="124004" cy="114300"/>
              </a:xfrm>
            </p:grpSpPr>
            <p:sp>
              <p:nvSpPr>
                <p:cNvPr id="167" name="Freeform 167"/>
                <p:cNvSpPr/>
                <p:nvPr/>
              </p:nvSpPr>
              <p:spPr>
                <a:xfrm>
                  <a:off x="6944680" y="308610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7C3B2F"/>
                  </a:solidFill>
                </a:ln>
              </p:spPr>
            </p:sp>
            <p:sp>
              <p:nvSpPr>
                <p:cNvPr id="168" name="Freeform 168"/>
                <p:cNvSpPr/>
                <p:nvPr/>
              </p:nvSpPr>
              <p:spPr>
                <a:xfrm>
                  <a:off x="7029450" y="317500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170" name="TextBox 170"/>
              <p:cNvSpPr txBox="1"/>
              <p:nvPr/>
            </p:nvSpPr>
            <p:spPr>
              <a:xfrm>
                <a:off x="7158038" y="3109912"/>
                <a:ext cx="413385"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合规审计</a:t>
                </a:r>
              </a:p>
            </p:txBody>
          </p:sp>
          <p:sp>
            <p:nvSpPr>
              <p:cNvPr id="171" name="TextBox 171"/>
              <p:cNvSpPr txBox="1"/>
              <p:nvPr/>
            </p:nvSpPr>
            <p:spPr>
              <a:xfrm>
                <a:off x="7336290" y="3337084"/>
                <a:ext cx="110221"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a:t>
                </a:r>
              </a:p>
            </p:txBody>
          </p:sp>
        </p:grpSp>
        <p:grpSp>
          <p:nvGrpSpPr>
            <p:cNvPr id="187" name="flow-broken-links"/>
            <p:cNvGrpSpPr/>
            <p:nvPr/>
          </p:nvGrpSpPr>
          <p:grpSpPr>
            <a:xfrm>
              <a:off x="5410200" y="1138238"/>
              <a:ext cx="1428750" cy="2014537"/>
              <a:chOff x="5410200" y="1138238"/>
              <a:chExt cx="1428750" cy="2014537"/>
            </a:xfrm>
          </p:grpSpPr>
          <p:sp>
            <p:nvSpPr>
              <p:cNvPr id="173" name="Line 173"/>
              <p:cNvSpPr/>
              <p:nvPr/>
            </p:nvSpPr>
            <p:spPr>
              <a:xfrm>
                <a:off x="5410200" y="1333500"/>
                <a:ext cx="1428750" cy="9525"/>
              </a:xfrm>
              <a:custGeom>
                <a:avLst/>
                <a:gdLst/>
                <a:ahLst/>
                <a:cxnLst/>
                <a:rect l="l" t="t" r="r" b="b"/>
                <a:pathLst>
                  <a:path w="1428750" h="9525">
                    <a:moveTo>
                      <a:pt x="0" y="0"/>
                    </a:moveTo>
                    <a:lnTo>
                      <a:pt x="1428750" y="0"/>
                    </a:lnTo>
                  </a:path>
                </a:pathLst>
              </a:custGeom>
              <a:noFill/>
              <a:ln w="11430">
                <a:solidFill>
                  <a:srgbClr val="3A4238"/>
                </a:solidFill>
                <a:custDash>
                  <a:ds d="416667" sp="333333"/>
                </a:custDash>
              </a:ln>
            </p:spPr>
          </p:sp>
          <p:sp>
            <p:nvSpPr>
              <p:cNvPr id="174" name="TextBox 174"/>
              <p:cNvSpPr txBox="1"/>
              <p:nvPr/>
            </p:nvSpPr>
            <p:spPr>
              <a:xfrm>
                <a:off x="5917882" y="1138238"/>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内容断层</a:t>
                </a:r>
              </a:p>
            </p:txBody>
          </p:sp>
          <p:sp>
            <p:nvSpPr>
              <p:cNvPr id="175" name="Line 175"/>
              <p:cNvSpPr/>
              <p:nvPr/>
            </p:nvSpPr>
            <p:spPr>
              <a:xfrm>
                <a:off x="6048375" y="1295400"/>
                <a:ext cx="152400" cy="152400"/>
              </a:xfrm>
              <a:custGeom>
                <a:avLst/>
                <a:gdLst/>
                <a:ahLst/>
                <a:cxnLst/>
                <a:rect l="l" t="t" r="r" b="b"/>
                <a:pathLst>
                  <a:path w="152400" h="152400">
                    <a:moveTo>
                      <a:pt x="0" y="0"/>
                    </a:moveTo>
                    <a:lnTo>
                      <a:pt x="152400" y="152400"/>
                    </a:lnTo>
                  </a:path>
                </a:pathLst>
              </a:custGeom>
              <a:noFill/>
              <a:ln w="28575">
                <a:solidFill>
                  <a:srgbClr val="C44E3A"/>
                </a:solidFill>
              </a:ln>
            </p:spPr>
          </p:sp>
          <p:sp>
            <p:nvSpPr>
              <p:cNvPr id="176" name="Line 176"/>
              <p:cNvSpPr/>
              <p:nvPr/>
            </p:nvSpPr>
            <p:spPr>
              <a:xfrm>
                <a:off x="6048375" y="1295400"/>
                <a:ext cx="152400" cy="152400"/>
              </a:xfrm>
              <a:custGeom>
                <a:avLst/>
                <a:gdLst/>
                <a:ahLst/>
                <a:cxnLst/>
                <a:rect l="l" t="t" r="r" b="b"/>
                <a:pathLst>
                  <a:path w="152400" h="152400">
                    <a:moveTo>
                      <a:pt x="152400" y="0"/>
                    </a:moveTo>
                    <a:lnTo>
                      <a:pt x="0" y="152400"/>
                    </a:lnTo>
                  </a:path>
                </a:pathLst>
              </a:custGeom>
              <a:noFill/>
              <a:ln w="28575">
                <a:solidFill>
                  <a:srgbClr val="C44E3A"/>
                </a:solidFill>
              </a:ln>
            </p:spPr>
          </p:sp>
          <p:sp>
            <p:nvSpPr>
              <p:cNvPr id="177" name="Line 177"/>
              <p:cNvSpPr/>
              <p:nvPr/>
            </p:nvSpPr>
            <p:spPr>
              <a:xfrm>
                <a:off x="5410200" y="2047875"/>
                <a:ext cx="1428750" cy="9525"/>
              </a:xfrm>
              <a:custGeom>
                <a:avLst/>
                <a:gdLst/>
                <a:ahLst/>
                <a:cxnLst/>
                <a:rect l="l" t="t" r="r" b="b"/>
                <a:pathLst>
                  <a:path w="1428750" h="9525">
                    <a:moveTo>
                      <a:pt x="0" y="0"/>
                    </a:moveTo>
                    <a:lnTo>
                      <a:pt x="1428750" y="0"/>
                    </a:lnTo>
                  </a:path>
                </a:pathLst>
              </a:custGeom>
              <a:noFill/>
              <a:ln w="11430">
                <a:solidFill>
                  <a:srgbClr val="3A4238"/>
                </a:solidFill>
                <a:custDash>
                  <a:ds d="416667" sp="333333"/>
                </a:custDash>
              </a:ln>
            </p:spPr>
          </p:sp>
          <p:sp>
            <p:nvSpPr>
              <p:cNvPr id="178" name="TextBox 178"/>
              <p:cNvSpPr txBox="1"/>
              <p:nvPr/>
            </p:nvSpPr>
            <p:spPr>
              <a:xfrm>
                <a:off x="5917882" y="1852612"/>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权限断层</a:t>
                </a:r>
              </a:p>
            </p:txBody>
          </p:sp>
          <p:sp>
            <p:nvSpPr>
              <p:cNvPr id="179" name="Line 179"/>
              <p:cNvSpPr/>
              <p:nvPr/>
            </p:nvSpPr>
            <p:spPr>
              <a:xfrm>
                <a:off x="6048375" y="2009775"/>
                <a:ext cx="152400" cy="152400"/>
              </a:xfrm>
              <a:custGeom>
                <a:avLst/>
                <a:gdLst/>
                <a:ahLst/>
                <a:cxnLst/>
                <a:rect l="l" t="t" r="r" b="b"/>
                <a:pathLst>
                  <a:path w="152400" h="152400">
                    <a:moveTo>
                      <a:pt x="0" y="0"/>
                    </a:moveTo>
                    <a:lnTo>
                      <a:pt x="152400" y="152400"/>
                    </a:lnTo>
                  </a:path>
                </a:pathLst>
              </a:custGeom>
              <a:noFill/>
              <a:ln w="28575">
                <a:solidFill>
                  <a:srgbClr val="C44E3A"/>
                </a:solidFill>
              </a:ln>
            </p:spPr>
          </p:sp>
          <p:sp>
            <p:nvSpPr>
              <p:cNvPr id="180" name="Line 180"/>
              <p:cNvSpPr/>
              <p:nvPr/>
            </p:nvSpPr>
            <p:spPr>
              <a:xfrm>
                <a:off x="6048375" y="2009775"/>
                <a:ext cx="152400" cy="152400"/>
              </a:xfrm>
              <a:custGeom>
                <a:avLst/>
                <a:gdLst/>
                <a:ahLst/>
                <a:cxnLst/>
                <a:rect l="l" t="t" r="r" b="b"/>
                <a:pathLst>
                  <a:path w="152400" h="152400">
                    <a:moveTo>
                      <a:pt x="152400" y="0"/>
                    </a:moveTo>
                    <a:lnTo>
                      <a:pt x="0" y="152400"/>
                    </a:lnTo>
                  </a:path>
                </a:pathLst>
              </a:custGeom>
              <a:noFill/>
              <a:ln w="28575">
                <a:solidFill>
                  <a:srgbClr val="C44E3A"/>
                </a:solidFill>
              </a:ln>
            </p:spPr>
          </p:sp>
          <p:sp>
            <p:nvSpPr>
              <p:cNvPr id="181" name="Line 181"/>
              <p:cNvSpPr/>
              <p:nvPr/>
            </p:nvSpPr>
            <p:spPr>
              <a:xfrm>
                <a:off x="5410200" y="2762250"/>
                <a:ext cx="1428750" cy="9525"/>
              </a:xfrm>
              <a:custGeom>
                <a:avLst/>
                <a:gdLst/>
                <a:ahLst/>
                <a:cxnLst/>
                <a:rect l="l" t="t" r="r" b="b"/>
                <a:pathLst>
                  <a:path w="1428750" h="9525">
                    <a:moveTo>
                      <a:pt x="0" y="0"/>
                    </a:moveTo>
                    <a:lnTo>
                      <a:pt x="1428750" y="0"/>
                    </a:lnTo>
                  </a:path>
                </a:pathLst>
              </a:custGeom>
              <a:noFill/>
              <a:ln w="11430">
                <a:solidFill>
                  <a:srgbClr val="3A4238"/>
                </a:solidFill>
                <a:custDash>
                  <a:ds d="416667" sp="333333"/>
                </a:custDash>
              </a:ln>
            </p:spPr>
          </p:sp>
          <p:sp>
            <p:nvSpPr>
              <p:cNvPr id="182" name="TextBox 182"/>
              <p:cNvSpPr txBox="1"/>
              <p:nvPr/>
            </p:nvSpPr>
            <p:spPr>
              <a:xfrm>
                <a:off x="5917882" y="2566988"/>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语义断层</a:t>
                </a:r>
              </a:p>
            </p:txBody>
          </p:sp>
          <p:sp>
            <p:nvSpPr>
              <p:cNvPr id="183" name="Line 183"/>
              <p:cNvSpPr/>
              <p:nvPr/>
            </p:nvSpPr>
            <p:spPr>
              <a:xfrm>
                <a:off x="6048375" y="2724150"/>
                <a:ext cx="152400" cy="152400"/>
              </a:xfrm>
              <a:custGeom>
                <a:avLst/>
                <a:gdLst/>
                <a:ahLst/>
                <a:cxnLst/>
                <a:rect l="l" t="t" r="r" b="b"/>
                <a:pathLst>
                  <a:path w="152400" h="152400">
                    <a:moveTo>
                      <a:pt x="0" y="0"/>
                    </a:moveTo>
                    <a:lnTo>
                      <a:pt x="152400" y="152400"/>
                    </a:lnTo>
                  </a:path>
                </a:pathLst>
              </a:custGeom>
              <a:noFill/>
              <a:ln w="28575">
                <a:solidFill>
                  <a:srgbClr val="C44E3A"/>
                </a:solidFill>
              </a:ln>
            </p:spPr>
          </p:sp>
          <p:sp>
            <p:nvSpPr>
              <p:cNvPr id="184" name="Line 184"/>
              <p:cNvSpPr/>
              <p:nvPr/>
            </p:nvSpPr>
            <p:spPr>
              <a:xfrm>
                <a:off x="6048375" y="2724150"/>
                <a:ext cx="152400" cy="152400"/>
              </a:xfrm>
              <a:custGeom>
                <a:avLst/>
                <a:gdLst/>
                <a:ahLst/>
                <a:cxnLst/>
                <a:rect l="l" t="t" r="r" b="b"/>
                <a:pathLst>
                  <a:path w="152400" h="152400">
                    <a:moveTo>
                      <a:pt x="152400" y="0"/>
                    </a:moveTo>
                    <a:lnTo>
                      <a:pt x="0" y="152400"/>
                    </a:lnTo>
                  </a:path>
                </a:pathLst>
              </a:custGeom>
              <a:noFill/>
              <a:ln w="28575">
                <a:solidFill>
                  <a:srgbClr val="C44E3A"/>
                </a:solidFill>
              </a:ln>
            </p:spPr>
          </p:sp>
          <p:sp>
            <p:nvSpPr>
              <p:cNvPr id="185" name="Line 185"/>
              <p:cNvSpPr/>
              <p:nvPr/>
            </p:nvSpPr>
            <p:spPr>
              <a:xfrm>
                <a:off x="5410200" y="3143250"/>
                <a:ext cx="304800" cy="1"/>
              </a:xfrm>
              <a:prstGeom prst="line">
                <a:avLst/>
              </a:prstGeom>
              <a:noFill/>
              <a:ln w="11430">
                <a:solidFill>
                  <a:srgbClr val="3A4238"/>
                </a:solidFill>
                <a:custDash>
                  <a:ds d="416667" sp="333333"/>
                </a:custDash>
                <a:tailEnd type="arrow" w="lg" len="lg"/>
              </a:ln>
            </p:spPr>
          </p:sp>
          <p:sp>
            <p:nvSpPr>
              <p:cNvPr id="186" name="Line 186"/>
              <p:cNvSpPr/>
              <p:nvPr/>
            </p:nvSpPr>
            <p:spPr>
              <a:xfrm>
                <a:off x="6553200" y="3143250"/>
                <a:ext cx="285750" cy="9525"/>
              </a:xfrm>
              <a:custGeom>
                <a:avLst/>
                <a:gdLst/>
                <a:ahLst/>
                <a:cxnLst/>
                <a:rect l="l" t="t" r="r" b="b"/>
                <a:pathLst>
                  <a:path w="285750" h="9525">
                    <a:moveTo>
                      <a:pt x="0" y="0"/>
                    </a:moveTo>
                    <a:lnTo>
                      <a:pt x="285750" y="0"/>
                    </a:lnTo>
                  </a:path>
                </a:pathLst>
              </a:custGeom>
              <a:noFill/>
              <a:ln w="11430">
                <a:solidFill>
                  <a:srgbClr val="3A4238"/>
                </a:solidFill>
                <a:custDash>
                  <a:ds d="416667" sp="333333"/>
                </a:custDash>
              </a:ln>
            </p:spPr>
          </p:sp>
        </p:grpSp>
        <p:grpSp>
          <p:nvGrpSpPr>
            <p:cNvPr id="194" name="flow-asset"/>
            <p:cNvGrpSpPr/>
            <p:nvPr/>
          </p:nvGrpSpPr>
          <p:grpSpPr>
            <a:xfrm>
              <a:off x="5629275" y="2647950"/>
              <a:ext cx="990600" cy="990600"/>
              <a:chOff x="5629275" y="2647950"/>
              <a:chExt cx="990600" cy="990600"/>
            </a:xfrm>
          </p:grpSpPr>
          <p:sp>
            <p:nvSpPr>
              <p:cNvPr id="188" name="Ellipse 188"/>
              <p:cNvSpPr/>
              <p:nvPr/>
            </p:nvSpPr>
            <p:spPr>
              <a:xfrm>
                <a:off x="5629275" y="2647950"/>
                <a:ext cx="990600" cy="990600"/>
              </a:xfrm>
              <a:prstGeom prst="ellipse">
                <a:avLst/>
              </a:prstGeom>
              <a:solidFill>
                <a:srgbClr val="FFFFFF"/>
              </a:solidFill>
              <a:ln w="14288">
                <a:solidFill>
                  <a:srgbClr val="BE776A"/>
                </a:solidFill>
              </a:ln>
            </p:spPr>
          </p:sp>
          <p:sp>
            <p:nvSpPr>
              <p:cNvPr id="189" name="Ellipse 189"/>
              <p:cNvSpPr/>
              <p:nvPr/>
            </p:nvSpPr>
            <p:spPr>
              <a:xfrm>
                <a:off x="5934075" y="2867025"/>
                <a:ext cx="381000" cy="133350"/>
              </a:xfrm>
              <a:prstGeom prst="ellipse">
                <a:avLst/>
              </a:prstGeom>
              <a:solidFill>
                <a:srgbClr val="42140B"/>
              </a:solidFill>
              <a:ln>
                <a:noFill/>
              </a:ln>
            </p:spPr>
          </p:sp>
          <p:sp>
            <p:nvSpPr>
              <p:cNvPr id="190" name="Rectangle 190"/>
              <p:cNvSpPr/>
              <p:nvPr/>
            </p:nvSpPr>
            <p:spPr>
              <a:xfrm>
                <a:off x="5934075" y="2933700"/>
                <a:ext cx="381000" cy="171450"/>
              </a:xfrm>
              <a:prstGeom prst="rect">
                <a:avLst/>
              </a:prstGeom>
              <a:solidFill>
                <a:srgbClr val="7C3B2F"/>
              </a:solidFill>
              <a:ln>
                <a:noFill/>
              </a:ln>
            </p:spPr>
          </p:sp>
          <p:sp>
            <p:nvSpPr>
              <p:cNvPr id="191" name="Ellipse 191"/>
              <p:cNvSpPr/>
              <p:nvPr/>
            </p:nvSpPr>
            <p:spPr>
              <a:xfrm>
                <a:off x="5934075" y="3038475"/>
                <a:ext cx="381000" cy="133350"/>
              </a:xfrm>
              <a:prstGeom prst="ellipse">
                <a:avLst/>
              </a:prstGeom>
              <a:solidFill>
                <a:srgbClr val="42140B"/>
              </a:solidFill>
              <a:ln>
                <a:noFill/>
              </a:ln>
            </p:spPr>
          </p:sp>
          <p:sp>
            <p:nvSpPr>
              <p:cNvPr id="192" name="TextBox 192"/>
              <p:cNvSpPr txBox="1"/>
              <p:nvPr/>
            </p:nvSpPr>
            <p:spPr>
              <a:xfrm>
                <a:off x="5899036" y="3301841"/>
                <a:ext cx="451079"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知识资产</a:t>
                </a:r>
              </a:p>
            </p:txBody>
          </p:sp>
          <p:sp>
            <p:nvSpPr>
              <p:cNvPr id="193" name="TextBox 193"/>
              <p:cNvSpPr txBox="1"/>
              <p:nvPr/>
            </p:nvSpPr>
            <p:spPr>
              <a:xfrm>
                <a:off x="5775185" y="3474482"/>
                <a:ext cx="698779"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内容｜权限｜语义</a:t>
                </a:r>
              </a:p>
            </p:txBody>
          </p:sp>
        </p:grpSp>
        <p:grpSp>
          <p:nvGrpSpPr>
            <p:cNvPr id="201" name="flow-platform-chips"/>
            <p:cNvGrpSpPr/>
            <p:nvPr/>
          </p:nvGrpSpPr>
          <p:grpSpPr>
            <a:xfrm>
              <a:off x="5391150" y="3733800"/>
              <a:ext cx="1428750" cy="228600"/>
              <a:chOff x="5391150" y="3733800"/>
              <a:chExt cx="1428750" cy="228600"/>
            </a:xfrm>
          </p:grpSpPr>
          <p:sp>
            <p:nvSpPr>
              <p:cNvPr id="195" name="Rectangle 195"/>
              <p:cNvSpPr/>
              <p:nvPr/>
            </p:nvSpPr>
            <p:spPr>
              <a:xfrm>
                <a:off x="5391150" y="3733800"/>
                <a:ext cx="1428750" cy="228600"/>
              </a:xfrm>
              <a:prstGeom prst="roundRect">
                <a:avLst>
                  <a:gd name="adj" fmla="val 50000"/>
                </a:avLst>
              </a:prstGeom>
              <a:solidFill>
                <a:srgbClr val="FFFFFF"/>
              </a:solidFill>
              <a:ln w="9525">
                <a:solidFill>
                  <a:srgbClr val="D9E8C6"/>
                </a:solidFill>
              </a:ln>
            </p:spPr>
          </p:sp>
          <p:sp>
            <p:nvSpPr>
              <p:cNvPr id="196" name="TextBox 196"/>
              <p:cNvSpPr txBox="1"/>
              <p:nvPr/>
            </p:nvSpPr>
            <p:spPr>
              <a:xfrm>
                <a:off x="5561546" y="3813334"/>
                <a:ext cx="192608"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检索</a:t>
                </a:r>
              </a:p>
            </p:txBody>
          </p:sp>
          <p:sp>
            <p:nvSpPr>
              <p:cNvPr id="197" name="TextBox 197"/>
              <p:cNvSpPr txBox="1"/>
              <p:nvPr/>
            </p:nvSpPr>
            <p:spPr>
              <a:xfrm>
                <a:off x="5828246" y="3813334"/>
                <a:ext cx="192608"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推荐</a:t>
                </a:r>
              </a:p>
            </p:txBody>
          </p:sp>
          <p:sp>
            <p:nvSpPr>
              <p:cNvPr id="198" name="TextBox 198"/>
              <p:cNvSpPr txBox="1"/>
              <p:nvPr/>
            </p:nvSpPr>
            <p:spPr>
              <a:xfrm>
                <a:off x="6094946" y="3813334"/>
                <a:ext cx="192608"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问答</a:t>
                </a:r>
              </a:p>
            </p:txBody>
          </p:sp>
          <p:sp>
            <p:nvSpPr>
              <p:cNvPr id="199" name="TextBox 199"/>
              <p:cNvSpPr txBox="1"/>
              <p:nvPr/>
            </p:nvSpPr>
            <p:spPr>
              <a:xfrm>
                <a:off x="6361646" y="3813334"/>
                <a:ext cx="192608"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协作</a:t>
                </a:r>
              </a:p>
            </p:txBody>
          </p:sp>
          <p:sp>
            <p:nvSpPr>
              <p:cNvPr id="200" name="TextBox 200"/>
              <p:cNvSpPr txBox="1"/>
              <p:nvPr/>
            </p:nvSpPr>
            <p:spPr>
              <a:xfrm>
                <a:off x="6609296" y="3813334"/>
                <a:ext cx="192608"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洞察</a:t>
                </a:r>
              </a:p>
            </p:txBody>
          </p:sp>
        </p:grpSp>
        <p:grpSp>
          <p:nvGrpSpPr>
            <p:cNvPr id="228" name="flow-results"/>
            <p:cNvGrpSpPr/>
            <p:nvPr/>
          </p:nvGrpSpPr>
          <p:grpSpPr>
            <a:xfrm>
              <a:off x="4452938" y="4120991"/>
              <a:ext cx="3569970" cy="584597"/>
              <a:chOff x="4452938" y="4120991"/>
              <a:chExt cx="3569970" cy="584597"/>
            </a:xfrm>
          </p:grpSpPr>
          <p:sp>
            <p:nvSpPr>
              <p:cNvPr id="202" name="TextBox 202"/>
              <p:cNvSpPr txBox="1"/>
              <p:nvPr/>
            </p:nvSpPr>
            <p:spPr>
              <a:xfrm>
                <a:off x="5788647" y="4120991"/>
                <a:ext cx="671855"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断层导致结果</a:t>
                </a:r>
              </a:p>
            </p:txBody>
          </p:sp>
          <p:sp>
            <p:nvSpPr>
              <p:cNvPr id="203" name="Line 203"/>
              <p:cNvSpPr/>
              <p:nvPr/>
            </p:nvSpPr>
            <p:spPr>
              <a:xfrm>
                <a:off x="4476750" y="4286250"/>
                <a:ext cx="3295650" cy="9525"/>
              </a:xfrm>
              <a:custGeom>
                <a:avLst/>
                <a:gdLst/>
                <a:ahLst/>
                <a:cxnLst/>
                <a:rect l="l" t="t" r="r" b="b"/>
                <a:pathLst>
                  <a:path w="3295650" h="9525">
                    <a:moveTo>
                      <a:pt x="0" y="0"/>
                    </a:moveTo>
                    <a:lnTo>
                      <a:pt x="3295650" y="0"/>
                    </a:lnTo>
                  </a:path>
                </a:pathLst>
              </a:custGeom>
              <a:noFill/>
              <a:ln w="9525">
                <a:solidFill>
                  <a:srgbClr val="D9E8C6"/>
                </a:solidFill>
              </a:ln>
            </p:spPr>
          </p:sp>
          <p:grpSp>
            <p:nvGrpSpPr>
              <p:cNvPr id="227" name="result-items"/>
              <p:cNvGrpSpPr/>
              <p:nvPr/>
            </p:nvGrpSpPr>
            <p:grpSpPr>
              <a:xfrm>
                <a:off x="4452938" y="4379119"/>
                <a:ext cx="3569970" cy="326469"/>
                <a:chOff x="4452938" y="4379119"/>
                <a:chExt cx="3569970" cy="326469"/>
              </a:xfrm>
            </p:grpSpPr>
            <p:grpSp>
              <p:nvGrpSpPr>
                <p:cNvPr id="206" name="Group 206"/>
                <p:cNvGrpSpPr/>
                <p:nvPr/>
              </p:nvGrpSpPr>
              <p:grpSpPr>
                <a:xfrm>
                  <a:off x="4474369" y="4379119"/>
                  <a:ext cx="100012" cy="100012"/>
                  <a:chOff x="4474369" y="4379119"/>
                  <a:chExt cx="100012" cy="100012"/>
                </a:xfrm>
              </p:grpSpPr>
              <p:sp>
                <p:nvSpPr>
                  <p:cNvPr id="204" name="Freeform 204"/>
                  <p:cNvSpPr/>
                  <p:nvPr/>
                </p:nvSpPr>
                <p:spPr>
                  <a:xfrm>
                    <a:off x="4474369" y="4379119"/>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C44E3A"/>
                    </a:solidFill>
                  </a:ln>
                </p:spPr>
              </p:sp>
              <p:sp>
                <p:nvSpPr>
                  <p:cNvPr id="205" name="Freeform 205"/>
                  <p:cNvSpPr/>
                  <p:nvPr/>
                </p:nvSpPr>
                <p:spPr>
                  <a:xfrm>
                    <a:off x="4541044" y="4445794"/>
                    <a:ext cx="33337" cy="33337"/>
                  </a:xfrm>
                  <a:custGeom>
                    <a:avLst/>
                    <a:gdLst/>
                    <a:ahLst/>
                    <a:cxnLst/>
                    <a:rect l="l" t="t" r="r" b="b"/>
                    <a:pathLst>
                      <a:path w="33337" h="33337">
                        <a:moveTo>
                          <a:pt x="33337" y="33337"/>
                        </a:moveTo>
                        <a:lnTo>
                          <a:pt x="0" y="0"/>
                        </a:lnTo>
                      </a:path>
                    </a:pathLst>
                  </a:custGeom>
                  <a:noFill/>
                  <a:ln w="11112">
                    <a:solidFill>
                      <a:srgbClr val="C44E3A"/>
                    </a:solidFill>
                  </a:ln>
                </p:spPr>
              </p:sp>
            </p:grpSp>
            <p:sp>
              <p:nvSpPr>
                <p:cNvPr id="207" name="TextBox 207"/>
                <p:cNvSpPr txBox="1"/>
                <p:nvPr/>
              </p:nvSpPr>
              <p:spPr>
                <a:xfrm>
                  <a:off x="4662488" y="439578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找不到</a:t>
                  </a:r>
                </a:p>
              </p:txBody>
            </p:sp>
            <p:sp>
              <p:nvSpPr>
                <p:cNvPr id="208" name="TextBox 208"/>
                <p:cNvSpPr txBox="1"/>
                <p:nvPr/>
              </p:nvSpPr>
              <p:spPr>
                <a:xfrm>
                  <a:off x="4452938" y="4579382"/>
                  <a:ext cx="4403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信息不可见</a:t>
                  </a:r>
                </a:p>
              </p:txBody>
            </p:sp>
            <p:grpSp>
              <p:nvGrpSpPr>
                <p:cNvPr id="211" name="Group 211"/>
                <p:cNvGrpSpPr/>
                <p:nvPr/>
              </p:nvGrpSpPr>
              <p:grpSpPr>
                <a:xfrm>
                  <a:off x="5236369" y="4395787"/>
                  <a:ext cx="100012" cy="66675"/>
                  <a:chOff x="5236369" y="4395787"/>
                  <a:chExt cx="100012" cy="66675"/>
                </a:xfrm>
              </p:grpSpPr>
              <p:sp>
                <p:nvSpPr>
                  <p:cNvPr id="209" name="Freeform 209"/>
                  <p:cNvSpPr/>
                  <p:nvPr/>
                </p:nvSpPr>
                <p:spPr>
                  <a:xfrm>
                    <a:off x="5275262" y="4418012"/>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44E3A"/>
                    </a:solidFill>
                  </a:ln>
                </p:spPr>
              </p:sp>
              <p:sp>
                <p:nvSpPr>
                  <p:cNvPr id="210" name="Freeform 210"/>
                  <p:cNvSpPr/>
                  <p:nvPr/>
                </p:nvSpPr>
                <p:spPr>
                  <a:xfrm>
                    <a:off x="5236369" y="4395787"/>
                    <a:ext cx="100012" cy="66675"/>
                  </a:xfrm>
                  <a:custGeom>
                    <a:avLst/>
                    <a:gdLst/>
                    <a:ahLst/>
                    <a:cxnLst/>
                    <a:rect l="l" t="t" r="r" b="b"/>
                    <a:pathLst>
                      <a:path w="100012" h="66675">
                        <a:moveTo>
                          <a:pt x="100012" y="33337"/>
                        </a:moveTo>
                        <a:cubicBezTo>
                          <a:pt x="86677" y="55562"/>
                          <a:pt x="70009" y="66675"/>
                          <a:pt x="50006" y="66675"/>
                        </a:cubicBezTo>
                        <a:cubicBezTo>
                          <a:pt x="30004" y="66675"/>
                          <a:pt x="13335" y="55562"/>
                          <a:pt x="0" y="33337"/>
                        </a:cubicBezTo>
                        <a:cubicBezTo>
                          <a:pt x="13335" y="11112"/>
                          <a:pt x="30004" y="0"/>
                          <a:pt x="50006" y="0"/>
                        </a:cubicBezTo>
                        <a:cubicBezTo>
                          <a:pt x="70009" y="0"/>
                          <a:pt x="86677" y="11112"/>
                          <a:pt x="100012" y="33337"/>
                        </a:cubicBezTo>
                      </a:path>
                    </a:pathLst>
                  </a:custGeom>
                  <a:noFill/>
                  <a:ln w="11112">
                    <a:solidFill>
                      <a:srgbClr val="C44E3A"/>
                    </a:solidFill>
                  </a:ln>
                </p:spPr>
              </p:sp>
            </p:grpSp>
            <p:sp>
              <p:nvSpPr>
                <p:cNvPr id="212" name="TextBox 212"/>
                <p:cNvSpPr txBox="1"/>
                <p:nvPr/>
              </p:nvSpPr>
              <p:spPr>
                <a:xfrm>
                  <a:off x="5424488" y="439578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看不准</a:t>
                  </a:r>
                </a:p>
              </p:txBody>
            </p:sp>
            <p:sp>
              <p:nvSpPr>
                <p:cNvPr id="213" name="TextBox 213"/>
                <p:cNvSpPr txBox="1"/>
                <p:nvPr/>
              </p:nvSpPr>
              <p:spPr>
                <a:xfrm>
                  <a:off x="5214938" y="4579382"/>
                  <a:ext cx="4403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语义不一致</a:t>
                  </a:r>
                </a:p>
              </p:txBody>
            </p:sp>
            <p:sp>
              <p:nvSpPr>
                <p:cNvPr id="214" name="Freeform 214"/>
                <p:cNvSpPr/>
                <p:nvPr/>
              </p:nvSpPr>
              <p:spPr>
                <a:xfrm>
                  <a:off x="6003925" y="4384675"/>
                  <a:ext cx="88900" cy="94456"/>
                </a:xfrm>
                <a:custGeom>
                  <a:avLst/>
                  <a:gdLst/>
                  <a:ahLst/>
                  <a:cxnLst/>
                  <a:rect l="l" t="t" r="r" b="b"/>
                  <a:pathLst>
                    <a:path w="88900" h="94456">
                      <a:moveTo>
                        <a:pt x="0" y="0"/>
                      </a:moveTo>
                      <a:lnTo>
                        <a:pt x="88900" y="0"/>
                      </a:lnTo>
                      <a:lnTo>
                        <a:pt x="88900" y="12068"/>
                      </a:lnTo>
                      <a:cubicBezTo>
                        <a:pt x="88899" y="15015"/>
                        <a:pt x="87728" y="17841"/>
                        <a:pt x="85644" y="19925"/>
                      </a:cubicBezTo>
                      <a:lnTo>
                        <a:pt x="61119" y="44450"/>
                      </a:lnTo>
                      <a:lnTo>
                        <a:pt x="61119" y="83344"/>
                      </a:lnTo>
                      <a:lnTo>
                        <a:pt x="27781" y="94456"/>
                      </a:lnTo>
                      <a:lnTo>
                        <a:pt x="27781" y="47228"/>
                      </a:lnTo>
                      <a:lnTo>
                        <a:pt x="2889" y="19847"/>
                      </a:lnTo>
                      <a:cubicBezTo>
                        <a:pt x="1030" y="17802"/>
                        <a:pt x="0" y="15137"/>
                        <a:pt x="0" y="12374"/>
                      </a:cubicBezTo>
                      <a:lnTo>
                        <a:pt x="0" y="0"/>
                      </a:lnTo>
                    </a:path>
                  </a:pathLst>
                </a:custGeom>
                <a:noFill/>
                <a:ln w="11112">
                  <a:solidFill>
                    <a:srgbClr val="C44E3A"/>
                  </a:solidFill>
                </a:ln>
              </p:spPr>
            </p:sp>
            <p:sp>
              <p:nvSpPr>
                <p:cNvPr id="215" name="TextBox 215"/>
                <p:cNvSpPr txBox="1"/>
                <p:nvPr/>
              </p:nvSpPr>
              <p:spPr>
                <a:xfrm>
                  <a:off x="6186488" y="439578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用不了</a:t>
                  </a:r>
                </a:p>
              </p:txBody>
            </p:sp>
            <p:sp>
              <p:nvSpPr>
                <p:cNvPr id="216" name="TextBox 216"/>
                <p:cNvSpPr txBox="1"/>
                <p:nvPr/>
              </p:nvSpPr>
              <p:spPr>
                <a:xfrm>
                  <a:off x="5976938" y="4579382"/>
                  <a:ext cx="4403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流程不顺畅</a:t>
                  </a:r>
                </a:p>
              </p:txBody>
            </p:sp>
            <p:grpSp>
              <p:nvGrpSpPr>
                <p:cNvPr id="219" name="Group 219"/>
                <p:cNvGrpSpPr/>
                <p:nvPr/>
              </p:nvGrpSpPr>
              <p:grpSpPr>
                <a:xfrm>
                  <a:off x="6760369" y="4379119"/>
                  <a:ext cx="100012" cy="100012"/>
                  <a:chOff x="6760369" y="4379119"/>
                  <a:chExt cx="100012" cy="100012"/>
                </a:xfrm>
              </p:grpSpPr>
              <p:sp>
                <p:nvSpPr>
                  <p:cNvPr id="217" name="Freeform 217"/>
                  <p:cNvSpPr/>
                  <p:nvPr/>
                </p:nvSpPr>
                <p:spPr>
                  <a:xfrm>
                    <a:off x="6760369" y="43791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C44E3A"/>
                    </a:solidFill>
                  </a:ln>
                </p:spPr>
              </p:sp>
              <p:sp>
                <p:nvSpPr>
                  <p:cNvPr id="218" name="Freeform 218"/>
                  <p:cNvSpPr/>
                  <p:nvPr/>
                </p:nvSpPr>
                <p:spPr>
                  <a:xfrm>
                    <a:off x="6810375" y="4401344"/>
                    <a:ext cx="16669" cy="44450"/>
                  </a:xfrm>
                  <a:custGeom>
                    <a:avLst/>
                    <a:gdLst/>
                    <a:ahLst/>
                    <a:cxnLst/>
                    <a:rect l="l" t="t" r="r" b="b"/>
                    <a:pathLst>
                      <a:path w="16669" h="44450">
                        <a:moveTo>
                          <a:pt x="0" y="0"/>
                        </a:moveTo>
                        <a:lnTo>
                          <a:pt x="0" y="27781"/>
                        </a:lnTo>
                        <a:lnTo>
                          <a:pt x="16669" y="44450"/>
                        </a:lnTo>
                      </a:path>
                    </a:pathLst>
                  </a:custGeom>
                  <a:noFill/>
                  <a:ln w="11112">
                    <a:solidFill>
                      <a:srgbClr val="C44E3A"/>
                    </a:solidFill>
                  </a:ln>
                </p:spPr>
              </p:sp>
            </p:grpSp>
            <p:sp>
              <p:nvSpPr>
                <p:cNvPr id="220" name="TextBox 220"/>
                <p:cNvSpPr txBox="1"/>
                <p:nvPr/>
              </p:nvSpPr>
              <p:spPr>
                <a:xfrm>
                  <a:off x="6948488" y="439578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用不久</a:t>
                  </a:r>
                </a:p>
              </p:txBody>
            </p:sp>
            <p:sp>
              <p:nvSpPr>
                <p:cNvPr id="221" name="TextBox 221"/>
                <p:cNvSpPr txBox="1"/>
                <p:nvPr/>
              </p:nvSpPr>
              <p:spPr>
                <a:xfrm>
                  <a:off x="6738938" y="4579382"/>
                  <a:ext cx="4403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内容不新鲜</a:t>
                  </a:r>
                </a:p>
              </p:txBody>
            </p:sp>
            <p:grpSp>
              <p:nvGrpSpPr>
                <p:cNvPr id="224" name="Group 224"/>
                <p:cNvGrpSpPr/>
                <p:nvPr/>
              </p:nvGrpSpPr>
              <p:grpSpPr>
                <a:xfrm>
                  <a:off x="7522369" y="4401344"/>
                  <a:ext cx="100012" cy="55562"/>
                  <a:chOff x="7522369" y="4401344"/>
                  <a:chExt cx="100012" cy="55562"/>
                </a:xfrm>
              </p:grpSpPr>
              <p:sp>
                <p:nvSpPr>
                  <p:cNvPr id="222" name="Freeform 222"/>
                  <p:cNvSpPr/>
                  <p:nvPr/>
                </p:nvSpPr>
                <p:spPr>
                  <a:xfrm>
                    <a:off x="7522369" y="4401344"/>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C44E3A"/>
                    </a:solidFill>
                  </a:ln>
                </p:spPr>
              </p:sp>
              <p:sp>
                <p:nvSpPr>
                  <p:cNvPr id="223" name="Freeform 223"/>
                  <p:cNvSpPr/>
                  <p:nvPr/>
                </p:nvSpPr>
                <p:spPr>
                  <a:xfrm>
                    <a:off x="7583487" y="4401344"/>
                    <a:ext cx="38894" cy="38894"/>
                  </a:xfrm>
                  <a:custGeom>
                    <a:avLst/>
                    <a:gdLst/>
                    <a:ahLst/>
                    <a:cxnLst/>
                    <a:rect l="l" t="t" r="r" b="b"/>
                    <a:pathLst>
                      <a:path w="38894" h="38894">
                        <a:moveTo>
                          <a:pt x="0" y="0"/>
                        </a:moveTo>
                        <a:lnTo>
                          <a:pt x="38894" y="0"/>
                        </a:lnTo>
                        <a:lnTo>
                          <a:pt x="38894" y="38894"/>
                        </a:lnTo>
                      </a:path>
                    </a:pathLst>
                  </a:custGeom>
                  <a:noFill/>
                  <a:ln w="11112">
                    <a:solidFill>
                      <a:srgbClr val="C44E3A"/>
                    </a:solidFill>
                  </a:ln>
                </p:spPr>
              </p:sp>
            </p:grpSp>
            <p:sp>
              <p:nvSpPr>
                <p:cNvPr id="225" name="TextBox 225"/>
                <p:cNvSpPr txBox="1"/>
                <p:nvPr/>
              </p:nvSpPr>
              <p:spPr>
                <a:xfrm>
                  <a:off x="7710488" y="439578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用不动</a:t>
                  </a:r>
                </a:p>
              </p:txBody>
            </p:sp>
            <p:sp>
              <p:nvSpPr>
                <p:cNvPr id="226" name="TextBox 226"/>
                <p:cNvSpPr txBox="1"/>
                <p:nvPr/>
              </p:nvSpPr>
              <p:spPr>
                <a:xfrm>
                  <a:off x="7500938" y="4579382"/>
                  <a:ext cx="4403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价值感不足</a:t>
                  </a:r>
                </a:p>
              </p:txBody>
            </p:sp>
          </p:grpSp>
        </p:grpSp>
      </p:grpSp>
      <p:grpSp>
        <p:nvGrpSpPr>
          <p:cNvPr id="280" name="risk-heatmap"/>
          <p:cNvGrpSpPr/>
          <p:nvPr/>
        </p:nvGrpSpPr>
        <p:grpSpPr>
          <a:xfrm>
            <a:off x="8096250" y="609600"/>
            <a:ext cx="3867150" cy="3816430"/>
            <a:chOff x="8096250" y="609600"/>
            <a:chExt cx="3867150" cy="3816430"/>
          </a:xfrm>
        </p:grpSpPr>
        <p:sp>
          <p:nvSpPr>
            <p:cNvPr id="230" name="Rectangle 230"/>
            <p:cNvSpPr/>
            <p:nvPr/>
          </p:nvSpPr>
          <p:spPr>
            <a:xfrm>
              <a:off x="8096250" y="609600"/>
              <a:ext cx="3867150" cy="247650"/>
            </a:xfrm>
            <a:prstGeom prst="roundRect">
              <a:avLst>
                <a:gd name="adj" fmla="val 30769"/>
              </a:avLst>
            </a:prstGeom>
            <a:solidFill>
              <a:srgbClr val="42140B"/>
            </a:solidFill>
            <a:ln>
              <a:noFill/>
            </a:ln>
          </p:spPr>
        </p:sp>
        <p:sp>
          <p:nvSpPr>
            <p:cNvPr id="231" name="TextBox 231"/>
            <p:cNvSpPr txBox="1"/>
            <p:nvPr/>
          </p:nvSpPr>
          <p:spPr>
            <a:xfrm>
              <a:off x="9167343" y="675799"/>
              <a:ext cx="172496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风险热力图（断层综合风险）</a:t>
              </a:r>
            </a:p>
          </p:txBody>
        </p:sp>
        <p:sp>
          <p:nvSpPr>
            <p:cNvPr id="232" name="TextBox 232"/>
            <p:cNvSpPr txBox="1"/>
            <p:nvPr/>
          </p:nvSpPr>
          <p:spPr>
            <a:xfrm>
              <a:off x="8205788" y="103893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影响程度</a:t>
              </a:r>
            </a:p>
          </p:txBody>
        </p:sp>
        <p:sp>
          <p:nvSpPr>
            <p:cNvPr id="233" name="Line 233"/>
            <p:cNvSpPr/>
            <p:nvPr/>
          </p:nvSpPr>
          <p:spPr>
            <a:xfrm flipV="1">
              <a:off x="8724900" y="1200150"/>
              <a:ext cx="1" cy="2609850"/>
            </a:xfrm>
            <a:prstGeom prst="line">
              <a:avLst/>
            </a:prstGeom>
            <a:noFill/>
            <a:ln w="11430">
              <a:solidFill>
                <a:srgbClr val="3A4238"/>
              </a:solidFill>
              <a:tailEnd type="arrow" w="lg" len="lg"/>
            </a:ln>
          </p:spPr>
        </p:sp>
        <p:sp>
          <p:nvSpPr>
            <p:cNvPr id="234" name="Line 234"/>
            <p:cNvSpPr/>
            <p:nvPr/>
          </p:nvSpPr>
          <p:spPr>
            <a:xfrm>
              <a:off x="8724900" y="3810000"/>
              <a:ext cx="2762250" cy="1"/>
            </a:xfrm>
            <a:prstGeom prst="line">
              <a:avLst/>
            </a:prstGeom>
            <a:noFill/>
            <a:ln w="11430">
              <a:solidFill>
                <a:srgbClr val="3A4238"/>
              </a:solidFill>
              <a:tailEnd type="arrow" w="lg" len="lg"/>
            </a:ln>
          </p:spPr>
        </p:sp>
        <p:sp>
          <p:nvSpPr>
            <p:cNvPr id="235" name="TextBox 235"/>
            <p:cNvSpPr txBox="1"/>
            <p:nvPr/>
          </p:nvSpPr>
          <p:spPr>
            <a:xfrm>
              <a:off x="10948988" y="395358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发生频率</a:t>
              </a:r>
            </a:p>
          </p:txBody>
        </p:sp>
        <p:grpSp>
          <p:nvGrpSpPr>
            <p:cNvPr id="261" name="heat-cells"/>
            <p:cNvGrpSpPr/>
            <p:nvPr/>
          </p:nvGrpSpPr>
          <p:grpSpPr>
            <a:xfrm>
              <a:off x="8782050" y="1238250"/>
              <a:ext cx="2381250" cy="2381250"/>
              <a:chOff x="8782050" y="1238250"/>
              <a:chExt cx="2381250" cy="2381250"/>
            </a:xfrm>
          </p:grpSpPr>
          <p:sp>
            <p:nvSpPr>
              <p:cNvPr id="236" name="Rectangle 236"/>
              <p:cNvSpPr/>
              <p:nvPr/>
            </p:nvSpPr>
            <p:spPr>
              <a:xfrm>
                <a:off x="8782050" y="1238250"/>
                <a:ext cx="476250" cy="476250"/>
              </a:xfrm>
              <a:prstGeom prst="rect">
                <a:avLst/>
              </a:prstGeom>
              <a:solidFill>
                <a:srgbClr val="F4F8EC"/>
              </a:solidFill>
              <a:ln w="9525">
                <a:solidFill>
                  <a:srgbClr val="FFFFFF"/>
                </a:solidFill>
              </a:ln>
            </p:spPr>
          </p:sp>
          <p:sp>
            <p:nvSpPr>
              <p:cNvPr id="237" name="Rectangle 237"/>
              <p:cNvSpPr/>
              <p:nvPr/>
            </p:nvSpPr>
            <p:spPr>
              <a:xfrm>
                <a:off x="9258300" y="1238250"/>
                <a:ext cx="476250" cy="476250"/>
              </a:xfrm>
              <a:prstGeom prst="rect">
                <a:avLst/>
              </a:prstGeom>
              <a:solidFill>
                <a:srgbClr val="CE9085"/>
              </a:solidFill>
              <a:ln w="9525">
                <a:solidFill>
                  <a:srgbClr val="FFFFFF"/>
                </a:solidFill>
              </a:ln>
            </p:spPr>
          </p:sp>
          <p:sp>
            <p:nvSpPr>
              <p:cNvPr id="238" name="Rectangle 238"/>
              <p:cNvSpPr/>
              <p:nvPr/>
            </p:nvSpPr>
            <p:spPr>
              <a:xfrm>
                <a:off x="9734550" y="1238250"/>
                <a:ext cx="476250" cy="476250"/>
              </a:xfrm>
              <a:prstGeom prst="rect">
                <a:avLst/>
              </a:prstGeom>
              <a:solidFill>
                <a:srgbClr val="A85C4E"/>
              </a:solidFill>
              <a:ln w="9525">
                <a:solidFill>
                  <a:srgbClr val="FFFFFF"/>
                </a:solidFill>
              </a:ln>
            </p:spPr>
          </p:sp>
          <p:sp>
            <p:nvSpPr>
              <p:cNvPr id="239" name="Rectangle 239"/>
              <p:cNvSpPr/>
              <p:nvPr/>
            </p:nvSpPr>
            <p:spPr>
              <a:xfrm>
                <a:off x="10210800" y="1238250"/>
                <a:ext cx="476250" cy="476250"/>
              </a:xfrm>
              <a:prstGeom prst="rect">
                <a:avLst/>
              </a:prstGeom>
              <a:solidFill>
                <a:srgbClr val="643228"/>
              </a:solidFill>
              <a:ln w="9525">
                <a:solidFill>
                  <a:srgbClr val="FFFFFF"/>
                </a:solidFill>
              </a:ln>
            </p:spPr>
          </p:sp>
          <p:sp>
            <p:nvSpPr>
              <p:cNvPr id="240" name="Rectangle 240"/>
              <p:cNvSpPr/>
              <p:nvPr/>
            </p:nvSpPr>
            <p:spPr>
              <a:xfrm>
                <a:off x="10687050" y="1238250"/>
                <a:ext cx="476250" cy="476250"/>
              </a:xfrm>
              <a:prstGeom prst="rect">
                <a:avLst/>
              </a:prstGeom>
              <a:solidFill>
                <a:srgbClr val="42140B"/>
              </a:solidFill>
              <a:ln w="9525">
                <a:solidFill>
                  <a:srgbClr val="FFFFFF"/>
                </a:solidFill>
              </a:ln>
            </p:spPr>
          </p:sp>
          <p:sp>
            <p:nvSpPr>
              <p:cNvPr id="241" name="Rectangle 241"/>
              <p:cNvSpPr/>
              <p:nvPr/>
            </p:nvSpPr>
            <p:spPr>
              <a:xfrm>
                <a:off x="8782050" y="1714500"/>
                <a:ext cx="476250" cy="476250"/>
              </a:xfrm>
              <a:prstGeom prst="rect">
                <a:avLst/>
              </a:prstGeom>
              <a:solidFill>
                <a:srgbClr val="F4F8EC"/>
              </a:solidFill>
              <a:ln w="9525">
                <a:solidFill>
                  <a:srgbClr val="FFFFFF"/>
                </a:solidFill>
              </a:ln>
            </p:spPr>
          </p:sp>
          <p:sp>
            <p:nvSpPr>
              <p:cNvPr id="242" name="Rectangle 242"/>
              <p:cNvSpPr/>
              <p:nvPr/>
            </p:nvSpPr>
            <p:spPr>
              <a:xfrm>
                <a:off x="9258300" y="1714500"/>
                <a:ext cx="476250" cy="476250"/>
              </a:xfrm>
              <a:prstGeom prst="rect">
                <a:avLst/>
              </a:prstGeom>
              <a:solidFill>
                <a:srgbClr val="E4B7AF"/>
              </a:solidFill>
              <a:ln w="9525">
                <a:solidFill>
                  <a:srgbClr val="FFFFFF"/>
                </a:solidFill>
              </a:ln>
            </p:spPr>
          </p:sp>
          <p:sp>
            <p:nvSpPr>
              <p:cNvPr id="243" name="Rectangle 243"/>
              <p:cNvSpPr/>
              <p:nvPr/>
            </p:nvSpPr>
            <p:spPr>
              <a:xfrm>
                <a:off x="9734550" y="1714500"/>
                <a:ext cx="476250" cy="476250"/>
              </a:xfrm>
              <a:prstGeom prst="rect">
                <a:avLst/>
              </a:prstGeom>
              <a:solidFill>
                <a:srgbClr val="BE776A"/>
              </a:solidFill>
              <a:ln w="9525">
                <a:solidFill>
                  <a:srgbClr val="FFFFFF"/>
                </a:solidFill>
              </a:ln>
            </p:spPr>
          </p:sp>
          <p:sp>
            <p:nvSpPr>
              <p:cNvPr id="244" name="Rectangle 244"/>
              <p:cNvSpPr/>
              <p:nvPr/>
            </p:nvSpPr>
            <p:spPr>
              <a:xfrm>
                <a:off x="10210800" y="1714500"/>
                <a:ext cx="476250" cy="476250"/>
              </a:xfrm>
              <a:prstGeom prst="rect">
                <a:avLst/>
              </a:prstGeom>
              <a:solidFill>
                <a:srgbClr val="7C3B2F"/>
              </a:solidFill>
              <a:ln w="9525">
                <a:solidFill>
                  <a:srgbClr val="FFFFFF"/>
                </a:solidFill>
              </a:ln>
            </p:spPr>
          </p:sp>
          <p:sp>
            <p:nvSpPr>
              <p:cNvPr id="245" name="Rectangle 245"/>
              <p:cNvSpPr/>
              <p:nvPr/>
            </p:nvSpPr>
            <p:spPr>
              <a:xfrm>
                <a:off x="10687050" y="1714500"/>
                <a:ext cx="476250" cy="476250"/>
              </a:xfrm>
              <a:prstGeom prst="rect">
                <a:avLst/>
              </a:prstGeom>
              <a:solidFill>
                <a:srgbClr val="50261E"/>
              </a:solidFill>
              <a:ln w="9525">
                <a:solidFill>
                  <a:srgbClr val="FFFFFF"/>
                </a:solidFill>
              </a:ln>
            </p:spPr>
          </p:sp>
          <p:sp>
            <p:nvSpPr>
              <p:cNvPr id="246" name="Rectangle 246"/>
              <p:cNvSpPr/>
              <p:nvPr/>
            </p:nvSpPr>
            <p:spPr>
              <a:xfrm>
                <a:off x="8782050" y="2190750"/>
                <a:ext cx="476250" cy="476250"/>
              </a:xfrm>
              <a:prstGeom prst="rect">
                <a:avLst/>
              </a:prstGeom>
              <a:solidFill>
                <a:srgbClr val="E7F2D8"/>
              </a:solidFill>
              <a:ln w="9525">
                <a:solidFill>
                  <a:srgbClr val="FFFFFF"/>
                </a:solidFill>
              </a:ln>
            </p:spPr>
          </p:sp>
          <p:sp>
            <p:nvSpPr>
              <p:cNvPr id="247" name="Rectangle 247"/>
              <p:cNvSpPr/>
              <p:nvPr/>
            </p:nvSpPr>
            <p:spPr>
              <a:xfrm>
                <a:off x="9258300" y="2190750"/>
                <a:ext cx="476250" cy="476250"/>
              </a:xfrm>
              <a:prstGeom prst="rect">
                <a:avLst/>
              </a:prstGeom>
              <a:solidFill>
                <a:srgbClr val="E7F2D8"/>
              </a:solidFill>
              <a:ln w="9525">
                <a:solidFill>
                  <a:srgbClr val="FFFFFF"/>
                </a:solidFill>
              </a:ln>
            </p:spPr>
          </p:sp>
          <p:sp>
            <p:nvSpPr>
              <p:cNvPr id="248" name="Rectangle 248"/>
              <p:cNvSpPr/>
              <p:nvPr/>
            </p:nvSpPr>
            <p:spPr>
              <a:xfrm>
                <a:off x="9734550" y="2190750"/>
                <a:ext cx="476250" cy="476250"/>
              </a:xfrm>
              <a:prstGeom prst="rect">
                <a:avLst/>
              </a:prstGeom>
              <a:solidFill>
                <a:srgbClr val="E4B7AF"/>
              </a:solidFill>
              <a:ln w="9525">
                <a:solidFill>
                  <a:srgbClr val="FFFFFF"/>
                </a:solidFill>
              </a:ln>
            </p:spPr>
          </p:sp>
          <p:sp>
            <p:nvSpPr>
              <p:cNvPr id="249" name="Rectangle 249"/>
              <p:cNvSpPr/>
              <p:nvPr/>
            </p:nvSpPr>
            <p:spPr>
              <a:xfrm>
                <a:off x="10210800" y="2190750"/>
                <a:ext cx="476250" cy="476250"/>
              </a:xfrm>
              <a:prstGeom prst="rect">
                <a:avLst/>
              </a:prstGeom>
              <a:solidFill>
                <a:srgbClr val="CE9085"/>
              </a:solidFill>
              <a:ln w="9525">
                <a:solidFill>
                  <a:srgbClr val="FFFFFF"/>
                </a:solidFill>
              </a:ln>
            </p:spPr>
          </p:sp>
          <p:sp>
            <p:nvSpPr>
              <p:cNvPr id="250" name="Rectangle 250"/>
              <p:cNvSpPr/>
              <p:nvPr/>
            </p:nvSpPr>
            <p:spPr>
              <a:xfrm>
                <a:off x="10687050" y="2190750"/>
                <a:ext cx="476250" cy="476250"/>
              </a:xfrm>
              <a:prstGeom prst="rect">
                <a:avLst/>
              </a:prstGeom>
              <a:solidFill>
                <a:srgbClr val="A85C4E"/>
              </a:solidFill>
              <a:ln w="9525">
                <a:solidFill>
                  <a:srgbClr val="FFFFFF"/>
                </a:solidFill>
              </a:ln>
            </p:spPr>
          </p:sp>
          <p:sp>
            <p:nvSpPr>
              <p:cNvPr id="251" name="Rectangle 251"/>
              <p:cNvSpPr/>
              <p:nvPr/>
            </p:nvSpPr>
            <p:spPr>
              <a:xfrm>
                <a:off x="8782050" y="2667000"/>
                <a:ext cx="476250" cy="476250"/>
              </a:xfrm>
              <a:prstGeom prst="rect">
                <a:avLst/>
              </a:prstGeom>
              <a:solidFill>
                <a:srgbClr val="E7F2D8"/>
              </a:solidFill>
              <a:ln w="9525">
                <a:solidFill>
                  <a:srgbClr val="FFFFFF"/>
                </a:solidFill>
              </a:ln>
            </p:spPr>
          </p:sp>
          <p:sp>
            <p:nvSpPr>
              <p:cNvPr id="252" name="Rectangle 252"/>
              <p:cNvSpPr/>
              <p:nvPr/>
            </p:nvSpPr>
            <p:spPr>
              <a:xfrm>
                <a:off x="9258300" y="2667000"/>
                <a:ext cx="476250" cy="476250"/>
              </a:xfrm>
              <a:prstGeom prst="rect">
                <a:avLst/>
              </a:prstGeom>
              <a:solidFill>
                <a:srgbClr val="E7F2D8"/>
              </a:solidFill>
              <a:ln w="9525">
                <a:solidFill>
                  <a:srgbClr val="FFFFFF"/>
                </a:solidFill>
              </a:ln>
            </p:spPr>
          </p:sp>
          <p:sp>
            <p:nvSpPr>
              <p:cNvPr id="253" name="Rectangle 253"/>
              <p:cNvSpPr/>
              <p:nvPr/>
            </p:nvSpPr>
            <p:spPr>
              <a:xfrm>
                <a:off x="9734550" y="2667000"/>
                <a:ext cx="476250" cy="476250"/>
              </a:xfrm>
              <a:prstGeom prst="rect">
                <a:avLst/>
              </a:prstGeom>
              <a:solidFill>
                <a:srgbClr val="D9E8C6"/>
              </a:solidFill>
              <a:ln w="9525">
                <a:solidFill>
                  <a:srgbClr val="FFFFFF"/>
                </a:solidFill>
              </a:ln>
            </p:spPr>
          </p:sp>
          <p:sp>
            <p:nvSpPr>
              <p:cNvPr id="254" name="Rectangle 254"/>
              <p:cNvSpPr/>
              <p:nvPr/>
            </p:nvSpPr>
            <p:spPr>
              <a:xfrm>
                <a:off x="10210800" y="2667000"/>
                <a:ext cx="476250" cy="476250"/>
              </a:xfrm>
              <a:prstGeom prst="rect">
                <a:avLst/>
              </a:prstGeom>
              <a:solidFill>
                <a:srgbClr val="E4B7AF"/>
              </a:solidFill>
              <a:ln w="9525">
                <a:solidFill>
                  <a:srgbClr val="FFFFFF"/>
                </a:solidFill>
              </a:ln>
            </p:spPr>
          </p:sp>
          <p:sp>
            <p:nvSpPr>
              <p:cNvPr id="255" name="Rectangle 255"/>
              <p:cNvSpPr/>
              <p:nvPr/>
            </p:nvSpPr>
            <p:spPr>
              <a:xfrm>
                <a:off x="10687050" y="2667000"/>
                <a:ext cx="476250" cy="476250"/>
              </a:xfrm>
              <a:prstGeom prst="rect">
                <a:avLst/>
              </a:prstGeom>
              <a:solidFill>
                <a:srgbClr val="BE776A"/>
              </a:solidFill>
              <a:ln w="9525">
                <a:solidFill>
                  <a:srgbClr val="FFFFFF"/>
                </a:solidFill>
              </a:ln>
            </p:spPr>
          </p:sp>
          <p:sp>
            <p:nvSpPr>
              <p:cNvPr id="256" name="Rectangle 256"/>
              <p:cNvSpPr/>
              <p:nvPr/>
            </p:nvSpPr>
            <p:spPr>
              <a:xfrm>
                <a:off x="8782050" y="3143250"/>
                <a:ext cx="476250" cy="476250"/>
              </a:xfrm>
              <a:prstGeom prst="rect">
                <a:avLst/>
              </a:prstGeom>
              <a:solidFill>
                <a:srgbClr val="E7F2D8"/>
              </a:solidFill>
              <a:ln w="9525">
                <a:solidFill>
                  <a:srgbClr val="FFFFFF"/>
                </a:solidFill>
              </a:ln>
            </p:spPr>
          </p:sp>
          <p:sp>
            <p:nvSpPr>
              <p:cNvPr id="257" name="Rectangle 257"/>
              <p:cNvSpPr/>
              <p:nvPr/>
            </p:nvSpPr>
            <p:spPr>
              <a:xfrm>
                <a:off x="9258300" y="3143250"/>
                <a:ext cx="476250" cy="476250"/>
              </a:xfrm>
              <a:prstGeom prst="rect">
                <a:avLst/>
              </a:prstGeom>
              <a:solidFill>
                <a:srgbClr val="E7F2D8"/>
              </a:solidFill>
              <a:ln w="9525">
                <a:solidFill>
                  <a:srgbClr val="FFFFFF"/>
                </a:solidFill>
              </a:ln>
            </p:spPr>
          </p:sp>
          <p:sp>
            <p:nvSpPr>
              <p:cNvPr id="258" name="Rectangle 258"/>
              <p:cNvSpPr/>
              <p:nvPr/>
            </p:nvSpPr>
            <p:spPr>
              <a:xfrm>
                <a:off x="9734550" y="3143250"/>
                <a:ext cx="476250" cy="476250"/>
              </a:xfrm>
              <a:prstGeom prst="rect">
                <a:avLst/>
              </a:prstGeom>
              <a:solidFill>
                <a:srgbClr val="E7F2D8"/>
              </a:solidFill>
              <a:ln w="9525">
                <a:solidFill>
                  <a:srgbClr val="FFFFFF"/>
                </a:solidFill>
              </a:ln>
            </p:spPr>
          </p:sp>
          <p:sp>
            <p:nvSpPr>
              <p:cNvPr id="259" name="Rectangle 259"/>
              <p:cNvSpPr/>
              <p:nvPr/>
            </p:nvSpPr>
            <p:spPr>
              <a:xfrm>
                <a:off x="10210800" y="3143250"/>
                <a:ext cx="476250" cy="476250"/>
              </a:xfrm>
              <a:prstGeom prst="rect">
                <a:avLst/>
              </a:prstGeom>
              <a:solidFill>
                <a:srgbClr val="D9E8C6"/>
              </a:solidFill>
              <a:ln w="9525">
                <a:solidFill>
                  <a:srgbClr val="FFFFFF"/>
                </a:solidFill>
              </a:ln>
            </p:spPr>
          </p:sp>
          <p:sp>
            <p:nvSpPr>
              <p:cNvPr id="260" name="Rectangle 260"/>
              <p:cNvSpPr/>
              <p:nvPr/>
            </p:nvSpPr>
            <p:spPr>
              <a:xfrm>
                <a:off x="10687050" y="3143250"/>
                <a:ext cx="476250" cy="476250"/>
              </a:xfrm>
              <a:prstGeom prst="rect">
                <a:avLst/>
              </a:prstGeom>
              <a:solidFill>
                <a:srgbClr val="E4B7AF"/>
              </a:solidFill>
              <a:ln w="9525">
                <a:solidFill>
                  <a:srgbClr val="FFFFFF"/>
                </a:solidFill>
              </a:ln>
            </p:spPr>
          </p:sp>
        </p:grpSp>
        <p:grpSp>
          <p:nvGrpSpPr>
            <p:cNvPr id="272" name="heat-labels"/>
            <p:cNvGrpSpPr/>
            <p:nvPr/>
          </p:nvGrpSpPr>
          <p:grpSpPr>
            <a:xfrm>
              <a:off x="8480108" y="1433512"/>
              <a:ext cx="2550795" cy="2405064"/>
              <a:chOff x="8480108" y="1433512"/>
              <a:chExt cx="2550795" cy="2405064"/>
            </a:xfrm>
          </p:grpSpPr>
          <p:sp>
            <p:nvSpPr>
              <p:cNvPr id="262" name="TextBox 262"/>
              <p:cNvSpPr txBox="1"/>
              <p:nvPr/>
            </p:nvSpPr>
            <p:spPr>
              <a:xfrm>
                <a:off x="8480108" y="1433512"/>
                <a:ext cx="211455" cy="147638"/>
              </a:xfrm>
              <a:prstGeom prst="rect">
                <a:avLst/>
              </a:prstGeom>
              <a:noFill/>
              <a:ln>
                <a:noFill/>
              </a:ln>
            </p:spPr>
            <p:txBody>
              <a:bodyPr wrap="none" lIns="0" tIns="0" rIns="0" bIns="0" anchor="t" anchorCtr="0">
                <a:spAutoFit/>
              </a:bodyPr>
              <a:lstStyle/>
              <a:p>
                <a:pPr algn="r"/>
                <a:r>
                  <a:rPr lang="zh-CN" sz="750" dirty="0">
                    <a:solidFill>
                      <a:srgbClr val="3A4238"/>
                    </a:solidFill>
                    <a:latin typeface="+mn-lt"/>
                    <a:ea typeface="+mn-ea"/>
                    <a:cs typeface="+mn-cs"/>
                  </a:rPr>
                  <a:t>极高</a:t>
                </a:r>
              </a:p>
            </p:txBody>
          </p:sp>
          <p:sp>
            <p:nvSpPr>
              <p:cNvPr id="263" name="TextBox 263"/>
              <p:cNvSpPr txBox="1"/>
              <p:nvPr/>
            </p:nvSpPr>
            <p:spPr>
              <a:xfrm>
                <a:off x="8581072" y="1909762"/>
                <a:ext cx="110490" cy="147638"/>
              </a:xfrm>
              <a:prstGeom prst="rect">
                <a:avLst/>
              </a:prstGeom>
              <a:noFill/>
              <a:ln>
                <a:noFill/>
              </a:ln>
            </p:spPr>
            <p:txBody>
              <a:bodyPr wrap="none" lIns="0" tIns="0" rIns="0" bIns="0" anchor="t" anchorCtr="0">
                <a:spAutoFit/>
              </a:bodyPr>
              <a:lstStyle/>
              <a:p>
                <a:pPr algn="r"/>
                <a:r>
                  <a:rPr lang="zh-CN" sz="750" dirty="0">
                    <a:solidFill>
                      <a:srgbClr val="3A4238"/>
                    </a:solidFill>
                    <a:latin typeface="+mn-lt"/>
                    <a:ea typeface="+mn-ea"/>
                    <a:cs typeface="+mn-cs"/>
                  </a:rPr>
                  <a:t>高</a:t>
                </a:r>
              </a:p>
            </p:txBody>
          </p:sp>
          <p:sp>
            <p:nvSpPr>
              <p:cNvPr id="264" name="TextBox 264"/>
              <p:cNvSpPr txBox="1"/>
              <p:nvPr/>
            </p:nvSpPr>
            <p:spPr>
              <a:xfrm>
                <a:off x="8581072" y="2386012"/>
                <a:ext cx="110490" cy="147638"/>
              </a:xfrm>
              <a:prstGeom prst="rect">
                <a:avLst/>
              </a:prstGeom>
              <a:noFill/>
              <a:ln>
                <a:noFill/>
              </a:ln>
            </p:spPr>
            <p:txBody>
              <a:bodyPr wrap="none" lIns="0" tIns="0" rIns="0" bIns="0" anchor="t" anchorCtr="0">
                <a:spAutoFit/>
              </a:bodyPr>
              <a:lstStyle/>
              <a:p>
                <a:pPr algn="r"/>
                <a:r>
                  <a:rPr lang="zh-CN" sz="750" dirty="0">
                    <a:solidFill>
                      <a:srgbClr val="3A4238"/>
                    </a:solidFill>
                    <a:latin typeface="+mn-lt"/>
                    <a:ea typeface="+mn-ea"/>
                    <a:cs typeface="+mn-cs"/>
                  </a:rPr>
                  <a:t>中</a:t>
                </a:r>
              </a:p>
            </p:txBody>
          </p:sp>
          <p:sp>
            <p:nvSpPr>
              <p:cNvPr id="265" name="TextBox 265"/>
              <p:cNvSpPr txBox="1"/>
              <p:nvPr/>
            </p:nvSpPr>
            <p:spPr>
              <a:xfrm>
                <a:off x="8581072" y="2862262"/>
                <a:ext cx="110490" cy="147638"/>
              </a:xfrm>
              <a:prstGeom prst="rect">
                <a:avLst/>
              </a:prstGeom>
              <a:noFill/>
              <a:ln>
                <a:noFill/>
              </a:ln>
            </p:spPr>
            <p:txBody>
              <a:bodyPr wrap="none" lIns="0" tIns="0" rIns="0" bIns="0" anchor="t" anchorCtr="0">
                <a:spAutoFit/>
              </a:bodyPr>
              <a:lstStyle/>
              <a:p>
                <a:pPr algn="r"/>
                <a:r>
                  <a:rPr lang="zh-CN" sz="750" dirty="0">
                    <a:solidFill>
                      <a:srgbClr val="3A4238"/>
                    </a:solidFill>
                    <a:latin typeface="+mn-lt"/>
                    <a:ea typeface="+mn-ea"/>
                    <a:cs typeface="+mn-cs"/>
                  </a:rPr>
                  <a:t>低</a:t>
                </a:r>
              </a:p>
            </p:txBody>
          </p:sp>
          <p:sp>
            <p:nvSpPr>
              <p:cNvPr id="266" name="TextBox 266"/>
              <p:cNvSpPr txBox="1"/>
              <p:nvPr/>
            </p:nvSpPr>
            <p:spPr>
              <a:xfrm>
                <a:off x="8480108" y="3338512"/>
                <a:ext cx="211455" cy="147638"/>
              </a:xfrm>
              <a:prstGeom prst="rect">
                <a:avLst/>
              </a:prstGeom>
              <a:noFill/>
              <a:ln>
                <a:noFill/>
              </a:ln>
            </p:spPr>
            <p:txBody>
              <a:bodyPr wrap="none" lIns="0" tIns="0" rIns="0" bIns="0" anchor="t" anchorCtr="0">
                <a:spAutoFit/>
              </a:bodyPr>
              <a:lstStyle/>
              <a:p>
                <a:pPr algn="r"/>
                <a:r>
                  <a:rPr lang="zh-CN" sz="750" dirty="0">
                    <a:solidFill>
                      <a:srgbClr val="3A4238"/>
                    </a:solidFill>
                    <a:latin typeface="+mn-lt"/>
                    <a:ea typeface="+mn-ea"/>
                    <a:cs typeface="+mn-cs"/>
                  </a:rPr>
                  <a:t>很低</a:t>
                </a:r>
              </a:p>
            </p:txBody>
          </p:sp>
          <p:sp>
            <p:nvSpPr>
              <p:cNvPr id="267" name="TextBox 267"/>
              <p:cNvSpPr txBox="1"/>
              <p:nvPr/>
            </p:nvSpPr>
            <p:spPr>
              <a:xfrm>
                <a:off x="8914448" y="3690938"/>
                <a:ext cx="211455"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很低</a:t>
                </a:r>
              </a:p>
            </p:txBody>
          </p:sp>
          <p:sp>
            <p:nvSpPr>
              <p:cNvPr id="268" name="TextBox 268"/>
              <p:cNvSpPr txBox="1"/>
              <p:nvPr/>
            </p:nvSpPr>
            <p:spPr>
              <a:xfrm>
                <a:off x="9441180" y="3690938"/>
                <a:ext cx="110490"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低</a:t>
                </a:r>
              </a:p>
            </p:txBody>
          </p:sp>
          <p:sp>
            <p:nvSpPr>
              <p:cNvPr id="269" name="TextBox 269"/>
              <p:cNvSpPr txBox="1"/>
              <p:nvPr/>
            </p:nvSpPr>
            <p:spPr>
              <a:xfrm>
                <a:off x="9917430" y="3690938"/>
                <a:ext cx="110490"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中</a:t>
                </a:r>
              </a:p>
            </p:txBody>
          </p:sp>
          <p:sp>
            <p:nvSpPr>
              <p:cNvPr id="270" name="TextBox 270"/>
              <p:cNvSpPr txBox="1"/>
              <p:nvPr/>
            </p:nvSpPr>
            <p:spPr>
              <a:xfrm>
                <a:off x="10393680" y="3690938"/>
                <a:ext cx="110490"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高</a:t>
                </a:r>
              </a:p>
            </p:txBody>
          </p:sp>
          <p:sp>
            <p:nvSpPr>
              <p:cNvPr id="271" name="TextBox 271"/>
              <p:cNvSpPr txBox="1"/>
              <p:nvPr/>
            </p:nvSpPr>
            <p:spPr>
              <a:xfrm>
                <a:off x="10819448" y="3690938"/>
                <a:ext cx="211455" cy="147638"/>
              </a:xfrm>
              <a:prstGeom prst="rect">
                <a:avLst/>
              </a:prstGeom>
              <a:noFill/>
              <a:ln>
                <a:noFill/>
              </a:ln>
            </p:spPr>
            <p:txBody>
              <a:bodyPr wrap="none" lIns="0" tIns="0" rIns="0" bIns="0" anchor="t" anchorCtr="0">
                <a:spAutoFit/>
              </a:bodyPr>
              <a:lstStyle/>
              <a:p>
                <a:pPr algn="ctr"/>
                <a:r>
                  <a:rPr lang="zh-CN" sz="750" dirty="0">
                    <a:solidFill>
                      <a:srgbClr val="3A4238"/>
                    </a:solidFill>
                    <a:latin typeface="+mn-lt"/>
                    <a:ea typeface="+mn-ea"/>
                    <a:cs typeface="+mn-cs"/>
                  </a:rPr>
                  <a:t>很高</a:t>
                </a:r>
              </a:p>
            </p:txBody>
          </p:sp>
        </p:grpSp>
        <p:grpSp>
          <p:nvGrpSpPr>
            <p:cNvPr id="279" name="heat-legend"/>
            <p:cNvGrpSpPr/>
            <p:nvPr/>
          </p:nvGrpSpPr>
          <p:grpSpPr>
            <a:xfrm>
              <a:off x="8763000" y="4248150"/>
              <a:ext cx="2710854" cy="177880"/>
              <a:chOff x="8763000" y="4248150"/>
              <a:chExt cx="2710854" cy="177880"/>
            </a:xfrm>
          </p:grpSpPr>
          <p:sp>
            <p:nvSpPr>
              <p:cNvPr id="273" name="Rectangle 273"/>
              <p:cNvSpPr/>
              <p:nvPr/>
            </p:nvSpPr>
            <p:spPr>
              <a:xfrm>
                <a:off x="8763000" y="4248150"/>
                <a:ext cx="247650" cy="152400"/>
              </a:xfrm>
              <a:prstGeom prst="rect">
                <a:avLst/>
              </a:prstGeom>
              <a:solidFill>
                <a:srgbClr val="E7F2D8"/>
              </a:solidFill>
              <a:ln>
                <a:noFill/>
              </a:ln>
            </p:spPr>
          </p:sp>
          <p:sp>
            <p:nvSpPr>
              <p:cNvPr id="274" name="TextBox 274"/>
              <p:cNvSpPr txBox="1"/>
              <p:nvPr/>
            </p:nvSpPr>
            <p:spPr>
              <a:xfrm>
                <a:off x="9082088" y="4285536"/>
                <a:ext cx="296266" cy="140494"/>
              </a:xfrm>
              <a:prstGeom prst="rect">
                <a:avLst/>
              </a:prstGeom>
              <a:noFill/>
              <a:ln>
                <a:noFill/>
              </a:ln>
            </p:spPr>
            <p:txBody>
              <a:bodyPr wrap="none" lIns="0" tIns="0" rIns="0" bIns="0" anchor="t" anchorCtr="0">
                <a:spAutoFit/>
              </a:bodyPr>
              <a:lstStyle/>
              <a:p>
                <a:pPr algn="l"/>
                <a:r>
                  <a:rPr lang="zh-CN" sz="710" dirty="0">
                    <a:solidFill>
                      <a:srgbClr val="3A4238"/>
                    </a:solidFill>
                    <a:latin typeface="+mn-lt"/>
                    <a:ea typeface="+mn-ea"/>
                    <a:cs typeface="+mn-cs"/>
                  </a:rPr>
                  <a:t>低风险</a:t>
                </a:r>
              </a:p>
            </p:txBody>
          </p:sp>
          <p:sp>
            <p:nvSpPr>
              <p:cNvPr id="275" name="Rectangle 275"/>
              <p:cNvSpPr/>
              <p:nvPr/>
            </p:nvSpPr>
            <p:spPr>
              <a:xfrm>
                <a:off x="9810750" y="4248150"/>
                <a:ext cx="247650" cy="152400"/>
              </a:xfrm>
              <a:prstGeom prst="rect">
                <a:avLst/>
              </a:prstGeom>
              <a:solidFill>
                <a:srgbClr val="CE9085"/>
              </a:solidFill>
              <a:ln>
                <a:noFill/>
              </a:ln>
            </p:spPr>
          </p:sp>
          <p:sp>
            <p:nvSpPr>
              <p:cNvPr id="276" name="TextBox 276"/>
              <p:cNvSpPr txBox="1"/>
              <p:nvPr/>
            </p:nvSpPr>
            <p:spPr>
              <a:xfrm>
                <a:off x="10129838" y="4285536"/>
                <a:ext cx="296266" cy="140494"/>
              </a:xfrm>
              <a:prstGeom prst="rect">
                <a:avLst/>
              </a:prstGeom>
              <a:noFill/>
              <a:ln>
                <a:noFill/>
              </a:ln>
            </p:spPr>
            <p:txBody>
              <a:bodyPr wrap="none" lIns="0" tIns="0" rIns="0" bIns="0" anchor="t" anchorCtr="0">
                <a:spAutoFit/>
              </a:bodyPr>
              <a:lstStyle/>
              <a:p>
                <a:pPr algn="l"/>
                <a:r>
                  <a:rPr lang="zh-CN" sz="710" dirty="0">
                    <a:solidFill>
                      <a:srgbClr val="3A4238"/>
                    </a:solidFill>
                    <a:latin typeface="+mn-lt"/>
                    <a:ea typeface="+mn-ea"/>
                    <a:cs typeface="+mn-cs"/>
                  </a:rPr>
                  <a:t>中风险</a:t>
                </a:r>
              </a:p>
            </p:txBody>
          </p:sp>
          <p:sp>
            <p:nvSpPr>
              <p:cNvPr id="277" name="Rectangle 277"/>
              <p:cNvSpPr/>
              <p:nvPr/>
            </p:nvSpPr>
            <p:spPr>
              <a:xfrm>
                <a:off x="10858500" y="4248150"/>
                <a:ext cx="247650" cy="152400"/>
              </a:xfrm>
              <a:prstGeom prst="rect">
                <a:avLst/>
              </a:prstGeom>
              <a:solidFill>
                <a:srgbClr val="643228"/>
              </a:solidFill>
              <a:ln>
                <a:noFill/>
              </a:ln>
            </p:spPr>
          </p:sp>
          <p:sp>
            <p:nvSpPr>
              <p:cNvPr id="278" name="TextBox 278"/>
              <p:cNvSpPr txBox="1"/>
              <p:nvPr/>
            </p:nvSpPr>
            <p:spPr>
              <a:xfrm>
                <a:off x="11177588" y="4285536"/>
                <a:ext cx="296266" cy="140494"/>
              </a:xfrm>
              <a:prstGeom prst="rect">
                <a:avLst/>
              </a:prstGeom>
              <a:noFill/>
              <a:ln>
                <a:noFill/>
              </a:ln>
            </p:spPr>
            <p:txBody>
              <a:bodyPr wrap="none" lIns="0" tIns="0" rIns="0" bIns="0" anchor="t" anchorCtr="0">
                <a:spAutoFit/>
              </a:bodyPr>
              <a:lstStyle/>
              <a:p>
                <a:pPr algn="l"/>
                <a:r>
                  <a:rPr lang="zh-CN" sz="710" dirty="0">
                    <a:solidFill>
                      <a:srgbClr val="3A4238"/>
                    </a:solidFill>
                    <a:latin typeface="+mn-lt"/>
                    <a:ea typeface="+mn-ea"/>
                    <a:cs typeface="+mn-cs"/>
                  </a:rPr>
                  <a:t>高风险</a:t>
                </a:r>
              </a:p>
            </p:txBody>
          </p:sp>
        </p:grpSp>
      </p:grpSp>
      <p:grpSp>
        <p:nvGrpSpPr>
          <p:cNvPr id="325" name="baseline-kpis"/>
          <p:cNvGrpSpPr/>
          <p:nvPr/>
        </p:nvGrpSpPr>
        <p:grpSpPr>
          <a:xfrm>
            <a:off x="228600" y="4876800"/>
            <a:ext cx="11734800" cy="1847850"/>
            <a:chOff x="228600" y="4876800"/>
            <a:chExt cx="11734800" cy="1847850"/>
          </a:xfrm>
        </p:grpSpPr>
        <p:sp>
          <p:nvSpPr>
            <p:cNvPr id="281" name="Rectangle 281"/>
            <p:cNvSpPr/>
            <p:nvPr/>
          </p:nvSpPr>
          <p:spPr>
            <a:xfrm>
              <a:off x="228600" y="4876800"/>
              <a:ext cx="11734800" cy="1847850"/>
            </a:xfrm>
            <a:prstGeom prst="roundRect">
              <a:avLst>
                <a:gd name="adj" fmla="val 6186"/>
              </a:avLst>
            </a:prstGeom>
            <a:solidFill>
              <a:srgbClr val="F4F8EC"/>
            </a:solidFill>
            <a:ln w="9525">
              <a:solidFill>
                <a:srgbClr val="D9E8C6"/>
              </a:solidFill>
            </a:ln>
          </p:spPr>
        </p:sp>
        <p:sp>
          <p:nvSpPr>
            <p:cNvPr id="282" name="Rectangle 282"/>
            <p:cNvSpPr/>
            <p:nvPr/>
          </p:nvSpPr>
          <p:spPr>
            <a:xfrm>
              <a:off x="381000" y="5334000"/>
              <a:ext cx="914400" cy="933450"/>
            </a:xfrm>
            <a:prstGeom prst="roundRect">
              <a:avLst>
                <a:gd name="adj" fmla="val 8333"/>
              </a:avLst>
            </a:prstGeom>
            <a:solidFill>
              <a:srgbClr val="42140B"/>
            </a:solidFill>
            <a:ln>
              <a:noFill/>
            </a:ln>
          </p:spPr>
        </p:sp>
        <p:sp>
          <p:nvSpPr>
            <p:cNvPr id="283" name="TextBox 283"/>
            <p:cNvSpPr txBox="1"/>
            <p:nvPr/>
          </p:nvSpPr>
          <p:spPr>
            <a:xfrm>
              <a:off x="569392" y="56097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基线指标</a:t>
              </a:r>
            </a:p>
          </p:txBody>
        </p:sp>
        <p:sp>
          <p:nvSpPr>
            <p:cNvPr id="284" name="TextBox 284"/>
            <p:cNvSpPr txBox="1"/>
            <p:nvPr/>
          </p:nvSpPr>
          <p:spPr>
            <a:xfrm>
              <a:off x="530542" y="5843588"/>
              <a:ext cx="615315" cy="147638"/>
            </a:xfrm>
            <a:prstGeom prst="rect">
              <a:avLst/>
            </a:prstGeom>
            <a:noFill/>
            <a:ln>
              <a:noFill/>
            </a:ln>
          </p:spPr>
          <p:txBody>
            <a:bodyPr wrap="none" lIns="0" tIns="0" rIns="0" bIns="0" anchor="t" anchorCtr="0">
              <a:spAutoFit/>
            </a:bodyPr>
            <a:lstStyle/>
            <a:p>
              <a:pPr algn="ctr"/>
              <a:r>
                <a:rPr lang="zh-CN" sz="750" dirty="0">
                  <a:solidFill>
                    <a:srgbClr val="E4B7AF"/>
                  </a:solidFill>
                  <a:latin typeface="+mn-lt"/>
                  <a:ea typeface="+mn-ea"/>
                  <a:cs typeface="+mn-cs"/>
                </a:rPr>
                <a:t>（示例口径）</a:t>
              </a:r>
            </a:p>
          </p:txBody>
        </p:sp>
        <p:grpSp>
          <p:nvGrpSpPr>
            <p:cNvPr id="291" name="kpi-repeat"/>
            <p:cNvGrpSpPr/>
            <p:nvPr/>
          </p:nvGrpSpPr>
          <p:grpSpPr>
            <a:xfrm>
              <a:off x="1602581" y="5236845"/>
              <a:ext cx="1633736" cy="922735"/>
              <a:chOff x="1602581" y="5236845"/>
              <a:chExt cx="1633736" cy="922735"/>
            </a:xfrm>
          </p:grpSpPr>
          <p:grpSp>
            <p:nvGrpSpPr>
              <p:cNvPr id="287" name="Group 287"/>
              <p:cNvGrpSpPr/>
              <p:nvPr/>
            </p:nvGrpSpPr>
            <p:grpSpPr>
              <a:xfrm>
                <a:off x="1602581" y="5260181"/>
                <a:ext cx="242889" cy="242889"/>
                <a:chOff x="1602581" y="5260181"/>
                <a:chExt cx="242889" cy="242889"/>
              </a:xfrm>
            </p:grpSpPr>
            <p:sp>
              <p:nvSpPr>
                <p:cNvPr id="285" name="Freeform 285"/>
                <p:cNvSpPr/>
                <p:nvPr/>
              </p:nvSpPr>
              <p:spPr>
                <a:xfrm>
                  <a:off x="1602581" y="5260181"/>
                  <a:ext cx="188913" cy="188913"/>
                </a:xfrm>
                <a:custGeom>
                  <a:avLst/>
                  <a:gdLst/>
                  <a:ahLst/>
                  <a:cxnLst/>
                  <a:rect l="l" t="t" r="r" b="b"/>
                  <a:pathLst>
                    <a:path w="188913" h="188913">
                      <a:moveTo>
                        <a:pt x="0" y="94456"/>
                      </a:moveTo>
                      <a:cubicBezTo>
                        <a:pt x="0" y="146623"/>
                        <a:pt x="42290" y="188913"/>
                        <a:pt x="94456" y="188913"/>
                      </a:cubicBezTo>
                      <a:cubicBezTo>
                        <a:pt x="146623" y="188913"/>
                        <a:pt x="188913" y="146623"/>
                        <a:pt x="188913" y="94456"/>
                      </a:cubicBezTo>
                      <a:cubicBezTo>
                        <a:pt x="188913" y="42290"/>
                        <a:pt x="146623" y="0"/>
                        <a:pt x="94456" y="0"/>
                      </a:cubicBezTo>
                      <a:cubicBezTo>
                        <a:pt x="42290" y="0"/>
                        <a:pt x="0" y="42290"/>
                        <a:pt x="0" y="94456"/>
                      </a:cubicBezTo>
                    </a:path>
                  </a:pathLst>
                </a:custGeom>
                <a:noFill/>
                <a:ln w="26988">
                  <a:solidFill>
                    <a:srgbClr val="7C3B2F"/>
                  </a:solidFill>
                </a:ln>
              </p:spPr>
            </p:sp>
            <p:sp>
              <p:nvSpPr>
                <p:cNvPr id="286" name="Freeform 286"/>
                <p:cNvSpPr/>
                <p:nvPr/>
              </p:nvSpPr>
              <p:spPr>
                <a:xfrm>
                  <a:off x="1764507" y="5422107"/>
                  <a:ext cx="80963" cy="80963"/>
                </a:xfrm>
                <a:custGeom>
                  <a:avLst/>
                  <a:gdLst/>
                  <a:ahLst/>
                  <a:cxnLst/>
                  <a:rect l="l" t="t" r="r" b="b"/>
                  <a:pathLst>
                    <a:path w="80963" h="80963">
                      <a:moveTo>
                        <a:pt x="80963" y="80963"/>
                      </a:moveTo>
                      <a:lnTo>
                        <a:pt x="0" y="0"/>
                      </a:lnTo>
                    </a:path>
                  </a:pathLst>
                </a:custGeom>
                <a:noFill/>
                <a:ln w="26988">
                  <a:solidFill>
                    <a:srgbClr val="7C3B2F"/>
                  </a:solidFill>
                </a:ln>
              </p:spPr>
            </p:sp>
          </p:grpSp>
          <p:sp>
            <p:nvSpPr>
              <p:cNvPr id="288" name="TextBox 288"/>
              <p:cNvSpPr txBox="1"/>
              <p:nvPr/>
            </p:nvSpPr>
            <p:spPr>
              <a:xfrm>
                <a:off x="2033588" y="5236845"/>
                <a:ext cx="1202729"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 xml:space="preserve">重复检索率 </a:t>
                </a:r>
                <a:r>
                  <a:rPr lang="zh-CN" sz="680" dirty="0">
                    <a:solidFill>
                      <a:srgbClr val="66705F"/>
                    </a:solidFill>
                    <a:latin typeface="+mn-lt"/>
                    <a:ea typeface="+mn-ea"/>
                    <a:cs typeface="+mn-cs"/>
                  </a:rPr>
                  <a:t>（示例口径）</a:t>
                </a:r>
              </a:p>
            </p:txBody>
          </p:sp>
          <p:sp>
            <p:nvSpPr>
              <p:cNvPr id="289" name="TextBox 289"/>
              <p:cNvSpPr txBox="1"/>
              <p:nvPr/>
            </p:nvSpPr>
            <p:spPr>
              <a:xfrm>
                <a:off x="2029206" y="5482590"/>
                <a:ext cx="768862" cy="352044"/>
              </a:xfrm>
              <a:prstGeom prst="rect">
                <a:avLst/>
              </a:prstGeom>
              <a:noFill/>
              <a:ln>
                <a:noFill/>
              </a:ln>
            </p:spPr>
            <p:txBody>
              <a:bodyPr wrap="none" lIns="0" tIns="0" rIns="0" bIns="0" anchor="t" anchorCtr="0">
                <a:spAutoFit/>
              </a:bodyPr>
              <a:lstStyle/>
              <a:p>
                <a:pPr algn="l"/>
                <a:r>
                  <a:rPr lang="zh-CN" sz="1800" b="1" dirty="0">
                    <a:solidFill>
                      <a:srgbClr val="7C3B2F"/>
                    </a:solidFill>
                    <a:latin typeface="+mn-lt"/>
                    <a:ea typeface="+mn-ea"/>
                    <a:cs typeface="+mn-cs"/>
                  </a:rPr>
                  <a:t>32%​​</a:t>
                </a:r>
              </a:p>
            </p:txBody>
          </p:sp>
          <p:sp>
            <p:nvSpPr>
              <p:cNvPr id="290" name="TextBox 290"/>
              <p:cNvSpPr txBox="1"/>
              <p:nvPr/>
            </p:nvSpPr>
            <p:spPr>
              <a:xfrm>
                <a:off x="2033588" y="5866686"/>
                <a:ext cx="82105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6705F"/>
                    </a:solidFill>
                    <a:latin typeface="+mn-lt"/>
                    <a:ea typeface="+mn-ea"/>
                    <a:cs typeface="+mn-cs"/>
                  </a:rPr>
                  <a:t>员工在相似关键词下</a:t>
                </a:r>
                <a:br/>
                <a:r>
                  <a:rPr lang="zh-CN" sz="710" dirty="0">
                    <a:solidFill>
                      <a:srgbClr val="66705F"/>
                    </a:solidFill>
                    <a:latin typeface="+mn-lt"/>
                    <a:ea typeface="+mn-ea"/>
                    <a:cs typeface="+mn-cs"/>
                  </a:rPr>
                  <a:t>多次检索的比例</a:t>
                </a:r>
              </a:p>
            </p:txBody>
          </p:sp>
        </p:grpSp>
        <p:sp>
          <p:nvSpPr>
            <p:cNvPr id="292" name="Line 292"/>
            <p:cNvSpPr/>
            <p:nvPr/>
          </p:nvSpPr>
          <p:spPr>
            <a:xfrm>
              <a:off x="3962400" y="5143500"/>
              <a:ext cx="9525" cy="1333500"/>
            </a:xfrm>
            <a:custGeom>
              <a:avLst/>
              <a:gdLst/>
              <a:ahLst/>
              <a:cxnLst/>
              <a:rect l="l" t="t" r="r" b="b"/>
              <a:pathLst>
                <a:path w="9525" h="1333500">
                  <a:moveTo>
                    <a:pt x="0" y="0"/>
                  </a:moveTo>
                  <a:lnTo>
                    <a:pt x="0" y="1333500"/>
                  </a:lnTo>
                </a:path>
              </a:pathLst>
            </a:custGeom>
            <a:noFill/>
            <a:ln w="9525">
              <a:solidFill>
                <a:srgbClr val="D9E8C6"/>
              </a:solidFill>
            </a:ln>
          </p:spPr>
        </p:sp>
        <p:grpSp>
          <p:nvGrpSpPr>
            <p:cNvPr id="303" name="kpi-expired"/>
            <p:cNvGrpSpPr/>
            <p:nvPr/>
          </p:nvGrpSpPr>
          <p:grpSpPr>
            <a:xfrm>
              <a:off x="4244975" y="5236845"/>
              <a:ext cx="1499084" cy="922735"/>
              <a:chOff x="4244975" y="5236845"/>
              <a:chExt cx="1499084" cy="922735"/>
            </a:xfrm>
          </p:grpSpPr>
          <p:grpSp>
            <p:nvGrpSpPr>
              <p:cNvPr id="299" name="Group 299"/>
              <p:cNvGrpSpPr/>
              <p:nvPr/>
            </p:nvGrpSpPr>
            <p:grpSpPr>
              <a:xfrm>
                <a:off x="4244975" y="5260181"/>
                <a:ext cx="215901" cy="242889"/>
                <a:chOff x="4244975" y="5260181"/>
                <a:chExt cx="215901" cy="242889"/>
              </a:xfrm>
            </p:grpSpPr>
            <p:sp>
              <p:nvSpPr>
                <p:cNvPr id="293" name="Freeform 293"/>
                <p:cNvSpPr/>
                <p:nvPr/>
              </p:nvSpPr>
              <p:spPr>
                <a:xfrm>
                  <a:off x="4244975" y="5287169"/>
                  <a:ext cx="215901" cy="215901"/>
                </a:xfrm>
                <a:custGeom>
                  <a:avLst/>
                  <a:gdLst/>
                  <a:ahLst/>
                  <a:cxnLst/>
                  <a:rect l="l" t="t" r="r" b="b"/>
                  <a:pathLst>
                    <a:path w="215901" h="215901">
                      <a:moveTo>
                        <a:pt x="0" y="26988"/>
                      </a:moveTo>
                      <a:cubicBezTo>
                        <a:pt x="0" y="12083"/>
                        <a:pt x="12083" y="0"/>
                        <a:pt x="26988" y="0"/>
                      </a:cubicBezTo>
                      <a:lnTo>
                        <a:pt x="188913" y="0"/>
                      </a:lnTo>
                      <a:cubicBezTo>
                        <a:pt x="203818" y="0"/>
                        <a:pt x="215901" y="12083"/>
                        <a:pt x="215901" y="26988"/>
                      </a:cubicBezTo>
                      <a:lnTo>
                        <a:pt x="215901" y="188913"/>
                      </a:lnTo>
                      <a:cubicBezTo>
                        <a:pt x="215901" y="203818"/>
                        <a:pt x="203818" y="215901"/>
                        <a:pt x="188913" y="215901"/>
                      </a:cubicBezTo>
                      <a:lnTo>
                        <a:pt x="26988" y="215901"/>
                      </a:lnTo>
                      <a:cubicBezTo>
                        <a:pt x="12083" y="215901"/>
                        <a:pt x="0" y="203818"/>
                        <a:pt x="0" y="188913"/>
                      </a:cubicBezTo>
                      <a:lnTo>
                        <a:pt x="0" y="26988"/>
                      </a:lnTo>
                    </a:path>
                  </a:pathLst>
                </a:custGeom>
                <a:noFill/>
                <a:ln w="26988">
                  <a:solidFill>
                    <a:srgbClr val="7C3B2F"/>
                  </a:solidFill>
                </a:ln>
              </p:spPr>
            </p:sp>
            <p:sp>
              <p:nvSpPr>
                <p:cNvPr id="294" name="Freeform 294"/>
                <p:cNvSpPr/>
                <p:nvPr/>
              </p:nvSpPr>
              <p:spPr>
                <a:xfrm>
                  <a:off x="4406901" y="5260181"/>
                  <a:ext cx="9525" cy="53975"/>
                </a:xfrm>
                <a:custGeom>
                  <a:avLst/>
                  <a:gdLst/>
                  <a:ahLst/>
                  <a:cxnLst/>
                  <a:rect l="l" t="t" r="r" b="b"/>
                  <a:pathLst>
                    <a:path w="9525" h="53975">
                      <a:moveTo>
                        <a:pt x="0" y="0"/>
                      </a:moveTo>
                      <a:lnTo>
                        <a:pt x="0" y="53975"/>
                      </a:lnTo>
                    </a:path>
                  </a:pathLst>
                </a:custGeom>
                <a:noFill/>
                <a:ln w="26988">
                  <a:solidFill>
                    <a:srgbClr val="7C3B2F"/>
                  </a:solidFill>
                </a:ln>
              </p:spPr>
            </p:sp>
            <p:sp>
              <p:nvSpPr>
                <p:cNvPr id="295" name="Freeform 295"/>
                <p:cNvSpPr/>
                <p:nvPr/>
              </p:nvSpPr>
              <p:spPr>
                <a:xfrm>
                  <a:off x="4298950" y="5260181"/>
                  <a:ext cx="9525" cy="53975"/>
                </a:xfrm>
                <a:custGeom>
                  <a:avLst/>
                  <a:gdLst/>
                  <a:ahLst/>
                  <a:cxnLst/>
                  <a:rect l="l" t="t" r="r" b="b"/>
                  <a:pathLst>
                    <a:path w="9525" h="53975">
                      <a:moveTo>
                        <a:pt x="0" y="0"/>
                      </a:moveTo>
                      <a:lnTo>
                        <a:pt x="0" y="53975"/>
                      </a:lnTo>
                    </a:path>
                  </a:pathLst>
                </a:custGeom>
                <a:noFill/>
                <a:ln w="26988">
                  <a:solidFill>
                    <a:srgbClr val="7C3B2F"/>
                  </a:solidFill>
                </a:ln>
              </p:spPr>
            </p:sp>
            <p:sp>
              <p:nvSpPr>
                <p:cNvPr id="296" name="Freeform 296"/>
                <p:cNvSpPr/>
                <p:nvPr/>
              </p:nvSpPr>
              <p:spPr>
                <a:xfrm>
                  <a:off x="4244975" y="5368132"/>
                  <a:ext cx="215901" cy="9525"/>
                </a:xfrm>
                <a:custGeom>
                  <a:avLst/>
                  <a:gdLst/>
                  <a:ahLst/>
                  <a:cxnLst/>
                  <a:rect l="l" t="t" r="r" b="b"/>
                  <a:pathLst>
                    <a:path w="215901" h="9525">
                      <a:moveTo>
                        <a:pt x="0" y="0"/>
                      </a:moveTo>
                      <a:lnTo>
                        <a:pt x="215901" y="0"/>
                      </a:lnTo>
                    </a:path>
                  </a:pathLst>
                </a:custGeom>
                <a:noFill/>
                <a:ln w="26988">
                  <a:solidFill>
                    <a:srgbClr val="7C3B2F"/>
                  </a:solidFill>
                </a:ln>
              </p:spPr>
            </p:sp>
            <p:sp>
              <p:nvSpPr>
                <p:cNvPr id="297" name="Freeform 297"/>
                <p:cNvSpPr/>
                <p:nvPr/>
              </p:nvSpPr>
              <p:spPr>
                <a:xfrm>
                  <a:off x="4339432" y="5422107"/>
                  <a:ext cx="13494" cy="9525"/>
                </a:xfrm>
                <a:custGeom>
                  <a:avLst/>
                  <a:gdLst/>
                  <a:ahLst/>
                  <a:cxnLst/>
                  <a:rect l="l" t="t" r="r" b="b"/>
                  <a:pathLst>
                    <a:path w="13494" h="9525">
                      <a:moveTo>
                        <a:pt x="0" y="0"/>
                      </a:moveTo>
                      <a:lnTo>
                        <a:pt x="13494" y="0"/>
                      </a:lnTo>
                    </a:path>
                  </a:pathLst>
                </a:custGeom>
                <a:noFill/>
                <a:ln w="26988">
                  <a:solidFill>
                    <a:srgbClr val="7C3B2F"/>
                  </a:solidFill>
                </a:ln>
              </p:spPr>
            </p:sp>
            <p:sp>
              <p:nvSpPr>
                <p:cNvPr id="298" name="Freeform 298"/>
                <p:cNvSpPr/>
                <p:nvPr/>
              </p:nvSpPr>
              <p:spPr>
                <a:xfrm>
                  <a:off x="4352925" y="5422107"/>
                  <a:ext cx="9525" cy="40481"/>
                </a:xfrm>
                <a:custGeom>
                  <a:avLst/>
                  <a:gdLst/>
                  <a:ahLst/>
                  <a:cxnLst/>
                  <a:rect l="l" t="t" r="r" b="b"/>
                  <a:pathLst>
                    <a:path w="9525" h="40481">
                      <a:moveTo>
                        <a:pt x="0" y="0"/>
                      </a:moveTo>
                      <a:lnTo>
                        <a:pt x="0" y="40481"/>
                      </a:lnTo>
                    </a:path>
                  </a:pathLst>
                </a:custGeom>
                <a:noFill/>
                <a:ln w="26988">
                  <a:solidFill>
                    <a:srgbClr val="7C3B2F"/>
                  </a:solidFill>
                </a:ln>
              </p:spPr>
            </p:sp>
          </p:grpSp>
          <p:sp>
            <p:nvSpPr>
              <p:cNvPr id="300" name="TextBox 300"/>
              <p:cNvSpPr txBox="1"/>
              <p:nvPr/>
            </p:nvSpPr>
            <p:spPr>
              <a:xfrm>
                <a:off x="4662488" y="5236845"/>
                <a:ext cx="1081571"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 xml:space="preserve">过期内容 </a:t>
                </a:r>
                <a:r>
                  <a:rPr lang="zh-CN" sz="680" dirty="0">
                    <a:solidFill>
                      <a:srgbClr val="66705F"/>
                    </a:solidFill>
                    <a:latin typeface="+mn-lt"/>
                    <a:ea typeface="+mn-ea"/>
                    <a:cs typeface="+mn-cs"/>
                  </a:rPr>
                  <a:t>（示例口径）</a:t>
                </a:r>
              </a:p>
            </p:txBody>
          </p:sp>
          <p:sp>
            <p:nvSpPr>
              <p:cNvPr id="301" name="TextBox 301"/>
              <p:cNvSpPr txBox="1"/>
              <p:nvPr/>
            </p:nvSpPr>
            <p:spPr>
              <a:xfrm>
                <a:off x="4658106" y="5482590"/>
                <a:ext cx="768862" cy="352044"/>
              </a:xfrm>
              <a:prstGeom prst="rect">
                <a:avLst/>
              </a:prstGeom>
              <a:noFill/>
              <a:ln>
                <a:noFill/>
              </a:ln>
            </p:spPr>
            <p:txBody>
              <a:bodyPr wrap="none" lIns="0" tIns="0" rIns="0" bIns="0" anchor="t" anchorCtr="0">
                <a:spAutoFit/>
              </a:bodyPr>
              <a:lstStyle/>
              <a:p>
                <a:pPr algn="l"/>
                <a:r>
                  <a:rPr lang="zh-CN" sz="1800" b="1" dirty="0">
                    <a:solidFill>
                      <a:srgbClr val="7C3B2F"/>
                    </a:solidFill>
                    <a:latin typeface="+mn-lt"/>
                    <a:ea typeface="+mn-ea"/>
                    <a:cs typeface="+mn-cs"/>
                  </a:rPr>
                  <a:t>28%​​</a:t>
                </a:r>
              </a:p>
            </p:txBody>
          </p:sp>
          <p:sp>
            <p:nvSpPr>
              <p:cNvPr id="302" name="TextBox 302"/>
              <p:cNvSpPr txBox="1"/>
              <p:nvPr/>
            </p:nvSpPr>
            <p:spPr>
              <a:xfrm>
                <a:off x="4662488" y="5866686"/>
                <a:ext cx="100139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6705F"/>
                    </a:solidFill>
                    <a:latin typeface="+mn-lt"/>
                    <a:ea typeface="+mn-ea"/>
                    <a:cs typeface="+mn-cs"/>
                  </a:rPr>
                  <a:t>超过有效期或未及时更新</a:t>
                </a:r>
                <a:br/>
                <a:r>
                  <a:rPr lang="zh-CN" sz="710" dirty="0">
                    <a:solidFill>
                      <a:srgbClr val="66705F"/>
                    </a:solidFill>
                    <a:latin typeface="+mn-lt"/>
                    <a:ea typeface="+mn-ea"/>
                    <a:cs typeface="+mn-cs"/>
                  </a:rPr>
                  <a:t>的内容占比</a:t>
                </a:r>
              </a:p>
            </p:txBody>
          </p:sp>
        </p:grpSp>
        <p:sp>
          <p:nvSpPr>
            <p:cNvPr id="304" name="Line 304"/>
            <p:cNvSpPr/>
            <p:nvPr/>
          </p:nvSpPr>
          <p:spPr>
            <a:xfrm>
              <a:off x="6667500" y="5143500"/>
              <a:ext cx="9525" cy="1333500"/>
            </a:xfrm>
            <a:custGeom>
              <a:avLst/>
              <a:gdLst/>
              <a:ahLst/>
              <a:cxnLst/>
              <a:rect l="l" t="t" r="r" b="b"/>
              <a:pathLst>
                <a:path w="9525" h="1333500">
                  <a:moveTo>
                    <a:pt x="0" y="0"/>
                  </a:moveTo>
                  <a:lnTo>
                    <a:pt x="0" y="1333500"/>
                  </a:lnTo>
                </a:path>
              </a:pathLst>
            </a:custGeom>
            <a:noFill/>
            <a:ln w="9525">
              <a:solidFill>
                <a:srgbClr val="D9E8C6"/>
              </a:solidFill>
            </a:ln>
          </p:spPr>
        </p:sp>
        <p:grpSp>
          <p:nvGrpSpPr>
            <p:cNvPr id="314" name="kpi-noresult"/>
            <p:cNvGrpSpPr/>
            <p:nvPr/>
          </p:nvGrpSpPr>
          <p:grpSpPr>
            <a:xfrm>
              <a:off x="6963569" y="5236845"/>
              <a:ext cx="1606748" cy="922735"/>
              <a:chOff x="6963569" y="5236845"/>
              <a:chExt cx="1606748" cy="922735"/>
            </a:xfrm>
          </p:grpSpPr>
          <p:grpSp>
            <p:nvGrpSpPr>
              <p:cNvPr id="310" name="Group 310"/>
              <p:cNvGrpSpPr/>
              <p:nvPr/>
            </p:nvGrpSpPr>
            <p:grpSpPr>
              <a:xfrm>
                <a:off x="6963569" y="5260181"/>
                <a:ext cx="188913" cy="242888"/>
                <a:chOff x="6963569" y="5260181"/>
                <a:chExt cx="188913" cy="242888"/>
              </a:xfrm>
            </p:grpSpPr>
            <p:sp>
              <p:nvSpPr>
                <p:cNvPr id="305" name="Freeform 305"/>
                <p:cNvSpPr/>
                <p:nvPr/>
              </p:nvSpPr>
              <p:spPr>
                <a:xfrm>
                  <a:off x="7085013" y="5260181"/>
                  <a:ext cx="67469" cy="67469"/>
                </a:xfrm>
                <a:custGeom>
                  <a:avLst/>
                  <a:gdLst/>
                  <a:ahLst/>
                  <a:cxnLst/>
                  <a:rect l="l" t="t" r="r" b="b"/>
                  <a:pathLst>
                    <a:path w="67469" h="67469">
                      <a:moveTo>
                        <a:pt x="0" y="0"/>
                      </a:moveTo>
                      <a:lnTo>
                        <a:pt x="0" y="53975"/>
                      </a:lnTo>
                      <a:cubicBezTo>
                        <a:pt x="0" y="61428"/>
                        <a:pt x="6041" y="67469"/>
                        <a:pt x="13494" y="67469"/>
                      </a:cubicBezTo>
                      <a:lnTo>
                        <a:pt x="67469" y="67469"/>
                      </a:lnTo>
                    </a:path>
                  </a:pathLst>
                </a:custGeom>
                <a:noFill/>
                <a:ln w="26988">
                  <a:solidFill>
                    <a:srgbClr val="7C3B2F"/>
                  </a:solidFill>
                </a:ln>
              </p:spPr>
            </p:sp>
            <p:sp>
              <p:nvSpPr>
                <p:cNvPr id="306" name="Freeform 306"/>
                <p:cNvSpPr/>
                <p:nvPr/>
              </p:nvSpPr>
              <p:spPr>
                <a:xfrm>
                  <a:off x="6963569" y="5260181"/>
                  <a:ext cx="188913" cy="242888"/>
                </a:xfrm>
                <a:custGeom>
                  <a:avLst/>
                  <a:gdLst/>
                  <a:ahLst/>
                  <a:cxnLst/>
                  <a:rect l="l" t="t" r="r" b="b"/>
                  <a:pathLst>
                    <a:path w="188913" h="242888">
                      <a:moveTo>
                        <a:pt x="161925" y="242888"/>
                      </a:moveTo>
                      <a:lnTo>
                        <a:pt x="26988" y="242888"/>
                      </a:lnTo>
                      <a:cubicBezTo>
                        <a:pt x="12083" y="242888"/>
                        <a:pt x="0" y="230805"/>
                        <a:pt x="0" y="215901"/>
                      </a:cubicBezTo>
                      <a:lnTo>
                        <a:pt x="0" y="26988"/>
                      </a:lnTo>
                      <a:cubicBezTo>
                        <a:pt x="0" y="12083"/>
                        <a:pt x="12083" y="0"/>
                        <a:pt x="26988" y="0"/>
                      </a:cubicBezTo>
                      <a:lnTo>
                        <a:pt x="121444" y="0"/>
                      </a:lnTo>
                      <a:lnTo>
                        <a:pt x="188913" y="67469"/>
                      </a:lnTo>
                      <a:lnTo>
                        <a:pt x="188913" y="215901"/>
                      </a:lnTo>
                      <a:cubicBezTo>
                        <a:pt x="188913" y="230805"/>
                        <a:pt x="176830" y="242888"/>
                        <a:pt x="161925" y="242888"/>
                      </a:cubicBezTo>
                    </a:path>
                  </a:pathLst>
                </a:custGeom>
                <a:noFill/>
                <a:ln w="26988">
                  <a:solidFill>
                    <a:srgbClr val="7C3B2F"/>
                  </a:solidFill>
                </a:ln>
              </p:spPr>
            </p:sp>
            <p:sp>
              <p:nvSpPr>
                <p:cNvPr id="307" name="Freeform 307"/>
                <p:cNvSpPr/>
                <p:nvPr/>
              </p:nvSpPr>
              <p:spPr>
                <a:xfrm>
                  <a:off x="7017544" y="5341144"/>
                  <a:ext cx="13494" cy="9525"/>
                </a:xfrm>
                <a:custGeom>
                  <a:avLst/>
                  <a:gdLst/>
                  <a:ahLst/>
                  <a:cxnLst/>
                  <a:rect l="l" t="t" r="r" b="b"/>
                  <a:pathLst>
                    <a:path w="13494" h="9525">
                      <a:moveTo>
                        <a:pt x="0" y="0"/>
                      </a:moveTo>
                      <a:lnTo>
                        <a:pt x="13494" y="0"/>
                      </a:lnTo>
                    </a:path>
                  </a:pathLst>
                </a:custGeom>
                <a:noFill/>
                <a:ln w="26988">
                  <a:solidFill>
                    <a:srgbClr val="7C3B2F"/>
                  </a:solidFill>
                </a:ln>
              </p:spPr>
            </p:sp>
            <p:sp>
              <p:nvSpPr>
                <p:cNvPr id="308" name="Freeform 308"/>
                <p:cNvSpPr/>
                <p:nvPr/>
              </p:nvSpPr>
              <p:spPr>
                <a:xfrm>
                  <a:off x="7017544" y="5395119"/>
                  <a:ext cx="80963" cy="9525"/>
                </a:xfrm>
                <a:custGeom>
                  <a:avLst/>
                  <a:gdLst/>
                  <a:ahLst/>
                  <a:cxnLst/>
                  <a:rect l="l" t="t" r="r" b="b"/>
                  <a:pathLst>
                    <a:path w="80963" h="9525">
                      <a:moveTo>
                        <a:pt x="0" y="0"/>
                      </a:moveTo>
                      <a:lnTo>
                        <a:pt x="80963" y="0"/>
                      </a:lnTo>
                    </a:path>
                  </a:pathLst>
                </a:custGeom>
                <a:noFill/>
                <a:ln w="26988">
                  <a:solidFill>
                    <a:srgbClr val="7C3B2F"/>
                  </a:solidFill>
                </a:ln>
              </p:spPr>
            </p:sp>
            <p:sp>
              <p:nvSpPr>
                <p:cNvPr id="309" name="Freeform 309"/>
                <p:cNvSpPr/>
                <p:nvPr/>
              </p:nvSpPr>
              <p:spPr>
                <a:xfrm>
                  <a:off x="7017544" y="5449094"/>
                  <a:ext cx="80963" cy="9525"/>
                </a:xfrm>
                <a:custGeom>
                  <a:avLst/>
                  <a:gdLst/>
                  <a:ahLst/>
                  <a:cxnLst/>
                  <a:rect l="l" t="t" r="r" b="b"/>
                  <a:pathLst>
                    <a:path w="80963" h="9525">
                      <a:moveTo>
                        <a:pt x="0" y="0"/>
                      </a:moveTo>
                      <a:lnTo>
                        <a:pt x="80963" y="0"/>
                      </a:lnTo>
                    </a:path>
                  </a:pathLst>
                </a:custGeom>
                <a:noFill/>
                <a:ln w="26988">
                  <a:solidFill>
                    <a:srgbClr val="7C3B2F"/>
                  </a:solidFill>
                </a:ln>
              </p:spPr>
            </p:sp>
          </p:grpSp>
          <p:sp>
            <p:nvSpPr>
              <p:cNvPr id="311" name="TextBox 311"/>
              <p:cNvSpPr txBox="1"/>
              <p:nvPr/>
            </p:nvSpPr>
            <p:spPr>
              <a:xfrm>
                <a:off x="7367588" y="5236845"/>
                <a:ext cx="1202729"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 xml:space="preserve">无结果查询 </a:t>
                </a:r>
                <a:r>
                  <a:rPr lang="zh-CN" sz="680" dirty="0">
                    <a:solidFill>
                      <a:srgbClr val="66705F"/>
                    </a:solidFill>
                    <a:latin typeface="+mn-lt"/>
                    <a:ea typeface="+mn-ea"/>
                    <a:cs typeface="+mn-cs"/>
                  </a:rPr>
                  <a:t>（示例口径）</a:t>
                </a:r>
              </a:p>
            </p:txBody>
          </p:sp>
          <p:sp>
            <p:nvSpPr>
              <p:cNvPr id="312" name="TextBox 312"/>
              <p:cNvSpPr txBox="1"/>
              <p:nvPr/>
            </p:nvSpPr>
            <p:spPr>
              <a:xfrm>
                <a:off x="7363206" y="5482590"/>
                <a:ext cx="768862" cy="352044"/>
              </a:xfrm>
              <a:prstGeom prst="rect">
                <a:avLst/>
              </a:prstGeom>
              <a:noFill/>
              <a:ln>
                <a:noFill/>
              </a:ln>
            </p:spPr>
            <p:txBody>
              <a:bodyPr wrap="none" lIns="0" tIns="0" rIns="0" bIns="0" anchor="t" anchorCtr="0">
                <a:spAutoFit/>
              </a:bodyPr>
              <a:lstStyle/>
              <a:p>
                <a:pPr algn="l"/>
                <a:r>
                  <a:rPr lang="zh-CN" sz="1800" b="1" dirty="0">
                    <a:solidFill>
                      <a:srgbClr val="7C3B2F"/>
                    </a:solidFill>
                    <a:latin typeface="+mn-lt"/>
                    <a:ea typeface="+mn-ea"/>
                    <a:cs typeface="+mn-cs"/>
                  </a:rPr>
                  <a:t>19%​​</a:t>
                </a:r>
              </a:p>
            </p:txBody>
          </p:sp>
          <p:sp>
            <p:nvSpPr>
              <p:cNvPr id="313" name="TextBox 313"/>
              <p:cNvSpPr txBox="1"/>
              <p:nvPr/>
            </p:nvSpPr>
            <p:spPr>
              <a:xfrm>
                <a:off x="7367588" y="5866686"/>
                <a:ext cx="91122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6705F"/>
                    </a:solidFill>
                    <a:latin typeface="+mn-lt"/>
                    <a:ea typeface="+mn-ea"/>
                    <a:cs typeface="+mn-cs"/>
                  </a:rPr>
                  <a:t>检索无结果或返回结果</a:t>
                </a:r>
                <a:br/>
                <a:r>
                  <a:rPr lang="zh-CN" sz="710" dirty="0">
                    <a:solidFill>
                      <a:srgbClr val="66705F"/>
                    </a:solidFill>
                    <a:latin typeface="+mn-lt"/>
                    <a:ea typeface="+mn-ea"/>
                    <a:cs typeface="+mn-cs"/>
                  </a:rPr>
                  <a:t>不满足需求的查询占比</a:t>
                </a:r>
              </a:p>
            </p:txBody>
          </p:sp>
        </p:grpSp>
        <p:sp>
          <p:nvSpPr>
            <p:cNvPr id="315" name="Line 315"/>
            <p:cNvSpPr/>
            <p:nvPr/>
          </p:nvSpPr>
          <p:spPr>
            <a:xfrm>
              <a:off x="9372600" y="5143500"/>
              <a:ext cx="9525" cy="1333500"/>
            </a:xfrm>
            <a:custGeom>
              <a:avLst/>
              <a:gdLst/>
              <a:ahLst/>
              <a:cxnLst/>
              <a:rect l="l" t="t" r="r" b="b"/>
              <a:pathLst>
                <a:path w="9525" h="1333500">
                  <a:moveTo>
                    <a:pt x="0" y="0"/>
                  </a:moveTo>
                  <a:lnTo>
                    <a:pt x="0" y="1333500"/>
                  </a:lnTo>
                </a:path>
              </a:pathLst>
            </a:custGeom>
            <a:noFill/>
            <a:ln w="9525">
              <a:solidFill>
                <a:srgbClr val="D9E8C6"/>
              </a:solidFill>
            </a:ln>
          </p:spPr>
        </p:sp>
        <p:grpSp>
          <p:nvGrpSpPr>
            <p:cNvPr id="324" name="kpi-expertload"/>
            <p:cNvGrpSpPr/>
            <p:nvPr/>
          </p:nvGrpSpPr>
          <p:grpSpPr>
            <a:xfrm>
              <a:off x="9641681" y="5236845"/>
              <a:ext cx="1754894" cy="922735"/>
              <a:chOff x="9641681" y="5236845"/>
              <a:chExt cx="1754894" cy="922735"/>
            </a:xfrm>
          </p:grpSpPr>
          <p:grpSp>
            <p:nvGrpSpPr>
              <p:cNvPr id="320" name="Group 320"/>
              <p:cNvGrpSpPr/>
              <p:nvPr/>
            </p:nvGrpSpPr>
            <p:grpSpPr>
              <a:xfrm>
                <a:off x="9641681" y="5260181"/>
                <a:ext cx="242888" cy="242889"/>
                <a:chOff x="9641681" y="5260181"/>
                <a:chExt cx="242888" cy="242889"/>
              </a:xfrm>
            </p:grpSpPr>
            <p:sp>
              <p:nvSpPr>
                <p:cNvPr id="316" name="Freeform 316"/>
                <p:cNvSpPr/>
                <p:nvPr/>
              </p:nvSpPr>
              <p:spPr>
                <a:xfrm>
                  <a:off x="9668669" y="5260181"/>
                  <a:ext cx="107950" cy="107950"/>
                </a:xfrm>
                <a:custGeom>
                  <a:avLst/>
                  <a:gdLst/>
                  <a:ahLst/>
                  <a:cxnLst/>
                  <a:rect l="l" t="t" r="r" b="b"/>
                  <a:pathLst>
                    <a:path w="107950" h="107950">
                      <a:moveTo>
                        <a:pt x="0" y="53975"/>
                      </a:moveTo>
                      <a:cubicBezTo>
                        <a:pt x="0" y="83785"/>
                        <a:pt x="24165" y="107950"/>
                        <a:pt x="53975" y="107950"/>
                      </a:cubicBezTo>
                      <a:cubicBezTo>
                        <a:pt x="83785" y="107950"/>
                        <a:pt x="107950" y="83785"/>
                        <a:pt x="107950" y="53975"/>
                      </a:cubicBezTo>
                      <a:cubicBezTo>
                        <a:pt x="107950" y="24165"/>
                        <a:pt x="83785" y="0"/>
                        <a:pt x="53975" y="0"/>
                      </a:cubicBezTo>
                      <a:cubicBezTo>
                        <a:pt x="24165" y="0"/>
                        <a:pt x="0" y="24165"/>
                        <a:pt x="0" y="53975"/>
                      </a:cubicBezTo>
                    </a:path>
                  </a:pathLst>
                </a:custGeom>
                <a:noFill/>
                <a:ln w="26988">
                  <a:solidFill>
                    <a:srgbClr val="7C3B2F"/>
                  </a:solidFill>
                </a:ln>
              </p:spPr>
            </p:sp>
            <p:sp>
              <p:nvSpPr>
                <p:cNvPr id="317" name="Freeform 317"/>
                <p:cNvSpPr/>
                <p:nvPr/>
              </p:nvSpPr>
              <p:spPr>
                <a:xfrm>
                  <a:off x="9641681" y="5422107"/>
                  <a:ext cx="161925" cy="80963"/>
                </a:xfrm>
                <a:custGeom>
                  <a:avLst/>
                  <a:gdLst/>
                  <a:ahLst/>
                  <a:cxnLst/>
                  <a:rect l="l" t="t" r="r" b="b"/>
                  <a:pathLst>
                    <a:path w="161925" h="80963">
                      <a:moveTo>
                        <a:pt x="0" y="80963"/>
                      </a:moveTo>
                      <a:lnTo>
                        <a:pt x="0" y="53975"/>
                      </a:lnTo>
                      <a:cubicBezTo>
                        <a:pt x="0" y="24165"/>
                        <a:pt x="24165" y="0"/>
                        <a:pt x="53975" y="0"/>
                      </a:cubicBezTo>
                      <a:lnTo>
                        <a:pt x="107950" y="0"/>
                      </a:lnTo>
                      <a:cubicBezTo>
                        <a:pt x="137760" y="0"/>
                        <a:pt x="161925" y="24165"/>
                        <a:pt x="161925" y="53975"/>
                      </a:cubicBezTo>
                      <a:lnTo>
                        <a:pt x="161925" y="80963"/>
                      </a:lnTo>
                    </a:path>
                  </a:pathLst>
                </a:custGeom>
                <a:noFill/>
                <a:ln w="26988">
                  <a:solidFill>
                    <a:srgbClr val="7C3B2F"/>
                  </a:solidFill>
                </a:ln>
              </p:spPr>
            </p:sp>
            <p:sp>
              <p:nvSpPr>
                <p:cNvPr id="318" name="Freeform 318"/>
                <p:cNvSpPr/>
                <p:nvPr/>
              </p:nvSpPr>
              <p:spPr>
                <a:xfrm>
                  <a:off x="9817101" y="5261936"/>
                  <a:ext cx="40587" cy="104577"/>
                </a:xfrm>
                <a:custGeom>
                  <a:avLst/>
                  <a:gdLst/>
                  <a:ahLst/>
                  <a:cxnLst/>
                  <a:rect l="l" t="t" r="r" b="b"/>
                  <a:pathLst>
                    <a:path w="40587" h="104577">
                      <a:moveTo>
                        <a:pt x="0" y="0"/>
                      </a:moveTo>
                      <a:cubicBezTo>
                        <a:pt x="23883" y="6115"/>
                        <a:pt x="40587" y="27635"/>
                        <a:pt x="40587" y="52288"/>
                      </a:cubicBezTo>
                      <a:cubicBezTo>
                        <a:pt x="40587" y="76942"/>
                        <a:pt x="23883" y="98462"/>
                        <a:pt x="0" y="104577"/>
                      </a:cubicBezTo>
                    </a:path>
                  </a:pathLst>
                </a:custGeom>
                <a:noFill/>
                <a:ln w="26988">
                  <a:solidFill>
                    <a:srgbClr val="7C3B2F"/>
                  </a:solidFill>
                </a:ln>
              </p:spPr>
            </p:sp>
            <p:sp>
              <p:nvSpPr>
                <p:cNvPr id="319" name="Freeform 319"/>
                <p:cNvSpPr/>
                <p:nvPr/>
              </p:nvSpPr>
              <p:spPr>
                <a:xfrm>
                  <a:off x="9844088" y="5424131"/>
                  <a:ext cx="40481" cy="78939"/>
                </a:xfrm>
                <a:custGeom>
                  <a:avLst/>
                  <a:gdLst/>
                  <a:ahLst/>
                  <a:cxnLst/>
                  <a:rect l="l" t="t" r="r" b="b"/>
                  <a:pathLst>
                    <a:path w="40481" h="78939">
                      <a:moveTo>
                        <a:pt x="40481" y="78939"/>
                      </a:moveTo>
                      <a:lnTo>
                        <a:pt x="40481" y="51951"/>
                      </a:lnTo>
                      <a:cubicBezTo>
                        <a:pt x="40340" y="27454"/>
                        <a:pt x="23720" y="6124"/>
                        <a:pt x="0" y="0"/>
                      </a:cubicBezTo>
                    </a:path>
                  </a:pathLst>
                </a:custGeom>
                <a:noFill/>
                <a:ln w="26988">
                  <a:solidFill>
                    <a:srgbClr val="7C3B2F"/>
                  </a:solidFill>
                </a:ln>
              </p:spPr>
            </p:sp>
          </p:grpSp>
          <p:sp>
            <p:nvSpPr>
              <p:cNvPr id="321" name="TextBox 321"/>
              <p:cNvSpPr txBox="1"/>
              <p:nvPr/>
            </p:nvSpPr>
            <p:spPr>
              <a:xfrm>
                <a:off x="10072688" y="5236845"/>
                <a:ext cx="1323887"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 xml:space="preserve">专家响应负荷 </a:t>
                </a:r>
                <a:r>
                  <a:rPr lang="zh-CN" sz="680" dirty="0">
                    <a:solidFill>
                      <a:srgbClr val="66705F"/>
                    </a:solidFill>
                    <a:latin typeface="+mn-lt"/>
                    <a:ea typeface="+mn-ea"/>
                    <a:cs typeface="+mn-cs"/>
                  </a:rPr>
                  <a:t>（示例口径）</a:t>
                </a:r>
              </a:p>
            </p:txBody>
          </p:sp>
          <p:sp>
            <p:nvSpPr>
              <p:cNvPr id="322" name="TextBox 322"/>
              <p:cNvSpPr txBox="1"/>
              <p:nvPr/>
            </p:nvSpPr>
            <p:spPr>
              <a:xfrm>
                <a:off x="10068306" y="5482590"/>
                <a:ext cx="756746" cy="352044"/>
              </a:xfrm>
              <a:prstGeom prst="rect">
                <a:avLst/>
              </a:prstGeom>
              <a:noFill/>
              <a:ln>
                <a:noFill/>
              </a:ln>
            </p:spPr>
            <p:txBody>
              <a:bodyPr wrap="none" lIns="0" tIns="0" rIns="0" bIns="0" anchor="t" anchorCtr="0">
                <a:spAutoFit/>
              </a:bodyPr>
              <a:lstStyle/>
              <a:p>
                <a:pPr algn="l"/>
                <a:r>
                  <a:rPr lang="zh-CN" sz="1800" b="1" dirty="0">
                    <a:solidFill>
                      <a:srgbClr val="7C3B2F"/>
                    </a:solidFill>
                    <a:latin typeface="+mn-lt"/>
                    <a:ea typeface="+mn-ea"/>
                    <a:cs typeface="+mn-cs"/>
                  </a:rPr>
                  <a:t>2.6 倍</a:t>
                </a:r>
              </a:p>
            </p:txBody>
          </p:sp>
          <p:sp>
            <p:nvSpPr>
              <p:cNvPr id="323" name="TextBox 323"/>
              <p:cNvSpPr txBox="1"/>
              <p:nvPr/>
            </p:nvSpPr>
            <p:spPr>
              <a:xfrm>
                <a:off x="10072688" y="5866686"/>
                <a:ext cx="82105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6705F"/>
                    </a:solidFill>
                    <a:latin typeface="+mn-lt"/>
                    <a:ea typeface="+mn-ea"/>
                    <a:cs typeface="+mn-cs"/>
                  </a:rPr>
                  <a:t>专家被动响应量相对</a:t>
                </a:r>
                <a:br/>
                <a:r>
                  <a:rPr lang="zh-CN" sz="710" dirty="0">
                    <a:solidFill>
                      <a:srgbClr val="66705F"/>
                    </a:solidFill>
                    <a:latin typeface="+mn-lt"/>
                    <a:ea typeface="+mn-ea"/>
                    <a:cs typeface="+mn-cs"/>
                  </a:rPr>
                  <a:t>合理负荷的倍数</a:t>
                </a:r>
              </a:p>
            </p:txBody>
          </p:sp>
        </p:grpSp>
      </p:gr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03</a:t>
              </a:r>
            </a:p>
          </p:txBody>
        </p:sp>
        <p:sp>
          <p:nvSpPr>
            <p:cNvPr id="4" name="TextBox 4"/>
            <p:cNvSpPr txBox="1"/>
            <p:nvPr/>
          </p:nvSpPr>
          <p:spPr>
            <a:xfrm>
              <a:off x="942594" y="151448"/>
              <a:ext cx="72313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目标蓝图以</a:t>
              </a:r>
              <a:r>
                <a:rPr lang="zh-CN" sz="1950" b="1" dirty="0">
                  <a:solidFill>
                    <a:srgbClr val="7C3B2F"/>
                  </a:solidFill>
                  <a:latin typeface="SimSun"/>
                  <a:ea typeface="SimSun"/>
                  <a:cs typeface="SimSun"/>
                </a:rPr>
                <a:t>业务场景</a:t>
              </a:r>
              <a:r>
                <a:rPr lang="zh-CN" sz="1950" b="1" dirty="0">
                  <a:solidFill>
                    <a:srgbClr val="1A1A1A"/>
                  </a:solidFill>
                  <a:latin typeface="SimSun"/>
                  <a:ea typeface="SimSun"/>
                  <a:cs typeface="SimSun"/>
                </a:rPr>
                <a:t>为牵引，让知识、模型与流程形成闭环</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40" name="sidebar-security"/>
          <p:cNvGrpSpPr/>
          <p:nvPr/>
        </p:nvGrpSpPr>
        <p:grpSpPr>
          <a:xfrm>
            <a:off x="228600" y="628650"/>
            <a:ext cx="762000" cy="5467350"/>
            <a:chOff x="228600" y="628650"/>
            <a:chExt cx="762000" cy="5467350"/>
          </a:xfrm>
        </p:grpSpPr>
        <p:sp>
          <p:nvSpPr>
            <p:cNvPr id="7" name="Rectangle 7"/>
            <p:cNvSpPr/>
            <p:nvPr/>
          </p:nvSpPr>
          <p:spPr>
            <a:xfrm>
              <a:off x="228600" y="628650"/>
              <a:ext cx="762000" cy="5467350"/>
            </a:xfrm>
            <a:prstGeom prst="roundRect">
              <a:avLst>
                <a:gd name="adj" fmla="val 10000"/>
              </a:avLst>
            </a:prstGeom>
            <a:solidFill>
              <a:srgbClr val="42140B"/>
            </a:solidFill>
            <a:ln>
              <a:noFill/>
            </a:ln>
          </p:spPr>
        </p:sp>
        <p:grpSp>
          <p:nvGrpSpPr>
            <p:cNvPr id="10" name="Group 10"/>
            <p:cNvGrpSpPr/>
            <p:nvPr/>
          </p:nvGrpSpPr>
          <p:grpSpPr>
            <a:xfrm>
              <a:off x="478161" y="838200"/>
              <a:ext cx="248008" cy="228599"/>
              <a:chOff x="478161" y="838200"/>
              <a:chExt cx="248008" cy="228599"/>
            </a:xfrm>
          </p:grpSpPr>
          <p:sp>
            <p:nvSpPr>
              <p:cNvPr id="8" name="Freeform 8"/>
              <p:cNvSpPr/>
              <p:nvPr/>
            </p:nvSpPr>
            <p:spPr>
              <a:xfrm>
                <a:off x="478161" y="838200"/>
                <a:ext cx="248008" cy="226644"/>
              </a:xfrm>
              <a:custGeom>
                <a:avLst/>
                <a:gdLst/>
                <a:ahLst/>
                <a:cxnLst/>
                <a:rect l="l" t="t" r="r" b="b"/>
                <a:pathLst>
                  <a:path w="248008" h="226644">
                    <a:moveTo>
                      <a:pt x="124581" y="226644"/>
                    </a:moveTo>
                    <a:cubicBezTo>
                      <a:pt x="45021" y="201982"/>
                      <a:pt x="0" y="118013"/>
                      <a:pt x="23489" y="38100"/>
                    </a:cubicBezTo>
                    <a:cubicBezTo>
                      <a:pt x="63056" y="39910"/>
                      <a:pt x="101774" y="26245"/>
                      <a:pt x="131439" y="0"/>
                    </a:cubicBezTo>
                    <a:cubicBezTo>
                      <a:pt x="161104" y="26245"/>
                      <a:pt x="199822" y="39910"/>
                      <a:pt x="239389" y="38100"/>
                    </a:cubicBezTo>
                    <a:cubicBezTo>
                      <a:pt x="248008" y="67426"/>
                      <a:pt x="247610" y="98665"/>
                      <a:pt x="238246" y="127762"/>
                    </a:cubicBezTo>
                  </a:path>
                </a:pathLst>
              </a:custGeom>
              <a:noFill/>
              <a:ln w="25400">
                <a:solidFill>
                  <a:srgbClr val="FFFFFF"/>
                </a:solidFill>
              </a:ln>
            </p:spPr>
          </p:sp>
          <p:sp>
            <p:nvSpPr>
              <p:cNvPr id="9" name="Freeform 9"/>
              <p:cNvSpPr/>
              <p:nvPr/>
            </p:nvSpPr>
            <p:spPr>
              <a:xfrm>
                <a:off x="647700" y="1015999"/>
                <a:ext cx="76200" cy="50800"/>
              </a:xfrm>
              <a:custGeom>
                <a:avLst/>
                <a:gdLst/>
                <a:ahLst/>
                <a:cxnLst/>
                <a:rect l="l" t="t" r="r" b="b"/>
                <a:pathLst>
                  <a:path w="76200" h="50800">
                    <a:moveTo>
                      <a:pt x="0" y="25400"/>
                    </a:moveTo>
                    <a:lnTo>
                      <a:pt x="25400" y="50800"/>
                    </a:lnTo>
                    <a:lnTo>
                      <a:pt x="76200" y="0"/>
                    </a:lnTo>
                  </a:path>
                </a:pathLst>
              </a:custGeom>
              <a:noFill/>
              <a:ln w="25400">
                <a:solidFill>
                  <a:srgbClr val="FFFFFF"/>
                </a:solidFill>
              </a:ln>
            </p:spPr>
          </p:sp>
        </p:grpSp>
        <p:sp>
          <p:nvSpPr>
            <p:cNvPr id="11" name="TextBox 11"/>
            <p:cNvSpPr txBox="1"/>
            <p:nvPr/>
          </p:nvSpPr>
          <p:spPr>
            <a:xfrm>
              <a:off x="340792" y="12282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安全权限</a:t>
              </a:r>
            </a:p>
          </p:txBody>
        </p:sp>
        <p:sp>
          <p:nvSpPr>
            <p:cNvPr id="12" name="Line 12"/>
            <p:cNvSpPr/>
            <p:nvPr/>
          </p:nvSpPr>
          <p:spPr>
            <a:xfrm>
              <a:off x="323850" y="1466850"/>
              <a:ext cx="571500" cy="9525"/>
            </a:xfrm>
            <a:custGeom>
              <a:avLst/>
              <a:gdLst/>
              <a:ahLst/>
              <a:cxnLst/>
              <a:rect l="l" t="t" r="r" b="b"/>
              <a:pathLst>
                <a:path w="571500" h="9525">
                  <a:moveTo>
                    <a:pt x="0" y="0"/>
                  </a:moveTo>
                  <a:lnTo>
                    <a:pt x="571500" y="0"/>
                  </a:lnTo>
                </a:path>
              </a:pathLst>
            </a:custGeom>
            <a:noFill/>
            <a:ln w="9525">
              <a:solidFill>
                <a:srgbClr val="7C3B2F"/>
              </a:solidFill>
            </a:ln>
          </p:spPr>
        </p:sp>
        <p:grpSp>
          <p:nvGrpSpPr>
            <p:cNvPr id="16" name="Group 16"/>
            <p:cNvGrpSpPr/>
            <p:nvPr/>
          </p:nvGrpSpPr>
          <p:grpSpPr>
            <a:xfrm>
              <a:off x="381000" y="1695450"/>
              <a:ext cx="95250" cy="114300"/>
              <a:chOff x="381000" y="1695450"/>
              <a:chExt cx="95250" cy="114300"/>
            </a:xfrm>
          </p:grpSpPr>
          <p:sp>
            <p:nvSpPr>
              <p:cNvPr id="13" name="Freeform 13"/>
              <p:cNvSpPr/>
              <p:nvPr/>
            </p:nvSpPr>
            <p:spPr>
              <a:xfrm>
                <a:off x="393700" y="16954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E4B7AF"/>
                </a:solidFill>
              </a:ln>
            </p:spPr>
          </p:sp>
          <p:sp>
            <p:nvSpPr>
              <p:cNvPr id="14" name="Freeform 14"/>
              <p:cNvSpPr/>
              <p:nvPr/>
            </p:nvSpPr>
            <p:spPr>
              <a:xfrm>
                <a:off x="381000" y="17716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E4B7AF"/>
                </a:solidFill>
              </a:ln>
            </p:spPr>
          </p:sp>
          <p:sp>
            <p:nvSpPr>
              <p:cNvPr id="15" name="Freeform 15"/>
              <p:cNvSpPr/>
              <p:nvPr/>
            </p:nvSpPr>
            <p:spPr>
              <a:xfrm>
                <a:off x="438150" y="1784350"/>
                <a:ext cx="38100" cy="25400"/>
              </a:xfrm>
              <a:custGeom>
                <a:avLst/>
                <a:gdLst/>
                <a:ahLst/>
                <a:cxnLst/>
                <a:rect l="l" t="t" r="r" b="b"/>
                <a:pathLst>
                  <a:path w="38100" h="25400">
                    <a:moveTo>
                      <a:pt x="0" y="12700"/>
                    </a:moveTo>
                    <a:lnTo>
                      <a:pt x="12700" y="25400"/>
                    </a:lnTo>
                    <a:lnTo>
                      <a:pt x="38100" y="0"/>
                    </a:lnTo>
                  </a:path>
                </a:pathLst>
              </a:custGeom>
              <a:noFill/>
              <a:ln w="12700">
                <a:solidFill>
                  <a:srgbClr val="E4B7AF"/>
                </a:solidFill>
              </a:ln>
            </p:spPr>
          </p:sp>
        </p:grpSp>
        <p:sp>
          <p:nvSpPr>
            <p:cNvPr id="17" name="TextBox 17"/>
            <p:cNvSpPr txBox="1"/>
            <p:nvPr/>
          </p:nvSpPr>
          <p:spPr>
            <a:xfrm>
              <a:off x="547688" y="1715214"/>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身份认证</a:t>
              </a:r>
            </a:p>
          </p:txBody>
        </p:sp>
        <p:sp>
          <p:nvSpPr>
            <p:cNvPr id="18" name="TextBox 18"/>
            <p:cNvSpPr txBox="1"/>
            <p:nvPr/>
          </p:nvSpPr>
          <p:spPr>
            <a:xfrm>
              <a:off x="338138" y="1931432"/>
              <a:ext cx="537195"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 xml:space="preserve">SSO / MFA　</a:t>
              </a:r>
            </a:p>
          </p:txBody>
        </p:sp>
        <p:sp>
          <p:nvSpPr>
            <p:cNvPr id="19" name="TextBox 19"/>
            <p:cNvSpPr txBox="1"/>
            <p:nvPr/>
          </p:nvSpPr>
          <p:spPr>
            <a:xfrm>
              <a:off x="338138" y="2064782"/>
              <a:ext cx="546298"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 xml:space="preserve">RBAC/ABAC　</a:t>
              </a:r>
            </a:p>
          </p:txBody>
        </p:sp>
        <p:grpSp>
          <p:nvGrpSpPr>
            <p:cNvPr id="23" name="Group 23"/>
            <p:cNvGrpSpPr/>
            <p:nvPr/>
          </p:nvGrpSpPr>
          <p:grpSpPr>
            <a:xfrm>
              <a:off x="374650" y="2857500"/>
              <a:ext cx="88900" cy="114300"/>
              <a:chOff x="374650" y="2857500"/>
              <a:chExt cx="88900" cy="114300"/>
            </a:xfrm>
          </p:grpSpPr>
          <p:sp>
            <p:nvSpPr>
              <p:cNvPr id="20" name="Freeform 20"/>
              <p:cNvSpPr/>
              <p:nvPr/>
            </p:nvSpPr>
            <p:spPr>
              <a:xfrm>
                <a:off x="374650" y="290830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E4B7AF"/>
                </a:solidFill>
              </a:ln>
            </p:spPr>
          </p:sp>
          <p:sp>
            <p:nvSpPr>
              <p:cNvPr id="21" name="Freeform 21"/>
              <p:cNvSpPr/>
              <p:nvPr/>
            </p:nvSpPr>
            <p:spPr>
              <a:xfrm>
                <a:off x="412750" y="29337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E4B7AF"/>
                </a:solidFill>
              </a:ln>
            </p:spPr>
          </p:sp>
          <p:sp>
            <p:nvSpPr>
              <p:cNvPr id="22" name="Freeform 22"/>
              <p:cNvSpPr/>
              <p:nvPr/>
            </p:nvSpPr>
            <p:spPr>
              <a:xfrm>
                <a:off x="393700" y="285750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E4B7AF"/>
                </a:solidFill>
              </a:ln>
            </p:spPr>
          </p:sp>
        </p:grpSp>
        <p:sp>
          <p:nvSpPr>
            <p:cNvPr id="24" name="TextBox 24"/>
            <p:cNvSpPr txBox="1"/>
            <p:nvPr/>
          </p:nvSpPr>
          <p:spPr>
            <a:xfrm>
              <a:off x="547688" y="2877264"/>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数据安全</a:t>
              </a:r>
            </a:p>
          </p:txBody>
        </p:sp>
        <p:sp>
          <p:nvSpPr>
            <p:cNvPr id="25" name="TextBox 25"/>
            <p:cNvSpPr txBox="1"/>
            <p:nvPr/>
          </p:nvSpPr>
          <p:spPr>
            <a:xfrm>
              <a:off x="338138" y="309348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分类分级</a:t>
              </a:r>
            </a:p>
          </p:txBody>
        </p:sp>
        <p:sp>
          <p:nvSpPr>
            <p:cNvPr id="26" name="TextBox 26"/>
            <p:cNvSpPr txBox="1"/>
            <p:nvPr/>
          </p:nvSpPr>
          <p:spPr>
            <a:xfrm>
              <a:off x="338138" y="322683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加密脱敏</a:t>
              </a:r>
            </a:p>
          </p:txBody>
        </p:sp>
        <p:grpSp>
          <p:nvGrpSpPr>
            <p:cNvPr id="30" name="Group 30"/>
            <p:cNvGrpSpPr/>
            <p:nvPr/>
          </p:nvGrpSpPr>
          <p:grpSpPr>
            <a:xfrm>
              <a:off x="374650" y="4019550"/>
              <a:ext cx="88900" cy="114300"/>
              <a:chOff x="374650" y="4019550"/>
              <a:chExt cx="88900" cy="114300"/>
            </a:xfrm>
          </p:grpSpPr>
          <p:sp>
            <p:nvSpPr>
              <p:cNvPr id="27" name="Freeform 27"/>
              <p:cNvSpPr/>
              <p:nvPr/>
            </p:nvSpPr>
            <p:spPr>
              <a:xfrm>
                <a:off x="374650" y="40703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E4B7AF"/>
                </a:solidFill>
              </a:ln>
            </p:spPr>
          </p:sp>
          <p:sp>
            <p:nvSpPr>
              <p:cNvPr id="28" name="Freeform 28"/>
              <p:cNvSpPr/>
              <p:nvPr/>
            </p:nvSpPr>
            <p:spPr>
              <a:xfrm>
                <a:off x="412750" y="40957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E4B7AF"/>
                </a:solidFill>
              </a:ln>
            </p:spPr>
          </p:sp>
          <p:sp>
            <p:nvSpPr>
              <p:cNvPr id="29" name="Freeform 29"/>
              <p:cNvSpPr/>
              <p:nvPr/>
            </p:nvSpPr>
            <p:spPr>
              <a:xfrm>
                <a:off x="393700" y="40195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E4B7AF"/>
                </a:solidFill>
              </a:ln>
            </p:spPr>
          </p:sp>
        </p:grpSp>
        <p:sp>
          <p:nvSpPr>
            <p:cNvPr id="31" name="TextBox 31"/>
            <p:cNvSpPr txBox="1"/>
            <p:nvPr/>
          </p:nvSpPr>
          <p:spPr>
            <a:xfrm>
              <a:off x="547688" y="4039314"/>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访问控制</a:t>
              </a:r>
            </a:p>
          </p:txBody>
        </p:sp>
        <p:sp>
          <p:nvSpPr>
            <p:cNvPr id="32" name="TextBox 32"/>
            <p:cNvSpPr txBox="1"/>
            <p:nvPr/>
          </p:nvSpPr>
          <p:spPr>
            <a:xfrm>
              <a:off x="338138" y="425553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最小权限</a:t>
              </a:r>
            </a:p>
          </p:txBody>
        </p:sp>
        <p:sp>
          <p:nvSpPr>
            <p:cNvPr id="33" name="TextBox 33"/>
            <p:cNvSpPr txBox="1"/>
            <p:nvPr/>
          </p:nvSpPr>
          <p:spPr>
            <a:xfrm>
              <a:off x="338138" y="4388882"/>
              <a:ext cx="440309"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细粒度授权</a:t>
              </a:r>
            </a:p>
          </p:txBody>
        </p:sp>
        <p:grpSp>
          <p:nvGrpSpPr>
            <p:cNvPr id="36" name="Group 36"/>
            <p:cNvGrpSpPr/>
            <p:nvPr/>
          </p:nvGrpSpPr>
          <p:grpSpPr>
            <a:xfrm>
              <a:off x="361950" y="5200650"/>
              <a:ext cx="114300" cy="76200"/>
              <a:chOff x="361950" y="5200650"/>
              <a:chExt cx="114300" cy="76200"/>
            </a:xfrm>
          </p:grpSpPr>
          <p:sp>
            <p:nvSpPr>
              <p:cNvPr id="34" name="Freeform 34"/>
              <p:cNvSpPr/>
              <p:nvPr/>
            </p:nvSpPr>
            <p:spPr>
              <a:xfrm>
                <a:off x="406400" y="52260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E4B7AF"/>
                </a:solidFill>
              </a:ln>
            </p:spPr>
          </p:sp>
          <p:sp>
            <p:nvSpPr>
              <p:cNvPr id="35" name="Freeform 35"/>
              <p:cNvSpPr/>
              <p:nvPr/>
            </p:nvSpPr>
            <p:spPr>
              <a:xfrm>
                <a:off x="361950" y="5200650"/>
                <a:ext cx="114300" cy="76200"/>
              </a:xfrm>
              <a:custGeom>
                <a:avLst/>
                <a:gdLst/>
                <a:ahLst/>
                <a:cxnLst/>
                <a:rect l="l" t="t" r="r" b="b"/>
                <a:pathLst>
                  <a:path w="114300" h="76200">
                    <a:moveTo>
                      <a:pt x="114300" y="38100"/>
                    </a:moveTo>
                    <a:cubicBezTo>
                      <a:pt x="99060" y="63500"/>
                      <a:pt x="80010" y="76200"/>
                      <a:pt x="57150" y="76200"/>
                    </a:cubicBezTo>
                    <a:cubicBezTo>
                      <a:pt x="34290" y="76200"/>
                      <a:pt x="15240" y="63500"/>
                      <a:pt x="0" y="38100"/>
                    </a:cubicBezTo>
                    <a:cubicBezTo>
                      <a:pt x="15240" y="12700"/>
                      <a:pt x="34290" y="0"/>
                      <a:pt x="57150" y="0"/>
                    </a:cubicBezTo>
                    <a:cubicBezTo>
                      <a:pt x="80010" y="0"/>
                      <a:pt x="99060" y="12700"/>
                      <a:pt x="114300" y="38100"/>
                    </a:cubicBezTo>
                  </a:path>
                </a:pathLst>
              </a:custGeom>
              <a:noFill/>
              <a:ln w="12700">
                <a:solidFill>
                  <a:srgbClr val="E4B7AF"/>
                </a:solidFill>
              </a:ln>
            </p:spPr>
          </p:sp>
        </p:grpSp>
        <p:sp>
          <p:nvSpPr>
            <p:cNvPr id="37" name="TextBox 37"/>
            <p:cNvSpPr txBox="1"/>
            <p:nvPr/>
          </p:nvSpPr>
          <p:spPr>
            <a:xfrm>
              <a:off x="547688" y="5201364"/>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安全审计</a:t>
              </a:r>
            </a:p>
          </p:txBody>
        </p:sp>
        <p:sp>
          <p:nvSpPr>
            <p:cNvPr id="38" name="TextBox 38"/>
            <p:cNvSpPr txBox="1"/>
            <p:nvPr/>
          </p:nvSpPr>
          <p:spPr>
            <a:xfrm>
              <a:off x="338138" y="541758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操作留痕</a:t>
              </a:r>
            </a:p>
          </p:txBody>
        </p:sp>
        <p:sp>
          <p:nvSpPr>
            <p:cNvPr id="39" name="TextBox 39"/>
            <p:cNvSpPr txBox="1"/>
            <p:nvPr/>
          </p:nvSpPr>
          <p:spPr>
            <a:xfrm>
              <a:off x="338138" y="555093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异常告警</a:t>
              </a:r>
            </a:p>
          </p:txBody>
        </p:sp>
      </p:grpSp>
      <p:grpSp>
        <p:nvGrpSpPr>
          <p:cNvPr id="82" name="sidebar-governance"/>
          <p:cNvGrpSpPr/>
          <p:nvPr/>
        </p:nvGrpSpPr>
        <p:grpSpPr>
          <a:xfrm>
            <a:off x="11201400" y="628650"/>
            <a:ext cx="762000" cy="5467350"/>
            <a:chOff x="11201400" y="628650"/>
            <a:chExt cx="762000" cy="5467350"/>
          </a:xfrm>
        </p:grpSpPr>
        <p:sp>
          <p:nvSpPr>
            <p:cNvPr id="41" name="Rectangle 41"/>
            <p:cNvSpPr/>
            <p:nvPr/>
          </p:nvSpPr>
          <p:spPr>
            <a:xfrm>
              <a:off x="11201400" y="628650"/>
              <a:ext cx="762000" cy="5467350"/>
            </a:xfrm>
            <a:prstGeom prst="roundRect">
              <a:avLst>
                <a:gd name="adj" fmla="val 10000"/>
              </a:avLst>
            </a:prstGeom>
            <a:solidFill>
              <a:srgbClr val="42140B"/>
            </a:solidFill>
            <a:ln>
              <a:noFill/>
            </a:ln>
          </p:spPr>
        </p:sp>
        <p:grpSp>
          <p:nvGrpSpPr>
            <p:cNvPr id="50" name="Group 50"/>
            <p:cNvGrpSpPr/>
            <p:nvPr/>
          </p:nvGrpSpPr>
          <p:grpSpPr>
            <a:xfrm>
              <a:off x="11468100" y="838200"/>
              <a:ext cx="228599" cy="238124"/>
              <a:chOff x="11468100" y="838200"/>
              <a:chExt cx="228599" cy="238124"/>
            </a:xfrm>
          </p:grpSpPr>
          <p:sp>
            <p:nvSpPr>
              <p:cNvPr id="42" name="Freeform 42"/>
              <p:cNvSpPr/>
              <p:nvPr/>
            </p:nvSpPr>
            <p:spPr>
              <a:xfrm>
                <a:off x="11468100" y="1066799"/>
                <a:ext cx="228599" cy="9525"/>
              </a:xfrm>
              <a:custGeom>
                <a:avLst/>
                <a:gdLst/>
                <a:ahLst/>
                <a:cxnLst/>
                <a:rect l="l" t="t" r="r" b="b"/>
                <a:pathLst>
                  <a:path w="228599" h="9525">
                    <a:moveTo>
                      <a:pt x="0" y="0"/>
                    </a:moveTo>
                    <a:lnTo>
                      <a:pt x="228599" y="0"/>
                    </a:lnTo>
                  </a:path>
                </a:pathLst>
              </a:custGeom>
              <a:noFill/>
              <a:ln w="25400">
                <a:solidFill>
                  <a:srgbClr val="FFFFFF"/>
                </a:solidFill>
              </a:ln>
            </p:spPr>
          </p:sp>
          <p:sp>
            <p:nvSpPr>
              <p:cNvPr id="43" name="Freeform 43"/>
              <p:cNvSpPr/>
              <p:nvPr/>
            </p:nvSpPr>
            <p:spPr>
              <a:xfrm>
                <a:off x="11468100" y="927100"/>
                <a:ext cx="228599" cy="9525"/>
              </a:xfrm>
              <a:custGeom>
                <a:avLst/>
                <a:gdLst/>
                <a:ahLst/>
                <a:cxnLst/>
                <a:rect l="l" t="t" r="r" b="b"/>
                <a:pathLst>
                  <a:path w="228599" h="9525">
                    <a:moveTo>
                      <a:pt x="0" y="0"/>
                    </a:moveTo>
                    <a:lnTo>
                      <a:pt x="228599" y="0"/>
                    </a:lnTo>
                  </a:path>
                </a:pathLst>
              </a:custGeom>
              <a:noFill/>
              <a:ln w="25400">
                <a:solidFill>
                  <a:srgbClr val="FFFFFF"/>
                </a:solidFill>
              </a:ln>
            </p:spPr>
          </p:sp>
          <p:sp>
            <p:nvSpPr>
              <p:cNvPr id="44" name="Freeform 44"/>
              <p:cNvSpPr/>
              <p:nvPr/>
            </p:nvSpPr>
            <p:spPr>
              <a:xfrm>
                <a:off x="11493500" y="838200"/>
                <a:ext cx="177800" cy="38100"/>
              </a:xfrm>
              <a:custGeom>
                <a:avLst/>
                <a:gdLst/>
                <a:ahLst/>
                <a:cxnLst/>
                <a:rect l="l" t="t" r="r" b="b"/>
                <a:pathLst>
                  <a:path w="177800" h="38100">
                    <a:moveTo>
                      <a:pt x="0" y="38100"/>
                    </a:moveTo>
                    <a:lnTo>
                      <a:pt x="88900" y="0"/>
                    </a:lnTo>
                    <a:lnTo>
                      <a:pt x="177800" y="38100"/>
                    </a:lnTo>
                  </a:path>
                </a:pathLst>
              </a:custGeom>
              <a:noFill/>
              <a:ln w="25400">
                <a:solidFill>
                  <a:srgbClr val="FFFFFF"/>
                </a:solidFill>
              </a:ln>
            </p:spPr>
          </p:sp>
          <p:sp>
            <p:nvSpPr>
              <p:cNvPr id="45" name="Freeform 45"/>
              <p:cNvSpPr/>
              <p:nvPr/>
            </p:nvSpPr>
            <p:spPr>
              <a:xfrm>
                <a:off x="11480800" y="927100"/>
                <a:ext cx="9525" cy="139700"/>
              </a:xfrm>
              <a:custGeom>
                <a:avLst/>
                <a:gdLst/>
                <a:ahLst/>
                <a:cxnLst/>
                <a:rect l="l" t="t" r="r" b="b"/>
                <a:pathLst>
                  <a:path w="9525" h="139700">
                    <a:moveTo>
                      <a:pt x="0" y="0"/>
                    </a:moveTo>
                    <a:lnTo>
                      <a:pt x="0" y="139700"/>
                    </a:lnTo>
                  </a:path>
                </a:pathLst>
              </a:custGeom>
              <a:noFill/>
              <a:ln w="25400">
                <a:solidFill>
                  <a:srgbClr val="FFFFFF"/>
                </a:solidFill>
              </a:ln>
            </p:spPr>
          </p:sp>
          <p:sp>
            <p:nvSpPr>
              <p:cNvPr id="46" name="Freeform 46"/>
              <p:cNvSpPr/>
              <p:nvPr/>
            </p:nvSpPr>
            <p:spPr>
              <a:xfrm>
                <a:off x="11683999" y="927100"/>
                <a:ext cx="9525" cy="139700"/>
              </a:xfrm>
              <a:custGeom>
                <a:avLst/>
                <a:gdLst/>
                <a:ahLst/>
                <a:cxnLst/>
                <a:rect l="l" t="t" r="r" b="b"/>
                <a:pathLst>
                  <a:path w="9525" h="139700">
                    <a:moveTo>
                      <a:pt x="0" y="0"/>
                    </a:moveTo>
                    <a:lnTo>
                      <a:pt x="0" y="139700"/>
                    </a:lnTo>
                  </a:path>
                </a:pathLst>
              </a:custGeom>
              <a:noFill/>
              <a:ln w="25400">
                <a:solidFill>
                  <a:srgbClr val="FFFFFF"/>
                </a:solidFill>
              </a:ln>
            </p:spPr>
          </p:sp>
          <p:sp>
            <p:nvSpPr>
              <p:cNvPr id="47" name="Freeform 47"/>
              <p:cNvSpPr/>
              <p:nvPr/>
            </p:nvSpPr>
            <p:spPr>
              <a:xfrm>
                <a:off x="11531600" y="977900"/>
                <a:ext cx="9525" cy="38100"/>
              </a:xfrm>
              <a:custGeom>
                <a:avLst/>
                <a:gdLst/>
                <a:ahLst/>
                <a:cxnLst/>
                <a:rect l="l" t="t" r="r" b="b"/>
                <a:pathLst>
                  <a:path w="9525" h="38100">
                    <a:moveTo>
                      <a:pt x="0" y="0"/>
                    </a:moveTo>
                    <a:lnTo>
                      <a:pt x="0" y="38100"/>
                    </a:lnTo>
                  </a:path>
                </a:pathLst>
              </a:custGeom>
              <a:noFill/>
              <a:ln w="25400">
                <a:solidFill>
                  <a:srgbClr val="FFFFFF"/>
                </a:solidFill>
              </a:ln>
            </p:spPr>
          </p:sp>
          <p:sp>
            <p:nvSpPr>
              <p:cNvPr id="48" name="Freeform 48"/>
              <p:cNvSpPr/>
              <p:nvPr/>
            </p:nvSpPr>
            <p:spPr>
              <a:xfrm>
                <a:off x="11582400" y="977900"/>
                <a:ext cx="9525" cy="38100"/>
              </a:xfrm>
              <a:custGeom>
                <a:avLst/>
                <a:gdLst/>
                <a:ahLst/>
                <a:cxnLst/>
                <a:rect l="l" t="t" r="r" b="b"/>
                <a:pathLst>
                  <a:path w="9525" h="38100">
                    <a:moveTo>
                      <a:pt x="0" y="0"/>
                    </a:moveTo>
                    <a:lnTo>
                      <a:pt x="0" y="38100"/>
                    </a:lnTo>
                  </a:path>
                </a:pathLst>
              </a:custGeom>
              <a:noFill/>
              <a:ln w="25400">
                <a:solidFill>
                  <a:srgbClr val="FFFFFF"/>
                </a:solidFill>
              </a:ln>
            </p:spPr>
          </p:sp>
          <p:sp>
            <p:nvSpPr>
              <p:cNvPr id="49" name="Freeform 49"/>
              <p:cNvSpPr/>
              <p:nvPr/>
            </p:nvSpPr>
            <p:spPr>
              <a:xfrm>
                <a:off x="11633199" y="977900"/>
                <a:ext cx="9525" cy="38100"/>
              </a:xfrm>
              <a:custGeom>
                <a:avLst/>
                <a:gdLst/>
                <a:ahLst/>
                <a:cxnLst/>
                <a:rect l="l" t="t" r="r" b="b"/>
                <a:pathLst>
                  <a:path w="9525" h="38100">
                    <a:moveTo>
                      <a:pt x="0" y="0"/>
                    </a:moveTo>
                    <a:lnTo>
                      <a:pt x="0" y="38100"/>
                    </a:lnTo>
                  </a:path>
                </a:pathLst>
              </a:custGeom>
              <a:noFill/>
              <a:ln w="25400">
                <a:solidFill>
                  <a:srgbClr val="FFFFFF"/>
                </a:solidFill>
              </a:ln>
            </p:spPr>
          </p:sp>
        </p:grpSp>
        <p:sp>
          <p:nvSpPr>
            <p:cNvPr id="51" name="TextBox 51"/>
            <p:cNvSpPr txBox="1"/>
            <p:nvPr/>
          </p:nvSpPr>
          <p:spPr>
            <a:xfrm>
              <a:off x="11313592" y="12282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可信治理</a:t>
              </a:r>
            </a:p>
          </p:txBody>
        </p:sp>
        <p:sp>
          <p:nvSpPr>
            <p:cNvPr id="52" name="Line 52"/>
            <p:cNvSpPr/>
            <p:nvPr/>
          </p:nvSpPr>
          <p:spPr>
            <a:xfrm>
              <a:off x="11296650" y="1466850"/>
              <a:ext cx="571500" cy="9525"/>
            </a:xfrm>
            <a:custGeom>
              <a:avLst/>
              <a:gdLst/>
              <a:ahLst/>
              <a:cxnLst/>
              <a:rect l="l" t="t" r="r" b="b"/>
              <a:pathLst>
                <a:path w="571500" h="9525">
                  <a:moveTo>
                    <a:pt x="0" y="0"/>
                  </a:moveTo>
                  <a:lnTo>
                    <a:pt x="571500" y="0"/>
                  </a:lnTo>
                </a:path>
              </a:pathLst>
            </a:custGeom>
            <a:noFill/>
            <a:ln w="9525">
              <a:solidFill>
                <a:srgbClr val="7C3B2F"/>
              </a:solidFill>
            </a:ln>
          </p:spPr>
        </p:sp>
        <p:grpSp>
          <p:nvGrpSpPr>
            <p:cNvPr id="56" name="Group 56"/>
            <p:cNvGrpSpPr/>
            <p:nvPr/>
          </p:nvGrpSpPr>
          <p:grpSpPr>
            <a:xfrm>
              <a:off x="11341100" y="1695450"/>
              <a:ext cx="101600" cy="114300"/>
              <a:chOff x="11341100" y="1695450"/>
              <a:chExt cx="101600" cy="114300"/>
            </a:xfrm>
          </p:grpSpPr>
          <p:sp>
            <p:nvSpPr>
              <p:cNvPr id="53" name="Freeform 53"/>
              <p:cNvSpPr/>
              <p:nvPr/>
            </p:nvSpPr>
            <p:spPr>
              <a:xfrm>
                <a:off x="11341100" y="16954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E4B7AF"/>
                </a:solidFill>
              </a:ln>
            </p:spPr>
          </p:sp>
          <p:sp>
            <p:nvSpPr>
              <p:cNvPr id="54" name="Freeform 54"/>
              <p:cNvSpPr/>
              <p:nvPr/>
            </p:nvSpPr>
            <p:spPr>
              <a:xfrm>
                <a:off x="11341100" y="17145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E4B7AF"/>
                </a:solidFill>
              </a:ln>
            </p:spPr>
          </p:sp>
          <p:sp>
            <p:nvSpPr>
              <p:cNvPr id="55" name="Freeform 55"/>
              <p:cNvSpPr/>
              <p:nvPr/>
            </p:nvSpPr>
            <p:spPr>
              <a:xfrm>
                <a:off x="11341100" y="17526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E4B7AF"/>
                </a:solidFill>
              </a:ln>
            </p:spPr>
          </p:sp>
        </p:grpSp>
        <p:sp>
          <p:nvSpPr>
            <p:cNvPr id="57" name="TextBox 57"/>
            <p:cNvSpPr txBox="1"/>
            <p:nvPr/>
          </p:nvSpPr>
          <p:spPr>
            <a:xfrm>
              <a:off x="11520488" y="1715214"/>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数据治理</a:t>
              </a:r>
            </a:p>
          </p:txBody>
        </p:sp>
        <p:sp>
          <p:nvSpPr>
            <p:cNvPr id="58" name="TextBox 58"/>
            <p:cNvSpPr txBox="1"/>
            <p:nvPr/>
          </p:nvSpPr>
          <p:spPr>
            <a:xfrm>
              <a:off x="11310938" y="193143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标准规范</a:t>
              </a:r>
            </a:p>
          </p:txBody>
        </p:sp>
        <p:sp>
          <p:nvSpPr>
            <p:cNvPr id="59" name="TextBox 59"/>
            <p:cNvSpPr txBox="1"/>
            <p:nvPr/>
          </p:nvSpPr>
          <p:spPr>
            <a:xfrm>
              <a:off x="11310938" y="206478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质量评估</a:t>
              </a:r>
            </a:p>
          </p:txBody>
        </p:sp>
        <p:grpSp>
          <p:nvGrpSpPr>
            <p:cNvPr id="63" name="Group 63"/>
            <p:cNvGrpSpPr/>
            <p:nvPr/>
          </p:nvGrpSpPr>
          <p:grpSpPr>
            <a:xfrm>
              <a:off x="11334750" y="2857500"/>
              <a:ext cx="114300" cy="114300"/>
              <a:chOff x="11334750" y="2857500"/>
              <a:chExt cx="114300" cy="114300"/>
            </a:xfrm>
          </p:grpSpPr>
          <p:sp>
            <p:nvSpPr>
              <p:cNvPr id="60" name="Freeform 60"/>
              <p:cNvSpPr/>
              <p:nvPr/>
            </p:nvSpPr>
            <p:spPr>
              <a:xfrm>
                <a:off x="11385550" y="29083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E4B7AF"/>
                </a:solidFill>
              </a:ln>
            </p:spPr>
          </p:sp>
          <p:sp>
            <p:nvSpPr>
              <p:cNvPr id="61" name="Freeform 61"/>
              <p:cNvSpPr/>
              <p:nvPr/>
            </p:nvSpPr>
            <p:spPr>
              <a:xfrm>
                <a:off x="11360150" y="28829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E4B7AF"/>
                </a:solidFill>
              </a:ln>
            </p:spPr>
          </p:sp>
          <p:sp>
            <p:nvSpPr>
              <p:cNvPr id="62" name="Freeform 62"/>
              <p:cNvSpPr/>
              <p:nvPr/>
            </p:nvSpPr>
            <p:spPr>
              <a:xfrm>
                <a:off x="11334750" y="28575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E4B7AF"/>
                </a:solidFill>
              </a:ln>
            </p:spPr>
          </p:sp>
        </p:grpSp>
        <p:sp>
          <p:nvSpPr>
            <p:cNvPr id="64" name="TextBox 64"/>
            <p:cNvSpPr txBox="1"/>
            <p:nvPr/>
          </p:nvSpPr>
          <p:spPr>
            <a:xfrm>
              <a:off x="11520488" y="2877264"/>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模型治理</a:t>
              </a:r>
            </a:p>
          </p:txBody>
        </p:sp>
        <p:sp>
          <p:nvSpPr>
            <p:cNvPr id="65" name="TextBox 65"/>
            <p:cNvSpPr txBox="1"/>
            <p:nvPr/>
          </p:nvSpPr>
          <p:spPr>
            <a:xfrm>
              <a:off x="11310938" y="309348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评测监控</a:t>
              </a:r>
            </a:p>
          </p:txBody>
        </p:sp>
        <p:sp>
          <p:nvSpPr>
            <p:cNvPr id="66" name="TextBox 66"/>
            <p:cNvSpPr txBox="1"/>
            <p:nvPr/>
          </p:nvSpPr>
          <p:spPr>
            <a:xfrm>
              <a:off x="11310938" y="322683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版本管理</a:t>
              </a:r>
            </a:p>
          </p:txBody>
        </p:sp>
        <p:grpSp>
          <p:nvGrpSpPr>
            <p:cNvPr id="72" name="Group 72"/>
            <p:cNvGrpSpPr/>
            <p:nvPr/>
          </p:nvGrpSpPr>
          <p:grpSpPr>
            <a:xfrm>
              <a:off x="11347450" y="4019550"/>
              <a:ext cx="88900" cy="114300"/>
              <a:chOff x="11347450" y="4019550"/>
              <a:chExt cx="88900" cy="114300"/>
            </a:xfrm>
          </p:grpSpPr>
          <p:sp>
            <p:nvSpPr>
              <p:cNvPr id="67" name="Freeform 67"/>
              <p:cNvSpPr/>
              <p:nvPr/>
            </p:nvSpPr>
            <p:spPr>
              <a:xfrm>
                <a:off x="11404600" y="40195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E4B7AF"/>
                </a:solidFill>
              </a:ln>
            </p:spPr>
          </p:sp>
          <p:sp>
            <p:nvSpPr>
              <p:cNvPr id="68" name="Freeform 68"/>
              <p:cNvSpPr/>
              <p:nvPr/>
            </p:nvSpPr>
            <p:spPr>
              <a:xfrm>
                <a:off x="11347450" y="40195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E4B7AF"/>
                </a:solidFill>
              </a:ln>
            </p:spPr>
          </p:sp>
          <p:sp>
            <p:nvSpPr>
              <p:cNvPr id="69" name="Freeform 69"/>
              <p:cNvSpPr/>
              <p:nvPr/>
            </p:nvSpPr>
            <p:spPr>
              <a:xfrm>
                <a:off x="11372850" y="4057650"/>
                <a:ext cx="9525" cy="9525"/>
              </a:xfrm>
              <a:custGeom>
                <a:avLst/>
                <a:gdLst/>
                <a:ahLst/>
                <a:cxnLst/>
                <a:rect l="l" t="t" r="r" b="b"/>
                <a:pathLst>
                  <a:path w="9525" h="9525">
                    <a:moveTo>
                      <a:pt x="0" y="0"/>
                    </a:moveTo>
                    <a:lnTo>
                      <a:pt x="6350" y="0"/>
                    </a:lnTo>
                  </a:path>
                </a:pathLst>
              </a:custGeom>
              <a:noFill/>
              <a:ln w="12700">
                <a:solidFill>
                  <a:srgbClr val="E4B7AF"/>
                </a:solidFill>
              </a:ln>
            </p:spPr>
          </p:sp>
          <p:sp>
            <p:nvSpPr>
              <p:cNvPr id="70" name="Freeform 70"/>
              <p:cNvSpPr/>
              <p:nvPr/>
            </p:nvSpPr>
            <p:spPr>
              <a:xfrm>
                <a:off x="11372850" y="4083050"/>
                <a:ext cx="38100" cy="9525"/>
              </a:xfrm>
              <a:custGeom>
                <a:avLst/>
                <a:gdLst/>
                <a:ahLst/>
                <a:cxnLst/>
                <a:rect l="l" t="t" r="r" b="b"/>
                <a:pathLst>
                  <a:path w="38100" h="9525">
                    <a:moveTo>
                      <a:pt x="0" y="0"/>
                    </a:moveTo>
                    <a:lnTo>
                      <a:pt x="38100" y="0"/>
                    </a:lnTo>
                  </a:path>
                </a:pathLst>
              </a:custGeom>
              <a:noFill/>
              <a:ln w="12700">
                <a:solidFill>
                  <a:srgbClr val="E4B7AF"/>
                </a:solidFill>
              </a:ln>
            </p:spPr>
          </p:sp>
          <p:sp>
            <p:nvSpPr>
              <p:cNvPr id="71" name="Freeform 71"/>
              <p:cNvSpPr/>
              <p:nvPr/>
            </p:nvSpPr>
            <p:spPr>
              <a:xfrm>
                <a:off x="11372850" y="4108450"/>
                <a:ext cx="38100" cy="9525"/>
              </a:xfrm>
              <a:custGeom>
                <a:avLst/>
                <a:gdLst/>
                <a:ahLst/>
                <a:cxnLst/>
                <a:rect l="l" t="t" r="r" b="b"/>
                <a:pathLst>
                  <a:path w="38100" h="9525">
                    <a:moveTo>
                      <a:pt x="0" y="0"/>
                    </a:moveTo>
                    <a:lnTo>
                      <a:pt x="38100" y="0"/>
                    </a:lnTo>
                  </a:path>
                </a:pathLst>
              </a:custGeom>
              <a:noFill/>
              <a:ln w="12700">
                <a:solidFill>
                  <a:srgbClr val="E4B7AF"/>
                </a:solidFill>
              </a:ln>
            </p:spPr>
          </p:sp>
        </p:grpSp>
        <p:sp>
          <p:nvSpPr>
            <p:cNvPr id="73" name="TextBox 73"/>
            <p:cNvSpPr txBox="1"/>
            <p:nvPr/>
          </p:nvSpPr>
          <p:spPr>
            <a:xfrm>
              <a:off x="11520488" y="4039314"/>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内容治理</a:t>
              </a:r>
            </a:p>
          </p:txBody>
        </p:sp>
        <p:sp>
          <p:nvSpPr>
            <p:cNvPr id="74" name="TextBox 74"/>
            <p:cNvSpPr txBox="1"/>
            <p:nvPr/>
          </p:nvSpPr>
          <p:spPr>
            <a:xfrm>
              <a:off x="11310938" y="425553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知识审核</a:t>
              </a:r>
            </a:p>
          </p:txBody>
        </p:sp>
        <p:sp>
          <p:nvSpPr>
            <p:cNvPr id="75" name="TextBox 75"/>
            <p:cNvSpPr txBox="1"/>
            <p:nvPr/>
          </p:nvSpPr>
          <p:spPr>
            <a:xfrm>
              <a:off x="11310938" y="438888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更新维护</a:t>
              </a:r>
            </a:p>
          </p:txBody>
        </p:sp>
        <p:grpSp>
          <p:nvGrpSpPr>
            <p:cNvPr id="78" name="Group 78"/>
            <p:cNvGrpSpPr/>
            <p:nvPr/>
          </p:nvGrpSpPr>
          <p:grpSpPr>
            <a:xfrm>
              <a:off x="11341100" y="5200650"/>
              <a:ext cx="101600" cy="92075"/>
              <a:chOff x="11341100" y="5200650"/>
              <a:chExt cx="101600" cy="92075"/>
            </a:xfrm>
          </p:grpSpPr>
          <p:sp>
            <p:nvSpPr>
              <p:cNvPr id="76" name="Freeform 76"/>
              <p:cNvSpPr/>
              <p:nvPr/>
            </p:nvSpPr>
            <p:spPr>
              <a:xfrm>
                <a:off x="11341100" y="5283200"/>
                <a:ext cx="101600" cy="9525"/>
              </a:xfrm>
              <a:custGeom>
                <a:avLst/>
                <a:gdLst/>
                <a:ahLst/>
                <a:cxnLst/>
                <a:rect l="l" t="t" r="r" b="b"/>
                <a:pathLst>
                  <a:path w="101600" h="9525">
                    <a:moveTo>
                      <a:pt x="0" y="0"/>
                    </a:moveTo>
                    <a:lnTo>
                      <a:pt x="101600" y="0"/>
                    </a:lnTo>
                  </a:path>
                </a:pathLst>
              </a:custGeom>
              <a:noFill/>
              <a:ln w="12700">
                <a:solidFill>
                  <a:srgbClr val="E4B7AF"/>
                </a:solidFill>
              </a:ln>
            </p:spPr>
          </p:sp>
          <p:sp>
            <p:nvSpPr>
              <p:cNvPr id="77" name="Freeform 77"/>
              <p:cNvSpPr/>
              <p:nvPr/>
            </p:nvSpPr>
            <p:spPr>
              <a:xfrm>
                <a:off x="11341100" y="520065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E4B7AF"/>
                </a:solidFill>
              </a:ln>
            </p:spPr>
          </p:sp>
        </p:grpSp>
        <p:sp>
          <p:nvSpPr>
            <p:cNvPr id="79" name="TextBox 79"/>
            <p:cNvSpPr txBox="1"/>
            <p:nvPr/>
          </p:nvSpPr>
          <p:spPr>
            <a:xfrm>
              <a:off x="11520488" y="5201364"/>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运营治理</a:t>
              </a:r>
            </a:p>
          </p:txBody>
        </p:sp>
        <p:sp>
          <p:nvSpPr>
            <p:cNvPr id="80" name="TextBox 80"/>
            <p:cNvSpPr txBox="1"/>
            <p:nvPr/>
          </p:nvSpPr>
          <p:spPr>
            <a:xfrm>
              <a:off x="11310938" y="541758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效果评估</a:t>
              </a:r>
            </a:p>
          </p:txBody>
        </p:sp>
        <p:sp>
          <p:nvSpPr>
            <p:cNvPr id="81" name="TextBox 81"/>
            <p:cNvSpPr txBox="1"/>
            <p:nvPr/>
          </p:nvSpPr>
          <p:spPr>
            <a:xfrm>
              <a:off x="11310938" y="5550932"/>
              <a:ext cx="354152"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持续改进</a:t>
              </a:r>
            </a:p>
          </p:txBody>
        </p:sp>
      </p:grpSp>
      <p:grpSp>
        <p:nvGrpSpPr>
          <p:cNvPr id="105" name="layer-scene"/>
          <p:cNvGrpSpPr/>
          <p:nvPr/>
        </p:nvGrpSpPr>
        <p:grpSpPr>
          <a:xfrm>
            <a:off x="1143000" y="666750"/>
            <a:ext cx="9639300" cy="914400"/>
            <a:chOff x="1143000" y="666750"/>
            <a:chExt cx="9639300" cy="914400"/>
          </a:xfrm>
        </p:grpSpPr>
        <p:sp>
          <p:nvSpPr>
            <p:cNvPr id="83" name="Rectangle 83"/>
            <p:cNvSpPr/>
            <p:nvPr/>
          </p:nvSpPr>
          <p:spPr>
            <a:xfrm>
              <a:off x="1143000" y="666750"/>
              <a:ext cx="9639300" cy="914400"/>
            </a:xfrm>
            <a:prstGeom prst="roundRect">
              <a:avLst>
                <a:gd name="adj" fmla="val 8333"/>
              </a:avLst>
            </a:prstGeom>
            <a:solidFill>
              <a:srgbClr val="FFFFFF"/>
            </a:solidFill>
            <a:ln w="9525">
              <a:solidFill>
                <a:srgbClr val="D9E8C6"/>
              </a:solidFill>
            </a:ln>
          </p:spPr>
        </p:sp>
        <p:sp>
          <p:nvSpPr>
            <p:cNvPr id="84" name="Rectangle 84"/>
            <p:cNvSpPr/>
            <p:nvPr/>
          </p:nvSpPr>
          <p:spPr>
            <a:xfrm>
              <a:off x="1257300" y="781050"/>
              <a:ext cx="1143000" cy="685800"/>
            </a:xfrm>
            <a:prstGeom prst="roundRect">
              <a:avLst>
                <a:gd name="adj" fmla="val 11111"/>
              </a:avLst>
            </a:prstGeom>
            <a:solidFill>
              <a:srgbClr val="42140B"/>
            </a:solidFill>
            <a:ln>
              <a:noFill/>
            </a:ln>
          </p:spPr>
        </p:sp>
        <p:grpSp>
          <p:nvGrpSpPr>
            <p:cNvPr id="88" name="Group 88"/>
            <p:cNvGrpSpPr/>
            <p:nvPr/>
          </p:nvGrpSpPr>
          <p:grpSpPr>
            <a:xfrm>
              <a:off x="1457325" y="923925"/>
              <a:ext cx="171450" cy="171450"/>
              <a:chOff x="1457325" y="923925"/>
              <a:chExt cx="171450" cy="171450"/>
            </a:xfrm>
          </p:grpSpPr>
          <p:sp>
            <p:nvSpPr>
              <p:cNvPr id="85" name="Freeform 85"/>
              <p:cNvSpPr/>
              <p:nvPr/>
            </p:nvSpPr>
            <p:spPr>
              <a:xfrm>
                <a:off x="1533525" y="10001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86" name="Freeform 86"/>
              <p:cNvSpPr/>
              <p:nvPr/>
            </p:nvSpPr>
            <p:spPr>
              <a:xfrm>
                <a:off x="1495425" y="9620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FFFFFF"/>
                </a:solidFill>
              </a:ln>
            </p:spPr>
          </p:sp>
          <p:sp>
            <p:nvSpPr>
              <p:cNvPr id="87" name="Freeform 87"/>
              <p:cNvSpPr/>
              <p:nvPr/>
            </p:nvSpPr>
            <p:spPr>
              <a:xfrm>
                <a:off x="1457325" y="9239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grpSp>
        <p:sp>
          <p:nvSpPr>
            <p:cNvPr id="89" name="TextBox 89"/>
            <p:cNvSpPr txBox="1"/>
            <p:nvPr/>
          </p:nvSpPr>
          <p:spPr>
            <a:xfrm>
              <a:off x="1824038" y="969645"/>
              <a:ext cx="61531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业务场景层</a:t>
              </a:r>
            </a:p>
          </p:txBody>
        </p:sp>
        <p:sp>
          <p:nvSpPr>
            <p:cNvPr id="90" name="TextBox 90"/>
            <p:cNvSpPr txBox="1"/>
            <p:nvPr/>
          </p:nvSpPr>
          <p:spPr>
            <a:xfrm>
              <a:off x="1824038" y="1188482"/>
              <a:ext cx="526466"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以价值为牵引</a:t>
              </a:r>
            </a:p>
          </p:txBody>
        </p:sp>
        <p:grpSp>
          <p:nvGrpSpPr>
            <p:cNvPr id="104" name="scene-chips"/>
            <p:cNvGrpSpPr/>
            <p:nvPr/>
          </p:nvGrpSpPr>
          <p:grpSpPr>
            <a:xfrm>
              <a:off x="2514600" y="952500"/>
              <a:ext cx="8039081" cy="342900"/>
              <a:chOff x="2514600" y="952500"/>
              <a:chExt cx="8039081" cy="342900"/>
            </a:xfrm>
          </p:grpSpPr>
          <p:sp>
            <p:nvSpPr>
              <p:cNvPr id="91" name="Rectangle 91"/>
              <p:cNvSpPr/>
              <p:nvPr/>
            </p:nvSpPr>
            <p:spPr>
              <a:xfrm>
                <a:off x="2514600" y="952500"/>
                <a:ext cx="1200150" cy="342900"/>
              </a:xfrm>
              <a:prstGeom prst="roundRect">
                <a:avLst>
                  <a:gd name="adj" fmla="val 16667"/>
                </a:avLst>
              </a:prstGeom>
              <a:solidFill>
                <a:srgbClr val="F4F8EC"/>
              </a:solidFill>
              <a:ln w="9525">
                <a:solidFill>
                  <a:srgbClr val="D9E8C6"/>
                </a:solidFill>
              </a:ln>
            </p:spPr>
          </p:sp>
          <p:sp>
            <p:nvSpPr>
              <p:cNvPr id="92" name="TextBox 92"/>
              <p:cNvSpPr txBox="1"/>
              <p:nvPr/>
            </p:nvSpPr>
            <p:spPr>
              <a:xfrm>
                <a:off x="2889136" y="1082516"/>
                <a:ext cx="451079" cy="161925"/>
              </a:xfrm>
              <a:prstGeom prst="rect">
                <a:avLst/>
              </a:prstGeom>
              <a:noFill/>
              <a:ln>
                <a:noFill/>
              </a:ln>
            </p:spPr>
            <p:txBody>
              <a:bodyPr wrap="none" lIns="0" tIns="0" rIns="0" bIns="0" anchor="t" anchorCtr="0">
                <a:spAutoFit/>
              </a:bodyPr>
              <a:lstStyle/>
              <a:p>
                <a:pPr algn="ctr"/>
                <a:r>
                  <a:rPr lang="zh-CN" sz="820" dirty="0">
                    <a:solidFill>
                      <a:srgbClr val="42140B"/>
                    </a:solidFill>
                    <a:latin typeface="+mn-lt"/>
                    <a:ea typeface="+mn-ea"/>
                    <a:cs typeface="+mn-cs"/>
                  </a:rPr>
                  <a:t>智能问答</a:t>
                </a:r>
              </a:p>
            </p:txBody>
          </p:sp>
          <p:sp>
            <p:nvSpPr>
              <p:cNvPr id="93" name="Rectangle 93"/>
              <p:cNvSpPr/>
              <p:nvPr/>
            </p:nvSpPr>
            <p:spPr>
              <a:xfrm>
                <a:off x="3810000" y="952500"/>
                <a:ext cx="1200150" cy="342900"/>
              </a:xfrm>
              <a:prstGeom prst="roundRect">
                <a:avLst>
                  <a:gd name="adj" fmla="val 16667"/>
                </a:avLst>
              </a:prstGeom>
              <a:solidFill>
                <a:srgbClr val="F4F8EC"/>
              </a:solidFill>
              <a:ln w="9525">
                <a:solidFill>
                  <a:srgbClr val="D9E8C6"/>
                </a:solidFill>
              </a:ln>
            </p:spPr>
          </p:sp>
          <p:sp>
            <p:nvSpPr>
              <p:cNvPr id="94" name="TextBox 94"/>
              <p:cNvSpPr txBox="1"/>
              <p:nvPr/>
            </p:nvSpPr>
            <p:spPr>
              <a:xfrm>
                <a:off x="4184536" y="1082516"/>
                <a:ext cx="451079" cy="161925"/>
              </a:xfrm>
              <a:prstGeom prst="rect">
                <a:avLst/>
              </a:prstGeom>
              <a:noFill/>
              <a:ln>
                <a:noFill/>
              </a:ln>
            </p:spPr>
            <p:txBody>
              <a:bodyPr wrap="none" lIns="0" tIns="0" rIns="0" bIns="0" anchor="t" anchorCtr="0">
                <a:spAutoFit/>
              </a:bodyPr>
              <a:lstStyle/>
              <a:p>
                <a:pPr algn="ctr"/>
                <a:r>
                  <a:rPr lang="zh-CN" sz="820" dirty="0">
                    <a:solidFill>
                      <a:srgbClr val="42140B"/>
                    </a:solidFill>
                    <a:latin typeface="+mn-lt"/>
                    <a:ea typeface="+mn-ea"/>
                    <a:cs typeface="+mn-cs"/>
                  </a:rPr>
                  <a:t>制度助手</a:t>
                </a:r>
              </a:p>
            </p:txBody>
          </p:sp>
          <p:sp>
            <p:nvSpPr>
              <p:cNvPr id="95" name="Rectangle 95"/>
              <p:cNvSpPr/>
              <p:nvPr/>
            </p:nvSpPr>
            <p:spPr>
              <a:xfrm>
                <a:off x="5105400" y="952500"/>
                <a:ext cx="1200150" cy="342900"/>
              </a:xfrm>
              <a:prstGeom prst="roundRect">
                <a:avLst>
                  <a:gd name="adj" fmla="val 16667"/>
                </a:avLst>
              </a:prstGeom>
              <a:solidFill>
                <a:srgbClr val="F4F8EC"/>
              </a:solidFill>
              <a:ln w="9525">
                <a:solidFill>
                  <a:srgbClr val="D9E8C6"/>
                </a:solidFill>
              </a:ln>
            </p:spPr>
          </p:sp>
          <p:sp>
            <p:nvSpPr>
              <p:cNvPr id="96" name="TextBox 96"/>
              <p:cNvSpPr txBox="1"/>
              <p:nvPr/>
            </p:nvSpPr>
            <p:spPr>
              <a:xfrm>
                <a:off x="5479936" y="1082516"/>
                <a:ext cx="451079" cy="161925"/>
              </a:xfrm>
              <a:prstGeom prst="rect">
                <a:avLst/>
              </a:prstGeom>
              <a:noFill/>
              <a:ln>
                <a:noFill/>
              </a:ln>
            </p:spPr>
            <p:txBody>
              <a:bodyPr wrap="none" lIns="0" tIns="0" rIns="0" bIns="0" anchor="t" anchorCtr="0">
                <a:spAutoFit/>
              </a:bodyPr>
              <a:lstStyle/>
              <a:p>
                <a:pPr algn="ctr"/>
                <a:r>
                  <a:rPr lang="zh-CN" sz="820" dirty="0">
                    <a:solidFill>
                      <a:srgbClr val="42140B"/>
                    </a:solidFill>
                    <a:latin typeface="+mn-lt"/>
                    <a:ea typeface="+mn-ea"/>
                    <a:cs typeface="+mn-cs"/>
                  </a:rPr>
                  <a:t>项目复盘</a:t>
                </a:r>
              </a:p>
            </p:txBody>
          </p:sp>
          <p:sp>
            <p:nvSpPr>
              <p:cNvPr id="97" name="Rectangle 97"/>
              <p:cNvSpPr/>
              <p:nvPr/>
            </p:nvSpPr>
            <p:spPr>
              <a:xfrm>
                <a:off x="6400800" y="952500"/>
                <a:ext cx="1200150" cy="342900"/>
              </a:xfrm>
              <a:prstGeom prst="roundRect">
                <a:avLst>
                  <a:gd name="adj" fmla="val 16667"/>
                </a:avLst>
              </a:prstGeom>
              <a:solidFill>
                <a:srgbClr val="F4F8EC"/>
              </a:solidFill>
              <a:ln w="9525">
                <a:solidFill>
                  <a:srgbClr val="D9E8C6"/>
                </a:solidFill>
              </a:ln>
            </p:spPr>
          </p:sp>
          <p:sp>
            <p:nvSpPr>
              <p:cNvPr id="98" name="TextBox 98"/>
              <p:cNvSpPr txBox="1"/>
              <p:nvPr/>
            </p:nvSpPr>
            <p:spPr>
              <a:xfrm>
                <a:off x="6775336" y="1082516"/>
                <a:ext cx="451079" cy="161925"/>
              </a:xfrm>
              <a:prstGeom prst="rect">
                <a:avLst/>
              </a:prstGeom>
              <a:noFill/>
              <a:ln>
                <a:noFill/>
              </a:ln>
            </p:spPr>
            <p:txBody>
              <a:bodyPr wrap="none" lIns="0" tIns="0" rIns="0" bIns="0" anchor="t" anchorCtr="0">
                <a:spAutoFit/>
              </a:bodyPr>
              <a:lstStyle/>
              <a:p>
                <a:pPr algn="ctr"/>
                <a:r>
                  <a:rPr lang="zh-CN" sz="820" dirty="0">
                    <a:solidFill>
                      <a:srgbClr val="42140B"/>
                    </a:solidFill>
                    <a:latin typeface="+mn-lt"/>
                    <a:ea typeface="+mn-ea"/>
                    <a:cs typeface="+mn-cs"/>
                  </a:rPr>
                  <a:t>客服坐席</a:t>
                </a:r>
              </a:p>
            </p:txBody>
          </p:sp>
          <p:sp>
            <p:nvSpPr>
              <p:cNvPr id="99" name="Rectangle 99"/>
              <p:cNvSpPr/>
              <p:nvPr/>
            </p:nvSpPr>
            <p:spPr>
              <a:xfrm>
                <a:off x="7696200" y="952500"/>
                <a:ext cx="1200150" cy="342900"/>
              </a:xfrm>
              <a:prstGeom prst="roundRect">
                <a:avLst>
                  <a:gd name="adj" fmla="val 16667"/>
                </a:avLst>
              </a:prstGeom>
              <a:solidFill>
                <a:srgbClr val="F4F8EC"/>
              </a:solidFill>
              <a:ln w="9525">
                <a:solidFill>
                  <a:srgbClr val="D9E8C6"/>
                </a:solidFill>
              </a:ln>
            </p:spPr>
          </p:sp>
          <p:sp>
            <p:nvSpPr>
              <p:cNvPr id="100" name="TextBox 100"/>
              <p:cNvSpPr txBox="1"/>
              <p:nvPr/>
            </p:nvSpPr>
            <p:spPr>
              <a:xfrm>
                <a:off x="8070736" y="1082516"/>
                <a:ext cx="451079" cy="161925"/>
              </a:xfrm>
              <a:prstGeom prst="rect">
                <a:avLst/>
              </a:prstGeom>
              <a:noFill/>
              <a:ln>
                <a:noFill/>
              </a:ln>
            </p:spPr>
            <p:txBody>
              <a:bodyPr wrap="none" lIns="0" tIns="0" rIns="0" bIns="0" anchor="t" anchorCtr="0">
                <a:spAutoFit/>
              </a:bodyPr>
              <a:lstStyle/>
              <a:p>
                <a:pPr algn="ctr"/>
                <a:r>
                  <a:rPr lang="zh-CN" sz="820" dirty="0">
                    <a:solidFill>
                      <a:srgbClr val="42140B"/>
                    </a:solidFill>
                    <a:latin typeface="+mn-lt"/>
                    <a:ea typeface="+mn-ea"/>
                    <a:cs typeface="+mn-cs"/>
                  </a:rPr>
                  <a:t>投标助手</a:t>
                </a:r>
              </a:p>
            </p:txBody>
          </p:sp>
          <p:sp>
            <p:nvSpPr>
              <p:cNvPr id="101" name="Rectangle 101"/>
              <p:cNvSpPr/>
              <p:nvPr/>
            </p:nvSpPr>
            <p:spPr>
              <a:xfrm>
                <a:off x="8991600" y="952500"/>
                <a:ext cx="1200150" cy="342900"/>
              </a:xfrm>
              <a:prstGeom prst="roundRect">
                <a:avLst>
                  <a:gd name="adj" fmla="val 16667"/>
                </a:avLst>
              </a:prstGeom>
              <a:solidFill>
                <a:srgbClr val="F4F8EC"/>
              </a:solidFill>
              <a:ln w="9525">
                <a:solidFill>
                  <a:srgbClr val="D9E8C6"/>
                </a:solidFill>
              </a:ln>
            </p:spPr>
          </p:sp>
          <p:sp>
            <p:nvSpPr>
              <p:cNvPr id="102" name="TextBox 102"/>
              <p:cNvSpPr txBox="1"/>
              <p:nvPr/>
            </p:nvSpPr>
            <p:spPr>
              <a:xfrm>
                <a:off x="9366136" y="1082516"/>
                <a:ext cx="451079" cy="161925"/>
              </a:xfrm>
              <a:prstGeom prst="rect">
                <a:avLst/>
              </a:prstGeom>
              <a:noFill/>
              <a:ln>
                <a:noFill/>
              </a:ln>
            </p:spPr>
            <p:txBody>
              <a:bodyPr wrap="none" lIns="0" tIns="0" rIns="0" bIns="0" anchor="t" anchorCtr="0">
                <a:spAutoFit/>
              </a:bodyPr>
              <a:lstStyle/>
              <a:p>
                <a:pPr algn="ctr"/>
                <a:r>
                  <a:rPr lang="zh-CN" sz="820" dirty="0">
                    <a:solidFill>
                      <a:srgbClr val="42140B"/>
                    </a:solidFill>
                    <a:latin typeface="+mn-lt"/>
                    <a:ea typeface="+mn-ea"/>
                    <a:cs typeface="+mn-cs"/>
                  </a:rPr>
                  <a:t>研发知识</a:t>
                </a:r>
              </a:p>
            </p:txBody>
          </p:sp>
          <p:sp>
            <p:nvSpPr>
              <p:cNvPr id="103" name="TextBox 103"/>
              <p:cNvSpPr txBox="1"/>
              <p:nvPr/>
            </p:nvSpPr>
            <p:spPr>
              <a:xfrm>
                <a:off x="10477519" y="1074420"/>
                <a:ext cx="76162" cy="176212"/>
              </a:xfrm>
              <a:prstGeom prst="rect">
                <a:avLst/>
              </a:prstGeom>
              <a:noFill/>
              <a:ln>
                <a:noFill/>
              </a:ln>
            </p:spPr>
            <p:txBody>
              <a:bodyPr wrap="none" lIns="0" tIns="0" rIns="0" bIns="0" anchor="t" anchorCtr="0">
                <a:spAutoFit/>
              </a:bodyPr>
              <a:lstStyle/>
              <a:p>
                <a:pPr algn="ctr"/>
                <a:r>
                  <a:rPr lang="zh-CN" sz="900" dirty="0">
                    <a:solidFill>
                      <a:srgbClr val="66705F"/>
                    </a:solidFill>
                    <a:latin typeface="+mn-lt"/>
                    <a:ea typeface="+mn-ea"/>
                    <a:cs typeface="+mn-cs"/>
                  </a:rPr>
                  <a:t>…</a:t>
                </a:r>
              </a:p>
            </p:txBody>
          </p:sp>
        </p:grpSp>
      </p:grpSp>
      <p:sp>
        <p:nvSpPr>
          <p:cNvPr id="106" name="layer-arrow-1"/>
          <p:cNvSpPr/>
          <p:nvPr/>
        </p:nvSpPr>
        <p:spPr>
          <a:xfrm>
            <a:off x="6019800" y="1638300"/>
            <a:ext cx="152400" cy="95250"/>
          </a:xfrm>
          <a:custGeom>
            <a:avLst/>
            <a:gdLst/>
            <a:ahLst/>
            <a:cxnLst/>
            <a:rect l="l" t="t" r="r" b="b"/>
            <a:pathLst>
              <a:path w="152400" h="95250">
                <a:moveTo>
                  <a:pt x="76200" y="0"/>
                </a:moveTo>
                <a:lnTo>
                  <a:pt x="0" y="95250"/>
                </a:lnTo>
                <a:lnTo>
                  <a:pt x="152400" y="95250"/>
                </a:lnTo>
                <a:close/>
              </a:path>
            </a:pathLst>
          </a:custGeom>
          <a:solidFill>
            <a:srgbClr val="9A4B3C"/>
          </a:solidFill>
          <a:ln>
            <a:noFill/>
          </a:ln>
        </p:spPr>
      </p:sp>
      <p:grpSp>
        <p:nvGrpSpPr>
          <p:cNvPr id="137" name="layer-app"/>
          <p:cNvGrpSpPr/>
          <p:nvPr/>
        </p:nvGrpSpPr>
        <p:grpSpPr>
          <a:xfrm>
            <a:off x="1143000" y="1695450"/>
            <a:ext cx="9639300" cy="914400"/>
            <a:chOff x="1143000" y="1695450"/>
            <a:chExt cx="9639300" cy="914400"/>
          </a:xfrm>
        </p:grpSpPr>
        <p:sp>
          <p:nvSpPr>
            <p:cNvPr id="107" name="Rectangle 107"/>
            <p:cNvSpPr/>
            <p:nvPr/>
          </p:nvSpPr>
          <p:spPr>
            <a:xfrm>
              <a:off x="1143000" y="1695450"/>
              <a:ext cx="9639300" cy="914400"/>
            </a:xfrm>
            <a:prstGeom prst="roundRect">
              <a:avLst>
                <a:gd name="adj" fmla="val 8333"/>
              </a:avLst>
            </a:prstGeom>
            <a:solidFill>
              <a:srgbClr val="FFFFFF"/>
            </a:solidFill>
            <a:ln w="9525">
              <a:solidFill>
                <a:srgbClr val="D9E8C6"/>
              </a:solidFill>
            </a:ln>
          </p:spPr>
        </p:sp>
        <p:sp>
          <p:nvSpPr>
            <p:cNvPr id="108" name="Rectangle 108"/>
            <p:cNvSpPr/>
            <p:nvPr/>
          </p:nvSpPr>
          <p:spPr>
            <a:xfrm>
              <a:off x="1257300" y="1809750"/>
              <a:ext cx="1143000" cy="685800"/>
            </a:xfrm>
            <a:prstGeom prst="roundRect">
              <a:avLst>
                <a:gd name="adj" fmla="val 11111"/>
              </a:avLst>
            </a:prstGeom>
            <a:solidFill>
              <a:srgbClr val="7C3B2F"/>
            </a:solidFill>
            <a:ln>
              <a:noFill/>
            </a:ln>
          </p:spPr>
        </p:sp>
        <p:grpSp>
          <p:nvGrpSpPr>
            <p:cNvPr id="118" name="Group 118"/>
            <p:cNvGrpSpPr/>
            <p:nvPr/>
          </p:nvGrpSpPr>
          <p:grpSpPr>
            <a:xfrm>
              <a:off x="1476375" y="1943100"/>
              <a:ext cx="133350" cy="180975"/>
              <a:chOff x="1476375" y="1943100"/>
              <a:chExt cx="133350" cy="180975"/>
            </a:xfrm>
          </p:grpSpPr>
          <p:sp>
            <p:nvSpPr>
              <p:cNvPr id="109" name="Freeform 109"/>
              <p:cNvSpPr/>
              <p:nvPr/>
            </p:nvSpPr>
            <p:spPr>
              <a:xfrm>
                <a:off x="1485900" y="1962150"/>
                <a:ext cx="114300" cy="76200"/>
              </a:xfrm>
              <a:custGeom>
                <a:avLst/>
                <a:gdLst/>
                <a:ahLst/>
                <a:cxnLst/>
                <a:rect l="l" t="t" r="r" b="b"/>
                <a:pathLst>
                  <a:path w="114300" h="76200">
                    <a:moveTo>
                      <a:pt x="0" y="19050"/>
                    </a:moveTo>
                    <a:cubicBezTo>
                      <a:pt x="0" y="8529"/>
                      <a:pt x="8529" y="0"/>
                      <a:pt x="19050" y="0"/>
                    </a:cubicBezTo>
                    <a:lnTo>
                      <a:pt x="95250" y="0"/>
                    </a:lnTo>
                    <a:cubicBezTo>
                      <a:pt x="105771" y="0"/>
                      <a:pt x="114300" y="8529"/>
                      <a:pt x="114300" y="19050"/>
                    </a:cubicBezTo>
                    <a:lnTo>
                      <a:pt x="114300" y="57150"/>
                    </a:lnTo>
                    <a:cubicBezTo>
                      <a:pt x="114300" y="67671"/>
                      <a:pt x="105771" y="76200"/>
                      <a:pt x="95250" y="76200"/>
                    </a:cubicBezTo>
                    <a:lnTo>
                      <a:pt x="19050" y="76200"/>
                    </a:lnTo>
                    <a:cubicBezTo>
                      <a:pt x="8529" y="76200"/>
                      <a:pt x="0" y="67671"/>
                      <a:pt x="0" y="57150"/>
                    </a:cubicBezTo>
                    <a:lnTo>
                      <a:pt x="0" y="19050"/>
                    </a:lnTo>
                  </a:path>
                </a:pathLst>
              </a:custGeom>
              <a:noFill/>
              <a:ln w="19050">
                <a:solidFill>
                  <a:srgbClr val="FFFFFF"/>
                </a:solidFill>
              </a:ln>
            </p:spPr>
          </p:sp>
          <p:sp>
            <p:nvSpPr>
              <p:cNvPr id="110" name="Freeform 110"/>
              <p:cNvSpPr/>
              <p:nvPr/>
            </p:nvSpPr>
            <p:spPr>
              <a:xfrm>
                <a:off x="1543050" y="1943100"/>
                <a:ext cx="9525" cy="19050"/>
              </a:xfrm>
              <a:custGeom>
                <a:avLst/>
                <a:gdLst/>
                <a:ahLst/>
                <a:cxnLst/>
                <a:rect l="l" t="t" r="r" b="b"/>
                <a:pathLst>
                  <a:path w="9525" h="19050">
                    <a:moveTo>
                      <a:pt x="0" y="0"/>
                    </a:moveTo>
                    <a:lnTo>
                      <a:pt x="0" y="19050"/>
                    </a:lnTo>
                  </a:path>
                </a:pathLst>
              </a:custGeom>
              <a:noFill/>
              <a:ln w="19050">
                <a:solidFill>
                  <a:srgbClr val="FFFFFF"/>
                </a:solidFill>
              </a:ln>
            </p:spPr>
          </p:sp>
          <p:sp>
            <p:nvSpPr>
              <p:cNvPr id="111" name="Freeform 111"/>
              <p:cNvSpPr/>
              <p:nvPr/>
            </p:nvSpPr>
            <p:spPr>
              <a:xfrm>
                <a:off x="1514475" y="2038350"/>
                <a:ext cx="9525" cy="85725"/>
              </a:xfrm>
              <a:custGeom>
                <a:avLst/>
                <a:gdLst/>
                <a:ahLst/>
                <a:cxnLst/>
                <a:rect l="l" t="t" r="r" b="b"/>
                <a:pathLst>
                  <a:path w="9525" h="85725">
                    <a:moveTo>
                      <a:pt x="0" y="0"/>
                    </a:moveTo>
                    <a:lnTo>
                      <a:pt x="0" y="85725"/>
                    </a:lnTo>
                  </a:path>
                </a:pathLst>
              </a:custGeom>
              <a:noFill/>
              <a:ln w="19050">
                <a:solidFill>
                  <a:srgbClr val="FFFFFF"/>
                </a:solidFill>
              </a:ln>
            </p:spPr>
          </p:sp>
          <p:sp>
            <p:nvSpPr>
              <p:cNvPr id="112" name="Freeform 112"/>
              <p:cNvSpPr/>
              <p:nvPr/>
            </p:nvSpPr>
            <p:spPr>
              <a:xfrm>
                <a:off x="1571625" y="2038350"/>
                <a:ext cx="9525" cy="85725"/>
              </a:xfrm>
              <a:custGeom>
                <a:avLst/>
                <a:gdLst/>
                <a:ahLst/>
                <a:cxnLst/>
                <a:rect l="l" t="t" r="r" b="b"/>
                <a:pathLst>
                  <a:path w="9525" h="85725">
                    <a:moveTo>
                      <a:pt x="0" y="0"/>
                    </a:moveTo>
                    <a:lnTo>
                      <a:pt x="0" y="85725"/>
                    </a:lnTo>
                  </a:path>
                </a:pathLst>
              </a:custGeom>
              <a:noFill/>
              <a:ln w="19050">
                <a:solidFill>
                  <a:srgbClr val="FFFFFF"/>
                </a:solidFill>
              </a:ln>
            </p:spPr>
          </p:sp>
          <p:sp>
            <p:nvSpPr>
              <p:cNvPr id="113" name="Freeform 113"/>
              <p:cNvSpPr/>
              <p:nvPr/>
            </p:nvSpPr>
            <p:spPr>
              <a:xfrm>
                <a:off x="1476375" y="2057400"/>
                <a:ext cx="38100" cy="19050"/>
              </a:xfrm>
              <a:custGeom>
                <a:avLst/>
                <a:gdLst/>
                <a:ahLst/>
                <a:cxnLst/>
                <a:rect l="l" t="t" r="r" b="b"/>
                <a:pathLst>
                  <a:path w="38100" h="19050">
                    <a:moveTo>
                      <a:pt x="0" y="19050"/>
                    </a:moveTo>
                    <a:lnTo>
                      <a:pt x="38100" y="0"/>
                    </a:lnTo>
                  </a:path>
                </a:pathLst>
              </a:custGeom>
              <a:noFill/>
              <a:ln w="19050">
                <a:solidFill>
                  <a:srgbClr val="FFFFFF"/>
                </a:solidFill>
              </a:ln>
            </p:spPr>
          </p:sp>
          <p:sp>
            <p:nvSpPr>
              <p:cNvPr id="114" name="Freeform 114"/>
              <p:cNvSpPr/>
              <p:nvPr/>
            </p:nvSpPr>
            <p:spPr>
              <a:xfrm>
                <a:off x="1571625" y="2057400"/>
                <a:ext cx="38100" cy="19050"/>
              </a:xfrm>
              <a:custGeom>
                <a:avLst/>
                <a:gdLst/>
                <a:ahLst/>
                <a:cxnLst/>
                <a:rect l="l" t="t" r="r" b="b"/>
                <a:pathLst>
                  <a:path w="38100" h="19050">
                    <a:moveTo>
                      <a:pt x="0" y="0"/>
                    </a:moveTo>
                    <a:lnTo>
                      <a:pt x="38100" y="19050"/>
                    </a:lnTo>
                  </a:path>
                </a:pathLst>
              </a:custGeom>
              <a:noFill/>
              <a:ln w="19050">
                <a:solidFill>
                  <a:srgbClr val="FFFFFF"/>
                </a:solidFill>
              </a:ln>
            </p:spPr>
          </p:sp>
          <p:sp>
            <p:nvSpPr>
              <p:cNvPr id="115" name="Freeform 115"/>
              <p:cNvSpPr/>
              <p:nvPr/>
            </p:nvSpPr>
            <p:spPr>
              <a:xfrm>
                <a:off x="1514475" y="2095500"/>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116" name="Freeform 116"/>
              <p:cNvSpPr/>
              <p:nvPr/>
            </p:nvSpPr>
            <p:spPr>
              <a:xfrm>
                <a:off x="1524000" y="2000250"/>
                <a:ext cx="9525" cy="9525"/>
              </a:xfrm>
              <a:custGeom>
                <a:avLst/>
                <a:gdLst/>
                <a:ahLst/>
                <a:cxnLst/>
                <a:rect l="l" t="t" r="r" b="b"/>
                <a:pathLst>
                  <a:path w="9525" h="9525">
                    <a:moveTo>
                      <a:pt x="0" y="0"/>
                    </a:moveTo>
                    <a:lnTo>
                      <a:pt x="0" y="95"/>
                    </a:lnTo>
                  </a:path>
                </a:pathLst>
              </a:custGeom>
              <a:noFill/>
              <a:ln w="19050">
                <a:solidFill>
                  <a:srgbClr val="FFFFFF"/>
                </a:solidFill>
              </a:ln>
            </p:spPr>
          </p:sp>
          <p:sp>
            <p:nvSpPr>
              <p:cNvPr id="117" name="Freeform 117"/>
              <p:cNvSpPr/>
              <p:nvPr/>
            </p:nvSpPr>
            <p:spPr>
              <a:xfrm>
                <a:off x="1562100" y="2000250"/>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119" name="TextBox 119"/>
            <p:cNvSpPr txBox="1"/>
            <p:nvPr/>
          </p:nvSpPr>
          <p:spPr>
            <a:xfrm>
              <a:off x="1824038" y="1998345"/>
              <a:ext cx="85763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应用与智能体层</a:t>
              </a:r>
            </a:p>
          </p:txBody>
        </p:sp>
        <p:sp>
          <p:nvSpPr>
            <p:cNvPr id="120" name="TextBox 120"/>
            <p:cNvSpPr txBox="1"/>
            <p:nvPr/>
          </p:nvSpPr>
          <p:spPr>
            <a:xfrm>
              <a:off x="1824038" y="2217182"/>
              <a:ext cx="440309" cy="126206"/>
            </a:xfrm>
            <a:prstGeom prst="rect">
              <a:avLst/>
            </a:prstGeom>
            <a:noFill/>
            <a:ln>
              <a:noFill/>
            </a:ln>
          </p:spPr>
          <p:txBody>
            <a:bodyPr wrap="none" lIns="0" tIns="0" rIns="0" bIns="0" anchor="t" anchorCtr="0">
              <a:spAutoFit/>
            </a:bodyPr>
            <a:lstStyle/>
            <a:p>
              <a:pPr algn="l"/>
              <a:r>
                <a:rPr lang="zh-CN" sz="640" dirty="0">
                  <a:solidFill>
                    <a:srgbClr val="E7F2D8"/>
                  </a:solidFill>
                  <a:latin typeface="+mn-lt"/>
                  <a:ea typeface="+mn-ea"/>
                  <a:cs typeface="+mn-cs"/>
                </a:rPr>
                <a:t>场景化交付</a:t>
              </a:r>
            </a:p>
          </p:txBody>
        </p:sp>
        <p:grpSp>
          <p:nvGrpSpPr>
            <p:cNvPr id="136" name="app-chips"/>
            <p:cNvGrpSpPr/>
            <p:nvPr/>
          </p:nvGrpSpPr>
          <p:grpSpPr>
            <a:xfrm>
              <a:off x="2514600" y="1885950"/>
              <a:ext cx="7905750" cy="533400"/>
              <a:chOff x="2514600" y="1885950"/>
              <a:chExt cx="7905750" cy="533400"/>
            </a:xfrm>
          </p:grpSpPr>
          <p:sp>
            <p:nvSpPr>
              <p:cNvPr id="121" name="Rectangle 121"/>
              <p:cNvSpPr/>
              <p:nvPr/>
            </p:nvSpPr>
            <p:spPr>
              <a:xfrm>
                <a:off x="2514600" y="1885950"/>
                <a:ext cx="1504950" cy="533400"/>
              </a:xfrm>
              <a:prstGeom prst="roundRect">
                <a:avLst>
                  <a:gd name="adj" fmla="val 10714"/>
                </a:avLst>
              </a:prstGeom>
              <a:solidFill>
                <a:srgbClr val="F4F8EC"/>
              </a:solidFill>
              <a:ln w="9525">
                <a:solidFill>
                  <a:srgbClr val="D9E8C6"/>
                </a:solidFill>
              </a:ln>
            </p:spPr>
          </p:sp>
          <p:sp>
            <p:nvSpPr>
              <p:cNvPr id="122" name="TextBox 122"/>
              <p:cNvSpPr txBox="1"/>
              <p:nvPr/>
            </p:nvSpPr>
            <p:spPr>
              <a:xfrm>
                <a:off x="3049613" y="197238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对话编排</a:t>
                </a:r>
              </a:p>
            </p:txBody>
          </p:sp>
          <p:sp>
            <p:nvSpPr>
              <p:cNvPr id="123" name="TextBox 123"/>
              <p:cNvSpPr txBox="1"/>
              <p:nvPr/>
            </p:nvSpPr>
            <p:spPr>
              <a:xfrm>
                <a:off x="2892781" y="2145030"/>
                <a:ext cx="748589"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多轮对话 / 任务拆解</a:t>
                </a:r>
              </a:p>
            </p:txBody>
          </p:sp>
          <p:sp>
            <p:nvSpPr>
              <p:cNvPr id="124" name="Rectangle 124"/>
              <p:cNvSpPr/>
              <p:nvPr/>
            </p:nvSpPr>
            <p:spPr>
              <a:xfrm>
                <a:off x="4114800" y="1885950"/>
                <a:ext cx="1504950" cy="533400"/>
              </a:xfrm>
              <a:prstGeom prst="roundRect">
                <a:avLst>
                  <a:gd name="adj" fmla="val 10714"/>
                </a:avLst>
              </a:prstGeom>
              <a:solidFill>
                <a:srgbClr val="F4F8EC"/>
              </a:solidFill>
              <a:ln w="9525">
                <a:solidFill>
                  <a:srgbClr val="D9E8C6"/>
                </a:solidFill>
              </a:ln>
            </p:spPr>
          </p:sp>
          <p:sp>
            <p:nvSpPr>
              <p:cNvPr id="125" name="TextBox 125"/>
              <p:cNvSpPr txBox="1"/>
              <p:nvPr/>
            </p:nvSpPr>
            <p:spPr>
              <a:xfrm>
                <a:off x="4649813" y="197238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工具调用</a:t>
                </a:r>
              </a:p>
            </p:txBody>
          </p:sp>
          <p:sp>
            <p:nvSpPr>
              <p:cNvPr id="126" name="TextBox 126"/>
              <p:cNvSpPr txBox="1"/>
              <p:nvPr/>
            </p:nvSpPr>
            <p:spPr>
              <a:xfrm>
                <a:off x="4486923" y="2145030"/>
                <a:ext cx="76070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检索 / 写入 / 工作流</a:t>
                </a:r>
              </a:p>
            </p:txBody>
          </p:sp>
          <p:sp>
            <p:nvSpPr>
              <p:cNvPr id="127" name="Rectangle 127"/>
              <p:cNvSpPr/>
              <p:nvPr/>
            </p:nvSpPr>
            <p:spPr>
              <a:xfrm>
                <a:off x="5715000" y="1885950"/>
                <a:ext cx="1504950" cy="533400"/>
              </a:xfrm>
              <a:prstGeom prst="roundRect">
                <a:avLst>
                  <a:gd name="adj" fmla="val 10714"/>
                </a:avLst>
              </a:prstGeom>
              <a:solidFill>
                <a:srgbClr val="F4F8EC"/>
              </a:solidFill>
              <a:ln w="9525">
                <a:solidFill>
                  <a:srgbClr val="D9E8C6"/>
                </a:solidFill>
              </a:ln>
            </p:spPr>
          </p:sp>
          <p:sp>
            <p:nvSpPr>
              <p:cNvPr id="128" name="TextBox 128"/>
              <p:cNvSpPr txBox="1"/>
              <p:nvPr/>
            </p:nvSpPr>
            <p:spPr>
              <a:xfrm>
                <a:off x="6303188" y="1972389"/>
                <a:ext cx="3285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工作流</a:t>
                </a:r>
              </a:p>
            </p:txBody>
          </p:sp>
          <p:sp>
            <p:nvSpPr>
              <p:cNvPr id="129" name="TextBox 129"/>
              <p:cNvSpPr txBox="1"/>
              <p:nvPr/>
            </p:nvSpPr>
            <p:spPr>
              <a:xfrm>
                <a:off x="6127509" y="2145030"/>
                <a:ext cx="67993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审批 / 通知 / 协同</a:t>
                </a:r>
              </a:p>
            </p:txBody>
          </p:sp>
          <p:sp>
            <p:nvSpPr>
              <p:cNvPr id="130" name="Rectangle 130"/>
              <p:cNvSpPr/>
              <p:nvPr/>
            </p:nvSpPr>
            <p:spPr>
              <a:xfrm>
                <a:off x="7315200" y="1885950"/>
                <a:ext cx="1504950" cy="533400"/>
              </a:xfrm>
              <a:prstGeom prst="roundRect">
                <a:avLst>
                  <a:gd name="adj" fmla="val 10714"/>
                </a:avLst>
              </a:prstGeom>
              <a:solidFill>
                <a:srgbClr val="F4F8EC"/>
              </a:solidFill>
              <a:ln w="9525">
                <a:solidFill>
                  <a:srgbClr val="D9E8C6"/>
                </a:solidFill>
              </a:ln>
            </p:spPr>
          </p:sp>
          <p:sp>
            <p:nvSpPr>
              <p:cNvPr id="131" name="TextBox 131"/>
              <p:cNvSpPr txBox="1"/>
              <p:nvPr/>
            </p:nvSpPr>
            <p:spPr>
              <a:xfrm>
                <a:off x="7743863" y="1972389"/>
                <a:ext cx="6476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记忆与个性化</a:t>
                </a:r>
              </a:p>
            </p:txBody>
          </p:sp>
          <p:sp>
            <p:nvSpPr>
              <p:cNvPr id="132" name="TextBox 132"/>
              <p:cNvSpPr txBox="1"/>
              <p:nvPr/>
            </p:nvSpPr>
            <p:spPr>
              <a:xfrm>
                <a:off x="7693381" y="2145030"/>
                <a:ext cx="748589"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会话记忆 / 用户画像</a:t>
                </a:r>
              </a:p>
            </p:txBody>
          </p:sp>
          <p:sp>
            <p:nvSpPr>
              <p:cNvPr id="133" name="Rectangle 133"/>
              <p:cNvSpPr/>
              <p:nvPr/>
            </p:nvSpPr>
            <p:spPr>
              <a:xfrm>
                <a:off x="8915400" y="1885950"/>
                <a:ext cx="1504950" cy="533400"/>
              </a:xfrm>
              <a:prstGeom prst="roundRect">
                <a:avLst>
                  <a:gd name="adj" fmla="val 10714"/>
                </a:avLst>
              </a:prstGeom>
              <a:solidFill>
                <a:srgbClr val="F4F8EC"/>
              </a:solidFill>
              <a:ln w="9525">
                <a:solidFill>
                  <a:srgbClr val="D9E8C6"/>
                </a:solidFill>
              </a:ln>
            </p:spPr>
          </p:sp>
          <p:sp>
            <p:nvSpPr>
              <p:cNvPr id="134" name="TextBox 134"/>
              <p:cNvSpPr txBox="1"/>
              <p:nvPr/>
            </p:nvSpPr>
            <p:spPr>
              <a:xfrm>
                <a:off x="9450413" y="197238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渠道集成</a:t>
                </a:r>
              </a:p>
            </p:txBody>
          </p:sp>
          <p:sp>
            <p:nvSpPr>
              <p:cNvPr id="135" name="TextBox 135"/>
              <p:cNvSpPr txBox="1"/>
              <p:nvPr/>
            </p:nvSpPr>
            <p:spPr>
              <a:xfrm>
                <a:off x="9344863" y="2145030"/>
                <a:ext cx="646024"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 xml:space="preserve">Web / IM / API　</a:t>
                </a:r>
              </a:p>
            </p:txBody>
          </p:sp>
        </p:grpSp>
      </p:grpSp>
      <p:sp>
        <p:nvSpPr>
          <p:cNvPr id="138" name="layer-arrow-2"/>
          <p:cNvSpPr/>
          <p:nvPr/>
        </p:nvSpPr>
        <p:spPr>
          <a:xfrm>
            <a:off x="6019800" y="2667000"/>
            <a:ext cx="152400" cy="95250"/>
          </a:xfrm>
          <a:custGeom>
            <a:avLst/>
            <a:gdLst/>
            <a:ahLst/>
            <a:cxnLst/>
            <a:rect l="l" t="t" r="r" b="b"/>
            <a:pathLst>
              <a:path w="152400" h="95250">
                <a:moveTo>
                  <a:pt x="76200" y="0"/>
                </a:moveTo>
                <a:lnTo>
                  <a:pt x="0" y="95250"/>
                </a:lnTo>
                <a:lnTo>
                  <a:pt x="152400" y="95250"/>
                </a:lnTo>
                <a:close/>
              </a:path>
            </a:pathLst>
          </a:custGeom>
          <a:solidFill>
            <a:srgbClr val="9A4B3C"/>
          </a:solidFill>
          <a:ln>
            <a:noFill/>
          </a:ln>
        </p:spPr>
      </p:sp>
      <p:grpSp>
        <p:nvGrpSpPr>
          <p:cNvPr id="186" name="layer-rag"/>
          <p:cNvGrpSpPr/>
          <p:nvPr/>
        </p:nvGrpSpPr>
        <p:grpSpPr>
          <a:xfrm>
            <a:off x="1143000" y="2724150"/>
            <a:ext cx="9639300" cy="1123950"/>
            <a:chOff x="1143000" y="2724150"/>
            <a:chExt cx="9639300" cy="1123950"/>
          </a:xfrm>
        </p:grpSpPr>
        <p:sp>
          <p:nvSpPr>
            <p:cNvPr id="139" name="Rectangle 139"/>
            <p:cNvSpPr/>
            <p:nvPr/>
          </p:nvSpPr>
          <p:spPr>
            <a:xfrm>
              <a:off x="1143000" y="2724150"/>
              <a:ext cx="9639300" cy="1123950"/>
            </a:xfrm>
            <a:prstGeom prst="roundRect">
              <a:avLst>
                <a:gd name="adj" fmla="val 6780"/>
              </a:avLst>
            </a:prstGeom>
            <a:solidFill>
              <a:srgbClr val="FFFFFF"/>
            </a:solidFill>
            <a:ln w="9525">
              <a:solidFill>
                <a:srgbClr val="D9E8C6"/>
              </a:solidFill>
            </a:ln>
          </p:spPr>
        </p:sp>
        <p:sp>
          <p:nvSpPr>
            <p:cNvPr id="140" name="Rectangle 140"/>
            <p:cNvSpPr/>
            <p:nvPr/>
          </p:nvSpPr>
          <p:spPr>
            <a:xfrm>
              <a:off x="1257300" y="2838450"/>
              <a:ext cx="1143000" cy="895350"/>
            </a:xfrm>
            <a:prstGeom prst="roundRect">
              <a:avLst>
                <a:gd name="adj" fmla="val 8511"/>
              </a:avLst>
            </a:prstGeom>
            <a:solidFill>
              <a:srgbClr val="42140B"/>
            </a:solidFill>
            <a:ln>
              <a:noFill/>
            </a:ln>
          </p:spPr>
        </p:sp>
        <p:grpSp>
          <p:nvGrpSpPr>
            <p:cNvPr id="144" name="Group 144"/>
            <p:cNvGrpSpPr/>
            <p:nvPr/>
          </p:nvGrpSpPr>
          <p:grpSpPr>
            <a:xfrm>
              <a:off x="1476375" y="2981325"/>
              <a:ext cx="133350" cy="171450"/>
              <a:chOff x="1476375" y="2981325"/>
              <a:chExt cx="133350" cy="171450"/>
            </a:xfrm>
          </p:grpSpPr>
          <p:sp>
            <p:nvSpPr>
              <p:cNvPr id="141" name="Freeform 141"/>
              <p:cNvSpPr/>
              <p:nvPr/>
            </p:nvSpPr>
            <p:spPr>
              <a:xfrm>
                <a:off x="1476375" y="303847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FFFFFF"/>
                </a:solidFill>
              </a:ln>
            </p:spPr>
          </p:sp>
          <p:sp>
            <p:nvSpPr>
              <p:cNvPr id="142" name="Freeform 142"/>
              <p:cNvSpPr/>
              <p:nvPr/>
            </p:nvSpPr>
            <p:spPr>
              <a:xfrm>
                <a:off x="1543050" y="2981325"/>
                <a:ext cx="9525" cy="104775"/>
              </a:xfrm>
              <a:custGeom>
                <a:avLst/>
                <a:gdLst/>
                <a:ahLst/>
                <a:cxnLst/>
                <a:rect l="l" t="t" r="r" b="b"/>
                <a:pathLst>
                  <a:path w="9525" h="104775">
                    <a:moveTo>
                      <a:pt x="0" y="104775"/>
                    </a:moveTo>
                    <a:lnTo>
                      <a:pt x="0" y="0"/>
                    </a:lnTo>
                  </a:path>
                </a:pathLst>
              </a:custGeom>
              <a:noFill/>
              <a:ln w="19050">
                <a:solidFill>
                  <a:srgbClr val="FFFFFF"/>
                </a:solidFill>
              </a:ln>
            </p:spPr>
          </p:sp>
          <p:sp>
            <p:nvSpPr>
              <p:cNvPr id="143" name="Freeform 143"/>
              <p:cNvSpPr/>
              <p:nvPr/>
            </p:nvSpPr>
            <p:spPr>
              <a:xfrm>
                <a:off x="1514475" y="2981325"/>
                <a:ext cx="57150" cy="28575"/>
              </a:xfrm>
              <a:custGeom>
                <a:avLst/>
                <a:gdLst/>
                <a:ahLst/>
                <a:cxnLst/>
                <a:rect l="l" t="t" r="r" b="b"/>
                <a:pathLst>
                  <a:path w="57150" h="28575">
                    <a:moveTo>
                      <a:pt x="0" y="28575"/>
                    </a:moveTo>
                    <a:lnTo>
                      <a:pt x="28575" y="0"/>
                    </a:lnTo>
                    <a:lnTo>
                      <a:pt x="57150" y="28575"/>
                    </a:lnTo>
                  </a:path>
                </a:pathLst>
              </a:custGeom>
              <a:noFill/>
              <a:ln w="19050">
                <a:solidFill>
                  <a:srgbClr val="FFFFFF"/>
                </a:solidFill>
              </a:ln>
            </p:spPr>
          </p:sp>
        </p:grpSp>
        <p:sp>
          <p:nvSpPr>
            <p:cNvPr id="145" name="TextBox 145"/>
            <p:cNvSpPr txBox="1"/>
            <p:nvPr/>
          </p:nvSpPr>
          <p:spPr>
            <a:xfrm>
              <a:off x="1824038" y="3027045"/>
              <a:ext cx="83019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AI与RAG能力层</a:t>
              </a:r>
            </a:p>
          </p:txBody>
        </p:sp>
        <p:sp>
          <p:nvSpPr>
            <p:cNvPr id="146" name="TextBox 146"/>
            <p:cNvSpPr txBox="1"/>
            <p:nvPr/>
          </p:nvSpPr>
          <p:spPr>
            <a:xfrm>
              <a:off x="1824038" y="3245882"/>
              <a:ext cx="612623"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能力复用与组合</a:t>
              </a:r>
            </a:p>
          </p:txBody>
        </p:sp>
        <p:grpSp>
          <p:nvGrpSpPr>
            <p:cNvPr id="178" name="rag-pipeline"/>
            <p:cNvGrpSpPr/>
            <p:nvPr/>
          </p:nvGrpSpPr>
          <p:grpSpPr>
            <a:xfrm>
              <a:off x="2514600" y="2838450"/>
              <a:ext cx="7715250" cy="476250"/>
              <a:chOff x="2514600" y="2838450"/>
              <a:chExt cx="7715250" cy="476250"/>
            </a:xfrm>
          </p:grpSpPr>
          <p:sp>
            <p:nvSpPr>
              <p:cNvPr id="147" name="Rectangle 147"/>
              <p:cNvSpPr/>
              <p:nvPr/>
            </p:nvSpPr>
            <p:spPr>
              <a:xfrm>
                <a:off x="2514600" y="2838450"/>
                <a:ext cx="971550" cy="476250"/>
              </a:xfrm>
              <a:prstGeom prst="roundRect">
                <a:avLst>
                  <a:gd name="adj" fmla="val 12000"/>
                </a:avLst>
              </a:prstGeom>
              <a:solidFill>
                <a:srgbClr val="F4F8EC"/>
              </a:solidFill>
              <a:ln w="9525">
                <a:solidFill>
                  <a:srgbClr val="D9E8C6"/>
                </a:solidFill>
              </a:ln>
            </p:spPr>
          </p:sp>
          <p:sp>
            <p:nvSpPr>
              <p:cNvPr id="148" name="TextBox 148"/>
              <p:cNvSpPr txBox="1"/>
              <p:nvPr/>
            </p:nvSpPr>
            <p:spPr>
              <a:xfrm>
                <a:off x="2900032" y="2932986"/>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解析</a:t>
                </a:r>
              </a:p>
            </p:txBody>
          </p:sp>
          <p:sp>
            <p:nvSpPr>
              <p:cNvPr id="149" name="TextBox 149"/>
              <p:cNvSpPr txBox="1"/>
              <p:nvPr/>
            </p:nvSpPr>
            <p:spPr>
              <a:xfrm>
                <a:off x="2844838" y="3082528"/>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文档解析</a:t>
                </a:r>
              </a:p>
            </p:txBody>
          </p:sp>
          <p:sp>
            <p:nvSpPr>
              <p:cNvPr id="150" name="TextBox 150"/>
              <p:cNvSpPr txBox="1"/>
              <p:nvPr/>
            </p:nvSpPr>
            <p:spPr>
              <a:xfrm>
                <a:off x="2844838" y="3187303"/>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结构提取</a:t>
                </a:r>
              </a:p>
            </p:txBody>
          </p:sp>
          <p:sp>
            <p:nvSpPr>
              <p:cNvPr id="151" name="Polygon 151"/>
              <p:cNvSpPr/>
              <p:nvPr/>
            </p:nvSpPr>
            <p:spPr>
              <a:xfrm>
                <a:off x="3524250" y="3048000"/>
                <a:ext cx="76200" cy="57150"/>
              </a:xfrm>
              <a:custGeom>
                <a:avLst/>
                <a:gdLst/>
                <a:ahLst/>
                <a:cxnLst/>
                <a:rect l="l" t="t" r="r" b="b"/>
                <a:pathLst>
                  <a:path w="76200" h="57150">
                    <a:moveTo>
                      <a:pt x="0" y="0"/>
                    </a:moveTo>
                    <a:lnTo>
                      <a:pt x="76200" y="28575"/>
                    </a:lnTo>
                    <a:lnTo>
                      <a:pt x="0" y="57150"/>
                    </a:lnTo>
                    <a:close/>
                  </a:path>
                </a:pathLst>
              </a:custGeom>
              <a:solidFill>
                <a:srgbClr val="9A4B3C"/>
              </a:solidFill>
              <a:ln>
                <a:noFill/>
              </a:ln>
            </p:spPr>
          </p:sp>
          <p:sp>
            <p:nvSpPr>
              <p:cNvPr id="152" name="Rectangle 152"/>
              <p:cNvSpPr/>
              <p:nvPr/>
            </p:nvSpPr>
            <p:spPr>
              <a:xfrm>
                <a:off x="3638550" y="2838450"/>
                <a:ext cx="971550" cy="476250"/>
              </a:xfrm>
              <a:prstGeom prst="roundRect">
                <a:avLst>
                  <a:gd name="adj" fmla="val 12000"/>
                </a:avLst>
              </a:prstGeom>
              <a:solidFill>
                <a:srgbClr val="F4F8EC"/>
              </a:solidFill>
              <a:ln w="9525">
                <a:solidFill>
                  <a:srgbClr val="D9E8C6"/>
                </a:solidFill>
              </a:ln>
            </p:spPr>
          </p:sp>
          <p:sp>
            <p:nvSpPr>
              <p:cNvPr id="153" name="TextBox 153"/>
              <p:cNvSpPr txBox="1"/>
              <p:nvPr/>
            </p:nvSpPr>
            <p:spPr>
              <a:xfrm>
                <a:off x="3973685" y="2932986"/>
                <a:ext cx="301279"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 xml:space="preserve">OCR　</a:t>
                </a:r>
              </a:p>
            </p:txBody>
          </p:sp>
          <p:sp>
            <p:nvSpPr>
              <p:cNvPr id="154" name="TextBox 154"/>
              <p:cNvSpPr txBox="1"/>
              <p:nvPr/>
            </p:nvSpPr>
            <p:spPr>
              <a:xfrm>
                <a:off x="3968788" y="3082528"/>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版面识别</a:t>
                </a:r>
              </a:p>
            </p:txBody>
          </p:sp>
          <p:sp>
            <p:nvSpPr>
              <p:cNvPr id="155" name="TextBox 155"/>
              <p:cNvSpPr txBox="1"/>
              <p:nvPr/>
            </p:nvSpPr>
            <p:spPr>
              <a:xfrm>
                <a:off x="3968788" y="3187303"/>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表格还原</a:t>
                </a:r>
              </a:p>
            </p:txBody>
          </p:sp>
          <p:sp>
            <p:nvSpPr>
              <p:cNvPr id="156" name="Polygon 156"/>
              <p:cNvSpPr/>
              <p:nvPr/>
            </p:nvSpPr>
            <p:spPr>
              <a:xfrm>
                <a:off x="4648200" y="3048000"/>
                <a:ext cx="76200" cy="57150"/>
              </a:xfrm>
              <a:custGeom>
                <a:avLst/>
                <a:gdLst/>
                <a:ahLst/>
                <a:cxnLst/>
                <a:rect l="l" t="t" r="r" b="b"/>
                <a:pathLst>
                  <a:path w="76200" h="57150">
                    <a:moveTo>
                      <a:pt x="0" y="0"/>
                    </a:moveTo>
                    <a:lnTo>
                      <a:pt x="76200" y="28575"/>
                    </a:lnTo>
                    <a:lnTo>
                      <a:pt x="0" y="57150"/>
                    </a:lnTo>
                    <a:close/>
                  </a:path>
                </a:pathLst>
              </a:custGeom>
              <a:solidFill>
                <a:srgbClr val="9A4B3C"/>
              </a:solidFill>
              <a:ln>
                <a:noFill/>
              </a:ln>
            </p:spPr>
          </p:sp>
          <p:sp>
            <p:nvSpPr>
              <p:cNvPr id="157" name="Rectangle 157"/>
              <p:cNvSpPr/>
              <p:nvPr/>
            </p:nvSpPr>
            <p:spPr>
              <a:xfrm>
                <a:off x="4762500" y="2838450"/>
                <a:ext cx="971550" cy="476250"/>
              </a:xfrm>
              <a:prstGeom prst="roundRect">
                <a:avLst>
                  <a:gd name="adj" fmla="val 12000"/>
                </a:avLst>
              </a:prstGeom>
              <a:solidFill>
                <a:srgbClr val="F4F8EC"/>
              </a:solidFill>
              <a:ln w="9525">
                <a:solidFill>
                  <a:srgbClr val="D9E8C6"/>
                </a:solidFill>
              </a:ln>
            </p:spPr>
          </p:sp>
          <p:sp>
            <p:nvSpPr>
              <p:cNvPr id="158" name="TextBox 158"/>
              <p:cNvSpPr txBox="1"/>
              <p:nvPr/>
            </p:nvSpPr>
            <p:spPr>
              <a:xfrm>
                <a:off x="5147932" y="2932986"/>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分块</a:t>
                </a:r>
              </a:p>
            </p:txBody>
          </p:sp>
          <p:sp>
            <p:nvSpPr>
              <p:cNvPr id="159" name="TextBox 159"/>
              <p:cNvSpPr txBox="1"/>
              <p:nvPr/>
            </p:nvSpPr>
            <p:spPr>
              <a:xfrm>
                <a:off x="5092738" y="3082528"/>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智能分段</a:t>
                </a:r>
              </a:p>
            </p:txBody>
          </p:sp>
          <p:sp>
            <p:nvSpPr>
              <p:cNvPr id="160" name="TextBox 160"/>
              <p:cNvSpPr txBox="1"/>
              <p:nvPr/>
            </p:nvSpPr>
            <p:spPr>
              <a:xfrm>
                <a:off x="5092738" y="3187303"/>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颗粒控制</a:t>
                </a:r>
              </a:p>
            </p:txBody>
          </p:sp>
          <p:sp>
            <p:nvSpPr>
              <p:cNvPr id="161" name="Polygon 161"/>
              <p:cNvSpPr/>
              <p:nvPr/>
            </p:nvSpPr>
            <p:spPr>
              <a:xfrm>
                <a:off x="5772150" y="3048000"/>
                <a:ext cx="76200" cy="57150"/>
              </a:xfrm>
              <a:custGeom>
                <a:avLst/>
                <a:gdLst/>
                <a:ahLst/>
                <a:cxnLst/>
                <a:rect l="l" t="t" r="r" b="b"/>
                <a:pathLst>
                  <a:path w="76200" h="57150">
                    <a:moveTo>
                      <a:pt x="0" y="0"/>
                    </a:moveTo>
                    <a:lnTo>
                      <a:pt x="76200" y="28575"/>
                    </a:lnTo>
                    <a:lnTo>
                      <a:pt x="0" y="57150"/>
                    </a:lnTo>
                    <a:close/>
                  </a:path>
                </a:pathLst>
              </a:custGeom>
              <a:solidFill>
                <a:srgbClr val="9A4B3C"/>
              </a:solidFill>
              <a:ln>
                <a:noFill/>
              </a:ln>
            </p:spPr>
          </p:sp>
          <p:sp>
            <p:nvSpPr>
              <p:cNvPr id="162" name="Rectangle 162"/>
              <p:cNvSpPr/>
              <p:nvPr/>
            </p:nvSpPr>
            <p:spPr>
              <a:xfrm>
                <a:off x="5886450" y="2838450"/>
                <a:ext cx="971550" cy="476250"/>
              </a:xfrm>
              <a:prstGeom prst="roundRect">
                <a:avLst>
                  <a:gd name="adj" fmla="val 12000"/>
                </a:avLst>
              </a:prstGeom>
              <a:solidFill>
                <a:srgbClr val="F4F8EC"/>
              </a:solidFill>
              <a:ln w="9525">
                <a:solidFill>
                  <a:srgbClr val="D9E8C6"/>
                </a:solidFill>
              </a:ln>
            </p:spPr>
          </p:sp>
          <p:sp>
            <p:nvSpPr>
              <p:cNvPr id="163" name="TextBox 163"/>
              <p:cNvSpPr txBox="1"/>
              <p:nvPr/>
            </p:nvSpPr>
            <p:spPr>
              <a:xfrm>
                <a:off x="6072246" y="2932986"/>
                <a:ext cx="599958"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 xml:space="preserve">Embedding　</a:t>
                </a:r>
              </a:p>
            </p:txBody>
          </p:sp>
          <p:sp>
            <p:nvSpPr>
              <p:cNvPr id="164" name="TextBox 164"/>
              <p:cNvSpPr txBox="1"/>
              <p:nvPr/>
            </p:nvSpPr>
            <p:spPr>
              <a:xfrm>
                <a:off x="6178994" y="3082528"/>
                <a:ext cx="386461"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向量化表示</a:t>
                </a:r>
              </a:p>
            </p:txBody>
          </p:sp>
          <p:sp>
            <p:nvSpPr>
              <p:cNvPr id="165" name="Polygon 165"/>
              <p:cNvSpPr/>
              <p:nvPr/>
            </p:nvSpPr>
            <p:spPr>
              <a:xfrm>
                <a:off x="6896100" y="3048000"/>
                <a:ext cx="76200" cy="57150"/>
              </a:xfrm>
              <a:custGeom>
                <a:avLst/>
                <a:gdLst/>
                <a:ahLst/>
                <a:cxnLst/>
                <a:rect l="l" t="t" r="r" b="b"/>
                <a:pathLst>
                  <a:path w="76200" h="57150">
                    <a:moveTo>
                      <a:pt x="0" y="0"/>
                    </a:moveTo>
                    <a:lnTo>
                      <a:pt x="76200" y="28575"/>
                    </a:lnTo>
                    <a:lnTo>
                      <a:pt x="0" y="57150"/>
                    </a:lnTo>
                    <a:close/>
                  </a:path>
                </a:pathLst>
              </a:custGeom>
              <a:solidFill>
                <a:srgbClr val="9A4B3C"/>
              </a:solidFill>
              <a:ln>
                <a:noFill/>
              </a:ln>
            </p:spPr>
          </p:sp>
          <p:sp>
            <p:nvSpPr>
              <p:cNvPr id="166" name="Rectangle 166"/>
              <p:cNvSpPr/>
              <p:nvPr/>
            </p:nvSpPr>
            <p:spPr>
              <a:xfrm>
                <a:off x="7010400" y="2838450"/>
                <a:ext cx="971550" cy="476250"/>
              </a:xfrm>
              <a:prstGeom prst="roundRect">
                <a:avLst>
                  <a:gd name="adj" fmla="val 12000"/>
                </a:avLst>
              </a:prstGeom>
              <a:solidFill>
                <a:srgbClr val="F4F8EC"/>
              </a:solidFill>
              <a:ln w="9525">
                <a:solidFill>
                  <a:srgbClr val="D9E8C6"/>
                </a:solidFill>
              </a:ln>
            </p:spPr>
          </p:sp>
          <p:sp>
            <p:nvSpPr>
              <p:cNvPr id="167" name="TextBox 167"/>
              <p:cNvSpPr txBox="1"/>
              <p:nvPr/>
            </p:nvSpPr>
            <p:spPr>
              <a:xfrm>
                <a:off x="7300252" y="2932986"/>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向量检索</a:t>
                </a:r>
              </a:p>
            </p:txBody>
          </p:sp>
          <p:sp>
            <p:nvSpPr>
              <p:cNvPr id="168" name="TextBox 168"/>
              <p:cNvSpPr txBox="1"/>
              <p:nvPr/>
            </p:nvSpPr>
            <p:spPr>
              <a:xfrm>
                <a:off x="7302944" y="3082528"/>
                <a:ext cx="386461"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相似度召回</a:t>
                </a:r>
              </a:p>
            </p:txBody>
          </p:sp>
          <p:sp>
            <p:nvSpPr>
              <p:cNvPr id="169" name="Polygon 169"/>
              <p:cNvSpPr/>
              <p:nvPr/>
            </p:nvSpPr>
            <p:spPr>
              <a:xfrm>
                <a:off x="8020050" y="3048000"/>
                <a:ext cx="76200" cy="57150"/>
              </a:xfrm>
              <a:custGeom>
                <a:avLst/>
                <a:gdLst/>
                <a:ahLst/>
                <a:cxnLst/>
                <a:rect l="l" t="t" r="r" b="b"/>
                <a:pathLst>
                  <a:path w="76200" h="57150">
                    <a:moveTo>
                      <a:pt x="0" y="0"/>
                    </a:moveTo>
                    <a:lnTo>
                      <a:pt x="76200" y="28575"/>
                    </a:lnTo>
                    <a:lnTo>
                      <a:pt x="0" y="57150"/>
                    </a:lnTo>
                    <a:close/>
                  </a:path>
                </a:pathLst>
              </a:custGeom>
              <a:solidFill>
                <a:srgbClr val="9A4B3C"/>
              </a:solidFill>
              <a:ln>
                <a:noFill/>
              </a:ln>
            </p:spPr>
          </p:sp>
          <p:sp>
            <p:nvSpPr>
              <p:cNvPr id="170" name="Rectangle 170"/>
              <p:cNvSpPr/>
              <p:nvPr/>
            </p:nvSpPr>
            <p:spPr>
              <a:xfrm>
                <a:off x="8134350" y="2838450"/>
                <a:ext cx="971550" cy="476250"/>
              </a:xfrm>
              <a:prstGeom prst="roundRect">
                <a:avLst>
                  <a:gd name="adj" fmla="val 12000"/>
                </a:avLst>
              </a:prstGeom>
              <a:solidFill>
                <a:srgbClr val="F4F8EC"/>
              </a:solidFill>
              <a:ln w="9525">
                <a:solidFill>
                  <a:srgbClr val="D9E8C6"/>
                </a:solidFill>
              </a:ln>
            </p:spPr>
          </p:sp>
          <p:sp>
            <p:nvSpPr>
              <p:cNvPr id="171" name="TextBox 171"/>
              <p:cNvSpPr txBox="1"/>
              <p:nvPr/>
            </p:nvSpPr>
            <p:spPr>
              <a:xfrm>
                <a:off x="8330245" y="2932986"/>
                <a:ext cx="579760"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 xml:space="preserve">Reranking　</a:t>
                </a:r>
              </a:p>
            </p:txBody>
          </p:sp>
          <p:sp>
            <p:nvSpPr>
              <p:cNvPr id="172" name="TextBox 172"/>
              <p:cNvSpPr txBox="1"/>
              <p:nvPr/>
            </p:nvSpPr>
            <p:spPr>
              <a:xfrm>
                <a:off x="8464588" y="3082528"/>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重排精排</a:t>
                </a:r>
              </a:p>
            </p:txBody>
          </p:sp>
          <p:sp>
            <p:nvSpPr>
              <p:cNvPr id="173" name="Polygon 173"/>
              <p:cNvSpPr/>
              <p:nvPr/>
            </p:nvSpPr>
            <p:spPr>
              <a:xfrm>
                <a:off x="9144000" y="3048000"/>
                <a:ext cx="76200" cy="57150"/>
              </a:xfrm>
              <a:custGeom>
                <a:avLst/>
                <a:gdLst/>
                <a:ahLst/>
                <a:cxnLst/>
                <a:rect l="l" t="t" r="r" b="b"/>
                <a:pathLst>
                  <a:path w="76200" h="57150">
                    <a:moveTo>
                      <a:pt x="0" y="0"/>
                    </a:moveTo>
                    <a:lnTo>
                      <a:pt x="76200" y="28575"/>
                    </a:lnTo>
                    <a:lnTo>
                      <a:pt x="0" y="57150"/>
                    </a:lnTo>
                    <a:close/>
                  </a:path>
                </a:pathLst>
              </a:custGeom>
              <a:solidFill>
                <a:srgbClr val="9A4B3C"/>
              </a:solidFill>
              <a:ln>
                <a:noFill/>
              </a:ln>
            </p:spPr>
          </p:sp>
          <p:sp>
            <p:nvSpPr>
              <p:cNvPr id="174" name="Rectangle 174"/>
              <p:cNvSpPr/>
              <p:nvPr/>
            </p:nvSpPr>
            <p:spPr>
              <a:xfrm>
                <a:off x="9258300" y="2838450"/>
                <a:ext cx="971550" cy="476250"/>
              </a:xfrm>
              <a:prstGeom prst="roundRect">
                <a:avLst>
                  <a:gd name="adj" fmla="val 12000"/>
                </a:avLst>
              </a:prstGeom>
              <a:solidFill>
                <a:srgbClr val="F4F8EC"/>
              </a:solidFill>
              <a:ln w="9525">
                <a:solidFill>
                  <a:srgbClr val="D9E8C6"/>
                </a:solidFill>
              </a:ln>
            </p:spPr>
          </p:sp>
          <p:sp>
            <p:nvSpPr>
              <p:cNvPr id="175" name="TextBox 175"/>
              <p:cNvSpPr txBox="1"/>
              <p:nvPr/>
            </p:nvSpPr>
            <p:spPr>
              <a:xfrm>
                <a:off x="9548152" y="2932986"/>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知识图谱</a:t>
                </a:r>
              </a:p>
            </p:txBody>
          </p:sp>
          <p:sp>
            <p:nvSpPr>
              <p:cNvPr id="176" name="TextBox 176"/>
              <p:cNvSpPr txBox="1"/>
              <p:nvPr/>
            </p:nvSpPr>
            <p:spPr>
              <a:xfrm>
                <a:off x="9545190" y="3082528"/>
                <a:ext cx="397769"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实体 / 关系</a:t>
                </a:r>
              </a:p>
            </p:txBody>
          </p:sp>
          <p:sp>
            <p:nvSpPr>
              <p:cNvPr id="177" name="TextBox 177"/>
              <p:cNvSpPr txBox="1"/>
              <p:nvPr/>
            </p:nvSpPr>
            <p:spPr>
              <a:xfrm>
                <a:off x="9588538" y="3187303"/>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图谱结构</a:t>
                </a:r>
              </a:p>
            </p:txBody>
          </p:sp>
        </p:grpSp>
        <p:grpSp>
          <p:nvGrpSpPr>
            <p:cNvPr id="185" name="rag-bottom"/>
            <p:cNvGrpSpPr/>
            <p:nvPr/>
          </p:nvGrpSpPr>
          <p:grpSpPr>
            <a:xfrm>
              <a:off x="2514600" y="3429000"/>
              <a:ext cx="7715250" cy="304800"/>
              <a:chOff x="2514600" y="3429000"/>
              <a:chExt cx="7715250" cy="304800"/>
            </a:xfrm>
          </p:grpSpPr>
          <p:sp>
            <p:nvSpPr>
              <p:cNvPr id="179" name="Rectangle 179"/>
              <p:cNvSpPr/>
              <p:nvPr/>
            </p:nvSpPr>
            <p:spPr>
              <a:xfrm>
                <a:off x="2514600" y="3429000"/>
                <a:ext cx="3771900" cy="304800"/>
              </a:xfrm>
              <a:prstGeom prst="roundRect">
                <a:avLst>
                  <a:gd name="adj" fmla="val 18750"/>
                </a:avLst>
              </a:prstGeom>
              <a:solidFill>
                <a:srgbClr val="FFFFFF"/>
              </a:solidFill>
              <a:ln w="9525">
                <a:solidFill>
                  <a:srgbClr val="BE776A"/>
                </a:solidFill>
              </a:ln>
            </p:spPr>
          </p:sp>
          <p:sp>
            <p:nvSpPr>
              <p:cNvPr id="180" name="TextBox 180"/>
              <p:cNvSpPr txBox="1"/>
              <p:nvPr/>
            </p:nvSpPr>
            <p:spPr>
              <a:xfrm>
                <a:off x="2700338" y="3548062"/>
                <a:ext cx="586002"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Prompt编排</a:t>
                </a:r>
              </a:p>
            </p:txBody>
          </p:sp>
          <p:sp>
            <p:nvSpPr>
              <p:cNvPr id="181" name="TextBox 181"/>
              <p:cNvSpPr txBox="1"/>
              <p:nvPr/>
            </p:nvSpPr>
            <p:spPr>
              <a:xfrm>
                <a:off x="3652838" y="3560207"/>
                <a:ext cx="1327724"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模板管理 / 指令优化 / 上下文组装</a:t>
                </a:r>
              </a:p>
            </p:txBody>
          </p:sp>
          <p:sp>
            <p:nvSpPr>
              <p:cNvPr id="182" name="Rectangle 182"/>
              <p:cNvSpPr/>
              <p:nvPr/>
            </p:nvSpPr>
            <p:spPr>
              <a:xfrm>
                <a:off x="6400800" y="3429000"/>
                <a:ext cx="3829050" cy="304800"/>
              </a:xfrm>
              <a:prstGeom prst="roundRect">
                <a:avLst>
                  <a:gd name="adj" fmla="val 18750"/>
                </a:avLst>
              </a:prstGeom>
              <a:solidFill>
                <a:srgbClr val="FFFFFF"/>
              </a:solidFill>
              <a:ln w="9525">
                <a:solidFill>
                  <a:srgbClr val="BE776A"/>
                </a:solidFill>
              </a:ln>
            </p:spPr>
          </p:sp>
          <p:sp>
            <p:nvSpPr>
              <p:cNvPr id="183" name="TextBox 183"/>
              <p:cNvSpPr txBox="1"/>
              <p:nvPr/>
            </p:nvSpPr>
            <p:spPr>
              <a:xfrm>
                <a:off x="6586538" y="354806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模型网关</a:t>
                </a:r>
              </a:p>
            </p:txBody>
          </p:sp>
          <p:sp>
            <p:nvSpPr>
              <p:cNvPr id="184" name="TextBox 184"/>
              <p:cNvSpPr txBox="1"/>
              <p:nvPr/>
            </p:nvSpPr>
            <p:spPr>
              <a:xfrm>
                <a:off x="7272338" y="3560207"/>
                <a:ext cx="1685275"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模型路由 / 限流熔断 / 成本管控 / 安全过滤</a:t>
                </a:r>
              </a:p>
            </p:txBody>
          </p:sp>
        </p:grpSp>
      </p:grpSp>
      <p:sp>
        <p:nvSpPr>
          <p:cNvPr id="187" name="layer-arrow-3"/>
          <p:cNvSpPr/>
          <p:nvPr/>
        </p:nvSpPr>
        <p:spPr>
          <a:xfrm>
            <a:off x="6019800" y="3905250"/>
            <a:ext cx="152400" cy="95250"/>
          </a:xfrm>
          <a:custGeom>
            <a:avLst/>
            <a:gdLst/>
            <a:ahLst/>
            <a:cxnLst/>
            <a:rect l="l" t="t" r="r" b="b"/>
            <a:pathLst>
              <a:path w="152400" h="95250">
                <a:moveTo>
                  <a:pt x="76200" y="0"/>
                </a:moveTo>
                <a:lnTo>
                  <a:pt x="0" y="95250"/>
                </a:lnTo>
                <a:lnTo>
                  <a:pt x="152400" y="95250"/>
                </a:lnTo>
                <a:close/>
              </a:path>
            </a:pathLst>
          </a:custGeom>
          <a:solidFill>
            <a:srgbClr val="9A4B3C"/>
          </a:solidFill>
          <a:ln>
            <a:noFill/>
          </a:ln>
        </p:spPr>
      </p:sp>
      <p:grpSp>
        <p:nvGrpSpPr>
          <p:cNvPr id="217" name="layer-knowledge"/>
          <p:cNvGrpSpPr/>
          <p:nvPr/>
        </p:nvGrpSpPr>
        <p:grpSpPr>
          <a:xfrm>
            <a:off x="1143000" y="3962400"/>
            <a:ext cx="9639300" cy="914400"/>
            <a:chOff x="1143000" y="3962400"/>
            <a:chExt cx="9639300" cy="914400"/>
          </a:xfrm>
        </p:grpSpPr>
        <p:sp>
          <p:nvSpPr>
            <p:cNvPr id="188" name="Rectangle 188"/>
            <p:cNvSpPr/>
            <p:nvPr/>
          </p:nvSpPr>
          <p:spPr>
            <a:xfrm>
              <a:off x="1143000" y="3962400"/>
              <a:ext cx="9639300" cy="914400"/>
            </a:xfrm>
            <a:prstGeom prst="roundRect">
              <a:avLst>
                <a:gd name="adj" fmla="val 8333"/>
              </a:avLst>
            </a:prstGeom>
            <a:solidFill>
              <a:srgbClr val="FFFFFF"/>
            </a:solidFill>
            <a:ln w="9525">
              <a:solidFill>
                <a:srgbClr val="D9E8C6"/>
              </a:solidFill>
            </a:ln>
          </p:spPr>
        </p:sp>
        <p:sp>
          <p:nvSpPr>
            <p:cNvPr id="189" name="Rectangle 189"/>
            <p:cNvSpPr/>
            <p:nvPr/>
          </p:nvSpPr>
          <p:spPr>
            <a:xfrm>
              <a:off x="1257300" y="4076700"/>
              <a:ext cx="1143000" cy="685800"/>
            </a:xfrm>
            <a:prstGeom prst="roundRect">
              <a:avLst>
                <a:gd name="adj" fmla="val 11111"/>
              </a:avLst>
            </a:prstGeom>
            <a:solidFill>
              <a:srgbClr val="7C3B2F"/>
            </a:solidFill>
            <a:ln>
              <a:noFill/>
            </a:ln>
          </p:spPr>
        </p:sp>
        <p:grpSp>
          <p:nvGrpSpPr>
            <p:cNvPr id="193" name="Group 193"/>
            <p:cNvGrpSpPr/>
            <p:nvPr/>
          </p:nvGrpSpPr>
          <p:grpSpPr>
            <a:xfrm>
              <a:off x="1476375" y="4229100"/>
              <a:ext cx="133350" cy="152400"/>
              <a:chOff x="1476375" y="4229100"/>
              <a:chExt cx="133350" cy="152400"/>
            </a:xfrm>
          </p:grpSpPr>
          <p:sp>
            <p:nvSpPr>
              <p:cNvPr id="190" name="Freeform 190"/>
              <p:cNvSpPr/>
              <p:nvPr/>
            </p:nvSpPr>
            <p:spPr>
              <a:xfrm>
                <a:off x="1476375" y="42291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rgbClr val="FFFFFF"/>
                </a:solidFill>
              </a:ln>
            </p:spPr>
          </p:sp>
          <p:sp>
            <p:nvSpPr>
              <p:cNvPr id="191" name="Freeform 191"/>
              <p:cNvSpPr/>
              <p:nvPr/>
            </p:nvSpPr>
            <p:spPr>
              <a:xfrm>
                <a:off x="1476375" y="43434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rgbClr val="FFFFFF"/>
                </a:solidFill>
              </a:ln>
            </p:spPr>
          </p:sp>
          <p:sp>
            <p:nvSpPr>
              <p:cNvPr id="192" name="Freeform 192"/>
              <p:cNvSpPr/>
              <p:nvPr/>
            </p:nvSpPr>
            <p:spPr>
              <a:xfrm>
                <a:off x="1514475" y="4267200"/>
                <a:ext cx="57150" cy="9525"/>
              </a:xfrm>
              <a:custGeom>
                <a:avLst/>
                <a:gdLst/>
                <a:ahLst/>
                <a:cxnLst/>
                <a:rect l="l" t="t" r="r" b="b"/>
                <a:pathLst>
                  <a:path w="57150" h="9525">
                    <a:moveTo>
                      <a:pt x="0" y="0"/>
                    </a:moveTo>
                    <a:lnTo>
                      <a:pt x="57150" y="0"/>
                    </a:lnTo>
                  </a:path>
                </a:pathLst>
              </a:custGeom>
              <a:noFill/>
              <a:ln w="19050">
                <a:solidFill>
                  <a:srgbClr val="FFFFFF"/>
                </a:solidFill>
              </a:ln>
            </p:spPr>
          </p:sp>
        </p:grpSp>
        <p:sp>
          <p:nvSpPr>
            <p:cNvPr id="194" name="TextBox 194"/>
            <p:cNvSpPr txBox="1"/>
            <p:nvPr/>
          </p:nvSpPr>
          <p:spPr>
            <a:xfrm>
              <a:off x="1824038" y="4265295"/>
              <a:ext cx="61531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知识工程层</a:t>
              </a:r>
            </a:p>
          </p:txBody>
        </p:sp>
        <p:sp>
          <p:nvSpPr>
            <p:cNvPr id="195" name="TextBox 195"/>
            <p:cNvSpPr txBox="1"/>
            <p:nvPr/>
          </p:nvSpPr>
          <p:spPr>
            <a:xfrm>
              <a:off x="1824038" y="4484132"/>
              <a:ext cx="612623" cy="126206"/>
            </a:xfrm>
            <a:prstGeom prst="rect">
              <a:avLst/>
            </a:prstGeom>
            <a:noFill/>
            <a:ln>
              <a:noFill/>
            </a:ln>
          </p:spPr>
          <p:txBody>
            <a:bodyPr wrap="none" lIns="0" tIns="0" rIns="0" bIns="0" anchor="t" anchorCtr="0">
              <a:spAutoFit/>
            </a:bodyPr>
            <a:lstStyle/>
            <a:p>
              <a:pPr algn="l"/>
              <a:r>
                <a:rPr lang="zh-CN" sz="640" dirty="0">
                  <a:solidFill>
                    <a:srgbClr val="E7F2D8"/>
                  </a:solidFill>
                  <a:latin typeface="+mn-lt"/>
                  <a:ea typeface="+mn-ea"/>
                  <a:cs typeface="+mn-cs"/>
                </a:rPr>
                <a:t>知识生产与组织</a:t>
              </a:r>
            </a:p>
          </p:txBody>
        </p:sp>
        <p:grpSp>
          <p:nvGrpSpPr>
            <p:cNvPr id="216" name="knowledge-chips"/>
            <p:cNvGrpSpPr/>
            <p:nvPr/>
          </p:nvGrpSpPr>
          <p:grpSpPr>
            <a:xfrm>
              <a:off x="2514600" y="4152900"/>
              <a:ext cx="7905750" cy="533400"/>
              <a:chOff x="2514600" y="4152900"/>
              <a:chExt cx="7905750" cy="533400"/>
            </a:xfrm>
          </p:grpSpPr>
          <p:sp>
            <p:nvSpPr>
              <p:cNvPr id="196" name="Rectangle 196"/>
              <p:cNvSpPr/>
              <p:nvPr/>
            </p:nvSpPr>
            <p:spPr>
              <a:xfrm>
                <a:off x="2514600" y="4152900"/>
                <a:ext cx="1504950" cy="533400"/>
              </a:xfrm>
              <a:prstGeom prst="roundRect">
                <a:avLst>
                  <a:gd name="adj" fmla="val 10714"/>
                </a:avLst>
              </a:prstGeom>
              <a:solidFill>
                <a:srgbClr val="F4F8EC"/>
              </a:solidFill>
              <a:ln w="9525">
                <a:solidFill>
                  <a:srgbClr val="D9E8C6"/>
                </a:solidFill>
              </a:ln>
            </p:spPr>
          </p:sp>
          <p:sp>
            <p:nvSpPr>
              <p:cNvPr id="197" name="TextBox 197"/>
              <p:cNvSpPr txBox="1"/>
              <p:nvPr/>
            </p:nvSpPr>
            <p:spPr>
              <a:xfrm>
                <a:off x="3049613" y="42393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知识抽取</a:t>
                </a:r>
              </a:p>
            </p:txBody>
          </p:sp>
          <p:sp>
            <p:nvSpPr>
              <p:cNvPr id="198" name="TextBox 198"/>
              <p:cNvSpPr txBox="1"/>
              <p:nvPr/>
            </p:nvSpPr>
            <p:spPr>
              <a:xfrm>
                <a:off x="2927109" y="4411980"/>
                <a:ext cx="67993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主题 / 实体 / 关系</a:t>
                </a:r>
              </a:p>
            </p:txBody>
          </p:sp>
          <p:sp>
            <p:nvSpPr>
              <p:cNvPr id="199" name="TextBox 199"/>
              <p:cNvSpPr txBox="1"/>
              <p:nvPr/>
            </p:nvSpPr>
            <p:spPr>
              <a:xfrm>
                <a:off x="3013939" y="4535805"/>
                <a:ext cx="50627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规则 + 大模型</a:t>
                </a:r>
              </a:p>
            </p:txBody>
          </p:sp>
          <p:sp>
            <p:nvSpPr>
              <p:cNvPr id="200" name="Rectangle 200"/>
              <p:cNvSpPr/>
              <p:nvPr/>
            </p:nvSpPr>
            <p:spPr>
              <a:xfrm>
                <a:off x="4114800" y="4152900"/>
                <a:ext cx="1504950" cy="533400"/>
              </a:xfrm>
              <a:prstGeom prst="roundRect">
                <a:avLst>
                  <a:gd name="adj" fmla="val 10714"/>
                </a:avLst>
              </a:prstGeom>
              <a:solidFill>
                <a:srgbClr val="F4F8EC"/>
              </a:solidFill>
              <a:ln w="9525">
                <a:solidFill>
                  <a:srgbClr val="D9E8C6"/>
                </a:solidFill>
              </a:ln>
            </p:spPr>
          </p:sp>
          <p:sp>
            <p:nvSpPr>
              <p:cNvPr id="201" name="TextBox 201"/>
              <p:cNvSpPr txBox="1"/>
              <p:nvPr/>
            </p:nvSpPr>
            <p:spPr>
              <a:xfrm>
                <a:off x="4649813" y="42393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知识加工</a:t>
                </a:r>
              </a:p>
            </p:txBody>
          </p:sp>
          <p:sp>
            <p:nvSpPr>
              <p:cNvPr id="202" name="TextBox 202"/>
              <p:cNvSpPr txBox="1"/>
              <p:nvPr/>
            </p:nvSpPr>
            <p:spPr>
              <a:xfrm>
                <a:off x="4486923" y="4411980"/>
                <a:ext cx="76070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清洗 / 去重 / 标准化</a:t>
                </a:r>
              </a:p>
            </p:txBody>
          </p:sp>
          <p:sp>
            <p:nvSpPr>
              <p:cNvPr id="203" name="TextBox 203"/>
              <p:cNvSpPr txBox="1"/>
              <p:nvPr/>
            </p:nvSpPr>
            <p:spPr>
              <a:xfrm>
                <a:off x="4700968" y="4535805"/>
                <a:ext cx="33261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同义归并</a:t>
                </a:r>
              </a:p>
            </p:txBody>
          </p:sp>
          <p:sp>
            <p:nvSpPr>
              <p:cNvPr id="204" name="Rectangle 204"/>
              <p:cNvSpPr/>
              <p:nvPr/>
            </p:nvSpPr>
            <p:spPr>
              <a:xfrm>
                <a:off x="5715000" y="4152900"/>
                <a:ext cx="1504950" cy="533400"/>
              </a:xfrm>
              <a:prstGeom prst="roundRect">
                <a:avLst>
                  <a:gd name="adj" fmla="val 10714"/>
                </a:avLst>
              </a:prstGeom>
              <a:solidFill>
                <a:srgbClr val="F4F8EC"/>
              </a:solidFill>
              <a:ln w="9525">
                <a:solidFill>
                  <a:srgbClr val="D9E8C6"/>
                </a:solidFill>
              </a:ln>
            </p:spPr>
          </p:sp>
          <p:sp>
            <p:nvSpPr>
              <p:cNvPr id="205" name="TextBox 205"/>
              <p:cNvSpPr txBox="1"/>
              <p:nvPr/>
            </p:nvSpPr>
            <p:spPr>
              <a:xfrm>
                <a:off x="6250013" y="42393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知识组织</a:t>
                </a:r>
              </a:p>
            </p:txBody>
          </p:sp>
          <p:sp>
            <p:nvSpPr>
              <p:cNvPr id="206" name="TextBox 206"/>
              <p:cNvSpPr txBox="1"/>
              <p:nvPr/>
            </p:nvSpPr>
            <p:spPr>
              <a:xfrm>
                <a:off x="6127509" y="4411980"/>
                <a:ext cx="67993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本体 / 标签 / 分类</a:t>
                </a:r>
              </a:p>
            </p:txBody>
          </p:sp>
          <p:sp>
            <p:nvSpPr>
              <p:cNvPr id="207" name="TextBox 207"/>
              <p:cNvSpPr txBox="1"/>
              <p:nvPr/>
            </p:nvSpPr>
            <p:spPr>
              <a:xfrm>
                <a:off x="6301168" y="4535805"/>
                <a:ext cx="33261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目录体系</a:t>
                </a:r>
              </a:p>
            </p:txBody>
          </p:sp>
          <p:sp>
            <p:nvSpPr>
              <p:cNvPr id="208" name="Rectangle 208"/>
              <p:cNvSpPr/>
              <p:nvPr/>
            </p:nvSpPr>
            <p:spPr>
              <a:xfrm>
                <a:off x="7315200" y="4152900"/>
                <a:ext cx="1504950" cy="533400"/>
              </a:xfrm>
              <a:prstGeom prst="roundRect">
                <a:avLst>
                  <a:gd name="adj" fmla="val 10714"/>
                </a:avLst>
              </a:prstGeom>
              <a:solidFill>
                <a:srgbClr val="F4F8EC"/>
              </a:solidFill>
              <a:ln w="9525">
                <a:solidFill>
                  <a:srgbClr val="D9E8C6"/>
                </a:solidFill>
              </a:ln>
            </p:spPr>
          </p:sp>
          <p:sp>
            <p:nvSpPr>
              <p:cNvPr id="209" name="TextBox 209"/>
              <p:cNvSpPr txBox="1"/>
              <p:nvPr/>
            </p:nvSpPr>
            <p:spPr>
              <a:xfrm>
                <a:off x="7850213" y="42393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知识存储</a:t>
                </a:r>
              </a:p>
            </p:txBody>
          </p:sp>
          <p:sp>
            <p:nvSpPr>
              <p:cNvPr id="210" name="TextBox 210"/>
              <p:cNvSpPr txBox="1"/>
              <p:nvPr/>
            </p:nvSpPr>
            <p:spPr>
              <a:xfrm>
                <a:off x="7774153" y="4411980"/>
                <a:ext cx="58704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向量库 / 图谱库</a:t>
                </a:r>
              </a:p>
            </p:txBody>
          </p:sp>
          <p:sp>
            <p:nvSpPr>
              <p:cNvPr id="211" name="TextBox 211"/>
              <p:cNvSpPr txBox="1"/>
              <p:nvPr/>
            </p:nvSpPr>
            <p:spPr>
              <a:xfrm>
                <a:off x="7774153" y="4535805"/>
                <a:ext cx="58704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文档库 / 元数据</a:t>
                </a:r>
              </a:p>
            </p:txBody>
          </p:sp>
          <p:sp>
            <p:nvSpPr>
              <p:cNvPr id="212" name="Rectangle 212"/>
              <p:cNvSpPr/>
              <p:nvPr/>
            </p:nvSpPr>
            <p:spPr>
              <a:xfrm>
                <a:off x="8915400" y="4152900"/>
                <a:ext cx="1504950" cy="533400"/>
              </a:xfrm>
              <a:prstGeom prst="roundRect">
                <a:avLst>
                  <a:gd name="adj" fmla="val 10714"/>
                </a:avLst>
              </a:prstGeom>
              <a:solidFill>
                <a:srgbClr val="F4F8EC"/>
              </a:solidFill>
              <a:ln w="9525">
                <a:solidFill>
                  <a:srgbClr val="D9E8C6"/>
                </a:solidFill>
              </a:ln>
            </p:spPr>
          </p:sp>
          <p:sp>
            <p:nvSpPr>
              <p:cNvPr id="213" name="TextBox 213"/>
              <p:cNvSpPr txBox="1"/>
              <p:nvPr/>
            </p:nvSpPr>
            <p:spPr>
              <a:xfrm>
                <a:off x="9450413" y="423933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知识服务</a:t>
                </a:r>
              </a:p>
            </p:txBody>
          </p:sp>
          <p:sp>
            <p:nvSpPr>
              <p:cNvPr id="214" name="TextBox 214"/>
              <p:cNvSpPr txBox="1"/>
              <p:nvPr/>
            </p:nvSpPr>
            <p:spPr>
              <a:xfrm>
                <a:off x="9305925" y="4411980"/>
                <a:ext cx="723900"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 xml:space="preserve">API / 订阅 / 推送　</a:t>
                </a:r>
              </a:p>
            </p:txBody>
          </p:sp>
          <p:sp>
            <p:nvSpPr>
              <p:cNvPr id="215" name="TextBox 215"/>
              <p:cNvSpPr txBox="1"/>
              <p:nvPr/>
            </p:nvSpPr>
            <p:spPr>
              <a:xfrm>
                <a:off x="9501568" y="4535805"/>
                <a:ext cx="33261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权限可控</a:t>
                </a:r>
              </a:p>
            </p:txBody>
          </p:sp>
        </p:grpSp>
      </p:grpSp>
      <p:sp>
        <p:nvSpPr>
          <p:cNvPr id="218" name="layer-arrow-4"/>
          <p:cNvSpPr/>
          <p:nvPr/>
        </p:nvSpPr>
        <p:spPr>
          <a:xfrm>
            <a:off x="6019800" y="4933950"/>
            <a:ext cx="152400" cy="95250"/>
          </a:xfrm>
          <a:custGeom>
            <a:avLst/>
            <a:gdLst/>
            <a:ahLst/>
            <a:cxnLst/>
            <a:rect l="l" t="t" r="r" b="b"/>
            <a:pathLst>
              <a:path w="152400" h="95250">
                <a:moveTo>
                  <a:pt x="76200" y="0"/>
                </a:moveTo>
                <a:lnTo>
                  <a:pt x="0" y="95250"/>
                </a:lnTo>
                <a:lnTo>
                  <a:pt x="152400" y="95250"/>
                </a:lnTo>
                <a:close/>
              </a:path>
            </a:pathLst>
          </a:custGeom>
          <a:solidFill>
            <a:srgbClr val="9A4B3C"/>
          </a:solidFill>
          <a:ln>
            <a:noFill/>
          </a:ln>
        </p:spPr>
      </p:sp>
      <p:grpSp>
        <p:nvGrpSpPr>
          <p:cNvPr id="247" name="layer-source"/>
          <p:cNvGrpSpPr/>
          <p:nvPr/>
        </p:nvGrpSpPr>
        <p:grpSpPr>
          <a:xfrm>
            <a:off x="1143000" y="4991100"/>
            <a:ext cx="9639300" cy="914400"/>
            <a:chOff x="1143000" y="4991100"/>
            <a:chExt cx="9639300" cy="914400"/>
          </a:xfrm>
        </p:grpSpPr>
        <p:sp>
          <p:nvSpPr>
            <p:cNvPr id="219" name="Rectangle 219"/>
            <p:cNvSpPr/>
            <p:nvPr/>
          </p:nvSpPr>
          <p:spPr>
            <a:xfrm>
              <a:off x="1143000" y="4991100"/>
              <a:ext cx="9639300" cy="914400"/>
            </a:xfrm>
            <a:prstGeom prst="roundRect">
              <a:avLst>
                <a:gd name="adj" fmla="val 8333"/>
              </a:avLst>
            </a:prstGeom>
            <a:solidFill>
              <a:srgbClr val="FFFFFF"/>
            </a:solidFill>
            <a:ln w="9525">
              <a:solidFill>
                <a:srgbClr val="D9E8C6"/>
              </a:solidFill>
            </a:ln>
          </p:spPr>
        </p:sp>
        <p:sp>
          <p:nvSpPr>
            <p:cNvPr id="220" name="Rectangle 220"/>
            <p:cNvSpPr/>
            <p:nvPr/>
          </p:nvSpPr>
          <p:spPr>
            <a:xfrm>
              <a:off x="1257300" y="5105400"/>
              <a:ext cx="1143000" cy="685800"/>
            </a:xfrm>
            <a:prstGeom prst="roundRect">
              <a:avLst>
                <a:gd name="adj" fmla="val 11111"/>
              </a:avLst>
            </a:prstGeom>
            <a:solidFill>
              <a:srgbClr val="42140B"/>
            </a:solidFill>
            <a:ln>
              <a:noFill/>
            </a:ln>
          </p:spPr>
        </p:sp>
        <p:grpSp>
          <p:nvGrpSpPr>
            <p:cNvPr id="224" name="Group 224"/>
            <p:cNvGrpSpPr/>
            <p:nvPr/>
          </p:nvGrpSpPr>
          <p:grpSpPr>
            <a:xfrm>
              <a:off x="1466850" y="5248275"/>
              <a:ext cx="152400" cy="171450"/>
              <a:chOff x="1466850" y="5248275"/>
              <a:chExt cx="152400" cy="171450"/>
            </a:xfrm>
          </p:grpSpPr>
          <p:sp>
            <p:nvSpPr>
              <p:cNvPr id="221" name="Freeform 221"/>
              <p:cNvSpPr/>
              <p:nvPr/>
            </p:nvSpPr>
            <p:spPr>
              <a:xfrm>
                <a:off x="1466850" y="524827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FFFFFF"/>
                </a:solidFill>
              </a:ln>
            </p:spPr>
          </p:sp>
          <p:sp>
            <p:nvSpPr>
              <p:cNvPr id="222" name="Freeform 222"/>
              <p:cNvSpPr/>
              <p:nvPr/>
            </p:nvSpPr>
            <p:spPr>
              <a:xfrm>
                <a:off x="1466850" y="52768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sp>
            <p:nvSpPr>
              <p:cNvPr id="223" name="Freeform 223"/>
              <p:cNvSpPr/>
              <p:nvPr/>
            </p:nvSpPr>
            <p:spPr>
              <a:xfrm>
                <a:off x="1466850" y="53340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grpSp>
        <p:sp>
          <p:nvSpPr>
            <p:cNvPr id="225" name="TextBox 225"/>
            <p:cNvSpPr txBox="1"/>
            <p:nvPr/>
          </p:nvSpPr>
          <p:spPr>
            <a:xfrm>
              <a:off x="1824038" y="5293995"/>
              <a:ext cx="85763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数据与内容源层</a:t>
              </a:r>
            </a:p>
          </p:txBody>
        </p:sp>
        <p:sp>
          <p:nvSpPr>
            <p:cNvPr id="226" name="TextBox 226"/>
            <p:cNvSpPr txBox="1"/>
            <p:nvPr/>
          </p:nvSpPr>
          <p:spPr>
            <a:xfrm>
              <a:off x="1824038" y="5512832"/>
              <a:ext cx="612623"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多源接入与整合</a:t>
              </a:r>
            </a:p>
          </p:txBody>
        </p:sp>
        <p:grpSp>
          <p:nvGrpSpPr>
            <p:cNvPr id="246" name="source-chips"/>
            <p:cNvGrpSpPr/>
            <p:nvPr/>
          </p:nvGrpSpPr>
          <p:grpSpPr>
            <a:xfrm>
              <a:off x="2514600" y="5162550"/>
              <a:ext cx="8039081" cy="533400"/>
              <a:chOff x="2514600" y="5162550"/>
              <a:chExt cx="8039081" cy="533400"/>
            </a:xfrm>
          </p:grpSpPr>
          <p:sp>
            <p:nvSpPr>
              <p:cNvPr id="227" name="Rectangle 227"/>
              <p:cNvSpPr/>
              <p:nvPr/>
            </p:nvSpPr>
            <p:spPr>
              <a:xfrm>
                <a:off x="2514600" y="5162550"/>
                <a:ext cx="1200150" cy="533400"/>
              </a:xfrm>
              <a:prstGeom prst="roundRect">
                <a:avLst>
                  <a:gd name="adj" fmla="val 10714"/>
                </a:avLst>
              </a:prstGeom>
              <a:solidFill>
                <a:srgbClr val="F4F8EC"/>
              </a:solidFill>
              <a:ln w="9525">
                <a:solidFill>
                  <a:srgbClr val="D9E8C6"/>
                </a:solidFill>
              </a:ln>
            </p:spPr>
          </p:sp>
          <p:sp>
            <p:nvSpPr>
              <p:cNvPr id="228" name="TextBox 228"/>
              <p:cNvSpPr txBox="1"/>
              <p:nvPr/>
            </p:nvSpPr>
            <p:spPr>
              <a:xfrm>
                <a:off x="2947599" y="5248989"/>
                <a:ext cx="334153"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 xml:space="preserve">ECM　</a:t>
                </a:r>
              </a:p>
            </p:txBody>
          </p:sp>
          <p:sp>
            <p:nvSpPr>
              <p:cNvPr id="229" name="TextBox 229"/>
              <p:cNvSpPr txBox="1"/>
              <p:nvPr/>
            </p:nvSpPr>
            <p:spPr>
              <a:xfrm>
                <a:off x="2901925" y="5421630"/>
                <a:ext cx="425501"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文档 / 合同</a:t>
                </a:r>
              </a:p>
            </p:txBody>
          </p:sp>
          <p:sp>
            <p:nvSpPr>
              <p:cNvPr id="230" name="Rectangle 230"/>
              <p:cNvSpPr/>
              <p:nvPr/>
            </p:nvSpPr>
            <p:spPr>
              <a:xfrm>
                <a:off x="3810000" y="5162550"/>
                <a:ext cx="1200150" cy="533400"/>
              </a:xfrm>
              <a:prstGeom prst="roundRect">
                <a:avLst>
                  <a:gd name="adj" fmla="val 10714"/>
                </a:avLst>
              </a:prstGeom>
              <a:solidFill>
                <a:srgbClr val="F4F8EC"/>
              </a:solidFill>
              <a:ln w="9525">
                <a:solidFill>
                  <a:srgbClr val="D9E8C6"/>
                </a:solidFill>
              </a:ln>
            </p:spPr>
          </p:sp>
          <p:sp>
            <p:nvSpPr>
              <p:cNvPr id="231" name="TextBox 231"/>
              <p:cNvSpPr txBox="1"/>
              <p:nvPr/>
            </p:nvSpPr>
            <p:spPr>
              <a:xfrm>
                <a:off x="4275445" y="5248989"/>
                <a:ext cx="269259"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 xml:space="preserve">OA　</a:t>
                </a:r>
              </a:p>
            </p:txBody>
          </p:sp>
          <p:sp>
            <p:nvSpPr>
              <p:cNvPr id="232" name="TextBox 232"/>
              <p:cNvSpPr txBox="1"/>
              <p:nvPr/>
            </p:nvSpPr>
            <p:spPr>
              <a:xfrm>
                <a:off x="4197325" y="5421630"/>
                <a:ext cx="425501"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公文 / 通知</a:t>
                </a:r>
              </a:p>
            </p:txBody>
          </p:sp>
          <p:sp>
            <p:nvSpPr>
              <p:cNvPr id="233" name="Rectangle 233"/>
              <p:cNvSpPr/>
              <p:nvPr/>
            </p:nvSpPr>
            <p:spPr>
              <a:xfrm>
                <a:off x="5105400" y="5162550"/>
                <a:ext cx="1200150" cy="533400"/>
              </a:xfrm>
              <a:prstGeom prst="roundRect">
                <a:avLst>
                  <a:gd name="adj" fmla="val 10714"/>
                </a:avLst>
              </a:prstGeom>
              <a:solidFill>
                <a:srgbClr val="F4F8EC"/>
              </a:solidFill>
              <a:ln w="9525">
                <a:solidFill>
                  <a:srgbClr val="D9E8C6"/>
                </a:solidFill>
              </a:ln>
            </p:spPr>
          </p:sp>
          <p:sp>
            <p:nvSpPr>
              <p:cNvPr id="234" name="TextBox 234"/>
              <p:cNvSpPr txBox="1"/>
              <p:nvPr/>
            </p:nvSpPr>
            <p:spPr>
              <a:xfrm>
                <a:off x="5538399" y="5248989"/>
                <a:ext cx="334153"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 xml:space="preserve">CRM　</a:t>
                </a:r>
              </a:p>
            </p:txBody>
          </p:sp>
          <p:sp>
            <p:nvSpPr>
              <p:cNvPr id="235" name="TextBox 235"/>
              <p:cNvSpPr txBox="1"/>
              <p:nvPr/>
            </p:nvSpPr>
            <p:spPr>
              <a:xfrm>
                <a:off x="5492725" y="5421630"/>
                <a:ext cx="425501"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客户 / 商机</a:t>
                </a:r>
              </a:p>
            </p:txBody>
          </p:sp>
          <p:sp>
            <p:nvSpPr>
              <p:cNvPr id="236" name="Rectangle 236"/>
              <p:cNvSpPr/>
              <p:nvPr/>
            </p:nvSpPr>
            <p:spPr>
              <a:xfrm>
                <a:off x="6400800" y="5162550"/>
                <a:ext cx="1200150" cy="533400"/>
              </a:xfrm>
              <a:prstGeom prst="roundRect">
                <a:avLst>
                  <a:gd name="adj" fmla="val 10714"/>
                </a:avLst>
              </a:prstGeom>
              <a:solidFill>
                <a:srgbClr val="F4F8EC"/>
              </a:solidFill>
              <a:ln w="9525">
                <a:solidFill>
                  <a:srgbClr val="D9E8C6"/>
                </a:solidFill>
              </a:ln>
            </p:spPr>
          </p:sp>
          <p:sp>
            <p:nvSpPr>
              <p:cNvPr id="237" name="TextBox 237"/>
              <p:cNvSpPr txBox="1"/>
              <p:nvPr/>
            </p:nvSpPr>
            <p:spPr>
              <a:xfrm>
                <a:off x="6845597" y="5248989"/>
                <a:ext cx="31055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 xml:space="preserve">ERP　</a:t>
                </a:r>
              </a:p>
            </p:txBody>
          </p:sp>
          <p:sp>
            <p:nvSpPr>
              <p:cNvPr id="238" name="TextBox 238"/>
              <p:cNvSpPr txBox="1"/>
              <p:nvPr/>
            </p:nvSpPr>
            <p:spPr>
              <a:xfrm>
                <a:off x="6747739" y="5421630"/>
                <a:ext cx="50627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订单 / 供应链</a:t>
                </a:r>
              </a:p>
            </p:txBody>
          </p:sp>
          <p:sp>
            <p:nvSpPr>
              <p:cNvPr id="239" name="Rectangle 239"/>
              <p:cNvSpPr/>
              <p:nvPr/>
            </p:nvSpPr>
            <p:spPr>
              <a:xfrm>
                <a:off x="7696200" y="5162550"/>
                <a:ext cx="1200150" cy="533400"/>
              </a:xfrm>
              <a:prstGeom prst="roundRect">
                <a:avLst>
                  <a:gd name="adj" fmla="val 10714"/>
                </a:avLst>
              </a:prstGeom>
              <a:solidFill>
                <a:srgbClr val="F4F8EC"/>
              </a:solidFill>
              <a:ln w="9525">
                <a:solidFill>
                  <a:srgbClr val="D9E8C6"/>
                </a:solidFill>
              </a:ln>
            </p:spPr>
          </p:sp>
          <p:sp>
            <p:nvSpPr>
              <p:cNvPr id="240" name="TextBox 240"/>
              <p:cNvSpPr txBox="1"/>
              <p:nvPr/>
            </p:nvSpPr>
            <p:spPr>
              <a:xfrm>
                <a:off x="8131988" y="5248989"/>
                <a:ext cx="3285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制度库</a:t>
                </a:r>
              </a:p>
            </p:txBody>
          </p:sp>
          <p:sp>
            <p:nvSpPr>
              <p:cNvPr id="241" name="TextBox 241"/>
              <p:cNvSpPr txBox="1"/>
              <p:nvPr/>
            </p:nvSpPr>
            <p:spPr>
              <a:xfrm>
                <a:off x="8083525" y="5421630"/>
                <a:ext cx="425501"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制度 / 流程</a:t>
                </a:r>
              </a:p>
            </p:txBody>
          </p:sp>
          <p:sp>
            <p:nvSpPr>
              <p:cNvPr id="242" name="Rectangle 242"/>
              <p:cNvSpPr/>
              <p:nvPr/>
            </p:nvSpPr>
            <p:spPr>
              <a:xfrm>
                <a:off x="8991600" y="5162550"/>
                <a:ext cx="1200150" cy="533400"/>
              </a:xfrm>
              <a:prstGeom prst="roundRect">
                <a:avLst>
                  <a:gd name="adj" fmla="val 10714"/>
                </a:avLst>
              </a:prstGeom>
              <a:solidFill>
                <a:srgbClr val="F4F8EC"/>
              </a:solidFill>
              <a:ln w="9525">
                <a:solidFill>
                  <a:srgbClr val="D9E8C6"/>
                </a:solidFill>
              </a:ln>
            </p:spPr>
          </p:sp>
          <p:sp>
            <p:nvSpPr>
              <p:cNvPr id="243" name="TextBox 243"/>
              <p:cNvSpPr txBox="1"/>
              <p:nvPr/>
            </p:nvSpPr>
            <p:spPr>
              <a:xfrm>
                <a:off x="9374213" y="524898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项目文档</a:t>
                </a:r>
              </a:p>
            </p:txBody>
          </p:sp>
          <p:sp>
            <p:nvSpPr>
              <p:cNvPr id="244" name="TextBox 244"/>
              <p:cNvSpPr txBox="1"/>
              <p:nvPr/>
            </p:nvSpPr>
            <p:spPr>
              <a:xfrm>
                <a:off x="9251709" y="5421630"/>
                <a:ext cx="67993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立项 / 计划 / 报告</a:t>
                </a:r>
              </a:p>
            </p:txBody>
          </p:sp>
          <p:sp>
            <p:nvSpPr>
              <p:cNvPr id="245" name="TextBox 245"/>
              <p:cNvSpPr txBox="1"/>
              <p:nvPr/>
            </p:nvSpPr>
            <p:spPr>
              <a:xfrm>
                <a:off x="10477519" y="5389245"/>
                <a:ext cx="76162" cy="176212"/>
              </a:xfrm>
              <a:prstGeom prst="rect">
                <a:avLst/>
              </a:prstGeom>
              <a:noFill/>
              <a:ln>
                <a:noFill/>
              </a:ln>
            </p:spPr>
            <p:txBody>
              <a:bodyPr wrap="none" lIns="0" tIns="0" rIns="0" bIns="0" anchor="t" anchorCtr="0">
                <a:spAutoFit/>
              </a:bodyPr>
              <a:lstStyle/>
              <a:p>
                <a:pPr algn="ctr"/>
                <a:r>
                  <a:rPr lang="zh-CN" sz="900" dirty="0">
                    <a:solidFill>
                      <a:srgbClr val="66705F"/>
                    </a:solidFill>
                    <a:latin typeface="+mn-lt"/>
                    <a:ea typeface="+mn-ea"/>
                    <a:cs typeface="+mn-cs"/>
                  </a:rPr>
                  <a:t>…</a:t>
                </a:r>
              </a:p>
            </p:txBody>
          </p:sp>
        </p:grpSp>
      </p:grpSp>
      <p:grpSp>
        <p:nvGrpSpPr>
          <p:cNvPr id="257" name="feedback-label"/>
          <p:cNvGrpSpPr/>
          <p:nvPr/>
        </p:nvGrpSpPr>
        <p:grpSpPr>
          <a:xfrm>
            <a:off x="10941317" y="2381250"/>
            <a:ext cx="101067" cy="2190750"/>
            <a:chOff x="10941317" y="2381250"/>
            <a:chExt cx="101067" cy="2190750"/>
          </a:xfrm>
        </p:grpSpPr>
        <p:sp>
          <p:nvSpPr>
            <p:cNvPr id="248" name="Line 248"/>
            <p:cNvSpPr/>
            <p:nvPr/>
          </p:nvSpPr>
          <p:spPr>
            <a:xfrm>
              <a:off x="10991850" y="2381250"/>
              <a:ext cx="9525" cy="2190750"/>
            </a:xfrm>
            <a:custGeom>
              <a:avLst/>
              <a:gdLst/>
              <a:ahLst/>
              <a:cxnLst/>
              <a:rect l="l" t="t" r="r" b="b"/>
              <a:pathLst>
                <a:path w="9525" h="2190750">
                  <a:moveTo>
                    <a:pt x="0" y="0"/>
                  </a:moveTo>
                  <a:lnTo>
                    <a:pt x="0" y="2190750"/>
                  </a:lnTo>
                </a:path>
              </a:pathLst>
            </a:custGeom>
            <a:noFill/>
            <a:ln w="9525">
              <a:solidFill>
                <a:srgbClr val="BE776A"/>
              </a:solidFill>
              <a:prstDash val="dash"/>
            </a:ln>
          </p:spPr>
        </p:sp>
        <p:sp>
          <p:nvSpPr>
            <p:cNvPr id="249" name="TextBox 249"/>
            <p:cNvSpPr txBox="1"/>
            <p:nvPr/>
          </p:nvSpPr>
          <p:spPr>
            <a:xfrm>
              <a:off x="10941317" y="2575084"/>
              <a:ext cx="101067"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使</a:t>
              </a:r>
            </a:p>
          </p:txBody>
        </p:sp>
        <p:sp>
          <p:nvSpPr>
            <p:cNvPr id="250" name="TextBox 250"/>
            <p:cNvSpPr txBox="1"/>
            <p:nvPr/>
          </p:nvSpPr>
          <p:spPr>
            <a:xfrm>
              <a:off x="10941317" y="2708434"/>
              <a:ext cx="101067"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用</a:t>
              </a:r>
            </a:p>
          </p:txBody>
        </p:sp>
        <p:sp>
          <p:nvSpPr>
            <p:cNvPr id="251" name="TextBox 251"/>
            <p:cNvSpPr txBox="1"/>
            <p:nvPr/>
          </p:nvSpPr>
          <p:spPr>
            <a:xfrm>
              <a:off x="10941317" y="2841784"/>
              <a:ext cx="101067"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反</a:t>
              </a:r>
            </a:p>
          </p:txBody>
        </p:sp>
        <p:sp>
          <p:nvSpPr>
            <p:cNvPr id="252" name="TextBox 252"/>
            <p:cNvSpPr txBox="1"/>
            <p:nvPr/>
          </p:nvSpPr>
          <p:spPr>
            <a:xfrm>
              <a:off x="10941317" y="2975134"/>
              <a:ext cx="101067"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馈</a:t>
              </a:r>
            </a:p>
          </p:txBody>
        </p:sp>
        <p:sp>
          <p:nvSpPr>
            <p:cNvPr id="253" name="TextBox 253"/>
            <p:cNvSpPr txBox="1"/>
            <p:nvPr/>
          </p:nvSpPr>
          <p:spPr>
            <a:xfrm>
              <a:off x="10941317" y="3108484"/>
              <a:ext cx="101067"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效</a:t>
              </a:r>
            </a:p>
          </p:txBody>
        </p:sp>
        <p:sp>
          <p:nvSpPr>
            <p:cNvPr id="254" name="TextBox 254"/>
            <p:cNvSpPr txBox="1"/>
            <p:nvPr/>
          </p:nvSpPr>
          <p:spPr>
            <a:xfrm>
              <a:off x="10941317" y="3241834"/>
              <a:ext cx="101067"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果</a:t>
              </a:r>
            </a:p>
          </p:txBody>
        </p:sp>
        <p:sp>
          <p:nvSpPr>
            <p:cNvPr id="255" name="TextBox 255"/>
            <p:cNvSpPr txBox="1"/>
            <p:nvPr/>
          </p:nvSpPr>
          <p:spPr>
            <a:xfrm>
              <a:off x="10941317" y="3375184"/>
              <a:ext cx="101067"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评</a:t>
              </a:r>
            </a:p>
          </p:txBody>
        </p:sp>
        <p:sp>
          <p:nvSpPr>
            <p:cNvPr id="256" name="TextBox 256"/>
            <p:cNvSpPr txBox="1"/>
            <p:nvPr/>
          </p:nvSpPr>
          <p:spPr>
            <a:xfrm>
              <a:off x="10941317" y="3508534"/>
              <a:ext cx="101067"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估</a:t>
              </a:r>
            </a:p>
          </p:txBody>
        </p:sp>
      </p:grpSp>
      <p:grpSp>
        <p:nvGrpSpPr>
          <p:cNvPr id="262" name="loop-band"/>
          <p:cNvGrpSpPr/>
          <p:nvPr/>
        </p:nvGrpSpPr>
        <p:grpSpPr>
          <a:xfrm>
            <a:off x="228600" y="6172200"/>
            <a:ext cx="11734800" cy="552450"/>
            <a:chOff x="228600" y="6172200"/>
            <a:chExt cx="11734800" cy="552450"/>
          </a:xfrm>
        </p:grpSpPr>
        <p:sp>
          <p:nvSpPr>
            <p:cNvPr id="258" name="Rectangle 258"/>
            <p:cNvSpPr/>
            <p:nvPr/>
          </p:nvSpPr>
          <p:spPr>
            <a:xfrm>
              <a:off x="228600" y="6172200"/>
              <a:ext cx="11734800" cy="552450"/>
            </a:xfrm>
            <a:prstGeom prst="roundRect">
              <a:avLst>
                <a:gd name="adj" fmla="val 17241"/>
              </a:avLst>
            </a:prstGeom>
            <a:solidFill>
              <a:srgbClr val="F4F8EC"/>
            </a:solidFill>
            <a:ln w="9525">
              <a:solidFill>
                <a:srgbClr val="D9E8C6"/>
              </a:solidFill>
            </a:ln>
          </p:spPr>
        </p:sp>
        <p:sp>
          <p:nvSpPr>
            <p:cNvPr id="259" name="Line 259"/>
            <p:cNvSpPr/>
            <p:nvPr/>
          </p:nvSpPr>
          <p:spPr>
            <a:xfrm>
              <a:off x="457200" y="6305550"/>
              <a:ext cx="1" cy="285750"/>
            </a:xfrm>
            <a:prstGeom prst="line">
              <a:avLst/>
            </a:prstGeom>
            <a:noFill/>
            <a:ln w="14288">
              <a:solidFill>
                <a:srgbClr val="7C3B2F"/>
              </a:solidFill>
              <a:custDash>
                <a:ds d="333333" sp="266667"/>
              </a:custDash>
              <a:tailEnd type="arrow" w="lg" len="lg"/>
            </a:ln>
          </p:spPr>
        </p:sp>
        <p:sp>
          <p:nvSpPr>
            <p:cNvPr id="260" name="TextBox 260"/>
            <p:cNvSpPr txBox="1"/>
            <p:nvPr/>
          </p:nvSpPr>
          <p:spPr>
            <a:xfrm>
              <a:off x="4416943" y="6405801"/>
              <a:ext cx="3358115" cy="198025"/>
            </a:xfrm>
            <a:prstGeom prst="rect">
              <a:avLst/>
            </a:prstGeom>
            <a:noFill/>
            <a:ln>
              <a:noFill/>
            </a:ln>
          </p:spPr>
          <p:txBody>
            <a:bodyPr wrap="none" lIns="0" tIns="0" rIns="0" bIns="0" anchor="t" anchorCtr="0">
              <a:spAutoFit/>
            </a:bodyPr>
            <a:lstStyle/>
            <a:p>
              <a:pPr algn="ctr"/>
              <a:r>
                <a:rPr lang="zh-CN" sz="1010" b="1" dirty="0">
                  <a:solidFill>
                    <a:srgbClr val="42140B"/>
                  </a:solidFill>
                  <a:latin typeface="+mn-lt"/>
                  <a:ea typeface="+mn-ea"/>
                  <a:cs typeface="+mn-cs"/>
                </a:rPr>
                <a:t>闭环驱动：数据沉淀 → 知识迭代 → 能力优化 → 场景提效</a:t>
              </a:r>
            </a:p>
          </p:txBody>
        </p:sp>
        <p:sp>
          <p:nvSpPr>
            <p:cNvPr id="261" name="Line 261"/>
            <p:cNvSpPr/>
            <p:nvPr/>
          </p:nvSpPr>
          <p:spPr>
            <a:xfrm flipV="1">
              <a:off x="11734800" y="6305550"/>
              <a:ext cx="1" cy="285750"/>
            </a:xfrm>
            <a:prstGeom prst="line">
              <a:avLst/>
            </a:prstGeom>
            <a:noFill/>
            <a:ln w="14288">
              <a:solidFill>
                <a:srgbClr val="7C3B2F"/>
              </a:solidFill>
              <a:custDash>
                <a:ds d="333333" sp="266667"/>
              </a:custDash>
              <a:tailEnd type="arrow" w="lg" len="lg"/>
            </a:ln>
          </p:spPr>
        </p:sp>
      </p:gr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04</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场景选择必须同时回答</a:t>
              </a:r>
              <a:r>
                <a:rPr lang="zh-CN" sz="1950" b="1" dirty="0">
                  <a:solidFill>
                    <a:srgbClr val="7C3B2F"/>
                  </a:solidFill>
                  <a:latin typeface="SimSun"/>
                  <a:ea typeface="SimSun"/>
                  <a:cs typeface="SimSun"/>
                </a:rPr>
                <a:t>价值多大、知识是否就绪、风险是否可控</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54" name="score-dims"/>
          <p:cNvGrpSpPr/>
          <p:nvPr/>
        </p:nvGrpSpPr>
        <p:grpSpPr>
          <a:xfrm>
            <a:off x="228600" y="628650"/>
            <a:ext cx="1828800" cy="4629150"/>
            <a:chOff x="228600" y="628650"/>
            <a:chExt cx="1828800" cy="4629150"/>
          </a:xfrm>
        </p:grpSpPr>
        <p:sp>
          <p:nvSpPr>
            <p:cNvPr id="7" name="Rectangle 7"/>
            <p:cNvSpPr/>
            <p:nvPr/>
          </p:nvSpPr>
          <p:spPr>
            <a:xfrm>
              <a:off x="228600" y="628650"/>
              <a:ext cx="1828800" cy="247650"/>
            </a:xfrm>
            <a:prstGeom prst="roundRect">
              <a:avLst>
                <a:gd name="adj" fmla="val 30769"/>
              </a:avLst>
            </a:prstGeom>
            <a:solidFill>
              <a:srgbClr val="42140B"/>
            </a:solidFill>
            <a:ln>
              <a:noFill/>
            </a:ln>
          </p:spPr>
        </p:sp>
        <p:sp>
          <p:nvSpPr>
            <p:cNvPr id="8" name="TextBox 8"/>
            <p:cNvSpPr txBox="1"/>
            <p:nvPr/>
          </p:nvSpPr>
          <p:spPr>
            <a:xfrm>
              <a:off x="585720" y="698897"/>
              <a:ext cx="111456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评分维度（0-5分）</a:t>
              </a:r>
            </a:p>
          </p:txBody>
        </p:sp>
        <p:grpSp>
          <p:nvGrpSpPr>
            <p:cNvPr id="18" name="dim-frequency"/>
            <p:cNvGrpSpPr/>
            <p:nvPr/>
          </p:nvGrpSpPr>
          <p:grpSpPr>
            <a:xfrm>
              <a:off x="228600" y="952500"/>
              <a:ext cx="1828800" cy="800100"/>
              <a:chOff x="228600" y="952500"/>
              <a:chExt cx="1828800" cy="800100"/>
            </a:xfrm>
          </p:grpSpPr>
          <p:sp>
            <p:nvSpPr>
              <p:cNvPr id="9" name="Rectangle 9"/>
              <p:cNvSpPr/>
              <p:nvPr/>
            </p:nvSpPr>
            <p:spPr>
              <a:xfrm>
                <a:off x="228600" y="952500"/>
                <a:ext cx="1828800" cy="800100"/>
              </a:xfrm>
              <a:prstGeom prst="roundRect">
                <a:avLst>
                  <a:gd name="adj" fmla="val 9524"/>
                </a:avLst>
              </a:prstGeom>
              <a:solidFill>
                <a:srgbClr val="F4F8EC"/>
              </a:solidFill>
              <a:ln w="9525">
                <a:solidFill>
                  <a:srgbClr val="D9E8C6"/>
                </a:solidFill>
              </a:ln>
            </p:spPr>
          </p:sp>
          <p:sp>
            <p:nvSpPr>
              <p:cNvPr id="10" name="Ellipse 10"/>
              <p:cNvSpPr/>
              <p:nvPr/>
            </p:nvSpPr>
            <p:spPr>
              <a:xfrm>
                <a:off x="361950" y="1085850"/>
                <a:ext cx="266700" cy="266700"/>
              </a:xfrm>
              <a:prstGeom prst="ellipse">
                <a:avLst/>
              </a:prstGeom>
              <a:solidFill>
                <a:srgbClr val="FFFFFF"/>
              </a:solidFill>
              <a:ln w="9525">
                <a:solidFill>
                  <a:srgbClr val="BE776A"/>
                </a:solidFill>
              </a:ln>
            </p:spPr>
          </p:sp>
          <p:grpSp>
            <p:nvGrpSpPr>
              <p:cNvPr id="15" name="Group 15"/>
              <p:cNvGrpSpPr/>
              <p:nvPr/>
            </p:nvGrpSpPr>
            <p:grpSpPr>
              <a:xfrm>
                <a:off x="438150" y="1168400"/>
                <a:ext cx="114300" cy="111125"/>
                <a:chOff x="438150" y="1168400"/>
                <a:chExt cx="114300" cy="111125"/>
              </a:xfrm>
            </p:grpSpPr>
            <p:sp>
              <p:nvSpPr>
                <p:cNvPr id="11" name="Freeform 11"/>
                <p:cNvSpPr/>
                <p:nvPr/>
              </p:nvSpPr>
              <p:spPr>
                <a:xfrm>
                  <a:off x="438150" y="12192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7C3B2F"/>
                  </a:solidFill>
                </a:ln>
              </p:spPr>
            </p:sp>
            <p:sp>
              <p:nvSpPr>
                <p:cNvPr id="12" name="Freeform 12"/>
                <p:cNvSpPr/>
                <p:nvPr/>
              </p:nvSpPr>
              <p:spPr>
                <a:xfrm>
                  <a:off x="514350" y="11938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7C3B2F"/>
                  </a:solidFill>
                </a:ln>
              </p:spPr>
            </p:sp>
            <p:sp>
              <p:nvSpPr>
                <p:cNvPr id="13" name="Freeform 13"/>
                <p:cNvSpPr/>
                <p:nvPr/>
              </p:nvSpPr>
              <p:spPr>
                <a:xfrm>
                  <a:off x="476250" y="11684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7C3B2F"/>
                  </a:solidFill>
                </a:ln>
              </p:spPr>
            </p:sp>
            <p:sp>
              <p:nvSpPr>
                <p:cNvPr id="14" name="Freeform 14"/>
                <p:cNvSpPr/>
                <p:nvPr/>
              </p:nvSpPr>
              <p:spPr>
                <a:xfrm>
                  <a:off x="444500" y="1270000"/>
                  <a:ext cx="88900" cy="9525"/>
                </a:xfrm>
                <a:custGeom>
                  <a:avLst/>
                  <a:gdLst/>
                  <a:ahLst/>
                  <a:cxnLst/>
                  <a:rect l="l" t="t" r="r" b="b"/>
                  <a:pathLst>
                    <a:path w="88900" h="9525">
                      <a:moveTo>
                        <a:pt x="0" y="0"/>
                      </a:moveTo>
                      <a:lnTo>
                        <a:pt x="88900" y="0"/>
                      </a:lnTo>
                    </a:path>
                  </a:pathLst>
                </a:custGeom>
                <a:noFill/>
                <a:ln w="12700">
                  <a:solidFill>
                    <a:srgbClr val="7C3B2F"/>
                  </a:solidFill>
                </a:ln>
              </p:spPr>
            </p:sp>
          </p:grpSp>
          <p:sp>
            <p:nvSpPr>
              <p:cNvPr id="16" name="TextBox 16"/>
              <p:cNvSpPr txBox="1"/>
              <p:nvPr/>
            </p:nvSpPr>
            <p:spPr>
              <a:xfrm>
                <a:off x="700088" y="1173718"/>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频次</a:t>
                </a:r>
              </a:p>
            </p:txBody>
          </p:sp>
          <p:sp>
            <p:nvSpPr>
              <p:cNvPr id="17" name="TextBox 17"/>
              <p:cNvSpPr txBox="1"/>
              <p:nvPr/>
            </p:nvSpPr>
            <p:spPr>
              <a:xfrm>
                <a:off x="338138" y="1436132"/>
                <a:ext cx="7410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6705F"/>
                    </a:solidFill>
                    <a:latin typeface="+mn-lt"/>
                    <a:ea typeface="+mn-ea"/>
                    <a:cs typeface="+mn-cs"/>
                  </a:rPr>
                  <a:t>业务发生频率越高，</a:t>
                </a:r>
                <a:br/>
                <a:r>
                  <a:rPr lang="zh-CN" sz="640" dirty="0">
                    <a:solidFill>
                      <a:srgbClr val="66705F"/>
                    </a:solidFill>
                    <a:latin typeface="+mn-lt"/>
                    <a:ea typeface="+mn-ea"/>
                    <a:cs typeface="+mn-cs"/>
                  </a:rPr>
                  <a:t>价值越大</a:t>
                </a:r>
              </a:p>
            </p:txBody>
          </p:sp>
        </p:grpSp>
        <p:grpSp>
          <p:nvGrpSpPr>
            <p:cNvPr id="26" name="dim-time"/>
            <p:cNvGrpSpPr/>
            <p:nvPr/>
          </p:nvGrpSpPr>
          <p:grpSpPr>
            <a:xfrm>
              <a:off x="228600" y="1828800"/>
              <a:ext cx="1828800" cy="800100"/>
              <a:chOff x="228600" y="1828800"/>
              <a:chExt cx="1828800" cy="800100"/>
            </a:xfrm>
          </p:grpSpPr>
          <p:sp>
            <p:nvSpPr>
              <p:cNvPr id="19" name="Rectangle 19"/>
              <p:cNvSpPr/>
              <p:nvPr/>
            </p:nvSpPr>
            <p:spPr>
              <a:xfrm>
                <a:off x="228600" y="1828800"/>
                <a:ext cx="1828800" cy="800100"/>
              </a:xfrm>
              <a:prstGeom prst="roundRect">
                <a:avLst>
                  <a:gd name="adj" fmla="val 9524"/>
                </a:avLst>
              </a:prstGeom>
              <a:solidFill>
                <a:srgbClr val="FFFFFF"/>
              </a:solidFill>
              <a:ln w="9525">
                <a:solidFill>
                  <a:srgbClr val="D9E8C6"/>
                </a:solidFill>
              </a:ln>
            </p:spPr>
          </p:sp>
          <p:sp>
            <p:nvSpPr>
              <p:cNvPr id="20" name="Ellipse 20"/>
              <p:cNvSpPr/>
              <p:nvPr/>
            </p:nvSpPr>
            <p:spPr>
              <a:xfrm>
                <a:off x="361950" y="1962150"/>
                <a:ext cx="266700" cy="266700"/>
              </a:xfrm>
              <a:prstGeom prst="ellipse">
                <a:avLst/>
              </a:prstGeom>
              <a:solidFill>
                <a:srgbClr val="FFFFFF"/>
              </a:solidFill>
              <a:ln w="9525">
                <a:solidFill>
                  <a:srgbClr val="BE776A"/>
                </a:solidFill>
              </a:ln>
            </p:spPr>
          </p:sp>
          <p:grpSp>
            <p:nvGrpSpPr>
              <p:cNvPr id="23" name="Group 23"/>
              <p:cNvGrpSpPr/>
              <p:nvPr/>
            </p:nvGrpSpPr>
            <p:grpSpPr>
              <a:xfrm>
                <a:off x="438150" y="2038350"/>
                <a:ext cx="114300" cy="114300"/>
                <a:chOff x="438150" y="2038350"/>
                <a:chExt cx="114300" cy="114300"/>
              </a:xfrm>
            </p:grpSpPr>
            <p:sp>
              <p:nvSpPr>
                <p:cNvPr id="21" name="Freeform 21"/>
                <p:cNvSpPr/>
                <p:nvPr/>
              </p:nvSpPr>
              <p:spPr>
                <a:xfrm>
                  <a:off x="438150" y="20383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C3B2F"/>
                  </a:solidFill>
                </a:ln>
              </p:spPr>
            </p:sp>
            <p:sp>
              <p:nvSpPr>
                <p:cNvPr id="22" name="Freeform 22"/>
                <p:cNvSpPr/>
                <p:nvPr/>
              </p:nvSpPr>
              <p:spPr>
                <a:xfrm>
                  <a:off x="495300" y="2063750"/>
                  <a:ext cx="19050" cy="50800"/>
                </a:xfrm>
                <a:custGeom>
                  <a:avLst/>
                  <a:gdLst/>
                  <a:ahLst/>
                  <a:cxnLst/>
                  <a:rect l="l" t="t" r="r" b="b"/>
                  <a:pathLst>
                    <a:path w="19050" h="50800">
                      <a:moveTo>
                        <a:pt x="0" y="0"/>
                      </a:moveTo>
                      <a:lnTo>
                        <a:pt x="0" y="31750"/>
                      </a:lnTo>
                      <a:lnTo>
                        <a:pt x="19050" y="50800"/>
                      </a:lnTo>
                    </a:path>
                  </a:pathLst>
                </a:custGeom>
                <a:noFill/>
                <a:ln w="12700">
                  <a:solidFill>
                    <a:srgbClr val="7C3B2F"/>
                  </a:solidFill>
                </a:ln>
              </p:spPr>
            </p:sp>
          </p:grpSp>
          <p:sp>
            <p:nvSpPr>
              <p:cNvPr id="24" name="TextBox 24"/>
              <p:cNvSpPr txBox="1"/>
              <p:nvPr/>
            </p:nvSpPr>
            <p:spPr>
              <a:xfrm>
                <a:off x="700088" y="2050018"/>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耗时</a:t>
                </a:r>
              </a:p>
            </p:txBody>
          </p:sp>
          <p:sp>
            <p:nvSpPr>
              <p:cNvPr id="25" name="TextBox 25"/>
              <p:cNvSpPr txBox="1"/>
              <p:nvPr/>
            </p:nvSpPr>
            <p:spPr>
              <a:xfrm>
                <a:off x="338138" y="2312432"/>
                <a:ext cx="7410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6705F"/>
                    </a:solidFill>
                    <a:latin typeface="+mn-lt"/>
                    <a:ea typeface="+mn-ea"/>
                    <a:cs typeface="+mn-cs"/>
                  </a:rPr>
                  <a:t>单次处理时间越长，</a:t>
                </a:r>
                <a:br/>
                <a:r>
                  <a:rPr lang="zh-CN" sz="640" dirty="0">
                    <a:solidFill>
                      <a:srgbClr val="66705F"/>
                    </a:solidFill>
                    <a:latin typeface="+mn-lt"/>
                    <a:ea typeface="+mn-ea"/>
                    <a:cs typeface="+mn-cs"/>
                  </a:rPr>
                  <a:t>价值越大</a:t>
                </a:r>
              </a:p>
            </p:txBody>
          </p:sp>
        </p:grpSp>
        <p:grpSp>
          <p:nvGrpSpPr>
            <p:cNvPr id="35" name="dim-error"/>
            <p:cNvGrpSpPr/>
            <p:nvPr/>
          </p:nvGrpSpPr>
          <p:grpSpPr>
            <a:xfrm>
              <a:off x="228600" y="2705100"/>
              <a:ext cx="1828800" cy="800100"/>
              <a:chOff x="228600" y="2705100"/>
              <a:chExt cx="1828800" cy="800100"/>
            </a:xfrm>
          </p:grpSpPr>
          <p:sp>
            <p:nvSpPr>
              <p:cNvPr id="27" name="Rectangle 27"/>
              <p:cNvSpPr/>
              <p:nvPr/>
            </p:nvSpPr>
            <p:spPr>
              <a:xfrm>
                <a:off x="228600" y="2705100"/>
                <a:ext cx="1828800" cy="800100"/>
              </a:xfrm>
              <a:prstGeom prst="roundRect">
                <a:avLst>
                  <a:gd name="adj" fmla="val 9524"/>
                </a:avLst>
              </a:prstGeom>
              <a:solidFill>
                <a:srgbClr val="F4F8EC"/>
              </a:solidFill>
              <a:ln w="9525">
                <a:solidFill>
                  <a:srgbClr val="D9E8C6"/>
                </a:solidFill>
              </a:ln>
            </p:spPr>
          </p:sp>
          <p:sp>
            <p:nvSpPr>
              <p:cNvPr id="28" name="Ellipse 28"/>
              <p:cNvSpPr/>
              <p:nvPr/>
            </p:nvSpPr>
            <p:spPr>
              <a:xfrm>
                <a:off x="361950" y="2838450"/>
                <a:ext cx="266700" cy="266700"/>
              </a:xfrm>
              <a:prstGeom prst="ellipse">
                <a:avLst/>
              </a:prstGeom>
              <a:solidFill>
                <a:srgbClr val="FFFFFF"/>
              </a:solidFill>
              <a:ln w="9525">
                <a:solidFill>
                  <a:srgbClr val="BE776A"/>
                </a:solidFill>
              </a:ln>
            </p:spPr>
          </p:sp>
          <p:grpSp>
            <p:nvGrpSpPr>
              <p:cNvPr id="32" name="Group 32"/>
              <p:cNvGrpSpPr/>
              <p:nvPr/>
            </p:nvGrpSpPr>
            <p:grpSpPr>
              <a:xfrm>
                <a:off x="431260" y="2912540"/>
                <a:ext cx="128076" cy="110034"/>
                <a:chOff x="431260" y="2912540"/>
                <a:chExt cx="128076" cy="110034"/>
              </a:xfrm>
            </p:grpSpPr>
            <p:sp>
              <p:nvSpPr>
                <p:cNvPr id="29" name="Freeform 29"/>
                <p:cNvSpPr/>
                <p:nvPr/>
              </p:nvSpPr>
              <p:spPr>
                <a:xfrm>
                  <a:off x="495300" y="2952750"/>
                  <a:ext cx="9525" cy="25400"/>
                </a:xfrm>
                <a:custGeom>
                  <a:avLst/>
                  <a:gdLst/>
                  <a:ahLst/>
                  <a:cxnLst/>
                  <a:rect l="l" t="t" r="r" b="b"/>
                  <a:pathLst>
                    <a:path w="9525" h="25400">
                      <a:moveTo>
                        <a:pt x="0" y="0"/>
                      </a:moveTo>
                      <a:lnTo>
                        <a:pt x="0" y="25400"/>
                      </a:lnTo>
                    </a:path>
                  </a:pathLst>
                </a:custGeom>
                <a:noFill/>
                <a:ln w="12700">
                  <a:solidFill>
                    <a:srgbClr val="7C3B2F"/>
                  </a:solidFill>
                </a:ln>
              </p:spPr>
            </p:sp>
            <p:sp>
              <p:nvSpPr>
                <p:cNvPr id="30" name="Freeform 30"/>
                <p:cNvSpPr/>
                <p:nvPr/>
              </p:nvSpPr>
              <p:spPr>
                <a:xfrm>
                  <a:off x="431260" y="291254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7C3B2F"/>
                  </a:solidFill>
                </a:ln>
              </p:spPr>
            </p:sp>
            <p:sp>
              <p:nvSpPr>
                <p:cNvPr id="31" name="Freeform 31"/>
                <p:cNvSpPr/>
                <p:nvPr/>
              </p:nvSpPr>
              <p:spPr>
                <a:xfrm>
                  <a:off x="495300" y="2997200"/>
                  <a:ext cx="9525" cy="9525"/>
                </a:xfrm>
                <a:custGeom>
                  <a:avLst/>
                  <a:gdLst/>
                  <a:ahLst/>
                  <a:cxnLst/>
                  <a:rect l="l" t="t" r="r" b="b"/>
                  <a:pathLst>
                    <a:path w="9525" h="9525">
                      <a:moveTo>
                        <a:pt x="0" y="0"/>
                      </a:moveTo>
                      <a:lnTo>
                        <a:pt x="64" y="0"/>
                      </a:lnTo>
                    </a:path>
                  </a:pathLst>
                </a:custGeom>
                <a:noFill/>
                <a:ln w="12700">
                  <a:solidFill>
                    <a:srgbClr val="7C3B2F"/>
                  </a:solidFill>
                </a:ln>
              </p:spPr>
            </p:sp>
          </p:grpSp>
          <p:sp>
            <p:nvSpPr>
              <p:cNvPr id="33" name="TextBox 33"/>
              <p:cNvSpPr txBox="1"/>
              <p:nvPr/>
            </p:nvSpPr>
            <p:spPr>
              <a:xfrm>
                <a:off x="700088" y="2926318"/>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错误成本</a:t>
                </a:r>
              </a:p>
            </p:txBody>
          </p:sp>
          <p:sp>
            <p:nvSpPr>
              <p:cNvPr id="34" name="TextBox 34"/>
              <p:cNvSpPr txBox="1"/>
              <p:nvPr/>
            </p:nvSpPr>
            <p:spPr>
              <a:xfrm>
                <a:off x="338138" y="3188732"/>
                <a:ext cx="57848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6705F"/>
                    </a:solidFill>
                    <a:latin typeface="+mn-lt"/>
                    <a:ea typeface="+mn-ea"/>
                    <a:cs typeface="+mn-cs"/>
                  </a:rPr>
                  <a:t>出错影响越大，</a:t>
                </a:r>
                <a:br/>
                <a:r>
                  <a:rPr lang="zh-CN" sz="640" dirty="0">
                    <a:solidFill>
                      <a:srgbClr val="66705F"/>
                    </a:solidFill>
                    <a:latin typeface="+mn-lt"/>
                    <a:ea typeface="+mn-ea"/>
                    <a:cs typeface="+mn-cs"/>
                  </a:rPr>
                  <a:t>价值越大</a:t>
                </a:r>
              </a:p>
            </p:txBody>
          </p:sp>
        </p:grpSp>
        <p:grpSp>
          <p:nvGrpSpPr>
            <p:cNvPr id="44" name="dim-maturity"/>
            <p:cNvGrpSpPr/>
            <p:nvPr/>
          </p:nvGrpSpPr>
          <p:grpSpPr>
            <a:xfrm>
              <a:off x="228600" y="3581400"/>
              <a:ext cx="1828800" cy="800100"/>
              <a:chOff x="228600" y="3581400"/>
              <a:chExt cx="1828800" cy="800100"/>
            </a:xfrm>
          </p:grpSpPr>
          <p:sp>
            <p:nvSpPr>
              <p:cNvPr id="36" name="Rectangle 36"/>
              <p:cNvSpPr/>
              <p:nvPr/>
            </p:nvSpPr>
            <p:spPr>
              <a:xfrm>
                <a:off x="228600" y="3581400"/>
                <a:ext cx="1828800" cy="800100"/>
              </a:xfrm>
              <a:prstGeom prst="roundRect">
                <a:avLst>
                  <a:gd name="adj" fmla="val 9524"/>
                </a:avLst>
              </a:prstGeom>
              <a:solidFill>
                <a:srgbClr val="FFFFFF"/>
              </a:solidFill>
              <a:ln w="9525">
                <a:solidFill>
                  <a:srgbClr val="D9E8C6"/>
                </a:solidFill>
              </a:ln>
            </p:spPr>
          </p:sp>
          <p:sp>
            <p:nvSpPr>
              <p:cNvPr id="37" name="Ellipse 37"/>
              <p:cNvSpPr/>
              <p:nvPr/>
            </p:nvSpPr>
            <p:spPr>
              <a:xfrm>
                <a:off x="361950" y="3714750"/>
                <a:ext cx="266700" cy="266700"/>
              </a:xfrm>
              <a:prstGeom prst="ellipse">
                <a:avLst/>
              </a:prstGeom>
              <a:solidFill>
                <a:srgbClr val="FFFFFF"/>
              </a:solidFill>
              <a:ln w="9525">
                <a:solidFill>
                  <a:srgbClr val="BE776A"/>
                </a:solidFill>
              </a:ln>
            </p:spPr>
          </p:sp>
          <p:grpSp>
            <p:nvGrpSpPr>
              <p:cNvPr id="41" name="Group 41"/>
              <p:cNvGrpSpPr/>
              <p:nvPr/>
            </p:nvGrpSpPr>
            <p:grpSpPr>
              <a:xfrm>
                <a:off x="450850" y="3797300"/>
                <a:ext cx="88900" cy="101600"/>
                <a:chOff x="450850" y="3797300"/>
                <a:chExt cx="88900" cy="101600"/>
              </a:xfrm>
            </p:grpSpPr>
            <p:sp>
              <p:nvSpPr>
                <p:cNvPr id="38" name="Freeform 38"/>
                <p:cNvSpPr/>
                <p:nvPr/>
              </p:nvSpPr>
              <p:spPr>
                <a:xfrm>
                  <a:off x="450850" y="3797300"/>
                  <a:ext cx="88900" cy="101600"/>
                </a:xfrm>
                <a:custGeom>
                  <a:avLst/>
                  <a:gdLst/>
                  <a:ahLst/>
                  <a:cxnLst/>
                  <a:rect l="l" t="t" r="r" b="b"/>
                  <a:pathLst>
                    <a:path w="88900" h="101600">
                      <a:moveTo>
                        <a:pt x="88900" y="0"/>
                      </a:moveTo>
                      <a:lnTo>
                        <a:pt x="88900" y="101600"/>
                      </a:lnTo>
                      <a:lnTo>
                        <a:pt x="12700" y="101600"/>
                      </a:lnTo>
                      <a:cubicBezTo>
                        <a:pt x="5686" y="101600"/>
                        <a:pt x="0" y="95914"/>
                        <a:pt x="0" y="88900"/>
                      </a:cubicBezTo>
                      <a:lnTo>
                        <a:pt x="0" y="12700"/>
                      </a:lnTo>
                      <a:cubicBezTo>
                        <a:pt x="0" y="5686"/>
                        <a:pt x="5686" y="0"/>
                        <a:pt x="12700" y="0"/>
                      </a:cubicBezTo>
                      <a:lnTo>
                        <a:pt x="88900" y="0"/>
                      </a:lnTo>
                    </a:path>
                  </a:pathLst>
                </a:custGeom>
                <a:noFill/>
                <a:ln w="12700">
                  <a:solidFill>
                    <a:srgbClr val="7C3B2F"/>
                  </a:solidFill>
                </a:ln>
              </p:spPr>
            </p:sp>
            <p:sp>
              <p:nvSpPr>
                <p:cNvPr id="39" name="Freeform 39"/>
                <p:cNvSpPr/>
                <p:nvPr/>
              </p:nvSpPr>
              <p:spPr>
                <a:xfrm>
                  <a:off x="450850" y="3873500"/>
                  <a:ext cx="88900" cy="12700"/>
                </a:xfrm>
                <a:custGeom>
                  <a:avLst/>
                  <a:gdLst/>
                  <a:ahLst/>
                  <a:cxnLst/>
                  <a:rect l="l" t="t" r="r" b="b"/>
                  <a:pathLst>
                    <a:path w="88900" h="12700">
                      <a:moveTo>
                        <a:pt x="88900" y="0"/>
                      </a:moveTo>
                      <a:lnTo>
                        <a:pt x="12700" y="0"/>
                      </a:lnTo>
                      <a:cubicBezTo>
                        <a:pt x="5686" y="0"/>
                        <a:pt x="0" y="5686"/>
                        <a:pt x="0" y="12700"/>
                      </a:cubicBezTo>
                    </a:path>
                  </a:pathLst>
                </a:custGeom>
                <a:noFill/>
                <a:ln w="12700">
                  <a:solidFill>
                    <a:srgbClr val="7C3B2F"/>
                  </a:solidFill>
                </a:ln>
              </p:spPr>
            </p:sp>
            <p:sp>
              <p:nvSpPr>
                <p:cNvPr id="40" name="Freeform 40"/>
                <p:cNvSpPr/>
                <p:nvPr/>
              </p:nvSpPr>
              <p:spPr>
                <a:xfrm>
                  <a:off x="476250" y="3822700"/>
                  <a:ext cx="38100" cy="9525"/>
                </a:xfrm>
                <a:custGeom>
                  <a:avLst/>
                  <a:gdLst/>
                  <a:ahLst/>
                  <a:cxnLst/>
                  <a:rect l="l" t="t" r="r" b="b"/>
                  <a:pathLst>
                    <a:path w="38100" h="9525">
                      <a:moveTo>
                        <a:pt x="0" y="0"/>
                      </a:moveTo>
                      <a:lnTo>
                        <a:pt x="38100" y="0"/>
                      </a:lnTo>
                    </a:path>
                  </a:pathLst>
                </a:custGeom>
                <a:noFill/>
                <a:ln w="12700">
                  <a:solidFill>
                    <a:srgbClr val="7C3B2F"/>
                  </a:solidFill>
                </a:ln>
              </p:spPr>
            </p:sp>
          </p:grpSp>
          <p:sp>
            <p:nvSpPr>
              <p:cNvPr id="42" name="TextBox 42"/>
              <p:cNvSpPr txBox="1"/>
              <p:nvPr/>
            </p:nvSpPr>
            <p:spPr>
              <a:xfrm>
                <a:off x="700088" y="3802618"/>
                <a:ext cx="58839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知识成熟度</a:t>
                </a:r>
              </a:p>
            </p:txBody>
          </p:sp>
          <p:sp>
            <p:nvSpPr>
              <p:cNvPr id="43" name="TextBox 43"/>
              <p:cNvSpPr txBox="1"/>
              <p:nvPr/>
            </p:nvSpPr>
            <p:spPr>
              <a:xfrm>
                <a:off x="338138" y="4065032"/>
                <a:ext cx="90360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6705F"/>
                    </a:solidFill>
                    <a:latin typeface="+mn-lt"/>
                    <a:ea typeface="+mn-ea"/>
                    <a:cs typeface="+mn-cs"/>
                  </a:rPr>
                  <a:t>知识沉淀越完整、结构化</a:t>
                </a:r>
                <a:br/>
                <a:r>
                  <a:rPr lang="zh-CN" sz="640" dirty="0">
                    <a:solidFill>
                      <a:srgbClr val="66705F"/>
                    </a:solidFill>
                    <a:latin typeface="+mn-lt"/>
                    <a:ea typeface="+mn-ea"/>
                    <a:cs typeface="+mn-cs"/>
                  </a:rPr>
                  <a:t>程度越高，得分越高</a:t>
                </a:r>
              </a:p>
            </p:txBody>
          </p:sp>
        </p:grpSp>
        <p:grpSp>
          <p:nvGrpSpPr>
            <p:cNvPr id="53" name="dim-permission"/>
            <p:cNvGrpSpPr/>
            <p:nvPr/>
          </p:nvGrpSpPr>
          <p:grpSpPr>
            <a:xfrm>
              <a:off x="228600" y="4457700"/>
              <a:ext cx="1828800" cy="800100"/>
              <a:chOff x="228600" y="4457700"/>
              <a:chExt cx="1828800" cy="800100"/>
            </a:xfrm>
          </p:grpSpPr>
          <p:sp>
            <p:nvSpPr>
              <p:cNvPr id="45" name="Rectangle 45"/>
              <p:cNvSpPr/>
              <p:nvPr/>
            </p:nvSpPr>
            <p:spPr>
              <a:xfrm>
                <a:off x="228600" y="4457700"/>
                <a:ext cx="1828800" cy="800100"/>
              </a:xfrm>
              <a:prstGeom prst="roundRect">
                <a:avLst>
                  <a:gd name="adj" fmla="val 9524"/>
                </a:avLst>
              </a:prstGeom>
              <a:solidFill>
                <a:srgbClr val="F4F8EC"/>
              </a:solidFill>
              <a:ln w="9525">
                <a:solidFill>
                  <a:srgbClr val="D9E8C6"/>
                </a:solidFill>
              </a:ln>
            </p:spPr>
          </p:sp>
          <p:sp>
            <p:nvSpPr>
              <p:cNvPr id="46" name="Ellipse 46"/>
              <p:cNvSpPr/>
              <p:nvPr/>
            </p:nvSpPr>
            <p:spPr>
              <a:xfrm>
                <a:off x="361950" y="4591050"/>
                <a:ext cx="266700" cy="266700"/>
              </a:xfrm>
              <a:prstGeom prst="ellipse">
                <a:avLst/>
              </a:prstGeom>
              <a:solidFill>
                <a:srgbClr val="FFFFFF"/>
              </a:solidFill>
              <a:ln w="9525">
                <a:solidFill>
                  <a:srgbClr val="BE776A"/>
                </a:solidFill>
              </a:ln>
            </p:spPr>
          </p:sp>
          <p:grpSp>
            <p:nvGrpSpPr>
              <p:cNvPr id="50" name="Group 50"/>
              <p:cNvGrpSpPr/>
              <p:nvPr/>
            </p:nvGrpSpPr>
            <p:grpSpPr>
              <a:xfrm>
                <a:off x="450850" y="4667250"/>
                <a:ext cx="88900" cy="114300"/>
                <a:chOff x="450850" y="4667250"/>
                <a:chExt cx="88900" cy="114300"/>
              </a:xfrm>
            </p:grpSpPr>
            <p:sp>
              <p:nvSpPr>
                <p:cNvPr id="47" name="Freeform 47"/>
                <p:cNvSpPr/>
                <p:nvPr/>
              </p:nvSpPr>
              <p:spPr>
                <a:xfrm>
                  <a:off x="450850" y="47180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7C3B2F"/>
                  </a:solidFill>
                </a:ln>
              </p:spPr>
            </p:sp>
            <p:sp>
              <p:nvSpPr>
                <p:cNvPr id="48" name="Freeform 48"/>
                <p:cNvSpPr/>
                <p:nvPr/>
              </p:nvSpPr>
              <p:spPr>
                <a:xfrm>
                  <a:off x="488950" y="47434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7C3B2F"/>
                  </a:solidFill>
                </a:ln>
              </p:spPr>
            </p:sp>
            <p:sp>
              <p:nvSpPr>
                <p:cNvPr id="49" name="Freeform 49"/>
                <p:cNvSpPr/>
                <p:nvPr/>
              </p:nvSpPr>
              <p:spPr>
                <a:xfrm>
                  <a:off x="469900" y="46672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7C3B2F"/>
                  </a:solidFill>
                </a:ln>
              </p:spPr>
            </p:sp>
          </p:grpSp>
          <p:sp>
            <p:nvSpPr>
              <p:cNvPr id="51" name="TextBox 51"/>
              <p:cNvSpPr txBox="1"/>
              <p:nvPr/>
            </p:nvSpPr>
            <p:spPr>
              <a:xfrm>
                <a:off x="700088" y="4678918"/>
                <a:ext cx="58839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权限复杂度</a:t>
                </a:r>
              </a:p>
            </p:txBody>
          </p:sp>
          <p:sp>
            <p:nvSpPr>
              <p:cNvPr id="52" name="TextBox 52"/>
              <p:cNvSpPr txBox="1"/>
              <p:nvPr/>
            </p:nvSpPr>
            <p:spPr>
              <a:xfrm>
                <a:off x="338138" y="4941332"/>
                <a:ext cx="90360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6705F"/>
                    </a:solidFill>
                    <a:latin typeface="+mn-lt"/>
                    <a:ea typeface="+mn-ea"/>
                    <a:cs typeface="+mn-cs"/>
                  </a:rPr>
                  <a:t>涉及角色与权限越简单，</a:t>
                </a:r>
                <a:br/>
                <a:r>
                  <a:rPr lang="zh-CN" sz="640" dirty="0">
                    <a:solidFill>
                      <a:srgbClr val="66705F"/>
                    </a:solidFill>
                    <a:latin typeface="+mn-lt"/>
                    <a:ea typeface="+mn-ea"/>
                    <a:cs typeface="+mn-cs"/>
                  </a:rPr>
                  <a:t>得分越高</a:t>
                </a:r>
              </a:p>
            </p:txBody>
          </p:sp>
        </p:grpSp>
      </p:grpSp>
      <p:grpSp>
        <p:nvGrpSpPr>
          <p:cNvPr id="109" name="bubble-chart"/>
          <p:cNvGrpSpPr/>
          <p:nvPr/>
        </p:nvGrpSpPr>
        <p:grpSpPr>
          <a:xfrm>
            <a:off x="1912988" y="628650"/>
            <a:ext cx="6469012" cy="4953000"/>
            <a:chOff x="1912988" y="628650"/>
            <a:chExt cx="6469012" cy="4953000"/>
          </a:xfrm>
        </p:grpSpPr>
        <p:sp>
          <p:nvSpPr>
            <p:cNvPr id="55" name="Rectangle 55"/>
            <p:cNvSpPr/>
            <p:nvPr/>
          </p:nvSpPr>
          <p:spPr>
            <a:xfrm>
              <a:off x="2171700" y="628650"/>
              <a:ext cx="6210300" cy="4953000"/>
            </a:xfrm>
            <a:prstGeom prst="roundRect">
              <a:avLst>
                <a:gd name="adj" fmla="val 1538"/>
              </a:avLst>
            </a:prstGeom>
            <a:solidFill>
              <a:srgbClr val="FFFFFF"/>
            </a:solidFill>
            <a:ln w="9525">
              <a:solidFill>
                <a:srgbClr val="D9E8C6"/>
              </a:solidFill>
            </a:ln>
          </p:spPr>
        </p:sp>
        <p:sp>
          <p:nvSpPr>
            <p:cNvPr id="56" name="Rectangle 56"/>
            <p:cNvSpPr/>
            <p:nvPr/>
          </p:nvSpPr>
          <p:spPr>
            <a:xfrm>
              <a:off x="5429250" y="952500"/>
              <a:ext cx="2724150" cy="1333500"/>
            </a:xfrm>
            <a:prstGeom prst="rect">
              <a:avLst/>
            </a:prstGeom>
            <a:solidFill>
              <a:srgbClr val="E7F2D8"/>
            </a:solidFill>
            <a:ln>
              <a:noFill/>
            </a:ln>
          </p:spPr>
        </p:sp>
        <p:sp>
          <p:nvSpPr>
            <p:cNvPr id="57" name="TextBox 57"/>
            <p:cNvSpPr txBox="1"/>
            <p:nvPr/>
          </p:nvSpPr>
          <p:spPr>
            <a:xfrm>
              <a:off x="7753388" y="1038939"/>
              <a:ext cx="328574" cy="154781"/>
            </a:xfrm>
            <a:prstGeom prst="rect">
              <a:avLst/>
            </a:prstGeom>
            <a:noFill/>
            <a:ln>
              <a:noFill/>
            </a:ln>
          </p:spPr>
          <p:txBody>
            <a:bodyPr wrap="none" lIns="0" tIns="0" rIns="0" bIns="0" anchor="t" anchorCtr="0">
              <a:spAutoFit/>
            </a:bodyPr>
            <a:lstStyle/>
            <a:p>
              <a:pPr algn="r"/>
              <a:r>
                <a:rPr lang="zh-CN" sz="790" b="1" dirty="0">
                  <a:solidFill>
                    <a:srgbClr val="7C3B2F"/>
                  </a:solidFill>
                  <a:latin typeface="+mn-lt"/>
                  <a:ea typeface="+mn-ea"/>
                  <a:cs typeface="+mn-cs"/>
                </a:rPr>
                <a:t>优先区</a:t>
              </a:r>
            </a:p>
          </p:txBody>
        </p:sp>
        <p:sp>
          <p:nvSpPr>
            <p:cNvPr id="58" name="Line 58"/>
            <p:cNvSpPr/>
            <p:nvPr/>
          </p:nvSpPr>
          <p:spPr>
            <a:xfrm flipV="1">
              <a:off x="2552700" y="914400"/>
              <a:ext cx="1" cy="4038600"/>
            </a:xfrm>
            <a:prstGeom prst="line">
              <a:avLst/>
            </a:prstGeom>
            <a:noFill/>
            <a:ln w="11430">
              <a:solidFill>
                <a:srgbClr val="3A4238"/>
              </a:solidFill>
              <a:tailEnd type="arrow" w="lg" len="lg"/>
            </a:ln>
          </p:spPr>
        </p:sp>
        <p:sp>
          <p:nvSpPr>
            <p:cNvPr id="59" name="Line 59"/>
            <p:cNvSpPr/>
            <p:nvPr/>
          </p:nvSpPr>
          <p:spPr>
            <a:xfrm>
              <a:off x="2552700" y="4953000"/>
              <a:ext cx="5657850" cy="1"/>
            </a:xfrm>
            <a:prstGeom prst="line">
              <a:avLst/>
            </a:prstGeom>
            <a:noFill/>
            <a:ln w="11430">
              <a:solidFill>
                <a:srgbClr val="3A4238"/>
              </a:solidFill>
              <a:tailEnd type="arrow" w="lg" len="lg"/>
            </a:ln>
          </p:spPr>
        </p:sp>
        <p:sp>
          <p:nvSpPr>
            <p:cNvPr id="60" name="TextBox 60"/>
            <p:cNvSpPr txBox="1"/>
            <p:nvPr/>
          </p:nvSpPr>
          <p:spPr>
            <a:xfrm>
              <a:off x="1912988" y="981789"/>
              <a:ext cx="434924" cy="154781"/>
            </a:xfrm>
            <a:prstGeom prst="rect">
              <a:avLst/>
            </a:prstGeom>
            <a:noFill/>
            <a:ln>
              <a:noFill/>
            </a:ln>
          </p:spPr>
          <p:txBody>
            <a:bodyPr wrap="none" lIns="0" tIns="0" rIns="0" bIns="0" anchor="t" anchorCtr="0">
              <a:spAutoFit/>
            </a:bodyPr>
            <a:lstStyle/>
            <a:p>
              <a:pPr algn="r"/>
              <a:r>
                <a:rPr lang="zh-CN" sz="790" b="1" dirty="0">
                  <a:solidFill>
                    <a:srgbClr val="42140B"/>
                  </a:solidFill>
                  <a:latin typeface="+mn-lt"/>
                  <a:ea typeface="+mn-ea"/>
                  <a:cs typeface="+mn-cs"/>
                </a:rPr>
                <a:t>高（高）</a:t>
              </a:r>
            </a:p>
          </p:txBody>
        </p:sp>
        <p:sp>
          <p:nvSpPr>
            <p:cNvPr id="61" name="TextBox 61"/>
            <p:cNvSpPr txBox="1"/>
            <p:nvPr/>
          </p:nvSpPr>
          <p:spPr>
            <a:xfrm>
              <a:off x="1912988" y="4829889"/>
              <a:ext cx="434924" cy="154781"/>
            </a:xfrm>
            <a:prstGeom prst="rect">
              <a:avLst/>
            </a:prstGeom>
            <a:noFill/>
            <a:ln>
              <a:noFill/>
            </a:ln>
          </p:spPr>
          <p:txBody>
            <a:bodyPr wrap="none" lIns="0" tIns="0" rIns="0" bIns="0" anchor="t" anchorCtr="0">
              <a:spAutoFit/>
            </a:bodyPr>
            <a:lstStyle/>
            <a:p>
              <a:pPr algn="r"/>
              <a:r>
                <a:rPr lang="zh-CN" sz="790" b="1" dirty="0">
                  <a:solidFill>
                    <a:srgbClr val="42140B"/>
                  </a:solidFill>
                  <a:latin typeface="+mn-lt"/>
                  <a:ea typeface="+mn-ea"/>
                  <a:cs typeface="+mn-cs"/>
                </a:rPr>
                <a:t>低（低）</a:t>
              </a:r>
            </a:p>
          </p:txBody>
        </p:sp>
        <p:sp>
          <p:nvSpPr>
            <p:cNvPr id="62" name="TextBox 62"/>
            <p:cNvSpPr txBox="1"/>
            <p:nvPr/>
          </p:nvSpPr>
          <p:spPr>
            <a:xfrm>
              <a:off x="2376488" y="5119688"/>
              <a:ext cx="312420"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（难）</a:t>
              </a:r>
            </a:p>
          </p:txBody>
        </p:sp>
        <p:sp>
          <p:nvSpPr>
            <p:cNvPr id="63" name="TextBox 63"/>
            <p:cNvSpPr txBox="1"/>
            <p:nvPr/>
          </p:nvSpPr>
          <p:spPr>
            <a:xfrm>
              <a:off x="7729538" y="5119688"/>
              <a:ext cx="312420" cy="147638"/>
            </a:xfrm>
            <a:prstGeom prst="rect">
              <a:avLst/>
            </a:prstGeom>
            <a:noFill/>
            <a:ln>
              <a:noFill/>
            </a:ln>
          </p:spPr>
          <p:txBody>
            <a:bodyPr wrap="none" lIns="0" tIns="0" rIns="0" bIns="0" anchor="t" anchorCtr="0">
              <a:spAutoFit/>
            </a:bodyPr>
            <a:lstStyle/>
            <a:p>
              <a:pPr algn="l"/>
              <a:r>
                <a:rPr lang="zh-CN" sz="750" dirty="0">
                  <a:solidFill>
                    <a:srgbClr val="3A4238"/>
                  </a:solidFill>
                  <a:latin typeface="+mn-lt"/>
                  <a:ea typeface="+mn-ea"/>
                  <a:cs typeface="+mn-cs"/>
                </a:rPr>
                <a:t>（易）</a:t>
              </a:r>
            </a:p>
          </p:txBody>
        </p:sp>
        <p:sp>
          <p:nvSpPr>
            <p:cNvPr id="64" name="TextBox 64"/>
            <p:cNvSpPr txBox="1"/>
            <p:nvPr/>
          </p:nvSpPr>
          <p:spPr>
            <a:xfrm>
              <a:off x="5039804" y="5126593"/>
              <a:ext cx="588391" cy="169069"/>
            </a:xfrm>
            <a:prstGeom prst="rect">
              <a:avLst/>
            </a:prstGeom>
            <a:noFill/>
            <a:ln>
              <a:noFill/>
            </a:ln>
          </p:spPr>
          <p:txBody>
            <a:bodyPr wrap="none" lIns="0" tIns="0" rIns="0" bIns="0" anchor="t" anchorCtr="0">
              <a:spAutoFit/>
            </a:bodyPr>
            <a:lstStyle/>
            <a:p>
              <a:pPr algn="ctr"/>
              <a:r>
                <a:rPr lang="zh-CN" sz="860" b="1" dirty="0">
                  <a:solidFill>
                    <a:srgbClr val="42140B"/>
                  </a:solidFill>
                  <a:latin typeface="+mn-lt"/>
                  <a:ea typeface="+mn-ea"/>
                  <a:cs typeface="+mn-cs"/>
                </a:rPr>
                <a:t>落地可行性</a:t>
              </a:r>
            </a:p>
          </p:txBody>
        </p:sp>
        <p:sp>
          <p:nvSpPr>
            <p:cNvPr id="65" name="TextBox 65"/>
            <p:cNvSpPr txBox="1"/>
            <p:nvPr/>
          </p:nvSpPr>
          <p:spPr>
            <a:xfrm>
              <a:off x="2719388" y="13356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业务价值</a:t>
              </a:r>
            </a:p>
          </p:txBody>
        </p:sp>
        <p:grpSp>
          <p:nvGrpSpPr>
            <p:cNvPr id="75" name="axis-ticks"/>
            <p:cNvGrpSpPr/>
            <p:nvPr/>
          </p:nvGrpSpPr>
          <p:grpSpPr>
            <a:xfrm>
              <a:off x="2421390" y="2079784"/>
              <a:ext cx="4961847" cy="3067050"/>
              <a:chOff x="2421390" y="2079784"/>
              <a:chExt cx="4961847" cy="3067050"/>
            </a:xfrm>
          </p:grpSpPr>
          <p:sp>
            <p:nvSpPr>
              <p:cNvPr id="66" name="TextBox 66"/>
              <p:cNvSpPr txBox="1"/>
              <p:nvPr/>
            </p:nvSpPr>
            <p:spPr>
              <a:xfrm>
                <a:off x="2421390" y="2079784"/>
                <a:ext cx="59873" cy="133350"/>
              </a:xfrm>
              <a:prstGeom prst="rect">
                <a:avLst/>
              </a:prstGeom>
              <a:noFill/>
              <a:ln>
                <a:noFill/>
              </a:ln>
            </p:spPr>
            <p:txBody>
              <a:bodyPr wrap="none" lIns="0" tIns="0" rIns="0" bIns="0" anchor="t" anchorCtr="0">
                <a:spAutoFit/>
              </a:bodyPr>
              <a:lstStyle/>
              <a:p>
                <a:pPr algn="r"/>
                <a:r>
                  <a:rPr lang="zh-CN" sz="680" dirty="0">
                    <a:solidFill>
                      <a:srgbClr val="66705F"/>
                    </a:solidFill>
                    <a:latin typeface="+mn-lt"/>
                    <a:ea typeface="+mn-ea"/>
                    <a:cs typeface="+mn-cs"/>
                  </a:rPr>
                  <a:t>5</a:t>
                </a:r>
              </a:p>
            </p:txBody>
          </p:sp>
          <p:sp>
            <p:nvSpPr>
              <p:cNvPr id="67" name="TextBox 67"/>
              <p:cNvSpPr txBox="1"/>
              <p:nvPr/>
            </p:nvSpPr>
            <p:spPr>
              <a:xfrm>
                <a:off x="2421390" y="2765584"/>
                <a:ext cx="59873" cy="133350"/>
              </a:xfrm>
              <a:prstGeom prst="rect">
                <a:avLst/>
              </a:prstGeom>
              <a:noFill/>
              <a:ln>
                <a:noFill/>
              </a:ln>
            </p:spPr>
            <p:txBody>
              <a:bodyPr wrap="none" lIns="0" tIns="0" rIns="0" bIns="0" anchor="t" anchorCtr="0">
                <a:spAutoFit/>
              </a:bodyPr>
              <a:lstStyle/>
              <a:p>
                <a:pPr algn="r"/>
                <a:r>
                  <a:rPr lang="zh-CN" sz="680" dirty="0">
                    <a:solidFill>
                      <a:srgbClr val="66705F"/>
                    </a:solidFill>
                    <a:latin typeface="+mn-lt"/>
                    <a:ea typeface="+mn-ea"/>
                    <a:cs typeface="+mn-cs"/>
                  </a:rPr>
                  <a:t>4</a:t>
                </a:r>
              </a:p>
            </p:txBody>
          </p:sp>
          <p:sp>
            <p:nvSpPr>
              <p:cNvPr id="68" name="TextBox 68"/>
              <p:cNvSpPr txBox="1"/>
              <p:nvPr/>
            </p:nvSpPr>
            <p:spPr>
              <a:xfrm>
                <a:off x="2421390" y="3451384"/>
                <a:ext cx="59873" cy="133350"/>
              </a:xfrm>
              <a:prstGeom prst="rect">
                <a:avLst/>
              </a:prstGeom>
              <a:noFill/>
              <a:ln>
                <a:noFill/>
              </a:ln>
            </p:spPr>
            <p:txBody>
              <a:bodyPr wrap="none" lIns="0" tIns="0" rIns="0" bIns="0" anchor="t" anchorCtr="0">
                <a:spAutoFit/>
              </a:bodyPr>
              <a:lstStyle/>
              <a:p>
                <a:pPr algn="r"/>
                <a:r>
                  <a:rPr lang="zh-CN" sz="680" dirty="0">
                    <a:solidFill>
                      <a:srgbClr val="66705F"/>
                    </a:solidFill>
                    <a:latin typeface="+mn-lt"/>
                    <a:ea typeface="+mn-ea"/>
                    <a:cs typeface="+mn-cs"/>
                  </a:rPr>
                  <a:t>3</a:t>
                </a:r>
              </a:p>
            </p:txBody>
          </p:sp>
          <p:sp>
            <p:nvSpPr>
              <p:cNvPr id="69" name="TextBox 69"/>
              <p:cNvSpPr txBox="1"/>
              <p:nvPr/>
            </p:nvSpPr>
            <p:spPr>
              <a:xfrm>
                <a:off x="2421390" y="4137184"/>
                <a:ext cx="59873" cy="133350"/>
              </a:xfrm>
              <a:prstGeom prst="rect">
                <a:avLst/>
              </a:prstGeom>
              <a:noFill/>
              <a:ln>
                <a:noFill/>
              </a:ln>
            </p:spPr>
            <p:txBody>
              <a:bodyPr wrap="none" lIns="0" tIns="0" rIns="0" bIns="0" anchor="t" anchorCtr="0">
                <a:spAutoFit/>
              </a:bodyPr>
              <a:lstStyle/>
              <a:p>
                <a:pPr algn="r"/>
                <a:r>
                  <a:rPr lang="zh-CN" sz="680" dirty="0">
                    <a:solidFill>
                      <a:srgbClr val="66705F"/>
                    </a:solidFill>
                    <a:latin typeface="+mn-lt"/>
                    <a:ea typeface="+mn-ea"/>
                    <a:cs typeface="+mn-cs"/>
                  </a:rPr>
                  <a:t>2</a:t>
                </a:r>
              </a:p>
            </p:txBody>
          </p:sp>
          <p:sp>
            <p:nvSpPr>
              <p:cNvPr id="70" name="TextBox 70"/>
              <p:cNvSpPr txBox="1"/>
              <p:nvPr/>
            </p:nvSpPr>
            <p:spPr>
              <a:xfrm>
                <a:off x="2421390" y="4822984"/>
                <a:ext cx="59873" cy="133350"/>
              </a:xfrm>
              <a:prstGeom prst="rect">
                <a:avLst/>
              </a:prstGeom>
              <a:noFill/>
              <a:ln>
                <a:noFill/>
              </a:ln>
            </p:spPr>
            <p:txBody>
              <a:bodyPr wrap="none" lIns="0" tIns="0" rIns="0" bIns="0" anchor="t" anchorCtr="0">
                <a:spAutoFit/>
              </a:bodyPr>
              <a:lstStyle/>
              <a:p>
                <a:pPr algn="r"/>
                <a:r>
                  <a:rPr lang="zh-CN" sz="680" dirty="0">
                    <a:solidFill>
                      <a:srgbClr val="66705F"/>
                    </a:solidFill>
                    <a:latin typeface="+mn-lt"/>
                    <a:ea typeface="+mn-ea"/>
                    <a:cs typeface="+mn-cs"/>
                  </a:rPr>
                  <a:t>1</a:t>
                </a:r>
              </a:p>
            </p:txBody>
          </p:sp>
          <p:sp>
            <p:nvSpPr>
              <p:cNvPr id="71" name="TextBox 71"/>
              <p:cNvSpPr txBox="1"/>
              <p:nvPr/>
            </p:nvSpPr>
            <p:spPr>
              <a:xfrm>
                <a:off x="3722914" y="5013484"/>
                <a:ext cx="59873"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1</a:t>
                </a:r>
              </a:p>
            </p:txBody>
          </p:sp>
          <p:sp>
            <p:nvSpPr>
              <p:cNvPr id="72" name="TextBox 72"/>
              <p:cNvSpPr txBox="1"/>
              <p:nvPr/>
            </p:nvSpPr>
            <p:spPr>
              <a:xfrm>
                <a:off x="4923064" y="5013484"/>
                <a:ext cx="59873"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2</a:t>
                </a:r>
              </a:p>
            </p:txBody>
          </p:sp>
          <p:sp>
            <p:nvSpPr>
              <p:cNvPr id="73" name="TextBox 73"/>
              <p:cNvSpPr txBox="1"/>
              <p:nvPr/>
            </p:nvSpPr>
            <p:spPr>
              <a:xfrm>
                <a:off x="6123214" y="5013484"/>
                <a:ext cx="59873"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3</a:t>
                </a:r>
              </a:p>
            </p:txBody>
          </p:sp>
          <p:sp>
            <p:nvSpPr>
              <p:cNvPr id="74" name="TextBox 74"/>
              <p:cNvSpPr txBox="1"/>
              <p:nvPr/>
            </p:nvSpPr>
            <p:spPr>
              <a:xfrm>
                <a:off x="7323364" y="5013484"/>
                <a:ext cx="59873" cy="133350"/>
              </a:xfrm>
              <a:prstGeom prst="rect">
                <a:avLst/>
              </a:prstGeom>
              <a:noFill/>
              <a:ln>
                <a:noFill/>
              </a:ln>
            </p:spPr>
            <p:txBody>
              <a:bodyPr wrap="none" lIns="0" tIns="0" rIns="0" bIns="0" anchor="t" anchorCtr="0">
                <a:spAutoFit/>
              </a:bodyPr>
              <a:lstStyle/>
              <a:p>
                <a:pPr algn="ctr"/>
                <a:r>
                  <a:rPr lang="zh-CN" sz="680" dirty="0">
                    <a:solidFill>
                      <a:srgbClr val="66705F"/>
                    </a:solidFill>
                    <a:latin typeface="+mn-lt"/>
                    <a:ea typeface="+mn-ea"/>
                    <a:cs typeface="+mn-cs"/>
                  </a:rPr>
                  <a:t>4</a:t>
                </a:r>
              </a:p>
            </p:txBody>
          </p:sp>
        </p:grpSp>
        <p:grpSp>
          <p:nvGrpSpPr>
            <p:cNvPr id="92" name="bubbles"/>
            <p:cNvGrpSpPr/>
            <p:nvPr/>
          </p:nvGrpSpPr>
          <p:grpSpPr>
            <a:xfrm>
              <a:off x="3371850" y="1504950"/>
              <a:ext cx="4076700" cy="2933700"/>
              <a:chOff x="3371850" y="1504950"/>
              <a:chExt cx="4076700" cy="2933700"/>
            </a:xfrm>
          </p:grpSpPr>
          <p:sp>
            <p:nvSpPr>
              <p:cNvPr id="76" name="Ellipse 76"/>
              <p:cNvSpPr/>
              <p:nvPr/>
            </p:nvSpPr>
            <p:spPr>
              <a:xfrm>
                <a:off x="3371850" y="1733550"/>
                <a:ext cx="762000" cy="762000"/>
              </a:xfrm>
              <a:prstGeom prst="ellipse">
                <a:avLst/>
              </a:prstGeom>
              <a:solidFill>
                <a:srgbClr val="E4B7AF">
                  <a:alpha val="55000"/>
                </a:srgbClr>
              </a:solidFill>
              <a:ln w="15240">
                <a:solidFill>
                  <a:srgbClr val="7C3B2F"/>
                </a:solidFill>
                <a:custDash>
                  <a:ds d="375000" sp="250000"/>
                </a:custDash>
              </a:ln>
            </p:spPr>
          </p:sp>
          <p:sp>
            <p:nvSpPr>
              <p:cNvPr id="77" name="TextBox 77"/>
              <p:cNvSpPr txBox="1"/>
              <p:nvPr/>
            </p:nvSpPr>
            <p:spPr>
              <a:xfrm>
                <a:off x="3535388" y="2067639"/>
                <a:ext cx="434924" cy="154781"/>
              </a:xfrm>
              <a:prstGeom prst="rect">
                <a:avLst/>
              </a:prstGeom>
              <a:noFill/>
              <a:ln>
                <a:noFill/>
              </a:ln>
            </p:spPr>
            <p:txBody>
              <a:bodyPr wrap="none" lIns="0" tIns="0" rIns="0" bIns="0" anchor="t" anchorCtr="0">
                <a:spAutoFit/>
              </a:bodyPr>
              <a:lstStyle/>
              <a:p>
                <a:pPr algn="ctr"/>
                <a:r>
                  <a:rPr lang="zh-CN" sz="790" dirty="0">
                    <a:solidFill>
                      <a:srgbClr val="42140B"/>
                    </a:solidFill>
                    <a:latin typeface="+mn-lt"/>
                    <a:ea typeface="+mn-ea"/>
                    <a:cs typeface="+mn-cs"/>
                  </a:rPr>
                  <a:t>制度问答</a:t>
                </a:r>
              </a:p>
            </p:txBody>
          </p:sp>
          <p:sp>
            <p:nvSpPr>
              <p:cNvPr id="78" name="Ellipse 78"/>
              <p:cNvSpPr/>
              <p:nvPr/>
            </p:nvSpPr>
            <p:spPr>
              <a:xfrm>
                <a:off x="5029200" y="1504950"/>
                <a:ext cx="723900" cy="723900"/>
              </a:xfrm>
              <a:prstGeom prst="ellipse">
                <a:avLst/>
              </a:prstGeom>
              <a:solidFill>
                <a:srgbClr val="E4B7AF">
                  <a:alpha val="80000"/>
                </a:srgbClr>
              </a:solidFill>
              <a:ln w="15240">
                <a:solidFill>
                  <a:srgbClr val="7C3B2F"/>
                </a:solidFill>
              </a:ln>
            </p:spPr>
          </p:sp>
          <p:sp>
            <p:nvSpPr>
              <p:cNvPr id="79" name="TextBox 79"/>
              <p:cNvSpPr txBox="1"/>
              <p:nvPr/>
            </p:nvSpPr>
            <p:spPr>
              <a:xfrm>
                <a:off x="5173688" y="1819989"/>
                <a:ext cx="434924" cy="154781"/>
              </a:xfrm>
              <a:prstGeom prst="rect">
                <a:avLst/>
              </a:prstGeom>
              <a:noFill/>
              <a:ln>
                <a:noFill/>
              </a:ln>
            </p:spPr>
            <p:txBody>
              <a:bodyPr wrap="none" lIns="0" tIns="0" rIns="0" bIns="0" anchor="t" anchorCtr="0">
                <a:spAutoFit/>
              </a:bodyPr>
              <a:lstStyle/>
              <a:p>
                <a:pPr algn="ctr"/>
                <a:r>
                  <a:rPr lang="zh-CN" sz="790" dirty="0">
                    <a:solidFill>
                      <a:srgbClr val="42140B"/>
                    </a:solidFill>
                    <a:latin typeface="+mn-lt"/>
                    <a:ea typeface="+mn-ea"/>
                    <a:cs typeface="+mn-cs"/>
                  </a:rPr>
                  <a:t>客服辅助</a:t>
                </a:r>
              </a:p>
            </p:txBody>
          </p:sp>
          <p:sp>
            <p:nvSpPr>
              <p:cNvPr id="80" name="Ellipse 80"/>
              <p:cNvSpPr/>
              <p:nvPr/>
            </p:nvSpPr>
            <p:spPr>
              <a:xfrm>
                <a:off x="6686550" y="1638300"/>
                <a:ext cx="762000" cy="762000"/>
              </a:xfrm>
              <a:prstGeom prst="ellipse">
                <a:avLst/>
              </a:prstGeom>
              <a:solidFill>
                <a:srgbClr val="CE9085">
                  <a:alpha val="80000"/>
                </a:srgbClr>
              </a:solidFill>
              <a:ln w="17145">
                <a:solidFill>
                  <a:srgbClr val="643228"/>
                </a:solidFill>
              </a:ln>
            </p:spPr>
          </p:sp>
          <p:sp>
            <p:nvSpPr>
              <p:cNvPr id="81" name="TextBox 81"/>
              <p:cNvSpPr txBox="1"/>
              <p:nvPr/>
            </p:nvSpPr>
            <p:spPr>
              <a:xfrm>
                <a:off x="6850088" y="197238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经营分析</a:t>
                </a:r>
              </a:p>
            </p:txBody>
          </p:sp>
          <p:sp>
            <p:nvSpPr>
              <p:cNvPr id="82" name="Ellipse 82"/>
              <p:cNvSpPr/>
              <p:nvPr/>
            </p:nvSpPr>
            <p:spPr>
              <a:xfrm>
                <a:off x="4819650" y="2647950"/>
                <a:ext cx="647700" cy="647700"/>
              </a:xfrm>
              <a:prstGeom prst="ellipse">
                <a:avLst/>
              </a:prstGeom>
              <a:solidFill>
                <a:srgbClr val="FFFFFF">
                  <a:alpha val="70000"/>
                </a:srgbClr>
              </a:solidFill>
              <a:ln w="14288">
                <a:solidFill>
                  <a:srgbClr val="9A4B3C"/>
                </a:solidFill>
                <a:custDash>
                  <a:ds d="400000" sp="266667"/>
                </a:custDash>
              </a:ln>
            </p:spPr>
          </p:sp>
          <p:sp>
            <p:nvSpPr>
              <p:cNvPr id="83" name="TextBox 83"/>
              <p:cNvSpPr txBox="1"/>
              <p:nvPr/>
            </p:nvSpPr>
            <p:spPr>
              <a:xfrm>
                <a:off x="4926038" y="2924889"/>
                <a:ext cx="434924" cy="154781"/>
              </a:xfrm>
              <a:prstGeom prst="rect">
                <a:avLst/>
              </a:prstGeom>
              <a:noFill/>
              <a:ln>
                <a:noFill/>
              </a:ln>
            </p:spPr>
            <p:txBody>
              <a:bodyPr wrap="none" lIns="0" tIns="0" rIns="0" bIns="0" anchor="t" anchorCtr="0">
                <a:spAutoFit/>
              </a:bodyPr>
              <a:lstStyle/>
              <a:p>
                <a:pPr algn="ctr"/>
                <a:r>
                  <a:rPr lang="zh-CN" sz="790" dirty="0">
                    <a:solidFill>
                      <a:srgbClr val="42140B"/>
                    </a:solidFill>
                    <a:latin typeface="+mn-lt"/>
                    <a:ea typeface="+mn-ea"/>
                    <a:cs typeface="+mn-cs"/>
                  </a:rPr>
                  <a:t>售前投标</a:t>
                </a:r>
              </a:p>
            </p:txBody>
          </p:sp>
          <p:sp>
            <p:nvSpPr>
              <p:cNvPr id="84" name="Ellipse 84"/>
              <p:cNvSpPr/>
              <p:nvPr/>
            </p:nvSpPr>
            <p:spPr>
              <a:xfrm>
                <a:off x="6419850" y="2609850"/>
                <a:ext cx="571500" cy="571500"/>
              </a:xfrm>
              <a:prstGeom prst="ellipse">
                <a:avLst/>
              </a:prstGeom>
              <a:solidFill>
                <a:srgbClr val="E4B7AF">
                  <a:alpha val="80000"/>
                </a:srgbClr>
              </a:solidFill>
              <a:ln w="14288">
                <a:solidFill>
                  <a:srgbClr val="7C3B2F"/>
                </a:solidFill>
              </a:ln>
            </p:spPr>
          </p:sp>
          <p:sp>
            <p:nvSpPr>
              <p:cNvPr id="85" name="TextBox 85"/>
              <p:cNvSpPr txBox="1"/>
              <p:nvPr/>
            </p:nvSpPr>
            <p:spPr>
              <a:xfrm>
                <a:off x="6488138" y="2848689"/>
                <a:ext cx="434924" cy="154781"/>
              </a:xfrm>
              <a:prstGeom prst="rect">
                <a:avLst/>
              </a:prstGeom>
              <a:noFill/>
              <a:ln>
                <a:noFill/>
              </a:ln>
            </p:spPr>
            <p:txBody>
              <a:bodyPr wrap="none" lIns="0" tIns="0" rIns="0" bIns="0" anchor="t" anchorCtr="0">
                <a:spAutoFit/>
              </a:bodyPr>
              <a:lstStyle/>
              <a:p>
                <a:pPr algn="ctr"/>
                <a:r>
                  <a:rPr lang="zh-CN" sz="790" dirty="0">
                    <a:solidFill>
                      <a:srgbClr val="42140B"/>
                    </a:solidFill>
                    <a:latin typeface="+mn-lt"/>
                    <a:ea typeface="+mn-ea"/>
                    <a:cs typeface="+mn-cs"/>
                  </a:rPr>
                  <a:t>合同审查</a:t>
                </a:r>
              </a:p>
            </p:txBody>
          </p:sp>
          <p:sp>
            <p:nvSpPr>
              <p:cNvPr id="86" name="Ellipse 86"/>
              <p:cNvSpPr/>
              <p:nvPr/>
            </p:nvSpPr>
            <p:spPr>
              <a:xfrm>
                <a:off x="3486150" y="3771900"/>
                <a:ext cx="533400" cy="533400"/>
              </a:xfrm>
              <a:prstGeom prst="ellipse">
                <a:avLst/>
              </a:prstGeom>
              <a:solidFill>
                <a:srgbClr val="FFFFFF">
                  <a:alpha val="70000"/>
                </a:srgbClr>
              </a:solidFill>
              <a:ln w="14288">
                <a:solidFill>
                  <a:srgbClr val="9A4B3C"/>
                </a:solidFill>
                <a:custDash>
                  <a:ds d="400000" sp="266667"/>
                </a:custDash>
              </a:ln>
            </p:spPr>
          </p:sp>
          <p:sp>
            <p:nvSpPr>
              <p:cNvPr id="87" name="TextBox 87"/>
              <p:cNvSpPr txBox="1"/>
              <p:nvPr/>
            </p:nvSpPr>
            <p:spPr>
              <a:xfrm>
                <a:off x="3535388" y="3991689"/>
                <a:ext cx="434924" cy="154781"/>
              </a:xfrm>
              <a:prstGeom prst="rect">
                <a:avLst/>
              </a:prstGeom>
              <a:noFill/>
              <a:ln>
                <a:noFill/>
              </a:ln>
            </p:spPr>
            <p:txBody>
              <a:bodyPr wrap="none" lIns="0" tIns="0" rIns="0" bIns="0" anchor="t" anchorCtr="0">
                <a:spAutoFit/>
              </a:bodyPr>
              <a:lstStyle/>
              <a:p>
                <a:pPr algn="ctr"/>
                <a:r>
                  <a:rPr lang="zh-CN" sz="790" dirty="0">
                    <a:solidFill>
                      <a:srgbClr val="42140B"/>
                    </a:solidFill>
                    <a:latin typeface="+mn-lt"/>
                    <a:ea typeface="+mn-ea"/>
                    <a:cs typeface="+mn-cs"/>
                  </a:rPr>
                  <a:t>研发检索</a:t>
                </a:r>
              </a:p>
            </p:txBody>
          </p:sp>
          <p:sp>
            <p:nvSpPr>
              <p:cNvPr id="88" name="Ellipse 88"/>
              <p:cNvSpPr/>
              <p:nvPr/>
            </p:nvSpPr>
            <p:spPr>
              <a:xfrm>
                <a:off x="5048250" y="3657600"/>
                <a:ext cx="571500" cy="571500"/>
              </a:xfrm>
              <a:prstGeom prst="ellipse">
                <a:avLst/>
              </a:prstGeom>
              <a:solidFill>
                <a:srgbClr val="E4B7AF">
                  <a:alpha val="70000"/>
                </a:srgbClr>
              </a:solidFill>
              <a:ln w="14288">
                <a:solidFill>
                  <a:srgbClr val="7C3B2F"/>
                </a:solidFill>
              </a:ln>
            </p:spPr>
          </p:sp>
          <p:sp>
            <p:nvSpPr>
              <p:cNvPr id="89" name="TextBox 89"/>
              <p:cNvSpPr txBox="1"/>
              <p:nvPr/>
            </p:nvSpPr>
            <p:spPr>
              <a:xfrm>
                <a:off x="5116538" y="3896439"/>
                <a:ext cx="434924" cy="154781"/>
              </a:xfrm>
              <a:prstGeom prst="rect">
                <a:avLst/>
              </a:prstGeom>
              <a:noFill/>
              <a:ln>
                <a:noFill/>
              </a:ln>
            </p:spPr>
            <p:txBody>
              <a:bodyPr wrap="none" lIns="0" tIns="0" rIns="0" bIns="0" anchor="t" anchorCtr="0">
                <a:spAutoFit/>
              </a:bodyPr>
              <a:lstStyle/>
              <a:p>
                <a:pPr algn="ctr"/>
                <a:r>
                  <a:rPr lang="zh-CN" sz="790" dirty="0">
                    <a:solidFill>
                      <a:srgbClr val="42140B"/>
                    </a:solidFill>
                    <a:latin typeface="+mn-lt"/>
                    <a:ea typeface="+mn-ea"/>
                    <a:cs typeface="+mn-cs"/>
                  </a:rPr>
                  <a:t>项目复盘</a:t>
                </a:r>
              </a:p>
            </p:txBody>
          </p:sp>
          <p:sp>
            <p:nvSpPr>
              <p:cNvPr id="90" name="Ellipse 90"/>
              <p:cNvSpPr/>
              <p:nvPr/>
            </p:nvSpPr>
            <p:spPr>
              <a:xfrm>
                <a:off x="6781800" y="3867150"/>
                <a:ext cx="571500" cy="571500"/>
              </a:xfrm>
              <a:prstGeom prst="ellipse">
                <a:avLst/>
              </a:prstGeom>
              <a:solidFill>
                <a:srgbClr val="E4B7AF">
                  <a:alpha val="80000"/>
                </a:srgbClr>
              </a:solidFill>
              <a:ln w="14288">
                <a:solidFill>
                  <a:srgbClr val="7C3B2F"/>
                </a:solidFill>
              </a:ln>
            </p:spPr>
          </p:sp>
          <p:sp>
            <p:nvSpPr>
              <p:cNvPr id="91" name="TextBox 91"/>
              <p:cNvSpPr txBox="1"/>
              <p:nvPr/>
            </p:nvSpPr>
            <p:spPr>
              <a:xfrm>
                <a:off x="6850088" y="4105989"/>
                <a:ext cx="434924" cy="154781"/>
              </a:xfrm>
              <a:prstGeom prst="rect">
                <a:avLst/>
              </a:prstGeom>
              <a:noFill/>
              <a:ln>
                <a:noFill/>
              </a:ln>
            </p:spPr>
            <p:txBody>
              <a:bodyPr wrap="none" lIns="0" tIns="0" rIns="0" bIns="0" anchor="t" anchorCtr="0">
                <a:spAutoFit/>
              </a:bodyPr>
              <a:lstStyle/>
              <a:p>
                <a:pPr algn="ctr"/>
                <a:r>
                  <a:rPr lang="zh-CN" sz="790" dirty="0">
                    <a:solidFill>
                      <a:srgbClr val="42140B"/>
                    </a:solidFill>
                    <a:latin typeface="+mn-lt"/>
                    <a:ea typeface="+mn-ea"/>
                    <a:cs typeface="+mn-cs"/>
                  </a:rPr>
                  <a:t>员工培训</a:t>
                </a:r>
              </a:p>
            </p:txBody>
          </p:sp>
        </p:grpSp>
        <p:grpSp>
          <p:nvGrpSpPr>
            <p:cNvPr id="108" name="bubble-legend"/>
            <p:cNvGrpSpPr/>
            <p:nvPr/>
          </p:nvGrpSpPr>
          <p:grpSpPr>
            <a:xfrm>
              <a:off x="2324100" y="5295900"/>
              <a:ext cx="5905500" cy="254080"/>
              <a:chOff x="2324100" y="5295900"/>
              <a:chExt cx="5905500" cy="254080"/>
            </a:xfrm>
          </p:grpSpPr>
          <p:sp>
            <p:nvSpPr>
              <p:cNvPr id="93" name="Line 93"/>
              <p:cNvSpPr/>
              <p:nvPr/>
            </p:nvSpPr>
            <p:spPr>
              <a:xfrm>
                <a:off x="2324100" y="5295900"/>
                <a:ext cx="5905500" cy="9525"/>
              </a:xfrm>
              <a:custGeom>
                <a:avLst/>
                <a:gdLst/>
                <a:ahLst/>
                <a:cxnLst/>
                <a:rect l="l" t="t" r="r" b="b"/>
                <a:pathLst>
                  <a:path w="5905500" h="9525">
                    <a:moveTo>
                      <a:pt x="0" y="0"/>
                    </a:moveTo>
                    <a:lnTo>
                      <a:pt x="5905500" y="0"/>
                    </a:lnTo>
                  </a:path>
                </a:pathLst>
              </a:custGeom>
              <a:noFill/>
              <a:ln w="9525">
                <a:solidFill>
                  <a:srgbClr val="D9E8C6"/>
                </a:solidFill>
              </a:ln>
            </p:spPr>
          </p:sp>
          <p:sp>
            <p:nvSpPr>
              <p:cNvPr id="94" name="TextBox 94"/>
              <p:cNvSpPr txBox="1"/>
              <p:nvPr/>
            </p:nvSpPr>
            <p:spPr>
              <a:xfrm>
                <a:off x="2490788" y="5409486"/>
                <a:ext cx="965327"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使用规模（气泡大小）</a:t>
                </a:r>
              </a:p>
            </p:txBody>
          </p:sp>
          <p:sp>
            <p:nvSpPr>
              <p:cNvPr id="95" name="Ellipse 95"/>
              <p:cNvSpPr/>
              <p:nvPr/>
            </p:nvSpPr>
            <p:spPr>
              <a:xfrm>
                <a:off x="3676650" y="5391150"/>
                <a:ext cx="114300" cy="114300"/>
              </a:xfrm>
              <a:prstGeom prst="ellipse">
                <a:avLst/>
              </a:prstGeom>
              <a:noFill/>
              <a:ln w="11430">
                <a:solidFill>
                  <a:srgbClr val="7C3B2F"/>
                </a:solidFill>
              </a:ln>
            </p:spPr>
          </p:sp>
          <p:sp>
            <p:nvSpPr>
              <p:cNvPr id="96" name="TextBox 96"/>
              <p:cNvSpPr txBox="1"/>
              <p:nvPr/>
            </p:nvSpPr>
            <p:spPr>
              <a:xfrm>
                <a:off x="3843338" y="5413534"/>
                <a:ext cx="101067" cy="133350"/>
              </a:xfrm>
              <a:prstGeom prst="rect">
                <a:avLst/>
              </a:prstGeom>
              <a:noFill/>
              <a:ln>
                <a:noFill/>
              </a:ln>
            </p:spPr>
            <p:txBody>
              <a:bodyPr wrap="none" lIns="0" tIns="0" rIns="0" bIns="0" anchor="t" anchorCtr="0">
                <a:spAutoFit/>
              </a:bodyPr>
              <a:lstStyle/>
              <a:p>
                <a:pPr algn="l"/>
                <a:r>
                  <a:rPr lang="zh-CN" sz="680" dirty="0">
                    <a:solidFill>
                      <a:srgbClr val="3A4238"/>
                    </a:solidFill>
                    <a:latin typeface="+mn-lt"/>
                    <a:ea typeface="+mn-ea"/>
                    <a:cs typeface="+mn-cs"/>
                  </a:rPr>
                  <a:t>小</a:t>
                </a:r>
              </a:p>
            </p:txBody>
          </p:sp>
          <p:sp>
            <p:nvSpPr>
              <p:cNvPr id="97" name="Ellipse 97"/>
              <p:cNvSpPr/>
              <p:nvPr/>
            </p:nvSpPr>
            <p:spPr>
              <a:xfrm>
                <a:off x="4038600" y="5372100"/>
                <a:ext cx="152400" cy="152400"/>
              </a:xfrm>
              <a:prstGeom prst="ellipse">
                <a:avLst/>
              </a:prstGeom>
              <a:noFill/>
              <a:ln w="11430">
                <a:solidFill>
                  <a:srgbClr val="7C3B2F"/>
                </a:solidFill>
              </a:ln>
            </p:spPr>
          </p:sp>
          <p:sp>
            <p:nvSpPr>
              <p:cNvPr id="98" name="TextBox 98"/>
              <p:cNvSpPr txBox="1"/>
              <p:nvPr/>
            </p:nvSpPr>
            <p:spPr>
              <a:xfrm>
                <a:off x="4243388" y="5413534"/>
                <a:ext cx="101067" cy="133350"/>
              </a:xfrm>
              <a:prstGeom prst="rect">
                <a:avLst/>
              </a:prstGeom>
              <a:noFill/>
              <a:ln>
                <a:noFill/>
              </a:ln>
            </p:spPr>
            <p:txBody>
              <a:bodyPr wrap="none" lIns="0" tIns="0" rIns="0" bIns="0" anchor="t" anchorCtr="0">
                <a:spAutoFit/>
              </a:bodyPr>
              <a:lstStyle/>
              <a:p>
                <a:pPr algn="l"/>
                <a:r>
                  <a:rPr lang="zh-CN" sz="680" dirty="0">
                    <a:solidFill>
                      <a:srgbClr val="3A4238"/>
                    </a:solidFill>
                    <a:latin typeface="+mn-lt"/>
                    <a:ea typeface="+mn-ea"/>
                    <a:cs typeface="+mn-cs"/>
                  </a:rPr>
                  <a:t>中</a:t>
                </a:r>
              </a:p>
            </p:txBody>
          </p:sp>
          <p:sp>
            <p:nvSpPr>
              <p:cNvPr id="99" name="Ellipse 99"/>
              <p:cNvSpPr/>
              <p:nvPr/>
            </p:nvSpPr>
            <p:spPr>
              <a:xfrm>
                <a:off x="4457700" y="5353050"/>
                <a:ext cx="190500" cy="190500"/>
              </a:xfrm>
              <a:prstGeom prst="ellipse">
                <a:avLst/>
              </a:prstGeom>
              <a:noFill/>
              <a:ln w="11430">
                <a:solidFill>
                  <a:srgbClr val="7C3B2F"/>
                </a:solidFill>
              </a:ln>
            </p:spPr>
          </p:sp>
          <p:sp>
            <p:nvSpPr>
              <p:cNvPr id="100" name="TextBox 100"/>
              <p:cNvSpPr txBox="1"/>
              <p:nvPr/>
            </p:nvSpPr>
            <p:spPr>
              <a:xfrm>
                <a:off x="4700588" y="5413534"/>
                <a:ext cx="101067" cy="133350"/>
              </a:xfrm>
              <a:prstGeom prst="rect">
                <a:avLst/>
              </a:prstGeom>
              <a:noFill/>
              <a:ln>
                <a:noFill/>
              </a:ln>
            </p:spPr>
            <p:txBody>
              <a:bodyPr wrap="none" lIns="0" tIns="0" rIns="0" bIns="0" anchor="t" anchorCtr="0">
                <a:spAutoFit/>
              </a:bodyPr>
              <a:lstStyle/>
              <a:p>
                <a:pPr algn="l"/>
                <a:r>
                  <a:rPr lang="zh-CN" sz="680" dirty="0">
                    <a:solidFill>
                      <a:srgbClr val="3A4238"/>
                    </a:solidFill>
                    <a:latin typeface="+mn-lt"/>
                    <a:ea typeface="+mn-ea"/>
                    <a:cs typeface="+mn-cs"/>
                  </a:rPr>
                  <a:t>大</a:t>
                </a:r>
              </a:p>
            </p:txBody>
          </p:sp>
          <p:sp>
            <p:nvSpPr>
              <p:cNvPr id="101" name="TextBox 101"/>
              <p:cNvSpPr txBox="1"/>
              <p:nvPr/>
            </p:nvSpPr>
            <p:spPr>
              <a:xfrm>
                <a:off x="5100638" y="5409486"/>
                <a:ext cx="965327"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风险等级（边框样式）</a:t>
                </a:r>
              </a:p>
            </p:txBody>
          </p:sp>
          <p:sp>
            <p:nvSpPr>
              <p:cNvPr id="102" name="Ellipse 102"/>
              <p:cNvSpPr/>
              <p:nvPr/>
            </p:nvSpPr>
            <p:spPr>
              <a:xfrm>
                <a:off x="6181725" y="5381625"/>
                <a:ext cx="133350" cy="133350"/>
              </a:xfrm>
              <a:prstGeom prst="ellipse">
                <a:avLst/>
              </a:prstGeom>
              <a:noFill/>
              <a:ln w="13335">
                <a:solidFill>
                  <a:srgbClr val="7C3B2F"/>
                </a:solidFill>
              </a:ln>
            </p:spPr>
          </p:sp>
          <p:sp>
            <p:nvSpPr>
              <p:cNvPr id="103" name="TextBox 103"/>
              <p:cNvSpPr txBox="1"/>
              <p:nvPr/>
            </p:nvSpPr>
            <p:spPr>
              <a:xfrm>
                <a:off x="6376988" y="5413534"/>
                <a:ext cx="284150" cy="133350"/>
              </a:xfrm>
              <a:prstGeom prst="rect">
                <a:avLst/>
              </a:prstGeom>
              <a:noFill/>
              <a:ln>
                <a:noFill/>
              </a:ln>
            </p:spPr>
            <p:txBody>
              <a:bodyPr wrap="none" lIns="0" tIns="0" rIns="0" bIns="0" anchor="t" anchorCtr="0">
                <a:spAutoFit/>
              </a:bodyPr>
              <a:lstStyle/>
              <a:p>
                <a:pPr algn="l"/>
                <a:r>
                  <a:rPr lang="zh-CN" sz="680" dirty="0">
                    <a:solidFill>
                      <a:srgbClr val="3A4238"/>
                    </a:solidFill>
                    <a:latin typeface="+mn-lt"/>
                    <a:ea typeface="+mn-ea"/>
                    <a:cs typeface="+mn-cs"/>
                  </a:rPr>
                  <a:t>低风险</a:t>
                </a:r>
              </a:p>
            </p:txBody>
          </p:sp>
          <p:sp>
            <p:nvSpPr>
              <p:cNvPr id="104" name="Ellipse 104"/>
              <p:cNvSpPr/>
              <p:nvPr/>
            </p:nvSpPr>
            <p:spPr>
              <a:xfrm>
                <a:off x="6810375" y="5381625"/>
                <a:ext cx="133350" cy="133350"/>
              </a:xfrm>
              <a:prstGeom prst="ellipse">
                <a:avLst/>
              </a:prstGeom>
              <a:noFill/>
              <a:ln w="13335">
                <a:solidFill>
                  <a:srgbClr val="9A4B3C"/>
                </a:solidFill>
                <a:custDash>
                  <a:ds d="357143" sp="214286"/>
                </a:custDash>
              </a:ln>
            </p:spPr>
          </p:sp>
          <p:sp>
            <p:nvSpPr>
              <p:cNvPr id="105" name="TextBox 105"/>
              <p:cNvSpPr txBox="1"/>
              <p:nvPr/>
            </p:nvSpPr>
            <p:spPr>
              <a:xfrm>
                <a:off x="7005638" y="5413534"/>
                <a:ext cx="284150" cy="133350"/>
              </a:xfrm>
              <a:prstGeom prst="rect">
                <a:avLst/>
              </a:prstGeom>
              <a:noFill/>
              <a:ln>
                <a:noFill/>
              </a:ln>
            </p:spPr>
            <p:txBody>
              <a:bodyPr wrap="none" lIns="0" tIns="0" rIns="0" bIns="0" anchor="t" anchorCtr="0">
                <a:spAutoFit/>
              </a:bodyPr>
              <a:lstStyle/>
              <a:p>
                <a:pPr algn="l"/>
                <a:r>
                  <a:rPr lang="zh-CN" sz="680" dirty="0">
                    <a:solidFill>
                      <a:srgbClr val="3A4238"/>
                    </a:solidFill>
                    <a:latin typeface="+mn-lt"/>
                    <a:ea typeface="+mn-ea"/>
                    <a:cs typeface="+mn-cs"/>
                  </a:rPr>
                  <a:t>中风险</a:t>
                </a:r>
              </a:p>
            </p:txBody>
          </p:sp>
          <p:sp>
            <p:nvSpPr>
              <p:cNvPr id="106" name="Ellipse 106"/>
              <p:cNvSpPr/>
              <p:nvPr/>
            </p:nvSpPr>
            <p:spPr>
              <a:xfrm>
                <a:off x="7477125" y="5381625"/>
                <a:ext cx="133350" cy="133350"/>
              </a:xfrm>
              <a:prstGeom prst="ellipse">
                <a:avLst/>
              </a:prstGeom>
              <a:noFill/>
              <a:ln w="13335">
                <a:solidFill>
                  <a:srgbClr val="C93F27"/>
                </a:solidFill>
                <a:custDash>
                  <a:ds d="142857" sp="214286"/>
                </a:custDash>
              </a:ln>
            </p:spPr>
          </p:sp>
          <p:sp>
            <p:nvSpPr>
              <p:cNvPr id="107" name="TextBox 107"/>
              <p:cNvSpPr txBox="1"/>
              <p:nvPr/>
            </p:nvSpPr>
            <p:spPr>
              <a:xfrm>
                <a:off x="7672388" y="5413534"/>
                <a:ext cx="284150" cy="133350"/>
              </a:xfrm>
              <a:prstGeom prst="rect">
                <a:avLst/>
              </a:prstGeom>
              <a:noFill/>
              <a:ln>
                <a:noFill/>
              </a:ln>
            </p:spPr>
            <p:txBody>
              <a:bodyPr wrap="none" lIns="0" tIns="0" rIns="0" bIns="0" anchor="t" anchorCtr="0">
                <a:spAutoFit/>
              </a:bodyPr>
              <a:lstStyle/>
              <a:p>
                <a:pPr algn="l"/>
                <a:r>
                  <a:rPr lang="zh-CN" sz="680" dirty="0">
                    <a:solidFill>
                      <a:srgbClr val="3A4238"/>
                    </a:solidFill>
                    <a:latin typeface="+mn-lt"/>
                    <a:ea typeface="+mn-ea"/>
                    <a:cs typeface="+mn-cs"/>
                  </a:rPr>
                  <a:t>高风险</a:t>
                </a:r>
              </a:p>
            </p:txBody>
          </p:sp>
        </p:grpSp>
      </p:grpSp>
      <p:grpSp>
        <p:nvGrpSpPr>
          <p:cNvPr id="156" name="decision-flow"/>
          <p:cNvGrpSpPr/>
          <p:nvPr/>
        </p:nvGrpSpPr>
        <p:grpSpPr>
          <a:xfrm>
            <a:off x="8496300" y="628650"/>
            <a:ext cx="3467100" cy="4667250"/>
            <a:chOff x="8496300" y="628650"/>
            <a:chExt cx="3467100" cy="4667250"/>
          </a:xfrm>
        </p:grpSpPr>
        <p:sp>
          <p:nvSpPr>
            <p:cNvPr id="110" name="Rectangle 110"/>
            <p:cNvSpPr/>
            <p:nvPr/>
          </p:nvSpPr>
          <p:spPr>
            <a:xfrm>
              <a:off x="8496300" y="628650"/>
              <a:ext cx="3467100" cy="247650"/>
            </a:xfrm>
            <a:prstGeom prst="roundRect">
              <a:avLst>
                <a:gd name="adj" fmla="val 30769"/>
              </a:avLst>
            </a:prstGeom>
            <a:solidFill>
              <a:srgbClr val="42140B"/>
            </a:solidFill>
            <a:ln>
              <a:noFill/>
            </a:ln>
          </p:spPr>
        </p:sp>
        <p:sp>
          <p:nvSpPr>
            <p:cNvPr id="111" name="TextBox 111"/>
            <p:cNvSpPr txBox="1"/>
            <p:nvPr/>
          </p:nvSpPr>
          <p:spPr>
            <a:xfrm>
              <a:off x="9972002" y="69889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决策流程</a:t>
              </a:r>
            </a:p>
          </p:txBody>
        </p:sp>
        <p:grpSp>
          <p:nvGrpSpPr>
            <p:cNvPr id="119" name="flow-step1"/>
            <p:cNvGrpSpPr/>
            <p:nvPr/>
          </p:nvGrpSpPr>
          <p:grpSpPr>
            <a:xfrm>
              <a:off x="8496300" y="971550"/>
              <a:ext cx="3467100" cy="666750"/>
              <a:chOff x="8496300" y="971550"/>
              <a:chExt cx="3467100" cy="666750"/>
            </a:xfrm>
          </p:grpSpPr>
          <p:sp>
            <p:nvSpPr>
              <p:cNvPr id="112" name="Rectangle 112"/>
              <p:cNvSpPr/>
              <p:nvPr/>
            </p:nvSpPr>
            <p:spPr>
              <a:xfrm>
                <a:off x="8496300" y="971550"/>
                <a:ext cx="3467100" cy="666750"/>
              </a:xfrm>
              <a:prstGeom prst="roundRect">
                <a:avLst>
                  <a:gd name="adj" fmla="val 11429"/>
                </a:avLst>
              </a:prstGeom>
              <a:solidFill>
                <a:srgbClr val="F4F8EC"/>
              </a:solidFill>
              <a:ln w="9525">
                <a:solidFill>
                  <a:srgbClr val="D9E8C6"/>
                </a:solidFill>
              </a:ln>
            </p:spPr>
          </p:sp>
          <p:grpSp>
            <p:nvGrpSpPr>
              <p:cNvPr id="116" name="Group 116"/>
              <p:cNvGrpSpPr/>
              <p:nvPr/>
            </p:nvGrpSpPr>
            <p:grpSpPr>
              <a:xfrm>
                <a:off x="8712200" y="1195388"/>
                <a:ext cx="177801" cy="200025"/>
                <a:chOff x="8712200" y="1195388"/>
                <a:chExt cx="177801" cy="200025"/>
              </a:xfrm>
            </p:grpSpPr>
            <p:sp>
              <p:nvSpPr>
                <p:cNvPr id="113" name="Freeform 113"/>
                <p:cNvSpPr/>
                <p:nvPr/>
              </p:nvSpPr>
              <p:spPr>
                <a:xfrm>
                  <a:off x="8712200" y="119538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22225">
                  <a:solidFill>
                    <a:srgbClr val="7C3B2F"/>
                  </a:solidFill>
                </a:ln>
              </p:spPr>
            </p:sp>
            <p:sp>
              <p:nvSpPr>
                <p:cNvPr id="114" name="Freeform 114"/>
                <p:cNvSpPr/>
                <p:nvPr/>
              </p:nvSpPr>
              <p:spPr>
                <a:xfrm>
                  <a:off x="8712200" y="122872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7C3B2F"/>
                  </a:solidFill>
                </a:ln>
              </p:spPr>
            </p:sp>
            <p:sp>
              <p:nvSpPr>
                <p:cNvPr id="115" name="Freeform 115"/>
                <p:cNvSpPr/>
                <p:nvPr/>
              </p:nvSpPr>
              <p:spPr>
                <a:xfrm>
                  <a:off x="8712200" y="12954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7C3B2F"/>
                  </a:solidFill>
                </a:ln>
              </p:spPr>
            </p:sp>
          </p:grpSp>
          <p:sp>
            <p:nvSpPr>
              <p:cNvPr id="117" name="TextBox 117"/>
              <p:cNvSpPr txBox="1"/>
              <p:nvPr/>
            </p:nvSpPr>
            <p:spPr>
              <a:xfrm>
                <a:off x="9101138" y="1122045"/>
                <a:ext cx="372999"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场景池</a:t>
                </a:r>
              </a:p>
            </p:txBody>
          </p:sp>
          <p:sp>
            <p:nvSpPr>
              <p:cNvPr id="118" name="TextBox 118"/>
              <p:cNvSpPr txBox="1"/>
              <p:nvPr/>
            </p:nvSpPr>
            <p:spPr>
              <a:xfrm>
                <a:off x="9101138" y="1351836"/>
                <a:ext cx="869747"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广泛收集，形成清单</a:t>
                </a:r>
              </a:p>
            </p:txBody>
          </p:sp>
        </p:grpSp>
        <p:sp>
          <p:nvSpPr>
            <p:cNvPr id="120" name="flow-arrow-1"/>
            <p:cNvSpPr/>
            <p:nvPr/>
          </p:nvSpPr>
          <p:spPr>
            <a:xfrm>
              <a:off x="10153650" y="1714500"/>
              <a:ext cx="152400" cy="114300"/>
            </a:xfrm>
            <a:custGeom>
              <a:avLst/>
              <a:gdLst/>
              <a:ahLst/>
              <a:cxnLst/>
              <a:rect l="l" t="t" r="r" b="b"/>
              <a:pathLst>
                <a:path w="152400" h="114300">
                  <a:moveTo>
                    <a:pt x="76200" y="0"/>
                  </a:moveTo>
                  <a:lnTo>
                    <a:pt x="0" y="114300"/>
                  </a:lnTo>
                  <a:lnTo>
                    <a:pt x="152400" y="114300"/>
                  </a:lnTo>
                  <a:close/>
                </a:path>
              </a:pathLst>
            </a:custGeom>
            <a:solidFill>
              <a:srgbClr val="9A4B3C"/>
            </a:solidFill>
            <a:ln>
              <a:noFill/>
            </a:ln>
          </p:spPr>
        </p:sp>
        <p:grpSp>
          <p:nvGrpSpPr>
            <p:cNvPr id="125" name="flow-step2"/>
            <p:cNvGrpSpPr/>
            <p:nvPr/>
          </p:nvGrpSpPr>
          <p:grpSpPr>
            <a:xfrm>
              <a:off x="8496300" y="1885950"/>
              <a:ext cx="3467100" cy="666750"/>
              <a:chOff x="8496300" y="1885950"/>
              <a:chExt cx="3467100" cy="666750"/>
            </a:xfrm>
          </p:grpSpPr>
          <p:sp>
            <p:nvSpPr>
              <p:cNvPr id="121" name="Rectangle 121"/>
              <p:cNvSpPr/>
              <p:nvPr/>
            </p:nvSpPr>
            <p:spPr>
              <a:xfrm>
                <a:off x="8496300" y="1885950"/>
                <a:ext cx="3467100" cy="666750"/>
              </a:xfrm>
              <a:prstGeom prst="roundRect">
                <a:avLst>
                  <a:gd name="adj" fmla="val 11429"/>
                </a:avLst>
              </a:prstGeom>
              <a:solidFill>
                <a:srgbClr val="FFFFFF"/>
              </a:solidFill>
              <a:ln w="9525">
                <a:solidFill>
                  <a:srgbClr val="D9E8C6"/>
                </a:solidFill>
              </a:ln>
            </p:spPr>
          </p:sp>
          <p:sp>
            <p:nvSpPr>
              <p:cNvPr id="122" name="Freeform 122"/>
              <p:cNvSpPr/>
              <p:nvPr/>
            </p:nvSpPr>
            <p:spPr>
              <a:xfrm>
                <a:off x="8712200" y="2120900"/>
                <a:ext cx="177801" cy="188913"/>
              </a:xfrm>
              <a:custGeom>
                <a:avLst/>
                <a:gdLst/>
                <a:ahLst/>
                <a:cxnLst/>
                <a:rect l="l" t="t" r="r" b="b"/>
                <a:pathLst>
                  <a:path w="177801" h="188913">
                    <a:moveTo>
                      <a:pt x="0" y="0"/>
                    </a:moveTo>
                    <a:lnTo>
                      <a:pt x="177801" y="0"/>
                    </a:lnTo>
                    <a:lnTo>
                      <a:pt x="177801" y="24136"/>
                    </a:lnTo>
                    <a:cubicBezTo>
                      <a:pt x="177799" y="30030"/>
                      <a:pt x="175457" y="35683"/>
                      <a:pt x="171289" y="39850"/>
                    </a:cubicBezTo>
                    <a:lnTo>
                      <a:pt x="122238" y="88900"/>
                    </a:lnTo>
                    <a:lnTo>
                      <a:pt x="122238" y="166688"/>
                    </a:lnTo>
                    <a:lnTo>
                      <a:pt x="55563" y="188913"/>
                    </a:lnTo>
                    <a:lnTo>
                      <a:pt x="55563" y="94457"/>
                    </a:lnTo>
                    <a:lnTo>
                      <a:pt x="5779" y="39694"/>
                    </a:lnTo>
                    <a:cubicBezTo>
                      <a:pt x="2061" y="35604"/>
                      <a:pt x="1" y="30275"/>
                      <a:pt x="0" y="24748"/>
                    </a:cubicBezTo>
                    <a:lnTo>
                      <a:pt x="0" y="0"/>
                    </a:lnTo>
                  </a:path>
                </a:pathLst>
              </a:custGeom>
              <a:noFill/>
              <a:ln w="22225">
                <a:solidFill>
                  <a:srgbClr val="7C3B2F"/>
                </a:solidFill>
              </a:ln>
            </p:spPr>
          </p:sp>
          <p:sp>
            <p:nvSpPr>
              <p:cNvPr id="123" name="TextBox 123"/>
              <p:cNvSpPr txBox="1"/>
              <p:nvPr/>
            </p:nvSpPr>
            <p:spPr>
              <a:xfrm>
                <a:off x="9101138" y="2036445"/>
                <a:ext cx="494157"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价值筛选</a:t>
                </a:r>
              </a:p>
            </p:txBody>
          </p:sp>
          <p:sp>
            <p:nvSpPr>
              <p:cNvPr id="124" name="TextBox 124"/>
              <p:cNvSpPr txBox="1"/>
              <p:nvPr/>
            </p:nvSpPr>
            <p:spPr>
              <a:xfrm>
                <a:off x="9101138" y="2266236"/>
                <a:ext cx="1443228"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基于业务价值评分筛出高价值场景</a:t>
                </a:r>
              </a:p>
            </p:txBody>
          </p:sp>
        </p:grpSp>
        <p:sp>
          <p:nvSpPr>
            <p:cNvPr id="126" name="flow-arrow-2"/>
            <p:cNvSpPr/>
            <p:nvPr/>
          </p:nvSpPr>
          <p:spPr>
            <a:xfrm>
              <a:off x="10153650" y="2628900"/>
              <a:ext cx="152400" cy="114300"/>
            </a:xfrm>
            <a:custGeom>
              <a:avLst/>
              <a:gdLst/>
              <a:ahLst/>
              <a:cxnLst/>
              <a:rect l="l" t="t" r="r" b="b"/>
              <a:pathLst>
                <a:path w="152400" h="114300">
                  <a:moveTo>
                    <a:pt x="76200" y="0"/>
                  </a:moveTo>
                  <a:lnTo>
                    <a:pt x="0" y="114300"/>
                  </a:lnTo>
                  <a:lnTo>
                    <a:pt x="152400" y="114300"/>
                  </a:lnTo>
                  <a:close/>
                </a:path>
              </a:pathLst>
            </a:custGeom>
            <a:solidFill>
              <a:srgbClr val="9A4B3C"/>
            </a:solidFill>
            <a:ln>
              <a:noFill/>
            </a:ln>
          </p:spPr>
        </p:sp>
        <p:grpSp>
          <p:nvGrpSpPr>
            <p:cNvPr id="135" name="flow-step3"/>
            <p:cNvGrpSpPr/>
            <p:nvPr/>
          </p:nvGrpSpPr>
          <p:grpSpPr>
            <a:xfrm>
              <a:off x="8496300" y="2800350"/>
              <a:ext cx="3467100" cy="666750"/>
              <a:chOff x="8496300" y="2800350"/>
              <a:chExt cx="3467100" cy="666750"/>
            </a:xfrm>
          </p:grpSpPr>
          <p:sp>
            <p:nvSpPr>
              <p:cNvPr id="127" name="Rectangle 127"/>
              <p:cNvSpPr/>
              <p:nvPr/>
            </p:nvSpPr>
            <p:spPr>
              <a:xfrm>
                <a:off x="8496300" y="2800350"/>
                <a:ext cx="3467100" cy="666750"/>
              </a:xfrm>
              <a:prstGeom prst="roundRect">
                <a:avLst>
                  <a:gd name="adj" fmla="val 11429"/>
                </a:avLst>
              </a:prstGeom>
              <a:solidFill>
                <a:srgbClr val="F4F8EC"/>
              </a:solidFill>
              <a:ln w="9525">
                <a:solidFill>
                  <a:srgbClr val="D9E8C6"/>
                </a:solidFill>
              </a:ln>
            </p:spPr>
          </p:sp>
          <p:grpSp>
            <p:nvGrpSpPr>
              <p:cNvPr id="132" name="Group 132"/>
              <p:cNvGrpSpPr/>
              <p:nvPr/>
            </p:nvGrpSpPr>
            <p:grpSpPr>
              <a:xfrm>
                <a:off x="8723313" y="3035300"/>
                <a:ext cx="166687" cy="188913"/>
                <a:chOff x="8723313" y="3035300"/>
                <a:chExt cx="166687" cy="188913"/>
              </a:xfrm>
            </p:grpSpPr>
            <p:sp>
              <p:nvSpPr>
                <p:cNvPr id="128" name="Freeform 128"/>
                <p:cNvSpPr/>
                <p:nvPr/>
              </p:nvSpPr>
              <p:spPr>
                <a:xfrm>
                  <a:off x="8723313" y="3035300"/>
                  <a:ext cx="133350" cy="177801"/>
                </a:xfrm>
                <a:custGeom>
                  <a:avLst/>
                  <a:gdLst/>
                  <a:ahLst/>
                  <a:cxnLst/>
                  <a:rect l="l" t="t" r="r" b="b"/>
                  <a:pathLst>
                    <a:path w="133350" h="177801">
                      <a:moveTo>
                        <a:pt x="51284" y="177801"/>
                      </a:moveTo>
                      <a:lnTo>
                        <a:pt x="22225" y="177801"/>
                      </a:lnTo>
                      <a:cubicBezTo>
                        <a:pt x="9950" y="177801"/>
                        <a:pt x="0" y="167850"/>
                        <a:pt x="0" y="155575"/>
                      </a:cubicBezTo>
                      <a:lnTo>
                        <a:pt x="0" y="22225"/>
                      </a:lnTo>
                      <a:cubicBezTo>
                        <a:pt x="0" y="9950"/>
                        <a:pt x="9950" y="0"/>
                        <a:pt x="22225" y="0"/>
                      </a:cubicBezTo>
                      <a:lnTo>
                        <a:pt x="111125" y="0"/>
                      </a:lnTo>
                      <a:cubicBezTo>
                        <a:pt x="123400" y="0"/>
                        <a:pt x="133350" y="9950"/>
                        <a:pt x="133350" y="22225"/>
                      </a:cubicBezTo>
                      <a:lnTo>
                        <a:pt x="133350" y="111125"/>
                      </a:lnTo>
                    </a:path>
                  </a:pathLst>
                </a:custGeom>
                <a:noFill/>
                <a:ln w="22225">
                  <a:solidFill>
                    <a:srgbClr val="7C3B2F"/>
                  </a:solidFill>
                </a:ln>
              </p:spPr>
            </p:sp>
            <p:sp>
              <p:nvSpPr>
                <p:cNvPr id="129" name="Freeform 129"/>
                <p:cNvSpPr/>
                <p:nvPr/>
              </p:nvSpPr>
              <p:spPr>
                <a:xfrm>
                  <a:off x="8823325" y="3179763"/>
                  <a:ext cx="66675" cy="44450"/>
                </a:xfrm>
                <a:custGeom>
                  <a:avLst/>
                  <a:gdLst/>
                  <a:ahLst/>
                  <a:cxnLst/>
                  <a:rect l="l" t="t" r="r" b="b"/>
                  <a:pathLst>
                    <a:path w="66675" h="44450">
                      <a:moveTo>
                        <a:pt x="0" y="22225"/>
                      </a:moveTo>
                      <a:lnTo>
                        <a:pt x="22225" y="44450"/>
                      </a:lnTo>
                      <a:lnTo>
                        <a:pt x="66675" y="0"/>
                      </a:lnTo>
                    </a:path>
                  </a:pathLst>
                </a:custGeom>
                <a:noFill/>
                <a:ln w="22225">
                  <a:solidFill>
                    <a:srgbClr val="7C3B2F"/>
                  </a:solidFill>
                </a:ln>
              </p:spPr>
            </p:sp>
            <p:sp>
              <p:nvSpPr>
                <p:cNvPr id="130" name="Freeform 130"/>
                <p:cNvSpPr/>
                <p:nvPr/>
              </p:nvSpPr>
              <p:spPr>
                <a:xfrm>
                  <a:off x="8767763" y="3079750"/>
                  <a:ext cx="44450" cy="9525"/>
                </a:xfrm>
                <a:custGeom>
                  <a:avLst/>
                  <a:gdLst/>
                  <a:ahLst/>
                  <a:cxnLst/>
                  <a:rect l="l" t="t" r="r" b="b"/>
                  <a:pathLst>
                    <a:path w="44450" h="9525">
                      <a:moveTo>
                        <a:pt x="0" y="0"/>
                      </a:moveTo>
                      <a:lnTo>
                        <a:pt x="44450" y="0"/>
                      </a:lnTo>
                    </a:path>
                  </a:pathLst>
                </a:custGeom>
                <a:noFill/>
                <a:ln w="22225">
                  <a:solidFill>
                    <a:srgbClr val="7C3B2F"/>
                  </a:solidFill>
                </a:ln>
              </p:spPr>
            </p:sp>
            <p:sp>
              <p:nvSpPr>
                <p:cNvPr id="131" name="Freeform 131"/>
                <p:cNvSpPr/>
                <p:nvPr/>
              </p:nvSpPr>
              <p:spPr>
                <a:xfrm>
                  <a:off x="8767763" y="3124200"/>
                  <a:ext cx="22225" cy="9525"/>
                </a:xfrm>
                <a:custGeom>
                  <a:avLst/>
                  <a:gdLst/>
                  <a:ahLst/>
                  <a:cxnLst/>
                  <a:rect l="l" t="t" r="r" b="b"/>
                  <a:pathLst>
                    <a:path w="22225" h="9525">
                      <a:moveTo>
                        <a:pt x="0" y="0"/>
                      </a:moveTo>
                      <a:lnTo>
                        <a:pt x="22225" y="0"/>
                      </a:lnTo>
                    </a:path>
                  </a:pathLst>
                </a:custGeom>
                <a:noFill/>
                <a:ln w="22225">
                  <a:solidFill>
                    <a:srgbClr val="7C3B2F"/>
                  </a:solidFill>
                </a:ln>
              </p:spPr>
            </p:sp>
          </p:grpSp>
          <p:sp>
            <p:nvSpPr>
              <p:cNvPr id="133" name="TextBox 133"/>
              <p:cNvSpPr txBox="1"/>
              <p:nvPr/>
            </p:nvSpPr>
            <p:spPr>
              <a:xfrm>
                <a:off x="9101138" y="2950845"/>
                <a:ext cx="494157"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数据体检</a:t>
                </a:r>
              </a:p>
            </p:txBody>
          </p:sp>
          <p:sp>
            <p:nvSpPr>
              <p:cNvPr id="134" name="TextBox 134"/>
              <p:cNvSpPr txBox="1"/>
              <p:nvPr/>
            </p:nvSpPr>
            <p:spPr>
              <a:xfrm>
                <a:off x="9101138" y="3180636"/>
                <a:ext cx="1252068"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评估知识成熟度与数据可用性</a:t>
                </a:r>
              </a:p>
            </p:txBody>
          </p:sp>
        </p:grpSp>
        <p:sp>
          <p:nvSpPr>
            <p:cNvPr id="136" name="flow-arrow-3"/>
            <p:cNvSpPr/>
            <p:nvPr/>
          </p:nvSpPr>
          <p:spPr>
            <a:xfrm>
              <a:off x="10153650" y="3543300"/>
              <a:ext cx="152400" cy="114300"/>
            </a:xfrm>
            <a:custGeom>
              <a:avLst/>
              <a:gdLst/>
              <a:ahLst/>
              <a:cxnLst/>
              <a:rect l="l" t="t" r="r" b="b"/>
              <a:pathLst>
                <a:path w="152400" h="114300">
                  <a:moveTo>
                    <a:pt x="76200" y="0"/>
                  </a:moveTo>
                  <a:lnTo>
                    <a:pt x="0" y="114300"/>
                  </a:lnTo>
                  <a:lnTo>
                    <a:pt x="152400" y="114300"/>
                  </a:lnTo>
                  <a:close/>
                </a:path>
              </a:pathLst>
            </a:custGeom>
            <a:solidFill>
              <a:srgbClr val="9A4B3C"/>
            </a:solidFill>
            <a:ln>
              <a:noFill/>
            </a:ln>
          </p:spPr>
        </p:sp>
        <p:grpSp>
          <p:nvGrpSpPr>
            <p:cNvPr id="143" name="flow-step4"/>
            <p:cNvGrpSpPr/>
            <p:nvPr/>
          </p:nvGrpSpPr>
          <p:grpSpPr>
            <a:xfrm>
              <a:off x="8496300" y="3714750"/>
              <a:ext cx="3467100" cy="666750"/>
              <a:chOff x="8496300" y="3714750"/>
              <a:chExt cx="3467100" cy="666750"/>
            </a:xfrm>
          </p:grpSpPr>
          <p:sp>
            <p:nvSpPr>
              <p:cNvPr id="137" name="Rectangle 137"/>
              <p:cNvSpPr/>
              <p:nvPr/>
            </p:nvSpPr>
            <p:spPr>
              <a:xfrm>
                <a:off x="8496300" y="3714750"/>
                <a:ext cx="3467100" cy="666750"/>
              </a:xfrm>
              <a:prstGeom prst="roundRect">
                <a:avLst>
                  <a:gd name="adj" fmla="val 11429"/>
                </a:avLst>
              </a:prstGeom>
              <a:solidFill>
                <a:srgbClr val="FFFFFF"/>
              </a:solidFill>
              <a:ln w="9525">
                <a:solidFill>
                  <a:srgbClr val="D9E8C6"/>
                </a:solidFill>
              </a:ln>
            </p:spPr>
          </p:sp>
          <p:grpSp>
            <p:nvGrpSpPr>
              <p:cNvPr id="140" name="Group 140"/>
              <p:cNvGrpSpPr/>
              <p:nvPr/>
            </p:nvGrpSpPr>
            <p:grpSpPr>
              <a:xfrm>
                <a:off x="8686091" y="3938588"/>
                <a:ext cx="217008" cy="200025"/>
                <a:chOff x="8686091" y="3938588"/>
                <a:chExt cx="217008" cy="200025"/>
              </a:xfrm>
            </p:grpSpPr>
            <p:sp>
              <p:nvSpPr>
                <p:cNvPr id="138" name="Freeform 138"/>
                <p:cNvSpPr/>
                <p:nvPr/>
              </p:nvSpPr>
              <p:spPr>
                <a:xfrm>
                  <a:off x="8686091" y="393858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7C3B2F"/>
                  </a:solidFill>
                </a:ln>
              </p:spPr>
            </p:sp>
            <p:sp>
              <p:nvSpPr>
                <p:cNvPr id="139" name="Freeform 139"/>
                <p:cNvSpPr/>
                <p:nvPr/>
              </p:nvSpPr>
              <p:spPr>
                <a:xfrm>
                  <a:off x="8834438" y="4094163"/>
                  <a:ext cx="66675" cy="44450"/>
                </a:xfrm>
                <a:custGeom>
                  <a:avLst/>
                  <a:gdLst/>
                  <a:ahLst/>
                  <a:cxnLst/>
                  <a:rect l="l" t="t" r="r" b="b"/>
                  <a:pathLst>
                    <a:path w="66675" h="44450">
                      <a:moveTo>
                        <a:pt x="0" y="22225"/>
                      </a:moveTo>
                      <a:lnTo>
                        <a:pt x="22225" y="44450"/>
                      </a:lnTo>
                      <a:lnTo>
                        <a:pt x="66675" y="0"/>
                      </a:lnTo>
                    </a:path>
                  </a:pathLst>
                </a:custGeom>
                <a:noFill/>
                <a:ln w="22225">
                  <a:solidFill>
                    <a:srgbClr val="7C3B2F"/>
                  </a:solidFill>
                </a:ln>
              </p:spPr>
            </p:sp>
          </p:grpSp>
          <p:sp>
            <p:nvSpPr>
              <p:cNvPr id="141" name="TextBox 141"/>
              <p:cNvSpPr txBox="1"/>
              <p:nvPr/>
            </p:nvSpPr>
            <p:spPr>
              <a:xfrm>
                <a:off x="9101138" y="3865245"/>
                <a:ext cx="494157"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风险评估</a:t>
                </a:r>
              </a:p>
            </p:txBody>
          </p:sp>
          <p:sp>
            <p:nvSpPr>
              <p:cNvPr id="142" name="TextBox 142"/>
              <p:cNvSpPr txBox="1"/>
              <p:nvPr/>
            </p:nvSpPr>
            <p:spPr>
              <a:xfrm>
                <a:off x="9101138" y="4095036"/>
                <a:ext cx="1156487"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评估权限复杂度与合规风险</a:t>
                </a:r>
              </a:p>
            </p:txBody>
          </p:sp>
        </p:grpSp>
        <p:sp>
          <p:nvSpPr>
            <p:cNvPr id="144" name="flow-arrow-4"/>
            <p:cNvSpPr/>
            <p:nvPr/>
          </p:nvSpPr>
          <p:spPr>
            <a:xfrm>
              <a:off x="10153650" y="4457700"/>
              <a:ext cx="152400" cy="114300"/>
            </a:xfrm>
            <a:custGeom>
              <a:avLst/>
              <a:gdLst/>
              <a:ahLst/>
              <a:cxnLst/>
              <a:rect l="l" t="t" r="r" b="b"/>
              <a:pathLst>
                <a:path w="152400" h="114300">
                  <a:moveTo>
                    <a:pt x="76200" y="0"/>
                  </a:moveTo>
                  <a:lnTo>
                    <a:pt x="0" y="114300"/>
                  </a:lnTo>
                  <a:lnTo>
                    <a:pt x="152400" y="114300"/>
                  </a:lnTo>
                  <a:close/>
                </a:path>
              </a:pathLst>
            </a:custGeom>
            <a:solidFill>
              <a:srgbClr val="9A4B3C"/>
            </a:solidFill>
            <a:ln>
              <a:noFill/>
            </a:ln>
          </p:spPr>
        </p:sp>
        <p:grpSp>
          <p:nvGrpSpPr>
            <p:cNvPr id="155" name="flow-step5"/>
            <p:cNvGrpSpPr/>
            <p:nvPr/>
          </p:nvGrpSpPr>
          <p:grpSpPr>
            <a:xfrm>
              <a:off x="8496300" y="4629150"/>
              <a:ext cx="3467100" cy="666750"/>
              <a:chOff x="8496300" y="4629150"/>
              <a:chExt cx="3467100" cy="666750"/>
            </a:xfrm>
          </p:grpSpPr>
          <p:sp>
            <p:nvSpPr>
              <p:cNvPr id="145" name="Rectangle 145"/>
              <p:cNvSpPr/>
              <p:nvPr/>
            </p:nvSpPr>
            <p:spPr>
              <a:xfrm>
                <a:off x="8496300" y="4629150"/>
                <a:ext cx="3467100" cy="666750"/>
              </a:xfrm>
              <a:prstGeom prst="roundRect">
                <a:avLst>
                  <a:gd name="adj" fmla="val 11429"/>
                </a:avLst>
              </a:prstGeom>
              <a:solidFill>
                <a:srgbClr val="F4F8EC"/>
              </a:solidFill>
              <a:ln w="9525">
                <a:solidFill>
                  <a:srgbClr val="D9E8C6"/>
                </a:solidFill>
              </a:ln>
            </p:spPr>
          </p:sp>
          <p:grpSp>
            <p:nvGrpSpPr>
              <p:cNvPr id="152" name="Group 152"/>
              <p:cNvGrpSpPr/>
              <p:nvPr/>
            </p:nvGrpSpPr>
            <p:grpSpPr>
              <a:xfrm>
                <a:off x="8706644" y="4869656"/>
                <a:ext cx="183357" cy="161132"/>
                <a:chOff x="8706644" y="4869656"/>
                <a:chExt cx="183357" cy="161132"/>
              </a:xfrm>
            </p:grpSpPr>
            <p:sp>
              <p:nvSpPr>
                <p:cNvPr id="146" name="Freeform 146"/>
                <p:cNvSpPr/>
                <p:nvPr/>
              </p:nvSpPr>
              <p:spPr>
                <a:xfrm>
                  <a:off x="8706644" y="4869656"/>
                  <a:ext cx="44450" cy="27781"/>
                </a:xfrm>
                <a:custGeom>
                  <a:avLst/>
                  <a:gdLst/>
                  <a:ahLst/>
                  <a:cxnLst/>
                  <a:rect l="l" t="t" r="r" b="b"/>
                  <a:pathLst>
                    <a:path w="44450" h="27781">
                      <a:moveTo>
                        <a:pt x="0" y="11113"/>
                      </a:moveTo>
                      <a:lnTo>
                        <a:pt x="16669" y="27781"/>
                      </a:lnTo>
                      <a:lnTo>
                        <a:pt x="44450" y="0"/>
                      </a:lnTo>
                    </a:path>
                  </a:pathLst>
                </a:custGeom>
                <a:noFill/>
                <a:ln w="22225">
                  <a:solidFill>
                    <a:srgbClr val="7C3B2F"/>
                  </a:solidFill>
                </a:ln>
              </p:spPr>
            </p:sp>
            <p:sp>
              <p:nvSpPr>
                <p:cNvPr id="147" name="Freeform 147"/>
                <p:cNvSpPr/>
                <p:nvPr/>
              </p:nvSpPr>
              <p:spPr>
                <a:xfrm>
                  <a:off x="8706644" y="4936332"/>
                  <a:ext cx="44450" cy="27781"/>
                </a:xfrm>
                <a:custGeom>
                  <a:avLst/>
                  <a:gdLst/>
                  <a:ahLst/>
                  <a:cxnLst/>
                  <a:rect l="l" t="t" r="r" b="b"/>
                  <a:pathLst>
                    <a:path w="44450" h="27781">
                      <a:moveTo>
                        <a:pt x="0" y="11113"/>
                      </a:moveTo>
                      <a:lnTo>
                        <a:pt x="16669" y="27781"/>
                      </a:lnTo>
                      <a:lnTo>
                        <a:pt x="44450" y="0"/>
                      </a:lnTo>
                    </a:path>
                  </a:pathLst>
                </a:custGeom>
                <a:noFill/>
                <a:ln w="22225">
                  <a:solidFill>
                    <a:srgbClr val="7C3B2F"/>
                  </a:solidFill>
                </a:ln>
              </p:spPr>
            </p:sp>
            <p:sp>
              <p:nvSpPr>
                <p:cNvPr id="148" name="Freeform 148"/>
                <p:cNvSpPr/>
                <p:nvPr/>
              </p:nvSpPr>
              <p:spPr>
                <a:xfrm>
                  <a:off x="8706644" y="5003007"/>
                  <a:ext cx="44450" cy="27781"/>
                </a:xfrm>
                <a:custGeom>
                  <a:avLst/>
                  <a:gdLst/>
                  <a:ahLst/>
                  <a:cxnLst/>
                  <a:rect l="l" t="t" r="r" b="b"/>
                  <a:pathLst>
                    <a:path w="44450" h="27781">
                      <a:moveTo>
                        <a:pt x="0" y="11113"/>
                      </a:moveTo>
                      <a:lnTo>
                        <a:pt x="16669" y="27781"/>
                      </a:lnTo>
                      <a:lnTo>
                        <a:pt x="44450" y="0"/>
                      </a:lnTo>
                    </a:path>
                  </a:pathLst>
                </a:custGeom>
                <a:noFill/>
                <a:ln w="22225">
                  <a:solidFill>
                    <a:srgbClr val="7C3B2F"/>
                  </a:solidFill>
                </a:ln>
              </p:spPr>
            </p:sp>
            <p:sp>
              <p:nvSpPr>
                <p:cNvPr id="149" name="Freeform 149"/>
                <p:cNvSpPr/>
                <p:nvPr/>
              </p:nvSpPr>
              <p:spPr>
                <a:xfrm>
                  <a:off x="8789988" y="4886325"/>
                  <a:ext cx="100013" cy="9525"/>
                </a:xfrm>
                <a:custGeom>
                  <a:avLst/>
                  <a:gdLst/>
                  <a:ahLst/>
                  <a:cxnLst/>
                  <a:rect l="l" t="t" r="r" b="b"/>
                  <a:pathLst>
                    <a:path w="100013" h="9525">
                      <a:moveTo>
                        <a:pt x="0" y="0"/>
                      </a:moveTo>
                      <a:lnTo>
                        <a:pt x="100013" y="0"/>
                      </a:lnTo>
                    </a:path>
                  </a:pathLst>
                </a:custGeom>
                <a:noFill/>
                <a:ln w="22225">
                  <a:solidFill>
                    <a:srgbClr val="7C3B2F"/>
                  </a:solidFill>
                </a:ln>
              </p:spPr>
            </p:sp>
            <p:sp>
              <p:nvSpPr>
                <p:cNvPr id="150" name="Freeform 150"/>
                <p:cNvSpPr/>
                <p:nvPr/>
              </p:nvSpPr>
              <p:spPr>
                <a:xfrm>
                  <a:off x="8789988" y="4953000"/>
                  <a:ext cx="100013" cy="9525"/>
                </a:xfrm>
                <a:custGeom>
                  <a:avLst/>
                  <a:gdLst/>
                  <a:ahLst/>
                  <a:cxnLst/>
                  <a:rect l="l" t="t" r="r" b="b"/>
                  <a:pathLst>
                    <a:path w="100013" h="9525">
                      <a:moveTo>
                        <a:pt x="0" y="0"/>
                      </a:moveTo>
                      <a:lnTo>
                        <a:pt x="100013" y="0"/>
                      </a:lnTo>
                    </a:path>
                  </a:pathLst>
                </a:custGeom>
                <a:noFill/>
                <a:ln w="22225">
                  <a:solidFill>
                    <a:srgbClr val="7C3B2F"/>
                  </a:solidFill>
                </a:ln>
              </p:spPr>
            </p:sp>
            <p:sp>
              <p:nvSpPr>
                <p:cNvPr id="151" name="Freeform 151"/>
                <p:cNvSpPr/>
                <p:nvPr/>
              </p:nvSpPr>
              <p:spPr>
                <a:xfrm>
                  <a:off x="8789988" y="5019676"/>
                  <a:ext cx="100013" cy="9525"/>
                </a:xfrm>
                <a:custGeom>
                  <a:avLst/>
                  <a:gdLst/>
                  <a:ahLst/>
                  <a:cxnLst/>
                  <a:rect l="l" t="t" r="r" b="b"/>
                  <a:pathLst>
                    <a:path w="100013" h="9525">
                      <a:moveTo>
                        <a:pt x="0" y="0"/>
                      </a:moveTo>
                      <a:lnTo>
                        <a:pt x="100013" y="0"/>
                      </a:lnTo>
                    </a:path>
                  </a:pathLst>
                </a:custGeom>
                <a:noFill/>
                <a:ln w="22225">
                  <a:solidFill>
                    <a:srgbClr val="7C3B2F"/>
                  </a:solidFill>
                </a:ln>
              </p:spPr>
            </p:sp>
          </p:grpSp>
          <p:sp>
            <p:nvSpPr>
              <p:cNvPr id="153" name="TextBox 153"/>
              <p:cNvSpPr txBox="1"/>
              <p:nvPr/>
            </p:nvSpPr>
            <p:spPr>
              <a:xfrm>
                <a:off x="9101138" y="4779645"/>
                <a:ext cx="494157"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试点清单</a:t>
                </a:r>
              </a:p>
            </p:txBody>
          </p:sp>
          <p:sp>
            <p:nvSpPr>
              <p:cNvPr id="154" name="TextBox 154"/>
              <p:cNvSpPr txBox="1"/>
              <p:nvPr/>
            </p:nvSpPr>
            <p:spPr>
              <a:xfrm>
                <a:off x="9101138" y="5009436"/>
                <a:ext cx="1252068"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综合得分排序，确定试点场景</a:t>
                </a:r>
              </a:p>
            </p:txBody>
          </p:sp>
        </p:grpSp>
      </p:grpSp>
      <p:grpSp>
        <p:nvGrpSpPr>
          <p:cNvPr id="176" name="formula-band"/>
          <p:cNvGrpSpPr/>
          <p:nvPr/>
        </p:nvGrpSpPr>
        <p:grpSpPr>
          <a:xfrm>
            <a:off x="228600" y="5638800"/>
            <a:ext cx="11734800" cy="1085850"/>
            <a:chOff x="228600" y="5638800"/>
            <a:chExt cx="11734800" cy="1085850"/>
          </a:xfrm>
        </p:grpSpPr>
        <p:sp>
          <p:nvSpPr>
            <p:cNvPr id="157" name="Rectangle 157"/>
            <p:cNvSpPr/>
            <p:nvPr/>
          </p:nvSpPr>
          <p:spPr>
            <a:xfrm>
              <a:off x="228600" y="5638800"/>
              <a:ext cx="11734800" cy="1085850"/>
            </a:xfrm>
            <a:prstGeom prst="roundRect">
              <a:avLst>
                <a:gd name="adj" fmla="val 8772"/>
              </a:avLst>
            </a:prstGeom>
            <a:solidFill>
              <a:srgbClr val="F4F8EC"/>
            </a:solidFill>
            <a:ln w="9525">
              <a:solidFill>
                <a:srgbClr val="D9E8C6"/>
              </a:solidFill>
            </a:ln>
          </p:spPr>
        </p:sp>
        <p:sp>
          <p:nvSpPr>
            <p:cNvPr id="158" name="Rectangle 158"/>
            <p:cNvSpPr/>
            <p:nvPr/>
          </p:nvSpPr>
          <p:spPr>
            <a:xfrm>
              <a:off x="381000" y="5886450"/>
              <a:ext cx="990600" cy="762000"/>
            </a:xfrm>
            <a:prstGeom prst="roundRect">
              <a:avLst>
                <a:gd name="adj" fmla="val 10000"/>
              </a:avLst>
            </a:prstGeom>
            <a:solidFill>
              <a:srgbClr val="42140B"/>
            </a:solidFill>
            <a:ln>
              <a:noFill/>
            </a:ln>
          </p:spPr>
        </p:sp>
        <p:sp>
          <p:nvSpPr>
            <p:cNvPr id="159" name="TextBox 159"/>
            <p:cNvSpPr txBox="1"/>
            <p:nvPr/>
          </p:nvSpPr>
          <p:spPr>
            <a:xfrm>
              <a:off x="689800" y="6094095"/>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优先级</a:t>
              </a:r>
            </a:p>
          </p:txBody>
        </p:sp>
        <p:sp>
          <p:nvSpPr>
            <p:cNvPr id="160" name="TextBox 160"/>
            <p:cNvSpPr txBox="1"/>
            <p:nvPr/>
          </p:nvSpPr>
          <p:spPr>
            <a:xfrm>
              <a:off x="629222" y="62845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评分公式</a:t>
              </a:r>
            </a:p>
          </p:txBody>
        </p:sp>
        <p:sp>
          <p:nvSpPr>
            <p:cNvPr id="161" name="TextBox 161"/>
            <p:cNvSpPr txBox="1"/>
            <p:nvPr/>
          </p:nvSpPr>
          <p:spPr>
            <a:xfrm>
              <a:off x="1613916" y="6154102"/>
              <a:ext cx="7091440" cy="205359"/>
            </a:xfrm>
            <a:prstGeom prst="rect">
              <a:avLst/>
            </a:prstGeom>
            <a:noFill/>
            <a:ln>
              <a:noFill/>
            </a:ln>
          </p:spPr>
          <p:txBody>
            <a:bodyPr wrap="none" lIns="0" tIns="0" rIns="0" bIns="0" anchor="t" anchorCtr="0">
              <a:spAutoFit/>
            </a:bodyPr>
            <a:lstStyle/>
            <a:p>
              <a:pPr algn="l"/>
              <a:r>
                <a:rPr lang="zh-CN" sz="1050" b="1" dirty="0">
                  <a:solidFill>
                    <a:srgbClr val="42140B"/>
                  </a:solidFill>
                  <a:latin typeface="+mn-lt"/>
                  <a:ea typeface="+mn-ea"/>
                  <a:cs typeface="+mn-cs"/>
                </a:rPr>
                <a:t>S = （</a:t>
              </a:r>
              <a:r>
                <a:rPr lang="en-US" sz="1050" dirty="0">
                  <a:solidFill>
                    <a:srgbClr val="42140B"/>
                  </a:solidFill>
                  <a:latin typeface="+mn-lt"/>
                  <a:ea typeface="+mn-ea"/>
                  <a:cs typeface="+mn-cs"/>
                </a:rPr>
                <a:t>w</a:t>
              </a:r>
              <a:r>
                <a:rPr lang="zh-CN" sz="680" b="1" dirty="0">
                  <a:solidFill>
                    <a:srgbClr val="42140B"/>
                  </a:solidFill>
                  <a:latin typeface="+mn-lt"/>
                  <a:ea typeface="+mn-ea"/>
                  <a:cs typeface="+mn-cs"/>
                </a:rPr>
                <a:t>1</a:t>
              </a:r>
              <a:r>
                <a:rPr lang="zh-CN" sz="1050" b="1" dirty="0">
                  <a:solidFill>
                    <a:srgbClr val="42140B"/>
                  </a:solidFill>
                  <a:latin typeface="+mn-lt"/>
                  <a:ea typeface="+mn-ea"/>
                  <a:cs typeface="+mn-cs"/>
                </a:rPr>
                <a:t>×频次 + w</a:t>
              </a:r>
              <a:r>
                <a:rPr lang="zh-CN" sz="680" b="1" dirty="0">
                  <a:solidFill>
                    <a:srgbClr val="42140B"/>
                  </a:solidFill>
                  <a:latin typeface="+mn-lt"/>
                  <a:ea typeface="+mn-ea"/>
                  <a:cs typeface="+mn-cs"/>
                </a:rPr>
                <a:t>2</a:t>
              </a:r>
              <a:r>
                <a:rPr lang="zh-CN" sz="1050" b="1" dirty="0">
                  <a:solidFill>
                    <a:srgbClr val="42140B"/>
                  </a:solidFill>
                  <a:latin typeface="+mn-lt"/>
                  <a:ea typeface="+mn-ea"/>
                  <a:cs typeface="+mn-cs"/>
                </a:rPr>
                <a:t>×耗时 + w</a:t>
              </a:r>
              <a:r>
                <a:rPr lang="zh-CN" sz="680" b="1" dirty="0">
                  <a:solidFill>
                    <a:srgbClr val="42140B"/>
                  </a:solidFill>
                  <a:latin typeface="+mn-lt"/>
                  <a:ea typeface="+mn-ea"/>
                  <a:cs typeface="+mn-cs"/>
                </a:rPr>
                <a:t>3</a:t>
              </a:r>
              <a:r>
                <a:rPr lang="zh-CN" sz="1050" b="1" dirty="0">
                  <a:solidFill>
                    <a:srgbClr val="42140B"/>
                  </a:solidFill>
                  <a:latin typeface="+mn-lt"/>
                  <a:ea typeface="+mn-ea"/>
                  <a:cs typeface="+mn-cs"/>
                </a:rPr>
                <a:t xml:space="preserve">×错误成本）× </a:t>
              </a:r>
              <a:r>
                <a:rPr lang="zh-CN" sz="1050" b="1" dirty="0">
                  <a:solidFill>
                    <a:srgbClr val="7C3B2F"/>
                  </a:solidFill>
                  <a:latin typeface="+mn-lt"/>
                  <a:ea typeface="+mn-ea"/>
                  <a:cs typeface="+mn-cs"/>
                </a:rPr>
                <a:t>价值权重</a:t>
              </a:r>
              <a:r>
                <a:rPr lang="en-US" sz="1050" b="1" dirty="0">
                  <a:solidFill>
                    <a:srgbClr val="42140B"/>
                  </a:solidFill>
                  <a:latin typeface="+mn-lt"/>
                  <a:ea typeface="+mn-ea"/>
                  <a:cs typeface="+mn-cs"/>
                </a:rPr>
                <a:t xml:space="preserve"> + w</a:t>
              </a:r>
              <a:r>
                <a:rPr lang="zh-CN" sz="680" b="1" dirty="0">
                  <a:solidFill>
                    <a:srgbClr val="42140B"/>
                  </a:solidFill>
                  <a:latin typeface="+mn-lt"/>
                  <a:ea typeface="+mn-ea"/>
                  <a:cs typeface="+mn-cs"/>
                </a:rPr>
                <a:t>4</a:t>
              </a:r>
              <a:r>
                <a:rPr lang="zh-CN" sz="1050" b="1" dirty="0">
                  <a:solidFill>
                    <a:srgbClr val="42140B"/>
                  </a:solidFill>
                  <a:latin typeface="+mn-lt"/>
                  <a:ea typeface="+mn-ea"/>
                  <a:cs typeface="+mn-cs"/>
                </a:rPr>
                <a:t>×知识成熟度 − w</a:t>
              </a:r>
              <a:r>
                <a:rPr lang="zh-CN" sz="680" b="1" dirty="0">
                  <a:solidFill>
                    <a:srgbClr val="42140B"/>
                  </a:solidFill>
                  <a:latin typeface="+mn-lt"/>
                  <a:ea typeface="+mn-ea"/>
                  <a:cs typeface="+mn-cs"/>
                </a:rPr>
                <a:t>5</a:t>
              </a:r>
              <a:r>
                <a:rPr lang="zh-CN" sz="1050" b="1" dirty="0">
                  <a:solidFill>
                    <a:srgbClr val="42140B"/>
                  </a:solidFill>
                  <a:latin typeface="+mn-lt"/>
                  <a:ea typeface="+mn-ea"/>
                  <a:cs typeface="+mn-cs"/>
                </a:rPr>
                <a:t xml:space="preserve">×权限复杂度 − </a:t>
              </a:r>
              <a:r>
                <a:rPr lang="zh-CN" sz="1050" b="1" dirty="0">
                  <a:solidFill>
                    <a:srgbClr val="C93F27"/>
                  </a:solidFill>
                  <a:latin typeface="+mn-lt"/>
                  <a:ea typeface="+mn-ea"/>
                  <a:cs typeface="+mn-cs"/>
                </a:rPr>
                <a:t>风险惩罚</a:t>
              </a:r>
              <a:r>
                <a:rPr lang="zh-CN" sz="1050" b="1" dirty="0">
                  <a:solidFill>
                    <a:srgbClr val="42140B"/>
                  </a:solidFill>
                  <a:latin typeface="+mn-lt"/>
                  <a:ea typeface="+mn-ea"/>
                  <a:cs typeface="+mn-cs"/>
                </a:rPr>
                <a:t>​​​​​​​​</a:t>
              </a:r>
            </a:p>
          </p:txBody>
        </p:sp>
        <p:grpSp>
          <p:nvGrpSpPr>
            <p:cNvPr id="170" name="formula-annotations"/>
            <p:cNvGrpSpPr/>
            <p:nvPr/>
          </p:nvGrpSpPr>
          <p:grpSpPr>
            <a:xfrm>
              <a:off x="1771650" y="6362700"/>
              <a:ext cx="7715250" cy="190738"/>
              <a:chOff x="1771650" y="6362700"/>
              <a:chExt cx="7715250" cy="190738"/>
            </a:xfrm>
          </p:grpSpPr>
          <p:sp>
            <p:nvSpPr>
              <p:cNvPr id="162" name="TextBox 162"/>
              <p:cNvSpPr txBox="1"/>
              <p:nvPr/>
            </p:nvSpPr>
            <p:spPr>
              <a:xfrm>
                <a:off x="2643188" y="6427232"/>
                <a:ext cx="754781"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业务价值分（0-5）</a:t>
                </a:r>
              </a:p>
            </p:txBody>
          </p:sp>
          <p:sp>
            <p:nvSpPr>
              <p:cNvPr id="163" name="Line 163"/>
              <p:cNvSpPr/>
              <p:nvPr/>
            </p:nvSpPr>
            <p:spPr>
              <a:xfrm>
                <a:off x="1771650" y="6362700"/>
                <a:ext cx="1790700" cy="9525"/>
              </a:xfrm>
              <a:custGeom>
                <a:avLst/>
                <a:gdLst/>
                <a:ahLst/>
                <a:cxnLst/>
                <a:rect l="l" t="t" r="r" b="b"/>
                <a:pathLst>
                  <a:path w="1790700" h="9525">
                    <a:moveTo>
                      <a:pt x="0" y="0"/>
                    </a:moveTo>
                    <a:lnTo>
                      <a:pt x="1790700" y="0"/>
                    </a:lnTo>
                  </a:path>
                </a:pathLst>
              </a:custGeom>
              <a:noFill/>
              <a:ln w="9525">
                <a:solidFill>
                  <a:srgbClr val="BE776A"/>
                </a:solidFill>
              </a:ln>
            </p:spPr>
          </p:sp>
          <p:sp>
            <p:nvSpPr>
              <p:cNvPr id="164" name="TextBox 164"/>
              <p:cNvSpPr txBox="1"/>
              <p:nvPr/>
            </p:nvSpPr>
            <p:spPr>
              <a:xfrm>
                <a:off x="5985309" y="6427232"/>
                <a:ext cx="754781"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知识就绪分（0-5）</a:t>
                </a:r>
              </a:p>
            </p:txBody>
          </p:sp>
          <p:sp>
            <p:nvSpPr>
              <p:cNvPr id="165" name="Line 165"/>
              <p:cNvSpPr/>
              <p:nvPr/>
            </p:nvSpPr>
            <p:spPr>
              <a:xfrm>
                <a:off x="5676900" y="6362700"/>
                <a:ext cx="1390650" cy="9525"/>
              </a:xfrm>
              <a:custGeom>
                <a:avLst/>
                <a:gdLst/>
                <a:ahLst/>
                <a:cxnLst/>
                <a:rect l="l" t="t" r="r" b="b"/>
                <a:pathLst>
                  <a:path w="1390650" h="9525">
                    <a:moveTo>
                      <a:pt x="0" y="0"/>
                    </a:moveTo>
                    <a:lnTo>
                      <a:pt x="1390650" y="0"/>
                    </a:lnTo>
                  </a:path>
                </a:pathLst>
              </a:custGeom>
              <a:noFill/>
              <a:ln w="9525">
                <a:solidFill>
                  <a:srgbClr val="BE776A"/>
                </a:solidFill>
              </a:ln>
            </p:spPr>
          </p:sp>
          <p:sp>
            <p:nvSpPr>
              <p:cNvPr id="166" name="TextBox 166"/>
              <p:cNvSpPr txBox="1"/>
              <p:nvPr/>
            </p:nvSpPr>
            <p:spPr>
              <a:xfrm>
                <a:off x="7628588" y="6427232"/>
                <a:ext cx="668625"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可行性分（0-5）</a:t>
                </a:r>
              </a:p>
            </p:txBody>
          </p:sp>
          <p:sp>
            <p:nvSpPr>
              <p:cNvPr id="167" name="Line 167"/>
              <p:cNvSpPr/>
              <p:nvPr/>
            </p:nvSpPr>
            <p:spPr>
              <a:xfrm>
                <a:off x="7372350" y="6362700"/>
                <a:ext cx="1181100" cy="9525"/>
              </a:xfrm>
              <a:custGeom>
                <a:avLst/>
                <a:gdLst/>
                <a:ahLst/>
                <a:cxnLst/>
                <a:rect l="l" t="t" r="r" b="b"/>
                <a:pathLst>
                  <a:path w="1181100" h="9525">
                    <a:moveTo>
                      <a:pt x="0" y="0"/>
                    </a:moveTo>
                    <a:lnTo>
                      <a:pt x="1181100" y="0"/>
                    </a:lnTo>
                  </a:path>
                </a:pathLst>
              </a:custGeom>
              <a:noFill/>
              <a:ln w="9525">
                <a:solidFill>
                  <a:srgbClr val="BE776A"/>
                </a:solidFill>
              </a:ln>
            </p:spPr>
          </p:sp>
          <p:sp>
            <p:nvSpPr>
              <p:cNvPr id="168" name="TextBox 168"/>
              <p:cNvSpPr txBox="1"/>
              <p:nvPr/>
            </p:nvSpPr>
            <p:spPr>
              <a:xfrm>
                <a:off x="8690409" y="6427232"/>
                <a:ext cx="754781"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风险惩罚分（0-5）</a:t>
                </a:r>
              </a:p>
            </p:txBody>
          </p:sp>
          <p:sp>
            <p:nvSpPr>
              <p:cNvPr id="169" name="Line 169"/>
              <p:cNvSpPr/>
              <p:nvPr/>
            </p:nvSpPr>
            <p:spPr>
              <a:xfrm>
                <a:off x="8648700" y="6362700"/>
                <a:ext cx="838200" cy="9525"/>
              </a:xfrm>
              <a:custGeom>
                <a:avLst/>
                <a:gdLst/>
                <a:ahLst/>
                <a:cxnLst/>
                <a:rect l="l" t="t" r="r" b="b"/>
                <a:pathLst>
                  <a:path w="838200" h="9525">
                    <a:moveTo>
                      <a:pt x="0" y="0"/>
                    </a:moveTo>
                    <a:lnTo>
                      <a:pt x="838200" y="0"/>
                    </a:lnTo>
                  </a:path>
                </a:pathLst>
              </a:custGeom>
              <a:noFill/>
              <a:ln w="9525">
                <a:solidFill>
                  <a:srgbClr val="BE776A"/>
                </a:solidFill>
              </a:ln>
            </p:spPr>
          </p:sp>
        </p:grpSp>
        <p:grpSp>
          <p:nvGrpSpPr>
            <p:cNvPr id="175" name="formula-notes"/>
            <p:cNvGrpSpPr/>
            <p:nvPr/>
          </p:nvGrpSpPr>
          <p:grpSpPr>
            <a:xfrm>
              <a:off x="9825038" y="5817632"/>
              <a:ext cx="1388034" cy="640556"/>
              <a:chOff x="9825038" y="5817632"/>
              <a:chExt cx="1388034" cy="640556"/>
            </a:xfrm>
          </p:grpSpPr>
          <p:sp>
            <p:nvSpPr>
              <p:cNvPr id="171" name="TextBox 171"/>
              <p:cNvSpPr txBox="1"/>
              <p:nvPr/>
            </p:nvSpPr>
            <p:spPr>
              <a:xfrm>
                <a:off x="9825038" y="5817632"/>
                <a:ext cx="1230461" cy="126206"/>
              </a:xfrm>
              <a:prstGeom prst="rect">
                <a:avLst/>
              </a:prstGeom>
              <a:noFill/>
              <a:ln>
                <a:noFill/>
              </a:ln>
            </p:spPr>
            <p:txBody>
              <a:bodyPr wrap="none" lIns="0" tIns="0" rIns="0" bIns="0" anchor="t" anchorCtr="0">
                <a:spAutoFit/>
              </a:bodyPr>
              <a:lstStyle/>
              <a:p>
                <a:pPr algn="l"/>
                <a:r>
                  <a:rPr lang="en-US" sz="640" dirty="0">
                    <a:solidFill>
                      <a:srgbClr val="3A4238"/>
                    </a:solidFill>
                    <a:latin typeface="+mn-lt"/>
                    <a:ea typeface="+mn-ea"/>
                    <a:cs typeface="+mn-cs"/>
                  </a:rPr>
                  <a:t>w</a:t>
                </a:r>
                <a:r>
                  <a:rPr lang="en-US" sz="490" dirty="0">
                    <a:solidFill>
                      <a:srgbClr val="3A4238"/>
                    </a:solidFill>
                    <a:latin typeface="+mn-lt"/>
                    <a:ea typeface="+mn-ea"/>
                    <a:cs typeface="+mn-cs"/>
                  </a:rPr>
                  <a:t>n</a:t>
                </a:r>
                <a:r>
                  <a:rPr lang="zh-CN" sz="640" dirty="0">
                    <a:solidFill>
                      <a:srgbClr val="3A4238"/>
                    </a:solidFill>
                    <a:latin typeface="+mn-lt"/>
                    <a:ea typeface="+mn-ea"/>
                    <a:cs typeface="+mn-cs"/>
                  </a:rPr>
                  <a:t>：权重（根据组织战略调整）</a:t>
                </a:r>
              </a:p>
            </p:txBody>
          </p:sp>
          <p:sp>
            <p:nvSpPr>
              <p:cNvPr id="172" name="TextBox 172"/>
              <p:cNvSpPr txBox="1"/>
              <p:nvPr/>
            </p:nvSpPr>
            <p:spPr>
              <a:xfrm>
                <a:off x="9825038" y="5989082"/>
                <a:ext cx="104340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价值权重：体现业务侧偏好</a:t>
                </a:r>
              </a:p>
            </p:txBody>
          </p:sp>
          <p:sp>
            <p:nvSpPr>
              <p:cNvPr id="173" name="TextBox 173"/>
              <p:cNvSpPr txBox="1"/>
              <p:nvPr/>
            </p:nvSpPr>
            <p:spPr>
              <a:xfrm>
                <a:off x="9825038" y="6160532"/>
                <a:ext cx="1388034"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风险惩罚：风险等级对应的扣分因子</a:t>
                </a:r>
              </a:p>
            </p:txBody>
          </p:sp>
          <p:sp>
            <p:nvSpPr>
              <p:cNvPr id="174" name="TextBox 174"/>
              <p:cNvSpPr txBox="1"/>
              <p:nvPr/>
            </p:nvSpPr>
            <p:spPr>
              <a:xfrm>
                <a:off x="9825038" y="6331982"/>
                <a:ext cx="1336340"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（低 = 0，中 = 1，高 = 2）​​​​​​</a:t>
                </a:r>
              </a:p>
            </p:txBody>
          </p:sp>
        </p:grpSp>
      </p:gr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05</a:t>
              </a:r>
            </a:p>
          </p:txBody>
        </p:sp>
        <p:sp>
          <p:nvSpPr>
            <p:cNvPr id="4" name="TextBox 4"/>
            <p:cNvSpPr txBox="1"/>
            <p:nvPr/>
          </p:nvSpPr>
          <p:spPr>
            <a:xfrm>
              <a:off x="942594" y="151448"/>
              <a:ext cx="6422506" cy="381381"/>
            </a:xfrm>
            <a:prstGeom prst="rect">
              <a:avLst/>
            </a:prstGeom>
            <a:noFill/>
            <a:ln>
              <a:noFill/>
            </a:ln>
          </p:spPr>
          <p:txBody>
            <a:bodyPr wrap="none" lIns="0" tIns="0" rIns="0" bIns="0" anchor="t" anchorCtr="0">
              <a:spAutoFit/>
            </a:bodyPr>
            <a:lstStyle/>
            <a:p>
              <a:pPr algn="l"/>
              <a:r>
                <a:rPr lang="zh-CN" sz="1950" b="1" dirty="0">
                  <a:solidFill>
                    <a:srgbClr val="42140B"/>
                  </a:solidFill>
                  <a:latin typeface="SimSun"/>
                  <a:ea typeface="SimSun"/>
                  <a:cs typeface="SimSun"/>
                </a:rPr>
                <a:t>知识资产治理</a:t>
              </a:r>
              <a:r>
                <a:rPr lang="zh-CN" sz="1950" b="1" dirty="0">
                  <a:solidFill>
                    <a:srgbClr val="1A1A1A"/>
                  </a:solidFill>
                  <a:latin typeface="SimSun"/>
                  <a:ea typeface="SimSun"/>
                  <a:cs typeface="SimSun"/>
                </a:rPr>
                <a:t>决定AI知识库的</a:t>
              </a:r>
              <a:r>
                <a:rPr lang="zh-CN" sz="1950" b="1" dirty="0">
                  <a:solidFill>
                    <a:srgbClr val="7C3B2F"/>
                  </a:solidFill>
                  <a:latin typeface="SimSun"/>
                  <a:ea typeface="SimSun"/>
                  <a:cs typeface="SimSun"/>
                </a:rPr>
                <a:t>上限</a:t>
              </a:r>
              <a:r>
                <a:rPr lang="zh-CN" sz="1950" b="1" dirty="0">
                  <a:solidFill>
                    <a:srgbClr val="1A1A1A"/>
                  </a:solidFill>
                  <a:latin typeface="SimSun"/>
                  <a:ea typeface="SimSun"/>
                  <a:cs typeface="SimSun"/>
                </a:rPr>
                <a:t>，而不是模型参数</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128" name="lifecycle-ring"/>
          <p:cNvGrpSpPr/>
          <p:nvPr/>
        </p:nvGrpSpPr>
        <p:grpSpPr>
          <a:xfrm>
            <a:off x="285750" y="685800"/>
            <a:ext cx="4191000" cy="3790950"/>
            <a:chOff x="285750" y="685800"/>
            <a:chExt cx="4191000" cy="3790950"/>
          </a:xfrm>
        </p:grpSpPr>
        <p:sp>
          <p:nvSpPr>
            <p:cNvPr id="7" name="Rectangle 7"/>
            <p:cNvSpPr/>
            <p:nvPr/>
          </p:nvSpPr>
          <p:spPr>
            <a:xfrm>
              <a:off x="285750" y="685800"/>
              <a:ext cx="1524000" cy="247650"/>
            </a:xfrm>
            <a:prstGeom prst="roundRect">
              <a:avLst>
                <a:gd name="adj" fmla="val 23077"/>
              </a:avLst>
            </a:prstGeom>
            <a:solidFill>
              <a:srgbClr val="42140B"/>
            </a:solidFill>
            <a:ln>
              <a:noFill/>
            </a:ln>
          </p:spPr>
        </p:sp>
        <p:sp>
          <p:nvSpPr>
            <p:cNvPr id="8" name="TextBox 8"/>
            <p:cNvSpPr txBox="1"/>
            <p:nvPr/>
          </p:nvSpPr>
          <p:spPr>
            <a:xfrm>
              <a:off x="536816" y="756047"/>
              <a:ext cx="102186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知识资产生命周期</a:t>
              </a:r>
            </a:p>
          </p:txBody>
        </p:sp>
        <p:grpSp>
          <p:nvGrpSpPr>
            <p:cNvPr id="17" name="ring-arcs"/>
            <p:cNvGrpSpPr/>
            <p:nvPr/>
          </p:nvGrpSpPr>
          <p:grpSpPr>
            <a:xfrm>
              <a:off x="1533525" y="1533525"/>
              <a:ext cx="2647950" cy="2647950"/>
              <a:chOff x="1533525" y="1533525"/>
              <a:chExt cx="2647950" cy="2647950"/>
            </a:xfrm>
          </p:grpSpPr>
          <p:sp>
            <p:nvSpPr>
              <p:cNvPr id="9" name="Freeform 9"/>
              <p:cNvSpPr/>
              <p:nvPr/>
            </p:nvSpPr>
            <p:spPr>
              <a:xfrm>
                <a:off x="3134678" y="1553528"/>
                <a:ext cx="543877" cy="253365"/>
              </a:xfrm>
              <a:custGeom>
                <a:avLst/>
                <a:gdLst/>
                <a:ahLst/>
                <a:cxnLst/>
                <a:rect l="l" t="t" r="r" b="b"/>
                <a:pathLst>
                  <a:path w="543877" h="253365">
                    <a:moveTo>
                      <a:pt x="0" y="0"/>
                    </a:moveTo>
                    <a:cubicBezTo>
                      <a:pt x="198185" y="42043"/>
                      <a:pt x="384185" y="128691"/>
                      <a:pt x="543877" y="253365"/>
                    </a:cubicBezTo>
                  </a:path>
                </a:pathLst>
              </a:custGeom>
              <a:noFill/>
              <a:ln w="15240">
                <a:solidFill>
                  <a:srgbClr val="BE776A"/>
                </a:solidFill>
                <a:custDash>
                  <a:ds d="312500" sp="250000"/>
                </a:custDash>
                <a:tailEnd type="arrow" w="lg" len="lg"/>
              </a:ln>
            </p:spPr>
          </p:sp>
          <p:sp>
            <p:nvSpPr>
              <p:cNvPr id="10" name="Freeform 10"/>
              <p:cNvSpPr/>
              <p:nvPr/>
            </p:nvSpPr>
            <p:spPr>
              <a:xfrm>
                <a:off x="3975735" y="2130742"/>
                <a:ext cx="205740" cy="563880"/>
              </a:xfrm>
              <a:custGeom>
                <a:avLst/>
                <a:gdLst/>
                <a:ahLst/>
                <a:cxnLst/>
                <a:rect l="l" t="t" r="r" b="b"/>
                <a:pathLst>
                  <a:path w="205740" h="563880">
                    <a:moveTo>
                      <a:pt x="0" y="0"/>
                    </a:moveTo>
                    <a:cubicBezTo>
                      <a:pt x="110541" y="169882"/>
                      <a:pt x="180904" y="362727"/>
                      <a:pt x="205740" y="563880"/>
                    </a:cubicBezTo>
                  </a:path>
                </a:pathLst>
              </a:custGeom>
              <a:noFill/>
              <a:ln w="15240">
                <a:solidFill>
                  <a:srgbClr val="BE776A"/>
                </a:solidFill>
                <a:custDash>
                  <a:ds d="312500" sp="250000"/>
                </a:custDash>
                <a:tailEnd type="arrow" w="lg" len="lg"/>
              </a:ln>
            </p:spPr>
          </p:sp>
          <p:sp>
            <p:nvSpPr>
              <p:cNvPr id="11" name="Freeform 11"/>
              <p:cNvSpPr/>
              <p:nvPr/>
            </p:nvSpPr>
            <p:spPr>
              <a:xfrm>
                <a:off x="3908108" y="3134678"/>
                <a:ext cx="253365" cy="543877"/>
              </a:xfrm>
              <a:custGeom>
                <a:avLst/>
                <a:gdLst/>
                <a:ahLst/>
                <a:cxnLst/>
                <a:rect l="l" t="t" r="r" b="b"/>
                <a:pathLst>
                  <a:path w="253365" h="543877">
                    <a:moveTo>
                      <a:pt x="253365" y="0"/>
                    </a:moveTo>
                    <a:cubicBezTo>
                      <a:pt x="211322" y="198185"/>
                      <a:pt x="124674" y="384185"/>
                      <a:pt x="0" y="543877"/>
                    </a:cubicBezTo>
                  </a:path>
                </a:pathLst>
              </a:custGeom>
              <a:noFill/>
              <a:ln w="15240">
                <a:solidFill>
                  <a:srgbClr val="BE776A"/>
                </a:solidFill>
                <a:custDash>
                  <a:ds d="312500" sp="250000"/>
                </a:custDash>
                <a:tailEnd type="arrow" w="lg" len="lg"/>
              </a:ln>
            </p:spPr>
          </p:sp>
          <p:sp>
            <p:nvSpPr>
              <p:cNvPr id="12" name="Freeform 12"/>
              <p:cNvSpPr/>
              <p:nvPr/>
            </p:nvSpPr>
            <p:spPr>
              <a:xfrm>
                <a:off x="3020378" y="3975735"/>
                <a:ext cx="563880" cy="205740"/>
              </a:xfrm>
              <a:custGeom>
                <a:avLst/>
                <a:gdLst/>
                <a:ahLst/>
                <a:cxnLst/>
                <a:rect l="l" t="t" r="r" b="b"/>
                <a:pathLst>
                  <a:path w="563880" h="205740">
                    <a:moveTo>
                      <a:pt x="563880" y="0"/>
                    </a:moveTo>
                    <a:cubicBezTo>
                      <a:pt x="393998" y="110541"/>
                      <a:pt x="201153" y="180904"/>
                      <a:pt x="0" y="205740"/>
                    </a:cubicBezTo>
                  </a:path>
                </a:pathLst>
              </a:custGeom>
              <a:noFill/>
              <a:ln w="15240">
                <a:solidFill>
                  <a:srgbClr val="BE776A"/>
                </a:solidFill>
                <a:custDash>
                  <a:ds d="312500" sp="250000"/>
                </a:custDash>
                <a:tailEnd type="arrow" w="lg" len="lg"/>
              </a:ln>
            </p:spPr>
          </p:sp>
          <p:sp>
            <p:nvSpPr>
              <p:cNvPr id="13" name="Freeform 13"/>
              <p:cNvSpPr/>
              <p:nvPr/>
            </p:nvSpPr>
            <p:spPr>
              <a:xfrm>
                <a:off x="2036445" y="3908108"/>
                <a:ext cx="543877" cy="253365"/>
              </a:xfrm>
              <a:custGeom>
                <a:avLst/>
                <a:gdLst/>
                <a:ahLst/>
                <a:cxnLst/>
                <a:rect l="l" t="t" r="r" b="b"/>
                <a:pathLst>
                  <a:path w="543877" h="253365">
                    <a:moveTo>
                      <a:pt x="543877" y="253365"/>
                    </a:moveTo>
                    <a:cubicBezTo>
                      <a:pt x="345692" y="211322"/>
                      <a:pt x="159692" y="124674"/>
                      <a:pt x="0" y="0"/>
                    </a:cubicBezTo>
                  </a:path>
                </a:pathLst>
              </a:custGeom>
              <a:noFill/>
              <a:ln w="15240">
                <a:solidFill>
                  <a:srgbClr val="BE776A"/>
                </a:solidFill>
                <a:custDash>
                  <a:ds d="312500" sp="250000"/>
                </a:custDash>
                <a:tailEnd type="arrow" w="lg" len="lg"/>
              </a:ln>
            </p:spPr>
          </p:sp>
          <p:sp>
            <p:nvSpPr>
              <p:cNvPr id="14" name="Freeform 14"/>
              <p:cNvSpPr/>
              <p:nvPr/>
            </p:nvSpPr>
            <p:spPr>
              <a:xfrm>
                <a:off x="1533525" y="3020378"/>
                <a:ext cx="205740" cy="563880"/>
              </a:xfrm>
              <a:custGeom>
                <a:avLst/>
                <a:gdLst/>
                <a:ahLst/>
                <a:cxnLst/>
                <a:rect l="l" t="t" r="r" b="b"/>
                <a:pathLst>
                  <a:path w="205740" h="563880">
                    <a:moveTo>
                      <a:pt x="205740" y="563880"/>
                    </a:moveTo>
                    <a:cubicBezTo>
                      <a:pt x="95199" y="393998"/>
                      <a:pt x="24836" y="201153"/>
                      <a:pt x="0" y="0"/>
                    </a:cubicBezTo>
                  </a:path>
                </a:pathLst>
              </a:custGeom>
              <a:noFill/>
              <a:ln w="15240">
                <a:solidFill>
                  <a:srgbClr val="BE776A"/>
                </a:solidFill>
                <a:custDash>
                  <a:ds d="312500" sp="250000"/>
                </a:custDash>
                <a:tailEnd type="arrow" w="lg" len="lg"/>
              </a:ln>
            </p:spPr>
          </p:sp>
          <p:sp>
            <p:nvSpPr>
              <p:cNvPr id="15" name="Freeform 15"/>
              <p:cNvSpPr/>
              <p:nvPr/>
            </p:nvSpPr>
            <p:spPr>
              <a:xfrm>
                <a:off x="1553528" y="2036445"/>
                <a:ext cx="253365" cy="543877"/>
              </a:xfrm>
              <a:custGeom>
                <a:avLst/>
                <a:gdLst/>
                <a:ahLst/>
                <a:cxnLst/>
                <a:rect l="l" t="t" r="r" b="b"/>
                <a:pathLst>
                  <a:path w="253365" h="543877">
                    <a:moveTo>
                      <a:pt x="0" y="543877"/>
                    </a:moveTo>
                    <a:cubicBezTo>
                      <a:pt x="42043" y="345692"/>
                      <a:pt x="128691" y="159692"/>
                      <a:pt x="253365" y="0"/>
                    </a:cubicBezTo>
                  </a:path>
                </a:pathLst>
              </a:custGeom>
              <a:noFill/>
              <a:ln w="15240">
                <a:solidFill>
                  <a:srgbClr val="BE776A"/>
                </a:solidFill>
                <a:custDash>
                  <a:ds d="312500" sp="250000"/>
                </a:custDash>
                <a:tailEnd type="arrow" w="lg" len="lg"/>
              </a:ln>
            </p:spPr>
          </p:sp>
          <p:sp>
            <p:nvSpPr>
              <p:cNvPr id="16" name="Freeform 16"/>
              <p:cNvSpPr/>
              <p:nvPr/>
            </p:nvSpPr>
            <p:spPr>
              <a:xfrm>
                <a:off x="2130742" y="1533525"/>
                <a:ext cx="563880" cy="205740"/>
              </a:xfrm>
              <a:custGeom>
                <a:avLst/>
                <a:gdLst/>
                <a:ahLst/>
                <a:cxnLst/>
                <a:rect l="l" t="t" r="r" b="b"/>
                <a:pathLst>
                  <a:path w="563880" h="205740">
                    <a:moveTo>
                      <a:pt x="0" y="205740"/>
                    </a:moveTo>
                    <a:cubicBezTo>
                      <a:pt x="169882" y="95199"/>
                      <a:pt x="362727" y="24836"/>
                      <a:pt x="563880" y="0"/>
                    </a:cubicBezTo>
                  </a:path>
                </a:pathLst>
              </a:custGeom>
              <a:noFill/>
              <a:ln w="15240">
                <a:solidFill>
                  <a:srgbClr val="BE776A"/>
                </a:solidFill>
                <a:custDash>
                  <a:ds d="312500" sp="250000"/>
                </a:custDash>
                <a:tailEnd type="arrow" w="lg" len="lg"/>
              </a:ln>
            </p:spPr>
          </p:sp>
        </p:grpSp>
        <p:grpSp>
          <p:nvGrpSpPr>
            <p:cNvPr id="23" name="ring-core"/>
            <p:cNvGrpSpPr/>
            <p:nvPr/>
          </p:nvGrpSpPr>
          <p:grpSpPr>
            <a:xfrm>
              <a:off x="2324100" y="2324100"/>
              <a:ext cx="1066800" cy="1066800"/>
              <a:chOff x="2324100" y="2324100"/>
              <a:chExt cx="1066800" cy="1066800"/>
            </a:xfrm>
          </p:grpSpPr>
          <p:sp>
            <p:nvSpPr>
              <p:cNvPr id="18" name="Ellipse 18"/>
              <p:cNvSpPr/>
              <p:nvPr/>
            </p:nvSpPr>
            <p:spPr>
              <a:xfrm>
                <a:off x="2324100" y="2324100"/>
                <a:ext cx="1066800" cy="1066800"/>
              </a:xfrm>
              <a:prstGeom prst="ellipse">
                <a:avLst/>
              </a:prstGeom>
              <a:gradFill>
                <a:gsLst>
                  <a:gs pos="0">
                    <a:srgbClr val="643228"/>
                  </a:gs>
                  <a:gs pos="100000">
                    <a:srgbClr val="42140B"/>
                  </a:gs>
                </a:gsLst>
                <a:lin ang="2700000" scaled="1"/>
              </a:gradFill>
              <a:ln>
                <a:noFill/>
              </a:ln>
            </p:spPr>
          </p:sp>
          <p:grpSp>
            <p:nvGrpSpPr>
              <p:cNvPr id="21" name="Group 21"/>
              <p:cNvGrpSpPr/>
              <p:nvPr/>
            </p:nvGrpSpPr>
            <p:grpSpPr>
              <a:xfrm>
                <a:off x="2758921" y="2524125"/>
                <a:ext cx="186006" cy="171450"/>
                <a:chOff x="2758921" y="2524125"/>
                <a:chExt cx="186006" cy="171450"/>
              </a:xfrm>
            </p:grpSpPr>
            <p:sp>
              <p:nvSpPr>
                <p:cNvPr id="19" name="Freeform 19"/>
                <p:cNvSpPr/>
                <p:nvPr/>
              </p:nvSpPr>
              <p:spPr>
                <a:xfrm>
                  <a:off x="2758921" y="25241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FFFFFF"/>
                  </a:solidFill>
                </a:ln>
              </p:spPr>
            </p:sp>
            <p:sp>
              <p:nvSpPr>
                <p:cNvPr id="20" name="Freeform 20"/>
                <p:cNvSpPr/>
                <p:nvPr/>
              </p:nvSpPr>
              <p:spPr>
                <a:xfrm>
                  <a:off x="2886075" y="265747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22" name="TextBox 22"/>
              <p:cNvSpPr txBox="1"/>
              <p:nvPr/>
            </p:nvSpPr>
            <p:spPr>
              <a:xfrm>
                <a:off x="2505418" y="284059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可信知识资产</a:t>
                </a:r>
              </a:p>
            </p:txBody>
          </p:sp>
        </p:grpSp>
        <p:grpSp>
          <p:nvGrpSpPr>
            <p:cNvPr id="81" name="ring-attrs"/>
            <p:cNvGrpSpPr/>
            <p:nvPr/>
          </p:nvGrpSpPr>
          <p:grpSpPr>
            <a:xfrm>
              <a:off x="1945754" y="1984534"/>
              <a:ext cx="1777721" cy="1809750"/>
              <a:chOff x="1945754" y="1984534"/>
              <a:chExt cx="1777721" cy="1809750"/>
            </a:xfrm>
          </p:grpSpPr>
          <p:sp>
            <p:nvSpPr>
              <p:cNvPr id="24" name="Ellipse 24"/>
              <p:cNvSpPr/>
              <p:nvPr/>
            </p:nvSpPr>
            <p:spPr>
              <a:xfrm>
                <a:off x="2752725" y="2105025"/>
                <a:ext cx="209550" cy="209550"/>
              </a:xfrm>
              <a:prstGeom prst="ellipse">
                <a:avLst/>
              </a:prstGeom>
              <a:solidFill>
                <a:srgbClr val="FFFFFF"/>
              </a:solidFill>
              <a:ln w="9525">
                <a:solidFill>
                  <a:srgbClr val="BE776A"/>
                </a:solidFill>
              </a:ln>
            </p:spPr>
          </p:sp>
          <p:grpSp>
            <p:nvGrpSpPr>
              <p:cNvPr id="29" name="Group 29"/>
              <p:cNvGrpSpPr/>
              <p:nvPr/>
            </p:nvGrpSpPr>
            <p:grpSpPr>
              <a:xfrm>
                <a:off x="2814638" y="2166938"/>
                <a:ext cx="85725" cy="85725"/>
                <a:chOff x="2814638" y="2166938"/>
                <a:chExt cx="85725" cy="85725"/>
              </a:xfrm>
            </p:grpSpPr>
            <p:sp>
              <p:nvSpPr>
                <p:cNvPr id="25" name="Freeform 25"/>
                <p:cNvSpPr/>
                <p:nvPr/>
              </p:nvSpPr>
              <p:spPr>
                <a:xfrm>
                  <a:off x="2824162" y="21669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7C3B2F"/>
                  </a:solidFill>
                </a:ln>
              </p:spPr>
            </p:sp>
            <p:sp>
              <p:nvSpPr>
                <p:cNvPr id="26" name="Freeform 26"/>
                <p:cNvSpPr/>
                <p:nvPr/>
              </p:nvSpPr>
              <p:spPr>
                <a:xfrm>
                  <a:off x="2814638" y="222408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7C3B2F"/>
                  </a:solidFill>
                </a:ln>
              </p:spPr>
            </p:sp>
            <p:sp>
              <p:nvSpPr>
                <p:cNvPr id="27" name="Freeform 27"/>
                <p:cNvSpPr/>
                <p:nvPr/>
              </p:nvSpPr>
              <p:spPr>
                <a:xfrm>
                  <a:off x="2876550" y="216755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7C3B2F"/>
                  </a:solidFill>
                </a:ln>
              </p:spPr>
            </p:sp>
            <p:sp>
              <p:nvSpPr>
                <p:cNvPr id="28" name="Freeform 28"/>
                <p:cNvSpPr/>
                <p:nvPr/>
              </p:nvSpPr>
              <p:spPr>
                <a:xfrm>
                  <a:off x="2886075" y="2224802"/>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7C3B2F"/>
                  </a:solidFill>
                </a:ln>
              </p:spPr>
            </p:sp>
          </p:grpSp>
          <p:sp>
            <p:nvSpPr>
              <p:cNvPr id="30" name="TextBox 30"/>
              <p:cNvSpPr txBox="1"/>
              <p:nvPr/>
            </p:nvSpPr>
            <p:spPr>
              <a:xfrm>
                <a:off x="2706927" y="1984534"/>
                <a:ext cx="301145" cy="133350"/>
              </a:xfrm>
              <a:prstGeom prst="rect">
                <a:avLst/>
              </a:prstGeom>
              <a:noFill/>
              <a:ln>
                <a:noFill/>
              </a:ln>
            </p:spPr>
            <p:txBody>
              <a:bodyPr wrap="none" lIns="0" tIns="0" rIns="0" bIns="0" anchor="t" anchorCtr="0">
                <a:spAutoFit/>
              </a:bodyPr>
              <a:lstStyle/>
              <a:p>
                <a:pPr algn="ctr"/>
                <a:r>
                  <a:rPr lang="en-US" sz="680" dirty="0">
                    <a:solidFill>
                      <a:srgbClr val="3A4238"/>
                    </a:solidFill>
                    <a:latin typeface="+mn-lt"/>
                    <a:ea typeface="+mn-ea"/>
                    <a:cs typeface="+mn-cs"/>
                  </a:rPr>
                  <a:t>Owner</a:t>
                </a:r>
              </a:p>
            </p:txBody>
          </p:sp>
          <p:sp>
            <p:nvSpPr>
              <p:cNvPr id="31" name="Ellipse 31"/>
              <p:cNvSpPr/>
              <p:nvPr/>
            </p:nvSpPr>
            <p:spPr>
              <a:xfrm>
                <a:off x="3343275" y="2162175"/>
                <a:ext cx="209550" cy="209550"/>
              </a:xfrm>
              <a:prstGeom prst="ellipse">
                <a:avLst/>
              </a:prstGeom>
              <a:solidFill>
                <a:srgbClr val="FFFFFF"/>
              </a:solidFill>
              <a:ln w="9525">
                <a:solidFill>
                  <a:srgbClr val="BE776A"/>
                </a:solidFill>
              </a:ln>
            </p:spPr>
          </p:sp>
          <p:grpSp>
            <p:nvGrpSpPr>
              <p:cNvPr id="40" name="Group 40"/>
              <p:cNvGrpSpPr/>
              <p:nvPr/>
            </p:nvGrpSpPr>
            <p:grpSpPr>
              <a:xfrm>
                <a:off x="3405188" y="2224088"/>
                <a:ext cx="90487" cy="95249"/>
                <a:chOff x="3405188" y="2224088"/>
                <a:chExt cx="90487" cy="95249"/>
              </a:xfrm>
            </p:grpSpPr>
            <p:sp>
              <p:nvSpPr>
                <p:cNvPr id="32" name="Freeform 32"/>
                <p:cNvSpPr/>
                <p:nvPr/>
              </p:nvSpPr>
              <p:spPr>
                <a:xfrm>
                  <a:off x="3405188" y="2309812"/>
                  <a:ext cx="85725" cy="9525"/>
                </a:xfrm>
                <a:custGeom>
                  <a:avLst/>
                  <a:gdLst/>
                  <a:ahLst/>
                  <a:cxnLst/>
                  <a:rect l="l" t="t" r="r" b="b"/>
                  <a:pathLst>
                    <a:path w="85725" h="9525">
                      <a:moveTo>
                        <a:pt x="0" y="0"/>
                      </a:moveTo>
                      <a:lnTo>
                        <a:pt x="85725" y="0"/>
                      </a:lnTo>
                    </a:path>
                  </a:pathLst>
                </a:custGeom>
                <a:noFill/>
                <a:ln w="9525">
                  <a:solidFill>
                    <a:srgbClr val="7C3B2F"/>
                  </a:solidFill>
                </a:ln>
              </p:spPr>
            </p:sp>
            <p:sp>
              <p:nvSpPr>
                <p:cNvPr id="33" name="Freeform 33"/>
                <p:cNvSpPr/>
                <p:nvPr/>
              </p:nvSpPr>
              <p:spPr>
                <a:xfrm>
                  <a:off x="3405188" y="2257425"/>
                  <a:ext cx="85725" cy="9525"/>
                </a:xfrm>
                <a:custGeom>
                  <a:avLst/>
                  <a:gdLst/>
                  <a:ahLst/>
                  <a:cxnLst/>
                  <a:rect l="l" t="t" r="r" b="b"/>
                  <a:pathLst>
                    <a:path w="85725" h="9525">
                      <a:moveTo>
                        <a:pt x="0" y="0"/>
                      </a:moveTo>
                      <a:lnTo>
                        <a:pt x="85725" y="0"/>
                      </a:lnTo>
                    </a:path>
                  </a:pathLst>
                </a:custGeom>
                <a:noFill/>
                <a:ln w="9525">
                  <a:solidFill>
                    <a:srgbClr val="7C3B2F"/>
                  </a:solidFill>
                </a:ln>
              </p:spPr>
            </p:sp>
            <p:sp>
              <p:nvSpPr>
                <p:cNvPr id="34" name="Freeform 34"/>
                <p:cNvSpPr/>
                <p:nvPr/>
              </p:nvSpPr>
              <p:spPr>
                <a:xfrm>
                  <a:off x="3414712" y="2224088"/>
                  <a:ext cx="66675" cy="14288"/>
                </a:xfrm>
                <a:custGeom>
                  <a:avLst/>
                  <a:gdLst/>
                  <a:ahLst/>
                  <a:cxnLst/>
                  <a:rect l="l" t="t" r="r" b="b"/>
                  <a:pathLst>
                    <a:path w="66675" h="14288">
                      <a:moveTo>
                        <a:pt x="0" y="14288"/>
                      </a:moveTo>
                      <a:lnTo>
                        <a:pt x="33338" y="0"/>
                      </a:lnTo>
                      <a:lnTo>
                        <a:pt x="66675" y="14288"/>
                      </a:lnTo>
                    </a:path>
                  </a:pathLst>
                </a:custGeom>
                <a:noFill/>
                <a:ln w="9525">
                  <a:solidFill>
                    <a:srgbClr val="7C3B2F"/>
                  </a:solidFill>
                </a:ln>
              </p:spPr>
            </p:sp>
            <p:sp>
              <p:nvSpPr>
                <p:cNvPr id="35" name="Freeform 35"/>
                <p:cNvSpPr/>
                <p:nvPr/>
              </p:nvSpPr>
              <p:spPr>
                <a:xfrm>
                  <a:off x="3409950" y="2257425"/>
                  <a:ext cx="9525" cy="52388"/>
                </a:xfrm>
                <a:custGeom>
                  <a:avLst/>
                  <a:gdLst/>
                  <a:ahLst/>
                  <a:cxnLst/>
                  <a:rect l="l" t="t" r="r" b="b"/>
                  <a:pathLst>
                    <a:path w="9525" h="52388">
                      <a:moveTo>
                        <a:pt x="0" y="0"/>
                      </a:moveTo>
                      <a:lnTo>
                        <a:pt x="0" y="52388"/>
                      </a:lnTo>
                    </a:path>
                  </a:pathLst>
                </a:custGeom>
                <a:noFill/>
                <a:ln w="9525">
                  <a:solidFill>
                    <a:srgbClr val="7C3B2F"/>
                  </a:solidFill>
                </a:ln>
              </p:spPr>
            </p:sp>
            <p:sp>
              <p:nvSpPr>
                <p:cNvPr id="36" name="Freeform 36"/>
                <p:cNvSpPr/>
                <p:nvPr/>
              </p:nvSpPr>
              <p:spPr>
                <a:xfrm>
                  <a:off x="3486150" y="2257425"/>
                  <a:ext cx="9525" cy="52388"/>
                </a:xfrm>
                <a:custGeom>
                  <a:avLst/>
                  <a:gdLst/>
                  <a:ahLst/>
                  <a:cxnLst/>
                  <a:rect l="l" t="t" r="r" b="b"/>
                  <a:pathLst>
                    <a:path w="9525" h="52388">
                      <a:moveTo>
                        <a:pt x="0" y="0"/>
                      </a:moveTo>
                      <a:lnTo>
                        <a:pt x="0" y="52388"/>
                      </a:lnTo>
                    </a:path>
                  </a:pathLst>
                </a:custGeom>
                <a:noFill/>
                <a:ln w="9525">
                  <a:solidFill>
                    <a:srgbClr val="7C3B2F"/>
                  </a:solidFill>
                </a:ln>
              </p:spPr>
            </p:sp>
            <p:sp>
              <p:nvSpPr>
                <p:cNvPr id="37" name="Freeform 37"/>
                <p:cNvSpPr/>
                <p:nvPr/>
              </p:nvSpPr>
              <p:spPr>
                <a:xfrm>
                  <a:off x="3429000" y="2276475"/>
                  <a:ext cx="9525" cy="14288"/>
                </a:xfrm>
                <a:custGeom>
                  <a:avLst/>
                  <a:gdLst/>
                  <a:ahLst/>
                  <a:cxnLst/>
                  <a:rect l="l" t="t" r="r" b="b"/>
                  <a:pathLst>
                    <a:path w="9525" h="14288">
                      <a:moveTo>
                        <a:pt x="0" y="0"/>
                      </a:moveTo>
                      <a:lnTo>
                        <a:pt x="0" y="14288"/>
                      </a:lnTo>
                    </a:path>
                  </a:pathLst>
                </a:custGeom>
                <a:noFill/>
                <a:ln w="9525">
                  <a:solidFill>
                    <a:srgbClr val="7C3B2F"/>
                  </a:solidFill>
                </a:ln>
              </p:spPr>
            </p:sp>
            <p:sp>
              <p:nvSpPr>
                <p:cNvPr id="38" name="Freeform 38"/>
                <p:cNvSpPr/>
                <p:nvPr/>
              </p:nvSpPr>
              <p:spPr>
                <a:xfrm>
                  <a:off x="3448050" y="2276475"/>
                  <a:ext cx="9525" cy="14288"/>
                </a:xfrm>
                <a:custGeom>
                  <a:avLst/>
                  <a:gdLst/>
                  <a:ahLst/>
                  <a:cxnLst/>
                  <a:rect l="l" t="t" r="r" b="b"/>
                  <a:pathLst>
                    <a:path w="9525" h="14288">
                      <a:moveTo>
                        <a:pt x="0" y="0"/>
                      </a:moveTo>
                      <a:lnTo>
                        <a:pt x="0" y="14288"/>
                      </a:lnTo>
                    </a:path>
                  </a:pathLst>
                </a:custGeom>
                <a:noFill/>
                <a:ln w="9525">
                  <a:solidFill>
                    <a:srgbClr val="7C3B2F"/>
                  </a:solidFill>
                </a:ln>
              </p:spPr>
            </p:sp>
            <p:sp>
              <p:nvSpPr>
                <p:cNvPr id="39" name="Freeform 39"/>
                <p:cNvSpPr/>
                <p:nvPr/>
              </p:nvSpPr>
              <p:spPr>
                <a:xfrm>
                  <a:off x="3467100" y="2276475"/>
                  <a:ext cx="9525" cy="14288"/>
                </a:xfrm>
                <a:custGeom>
                  <a:avLst/>
                  <a:gdLst/>
                  <a:ahLst/>
                  <a:cxnLst/>
                  <a:rect l="l" t="t" r="r" b="b"/>
                  <a:pathLst>
                    <a:path w="9525" h="14288">
                      <a:moveTo>
                        <a:pt x="0" y="0"/>
                      </a:moveTo>
                      <a:lnTo>
                        <a:pt x="0" y="14288"/>
                      </a:lnTo>
                    </a:path>
                  </a:pathLst>
                </a:custGeom>
                <a:noFill/>
                <a:ln w="9525">
                  <a:solidFill>
                    <a:srgbClr val="7C3B2F"/>
                  </a:solidFill>
                </a:ln>
              </p:spPr>
            </p:sp>
          </p:grpSp>
          <p:sp>
            <p:nvSpPr>
              <p:cNvPr id="41" name="TextBox 41"/>
              <p:cNvSpPr txBox="1"/>
              <p:nvPr/>
            </p:nvSpPr>
            <p:spPr>
              <a:xfrm>
                <a:off x="3260204" y="2422684"/>
                <a:ext cx="375691"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权威来源</a:t>
                </a:r>
              </a:p>
            </p:txBody>
          </p:sp>
          <p:sp>
            <p:nvSpPr>
              <p:cNvPr id="42" name="Ellipse 42"/>
              <p:cNvSpPr/>
              <p:nvPr/>
            </p:nvSpPr>
            <p:spPr>
              <a:xfrm>
                <a:off x="3476625" y="2752725"/>
                <a:ext cx="209550" cy="209550"/>
              </a:xfrm>
              <a:prstGeom prst="ellipse">
                <a:avLst/>
              </a:prstGeom>
              <a:solidFill>
                <a:srgbClr val="FFFFFF"/>
              </a:solidFill>
              <a:ln w="9525">
                <a:solidFill>
                  <a:srgbClr val="BE776A"/>
                </a:solidFill>
              </a:ln>
            </p:spPr>
          </p:sp>
          <p:grpSp>
            <p:nvGrpSpPr>
              <p:cNvPr id="49" name="Group 49"/>
              <p:cNvGrpSpPr/>
              <p:nvPr/>
            </p:nvGrpSpPr>
            <p:grpSpPr>
              <a:xfrm>
                <a:off x="3543300" y="2814638"/>
                <a:ext cx="76200" cy="85724"/>
                <a:chOff x="3543300" y="2814638"/>
                <a:chExt cx="76200" cy="85724"/>
              </a:xfrm>
            </p:grpSpPr>
            <p:sp>
              <p:nvSpPr>
                <p:cNvPr id="43" name="Freeform 43"/>
                <p:cNvSpPr/>
                <p:nvPr/>
              </p:nvSpPr>
              <p:spPr>
                <a:xfrm>
                  <a:off x="3543300" y="2824162"/>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7C3B2F"/>
                  </a:solidFill>
                </a:ln>
              </p:spPr>
            </p:sp>
            <p:sp>
              <p:nvSpPr>
                <p:cNvPr id="44" name="Freeform 44"/>
                <p:cNvSpPr/>
                <p:nvPr/>
              </p:nvSpPr>
              <p:spPr>
                <a:xfrm>
                  <a:off x="3600450" y="2814638"/>
                  <a:ext cx="9525" cy="19050"/>
                </a:xfrm>
                <a:custGeom>
                  <a:avLst/>
                  <a:gdLst/>
                  <a:ahLst/>
                  <a:cxnLst/>
                  <a:rect l="l" t="t" r="r" b="b"/>
                  <a:pathLst>
                    <a:path w="9525" h="19050">
                      <a:moveTo>
                        <a:pt x="0" y="0"/>
                      </a:moveTo>
                      <a:lnTo>
                        <a:pt x="0" y="19050"/>
                      </a:lnTo>
                    </a:path>
                  </a:pathLst>
                </a:custGeom>
                <a:noFill/>
                <a:ln w="9525">
                  <a:solidFill>
                    <a:srgbClr val="7C3B2F"/>
                  </a:solidFill>
                </a:ln>
              </p:spPr>
            </p:sp>
            <p:sp>
              <p:nvSpPr>
                <p:cNvPr id="45" name="Freeform 45"/>
                <p:cNvSpPr/>
                <p:nvPr/>
              </p:nvSpPr>
              <p:spPr>
                <a:xfrm>
                  <a:off x="3562350" y="2814638"/>
                  <a:ext cx="9525" cy="19050"/>
                </a:xfrm>
                <a:custGeom>
                  <a:avLst/>
                  <a:gdLst/>
                  <a:ahLst/>
                  <a:cxnLst/>
                  <a:rect l="l" t="t" r="r" b="b"/>
                  <a:pathLst>
                    <a:path w="9525" h="19050">
                      <a:moveTo>
                        <a:pt x="0" y="0"/>
                      </a:moveTo>
                      <a:lnTo>
                        <a:pt x="0" y="19050"/>
                      </a:lnTo>
                    </a:path>
                  </a:pathLst>
                </a:custGeom>
                <a:noFill/>
                <a:ln w="9525">
                  <a:solidFill>
                    <a:srgbClr val="7C3B2F"/>
                  </a:solidFill>
                </a:ln>
              </p:spPr>
            </p:sp>
            <p:sp>
              <p:nvSpPr>
                <p:cNvPr id="46" name="Freeform 46"/>
                <p:cNvSpPr/>
                <p:nvPr/>
              </p:nvSpPr>
              <p:spPr>
                <a:xfrm>
                  <a:off x="3543300" y="2852738"/>
                  <a:ext cx="76200" cy="9525"/>
                </a:xfrm>
                <a:custGeom>
                  <a:avLst/>
                  <a:gdLst/>
                  <a:ahLst/>
                  <a:cxnLst/>
                  <a:rect l="l" t="t" r="r" b="b"/>
                  <a:pathLst>
                    <a:path w="76200" h="9525">
                      <a:moveTo>
                        <a:pt x="0" y="0"/>
                      </a:moveTo>
                      <a:lnTo>
                        <a:pt x="76200" y="0"/>
                      </a:lnTo>
                    </a:path>
                  </a:pathLst>
                </a:custGeom>
                <a:noFill/>
                <a:ln w="9525">
                  <a:solidFill>
                    <a:srgbClr val="7C3B2F"/>
                  </a:solidFill>
                </a:ln>
              </p:spPr>
            </p:sp>
            <p:sp>
              <p:nvSpPr>
                <p:cNvPr id="47" name="Freeform 47"/>
                <p:cNvSpPr/>
                <p:nvPr/>
              </p:nvSpPr>
              <p:spPr>
                <a:xfrm>
                  <a:off x="3576638" y="2871788"/>
                  <a:ext cx="9525" cy="9525"/>
                </a:xfrm>
                <a:custGeom>
                  <a:avLst/>
                  <a:gdLst/>
                  <a:ahLst/>
                  <a:cxnLst/>
                  <a:rect l="l" t="t" r="r" b="b"/>
                  <a:pathLst>
                    <a:path w="9525" h="9525">
                      <a:moveTo>
                        <a:pt x="0" y="0"/>
                      </a:moveTo>
                      <a:lnTo>
                        <a:pt x="4762" y="0"/>
                      </a:lnTo>
                    </a:path>
                  </a:pathLst>
                </a:custGeom>
                <a:noFill/>
                <a:ln w="9525">
                  <a:solidFill>
                    <a:srgbClr val="7C3B2F"/>
                  </a:solidFill>
                </a:ln>
              </p:spPr>
            </p:sp>
            <p:sp>
              <p:nvSpPr>
                <p:cNvPr id="48" name="Freeform 48"/>
                <p:cNvSpPr/>
                <p:nvPr/>
              </p:nvSpPr>
              <p:spPr>
                <a:xfrm>
                  <a:off x="3581400" y="2871788"/>
                  <a:ext cx="9525" cy="14288"/>
                </a:xfrm>
                <a:custGeom>
                  <a:avLst/>
                  <a:gdLst/>
                  <a:ahLst/>
                  <a:cxnLst/>
                  <a:rect l="l" t="t" r="r" b="b"/>
                  <a:pathLst>
                    <a:path w="9525" h="14288">
                      <a:moveTo>
                        <a:pt x="0" y="0"/>
                      </a:moveTo>
                      <a:lnTo>
                        <a:pt x="0" y="14288"/>
                      </a:lnTo>
                    </a:path>
                  </a:pathLst>
                </a:custGeom>
                <a:noFill/>
                <a:ln w="9525">
                  <a:solidFill>
                    <a:srgbClr val="7C3B2F"/>
                  </a:solidFill>
                </a:ln>
              </p:spPr>
            </p:sp>
          </p:grpSp>
          <p:sp>
            <p:nvSpPr>
              <p:cNvPr id="50" name="TextBox 50"/>
              <p:cNvSpPr txBox="1"/>
              <p:nvPr/>
            </p:nvSpPr>
            <p:spPr>
              <a:xfrm>
                <a:off x="3439325" y="3013234"/>
                <a:ext cx="284150"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有效期</a:t>
                </a:r>
              </a:p>
            </p:txBody>
          </p:sp>
          <p:sp>
            <p:nvSpPr>
              <p:cNvPr id="51" name="Ellipse 51"/>
              <p:cNvSpPr/>
              <p:nvPr/>
            </p:nvSpPr>
            <p:spPr>
              <a:xfrm>
                <a:off x="3343275" y="3343275"/>
                <a:ext cx="209550" cy="209550"/>
              </a:xfrm>
              <a:prstGeom prst="ellipse">
                <a:avLst/>
              </a:prstGeom>
              <a:solidFill>
                <a:srgbClr val="FFFFFF"/>
              </a:solidFill>
              <a:ln w="9525">
                <a:solidFill>
                  <a:srgbClr val="BE776A"/>
                </a:solidFill>
              </a:ln>
            </p:spPr>
          </p:sp>
          <p:grpSp>
            <p:nvGrpSpPr>
              <p:cNvPr id="55" name="Group 55"/>
              <p:cNvGrpSpPr/>
              <p:nvPr/>
            </p:nvGrpSpPr>
            <p:grpSpPr>
              <a:xfrm>
                <a:off x="3414712" y="3405188"/>
                <a:ext cx="66675" cy="85725"/>
                <a:chOff x="3414712" y="3405188"/>
                <a:chExt cx="66675" cy="85725"/>
              </a:xfrm>
            </p:grpSpPr>
            <p:sp>
              <p:nvSpPr>
                <p:cNvPr id="52" name="Freeform 52"/>
                <p:cNvSpPr/>
                <p:nvPr/>
              </p:nvSpPr>
              <p:spPr>
                <a:xfrm>
                  <a:off x="3414712" y="3443288"/>
                  <a:ext cx="66675" cy="47625"/>
                </a:xfrm>
                <a:custGeom>
                  <a:avLst/>
                  <a:gdLst/>
                  <a:ahLst/>
                  <a:cxnLst/>
                  <a:rect l="l" t="t" r="r" b="b"/>
                  <a:pathLst>
                    <a:path w="66675" h="47625">
                      <a:moveTo>
                        <a:pt x="0" y="9525"/>
                      </a:moveTo>
                      <a:cubicBezTo>
                        <a:pt x="0" y="4264"/>
                        <a:pt x="4264" y="0"/>
                        <a:pt x="9525" y="0"/>
                      </a:cubicBezTo>
                      <a:lnTo>
                        <a:pt x="57150" y="0"/>
                      </a:lnTo>
                      <a:cubicBezTo>
                        <a:pt x="62411" y="0"/>
                        <a:pt x="66675" y="4264"/>
                        <a:pt x="66675" y="9525"/>
                      </a:cubicBezTo>
                      <a:lnTo>
                        <a:pt x="66675" y="38100"/>
                      </a:lnTo>
                      <a:cubicBezTo>
                        <a:pt x="66675" y="43361"/>
                        <a:pt x="62411" y="47625"/>
                        <a:pt x="57150" y="47625"/>
                      </a:cubicBezTo>
                      <a:lnTo>
                        <a:pt x="9525" y="47625"/>
                      </a:lnTo>
                      <a:cubicBezTo>
                        <a:pt x="4264" y="47625"/>
                        <a:pt x="0" y="43361"/>
                        <a:pt x="0" y="38100"/>
                      </a:cubicBezTo>
                      <a:lnTo>
                        <a:pt x="0" y="9525"/>
                      </a:lnTo>
                    </a:path>
                  </a:pathLst>
                </a:custGeom>
                <a:noFill/>
                <a:ln w="9525">
                  <a:solidFill>
                    <a:srgbClr val="7C3B2F"/>
                  </a:solidFill>
                </a:ln>
              </p:spPr>
            </p:sp>
            <p:sp>
              <p:nvSpPr>
                <p:cNvPr id="53" name="Freeform 53"/>
                <p:cNvSpPr/>
                <p:nvPr/>
              </p:nvSpPr>
              <p:spPr>
                <a:xfrm>
                  <a:off x="3443288" y="346233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7C3B2F"/>
                  </a:solidFill>
                </a:ln>
              </p:spPr>
            </p:sp>
            <p:sp>
              <p:nvSpPr>
                <p:cNvPr id="54" name="Freeform 54"/>
                <p:cNvSpPr/>
                <p:nvPr/>
              </p:nvSpPr>
              <p:spPr>
                <a:xfrm>
                  <a:off x="3429000" y="3405188"/>
                  <a:ext cx="38100" cy="38100"/>
                </a:xfrm>
                <a:custGeom>
                  <a:avLst/>
                  <a:gdLst/>
                  <a:ahLst/>
                  <a:cxnLst/>
                  <a:rect l="l" t="t" r="r" b="b"/>
                  <a:pathLst>
                    <a:path w="38100" h="38100">
                      <a:moveTo>
                        <a:pt x="0" y="38100"/>
                      </a:moveTo>
                      <a:lnTo>
                        <a:pt x="0" y="19050"/>
                      </a:lnTo>
                      <a:cubicBezTo>
                        <a:pt x="0" y="8529"/>
                        <a:pt x="8529" y="0"/>
                        <a:pt x="19050" y="0"/>
                      </a:cubicBezTo>
                      <a:cubicBezTo>
                        <a:pt x="29571" y="0"/>
                        <a:pt x="38100" y="8529"/>
                        <a:pt x="38100" y="19050"/>
                      </a:cubicBezTo>
                      <a:lnTo>
                        <a:pt x="38100" y="38100"/>
                      </a:lnTo>
                    </a:path>
                  </a:pathLst>
                </a:custGeom>
                <a:noFill/>
                <a:ln w="9525">
                  <a:solidFill>
                    <a:srgbClr val="7C3B2F"/>
                  </a:solidFill>
                </a:ln>
              </p:spPr>
            </p:sp>
          </p:grpSp>
          <p:sp>
            <p:nvSpPr>
              <p:cNvPr id="56" name="TextBox 56"/>
              <p:cNvSpPr txBox="1"/>
              <p:nvPr/>
            </p:nvSpPr>
            <p:spPr>
              <a:xfrm>
                <a:off x="3351746" y="3603784"/>
                <a:ext cx="192608"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密级</a:t>
                </a:r>
              </a:p>
            </p:txBody>
          </p:sp>
          <p:sp>
            <p:nvSpPr>
              <p:cNvPr id="57" name="Ellipse 57"/>
              <p:cNvSpPr/>
              <p:nvPr/>
            </p:nvSpPr>
            <p:spPr>
              <a:xfrm>
                <a:off x="2752725" y="3400425"/>
                <a:ext cx="209550" cy="209550"/>
              </a:xfrm>
              <a:prstGeom prst="ellipse">
                <a:avLst/>
              </a:prstGeom>
              <a:solidFill>
                <a:srgbClr val="FFFFFF"/>
              </a:solidFill>
              <a:ln w="9525">
                <a:solidFill>
                  <a:srgbClr val="BE776A"/>
                </a:solidFill>
              </a:ln>
            </p:spPr>
          </p:sp>
          <p:grpSp>
            <p:nvGrpSpPr>
              <p:cNvPr id="61" name="Group 61"/>
              <p:cNvGrpSpPr/>
              <p:nvPr/>
            </p:nvGrpSpPr>
            <p:grpSpPr>
              <a:xfrm>
                <a:off x="2814638" y="3462338"/>
                <a:ext cx="85725" cy="85725"/>
                <a:chOff x="2814638" y="3462338"/>
                <a:chExt cx="85725" cy="85725"/>
              </a:xfrm>
            </p:grpSpPr>
            <p:sp>
              <p:nvSpPr>
                <p:cNvPr id="58" name="Freeform 58"/>
                <p:cNvSpPr/>
                <p:nvPr/>
              </p:nvSpPr>
              <p:spPr>
                <a:xfrm>
                  <a:off x="2852738" y="350043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7C3B2F"/>
                  </a:solidFill>
                </a:ln>
              </p:spPr>
            </p:sp>
            <p:sp>
              <p:nvSpPr>
                <p:cNvPr id="59" name="Freeform 59"/>
                <p:cNvSpPr/>
                <p:nvPr/>
              </p:nvSpPr>
              <p:spPr>
                <a:xfrm>
                  <a:off x="2833688" y="348138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7C3B2F"/>
                  </a:solidFill>
                </a:ln>
              </p:spPr>
            </p:sp>
            <p:sp>
              <p:nvSpPr>
                <p:cNvPr id="60" name="Freeform 60"/>
                <p:cNvSpPr/>
                <p:nvPr/>
              </p:nvSpPr>
              <p:spPr>
                <a:xfrm>
                  <a:off x="2814638" y="34623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7C3B2F"/>
                  </a:solidFill>
                </a:ln>
              </p:spPr>
            </p:sp>
          </p:grpSp>
          <p:sp>
            <p:nvSpPr>
              <p:cNvPr id="62" name="TextBox 62"/>
              <p:cNvSpPr txBox="1"/>
              <p:nvPr/>
            </p:nvSpPr>
            <p:spPr>
              <a:xfrm>
                <a:off x="2669654" y="3660934"/>
                <a:ext cx="375691"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适用范围</a:t>
                </a:r>
              </a:p>
            </p:txBody>
          </p:sp>
          <p:sp>
            <p:nvSpPr>
              <p:cNvPr id="63" name="Ellipse 63"/>
              <p:cNvSpPr/>
              <p:nvPr/>
            </p:nvSpPr>
            <p:spPr>
              <a:xfrm>
                <a:off x="2162175" y="3343275"/>
                <a:ext cx="209550" cy="209550"/>
              </a:xfrm>
              <a:prstGeom prst="ellipse">
                <a:avLst/>
              </a:prstGeom>
              <a:solidFill>
                <a:srgbClr val="FFFFFF"/>
              </a:solidFill>
              <a:ln w="9525">
                <a:solidFill>
                  <a:srgbClr val="BE776A"/>
                </a:solidFill>
              </a:ln>
            </p:spPr>
          </p:sp>
          <p:grpSp>
            <p:nvGrpSpPr>
              <p:cNvPr id="67" name="Group 67"/>
              <p:cNvGrpSpPr/>
              <p:nvPr/>
            </p:nvGrpSpPr>
            <p:grpSpPr>
              <a:xfrm>
                <a:off x="2228850" y="3405188"/>
                <a:ext cx="76200" cy="85724"/>
                <a:chOff x="2228850" y="3405188"/>
                <a:chExt cx="76200" cy="85724"/>
              </a:xfrm>
            </p:grpSpPr>
            <p:sp>
              <p:nvSpPr>
                <p:cNvPr id="64" name="Freeform 64"/>
                <p:cNvSpPr/>
                <p:nvPr/>
              </p:nvSpPr>
              <p:spPr>
                <a:xfrm>
                  <a:off x="2228850" y="3405188"/>
                  <a:ext cx="76200" cy="28575"/>
                </a:xfrm>
                <a:custGeom>
                  <a:avLst/>
                  <a:gdLst/>
                  <a:ahLst/>
                  <a:cxnLst/>
                  <a:rect l="l" t="t" r="r" b="b"/>
                  <a:pathLst>
                    <a:path w="76200" h="28575">
                      <a:moveTo>
                        <a:pt x="0" y="14288"/>
                      </a:moveTo>
                      <a:cubicBezTo>
                        <a:pt x="0" y="22178"/>
                        <a:pt x="17058" y="28575"/>
                        <a:pt x="38100" y="28575"/>
                      </a:cubicBezTo>
                      <a:cubicBezTo>
                        <a:pt x="59142" y="28575"/>
                        <a:pt x="76200" y="22178"/>
                        <a:pt x="76200" y="14288"/>
                      </a:cubicBezTo>
                      <a:cubicBezTo>
                        <a:pt x="76200" y="6397"/>
                        <a:pt x="59142" y="0"/>
                        <a:pt x="38100" y="0"/>
                      </a:cubicBezTo>
                      <a:cubicBezTo>
                        <a:pt x="17058" y="0"/>
                        <a:pt x="0" y="6397"/>
                        <a:pt x="0" y="14288"/>
                      </a:cubicBezTo>
                    </a:path>
                  </a:pathLst>
                </a:custGeom>
                <a:noFill/>
                <a:ln w="9525">
                  <a:solidFill>
                    <a:srgbClr val="7C3B2F"/>
                  </a:solidFill>
                </a:ln>
              </p:spPr>
            </p:sp>
            <p:sp>
              <p:nvSpPr>
                <p:cNvPr id="65" name="Freeform 65"/>
                <p:cNvSpPr/>
                <p:nvPr/>
              </p:nvSpPr>
              <p:spPr>
                <a:xfrm>
                  <a:off x="2228850" y="3419475"/>
                  <a:ext cx="76200" cy="42862"/>
                </a:xfrm>
                <a:custGeom>
                  <a:avLst/>
                  <a:gdLst/>
                  <a:ahLst/>
                  <a:cxnLst/>
                  <a:rect l="l" t="t" r="r" b="b"/>
                  <a:pathLst>
                    <a:path w="76200" h="42862">
                      <a:moveTo>
                        <a:pt x="0" y="0"/>
                      </a:moveTo>
                      <a:lnTo>
                        <a:pt x="0" y="28575"/>
                      </a:lnTo>
                      <a:cubicBezTo>
                        <a:pt x="0" y="36466"/>
                        <a:pt x="17058" y="42862"/>
                        <a:pt x="38100" y="42862"/>
                      </a:cubicBezTo>
                      <a:cubicBezTo>
                        <a:pt x="59142" y="42862"/>
                        <a:pt x="76200" y="36466"/>
                        <a:pt x="76200" y="28575"/>
                      </a:cubicBezTo>
                      <a:lnTo>
                        <a:pt x="76200" y="0"/>
                      </a:lnTo>
                    </a:path>
                  </a:pathLst>
                </a:custGeom>
                <a:noFill/>
                <a:ln w="9525">
                  <a:solidFill>
                    <a:srgbClr val="7C3B2F"/>
                  </a:solidFill>
                </a:ln>
              </p:spPr>
            </p:sp>
            <p:sp>
              <p:nvSpPr>
                <p:cNvPr id="66" name="Freeform 66"/>
                <p:cNvSpPr/>
                <p:nvPr/>
              </p:nvSpPr>
              <p:spPr>
                <a:xfrm>
                  <a:off x="2228850" y="3448050"/>
                  <a:ext cx="76200" cy="42862"/>
                </a:xfrm>
                <a:custGeom>
                  <a:avLst/>
                  <a:gdLst/>
                  <a:ahLst/>
                  <a:cxnLst/>
                  <a:rect l="l" t="t" r="r" b="b"/>
                  <a:pathLst>
                    <a:path w="76200" h="42862">
                      <a:moveTo>
                        <a:pt x="0" y="0"/>
                      </a:moveTo>
                      <a:lnTo>
                        <a:pt x="0" y="28575"/>
                      </a:lnTo>
                      <a:cubicBezTo>
                        <a:pt x="0" y="36466"/>
                        <a:pt x="17058" y="42862"/>
                        <a:pt x="38100" y="42862"/>
                      </a:cubicBezTo>
                      <a:cubicBezTo>
                        <a:pt x="59142" y="42862"/>
                        <a:pt x="76200" y="36466"/>
                        <a:pt x="76200" y="28575"/>
                      </a:cubicBezTo>
                      <a:lnTo>
                        <a:pt x="76200" y="0"/>
                      </a:lnTo>
                    </a:path>
                  </a:pathLst>
                </a:custGeom>
                <a:noFill/>
                <a:ln w="9525">
                  <a:solidFill>
                    <a:srgbClr val="7C3B2F"/>
                  </a:solidFill>
                </a:ln>
              </p:spPr>
            </p:sp>
          </p:grpSp>
          <p:sp>
            <p:nvSpPr>
              <p:cNvPr id="68" name="TextBox 68"/>
              <p:cNvSpPr txBox="1"/>
              <p:nvPr/>
            </p:nvSpPr>
            <p:spPr>
              <a:xfrm>
                <a:off x="2170646" y="3603784"/>
                <a:ext cx="192608"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版本</a:t>
                </a:r>
              </a:p>
            </p:txBody>
          </p:sp>
          <p:sp>
            <p:nvSpPr>
              <p:cNvPr id="69" name="Ellipse 69"/>
              <p:cNvSpPr/>
              <p:nvPr/>
            </p:nvSpPr>
            <p:spPr>
              <a:xfrm>
                <a:off x="2028825" y="2752725"/>
                <a:ext cx="209550" cy="209550"/>
              </a:xfrm>
              <a:prstGeom prst="ellipse">
                <a:avLst/>
              </a:prstGeom>
              <a:solidFill>
                <a:srgbClr val="FFFFFF"/>
              </a:solidFill>
              <a:ln w="9525">
                <a:solidFill>
                  <a:srgbClr val="BE776A"/>
                </a:solidFill>
              </a:ln>
            </p:spPr>
          </p:sp>
          <p:grpSp>
            <p:nvGrpSpPr>
              <p:cNvPr id="73" name="Group 73"/>
              <p:cNvGrpSpPr/>
              <p:nvPr/>
            </p:nvGrpSpPr>
            <p:grpSpPr>
              <a:xfrm>
                <a:off x="2095499" y="2817073"/>
                <a:ext cx="78521" cy="80844"/>
                <a:chOff x="2095499" y="2817073"/>
                <a:chExt cx="78521" cy="80844"/>
              </a:xfrm>
            </p:grpSpPr>
            <p:sp>
              <p:nvSpPr>
                <p:cNvPr id="70" name="Freeform 70"/>
                <p:cNvSpPr/>
                <p:nvPr/>
              </p:nvSpPr>
              <p:spPr>
                <a:xfrm>
                  <a:off x="2119312" y="2843212"/>
                  <a:ext cx="28575" cy="28575"/>
                </a:xfrm>
                <a:custGeom>
                  <a:avLst/>
                  <a:gdLst/>
                  <a:ahLst/>
                  <a:cxnLst/>
                  <a:rect l="l" t="t" r="r" b="b"/>
                  <a:pathLst>
                    <a:path w="28575" h="28575">
                      <a:moveTo>
                        <a:pt x="0" y="28575"/>
                      </a:moveTo>
                      <a:lnTo>
                        <a:pt x="28575" y="0"/>
                      </a:lnTo>
                    </a:path>
                  </a:pathLst>
                </a:custGeom>
                <a:noFill/>
                <a:ln w="9525">
                  <a:solidFill>
                    <a:srgbClr val="7C3B2F"/>
                  </a:solidFill>
                </a:ln>
              </p:spPr>
            </p:sp>
            <p:sp>
              <p:nvSpPr>
                <p:cNvPr id="71" name="Freeform 71"/>
                <p:cNvSpPr/>
                <p:nvPr/>
              </p:nvSpPr>
              <p:spPr>
                <a:xfrm>
                  <a:off x="2128838" y="2817073"/>
                  <a:ext cx="45182" cy="45189"/>
                </a:xfrm>
                <a:custGeom>
                  <a:avLst/>
                  <a:gdLst/>
                  <a:ahLst/>
                  <a:cxnLst/>
                  <a:rect l="l" t="t" r="r" b="b"/>
                  <a:pathLst>
                    <a:path w="45182" h="45189">
                      <a:moveTo>
                        <a:pt x="0" y="11852"/>
                      </a:moveTo>
                      <a:lnTo>
                        <a:pt x="2205" y="9299"/>
                      </a:lnTo>
                      <a:cubicBezTo>
                        <a:pt x="11506" y="0"/>
                        <a:pt x="26584" y="1"/>
                        <a:pt x="35883" y="9302"/>
                      </a:cubicBezTo>
                      <a:cubicBezTo>
                        <a:pt x="45182" y="18602"/>
                        <a:pt x="45181" y="33680"/>
                        <a:pt x="35881" y="42980"/>
                      </a:cubicBezTo>
                      <a:lnTo>
                        <a:pt x="33338" y="45189"/>
                      </a:lnTo>
                    </a:path>
                  </a:pathLst>
                </a:custGeom>
                <a:noFill/>
                <a:ln w="9525">
                  <a:solidFill>
                    <a:srgbClr val="7C3B2F"/>
                  </a:solidFill>
                </a:ln>
              </p:spPr>
            </p:sp>
            <p:sp>
              <p:nvSpPr>
                <p:cNvPr id="72" name="Freeform 72"/>
                <p:cNvSpPr/>
                <p:nvPr/>
              </p:nvSpPr>
              <p:spPr>
                <a:xfrm>
                  <a:off x="2095499" y="2852738"/>
                  <a:ext cx="42863" cy="45179"/>
                </a:xfrm>
                <a:custGeom>
                  <a:avLst/>
                  <a:gdLst/>
                  <a:ahLst/>
                  <a:cxnLst/>
                  <a:rect l="l" t="t" r="r" b="b"/>
                  <a:pathLst>
                    <a:path w="42863" h="45179">
                      <a:moveTo>
                        <a:pt x="42863" y="33338"/>
                      </a:moveTo>
                      <a:lnTo>
                        <a:pt x="40972" y="35881"/>
                      </a:lnTo>
                      <a:cubicBezTo>
                        <a:pt x="31569" y="45179"/>
                        <a:pt x="16434" y="45179"/>
                        <a:pt x="7030" y="35881"/>
                      </a:cubicBezTo>
                      <a:cubicBezTo>
                        <a:pt x="2532" y="31433"/>
                        <a:pt x="0" y="25369"/>
                        <a:pt x="0" y="19043"/>
                      </a:cubicBezTo>
                      <a:cubicBezTo>
                        <a:pt x="0" y="12716"/>
                        <a:pt x="2532" y="6653"/>
                        <a:pt x="7030" y="2205"/>
                      </a:cubicBezTo>
                      <a:lnTo>
                        <a:pt x="9526" y="0"/>
                      </a:lnTo>
                    </a:path>
                  </a:pathLst>
                </a:custGeom>
                <a:noFill/>
                <a:ln w="9525">
                  <a:solidFill>
                    <a:srgbClr val="7C3B2F"/>
                  </a:solidFill>
                </a:ln>
              </p:spPr>
            </p:sp>
          </p:grpSp>
          <p:sp>
            <p:nvSpPr>
              <p:cNvPr id="74" name="TextBox 74"/>
              <p:cNvSpPr txBox="1"/>
              <p:nvPr/>
            </p:nvSpPr>
            <p:spPr>
              <a:xfrm>
                <a:off x="1945754" y="3013234"/>
                <a:ext cx="375691"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引用关系</a:t>
                </a:r>
              </a:p>
            </p:txBody>
          </p:sp>
          <p:sp>
            <p:nvSpPr>
              <p:cNvPr id="75" name="Ellipse 75"/>
              <p:cNvSpPr/>
              <p:nvPr/>
            </p:nvSpPr>
            <p:spPr>
              <a:xfrm>
                <a:off x="2162175" y="2162175"/>
                <a:ext cx="209550" cy="209550"/>
              </a:xfrm>
              <a:prstGeom prst="ellipse">
                <a:avLst/>
              </a:prstGeom>
              <a:solidFill>
                <a:srgbClr val="FFFFFF"/>
              </a:solidFill>
              <a:ln w="9525">
                <a:solidFill>
                  <a:srgbClr val="BE776A"/>
                </a:solidFill>
              </a:ln>
            </p:spPr>
          </p:sp>
          <p:grpSp>
            <p:nvGrpSpPr>
              <p:cNvPr id="79" name="Group 79"/>
              <p:cNvGrpSpPr/>
              <p:nvPr/>
            </p:nvGrpSpPr>
            <p:grpSpPr>
              <a:xfrm>
                <a:off x="2226002" y="2224088"/>
                <a:ext cx="81886" cy="85201"/>
                <a:chOff x="2226002" y="2224088"/>
                <a:chExt cx="81886" cy="85201"/>
              </a:xfrm>
            </p:grpSpPr>
            <p:sp>
              <p:nvSpPr>
                <p:cNvPr id="76" name="Freeform 76"/>
                <p:cNvSpPr/>
                <p:nvPr/>
              </p:nvSpPr>
              <p:spPr>
                <a:xfrm>
                  <a:off x="2238375" y="2224088"/>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9525">
                  <a:solidFill>
                    <a:srgbClr val="7C3B2F"/>
                  </a:solidFill>
                </a:ln>
              </p:spPr>
            </p:sp>
            <p:sp>
              <p:nvSpPr>
                <p:cNvPr id="77" name="Freeform 77"/>
                <p:cNvSpPr/>
                <p:nvPr/>
              </p:nvSpPr>
              <p:spPr>
                <a:xfrm>
                  <a:off x="2266950" y="2266950"/>
                  <a:ext cx="40938" cy="42339"/>
                </a:xfrm>
                <a:custGeom>
                  <a:avLst/>
                  <a:gdLst/>
                  <a:ahLst/>
                  <a:cxnLst/>
                  <a:rect l="l" t="t" r="r" b="b"/>
                  <a:pathLst>
                    <a:path w="40938" h="42339">
                      <a:moveTo>
                        <a:pt x="0" y="14288"/>
                      </a:moveTo>
                      <a:lnTo>
                        <a:pt x="16192" y="42339"/>
                      </a:lnTo>
                      <a:lnTo>
                        <a:pt x="23803" y="26941"/>
                      </a:lnTo>
                      <a:lnTo>
                        <a:pt x="40938" y="28046"/>
                      </a:lnTo>
                      <a:lnTo>
                        <a:pt x="24746" y="0"/>
                      </a:lnTo>
                    </a:path>
                  </a:pathLst>
                </a:custGeom>
                <a:noFill/>
                <a:ln w="9525">
                  <a:solidFill>
                    <a:srgbClr val="7C3B2F"/>
                  </a:solidFill>
                </a:ln>
              </p:spPr>
            </p:sp>
            <p:sp>
              <p:nvSpPr>
                <p:cNvPr id="78" name="Freeform 78"/>
                <p:cNvSpPr/>
                <p:nvPr/>
              </p:nvSpPr>
              <p:spPr>
                <a:xfrm>
                  <a:off x="2226002" y="2266950"/>
                  <a:ext cx="40938" cy="42334"/>
                </a:xfrm>
                <a:custGeom>
                  <a:avLst/>
                  <a:gdLst/>
                  <a:ahLst/>
                  <a:cxnLst/>
                  <a:rect l="l" t="t" r="r" b="b"/>
                  <a:pathLst>
                    <a:path w="40938" h="42334">
                      <a:moveTo>
                        <a:pt x="16193" y="0"/>
                      </a:moveTo>
                      <a:lnTo>
                        <a:pt x="0" y="28051"/>
                      </a:lnTo>
                      <a:lnTo>
                        <a:pt x="17135" y="26941"/>
                      </a:lnTo>
                      <a:lnTo>
                        <a:pt x="24746" y="42334"/>
                      </a:lnTo>
                      <a:lnTo>
                        <a:pt x="40938" y="14288"/>
                      </a:lnTo>
                    </a:path>
                  </a:pathLst>
                </a:custGeom>
                <a:noFill/>
                <a:ln w="9525">
                  <a:solidFill>
                    <a:srgbClr val="7C3B2F"/>
                  </a:solidFill>
                </a:ln>
              </p:spPr>
            </p:sp>
          </p:grpSp>
          <p:sp>
            <p:nvSpPr>
              <p:cNvPr id="80" name="TextBox 80"/>
              <p:cNvSpPr txBox="1"/>
              <p:nvPr/>
            </p:nvSpPr>
            <p:spPr>
              <a:xfrm>
                <a:off x="2079104" y="2422684"/>
                <a:ext cx="375691" cy="133350"/>
              </a:xfrm>
              <a:prstGeom prst="rect">
                <a:avLst/>
              </a:prstGeom>
              <a:noFill/>
              <a:ln>
                <a:noFill/>
              </a:ln>
            </p:spPr>
            <p:txBody>
              <a:bodyPr wrap="none" lIns="0" tIns="0" rIns="0" bIns="0" anchor="t" anchorCtr="0">
                <a:spAutoFit/>
              </a:bodyPr>
              <a:lstStyle/>
              <a:p>
                <a:pPr algn="ctr"/>
                <a:r>
                  <a:rPr lang="zh-CN" sz="680" dirty="0">
                    <a:solidFill>
                      <a:srgbClr val="3A4238"/>
                    </a:solidFill>
                    <a:latin typeface="+mn-lt"/>
                    <a:ea typeface="+mn-ea"/>
                    <a:cs typeface="+mn-cs"/>
                  </a:rPr>
                  <a:t>质量评分</a:t>
                </a:r>
              </a:p>
            </p:txBody>
          </p:sp>
        </p:grpSp>
        <p:grpSp>
          <p:nvGrpSpPr>
            <p:cNvPr id="127" name="ring-nodes"/>
            <p:cNvGrpSpPr/>
            <p:nvPr/>
          </p:nvGrpSpPr>
          <p:grpSpPr>
            <a:xfrm>
              <a:off x="1238250" y="1190625"/>
              <a:ext cx="3238500" cy="3286125"/>
              <a:chOff x="1238250" y="1190625"/>
              <a:chExt cx="3238500" cy="3286125"/>
            </a:xfrm>
          </p:grpSpPr>
          <p:sp>
            <p:nvSpPr>
              <p:cNvPr id="82" name="Ellipse 82"/>
              <p:cNvSpPr/>
              <p:nvPr/>
            </p:nvSpPr>
            <p:spPr>
              <a:xfrm>
                <a:off x="2571750" y="1190625"/>
                <a:ext cx="571500" cy="571500"/>
              </a:xfrm>
              <a:prstGeom prst="ellipse">
                <a:avLst/>
              </a:prstGeom>
              <a:solidFill>
                <a:srgbClr val="FFFFFF"/>
              </a:solidFill>
              <a:ln w="14288">
                <a:solidFill>
                  <a:srgbClr val="BE776A"/>
                </a:solidFill>
              </a:ln>
            </p:spPr>
          </p:sp>
          <p:grpSp>
            <p:nvGrpSpPr>
              <p:cNvPr id="87" name="Group 87"/>
              <p:cNvGrpSpPr/>
              <p:nvPr/>
            </p:nvGrpSpPr>
            <p:grpSpPr>
              <a:xfrm>
                <a:off x="2807494" y="1323975"/>
                <a:ext cx="107156" cy="121444"/>
                <a:chOff x="2807494" y="1323975"/>
                <a:chExt cx="107156" cy="121444"/>
              </a:xfrm>
            </p:grpSpPr>
            <p:sp>
              <p:nvSpPr>
                <p:cNvPr id="83" name="Freeform 83"/>
                <p:cNvSpPr/>
                <p:nvPr/>
              </p:nvSpPr>
              <p:spPr>
                <a:xfrm>
                  <a:off x="2807494" y="1323975"/>
                  <a:ext cx="85725" cy="114300"/>
                </a:xfrm>
                <a:custGeom>
                  <a:avLst/>
                  <a:gdLst/>
                  <a:ahLst/>
                  <a:cxnLst/>
                  <a:rect l="l" t="t" r="r" b="b"/>
                  <a:pathLst>
                    <a:path w="85725" h="114300">
                      <a:moveTo>
                        <a:pt x="32968" y="114300"/>
                      </a:moveTo>
                      <a:lnTo>
                        <a:pt x="14288" y="114300"/>
                      </a:lnTo>
                      <a:cubicBezTo>
                        <a:pt x="6397" y="114300"/>
                        <a:pt x="0" y="107903"/>
                        <a:pt x="0" y="100012"/>
                      </a:cubicBezTo>
                      <a:lnTo>
                        <a:pt x="0" y="14288"/>
                      </a:lnTo>
                      <a:cubicBezTo>
                        <a:pt x="0" y="6397"/>
                        <a:pt x="6397" y="0"/>
                        <a:pt x="14288" y="0"/>
                      </a:cubicBezTo>
                      <a:lnTo>
                        <a:pt x="71438" y="0"/>
                      </a:lnTo>
                      <a:cubicBezTo>
                        <a:pt x="79328" y="0"/>
                        <a:pt x="85725" y="6397"/>
                        <a:pt x="85725" y="14288"/>
                      </a:cubicBezTo>
                      <a:lnTo>
                        <a:pt x="85725" y="71438"/>
                      </a:lnTo>
                    </a:path>
                  </a:pathLst>
                </a:custGeom>
                <a:noFill/>
                <a:ln w="14288">
                  <a:solidFill>
                    <a:srgbClr val="7C3B2F"/>
                  </a:solidFill>
                </a:ln>
              </p:spPr>
            </p:sp>
            <p:sp>
              <p:nvSpPr>
                <p:cNvPr id="84" name="Freeform 84"/>
                <p:cNvSpPr/>
                <p:nvPr/>
              </p:nvSpPr>
              <p:spPr>
                <a:xfrm>
                  <a:off x="2871788" y="1416844"/>
                  <a:ext cx="42862" cy="28575"/>
                </a:xfrm>
                <a:custGeom>
                  <a:avLst/>
                  <a:gdLst/>
                  <a:ahLst/>
                  <a:cxnLst/>
                  <a:rect l="l" t="t" r="r" b="b"/>
                  <a:pathLst>
                    <a:path w="42862" h="28575">
                      <a:moveTo>
                        <a:pt x="0" y="14288"/>
                      </a:moveTo>
                      <a:lnTo>
                        <a:pt x="14288" y="28575"/>
                      </a:lnTo>
                      <a:lnTo>
                        <a:pt x="42862" y="0"/>
                      </a:lnTo>
                    </a:path>
                  </a:pathLst>
                </a:custGeom>
                <a:noFill/>
                <a:ln w="14288">
                  <a:solidFill>
                    <a:srgbClr val="7C3B2F"/>
                  </a:solidFill>
                </a:ln>
              </p:spPr>
            </p:sp>
            <p:sp>
              <p:nvSpPr>
                <p:cNvPr id="85" name="Freeform 85"/>
                <p:cNvSpPr/>
                <p:nvPr/>
              </p:nvSpPr>
              <p:spPr>
                <a:xfrm>
                  <a:off x="2836069" y="1352550"/>
                  <a:ext cx="28575" cy="9525"/>
                </a:xfrm>
                <a:custGeom>
                  <a:avLst/>
                  <a:gdLst/>
                  <a:ahLst/>
                  <a:cxnLst/>
                  <a:rect l="l" t="t" r="r" b="b"/>
                  <a:pathLst>
                    <a:path w="28575" h="9525">
                      <a:moveTo>
                        <a:pt x="0" y="0"/>
                      </a:moveTo>
                      <a:lnTo>
                        <a:pt x="28575" y="0"/>
                      </a:lnTo>
                    </a:path>
                  </a:pathLst>
                </a:custGeom>
                <a:noFill/>
                <a:ln w="14288">
                  <a:solidFill>
                    <a:srgbClr val="7C3B2F"/>
                  </a:solidFill>
                </a:ln>
              </p:spPr>
            </p:sp>
            <p:sp>
              <p:nvSpPr>
                <p:cNvPr id="86" name="Freeform 86"/>
                <p:cNvSpPr/>
                <p:nvPr/>
              </p:nvSpPr>
              <p:spPr>
                <a:xfrm>
                  <a:off x="2836069" y="1381125"/>
                  <a:ext cx="14288" cy="9525"/>
                </a:xfrm>
                <a:custGeom>
                  <a:avLst/>
                  <a:gdLst/>
                  <a:ahLst/>
                  <a:cxnLst/>
                  <a:rect l="l" t="t" r="r" b="b"/>
                  <a:pathLst>
                    <a:path w="14288" h="9525">
                      <a:moveTo>
                        <a:pt x="0" y="0"/>
                      </a:moveTo>
                      <a:lnTo>
                        <a:pt x="14288" y="0"/>
                      </a:lnTo>
                    </a:path>
                  </a:pathLst>
                </a:custGeom>
                <a:noFill/>
                <a:ln w="14288">
                  <a:solidFill>
                    <a:srgbClr val="7C3B2F"/>
                  </a:solidFill>
                </a:ln>
              </p:spPr>
            </p:sp>
          </p:grpSp>
          <p:sp>
            <p:nvSpPr>
              <p:cNvPr id="88" name="TextBox 88"/>
              <p:cNvSpPr txBox="1"/>
              <p:nvPr/>
            </p:nvSpPr>
            <p:spPr>
              <a:xfrm>
                <a:off x="2742349" y="1511141"/>
                <a:ext cx="230302"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盘点</a:t>
                </a:r>
              </a:p>
            </p:txBody>
          </p:sp>
          <p:sp>
            <p:nvSpPr>
              <p:cNvPr id="89" name="Ellipse 89"/>
              <p:cNvSpPr/>
              <p:nvPr/>
            </p:nvSpPr>
            <p:spPr>
              <a:xfrm>
                <a:off x="3514725" y="1628775"/>
                <a:ext cx="571500" cy="571500"/>
              </a:xfrm>
              <a:prstGeom prst="ellipse">
                <a:avLst/>
              </a:prstGeom>
              <a:solidFill>
                <a:srgbClr val="FFFFFF"/>
              </a:solidFill>
              <a:ln w="14288">
                <a:solidFill>
                  <a:srgbClr val="BE776A"/>
                </a:solidFill>
              </a:ln>
            </p:spPr>
          </p:sp>
          <p:grpSp>
            <p:nvGrpSpPr>
              <p:cNvPr id="95" name="Group 95"/>
              <p:cNvGrpSpPr/>
              <p:nvPr/>
            </p:nvGrpSpPr>
            <p:grpSpPr>
              <a:xfrm>
                <a:off x="3750469" y="1754981"/>
                <a:ext cx="100012" cy="128588"/>
                <a:chOff x="3750469" y="1754981"/>
                <a:chExt cx="100012" cy="128588"/>
              </a:xfrm>
            </p:grpSpPr>
            <p:sp>
              <p:nvSpPr>
                <p:cNvPr id="90" name="Freeform 90"/>
                <p:cNvSpPr/>
                <p:nvPr/>
              </p:nvSpPr>
              <p:spPr>
                <a:xfrm>
                  <a:off x="3814762" y="17549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7C3B2F"/>
                  </a:solidFill>
                </a:ln>
              </p:spPr>
            </p:sp>
            <p:sp>
              <p:nvSpPr>
                <p:cNvPr id="91" name="Freeform 91"/>
                <p:cNvSpPr/>
                <p:nvPr/>
              </p:nvSpPr>
              <p:spPr>
                <a:xfrm>
                  <a:off x="3750469" y="17549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7C3B2F"/>
                  </a:solidFill>
                </a:ln>
              </p:spPr>
            </p:sp>
            <p:sp>
              <p:nvSpPr>
                <p:cNvPr id="92" name="Freeform 92"/>
                <p:cNvSpPr/>
                <p:nvPr/>
              </p:nvSpPr>
              <p:spPr>
                <a:xfrm>
                  <a:off x="3779044" y="1797844"/>
                  <a:ext cx="9525" cy="9525"/>
                </a:xfrm>
                <a:custGeom>
                  <a:avLst/>
                  <a:gdLst/>
                  <a:ahLst/>
                  <a:cxnLst/>
                  <a:rect l="l" t="t" r="r" b="b"/>
                  <a:pathLst>
                    <a:path w="9525" h="9525">
                      <a:moveTo>
                        <a:pt x="0" y="0"/>
                      </a:moveTo>
                      <a:lnTo>
                        <a:pt x="7144" y="0"/>
                      </a:lnTo>
                    </a:path>
                  </a:pathLst>
                </a:custGeom>
                <a:noFill/>
                <a:ln w="14288">
                  <a:solidFill>
                    <a:srgbClr val="7C3B2F"/>
                  </a:solidFill>
                </a:ln>
              </p:spPr>
            </p:sp>
            <p:sp>
              <p:nvSpPr>
                <p:cNvPr id="93" name="Freeform 93"/>
                <p:cNvSpPr/>
                <p:nvPr/>
              </p:nvSpPr>
              <p:spPr>
                <a:xfrm>
                  <a:off x="3779044" y="1826419"/>
                  <a:ext cx="42862" cy="9525"/>
                </a:xfrm>
                <a:custGeom>
                  <a:avLst/>
                  <a:gdLst/>
                  <a:ahLst/>
                  <a:cxnLst/>
                  <a:rect l="l" t="t" r="r" b="b"/>
                  <a:pathLst>
                    <a:path w="42862" h="9525">
                      <a:moveTo>
                        <a:pt x="0" y="0"/>
                      </a:moveTo>
                      <a:lnTo>
                        <a:pt x="42862" y="0"/>
                      </a:lnTo>
                    </a:path>
                  </a:pathLst>
                </a:custGeom>
                <a:noFill/>
                <a:ln w="14288">
                  <a:solidFill>
                    <a:srgbClr val="7C3B2F"/>
                  </a:solidFill>
                </a:ln>
              </p:spPr>
            </p:sp>
            <p:sp>
              <p:nvSpPr>
                <p:cNvPr id="94" name="Freeform 94"/>
                <p:cNvSpPr/>
                <p:nvPr/>
              </p:nvSpPr>
              <p:spPr>
                <a:xfrm>
                  <a:off x="3779044" y="1854994"/>
                  <a:ext cx="42862" cy="9525"/>
                </a:xfrm>
                <a:custGeom>
                  <a:avLst/>
                  <a:gdLst/>
                  <a:ahLst/>
                  <a:cxnLst/>
                  <a:rect l="l" t="t" r="r" b="b"/>
                  <a:pathLst>
                    <a:path w="42862" h="9525">
                      <a:moveTo>
                        <a:pt x="0" y="0"/>
                      </a:moveTo>
                      <a:lnTo>
                        <a:pt x="42862" y="0"/>
                      </a:lnTo>
                    </a:path>
                  </a:pathLst>
                </a:custGeom>
                <a:noFill/>
                <a:ln w="14288">
                  <a:solidFill>
                    <a:srgbClr val="7C3B2F"/>
                  </a:solidFill>
                </a:ln>
              </p:spPr>
            </p:sp>
          </p:grpSp>
          <p:sp>
            <p:nvSpPr>
              <p:cNvPr id="96" name="TextBox 96"/>
              <p:cNvSpPr txBox="1"/>
              <p:nvPr/>
            </p:nvSpPr>
            <p:spPr>
              <a:xfrm>
                <a:off x="3685324" y="1949291"/>
                <a:ext cx="230302"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归集</a:t>
                </a:r>
              </a:p>
            </p:txBody>
          </p:sp>
          <p:sp>
            <p:nvSpPr>
              <p:cNvPr id="97" name="Ellipse 97"/>
              <p:cNvSpPr/>
              <p:nvPr/>
            </p:nvSpPr>
            <p:spPr>
              <a:xfrm>
                <a:off x="3905250" y="2571750"/>
                <a:ext cx="571500" cy="571500"/>
              </a:xfrm>
              <a:prstGeom prst="ellipse">
                <a:avLst/>
              </a:prstGeom>
              <a:solidFill>
                <a:srgbClr val="FFFFFF"/>
              </a:solidFill>
              <a:ln w="14288">
                <a:solidFill>
                  <a:srgbClr val="BE776A"/>
                </a:solidFill>
              </a:ln>
            </p:spPr>
          </p:sp>
          <p:sp>
            <p:nvSpPr>
              <p:cNvPr id="98" name="Freeform 98"/>
              <p:cNvSpPr/>
              <p:nvPr/>
            </p:nvSpPr>
            <p:spPr>
              <a:xfrm>
                <a:off x="4133850" y="2705100"/>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7C3B2F"/>
                </a:solidFill>
              </a:ln>
            </p:spPr>
          </p:sp>
          <p:sp>
            <p:nvSpPr>
              <p:cNvPr id="99" name="TextBox 99"/>
              <p:cNvSpPr txBox="1"/>
              <p:nvPr/>
            </p:nvSpPr>
            <p:spPr>
              <a:xfrm>
                <a:off x="4075849" y="2892266"/>
                <a:ext cx="230302"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清洗</a:t>
                </a:r>
              </a:p>
            </p:txBody>
          </p:sp>
          <p:sp>
            <p:nvSpPr>
              <p:cNvPr id="100" name="Ellipse 100"/>
              <p:cNvSpPr/>
              <p:nvPr/>
            </p:nvSpPr>
            <p:spPr>
              <a:xfrm>
                <a:off x="3514725" y="3514725"/>
                <a:ext cx="571500" cy="571500"/>
              </a:xfrm>
              <a:prstGeom prst="ellipse">
                <a:avLst/>
              </a:prstGeom>
              <a:solidFill>
                <a:srgbClr val="FFFFFF"/>
              </a:solidFill>
              <a:ln w="14288">
                <a:solidFill>
                  <a:srgbClr val="BE776A"/>
                </a:solidFill>
              </a:ln>
            </p:spPr>
          </p:sp>
          <p:grpSp>
            <p:nvGrpSpPr>
              <p:cNvPr id="106" name="Group 106"/>
              <p:cNvGrpSpPr/>
              <p:nvPr/>
            </p:nvGrpSpPr>
            <p:grpSpPr>
              <a:xfrm>
                <a:off x="3736181" y="3640931"/>
                <a:ext cx="128587" cy="128587"/>
                <a:chOff x="3736181" y="3640931"/>
                <a:chExt cx="128587" cy="128587"/>
              </a:xfrm>
            </p:grpSpPr>
            <p:sp>
              <p:nvSpPr>
                <p:cNvPr id="101" name="Freeform 101"/>
                <p:cNvSpPr/>
                <p:nvPr/>
              </p:nvSpPr>
              <p:spPr>
                <a:xfrm>
                  <a:off x="3736181" y="372665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C3B2F"/>
                  </a:solidFill>
                </a:ln>
              </p:spPr>
            </p:sp>
            <p:sp>
              <p:nvSpPr>
                <p:cNvPr id="102" name="Freeform 102"/>
                <p:cNvSpPr/>
                <p:nvPr/>
              </p:nvSpPr>
              <p:spPr>
                <a:xfrm>
                  <a:off x="3821906" y="372665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C3B2F"/>
                  </a:solidFill>
                </a:ln>
              </p:spPr>
            </p:sp>
            <p:sp>
              <p:nvSpPr>
                <p:cNvPr id="103" name="Freeform 103"/>
                <p:cNvSpPr/>
                <p:nvPr/>
              </p:nvSpPr>
              <p:spPr>
                <a:xfrm>
                  <a:off x="3779044" y="364093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C3B2F"/>
                  </a:solidFill>
                </a:ln>
              </p:spPr>
            </p:sp>
            <p:sp>
              <p:nvSpPr>
                <p:cNvPr id="104" name="Freeform 104"/>
                <p:cNvSpPr/>
                <p:nvPr/>
              </p:nvSpPr>
              <p:spPr>
                <a:xfrm>
                  <a:off x="3757612" y="3705225"/>
                  <a:ext cx="85725" cy="21431"/>
                </a:xfrm>
                <a:custGeom>
                  <a:avLst/>
                  <a:gdLst/>
                  <a:ahLst/>
                  <a:cxnLst/>
                  <a:rect l="l" t="t" r="r" b="b"/>
                  <a:pathLst>
                    <a:path w="85725" h="21431">
                      <a:moveTo>
                        <a:pt x="0" y="21431"/>
                      </a:moveTo>
                      <a:lnTo>
                        <a:pt x="0" y="14288"/>
                      </a:lnTo>
                      <a:cubicBezTo>
                        <a:pt x="0" y="6397"/>
                        <a:pt x="6397" y="0"/>
                        <a:pt x="14288" y="0"/>
                      </a:cubicBezTo>
                      <a:lnTo>
                        <a:pt x="71438" y="0"/>
                      </a:lnTo>
                      <a:cubicBezTo>
                        <a:pt x="79328" y="0"/>
                        <a:pt x="85725" y="6397"/>
                        <a:pt x="85725" y="14288"/>
                      </a:cubicBezTo>
                      <a:lnTo>
                        <a:pt x="85725" y="21431"/>
                      </a:lnTo>
                    </a:path>
                  </a:pathLst>
                </a:custGeom>
                <a:noFill/>
                <a:ln w="14288">
                  <a:solidFill>
                    <a:srgbClr val="7C3B2F"/>
                  </a:solidFill>
                </a:ln>
              </p:spPr>
            </p:sp>
            <p:sp>
              <p:nvSpPr>
                <p:cNvPr id="105" name="Freeform 105"/>
                <p:cNvSpPr/>
                <p:nvPr/>
              </p:nvSpPr>
              <p:spPr>
                <a:xfrm>
                  <a:off x="3800475" y="3683794"/>
                  <a:ext cx="9525" cy="21431"/>
                </a:xfrm>
                <a:custGeom>
                  <a:avLst/>
                  <a:gdLst/>
                  <a:ahLst/>
                  <a:cxnLst/>
                  <a:rect l="l" t="t" r="r" b="b"/>
                  <a:pathLst>
                    <a:path w="9525" h="21431">
                      <a:moveTo>
                        <a:pt x="0" y="0"/>
                      </a:moveTo>
                      <a:lnTo>
                        <a:pt x="0" y="21431"/>
                      </a:lnTo>
                    </a:path>
                  </a:pathLst>
                </a:custGeom>
                <a:noFill/>
                <a:ln w="14288">
                  <a:solidFill>
                    <a:srgbClr val="7C3B2F"/>
                  </a:solidFill>
                </a:ln>
              </p:spPr>
            </p:sp>
          </p:grpSp>
          <p:sp>
            <p:nvSpPr>
              <p:cNvPr id="107" name="TextBox 107"/>
              <p:cNvSpPr txBox="1"/>
              <p:nvPr/>
            </p:nvSpPr>
            <p:spPr>
              <a:xfrm>
                <a:off x="3685324" y="3835241"/>
                <a:ext cx="230302"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分类</a:t>
                </a:r>
              </a:p>
            </p:txBody>
          </p:sp>
          <p:sp>
            <p:nvSpPr>
              <p:cNvPr id="108" name="Ellipse 108"/>
              <p:cNvSpPr/>
              <p:nvPr/>
            </p:nvSpPr>
            <p:spPr>
              <a:xfrm>
                <a:off x="2571750" y="3905250"/>
                <a:ext cx="571500" cy="571500"/>
              </a:xfrm>
              <a:prstGeom prst="ellipse">
                <a:avLst/>
              </a:prstGeom>
              <a:solidFill>
                <a:srgbClr val="FFFFFF"/>
              </a:solidFill>
              <a:ln w="14288">
                <a:solidFill>
                  <a:srgbClr val="BE776A"/>
                </a:solidFill>
              </a:ln>
            </p:spPr>
          </p:sp>
          <p:grpSp>
            <p:nvGrpSpPr>
              <p:cNvPr id="111" name="Group 111"/>
              <p:cNvGrpSpPr/>
              <p:nvPr/>
            </p:nvGrpSpPr>
            <p:grpSpPr>
              <a:xfrm>
                <a:off x="2793206" y="4031456"/>
                <a:ext cx="128588" cy="128588"/>
                <a:chOff x="2793206" y="4031456"/>
                <a:chExt cx="128588" cy="128588"/>
              </a:xfrm>
            </p:grpSpPr>
            <p:sp>
              <p:nvSpPr>
                <p:cNvPr id="109" name="Freeform 109"/>
                <p:cNvSpPr/>
                <p:nvPr/>
              </p:nvSpPr>
              <p:spPr>
                <a:xfrm>
                  <a:off x="2793206" y="40314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C3B2F"/>
                  </a:solidFill>
                </a:ln>
              </p:spPr>
            </p:sp>
            <p:sp>
              <p:nvSpPr>
                <p:cNvPr id="110" name="Freeform 110"/>
                <p:cNvSpPr/>
                <p:nvPr/>
              </p:nvSpPr>
              <p:spPr>
                <a:xfrm>
                  <a:off x="2836069" y="4081462"/>
                  <a:ext cx="42862" cy="28575"/>
                </a:xfrm>
                <a:custGeom>
                  <a:avLst/>
                  <a:gdLst/>
                  <a:ahLst/>
                  <a:cxnLst/>
                  <a:rect l="l" t="t" r="r" b="b"/>
                  <a:pathLst>
                    <a:path w="42862" h="28575">
                      <a:moveTo>
                        <a:pt x="0" y="14288"/>
                      </a:moveTo>
                      <a:lnTo>
                        <a:pt x="14288" y="28575"/>
                      </a:lnTo>
                      <a:lnTo>
                        <a:pt x="42862" y="0"/>
                      </a:lnTo>
                    </a:path>
                  </a:pathLst>
                </a:custGeom>
                <a:noFill/>
                <a:ln w="14288">
                  <a:solidFill>
                    <a:srgbClr val="7C3B2F"/>
                  </a:solidFill>
                </a:ln>
              </p:spPr>
            </p:sp>
          </p:grpSp>
          <p:sp>
            <p:nvSpPr>
              <p:cNvPr id="112" name="TextBox 112"/>
              <p:cNvSpPr txBox="1"/>
              <p:nvPr/>
            </p:nvSpPr>
            <p:spPr>
              <a:xfrm>
                <a:off x="2742349" y="4225766"/>
                <a:ext cx="230302"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审核</a:t>
                </a:r>
              </a:p>
            </p:txBody>
          </p:sp>
          <p:sp>
            <p:nvSpPr>
              <p:cNvPr id="113" name="Ellipse 113"/>
              <p:cNvSpPr/>
              <p:nvPr/>
            </p:nvSpPr>
            <p:spPr>
              <a:xfrm>
                <a:off x="1628775" y="3514725"/>
                <a:ext cx="571500" cy="571500"/>
              </a:xfrm>
              <a:prstGeom prst="ellipse">
                <a:avLst/>
              </a:prstGeom>
              <a:solidFill>
                <a:srgbClr val="FFFFFF"/>
              </a:solidFill>
              <a:ln w="14288">
                <a:solidFill>
                  <a:srgbClr val="BE776A"/>
                </a:solidFill>
              </a:ln>
            </p:spPr>
          </p:sp>
          <p:grpSp>
            <p:nvGrpSpPr>
              <p:cNvPr id="117" name="Group 117"/>
              <p:cNvGrpSpPr/>
              <p:nvPr/>
            </p:nvGrpSpPr>
            <p:grpSpPr>
              <a:xfrm>
                <a:off x="1864519" y="3640931"/>
                <a:ext cx="100012" cy="128588"/>
                <a:chOff x="1864519" y="3640931"/>
                <a:chExt cx="100012" cy="128588"/>
              </a:xfrm>
            </p:grpSpPr>
            <p:sp>
              <p:nvSpPr>
                <p:cNvPr id="114" name="Freeform 114"/>
                <p:cNvSpPr/>
                <p:nvPr/>
              </p:nvSpPr>
              <p:spPr>
                <a:xfrm>
                  <a:off x="1864519" y="3683794"/>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7C3B2F"/>
                  </a:solidFill>
                </a:ln>
              </p:spPr>
            </p:sp>
            <p:sp>
              <p:nvSpPr>
                <p:cNvPr id="115" name="Freeform 115"/>
                <p:cNvSpPr/>
                <p:nvPr/>
              </p:nvSpPr>
              <p:spPr>
                <a:xfrm>
                  <a:off x="1914525" y="3640931"/>
                  <a:ext cx="9525" cy="78581"/>
                </a:xfrm>
                <a:custGeom>
                  <a:avLst/>
                  <a:gdLst/>
                  <a:ahLst/>
                  <a:cxnLst/>
                  <a:rect l="l" t="t" r="r" b="b"/>
                  <a:pathLst>
                    <a:path w="9525" h="78581">
                      <a:moveTo>
                        <a:pt x="0" y="78581"/>
                      </a:moveTo>
                      <a:lnTo>
                        <a:pt x="0" y="0"/>
                      </a:lnTo>
                    </a:path>
                  </a:pathLst>
                </a:custGeom>
                <a:noFill/>
                <a:ln w="14288">
                  <a:solidFill>
                    <a:srgbClr val="7C3B2F"/>
                  </a:solidFill>
                </a:ln>
              </p:spPr>
            </p:sp>
            <p:sp>
              <p:nvSpPr>
                <p:cNvPr id="116" name="Freeform 116"/>
                <p:cNvSpPr/>
                <p:nvPr/>
              </p:nvSpPr>
              <p:spPr>
                <a:xfrm>
                  <a:off x="1893094" y="3640931"/>
                  <a:ext cx="42862" cy="21431"/>
                </a:xfrm>
                <a:custGeom>
                  <a:avLst/>
                  <a:gdLst/>
                  <a:ahLst/>
                  <a:cxnLst/>
                  <a:rect l="l" t="t" r="r" b="b"/>
                  <a:pathLst>
                    <a:path w="42862" h="21431">
                      <a:moveTo>
                        <a:pt x="0" y="21431"/>
                      </a:moveTo>
                      <a:lnTo>
                        <a:pt x="21431" y="0"/>
                      </a:lnTo>
                      <a:lnTo>
                        <a:pt x="42862" y="21431"/>
                      </a:lnTo>
                    </a:path>
                  </a:pathLst>
                </a:custGeom>
                <a:noFill/>
                <a:ln w="14288">
                  <a:solidFill>
                    <a:srgbClr val="7C3B2F"/>
                  </a:solidFill>
                </a:ln>
              </p:spPr>
            </p:sp>
          </p:grpSp>
          <p:sp>
            <p:nvSpPr>
              <p:cNvPr id="118" name="TextBox 118"/>
              <p:cNvSpPr txBox="1"/>
              <p:nvPr/>
            </p:nvSpPr>
            <p:spPr>
              <a:xfrm>
                <a:off x="1799374" y="3835241"/>
                <a:ext cx="230302"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发布</a:t>
                </a:r>
              </a:p>
            </p:txBody>
          </p:sp>
          <p:sp>
            <p:nvSpPr>
              <p:cNvPr id="119" name="Ellipse 119"/>
              <p:cNvSpPr/>
              <p:nvPr/>
            </p:nvSpPr>
            <p:spPr>
              <a:xfrm>
                <a:off x="1238250" y="2571750"/>
                <a:ext cx="571500" cy="571500"/>
              </a:xfrm>
              <a:prstGeom prst="ellipse">
                <a:avLst/>
              </a:prstGeom>
              <a:solidFill>
                <a:srgbClr val="FFFFFF"/>
              </a:solidFill>
              <a:ln w="14288">
                <a:solidFill>
                  <a:srgbClr val="BE776A"/>
                </a:solidFill>
              </a:ln>
            </p:spPr>
          </p:sp>
          <p:sp>
            <p:nvSpPr>
              <p:cNvPr id="120" name="Freeform 120"/>
              <p:cNvSpPr/>
              <p:nvPr/>
            </p:nvSpPr>
            <p:spPr>
              <a:xfrm>
                <a:off x="1452391" y="269956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7C3B2F"/>
                </a:solidFill>
              </a:ln>
            </p:spPr>
          </p:sp>
          <p:sp>
            <p:nvSpPr>
              <p:cNvPr id="121" name="TextBox 121"/>
              <p:cNvSpPr txBox="1"/>
              <p:nvPr/>
            </p:nvSpPr>
            <p:spPr>
              <a:xfrm>
                <a:off x="1408849" y="2892266"/>
                <a:ext cx="230302"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使用</a:t>
                </a:r>
              </a:p>
            </p:txBody>
          </p:sp>
          <p:sp>
            <p:nvSpPr>
              <p:cNvPr id="122" name="Ellipse 122"/>
              <p:cNvSpPr/>
              <p:nvPr/>
            </p:nvSpPr>
            <p:spPr>
              <a:xfrm>
                <a:off x="1628775" y="1628775"/>
                <a:ext cx="571500" cy="571500"/>
              </a:xfrm>
              <a:prstGeom prst="ellipse">
                <a:avLst/>
              </a:prstGeom>
              <a:solidFill>
                <a:srgbClr val="FFFFFF"/>
              </a:solidFill>
              <a:ln w="14288">
                <a:solidFill>
                  <a:srgbClr val="BE776A"/>
                </a:solidFill>
              </a:ln>
            </p:spPr>
          </p:sp>
          <p:grpSp>
            <p:nvGrpSpPr>
              <p:cNvPr id="125" name="Group 125"/>
              <p:cNvGrpSpPr/>
              <p:nvPr/>
            </p:nvGrpSpPr>
            <p:grpSpPr>
              <a:xfrm>
                <a:off x="1857375" y="1759369"/>
                <a:ext cx="114300" cy="119813"/>
                <a:chOff x="1857375" y="1759369"/>
                <a:chExt cx="114300" cy="119813"/>
              </a:xfrm>
            </p:grpSpPr>
            <p:sp>
              <p:nvSpPr>
                <p:cNvPr id="123" name="Freeform 123"/>
                <p:cNvSpPr/>
                <p:nvPr/>
              </p:nvSpPr>
              <p:spPr>
                <a:xfrm>
                  <a:off x="1857375" y="1759369"/>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7C3B2F"/>
                  </a:solidFill>
                </a:ln>
              </p:spPr>
            </p:sp>
            <p:sp>
              <p:nvSpPr>
                <p:cNvPr id="124" name="Freeform 124"/>
                <p:cNvSpPr/>
                <p:nvPr/>
              </p:nvSpPr>
              <p:spPr>
                <a:xfrm>
                  <a:off x="1857375" y="1826419"/>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7C3B2F"/>
                  </a:solidFill>
                </a:ln>
              </p:spPr>
            </p:sp>
          </p:grpSp>
          <p:sp>
            <p:nvSpPr>
              <p:cNvPr id="126" name="TextBox 126"/>
              <p:cNvSpPr txBox="1"/>
              <p:nvPr/>
            </p:nvSpPr>
            <p:spPr>
              <a:xfrm>
                <a:off x="1799374" y="1949291"/>
                <a:ext cx="230302"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退役</a:t>
                </a:r>
              </a:p>
            </p:txBody>
          </p:sp>
        </p:grpSp>
      </p:grpSp>
      <p:grpSp>
        <p:nvGrpSpPr>
          <p:cNvPr id="272" name="raci-table"/>
          <p:cNvGrpSpPr/>
          <p:nvPr/>
        </p:nvGrpSpPr>
        <p:grpSpPr>
          <a:xfrm>
            <a:off x="5753100" y="685800"/>
            <a:ext cx="6210300" cy="3721180"/>
            <a:chOff x="5753100" y="685800"/>
            <a:chExt cx="6210300" cy="3721180"/>
          </a:xfrm>
        </p:grpSpPr>
        <p:sp>
          <p:nvSpPr>
            <p:cNvPr id="129" name="Rectangle 129"/>
            <p:cNvSpPr/>
            <p:nvPr/>
          </p:nvSpPr>
          <p:spPr>
            <a:xfrm>
              <a:off x="5810250" y="685800"/>
              <a:ext cx="1676400" cy="247650"/>
            </a:xfrm>
            <a:prstGeom prst="roundRect">
              <a:avLst>
                <a:gd name="adj" fmla="val 23077"/>
              </a:avLst>
            </a:prstGeom>
            <a:solidFill>
              <a:srgbClr val="42140B"/>
            </a:solidFill>
            <a:ln>
              <a:noFill/>
            </a:ln>
          </p:spPr>
        </p:sp>
        <p:sp>
          <p:nvSpPr>
            <p:cNvPr id="130" name="TextBox 130"/>
            <p:cNvSpPr txBox="1"/>
            <p:nvPr/>
          </p:nvSpPr>
          <p:spPr>
            <a:xfrm>
              <a:off x="6063907" y="756047"/>
              <a:ext cx="116908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RACI角色与职责矩阵</a:t>
              </a:r>
            </a:p>
          </p:txBody>
        </p:sp>
        <p:sp>
          <p:nvSpPr>
            <p:cNvPr id="131" name="Rectangle 131"/>
            <p:cNvSpPr/>
            <p:nvPr/>
          </p:nvSpPr>
          <p:spPr>
            <a:xfrm>
              <a:off x="5753100" y="1009650"/>
              <a:ext cx="6210300" cy="247650"/>
            </a:xfrm>
            <a:prstGeom prst="roundRect">
              <a:avLst>
                <a:gd name="adj" fmla="val 23077"/>
              </a:avLst>
            </a:prstGeom>
            <a:solidFill>
              <a:srgbClr val="42140B"/>
            </a:solidFill>
            <a:ln>
              <a:noFill/>
            </a:ln>
          </p:spPr>
        </p:sp>
        <p:sp>
          <p:nvSpPr>
            <p:cNvPr id="132" name="Rectangle 132"/>
            <p:cNvSpPr/>
            <p:nvPr/>
          </p:nvSpPr>
          <p:spPr>
            <a:xfrm>
              <a:off x="5753100" y="1133475"/>
              <a:ext cx="6210300" cy="123825"/>
            </a:xfrm>
            <a:prstGeom prst="rect">
              <a:avLst/>
            </a:prstGeom>
            <a:solidFill>
              <a:srgbClr val="42140B"/>
            </a:solidFill>
            <a:ln>
              <a:noFill/>
            </a:ln>
          </p:spPr>
        </p:sp>
        <p:sp>
          <p:nvSpPr>
            <p:cNvPr id="133" name="TextBox 133"/>
            <p:cNvSpPr txBox="1"/>
            <p:nvPr/>
          </p:nvSpPr>
          <p:spPr>
            <a:xfrm>
              <a:off x="6003938" y="10960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活动</a:t>
              </a:r>
            </a:p>
          </p:txBody>
        </p:sp>
        <p:sp>
          <p:nvSpPr>
            <p:cNvPr id="134" name="TextBox 134"/>
            <p:cNvSpPr txBox="1"/>
            <p:nvPr/>
          </p:nvSpPr>
          <p:spPr>
            <a:xfrm>
              <a:off x="6802463" y="1096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业务专家</a:t>
              </a:r>
            </a:p>
          </p:txBody>
        </p:sp>
        <p:sp>
          <p:nvSpPr>
            <p:cNvPr id="135" name="TextBox 135"/>
            <p:cNvSpPr txBox="1"/>
            <p:nvPr/>
          </p:nvSpPr>
          <p:spPr>
            <a:xfrm>
              <a:off x="7897838" y="1096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知识运营</a:t>
              </a:r>
            </a:p>
          </p:txBody>
        </p:sp>
        <p:sp>
          <p:nvSpPr>
            <p:cNvPr id="136" name="TextBox 136"/>
            <p:cNvSpPr txBox="1"/>
            <p:nvPr/>
          </p:nvSpPr>
          <p:spPr>
            <a:xfrm>
              <a:off x="8993213" y="1096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数据治理</a:t>
              </a:r>
            </a:p>
          </p:txBody>
        </p:sp>
        <p:sp>
          <p:nvSpPr>
            <p:cNvPr id="137" name="TextBox 137"/>
            <p:cNvSpPr txBox="1"/>
            <p:nvPr/>
          </p:nvSpPr>
          <p:spPr>
            <a:xfrm>
              <a:off x="10088588" y="1096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信息安全</a:t>
              </a:r>
            </a:p>
          </p:txBody>
        </p:sp>
        <p:sp>
          <p:nvSpPr>
            <p:cNvPr id="138" name="TextBox 138"/>
            <p:cNvSpPr txBox="1"/>
            <p:nvPr/>
          </p:nvSpPr>
          <p:spPr>
            <a:xfrm>
              <a:off x="11183963" y="1096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平台团队</a:t>
              </a:r>
            </a:p>
          </p:txBody>
        </p:sp>
        <p:grpSp>
          <p:nvGrpSpPr>
            <p:cNvPr id="256" name="raci-rows"/>
            <p:cNvGrpSpPr/>
            <p:nvPr/>
          </p:nvGrpSpPr>
          <p:grpSpPr>
            <a:xfrm>
              <a:off x="5753100" y="1257300"/>
              <a:ext cx="6210300" cy="2571750"/>
              <a:chOff x="5753100" y="1257300"/>
              <a:chExt cx="6210300" cy="2571750"/>
            </a:xfrm>
          </p:grpSpPr>
          <p:sp>
            <p:nvSpPr>
              <p:cNvPr id="139" name="Rectangle 139"/>
              <p:cNvSpPr/>
              <p:nvPr/>
            </p:nvSpPr>
            <p:spPr>
              <a:xfrm>
                <a:off x="5753100" y="1257300"/>
                <a:ext cx="6210300" cy="285750"/>
              </a:xfrm>
              <a:prstGeom prst="rect">
                <a:avLst/>
              </a:prstGeom>
              <a:solidFill>
                <a:srgbClr val="FFFFFF"/>
              </a:solidFill>
              <a:ln>
                <a:noFill/>
              </a:ln>
            </p:spPr>
          </p:sp>
          <p:sp>
            <p:nvSpPr>
              <p:cNvPr id="140" name="Rectangle 140"/>
              <p:cNvSpPr/>
              <p:nvPr/>
            </p:nvSpPr>
            <p:spPr>
              <a:xfrm>
                <a:off x="5753100" y="1257300"/>
                <a:ext cx="723900" cy="285750"/>
              </a:xfrm>
              <a:prstGeom prst="rect">
                <a:avLst/>
              </a:prstGeom>
              <a:solidFill>
                <a:srgbClr val="F4F8EC"/>
              </a:solidFill>
              <a:ln>
                <a:noFill/>
              </a:ln>
            </p:spPr>
          </p:sp>
          <p:sp>
            <p:nvSpPr>
              <p:cNvPr id="141" name="TextBox 141"/>
              <p:cNvSpPr txBox="1"/>
              <p:nvPr/>
            </p:nvSpPr>
            <p:spPr>
              <a:xfrm>
                <a:off x="6003938" y="1353264"/>
                <a:ext cx="22222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盘点</a:t>
                </a:r>
              </a:p>
            </p:txBody>
          </p:sp>
          <p:sp>
            <p:nvSpPr>
              <p:cNvPr id="142" name="Ellipse 142"/>
              <p:cNvSpPr/>
              <p:nvPr/>
            </p:nvSpPr>
            <p:spPr>
              <a:xfrm>
                <a:off x="6919912" y="1300162"/>
                <a:ext cx="200025" cy="200025"/>
              </a:xfrm>
              <a:prstGeom prst="ellipse">
                <a:avLst/>
              </a:prstGeom>
              <a:solidFill>
                <a:srgbClr val="42140B"/>
              </a:solidFill>
              <a:ln>
                <a:noFill/>
              </a:ln>
            </p:spPr>
          </p:sp>
          <p:sp>
            <p:nvSpPr>
              <p:cNvPr id="143" name="TextBox 143"/>
              <p:cNvSpPr txBox="1"/>
              <p:nvPr/>
            </p:nvSpPr>
            <p:spPr>
              <a:xfrm>
                <a:off x="6986002" y="13613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144" name="Ellipse 144"/>
              <p:cNvSpPr/>
              <p:nvPr/>
            </p:nvSpPr>
            <p:spPr>
              <a:xfrm>
                <a:off x="8015288" y="1300162"/>
                <a:ext cx="200025" cy="200025"/>
              </a:xfrm>
              <a:prstGeom prst="ellipse">
                <a:avLst/>
              </a:prstGeom>
              <a:solidFill>
                <a:srgbClr val="C93F27"/>
              </a:solidFill>
              <a:ln>
                <a:noFill/>
              </a:ln>
            </p:spPr>
          </p:sp>
          <p:sp>
            <p:nvSpPr>
              <p:cNvPr id="145" name="TextBox 145"/>
              <p:cNvSpPr txBox="1"/>
              <p:nvPr/>
            </p:nvSpPr>
            <p:spPr>
              <a:xfrm>
                <a:off x="8081377" y="13613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146" name="Ellipse 146"/>
              <p:cNvSpPr/>
              <p:nvPr/>
            </p:nvSpPr>
            <p:spPr>
              <a:xfrm>
                <a:off x="9110662" y="1300162"/>
                <a:ext cx="200025" cy="200025"/>
              </a:xfrm>
              <a:prstGeom prst="ellipse">
                <a:avLst/>
              </a:prstGeom>
              <a:solidFill>
                <a:srgbClr val="FFFFFF"/>
              </a:solidFill>
              <a:ln w="9525">
                <a:solidFill>
                  <a:srgbClr val="BE776A"/>
                </a:solidFill>
              </a:ln>
            </p:spPr>
          </p:sp>
          <p:sp>
            <p:nvSpPr>
              <p:cNvPr id="147" name="TextBox 147"/>
              <p:cNvSpPr txBox="1"/>
              <p:nvPr/>
            </p:nvSpPr>
            <p:spPr>
              <a:xfrm>
                <a:off x="9176752" y="136136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148" name="Ellipse 148"/>
              <p:cNvSpPr/>
              <p:nvPr/>
            </p:nvSpPr>
            <p:spPr>
              <a:xfrm>
                <a:off x="10206038" y="1300162"/>
                <a:ext cx="200025" cy="200025"/>
              </a:xfrm>
              <a:prstGeom prst="ellipse">
                <a:avLst/>
              </a:prstGeom>
              <a:solidFill>
                <a:srgbClr val="FFFFFF"/>
              </a:solidFill>
              <a:ln w="9525">
                <a:solidFill>
                  <a:srgbClr val="B9C0B4"/>
                </a:solidFill>
              </a:ln>
            </p:spPr>
          </p:sp>
          <p:sp>
            <p:nvSpPr>
              <p:cNvPr id="149" name="TextBox 149"/>
              <p:cNvSpPr txBox="1"/>
              <p:nvPr/>
            </p:nvSpPr>
            <p:spPr>
              <a:xfrm>
                <a:off x="10285382" y="136136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150" name="Ellipse 150"/>
              <p:cNvSpPr/>
              <p:nvPr/>
            </p:nvSpPr>
            <p:spPr>
              <a:xfrm>
                <a:off x="11301412" y="1300162"/>
                <a:ext cx="200025" cy="200025"/>
              </a:xfrm>
              <a:prstGeom prst="ellipse">
                <a:avLst/>
              </a:prstGeom>
              <a:solidFill>
                <a:srgbClr val="FFFFFF"/>
              </a:solidFill>
              <a:ln w="9525">
                <a:solidFill>
                  <a:srgbClr val="B9C0B4"/>
                </a:solidFill>
              </a:ln>
            </p:spPr>
          </p:sp>
          <p:sp>
            <p:nvSpPr>
              <p:cNvPr id="151" name="TextBox 151"/>
              <p:cNvSpPr txBox="1"/>
              <p:nvPr/>
            </p:nvSpPr>
            <p:spPr>
              <a:xfrm>
                <a:off x="11380757" y="136136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152" name="Rectangle 152"/>
              <p:cNvSpPr/>
              <p:nvPr/>
            </p:nvSpPr>
            <p:spPr>
              <a:xfrm>
                <a:off x="5753100" y="1543050"/>
                <a:ext cx="6210300" cy="285750"/>
              </a:xfrm>
              <a:prstGeom prst="rect">
                <a:avLst/>
              </a:prstGeom>
              <a:solidFill>
                <a:srgbClr val="F4F8EC"/>
              </a:solidFill>
              <a:ln>
                <a:noFill/>
              </a:ln>
            </p:spPr>
          </p:sp>
          <p:sp>
            <p:nvSpPr>
              <p:cNvPr id="153" name="Rectangle 153"/>
              <p:cNvSpPr/>
              <p:nvPr/>
            </p:nvSpPr>
            <p:spPr>
              <a:xfrm>
                <a:off x="5753100" y="1543050"/>
                <a:ext cx="723900" cy="285750"/>
              </a:xfrm>
              <a:prstGeom prst="rect">
                <a:avLst/>
              </a:prstGeom>
              <a:solidFill>
                <a:srgbClr val="E7F2D8"/>
              </a:solidFill>
              <a:ln>
                <a:noFill/>
              </a:ln>
            </p:spPr>
          </p:sp>
          <p:sp>
            <p:nvSpPr>
              <p:cNvPr id="154" name="TextBox 154"/>
              <p:cNvSpPr txBox="1"/>
              <p:nvPr/>
            </p:nvSpPr>
            <p:spPr>
              <a:xfrm>
                <a:off x="6003938" y="1639014"/>
                <a:ext cx="22222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归集</a:t>
                </a:r>
              </a:p>
            </p:txBody>
          </p:sp>
          <p:sp>
            <p:nvSpPr>
              <p:cNvPr id="155" name="Ellipse 155"/>
              <p:cNvSpPr/>
              <p:nvPr/>
            </p:nvSpPr>
            <p:spPr>
              <a:xfrm>
                <a:off x="6919912" y="1585912"/>
                <a:ext cx="200025" cy="200025"/>
              </a:xfrm>
              <a:prstGeom prst="ellipse">
                <a:avLst/>
              </a:prstGeom>
              <a:solidFill>
                <a:srgbClr val="42140B"/>
              </a:solidFill>
              <a:ln>
                <a:noFill/>
              </a:ln>
            </p:spPr>
          </p:sp>
          <p:sp>
            <p:nvSpPr>
              <p:cNvPr id="156" name="TextBox 156"/>
              <p:cNvSpPr txBox="1"/>
              <p:nvPr/>
            </p:nvSpPr>
            <p:spPr>
              <a:xfrm>
                <a:off x="6986002" y="164711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157" name="Ellipse 157"/>
              <p:cNvSpPr/>
              <p:nvPr/>
            </p:nvSpPr>
            <p:spPr>
              <a:xfrm>
                <a:off x="8015288" y="1585912"/>
                <a:ext cx="200025" cy="200025"/>
              </a:xfrm>
              <a:prstGeom prst="ellipse">
                <a:avLst/>
              </a:prstGeom>
              <a:solidFill>
                <a:srgbClr val="C93F27"/>
              </a:solidFill>
              <a:ln>
                <a:noFill/>
              </a:ln>
            </p:spPr>
          </p:sp>
          <p:sp>
            <p:nvSpPr>
              <p:cNvPr id="158" name="TextBox 158"/>
              <p:cNvSpPr txBox="1"/>
              <p:nvPr/>
            </p:nvSpPr>
            <p:spPr>
              <a:xfrm>
                <a:off x="8081377" y="164711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159" name="Ellipse 159"/>
              <p:cNvSpPr/>
              <p:nvPr/>
            </p:nvSpPr>
            <p:spPr>
              <a:xfrm>
                <a:off x="9110662" y="1585912"/>
                <a:ext cx="200025" cy="200025"/>
              </a:xfrm>
              <a:prstGeom prst="ellipse">
                <a:avLst/>
              </a:prstGeom>
              <a:solidFill>
                <a:srgbClr val="FFFFFF"/>
              </a:solidFill>
              <a:ln w="9525">
                <a:solidFill>
                  <a:srgbClr val="BE776A"/>
                </a:solidFill>
              </a:ln>
            </p:spPr>
          </p:sp>
          <p:sp>
            <p:nvSpPr>
              <p:cNvPr id="160" name="TextBox 160"/>
              <p:cNvSpPr txBox="1"/>
              <p:nvPr/>
            </p:nvSpPr>
            <p:spPr>
              <a:xfrm>
                <a:off x="9176752" y="164711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161" name="Ellipse 161"/>
              <p:cNvSpPr/>
              <p:nvPr/>
            </p:nvSpPr>
            <p:spPr>
              <a:xfrm>
                <a:off x="10206038" y="1585912"/>
                <a:ext cx="200025" cy="200025"/>
              </a:xfrm>
              <a:prstGeom prst="ellipse">
                <a:avLst/>
              </a:prstGeom>
              <a:solidFill>
                <a:srgbClr val="FFFFFF"/>
              </a:solidFill>
              <a:ln w="9525">
                <a:solidFill>
                  <a:srgbClr val="BE776A"/>
                </a:solidFill>
              </a:ln>
            </p:spPr>
          </p:sp>
          <p:sp>
            <p:nvSpPr>
              <p:cNvPr id="162" name="TextBox 162"/>
              <p:cNvSpPr txBox="1"/>
              <p:nvPr/>
            </p:nvSpPr>
            <p:spPr>
              <a:xfrm>
                <a:off x="10272127" y="164711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163" name="Ellipse 163"/>
              <p:cNvSpPr/>
              <p:nvPr/>
            </p:nvSpPr>
            <p:spPr>
              <a:xfrm>
                <a:off x="11301412" y="1585912"/>
                <a:ext cx="200025" cy="200025"/>
              </a:xfrm>
              <a:prstGeom prst="ellipse">
                <a:avLst/>
              </a:prstGeom>
              <a:solidFill>
                <a:srgbClr val="FFFFFF"/>
              </a:solidFill>
              <a:ln w="9525">
                <a:solidFill>
                  <a:srgbClr val="B9C0B4"/>
                </a:solidFill>
              </a:ln>
            </p:spPr>
          </p:sp>
          <p:sp>
            <p:nvSpPr>
              <p:cNvPr id="164" name="TextBox 164"/>
              <p:cNvSpPr txBox="1"/>
              <p:nvPr/>
            </p:nvSpPr>
            <p:spPr>
              <a:xfrm>
                <a:off x="11380757" y="164711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165" name="Rectangle 165"/>
              <p:cNvSpPr/>
              <p:nvPr/>
            </p:nvSpPr>
            <p:spPr>
              <a:xfrm>
                <a:off x="5753100" y="1828800"/>
                <a:ext cx="6210300" cy="285750"/>
              </a:xfrm>
              <a:prstGeom prst="rect">
                <a:avLst/>
              </a:prstGeom>
              <a:solidFill>
                <a:srgbClr val="FFFFFF"/>
              </a:solidFill>
              <a:ln>
                <a:noFill/>
              </a:ln>
            </p:spPr>
          </p:sp>
          <p:sp>
            <p:nvSpPr>
              <p:cNvPr id="166" name="Rectangle 166"/>
              <p:cNvSpPr/>
              <p:nvPr/>
            </p:nvSpPr>
            <p:spPr>
              <a:xfrm>
                <a:off x="5753100" y="1828800"/>
                <a:ext cx="723900" cy="285750"/>
              </a:xfrm>
              <a:prstGeom prst="rect">
                <a:avLst/>
              </a:prstGeom>
              <a:solidFill>
                <a:srgbClr val="F4F8EC"/>
              </a:solidFill>
              <a:ln>
                <a:noFill/>
              </a:ln>
            </p:spPr>
          </p:sp>
          <p:sp>
            <p:nvSpPr>
              <p:cNvPr id="167" name="TextBox 167"/>
              <p:cNvSpPr txBox="1"/>
              <p:nvPr/>
            </p:nvSpPr>
            <p:spPr>
              <a:xfrm>
                <a:off x="6003938" y="1924764"/>
                <a:ext cx="22222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清洗</a:t>
                </a:r>
              </a:p>
            </p:txBody>
          </p:sp>
          <p:sp>
            <p:nvSpPr>
              <p:cNvPr id="168" name="Ellipse 168"/>
              <p:cNvSpPr/>
              <p:nvPr/>
            </p:nvSpPr>
            <p:spPr>
              <a:xfrm>
                <a:off x="6919912" y="1871662"/>
                <a:ext cx="200025" cy="200025"/>
              </a:xfrm>
              <a:prstGeom prst="ellipse">
                <a:avLst/>
              </a:prstGeom>
              <a:solidFill>
                <a:srgbClr val="FFFFFF"/>
              </a:solidFill>
              <a:ln w="9525">
                <a:solidFill>
                  <a:srgbClr val="BE776A"/>
                </a:solidFill>
              </a:ln>
            </p:spPr>
          </p:sp>
          <p:sp>
            <p:nvSpPr>
              <p:cNvPr id="169" name="TextBox 169"/>
              <p:cNvSpPr txBox="1"/>
              <p:nvPr/>
            </p:nvSpPr>
            <p:spPr>
              <a:xfrm>
                <a:off x="6986002" y="193286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170" name="Ellipse 170"/>
              <p:cNvSpPr/>
              <p:nvPr/>
            </p:nvSpPr>
            <p:spPr>
              <a:xfrm>
                <a:off x="8015288" y="1871662"/>
                <a:ext cx="200025" cy="200025"/>
              </a:xfrm>
              <a:prstGeom prst="ellipse">
                <a:avLst/>
              </a:prstGeom>
              <a:solidFill>
                <a:srgbClr val="42140B"/>
              </a:solidFill>
              <a:ln>
                <a:noFill/>
              </a:ln>
            </p:spPr>
          </p:sp>
          <p:sp>
            <p:nvSpPr>
              <p:cNvPr id="171" name="TextBox 171"/>
              <p:cNvSpPr txBox="1"/>
              <p:nvPr/>
            </p:nvSpPr>
            <p:spPr>
              <a:xfrm>
                <a:off x="8081377" y="19328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172" name="Ellipse 172"/>
              <p:cNvSpPr/>
              <p:nvPr/>
            </p:nvSpPr>
            <p:spPr>
              <a:xfrm>
                <a:off x="9110662" y="1871662"/>
                <a:ext cx="200025" cy="200025"/>
              </a:xfrm>
              <a:prstGeom prst="ellipse">
                <a:avLst/>
              </a:prstGeom>
              <a:solidFill>
                <a:srgbClr val="C93F27"/>
              </a:solidFill>
              <a:ln>
                <a:noFill/>
              </a:ln>
            </p:spPr>
          </p:sp>
          <p:sp>
            <p:nvSpPr>
              <p:cNvPr id="173" name="TextBox 173"/>
              <p:cNvSpPr txBox="1"/>
              <p:nvPr/>
            </p:nvSpPr>
            <p:spPr>
              <a:xfrm>
                <a:off x="9176752" y="19328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174" name="Ellipse 174"/>
              <p:cNvSpPr/>
              <p:nvPr/>
            </p:nvSpPr>
            <p:spPr>
              <a:xfrm>
                <a:off x="10206038" y="1871662"/>
                <a:ext cx="200025" cy="200025"/>
              </a:xfrm>
              <a:prstGeom prst="ellipse">
                <a:avLst/>
              </a:prstGeom>
              <a:solidFill>
                <a:srgbClr val="FFFFFF"/>
              </a:solidFill>
              <a:ln w="9525">
                <a:solidFill>
                  <a:srgbClr val="BE776A"/>
                </a:solidFill>
              </a:ln>
            </p:spPr>
          </p:sp>
          <p:sp>
            <p:nvSpPr>
              <p:cNvPr id="175" name="TextBox 175"/>
              <p:cNvSpPr txBox="1"/>
              <p:nvPr/>
            </p:nvSpPr>
            <p:spPr>
              <a:xfrm>
                <a:off x="10272127" y="193286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176" name="Ellipse 176"/>
              <p:cNvSpPr/>
              <p:nvPr/>
            </p:nvSpPr>
            <p:spPr>
              <a:xfrm>
                <a:off x="11301412" y="1871662"/>
                <a:ext cx="200025" cy="200025"/>
              </a:xfrm>
              <a:prstGeom prst="ellipse">
                <a:avLst/>
              </a:prstGeom>
              <a:solidFill>
                <a:srgbClr val="FFFFFF"/>
              </a:solidFill>
              <a:ln w="9525">
                <a:solidFill>
                  <a:srgbClr val="B9C0B4"/>
                </a:solidFill>
              </a:ln>
            </p:spPr>
          </p:sp>
          <p:sp>
            <p:nvSpPr>
              <p:cNvPr id="177" name="TextBox 177"/>
              <p:cNvSpPr txBox="1"/>
              <p:nvPr/>
            </p:nvSpPr>
            <p:spPr>
              <a:xfrm>
                <a:off x="11380757" y="193286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178" name="Rectangle 178"/>
              <p:cNvSpPr/>
              <p:nvPr/>
            </p:nvSpPr>
            <p:spPr>
              <a:xfrm>
                <a:off x="5753100" y="2114550"/>
                <a:ext cx="6210300" cy="285750"/>
              </a:xfrm>
              <a:prstGeom prst="rect">
                <a:avLst/>
              </a:prstGeom>
              <a:solidFill>
                <a:srgbClr val="F4F8EC"/>
              </a:solidFill>
              <a:ln>
                <a:noFill/>
              </a:ln>
            </p:spPr>
          </p:sp>
          <p:sp>
            <p:nvSpPr>
              <p:cNvPr id="179" name="Rectangle 179"/>
              <p:cNvSpPr/>
              <p:nvPr/>
            </p:nvSpPr>
            <p:spPr>
              <a:xfrm>
                <a:off x="5753100" y="2114550"/>
                <a:ext cx="723900" cy="285750"/>
              </a:xfrm>
              <a:prstGeom prst="rect">
                <a:avLst/>
              </a:prstGeom>
              <a:solidFill>
                <a:srgbClr val="E7F2D8"/>
              </a:solidFill>
              <a:ln>
                <a:noFill/>
              </a:ln>
            </p:spPr>
          </p:sp>
          <p:sp>
            <p:nvSpPr>
              <p:cNvPr id="180" name="TextBox 180"/>
              <p:cNvSpPr txBox="1"/>
              <p:nvPr/>
            </p:nvSpPr>
            <p:spPr>
              <a:xfrm>
                <a:off x="6003938" y="2210514"/>
                <a:ext cx="22222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分类</a:t>
                </a:r>
              </a:p>
            </p:txBody>
          </p:sp>
          <p:sp>
            <p:nvSpPr>
              <p:cNvPr id="181" name="Ellipse 181"/>
              <p:cNvSpPr/>
              <p:nvPr/>
            </p:nvSpPr>
            <p:spPr>
              <a:xfrm>
                <a:off x="6919912" y="2157412"/>
                <a:ext cx="200025" cy="200025"/>
              </a:xfrm>
              <a:prstGeom prst="ellipse">
                <a:avLst/>
              </a:prstGeom>
              <a:solidFill>
                <a:srgbClr val="FFFFFF"/>
              </a:solidFill>
              <a:ln w="9525">
                <a:solidFill>
                  <a:srgbClr val="BE776A"/>
                </a:solidFill>
              </a:ln>
            </p:spPr>
          </p:sp>
          <p:sp>
            <p:nvSpPr>
              <p:cNvPr id="182" name="TextBox 182"/>
              <p:cNvSpPr txBox="1"/>
              <p:nvPr/>
            </p:nvSpPr>
            <p:spPr>
              <a:xfrm>
                <a:off x="6986002" y="221861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183" name="Ellipse 183"/>
              <p:cNvSpPr/>
              <p:nvPr/>
            </p:nvSpPr>
            <p:spPr>
              <a:xfrm>
                <a:off x="8015288" y="2157412"/>
                <a:ext cx="200025" cy="200025"/>
              </a:xfrm>
              <a:prstGeom prst="ellipse">
                <a:avLst/>
              </a:prstGeom>
              <a:solidFill>
                <a:srgbClr val="42140B"/>
              </a:solidFill>
              <a:ln>
                <a:noFill/>
              </a:ln>
            </p:spPr>
          </p:sp>
          <p:sp>
            <p:nvSpPr>
              <p:cNvPr id="184" name="TextBox 184"/>
              <p:cNvSpPr txBox="1"/>
              <p:nvPr/>
            </p:nvSpPr>
            <p:spPr>
              <a:xfrm>
                <a:off x="8081377" y="221861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185" name="Ellipse 185"/>
              <p:cNvSpPr/>
              <p:nvPr/>
            </p:nvSpPr>
            <p:spPr>
              <a:xfrm>
                <a:off x="9110662" y="2157412"/>
                <a:ext cx="200025" cy="200025"/>
              </a:xfrm>
              <a:prstGeom prst="ellipse">
                <a:avLst/>
              </a:prstGeom>
              <a:solidFill>
                <a:srgbClr val="C93F27"/>
              </a:solidFill>
              <a:ln>
                <a:noFill/>
              </a:ln>
            </p:spPr>
          </p:sp>
          <p:sp>
            <p:nvSpPr>
              <p:cNvPr id="186" name="TextBox 186"/>
              <p:cNvSpPr txBox="1"/>
              <p:nvPr/>
            </p:nvSpPr>
            <p:spPr>
              <a:xfrm>
                <a:off x="9176752" y="221861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187" name="Ellipse 187"/>
              <p:cNvSpPr/>
              <p:nvPr/>
            </p:nvSpPr>
            <p:spPr>
              <a:xfrm>
                <a:off x="10206038" y="2157412"/>
                <a:ext cx="200025" cy="200025"/>
              </a:xfrm>
              <a:prstGeom prst="ellipse">
                <a:avLst/>
              </a:prstGeom>
              <a:solidFill>
                <a:srgbClr val="FFFFFF"/>
              </a:solidFill>
              <a:ln w="9525">
                <a:solidFill>
                  <a:srgbClr val="BE776A"/>
                </a:solidFill>
              </a:ln>
            </p:spPr>
          </p:sp>
          <p:sp>
            <p:nvSpPr>
              <p:cNvPr id="188" name="TextBox 188"/>
              <p:cNvSpPr txBox="1"/>
              <p:nvPr/>
            </p:nvSpPr>
            <p:spPr>
              <a:xfrm>
                <a:off x="10272127" y="221861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189" name="Ellipse 189"/>
              <p:cNvSpPr/>
              <p:nvPr/>
            </p:nvSpPr>
            <p:spPr>
              <a:xfrm>
                <a:off x="11301412" y="2157412"/>
                <a:ext cx="200025" cy="200025"/>
              </a:xfrm>
              <a:prstGeom prst="ellipse">
                <a:avLst/>
              </a:prstGeom>
              <a:solidFill>
                <a:srgbClr val="FFFFFF"/>
              </a:solidFill>
              <a:ln w="9525">
                <a:solidFill>
                  <a:srgbClr val="B9C0B4"/>
                </a:solidFill>
              </a:ln>
            </p:spPr>
          </p:sp>
          <p:sp>
            <p:nvSpPr>
              <p:cNvPr id="190" name="TextBox 190"/>
              <p:cNvSpPr txBox="1"/>
              <p:nvPr/>
            </p:nvSpPr>
            <p:spPr>
              <a:xfrm>
                <a:off x="11380757" y="221861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191" name="Rectangle 191"/>
              <p:cNvSpPr/>
              <p:nvPr/>
            </p:nvSpPr>
            <p:spPr>
              <a:xfrm>
                <a:off x="5753100" y="2400300"/>
                <a:ext cx="6210300" cy="285750"/>
              </a:xfrm>
              <a:prstGeom prst="rect">
                <a:avLst/>
              </a:prstGeom>
              <a:solidFill>
                <a:srgbClr val="FFFFFF"/>
              </a:solidFill>
              <a:ln>
                <a:noFill/>
              </a:ln>
            </p:spPr>
          </p:sp>
          <p:sp>
            <p:nvSpPr>
              <p:cNvPr id="192" name="Rectangle 192"/>
              <p:cNvSpPr/>
              <p:nvPr/>
            </p:nvSpPr>
            <p:spPr>
              <a:xfrm>
                <a:off x="5753100" y="2400300"/>
                <a:ext cx="723900" cy="285750"/>
              </a:xfrm>
              <a:prstGeom prst="rect">
                <a:avLst/>
              </a:prstGeom>
              <a:solidFill>
                <a:srgbClr val="F4F8EC"/>
              </a:solidFill>
              <a:ln>
                <a:noFill/>
              </a:ln>
            </p:spPr>
          </p:sp>
          <p:sp>
            <p:nvSpPr>
              <p:cNvPr id="193" name="TextBox 193"/>
              <p:cNvSpPr txBox="1"/>
              <p:nvPr/>
            </p:nvSpPr>
            <p:spPr>
              <a:xfrm>
                <a:off x="6003938" y="2496264"/>
                <a:ext cx="22222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审核</a:t>
                </a:r>
              </a:p>
            </p:txBody>
          </p:sp>
          <p:sp>
            <p:nvSpPr>
              <p:cNvPr id="194" name="Ellipse 194"/>
              <p:cNvSpPr/>
              <p:nvPr/>
            </p:nvSpPr>
            <p:spPr>
              <a:xfrm>
                <a:off x="6919912" y="2443162"/>
                <a:ext cx="200025" cy="200025"/>
              </a:xfrm>
              <a:prstGeom prst="ellipse">
                <a:avLst/>
              </a:prstGeom>
              <a:solidFill>
                <a:srgbClr val="FFFFFF"/>
              </a:solidFill>
              <a:ln w="9525">
                <a:solidFill>
                  <a:srgbClr val="BE776A"/>
                </a:solidFill>
              </a:ln>
            </p:spPr>
          </p:sp>
          <p:sp>
            <p:nvSpPr>
              <p:cNvPr id="195" name="TextBox 195"/>
              <p:cNvSpPr txBox="1"/>
              <p:nvPr/>
            </p:nvSpPr>
            <p:spPr>
              <a:xfrm>
                <a:off x="6986002" y="250436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196" name="Ellipse 196"/>
              <p:cNvSpPr/>
              <p:nvPr/>
            </p:nvSpPr>
            <p:spPr>
              <a:xfrm>
                <a:off x="8015288" y="2443162"/>
                <a:ext cx="200025" cy="200025"/>
              </a:xfrm>
              <a:prstGeom prst="ellipse">
                <a:avLst/>
              </a:prstGeom>
              <a:solidFill>
                <a:srgbClr val="42140B"/>
              </a:solidFill>
              <a:ln>
                <a:noFill/>
              </a:ln>
            </p:spPr>
          </p:sp>
          <p:sp>
            <p:nvSpPr>
              <p:cNvPr id="197" name="TextBox 197"/>
              <p:cNvSpPr txBox="1"/>
              <p:nvPr/>
            </p:nvSpPr>
            <p:spPr>
              <a:xfrm>
                <a:off x="8081377" y="25043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198" name="Ellipse 198"/>
              <p:cNvSpPr/>
              <p:nvPr/>
            </p:nvSpPr>
            <p:spPr>
              <a:xfrm>
                <a:off x="9110662" y="2443162"/>
                <a:ext cx="200025" cy="200025"/>
              </a:xfrm>
              <a:prstGeom prst="ellipse">
                <a:avLst/>
              </a:prstGeom>
              <a:solidFill>
                <a:srgbClr val="FFFFFF"/>
              </a:solidFill>
              <a:ln w="9525">
                <a:solidFill>
                  <a:srgbClr val="BE776A"/>
                </a:solidFill>
              </a:ln>
            </p:spPr>
          </p:sp>
          <p:sp>
            <p:nvSpPr>
              <p:cNvPr id="199" name="TextBox 199"/>
              <p:cNvSpPr txBox="1"/>
              <p:nvPr/>
            </p:nvSpPr>
            <p:spPr>
              <a:xfrm>
                <a:off x="9176752" y="250436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200" name="Ellipse 200"/>
              <p:cNvSpPr/>
              <p:nvPr/>
            </p:nvSpPr>
            <p:spPr>
              <a:xfrm>
                <a:off x="10206038" y="2443162"/>
                <a:ext cx="200025" cy="200025"/>
              </a:xfrm>
              <a:prstGeom prst="ellipse">
                <a:avLst/>
              </a:prstGeom>
              <a:solidFill>
                <a:srgbClr val="C93F27"/>
              </a:solidFill>
              <a:ln>
                <a:noFill/>
              </a:ln>
            </p:spPr>
          </p:sp>
          <p:sp>
            <p:nvSpPr>
              <p:cNvPr id="201" name="TextBox 201"/>
              <p:cNvSpPr txBox="1"/>
              <p:nvPr/>
            </p:nvSpPr>
            <p:spPr>
              <a:xfrm>
                <a:off x="10272127" y="25043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202" name="Ellipse 202"/>
              <p:cNvSpPr/>
              <p:nvPr/>
            </p:nvSpPr>
            <p:spPr>
              <a:xfrm>
                <a:off x="11301412" y="2443162"/>
                <a:ext cx="200025" cy="200025"/>
              </a:xfrm>
              <a:prstGeom prst="ellipse">
                <a:avLst/>
              </a:prstGeom>
              <a:solidFill>
                <a:srgbClr val="FFFFFF"/>
              </a:solidFill>
              <a:ln w="9525">
                <a:solidFill>
                  <a:srgbClr val="B9C0B4"/>
                </a:solidFill>
              </a:ln>
            </p:spPr>
          </p:sp>
          <p:sp>
            <p:nvSpPr>
              <p:cNvPr id="203" name="TextBox 203"/>
              <p:cNvSpPr txBox="1"/>
              <p:nvPr/>
            </p:nvSpPr>
            <p:spPr>
              <a:xfrm>
                <a:off x="11380757" y="250436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204" name="Rectangle 204"/>
              <p:cNvSpPr/>
              <p:nvPr/>
            </p:nvSpPr>
            <p:spPr>
              <a:xfrm>
                <a:off x="5753100" y="2686050"/>
                <a:ext cx="6210300" cy="285750"/>
              </a:xfrm>
              <a:prstGeom prst="rect">
                <a:avLst/>
              </a:prstGeom>
              <a:solidFill>
                <a:srgbClr val="F4F8EC"/>
              </a:solidFill>
              <a:ln>
                <a:noFill/>
              </a:ln>
            </p:spPr>
          </p:sp>
          <p:sp>
            <p:nvSpPr>
              <p:cNvPr id="205" name="Rectangle 205"/>
              <p:cNvSpPr/>
              <p:nvPr/>
            </p:nvSpPr>
            <p:spPr>
              <a:xfrm>
                <a:off x="5753100" y="2686050"/>
                <a:ext cx="723900" cy="285750"/>
              </a:xfrm>
              <a:prstGeom prst="rect">
                <a:avLst/>
              </a:prstGeom>
              <a:solidFill>
                <a:srgbClr val="E7F2D8"/>
              </a:solidFill>
              <a:ln>
                <a:noFill/>
              </a:ln>
            </p:spPr>
          </p:sp>
          <p:sp>
            <p:nvSpPr>
              <p:cNvPr id="206" name="TextBox 206"/>
              <p:cNvSpPr txBox="1"/>
              <p:nvPr/>
            </p:nvSpPr>
            <p:spPr>
              <a:xfrm>
                <a:off x="6003938" y="2782014"/>
                <a:ext cx="22222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发布</a:t>
                </a:r>
              </a:p>
            </p:txBody>
          </p:sp>
          <p:sp>
            <p:nvSpPr>
              <p:cNvPr id="207" name="Ellipse 207"/>
              <p:cNvSpPr/>
              <p:nvPr/>
            </p:nvSpPr>
            <p:spPr>
              <a:xfrm>
                <a:off x="6919912" y="2728912"/>
                <a:ext cx="200025" cy="200025"/>
              </a:xfrm>
              <a:prstGeom prst="ellipse">
                <a:avLst/>
              </a:prstGeom>
              <a:solidFill>
                <a:srgbClr val="FFFFFF"/>
              </a:solidFill>
              <a:ln w="9525">
                <a:solidFill>
                  <a:srgbClr val="B9C0B4"/>
                </a:solidFill>
              </a:ln>
            </p:spPr>
          </p:sp>
          <p:sp>
            <p:nvSpPr>
              <p:cNvPr id="208" name="TextBox 208"/>
              <p:cNvSpPr txBox="1"/>
              <p:nvPr/>
            </p:nvSpPr>
            <p:spPr>
              <a:xfrm>
                <a:off x="6999257" y="279011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209" name="Ellipse 209"/>
              <p:cNvSpPr/>
              <p:nvPr/>
            </p:nvSpPr>
            <p:spPr>
              <a:xfrm>
                <a:off x="8015288" y="2728912"/>
                <a:ext cx="200025" cy="200025"/>
              </a:xfrm>
              <a:prstGeom prst="ellipse">
                <a:avLst/>
              </a:prstGeom>
              <a:solidFill>
                <a:srgbClr val="42140B"/>
              </a:solidFill>
              <a:ln>
                <a:noFill/>
              </a:ln>
            </p:spPr>
          </p:sp>
          <p:sp>
            <p:nvSpPr>
              <p:cNvPr id="210" name="TextBox 210"/>
              <p:cNvSpPr txBox="1"/>
              <p:nvPr/>
            </p:nvSpPr>
            <p:spPr>
              <a:xfrm>
                <a:off x="8081377" y="279011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11" name="Ellipse 211"/>
              <p:cNvSpPr/>
              <p:nvPr/>
            </p:nvSpPr>
            <p:spPr>
              <a:xfrm>
                <a:off x="9110662" y="2728912"/>
                <a:ext cx="200025" cy="200025"/>
              </a:xfrm>
              <a:prstGeom prst="ellipse">
                <a:avLst/>
              </a:prstGeom>
              <a:solidFill>
                <a:srgbClr val="FFFFFF"/>
              </a:solidFill>
              <a:ln w="9525">
                <a:solidFill>
                  <a:srgbClr val="BE776A"/>
                </a:solidFill>
              </a:ln>
            </p:spPr>
          </p:sp>
          <p:sp>
            <p:nvSpPr>
              <p:cNvPr id="212" name="TextBox 212"/>
              <p:cNvSpPr txBox="1"/>
              <p:nvPr/>
            </p:nvSpPr>
            <p:spPr>
              <a:xfrm>
                <a:off x="9176752" y="279011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213" name="Ellipse 213"/>
              <p:cNvSpPr/>
              <p:nvPr/>
            </p:nvSpPr>
            <p:spPr>
              <a:xfrm>
                <a:off x="10206038" y="2728912"/>
                <a:ext cx="200025" cy="200025"/>
              </a:xfrm>
              <a:prstGeom prst="ellipse">
                <a:avLst/>
              </a:prstGeom>
              <a:solidFill>
                <a:srgbClr val="C93F27"/>
              </a:solidFill>
              <a:ln>
                <a:noFill/>
              </a:ln>
            </p:spPr>
          </p:sp>
          <p:sp>
            <p:nvSpPr>
              <p:cNvPr id="214" name="TextBox 214"/>
              <p:cNvSpPr txBox="1"/>
              <p:nvPr/>
            </p:nvSpPr>
            <p:spPr>
              <a:xfrm>
                <a:off x="10272127" y="279011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215" name="Ellipse 215"/>
              <p:cNvSpPr/>
              <p:nvPr/>
            </p:nvSpPr>
            <p:spPr>
              <a:xfrm>
                <a:off x="11301412" y="2728912"/>
                <a:ext cx="200025" cy="200025"/>
              </a:xfrm>
              <a:prstGeom prst="ellipse">
                <a:avLst/>
              </a:prstGeom>
              <a:solidFill>
                <a:srgbClr val="C93F27"/>
              </a:solidFill>
              <a:ln>
                <a:noFill/>
              </a:ln>
            </p:spPr>
          </p:sp>
          <p:sp>
            <p:nvSpPr>
              <p:cNvPr id="216" name="TextBox 216"/>
              <p:cNvSpPr txBox="1"/>
              <p:nvPr/>
            </p:nvSpPr>
            <p:spPr>
              <a:xfrm>
                <a:off x="11367502" y="279011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217" name="Rectangle 217"/>
              <p:cNvSpPr/>
              <p:nvPr/>
            </p:nvSpPr>
            <p:spPr>
              <a:xfrm>
                <a:off x="5753100" y="2971800"/>
                <a:ext cx="6210300" cy="285750"/>
              </a:xfrm>
              <a:prstGeom prst="rect">
                <a:avLst/>
              </a:prstGeom>
              <a:solidFill>
                <a:srgbClr val="FFFFFF"/>
              </a:solidFill>
              <a:ln>
                <a:noFill/>
              </a:ln>
            </p:spPr>
          </p:sp>
          <p:sp>
            <p:nvSpPr>
              <p:cNvPr id="218" name="Rectangle 218"/>
              <p:cNvSpPr/>
              <p:nvPr/>
            </p:nvSpPr>
            <p:spPr>
              <a:xfrm>
                <a:off x="5753100" y="2971800"/>
                <a:ext cx="723900" cy="285750"/>
              </a:xfrm>
              <a:prstGeom prst="rect">
                <a:avLst/>
              </a:prstGeom>
              <a:solidFill>
                <a:srgbClr val="F4F8EC"/>
              </a:solidFill>
              <a:ln>
                <a:noFill/>
              </a:ln>
            </p:spPr>
          </p:sp>
          <p:sp>
            <p:nvSpPr>
              <p:cNvPr id="219" name="TextBox 219"/>
              <p:cNvSpPr txBox="1"/>
              <p:nvPr/>
            </p:nvSpPr>
            <p:spPr>
              <a:xfrm>
                <a:off x="6003938" y="3067764"/>
                <a:ext cx="22222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使用</a:t>
                </a:r>
              </a:p>
            </p:txBody>
          </p:sp>
          <p:sp>
            <p:nvSpPr>
              <p:cNvPr id="220" name="Ellipse 220"/>
              <p:cNvSpPr/>
              <p:nvPr/>
            </p:nvSpPr>
            <p:spPr>
              <a:xfrm>
                <a:off x="6919912" y="3014662"/>
                <a:ext cx="200025" cy="200025"/>
              </a:xfrm>
              <a:prstGeom prst="ellipse">
                <a:avLst/>
              </a:prstGeom>
              <a:solidFill>
                <a:srgbClr val="42140B"/>
              </a:solidFill>
              <a:ln>
                <a:noFill/>
              </a:ln>
            </p:spPr>
          </p:sp>
          <p:sp>
            <p:nvSpPr>
              <p:cNvPr id="221" name="TextBox 221"/>
              <p:cNvSpPr txBox="1"/>
              <p:nvPr/>
            </p:nvSpPr>
            <p:spPr>
              <a:xfrm>
                <a:off x="6986002" y="30758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22" name="Ellipse 222"/>
              <p:cNvSpPr/>
              <p:nvPr/>
            </p:nvSpPr>
            <p:spPr>
              <a:xfrm>
                <a:off x="8015288" y="3014662"/>
                <a:ext cx="200025" cy="200025"/>
              </a:xfrm>
              <a:prstGeom prst="ellipse">
                <a:avLst/>
              </a:prstGeom>
              <a:solidFill>
                <a:srgbClr val="FFFFFF"/>
              </a:solidFill>
              <a:ln w="9525">
                <a:solidFill>
                  <a:srgbClr val="BE776A"/>
                </a:solidFill>
              </a:ln>
            </p:spPr>
          </p:sp>
          <p:sp>
            <p:nvSpPr>
              <p:cNvPr id="223" name="TextBox 223"/>
              <p:cNvSpPr txBox="1"/>
              <p:nvPr/>
            </p:nvSpPr>
            <p:spPr>
              <a:xfrm>
                <a:off x="8081377" y="307586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224" name="Ellipse 224"/>
              <p:cNvSpPr/>
              <p:nvPr/>
            </p:nvSpPr>
            <p:spPr>
              <a:xfrm>
                <a:off x="9110662" y="3014662"/>
                <a:ext cx="200025" cy="200025"/>
              </a:xfrm>
              <a:prstGeom prst="ellipse">
                <a:avLst/>
              </a:prstGeom>
              <a:solidFill>
                <a:srgbClr val="FFFFFF"/>
              </a:solidFill>
              <a:ln w="9525">
                <a:solidFill>
                  <a:srgbClr val="B9C0B4"/>
                </a:solidFill>
              </a:ln>
            </p:spPr>
          </p:sp>
          <p:sp>
            <p:nvSpPr>
              <p:cNvPr id="225" name="TextBox 225"/>
              <p:cNvSpPr txBox="1"/>
              <p:nvPr/>
            </p:nvSpPr>
            <p:spPr>
              <a:xfrm>
                <a:off x="9190007" y="307586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226" name="Ellipse 226"/>
              <p:cNvSpPr/>
              <p:nvPr/>
            </p:nvSpPr>
            <p:spPr>
              <a:xfrm>
                <a:off x="10206038" y="3014662"/>
                <a:ext cx="200025" cy="200025"/>
              </a:xfrm>
              <a:prstGeom prst="ellipse">
                <a:avLst/>
              </a:prstGeom>
              <a:solidFill>
                <a:srgbClr val="FFFFFF"/>
              </a:solidFill>
              <a:ln w="9525">
                <a:solidFill>
                  <a:srgbClr val="BE776A"/>
                </a:solidFill>
              </a:ln>
            </p:spPr>
          </p:sp>
          <p:sp>
            <p:nvSpPr>
              <p:cNvPr id="227" name="TextBox 227"/>
              <p:cNvSpPr txBox="1"/>
              <p:nvPr/>
            </p:nvSpPr>
            <p:spPr>
              <a:xfrm>
                <a:off x="10272127" y="307586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228" name="Ellipse 228"/>
              <p:cNvSpPr/>
              <p:nvPr/>
            </p:nvSpPr>
            <p:spPr>
              <a:xfrm>
                <a:off x="11301412" y="3014662"/>
                <a:ext cx="200025" cy="200025"/>
              </a:xfrm>
              <a:prstGeom prst="ellipse">
                <a:avLst/>
              </a:prstGeom>
              <a:solidFill>
                <a:srgbClr val="C93F27"/>
              </a:solidFill>
              <a:ln>
                <a:noFill/>
              </a:ln>
            </p:spPr>
          </p:sp>
          <p:sp>
            <p:nvSpPr>
              <p:cNvPr id="229" name="TextBox 229"/>
              <p:cNvSpPr txBox="1"/>
              <p:nvPr/>
            </p:nvSpPr>
            <p:spPr>
              <a:xfrm>
                <a:off x="11367502" y="30758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230" name="Rectangle 230"/>
              <p:cNvSpPr/>
              <p:nvPr/>
            </p:nvSpPr>
            <p:spPr>
              <a:xfrm>
                <a:off x="5753100" y="3257550"/>
                <a:ext cx="6210300" cy="285750"/>
              </a:xfrm>
              <a:prstGeom prst="rect">
                <a:avLst/>
              </a:prstGeom>
              <a:solidFill>
                <a:srgbClr val="F4F8EC"/>
              </a:solidFill>
              <a:ln>
                <a:noFill/>
              </a:ln>
            </p:spPr>
          </p:sp>
          <p:sp>
            <p:nvSpPr>
              <p:cNvPr id="231" name="Rectangle 231"/>
              <p:cNvSpPr/>
              <p:nvPr/>
            </p:nvSpPr>
            <p:spPr>
              <a:xfrm>
                <a:off x="5753100" y="3257550"/>
                <a:ext cx="723900" cy="285750"/>
              </a:xfrm>
              <a:prstGeom prst="rect">
                <a:avLst/>
              </a:prstGeom>
              <a:solidFill>
                <a:srgbClr val="E7F2D8"/>
              </a:solidFill>
              <a:ln>
                <a:noFill/>
              </a:ln>
            </p:spPr>
          </p:sp>
          <p:sp>
            <p:nvSpPr>
              <p:cNvPr id="232" name="TextBox 232"/>
              <p:cNvSpPr txBox="1"/>
              <p:nvPr/>
            </p:nvSpPr>
            <p:spPr>
              <a:xfrm>
                <a:off x="6003938" y="3353514"/>
                <a:ext cx="22222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反馈</a:t>
                </a:r>
              </a:p>
            </p:txBody>
          </p:sp>
          <p:sp>
            <p:nvSpPr>
              <p:cNvPr id="233" name="Ellipse 233"/>
              <p:cNvSpPr/>
              <p:nvPr/>
            </p:nvSpPr>
            <p:spPr>
              <a:xfrm>
                <a:off x="6919912" y="3300412"/>
                <a:ext cx="200025" cy="200025"/>
              </a:xfrm>
              <a:prstGeom prst="ellipse">
                <a:avLst/>
              </a:prstGeom>
              <a:solidFill>
                <a:srgbClr val="42140B"/>
              </a:solidFill>
              <a:ln>
                <a:noFill/>
              </a:ln>
            </p:spPr>
          </p:sp>
          <p:sp>
            <p:nvSpPr>
              <p:cNvPr id="234" name="TextBox 234"/>
              <p:cNvSpPr txBox="1"/>
              <p:nvPr/>
            </p:nvSpPr>
            <p:spPr>
              <a:xfrm>
                <a:off x="6986002" y="336161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35" name="Ellipse 235"/>
              <p:cNvSpPr/>
              <p:nvPr/>
            </p:nvSpPr>
            <p:spPr>
              <a:xfrm>
                <a:off x="8015288" y="3300412"/>
                <a:ext cx="200025" cy="200025"/>
              </a:xfrm>
              <a:prstGeom prst="ellipse">
                <a:avLst/>
              </a:prstGeom>
              <a:solidFill>
                <a:srgbClr val="C93F27"/>
              </a:solidFill>
              <a:ln>
                <a:noFill/>
              </a:ln>
            </p:spPr>
          </p:sp>
          <p:sp>
            <p:nvSpPr>
              <p:cNvPr id="236" name="TextBox 236"/>
              <p:cNvSpPr txBox="1"/>
              <p:nvPr/>
            </p:nvSpPr>
            <p:spPr>
              <a:xfrm>
                <a:off x="8081377" y="336161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237" name="Ellipse 237"/>
              <p:cNvSpPr/>
              <p:nvPr/>
            </p:nvSpPr>
            <p:spPr>
              <a:xfrm>
                <a:off x="9110662" y="3300412"/>
                <a:ext cx="200025" cy="200025"/>
              </a:xfrm>
              <a:prstGeom prst="ellipse">
                <a:avLst/>
              </a:prstGeom>
              <a:solidFill>
                <a:srgbClr val="FFFFFF"/>
              </a:solidFill>
              <a:ln w="9525">
                <a:solidFill>
                  <a:srgbClr val="B9C0B4"/>
                </a:solidFill>
              </a:ln>
            </p:spPr>
          </p:sp>
          <p:sp>
            <p:nvSpPr>
              <p:cNvPr id="238" name="TextBox 238"/>
              <p:cNvSpPr txBox="1"/>
              <p:nvPr/>
            </p:nvSpPr>
            <p:spPr>
              <a:xfrm>
                <a:off x="9190007" y="336161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239" name="Ellipse 239"/>
              <p:cNvSpPr/>
              <p:nvPr/>
            </p:nvSpPr>
            <p:spPr>
              <a:xfrm>
                <a:off x="10206038" y="3300412"/>
                <a:ext cx="200025" cy="200025"/>
              </a:xfrm>
              <a:prstGeom prst="ellipse">
                <a:avLst/>
              </a:prstGeom>
              <a:solidFill>
                <a:srgbClr val="FFFFFF"/>
              </a:solidFill>
              <a:ln w="9525">
                <a:solidFill>
                  <a:srgbClr val="BE776A"/>
                </a:solidFill>
              </a:ln>
            </p:spPr>
          </p:sp>
          <p:sp>
            <p:nvSpPr>
              <p:cNvPr id="240" name="TextBox 240"/>
              <p:cNvSpPr txBox="1"/>
              <p:nvPr/>
            </p:nvSpPr>
            <p:spPr>
              <a:xfrm>
                <a:off x="10272127" y="336161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241" name="Ellipse 241"/>
              <p:cNvSpPr/>
              <p:nvPr/>
            </p:nvSpPr>
            <p:spPr>
              <a:xfrm>
                <a:off x="11301412" y="3300412"/>
                <a:ext cx="200025" cy="200025"/>
              </a:xfrm>
              <a:prstGeom prst="ellipse">
                <a:avLst/>
              </a:prstGeom>
              <a:solidFill>
                <a:srgbClr val="FFFFFF"/>
              </a:solidFill>
              <a:ln w="9525">
                <a:solidFill>
                  <a:srgbClr val="B9C0B4"/>
                </a:solidFill>
              </a:ln>
            </p:spPr>
          </p:sp>
          <p:sp>
            <p:nvSpPr>
              <p:cNvPr id="242" name="TextBox 242"/>
              <p:cNvSpPr txBox="1"/>
              <p:nvPr/>
            </p:nvSpPr>
            <p:spPr>
              <a:xfrm>
                <a:off x="11380757" y="336161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sp>
            <p:nvSpPr>
              <p:cNvPr id="243" name="Rectangle 243"/>
              <p:cNvSpPr/>
              <p:nvPr/>
            </p:nvSpPr>
            <p:spPr>
              <a:xfrm>
                <a:off x="5753100" y="3543300"/>
                <a:ext cx="6210300" cy="285750"/>
              </a:xfrm>
              <a:prstGeom prst="rect">
                <a:avLst/>
              </a:prstGeom>
              <a:solidFill>
                <a:srgbClr val="FFFFFF"/>
              </a:solidFill>
              <a:ln>
                <a:noFill/>
              </a:ln>
            </p:spPr>
          </p:sp>
          <p:sp>
            <p:nvSpPr>
              <p:cNvPr id="244" name="Rectangle 244"/>
              <p:cNvSpPr/>
              <p:nvPr/>
            </p:nvSpPr>
            <p:spPr>
              <a:xfrm>
                <a:off x="5753100" y="3543300"/>
                <a:ext cx="723900" cy="285750"/>
              </a:xfrm>
              <a:prstGeom prst="rect">
                <a:avLst/>
              </a:prstGeom>
              <a:solidFill>
                <a:srgbClr val="F4F8EC"/>
              </a:solidFill>
              <a:ln>
                <a:noFill/>
              </a:ln>
            </p:spPr>
          </p:sp>
          <p:sp>
            <p:nvSpPr>
              <p:cNvPr id="245" name="TextBox 245"/>
              <p:cNvSpPr txBox="1"/>
              <p:nvPr/>
            </p:nvSpPr>
            <p:spPr>
              <a:xfrm>
                <a:off x="6003938" y="3639264"/>
                <a:ext cx="222225"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退役</a:t>
                </a:r>
              </a:p>
            </p:txBody>
          </p:sp>
          <p:sp>
            <p:nvSpPr>
              <p:cNvPr id="246" name="Ellipse 246"/>
              <p:cNvSpPr/>
              <p:nvPr/>
            </p:nvSpPr>
            <p:spPr>
              <a:xfrm>
                <a:off x="6919912" y="3586162"/>
                <a:ext cx="200025" cy="200025"/>
              </a:xfrm>
              <a:prstGeom prst="ellipse">
                <a:avLst/>
              </a:prstGeom>
              <a:solidFill>
                <a:srgbClr val="FFFFFF"/>
              </a:solidFill>
              <a:ln w="9525">
                <a:solidFill>
                  <a:srgbClr val="BE776A"/>
                </a:solidFill>
              </a:ln>
            </p:spPr>
          </p:sp>
          <p:sp>
            <p:nvSpPr>
              <p:cNvPr id="247" name="TextBox 247"/>
              <p:cNvSpPr txBox="1"/>
              <p:nvPr/>
            </p:nvSpPr>
            <p:spPr>
              <a:xfrm>
                <a:off x="6986002" y="3647361"/>
                <a:ext cx="67847" cy="140494"/>
              </a:xfrm>
              <a:prstGeom prst="rect">
                <a:avLst/>
              </a:prstGeom>
              <a:noFill/>
              <a:ln>
                <a:noFill/>
              </a:ln>
            </p:spPr>
            <p:txBody>
              <a:bodyPr wrap="none" lIns="0" tIns="0" rIns="0" bIns="0" anchor="t" anchorCtr="0">
                <a:spAutoFit/>
              </a:bodyPr>
              <a:lstStyle/>
              <a:p>
                <a:pPr algn="ctr"/>
                <a:r>
                  <a:rPr lang="en-US" sz="710" b="1" dirty="0">
                    <a:solidFill>
                      <a:srgbClr val="7C3B2F"/>
                    </a:solidFill>
                    <a:latin typeface="+mn-lt"/>
                    <a:ea typeface="+mn-ea"/>
                    <a:cs typeface="+mn-cs"/>
                  </a:rPr>
                  <a:t>C</a:t>
                </a:r>
              </a:p>
            </p:txBody>
          </p:sp>
          <p:sp>
            <p:nvSpPr>
              <p:cNvPr id="248" name="Ellipse 248"/>
              <p:cNvSpPr/>
              <p:nvPr/>
            </p:nvSpPr>
            <p:spPr>
              <a:xfrm>
                <a:off x="8015288" y="3586162"/>
                <a:ext cx="200025" cy="200025"/>
              </a:xfrm>
              <a:prstGeom prst="ellipse">
                <a:avLst/>
              </a:prstGeom>
              <a:solidFill>
                <a:srgbClr val="42140B"/>
              </a:solidFill>
              <a:ln>
                <a:noFill/>
              </a:ln>
            </p:spPr>
          </p:sp>
          <p:sp>
            <p:nvSpPr>
              <p:cNvPr id="249" name="TextBox 249"/>
              <p:cNvSpPr txBox="1"/>
              <p:nvPr/>
            </p:nvSpPr>
            <p:spPr>
              <a:xfrm>
                <a:off x="8081377" y="36473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50" name="Ellipse 250"/>
              <p:cNvSpPr/>
              <p:nvPr/>
            </p:nvSpPr>
            <p:spPr>
              <a:xfrm>
                <a:off x="9110662" y="3586162"/>
                <a:ext cx="200025" cy="200025"/>
              </a:xfrm>
              <a:prstGeom prst="ellipse">
                <a:avLst/>
              </a:prstGeom>
              <a:solidFill>
                <a:srgbClr val="C93F27"/>
              </a:solidFill>
              <a:ln>
                <a:noFill/>
              </a:ln>
            </p:spPr>
          </p:sp>
          <p:sp>
            <p:nvSpPr>
              <p:cNvPr id="251" name="TextBox 251"/>
              <p:cNvSpPr txBox="1"/>
              <p:nvPr/>
            </p:nvSpPr>
            <p:spPr>
              <a:xfrm>
                <a:off x="9176752" y="36473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252" name="Ellipse 252"/>
              <p:cNvSpPr/>
              <p:nvPr/>
            </p:nvSpPr>
            <p:spPr>
              <a:xfrm>
                <a:off x="10206038" y="3586162"/>
                <a:ext cx="200025" cy="200025"/>
              </a:xfrm>
              <a:prstGeom prst="ellipse">
                <a:avLst/>
              </a:prstGeom>
              <a:solidFill>
                <a:srgbClr val="C93F27"/>
              </a:solidFill>
              <a:ln>
                <a:noFill/>
              </a:ln>
            </p:spPr>
          </p:sp>
          <p:sp>
            <p:nvSpPr>
              <p:cNvPr id="253" name="TextBox 253"/>
              <p:cNvSpPr txBox="1"/>
              <p:nvPr/>
            </p:nvSpPr>
            <p:spPr>
              <a:xfrm>
                <a:off x="10272127" y="3647361"/>
                <a:ext cx="6784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A</a:t>
                </a:r>
              </a:p>
            </p:txBody>
          </p:sp>
          <p:sp>
            <p:nvSpPr>
              <p:cNvPr id="254" name="Ellipse 254"/>
              <p:cNvSpPr/>
              <p:nvPr/>
            </p:nvSpPr>
            <p:spPr>
              <a:xfrm>
                <a:off x="11301412" y="3586162"/>
                <a:ext cx="200025" cy="200025"/>
              </a:xfrm>
              <a:prstGeom prst="ellipse">
                <a:avLst/>
              </a:prstGeom>
              <a:solidFill>
                <a:srgbClr val="FFFFFF"/>
              </a:solidFill>
              <a:ln w="9525">
                <a:solidFill>
                  <a:srgbClr val="B9C0B4"/>
                </a:solidFill>
              </a:ln>
            </p:spPr>
          </p:sp>
          <p:sp>
            <p:nvSpPr>
              <p:cNvPr id="255" name="TextBox 255"/>
              <p:cNvSpPr txBox="1"/>
              <p:nvPr/>
            </p:nvSpPr>
            <p:spPr>
              <a:xfrm>
                <a:off x="11380757" y="3647361"/>
                <a:ext cx="41337" cy="140494"/>
              </a:xfrm>
              <a:prstGeom prst="rect">
                <a:avLst/>
              </a:prstGeom>
              <a:noFill/>
              <a:ln>
                <a:noFill/>
              </a:ln>
            </p:spPr>
            <p:txBody>
              <a:bodyPr wrap="none" lIns="0" tIns="0" rIns="0" bIns="0" anchor="t" anchorCtr="0">
                <a:spAutoFit/>
              </a:bodyPr>
              <a:lstStyle/>
              <a:p>
                <a:pPr algn="ctr"/>
                <a:r>
                  <a:rPr lang="en-US" sz="710" b="1" dirty="0">
                    <a:solidFill>
                      <a:srgbClr val="66705F"/>
                    </a:solidFill>
                    <a:latin typeface="+mn-lt"/>
                    <a:ea typeface="+mn-ea"/>
                    <a:cs typeface="+mn-cs"/>
                  </a:rPr>
                  <a:t>I</a:t>
                </a:r>
              </a:p>
            </p:txBody>
          </p:sp>
        </p:grpSp>
        <p:sp>
          <p:nvSpPr>
            <p:cNvPr id="257" name="Line 257"/>
            <p:cNvSpPr/>
            <p:nvPr/>
          </p:nvSpPr>
          <p:spPr>
            <a:xfrm>
              <a:off x="5753100" y="3829050"/>
              <a:ext cx="6210300" cy="9525"/>
            </a:xfrm>
            <a:custGeom>
              <a:avLst/>
              <a:gdLst/>
              <a:ahLst/>
              <a:cxnLst/>
              <a:rect l="l" t="t" r="r" b="b"/>
              <a:pathLst>
                <a:path w="6210300" h="9525">
                  <a:moveTo>
                    <a:pt x="0" y="0"/>
                  </a:moveTo>
                  <a:lnTo>
                    <a:pt x="6210300" y="0"/>
                  </a:lnTo>
                </a:path>
              </a:pathLst>
            </a:custGeom>
            <a:noFill/>
            <a:ln w="9525">
              <a:solidFill>
                <a:srgbClr val="D9E8C6"/>
              </a:solidFill>
            </a:ln>
          </p:spPr>
        </p:sp>
        <p:grpSp>
          <p:nvGrpSpPr>
            <p:cNvPr id="271" name="raci-legend"/>
            <p:cNvGrpSpPr/>
            <p:nvPr/>
          </p:nvGrpSpPr>
          <p:grpSpPr>
            <a:xfrm>
              <a:off x="5838825" y="3952875"/>
              <a:ext cx="4792671" cy="454105"/>
              <a:chOff x="5838825" y="3952875"/>
              <a:chExt cx="4792671" cy="454105"/>
            </a:xfrm>
          </p:grpSpPr>
          <p:sp>
            <p:nvSpPr>
              <p:cNvPr id="258" name="Ellipse 258"/>
              <p:cNvSpPr/>
              <p:nvPr/>
            </p:nvSpPr>
            <p:spPr>
              <a:xfrm>
                <a:off x="5838825" y="3952875"/>
                <a:ext cx="171450" cy="171450"/>
              </a:xfrm>
              <a:prstGeom prst="ellipse">
                <a:avLst/>
              </a:prstGeom>
              <a:solidFill>
                <a:srgbClr val="42140B"/>
              </a:solidFill>
              <a:ln>
                <a:noFill/>
              </a:ln>
            </p:spPr>
          </p:sp>
          <p:sp>
            <p:nvSpPr>
              <p:cNvPr id="259" name="TextBox 259"/>
              <p:cNvSpPr txBox="1"/>
              <p:nvPr/>
            </p:nvSpPr>
            <p:spPr>
              <a:xfrm>
                <a:off x="5893502" y="4007882"/>
                <a:ext cx="62097"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R</a:t>
                </a:r>
              </a:p>
            </p:txBody>
          </p:sp>
          <p:sp>
            <p:nvSpPr>
              <p:cNvPr id="260" name="TextBox 260"/>
              <p:cNvSpPr txBox="1"/>
              <p:nvPr/>
            </p:nvSpPr>
            <p:spPr>
              <a:xfrm>
                <a:off x="6053138" y="3999786"/>
                <a:ext cx="1211786" cy="140494"/>
              </a:xfrm>
              <a:prstGeom prst="rect">
                <a:avLst/>
              </a:prstGeom>
              <a:noFill/>
              <a:ln>
                <a:noFill/>
              </a:ln>
            </p:spPr>
            <p:txBody>
              <a:bodyPr wrap="none" lIns="0" tIns="0" rIns="0" bIns="0" anchor="t" anchorCtr="0">
                <a:spAutoFit/>
              </a:bodyPr>
              <a:lstStyle/>
              <a:p>
                <a:pPr algn="l"/>
                <a:r>
                  <a:rPr lang="zh-CN" sz="710" dirty="0">
                    <a:solidFill>
                      <a:srgbClr val="3A4238"/>
                    </a:solidFill>
                    <a:latin typeface="+mn-lt"/>
                    <a:ea typeface="+mn-ea"/>
                    <a:cs typeface="+mn-cs"/>
                  </a:rPr>
                  <a:t xml:space="preserve">负责执行（Responsible）　</a:t>
                </a:r>
              </a:p>
            </p:txBody>
          </p:sp>
          <p:sp>
            <p:nvSpPr>
              <p:cNvPr id="261" name="Ellipse 261"/>
              <p:cNvSpPr/>
              <p:nvPr/>
            </p:nvSpPr>
            <p:spPr>
              <a:xfrm>
                <a:off x="7591425" y="3952875"/>
                <a:ext cx="171450" cy="171450"/>
              </a:xfrm>
              <a:prstGeom prst="ellipse">
                <a:avLst/>
              </a:prstGeom>
              <a:solidFill>
                <a:srgbClr val="C93F27"/>
              </a:solidFill>
              <a:ln>
                <a:noFill/>
              </a:ln>
            </p:spPr>
          </p:sp>
          <p:sp>
            <p:nvSpPr>
              <p:cNvPr id="262" name="TextBox 262"/>
              <p:cNvSpPr txBox="1"/>
              <p:nvPr/>
            </p:nvSpPr>
            <p:spPr>
              <a:xfrm>
                <a:off x="7646102" y="4007882"/>
                <a:ext cx="62097"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A</a:t>
                </a:r>
              </a:p>
            </p:txBody>
          </p:sp>
          <p:sp>
            <p:nvSpPr>
              <p:cNvPr id="263" name="TextBox 263"/>
              <p:cNvSpPr txBox="1"/>
              <p:nvPr/>
            </p:nvSpPr>
            <p:spPr>
              <a:xfrm>
                <a:off x="7805738" y="3999786"/>
                <a:ext cx="1235804" cy="140494"/>
              </a:xfrm>
              <a:prstGeom prst="rect">
                <a:avLst/>
              </a:prstGeom>
              <a:noFill/>
              <a:ln>
                <a:noFill/>
              </a:ln>
            </p:spPr>
            <p:txBody>
              <a:bodyPr wrap="none" lIns="0" tIns="0" rIns="0" bIns="0" anchor="t" anchorCtr="0">
                <a:spAutoFit/>
              </a:bodyPr>
              <a:lstStyle/>
              <a:p>
                <a:pPr algn="l"/>
                <a:r>
                  <a:rPr lang="zh-CN" sz="710" dirty="0">
                    <a:solidFill>
                      <a:srgbClr val="3A4238"/>
                    </a:solidFill>
                    <a:latin typeface="+mn-lt"/>
                    <a:ea typeface="+mn-ea"/>
                    <a:cs typeface="+mn-cs"/>
                  </a:rPr>
                  <a:t xml:space="preserve">最终负责（Accountable）　</a:t>
                </a:r>
              </a:p>
            </p:txBody>
          </p:sp>
          <p:sp>
            <p:nvSpPr>
              <p:cNvPr id="264" name="Ellipse 264"/>
              <p:cNvSpPr/>
              <p:nvPr/>
            </p:nvSpPr>
            <p:spPr>
              <a:xfrm>
                <a:off x="9382125" y="3952875"/>
                <a:ext cx="171450" cy="171450"/>
              </a:xfrm>
              <a:prstGeom prst="ellipse">
                <a:avLst/>
              </a:prstGeom>
              <a:solidFill>
                <a:srgbClr val="FFFFFF"/>
              </a:solidFill>
              <a:ln w="9525">
                <a:solidFill>
                  <a:srgbClr val="BE776A"/>
                </a:solidFill>
              </a:ln>
            </p:spPr>
          </p:sp>
          <p:sp>
            <p:nvSpPr>
              <p:cNvPr id="265" name="TextBox 265"/>
              <p:cNvSpPr txBox="1"/>
              <p:nvPr/>
            </p:nvSpPr>
            <p:spPr>
              <a:xfrm>
                <a:off x="9436802" y="4007882"/>
                <a:ext cx="62097" cy="126206"/>
              </a:xfrm>
              <a:prstGeom prst="rect">
                <a:avLst/>
              </a:prstGeom>
              <a:noFill/>
              <a:ln>
                <a:noFill/>
              </a:ln>
            </p:spPr>
            <p:txBody>
              <a:bodyPr wrap="none" lIns="0" tIns="0" rIns="0" bIns="0" anchor="t" anchorCtr="0">
                <a:spAutoFit/>
              </a:bodyPr>
              <a:lstStyle/>
              <a:p>
                <a:pPr algn="ctr"/>
                <a:r>
                  <a:rPr lang="en-US" sz="640" b="1" dirty="0">
                    <a:solidFill>
                      <a:srgbClr val="7C3B2F"/>
                    </a:solidFill>
                    <a:latin typeface="+mn-lt"/>
                    <a:ea typeface="+mn-ea"/>
                    <a:cs typeface="+mn-cs"/>
                  </a:rPr>
                  <a:t>C</a:t>
                </a:r>
              </a:p>
            </p:txBody>
          </p:sp>
          <p:sp>
            <p:nvSpPr>
              <p:cNvPr id="266" name="TextBox 266"/>
              <p:cNvSpPr txBox="1"/>
              <p:nvPr/>
            </p:nvSpPr>
            <p:spPr>
              <a:xfrm>
                <a:off x="9596438" y="3999786"/>
                <a:ext cx="1035058" cy="140494"/>
              </a:xfrm>
              <a:prstGeom prst="rect">
                <a:avLst/>
              </a:prstGeom>
              <a:noFill/>
              <a:ln>
                <a:noFill/>
              </a:ln>
            </p:spPr>
            <p:txBody>
              <a:bodyPr wrap="none" lIns="0" tIns="0" rIns="0" bIns="0" anchor="t" anchorCtr="0">
                <a:spAutoFit/>
              </a:bodyPr>
              <a:lstStyle/>
              <a:p>
                <a:pPr algn="l"/>
                <a:r>
                  <a:rPr lang="zh-CN" sz="710" dirty="0">
                    <a:solidFill>
                      <a:srgbClr val="3A4238"/>
                    </a:solidFill>
                    <a:latin typeface="+mn-lt"/>
                    <a:ea typeface="+mn-ea"/>
                    <a:cs typeface="+mn-cs"/>
                  </a:rPr>
                  <a:t>咨询协助（Consulted）</a:t>
                </a:r>
              </a:p>
            </p:txBody>
          </p:sp>
          <p:sp>
            <p:nvSpPr>
              <p:cNvPr id="267" name="Ellipse 267"/>
              <p:cNvSpPr/>
              <p:nvPr/>
            </p:nvSpPr>
            <p:spPr>
              <a:xfrm>
                <a:off x="5838825" y="4219575"/>
                <a:ext cx="171450" cy="171450"/>
              </a:xfrm>
              <a:prstGeom prst="ellipse">
                <a:avLst/>
              </a:prstGeom>
              <a:solidFill>
                <a:srgbClr val="FFFFFF"/>
              </a:solidFill>
              <a:ln w="9525">
                <a:solidFill>
                  <a:srgbClr val="B9C0B4"/>
                </a:solidFill>
              </a:ln>
            </p:spPr>
          </p:sp>
          <p:sp>
            <p:nvSpPr>
              <p:cNvPr id="268" name="TextBox 268"/>
              <p:cNvSpPr txBox="1"/>
              <p:nvPr/>
            </p:nvSpPr>
            <p:spPr>
              <a:xfrm>
                <a:off x="5905450" y="4274582"/>
                <a:ext cx="38201" cy="126206"/>
              </a:xfrm>
              <a:prstGeom prst="rect">
                <a:avLst/>
              </a:prstGeom>
              <a:noFill/>
              <a:ln>
                <a:noFill/>
              </a:ln>
            </p:spPr>
            <p:txBody>
              <a:bodyPr wrap="none" lIns="0" tIns="0" rIns="0" bIns="0" anchor="t" anchorCtr="0">
                <a:spAutoFit/>
              </a:bodyPr>
              <a:lstStyle/>
              <a:p>
                <a:pPr algn="ctr"/>
                <a:r>
                  <a:rPr lang="en-US" sz="640" b="1" dirty="0">
                    <a:solidFill>
                      <a:srgbClr val="66705F"/>
                    </a:solidFill>
                    <a:latin typeface="+mn-lt"/>
                    <a:ea typeface="+mn-ea"/>
                    <a:cs typeface="+mn-cs"/>
                  </a:rPr>
                  <a:t>I</a:t>
                </a:r>
              </a:p>
            </p:txBody>
          </p:sp>
          <p:sp>
            <p:nvSpPr>
              <p:cNvPr id="269" name="TextBox 269"/>
              <p:cNvSpPr txBox="1"/>
              <p:nvPr/>
            </p:nvSpPr>
            <p:spPr>
              <a:xfrm>
                <a:off x="6053138" y="4266486"/>
                <a:ext cx="906142" cy="140494"/>
              </a:xfrm>
              <a:prstGeom prst="rect">
                <a:avLst/>
              </a:prstGeom>
              <a:noFill/>
              <a:ln>
                <a:noFill/>
              </a:ln>
            </p:spPr>
            <p:txBody>
              <a:bodyPr wrap="none" lIns="0" tIns="0" rIns="0" bIns="0" anchor="t" anchorCtr="0">
                <a:spAutoFit/>
              </a:bodyPr>
              <a:lstStyle/>
              <a:p>
                <a:pPr algn="l"/>
                <a:r>
                  <a:rPr lang="zh-CN" sz="710" dirty="0">
                    <a:solidFill>
                      <a:srgbClr val="3A4238"/>
                    </a:solidFill>
                    <a:latin typeface="+mn-lt"/>
                    <a:ea typeface="+mn-ea"/>
                    <a:cs typeface="+mn-cs"/>
                  </a:rPr>
                  <a:t xml:space="preserve">知会（Informed）　</a:t>
                </a:r>
              </a:p>
            </p:txBody>
          </p:sp>
          <p:sp>
            <p:nvSpPr>
              <p:cNvPr id="270" name="TextBox 270"/>
              <p:cNvSpPr txBox="1"/>
              <p:nvPr/>
            </p:nvSpPr>
            <p:spPr>
              <a:xfrm>
                <a:off x="7672388" y="4266486"/>
                <a:ext cx="1200474" cy="140494"/>
              </a:xfrm>
              <a:prstGeom prst="rect">
                <a:avLst/>
              </a:prstGeom>
              <a:noFill/>
              <a:ln>
                <a:noFill/>
              </a:ln>
            </p:spPr>
            <p:txBody>
              <a:bodyPr wrap="none" lIns="0" tIns="0" rIns="0" bIns="0" anchor="t" anchorCtr="0">
                <a:spAutoFit/>
              </a:bodyPr>
              <a:lstStyle/>
              <a:p>
                <a:pPr algn="l"/>
                <a:r>
                  <a:rPr lang="zh-CN" sz="710" dirty="0">
                    <a:solidFill>
                      <a:srgbClr val="3A4238"/>
                    </a:solidFill>
                    <a:latin typeface="+mn-lt"/>
                    <a:ea typeface="+mn-ea"/>
                    <a:cs typeface="+mn-cs"/>
                  </a:rPr>
                  <a:t>-　不参与（Not Involved）</a:t>
                </a:r>
              </a:p>
            </p:txBody>
          </p:sp>
        </p:grpSp>
      </p:grpSp>
      <p:grpSp>
        <p:nvGrpSpPr>
          <p:cNvPr id="280" name="quality-label"/>
          <p:cNvGrpSpPr/>
          <p:nvPr/>
        </p:nvGrpSpPr>
        <p:grpSpPr>
          <a:xfrm>
            <a:off x="228600" y="4610100"/>
            <a:ext cx="1276350" cy="2057400"/>
            <a:chOff x="228600" y="4610100"/>
            <a:chExt cx="1276350" cy="2057400"/>
          </a:xfrm>
        </p:grpSpPr>
        <p:sp>
          <p:nvSpPr>
            <p:cNvPr id="273" name="Rectangle 273"/>
            <p:cNvSpPr/>
            <p:nvPr/>
          </p:nvSpPr>
          <p:spPr>
            <a:xfrm>
              <a:off x="228600" y="4610100"/>
              <a:ext cx="1276350" cy="2057400"/>
            </a:xfrm>
            <a:prstGeom prst="roundRect">
              <a:avLst>
                <a:gd name="adj" fmla="val 7463"/>
              </a:avLst>
            </a:prstGeom>
            <a:solidFill>
              <a:srgbClr val="42140B"/>
            </a:solidFill>
            <a:ln>
              <a:noFill/>
            </a:ln>
          </p:spPr>
        </p:sp>
        <p:grpSp>
          <p:nvGrpSpPr>
            <p:cNvPr id="277" name="Group 277"/>
            <p:cNvGrpSpPr/>
            <p:nvPr/>
          </p:nvGrpSpPr>
          <p:grpSpPr>
            <a:xfrm>
              <a:off x="788988" y="5016500"/>
              <a:ext cx="155575" cy="177801"/>
              <a:chOff x="788988" y="5016500"/>
              <a:chExt cx="155575" cy="177801"/>
            </a:xfrm>
          </p:grpSpPr>
          <p:sp>
            <p:nvSpPr>
              <p:cNvPr id="274" name="Freeform 274"/>
              <p:cNvSpPr/>
              <p:nvPr/>
            </p:nvSpPr>
            <p:spPr>
              <a:xfrm>
                <a:off x="788988" y="5016500"/>
                <a:ext cx="155575" cy="177801"/>
              </a:xfrm>
              <a:custGeom>
                <a:avLst/>
                <a:gdLst/>
                <a:ahLst/>
                <a:cxnLst/>
                <a:rect l="l" t="t" r="r" b="b"/>
                <a:pathLst>
                  <a:path w="155575" h="177801">
                    <a:moveTo>
                      <a:pt x="155575" y="0"/>
                    </a:moveTo>
                    <a:lnTo>
                      <a:pt x="155575" y="177801"/>
                    </a:lnTo>
                    <a:lnTo>
                      <a:pt x="22225" y="177801"/>
                    </a:lnTo>
                    <a:cubicBezTo>
                      <a:pt x="9950" y="177801"/>
                      <a:pt x="0" y="167850"/>
                      <a:pt x="0" y="155575"/>
                    </a:cubicBezTo>
                    <a:lnTo>
                      <a:pt x="0" y="22225"/>
                    </a:lnTo>
                    <a:cubicBezTo>
                      <a:pt x="0" y="9950"/>
                      <a:pt x="9950" y="0"/>
                      <a:pt x="22225" y="0"/>
                    </a:cubicBezTo>
                    <a:lnTo>
                      <a:pt x="155575" y="0"/>
                    </a:lnTo>
                  </a:path>
                </a:pathLst>
              </a:custGeom>
              <a:noFill/>
              <a:ln w="22225">
                <a:solidFill>
                  <a:srgbClr val="E4B7AF"/>
                </a:solidFill>
              </a:ln>
            </p:spPr>
          </p:sp>
          <p:sp>
            <p:nvSpPr>
              <p:cNvPr id="275" name="Freeform 275"/>
              <p:cNvSpPr/>
              <p:nvPr/>
            </p:nvSpPr>
            <p:spPr>
              <a:xfrm>
                <a:off x="788988" y="5149851"/>
                <a:ext cx="155575" cy="22225"/>
              </a:xfrm>
              <a:custGeom>
                <a:avLst/>
                <a:gdLst/>
                <a:ahLst/>
                <a:cxnLst/>
                <a:rect l="l" t="t" r="r" b="b"/>
                <a:pathLst>
                  <a:path w="155575" h="22225">
                    <a:moveTo>
                      <a:pt x="155575" y="0"/>
                    </a:moveTo>
                    <a:lnTo>
                      <a:pt x="22225" y="0"/>
                    </a:lnTo>
                    <a:cubicBezTo>
                      <a:pt x="9950" y="0"/>
                      <a:pt x="0" y="9950"/>
                      <a:pt x="0" y="22225"/>
                    </a:cubicBezTo>
                  </a:path>
                </a:pathLst>
              </a:custGeom>
              <a:noFill/>
              <a:ln w="22225">
                <a:solidFill>
                  <a:srgbClr val="E4B7AF"/>
                </a:solidFill>
              </a:ln>
            </p:spPr>
          </p:sp>
          <p:sp>
            <p:nvSpPr>
              <p:cNvPr id="276" name="Freeform 276"/>
              <p:cNvSpPr/>
              <p:nvPr/>
            </p:nvSpPr>
            <p:spPr>
              <a:xfrm>
                <a:off x="833438" y="5060950"/>
                <a:ext cx="66675" cy="9525"/>
              </a:xfrm>
              <a:custGeom>
                <a:avLst/>
                <a:gdLst/>
                <a:ahLst/>
                <a:cxnLst/>
                <a:rect l="l" t="t" r="r" b="b"/>
                <a:pathLst>
                  <a:path w="66675" h="9525">
                    <a:moveTo>
                      <a:pt x="0" y="0"/>
                    </a:moveTo>
                    <a:lnTo>
                      <a:pt x="66675" y="0"/>
                    </a:lnTo>
                  </a:path>
                </a:pathLst>
              </a:custGeom>
              <a:noFill/>
              <a:ln w="22225">
                <a:solidFill>
                  <a:srgbClr val="E4B7AF"/>
                </a:solidFill>
              </a:ln>
            </p:spPr>
          </p:sp>
        </p:grpSp>
        <p:sp>
          <p:nvSpPr>
            <p:cNvPr id="278" name="TextBox 278"/>
            <p:cNvSpPr txBox="1"/>
            <p:nvPr/>
          </p:nvSpPr>
          <p:spPr>
            <a:xfrm>
              <a:off x="559511" y="546020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知识质量</a:t>
              </a:r>
            </a:p>
          </p:txBody>
        </p:sp>
        <p:sp>
          <p:nvSpPr>
            <p:cNvPr id="279" name="TextBox 279"/>
            <p:cNvSpPr txBox="1"/>
            <p:nvPr/>
          </p:nvSpPr>
          <p:spPr>
            <a:xfrm>
              <a:off x="710286" y="57078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规则</a:t>
              </a:r>
            </a:p>
          </p:txBody>
        </p:sp>
      </p:grpSp>
      <p:grpSp>
        <p:nvGrpSpPr>
          <p:cNvPr id="296" name="quality-card-1"/>
          <p:cNvGrpSpPr/>
          <p:nvPr/>
        </p:nvGrpSpPr>
        <p:grpSpPr>
          <a:xfrm>
            <a:off x="1581150" y="4610100"/>
            <a:ext cx="2028825" cy="2057400"/>
            <a:chOff x="1581150" y="4610100"/>
            <a:chExt cx="2028825" cy="2057400"/>
          </a:xfrm>
        </p:grpSpPr>
        <p:sp>
          <p:nvSpPr>
            <p:cNvPr id="281" name="Rectangle 281"/>
            <p:cNvSpPr/>
            <p:nvPr/>
          </p:nvSpPr>
          <p:spPr>
            <a:xfrm>
              <a:off x="1581150" y="4610100"/>
              <a:ext cx="2028825" cy="2057400"/>
            </a:xfrm>
            <a:prstGeom prst="roundRect">
              <a:avLst>
                <a:gd name="adj" fmla="val 4695"/>
              </a:avLst>
            </a:prstGeom>
            <a:solidFill>
              <a:srgbClr val="F4F8EC"/>
            </a:solidFill>
            <a:ln w="9525">
              <a:solidFill>
                <a:srgbClr val="D9E8C6"/>
              </a:solidFill>
            </a:ln>
          </p:spPr>
        </p:sp>
        <p:sp>
          <p:nvSpPr>
            <p:cNvPr id="282" name="Ellipse 282"/>
            <p:cNvSpPr/>
            <p:nvPr/>
          </p:nvSpPr>
          <p:spPr>
            <a:xfrm>
              <a:off x="1724025" y="4791075"/>
              <a:ext cx="285750" cy="285750"/>
            </a:xfrm>
            <a:prstGeom prst="ellipse">
              <a:avLst/>
            </a:prstGeom>
            <a:solidFill>
              <a:srgbClr val="FFFFFF"/>
            </a:solidFill>
            <a:ln w="14288">
              <a:solidFill>
                <a:srgbClr val="BE776A"/>
              </a:solidFill>
            </a:ln>
          </p:spPr>
        </p:sp>
        <p:grpSp>
          <p:nvGrpSpPr>
            <p:cNvPr id="289" name="Group 289"/>
            <p:cNvGrpSpPr/>
            <p:nvPr/>
          </p:nvGrpSpPr>
          <p:grpSpPr>
            <a:xfrm>
              <a:off x="1812925" y="4886325"/>
              <a:ext cx="104775" cy="95250"/>
              <a:chOff x="1812925" y="4886325"/>
              <a:chExt cx="104775" cy="95250"/>
            </a:xfrm>
          </p:grpSpPr>
          <p:sp>
            <p:nvSpPr>
              <p:cNvPr id="283" name="Freeform 283"/>
              <p:cNvSpPr/>
              <p:nvPr/>
            </p:nvSpPr>
            <p:spPr>
              <a:xfrm>
                <a:off x="1812925" y="4886325"/>
                <a:ext cx="25400" cy="15875"/>
              </a:xfrm>
              <a:custGeom>
                <a:avLst/>
                <a:gdLst/>
                <a:ahLst/>
                <a:cxnLst/>
                <a:rect l="l" t="t" r="r" b="b"/>
                <a:pathLst>
                  <a:path w="25400" h="15875">
                    <a:moveTo>
                      <a:pt x="0" y="6350"/>
                    </a:moveTo>
                    <a:lnTo>
                      <a:pt x="9525" y="15875"/>
                    </a:lnTo>
                    <a:lnTo>
                      <a:pt x="25400" y="0"/>
                    </a:lnTo>
                  </a:path>
                </a:pathLst>
              </a:custGeom>
              <a:noFill/>
              <a:ln w="12700">
                <a:solidFill>
                  <a:srgbClr val="7C3B2F"/>
                </a:solidFill>
              </a:ln>
            </p:spPr>
          </p:sp>
          <p:sp>
            <p:nvSpPr>
              <p:cNvPr id="284" name="Freeform 284"/>
              <p:cNvSpPr/>
              <p:nvPr/>
            </p:nvSpPr>
            <p:spPr>
              <a:xfrm>
                <a:off x="1812925" y="4924425"/>
                <a:ext cx="25400" cy="15875"/>
              </a:xfrm>
              <a:custGeom>
                <a:avLst/>
                <a:gdLst/>
                <a:ahLst/>
                <a:cxnLst/>
                <a:rect l="l" t="t" r="r" b="b"/>
                <a:pathLst>
                  <a:path w="25400" h="15875">
                    <a:moveTo>
                      <a:pt x="0" y="6350"/>
                    </a:moveTo>
                    <a:lnTo>
                      <a:pt x="9525" y="15875"/>
                    </a:lnTo>
                    <a:lnTo>
                      <a:pt x="25400" y="0"/>
                    </a:lnTo>
                  </a:path>
                </a:pathLst>
              </a:custGeom>
              <a:noFill/>
              <a:ln w="12700">
                <a:solidFill>
                  <a:srgbClr val="7C3B2F"/>
                </a:solidFill>
              </a:ln>
            </p:spPr>
          </p:sp>
          <p:sp>
            <p:nvSpPr>
              <p:cNvPr id="285" name="Freeform 285"/>
              <p:cNvSpPr/>
              <p:nvPr/>
            </p:nvSpPr>
            <p:spPr>
              <a:xfrm>
                <a:off x="1812925" y="4962525"/>
                <a:ext cx="25400" cy="15875"/>
              </a:xfrm>
              <a:custGeom>
                <a:avLst/>
                <a:gdLst/>
                <a:ahLst/>
                <a:cxnLst/>
                <a:rect l="l" t="t" r="r" b="b"/>
                <a:pathLst>
                  <a:path w="25400" h="15875">
                    <a:moveTo>
                      <a:pt x="0" y="6350"/>
                    </a:moveTo>
                    <a:lnTo>
                      <a:pt x="9525" y="15875"/>
                    </a:lnTo>
                    <a:lnTo>
                      <a:pt x="25400" y="0"/>
                    </a:lnTo>
                  </a:path>
                </a:pathLst>
              </a:custGeom>
              <a:noFill/>
              <a:ln w="12700">
                <a:solidFill>
                  <a:srgbClr val="7C3B2F"/>
                </a:solidFill>
              </a:ln>
            </p:spPr>
          </p:sp>
          <p:sp>
            <p:nvSpPr>
              <p:cNvPr id="286" name="Freeform 286"/>
              <p:cNvSpPr/>
              <p:nvPr/>
            </p:nvSpPr>
            <p:spPr>
              <a:xfrm>
                <a:off x="1860550" y="4895850"/>
                <a:ext cx="57150" cy="9525"/>
              </a:xfrm>
              <a:custGeom>
                <a:avLst/>
                <a:gdLst/>
                <a:ahLst/>
                <a:cxnLst/>
                <a:rect l="l" t="t" r="r" b="b"/>
                <a:pathLst>
                  <a:path w="57150" h="9525">
                    <a:moveTo>
                      <a:pt x="0" y="0"/>
                    </a:moveTo>
                    <a:lnTo>
                      <a:pt x="57150" y="0"/>
                    </a:lnTo>
                  </a:path>
                </a:pathLst>
              </a:custGeom>
              <a:noFill/>
              <a:ln w="12700">
                <a:solidFill>
                  <a:srgbClr val="7C3B2F"/>
                </a:solidFill>
              </a:ln>
            </p:spPr>
          </p:sp>
          <p:sp>
            <p:nvSpPr>
              <p:cNvPr id="287" name="Freeform 287"/>
              <p:cNvSpPr/>
              <p:nvPr/>
            </p:nvSpPr>
            <p:spPr>
              <a:xfrm>
                <a:off x="1860550" y="4933950"/>
                <a:ext cx="57150" cy="9525"/>
              </a:xfrm>
              <a:custGeom>
                <a:avLst/>
                <a:gdLst/>
                <a:ahLst/>
                <a:cxnLst/>
                <a:rect l="l" t="t" r="r" b="b"/>
                <a:pathLst>
                  <a:path w="57150" h="9525">
                    <a:moveTo>
                      <a:pt x="0" y="0"/>
                    </a:moveTo>
                    <a:lnTo>
                      <a:pt x="57150" y="0"/>
                    </a:lnTo>
                  </a:path>
                </a:pathLst>
              </a:custGeom>
              <a:noFill/>
              <a:ln w="12700">
                <a:solidFill>
                  <a:srgbClr val="7C3B2F"/>
                </a:solidFill>
              </a:ln>
            </p:spPr>
          </p:sp>
          <p:sp>
            <p:nvSpPr>
              <p:cNvPr id="288" name="Freeform 288"/>
              <p:cNvSpPr/>
              <p:nvPr/>
            </p:nvSpPr>
            <p:spPr>
              <a:xfrm>
                <a:off x="1860550" y="4972050"/>
                <a:ext cx="57150" cy="9525"/>
              </a:xfrm>
              <a:custGeom>
                <a:avLst/>
                <a:gdLst/>
                <a:ahLst/>
                <a:cxnLst/>
                <a:rect l="l" t="t" r="r" b="b"/>
                <a:pathLst>
                  <a:path w="57150" h="9525">
                    <a:moveTo>
                      <a:pt x="0" y="0"/>
                    </a:moveTo>
                    <a:lnTo>
                      <a:pt x="57150" y="0"/>
                    </a:lnTo>
                  </a:path>
                </a:pathLst>
              </a:custGeom>
              <a:noFill/>
              <a:ln w="12700">
                <a:solidFill>
                  <a:srgbClr val="7C3B2F"/>
                </a:solidFill>
              </a:ln>
            </p:spPr>
          </p:sp>
        </p:grpSp>
        <p:sp>
          <p:nvSpPr>
            <p:cNvPr id="290" name="TextBox 290"/>
            <p:cNvSpPr txBox="1"/>
            <p:nvPr/>
          </p:nvSpPr>
          <p:spPr>
            <a:xfrm>
              <a:off x="2071497" y="4790599"/>
              <a:ext cx="405689" cy="190690"/>
            </a:xfrm>
            <a:prstGeom prst="rect">
              <a:avLst/>
            </a:prstGeom>
            <a:noFill/>
            <a:ln>
              <a:noFill/>
            </a:ln>
          </p:spPr>
          <p:txBody>
            <a:bodyPr wrap="none" lIns="0" tIns="0" rIns="0" bIns="0" anchor="t" anchorCtr="0">
              <a:spAutoFit/>
            </a:bodyPr>
            <a:lstStyle/>
            <a:p>
              <a:pPr algn="l"/>
              <a:r>
                <a:rPr lang="zh-CN" sz="980" b="1" dirty="0">
                  <a:solidFill>
                    <a:srgbClr val="42140B"/>
                  </a:solidFill>
                  <a:latin typeface="+mn-lt"/>
                  <a:ea typeface="+mn-ea"/>
                  <a:cs typeface="+mn-cs"/>
                </a:rPr>
                <a:t>完整性</a:t>
              </a:r>
            </a:p>
          </p:txBody>
        </p:sp>
        <p:sp>
          <p:nvSpPr>
            <p:cNvPr id="291" name="TextBox 291"/>
            <p:cNvSpPr txBox="1"/>
            <p:nvPr/>
          </p:nvSpPr>
          <p:spPr>
            <a:xfrm>
              <a:off x="2071688" y="4979432"/>
              <a:ext cx="526466"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可度量检查项</a:t>
              </a:r>
            </a:p>
          </p:txBody>
        </p:sp>
        <p:sp>
          <p:nvSpPr>
            <p:cNvPr id="292" name="Line 292"/>
            <p:cNvSpPr/>
            <p:nvPr/>
          </p:nvSpPr>
          <p:spPr>
            <a:xfrm>
              <a:off x="1733550" y="5181600"/>
              <a:ext cx="1724025" cy="9525"/>
            </a:xfrm>
            <a:custGeom>
              <a:avLst/>
              <a:gdLst/>
              <a:ahLst/>
              <a:cxnLst/>
              <a:rect l="l" t="t" r="r" b="b"/>
              <a:pathLst>
                <a:path w="1724025" h="9525">
                  <a:moveTo>
                    <a:pt x="0" y="0"/>
                  </a:moveTo>
                  <a:lnTo>
                    <a:pt x="1724025" y="0"/>
                  </a:lnTo>
                </a:path>
              </a:pathLst>
            </a:custGeom>
            <a:noFill/>
            <a:ln w="9525">
              <a:solidFill>
                <a:srgbClr val="D9E8C6"/>
              </a:solidFill>
            </a:ln>
          </p:spPr>
        </p:sp>
        <p:sp>
          <p:nvSpPr>
            <p:cNvPr id="293" name="TextBox 293"/>
            <p:cNvSpPr txBox="1"/>
            <p:nvPr/>
          </p:nvSpPr>
          <p:spPr>
            <a:xfrm>
              <a:off x="1728788" y="5333286"/>
              <a:ext cx="1137552"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必填字段完整率 ≥ 98%　</a:t>
              </a:r>
            </a:p>
          </p:txBody>
        </p:sp>
        <p:sp>
          <p:nvSpPr>
            <p:cNvPr id="294" name="TextBox 294"/>
            <p:cNvSpPr txBox="1"/>
            <p:nvPr/>
          </p:nvSpPr>
          <p:spPr>
            <a:xfrm>
              <a:off x="1728788" y="5561886"/>
              <a:ext cx="946391"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内容覆盖率 ≥ 95%　</a:t>
              </a:r>
            </a:p>
          </p:txBody>
        </p:sp>
        <p:sp>
          <p:nvSpPr>
            <p:cNvPr id="295" name="TextBox 295"/>
            <p:cNvSpPr txBox="1"/>
            <p:nvPr/>
          </p:nvSpPr>
          <p:spPr>
            <a:xfrm>
              <a:off x="1728788" y="5790486"/>
              <a:ext cx="1137552"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关联关系覆盖率 ≥ 90%　</a:t>
              </a:r>
            </a:p>
          </p:txBody>
        </p:sp>
      </p:grpSp>
      <p:grpSp>
        <p:nvGrpSpPr>
          <p:cNvPr id="309" name="quality-card-2"/>
          <p:cNvGrpSpPr/>
          <p:nvPr/>
        </p:nvGrpSpPr>
        <p:grpSpPr>
          <a:xfrm>
            <a:off x="3686175" y="4610100"/>
            <a:ext cx="2028825" cy="2057400"/>
            <a:chOff x="3686175" y="4610100"/>
            <a:chExt cx="2028825" cy="2057400"/>
          </a:xfrm>
        </p:grpSpPr>
        <p:sp>
          <p:nvSpPr>
            <p:cNvPr id="297" name="Rectangle 297"/>
            <p:cNvSpPr/>
            <p:nvPr/>
          </p:nvSpPr>
          <p:spPr>
            <a:xfrm>
              <a:off x="3686175" y="4610100"/>
              <a:ext cx="2028825" cy="2057400"/>
            </a:xfrm>
            <a:prstGeom prst="roundRect">
              <a:avLst>
                <a:gd name="adj" fmla="val 4695"/>
              </a:avLst>
            </a:prstGeom>
            <a:solidFill>
              <a:srgbClr val="FFFFFF"/>
            </a:solidFill>
            <a:ln w="9525">
              <a:solidFill>
                <a:srgbClr val="D9E8C6"/>
              </a:solidFill>
            </a:ln>
          </p:spPr>
        </p:sp>
        <p:sp>
          <p:nvSpPr>
            <p:cNvPr id="298" name="Ellipse 298"/>
            <p:cNvSpPr/>
            <p:nvPr/>
          </p:nvSpPr>
          <p:spPr>
            <a:xfrm>
              <a:off x="3829050" y="4791075"/>
              <a:ext cx="285750" cy="285750"/>
            </a:xfrm>
            <a:prstGeom prst="ellipse">
              <a:avLst/>
            </a:prstGeom>
            <a:solidFill>
              <a:srgbClr val="FFFFFF"/>
            </a:solidFill>
            <a:ln w="14288">
              <a:solidFill>
                <a:srgbClr val="BE776A"/>
              </a:solidFill>
            </a:ln>
          </p:spPr>
        </p:sp>
        <p:grpSp>
          <p:nvGrpSpPr>
            <p:cNvPr id="302" name="Group 302"/>
            <p:cNvGrpSpPr/>
            <p:nvPr/>
          </p:nvGrpSpPr>
          <p:grpSpPr>
            <a:xfrm>
              <a:off x="3914775" y="4876800"/>
              <a:ext cx="114300" cy="114300"/>
              <a:chOff x="3914775" y="4876800"/>
              <a:chExt cx="114300" cy="114300"/>
            </a:xfrm>
          </p:grpSpPr>
          <p:sp>
            <p:nvSpPr>
              <p:cNvPr id="299" name="Freeform 299"/>
              <p:cNvSpPr/>
              <p:nvPr/>
            </p:nvSpPr>
            <p:spPr>
              <a:xfrm>
                <a:off x="3965575" y="49276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7C3B2F"/>
                </a:solidFill>
              </a:ln>
            </p:spPr>
          </p:sp>
          <p:sp>
            <p:nvSpPr>
              <p:cNvPr id="300" name="Freeform 300"/>
              <p:cNvSpPr/>
              <p:nvPr/>
            </p:nvSpPr>
            <p:spPr>
              <a:xfrm>
                <a:off x="3940175" y="49022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7C3B2F"/>
                </a:solidFill>
              </a:ln>
            </p:spPr>
          </p:sp>
          <p:sp>
            <p:nvSpPr>
              <p:cNvPr id="301" name="Freeform 301"/>
              <p:cNvSpPr/>
              <p:nvPr/>
            </p:nvSpPr>
            <p:spPr>
              <a:xfrm>
                <a:off x="3914775" y="48768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C3B2F"/>
                </a:solidFill>
              </a:ln>
            </p:spPr>
          </p:sp>
        </p:grpSp>
        <p:sp>
          <p:nvSpPr>
            <p:cNvPr id="303" name="TextBox 303"/>
            <p:cNvSpPr txBox="1"/>
            <p:nvPr/>
          </p:nvSpPr>
          <p:spPr>
            <a:xfrm>
              <a:off x="4176522" y="4790599"/>
              <a:ext cx="405689" cy="190690"/>
            </a:xfrm>
            <a:prstGeom prst="rect">
              <a:avLst/>
            </a:prstGeom>
            <a:noFill/>
            <a:ln>
              <a:noFill/>
            </a:ln>
          </p:spPr>
          <p:txBody>
            <a:bodyPr wrap="none" lIns="0" tIns="0" rIns="0" bIns="0" anchor="t" anchorCtr="0">
              <a:spAutoFit/>
            </a:bodyPr>
            <a:lstStyle/>
            <a:p>
              <a:pPr algn="l"/>
              <a:r>
                <a:rPr lang="zh-CN" sz="980" b="1" dirty="0">
                  <a:solidFill>
                    <a:srgbClr val="42140B"/>
                  </a:solidFill>
                  <a:latin typeface="+mn-lt"/>
                  <a:ea typeface="+mn-ea"/>
                  <a:cs typeface="+mn-cs"/>
                </a:rPr>
                <a:t>准确性</a:t>
              </a:r>
            </a:p>
          </p:txBody>
        </p:sp>
        <p:sp>
          <p:nvSpPr>
            <p:cNvPr id="304" name="TextBox 304"/>
            <p:cNvSpPr txBox="1"/>
            <p:nvPr/>
          </p:nvSpPr>
          <p:spPr>
            <a:xfrm>
              <a:off x="4176712" y="4979432"/>
              <a:ext cx="526466"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可度量检查项</a:t>
              </a:r>
            </a:p>
          </p:txBody>
        </p:sp>
        <p:sp>
          <p:nvSpPr>
            <p:cNvPr id="305" name="Line 305"/>
            <p:cNvSpPr/>
            <p:nvPr/>
          </p:nvSpPr>
          <p:spPr>
            <a:xfrm>
              <a:off x="3838575" y="5181600"/>
              <a:ext cx="1724025" cy="9525"/>
            </a:xfrm>
            <a:custGeom>
              <a:avLst/>
              <a:gdLst/>
              <a:ahLst/>
              <a:cxnLst/>
              <a:rect l="l" t="t" r="r" b="b"/>
              <a:pathLst>
                <a:path w="1724025" h="9525">
                  <a:moveTo>
                    <a:pt x="0" y="0"/>
                  </a:moveTo>
                  <a:lnTo>
                    <a:pt x="1724025" y="0"/>
                  </a:lnTo>
                </a:path>
              </a:pathLst>
            </a:custGeom>
            <a:noFill/>
            <a:ln w="9525">
              <a:solidFill>
                <a:srgbClr val="D9E8C6"/>
              </a:solidFill>
            </a:ln>
          </p:spPr>
        </p:sp>
        <p:sp>
          <p:nvSpPr>
            <p:cNvPr id="306" name="TextBox 306"/>
            <p:cNvSpPr txBox="1"/>
            <p:nvPr/>
          </p:nvSpPr>
          <p:spPr>
            <a:xfrm>
              <a:off x="3833812" y="5333286"/>
              <a:ext cx="1137552"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事实抽样准确率 ≥ 98%　</a:t>
              </a:r>
            </a:p>
          </p:txBody>
        </p:sp>
        <p:sp>
          <p:nvSpPr>
            <p:cNvPr id="307" name="TextBox 307"/>
            <p:cNvSpPr txBox="1"/>
            <p:nvPr/>
          </p:nvSpPr>
          <p:spPr>
            <a:xfrm>
              <a:off x="3833812" y="5561886"/>
              <a:ext cx="1233132"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引用来源可验证率 ≥ 95%　</a:t>
              </a:r>
            </a:p>
          </p:txBody>
        </p:sp>
        <p:sp>
          <p:nvSpPr>
            <p:cNvPr id="308" name="TextBox 308"/>
            <p:cNvSpPr txBox="1"/>
            <p:nvPr/>
          </p:nvSpPr>
          <p:spPr>
            <a:xfrm>
              <a:off x="3833812" y="5790486"/>
              <a:ext cx="1137552"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术语使用准确率 ≥ 98%　</a:t>
              </a:r>
            </a:p>
          </p:txBody>
        </p:sp>
      </p:grpSp>
      <p:grpSp>
        <p:nvGrpSpPr>
          <p:cNvPr id="321" name="quality-card-3"/>
          <p:cNvGrpSpPr/>
          <p:nvPr/>
        </p:nvGrpSpPr>
        <p:grpSpPr>
          <a:xfrm>
            <a:off x="5791200" y="4610100"/>
            <a:ext cx="2028825" cy="2057400"/>
            <a:chOff x="5791200" y="4610100"/>
            <a:chExt cx="2028825" cy="2057400"/>
          </a:xfrm>
        </p:grpSpPr>
        <p:sp>
          <p:nvSpPr>
            <p:cNvPr id="310" name="Rectangle 310"/>
            <p:cNvSpPr/>
            <p:nvPr/>
          </p:nvSpPr>
          <p:spPr>
            <a:xfrm>
              <a:off x="5791200" y="4610100"/>
              <a:ext cx="2028825" cy="2057400"/>
            </a:xfrm>
            <a:prstGeom prst="roundRect">
              <a:avLst>
                <a:gd name="adj" fmla="val 4695"/>
              </a:avLst>
            </a:prstGeom>
            <a:solidFill>
              <a:srgbClr val="F4F8EC"/>
            </a:solidFill>
            <a:ln w="9525">
              <a:solidFill>
                <a:srgbClr val="D9E8C6"/>
              </a:solidFill>
            </a:ln>
          </p:spPr>
        </p:sp>
        <p:sp>
          <p:nvSpPr>
            <p:cNvPr id="311" name="Ellipse 311"/>
            <p:cNvSpPr/>
            <p:nvPr/>
          </p:nvSpPr>
          <p:spPr>
            <a:xfrm>
              <a:off x="5934075" y="4791075"/>
              <a:ext cx="285750" cy="285750"/>
            </a:xfrm>
            <a:prstGeom prst="ellipse">
              <a:avLst/>
            </a:prstGeom>
            <a:solidFill>
              <a:srgbClr val="FFFFFF"/>
            </a:solidFill>
            <a:ln w="14288">
              <a:solidFill>
                <a:srgbClr val="BE776A"/>
              </a:solidFill>
            </a:ln>
          </p:spPr>
        </p:sp>
        <p:grpSp>
          <p:nvGrpSpPr>
            <p:cNvPr id="314" name="Group 314"/>
            <p:cNvGrpSpPr/>
            <p:nvPr/>
          </p:nvGrpSpPr>
          <p:grpSpPr>
            <a:xfrm>
              <a:off x="6026150" y="4880700"/>
              <a:ext cx="101600" cy="106500"/>
              <a:chOff x="6026150" y="4880700"/>
              <a:chExt cx="101600" cy="106500"/>
            </a:xfrm>
          </p:grpSpPr>
          <p:sp>
            <p:nvSpPr>
              <p:cNvPr id="312" name="Freeform 312"/>
              <p:cNvSpPr/>
              <p:nvPr/>
            </p:nvSpPr>
            <p:spPr>
              <a:xfrm>
                <a:off x="6026150" y="488070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7C3B2F"/>
                </a:solidFill>
              </a:ln>
            </p:spPr>
          </p:sp>
          <p:sp>
            <p:nvSpPr>
              <p:cNvPr id="313" name="Freeform 313"/>
              <p:cNvSpPr/>
              <p:nvPr/>
            </p:nvSpPr>
            <p:spPr>
              <a:xfrm>
                <a:off x="6026150" y="494030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7C3B2F"/>
                </a:solidFill>
              </a:ln>
            </p:spPr>
          </p:sp>
        </p:grpSp>
        <p:sp>
          <p:nvSpPr>
            <p:cNvPr id="315" name="TextBox 315"/>
            <p:cNvSpPr txBox="1"/>
            <p:nvPr/>
          </p:nvSpPr>
          <p:spPr>
            <a:xfrm>
              <a:off x="6281547" y="4790599"/>
              <a:ext cx="405689" cy="190690"/>
            </a:xfrm>
            <a:prstGeom prst="rect">
              <a:avLst/>
            </a:prstGeom>
            <a:noFill/>
            <a:ln>
              <a:noFill/>
            </a:ln>
          </p:spPr>
          <p:txBody>
            <a:bodyPr wrap="none" lIns="0" tIns="0" rIns="0" bIns="0" anchor="t" anchorCtr="0">
              <a:spAutoFit/>
            </a:bodyPr>
            <a:lstStyle/>
            <a:p>
              <a:pPr algn="l"/>
              <a:r>
                <a:rPr lang="zh-CN" sz="980" b="1" dirty="0">
                  <a:solidFill>
                    <a:srgbClr val="42140B"/>
                  </a:solidFill>
                  <a:latin typeface="+mn-lt"/>
                  <a:ea typeface="+mn-ea"/>
                  <a:cs typeface="+mn-cs"/>
                </a:rPr>
                <a:t>一致性</a:t>
              </a:r>
            </a:p>
          </p:txBody>
        </p:sp>
        <p:sp>
          <p:nvSpPr>
            <p:cNvPr id="316" name="TextBox 316"/>
            <p:cNvSpPr txBox="1"/>
            <p:nvPr/>
          </p:nvSpPr>
          <p:spPr>
            <a:xfrm>
              <a:off x="6281738" y="4979432"/>
              <a:ext cx="526466"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可度量检查项</a:t>
              </a:r>
            </a:p>
          </p:txBody>
        </p:sp>
        <p:sp>
          <p:nvSpPr>
            <p:cNvPr id="317" name="Line 317"/>
            <p:cNvSpPr/>
            <p:nvPr/>
          </p:nvSpPr>
          <p:spPr>
            <a:xfrm>
              <a:off x="5943600" y="5181600"/>
              <a:ext cx="1724025" cy="9525"/>
            </a:xfrm>
            <a:custGeom>
              <a:avLst/>
              <a:gdLst/>
              <a:ahLst/>
              <a:cxnLst/>
              <a:rect l="l" t="t" r="r" b="b"/>
              <a:pathLst>
                <a:path w="1724025" h="9525">
                  <a:moveTo>
                    <a:pt x="0" y="0"/>
                  </a:moveTo>
                  <a:lnTo>
                    <a:pt x="1724025" y="0"/>
                  </a:lnTo>
                </a:path>
              </a:pathLst>
            </a:custGeom>
            <a:noFill/>
            <a:ln w="9525">
              <a:solidFill>
                <a:srgbClr val="D9E8C6"/>
              </a:solidFill>
            </a:ln>
          </p:spPr>
        </p:sp>
        <p:sp>
          <p:nvSpPr>
            <p:cNvPr id="318" name="TextBox 318"/>
            <p:cNvSpPr txBox="1"/>
            <p:nvPr/>
          </p:nvSpPr>
          <p:spPr>
            <a:xfrm>
              <a:off x="5938838" y="5333286"/>
              <a:ext cx="946391"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术语一致性 ≥ 95%　</a:t>
              </a:r>
            </a:p>
          </p:txBody>
        </p:sp>
        <p:sp>
          <p:nvSpPr>
            <p:cNvPr id="319" name="TextBox 319"/>
            <p:cNvSpPr txBox="1"/>
            <p:nvPr/>
          </p:nvSpPr>
          <p:spPr>
            <a:xfrm>
              <a:off x="5938838" y="5561886"/>
              <a:ext cx="1190121"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编码/分类一致性 ≥ 95%　</a:t>
              </a:r>
            </a:p>
          </p:txBody>
        </p:sp>
        <p:sp>
          <p:nvSpPr>
            <p:cNvPr id="320" name="TextBox 320"/>
            <p:cNvSpPr txBox="1"/>
            <p:nvPr/>
          </p:nvSpPr>
          <p:spPr>
            <a:xfrm>
              <a:off x="5938838" y="5790486"/>
              <a:ext cx="893822"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规则冲突率 ≤ 1%　</a:t>
              </a:r>
            </a:p>
          </p:txBody>
        </p:sp>
      </p:grpSp>
      <p:grpSp>
        <p:nvGrpSpPr>
          <p:cNvPr id="333" name="quality-card-4"/>
          <p:cNvGrpSpPr/>
          <p:nvPr/>
        </p:nvGrpSpPr>
        <p:grpSpPr>
          <a:xfrm>
            <a:off x="7896225" y="4610100"/>
            <a:ext cx="2028825" cy="2057400"/>
            <a:chOff x="7896225" y="4610100"/>
            <a:chExt cx="2028825" cy="2057400"/>
          </a:xfrm>
        </p:grpSpPr>
        <p:sp>
          <p:nvSpPr>
            <p:cNvPr id="322" name="Rectangle 322"/>
            <p:cNvSpPr/>
            <p:nvPr/>
          </p:nvSpPr>
          <p:spPr>
            <a:xfrm>
              <a:off x="7896225" y="4610100"/>
              <a:ext cx="2028825" cy="2057400"/>
            </a:xfrm>
            <a:prstGeom prst="roundRect">
              <a:avLst>
                <a:gd name="adj" fmla="val 4695"/>
              </a:avLst>
            </a:prstGeom>
            <a:solidFill>
              <a:srgbClr val="FFFFFF"/>
            </a:solidFill>
            <a:ln w="9525">
              <a:solidFill>
                <a:srgbClr val="D9E8C6"/>
              </a:solidFill>
            </a:ln>
          </p:spPr>
        </p:sp>
        <p:sp>
          <p:nvSpPr>
            <p:cNvPr id="323" name="Ellipse 323"/>
            <p:cNvSpPr/>
            <p:nvPr/>
          </p:nvSpPr>
          <p:spPr>
            <a:xfrm>
              <a:off x="8039100" y="4791075"/>
              <a:ext cx="285750" cy="285750"/>
            </a:xfrm>
            <a:prstGeom prst="ellipse">
              <a:avLst/>
            </a:prstGeom>
            <a:solidFill>
              <a:srgbClr val="FFFFFF"/>
            </a:solidFill>
            <a:ln w="14288">
              <a:solidFill>
                <a:srgbClr val="BE776A"/>
              </a:solidFill>
            </a:ln>
          </p:spPr>
        </p:sp>
        <p:grpSp>
          <p:nvGrpSpPr>
            <p:cNvPr id="326" name="Group 326"/>
            <p:cNvGrpSpPr/>
            <p:nvPr/>
          </p:nvGrpSpPr>
          <p:grpSpPr>
            <a:xfrm>
              <a:off x="8124825" y="4876800"/>
              <a:ext cx="114300" cy="114300"/>
              <a:chOff x="8124825" y="4876800"/>
              <a:chExt cx="114300" cy="114300"/>
            </a:xfrm>
          </p:grpSpPr>
          <p:sp>
            <p:nvSpPr>
              <p:cNvPr id="324" name="Freeform 324"/>
              <p:cNvSpPr/>
              <p:nvPr/>
            </p:nvSpPr>
            <p:spPr>
              <a:xfrm>
                <a:off x="8124825" y="48768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C3B2F"/>
                </a:solidFill>
              </a:ln>
            </p:spPr>
          </p:sp>
          <p:sp>
            <p:nvSpPr>
              <p:cNvPr id="325" name="Freeform 325"/>
              <p:cNvSpPr/>
              <p:nvPr/>
            </p:nvSpPr>
            <p:spPr>
              <a:xfrm>
                <a:off x="8181975" y="4902200"/>
                <a:ext cx="19050" cy="50800"/>
              </a:xfrm>
              <a:custGeom>
                <a:avLst/>
                <a:gdLst/>
                <a:ahLst/>
                <a:cxnLst/>
                <a:rect l="l" t="t" r="r" b="b"/>
                <a:pathLst>
                  <a:path w="19050" h="50800">
                    <a:moveTo>
                      <a:pt x="0" y="0"/>
                    </a:moveTo>
                    <a:lnTo>
                      <a:pt x="0" y="31750"/>
                    </a:lnTo>
                    <a:lnTo>
                      <a:pt x="19050" y="50800"/>
                    </a:lnTo>
                  </a:path>
                </a:pathLst>
              </a:custGeom>
              <a:noFill/>
              <a:ln w="12700">
                <a:solidFill>
                  <a:srgbClr val="7C3B2F"/>
                </a:solidFill>
              </a:ln>
            </p:spPr>
          </p:sp>
        </p:grpSp>
        <p:sp>
          <p:nvSpPr>
            <p:cNvPr id="327" name="TextBox 327"/>
            <p:cNvSpPr txBox="1"/>
            <p:nvPr/>
          </p:nvSpPr>
          <p:spPr>
            <a:xfrm>
              <a:off x="8386572" y="4790599"/>
              <a:ext cx="405689" cy="190690"/>
            </a:xfrm>
            <a:prstGeom prst="rect">
              <a:avLst/>
            </a:prstGeom>
            <a:noFill/>
            <a:ln>
              <a:noFill/>
            </a:ln>
          </p:spPr>
          <p:txBody>
            <a:bodyPr wrap="none" lIns="0" tIns="0" rIns="0" bIns="0" anchor="t" anchorCtr="0">
              <a:spAutoFit/>
            </a:bodyPr>
            <a:lstStyle/>
            <a:p>
              <a:pPr algn="l"/>
              <a:r>
                <a:rPr lang="zh-CN" sz="980" b="1" dirty="0">
                  <a:solidFill>
                    <a:srgbClr val="42140B"/>
                  </a:solidFill>
                  <a:latin typeface="+mn-lt"/>
                  <a:ea typeface="+mn-ea"/>
                  <a:cs typeface="+mn-cs"/>
                </a:rPr>
                <a:t>时效性</a:t>
              </a:r>
            </a:p>
          </p:txBody>
        </p:sp>
        <p:sp>
          <p:nvSpPr>
            <p:cNvPr id="328" name="TextBox 328"/>
            <p:cNvSpPr txBox="1"/>
            <p:nvPr/>
          </p:nvSpPr>
          <p:spPr>
            <a:xfrm>
              <a:off x="8386762" y="4979432"/>
              <a:ext cx="526466"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可度量检查项</a:t>
              </a:r>
            </a:p>
          </p:txBody>
        </p:sp>
        <p:sp>
          <p:nvSpPr>
            <p:cNvPr id="329" name="Line 329"/>
            <p:cNvSpPr/>
            <p:nvPr/>
          </p:nvSpPr>
          <p:spPr>
            <a:xfrm>
              <a:off x="8048625" y="5181600"/>
              <a:ext cx="1724025" cy="9525"/>
            </a:xfrm>
            <a:custGeom>
              <a:avLst/>
              <a:gdLst/>
              <a:ahLst/>
              <a:cxnLst/>
              <a:rect l="l" t="t" r="r" b="b"/>
              <a:pathLst>
                <a:path w="1724025" h="9525">
                  <a:moveTo>
                    <a:pt x="0" y="0"/>
                  </a:moveTo>
                  <a:lnTo>
                    <a:pt x="1724025" y="0"/>
                  </a:lnTo>
                </a:path>
              </a:pathLst>
            </a:custGeom>
            <a:noFill/>
            <a:ln w="9525">
              <a:solidFill>
                <a:srgbClr val="D9E8C6"/>
              </a:solidFill>
            </a:ln>
          </p:spPr>
        </p:sp>
        <p:sp>
          <p:nvSpPr>
            <p:cNvPr id="330" name="TextBox 330"/>
            <p:cNvSpPr txBox="1"/>
            <p:nvPr/>
          </p:nvSpPr>
          <p:spPr>
            <a:xfrm>
              <a:off x="8043862" y="5333286"/>
              <a:ext cx="1137552"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内容更新及时率 ≥ 95%　</a:t>
              </a:r>
            </a:p>
          </p:txBody>
        </p:sp>
        <p:sp>
          <p:nvSpPr>
            <p:cNvPr id="331" name="TextBox 331"/>
            <p:cNvSpPr txBox="1"/>
            <p:nvPr/>
          </p:nvSpPr>
          <p:spPr>
            <a:xfrm>
              <a:off x="8043862" y="5561886"/>
              <a:ext cx="989402"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超期内容占比 ≤ 5%　</a:t>
              </a:r>
            </a:p>
          </p:txBody>
        </p:sp>
        <p:sp>
          <p:nvSpPr>
            <p:cNvPr id="332" name="TextBox 332"/>
            <p:cNvSpPr txBox="1"/>
            <p:nvPr/>
          </p:nvSpPr>
          <p:spPr>
            <a:xfrm>
              <a:off x="8043862" y="5790486"/>
              <a:ext cx="1094541"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有效期覆盖率 = 100%　</a:t>
              </a:r>
            </a:p>
          </p:txBody>
        </p:sp>
      </p:grpSp>
      <p:grpSp>
        <p:nvGrpSpPr>
          <p:cNvPr id="346" name="quality-card-5"/>
          <p:cNvGrpSpPr/>
          <p:nvPr/>
        </p:nvGrpSpPr>
        <p:grpSpPr>
          <a:xfrm>
            <a:off x="10001250" y="4610100"/>
            <a:ext cx="1962150" cy="2057400"/>
            <a:chOff x="10001250" y="4610100"/>
            <a:chExt cx="1962150" cy="2057400"/>
          </a:xfrm>
        </p:grpSpPr>
        <p:sp>
          <p:nvSpPr>
            <p:cNvPr id="334" name="Rectangle 334"/>
            <p:cNvSpPr/>
            <p:nvPr/>
          </p:nvSpPr>
          <p:spPr>
            <a:xfrm>
              <a:off x="10001250" y="4610100"/>
              <a:ext cx="1962150" cy="2057400"/>
            </a:xfrm>
            <a:prstGeom prst="roundRect">
              <a:avLst>
                <a:gd name="adj" fmla="val 4854"/>
              </a:avLst>
            </a:prstGeom>
            <a:solidFill>
              <a:srgbClr val="F4F8EC"/>
            </a:solidFill>
            <a:ln w="9525">
              <a:solidFill>
                <a:srgbClr val="D9E8C6"/>
              </a:solidFill>
            </a:ln>
          </p:spPr>
        </p:sp>
        <p:sp>
          <p:nvSpPr>
            <p:cNvPr id="335" name="Ellipse 335"/>
            <p:cNvSpPr/>
            <p:nvPr/>
          </p:nvSpPr>
          <p:spPr>
            <a:xfrm>
              <a:off x="10144125" y="4791075"/>
              <a:ext cx="285750" cy="285750"/>
            </a:xfrm>
            <a:prstGeom prst="ellipse">
              <a:avLst/>
            </a:prstGeom>
            <a:solidFill>
              <a:srgbClr val="FFFFFF"/>
            </a:solidFill>
            <a:ln w="14288">
              <a:solidFill>
                <a:srgbClr val="BE776A"/>
              </a:solidFill>
            </a:ln>
          </p:spPr>
        </p:sp>
        <p:grpSp>
          <p:nvGrpSpPr>
            <p:cNvPr id="339" name="Group 339"/>
            <p:cNvGrpSpPr/>
            <p:nvPr/>
          </p:nvGrpSpPr>
          <p:grpSpPr>
            <a:xfrm>
              <a:off x="10236199" y="4880047"/>
              <a:ext cx="104694" cy="107792"/>
              <a:chOff x="10236199" y="4880047"/>
              <a:chExt cx="104694" cy="107792"/>
            </a:xfrm>
          </p:grpSpPr>
          <p:sp>
            <p:nvSpPr>
              <p:cNvPr id="336" name="Freeform 336"/>
              <p:cNvSpPr/>
              <p:nvPr/>
            </p:nvSpPr>
            <p:spPr>
              <a:xfrm>
                <a:off x="10267950" y="4914900"/>
                <a:ext cx="38100" cy="38100"/>
              </a:xfrm>
              <a:custGeom>
                <a:avLst/>
                <a:gdLst/>
                <a:ahLst/>
                <a:cxnLst/>
                <a:rect l="l" t="t" r="r" b="b"/>
                <a:pathLst>
                  <a:path w="38100" h="38100">
                    <a:moveTo>
                      <a:pt x="0" y="38100"/>
                    </a:moveTo>
                    <a:lnTo>
                      <a:pt x="38100" y="0"/>
                    </a:lnTo>
                  </a:path>
                </a:pathLst>
              </a:custGeom>
              <a:noFill/>
              <a:ln w="12700">
                <a:solidFill>
                  <a:srgbClr val="7C3B2F"/>
                </a:solidFill>
              </a:ln>
            </p:spPr>
          </p:sp>
          <p:sp>
            <p:nvSpPr>
              <p:cNvPr id="337" name="Freeform 337"/>
              <p:cNvSpPr/>
              <p:nvPr/>
            </p:nvSpPr>
            <p:spPr>
              <a:xfrm>
                <a:off x="10280650" y="4880047"/>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7C3B2F"/>
                </a:solidFill>
              </a:ln>
            </p:spPr>
          </p:sp>
          <p:sp>
            <p:nvSpPr>
              <p:cNvPr id="338" name="Freeform 338"/>
              <p:cNvSpPr/>
              <p:nvPr/>
            </p:nvSpPr>
            <p:spPr>
              <a:xfrm>
                <a:off x="10236199" y="4927600"/>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7C3B2F"/>
                </a:solidFill>
              </a:ln>
            </p:spPr>
          </p:sp>
        </p:grpSp>
        <p:sp>
          <p:nvSpPr>
            <p:cNvPr id="340" name="TextBox 340"/>
            <p:cNvSpPr txBox="1"/>
            <p:nvPr/>
          </p:nvSpPr>
          <p:spPr>
            <a:xfrm>
              <a:off x="10491597" y="4790599"/>
              <a:ext cx="537616" cy="190690"/>
            </a:xfrm>
            <a:prstGeom prst="rect">
              <a:avLst/>
            </a:prstGeom>
            <a:noFill/>
            <a:ln>
              <a:noFill/>
            </a:ln>
          </p:spPr>
          <p:txBody>
            <a:bodyPr wrap="none" lIns="0" tIns="0" rIns="0" bIns="0" anchor="t" anchorCtr="0">
              <a:spAutoFit/>
            </a:bodyPr>
            <a:lstStyle/>
            <a:p>
              <a:pPr algn="l"/>
              <a:r>
                <a:rPr lang="zh-CN" sz="980" b="1" dirty="0">
                  <a:solidFill>
                    <a:srgbClr val="42140B"/>
                  </a:solidFill>
                  <a:latin typeface="+mn-lt"/>
                  <a:ea typeface="+mn-ea"/>
                  <a:cs typeface="+mn-cs"/>
                </a:rPr>
                <a:t>可追溯性</a:t>
              </a:r>
            </a:p>
          </p:txBody>
        </p:sp>
        <p:sp>
          <p:nvSpPr>
            <p:cNvPr id="341" name="TextBox 341"/>
            <p:cNvSpPr txBox="1"/>
            <p:nvPr/>
          </p:nvSpPr>
          <p:spPr>
            <a:xfrm>
              <a:off x="10491788" y="4979432"/>
              <a:ext cx="526466"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可度量检查项</a:t>
              </a:r>
            </a:p>
          </p:txBody>
        </p:sp>
        <p:sp>
          <p:nvSpPr>
            <p:cNvPr id="342" name="Line 342"/>
            <p:cNvSpPr/>
            <p:nvPr/>
          </p:nvSpPr>
          <p:spPr>
            <a:xfrm>
              <a:off x="10153650" y="5181600"/>
              <a:ext cx="1657350" cy="9525"/>
            </a:xfrm>
            <a:custGeom>
              <a:avLst/>
              <a:gdLst/>
              <a:ahLst/>
              <a:cxnLst/>
              <a:rect l="l" t="t" r="r" b="b"/>
              <a:pathLst>
                <a:path w="1657350" h="9525">
                  <a:moveTo>
                    <a:pt x="0" y="0"/>
                  </a:moveTo>
                  <a:lnTo>
                    <a:pt x="1657350" y="0"/>
                  </a:lnTo>
                </a:path>
              </a:pathLst>
            </a:custGeom>
            <a:noFill/>
            <a:ln w="9525">
              <a:solidFill>
                <a:srgbClr val="D9E8C6"/>
              </a:solidFill>
            </a:ln>
          </p:spPr>
        </p:sp>
        <p:sp>
          <p:nvSpPr>
            <p:cNvPr id="343" name="TextBox 343"/>
            <p:cNvSpPr txBox="1"/>
            <p:nvPr/>
          </p:nvSpPr>
          <p:spPr>
            <a:xfrm>
              <a:off x="10148888" y="5333286"/>
              <a:ext cx="1094541"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来源可追溯率 = 100%　</a:t>
              </a:r>
            </a:p>
          </p:txBody>
        </p:sp>
        <p:sp>
          <p:nvSpPr>
            <p:cNvPr id="344" name="TextBox 344"/>
            <p:cNvSpPr txBox="1"/>
            <p:nvPr/>
          </p:nvSpPr>
          <p:spPr>
            <a:xfrm>
              <a:off x="10148888" y="5561886"/>
              <a:ext cx="1190121"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版本留痕完整率 = 100%　</a:t>
              </a:r>
            </a:p>
          </p:txBody>
        </p:sp>
        <p:sp>
          <p:nvSpPr>
            <p:cNvPr id="345" name="TextBox 345"/>
            <p:cNvSpPr txBox="1"/>
            <p:nvPr/>
          </p:nvSpPr>
          <p:spPr>
            <a:xfrm>
              <a:off x="10148888" y="5790486"/>
              <a:ext cx="1190121" cy="140494"/>
            </a:xfrm>
            <a:prstGeom prst="rect">
              <a:avLst/>
            </a:prstGeom>
            <a:noFill/>
            <a:ln>
              <a:noFill/>
            </a:ln>
          </p:spPr>
          <p:txBody>
            <a:bodyPr wrap="none" lIns="0" tIns="0" rIns="0" bIns="0" anchor="t" anchorCtr="0">
              <a:spAutoFit/>
            </a:bodyPr>
            <a:lstStyle/>
            <a:p>
              <a:pPr algn="l" marL="76644" indent="-76644">
                <a:buClr>
                  <a:srgbClr val="3A4238"/>
                </a:buClr>
                <a:buSzTx/>
                <a:buFontTx/>
                <a:buChar char="•"/>
              </a:pPr>
              <a:r>
                <a:rPr lang="zh-CN" sz="710" dirty="0">
                  <a:solidFill>
                    <a:srgbClr val="3A4238"/>
                  </a:solidFill>
                  <a:latin typeface="+mn-lt"/>
                  <a:ea typeface="+mn-ea"/>
                  <a:cs typeface="+mn-cs"/>
                </a:rPr>
                <a:t xml:space="preserve">变更记录完整率 = 100%　</a:t>
              </a:r>
            </a:p>
          </p:txBody>
        </p:sp>
      </p:gr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06</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内容接入不是搬运文件，而是把非结构化信息加工成</a:t>
              </a:r>
              <a:r>
                <a:rPr lang="zh-CN" sz="1950" b="1" dirty="0">
                  <a:solidFill>
                    <a:srgbClr val="7C3B2F"/>
                  </a:solidFill>
                  <a:latin typeface="SimSun"/>
                  <a:ea typeface="SimSun"/>
                  <a:cs typeface="SimSun"/>
                </a:rPr>
                <a:t>可检索知识</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59" name="source-list"/>
          <p:cNvGrpSpPr/>
          <p:nvPr/>
        </p:nvGrpSpPr>
        <p:grpSpPr>
          <a:xfrm>
            <a:off x="228600" y="609600"/>
            <a:ext cx="1219200" cy="3657600"/>
            <a:chOff x="228600" y="609600"/>
            <a:chExt cx="1219200" cy="3657600"/>
          </a:xfrm>
        </p:grpSpPr>
        <p:sp>
          <p:nvSpPr>
            <p:cNvPr id="7" name="Rectangle 7"/>
            <p:cNvSpPr/>
            <p:nvPr/>
          </p:nvSpPr>
          <p:spPr>
            <a:xfrm>
              <a:off x="228600" y="609600"/>
              <a:ext cx="1219200" cy="266700"/>
            </a:xfrm>
            <a:prstGeom prst="roundRect">
              <a:avLst>
                <a:gd name="adj" fmla="val 21429"/>
              </a:avLst>
            </a:prstGeom>
            <a:solidFill>
              <a:srgbClr val="42140B"/>
            </a:solidFill>
            <a:ln>
              <a:noFill/>
            </a:ln>
          </p:spPr>
        </p:sp>
        <p:sp>
          <p:nvSpPr>
            <p:cNvPr id="8" name="TextBox 8"/>
            <p:cNvSpPr txBox="1"/>
            <p:nvPr/>
          </p:nvSpPr>
          <p:spPr>
            <a:xfrm>
              <a:off x="580352" y="6893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多源接入</a:t>
              </a:r>
            </a:p>
          </p:txBody>
        </p:sp>
        <p:sp>
          <p:nvSpPr>
            <p:cNvPr id="9" name="Rectangle 9"/>
            <p:cNvSpPr/>
            <p:nvPr/>
          </p:nvSpPr>
          <p:spPr>
            <a:xfrm>
              <a:off x="228600" y="952500"/>
              <a:ext cx="1219200" cy="381000"/>
            </a:xfrm>
            <a:prstGeom prst="roundRect">
              <a:avLst>
                <a:gd name="adj" fmla="val 15000"/>
              </a:avLst>
            </a:prstGeom>
            <a:solidFill>
              <a:srgbClr val="F4F8EC"/>
            </a:solidFill>
            <a:ln w="9525">
              <a:solidFill>
                <a:srgbClr val="D9E8C6"/>
              </a:solidFill>
            </a:ln>
          </p:spPr>
        </p:sp>
        <p:grpSp>
          <p:nvGrpSpPr>
            <p:cNvPr id="15" name="Group 15"/>
            <p:cNvGrpSpPr/>
            <p:nvPr/>
          </p:nvGrpSpPr>
          <p:grpSpPr>
            <a:xfrm>
              <a:off x="374650" y="1085850"/>
              <a:ext cx="88900" cy="114300"/>
              <a:chOff x="374650" y="1085850"/>
              <a:chExt cx="88900" cy="114300"/>
            </a:xfrm>
          </p:grpSpPr>
          <p:sp>
            <p:nvSpPr>
              <p:cNvPr id="10" name="Freeform 10"/>
              <p:cNvSpPr/>
              <p:nvPr/>
            </p:nvSpPr>
            <p:spPr>
              <a:xfrm>
                <a:off x="431800" y="10858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7C3B2F"/>
                </a:solidFill>
              </a:ln>
            </p:spPr>
          </p:sp>
          <p:sp>
            <p:nvSpPr>
              <p:cNvPr id="11" name="Freeform 11"/>
              <p:cNvSpPr/>
              <p:nvPr/>
            </p:nvSpPr>
            <p:spPr>
              <a:xfrm>
                <a:off x="374650" y="10858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7C3B2F"/>
                </a:solidFill>
              </a:ln>
            </p:spPr>
          </p:sp>
          <p:sp>
            <p:nvSpPr>
              <p:cNvPr id="12" name="Freeform 12"/>
              <p:cNvSpPr/>
              <p:nvPr/>
            </p:nvSpPr>
            <p:spPr>
              <a:xfrm>
                <a:off x="400050" y="1123950"/>
                <a:ext cx="9525" cy="9525"/>
              </a:xfrm>
              <a:custGeom>
                <a:avLst/>
                <a:gdLst/>
                <a:ahLst/>
                <a:cxnLst/>
                <a:rect l="l" t="t" r="r" b="b"/>
                <a:pathLst>
                  <a:path w="9525" h="9525">
                    <a:moveTo>
                      <a:pt x="0" y="0"/>
                    </a:moveTo>
                    <a:lnTo>
                      <a:pt x="6350" y="0"/>
                    </a:lnTo>
                  </a:path>
                </a:pathLst>
              </a:custGeom>
              <a:noFill/>
              <a:ln w="12700">
                <a:solidFill>
                  <a:srgbClr val="7C3B2F"/>
                </a:solidFill>
              </a:ln>
            </p:spPr>
          </p:sp>
          <p:sp>
            <p:nvSpPr>
              <p:cNvPr id="13" name="Freeform 13"/>
              <p:cNvSpPr/>
              <p:nvPr/>
            </p:nvSpPr>
            <p:spPr>
              <a:xfrm>
                <a:off x="400050" y="1149350"/>
                <a:ext cx="38100" cy="9525"/>
              </a:xfrm>
              <a:custGeom>
                <a:avLst/>
                <a:gdLst/>
                <a:ahLst/>
                <a:cxnLst/>
                <a:rect l="l" t="t" r="r" b="b"/>
                <a:pathLst>
                  <a:path w="38100" h="9525">
                    <a:moveTo>
                      <a:pt x="0" y="0"/>
                    </a:moveTo>
                    <a:lnTo>
                      <a:pt x="38100" y="0"/>
                    </a:lnTo>
                  </a:path>
                </a:pathLst>
              </a:custGeom>
              <a:noFill/>
              <a:ln w="12700">
                <a:solidFill>
                  <a:srgbClr val="7C3B2F"/>
                </a:solidFill>
              </a:ln>
            </p:spPr>
          </p:sp>
          <p:sp>
            <p:nvSpPr>
              <p:cNvPr id="14" name="Freeform 14"/>
              <p:cNvSpPr/>
              <p:nvPr/>
            </p:nvSpPr>
            <p:spPr>
              <a:xfrm>
                <a:off x="400050" y="1174750"/>
                <a:ext cx="38100" cy="9525"/>
              </a:xfrm>
              <a:custGeom>
                <a:avLst/>
                <a:gdLst/>
                <a:ahLst/>
                <a:cxnLst/>
                <a:rect l="l" t="t" r="r" b="b"/>
                <a:pathLst>
                  <a:path w="38100" h="9525">
                    <a:moveTo>
                      <a:pt x="0" y="0"/>
                    </a:moveTo>
                    <a:lnTo>
                      <a:pt x="38100" y="0"/>
                    </a:lnTo>
                  </a:path>
                </a:pathLst>
              </a:custGeom>
              <a:noFill/>
              <a:ln w="12700">
                <a:solidFill>
                  <a:srgbClr val="7C3B2F"/>
                </a:solidFill>
              </a:ln>
            </p:spPr>
          </p:sp>
        </p:grpSp>
        <p:sp>
          <p:nvSpPr>
            <p:cNvPr id="16" name="TextBox 16"/>
            <p:cNvSpPr txBox="1"/>
            <p:nvPr/>
          </p:nvSpPr>
          <p:spPr>
            <a:xfrm>
              <a:off x="585788" y="1105614"/>
              <a:ext cx="301285" cy="154781"/>
            </a:xfrm>
            <a:prstGeom prst="rect">
              <a:avLst/>
            </a:prstGeom>
            <a:noFill/>
            <a:ln>
              <a:noFill/>
            </a:ln>
          </p:spPr>
          <p:txBody>
            <a:bodyPr wrap="none" lIns="0" tIns="0" rIns="0" bIns="0" anchor="t" anchorCtr="0">
              <a:spAutoFit/>
            </a:bodyPr>
            <a:lstStyle/>
            <a:p>
              <a:pPr algn="l"/>
              <a:r>
                <a:rPr lang="zh-CN" sz="790" dirty="0">
                  <a:solidFill>
                    <a:srgbClr val="3A4238"/>
                  </a:solidFill>
                  <a:latin typeface="+mn-lt"/>
                  <a:ea typeface="+mn-ea"/>
                  <a:cs typeface="+mn-cs"/>
                </a:rPr>
                <a:t xml:space="preserve">PDF　</a:t>
              </a:r>
            </a:p>
          </p:txBody>
        </p:sp>
        <p:sp>
          <p:nvSpPr>
            <p:cNvPr id="17" name="Rectangle 17"/>
            <p:cNvSpPr/>
            <p:nvPr/>
          </p:nvSpPr>
          <p:spPr>
            <a:xfrm>
              <a:off x="228600" y="1371600"/>
              <a:ext cx="1219200" cy="381000"/>
            </a:xfrm>
            <a:prstGeom prst="roundRect">
              <a:avLst>
                <a:gd name="adj" fmla="val 15000"/>
              </a:avLst>
            </a:prstGeom>
            <a:solidFill>
              <a:srgbClr val="FFFFFF"/>
            </a:solidFill>
            <a:ln w="9525">
              <a:solidFill>
                <a:srgbClr val="D9E8C6"/>
              </a:solidFill>
            </a:ln>
          </p:spPr>
        </p:sp>
        <p:grpSp>
          <p:nvGrpSpPr>
            <p:cNvPr id="23" name="Group 23"/>
            <p:cNvGrpSpPr/>
            <p:nvPr/>
          </p:nvGrpSpPr>
          <p:grpSpPr>
            <a:xfrm>
              <a:off x="374650" y="1504950"/>
              <a:ext cx="88900" cy="114300"/>
              <a:chOff x="374650" y="1504950"/>
              <a:chExt cx="88900" cy="114300"/>
            </a:xfrm>
          </p:grpSpPr>
          <p:sp>
            <p:nvSpPr>
              <p:cNvPr id="18" name="Freeform 18"/>
              <p:cNvSpPr/>
              <p:nvPr/>
            </p:nvSpPr>
            <p:spPr>
              <a:xfrm>
                <a:off x="431800" y="15049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7C3B2F"/>
                </a:solidFill>
              </a:ln>
            </p:spPr>
          </p:sp>
          <p:sp>
            <p:nvSpPr>
              <p:cNvPr id="19" name="Freeform 19"/>
              <p:cNvSpPr/>
              <p:nvPr/>
            </p:nvSpPr>
            <p:spPr>
              <a:xfrm>
                <a:off x="374650" y="15049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7C3B2F"/>
                </a:solidFill>
              </a:ln>
            </p:spPr>
          </p:sp>
          <p:sp>
            <p:nvSpPr>
              <p:cNvPr id="20" name="Freeform 20"/>
              <p:cNvSpPr/>
              <p:nvPr/>
            </p:nvSpPr>
            <p:spPr>
              <a:xfrm>
                <a:off x="400050" y="1543050"/>
                <a:ext cx="9525" cy="9525"/>
              </a:xfrm>
              <a:custGeom>
                <a:avLst/>
                <a:gdLst/>
                <a:ahLst/>
                <a:cxnLst/>
                <a:rect l="l" t="t" r="r" b="b"/>
                <a:pathLst>
                  <a:path w="9525" h="9525">
                    <a:moveTo>
                      <a:pt x="0" y="0"/>
                    </a:moveTo>
                    <a:lnTo>
                      <a:pt x="6350" y="0"/>
                    </a:lnTo>
                  </a:path>
                </a:pathLst>
              </a:custGeom>
              <a:noFill/>
              <a:ln w="12700">
                <a:solidFill>
                  <a:srgbClr val="7C3B2F"/>
                </a:solidFill>
              </a:ln>
            </p:spPr>
          </p:sp>
          <p:sp>
            <p:nvSpPr>
              <p:cNvPr id="21" name="Freeform 21"/>
              <p:cNvSpPr/>
              <p:nvPr/>
            </p:nvSpPr>
            <p:spPr>
              <a:xfrm>
                <a:off x="400050" y="1568450"/>
                <a:ext cx="38100" cy="9525"/>
              </a:xfrm>
              <a:custGeom>
                <a:avLst/>
                <a:gdLst/>
                <a:ahLst/>
                <a:cxnLst/>
                <a:rect l="l" t="t" r="r" b="b"/>
                <a:pathLst>
                  <a:path w="38100" h="9525">
                    <a:moveTo>
                      <a:pt x="0" y="0"/>
                    </a:moveTo>
                    <a:lnTo>
                      <a:pt x="38100" y="0"/>
                    </a:lnTo>
                  </a:path>
                </a:pathLst>
              </a:custGeom>
              <a:noFill/>
              <a:ln w="12700">
                <a:solidFill>
                  <a:srgbClr val="7C3B2F"/>
                </a:solidFill>
              </a:ln>
            </p:spPr>
          </p:sp>
          <p:sp>
            <p:nvSpPr>
              <p:cNvPr id="22" name="Freeform 22"/>
              <p:cNvSpPr/>
              <p:nvPr/>
            </p:nvSpPr>
            <p:spPr>
              <a:xfrm>
                <a:off x="400050" y="1593850"/>
                <a:ext cx="38100" cy="9525"/>
              </a:xfrm>
              <a:custGeom>
                <a:avLst/>
                <a:gdLst/>
                <a:ahLst/>
                <a:cxnLst/>
                <a:rect l="l" t="t" r="r" b="b"/>
                <a:pathLst>
                  <a:path w="38100" h="9525">
                    <a:moveTo>
                      <a:pt x="0" y="0"/>
                    </a:moveTo>
                    <a:lnTo>
                      <a:pt x="38100" y="0"/>
                    </a:lnTo>
                  </a:path>
                </a:pathLst>
              </a:custGeom>
              <a:noFill/>
              <a:ln w="12700">
                <a:solidFill>
                  <a:srgbClr val="7C3B2F"/>
                </a:solidFill>
              </a:ln>
            </p:spPr>
          </p:sp>
        </p:grpSp>
        <p:sp>
          <p:nvSpPr>
            <p:cNvPr id="24" name="TextBox 24"/>
            <p:cNvSpPr txBox="1"/>
            <p:nvPr/>
          </p:nvSpPr>
          <p:spPr>
            <a:xfrm>
              <a:off x="585788" y="1524714"/>
              <a:ext cx="374726" cy="154781"/>
            </a:xfrm>
            <a:prstGeom prst="rect">
              <a:avLst/>
            </a:prstGeom>
            <a:noFill/>
            <a:ln>
              <a:noFill/>
            </a:ln>
          </p:spPr>
          <p:txBody>
            <a:bodyPr wrap="none" lIns="0" tIns="0" rIns="0" bIns="0" anchor="t" anchorCtr="0">
              <a:spAutoFit/>
            </a:bodyPr>
            <a:lstStyle/>
            <a:p>
              <a:pPr algn="l"/>
              <a:r>
                <a:rPr lang="zh-CN" sz="790" dirty="0">
                  <a:solidFill>
                    <a:srgbClr val="3A4238"/>
                  </a:solidFill>
                  <a:latin typeface="+mn-lt"/>
                  <a:ea typeface="+mn-ea"/>
                  <a:cs typeface="+mn-cs"/>
                </a:rPr>
                <a:t xml:space="preserve">Word　</a:t>
              </a:r>
            </a:p>
          </p:txBody>
        </p:sp>
        <p:sp>
          <p:nvSpPr>
            <p:cNvPr id="25" name="Rectangle 25"/>
            <p:cNvSpPr/>
            <p:nvPr/>
          </p:nvSpPr>
          <p:spPr>
            <a:xfrm>
              <a:off x="228600" y="1790700"/>
              <a:ext cx="1219200" cy="381000"/>
            </a:xfrm>
            <a:prstGeom prst="roundRect">
              <a:avLst>
                <a:gd name="adj" fmla="val 15000"/>
              </a:avLst>
            </a:prstGeom>
            <a:solidFill>
              <a:srgbClr val="F4F8EC"/>
            </a:solidFill>
            <a:ln w="9525">
              <a:solidFill>
                <a:srgbClr val="D9E8C6"/>
              </a:solidFill>
            </a:ln>
          </p:spPr>
        </p:sp>
        <p:grpSp>
          <p:nvGrpSpPr>
            <p:cNvPr id="30" name="Group 30"/>
            <p:cNvGrpSpPr/>
            <p:nvPr/>
          </p:nvGrpSpPr>
          <p:grpSpPr>
            <a:xfrm>
              <a:off x="361950" y="1924050"/>
              <a:ext cx="114300" cy="107950"/>
              <a:chOff x="361950" y="1924050"/>
              <a:chExt cx="114300" cy="107950"/>
            </a:xfrm>
          </p:grpSpPr>
          <p:sp>
            <p:nvSpPr>
              <p:cNvPr id="26" name="Freeform 26"/>
              <p:cNvSpPr/>
              <p:nvPr/>
            </p:nvSpPr>
            <p:spPr>
              <a:xfrm>
                <a:off x="361950" y="1949450"/>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7C3B2F"/>
                </a:solidFill>
              </a:ln>
            </p:spPr>
          </p:sp>
          <p:sp>
            <p:nvSpPr>
              <p:cNvPr id="27" name="Freeform 27"/>
              <p:cNvSpPr/>
              <p:nvPr/>
            </p:nvSpPr>
            <p:spPr>
              <a:xfrm>
                <a:off x="393700" y="1924050"/>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7C3B2F"/>
                </a:solidFill>
              </a:ln>
            </p:spPr>
          </p:sp>
          <p:sp>
            <p:nvSpPr>
              <p:cNvPr id="28" name="Freeform 28"/>
              <p:cNvSpPr/>
              <p:nvPr/>
            </p:nvSpPr>
            <p:spPr>
              <a:xfrm>
                <a:off x="419100" y="1981200"/>
                <a:ext cx="9525" cy="9525"/>
              </a:xfrm>
              <a:custGeom>
                <a:avLst/>
                <a:gdLst/>
                <a:ahLst/>
                <a:cxnLst/>
                <a:rect l="l" t="t" r="r" b="b"/>
                <a:pathLst>
                  <a:path w="9525" h="9525">
                    <a:moveTo>
                      <a:pt x="0" y="0"/>
                    </a:moveTo>
                    <a:lnTo>
                      <a:pt x="0" y="64"/>
                    </a:lnTo>
                  </a:path>
                </a:pathLst>
              </a:custGeom>
              <a:noFill/>
              <a:ln w="12700">
                <a:solidFill>
                  <a:srgbClr val="7C3B2F"/>
                </a:solidFill>
              </a:ln>
            </p:spPr>
          </p:sp>
          <p:sp>
            <p:nvSpPr>
              <p:cNvPr id="29" name="Freeform 29"/>
              <p:cNvSpPr/>
              <p:nvPr/>
            </p:nvSpPr>
            <p:spPr>
              <a:xfrm>
                <a:off x="361950" y="1987550"/>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7C3B2F"/>
                </a:solidFill>
              </a:ln>
            </p:spPr>
          </p:sp>
        </p:grpSp>
        <p:sp>
          <p:nvSpPr>
            <p:cNvPr id="31" name="TextBox 31"/>
            <p:cNvSpPr txBox="1"/>
            <p:nvPr/>
          </p:nvSpPr>
          <p:spPr>
            <a:xfrm>
              <a:off x="585788" y="1943814"/>
              <a:ext cx="301285" cy="154781"/>
            </a:xfrm>
            <a:prstGeom prst="rect">
              <a:avLst/>
            </a:prstGeom>
            <a:noFill/>
            <a:ln>
              <a:noFill/>
            </a:ln>
          </p:spPr>
          <p:txBody>
            <a:bodyPr wrap="none" lIns="0" tIns="0" rIns="0" bIns="0" anchor="t" anchorCtr="0">
              <a:spAutoFit/>
            </a:bodyPr>
            <a:lstStyle/>
            <a:p>
              <a:pPr algn="l"/>
              <a:r>
                <a:rPr lang="zh-CN" sz="790" dirty="0">
                  <a:solidFill>
                    <a:srgbClr val="3A4238"/>
                  </a:solidFill>
                  <a:latin typeface="+mn-lt"/>
                  <a:ea typeface="+mn-ea"/>
                  <a:cs typeface="+mn-cs"/>
                </a:rPr>
                <a:t xml:space="preserve">PPT　</a:t>
              </a:r>
            </a:p>
          </p:txBody>
        </p:sp>
        <p:sp>
          <p:nvSpPr>
            <p:cNvPr id="32" name="Rectangle 32"/>
            <p:cNvSpPr/>
            <p:nvPr/>
          </p:nvSpPr>
          <p:spPr>
            <a:xfrm>
              <a:off x="228600" y="2209800"/>
              <a:ext cx="1219200" cy="381000"/>
            </a:xfrm>
            <a:prstGeom prst="roundRect">
              <a:avLst>
                <a:gd name="adj" fmla="val 15000"/>
              </a:avLst>
            </a:prstGeom>
            <a:solidFill>
              <a:srgbClr val="FFFFFF"/>
            </a:solidFill>
            <a:ln w="9525">
              <a:solidFill>
                <a:srgbClr val="D9E8C6"/>
              </a:solidFill>
            </a:ln>
          </p:spPr>
        </p:sp>
        <p:grpSp>
          <p:nvGrpSpPr>
            <p:cNvPr id="37" name="Group 37"/>
            <p:cNvGrpSpPr/>
            <p:nvPr/>
          </p:nvGrpSpPr>
          <p:grpSpPr>
            <a:xfrm>
              <a:off x="361950" y="2349500"/>
              <a:ext cx="114300" cy="111125"/>
              <a:chOff x="361950" y="2349500"/>
              <a:chExt cx="114300" cy="111125"/>
            </a:xfrm>
          </p:grpSpPr>
          <p:sp>
            <p:nvSpPr>
              <p:cNvPr id="33" name="Freeform 33"/>
              <p:cNvSpPr/>
              <p:nvPr/>
            </p:nvSpPr>
            <p:spPr>
              <a:xfrm>
                <a:off x="361950" y="24003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7C3B2F"/>
                </a:solidFill>
              </a:ln>
            </p:spPr>
          </p:sp>
          <p:sp>
            <p:nvSpPr>
              <p:cNvPr id="34" name="Freeform 34"/>
              <p:cNvSpPr/>
              <p:nvPr/>
            </p:nvSpPr>
            <p:spPr>
              <a:xfrm>
                <a:off x="438150" y="23749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7C3B2F"/>
                </a:solidFill>
              </a:ln>
            </p:spPr>
          </p:sp>
          <p:sp>
            <p:nvSpPr>
              <p:cNvPr id="35" name="Freeform 35"/>
              <p:cNvSpPr/>
              <p:nvPr/>
            </p:nvSpPr>
            <p:spPr>
              <a:xfrm>
                <a:off x="400050" y="23495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7C3B2F"/>
                </a:solidFill>
              </a:ln>
            </p:spPr>
          </p:sp>
          <p:sp>
            <p:nvSpPr>
              <p:cNvPr id="36" name="Freeform 36"/>
              <p:cNvSpPr/>
              <p:nvPr/>
            </p:nvSpPr>
            <p:spPr>
              <a:xfrm>
                <a:off x="368300" y="2451100"/>
                <a:ext cx="88900" cy="9525"/>
              </a:xfrm>
              <a:custGeom>
                <a:avLst/>
                <a:gdLst/>
                <a:ahLst/>
                <a:cxnLst/>
                <a:rect l="l" t="t" r="r" b="b"/>
                <a:pathLst>
                  <a:path w="88900" h="9525">
                    <a:moveTo>
                      <a:pt x="0" y="0"/>
                    </a:moveTo>
                    <a:lnTo>
                      <a:pt x="88900" y="0"/>
                    </a:lnTo>
                  </a:path>
                </a:pathLst>
              </a:custGeom>
              <a:noFill/>
              <a:ln w="12700">
                <a:solidFill>
                  <a:srgbClr val="7C3B2F"/>
                </a:solidFill>
              </a:ln>
            </p:spPr>
          </p:sp>
        </p:grpSp>
        <p:sp>
          <p:nvSpPr>
            <p:cNvPr id="38" name="TextBox 38"/>
            <p:cNvSpPr txBox="1"/>
            <p:nvPr/>
          </p:nvSpPr>
          <p:spPr>
            <a:xfrm>
              <a:off x="585788" y="2362914"/>
              <a:ext cx="384759" cy="154781"/>
            </a:xfrm>
            <a:prstGeom prst="rect">
              <a:avLst/>
            </a:prstGeom>
            <a:noFill/>
            <a:ln>
              <a:noFill/>
            </a:ln>
          </p:spPr>
          <p:txBody>
            <a:bodyPr wrap="none" lIns="0" tIns="0" rIns="0" bIns="0" anchor="t" anchorCtr="0">
              <a:spAutoFit/>
            </a:bodyPr>
            <a:lstStyle/>
            <a:p>
              <a:pPr algn="l"/>
              <a:r>
                <a:rPr lang="zh-CN" sz="790" dirty="0">
                  <a:solidFill>
                    <a:srgbClr val="3A4238"/>
                  </a:solidFill>
                  <a:latin typeface="+mn-lt"/>
                  <a:ea typeface="+mn-ea"/>
                  <a:cs typeface="+mn-cs"/>
                </a:rPr>
                <a:t xml:space="preserve">Excel　</a:t>
              </a:r>
            </a:p>
          </p:txBody>
        </p:sp>
        <p:sp>
          <p:nvSpPr>
            <p:cNvPr id="39" name="Rectangle 39"/>
            <p:cNvSpPr/>
            <p:nvPr/>
          </p:nvSpPr>
          <p:spPr>
            <a:xfrm>
              <a:off x="228600" y="2628900"/>
              <a:ext cx="1219200" cy="381000"/>
            </a:xfrm>
            <a:prstGeom prst="roundRect">
              <a:avLst>
                <a:gd name="adj" fmla="val 15000"/>
              </a:avLst>
            </a:prstGeom>
            <a:solidFill>
              <a:srgbClr val="F4F8EC"/>
            </a:solidFill>
            <a:ln w="9525">
              <a:solidFill>
                <a:srgbClr val="D9E8C6"/>
              </a:solidFill>
            </a:ln>
          </p:spPr>
        </p:sp>
        <p:sp>
          <p:nvSpPr>
            <p:cNvPr id="40" name="Freeform 40"/>
            <p:cNvSpPr/>
            <p:nvPr/>
          </p:nvSpPr>
          <p:spPr>
            <a:xfrm>
              <a:off x="355448" y="276367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7C3B2F"/>
              </a:solidFill>
            </a:ln>
          </p:spPr>
        </p:sp>
        <p:sp>
          <p:nvSpPr>
            <p:cNvPr id="41" name="TextBox 41"/>
            <p:cNvSpPr txBox="1"/>
            <p:nvPr/>
          </p:nvSpPr>
          <p:spPr>
            <a:xfrm>
              <a:off x="585788" y="2782014"/>
              <a:ext cx="379382" cy="154781"/>
            </a:xfrm>
            <a:prstGeom prst="rect">
              <a:avLst/>
            </a:prstGeom>
            <a:noFill/>
            <a:ln>
              <a:noFill/>
            </a:ln>
          </p:spPr>
          <p:txBody>
            <a:bodyPr wrap="none" lIns="0" tIns="0" rIns="0" bIns="0" anchor="t" anchorCtr="0">
              <a:spAutoFit/>
            </a:bodyPr>
            <a:lstStyle/>
            <a:p>
              <a:pPr algn="l"/>
              <a:r>
                <a:rPr lang="zh-CN" sz="790" dirty="0">
                  <a:solidFill>
                    <a:srgbClr val="3A4238"/>
                  </a:solidFill>
                  <a:latin typeface="+mn-lt"/>
                  <a:ea typeface="+mn-ea"/>
                  <a:cs typeface="+mn-cs"/>
                </a:rPr>
                <a:t xml:space="preserve">Email　</a:t>
              </a:r>
            </a:p>
          </p:txBody>
        </p:sp>
        <p:sp>
          <p:nvSpPr>
            <p:cNvPr id="42" name="Rectangle 42"/>
            <p:cNvSpPr/>
            <p:nvPr/>
          </p:nvSpPr>
          <p:spPr>
            <a:xfrm>
              <a:off x="228600" y="3048000"/>
              <a:ext cx="1219200" cy="381000"/>
            </a:xfrm>
            <a:prstGeom prst="roundRect">
              <a:avLst>
                <a:gd name="adj" fmla="val 15000"/>
              </a:avLst>
            </a:prstGeom>
            <a:solidFill>
              <a:srgbClr val="FFFFFF"/>
            </a:solidFill>
            <a:ln w="9525">
              <a:solidFill>
                <a:srgbClr val="D9E8C6"/>
              </a:solidFill>
            </a:ln>
          </p:spPr>
        </p:sp>
        <p:grpSp>
          <p:nvGrpSpPr>
            <p:cNvPr id="46" name="Group 46"/>
            <p:cNvGrpSpPr/>
            <p:nvPr/>
          </p:nvGrpSpPr>
          <p:grpSpPr>
            <a:xfrm>
              <a:off x="368299" y="3184597"/>
              <a:ext cx="104694" cy="107792"/>
              <a:chOff x="368299" y="3184597"/>
              <a:chExt cx="104694" cy="107792"/>
            </a:xfrm>
          </p:grpSpPr>
          <p:sp>
            <p:nvSpPr>
              <p:cNvPr id="43" name="Freeform 43"/>
              <p:cNvSpPr/>
              <p:nvPr/>
            </p:nvSpPr>
            <p:spPr>
              <a:xfrm>
                <a:off x="400050" y="3219450"/>
                <a:ext cx="38100" cy="38100"/>
              </a:xfrm>
              <a:custGeom>
                <a:avLst/>
                <a:gdLst/>
                <a:ahLst/>
                <a:cxnLst/>
                <a:rect l="l" t="t" r="r" b="b"/>
                <a:pathLst>
                  <a:path w="38100" h="38100">
                    <a:moveTo>
                      <a:pt x="0" y="38100"/>
                    </a:moveTo>
                    <a:lnTo>
                      <a:pt x="38100" y="0"/>
                    </a:lnTo>
                  </a:path>
                </a:pathLst>
              </a:custGeom>
              <a:noFill/>
              <a:ln w="12700">
                <a:solidFill>
                  <a:srgbClr val="7C3B2F"/>
                </a:solidFill>
              </a:ln>
            </p:spPr>
          </p:sp>
          <p:sp>
            <p:nvSpPr>
              <p:cNvPr id="44" name="Freeform 44"/>
              <p:cNvSpPr/>
              <p:nvPr/>
            </p:nvSpPr>
            <p:spPr>
              <a:xfrm>
                <a:off x="412750" y="3184597"/>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7C3B2F"/>
                </a:solidFill>
              </a:ln>
            </p:spPr>
          </p:sp>
          <p:sp>
            <p:nvSpPr>
              <p:cNvPr id="45" name="Freeform 45"/>
              <p:cNvSpPr/>
              <p:nvPr/>
            </p:nvSpPr>
            <p:spPr>
              <a:xfrm>
                <a:off x="368299" y="3232150"/>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7C3B2F"/>
                </a:solidFill>
              </a:ln>
            </p:spPr>
          </p:sp>
        </p:grpSp>
        <p:sp>
          <p:nvSpPr>
            <p:cNvPr id="47" name="TextBox 47"/>
            <p:cNvSpPr txBox="1"/>
            <p:nvPr/>
          </p:nvSpPr>
          <p:spPr>
            <a:xfrm>
              <a:off x="585788" y="3201114"/>
              <a:ext cx="592819" cy="154781"/>
            </a:xfrm>
            <a:prstGeom prst="rect">
              <a:avLst/>
            </a:prstGeom>
            <a:noFill/>
            <a:ln>
              <a:noFill/>
            </a:ln>
          </p:spPr>
          <p:txBody>
            <a:bodyPr wrap="none" lIns="0" tIns="0" rIns="0" bIns="0" anchor="t" anchorCtr="0">
              <a:spAutoFit/>
            </a:bodyPr>
            <a:lstStyle/>
            <a:p>
              <a:pPr algn="l"/>
              <a:r>
                <a:rPr lang="zh-CN" sz="790" dirty="0">
                  <a:solidFill>
                    <a:srgbClr val="3A4238"/>
                  </a:solidFill>
                  <a:latin typeface="+mn-lt"/>
                  <a:ea typeface="+mn-ea"/>
                  <a:cs typeface="+mn-cs"/>
                </a:rPr>
                <a:t xml:space="preserve">Wiki/网页　</a:t>
              </a:r>
            </a:p>
          </p:txBody>
        </p:sp>
        <p:sp>
          <p:nvSpPr>
            <p:cNvPr id="48" name="Rectangle 48"/>
            <p:cNvSpPr/>
            <p:nvPr/>
          </p:nvSpPr>
          <p:spPr>
            <a:xfrm>
              <a:off x="228600" y="3467100"/>
              <a:ext cx="1219200" cy="381000"/>
            </a:xfrm>
            <a:prstGeom prst="roundRect">
              <a:avLst>
                <a:gd name="adj" fmla="val 15000"/>
              </a:avLst>
            </a:prstGeom>
            <a:solidFill>
              <a:srgbClr val="F4F8EC"/>
            </a:solidFill>
            <a:ln w="9525">
              <a:solidFill>
                <a:srgbClr val="D9E8C6"/>
              </a:solidFill>
            </a:ln>
          </p:spPr>
        </p:sp>
        <p:grpSp>
          <p:nvGrpSpPr>
            <p:cNvPr id="51" name="Group 51"/>
            <p:cNvGrpSpPr/>
            <p:nvPr/>
          </p:nvGrpSpPr>
          <p:grpSpPr>
            <a:xfrm>
              <a:off x="361950" y="3619500"/>
              <a:ext cx="114300" cy="76200"/>
              <a:chOff x="361950" y="3619500"/>
              <a:chExt cx="114300" cy="76200"/>
            </a:xfrm>
          </p:grpSpPr>
          <p:sp>
            <p:nvSpPr>
              <p:cNvPr id="49" name="Freeform 49"/>
              <p:cNvSpPr/>
              <p:nvPr/>
            </p:nvSpPr>
            <p:spPr>
              <a:xfrm>
                <a:off x="438150" y="3629464"/>
                <a:ext cx="38100" cy="56272"/>
              </a:xfrm>
              <a:custGeom>
                <a:avLst/>
                <a:gdLst/>
                <a:ahLst/>
                <a:cxnLst/>
                <a:rect l="l" t="t" r="r" b="b"/>
                <a:pathLst>
                  <a:path w="38100" h="56272">
                    <a:moveTo>
                      <a:pt x="0" y="15436"/>
                    </a:moveTo>
                    <a:lnTo>
                      <a:pt x="28912" y="983"/>
                    </a:lnTo>
                    <a:cubicBezTo>
                      <a:pt x="30879" y="0"/>
                      <a:pt x="33216" y="105"/>
                      <a:pt x="35088" y="1262"/>
                    </a:cubicBezTo>
                    <a:cubicBezTo>
                      <a:pt x="36959" y="2418"/>
                      <a:pt x="38099" y="4460"/>
                      <a:pt x="38100" y="6660"/>
                    </a:cubicBezTo>
                    <a:lnTo>
                      <a:pt x="38100" y="49612"/>
                    </a:lnTo>
                    <a:cubicBezTo>
                      <a:pt x="38099" y="51812"/>
                      <a:pt x="36959" y="53854"/>
                      <a:pt x="35088" y="55010"/>
                    </a:cubicBezTo>
                    <a:cubicBezTo>
                      <a:pt x="33216" y="56167"/>
                      <a:pt x="30879" y="56272"/>
                      <a:pt x="28912" y="55289"/>
                    </a:cubicBezTo>
                    <a:lnTo>
                      <a:pt x="0" y="40836"/>
                    </a:lnTo>
                    <a:lnTo>
                      <a:pt x="0" y="15436"/>
                    </a:lnTo>
                  </a:path>
                </a:pathLst>
              </a:custGeom>
              <a:noFill/>
              <a:ln w="12700">
                <a:solidFill>
                  <a:srgbClr val="7C3B2F"/>
                </a:solidFill>
              </a:ln>
            </p:spPr>
          </p:sp>
          <p:sp>
            <p:nvSpPr>
              <p:cNvPr id="50" name="Freeform 50"/>
              <p:cNvSpPr/>
              <p:nvPr/>
            </p:nvSpPr>
            <p:spPr>
              <a:xfrm>
                <a:off x="361950" y="3619500"/>
                <a:ext cx="76200" cy="76200"/>
              </a:xfrm>
              <a:custGeom>
                <a:avLst/>
                <a:gdLst/>
                <a:ahLst/>
                <a:cxnLst/>
                <a:rect l="l" t="t" r="r" b="b"/>
                <a:pathLst>
                  <a:path w="76200" h="76200">
                    <a:moveTo>
                      <a:pt x="0" y="12700"/>
                    </a:moveTo>
                    <a:cubicBezTo>
                      <a:pt x="0" y="5686"/>
                      <a:pt x="5686" y="0"/>
                      <a:pt x="12700" y="0"/>
                    </a:cubicBezTo>
                    <a:lnTo>
                      <a:pt x="63500" y="0"/>
                    </a:lnTo>
                    <a:cubicBezTo>
                      <a:pt x="70514" y="0"/>
                      <a:pt x="76200" y="5686"/>
                      <a:pt x="76200" y="12700"/>
                    </a:cubicBezTo>
                    <a:lnTo>
                      <a:pt x="76200" y="63500"/>
                    </a:lnTo>
                    <a:cubicBezTo>
                      <a:pt x="76200" y="70514"/>
                      <a:pt x="70514" y="76200"/>
                      <a:pt x="63500" y="76200"/>
                    </a:cubicBezTo>
                    <a:lnTo>
                      <a:pt x="12700" y="76200"/>
                    </a:lnTo>
                    <a:cubicBezTo>
                      <a:pt x="5686" y="76200"/>
                      <a:pt x="0" y="70514"/>
                      <a:pt x="0" y="63500"/>
                    </a:cubicBezTo>
                    <a:lnTo>
                      <a:pt x="0" y="12700"/>
                    </a:lnTo>
                  </a:path>
                </a:pathLst>
              </a:custGeom>
              <a:noFill/>
              <a:ln w="12700">
                <a:solidFill>
                  <a:srgbClr val="7C3B2F"/>
                </a:solidFill>
              </a:ln>
            </p:spPr>
          </p:sp>
        </p:grpSp>
        <p:sp>
          <p:nvSpPr>
            <p:cNvPr id="52" name="TextBox 52"/>
            <p:cNvSpPr txBox="1"/>
            <p:nvPr/>
          </p:nvSpPr>
          <p:spPr>
            <a:xfrm>
              <a:off x="585788" y="3620214"/>
              <a:ext cx="434924" cy="154781"/>
            </a:xfrm>
            <a:prstGeom prst="rect">
              <a:avLst/>
            </a:prstGeom>
            <a:noFill/>
            <a:ln>
              <a:noFill/>
            </a:ln>
          </p:spPr>
          <p:txBody>
            <a:bodyPr wrap="none" lIns="0" tIns="0" rIns="0" bIns="0" anchor="t" anchorCtr="0">
              <a:spAutoFit/>
            </a:bodyPr>
            <a:lstStyle/>
            <a:p>
              <a:pPr algn="l"/>
              <a:r>
                <a:rPr lang="zh-CN" sz="790" dirty="0">
                  <a:solidFill>
                    <a:srgbClr val="3A4238"/>
                  </a:solidFill>
                  <a:latin typeface="+mn-lt"/>
                  <a:ea typeface="+mn-ea"/>
                  <a:cs typeface="+mn-cs"/>
                </a:rPr>
                <a:t>音频转写</a:t>
              </a:r>
            </a:p>
          </p:txBody>
        </p:sp>
        <p:sp>
          <p:nvSpPr>
            <p:cNvPr id="53" name="Rectangle 53"/>
            <p:cNvSpPr/>
            <p:nvPr/>
          </p:nvSpPr>
          <p:spPr>
            <a:xfrm>
              <a:off x="228600" y="3886200"/>
              <a:ext cx="1219200" cy="381000"/>
            </a:xfrm>
            <a:prstGeom prst="roundRect">
              <a:avLst>
                <a:gd name="adj" fmla="val 15000"/>
              </a:avLst>
            </a:prstGeom>
            <a:solidFill>
              <a:srgbClr val="FFFFFF"/>
            </a:solidFill>
            <a:ln w="9525">
              <a:solidFill>
                <a:srgbClr val="D9E8C6"/>
              </a:solidFill>
            </a:ln>
          </p:spPr>
        </p:sp>
        <p:grpSp>
          <p:nvGrpSpPr>
            <p:cNvPr id="57" name="Group 57"/>
            <p:cNvGrpSpPr/>
            <p:nvPr/>
          </p:nvGrpSpPr>
          <p:grpSpPr>
            <a:xfrm>
              <a:off x="368300" y="4019550"/>
              <a:ext cx="101600" cy="114300"/>
              <a:chOff x="368300" y="4019550"/>
              <a:chExt cx="101600" cy="114300"/>
            </a:xfrm>
          </p:grpSpPr>
          <p:sp>
            <p:nvSpPr>
              <p:cNvPr id="54" name="Freeform 54"/>
              <p:cNvSpPr/>
              <p:nvPr/>
            </p:nvSpPr>
            <p:spPr>
              <a:xfrm>
                <a:off x="368300" y="40195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7C3B2F"/>
                </a:solidFill>
              </a:ln>
            </p:spPr>
          </p:sp>
          <p:sp>
            <p:nvSpPr>
              <p:cNvPr id="55" name="Freeform 55"/>
              <p:cNvSpPr/>
              <p:nvPr/>
            </p:nvSpPr>
            <p:spPr>
              <a:xfrm>
                <a:off x="368300" y="40386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7C3B2F"/>
                </a:solidFill>
              </a:ln>
            </p:spPr>
          </p:sp>
          <p:sp>
            <p:nvSpPr>
              <p:cNvPr id="56" name="Freeform 56"/>
              <p:cNvSpPr/>
              <p:nvPr/>
            </p:nvSpPr>
            <p:spPr>
              <a:xfrm>
                <a:off x="368300" y="40767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7C3B2F"/>
                </a:solidFill>
              </a:ln>
            </p:spPr>
          </p:sp>
        </p:grpSp>
        <p:sp>
          <p:nvSpPr>
            <p:cNvPr id="58" name="TextBox 58"/>
            <p:cNvSpPr txBox="1"/>
            <p:nvPr/>
          </p:nvSpPr>
          <p:spPr>
            <a:xfrm>
              <a:off x="585788" y="4039314"/>
              <a:ext cx="328574" cy="154781"/>
            </a:xfrm>
            <a:prstGeom prst="rect">
              <a:avLst/>
            </a:prstGeom>
            <a:noFill/>
            <a:ln>
              <a:noFill/>
            </a:ln>
          </p:spPr>
          <p:txBody>
            <a:bodyPr wrap="none" lIns="0" tIns="0" rIns="0" bIns="0" anchor="t" anchorCtr="0">
              <a:spAutoFit/>
            </a:bodyPr>
            <a:lstStyle/>
            <a:p>
              <a:pPr algn="l"/>
              <a:r>
                <a:rPr lang="zh-CN" sz="790" dirty="0">
                  <a:solidFill>
                    <a:srgbClr val="3A4238"/>
                  </a:solidFill>
                  <a:latin typeface="+mn-lt"/>
                  <a:ea typeface="+mn-ea"/>
                  <a:cs typeface="+mn-cs"/>
                </a:rPr>
                <a:t>数据库</a:t>
              </a:r>
            </a:p>
          </p:txBody>
        </p:sp>
      </p:grpSp>
      <p:grpSp>
        <p:nvGrpSpPr>
          <p:cNvPr id="168" name="pipeline"/>
          <p:cNvGrpSpPr/>
          <p:nvPr/>
        </p:nvGrpSpPr>
        <p:grpSpPr>
          <a:xfrm>
            <a:off x="1905000" y="666750"/>
            <a:ext cx="8001000" cy="1905000"/>
            <a:chOff x="1905000" y="666750"/>
            <a:chExt cx="8001000" cy="1905000"/>
          </a:xfrm>
        </p:grpSpPr>
        <p:sp>
          <p:nvSpPr>
            <p:cNvPr id="60" name="Freeform 60"/>
            <p:cNvSpPr/>
            <p:nvPr/>
          </p:nvSpPr>
          <p:spPr>
            <a:xfrm>
              <a:off x="1905000" y="666750"/>
              <a:ext cx="1000125" cy="247650"/>
            </a:xfrm>
            <a:prstGeom prst="chevron">
              <a:avLst>
                <a:gd name="adj" fmla="val 22000"/>
              </a:avLst>
            </a:prstGeom>
            <a:solidFill>
              <a:srgbClr val="42140B"/>
            </a:solidFill>
            <a:ln>
              <a:noFill/>
            </a:ln>
          </p:spPr>
        </p:sp>
        <p:sp>
          <p:nvSpPr>
            <p:cNvPr id="61" name="Freeform 61"/>
            <p:cNvSpPr/>
            <p:nvPr/>
          </p:nvSpPr>
          <p:spPr>
            <a:xfrm>
              <a:off x="2905125" y="666750"/>
              <a:ext cx="1000125" cy="247650"/>
            </a:xfrm>
            <a:prstGeom prst="chevron">
              <a:avLst>
                <a:gd name="adj" fmla="val 22000"/>
              </a:avLst>
            </a:prstGeom>
            <a:solidFill>
              <a:srgbClr val="50261E"/>
            </a:solidFill>
            <a:ln>
              <a:noFill/>
            </a:ln>
          </p:spPr>
        </p:sp>
        <p:sp>
          <p:nvSpPr>
            <p:cNvPr id="62" name="Freeform 62"/>
            <p:cNvSpPr/>
            <p:nvPr/>
          </p:nvSpPr>
          <p:spPr>
            <a:xfrm>
              <a:off x="3905250" y="666750"/>
              <a:ext cx="1000125" cy="247650"/>
            </a:xfrm>
            <a:prstGeom prst="chevron">
              <a:avLst>
                <a:gd name="adj" fmla="val 22000"/>
              </a:avLst>
            </a:prstGeom>
            <a:solidFill>
              <a:srgbClr val="643228"/>
            </a:solidFill>
            <a:ln>
              <a:noFill/>
            </a:ln>
          </p:spPr>
        </p:sp>
        <p:sp>
          <p:nvSpPr>
            <p:cNvPr id="63" name="Freeform 63"/>
            <p:cNvSpPr/>
            <p:nvPr/>
          </p:nvSpPr>
          <p:spPr>
            <a:xfrm>
              <a:off x="4905375" y="666750"/>
              <a:ext cx="1000125" cy="247650"/>
            </a:xfrm>
            <a:prstGeom prst="chevron">
              <a:avLst>
                <a:gd name="adj" fmla="val 22000"/>
              </a:avLst>
            </a:prstGeom>
            <a:solidFill>
              <a:srgbClr val="7C3B2F"/>
            </a:solidFill>
            <a:ln>
              <a:noFill/>
            </a:ln>
          </p:spPr>
        </p:sp>
        <p:sp>
          <p:nvSpPr>
            <p:cNvPr id="64" name="Freeform 64"/>
            <p:cNvSpPr/>
            <p:nvPr/>
          </p:nvSpPr>
          <p:spPr>
            <a:xfrm>
              <a:off x="5905500" y="666750"/>
              <a:ext cx="1000125" cy="247650"/>
            </a:xfrm>
            <a:prstGeom prst="chevron">
              <a:avLst>
                <a:gd name="adj" fmla="val 22000"/>
              </a:avLst>
            </a:prstGeom>
            <a:solidFill>
              <a:srgbClr val="8C4336"/>
            </a:solidFill>
            <a:ln>
              <a:noFill/>
            </a:ln>
          </p:spPr>
        </p:sp>
        <p:sp>
          <p:nvSpPr>
            <p:cNvPr id="65" name="Freeform 65"/>
            <p:cNvSpPr/>
            <p:nvPr/>
          </p:nvSpPr>
          <p:spPr>
            <a:xfrm>
              <a:off x="6905625" y="666750"/>
              <a:ext cx="1000125" cy="247650"/>
            </a:xfrm>
            <a:prstGeom prst="chevron">
              <a:avLst>
                <a:gd name="adj" fmla="val 22000"/>
              </a:avLst>
            </a:prstGeom>
            <a:solidFill>
              <a:srgbClr val="9A4B3C"/>
            </a:solidFill>
            <a:ln>
              <a:noFill/>
            </a:ln>
          </p:spPr>
        </p:sp>
        <p:sp>
          <p:nvSpPr>
            <p:cNvPr id="66" name="Freeform 66"/>
            <p:cNvSpPr/>
            <p:nvPr/>
          </p:nvSpPr>
          <p:spPr>
            <a:xfrm>
              <a:off x="7905750" y="666750"/>
              <a:ext cx="1000125" cy="247650"/>
            </a:xfrm>
            <a:prstGeom prst="chevron">
              <a:avLst>
                <a:gd name="adj" fmla="val 22000"/>
              </a:avLst>
            </a:prstGeom>
            <a:solidFill>
              <a:srgbClr val="A85C4E"/>
            </a:solidFill>
            <a:ln>
              <a:noFill/>
            </a:ln>
          </p:spPr>
        </p:sp>
        <p:sp>
          <p:nvSpPr>
            <p:cNvPr id="67" name="Freeform 67"/>
            <p:cNvSpPr/>
            <p:nvPr/>
          </p:nvSpPr>
          <p:spPr>
            <a:xfrm>
              <a:off x="8905875" y="666750"/>
              <a:ext cx="1000125" cy="247650"/>
            </a:xfrm>
            <a:prstGeom prst="chevron">
              <a:avLst>
                <a:gd name="adj" fmla="val 22000"/>
              </a:avLst>
            </a:prstGeom>
            <a:solidFill>
              <a:srgbClr val="B76B5D"/>
            </a:solidFill>
            <a:ln>
              <a:noFill/>
            </a:ln>
          </p:spPr>
        </p:sp>
        <p:sp>
          <p:nvSpPr>
            <p:cNvPr id="68" name="TextBox 68"/>
            <p:cNvSpPr txBox="1"/>
            <p:nvPr/>
          </p:nvSpPr>
          <p:spPr>
            <a:xfrm>
              <a:off x="2213737" y="751761"/>
              <a:ext cx="48742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格式化解析</a:t>
              </a:r>
            </a:p>
          </p:txBody>
        </p:sp>
        <p:sp>
          <p:nvSpPr>
            <p:cNvPr id="69" name="TextBox 69"/>
            <p:cNvSpPr txBox="1"/>
            <p:nvPr/>
          </p:nvSpPr>
          <p:spPr>
            <a:xfrm>
              <a:off x="3067985" y="751761"/>
              <a:ext cx="779180"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 xml:space="preserve">OCR与表格抽取　</a:t>
              </a:r>
            </a:p>
          </p:txBody>
        </p:sp>
        <p:sp>
          <p:nvSpPr>
            <p:cNvPr id="70" name="TextBox 70"/>
            <p:cNvSpPr txBox="1"/>
            <p:nvPr/>
          </p:nvSpPr>
          <p:spPr>
            <a:xfrm>
              <a:off x="4261777" y="7517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清洗去重</a:t>
              </a:r>
            </a:p>
          </p:txBody>
        </p:sp>
        <p:sp>
          <p:nvSpPr>
            <p:cNvPr id="71" name="TextBox 71"/>
            <p:cNvSpPr txBox="1"/>
            <p:nvPr/>
          </p:nvSpPr>
          <p:spPr>
            <a:xfrm>
              <a:off x="5261902" y="7517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智能分块</a:t>
              </a:r>
            </a:p>
          </p:txBody>
        </p:sp>
        <p:sp>
          <p:nvSpPr>
            <p:cNvPr id="72" name="TextBox 72"/>
            <p:cNvSpPr txBox="1"/>
            <p:nvPr/>
          </p:nvSpPr>
          <p:spPr>
            <a:xfrm>
              <a:off x="6214237" y="751761"/>
              <a:ext cx="48742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元数据补全</a:t>
              </a:r>
            </a:p>
          </p:txBody>
        </p:sp>
        <p:sp>
          <p:nvSpPr>
            <p:cNvPr id="73" name="TextBox 73"/>
            <p:cNvSpPr txBox="1"/>
            <p:nvPr/>
          </p:nvSpPr>
          <p:spPr>
            <a:xfrm>
              <a:off x="7262152" y="7517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敏感识别</a:t>
              </a:r>
            </a:p>
          </p:txBody>
        </p:sp>
        <p:sp>
          <p:nvSpPr>
            <p:cNvPr id="74" name="TextBox 74"/>
            <p:cNvSpPr txBox="1"/>
            <p:nvPr/>
          </p:nvSpPr>
          <p:spPr>
            <a:xfrm>
              <a:off x="8262277" y="7517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质量校验</a:t>
              </a:r>
            </a:p>
          </p:txBody>
        </p:sp>
        <p:sp>
          <p:nvSpPr>
            <p:cNvPr id="75" name="TextBox 75"/>
            <p:cNvSpPr txBox="1"/>
            <p:nvPr/>
          </p:nvSpPr>
          <p:spPr>
            <a:xfrm>
              <a:off x="9262402" y="7517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索引发布</a:t>
              </a:r>
            </a:p>
          </p:txBody>
        </p:sp>
        <p:grpSp>
          <p:nvGrpSpPr>
            <p:cNvPr id="100" name="pipe-inputs"/>
            <p:cNvGrpSpPr/>
            <p:nvPr/>
          </p:nvGrpSpPr>
          <p:grpSpPr>
            <a:xfrm>
              <a:off x="1943100" y="990600"/>
              <a:ext cx="7924800" cy="400050"/>
              <a:chOff x="1943100" y="990600"/>
              <a:chExt cx="7924800" cy="400050"/>
            </a:xfrm>
          </p:grpSpPr>
          <p:sp>
            <p:nvSpPr>
              <p:cNvPr id="76" name="Rectangle 76"/>
              <p:cNvSpPr/>
              <p:nvPr/>
            </p:nvSpPr>
            <p:spPr>
              <a:xfrm>
                <a:off x="1943100" y="990600"/>
                <a:ext cx="923925" cy="400050"/>
              </a:xfrm>
              <a:prstGeom prst="roundRect">
                <a:avLst>
                  <a:gd name="adj" fmla="val 14286"/>
                </a:avLst>
              </a:prstGeom>
              <a:solidFill>
                <a:srgbClr val="F4F8EC"/>
              </a:solidFill>
              <a:ln w="9525">
                <a:solidFill>
                  <a:srgbClr val="D9E8C6"/>
                </a:solidFill>
              </a:ln>
            </p:spPr>
          </p:sp>
          <p:sp>
            <p:nvSpPr>
              <p:cNvPr id="77" name="TextBox 77"/>
              <p:cNvSpPr txBox="1"/>
              <p:nvPr/>
            </p:nvSpPr>
            <p:spPr>
              <a:xfrm>
                <a:off x="2211781" y="1087755"/>
                <a:ext cx="377038"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文档/图片</a:t>
                </a:r>
              </a:p>
            </p:txBody>
          </p:sp>
          <p:sp>
            <p:nvSpPr>
              <p:cNvPr id="78" name="TextBox 78"/>
              <p:cNvSpPr txBox="1"/>
              <p:nvPr/>
            </p:nvSpPr>
            <p:spPr>
              <a:xfrm>
                <a:off x="2193608" y="1221105"/>
                <a:ext cx="41338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含表格文档</a:t>
                </a:r>
              </a:p>
            </p:txBody>
          </p:sp>
          <p:sp>
            <p:nvSpPr>
              <p:cNvPr id="79" name="Rectangle 79"/>
              <p:cNvSpPr/>
              <p:nvPr/>
            </p:nvSpPr>
            <p:spPr>
              <a:xfrm>
                <a:off x="2943225" y="990600"/>
                <a:ext cx="923925" cy="400050"/>
              </a:xfrm>
              <a:prstGeom prst="roundRect">
                <a:avLst>
                  <a:gd name="adj" fmla="val 14286"/>
                </a:avLst>
              </a:prstGeom>
              <a:solidFill>
                <a:srgbClr val="F4F8EC"/>
              </a:solidFill>
              <a:ln w="9525">
                <a:solidFill>
                  <a:srgbClr val="D9E8C6"/>
                </a:solidFill>
              </a:ln>
            </p:spPr>
          </p:sp>
          <p:sp>
            <p:nvSpPr>
              <p:cNvPr id="80" name="TextBox 80"/>
              <p:cNvSpPr txBox="1"/>
              <p:nvPr/>
            </p:nvSpPr>
            <p:spPr>
              <a:xfrm>
                <a:off x="3171520" y="1087755"/>
                <a:ext cx="457810"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扫描件/图片</a:t>
                </a:r>
              </a:p>
            </p:txBody>
          </p:sp>
          <p:sp>
            <p:nvSpPr>
              <p:cNvPr id="81" name="TextBox 81"/>
              <p:cNvSpPr txBox="1"/>
              <p:nvPr/>
            </p:nvSpPr>
            <p:spPr>
              <a:xfrm>
                <a:off x="3193732" y="1221105"/>
                <a:ext cx="41338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含表格文档</a:t>
                </a:r>
              </a:p>
            </p:txBody>
          </p:sp>
          <p:sp>
            <p:nvSpPr>
              <p:cNvPr id="82" name="Rectangle 82"/>
              <p:cNvSpPr/>
              <p:nvPr/>
            </p:nvSpPr>
            <p:spPr>
              <a:xfrm>
                <a:off x="3943350" y="990600"/>
                <a:ext cx="923925" cy="400050"/>
              </a:xfrm>
              <a:prstGeom prst="roundRect">
                <a:avLst>
                  <a:gd name="adj" fmla="val 14286"/>
                </a:avLst>
              </a:prstGeom>
              <a:solidFill>
                <a:srgbClr val="F4F8EC"/>
              </a:solidFill>
              <a:ln w="9525">
                <a:solidFill>
                  <a:srgbClr val="D9E8C6"/>
                </a:solidFill>
              </a:ln>
            </p:spPr>
          </p:sp>
          <p:sp>
            <p:nvSpPr>
              <p:cNvPr id="83" name="TextBox 83"/>
              <p:cNvSpPr txBox="1"/>
              <p:nvPr/>
            </p:nvSpPr>
            <p:spPr>
              <a:xfrm>
                <a:off x="4234244" y="1087755"/>
                <a:ext cx="33261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解析文本</a:t>
                </a:r>
              </a:p>
            </p:txBody>
          </p:sp>
          <p:sp>
            <p:nvSpPr>
              <p:cNvPr id="84" name="TextBox 84"/>
              <p:cNvSpPr txBox="1"/>
              <p:nvPr/>
            </p:nvSpPr>
            <p:spPr>
              <a:xfrm>
                <a:off x="4234244" y="1221105"/>
                <a:ext cx="33261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原始片段</a:t>
                </a:r>
              </a:p>
            </p:txBody>
          </p:sp>
          <p:sp>
            <p:nvSpPr>
              <p:cNvPr id="85" name="Rectangle 85"/>
              <p:cNvSpPr/>
              <p:nvPr/>
            </p:nvSpPr>
            <p:spPr>
              <a:xfrm>
                <a:off x="4943475" y="990600"/>
                <a:ext cx="923925" cy="400050"/>
              </a:xfrm>
              <a:prstGeom prst="roundRect">
                <a:avLst>
                  <a:gd name="adj" fmla="val 14286"/>
                </a:avLst>
              </a:prstGeom>
              <a:solidFill>
                <a:srgbClr val="F4F8EC"/>
              </a:solidFill>
              <a:ln w="9525">
                <a:solidFill>
                  <a:srgbClr val="D9E8C6"/>
                </a:solidFill>
              </a:ln>
            </p:spPr>
          </p:sp>
          <p:sp>
            <p:nvSpPr>
              <p:cNvPr id="86" name="TextBox 86"/>
              <p:cNvSpPr txBox="1"/>
              <p:nvPr/>
            </p:nvSpPr>
            <p:spPr>
              <a:xfrm>
                <a:off x="5193982" y="1087755"/>
                <a:ext cx="41338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清洗后文本</a:t>
                </a:r>
              </a:p>
            </p:txBody>
          </p:sp>
          <p:sp>
            <p:nvSpPr>
              <p:cNvPr id="87" name="TextBox 87"/>
              <p:cNvSpPr txBox="1"/>
              <p:nvPr/>
            </p:nvSpPr>
            <p:spPr>
              <a:xfrm>
                <a:off x="5274754" y="1221105"/>
                <a:ext cx="251841"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长文档</a:t>
                </a:r>
              </a:p>
            </p:txBody>
          </p:sp>
          <p:sp>
            <p:nvSpPr>
              <p:cNvPr id="88" name="Rectangle 88"/>
              <p:cNvSpPr/>
              <p:nvPr/>
            </p:nvSpPr>
            <p:spPr>
              <a:xfrm>
                <a:off x="5943600" y="990600"/>
                <a:ext cx="923925" cy="400050"/>
              </a:xfrm>
              <a:prstGeom prst="roundRect">
                <a:avLst>
                  <a:gd name="adj" fmla="val 14286"/>
                </a:avLst>
              </a:prstGeom>
              <a:solidFill>
                <a:srgbClr val="F4F8EC"/>
              </a:solidFill>
              <a:ln w="9525">
                <a:solidFill>
                  <a:srgbClr val="D9E8C6"/>
                </a:solidFill>
              </a:ln>
            </p:spPr>
          </p:sp>
          <p:sp>
            <p:nvSpPr>
              <p:cNvPr id="89" name="TextBox 89"/>
              <p:cNvSpPr txBox="1"/>
              <p:nvPr/>
            </p:nvSpPr>
            <p:spPr>
              <a:xfrm>
                <a:off x="6234494" y="1087755"/>
                <a:ext cx="33261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文本片段</a:t>
                </a:r>
              </a:p>
            </p:txBody>
          </p:sp>
          <p:sp>
            <p:nvSpPr>
              <p:cNvPr id="90" name="TextBox 90"/>
              <p:cNvSpPr txBox="1"/>
              <p:nvPr/>
            </p:nvSpPr>
            <p:spPr>
              <a:xfrm>
                <a:off x="6194108" y="1221105"/>
                <a:ext cx="41338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基础元数据</a:t>
                </a:r>
              </a:p>
            </p:txBody>
          </p:sp>
          <p:sp>
            <p:nvSpPr>
              <p:cNvPr id="91" name="Rectangle 91"/>
              <p:cNvSpPr/>
              <p:nvPr/>
            </p:nvSpPr>
            <p:spPr>
              <a:xfrm>
                <a:off x="6943725" y="990600"/>
                <a:ext cx="923925" cy="400050"/>
              </a:xfrm>
              <a:prstGeom prst="roundRect">
                <a:avLst>
                  <a:gd name="adj" fmla="val 14286"/>
                </a:avLst>
              </a:prstGeom>
              <a:solidFill>
                <a:srgbClr val="F4F8EC"/>
              </a:solidFill>
              <a:ln w="9525">
                <a:solidFill>
                  <a:srgbClr val="D9E8C6"/>
                </a:solidFill>
              </a:ln>
            </p:spPr>
          </p:sp>
          <p:sp>
            <p:nvSpPr>
              <p:cNvPr id="92" name="TextBox 92"/>
              <p:cNvSpPr txBox="1"/>
              <p:nvPr/>
            </p:nvSpPr>
            <p:spPr>
              <a:xfrm>
                <a:off x="7194232" y="1087755"/>
                <a:ext cx="41338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带元数据的</a:t>
                </a:r>
              </a:p>
            </p:txBody>
          </p:sp>
          <p:sp>
            <p:nvSpPr>
              <p:cNvPr id="93" name="TextBox 93"/>
              <p:cNvSpPr txBox="1"/>
              <p:nvPr/>
            </p:nvSpPr>
            <p:spPr>
              <a:xfrm>
                <a:off x="7234618" y="1221105"/>
                <a:ext cx="33261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文本片段</a:t>
                </a:r>
              </a:p>
            </p:txBody>
          </p:sp>
          <p:sp>
            <p:nvSpPr>
              <p:cNvPr id="94" name="Rectangle 94"/>
              <p:cNvSpPr/>
              <p:nvPr/>
            </p:nvSpPr>
            <p:spPr>
              <a:xfrm>
                <a:off x="7943850" y="990600"/>
                <a:ext cx="923925" cy="400050"/>
              </a:xfrm>
              <a:prstGeom prst="roundRect">
                <a:avLst>
                  <a:gd name="adj" fmla="val 14286"/>
                </a:avLst>
              </a:prstGeom>
              <a:solidFill>
                <a:srgbClr val="F4F8EC"/>
              </a:solidFill>
              <a:ln w="9525">
                <a:solidFill>
                  <a:srgbClr val="D9E8C6"/>
                </a:solidFill>
              </a:ln>
            </p:spPr>
          </p:sp>
          <p:sp>
            <p:nvSpPr>
              <p:cNvPr id="95" name="TextBox 95"/>
              <p:cNvSpPr txBox="1"/>
              <p:nvPr/>
            </p:nvSpPr>
            <p:spPr>
              <a:xfrm>
                <a:off x="8194358" y="1087755"/>
                <a:ext cx="41338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待检验内容</a:t>
                </a:r>
              </a:p>
            </p:txBody>
          </p:sp>
          <p:sp>
            <p:nvSpPr>
              <p:cNvPr id="96" name="TextBox 96"/>
              <p:cNvSpPr txBox="1"/>
              <p:nvPr/>
            </p:nvSpPr>
            <p:spPr>
              <a:xfrm>
                <a:off x="8194358" y="1221105"/>
                <a:ext cx="41338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与质量规则</a:t>
                </a:r>
              </a:p>
            </p:txBody>
          </p:sp>
          <p:sp>
            <p:nvSpPr>
              <p:cNvPr id="97" name="Rectangle 97"/>
              <p:cNvSpPr/>
              <p:nvPr/>
            </p:nvSpPr>
            <p:spPr>
              <a:xfrm>
                <a:off x="8943975" y="990600"/>
                <a:ext cx="923925" cy="400050"/>
              </a:xfrm>
              <a:prstGeom prst="roundRect">
                <a:avLst>
                  <a:gd name="adj" fmla="val 14286"/>
                </a:avLst>
              </a:prstGeom>
              <a:solidFill>
                <a:srgbClr val="F4F8EC"/>
              </a:solidFill>
              <a:ln w="9525">
                <a:solidFill>
                  <a:srgbClr val="D9E8C6"/>
                </a:solidFill>
              </a:ln>
            </p:spPr>
          </p:sp>
          <p:sp>
            <p:nvSpPr>
              <p:cNvPr id="98" name="TextBox 98"/>
              <p:cNvSpPr txBox="1"/>
              <p:nvPr/>
            </p:nvSpPr>
            <p:spPr>
              <a:xfrm>
                <a:off x="9194482" y="1087755"/>
                <a:ext cx="413385"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检验通过的</a:t>
                </a:r>
              </a:p>
            </p:txBody>
          </p:sp>
          <p:sp>
            <p:nvSpPr>
              <p:cNvPr id="99" name="TextBox 99"/>
              <p:cNvSpPr txBox="1"/>
              <p:nvPr/>
            </p:nvSpPr>
            <p:spPr>
              <a:xfrm>
                <a:off x="9234868" y="1221105"/>
                <a:ext cx="33261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内容片段</a:t>
                </a:r>
              </a:p>
            </p:txBody>
          </p:sp>
        </p:grpSp>
        <p:grpSp>
          <p:nvGrpSpPr>
            <p:cNvPr id="139" name="pipe-icons"/>
            <p:cNvGrpSpPr/>
            <p:nvPr/>
          </p:nvGrpSpPr>
          <p:grpSpPr>
            <a:xfrm>
              <a:off x="2219325" y="1533525"/>
              <a:ext cx="7362825" cy="361950"/>
              <a:chOff x="2219325" y="1533525"/>
              <a:chExt cx="7362825" cy="361950"/>
            </a:xfrm>
          </p:grpSpPr>
          <p:sp>
            <p:nvSpPr>
              <p:cNvPr id="101" name="Ellipse 101"/>
              <p:cNvSpPr/>
              <p:nvPr/>
            </p:nvSpPr>
            <p:spPr>
              <a:xfrm>
                <a:off x="2219325" y="1533525"/>
                <a:ext cx="361950" cy="361950"/>
              </a:xfrm>
              <a:prstGeom prst="ellipse">
                <a:avLst/>
              </a:prstGeom>
              <a:solidFill>
                <a:srgbClr val="FFFFFF"/>
              </a:solidFill>
              <a:ln w="14288">
                <a:solidFill>
                  <a:srgbClr val="BE776A"/>
                </a:solidFill>
              </a:ln>
            </p:spPr>
          </p:sp>
          <p:grpSp>
            <p:nvGrpSpPr>
              <p:cNvPr id="107" name="Group 107"/>
              <p:cNvGrpSpPr/>
              <p:nvPr/>
            </p:nvGrpSpPr>
            <p:grpSpPr>
              <a:xfrm>
                <a:off x="2344737" y="1643062"/>
                <a:ext cx="111125" cy="142875"/>
                <a:chOff x="2344737" y="1643062"/>
                <a:chExt cx="111125" cy="142875"/>
              </a:xfrm>
            </p:grpSpPr>
            <p:sp>
              <p:nvSpPr>
                <p:cNvPr id="102" name="Freeform 102"/>
                <p:cNvSpPr/>
                <p:nvPr/>
              </p:nvSpPr>
              <p:spPr>
                <a:xfrm>
                  <a:off x="2416175" y="16430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7C3B2F"/>
                  </a:solidFill>
                </a:ln>
              </p:spPr>
            </p:sp>
            <p:sp>
              <p:nvSpPr>
                <p:cNvPr id="103" name="Freeform 103"/>
                <p:cNvSpPr/>
                <p:nvPr/>
              </p:nvSpPr>
              <p:spPr>
                <a:xfrm>
                  <a:off x="2344737" y="16430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7C3B2F"/>
                  </a:solidFill>
                </a:ln>
              </p:spPr>
            </p:sp>
            <p:sp>
              <p:nvSpPr>
                <p:cNvPr id="104" name="Freeform 104"/>
                <p:cNvSpPr/>
                <p:nvPr/>
              </p:nvSpPr>
              <p:spPr>
                <a:xfrm>
                  <a:off x="2376487" y="1690687"/>
                  <a:ext cx="9525" cy="9525"/>
                </a:xfrm>
                <a:custGeom>
                  <a:avLst/>
                  <a:gdLst/>
                  <a:ahLst/>
                  <a:cxnLst/>
                  <a:rect l="l" t="t" r="r" b="b"/>
                  <a:pathLst>
                    <a:path w="9525" h="9525">
                      <a:moveTo>
                        <a:pt x="0" y="0"/>
                      </a:moveTo>
                      <a:lnTo>
                        <a:pt x="7937" y="0"/>
                      </a:lnTo>
                    </a:path>
                  </a:pathLst>
                </a:custGeom>
                <a:noFill/>
                <a:ln w="15875">
                  <a:solidFill>
                    <a:srgbClr val="7C3B2F"/>
                  </a:solidFill>
                </a:ln>
              </p:spPr>
            </p:sp>
            <p:sp>
              <p:nvSpPr>
                <p:cNvPr id="105" name="Freeform 105"/>
                <p:cNvSpPr/>
                <p:nvPr/>
              </p:nvSpPr>
              <p:spPr>
                <a:xfrm>
                  <a:off x="2376487" y="1722437"/>
                  <a:ext cx="47625" cy="9525"/>
                </a:xfrm>
                <a:custGeom>
                  <a:avLst/>
                  <a:gdLst/>
                  <a:ahLst/>
                  <a:cxnLst/>
                  <a:rect l="l" t="t" r="r" b="b"/>
                  <a:pathLst>
                    <a:path w="47625" h="9525">
                      <a:moveTo>
                        <a:pt x="0" y="0"/>
                      </a:moveTo>
                      <a:lnTo>
                        <a:pt x="47625" y="0"/>
                      </a:lnTo>
                    </a:path>
                  </a:pathLst>
                </a:custGeom>
                <a:noFill/>
                <a:ln w="15875">
                  <a:solidFill>
                    <a:srgbClr val="7C3B2F"/>
                  </a:solidFill>
                </a:ln>
              </p:spPr>
            </p:sp>
            <p:sp>
              <p:nvSpPr>
                <p:cNvPr id="106" name="Freeform 106"/>
                <p:cNvSpPr/>
                <p:nvPr/>
              </p:nvSpPr>
              <p:spPr>
                <a:xfrm>
                  <a:off x="2376487" y="1754187"/>
                  <a:ext cx="47625" cy="9525"/>
                </a:xfrm>
                <a:custGeom>
                  <a:avLst/>
                  <a:gdLst/>
                  <a:ahLst/>
                  <a:cxnLst/>
                  <a:rect l="l" t="t" r="r" b="b"/>
                  <a:pathLst>
                    <a:path w="47625" h="9525">
                      <a:moveTo>
                        <a:pt x="0" y="0"/>
                      </a:moveTo>
                      <a:lnTo>
                        <a:pt x="47625" y="0"/>
                      </a:lnTo>
                    </a:path>
                  </a:pathLst>
                </a:custGeom>
                <a:noFill/>
                <a:ln w="15875">
                  <a:solidFill>
                    <a:srgbClr val="7C3B2F"/>
                  </a:solidFill>
                </a:ln>
              </p:spPr>
            </p:sp>
          </p:grpSp>
          <p:sp>
            <p:nvSpPr>
              <p:cNvPr id="108" name="Ellipse 108"/>
              <p:cNvSpPr/>
              <p:nvPr/>
            </p:nvSpPr>
            <p:spPr>
              <a:xfrm>
                <a:off x="3219450" y="1533525"/>
                <a:ext cx="361950" cy="361950"/>
              </a:xfrm>
              <a:prstGeom prst="ellipse">
                <a:avLst/>
              </a:prstGeom>
              <a:solidFill>
                <a:srgbClr val="FFFFFF"/>
              </a:solidFill>
              <a:ln w="14288">
                <a:solidFill>
                  <a:srgbClr val="BE776A"/>
                </a:solidFill>
              </a:ln>
            </p:spPr>
          </p:sp>
          <p:grpSp>
            <p:nvGrpSpPr>
              <p:cNvPr id="111" name="Group 111"/>
              <p:cNvGrpSpPr/>
              <p:nvPr/>
            </p:nvGrpSpPr>
            <p:grpSpPr>
              <a:xfrm>
                <a:off x="3328987" y="1643062"/>
                <a:ext cx="142875" cy="142875"/>
                <a:chOff x="3328987" y="1643062"/>
                <a:chExt cx="142875" cy="142875"/>
              </a:xfrm>
            </p:grpSpPr>
            <p:sp>
              <p:nvSpPr>
                <p:cNvPr id="109" name="Freeform 109"/>
                <p:cNvSpPr/>
                <p:nvPr/>
              </p:nvSpPr>
              <p:spPr>
                <a:xfrm>
                  <a:off x="3328987" y="164306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7C3B2F"/>
                  </a:solidFill>
                </a:ln>
              </p:spPr>
            </p:sp>
            <p:sp>
              <p:nvSpPr>
                <p:cNvPr id="110" name="Freeform 110"/>
                <p:cNvSpPr/>
                <p:nvPr/>
              </p:nvSpPr>
              <p:spPr>
                <a:xfrm>
                  <a:off x="3424237" y="1738312"/>
                  <a:ext cx="47625" cy="47625"/>
                </a:xfrm>
                <a:custGeom>
                  <a:avLst/>
                  <a:gdLst/>
                  <a:ahLst/>
                  <a:cxnLst/>
                  <a:rect l="l" t="t" r="r" b="b"/>
                  <a:pathLst>
                    <a:path w="47625" h="47625">
                      <a:moveTo>
                        <a:pt x="47625" y="47625"/>
                      </a:moveTo>
                      <a:lnTo>
                        <a:pt x="0" y="0"/>
                      </a:lnTo>
                    </a:path>
                  </a:pathLst>
                </a:custGeom>
                <a:noFill/>
                <a:ln w="15875">
                  <a:solidFill>
                    <a:srgbClr val="7C3B2F"/>
                  </a:solidFill>
                </a:ln>
              </p:spPr>
            </p:sp>
          </p:grpSp>
          <p:sp>
            <p:nvSpPr>
              <p:cNvPr id="112" name="Ellipse 112"/>
              <p:cNvSpPr/>
              <p:nvPr/>
            </p:nvSpPr>
            <p:spPr>
              <a:xfrm>
                <a:off x="4219575" y="1533525"/>
                <a:ext cx="361950" cy="361950"/>
              </a:xfrm>
              <a:prstGeom prst="ellipse">
                <a:avLst/>
              </a:prstGeom>
              <a:solidFill>
                <a:srgbClr val="FFFFFF"/>
              </a:solidFill>
              <a:ln w="14288">
                <a:solidFill>
                  <a:srgbClr val="BE776A"/>
                </a:solidFill>
              </a:ln>
            </p:spPr>
          </p:sp>
          <p:grpSp>
            <p:nvGrpSpPr>
              <p:cNvPr id="115" name="Group 115"/>
              <p:cNvGrpSpPr/>
              <p:nvPr/>
            </p:nvGrpSpPr>
            <p:grpSpPr>
              <a:xfrm>
                <a:off x="4337050" y="1647937"/>
                <a:ext cx="127000" cy="133125"/>
                <a:chOff x="4337050" y="1647937"/>
                <a:chExt cx="127000" cy="133125"/>
              </a:xfrm>
            </p:grpSpPr>
            <p:sp>
              <p:nvSpPr>
                <p:cNvPr id="113" name="Freeform 113"/>
                <p:cNvSpPr/>
                <p:nvPr/>
              </p:nvSpPr>
              <p:spPr>
                <a:xfrm>
                  <a:off x="4337050" y="164793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7C3B2F"/>
                  </a:solidFill>
                </a:ln>
              </p:spPr>
            </p:sp>
            <p:sp>
              <p:nvSpPr>
                <p:cNvPr id="114" name="Freeform 114"/>
                <p:cNvSpPr/>
                <p:nvPr/>
              </p:nvSpPr>
              <p:spPr>
                <a:xfrm>
                  <a:off x="4337050" y="172243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7C3B2F"/>
                  </a:solidFill>
                </a:ln>
              </p:spPr>
            </p:sp>
          </p:grpSp>
          <p:sp>
            <p:nvSpPr>
              <p:cNvPr id="116" name="Ellipse 116"/>
              <p:cNvSpPr/>
              <p:nvPr/>
            </p:nvSpPr>
            <p:spPr>
              <a:xfrm>
                <a:off x="5219700" y="1533525"/>
                <a:ext cx="361950" cy="361950"/>
              </a:xfrm>
              <a:prstGeom prst="ellipse">
                <a:avLst/>
              </a:prstGeom>
              <a:solidFill>
                <a:srgbClr val="FFFFFF"/>
              </a:solidFill>
              <a:ln w="14288">
                <a:solidFill>
                  <a:srgbClr val="BE776A"/>
                </a:solidFill>
              </a:ln>
            </p:spPr>
          </p:sp>
          <p:sp>
            <p:nvSpPr>
              <p:cNvPr id="117" name="Freeform 117"/>
              <p:cNvSpPr/>
              <p:nvPr/>
            </p:nvSpPr>
            <p:spPr>
              <a:xfrm>
                <a:off x="5329237" y="1643062"/>
                <a:ext cx="142875" cy="142875"/>
              </a:xfrm>
              <a:custGeom>
                <a:avLst/>
                <a:gdLst/>
                <a:ahLst/>
                <a:cxnLst/>
                <a:rect l="l" t="t" r="r" b="b"/>
                <a:pathLst>
                  <a:path w="142875" h="142875">
                    <a:moveTo>
                      <a:pt x="7937" y="31750"/>
                    </a:moveTo>
                    <a:lnTo>
                      <a:pt x="31750" y="31750"/>
                    </a:lnTo>
                    <a:cubicBezTo>
                      <a:pt x="36134" y="31750"/>
                      <a:pt x="39687" y="28196"/>
                      <a:pt x="39687" y="23812"/>
                    </a:cubicBezTo>
                    <a:lnTo>
                      <a:pt x="39687" y="15875"/>
                    </a:lnTo>
                    <a:cubicBezTo>
                      <a:pt x="39687" y="7107"/>
                      <a:pt x="46795" y="0"/>
                      <a:pt x="55562" y="0"/>
                    </a:cubicBezTo>
                    <a:cubicBezTo>
                      <a:pt x="64330" y="0"/>
                      <a:pt x="71437" y="7107"/>
                      <a:pt x="71437" y="15875"/>
                    </a:cubicBezTo>
                    <a:lnTo>
                      <a:pt x="71437" y="23812"/>
                    </a:lnTo>
                    <a:cubicBezTo>
                      <a:pt x="71437" y="28196"/>
                      <a:pt x="74991" y="31750"/>
                      <a:pt x="79375" y="31750"/>
                    </a:cubicBezTo>
                    <a:lnTo>
                      <a:pt x="103187" y="31750"/>
                    </a:lnTo>
                    <a:cubicBezTo>
                      <a:pt x="107571" y="31750"/>
                      <a:pt x="111125" y="35304"/>
                      <a:pt x="111125" y="39687"/>
                    </a:cubicBezTo>
                    <a:lnTo>
                      <a:pt x="111125" y="63500"/>
                    </a:lnTo>
                    <a:cubicBezTo>
                      <a:pt x="111125" y="67884"/>
                      <a:pt x="114679" y="71437"/>
                      <a:pt x="119062" y="71437"/>
                    </a:cubicBezTo>
                    <a:lnTo>
                      <a:pt x="127000" y="71437"/>
                    </a:lnTo>
                    <a:cubicBezTo>
                      <a:pt x="135767" y="71437"/>
                      <a:pt x="142875" y="78545"/>
                      <a:pt x="142875" y="87312"/>
                    </a:cubicBezTo>
                    <a:cubicBezTo>
                      <a:pt x="142875" y="96080"/>
                      <a:pt x="135767" y="103187"/>
                      <a:pt x="127000" y="103187"/>
                    </a:cubicBezTo>
                    <a:lnTo>
                      <a:pt x="119062" y="103187"/>
                    </a:lnTo>
                    <a:cubicBezTo>
                      <a:pt x="114679" y="103187"/>
                      <a:pt x="111125" y="106741"/>
                      <a:pt x="111125" y="111125"/>
                    </a:cubicBezTo>
                    <a:lnTo>
                      <a:pt x="111125" y="134937"/>
                    </a:lnTo>
                    <a:cubicBezTo>
                      <a:pt x="111125" y="139321"/>
                      <a:pt x="107571" y="142875"/>
                      <a:pt x="103187" y="142875"/>
                    </a:cubicBezTo>
                    <a:lnTo>
                      <a:pt x="79375" y="142875"/>
                    </a:lnTo>
                    <a:cubicBezTo>
                      <a:pt x="74991" y="142875"/>
                      <a:pt x="71437" y="139321"/>
                      <a:pt x="71437" y="134937"/>
                    </a:cubicBezTo>
                    <a:lnTo>
                      <a:pt x="71437" y="127000"/>
                    </a:lnTo>
                    <a:cubicBezTo>
                      <a:pt x="71437" y="118232"/>
                      <a:pt x="64330" y="111125"/>
                      <a:pt x="55562" y="111125"/>
                    </a:cubicBezTo>
                    <a:cubicBezTo>
                      <a:pt x="46795" y="111125"/>
                      <a:pt x="39687" y="118232"/>
                      <a:pt x="39687" y="127000"/>
                    </a:cubicBezTo>
                    <a:lnTo>
                      <a:pt x="39687" y="134937"/>
                    </a:lnTo>
                    <a:cubicBezTo>
                      <a:pt x="39687" y="139321"/>
                      <a:pt x="36134" y="142875"/>
                      <a:pt x="31750" y="142875"/>
                    </a:cubicBezTo>
                    <a:lnTo>
                      <a:pt x="7937" y="142875"/>
                    </a:lnTo>
                    <a:cubicBezTo>
                      <a:pt x="3554" y="142875"/>
                      <a:pt x="0" y="139321"/>
                      <a:pt x="0" y="134937"/>
                    </a:cubicBezTo>
                    <a:lnTo>
                      <a:pt x="0" y="111125"/>
                    </a:lnTo>
                    <a:cubicBezTo>
                      <a:pt x="0" y="106741"/>
                      <a:pt x="3554" y="103187"/>
                      <a:pt x="7937" y="103187"/>
                    </a:cubicBezTo>
                    <a:lnTo>
                      <a:pt x="15875" y="103187"/>
                    </a:lnTo>
                    <a:cubicBezTo>
                      <a:pt x="24643" y="103187"/>
                      <a:pt x="31750" y="96080"/>
                      <a:pt x="31750" y="87312"/>
                    </a:cubicBezTo>
                    <a:cubicBezTo>
                      <a:pt x="31750" y="78545"/>
                      <a:pt x="24643" y="71437"/>
                      <a:pt x="15875" y="71437"/>
                    </a:cubicBezTo>
                    <a:lnTo>
                      <a:pt x="7937" y="71437"/>
                    </a:lnTo>
                    <a:cubicBezTo>
                      <a:pt x="3554" y="71437"/>
                      <a:pt x="0" y="67884"/>
                      <a:pt x="0" y="63500"/>
                    </a:cubicBezTo>
                    <a:lnTo>
                      <a:pt x="0" y="39687"/>
                    </a:lnTo>
                    <a:cubicBezTo>
                      <a:pt x="0" y="35304"/>
                      <a:pt x="3554" y="31750"/>
                      <a:pt x="7937" y="31750"/>
                    </a:cubicBezTo>
                  </a:path>
                </a:pathLst>
              </a:custGeom>
              <a:noFill/>
              <a:ln w="15875">
                <a:solidFill>
                  <a:srgbClr val="7C3B2F"/>
                </a:solidFill>
              </a:ln>
            </p:spPr>
          </p:sp>
          <p:sp>
            <p:nvSpPr>
              <p:cNvPr id="118" name="Ellipse 118"/>
              <p:cNvSpPr/>
              <p:nvPr/>
            </p:nvSpPr>
            <p:spPr>
              <a:xfrm>
                <a:off x="6219825" y="1533525"/>
                <a:ext cx="361950" cy="361950"/>
              </a:xfrm>
              <a:prstGeom prst="ellipse">
                <a:avLst/>
              </a:prstGeom>
              <a:solidFill>
                <a:srgbClr val="FFFFFF"/>
              </a:solidFill>
              <a:ln w="14288">
                <a:solidFill>
                  <a:srgbClr val="BE776A"/>
                </a:solidFill>
              </a:ln>
            </p:spPr>
          </p:sp>
          <p:grpSp>
            <p:nvGrpSpPr>
              <p:cNvPr id="125" name="Group 125"/>
              <p:cNvGrpSpPr/>
              <p:nvPr/>
            </p:nvGrpSpPr>
            <p:grpSpPr>
              <a:xfrm>
                <a:off x="6333331" y="1654969"/>
                <a:ext cx="130968" cy="116681"/>
                <a:chOff x="6333331" y="1654969"/>
                <a:chExt cx="130968" cy="116681"/>
              </a:xfrm>
            </p:grpSpPr>
            <p:sp>
              <p:nvSpPr>
                <p:cNvPr id="119" name="Freeform 119"/>
                <p:cNvSpPr/>
                <p:nvPr/>
              </p:nvSpPr>
              <p:spPr>
                <a:xfrm>
                  <a:off x="6333331" y="1654969"/>
                  <a:ext cx="31750" cy="19844"/>
                </a:xfrm>
                <a:custGeom>
                  <a:avLst/>
                  <a:gdLst/>
                  <a:ahLst/>
                  <a:cxnLst/>
                  <a:rect l="l" t="t" r="r" b="b"/>
                  <a:pathLst>
                    <a:path w="31750" h="19844">
                      <a:moveTo>
                        <a:pt x="0" y="7937"/>
                      </a:moveTo>
                      <a:lnTo>
                        <a:pt x="11906" y="19844"/>
                      </a:lnTo>
                      <a:lnTo>
                        <a:pt x="31750" y="0"/>
                      </a:lnTo>
                    </a:path>
                  </a:pathLst>
                </a:custGeom>
                <a:noFill/>
                <a:ln w="15875">
                  <a:solidFill>
                    <a:srgbClr val="7C3B2F"/>
                  </a:solidFill>
                </a:ln>
              </p:spPr>
            </p:sp>
            <p:sp>
              <p:nvSpPr>
                <p:cNvPr id="120" name="Freeform 120"/>
                <p:cNvSpPr/>
                <p:nvPr/>
              </p:nvSpPr>
              <p:spPr>
                <a:xfrm>
                  <a:off x="6333331" y="1702594"/>
                  <a:ext cx="31750" cy="19844"/>
                </a:xfrm>
                <a:custGeom>
                  <a:avLst/>
                  <a:gdLst/>
                  <a:ahLst/>
                  <a:cxnLst/>
                  <a:rect l="l" t="t" r="r" b="b"/>
                  <a:pathLst>
                    <a:path w="31750" h="19844">
                      <a:moveTo>
                        <a:pt x="0" y="7937"/>
                      </a:moveTo>
                      <a:lnTo>
                        <a:pt x="11906" y="19844"/>
                      </a:lnTo>
                      <a:lnTo>
                        <a:pt x="31750" y="0"/>
                      </a:lnTo>
                    </a:path>
                  </a:pathLst>
                </a:custGeom>
                <a:noFill/>
                <a:ln w="15875">
                  <a:solidFill>
                    <a:srgbClr val="7C3B2F"/>
                  </a:solidFill>
                </a:ln>
              </p:spPr>
            </p:sp>
            <p:sp>
              <p:nvSpPr>
                <p:cNvPr id="121" name="Freeform 121"/>
                <p:cNvSpPr/>
                <p:nvPr/>
              </p:nvSpPr>
              <p:spPr>
                <a:xfrm>
                  <a:off x="6333331" y="1750219"/>
                  <a:ext cx="31750" cy="19844"/>
                </a:xfrm>
                <a:custGeom>
                  <a:avLst/>
                  <a:gdLst/>
                  <a:ahLst/>
                  <a:cxnLst/>
                  <a:rect l="l" t="t" r="r" b="b"/>
                  <a:pathLst>
                    <a:path w="31750" h="19844">
                      <a:moveTo>
                        <a:pt x="0" y="7937"/>
                      </a:moveTo>
                      <a:lnTo>
                        <a:pt x="11906" y="19844"/>
                      </a:lnTo>
                      <a:lnTo>
                        <a:pt x="31750" y="0"/>
                      </a:lnTo>
                    </a:path>
                  </a:pathLst>
                </a:custGeom>
                <a:noFill/>
                <a:ln w="15875">
                  <a:solidFill>
                    <a:srgbClr val="7C3B2F"/>
                  </a:solidFill>
                </a:ln>
              </p:spPr>
            </p:sp>
            <p:sp>
              <p:nvSpPr>
                <p:cNvPr id="122" name="Freeform 122"/>
                <p:cNvSpPr/>
                <p:nvPr/>
              </p:nvSpPr>
              <p:spPr>
                <a:xfrm>
                  <a:off x="6392862" y="1666875"/>
                  <a:ext cx="71437" cy="9525"/>
                </a:xfrm>
                <a:custGeom>
                  <a:avLst/>
                  <a:gdLst/>
                  <a:ahLst/>
                  <a:cxnLst/>
                  <a:rect l="l" t="t" r="r" b="b"/>
                  <a:pathLst>
                    <a:path w="71437" h="9525">
                      <a:moveTo>
                        <a:pt x="0" y="0"/>
                      </a:moveTo>
                      <a:lnTo>
                        <a:pt x="71437" y="0"/>
                      </a:lnTo>
                    </a:path>
                  </a:pathLst>
                </a:custGeom>
                <a:noFill/>
                <a:ln w="15875">
                  <a:solidFill>
                    <a:srgbClr val="7C3B2F"/>
                  </a:solidFill>
                </a:ln>
              </p:spPr>
            </p:sp>
            <p:sp>
              <p:nvSpPr>
                <p:cNvPr id="123" name="Freeform 123"/>
                <p:cNvSpPr/>
                <p:nvPr/>
              </p:nvSpPr>
              <p:spPr>
                <a:xfrm>
                  <a:off x="6392862" y="1714500"/>
                  <a:ext cx="71437" cy="9525"/>
                </a:xfrm>
                <a:custGeom>
                  <a:avLst/>
                  <a:gdLst/>
                  <a:ahLst/>
                  <a:cxnLst/>
                  <a:rect l="l" t="t" r="r" b="b"/>
                  <a:pathLst>
                    <a:path w="71437" h="9525">
                      <a:moveTo>
                        <a:pt x="0" y="0"/>
                      </a:moveTo>
                      <a:lnTo>
                        <a:pt x="71437" y="0"/>
                      </a:lnTo>
                    </a:path>
                  </a:pathLst>
                </a:custGeom>
                <a:noFill/>
                <a:ln w="15875">
                  <a:solidFill>
                    <a:srgbClr val="7C3B2F"/>
                  </a:solidFill>
                </a:ln>
              </p:spPr>
            </p:sp>
            <p:sp>
              <p:nvSpPr>
                <p:cNvPr id="124" name="Freeform 124"/>
                <p:cNvSpPr/>
                <p:nvPr/>
              </p:nvSpPr>
              <p:spPr>
                <a:xfrm>
                  <a:off x="6392862" y="1762125"/>
                  <a:ext cx="71437" cy="9525"/>
                </a:xfrm>
                <a:custGeom>
                  <a:avLst/>
                  <a:gdLst/>
                  <a:ahLst/>
                  <a:cxnLst/>
                  <a:rect l="l" t="t" r="r" b="b"/>
                  <a:pathLst>
                    <a:path w="71437" h="9525">
                      <a:moveTo>
                        <a:pt x="0" y="0"/>
                      </a:moveTo>
                      <a:lnTo>
                        <a:pt x="71437" y="0"/>
                      </a:lnTo>
                    </a:path>
                  </a:pathLst>
                </a:custGeom>
                <a:noFill/>
                <a:ln w="15875">
                  <a:solidFill>
                    <a:srgbClr val="7C3B2F"/>
                  </a:solidFill>
                </a:ln>
              </p:spPr>
            </p:sp>
          </p:grpSp>
          <p:sp>
            <p:nvSpPr>
              <p:cNvPr id="126" name="Ellipse 126"/>
              <p:cNvSpPr/>
              <p:nvPr/>
            </p:nvSpPr>
            <p:spPr>
              <a:xfrm>
                <a:off x="7219950" y="1533525"/>
                <a:ext cx="361950" cy="361950"/>
              </a:xfrm>
              <a:prstGeom prst="ellipse">
                <a:avLst/>
              </a:prstGeom>
              <a:solidFill>
                <a:srgbClr val="FFFFFF"/>
              </a:solidFill>
              <a:ln w="14288">
                <a:solidFill>
                  <a:srgbClr val="BE776A"/>
                </a:solidFill>
              </a:ln>
            </p:spPr>
          </p:sp>
          <p:grpSp>
            <p:nvGrpSpPr>
              <p:cNvPr id="129" name="Group 129"/>
              <p:cNvGrpSpPr/>
              <p:nvPr/>
            </p:nvGrpSpPr>
            <p:grpSpPr>
              <a:xfrm>
                <a:off x="7318775" y="1643062"/>
                <a:ext cx="155005" cy="142875"/>
                <a:chOff x="7318775" y="1643062"/>
                <a:chExt cx="155005" cy="142875"/>
              </a:xfrm>
            </p:grpSpPr>
            <p:sp>
              <p:nvSpPr>
                <p:cNvPr id="127" name="Freeform 127"/>
                <p:cNvSpPr/>
                <p:nvPr/>
              </p:nvSpPr>
              <p:spPr>
                <a:xfrm>
                  <a:off x="7318775" y="164306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7C3B2F"/>
                  </a:solidFill>
                </a:ln>
              </p:spPr>
            </p:sp>
            <p:sp>
              <p:nvSpPr>
                <p:cNvPr id="128" name="Freeform 128"/>
                <p:cNvSpPr/>
                <p:nvPr/>
              </p:nvSpPr>
              <p:spPr>
                <a:xfrm>
                  <a:off x="7424737" y="1754187"/>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grpSp>
          <p:sp>
            <p:nvSpPr>
              <p:cNvPr id="130" name="Ellipse 130"/>
              <p:cNvSpPr/>
              <p:nvPr/>
            </p:nvSpPr>
            <p:spPr>
              <a:xfrm>
                <a:off x="8220075" y="1533525"/>
                <a:ext cx="361950" cy="361950"/>
              </a:xfrm>
              <a:prstGeom prst="ellipse">
                <a:avLst/>
              </a:prstGeom>
              <a:solidFill>
                <a:srgbClr val="FFFFFF"/>
              </a:solidFill>
              <a:ln w="14288">
                <a:solidFill>
                  <a:srgbClr val="BE776A"/>
                </a:solidFill>
              </a:ln>
            </p:spPr>
          </p:sp>
          <p:grpSp>
            <p:nvGrpSpPr>
              <p:cNvPr id="133" name="Group 133"/>
              <p:cNvGrpSpPr/>
              <p:nvPr/>
            </p:nvGrpSpPr>
            <p:grpSpPr>
              <a:xfrm>
                <a:off x="8329612" y="1643062"/>
                <a:ext cx="142875" cy="142875"/>
                <a:chOff x="8329612" y="1643062"/>
                <a:chExt cx="142875" cy="142875"/>
              </a:xfrm>
            </p:grpSpPr>
            <p:sp>
              <p:nvSpPr>
                <p:cNvPr id="131" name="Freeform 131"/>
                <p:cNvSpPr/>
                <p:nvPr/>
              </p:nvSpPr>
              <p:spPr>
                <a:xfrm>
                  <a:off x="8329612" y="16430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7C3B2F"/>
                  </a:solidFill>
                </a:ln>
              </p:spPr>
            </p:sp>
            <p:sp>
              <p:nvSpPr>
                <p:cNvPr id="132" name="Freeform 132"/>
                <p:cNvSpPr/>
                <p:nvPr/>
              </p:nvSpPr>
              <p:spPr>
                <a:xfrm>
                  <a:off x="8377237" y="1698625"/>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grpSp>
          <p:sp>
            <p:nvSpPr>
              <p:cNvPr id="134" name="Ellipse 134"/>
              <p:cNvSpPr/>
              <p:nvPr/>
            </p:nvSpPr>
            <p:spPr>
              <a:xfrm>
                <a:off x="9220200" y="1533525"/>
                <a:ext cx="361950" cy="361950"/>
              </a:xfrm>
              <a:prstGeom prst="ellipse">
                <a:avLst/>
              </a:prstGeom>
              <a:solidFill>
                <a:srgbClr val="FFFFFF"/>
              </a:solidFill>
              <a:ln w="14288">
                <a:solidFill>
                  <a:srgbClr val="BE776A"/>
                </a:solidFill>
              </a:ln>
            </p:spPr>
          </p:sp>
          <p:grpSp>
            <p:nvGrpSpPr>
              <p:cNvPr id="138" name="Group 138"/>
              <p:cNvGrpSpPr/>
              <p:nvPr/>
            </p:nvGrpSpPr>
            <p:grpSpPr>
              <a:xfrm>
                <a:off x="9345612" y="1643062"/>
                <a:ext cx="111125" cy="142875"/>
                <a:chOff x="9345612" y="1643062"/>
                <a:chExt cx="111125" cy="142875"/>
              </a:xfrm>
            </p:grpSpPr>
            <p:sp>
              <p:nvSpPr>
                <p:cNvPr id="135" name="Freeform 135"/>
                <p:cNvSpPr/>
                <p:nvPr/>
              </p:nvSpPr>
              <p:spPr>
                <a:xfrm>
                  <a:off x="9345612" y="169068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7C3B2F"/>
                  </a:solidFill>
                </a:ln>
              </p:spPr>
            </p:sp>
            <p:sp>
              <p:nvSpPr>
                <p:cNvPr id="136" name="Freeform 136"/>
                <p:cNvSpPr/>
                <p:nvPr/>
              </p:nvSpPr>
              <p:spPr>
                <a:xfrm>
                  <a:off x="9401175" y="1643062"/>
                  <a:ext cx="9525" cy="87312"/>
                </a:xfrm>
                <a:custGeom>
                  <a:avLst/>
                  <a:gdLst/>
                  <a:ahLst/>
                  <a:cxnLst/>
                  <a:rect l="l" t="t" r="r" b="b"/>
                  <a:pathLst>
                    <a:path w="9525" h="87312">
                      <a:moveTo>
                        <a:pt x="0" y="87312"/>
                      </a:moveTo>
                      <a:lnTo>
                        <a:pt x="0" y="0"/>
                      </a:lnTo>
                    </a:path>
                  </a:pathLst>
                </a:custGeom>
                <a:noFill/>
                <a:ln w="15875">
                  <a:solidFill>
                    <a:srgbClr val="7C3B2F"/>
                  </a:solidFill>
                </a:ln>
              </p:spPr>
            </p:sp>
            <p:sp>
              <p:nvSpPr>
                <p:cNvPr id="137" name="Freeform 137"/>
                <p:cNvSpPr/>
                <p:nvPr/>
              </p:nvSpPr>
              <p:spPr>
                <a:xfrm>
                  <a:off x="9377362" y="1643062"/>
                  <a:ext cx="47625" cy="23812"/>
                </a:xfrm>
                <a:custGeom>
                  <a:avLst/>
                  <a:gdLst/>
                  <a:ahLst/>
                  <a:cxnLst/>
                  <a:rect l="l" t="t" r="r" b="b"/>
                  <a:pathLst>
                    <a:path w="47625" h="23812">
                      <a:moveTo>
                        <a:pt x="0" y="23812"/>
                      </a:moveTo>
                      <a:lnTo>
                        <a:pt x="23812" y="0"/>
                      </a:lnTo>
                      <a:lnTo>
                        <a:pt x="47625" y="23812"/>
                      </a:lnTo>
                    </a:path>
                  </a:pathLst>
                </a:custGeom>
                <a:noFill/>
                <a:ln w="15875">
                  <a:solidFill>
                    <a:srgbClr val="7C3B2F"/>
                  </a:solidFill>
                </a:ln>
              </p:spPr>
            </p:sp>
          </p:grpSp>
        </p:grpSp>
        <p:grpSp>
          <p:nvGrpSpPr>
            <p:cNvPr id="167" name="pipe-outputs"/>
            <p:cNvGrpSpPr/>
            <p:nvPr/>
          </p:nvGrpSpPr>
          <p:grpSpPr>
            <a:xfrm>
              <a:off x="1943100" y="1981200"/>
              <a:ext cx="7924800" cy="590550"/>
              <a:chOff x="1943100" y="1981200"/>
              <a:chExt cx="7924800" cy="590550"/>
            </a:xfrm>
          </p:grpSpPr>
          <p:sp>
            <p:nvSpPr>
              <p:cNvPr id="140" name="Rectangle 140"/>
              <p:cNvSpPr/>
              <p:nvPr/>
            </p:nvSpPr>
            <p:spPr>
              <a:xfrm>
                <a:off x="1943100" y="1981200"/>
                <a:ext cx="923925" cy="590550"/>
              </a:xfrm>
              <a:prstGeom prst="roundRect">
                <a:avLst>
                  <a:gd name="adj" fmla="val 9677"/>
                </a:avLst>
              </a:prstGeom>
              <a:solidFill>
                <a:srgbClr val="FFFFFF"/>
              </a:solidFill>
              <a:ln w="9525">
                <a:solidFill>
                  <a:srgbClr val="D9E8C6"/>
                </a:solidFill>
              </a:ln>
            </p:spPr>
          </p:sp>
          <p:sp>
            <p:nvSpPr>
              <p:cNvPr id="141" name="TextBox 141"/>
              <p:cNvSpPr txBox="1"/>
              <p:nvPr/>
            </p:nvSpPr>
            <p:spPr>
              <a:xfrm>
                <a:off x="2193608" y="2087880"/>
                <a:ext cx="413385"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可解析文本</a:t>
                </a:r>
              </a:p>
            </p:txBody>
          </p:sp>
          <p:sp>
            <p:nvSpPr>
              <p:cNvPr id="142" name="TextBox 142"/>
              <p:cNvSpPr txBox="1"/>
              <p:nvPr/>
            </p:nvSpPr>
            <p:spPr>
              <a:xfrm>
                <a:off x="2193608" y="2221230"/>
                <a:ext cx="413385"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结构化元素</a:t>
                </a:r>
              </a:p>
            </p:txBody>
          </p:sp>
          <p:sp>
            <p:nvSpPr>
              <p:cNvPr id="143" name="TextBox 143"/>
              <p:cNvSpPr txBox="1"/>
              <p:nvPr/>
            </p:nvSpPr>
            <p:spPr>
              <a:xfrm>
                <a:off x="2090623" y="2354580"/>
                <a:ext cx="619354"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（段落/样式等）</a:t>
                </a:r>
              </a:p>
            </p:txBody>
          </p:sp>
          <p:sp>
            <p:nvSpPr>
              <p:cNvPr id="144" name="Rectangle 144"/>
              <p:cNvSpPr/>
              <p:nvPr/>
            </p:nvSpPr>
            <p:spPr>
              <a:xfrm>
                <a:off x="2943225" y="1981200"/>
                <a:ext cx="923925" cy="590550"/>
              </a:xfrm>
              <a:prstGeom prst="roundRect">
                <a:avLst>
                  <a:gd name="adj" fmla="val 9677"/>
                </a:avLst>
              </a:prstGeom>
              <a:solidFill>
                <a:srgbClr val="FFFFFF"/>
              </a:solidFill>
              <a:ln w="9525">
                <a:solidFill>
                  <a:srgbClr val="D9E8C6"/>
                </a:solidFill>
              </a:ln>
            </p:spPr>
          </p:sp>
          <p:sp>
            <p:nvSpPr>
              <p:cNvPr id="145" name="TextBox 145"/>
              <p:cNvSpPr txBox="1"/>
              <p:nvPr/>
            </p:nvSpPr>
            <p:spPr>
              <a:xfrm>
                <a:off x="3131134" y="2087880"/>
                <a:ext cx="538582"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识别文本/表格</a:t>
                </a:r>
              </a:p>
            </p:txBody>
          </p:sp>
          <p:sp>
            <p:nvSpPr>
              <p:cNvPr id="146" name="TextBox 146"/>
              <p:cNvSpPr txBox="1"/>
              <p:nvPr/>
            </p:nvSpPr>
            <p:spPr>
              <a:xfrm>
                <a:off x="2997441" y="2221230"/>
                <a:ext cx="805967"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 xml:space="preserve">结构（CSV/HTML）　</a:t>
                </a:r>
              </a:p>
            </p:txBody>
          </p:sp>
          <p:sp>
            <p:nvSpPr>
              <p:cNvPr id="147" name="TextBox 147"/>
              <p:cNvSpPr txBox="1"/>
              <p:nvPr/>
            </p:nvSpPr>
            <p:spPr>
              <a:xfrm>
                <a:off x="3234118" y="2354580"/>
                <a:ext cx="332613"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版面坐标</a:t>
                </a:r>
              </a:p>
            </p:txBody>
          </p:sp>
          <p:sp>
            <p:nvSpPr>
              <p:cNvPr id="148" name="Rectangle 148"/>
              <p:cNvSpPr/>
              <p:nvPr/>
            </p:nvSpPr>
            <p:spPr>
              <a:xfrm>
                <a:off x="3943350" y="1981200"/>
                <a:ext cx="923925" cy="590550"/>
              </a:xfrm>
              <a:prstGeom prst="roundRect">
                <a:avLst>
                  <a:gd name="adj" fmla="val 9677"/>
                </a:avLst>
              </a:prstGeom>
              <a:solidFill>
                <a:srgbClr val="FFFFFF"/>
              </a:solidFill>
              <a:ln w="9525">
                <a:solidFill>
                  <a:srgbClr val="D9E8C6"/>
                </a:solidFill>
              </a:ln>
            </p:spPr>
          </p:sp>
          <p:sp>
            <p:nvSpPr>
              <p:cNvPr id="149" name="TextBox 149"/>
              <p:cNvSpPr txBox="1"/>
              <p:nvPr/>
            </p:nvSpPr>
            <p:spPr>
              <a:xfrm>
                <a:off x="4193858" y="2154555"/>
                <a:ext cx="413385"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规范化文本</a:t>
                </a:r>
              </a:p>
            </p:txBody>
          </p:sp>
          <p:sp>
            <p:nvSpPr>
              <p:cNvPr id="150" name="TextBox 150"/>
              <p:cNvSpPr txBox="1"/>
              <p:nvPr/>
            </p:nvSpPr>
            <p:spPr>
              <a:xfrm>
                <a:off x="4234244" y="2306955"/>
                <a:ext cx="332613"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去重结果</a:t>
                </a:r>
              </a:p>
            </p:txBody>
          </p:sp>
          <p:sp>
            <p:nvSpPr>
              <p:cNvPr id="151" name="Rectangle 151"/>
              <p:cNvSpPr/>
              <p:nvPr/>
            </p:nvSpPr>
            <p:spPr>
              <a:xfrm>
                <a:off x="4943475" y="1981200"/>
                <a:ext cx="923925" cy="590550"/>
              </a:xfrm>
              <a:prstGeom prst="roundRect">
                <a:avLst>
                  <a:gd name="adj" fmla="val 9677"/>
                </a:avLst>
              </a:prstGeom>
              <a:solidFill>
                <a:srgbClr val="FFFFFF"/>
              </a:solidFill>
              <a:ln w="9525">
                <a:solidFill>
                  <a:srgbClr val="D9E8C6"/>
                </a:solidFill>
              </a:ln>
            </p:spPr>
          </p:sp>
          <p:sp>
            <p:nvSpPr>
              <p:cNvPr id="152" name="TextBox 152"/>
              <p:cNvSpPr txBox="1"/>
              <p:nvPr/>
            </p:nvSpPr>
            <p:spPr>
              <a:xfrm>
                <a:off x="5234368" y="2154555"/>
                <a:ext cx="332613"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语义片段</a:t>
                </a:r>
              </a:p>
            </p:txBody>
          </p:sp>
          <p:sp>
            <p:nvSpPr>
              <p:cNvPr id="153" name="TextBox 153"/>
              <p:cNvSpPr txBox="1"/>
              <p:nvPr/>
            </p:nvSpPr>
            <p:spPr>
              <a:xfrm>
                <a:off x="5274754" y="2306955"/>
                <a:ext cx="251841"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块结构</a:t>
                </a:r>
              </a:p>
            </p:txBody>
          </p:sp>
          <p:sp>
            <p:nvSpPr>
              <p:cNvPr id="154" name="Rectangle 154"/>
              <p:cNvSpPr/>
              <p:nvPr/>
            </p:nvSpPr>
            <p:spPr>
              <a:xfrm>
                <a:off x="5943600" y="1981200"/>
                <a:ext cx="923925" cy="590550"/>
              </a:xfrm>
              <a:prstGeom prst="roundRect">
                <a:avLst>
                  <a:gd name="adj" fmla="val 9677"/>
                </a:avLst>
              </a:prstGeom>
              <a:solidFill>
                <a:srgbClr val="FFFFFF"/>
              </a:solidFill>
              <a:ln w="9525">
                <a:solidFill>
                  <a:srgbClr val="D9E8C6"/>
                </a:solidFill>
              </a:ln>
            </p:spPr>
          </p:sp>
          <p:sp>
            <p:nvSpPr>
              <p:cNvPr id="155" name="TextBox 155"/>
              <p:cNvSpPr txBox="1"/>
              <p:nvPr/>
            </p:nvSpPr>
            <p:spPr>
              <a:xfrm>
                <a:off x="6194108" y="2087880"/>
                <a:ext cx="413385"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完整元数据</a:t>
                </a:r>
              </a:p>
            </p:txBody>
          </p:sp>
          <p:sp>
            <p:nvSpPr>
              <p:cNvPr id="156" name="TextBox 156"/>
              <p:cNvSpPr txBox="1"/>
              <p:nvPr/>
            </p:nvSpPr>
            <p:spPr>
              <a:xfrm>
                <a:off x="6109297" y="2221230"/>
                <a:ext cx="583006"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标题/作者/时间</a:t>
                </a:r>
              </a:p>
            </p:txBody>
          </p:sp>
          <p:sp>
            <p:nvSpPr>
              <p:cNvPr id="157" name="TextBox 157"/>
              <p:cNvSpPr txBox="1"/>
              <p:nvPr/>
            </p:nvSpPr>
            <p:spPr>
              <a:xfrm>
                <a:off x="6212281" y="2354580"/>
                <a:ext cx="377038" cy="119062"/>
              </a:xfrm>
              <a:prstGeom prst="rect">
                <a:avLst/>
              </a:prstGeom>
              <a:noFill/>
              <a:ln>
                <a:noFill/>
              </a:ln>
            </p:spPr>
            <p:txBody>
              <a:bodyPr wrap="none" lIns="0" tIns="0" rIns="0" bIns="0" anchor="t" anchorCtr="0">
                <a:spAutoFit/>
              </a:bodyPr>
              <a:lstStyle/>
              <a:p>
                <a:pPr algn="ctr"/>
                <a:r>
                  <a:rPr lang="zh-CN" sz="600" dirty="0">
                    <a:solidFill>
                      <a:srgbClr val="66705F"/>
                    </a:solidFill>
                    <a:latin typeface="+mn-lt"/>
                    <a:ea typeface="+mn-ea"/>
                    <a:cs typeface="+mn-cs"/>
                  </a:rPr>
                  <a:t>来源/标签</a:t>
                </a:r>
              </a:p>
            </p:txBody>
          </p:sp>
          <p:sp>
            <p:nvSpPr>
              <p:cNvPr id="158" name="Rectangle 158"/>
              <p:cNvSpPr/>
              <p:nvPr/>
            </p:nvSpPr>
            <p:spPr>
              <a:xfrm>
                <a:off x="6943725" y="1981200"/>
                <a:ext cx="923925" cy="590550"/>
              </a:xfrm>
              <a:prstGeom prst="roundRect">
                <a:avLst>
                  <a:gd name="adj" fmla="val 9677"/>
                </a:avLst>
              </a:prstGeom>
              <a:solidFill>
                <a:srgbClr val="FFFFFF"/>
              </a:solidFill>
              <a:ln w="9525">
                <a:solidFill>
                  <a:srgbClr val="D9E8C6"/>
                </a:solidFill>
              </a:ln>
            </p:spPr>
          </p:sp>
          <p:sp>
            <p:nvSpPr>
              <p:cNvPr id="159" name="TextBox 159"/>
              <p:cNvSpPr txBox="1"/>
              <p:nvPr/>
            </p:nvSpPr>
            <p:spPr>
              <a:xfrm>
                <a:off x="7153846" y="2154555"/>
                <a:ext cx="494157"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敏感标注结果</a:t>
                </a:r>
              </a:p>
            </p:txBody>
          </p:sp>
          <p:sp>
            <p:nvSpPr>
              <p:cNvPr id="160" name="TextBox 160"/>
              <p:cNvSpPr txBox="1"/>
              <p:nvPr/>
            </p:nvSpPr>
            <p:spPr>
              <a:xfrm>
                <a:off x="6988264" y="2306955"/>
                <a:ext cx="825322"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 xml:space="preserve">（类别/级别/位置）　</a:t>
                </a:r>
              </a:p>
            </p:txBody>
          </p:sp>
          <p:sp>
            <p:nvSpPr>
              <p:cNvPr id="161" name="Rectangle 161"/>
              <p:cNvSpPr/>
              <p:nvPr/>
            </p:nvSpPr>
            <p:spPr>
              <a:xfrm>
                <a:off x="7943850" y="1981200"/>
                <a:ext cx="923925" cy="590550"/>
              </a:xfrm>
              <a:prstGeom prst="roundRect">
                <a:avLst>
                  <a:gd name="adj" fmla="val 9677"/>
                </a:avLst>
              </a:prstGeom>
              <a:solidFill>
                <a:srgbClr val="FFFFFF"/>
              </a:solidFill>
              <a:ln w="9525">
                <a:solidFill>
                  <a:srgbClr val="D9E8C6"/>
                </a:solidFill>
              </a:ln>
            </p:spPr>
          </p:sp>
          <p:sp>
            <p:nvSpPr>
              <p:cNvPr id="162" name="TextBox 162"/>
              <p:cNvSpPr txBox="1"/>
              <p:nvPr/>
            </p:nvSpPr>
            <p:spPr>
              <a:xfrm>
                <a:off x="8234744" y="2154555"/>
                <a:ext cx="332613"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质量评分</a:t>
                </a:r>
              </a:p>
            </p:txBody>
          </p:sp>
          <p:sp>
            <p:nvSpPr>
              <p:cNvPr id="163" name="TextBox 163"/>
              <p:cNvSpPr txBox="1"/>
              <p:nvPr/>
            </p:nvSpPr>
            <p:spPr>
              <a:xfrm>
                <a:off x="8234744" y="2306955"/>
                <a:ext cx="332613"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检验结果</a:t>
                </a:r>
              </a:p>
            </p:txBody>
          </p:sp>
          <p:sp>
            <p:nvSpPr>
              <p:cNvPr id="164" name="Rectangle 164"/>
              <p:cNvSpPr/>
              <p:nvPr/>
            </p:nvSpPr>
            <p:spPr>
              <a:xfrm>
                <a:off x="8943975" y="1981200"/>
                <a:ext cx="923925" cy="590550"/>
              </a:xfrm>
              <a:prstGeom prst="roundRect">
                <a:avLst>
                  <a:gd name="adj" fmla="val 9677"/>
                </a:avLst>
              </a:prstGeom>
              <a:solidFill>
                <a:srgbClr val="FFFFFF"/>
              </a:solidFill>
              <a:ln w="9525">
                <a:solidFill>
                  <a:srgbClr val="D9E8C6"/>
                </a:solidFill>
              </a:ln>
            </p:spPr>
          </p:sp>
          <p:sp>
            <p:nvSpPr>
              <p:cNvPr id="165" name="TextBox 165"/>
              <p:cNvSpPr txBox="1"/>
              <p:nvPr/>
            </p:nvSpPr>
            <p:spPr>
              <a:xfrm>
                <a:off x="9234868" y="2154555"/>
                <a:ext cx="332613"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发布成功</a:t>
                </a:r>
              </a:p>
            </p:txBody>
          </p:sp>
          <p:sp>
            <p:nvSpPr>
              <p:cNvPr id="166" name="TextBox 166"/>
              <p:cNvSpPr txBox="1"/>
              <p:nvPr/>
            </p:nvSpPr>
            <p:spPr>
              <a:xfrm>
                <a:off x="9234868" y="2306955"/>
                <a:ext cx="332613" cy="119062"/>
              </a:xfrm>
              <a:prstGeom prst="rect">
                <a:avLst/>
              </a:prstGeom>
              <a:noFill/>
              <a:ln>
                <a:noFill/>
              </a:ln>
            </p:spPr>
            <p:txBody>
              <a:bodyPr wrap="none" lIns="0" tIns="0" rIns="0" bIns="0" anchor="t" anchorCtr="0">
                <a:spAutoFit/>
              </a:bodyPr>
              <a:lstStyle/>
              <a:p>
                <a:pPr algn="ctr"/>
                <a:r>
                  <a:rPr lang="zh-CN" sz="600" dirty="0">
                    <a:solidFill>
                      <a:srgbClr val="3A4238"/>
                    </a:solidFill>
                    <a:latin typeface="+mn-lt"/>
                    <a:ea typeface="+mn-ea"/>
                    <a:cs typeface="+mn-cs"/>
                  </a:rPr>
                  <a:t>索引引用</a:t>
                </a:r>
              </a:p>
            </p:txBody>
          </p:sp>
        </p:grpSp>
      </p:grpSp>
      <p:grpSp>
        <p:nvGrpSpPr>
          <p:cNvPr id="203" name="storage"/>
          <p:cNvGrpSpPr/>
          <p:nvPr/>
        </p:nvGrpSpPr>
        <p:grpSpPr>
          <a:xfrm>
            <a:off x="10134600" y="609600"/>
            <a:ext cx="1828800" cy="3200400"/>
            <a:chOff x="10134600" y="609600"/>
            <a:chExt cx="1828800" cy="3200400"/>
          </a:xfrm>
        </p:grpSpPr>
        <p:sp>
          <p:nvSpPr>
            <p:cNvPr id="169" name="Rectangle 169"/>
            <p:cNvSpPr/>
            <p:nvPr/>
          </p:nvSpPr>
          <p:spPr>
            <a:xfrm>
              <a:off x="10134600" y="609600"/>
              <a:ext cx="1828800" cy="266700"/>
            </a:xfrm>
            <a:prstGeom prst="roundRect">
              <a:avLst>
                <a:gd name="adj" fmla="val 21429"/>
              </a:avLst>
            </a:prstGeom>
            <a:solidFill>
              <a:srgbClr val="42140B"/>
            </a:solidFill>
            <a:ln>
              <a:noFill/>
            </a:ln>
          </p:spPr>
        </p:sp>
        <p:sp>
          <p:nvSpPr>
            <p:cNvPr id="170" name="TextBox 170"/>
            <p:cNvSpPr txBox="1"/>
            <p:nvPr/>
          </p:nvSpPr>
          <p:spPr>
            <a:xfrm>
              <a:off x="10601338" y="689372"/>
              <a:ext cx="895325"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多模态知识存储</a:t>
              </a:r>
            </a:p>
          </p:txBody>
        </p:sp>
        <p:sp>
          <p:nvSpPr>
            <p:cNvPr id="171" name="Rectangle 171"/>
            <p:cNvSpPr/>
            <p:nvPr/>
          </p:nvSpPr>
          <p:spPr>
            <a:xfrm>
              <a:off x="10210800" y="990600"/>
              <a:ext cx="1676400" cy="647700"/>
            </a:xfrm>
            <a:prstGeom prst="roundRect">
              <a:avLst>
                <a:gd name="adj" fmla="val 11765"/>
              </a:avLst>
            </a:prstGeom>
            <a:solidFill>
              <a:srgbClr val="F4F8EC"/>
            </a:solidFill>
            <a:ln w="9525">
              <a:solidFill>
                <a:srgbClr val="D9E8C6"/>
              </a:solidFill>
            </a:ln>
          </p:spPr>
        </p:sp>
        <p:grpSp>
          <p:nvGrpSpPr>
            <p:cNvPr id="175" name="Group 175"/>
            <p:cNvGrpSpPr/>
            <p:nvPr/>
          </p:nvGrpSpPr>
          <p:grpSpPr>
            <a:xfrm>
              <a:off x="10382250" y="1133475"/>
              <a:ext cx="152400" cy="171450"/>
              <a:chOff x="10382250" y="1133475"/>
              <a:chExt cx="152400" cy="171450"/>
            </a:xfrm>
          </p:grpSpPr>
          <p:sp>
            <p:nvSpPr>
              <p:cNvPr id="172" name="Freeform 172"/>
              <p:cNvSpPr/>
              <p:nvPr/>
            </p:nvSpPr>
            <p:spPr>
              <a:xfrm>
                <a:off x="10382250" y="113347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7C3B2F"/>
                </a:solidFill>
              </a:ln>
            </p:spPr>
          </p:sp>
          <p:sp>
            <p:nvSpPr>
              <p:cNvPr id="173" name="Freeform 173"/>
              <p:cNvSpPr/>
              <p:nvPr/>
            </p:nvSpPr>
            <p:spPr>
              <a:xfrm>
                <a:off x="10382250" y="11620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7C3B2F"/>
                </a:solidFill>
              </a:ln>
            </p:spPr>
          </p:sp>
          <p:sp>
            <p:nvSpPr>
              <p:cNvPr id="174" name="Freeform 174"/>
              <p:cNvSpPr/>
              <p:nvPr/>
            </p:nvSpPr>
            <p:spPr>
              <a:xfrm>
                <a:off x="10382250" y="12192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7C3B2F"/>
                </a:solidFill>
              </a:ln>
            </p:spPr>
          </p:sp>
        </p:grpSp>
        <p:sp>
          <p:nvSpPr>
            <p:cNvPr id="176" name="TextBox 176"/>
            <p:cNvSpPr txBox="1"/>
            <p:nvPr/>
          </p:nvSpPr>
          <p:spPr>
            <a:xfrm>
              <a:off x="10682288" y="112609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对象存储</a:t>
              </a:r>
            </a:p>
          </p:txBody>
        </p:sp>
        <p:sp>
          <p:nvSpPr>
            <p:cNvPr id="177" name="TextBox 177"/>
            <p:cNvSpPr txBox="1"/>
            <p:nvPr/>
          </p:nvSpPr>
          <p:spPr>
            <a:xfrm>
              <a:off x="10682288" y="1321832"/>
              <a:ext cx="4403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原文与附件</a:t>
              </a:r>
            </a:p>
          </p:txBody>
        </p:sp>
        <p:sp>
          <p:nvSpPr>
            <p:cNvPr id="178" name="Rectangle 178"/>
            <p:cNvSpPr/>
            <p:nvPr/>
          </p:nvSpPr>
          <p:spPr>
            <a:xfrm>
              <a:off x="10210800" y="1714500"/>
              <a:ext cx="1676400" cy="647700"/>
            </a:xfrm>
            <a:prstGeom prst="roundRect">
              <a:avLst>
                <a:gd name="adj" fmla="val 11765"/>
              </a:avLst>
            </a:prstGeom>
            <a:solidFill>
              <a:srgbClr val="FFFFFF"/>
            </a:solidFill>
            <a:ln w="9525">
              <a:solidFill>
                <a:srgbClr val="D9E8C6"/>
              </a:solidFill>
            </a:ln>
          </p:spPr>
        </p:sp>
        <p:grpSp>
          <p:nvGrpSpPr>
            <p:cNvPr id="181" name="Group 181"/>
            <p:cNvGrpSpPr/>
            <p:nvPr/>
          </p:nvGrpSpPr>
          <p:grpSpPr>
            <a:xfrm>
              <a:off x="10370070" y="1859013"/>
              <a:ext cx="172200" cy="172467"/>
              <a:chOff x="10370070" y="1859013"/>
              <a:chExt cx="172200" cy="172467"/>
            </a:xfrm>
          </p:grpSpPr>
          <p:sp>
            <p:nvSpPr>
              <p:cNvPr id="179" name="Freeform 179"/>
              <p:cNvSpPr/>
              <p:nvPr/>
            </p:nvSpPr>
            <p:spPr>
              <a:xfrm>
                <a:off x="10370070" y="1859013"/>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9050">
                <a:solidFill>
                  <a:srgbClr val="7C3B2F"/>
                </a:solidFill>
              </a:ln>
            </p:spPr>
          </p:sp>
          <p:sp>
            <p:nvSpPr>
              <p:cNvPr id="180" name="Freeform 180"/>
              <p:cNvSpPr/>
              <p:nvPr/>
            </p:nvSpPr>
            <p:spPr>
              <a:xfrm>
                <a:off x="10487025" y="1862138"/>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9050">
                <a:solidFill>
                  <a:srgbClr val="7C3B2F"/>
                </a:solidFill>
              </a:ln>
            </p:spPr>
          </p:sp>
        </p:grpSp>
        <p:sp>
          <p:nvSpPr>
            <p:cNvPr id="182" name="TextBox 182"/>
            <p:cNvSpPr txBox="1"/>
            <p:nvPr/>
          </p:nvSpPr>
          <p:spPr>
            <a:xfrm>
              <a:off x="10682288" y="1849993"/>
              <a:ext cx="356845"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向量库</a:t>
              </a:r>
            </a:p>
          </p:txBody>
        </p:sp>
        <p:sp>
          <p:nvSpPr>
            <p:cNvPr id="183" name="TextBox 183"/>
            <p:cNvSpPr txBox="1"/>
            <p:nvPr/>
          </p:nvSpPr>
          <p:spPr>
            <a:xfrm>
              <a:off x="10682288" y="2045732"/>
              <a:ext cx="354152"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语义向量</a:t>
              </a:r>
            </a:p>
          </p:txBody>
        </p:sp>
        <p:sp>
          <p:nvSpPr>
            <p:cNvPr id="184" name="Rectangle 184"/>
            <p:cNvSpPr/>
            <p:nvPr/>
          </p:nvSpPr>
          <p:spPr>
            <a:xfrm>
              <a:off x="10210800" y="2438400"/>
              <a:ext cx="1676400" cy="647700"/>
            </a:xfrm>
            <a:prstGeom prst="roundRect">
              <a:avLst>
                <a:gd name="adj" fmla="val 11765"/>
              </a:avLst>
            </a:prstGeom>
            <a:solidFill>
              <a:srgbClr val="F4F8EC"/>
            </a:solidFill>
            <a:ln w="9525">
              <a:solidFill>
                <a:srgbClr val="D9E8C6"/>
              </a:solidFill>
            </a:ln>
          </p:spPr>
        </p:sp>
        <p:grpSp>
          <p:nvGrpSpPr>
            <p:cNvPr id="190" name="Group 190"/>
            <p:cNvGrpSpPr/>
            <p:nvPr/>
          </p:nvGrpSpPr>
          <p:grpSpPr>
            <a:xfrm>
              <a:off x="10372725" y="2581275"/>
              <a:ext cx="171450" cy="171450"/>
              <a:chOff x="10372725" y="2581275"/>
              <a:chExt cx="171450" cy="171450"/>
            </a:xfrm>
          </p:grpSpPr>
          <p:sp>
            <p:nvSpPr>
              <p:cNvPr id="185" name="Freeform 185"/>
              <p:cNvSpPr/>
              <p:nvPr/>
            </p:nvSpPr>
            <p:spPr>
              <a:xfrm>
                <a:off x="10439400" y="25812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C3B2F"/>
                </a:solidFill>
              </a:ln>
            </p:spPr>
          </p:sp>
          <p:sp>
            <p:nvSpPr>
              <p:cNvPr id="186" name="Freeform 186"/>
              <p:cNvSpPr/>
              <p:nvPr/>
            </p:nvSpPr>
            <p:spPr>
              <a:xfrm>
                <a:off x="10372725" y="2714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C3B2F"/>
                </a:solidFill>
              </a:ln>
            </p:spPr>
          </p:sp>
          <p:sp>
            <p:nvSpPr>
              <p:cNvPr id="187" name="Freeform 187"/>
              <p:cNvSpPr/>
              <p:nvPr/>
            </p:nvSpPr>
            <p:spPr>
              <a:xfrm>
                <a:off x="10506075" y="2714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C3B2F"/>
                </a:solidFill>
              </a:ln>
            </p:spPr>
          </p:sp>
          <p:sp>
            <p:nvSpPr>
              <p:cNvPr id="188" name="Freeform 188"/>
              <p:cNvSpPr/>
              <p:nvPr/>
            </p:nvSpPr>
            <p:spPr>
              <a:xfrm>
                <a:off x="10406062" y="2676525"/>
                <a:ext cx="104775" cy="42862"/>
              </a:xfrm>
              <a:custGeom>
                <a:avLst/>
                <a:gdLst/>
                <a:ahLst/>
                <a:cxnLst/>
                <a:rect l="l" t="t" r="r" b="b"/>
                <a:pathLst>
                  <a:path w="104775" h="42862">
                    <a:moveTo>
                      <a:pt x="0" y="42862"/>
                    </a:moveTo>
                    <a:lnTo>
                      <a:pt x="52388" y="0"/>
                    </a:lnTo>
                    <a:lnTo>
                      <a:pt x="104775" y="42862"/>
                    </a:lnTo>
                  </a:path>
                </a:pathLst>
              </a:custGeom>
              <a:noFill/>
              <a:ln w="19050">
                <a:solidFill>
                  <a:srgbClr val="7C3B2F"/>
                </a:solidFill>
              </a:ln>
            </p:spPr>
          </p:sp>
          <p:sp>
            <p:nvSpPr>
              <p:cNvPr id="189" name="Freeform 189"/>
              <p:cNvSpPr/>
              <p:nvPr/>
            </p:nvSpPr>
            <p:spPr>
              <a:xfrm>
                <a:off x="10458450" y="2619375"/>
                <a:ext cx="9525" cy="57150"/>
              </a:xfrm>
              <a:custGeom>
                <a:avLst/>
                <a:gdLst/>
                <a:ahLst/>
                <a:cxnLst/>
                <a:rect l="l" t="t" r="r" b="b"/>
                <a:pathLst>
                  <a:path w="9525" h="57150">
                    <a:moveTo>
                      <a:pt x="0" y="0"/>
                    </a:moveTo>
                    <a:lnTo>
                      <a:pt x="0" y="57150"/>
                    </a:lnTo>
                  </a:path>
                </a:pathLst>
              </a:custGeom>
              <a:noFill/>
              <a:ln w="19050">
                <a:solidFill>
                  <a:srgbClr val="7C3B2F"/>
                </a:solidFill>
              </a:ln>
            </p:spPr>
          </p:sp>
        </p:grpSp>
        <p:sp>
          <p:nvSpPr>
            <p:cNvPr id="191" name="TextBox 191"/>
            <p:cNvSpPr txBox="1"/>
            <p:nvPr/>
          </p:nvSpPr>
          <p:spPr>
            <a:xfrm>
              <a:off x="10682288" y="257389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图数据库</a:t>
              </a:r>
            </a:p>
          </p:txBody>
        </p:sp>
        <p:sp>
          <p:nvSpPr>
            <p:cNvPr id="192" name="TextBox 192"/>
            <p:cNvSpPr txBox="1"/>
            <p:nvPr/>
          </p:nvSpPr>
          <p:spPr>
            <a:xfrm>
              <a:off x="10682288" y="2769632"/>
              <a:ext cx="4403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实体与关系</a:t>
              </a:r>
            </a:p>
          </p:txBody>
        </p:sp>
        <p:sp>
          <p:nvSpPr>
            <p:cNvPr id="193" name="Rectangle 193"/>
            <p:cNvSpPr/>
            <p:nvPr/>
          </p:nvSpPr>
          <p:spPr>
            <a:xfrm>
              <a:off x="10210800" y="3162300"/>
              <a:ext cx="1676400" cy="647700"/>
            </a:xfrm>
            <a:prstGeom prst="roundRect">
              <a:avLst>
                <a:gd name="adj" fmla="val 11765"/>
              </a:avLst>
            </a:prstGeom>
            <a:solidFill>
              <a:srgbClr val="FFFFFF"/>
            </a:solidFill>
            <a:ln w="9525">
              <a:solidFill>
                <a:srgbClr val="D9E8C6"/>
              </a:solidFill>
            </a:ln>
          </p:spPr>
        </p:sp>
        <p:grpSp>
          <p:nvGrpSpPr>
            <p:cNvPr id="200" name="Group 200"/>
            <p:cNvGrpSpPr/>
            <p:nvPr/>
          </p:nvGrpSpPr>
          <p:grpSpPr>
            <a:xfrm>
              <a:off x="10377488" y="3319462"/>
              <a:ext cx="157162" cy="138113"/>
              <a:chOff x="10377488" y="3319462"/>
              <a:chExt cx="157162" cy="138113"/>
            </a:xfrm>
          </p:grpSpPr>
          <p:sp>
            <p:nvSpPr>
              <p:cNvPr id="194" name="Freeform 194"/>
              <p:cNvSpPr/>
              <p:nvPr/>
            </p:nvSpPr>
            <p:spPr>
              <a:xfrm>
                <a:off x="10377488" y="3319462"/>
                <a:ext cx="38100" cy="23812"/>
              </a:xfrm>
              <a:custGeom>
                <a:avLst/>
                <a:gdLst/>
                <a:ahLst/>
                <a:cxnLst/>
                <a:rect l="l" t="t" r="r" b="b"/>
                <a:pathLst>
                  <a:path w="38100" h="23812">
                    <a:moveTo>
                      <a:pt x="0" y="9525"/>
                    </a:moveTo>
                    <a:lnTo>
                      <a:pt x="14288" y="23812"/>
                    </a:lnTo>
                    <a:lnTo>
                      <a:pt x="38100" y="0"/>
                    </a:lnTo>
                  </a:path>
                </a:pathLst>
              </a:custGeom>
              <a:noFill/>
              <a:ln w="19050">
                <a:solidFill>
                  <a:srgbClr val="7C3B2F"/>
                </a:solidFill>
              </a:ln>
            </p:spPr>
          </p:sp>
          <p:sp>
            <p:nvSpPr>
              <p:cNvPr id="195" name="Freeform 195"/>
              <p:cNvSpPr/>
              <p:nvPr/>
            </p:nvSpPr>
            <p:spPr>
              <a:xfrm>
                <a:off x="10377488" y="3376612"/>
                <a:ext cx="38100" cy="23812"/>
              </a:xfrm>
              <a:custGeom>
                <a:avLst/>
                <a:gdLst/>
                <a:ahLst/>
                <a:cxnLst/>
                <a:rect l="l" t="t" r="r" b="b"/>
                <a:pathLst>
                  <a:path w="38100" h="23812">
                    <a:moveTo>
                      <a:pt x="0" y="9525"/>
                    </a:moveTo>
                    <a:lnTo>
                      <a:pt x="14288" y="23812"/>
                    </a:lnTo>
                    <a:lnTo>
                      <a:pt x="38100" y="0"/>
                    </a:lnTo>
                  </a:path>
                </a:pathLst>
              </a:custGeom>
              <a:noFill/>
              <a:ln w="19050">
                <a:solidFill>
                  <a:srgbClr val="7C3B2F"/>
                </a:solidFill>
              </a:ln>
            </p:spPr>
          </p:sp>
          <p:sp>
            <p:nvSpPr>
              <p:cNvPr id="196" name="Freeform 196"/>
              <p:cNvSpPr/>
              <p:nvPr/>
            </p:nvSpPr>
            <p:spPr>
              <a:xfrm>
                <a:off x="10377488" y="3433762"/>
                <a:ext cx="38100" cy="23812"/>
              </a:xfrm>
              <a:custGeom>
                <a:avLst/>
                <a:gdLst/>
                <a:ahLst/>
                <a:cxnLst/>
                <a:rect l="l" t="t" r="r" b="b"/>
                <a:pathLst>
                  <a:path w="38100" h="23812">
                    <a:moveTo>
                      <a:pt x="0" y="9525"/>
                    </a:moveTo>
                    <a:lnTo>
                      <a:pt x="14288" y="23812"/>
                    </a:lnTo>
                    <a:lnTo>
                      <a:pt x="38100" y="0"/>
                    </a:lnTo>
                  </a:path>
                </a:pathLst>
              </a:custGeom>
              <a:noFill/>
              <a:ln w="19050">
                <a:solidFill>
                  <a:srgbClr val="7C3B2F"/>
                </a:solidFill>
              </a:ln>
            </p:spPr>
          </p:sp>
          <p:sp>
            <p:nvSpPr>
              <p:cNvPr id="197" name="Freeform 197"/>
              <p:cNvSpPr/>
              <p:nvPr/>
            </p:nvSpPr>
            <p:spPr>
              <a:xfrm>
                <a:off x="10448925" y="3333750"/>
                <a:ext cx="85725" cy="9525"/>
              </a:xfrm>
              <a:custGeom>
                <a:avLst/>
                <a:gdLst/>
                <a:ahLst/>
                <a:cxnLst/>
                <a:rect l="l" t="t" r="r" b="b"/>
                <a:pathLst>
                  <a:path w="85725" h="9525">
                    <a:moveTo>
                      <a:pt x="0" y="0"/>
                    </a:moveTo>
                    <a:lnTo>
                      <a:pt x="85725" y="0"/>
                    </a:lnTo>
                  </a:path>
                </a:pathLst>
              </a:custGeom>
              <a:noFill/>
              <a:ln w="19050">
                <a:solidFill>
                  <a:srgbClr val="7C3B2F"/>
                </a:solidFill>
              </a:ln>
            </p:spPr>
          </p:sp>
          <p:sp>
            <p:nvSpPr>
              <p:cNvPr id="198" name="Freeform 198"/>
              <p:cNvSpPr/>
              <p:nvPr/>
            </p:nvSpPr>
            <p:spPr>
              <a:xfrm>
                <a:off x="10448925" y="3390900"/>
                <a:ext cx="85725" cy="9525"/>
              </a:xfrm>
              <a:custGeom>
                <a:avLst/>
                <a:gdLst/>
                <a:ahLst/>
                <a:cxnLst/>
                <a:rect l="l" t="t" r="r" b="b"/>
                <a:pathLst>
                  <a:path w="85725" h="9525">
                    <a:moveTo>
                      <a:pt x="0" y="0"/>
                    </a:moveTo>
                    <a:lnTo>
                      <a:pt x="85725" y="0"/>
                    </a:lnTo>
                  </a:path>
                </a:pathLst>
              </a:custGeom>
              <a:noFill/>
              <a:ln w="19050">
                <a:solidFill>
                  <a:srgbClr val="7C3B2F"/>
                </a:solidFill>
              </a:ln>
            </p:spPr>
          </p:sp>
          <p:sp>
            <p:nvSpPr>
              <p:cNvPr id="199" name="Freeform 199"/>
              <p:cNvSpPr/>
              <p:nvPr/>
            </p:nvSpPr>
            <p:spPr>
              <a:xfrm>
                <a:off x="10448925" y="3448050"/>
                <a:ext cx="85725" cy="9525"/>
              </a:xfrm>
              <a:custGeom>
                <a:avLst/>
                <a:gdLst/>
                <a:ahLst/>
                <a:cxnLst/>
                <a:rect l="l" t="t" r="r" b="b"/>
                <a:pathLst>
                  <a:path w="85725" h="9525">
                    <a:moveTo>
                      <a:pt x="0" y="0"/>
                    </a:moveTo>
                    <a:lnTo>
                      <a:pt x="85725" y="0"/>
                    </a:lnTo>
                  </a:path>
                </a:pathLst>
              </a:custGeom>
              <a:noFill/>
              <a:ln w="19050">
                <a:solidFill>
                  <a:srgbClr val="7C3B2F"/>
                </a:solidFill>
              </a:ln>
            </p:spPr>
          </p:sp>
        </p:grpSp>
        <p:sp>
          <p:nvSpPr>
            <p:cNvPr id="201" name="TextBox 201"/>
            <p:cNvSpPr txBox="1"/>
            <p:nvPr/>
          </p:nvSpPr>
          <p:spPr>
            <a:xfrm>
              <a:off x="10682288" y="3297793"/>
              <a:ext cx="58839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关键词索引</a:t>
              </a:r>
            </a:p>
          </p:txBody>
        </p:sp>
        <p:sp>
          <p:nvSpPr>
            <p:cNvPr id="202" name="TextBox 202"/>
            <p:cNvSpPr txBox="1"/>
            <p:nvPr/>
          </p:nvSpPr>
          <p:spPr>
            <a:xfrm>
              <a:off x="10682288" y="3493532"/>
              <a:ext cx="354152"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倒排索引</a:t>
              </a:r>
            </a:p>
          </p:txBody>
        </p:sp>
      </p:grpSp>
      <p:sp>
        <p:nvSpPr>
          <p:cNvPr id="204" name="Line 204"/>
          <p:cNvSpPr/>
          <p:nvPr/>
        </p:nvSpPr>
        <p:spPr>
          <a:xfrm>
            <a:off x="1485900" y="1190625"/>
            <a:ext cx="342900" cy="1"/>
          </a:xfrm>
          <a:prstGeom prst="line">
            <a:avLst/>
          </a:prstGeom>
          <a:noFill/>
          <a:ln w="14288">
            <a:solidFill>
              <a:srgbClr val="9A4B3C"/>
            </a:solidFill>
            <a:custDash>
              <a:ds d="266667" sp="200000"/>
            </a:custDash>
            <a:tailEnd type="arrow" w="lg" len="lg"/>
          </a:ln>
        </p:spPr>
      </p:sp>
      <p:sp>
        <p:nvSpPr>
          <p:cNvPr id="205" name="flow-input-cap"/>
          <p:cNvSpPr txBox="1"/>
          <p:nvPr/>
        </p:nvSpPr>
        <p:spPr>
          <a:xfrm>
            <a:off x="1566431" y="1036082"/>
            <a:ext cx="181839" cy="126206"/>
          </a:xfrm>
          <a:prstGeom prst="rect">
            <a:avLst/>
          </a:prstGeom>
          <a:noFill/>
          <a:ln>
            <a:noFill/>
          </a:ln>
        </p:spPr>
        <p:txBody>
          <a:bodyPr wrap="none" lIns="0" tIns="0" rIns="0" bIns="0" anchor="t" anchorCtr="0">
            <a:spAutoFit/>
          </a:bodyPr>
          <a:lstStyle/>
          <a:p>
            <a:pPr algn="ctr"/>
            <a:r>
              <a:rPr lang="zh-CN" sz="640" dirty="0">
                <a:solidFill>
                  <a:srgbClr val="7C3B2F"/>
                </a:solidFill>
                <a:latin typeface="+mn-lt"/>
                <a:ea typeface="+mn-ea"/>
                <a:cs typeface="+mn-cs"/>
              </a:rPr>
              <a:t>输入</a:t>
            </a:r>
          </a:p>
        </p:txBody>
      </p:sp>
      <p:sp>
        <p:nvSpPr>
          <p:cNvPr id="206" name="Line 206"/>
          <p:cNvSpPr/>
          <p:nvPr/>
        </p:nvSpPr>
        <p:spPr>
          <a:xfrm>
            <a:off x="9944100" y="2305050"/>
            <a:ext cx="152400" cy="1"/>
          </a:xfrm>
          <a:prstGeom prst="line">
            <a:avLst/>
          </a:prstGeom>
          <a:noFill/>
          <a:ln w="14288">
            <a:solidFill>
              <a:srgbClr val="9A4B3C"/>
            </a:solidFill>
            <a:custDash>
              <a:ds d="266667" sp="200000"/>
            </a:custDash>
            <a:tailEnd type="arrow" w="lg" len="lg"/>
          </a:ln>
        </p:spPr>
      </p:sp>
      <p:sp>
        <p:nvSpPr>
          <p:cNvPr id="207" name="flow-output-cap"/>
          <p:cNvSpPr txBox="1"/>
          <p:nvPr/>
        </p:nvSpPr>
        <p:spPr>
          <a:xfrm>
            <a:off x="9929381" y="2150507"/>
            <a:ext cx="181839" cy="126206"/>
          </a:xfrm>
          <a:prstGeom prst="rect">
            <a:avLst/>
          </a:prstGeom>
          <a:noFill/>
          <a:ln>
            <a:noFill/>
          </a:ln>
        </p:spPr>
        <p:txBody>
          <a:bodyPr wrap="none" lIns="0" tIns="0" rIns="0" bIns="0" anchor="t" anchorCtr="0">
            <a:spAutoFit/>
          </a:bodyPr>
          <a:lstStyle/>
          <a:p>
            <a:pPr algn="ctr"/>
            <a:r>
              <a:rPr lang="zh-CN" sz="640" dirty="0">
                <a:solidFill>
                  <a:srgbClr val="7C3B2F"/>
                </a:solidFill>
                <a:latin typeface="+mn-lt"/>
                <a:ea typeface="+mn-ea"/>
                <a:cs typeface="+mn-cs"/>
              </a:rPr>
              <a:t>输出</a:t>
            </a:r>
          </a:p>
        </p:txBody>
      </p:sp>
      <p:sp>
        <p:nvSpPr>
          <p:cNvPr id="208" name="Line 208"/>
          <p:cNvSpPr/>
          <p:nvPr/>
        </p:nvSpPr>
        <p:spPr>
          <a:xfrm>
            <a:off x="3048000" y="2724150"/>
            <a:ext cx="9525" cy="1752600"/>
          </a:xfrm>
          <a:custGeom>
            <a:avLst/>
            <a:gdLst/>
            <a:ahLst/>
            <a:cxnLst/>
            <a:rect l="l" t="t" r="r" b="b"/>
            <a:pathLst>
              <a:path w="9525" h="1752600">
                <a:moveTo>
                  <a:pt x="0" y="0"/>
                </a:moveTo>
                <a:lnTo>
                  <a:pt x="0" y="1752600"/>
                </a:lnTo>
              </a:path>
            </a:pathLst>
          </a:custGeom>
          <a:noFill/>
          <a:ln w="9525">
            <a:solidFill>
              <a:srgbClr val="BE776A"/>
            </a:solidFill>
            <a:prstDash val="dash"/>
          </a:ln>
        </p:spPr>
      </p:sp>
      <p:sp>
        <p:nvSpPr>
          <p:cNvPr id="209" name="Line 209"/>
          <p:cNvSpPr/>
          <p:nvPr/>
        </p:nvSpPr>
        <p:spPr>
          <a:xfrm>
            <a:off x="4886325" y="2724150"/>
            <a:ext cx="9525" cy="1752600"/>
          </a:xfrm>
          <a:custGeom>
            <a:avLst/>
            <a:gdLst/>
            <a:ahLst/>
            <a:cxnLst/>
            <a:rect l="l" t="t" r="r" b="b"/>
            <a:pathLst>
              <a:path w="9525" h="1752600">
                <a:moveTo>
                  <a:pt x="0" y="0"/>
                </a:moveTo>
                <a:lnTo>
                  <a:pt x="0" y="1752600"/>
                </a:lnTo>
              </a:path>
            </a:pathLst>
          </a:custGeom>
          <a:noFill/>
          <a:ln w="9525">
            <a:solidFill>
              <a:srgbClr val="BE776A"/>
            </a:solidFill>
            <a:prstDash val="dash"/>
          </a:ln>
        </p:spPr>
      </p:sp>
      <p:sp>
        <p:nvSpPr>
          <p:cNvPr id="210" name="Line 210"/>
          <p:cNvSpPr/>
          <p:nvPr/>
        </p:nvSpPr>
        <p:spPr>
          <a:xfrm>
            <a:off x="6724650" y="2724150"/>
            <a:ext cx="9525" cy="1752600"/>
          </a:xfrm>
          <a:custGeom>
            <a:avLst/>
            <a:gdLst/>
            <a:ahLst/>
            <a:cxnLst/>
            <a:rect l="l" t="t" r="r" b="b"/>
            <a:pathLst>
              <a:path w="9525" h="1752600">
                <a:moveTo>
                  <a:pt x="0" y="0"/>
                </a:moveTo>
                <a:lnTo>
                  <a:pt x="0" y="1752600"/>
                </a:lnTo>
              </a:path>
            </a:pathLst>
          </a:custGeom>
          <a:noFill/>
          <a:ln w="9525">
            <a:solidFill>
              <a:srgbClr val="BE776A"/>
            </a:solidFill>
            <a:prstDash val="dash"/>
          </a:ln>
        </p:spPr>
      </p:sp>
      <p:sp>
        <p:nvSpPr>
          <p:cNvPr id="211" name="Line 211"/>
          <p:cNvSpPr/>
          <p:nvPr/>
        </p:nvSpPr>
        <p:spPr>
          <a:xfrm>
            <a:off x="8562975" y="2724150"/>
            <a:ext cx="9525" cy="1752600"/>
          </a:xfrm>
          <a:custGeom>
            <a:avLst/>
            <a:gdLst/>
            <a:ahLst/>
            <a:cxnLst/>
            <a:rect l="l" t="t" r="r" b="b"/>
            <a:pathLst>
              <a:path w="9525" h="1752600">
                <a:moveTo>
                  <a:pt x="0" y="0"/>
                </a:moveTo>
                <a:lnTo>
                  <a:pt x="0" y="1752600"/>
                </a:lnTo>
              </a:path>
            </a:pathLst>
          </a:custGeom>
          <a:noFill/>
          <a:ln w="9525">
            <a:solidFill>
              <a:srgbClr val="BE776A"/>
            </a:solidFill>
            <a:prstDash val="dash"/>
          </a:ln>
        </p:spPr>
      </p:sp>
      <p:grpSp>
        <p:nvGrpSpPr>
          <p:cNvPr id="222" name="anomaly-parse"/>
          <p:cNvGrpSpPr/>
          <p:nvPr/>
        </p:nvGrpSpPr>
        <p:grpSpPr>
          <a:xfrm>
            <a:off x="2190750" y="4533900"/>
            <a:ext cx="1714500" cy="723900"/>
            <a:chOff x="2190750" y="4533900"/>
            <a:chExt cx="1714500" cy="723900"/>
          </a:xfrm>
        </p:grpSpPr>
        <p:sp>
          <p:nvSpPr>
            <p:cNvPr id="212" name="Rectangle 212"/>
            <p:cNvSpPr/>
            <p:nvPr/>
          </p:nvSpPr>
          <p:spPr>
            <a:xfrm>
              <a:off x="2190750" y="4533900"/>
              <a:ext cx="1714500" cy="723900"/>
            </a:xfrm>
            <a:prstGeom prst="roundRect">
              <a:avLst>
                <a:gd name="adj" fmla="val 10526"/>
              </a:avLst>
            </a:prstGeom>
            <a:solidFill>
              <a:srgbClr val="FFFFFF"/>
            </a:solidFill>
            <a:ln w="9525">
              <a:solidFill>
                <a:srgbClr val="D9E8C6"/>
              </a:solidFill>
            </a:ln>
          </p:spPr>
        </p:sp>
        <p:sp>
          <p:nvSpPr>
            <p:cNvPr id="213" name="Rectangle 213"/>
            <p:cNvSpPr/>
            <p:nvPr/>
          </p:nvSpPr>
          <p:spPr>
            <a:xfrm>
              <a:off x="2190750" y="4533900"/>
              <a:ext cx="38100" cy="723900"/>
            </a:xfrm>
            <a:prstGeom prst="roundRect">
              <a:avLst>
                <a:gd name="adj" fmla="val 50000"/>
              </a:avLst>
            </a:prstGeom>
            <a:solidFill>
              <a:srgbClr val="C44E3A"/>
            </a:solidFill>
            <a:ln>
              <a:noFill/>
            </a:ln>
          </p:spPr>
        </p:sp>
        <p:sp>
          <p:nvSpPr>
            <p:cNvPr id="214" name="Ellipse 214"/>
            <p:cNvSpPr/>
            <p:nvPr/>
          </p:nvSpPr>
          <p:spPr>
            <a:xfrm>
              <a:off x="2314575" y="4657725"/>
              <a:ext cx="247650" cy="247650"/>
            </a:xfrm>
            <a:prstGeom prst="ellipse">
              <a:avLst/>
            </a:prstGeom>
            <a:solidFill>
              <a:srgbClr val="F4F8EC"/>
            </a:solidFill>
            <a:ln w="9525">
              <a:solidFill>
                <a:srgbClr val="C44E3A"/>
              </a:solidFill>
            </a:ln>
          </p:spPr>
        </p:sp>
        <p:grpSp>
          <p:nvGrpSpPr>
            <p:cNvPr id="218" name="Group 218"/>
            <p:cNvGrpSpPr/>
            <p:nvPr/>
          </p:nvGrpSpPr>
          <p:grpSpPr>
            <a:xfrm>
              <a:off x="2382365" y="4729698"/>
              <a:ext cx="112066" cy="96280"/>
              <a:chOff x="2382365" y="4729698"/>
              <a:chExt cx="112066" cy="96280"/>
            </a:xfrm>
          </p:grpSpPr>
          <p:sp>
            <p:nvSpPr>
              <p:cNvPr id="215" name="Freeform 215"/>
              <p:cNvSpPr/>
              <p:nvPr/>
            </p:nvSpPr>
            <p:spPr>
              <a:xfrm>
                <a:off x="2438400" y="4764881"/>
                <a:ext cx="9525" cy="22225"/>
              </a:xfrm>
              <a:custGeom>
                <a:avLst/>
                <a:gdLst/>
                <a:ahLst/>
                <a:cxnLst/>
                <a:rect l="l" t="t" r="r" b="b"/>
                <a:pathLst>
                  <a:path w="9525" h="22225">
                    <a:moveTo>
                      <a:pt x="0" y="0"/>
                    </a:moveTo>
                    <a:lnTo>
                      <a:pt x="0" y="22225"/>
                    </a:lnTo>
                  </a:path>
                </a:pathLst>
              </a:custGeom>
              <a:noFill/>
              <a:ln w="11112">
                <a:solidFill>
                  <a:srgbClr val="C44E3A"/>
                </a:solidFill>
              </a:ln>
            </p:spPr>
          </p:sp>
          <p:sp>
            <p:nvSpPr>
              <p:cNvPr id="216" name="Freeform 216"/>
              <p:cNvSpPr/>
              <p:nvPr/>
            </p:nvSpPr>
            <p:spPr>
              <a:xfrm>
                <a:off x="2382365" y="4729698"/>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C44E3A"/>
                </a:solidFill>
              </a:ln>
            </p:spPr>
          </p:sp>
          <p:sp>
            <p:nvSpPr>
              <p:cNvPr id="217" name="Freeform 217"/>
              <p:cNvSpPr/>
              <p:nvPr/>
            </p:nvSpPr>
            <p:spPr>
              <a:xfrm>
                <a:off x="2438400" y="4803775"/>
                <a:ext cx="9525" cy="9525"/>
              </a:xfrm>
              <a:custGeom>
                <a:avLst/>
                <a:gdLst/>
                <a:ahLst/>
                <a:cxnLst/>
                <a:rect l="l" t="t" r="r" b="b"/>
                <a:pathLst>
                  <a:path w="9525" h="9525">
                    <a:moveTo>
                      <a:pt x="0" y="0"/>
                    </a:moveTo>
                    <a:lnTo>
                      <a:pt x="56" y="0"/>
                    </a:lnTo>
                  </a:path>
                </a:pathLst>
              </a:custGeom>
              <a:noFill/>
              <a:ln w="11112">
                <a:solidFill>
                  <a:srgbClr val="C44E3A"/>
                </a:solidFill>
              </a:ln>
            </p:spPr>
          </p:sp>
        </p:grpSp>
        <p:sp>
          <p:nvSpPr>
            <p:cNvPr id="219" name="TextBox 219"/>
            <p:cNvSpPr txBox="1"/>
            <p:nvPr/>
          </p:nvSpPr>
          <p:spPr>
            <a:xfrm>
              <a:off x="2624138" y="465439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解析失败</a:t>
              </a:r>
            </a:p>
          </p:txBody>
        </p:sp>
        <p:sp>
          <p:nvSpPr>
            <p:cNvPr id="220" name="TextBox 220"/>
            <p:cNvSpPr txBox="1"/>
            <p:nvPr/>
          </p:nvSpPr>
          <p:spPr>
            <a:xfrm>
              <a:off x="2624138" y="4827032"/>
              <a:ext cx="6600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格式不支持/损坏</a:t>
              </a:r>
            </a:p>
          </p:txBody>
        </p:sp>
        <p:sp>
          <p:nvSpPr>
            <p:cNvPr id="221" name="TextBox 221"/>
            <p:cNvSpPr txBox="1"/>
            <p:nvPr/>
          </p:nvSpPr>
          <p:spPr>
            <a:xfrm>
              <a:off x="2624138" y="4960382"/>
              <a:ext cx="526466"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无法提取内容</a:t>
              </a:r>
            </a:p>
          </p:txBody>
        </p:sp>
      </p:grpSp>
      <p:grpSp>
        <p:nvGrpSpPr>
          <p:cNvPr id="232" name="anomaly-dup"/>
          <p:cNvGrpSpPr/>
          <p:nvPr/>
        </p:nvGrpSpPr>
        <p:grpSpPr>
          <a:xfrm>
            <a:off x="4029075" y="4533900"/>
            <a:ext cx="1714500" cy="723900"/>
            <a:chOff x="4029075" y="4533900"/>
            <a:chExt cx="1714500" cy="723900"/>
          </a:xfrm>
        </p:grpSpPr>
        <p:sp>
          <p:nvSpPr>
            <p:cNvPr id="223" name="Rectangle 223"/>
            <p:cNvSpPr/>
            <p:nvPr/>
          </p:nvSpPr>
          <p:spPr>
            <a:xfrm>
              <a:off x="4029075" y="4533900"/>
              <a:ext cx="1714500" cy="723900"/>
            </a:xfrm>
            <a:prstGeom prst="roundRect">
              <a:avLst>
                <a:gd name="adj" fmla="val 10526"/>
              </a:avLst>
            </a:prstGeom>
            <a:solidFill>
              <a:srgbClr val="FFFFFF"/>
            </a:solidFill>
            <a:ln w="9525">
              <a:solidFill>
                <a:srgbClr val="D9E8C6"/>
              </a:solidFill>
            </a:ln>
          </p:spPr>
        </p:sp>
        <p:sp>
          <p:nvSpPr>
            <p:cNvPr id="224" name="Rectangle 224"/>
            <p:cNvSpPr/>
            <p:nvPr/>
          </p:nvSpPr>
          <p:spPr>
            <a:xfrm>
              <a:off x="4029075" y="4533900"/>
              <a:ext cx="38100" cy="723900"/>
            </a:xfrm>
            <a:prstGeom prst="roundRect">
              <a:avLst>
                <a:gd name="adj" fmla="val 50000"/>
              </a:avLst>
            </a:prstGeom>
            <a:solidFill>
              <a:srgbClr val="C93F27"/>
            </a:solidFill>
            <a:ln>
              <a:noFill/>
            </a:ln>
          </p:spPr>
        </p:sp>
        <p:sp>
          <p:nvSpPr>
            <p:cNvPr id="225" name="Ellipse 225"/>
            <p:cNvSpPr/>
            <p:nvPr/>
          </p:nvSpPr>
          <p:spPr>
            <a:xfrm>
              <a:off x="4152900" y="4657725"/>
              <a:ext cx="247650" cy="247650"/>
            </a:xfrm>
            <a:prstGeom prst="ellipse">
              <a:avLst/>
            </a:prstGeom>
            <a:solidFill>
              <a:srgbClr val="F4F8EC"/>
            </a:solidFill>
            <a:ln w="9525">
              <a:solidFill>
                <a:srgbClr val="C93F27"/>
              </a:solidFill>
            </a:ln>
          </p:spPr>
        </p:sp>
        <p:grpSp>
          <p:nvGrpSpPr>
            <p:cNvPr id="228" name="Group 228"/>
            <p:cNvGrpSpPr/>
            <p:nvPr/>
          </p:nvGrpSpPr>
          <p:grpSpPr>
            <a:xfrm>
              <a:off x="4232275" y="4731544"/>
              <a:ext cx="88900" cy="100012"/>
              <a:chOff x="4232275" y="4731544"/>
              <a:chExt cx="88900" cy="100012"/>
            </a:xfrm>
          </p:grpSpPr>
          <p:sp>
            <p:nvSpPr>
              <p:cNvPr id="226" name="Freeform 226"/>
              <p:cNvSpPr/>
              <p:nvPr/>
            </p:nvSpPr>
            <p:spPr>
              <a:xfrm>
                <a:off x="4232275" y="4731544"/>
                <a:ext cx="88900" cy="50006"/>
              </a:xfrm>
              <a:custGeom>
                <a:avLst/>
                <a:gdLst/>
                <a:ahLst/>
                <a:cxnLst/>
                <a:rect l="l" t="t" r="r" b="b"/>
                <a:pathLst>
                  <a:path w="88900" h="50006">
                    <a:moveTo>
                      <a:pt x="0" y="50006"/>
                    </a:moveTo>
                    <a:lnTo>
                      <a:pt x="0" y="33337"/>
                    </a:lnTo>
                    <a:cubicBezTo>
                      <a:pt x="0" y="24132"/>
                      <a:pt x="7463" y="16669"/>
                      <a:pt x="16669" y="16669"/>
                    </a:cubicBezTo>
                    <a:lnTo>
                      <a:pt x="88900" y="16669"/>
                    </a:lnTo>
                    <a:moveTo>
                      <a:pt x="72231" y="0"/>
                    </a:moveTo>
                    <a:lnTo>
                      <a:pt x="88900" y="16669"/>
                    </a:lnTo>
                    <a:lnTo>
                      <a:pt x="72231" y="33337"/>
                    </a:lnTo>
                  </a:path>
                </a:pathLst>
              </a:custGeom>
              <a:noFill/>
              <a:ln w="11112">
                <a:solidFill>
                  <a:srgbClr val="C93F27"/>
                </a:solidFill>
              </a:ln>
            </p:spPr>
          </p:sp>
          <p:sp>
            <p:nvSpPr>
              <p:cNvPr id="227" name="Freeform 227"/>
              <p:cNvSpPr/>
              <p:nvPr/>
            </p:nvSpPr>
            <p:spPr>
              <a:xfrm>
                <a:off x="4232275" y="4781550"/>
                <a:ext cx="88900" cy="50006"/>
              </a:xfrm>
              <a:custGeom>
                <a:avLst/>
                <a:gdLst/>
                <a:ahLst/>
                <a:cxnLst/>
                <a:rect l="l" t="t" r="r" b="b"/>
                <a:pathLst>
                  <a:path w="88900" h="50006">
                    <a:moveTo>
                      <a:pt x="88900" y="0"/>
                    </a:moveTo>
                    <a:lnTo>
                      <a:pt x="88900" y="16669"/>
                    </a:lnTo>
                    <a:cubicBezTo>
                      <a:pt x="88900" y="25875"/>
                      <a:pt x="81437" y="33337"/>
                      <a:pt x="72231" y="33337"/>
                    </a:cubicBezTo>
                    <a:lnTo>
                      <a:pt x="0" y="33337"/>
                    </a:lnTo>
                    <a:moveTo>
                      <a:pt x="16669" y="50006"/>
                    </a:moveTo>
                    <a:lnTo>
                      <a:pt x="0" y="33337"/>
                    </a:lnTo>
                    <a:lnTo>
                      <a:pt x="16669" y="16669"/>
                    </a:lnTo>
                  </a:path>
                </a:pathLst>
              </a:custGeom>
              <a:noFill/>
              <a:ln w="11112">
                <a:solidFill>
                  <a:srgbClr val="C93F27"/>
                </a:solidFill>
              </a:ln>
            </p:spPr>
          </p:sp>
        </p:grpSp>
        <p:sp>
          <p:nvSpPr>
            <p:cNvPr id="229" name="TextBox 229"/>
            <p:cNvSpPr txBox="1"/>
            <p:nvPr/>
          </p:nvSpPr>
          <p:spPr>
            <a:xfrm>
              <a:off x="4462462" y="465439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重复冲突</a:t>
              </a:r>
            </a:p>
          </p:txBody>
        </p:sp>
        <p:sp>
          <p:nvSpPr>
            <p:cNvPr id="230" name="TextBox 230"/>
            <p:cNvSpPr txBox="1"/>
            <p:nvPr/>
          </p:nvSpPr>
          <p:spPr>
            <a:xfrm>
              <a:off x="4462462" y="4827032"/>
              <a:ext cx="573852"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内容重复/冲突</a:t>
              </a:r>
            </a:p>
          </p:txBody>
        </p:sp>
        <p:sp>
          <p:nvSpPr>
            <p:cNvPr id="231" name="TextBox 231"/>
            <p:cNvSpPr txBox="1"/>
            <p:nvPr/>
          </p:nvSpPr>
          <p:spPr>
            <a:xfrm>
              <a:off x="4462462" y="4960382"/>
              <a:ext cx="4403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去重不确定</a:t>
              </a:r>
            </a:p>
          </p:txBody>
        </p:sp>
      </p:grpSp>
      <p:grpSp>
        <p:nvGrpSpPr>
          <p:cNvPr id="243" name="anomaly-level"/>
          <p:cNvGrpSpPr/>
          <p:nvPr/>
        </p:nvGrpSpPr>
        <p:grpSpPr>
          <a:xfrm>
            <a:off x="5867400" y="4533900"/>
            <a:ext cx="1714500" cy="723900"/>
            <a:chOff x="5867400" y="4533900"/>
            <a:chExt cx="1714500" cy="723900"/>
          </a:xfrm>
        </p:grpSpPr>
        <p:sp>
          <p:nvSpPr>
            <p:cNvPr id="233" name="Rectangle 233"/>
            <p:cNvSpPr/>
            <p:nvPr/>
          </p:nvSpPr>
          <p:spPr>
            <a:xfrm>
              <a:off x="5867400" y="4533900"/>
              <a:ext cx="1714500" cy="723900"/>
            </a:xfrm>
            <a:prstGeom prst="roundRect">
              <a:avLst>
                <a:gd name="adj" fmla="val 10526"/>
              </a:avLst>
            </a:prstGeom>
            <a:solidFill>
              <a:srgbClr val="FFFFFF"/>
            </a:solidFill>
            <a:ln w="9525">
              <a:solidFill>
                <a:srgbClr val="D9E8C6"/>
              </a:solidFill>
            </a:ln>
          </p:spPr>
        </p:sp>
        <p:sp>
          <p:nvSpPr>
            <p:cNvPr id="234" name="Rectangle 234"/>
            <p:cNvSpPr/>
            <p:nvPr/>
          </p:nvSpPr>
          <p:spPr>
            <a:xfrm>
              <a:off x="5867400" y="4533900"/>
              <a:ext cx="38100" cy="723900"/>
            </a:xfrm>
            <a:prstGeom prst="roundRect">
              <a:avLst>
                <a:gd name="adj" fmla="val 50000"/>
              </a:avLst>
            </a:prstGeom>
            <a:solidFill>
              <a:srgbClr val="E82300"/>
            </a:solidFill>
            <a:ln>
              <a:noFill/>
            </a:ln>
          </p:spPr>
        </p:sp>
        <p:sp>
          <p:nvSpPr>
            <p:cNvPr id="235" name="Ellipse 235"/>
            <p:cNvSpPr/>
            <p:nvPr/>
          </p:nvSpPr>
          <p:spPr>
            <a:xfrm>
              <a:off x="5991225" y="4657725"/>
              <a:ext cx="247650" cy="247650"/>
            </a:xfrm>
            <a:prstGeom prst="ellipse">
              <a:avLst/>
            </a:prstGeom>
            <a:solidFill>
              <a:srgbClr val="F4F8EC"/>
            </a:solidFill>
            <a:ln w="9525">
              <a:solidFill>
                <a:srgbClr val="E82300"/>
              </a:solidFill>
            </a:ln>
          </p:spPr>
        </p:sp>
        <p:grpSp>
          <p:nvGrpSpPr>
            <p:cNvPr id="239" name="Group 239"/>
            <p:cNvGrpSpPr/>
            <p:nvPr/>
          </p:nvGrpSpPr>
          <p:grpSpPr>
            <a:xfrm>
              <a:off x="6076156" y="4731544"/>
              <a:ext cx="77787" cy="100012"/>
              <a:chOff x="6076156" y="4731544"/>
              <a:chExt cx="77787" cy="100012"/>
            </a:xfrm>
          </p:grpSpPr>
          <p:sp>
            <p:nvSpPr>
              <p:cNvPr id="236" name="Freeform 236"/>
              <p:cNvSpPr/>
              <p:nvPr/>
            </p:nvSpPr>
            <p:spPr>
              <a:xfrm>
                <a:off x="6076156" y="4775994"/>
                <a:ext cx="77787" cy="55562"/>
              </a:xfrm>
              <a:custGeom>
                <a:avLst/>
                <a:gdLst/>
                <a:ahLst/>
                <a:cxnLst/>
                <a:rect l="l" t="t" r="r" b="b"/>
                <a:pathLst>
                  <a:path w="77787" h="55562">
                    <a:moveTo>
                      <a:pt x="0" y="11112"/>
                    </a:moveTo>
                    <a:cubicBezTo>
                      <a:pt x="0" y="4975"/>
                      <a:pt x="4975" y="0"/>
                      <a:pt x="11112" y="0"/>
                    </a:cubicBezTo>
                    <a:lnTo>
                      <a:pt x="66675" y="0"/>
                    </a:lnTo>
                    <a:cubicBezTo>
                      <a:pt x="72812" y="0"/>
                      <a:pt x="77787" y="4975"/>
                      <a:pt x="77787" y="11112"/>
                    </a:cubicBezTo>
                    <a:lnTo>
                      <a:pt x="77787" y="44450"/>
                    </a:lnTo>
                    <a:cubicBezTo>
                      <a:pt x="77787" y="50587"/>
                      <a:pt x="72812" y="55562"/>
                      <a:pt x="66675" y="55562"/>
                    </a:cubicBezTo>
                    <a:lnTo>
                      <a:pt x="11112" y="55562"/>
                    </a:lnTo>
                    <a:cubicBezTo>
                      <a:pt x="4975" y="55562"/>
                      <a:pt x="0" y="50587"/>
                      <a:pt x="0" y="44450"/>
                    </a:cubicBezTo>
                    <a:lnTo>
                      <a:pt x="0" y="11112"/>
                    </a:lnTo>
                  </a:path>
                </a:pathLst>
              </a:custGeom>
              <a:noFill/>
              <a:ln w="11112">
                <a:solidFill>
                  <a:srgbClr val="E82300"/>
                </a:solidFill>
              </a:ln>
            </p:spPr>
          </p:sp>
          <p:sp>
            <p:nvSpPr>
              <p:cNvPr id="237" name="Freeform 237"/>
              <p:cNvSpPr/>
              <p:nvPr/>
            </p:nvSpPr>
            <p:spPr>
              <a:xfrm>
                <a:off x="6109494" y="47982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E82300"/>
                </a:solidFill>
              </a:ln>
            </p:spPr>
          </p:sp>
          <p:sp>
            <p:nvSpPr>
              <p:cNvPr id="238" name="Freeform 238"/>
              <p:cNvSpPr/>
              <p:nvPr/>
            </p:nvSpPr>
            <p:spPr>
              <a:xfrm>
                <a:off x="6092825" y="4731544"/>
                <a:ext cx="44450" cy="44450"/>
              </a:xfrm>
              <a:custGeom>
                <a:avLst/>
                <a:gdLst/>
                <a:ahLst/>
                <a:cxnLst/>
                <a:rect l="l" t="t" r="r" b="b"/>
                <a:pathLst>
                  <a:path w="44450" h="44450">
                    <a:moveTo>
                      <a:pt x="0" y="44450"/>
                    </a:moveTo>
                    <a:lnTo>
                      <a:pt x="0" y="22225"/>
                    </a:lnTo>
                    <a:cubicBezTo>
                      <a:pt x="0" y="9950"/>
                      <a:pt x="9950" y="0"/>
                      <a:pt x="22225" y="0"/>
                    </a:cubicBezTo>
                    <a:cubicBezTo>
                      <a:pt x="34500" y="0"/>
                      <a:pt x="44450" y="9950"/>
                      <a:pt x="44450" y="22225"/>
                    </a:cubicBezTo>
                    <a:lnTo>
                      <a:pt x="44450" y="44450"/>
                    </a:lnTo>
                  </a:path>
                </a:pathLst>
              </a:custGeom>
              <a:noFill/>
              <a:ln w="11112">
                <a:solidFill>
                  <a:srgbClr val="E82300"/>
                </a:solidFill>
              </a:ln>
            </p:spPr>
          </p:sp>
        </p:grpSp>
        <p:sp>
          <p:nvSpPr>
            <p:cNvPr id="240" name="TextBox 240"/>
            <p:cNvSpPr txBox="1"/>
            <p:nvPr/>
          </p:nvSpPr>
          <p:spPr>
            <a:xfrm>
              <a:off x="6300788" y="465439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密级异常</a:t>
              </a:r>
            </a:p>
          </p:txBody>
        </p:sp>
        <p:sp>
          <p:nvSpPr>
            <p:cNvPr id="241" name="TextBox 241"/>
            <p:cNvSpPr txBox="1"/>
            <p:nvPr/>
          </p:nvSpPr>
          <p:spPr>
            <a:xfrm>
              <a:off x="6300788" y="4827032"/>
              <a:ext cx="526466"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敏感信息命中</a:t>
              </a:r>
            </a:p>
          </p:txBody>
        </p:sp>
        <p:sp>
          <p:nvSpPr>
            <p:cNvPr id="242" name="TextBox 242"/>
            <p:cNvSpPr txBox="1"/>
            <p:nvPr/>
          </p:nvSpPr>
          <p:spPr>
            <a:xfrm>
              <a:off x="6300788" y="4960382"/>
              <a:ext cx="4403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或级别异常</a:t>
              </a:r>
            </a:p>
          </p:txBody>
        </p:sp>
      </p:grpSp>
      <p:grpSp>
        <p:nvGrpSpPr>
          <p:cNvPr id="251" name="anomaly-quality"/>
          <p:cNvGrpSpPr/>
          <p:nvPr/>
        </p:nvGrpSpPr>
        <p:grpSpPr>
          <a:xfrm>
            <a:off x="7705725" y="4533900"/>
            <a:ext cx="1714500" cy="723900"/>
            <a:chOff x="7705725" y="4533900"/>
            <a:chExt cx="1714500" cy="723900"/>
          </a:xfrm>
        </p:grpSpPr>
        <p:sp>
          <p:nvSpPr>
            <p:cNvPr id="244" name="Rectangle 244"/>
            <p:cNvSpPr/>
            <p:nvPr/>
          </p:nvSpPr>
          <p:spPr>
            <a:xfrm>
              <a:off x="7705725" y="4533900"/>
              <a:ext cx="1714500" cy="723900"/>
            </a:xfrm>
            <a:prstGeom prst="roundRect">
              <a:avLst>
                <a:gd name="adj" fmla="val 10526"/>
              </a:avLst>
            </a:prstGeom>
            <a:solidFill>
              <a:srgbClr val="FFFFFF"/>
            </a:solidFill>
            <a:ln w="9525">
              <a:solidFill>
                <a:srgbClr val="D9E8C6"/>
              </a:solidFill>
            </a:ln>
          </p:spPr>
        </p:sp>
        <p:sp>
          <p:nvSpPr>
            <p:cNvPr id="245" name="Rectangle 245"/>
            <p:cNvSpPr/>
            <p:nvPr/>
          </p:nvSpPr>
          <p:spPr>
            <a:xfrm>
              <a:off x="7705725" y="4533900"/>
              <a:ext cx="38100" cy="723900"/>
            </a:xfrm>
            <a:prstGeom prst="roundRect">
              <a:avLst>
                <a:gd name="adj" fmla="val 50000"/>
              </a:avLst>
            </a:prstGeom>
            <a:solidFill>
              <a:srgbClr val="66705F"/>
            </a:solidFill>
            <a:ln>
              <a:noFill/>
            </a:ln>
          </p:spPr>
        </p:sp>
        <p:sp>
          <p:nvSpPr>
            <p:cNvPr id="246" name="Ellipse 246"/>
            <p:cNvSpPr/>
            <p:nvPr/>
          </p:nvSpPr>
          <p:spPr>
            <a:xfrm>
              <a:off x="7829550" y="4657725"/>
              <a:ext cx="247650" cy="247650"/>
            </a:xfrm>
            <a:prstGeom prst="ellipse">
              <a:avLst/>
            </a:prstGeom>
            <a:solidFill>
              <a:srgbClr val="F4F8EC"/>
            </a:solidFill>
            <a:ln w="9525">
              <a:solidFill>
                <a:srgbClr val="66705F"/>
              </a:solidFill>
            </a:ln>
          </p:spPr>
        </p:sp>
        <p:sp>
          <p:nvSpPr>
            <p:cNvPr id="247" name="Freeform 247"/>
            <p:cNvSpPr/>
            <p:nvPr/>
          </p:nvSpPr>
          <p:spPr>
            <a:xfrm>
              <a:off x="7908925" y="4737100"/>
              <a:ext cx="88900" cy="94456"/>
            </a:xfrm>
            <a:custGeom>
              <a:avLst/>
              <a:gdLst/>
              <a:ahLst/>
              <a:cxnLst/>
              <a:rect l="l" t="t" r="r" b="b"/>
              <a:pathLst>
                <a:path w="88900" h="94456">
                  <a:moveTo>
                    <a:pt x="0" y="0"/>
                  </a:moveTo>
                  <a:lnTo>
                    <a:pt x="88900" y="0"/>
                  </a:lnTo>
                  <a:lnTo>
                    <a:pt x="88900" y="12068"/>
                  </a:lnTo>
                  <a:cubicBezTo>
                    <a:pt x="88899" y="15015"/>
                    <a:pt x="87728" y="17841"/>
                    <a:pt x="85644" y="19925"/>
                  </a:cubicBezTo>
                  <a:lnTo>
                    <a:pt x="61119" y="44450"/>
                  </a:lnTo>
                  <a:lnTo>
                    <a:pt x="61119" y="83344"/>
                  </a:lnTo>
                  <a:lnTo>
                    <a:pt x="27781" y="94456"/>
                  </a:lnTo>
                  <a:lnTo>
                    <a:pt x="27781" y="47228"/>
                  </a:lnTo>
                  <a:lnTo>
                    <a:pt x="2889" y="19847"/>
                  </a:lnTo>
                  <a:cubicBezTo>
                    <a:pt x="1030" y="17802"/>
                    <a:pt x="0" y="15137"/>
                    <a:pt x="0" y="12374"/>
                  </a:cubicBezTo>
                  <a:lnTo>
                    <a:pt x="0" y="0"/>
                  </a:lnTo>
                </a:path>
              </a:pathLst>
            </a:custGeom>
            <a:noFill/>
            <a:ln w="11112">
              <a:solidFill>
                <a:srgbClr val="66705F"/>
              </a:solidFill>
            </a:ln>
          </p:spPr>
        </p:sp>
        <p:sp>
          <p:nvSpPr>
            <p:cNvPr id="248" name="TextBox 248"/>
            <p:cNvSpPr txBox="1"/>
            <p:nvPr/>
          </p:nvSpPr>
          <p:spPr>
            <a:xfrm>
              <a:off x="8139112" y="4654391"/>
              <a:ext cx="561467"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低质量内容</a:t>
              </a:r>
            </a:p>
          </p:txBody>
        </p:sp>
        <p:sp>
          <p:nvSpPr>
            <p:cNvPr id="249" name="TextBox 249"/>
            <p:cNvSpPr txBox="1"/>
            <p:nvPr/>
          </p:nvSpPr>
          <p:spPr>
            <a:xfrm>
              <a:off x="8139112" y="4827032"/>
              <a:ext cx="66000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质量不达标/噪声</a:t>
              </a:r>
            </a:p>
          </p:txBody>
        </p:sp>
        <p:sp>
          <p:nvSpPr>
            <p:cNvPr id="250" name="TextBox 250"/>
            <p:cNvSpPr txBox="1"/>
            <p:nvPr/>
          </p:nvSpPr>
          <p:spPr>
            <a:xfrm>
              <a:off x="8139112" y="4960382"/>
              <a:ext cx="354152"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信息不足</a:t>
              </a:r>
            </a:p>
          </p:txBody>
        </p:sp>
      </p:grpSp>
      <p:sp>
        <p:nvSpPr>
          <p:cNvPr id="252" name="Line 252"/>
          <p:cNvSpPr/>
          <p:nvPr/>
        </p:nvSpPr>
        <p:spPr>
          <a:xfrm>
            <a:off x="3048000" y="5257800"/>
            <a:ext cx="1905000" cy="304800"/>
          </a:xfrm>
          <a:prstGeom prst="line">
            <a:avLst/>
          </a:prstGeom>
          <a:noFill/>
          <a:ln w="11430">
            <a:solidFill>
              <a:srgbClr val="9A4B3C"/>
            </a:solidFill>
            <a:prstDash val="dash"/>
            <a:tailEnd type="arrow" w="lg" len="lg"/>
          </a:ln>
        </p:spPr>
      </p:sp>
      <p:sp>
        <p:nvSpPr>
          <p:cNvPr id="253" name="Line 253"/>
          <p:cNvSpPr/>
          <p:nvPr/>
        </p:nvSpPr>
        <p:spPr>
          <a:xfrm>
            <a:off x="4886325" y="5257800"/>
            <a:ext cx="600075" cy="304800"/>
          </a:xfrm>
          <a:prstGeom prst="line">
            <a:avLst/>
          </a:prstGeom>
          <a:noFill/>
          <a:ln w="11430">
            <a:solidFill>
              <a:srgbClr val="9A4B3C"/>
            </a:solidFill>
            <a:prstDash val="dash"/>
            <a:tailEnd type="arrow" w="lg" len="lg"/>
          </a:ln>
        </p:spPr>
      </p:sp>
      <p:sp>
        <p:nvSpPr>
          <p:cNvPr id="254" name="Line 254"/>
          <p:cNvSpPr/>
          <p:nvPr/>
        </p:nvSpPr>
        <p:spPr>
          <a:xfrm flipH="1">
            <a:off x="6705600" y="5257800"/>
            <a:ext cx="19050" cy="304800"/>
          </a:xfrm>
          <a:prstGeom prst="line">
            <a:avLst/>
          </a:prstGeom>
          <a:noFill/>
          <a:ln w="11430">
            <a:solidFill>
              <a:srgbClr val="9A4B3C"/>
            </a:solidFill>
            <a:prstDash val="dash"/>
            <a:tailEnd type="arrow" w="lg" len="lg"/>
          </a:ln>
        </p:spPr>
      </p:sp>
      <p:sp>
        <p:nvSpPr>
          <p:cNvPr id="255" name="Line 255"/>
          <p:cNvSpPr/>
          <p:nvPr/>
        </p:nvSpPr>
        <p:spPr>
          <a:xfrm flipH="1">
            <a:off x="7086600" y="5257800"/>
            <a:ext cx="1476375" cy="304800"/>
          </a:xfrm>
          <a:prstGeom prst="line">
            <a:avLst/>
          </a:prstGeom>
          <a:noFill/>
          <a:ln w="11430">
            <a:solidFill>
              <a:srgbClr val="9A4B3C"/>
            </a:solidFill>
            <a:prstDash val="dash"/>
            <a:tailEnd type="arrow" w="lg" len="lg"/>
          </a:ln>
        </p:spPr>
      </p:sp>
      <p:grpSp>
        <p:nvGrpSpPr>
          <p:cNvPr id="264" name="review-node"/>
          <p:cNvGrpSpPr/>
          <p:nvPr/>
        </p:nvGrpSpPr>
        <p:grpSpPr>
          <a:xfrm>
            <a:off x="4476750" y="5581650"/>
            <a:ext cx="3238500" cy="590550"/>
            <a:chOff x="4476750" y="5581650"/>
            <a:chExt cx="3238500" cy="590550"/>
          </a:xfrm>
        </p:grpSpPr>
        <p:sp>
          <p:nvSpPr>
            <p:cNvPr id="256" name="Rectangle 256"/>
            <p:cNvSpPr/>
            <p:nvPr/>
          </p:nvSpPr>
          <p:spPr>
            <a:xfrm>
              <a:off x="4476750" y="5581650"/>
              <a:ext cx="3238500" cy="590550"/>
            </a:xfrm>
            <a:prstGeom prst="roundRect">
              <a:avLst>
                <a:gd name="adj" fmla="val 16129"/>
              </a:avLst>
            </a:prstGeom>
            <a:solidFill>
              <a:srgbClr val="42140B"/>
            </a:solidFill>
            <a:ln>
              <a:noFill/>
            </a:ln>
          </p:spPr>
        </p:sp>
        <p:sp>
          <p:nvSpPr>
            <p:cNvPr id="257" name="Ellipse 257"/>
            <p:cNvSpPr/>
            <p:nvPr/>
          </p:nvSpPr>
          <p:spPr>
            <a:xfrm>
              <a:off x="4657725" y="5715000"/>
              <a:ext cx="323850" cy="323850"/>
            </a:xfrm>
            <a:prstGeom prst="ellipse">
              <a:avLst/>
            </a:prstGeom>
            <a:solidFill>
              <a:srgbClr val="643228"/>
            </a:solidFill>
            <a:ln>
              <a:noFill/>
            </a:ln>
          </p:spPr>
        </p:sp>
        <p:grpSp>
          <p:nvGrpSpPr>
            <p:cNvPr id="261" name="Group 261"/>
            <p:cNvGrpSpPr/>
            <p:nvPr/>
          </p:nvGrpSpPr>
          <p:grpSpPr>
            <a:xfrm>
              <a:off x="4767263" y="5798344"/>
              <a:ext cx="130969" cy="157163"/>
              <a:chOff x="4767263" y="5798344"/>
              <a:chExt cx="130969" cy="157163"/>
            </a:xfrm>
          </p:grpSpPr>
          <p:sp>
            <p:nvSpPr>
              <p:cNvPr id="258" name="Freeform 258"/>
              <p:cNvSpPr/>
              <p:nvPr/>
            </p:nvSpPr>
            <p:spPr>
              <a:xfrm>
                <a:off x="4784725" y="57983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259" name="Freeform 259"/>
              <p:cNvSpPr/>
              <p:nvPr/>
            </p:nvSpPr>
            <p:spPr>
              <a:xfrm>
                <a:off x="4767263" y="590311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FFFFFF"/>
                </a:solidFill>
              </a:ln>
            </p:spPr>
          </p:sp>
          <p:sp>
            <p:nvSpPr>
              <p:cNvPr id="260" name="Freeform 260"/>
              <p:cNvSpPr/>
              <p:nvPr/>
            </p:nvSpPr>
            <p:spPr>
              <a:xfrm>
                <a:off x="4845844" y="5920581"/>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262" name="TextBox 262"/>
            <p:cNvSpPr txBox="1"/>
            <p:nvPr/>
          </p:nvSpPr>
          <p:spPr>
            <a:xfrm>
              <a:off x="5119497" y="57430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人工复核</a:t>
              </a:r>
            </a:p>
          </p:txBody>
        </p:sp>
        <p:sp>
          <p:nvSpPr>
            <p:cNvPr id="263" name="TextBox 263"/>
            <p:cNvSpPr txBox="1"/>
            <p:nvPr/>
          </p:nvSpPr>
          <p:spPr>
            <a:xfrm>
              <a:off x="5119688" y="5961936"/>
              <a:ext cx="1295079" cy="140494"/>
            </a:xfrm>
            <a:prstGeom prst="rect">
              <a:avLst/>
            </a:prstGeom>
            <a:noFill/>
            <a:ln>
              <a:noFill/>
            </a:ln>
          </p:spPr>
          <p:txBody>
            <a:bodyPr wrap="none" lIns="0" tIns="0" rIns="0" bIns="0" anchor="t" anchorCtr="0">
              <a:spAutoFit/>
            </a:bodyPr>
            <a:lstStyle/>
            <a:p>
              <a:pPr algn="l"/>
              <a:r>
                <a:rPr lang="zh-CN" sz="710" dirty="0">
                  <a:solidFill>
                    <a:srgbClr val="E4B7AF"/>
                  </a:solidFill>
                  <a:latin typeface="+mn-lt"/>
                  <a:ea typeface="+mn-ea"/>
                  <a:cs typeface="+mn-cs"/>
                </a:rPr>
                <a:t>判定 / 修正 / 补充 / 重新处理</a:t>
              </a:r>
            </a:p>
          </p:txBody>
        </p:sp>
      </p:grpSp>
      <p:grpSp>
        <p:nvGrpSpPr>
          <p:cNvPr id="295" name="metrics-band"/>
          <p:cNvGrpSpPr/>
          <p:nvPr/>
        </p:nvGrpSpPr>
        <p:grpSpPr>
          <a:xfrm>
            <a:off x="228600" y="6267450"/>
            <a:ext cx="11715750" cy="419100"/>
            <a:chOff x="228600" y="6267450"/>
            <a:chExt cx="11715750" cy="419100"/>
          </a:xfrm>
        </p:grpSpPr>
        <p:sp>
          <p:nvSpPr>
            <p:cNvPr id="265" name="Rectangle 265"/>
            <p:cNvSpPr/>
            <p:nvPr/>
          </p:nvSpPr>
          <p:spPr>
            <a:xfrm>
              <a:off x="228600" y="6267450"/>
              <a:ext cx="1047750" cy="419100"/>
            </a:xfrm>
            <a:prstGeom prst="roundRect">
              <a:avLst>
                <a:gd name="adj" fmla="val 18182"/>
              </a:avLst>
            </a:prstGeom>
            <a:solidFill>
              <a:srgbClr val="42140B"/>
            </a:solidFill>
            <a:ln>
              <a:noFill/>
            </a:ln>
          </p:spPr>
        </p:sp>
        <p:sp>
          <p:nvSpPr>
            <p:cNvPr id="266" name="TextBox 266"/>
            <p:cNvSpPr txBox="1"/>
            <p:nvPr/>
          </p:nvSpPr>
          <p:spPr>
            <a:xfrm>
              <a:off x="483667" y="64288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运营指标</a:t>
              </a:r>
            </a:p>
          </p:txBody>
        </p:sp>
        <p:sp>
          <p:nvSpPr>
            <p:cNvPr id="267" name="Rectangle 267"/>
            <p:cNvSpPr/>
            <p:nvPr/>
          </p:nvSpPr>
          <p:spPr>
            <a:xfrm>
              <a:off x="1428750" y="6267450"/>
              <a:ext cx="2571750" cy="419100"/>
            </a:xfrm>
            <a:prstGeom prst="roundRect">
              <a:avLst>
                <a:gd name="adj" fmla="val 50000"/>
              </a:avLst>
            </a:prstGeom>
            <a:solidFill>
              <a:srgbClr val="F4F8EC"/>
            </a:solidFill>
            <a:ln w="9525">
              <a:solidFill>
                <a:srgbClr val="D9E8C6"/>
              </a:solidFill>
            </a:ln>
          </p:spPr>
        </p:sp>
        <p:grpSp>
          <p:nvGrpSpPr>
            <p:cNvPr id="270" name="Group 270"/>
            <p:cNvGrpSpPr/>
            <p:nvPr/>
          </p:nvGrpSpPr>
          <p:grpSpPr>
            <a:xfrm>
              <a:off x="1602581" y="6441281"/>
              <a:ext cx="128588" cy="71438"/>
              <a:chOff x="1602581" y="6441281"/>
              <a:chExt cx="128588" cy="71438"/>
            </a:xfrm>
          </p:grpSpPr>
          <p:sp>
            <p:nvSpPr>
              <p:cNvPr id="268" name="Freeform 268"/>
              <p:cNvSpPr/>
              <p:nvPr/>
            </p:nvSpPr>
            <p:spPr>
              <a:xfrm>
                <a:off x="1602581" y="6441281"/>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7C3B2F"/>
                </a:solidFill>
              </a:ln>
            </p:spPr>
          </p:sp>
          <p:sp>
            <p:nvSpPr>
              <p:cNvPr id="269" name="Freeform 269"/>
              <p:cNvSpPr/>
              <p:nvPr/>
            </p:nvSpPr>
            <p:spPr>
              <a:xfrm>
                <a:off x="1681162" y="6441281"/>
                <a:ext cx="50006" cy="50006"/>
              </a:xfrm>
              <a:custGeom>
                <a:avLst/>
                <a:gdLst/>
                <a:ahLst/>
                <a:cxnLst/>
                <a:rect l="l" t="t" r="r" b="b"/>
                <a:pathLst>
                  <a:path w="50006" h="50006">
                    <a:moveTo>
                      <a:pt x="0" y="0"/>
                    </a:moveTo>
                    <a:lnTo>
                      <a:pt x="50006" y="0"/>
                    </a:lnTo>
                    <a:lnTo>
                      <a:pt x="50006" y="50006"/>
                    </a:lnTo>
                  </a:path>
                </a:pathLst>
              </a:custGeom>
              <a:noFill/>
              <a:ln w="14288">
                <a:solidFill>
                  <a:srgbClr val="7C3B2F"/>
                </a:solidFill>
              </a:ln>
            </p:spPr>
          </p:sp>
        </p:grpSp>
        <p:sp>
          <p:nvSpPr>
            <p:cNvPr id="271" name="TextBox 271"/>
            <p:cNvSpPr txBox="1"/>
            <p:nvPr/>
          </p:nvSpPr>
          <p:spPr>
            <a:xfrm>
              <a:off x="1843088" y="6353889"/>
              <a:ext cx="1076213"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 xml:space="preserve">ingestion success　</a:t>
              </a:r>
            </a:p>
          </p:txBody>
        </p:sp>
        <p:sp>
          <p:nvSpPr>
            <p:cNvPr id="272" name="TextBox 272"/>
            <p:cNvSpPr txBox="1"/>
            <p:nvPr/>
          </p:nvSpPr>
          <p:spPr>
            <a:xfrm>
              <a:off x="1843088" y="6514386"/>
              <a:ext cx="487426"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接入成功率</a:t>
              </a:r>
            </a:p>
          </p:txBody>
        </p:sp>
        <p:sp>
          <p:nvSpPr>
            <p:cNvPr id="273" name="Rectangle 273"/>
            <p:cNvSpPr/>
            <p:nvPr/>
          </p:nvSpPr>
          <p:spPr>
            <a:xfrm>
              <a:off x="4076700" y="6267450"/>
              <a:ext cx="2571750" cy="419100"/>
            </a:xfrm>
            <a:prstGeom prst="roundRect">
              <a:avLst>
                <a:gd name="adj" fmla="val 50000"/>
              </a:avLst>
            </a:prstGeom>
            <a:solidFill>
              <a:srgbClr val="F4F8EC"/>
            </a:solidFill>
            <a:ln w="9525">
              <a:solidFill>
                <a:srgbClr val="D9E8C6"/>
              </a:solidFill>
            </a:ln>
          </p:spPr>
        </p:sp>
        <p:grpSp>
          <p:nvGrpSpPr>
            <p:cNvPr id="276" name="Group 276"/>
            <p:cNvGrpSpPr/>
            <p:nvPr/>
          </p:nvGrpSpPr>
          <p:grpSpPr>
            <a:xfrm>
              <a:off x="4250531" y="6412706"/>
              <a:ext cx="128588" cy="128588"/>
              <a:chOff x="4250531" y="6412706"/>
              <a:chExt cx="128588" cy="128588"/>
            </a:xfrm>
          </p:grpSpPr>
          <p:sp>
            <p:nvSpPr>
              <p:cNvPr id="274" name="Freeform 274"/>
              <p:cNvSpPr/>
              <p:nvPr/>
            </p:nvSpPr>
            <p:spPr>
              <a:xfrm>
                <a:off x="4250531" y="64127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C3B2F"/>
                </a:solidFill>
              </a:ln>
            </p:spPr>
          </p:sp>
          <p:sp>
            <p:nvSpPr>
              <p:cNvPr id="275" name="Freeform 275"/>
              <p:cNvSpPr/>
              <p:nvPr/>
            </p:nvSpPr>
            <p:spPr>
              <a:xfrm>
                <a:off x="4314825" y="6441281"/>
                <a:ext cx="21431" cy="57150"/>
              </a:xfrm>
              <a:custGeom>
                <a:avLst/>
                <a:gdLst/>
                <a:ahLst/>
                <a:cxnLst/>
                <a:rect l="l" t="t" r="r" b="b"/>
                <a:pathLst>
                  <a:path w="21431" h="57150">
                    <a:moveTo>
                      <a:pt x="0" y="0"/>
                    </a:moveTo>
                    <a:lnTo>
                      <a:pt x="0" y="35719"/>
                    </a:lnTo>
                    <a:lnTo>
                      <a:pt x="21431" y="57150"/>
                    </a:lnTo>
                  </a:path>
                </a:pathLst>
              </a:custGeom>
              <a:noFill/>
              <a:ln w="14288">
                <a:solidFill>
                  <a:srgbClr val="7C3B2F"/>
                </a:solidFill>
              </a:ln>
            </p:spPr>
          </p:sp>
        </p:grpSp>
        <p:sp>
          <p:nvSpPr>
            <p:cNvPr id="277" name="TextBox 277"/>
            <p:cNvSpPr txBox="1"/>
            <p:nvPr/>
          </p:nvSpPr>
          <p:spPr>
            <a:xfrm>
              <a:off x="4491038" y="6353889"/>
              <a:ext cx="897282"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 xml:space="preserve">freshness SLA　</a:t>
              </a:r>
            </a:p>
          </p:txBody>
        </p:sp>
        <p:sp>
          <p:nvSpPr>
            <p:cNvPr id="278" name="TextBox 278"/>
            <p:cNvSpPr txBox="1"/>
            <p:nvPr/>
          </p:nvSpPr>
          <p:spPr>
            <a:xfrm>
              <a:off x="4491038" y="6514386"/>
              <a:ext cx="296266"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新鲜度</a:t>
              </a:r>
            </a:p>
          </p:txBody>
        </p:sp>
        <p:sp>
          <p:nvSpPr>
            <p:cNvPr id="279" name="Rectangle 279"/>
            <p:cNvSpPr/>
            <p:nvPr/>
          </p:nvSpPr>
          <p:spPr>
            <a:xfrm>
              <a:off x="6724650" y="6267450"/>
              <a:ext cx="2571750" cy="419100"/>
            </a:xfrm>
            <a:prstGeom prst="roundRect">
              <a:avLst>
                <a:gd name="adj" fmla="val 50000"/>
              </a:avLst>
            </a:prstGeom>
            <a:solidFill>
              <a:srgbClr val="F4F8EC"/>
            </a:solidFill>
            <a:ln w="9525">
              <a:solidFill>
                <a:srgbClr val="D9E8C6"/>
              </a:solidFill>
            </a:ln>
          </p:spPr>
        </p:sp>
        <p:grpSp>
          <p:nvGrpSpPr>
            <p:cNvPr id="282" name="Group 282"/>
            <p:cNvGrpSpPr/>
            <p:nvPr/>
          </p:nvGrpSpPr>
          <p:grpSpPr>
            <a:xfrm>
              <a:off x="6905625" y="6412706"/>
              <a:ext cx="114300" cy="128588"/>
              <a:chOff x="6905625" y="6412706"/>
              <a:chExt cx="114300" cy="128588"/>
            </a:xfrm>
          </p:grpSpPr>
          <p:sp>
            <p:nvSpPr>
              <p:cNvPr id="280" name="Freeform 280"/>
              <p:cNvSpPr/>
              <p:nvPr/>
            </p:nvSpPr>
            <p:spPr>
              <a:xfrm>
                <a:off x="6905625" y="6412706"/>
                <a:ext cx="114300" cy="64294"/>
              </a:xfrm>
              <a:custGeom>
                <a:avLst/>
                <a:gdLst/>
                <a:ahLst/>
                <a:cxnLst/>
                <a:rect l="l" t="t" r="r" b="b"/>
                <a:pathLst>
                  <a:path w="114300" h="64294">
                    <a:moveTo>
                      <a:pt x="0" y="64294"/>
                    </a:moveTo>
                    <a:lnTo>
                      <a:pt x="0" y="42862"/>
                    </a:lnTo>
                    <a:cubicBezTo>
                      <a:pt x="0" y="31026"/>
                      <a:pt x="9595" y="21431"/>
                      <a:pt x="21431" y="21431"/>
                    </a:cubicBezTo>
                    <a:lnTo>
                      <a:pt x="114300" y="21431"/>
                    </a:lnTo>
                    <a:moveTo>
                      <a:pt x="92869" y="0"/>
                    </a:moveTo>
                    <a:lnTo>
                      <a:pt x="114300" y="21431"/>
                    </a:lnTo>
                    <a:lnTo>
                      <a:pt x="92869" y="42862"/>
                    </a:lnTo>
                  </a:path>
                </a:pathLst>
              </a:custGeom>
              <a:noFill/>
              <a:ln w="14288">
                <a:solidFill>
                  <a:srgbClr val="7C3B2F"/>
                </a:solidFill>
              </a:ln>
            </p:spPr>
          </p:sp>
          <p:sp>
            <p:nvSpPr>
              <p:cNvPr id="281" name="Freeform 281"/>
              <p:cNvSpPr/>
              <p:nvPr/>
            </p:nvSpPr>
            <p:spPr>
              <a:xfrm>
                <a:off x="6905625" y="6477000"/>
                <a:ext cx="114300" cy="64294"/>
              </a:xfrm>
              <a:custGeom>
                <a:avLst/>
                <a:gdLst/>
                <a:ahLst/>
                <a:cxnLst/>
                <a:rect l="l" t="t" r="r" b="b"/>
                <a:pathLst>
                  <a:path w="114300" h="64294">
                    <a:moveTo>
                      <a:pt x="114300" y="0"/>
                    </a:moveTo>
                    <a:lnTo>
                      <a:pt x="114300" y="21431"/>
                    </a:lnTo>
                    <a:cubicBezTo>
                      <a:pt x="114300" y="33267"/>
                      <a:pt x="104705" y="42862"/>
                      <a:pt x="92869" y="42862"/>
                    </a:cubicBezTo>
                    <a:lnTo>
                      <a:pt x="0" y="42862"/>
                    </a:lnTo>
                    <a:moveTo>
                      <a:pt x="21431" y="64294"/>
                    </a:moveTo>
                    <a:lnTo>
                      <a:pt x="0" y="42862"/>
                    </a:lnTo>
                    <a:lnTo>
                      <a:pt x="21431" y="21431"/>
                    </a:lnTo>
                  </a:path>
                </a:pathLst>
              </a:custGeom>
              <a:noFill/>
              <a:ln w="14288">
                <a:solidFill>
                  <a:srgbClr val="7C3B2F"/>
                </a:solidFill>
              </a:ln>
            </p:spPr>
          </p:sp>
        </p:grpSp>
        <p:sp>
          <p:nvSpPr>
            <p:cNvPr id="283" name="TextBox 283"/>
            <p:cNvSpPr txBox="1"/>
            <p:nvPr/>
          </p:nvSpPr>
          <p:spPr>
            <a:xfrm>
              <a:off x="7138988" y="6353889"/>
              <a:ext cx="891962"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 xml:space="preserve">duplicate rate　</a:t>
              </a:r>
            </a:p>
          </p:txBody>
        </p:sp>
        <p:sp>
          <p:nvSpPr>
            <p:cNvPr id="284" name="TextBox 284"/>
            <p:cNvSpPr txBox="1"/>
            <p:nvPr/>
          </p:nvSpPr>
          <p:spPr>
            <a:xfrm>
              <a:off x="7138988" y="6514386"/>
              <a:ext cx="296266"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重复率</a:t>
              </a:r>
            </a:p>
          </p:txBody>
        </p:sp>
        <p:sp>
          <p:nvSpPr>
            <p:cNvPr id="285" name="Rectangle 285"/>
            <p:cNvSpPr/>
            <p:nvPr/>
          </p:nvSpPr>
          <p:spPr>
            <a:xfrm>
              <a:off x="9372600" y="6267450"/>
              <a:ext cx="2571750" cy="419100"/>
            </a:xfrm>
            <a:prstGeom prst="roundRect">
              <a:avLst>
                <a:gd name="adj" fmla="val 50000"/>
              </a:avLst>
            </a:prstGeom>
            <a:solidFill>
              <a:srgbClr val="F4F8EC"/>
            </a:solidFill>
            <a:ln w="9525">
              <a:solidFill>
                <a:srgbClr val="D9E8C6"/>
              </a:solidFill>
            </a:ln>
          </p:spPr>
        </p:sp>
        <p:grpSp>
          <p:nvGrpSpPr>
            <p:cNvPr id="292" name="Group 292"/>
            <p:cNvGrpSpPr/>
            <p:nvPr/>
          </p:nvGrpSpPr>
          <p:grpSpPr>
            <a:xfrm>
              <a:off x="9550003" y="6423422"/>
              <a:ext cx="117872" cy="105965"/>
              <a:chOff x="9550003" y="6423422"/>
              <a:chExt cx="117872" cy="105965"/>
            </a:xfrm>
          </p:grpSpPr>
          <p:sp>
            <p:nvSpPr>
              <p:cNvPr id="286" name="Freeform 286"/>
              <p:cNvSpPr/>
              <p:nvPr/>
            </p:nvSpPr>
            <p:spPr>
              <a:xfrm>
                <a:off x="9550003" y="6423422"/>
                <a:ext cx="28575" cy="17859"/>
              </a:xfrm>
              <a:custGeom>
                <a:avLst/>
                <a:gdLst/>
                <a:ahLst/>
                <a:cxnLst/>
                <a:rect l="l" t="t" r="r" b="b"/>
                <a:pathLst>
                  <a:path w="28575" h="17859">
                    <a:moveTo>
                      <a:pt x="0" y="7144"/>
                    </a:moveTo>
                    <a:lnTo>
                      <a:pt x="10716" y="17859"/>
                    </a:lnTo>
                    <a:lnTo>
                      <a:pt x="28575" y="0"/>
                    </a:lnTo>
                  </a:path>
                </a:pathLst>
              </a:custGeom>
              <a:noFill/>
              <a:ln w="14288">
                <a:solidFill>
                  <a:srgbClr val="7C3B2F"/>
                </a:solidFill>
              </a:ln>
            </p:spPr>
          </p:sp>
          <p:sp>
            <p:nvSpPr>
              <p:cNvPr id="287" name="Freeform 287"/>
              <p:cNvSpPr/>
              <p:nvPr/>
            </p:nvSpPr>
            <p:spPr>
              <a:xfrm>
                <a:off x="9550003" y="6466284"/>
                <a:ext cx="28575" cy="17859"/>
              </a:xfrm>
              <a:custGeom>
                <a:avLst/>
                <a:gdLst/>
                <a:ahLst/>
                <a:cxnLst/>
                <a:rect l="l" t="t" r="r" b="b"/>
                <a:pathLst>
                  <a:path w="28575" h="17859">
                    <a:moveTo>
                      <a:pt x="0" y="7144"/>
                    </a:moveTo>
                    <a:lnTo>
                      <a:pt x="10716" y="17859"/>
                    </a:lnTo>
                    <a:lnTo>
                      <a:pt x="28575" y="0"/>
                    </a:lnTo>
                  </a:path>
                </a:pathLst>
              </a:custGeom>
              <a:noFill/>
              <a:ln w="14288">
                <a:solidFill>
                  <a:srgbClr val="7C3B2F"/>
                </a:solidFill>
              </a:ln>
            </p:spPr>
          </p:sp>
          <p:sp>
            <p:nvSpPr>
              <p:cNvPr id="288" name="Freeform 288"/>
              <p:cNvSpPr/>
              <p:nvPr/>
            </p:nvSpPr>
            <p:spPr>
              <a:xfrm>
                <a:off x="9550003" y="6509147"/>
                <a:ext cx="28575" cy="17859"/>
              </a:xfrm>
              <a:custGeom>
                <a:avLst/>
                <a:gdLst/>
                <a:ahLst/>
                <a:cxnLst/>
                <a:rect l="l" t="t" r="r" b="b"/>
                <a:pathLst>
                  <a:path w="28575" h="17859">
                    <a:moveTo>
                      <a:pt x="0" y="7144"/>
                    </a:moveTo>
                    <a:lnTo>
                      <a:pt x="10716" y="17859"/>
                    </a:lnTo>
                    <a:lnTo>
                      <a:pt x="28575" y="0"/>
                    </a:lnTo>
                  </a:path>
                </a:pathLst>
              </a:custGeom>
              <a:noFill/>
              <a:ln w="14288">
                <a:solidFill>
                  <a:srgbClr val="7C3B2F"/>
                </a:solidFill>
              </a:ln>
            </p:spPr>
          </p:sp>
          <p:sp>
            <p:nvSpPr>
              <p:cNvPr id="289" name="Freeform 289"/>
              <p:cNvSpPr/>
              <p:nvPr/>
            </p:nvSpPr>
            <p:spPr>
              <a:xfrm>
                <a:off x="9603581" y="6434138"/>
                <a:ext cx="64294" cy="9525"/>
              </a:xfrm>
              <a:custGeom>
                <a:avLst/>
                <a:gdLst/>
                <a:ahLst/>
                <a:cxnLst/>
                <a:rect l="l" t="t" r="r" b="b"/>
                <a:pathLst>
                  <a:path w="64294" h="9525">
                    <a:moveTo>
                      <a:pt x="0" y="0"/>
                    </a:moveTo>
                    <a:lnTo>
                      <a:pt x="64294" y="0"/>
                    </a:lnTo>
                  </a:path>
                </a:pathLst>
              </a:custGeom>
              <a:noFill/>
              <a:ln w="14288">
                <a:solidFill>
                  <a:srgbClr val="7C3B2F"/>
                </a:solidFill>
              </a:ln>
            </p:spPr>
          </p:sp>
          <p:sp>
            <p:nvSpPr>
              <p:cNvPr id="290" name="Freeform 290"/>
              <p:cNvSpPr/>
              <p:nvPr/>
            </p:nvSpPr>
            <p:spPr>
              <a:xfrm>
                <a:off x="9603581" y="6477000"/>
                <a:ext cx="64294" cy="9525"/>
              </a:xfrm>
              <a:custGeom>
                <a:avLst/>
                <a:gdLst/>
                <a:ahLst/>
                <a:cxnLst/>
                <a:rect l="l" t="t" r="r" b="b"/>
                <a:pathLst>
                  <a:path w="64294" h="9525">
                    <a:moveTo>
                      <a:pt x="0" y="0"/>
                    </a:moveTo>
                    <a:lnTo>
                      <a:pt x="64294" y="0"/>
                    </a:lnTo>
                  </a:path>
                </a:pathLst>
              </a:custGeom>
              <a:noFill/>
              <a:ln w="14288">
                <a:solidFill>
                  <a:srgbClr val="7C3B2F"/>
                </a:solidFill>
              </a:ln>
            </p:spPr>
          </p:sp>
          <p:sp>
            <p:nvSpPr>
              <p:cNvPr id="291" name="Freeform 291"/>
              <p:cNvSpPr/>
              <p:nvPr/>
            </p:nvSpPr>
            <p:spPr>
              <a:xfrm>
                <a:off x="9603581" y="6519862"/>
                <a:ext cx="64294" cy="9525"/>
              </a:xfrm>
              <a:custGeom>
                <a:avLst/>
                <a:gdLst/>
                <a:ahLst/>
                <a:cxnLst/>
                <a:rect l="l" t="t" r="r" b="b"/>
                <a:pathLst>
                  <a:path w="64294" h="9525">
                    <a:moveTo>
                      <a:pt x="0" y="0"/>
                    </a:moveTo>
                    <a:lnTo>
                      <a:pt x="64294" y="0"/>
                    </a:lnTo>
                  </a:path>
                </a:pathLst>
              </a:custGeom>
              <a:noFill/>
              <a:ln w="14288">
                <a:solidFill>
                  <a:srgbClr val="7C3B2F"/>
                </a:solidFill>
              </a:ln>
            </p:spPr>
          </p:sp>
        </p:grpSp>
        <p:sp>
          <p:nvSpPr>
            <p:cNvPr id="293" name="TextBox 293"/>
            <p:cNvSpPr txBox="1"/>
            <p:nvPr/>
          </p:nvSpPr>
          <p:spPr>
            <a:xfrm>
              <a:off x="9786938" y="6353889"/>
              <a:ext cx="1394465"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 xml:space="preserve">metadata completeness　</a:t>
              </a:r>
            </a:p>
          </p:txBody>
        </p:sp>
        <p:sp>
          <p:nvSpPr>
            <p:cNvPr id="294" name="TextBox 294"/>
            <p:cNvSpPr txBox="1"/>
            <p:nvPr/>
          </p:nvSpPr>
          <p:spPr>
            <a:xfrm>
              <a:off x="9786938" y="6514386"/>
              <a:ext cx="583006" cy="140494"/>
            </a:xfrm>
            <a:prstGeom prst="rect">
              <a:avLst/>
            </a:prstGeom>
            <a:noFill/>
            <a:ln>
              <a:noFill/>
            </a:ln>
          </p:spPr>
          <p:txBody>
            <a:bodyPr wrap="none" lIns="0" tIns="0" rIns="0" bIns="0" anchor="t" anchorCtr="0">
              <a:spAutoFit/>
            </a:bodyPr>
            <a:lstStyle/>
            <a:p>
              <a:pPr algn="l"/>
              <a:r>
                <a:rPr lang="zh-CN" sz="710" dirty="0">
                  <a:solidFill>
                    <a:srgbClr val="66705F"/>
                  </a:solidFill>
                  <a:latin typeface="+mn-lt"/>
                  <a:ea typeface="+mn-ea"/>
                  <a:cs typeface="+mn-cs"/>
                </a:rPr>
                <a:t>元数据完整度</a:t>
              </a:r>
            </a:p>
          </p:txBody>
        </p:sp>
      </p:gr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07</a:t>
              </a:r>
            </a:p>
          </p:txBody>
        </p:sp>
        <p:sp>
          <p:nvSpPr>
            <p:cNvPr id="4" name="TextBox 4"/>
            <p:cNvSpPr txBox="1"/>
            <p:nvPr/>
          </p:nvSpPr>
          <p:spPr>
            <a:xfrm>
              <a:off x="942594" y="151448"/>
              <a:ext cx="782910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统一分类体系与知识图谱，让机器理解“同一件事”的</a:t>
              </a:r>
              <a:r>
                <a:rPr lang="zh-CN" sz="1950" b="1" dirty="0">
                  <a:solidFill>
                    <a:srgbClr val="7C3B2F"/>
                  </a:solidFill>
                  <a:latin typeface="SimSun"/>
                  <a:ea typeface="SimSun"/>
                  <a:cs typeface="SimSun"/>
                </a:rPr>
                <a:t>业务上下文</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93" name="taxonomy-tree"/>
          <p:cNvGrpSpPr/>
          <p:nvPr/>
        </p:nvGrpSpPr>
        <p:grpSpPr>
          <a:xfrm>
            <a:off x="285750" y="666750"/>
            <a:ext cx="3449765" cy="3209925"/>
            <a:chOff x="285750" y="666750"/>
            <a:chExt cx="3449765" cy="3209925"/>
          </a:xfrm>
        </p:grpSpPr>
        <p:sp>
          <p:nvSpPr>
            <p:cNvPr id="7" name="Rectangle 7"/>
            <p:cNvSpPr/>
            <p:nvPr/>
          </p:nvSpPr>
          <p:spPr>
            <a:xfrm>
              <a:off x="285750" y="666750"/>
              <a:ext cx="1809750" cy="228600"/>
            </a:xfrm>
            <a:prstGeom prst="roundRect">
              <a:avLst>
                <a:gd name="adj" fmla="val 25000"/>
              </a:avLst>
            </a:prstGeom>
            <a:solidFill>
              <a:srgbClr val="42140B"/>
            </a:solidFill>
            <a:ln>
              <a:noFill/>
            </a:ln>
          </p:spPr>
        </p:sp>
        <p:sp>
          <p:nvSpPr>
            <p:cNvPr id="8" name="TextBox 8"/>
            <p:cNvSpPr txBox="1"/>
            <p:nvPr/>
          </p:nvSpPr>
          <p:spPr>
            <a:xfrm>
              <a:off x="580072" y="731520"/>
              <a:ext cx="122110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统一分类体系（三级）</a:t>
              </a:r>
            </a:p>
          </p:txBody>
        </p:sp>
        <p:sp>
          <p:nvSpPr>
            <p:cNvPr id="9" name="TextBox 9"/>
            <p:cNvSpPr txBox="1"/>
            <p:nvPr/>
          </p:nvSpPr>
          <p:spPr>
            <a:xfrm>
              <a:off x="796290" y="966788"/>
              <a:ext cx="312420" cy="147638"/>
            </a:xfrm>
            <a:prstGeom prst="rect">
              <a:avLst/>
            </a:prstGeom>
            <a:noFill/>
            <a:ln>
              <a:noFill/>
            </a:ln>
          </p:spPr>
          <p:txBody>
            <a:bodyPr wrap="none" lIns="0" tIns="0" rIns="0" bIns="0" anchor="t" anchorCtr="0">
              <a:spAutoFit/>
            </a:bodyPr>
            <a:lstStyle/>
            <a:p>
              <a:pPr algn="ctr"/>
              <a:r>
                <a:rPr lang="zh-CN" sz="750" b="1" dirty="0">
                  <a:solidFill>
                    <a:srgbClr val="7C3B2F"/>
                  </a:solidFill>
                  <a:latin typeface="+mn-lt"/>
                  <a:ea typeface="+mn-ea"/>
                  <a:cs typeface="+mn-cs"/>
                </a:rPr>
                <a:t>业务域</a:t>
              </a:r>
            </a:p>
          </p:txBody>
        </p:sp>
        <p:sp>
          <p:nvSpPr>
            <p:cNvPr id="10" name="tree-arr-1"/>
            <p:cNvSpPr/>
            <p:nvPr/>
          </p:nvSpPr>
          <p:spPr>
            <a:xfrm>
              <a:off x="1524000" y="971550"/>
              <a:ext cx="114300" cy="76200"/>
            </a:xfrm>
            <a:custGeom>
              <a:avLst/>
              <a:gdLst/>
              <a:ahLst/>
              <a:cxnLst/>
              <a:rect l="l" t="t" r="r" b="b"/>
              <a:pathLst>
                <a:path w="114300" h="76200">
                  <a:moveTo>
                    <a:pt x="0" y="0"/>
                  </a:moveTo>
                  <a:lnTo>
                    <a:pt x="114300" y="38100"/>
                  </a:lnTo>
                  <a:lnTo>
                    <a:pt x="0" y="76200"/>
                  </a:lnTo>
                  <a:close/>
                </a:path>
              </a:pathLst>
            </a:custGeom>
            <a:solidFill>
              <a:srgbClr val="BE776A"/>
            </a:solidFill>
            <a:ln>
              <a:noFill/>
            </a:ln>
          </p:spPr>
        </p:sp>
        <p:sp>
          <p:nvSpPr>
            <p:cNvPr id="11" name="TextBox 11"/>
            <p:cNvSpPr txBox="1"/>
            <p:nvPr/>
          </p:nvSpPr>
          <p:spPr>
            <a:xfrm>
              <a:off x="2065972" y="966788"/>
              <a:ext cx="211455" cy="147638"/>
            </a:xfrm>
            <a:prstGeom prst="rect">
              <a:avLst/>
            </a:prstGeom>
            <a:noFill/>
            <a:ln>
              <a:noFill/>
            </a:ln>
          </p:spPr>
          <p:txBody>
            <a:bodyPr wrap="none" lIns="0" tIns="0" rIns="0" bIns="0" anchor="t" anchorCtr="0">
              <a:spAutoFit/>
            </a:bodyPr>
            <a:lstStyle/>
            <a:p>
              <a:pPr algn="ctr"/>
              <a:r>
                <a:rPr lang="zh-CN" sz="750" b="1" dirty="0">
                  <a:solidFill>
                    <a:srgbClr val="7C3B2F"/>
                  </a:solidFill>
                  <a:latin typeface="+mn-lt"/>
                  <a:ea typeface="+mn-ea"/>
                  <a:cs typeface="+mn-cs"/>
                </a:rPr>
                <a:t>主题</a:t>
              </a:r>
            </a:p>
          </p:txBody>
        </p:sp>
        <p:sp>
          <p:nvSpPr>
            <p:cNvPr id="12" name="tree-arr-2"/>
            <p:cNvSpPr/>
            <p:nvPr/>
          </p:nvSpPr>
          <p:spPr>
            <a:xfrm>
              <a:off x="2743200" y="971550"/>
              <a:ext cx="114300" cy="76200"/>
            </a:xfrm>
            <a:custGeom>
              <a:avLst/>
              <a:gdLst/>
              <a:ahLst/>
              <a:cxnLst/>
              <a:rect l="l" t="t" r="r" b="b"/>
              <a:pathLst>
                <a:path w="114300" h="76200">
                  <a:moveTo>
                    <a:pt x="0" y="0"/>
                  </a:moveTo>
                  <a:lnTo>
                    <a:pt x="114300" y="38100"/>
                  </a:lnTo>
                  <a:lnTo>
                    <a:pt x="0" y="76200"/>
                  </a:lnTo>
                  <a:close/>
                </a:path>
              </a:pathLst>
            </a:custGeom>
            <a:solidFill>
              <a:srgbClr val="BE776A"/>
            </a:solidFill>
            <a:ln>
              <a:noFill/>
            </a:ln>
          </p:spPr>
        </p:sp>
        <p:sp>
          <p:nvSpPr>
            <p:cNvPr id="13" name="TextBox 13"/>
            <p:cNvSpPr txBox="1"/>
            <p:nvPr/>
          </p:nvSpPr>
          <p:spPr>
            <a:xfrm>
              <a:off x="3184208" y="966788"/>
              <a:ext cx="413385" cy="147638"/>
            </a:xfrm>
            <a:prstGeom prst="rect">
              <a:avLst/>
            </a:prstGeom>
            <a:noFill/>
            <a:ln>
              <a:noFill/>
            </a:ln>
          </p:spPr>
          <p:txBody>
            <a:bodyPr wrap="none" lIns="0" tIns="0" rIns="0" bIns="0" anchor="t" anchorCtr="0">
              <a:spAutoFit/>
            </a:bodyPr>
            <a:lstStyle/>
            <a:p>
              <a:pPr algn="ctr"/>
              <a:r>
                <a:rPr lang="zh-CN" sz="750" b="1" dirty="0">
                  <a:solidFill>
                    <a:srgbClr val="7C3B2F"/>
                  </a:solidFill>
                  <a:latin typeface="+mn-lt"/>
                  <a:ea typeface="+mn-ea"/>
                  <a:cs typeface="+mn-cs"/>
                </a:rPr>
                <a:t>知识类型</a:t>
              </a:r>
            </a:p>
          </p:txBody>
        </p:sp>
        <p:grpSp>
          <p:nvGrpSpPr>
            <p:cNvPr id="24" name="tree-domain-1"/>
            <p:cNvGrpSpPr/>
            <p:nvPr/>
          </p:nvGrpSpPr>
          <p:grpSpPr>
            <a:xfrm>
              <a:off x="285750" y="1104900"/>
              <a:ext cx="3449765" cy="438150"/>
              <a:chOff x="285750" y="1104900"/>
              <a:chExt cx="3449765" cy="438150"/>
            </a:xfrm>
          </p:grpSpPr>
          <p:sp>
            <p:nvSpPr>
              <p:cNvPr id="14" name="Rectangle 14"/>
              <p:cNvSpPr/>
              <p:nvPr/>
            </p:nvSpPr>
            <p:spPr>
              <a:xfrm>
                <a:off x="285750" y="1104900"/>
                <a:ext cx="1238250" cy="438150"/>
              </a:xfrm>
              <a:prstGeom prst="roundRect">
                <a:avLst>
                  <a:gd name="adj" fmla="val 13043"/>
                </a:avLst>
              </a:prstGeom>
              <a:solidFill>
                <a:srgbClr val="F4F8EC"/>
              </a:solidFill>
              <a:ln w="9525">
                <a:solidFill>
                  <a:srgbClr val="D9E8C6"/>
                </a:solidFill>
              </a:ln>
            </p:spPr>
          </p:sp>
          <p:grpSp>
            <p:nvGrpSpPr>
              <p:cNvPr id="19" name="Group 19"/>
              <p:cNvGrpSpPr/>
              <p:nvPr/>
            </p:nvGrpSpPr>
            <p:grpSpPr>
              <a:xfrm>
                <a:off x="397669" y="1273969"/>
                <a:ext cx="100012" cy="100012"/>
                <a:chOff x="397669" y="1273969"/>
                <a:chExt cx="100012" cy="100012"/>
              </a:xfrm>
            </p:grpSpPr>
            <p:sp>
              <p:nvSpPr>
                <p:cNvPr id="15" name="Freeform 15"/>
                <p:cNvSpPr/>
                <p:nvPr/>
              </p:nvSpPr>
              <p:spPr>
                <a:xfrm>
                  <a:off x="408781" y="12739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7C3B2F"/>
                  </a:solidFill>
                </a:ln>
              </p:spPr>
            </p:sp>
            <p:sp>
              <p:nvSpPr>
                <p:cNvPr id="16" name="Freeform 16"/>
                <p:cNvSpPr/>
                <p:nvPr/>
              </p:nvSpPr>
              <p:spPr>
                <a:xfrm>
                  <a:off x="397669" y="13406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7C3B2F"/>
                  </a:solidFill>
                </a:ln>
              </p:spPr>
            </p:sp>
            <p:sp>
              <p:nvSpPr>
                <p:cNvPr id="17" name="Freeform 17"/>
                <p:cNvSpPr/>
                <p:nvPr/>
              </p:nvSpPr>
              <p:spPr>
                <a:xfrm>
                  <a:off x="469900" y="12746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7C3B2F"/>
                  </a:solidFill>
                </a:ln>
              </p:spPr>
            </p:sp>
            <p:sp>
              <p:nvSpPr>
                <p:cNvPr id="18" name="Freeform 18"/>
                <p:cNvSpPr/>
                <p:nvPr/>
              </p:nvSpPr>
              <p:spPr>
                <a:xfrm>
                  <a:off x="481012" y="13414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7C3B2F"/>
                  </a:solidFill>
                </a:ln>
              </p:spPr>
            </p:sp>
          </p:grpSp>
          <p:sp>
            <p:nvSpPr>
              <p:cNvPr id="20" name="TextBox 20"/>
              <p:cNvSpPr txBox="1"/>
              <p:nvPr/>
            </p:nvSpPr>
            <p:spPr>
              <a:xfrm>
                <a:off x="585788" y="1290638"/>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客户经营</a:t>
                </a:r>
              </a:p>
            </p:txBody>
          </p:sp>
          <p:sp>
            <p:nvSpPr>
              <p:cNvPr id="21" name="Rectangle 21"/>
              <p:cNvSpPr/>
              <p:nvPr/>
            </p:nvSpPr>
            <p:spPr>
              <a:xfrm>
                <a:off x="1581150" y="1104900"/>
                <a:ext cx="800100" cy="438150"/>
              </a:xfrm>
              <a:prstGeom prst="roundRect">
                <a:avLst>
                  <a:gd name="adj" fmla="val 13043"/>
                </a:avLst>
              </a:prstGeom>
              <a:solidFill>
                <a:srgbClr val="F4F8EC"/>
              </a:solidFill>
              <a:ln w="9525">
                <a:solidFill>
                  <a:srgbClr val="D9E8C6"/>
                </a:solidFill>
              </a:ln>
            </p:spPr>
          </p:sp>
          <p:sp>
            <p:nvSpPr>
              <p:cNvPr id="22" name="TextBox 22"/>
              <p:cNvSpPr txBox="1"/>
              <p:nvPr/>
            </p:nvSpPr>
            <p:spPr>
              <a:xfrm>
                <a:off x="1804124" y="12932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客户管理</a:t>
                </a:r>
              </a:p>
            </p:txBody>
          </p:sp>
          <p:sp>
            <p:nvSpPr>
              <p:cNvPr id="23" name="TextBox 23"/>
              <p:cNvSpPr txBox="1"/>
              <p:nvPr/>
            </p:nvSpPr>
            <p:spPr>
              <a:xfrm>
                <a:off x="2433638" y="1293257"/>
                <a:ext cx="130187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客户档案、客户画像、客户分级　</a:t>
                </a:r>
              </a:p>
            </p:txBody>
          </p:sp>
        </p:grpSp>
        <p:grpSp>
          <p:nvGrpSpPr>
            <p:cNvPr id="37" name="tree-domain-2"/>
            <p:cNvGrpSpPr/>
            <p:nvPr/>
          </p:nvGrpSpPr>
          <p:grpSpPr>
            <a:xfrm>
              <a:off x="285750" y="1571625"/>
              <a:ext cx="3449765" cy="438150"/>
              <a:chOff x="285750" y="1571625"/>
              <a:chExt cx="3449765" cy="438150"/>
            </a:xfrm>
          </p:grpSpPr>
          <p:sp>
            <p:nvSpPr>
              <p:cNvPr id="25" name="Rectangle 25"/>
              <p:cNvSpPr/>
              <p:nvPr/>
            </p:nvSpPr>
            <p:spPr>
              <a:xfrm>
                <a:off x="285750" y="1571625"/>
                <a:ext cx="1238250" cy="438150"/>
              </a:xfrm>
              <a:prstGeom prst="roundRect">
                <a:avLst>
                  <a:gd name="adj" fmla="val 13043"/>
                </a:avLst>
              </a:prstGeom>
              <a:solidFill>
                <a:srgbClr val="FFFFFF"/>
              </a:solidFill>
              <a:ln w="9525">
                <a:solidFill>
                  <a:srgbClr val="D9E8C6"/>
                </a:solidFill>
              </a:ln>
            </p:spPr>
          </p:sp>
          <p:grpSp>
            <p:nvGrpSpPr>
              <p:cNvPr id="30" name="Group 30"/>
              <p:cNvGrpSpPr/>
              <p:nvPr/>
            </p:nvGrpSpPr>
            <p:grpSpPr>
              <a:xfrm>
                <a:off x="397669" y="1740694"/>
                <a:ext cx="100012" cy="94456"/>
                <a:chOff x="397669" y="1740694"/>
                <a:chExt cx="100012" cy="94456"/>
              </a:xfrm>
            </p:grpSpPr>
            <p:sp>
              <p:nvSpPr>
                <p:cNvPr id="26" name="Freeform 26"/>
                <p:cNvSpPr/>
                <p:nvPr/>
              </p:nvSpPr>
              <p:spPr>
                <a:xfrm>
                  <a:off x="397669" y="1762919"/>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7C3B2F"/>
                  </a:solidFill>
                </a:ln>
              </p:spPr>
            </p:sp>
            <p:sp>
              <p:nvSpPr>
                <p:cNvPr id="27" name="Freeform 27"/>
                <p:cNvSpPr/>
                <p:nvPr/>
              </p:nvSpPr>
              <p:spPr>
                <a:xfrm>
                  <a:off x="425450" y="1740694"/>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7C3B2F"/>
                  </a:solidFill>
                </a:ln>
              </p:spPr>
            </p:sp>
            <p:sp>
              <p:nvSpPr>
                <p:cNvPr id="28" name="Freeform 28"/>
                <p:cNvSpPr/>
                <p:nvPr/>
              </p:nvSpPr>
              <p:spPr>
                <a:xfrm>
                  <a:off x="447675" y="1790700"/>
                  <a:ext cx="9525" cy="9525"/>
                </a:xfrm>
                <a:custGeom>
                  <a:avLst/>
                  <a:gdLst/>
                  <a:ahLst/>
                  <a:cxnLst/>
                  <a:rect l="l" t="t" r="r" b="b"/>
                  <a:pathLst>
                    <a:path w="9525" h="9525">
                      <a:moveTo>
                        <a:pt x="0" y="0"/>
                      </a:moveTo>
                      <a:lnTo>
                        <a:pt x="0" y="56"/>
                      </a:lnTo>
                    </a:path>
                  </a:pathLst>
                </a:custGeom>
                <a:noFill/>
                <a:ln w="11112">
                  <a:solidFill>
                    <a:srgbClr val="7C3B2F"/>
                  </a:solidFill>
                </a:ln>
              </p:spPr>
            </p:sp>
            <p:sp>
              <p:nvSpPr>
                <p:cNvPr id="29" name="Freeform 29"/>
                <p:cNvSpPr/>
                <p:nvPr/>
              </p:nvSpPr>
              <p:spPr>
                <a:xfrm>
                  <a:off x="397669" y="1796256"/>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7C3B2F"/>
                  </a:solidFill>
                </a:ln>
              </p:spPr>
            </p:sp>
          </p:grpSp>
          <p:sp>
            <p:nvSpPr>
              <p:cNvPr id="31" name="TextBox 31"/>
              <p:cNvSpPr txBox="1"/>
              <p:nvPr/>
            </p:nvSpPr>
            <p:spPr>
              <a:xfrm>
                <a:off x="585788" y="1757362"/>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产品与服务</a:t>
                </a:r>
              </a:p>
            </p:txBody>
          </p:sp>
          <p:sp>
            <p:nvSpPr>
              <p:cNvPr id="32" name="Rectangle 32"/>
              <p:cNvSpPr/>
              <p:nvPr/>
            </p:nvSpPr>
            <p:spPr>
              <a:xfrm>
                <a:off x="1581150" y="1571625"/>
                <a:ext cx="800100" cy="438150"/>
              </a:xfrm>
              <a:prstGeom prst="roundRect">
                <a:avLst>
                  <a:gd name="adj" fmla="val 13043"/>
                </a:avLst>
              </a:prstGeom>
              <a:solidFill>
                <a:srgbClr val="F4F8EC"/>
              </a:solidFill>
              <a:ln w="9525">
                <a:solidFill>
                  <a:srgbClr val="D9E8C6"/>
                </a:solidFill>
              </a:ln>
            </p:spPr>
          </p:sp>
          <p:sp>
            <p:nvSpPr>
              <p:cNvPr id="33" name="TextBox 33"/>
              <p:cNvSpPr txBox="1"/>
              <p:nvPr/>
            </p:nvSpPr>
            <p:spPr>
              <a:xfrm>
                <a:off x="1804124" y="1664732"/>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产品管理</a:t>
                </a:r>
              </a:p>
            </p:txBody>
          </p:sp>
          <p:sp>
            <p:nvSpPr>
              <p:cNvPr id="34" name="TextBox 34"/>
              <p:cNvSpPr txBox="1"/>
              <p:nvPr/>
            </p:nvSpPr>
            <p:spPr>
              <a:xfrm>
                <a:off x="1804124" y="1836182"/>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服务管理</a:t>
                </a:r>
              </a:p>
            </p:txBody>
          </p:sp>
          <p:sp>
            <p:nvSpPr>
              <p:cNvPr id="35" name="TextBox 35"/>
              <p:cNvSpPr txBox="1"/>
              <p:nvPr/>
            </p:nvSpPr>
            <p:spPr>
              <a:xfrm>
                <a:off x="2433638" y="1664732"/>
                <a:ext cx="130187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产品定义、规格参数、定价信息　</a:t>
                </a:r>
              </a:p>
            </p:txBody>
          </p:sp>
          <p:sp>
            <p:nvSpPr>
              <p:cNvPr id="36" name="TextBox 36"/>
              <p:cNvSpPr txBox="1"/>
              <p:nvPr/>
            </p:nvSpPr>
            <p:spPr>
              <a:xfrm>
                <a:off x="2433638" y="1836182"/>
                <a:ext cx="1107455"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服务目录、SLA、服务评价　</a:t>
                </a:r>
              </a:p>
            </p:txBody>
          </p:sp>
        </p:grpSp>
        <p:grpSp>
          <p:nvGrpSpPr>
            <p:cNvPr id="51" name="tree-domain-3"/>
            <p:cNvGrpSpPr/>
            <p:nvPr/>
          </p:nvGrpSpPr>
          <p:grpSpPr>
            <a:xfrm>
              <a:off x="285750" y="2038350"/>
              <a:ext cx="3449765" cy="438150"/>
              <a:chOff x="285750" y="2038350"/>
              <a:chExt cx="3449765" cy="438150"/>
            </a:xfrm>
          </p:grpSpPr>
          <p:sp>
            <p:nvSpPr>
              <p:cNvPr id="38" name="Rectangle 38"/>
              <p:cNvSpPr/>
              <p:nvPr/>
            </p:nvSpPr>
            <p:spPr>
              <a:xfrm>
                <a:off x="285750" y="2038350"/>
                <a:ext cx="1238250" cy="438150"/>
              </a:xfrm>
              <a:prstGeom prst="roundRect">
                <a:avLst>
                  <a:gd name="adj" fmla="val 13043"/>
                </a:avLst>
              </a:prstGeom>
              <a:solidFill>
                <a:srgbClr val="F4F8EC"/>
              </a:solidFill>
              <a:ln w="9525">
                <a:solidFill>
                  <a:srgbClr val="D9E8C6"/>
                </a:solidFill>
              </a:ln>
            </p:spPr>
          </p:sp>
          <p:grpSp>
            <p:nvGrpSpPr>
              <p:cNvPr id="44" name="Group 44"/>
              <p:cNvGrpSpPr/>
              <p:nvPr/>
            </p:nvGrpSpPr>
            <p:grpSpPr>
              <a:xfrm>
                <a:off x="408781" y="2207419"/>
                <a:ext cx="77787" cy="100012"/>
                <a:chOff x="408781" y="2207419"/>
                <a:chExt cx="77787" cy="100012"/>
              </a:xfrm>
            </p:grpSpPr>
            <p:sp>
              <p:nvSpPr>
                <p:cNvPr id="39" name="Freeform 39"/>
                <p:cNvSpPr/>
                <p:nvPr/>
              </p:nvSpPr>
              <p:spPr>
                <a:xfrm>
                  <a:off x="458787" y="220741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7C3B2F"/>
                  </a:solidFill>
                </a:ln>
              </p:spPr>
            </p:sp>
            <p:sp>
              <p:nvSpPr>
                <p:cNvPr id="40" name="Freeform 40"/>
                <p:cNvSpPr/>
                <p:nvPr/>
              </p:nvSpPr>
              <p:spPr>
                <a:xfrm>
                  <a:off x="408781" y="220741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7C3B2F"/>
                  </a:solidFill>
                </a:ln>
              </p:spPr>
            </p:sp>
            <p:sp>
              <p:nvSpPr>
                <p:cNvPr id="41" name="Freeform 41"/>
                <p:cNvSpPr/>
                <p:nvPr/>
              </p:nvSpPr>
              <p:spPr>
                <a:xfrm>
                  <a:off x="431006" y="2240756"/>
                  <a:ext cx="9525" cy="9525"/>
                </a:xfrm>
                <a:custGeom>
                  <a:avLst/>
                  <a:gdLst/>
                  <a:ahLst/>
                  <a:cxnLst/>
                  <a:rect l="l" t="t" r="r" b="b"/>
                  <a:pathLst>
                    <a:path w="9525" h="9525">
                      <a:moveTo>
                        <a:pt x="0" y="0"/>
                      </a:moveTo>
                      <a:lnTo>
                        <a:pt x="5556" y="0"/>
                      </a:lnTo>
                    </a:path>
                  </a:pathLst>
                </a:custGeom>
                <a:noFill/>
                <a:ln w="11112">
                  <a:solidFill>
                    <a:srgbClr val="7C3B2F"/>
                  </a:solidFill>
                </a:ln>
              </p:spPr>
            </p:sp>
            <p:sp>
              <p:nvSpPr>
                <p:cNvPr id="42" name="Freeform 42"/>
                <p:cNvSpPr/>
                <p:nvPr/>
              </p:nvSpPr>
              <p:spPr>
                <a:xfrm>
                  <a:off x="431006" y="2262981"/>
                  <a:ext cx="33337" cy="9525"/>
                </a:xfrm>
                <a:custGeom>
                  <a:avLst/>
                  <a:gdLst/>
                  <a:ahLst/>
                  <a:cxnLst/>
                  <a:rect l="l" t="t" r="r" b="b"/>
                  <a:pathLst>
                    <a:path w="33337" h="9525">
                      <a:moveTo>
                        <a:pt x="0" y="0"/>
                      </a:moveTo>
                      <a:lnTo>
                        <a:pt x="33337" y="0"/>
                      </a:lnTo>
                    </a:path>
                  </a:pathLst>
                </a:custGeom>
                <a:noFill/>
                <a:ln w="11112">
                  <a:solidFill>
                    <a:srgbClr val="7C3B2F"/>
                  </a:solidFill>
                </a:ln>
              </p:spPr>
            </p:sp>
            <p:sp>
              <p:nvSpPr>
                <p:cNvPr id="43" name="Freeform 43"/>
                <p:cNvSpPr/>
                <p:nvPr/>
              </p:nvSpPr>
              <p:spPr>
                <a:xfrm>
                  <a:off x="431006" y="2285206"/>
                  <a:ext cx="33337" cy="9525"/>
                </a:xfrm>
                <a:custGeom>
                  <a:avLst/>
                  <a:gdLst/>
                  <a:ahLst/>
                  <a:cxnLst/>
                  <a:rect l="l" t="t" r="r" b="b"/>
                  <a:pathLst>
                    <a:path w="33337" h="9525">
                      <a:moveTo>
                        <a:pt x="0" y="0"/>
                      </a:moveTo>
                      <a:lnTo>
                        <a:pt x="33337" y="0"/>
                      </a:lnTo>
                    </a:path>
                  </a:pathLst>
                </a:custGeom>
                <a:noFill/>
                <a:ln w="11112">
                  <a:solidFill>
                    <a:srgbClr val="7C3B2F"/>
                  </a:solidFill>
                </a:ln>
              </p:spPr>
            </p:sp>
          </p:grpSp>
          <p:sp>
            <p:nvSpPr>
              <p:cNvPr id="45" name="TextBox 45"/>
              <p:cNvSpPr txBox="1"/>
              <p:nvPr/>
            </p:nvSpPr>
            <p:spPr>
              <a:xfrm>
                <a:off x="585788" y="2224088"/>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合同与交易</a:t>
                </a:r>
              </a:p>
            </p:txBody>
          </p:sp>
          <p:sp>
            <p:nvSpPr>
              <p:cNvPr id="46" name="Rectangle 46"/>
              <p:cNvSpPr/>
              <p:nvPr/>
            </p:nvSpPr>
            <p:spPr>
              <a:xfrm>
                <a:off x="1581150" y="2038350"/>
                <a:ext cx="800100" cy="438150"/>
              </a:xfrm>
              <a:prstGeom prst="roundRect">
                <a:avLst>
                  <a:gd name="adj" fmla="val 13043"/>
                </a:avLst>
              </a:prstGeom>
              <a:solidFill>
                <a:srgbClr val="F4F8EC"/>
              </a:solidFill>
              <a:ln w="9525">
                <a:solidFill>
                  <a:srgbClr val="D9E8C6"/>
                </a:solidFill>
              </a:ln>
            </p:spPr>
          </p:sp>
          <p:sp>
            <p:nvSpPr>
              <p:cNvPr id="47" name="TextBox 47"/>
              <p:cNvSpPr txBox="1"/>
              <p:nvPr/>
            </p:nvSpPr>
            <p:spPr>
              <a:xfrm>
                <a:off x="1804124" y="21314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合同管理</a:t>
                </a:r>
              </a:p>
            </p:txBody>
          </p:sp>
          <p:sp>
            <p:nvSpPr>
              <p:cNvPr id="48" name="TextBox 48"/>
              <p:cNvSpPr txBox="1"/>
              <p:nvPr/>
            </p:nvSpPr>
            <p:spPr>
              <a:xfrm>
                <a:off x="1804124" y="23029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订单管理</a:t>
                </a:r>
              </a:p>
            </p:txBody>
          </p:sp>
          <p:sp>
            <p:nvSpPr>
              <p:cNvPr id="49" name="TextBox 49"/>
              <p:cNvSpPr txBox="1"/>
              <p:nvPr/>
            </p:nvSpPr>
            <p:spPr>
              <a:xfrm>
                <a:off x="2433638" y="2131457"/>
                <a:ext cx="130187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合同文本、合同台账、合同附件　</a:t>
                </a:r>
              </a:p>
            </p:txBody>
          </p:sp>
          <p:sp>
            <p:nvSpPr>
              <p:cNvPr id="50" name="TextBox 50"/>
              <p:cNvSpPr txBox="1"/>
              <p:nvPr/>
            </p:nvSpPr>
            <p:spPr>
              <a:xfrm>
                <a:off x="2433638" y="2302907"/>
                <a:ext cx="130187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订单信息、订单明细、履约状态　</a:t>
                </a:r>
              </a:p>
            </p:txBody>
          </p:sp>
        </p:grpSp>
        <p:grpSp>
          <p:nvGrpSpPr>
            <p:cNvPr id="64" name="tree-domain-4"/>
            <p:cNvGrpSpPr/>
            <p:nvPr/>
          </p:nvGrpSpPr>
          <p:grpSpPr>
            <a:xfrm>
              <a:off x="285750" y="2505075"/>
              <a:ext cx="3449765" cy="438150"/>
              <a:chOff x="285750" y="2505075"/>
              <a:chExt cx="3449765" cy="438150"/>
            </a:xfrm>
          </p:grpSpPr>
          <p:sp>
            <p:nvSpPr>
              <p:cNvPr id="52" name="Rectangle 52"/>
              <p:cNvSpPr/>
              <p:nvPr/>
            </p:nvSpPr>
            <p:spPr>
              <a:xfrm>
                <a:off x="285750" y="2505075"/>
                <a:ext cx="1238250" cy="438150"/>
              </a:xfrm>
              <a:prstGeom prst="roundRect">
                <a:avLst>
                  <a:gd name="adj" fmla="val 13043"/>
                </a:avLst>
              </a:prstGeom>
              <a:solidFill>
                <a:srgbClr val="FFFFFF"/>
              </a:solidFill>
              <a:ln w="9525">
                <a:solidFill>
                  <a:srgbClr val="D9E8C6"/>
                </a:solidFill>
              </a:ln>
            </p:spPr>
          </p:sp>
          <p:grpSp>
            <p:nvGrpSpPr>
              <p:cNvPr id="57" name="Group 57"/>
              <p:cNvGrpSpPr/>
              <p:nvPr/>
            </p:nvGrpSpPr>
            <p:grpSpPr>
              <a:xfrm>
                <a:off x="408781" y="2679700"/>
                <a:ext cx="83343" cy="94456"/>
                <a:chOff x="408781" y="2679700"/>
                <a:chExt cx="83343" cy="94456"/>
              </a:xfrm>
            </p:grpSpPr>
            <p:sp>
              <p:nvSpPr>
                <p:cNvPr id="53" name="Freeform 53"/>
                <p:cNvSpPr/>
                <p:nvPr/>
              </p:nvSpPr>
              <p:spPr>
                <a:xfrm>
                  <a:off x="408781" y="2679700"/>
                  <a:ext cx="66675" cy="88900"/>
                </a:xfrm>
                <a:custGeom>
                  <a:avLst/>
                  <a:gdLst/>
                  <a:ahLst/>
                  <a:cxnLst/>
                  <a:rect l="l" t="t" r="r" b="b"/>
                  <a:pathLst>
                    <a:path w="66675" h="88900">
                      <a:moveTo>
                        <a:pt x="25642" y="88900"/>
                      </a:moveTo>
                      <a:lnTo>
                        <a:pt x="11112" y="88900"/>
                      </a:lnTo>
                      <a:cubicBezTo>
                        <a:pt x="4975" y="88900"/>
                        <a:pt x="0" y="83925"/>
                        <a:pt x="0" y="77787"/>
                      </a:cubicBezTo>
                      <a:lnTo>
                        <a:pt x="0" y="11112"/>
                      </a:lnTo>
                      <a:cubicBezTo>
                        <a:pt x="0" y="4975"/>
                        <a:pt x="4975" y="0"/>
                        <a:pt x="11112" y="0"/>
                      </a:cubicBezTo>
                      <a:lnTo>
                        <a:pt x="55562" y="0"/>
                      </a:lnTo>
                      <a:cubicBezTo>
                        <a:pt x="61700" y="0"/>
                        <a:pt x="66675" y="4975"/>
                        <a:pt x="66675" y="11112"/>
                      </a:cubicBezTo>
                      <a:lnTo>
                        <a:pt x="66675" y="55562"/>
                      </a:lnTo>
                    </a:path>
                  </a:pathLst>
                </a:custGeom>
                <a:noFill/>
                <a:ln w="11112">
                  <a:solidFill>
                    <a:srgbClr val="7C3B2F"/>
                  </a:solidFill>
                </a:ln>
              </p:spPr>
            </p:sp>
            <p:sp>
              <p:nvSpPr>
                <p:cNvPr id="54" name="Freeform 54"/>
                <p:cNvSpPr/>
                <p:nvPr/>
              </p:nvSpPr>
              <p:spPr>
                <a:xfrm>
                  <a:off x="458787" y="2751931"/>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sp>
              <p:nvSpPr>
                <p:cNvPr id="55" name="Freeform 55"/>
                <p:cNvSpPr/>
                <p:nvPr/>
              </p:nvSpPr>
              <p:spPr>
                <a:xfrm>
                  <a:off x="431006" y="2701925"/>
                  <a:ext cx="22225" cy="9525"/>
                </a:xfrm>
                <a:custGeom>
                  <a:avLst/>
                  <a:gdLst/>
                  <a:ahLst/>
                  <a:cxnLst/>
                  <a:rect l="l" t="t" r="r" b="b"/>
                  <a:pathLst>
                    <a:path w="22225" h="9525">
                      <a:moveTo>
                        <a:pt x="0" y="0"/>
                      </a:moveTo>
                      <a:lnTo>
                        <a:pt x="22225" y="0"/>
                      </a:lnTo>
                    </a:path>
                  </a:pathLst>
                </a:custGeom>
                <a:noFill/>
                <a:ln w="11112">
                  <a:solidFill>
                    <a:srgbClr val="7C3B2F"/>
                  </a:solidFill>
                </a:ln>
              </p:spPr>
            </p:sp>
            <p:sp>
              <p:nvSpPr>
                <p:cNvPr id="56" name="Freeform 56"/>
                <p:cNvSpPr/>
                <p:nvPr/>
              </p:nvSpPr>
              <p:spPr>
                <a:xfrm>
                  <a:off x="431006" y="2724150"/>
                  <a:ext cx="11112" cy="9525"/>
                </a:xfrm>
                <a:custGeom>
                  <a:avLst/>
                  <a:gdLst/>
                  <a:ahLst/>
                  <a:cxnLst/>
                  <a:rect l="l" t="t" r="r" b="b"/>
                  <a:pathLst>
                    <a:path w="11112" h="9525">
                      <a:moveTo>
                        <a:pt x="0" y="0"/>
                      </a:moveTo>
                      <a:lnTo>
                        <a:pt x="11112" y="0"/>
                      </a:lnTo>
                    </a:path>
                  </a:pathLst>
                </a:custGeom>
                <a:noFill/>
                <a:ln w="11112">
                  <a:solidFill>
                    <a:srgbClr val="7C3B2F"/>
                  </a:solidFill>
                </a:ln>
              </p:spPr>
            </p:sp>
          </p:grpSp>
          <p:sp>
            <p:nvSpPr>
              <p:cNvPr id="58" name="TextBox 58"/>
              <p:cNvSpPr txBox="1"/>
              <p:nvPr/>
            </p:nvSpPr>
            <p:spPr>
              <a:xfrm>
                <a:off x="585788" y="2690812"/>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项目与交付</a:t>
                </a:r>
              </a:p>
            </p:txBody>
          </p:sp>
          <p:sp>
            <p:nvSpPr>
              <p:cNvPr id="59" name="Rectangle 59"/>
              <p:cNvSpPr/>
              <p:nvPr/>
            </p:nvSpPr>
            <p:spPr>
              <a:xfrm>
                <a:off x="1581150" y="2505075"/>
                <a:ext cx="800100" cy="438150"/>
              </a:xfrm>
              <a:prstGeom prst="roundRect">
                <a:avLst>
                  <a:gd name="adj" fmla="val 13043"/>
                </a:avLst>
              </a:prstGeom>
              <a:solidFill>
                <a:srgbClr val="F4F8EC"/>
              </a:solidFill>
              <a:ln w="9525">
                <a:solidFill>
                  <a:srgbClr val="D9E8C6"/>
                </a:solidFill>
              </a:ln>
            </p:spPr>
          </p:sp>
          <p:sp>
            <p:nvSpPr>
              <p:cNvPr id="60" name="TextBox 60"/>
              <p:cNvSpPr txBox="1"/>
              <p:nvPr/>
            </p:nvSpPr>
            <p:spPr>
              <a:xfrm>
                <a:off x="1804124" y="2598182"/>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项目管理</a:t>
                </a:r>
              </a:p>
            </p:txBody>
          </p:sp>
          <p:sp>
            <p:nvSpPr>
              <p:cNvPr id="61" name="TextBox 61"/>
              <p:cNvSpPr txBox="1"/>
              <p:nvPr/>
            </p:nvSpPr>
            <p:spPr>
              <a:xfrm>
                <a:off x="1761046" y="2769632"/>
                <a:ext cx="44030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里程碑管理</a:t>
                </a:r>
              </a:p>
            </p:txBody>
          </p:sp>
          <p:sp>
            <p:nvSpPr>
              <p:cNvPr id="62" name="TextBox 62"/>
              <p:cNvSpPr txBox="1"/>
              <p:nvPr/>
            </p:nvSpPr>
            <p:spPr>
              <a:xfrm>
                <a:off x="2433638" y="2598182"/>
                <a:ext cx="130187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项目信息、项目计划、项目进度　</a:t>
                </a:r>
              </a:p>
            </p:txBody>
          </p:sp>
          <p:sp>
            <p:nvSpPr>
              <p:cNvPr id="63" name="TextBox 63"/>
              <p:cNvSpPr txBox="1"/>
              <p:nvPr/>
            </p:nvSpPr>
            <p:spPr>
              <a:xfrm>
                <a:off x="2433638" y="2769632"/>
                <a:ext cx="1129563"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里程碑、交付物、验收记录　</a:t>
                </a:r>
              </a:p>
            </p:txBody>
          </p:sp>
        </p:grpSp>
        <p:grpSp>
          <p:nvGrpSpPr>
            <p:cNvPr id="75" name="tree-domain-5"/>
            <p:cNvGrpSpPr/>
            <p:nvPr/>
          </p:nvGrpSpPr>
          <p:grpSpPr>
            <a:xfrm>
              <a:off x="285750" y="2971800"/>
              <a:ext cx="3449765" cy="438150"/>
              <a:chOff x="285750" y="2971800"/>
              <a:chExt cx="3449765" cy="438150"/>
            </a:xfrm>
          </p:grpSpPr>
          <p:sp>
            <p:nvSpPr>
              <p:cNvPr id="65" name="Rectangle 65"/>
              <p:cNvSpPr/>
              <p:nvPr/>
            </p:nvSpPr>
            <p:spPr>
              <a:xfrm>
                <a:off x="285750" y="2971800"/>
                <a:ext cx="1238250" cy="438150"/>
              </a:xfrm>
              <a:prstGeom prst="roundRect">
                <a:avLst>
                  <a:gd name="adj" fmla="val 13043"/>
                </a:avLst>
              </a:prstGeom>
              <a:solidFill>
                <a:srgbClr val="F4F8EC"/>
              </a:solidFill>
              <a:ln w="9525">
                <a:solidFill>
                  <a:srgbClr val="D9E8C6"/>
                </a:solidFill>
              </a:ln>
            </p:spPr>
          </p:sp>
          <p:grpSp>
            <p:nvGrpSpPr>
              <p:cNvPr id="68" name="Group 68"/>
              <p:cNvGrpSpPr/>
              <p:nvPr/>
            </p:nvGrpSpPr>
            <p:grpSpPr>
              <a:xfrm>
                <a:off x="390170" y="3140869"/>
                <a:ext cx="108504" cy="100012"/>
                <a:chOff x="390170" y="3140869"/>
                <a:chExt cx="108504" cy="100012"/>
              </a:xfrm>
            </p:grpSpPr>
            <p:sp>
              <p:nvSpPr>
                <p:cNvPr id="66" name="Freeform 66"/>
                <p:cNvSpPr/>
                <p:nvPr/>
              </p:nvSpPr>
              <p:spPr>
                <a:xfrm>
                  <a:off x="390170" y="314086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7C3B2F"/>
                  </a:solidFill>
                </a:ln>
              </p:spPr>
            </p:sp>
            <p:sp>
              <p:nvSpPr>
                <p:cNvPr id="67" name="Freeform 67"/>
                <p:cNvSpPr/>
                <p:nvPr/>
              </p:nvSpPr>
              <p:spPr>
                <a:xfrm>
                  <a:off x="464344" y="3218656"/>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69" name="TextBox 69"/>
              <p:cNvSpPr txBox="1"/>
              <p:nvPr/>
            </p:nvSpPr>
            <p:spPr>
              <a:xfrm>
                <a:off x="585788" y="3157538"/>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风险与合规</a:t>
                </a:r>
              </a:p>
            </p:txBody>
          </p:sp>
          <p:sp>
            <p:nvSpPr>
              <p:cNvPr id="70" name="Rectangle 70"/>
              <p:cNvSpPr/>
              <p:nvPr/>
            </p:nvSpPr>
            <p:spPr>
              <a:xfrm>
                <a:off x="1581150" y="2971800"/>
                <a:ext cx="800100" cy="438150"/>
              </a:xfrm>
              <a:prstGeom prst="roundRect">
                <a:avLst>
                  <a:gd name="adj" fmla="val 13043"/>
                </a:avLst>
              </a:prstGeom>
              <a:solidFill>
                <a:srgbClr val="F4F8EC"/>
              </a:solidFill>
              <a:ln w="9525">
                <a:solidFill>
                  <a:srgbClr val="D9E8C6"/>
                </a:solidFill>
              </a:ln>
            </p:spPr>
          </p:sp>
          <p:sp>
            <p:nvSpPr>
              <p:cNvPr id="71" name="TextBox 71"/>
              <p:cNvSpPr txBox="1"/>
              <p:nvPr/>
            </p:nvSpPr>
            <p:spPr>
              <a:xfrm>
                <a:off x="1804124" y="30649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风险管理</a:t>
                </a:r>
              </a:p>
            </p:txBody>
          </p:sp>
          <p:sp>
            <p:nvSpPr>
              <p:cNvPr id="72" name="TextBox 72"/>
              <p:cNvSpPr txBox="1"/>
              <p:nvPr/>
            </p:nvSpPr>
            <p:spPr>
              <a:xfrm>
                <a:off x="1804124" y="32363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合规管理</a:t>
                </a:r>
              </a:p>
            </p:txBody>
          </p:sp>
          <p:sp>
            <p:nvSpPr>
              <p:cNvPr id="73" name="TextBox 73"/>
              <p:cNvSpPr txBox="1"/>
              <p:nvPr/>
            </p:nvSpPr>
            <p:spPr>
              <a:xfrm>
                <a:off x="2433638" y="3064907"/>
                <a:ext cx="130187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风险事件、风险评估、风险处置　</a:t>
                </a:r>
              </a:p>
            </p:txBody>
          </p:sp>
          <p:sp>
            <p:nvSpPr>
              <p:cNvPr id="74" name="TextBox 74"/>
              <p:cNvSpPr txBox="1"/>
              <p:nvPr/>
            </p:nvSpPr>
            <p:spPr>
              <a:xfrm>
                <a:off x="2433638" y="3236357"/>
                <a:ext cx="130187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合规要求、合规审查、整改记录　</a:t>
                </a:r>
              </a:p>
            </p:txBody>
          </p:sp>
        </p:grpSp>
        <p:grpSp>
          <p:nvGrpSpPr>
            <p:cNvPr id="92" name="tree-domain-6"/>
            <p:cNvGrpSpPr/>
            <p:nvPr/>
          </p:nvGrpSpPr>
          <p:grpSpPr>
            <a:xfrm>
              <a:off x="285750" y="3438525"/>
              <a:ext cx="3449765" cy="438150"/>
              <a:chOff x="285750" y="3438525"/>
              <a:chExt cx="3449765" cy="438150"/>
            </a:xfrm>
          </p:grpSpPr>
          <p:sp>
            <p:nvSpPr>
              <p:cNvPr id="76" name="Rectangle 76"/>
              <p:cNvSpPr/>
              <p:nvPr/>
            </p:nvSpPr>
            <p:spPr>
              <a:xfrm>
                <a:off x="285750" y="3438525"/>
                <a:ext cx="1238250" cy="438150"/>
              </a:xfrm>
              <a:prstGeom prst="roundRect">
                <a:avLst>
                  <a:gd name="adj" fmla="val 13043"/>
                </a:avLst>
              </a:prstGeom>
              <a:solidFill>
                <a:srgbClr val="FFFFFF"/>
              </a:solidFill>
              <a:ln w="9525">
                <a:solidFill>
                  <a:srgbClr val="D9E8C6"/>
                </a:solidFill>
              </a:ln>
            </p:spPr>
          </p:sp>
          <p:grpSp>
            <p:nvGrpSpPr>
              <p:cNvPr id="85" name="Group 85"/>
              <p:cNvGrpSpPr/>
              <p:nvPr/>
            </p:nvGrpSpPr>
            <p:grpSpPr>
              <a:xfrm>
                <a:off x="397669" y="3607594"/>
                <a:ext cx="103981" cy="109537"/>
                <a:chOff x="397669" y="3607594"/>
                <a:chExt cx="103981" cy="109537"/>
              </a:xfrm>
            </p:grpSpPr>
            <p:sp>
              <p:nvSpPr>
                <p:cNvPr id="77" name="Freeform 77"/>
                <p:cNvSpPr/>
                <p:nvPr/>
              </p:nvSpPr>
              <p:spPr>
                <a:xfrm>
                  <a:off x="397669" y="3707606"/>
                  <a:ext cx="100012" cy="9525"/>
                </a:xfrm>
                <a:custGeom>
                  <a:avLst/>
                  <a:gdLst/>
                  <a:ahLst/>
                  <a:cxnLst/>
                  <a:rect l="l" t="t" r="r" b="b"/>
                  <a:pathLst>
                    <a:path w="100012" h="9525">
                      <a:moveTo>
                        <a:pt x="0" y="0"/>
                      </a:moveTo>
                      <a:lnTo>
                        <a:pt x="100012" y="0"/>
                      </a:lnTo>
                    </a:path>
                  </a:pathLst>
                </a:custGeom>
                <a:noFill/>
                <a:ln w="11112">
                  <a:solidFill>
                    <a:srgbClr val="7C3B2F"/>
                  </a:solidFill>
                </a:ln>
              </p:spPr>
            </p:sp>
            <p:sp>
              <p:nvSpPr>
                <p:cNvPr id="78" name="Freeform 78"/>
                <p:cNvSpPr/>
                <p:nvPr/>
              </p:nvSpPr>
              <p:spPr>
                <a:xfrm>
                  <a:off x="397669" y="3646487"/>
                  <a:ext cx="100012" cy="9525"/>
                </a:xfrm>
                <a:custGeom>
                  <a:avLst/>
                  <a:gdLst/>
                  <a:ahLst/>
                  <a:cxnLst/>
                  <a:rect l="l" t="t" r="r" b="b"/>
                  <a:pathLst>
                    <a:path w="100012" h="9525">
                      <a:moveTo>
                        <a:pt x="0" y="0"/>
                      </a:moveTo>
                      <a:lnTo>
                        <a:pt x="100012" y="0"/>
                      </a:lnTo>
                    </a:path>
                  </a:pathLst>
                </a:custGeom>
                <a:noFill/>
                <a:ln w="11112">
                  <a:solidFill>
                    <a:srgbClr val="7C3B2F"/>
                  </a:solidFill>
                </a:ln>
              </p:spPr>
            </p:sp>
            <p:sp>
              <p:nvSpPr>
                <p:cNvPr id="79" name="Freeform 79"/>
                <p:cNvSpPr/>
                <p:nvPr/>
              </p:nvSpPr>
              <p:spPr>
                <a:xfrm>
                  <a:off x="408781" y="3607594"/>
                  <a:ext cx="77787" cy="16669"/>
                </a:xfrm>
                <a:custGeom>
                  <a:avLst/>
                  <a:gdLst/>
                  <a:ahLst/>
                  <a:cxnLst/>
                  <a:rect l="l" t="t" r="r" b="b"/>
                  <a:pathLst>
                    <a:path w="77787" h="16669">
                      <a:moveTo>
                        <a:pt x="0" y="16669"/>
                      </a:moveTo>
                      <a:lnTo>
                        <a:pt x="38894" y="0"/>
                      </a:lnTo>
                      <a:lnTo>
                        <a:pt x="77787" y="16669"/>
                      </a:lnTo>
                    </a:path>
                  </a:pathLst>
                </a:custGeom>
                <a:noFill/>
                <a:ln w="11112">
                  <a:solidFill>
                    <a:srgbClr val="7C3B2F"/>
                  </a:solidFill>
                </a:ln>
              </p:spPr>
            </p:sp>
            <p:sp>
              <p:nvSpPr>
                <p:cNvPr id="80" name="Freeform 80"/>
                <p:cNvSpPr/>
                <p:nvPr/>
              </p:nvSpPr>
              <p:spPr>
                <a:xfrm>
                  <a:off x="403225" y="3646487"/>
                  <a:ext cx="9525" cy="61119"/>
                </a:xfrm>
                <a:custGeom>
                  <a:avLst/>
                  <a:gdLst/>
                  <a:ahLst/>
                  <a:cxnLst/>
                  <a:rect l="l" t="t" r="r" b="b"/>
                  <a:pathLst>
                    <a:path w="9525" h="61119">
                      <a:moveTo>
                        <a:pt x="0" y="0"/>
                      </a:moveTo>
                      <a:lnTo>
                        <a:pt x="0" y="61119"/>
                      </a:lnTo>
                    </a:path>
                  </a:pathLst>
                </a:custGeom>
                <a:noFill/>
                <a:ln w="11112">
                  <a:solidFill>
                    <a:srgbClr val="7C3B2F"/>
                  </a:solidFill>
                </a:ln>
              </p:spPr>
            </p:sp>
            <p:sp>
              <p:nvSpPr>
                <p:cNvPr id="81" name="Freeform 81"/>
                <p:cNvSpPr/>
                <p:nvPr/>
              </p:nvSpPr>
              <p:spPr>
                <a:xfrm>
                  <a:off x="492125" y="3646487"/>
                  <a:ext cx="9525" cy="61119"/>
                </a:xfrm>
                <a:custGeom>
                  <a:avLst/>
                  <a:gdLst/>
                  <a:ahLst/>
                  <a:cxnLst/>
                  <a:rect l="l" t="t" r="r" b="b"/>
                  <a:pathLst>
                    <a:path w="9525" h="61119">
                      <a:moveTo>
                        <a:pt x="0" y="0"/>
                      </a:moveTo>
                      <a:lnTo>
                        <a:pt x="0" y="61119"/>
                      </a:lnTo>
                    </a:path>
                  </a:pathLst>
                </a:custGeom>
                <a:noFill/>
                <a:ln w="11112">
                  <a:solidFill>
                    <a:srgbClr val="7C3B2F"/>
                  </a:solidFill>
                </a:ln>
              </p:spPr>
            </p:sp>
            <p:sp>
              <p:nvSpPr>
                <p:cNvPr id="82" name="Freeform 82"/>
                <p:cNvSpPr/>
                <p:nvPr/>
              </p:nvSpPr>
              <p:spPr>
                <a:xfrm>
                  <a:off x="425450" y="3668712"/>
                  <a:ext cx="9525" cy="16669"/>
                </a:xfrm>
                <a:custGeom>
                  <a:avLst/>
                  <a:gdLst/>
                  <a:ahLst/>
                  <a:cxnLst/>
                  <a:rect l="l" t="t" r="r" b="b"/>
                  <a:pathLst>
                    <a:path w="9525" h="16669">
                      <a:moveTo>
                        <a:pt x="0" y="0"/>
                      </a:moveTo>
                      <a:lnTo>
                        <a:pt x="0" y="16669"/>
                      </a:lnTo>
                    </a:path>
                  </a:pathLst>
                </a:custGeom>
                <a:noFill/>
                <a:ln w="11112">
                  <a:solidFill>
                    <a:srgbClr val="7C3B2F"/>
                  </a:solidFill>
                </a:ln>
              </p:spPr>
            </p:sp>
            <p:sp>
              <p:nvSpPr>
                <p:cNvPr id="83" name="Freeform 83"/>
                <p:cNvSpPr/>
                <p:nvPr/>
              </p:nvSpPr>
              <p:spPr>
                <a:xfrm>
                  <a:off x="447675" y="3668712"/>
                  <a:ext cx="9525" cy="16669"/>
                </a:xfrm>
                <a:custGeom>
                  <a:avLst/>
                  <a:gdLst/>
                  <a:ahLst/>
                  <a:cxnLst/>
                  <a:rect l="l" t="t" r="r" b="b"/>
                  <a:pathLst>
                    <a:path w="9525" h="16669">
                      <a:moveTo>
                        <a:pt x="0" y="0"/>
                      </a:moveTo>
                      <a:lnTo>
                        <a:pt x="0" y="16669"/>
                      </a:lnTo>
                    </a:path>
                  </a:pathLst>
                </a:custGeom>
                <a:noFill/>
                <a:ln w="11112">
                  <a:solidFill>
                    <a:srgbClr val="7C3B2F"/>
                  </a:solidFill>
                </a:ln>
              </p:spPr>
            </p:sp>
            <p:sp>
              <p:nvSpPr>
                <p:cNvPr id="84" name="Freeform 84"/>
                <p:cNvSpPr/>
                <p:nvPr/>
              </p:nvSpPr>
              <p:spPr>
                <a:xfrm>
                  <a:off x="469900" y="3668712"/>
                  <a:ext cx="9525" cy="16669"/>
                </a:xfrm>
                <a:custGeom>
                  <a:avLst/>
                  <a:gdLst/>
                  <a:ahLst/>
                  <a:cxnLst/>
                  <a:rect l="l" t="t" r="r" b="b"/>
                  <a:pathLst>
                    <a:path w="9525" h="16669">
                      <a:moveTo>
                        <a:pt x="0" y="0"/>
                      </a:moveTo>
                      <a:lnTo>
                        <a:pt x="0" y="16669"/>
                      </a:lnTo>
                    </a:path>
                  </a:pathLst>
                </a:custGeom>
                <a:noFill/>
                <a:ln w="11112">
                  <a:solidFill>
                    <a:srgbClr val="7C3B2F"/>
                  </a:solidFill>
                </a:ln>
              </p:spPr>
            </p:sp>
          </p:grpSp>
          <p:sp>
            <p:nvSpPr>
              <p:cNvPr id="86" name="TextBox 86"/>
              <p:cNvSpPr txBox="1"/>
              <p:nvPr/>
            </p:nvSpPr>
            <p:spPr>
              <a:xfrm>
                <a:off x="585788" y="3624262"/>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组织与治理</a:t>
                </a:r>
              </a:p>
            </p:txBody>
          </p:sp>
          <p:sp>
            <p:nvSpPr>
              <p:cNvPr id="87" name="Rectangle 87"/>
              <p:cNvSpPr/>
              <p:nvPr/>
            </p:nvSpPr>
            <p:spPr>
              <a:xfrm>
                <a:off x="1581150" y="3438525"/>
                <a:ext cx="800100" cy="438150"/>
              </a:xfrm>
              <a:prstGeom prst="roundRect">
                <a:avLst>
                  <a:gd name="adj" fmla="val 13043"/>
                </a:avLst>
              </a:prstGeom>
              <a:solidFill>
                <a:srgbClr val="F4F8EC"/>
              </a:solidFill>
              <a:ln w="9525">
                <a:solidFill>
                  <a:srgbClr val="D9E8C6"/>
                </a:solidFill>
              </a:ln>
            </p:spPr>
          </p:sp>
          <p:sp>
            <p:nvSpPr>
              <p:cNvPr id="88" name="TextBox 88"/>
              <p:cNvSpPr txBox="1"/>
              <p:nvPr/>
            </p:nvSpPr>
            <p:spPr>
              <a:xfrm>
                <a:off x="1804124" y="3531632"/>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制度管理</a:t>
                </a:r>
              </a:p>
            </p:txBody>
          </p:sp>
          <p:sp>
            <p:nvSpPr>
              <p:cNvPr id="89" name="TextBox 89"/>
              <p:cNvSpPr txBox="1"/>
              <p:nvPr/>
            </p:nvSpPr>
            <p:spPr>
              <a:xfrm>
                <a:off x="1761046" y="3703082"/>
                <a:ext cx="44030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角色与权限</a:t>
                </a:r>
              </a:p>
            </p:txBody>
          </p:sp>
          <p:sp>
            <p:nvSpPr>
              <p:cNvPr id="90" name="TextBox 90"/>
              <p:cNvSpPr txBox="1"/>
              <p:nvPr/>
            </p:nvSpPr>
            <p:spPr>
              <a:xfrm>
                <a:off x="2433638" y="3531632"/>
                <a:ext cx="130187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制度体系、制度概览、适用范围　</a:t>
                </a:r>
              </a:p>
            </p:txBody>
          </p:sp>
          <p:sp>
            <p:nvSpPr>
              <p:cNvPr id="91" name="TextBox 91"/>
              <p:cNvSpPr txBox="1"/>
              <p:nvPr/>
            </p:nvSpPr>
            <p:spPr>
              <a:xfrm>
                <a:off x="2433638" y="3703082"/>
                <a:ext cx="1301877"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 xml:space="preserve">角色定义、权限规则、职责说明　</a:t>
                </a:r>
              </a:p>
            </p:txBody>
          </p:sp>
        </p:grpSp>
      </p:grpSp>
      <p:grpSp>
        <p:nvGrpSpPr>
          <p:cNvPr id="110" name="vocab-boxes"/>
          <p:cNvGrpSpPr/>
          <p:nvPr/>
        </p:nvGrpSpPr>
        <p:grpSpPr>
          <a:xfrm>
            <a:off x="285750" y="4038600"/>
            <a:ext cx="3752850" cy="895350"/>
            <a:chOff x="285750" y="4038600"/>
            <a:chExt cx="3752850" cy="895350"/>
          </a:xfrm>
        </p:grpSpPr>
        <p:sp>
          <p:nvSpPr>
            <p:cNvPr id="94" name="Rectangle 94"/>
            <p:cNvSpPr/>
            <p:nvPr/>
          </p:nvSpPr>
          <p:spPr>
            <a:xfrm>
              <a:off x="285750" y="4038600"/>
              <a:ext cx="1828800" cy="895350"/>
            </a:xfrm>
            <a:prstGeom prst="roundRect">
              <a:avLst>
                <a:gd name="adj" fmla="val 8511"/>
              </a:avLst>
            </a:prstGeom>
            <a:solidFill>
              <a:srgbClr val="FFFFFF"/>
            </a:solidFill>
            <a:ln w="9525">
              <a:solidFill>
                <a:srgbClr val="D9E8C6"/>
              </a:solidFill>
            </a:ln>
          </p:spPr>
        </p:sp>
        <p:sp>
          <p:nvSpPr>
            <p:cNvPr id="95" name="Rectangle 95"/>
            <p:cNvSpPr/>
            <p:nvPr/>
          </p:nvSpPr>
          <p:spPr>
            <a:xfrm>
              <a:off x="285750" y="4038600"/>
              <a:ext cx="1828800" cy="209550"/>
            </a:xfrm>
            <a:prstGeom prst="roundRect">
              <a:avLst>
                <a:gd name="adj" fmla="val 36364"/>
              </a:avLst>
            </a:prstGeom>
            <a:solidFill>
              <a:srgbClr val="E7F2D8"/>
            </a:solidFill>
            <a:ln>
              <a:noFill/>
            </a:ln>
          </p:spPr>
        </p:sp>
        <p:sp>
          <p:nvSpPr>
            <p:cNvPr id="96" name="Rectangle 96"/>
            <p:cNvSpPr/>
            <p:nvPr/>
          </p:nvSpPr>
          <p:spPr>
            <a:xfrm>
              <a:off x="285750" y="4152900"/>
              <a:ext cx="1828800" cy="95250"/>
            </a:xfrm>
            <a:prstGeom prst="rect">
              <a:avLst/>
            </a:prstGeom>
            <a:solidFill>
              <a:srgbClr val="E7F2D8"/>
            </a:solidFill>
            <a:ln>
              <a:noFill/>
            </a:ln>
          </p:spPr>
        </p:sp>
        <p:sp>
          <p:nvSpPr>
            <p:cNvPr id="97" name="TextBox 97"/>
            <p:cNvSpPr txBox="1"/>
            <p:nvPr/>
          </p:nvSpPr>
          <p:spPr>
            <a:xfrm>
              <a:off x="765277" y="4114086"/>
              <a:ext cx="869747"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同义词词典（部分）</a:t>
              </a:r>
            </a:p>
          </p:txBody>
        </p:sp>
        <p:sp>
          <p:nvSpPr>
            <p:cNvPr id="98" name="TextBox 98"/>
            <p:cNvSpPr txBox="1"/>
            <p:nvPr/>
          </p:nvSpPr>
          <p:spPr>
            <a:xfrm>
              <a:off x="395288" y="4335780"/>
              <a:ext cx="1095908"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 xml:space="preserve">客户 ⇔ 甲方 / 委托方 / 业主　</a:t>
              </a:r>
            </a:p>
          </p:txBody>
        </p:sp>
        <p:sp>
          <p:nvSpPr>
            <p:cNvPr id="99" name="TextBox 99"/>
            <p:cNvSpPr txBox="1"/>
            <p:nvPr/>
          </p:nvSpPr>
          <p:spPr>
            <a:xfrm>
              <a:off x="395288" y="4478655"/>
              <a:ext cx="760705"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 xml:space="preserve">项目 ⇔ 工程 / 合同　</a:t>
              </a:r>
            </a:p>
          </p:txBody>
        </p:sp>
        <p:sp>
          <p:nvSpPr>
            <p:cNvPr id="100" name="TextBox 100"/>
            <p:cNvSpPr txBox="1"/>
            <p:nvPr/>
          </p:nvSpPr>
          <p:spPr>
            <a:xfrm>
              <a:off x="395288" y="4621530"/>
              <a:ext cx="922249"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 xml:space="preserve">产品 ⇔ 商品 / 解决方案　</a:t>
              </a:r>
            </a:p>
          </p:txBody>
        </p:sp>
        <p:sp>
          <p:nvSpPr>
            <p:cNvPr id="101" name="TextBox 101"/>
            <p:cNvSpPr txBox="1"/>
            <p:nvPr/>
          </p:nvSpPr>
          <p:spPr>
            <a:xfrm>
              <a:off x="395288" y="4764405"/>
              <a:ext cx="1003021"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 xml:space="preserve">风险 ⇔ 风险点 / 风险事项　</a:t>
              </a:r>
            </a:p>
          </p:txBody>
        </p:sp>
        <p:sp>
          <p:nvSpPr>
            <p:cNvPr id="102" name="Rectangle 102"/>
            <p:cNvSpPr/>
            <p:nvPr/>
          </p:nvSpPr>
          <p:spPr>
            <a:xfrm>
              <a:off x="2190750" y="4038600"/>
              <a:ext cx="1847850" cy="895350"/>
            </a:xfrm>
            <a:prstGeom prst="roundRect">
              <a:avLst>
                <a:gd name="adj" fmla="val 8511"/>
              </a:avLst>
            </a:prstGeom>
            <a:solidFill>
              <a:srgbClr val="FFFFFF"/>
            </a:solidFill>
            <a:ln w="9525">
              <a:solidFill>
                <a:srgbClr val="D9E8C6"/>
              </a:solidFill>
            </a:ln>
          </p:spPr>
        </p:sp>
        <p:sp>
          <p:nvSpPr>
            <p:cNvPr id="103" name="Rectangle 103"/>
            <p:cNvSpPr/>
            <p:nvPr/>
          </p:nvSpPr>
          <p:spPr>
            <a:xfrm>
              <a:off x="2190750" y="4038600"/>
              <a:ext cx="1847850" cy="209550"/>
            </a:xfrm>
            <a:prstGeom prst="roundRect">
              <a:avLst>
                <a:gd name="adj" fmla="val 36364"/>
              </a:avLst>
            </a:prstGeom>
            <a:solidFill>
              <a:srgbClr val="E7F2D8"/>
            </a:solidFill>
            <a:ln>
              <a:noFill/>
            </a:ln>
          </p:spPr>
        </p:sp>
        <p:sp>
          <p:nvSpPr>
            <p:cNvPr id="104" name="Rectangle 104"/>
            <p:cNvSpPr/>
            <p:nvPr/>
          </p:nvSpPr>
          <p:spPr>
            <a:xfrm>
              <a:off x="2190750" y="4152900"/>
              <a:ext cx="1847850" cy="95250"/>
            </a:xfrm>
            <a:prstGeom prst="rect">
              <a:avLst/>
            </a:prstGeom>
            <a:solidFill>
              <a:srgbClr val="E7F2D8"/>
            </a:solidFill>
            <a:ln>
              <a:noFill/>
            </a:ln>
          </p:spPr>
        </p:sp>
        <p:sp>
          <p:nvSpPr>
            <p:cNvPr id="105" name="TextBox 105"/>
            <p:cNvSpPr txBox="1"/>
            <p:nvPr/>
          </p:nvSpPr>
          <p:spPr>
            <a:xfrm>
              <a:off x="2727592" y="4114086"/>
              <a:ext cx="774167"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受控词表（部分）</a:t>
              </a:r>
            </a:p>
          </p:txBody>
        </p:sp>
        <p:sp>
          <p:nvSpPr>
            <p:cNvPr id="106" name="TextBox 106"/>
            <p:cNvSpPr txBox="1"/>
            <p:nvPr/>
          </p:nvSpPr>
          <p:spPr>
            <a:xfrm>
              <a:off x="2300288" y="4335780"/>
              <a:ext cx="1164565"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 xml:space="preserve">产品名称：个人 / 企业 / 政府　</a:t>
              </a:r>
            </a:p>
          </p:txBody>
        </p:sp>
        <p:sp>
          <p:nvSpPr>
            <p:cNvPr id="107" name="TextBox 107"/>
            <p:cNvSpPr txBox="1"/>
            <p:nvPr/>
          </p:nvSpPr>
          <p:spPr>
            <a:xfrm>
              <a:off x="2300288" y="4478655"/>
              <a:ext cx="1233221"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 xml:space="preserve">合作类型：硬件合作 / 软件合作　</a:t>
              </a:r>
            </a:p>
          </p:txBody>
        </p:sp>
        <p:sp>
          <p:nvSpPr>
            <p:cNvPr id="108" name="TextBox 108"/>
            <p:cNvSpPr txBox="1"/>
            <p:nvPr/>
          </p:nvSpPr>
          <p:spPr>
            <a:xfrm>
              <a:off x="2300288" y="4621530"/>
              <a:ext cx="1188491"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 xml:space="preserve">合作层级：代理 / OEM / 联合　</a:t>
              </a:r>
            </a:p>
          </p:txBody>
        </p:sp>
        <p:sp>
          <p:nvSpPr>
            <p:cNvPr id="109" name="TextBox 109"/>
            <p:cNvSpPr txBox="1"/>
            <p:nvPr/>
          </p:nvSpPr>
          <p:spPr>
            <a:xfrm>
              <a:off x="2300288" y="4764405"/>
              <a:ext cx="1176680"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 xml:space="preserve">风险等级：低 / 中 / 高 / 极高　</a:t>
              </a:r>
            </a:p>
          </p:txBody>
        </p:sp>
      </p:grpSp>
      <p:grpSp>
        <p:nvGrpSpPr>
          <p:cNvPr id="198" name="knowledge-graph"/>
          <p:cNvGrpSpPr/>
          <p:nvPr/>
        </p:nvGrpSpPr>
        <p:grpSpPr>
          <a:xfrm>
            <a:off x="4210050" y="666750"/>
            <a:ext cx="2609850" cy="3940255"/>
            <a:chOff x="4210050" y="666750"/>
            <a:chExt cx="2609850" cy="3940255"/>
          </a:xfrm>
        </p:grpSpPr>
        <p:sp>
          <p:nvSpPr>
            <p:cNvPr id="111" name="Rectangle 111"/>
            <p:cNvSpPr/>
            <p:nvPr/>
          </p:nvSpPr>
          <p:spPr>
            <a:xfrm>
              <a:off x="4210050" y="666750"/>
              <a:ext cx="2228850" cy="228600"/>
            </a:xfrm>
            <a:prstGeom prst="roundRect">
              <a:avLst>
                <a:gd name="adj" fmla="val 25000"/>
              </a:avLst>
            </a:prstGeom>
            <a:solidFill>
              <a:srgbClr val="42140B"/>
            </a:solidFill>
            <a:ln>
              <a:noFill/>
            </a:ln>
          </p:spPr>
        </p:sp>
        <p:sp>
          <p:nvSpPr>
            <p:cNvPr id="112" name="TextBox 112"/>
            <p:cNvSpPr txBox="1"/>
            <p:nvPr/>
          </p:nvSpPr>
          <p:spPr>
            <a:xfrm>
              <a:off x="4411028" y="731520"/>
              <a:ext cx="182689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业务知识图谱（核心实体与关系）</a:t>
              </a:r>
            </a:p>
          </p:txBody>
        </p:sp>
        <p:grpSp>
          <p:nvGrpSpPr>
            <p:cNvPr id="124" name="graph-edges"/>
            <p:cNvGrpSpPr/>
            <p:nvPr/>
          </p:nvGrpSpPr>
          <p:grpSpPr>
            <a:xfrm>
              <a:off x="4743450" y="1352550"/>
              <a:ext cx="1752600" cy="3048001"/>
              <a:chOff x="4743450" y="1352550"/>
              <a:chExt cx="1752600" cy="3048001"/>
            </a:xfrm>
          </p:grpSpPr>
          <p:sp>
            <p:nvSpPr>
              <p:cNvPr id="113" name="Line 113"/>
              <p:cNvSpPr/>
              <p:nvPr/>
            </p:nvSpPr>
            <p:spPr>
              <a:xfrm flipH="1">
                <a:off x="4914900" y="1352550"/>
                <a:ext cx="609600" cy="438150"/>
              </a:xfrm>
              <a:prstGeom prst="line">
                <a:avLst/>
              </a:prstGeom>
              <a:noFill/>
              <a:ln w="12382">
                <a:solidFill>
                  <a:srgbClr val="BE776A"/>
                </a:solidFill>
                <a:tailEnd type="arrow" w="lg" len="lg"/>
              </a:ln>
            </p:spPr>
          </p:sp>
          <p:sp>
            <p:nvSpPr>
              <p:cNvPr id="114" name="Line 114"/>
              <p:cNvSpPr/>
              <p:nvPr/>
            </p:nvSpPr>
            <p:spPr>
              <a:xfrm>
                <a:off x="5829300" y="1352550"/>
                <a:ext cx="609600" cy="438150"/>
              </a:xfrm>
              <a:prstGeom prst="line">
                <a:avLst/>
              </a:prstGeom>
              <a:noFill/>
              <a:ln w="12382">
                <a:solidFill>
                  <a:srgbClr val="BE776A"/>
                </a:solidFill>
                <a:tailEnd type="arrow" w="lg" len="lg"/>
              </a:ln>
            </p:spPr>
          </p:sp>
          <p:sp>
            <p:nvSpPr>
              <p:cNvPr id="115" name="Line 115"/>
              <p:cNvSpPr/>
              <p:nvPr/>
            </p:nvSpPr>
            <p:spPr>
              <a:xfrm>
                <a:off x="4933950" y="1952625"/>
                <a:ext cx="1485900" cy="9525"/>
              </a:xfrm>
              <a:custGeom>
                <a:avLst/>
                <a:gdLst/>
                <a:ahLst/>
                <a:cxnLst/>
                <a:rect l="l" t="t" r="r" b="b"/>
                <a:pathLst>
                  <a:path w="1485900" h="9525">
                    <a:moveTo>
                      <a:pt x="0" y="0"/>
                    </a:moveTo>
                    <a:lnTo>
                      <a:pt x="1485900" y="0"/>
                    </a:lnTo>
                  </a:path>
                </a:pathLst>
              </a:custGeom>
              <a:noFill/>
              <a:ln w="12382">
                <a:solidFill>
                  <a:srgbClr val="BE776A"/>
                </a:solidFill>
                <a:custDash>
                  <a:ds d="384615" sp="307692"/>
                </a:custDash>
              </a:ln>
            </p:spPr>
          </p:sp>
          <p:sp>
            <p:nvSpPr>
              <p:cNvPr id="116" name="Line 116"/>
              <p:cNvSpPr/>
              <p:nvPr/>
            </p:nvSpPr>
            <p:spPr>
              <a:xfrm>
                <a:off x="4857750" y="2114550"/>
                <a:ext cx="628650" cy="438150"/>
              </a:xfrm>
              <a:prstGeom prst="line">
                <a:avLst/>
              </a:prstGeom>
              <a:noFill/>
              <a:ln w="12382">
                <a:solidFill>
                  <a:srgbClr val="BE776A"/>
                </a:solidFill>
                <a:tailEnd type="arrow" w="lg" len="lg"/>
              </a:ln>
            </p:spPr>
          </p:sp>
          <p:sp>
            <p:nvSpPr>
              <p:cNvPr id="117" name="Line 117"/>
              <p:cNvSpPr/>
              <p:nvPr/>
            </p:nvSpPr>
            <p:spPr>
              <a:xfrm flipV="1">
                <a:off x="5867400" y="2114550"/>
                <a:ext cx="628650" cy="438150"/>
              </a:xfrm>
              <a:prstGeom prst="line">
                <a:avLst/>
              </a:prstGeom>
              <a:noFill/>
              <a:ln w="12382">
                <a:solidFill>
                  <a:srgbClr val="BE776A"/>
                </a:solidFill>
                <a:tailEnd type="arrow" w="lg" len="lg"/>
              </a:ln>
            </p:spPr>
          </p:sp>
          <p:sp>
            <p:nvSpPr>
              <p:cNvPr id="118" name="Line 118"/>
              <p:cNvSpPr/>
              <p:nvPr/>
            </p:nvSpPr>
            <p:spPr>
              <a:xfrm flipV="1">
                <a:off x="4933950" y="2895600"/>
                <a:ext cx="552450" cy="533400"/>
              </a:xfrm>
              <a:prstGeom prst="line">
                <a:avLst/>
              </a:prstGeom>
              <a:noFill/>
              <a:ln w="12382">
                <a:solidFill>
                  <a:srgbClr val="BE776A"/>
                </a:solidFill>
                <a:tailEnd type="arrow" w="lg" len="lg"/>
              </a:ln>
            </p:spPr>
          </p:sp>
          <p:sp>
            <p:nvSpPr>
              <p:cNvPr id="119" name="Line 119"/>
              <p:cNvSpPr/>
              <p:nvPr/>
            </p:nvSpPr>
            <p:spPr>
              <a:xfrm>
                <a:off x="5867400" y="2895600"/>
                <a:ext cx="552450" cy="514350"/>
              </a:xfrm>
              <a:prstGeom prst="line">
                <a:avLst/>
              </a:prstGeom>
              <a:noFill/>
              <a:ln w="12382">
                <a:solidFill>
                  <a:srgbClr val="BE776A"/>
                </a:solidFill>
                <a:tailEnd type="arrow" w="lg" len="lg"/>
              </a:ln>
            </p:spPr>
          </p:sp>
          <p:sp>
            <p:nvSpPr>
              <p:cNvPr id="120" name="Line 120"/>
              <p:cNvSpPr/>
              <p:nvPr/>
            </p:nvSpPr>
            <p:spPr>
              <a:xfrm>
                <a:off x="5029200" y="3571875"/>
                <a:ext cx="1295400" cy="9525"/>
              </a:xfrm>
              <a:custGeom>
                <a:avLst/>
                <a:gdLst/>
                <a:ahLst/>
                <a:cxnLst/>
                <a:rect l="l" t="t" r="r" b="b"/>
                <a:pathLst>
                  <a:path w="1295400" h="9525">
                    <a:moveTo>
                      <a:pt x="0" y="0"/>
                    </a:moveTo>
                    <a:lnTo>
                      <a:pt x="1295400" y="0"/>
                    </a:lnTo>
                  </a:path>
                </a:pathLst>
              </a:custGeom>
              <a:noFill/>
              <a:ln w="12382">
                <a:solidFill>
                  <a:srgbClr val="BE776A"/>
                </a:solidFill>
                <a:custDash>
                  <a:ds d="384615" sp="307692"/>
                </a:custDash>
              </a:ln>
            </p:spPr>
          </p:sp>
          <p:sp>
            <p:nvSpPr>
              <p:cNvPr id="121" name="Line 121"/>
              <p:cNvSpPr/>
              <p:nvPr/>
            </p:nvSpPr>
            <p:spPr>
              <a:xfrm>
                <a:off x="4743450" y="3752850"/>
                <a:ext cx="209550" cy="457200"/>
              </a:xfrm>
              <a:prstGeom prst="line">
                <a:avLst/>
              </a:prstGeom>
              <a:noFill/>
              <a:ln w="12382">
                <a:solidFill>
                  <a:srgbClr val="BE776A"/>
                </a:solidFill>
                <a:tailEnd type="arrow" w="lg" len="lg"/>
              </a:ln>
            </p:spPr>
          </p:sp>
          <p:sp>
            <p:nvSpPr>
              <p:cNvPr id="122" name="Line 122"/>
              <p:cNvSpPr/>
              <p:nvPr/>
            </p:nvSpPr>
            <p:spPr>
              <a:xfrm>
                <a:off x="5257800" y="4400550"/>
                <a:ext cx="609600" cy="1"/>
              </a:xfrm>
              <a:prstGeom prst="line">
                <a:avLst/>
              </a:prstGeom>
              <a:noFill/>
              <a:ln w="12382">
                <a:solidFill>
                  <a:srgbClr val="BE776A"/>
                </a:solidFill>
                <a:tailEnd type="arrow" w="lg" len="lg"/>
              </a:ln>
            </p:spPr>
          </p:sp>
          <p:sp>
            <p:nvSpPr>
              <p:cNvPr id="123" name="Line 123"/>
              <p:cNvSpPr/>
              <p:nvPr/>
            </p:nvSpPr>
            <p:spPr>
              <a:xfrm flipV="1">
                <a:off x="6191250" y="3752850"/>
                <a:ext cx="266700" cy="476250"/>
              </a:xfrm>
              <a:prstGeom prst="line">
                <a:avLst/>
              </a:prstGeom>
              <a:noFill/>
              <a:ln w="12382">
                <a:solidFill>
                  <a:srgbClr val="BE776A"/>
                </a:solidFill>
                <a:custDash>
                  <a:ds d="384615" sp="307692"/>
                </a:custDash>
                <a:tailEnd type="arrow" w="lg" len="lg"/>
              </a:ln>
            </p:spPr>
          </p:sp>
        </p:grpSp>
        <p:grpSp>
          <p:nvGrpSpPr>
            <p:cNvPr id="136" name="graph-edge-labels"/>
            <p:cNvGrpSpPr/>
            <p:nvPr/>
          </p:nvGrpSpPr>
          <p:grpSpPr>
            <a:xfrm>
              <a:off x="4619816" y="1421130"/>
              <a:ext cx="2140953" cy="2967037"/>
              <a:chOff x="4619816" y="1421130"/>
              <a:chExt cx="2140953" cy="2967037"/>
            </a:xfrm>
          </p:grpSpPr>
          <p:sp>
            <p:nvSpPr>
              <p:cNvPr id="125" name="TextBox 125"/>
              <p:cNvSpPr txBox="1"/>
              <p:nvPr/>
            </p:nvSpPr>
            <p:spPr>
              <a:xfrm>
                <a:off x="4840681" y="1421130"/>
                <a:ext cx="377038"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负责/对辖</a:t>
                </a:r>
              </a:p>
            </p:txBody>
          </p:sp>
          <p:sp>
            <p:nvSpPr>
              <p:cNvPr id="126" name="TextBox 126"/>
              <p:cNvSpPr txBox="1"/>
              <p:nvPr/>
            </p:nvSpPr>
            <p:spPr>
              <a:xfrm>
                <a:off x="6136081" y="1421130"/>
                <a:ext cx="377038"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创建/维护</a:t>
                </a:r>
              </a:p>
            </p:txBody>
          </p:sp>
          <p:sp>
            <p:nvSpPr>
              <p:cNvPr id="127" name="TextBox 127"/>
              <p:cNvSpPr txBox="1"/>
              <p:nvPr/>
            </p:nvSpPr>
            <p:spPr>
              <a:xfrm>
                <a:off x="5488381" y="1821180"/>
                <a:ext cx="377038"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购买/使用</a:t>
                </a:r>
              </a:p>
            </p:txBody>
          </p:sp>
          <p:sp>
            <p:nvSpPr>
              <p:cNvPr id="128" name="TextBox 128"/>
              <p:cNvSpPr txBox="1"/>
              <p:nvPr/>
            </p:nvSpPr>
            <p:spPr>
              <a:xfrm>
                <a:off x="4867466" y="2335530"/>
                <a:ext cx="171069"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签署</a:t>
                </a:r>
              </a:p>
            </p:txBody>
          </p:sp>
          <p:sp>
            <p:nvSpPr>
              <p:cNvPr id="129" name="TextBox 129"/>
              <p:cNvSpPr txBox="1"/>
              <p:nvPr/>
            </p:nvSpPr>
            <p:spPr>
              <a:xfrm>
                <a:off x="6315266" y="2335530"/>
                <a:ext cx="171069"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涉及</a:t>
                </a:r>
              </a:p>
            </p:txBody>
          </p:sp>
          <p:sp>
            <p:nvSpPr>
              <p:cNvPr id="130" name="TextBox 130"/>
              <p:cNvSpPr txBox="1"/>
              <p:nvPr/>
            </p:nvSpPr>
            <p:spPr>
              <a:xfrm>
                <a:off x="4767644" y="3116580"/>
                <a:ext cx="332613"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受约束于</a:t>
                </a:r>
              </a:p>
            </p:txBody>
          </p:sp>
          <p:sp>
            <p:nvSpPr>
              <p:cNvPr id="131" name="TextBox 131"/>
              <p:cNvSpPr txBox="1"/>
              <p:nvPr/>
            </p:nvSpPr>
            <p:spPr>
              <a:xfrm>
                <a:off x="6212281" y="3116580"/>
                <a:ext cx="377038"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依据/履约</a:t>
                </a:r>
              </a:p>
            </p:txBody>
          </p:sp>
          <p:sp>
            <p:nvSpPr>
              <p:cNvPr id="132" name="TextBox 132"/>
              <p:cNvSpPr txBox="1"/>
              <p:nvPr/>
            </p:nvSpPr>
            <p:spPr>
              <a:xfrm>
                <a:off x="5488381" y="3440430"/>
                <a:ext cx="377038"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适用/遵循</a:t>
                </a:r>
              </a:p>
            </p:txBody>
          </p:sp>
          <p:sp>
            <p:nvSpPr>
              <p:cNvPr id="133" name="TextBox 133"/>
              <p:cNvSpPr txBox="1"/>
              <p:nvPr/>
            </p:nvSpPr>
            <p:spPr>
              <a:xfrm>
                <a:off x="4619816" y="3954780"/>
                <a:ext cx="171069"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约束</a:t>
                </a:r>
              </a:p>
            </p:txBody>
          </p:sp>
          <p:sp>
            <p:nvSpPr>
              <p:cNvPr id="134" name="TextBox 134"/>
              <p:cNvSpPr txBox="1"/>
              <p:nvPr/>
            </p:nvSpPr>
            <p:spPr>
              <a:xfrm>
                <a:off x="5374081" y="4269105"/>
                <a:ext cx="377038"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通过/触发</a:t>
                </a:r>
              </a:p>
            </p:txBody>
          </p:sp>
          <p:sp>
            <p:nvSpPr>
              <p:cNvPr id="135" name="TextBox 135"/>
              <p:cNvSpPr txBox="1"/>
              <p:nvPr/>
            </p:nvSpPr>
            <p:spPr>
              <a:xfrm>
                <a:off x="6383731" y="3954780"/>
                <a:ext cx="377038" cy="119062"/>
              </a:xfrm>
              <a:prstGeom prst="rect">
                <a:avLst/>
              </a:prstGeom>
              <a:noFill/>
              <a:ln>
                <a:noFill/>
              </a:ln>
            </p:spPr>
            <p:txBody>
              <a:bodyPr wrap="none" lIns="0" tIns="0" rIns="0" bIns="0" anchor="t" anchorCtr="0">
                <a:spAutoFit/>
              </a:bodyPr>
              <a:lstStyle/>
              <a:p>
                <a:pPr algn="ctr"/>
                <a:r>
                  <a:rPr lang="zh-CN" sz="600" dirty="0">
                    <a:solidFill>
                      <a:srgbClr val="7C3B2F"/>
                    </a:solidFill>
                    <a:latin typeface="+mn-lt"/>
                    <a:ea typeface="+mn-ea"/>
                    <a:cs typeface="+mn-cs"/>
                  </a:rPr>
                  <a:t>指导/执行</a:t>
                </a:r>
              </a:p>
            </p:txBody>
          </p:sp>
        </p:grpSp>
        <p:grpSp>
          <p:nvGrpSpPr>
            <p:cNvPr id="197" name="graph-nodes"/>
            <p:cNvGrpSpPr/>
            <p:nvPr/>
          </p:nvGrpSpPr>
          <p:grpSpPr>
            <a:xfrm>
              <a:off x="4533900" y="1009650"/>
              <a:ext cx="2286000" cy="3597355"/>
              <a:chOff x="4533900" y="1009650"/>
              <a:chExt cx="2286000" cy="3597355"/>
            </a:xfrm>
          </p:grpSpPr>
          <p:sp>
            <p:nvSpPr>
              <p:cNvPr id="137" name="Ellipse 137"/>
              <p:cNvSpPr/>
              <p:nvPr/>
            </p:nvSpPr>
            <p:spPr>
              <a:xfrm>
                <a:off x="5486400" y="1009650"/>
                <a:ext cx="381000" cy="381000"/>
              </a:xfrm>
              <a:prstGeom prst="ellipse">
                <a:avLst/>
              </a:prstGeom>
              <a:solidFill>
                <a:srgbClr val="FFFFFF"/>
              </a:solidFill>
              <a:ln w="15240">
                <a:solidFill>
                  <a:srgbClr val="7C3B2F"/>
                </a:solidFill>
              </a:ln>
            </p:spPr>
          </p:sp>
          <p:grpSp>
            <p:nvGrpSpPr>
              <p:cNvPr id="142" name="Group 142"/>
              <p:cNvGrpSpPr/>
              <p:nvPr/>
            </p:nvGrpSpPr>
            <p:grpSpPr>
              <a:xfrm>
                <a:off x="5612606" y="1088231"/>
                <a:ext cx="128587" cy="128588"/>
                <a:chOff x="5612606" y="1088231"/>
                <a:chExt cx="128587" cy="128588"/>
              </a:xfrm>
            </p:grpSpPr>
            <p:sp>
              <p:nvSpPr>
                <p:cNvPr id="138" name="Freeform 138"/>
                <p:cNvSpPr/>
                <p:nvPr/>
              </p:nvSpPr>
              <p:spPr>
                <a:xfrm>
                  <a:off x="5626894" y="10882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C3B2F"/>
                  </a:solidFill>
                </a:ln>
              </p:spPr>
            </p:sp>
            <p:sp>
              <p:nvSpPr>
                <p:cNvPr id="139" name="Freeform 139"/>
                <p:cNvSpPr/>
                <p:nvPr/>
              </p:nvSpPr>
              <p:spPr>
                <a:xfrm>
                  <a:off x="5612606" y="11739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7C3B2F"/>
                  </a:solidFill>
                </a:ln>
              </p:spPr>
            </p:sp>
            <p:sp>
              <p:nvSpPr>
                <p:cNvPr id="140" name="Freeform 140"/>
                <p:cNvSpPr/>
                <p:nvPr/>
              </p:nvSpPr>
              <p:spPr>
                <a:xfrm>
                  <a:off x="5705475" y="10891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7C3B2F"/>
                  </a:solidFill>
                </a:ln>
              </p:spPr>
            </p:sp>
            <p:sp>
              <p:nvSpPr>
                <p:cNvPr id="141" name="Freeform 141"/>
                <p:cNvSpPr/>
                <p:nvPr/>
              </p:nvSpPr>
              <p:spPr>
                <a:xfrm>
                  <a:off x="5719762" y="11750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7C3B2F"/>
                  </a:solidFill>
                </a:ln>
              </p:spPr>
            </p:sp>
          </p:grpSp>
          <p:sp>
            <p:nvSpPr>
              <p:cNvPr id="143" name="TextBox 143"/>
              <p:cNvSpPr txBox="1"/>
              <p:nvPr/>
            </p:nvSpPr>
            <p:spPr>
              <a:xfrm>
                <a:off x="5576557" y="1266111"/>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人员</a:t>
                </a:r>
              </a:p>
            </p:txBody>
          </p:sp>
          <p:sp>
            <p:nvSpPr>
              <p:cNvPr id="144" name="Ellipse 144"/>
              <p:cNvSpPr/>
              <p:nvPr/>
            </p:nvSpPr>
            <p:spPr>
              <a:xfrm>
                <a:off x="4533900" y="1762125"/>
                <a:ext cx="381000" cy="381000"/>
              </a:xfrm>
              <a:prstGeom prst="ellipse">
                <a:avLst/>
              </a:prstGeom>
              <a:solidFill>
                <a:srgbClr val="FFFFFF"/>
              </a:solidFill>
              <a:ln w="15240">
                <a:solidFill>
                  <a:srgbClr val="7C3B2F"/>
                </a:solidFill>
              </a:ln>
            </p:spPr>
          </p:sp>
          <p:grpSp>
            <p:nvGrpSpPr>
              <p:cNvPr id="148" name="Group 148"/>
              <p:cNvGrpSpPr/>
              <p:nvPr/>
            </p:nvGrpSpPr>
            <p:grpSpPr>
              <a:xfrm>
                <a:off x="4681538" y="1840706"/>
                <a:ext cx="107155" cy="128588"/>
                <a:chOff x="4681538" y="1840706"/>
                <a:chExt cx="107155" cy="128588"/>
              </a:xfrm>
            </p:grpSpPr>
            <p:sp>
              <p:nvSpPr>
                <p:cNvPr id="145" name="Freeform 145"/>
                <p:cNvSpPr/>
                <p:nvPr/>
              </p:nvSpPr>
              <p:spPr>
                <a:xfrm>
                  <a:off x="4695825" y="18407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C3B2F"/>
                  </a:solidFill>
                </a:ln>
              </p:spPr>
            </p:sp>
            <p:sp>
              <p:nvSpPr>
                <p:cNvPr id="146" name="Freeform 146"/>
                <p:cNvSpPr/>
                <p:nvPr/>
              </p:nvSpPr>
              <p:spPr>
                <a:xfrm>
                  <a:off x="4681538" y="1926431"/>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7C3B2F"/>
                  </a:solidFill>
                </a:ln>
              </p:spPr>
            </p:sp>
            <p:sp>
              <p:nvSpPr>
                <p:cNvPr id="147" name="Freeform 147"/>
                <p:cNvSpPr/>
                <p:nvPr/>
              </p:nvSpPr>
              <p:spPr>
                <a:xfrm>
                  <a:off x="4745831" y="1940719"/>
                  <a:ext cx="42862" cy="28575"/>
                </a:xfrm>
                <a:custGeom>
                  <a:avLst/>
                  <a:gdLst/>
                  <a:ahLst/>
                  <a:cxnLst/>
                  <a:rect l="l" t="t" r="r" b="b"/>
                  <a:pathLst>
                    <a:path w="42862" h="28575">
                      <a:moveTo>
                        <a:pt x="0" y="14288"/>
                      </a:moveTo>
                      <a:lnTo>
                        <a:pt x="14288" y="28575"/>
                      </a:lnTo>
                      <a:lnTo>
                        <a:pt x="42862" y="0"/>
                      </a:lnTo>
                    </a:path>
                  </a:pathLst>
                </a:custGeom>
                <a:noFill/>
                <a:ln w="14288">
                  <a:solidFill>
                    <a:srgbClr val="7C3B2F"/>
                  </a:solidFill>
                </a:ln>
              </p:spPr>
            </p:sp>
          </p:grpSp>
          <p:sp>
            <p:nvSpPr>
              <p:cNvPr id="149" name="TextBox 149"/>
              <p:cNvSpPr txBox="1"/>
              <p:nvPr/>
            </p:nvSpPr>
            <p:spPr>
              <a:xfrm>
                <a:off x="4624057" y="2018586"/>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客户</a:t>
                </a:r>
              </a:p>
            </p:txBody>
          </p:sp>
          <p:sp>
            <p:nvSpPr>
              <p:cNvPr id="150" name="Ellipse 150"/>
              <p:cNvSpPr/>
              <p:nvPr/>
            </p:nvSpPr>
            <p:spPr>
              <a:xfrm>
                <a:off x="6438900" y="1762125"/>
                <a:ext cx="381000" cy="381000"/>
              </a:xfrm>
              <a:prstGeom prst="ellipse">
                <a:avLst/>
              </a:prstGeom>
              <a:solidFill>
                <a:srgbClr val="FFFFFF"/>
              </a:solidFill>
              <a:ln w="15240">
                <a:solidFill>
                  <a:srgbClr val="7C3B2F"/>
                </a:solidFill>
              </a:ln>
            </p:spPr>
          </p:sp>
          <p:grpSp>
            <p:nvGrpSpPr>
              <p:cNvPr id="155" name="Group 155"/>
              <p:cNvGrpSpPr/>
              <p:nvPr/>
            </p:nvGrpSpPr>
            <p:grpSpPr>
              <a:xfrm>
                <a:off x="6572250" y="1840706"/>
                <a:ext cx="114300" cy="128588"/>
                <a:chOff x="6572250" y="1840706"/>
                <a:chExt cx="114300" cy="128588"/>
              </a:xfrm>
            </p:grpSpPr>
            <p:sp>
              <p:nvSpPr>
                <p:cNvPr id="151" name="Freeform 151"/>
                <p:cNvSpPr/>
                <p:nvPr/>
              </p:nvSpPr>
              <p:spPr>
                <a:xfrm>
                  <a:off x="6572250" y="194071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C3B2F"/>
                  </a:solidFill>
                </a:ln>
              </p:spPr>
            </p:sp>
            <p:sp>
              <p:nvSpPr>
                <p:cNvPr id="152" name="Freeform 152"/>
                <p:cNvSpPr/>
                <p:nvPr/>
              </p:nvSpPr>
              <p:spPr>
                <a:xfrm>
                  <a:off x="6650831" y="194071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C3B2F"/>
                  </a:solidFill>
                </a:ln>
              </p:spPr>
            </p:sp>
            <p:sp>
              <p:nvSpPr>
                <p:cNvPr id="153" name="Freeform 153"/>
                <p:cNvSpPr/>
                <p:nvPr/>
              </p:nvSpPr>
              <p:spPr>
                <a:xfrm>
                  <a:off x="6572250" y="1840706"/>
                  <a:ext cx="92869" cy="100012"/>
                </a:xfrm>
                <a:custGeom>
                  <a:avLst/>
                  <a:gdLst/>
                  <a:ahLst/>
                  <a:cxnLst/>
                  <a:rect l="l" t="t" r="r" b="b"/>
                  <a:pathLst>
                    <a:path w="92869" h="100012">
                      <a:moveTo>
                        <a:pt x="92869" y="100012"/>
                      </a:moveTo>
                      <a:lnTo>
                        <a:pt x="14288" y="100012"/>
                      </a:lnTo>
                      <a:lnTo>
                        <a:pt x="14288" y="0"/>
                      </a:lnTo>
                      <a:lnTo>
                        <a:pt x="0" y="0"/>
                      </a:lnTo>
                    </a:path>
                  </a:pathLst>
                </a:custGeom>
                <a:noFill/>
                <a:ln w="14288">
                  <a:solidFill>
                    <a:srgbClr val="7C3B2F"/>
                  </a:solidFill>
                </a:ln>
              </p:spPr>
            </p:sp>
            <p:sp>
              <p:nvSpPr>
                <p:cNvPr id="154" name="Freeform 154"/>
                <p:cNvSpPr/>
                <p:nvPr/>
              </p:nvSpPr>
              <p:spPr>
                <a:xfrm>
                  <a:off x="6586538" y="1854994"/>
                  <a:ext cx="100012" cy="57150"/>
                </a:xfrm>
                <a:custGeom>
                  <a:avLst/>
                  <a:gdLst/>
                  <a:ahLst/>
                  <a:cxnLst/>
                  <a:rect l="l" t="t" r="r" b="b"/>
                  <a:pathLst>
                    <a:path w="100012" h="57150">
                      <a:moveTo>
                        <a:pt x="0" y="0"/>
                      </a:moveTo>
                      <a:lnTo>
                        <a:pt x="100012" y="7144"/>
                      </a:lnTo>
                      <a:lnTo>
                        <a:pt x="92869" y="57150"/>
                      </a:lnTo>
                      <a:lnTo>
                        <a:pt x="0" y="57150"/>
                      </a:lnTo>
                    </a:path>
                  </a:pathLst>
                </a:custGeom>
                <a:noFill/>
                <a:ln w="14288">
                  <a:solidFill>
                    <a:srgbClr val="7C3B2F"/>
                  </a:solidFill>
                </a:ln>
              </p:spPr>
            </p:sp>
          </p:grpSp>
          <p:sp>
            <p:nvSpPr>
              <p:cNvPr id="156" name="TextBox 156"/>
              <p:cNvSpPr txBox="1"/>
              <p:nvPr/>
            </p:nvSpPr>
            <p:spPr>
              <a:xfrm>
                <a:off x="6529057" y="2018586"/>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产品</a:t>
                </a:r>
              </a:p>
            </p:txBody>
          </p:sp>
          <p:sp>
            <p:nvSpPr>
              <p:cNvPr id="157" name="Ellipse 157"/>
              <p:cNvSpPr/>
              <p:nvPr/>
            </p:nvSpPr>
            <p:spPr>
              <a:xfrm>
                <a:off x="5467350" y="2514600"/>
                <a:ext cx="419100" cy="419100"/>
              </a:xfrm>
              <a:prstGeom prst="ellipse">
                <a:avLst/>
              </a:prstGeom>
              <a:solidFill>
                <a:srgbClr val="42140B"/>
              </a:solidFill>
              <a:ln w="9525">
                <a:solidFill>
                  <a:srgbClr val="42140B"/>
                </a:solidFill>
              </a:ln>
            </p:spPr>
          </p:sp>
          <p:grpSp>
            <p:nvGrpSpPr>
              <p:cNvPr id="163" name="Group 163"/>
              <p:cNvGrpSpPr/>
              <p:nvPr/>
            </p:nvGrpSpPr>
            <p:grpSpPr>
              <a:xfrm>
                <a:off x="5626894" y="2593181"/>
                <a:ext cx="100013" cy="128588"/>
                <a:chOff x="5626894" y="2593181"/>
                <a:chExt cx="100013" cy="128588"/>
              </a:xfrm>
            </p:grpSpPr>
            <p:sp>
              <p:nvSpPr>
                <p:cNvPr id="158" name="Freeform 158"/>
                <p:cNvSpPr/>
                <p:nvPr/>
              </p:nvSpPr>
              <p:spPr>
                <a:xfrm>
                  <a:off x="5691188" y="25931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159" name="Freeform 159"/>
                <p:cNvSpPr/>
                <p:nvPr/>
              </p:nvSpPr>
              <p:spPr>
                <a:xfrm>
                  <a:off x="5626894" y="25931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160" name="Freeform 160"/>
                <p:cNvSpPr/>
                <p:nvPr/>
              </p:nvSpPr>
              <p:spPr>
                <a:xfrm>
                  <a:off x="5655469" y="2636044"/>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161" name="Freeform 161"/>
                <p:cNvSpPr/>
                <p:nvPr/>
              </p:nvSpPr>
              <p:spPr>
                <a:xfrm>
                  <a:off x="5655469" y="2664619"/>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162" name="Freeform 162"/>
                <p:cNvSpPr/>
                <p:nvPr/>
              </p:nvSpPr>
              <p:spPr>
                <a:xfrm>
                  <a:off x="5655469" y="2693194"/>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164" name="TextBox 164"/>
              <p:cNvSpPr txBox="1"/>
              <p:nvPr/>
            </p:nvSpPr>
            <p:spPr>
              <a:xfrm>
                <a:off x="5576557" y="27996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合同</a:t>
                </a:r>
              </a:p>
            </p:txBody>
          </p:sp>
          <p:sp>
            <p:nvSpPr>
              <p:cNvPr id="165" name="Ellipse 165"/>
              <p:cNvSpPr/>
              <p:nvPr/>
            </p:nvSpPr>
            <p:spPr>
              <a:xfrm>
                <a:off x="4629150" y="3390900"/>
                <a:ext cx="381000" cy="381000"/>
              </a:xfrm>
              <a:prstGeom prst="ellipse">
                <a:avLst/>
              </a:prstGeom>
              <a:solidFill>
                <a:srgbClr val="FFFFFF"/>
              </a:solidFill>
              <a:ln w="15240">
                <a:solidFill>
                  <a:srgbClr val="7C3B2F"/>
                </a:solidFill>
              </a:ln>
            </p:spPr>
          </p:sp>
          <p:grpSp>
            <p:nvGrpSpPr>
              <p:cNvPr id="174" name="Group 174"/>
              <p:cNvGrpSpPr/>
              <p:nvPr/>
            </p:nvGrpSpPr>
            <p:grpSpPr>
              <a:xfrm>
                <a:off x="4755356" y="3469481"/>
                <a:ext cx="130969" cy="138113"/>
                <a:chOff x="4755356" y="3469481"/>
                <a:chExt cx="130969" cy="138113"/>
              </a:xfrm>
            </p:grpSpPr>
            <p:sp>
              <p:nvSpPr>
                <p:cNvPr id="166" name="Freeform 166"/>
                <p:cNvSpPr/>
                <p:nvPr/>
              </p:nvSpPr>
              <p:spPr>
                <a:xfrm>
                  <a:off x="4755356" y="3598069"/>
                  <a:ext cx="128588" cy="9525"/>
                </a:xfrm>
                <a:custGeom>
                  <a:avLst/>
                  <a:gdLst/>
                  <a:ahLst/>
                  <a:cxnLst/>
                  <a:rect l="l" t="t" r="r" b="b"/>
                  <a:pathLst>
                    <a:path w="128588" h="9525">
                      <a:moveTo>
                        <a:pt x="0" y="0"/>
                      </a:moveTo>
                      <a:lnTo>
                        <a:pt x="128588" y="0"/>
                      </a:lnTo>
                    </a:path>
                  </a:pathLst>
                </a:custGeom>
                <a:noFill/>
                <a:ln w="14288">
                  <a:solidFill>
                    <a:srgbClr val="7C3B2F"/>
                  </a:solidFill>
                </a:ln>
              </p:spPr>
            </p:sp>
            <p:sp>
              <p:nvSpPr>
                <p:cNvPr id="167" name="Freeform 167"/>
                <p:cNvSpPr/>
                <p:nvPr/>
              </p:nvSpPr>
              <p:spPr>
                <a:xfrm>
                  <a:off x="4755356" y="3519488"/>
                  <a:ext cx="128588" cy="9525"/>
                </a:xfrm>
                <a:custGeom>
                  <a:avLst/>
                  <a:gdLst/>
                  <a:ahLst/>
                  <a:cxnLst/>
                  <a:rect l="l" t="t" r="r" b="b"/>
                  <a:pathLst>
                    <a:path w="128588" h="9525">
                      <a:moveTo>
                        <a:pt x="0" y="0"/>
                      </a:moveTo>
                      <a:lnTo>
                        <a:pt x="128588" y="0"/>
                      </a:lnTo>
                    </a:path>
                  </a:pathLst>
                </a:custGeom>
                <a:noFill/>
                <a:ln w="14288">
                  <a:solidFill>
                    <a:srgbClr val="7C3B2F"/>
                  </a:solidFill>
                </a:ln>
              </p:spPr>
            </p:sp>
            <p:sp>
              <p:nvSpPr>
                <p:cNvPr id="168" name="Freeform 168"/>
                <p:cNvSpPr/>
                <p:nvPr/>
              </p:nvSpPr>
              <p:spPr>
                <a:xfrm>
                  <a:off x="4769644" y="3469481"/>
                  <a:ext cx="100012" cy="21431"/>
                </a:xfrm>
                <a:custGeom>
                  <a:avLst/>
                  <a:gdLst/>
                  <a:ahLst/>
                  <a:cxnLst/>
                  <a:rect l="l" t="t" r="r" b="b"/>
                  <a:pathLst>
                    <a:path w="100012" h="21431">
                      <a:moveTo>
                        <a:pt x="0" y="21431"/>
                      </a:moveTo>
                      <a:lnTo>
                        <a:pt x="50006" y="0"/>
                      </a:lnTo>
                      <a:lnTo>
                        <a:pt x="100012" y="21431"/>
                      </a:lnTo>
                    </a:path>
                  </a:pathLst>
                </a:custGeom>
                <a:noFill/>
                <a:ln w="14288">
                  <a:solidFill>
                    <a:srgbClr val="7C3B2F"/>
                  </a:solidFill>
                </a:ln>
              </p:spPr>
            </p:sp>
            <p:sp>
              <p:nvSpPr>
                <p:cNvPr id="169" name="Freeform 169"/>
                <p:cNvSpPr/>
                <p:nvPr/>
              </p:nvSpPr>
              <p:spPr>
                <a:xfrm>
                  <a:off x="4762500" y="3519488"/>
                  <a:ext cx="9525" cy="78581"/>
                </a:xfrm>
                <a:custGeom>
                  <a:avLst/>
                  <a:gdLst/>
                  <a:ahLst/>
                  <a:cxnLst/>
                  <a:rect l="l" t="t" r="r" b="b"/>
                  <a:pathLst>
                    <a:path w="9525" h="78581">
                      <a:moveTo>
                        <a:pt x="0" y="0"/>
                      </a:moveTo>
                      <a:lnTo>
                        <a:pt x="0" y="78581"/>
                      </a:lnTo>
                    </a:path>
                  </a:pathLst>
                </a:custGeom>
                <a:noFill/>
                <a:ln w="14288">
                  <a:solidFill>
                    <a:srgbClr val="7C3B2F"/>
                  </a:solidFill>
                </a:ln>
              </p:spPr>
            </p:sp>
            <p:sp>
              <p:nvSpPr>
                <p:cNvPr id="170" name="Freeform 170"/>
                <p:cNvSpPr/>
                <p:nvPr/>
              </p:nvSpPr>
              <p:spPr>
                <a:xfrm>
                  <a:off x="4876800" y="3519488"/>
                  <a:ext cx="9525" cy="78581"/>
                </a:xfrm>
                <a:custGeom>
                  <a:avLst/>
                  <a:gdLst/>
                  <a:ahLst/>
                  <a:cxnLst/>
                  <a:rect l="l" t="t" r="r" b="b"/>
                  <a:pathLst>
                    <a:path w="9525" h="78581">
                      <a:moveTo>
                        <a:pt x="0" y="0"/>
                      </a:moveTo>
                      <a:lnTo>
                        <a:pt x="0" y="78581"/>
                      </a:lnTo>
                    </a:path>
                  </a:pathLst>
                </a:custGeom>
                <a:noFill/>
                <a:ln w="14288">
                  <a:solidFill>
                    <a:srgbClr val="7C3B2F"/>
                  </a:solidFill>
                </a:ln>
              </p:spPr>
            </p:sp>
            <p:sp>
              <p:nvSpPr>
                <p:cNvPr id="171" name="Freeform 171"/>
                <p:cNvSpPr/>
                <p:nvPr/>
              </p:nvSpPr>
              <p:spPr>
                <a:xfrm>
                  <a:off x="4791075" y="3548062"/>
                  <a:ext cx="9525" cy="21431"/>
                </a:xfrm>
                <a:custGeom>
                  <a:avLst/>
                  <a:gdLst/>
                  <a:ahLst/>
                  <a:cxnLst/>
                  <a:rect l="l" t="t" r="r" b="b"/>
                  <a:pathLst>
                    <a:path w="9525" h="21431">
                      <a:moveTo>
                        <a:pt x="0" y="0"/>
                      </a:moveTo>
                      <a:lnTo>
                        <a:pt x="0" y="21431"/>
                      </a:lnTo>
                    </a:path>
                  </a:pathLst>
                </a:custGeom>
                <a:noFill/>
                <a:ln w="14288">
                  <a:solidFill>
                    <a:srgbClr val="7C3B2F"/>
                  </a:solidFill>
                </a:ln>
              </p:spPr>
            </p:sp>
            <p:sp>
              <p:nvSpPr>
                <p:cNvPr id="172" name="Freeform 172"/>
                <p:cNvSpPr/>
                <p:nvPr/>
              </p:nvSpPr>
              <p:spPr>
                <a:xfrm>
                  <a:off x="4819650" y="3548062"/>
                  <a:ext cx="9525" cy="21431"/>
                </a:xfrm>
                <a:custGeom>
                  <a:avLst/>
                  <a:gdLst/>
                  <a:ahLst/>
                  <a:cxnLst/>
                  <a:rect l="l" t="t" r="r" b="b"/>
                  <a:pathLst>
                    <a:path w="9525" h="21431">
                      <a:moveTo>
                        <a:pt x="0" y="0"/>
                      </a:moveTo>
                      <a:lnTo>
                        <a:pt x="0" y="21431"/>
                      </a:lnTo>
                    </a:path>
                  </a:pathLst>
                </a:custGeom>
                <a:noFill/>
                <a:ln w="14288">
                  <a:solidFill>
                    <a:srgbClr val="7C3B2F"/>
                  </a:solidFill>
                </a:ln>
              </p:spPr>
            </p:sp>
            <p:sp>
              <p:nvSpPr>
                <p:cNvPr id="173" name="Freeform 173"/>
                <p:cNvSpPr/>
                <p:nvPr/>
              </p:nvSpPr>
              <p:spPr>
                <a:xfrm>
                  <a:off x="4848225" y="3548062"/>
                  <a:ext cx="9525" cy="21431"/>
                </a:xfrm>
                <a:custGeom>
                  <a:avLst/>
                  <a:gdLst/>
                  <a:ahLst/>
                  <a:cxnLst/>
                  <a:rect l="l" t="t" r="r" b="b"/>
                  <a:pathLst>
                    <a:path w="9525" h="21431">
                      <a:moveTo>
                        <a:pt x="0" y="0"/>
                      </a:moveTo>
                      <a:lnTo>
                        <a:pt x="0" y="21431"/>
                      </a:lnTo>
                    </a:path>
                  </a:pathLst>
                </a:custGeom>
                <a:noFill/>
                <a:ln w="14288">
                  <a:solidFill>
                    <a:srgbClr val="7C3B2F"/>
                  </a:solidFill>
                </a:ln>
              </p:spPr>
            </p:sp>
          </p:grpSp>
          <p:sp>
            <p:nvSpPr>
              <p:cNvPr id="175" name="TextBox 175"/>
              <p:cNvSpPr txBox="1"/>
              <p:nvPr/>
            </p:nvSpPr>
            <p:spPr>
              <a:xfrm>
                <a:off x="4719307" y="3647361"/>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制度</a:t>
                </a:r>
              </a:p>
            </p:txBody>
          </p:sp>
          <p:sp>
            <p:nvSpPr>
              <p:cNvPr id="176" name="Ellipse 176"/>
              <p:cNvSpPr/>
              <p:nvPr/>
            </p:nvSpPr>
            <p:spPr>
              <a:xfrm>
                <a:off x="6343650" y="3390900"/>
                <a:ext cx="381000" cy="381000"/>
              </a:xfrm>
              <a:prstGeom prst="ellipse">
                <a:avLst/>
              </a:prstGeom>
              <a:solidFill>
                <a:srgbClr val="FFFFFF"/>
              </a:solidFill>
              <a:ln w="15240">
                <a:solidFill>
                  <a:srgbClr val="7C3B2F"/>
                </a:solidFill>
              </a:ln>
            </p:spPr>
          </p:sp>
          <p:grpSp>
            <p:nvGrpSpPr>
              <p:cNvPr id="181" name="Group 181"/>
              <p:cNvGrpSpPr/>
              <p:nvPr/>
            </p:nvGrpSpPr>
            <p:grpSpPr>
              <a:xfrm>
                <a:off x="6469856" y="3469481"/>
                <a:ext cx="128588" cy="121444"/>
                <a:chOff x="6469856" y="3469481"/>
                <a:chExt cx="128588" cy="121444"/>
              </a:xfrm>
            </p:grpSpPr>
            <p:sp>
              <p:nvSpPr>
                <p:cNvPr id="177" name="Freeform 177"/>
                <p:cNvSpPr/>
                <p:nvPr/>
              </p:nvSpPr>
              <p:spPr>
                <a:xfrm>
                  <a:off x="6469856" y="3498056"/>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7C3B2F"/>
                  </a:solidFill>
                </a:ln>
              </p:spPr>
            </p:sp>
            <p:sp>
              <p:nvSpPr>
                <p:cNvPr id="178" name="Freeform 178"/>
                <p:cNvSpPr/>
                <p:nvPr/>
              </p:nvSpPr>
              <p:spPr>
                <a:xfrm>
                  <a:off x="6505575" y="3469481"/>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7C3B2F"/>
                  </a:solidFill>
                </a:ln>
              </p:spPr>
            </p:sp>
            <p:sp>
              <p:nvSpPr>
                <p:cNvPr id="179" name="Freeform 179"/>
                <p:cNvSpPr/>
                <p:nvPr/>
              </p:nvSpPr>
              <p:spPr>
                <a:xfrm>
                  <a:off x="6534150" y="3533775"/>
                  <a:ext cx="9525" cy="9525"/>
                </a:xfrm>
                <a:custGeom>
                  <a:avLst/>
                  <a:gdLst/>
                  <a:ahLst/>
                  <a:cxnLst/>
                  <a:rect l="l" t="t" r="r" b="b"/>
                  <a:pathLst>
                    <a:path w="9525" h="9525">
                      <a:moveTo>
                        <a:pt x="0" y="0"/>
                      </a:moveTo>
                      <a:lnTo>
                        <a:pt x="0" y="71"/>
                      </a:lnTo>
                    </a:path>
                  </a:pathLst>
                </a:custGeom>
                <a:noFill/>
                <a:ln w="14288">
                  <a:solidFill>
                    <a:srgbClr val="7C3B2F"/>
                  </a:solidFill>
                </a:ln>
              </p:spPr>
            </p:sp>
            <p:sp>
              <p:nvSpPr>
                <p:cNvPr id="180" name="Freeform 180"/>
                <p:cNvSpPr/>
                <p:nvPr/>
              </p:nvSpPr>
              <p:spPr>
                <a:xfrm>
                  <a:off x="6469856" y="3540919"/>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7C3B2F"/>
                  </a:solidFill>
                </a:ln>
              </p:spPr>
            </p:sp>
          </p:grpSp>
          <p:sp>
            <p:nvSpPr>
              <p:cNvPr id="182" name="TextBox 182"/>
              <p:cNvSpPr txBox="1"/>
              <p:nvPr/>
            </p:nvSpPr>
            <p:spPr>
              <a:xfrm>
                <a:off x="6433807" y="3647361"/>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项目</a:t>
                </a:r>
              </a:p>
            </p:txBody>
          </p:sp>
          <p:sp>
            <p:nvSpPr>
              <p:cNvPr id="183" name="Ellipse 183"/>
              <p:cNvSpPr/>
              <p:nvPr/>
            </p:nvSpPr>
            <p:spPr>
              <a:xfrm>
                <a:off x="4857750" y="4210050"/>
                <a:ext cx="381000" cy="381000"/>
              </a:xfrm>
              <a:prstGeom prst="ellipse">
                <a:avLst/>
              </a:prstGeom>
              <a:solidFill>
                <a:srgbClr val="FFFFFF"/>
              </a:solidFill>
              <a:ln w="15240">
                <a:solidFill>
                  <a:srgbClr val="C93F27"/>
                </a:solidFill>
              </a:ln>
            </p:spPr>
          </p:sp>
          <p:grpSp>
            <p:nvGrpSpPr>
              <p:cNvPr id="187" name="Group 187"/>
              <p:cNvGrpSpPr/>
              <p:nvPr/>
            </p:nvGrpSpPr>
            <p:grpSpPr>
              <a:xfrm>
                <a:off x="4976204" y="4286258"/>
                <a:ext cx="144086" cy="123788"/>
                <a:chOff x="4976204" y="4286258"/>
                <a:chExt cx="144086" cy="123788"/>
              </a:xfrm>
            </p:grpSpPr>
            <p:sp>
              <p:nvSpPr>
                <p:cNvPr id="184" name="Freeform 184"/>
                <p:cNvSpPr/>
                <p:nvPr/>
              </p:nvSpPr>
              <p:spPr>
                <a:xfrm>
                  <a:off x="5048250" y="4331494"/>
                  <a:ext cx="9525" cy="28575"/>
                </a:xfrm>
                <a:custGeom>
                  <a:avLst/>
                  <a:gdLst/>
                  <a:ahLst/>
                  <a:cxnLst/>
                  <a:rect l="l" t="t" r="r" b="b"/>
                  <a:pathLst>
                    <a:path w="9525" h="28575">
                      <a:moveTo>
                        <a:pt x="0" y="0"/>
                      </a:moveTo>
                      <a:lnTo>
                        <a:pt x="0" y="28575"/>
                      </a:lnTo>
                    </a:path>
                  </a:pathLst>
                </a:custGeom>
                <a:noFill/>
                <a:ln w="14288">
                  <a:solidFill>
                    <a:srgbClr val="C93F27"/>
                  </a:solidFill>
                </a:ln>
              </p:spPr>
            </p:sp>
            <p:sp>
              <p:nvSpPr>
                <p:cNvPr id="185" name="Freeform 185"/>
                <p:cNvSpPr/>
                <p:nvPr/>
              </p:nvSpPr>
              <p:spPr>
                <a:xfrm>
                  <a:off x="4976204" y="4286258"/>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C93F27"/>
                  </a:solidFill>
                </a:ln>
              </p:spPr>
            </p:sp>
            <p:sp>
              <p:nvSpPr>
                <p:cNvPr id="186" name="Freeform 186"/>
                <p:cNvSpPr/>
                <p:nvPr/>
              </p:nvSpPr>
              <p:spPr>
                <a:xfrm>
                  <a:off x="5048250" y="4381500"/>
                  <a:ext cx="9525" cy="9525"/>
                </a:xfrm>
                <a:custGeom>
                  <a:avLst/>
                  <a:gdLst/>
                  <a:ahLst/>
                  <a:cxnLst/>
                  <a:rect l="l" t="t" r="r" b="b"/>
                  <a:pathLst>
                    <a:path w="9525" h="9525">
                      <a:moveTo>
                        <a:pt x="0" y="0"/>
                      </a:moveTo>
                      <a:lnTo>
                        <a:pt x="71" y="0"/>
                      </a:lnTo>
                    </a:path>
                  </a:pathLst>
                </a:custGeom>
                <a:noFill/>
                <a:ln w="14288">
                  <a:solidFill>
                    <a:srgbClr val="C93F27"/>
                  </a:solidFill>
                </a:ln>
              </p:spPr>
            </p:sp>
          </p:grpSp>
          <p:sp>
            <p:nvSpPr>
              <p:cNvPr id="188" name="TextBox 188"/>
              <p:cNvSpPr txBox="1"/>
              <p:nvPr/>
            </p:nvSpPr>
            <p:spPr>
              <a:xfrm>
                <a:off x="4947907" y="4466511"/>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风险</a:t>
                </a:r>
              </a:p>
            </p:txBody>
          </p:sp>
          <p:sp>
            <p:nvSpPr>
              <p:cNvPr id="189" name="Ellipse 189"/>
              <p:cNvSpPr/>
              <p:nvPr/>
            </p:nvSpPr>
            <p:spPr>
              <a:xfrm>
                <a:off x="5867400" y="4210050"/>
                <a:ext cx="381000" cy="381000"/>
              </a:xfrm>
              <a:prstGeom prst="ellipse">
                <a:avLst/>
              </a:prstGeom>
              <a:solidFill>
                <a:srgbClr val="FFFFFF"/>
              </a:solidFill>
              <a:ln w="15240">
                <a:solidFill>
                  <a:srgbClr val="7C3B2F"/>
                </a:solidFill>
              </a:ln>
            </p:spPr>
          </p:sp>
          <p:grpSp>
            <p:nvGrpSpPr>
              <p:cNvPr id="195" name="Group 195"/>
              <p:cNvGrpSpPr/>
              <p:nvPr/>
            </p:nvGrpSpPr>
            <p:grpSpPr>
              <a:xfrm>
                <a:off x="5993606" y="4288631"/>
                <a:ext cx="128587" cy="128587"/>
                <a:chOff x="5993606" y="4288631"/>
                <a:chExt cx="128587" cy="128587"/>
              </a:xfrm>
            </p:grpSpPr>
            <p:sp>
              <p:nvSpPr>
                <p:cNvPr id="190" name="Freeform 190"/>
                <p:cNvSpPr/>
                <p:nvPr/>
              </p:nvSpPr>
              <p:spPr>
                <a:xfrm>
                  <a:off x="5993606" y="437435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C3B2F"/>
                  </a:solidFill>
                </a:ln>
              </p:spPr>
            </p:sp>
            <p:sp>
              <p:nvSpPr>
                <p:cNvPr id="191" name="Freeform 191"/>
                <p:cNvSpPr/>
                <p:nvPr/>
              </p:nvSpPr>
              <p:spPr>
                <a:xfrm>
                  <a:off x="6079331" y="437435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C3B2F"/>
                  </a:solidFill>
                </a:ln>
              </p:spPr>
            </p:sp>
            <p:sp>
              <p:nvSpPr>
                <p:cNvPr id="192" name="Freeform 192"/>
                <p:cNvSpPr/>
                <p:nvPr/>
              </p:nvSpPr>
              <p:spPr>
                <a:xfrm>
                  <a:off x="6036469" y="428863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C3B2F"/>
                  </a:solidFill>
                </a:ln>
              </p:spPr>
            </p:sp>
            <p:sp>
              <p:nvSpPr>
                <p:cNvPr id="193" name="Freeform 193"/>
                <p:cNvSpPr/>
                <p:nvPr/>
              </p:nvSpPr>
              <p:spPr>
                <a:xfrm>
                  <a:off x="6015038" y="4352925"/>
                  <a:ext cx="85725" cy="21431"/>
                </a:xfrm>
                <a:custGeom>
                  <a:avLst/>
                  <a:gdLst/>
                  <a:ahLst/>
                  <a:cxnLst/>
                  <a:rect l="l" t="t" r="r" b="b"/>
                  <a:pathLst>
                    <a:path w="85725" h="21431">
                      <a:moveTo>
                        <a:pt x="0" y="21431"/>
                      </a:moveTo>
                      <a:lnTo>
                        <a:pt x="0" y="14288"/>
                      </a:lnTo>
                      <a:cubicBezTo>
                        <a:pt x="0" y="6397"/>
                        <a:pt x="6397" y="0"/>
                        <a:pt x="14288" y="0"/>
                      </a:cubicBezTo>
                      <a:lnTo>
                        <a:pt x="71438" y="0"/>
                      </a:lnTo>
                      <a:cubicBezTo>
                        <a:pt x="79328" y="0"/>
                        <a:pt x="85725" y="6397"/>
                        <a:pt x="85725" y="14288"/>
                      </a:cubicBezTo>
                      <a:lnTo>
                        <a:pt x="85725" y="21431"/>
                      </a:lnTo>
                    </a:path>
                  </a:pathLst>
                </a:custGeom>
                <a:noFill/>
                <a:ln w="14288">
                  <a:solidFill>
                    <a:srgbClr val="7C3B2F"/>
                  </a:solidFill>
                </a:ln>
              </p:spPr>
            </p:sp>
            <p:sp>
              <p:nvSpPr>
                <p:cNvPr id="194" name="Freeform 194"/>
                <p:cNvSpPr/>
                <p:nvPr/>
              </p:nvSpPr>
              <p:spPr>
                <a:xfrm>
                  <a:off x="6057900" y="4331494"/>
                  <a:ext cx="9525" cy="21431"/>
                </a:xfrm>
                <a:custGeom>
                  <a:avLst/>
                  <a:gdLst/>
                  <a:ahLst/>
                  <a:cxnLst/>
                  <a:rect l="l" t="t" r="r" b="b"/>
                  <a:pathLst>
                    <a:path w="9525" h="21431">
                      <a:moveTo>
                        <a:pt x="0" y="0"/>
                      </a:moveTo>
                      <a:lnTo>
                        <a:pt x="0" y="21431"/>
                      </a:lnTo>
                    </a:path>
                  </a:pathLst>
                </a:custGeom>
                <a:noFill/>
                <a:ln w="14288">
                  <a:solidFill>
                    <a:srgbClr val="7C3B2F"/>
                  </a:solidFill>
                </a:ln>
              </p:spPr>
            </p:sp>
          </p:grpSp>
          <p:sp>
            <p:nvSpPr>
              <p:cNvPr id="196" name="TextBox 196"/>
              <p:cNvSpPr txBox="1"/>
              <p:nvPr/>
            </p:nvSpPr>
            <p:spPr>
              <a:xfrm>
                <a:off x="5957557" y="4466511"/>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流程</a:t>
                </a:r>
              </a:p>
            </p:txBody>
          </p:sp>
        </p:grpSp>
      </p:grpSp>
      <p:grpSp>
        <p:nvGrpSpPr>
          <p:cNvPr id="300" name="schema-table"/>
          <p:cNvGrpSpPr/>
          <p:nvPr/>
        </p:nvGrpSpPr>
        <p:grpSpPr>
          <a:xfrm>
            <a:off x="7372350" y="666750"/>
            <a:ext cx="4591050" cy="3905488"/>
            <a:chOff x="7372350" y="666750"/>
            <a:chExt cx="4591050" cy="3905488"/>
          </a:xfrm>
        </p:grpSpPr>
        <p:sp>
          <p:nvSpPr>
            <p:cNvPr id="199" name="Rectangle 199"/>
            <p:cNvSpPr/>
            <p:nvPr/>
          </p:nvSpPr>
          <p:spPr>
            <a:xfrm>
              <a:off x="7372350" y="666750"/>
              <a:ext cx="2667000" cy="228600"/>
            </a:xfrm>
            <a:prstGeom prst="roundRect">
              <a:avLst>
                <a:gd name="adj" fmla="val 25000"/>
              </a:avLst>
            </a:prstGeom>
            <a:solidFill>
              <a:srgbClr val="42140B"/>
            </a:solidFill>
            <a:ln>
              <a:noFill/>
            </a:ln>
          </p:spPr>
        </p:sp>
        <p:sp>
          <p:nvSpPr>
            <p:cNvPr id="200" name="TextBox 200"/>
            <p:cNvSpPr txBox="1"/>
            <p:nvPr/>
          </p:nvSpPr>
          <p:spPr>
            <a:xfrm>
              <a:off x="7688832" y="731520"/>
              <a:ext cx="203403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 xml:space="preserve">元数据Schema（统一管理与标注）　</a:t>
              </a:r>
            </a:p>
          </p:txBody>
        </p:sp>
        <p:grpSp>
          <p:nvGrpSpPr>
            <p:cNvPr id="232" name="schema-required"/>
            <p:cNvGrpSpPr/>
            <p:nvPr/>
          </p:nvGrpSpPr>
          <p:grpSpPr>
            <a:xfrm>
              <a:off x="7372350" y="971550"/>
              <a:ext cx="4552950" cy="952500"/>
              <a:chOff x="7372350" y="971550"/>
              <a:chExt cx="4552950" cy="952500"/>
            </a:xfrm>
          </p:grpSpPr>
          <p:sp>
            <p:nvSpPr>
              <p:cNvPr id="201" name="Rectangle 201"/>
              <p:cNvSpPr/>
              <p:nvPr/>
            </p:nvSpPr>
            <p:spPr>
              <a:xfrm>
                <a:off x="7372350" y="971550"/>
                <a:ext cx="609600" cy="952500"/>
              </a:xfrm>
              <a:prstGeom prst="roundRect">
                <a:avLst>
                  <a:gd name="adj" fmla="val 12500"/>
                </a:avLst>
              </a:prstGeom>
              <a:solidFill>
                <a:srgbClr val="42140B"/>
              </a:solidFill>
              <a:ln>
                <a:noFill/>
              </a:ln>
            </p:spPr>
          </p:sp>
          <p:grpSp>
            <p:nvGrpSpPr>
              <p:cNvPr id="206" name="Group 206"/>
              <p:cNvGrpSpPr/>
              <p:nvPr/>
            </p:nvGrpSpPr>
            <p:grpSpPr>
              <a:xfrm>
                <a:off x="7599363" y="1111250"/>
                <a:ext cx="166687" cy="188913"/>
                <a:chOff x="7599363" y="1111250"/>
                <a:chExt cx="166687" cy="188913"/>
              </a:xfrm>
            </p:grpSpPr>
            <p:sp>
              <p:nvSpPr>
                <p:cNvPr id="202" name="Freeform 202"/>
                <p:cNvSpPr/>
                <p:nvPr/>
              </p:nvSpPr>
              <p:spPr>
                <a:xfrm>
                  <a:off x="7599363" y="1111250"/>
                  <a:ext cx="133350" cy="177801"/>
                </a:xfrm>
                <a:custGeom>
                  <a:avLst/>
                  <a:gdLst/>
                  <a:ahLst/>
                  <a:cxnLst/>
                  <a:rect l="l" t="t" r="r" b="b"/>
                  <a:pathLst>
                    <a:path w="133350" h="177801">
                      <a:moveTo>
                        <a:pt x="51284" y="177801"/>
                      </a:moveTo>
                      <a:lnTo>
                        <a:pt x="22225" y="177801"/>
                      </a:lnTo>
                      <a:cubicBezTo>
                        <a:pt x="9950" y="177801"/>
                        <a:pt x="0" y="167850"/>
                        <a:pt x="0" y="155575"/>
                      </a:cubicBezTo>
                      <a:lnTo>
                        <a:pt x="0" y="22225"/>
                      </a:lnTo>
                      <a:cubicBezTo>
                        <a:pt x="0" y="9950"/>
                        <a:pt x="9950" y="0"/>
                        <a:pt x="22225" y="0"/>
                      </a:cubicBezTo>
                      <a:lnTo>
                        <a:pt x="111125" y="0"/>
                      </a:lnTo>
                      <a:cubicBezTo>
                        <a:pt x="123400" y="0"/>
                        <a:pt x="133350" y="9950"/>
                        <a:pt x="133350" y="22225"/>
                      </a:cubicBezTo>
                      <a:lnTo>
                        <a:pt x="133350" y="111125"/>
                      </a:lnTo>
                    </a:path>
                  </a:pathLst>
                </a:custGeom>
                <a:noFill/>
                <a:ln w="22225">
                  <a:solidFill>
                    <a:srgbClr val="FFFFFF"/>
                  </a:solidFill>
                </a:ln>
              </p:spPr>
            </p:sp>
            <p:sp>
              <p:nvSpPr>
                <p:cNvPr id="203" name="Freeform 203"/>
                <p:cNvSpPr/>
                <p:nvPr/>
              </p:nvSpPr>
              <p:spPr>
                <a:xfrm>
                  <a:off x="7699375" y="1255713"/>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sp>
              <p:nvSpPr>
                <p:cNvPr id="204" name="Freeform 204"/>
                <p:cNvSpPr/>
                <p:nvPr/>
              </p:nvSpPr>
              <p:spPr>
                <a:xfrm>
                  <a:off x="7643813" y="1155700"/>
                  <a:ext cx="44450" cy="9525"/>
                </a:xfrm>
                <a:custGeom>
                  <a:avLst/>
                  <a:gdLst/>
                  <a:ahLst/>
                  <a:cxnLst/>
                  <a:rect l="l" t="t" r="r" b="b"/>
                  <a:pathLst>
                    <a:path w="44450" h="9525">
                      <a:moveTo>
                        <a:pt x="0" y="0"/>
                      </a:moveTo>
                      <a:lnTo>
                        <a:pt x="44450" y="0"/>
                      </a:lnTo>
                    </a:path>
                  </a:pathLst>
                </a:custGeom>
                <a:noFill/>
                <a:ln w="22225">
                  <a:solidFill>
                    <a:srgbClr val="FFFFFF"/>
                  </a:solidFill>
                </a:ln>
              </p:spPr>
            </p:sp>
            <p:sp>
              <p:nvSpPr>
                <p:cNvPr id="205" name="Freeform 205"/>
                <p:cNvSpPr/>
                <p:nvPr/>
              </p:nvSpPr>
              <p:spPr>
                <a:xfrm>
                  <a:off x="7643813" y="1200150"/>
                  <a:ext cx="22225" cy="9525"/>
                </a:xfrm>
                <a:custGeom>
                  <a:avLst/>
                  <a:gdLst/>
                  <a:ahLst/>
                  <a:cxnLst/>
                  <a:rect l="l" t="t" r="r" b="b"/>
                  <a:pathLst>
                    <a:path w="22225" h="9525">
                      <a:moveTo>
                        <a:pt x="0" y="0"/>
                      </a:moveTo>
                      <a:lnTo>
                        <a:pt x="22225" y="0"/>
                      </a:lnTo>
                    </a:path>
                  </a:pathLst>
                </a:custGeom>
                <a:noFill/>
                <a:ln w="22225">
                  <a:solidFill>
                    <a:srgbClr val="FFFFFF"/>
                  </a:solidFill>
                </a:ln>
              </p:spPr>
            </p:sp>
          </p:grpSp>
          <p:sp>
            <p:nvSpPr>
              <p:cNvPr id="207" name="TextBox 207"/>
              <p:cNvSpPr txBox="1"/>
              <p:nvPr/>
            </p:nvSpPr>
            <p:spPr>
              <a:xfrm>
                <a:off x="7459688" y="145803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必填字段</a:t>
                </a:r>
              </a:p>
            </p:txBody>
          </p:sp>
          <p:sp>
            <p:nvSpPr>
              <p:cNvPr id="208" name="Rectangle 208"/>
              <p:cNvSpPr/>
              <p:nvPr/>
            </p:nvSpPr>
            <p:spPr>
              <a:xfrm>
                <a:off x="8039100" y="971550"/>
                <a:ext cx="1257300" cy="209550"/>
              </a:xfrm>
              <a:prstGeom prst="roundRect">
                <a:avLst>
                  <a:gd name="adj" fmla="val 18182"/>
                </a:avLst>
              </a:prstGeom>
              <a:solidFill>
                <a:srgbClr val="F4F8EC"/>
              </a:solidFill>
              <a:ln>
                <a:noFill/>
              </a:ln>
            </p:spPr>
          </p:sp>
          <p:sp>
            <p:nvSpPr>
              <p:cNvPr id="209" name="TextBox 209"/>
              <p:cNvSpPr txBox="1"/>
              <p:nvPr/>
            </p:nvSpPr>
            <p:spPr>
              <a:xfrm>
                <a:off x="8576831" y="1045607"/>
                <a:ext cx="18183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标题</a:t>
                </a:r>
              </a:p>
            </p:txBody>
          </p:sp>
          <p:sp>
            <p:nvSpPr>
              <p:cNvPr id="210" name="Rectangle 210"/>
              <p:cNvSpPr/>
              <p:nvPr/>
            </p:nvSpPr>
            <p:spPr>
              <a:xfrm>
                <a:off x="9353550" y="971550"/>
                <a:ext cx="1257300" cy="209550"/>
              </a:xfrm>
              <a:prstGeom prst="roundRect">
                <a:avLst>
                  <a:gd name="adj" fmla="val 18182"/>
                </a:avLst>
              </a:prstGeom>
              <a:solidFill>
                <a:srgbClr val="F4F8EC"/>
              </a:solidFill>
              <a:ln>
                <a:noFill/>
              </a:ln>
            </p:spPr>
          </p:sp>
          <p:sp>
            <p:nvSpPr>
              <p:cNvPr id="211" name="TextBox 211"/>
              <p:cNvSpPr txBox="1"/>
              <p:nvPr/>
            </p:nvSpPr>
            <p:spPr>
              <a:xfrm>
                <a:off x="9805124" y="10456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实体类型</a:t>
                </a:r>
              </a:p>
            </p:txBody>
          </p:sp>
          <p:sp>
            <p:nvSpPr>
              <p:cNvPr id="212" name="Rectangle 212"/>
              <p:cNvSpPr/>
              <p:nvPr/>
            </p:nvSpPr>
            <p:spPr>
              <a:xfrm>
                <a:off x="10668000" y="971550"/>
                <a:ext cx="1257300" cy="209550"/>
              </a:xfrm>
              <a:prstGeom prst="roundRect">
                <a:avLst>
                  <a:gd name="adj" fmla="val 18182"/>
                </a:avLst>
              </a:prstGeom>
              <a:solidFill>
                <a:srgbClr val="F4F8EC"/>
              </a:solidFill>
              <a:ln>
                <a:noFill/>
              </a:ln>
            </p:spPr>
          </p:sp>
          <p:sp>
            <p:nvSpPr>
              <p:cNvPr id="213" name="TextBox 213"/>
              <p:cNvSpPr txBox="1"/>
              <p:nvPr/>
            </p:nvSpPr>
            <p:spPr>
              <a:xfrm>
                <a:off x="11162652" y="1045607"/>
                <a:ext cx="267995"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业务域</a:t>
                </a:r>
              </a:p>
            </p:txBody>
          </p:sp>
          <p:sp>
            <p:nvSpPr>
              <p:cNvPr id="214" name="Rectangle 214"/>
              <p:cNvSpPr/>
              <p:nvPr/>
            </p:nvSpPr>
            <p:spPr>
              <a:xfrm>
                <a:off x="8039100" y="1219200"/>
                <a:ext cx="1257300" cy="209550"/>
              </a:xfrm>
              <a:prstGeom prst="roundRect">
                <a:avLst>
                  <a:gd name="adj" fmla="val 18182"/>
                </a:avLst>
              </a:prstGeom>
              <a:solidFill>
                <a:srgbClr val="F4F8EC"/>
              </a:solidFill>
              <a:ln>
                <a:noFill/>
              </a:ln>
            </p:spPr>
          </p:sp>
          <p:sp>
            <p:nvSpPr>
              <p:cNvPr id="215" name="TextBox 215"/>
              <p:cNvSpPr txBox="1"/>
              <p:nvPr/>
            </p:nvSpPr>
            <p:spPr>
              <a:xfrm>
                <a:off x="8576831" y="1293257"/>
                <a:ext cx="18183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主题</a:t>
                </a:r>
              </a:p>
            </p:txBody>
          </p:sp>
          <p:sp>
            <p:nvSpPr>
              <p:cNvPr id="216" name="Rectangle 216"/>
              <p:cNvSpPr/>
              <p:nvPr/>
            </p:nvSpPr>
            <p:spPr>
              <a:xfrm>
                <a:off x="9353550" y="1219200"/>
                <a:ext cx="1257300" cy="209550"/>
              </a:xfrm>
              <a:prstGeom prst="roundRect">
                <a:avLst>
                  <a:gd name="adj" fmla="val 18182"/>
                </a:avLst>
              </a:prstGeom>
              <a:solidFill>
                <a:srgbClr val="F4F8EC"/>
              </a:solidFill>
              <a:ln>
                <a:noFill/>
              </a:ln>
            </p:spPr>
          </p:sp>
          <p:sp>
            <p:nvSpPr>
              <p:cNvPr id="217" name="TextBox 217"/>
              <p:cNvSpPr txBox="1"/>
              <p:nvPr/>
            </p:nvSpPr>
            <p:spPr>
              <a:xfrm>
                <a:off x="9805124" y="12932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来源系统</a:t>
                </a:r>
              </a:p>
            </p:txBody>
          </p:sp>
          <p:sp>
            <p:nvSpPr>
              <p:cNvPr id="218" name="Rectangle 218"/>
              <p:cNvSpPr/>
              <p:nvPr/>
            </p:nvSpPr>
            <p:spPr>
              <a:xfrm>
                <a:off x="10668000" y="1219200"/>
                <a:ext cx="1257300" cy="209550"/>
              </a:xfrm>
              <a:prstGeom prst="roundRect">
                <a:avLst>
                  <a:gd name="adj" fmla="val 18182"/>
                </a:avLst>
              </a:prstGeom>
              <a:solidFill>
                <a:srgbClr val="F4F8EC"/>
              </a:solidFill>
              <a:ln>
                <a:noFill/>
              </a:ln>
            </p:spPr>
          </p:sp>
          <p:sp>
            <p:nvSpPr>
              <p:cNvPr id="219" name="TextBox 219"/>
              <p:cNvSpPr txBox="1"/>
              <p:nvPr/>
            </p:nvSpPr>
            <p:spPr>
              <a:xfrm>
                <a:off x="11119574" y="12932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创建时间</a:t>
                </a:r>
              </a:p>
            </p:txBody>
          </p:sp>
          <p:sp>
            <p:nvSpPr>
              <p:cNvPr id="220" name="Rectangle 220"/>
              <p:cNvSpPr/>
              <p:nvPr/>
            </p:nvSpPr>
            <p:spPr>
              <a:xfrm>
                <a:off x="8039100" y="1466850"/>
                <a:ext cx="1257300" cy="209550"/>
              </a:xfrm>
              <a:prstGeom prst="roundRect">
                <a:avLst>
                  <a:gd name="adj" fmla="val 18182"/>
                </a:avLst>
              </a:prstGeom>
              <a:solidFill>
                <a:srgbClr val="F4F8EC"/>
              </a:solidFill>
              <a:ln>
                <a:noFill/>
              </a:ln>
            </p:spPr>
          </p:sp>
          <p:sp>
            <p:nvSpPr>
              <p:cNvPr id="221" name="TextBox 221"/>
              <p:cNvSpPr txBox="1"/>
              <p:nvPr/>
            </p:nvSpPr>
            <p:spPr>
              <a:xfrm>
                <a:off x="8533752" y="1540907"/>
                <a:ext cx="267995"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创建人</a:t>
                </a:r>
              </a:p>
            </p:txBody>
          </p:sp>
          <p:sp>
            <p:nvSpPr>
              <p:cNvPr id="222" name="Rectangle 222"/>
              <p:cNvSpPr/>
              <p:nvPr/>
            </p:nvSpPr>
            <p:spPr>
              <a:xfrm>
                <a:off x="9353550" y="1466850"/>
                <a:ext cx="1257300" cy="209550"/>
              </a:xfrm>
              <a:prstGeom prst="roundRect">
                <a:avLst>
                  <a:gd name="adj" fmla="val 18182"/>
                </a:avLst>
              </a:prstGeom>
              <a:solidFill>
                <a:srgbClr val="F4F8EC"/>
              </a:solidFill>
              <a:ln>
                <a:noFill/>
              </a:ln>
            </p:spPr>
          </p:sp>
          <p:sp>
            <p:nvSpPr>
              <p:cNvPr id="223" name="TextBox 223"/>
              <p:cNvSpPr txBox="1"/>
              <p:nvPr/>
            </p:nvSpPr>
            <p:spPr>
              <a:xfrm>
                <a:off x="9805124" y="15409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更新时间</a:t>
                </a:r>
              </a:p>
            </p:txBody>
          </p:sp>
          <p:sp>
            <p:nvSpPr>
              <p:cNvPr id="224" name="Rectangle 224"/>
              <p:cNvSpPr/>
              <p:nvPr/>
            </p:nvSpPr>
            <p:spPr>
              <a:xfrm>
                <a:off x="10668000" y="1466850"/>
                <a:ext cx="1257300" cy="209550"/>
              </a:xfrm>
              <a:prstGeom prst="roundRect">
                <a:avLst>
                  <a:gd name="adj" fmla="val 18182"/>
                </a:avLst>
              </a:prstGeom>
              <a:solidFill>
                <a:srgbClr val="F4F8EC"/>
              </a:solidFill>
              <a:ln>
                <a:noFill/>
              </a:ln>
            </p:spPr>
          </p:sp>
          <p:sp>
            <p:nvSpPr>
              <p:cNvPr id="225" name="TextBox 225"/>
              <p:cNvSpPr txBox="1"/>
              <p:nvPr/>
            </p:nvSpPr>
            <p:spPr>
              <a:xfrm>
                <a:off x="11205731" y="1540907"/>
                <a:ext cx="18183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语言</a:t>
                </a:r>
              </a:p>
            </p:txBody>
          </p:sp>
          <p:sp>
            <p:nvSpPr>
              <p:cNvPr id="226" name="Rectangle 226"/>
              <p:cNvSpPr/>
              <p:nvPr/>
            </p:nvSpPr>
            <p:spPr>
              <a:xfrm>
                <a:off x="8039100" y="1714500"/>
                <a:ext cx="1257300" cy="209550"/>
              </a:xfrm>
              <a:prstGeom prst="roundRect">
                <a:avLst>
                  <a:gd name="adj" fmla="val 18182"/>
                </a:avLst>
              </a:prstGeom>
              <a:solidFill>
                <a:srgbClr val="F4F8EC"/>
              </a:solidFill>
              <a:ln>
                <a:noFill/>
              </a:ln>
            </p:spPr>
          </p:sp>
          <p:sp>
            <p:nvSpPr>
              <p:cNvPr id="227" name="TextBox 227"/>
              <p:cNvSpPr txBox="1"/>
              <p:nvPr/>
            </p:nvSpPr>
            <p:spPr>
              <a:xfrm>
                <a:off x="8576831" y="1788557"/>
                <a:ext cx="18183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描述</a:t>
                </a:r>
              </a:p>
            </p:txBody>
          </p:sp>
          <p:sp>
            <p:nvSpPr>
              <p:cNvPr id="228" name="Rectangle 228"/>
              <p:cNvSpPr/>
              <p:nvPr/>
            </p:nvSpPr>
            <p:spPr>
              <a:xfrm>
                <a:off x="9353550" y="1714500"/>
                <a:ext cx="1257300" cy="209550"/>
              </a:xfrm>
              <a:prstGeom prst="roundRect">
                <a:avLst>
                  <a:gd name="adj" fmla="val 18182"/>
                </a:avLst>
              </a:prstGeom>
              <a:solidFill>
                <a:srgbClr val="F4F8EC"/>
              </a:solidFill>
              <a:ln>
                <a:noFill/>
              </a:ln>
            </p:spPr>
          </p:sp>
          <p:sp>
            <p:nvSpPr>
              <p:cNvPr id="229" name="TextBox 229"/>
              <p:cNvSpPr txBox="1"/>
              <p:nvPr/>
            </p:nvSpPr>
            <p:spPr>
              <a:xfrm>
                <a:off x="9848202" y="1788557"/>
                <a:ext cx="267995"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版本号</a:t>
                </a:r>
              </a:p>
            </p:txBody>
          </p:sp>
          <p:sp>
            <p:nvSpPr>
              <p:cNvPr id="230" name="Rectangle 230"/>
              <p:cNvSpPr/>
              <p:nvPr/>
            </p:nvSpPr>
            <p:spPr>
              <a:xfrm>
                <a:off x="10668000" y="1714500"/>
                <a:ext cx="1257300" cy="209550"/>
              </a:xfrm>
              <a:prstGeom prst="roundRect">
                <a:avLst>
                  <a:gd name="adj" fmla="val 18182"/>
                </a:avLst>
              </a:prstGeom>
              <a:solidFill>
                <a:srgbClr val="F4F8EC"/>
              </a:solidFill>
              <a:ln>
                <a:noFill/>
              </a:ln>
            </p:spPr>
          </p:sp>
          <p:sp>
            <p:nvSpPr>
              <p:cNvPr id="231" name="TextBox 231"/>
              <p:cNvSpPr txBox="1"/>
              <p:nvPr/>
            </p:nvSpPr>
            <p:spPr>
              <a:xfrm>
                <a:off x="11205731" y="1788557"/>
                <a:ext cx="18183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状态</a:t>
                </a:r>
              </a:p>
            </p:txBody>
          </p:sp>
        </p:grpSp>
        <p:grpSp>
          <p:nvGrpSpPr>
            <p:cNvPr id="253" name="schema-inherit"/>
            <p:cNvGrpSpPr/>
            <p:nvPr/>
          </p:nvGrpSpPr>
          <p:grpSpPr>
            <a:xfrm>
              <a:off x="7372350" y="2000250"/>
              <a:ext cx="4552950" cy="533400"/>
              <a:chOff x="7372350" y="2000250"/>
              <a:chExt cx="4552950" cy="533400"/>
            </a:xfrm>
          </p:grpSpPr>
          <p:sp>
            <p:nvSpPr>
              <p:cNvPr id="233" name="Rectangle 233"/>
              <p:cNvSpPr/>
              <p:nvPr/>
            </p:nvSpPr>
            <p:spPr>
              <a:xfrm>
                <a:off x="7372350" y="2000250"/>
                <a:ext cx="609600" cy="533400"/>
              </a:xfrm>
              <a:prstGeom prst="roundRect">
                <a:avLst>
                  <a:gd name="adj" fmla="val 14286"/>
                </a:avLst>
              </a:prstGeom>
              <a:solidFill>
                <a:srgbClr val="7C3B2F"/>
              </a:solidFill>
              <a:ln>
                <a:noFill/>
              </a:ln>
            </p:spPr>
          </p:sp>
          <p:grpSp>
            <p:nvGrpSpPr>
              <p:cNvPr id="239" name="Group 239"/>
              <p:cNvGrpSpPr/>
              <p:nvPr/>
            </p:nvGrpSpPr>
            <p:grpSpPr>
              <a:xfrm>
                <a:off x="7572375" y="2085975"/>
                <a:ext cx="171450" cy="171450"/>
                <a:chOff x="7572375" y="2085975"/>
                <a:chExt cx="171450" cy="171450"/>
              </a:xfrm>
            </p:grpSpPr>
            <p:sp>
              <p:nvSpPr>
                <p:cNvPr id="234" name="Freeform 234"/>
                <p:cNvSpPr/>
                <p:nvPr/>
              </p:nvSpPr>
              <p:spPr>
                <a:xfrm>
                  <a:off x="7572375" y="220027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FFFFFF"/>
                  </a:solidFill>
                </a:ln>
              </p:spPr>
            </p:sp>
            <p:sp>
              <p:nvSpPr>
                <p:cNvPr id="235" name="Freeform 235"/>
                <p:cNvSpPr/>
                <p:nvPr/>
              </p:nvSpPr>
              <p:spPr>
                <a:xfrm>
                  <a:off x="7686675" y="220027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FFFFFF"/>
                  </a:solidFill>
                </a:ln>
              </p:spPr>
            </p:sp>
            <p:sp>
              <p:nvSpPr>
                <p:cNvPr id="236" name="Freeform 236"/>
                <p:cNvSpPr/>
                <p:nvPr/>
              </p:nvSpPr>
              <p:spPr>
                <a:xfrm>
                  <a:off x="7629525" y="208597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FFFFFF"/>
                  </a:solidFill>
                </a:ln>
              </p:spPr>
            </p:sp>
            <p:sp>
              <p:nvSpPr>
                <p:cNvPr id="237" name="Freeform 237"/>
                <p:cNvSpPr/>
                <p:nvPr/>
              </p:nvSpPr>
              <p:spPr>
                <a:xfrm>
                  <a:off x="7600950" y="2171700"/>
                  <a:ext cx="114300" cy="28575"/>
                </a:xfrm>
                <a:custGeom>
                  <a:avLst/>
                  <a:gdLst/>
                  <a:ahLst/>
                  <a:cxnLst/>
                  <a:rect l="l" t="t" r="r" b="b"/>
                  <a:pathLst>
                    <a:path w="114300" h="28575">
                      <a:moveTo>
                        <a:pt x="0" y="28575"/>
                      </a:moveTo>
                      <a:lnTo>
                        <a:pt x="0" y="19050"/>
                      </a:lnTo>
                      <a:cubicBezTo>
                        <a:pt x="0" y="8529"/>
                        <a:pt x="8529" y="0"/>
                        <a:pt x="19050" y="0"/>
                      </a:cubicBezTo>
                      <a:lnTo>
                        <a:pt x="95250" y="0"/>
                      </a:lnTo>
                      <a:cubicBezTo>
                        <a:pt x="105771" y="0"/>
                        <a:pt x="114300" y="8529"/>
                        <a:pt x="114300" y="19050"/>
                      </a:cubicBezTo>
                      <a:lnTo>
                        <a:pt x="114300" y="28575"/>
                      </a:lnTo>
                    </a:path>
                  </a:pathLst>
                </a:custGeom>
                <a:noFill/>
                <a:ln w="19050">
                  <a:solidFill>
                    <a:srgbClr val="FFFFFF"/>
                  </a:solidFill>
                </a:ln>
              </p:spPr>
            </p:sp>
            <p:sp>
              <p:nvSpPr>
                <p:cNvPr id="238" name="Freeform 238"/>
                <p:cNvSpPr/>
                <p:nvPr/>
              </p:nvSpPr>
              <p:spPr>
                <a:xfrm>
                  <a:off x="7658100" y="2143125"/>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240" name="TextBox 240"/>
              <p:cNvSpPr txBox="1"/>
              <p:nvPr/>
            </p:nvSpPr>
            <p:spPr>
              <a:xfrm>
                <a:off x="7470458" y="237648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继承字段</a:t>
                </a:r>
              </a:p>
            </p:txBody>
          </p:sp>
          <p:sp>
            <p:nvSpPr>
              <p:cNvPr id="241" name="Rectangle 241"/>
              <p:cNvSpPr/>
              <p:nvPr/>
            </p:nvSpPr>
            <p:spPr>
              <a:xfrm>
                <a:off x="8039100" y="2000250"/>
                <a:ext cx="1257300" cy="209550"/>
              </a:xfrm>
              <a:prstGeom prst="roundRect">
                <a:avLst>
                  <a:gd name="adj" fmla="val 18182"/>
                </a:avLst>
              </a:prstGeom>
              <a:solidFill>
                <a:srgbClr val="F4F8EC"/>
              </a:solidFill>
              <a:ln>
                <a:noFill/>
              </a:ln>
            </p:spPr>
          </p:sp>
          <p:sp>
            <p:nvSpPr>
              <p:cNvPr id="242" name="TextBox 242"/>
              <p:cNvSpPr txBox="1"/>
              <p:nvPr/>
            </p:nvSpPr>
            <p:spPr>
              <a:xfrm>
                <a:off x="8447596" y="2074307"/>
                <a:ext cx="44030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父实体类型</a:t>
                </a:r>
              </a:p>
            </p:txBody>
          </p:sp>
          <p:sp>
            <p:nvSpPr>
              <p:cNvPr id="243" name="Rectangle 243"/>
              <p:cNvSpPr/>
              <p:nvPr/>
            </p:nvSpPr>
            <p:spPr>
              <a:xfrm>
                <a:off x="9353550" y="2000250"/>
                <a:ext cx="1257300" cy="209550"/>
              </a:xfrm>
              <a:prstGeom prst="roundRect">
                <a:avLst>
                  <a:gd name="adj" fmla="val 18182"/>
                </a:avLst>
              </a:prstGeom>
              <a:solidFill>
                <a:srgbClr val="F4F8EC"/>
              </a:solidFill>
              <a:ln>
                <a:noFill/>
              </a:ln>
            </p:spPr>
          </p:sp>
          <p:sp>
            <p:nvSpPr>
              <p:cNvPr id="244" name="TextBox 244"/>
              <p:cNvSpPr txBox="1"/>
              <p:nvPr/>
            </p:nvSpPr>
            <p:spPr>
              <a:xfrm>
                <a:off x="9805124" y="20743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继承关系</a:t>
                </a:r>
              </a:p>
            </p:txBody>
          </p:sp>
          <p:sp>
            <p:nvSpPr>
              <p:cNvPr id="245" name="Rectangle 245"/>
              <p:cNvSpPr/>
              <p:nvPr/>
            </p:nvSpPr>
            <p:spPr>
              <a:xfrm>
                <a:off x="10668000" y="2000250"/>
                <a:ext cx="1257300" cy="209550"/>
              </a:xfrm>
              <a:prstGeom prst="roundRect">
                <a:avLst>
                  <a:gd name="adj" fmla="val 18182"/>
                </a:avLst>
              </a:prstGeom>
              <a:solidFill>
                <a:srgbClr val="F4F8EC"/>
              </a:solidFill>
              <a:ln>
                <a:noFill/>
              </a:ln>
            </p:spPr>
          </p:sp>
          <p:sp>
            <p:nvSpPr>
              <p:cNvPr id="246" name="TextBox 246"/>
              <p:cNvSpPr txBox="1"/>
              <p:nvPr/>
            </p:nvSpPr>
            <p:spPr>
              <a:xfrm>
                <a:off x="11076496" y="2074307"/>
                <a:ext cx="44030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继承字段值</a:t>
                </a:r>
              </a:p>
            </p:txBody>
          </p:sp>
          <p:sp>
            <p:nvSpPr>
              <p:cNvPr id="247" name="Rectangle 247"/>
              <p:cNvSpPr/>
              <p:nvPr/>
            </p:nvSpPr>
            <p:spPr>
              <a:xfrm>
                <a:off x="8039100" y="2247900"/>
                <a:ext cx="1257300" cy="209550"/>
              </a:xfrm>
              <a:prstGeom prst="roundRect">
                <a:avLst>
                  <a:gd name="adj" fmla="val 18182"/>
                </a:avLst>
              </a:prstGeom>
              <a:solidFill>
                <a:srgbClr val="F4F8EC"/>
              </a:solidFill>
              <a:ln>
                <a:noFill/>
              </a:ln>
            </p:spPr>
          </p:sp>
          <p:sp>
            <p:nvSpPr>
              <p:cNvPr id="248" name="TextBox 248"/>
              <p:cNvSpPr txBox="1"/>
              <p:nvPr/>
            </p:nvSpPr>
            <p:spPr>
              <a:xfrm>
                <a:off x="8490674" y="23219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继承来源</a:t>
                </a:r>
              </a:p>
            </p:txBody>
          </p:sp>
          <p:sp>
            <p:nvSpPr>
              <p:cNvPr id="249" name="Rectangle 249"/>
              <p:cNvSpPr/>
              <p:nvPr/>
            </p:nvSpPr>
            <p:spPr>
              <a:xfrm>
                <a:off x="9353550" y="2247900"/>
                <a:ext cx="1257300" cy="209550"/>
              </a:xfrm>
              <a:prstGeom prst="roundRect">
                <a:avLst>
                  <a:gd name="adj" fmla="val 18182"/>
                </a:avLst>
              </a:prstGeom>
              <a:solidFill>
                <a:srgbClr val="F4F8EC"/>
              </a:solidFill>
              <a:ln>
                <a:noFill/>
              </a:ln>
            </p:spPr>
          </p:sp>
          <p:sp>
            <p:nvSpPr>
              <p:cNvPr id="250" name="TextBox 250"/>
              <p:cNvSpPr txBox="1"/>
              <p:nvPr/>
            </p:nvSpPr>
            <p:spPr>
              <a:xfrm>
                <a:off x="9805124" y="23219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继承时间</a:t>
                </a:r>
              </a:p>
            </p:txBody>
          </p:sp>
          <p:sp>
            <p:nvSpPr>
              <p:cNvPr id="251" name="Rectangle 251"/>
              <p:cNvSpPr/>
              <p:nvPr/>
            </p:nvSpPr>
            <p:spPr>
              <a:xfrm>
                <a:off x="10668000" y="2247900"/>
                <a:ext cx="1257300" cy="209550"/>
              </a:xfrm>
              <a:prstGeom prst="roundRect">
                <a:avLst>
                  <a:gd name="adj" fmla="val 18182"/>
                </a:avLst>
              </a:prstGeom>
              <a:solidFill>
                <a:srgbClr val="F4F8EC"/>
              </a:solidFill>
              <a:ln>
                <a:noFill/>
              </a:ln>
            </p:spPr>
          </p:sp>
          <p:sp>
            <p:nvSpPr>
              <p:cNvPr id="252" name="TextBox 252"/>
              <p:cNvSpPr txBox="1"/>
              <p:nvPr/>
            </p:nvSpPr>
            <p:spPr>
              <a:xfrm>
                <a:off x="11119574" y="23219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继承依据</a:t>
                </a:r>
              </a:p>
            </p:txBody>
          </p:sp>
        </p:grpSp>
        <p:grpSp>
          <p:nvGrpSpPr>
            <p:cNvPr id="277" name="schema-autotag"/>
            <p:cNvGrpSpPr/>
            <p:nvPr/>
          </p:nvGrpSpPr>
          <p:grpSpPr>
            <a:xfrm>
              <a:off x="7372350" y="2609850"/>
              <a:ext cx="4552950" cy="781050"/>
              <a:chOff x="7372350" y="2609850"/>
              <a:chExt cx="4552950" cy="781050"/>
            </a:xfrm>
          </p:grpSpPr>
          <p:sp>
            <p:nvSpPr>
              <p:cNvPr id="254" name="Rectangle 254"/>
              <p:cNvSpPr/>
              <p:nvPr/>
            </p:nvSpPr>
            <p:spPr>
              <a:xfrm>
                <a:off x="7372350" y="2609850"/>
                <a:ext cx="609600" cy="781050"/>
              </a:xfrm>
              <a:prstGeom prst="roundRect">
                <a:avLst>
                  <a:gd name="adj" fmla="val 12500"/>
                </a:avLst>
              </a:prstGeom>
              <a:solidFill>
                <a:srgbClr val="8C4336"/>
              </a:solidFill>
              <a:ln>
                <a:noFill/>
              </a:ln>
            </p:spPr>
          </p:sp>
          <p:grpSp>
            <p:nvGrpSpPr>
              <p:cNvPr id="257" name="Group 257"/>
              <p:cNvGrpSpPr/>
              <p:nvPr/>
            </p:nvGrpSpPr>
            <p:grpSpPr>
              <a:xfrm>
                <a:off x="7568194" y="2691394"/>
                <a:ext cx="179813" cy="179813"/>
                <a:chOff x="7568194" y="2691394"/>
                <a:chExt cx="179813" cy="179813"/>
              </a:xfrm>
            </p:grpSpPr>
            <p:sp>
              <p:nvSpPr>
                <p:cNvPr id="255" name="Freeform 255"/>
                <p:cNvSpPr/>
                <p:nvPr/>
              </p:nvSpPr>
              <p:spPr>
                <a:xfrm>
                  <a:off x="7568194" y="269139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FFFFFF"/>
                  </a:solidFill>
                </a:ln>
              </p:spPr>
            </p:sp>
            <p:sp>
              <p:nvSpPr>
                <p:cNvPr id="256" name="Freeform 256"/>
                <p:cNvSpPr/>
                <p:nvPr/>
              </p:nvSpPr>
              <p:spPr>
                <a:xfrm>
                  <a:off x="7629525" y="27527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FFFFFF"/>
                  </a:solidFill>
                </a:ln>
              </p:spPr>
            </p:sp>
          </p:grpSp>
          <p:sp>
            <p:nvSpPr>
              <p:cNvPr id="258" name="TextBox 258"/>
              <p:cNvSpPr txBox="1"/>
              <p:nvPr/>
            </p:nvSpPr>
            <p:spPr>
              <a:xfrm>
                <a:off x="7470458" y="306228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自动标签</a:t>
                </a:r>
              </a:p>
            </p:txBody>
          </p:sp>
          <p:sp>
            <p:nvSpPr>
              <p:cNvPr id="259" name="Rectangle 259"/>
              <p:cNvSpPr/>
              <p:nvPr/>
            </p:nvSpPr>
            <p:spPr>
              <a:xfrm>
                <a:off x="8039100" y="2609850"/>
                <a:ext cx="1257300" cy="209550"/>
              </a:xfrm>
              <a:prstGeom prst="roundRect">
                <a:avLst>
                  <a:gd name="adj" fmla="val 18182"/>
                </a:avLst>
              </a:prstGeom>
              <a:solidFill>
                <a:srgbClr val="F4F8EC"/>
              </a:solidFill>
              <a:ln>
                <a:noFill/>
              </a:ln>
            </p:spPr>
          </p:sp>
          <p:sp>
            <p:nvSpPr>
              <p:cNvPr id="260" name="TextBox 260"/>
              <p:cNvSpPr txBox="1"/>
              <p:nvPr/>
            </p:nvSpPr>
            <p:spPr>
              <a:xfrm>
                <a:off x="8490674" y="26839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敏感等级</a:t>
                </a:r>
              </a:p>
            </p:txBody>
          </p:sp>
          <p:sp>
            <p:nvSpPr>
              <p:cNvPr id="261" name="Rectangle 261"/>
              <p:cNvSpPr/>
              <p:nvPr/>
            </p:nvSpPr>
            <p:spPr>
              <a:xfrm>
                <a:off x="9353550" y="2609850"/>
                <a:ext cx="1257300" cy="209550"/>
              </a:xfrm>
              <a:prstGeom prst="roundRect">
                <a:avLst>
                  <a:gd name="adj" fmla="val 18182"/>
                </a:avLst>
              </a:prstGeom>
              <a:solidFill>
                <a:srgbClr val="F4F8EC"/>
              </a:solidFill>
              <a:ln>
                <a:noFill/>
              </a:ln>
            </p:spPr>
          </p:sp>
          <p:sp>
            <p:nvSpPr>
              <p:cNvPr id="262" name="TextBox 262"/>
              <p:cNvSpPr txBox="1"/>
              <p:nvPr/>
            </p:nvSpPr>
            <p:spPr>
              <a:xfrm>
                <a:off x="9805124" y="26839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数据质量</a:t>
                </a:r>
              </a:p>
            </p:txBody>
          </p:sp>
          <p:sp>
            <p:nvSpPr>
              <p:cNvPr id="263" name="Rectangle 263"/>
              <p:cNvSpPr/>
              <p:nvPr/>
            </p:nvSpPr>
            <p:spPr>
              <a:xfrm>
                <a:off x="10668000" y="2609850"/>
                <a:ext cx="1257300" cy="209550"/>
              </a:xfrm>
              <a:prstGeom prst="roundRect">
                <a:avLst>
                  <a:gd name="adj" fmla="val 18182"/>
                </a:avLst>
              </a:prstGeom>
              <a:solidFill>
                <a:srgbClr val="F4F8EC"/>
              </a:solidFill>
              <a:ln>
                <a:noFill/>
              </a:ln>
            </p:spPr>
          </p:sp>
          <p:sp>
            <p:nvSpPr>
              <p:cNvPr id="264" name="TextBox 264"/>
              <p:cNvSpPr txBox="1"/>
              <p:nvPr/>
            </p:nvSpPr>
            <p:spPr>
              <a:xfrm>
                <a:off x="11162652" y="2683907"/>
                <a:ext cx="267995"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时效性</a:t>
                </a:r>
              </a:p>
            </p:txBody>
          </p:sp>
          <p:sp>
            <p:nvSpPr>
              <p:cNvPr id="265" name="Rectangle 265"/>
              <p:cNvSpPr/>
              <p:nvPr/>
            </p:nvSpPr>
            <p:spPr>
              <a:xfrm>
                <a:off x="8039100" y="2857500"/>
                <a:ext cx="1257300" cy="209550"/>
              </a:xfrm>
              <a:prstGeom prst="roundRect">
                <a:avLst>
                  <a:gd name="adj" fmla="val 18182"/>
                </a:avLst>
              </a:prstGeom>
              <a:solidFill>
                <a:srgbClr val="F4F8EC"/>
              </a:solidFill>
              <a:ln>
                <a:noFill/>
              </a:ln>
            </p:spPr>
          </p:sp>
          <p:sp>
            <p:nvSpPr>
              <p:cNvPr id="266" name="TextBox 266"/>
              <p:cNvSpPr txBox="1"/>
              <p:nvPr/>
            </p:nvSpPr>
            <p:spPr>
              <a:xfrm>
                <a:off x="8490674" y="29315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地域范围</a:t>
                </a:r>
              </a:p>
            </p:txBody>
          </p:sp>
          <p:sp>
            <p:nvSpPr>
              <p:cNvPr id="267" name="Rectangle 267"/>
              <p:cNvSpPr/>
              <p:nvPr/>
            </p:nvSpPr>
            <p:spPr>
              <a:xfrm>
                <a:off x="9353550" y="2857500"/>
                <a:ext cx="1257300" cy="209550"/>
              </a:xfrm>
              <a:prstGeom prst="roundRect">
                <a:avLst>
                  <a:gd name="adj" fmla="val 18182"/>
                </a:avLst>
              </a:prstGeom>
              <a:solidFill>
                <a:srgbClr val="F4F8EC"/>
              </a:solidFill>
              <a:ln>
                <a:noFill/>
              </a:ln>
            </p:spPr>
          </p:sp>
          <p:sp>
            <p:nvSpPr>
              <p:cNvPr id="268" name="TextBox 268"/>
              <p:cNvSpPr txBox="1"/>
              <p:nvPr/>
            </p:nvSpPr>
            <p:spPr>
              <a:xfrm>
                <a:off x="9805124" y="29315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业务阶段</a:t>
                </a:r>
              </a:p>
            </p:txBody>
          </p:sp>
          <p:sp>
            <p:nvSpPr>
              <p:cNvPr id="269" name="Rectangle 269"/>
              <p:cNvSpPr/>
              <p:nvPr/>
            </p:nvSpPr>
            <p:spPr>
              <a:xfrm>
                <a:off x="10668000" y="2857500"/>
                <a:ext cx="1257300" cy="209550"/>
              </a:xfrm>
              <a:prstGeom prst="roundRect">
                <a:avLst>
                  <a:gd name="adj" fmla="val 18182"/>
                </a:avLst>
              </a:prstGeom>
              <a:solidFill>
                <a:srgbClr val="F4F8EC"/>
              </a:solidFill>
              <a:ln>
                <a:noFill/>
              </a:ln>
            </p:spPr>
          </p:sp>
          <p:sp>
            <p:nvSpPr>
              <p:cNvPr id="270" name="TextBox 270"/>
              <p:cNvSpPr txBox="1"/>
              <p:nvPr/>
            </p:nvSpPr>
            <p:spPr>
              <a:xfrm>
                <a:off x="11076496" y="2931557"/>
                <a:ext cx="44030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关联度评分</a:t>
                </a:r>
              </a:p>
            </p:txBody>
          </p:sp>
          <p:sp>
            <p:nvSpPr>
              <p:cNvPr id="271" name="Rectangle 271"/>
              <p:cNvSpPr/>
              <p:nvPr/>
            </p:nvSpPr>
            <p:spPr>
              <a:xfrm>
                <a:off x="8039100" y="3105150"/>
                <a:ext cx="1257300" cy="209550"/>
              </a:xfrm>
              <a:prstGeom prst="roundRect">
                <a:avLst>
                  <a:gd name="adj" fmla="val 18182"/>
                </a:avLst>
              </a:prstGeom>
              <a:solidFill>
                <a:srgbClr val="F4F8EC"/>
              </a:solidFill>
              <a:ln>
                <a:noFill/>
              </a:ln>
            </p:spPr>
          </p:sp>
          <p:sp>
            <p:nvSpPr>
              <p:cNvPr id="272" name="TextBox 272"/>
              <p:cNvSpPr txBox="1"/>
              <p:nvPr/>
            </p:nvSpPr>
            <p:spPr>
              <a:xfrm>
                <a:off x="8490674" y="31792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相似实体</a:t>
                </a:r>
              </a:p>
            </p:txBody>
          </p:sp>
          <p:sp>
            <p:nvSpPr>
              <p:cNvPr id="273" name="Rectangle 273"/>
              <p:cNvSpPr/>
              <p:nvPr/>
            </p:nvSpPr>
            <p:spPr>
              <a:xfrm>
                <a:off x="9353550" y="3105150"/>
                <a:ext cx="1257300" cy="209550"/>
              </a:xfrm>
              <a:prstGeom prst="roundRect">
                <a:avLst>
                  <a:gd name="adj" fmla="val 18182"/>
                </a:avLst>
              </a:prstGeom>
              <a:solidFill>
                <a:srgbClr val="F4F8EC"/>
              </a:solidFill>
              <a:ln>
                <a:noFill/>
              </a:ln>
            </p:spPr>
          </p:sp>
          <p:sp>
            <p:nvSpPr>
              <p:cNvPr id="274" name="TextBox 274"/>
              <p:cNvSpPr txBox="1"/>
              <p:nvPr/>
            </p:nvSpPr>
            <p:spPr>
              <a:xfrm>
                <a:off x="9805124" y="31792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引用计数</a:t>
                </a:r>
              </a:p>
            </p:txBody>
          </p:sp>
          <p:sp>
            <p:nvSpPr>
              <p:cNvPr id="275" name="Rectangle 275"/>
              <p:cNvSpPr/>
              <p:nvPr/>
            </p:nvSpPr>
            <p:spPr>
              <a:xfrm>
                <a:off x="10668000" y="3105150"/>
                <a:ext cx="1257300" cy="209550"/>
              </a:xfrm>
              <a:prstGeom prst="roundRect">
                <a:avLst>
                  <a:gd name="adj" fmla="val 18182"/>
                </a:avLst>
              </a:prstGeom>
              <a:solidFill>
                <a:srgbClr val="F4F8EC"/>
              </a:solidFill>
              <a:ln>
                <a:noFill/>
              </a:ln>
            </p:spPr>
          </p:sp>
          <p:sp>
            <p:nvSpPr>
              <p:cNvPr id="276" name="TextBox 276"/>
              <p:cNvSpPr txBox="1"/>
              <p:nvPr/>
            </p:nvSpPr>
            <p:spPr>
              <a:xfrm>
                <a:off x="11162652" y="3179207"/>
                <a:ext cx="267995"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热度值</a:t>
                </a:r>
              </a:p>
            </p:txBody>
          </p:sp>
        </p:grpSp>
        <p:grpSp>
          <p:nvGrpSpPr>
            <p:cNvPr id="296" name="schema-perm"/>
            <p:cNvGrpSpPr/>
            <p:nvPr/>
          </p:nvGrpSpPr>
          <p:grpSpPr>
            <a:xfrm>
              <a:off x="7372350" y="3467100"/>
              <a:ext cx="4552950" cy="781050"/>
              <a:chOff x="7372350" y="3467100"/>
              <a:chExt cx="4552950" cy="781050"/>
            </a:xfrm>
          </p:grpSpPr>
          <p:sp>
            <p:nvSpPr>
              <p:cNvPr id="278" name="Rectangle 278"/>
              <p:cNvSpPr/>
              <p:nvPr/>
            </p:nvSpPr>
            <p:spPr>
              <a:xfrm>
                <a:off x="7372350" y="3467100"/>
                <a:ext cx="609600" cy="781050"/>
              </a:xfrm>
              <a:prstGeom prst="roundRect">
                <a:avLst>
                  <a:gd name="adj" fmla="val 12500"/>
                </a:avLst>
              </a:prstGeom>
              <a:solidFill>
                <a:srgbClr val="9A4B3C"/>
              </a:solidFill>
              <a:ln>
                <a:noFill/>
              </a:ln>
            </p:spPr>
          </p:sp>
          <p:grpSp>
            <p:nvGrpSpPr>
              <p:cNvPr id="282" name="Group 282"/>
              <p:cNvGrpSpPr/>
              <p:nvPr/>
            </p:nvGrpSpPr>
            <p:grpSpPr>
              <a:xfrm>
                <a:off x="7591425" y="3552825"/>
                <a:ext cx="133350" cy="171450"/>
                <a:chOff x="7591425" y="3552825"/>
                <a:chExt cx="133350" cy="171450"/>
              </a:xfrm>
            </p:grpSpPr>
            <p:sp>
              <p:nvSpPr>
                <p:cNvPr id="279" name="Freeform 279"/>
                <p:cNvSpPr/>
                <p:nvPr/>
              </p:nvSpPr>
              <p:spPr>
                <a:xfrm>
                  <a:off x="7591425" y="3629025"/>
                  <a:ext cx="133350" cy="95250"/>
                </a:xfrm>
                <a:custGeom>
                  <a:avLst/>
                  <a:gdLst/>
                  <a:ahLst/>
                  <a:cxnLst/>
                  <a:rect l="l" t="t" r="r" b="b"/>
                  <a:pathLst>
                    <a:path w="133350" h="95250">
                      <a:moveTo>
                        <a:pt x="0" y="19050"/>
                      </a:moveTo>
                      <a:cubicBezTo>
                        <a:pt x="0" y="8529"/>
                        <a:pt x="8529" y="0"/>
                        <a:pt x="19050" y="0"/>
                      </a:cubicBezTo>
                      <a:lnTo>
                        <a:pt x="114300" y="0"/>
                      </a:lnTo>
                      <a:cubicBezTo>
                        <a:pt x="124821" y="0"/>
                        <a:pt x="133350" y="8529"/>
                        <a:pt x="133350" y="19050"/>
                      </a:cubicBezTo>
                      <a:lnTo>
                        <a:pt x="133350" y="76200"/>
                      </a:lnTo>
                      <a:cubicBezTo>
                        <a:pt x="133350" y="86721"/>
                        <a:pt x="124821" y="95250"/>
                        <a:pt x="114300" y="95250"/>
                      </a:cubicBezTo>
                      <a:lnTo>
                        <a:pt x="19050" y="95250"/>
                      </a:lnTo>
                      <a:cubicBezTo>
                        <a:pt x="8529" y="95250"/>
                        <a:pt x="0" y="86721"/>
                        <a:pt x="0" y="76200"/>
                      </a:cubicBezTo>
                      <a:lnTo>
                        <a:pt x="0" y="19050"/>
                      </a:lnTo>
                    </a:path>
                  </a:pathLst>
                </a:custGeom>
                <a:noFill/>
                <a:ln w="19050">
                  <a:solidFill>
                    <a:srgbClr val="FFFFFF"/>
                  </a:solidFill>
                </a:ln>
              </p:spPr>
            </p:sp>
            <p:sp>
              <p:nvSpPr>
                <p:cNvPr id="280" name="Freeform 280"/>
                <p:cNvSpPr/>
                <p:nvPr/>
              </p:nvSpPr>
              <p:spPr>
                <a:xfrm>
                  <a:off x="7648575" y="36671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281" name="Freeform 281"/>
                <p:cNvSpPr/>
                <p:nvPr/>
              </p:nvSpPr>
              <p:spPr>
                <a:xfrm>
                  <a:off x="7620000" y="3552825"/>
                  <a:ext cx="76200" cy="76200"/>
                </a:xfrm>
                <a:custGeom>
                  <a:avLst/>
                  <a:gdLst/>
                  <a:ahLst/>
                  <a:cxnLst/>
                  <a:rect l="l" t="t" r="r" b="b"/>
                  <a:pathLst>
                    <a:path w="76200" h="76200">
                      <a:moveTo>
                        <a:pt x="0" y="76200"/>
                      </a:moveTo>
                      <a:lnTo>
                        <a:pt x="0" y="38100"/>
                      </a:lnTo>
                      <a:cubicBezTo>
                        <a:pt x="0" y="17058"/>
                        <a:pt x="17058" y="0"/>
                        <a:pt x="38100" y="0"/>
                      </a:cubicBezTo>
                      <a:cubicBezTo>
                        <a:pt x="59142" y="0"/>
                        <a:pt x="76200" y="17058"/>
                        <a:pt x="76200" y="38100"/>
                      </a:cubicBezTo>
                      <a:lnTo>
                        <a:pt x="76200" y="76200"/>
                      </a:lnTo>
                    </a:path>
                  </a:pathLst>
                </a:custGeom>
                <a:noFill/>
                <a:ln w="19050">
                  <a:solidFill>
                    <a:srgbClr val="FFFFFF"/>
                  </a:solidFill>
                </a:ln>
              </p:spPr>
            </p:sp>
          </p:grpSp>
          <p:sp>
            <p:nvSpPr>
              <p:cNvPr id="283" name="TextBox 283"/>
              <p:cNvSpPr txBox="1"/>
              <p:nvPr/>
            </p:nvSpPr>
            <p:spPr>
              <a:xfrm>
                <a:off x="7470458" y="39195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权限标签</a:t>
                </a:r>
              </a:p>
            </p:txBody>
          </p:sp>
          <p:sp>
            <p:nvSpPr>
              <p:cNvPr id="284" name="Rectangle 284"/>
              <p:cNvSpPr/>
              <p:nvPr/>
            </p:nvSpPr>
            <p:spPr>
              <a:xfrm>
                <a:off x="8039100" y="3467100"/>
                <a:ext cx="1257300" cy="209550"/>
              </a:xfrm>
              <a:prstGeom prst="roundRect">
                <a:avLst>
                  <a:gd name="adj" fmla="val 18182"/>
                </a:avLst>
              </a:prstGeom>
              <a:solidFill>
                <a:srgbClr val="F4F8EC"/>
              </a:solidFill>
              <a:ln>
                <a:noFill/>
              </a:ln>
            </p:spPr>
          </p:sp>
          <p:sp>
            <p:nvSpPr>
              <p:cNvPr id="285" name="TextBox 285"/>
              <p:cNvSpPr txBox="1"/>
              <p:nvPr/>
            </p:nvSpPr>
            <p:spPr>
              <a:xfrm>
                <a:off x="8490674" y="354115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可见范围</a:t>
                </a:r>
              </a:p>
            </p:txBody>
          </p:sp>
          <p:sp>
            <p:nvSpPr>
              <p:cNvPr id="286" name="Rectangle 286"/>
              <p:cNvSpPr/>
              <p:nvPr/>
            </p:nvSpPr>
            <p:spPr>
              <a:xfrm>
                <a:off x="9353550" y="3467100"/>
                <a:ext cx="1257300" cy="209550"/>
              </a:xfrm>
              <a:prstGeom prst="roundRect">
                <a:avLst>
                  <a:gd name="adj" fmla="val 18182"/>
                </a:avLst>
              </a:prstGeom>
              <a:solidFill>
                <a:srgbClr val="F4F8EC"/>
              </a:solidFill>
              <a:ln>
                <a:noFill/>
              </a:ln>
            </p:spPr>
          </p:sp>
          <p:sp>
            <p:nvSpPr>
              <p:cNvPr id="287" name="TextBox 287"/>
              <p:cNvSpPr txBox="1"/>
              <p:nvPr/>
            </p:nvSpPr>
            <p:spPr>
              <a:xfrm>
                <a:off x="9762046" y="3541157"/>
                <a:ext cx="44030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可编辑范围</a:t>
                </a:r>
              </a:p>
            </p:txBody>
          </p:sp>
          <p:sp>
            <p:nvSpPr>
              <p:cNvPr id="288" name="Rectangle 288"/>
              <p:cNvSpPr/>
              <p:nvPr/>
            </p:nvSpPr>
            <p:spPr>
              <a:xfrm>
                <a:off x="10668000" y="3467100"/>
                <a:ext cx="1257300" cy="209550"/>
              </a:xfrm>
              <a:prstGeom prst="roundRect">
                <a:avLst>
                  <a:gd name="adj" fmla="val 18182"/>
                </a:avLst>
              </a:prstGeom>
              <a:solidFill>
                <a:srgbClr val="F4F8EC"/>
              </a:solidFill>
              <a:ln>
                <a:noFill/>
              </a:ln>
            </p:spPr>
          </p:sp>
          <p:sp>
            <p:nvSpPr>
              <p:cNvPr id="289" name="TextBox 289"/>
              <p:cNvSpPr txBox="1"/>
              <p:nvPr/>
            </p:nvSpPr>
            <p:spPr>
              <a:xfrm>
                <a:off x="11076496" y="3541157"/>
                <a:ext cx="440309"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可下载范围</a:t>
                </a:r>
              </a:p>
            </p:txBody>
          </p:sp>
          <p:sp>
            <p:nvSpPr>
              <p:cNvPr id="290" name="Rectangle 290"/>
              <p:cNvSpPr/>
              <p:nvPr/>
            </p:nvSpPr>
            <p:spPr>
              <a:xfrm>
                <a:off x="8039100" y="3714750"/>
                <a:ext cx="1257300" cy="209550"/>
              </a:xfrm>
              <a:prstGeom prst="roundRect">
                <a:avLst>
                  <a:gd name="adj" fmla="val 18182"/>
                </a:avLst>
              </a:prstGeom>
              <a:solidFill>
                <a:srgbClr val="F4F8EC"/>
              </a:solidFill>
              <a:ln>
                <a:noFill/>
              </a:ln>
            </p:spPr>
          </p:sp>
          <p:sp>
            <p:nvSpPr>
              <p:cNvPr id="291" name="TextBox 291"/>
              <p:cNvSpPr txBox="1"/>
              <p:nvPr/>
            </p:nvSpPr>
            <p:spPr>
              <a:xfrm>
                <a:off x="8490674" y="37888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脱敏规则</a:t>
                </a:r>
              </a:p>
            </p:txBody>
          </p:sp>
          <p:sp>
            <p:nvSpPr>
              <p:cNvPr id="292" name="Rectangle 292"/>
              <p:cNvSpPr/>
              <p:nvPr/>
            </p:nvSpPr>
            <p:spPr>
              <a:xfrm>
                <a:off x="9353550" y="3714750"/>
                <a:ext cx="1257300" cy="209550"/>
              </a:xfrm>
              <a:prstGeom prst="roundRect">
                <a:avLst>
                  <a:gd name="adj" fmla="val 18182"/>
                </a:avLst>
              </a:prstGeom>
              <a:solidFill>
                <a:srgbClr val="F4F8EC"/>
              </a:solidFill>
              <a:ln>
                <a:noFill/>
              </a:ln>
            </p:spPr>
          </p:sp>
          <p:sp>
            <p:nvSpPr>
              <p:cNvPr id="293" name="TextBox 293"/>
              <p:cNvSpPr txBox="1"/>
              <p:nvPr/>
            </p:nvSpPr>
            <p:spPr>
              <a:xfrm>
                <a:off x="9805124" y="37888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审批流程</a:t>
                </a:r>
              </a:p>
            </p:txBody>
          </p:sp>
          <p:sp>
            <p:nvSpPr>
              <p:cNvPr id="294" name="Rectangle 294"/>
              <p:cNvSpPr/>
              <p:nvPr/>
            </p:nvSpPr>
            <p:spPr>
              <a:xfrm>
                <a:off x="10668000" y="3714750"/>
                <a:ext cx="1257300" cy="209550"/>
              </a:xfrm>
              <a:prstGeom prst="roundRect">
                <a:avLst>
                  <a:gd name="adj" fmla="val 18182"/>
                </a:avLst>
              </a:prstGeom>
              <a:solidFill>
                <a:srgbClr val="F4F8EC"/>
              </a:solidFill>
              <a:ln>
                <a:noFill/>
              </a:ln>
            </p:spPr>
          </p:sp>
          <p:sp>
            <p:nvSpPr>
              <p:cNvPr id="295" name="TextBox 295"/>
              <p:cNvSpPr txBox="1"/>
              <p:nvPr/>
            </p:nvSpPr>
            <p:spPr>
              <a:xfrm>
                <a:off x="11119574" y="3788807"/>
                <a:ext cx="354152" cy="126206"/>
              </a:xfrm>
              <a:prstGeom prst="rect">
                <a:avLst/>
              </a:prstGeom>
              <a:noFill/>
              <a:ln>
                <a:noFill/>
              </a:ln>
            </p:spPr>
            <p:txBody>
              <a:bodyPr wrap="none" lIns="0" tIns="0" rIns="0" bIns="0" anchor="t" anchorCtr="0">
                <a:spAutoFit/>
              </a:bodyPr>
              <a:lstStyle/>
              <a:p>
                <a:pPr algn="ctr"/>
                <a:r>
                  <a:rPr lang="zh-CN" sz="640" dirty="0">
                    <a:solidFill>
                      <a:srgbClr val="3A4238"/>
                    </a:solidFill>
                    <a:latin typeface="+mn-lt"/>
                    <a:ea typeface="+mn-ea"/>
                    <a:cs typeface="+mn-cs"/>
                  </a:rPr>
                  <a:t>保留期限</a:t>
                </a:r>
              </a:p>
            </p:txBody>
          </p:sp>
        </p:grpSp>
        <p:grpSp>
          <p:nvGrpSpPr>
            <p:cNvPr id="299" name="schema-note"/>
            <p:cNvGrpSpPr/>
            <p:nvPr/>
          </p:nvGrpSpPr>
          <p:grpSpPr>
            <a:xfrm>
              <a:off x="7372350" y="4343400"/>
              <a:ext cx="4591050" cy="228838"/>
              <a:chOff x="7372350" y="4343400"/>
              <a:chExt cx="4591050" cy="228838"/>
            </a:xfrm>
          </p:grpSpPr>
          <p:sp>
            <p:nvSpPr>
              <p:cNvPr id="297" name="Line 297"/>
              <p:cNvSpPr/>
              <p:nvPr/>
            </p:nvSpPr>
            <p:spPr>
              <a:xfrm>
                <a:off x="7372350" y="4343400"/>
                <a:ext cx="4591050" cy="9525"/>
              </a:xfrm>
              <a:custGeom>
                <a:avLst/>
                <a:gdLst/>
                <a:ahLst/>
                <a:cxnLst/>
                <a:rect l="l" t="t" r="r" b="b"/>
                <a:pathLst>
                  <a:path w="4591050" h="9525">
                    <a:moveTo>
                      <a:pt x="0" y="0"/>
                    </a:moveTo>
                    <a:lnTo>
                      <a:pt x="4591050" y="0"/>
                    </a:lnTo>
                  </a:path>
                </a:pathLst>
              </a:custGeom>
              <a:noFill/>
              <a:ln w="9525">
                <a:solidFill>
                  <a:srgbClr val="D9E8C6"/>
                </a:solidFill>
                <a:prstDash val="dash"/>
              </a:ln>
            </p:spPr>
          </p:sp>
          <p:sp>
            <p:nvSpPr>
              <p:cNvPr id="298" name="TextBox 298"/>
              <p:cNvSpPr txBox="1"/>
              <p:nvPr/>
            </p:nvSpPr>
            <p:spPr>
              <a:xfrm>
                <a:off x="8347799" y="4446032"/>
                <a:ext cx="2640152" cy="126206"/>
              </a:xfrm>
              <a:prstGeom prst="rect">
                <a:avLst/>
              </a:prstGeom>
              <a:noFill/>
              <a:ln>
                <a:noFill/>
              </a:ln>
            </p:spPr>
            <p:txBody>
              <a:bodyPr wrap="none" lIns="0" tIns="0" rIns="0" bIns="0" anchor="t" anchorCtr="0">
                <a:spAutoFit/>
              </a:bodyPr>
              <a:lstStyle/>
              <a:p>
                <a:pPr algn="ctr"/>
                <a:r>
                  <a:rPr lang="zh-CN" sz="640" dirty="0">
                    <a:solidFill>
                      <a:srgbClr val="66705F"/>
                    </a:solidFill>
                    <a:latin typeface="+mn-lt"/>
                    <a:ea typeface="+mn-ea"/>
                    <a:cs typeface="+mn-cs"/>
                  </a:rPr>
                  <a:t xml:space="preserve">统一Schema约束字段命名与取值，支撑检索、权限与生命周期管理　</a:t>
                </a:r>
              </a:p>
            </p:txBody>
          </p:sp>
        </p:grpSp>
      </p:grpSp>
      <p:grpSp>
        <p:nvGrpSpPr>
          <p:cNvPr id="330" name="compare-table"/>
          <p:cNvGrpSpPr/>
          <p:nvPr/>
        </p:nvGrpSpPr>
        <p:grpSpPr>
          <a:xfrm>
            <a:off x="7372350" y="4724400"/>
            <a:ext cx="4591050" cy="1914525"/>
            <a:chOff x="7372350" y="4724400"/>
            <a:chExt cx="4591050" cy="1914525"/>
          </a:xfrm>
        </p:grpSpPr>
        <p:sp>
          <p:nvSpPr>
            <p:cNvPr id="301" name="Rectangle 301"/>
            <p:cNvSpPr/>
            <p:nvPr/>
          </p:nvSpPr>
          <p:spPr>
            <a:xfrm>
              <a:off x="7372350" y="4724400"/>
              <a:ext cx="4591050" cy="209550"/>
            </a:xfrm>
            <a:prstGeom prst="roundRect">
              <a:avLst>
                <a:gd name="adj" fmla="val 27273"/>
              </a:avLst>
            </a:prstGeom>
            <a:solidFill>
              <a:srgbClr val="42140B"/>
            </a:solidFill>
            <a:ln>
              <a:noFill/>
            </a:ln>
          </p:spPr>
        </p:sp>
        <p:sp>
          <p:nvSpPr>
            <p:cNvPr id="302" name="TextBox 302"/>
            <p:cNvSpPr txBox="1"/>
            <p:nvPr/>
          </p:nvSpPr>
          <p:spPr>
            <a:xfrm>
              <a:off x="8449254" y="4778216"/>
              <a:ext cx="243724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 xml:space="preserve">检索效果对比（向量检索 vs 向量 + 图谱检索）　</a:t>
              </a:r>
            </a:p>
          </p:txBody>
        </p:sp>
        <p:sp>
          <p:nvSpPr>
            <p:cNvPr id="303" name="Rectangle 303"/>
            <p:cNvSpPr/>
            <p:nvPr/>
          </p:nvSpPr>
          <p:spPr>
            <a:xfrm>
              <a:off x="7372350" y="4972050"/>
              <a:ext cx="1238250" cy="190500"/>
            </a:xfrm>
            <a:prstGeom prst="rect">
              <a:avLst/>
            </a:prstGeom>
            <a:solidFill>
              <a:srgbClr val="E7F2D8"/>
            </a:solidFill>
            <a:ln>
              <a:noFill/>
            </a:ln>
          </p:spPr>
        </p:sp>
        <p:sp>
          <p:nvSpPr>
            <p:cNvPr id="304" name="TextBox 304"/>
            <p:cNvSpPr txBox="1"/>
            <p:nvPr/>
          </p:nvSpPr>
          <p:spPr>
            <a:xfrm>
              <a:off x="7895171" y="5032534"/>
              <a:ext cx="192608"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维度</a:t>
              </a:r>
            </a:p>
          </p:txBody>
        </p:sp>
        <p:sp>
          <p:nvSpPr>
            <p:cNvPr id="305" name="Rectangle 305"/>
            <p:cNvSpPr/>
            <p:nvPr/>
          </p:nvSpPr>
          <p:spPr>
            <a:xfrm>
              <a:off x="8610600" y="4972050"/>
              <a:ext cx="1638300" cy="190500"/>
            </a:xfrm>
            <a:prstGeom prst="rect">
              <a:avLst/>
            </a:prstGeom>
            <a:solidFill>
              <a:srgbClr val="E7F2D8"/>
            </a:solidFill>
            <a:ln>
              <a:noFill/>
            </a:ln>
          </p:spPr>
        </p:sp>
        <p:sp>
          <p:nvSpPr>
            <p:cNvPr id="306" name="TextBox 306"/>
            <p:cNvSpPr txBox="1"/>
            <p:nvPr/>
          </p:nvSpPr>
          <p:spPr>
            <a:xfrm>
              <a:off x="9196134" y="5032534"/>
              <a:ext cx="467233" cy="133350"/>
            </a:xfrm>
            <a:prstGeom prst="rect">
              <a:avLst/>
            </a:prstGeom>
            <a:noFill/>
            <a:ln>
              <a:noFill/>
            </a:ln>
          </p:spPr>
          <p:txBody>
            <a:bodyPr wrap="none" lIns="0" tIns="0" rIns="0" bIns="0" anchor="t" anchorCtr="0">
              <a:spAutoFit/>
            </a:bodyPr>
            <a:lstStyle/>
            <a:p>
              <a:pPr algn="ctr"/>
              <a:r>
                <a:rPr lang="zh-CN" sz="680" b="1" dirty="0">
                  <a:solidFill>
                    <a:srgbClr val="66705F"/>
                  </a:solidFill>
                  <a:latin typeface="+mn-lt"/>
                  <a:ea typeface="+mn-ea"/>
                  <a:cs typeface="+mn-cs"/>
                </a:rPr>
                <a:t>仅向量检索</a:t>
              </a:r>
            </a:p>
          </p:txBody>
        </p:sp>
        <p:sp>
          <p:nvSpPr>
            <p:cNvPr id="307" name="Rectangle 307"/>
            <p:cNvSpPr/>
            <p:nvPr/>
          </p:nvSpPr>
          <p:spPr>
            <a:xfrm>
              <a:off x="10248900" y="4972050"/>
              <a:ext cx="1714500" cy="190500"/>
            </a:xfrm>
            <a:prstGeom prst="rect">
              <a:avLst/>
            </a:prstGeom>
            <a:solidFill>
              <a:srgbClr val="42140B"/>
            </a:solidFill>
            <a:ln>
              <a:noFill/>
            </a:ln>
          </p:spPr>
        </p:sp>
        <p:sp>
          <p:nvSpPr>
            <p:cNvPr id="308" name="TextBox 308"/>
            <p:cNvSpPr txBox="1"/>
            <p:nvPr/>
          </p:nvSpPr>
          <p:spPr>
            <a:xfrm>
              <a:off x="10771494" y="5032534"/>
              <a:ext cx="66931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向量 + 图谱检索</a:t>
              </a:r>
            </a:p>
          </p:txBody>
        </p:sp>
        <p:grpSp>
          <p:nvGrpSpPr>
            <p:cNvPr id="329" name="compare-rows"/>
            <p:cNvGrpSpPr/>
            <p:nvPr/>
          </p:nvGrpSpPr>
          <p:grpSpPr>
            <a:xfrm>
              <a:off x="7372350" y="5162550"/>
              <a:ext cx="4591050" cy="1476375"/>
              <a:chOff x="7372350" y="5162550"/>
              <a:chExt cx="4591050" cy="1476375"/>
            </a:xfrm>
          </p:grpSpPr>
          <p:sp>
            <p:nvSpPr>
              <p:cNvPr id="309" name="Rectangle 309"/>
              <p:cNvSpPr/>
              <p:nvPr/>
            </p:nvSpPr>
            <p:spPr>
              <a:xfrm>
                <a:off x="7372350" y="5162550"/>
                <a:ext cx="4591050" cy="295275"/>
              </a:xfrm>
              <a:prstGeom prst="rect">
                <a:avLst/>
              </a:prstGeom>
              <a:solidFill>
                <a:srgbClr val="FFFFFF"/>
              </a:solidFill>
              <a:ln>
                <a:noFill/>
              </a:ln>
            </p:spPr>
          </p:sp>
          <p:sp>
            <p:nvSpPr>
              <p:cNvPr id="310" name="TextBox 310"/>
              <p:cNvSpPr txBox="1"/>
              <p:nvPr/>
            </p:nvSpPr>
            <p:spPr>
              <a:xfrm>
                <a:off x="7443788" y="5284232"/>
                <a:ext cx="612623"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业务上下文理解</a:t>
                </a:r>
              </a:p>
            </p:txBody>
          </p:sp>
          <p:sp>
            <p:nvSpPr>
              <p:cNvPr id="311" name="TextBox 311"/>
              <p:cNvSpPr txBox="1"/>
              <p:nvPr/>
            </p:nvSpPr>
            <p:spPr>
              <a:xfrm>
                <a:off x="8682038" y="5235178"/>
                <a:ext cx="79184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6705F"/>
                    </a:solidFill>
                    <a:latin typeface="+mn-lt"/>
                    <a:ea typeface="+mn-ea"/>
                    <a:cs typeface="+mn-cs"/>
                  </a:rPr>
                  <a:t>基于关键词匹配，上下文</a:t>
                </a:r>
                <a:br/>
                <a:r>
                  <a:rPr lang="zh-CN" sz="560" dirty="0">
                    <a:solidFill>
                      <a:srgbClr val="66705F"/>
                    </a:solidFill>
                    <a:latin typeface="+mn-lt"/>
                    <a:ea typeface="+mn-ea"/>
                    <a:cs typeface="+mn-cs"/>
                  </a:rPr>
                  <a:t>关联弱，易受噪声干扰</a:t>
                </a:r>
              </a:p>
            </p:txBody>
          </p:sp>
          <p:sp>
            <p:nvSpPr>
              <p:cNvPr id="312" name="TextBox 312"/>
              <p:cNvSpPr txBox="1"/>
              <p:nvPr/>
            </p:nvSpPr>
            <p:spPr>
              <a:xfrm>
                <a:off x="10320338" y="5235178"/>
                <a:ext cx="86296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43228"/>
                    </a:solidFill>
                    <a:latin typeface="+mn-lt"/>
                    <a:ea typeface="+mn-ea"/>
                    <a:cs typeface="+mn-cs"/>
                  </a:rPr>
                  <a:t>结合实体与关系，精准理解</a:t>
                </a:r>
                <a:br/>
                <a:r>
                  <a:rPr lang="zh-CN" sz="560" dirty="0">
                    <a:solidFill>
                      <a:srgbClr val="643228"/>
                    </a:solidFill>
                    <a:latin typeface="+mn-lt"/>
                    <a:ea typeface="+mn-ea"/>
                    <a:cs typeface="+mn-cs"/>
                  </a:rPr>
                  <a:t>业务语义与约束</a:t>
                </a:r>
              </a:p>
            </p:txBody>
          </p:sp>
          <p:sp>
            <p:nvSpPr>
              <p:cNvPr id="313" name="Rectangle 313"/>
              <p:cNvSpPr/>
              <p:nvPr/>
            </p:nvSpPr>
            <p:spPr>
              <a:xfrm>
                <a:off x="7372350" y="5457825"/>
                <a:ext cx="4591050" cy="295275"/>
              </a:xfrm>
              <a:prstGeom prst="rect">
                <a:avLst/>
              </a:prstGeom>
              <a:solidFill>
                <a:srgbClr val="F4F8EC"/>
              </a:solidFill>
              <a:ln>
                <a:noFill/>
              </a:ln>
            </p:spPr>
          </p:sp>
          <p:sp>
            <p:nvSpPr>
              <p:cNvPr id="314" name="TextBox 314"/>
              <p:cNvSpPr txBox="1"/>
              <p:nvPr/>
            </p:nvSpPr>
            <p:spPr>
              <a:xfrm>
                <a:off x="7443788" y="5579507"/>
                <a:ext cx="354152"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可解释性</a:t>
                </a:r>
              </a:p>
            </p:txBody>
          </p:sp>
          <p:sp>
            <p:nvSpPr>
              <p:cNvPr id="315" name="TextBox 315"/>
              <p:cNvSpPr txBox="1"/>
              <p:nvPr/>
            </p:nvSpPr>
            <p:spPr>
              <a:xfrm>
                <a:off x="8682038" y="5530453"/>
                <a:ext cx="86296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6705F"/>
                    </a:solidFill>
                    <a:latin typeface="+mn-lt"/>
                    <a:ea typeface="+mn-ea"/>
                    <a:cs typeface="+mn-cs"/>
                  </a:rPr>
                  <a:t>返回片段列表，缺少依据，</a:t>
                </a:r>
                <a:br/>
                <a:r>
                  <a:rPr lang="zh-CN" sz="560" dirty="0">
                    <a:solidFill>
                      <a:srgbClr val="66705F"/>
                    </a:solidFill>
                    <a:latin typeface="+mn-lt"/>
                    <a:ea typeface="+mn-ea"/>
                    <a:cs typeface="+mn-cs"/>
                  </a:rPr>
                  <a:t>难以追溯</a:t>
                </a:r>
              </a:p>
            </p:txBody>
          </p:sp>
          <p:sp>
            <p:nvSpPr>
              <p:cNvPr id="316" name="TextBox 316"/>
              <p:cNvSpPr txBox="1"/>
              <p:nvPr/>
            </p:nvSpPr>
            <p:spPr>
              <a:xfrm>
                <a:off x="10320338" y="5530453"/>
                <a:ext cx="79184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43228"/>
                    </a:solidFill>
                    <a:latin typeface="+mn-lt"/>
                    <a:ea typeface="+mn-ea"/>
                    <a:cs typeface="+mn-cs"/>
                  </a:rPr>
                  <a:t>展示实体、关系与路径，</a:t>
                </a:r>
                <a:br/>
                <a:r>
                  <a:rPr lang="zh-CN" sz="560" dirty="0">
                    <a:solidFill>
                      <a:srgbClr val="643228"/>
                    </a:solidFill>
                    <a:latin typeface="+mn-lt"/>
                    <a:ea typeface="+mn-ea"/>
                    <a:cs typeface="+mn-cs"/>
                  </a:rPr>
                  <a:t>可追溯、可验证</a:t>
                </a:r>
              </a:p>
            </p:txBody>
          </p:sp>
          <p:sp>
            <p:nvSpPr>
              <p:cNvPr id="317" name="Rectangle 317"/>
              <p:cNvSpPr/>
              <p:nvPr/>
            </p:nvSpPr>
            <p:spPr>
              <a:xfrm>
                <a:off x="7372350" y="5753100"/>
                <a:ext cx="4591050" cy="295275"/>
              </a:xfrm>
              <a:prstGeom prst="rect">
                <a:avLst/>
              </a:prstGeom>
              <a:solidFill>
                <a:srgbClr val="FFFFFF"/>
              </a:solidFill>
              <a:ln>
                <a:noFill/>
              </a:ln>
            </p:spPr>
          </p:sp>
          <p:sp>
            <p:nvSpPr>
              <p:cNvPr id="318" name="TextBox 318"/>
              <p:cNvSpPr txBox="1"/>
              <p:nvPr/>
            </p:nvSpPr>
            <p:spPr>
              <a:xfrm>
                <a:off x="7443788" y="5874782"/>
                <a:ext cx="526466"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多跳问题能力</a:t>
                </a:r>
              </a:p>
            </p:txBody>
          </p:sp>
          <p:sp>
            <p:nvSpPr>
              <p:cNvPr id="319" name="TextBox 319"/>
              <p:cNvSpPr txBox="1"/>
              <p:nvPr/>
            </p:nvSpPr>
            <p:spPr>
              <a:xfrm>
                <a:off x="8682038" y="5825728"/>
                <a:ext cx="86296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6705F"/>
                    </a:solidFill>
                    <a:latin typeface="+mn-lt"/>
                    <a:ea typeface="+mn-ea"/>
                    <a:cs typeface="+mn-cs"/>
                  </a:rPr>
                  <a:t>难以跨越多个实体与关系，</a:t>
                </a:r>
                <a:br/>
                <a:r>
                  <a:rPr lang="zh-CN" sz="560" dirty="0">
                    <a:solidFill>
                      <a:srgbClr val="66705F"/>
                    </a:solidFill>
                    <a:latin typeface="+mn-lt"/>
                    <a:ea typeface="+mn-ea"/>
                    <a:cs typeface="+mn-cs"/>
                  </a:rPr>
                  <a:t>无法完成复杂推理</a:t>
                </a:r>
              </a:p>
            </p:txBody>
          </p:sp>
          <p:sp>
            <p:nvSpPr>
              <p:cNvPr id="320" name="TextBox 320"/>
              <p:cNvSpPr txBox="1"/>
              <p:nvPr/>
            </p:nvSpPr>
            <p:spPr>
              <a:xfrm>
                <a:off x="10320338" y="5825728"/>
                <a:ext cx="86296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43228"/>
                    </a:solidFill>
                    <a:latin typeface="+mn-lt"/>
                    <a:ea typeface="+mn-ea"/>
                    <a:cs typeface="+mn-cs"/>
                  </a:rPr>
                  <a:t>支持多跳推理与路径发现，</a:t>
                </a:r>
                <a:br/>
                <a:r>
                  <a:rPr lang="zh-CN" sz="560" dirty="0">
                    <a:solidFill>
                      <a:srgbClr val="643228"/>
                    </a:solidFill>
                    <a:latin typeface="+mn-lt"/>
                    <a:ea typeface="+mn-ea"/>
                    <a:cs typeface="+mn-cs"/>
                  </a:rPr>
                  <a:t>回答复杂业务问题</a:t>
                </a:r>
              </a:p>
            </p:txBody>
          </p:sp>
          <p:sp>
            <p:nvSpPr>
              <p:cNvPr id="321" name="Rectangle 321"/>
              <p:cNvSpPr/>
              <p:nvPr/>
            </p:nvSpPr>
            <p:spPr>
              <a:xfrm>
                <a:off x="7372350" y="6048375"/>
                <a:ext cx="4591050" cy="295275"/>
              </a:xfrm>
              <a:prstGeom prst="rect">
                <a:avLst/>
              </a:prstGeom>
              <a:solidFill>
                <a:srgbClr val="F4F8EC"/>
              </a:solidFill>
              <a:ln>
                <a:noFill/>
              </a:ln>
            </p:spPr>
          </p:sp>
          <p:sp>
            <p:nvSpPr>
              <p:cNvPr id="322" name="TextBox 322"/>
              <p:cNvSpPr txBox="1"/>
              <p:nvPr/>
            </p:nvSpPr>
            <p:spPr>
              <a:xfrm>
                <a:off x="7443788" y="6170057"/>
                <a:ext cx="440309"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结果准确性</a:t>
                </a:r>
              </a:p>
            </p:txBody>
          </p:sp>
          <p:sp>
            <p:nvSpPr>
              <p:cNvPr id="323" name="TextBox 323"/>
              <p:cNvSpPr txBox="1"/>
              <p:nvPr/>
            </p:nvSpPr>
            <p:spPr>
              <a:xfrm>
                <a:off x="8682038" y="6121003"/>
                <a:ext cx="57848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6705F"/>
                    </a:solidFill>
                    <a:latin typeface="+mn-lt"/>
                    <a:ea typeface="+mn-ea"/>
                    <a:cs typeface="+mn-cs"/>
                  </a:rPr>
                  <a:t>依赖文本覆盖度，</a:t>
                </a:r>
                <a:br/>
                <a:r>
                  <a:rPr lang="zh-CN" sz="560" dirty="0">
                    <a:solidFill>
                      <a:srgbClr val="66705F"/>
                    </a:solidFill>
                    <a:latin typeface="+mn-lt"/>
                    <a:ea typeface="+mn-ea"/>
                    <a:cs typeface="+mn-cs"/>
                  </a:rPr>
                  <a:t>易误召</a:t>
                </a:r>
              </a:p>
            </p:txBody>
          </p:sp>
          <p:sp>
            <p:nvSpPr>
              <p:cNvPr id="324" name="TextBox 324"/>
              <p:cNvSpPr txBox="1"/>
              <p:nvPr/>
            </p:nvSpPr>
            <p:spPr>
              <a:xfrm>
                <a:off x="10320338" y="6121003"/>
                <a:ext cx="72072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43228"/>
                    </a:solidFill>
                    <a:latin typeface="+mn-lt"/>
                    <a:ea typeface="+mn-ea"/>
                    <a:cs typeface="+mn-cs"/>
                  </a:rPr>
                  <a:t>结合结构约束与语义，</a:t>
                </a:r>
                <a:br/>
                <a:r>
                  <a:rPr lang="zh-CN" sz="560" dirty="0">
                    <a:solidFill>
                      <a:srgbClr val="643228"/>
                    </a:solidFill>
                    <a:latin typeface="+mn-lt"/>
                    <a:ea typeface="+mn-ea"/>
                    <a:cs typeface="+mn-cs"/>
                  </a:rPr>
                  <a:t>精准召回与过滤</a:t>
                </a:r>
              </a:p>
            </p:txBody>
          </p:sp>
          <p:sp>
            <p:nvSpPr>
              <p:cNvPr id="325" name="Rectangle 325"/>
              <p:cNvSpPr/>
              <p:nvPr/>
            </p:nvSpPr>
            <p:spPr>
              <a:xfrm>
                <a:off x="7372350" y="6343650"/>
                <a:ext cx="4591050" cy="295275"/>
              </a:xfrm>
              <a:prstGeom prst="rect">
                <a:avLst/>
              </a:prstGeom>
              <a:solidFill>
                <a:srgbClr val="FFFFFF"/>
              </a:solidFill>
              <a:ln>
                <a:noFill/>
              </a:ln>
            </p:spPr>
          </p:sp>
          <p:sp>
            <p:nvSpPr>
              <p:cNvPr id="326" name="TextBox 326"/>
              <p:cNvSpPr txBox="1"/>
              <p:nvPr/>
            </p:nvSpPr>
            <p:spPr>
              <a:xfrm>
                <a:off x="7443788" y="6465332"/>
                <a:ext cx="526466"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典型场景表现</a:t>
                </a:r>
              </a:p>
            </p:txBody>
          </p:sp>
          <p:sp>
            <p:nvSpPr>
              <p:cNvPr id="327" name="TextBox 327"/>
              <p:cNvSpPr txBox="1"/>
              <p:nvPr/>
            </p:nvSpPr>
            <p:spPr>
              <a:xfrm>
                <a:off x="8682038" y="6416278"/>
                <a:ext cx="50736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6705F"/>
                    </a:solidFill>
                    <a:latin typeface="+mn-lt"/>
                    <a:ea typeface="+mn-ea"/>
                    <a:cs typeface="+mn-cs"/>
                  </a:rPr>
                  <a:t>适合事实查找、</a:t>
                </a:r>
                <a:br/>
                <a:r>
                  <a:rPr lang="zh-CN" sz="560" dirty="0">
                    <a:solidFill>
                      <a:srgbClr val="66705F"/>
                    </a:solidFill>
                    <a:latin typeface="+mn-lt"/>
                    <a:ea typeface="+mn-ea"/>
                    <a:cs typeface="+mn-cs"/>
                  </a:rPr>
                  <a:t>相似文档</a:t>
                </a:r>
              </a:p>
            </p:txBody>
          </p:sp>
          <p:sp>
            <p:nvSpPr>
              <p:cNvPr id="328" name="TextBox 328"/>
              <p:cNvSpPr txBox="1"/>
              <p:nvPr/>
            </p:nvSpPr>
            <p:spPr>
              <a:xfrm>
                <a:off x="10320338" y="6416278"/>
                <a:ext cx="862965" cy="216694"/>
              </a:xfrm>
              <a:prstGeom prst="rect">
                <a:avLst/>
              </a:prstGeom>
              <a:noFill/>
              <a:ln>
                <a:noFill/>
              </a:ln>
            </p:spPr>
            <p:txBody>
              <a:bodyPr wrap="none" lIns="0" tIns="0" rIns="0" bIns="0" anchor="t" anchorCtr="0">
                <a:spAutoFit/>
              </a:bodyPr>
              <a:lstStyle/>
              <a:p>
                <a:pPr algn="l">
                  <a:lnSpc>
                    <a:spcPts val="825"/>
                  </a:lnSpc>
                </a:pPr>
                <a:r>
                  <a:rPr lang="zh-CN" sz="560" dirty="0">
                    <a:solidFill>
                      <a:srgbClr val="643228"/>
                    </a:solidFill>
                    <a:latin typeface="+mn-lt"/>
                    <a:ea typeface="+mn-ea"/>
                    <a:cs typeface="+mn-cs"/>
                  </a:rPr>
                  <a:t>适合业务问答、合同追溯、</a:t>
                </a:r>
                <a:br/>
                <a:r>
                  <a:rPr lang="zh-CN" sz="560" dirty="0">
                    <a:solidFill>
                      <a:srgbClr val="643228"/>
                    </a:solidFill>
                    <a:latin typeface="+mn-lt"/>
                    <a:ea typeface="+mn-ea"/>
                    <a:cs typeface="+mn-cs"/>
                  </a:rPr>
                  <a:t>根因分析、影响分析</a:t>
                </a:r>
              </a:p>
            </p:txBody>
          </p:sp>
        </p:grpSp>
      </p:grpSp>
      <p:grpSp>
        <p:nvGrpSpPr>
          <p:cNvPr id="387" name="process-flow"/>
          <p:cNvGrpSpPr/>
          <p:nvPr/>
        </p:nvGrpSpPr>
        <p:grpSpPr>
          <a:xfrm>
            <a:off x="285750" y="5086350"/>
            <a:ext cx="6896100" cy="1581150"/>
            <a:chOff x="285750" y="5086350"/>
            <a:chExt cx="6896100" cy="1581150"/>
          </a:xfrm>
        </p:grpSpPr>
        <p:sp>
          <p:nvSpPr>
            <p:cNvPr id="331" name="Rectangle 331"/>
            <p:cNvSpPr/>
            <p:nvPr/>
          </p:nvSpPr>
          <p:spPr>
            <a:xfrm>
              <a:off x="285750" y="5086350"/>
              <a:ext cx="2286000" cy="228600"/>
            </a:xfrm>
            <a:prstGeom prst="roundRect">
              <a:avLst>
                <a:gd name="adj" fmla="val 25000"/>
              </a:avLst>
            </a:prstGeom>
            <a:solidFill>
              <a:srgbClr val="42140B"/>
            </a:solidFill>
            <a:ln>
              <a:noFill/>
            </a:ln>
          </p:spPr>
        </p:sp>
        <p:sp>
          <p:nvSpPr>
            <p:cNvPr id="332" name="TextBox 332"/>
            <p:cNvSpPr txBox="1"/>
            <p:nvPr/>
          </p:nvSpPr>
          <p:spPr>
            <a:xfrm>
              <a:off x="757618" y="5151120"/>
              <a:ext cx="134226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语义解析与图谱构建流程</a:t>
              </a:r>
            </a:p>
          </p:txBody>
        </p:sp>
        <p:grpSp>
          <p:nvGrpSpPr>
            <p:cNvPr id="342" name="pf-card-1"/>
            <p:cNvGrpSpPr/>
            <p:nvPr/>
          </p:nvGrpSpPr>
          <p:grpSpPr>
            <a:xfrm>
              <a:off x="285750" y="5429250"/>
              <a:ext cx="1257300" cy="1238250"/>
              <a:chOff x="285750" y="5429250"/>
              <a:chExt cx="1257300" cy="1238250"/>
            </a:xfrm>
          </p:grpSpPr>
          <p:sp>
            <p:nvSpPr>
              <p:cNvPr id="333" name="Rectangle 333"/>
              <p:cNvSpPr/>
              <p:nvPr/>
            </p:nvSpPr>
            <p:spPr>
              <a:xfrm>
                <a:off x="285750" y="5429250"/>
                <a:ext cx="1257300" cy="1238250"/>
              </a:xfrm>
              <a:prstGeom prst="roundRect">
                <a:avLst>
                  <a:gd name="adj" fmla="val 6154"/>
                </a:avLst>
              </a:prstGeom>
              <a:solidFill>
                <a:srgbClr val="F4F8EC"/>
              </a:solidFill>
              <a:ln w="9525">
                <a:solidFill>
                  <a:srgbClr val="D9E8C6"/>
                </a:solidFill>
              </a:ln>
            </p:spPr>
          </p:sp>
          <p:sp>
            <p:nvSpPr>
              <p:cNvPr id="334" name="Ellipse 334"/>
              <p:cNvSpPr/>
              <p:nvPr/>
            </p:nvSpPr>
            <p:spPr>
              <a:xfrm>
                <a:off x="771525" y="5534025"/>
                <a:ext cx="285750" cy="285750"/>
              </a:xfrm>
              <a:prstGeom prst="ellipse">
                <a:avLst/>
              </a:prstGeom>
              <a:solidFill>
                <a:srgbClr val="FFFFFF"/>
              </a:solidFill>
              <a:ln w="14288">
                <a:solidFill>
                  <a:srgbClr val="BE776A"/>
                </a:solidFill>
              </a:ln>
            </p:spPr>
          </p:sp>
          <p:grpSp>
            <p:nvGrpSpPr>
              <p:cNvPr id="337" name="Group 337"/>
              <p:cNvGrpSpPr/>
              <p:nvPr/>
            </p:nvGrpSpPr>
            <p:grpSpPr>
              <a:xfrm>
                <a:off x="857250" y="5619750"/>
                <a:ext cx="114300" cy="114300"/>
                <a:chOff x="857250" y="5619750"/>
                <a:chExt cx="114300" cy="114300"/>
              </a:xfrm>
            </p:grpSpPr>
            <p:sp>
              <p:nvSpPr>
                <p:cNvPr id="335" name="Freeform 335"/>
                <p:cNvSpPr/>
                <p:nvPr/>
              </p:nvSpPr>
              <p:spPr>
                <a:xfrm>
                  <a:off x="857250" y="561975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7C3B2F"/>
                  </a:solidFill>
                </a:ln>
              </p:spPr>
            </p:sp>
            <p:sp>
              <p:nvSpPr>
                <p:cNvPr id="336" name="Freeform 336"/>
                <p:cNvSpPr/>
                <p:nvPr/>
              </p:nvSpPr>
              <p:spPr>
                <a:xfrm>
                  <a:off x="933450" y="5695950"/>
                  <a:ext cx="38100" cy="38100"/>
                </a:xfrm>
                <a:custGeom>
                  <a:avLst/>
                  <a:gdLst/>
                  <a:ahLst/>
                  <a:cxnLst/>
                  <a:rect l="l" t="t" r="r" b="b"/>
                  <a:pathLst>
                    <a:path w="38100" h="38100">
                      <a:moveTo>
                        <a:pt x="38100" y="38100"/>
                      </a:moveTo>
                      <a:lnTo>
                        <a:pt x="0" y="0"/>
                      </a:lnTo>
                    </a:path>
                  </a:pathLst>
                </a:custGeom>
                <a:noFill/>
                <a:ln w="12700">
                  <a:solidFill>
                    <a:srgbClr val="7C3B2F"/>
                  </a:solidFill>
                </a:ln>
              </p:spPr>
            </p:sp>
          </p:grpSp>
          <p:sp>
            <p:nvSpPr>
              <p:cNvPr id="338" name="TextBox 338"/>
              <p:cNvSpPr txBox="1"/>
              <p:nvPr/>
            </p:nvSpPr>
            <p:spPr>
              <a:xfrm>
                <a:off x="678091" y="5907643"/>
                <a:ext cx="472618" cy="169069"/>
              </a:xfrm>
              <a:prstGeom prst="rect">
                <a:avLst/>
              </a:prstGeom>
              <a:noFill/>
              <a:ln>
                <a:noFill/>
              </a:ln>
            </p:spPr>
            <p:txBody>
              <a:bodyPr wrap="none" lIns="0" tIns="0" rIns="0" bIns="0" anchor="t" anchorCtr="0">
                <a:spAutoFit/>
              </a:bodyPr>
              <a:lstStyle/>
              <a:p>
                <a:pPr algn="ctr"/>
                <a:r>
                  <a:rPr lang="zh-CN" sz="860" b="1" dirty="0">
                    <a:solidFill>
                      <a:srgbClr val="42140B"/>
                    </a:solidFill>
                    <a:latin typeface="+mn-lt"/>
                    <a:ea typeface="+mn-ea"/>
                    <a:cs typeface="+mn-cs"/>
                  </a:rPr>
                  <a:t>术语消歧</a:t>
                </a:r>
              </a:p>
            </p:txBody>
          </p:sp>
          <p:sp>
            <p:nvSpPr>
              <p:cNvPr id="339" name="TextBox 339"/>
              <p:cNvSpPr txBox="1"/>
              <p:nvPr/>
            </p:nvSpPr>
            <p:spPr>
              <a:xfrm>
                <a:off x="414338" y="6160532"/>
                <a:ext cx="51650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同义词识别</a:t>
                </a:r>
              </a:p>
            </p:txBody>
          </p:sp>
          <p:sp>
            <p:nvSpPr>
              <p:cNvPr id="340" name="TextBox 340"/>
              <p:cNvSpPr txBox="1"/>
              <p:nvPr/>
            </p:nvSpPr>
            <p:spPr>
              <a:xfrm>
                <a:off x="414338" y="633198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词义辨析</a:t>
                </a:r>
              </a:p>
            </p:txBody>
          </p:sp>
          <p:sp>
            <p:nvSpPr>
              <p:cNvPr id="341" name="TextBox 341"/>
              <p:cNvSpPr txBox="1"/>
              <p:nvPr/>
            </p:nvSpPr>
            <p:spPr>
              <a:xfrm>
                <a:off x="414338" y="6503432"/>
                <a:ext cx="77497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 xml:space="preserve">领域上下文判定　</a:t>
                </a:r>
              </a:p>
            </p:txBody>
          </p:sp>
        </p:grpSp>
        <p:sp>
          <p:nvSpPr>
            <p:cNvPr id="343" name="pf-arr-1"/>
            <p:cNvSpPr/>
            <p:nvPr/>
          </p:nvSpPr>
          <p:spPr>
            <a:xfrm>
              <a:off x="1562100" y="5981700"/>
              <a:ext cx="114300" cy="133350"/>
            </a:xfrm>
            <a:custGeom>
              <a:avLst/>
              <a:gdLst/>
              <a:ahLst/>
              <a:cxnLst/>
              <a:rect l="l" t="t" r="r" b="b"/>
              <a:pathLst>
                <a:path w="114300" h="133350">
                  <a:moveTo>
                    <a:pt x="0" y="0"/>
                  </a:moveTo>
                  <a:lnTo>
                    <a:pt x="114300" y="66675"/>
                  </a:lnTo>
                  <a:lnTo>
                    <a:pt x="0" y="133350"/>
                  </a:lnTo>
                  <a:close/>
                </a:path>
              </a:pathLst>
            </a:custGeom>
            <a:solidFill>
              <a:srgbClr val="9A4B3C"/>
            </a:solidFill>
            <a:ln>
              <a:noFill/>
            </a:ln>
          </p:spPr>
        </p:sp>
        <p:grpSp>
          <p:nvGrpSpPr>
            <p:cNvPr id="351" name="pf-card-2"/>
            <p:cNvGrpSpPr/>
            <p:nvPr/>
          </p:nvGrpSpPr>
          <p:grpSpPr>
            <a:xfrm>
              <a:off x="1695450" y="5429250"/>
              <a:ext cx="1257300" cy="1238250"/>
              <a:chOff x="1695450" y="5429250"/>
              <a:chExt cx="1257300" cy="1238250"/>
            </a:xfrm>
          </p:grpSpPr>
          <p:sp>
            <p:nvSpPr>
              <p:cNvPr id="344" name="Rectangle 344"/>
              <p:cNvSpPr/>
              <p:nvPr/>
            </p:nvSpPr>
            <p:spPr>
              <a:xfrm>
                <a:off x="1695450" y="5429250"/>
                <a:ext cx="1257300" cy="1238250"/>
              </a:xfrm>
              <a:prstGeom prst="roundRect">
                <a:avLst>
                  <a:gd name="adj" fmla="val 6154"/>
                </a:avLst>
              </a:prstGeom>
              <a:solidFill>
                <a:srgbClr val="FFFFFF"/>
              </a:solidFill>
              <a:ln w="9525">
                <a:solidFill>
                  <a:srgbClr val="D9E8C6"/>
                </a:solidFill>
              </a:ln>
            </p:spPr>
          </p:sp>
          <p:sp>
            <p:nvSpPr>
              <p:cNvPr id="345" name="Ellipse 345"/>
              <p:cNvSpPr/>
              <p:nvPr/>
            </p:nvSpPr>
            <p:spPr>
              <a:xfrm>
                <a:off x="2181225" y="5534025"/>
                <a:ext cx="285750" cy="285750"/>
              </a:xfrm>
              <a:prstGeom prst="ellipse">
                <a:avLst/>
              </a:prstGeom>
              <a:solidFill>
                <a:srgbClr val="FFFFFF"/>
              </a:solidFill>
              <a:ln w="14288">
                <a:solidFill>
                  <a:srgbClr val="BE776A"/>
                </a:solidFill>
              </a:ln>
            </p:spPr>
          </p:sp>
          <p:sp>
            <p:nvSpPr>
              <p:cNvPr id="346" name="Freeform 346"/>
              <p:cNvSpPr/>
              <p:nvPr/>
            </p:nvSpPr>
            <p:spPr>
              <a:xfrm>
                <a:off x="2266950" y="561975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7C3B2F"/>
                </a:solidFill>
              </a:ln>
            </p:spPr>
          </p:sp>
          <p:sp>
            <p:nvSpPr>
              <p:cNvPr id="347" name="TextBox 347"/>
              <p:cNvSpPr txBox="1"/>
              <p:nvPr/>
            </p:nvSpPr>
            <p:spPr>
              <a:xfrm>
                <a:off x="2087791" y="5907643"/>
                <a:ext cx="472618" cy="169069"/>
              </a:xfrm>
              <a:prstGeom prst="rect">
                <a:avLst/>
              </a:prstGeom>
              <a:noFill/>
              <a:ln>
                <a:noFill/>
              </a:ln>
            </p:spPr>
            <p:txBody>
              <a:bodyPr wrap="none" lIns="0" tIns="0" rIns="0" bIns="0" anchor="t" anchorCtr="0">
                <a:spAutoFit/>
              </a:bodyPr>
              <a:lstStyle/>
              <a:p>
                <a:pPr algn="ctr"/>
                <a:r>
                  <a:rPr lang="zh-CN" sz="860" b="1" dirty="0">
                    <a:solidFill>
                      <a:srgbClr val="42140B"/>
                    </a:solidFill>
                    <a:latin typeface="+mn-lt"/>
                    <a:ea typeface="+mn-ea"/>
                    <a:cs typeface="+mn-cs"/>
                  </a:rPr>
                  <a:t>实体对齐</a:t>
                </a:r>
              </a:p>
            </p:txBody>
          </p:sp>
          <p:sp>
            <p:nvSpPr>
              <p:cNvPr id="348" name="TextBox 348"/>
              <p:cNvSpPr txBox="1"/>
              <p:nvPr/>
            </p:nvSpPr>
            <p:spPr>
              <a:xfrm>
                <a:off x="1824038" y="6160532"/>
                <a:ext cx="77497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 xml:space="preserve">与受控词表匹配　</a:t>
                </a:r>
              </a:p>
            </p:txBody>
          </p:sp>
          <p:sp>
            <p:nvSpPr>
              <p:cNvPr id="349" name="TextBox 349"/>
              <p:cNvSpPr txBox="1"/>
              <p:nvPr/>
            </p:nvSpPr>
            <p:spPr>
              <a:xfrm>
                <a:off x="1824038" y="6331982"/>
                <a:ext cx="602666"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实体去重合并</a:t>
                </a:r>
              </a:p>
            </p:txBody>
          </p:sp>
          <p:sp>
            <p:nvSpPr>
              <p:cNvPr id="350" name="TextBox 350"/>
              <p:cNvSpPr txBox="1"/>
              <p:nvPr/>
            </p:nvSpPr>
            <p:spPr>
              <a:xfrm>
                <a:off x="1824038" y="6503432"/>
                <a:ext cx="77497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 xml:space="preserve">规范化标识生成　</a:t>
                </a:r>
              </a:p>
            </p:txBody>
          </p:sp>
        </p:grpSp>
        <p:sp>
          <p:nvSpPr>
            <p:cNvPr id="352" name="pf-arr-2"/>
            <p:cNvSpPr/>
            <p:nvPr/>
          </p:nvSpPr>
          <p:spPr>
            <a:xfrm>
              <a:off x="2971800" y="5981700"/>
              <a:ext cx="114300" cy="133350"/>
            </a:xfrm>
            <a:custGeom>
              <a:avLst/>
              <a:gdLst/>
              <a:ahLst/>
              <a:cxnLst/>
              <a:rect l="l" t="t" r="r" b="b"/>
              <a:pathLst>
                <a:path w="114300" h="133350">
                  <a:moveTo>
                    <a:pt x="0" y="0"/>
                  </a:moveTo>
                  <a:lnTo>
                    <a:pt x="114300" y="66675"/>
                  </a:lnTo>
                  <a:lnTo>
                    <a:pt x="0" y="133350"/>
                  </a:lnTo>
                  <a:close/>
                </a:path>
              </a:pathLst>
            </a:custGeom>
            <a:solidFill>
              <a:srgbClr val="9A4B3C"/>
            </a:solidFill>
            <a:ln>
              <a:noFill/>
            </a:ln>
          </p:spPr>
        </p:sp>
        <p:grpSp>
          <p:nvGrpSpPr>
            <p:cNvPr id="363" name="pf-card-3"/>
            <p:cNvGrpSpPr/>
            <p:nvPr/>
          </p:nvGrpSpPr>
          <p:grpSpPr>
            <a:xfrm>
              <a:off x="3105150" y="5429250"/>
              <a:ext cx="1257300" cy="1238250"/>
              <a:chOff x="3105150" y="5429250"/>
              <a:chExt cx="1257300" cy="1238250"/>
            </a:xfrm>
          </p:grpSpPr>
          <p:sp>
            <p:nvSpPr>
              <p:cNvPr id="353" name="Rectangle 353"/>
              <p:cNvSpPr/>
              <p:nvPr/>
            </p:nvSpPr>
            <p:spPr>
              <a:xfrm>
                <a:off x="3105150" y="5429250"/>
                <a:ext cx="1257300" cy="1238250"/>
              </a:xfrm>
              <a:prstGeom prst="roundRect">
                <a:avLst>
                  <a:gd name="adj" fmla="val 6154"/>
                </a:avLst>
              </a:prstGeom>
              <a:solidFill>
                <a:srgbClr val="F4F8EC"/>
              </a:solidFill>
              <a:ln w="9525">
                <a:solidFill>
                  <a:srgbClr val="D9E8C6"/>
                </a:solidFill>
              </a:ln>
            </p:spPr>
          </p:sp>
          <p:sp>
            <p:nvSpPr>
              <p:cNvPr id="354" name="Ellipse 354"/>
              <p:cNvSpPr/>
              <p:nvPr/>
            </p:nvSpPr>
            <p:spPr>
              <a:xfrm>
                <a:off x="3590925" y="5534025"/>
                <a:ext cx="285750" cy="285750"/>
              </a:xfrm>
              <a:prstGeom prst="ellipse">
                <a:avLst/>
              </a:prstGeom>
              <a:solidFill>
                <a:srgbClr val="FFFFFF"/>
              </a:solidFill>
              <a:ln w="14288">
                <a:solidFill>
                  <a:srgbClr val="BE776A"/>
                </a:solidFill>
              </a:ln>
            </p:spPr>
          </p:sp>
          <p:grpSp>
            <p:nvGrpSpPr>
              <p:cNvPr id="358" name="Group 358"/>
              <p:cNvGrpSpPr/>
              <p:nvPr/>
            </p:nvGrpSpPr>
            <p:grpSpPr>
              <a:xfrm>
                <a:off x="3689350" y="5619750"/>
                <a:ext cx="88900" cy="114300"/>
                <a:chOff x="3689350" y="5619750"/>
                <a:chExt cx="88900" cy="114300"/>
              </a:xfrm>
            </p:grpSpPr>
            <p:sp>
              <p:nvSpPr>
                <p:cNvPr id="355" name="Freeform 355"/>
                <p:cNvSpPr/>
                <p:nvPr/>
              </p:nvSpPr>
              <p:spPr>
                <a:xfrm>
                  <a:off x="3689350" y="5657850"/>
                  <a:ext cx="88900" cy="76200"/>
                </a:xfrm>
                <a:custGeom>
                  <a:avLst/>
                  <a:gdLst/>
                  <a:ahLst/>
                  <a:cxnLst/>
                  <a:rect l="l" t="t" r="r" b="b"/>
                  <a:pathLst>
                    <a:path w="88900" h="76200">
                      <a:moveTo>
                        <a:pt x="19050" y="0"/>
                      </a:moveTo>
                      <a:lnTo>
                        <a:pt x="12700" y="0"/>
                      </a:lnTo>
                      <a:cubicBezTo>
                        <a:pt x="5686" y="0"/>
                        <a:pt x="0" y="5686"/>
                        <a:pt x="0" y="12700"/>
                      </a:cubicBezTo>
                      <a:lnTo>
                        <a:pt x="0" y="63500"/>
                      </a:lnTo>
                      <a:cubicBezTo>
                        <a:pt x="0" y="70514"/>
                        <a:pt x="5686" y="76200"/>
                        <a:pt x="12700" y="76200"/>
                      </a:cubicBezTo>
                      <a:lnTo>
                        <a:pt x="76200" y="76200"/>
                      </a:lnTo>
                      <a:cubicBezTo>
                        <a:pt x="83214" y="76200"/>
                        <a:pt x="88900" y="70514"/>
                        <a:pt x="88900" y="63500"/>
                      </a:cubicBezTo>
                      <a:lnTo>
                        <a:pt x="88900" y="12700"/>
                      </a:lnTo>
                      <a:cubicBezTo>
                        <a:pt x="88900" y="5686"/>
                        <a:pt x="83214" y="0"/>
                        <a:pt x="76200" y="0"/>
                      </a:cubicBezTo>
                      <a:lnTo>
                        <a:pt x="69850" y="0"/>
                      </a:lnTo>
                    </a:path>
                  </a:pathLst>
                </a:custGeom>
                <a:noFill/>
                <a:ln w="12700">
                  <a:solidFill>
                    <a:srgbClr val="7C3B2F"/>
                  </a:solidFill>
                </a:ln>
              </p:spPr>
            </p:sp>
            <p:sp>
              <p:nvSpPr>
                <p:cNvPr id="356" name="Freeform 356"/>
                <p:cNvSpPr/>
                <p:nvPr/>
              </p:nvSpPr>
              <p:spPr>
                <a:xfrm>
                  <a:off x="3733800" y="5619750"/>
                  <a:ext cx="9525" cy="69850"/>
                </a:xfrm>
                <a:custGeom>
                  <a:avLst/>
                  <a:gdLst/>
                  <a:ahLst/>
                  <a:cxnLst/>
                  <a:rect l="l" t="t" r="r" b="b"/>
                  <a:pathLst>
                    <a:path w="9525" h="69850">
                      <a:moveTo>
                        <a:pt x="0" y="69850"/>
                      </a:moveTo>
                      <a:lnTo>
                        <a:pt x="0" y="0"/>
                      </a:lnTo>
                    </a:path>
                  </a:pathLst>
                </a:custGeom>
                <a:noFill/>
                <a:ln w="12700">
                  <a:solidFill>
                    <a:srgbClr val="7C3B2F"/>
                  </a:solidFill>
                </a:ln>
              </p:spPr>
            </p:sp>
            <p:sp>
              <p:nvSpPr>
                <p:cNvPr id="357" name="Freeform 357"/>
                <p:cNvSpPr/>
                <p:nvPr/>
              </p:nvSpPr>
              <p:spPr>
                <a:xfrm>
                  <a:off x="3714750" y="5619750"/>
                  <a:ext cx="38100" cy="19050"/>
                </a:xfrm>
                <a:custGeom>
                  <a:avLst/>
                  <a:gdLst/>
                  <a:ahLst/>
                  <a:cxnLst/>
                  <a:rect l="l" t="t" r="r" b="b"/>
                  <a:pathLst>
                    <a:path w="38100" h="19050">
                      <a:moveTo>
                        <a:pt x="0" y="19050"/>
                      </a:moveTo>
                      <a:lnTo>
                        <a:pt x="19050" y="0"/>
                      </a:lnTo>
                      <a:lnTo>
                        <a:pt x="38100" y="19050"/>
                      </a:lnTo>
                    </a:path>
                  </a:pathLst>
                </a:custGeom>
                <a:noFill/>
                <a:ln w="12700">
                  <a:solidFill>
                    <a:srgbClr val="7C3B2F"/>
                  </a:solidFill>
                </a:ln>
              </p:spPr>
            </p:sp>
          </p:grpSp>
          <p:sp>
            <p:nvSpPr>
              <p:cNvPr id="359" name="TextBox 359"/>
              <p:cNvSpPr txBox="1"/>
              <p:nvPr/>
            </p:nvSpPr>
            <p:spPr>
              <a:xfrm>
                <a:off x="3497491" y="5907643"/>
                <a:ext cx="472618" cy="169069"/>
              </a:xfrm>
              <a:prstGeom prst="rect">
                <a:avLst/>
              </a:prstGeom>
              <a:noFill/>
              <a:ln>
                <a:noFill/>
              </a:ln>
            </p:spPr>
            <p:txBody>
              <a:bodyPr wrap="none" lIns="0" tIns="0" rIns="0" bIns="0" anchor="t" anchorCtr="0">
                <a:spAutoFit/>
              </a:bodyPr>
              <a:lstStyle/>
              <a:p>
                <a:pPr algn="ctr"/>
                <a:r>
                  <a:rPr lang="zh-CN" sz="860" b="1" dirty="0">
                    <a:solidFill>
                      <a:srgbClr val="42140B"/>
                    </a:solidFill>
                    <a:latin typeface="+mn-lt"/>
                    <a:ea typeface="+mn-ea"/>
                    <a:cs typeface="+mn-cs"/>
                  </a:rPr>
                  <a:t>关系抽取</a:t>
                </a:r>
              </a:p>
            </p:txBody>
          </p:sp>
          <p:sp>
            <p:nvSpPr>
              <p:cNvPr id="360" name="TextBox 360"/>
              <p:cNvSpPr txBox="1"/>
              <p:nvPr/>
            </p:nvSpPr>
            <p:spPr>
              <a:xfrm>
                <a:off x="3233738" y="6160532"/>
                <a:ext cx="73620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 xml:space="preserve">句法/语义分析　</a:t>
                </a:r>
              </a:p>
            </p:txBody>
          </p:sp>
          <p:sp>
            <p:nvSpPr>
              <p:cNvPr id="361" name="TextBox 361"/>
              <p:cNvSpPr txBox="1"/>
              <p:nvPr/>
            </p:nvSpPr>
            <p:spPr>
              <a:xfrm>
                <a:off x="3233738" y="63319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 xml:space="preserve">关系类型识别　</a:t>
                </a:r>
              </a:p>
            </p:txBody>
          </p:sp>
          <p:sp>
            <p:nvSpPr>
              <p:cNvPr id="362" name="TextBox 362"/>
              <p:cNvSpPr txBox="1"/>
              <p:nvPr/>
            </p:nvSpPr>
            <p:spPr>
              <a:xfrm>
                <a:off x="3233738" y="6503432"/>
                <a:ext cx="51650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置信度评估</a:t>
                </a:r>
              </a:p>
            </p:txBody>
          </p:sp>
        </p:grpSp>
        <p:sp>
          <p:nvSpPr>
            <p:cNvPr id="364" name="pf-arr-3"/>
            <p:cNvSpPr/>
            <p:nvPr/>
          </p:nvSpPr>
          <p:spPr>
            <a:xfrm>
              <a:off x="4381500" y="5981700"/>
              <a:ext cx="114300" cy="133350"/>
            </a:xfrm>
            <a:custGeom>
              <a:avLst/>
              <a:gdLst/>
              <a:ahLst/>
              <a:cxnLst/>
              <a:rect l="l" t="t" r="r" b="b"/>
              <a:pathLst>
                <a:path w="114300" h="133350">
                  <a:moveTo>
                    <a:pt x="0" y="0"/>
                  </a:moveTo>
                  <a:lnTo>
                    <a:pt x="114300" y="66675"/>
                  </a:lnTo>
                  <a:lnTo>
                    <a:pt x="0" y="133350"/>
                  </a:lnTo>
                  <a:close/>
                </a:path>
              </a:pathLst>
            </a:custGeom>
            <a:solidFill>
              <a:srgbClr val="9A4B3C"/>
            </a:solidFill>
            <a:ln>
              <a:noFill/>
            </a:ln>
          </p:spPr>
        </p:sp>
        <p:grpSp>
          <p:nvGrpSpPr>
            <p:cNvPr id="374" name="pf-card-4"/>
            <p:cNvGrpSpPr/>
            <p:nvPr/>
          </p:nvGrpSpPr>
          <p:grpSpPr>
            <a:xfrm>
              <a:off x="4514850" y="5429250"/>
              <a:ext cx="1257300" cy="1238250"/>
              <a:chOff x="4514850" y="5429250"/>
              <a:chExt cx="1257300" cy="1238250"/>
            </a:xfrm>
          </p:grpSpPr>
          <p:sp>
            <p:nvSpPr>
              <p:cNvPr id="365" name="Rectangle 365"/>
              <p:cNvSpPr/>
              <p:nvPr/>
            </p:nvSpPr>
            <p:spPr>
              <a:xfrm>
                <a:off x="4514850" y="5429250"/>
                <a:ext cx="1257300" cy="1238250"/>
              </a:xfrm>
              <a:prstGeom prst="roundRect">
                <a:avLst>
                  <a:gd name="adj" fmla="val 6154"/>
                </a:avLst>
              </a:prstGeom>
              <a:solidFill>
                <a:srgbClr val="FFFFFF"/>
              </a:solidFill>
              <a:ln w="9525">
                <a:solidFill>
                  <a:srgbClr val="D9E8C6"/>
                </a:solidFill>
              </a:ln>
            </p:spPr>
          </p:sp>
          <p:sp>
            <p:nvSpPr>
              <p:cNvPr id="366" name="Ellipse 366"/>
              <p:cNvSpPr/>
              <p:nvPr/>
            </p:nvSpPr>
            <p:spPr>
              <a:xfrm>
                <a:off x="5000625" y="5534025"/>
                <a:ext cx="285750" cy="285750"/>
              </a:xfrm>
              <a:prstGeom prst="ellipse">
                <a:avLst/>
              </a:prstGeom>
              <a:solidFill>
                <a:srgbClr val="FFFFFF"/>
              </a:solidFill>
              <a:ln w="14288">
                <a:solidFill>
                  <a:srgbClr val="BE776A"/>
                </a:solidFill>
              </a:ln>
            </p:spPr>
          </p:sp>
          <p:grpSp>
            <p:nvGrpSpPr>
              <p:cNvPr id="369" name="Group 369"/>
              <p:cNvGrpSpPr/>
              <p:nvPr/>
            </p:nvGrpSpPr>
            <p:grpSpPr>
              <a:xfrm>
                <a:off x="5077780" y="5619750"/>
                <a:ext cx="124004" cy="114300"/>
                <a:chOff x="5077780" y="5619750"/>
                <a:chExt cx="124004" cy="114300"/>
              </a:xfrm>
            </p:grpSpPr>
            <p:sp>
              <p:nvSpPr>
                <p:cNvPr id="367" name="Freeform 367"/>
                <p:cNvSpPr/>
                <p:nvPr/>
              </p:nvSpPr>
              <p:spPr>
                <a:xfrm>
                  <a:off x="5077780" y="56197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7C3B2F"/>
                  </a:solidFill>
                </a:ln>
              </p:spPr>
            </p:sp>
            <p:sp>
              <p:nvSpPr>
                <p:cNvPr id="368" name="Freeform 368"/>
                <p:cNvSpPr/>
                <p:nvPr/>
              </p:nvSpPr>
              <p:spPr>
                <a:xfrm>
                  <a:off x="5162550" y="570865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370" name="TextBox 370"/>
              <p:cNvSpPr txBox="1"/>
              <p:nvPr/>
            </p:nvSpPr>
            <p:spPr>
              <a:xfrm>
                <a:off x="4907191" y="5907643"/>
                <a:ext cx="472618" cy="169069"/>
              </a:xfrm>
              <a:prstGeom prst="rect">
                <a:avLst/>
              </a:prstGeom>
              <a:noFill/>
              <a:ln>
                <a:noFill/>
              </a:ln>
            </p:spPr>
            <p:txBody>
              <a:bodyPr wrap="none" lIns="0" tIns="0" rIns="0" bIns="0" anchor="t" anchorCtr="0">
                <a:spAutoFit/>
              </a:bodyPr>
              <a:lstStyle/>
              <a:p>
                <a:pPr algn="ctr"/>
                <a:r>
                  <a:rPr lang="zh-CN" sz="860" b="1" dirty="0">
                    <a:solidFill>
                      <a:srgbClr val="42140B"/>
                    </a:solidFill>
                    <a:latin typeface="+mn-lt"/>
                    <a:ea typeface="+mn-ea"/>
                    <a:cs typeface="+mn-cs"/>
                  </a:rPr>
                  <a:t>本体校验</a:t>
                </a:r>
              </a:p>
            </p:txBody>
          </p:sp>
          <p:sp>
            <p:nvSpPr>
              <p:cNvPr id="371" name="TextBox 371"/>
              <p:cNvSpPr txBox="1"/>
              <p:nvPr/>
            </p:nvSpPr>
            <p:spPr>
              <a:xfrm>
                <a:off x="4643438" y="6160532"/>
                <a:ext cx="602666"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类型与域检验</a:t>
                </a:r>
              </a:p>
            </p:txBody>
          </p:sp>
          <p:sp>
            <p:nvSpPr>
              <p:cNvPr id="372" name="TextBox 372"/>
              <p:cNvSpPr txBox="1"/>
              <p:nvPr/>
            </p:nvSpPr>
            <p:spPr>
              <a:xfrm>
                <a:off x="4643438" y="6331982"/>
                <a:ext cx="77497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 xml:space="preserve">约束与规则校验　</a:t>
                </a:r>
              </a:p>
            </p:txBody>
          </p:sp>
          <p:sp>
            <p:nvSpPr>
              <p:cNvPr id="373" name="TextBox 373"/>
              <p:cNvSpPr txBox="1"/>
              <p:nvPr/>
            </p:nvSpPr>
            <p:spPr>
              <a:xfrm>
                <a:off x="4643438" y="650343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冲突检测</a:t>
                </a:r>
              </a:p>
            </p:txBody>
          </p:sp>
        </p:grpSp>
        <p:sp>
          <p:nvSpPr>
            <p:cNvPr id="375" name="pf-arr-4"/>
            <p:cNvSpPr/>
            <p:nvPr/>
          </p:nvSpPr>
          <p:spPr>
            <a:xfrm>
              <a:off x="5791200" y="5981700"/>
              <a:ext cx="114300" cy="133350"/>
            </a:xfrm>
            <a:custGeom>
              <a:avLst/>
              <a:gdLst/>
              <a:ahLst/>
              <a:cxnLst/>
              <a:rect l="l" t="t" r="r" b="b"/>
              <a:pathLst>
                <a:path w="114300" h="133350">
                  <a:moveTo>
                    <a:pt x="0" y="0"/>
                  </a:moveTo>
                  <a:lnTo>
                    <a:pt x="114300" y="66675"/>
                  </a:lnTo>
                  <a:lnTo>
                    <a:pt x="0" y="133350"/>
                  </a:lnTo>
                  <a:close/>
                </a:path>
              </a:pathLst>
            </a:custGeom>
            <a:solidFill>
              <a:srgbClr val="9A4B3C"/>
            </a:solidFill>
            <a:ln>
              <a:noFill/>
            </a:ln>
          </p:spPr>
        </p:sp>
        <p:grpSp>
          <p:nvGrpSpPr>
            <p:cNvPr id="386" name="pf-card-5"/>
            <p:cNvGrpSpPr/>
            <p:nvPr/>
          </p:nvGrpSpPr>
          <p:grpSpPr>
            <a:xfrm>
              <a:off x="5924550" y="5429250"/>
              <a:ext cx="1257300" cy="1238250"/>
              <a:chOff x="5924550" y="5429250"/>
              <a:chExt cx="1257300" cy="1238250"/>
            </a:xfrm>
          </p:grpSpPr>
          <p:sp>
            <p:nvSpPr>
              <p:cNvPr id="376" name="Rectangle 376"/>
              <p:cNvSpPr/>
              <p:nvPr/>
            </p:nvSpPr>
            <p:spPr>
              <a:xfrm>
                <a:off x="5924550" y="5429250"/>
                <a:ext cx="1257300" cy="1238250"/>
              </a:xfrm>
              <a:prstGeom prst="roundRect">
                <a:avLst>
                  <a:gd name="adj" fmla="val 6154"/>
                </a:avLst>
              </a:prstGeom>
              <a:solidFill>
                <a:srgbClr val="F4F8EC"/>
              </a:solidFill>
              <a:ln w="9525">
                <a:solidFill>
                  <a:srgbClr val="D9E8C6"/>
                </a:solidFill>
              </a:ln>
            </p:spPr>
          </p:sp>
          <p:sp>
            <p:nvSpPr>
              <p:cNvPr id="377" name="Ellipse 377"/>
              <p:cNvSpPr/>
              <p:nvPr/>
            </p:nvSpPr>
            <p:spPr>
              <a:xfrm>
                <a:off x="6410325" y="5534025"/>
                <a:ext cx="285750" cy="285750"/>
              </a:xfrm>
              <a:prstGeom prst="ellipse">
                <a:avLst/>
              </a:prstGeom>
              <a:solidFill>
                <a:srgbClr val="FFFFFF"/>
              </a:solidFill>
              <a:ln w="14288">
                <a:solidFill>
                  <a:srgbClr val="BE776A"/>
                </a:solidFill>
              </a:ln>
            </p:spPr>
          </p:sp>
          <p:grpSp>
            <p:nvGrpSpPr>
              <p:cNvPr id="381" name="Group 381"/>
              <p:cNvGrpSpPr/>
              <p:nvPr/>
            </p:nvGrpSpPr>
            <p:grpSpPr>
              <a:xfrm>
                <a:off x="6502400" y="5619750"/>
                <a:ext cx="101600" cy="114300"/>
                <a:chOff x="6502400" y="5619750"/>
                <a:chExt cx="101600" cy="114300"/>
              </a:xfrm>
            </p:grpSpPr>
            <p:sp>
              <p:nvSpPr>
                <p:cNvPr id="378" name="Freeform 378"/>
                <p:cNvSpPr/>
                <p:nvPr/>
              </p:nvSpPr>
              <p:spPr>
                <a:xfrm>
                  <a:off x="6502400" y="56197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7C3B2F"/>
                  </a:solidFill>
                </a:ln>
              </p:spPr>
            </p:sp>
            <p:sp>
              <p:nvSpPr>
                <p:cNvPr id="379" name="Freeform 379"/>
                <p:cNvSpPr/>
                <p:nvPr/>
              </p:nvSpPr>
              <p:spPr>
                <a:xfrm>
                  <a:off x="6502400" y="56388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7C3B2F"/>
                  </a:solidFill>
                </a:ln>
              </p:spPr>
            </p:sp>
            <p:sp>
              <p:nvSpPr>
                <p:cNvPr id="380" name="Freeform 380"/>
                <p:cNvSpPr/>
                <p:nvPr/>
              </p:nvSpPr>
              <p:spPr>
                <a:xfrm>
                  <a:off x="6502400" y="56769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7C3B2F"/>
                  </a:solidFill>
                </a:ln>
              </p:spPr>
            </p:sp>
          </p:grpSp>
          <p:sp>
            <p:nvSpPr>
              <p:cNvPr id="382" name="TextBox 382"/>
              <p:cNvSpPr txBox="1"/>
              <p:nvPr/>
            </p:nvSpPr>
            <p:spPr>
              <a:xfrm>
                <a:off x="6316891" y="5907643"/>
                <a:ext cx="472618" cy="169069"/>
              </a:xfrm>
              <a:prstGeom prst="rect">
                <a:avLst/>
              </a:prstGeom>
              <a:noFill/>
              <a:ln>
                <a:noFill/>
              </a:ln>
            </p:spPr>
            <p:txBody>
              <a:bodyPr wrap="none" lIns="0" tIns="0" rIns="0" bIns="0" anchor="t" anchorCtr="0">
                <a:spAutoFit/>
              </a:bodyPr>
              <a:lstStyle/>
              <a:p>
                <a:pPr algn="ctr"/>
                <a:r>
                  <a:rPr lang="zh-CN" sz="860" b="1" dirty="0">
                    <a:solidFill>
                      <a:srgbClr val="42140B"/>
                    </a:solidFill>
                    <a:latin typeface="+mn-lt"/>
                    <a:ea typeface="+mn-ea"/>
                    <a:cs typeface="+mn-cs"/>
                  </a:rPr>
                  <a:t>图谱更新</a:t>
                </a:r>
              </a:p>
            </p:txBody>
          </p:sp>
          <p:sp>
            <p:nvSpPr>
              <p:cNvPr id="383" name="TextBox 383"/>
              <p:cNvSpPr txBox="1"/>
              <p:nvPr/>
            </p:nvSpPr>
            <p:spPr>
              <a:xfrm>
                <a:off x="6053138" y="6160532"/>
                <a:ext cx="73620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 xml:space="preserve">实体/关系写入　</a:t>
                </a:r>
              </a:p>
            </p:txBody>
          </p:sp>
          <p:sp>
            <p:nvSpPr>
              <p:cNvPr id="384" name="TextBox 384"/>
              <p:cNvSpPr txBox="1"/>
              <p:nvPr/>
            </p:nvSpPr>
            <p:spPr>
              <a:xfrm>
                <a:off x="6053138" y="633198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增量更新</a:t>
                </a:r>
              </a:p>
            </p:txBody>
          </p:sp>
          <p:sp>
            <p:nvSpPr>
              <p:cNvPr id="385" name="TextBox 385"/>
              <p:cNvSpPr txBox="1"/>
              <p:nvPr/>
            </p:nvSpPr>
            <p:spPr>
              <a:xfrm>
                <a:off x="6053138" y="650343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索引刷新</a:t>
                </a:r>
              </a:p>
            </p:txBody>
          </p:sp>
        </p:grpSp>
      </p:gr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08</a:t>
              </a:r>
            </a:p>
          </p:txBody>
        </p:sp>
        <p:sp>
          <p:nvSpPr>
            <p:cNvPr id="4" name="TextBox 4"/>
            <p:cNvSpPr txBox="1"/>
            <p:nvPr/>
          </p:nvSpPr>
          <p:spPr>
            <a:xfrm>
              <a:off x="942594" y="151448"/>
              <a:ext cx="623666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企业级RAG需要把“检索到”升级为</a:t>
              </a:r>
              <a:r>
                <a:rPr lang="zh-CN" sz="1950" b="1" dirty="0">
                  <a:solidFill>
                    <a:srgbClr val="7C3B2F"/>
                  </a:solidFill>
                  <a:latin typeface="SimSun"/>
                  <a:ea typeface="SimSun"/>
                  <a:cs typeface="SimSun"/>
                </a:rPr>
                <a:t>“有依据地回答”</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111" name="rag-flow"/>
          <p:cNvGrpSpPr/>
          <p:nvPr/>
        </p:nvGrpSpPr>
        <p:grpSpPr>
          <a:xfrm>
            <a:off x="228600" y="666750"/>
            <a:ext cx="8686800" cy="1790700"/>
            <a:chOff x="228600" y="666750"/>
            <a:chExt cx="8686800" cy="1790700"/>
          </a:xfrm>
        </p:grpSpPr>
        <p:grpSp>
          <p:nvGrpSpPr>
            <p:cNvPr id="13" name="step-user"/>
            <p:cNvGrpSpPr/>
            <p:nvPr/>
          </p:nvGrpSpPr>
          <p:grpSpPr>
            <a:xfrm>
              <a:off x="228600" y="666750"/>
              <a:ext cx="685800" cy="1790700"/>
              <a:chOff x="228600" y="666750"/>
              <a:chExt cx="685800" cy="1790700"/>
            </a:xfrm>
          </p:grpSpPr>
          <p:sp>
            <p:nvSpPr>
              <p:cNvPr id="7" name="Rectangle 7"/>
              <p:cNvSpPr/>
              <p:nvPr/>
            </p:nvSpPr>
            <p:spPr>
              <a:xfrm>
                <a:off x="228600" y="666750"/>
                <a:ext cx="685800" cy="1790700"/>
              </a:xfrm>
              <a:prstGeom prst="roundRect">
                <a:avLst>
                  <a:gd name="adj" fmla="val 11111"/>
                </a:avLst>
              </a:prstGeom>
              <a:solidFill>
                <a:srgbClr val="F4F8EC"/>
              </a:solidFill>
              <a:ln w="9525">
                <a:solidFill>
                  <a:srgbClr val="D9E8C6"/>
                </a:solidFill>
              </a:ln>
            </p:spPr>
          </p:sp>
          <p:sp>
            <p:nvSpPr>
              <p:cNvPr id="8" name="Rectangle 8"/>
              <p:cNvSpPr/>
              <p:nvPr/>
            </p:nvSpPr>
            <p:spPr>
              <a:xfrm>
                <a:off x="228600" y="666750"/>
                <a:ext cx="685800" cy="323850"/>
              </a:xfrm>
              <a:prstGeom prst="roundRect">
                <a:avLst>
                  <a:gd name="adj" fmla="val 23529"/>
                </a:avLst>
              </a:prstGeom>
              <a:solidFill>
                <a:srgbClr val="42140B"/>
              </a:solidFill>
              <a:ln>
                <a:noFill/>
              </a:ln>
            </p:spPr>
          </p:sp>
          <p:sp>
            <p:nvSpPr>
              <p:cNvPr id="9" name="Rectangle 9"/>
              <p:cNvSpPr/>
              <p:nvPr/>
            </p:nvSpPr>
            <p:spPr>
              <a:xfrm>
                <a:off x="228600" y="857250"/>
                <a:ext cx="685800" cy="133350"/>
              </a:xfrm>
              <a:prstGeom prst="rect">
                <a:avLst/>
              </a:prstGeom>
              <a:solidFill>
                <a:srgbClr val="42140B"/>
              </a:solidFill>
              <a:ln>
                <a:noFill/>
              </a:ln>
            </p:spPr>
          </p:sp>
          <p:sp>
            <p:nvSpPr>
              <p:cNvPr id="10" name="TextBox 10"/>
              <p:cNvSpPr txBox="1"/>
              <p:nvPr/>
            </p:nvSpPr>
            <p:spPr>
              <a:xfrm>
                <a:off x="375577" y="7993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用户问题</a:t>
                </a:r>
              </a:p>
            </p:txBody>
          </p:sp>
          <p:sp>
            <p:nvSpPr>
              <p:cNvPr id="11" name="Ellipse 11"/>
              <p:cNvSpPr/>
              <p:nvPr/>
            </p:nvSpPr>
            <p:spPr>
              <a:xfrm>
                <a:off x="361950" y="1371600"/>
                <a:ext cx="419100" cy="419100"/>
              </a:xfrm>
              <a:prstGeom prst="ellipse">
                <a:avLst/>
              </a:prstGeom>
              <a:solidFill>
                <a:srgbClr val="FFFFFF"/>
              </a:solidFill>
              <a:ln w="14288">
                <a:solidFill>
                  <a:srgbClr val="BE776A"/>
                </a:solidFill>
              </a:ln>
            </p:spPr>
          </p:sp>
          <p:sp>
            <p:nvSpPr>
              <p:cNvPr id="12" name="Freeform 12"/>
              <p:cNvSpPr/>
              <p:nvPr/>
            </p:nvSpPr>
            <p:spPr>
              <a:xfrm>
                <a:off x="468065" y="1490603"/>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7C3B2F"/>
                </a:solidFill>
              </a:ln>
            </p:spPr>
          </p:sp>
        </p:grpSp>
        <p:sp>
          <p:nvSpPr>
            <p:cNvPr id="14" name="rf-arr-1"/>
            <p:cNvSpPr/>
            <p:nvPr/>
          </p:nvSpPr>
          <p:spPr>
            <a:xfrm>
              <a:off x="933450" y="1524000"/>
              <a:ext cx="76200" cy="76200"/>
            </a:xfrm>
            <a:custGeom>
              <a:avLst/>
              <a:gdLst/>
              <a:ahLst/>
              <a:cxnLst/>
              <a:rect l="l" t="t" r="r" b="b"/>
              <a:pathLst>
                <a:path w="76200" h="76200">
                  <a:moveTo>
                    <a:pt x="0" y="0"/>
                  </a:moveTo>
                  <a:lnTo>
                    <a:pt x="76200" y="38100"/>
                  </a:lnTo>
                  <a:lnTo>
                    <a:pt x="0" y="76200"/>
                  </a:lnTo>
                  <a:close/>
                </a:path>
              </a:pathLst>
            </a:custGeom>
            <a:solidFill>
              <a:srgbClr val="9A4B3C"/>
            </a:solidFill>
            <a:ln>
              <a:noFill/>
            </a:ln>
          </p:spPr>
        </p:sp>
        <p:grpSp>
          <p:nvGrpSpPr>
            <p:cNvPr id="28" name="step-intent"/>
            <p:cNvGrpSpPr/>
            <p:nvPr/>
          </p:nvGrpSpPr>
          <p:grpSpPr>
            <a:xfrm>
              <a:off x="1028700" y="666750"/>
              <a:ext cx="1066800" cy="1790700"/>
              <a:chOff x="1028700" y="666750"/>
              <a:chExt cx="1066800" cy="1790700"/>
            </a:xfrm>
          </p:grpSpPr>
          <p:sp>
            <p:nvSpPr>
              <p:cNvPr id="15" name="Rectangle 15"/>
              <p:cNvSpPr/>
              <p:nvPr/>
            </p:nvSpPr>
            <p:spPr>
              <a:xfrm>
                <a:off x="1028700" y="666750"/>
                <a:ext cx="1066800" cy="1790700"/>
              </a:xfrm>
              <a:prstGeom prst="roundRect">
                <a:avLst>
                  <a:gd name="adj" fmla="val 7143"/>
                </a:avLst>
              </a:prstGeom>
              <a:solidFill>
                <a:srgbClr val="FFFFFF"/>
              </a:solidFill>
              <a:ln w="9525">
                <a:solidFill>
                  <a:srgbClr val="D9E8C6"/>
                </a:solidFill>
              </a:ln>
            </p:spPr>
          </p:sp>
          <p:sp>
            <p:nvSpPr>
              <p:cNvPr id="16" name="Rectangle 16"/>
              <p:cNvSpPr/>
              <p:nvPr/>
            </p:nvSpPr>
            <p:spPr>
              <a:xfrm>
                <a:off x="1028700" y="666750"/>
                <a:ext cx="1066800" cy="323850"/>
              </a:xfrm>
              <a:prstGeom prst="roundRect">
                <a:avLst>
                  <a:gd name="adj" fmla="val 23529"/>
                </a:avLst>
              </a:prstGeom>
              <a:solidFill>
                <a:srgbClr val="42140B"/>
              </a:solidFill>
              <a:ln>
                <a:noFill/>
              </a:ln>
            </p:spPr>
          </p:sp>
          <p:sp>
            <p:nvSpPr>
              <p:cNvPr id="17" name="Rectangle 17"/>
              <p:cNvSpPr/>
              <p:nvPr/>
            </p:nvSpPr>
            <p:spPr>
              <a:xfrm>
                <a:off x="1028700" y="857250"/>
                <a:ext cx="1066800" cy="133350"/>
              </a:xfrm>
              <a:prstGeom prst="rect">
                <a:avLst/>
              </a:prstGeom>
              <a:solidFill>
                <a:srgbClr val="42140B"/>
              </a:solidFill>
              <a:ln>
                <a:noFill/>
              </a:ln>
            </p:spPr>
          </p:sp>
          <p:sp>
            <p:nvSpPr>
              <p:cNvPr id="18" name="TextBox 18"/>
              <p:cNvSpPr txBox="1"/>
              <p:nvPr/>
            </p:nvSpPr>
            <p:spPr>
              <a:xfrm>
                <a:off x="1318387" y="732711"/>
                <a:ext cx="48742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意图识别与</a:t>
                </a:r>
              </a:p>
            </p:txBody>
          </p:sp>
          <p:sp>
            <p:nvSpPr>
              <p:cNvPr id="19" name="TextBox 19"/>
              <p:cNvSpPr txBox="1"/>
              <p:nvPr/>
            </p:nvSpPr>
            <p:spPr>
              <a:xfrm>
                <a:off x="1366177" y="8565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查询改写</a:t>
                </a:r>
              </a:p>
            </p:txBody>
          </p:sp>
          <p:grpSp>
            <p:nvGrpSpPr>
              <p:cNvPr id="23" name="Group 23"/>
              <p:cNvGrpSpPr/>
              <p:nvPr/>
            </p:nvGrpSpPr>
            <p:grpSpPr>
              <a:xfrm>
                <a:off x="1476375" y="1095375"/>
                <a:ext cx="171450" cy="171450"/>
                <a:chOff x="1476375" y="1095375"/>
                <a:chExt cx="171450" cy="171450"/>
              </a:xfrm>
            </p:grpSpPr>
            <p:sp>
              <p:nvSpPr>
                <p:cNvPr id="20" name="Freeform 20"/>
                <p:cNvSpPr/>
                <p:nvPr/>
              </p:nvSpPr>
              <p:spPr>
                <a:xfrm>
                  <a:off x="1476375" y="1095375"/>
                  <a:ext cx="171450" cy="85725"/>
                </a:xfrm>
                <a:custGeom>
                  <a:avLst/>
                  <a:gdLst/>
                  <a:ahLst/>
                  <a:cxnLst/>
                  <a:rect l="l" t="t" r="r" b="b"/>
                  <a:pathLst>
                    <a:path w="171450" h="85725">
                      <a:moveTo>
                        <a:pt x="0" y="85725"/>
                      </a:moveTo>
                      <a:lnTo>
                        <a:pt x="9525" y="85725"/>
                      </a:lnTo>
                      <a:moveTo>
                        <a:pt x="85725" y="0"/>
                      </a:moveTo>
                      <a:lnTo>
                        <a:pt x="85725" y="9525"/>
                      </a:lnTo>
                      <a:moveTo>
                        <a:pt x="161925" y="85725"/>
                      </a:moveTo>
                      <a:lnTo>
                        <a:pt x="171450" y="85725"/>
                      </a:lnTo>
                      <a:moveTo>
                        <a:pt x="24765" y="24765"/>
                      </a:moveTo>
                      <a:lnTo>
                        <a:pt x="31433" y="31432"/>
                      </a:lnTo>
                      <a:moveTo>
                        <a:pt x="146685" y="24765"/>
                      </a:moveTo>
                      <a:lnTo>
                        <a:pt x="140017" y="31432"/>
                      </a:lnTo>
                    </a:path>
                  </a:pathLst>
                </a:custGeom>
                <a:noFill/>
                <a:ln w="19050">
                  <a:solidFill>
                    <a:srgbClr val="7C3B2F"/>
                  </a:solidFill>
                </a:ln>
              </p:spPr>
            </p:sp>
            <p:sp>
              <p:nvSpPr>
                <p:cNvPr id="21" name="Freeform 21"/>
                <p:cNvSpPr/>
                <p:nvPr/>
              </p:nvSpPr>
              <p:spPr>
                <a:xfrm>
                  <a:off x="1510437" y="1133475"/>
                  <a:ext cx="103327" cy="133350"/>
                </a:xfrm>
                <a:custGeom>
                  <a:avLst/>
                  <a:gdLst/>
                  <a:ahLst/>
                  <a:cxnLst/>
                  <a:rect l="l" t="t" r="r" b="b"/>
                  <a:pathLst>
                    <a:path w="103327" h="133350">
                      <a:moveTo>
                        <a:pt x="23088" y="85725"/>
                      </a:moveTo>
                      <a:cubicBezTo>
                        <a:pt x="6689" y="73425"/>
                        <a:pt x="0" y="52012"/>
                        <a:pt x="6482" y="32565"/>
                      </a:cubicBezTo>
                      <a:cubicBezTo>
                        <a:pt x="12965" y="13117"/>
                        <a:pt x="31164" y="0"/>
                        <a:pt x="51663" y="0"/>
                      </a:cubicBezTo>
                      <a:cubicBezTo>
                        <a:pt x="72163" y="0"/>
                        <a:pt x="90362" y="13117"/>
                        <a:pt x="96845" y="32565"/>
                      </a:cubicBezTo>
                      <a:cubicBezTo>
                        <a:pt x="103327" y="52012"/>
                        <a:pt x="96638" y="73425"/>
                        <a:pt x="80238" y="85725"/>
                      </a:cubicBezTo>
                      <a:cubicBezTo>
                        <a:pt x="72696" y="93191"/>
                        <a:pt x="69159" y="103802"/>
                        <a:pt x="70713" y="114300"/>
                      </a:cubicBezTo>
                      <a:cubicBezTo>
                        <a:pt x="70713" y="124821"/>
                        <a:pt x="62184" y="133350"/>
                        <a:pt x="51663" y="133350"/>
                      </a:cubicBezTo>
                      <a:cubicBezTo>
                        <a:pt x="41142" y="133350"/>
                        <a:pt x="32613" y="124821"/>
                        <a:pt x="32613" y="114300"/>
                      </a:cubicBezTo>
                      <a:cubicBezTo>
                        <a:pt x="34168" y="103802"/>
                        <a:pt x="30631" y="93191"/>
                        <a:pt x="23088" y="85725"/>
                      </a:cubicBezTo>
                    </a:path>
                  </a:pathLst>
                </a:custGeom>
                <a:noFill/>
                <a:ln w="19050">
                  <a:solidFill>
                    <a:srgbClr val="7C3B2F"/>
                  </a:solidFill>
                </a:ln>
              </p:spPr>
            </p:sp>
            <p:sp>
              <p:nvSpPr>
                <p:cNvPr id="22" name="Freeform 22"/>
                <p:cNvSpPr/>
                <p:nvPr/>
              </p:nvSpPr>
              <p:spPr>
                <a:xfrm>
                  <a:off x="1540192" y="1228725"/>
                  <a:ext cx="43815" cy="9525"/>
                </a:xfrm>
                <a:custGeom>
                  <a:avLst/>
                  <a:gdLst/>
                  <a:ahLst/>
                  <a:cxnLst/>
                  <a:rect l="l" t="t" r="r" b="b"/>
                  <a:pathLst>
                    <a:path w="43815" h="9525">
                      <a:moveTo>
                        <a:pt x="0" y="0"/>
                      </a:moveTo>
                      <a:lnTo>
                        <a:pt x="43815" y="0"/>
                      </a:lnTo>
                    </a:path>
                  </a:pathLst>
                </a:custGeom>
                <a:noFill/>
                <a:ln w="19050">
                  <a:solidFill>
                    <a:srgbClr val="7C3B2F"/>
                  </a:solidFill>
                </a:ln>
              </p:spPr>
            </p:sp>
          </p:grpSp>
          <p:sp>
            <p:nvSpPr>
              <p:cNvPr id="24" name="TextBox 24"/>
              <p:cNvSpPr txBox="1"/>
              <p:nvPr/>
            </p:nvSpPr>
            <p:spPr>
              <a:xfrm>
                <a:off x="1138238" y="145518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意图分类</a:t>
                </a:r>
              </a:p>
            </p:txBody>
          </p:sp>
          <p:sp>
            <p:nvSpPr>
              <p:cNvPr id="25" name="TextBox 25"/>
              <p:cNvSpPr txBox="1"/>
              <p:nvPr/>
            </p:nvSpPr>
            <p:spPr>
              <a:xfrm>
                <a:off x="1138238" y="162663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实体识别</a:t>
                </a:r>
              </a:p>
            </p:txBody>
          </p:sp>
          <p:sp>
            <p:nvSpPr>
              <p:cNvPr id="26" name="TextBox 26"/>
              <p:cNvSpPr txBox="1"/>
              <p:nvPr/>
            </p:nvSpPr>
            <p:spPr>
              <a:xfrm>
                <a:off x="1138238" y="179808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查询扩展</a:t>
                </a:r>
              </a:p>
            </p:txBody>
          </p:sp>
          <p:sp>
            <p:nvSpPr>
              <p:cNvPr id="27" name="TextBox 27"/>
              <p:cNvSpPr txBox="1"/>
              <p:nvPr/>
            </p:nvSpPr>
            <p:spPr>
              <a:xfrm>
                <a:off x="1138238" y="196953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多路改写</a:t>
                </a:r>
              </a:p>
            </p:txBody>
          </p:sp>
        </p:grpSp>
        <p:sp>
          <p:nvSpPr>
            <p:cNvPr id="29" name="rf-arr-2"/>
            <p:cNvSpPr/>
            <p:nvPr/>
          </p:nvSpPr>
          <p:spPr>
            <a:xfrm>
              <a:off x="2114550" y="1524000"/>
              <a:ext cx="76200" cy="76200"/>
            </a:xfrm>
            <a:custGeom>
              <a:avLst/>
              <a:gdLst/>
              <a:ahLst/>
              <a:cxnLst/>
              <a:rect l="l" t="t" r="r" b="b"/>
              <a:pathLst>
                <a:path w="76200" h="76200">
                  <a:moveTo>
                    <a:pt x="0" y="0"/>
                  </a:moveTo>
                  <a:lnTo>
                    <a:pt x="76200" y="38100"/>
                  </a:lnTo>
                  <a:lnTo>
                    <a:pt x="0" y="76200"/>
                  </a:lnTo>
                  <a:close/>
                </a:path>
              </a:pathLst>
            </a:custGeom>
            <a:solidFill>
              <a:srgbClr val="9A4B3C"/>
            </a:solidFill>
            <a:ln>
              <a:noFill/>
            </a:ln>
          </p:spPr>
        </p:sp>
        <p:grpSp>
          <p:nvGrpSpPr>
            <p:cNvPr id="41" name="step-permission"/>
            <p:cNvGrpSpPr/>
            <p:nvPr/>
          </p:nvGrpSpPr>
          <p:grpSpPr>
            <a:xfrm>
              <a:off x="2209800" y="666750"/>
              <a:ext cx="990600" cy="1790700"/>
              <a:chOff x="2209800" y="666750"/>
              <a:chExt cx="990600" cy="1790700"/>
            </a:xfrm>
          </p:grpSpPr>
          <p:sp>
            <p:nvSpPr>
              <p:cNvPr id="30" name="Rectangle 30"/>
              <p:cNvSpPr/>
              <p:nvPr/>
            </p:nvSpPr>
            <p:spPr>
              <a:xfrm>
                <a:off x="2209800" y="666750"/>
                <a:ext cx="990600" cy="1790700"/>
              </a:xfrm>
              <a:prstGeom prst="roundRect">
                <a:avLst>
                  <a:gd name="adj" fmla="val 7692"/>
                </a:avLst>
              </a:prstGeom>
              <a:solidFill>
                <a:srgbClr val="F4F8EC"/>
              </a:solidFill>
              <a:ln w="9525">
                <a:solidFill>
                  <a:srgbClr val="D9E8C6"/>
                </a:solidFill>
              </a:ln>
            </p:spPr>
          </p:sp>
          <p:sp>
            <p:nvSpPr>
              <p:cNvPr id="31" name="Rectangle 31"/>
              <p:cNvSpPr/>
              <p:nvPr/>
            </p:nvSpPr>
            <p:spPr>
              <a:xfrm>
                <a:off x="2209800" y="666750"/>
                <a:ext cx="990600" cy="323850"/>
              </a:xfrm>
              <a:prstGeom prst="roundRect">
                <a:avLst>
                  <a:gd name="adj" fmla="val 23529"/>
                </a:avLst>
              </a:prstGeom>
              <a:solidFill>
                <a:srgbClr val="42140B"/>
              </a:solidFill>
              <a:ln>
                <a:noFill/>
              </a:ln>
            </p:spPr>
          </p:sp>
          <p:sp>
            <p:nvSpPr>
              <p:cNvPr id="32" name="Rectangle 32"/>
              <p:cNvSpPr/>
              <p:nvPr/>
            </p:nvSpPr>
            <p:spPr>
              <a:xfrm>
                <a:off x="2209800" y="857250"/>
                <a:ext cx="990600" cy="133350"/>
              </a:xfrm>
              <a:prstGeom prst="rect">
                <a:avLst/>
              </a:prstGeom>
              <a:solidFill>
                <a:srgbClr val="42140B"/>
              </a:solidFill>
              <a:ln>
                <a:noFill/>
              </a:ln>
            </p:spPr>
          </p:sp>
          <p:sp>
            <p:nvSpPr>
              <p:cNvPr id="33" name="TextBox 33"/>
              <p:cNvSpPr txBox="1"/>
              <p:nvPr/>
            </p:nvSpPr>
            <p:spPr>
              <a:xfrm>
                <a:off x="2509177" y="7993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权限过滤</a:t>
                </a:r>
              </a:p>
            </p:txBody>
          </p:sp>
          <p:grpSp>
            <p:nvGrpSpPr>
              <p:cNvPr id="36" name="Group 36"/>
              <p:cNvGrpSpPr/>
              <p:nvPr/>
            </p:nvGrpSpPr>
            <p:grpSpPr>
              <a:xfrm>
                <a:off x="2606521" y="1095375"/>
                <a:ext cx="186006" cy="171450"/>
                <a:chOff x="2606521" y="1095375"/>
                <a:chExt cx="186006" cy="171450"/>
              </a:xfrm>
            </p:grpSpPr>
            <p:sp>
              <p:nvSpPr>
                <p:cNvPr id="34" name="Freeform 34"/>
                <p:cNvSpPr/>
                <p:nvPr/>
              </p:nvSpPr>
              <p:spPr>
                <a:xfrm>
                  <a:off x="2606521" y="10953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7C3B2F"/>
                  </a:solidFill>
                </a:ln>
              </p:spPr>
            </p:sp>
            <p:sp>
              <p:nvSpPr>
                <p:cNvPr id="35" name="Freeform 35"/>
                <p:cNvSpPr/>
                <p:nvPr/>
              </p:nvSpPr>
              <p:spPr>
                <a:xfrm>
                  <a:off x="2733675" y="1228725"/>
                  <a:ext cx="57150" cy="38100"/>
                </a:xfrm>
                <a:custGeom>
                  <a:avLst/>
                  <a:gdLst/>
                  <a:ahLst/>
                  <a:cxnLst/>
                  <a:rect l="l" t="t" r="r" b="b"/>
                  <a:pathLst>
                    <a:path w="57150" h="38100">
                      <a:moveTo>
                        <a:pt x="0" y="19050"/>
                      </a:moveTo>
                      <a:lnTo>
                        <a:pt x="19050" y="38100"/>
                      </a:lnTo>
                      <a:lnTo>
                        <a:pt x="57150" y="0"/>
                      </a:lnTo>
                    </a:path>
                  </a:pathLst>
                </a:custGeom>
                <a:noFill/>
                <a:ln w="19050">
                  <a:solidFill>
                    <a:srgbClr val="7C3B2F"/>
                  </a:solidFill>
                </a:ln>
              </p:spPr>
            </p:sp>
          </p:grpSp>
          <p:sp>
            <p:nvSpPr>
              <p:cNvPr id="37" name="TextBox 37"/>
              <p:cNvSpPr txBox="1"/>
              <p:nvPr/>
            </p:nvSpPr>
            <p:spPr>
              <a:xfrm>
                <a:off x="2300288" y="145518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身份鉴权</a:t>
                </a:r>
              </a:p>
            </p:txBody>
          </p:sp>
          <p:sp>
            <p:nvSpPr>
              <p:cNvPr id="38" name="TextBox 38"/>
              <p:cNvSpPr txBox="1"/>
              <p:nvPr/>
            </p:nvSpPr>
            <p:spPr>
              <a:xfrm>
                <a:off x="2300288" y="162663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数据脱敏</a:t>
                </a:r>
              </a:p>
            </p:txBody>
          </p:sp>
          <p:sp>
            <p:nvSpPr>
              <p:cNvPr id="39" name="TextBox 39"/>
              <p:cNvSpPr txBox="1"/>
              <p:nvPr/>
            </p:nvSpPr>
            <p:spPr>
              <a:xfrm>
                <a:off x="2300288" y="1798082"/>
                <a:ext cx="6500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行级/列级过滤</a:t>
                </a:r>
              </a:p>
            </p:txBody>
          </p:sp>
          <p:sp>
            <p:nvSpPr>
              <p:cNvPr id="40" name="TextBox 40"/>
              <p:cNvSpPr txBox="1"/>
              <p:nvPr/>
            </p:nvSpPr>
            <p:spPr>
              <a:xfrm>
                <a:off x="2300288" y="196953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脱敏策略</a:t>
                </a:r>
              </a:p>
            </p:txBody>
          </p:sp>
        </p:grpSp>
        <p:sp>
          <p:nvSpPr>
            <p:cNvPr id="42" name="rf-arr-3"/>
            <p:cNvSpPr/>
            <p:nvPr/>
          </p:nvSpPr>
          <p:spPr>
            <a:xfrm>
              <a:off x="3219450" y="1524000"/>
              <a:ext cx="76200" cy="76200"/>
            </a:xfrm>
            <a:custGeom>
              <a:avLst/>
              <a:gdLst/>
              <a:ahLst/>
              <a:cxnLst/>
              <a:rect l="l" t="t" r="r" b="b"/>
              <a:pathLst>
                <a:path w="76200" h="76200">
                  <a:moveTo>
                    <a:pt x="0" y="0"/>
                  </a:moveTo>
                  <a:lnTo>
                    <a:pt x="76200" y="38100"/>
                  </a:lnTo>
                  <a:lnTo>
                    <a:pt x="0" y="76200"/>
                  </a:lnTo>
                  <a:close/>
                </a:path>
              </a:pathLst>
            </a:custGeom>
            <a:solidFill>
              <a:srgbClr val="9A4B3C"/>
            </a:solidFill>
            <a:ln>
              <a:noFill/>
            </a:ln>
          </p:spPr>
        </p:sp>
        <p:grpSp>
          <p:nvGrpSpPr>
            <p:cNvPr id="71" name="step-hybrid"/>
            <p:cNvGrpSpPr/>
            <p:nvPr/>
          </p:nvGrpSpPr>
          <p:grpSpPr>
            <a:xfrm>
              <a:off x="3314700" y="666750"/>
              <a:ext cx="2114550" cy="1790700"/>
              <a:chOff x="3314700" y="666750"/>
              <a:chExt cx="2114550" cy="1790700"/>
            </a:xfrm>
          </p:grpSpPr>
          <p:sp>
            <p:nvSpPr>
              <p:cNvPr id="43" name="Rectangle 43"/>
              <p:cNvSpPr/>
              <p:nvPr/>
            </p:nvSpPr>
            <p:spPr>
              <a:xfrm>
                <a:off x="3314700" y="666750"/>
                <a:ext cx="2114550" cy="1790700"/>
              </a:xfrm>
              <a:prstGeom prst="roundRect">
                <a:avLst>
                  <a:gd name="adj" fmla="val 4255"/>
                </a:avLst>
              </a:prstGeom>
              <a:solidFill>
                <a:srgbClr val="FFFFFF"/>
              </a:solidFill>
              <a:ln w="9525">
                <a:solidFill>
                  <a:srgbClr val="D9E8C6"/>
                </a:solidFill>
              </a:ln>
            </p:spPr>
          </p:sp>
          <p:sp>
            <p:nvSpPr>
              <p:cNvPr id="44" name="Rectangle 44"/>
              <p:cNvSpPr/>
              <p:nvPr/>
            </p:nvSpPr>
            <p:spPr>
              <a:xfrm>
                <a:off x="3314700" y="666750"/>
                <a:ext cx="2114550" cy="323850"/>
              </a:xfrm>
              <a:prstGeom prst="roundRect">
                <a:avLst>
                  <a:gd name="adj" fmla="val 23529"/>
                </a:avLst>
              </a:prstGeom>
              <a:solidFill>
                <a:srgbClr val="42140B"/>
              </a:solidFill>
              <a:ln>
                <a:noFill/>
              </a:ln>
            </p:spPr>
          </p:sp>
          <p:sp>
            <p:nvSpPr>
              <p:cNvPr id="45" name="Rectangle 45"/>
              <p:cNvSpPr/>
              <p:nvPr/>
            </p:nvSpPr>
            <p:spPr>
              <a:xfrm>
                <a:off x="3314700" y="857250"/>
                <a:ext cx="2114550" cy="133350"/>
              </a:xfrm>
              <a:prstGeom prst="rect">
                <a:avLst/>
              </a:prstGeom>
              <a:solidFill>
                <a:srgbClr val="42140B"/>
              </a:solidFill>
              <a:ln>
                <a:noFill/>
              </a:ln>
            </p:spPr>
          </p:sp>
          <p:sp>
            <p:nvSpPr>
              <p:cNvPr id="46" name="TextBox 46"/>
              <p:cNvSpPr txBox="1"/>
              <p:nvPr/>
            </p:nvSpPr>
            <p:spPr>
              <a:xfrm>
                <a:off x="3638327" y="799386"/>
                <a:ext cx="146729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 xml:space="preserve">混合检索（Hybrid Retrieval）　</a:t>
                </a:r>
              </a:p>
            </p:txBody>
          </p:sp>
          <p:sp>
            <p:nvSpPr>
              <p:cNvPr id="47" name="Rectangle 47"/>
              <p:cNvSpPr/>
              <p:nvPr/>
            </p:nvSpPr>
            <p:spPr>
              <a:xfrm>
                <a:off x="3390900" y="1066800"/>
                <a:ext cx="628650" cy="666750"/>
              </a:xfrm>
              <a:prstGeom prst="roundRect">
                <a:avLst>
                  <a:gd name="adj" fmla="val 9091"/>
                </a:avLst>
              </a:prstGeom>
              <a:solidFill>
                <a:srgbClr val="F4F8EC"/>
              </a:solidFill>
              <a:ln w="9525">
                <a:solidFill>
                  <a:srgbClr val="D9E8C6"/>
                </a:solidFill>
              </a:ln>
            </p:spPr>
          </p:sp>
          <p:grpSp>
            <p:nvGrpSpPr>
              <p:cNvPr id="50" name="Group 50"/>
              <p:cNvGrpSpPr/>
              <p:nvPr/>
            </p:nvGrpSpPr>
            <p:grpSpPr>
              <a:xfrm>
                <a:off x="3648075" y="1143000"/>
                <a:ext cx="114300" cy="114300"/>
                <a:chOff x="3648075" y="1143000"/>
                <a:chExt cx="114300" cy="114300"/>
              </a:xfrm>
            </p:grpSpPr>
            <p:sp>
              <p:nvSpPr>
                <p:cNvPr id="48" name="Freeform 48"/>
                <p:cNvSpPr/>
                <p:nvPr/>
              </p:nvSpPr>
              <p:spPr>
                <a:xfrm>
                  <a:off x="3648075" y="114300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7C3B2F"/>
                  </a:solidFill>
                </a:ln>
              </p:spPr>
            </p:sp>
            <p:sp>
              <p:nvSpPr>
                <p:cNvPr id="49" name="Freeform 49"/>
                <p:cNvSpPr/>
                <p:nvPr/>
              </p:nvSpPr>
              <p:spPr>
                <a:xfrm>
                  <a:off x="3724275" y="1219200"/>
                  <a:ext cx="38100" cy="38100"/>
                </a:xfrm>
                <a:custGeom>
                  <a:avLst/>
                  <a:gdLst/>
                  <a:ahLst/>
                  <a:cxnLst/>
                  <a:rect l="l" t="t" r="r" b="b"/>
                  <a:pathLst>
                    <a:path w="38100" h="38100">
                      <a:moveTo>
                        <a:pt x="38100" y="38100"/>
                      </a:moveTo>
                      <a:lnTo>
                        <a:pt x="0" y="0"/>
                      </a:lnTo>
                    </a:path>
                  </a:pathLst>
                </a:custGeom>
                <a:noFill/>
                <a:ln w="12700">
                  <a:solidFill>
                    <a:srgbClr val="7C3B2F"/>
                  </a:solidFill>
                </a:ln>
              </p:spPr>
            </p:sp>
          </p:grpSp>
          <p:sp>
            <p:nvSpPr>
              <p:cNvPr id="51" name="TextBox 51"/>
              <p:cNvSpPr txBox="1"/>
              <p:nvPr/>
            </p:nvSpPr>
            <p:spPr>
              <a:xfrm>
                <a:off x="3511994" y="1387078"/>
                <a:ext cx="386461" cy="111919"/>
              </a:xfrm>
              <a:prstGeom prst="rect">
                <a:avLst/>
              </a:prstGeom>
              <a:noFill/>
              <a:ln>
                <a:noFill/>
              </a:ln>
            </p:spPr>
            <p:txBody>
              <a:bodyPr wrap="none" lIns="0" tIns="0" rIns="0" bIns="0" anchor="t" anchorCtr="0">
                <a:spAutoFit/>
              </a:bodyPr>
              <a:lstStyle/>
              <a:p>
                <a:pPr algn="ctr"/>
                <a:r>
                  <a:rPr lang="zh-CN" sz="560" dirty="0">
                    <a:solidFill>
                      <a:srgbClr val="42140B"/>
                    </a:solidFill>
                    <a:latin typeface="+mn-lt"/>
                    <a:ea typeface="+mn-ea"/>
                    <a:cs typeface="+mn-cs"/>
                  </a:rPr>
                  <a:t>关键词检索</a:t>
                </a:r>
              </a:p>
            </p:txBody>
          </p:sp>
          <p:sp>
            <p:nvSpPr>
              <p:cNvPr id="52" name="TextBox 52"/>
              <p:cNvSpPr txBox="1"/>
              <p:nvPr/>
            </p:nvSpPr>
            <p:spPr>
              <a:xfrm>
                <a:off x="3523374" y="1520428"/>
                <a:ext cx="363703"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 xml:space="preserve">(BM25)　</a:t>
                </a:r>
              </a:p>
            </p:txBody>
          </p:sp>
          <p:sp>
            <p:nvSpPr>
              <p:cNvPr id="53" name="Rectangle 53"/>
              <p:cNvSpPr/>
              <p:nvPr/>
            </p:nvSpPr>
            <p:spPr>
              <a:xfrm>
                <a:off x="4057650" y="1066800"/>
                <a:ext cx="628650" cy="666750"/>
              </a:xfrm>
              <a:prstGeom prst="roundRect">
                <a:avLst>
                  <a:gd name="adj" fmla="val 9091"/>
                </a:avLst>
              </a:prstGeom>
              <a:solidFill>
                <a:srgbClr val="F4F8EC"/>
              </a:solidFill>
              <a:ln w="9525">
                <a:solidFill>
                  <a:srgbClr val="D9E8C6"/>
                </a:solidFill>
              </a:ln>
            </p:spPr>
          </p:sp>
          <p:grpSp>
            <p:nvGrpSpPr>
              <p:cNvPr id="56" name="Group 56"/>
              <p:cNvGrpSpPr/>
              <p:nvPr/>
            </p:nvGrpSpPr>
            <p:grpSpPr>
              <a:xfrm>
                <a:off x="4313055" y="1144092"/>
                <a:ext cx="114800" cy="114978"/>
                <a:chOff x="4313055" y="1144092"/>
                <a:chExt cx="114800" cy="114978"/>
              </a:xfrm>
            </p:grpSpPr>
            <p:sp>
              <p:nvSpPr>
                <p:cNvPr id="54" name="Freeform 54"/>
                <p:cNvSpPr/>
                <p:nvPr/>
              </p:nvSpPr>
              <p:spPr>
                <a:xfrm>
                  <a:off x="4313055" y="1144092"/>
                  <a:ext cx="114800" cy="114978"/>
                </a:xfrm>
                <a:custGeom>
                  <a:avLst/>
                  <a:gdLst/>
                  <a:ahLst/>
                  <a:cxnLst/>
                  <a:rect l="l" t="t" r="r" b="b"/>
                  <a:pathLst>
                    <a:path w="114800" h="114978">
                      <a:moveTo>
                        <a:pt x="46220" y="178"/>
                      </a:moveTo>
                      <a:cubicBezTo>
                        <a:pt x="18725" y="6552"/>
                        <a:pt x="0" y="32044"/>
                        <a:pt x="2141" y="60187"/>
                      </a:cubicBezTo>
                      <a:cubicBezTo>
                        <a:pt x="4282" y="88330"/>
                        <a:pt x="26648" y="110696"/>
                        <a:pt x="54791" y="112837"/>
                      </a:cubicBezTo>
                      <a:cubicBezTo>
                        <a:pt x="82934" y="114978"/>
                        <a:pt x="108426" y="96254"/>
                        <a:pt x="114800" y="68758"/>
                      </a:cubicBezTo>
                      <a:cubicBezTo>
                        <a:pt x="114800" y="65251"/>
                        <a:pt x="111957" y="62408"/>
                        <a:pt x="108450" y="62408"/>
                      </a:cubicBezTo>
                      <a:lnTo>
                        <a:pt x="65270" y="62408"/>
                      </a:lnTo>
                      <a:cubicBezTo>
                        <a:pt x="58256" y="62408"/>
                        <a:pt x="52570" y="56722"/>
                        <a:pt x="52570" y="49708"/>
                      </a:cubicBezTo>
                      <a:lnTo>
                        <a:pt x="52570" y="5258"/>
                      </a:lnTo>
                      <a:cubicBezTo>
                        <a:pt x="52411" y="3738"/>
                        <a:pt x="51649" y="2346"/>
                        <a:pt x="50456" y="1391"/>
                      </a:cubicBezTo>
                      <a:cubicBezTo>
                        <a:pt x="49263" y="437"/>
                        <a:pt x="47738" y="0"/>
                        <a:pt x="46220" y="178"/>
                      </a:cubicBezTo>
                    </a:path>
                  </a:pathLst>
                </a:custGeom>
                <a:noFill/>
                <a:ln w="12700">
                  <a:solidFill>
                    <a:srgbClr val="7C3B2F"/>
                  </a:solidFill>
                </a:ln>
              </p:spPr>
            </p:sp>
            <p:sp>
              <p:nvSpPr>
                <p:cNvPr id="55" name="Freeform 55"/>
                <p:cNvSpPr/>
                <p:nvPr/>
              </p:nvSpPr>
              <p:spPr>
                <a:xfrm>
                  <a:off x="4391025" y="1146175"/>
                  <a:ext cx="34925" cy="34925"/>
                </a:xfrm>
                <a:custGeom>
                  <a:avLst/>
                  <a:gdLst/>
                  <a:ahLst/>
                  <a:cxnLst/>
                  <a:rect l="l" t="t" r="r" b="b"/>
                  <a:pathLst>
                    <a:path w="34925" h="34925">
                      <a:moveTo>
                        <a:pt x="0" y="0"/>
                      </a:moveTo>
                      <a:cubicBezTo>
                        <a:pt x="16331" y="5750"/>
                        <a:pt x="29175" y="18594"/>
                        <a:pt x="34925" y="34925"/>
                      </a:cubicBezTo>
                      <a:lnTo>
                        <a:pt x="6350" y="34925"/>
                      </a:lnTo>
                      <a:cubicBezTo>
                        <a:pt x="2843" y="34925"/>
                        <a:pt x="0" y="32082"/>
                        <a:pt x="0" y="28575"/>
                      </a:cubicBezTo>
                      <a:lnTo>
                        <a:pt x="0" y="0"/>
                      </a:lnTo>
                    </a:path>
                  </a:pathLst>
                </a:custGeom>
                <a:noFill/>
                <a:ln w="12700">
                  <a:solidFill>
                    <a:srgbClr val="7C3B2F"/>
                  </a:solidFill>
                </a:ln>
              </p:spPr>
            </p:sp>
          </p:grpSp>
          <p:sp>
            <p:nvSpPr>
              <p:cNvPr id="57" name="TextBox 57"/>
              <p:cNvSpPr txBox="1"/>
              <p:nvPr/>
            </p:nvSpPr>
            <p:spPr>
              <a:xfrm>
                <a:off x="4216438" y="1387078"/>
                <a:ext cx="311074" cy="111919"/>
              </a:xfrm>
              <a:prstGeom prst="rect">
                <a:avLst/>
              </a:prstGeom>
              <a:noFill/>
              <a:ln>
                <a:noFill/>
              </a:ln>
            </p:spPr>
            <p:txBody>
              <a:bodyPr wrap="none" lIns="0" tIns="0" rIns="0" bIns="0" anchor="t" anchorCtr="0">
                <a:spAutoFit/>
              </a:bodyPr>
              <a:lstStyle/>
              <a:p>
                <a:pPr algn="ctr"/>
                <a:r>
                  <a:rPr lang="zh-CN" sz="560" dirty="0">
                    <a:solidFill>
                      <a:srgbClr val="42140B"/>
                    </a:solidFill>
                    <a:latin typeface="+mn-lt"/>
                    <a:ea typeface="+mn-ea"/>
                    <a:cs typeface="+mn-cs"/>
                  </a:rPr>
                  <a:t>向量检索</a:t>
                </a:r>
              </a:p>
            </p:txBody>
          </p:sp>
          <p:sp>
            <p:nvSpPr>
              <p:cNvPr id="58" name="TextBox 58"/>
              <p:cNvSpPr txBox="1"/>
              <p:nvPr/>
            </p:nvSpPr>
            <p:spPr>
              <a:xfrm>
                <a:off x="4101935" y="1520428"/>
                <a:ext cx="540080"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 xml:space="preserve">(Embedding)　</a:t>
                </a:r>
              </a:p>
            </p:txBody>
          </p:sp>
          <p:sp>
            <p:nvSpPr>
              <p:cNvPr id="59" name="Rectangle 59"/>
              <p:cNvSpPr/>
              <p:nvPr/>
            </p:nvSpPr>
            <p:spPr>
              <a:xfrm>
                <a:off x="4724400" y="1066800"/>
                <a:ext cx="628650" cy="666750"/>
              </a:xfrm>
              <a:prstGeom prst="roundRect">
                <a:avLst>
                  <a:gd name="adj" fmla="val 9091"/>
                </a:avLst>
              </a:prstGeom>
              <a:solidFill>
                <a:srgbClr val="F4F8EC"/>
              </a:solidFill>
              <a:ln w="9525">
                <a:solidFill>
                  <a:srgbClr val="D9E8C6"/>
                </a:solidFill>
              </a:ln>
            </p:spPr>
          </p:sp>
          <p:grpSp>
            <p:nvGrpSpPr>
              <p:cNvPr id="65" name="Group 65"/>
              <p:cNvGrpSpPr/>
              <p:nvPr/>
            </p:nvGrpSpPr>
            <p:grpSpPr>
              <a:xfrm>
                <a:off x="4981575" y="1143000"/>
                <a:ext cx="114300" cy="114300"/>
                <a:chOff x="4981575" y="1143000"/>
                <a:chExt cx="114300" cy="114300"/>
              </a:xfrm>
            </p:grpSpPr>
            <p:sp>
              <p:nvSpPr>
                <p:cNvPr id="60" name="Freeform 60"/>
                <p:cNvSpPr/>
                <p:nvPr/>
              </p:nvSpPr>
              <p:spPr>
                <a:xfrm>
                  <a:off x="5026025" y="11430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sp>
              <p:nvSpPr>
                <p:cNvPr id="61" name="Freeform 61"/>
                <p:cNvSpPr/>
                <p:nvPr/>
              </p:nvSpPr>
              <p:spPr>
                <a:xfrm>
                  <a:off x="4981575" y="12319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sp>
              <p:nvSpPr>
                <p:cNvPr id="62" name="Freeform 62"/>
                <p:cNvSpPr/>
                <p:nvPr/>
              </p:nvSpPr>
              <p:spPr>
                <a:xfrm>
                  <a:off x="5070475" y="12319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sp>
              <p:nvSpPr>
                <p:cNvPr id="63" name="Freeform 63"/>
                <p:cNvSpPr/>
                <p:nvPr/>
              </p:nvSpPr>
              <p:spPr>
                <a:xfrm>
                  <a:off x="5003800" y="1206500"/>
                  <a:ext cx="69850" cy="28575"/>
                </a:xfrm>
                <a:custGeom>
                  <a:avLst/>
                  <a:gdLst/>
                  <a:ahLst/>
                  <a:cxnLst/>
                  <a:rect l="l" t="t" r="r" b="b"/>
                  <a:pathLst>
                    <a:path w="69850" h="28575">
                      <a:moveTo>
                        <a:pt x="0" y="28575"/>
                      </a:moveTo>
                      <a:lnTo>
                        <a:pt x="34925" y="0"/>
                      </a:lnTo>
                      <a:lnTo>
                        <a:pt x="69850" y="28575"/>
                      </a:lnTo>
                    </a:path>
                  </a:pathLst>
                </a:custGeom>
                <a:noFill/>
                <a:ln w="12700">
                  <a:solidFill>
                    <a:srgbClr val="7C3B2F"/>
                  </a:solidFill>
                </a:ln>
              </p:spPr>
            </p:sp>
            <p:sp>
              <p:nvSpPr>
                <p:cNvPr id="64" name="Freeform 64"/>
                <p:cNvSpPr/>
                <p:nvPr/>
              </p:nvSpPr>
              <p:spPr>
                <a:xfrm>
                  <a:off x="5038725" y="1168400"/>
                  <a:ext cx="9525" cy="38100"/>
                </a:xfrm>
                <a:custGeom>
                  <a:avLst/>
                  <a:gdLst/>
                  <a:ahLst/>
                  <a:cxnLst/>
                  <a:rect l="l" t="t" r="r" b="b"/>
                  <a:pathLst>
                    <a:path w="9525" h="38100">
                      <a:moveTo>
                        <a:pt x="0" y="0"/>
                      </a:moveTo>
                      <a:lnTo>
                        <a:pt x="0" y="38100"/>
                      </a:lnTo>
                    </a:path>
                  </a:pathLst>
                </a:custGeom>
                <a:noFill/>
                <a:ln w="12700">
                  <a:solidFill>
                    <a:srgbClr val="7C3B2F"/>
                  </a:solidFill>
                </a:ln>
              </p:spPr>
            </p:sp>
          </p:grpSp>
          <p:sp>
            <p:nvSpPr>
              <p:cNvPr id="66" name="TextBox 66"/>
              <p:cNvSpPr txBox="1"/>
              <p:nvPr/>
            </p:nvSpPr>
            <p:spPr>
              <a:xfrm>
                <a:off x="4883188" y="1387078"/>
                <a:ext cx="311074" cy="111919"/>
              </a:xfrm>
              <a:prstGeom prst="rect">
                <a:avLst/>
              </a:prstGeom>
              <a:noFill/>
              <a:ln>
                <a:noFill/>
              </a:ln>
            </p:spPr>
            <p:txBody>
              <a:bodyPr wrap="none" lIns="0" tIns="0" rIns="0" bIns="0" anchor="t" anchorCtr="0">
                <a:spAutoFit/>
              </a:bodyPr>
              <a:lstStyle/>
              <a:p>
                <a:pPr algn="ctr"/>
                <a:r>
                  <a:rPr lang="zh-CN" sz="560" dirty="0">
                    <a:solidFill>
                      <a:srgbClr val="42140B"/>
                    </a:solidFill>
                    <a:latin typeface="+mn-lt"/>
                    <a:ea typeface="+mn-ea"/>
                    <a:cs typeface="+mn-cs"/>
                  </a:rPr>
                  <a:t>图谱检索</a:t>
                </a:r>
              </a:p>
            </p:txBody>
          </p:sp>
          <p:sp>
            <p:nvSpPr>
              <p:cNvPr id="67" name="TextBox 67"/>
              <p:cNvSpPr txBox="1"/>
              <p:nvPr/>
            </p:nvSpPr>
            <p:spPr>
              <a:xfrm>
                <a:off x="4849506" y="1520428"/>
                <a:ext cx="378439"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 xml:space="preserve">(Graph)　</a:t>
                </a:r>
              </a:p>
            </p:txBody>
          </p:sp>
          <p:sp>
            <p:nvSpPr>
              <p:cNvPr id="68" name="Polygon 68"/>
              <p:cNvSpPr/>
              <p:nvPr/>
            </p:nvSpPr>
            <p:spPr>
              <a:xfrm>
                <a:off x="4314825" y="1771650"/>
                <a:ext cx="114300" cy="95250"/>
              </a:xfrm>
              <a:custGeom>
                <a:avLst/>
                <a:gdLst/>
                <a:ahLst/>
                <a:cxnLst/>
                <a:rect l="l" t="t" r="r" b="b"/>
                <a:pathLst>
                  <a:path w="114300" h="95250">
                    <a:moveTo>
                      <a:pt x="0" y="0"/>
                    </a:moveTo>
                    <a:lnTo>
                      <a:pt x="114300" y="0"/>
                    </a:lnTo>
                    <a:lnTo>
                      <a:pt x="57150" y="95250"/>
                    </a:lnTo>
                    <a:close/>
                  </a:path>
                </a:pathLst>
              </a:custGeom>
              <a:solidFill>
                <a:srgbClr val="9A4B3C"/>
              </a:solidFill>
              <a:ln>
                <a:noFill/>
              </a:ln>
            </p:spPr>
          </p:sp>
          <p:sp>
            <p:nvSpPr>
              <p:cNvPr id="69" name="Rectangle 69"/>
              <p:cNvSpPr/>
              <p:nvPr/>
            </p:nvSpPr>
            <p:spPr>
              <a:xfrm>
                <a:off x="3390900" y="1924050"/>
                <a:ext cx="1962150" cy="247650"/>
              </a:xfrm>
              <a:prstGeom prst="roundRect">
                <a:avLst>
                  <a:gd name="adj" fmla="val 23077"/>
                </a:avLst>
              </a:prstGeom>
              <a:solidFill>
                <a:srgbClr val="E4B7AF"/>
              </a:solidFill>
              <a:ln>
                <a:noFill/>
              </a:ln>
            </p:spPr>
          </p:sp>
          <p:sp>
            <p:nvSpPr>
              <p:cNvPr id="70" name="TextBox 70"/>
              <p:cNvSpPr txBox="1"/>
              <p:nvPr/>
            </p:nvSpPr>
            <p:spPr>
              <a:xfrm>
                <a:off x="3909504" y="2013109"/>
                <a:ext cx="92494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候选集合（去重合并）</a:t>
                </a:r>
              </a:p>
            </p:txBody>
          </p:sp>
        </p:grpSp>
        <p:sp>
          <p:nvSpPr>
            <p:cNvPr id="72" name="rf-arr-4"/>
            <p:cNvSpPr/>
            <p:nvPr/>
          </p:nvSpPr>
          <p:spPr>
            <a:xfrm>
              <a:off x="5448300" y="1524000"/>
              <a:ext cx="76200" cy="76200"/>
            </a:xfrm>
            <a:custGeom>
              <a:avLst/>
              <a:gdLst/>
              <a:ahLst/>
              <a:cxnLst/>
              <a:rect l="l" t="t" r="r" b="b"/>
              <a:pathLst>
                <a:path w="76200" h="76200">
                  <a:moveTo>
                    <a:pt x="0" y="0"/>
                  </a:moveTo>
                  <a:lnTo>
                    <a:pt x="76200" y="38100"/>
                  </a:lnTo>
                  <a:lnTo>
                    <a:pt x="0" y="76200"/>
                  </a:lnTo>
                  <a:close/>
                </a:path>
              </a:pathLst>
            </a:custGeom>
            <a:solidFill>
              <a:srgbClr val="9A4B3C"/>
            </a:solidFill>
            <a:ln>
              <a:noFill/>
            </a:ln>
          </p:spPr>
        </p:sp>
        <p:grpSp>
          <p:nvGrpSpPr>
            <p:cNvPr id="83" name="step-rerank"/>
            <p:cNvGrpSpPr/>
            <p:nvPr/>
          </p:nvGrpSpPr>
          <p:grpSpPr>
            <a:xfrm>
              <a:off x="5543550" y="666750"/>
              <a:ext cx="914400" cy="1790700"/>
              <a:chOff x="5543550" y="666750"/>
              <a:chExt cx="914400" cy="1790700"/>
            </a:xfrm>
          </p:grpSpPr>
          <p:sp>
            <p:nvSpPr>
              <p:cNvPr id="73" name="Rectangle 73"/>
              <p:cNvSpPr/>
              <p:nvPr/>
            </p:nvSpPr>
            <p:spPr>
              <a:xfrm>
                <a:off x="5543550" y="666750"/>
                <a:ext cx="914400" cy="1790700"/>
              </a:xfrm>
              <a:prstGeom prst="roundRect">
                <a:avLst>
                  <a:gd name="adj" fmla="val 8333"/>
                </a:avLst>
              </a:prstGeom>
              <a:solidFill>
                <a:srgbClr val="F4F8EC"/>
              </a:solidFill>
              <a:ln w="9525">
                <a:solidFill>
                  <a:srgbClr val="D9E8C6"/>
                </a:solidFill>
              </a:ln>
            </p:spPr>
          </p:sp>
          <p:sp>
            <p:nvSpPr>
              <p:cNvPr id="74" name="Rectangle 74"/>
              <p:cNvSpPr/>
              <p:nvPr/>
            </p:nvSpPr>
            <p:spPr>
              <a:xfrm>
                <a:off x="5543550" y="666750"/>
                <a:ext cx="914400" cy="323850"/>
              </a:xfrm>
              <a:prstGeom prst="roundRect">
                <a:avLst>
                  <a:gd name="adj" fmla="val 23529"/>
                </a:avLst>
              </a:prstGeom>
              <a:solidFill>
                <a:srgbClr val="42140B"/>
              </a:solidFill>
              <a:ln>
                <a:noFill/>
              </a:ln>
            </p:spPr>
          </p:sp>
          <p:sp>
            <p:nvSpPr>
              <p:cNvPr id="75" name="Rectangle 75"/>
              <p:cNvSpPr/>
              <p:nvPr/>
            </p:nvSpPr>
            <p:spPr>
              <a:xfrm>
                <a:off x="5543550" y="857250"/>
                <a:ext cx="914400" cy="133350"/>
              </a:xfrm>
              <a:prstGeom prst="rect">
                <a:avLst/>
              </a:prstGeom>
              <a:solidFill>
                <a:srgbClr val="42140B"/>
              </a:solidFill>
              <a:ln>
                <a:noFill/>
              </a:ln>
            </p:spPr>
          </p:sp>
          <p:sp>
            <p:nvSpPr>
              <p:cNvPr id="76" name="TextBox 76"/>
              <p:cNvSpPr txBox="1"/>
              <p:nvPr/>
            </p:nvSpPr>
            <p:spPr>
              <a:xfrm>
                <a:off x="5852617" y="73271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重排序</a:t>
                </a:r>
              </a:p>
            </p:txBody>
          </p:sp>
          <p:sp>
            <p:nvSpPr>
              <p:cNvPr id="77" name="TextBox 77"/>
              <p:cNvSpPr txBox="1"/>
              <p:nvPr/>
            </p:nvSpPr>
            <p:spPr>
              <a:xfrm>
                <a:off x="5738296" y="872728"/>
                <a:ext cx="524908" cy="111919"/>
              </a:xfrm>
              <a:prstGeom prst="rect">
                <a:avLst/>
              </a:prstGeom>
              <a:noFill/>
              <a:ln>
                <a:noFill/>
              </a:ln>
            </p:spPr>
            <p:txBody>
              <a:bodyPr wrap="none" lIns="0" tIns="0" rIns="0" bIns="0" anchor="t" anchorCtr="0">
                <a:spAutoFit/>
              </a:bodyPr>
              <a:lstStyle/>
              <a:p>
                <a:pPr algn="ctr"/>
                <a:r>
                  <a:rPr lang="zh-CN" sz="560" dirty="0">
                    <a:solidFill>
                      <a:srgbClr val="E4B7AF"/>
                    </a:solidFill>
                    <a:latin typeface="+mn-lt"/>
                    <a:ea typeface="+mn-ea"/>
                    <a:cs typeface="+mn-cs"/>
                  </a:rPr>
                  <a:t xml:space="preserve">(Reranking)　</a:t>
                </a:r>
              </a:p>
            </p:txBody>
          </p:sp>
          <p:sp>
            <p:nvSpPr>
              <p:cNvPr id="78" name="Freeform 78"/>
              <p:cNvSpPr/>
              <p:nvPr/>
            </p:nvSpPr>
            <p:spPr>
              <a:xfrm>
                <a:off x="5924550" y="1104900"/>
                <a:ext cx="152400" cy="161925"/>
              </a:xfrm>
              <a:custGeom>
                <a:avLst/>
                <a:gdLst/>
                <a:ahLst/>
                <a:cxnLst/>
                <a:rect l="l" t="t" r="r" b="b"/>
                <a:pathLst>
                  <a:path w="152400" h="161925">
                    <a:moveTo>
                      <a:pt x="0" y="0"/>
                    </a:moveTo>
                    <a:lnTo>
                      <a:pt x="152400" y="0"/>
                    </a:lnTo>
                    <a:lnTo>
                      <a:pt x="152400" y="20688"/>
                    </a:lnTo>
                    <a:cubicBezTo>
                      <a:pt x="152399" y="25740"/>
                      <a:pt x="150391" y="30585"/>
                      <a:pt x="146818" y="34157"/>
                    </a:cubicBezTo>
                    <a:lnTo>
                      <a:pt x="104775" y="76200"/>
                    </a:lnTo>
                    <a:lnTo>
                      <a:pt x="104775" y="142875"/>
                    </a:lnTo>
                    <a:lnTo>
                      <a:pt x="47625" y="161925"/>
                    </a:lnTo>
                    <a:lnTo>
                      <a:pt x="47625" y="80962"/>
                    </a:lnTo>
                    <a:lnTo>
                      <a:pt x="4953" y="34023"/>
                    </a:lnTo>
                    <a:cubicBezTo>
                      <a:pt x="1766" y="30517"/>
                      <a:pt x="1" y="25950"/>
                      <a:pt x="0" y="21212"/>
                    </a:cubicBezTo>
                    <a:lnTo>
                      <a:pt x="0" y="0"/>
                    </a:lnTo>
                  </a:path>
                </a:pathLst>
              </a:custGeom>
              <a:noFill/>
              <a:ln w="19050">
                <a:solidFill>
                  <a:srgbClr val="7C3B2F"/>
                </a:solidFill>
              </a:ln>
            </p:spPr>
          </p:sp>
          <p:sp>
            <p:nvSpPr>
              <p:cNvPr id="79" name="TextBox 79"/>
              <p:cNvSpPr txBox="1"/>
              <p:nvPr/>
            </p:nvSpPr>
            <p:spPr>
              <a:xfrm>
                <a:off x="5634038" y="1455182"/>
                <a:ext cx="344195"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相关性</a:t>
                </a:r>
              </a:p>
            </p:txBody>
          </p:sp>
          <p:sp>
            <p:nvSpPr>
              <p:cNvPr id="80" name="TextBox 80"/>
              <p:cNvSpPr txBox="1"/>
              <p:nvPr/>
            </p:nvSpPr>
            <p:spPr>
              <a:xfrm>
                <a:off x="5634038" y="1626632"/>
                <a:ext cx="344195"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权威性</a:t>
                </a:r>
              </a:p>
            </p:txBody>
          </p:sp>
          <p:sp>
            <p:nvSpPr>
              <p:cNvPr id="81" name="TextBox 81"/>
              <p:cNvSpPr txBox="1"/>
              <p:nvPr/>
            </p:nvSpPr>
            <p:spPr>
              <a:xfrm>
                <a:off x="5634038" y="1798082"/>
                <a:ext cx="344195"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新鲜度</a:t>
                </a:r>
              </a:p>
            </p:txBody>
          </p:sp>
          <p:sp>
            <p:nvSpPr>
              <p:cNvPr id="82" name="TextBox 82"/>
              <p:cNvSpPr txBox="1"/>
              <p:nvPr/>
            </p:nvSpPr>
            <p:spPr>
              <a:xfrm>
                <a:off x="5634038" y="1969532"/>
                <a:ext cx="344195"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多样性</a:t>
                </a:r>
              </a:p>
            </p:txBody>
          </p:sp>
        </p:grpSp>
        <p:sp>
          <p:nvSpPr>
            <p:cNvPr id="84" name="rf-arr-5"/>
            <p:cNvSpPr/>
            <p:nvPr/>
          </p:nvSpPr>
          <p:spPr>
            <a:xfrm>
              <a:off x="6477000" y="1524000"/>
              <a:ext cx="76200" cy="76200"/>
            </a:xfrm>
            <a:custGeom>
              <a:avLst/>
              <a:gdLst/>
              <a:ahLst/>
              <a:cxnLst/>
              <a:rect l="l" t="t" r="r" b="b"/>
              <a:pathLst>
                <a:path w="76200" h="76200">
                  <a:moveTo>
                    <a:pt x="0" y="0"/>
                  </a:moveTo>
                  <a:lnTo>
                    <a:pt x="76200" y="38100"/>
                  </a:lnTo>
                  <a:lnTo>
                    <a:pt x="0" y="76200"/>
                  </a:lnTo>
                  <a:close/>
                </a:path>
              </a:pathLst>
            </a:custGeom>
            <a:solidFill>
              <a:srgbClr val="9A4B3C"/>
            </a:solidFill>
            <a:ln>
              <a:noFill/>
            </a:ln>
          </p:spPr>
        </p:sp>
        <p:grpSp>
          <p:nvGrpSpPr>
            <p:cNvPr id="95" name="step-context"/>
            <p:cNvGrpSpPr/>
            <p:nvPr/>
          </p:nvGrpSpPr>
          <p:grpSpPr>
            <a:xfrm>
              <a:off x="6572250" y="666750"/>
              <a:ext cx="1047750" cy="1790700"/>
              <a:chOff x="6572250" y="666750"/>
              <a:chExt cx="1047750" cy="1790700"/>
            </a:xfrm>
          </p:grpSpPr>
          <p:sp>
            <p:nvSpPr>
              <p:cNvPr id="85" name="Rectangle 85"/>
              <p:cNvSpPr/>
              <p:nvPr/>
            </p:nvSpPr>
            <p:spPr>
              <a:xfrm>
                <a:off x="6572250" y="666750"/>
                <a:ext cx="1047750" cy="1790700"/>
              </a:xfrm>
              <a:prstGeom prst="roundRect">
                <a:avLst>
                  <a:gd name="adj" fmla="val 7273"/>
                </a:avLst>
              </a:prstGeom>
              <a:solidFill>
                <a:srgbClr val="FFFFFF"/>
              </a:solidFill>
              <a:ln w="9525">
                <a:solidFill>
                  <a:srgbClr val="D9E8C6"/>
                </a:solidFill>
              </a:ln>
            </p:spPr>
          </p:sp>
          <p:sp>
            <p:nvSpPr>
              <p:cNvPr id="86" name="Rectangle 86"/>
              <p:cNvSpPr/>
              <p:nvPr/>
            </p:nvSpPr>
            <p:spPr>
              <a:xfrm>
                <a:off x="6572250" y="666750"/>
                <a:ext cx="1047750" cy="323850"/>
              </a:xfrm>
              <a:prstGeom prst="roundRect">
                <a:avLst>
                  <a:gd name="adj" fmla="val 23529"/>
                </a:avLst>
              </a:prstGeom>
              <a:solidFill>
                <a:srgbClr val="42140B"/>
              </a:solidFill>
              <a:ln>
                <a:noFill/>
              </a:ln>
            </p:spPr>
          </p:sp>
          <p:sp>
            <p:nvSpPr>
              <p:cNvPr id="87" name="Rectangle 87"/>
              <p:cNvSpPr/>
              <p:nvPr/>
            </p:nvSpPr>
            <p:spPr>
              <a:xfrm>
                <a:off x="6572250" y="857250"/>
                <a:ext cx="1047750" cy="133350"/>
              </a:xfrm>
              <a:prstGeom prst="rect">
                <a:avLst/>
              </a:prstGeom>
              <a:solidFill>
                <a:srgbClr val="42140B"/>
              </a:solidFill>
              <a:ln>
                <a:noFill/>
              </a:ln>
            </p:spPr>
          </p:sp>
          <p:sp>
            <p:nvSpPr>
              <p:cNvPr id="88" name="TextBox 88"/>
              <p:cNvSpPr txBox="1"/>
              <p:nvPr/>
            </p:nvSpPr>
            <p:spPr>
              <a:xfrm>
                <a:off x="6852412" y="732711"/>
                <a:ext cx="48742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上下文组装</a:t>
                </a:r>
              </a:p>
            </p:txBody>
          </p:sp>
          <p:sp>
            <p:nvSpPr>
              <p:cNvPr id="89" name="TextBox 89"/>
              <p:cNvSpPr txBox="1"/>
              <p:nvPr/>
            </p:nvSpPr>
            <p:spPr>
              <a:xfrm>
                <a:off x="6689079" y="872728"/>
                <a:ext cx="814091" cy="111919"/>
              </a:xfrm>
              <a:prstGeom prst="rect">
                <a:avLst/>
              </a:prstGeom>
              <a:noFill/>
              <a:ln>
                <a:noFill/>
              </a:ln>
            </p:spPr>
            <p:txBody>
              <a:bodyPr wrap="none" lIns="0" tIns="0" rIns="0" bIns="0" anchor="t" anchorCtr="0">
                <a:spAutoFit/>
              </a:bodyPr>
              <a:lstStyle/>
              <a:p>
                <a:pPr algn="ctr"/>
                <a:r>
                  <a:rPr lang="zh-CN" sz="560" dirty="0">
                    <a:solidFill>
                      <a:srgbClr val="E4B7AF"/>
                    </a:solidFill>
                    <a:latin typeface="+mn-lt"/>
                    <a:ea typeface="+mn-ea"/>
                    <a:cs typeface="+mn-cs"/>
                  </a:rPr>
                  <a:t xml:space="preserve">(Context Assembly)　</a:t>
                </a:r>
              </a:p>
            </p:txBody>
          </p:sp>
          <p:sp>
            <p:nvSpPr>
              <p:cNvPr id="90" name="Freeform 90"/>
              <p:cNvSpPr/>
              <p:nvPr/>
            </p:nvSpPr>
            <p:spPr>
              <a:xfrm>
                <a:off x="7010400" y="1095375"/>
                <a:ext cx="171450" cy="171450"/>
              </a:xfrm>
              <a:custGeom>
                <a:avLst/>
                <a:gdLst/>
                <a:ahLst/>
                <a:cxnLst/>
                <a:rect l="l" t="t" r="r" b="b"/>
                <a:pathLst>
                  <a:path w="171450" h="171450">
                    <a:moveTo>
                      <a:pt x="9525" y="38100"/>
                    </a:moveTo>
                    <a:lnTo>
                      <a:pt x="38100" y="38100"/>
                    </a:lnTo>
                    <a:cubicBezTo>
                      <a:pt x="43361" y="38100"/>
                      <a:pt x="47625" y="33836"/>
                      <a:pt x="47625" y="28575"/>
                    </a:cubicBezTo>
                    <a:lnTo>
                      <a:pt x="47625" y="19050"/>
                    </a:lnTo>
                    <a:cubicBezTo>
                      <a:pt x="47625" y="8529"/>
                      <a:pt x="56154" y="0"/>
                      <a:pt x="66675" y="0"/>
                    </a:cubicBezTo>
                    <a:cubicBezTo>
                      <a:pt x="77196" y="0"/>
                      <a:pt x="85725" y="8529"/>
                      <a:pt x="85725" y="19050"/>
                    </a:cubicBezTo>
                    <a:lnTo>
                      <a:pt x="85725" y="28575"/>
                    </a:lnTo>
                    <a:cubicBezTo>
                      <a:pt x="85725" y="33836"/>
                      <a:pt x="89989" y="38100"/>
                      <a:pt x="95250" y="38100"/>
                    </a:cubicBezTo>
                    <a:lnTo>
                      <a:pt x="123825" y="38100"/>
                    </a:lnTo>
                    <a:cubicBezTo>
                      <a:pt x="129086" y="38100"/>
                      <a:pt x="133350" y="42364"/>
                      <a:pt x="133350" y="47625"/>
                    </a:cubicBezTo>
                    <a:lnTo>
                      <a:pt x="133350" y="76200"/>
                    </a:lnTo>
                    <a:cubicBezTo>
                      <a:pt x="133350" y="81461"/>
                      <a:pt x="137614" y="85725"/>
                      <a:pt x="142875" y="85725"/>
                    </a:cubicBezTo>
                    <a:lnTo>
                      <a:pt x="152400" y="85725"/>
                    </a:lnTo>
                    <a:cubicBezTo>
                      <a:pt x="162921" y="85725"/>
                      <a:pt x="171450" y="94254"/>
                      <a:pt x="171450" y="104775"/>
                    </a:cubicBezTo>
                    <a:cubicBezTo>
                      <a:pt x="171450" y="115296"/>
                      <a:pt x="162921" y="123825"/>
                      <a:pt x="152400" y="123825"/>
                    </a:cubicBezTo>
                    <a:lnTo>
                      <a:pt x="142875" y="123825"/>
                    </a:lnTo>
                    <a:cubicBezTo>
                      <a:pt x="137614" y="123825"/>
                      <a:pt x="133350" y="128089"/>
                      <a:pt x="133350" y="133350"/>
                    </a:cubicBezTo>
                    <a:lnTo>
                      <a:pt x="133350" y="161925"/>
                    </a:lnTo>
                    <a:cubicBezTo>
                      <a:pt x="133350" y="167186"/>
                      <a:pt x="129086" y="171450"/>
                      <a:pt x="123825" y="171450"/>
                    </a:cubicBezTo>
                    <a:lnTo>
                      <a:pt x="95250" y="171450"/>
                    </a:lnTo>
                    <a:cubicBezTo>
                      <a:pt x="89989" y="171450"/>
                      <a:pt x="85725" y="167186"/>
                      <a:pt x="85725" y="161925"/>
                    </a:cubicBezTo>
                    <a:lnTo>
                      <a:pt x="85725" y="152400"/>
                    </a:lnTo>
                    <a:cubicBezTo>
                      <a:pt x="85725" y="141879"/>
                      <a:pt x="77196" y="133350"/>
                      <a:pt x="66675" y="133350"/>
                    </a:cubicBezTo>
                    <a:cubicBezTo>
                      <a:pt x="56154" y="133350"/>
                      <a:pt x="47625" y="141879"/>
                      <a:pt x="47625" y="152400"/>
                    </a:cubicBezTo>
                    <a:lnTo>
                      <a:pt x="47625" y="161925"/>
                    </a:lnTo>
                    <a:cubicBezTo>
                      <a:pt x="47625" y="167186"/>
                      <a:pt x="43361" y="171450"/>
                      <a:pt x="38100" y="171450"/>
                    </a:cubicBezTo>
                    <a:lnTo>
                      <a:pt x="9525" y="171450"/>
                    </a:lnTo>
                    <a:cubicBezTo>
                      <a:pt x="4264" y="171450"/>
                      <a:pt x="0" y="167186"/>
                      <a:pt x="0" y="161925"/>
                    </a:cubicBezTo>
                    <a:lnTo>
                      <a:pt x="0" y="133350"/>
                    </a:lnTo>
                    <a:cubicBezTo>
                      <a:pt x="0" y="128089"/>
                      <a:pt x="4264" y="123825"/>
                      <a:pt x="9525" y="123825"/>
                    </a:cubicBezTo>
                    <a:lnTo>
                      <a:pt x="19050" y="123825"/>
                    </a:lnTo>
                    <a:cubicBezTo>
                      <a:pt x="29571" y="123825"/>
                      <a:pt x="38100" y="115296"/>
                      <a:pt x="38100" y="104775"/>
                    </a:cubicBezTo>
                    <a:cubicBezTo>
                      <a:pt x="38100" y="94254"/>
                      <a:pt x="29571" y="85725"/>
                      <a:pt x="19050" y="85725"/>
                    </a:cubicBezTo>
                    <a:lnTo>
                      <a:pt x="9525" y="85725"/>
                    </a:lnTo>
                    <a:cubicBezTo>
                      <a:pt x="4264" y="85725"/>
                      <a:pt x="0" y="81461"/>
                      <a:pt x="0" y="76200"/>
                    </a:cubicBezTo>
                    <a:lnTo>
                      <a:pt x="0" y="47625"/>
                    </a:lnTo>
                    <a:cubicBezTo>
                      <a:pt x="0" y="42364"/>
                      <a:pt x="4264" y="38100"/>
                      <a:pt x="9525" y="38100"/>
                    </a:cubicBezTo>
                  </a:path>
                </a:pathLst>
              </a:custGeom>
              <a:noFill/>
              <a:ln w="19050">
                <a:solidFill>
                  <a:srgbClr val="7C3B2F"/>
                </a:solidFill>
              </a:ln>
            </p:spPr>
          </p:sp>
          <p:sp>
            <p:nvSpPr>
              <p:cNvPr id="91" name="TextBox 91"/>
              <p:cNvSpPr txBox="1"/>
              <p:nvPr/>
            </p:nvSpPr>
            <p:spPr>
              <a:xfrm>
                <a:off x="6662738" y="145518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去重压缩</a:t>
                </a:r>
              </a:p>
            </p:txBody>
          </p:sp>
          <p:sp>
            <p:nvSpPr>
              <p:cNvPr id="92" name="TextBox 92"/>
              <p:cNvSpPr txBox="1"/>
              <p:nvPr/>
            </p:nvSpPr>
            <p:spPr>
              <a:xfrm>
                <a:off x="6662738" y="1626632"/>
                <a:ext cx="51650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结构化拼接</a:t>
                </a:r>
              </a:p>
            </p:txBody>
          </p:sp>
          <p:sp>
            <p:nvSpPr>
              <p:cNvPr id="93" name="TextBox 93"/>
              <p:cNvSpPr txBox="1"/>
              <p:nvPr/>
            </p:nvSpPr>
            <p:spPr>
              <a:xfrm>
                <a:off x="6662738" y="1798082"/>
                <a:ext cx="51650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引用元数据</a:t>
                </a:r>
              </a:p>
            </p:txBody>
          </p:sp>
          <p:sp>
            <p:nvSpPr>
              <p:cNvPr id="94" name="TextBox 94"/>
              <p:cNvSpPr txBox="1"/>
              <p:nvPr/>
            </p:nvSpPr>
            <p:spPr>
              <a:xfrm>
                <a:off x="6662738" y="1969532"/>
                <a:ext cx="78226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 xml:space="preserve">Token 预算控制　</a:t>
                </a:r>
              </a:p>
            </p:txBody>
          </p:sp>
        </p:grpSp>
        <p:sp>
          <p:nvSpPr>
            <p:cNvPr id="96" name="rf-arr-6"/>
            <p:cNvSpPr/>
            <p:nvPr/>
          </p:nvSpPr>
          <p:spPr>
            <a:xfrm>
              <a:off x="7639050" y="1524000"/>
              <a:ext cx="76200" cy="76200"/>
            </a:xfrm>
            <a:custGeom>
              <a:avLst/>
              <a:gdLst/>
              <a:ahLst/>
              <a:cxnLst/>
              <a:rect l="l" t="t" r="r" b="b"/>
              <a:pathLst>
                <a:path w="76200" h="76200">
                  <a:moveTo>
                    <a:pt x="0" y="0"/>
                  </a:moveTo>
                  <a:lnTo>
                    <a:pt x="76200" y="38100"/>
                  </a:lnTo>
                  <a:lnTo>
                    <a:pt x="0" y="76200"/>
                  </a:lnTo>
                  <a:close/>
                </a:path>
              </a:pathLst>
            </a:custGeom>
            <a:solidFill>
              <a:srgbClr val="9A4B3C"/>
            </a:solidFill>
            <a:ln>
              <a:noFill/>
            </a:ln>
          </p:spPr>
        </p:sp>
        <p:grpSp>
          <p:nvGrpSpPr>
            <p:cNvPr id="109" name="step-gateway"/>
            <p:cNvGrpSpPr/>
            <p:nvPr/>
          </p:nvGrpSpPr>
          <p:grpSpPr>
            <a:xfrm>
              <a:off x="7734300" y="666750"/>
              <a:ext cx="990600" cy="1790700"/>
              <a:chOff x="7734300" y="666750"/>
              <a:chExt cx="990600" cy="1790700"/>
            </a:xfrm>
          </p:grpSpPr>
          <p:sp>
            <p:nvSpPr>
              <p:cNvPr id="97" name="Rectangle 97"/>
              <p:cNvSpPr/>
              <p:nvPr/>
            </p:nvSpPr>
            <p:spPr>
              <a:xfrm>
                <a:off x="7734300" y="666750"/>
                <a:ext cx="990600" cy="1790700"/>
              </a:xfrm>
              <a:prstGeom prst="roundRect">
                <a:avLst>
                  <a:gd name="adj" fmla="val 7692"/>
                </a:avLst>
              </a:prstGeom>
              <a:solidFill>
                <a:srgbClr val="F4F8EC"/>
              </a:solidFill>
              <a:ln w="9525">
                <a:solidFill>
                  <a:srgbClr val="D9E8C6"/>
                </a:solidFill>
              </a:ln>
            </p:spPr>
          </p:sp>
          <p:sp>
            <p:nvSpPr>
              <p:cNvPr id="98" name="Rectangle 98"/>
              <p:cNvSpPr/>
              <p:nvPr/>
            </p:nvSpPr>
            <p:spPr>
              <a:xfrm>
                <a:off x="7734300" y="666750"/>
                <a:ext cx="990600" cy="323850"/>
              </a:xfrm>
              <a:prstGeom prst="roundRect">
                <a:avLst>
                  <a:gd name="adj" fmla="val 23529"/>
                </a:avLst>
              </a:prstGeom>
              <a:solidFill>
                <a:srgbClr val="42140B"/>
              </a:solidFill>
              <a:ln>
                <a:noFill/>
              </a:ln>
            </p:spPr>
          </p:sp>
          <p:sp>
            <p:nvSpPr>
              <p:cNvPr id="99" name="Rectangle 99"/>
              <p:cNvSpPr/>
              <p:nvPr/>
            </p:nvSpPr>
            <p:spPr>
              <a:xfrm>
                <a:off x="7734300" y="857250"/>
                <a:ext cx="990600" cy="133350"/>
              </a:xfrm>
              <a:prstGeom prst="rect">
                <a:avLst/>
              </a:prstGeom>
              <a:solidFill>
                <a:srgbClr val="42140B"/>
              </a:solidFill>
              <a:ln>
                <a:noFill/>
              </a:ln>
            </p:spPr>
          </p:sp>
          <p:sp>
            <p:nvSpPr>
              <p:cNvPr id="100" name="TextBox 100"/>
              <p:cNvSpPr txBox="1"/>
              <p:nvPr/>
            </p:nvSpPr>
            <p:spPr>
              <a:xfrm>
                <a:off x="8033677" y="7327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模型网关</a:t>
                </a:r>
              </a:p>
            </p:txBody>
          </p:sp>
          <p:sp>
            <p:nvSpPr>
              <p:cNvPr id="101" name="TextBox 101"/>
              <p:cNvSpPr txBox="1"/>
              <p:nvPr/>
            </p:nvSpPr>
            <p:spPr>
              <a:xfrm>
                <a:off x="7877043" y="872728"/>
                <a:ext cx="705114" cy="111919"/>
              </a:xfrm>
              <a:prstGeom prst="rect">
                <a:avLst/>
              </a:prstGeom>
              <a:noFill/>
              <a:ln>
                <a:noFill/>
              </a:ln>
            </p:spPr>
            <p:txBody>
              <a:bodyPr wrap="none" lIns="0" tIns="0" rIns="0" bIns="0" anchor="t" anchorCtr="0">
                <a:spAutoFit/>
              </a:bodyPr>
              <a:lstStyle/>
              <a:p>
                <a:pPr algn="ctr"/>
                <a:r>
                  <a:rPr lang="zh-CN" sz="560" dirty="0">
                    <a:solidFill>
                      <a:srgbClr val="E4B7AF"/>
                    </a:solidFill>
                    <a:latin typeface="+mn-lt"/>
                    <a:ea typeface="+mn-ea"/>
                    <a:cs typeface="+mn-cs"/>
                  </a:rPr>
                  <a:t xml:space="preserve">(Model Gateway)　</a:t>
                </a:r>
              </a:p>
            </p:txBody>
          </p:sp>
          <p:grpSp>
            <p:nvGrpSpPr>
              <p:cNvPr id="104" name="Group 104"/>
              <p:cNvGrpSpPr/>
              <p:nvPr/>
            </p:nvGrpSpPr>
            <p:grpSpPr>
              <a:xfrm>
                <a:off x="8139694" y="1091194"/>
                <a:ext cx="179813" cy="179813"/>
                <a:chOff x="8139694" y="1091194"/>
                <a:chExt cx="179813" cy="179813"/>
              </a:xfrm>
            </p:grpSpPr>
            <p:sp>
              <p:nvSpPr>
                <p:cNvPr id="102" name="Freeform 102"/>
                <p:cNvSpPr/>
                <p:nvPr/>
              </p:nvSpPr>
              <p:spPr>
                <a:xfrm>
                  <a:off x="8139694" y="109119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7C3B2F"/>
                  </a:solidFill>
                </a:ln>
              </p:spPr>
            </p:sp>
            <p:sp>
              <p:nvSpPr>
                <p:cNvPr id="103" name="Freeform 103"/>
                <p:cNvSpPr/>
                <p:nvPr/>
              </p:nvSpPr>
              <p:spPr>
                <a:xfrm>
                  <a:off x="8201025" y="11525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7C3B2F"/>
                  </a:solidFill>
                </a:ln>
              </p:spPr>
            </p:sp>
          </p:grpSp>
          <p:sp>
            <p:nvSpPr>
              <p:cNvPr id="105" name="TextBox 105"/>
              <p:cNvSpPr txBox="1"/>
              <p:nvPr/>
            </p:nvSpPr>
            <p:spPr>
              <a:xfrm>
                <a:off x="7824788" y="145518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模型路由</a:t>
                </a:r>
              </a:p>
            </p:txBody>
          </p:sp>
          <p:sp>
            <p:nvSpPr>
              <p:cNvPr id="106" name="TextBox 106"/>
              <p:cNvSpPr txBox="1"/>
              <p:nvPr/>
            </p:nvSpPr>
            <p:spPr>
              <a:xfrm>
                <a:off x="7824788" y="162663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速率限制</a:t>
                </a:r>
              </a:p>
            </p:txBody>
          </p:sp>
          <p:sp>
            <p:nvSpPr>
              <p:cNvPr id="107" name="TextBox 107"/>
              <p:cNvSpPr txBox="1"/>
              <p:nvPr/>
            </p:nvSpPr>
            <p:spPr>
              <a:xfrm>
                <a:off x="7824788" y="179808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成本控制</a:t>
                </a:r>
              </a:p>
            </p:txBody>
          </p:sp>
          <p:sp>
            <p:nvSpPr>
              <p:cNvPr id="108" name="TextBox 108"/>
              <p:cNvSpPr txBox="1"/>
              <p:nvPr/>
            </p:nvSpPr>
            <p:spPr>
              <a:xfrm>
                <a:off x="7824788" y="1969532"/>
                <a:ext cx="430352"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观测埋点</a:t>
                </a:r>
              </a:p>
            </p:txBody>
          </p:sp>
        </p:grpSp>
        <p:sp>
          <p:nvSpPr>
            <p:cNvPr id="110" name="rf-arr-7"/>
            <p:cNvSpPr/>
            <p:nvPr/>
          </p:nvSpPr>
          <p:spPr>
            <a:xfrm>
              <a:off x="8763000" y="1504950"/>
              <a:ext cx="152400" cy="114300"/>
            </a:xfrm>
            <a:custGeom>
              <a:avLst/>
              <a:gdLst/>
              <a:ahLst/>
              <a:cxnLst/>
              <a:rect l="l" t="t" r="r" b="b"/>
              <a:pathLst>
                <a:path w="152400" h="114300">
                  <a:moveTo>
                    <a:pt x="0" y="0"/>
                  </a:moveTo>
                  <a:lnTo>
                    <a:pt x="152400" y="57150"/>
                  </a:lnTo>
                  <a:lnTo>
                    <a:pt x="0" y="114300"/>
                  </a:lnTo>
                  <a:close/>
                </a:path>
              </a:pathLst>
            </a:custGeom>
            <a:solidFill>
              <a:srgbClr val="7C3B2F"/>
            </a:solidFill>
            <a:ln>
              <a:noFill/>
            </a:ln>
          </p:spPr>
        </p:sp>
      </p:grpSp>
      <p:grpSp>
        <p:nvGrpSpPr>
          <p:cNvPr id="159" name="answer-anatomy"/>
          <p:cNvGrpSpPr/>
          <p:nvPr/>
        </p:nvGrpSpPr>
        <p:grpSpPr>
          <a:xfrm>
            <a:off x="9048750" y="666750"/>
            <a:ext cx="2914650" cy="3143250"/>
            <a:chOff x="9048750" y="666750"/>
            <a:chExt cx="2914650" cy="3143250"/>
          </a:xfrm>
        </p:grpSpPr>
        <p:sp>
          <p:nvSpPr>
            <p:cNvPr id="112" name="Rectangle 112"/>
            <p:cNvSpPr/>
            <p:nvPr/>
          </p:nvSpPr>
          <p:spPr>
            <a:xfrm>
              <a:off x="9048750" y="666750"/>
              <a:ext cx="2914650" cy="3143250"/>
            </a:xfrm>
            <a:prstGeom prst="roundRect">
              <a:avLst>
                <a:gd name="adj" fmla="val 3268"/>
              </a:avLst>
            </a:prstGeom>
            <a:solidFill>
              <a:srgbClr val="FFFFFF"/>
            </a:solidFill>
            <a:ln w="14288">
              <a:solidFill>
                <a:srgbClr val="BE776A"/>
              </a:solidFill>
            </a:ln>
          </p:spPr>
        </p:sp>
        <p:sp>
          <p:nvSpPr>
            <p:cNvPr id="113" name="Rectangle 113"/>
            <p:cNvSpPr/>
            <p:nvPr/>
          </p:nvSpPr>
          <p:spPr>
            <a:xfrm>
              <a:off x="9048750" y="666750"/>
              <a:ext cx="2914650" cy="266700"/>
            </a:xfrm>
            <a:prstGeom prst="roundRect">
              <a:avLst>
                <a:gd name="adj" fmla="val 35714"/>
              </a:avLst>
            </a:prstGeom>
            <a:solidFill>
              <a:srgbClr val="42140B"/>
            </a:solidFill>
            <a:ln>
              <a:noFill/>
            </a:ln>
          </p:spPr>
        </p:sp>
        <p:sp>
          <p:nvSpPr>
            <p:cNvPr id="114" name="Rectangle 114"/>
            <p:cNvSpPr/>
            <p:nvPr/>
          </p:nvSpPr>
          <p:spPr>
            <a:xfrm>
              <a:off x="9048750" y="819150"/>
              <a:ext cx="2914650" cy="114300"/>
            </a:xfrm>
            <a:prstGeom prst="rect">
              <a:avLst/>
            </a:prstGeom>
            <a:solidFill>
              <a:srgbClr val="42140B"/>
            </a:solidFill>
            <a:ln>
              <a:noFill/>
            </a:ln>
          </p:spPr>
        </p:sp>
        <p:sp>
          <p:nvSpPr>
            <p:cNvPr id="115" name="TextBox 115"/>
            <p:cNvSpPr txBox="1"/>
            <p:nvPr/>
          </p:nvSpPr>
          <p:spPr>
            <a:xfrm>
              <a:off x="9614821" y="754618"/>
              <a:ext cx="178250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 xml:space="preserve">回答结构（Answer Anatomy）　</a:t>
              </a:r>
            </a:p>
          </p:txBody>
        </p:sp>
        <p:grpSp>
          <p:nvGrpSpPr>
            <p:cNvPr id="121" name="ans-1"/>
            <p:cNvGrpSpPr/>
            <p:nvPr/>
          </p:nvGrpSpPr>
          <p:grpSpPr>
            <a:xfrm>
              <a:off x="9144000" y="1009650"/>
              <a:ext cx="2724150" cy="514350"/>
              <a:chOff x="9144000" y="1009650"/>
              <a:chExt cx="2724150" cy="514350"/>
            </a:xfrm>
          </p:grpSpPr>
          <p:sp>
            <p:nvSpPr>
              <p:cNvPr id="116" name="Rectangle 116"/>
              <p:cNvSpPr/>
              <p:nvPr/>
            </p:nvSpPr>
            <p:spPr>
              <a:xfrm>
                <a:off x="9144000" y="1009650"/>
                <a:ext cx="2724150" cy="514350"/>
              </a:xfrm>
              <a:prstGeom prst="roundRect">
                <a:avLst>
                  <a:gd name="adj" fmla="val 11111"/>
                </a:avLst>
              </a:prstGeom>
              <a:solidFill>
                <a:srgbClr val="F4F8EC"/>
              </a:solidFill>
              <a:ln>
                <a:noFill/>
              </a:ln>
            </p:spPr>
          </p:sp>
          <p:sp>
            <p:nvSpPr>
              <p:cNvPr id="117" name="Ellipse 117"/>
              <p:cNvSpPr/>
              <p:nvPr/>
            </p:nvSpPr>
            <p:spPr>
              <a:xfrm>
                <a:off x="9239250" y="1133475"/>
                <a:ext cx="266700" cy="266700"/>
              </a:xfrm>
              <a:prstGeom prst="ellipse">
                <a:avLst/>
              </a:prstGeom>
              <a:solidFill>
                <a:srgbClr val="42140B"/>
              </a:solidFill>
              <a:ln>
                <a:noFill/>
              </a:ln>
            </p:spPr>
          </p:sp>
          <p:sp>
            <p:nvSpPr>
              <p:cNvPr id="118" name="Freeform 118"/>
              <p:cNvSpPr/>
              <p:nvPr/>
            </p:nvSpPr>
            <p:spPr>
              <a:xfrm>
                <a:off x="9308948" y="1211104"/>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FFFFFF"/>
                </a:solidFill>
              </a:ln>
            </p:spPr>
          </p:sp>
          <p:sp>
            <p:nvSpPr>
              <p:cNvPr id="119" name="TextBox 119"/>
              <p:cNvSpPr txBox="1"/>
              <p:nvPr/>
            </p:nvSpPr>
            <p:spPr>
              <a:xfrm>
                <a:off x="9596438" y="1143714"/>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直接回答</a:t>
                </a:r>
              </a:p>
            </p:txBody>
          </p:sp>
          <p:sp>
            <p:nvSpPr>
              <p:cNvPr id="120" name="TextBox 120"/>
              <p:cNvSpPr txBox="1"/>
              <p:nvPr/>
            </p:nvSpPr>
            <p:spPr>
              <a:xfrm>
                <a:off x="9596438" y="1325880"/>
                <a:ext cx="898017"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简明、准确回答用户问题</a:t>
                </a:r>
              </a:p>
            </p:txBody>
          </p:sp>
        </p:grpSp>
        <p:grpSp>
          <p:nvGrpSpPr>
            <p:cNvPr id="132" name="ans-2"/>
            <p:cNvGrpSpPr/>
            <p:nvPr/>
          </p:nvGrpSpPr>
          <p:grpSpPr>
            <a:xfrm>
              <a:off x="9144000" y="1562100"/>
              <a:ext cx="2724150" cy="514350"/>
              <a:chOff x="9144000" y="1562100"/>
              <a:chExt cx="2724150" cy="514350"/>
            </a:xfrm>
          </p:grpSpPr>
          <p:sp>
            <p:nvSpPr>
              <p:cNvPr id="122" name="Rectangle 122"/>
              <p:cNvSpPr/>
              <p:nvPr/>
            </p:nvSpPr>
            <p:spPr>
              <a:xfrm>
                <a:off x="9144000" y="1562100"/>
                <a:ext cx="2724150" cy="514350"/>
              </a:xfrm>
              <a:prstGeom prst="roundRect">
                <a:avLst>
                  <a:gd name="adj" fmla="val 11111"/>
                </a:avLst>
              </a:prstGeom>
              <a:solidFill>
                <a:srgbClr val="F4F8EC"/>
              </a:solidFill>
              <a:ln>
                <a:noFill/>
              </a:ln>
            </p:spPr>
          </p:sp>
          <p:sp>
            <p:nvSpPr>
              <p:cNvPr id="123" name="Ellipse 123"/>
              <p:cNvSpPr/>
              <p:nvPr/>
            </p:nvSpPr>
            <p:spPr>
              <a:xfrm>
                <a:off x="9239250" y="1685925"/>
                <a:ext cx="266700" cy="266700"/>
              </a:xfrm>
              <a:prstGeom prst="ellipse">
                <a:avLst/>
              </a:prstGeom>
              <a:solidFill>
                <a:srgbClr val="643228"/>
              </a:solidFill>
              <a:ln>
                <a:noFill/>
              </a:ln>
            </p:spPr>
          </p:sp>
          <p:grpSp>
            <p:nvGrpSpPr>
              <p:cNvPr id="129" name="Group 129"/>
              <p:cNvGrpSpPr/>
              <p:nvPr/>
            </p:nvGrpSpPr>
            <p:grpSpPr>
              <a:xfrm>
                <a:off x="9328150" y="1762125"/>
                <a:ext cx="88900" cy="114300"/>
                <a:chOff x="9328150" y="1762125"/>
                <a:chExt cx="88900" cy="114300"/>
              </a:xfrm>
            </p:grpSpPr>
            <p:sp>
              <p:nvSpPr>
                <p:cNvPr id="124" name="Freeform 124"/>
                <p:cNvSpPr/>
                <p:nvPr/>
              </p:nvSpPr>
              <p:spPr>
                <a:xfrm>
                  <a:off x="9385300" y="1762125"/>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FFFFFF"/>
                  </a:solidFill>
                </a:ln>
              </p:spPr>
            </p:sp>
            <p:sp>
              <p:nvSpPr>
                <p:cNvPr id="125" name="Freeform 125"/>
                <p:cNvSpPr/>
                <p:nvPr/>
              </p:nvSpPr>
              <p:spPr>
                <a:xfrm>
                  <a:off x="9328150" y="1762125"/>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FFFFFF"/>
                  </a:solidFill>
                </a:ln>
              </p:spPr>
            </p:sp>
            <p:sp>
              <p:nvSpPr>
                <p:cNvPr id="126" name="Freeform 126"/>
                <p:cNvSpPr/>
                <p:nvPr/>
              </p:nvSpPr>
              <p:spPr>
                <a:xfrm>
                  <a:off x="9353550" y="1800225"/>
                  <a:ext cx="9525" cy="9525"/>
                </a:xfrm>
                <a:custGeom>
                  <a:avLst/>
                  <a:gdLst/>
                  <a:ahLst/>
                  <a:cxnLst/>
                  <a:rect l="l" t="t" r="r" b="b"/>
                  <a:pathLst>
                    <a:path w="9525" h="9525">
                      <a:moveTo>
                        <a:pt x="0" y="0"/>
                      </a:moveTo>
                      <a:lnTo>
                        <a:pt x="6350" y="0"/>
                      </a:lnTo>
                    </a:path>
                  </a:pathLst>
                </a:custGeom>
                <a:noFill/>
                <a:ln w="12700">
                  <a:solidFill>
                    <a:srgbClr val="FFFFFF"/>
                  </a:solidFill>
                </a:ln>
              </p:spPr>
            </p:sp>
            <p:sp>
              <p:nvSpPr>
                <p:cNvPr id="127" name="Freeform 127"/>
                <p:cNvSpPr/>
                <p:nvPr/>
              </p:nvSpPr>
              <p:spPr>
                <a:xfrm>
                  <a:off x="9353550" y="1825625"/>
                  <a:ext cx="38100" cy="9525"/>
                </a:xfrm>
                <a:custGeom>
                  <a:avLst/>
                  <a:gdLst/>
                  <a:ahLst/>
                  <a:cxnLst/>
                  <a:rect l="l" t="t" r="r" b="b"/>
                  <a:pathLst>
                    <a:path w="38100" h="9525">
                      <a:moveTo>
                        <a:pt x="0" y="0"/>
                      </a:moveTo>
                      <a:lnTo>
                        <a:pt x="38100" y="0"/>
                      </a:lnTo>
                    </a:path>
                  </a:pathLst>
                </a:custGeom>
                <a:noFill/>
                <a:ln w="12700">
                  <a:solidFill>
                    <a:srgbClr val="FFFFFF"/>
                  </a:solidFill>
                </a:ln>
              </p:spPr>
            </p:sp>
            <p:sp>
              <p:nvSpPr>
                <p:cNvPr id="128" name="Freeform 128"/>
                <p:cNvSpPr/>
                <p:nvPr/>
              </p:nvSpPr>
              <p:spPr>
                <a:xfrm>
                  <a:off x="9353550" y="1851025"/>
                  <a:ext cx="38100" cy="9525"/>
                </a:xfrm>
                <a:custGeom>
                  <a:avLst/>
                  <a:gdLst/>
                  <a:ahLst/>
                  <a:cxnLst/>
                  <a:rect l="l" t="t" r="r" b="b"/>
                  <a:pathLst>
                    <a:path w="38100" h="9525">
                      <a:moveTo>
                        <a:pt x="0" y="0"/>
                      </a:moveTo>
                      <a:lnTo>
                        <a:pt x="38100" y="0"/>
                      </a:lnTo>
                    </a:path>
                  </a:pathLst>
                </a:custGeom>
                <a:noFill/>
                <a:ln w="12700">
                  <a:solidFill>
                    <a:srgbClr val="FFFFFF"/>
                  </a:solidFill>
                </a:ln>
              </p:spPr>
            </p:sp>
          </p:grpSp>
          <p:sp>
            <p:nvSpPr>
              <p:cNvPr id="130" name="TextBox 130"/>
              <p:cNvSpPr txBox="1"/>
              <p:nvPr/>
            </p:nvSpPr>
            <p:spPr>
              <a:xfrm>
                <a:off x="9596438" y="1696164"/>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依据片段</a:t>
                </a:r>
              </a:p>
            </p:txBody>
          </p:sp>
          <p:sp>
            <p:nvSpPr>
              <p:cNvPr id="131" name="TextBox 131"/>
              <p:cNvSpPr txBox="1"/>
              <p:nvPr/>
            </p:nvSpPr>
            <p:spPr>
              <a:xfrm>
                <a:off x="9596438" y="1878330"/>
                <a:ext cx="1059561"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支撑答案的关键片段（高亮）</a:t>
                </a:r>
              </a:p>
            </p:txBody>
          </p:sp>
        </p:grpSp>
        <p:grpSp>
          <p:nvGrpSpPr>
            <p:cNvPr id="141" name="ans-3"/>
            <p:cNvGrpSpPr/>
            <p:nvPr/>
          </p:nvGrpSpPr>
          <p:grpSpPr>
            <a:xfrm>
              <a:off x="9144000" y="2114550"/>
              <a:ext cx="2724150" cy="514350"/>
              <a:chOff x="9144000" y="2114550"/>
              <a:chExt cx="2724150" cy="514350"/>
            </a:xfrm>
          </p:grpSpPr>
          <p:sp>
            <p:nvSpPr>
              <p:cNvPr id="133" name="Rectangle 133"/>
              <p:cNvSpPr/>
              <p:nvPr/>
            </p:nvSpPr>
            <p:spPr>
              <a:xfrm>
                <a:off x="9144000" y="2114550"/>
                <a:ext cx="2724150" cy="514350"/>
              </a:xfrm>
              <a:prstGeom prst="roundRect">
                <a:avLst>
                  <a:gd name="adj" fmla="val 11111"/>
                </a:avLst>
              </a:prstGeom>
              <a:solidFill>
                <a:srgbClr val="F4F8EC"/>
              </a:solidFill>
              <a:ln>
                <a:noFill/>
              </a:ln>
            </p:spPr>
          </p:sp>
          <p:sp>
            <p:nvSpPr>
              <p:cNvPr id="134" name="Ellipse 134"/>
              <p:cNvSpPr/>
              <p:nvPr/>
            </p:nvSpPr>
            <p:spPr>
              <a:xfrm>
                <a:off x="9239250" y="2238375"/>
                <a:ext cx="266700" cy="266700"/>
              </a:xfrm>
              <a:prstGeom prst="ellipse">
                <a:avLst/>
              </a:prstGeom>
              <a:solidFill>
                <a:srgbClr val="7C3B2F"/>
              </a:solidFill>
              <a:ln>
                <a:noFill/>
              </a:ln>
            </p:spPr>
          </p:sp>
          <p:grpSp>
            <p:nvGrpSpPr>
              <p:cNvPr id="138" name="Group 138"/>
              <p:cNvGrpSpPr/>
              <p:nvPr/>
            </p:nvGrpSpPr>
            <p:grpSpPr>
              <a:xfrm>
                <a:off x="9321799" y="2317822"/>
                <a:ext cx="104694" cy="107792"/>
                <a:chOff x="9321799" y="2317822"/>
                <a:chExt cx="104694" cy="107792"/>
              </a:xfrm>
            </p:grpSpPr>
            <p:sp>
              <p:nvSpPr>
                <p:cNvPr id="135" name="Freeform 135"/>
                <p:cNvSpPr/>
                <p:nvPr/>
              </p:nvSpPr>
              <p:spPr>
                <a:xfrm>
                  <a:off x="9353550" y="2352675"/>
                  <a:ext cx="38100" cy="38100"/>
                </a:xfrm>
                <a:custGeom>
                  <a:avLst/>
                  <a:gdLst/>
                  <a:ahLst/>
                  <a:cxnLst/>
                  <a:rect l="l" t="t" r="r" b="b"/>
                  <a:pathLst>
                    <a:path w="38100" h="38100">
                      <a:moveTo>
                        <a:pt x="0" y="38100"/>
                      </a:moveTo>
                      <a:lnTo>
                        <a:pt x="38100" y="0"/>
                      </a:lnTo>
                    </a:path>
                  </a:pathLst>
                </a:custGeom>
                <a:noFill/>
                <a:ln w="12700">
                  <a:solidFill>
                    <a:srgbClr val="FFFFFF"/>
                  </a:solidFill>
                </a:ln>
              </p:spPr>
            </p:sp>
            <p:sp>
              <p:nvSpPr>
                <p:cNvPr id="136" name="Freeform 136"/>
                <p:cNvSpPr/>
                <p:nvPr/>
              </p:nvSpPr>
              <p:spPr>
                <a:xfrm>
                  <a:off x="9366250" y="2317822"/>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FFFFFF"/>
                  </a:solidFill>
                </a:ln>
              </p:spPr>
            </p:sp>
            <p:sp>
              <p:nvSpPr>
                <p:cNvPr id="137" name="Freeform 137"/>
                <p:cNvSpPr/>
                <p:nvPr/>
              </p:nvSpPr>
              <p:spPr>
                <a:xfrm>
                  <a:off x="9321799" y="2365375"/>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FFFFFF"/>
                  </a:solidFill>
                </a:ln>
              </p:spPr>
            </p:sp>
          </p:grpSp>
          <p:sp>
            <p:nvSpPr>
              <p:cNvPr id="139" name="TextBox 139"/>
              <p:cNvSpPr txBox="1"/>
              <p:nvPr/>
            </p:nvSpPr>
            <p:spPr>
              <a:xfrm>
                <a:off x="9596438" y="2248614"/>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来源链接</a:t>
                </a:r>
              </a:p>
            </p:txBody>
          </p:sp>
          <p:sp>
            <p:nvSpPr>
              <p:cNvPr id="140" name="TextBox 140"/>
              <p:cNvSpPr txBox="1"/>
              <p:nvPr/>
            </p:nvSpPr>
            <p:spPr>
              <a:xfrm>
                <a:off x="9596438" y="2430780"/>
                <a:ext cx="1184758"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文档标题、来源系统、链接/位置</a:t>
                </a:r>
              </a:p>
            </p:txBody>
          </p:sp>
        </p:grpSp>
        <p:grpSp>
          <p:nvGrpSpPr>
            <p:cNvPr id="150" name="ans-4"/>
            <p:cNvGrpSpPr/>
            <p:nvPr/>
          </p:nvGrpSpPr>
          <p:grpSpPr>
            <a:xfrm>
              <a:off x="9144000" y="2667000"/>
              <a:ext cx="2724150" cy="514350"/>
              <a:chOff x="9144000" y="2667000"/>
              <a:chExt cx="2724150" cy="514350"/>
            </a:xfrm>
          </p:grpSpPr>
          <p:sp>
            <p:nvSpPr>
              <p:cNvPr id="142" name="Rectangle 142"/>
              <p:cNvSpPr/>
              <p:nvPr/>
            </p:nvSpPr>
            <p:spPr>
              <a:xfrm>
                <a:off x="9144000" y="2667000"/>
                <a:ext cx="2724150" cy="514350"/>
              </a:xfrm>
              <a:prstGeom prst="roundRect">
                <a:avLst>
                  <a:gd name="adj" fmla="val 11111"/>
                </a:avLst>
              </a:prstGeom>
              <a:solidFill>
                <a:srgbClr val="F4F8EC"/>
              </a:solidFill>
              <a:ln>
                <a:noFill/>
              </a:ln>
            </p:spPr>
          </p:sp>
          <p:sp>
            <p:nvSpPr>
              <p:cNvPr id="143" name="Ellipse 143"/>
              <p:cNvSpPr/>
              <p:nvPr/>
            </p:nvSpPr>
            <p:spPr>
              <a:xfrm>
                <a:off x="9239250" y="2790825"/>
                <a:ext cx="266700" cy="266700"/>
              </a:xfrm>
              <a:prstGeom prst="ellipse">
                <a:avLst/>
              </a:prstGeom>
              <a:solidFill>
                <a:srgbClr val="8C4336"/>
              </a:solidFill>
              <a:ln>
                <a:noFill/>
              </a:ln>
            </p:spPr>
          </p:sp>
          <p:grpSp>
            <p:nvGrpSpPr>
              <p:cNvPr id="147" name="Group 147"/>
              <p:cNvGrpSpPr/>
              <p:nvPr/>
            </p:nvGrpSpPr>
            <p:grpSpPr>
              <a:xfrm>
                <a:off x="9315450" y="2867025"/>
                <a:ext cx="114300" cy="114300"/>
                <a:chOff x="9315450" y="2867025"/>
                <a:chExt cx="114300" cy="114300"/>
              </a:xfrm>
            </p:grpSpPr>
            <p:sp>
              <p:nvSpPr>
                <p:cNvPr id="144" name="Freeform 144"/>
                <p:cNvSpPr/>
                <p:nvPr/>
              </p:nvSpPr>
              <p:spPr>
                <a:xfrm>
                  <a:off x="9366250" y="2917825"/>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145" name="Freeform 145"/>
                <p:cNvSpPr/>
                <p:nvPr/>
              </p:nvSpPr>
              <p:spPr>
                <a:xfrm>
                  <a:off x="9340850" y="289242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FFFFFF"/>
                  </a:solidFill>
                </a:ln>
              </p:spPr>
            </p:sp>
            <p:sp>
              <p:nvSpPr>
                <p:cNvPr id="146" name="Freeform 146"/>
                <p:cNvSpPr/>
                <p:nvPr/>
              </p:nvSpPr>
              <p:spPr>
                <a:xfrm>
                  <a:off x="9315450" y="28670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grpSp>
          <p:sp>
            <p:nvSpPr>
              <p:cNvPr id="148" name="TextBox 148"/>
              <p:cNvSpPr txBox="1"/>
              <p:nvPr/>
            </p:nvSpPr>
            <p:spPr>
              <a:xfrm>
                <a:off x="9596438" y="2801064"/>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适用范围</a:t>
                </a:r>
              </a:p>
            </p:txBody>
          </p:sp>
          <p:sp>
            <p:nvSpPr>
              <p:cNvPr id="149" name="TextBox 149"/>
              <p:cNvSpPr txBox="1"/>
              <p:nvPr/>
            </p:nvSpPr>
            <p:spPr>
              <a:xfrm>
                <a:off x="9596438" y="2983230"/>
                <a:ext cx="1221105"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适用对象、条件、时间范围等限制</a:t>
                </a:r>
              </a:p>
            </p:txBody>
          </p:sp>
        </p:grpSp>
        <p:grpSp>
          <p:nvGrpSpPr>
            <p:cNvPr id="158" name="ans-5"/>
            <p:cNvGrpSpPr/>
            <p:nvPr/>
          </p:nvGrpSpPr>
          <p:grpSpPr>
            <a:xfrm>
              <a:off x="9144000" y="3219450"/>
              <a:ext cx="2724150" cy="514350"/>
              <a:chOff x="9144000" y="3219450"/>
              <a:chExt cx="2724150" cy="514350"/>
            </a:xfrm>
          </p:grpSpPr>
          <p:sp>
            <p:nvSpPr>
              <p:cNvPr id="151" name="Rectangle 151"/>
              <p:cNvSpPr/>
              <p:nvPr/>
            </p:nvSpPr>
            <p:spPr>
              <a:xfrm>
                <a:off x="9144000" y="3219450"/>
                <a:ext cx="2724150" cy="514350"/>
              </a:xfrm>
              <a:prstGeom prst="roundRect">
                <a:avLst>
                  <a:gd name="adj" fmla="val 11111"/>
                </a:avLst>
              </a:prstGeom>
              <a:solidFill>
                <a:srgbClr val="F4F8EC"/>
              </a:solidFill>
              <a:ln>
                <a:noFill/>
              </a:ln>
            </p:spPr>
          </p:sp>
          <p:sp>
            <p:nvSpPr>
              <p:cNvPr id="152" name="Ellipse 152"/>
              <p:cNvSpPr/>
              <p:nvPr/>
            </p:nvSpPr>
            <p:spPr>
              <a:xfrm>
                <a:off x="9239250" y="3343275"/>
                <a:ext cx="266700" cy="266700"/>
              </a:xfrm>
              <a:prstGeom prst="ellipse">
                <a:avLst/>
              </a:prstGeom>
              <a:solidFill>
                <a:srgbClr val="9A4B3C"/>
              </a:solidFill>
              <a:ln>
                <a:noFill/>
              </a:ln>
            </p:spPr>
          </p:sp>
          <p:grpSp>
            <p:nvGrpSpPr>
              <p:cNvPr id="155" name="Group 155"/>
              <p:cNvGrpSpPr/>
              <p:nvPr/>
            </p:nvGrpSpPr>
            <p:grpSpPr>
              <a:xfrm>
                <a:off x="9306880" y="3419475"/>
                <a:ext cx="124004" cy="114300"/>
                <a:chOff x="9306880" y="3419475"/>
                <a:chExt cx="124004" cy="114300"/>
              </a:xfrm>
            </p:grpSpPr>
            <p:sp>
              <p:nvSpPr>
                <p:cNvPr id="153" name="Freeform 153"/>
                <p:cNvSpPr/>
                <p:nvPr/>
              </p:nvSpPr>
              <p:spPr>
                <a:xfrm>
                  <a:off x="9306880" y="3419475"/>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FFFFFF"/>
                  </a:solidFill>
                </a:ln>
              </p:spPr>
            </p:sp>
            <p:sp>
              <p:nvSpPr>
                <p:cNvPr id="154" name="Freeform 154"/>
                <p:cNvSpPr/>
                <p:nvPr/>
              </p:nvSpPr>
              <p:spPr>
                <a:xfrm>
                  <a:off x="9391650" y="3508375"/>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156" name="TextBox 156"/>
              <p:cNvSpPr txBox="1"/>
              <p:nvPr/>
            </p:nvSpPr>
            <p:spPr>
              <a:xfrm>
                <a:off x="9596438" y="3353514"/>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置信提示</a:t>
                </a:r>
              </a:p>
            </p:txBody>
          </p:sp>
          <p:sp>
            <p:nvSpPr>
              <p:cNvPr id="157" name="TextBox 157"/>
              <p:cNvSpPr txBox="1"/>
              <p:nvPr/>
            </p:nvSpPr>
            <p:spPr>
              <a:xfrm>
                <a:off x="9596438" y="3535680"/>
                <a:ext cx="1059561"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置信度等级与可能的局限说明</a:t>
                </a:r>
              </a:p>
            </p:txBody>
          </p:sp>
        </p:grpSp>
      </p:grpSp>
      <p:grpSp>
        <p:nvGrpSpPr>
          <p:cNvPr id="238" name="guardrails"/>
          <p:cNvGrpSpPr/>
          <p:nvPr/>
        </p:nvGrpSpPr>
        <p:grpSpPr>
          <a:xfrm>
            <a:off x="228600" y="2495550"/>
            <a:ext cx="8724900" cy="1333500"/>
            <a:chOff x="228600" y="2495550"/>
            <a:chExt cx="8724900" cy="1333500"/>
          </a:xfrm>
        </p:grpSpPr>
        <p:sp>
          <p:nvSpPr>
            <p:cNvPr id="160" name="Rectangle 160"/>
            <p:cNvSpPr/>
            <p:nvPr/>
          </p:nvSpPr>
          <p:spPr>
            <a:xfrm>
              <a:off x="228600" y="2571750"/>
              <a:ext cx="8724900" cy="1257300"/>
            </a:xfrm>
            <a:prstGeom prst="roundRect">
              <a:avLst>
                <a:gd name="adj" fmla="val 6061"/>
              </a:avLst>
            </a:prstGeom>
            <a:noFill/>
            <a:ln w="11430">
              <a:solidFill>
                <a:srgbClr val="BE776A"/>
              </a:solidFill>
              <a:custDash>
                <a:ds d="500000" sp="333333"/>
              </a:custDash>
            </a:ln>
          </p:spPr>
        </p:sp>
        <p:sp>
          <p:nvSpPr>
            <p:cNvPr id="161" name="Rectangle 161"/>
            <p:cNvSpPr/>
            <p:nvPr/>
          </p:nvSpPr>
          <p:spPr>
            <a:xfrm>
              <a:off x="3676650" y="2495550"/>
              <a:ext cx="1828800" cy="171450"/>
            </a:xfrm>
            <a:prstGeom prst="roundRect">
              <a:avLst>
                <a:gd name="adj" fmla="val 50000"/>
              </a:avLst>
            </a:prstGeom>
            <a:solidFill>
              <a:srgbClr val="FFFFFF"/>
            </a:solidFill>
            <a:ln>
              <a:noFill/>
            </a:ln>
          </p:spPr>
        </p:sp>
        <p:grpSp>
          <p:nvGrpSpPr>
            <p:cNvPr id="164" name="Group 164"/>
            <p:cNvGrpSpPr/>
            <p:nvPr/>
          </p:nvGrpSpPr>
          <p:grpSpPr>
            <a:xfrm>
              <a:off x="3781070" y="2531269"/>
              <a:ext cx="108504" cy="100012"/>
              <a:chOff x="3781070" y="2531269"/>
              <a:chExt cx="108504" cy="100012"/>
            </a:xfrm>
          </p:grpSpPr>
          <p:sp>
            <p:nvSpPr>
              <p:cNvPr id="162" name="Freeform 162"/>
              <p:cNvSpPr/>
              <p:nvPr/>
            </p:nvSpPr>
            <p:spPr>
              <a:xfrm>
                <a:off x="3781070" y="253126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7C3B2F"/>
                </a:solidFill>
              </a:ln>
            </p:spPr>
          </p:sp>
          <p:sp>
            <p:nvSpPr>
              <p:cNvPr id="163" name="Freeform 163"/>
              <p:cNvSpPr/>
              <p:nvPr/>
            </p:nvSpPr>
            <p:spPr>
              <a:xfrm>
                <a:off x="3855244" y="2609056"/>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165" name="TextBox 165"/>
            <p:cNvSpPr txBox="1"/>
            <p:nvPr/>
          </p:nvSpPr>
          <p:spPr>
            <a:xfrm>
              <a:off x="3992094" y="2538412"/>
              <a:ext cx="1350312"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 xml:space="preserve">模型守护栏（Guardrails）　</a:t>
              </a:r>
            </a:p>
          </p:txBody>
        </p:sp>
        <p:grpSp>
          <p:nvGrpSpPr>
            <p:cNvPr id="173" name="gr-prompt"/>
            <p:cNvGrpSpPr/>
            <p:nvPr/>
          </p:nvGrpSpPr>
          <p:grpSpPr>
            <a:xfrm>
              <a:off x="374498" y="2723436"/>
              <a:ext cx="863110" cy="832961"/>
              <a:chOff x="374498" y="2723436"/>
              <a:chExt cx="863110" cy="832961"/>
            </a:xfrm>
          </p:grpSpPr>
          <p:sp>
            <p:nvSpPr>
              <p:cNvPr id="166" name="Freeform 166"/>
              <p:cNvSpPr/>
              <p:nvPr/>
            </p:nvSpPr>
            <p:spPr>
              <a:xfrm>
                <a:off x="374498" y="272557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7C3B2F"/>
                </a:solidFill>
              </a:ln>
            </p:spPr>
          </p:sp>
          <p:sp>
            <p:nvSpPr>
              <p:cNvPr id="167" name="TextBox 167"/>
              <p:cNvSpPr txBox="1"/>
              <p:nvPr/>
            </p:nvSpPr>
            <p:spPr>
              <a:xfrm>
                <a:off x="566738" y="2723436"/>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提示策略</a:t>
                </a:r>
              </a:p>
            </p:txBody>
          </p:sp>
          <p:sp>
            <p:nvSpPr>
              <p:cNvPr id="168" name="TextBox 168"/>
              <p:cNvSpPr txBox="1"/>
              <p:nvPr/>
            </p:nvSpPr>
            <p:spPr>
              <a:xfrm>
                <a:off x="566738" y="2853928"/>
                <a:ext cx="670870"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 xml:space="preserve">(Prompt Policy)　</a:t>
                </a:r>
              </a:p>
            </p:txBody>
          </p:sp>
          <p:sp>
            <p:nvSpPr>
              <p:cNvPr id="169" name="TextBox 169"/>
              <p:cNvSpPr txBox="1"/>
              <p:nvPr/>
            </p:nvSpPr>
            <p:spPr>
              <a:xfrm>
                <a:off x="395288" y="30444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系统提示模板</a:t>
                </a:r>
              </a:p>
            </p:txBody>
          </p:sp>
          <p:sp>
            <p:nvSpPr>
              <p:cNvPr id="170" name="TextBox 170"/>
              <p:cNvSpPr txBox="1"/>
              <p:nvPr/>
            </p:nvSpPr>
            <p:spPr>
              <a:xfrm>
                <a:off x="395288" y="31777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回答约束</a:t>
                </a:r>
              </a:p>
            </p:txBody>
          </p:sp>
          <p:sp>
            <p:nvSpPr>
              <p:cNvPr id="171" name="TextBox 171"/>
              <p:cNvSpPr txBox="1"/>
              <p:nvPr/>
            </p:nvSpPr>
            <p:spPr>
              <a:xfrm>
                <a:off x="395288" y="331112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引用要求</a:t>
                </a:r>
              </a:p>
            </p:txBody>
          </p:sp>
          <p:sp>
            <p:nvSpPr>
              <p:cNvPr id="172" name="TextBox 172"/>
              <p:cNvSpPr txBox="1"/>
              <p:nvPr/>
            </p:nvSpPr>
            <p:spPr>
              <a:xfrm>
                <a:off x="395288" y="34444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拒答规则</a:t>
                </a:r>
              </a:p>
            </p:txBody>
          </p:sp>
        </p:grpSp>
        <p:sp>
          <p:nvSpPr>
            <p:cNvPr id="174" name="Line 174"/>
            <p:cNvSpPr/>
            <p:nvPr/>
          </p:nvSpPr>
          <p:spPr>
            <a:xfrm>
              <a:off x="1714500" y="2724150"/>
              <a:ext cx="9525" cy="952500"/>
            </a:xfrm>
            <a:custGeom>
              <a:avLst/>
              <a:gdLst/>
              <a:ahLst/>
              <a:cxnLst/>
              <a:rect l="l" t="t" r="r" b="b"/>
              <a:pathLst>
                <a:path w="9525" h="952500">
                  <a:moveTo>
                    <a:pt x="0" y="0"/>
                  </a:moveTo>
                  <a:lnTo>
                    <a:pt x="0" y="952500"/>
                  </a:lnTo>
                </a:path>
              </a:pathLst>
            </a:custGeom>
            <a:noFill/>
            <a:ln w="9525">
              <a:solidFill>
                <a:srgbClr val="D9E8C6"/>
              </a:solidFill>
            </a:ln>
          </p:spPr>
        </p:sp>
        <p:grpSp>
          <p:nvGrpSpPr>
            <p:cNvPr id="185" name="gr-pii"/>
            <p:cNvGrpSpPr/>
            <p:nvPr/>
          </p:nvGrpSpPr>
          <p:grpSpPr>
            <a:xfrm>
              <a:off x="1843088" y="2723436"/>
              <a:ext cx="1030304" cy="832961"/>
              <a:chOff x="1843088" y="2723436"/>
              <a:chExt cx="1030304" cy="832961"/>
            </a:xfrm>
          </p:grpSpPr>
          <p:grpSp>
            <p:nvGrpSpPr>
              <p:cNvPr id="178" name="Group 178"/>
              <p:cNvGrpSpPr/>
              <p:nvPr/>
            </p:nvGrpSpPr>
            <p:grpSpPr>
              <a:xfrm>
                <a:off x="1847850" y="2724150"/>
                <a:ext cx="95250" cy="114300"/>
                <a:chOff x="1847850" y="2724150"/>
                <a:chExt cx="95250" cy="114300"/>
              </a:xfrm>
            </p:grpSpPr>
            <p:sp>
              <p:nvSpPr>
                <p:cNvPr id="175" name="Freeform 175"/>
                <p:cNvSpPr/>
                <p:nvPr/>
              </p:nvSpPr>
              <p:spPr>
                <a:xfrm>
                  <a:off x="1860550" y="27241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C3B2F"/>
                  </a:solidFill>
                </a:ln>
              </p:spPr>
            </p:sp>
            <p:sp>
              <p:nvSpPr>
                <p:cNvPr id="176" name="Freeform 176"/>
                <p:cNvSpPr/>
                <p:nvPr/>
              </p:nvSpPr>
              <p:spPr>
                <a:xfrm>
                  <a:off x="1847850" y="28003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7C3B2F"/>
                  </a:solidFill>
                </a:ln>
              </p:spPr>
            </p:sp>
            <p:sp>
              <p:nvSpPr>
                <p:cNvPr id="177" name="Freeform 177"/>
                <p:cNvSpPr/>
                <p:nvPr/>
              </p:nvSpPr>
              <p:spPr>
                <a:xfrm>
                  <a:off x="1905000" y="281305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179" name="TextBox 179"/>
              <p:cNvSpPr txBox="1"/>
              <p:nvPr/>
            </p:nvSpPr>
            <p:spPr>
              <a:xfrm>
                <a:off x="2014538" y="2723436"/>
                <a:ext cx="858854"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PII/敏感信息防护　</a:t>
                </a:r>
              </a:p>
            </p:txBody>
          </p:sp>
          <p:sp>
            <p:nvSpPr>
              <p:cNvPr id="180" name="TextBox 180"/>
              <p:cNvSpPr txBox="1"/>
              <p:nvPr/>
            </p:nvSpPr>
            <p:spPr>
              <a:xfrm>
                <a:off x="2014538" y="2853928"/>
                <a:ext cx="574460"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 xml:space="preserve">(PII Masking)　</a:t>
                </a:r>
              </a:p>
            </p:txBody>
          </p:sp>
          <p:sp>
            <p:nvSpPr>
              <p:cNvPr id="181" name="TextBox 181"/>
              <p:cNvSpPr txBox="1"/>
              <p:nvPr/>
            </p:nvSpPr>
            <p:spPr>
              <a:xfrm>
                <a:off x="1843088" y="304442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识别检测</a:t>
                </a:r>
              </a:p>
            </p:txBody>
          </p:sp>
          <p:sp>
            <p:nvSpPr>
              <p:cNvPr id="182" name="TextBox 182"/>
              <p:cNvSpPr txBox="1"/>
              <p:nvPr/>
            </p:nvSpPr>
            <p:spPr>
              <a:xfrm>
                <a:off x="1843088" y="31777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脱敏替换</a:t>
                </a:r>
              </a:p>
            </p:txBody>
          </p:sp>
          <p:sp>
            <p:nvSpPr>
              <p:cNvPr id="183" name="TextBox 183"/>
              <p:cNvSpPr txBox="1"/>
              <p:nvPr/>
            </p:nvSpPr>
            <p:spPr>
              <a:xfrm>
                <a:off x="1843088" y="33111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最小化暴露</a:t>
                </a:r>
              </a:p>
            </p:txBody>
          </p:sp>
          <p:sp>
            <p:nvSpPr>
              <p:cNvPr id="184" name="TextBox 184"/>
              <p:cNvSpPr txBox="1"/>
              <p:nvPr/>
            </p:nvSpPr>
            <p:spPr>
              <a:xfrm>
                <a:off x="1843088" y="34444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日志脱敏</a:t>
                </a:r>
              </a:p>
            </p:txBody>
          </p:sp>
        </p:grpSp>
        <p:sp>
          <p:nvSpPr>
            <p:cNvPr id="186" name="Line 186"/>
            <p:cNvSpPr/>
            <p:nvPr/>
          </p:nvSpPr>
          <p:spPr>
            <a:xfrm>
              <a:off x="3162300" y="2724150"/>
              <a:ext cx="9525" cy="952500"/>
            </a:xfrm>
            <a:custGeom>
              <a:avLst/>
              <a:gdLst/>
              <a:ahLst/>
              <a:cxnLst/>
              <a:rect l="l" t="t" r="r" b="b"/>
              <a:pathLst>
                <a:path w="9525" h="952500">
                  <a:moveTo>
                    <a:pt x="0" y="0"/>
                  </a:moveTo>
                  <a:lnTo>
                    <a:pt x="0" y="952500"/>
                  </a:lnTo>
                </a:path>
              </a:pathLst>
            </a:custGeom>
            <a:noFill/>
            <a:ln w="9525">
              <a:solidFill>
                <a:srgbClr val="D9E8C6"/>
              </a:solidFill>
            </a:ln>
          </p:spPr>
        </p:sp>
        <p:grpSp>
          <p:nvGrpSpPr>
            <p:cNvPr id="196" name="gr-safety"/>
            <p:cNvGrpSpPr/>
            <p:nvPr/>
          </p:nvGrpSpPr>
          <p:grpSpPr>
            <a:xfrm>
              <a:off x="3268030" y="2723436"/>
              <a:ext cx="929394" cy="832961"/>
              <a:chOff x="3268030" y="2723436"/>
              <a:chExt cx="929394" cy="832961"/>
            </a:xfrm>
          </p:grpSpPr>
          <p:grpSp>
            <p:nvGrpSpPr>
              <p:cNvPr id="189" name="Group 189"/>
              <p:cNvGrpSpPr/>
              <p:nvPr/>
            </p:nvGrpSpPr>
            <p:grpSpPr>
              <a:xfrm>
                <a:off x="3268030" y="2724150"/>
                <a:ext cx="124004" cy="114300"/>
                <a:chOff x="3268030" y="2724150"/>
                <a:chExt cx="124004" cy="114300"/>
              </a:xfrm>
            </p:grpSpPr>
            <p:sp>
              <p:nvSpPr>
                <p:cNvPr id="187" name="Freeform 187"/>
                <p:cNvSpPr/>
                <p:nvPr/>
              </p:nvSpPr>
              <p:spPr>
                <a:xfrm>
                  <a:off x="3268030" y="27241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7C3B2F"/>
                  </a:solidFill>
                </a:ln>
              </p:spPr>
            </p:sp>
            <p:sp>
              <p:nvSpPr>
                <p:cNvPr id="188" name="Freeform 188"/>
                <p:cNvSpPr/>
                <p:nvPr/>
              </p:nvSpPr>
              <p:spPr>
                <a:xfrm>
                  <a:off x="3352800" y="281305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190" name="TextBox 190"/>
              <p:cNvSpPr txBox="1"/>
              <p:nvPr/>
            </p:nvSpPr>
            <p:spPr>
              <a:xfrm>
                <a:off x="3462338" y="2723436"/>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内容安全</a:t>
                </a:r>
              </a:p>
            </p:txBody>
          </p:sp>
          <p:sp>
            <p:nvSpPr>
              <p:cNvPr id="191" name="TextBox 191"/>
              <p:cNvSpPr txBox="1"/>
              <p:nvPr/>
            </p:nvSpPr>
            <p:spPr>
              <a:xfrm>
                <a:off x="3462338" y="2853928"/>
                <a:ext cx="735086"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 xml:space="preserve">(Content Safety)　</a:t>
                </a:r>
              </a:p>
            </p:txBody>
          </p:sp>
          <p:sp>
            <p:nvSpPr>
              <p:cNvPr id="192" name="TextBox 192"/>
              <p:cNvSpPr txBox="1"/>
              <p:nvPr/>
            </p:nvSpPr>
            <p:spPr>
              <a:xfrm>
                <a:off x="3290888" y="30444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敏感主题检测</a:t>
                </a:r>
              </a:p>
            </p:txBody>
          </p:sp>
          <p:sp>
            <p:nvSpPr>
              <p:cNvPr id="193" name="TextBox 193"/>
              <p:cNvSpPr txBox="1"/>
              <p:nvPr/>
            </p:nvSpPr>
            <p:spPr>
              <a:xfrm>
                <a:off x="3290888" y="31777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有害内容过滤</a:t>
                </a:r>
              </a:p>
            </p:txBody>
          </p:sp>
          <p:sp>
            <p:nvSpPr>
              <p:cNvPr id="194" name="TextBox 194"/>
              <p:cNvSpPr txBox="1"/>
              <p:nvPr/>
            </p:nvSpPr>
            <p:spPr>
              <a:xfrm>
                <a:off x="3290888" y="33111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幻觉风险识别</a:t>
                </a:r>
              </a:p>
            </p:txBody>
          </p:sp>
          <p:sp>
            <p:nvSpPr>
              <p:cNvPr id="195" name="TextBox 195"/>
              <p:cNvSpPr txBox="1"/>
              <p:nvPr/>
            </p:nvSpPr>
            <p:spPr>
              <a:xfrm>
                <a:off x="3290888" y="34444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输出不当识别</a:t>
                </a:r>
              </a:p>
            </p:txBody>
          </p:sp>
        </p:grpSp>
        <p:sp>
          <p:nvSpPr>
            <p:cNvPr id="197" name="Line 197"/>
            <p:cNvSpPr/>
            <p:nvPr/>
          </p:nvSpPr>
          <p:spPr>
            <a:xfrm>
              <a:off x="4610100" y="2724150"/>
              <a:ext cx="9525" cy="952500"/>
            </a:xfrm>
            <a:custGeom>
              <a:avLst/>
              <a:gdLst/>
              <a:ahLst/>
              <a:cxnLst/>
              <a:rect l="l" t="t" r="r" b="b"/>
              <a:pathLst>
                <a:path w="9525" h="952500">
                  <a:moveTo>
                    <a:pt x="0" y="0"/>
                  </a:moveTo>
                  <a:lnTo>
                    <a:pt x="0" y="952500"/>
                  </a:lnTo>
                </a:path>
              </a:pathLst>
            </a:custGeom>
            <a:noFill/>
            <a:ln w="9525">
              <a:solidFill>
                <a:srgbClr val="D9E8C6"/>
              </a:solidFill>
            </a:ln>
          </p:spPr>
        </p:sp>
        <p:grpSp>
          <p:nvGrpSpPr>
            <p:cNvPr id="210" name="gr-token"/>
            <p:cNvGrpSpPr/>
            <p:nvPr/>
          </p:nvGrpSpPr>
          <p:grpSpPr>
            <a:xfrm>
              <a:off x="4724400" y="2723299"/>
              <a:ext cx="982725" cy="833098"/>
              <a:chOff x="4724400" y="2723299"/>
              <a:chExt cx="982725" cy="833098"/>
            </a:xfrm>
          </p:grpSpPr>
          <p:grpSp>
            <p:nvGrpSpPr>
              <p:cNvPr id="203" name="Group 203"/>
              <p:cNvGrpSpPr/>
              <p:nvPr/>
            </p:nvGrpSpPr>
            <p:grpSpPr>
              <a:xfrm>
                <a:off x="4724400" y="2723299"/>
                <a:ext cx="114300" cy="115151"/>
                <a:chOff x="4724400" y="2723299"/>
                <a:chExt cx="114300" cy="115151"/>
              </a:xfrm>
            </p:grpSpPr>
            <p:sp>
              <p:nvSpPr>
                <p:cNvPr id="198" name="Freeform 198"/>
                <p:cNvSpPr/>
                <p:nvPr/>
              </p:nvSpPr>
              <p:spPr>
                <a:xfrm>
                  <a:off x="4762500" y="277495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7C3B2F"/>
                  </a:solidFill>
                </a:ln>
              </p:spPr>
            </p:sp>
            <p:sp>
              <p:nvSpPr>
                <p:cNvPr id="199" name="Freeform 199"/>
                <p:cNvSpPr/>
                <p:nvPr/>
              </p:nvSpPr>
              <p:spPr>
                <a:xfrm>
                  <a:off x="4762500" y="279400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7C3B2F"/>
                  </a:solidFill>
                </a:ln>
              </p:spPr>
            </p:sp>
            <p:sp>
              <p:nvSpPr>
                <p:cNvPr id="200" name="Freeform 200"/>
                <p:cNvSpPr/>
                <p:nvPr/>
              </p:nvSpPr>
              <p:spPr>
                <a:xfrm>
                  <a:off x="4724400" y="272329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7C3B2F"/>
                  </a:solidFill>
                </a:ln>
              </p:spPr>
            </p:sp>
            <p:sp>
              <p:nvSpPr>
                <p:cNvPr id="201" name="Freeform 201"/>
                <p:cNvSpPr/>
                <p:nvPr/>
              </p:nvSpPr>
              <p:spPr>
                <a:xfrm>
                  <a:off x="4724400" y="274320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7C3B2F"/>
                  </a:solidFill>
                </a:ln>
              </p:spPr>
            </p:sp>
            <p:sp>
              <p:nvSpPr>
                <p:cNvPr id="202" name="Freeform 202"/>
                <p:cNvSpPr/>
                <p:nvPr/>
              </p:nvSpPr>
              <p:spPr>
                <a:xfrm>
                  <a:off x="4724400" y="2774950"/>
                  <a:ext cx="12700" cy="12700"/>
                </a:xfrm>
                <a:custGeom>
                  <a:avLst/>
                  <a:gdLst/>
                  <a:ahLst/>
                  <a:cxnLst/>
                  <a:rect l="l" t="t" r="r" b="b"/>
                  <a:pathLst>
                    <a:path w="12700" h="12700">
                      <a:moveTo>
                        <a:pt x="0" y="0"/>
                      </a:moveTo>
                      <a:cubicBezTo>
                        <a:pt x="0" y="5639"/>
                        <a:pt x="4902" y="9208"/>
                        <a:pt x="12700" y="12700"/>
                      </a:cubicBezTo>
                    </a:path>
                  </a:pathLst>
                </a:custGeom>
                <a:noFill/>
                <a:ln w="12700">
                  <a:solidFill>
                    <a:srgbClr val="7C3B2F"/>
                  </a:solidFill>
                </a:ln>
              </p:spPr>
            </p:sp>
          </p:grpSp>
          <p:sp>
            <p:nvSpPr>
              <p:cNvPr id="204" name="TextBox 204"/>
              <p:cNvSpPr txBox="1"/>
              <p:nvPr/>
            </p:nvSpPr>
            <p:spPr>
              <a:xfrm>
                <a:off x="4910138" y="2723436"/>
                <a:ext cx="796987"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Token 预算控制　</a:t>
                </a:r>
              </a:p>
            </p:txBody>
          </p:sp>
          <p:sp>
            <p:nvSpPr>
              <p:cNvPr id="205" name="TextBox 205"/>
              <p:cNvSpPr txBox="1"/>
              <p:nvPr/>
            </p:nvSpPr>
            <p:spPr>
              <a:xfrm>
                <a:off x="4910138" y="2853928"/>
                <a:ext cx="652327"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 xml:space="preserve">(Token Budget)　</a:t>
                </a:r>
              </a:p>
            </p:txBody>
          </p:sp>
          <p:sp>
            <p:nvSpPr>
              <p:cNvPr id="206" name="TextBox 206"/>
              <p:cNvSpPr txBox="1"/>
              <p:nvPr/>
            </p:nvSpPr>
            <p:spPr>
              <a:xfrm>
                <a:off x="4738688" y="30444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上下文压缩</a:t>
                </a:r>
              </a:p>
            </p:txBody>
          </p:sp>
          <p:sp>
            <p:nvSpPr>
              <p:cNvPr id="207" name="TextBox 207"/>
              <p:cNvSpPr txBox="1"/>
              <p:nvPr/>
            </p:nvSpPr>
            <p:spPr>
              <a:xfrm>
                <a:off x="4738688" y="31777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截断策略</a:t>
                </a:r>
              </a:p>
            </p:txBody>
          </p:sp>
          <p:sp>
            <p:nvSpPr>
              <p:cNvPr id="208" name="TextBox 208"/>
              <p:cNvSpPr txBox="1"/>
              <p:nvPr/>
            </p:nvSpPr>
            <p:spPr>
              <a:xfrm>
                <a:off x="4738688" y="33111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优先级分配</a:t>
                </a:r>
              </a:p>
            </p:txBody>
          </p:sp>
          <p:sp>
            <p:nvSpPr>
              <p:cNvPr id="209" name="TextBox 209"/>
              <p:cNvSpPr txBox="1"/>
              <p:nvPr/>
            </p:nvSpPr>
            <p:spPr>
              <a:xfrm>
                <a:off x="4738688" y="34444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成本预估</a:t>
                </a:r>
              </a:p>
            </p:txBody>
          </p:sp>
        </p:grpSp>
        <p:sp>
          <p:nvSpPr>
            <p:cNvPr id="211" name="Line 211"/>
            <p:cNvSpPr/>
            <p:nvPr/>
          </p:nvSpPr>
          <p:spPr>
            <a:xfrm>
              <a:off x="6057900" y="2724150"/>
              <a:ext cx="9525" cy="952500"/>
            </a:xfrm>
            <a:custGeom>
              <a:avLst/>
              <a:gdLst/>
              <a:ahLst/>
              <a:cxnLst/>
              <a:rect l="l" t="t" r="r" b="b"/>
              <a:pathLst>
                <a:path w="9525" h="952500">
                  <a:moveTo>
                    <a:pt x="0" y="0"/>
                  </a:moveTo>
                  <a:lnTo>
                    <a:pt x="0" y="952500"/>
                  </a:lnTo>
                </a:path>
              </a:pathLst>
            </a:custGeom>
            <a:noFill/>
            <a:ln w="9525">
              <a:solidFill>
                <a:srgbClr val="D9E8C6"/>
              </a:solidFill>
            </a:ln>
          </p:spPr>
        </p:sp>
        <p:grpSp>
          <p:nvGrpSpPr>
            <p:cNvPr id="223" name="gr-fallback"/>
            <p:cNvGrpSpPr/>
            <p:nvPr/>
          </p:nvGrpSpPr>
          <p:grpSpPr>
            <a:xfrm>
              <a:off x="6172200" y="2723436"/>
              <a:ext cx="650253" cy="832961"/>
              <a:chOff x="6172200" y="2723436"/>
              <a:chExt cx="650253" cy="832961"/>
            </a:xfrm>
          </p:grpSpPr>
          <p:grpSp>
            <p:nvGrpSpPr>
              <p:cNvPr id="216" name="Group 216"/>
              <p:cNvGrpSpPr/>
              <p:nvPr/>
            </p:nvGrpSpPr>
            <p:grpSpPr>
              <a:xfrm>
                <a:off x="6172200" y="2730500"/>
                <a:ext cx="114300" cy="101600"/>
                <a:chOff x="6172200" y="2730500"/>
                <a:chExt cx="114300" cy="101600"/>
              </a:xfrm>
            </p:grpSpPr>
            <p:sp>
              <p:nvSpPr>
                <p:cNvPr id="212" name="Freeform 212"/>
                <p:cNvSpPr/>
                <p:nvPr/>
              </p:nvSpPr>
              <p:spPr>
                <a:xfrm>
                  <a:off x="6172200" y="2749550"/>
                  <a:ext cx="114300" cy="9525"/>
                </a:xfrm>
                <a:custGeom>
                  <a:avLst/>
                  <a:gdLst/>
                  <a:ahLst/>
                  <a:cxnLst/>
                  <a:rect l="l" t="t" r="r" b="b"/>
                  <a:pathLst>
                    <a:path w="114300" h="9525">
                      <a:moveTo>
                        <a:pt x="114300" y="0"/>
                      </a:moveTo>
                      <a:lnTo>
                        <a:pt x="0" y="0"/>
                      </a:lnTo>
                    </a:path>
                  </a:pathLst>
                </a:custGeom>
                <a:noFill/>
                <a:ln w="12700">
                  <a:solidFill>
                    <a:srgbClr val="7C3B2F"/>
                  </a:solidFill>
                </a:ln>
              </p:spPr>
            </p:sp>
            <p:sp>
              <p:nvSpPr>
                <p:cNvPr id="213" name="Freeform 213"/>
                <p:cNvSpPr/>
                <p:nvPr/>
              </p:nvSpPr>
              <p:spPr>
                <a:xfrm>
                  <a:off x="6267450" y="2730500"/>
                  <a:ext cx="19050" cy="38100"/>
                </a:xfrm>
                <a:custGeom>
                  <a:avLst/>
                  <a:gdLst/>
                  <a:ahLst/>
                  <a:cxnLst/>
                  <a:rect l="l" t="t" r="r" b="b"/>
                  <a:pathLst>
                    <a:path w="19050" h="38100">
                      <a:moveTo>
                        <a:pt x="0" y="38100"/>
                      </a:moveTo>
                      <a:lnTo>
                        <a:pt x="19050" y="19050"/>
                      </a:lnTo>
                      <a:lnTo>
                        <a:pt x="0" y="0"/>
                      </a:lnTo>
                    </a:path>
                  </a:pathLst>
                </a:custGeom>
                <a:noFill/>
                <a:ln w="12700">
                  <a:solidFill>
                    <a:srgbClr val="7C3B2F"/>
                  </a:solidFill>
                </a:ln>
              </p:spPr>
            </p:sp>
            <p:sp>
              <p:nvSpPr>
                <p:cNvPr id="214" name="Freeform 214"/>
                <p:cNvSpPr/>
                <p:nvPr/>
              </p:nvSpPr>
              <p:spPr>
                <a:xfrm>
                  <a:off x="6172200" y="2794000"/>
                  <a:ext cx="19050" cy="38100"/>
                </a:xfrm>
                <a:custGeom>
                  <a:avLst/>
                  <a:gdLst/>
                  <a:ahLst/>
                  <a:cxnLst/>
                  <a:rect l="l" t="t" r="r" b="b"/>
                  <a:pathLst>
                    <a:path w="19050" h="38100">
                      <a:moveTo>
                        <a:pt x="19050" y="38100"/>
                      </a:moveTo>
                      <a:lnTo>
                        <a:pt x="0" y="19050"/>
                      </a:lnTo>
                      <a:lnTo>
                        <a:pt x="19050" y="0"/>
                      </a:lnTo>
                    </a:path>
                  </a:pathLst>
                </a:custGeom>
                <a:noFill/>
                <a:ln w="12700">
                  <a:solidFill>
                    <a:srgbClr val="7C3B2F"/>
                  </a:solidFill>
                </a:ln>
              </p:spPr>
            </p:sp>
            <p:sp>
              <p:nvSpPr>
                <p:cNvPr id="215" name="Freeform 215"/>
                <p:cNvSpPr/>
                <p:nvPr/>
              </p:nvSpPr>
              <p:spPr>
                <a:xfrm>
                  <a:off x="6172200" y="2813050"/>
                  <a:ext cx="114300" cy="9525"/>
                </a:xfrm>
                <a:custGeom>
                  <a:avLst/>
                  <a:gdLst/>
                  <a:ahLst/>
                  <a:cxnLst/>
                  <a:rect l="l" t="t" r="r" b="b"/>
                  <a:pathLst>
                    <a:path w="114300" h="9525">
                      <a:moveTo>
                        <a:pt x="0" y="0"/>
                      </a:moveTo>
                      <a:lnTo>
                        <a:pt x="114300" y="0"/>
                      </a:lnTo>
                    </a:path>
                  </a:pathLst>
                </a:custGeom>
                <a:noFill/>
                <a:ln w="12700">
                  <a:solidFill>
                    <a:srgbClr val="7C3B2F"/>
                  </a:solidFill>
                </a:ln>
              </p:spPr>
            </p:sp>
          </p:grpSp>
          <p:sp>
            <p:nvSpPr>
              <p:cNvPr id="217" name="TextBox 217"/>
              <p:cNvSpPr txBox="1"/>
              <p:nvPr/>
            </p:nvSpPr>
            <p:spPr>
              <a:xfrm>
                <a:off x="6357938" y="2723436"/>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兜底策略</a:t>
                </a:r>
              </a:p>
            </p:txBody>
          </p:sp>
          <p:sp>
            <p:nvSpPr>
              <p:cNvPr id="218" name="TextBox 218"/>
              <p:cNvSpPr txBox="1"/>
              <p:nvPr/>
            </p:nvSpPr>
            <p:spPr>
              <a:xfrm>
                <a:off x="6357938" y="2853928"/>
                <a:ext cx="46451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 xml:space="preserve">(Fallback)　</a:t>
                </a:r>
              </a:p>
            </p:txBody>
          </p:sp>
          <p:sp>
            <p:nvSpPr>
              <p:cNvPr id="219" name="TextBox 219"/>
              <p:cNvSpPr txBox="1"/>
              <p:nvPr/>
            </p:nvSpPr>
            <p:spPr>
              <a:xfrm>
                <a:off x="6186488" y="30444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无检索结果</a:t>
                </a:r>
              </a:p>
            </p:txBody>
          </p:sp>
          <p:sp>
            <p:nvSpPr>
              <p:cNvPr id="220" name="TextBox 220"/>
              <p:cNvSpPr txBox="1"/>
              <p:nvPr/>
            </p:nvSpPr>
            <p:spPr>
              <a:xfrm>
                <a:off x="6186488" y="31777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低置信度</a:t>
                </a:r>
              </a:p>
            </p:txBody>
          </p:sp>
          <p:sp>
            <p:nvSpPr>
              <p:cNvPr id="221" name="TextBox 221"/>
              <p:cNvSpPr txBox="1"/>
              <p:nvPr/>
            </p:nvSpPr>
            <p:spPr>
              <a:xfrm>
                <a:off x="6186488" y="331112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模型降级</a:t>
                </a:r>
              </a:p>
            </p:txBody>
          </p:sp>
          <p:sp>
            <p:nvSpPr>
              <p:cNvPr id="222" name="TextBox 222"/>
              <p:cNvSpPr txBox="1"/>
              <p:nvPr/>
            </p:nvSpPr>
            <p:spPr>
              <a:xfrm>
                <a:off x="6186488" y="34444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降级应答</a:t>
                </a:r>
              </a:p>
            </p:txBody>
          </p:sp>
        </p:grpSp>
        <p:grpSp>
          <p:nvGrpSpPr>
            <p:cNvPr id="237" name="gr-grounded"/>
            <p:cNvGrpSpPr/>
            <p:nvPr/>
          </p:nvGrpSpPr>
          <p:grpSpPr>
            <a:xfrm>
              <a:off x="7581900" y="2686050"/>
              <a:ext cx="1295400" cy="1028700"/>
              <a:chOff x="7581900" y="2686050"/>
              <a:chExt cx="1295400" cy="1028700"/>
            </a:xfrm>
          </p:grpSpPr>
          <p:sp>
            <p:nvSpPr>
              <p:cNvPr id="224" name="Rectangle 224"/>
              <p:cNvSpPr/>
              <p:nvPr/>
            </p:nvSpPr>
            <p:spPr>
              <a:xfrm>
                <a:off x="7581900" y="2686050"/>
                <a:ext cx="1295400" cy="1028700"/>
              </a:xfrm>
              <a:prstGeom prst="roundRect">
                <a:avLst>
                  <a:gd name="adj" fmla="val 7407"/>
                </a:avLst>
              </a:prstGeom>
              <a:solidFill>
                <a:srgbClr val="E7F2D8"/>
              </a:solidFill>
              <a:ln w="9525">
                <a:solidFill>
                  <a:srgbClr val="BE776A"/>
                </a:solidFill>
              </a:ln>
            </p:spPr>
          </p:sp>
          <p:grpSp>
            <p:nvGrpSpPr>
              <p:cNvPr id="230" name="Group 230"/>
              <p:cNvGrpSpPr/>
              <p:nvPr/>
            </p:nvGrpSpPr>
            <p:grpSpPr>
              <a:xfrm>
                <a:off x="7708900" y="2781300"/>
                <a:ext cx="88900" cy="114300"/>
                <a:chOff x="7708900" y="2781300"/>
                <a:chExt cx="88900" cy="114300"/>
              </a:xfrm>
            </p:grpSpPr>
            <p:sp>
              <p:nvSpPr>
                <p:cNvPr id="225" name="Freeform 225"/>
                <p:cNvSpPr/>
                <p:nvPr/>
              </p:nvSpPr>
              <p:spPr>
                <a:xfrm>
                  <a:off x="7766050" y="27813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7C3B2F"/>
                  </a:solidFill>
                </a:ln>
              </p:spPr>
            </p:sp>
            <p:sp>
              <p:nvSpPr>
                <p:cNvPr id="226" name="Freeform 226"/>
                <p:cNvSpPr/>
                <p:nvPr/>
              </p:nvSpPr>
              <p:spPr>
                <a:xfrm>
                  <a:off x="7708900" y="27813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7C3B2F"/>
                  </a:solidFill>
                </a:ln>
              </p:spPr>
            </p:sp>
            <p:sp>
              <p:nvSpPr>
                <p:cNvPr id="227" name="Freeform 227"/>
                <p:cNvSpPr/>
                <p:nvPr/>
              </p:nvSpPr>
              <p:spPr>
                <a:xfrm>
                  <a:off x="7734300" y="2819400"/>
                  <a:ext cx="9525" cy="9525"/>
                </a:xfrm>
                <a:custGeom>
                  <a:avLst/>
                  <a:gdLst/>
                  <a:ahLst/>
                  <a:cxnLst/>
                  <a:rect l="l" t="t" r="r" b="b"/>
                  <a:pathLst>
                    <a:path w="9525" h="9525">
                      <a:moveTo>
                        <a:pt x="0" y="0"/>
                      </a:moveTo>
                      <a:lnTo>
                        <a:pt x="6350" y="0"/>
                      </a:lnTo>
                    </a:path>
                  </a:pathLst>
                </a:custGeom>
                <a:noFill/>
                <a:ln w="12700">
                  <a:solidFill>
                    <a:srgbClr val="7C3B2F"/>
                  </a:solidFill>
                </a:ln>
              </p:spPr>
            </p:sp>
            <p:sp>
              <p:nvSpPr>
                <p:cNvPr id="228" name="Freeform 228"/>
                <p:cNvSpPr/>
                <p:nvPr/>
              </p:nvSpPr>
              <p:spPr>
                <a:xfrm>
                  <a:off x="7734300" y="2844800"/>
                  <a:ext cx="38100" cy="9525"/>
                </a:xfrm>
                <a:custGeom>
                  <a:avLst/>
                  <a:gdLst/>
                  <a:ahLst/>
                  <a:cxnLst/>
                  <a:rect l="l" t="t" r="r" b="b"/>
                  <a:pathLst>
                    <a:path w="38100" h="9525">
                      <a:moveTo>
                        <a:pt x="0" y="0"/>
                      </a:moveTo>
                      <a:lnTo>
                        <a:pt x="38100" y="0"/>
                      </a:lnTo>
                    </a:path>
                  </a:pathLst>
                </a:custGeom>
                <a:noFill/>
                <a:ln w="12700">
                  <a:solidFill>
                    <a:srgbClr val="7C3B2F"/>
                  </a:solidFill>
                </a:ln>
              </p:spPr>
            </p:sp>
            <p:sp>
              <p:nvSpPr>
                <p:cNvPr id="229" name="Freeform 229"/>
                <p:cNvSpPr/>
                <p:nvPr/>
              </p:nvSpPr>
              <p:spPr>
                <a:xfrm>
                  <a:off x="7734300" y="2870200"/>
                  <a:ext cx="38100" cy="9525"/>
                </a:xfrm>
                <a:custGeom>
                  <a:avLst/>
                  <a:gdLst/>
                  <a:ahLst/>
                  <a:cxnLst/>
                  <a:rect l="l" t="t" r="r" b="b"/>
                  <a:pathLst>
                    <a:path w="38100" h="9525">
                      <a:moveTo>
                        <a:pt x="0" y="0"/>
                      </a:moveTo>
                      <a:lnTo>
                        <a:pt x="38100" y="0"/>
                      </a:lnTo>
                    </a:path>
                  </a:pathLst>
                </a:custGeom>
                <a:noFill/>
                <a:ln w="12700">
                  <a:solidFill>
                    <a:srgbClr val="7C3B2F"/>
                  </a:solidFill>
                </a:ln>
              </p:spPr>
            </p:sp>
          </p:grpSp>
          <p:sp>
            <p:nvSpPr>
              <p:cNvPr id="231" name="TextBox 231"/>
              <p:cNvSpPr txBox="1"/>
              <p:nvPr/>
            </p:nvSpPr>
            <p:spPr>
              <a:xfrm>
                <a:off x="7881938" y="2780586"/>
                <a:ext cx="58300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有依据的回答</a:t>
                </a:r>
              </a:p>
            </p:txBody>
          </p:sp>
          <p:sp>
            <p:nvSpPr>
              <p:cNvPr id="232" name="TextBox 232"/>
              <p:cNvSpPr txBox="1"/>
              <p:nvPr/>
            </p:nvSpPr>
            <p:spPr>
              <a:xfrm>
                <a:off x="7881938" y="2911078"/>
                <a:ext cx="386461"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（含引用）</a:t>
                </a:r>
              </a:p>
            </p:txBody>
          </p:sp>
          <p:sp>
            <p:nvSpPr>
              <p:cNvPr id="233" name="TextBox 233"/>
              <p:cNvSpPr txBox="1"/>
              <p:nvPr/>
            </p:nvSpPr>
            <p:spPr>
              <a:xfrm>
                <a:off x="7691438" y="31015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直接回答</a:t>
                </a:r>
              </a:p>
            </p:txBody>
          </p:sp>
          <p:sp>
            <p:nvSpPr>
              <p:cNvPr id="234" name="TextBox 234"/>
              <p:cNvSpPr txBox="1"/>
              <p:nvPr/>
            </p:nvSpPr>
            <p:spPr>
              <a:xfrm>
                <a:off x="7691438" y="32349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依据与来源</a:t>
                </a:r>
              </a:p>
            </p:txBody>
          </p:sp>
          <p:sp>
            <p:nvSpPr>
              <p:cNvPr id="235" name="TextBox 235"/>
              <p:cNvSpPr txBox="1"/>
              <p:nvPr/>
            </p:nvSpPr>
            <p:spPr>
              <a:xfrm>
                <a:off x="7691438" y="336827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适用范围</a:t>
                </a:r>
              </a:p>
            </p:txBody>
          </p:sp>
          <p:sp>
            <p:nvSpPr>
              <p:cNvPr id="236" name="TextBox 236"/>
              <p:cNvSpPr txBox="1"/>
              <p:nvPr/>
            </p:nvSpPr>
            <p:spPr>
              <a:xfrm>
                <a:off x="7691438" y="3501628"/>
                <a:ext cx="3872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置信提示</a:t>
                </a:r>
              </a:p>
            </p:txBody>
          </p:sp>
        </p:grpSp>
      </p:grpSp>
      <p:sp>
        <p:nvSpPr>
          <p:cNvPr id="239" name="Line 239"/>
          <p:cNvSpPr/>
          <p:nvPr/>
        </p:nvSpPr>
        <p:spPr>
          <a:xfrm>
            <a:off x="8229600" y="2476500"/>
            <a:ext cx="1" cy="190500"/>
          </a:xfrm>
          <a:prstGeom prst="line">
            <a:avLst/>
          </a:prstGeom>
          <a:noFill/>
          <a:ln w="14288">
            <a:solidFill>
              <a:srgbClr val="9A4B3C"/>
            </a:solidFill>
            <a:custDash>
              <a:ds d="200000" sp="200000"/>
            </a:custDash>
            <a:tailEnd type="arrow" w="lg" len="lg"/>
          </a:ln>
        </p:spPr>
      </p:sp>
      <p:sp>
        <p:nvSpPr>
          <p:cNvPr id="240" name="Line 240"/>
          <p:cNvSpPr/>
          <p:nvPr/>
        </p:nvSpPr>
        <p:spPr>
          <a:xfrm>
            <a:off x="8896350" y="3200400"/>
            <a:ext cx="114300" cy="1"/>
          </a:xfrm>
          <a:prstGeom prst="line">
            <a:avLst/>
          </a:prstGeom>
          <a:noFill/>
          <a:ln w="14288">
            <a:solidFill>
              <a:srgbClr val="9A4B3C"/>
            </a:solidFill>
            <a:tailEnd type="arrow" w="lg" len="lg"/>
          </a:ln>
        </p:spPr>
      </p:sp>
      <p:grpSp>
        <p:nvGrpSpPr>
          <p:cNvPr id="312" name="compare-table"/>
          <p:cNvGrpSpPr/>
          <p:nvPr/>
        </p:nvGrpSpPr>
        <p:grpSpPr>
          <a:xfrm>
            <a:off x="228600" y="3924300"/>
            <a:ext cx="8724900" cy="1781175"/>
            <a:chOff x="228600" y="3924300"/>
            <a:chExt cx="8724900" cy="1781175"/>
          </a:xfrm>
        </p:grpSpPr>
        <p:sp>
          <p:nvSpPr>
            <p:cNvPr id="241" name="Rectangle 241"/>
            <p:cNvSpPr/>
            <p:nvPr/>
          </p:nvSpPr>
          <p:spPr>
            <a:xfrm>
              <a:off x="228600" y="3924300"/>
              <a:ext cx="1581150" cy="247650"/>
            </a:xfrm>
            <a:prstGeom prst="roundRect">
              <a:avLst>
                <a:gd name="adj" fmla="val 23077"/>
              </a:avLst>
            </a:prstGeom>
            <a:solidFill>
              <a:srgbClr val="42140B"/>
            </a:solidFill>
            <a:ln>
              <a:noFill/>
            </a:ln>
          </p:spPr>
        </p:sp>
        <p:sp>
          <p:nvSpPr>
            <p:cNvPr id="242" name="Rectangle 242"/>
            <p:cNvSpPr/>
            <p:nvPr/>
          </p:nvSpPr>
          <p:spPr>
            <a:xfrm>
              <a:off x="323850" y="3924300"/>
              <a:ext cx="1485900" cy="247650"/>
            </a:xfrm>
            <a:prstGeom prst="rect">
              <a:avLst/>
            </a:prstGeom>
            <a:solidFill>
              <a:srgbClr val="42140B"/>
            </a:solidFill>
            <a:ln>
              <a:noFill/>
            </a:ln>
          </p:spPr>
        </p:sp>
        <p:sp>
          <p:nvSpPr>
            <p:cNvPr id="243" name="TextBox 243"/>
            <p:cNvSpPr txBox="1"/>
            <p:nvPr/>
          </p:nvSpPr>
          <p:spPr>
            <a:xfrm>
              <a:off x="908063" y="40107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维度</a:t>
              </a:r>
            </a:p>
          </p:txBody>
        </p:sp>
        <p:sp>
          <p:nvSpPr>
            <p:cNvPr id="244" name="Rectangle 244"/>
            <p:cNvSpPr/>
            <p:nvPr/>
          </p:nvSpPr>
          <p:spPr>
            <a:xfrm>
              <a:off x="1809750" y="3924300"/>
              <a:ext cx="3333750" cy="247650"/>
            </a:xfrm>
            <a:prstGeom prst="rect">
              <a:avLst/>
            </a:prstGeom>
            <a:solidFill>
              <a:srgbClr val="643228"/>
            </a:solidFill>
            <a:ln>
              <a:noFill/>
            </a:ln>
          </p:spPr>
        </p:sp>
        <p:sp>
          <p:nvSpPr>
            <p:cNvPr id="245" name="TextBox 245"/>
            <p:cNvSpPr txBox="1"/>
            <p:nvPr/>
          </p:nvSpPr>
          <p:spPr>
            <a:xfrm>
              <a:off x="2853156" y="4010739"/>
              <a:ext cx="1246938"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 xml:space="preserve">Basic RAG（基础RAG）　</a:t>
              </a:r>
            </a:p>
          </p:txBody>
        </p:sp>
        <p:sp>
          <p:nvSpPr>
            <p:cNvPr id="246" name="Rectangle 246"/>
            <p:cNvSpPr/>
            <p:nvPr/>
          </p:nvSpPr>
          <p:spPr>
            <a:xfrm>
              <a:off x="5143500" y="3924300"/>
              <a:ext cx="3810000" cy="247650"/>
            </a:xfrm>
            <a:prstGeom prst="roundRect">
              <a:avLst>
                <a:gd name="adj" fmla="val 23077"/>
              </a:avLst>
            </a:prstGeom>
            <a:solidFill>
              <a:srgbClr val="42140B"/>
            </a:solidFill>
            <a:ln>
              <a:noFill/>
            </a:ln>
          </p:spPr>
        </p:sp>
        <p:sp>
          <p:nvSpPr>
            <p:cNvPr id="247" name="Rectangle 247"/>
            <p:cNvSpPr/>
            <p:nvPr/>
          </p:nvSpPr>
          <p:spPr>
            <a:xfrm>
              <a:off x="5143500" y="3924300"/>
              <a:ext cx="3714750" cy="247650"/>
            </a:xfrm>
            <a:prstGeom prst="rect">
              <a:avLst/>
            </a:prstGeom>
            <a:solidFill>
              <a:srgbClr val="42140B"/>
            </a:solidFill>
            <a:ln>
              <a:noFill/>
            </a:ln>
          </p:spPr>
        </p:sp>
        <p:sp>
          <p:nvSpPr>
            <p:cNvPr id="248" name="TextBox 248"/>
            <p:cNvSpPr txBox="1"/>
            <p:nvPr/>
          </p:nvSpPr>
          <p:spPr>
            <a:xfrm>
              <a:off x="6218344" y="4010739"/>
              <a:ext cx="166031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 xml:space="preserve">Enterprise RAG（企业级RAG）　</a:t>
              </a:r>
            </a:p>
          </p:txBody>
        </p:sp>
        <p:grpSp>
          <p:nvGrpSpPr>
            <p:cNvPr id="259" name="cmp-row-1"/>
            <p:cNvGrpSpPr/>
            <p:nvPr/>
          </p:nvGrpSpPr>
          <p:grpSpPr>
            <a:xfrm>
              <a:off x="228600" y="4171950"/>
              <a:ext cx="8724900" cy="304800"/>
              <a:chOff x="228600" y="4171950"/>
              <a:chExt cx="8724900" cy="304800"/>
            </a:xfrm>
          </p:grpSpPr>
          <p:sp>
            <p:nvSpPr>
              <p:cNvPr id="249" name="Rectangle 249"/>
              <p:cNvSpPr/>
              <p:nvPr/>
            </p:nvSpPr>
            <p:spPr>
              <a:xfrm>
                <a:off x="228600" y="4171950"/>
                <a:ext cx="8724900" cy="304800"/>
              </a:xfrm>
              <a:prstGeom prst="rect">
                <a:avLst/>
              </a:prstGeom>
              <a:solidFill>
                <a:srgbClr val="FFFFFF"/>
              </a:solidFill>
              <a:ln>
                <a:noFill/>
              </a:ln>
            </p:spPr>
          </p:sp>
          <p:grpSp>
            <p:nvGrpSpPr>
              <p:cNvPr id="252" name="Group 252"/>
              <p:cNvGrpSpPr/>
              <p:nvPr/>
            </p:nvGrpSpPr>
            <p:grpSpPr>
              <a:xfrm>
                <a:off x="340519" y="4274344"/>
                <a:ext cx="100012" cy="100012"/>
                <a:chOff x="340519" y="4274344"/>
                <a:chExt cx="100012" cy="100012"/>
              </a:xfrm>
            </p:grpSpPr>
            <p:sp>
              <p:nvSpPr>
                <p:cNvPr id="250" name="Freeform 250"/>
                <p:cNvSpPr/>
                <p:nvPr/>
              </p:nvSpPr>
              <p:spPr>
                <a:xfrm>
                  <a:off x="340519" y="4274344"/>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7C3B2F"/>
                  </a:solidFill>
                </a:ln>
              </p:spPr>
            </p:sp>
            <p:sp>
              <p:nvSpPr>
                <p:cNvPr id="251" name="Freeform 251"/>
                <p:cNvSpPr/>
                <p:nvPr/>
              </p:nvSpPr>
              <p:spPr>
                <a:xfrm>
                  <a:off x="407194" y="4341019"/>
                  <a:ext cx="33337" cy="33337"/>
                </a:xfrm>
                <a:custGeom>
                  <a:avLst/>
                  <a:gdLst/>
                  <a:ahLst/>
                  <a:cxnLst/>
                  <a:rect l="l" t="t" r="r" b="b"/>
                  <a:pathLst>
                    <a:path w="33337" h="33337">
                      <a:moveTo>
                        <a:pt x="33337" y="33337"/>
                      </a:moveTo>
                      <a:lnTo>
                        <a:pt x="0" y="0"/>
                      </a:lnTo>
                    </a:path>
                  </a:pathLst>
                </a:custGeom>
                <a:noFill/>
                <a:ln w="11112">
                  <a:solidFill>
                    <a:srgbClr val="7C3B2F"/>
                  </a:solidFill>
                </a:ln>
              </p:spPr>
            </p:sp>
          </p:grpSp>
          <p:sp>
            <p:nvSpPr>
              <p:cNvPr id="253" name="TextBox 253"/>
              <p:cNvSpPr txBox="1"/>
              <p:nvPr/>
            </p:nvSpPr>
            <p:spPr>
              <a:xfrm>
                <a:off x="528638" y="4281488"/>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检索能力</a:t>
                </a:r>
              </a:p>
            </p:txBody>
          </p:sp>
          <p:sp>
            <p:nvSpPr>
              <p:cNvPr id="254" name="TextBox 254"/>
              <p:cNvSpPr txBox="1"/>
              <p:nvPr/>
            </p:nvSpPr>
            <p:spPr>
              <a:xfrm>
                <a:off x="1881188" y="4297680"/>
                <a:ext cx="1867281"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单一向量检索，依赖语义相似度；召回有限，易漏检</a:t>
                </a:r>
              </a:p>
            </p:txBody>
          </p:sp>
          <p:grpSp>
            <p:nvGrpSpPr>
              <p:cNvPr id="257" name="Group 257"/>
              <p:cNvGrpSpPr/>
              <p:nvPr/>
            </p:nvGrpSpPr>
            <p:grpSpPr>
              <a:xfrm>
                <a:off x="5233988" y="4281488"/>
                <a:ext cx="85725" cy="85725"/>
                <a:chOff x="5233988" y="4281488"/>
                <a:chExt cx="85725" cy="85725"/>
              </a:xfrm>
            </p:grpSpPr>
            <p:sp>
              <p:nvSpPr>
                <p:cNvPr id="255" name="Freeform 255"/>
                <p:cNvSpPr/>
                <p:nvPr/>
              </p:nvSpPr>
              <p:spPr>
                <a:xfrm>
                  <a:off x="5233988" y="42814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7C3B2F"/>
                  </a:solidFill>
                </a:ln>
              </p:spPr>
            </p:sp>
            <p:sp>
              <p:nvSpPr>
                <p:cNvPr id="256" name="Freeform 256"/>
                <p:cNvSpPr/>
                <p:nvPr/>
              </p:nvSpPr>
              <p:spPr>
                <a:xfrm>
                  <a:off x="5262562" y="4314825"/>
                  <a:ext cx="28575" cy="19050"/>
                </a:xfrm>
                <a:custGeom>
                  <a:avLst/>
                  <a:gdLst/>
                  <a:ahLst/>
                  <a:cxnLst/>
                  <a:rect l="l" t="t" r="r" b="b"/>
                  <a:pathLst>
                    <a:path w="28575" h="19050">
                      <a:moveTo>
                        <a:pt x="0" y="9525"/>
                      </a:moveTo>
                      <a:lnTo>
                        <a:pt x="9525" y="19050"/>
                      </a:lnTo>
                      <a:lnTo>
                        <a:pt x="28575" y="0"/>
                      </a:lnTo>
                    </a:path>
                  </a:pathLst>
                </a:custGeom>
                <a:noFill/>
                <a:ln w="9525">
                  <a:solidFill>
                    <a:srgbClr val="7C3B2F"/>
                  </a:solidFill>
                </a:ln>
              </p:spPr>
            </p:sp>
          </p:grpSp>
          <p:sp>
            <p:nvSpPr>
              <p:cNvPr id="258" name="TextBox 258"/>
              <p:cNvSpPr txBox="1"/>
              <p:nvPr/>
            </p:nvSpPr>
            <p:spPr>
              <a:xfrm>
                <a:off x="5386388" y="4297680"/>
                <a:ext cx="2832506" cy="119062"/>
              </a:xfrm>
              <a:prstGeom prst="rect">
                <a:avLst/>
              </a:prstGeom>
              <a:noFill/>
              <a:ln>
                <a:noFill/>
              </a:ln>
            </p:spPr>
            <p:txBody>
              <a:bodyPr wrap="none" lIns="0" tIns="0" rIns="0" bIns="0" anchor="t" anchorCtr="0">
                <a:spAutoFit/>
              </a:bodyPr>
              <a:lstStyle/>
              <a:p>
                <a:pPr algn="l"/>
                <a:r>
                  <a:rPr lang="zh-CN" sz="600" dirty="0">
                    <a:solidFill>
                      <a:srgbClr val="643228"/>
                    </a:solidFill>
                    <a:latin typeface="+mn-lt"/>
                    <a:ea typeface="+mn-ea"/>
                    <a:cs typeface="+mn-cs"/>
                  </a:rPr>
                  <a:t>混合检索（关键词+向量+图谱）+ 重排序；更高召回与相关性，覆盖长尾与别名</a:t>
                </a:r>
              </a:p>
            </p:txBody>
          </p:sp>
        </p:grpSp>
        <p:grpSp>
          <p:nvGrpSpPr>
            <p:cNvPr id="271" name="cmp-row-2"/>
            <p:cNvGrpSpPr/>
            <p:nvPr/>
          </p:nvGrpSpPr>
          <p:grpSpPr>
            <a:xfrm>
              <a:off x="228600" y="4476750"/>
              <a:ext cx="8724900" cy="304800"/>
              <a:chOff x="228600" y="4476750"/>
              <a:chExt cx="8724900" cy="304800"/>
            </a:xfrm>
          </p:grpSpPr>
          <p:sp>
            <p:nvSpPr>
              <p:cNvPr id="260" name="Rectangle 260"/>
              <p:cNvSpPr/>
              <p:nvPr/>
            </p:nvSpPr>
            <p:spPr>
              <a:xfrm>
                <a:off x="228600" y="4476750"/>
                <a:ext cx="8724900" cy="304800"/>
              </a:xfrm>
              <a:prstGeom prst="rect">
                <a:avLst/>
              </a:prstGeom>
              <a:solidFill>
                <a:srgbClr val="F4F8EC"/>
              </a:solidFill>
              <a:ln>
                <a:noFill/>
              </a:ln>
            </p:spPr>
          </p:sp>
          <p:grpSp>
            <p:nvGrpSpPr>
              <p:cNvPr id="264" name="Group 264"/>
              <p:cNvGrpSpPr/>
              <p:nvPr/>
            </p:nvGrpSpPr>
            <p:grpSpPr>
              <a:xfrm>
                <a:off x="351631" y="4579144"/>
                <a:ext cx="77787" cy="100012"/>
                <a:chOff x="351631" y="4579144"/>
                <a:chExt cx="77787" cy="100012"/>
              </a:xfrm>
            </p:grpSpPr>
            <p:sp>
              <p:nvSpPr>
                <p:cNvPr id="261" name="Freeform 261"/>
                <p:cNvSpPr/>
                <p:nvPr/>
              </p:nvSpPr>
              <p:spPr>
                <a:xfrm>
                  <a:off x="351631" y="4623594"/>
                  <a:ext cx="77787" cy="55562"/>
                </a:xfrm>
                <a:custGeom>
                  <a:avLst/>
                  <a:gdLst/>
                  <a:ahLst/>
                  <a:cxnLst/>
                  <a:rect l="l" t="t" r="r" b="b"/>
                  <a:pathLst>
                    <a:path w="77787" h="55562">
                      <a:moveTo>
                        <a:pt x="0" y="11112"/>
                      </a:moveTo>
                      <a:cubicBezTo>
                        <a:pt x="0" y="4975"/>
                        <a:pt x="4975" y="0"/>
                        <a:pt x="11112" y="0"/>
                      </a:cubicBezTo>
                      <a:lnTo>
                        <a:pt x="66675" y="0"/>
                      </a:lnTo>
                      <a:cubicBezTo>
                        <a:pt x="72812" y="0"/>
                        <a:pt x="77787" y="4975"/>
                        <a:pt x="77787" y="11112"/>
                      </a:cubicBezTo>
                      <a:lnTo>
                        <a:pt x="77787" y="44450"/>
                      </a:lnTo>
                      <a:cubicBezTo>
                        <a:pt x="77787" y="50587"/>
                        <a:pt x="72812" y="55562"/>
                        <a:pt x="66675" y="55562"/>
                      </a:cubicBezTo>
                      <a:lnTo>
                        <a:pt x="11112" y="55562"/>
                      </a:lnTo>
                      <a:cubicBezTo>
                        <a:pt x="4975" y="55562"/>
                        <a:pt x="0" y="50587"/>
                        <a:pt x="0" y="44450"/>
                      </a:cubicBezTo>
                      <a:lnTo>
                        <a:pt x="0" y="11112"/>
                      </a:lnTo>
                    </a:path>
                  </a:pathLst>
                </a:custGeom>
                <a:noFill/>
                <a:ln w="11112">
                  <a:solidFill>
                    <a:srgbClr val="7C3B2F"/>
                  </a:solidFill>
                </a:ln>
              </p:spPr>
            </p:sp>
            <p:sp>
              <p:nvSpPr>
                <p:cNvPr id="262" name="Freeform 262"/>
                <p:cNvSpPr/>
                <p:nvPr/>
              </p:nvSpPr>
              <p:spPr>
                <a:xfrm>
                  <a:off x="384969" y="46458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7C3B2F"/>
                  </a:solidFill>
                </a:ln>
              </p:spPr>
            </p:sp>
            <p:sp>
              <p:nvSpPr>
                <p:cNvPr id="263" name="Freeform 263"/>
                <p:cNvSpPr/>
                <p:nvPr/>
              </p:nvSpPr>
              <p:spPr>
                <a:xfrm>
                  <a:off x="368300" y="4579144"/>
                  <a:ext cx="44450" cy="44450"/>
                </a:xfrm>
                <a:custGeom>
                  <a:avLst/>
                  <a:gdLst/>
                  <a:ahLst/>
                  <a:cxnLst/>
                  <a:rect l="l" t="t" r="r" b="b"/>
                  <a:pathLst>
                    <a:path w="44450" h="44450">
                      <a:moveTo>
                        <a:pt x="0" y="44450"/>
                      </a:moveTo>
                      <a:lnTo>
                        <a:pt x="0" y="22225"/>
                      </a:lnTo>
                      <a:cubicBezTo>
                        <a:pt x="0" y="9950"/>
                        <a:pt x="9950" y="0"/>
                        <a:pt x="22225" y="0"/>
                      </a:cubicBezTo>
                      <a:cubicBezTo>
                        <a:pt x="34500" y="0"/>
                        <a:pt x="44450" y="9950"/>
                        <a:pt x="44450" y="22225"/>
                      </a:cubicBezTo>
                      <a:lnTo>
                        <a:pt x="44450" y="44450"/>
                      </a:lnTo>
                    </a:path>
                  </a:pathLst>
                </a:custGeom>
                <a:noFill/>
                <a:ln w="11112">
                  <a:solidFill>
                    <a:srgbClr val="7C3B2F"/>
                  </a:solidFill>
                </a:ln>
              </p:spPr>
            </p:sp>
          </p:grpSp>
          <p:sp>
            <p:nvSpPr>
              <p:cNvPr id="265" name="TextBox 265"/>
              <p:cNvSpPr txBox="1"/>
              <p:nvPr/>
            </p:nvSpPr>
            <p:spPr>
              <a:xfrm>
                <a:off x="528638" y="4586288"/>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权限与安全</a:t>
                </a:r>
              </a:p>
            </p:txBody>
          </p:sp>
          <p:sp>
            <p:nvSpPr>
              <p:cNvPr id="266" name="TextBox 266"/>
              <p:cNvSpPr txBox="1"/>
              <p:nvPr/>
            </p:nvSpPr>
            <p:spPr>
              <a:xfrm>
                <a:off x="1881188" y="4602480"/>
                <a:ext cx="1624965"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粗粒度或无权限控制；可能越权访问敏感数据</a:t>
                </a:r>
              </a:p>
            </p:txBody>
          </p:sp>
          <p:grpSp>
            <p:nvGrpSpPr>
              <p:cNvPr id="269" name="Group 269"/>
              <p:cNvGrpSpPr/>
              <p:nvPr/>
            </p:nvGrpSpPr>
            <p:grpSpPr>
              <a:xfrm>
                <a:off x="5233988" y="4586288"/>
                <a:ext cx="85725" cy="85725"/>
                <a:chOff x="5233988" y="4586288"/>
                <a:chExt cx="85725" cy="85725"/>
              </a:xfrm>
            </p:grpSpPr>
            <p:sp>
              <p:nvSpPr>
                <p:cNvPr id="267" name="Freeform 267"/>
                <p:cNvSpPr/>
                <p:nvPr/>
              </p:nvSpPr>
              <p:spPr>
                <a:xfrm>
                  <a:off x="5233988" y="45862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7C3B2F"/>
                  </a:solidFill>
                </a:ln>
              </p:spPr>
            </p:sp>
            <p:sp>
              <p:nvSpPr>
                <p:cNvPr id="268" name="Freeform 268"/>
                <p:cNvSpPr/>
                <p:nvPr/>
              </p:nvSpPr>
              <p:spPr>
                <a:xfrm>
                  <a:off x="5262562" y="4619625"/>
                  <a:ext cx="28575" cy="19050"/>
                </a:xfrm>
                <a:custGeom>
                  <a:avLst/>
                  <a:gdLst/>
                  <a:ahLst/>
                  <a:cxnLst/>
                  <a:rect l="l" t="t" r="r" b="b"/>
                  <a:pathLst>
                    <a:path w="28575" h="19050">
                      <a:moveTo>
                        <a:pt x="0" y="9525"/>
                      </a:moveTo>
                      <a:lnTo>
                        <a:pt x="9525" y="19050"/>
                      </a:lnTo>
                      <a:lnTo>
                        <a:pt x="28575" y="0"/>
                      </a:lnTo>
                    </a:path>
                  </a:pathLst>
                </a:custGeom>
                <a:noFill/>
                <a:ln w="9525">
                  <a:solidFill>
                    <a:srgbClr val="7C3B2F"/>
                  </a:solidFill>
                </a:ln>
              </p:spPr>
            </p:sp>
          </p:grpSp>
          <p:sp>
            <p:nvSpPr>
              <p:cNvPr id="270" name="TextBox 270"/>
              <p:cNvSpPr txBox="1"/>
              <p:nvPr/>
            </p:nvSpPr>
            <p:spPr>
              <a:xfrm>
                <a:off x="5386388" y="4602480"/>
                <a:ext cx="2545766" cy="119062"/>
              </a:xfrm>
              <a:prstGeom prst="rect">
                <a:avLst/>
              </a:prstGeom>
              <a:noFill/>
              <a:ln>
                <a:noFill/>
              </a:ln>
            </p:spPr>
            <p:txBody>
              <a:bodyPr wrap="none" lIns="0" tIns="0" rIns="0" bIns="0" anchor="t" anchorCtr="0">
                <a:spAutoFit/>
              </a:bodyPr>
              <a:lstStyle/>
              <a:p>
                <a:pPr algn="l"/>
                <a:r>
                  <a:rPr lang="zh-CN" sz="600" dirty="0">
                    <a:solidFill>
                      <a:srgbClr val="643228"/>
                    </a:solidFill>
                    <a:latin typeface="+mn-lt"/>
                    <a:ea typeface="+mn-ea"/>
                    <a:cs typeface="+mn-cs"/>
                  </a:rPr>
                  <a:t>细粒度权限过滤（行/列级）+ 脱敏；最小权限访问，满足数据安全要求</a:t>
                </a:r>
              </a:p>
            </p:txBody>
          </p:sp>
        </p:grpSp>
        <p:grpSp>
          <p:nvGrpSpPr>
            <p:cNvPr id="285" name="cmp-row-3"/>
            <p:cNvGrpSpPr/>
            <p:nvPr/>
          </p:nvGrpSpPr>
          <p:grpSpPr>
            <a:xfrm>
              <a:off x="228600" y="4781550"/>
              <a:ext cx="8724900" cy="304800"/>
              <a:chOff x="228600" y="4781550"/>
              <a:chExt cx="8724900" cy="304800"/>
            </a:xfrm>
          </p:grpSpPr>
          <p:sp>
            <p:nvSpPr>
              <p:cNvPr id="272" name="Rectangle 272"/>
              <p:cNvSpPr/>
              <p:nvPr/>
            </p:nvSpPr>
            <p:spPr>
              <a:xfrm>
                <a:off x="228600" y="4781550"/>
                <a:ext cx="8724900" cy="304800"/>
              </a:xfrm>
              <a:prstGeom prst="rect">
                <a:avLst/>
              </a:prstGeom>
              <a:solidFill>
                <a:srgbClr val="FFFFFF"/>
              </a:solidFill>
              <a:ln>
                <a:noFill/>
              </a:ln>
            </p:spPr>
          </p:sp>
          <p:grpSp>
            <p:nvGrpSpPr>
              <p:cNvPr id="278" name="Group 278"/>
              <p:cNvGrpSpPr/>
              <p:nvPr/>
            </p:nvGrpSpPr>
            <p:grpSpPr>
              <a:xfrm>
                <a:off x="351631" y="4883944"/>
                <a:ext cx="77787" cy="100012"/>
                <a:chOff x="351631" y="4883944"/>
                <a:chExt cx="77787" cy="100012"/>
              </a:xfrm>
            </p:grpSpPr>
            <p:sp>
              <p:nvSpPr>
                <p:cNvPr id="273" name="Freeform 273"/>
                <p:cNvSpPr/>
                <p:nvPr/>
              </p:nvSpPr>
              <p:spPr>
                <a:xfrm>
                  <a:off x="401637" y="4883944"/>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7C3B2F"/>
                  </a:solidFill>
                </a:ln>
              </p:spPr>
            </p:sp>
            <p:sp>
              <p:nvSpPr>
                <p:cNvPr id="274" name="Freeform 274"/>
                <p:cNvSpPr/>
                <p:nvPr/>
              </p:nvSpPr>
              <p:spPr>
                <a:xfrm>
                  <a:off x="351631" y="4883944"/>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7C3B2F"/>
                  </a:solidFill>
                </a:ln>
              </p:spPr>
            </p:sp>
            <p:sp>
              <p:nvSpPr>
                <p:cNvPr id="275" name="Freeform 275"/>
                <p:cNvSpPr/>
                <p:nvPr/>
              </p:nvSpPr>
              <p:spPr>
                <a:xfrm>
                  <a:off x="373856" y="4917281"/>
                  <a:ext cx="9525" cy="9525"/>
                </a:xfrm>
                <a:custGeom>
                  <a:avLst/>
                  <a:gdLst/>
                  <a:ahLst/>
                  <a:cxnLst/>
                  <a:rect l="l" t="t" r="r" b="b"/>
                  <a:pathLst>
                    <a:path w="9525" h="9525">
                      <a:moveTo>
                        <a:pt x="0" y="0"/>
                      </a:moveTo>
                      <a:lnTo>
                        <a:pt x="5556" y="0"/>
                      </a:lnTo>
                    </a:path>
                  </a:pathLst>
                </a:custGeom>
                <a:noFill/>
                <a:ln w="11112">
                  <a:solidFill>
                    <a:srgbClr val="7C3B2F"/>
                  </a:solidFill>
                </a:ln>
              </p:spPr>
            </p:sp>
            <p:sp>
              <p:nvSpPr>
                <p:cNvPr id="276" name="Freeform 276"/>
                <p:cNvSpPr/>
                <p:nvPr/>
              </p:nvSpPr>
              <p:spPr>
                <a:xfrm>
                  <a:off x="373856" y="4939506"/>
                  <a:ext cx="33337" cy="9525"/>
                </a:xfrm>
                <a:custGeom>
                  <a:avLst/>
                  <a:gdLst/>
                  <a:ahLst/>
                  <a:cxnLst/>
                  <a:rect l="l" t="t" r="r" b="b"/>
                  <a:pathLst>
                    <a:path w="33337" h="9525">
                      <a:moveTo>
                        <a:pt x="0" y="0"/>
                      </a:moveTo>
                      <a:lnTo>
                        <a:pt x="33337" y="0"/>
                      </a:lnTo>
                    </a:path>
                  </a:pathLst>
                </a:custGeom>
                <a:noFill/>
                <a:ln w="11112">
                  <a:solidFill>
                    <a:srgbClr val="7C3B2F"/>
                  </a:solidFill>
                </a:ln>
              </p:spPr>
            </p:sp>
            <p:sp>
              <p:nvSpPr>
                <p:cNvPr id="277" name="Freeform 277"/>
                <p:cNvSpPr/>
                <p:nvPr/>
              </p:nvSpPr>
              <p:spPr>
                <a:xfrm>
                  <a:off x="373856" y="4961731"/>
                  <a:ext cx="33337" cy="9525"/>
                </a:xfrm>
                <a:custGeom>
                  <a:avLst/>
                  <a:gdLst/>
                  <a:ahLst/>
                  <a:cxnLst/>
                  <a:rect l="l" t="t" r="r" b="b"/>
                  <a:pathLst>
                    <a:path w="33337" h="9525">
                      <a:moveTo>
                        <a:pt x="0" y="0"/>
                      </a:moveTo>
                      <a:lnTo>
                        <a:pt x="33337" y="0"/>
                      </a:lnTo>
                    </a:path>
                  </a:pathLst>
                </a:custGeom>
                <a:noFill/>
                <a:ln w="11112">
                  <a:solidFill>
                    <a:srgbClr val="7C3B2F"/>
                  </a:solidFill>
                </a:ln>
              </p:spPr>
            </p:sp>
          </p:grpSp>
          <p:sp>
            <p:nvSpPr>
              <p:cNvPr id="279" name="TextBox 279"/>
              <p:cNvSpPr txBox="1"/>
              <p:nvPr/>
            </p:nvSpPr>
            <p:spPr>
              <a:xfrm>
                <a:off x="528638" y="4891088"/>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依据与可信</a:t>
                </a:r>
              </a:p>
            </p:txBody>
          </p:sp>
          <p:sp>
            <p:nvSpPr>
              <p:cNvPr id="280" name="TextBox 280"/>
              <p:cNvSpPr txBox="1"/>
              <p:nvPr/>
            </p:nvSpPr>
            <p:spPr>
              <a:xfrm>
                <a:off x="1881188" y="4907280"/>
                <a:ext cx="1463421"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仅返回生成答案，缺少依据；幻觉风险高</a:t>
                </a:r>
              </a:p>
            </p:txBody>
          </p:sp>
          <p:grpSp>
            <p:nvGrpSpPr>
              <p:cNvPr id="283" name="Group 283"/>
              <p:cNvGrpSpPr/>
              <p:nvPr/>
            </p:nvGrpSpPr>
            <p:grpSpPr>
              <a:xfrm>
                <a:off x="5233988" y="4891088"/>
                <a:ext cx="85725" cy="85725"/>
                <a:chOff x="5233988" y="4891088"/>
                <a:chExt cx="85725" cy="85725"/>
              </a:xfrm>
            </p:grpSpPr>
            <p:sp>
              <p:nvSpPr>
                <p:cNvPr id="281" name="Freeform 281"/>
                <p:cNvSpPr/>
                <p:nvPr/>
              </p:nvSpPr>
              <p:spPr>
                <a:xfrm>
                  <a:off x="5233988" y="48910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7C3B2F"/>
                  </a:solidFill>
                </a:ln>
              </p:spPr>
            </p:sp>
            <p:sp>
              <p:nvSpPr>
                <p:cNvPr id="282" name="Freeform 282"/>
                <p:cNvSpPr/>
                <p:nvPr/>
              </p:nvSpPr>
              <p:spPr>
                <a:xfrm>
                  <a:off x="5262562" y="4924425"/>
                  <a:ext cx="28575" cy="19050"/>
                </a:xfrm>
                <a:custGeom>
                  <a:avLst/>
                  <a:gdLst/>
                  <a:ahLst/>
                  <a:cxnLst/>
                  <a:rect l="l" t="t" r="r" b="b"/>
                  <a:pathLst>
                    <a:path w="28575" h="19050">
                      <a:moveTo>
                        <a:pt x="0" y="9525"/>
                      </a:moveTo>
                      <a:lnTo>
                        <a:pt x="9525" y="19050"/>
                      </a:lnTo>
                      <a:lnTo>
                        <a:pt x="28575" y="0"/>
                      </a:lnTo>
                    </a:path>
                  </a:pathLst>
                </a:custGeom>
                <a:noFill/>
                <a:ln w="9525">
                  <a:solidFill>
                    <a:srgbClr val="7C3B2F"/>
                  </a:solidFill>
                </a:ln>
              </p:spPr>
            </p:sp>
          </p:grpSp>
          <p:sp>
            <p:nvSpPr>
              <p:cNvPr id="284" name="TextBox 284"/>
              <p:cNvSpPr txBox="1"/>
              <p:nvPr/>
            </p:nvSpPr>
            <p:spPr>
              <a:xfrm>
                <a:off x="5386388" y="4907280"/>
                <a:ext cx="2594229" cy="119062"/>
              </a:xfrm>
              <a:prstGeom prst="rect">
                <a:avLst/>
              </a:prstGeom>
              <a:noFill/>
              <a:ln>
                <a:noFill/>
              </a:ln>
            </p:spPr>
            <p:txBody>
              <a:bodyPr wrap="none" lIns="0" tIns="0" rIns="0" bIns="0" anchor="t" anchorCtr="0">
                <a:spAutoFit/>
              </a:bodyPr>
              <a:lstStyle/>
              <a:p>
                <a:pPr algn="l"/>
                <a:r>
                  <a:rPr lang="zh-CN" sz="600" dirty="0">
                    <a:solidFill>
                      <a:srgbClr val="643228"/>
                    </a:solidFill>
                    <a:latin typeface="+mn-lt"/>
                    <a:ea typeface="+mn-ea"/>
                    <a:cs typeface="+mn-cs"/>
                  </a:rPr>
                  <a:t>强制引用来源与片段；结构化呈现依据、适用范围与置信提示，降低幻觉</a:t>
                </a:r>
              </a:p>
            </p:txBody>
          </p:sp>
        </p:grpSp>
        <p:grpSp>
          <p:nvGrpSpPr>
            <p:cNvPr id="296" name="cmp-row-4"/>
            <p:cNvGrpSpPr/>
            <p:nvPr/>
          </p:nvGrpSpPr>
          <p:grpSpPr>
            <a:xfrm>
              <a:off x="228600" y="5086350"/>
              <a:ext cx="8724900" cy="304800"/>
              <a:chOff x="228600" y="5086350"/>
              <a:chExt cx="8724900" cy="304800"/>
            </a:xfrm>
          </p:grpSpPr>
          <p:sp>
            <p:nvSpPr>
              <p:cNvPr id="286" name="Rectangle 286"/>
              <p:cNvSpPr/>
              <p:nvPr/>
            </p:nvSpPr>
            <p:spPr>
              <a:xfrm>
                <a:off x="228600" y="5086350"/>
                <a:ext cx="8724900" cy="304800"/>
              </a:xfrm>
              <a:prstGeom prst="rect">
                <a:avLst/>
              </a:prstGeom>
              <a:solidFill>
                <a:srgbClr val="F4F8EC"/>
              </a:solidFill>
              <a:ln>
                <a:noFill/>
              </a:ln>
            </p:spPr>
          </p:sp>
          <p:grpSp>
            <p:nvGrpSpPr>
              <p:cNvPr id="289" name="Group 289"/>
              <p:cNvGrpSpPr/>
              <p:nvPr/>
            </p:nvGrpSpPr>
            <p:grpSpPr>
              <a:xfrm>
                <a:off x="340519" y="5205412"/>
                <a:ext cx="100012" cy="66675"/>
                <a:chOff x="340519" y="5205412"/>
                <a:chExt cx="100012" cy="66675"/>
              </a:xfrm>
            </p:grpSpPr>
            <p:sp>
              <p:nvSpPr>
                <p:cNvPr id="287" name="Freeform 287"/>
                <p:cNvSpPr/>
                <p:nvPr/>
              </p:nvSpPr>
              <p:spPr>
                <a:xfrm>
                  <a:off x="379412" y="5227637"/>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7C3B2F"/>
                  </a:solidFill>
                </a:ln>
              </p:spPr>
            </p:sp>
            <p:sp>
              <p:nvSpPr>
                <p:cNvPr id="288" name="Freeform 288"/>
                <p:cNvSpPr/>
                <p:nvPr/>
              </p:nvSpPr>
              <p:spPr>
                <a:xfrm>
                  <a:off x="340519" y="5205412"/>
                  <a:ext cx="100012" cy="66675"/>
                </a:xfrm>
                <a:custGeom>
                  <a:avLst/>
                  <a:gdLst/>
                  <a:ahLst/>
                  <a:cxnLst/>
                  <a:rect l="l" t="t" r="r" b="b"/>
                  <a:pathLst>
                    <a:path w="100012" h="66675">
                      <a:moveTo>
                        <a:pt x="100012" y="33337"/>
                      </a:moveTo>
                      <a:cubicBezTo>
                        <a:pt x="86677" y="55562"/>
                        <a:pt x="70009" y="66675"/>
                        <a:pt x="50006" y="66675"/>
                      </a:cubicBezTo>
                      <a:cubicBezTo>
                        <a:pt x="30004" y="66675"/>
                        <a:pt x="13335" y="55562"/>
                        <a:pt x="0" y="33337"/>
                      </a:cubicBezTo>
                      <a:cubicBezTo>
                        <a:pt x="13335" y="11112"/>
                        <a:pt x="30004" y="0"/>
                        <a:pt x="50006" y="0"/>
                      </a:cubicBezTo>
                      <a:cubicBezTo>
                        <a:pt x="70009" y="0"/>
                        <a:pt x="86677" y="11112"/>
                        <a:pt x="100012" y="33337"/>
                      </a:cubicBezTo>
                    </a:path>
                  </a:pathLst>
                </a:custGeom>
                <a:noFill/>
                <a:ln w="11112">
                  <a:solidFill>
                    <a:srgbClr val="7C3B2F"/>
                  </a:solidFill>
                </a:ln>
              </p:spPr>
            </p:sp>
          </p:grpSp>
          <p:sp>
            <p:nvSpPr>
              <p:cNvPr id="290" name="TextBox 290"/>
              <p:cNvSpPr txBox="1"/>
              <p:nvPr/>
            </p:nvSpPr>
            <p:spPr>
              <a:xfrm>
                <a:off x="528638" y="5195888"/>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可观测性</a:t>
                </a:r>
              </a:p>
            </p:txBody>
          </p:sp>
          <p:sp>
            <p:nvSpPr>
              <p:cNvPr id="291" name="TextBox 291"/>
              <p:cNvSpPr txBox="1"/>
              <p:nvPr/>
            </p:nvSpPr>
            <p:spPr>
              <a:xfrm>
                <a:off x="1881188" y="5212080"/>
                <a:ext cx="1463421"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缺少链路追踪与质量评估；问题定位困难</a:t>
                </a:r>
              </a:p>
            </p:txBody>
          </p:sp>
          <p:grpSp>
            <p:nvGrpSpPr>
              <p:cNvPr id="294" name="Group 294"/>
              <p:cNvGrpSpPr/>
              <p:nvPr/>
            </p:nvGrpSpPr>
            <p:grpSpPr>
              <a:xfrm>
                <a:off x="5233988" y="5195888"/>
                <a:ext cx="85725" cy="85725"/>
                <a:chOff x="5233988" y="5195888"/>
                <a:chExt cx="85725" cy="85725"/>
              </a:xfrm>
            </p:grpSpPr>
            <p:sp>
              <p:nvSpPr>
                <p:cNvPr id="292" name="Freeform 292"/>
                <p:cNvSpPr/>
                <p:nvPr/>
              </p:nvSpPr>
              <p:spPr>
                <a:xfrm>
                  <a:off x="5233988" y="51958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7C3B2F"/>
                  </a:solidFill>
                </a:ln>
              </p:spPr>
            </p:sp>
            <p:sp>
              <p:nvSpPr>
                <p:cNvPr id="293" name="Freeform 293"/>
                <p:cNvSpPr/>
                <p:nvPr/>
              </p:nvSpPr>
              <p:spPr>
                <a:xfrm>
                  <a:off x="5262562" y="5229225"/>
                  <a:ext cx="28575" cy="19050"/>
                </a:xfrm>
                <a:custGeom>
                  <a:avLst/>
                  <a:gdLst/>
                  <a:ahLst/>
                  <a:cxnLst/>
                  <a:rect l="l" t="t" r="r" b="b"/>
                  <a:pathLst>
                    <a:path w="28575" h="19050">
                      <a:moveTo>
                        <a:pt x="0" y="9525"/>
                      </a:moveTo>
                      <a:lnTo>
                        <a:pt x="9525" y="19050"/>
                      </a:lnTo>
                      <a:lnTo>
                        <a:pt x="28575" y="0"/>
                      </a:lnTo>
                    </a:path>
                  </a:pathLst>
                </a:custGeom>
                <a:noFill/>
                <a:ln w="9525">
                  <a:solidFill>
                    <a:srgbClr val="7C3B2F"/>
                  </a:solidFill>
                </a:ln>
              </p:spPr>
            </p:sp>
          </p:grpSp>
          <p:sp>
            <p:nvSpPr>
              <p:cNvPr id="295" name="TextBox 295"/>
              <p:cNvSpPr txBox="1"/>
              <p:nvPr/>
            </p:nvSpPr>
            <p:spPr>
              <a:xfrm>
                <a:off x="5386388" y="5212080"/>
                <a:ext cx="3074822" cy="119062"/>
              </a:xfrm>
              <a:prstGeom prst="rect">
                <a:avLst/>
              </a:prstGeom>
              <a:noFill/>
              <a:ln>
                <a:noFill/>
              </a:ln>
            </p:spPr>
            <p:txBody>
              <a:bodyPr wrap="none" lIns="0" tIns="0" rIns="0" bIns="0" anchor="t" anchorCtr="0">
                <a:spAutoFit/>
              </a:bodyPr>
              <a:lstStyle/>
              <a:p>
                <a:pPr algn="l"/>
                <a:r>
                  <a:rPr lang="zh-CN" sz="600" dirty="0">
                    <a:solidFill>
                      <a:srgbClr val="643228"/>
                    </a:solidFill>
                    <a:latin typeface="+mn-lt"/>
                    <a:ea typeface="+mn-ea"/>
                    <a:cs typeface="+mn-cs"/>
                  </a:rPr>
                  <a:t>端到端观测（检索/重排/生成）+ 质量指标（命中率、引用率、幻觉率等），持续优化</a:t>
                </a:r>
              </a:p>
            </p:txBody>
          </p:sp>
        </p:grpSp>
        <p:grpSp>
          <p:nvGrpSpPr>
            <p:cNvPr id="310" name="cmp-row-5"/>
            <p:cNvGrpSpPr/>
            <p:nvPr/>
          </p:nvGrpSpPr>
          <p:grpSpPr>
            <a:xfrm>
              <a:off x="228600" y="5391150"/>
              <a:ext cx="8724900" cy="304800"/>
              <a:chOff x="228600" y="5391150"/>
              <a:chExt cx="8724900" cy="304800"/>
            </a:xfrm>
          </p:grpSpPr>
          <p:sp>
            <p:nvSpPr>
              <p:cNvPr id="297" name="Rectangle 297"/>
              <p:cNvSpPr/>
              <p:nvPr/>
            </p:nvSpPr>
            <p:spPr>
              <a:xfrm>
                <a:off x="228600" y="5391150"/>
                <a:ext cx="8724900" cy="304800"/>
              </a:xfrm>
              <a:prstGeom prst="rect">
                <a:avLst/>
              </a:prstGeom>
              <a:solidFill>
                <a:srgbClr val="FFFFFF"/>
              </a:solidFill>
              <a:ln>
                <a:noFill/>
              </a:ln>
            </p:spPr>
          </p:sp>
          <p:grpSp>
            <p:nvGrpSpPr>
              <p:cNvPr id="303" name="Group 303"/>
              <p:cNvGrpSpPr/>
              <p:nvPr/>
            </p:nvGrpSpPr>
            <p:grpSpPr>
              <a:xfrm>
                <a:off x="340519" y="5493544"/>
                <a:ext cx="100012" cy="103981"/>
                <a:chOff x="340519" y="5493544"/>
                <a:chExt cx="100012" cy="103981"/>
              </a:xfrm>
            </p:grpSpPr>
            <p:sp>
              <p:nvSpPr>
                <p:cNvPr id="298" name="Freeform 298"/>
                <p:cNvSpPr/>
                <p:nvPr/>
              </p:nvSpPr>
              <p:spPr>
                <a:xfrm>
                  <a:off x="362744" y="5588000"/>
                  <a:ext cx="55562" cy="9525"/>
                </a:xfrm>
                <a:custGeom>
                  <a:avLst/>
                  <a:gdLst/>
                  <a:ahLst/>
                  <a:cxnLst/>
                  <a:rect l="l" t="t" r="r" b="b"/>
                  <a:pathLst>
                    <a:path w="55562" h="9525">
                      <a:moveTo>
                        <a:pt x="0" y="0"/>
                      </a:moveTo>
                      <a:lnTo>
                        <a:pt x="55562" y="0"/>
                      </a:lnTo>
                    </a:path>
                  </a:pathLst>
                </a:custGeom>
                <a:noFill/>
                <a:ln w="11112">
                  <a:solidFill>
                    <a:srgbClr val="7C3B2F"/>
                  </a:solidFill>
                </a:ln>
              </p:spPr>
            </p:sp>
            <p:sp>
              <p:nvSpPr>
                <p:cNvPr id="299" name="Freeform 299"/>
                <p:cNvSpPr/>
                <p:nvPr/>
              </p:nvSpPr>
              <p:spPr>
                <a:xfrm>
                  <a:off x="357187" y="5504656"/>
                  <a:ext cx="66675" cy="9525"/>
                </a:xfrm>
                <a:custGeom>
                  <a:avLst/>
                  <a:gdLst/>
                  <a:ahLst/>
                  <a:cxnLst/>
                  <a:rect l="l" t="t" r="r" b="b"/>
                  <a:pathLst>
                    <a:path w="66675" h="9525">
                      <a:moveTo>
                        <a:pt x="0" y="5556"/>
                      </a:moveTo>
                      <a:lnTo>
                        <a:pt x="33337" y="0"/>
                      </a:lnTo>
                      <a:lnTo>
                        <a:pt x="66675" y="5556"/>
                      </a:lnTo>
                    </a:path>
                  </a:pathLst>
                </a:custGeom>
                <a:noFill/>
                <a:ln w="11112">
                  <a:solidFill>
                    <a:srgbClr val="7C3B2F"/>
                  </a:solidFill>
                </a:ln>
              </p:spPr>
            </p:sp>
            <p:sp>
              <p:nvSpPr>
                <p:cNvPr id="300" name="Freeform 300"/>
                <p:cNvSpPr/>
                <p:nvPr/>
              </p:nvSpPr>
              <p:spPr>
                <a:xfrm>
                  <a:off x="390525" y="5493544"/>
                  <a:ext cx="9525" cy="94456"/>
                </a:xfrm>
                <a:custGeom>
                  <a:avLst/>
                  <a:gdLst/>
                  <a:ahLst/>
                  <a:cxnLst/>
                  <a:rect l="l" t="t" r="r" b="b"/>
                  <a:pathLst>
                    <a:path w="9525" h="94456">
                      <a:moveTo>
                        <a:pt x="0" y="0"/>
                      </a:moveTo>
                      <a:lnTo>
                        <a:pt x="0" y="94456"/>
                      </a:lnTo>
                    </a:path>
                  </a:pathLst>
                </a:custGeom>
                <a:noFill/>
                <a:ln w="11112">
                  <a:solidFill>
                    <a:srgbClr val="7C3B2F"/>
                  </a:solidFill>
                </a:ln>
              </p:spPr>
            </p:sp>
            <p:sp>
              <p:nvSpPr>
                <p:cNvPr id="301" name="Freeform 301"/>
                <p:cNvSpPr/>
                <p:nvPr/>
              </p:nvSpPr>
              <p:spPr>
                <a:xfrm>
                  <a:off x="340519" y="5510212"/>
                  <a:ext cx="33337" cy="50006"/>
                </a:xfrm>
                <a:custGeom>
                  <a:avLst/>
                  <a:gdLst/>
                  <a:ahLst/>
                  <a:cxnLst/>
                  <a:rect l="l" t="t" r="r" b="b"/>
                  <a:pathLst>
                    <a:path w="33337" h="50006">
                      <a:moveTo>
                        <a:pt x="33337" y="33337"/>
                      </a:moveTo>
                      <a:lnTo>
                        <a:pt x="16669" y="0"/>
                      </a:lnTo>
                      <a:lnTo>
                        <a:pt x="0" y="33337"/>
                      </a:lnTo>
                      <a:cubicBezTo>
                        <a:pt x="0" y="42543"/>
                        <a:pt x="7463" y="50006"/>
                        <a:pt x="16669" y="50006"/>
                      </a:cubicBezTo>
                      <a:cubicBezTo>
                        <a:pt x="25875" y="50006"/>
                        <a:pt x="33337" y="42543"/>
                        <a:pt x="33337" y="33337"/>
                      </a:cubicBezTo>
                    </a:path>
                  </a:pathLst>
                </a:custGeom>
                <a:noFill/>
                <a:ln w="11112">
                  <a:solidFill>
                    <a:srgbClr val="7C3B2F"/>
                  </a:solidFill>
                </a:ln>
              </p:spPr>
            </p:sp>
            <p:sp>
              <p:nvSpPr>
                <p:cNvPr id="302" name="Freeform 302"/>
                <p:cNvSpPr/>
                <p:nvPr/>
              </p:nvSpPr>
              <p:spPr>
                <a:xfrm>
                  <a:off x="407194" y="5510212"/>
                  <a:ext cx="33337" cy="50006"/>
                </a:xfrm>
                <a:custGeom>
                  <a:avLst/>
                  <a:gdLst/>
                  <a:ahLst/>
                  <a:cxnLst/>
                  <a:rect l="l" t="t" r="r" b="b"/>
                  <a:pathLst>
                    <a:path w="33337" h="50006">
                      <a:moveTo>
                        <a:pt x="33337" y="33337"/>
                      </a:moveTo>
                      <a:lnTo>
                        <a:pt x="16669" y="0"/>
                      </a:lnTo>
                      <a:lnTo>
                        <a:pt x="0" y="33337"/>
                      </a:lnTo>
                      <a:cubicBezTo>
                        <a:pt x="0" y="42543"/>
                        <a:pt x="7463" y="50006"/>
                        <a:pt x="16669" y="50006"/>
                      </a:cubicBezTo>
                      <a:cubicBezTo>
                        <a:pt x="25875" y="50006"/>
                        <a:pt x="33337" y="42543"/>
                        <a:pt x="33337" y="33337"/>
                      </a:cubicBezTo>
                    </a:path>
                  </a:pathLst>
                </a:custGeom>
                <a:noFill/>
                <a:ln w="11112">
                  <a:solidFill>
                    <a:srgbClr val="7C3B2F"/>
                  </a:solidFill>
                </a:ln>
              </p:spPr>
            </p:sp>
          </p:grpSp>
          <p:sp>
            <p:nvSpPr>
              <p:cNvPr id="304" name="TextBox 304"/>
              <p:cNvSpPr txBox="1"/>
              <p:nvPr/>
            </p:nvSpPr>
            <p:spPr>
              <a:xfrm>
                <a:off x="528638" y="5500688"/>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治理与合规</a:t>
                </a:r>
              </a:p>
            </p:txBody>
          </p:sp>
          <p:sp>
            <p:nvSpPr>
              <p:cNvPr id="305" name="TextBox 305"/>
              <p:cNvSpPr txBox="1"/>
              <p:nvPr/>
            </p:nvSpPr>
            <p:spPr>
              <a:xfrm>
                <a:off x="1881188" y="5516880"/>
                <a:ext cx="1705737"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提示与模型使用无统一治理；合规与成本不可控</a:t>
                </a:r>
              </a:p>
            </p:txBody>
          </p:sp>
          <p:grpSp>
            <p:nvGrpSpPr>
              <p:cNvPr id="308" name="Group 308"/>
              <p:cNvGrpSpPr/>
              <p:nvPr/>
            </p:nvGrpSpPr>
            <p:grpSpPr>
              <a:xfrm>
                <a:off x="5233988" y="5500688"/>
                <a:ext cx="85725" cy="85725"/>
                <a:chOff x="5233988" y="5500688"/>
                <a:chExt cx="85725" cy="85725"/>
              </a:xfrm>
            </p:grpSpPr>
            <p:sp>
              <p:nvSpPr>
                <p:cNvPr id="306" name="Freeform 306"/>
                <p:cNvSpPr/>
                <p:nvPr/>
              </p:nvSpPr>
              <p:spPr>
                <a:xfrm>
                  <a:off x="5233988" y="5500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7C3B2F"/>
                  </a:solidFill>
                </a:ln>
              </p:spPr>
            </p:sp>
            <p:sp>
              <p:nvSpPr>
                <p:cNvPr id="307" name="Freeform 307"/>
                <p:cNvSpPr/>
                <p:nvPr/>
              </p:nvSpPr>
              <p:spPr>
                <a:xfrm>
                  <a:off x="5262562" y="5534025"/>
                  <a:ext cx="28575" cy="19050"/>
                </a:xfrm>
                <a:custGeom>
                  <a:avLst/>
                  <a:gdLst/>
                  <a:ahLst/>
                  <a:cxnLst/>
                  <a:rect l="l" t="t" r="r" b="b"/>
                  <a:pathLst>
                    <a:path w="28575" h="19050">
                      <a:moveTo>
                        <a:pt x="0" y="9525"/>
                      </a:moveTo>
                      <a:lnTo>
                        <a:pt x="9525" y="19050"/>
                      </a:lnTo>
                      <a:lnTo>
                        <a:pt x="28575" y="0"/>
                      </a:lnTo>
                    </a:path>
                  </a:pathLst>
                </a:custGeom>
                <a:noFill/>
                <a:ln w="9525">
                  <a:solidFill>
                    <a:srgbClr val="7C3B2F"/>
                  </a:solidFill>
                </a:ln>
              </p:spPr>
            </p:sp>
          </p:grpSp>
          <p:sp>
            <p:nvSpPr>
              <p:cNvPr id="309" name="TextBox 309"/>
              <p:cNvSpPr txBox="1"/>
              <p:nvPr/>
            </p:nvSpPr>
            <p:spPr>
              <a:xfrm>
                <a:off x="5386388" y="5516880"/>
                <a:ext cx="2634615" cy="119062"/>
              </a:xfrm>
              <a:prstGeom prst="rect">
                <a:avLst/>
              </a:prstGeom>
              <a:noFill/>
              <a:ln>
                <a:noFill/>
              </a:ln>
            </p:spPr>
            <p:txBody>
              <a:bodyPr wrap="none" lIns="0" tIns="0" rIns="0" bIns="0" anchor="t" anchorCtr="0">
                <a:spAutoFit/>
              </a:bodyPr>
              <a:lstStyle/>
              <a:p>
                <a:pPr algn="l"/>
                <a:r>
                  <a:rPr lang="zh-CN" sz="600" dirty="0">
                    <a:solidFill>
                      <a:srgbClr val="643228"/>
                    </a:solidFill>
                    <a:latin typeface="+mn-lt"/>
                    <a:ea typeface="+mn-ea"/>
                    <a:cs typeface="+mn-cs"/>
                  </a:rPr>
                  <a:t>模型网关+守护栏（策略/安全/成本）+ 审计日志；合规可追溯，成本可控</a:t>
                </a:r>
              </a:p>
            </p:txBody>
          </p:sp>
        </p:grpSp>
        <p:sp>
          <p:nvSpPr>
            <p:cNvPr id="311" name="Line 311"/>
            <p:cNvSpPr/>
            <p:nvPr/>
          </p:nvSpPr>
          <p:spPr>
            <a:xfrm>
              <a:off x="228600" y="5695950"/>
              <a:ext cx="8724900" cy="9525"/>
            </a:xfrm>
            <a:custGeom>
              <a:avLst/>
              <a:gdLst/>
              <a:ahLst/>
              <a:cxnLst/>
              <a:rect l="l" t="t" r="r" b="b"/>
              <a:pathLst>
                <a:path w="8724900" h="9525">
                  <a:moveTo>
                    <a:pt x="0" y="0"/>
                  </a:moveTo>
                  <a:lnTo>
                    <a:pt x="8724900" y="0"/>
                  </a:lnTo>
                </a:path>
              </a:pathLst>
            </a:custGeom>
            <a:noFill/>
            <a:ln w="9525">
              <a:solidFill>
                <a:srgbClr val="D9E8C6"/>
              </a:solidFill>
            </a:ln>
          </p:spPr>
        </p:sp>
      </p:grpSp>
      <p:sp>
        <p:nvSpPr>
          <p:cNvPr id="313" name="ds-arrow"/>
          <p:cNvSpPr/>
          <p:nvPr/>
        </p:nvSpPr>
        <p:spPr>
          <a:xfrm>
            <a:off x="8953500" y="4743450"/>
            <a:ext cx="76200" cy="133350"/>
          </a:xfrm>
          <a:custGeom>
            <a:avLst/>
            <a:gdLst/>
            <a:ahLst/>
            <a:cxnLst/>
            <a:rect l="l" t="t" r="r" b="b"/>
            <a:pathLst>
              <a:path w="76200" h="133350">
                <a:moveTo>
                  <a:pt x="76200" y="0"/>
                </a:moveTo>
                <a:lnTo>
                  <a:pt x="0" y="66675"/>
                </a:lnTo>
                <a:lnTo>
                  <a:pt x="76200" y="133350"/>
                </a:lnTo>
                <a:close/>
              </a:path>
            </a:pathLst>
          </a:custGeom>
          <a:solidFill>
            <a:srgbClr val="7C3B2F"/>
          </a:solidFill>
          <a:ln>
            <a:noFill/>
          </a:ln>
        </p:spPr>
      </p:sp>
      <p:grpSp>
        <p:nvGrpSpPr>
          <p:cNvPr id="353" name="data-sources"/>
          <p:cNvGrpSpPr/>
          <p:nvPr/>
        </p:nvGrpSpPr>
        <p:grpSpPr>
          <a:xfrm>
            <a:off x="9048750" y="3924300"/>
            <a:ext cx="2914650" cy="1809750"/>
            <a:chOff x="9048750" y="3924300"/>
            <a:chExt cx="2914650" cy="1809750"/>
          </a:xfrm>
        </p:grpSpPr>
        <p:sp>
          <p:nvSpPr>
            <p:cNvPr id="314" name="Rectangle 314"/>
            <p:cNvSpPr/>
            <p:nvPr/>
          </p:nvSpPr>
          <p:spPr>
            <a:xfrm>
              <a:off x="9048750" y="3924300"/>
              <a:ext cx="2914650" cy="1809750"/>
            </a:xfrm>
            <a:prstGeom prst="roundRect">
              <a:avLst>
                <a:gd name="adj" fmla="val 5263"/>
              </a:avLst>
            </a:prstGeom>
            <a:solidFill>
              <a:srgbClr val="FFFFFF"/>
            </a:solidFill>
            <a:ln w="9525">
              <a:solidFill>
                <a:srgbClr val="D9E8C6"/>
              </a:solidFill>
            </a:ln>
          </p:spPr>
        </p:sp>
        <p:sp>
          <p:nvSpPr>
            <p:cNvPr id="315" name="Rectangle 315"/>
            <p:cNvSpPr/>
            <p:nvPr/>
          </p:nvSpPr>
          <p:spPr>
            <a:xfrm>
              <a:off x="9048750" y="3924300"/>
              <a:ext cx="2914650" cy="247650"/>
            </a:xfrm>
            <a:prstGeom prst="roundRect">
              <a:avLst>
                <a:gd name="adj" fmla="val 38462"/>
              </a:avLst>
            </a:prstGeom>
            <a:solidFill>
              <a:srgbClr val="42140B"/>
            </a:solidFill>
            <a:ln>
              <a:noFill/>
            </a:ln>
          </p:spPr>
        </p:sp>
        <p:sp>
          <p:nvSpPr>
            <p:cNvPr id="316" name="Rectangle 316"/>
            <p:cNvSpPr/>
            <p:nvPr/>
          </p:nvSpPr>
          <p:spPr>
            <a:xfrm>
              <a:off x="9048750" y="4057650"/>
              <a:ext cx="2914650" cy="114300"/>
            </a:xfrm>
            <a:prstGeom prst="rect">
              <a:avLst/>
            </a:prstGeom>
            <a:solidFill>
              <a:srgbClr val="42140B"/>
            </a:solidFill>
            <a:ln>
              <a:noFill/>
            </a:ln>
          </p:spPr>
        </p:sp>
        <p:sp>
          <p:nvSpPr>
            <p:cNvPr id="317" name="TextBox 317"/>
            <p:cNvSpPr txBox="1"/>
            <p:nvPr/>
          </p:nvSpPr>
          <p:spPr>
            <a:xfrm>
              <a:off x="10059759" y="4006691"/>
              <a:ext cx="89263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企业知识与数据源</a:t>
              </a:r>
            </a:p>
          </p:txBody>
        </p:sp>
        <p:grpSp>
          <p:nvGrpSpPr>
            <p:cNvPr id="325" name="ds-1"/>
            <p:cNvGrpSpPr/>
            <p:nvPr/>
          </p:nvGrpSpPr>
          <p:grpSpPr>
            <a:xfrm>
              <a:off x="9144000" y="4248150"/>
              <a:ext cx="2724150" cy="323850"/>
              <a:chOff x="9144000" y="4248150"/>
              <a:chExt cx="2724150" cy="323850"/>
            </a:xfrm>
          </p:grpSpPr>
          <p:sp>
            <p:nvSpPr>
              <p:cNvPr id="318" name="Rectangle 318"/>
              <p:cNvSpPr/>
              <p:nvPr/>
            </p:nvSpPr>
            <p:spPr>
              <a:xfrm>
                <a:off x="9144000" y="4248150"/>
                <a:ext cx="2724150" cy="323850"/>
              </a:xfrm>
              <a:prstGeom prst="roundRect">
                <a:avLst>
                  <a:gd name="adj" fmla="val 17647"/>
                </a:avLst>
              </a:prstGeom>
              <a:solidFill>
                <a:srgbClr val="F4F8EC"/>
              </a:solidFill>
              <a:ln>
                <a:noFill/>
              </a:ln>
            </p:spPr>
          </p:sp>
          <p:grpSp>
            <p:nvGrpSpPr>
              <p:cNvPr id="322" name="Group 322"/>
              <p:cNvGrpSpPr/>
              <p:nvPr/>
            </p:nvGrpSpPr>
            <p:grpSpPr>
              <a:xfrm>
                <a:off x="9267825" y="4345781"/>
                <a:ext cx="114300" cy="128588"/>
                <a:chOff x="9267825" y="4345781"/>
                <a:chExt cx="114300" cy="128588"/>
              </a:xfrm>
            </p:grpSpPr>
            <p:sp>
              <p:nvSpPr>
                <p:cNvPr id="319" name="Freeform 319"/>
                <p:cNvSpPr/>
                <p:nvPr/>
              </p:nvSpPr>
              <p:spPr>
                <a:xfrm>
                  <a:off x="9267825" y="434578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C3B2F"/>
                  </a:solidFill>
                </a:ln>
              </p:spPr>
            </p:sp>
            <p:sp>
              <p:nvSpPr>
                <p:cNvPr id="320" name="Freeform 320"/>
                <p:cNvSpPr/>
                <p:nvPr/>
              </p:nvSpPr>
              <p:spPr>
                <a:xfrm>
                  <a:off x="9267825" y="436721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C3B2F"/>
                  </a:solidFill>
                </a:ln>
              </p:spPr>
            </p:sp>
            <p:sp>
              <p:nvSpPr>
                <p:cNvPr id="321" name="Freeform 321"/>
                <p:cNvSpPr/>
                <p:nvPr/>
              </p:nvSpPr>
              <p:spPr>
                <a:xfrm>
                  <a:off x="9267825" y="441007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C3B2F"/>
                  </a:solidFill>
                </a:ln>
              </p:spPr>
            </p:sp>
          </p:grpSp>
          <p:sp>
            <p:nvSpPr>
              <p:cNvPr id="323" name="TextBox 323"/>
              <p:cNvSpPr txBox="1"/>
              <p:nvPr/>
            </p:nvSpPr>
            <p:spPr>
              <a:xfrm>
                <a:off x="9501188" y="4310062"/>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结构化数据</a:t>
                </a:r>
              </a:p>
            </p:txBody>
          </p:sp>
          <p:sp>
            <p:nvSpPr>
              <p:cNvPr id="324" name="TextBox 324"/>
              <p:cNvSpPr txBox="1"/>
              <p:nvPr/>
            </p:nvSpPr>
            <p:spPr>
              <a:xfrm>
                <a:off x="9501188" y="4450080"/>
                <a:ext cx="619354"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（数据库/表格）</a:t>
                </a:r>
              </a:p>
            </p:txBody>
          </p:sp>
        </p:grpSp>
        <p:grpSp>
          <p:nvGrpSpPr>
            <p:cNvPr id="335" name="ds-2"/>
            <p:cNvGrpSpPr/>
            <p:nvPr/>
          </p:nvGrpSpPr>
          <p:grpSpPr>
            <a:xfrm>
              <a:off x="9144000" y="4610100"/>
              <a:ext cx="2724150" cy="323850"/>
              <a:chOff x="9144000" y="4610100"/>
              <a:chExt cx="2724150" cy="323850"/>
            </a:xfrm>
          </p:grpSpPr>
          <p:sp>
            <p:nvSpPr>
              <p:cNvPr id="326" name="Rectangle 326"/>
              <p:cNvSpPr/>
              <p:nvPr/>
            </p:nvSpPr>
            <p:spPr>
              <a:xfrm>
                <a:off x="9144000" y="4610100"/>
                <a:ext cx="2724150" cy="323850"/>
              </a:xfrm>
              <a:prstGeom prst="roundRect">
                <a:avLst>
                  <a:gd name="adj" fmla="val 17647"/>
                </a:avLst>
              </a:prstGeom>
              <a:solidFill>
                <a:srgbClr val="F4F8EC"/>
              </a:solidFill>
              <a:ln>
                <a:noFill/>
              </a:ln>
            </p:spPr>
          </p:sp>
          <p:grpSp>
            <p:nvGrpSpPr>
              <p:cNvPr id="332" name="Group 332"/>
              <p:cNvGrpSpPr/>
              <p:nvPr/>
            </p:nvGrpSpPr>
            <p:grpSpPr>
              <a:xfrm>
                <a:off x="9274969" y="4707731"/>
                <a:ext cx="100012" cy="128588"/>
                <a:chOff x="9274969" y="4707731"/>
                <a:chExt cx="100012" cy="128588"/>
              </a:xfrm>
            </p:grpSpPr>
            <p:sp>
              <p:nvSpPr>
                <p:cNvPr id="327" name="Freeform 327"/>
                <p:cNvSpPr/>
                <p:nvPr/>
              </p:nvSpPr>
              <p:spPr>
                <a:xfrm>
                  <a:off x="9339262" y="470773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7C3B2F"/>
                  </a:solidFill>
                </a:ln>
              </p:spPr>
            </p:sp>
            <p:sp>
              <p:nvSpPr>
                <p:cNvPr id="328" name="Freeform 328"/>
                <p:cNvSpPr/>
                <p:nvPr/>
              </p:nvSpPr>
              <p:spPr>
                <a:xfrm>
                  <a:off x="9274969" y="470773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7C3B2F"/>
                  </a:solidFill>
                </a:ln>
              </p:spPr>
            </p:sp>
            <p:sp>
              <p:nvSpPr>
                <p:cNvPr id="329" name="Freeform 329"/>
                <p:cNvSpPr/>
                <p:nvPr/>
              </p:nvSpPr>
              <p:spPr>
                <a:xfrm>
                  <a:off x="9303544" y="4750594"/>
                  <a:ext cx="9525" cy="9525"/>
                </a:xfrm>
                <a:custGeom>
                  <a:avLst/>
                  <a:gdLst/>
                  <a:ahLst/>
                  <a:cxnLst/>
                  <a:rect l="l" t="t" r="r" b="b"/>
                  <a:pathLst>
                    <a:path w="9525" h="9525">
                      <a:moveTo>
                        <a:pt x="0" y="0"/>
                      </a:moveTo>
                      <a:lnTo>
                        <a:pt x="7144" y="0"/>
                      </a:lnTo>
                    </a:path>
                  </a:pathLst>
                </a:custGeom>
                <a:noFill/>
                <a:ln w="14288">
                  <a:solidFill>
                    <a:srgbClr val="7C3B2F"/>
                  </a:solidFill>
                </a:ln>
              </p:spPr>
            </p:sp>
            <p:sp>
              <p:nvSpPr>
                <p:cNvPr id="330" name="Freeform 330"/>
                <p:cNvSpPr/>
                <p:nvPr/>
              </p:nvSpPr>
              <p:spPr>
                <a:xfrm>
                  <a:off x="9303544" y="4779169"/>
                  <a:ext cx="42862" cy="9525"/>
                </a:xfrm>
                <a:custGeom>
                  <a:avLst/>
                  <a:gdLst/>
                  <a:ahLst/>
                  <a:cxnLst/>
                  <a:rect l="l" t="t" r="r" b="b"/>
                  <a:pathLst>
                    <a:path w="42862" h="9525">
                      <a:moveTo>
                        <a:pt x="0" y="0"/>
                      </a:moveTo>
                      <a:lnTo>
                        <a:pt x="42862" y="0"/>
                      </a:lnTo>
                    </a:path>
                  </a:pathLst>
                </a:custGeom>
                <a:noFill/>
                <a:ln w="14288">
                  <a:solidFill>
                    <a:srgbClr val="7C3B2F"/>
                  </a:solidFill>
                </a:ln>
              </p:spPr>
            </p:sp>
            <p:sp>
              <p:nvSpPr>
                <p:cNvPr id="331" name="Freeform 331"/>
                <p:cNvSpPr/>
                <p:nvPr/>
              </p:nvSpPr>
              <p:spPr>
                <a:xfrm>
                  <a:off x="9303544" y="4807744"/>
                  <a:ext cx="42862" cy="9525"/>
                </a:xfrm>
                <a:custGeom>
                  <a:avLst/>
                  <a:gdLst/>
                  <a:ahLst/>
                  <a:cxnLst/>
                  <a:rect l="l" t="t" r="r" b="b"/>
                  <a:pathLst>
                    <a:path w="42862" h="9525">
                      <a:moveTo>
                        <a:pt x="0" y="0"/>
                      </a:moveTo>
                      <a:lnTo>
                        <a:pt x="42862" y="0"/>
                      </a:lnTo>
                    </a:path>
                  </a:pathLst>
                </a:custGeom>
                <a:noFill/>
                <a:ln w="14288">
                  <a:solidFill>
                    <a:srgbClr val="7C3B2F"/>
                  </a:solidFill>
                </a:ln>
              </p:spPr>
            </p:sp>
          </p:grpSp>
          <p:sp>
            <p:nvSpPr>
              <p:cNvPr id="333" name="TextBox 333"/>
              <p:cNvSpPr txBox="1"/>
              <p:nvPr/>
            </p:nvSpPr>
            <p:spPr>
              <a:xfrm>
                <a:off x="9501188" y="4672012"/>
                <a:ext cx="61531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非结构化文档</a:t>
                </a:r>
              </a:p>
            </p:txBody>
          </p:sp>
          <p:sp>
            <p:nvSpPr>
              <p:cNvPr id="334" name="TextBox 334"/>
              <p:cNvSpPr txBox="1"/>
              <p:nvPr/>
            </p:nvSpPr>
            <p:spPr>
              <a:xfrm>
                <a:off x="9501188" y="4812030"/>
                <a:ext cx="1030582"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 xml:space="preserve">（PDF/Word/PPT/邮件）　</a:t>
                </a:r>
              </a:p>
            </p:txBody>
          </p:sp>
        </p:grpSp>
        <p:grpSp>
          <p:nvGrpSpPr>
            <p:cNvPr id="342" name="ds-3"/>
            <p:cNvGrpSpPr/>
            <p:nvPr/>
          </p:nvGrpSpPr>
          <p:grpSpPr>
            <a:xfrm>
              <a:off x="9144000" y="4972050"/>
              <a:ext cx="2724150" cy="323850"/>
              <a:chOff x="9144000" y="4972050"/>
              <a:chExt cx="2724150" cy="323850"/>
            </a:xfrm>
          </p:grpSpPr>
          <p:sp>
            <p:nvSpPr>
              <p:cNvPr id="336" name="Rectangle 336"/>
              <p:cNvSpPr/>
              <p:nvPr/>
            </p:nvSpPr>
            <p:spPr>
              <a:xfrm>
                <a:off x="9144000" y="4972050"/>
                <a:ext cx="2724150" cy="323850"/>
              </a:xfrm>
              <a:prstGeom prst="roundRect">
                <a:avLst>
                  <a:gd name="adj" fmla="val 17647"/>
                </a:avLst>
              </a:prstGeom>
              <a:solidFill>
                <a:srgbClr val="F4F8EC"/>
              </a:solidFill>
              <a:ln>
                <a:noFill/>
              </a:ln>
            </p:spPr>
          </p:sp>
          <p:grpSp>
            <p:nvGrpSpPr>
              <p:cNvPr id="339" name="Group 339"/>
              <p:cNvGrpSpPr/>
              <p:nvPr/>
            </p:nvGrpSpPr>
            <p:grpSpPr>
              <a:xfrm>
                <a:off x="9257545" y="5066545"/>
                <a:ext cx="134860" cy="134860"/>
                <a:chOff x="9257545" y="5066545"/>
                <a:chExt cx="134860" cy="134860"/>
              </a:xfrm>
            </p:grpSpPr>
            <p:sp>
              <p:nvSpPr>
                <p:cNvPr id="337" name="Freeform 337"/>
                <p:cNvSpPr/>
                <p:nvPr/>
              </p:nvSpPr>
              <p:spPr>
                <a:xfrm>
                  <a:off x="9257545" y="5066545"/>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7C3B2F"/>
                  </a:solidFill>
                </a:ln>
              </p:spPr>
            </p:sp>
            <p:sp>
              <p:nvSpPr>
                <p:cNvPr id="338" name="Freeform 338"/>
                <p:cNvSpPr/>
                <p:nvPr/>
              </p:nvSpPr>
              <p:spPr>
                <a:xfrm>
                  <a:off x="9303544" y="5112544"/>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7C3B2F"/>
                  </a:solidFill>
                </a:ln>
              </p:spPr>
            </p:sp>
          </p:grpSp>
          <p:sp>
            <p:nvSpPr>
              <p:cNvPr id="340" name="TextBox 340"/>
              <p:cNvSpPr txBox="1"/>
              <p:nvPr/>
            </p:nvSpPr>
            <p:spPr>
              <a:xfrm>
                <a:off x="9501188" y="503396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业务系统</a:t>
                </a:r>
              </a:p>
            </p:txBody>
          </p:sp>
          <p:sp>
            <p:nvSpPr>
              <p:cNvPr id="341" name="TextBox 341"/>
              <p:cNvSpPr txBox="1"/>
              <p:nvPr/>
            </p:nvSpPr>
            <p:spPr>
              <a:xfrm>
                <a:off x="9501188" y="5173980"/>
                <a:ext cx="1092708"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 xml:space="preserve">（ERP/CRM/工单/知识库）　</a:t>
                </a:r>
              </a:p>
            </p:txBody>
          </p:sp>
        </p:grpSp>
        <p:grpSp>
          <p:nvGrpSpPr>
            <p:cNvPr id="352" name="ds-4"/>
            <p:cNvGrpSpPr/>
            <p:nvPr/>
          </p:nvGrpSpPr>
          <p:grpSpPr>
            <a:xfrm>
              <a:off x="9144000" y="5334000"/>
              <a:ext cx="2724150" cy="323850"/>
              <a:chOff x="9144000" y="5334000"/>
              <a:chExt cx="2724150" cy="323850"/>
            </a:xfrm>
          </p:grpSpPr>
          <p:sp>
            <p:nvSpPr>
              <p:cNvPr id="343" name="Rectangle 343"/>
              <p:cNvSpPr/>
              <p:nvPr/>
            </p:nvSpPr>
            <p:spPr>
              <a:xfrm>
                <a:off x="9144000" y="5334000"/>
                <a:ext cx="2724150" cy="323850"/>
              </a:xfrm>
              <a:prstGeom prst="roundRect">
                <a:avLst>
                  <a:gd name="adj" fmla="val 17647"/>
                </a:avLst>
              </a:prstGeom>
              <a:solidFill>
                <a:srgbClr val="F4F8EC"/>
              </a:solidFill>
              <a:ln>
                <a:noFill/>
              </a:ln>
            </p:spPr>
          </p:sp>
          <p:grpSp>
            <p:nvGrpSpPr>
              <p:cNvPr id="349" name="Group 349"/>
              <p:cNvGrpSpPr/>
              <p:nvPr/>
            </p:nvGrpSpPr>
            <p:grpSpPr>
              <a:xfrm>
                <a:off x="9260681" y="5431631"/>
                <a:ext cx="128588" cy="128588"/>
                <a:chOff x="9260681" y="5431631"/>
                <a:chExt cx="128588" cy="128588"/>
              </a:xfrm>
            </p:grpSpPr>
            <p:sp>
              <p:nvSpPr>
                <p:cNvPr id="344" name="Freeform 344"/>
                <p:cNvSpPr/>
                <p:nvPr/>
              </p:nvSpPr>
              <p:spPr>
                <a:xfrm>
                  <a:off x="9310688" y="54316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C3B2F"/>
                  </a:solidFill>
                </a:ln>
              </p:spPr>
            </p:sp>
            <p:sp>
              <p:nvSpPr>
                <p:cNvPr id="345" name="Freeform 345"/>
                <p:cNvSpPr/>
                <p:nvPr/>
              </p:nvSpPr>
              <p:spPr>
                <a:xfrm>
                  <a:off x="9260681" y="553164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C3B2F"/>
                  </a:solidFill>
                </a:ln>
              </p:spPr>
            </p:sp>
            <p:sp>
              <p:nvSpPr>
                <p:cNvPr id="346" name="Freeform 346"/>
                <p:cNvSpPr/>
                <p:nvPr/>
              </p:nvSpPr>
              <p:spPr>
                <a:xfrm>
                  <a:off x="9360694" y="553164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C3B2F"/>
                  </a:solidFill>
                </a:ln>
              </p:spPr>
            </p:sp>
            <p:sp>
              <p:nvSpPr>
                <p:cNvPr id="347" name="Freeform 347"/>
                <p:cNvSpPr/>
                <p:nvPr/>
              </p:nvSpPr>
              <p:spPr>
                <a:xfrm>
                  <a:off x="9285684" y="5503069"/>
                  <a:ext cx="78581" cy="32147"/>
                </a:xfrm>
                <a:custGeom>
                  <a:avLst/>
                  <a:gdLst/>
                  <a:ahLst/>
                  <a:cxnLst/>
                  <a:rect l="l" t="t" r="r" b="b"/>
                  <a:pathLst>
                    <a:path w="78581" h="32147">
                      <a:moveTo>
                        <a:pt x="0" y="32147"/>
                      </a:moveTo>
                      <a:lnTo>
                        <a:pt x="39291" y="0"/>
                      </a:lnTo>
                      <a:lnTo>
                        <a:pt x="78581" y="32147"/>
                      </a:lnTo>
                    </a:path>
                  </a:pathLst>
                </a:custGeom>
                <a:noFill/>
                <a:ln w="14288">
                  <a:solidFill>
                    <a:srgbClr val="7C3B2F"/>
                  </a:solidFill>
                </a:ln>
              </p:spPr>
            </p:sp>
            <p:sp>
              <p:nvSpPr>
                <p:cNvPr id="348" name="Freeform 348"/>
                <p:cNvSpPr/>
                <p:nvPr/>
              </p:nvSpPr>
              <p:spPr>
                <a:xfrm>
                  <a:off x="9324975" y="5460206"/>
                  <a:ext cx="9525" cy="42862"/>
                </a:xfrm>
                <a:custGeom>
                  <a:avLst/>
                  <a:gdLst/>
                  <a:ahLst/>
                  <a:cxnLst/>
                  <a:rect l="l" t="t" r="r" b="b"/>
                  <a:pathLst>
                    <a:path w="9525" h="42862">
                      <a:moveTo>
                        <a:pt x="0" y="0"/>
                      </a:moveTo>
                      <a:lnTo>
                        <a:pt x="0" y="42862"/>
                      </a:lnTo>
                    </a:path>
                  </a:pathLst>
                </a:custGeom>
                <a:noFill/>
                <a:ln w="14288">
                  <a:solidFill>
                    <a:srgbClr val="7C3B2F"/>
                  </a:solidFill>
                </a:ln>
              </p:spPr>
            </p:sp>
          </p:grpSp>
          <p:sp>
            <p:nvSpPr>
              <p:cNvPr id="350" name="TextBox 350"/>
              <p:cNvSpPr txBox="1"/>
              <p:nvPr/>
            </p:nvSpPr>
            <p:spPr>
              <a:xfrm>
                <a:off x="9501188" y="539591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知识图谱</a:t>
                </a:r>
              </a:p>
            </p:txBody>
          </p:sp>
          <p:sp>
            <p:nvSpPr>
              <p:cNvPr id="351" name="TextBox 351"/>
              <p:cNvSpPr txBox="1"/>
              <p:nvPr/>
            </p:nvSpPr>
            <p:spPr>
              <a:xfrm>
                <a:off x="9501188" y="5535930"/>
                <a:ext cx="744550"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（概念/关系/本体）</a:t>
                </a:r>
              </a:p>
            </p:txBody>
          </p:sp>
        </p:grpSp>
      </p:grpSp>
      <p:grpSp>
        <p:nvGrpSpPr>
          <p:cNvPr id="412" name="metrics-band"/>
          <p:cNvGrpSpPr/>
          <p:nvPr/>
        </p:nvGrpSpPr>
        <p:grpSpPr>
          <a:xfrm>
            <a:off x="228600" y="5867400"/>
            <a:ext cx="11734800" cy="800100"/>
            <a:chOff x="228600" y="5867400"/>
            <a:chExt cx="11734800" cy="800100"/>
          </a:xfrm>
        </p:grpSpPr>
        <p:sp>
          <p:nvSpPr>
            <p:cNvPr id="354" name="Rectangle 354"/>
            <p:cNvSpPr/>
            <p:nvPr/>
          </p:nvSpPr>
          <p:spPr>
            <a:xfrm>
              <a:off x="228600" y="5867400"/>
              <a:ext cx="11734800" cy="800100"/>
            </a:xfrm>
            <a:prstGeom prst="roundRect">
              <a:avLst>
                <a:gd name="adj" fmla="val 11905"/>
              </a:avLst>
            </a:prstGeom>
            <a:solidFill>
              <a:srgbClr val="F4F8EC"/>
            </a:solidFill>
            <a:ln w="9525">
              <a:solidFill>
                <a:srgbClr val="D9E8C6"/>
              </a:solidFill>
            </a:ln>
          </p:spPr>
        </p:sp>
        <p:sp>
          <p:nvSpPr>
            <p:cNvPr id="355" name="Rectangle 355"/>
            <p:cNvSpPr/>
            <p:nvPr/>
          </p:nvSpPr>
          <p:spPr>
            <a:xfrm>
              <a:off x="342900" y="6057900"/>
              <a:ext cx="1123950" cy="419100"/>
            </a:xfrm>
            <a:prstGeom prst="roundRect">
              <a:avLst>
                <a:gd name="adj" fmla="val 18182"/>
              </a:avLst>
            </a:prstGeom>
            <a:solidFill>
              <a:srgbClr val="42140B"/>
            </a:solidFill>
            <a:ln>
              <a:noFill/>
            </a:ln>
          </p:spPr>
        </p:sp>
        <p:sp>
          <p:nvSpPr>
            <p:cNvPr id="356" name="TextBox 356"/>
            <p:cNvSpPr txBox="1"/>
            <p:nvPr/>
          </p:nvSpPr>
          <p:spPr>
            <a:xfrm>
              <a:off x="458559" y="6226016"/>
              <a:ext cx="89263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关键指标（示例）</a:t>
              </a:r>
            </a:p>
          </p:txBody>
        </p:sp>
        <p:grpSp>
          <p:nvGrpSpPr>
            <p:cNvPr id="363" name="kpi-1"/>
            <p:cNvGrpSpPr/>
            <p:nvPr/>
          </p:nvGrpSpPr>
          <p:grpSpPr>
            <a:xfrm>
              <a:off x="1643062" y="6176962"/>
              <a:ext cx="768075" cy="290751"/>
              <a:chOff x="1643062" y="6176962"/>
              <a:chExt cx="768075" cy="290751"/>
            </a:xfrm>
          </p:grpSpPr>
          <p:grpSp>
            <p:nvGrpSpPr>
              <p:cNvPr id="360" name="Group 360"/>
              <p:cNvGrpSpPr/>
              <p:nvPr/>
            </p:nvGrpSpPr>
            <p:grpSpPr>
              <a:xfrm>
                <a:off x="1643062" y="6196012"/>
                <a:ext cx="142875" cy="142875"/>
                <a:chOff x="1643062" y="6196012"/>
                <a:chExt cx="142875" cy="142875"/>
              </a:xfrm>
            </p:grpSpPr>
            <p:sp>
              <p:nvSpPr>
                <p:cNvPr id="357" name="Freeform 357"/>
                <p:cNvSpPr/>
                <p:nvPr/>
              </p:nvSpPr>
              <p:spPr>
                <a:xfrm>
                  <a:off x="1706562" y="62595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7C3B2F"/>
                  </a:solidFill>
                </a:ln>
              </p:spPr>
            </p:sp>
            <p:sp>
              <p:nvSpPr>
                <p:cNvPr id="358" name="Freeform 358"/>
                <p:cNvSpPr/>
                <p:nvPr/>
              </p:nvSpPr>
              <p:spPr>
                <a:xfrm>
                  <a:off x="1674812" y="62277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7C3B2F"/>
                  </a:solidFill>
                </a:ln>
              </p:spPr>
            </p:sp>
            <p:sp>
              <p:nvSpPr>
                <p:cNvPr id="359" name="Freeform 359"/>
                <p:cNvSpPr/>
                <p:nvPr/>
              </p:nvSpPr>
              <p:spPr>
                <a:xfrm>
                  <a:off x="1643062" y="61960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7C3B2F"/>
                  </a:solidFill>
                </a:ln>
              </p:spPr>
            </p:sp>
          </p:grpSp>
          <p:sp>
            <p:nvSpPr>
              <p:cNvPr id="361" name="TextBox 361"/>
              <p:cNvSpPr txBox="1"/>
              <p:nvPr/>
            </p:nvSpPr>
            <p:spPr>
              <a:xfrm>
                <a:off x="1881188" y="6176962"/>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检索命中率</a:t>
                </a:r>
              </a:p>
            </p:txBody>
          </p:sp>
          <p:sp>
            <p:nvSpPr>
              <p:cNvPr id="362" name="TextBox 362"/>
              <p:cNvSpPr txBox="1"/>
              <p:nvPr/>
            </p:nvSpPr>
            <p:spPr>
              <a:xfrm>
                <a:off x="1881188" y="6341507"/>
                <a:ext cx="529949"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 xml:space="preserve">(Recall@k)　</a:t>
                </a:r>
              </a:p>
            </p:txBody>
          </p:sp>
        </p:grpSp>
        <p:sp>
          <p:nvSpPr>
            <p:cNvPr id="364" name="Line 364"/>
            <p:cNvSpPr/>
            <p:nvPr/>
          </p:nvSpPr>
          <p:spPr>
            <a:xfrm>
              <a:off x="2971800" y="6096000"/>
              <a:ext cx="9525" cy="381000"/>
            </a:xfrm>
            <a:custGeom>
              <a:avLst/>
              <a:gdLst/>
              <a:ahLst/>
              <a:cxnLst/>
              <a:rect l="l" t="t" r="r" b="b"/>
              <a:pathLst>
                <a:path w="9525" h="381000">
                  <a:moveTo>
                    <a:pt x="0" y="0"/>
                  </a:moveTo>
                  <a:lnTo>
                    <a:pt x="0" y="381000"/>
                  </a:lnTo>
                </a:path>
              </a:pathLst>
            </a:custGeom>
            <a:noFill/>
            <a:ln w="9525">
              <a:solidFill>
                <a:srgbClr val="D9E8C6"/>
              </a:solidFill>
            </a:ln>
          </p:spPr>
        </p:sp>
        <p:grpSp>
          <p:nvGrpSpPr>
            <p:cNvPr id="371" name="kpi-2"/>
            <p:cNvGrpSpPr/>
            <p:nvPr/>
          </p:nvGrpSpPr>
          <p:grpSpPr>
            <a:xfrm>
              <a:off x="3117849" y="6176962"/>
              <a:ext cx="978143" cy="290751"/>
              <a:chOff x="3117849" y="6176962"/>
              <a:chExt cx="978143" cy="290751"/>
            </a:xfrm>
          </p:grpSpPr>
          <p:grpSp>
            <p:nvGrpSpPr>
              <p:cNvPr id="368" name="Group 368"/>
              <p:cNvGrpSpPr/>
              <p:nvPr/>
            </p:nvGrpSpPr>
            <p:grpSpPr>
              <a:xfrm>
                <a:off x="3117849" y="6200072"/>
                <a:ext cx="130867" cy="134739"/>
                <a:chOff x="3117849" y="6200072"/>
                <a:chExt cx="130867" cy="134739"/>
              </a:xfrm>
            </p:grpSpPr>
            <p:sp>
              <p:nvSpPr>
                <p:cNvPr id="365" name="Freeform 365"/>
                <p:cNvSpPr/>
                <p:nvPr/>
              </p:nvSpPr>
              <p:spPr>
                <a:xfrm>
                  <a:off x="3157537" y="6243637"/>
                  <a:ext cx="47625" cy="47625"/>
                </a:xfrm>
                <a:custGeom>
                  <a:avLst/>
                  <a:gdLst/>
                  <a:ahLst/>
                  <a:cxnLst/>
                  <a:rect l="l" t="t" r="r" b="b"/>
                  <a:pathLst>
                    <a:path w="47625" h="47625">
                      <a:moveTo>
                        <a:pt x="0" y="47625"/>
                      </a:moveTo>
                      <a:lnTo>
                        <a:pt x="47625" y="0"/>
                      </a:lnTo>
                    </a:path>
                  </a:pathLst>
                </a:custGeom>
                <a:noFill/>
                <a:ln w="15875">
                  <a:solidFill>
                    <a:srgbClr val="7C3B2F"/>
                  </a:solidFill>
                </a:ln>
              </p:spPr>
            </p:sp>
            <p:sp>
              <p:nvSpPr>
                <p:cNvPr id="366" name="Freeform 366"/>
                <p:cNvSpPr/>
                <p:nvPr/>
              </p:nvSpPr>
              <p:spPr>
                <a:xfrm>
                  <a:off x="3173412" y="6200072"/>
                  <a:ext cx="75304" cy="75316"/>
                </a:xfrm>
                <a:custGeom>
                  <a:avLst/>
                  <a:gdLst/>
                  <a:ahLst/>
                  <a:cxnLst/>
                  <a:rect l="l" t="t" r="r" b="b"/>
                  <a:pathLst>
                    <a:path w="75304" h="75316">
                      <a:moveTo>
                        <a:pt x="0" y="19753"/>
                      </a:moveTo>
                      <a:lnTo>
                        <a:pt x="3675" y="15499"/>
                      </a:lnTo>
                      <a:cubicBezTo>
                        <a:pt x="19176" y="0"/>
                        <a:pt x="44306" y="2"/>
                        <a:pt x="59805" y="15503"/>
                      </a:cubicBezTo>
                      <a:cubicBezTo>
                        <a:pt x="75304" y="31004"/>
                        <a:pt x="75302" y="56134"/>
                        <a:pt x="59801" y="71633"/>
                      </a:cubicBezTo>
                      <a:lnTo>
                        <a:pt x="55562" y="75316"/>
                      </a:lnTo>
                    </a:path>
                  </a:pathLst>
                </a:custGeom>
                <a:noFill/>
                <a:ln w="15875">
                  <a:solidFill>
                    <a:srgbClr val="7C3B2F"/>
                  </a:solidFill>
                </a:ln>
              </p:spPr>
            </p:sp>
            <p:sp>
              <p:nvSpPr>
                <p:cNvPr id="367" name="Freeform 367"/>
                <p:cNvSpPr/>
                <p:nvPr/>
              </p:nvSpPr>
              <p:spPr>
                <a:xfrm>
                  <a:off x="3117849" y="6259512"/>
                  <a:ext cx="71439" cy="75299"/>
                </a:xfrm>
                <a:custGeom>
                  <a:avLst/>
                  <a:gdLst/>
                  <a:ahLst/>
                  <a:cxnLst/>
                  <a:rect l="l" t="t" r="r" b="b"/>
                  <a:pathLst>
                    <a:path w="71439" h="75299">
                      <a:moveTo>
                        <a:pt x="71439" y="55562"/>
                      </a:moveTo>
                      <a:lnTo>
                        <a:pt x="68287" y="59801"/>
                      </a:lnTo>
                      <a:cubicBezTo>
                        <a:pt x="52615" y="75299"/>
                        <a:pt x="27389" y="75299"/>
                        <a:pt x="11717" y="59801"/>
                      </a:cubicBezTo>
                      <a:cubicBezTo>
                        <a:pt x="4219" y="52388"/>
                        <a:pt x="0" y="42282"/>
                        <a:pt x="0" y="31738"/>
                      </a:cubicBezTo>
                      <a:cubicBezTo>
                        <a:pt x="0" y="21194"/>
                        <a:pt x="4219" y="11089"/>
                        <a:pt x="11717" y="3675"/>
                      </a:cubicBezTo>
                      <a:lnTo>
                        <a:pt x="15876" y="0"/>
                      </a:lnTo>
                    </a:path>
                  </a:pathLst>
                </a:custGeom>
                <a:noFill/>
                <a:ln w="15875">
                  <a:solidFill>
                    <a:srgbClr val="7C3B2F"/>
                  </a:solidFill>
                </a:ln>
              </p:spPr>
            </p:sp>
          </p:grpSp>
          <p:sp>
            <p:nvSpPr>
              <p:cNvPr id="369" name="TextBox 369"/>
              <p:cNvSpPr txBox="1"/>
              <p:nvPr/>
            </p:nvSpPr>
            <p:spPr>
              <a:xfrm>
                <a:off x="3348038" y="6176962"/>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引用率</a:t>
                </a:r>
              </a:p>
            </p:txBody>
          </p:sp>
          <p:sp>
            <p:nvSpPr>
              <p:cNvPr id="370" name="TextBox 370"/>
              <p:cNvSpPr txBox="1"/>
              <p:nvPr/>
            </p:nvSpPr>
            <p:spPr>
              <a:xfrm>
                <a:off x="3348038" y="6341507"/>
                <a:ext cx="747954"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 xml:space="preserve">(Citation Rate)　</a:t>
                </a:r>
              </a:p>
            </p:txBody>
          </p:sp>
        </p:grpSp>
        <p:sp>
          <p:nvSpPr>
            <p:cNvPr id="372" name="Line 372"/>
            <p:cNvSpPr/>
            <p:nvPr/>
          </p:nvSpPr>
          <p:spPr>
            <a:xfrm>
              <a:off x="4438650" y="6096000"/>
              <a:ext cx="9525" cy="381000"/>
            </a:xfrm>
            <a:custGeom>
              <a:avLst/>
              <a:gdLst/>
              <a:ahLst/>
              <a:cxnLst/>
              <a:rect l="l" t="t" r="r" b="b"/>
              <a:pathLst>
                <a:path w="9525" h="381000">
                  <a:moveTo>
                    <a:pt x="0" y="0"/>
                  </a:moveTo>
                  <a:lnTo>
                    <a:pt x="0" y="381000"/>
                  </a:lnTo>
                </a:path>
              </a:pathLst>
            </a:custGeom>
            <a:noFill/>
            <a:ln w="9525">
              <a:solidFill>
                <a:srgbClr val="D9E8C6"/>
              </a:solidFill>
            </a:ln>
          </p:spPr>
        </p:sp>
        <p:grpSp>
          <p:nvGrpSpPr>
            <p:cNvPr id="379" name="kpi-3"/>
            <p:cNvGrpSpPr/>
            <p:nvPr/>
          </p:nvGrpSpPr>
          <p:grpSpPr>
            <a:xfrm>
              <a:off x="4568149" y="6176962"/>
              <a:ext cx="1188044" cy="290751"/>
              <a:chOff x="4568149" y="6176962"/>
              <a:chExt cx="1188044" cy="290751"/>
            </a:xfrm>
          </p:grpSpPr>
          <p:grpSp>
            <p:nvGrpSpPr>
              <p:cNvPr id="376" name="Group 376"/>
              <p:cNvGrpSpPr/>
              <p:nvPr/>
            </p:nvGrpSpPr>
            <p:grpSpPr>
              <a:xfrm>
                <a:off x="4568149" y="6193375"/>
                <a:ext cx="160095" cy="137543"/>
                <a:chOff x="4568149" y="6193375"/>
                <a:chExt cx="160095" cy="137543"/>
              </a:xfrm>
            </p:grpSpPr>
            <p:sp>
              <p:nvSpPr>
                <p:cNvPr id="373" name="Freeform 373"/>
                <p:cNvSpPr/>
                <p:nvPr/>
              </p:nvSpPr>
              <p:spPr>
                <a:xfrm>
                  <a:off x="4648200" y="6243637"/>
                  <a:ext cx="9525" cy="31750"/>
                </a:xfrm>
                <a:custGeom>
                  <a:avLst/>
                  <a:gdLst/>
                  <a:ahLst/>
                  <a:cxnLst/>
                  <a:rect l="l" t="t" r="r" b="b"/>
                  <a:pathLst>
                    <a:path w="9525" h="31750">
                      <a:moveTo>
                        <a:pt x="0" y="0"/>
                      </a:moveTo>
                      <a:lnTo>
                        <a:pt x="0" y="31750"/>
                      </a:lnTo>
                    </a:path>
                  </a:pathLst>
                </a:custGeom>
                <a:noFill/>
                <a:ln w="15875">
                  <a:solidFill>
                    <a:srgbClr val="C44E3A"/>
                  </a:solidFill>
                </a:ln>
              </p:spPr>
            </p:sp>
            <p:sp>
              <p:nvSpPr>
                <p:cNvPr id="374" name="Freeform 374"/>
                <p:cNvSpPr/>
                <p:nvPr/>
              </p:nvSpPr>
              <p:spPr>
                <a:xfrm>
                  <a:off x="4568149" y="619337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C44E3A"/>
                  </a:solidFill>
                </a:ln>
              </p:spPr>
            </p:sp>
            <p:sp>
              <p:nvSpPr>
                <p:cNvPr id="375" name="Freeform 375"/>
                <p:cNvSpPr/>
                <p:nvPr/>
              </p:nvSpPr>
              <p:spPr>
                <a:xfrm>
                  <a:off x="4648200" y="6299200"/>
                  <a:ext cx="9525" cy="9525"/>
                </a:xfrm>
                <a:custGeom>
                  <a:avLst/>
                  <a:gdLst/>
                  <a:ahLst/>
                  <a:cxnLst/>
                  <a:rect l="l" t="t" r="r" b="b"/>
                  <a:pathLst>
                    <a:path w="9525" h="9525">
                      <a:moveTo>
                        <a:pt x="0" y="0"/>
                      </a:moveTo>
                      <a:lnTo>
                        <a:pt x="79" y="0"/>
                      </a:lnTo>
                    </a:path>
                  </a:pathLst>
                </a:custGeom>
                <a:noFill/>
                <a:ln w="15875">
                  <a:solidFill>
                    <a:srgbClr val="C44E3A"/>
                  </a:solidFill>
                </a:ln>
              </p:spPr>
            </p:sp>
          </p:grpSp>
          <p:sp>
            <p:nvSpPr>
              <p:cNvPr id="377" name="TextBox 377"/>
              <p:cNvSpPr txBox="1"/>
              <p:nvPr/>
            </p:nvSpPr>
            <p:spPr>
              <a:xfrm>
                <a:off x="4814888" y="6176962"/>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幻觉率</a:t>
                </a:r>
              </a:p>
            </p:txBody>
          </p:sp>
          <p:sp>
            <p:nvSpPr>
              <p:cNvPr id="378" name="TextBox 378"/>
              <p:cNvSpPr txBox="1"/>
              <p:nvPr/>
            </p:nvSpPr>
            <p:spPr>
              <a:xfrm>
                <a:off x="4814888" y="6341507"/>
                <a:ext cx="941305"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 xml:space="preserve">(Hallucination Rate)　</a:t>
                </a:r>
              </a:p>
            </p:txBody>
          </p:sp>
        </p:grpSp>
        <p:sp>
          <p:nvSpPr>
            <p:cNvPr id="380" name="Line 380"/>
            <p:cNvSpPr/>
            <p:nvPr/>
          </p:nvSpPr>
          <p:spPr>
            <a:xfrm>
              <a:off x="5905500" y="6096000"/>
              <a:ext cx="9525" cy="381000"/>
            </a:xfrm>
            <a:custGeom>
              <a:avLst/>
              <a:gdLst/>
              <a:ahLst/>
              <a:cxnLst/>
              <a:rect l="l" t="t" r="r" b="b"/>
              <a:pathLst>
                <a:path w="9525" h="381000">
                  <a:moveTo>
                    <a:pt x="0" y="0"/>
                  </a:moveTo>
                  <a:lnTo>
                    <a:pt x="0" y="381000"/>
                  </a:lnTo>
                </a:path>
              </a:pathLst>
            </a:custGeom>
            <a:noFill/>
            <a:ln w="9525">
              <a:solidFill>
                <a:srgbClr val="D9E8C6"/>
              </a:solidFill>
            </a:ln>
          </p:spPr>
        </p:sp>
        <p:grpSp>
          <p:nvGrpSpPr>
            <p:cNvPr id="386" name="kpi-4"/>
            <p:cNvGrpSpPr/>
            <p:nvPr/>
          </p:nvGrpSpPr>
          <p:grpSpPr>
            <a:xfrm>
              <a:off x="6043612" y="6176962"/>
              <a:ext cx="1007822" cy="290751"/>
              <a:chOff x="6043612" y="6176962"/>
              <a:chExt cx="1007822" cy="290751"/>
            </a:xfrm>
          </p:grpSpPr>
          <p:grpSp>
            <p:nvGrpSpPr>
              <p:cNvPr id="383" name="Group 383"/>
              <p:cNvGrpSpPr/>
              <p:nvPr/>
            </p:nvGrpSpPr>
            <p:grpSpPr>
              <a:xfrm>
                <a:off x="6043612" y="6196012"/>
                <a:ext cx="142875" cy="142875"/>
                <a:chOff x="6043612" y="6196012"/>
                <a:chExt cx="142875" cy="142875"/>
              </a:xfrm>
            </p:grpSpPr>
            <p:sp>
              <p:nvSpPr>
                <p:cNvPr id="381" name="Freeform 381"/>
                <p:cNvSpPr/>
                <p:nvPr/>
              </p:nvSpPr>
              <p:spPr>
                <a:xfrm>
                  <a:off x="6043612" y="61960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7C3B2F"/>
                  </a:solidFill>
                </a:ln>
              </p:spPr>
            </p:sp>
            <p:sp>
              <p:nvSpPr>
                <p:cNvPr id="382" name="Freeform 382"/>
                <p:cNvSpPr/>
                <p:nvPr/>
              </p:nvSpPr>
              <p:spPr>
                <a:xfrm>
                  <a:off x="6091237" y="6251575"/>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grpSp>
          <p:sp>
            <p:nvSpPr>
              <p:cNvPr id="384" name="TextBox 384"/>
              <p:cNvSpPr txBox="1"/>
              <p:nvPr/>
            </p:nvSpPr>
            <p:spPr>
              <a:xfrm>
                <a:off x="6281738" y="6176962"/>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答案采纳率</a:t>
                </a:r>
              </a:p>
            </p:txBody>
          </p:sp>
          <p:sp>
            <p:nvSpPr>
              <p:cNvPr id="385" name="TextBox 385"/>
              <p:cNvSpPr txBox="1"/>
              <p:nvPr/>
            </p:nvSpPr>
            <p:spPr>
              <a:xfrm>
                <a:off x="6281738" y="6341507"/>
                <a:ext cx="769696"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 xml:space="preserve">(Adoption Rate)　</a:t>
                </a:r>
              </a:p>
            </p:txBody>
          </p:sp>
        </p:grpSp>
        <p:sp>
          <p:nvSpPr>
            <p:cNvPr id="387" name="Line 387"/>
            <p:cNvSpPr/>
            <p:nvPr/>
          </p:nvSpPr>
          <p:spPr>
            <a:xfrm>
              <a:off x="7372350" y="6096000"/>
              <a:ext cx="9525" cy="381000"/>
            </a:xfrm>
            <a:custGeom>
              <a:avLst/>
              <a:gdLst/>
              <a:ahLst/>
              <a:cxnLst/>
              <a:rect l="l" t="t" r="r" b="b"/>
              <a:pathLst>
                <a:path w="9525" h="381000">
                  <a:moveTo>
                    <a:pt x="0" y="0"/>
                  </a:moveTo>
                  <a:lnTo>
                    <a:pt x="0" y="381000"/>
                  </a:lnTo>
                </a:path>
              </a:pathLst>
            </a:custGeom>
            <a:noFill/>
            <a:ln w="9525">
              <a:solidFill>
                <a:srgbClr val="D9E8C6"/>
              </a:solidFill>
            </a:ln>
          </p:spPr>
        </p:sp>
        <p:grpSp>
          <p:nvGrpSpPr>
            <p:cNvPr id="393" name="kpi-5"/>
            <p:cNvGrpSpPr/>
            <p:nvPr/>
          </p:nvGrpSpPr>
          <p:grpSpPr>
            <a:xfrm>
              <a:off x="7510462" y="6176962"/>
              <a:ext cx="853441" cy="290751"/>
              <a:chOff x="7510462" y="6176962"/>
              <a:chExt cx="853441" cy="290751"/>
            </a:xfrm>
          </p:grpSpPr>
          <p:grpSp>
            <p:nvGrpSpPr>
              <p:cNvPr id="390" name="Group 390"/>
              <p:cNvGrpSpPr/>
              <p:nvPr/>
            </p:nvGrpSpPr>
            <p:grpSpPr>
              <a:xfrm>
                <a:off x="7510462" y="6196012"/>
                <a:ext cx="142875" cy="142875"/>
                <a:chOff x="7510462" y="6196012"/>
                <a:chExt cx="142875" cy="142875"/>
              </a:xfrm>
            </p:grpSpPr>
            <p:sp>
              <p:nvSpPr>
                <p:cNvPr id="388" name="Freeform 388"/>
                <p:cNvSpPr/>
                <p:nvPr/>
              </p:nvSpPr>
              <p:spPr>
                <a:xfrm>
                  <a:off x="7510462" y="61960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7C3B2F"/>
                  </a:solidFill>
                </a:ln>
              </p:spPr>
            </p:sp>
            <p:sp>
              <p:nvSpPr>
                <p:cNvPr id="389" name="Freeform 389"/>
                <p:cNvSpPr/>
                <p:nvPr/>
              </p:nvSpPr>
              <p:spPr>
                <a:xfrm>
                  <a:off x="7581900" y="6227762"/>
                  <a:ext cx="23812" cy="63500"/>
                </a:xfrm>
                <a:custGeom>
                  <a:avLst/>
                  <a:gdLst/>
                  <a:ahLst/>
                  <a:cxnLst/>
                  <a:rect l="l" t="t" r="r" b="b"/>
                  <a:pathLst>
                    <a:path w="23812" h="63500">
                      <a:moveTo>
                        <a:pt x="0" y="0"/>
                      </a:moveTo>
                      <a:lnTo>
                        <a:pt x="0" y="39687"/>
                      </a:lnTo>
                      <a:lnTo>
                        <a:pt x="23812" y="63500"/>
                      </a:lnTo>
                    </a:path>
                  </a:pathLst>
                </a:custGeom>
                <a:noFill/>
                <a:ln w="15875">
                  <a:solidFill>
                    <a:srgbClr val="7C3B2F"/>
                  </a:solidFill>
                </a:ln>
              </p:spPr>
            </p:sp>
          </p:grpSp>
          <p:sp>
            <p:nvSpPr>
              <p:cNvPr id="391" name="TextBox 391"/>
              <p:cNvSpPr txBox="1"/>
              <p:nvPr/>
            </p:nvSpPr>
            <p:spPr>
              <a:xfrm>
                <a:off x="7748588" y="6176962"/>
                <a:ext cx="61531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平均响应时延</a:t>
                </a:r>
              </a:p>
            </p:txBody>
          </p:sp>
          <p:sp>
            <p:nvSpPr>
              <p:cNvPr id="392" name="TextBox 392"/>
              <p:cNvSpPr txBox="1"/>
              <p:nvPr/>
            </p:nvSpPr>
            <p:spPr>
              <a:xfrm>
                <a:off x="7748588" y="6341507"/>
                <a:ext cx="525607"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 xml:space="preserve">(Latency)　</a:t>
                </a:r>
              </a:p>
            </p:txBody>
          </p:sp>
        </p:grpSp>
        <p:sp>
          <p:nvSpPr>
            <p:cNvPr id="394" name="Line 394"/>
            <p:cNvSpPr/>
            <p:nvPr/>
          </p:nvSpPr>
          <p:spPr>
            <a:xfrm>
              <a:off x="8839200" y="6096000"/>
              <a:ext cx="9525" cy="381000"/>
            </a:xfrm>
            <a:custGeom>
              <a:avLst/>
              <a:gdLst/>
              <a:ahLst/>
              <a:cxnLst/>
              <a:rect l="l" t="t" r="r" b="b"/>
              <a:pathLst>
                <a:path w="9525" h="381000">
                  <a:moveTo>
                    <a:pt x="0" y="0"/>
                  </a:moveTo>
                  <a:lnTo>
                    <a:pt x="0" y="381000"/>
                  </a:lnTo>
                </a:path>
              </a:pathLst>
            </a:custGeom>
            <a:noFill/>
            <a:ln w="9525">
              <a:solidFill>
                <a:srgbClr val="D9E8C6"/>
              </a:solidFill>
            </a:ln>
          </p:spPr>
        </p:sp>
        <p:grpSp>
          <p:nvGrpSpPr>
            <p:cNvPr id="403" name="kpi-6"/>
            <p:cNvGrpSpPr/>
            <p:nvPr/>
          </p:nvGrpSpPr>
          <p:grpSpPr>
            <a:xfrm>
              <a:off x="8977312" y="6176962"/>
              <a:ext cx="1073049" cy="290751"/>
              <a:chOff x="8977312" y="6176962"/>
              <a:chExt cx="1073049" cy="290751"/>
            </a:xfrm>
          </p:grpSpPr>
          <p:grpSp>
            <p:nvGrpSpPr>
              <p:cNvPr id="400" name="Group 400"/>
              <p:cNvGrpSpPr/>
              <p:nvPr/>
            </p:nvGrpSpPr>
            <p:grpSpPr>
              <a:xfrm>
                <a:off x="8977312" y="6194949"/>
                <a:ext cx="142875" cy="143938"/>
                <a:chOff x="8977312" y="6194949"/>
                <a:chExt cx="142875" cy="143938"/>
              </a:xfrm>
            </p:grpSpPr>
            <p:sp>
              <p:nvSpPr>
                <p:cNvPr id="395" name="Freeform 395"/>
                <p:cNvSpPr/>
                <p:nvPr/>
              </p:nvSpPr>
              <p:spPr>
                <a:xfrm>
                  <a:off x="9024937" y="625951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7C3B2F"/>
                  </a:solidFill>
                </a:ln>
              </p:spPr>
            </p:sp>
            <p:sp>
              <p:nvSpPr>
                <p:cNvPr id="396" name="Freeform 396"/>
                <p:cNvSpPr/>
                <p:nvPr/>
              </p:nvSpPr>
              <p:spPr>
                <a:xfrm>
                  <a:off x="9024937" y="628332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7C3B2F"/>
                  </a:solidFill>
                </a:ln>
              </p:spPr>
            </p:sp>
            <p:sp>
              <p:nvSpPr>
                <p:cNvPr id="397" name="Freeform 397"/>
                <p:cNvSpPr/>
                <p:nvPr/>
              </p:nvSpPr>
              <p:spPr>
                <a:xfrm>
                  <a:off x="8977312" y="619494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7C3B2F"/>
                  </a:solidFill>
                </a:ln>
              </p:spPr>
            </p:sp>
            <p:sp>
              <p:nvSpPr>
                <p:cNvPr id="398" name="Freeform 398"/>
                <p:cNvSpPr/>
                <p:nvPr/>
              </p:nvSpPr>
              <p:spPr>
                <a:xfrm>
                  <a:off x="8977312" y="621982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7C3B2F"/>
                  </a:solidFill>
                </a:ln>
              </p:spPr>
            </p:sp>
            <p:sp>
              <p:nvSpPr>
                <p:cNvPr id="399" name="Freeform 399"/>
                <p:cNvSpPr/>
                <p:nvPr/>
              </p:nvSpPr>
              <p:spPr>
                <a:xfrm>
                  <a:off x="8977312" y="625951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7C3B2F"/>
                  </a:solidFill>
                </a:ln>
              </p:spPr>
            </p:sp>
          </p:grpSp>
          <p:sp>
            <p:nvSpPr>
              <p:cNvPr id="401" name="TextBox 401"/>
              <p:cNvSpPr txBox="1"/>
              <p:nvPr/>
            </p:nvSpPr>
            <p:spPr>
              <a:xfrm>
                <a:off x="9215438" y="617696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单次成本</a:t>
                </a:r>
              </a:p>
            </p:txBody>
          </p:sp>
          <p:sp>
            <p:nvSpPr>
              <p:cNvPr id="402" name="TextBox 402"/>
              <p:cNvSpPr txBox="1"/>
              <p:nvPr/>
            </p:nvSpPr>
            <p:spPr>
              <a:xfrm>
                <a:off x="9215438" y="6341507"/>
                <a:ext cx="834923"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 xml:space="preserve">(Cost per Query)　</a:t>
                </a:r>
              </a:p>
            </p:txBody>
          </p:sp>
        </p:grpSp>
        <p:sp>
          <p:nvSpPr>
            <p:cNvPr id="404" name="Line 404"/>
            <p:cNvSpPr/>
            <p:nvPr/>
          </p:nvSpPr>
          <p:spPr>
            <a:xfrm>
              <a:off x="10306050" y="6096000"/>
              <a:ext cx="9525" cy="381000"/>
            </a:xfrm>
            <a:custGeom>
              <a:avLst/>
              <a:gdLst/>
              <a:ahLst/>
              <a:cxnLst/>
              <a:rect l="l" t="t" r="r" b="b"/>
              <a:pathLst>
                <a:path w="9525" h="381000">
                  <a:moveTo>
                    <a:pt x="0" y="0"/>
                  </a:moveTo>
                  <a:lnTo>
                    <a:pt x="0" y="381000"/>
                  </a:lnTo>
                </a:path>
              </a:pathLst>
            </a:custGeom>
            <a:noFill/>
            <a:ln w="9525">
              <a:solidFill>
                <a:srgbClr val="D9E8C6"/>
              </a:solidFill>
            </a:ln>
          </p:spPr>
        </p:sp>
        <p:grpSp>
          <p:nvGrpSpPr>
            <p:cNvPr id="411" name="kpi-7"/>
            <p:cNvGrpSpPr/>
            <p:nvPr/>
          </p:nvGrpSpPr>
          <p:grpSpPr>
            <a:xfrm>
              <a:off x="10447353" y="6176962"/>
              <a:ext cx="749285" cy="290751"/>
              <a:chOff x="10447353" y="6176962"/>
              <a:chExt cx="749285" cy="290751"/>
            </a:xfrm>
          </p:grpSpPr>
          <p:grpSp>
            <p:nvGrpSpPr>
              <p:cNvPr id="408" name="Group 408"/>
              <p:cNvGrpSpPr/>
              <p:nvPr/>
            </p:nvGrpSpPr>
            <p:grpSpPr>
              <a:xfrm>
                <a:off x="10447353" y="6196012"/>
                <a:ext cx="136478" cy="142002"/>
                <a:chOff x="10447353" y="6196012"/>
                <a:chExt cx="136478" cy="142002"/>
              </a:xfrm>
            </p:grpSpPr>
            <p:sp>
              <p:nvSpPr>
                <p:cNvPr id="405" name="Freeform 405"/>
                <p:cNvSpPr/>
                <p:nvPr/>
              </p:nvSpPr>
              <p:spPr>
                <a:xfrm>
                  <a:off x="10467975" y="6196012"/>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7C3B2F"/>
                  </a:solidFill>
                </a:ln>
              </p:spPr>
            </p:sp>
            <p:sp>
              <p:nvSpPr>
                <p:cNvPr id="406" name="Freeform 406"/>
                <p:cNvSpPr/>
                <p:nvPr/>
              </p:nvSpPr>
              <p:spPr>
                <a:xfrm>
                  <a:off x="10515600" y="6267450"/>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7C3B2F"/>
                  </a:solidFill>
                </a:ln>
              </p:spPr>
            </p:sp>
            <p:sp>
              <p:nvSpPr>
                <p:cNvPr id="407" name="Freeform 407"/>
                <p:cNvSpPr/>
                <p:nvPr/>
              </p:nvSpPr>
              <p:spPr>
                <a:xfrm>
                  <a:off x="10447353" y="6267450"/>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7C3B2F"/>
                  </a:solidFill>
                </a:ln>
              </p:spPr>
            </p:sp>
          </p:grpSp>
          <p:sp>
            <p:nvSpPr>
              <p:cNvPr id="409" name="TextBox 409"/>
              <p:cNvSpPr txBox="1"/>
              <p:nvPr/>
            </p:nvSpPr>
            <p:spPr>
              <a:xfrm>
                <a:off x="10682288" y="6176962"/>
                <a:ext cx="51435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用户满意度</a:t>
                </a:r>
              </a:p>
            </p:txBody>
          </p:sp>
          <p:sp>
            <p:nvSpPr>
              <p:cNvPr id="410" name="TextBox 410"/>
              <p:cNvSpPr txBox="1"/>
              <p:nvPr/>
            </p:nvSpPr>
            <p:spPr>
              <a:xfrm>
                <a:off x="10682288" y="6341507"/>
                <a:ext cx="346024"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 xml:space="preserve">(SAT)　</a:t>
                </a:r>
              </a:p>
            </p:txBody>
          </p:sp>
        </p:grpSp>
      </p:gr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09</a:t>
              </a:r>
            </a:p>
          </p:txBody>
        </p:sp>
        <p:sp>
          <p:nvSpPr>
            <p:cNvPr id="4" name="TextBox 4"/>
            <p:cNvSpPr txBox="1"/>
            <p:nvPr/>
          </p:nvSpPr>
          <p:spPr>
            <a:xfrm>
              <a:off x="942594" y="151448"/>
              <a:ext cx="72313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检索质量必须拆成</a:t>
              </a:r>
              <a:r>
                <a:rPr lang="zh-CN" sz="1950" b="1" dirty="0">
                  <a:solidFill>
                    <a:srgbClr val="7C3B2F"/>
                  </a:solidFill>
                  <a:latin typeface="SimSun"/>
                  <a:ea typeface="SimSun"/>
                  <a:cs typeface="SimSun"/>
                </a:rPr>
                <a:t>召回、排序、生成与业务可用性</a:t>
              </a:r>
              <a:r>
                <a:rPr lang="zh-CN" sz="1950" b="1" dirty="0">
                  <a:solidFill>
                    <a:srgbClr val="1A1A1A"/>
                  </a:solidFill>
                  <a:latin typeface="SimSun"/>
                  <a:ea typeface="SimSun"/>
                  <a:cs typeface="SimSun"/>
                </a:rPr>
                <a:t>四层评测</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46" name="eval-layers"/>
          <p:cNvGrpSpPr/>
          <p:nvPr/>
        </p:nvGrpSpPr>
        <p:grpSpPr>
          <a:xfrm>
            <a:off x="228600" y="666750"/>
            <a:ext cx="2571750" cy="3695700"/>
            <a:chOff x="228600" y="666750"/>
            <a:chExt cx="2571750" cy="3695700"/>
          </a:xfrm>
        </p:grpSpPr>
        <p:grpSp>
          <p:nvGrpSpPr>
            <p:cNvPr id="13" name="layer-recall"/>
            <p:cNvGrpSpPr/>
            <p:nvPr/>
          </p:nvGrpSpPr>
          <p:grpSpPr>
            <a:xfrm>
              <a:off x="228600" y="666750"/>
              <a:ext cx="2571750" cy="838200"/>
              <a:chOff x="228600" y="666750"/>
              <a:chExt cx="2571750" cy="838200"/>
            </a:xfrm>
          </p:grpSpPr>
          <p:sp>
            <p:nvSpPr>
              <p:cNvPr id="7" name="Rectangle 7"/>
              <p:cNvSpPr/>
              <p:nvPr/>
            </p:nvSpPr>
            <p:spPr>
              <a:xfrm>
                <a:off x="228600" y="666750"/>
                <a:ext cx="2571750" cy="838200"/>
              </a:xfrm>
              <a:prstGeom prst="roundRect">
                <a:avLst>
                  <a:gd name="adj" fmla="val 9091"/>
                </a:avLst>
              </a:prstGeom>
              <a:solidFill>
                <a:srgbClr val="F4F8EC"/>
              </a:solidFill>
              <a:ln w="9525">
                <a:solidFill>
                  <a:srgbClr val="D9E8C6"/>
                </a:solidFill>
              </a:ln>
            </p:spPr>
          </p:sp>
          <p:sp>
            <p:nvSpPr>
              <p:cNvPr id="8" name="Rectangle 8"/>
              <p:cNvSpPr/>
              <p:nvPr/>
            </p:nvSpPr>
            <p:spPr>
              <a:xfrm>
                <a:off x="228600" y="666750"/>
                <a:ext cx="571500" cy="838200"/>
              </a:xfrm>
              <a:prstGeom prst="roundRect">
                <a:avLst>
                  <a:gd name="adj" fmla="val 13333"/>
                </a:avLst>
              </a:prstGeom>
              <a:solidFill>
                <a:srgbClr val="42140B"/>
              </a:solidFill>
              <a:ln>
                <a:noFill/>
              </a:ln>
            </p:spPr>
          </p:sp>
          <p:sp>
            <p:nvSpPr>
              <p:cNvPr id="9" name="Rectangle 9"/>
              <p:cNvSpPr/>
              <p:nvPr/>
            </p:nvSpPr>
            <p:spPr>
              <a:xfrm>
                <a:off x="685800" y="666750"/>
                <a:ext cx="114300" cy="838200"/>
              </a:xfrm>
              <a:prstGeom prst="rect">
                <a:avLst/>
              </a:prstGeom>
              <a:solidFill>
                <a:srgbClr val="42140B"/>
              </a:solidFill>
              <a:ln>
                <a:noFill/>
              </a:ln>
            </p:spPr>
          </p:sp>
          <p:sp>
            <p:nvSpPr>
              <p:cNvPr id="10" name="Freeform 10"/>
              <p:cNvSpPr/>
              <p:nvPr/>
            </p:nvSpPr>
            <p:spPr>
              <a:xfrm>
                <a:off x="425450" y="996950"/>
                <a:ext cx="177801" cy="188913"/>
              </a:xfrm>
              <a:custGeom>
                <a:avLst/>
                <a:gdLst/>
                <a:ahLst/>
                <a:cxnLst/>
                <a:rect l="l" t="t" r="r" b="b"/>
                <a:pathLst>
                  <a:path w="177801" h="188913">
                    <a:moveTo>
                      <a:pt x="0" y="0"/>
                    </a:moveTo>
                    <a:lnTo>
                      <a:pt x="177801" y="0"/>
                    </a:lnTo>
                    <a:lnTo>
                      <a:pt x="177801" y="24136"/>
                    </a:lnTo>
                    <a:cubicBezTo>
                      <a:pt x="177799" y="30030"/>
                      <a:pt x="175457" y="35683"/>
                      <a:pt x="171289" y="39850"/>
                    </a:cubicBezTo>
                    <a:lnTo>
                      <a:pt x="122238" y="88900"/>
                    </a:lnTo>
                    <a:lnTo>
                      <a:pt x="122238" y="166688"/>
                    </a:lnTo>
                    <a:lnTo>
                      <a:pt x="55563" y="188913"/>
                    </a:lnTo>
                    <a:lnTo>
                      <a:pt x="55563" y="94457"/>
                    </a:lnTo>
                    <a:lnTo>
                      <a:pt x="5779" y="39694"/>
                    </a:lnTo>
                    <a:cubicBezTo>
                      <a:pt x="2061" y="35604"/>
                      <a:pt x="1" y="30275"/>
                      <a:pt x="0" y="24748"/>
                    </a:cubicBezTo>
                    <a:lnTo>
                      <a:pt x="0" y="0"/>
                    </a:lnTo>
                  </a:path>
                </a:pathLst>
              </a:custGeom>
              <a:noFill/>
              <a:ln w="22225">
                <a:solidFill>
                  <a:srgbClr val="FFFFFF"/>
                </a:solidFill>
              </a:ln>
            </p:spPr>
          </p:sp>
          <p:sp>
            <p:nvSpPr>
              <p:cNvPr id="11" name="TextBox 11"/>
              <p:cNvSpPr txBox="1"/>
              <p:nvPr/>
            </p:nvSpPr>
            <p:spPr>
              <a:xfrm>
                <a:off x="909638" y="798195"/>
                <a:ext cx="974880"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 xml:space="preserve">召回（Recall）　</a:t>
                </a:r>
              </a:p>
            </p:txBody>
          </p:sp>
          <p:sp>
            <p:nvSpPr>
              <p:cNvPr id="12" name="TextBox 12"/>
              <p:cNvSpPr txBox="1"/>
              <p:nvPr/>
            </p:nvSpPr>
            <p:spPr>
              <a:xfrm>
                <a:off x="909638" y="1055132"/>
                <a:ext cx="984885" cy="259556"/>
              </a:xfrm>
              <a:prstGeom prst="rect">
                <a:avLst/>
              </a:prstGeom>
              <a:noFill/>
              <a:ln>
                <a:noFill/>
              </a:ln>
            </p:spPr>
            <p:txBody>
              <a:bodyPr wrap="none" lIns="0" tIns="0" rIns="0" bIns="0" anchor="t" anchorCtr="0">
                <a:spAutoFit/>
              </a:bodyPr>
              <a:lstStyle/>
              <a:p>
                <a:pPr algn="l">
                  <a:lnSpc>
                    <a:spcPts val="1050"/>
                  </a:lnSpc>
                </a:pPr>
                <a:r>
                  <a:rPr lang="zh-CN" sz="640" dirty="0">
                    <a:solidFill>
                      <a:srgbClr val="3A4238"/>
                    </a:solidFill>
                    <a:latin typeface="+mn-lt"/>
                    <a:ea typeface="+mn-ea"/>
                    <a:cs typeface="+mn-cs"/>
                  </a:rPr>
                  <a:t>从海量知识中找出尽可能多</a:t>
                </a:r>
                <a:br/>
                <a:r>
                  <a:rPr lang="zh-CN" sz="640" dirty="0">
                    <a:solidFill>
                      <a:srgbClr val="3A4238"/>
                    </a:solidFill>
                    <a:latin typeface="+mn-lt"/>
                    <a:ea typeface="+mn-ea"/>
                    <a:cs typeface="+mn-cs"/>
                  </a:rPr>
                  <a:t>覆盖问题所需的候选信息</a:t>
                </a:r>
              </a:p>
            </p:txBody>
          </p:sp>
        </p:grpSp>
        <p:sp>
          <p:nvSpPr>
            <p:cNvPr id="14" name="ly-arr-1"/>
            <p:cNvSpPr/>
            <p:nvPr/>
          </p:nvSpPr>
          <p:spPr>
            <a:xfrm>
              <a:off x="457200" y="1524000"/>
              <a:ext cx="114300" cy="76200"/>
            </a:xfrm>
            <a:custGeom>
              <a:avLst/>
              <a:gdLst/>
              <a:ahLst/>
              <a:cxnLst/>
              <a:rect l="l" t="t" r="r" b="b"/>
              <a:pathLst>
                <a:path w="114300" h="76200">
                  <a:moveTo>
                    <a:pt x="0" y="0"/>
                  </a:moveTo>
                  <a:lnTo>
                    <a:pt x="114300" y="0"/>
                  </a:lnTo>
                  <a:lnTo>
                    <a:pt x="57150" y="76200"/>
                  </a:lnTo>
                  <a:close/>
                </a:path>
              </a:pathLst>
            </a:custGeom>
            <a:solidFill>
              <a:srgbClr val="9A4B3C"/>
            </a:solidFill>
            <a:ln>
              <a:noFill/>
            </a:ln>
          </p:spPr>
        </p:sp>
        <p:grpSp>
          <p:nvGrpSpPr>
            <p:cNvPr id="25" name="layer-rerank"/>
            <p:cNvGrpSpPr/>
            <p:nvPr/>
          </p:nvGrpSpPr>
          <p:grpSpPr>
            <a:xfrm>
              <a:off x="228600" y="1619250"/>
              <a:ext cx="2571750" cy="838200"/>
              <a:chOff x="228600" y="1619250"/>
              <a:chExt cx="2571750" cy="838200"/>
            </a:xfrm>
          </p:grpSpPr>
          <p:sp>
            <p:nvSpPr>
              <p:cNvPr id="15" name="Rectangle 15"/>
              <p:cNvSpPr/>
              <p:nvPr/>
            </p:nvSpPr>
            <p:spPr>
              <a:xfrm>
                <a:off x="228600" y="1619250"/>
                <a:ext cx="2571750" cy="838200"/>
              </a:xfrm>
              <a:prstGeom prst="roundRect">
                <a:avLst>
                  <a:gd name="adj" fmla="val 9091"/>
                </a:avLst>
              </a:prstGeom>
              <a:solidFill>
                <a:srgbClr val="F4F8EC"/>
              </a:solidFill>
              <a:ln w="9525">
                <a:solidFill>
                  <a:srgbClr val="D9E8C6"/>
                </a:solidFill>
              </a:ln>
            </p:spPr>
          </p:sp>
          <p:sp>
            <p:nvSpPr>
              <p:cNvPr id="16" name="Rectangle 16"/>
              <p:cNvSpPr/>
              <p:nvPr/>
            </p:nvSpPr>
            <p:spPr>
              <a:xfrm>
                <a:off x="228600" y="1619250"/>
                <a:ext cx="571500" cy="838200"/>
              </a:xfrm>
              <a:prstGeom prst="roundRect">
                <a:avLst>
                  <a:gd name="adj" fmla="val 13333"/>
                </a:avLst>
              </a:prstGeom>
              <a:solidFill>
                <a:srgbClr val="643228"/>
              </a:solidFill>
              <a:ln>
                <a:noFill/>
              </a:ln>
            </p:spPr>
          </p:sp>
          <p:sp>
            <p:nvSpPr>
              <p:cNvPr id="17" name="Rectangle 17"/>
              <p:cNvSpPr/>
              <p:nvPr/>
            </p:nvSpPr>
            <p:spPr>
              <a:xfrm>
                <a:off x="685800" y="1619250"/>
                <a:ext cx="114300" cy="838200"/>
              </a:xfrm>
              <a:prstGeom prst="rect">
                <a:avLst/>
              </a:prstGeom>
              <a:solidFill>
                <a:srgbClr val="643228"/>
              </a:solidFill>
              <a:ln>
                <a:noFill/>
              </a:ln>
            </p:spPr>
          </p:sp>
          <p:grpSp>
            <p:nvGrpSpPr>
              <p:cNvPr id="22" name="Group 22"/>
              <p:cNvGrpSpPr/>
              <p:nvPr/>
            </p:nvGrpSpPr>
            <p:grpSpPr>
              <a:xfrm>
                <a:off x="414338" y="1949450"/>
                <a:ext cx="200026" cy="177800"/>
                <a:chOff x="414338" y="1949450"/>
                <a:chExt cx="200026" cy="177800"/>
              </a:xfrm>
            </p:grpSpPr>
            <p:sp>
              <p:nvSpPr>
                <p:cNvPr id="18" name="Freeform 18"/>
                <p:cNvSpPr/>
                <p:nvPr/>
              </p:nvSpPr>
              <p:spPr>
                <a:xfrm>
                  <a:off x="414338" y="1982788"/>
                  <a:ext cx="200026" cy="9525"/>
                </a:xfrm>
                <a:custGeom>
                  <a:avLst/>
                  <a:gdLst/>
                  <a:ahLst/>
                  <a:cxnLst/>
                  <a:rect l="l" t="t" r="r" b="b"/>
                  <a:pathLst>
                    <a:path w="200026" h="9525">
                      <a:moveTo>
                        <a:pt x="200026" y="0"/>
                      </a:moveTo>
                      <a:lnTo>
                        <a:pt x="0" y="0"/>
                      </a:lnTo>
                    </a:path>
                  </a:pathLst>
                </a:custGeom>
                <a:noFill/>
                <a:ln w="22225">
                  <a:solidFill>
                    <a:srgbClr val="FFFFFF"/>
                  </a:solidFill>
                </a:ln>
              </p:spPr>
            </p:sp>
            <p:sp>
              <p:nvSpPr>
                <p:cNvPr id="19" name="Freeform 19"/>
                <p:cNvSpPr/>
                <p:nvPr/>
              </p:nvSpPr>
              <p:spPr>
                <a:xfrm>
                  <a:off x="581026" y="1949450"/>
                  <a:ext cx="33338" cy="66675"/>
                </a:xfrm>
                <a:custGeom>
                  <a:avLst/>
                  <a:gdLst/>
                  <a:ahLst/>
                  <a:cxnLst/>
                  <a:rect l="l" t="t" r="r" b="b"/>
                  <a:pathLst>
                    <a:path w="33338" h="66675">
                      <a:moveTo>
                        <a:pt x="0" y="66675"/>
                      </a:moveTo>
                      <a:lnTo>
                        <a:pt x="33338" y="33338"/>
                      </a:lnTo>
                      <a:lnTo>
                        <a:pt x="0" y="0"/>
                      </a:lnTo>
                    </a:path>
                  </a:pathLst>
                </a:custGeom>
                <a:noFill/>
                <a:ln w="22225">
                  <a:solidFill>
                    <a:srgbClr val="FFFFFF"/>
                  </a:solidFill>
                </a:ln>
              </p:spPr>
            </p:sp>
            <p:sp>
              <p:nvSpPr>
                <p:cNvPr id="20" name="Freeform 20"/>
                <p:cNvSpPr/>
                <p:nvPr/>
              </p:nvSpPr>
              <p:spPr>
                <a:xfrm>
                  <a:off x="414338" y="2060575"/>
                  <a:ext cx="33338" cy="66675"/>
                </a:xfrm>
                <a:custGeom>
                  <a:avLst/>
                  <a:gdLst/>
                  <a:ahLst/>
                  <a:cxnLst/>
                  <a:rect l="l" t="t" r="r" b="b"/>
                  <a:pathLst>
                    <a:path w="33338" h="66675">
                      <a:moveTo>
                        <a:pt x="33338" y="66675"/>
                      </a:moveTo>
                      <a:lnTo>
                        <a:pt x="0" y="33338"/>
                      </a:lnTo>
                      <a:lnTo>
                        <a:pt x="33338" y="0"/>
                      </a:lnTo>
                    </a:path>
                  </a:pathLst>
                </a:custGeom>
                <a:noFill/>
                <a:ln w="22225">
                  <a:solidFill>
                    <a:srgbClr val="FFFFFF"/>
                  </a:solidFill>
                </a:ln>
              </p:spPr>
            </p:sp>
            <p:sp>
              <p:nvSpPr>
                <p:cNvPr id="21" name="Freeform 21"/>
                <p:cNvSpPr/>
                <p:nvPr/>
              </p:nvSpPr>
              <p:spPr>
                <a:xfrm>
                  <a:off x="414338" y="2093913"/>
                  <a:ext cx="200026" cy="9525"/>
                </a:xfrm>
                <a:custGeom>
                  <a:avLst/>
                  <a:gdLst/>
                  <a:ahLst/>
                  <a:cxnLst/>
                  <a:rect l="l" t="t" r="r" b="b"/>
                  <a:pathLst>
                    <a:path w="200026" h="9525">
                      <a:moveTo>
                        <a:pt x="0" y="0"/>
                      </a:moveTo>
                      <a:lnTo>
                        <a:pt x="200026" y="0"/>
                      </a:lnTo>
                    </a:path>
                  </a:pathLst>
                </a:custGeom>
                <a:noFill/>
                <a:ln w="22225">
                  <a:solidFill>
                    <a:srgbClr val="FFFFFF"/>
                  </a:solidFill>
                </a:ln>
              </p:spPr>
            </p:sp>
          </p:grpSp>
          <p:sp>
            <p:nvSpPr>
              <p:cNvPr id="23" name="TextBox 23"/>
              <p:cNvSpPr txBox="1"/>
              <p:nvPr/>
            </p:nvSpPr>
            <p:spPr>
              <a:xfrm>
                <a:off x="909638" y="1750695"/>
                <a:ext cx="1039088"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 xml:space="preserve">排序（Rerank）　</a:t>
                </a:r>
              </a:p>
            </p:txBody>
          </p:sp>
          <p:sp>
            <p:nvSpPr>
              <p:cNvPr id="24" name="TextBox 24"/>
              <p:cNvSpPr txBox="1"/>
              <p:nvPr/>
            </p:nvSpPr>
            <p:spPr>
              <a:xfrm>
                <a:off x="909638" y="2007632"/>
                <a:ext cx="984885" cy="259556"/>
              </a:xfrm>
              <a:prstGeom prst="rect">
                <a:avLst/>
              </a:prstGeom>
              <a:noFill/>
              <a:ln>
                <a:noFill/>
              </a:ln>
            </p:spPr>
            <p:txBody>
              <a:bodyPr wrap="none" lIns="0" tIns="0" rIns="0" bIns="0" anchor="t" anchorCtr="0">
                <a:spAutoFit/>
              </a:bodyPr>
              <a:lstStyle/>
              <a:p>
                <a:pPr algn="l">
                  <a:lnSpc>
                    <a:spcPts val="1050"/>
                  </a:lnSpc>
                </a:pPr>
                <a:r>
                  <a:rPr lang="zh-CN" sz="640" dirty="0">
                    <a:solidFill>
                      <a:srgbClr val="3A4238"/>
                    </a:solidFill>
                    <a:latin typeface="+mn-lt"/>
                    <a:ea typeface="+mn-ea"/>
                    <a:cs typeface="+mn-cs"/>
                  </a:rPr>
                  <a:t>将候选结果按相关性精排，</a:t>
                </a:r>
                <a:br/>
                <a:r>
                  <a:rPr lang="zh-CN" sz="640" dirty="0">
                    <a:solidFill>
                      <a:srgbClr val="3A4238"/>
                    </a:solidFill>
                    <a:latin typeface="+mn-lt"/>
                    <a:ea typeface="+mn-ea"/>
                    <a:cs typeface="+mn-cs"/>
                  </a:rPr>
                  <a:t>把最有用的内容排在前面</a:t>
                </a:r>
              </a:p>
            </p:txBody>
          </p:sp>
        </p:grpSp>
        <p:sp>
          <p:nvSpPr>
            <p:cNvPr id="26" name="ly-arr-2"/>
            <p:cNvSpPr/>
            <p:nvPr/>
          </p:nvSpPr>
          <p:spPr>
            <a:xfrm>
              <a:off x="457200" y="2476500"/>
              <a:ext cx="114300" cy="76200"/>
            </a:xfrm>
            <a:custGeom>
              <a:avLst/>
              <a:gdLst/>
              <a:ahLst/>
              <a:cxnLst/>
              <a:rect l="l" t="t" r="r" b="b"/>
              <a:pathLst>
                <a:path w="114300" h="76200">
                  <a:moveTo>
                    <a:pt x="0" y="0"/>
                  </a:moveTo>
                  <a:lnTo>
                    <a:pt x="114300" y="0"/>
                  </a:lnTo>
                  <a:lnTo>
                    <a:pt x="57150" y="76200"/>
                  </a:lnTo>
                  <a:close/>
                </a:path>
              </a:pathLst>
            </a:custGeom>
            <a:solidFill>
              <a:srgbClr val="9A4B3C"/>
            </a:solidFill>
            <a:ln>
              <a:noFill/>
            </a:ln>
          </p:spPr>
        </p:sp>
        <p:grpSp>
          <p:nvGrpSpPr>
            <p:cNvPr id="33" name="layer-generation"/>
            <p:cNvGrpSpPr/>
            <p:nvPr/>
          </p:nvGrpSpPr>
          <p:grpSpPr>
            <a:xfrm>
              <a:off x="228600" y="2571750"/>
              <a:ext cx="2571750" cy="838200"/>
              <a:chOff x="228600" y="2571750"/>
              <a:chExt cx="2571750" cy="838200"/>
            </a:xfrm>
          </p:grpSpPr>
          <p:sp>
            <p:nvSpPr>
              <p:cNvPr id="27" name="Rectangle 27"/>
              <p:cNvSpPr/>
              <p:nvPr/>
            </p:nvSpPr>
            <p:spPr>
              <a:xfrm>
                <a:off x="228600" y="2571750"/>
                <a:ext cx="2571750" cy="838200"/>
              </a:xfrm>
              <a:prstGeom prst="roundRect">
                <a:avLst>
                  <a:gd name="adj" fmla="val 9091"/>
                </a:avLst>
              </a:prstGeom>
              <a:solidFill>
                <a:srgbClr val="F4F8EC"/>
              </a:solidFill>
              <a:ln w="9525">
                <a:solidFill>
                  <a:srgbClr val="D9E8C6"/>
                </a:solidFill>
              </a:ln>
            </p:spPr>
          </p:sp>
          <p:sp>
            <p:nvSpPr>
              <p:cNvPr id="28" name="Rectangle 28"/>
              <p:cNvSpPr/>
              <p:nvPr/>
            </p:nvSpPr>
            <p:spPr>
              <a:xfrm>
                <a:off x="228600" y="2571750"/>
                <a:ext cx="571500" cy="838200"/>
              </a:xfrm>
              <a:prstGeom prst="roundRect">
                <a:avLst>
                  <a:gd name="adj" fmla="val 13333"/>
                </a:avLst>
              </a:prstGeom>
              <a:solidFill>
                <a:srgbClr val="7C3B2F"/>
              </a:solidFill>
              <a:ln>
                <a:noFill/>
              </a:ln>
            </p:spPr>
          </p:sp>
          <p:sp>
            <p:nvSpPr>
              <p:cNvPr id="29" name="Rectangle 29"/>
              <p:cNvSpPr/>
              <p:nvPr/>
            </p:nvSpPr>
            <p:spPr>
              <a:xfrm>
                <a:off x="685800" y="2571750"/>
                <a:ext cx="114300" cy="838200"/>
              </a:xfrm>
              <a:prstGeom prst="rect">
                <a:avLst/>
              </a:prstGeom>
              <a:solidFill>
                <a:srgbClr val="7C3B2F"/>
              </a:solidFill>
              <a:ln>
                <a:noFill/>
              </a:ln>
            </p:spPr>
          </p:sp>
          <p:sp>
            <p:nvSpPr>
              <p:cNvPr id="30" name="Freeform 30"/>
              <p:cNvSpPr/>
              <p:nvPr/>
            </p:nvSpPr>
            <p:spPr>
              <a:xfrm>
                <a:off x="402958" y="2893338"/>
                <a:ext cx="221851" cy="196658"/>
              </a:xfrm>
              <a:custGeom>
                <a:avLst/>
                <a:gdLst/>
                <a:ahLst/>
                <a:cxnLst/>
                <a:rect l="l" t="t" r="r" b="b"/>
                <a:pathLst>
                  <a:path w="221851" h="196658">
                    <a:moveTo>
                      <a:pt x="11379" y="186413"/>
                    </a:moveTo>
                    <a:lnTo>
                      <a:pt x="25826" y="143074"/>
                    </a:lnTo>
                    <a:cubicBezTo>
                      <a:pt x="0" y="104880"/>
                      <a:pt x="9979" y="55596"/>
                      <a:pt x="49162" y="27792"/>
                    </a:cubicBezTo>
                    <a:cubicBezTo>
                      <a:pt x="88345" y="0"/>
                      <a:pt x="144618" y="2278"/>
                      <a:pt x="180790" y="33126"/>
                    </a:cubicBezTo>
                    <a:cubicBezTo>
                      <a:pt x="216961" y="63986"/>
                      <a:pt x="221851" y="113870"/>
                      <a:pt x="192225" y="149819"/>
                    </a:cubicBezTo>
                    <a:cubicBezTo>
                      <a:pt x="162599" y="185768"/>
                      <a:pt x="107603" y="196658"/>
                      <a:pt x="63608" y="175300"/>
                    </a:cubicBezTo>
                    <a:lnTo>
                      <a:pt x="11379" y="186413"/>
                    </a:lnTo>
                  </a:path>
                </a:pathLst>
              </a:custGeom>
              <a:noFill/>
              <a:ln w="22225">
                <a:solidFill>
                  <a:srgbClr val="FFFFFF"/>
                </a:solidFill>
              </a:ln>
            </p:spPr>
          </p:sp>
          <p:sp>
            <p:nvSpPr>
              <p:cNvPr id="31" name="TextBox 31"/>
              <p:cNvSpPr txBox="1"/>
              <p:nvPr/>
            </p:nvSpPr>
            <p:spPr>
              <a:xfrm>
                <a:off x="909638" y="2703195"/>
                <a:ext cx="1286979"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 xml:space="preserve">生成（Generation）　</a:t>
                </a:r>
              </a:p>
            </p:txBody>
          </p:sp>
          <p:sp>
            <p:nvSpPr>
              <p:cNvPr id="32" name="TextBox 32"/>
              <p:cNvSpPr txBox="1"/>
              <p:nvPr/>
            </p:nvSpPr>
            <p:spPr>
              <a:xfrm>
                <a:off x="909638" y="2960132"/>
                <a:ext cx="984885" cy="259556"/>
              </a:xfrm>
              <a:prstGeom prst="rect">
                <a:avLst/>
              </a:prstGeom>
              <a:noFill/>
              <a:ln>
                <a:noFill/>
              </a:ln>
            </p:spPr>
            <p:txBody>
              <a:bodyPr wrap="none" lIns="0" tIns="0" rIns="0" bIns="0" anchor="t" anchorCtr="0">
                <a:spAutoFit/>
              </a:bodyPr>
              <a:lstStyle/>
              <a:p>
                <a:pPr algn="l">
                  <a:lnSpc>
                    <a:spcPts val="1050"/>
                  </a:lnSpc>
                </a:pPr>
                <a:r>
                  <a:rPr lang="zh-CN" sz="640" dirty="0">
                    <a:solidFill>
                      <a:srgbClr val="3A4238"/>
                    </a:solidFill>
                    <a:latin typeface="+mn-lt"/>
                    <a:ea typeface="+mn-ea"/>
                    <a:cs typeface="+mn-cs"/>
                  </a:rPr>
                  <a:t>基于优质上下文生成答案，</a:t>
                </a:r>
                <a:br/>
                <a:r>
                  <a:rPr lang="zh-CN" sz="640" dirty="0">
                    <a:solidFill>
                      <a:srgbClr val="3A4238"/>
                    </a:solidFill>
                    <a:latin typeface="+mn-lt"/>
                    <a:ea typeface="+mn-ea"/>
                    <a:cs typeface="+mn-cs"/>
                  </a:rPr>
                  <a:t>保持忠实、可溯源、无幻觉</a:t>
                </a:r>
              </a:p>
            </p:txBody>
          </p:sp>
        </p:grpSp>
        <p:sp>
          <p:nvSpPr>
            <p:cNvPr id="34" name="ly-arr-3"/>
            <p:cNvSpPr/>
            <p:nvPr/>
          </p:nvSpPr>
          <p:spPr>
            <a:xfrm>
              <a:off x="457200" y="3429000"/>
              <a:ext cx="114300" cy="76200"/>
            </a:xfrm>
            <a:custGeom>
              <a:avLst/>
              <a:gdLst/>
              <a:ahLst/>
              <a:cxnLst/>
              <a:rect l="l" t="t" r="r" b="b"/>
              <a:pathLst>
                <a:path w="114300" h="76200">
                  <a:moveTo>
                    <a:pt x="0" y="0"/>
                  </a:moveTo>
                  <a:lnTo>
                    <a:pt x="114300" y="0"/>
                  </a:lnTo>
                  <a:lnTo>
                    <a:pt x="57150" y="76200"/>
                  </a:lnTo>
                  <a:close/>
                </a:path>
              </a:pathLst>
            </a:custGeom>
            <a:solidFill>
              <a:srgbClr val="9A4B3C"/>
            </a:solidFill>
            <a:ln>
              <a:noFill/>
            </a:ln>
          </p:spPr>
        </p:sp>
        <p:grpSp>
          <p:nvGrpSpPr>
            <p:cNvPr id="45" name="layer-business"/>
            <p:cNvGrpSpPr/>
            <p:nvPr/>
          </p:nvGrpSpPr>
          <p:grpSpPr>
            <a:xfrm>
              <a:off x="228600" y="3524250"/>
              <a:ext cx="2571750" cy="838200"/>
              <a:chOff x="228600" y="3524250"/>
              <a:chExt cx="2571750" cy="838200"/>
            </a:xfrm>
          </p:grpSpPr>
          <p:sp>
            <p:nvSpPr>
              <p:cNvPr id="35" name="Rectangle 35"/>
              <p:cNvSpPr/>
              <p:nvPr/>
            </p:nvSpPr>
            <p:spPr>
              <a:xfrm>
                <a:off x="228600" y="3524250"/>
                <a:ext cx="2571750" cy="838200"/>
              </a:xfrm>
              <a:prstGeom prst="roundRect">
                <a:avLst>
                  <a:gd name="adj" fmla="val 9091"/>
                </a:avLst>
              </a:prstGeom>
              <a:solidFill>
                <a:srgbClr val="F4F8EC"/>
              </a:solidFill>
              <a:ln w="9525">
                <a:solidFill>
                  <a:srgbClr val="D9E8C6"/>
                </a:solidFill>
              </a:ln>
            </p:spPr>
          </p:sp>
          <p:sp>
            <p:nvSpPr>
              <p:cNvPr id="36" name="Rectangle 36"/>
              <p:cNvSpPr/>
              <p:nvPr/>
            </p:nvSpPr>
            <p:spPr>
              <a:xfrm>
                <a:off x="228600" y="3524250"/>
                <a:ext cx="571500" cy="838200"/>
              </a:xfrm>
              <a:prstGeom prst="roundRect">
                <a:avLst>
                  <a:gd name="adj" fmla="val 13333"/>
                </a:avLst>
              </a:prstGeom>
              <a:solidFill>
                <a:srgbClr val="8C4336"/>
              </a:solidFill>
              <a:ln>
                <a:noFill/>
              </a:ln>
            </p:spPr>
          </p:sp>
          <p:sp>
            <p:nvSpPr>
              <p:cNvPr id="37" name="Rectangle 37"/>
              <p:cNvSpPr/>
              <p:nvPr/>
            </p:nvSpPr>
            <p:spPr>
              <a:xfrm>
                <a:off x="685800" y="3524250"/>
                <a:ext cx="114300" cy="838200"/>
              </a:xfrm>
              <a:prstGeom prst="rect">
                <a:avLst/>
              </a:prstGeom>
              <a:solidFill>
                <a:srgbClr val="8C4336"/>
              </a:solidFill>
              <a:ln>
                <a:noFill/>
              </a:ln>
            </p:spPr>
          </p:sp>
          <p:grpSp>
            <p:nvGrpSpPr>
              <p:cNvPr id="41" name="Group 41"/>
              <p:cNvGrpSpPr/>
              <p:nvPr/>
            </p:nvGrpSpPr>
            <p:grpSpPr>
              <a:xfrm>
                <a:off x="447675" y="3843338"/>
                <a:ext cx="166688" cy="200025"/>
                <a:chOff x="447675" y="3843338"/>
                <a:chExt cx="166688" cy="200025"/>
              </a:xfrm>
            </p:grpSpPr>
            <p:sp>
              <p:nvSpPr>
                <p:cNvPr id="38" name="Freeform 38"/>
                <p:cNvSpPr/>
                <p:nvPr/>
              </p:nvSpPr>
              <p:spPr>
                <a:xfrm>
                  <a:off x="469900" y="38433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39" name="Freeform 39"/>
                <p:cNvSpPr/>
                <p:nvPr/>
              </p:nvSpPr>
              <p:spPr>
                <a:xfrm>
                  <a:off x="447675" y="397668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FFFFFF"/>
                  </a:solidFill>
                </a:ln>
              </p:spPr>
            </p:sp>
            <p:sp>
              <p:nvSpPr>
                <p:cNvPr id="40" name="Freeform 40"/>
                <p:cNvSpPr/>
                <p:nvPr/>
              </p:nvSpPr>
              <p:spPr>
                <a:xfrm>
                  <a:off x="547688" y="3998913"/>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42" name="TextBox 42"/>
              <p:cNvSpPr txBox="1"/>
              <p:nvPr/>
            </p:nvSpPr>
            <p:spPr>
              <a:xfrm>
                <a:off x="909638" y="3617595"/>
                <a:ext cx="615315"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业务可用性</a:t>
                </a:r>
              </a:p>
            </p:txBody>
          </p:sp>
          <p:sp>
            <p:nvSpPr>
              <p:cNvPr id="43" name="TextBox 43"/>
              <p:cNvSpPr txBox="1"/>
              <p:nvPr/>
            </p:nvSpPr>
            <p:spPr>
              <a:xfrm>
                <a:off x="909638" y="3779282"/>
                <a:ext cx="1032027" cy="126206"/>
              </a:xfrm>
              <a:prstGeom prst="rect">
                <a:avLst/>
              </a:prstGeom>
              <a:noFill/>
              <a:ln>
                <a:noFill/>
              </a:ln>
            </p:spPr>
            <p:txBody>
              <a:bodyPr wrap="none" lIns="0" tIns="0" rIns="0" bIns="0" anchor="t" anchorCtr="0">
                <a:spAutoFit/>
              </a:bodyPr>
              <a:lstStyle/>
              <a:p>
                <a:pPr algn="l"/>
                <a:r>
                  <a:rPr lang="zh-CN" sz="640" dirty="0">
                    <a:solidFill>
                      <a:srgbClr val="66705F"/>
                    </a:solidFill>
                    <a:latin typeface="+mn-lt"/>
                    <a:ea typeface="+mn-ea"/>
                    <a:cs typeface="+mn-cs"/>
                  </a:rPr>
                  <a:t xml:space="preserve">(Business Usefulness)　</a:t>
                </a:r>
              </a:p>
            </p:txBody>
          </p:sp>
          <p:sp>
            <p:nvSpPr>
              <p:cNvPr id="44" name="TextBox 44"/>
              <p:cNvSpPr txBox="1"/>
              <p:nvPr/>
            </p:nvSpPr>
            <p:spPr>
              <a:xfrm>
                <a:off x="909638" y="3969782"/>
                <a:ext cx="1066165" cy="259556"/>
              </a:xfrm>
              <a:prstGeom prst="rect">
                <a:avLst/>
              </a:prstGeom>
              <a:noFill/>
              <a:ln>
                <a:noFill/>
              </a:ln>
            </p:spPr>
            <p:txBody>
              <a:bodyPr wrap="none" lIns="0" tIns="0" rIns="0" bIns="0" anchor="t" anchorCtr="0">
                <a:spAutoFit/>
              </a:bodyPr>
              <a:lstStyle/>
              <a:p>
                <a:pPr algn="l">
                  <a:lnSpc>
                    <a:spcPts val="1050"/>
                  </a:lnSpc>
                </a:pPr>
                <a:r>
                  <a:rPr lang="zh-CN" sz="640" dirty="0">
                    <a:solidFill>
                      <a:srgbClr val="3A4238"/>
                    </a:solidFill>
                    <a:latin typeface="+mn-lt"/>
                    <a:ea typeface="+mn-ea"/>
                    <a:cs typeface="+mn-cs"/>
                  </a:rPr>
                  <a:t>结果是否真正解决业务问题，</a:t>
                </a:r>
                <a:br/>
                <a:r>
                  <a:rPr lang="zh-CN" sz="640" dirty="0">
                    <a:solidFill>
                      <a:srgbClr val="3A4238"/>
                    </a:solidFill>
                    <a:latin typeface="+mn-lt"/>
                    <a:ea typeface="+mn-ea"/>
                    <a:cs typeface="+mn-cs"/>
                  </a:rPr>
                  <a:t>可执行、可落地、可衡量</a:t>
                </a:r>
              </a:p>
            </p:txBody>
          </p:sp>
        </p:grpSp>
      </p:grpSp>
      <p:grpSp>
        <p:nvGrpSpPr>
          <p:cNvPr id="105" name="eval-loops"/>
          <p:cNvGrpSpPr/>
          <p:nvPr/>
        </p:nvGrpSpPr>
        <p:grpSpPr>
          <a:xfrm>
            <a:off x="2914650" y="666750"/>
            <a:ext cx="6000750" cy="1676400"/>
            <a:chOff x="2914650" y="666750"/>
            <a:chExt cx="6000750" cy="1676400"/>
          </a:xfrm>
        </p:grpSpPr>
        <p:sp>
          <p:nvSpPr>
            <p:cNvPr id="47" name="Rectangle 47"/>
            <p:cNvSpPr/>
            <p:nvPr/>
          </p:nvSpPr>
          <p:spPr>
            <a:xfrm>
              <a:off x="2914650" y="666750"/>
              <a:ext cx="6000750" cy="1676400"/>
            </a:xfrm>
            <a:prstGeom prst="roundRect">
              <a:avLst>
                <a:gd name="adj" fmla="val 5682"/>
              </a:avLst>
            </a:prstGeom>
            <a:solidFill>
              <a:srgbClr val="FFFFFF"/>
            </a:solidFill>
            <a:ln w="9525">
              <a:solidFill>
                <a:srgbClr val="D9E8C6"/>
              </a:solidFill>
            </a:ln>
          </p:spPr>
        </p:sp>
        <p:grpSp>
          <p:nvGrpSpPr>
            <p:cNvPr id="77" name="loop-offline"/>
            <p:cNvGrpSpPr/>
            <p:nvPr/>
          </p:nvGrpSpPr>
          <p:grpSpPr>
            <a:xfrm>
              <a:off x="2971800" y="723900"/>
              <a:ext cx="2838450" cy="1562100"/>
              <a:chOff x="2971800" y="723900"/>
              <a:chExt cx="2838450" cy="1562100"/>
            </a:xfrm>
          </p:grpSpPr>
          <p:sp>
            <p:nvSpPr>
              <p:cNvPr id="48" name="Rectangle 48"/>
              <p:cNvSpPr/>
              <p:nvPr/>
            </p:nvSpPr>
            <p:spPr>
              <a:xfrm>
                <a:off x="2971800" y="723900"/>
                <a:ext cx="2838450" cy="1562100"/>
              </a:xfrm>
              <a:prstGeom prst="roundRect">
                <a:avLst>
                  <a:gd name="adj" fmla="val 4878"/>
                </a:avLst>
              </a:prstGeom>
              <a:solidFill>
                <a:srgbClr val="F4F8EC"/>
              </a:solidFill>
              <a:ln>
                <a:noFill/>
              </a:ln>
            </p:spPr>
          </p:sp>
          <p:sp>
            <p:nvSpPr>
              <p:cNvPr id="49" name="Rectangle 49"/>
              <p:cNvSpPr/>
              <p:nvPr/>
            </p:nvSpPr>
            <p:spPr>
              <a:xfrm>
                <a:off x="3048000" y="781050"/>
                <a:ext cx="1866900" cy="190500"/>
              </a:xfrm>
              <a:prstGeom prst="roundRect">
                <a:avLst>
                  <a:gd name="adj" fmla="val 50000"/>
                </a:avLst>
              </a:prstGeom>
              <a:solidFill>
                <a:srgbClr val="42140B"/>
              </a:solidFill>
              <a:ln>
                <a:noFill/>
              </a:ln>
            </p:spPr>
          </p:sp>
          <p:sp>
            <p:nvSpPr>
              <p:cNvPr id="50" name="TextBox 50"/>
              <p:cNvSpPr txBox="1"/>
              <p:nvPr/>
            </p:nvSpPr>
            <p:spPr>
              <a:xfrm>
                <a:off x="3196942" y="837486"/>
                <a:ext cx="156901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 xml:space="preserve">离线：黄金集评测（Golden Set）　</a:t>
                </a:r>
              </a:p>
            </p:txBody>
          </p:sp>
          <p:sp>
            <p:nvSpPr>
              <p:cNvPr id="51" name="Freeform 51"/>
              <p:cNvSpPr/>
              <p:nvPr/>
            </p:nvSpPr>
            <p:spPr>
              <a:xfrm>
                <a:off x="3619500" y="1104900"/>
                <a:ext cx="1543050" cy="228600"/>
              </a:xfrm>
              <a:custGeom>
                <a:avLst/>
                <a:gdLst/>
                <a:ahLst/>
                <a:cxnLst/>
                <a:rect l="l" t="t" r="r" b="b"/>
                <a:pathLst>
                  <a:path w="1543050" h="228600">
                    <a:moveTo>
                      <a:pt x="1543050" y="228600"/>
                    </a:moveTo>
                    <a:cubicBezTo>
                      <a:pt x="1028700" y="0"/>
                      <a:pt x="514350" y="0"/>
                      <a:pt x="0" y="228600"/>
                    </a:cubicBezTo>
                  </a:path>
                </a:pathLst>
              </a:custGeom>
              <a:noFill/>
              <a:ln w="12382">
                <a:solidFill>
                  <a:srgbClr val="9A4B3C"/>
                </a:solidFill>
                <a:custDash>
                  <a:ds d="384615" sp="307692"/>
                </a:custDash>
                <a:tailEnd type="arrow" w="lg" len="lg"/>
              </a:ln>
            </p:spPr>
          </p:sp>
          <p:sp>
            <p:nvSpPr>
              <p:cNvPr id="52" name="Ellipse 52"/>
              <p:cNvSpPr/>
              <p:nvPr/>
            </p:nvSpPr>
            <p:spPr>
              <a:xfrm>
                <a:off x="3276600" y="1352550"/>
                <a:ext cx="342900" cy="342900"/>
              </a:xfrm>
              <a:prstGeom prst="ellipse">
                <a:avLst/>
              </a:prstGeom>
              <a:solidFill>
                <a:srgbClr val="FFFFFF"/>
              </a:solidFill>
              <a:ln w="14288">
                <a:solidFill>
                  <a:srgbClr val="BE776A"/>
                </a:solidFill>
              </a:ln>
            </p:spPr>
          </p:sp>
          <p:grpSp>
            <p:nvGrpSpPr>
              <p:cNvPr id="56" name="Group 56"/>
              <p:cNvGrpSpPr/>
              <p:nvPr/>
            </p:nvGrpSpPr>
            <p:grpSpPr>
              <a:xfrm>
                <a:off x="3384550" y="1452562"/>
                <a:ext cx="127000" cy="142875"/>
                <a:chOff x="3384550" y="1452562"/>
                <a:chExt cx="127000" cy="142875"/>
              </a:xfrm>
            </p:grpSpPr>
            <p:sp>
              <p:nvSpPr>
                <p:cNvPr id="53" name="Freeform 53"/>
                <p:cNvSpPr/>
                <p:nvPr/>
              </p:nvSpPr>
              <p:spPr>
                <a:xfrm>
                  <a:off x="3384550" y="14525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7C3B2F"/>
                  </a:solidFill>
                </a:ln>
              </p:spPr>
            </p:sp>
            <p:sp>
              <p:nvSpPr>
                <p:cNvPr id="54" name="Freeform 54"/>
                <p:cNvSpPr/>
                <p:nvPr/>
              </p:nvSpPr>
              <p:spPr>
                <a:xfrm>
                  <a:off x="3384550" y="14763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sp>
              <p:nvSpPr>
                <p:cNvPr id="55" name="Freeform 55"/>
                <p:cNvSpPr/>
                <p:nvPr/>
              </p:nvSpPr>
              <p:spPr>
                <a:xfrm>
                  <a:off x="3384550" y="15240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grpSp>
          <p:sp>
            <p:nvSpPr>
              <p:cNvPr id="57" name="TextBox 57"/>
              <p:cNvSpPr txBox="1"/>
              <p:nvPr/>
            </p:nvSpPr>
            <p:spPr>
              <a:xfrm>
                <a:off x="3241358" y="1802130"/>
                <a:ext cx="413385" cy="119062"/>
              </a:xfrm>
              <a:prstGeom prst="rect">
                <a:avLst/>
              </a:prstGeom>
              <a:noFill/>
              <a:ln>
                <a:noFill/>
              </a:ln>
            </p:spPr>
            <p:txBody>
              <a:bodyPr wrap="none" lIns="0" tIns="0" rIns="0" bIns="0" anchor="t" anchorCtr="0">
                <a:spAutoFit/>
              </a:bodyPr>
              <a:lstStyle/>
              <a:p>
                <a:pPr algn="ctr"/>
                <a:r>
                  <a:rPr lang="zh-CN" sz="600" b="1" dirty="0">
                    <a:solidFill>
                      <a:srgbClr val="42140B"/>
                    </a:solidFill>
                    <a:latin typeface="+mn-lt"/>
                    <a:ea typeface="+mn-ea"/>
                    <a:cs typeface="+mn-cs"/>
                  </a:rPr>
                  <a:t>黄金数据集</a:t>
                </a:r>
              </a:p>
            </p:txBody>
          </p:sp>
          <p:sp>
            <p:nvSpPr>
              <p:cNvPr id="58" name="TextBox 58"/>
              <p:cNvSpPr txBox="1"/>
              <p:nvPr/>
            </p:nvSpPr>
            <p:spPr>
              <a:xfrm>
                <a:off x="2984772" y="1924526"/>
                <a:ext cx="926556" cy="104775"/>
              </a:xfrm>
              <a:prstGeom prst="rect">
                <a:avLst/>
              </a:prstGeom>
              <a:noFill/>
              <a:ln>
                <a:noFill/>
              </a:ln>
            </p:spPr>
            <p:txBody>
              <a:bodyPr wrap="none" lIns="0" tIns="0" rIns="0" bIns="0" anchor="t" anchorCtr="0">
                <a:spAutoFit/>
              </a:bodyPr>
              <a:lstStyle/>
              <a:p>
                <a:pPr algn="ctr"/>
                <a:r>
                  <a:rPr lang="zh-CN" sz="520" dirty="0">
                    <a:solidFill>
                      <a:srgbClr val="66705F"/>
                    </a:solidFill>
                    <a:latin typeface="+mn-lt"/>
                    <a:ea typeface="+mn-ea"/>
                    <a:cs typeface="+mn-cs"/>
                  </a:rPr>
                  <a:t>（问题-标准答案-相关文档）</a:t>
                </a:r>
              </a:p>
            </p:txBody>
          </p:sp>
          <p:sp>
            <p:nvSpPr>
              <p:cNvPr id="59" name="Line 59"/>
              <p:cNvSpPr/>
              <p:nvPr/>
            </p:nvSpPr>
            <p:spPr>
              <a:xfrm>
                <a:off x="3638550" y="1524000"/>
                <a:ext cx="552450" cy="1"/>
              </a:xfrm>
              <a:prstGeom prst="line">
                <a:avLst/>
              </a:prstGeom>
              <a:noFill/>
              <a:ln w="12382">
                <a:solidFill>
                  <a:srgbClr val="9A4B3C"/>
                </a:solidFill>
                <a:tailEnd type="arrow" w="lg" len="lg"/>
              </a:ln>
            </p:spPr>
          </p:sp>
          <p:sp>
            <p:nvSpPr>
              <p:cNvPr id="60" name="Ellipse 60"/>
              <p:cNvSpPr/>
              <p:nvPr/>
            </p:nvSpPr>
            <p:spPr>
              <a:xfrm>
                <a:off x="4219575" y="1352550"/>
                <a:ext cx="342900" cy="342900"/>
              </a:xfrm>
              <a:prstGeom prst="ellipse">
                <a:avLst/>
              </a:prstGeom>
              <a:solidFill>
                <a:srgbClr val="FFFFFF"/>
              </a:solidFill>
              <a:ln w="14288">
                <a:solidFill>
                  <a:srgbClr val="BE776A"/>
                </a:solidFill>
              </a:ln>
            </p:spPr>
          </p:sp>
          <p:grpSp>
            <p:nvGrpSpPr>
              <p:cNvPr id="65" name="Group 65"/>
              <p:cNvGrpSpPr/>
              <p:nvPr/>
            </p:nvGrpSpPr>
            <p:grpSpPr>
              <a:xfrm>
                <a:off x="4335462" y="1460500"/>
                <a:ext cx="119063" cy="134937"/>
                <a:chOff x="4335462" y="1460500"/>
                <a:chExt cx="119063" cy="134937"/>
              </a:xfrm>
            </p:grpSpPr>
            <p:sp>
              <p:nvSpPr>
                <p:cNvPr id="61" name="Freeform 61"/>
                <p:cNvSpPr/>
                <p:nvPr/>
              </p:nvSpPr>
              <p:spPr>
                <a:xfrm>
                  <a:off x="4335462" y="1460500"/>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7C3B2F"/>
                  </a:solidFill>
                </a:ln>
              </p:spPr>
            </p:sp>
            <p:sp>
              <p:nvSpPr>
                <p:cNvPr id="62" name="Freeform 62"/>
                <p:cNvSpPr/>
                <p:nvPr/>
              </p:nvSpPr>
              <p:spPr>
                <a:xfrm>
                  <a:off x="4406900" y="1563687"/>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sp>
              <p:nvSpPr>
                <p:cNvPr id="63" name="Freeform 63"/>
                <p:cNvSpPr/>
                <p:nvPr/>
              </p:nvSpPr>
              <p:spPr>
                <a:xfrm>
                  <a:off x="4367212" y="1492250"/>
                  <a:ext cx="31750" cy="9525"/>
                </a:xfrm>
                <a:custGeom>
                  <a:avLst/>
                  <a:gdLst/>
                  <a:ahLst/>
                  <a:cxnLst/>
                  <a:rect l="l" t="t" r="r" b="b"/>
                  <a:pathLst>
                    <a:path w="31750" h="9525">
                      <a:moveTo>
                        <a:pt x="0" y="0"/>
                      </a:moveTo>
                      <a:lnTo>
                        <a:pt x="31750" y="0"/>
                      </a:lnTo>
                    </a:path>
                  </a:pathLst>
                </a:custGeom>
                <a:noFill/>
                <a:ln w="15875">
                  <a:solidFill>
                    <a:srgbClr val="7C3B2F"/>
                  </a:solidFill>
                </a:ln>
              </p:spPr>
            </p:sp>
            <p:sp>
              <p:nvSpPr>
                <p:cNvPr id="64" name="Freeform 64"/>
                <p:cNvSpPr/>
                <p:nvPr/>
              </p:nvSpPr>
              <p:spPr>
                <a:xfrm>
                  <a:off x="4367212" y="1524000"/>
                  <a:ext cx="15875" cy="9525"/>
                </a:xfrm>
                <a:custGeom>
                  <a:avLst/>
                  <a:gdLst/>
                  <a:ahLst/>
                  <a:cxnLst/>
                  <a:rect l="l" t="t" r="r" b="b"/>
                  <a:pathLst>
                    <a:path w="15875" h="9525">
                      <a:moveTo>
                        <a:pt x="0" y="0"/>
                      </a:moveTo>
                      <a:lnTo>
                        <a:pt x="15875" y="0"/>
                      </a:lnTo>
                    </a:path>
                  </a:pathLst>
                </a:custGeom>
                <a:noFill/>
                <a:ln w="15875">
                  <a:solidFill>
                    <a:srgbClr val="7C3B2F"/>
                  </a:solidFill>
                </a:ln>
              </p:spPr>
            </p:sp>
          </p:grpSp>
          <p:sp>
            <p:nvSpPr>
              <p:cNvPr id="66" name="TextBox 66"/>
              <p:cNvSpPr txBox="1"/>
              <p:nvPr/>
            </p:nvSpPr>
            <p:spPr>
              <a:xfrm>
                <a:off x="4224718" y="1802130"/>
                <a:ext cx="332613" cy="119062"/>
              </a:xfrm>
              <a:prstGeom prst="rect">
                <a:avLst/>
              </a:prstGeom>
              <a:noFill/>
              <a:ln>
                <a:noFill/>
              </a:ln>
            </p:spPr>
            <p:txBody>
              <a:bodyPr wrap="none" lIns="0" tIns="0" rIns="0" bIns="0" anchor="t" anchorCtr="0">
                <a:spAutoFit/>
              </a:bodyPr>
              <a:lstStyle/>
              <a:p>
                <a:pPr algn="ctr"/>
                <a:r>
                  <a:rPr lang="zh-CN" sz="600" b="1" dirty="0">
                    <a:solidFill>
                      <a:srgbClr val="42140B"/>
                    </a:solidFill>
                    <a:latin typeface="+mn-lt"/>
                    <a:ea typeface="+mn-ea"/>
                    <a:cs typeface="+mn-cs"/>
                  </a:rPr>
                  <a:t>四层指标</a:t>
                </a:r>
              </a:p>
            </p:txBody>
          </p:sp>
          <p:sp>
            <p:nvSpPr>
              <p:cNvPr id="67" name="TextBox 67"/>
              <p:cNvSpPr txBox="1"/>
              <p:nvPr/>
            </p:nvSpPr>
            <p:spPr>
              <a:xfrm>
                <a:off x="4211256" y="1924526"/>
                <a:ext cx="359537" cy="104775"/>
              </a:xfrm>
              <a:prstGeom prst="rect">
                <a:avLst/>
              </a:prstGeom>
              <a:noFill/>
              <a:ln>
                <a:noFill/>
              </a:ln>
            </p:spPr>
            <p:txBody>
              <a:bodyPr wrap="none" lIns="0" tIns="0" rIns="0" bIns="0" anchor="t" anchorCtr="0">
                <a:spAutoFit/>
              </a:bodyPr>
              <a:lstStyle/>
              <a:p>
                <a:pPr algn="ctr"/>
                <a:r>
                  <a:rPr lang="zh-CN" sz="520" dirty="0">
                    <a:solidFill>
                      <a:srgbClr val="66705F"/>
                    </a:solidFill>
                    <a:latin typeface="+mn-lt"/>
                    <a:ea typeface="+mn-ea"/>
                    <a:cs typeface="+mn-cs"/>
                  </a:rPr>
                  <a:t>自动化评测</a:t>
                </a:r>
              </a:p>
            </p:txBody>
          </p:sp>
          <p:sp>
            <p:nvSpPr>
              <p:cNvPr id="68" name="Line 68"/>
              <p:cNvSpPr/>
              <p:nvPr/>
            </p:nvSpPr>
            <p:spPr>
              <a:xfrm>
                <a:off x="4581525" y="1524000"/>
                <a:ext cx="552450" cy="1"/>
              </a:xfrm>
              <a:prstGeom prst="line">
                <a:avLst/>
              </a:prstGeom>
              <a:noFill/>
              <a:ln w="12382">
                <a:solidFill>
                  <a:srgbClr val="9A4B3C"/>
                </a:solidFill>
                <a:tailEnd type="arrow" w="lg" len="lg"/>
              </a:ln>
            </p:spPr>
          </p:sp>
          <p:sp>
            <p:nvSpPr>
              <p:cNvPr id="69" name="Ellipse 69"/>
              <p:cNvSpPr/>
              <p:nvPr/>
            </p:nvSpPr>
            <p:spPr>
              <a:xfrm>
                <a:off x="5162550" y="1352550"/>
                <a:ext cx="342900" cy="342900"/>
              </a:xfrm>
              <a:prstGeom prst="ellipse">
                <a:avLst/>
              </a:prstGeom>
              <a:solidFill>
                <a:srgbClr val="FFFFFF"/>
              </a:solidFill>
              <a:ln w="14288">
                <a:solidFill>
                  <a:srgbClr val="BE776A"/>
                </a:solidFill>
              </a:ln>
            </p:spPr>
          </p:sp>
          <p:grpSp>
            <p:nvGrpSpPr>
              <p:cNvPr id="74" name="Group 74"/>
              <p:cNvGrpSpPr/>
              <p:nvPr/>
            </p:nvGrpSpPr>
            <p:grpSpPr>
              <a:xfrm>
                <a:off x="5262562" y="1460500"/>
                <a:ext cx="142875" cy="136525"/>
                <a:chOff x="5262562" y="1460500"/>
                <a:chExt cx="142875" cy="136525"/>
              </a:xfrm>
            </p:grpSpPr>
            <p:sp>
              <p:nvSpPr>
                <p:cNvPr id="70" name="Freeform 70"/>
                <p:cNvSpPr/>
                <p:nvPr/>
              </p:nvSpPr>
              <p:spPr>
                <a:xfrm>
                  <a:off x="5262562" y="15240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7C3B2F"/>
                  </a:solidFill>
                </a:ln>
              </p:spPr>
            </p:sp>
            <p:sp>
              <p:nvSpPr>
                <p:cNvPr id="71" name="Freeform 71"/>
                <p:cNvSpPr/>
                <p:nvPr/>
              </p:nvSpPr>
              <p:spPr>
                <a:xfrm>
                  <a:off x="5357812" y="14922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7C3B2F"/>
                  </a:solidFill>
                </a:ln>
              </p:spPr>
            </p:sp>
            <p:sp>
              <p:nvSpPr>
                <p:cNvPr id="72" name="Freeform 72"/>
                <p:cNvSpPr/>
                <p:nvPr/>
              </p:nvSpPr>
              <p:spPr>
                <a:xfrm>
                  <a:off x="5310187" y="14605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7C3B2F"/>
                  </a:solidFill>
                </a:ln>
              </p:spPr>
            </p:sp>
            <p:sp>
              <p:nvSpPr>
                <p:cNvPr id="73" name="Freeform 73"/>
                <p:cNvSpPr/>
                <p:nvPr/>
              </p:nvSpPr>
              <p:spPr>
                <a:xfrm>
                  <a:off x="5270500" y="1587500"/>
                  <a:ext cx="111125" cy="9525"/>
                </a:xfrm>
                <a:custGeom>
                  <a:avLst/>
                  <a:gdLst/>
                  <a:ahLst/>
                  <a:cxnLst/>
                  <a:rect l="l" t="t" r="r" b="b"/>
                  <a:pathLst>
                    <a:path w="111125" h="9525">
                      <a:moveTo>
                        <a:pt x="0" y="0"/>
                      </a:moveTo>
                      <a:lnTo>
                        <a:pt x="111125" y="0"/>
                      </a:lnTo>
                    </a:path>
                  </a:pathLst>
                </a:custGeom>
                <a:noFill/>
                <a:ln w="15875">
                  <a:solidFill>
                    <a:srgbClr val="7C3B2F"/>
                  </a:solidFill>
                </a:ln>
              </p:spPr>
            </p:sp>
          </p:grpSp>
          <p:sp>
            <p:nvSpPr>
              <p:cNvPr id="75" name="TextBox 75"/>
              <p:cNvSpPr txBox="1"/>
              <p:nvPr/>
            </p:nvSpPr>
            <p:spPr>
              <a:xfrm>
                <a:off x="5167694" y="1802130"/>
                <a:ext cx="332613" cy="119062"/>
              </a:xfrm>
              <a:prstGeom prst="rect">
                <a:avLst/>
              </a:prstGeom>
              <a:noFill/>
              <a:ln>
                <a:noFill/>
              </a:ln>
            </p:spPr>
            <p:txBody>
              <a:bodyPr wrap="none" lIns="0" tIns="0" rIns="0" bIns="0" anchor="t" anchorCtr="0">
                <a:spAutoFit/>
              </a:bodyPr>
              <a:lstStyle/>
              <a:p>
                <a:pPr algn="ctr"/>
                <a:r>
                  <a:rPr lang="zh-CN" sz="600" b="1" dirty="0">
                    <a:solidFill>
                      <a:srgbClr val="42140B"/>
                    </a:solidFill>
                    <a:latin typeface="+mn-lt"/>
                    <a:ea typeface="+mn-ea"/>
                    <a:cs typeface="+mn-cs"/>
                  </a:rPr>
                  <a:t>评测报告</a:t>
                </a:r>
              </a:p>
            </p:txBody>
          </p:sp>
          <p:sp>
            <p:nvSpPr>
              <p:cNvPr id="76" name="TextBox 76"/>
              <p:cNvSpPr txBox="1"/>
              <p:nvPr/>
            </p:nvSpPr>
            <p:spPr>
              <a:xfrm>
                <a:off x="5154232" y="1924526"/>
                <a:ext cx="359537" cy="104775"/>
              </a:xfrm>
              <a:prstGeom prst="rect">
                <a:avLst/>
              </a:prstGeom>
              <a:noFill/>
              <a:ln>
                <a:noFill/>
              </a:ln>
            </p:spPr>
            <p:txBody>
              <a:bodyPr wrap="none" lIns="0" tIns="0" rIns="0" bIns="0" anchor="t" anchorCtr="0">
                <a:spAutoFit/>
              </a:bodyPr>
              <a:lstStyle/>
              <a:p>
                <a:pPr algn="ctr"/>
                <a:r>
                  <a:rPr lang="zh-CN" sz="520" dirty="0">
                    <a:solidFill>
                      <a:srgbClr val="66705F"/>
                    </a:solidFill>
                    <a:latin typeface="+mn-lt"/>
                    <a:ea typeface="+mn-ea"/>
                    <a:cs typeface="+mn-cs"/>
                  </a:rPr>
                  <a:t>与对比分析</a:t>
                </a:r>
              </a:p>
            </p:txBody>
          </p:sp>
        </p:grpSp>
        <p:sp>
          <p:nvSpPr>
            <p:cNvPr id="78" name="TextBox 78"/>
            <p:cNvSpPr txBox="1"/>
            <p:nvPr/>
          </p:nvSpPr>
          <p:spPr>
            <a:xfrm>
              <a:off x="5849098" y="1419225"/>
              <a:ext cx="131855" cy="293370"/>
            </a:xfrm>
            <a:prstGeom prst="rect">
              <a:avLst/>
            </a:prstGeom>
            <a:noFill/>
            <a:ln>
              <a:noFill/>
            </a:ln>
          </p:spPr>
          <p:txBody>
            <a:bodyPr wrap="none" lIns="0" tIns="0" rIns="0" bIns="0" anchor="t" anchorCtr="0">
              <a:spAutoFit/>
            </a:bodyPr>
            <a:lstStyle/>
            <a:p>
              <a:pPr algn="ctr"/>
              <a:r>
                <a:rPr lang="zh-CN" sz="1500" b="1" dirty="0">
                  <a:solidFill>
                    <a:srgbClr val="9A4B3C"/>
                  </a:solidFill>
                  <a:latin typeface="+mn-lt"/>
                  <a:ea typeface="+mn-ea"/>
                  <a:cs typeface="+mn-cs"/>
                </a:rPr>
                <a:t>⇔</a:t>
              </a:r>
            </a:p>
          </p:txBody>
        </p:sp>
        <p:grpSp>
          <p:nvGrpSpPr>
            <p:cNvPr id="104" name="loop-online"/>
            <p:cNvGrpSpPr/>
            <p:nvPr/>
          </p:nvGrpSpPr>
          <p:grpSpPr>
            <a:xfrm>
              <a:off x="6019800" y="723900"/>
              <a:ext cx="2838450" cy="1562100"/>
              <a:chOff x="6019800" y="723900"/>
              <a:chExt cx="2838450" cy="1562100"/>
            </a:xfrm>
          </p:grpSpPr>
          <p:sp>
            <p:nvSpPr>
              <p:cNvPr id="79" name="Rectangle 79"/>
              <p:cNvSpPr/>
              <p:nvPr/>
            </p:nvSpPr>
            <p:spPr>
              <a:xfrm>
                <a:off x="6019800" y="723900"/>
                <a:ext cx="2838450" cy="1562100"/>
              </a:xfrm>
              <a:prstGeom prst="roundRect">
                <a:avLst>
                  <a:gd name="adj" fmla="val 4878"/>
                </a:avLst>
              </a:prstGeom>
              <a:solidFill>
                <a:srgbClr val="F4F8EC"/>
              </a:solidFill>
              <a:ln>
                <a:noFill/>
              </a:ln>
            </p:spPr>
          </p:sp>
          <p:sp>
            <p:nvSpPr>
              <p:cNvPr id="80" name="Rectangle 80"/>
              <p:cNvSpPr/>
              <p:nvPr/>
            </p:nvSpPr>
            <p:spPr>
              <a:xfrm>
                <a:off x="6096000" y="781050"/>
                <a:ext cx="1866900" cy="190500"/>
              </a:xfrm>
              <a:prstGeom prst="roundRect">
                <a:avLst>
                  <a:gd name="adj" fmla="val 50000"/>
                </a:avLst>
              </a:prstGeom>
              <a:solidFill>
                <a:srgbClr val="7C3B2F"/>
              </a:solidFill>
              <a:ln>
                <a:noFill/>
              </a:ln>
            </p:spPr>
          </p:sp>
          <p:sp>
            <p:nvSpPr>
              <p:cNvPr id="81" name="TextBox 81"/>
              <p:cNvSpPr txBox="1"/>
              <p:nvPr/>
            </p:nvSpPr>
            <p:spPr>
              <a:xfrm>
                <a:off x="6395607" y="837486"/>
                <a:ext cx="1267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 xml:space="preserve">在线：A/B 实验与反馈闭环　</a:t>
                </a:r>
              </a:p>
            </p:txBody>
          </p:sp>
          <p:sp>
            <p:nvSpPr>
              <p:cNvPr id="82" name="Freeform 82"/>
              <p:cNvSpPr/>
              <p:nvPr/>
            </p:nvSpPr>
            <p:spPr>
              <a:xfrm>
                <a:off x="6667500" y="1104900"/>
                <a:ext cx="1543050" cy="228600"/>
              </a:xfrm>
              <a:custGeom>
                <a:avLst/>
                <a:gdLst/>
                <a:ahLst/>
                <a:cxnLst/>
                <a:rect l="l" t="t" r="r" b="b"/>
                <a:pathLst>
                  <a:path w="1543050" h="228600">
                    <a:moveTo>
                      <a:pt x="1543050" y="228600"/>
                    </a:moveTo>
                    <a:cubicBezTo>
                      <a:pt x="1028700" y="0"/>
                      <a:pt x="514350" y="0"/>
                      <a:pt x="0" y="228600"/>
                    </a:cubicBezTo>
                  </a:path>
                </a:pathLst>
              </a:custGeom>
              <a:noFill/>
              <a:ln w="12382">
                <a:solidFill>
                  <a:srgbClr val="9A4B3C"/>
                </a:solidFill>
                <a:custDash>
                  <a:ds d="384615" sp="307692"/>
                </a:custDash>
                <a:tailEnd type="arrow" w="lg" len="lg"/>
              </a:ln>
            </p:spPr>
          </p:sp>
          <p:sp>
            <p:nvSpPr>
              <p:cNvPr id="83" name="Ellipse 83"/>
              <p:cNvSpPr/>
              <p:nvPr/>
            </p:nvSpPr>
            <p:spPr>
              <a:xfrm>
                <a:off x="6324600" y="1352550"/>
                <a:ext cx="342900" cy="342900"/>
              </a:xfrm>
              <a:prstGeom prst="ellipse">
                <a:avLst/>
              </a:prstGeom>
              <a:solidFill>
                <a:srgbClr val="FFFFFF"/>
              </a:solidFill>
              <a:ln w="14288">
                <a:solidFill>
                  <a:srgbClr val="BE776A"/>
                </a:solidFill>
              </a:ln>
            </p:spPr>
          </p:sp>
          <p:grpSp>
            <p:nvGrpSpPr>
              <p:cNvPr id="88" name="Group 88"/>
              <p:cNvGrpSpPr/>
              <p:nvPr/>
            </p:nvGrpSpPr>
            <p:grpSpPr>
              <a:xfrm>
                <a:off x="6424612" y="1452562"/>
                <a:ext cx="142875" cy="142875"/>
                <a:chOff x="6424612" y="1452562"/>
                <a:chExt cx="142875" cy="142875"/>
              </a:xfrm>
            </p:grpSpPr>
            <p:sp>
              <p:nvSpPr>
                <p:cNvPr id="84" name="Freeform 84"/>
                <p:cNvSpPr/>
                <p:nvPr/>
              </p:nvSpPr>
              <p:spPr>
                <a:xfrm>
                  <a:off x="6440487" y="14525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7C3B2F"/>
                  </a:solidFill>
                </a:ln>
              </p:spPr>
            </p:sp>
            <p:sp>
              <p:nvSpPr>
                <p:cNvPr id="85" name="Freeform 85"/>
                <p:cNvSpPr/>
                <p:nvPr/>
              </p:nvSpPr>
              <p:spPr>
                <a:xfrm>
                  <a:off x="6424612" y="15478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7C3B2F"/>
                  </a:solidFill>
                </a:ln>
              </p:spPr>
            </p:sp>
            <p:sp>
              <p:nvSpPr>
                <p:cNvPr id="86" name="Freeform 86"/>
                <p:cNvSpPr/>
                <p:nvPr/>
              </p:nvSpPr>
              <p:spPr>
                <a:xfrm>
                  <a:off x="6527800" y="14535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7C3B2F"/>
                  </a:solidFill>
                </a:ln>
              </p:spPr>
            </p:sp>
            <p:sp>
              <p:nvSpPr>
                <p:cNvPr id="87" name="Freeform 87"/>
                <p:cNvSpPr/>
                <p:nvPr/>
              </p:nvSpPr>
              <p:spPr>
                <a:xfrm>
                  <a:off x="6543675" y="15490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7C3B2F"/>
                  </a:solidFill>
                </a:ln>
              </p:spPr>
            </p:sp>
          </p:grpSp>
          <p:sp>
            <p:nvSpPr>
              <p:cNvPr id="89" name="TextBox 89"/>
              <p:cNvSpPr txBox="1"/>
              <p:nvPr/>
            </p:nvSpPr>
            <p:spPr>
              <a:xfrm>
                <a:off x="6329744" y="1802130"/>
                <a:ext cx="332613" cy="119062"/>
              </a:xfrm>
              <a:prstGeom prst="rect">
                <a:avLst/>
              </a:prstGeom>
              <a:noFill/>
              <a:ln>
                <a:noFill/>
              </a:ln>
            </p:spPr>
            <p:txBody>
              <a:bodyPr wrap="none" lIns="0" tIns="0" rIns="0" bIns="0" anchor="t" anchorCtr="0">
                <a:spAutoFit/>
              </a:bodyPr>
              <a:lstStyle/>
              <a:p>
                <a:pPr algn="ctr"/>
                <a:r>
                  <a:rPr lang="zh-CN" sz="600" b="1" dirty="0">
                    <a:solidFill>
                      <a:srgbClr val="42140B"/>
                    </a:solidFill>
                    <a:latin typeface="+mn-lt"/>
                    <a:ea typeface="+mn-ea"/>
                    <a:cs typeface="+mn-cs"/>
                  </a:rPr>
                  <a:t>线上流量</a:t>
                </a:r>
              </a:p>
            </p:txBody>
          </p:sp>
          <p:sp>
            <p:nvSpPr>
              <p:cNvPr id="90" name="TextBox 90"/>
              <p:cNvSpPr txBox="1"/>
              <p:nvPr/>
            </p:nvSpPr>
            <p:spPr>
              <a:xfrm>
                <a:off x="6314168" y="1924526"/>
                <a:ext cx="363764" cy="104775"/>
              </a:xfrm>
              <a:prstGeom prst="rect">
                <a:avLst/>
              </a:prstGeom>
              <a:noFill/>
              <a:ln>
                <a:noFill/>
              </a:ln>
            </p:spPr>
            <p:txBody>
              <a:bodyPr wrap="none" lIns="0" tIns="0" rIns="0" bIns="0" anchor="t" anchorCtr="0">
                <a:spAutoFit/>
              </a:bodyPr>
              <a:lstStyle/>
              <a:p>
                <a:pPr algn="ctr"/>
                <a:r>
                  <a:rPr lang="zh-CN" sz="520" dirty="0">
                    <a:solidFill>
                      <a:srgbClr val="66705F"/>
                    </a:solidFill>
                    <a:latin typeface="+mn-lt"/>
                    <a:ea typeface="+mn-ea"/>
                    <a:cs typeface="+mn-cs"/>
                  </a:rPr>
                  <a:t xml:space="preserve">A/B 实验　</a:t>
                </a:r>
              </a:p>
            </p:txBody>
          </p:sp>
          <p:sp>
            <p:nvSpPr>
              <p:cNvPr id="91" name="Line 91"/>
              <p:cNvSpPr/>
              <p:nvPr/>
            </p:nvSpPr>
            <p:spPr>
              <a:xfrm>
                <a:off x="6686550" y="1524000"/>
                <a:ext cx="552450" cy="1"/>
              </a:xfrm>
              <a:prstGeom prst="line">
                <a:avLst/>
              </a:prstGeom>
              <a:noFill/>
              <a:ln w="12382">
                <a:solidFill>
                  <a:srgbClr val="9A4B3C"/>
                </a:solidFill>
                <a:tailEnd type="arrow" w="lg" len="lg"/>
              </a:ln>
            </p:spPr>
          </p:sp>
          <p:sp>
            <p:nvSpPr>
              <p:cNvPr id="92" name="Ellipse 92"/>
              <p:cNvSpPr/>
              <p:nvPr/>
            </p:nvSpPr>
            <p:spPr>
              <a:xfrm>
                <a:off x="7267575" y="1352550"/>
                <a:ext cx="342900" cy="342900"/>
              </a:xfrm>
              <a:prstGeom prst="ellipse">
                <a:avLst/>
              </a:prstGeom>
              <a:solidFill>
                <a:srgbClr val="FFFFFF"/>
              </a:solidFill>
              <a:ln w="14288">
                <a:solidFill>
                  <a:srgbClr val="BE776A"/>
                </a:solidFill>
              </a:ln>
            </p:spPr>
          </p:sp>
          <p:sp>
            <p:nvSpPr>
              <p:cNvPr id="93" name="Freeform 93"/>
              <p:cNvSpPr/>
              <p:nvPr/>
            </p:nvSpPr>
            <p:spPr>
              <a:xfrm>
                <a:off x="7359459" y="145434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7C3B2F"/>
                </a:solidFill>
              </a:ln>
            </p:spPr>
          </p:sp>
          <p:sp>
            <p:nvSpPr>
              <p:cNvPr id="94" name="TextBox 94"/>
              <p:cNvSpPr txBox="1"/>
              <p:nvPr/>
            </p:nvSpPr>
            <p:spPr>
              <a:xfrm>
                <a:off x="7272718" y="1802130"/>
                <a:ext cx="332613" cy="119062"/>
              </a:xfrm>
              <a:prstGeom prst="rect">
                <a:avLst/>
              </a:prstGeom>
              <a:noFill/>
              <a:ln>
                <a:noFill/>
              </a:ln>
            </p:spPr>
            <p:txBody>
              <a:bodyPr wrap="none" lIns="0" tIns="0" rIns="0" bIns="0" anchor="t" anchorCtr="0">
                <a:spAutoFit/>
              </a:bodyPr>
              <a:lstStyle/>
              <a:p>
                <a:pPr algn="ctr"/>
                <a:r>
                  <a:rPr lang="zh-CN" sz="600" b="1" dirty="0">
                    <a:solidFill>
                      <a:srgbClr val="42140B"/>
                    </a:solidFill>
                    <a:latin typeface="+mn-lt"/>
                    <a:ea typeface="+mn-ea"/>
                    <a:cs typeface="+mn-cs"/>
                  </a:rPr>
                  <a:t>用户反馈</a:t>
                </a:r>
              </a:p>
            </p:txBody>
          </p:sp>
          <p:sp>
            <p:nvSpPr>
              <p:cNvPr id="95" name="TextBox 95"/>
              <p:cNvSpPr txBox="1"/>
              <p:nvPr/>
            </p:nvSpPr>
            <p:spPr>
              <a:xfrm>
                <a:off x="7259256" y="1924526"/>
                <a:ext cx="359537" cy="104775"/>
              </a:xfrm>
              <a:prstGeom prst="rect">
                <a:avLst/>
              </a:prstGeom>
              <a:noFill/>
              <a:ln>
                <a:noFill/>
              </a:ln>
            </p:spPr>
            <p:txBody>
              <a:bodyPr wrap="none" lIns="0" tIns="0" rIns="0" bIns="0" anchor="t" anchorCtr="0">
                <a:spAutoFit/>
              </a:bodyPr>
              <a:lstStyle/>
              <a:p>
                <a:pPr algn="ctr"/>
                <a:r>
                  <a:rPr lang="zh-CN" sz="520" dirty="0">
                    <a:solidFill>
                      <a:srgbClr val="66705F"/>
                    </a:solidFill>
                    <a:latin typeface="+mn-lt"/>
                    <a:ea typeface="+mn-ea"/>
                    <a:cs typeface="+mn-cs"/>
                  </a:rPr>
                  <a:t>与行为数据</a:t>
                </a:r>
              </a:p>
            </p:txBody>
          </p:sp>
          <p:sp>
            <p:nvSpPr>
              <p:cNvPr id="96" name="Line 96"/>
              <p:cNvSpPr/>
              <p:nvPr/>
            </p:nvSpPr>
            <p:spPr>
              <a:xfrm>
                <a:off x="7629525" y="1524000"/>
                <a:ext cx="552450" cy="1"/>
              </a:xfrm>
              <a:prstGeom prst="line">
                <a:avLst/>
              </a:prstGeom>
              <a:noFill/>
              <a:ln w="12382">
                <a:solidFill>
                  <a:srgbClr val="9A4B3C"/>
                </a:solidFill>
                <a:tailEnd type="arrow" w="lg" len="lg"/>
              </a:ln>
            </p:spPr>
          </p:sp>
          <p:sp>
            <p:nvSpPr>
              <p:cNvPr id="97" name="Ellipse 97"/>
              <p:cNvSpPr/>
              <p:nvPr/>
            </p:nvSpPr>
            <p:spPr>
              <a:xfrm>
                <a:off x="8210550" y="1352550"/>
                <a:ext cx="342900" cy="342900"/>
              </a:xfrm>
              <a:prstGeom prst="ellipse">
                <a:avLst/>
              </a:prstGeom>
              <a:solidFill>
                <a:srgbClr val="FFFFFF"/>
              </a:solidFill>
              <a:ln w="14288">
                <a:solidFill>
                  <a:srgbClr val="BE776A"/>
                </a:solidFill>
              </a:ln>
            </p:spPr>
          </p:sp>
          <p:grpSp>
            <p:nvGrpSpPr>
              <p:cNvPr id="101" name="Group 101"/>
              <p:cNvGrpSpPr/>
              <p:nvPr/>
            </p:nvGrpSpPr>
            <p:grpSpPr>
              <a:xfrm>
                <a:off x="8318500" y="1452562"/>
                <a:ext cx="127000" cy="142875"/>
                <a:chOff x="8318500" y="1452562"/>
                <a:chExt cx="127000" cy="142875"/>
              </a:xfrm>
            </p:grpSpPr>
            <p:sp>
              <p:nvSpPr>
                <p:cNvPr id="98" name="Freeform 98"/>
                <p:cNvSpPr/>
                <p:nvPr/>
              </p:nvSpPr>
              <p:spPr>
                <a:xfrm>
                  <a:off x="8318500" y="14525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7C3B2F"/>
                  </a:solidFill>
                </a:ln>
              </p:spPr>
            </p:sp>
            <p:sp>
              <p:nvSpPr>
                <p:cNvPr id="99" name="Freeform 99"/>
                <p:cNvSpPr/>
                <p:nvPr/>
              </p:nvSpPr>
              <p:spPr>
                <a:xfrm>
                  <a:off x="8318500" y="14763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sp>
              <p:nvSpPr>
                <p:cNvPr id="100" name="Freeform 100"/>
                <p:cNvSpPr/>
                <p:nvPr/>
              </p:nvSpPr>
              <p:spPr>
                <a:xfrm>
                  <a:off x="8318500" y="15240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grpSp>
          <p:sp>
            <p:nvSpPr>
              <p:cNvPr id="102" name="TextBox 102"/>
              <p:cNvSpPr txBox="1"/>
              <p:nvPr/>
            </p:nvSpPr>
            <p:spPr>
              <a:xfrm>
                <a:off x="8215694" y="1802130"/>
                <a:ext cx="332613" cy="119062"/>
              </a:xfrm>
              <a:prstGeom prst="rect">
                <a:avLst/>
              </a:prstGeom>
              <a:noFill/>
              <a:ln>
                <a:noFill/>
              </a:ln>
            </p:spPr>
            <p:txBody>
              <a:bodyPr wrap="none" lIns="0" tIns="0" rIns="0" bIns="0" anchor="t" anchorCtr="0">
                <a:spAutoFit/>
              </a:bodyPr>
              <a:lstStyle/>
              <a:p>
                <a:pPr algn="ctr"/>
                <a:r>
                  <a:rPr lang="zh-CN" sz="600" b="1" dirty="0">
                    <a:solidFill>
                      <a:srgbClr val="42140B"/>
                    </a:solidFill>
                    <a:latin typeface="+mn-lt"/>
                    <a:ea typeface="+mn-ea"/>
                    <a:cs typeface="+mn-cs"/>
                  </a:rPr>
                  <a:t>日志沉淀</a:t>
                </a:r>
              </a:p>
            </p:txBody>
          </p:sp>
          <p:sp>
            <p:nvSpPr>
              <p:cNvPr id="103" name="TextBox 103"/>
              <p:cNvSpPr txBox="1"/>
              <p:nvPr/>
            </p:nvSpPr>
            <p:spPr>
              <a:xfrm>
                <a:off x="8202232" y="1924526"/>
                <a:ext cx="359537" cy="104775"/>
              </a:xfrm>
              <a:prstGeom prst="rect">
                <a:avLst/>
              </a:prstGeom>
              <a:noFill/>
              <a:ln>
                <a:noFill/>
              </a:ln>
            </p:spPr>
            <p:txBody>
              <a:bodyPr wrap="none" lIns="0" tIns="0" rIns="0" bIns="0" anchor="t" anchorCtr="0">
                <a:spAutoFit/>
              </a:bodyPr>
              <a:lstStyle/>
              <a:p>
                <a:pPr algn="ctr"/>
                <a:r>
                  <a:rPr lang="zh-CN" sz="520" dirty="0">
                    <a:solidFill>
                      <a:srgbClr val="66705F"/>
                    </a:solidFill>
                    <a:latin typeface="+mn-lt"/>
                    <a:ea typeface="+mn-ea"/>
                    <a:cs typeface="+mn-cs"/>
                  </a:rPr>
                  <a:t>与标注补充</a:t>
                </a:r>
              </a:p>
            </p:txBody>
          </p:sp>
        </p:grpSp>
      </p:grpSp>
      <p:grpSp>
        <p:nvGrpSpPr>
          <p:cNvPr id="177" name="metrics-matrix"/>
          <p:cNvGrpSpPr/>
          <p:nvPr/>
        </p:nvGrpSpPr>
        <p:grpSpPr>
          <a:xfrm>
            <a:off x="2914650" y="2438400"/>
            <a:ext cx="6000750" cy="2000250"/>
            <a:chOff x="2914650" y="2438400"/>
            <a:chExt cx="6000750" cy="2000250"/>
          </a:xfrm>
        </p:grpSpPr>
        <p:sp>
          <p:nvSpPr>
            <p:cNvPr id="106" name="Rectangle 106"/>
            <p:cNvSpPr/>
            <p:nvPr/>
          </p:nvSpPr>
          <p:spPr>
            <a:xfrm>
              <a:off x="2914650" y="2438400"/>
              <a:ext cx="6000750" cy="228600"/>
            </a:xfrm>
            <a:prstGeom prst="roundRect">
              <a:avLst>
                <a:gd name="adj" fmla="val 25000"/>
              </a:avLst>
            </a:prstGeom>
            <a:solidFill>
              <a:srgbClr val="42140B"/>
            </a:solidFill>
            <a:ln>
              <a:noFill/>
            </a:ln>
          </p:spPr>
        </p:sp>
        <p:sp>
          <p:nvSpPr>
            <p:cNvPr id="107" name="TextBox 107"/>
            <p:cNvSpPr txBox="1"/>
            <p:nvPr/>
          </p:nvSpPr>
          <p:spPr>
            <a:xfrm>
              <a:off x="5192738" y="2511266"/>
              <a:ext cx="14445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核心指标矩阵（按四层归属）</a:t>
              </a:r>
            </a:p>
          </p:txBody>
        </p:sp>
        <p:sp>
          <p:nvSpPr>
            <p:cNvPr id="108" name="Rectangle 108"/>
            <p:cNvSpPr/>
            <p:nvPr/>
          </p:nvSpPr>
          <p:spPr>
            <a:xfrm>
              <a:off x="2914650" y="2667000"/>
              <a:ext cx="609600" cy="304800"/>
            </a:xfrm>
            <a:prstGeom prst="rect">
              <a:avLst/>
            </a:prstGeom>
            <a:solidFill>
              <a:srgbClr val="42140B"/>
            </a:solidFill>
            <a:ln>
              <a:noFill/>
            </a:ln>
          </p:spPr>
        </p:sp>
        <p:sp>
          <p:nvSpPr>
            <p:cNvPr id="109" name="TextBox 109"/>
            <p:cNvSpPr txBox="1"/>
            <p:nvPr/>
          </p:nvSpPr>
          <p:spPr>
            <a:xfrm>
              <a:off x="3119107" y="278058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层级</a:t>
              </a:r>
            </a:p>
          </p:txBody>
        </p:sp>
        <p:sp>
          <p:nvSpPr>
            <p:cNvPr id="110" name="Rectangle 110"/>
            <p:cNvSpPr/>
            <p:nvPr/>
          </p:nvSpPr>
          <p:spPr>
            <a:xfrm>
              <a:off x="3524250" y="2667000"/>
              <a:ext cx="1238250" cy="304800"/>
            </a:xfrm>
            <a:prstGeom prst="rect">
              <a:avLst/>
            </a:prstGeom>
            <a:solidFill>
              <a:srgbClr val="7C3B2F"/>
            </a:solidFill>
            <a:ln>
              <a:noFill/>
            </a:ln>
          </p:spPr>
        </p:sp>
        <p:sp>
          <p:nvSpPr>
            <p:cNvPr id="111" name="TextBox 111"/>
            <p:cNvSpPr txBox="1"/>
            <p:nvPr/>
          </p:nvSpPr>
          <p:spPr>
            <a:xfrm>
              <a:off x="4043032" y="271391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召回</a:t>
              </a:r>
            </a:p>
          </p:txBody>
        </p:sp>
        <p:sp>
          <p:nvSpPr>
            <p:cNvPr id="112" name="TextBox 112"/>
            <p:cNvSpPr txBox="1"/>
            <p:nvPr/>
          </p:nvSpPr>
          <p:spPr>
            <a:xfrm>
              <a:off x="3952527" y="2853928"/>
              <a:ext cx="381696" cy="111919"/>
            </a:xfrm>
            <a:prstGeom prst="rect">
              <a:avLst/>
            </a:prstGeom>
            <a:noFill/>
            <a:ln>
              <a:noFill/>
            </a:ln>
          </p:spPr>
          <p:txBody>
            <a:bodyPr wrap="none" lIns="0" tIns="0" rIns="0" bIns="0" anchor="t" anchorCtr="0">
              <a:spAutoFit/>
            </a:bodyPr>
            <a:lstStyle/>
            <a:p>
              <a:pPr algn="ctr"/>
              <a:r>
                <a:rPr lang="zh-CN" sz="560" dirty="0">
                  <a:solidFill>
                    <a:srgbClr val="E7F2D8"/>
                  </a:solidFill>
                  <a:latin typeface="+mn-lt"/>
                  <a:ea typeface="+mn-ea"/>
                  <a:cs typeface="+mn-cs"/>
                </a:rPr>
                <a:t xml:space="preserve">(Recall)　</a:t>
              </a:r>
            </a:p>
          </p:txBody>
        </p:sp>
        <p:sp>
          <p:nvSpPr>
            <p:cNvPr id="113" name="Rectangle 113"/>
            <p:cNvSpPr/>
            <p:nvPr/>
          </p:nvSpPr>
          <p:spPr>
            <a:xfrm>
              <a:off x="4762500" y="2667000"/>
              <a:ext cx="1238250" cy="304800"/>
            </a:xfrm>
            <a:prstGeom prst="rect">
              <a:avLst/>
            </a:prstGeom>
            <a:solidFill>
              <a:srgbClr val="8C4336"/>
            </a:solidFill>
            <a:ln>
              <a:noFill/>
            </a:ln>
          </p:spPr>
        </p:sp>
        <p:sp>
          <p:nvSpPr>
            <p:cNvPr id="114" name="TextBox 114"/>
            <p:cNvSpPr txBox="1"/>
            <p:nvPr/>
          </p:nvSpPr>
          <p:spPr>
            <a:xfrm>
              <a:off x="5281282" y="271391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排序</a:t>
              </a:r>
            </a:p>
          </p:txBody>
        </p:sp>
        <p:sp>
          <p:nvSpPr>
            <p:cNvPr id="115" name="TextBox 115"/>
            <p:cNvSpPr txBox="1"/>
            <p:nvPr/>
          </p:nvSpPr>
          <p:spPr>
            <a:xfrm>
              <a:off x="5171752" y="2853928"/>
              <a:ext cx="419745" cy="111919"/>
            </a:xfrm>
            <a:prstGeom prst="rect">
              <a:avLst/>
            </a:prstGeom>
            <a:noFill/>
            <a:ln>
              <a:noFill/>
            </a:ln>
          </p:spPr>
          <p:txBody>
            <a:bodyPr wrap="none" lIns="0" tIns="0" rIns="0" bIns="0" anchor="t" anchorCtr="0">
              <a:spAutoFit/>
            </a:bodyPr>
            <a:lstStyle/>
            <a:p>
              <a:pPr algn="ctr"/>
              <a:r>
                <a:rPr lang="zh-CN" sz="560" dirty="0">
                  <a:solidFill>
                    <a:srgbClr val="E7F2D8"/>
                  </a:solidFill>
                  <a:latin typeface="+mn-lt"/>
                  <a:ea typeface="+mn-ea"/>
                  <a:cs typeface="+mn-cs"/>
                </a:rPr>
                <a:t xml:space="preserve">(Rerank)　</a:t>
              </a:r>
            </a:p>
          </p:txBody>
        </p:sp>
        <p:sp>
          <p:nvSpPr>
            <p:cNvPr id="116" name="Rectangle 116"/>
            <p:cNvSpPr/>
            <p:nvPr/>
          </p:nvSpPr>
          <p:spPr>
            <a:xfrm>
              <a:off x="6000750" y="2667000"/>
              <a:ext cx="1524000" cy="304800"/>
            </a:xfrm>
            <a:prstGeom prst="rect">
              <a:avLst/>
            </a:prstGeom>
            <a:solidFill>
              <a:srgbClr val="9A4B3C"/>
            </a:solidFill>
            <a:ln>
              <a:noFill/>
            </a:ln>
          </p:spPr>
        </p:sp>
        <p:sp>
          <p:nvSpPr>
            <p:cNvPr id="117" name="TextBox 117"/>
            <p:cNvSpPr txBox="1"/>
            <p:nvPr/>
          </p:nvSpPr>
          <p:spPr>
            <a:xfrm>
              <a:off x="6662407" y="271391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生成</a:t>
              </a:r>
            </a:p>
          </p:txBody>
        </p:sp>
        <p:sp>
          <p:nvSpPr>
            <p:cNvPr id="118" name="TextBox 118"/>
            <p:cNvSpPr txBox="1"/>
            <p:nvPr/>
          </p:nvSpPr>
          <p:spPr>
            <a:xfrm>
              <a:off x="6479585" y="2853928"/>
              <a:ext cx="566331" cy="111919"/>
            </a:xfrm>
            <a:prstGeom prst="rect">
              <a:avLst/>
            </a:prstGeom>
            <a:noFill/>
            <a:ln>
              <a:noFill/>
            </a:ln>
          </p:spPr>
          <p:txBody>
            <a:bodyPr wrap="none" lIns="0" tIns="0" rIns="0" bIns="0" anchor="t" anchorCtr="0">
              <a:spAutoFit/>
            </a:bodyPr>
            <a:lstStyle/>
            <a:p>
              <a:pPr algn="ctr"/>
              <a:r>
                <a:rPr lang="zh-CN" sz="560" dirty="0">
                  <a:solidFill>
                    <a:srgbClr val="E7F2D8"/>
                  </a:solidFill>
                  <a:latin typeface="+mn-lt"/>
                  <a:ea typeface="+mn-ea"/>
                  <a:cs typeface="+mn-cs"/>
                </a:rPr>
                <a:t xml:space="preserve">(Generation)　</a:t>
              </a:r>
            </a:p>
          </p:txBody>
        </p:sp>
        <p:sp>
          <p:nvSpPr>
            <p:cNvPr id="119" name="Rectangle 119"/>
            <p:cNvSpPr/>
            <p:nvPr/>
          </p:nvSpPr>
          <p:spPr>
            <a:xfrm>
              <a:off x="7524750" y="2667000"/>
              <a:ext cx="1390650" cy="304800"/>
            </a:xfrm>
            <a:prstGeom prst="rect">
              <a:avLst/>
            </a:prstGeom>
            <a:solidFill>
              <a:srgbClr val="A85C4E"/>
            </a:solidFill>
            <a:ln>
              <a:noFill/>
            </a:ln>
          </p:spPr>
        </p:sp>
        <p:sp>
          <p:nvSpPr>
            <p:cNvPr id="120" name="TextBox 120"/>
            <p:cNvSpPr txBox="1"/>
            <p:nvPr/>
          </p:nvSpPr>
          <p:spPr>
            <a:xfrm>
              <a:off x="7976362" y="2713911"/>
              <a:ext cx="48742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业务可用性</a:t>
              </a:r>
            </a:p>
          </p:txBody>
        </p:sp>
        <p:sp>
          <p:nvSpPr>
            <p:cNvPr id="121" name="TextBox 121"/>
            <p:cNvSpPr txBox="1"/>
            <p:nvPr/>
          </p:nvSpPr>
          <p:spPr>
            <a:xfrm>
              <a:off x="7767968" y="2853928"/>
              <a:ext cx="904215" cy="111919"/>
            </a:xfrm>
            <a:prstGeom prst="rect">
              <a:avLst/>
            </a:prstGeom>
            <a:noFill/>
            <a:ln>
              <a:noFill/>
            </a:ln>
          </p:spPr>
          <p:txBody>
            <a:bodyPr wrap="none" lIns="0" tIns="0" rIns="0" bIns="0" anchor="t" anchorCtr="0">
              <a:spAutoFit/>
            </a:bodyPr>
            <a:lstStyle/>
            <a:p>
              <a:pPr algn="ctr"/>
              <a:r>
                <a:rPr lang="zh-CN" sz="560" dirty="0">
                  <a:solidFill>
                    <a:srgbClr val="E7F2D8"/>
                  </a:solidFill>
                  <a:latin typeface="+mn-lt"/>
                  <a:ea typeface="+mn-ea"/>
                  <a:cs typeface="+mn-cs"/>
                </a:rPr>
                <a:t xml:space="preserve">(Business Usefulness)　</a:t>
              </a:r>
            </a:p>
          </p:txBody>
        </p:sp>
        <p:sp>
          <p:nvSpPr>
            <p:cNvPr id="122" name="Rectangle 122"/>
            <p:cNvSpPr/>
            <p:nvPr/>
          </p:nvSpPr>
          <p:spPr>
            <a:xfrm>
              <a:off x="2914650" y="2971800"/>
              <a:ext cx="609600" cy="1466850"/>
            </a:xfrm>
            <a:prstGeom prst="rect">
              <a:avLst/>
            </a:prstGeom>
            <a:solidFill>
              <a:srgbClr val="42140B"/>
            </a:solidFill>
            <a:ln>
              <a:noFill/>
            </a:ln>
          </p:spPr>
        </p:sp>
        <p:sp>
          <p:nvSpPr>
            <p:cNvPr id="123" name="TextBox 123"/>
            <p:cNvSpPr txBox="1"/>
            <p:nvPr/>
          </p:nvSpPr>
          <p:spPr>
            <a:xfrm>
              <a:off x="3023527" y="36664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关键指标</a:t>
              </a:r>
            </a:p>
          </p:txBody>
        </p:sp>
        <p:sp>
          <p:nvSpPr>
            <p:cNvPr id="124" name="Rectangle 124"/>
            <p:cNvSpPr/>
            <p:nvPr/>
          </p:nvSpPr>
          <p:spPr>
            <a:xfrm>
              <a:off x="3524250" y="2971800"/>
              <a:ext cx="1238250" cy="1466850"/>
            </a:xfrm>
            <a:prstGeom prst="rect">
              <a:avLst/>
            </a:prstGeom>
            <a:solidFill>
              <a:srgbClr val="FFFFFF"/>
            </a:solidFill>
            <a:ln w="9525">
              <a:solidFill>
                <a:srgbClr val="D9E8C6"/>
              </a:solidFill>
            </a:ln>
          </p:spPr>
        </p:sp>
        <p:sp>
          <p:nvSpPr>
            <p:cNvPr id="125" name="Rectangle 125"/>
            <p:cNvSpPr/>
            <p:nvPr/>
          </p:nvSpPr>
          <p:spPr>
            <a:xfrm>
              <a:off x="4762500" y="2971800"/>
              <a:ext cx="1238250" cy="1466850"/>
            </a:xfrm>
            <a:prstGeom prst="rect">
              <a:avLst/>
            </a:prstGeom>
            <a:solidFill>
              <a:srgbClr val="F4F8EC"/>
            </a:solidFill>
            <a:ln w="9525">
              <a:solidFill>
                <a:srgbClr val="D9E8C6"/>
              </a:solidFill>
            </a:ln>
          </p:spPr>
        </p:sp>
        <p:sp>
          <p:nvSpPr>
            <p:cNvPr id="126" name="Rectangle 126"/>
            <p:cNvSpPr/>
            <p:nvPr/>
          </p:nvSpPr>
          <p:spPr>
            <a:xfrm>
              <a:off x="6000750" y="2971800"/>
              <a:ext cx="1524000" cy="1466850"/>
            </a:xfrm>
            <a:prstGeom prst="rect">
              <a:avLst/>
            </a:prstGeom>
            <a:solidFill>
              <a:srgbClr val="FFFFFF"/>
            </a:solidFill>
            <a:ln w="9525">
              <a:solidFill>
                <a:srgbClr val="D9E8C6"/>
              </a:solidFill>
            </a:ln>
          </p:spPr>
        </p:sp>
        <p:sp>
          <p:nvSpPr>
            <p:cNvPr id="127" name="Rectangle 127"/>
            <p:cNvSpPr/>
            <p:nvPr/>
          </p:nvSpPr>
          <p:spPr>
            <a:xfrm>
              <a:off x="7524750" y="2971800"/>
              <a:ext cx="1390650" cy="1466850"/>
            </a:xfrm>
            <a:prstGeom prst="rect">
              <a:avLst/>
            </a:prstGeom>
            <a:solidFill>
              <a:srgbClr val="F4F8EC"/>
            </a:solidFill>
            <a:ln w="9525">
              <a:solidFill>
                <a:srgbClr val="D9E8C6"/>
              </a:solidFill>
            </a:ln>
          </p:spPr>
        </p:sp>
        <p:grpSp>
          <p:nvGrpSpPr>
            <p:cNvPr id="133" name="mm-recall"/>
            <p:cNvGrpSpPr/>
            <p:nvPr/>
          </p:nvGrpSpPr>
          <p:grpSpPr>
            <a:xfrm>
              <a:off x="3755231" y="3613309"/>
              <a:ext cx="703449" cy="257413"/>
              <a:chOff x="3755231" y="3613309"/>
              <a:chExt cx="703449" cy="257413"/>
            </a:xfrm>
          </p:grpSpPr>
          <p:grpSp>
            <p:nvGrpSpPr>
              <p:cNvPr id="130" name="Group 130"/>
              <p:cNvGrpSpPr/>
              <p:nvPr/>
            </p:nvGrpSpPr>
            <p:grpSpPr>
              <a:xfrm>
                <a:off x="3755231" y="3621881"/>
                <a:ext cx="128587" cy="128587"/>
                <a:chOff x="3755231" y="3621881"/>
                <a:chExt cx="128587" cy="128587"/>
              </a:xfrm>
            </p:grpSpPr>
            <p:sp>
              <p:nvSpPr>
                <p:cNvPr id="128" name="Freeform 128"/>
                <p:cNvSpPr/>
                <p:nvPr/>
              </p:nvSpPr>
              <p:spPr>
                <a:xfrm>
                  <a:off x="3755231" y="3621881"/>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7C3B2F"/>
                  </a:solidFill>
                </a:ln>
              </p:spPr>
            </p:sp>
            <p:sp>
              <p:nvSpPr>
                <p:cNvPr id="129" name="Freeform 129"/>
                <p:cNvSpPr/>
                <p:nvPr/>
              </p:nvSpPr>
              <p:spPr>
                <a:xfrm>
                  <a:off x="3840956" y="3707606"/>
                  <a:ext cx="42862" cy="42862"/>
                </a:xfrm>
                <a:custGeom>
                  <a:avLst/>
                  <a:gdLst/>
                  <a:ahLst/>
                  <a:cxnLst/>
                  <a:rect l="l" t="t" r="r" b="b"/>
                  <a:pathLst>
                    <a:path w="42862" h="42862">
                      <a:moveTo>
                        <a:pt x="42862" y="42862"/>
                      </a:moveTo>
                      <a:lnTo>
                        <a:pt x="0" y="0"/>
                      </a:lnTo>
                    </a:path>
                  </a:pathLst>
                </a:custGeom>
                <a:noFill/>
                <a:ln w="14288">
                  <a:solidFill>
                    <a:srgbClr val="7C3B2F"/>
                  </a:solidFill>
                </a:ln>
              </p:spPr>
            </p:sp>
          </p:grpSp>
          <p:sp>
            <p:nvSpPr>
              <p:cNvPr id="131" name="TextBox 131"/>
              <p:cNvSpPr txBox="1"/>
              <p:nvPr/>
            </p:nvSpPr>
            <p:spPr>
              <a:xfrm>
                <a:off x="3976688" y="3613309"/>
                <a:ext cx="481992" cy="133350"/>
              </a:xfrm>
              <a:prstGeom prst="rect">
                <a:avLst/>
              </a:prstGeom>
              <a:noFill/>
              <a:ln>
                <a:noFill/>
              </a:ln>
            </p:spPr>
            <p:txBody>
              <a:bodyPr wrap="none" lIns="0" tIns="0" rIns="0" bIns="0" anchor="t" anchorCtr="0">
                <a:spAutoFit/>
              </a:bodyPr>
              <a:lstStyle/>
              <a:p>
                <a:pPr algn="l"/>
                <a:r>
                  <a:rPr lang="zh-CN" sz="680" b="1" dirty="0">
                    <a:solidFill>
                      <a:srgbClr val="42140B"/>
                    </a:solidFill>
                    <a:latin typeface="+mn-lt"/>
                    <a:ea typeface="+mn-ea"/>
                    <a:cs typeface="+mn-cs"/>
                  </a:rPr>
                  <a:t xml:space="preserve">Recall@K　</a:t>
                </a:r>
              </a:p>
            </p:txBody>
          </p:sp>
          <p:sp>
            <p:nvSpPr>
              <p:cNvPr id="132" name="TextBox 132"/>
              <p:cNvSpPr txBox="1"/>
              <p:nvPr/>
            </p:nvSpPr>
            <p:spPr>
              <a:xfrm>
                <a:off x="3976688" y="3758803"/>
                <a:ext cx="386461"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（覆盖率）</a:t>
                </a:r>
              </a:p>
            </p:txBody>
          </p:sp>
        </p:grpSp>
        <p:grpSp>
          <p:nvGrpSpPr>
            <p:cNvPr id="140" name="mm-rerank"/>
            <p:cNvGrpSpPr/>
            <p:nvPr/>
          </p:nvGrpSpPr>
          <p:grpSpPr>
            <a:xfrm>
              <a:off x="4943475" y="3556159"/>
              <a:ext cx="676161" cy="381238"/>
              <a:chOff x="4943475" y="3556159"/>
              <a:chExt cx="676161" cy="381238"/>
            </a:xfrm>
          </p:grpSpPr>
          <p:grpSp>
            <p:nvGrpSpPr>
              <p:cNvPr id="136" name="Group 136"/>
              <p:cNvGrpSpPr/>
              <p:nvPr/>
            </p:nvGrpSpPr>
            <p:grpSpPr>
              <a:xfrm>
                <a:off x="4943475" y="3643312"/>
                <a:ext cx="114300" cy="102394"/>
                <a:chOff x="4943475" y="3643312"/>
                <a:chExt cx="114300" cy="102394"/>
              </a:xfrm>
            </p:grpSpPr>
            <p:sp>
              <p:nvSpPr>
                <p:cNvPr id="134" name="Freeform 134"/>
                <p:cNvSpPr/>
                <p:nvPr/>
              </p:nvSpPr>
              <p:spPr>
                <a:xfrm>
                  <a:off x="4943475" y="3736181"/>
                  <a:ext cx="114300" cy="9525"/>
                </a:xfrm>
                <a:custGeom>
                  <a:avLst/>
                  <a:gdLst/>
                  <a:ahLst/>
                  <a:cxnLst/>
                  <a:rect l="l" t="t" r="r" b="b"/>
                  <a:pathLst>
                    <a:path w="114300" h="9525">
                      <a:moveTo>
                        <a:pt x="0" y="0"/>
                      </a:moveTo>
                      <a:lnTo>
                        <a:pt x="114300" y="0"/>
                      </a:lnTo>
                    </a:path>
                  </a:pathLst>
                </a:custGeom>
                <a:noFill/>
                <a:ln w="14288">
                  <a:solidFill>
                    <a:srgbClr val="7C3B2F"/>
                  </a:solidFill>
                </a:ln>
              </p:spPr>
            </p:sp>
            <p:sp>
              <p:nvSpPr>
                <p:cNvPr id="135" name="Freeform 135"/>
                <p:cNvSpPr/>
                <p:nvPr/>
              </p:nvSpPr>
              <p:spPr>
                <a:xfrm>
                  <a:off x="4943475" y="3643312"/>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7C3B2F"/>
                  </a:solidFill>
                </a:ln>
              </p:spPr>
            </p:sp>
          </p:grpSp>
          <p:sp>
            <p:nvSpPr>
              <p:cNvPr id="137" name="TextBox 137"/>
              <p:cNvSpPr txBox="1"/>
              <p:nvPr/>
            </p:nvSpPr>
            <p:spPr>
              <a:xfrm>
                <a:off x="5157788" y="3556159"/>
                <a:ext cx="375277" cy="133350"/>
              </a:xfrm>
              <a:prstGeom prst="rect">
                <a:avLst/>
              </a:prstGeom>
              <a:noFill/>
              <a:ln>
                <a:noFill/>
              </a:ln>
            </p:spPr>
            <p:txBody>
              <a:bodyPr wrap="none" lIns="0" tIns="0" rIns="0" bIns="0" anchor="t" anchorCtr="0">
                <a:spAutoFit/>
              </a:bodyPr>
              <a:lstStyle/>
              <a:p>
                <a:pPr algn="l"/>
                <a:r>
                  <a:rPr lang="zh-CN" sz="680" b="1" dirty="0">
                    <a:solidFill>
                      <a:srgbClr val="42140B"/>
                    </a:solidFill>
                    <a:latin typeface="+mn-lt"/>
                    <a:ea typeface="+mn-ea"/>
                    <a:cs typeface="+mn-cs"/>
                  </a:rPr>
                  <a:t xml:space="preserve">MRR /　</a:t>
                </a:r>
              </a:p>
            </p:txBody>
          </p:sp>
          <p:sp>
            <p:nvSpPr>
              <p:cNvPr id="138" name="TextBox 138"/>
              <p:cNvSpPr txBox="1"/>
              <p:nvPr/>
            </p:nvSpPr>
            <p:spPr>
              <a:xfrm>
                <a:off x="5157788" y="3679984"/>
                <a:ext cx="436212" cy="133350"/>
              </a:xfrm>
              <a:prstGeom prst="rect">
                <a:avLst/>
              </a:prstGeom>
              <a:noFill/>
              <a:ln>
                <a:noFill/>
              </a:ln>
            </p:spPr>
            <p:txBody>
              <a:bodyPr wrap="none" lIns="0" tIns="0" rIns="0" bIns="0" anchor="t" anchorCtr="0">
                <a:spAutoFit/>
              </a:bodyPr>
              <a:lstStyle/>
              <a:p>
                <a:pPr algn="l"/>
                <a:r>
                  <a:rPr lang="zh-CN" sz="680" b="1" dirty="0">
                    <a:solidFill>
                      <a:srgbClr val="42140B"/>
                    </a:solidFill>
                    <a:latin typeface="+mn-lt"/>
                    <a:ea typeface="+mn-ea"/>
                    <a:cs typeface="+mn-cs"/>
                  </a:rPr>
                  <a:t xml:space="preserve">NDCG@K　</a:t>
                </a:r>
              </a:p>
            </p:txBody>
          </p:sp>
          <p:sp>
            <p:nvSpPr>
              <p:cNvPr id="139" name="TextBox 139"/>
              <p:cNvSpPr txBox="1"/>
              <p:nvPr/>
            </p:nvSpPr>
            <p:spPr>
              <a:xfrm>
                <a:off x="5157788" y="3825478"/>
                <a:ext cx="46184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（排序质量）</a:t>
                </a:r>
              </a:p>
            </p:txBody>
          </p:sp>
        </p:grpSp>
        <p:grpSp>
          <p:nvGrpSpPr>
            <p:cNvPr id="160" name="mm-generation"/>
            <p:cNvGrpSpPr/>
            <p:nvPr/>
          </p:nvGrpSpPr>
          <p:grpSpPr>
            <a:xfrm>
              <a:off x="6105170" y="3102769"/>
              <a:ext cx="1055750" cy="1196578"/>
              <a:chOff x="6105170" y="3102769"/>
              <a:chExt cx="1055750" cy="1196578"/>
            </a:xfrm>
          </p:grpSpPr>
          <p:grpSp>
            <p:nvGrpSpPr>
              <p:cNvPr id="144" name="Group 144"/>
              <p:cNvGrpSpPr/>
              <p:nvPr/>
            </p:nvGrpSpPr>
            <p:grpSpPr>
              <a:xfrm>
                <a:off x="6112669" y="3102769"/>
                <a:ext cx="100012" cy="100012"/>
                <a:chOff x="6112669" y="3102769"/>
                <a:chExt cx="100012" cy="100012"/>
              </a:xfrm>
            </p:grpSpPr>
            <p:sp>
              <p:nvSpPr>
                <p:cNvPr id="141" name="Freeform 141"/>
                <p:cNvSpPr/>
                <p:nvPr/>
              </p:nvSpPr>
              <p:spPr>
                <a:xfrm>
                  <a:off x="6157119" y="31472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7C3B2F"/>
                  </a:solidFill>
                </a:ln>
              </p:spPr>
            </p:sp>
            <p:sp>
              <p:nvSpPr>
                <p:cNvPr id="142" name="Freeform 142"/>
                <p:cNvSpPr/>
                <p:nvPr/>
              </p:nvSpPr>
              <p:spPr>
                <a:xfrm>
                  <a:off x="6134894" y="312499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7C3B2F"/>
                  </a:solidFill>
                </a:ln>
              </p:spPr>
            </p:sp>
            <p:sp>
              <p:nvSpPr>
                <p:cNvPr id="143" name="Freeform 143"/>
                <p:cNvSpPr/>
                <p:nvPr/>
              </p:nvSpPr>
              <p:spPr>
                <a:xfrm>
                  <a:off x="6112669" y="31027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C3B2F"/>
                  </a:solidFill>
                </a:ln>
              </p:spPr>
            </p:sp>
          </p:grpSp>
          <p:sp>
            <p:nvSpPr>
              <p:cNvPr id="145" name="TextBox 145"/>
              <p:cNvSpPr txBox="1"/>
              <p:nvPr/>
            </p:nvSpPr>
            <p:spPr>
              <a:xfrm>
                <a:off x="6281738" y="3112532"/>
                <a:ext cx="879182"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 xml:space="preserve">Context Precision　</a:t>
                </a:r>
              </a:p>
            </p:txBody>
          </p:sp>
          <p:sp>
            <p:nvSpPr>
              <p:cNvPr id="146" name="TextBox 146"/>
              <p:cNvSpPr txBox="1"/>
              <p:nvPr/>
            </p:nvSpPr>
            <p:spPr>
              <a:xfrm>
                <a:off x="6281738" y="3234928"/>
                <a:ext cx="612623"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（上下文精确度）</a:t>
                </a:r>
              </a:p>
            </p:txBody>
          </p:sp>
          <p:grpSp>
            <p:nvGrpSpPr>
              <p:cNvPr id="149" name="Group 149"/>
              <p:cNvGrpSpPr/>
              <p:nvPr/>
            </p:nvGrpSpPr>
            <p:grpSpPr>
              <a:xfrm>
                <a:off x="6105170" y="3579019"/>
                <a:ext cx="108504" cy="100012"/>
                <a:chOff x="6105170" y="3579019"/>
                <a:chExt cx="108504" cy="100012"/>
              </a:xfrm>
            </p:grpSpPr>
            <p:sp>
              <p:nvSpPr>
                <p:cNvPr id="147" name="Freeform 147"/>
                <p:cNvSpPr/>
                <p:nvPr/>
              </p:nvSpPr>
              <p:spPr>
                <a:xfrm>
                  <a:off x="6105170" y="357901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7C3B2F"/>
                  </a:solidFill>
                </a:ln>
              </p:spPr>
            </p:sp>
            <p:sp>
              <p:nvSpPr>
                <p:cNvPr id="148" name="Freeform 148"/>
                <p:cNvSpPr/>
                <p:nvPr/>
              </p:nvSpPr>
              <p:spPr>
                <a:xfrm>
                  <a:off x="6179344" y="3656806"/>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150" name="TextBox 150"/>
              <p:cNvSpPr txBox="1"/>
              <p:nvPr/>
            </p:nvSpPr>
            <p:spPr>
              <a:xfrm>
                <a:off x="6281738" y="3588782"/>
                <a:ext cx="650119"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 xml:space="preserve">Faithfulness　</a:t>
                </a:r>
              </a:p>
            </p:txBody>
          </p:sp>
          <p:sp>
            <p:nvSpPr>
              <p:cNvPr id="151" name="TextBox 151"/>
              <p:cNvSpPr txBox="1"/>
              <p:nvPr/>
            </p:nvSpPr>
            <p:spPr>
              <a:xfrm>
                <a:off x="6281738" y="3711178"/>
                <a:ext cx="386461"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（忠实度）</a:t>
                </a:r>
              </a:p>
            </p:txBody>
          </p:sp>
          <p:grpSp>
            <p:nvGrpSpPr>
              <p:cNvPr id="157" name="Group 157"/>
              <p:cNvGrpSpPr/>
              <p:nvPr/>
            </p:nvGrpSpPr>
            <p:grpSpPr>
              <a:xfrm>
                <a:off x="6123781" y="4055269"/>
                <a:ext cx="77787" cy="100012"/>
                <a:chOff x="6123781" y="4055269"/>
                <a:chExt cx="77787" cy="100012"/>
              </a:xfrm>
            </p:grpSpPr>
            <p:sp>
              <p:nvSpPr>
                <p:cNvPr id="152" name="Freeform 152"/>
                <p:cNvSpPr/>
                <p:nvPr/>
              </p:nvSpPr>
              <p:spPr>
                <a:xfrm>
                  <a:off x="6173787" y="40552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7C3B2F"/>
                  </a:solidFill>
                </a:ln>
              </p:spPr>
            </p:sp>
            <p:sp>
              <p:nvSpPr>
                <p:cNvPr id="153" name="Freeform 153"/>
                <p:cNvSpPr/>
                <p:nvPr/>
              </p:nvSpPr>
              <p:spPr>
                <a:xfrm>
                  <a:off x="6123781" y="40552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7C3B2F"/>
                  </a:solidFill>
                </a:ln>
              </p:spPr>
            </p:sp>
            <p:sp>
              <p:nvSpPr>
                <p:cNvPr id="154" name="Freeform 154"/>
                <p:cNvSpPr/>
                <p:nvPr/>
              </p:nvSpPr>
              <p:spPr>
                <a:xfrm>
                  <a:off x="6146006" y="4088606"/>
                  <a:ext cx="9525" cy="9525"/>
                </a:xfrm>
                <a:custGeom>
                  <a:avLst/>
                  <a:gdLst/>
                  <a:ahLst/>
                  <a:cxnLst/>
                  <a:rect l="l" t="t" r="r" b="b"/>
                  <a:pathLst>
                    <a:path w="9525" h="9525">
                      <a:moveTo>
                        <a:pt x="0" y="0"/>
                      </a:moveTo>
                      <a:lnTo>
                        <a:pt x="5556" y="0"/>
                      </a:lnTo>
                    </a:path>
                  </a:pathLst>
                </a:custGeom>
                <a:noFill/>
                <a:ln w="11112">
                  <a:solidFill>
                    <a:srgbClr val="7C3B2F"/>
                  </a:solidFill>
                </a:ln>
              </p:spPr>
            </p:sp>
            <p:sp>
              <p:nvSpPr>
                <p:cNvPr id="155" name="Freeform 155"/>
                <p:cNvSpPr/>
                <p:nvPr/>
              </p:nvSpPr>
              <p:spPr>
                <a:xfrm>
                  <a:off x="6146006" y="4110831"/>
                  <a:ext cx="33337" cy="9525"/>
                </a:xfrm>
                <a:custGeom>
                  <a:avLst/>
                  <a:gdLst/>
                  <a:ahLst/>
                  <a:cxnLst/>
                  <a:rect l="l" t="t" r="r" b="b"/>
                  <a:pathLst>
                    <a:path w="33337" h="9525">
                      <a:moveTo>
                        <a:pt x="0" y="0"/>
                      </a:moveTo>
                      <a:lnTo>
                        <a:pt x="33337" y="0"/>
                      </a:lnTo>
                    </a:path>
                  </a:pathLst>
                </a:custGeom>
                <a:noFill/>
                <a:ln w="11112">
                  <a:solidFill>
                    <a:srgbClr val="7C3B2F"/>
                  </a:solidFill>
                </a:ln>
              </p:spPr>
            </p:sp>
            <p:sp>
              <p:nvSpPr>
                <p:cNvPr id="156" name="Freeform 156"/>
                <p:cNvSpPr/>
                <p:nvPr/>
              </p:nvSpPr>
              <p:spPr>
                <a:xfrm>
                  <a:off x="6146006" y="4133056"/>
                  <a:ext cx="33337" cy="9525"/>
                </a:xfrm>
                <a:custGeom>
                  <a:avLst/>
                  <a:gdLst/>
                  <a:ahLst/>
                  <a:cxnLst/>
                  <a:rect l="l" t="t" r="r" b="b"/>
                  <a:pathLst>
                    <a:path w="33337" h="9525">
                      <a:moveTo>
                        <a:pt x="0" y="0"/>
                      </a:moveTo>
                      <a:lnTo>
                        <a:pt x="33337" y="0"/>
                      </a:lnTo>
                    </a:path>
                  </a:pathLst>
                </a:custGeom>
                <a:noFill/>
                <a:ln w="11112">
                  <a:solidFill>
                    <a:srgbClr val="7C3B2F"/>
                  </a:solidFill>
                </a:ln>
              </p:spPr>
            </p:sp>
          </p:grpSp>
          <p:sp>
            <p:nvSpPr>
              <p:cNvPr id="158" name="TextBox 158"/>
              <p:cNvSpPr txBox="1"/>
              <p:nvPr/>
            </p:nvSpPr>
            <p:spPr>
              <a:xfrm>
                <a:off x="6281738" y="4065032"/>
                <a:ext cx="879182"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 xml:space="preserve">Citation Accuracy　</a:t>
                </a:r>
              </a:p>
            </p:txBody>
          </p:sp>
          <p:sp>
            <p:nvSpPr>
              <p:cNvPr id="159" name="TextBox 159"/>
              <p:cNvSpPr txBox="1"/>
              <p:nvPr/>
            </p:nvSpPr>
            <p:spPr>
              <a:xfrm>
                <a:off x="6281738" y="4187428"/>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（引用准确率）</a:t>
                </a:r>
              </a:p>
            </p:txBody>
          </p:sp>
        </p:grpSp>
        <p:grpSp>
          <p:nvGrpSpPr>
            <p:cNvPr id="176" name="mm-business"/>
            <p:cNvGrpSpPr/>
            <p:nvPr/>
          </p:nvGrpSpPr>
          <p:grpSpPr>
            <a:xfrm>
              <a:off x="7630979" y="3104019"/>
              <a:ext cx="1045194" cy="1195328"/>
              <a:chOff x="7630979" y="3104019"/>
              <a:chExt cx="1045194" cy="1195328"/>
            </a:xfrm>
          </p:grpSpPr>
          <p:sp>
            <p:nvSpPr>
              <p:cNvPr id="161" name="Freeform 161"/>
              <p:cNvSpPr/>
              <p:nvPr/>
            </p:nvSpPr>
            <p:spPr>
              <a:xfrm>
                <a:off x="7630979" y="31040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7C3B2F"/>
                </a:solidFill>
              </a:ln>
            </p:spPr>
          </p:sp>
          <p:sp>
            <p:nvSpPr>
              <p:cNvPr id="162" name="TextBox 162"/>
              <p:cNvSpPr txBox="1"/>
              <p:nvPr/>
            </p:nvSpPr>
            <p:spPr>
              <a:xfrm>
                <a:off x="7805738" y="3112532"/>
                <a:ext cx="870435"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 xml:space="preserve">Answer Relevance　</a:t>
                </a:r>
              </a:p>
            </p:txBody>
          </p:sp>
          <p:sp>
            <p:nvSpPr>
              <p:cNvPr id="163" name="TextBox 163"/>
              <p:cNvSpPr txBox="1"/>
              <p:nvPr/>
            </p:nvSpPr>
            <p:spPr>
              <a:xfrm>
                <a:off x="7805738" y="3234928"/>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（答案相关性）</a:t>
                </a:r>
              </a:p>
            </p:txBody>
          </p:sp>
          <p:grpSp>
            <p:nvGrpSpPr>
              <p:cNvPr id="166" name="Group 166"/>
              <p:cNvGrpSpPr/>
              <p:nvPr/>
            </p:nvGrpSpPr>
            <p:grpSpPr>
              <a:xfrm>
                <a:off x="7636669" y="3579019"/>
                <a:ext cx="100012" cy="100012"/>
                <a:chOff x="7636669" y="3579019"/>
                <a:chExt cx="100012" cy="100012"/>
              </a:xfrm>
            </p:grpSpPr>
            <p:sp>
              <p:nvSpPr>
                <p:cNvPr id="164" name="Freeform 164"/>
                <p:cNvSpPr/>
                <p:nvPr/>
              </p:nvSpPr>
              <p:spPr>
                <a:xfrm>
                  <a:off x="7636669" y="35790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C3B2F"/>
                  </a:solidFill>
                </a:ln>
              </p:spPr>
            </p:sp>
            <p:sp>
              <p:nvSpPr>
                <p:cNvPr id="165" name="Freeform 165"/>
                <p:cNvSpPr/>
                <p:nvPr/>
              </p:nvSpPr>
              <p:spPr>
                <a:xfrm>
                  <a:off x="7670006" y="3617912"/>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167" name="TextBox 167"/>
              <p:cNvSpPr txBox="1"/>
              <p:nvPr/>
            </p:nvSpPr>
            <p:spPr>
              <a:xfrm>
                <a:off x="7805738" y="3588782"/>
                <a:ext cx="797892"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 xml:space="preserve">Task Completion　</a:t>
                </a:r>
              </a:p>
            </p:txBody>
          </p:sp>
          <p:sp>
            <p:nvSpPr>
              <p:cNvPr id="168" name="TextBox 168"/>
              <p:cNvSpPr txBox="1"/>
              <p:nvPr/>
            </p:nvSpPr>
            <p:spPr>
              <a:xfrm>
                <a:off x="7805738" y="3711178"/>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（任务完成率）</a:t>
                </a:r>
              </a:p>
            </p:txBody>
          </p:sp>
          <p:grpSp>
            <p:nvGrpSpPr>
              <p:cNvPr id="173" name="Group 173"/>
              <p:cNvGrpSpPr/>
              <p:nvPr/>
            </p:nvGrpSpPr>
            <p:grpSpPr>
              <a:xfrm>
                <a:off x="7636669" y="4055269"/>
                <a:ext cx="100012" cy="100012"/>
                <a:chOff x="7636669" y="4055269"/>
                <a:chExt cx="100012" cy="100012"/>
              </a:xfrm>
            </p:grpSpPr>
            <p:sp>
              <p:nvSpPr>
                <p:cNvPr id="169" name="Freeform 169"/>
                <p:cNvSpPr/>
                <p:nvPr/>
              </p:nvSpPr>
              <p:spPr>
                <a:xfrm>
                  <a:off x="7647781" y="40552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7C3B2F"/>
                  </a:solidFill>
                </a:ln>
              </p:spPr>
            </p:sp>
            <p:sp>
              <p:nvSpPr>
                <p:cNvPr id="170" name="Freeform 170"/>
                <p:cNvSpPr/>
                <p:nvPr/>
              </p:nvSpPr>
              <p:spPr>
                <a:xfrm>
                  <a:off x="7636669" y="41219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7C3B2F"/>
                  </a:solidFill>
                </a:ln>
              </p:spPr>
            </p:sp>
            <p:sp>
              <p:nvSpPr>
                <p:cNvPr id="171" name="Freeform 171"/>
                <p:cNvSpPr/>
                <p:nvPr/>
              </p:nvSpPr>
              <p:spPr>
                <a:xfrm>
                  <a:off x="7708900" y="40559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7C3B2F"/>
                  </a:solidFill>
                </a:ln>
              </p:spPr>
            </p:sp>
            <p:sp>
              <p:nvSpPr>
                <p:cNvPr id="172" name="Freeform 172"/>
                <p:cNvSpPr/>
                <p:nvPr/>
              </p:nvSpPr>
              <p:spPr>
                <a:xfrm>
                  <a:off x="7720012" y="41227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7C3B2F"/>
                  </a:solidFill>
                </a:ln>
              </p:spPr>
            </p:sp>
          </p:grpSp>
          <p:sp>
            <p:nvSpPr>
              <p:cNvPr id="174" name="TextBox 174"/>
              <p:cNvSpPr txBox="1"/>
              <p:nvPr/>
            </p:nvSpPr>
            <p:spPr>
              <a:xfrm>
                <a:off x="7805738" y="4065032"/>
                <a:ext cx="779653" cy="126206"/>
              </a:xfrm>
              <a:prstGeom prst="rect">
                <a:avLst/>
              </a:prstGeom>
              <a:noFill/>
              <a:ln>
                <a:noFill/>
              </a:ln>
            </p:spPr>
            <p:txBody>
              <a:bodyPr wrap="none" lIns="0" tIns="0" rIns="0" bIns="0" anchor="t" anchorCtr="0">
                <a:spAutoFit/>
              </a:bodyPr>
              <a:lstStyle/>
              <a:p>
                <a:pPr algn="l"/>
                <a:r>
                  <a:rPr lang="zh-CN" sz="640" b="1" dirty="0">
                    <a:solidFill>
                      <a:srgbClr val="42140B"/>
                    </a:solidFill>
                    <a:latin typeface="+mn-lt"/>
                    <a:ea typeface="+mn-ea"/>
                    <a:cs typeface="+mn-cs"/>
                  </a:rPr>
                  <a:t xml:space="preserve">Escalation Rate　</a:t>
                </a:r>
              </a:p>
            </p:txBody>
          </p:sp>
          <p:sp>
            <p:nvSpPr>
              <p:cNvPr id="175" name="TextBox 175"/>
              <p:cNvSpPr txBox="1"/>
              <p:nvPr/>
            </p:nvSpPr>
            <p:spPr>
              <a:xfrm>
                <a:off x="7805738" y="4187428"/>
                <a:ext cx="46184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（转人工率）</a:t>
                </a:r>
              </a:p>
            </p:txBody>
          </p:sp>
        </p:grpSp>
      </p:grpSp>
      <p:grpSp>
        <p:nvGrpSpPr>
          <p:cNvPr id="253" name="error-tree"/>
          <p:cNvGrpSpPr/>
          <p:nvPr/>
        </p:nvGrpSpPr>
        <p:grpSpPr>
          <a:xfrm>
            <a:off x="9029700" y="628650"/>
            <a:ext cx="2933700" cy="3810000"/>
            <a:chOff x="9029700" y="628650"/>
            <a:chExt cx="2933700" cy="3810000"/>
          </a:xfrm>
        </p:grpSpPr>
        <p:sp>
          <p:nvSpPr>
            <p:cNvPr id="178" name="Rectangle 178"/>
            <p:cNvSpPr/>
            <p:nvPr/>
          </p:nvSpPr>
          <p:spPr>
            <a:xfrm>
              <a:off x="9029700" y="628650"/>
              <a:ext cx="2933700" cy="3810000"/>
            </a:xfrm>
            <a:prstGeom prst="roundRect">
              <a:avLst>
                <a:gd name="adj" fmla="val 3247"/>
              </a:avLst>
            </a:prstGeom>
            <a:solidFill>
              <a:srgbClr val="FFFFFF"/>
            </a:solidFill>
            <a:ln w="9525">
              <a:solidFill>
                <a:srgbClr val="D9E8C6"/>
              </a:solidFill>
            </a:ln>
          </p:spPr>
        </p:sp>
        <p:sp>
          <p:nvSpPr>
            <p:cNvPr id="179" name="Rectangle 179"/>
            <p:cNvSpPr/>
            <p:nvPr/>
          </p:nvSpPr>
          <p:spPr>
            <a:xfrm>
              <a:off x="9124950" y="704850"/>
              <a:ext cx="1905000" cy="209550"/>
            </a:xfrm>
            <a:prstGeom prst="roundRect">
              <a:avLst>
                <a:gd name="adj" fmla="val 27273"/>
              </a:avLst>
            </a:prstGeom>
            <a:solidFill>
              <a:srgbClr val="42140B"/>
            </a:solidFill>
            <a:ln>
              <a:noFill/>
            </a:ln>
          </p:spPr>
        </p:sp>
        <p:sp>
          <p:nvSpPr>
            <p:cNvPr id="180" name="TextBox 180"/>
            <p:cNvSpPr txBox="1"/>
            <p:nvPr/>
          </p:nvSpPr>
          <p:spPr>
            <a:xfrm>
              <a:off x="9487764" y="762714"/>
              <a:ext cx="117937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典型问题归因（错误树）</a:t>
              </a:r>
            </a:p>
          </p:txBody>
        </p:sp>
        <p:grpSp>
          <p:nvGrpSpPr>
            <p:cNvPr id="190" name="tree-links"/>
            <p:cNvGrpSpPr/>
            <p:nvPr/>
          </p:nvGrpSpPr>
          <p:grpSpPr>
            <a:xfrm>
              <a:off x="9715500" y="1228725"/>
              <a:ext cx="247650" cy="2752725"/>
              <a:chOff x="9715500" y="1228725"/>
              <a:chExt cx="247650" cy="2752725"/>
            </a:xfrm>
          </p:grpSpPr>
          <p:sp>
            <p:nvSpPr>
              <p:cNvPr id="181" name="Line 181"/>
              <p:cNvSpPr/>
              <p:nvPr/>
            </p:nvSpPr>
            <p:spPr>
              <a:xfrm>
                <a:off x="9715500" y="2590800"/>
                <a:ext cx="133350" cy="9525"/>
              </a:xfrm>
              <a:custGeom>
                <a:avLst/>
                <a:gdLst/>
                <a:ahLst/>
                <a:cxnLst/>
                <a:rect l="l" t="t" r="r" b="b"/>
                <a:pathLst>
                  <a:path w="133350" h="9525">
                    <a:moveTo>
                      <a:pt x="0" y="0"/>
                    </a:moveTo>
                    <a:lnTo>
                      <a:pt x="133350" y="0"/>
                    </a:lnTo>
                  </a:path>
                </a:pathLst>
              </a:custGeom>
              <a:noFill/>
              <a:ln w="11430">
                <a:solidFill>
                  <a:srgbClr val="BE776A"/>
                </a:solidFill>
              </a:ln>
            </p:spPr>
          </p:sp>
          <p:sp>
            <p:nvSpPr>
              <p:cNvPr id="182" name="Line 182"/>
              <p:cNvSpPr/>
              <p:nvPr/>
            </p:nvSpPr>
            <p:spPr>
              <a:xfrm>
                <a:off x="9848850" y="1228725"/>
                <a:ext cx="9525" cy="2743200"/>
              </a:xfrm>
              <a:custGeom>
                <a:avLst/>
                <a:gdLst/>
                <a:ahLst/>
                <a:cxnLst/>
                <a:rect l="l" t="t" r="r" b="b"/>
                <a:pathLst>
                  <a:path w="9525" h="2743200">
                    <a:moveTo>
                      <a:pt x="0" y="0"/>
                    </a:moveTo>
                    <a:lnTo>
                      <a:pt x="0" y="2743200"/>
                    </a:lnTo>
                  </a:path>
                </a:pathLst>
              </a:custGeom>
              <a:noFill/>
              <a:ln w="11430">
                <a:solidFill>
                  <a:srgbClr val="BE776A"/>
                </a:solidFill>
              </a:ln>
            </p:spPr>
          </p:sp>
          <p:sp>
            <p:nvSpPr>
              <p:cNvPr id="183" name="Line 183"/>
              <p:cNvSpPr/>
              <p:nvPr/>
            </p:nvSpPr>
            <p:spPr>
              <a:xfrm>
                <a:off x="9848850" y="1228725"/>
                <a:ext cx="114300" cy="9525"/>
              </a:xfrm>
              <a:custGeom>
                <a:avLst/>
                <a:gdLst/>
                <a:ahLst/>
                <a:cxnLst/>
                <a:rect l="l" t="t" r="r" b="b"/>
                <a:pathLst>
                  <a:path w="114300" h="9525">
                    <a:moveTo>
                      <a:pt x="0" y="0"/>
                    </a:moveTo>
                    <a:lnTo>
                      <a:pt x="114300" y="0"/>
                    </a:lnTo>
                  </a:path>
                </a:pathLst>
              </a:custGeom>
              <a:noFill/>
              <a:ln w="11430">
                <a:solidFill>
                  <a:srgbClr val="BE776A"/>
                </a:solidFill>
              </a:ln>
            </p:spPr>
          </p:sp>
          <p:sp>
            <p:nvSpPr>
              <p:cNvPr id="184" name="Line 184"/>
              <p:cNvSpPr/>
              <p:nvPr/>
            </p:nvSpPr>
            <p:spPr>
              <a:xfrm>
                <a:off x="9848850" y="1685925"/>
                <a:ext cx="114300" cy="9525"/>
              </a:xfrm>
              <a:custGeom>
                <a:avLst/>
                <a:gdLst/>
                <a:ahLst/>
                <a:cxnLst/>
                <a:rect l="l" t="t" r="r" b="b"/>
                <a:pathLst>
                  <a:path w="114300" h="9525">
                    <a:moveTo>
                      <a:pt x="0" y="0"/>
                    </a:moveTo>
                    <a:lnTo>
                      <a:pt x="114300" y="0"/>
                    </a:lnTo>
                  </a:path>
                </a:pathLst>
              </a:custGeom>
              <a:noFill/>
              <a:ln w="11430">
                <a:solidFill>
                  <a:srgbClr val="BE776A"/>
                </a:solidFill>
              </a:ln>
            </p:spPr>
          </p:sp>
          <p:sp>
            <p:nvSpPr>
              <p:cNvPr id="185" name="Line 185"/>
              <p:cNvSpPr/>
              <p:nvPr/>
            </p:nvSpPr>
            <p:spPr>
              <a:xfrm>
                <a:off x="9848850" y="2143125"/>
                <a:ext cx="114300" cy="9525"/>
              </a:xfrm>
              <a:custGeom>
                <a:avLst/>
                <a:gdLst/>
                <a:ahLst/>
                <a:cxnLst/>
                <a:rect l="l" t="t" r="r" b="b"/>
                <a:pathLst>
                  <a:path w="114300" h="9525">
                    <a:moveTo>
                      <a:pt x="0" y="0"/>
                    </a:moveTo>
                    <a:lnTo>
                      <a:pt x="114300" y="0"/>
                    </a:lnTo>
                  </a:path>
                </a:pathLst>
              </a:custGeom>
              <a:noFill/>
              <a:ln w="11430">
                <a:solidFill>
                  <a:srgbClr val="BE776A"/>
                </a:solidFill>
              </a:ln>
            </p:spPr>
          </p:sp>
          <p:sp>
            <p:nvSpPr>
              <p:cNvPr id="186" name="Line 186"/>
              <p:cNvSpPr/>
              <p:nvPr/>
            </p:nvSpPr>
            <p:spPr>
              <a:xfrm>
                <a:off x="9848850" y="2600325"/>
                <a:ext cx="114300" cy="9525"/>
              </a:xfrm>
              <a:custGeom>
                <a:avLst/>
                <a:gdLst/>
                <a:ahLst/>
                <a:cxnLst/>
                <a:rect l="l" t="t" r="r" b="b"/>
                <a:pathLst>
                  <a:path w="114300" h="9525">
                    <a:moveTo>
                      <a:pt x="0" y="0"/>
                    </a:moveTo>
                    <a:lnTo>
                      <a:pt x="114300" y="0"/>
                    </a:lnTo>
                  </a:path>
                </a:pathLst>
              </a:custGeom>
              <a:noFill/>
              <a:ln w="11430">
                <a:solidFill>
                  <a:srgbClr val="BE776A"/>
                </a:solidFill>
              </a:ln>
            </p:spPr>
          </p:sp>
          <p:sp>
            <p:nvSpPr>
              <p:cNvPr id="187" name="Line 187"/>
              <p:cNvSpPr/>
              <p:nvPr/>
            </p:nvSpPr>
            <p:spPr>
              <a:xfrm>
                <a:off x="9848850" y="3057525"/>
                <a:ext cx="114300" cy="9525"/>
              </a:xfrm>
              <a:custGeom>
                <a:avLst/>
                <a:gdLst/>
                <a:ahLst/>
                <a:cxnLst/>
                <a:rect l="l" t="t" r="r" b="b"/>
                <a:pathLst>
                  <a:path w="114300" h="9525">
                    <a:moveTo>
                      <a:pt x="0" y="0"/>
                    </a:moveTo>
                    <a:lnTo>
                      <a:pt x="114300" y="0"/>
                    </a:lnTo>
                  </a:path>
                </a:pathLst>
              </a:custGeom>
              <a:noFill/>
              <a:ln w="11430">
                <a:solidFill>
                  <a:srgbClr val="BE776A"/>
                </a:solidFill>
              </a:ln>
            </p:spPr>
          </p:sp>
          <p:sp>
            <p:nvSpPr>
              <p:cNvPr id="188" name="Line 188"/>
              <p:cNvSpPr/>
              <p:nvPr/>
            </p:nvSpPr>
            <p:spPr>
              <a:xfrm>
                <a:off x="9848850" y="3514725"/>
                <a:ext cx="114300" cy="9525"/>
              </a:xfrm>
              <a:custGeom>
                <a:avLst/>
                <a:gdLst/>
                <a:ahLst/>
                <a:cxnLst/>
                <a:rect l="l" t="t" r="r" b="b"/>
                <a:pathLst>
                  <a:path w="114300" h="9525">
                    <a:moveTo>
                      <a:pt x="0" y="0"/>
                    </a:moveTo>
                    <a:lnTo>
                      <a:pt x="114300" y="0"/>
                    </a:lnTo>
                  </a:path>
                </a:pathLst>
              </a:custGeom>
              <a:noFill/>
              <a:ln w="11430">
                <a:solidFill>
                  <a:srgbClr val="BE776A"/>
                </a:solidFill>
              </a:ln>
            </p:spPr>
          </p:sp>
          <p:sp>
            <p:nvSpPr>
              <p:cNvPr id="189" name="Line 189"/>
              <p:cNvSpPr/>
              <p:nvPr/>
            </p:nvSpPr>
            <p:spPr>
              <a:xfrm>
                <a:off x="9848850" y="3971925"/>
                <a:ext cx="114300" cy="9525"/>
              </a:xfrm>
              <a:custGeom>
                <a:avLst/>
                <a:gdLst/>
                <a:ahLst/>
                <a:cxnLst/>
                <a:rect l="l" t="t" r="r" b="b"/>
                <a:pathLst>
                  <a:path w="114300" h="9525">
                    <a:moveTo>
                      <a:pt x="0" y="0"/>
                    </a:moveTo>
                    <a:lnTo>
                      <a:pt x="114300" y="0"/>
                    </a:lnTo>
                  </a:path>
                </a:pathLst>
              </a:custGeom>
              <a:noFill/>
              <a:ln w="11430">
                <a:solidFill>
                  <a:srgbClr val="BE776A"/>
                </a:solidFill>
              </a:ln>
            </p:spPr>
          </p:sp>
        </p:grpSp>
        <p:sp>
          <p:nvSpPr>
            <p:cNvPr id="191" name="Ellipse 191"/>
            <p:cNvSpPr/>
            <p:nvPr/>
          </p:nvSpPr>
          <p:spPr>
            <a:xfrm>
              <a:off x="9220200" y="2343150"/>
              <a:ext cx="495300" cy="495300"/>
            </a:xfrm>
            <a:prstGeom prst="ellipse">
              <a:avLst/>
            </a:prstGeom>
            <a:solidFill>
              <a:srgbClr val="42140B"/>
            </a:solidFill>
            <a:ln>
              <a:noFill/>
            </a:ln>
          </p:spPr>
        </p:sp>
        <p:sp>
          <p:nvSpPr>
            <p:cNvPr id="192" name="TextBox 192"/>
            <p:cNvSpPr txBox="1"/>
            <p:nvPr/>
          </p:nvSpPr>
          <p:spPr>
            <a:xfrm>
              <a:off x="9319717" y="248531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不理想</a:t>
              </a:r>
            </a:p>
          </p:txBody>
        </p:sp>
        <p:sp>
          <p:nvSpPr>
            <p:cNvPr id="193" name="TextBox 193"/>
            <p:cNvSpPr txBox="1"/>
            <p:nvPr/>
          </p:nvSpPr>
          <p:spPr>
            <a:xfrm>
              <a:off x="9367507" y="261866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结果</a:t>
              </a:r>
            </a:p>
          </p:txBody>
        </p:sp>
        <p:grpSp>
          <p:nvGrpSpPr>
            <p:cNvPr id="200" name="leaf-1"/>
            <p:cNvGrpSpPr/>
            <p:nvPr/>
          </p:nvGrpSpPr>
          <p:grpSpPr>
            <a:xfrm>
              <a:off x="9963150" y="1028700"/>
              <a:ext cx="1905000" cy="400050"/>
              <a:chOff x="9963150" y="1028700"/>
              <a:chExt cx="1905000" cy="400050"/>
            </a:xfrm>
          </p:grpSpPr>
          <p:sp>
            <p:nvSpPr>
              <p:cNvPr id="194" name="Rectangle 194"/>
              <p:cNvSpPr/>
              <p:nvPr/>
            </p:nvSpPr>
            <p:spPr>
              <a:xfrm>
                <a:off x="9963150" y="1028700"/>
                <a:ext cx="1905000" cy="400050"/>
              </a:xfrm>
              <a:prstGeom prst="roundRect">
                <a:avLst>
                  <a:gd name="adj" fmla="val 14286"/>
                </a:avLst>
              </a:prstGeom>
              <a:solidFill>
                <a:srgbClr val="F4F8EC"/>
              </a:solidFill>
              <a:ln>
                <a:noFill/>
              </a:ln>
            </p:spPr>
          </p:sp>
          <p:grpSp>
            <p:nvGrpSpPr>
              <p:cNvPr id="197" name="Group 197"/>
              <p:cNvGrpSpPr/>
              <p:nvPr/>
            </p:nvGrpSpPr>
            <p:grpSpPr>
              <a:xfrm>
                <a:off x="10056019" y="1178719"/>
                <a:ext cx="100012" cy="100012"/>
                <a:chOff x="10056019" y="1178719"/>
                <a:chExt cx="100012" cy="100012"/>
              </a:xfrm>
            </p:grpSpPr>
            <p:sp>
              <p:nvSpPr>
                <p:cNvPr id="195" name="Freeform 195"/>
                <p:cNvSpPr/>
                <p:nvPr/>
              </p:nvSpPr>
              <p:spPr>
                <a:xfrm>
                  <a:off x="10056019" y="1178719"/>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7C3B2F"/>
                  </a:solidFill>
                </a:ln>
              </p:spPr>
            </p:sp>
            <p:sp>
              <p:nvSpPr>
                <p:cNvPr id="196" name="Freeform 196"/>
                <p:cNvSpPr/>
                <p:nvPr/>
              </p:nvSpPr>
              <p:spPr>
                <a:xfrm>
                  <a:off x="10122694" y="1245394"/>
                  <a:ext cx="33337" cy="33337"/>
                </a:xfrm>
                <a:custGeom>
                  <a:avLst/>
                  <a:gdLst/>
                  <a:ahLst/>
                  <a:cxnLst/>
                  <a:rect l="l" t="t" r="r" b="b"/>
                  <a:pathLst>
                    <a:path w="33337" h="33337">
                      <a:moveTo>
                        <a:pt x="33337" y="33337"/>
                      </a:moveTo>
                      <a:lnTo>
                        <a:pt x="0" y="0"/>
                      </a:lnTo>
                    </a:path>
                  </a:pathLst>
                </a:custGeom>
                <a:noFill/>
                <a:ln w="11112">
                  <a:solidFill>
                    <a:srgbClr val="7C3B2F"/>
                  </a:solidFill>
                </a:ln>
              </p:spPr>
            </p:sp>
          </p:grpSp>
          <p:sp>
            <p:nvSpPr>
              <p:cNvPr id="198" name="TextBox 198"/>
              <p:cNvSpPr txBox="1"/>
              <p:nvPr/>
            </p:nvSpPr>
            <p:spPr>
              <a:xfrm>
                <a:off x="10244138" y="1113711"/>
                <a:ext cx="29626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未召回</a:t>
                </a:r>
              </a:p>
            </p:txBody>
          </p:sp>
          <p:sp>
            <p:nvSpPr>
              <p:cNvPr id="199" name="TextBox 199"/>
              <p:cNvSpPr txBox="1"/>
              <p:nvPr/>
            </p:nvSpPr>
            <p:spPr>
              <a:xfrm>
                <a:off x="10244138" y="1263253"/>
                <a:ext cx="688010"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相关信息未被检索到</a:t>
                </a:r>
              </a:p>
            </p:txBody>
          </p:sp>
        </p:grpSp>
        <p:grpSp>
          <p:nvGrpSpPr>
            <p:cNvPr id="209" name="leaf-2"/>
            <p:cNvGrpSpPr/>
            <p:nvPr/>
          </p:nvGrpSpPr>
          <p:grpSpPr>
            <a:xfrm>
              <a:off x="9963150" y="1485900"/>
              <a:ext cx="1905000" cy="400050"/>
              <a:chOff x="9963150" y="1485900"/>
              <a:chExt cx="1905000" cy="400050"/>
            </a:xfrm>
          </p:grpSpPr>
          <p:sp>
            <p:nvSpPr>
              <p:cNvPr id="201" name="Rectangle 201"/>
              <p:cNvSpPr/>
              <p:nvPr/>
            </p:nvSpPr>
            <p:spPr>
              <a:xfrm>
                <a:off x="9963150" y="1485900"/>
                <a:ext cx="1905000" cy="400050"/>
              </a:xfrm>
              <a:prstGeom prst="roundRect">
                <a:avLst>
                  <a:gd name="adj" fmla="val 14286"/>
                </a:avLst>
              </a:prstGeom>
              <a:solidFill>
                <a:srgbClr val="F4F8EC"/>
              </a:solidFill>
              <a:ln>
                <a:noFill/>
              </a:ln>
            </p:spPr>
          </p:sp>
          <p:grpSp>
            <p:nvGrpSpPr>
              <p:cNvPr id="206" name="Group 206"/>
              <p:cNvGrpSpPr/>
              <p:nvPr/>
            </p:nvGrpSpPr>
            <p:grpSpPr>
              <a:xfrm>
                <a:off x="10056019" y="1641475"/>
                <a:ext cx="100012" cy="88899"/>
                <a:chOff x="10056019" y="1641475"/>
                <a:chExt cx="100012" cy="88899"/>
              </a:xfrm>
            </p:grpSpPr>
            <p:sp>
              <p:nvSpPr>
                <p:cNvPr id="202" name="Freeform 202"/>
                <p:cNvSpPr/>
                <p:nvPr/>
              </p:nvSpPr>
              <p:spPr>
                <a:xfrm>
                  <a:off x="10056019" y="1658144"/>
                  <a:ext cx="100012" cy="9525"/>
                </a:xfrm>
                <a:custGeom>
                  <a:avLst/>
                  <a:gdLst/>
                  <a:ahLst/>
                  <a:cxnLst/>
                  <a:rect l="l" t="t" r="r" b="b"/>
                  <a:pathLst>
                    <a:path w="100012" h="9525">
                      <a:moveTo>
                        <a:pt x="100012" y="0"/>
                      </a:moveTo>
                      <a:lnTo>
                        <a:pt x="0" y="0"/>
                      </a:lnTo>
                    </a:path>
                  </a:pathLst>
                </a:custGeom>
                <a:noFill/>
                <a:ln w="11112">
                  <a:solidFill>
                    <a:srgbClr val="7C3B2F"/>
                  </a:solidFill>
                </a:ln>
              </p:spPr>
            </p:sp>
            <p:sp>
              <p:nvSpPr>
                <p:cNvPr id="203" name="Freeform 203"/>
                <p:cNvSpPr/>
                <p:nvPr/>
              </p:nvSpPr>
              <p:spPr>
                <a:xfrm>
                  <a:off x="10139362" y="1641475"/>
                  <a:ext cx="16669" cy="33337"/>
                </a:xfrm>
                <a:custGeom>
                  <a:avLst/>
                  <a:gdLst/>
                  <a:ahLst/>
                  <a:cxnLst/>
                  <a:rect l="l" t="t" r="r" b="b"/>
                  <a:pathLst>
                    <a:path w="16669" h="33337">
                      <a:moveTo>
                        <a:pt x="0" y="33337"/>
                      </a:moveTo>
                      <a:lnTo>
                        <a:pt x="16669" y="16669"/>
                      </a:lnTo>
                      <a:lnTo>
                        <a:pt x="0" y="0"/>
                      </a:lnTo>
                    </a:path>
                  </a:pathLst>
                </a:custGeom>
                <a:noFill/>
                <a:ln w="11112">
                  <a:solidFill>
                    <a:srgbClr val="7C3B2F"/>
                  </a:solidFill>
                </a:ln>
              </p:spPr>
            </p:sp>
            <p:sp>
              <p:nvSpPr>
                <p:cNvPr id="204" name="Freeform 204"/>
                <p:cNvSpPr/>
                <p:nvPr/>
              </p:nvSpPr>
              <p:spPr>
                <a:xfrm>
                  <a:off x="10056019" y="1697037"/>
                  <a:ext cx="16669" cy="33337"/>
                </a:xfrm>
                <a:custGeom>
                  <a:avLst/>
                  <a:gdLst/>
                  <a:ahLst/>
                  <a:cxnLst/>
                  <a:rect l="l" t="t" r="r" b="b"/>
                  <a:pathLst>
                    <a:path w="16669" h="33337">
                      <a:moveTo>
                        <a:pt x="16669" y="33337"/>
                      </a:moveTo>
                      <a:lnTo>
                        <a:pt x="0" y="16669"/>
                      </a:lnTo>
                      <a:lnTo>
                        <a:pt x="16669" y="0"/>
                      </a:lnTo>
                    </a:path>
                  </a:pathLst>
                </a:custGeom>
                <a:noFill/>
                <a:ln w="11112">
                  <a:solidFill>
                    <a:srgbClr val="7C3B2F"/>
                  </a:solidFill>
                </a:ln>
              </p:spPr>
            </p:sp>
            <p:sp>
              <p:nvSpPr>
                <p:cNvPr id="205" name="Freeform 205"/>
                <p:cNvSpPr/>
                <p:nvPr/>
              </p:nvSpPr>
              <p:spPr>
                <a:xfrm>
                  <a:off x="10056019" y="1713706"/>
                  <a:ext cx="100012" cy="9525"/>
                </a:xfrm>
                <a:custGeom>
                  <a:avLst/>
                  <a:gdLst/>
                  <a:ahLst/>
                  <a:cxnLst/>
                  <a:rect l="l" t="t" r="r" b="b"/>
                  <a:pathLst>
                    <a:path w="100012" h="9525">
                      <a:moveTo>
                        <a:pt x="0" y="0"/>
                      </a:moveTo>
                      <a:lnTo>
                        <a:pt x="100012" y="0"/>
                      </a:lnTo>
                    </a:path>
                  </a:pathLst>
                </a:custGeom>
                <a:noFill/>
                <a:ln w="11112">
                  <a:solidFill>
                    <a:srgbClr val="7C3B2F"/>
                  </a:solidFill>
                </a:ln>
              </p:spPr>
            </p:sp>
          </p:grpSp>
          <p:sp>
            <p:nvSpPr>
              <p:cNvPr id="207" name="TextBox 207"/>
              <p:cNvSpPr txBox="1"/>
              <p:nvPr/>
            </p:nvSpPr>
            <p:spPr>
              <a:xfrm>
                <a:off x="10244138" y="1570911"/>
                <a:ext cx="29626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错排序</a:t>
                </a:r>
              </a:p>
            </p:txBody>
          </p:sp>
          <p:sp>
            <p:nvSpPr>
              <p:cNvPr id="208" name="TextBox 208"/>
              <p:cNvSpPr txBox="1"/>
              <p:nvPr/>
            </p:nvSpPr>
            <p:spPr>
              <a:xfrm>
                <a:off x="10244138" y="1720453"/>
                <a:ext cx="688010"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相关信息被排在后面</a:t>
                </a:r>
              </a:p>
            </p:txBody>
          </p:sp>
        </p:grpSp>
        <p:grpSp>
          <p:nvGrpSpPr>
            <p:cNvPr id="219" name="leaf-3"/>
            <p:cNvGrpSpPr/>
            <p:nvPr/>
          </p:nvGrpSpPr>
          <p:grpSpPr>
            <a:xfrm>
              <a:off x="9963150" y="1943100"/>
              <a:ext cx="1905000" cy="400050"/>
              <a:chOff x="9963150" y="1943100"/>
              <a:chExt cx="1905000" cy="400050"/>
            </a:xfrm>
          </p:grpSpPr>
          <p:sp>
            <p:nvSpPr>
              <p:cNvPr id="210" name="Rectangle 210"/>
              <p:cNvSpPr/>
              <p:nvPr/>
            </p:nvSpPr>
            <p:spPr>
              <a:xfrm>
                <a:off x="9963150" y="1943100"/>
                <a:ext cx="1905000" cy="400050"/>
              </a:xfrm>
              <a:prstGeom prst="roundRect">
                <a:avLst>
                  <a:gd name="adj" fmla="val 14286"/>
                </a:avLst>
              </a:prstGeom>
              <a:solidFill>
                <a:srgbClr val="F4F8EC"/>
              </a:solidFill>
              <a:ln>
                <a:noFill/>
              </a:ln>
            </p:spPr>
          </p:sp>
          <p:grpSp>
            <p:nvGrpSpPr>
              <p:cNvPr id="216" name="Group 216"/>
              <p:cNvGrpSpPr/>
              <p:nvPr/>
            </p:nvGrpSpPr>
            <p:grpSpPr>
              <a:xfrm>
                <a:off x="10067131" y="2093119"/>
                <a:ext cx="77787" cy="100012"/>
                <a:chOff x="10067131" y="2093119"/>
                <a:chExt cx="77787" cy="100012"/>
              </a:xfrm>
            </p:grpSpPr>
            <p:sp>
              <p:nvSpPr>
                <p:cNvPr id="211" name="Freeform 211"/>
                <p:cNvSpPr/>
                <p:nvPr/>
              </p:nvSpPr>
              <p:spPr>
                <a:xfrm>
                  <a:off x="10117137" y="209311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7C3B2F"/>
                  </a:solidFill>
                </a:ln>
              </p:spPr>
            </p:sp>
            <p:sp>
              <p:nvSpPr>
                <p:cNvPr id="212" name="Freeform 212"/>
                <p:cNvSpPr/>
                <p:nvPr/>
              </p:nvSpPr>
              <p:spPr>
                <a:xfrm>
                  <a:off x="10067131" y="209311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7C3B2F"/>
                  </a:solidFill>
                </a:ln>
              </p:spPr>
            </p:sp>
            <p:sp>
              <p:nvSpPr>
                <p:cNvPr id="213" name="Freeform 213"/>
                <p:cNvSpPr/>
                <p:nvPr/>
              </p:nvSpPr>
              <p:spPr>
                <a:xfrm>
                  <a:off x="10089356" y="2126456"/>
                  <a:ext cx="9525" cy="9525"/>
                </a:xfrm>
                <a:custGeom>
                  <a:avLst/>
                  <a:gdLst/>
                  <a:ahLst/>
                  <a:cxnLst/>
                  <a:rect l="l" t="t" r="r" b="b"/>
                  <a:pathLst>
                    <a:path w="9525" h="9525">
                      <a:moveTo>
                        <a:pt x="0" y="0"/>
                      </a:moveTo>
                      <a:lnTo>
                        <a:pt x="5556" y="0"/>
                      </a:lnTo>
                    </a:path>
                  </a:pathLst>
                </a:custGeom>
                <a:noFill/>
                <a:ln w="11112">
                  <a:solidFill>
                    <a:srgbClr val="7C3B2F"/>
                  </a:solidFill>
                </a:ln>
              </p:spPr>
            </p:sp>
            <p:sp>
              <p:nvSpPr>
                <p:cNvPr id="214" name="Freeform 214"/>
                <p:cNvSpPr/>
                <p:nvPr/>
              </p:nvSpPr>
              <p:spPr>
                <a:xfrm>
                  <a:off x="10089356" y="2148681"/>
                  <a:ext cx="33337" cy="9525"/>
                </a:xfrm>
                <a:custGeom>
                  <a:avLst/>
                  <a:gdLst/>
                  <a:ahLst/>
                  <a:cxnLst/>
                  <a:rect l="l" t="t" r="r" b="b"/>
                  <a:pathLst>
                    <a:path w="33337" h="9525">
                      <a:moveTo>
                        <a:pt x="0" y="0"/>
                      </a:moveTo>
                      <a:lnTo>
                        <a:pt x="33337" y="0"/>
                      </a:lnTo>
                    </a:path>
                  </a:pathLst>
                </a:custGeom>
                <a:noFill/>
                <a:ln w="11112">
                  <a:solidFill>
                    <a:srgbClr val="7C3B2F"/>
                  </a:solidFill>
                </a:ln>
              </p:spPr>
            </p:sp>
            <p:sp>
              <p:nvSpPr>
                <p:cNvPr id="215" name="Freeform 215"/>
                <p:cNvSpPr/>
                <p:nvPr/>
              </p:nvSpPr>
              <p:spPr>
                <a:xfrm>
                  <a:off x="10089356" y="2170906"/>
                  <a:ext cx="33337" cy="9525"/>
                </a:xfrm>
                <a:custGeom>
                  <a:avLst/>
                  <a:gdLst/>
                  <a:ahLst/>
                  <a:cxnLst/>
                  <a:rect l="l" t="t" r="r" b="b"/>
                  <a:pathLst>
                    <a:path w="33337" h="9525">
                      <a:moveTo>
                        <a:pt x="0" y="0"/>
                      </a:moveTo>
                      <a:lnTo>
                        <a:pt x="33337" y="0"/>
                      </a:lnTo>
                    </a:path>
                  </a:pathLst>
                </a:custGeom>
                <a:noFill/>
                <a:ln w="11112">
                  <a:solidFill>
                    <a:srgbClr val="7C3B2F"/>
                  </a:solidFill>
                </a:ln>
              </p:spPr>
            </p:sp>
          </p:grpSp>
          <p:sp>
            <p:nvSpPr>
              <p:cNvPr id="217" name="TextBox 217"/>
              <p:cNvSpPr txBox="1"/>
              <p:nvPr/>
            </p:nvSpPr>
            <p:spPr>
              <a:xfrm>
                <a:off x="10244138" y="2028111"/>
                <a:ext cx="48742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上下文冲突</a:t>
                </a:r>
              </a:p>
            </p:txBody>
          </p:sp>
          <p:sp>
            <p:nvSpPr>
              <p:cNvPr id="218" name="TextBox 218"/>
              <p:cNvSpPr txBox="1"/>
              <p:nvPr/>
            </p:nvSpPr>
            <p:spPr>
              <a:xfrm>
                <a:off x="10244138" y="2177653"/>
                <a:ext cx="612623"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检索内容相互矛盾</a:t>
                </a:r>
              </a:p>
            </p:txBody>
          </p:sp>
        </p:grpSp>
        <p:grpSp>
          <p:nvGrpSpPr>
            <p:cNvPr id="227" name="leaf-4"/>
            <p:cNvGrpSpPr/>
            <p:nvPr/>
          </p:nvGrpSpPr>
          <p:grpSpPr>
            <a:xfrm>
              <a:off x="9963150" y="2400300"/>
              <a:ext cx="1905000" cy="400050"/>
              <a:chOff x="9963150" y="2400300"/>
              <a:chExt cx="1905000" cy="400050"/>
            </a:xfrm>
          </p:grpSpPr>
          <p:sp>
            <p:nvSpPr>
              <p:cNvPr id="220" name="Rectangle 220"/>
              <p:cNvSpPr/>
              <p:nvPr/>
            </p:nvSpPr>
            <p:spPr>
              <a:xfrm>
                <a:off x="9963150" y="2400300"/>
                <a:ext cx="1905000" cy="400050"/>
              </a:xfrm>
              <a:prstGeom prst="roundRect">
                <a:avLst>
                  <a:gd name="adj" fmla="val 14286"/>
                </a:avLst>
              </a:prstGeom>
              <a:solidFill>
                <a:srgbClr val="F4F8EC"/>
              </a:solidFill>
              <a:ln>
                <a:noFill/>
              </a:ln>
            </p:spPr>
          </p:sp>
          <p:grpSp>
            <p:nvGrpSpPr>
              <p:cNvPr id="224" name="Group 224"/>
              <p:cNvGrpSpPr/>
              <p:nvPr/>
            </p:nvGrpSpPr>
            <p:grpSpPr>
              <a:xfrm>
                <a:off x="10049990" y="2548473"/>
                <a:ext cx="112066" cy="96280"/>
                <a:chOff x="10049990" y="2548473"/>
                <a:chExt cx="112066" cy="96280"/>
              </a:xfrm>
            </p:grpSpPr>
            <p:sp>
              <p:nvSpPr>
                <p:cNvPr id="221" name="Freeform 221"/>
                <p:cNvSpPr/>
                <p:nvPr/>
              </p:nvSpPr>
              <p:spPr>
                <a:xfrm>
                  <a:off x="10106025" y="2583656"/>
                  <a:ext cx="9525" cy="22225"/>
                </a:xfrm>
                <a:custGeom>
                  <a:avLst/>
                  <a:gdLst/>
                  <a:ahLst/>
                  <a:cxnLst/>
                  <a:rect l="l" t="t" r="r" b="b"/>
                  <a:pathLst>
                    <a:path w="9525" h="22225">
                      <a:moveTo>
                        <a:pt x="0" y="0"/>
                      </a:moveTo>
                      <a:lnTo>
                        <a:pt x="0" y="22225"/>
                      </a:lnTo>
                    </a:path>
                  </a:pathLst>
                </a:custGeom>
                <a:noFill/>
                <a:ln w="11112">
                  <a:solidFill>
                    <a:srgbClr val="C44E3A"/>
                  </a:solidFill>
                </a:ln>
              </p:spPr>
            </p:sp>
            <p:sp>
              <p:nvSpPr>
                <p:cNvPr id="222" name="Freeform 222"/>
                <p:cNvSpPr/>
                <p:nvPr/>
              </p:nvSpPr>
              <p:spPr>
                <a:xfrm>
                  <a:off x="10049990" y="2548473"/>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C44E3A"/>
                  </a:solidFill>
                </a:ln>
              </p:spPr>
            </p:sp>
            <p:sp>
              <p:nvSpPr>
                <p:cNvPr id="223" name="Freeform 223"/>
                <p:cNvSpPr/>
                <p:nvPr/>
              </p:nvSpPr>
              <p:spPr>
                <a:xfrm>
                  <a:off x="10106025" y="2622550"/>
                  <a:ext cx="9525" cy="9525"/>
                </a:xfrm>
                <a:custGeom>
                  <a:avLst/>
                  <a:gdLst/>
                  <a:ahLst/>
                  <a:cxnLst/>
                  <a:rect l="l" t="t" r="r" b="b"/>
                  <a:pathLst>
                    <a:path w="9525" h="9525">
                      <a:moveTo>
                        <a:pt x="0" y="0"/>
                      </a:moveTo>
                      <a:lnTo>
                        <a:pt x="56" y="0"/>
                      </a:lnTo>
                    </a:path>
                  </a:pathLst>
                </a:custGeom>
                <a:noFill/>
                <a:ln w="11112">
                  <a:solidFill>
                    <a:srgbClr val="C44E3A"/>
                  </a:solidFill>
                </a:ln>
              </p:spPr>
            </p:sp>
          </p:grpSp>
          <p:sp>
            <p:nvSpPr>
              <p:cNvPr id="225" name="TextBox 225"/>
              <p:cNvSpPr txBox="1"/>
              <p:nvPr/>
            </p:nvSpPr>
            <p:spPr>
              <a:xfrm>
                <a:off x="10244138" y="2485311"/>
                <a:ext cx="200685"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幻觉</a:t>
                </a:r>
              </a:p>
            </p:txBody>
          </p:sp>
          <p:sp>
            <p:nvSpPr>
              <p:cNvPr id="226" name="TextBox 226"/>
              <p:cNvSpPr txBox="1"/>
              <p:nvPr/>
            </p:nvSpPr>
            <p:spPr>
              <a:xfrm>
                <a:off x="10244138" y="2634853"/>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生成内容无依据</a:t>
                </a:r>
              </a:p>
            </p:txBody>
          </p:sp>
        </p:grpSp>
        <p:grpSp>
          <p:nvGrpSpPr>
            <p:cNvPr id="235" name="leaf-5"/>
            <p:cNvGrpSpPr/>
            <p:nvPr/>
          </p:nvGrpSpPr>
          <p:grpSpPr>
            <a:xfrm>
              <a:off x="9963150" y="2857500"/>
              <a:ext cx="1905000" cy="400050"/>
              <a:chOff x="9963150" y="2857500"/>
              <a:chExt cx="1905000" cy="400050"/>
            </a:xfrm>
          </p:grpSpPr>
          <p:sp>
            <p:nvSpPr>
              <p:cNvPr id="228" name="Rectangle 228"/>
              <p:cNvSpPr/>
              <p:nvPr/>
            </p:nvSpPr>
            <p:spPr>
              <a:xfrm>
                <a:off x="9963150" y="2857500"/>
                <a:ext cx="1905000" cy="400050"/>
              </a:xfrm>
              <a:prstGeom prst="roundRect">
                <a:avLst>
                  <a:gd name="adj" fmla="val 14286"/>
                </a:avLst>
              </a:prstGeom>
              <a:solidFill>
                <a:srgbClr val="F4F8EC"/>
              </a:solidFill>
              <a:ln>
                <a:noFill/>
              </a:ln>
            </p:spPr>
          </p:sp>
          <p:grpSp>
            <p:nvGrpSpPr>
              <p:cNvPr id="232" name="Group 232"/>
              <p:cNvGrpSpPr/>
              <p:nvPr/>
            </p:nvGrpSpPr>
            <p:grpSpPr>
              <a:xfrm>
                <a:off x="10061574" y="3010360"/>
                <a:ext cx="91608" cy="94318"/>
                <a:chOff x="10061574" y="3010360"/>
                <a:chExt cx="91608" cy="94318"/>
              </a:xfrm>
            </p:grpSpPr>
            <p:sp>
              <p:nvSpPr>
                <p:cNvPr id="229" name="Freeform 229"/>
                <p:cNvSpPr/>
                <p:nvPr/>
              </p:nvSpPr>
              <p:spPr>
                <a:xfrm>
                  <a:off x="10089356" y="3040856"/>
                  <a:ext cx="33337" cy="33337"/>
                </a:xfrm>
                <a:custGeom>
                  <a:avLst/>
                  <a:gdLst/>
                  <a:ahLst/>
                  <a:cxnLst/>
                  <a:rect l="l" t="t" r="r" b="b"/>
                  <a:pathLst>
                    <a:path w="33337" h="33337">
                      <a:moveTo>
                        <a:pt x="0" y="33337"/>
                      </a:moveTo>
                      <a:lnTo>
                        <a:pt x="33337" y="0"/>
                      </a:lnTo>
                    </a:path>
                  </a:pathLst>
                </a:custGeom>
                <a:noFill/>
                <a:ln w="11112">
                  <a:solidFill>
                    <a:srgbClr val="7C3B2F"/>
                  </a:solidFill>
                </a:ln>
              </p:spPr>
            </p:sp>
            <p:sp>
              <p:nvSpPr>
                <p:cNvPr id="230" name="Freeform 230"/>
                <p:cNvSpPr/>
                <p:nvPr/>
              </p:nvSpPr>
              <p:spPr>
                <a:xfrm>
                  <a:off x="10100469" y="3010360"/>
                  <a:ext cx="52713" cy="52721"/>
                </a:xfrm>
                <a:custGeom>
                  <a:avLst/>
                  <a:gdLst/>
                  <a:ahLst/>
                  <a:cxnLst/>
                  <a:rect l="l" t="t" r="r" b="b"/>
                  <a:pathLst>
                    <a:path w="52713" h="52721">
                      <a:moveTo>
                        <a:pt x="0" y="13827"/>
                      </a:moveTo>
                      <a:lnTo>
                        <a:pt x="2573" y="10849"/>
                      </a:lnTo>
                      <a:cubicBezTo>
                        <a:pt x="13423" y="0"/>
                        <a:pt x="31014" y="1"/>
                        <a:pt x="41864" y="10852"/>
                      </a:cubicBezTo>
                      <a:cubicBezTo>
                        <a:pt x="52713" y="21703"/>
                        <a:pt x="52711" y="39294"/>
                        <a:pt x="41861" y="50143"/>
                      </a:cubicBezTo>
                      <a:lnTo>
                        <a:pt x="38894" y="52721"/>
                      </a:lnTo>
                    </a:path>
                  </a:pathLst>
                </a:custGeom>
                <a:noFill/>
                <a:ln w="11112">
                  <a:solidFill>
                    <a:srgbClr val="7C3B2F"/>
                  </a:solidFill>
                </a:ln>
              </p:spPr>
            </p:sp>
            <p:sp>
              <p:nvSpPr>
                <p:cNvPr id="231" name="Freeform 231"/>
                <p:cNvSpPr/>
                <p:nvPr/>
              </p:nvSpPr>
              <p:spPr>
                <a:xfrm>
                  <a:off x="10061574" y="3051969"/>
                  <a:ext cx="50007" cy="52709"/>
                </a:xfrm>
                <a:custGeom>
                  <a:avLst/>
                  <a:gdLst/>
                  <a:ahLst/>
                  <a:cxnLst/>
                  <a:rect l="l" t="t" r="r" b="b"/>
                  <a:pathLst>
                    <a:path w="50007" h="52709">
                      <a:moveTo>
                        <a:pt x="50007" y="38894"/>
                      </a:moveTo>
                      <a:lnTo>
                        <a:pt x="47801" y="41861"/>
                      </a:lnTo>
                      <a:cubicBezTo>
                        <a:pt x="36830" y="52709"/>
                        <a:pt x="19173" y="52709"/>
                        <a:pt x="8202" y="41861"/>
                      </a:cubicBezTo>
                      <a:cubicBezTo>
                        <a:pt x="2953" y="36671"/>
                        <a:pt x="0" y="29597"/>
                        <a:pt x="0" y="22217"/>
                      </a:cubicBezTo>
                      <a:cubicBezTo>
                        <a:pt x="0" y="14836"/>
                        <a:pt x="2953" y="7762"/>
                        <a:pt x="8202" y="2573"/>
                      </a:cubicBezTo>
                      <a:lnTo>
                        <a:pt x="11113" y="0"/>
                      </a:lnTo>
                    </a:path>
                  </a:pathLst>
                </a:custGeom>
                <a:noFill/>
                <a:ln w="11112">
                  <a:solidFill>
                    <a:srgbClr val="7C3B2F"/>
                  </a:solidFill>
                </a:ln>
              </p:spPr>
            </p:sp>
          </p:grpSp>
          <p:sp>
            <p:nvSpPr>
              <p:cNvPr id="233" name="TextBox 233"/>
              <p:cNvSpPr txBox="1"/>
              <p:nvPr/>
            </p:nvSpPr>
            <p:spPr>
              <a:xfrm>
                <a:off x="10244138" y="2942511"/>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引用错误</a:t>
                </a:r>
              </a:p>
            </p:txBody>
          </p:sp>
          <p:sp>
            <p:nvSpPr>
              <p:cNvPr id="234" name="TextBox 234"/>
              <p:cNvSpPr txBox="1"/>
              <p:nvPr/>
            </p:nvSpPr>
            <p:spPr>
              <a:xfrm>
                <a:off x="10244138" y="3092053"/>
                <a:ext cx="763397"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来源不准确或不可追溯</a:t>
                </a:r>
              </a:p>
            </p:txBody>
          </p:sp>
        </p:grpSp>
        <p:grpSp>
          <p:nvGrpSpPr>
            <p:cNvPr id="243" name="leaf-6"/>
            <p:cNvGrpSpPr/>
            <p:nvPr/>
          </p:nvGrpSpPr>
          <p:grpSpPr>
            <a:xfrm>
              <a:off x="9963150" y="3314700"/>
              <a:ext cx="1905000" cy="400050"/>
              <a:chOff x="9963150" y="3314700"/>
              <a:chExt cx="1905000" cy="400050"/>
            </a:xfrm>
          </p:grpSpPr>
          <p:sp>
            <p:nvSpPr>
              <p:cNvPr id="236" name="Rectangle 236"/>
              <p:cNvSpPr/>
              <p:nvPr/>
            </p:nvSpPr>
            <p:spPr>
              <a:xfrm>
                <a:off x="9963150" y="3314700"/>
                <a:ext cx="1905000" cy="400050"/>
              </a:xfrm>
              <a:prstGeom prst="roundRect">
                <a:avLst>
                  <a:gd name="adj" fmla="val 14286"/>
                </a:avLst>
              </a:prstGeom>
              <a:solidFill>
                <a:srgbClr val="F4F8EC"/>
              </a:solidFill>
              <a:ln>
                <a:noFill/>
              </a:ln>
            </p:spPr>
          </p:sp>
          <p:grpSp>
            <p:nvGrpSpPr>
              <p:cNvPr id="240" name="Group 240"/>
              <p:cNvGrpSpPr/>
              <p:nvPr/>
            </p:nvGrpSpPr>
            <p:grpSpPr>
              <a:xfrm>
                <a:off x="10067131" y="3464719"/>
                <a:ext cx="77787" cy="100012"/>
                <a:chOff x="10067131" y="3464719"/>
                <a:chExt cx="77787" cy="100012"/>
              </a:xfrm>
            </p:grpSpPr>
            <p:sp>
              <p:nvSpPr>
                <p:cNvPr id="237" name="Freeform 237"/>
                <p:cNvSpPr/>
                <p:nvPr/>
              </p:nvSpPr>
              <p:spPr>
                <a:xfrm>
                  <a:off x="10067131" y="3509169"/>
                  <a:ext cx="77787" cy="55562"/>
                </a:xfrm>
                <a:custGeom>
                  <a:avLst/>
                  <a:gdLst/>
                  <a:ahLst/>
                  <a:cxnLst/>
                  <a:rect l="l" t="t" r="r" b="b"/>
                  <a:pathLst>
                    <a:path w="77787" h="55562">
                      <a:moveTo>
                        <a:pt x="0" y="11112"/>
                      </a:moveTo>
                      <a:cubicBezTo>
                        <a:pt x="0" y="4975"/>
                        <a:pt x="4975" y="0"/>
                        <a:pt x="11112" y="0"/>
                      </a:cubicBezTo>
                      <a:lnTo>
                        <a:pt x="66675" y="0"/>
                      </a:lnTo>
                      <a:cubicBezTo>
                        <a:pt x="72812" y="0"/>
                        <a:pt x="77787" y="4975"/>
                        <a:pt x="77787" y="11112"/>
                      </a:cubicBezTo>
                      <a:lnTo>
                        <a:pt x="77787" y="44450"/>
                      </a:lnTo>
                      <a:cubicBezTo>
                        <a:pt x="77787" y="50587"/>
                        <a:pt x="72812" y="55562"/>
                        <a:pt x="66675" y="55562"/>
                      </a:cubicBezTo>
                      <a:lnTo>
                        <a:pt x="11112" y="55562"/>
                      </a:lnTo>
                      <a:cubicBezTo>
                        <a:pt x="4975" y="55562"/>
                        <a:pt x="0" y="50587"/>
                        <a:pt x="0" y="44450"/>
                      </a:cubicBezTo>
                      <a:lnTo>
                        <a:pt x="0" y="11112"/>
                      </a:lnTo>
                    </a:path>
                  </a:pathLst>
                </a:custGeom>
                <a:noFill/>
                <a:ln w="11112">
                  <a:solidFill>
                    <a:srgbClr val="7C3B2F"/>
                  </a:solidFill>
                </a:ln>
              </p:spPr>
            </p:sp>
            <p:sp>
              <p:nvSpPr>
                <p:cNvPr id="238" name="Freeform 238"/>
                <p:cNvSpPr/>
                <p:nvPr/>
              </p:nvSpPr>
              <p:spPr>
                <a:xfrm>
                  <a:off x="10100469" y="353139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7C3B2F"/>
                  </a:solidFill>
                </a:ln>
              </p:spPr>
            </p:sp>
            <p:sp>
              <p:nvSpPr>
                <p:cNvPr id="239" name="Freeform 239"/>
                <p:cNvSpPr/>
                <p:nvPr/>
              </p:nvSpPr>
              <p:spPr>
                <a:xfrm>
                  <a:off x="10083800" y="3464719"/>
                  <a:ext cx="44450" cy="44450"/>
                </a:xfrm>
                <a:custGeom>
                  <a:avLst/>
                  <a:gdLst/>
                  <a:ahLst/>
                  <a:cxnLst/>
                  <a:rect l="l" t="t" r="r" b="b"/>
                  <a:pathLst>
                    <a:path w="44450" h="44450">
                      <a:moveTo>
                        <a:pt x="0" y="44450"/>
                      </a:moveTo>
                      <a:lnTo>
                        <a:pt x="0" y="22225"/>
                      </a:lnTo>
                      <a:cubicBezTo>
                        <a:pt x="0" y="9950"/>
                        <a:pt x="9950" y="0"/>
                        <a:pt x="22225" y="0"/>
                      </a:cubicBezTo>
                      <a:cubicBezTo>
                        <a:pt x="34500" y="0"/>
                        <a:pt x="44450" y="9950"/>
                        <a:pt x="44450" y="22225"/>
                      </a:cubicBezTo>
                      <a:lnTo>
                        <a:pt x="44450" y="44450"/>
                      </a:lnTo>
                    </a:path>
                  </a:pathLst>
                </a:custGeom>
                <a:noFill/>
                <a:ln w="11112">
                  <a:solidFill>
                    <a:srgbClr val="7C3B2F"/>
                  </a:solidFill>
                </a:ln>
              </p:spPr>
            </p:sp>
          </p:grpSp>
          <p:sp>
            <p:nvSpPr>
              <p:cNvPr id="241" name="TextBox 241"/>
              <p:cNvSpPr txBox="1"/>
              <p:nvPr/>
            </p:nvSpPr>
            <p:spPr>
              <a:xfrm>
                <a:off x="10244138" y="3399711"/>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权限误放</a:t>
                </a:r>
              </a:p>
            </p:txBody>
          </p:sp>
          <p:sp>
            <p:nvSpPr>
              <p:cNvPr id="242" name="TextBox 242"/>
              <p:cNvSpPr txBox="1"/>
              <p:nvPr/>
            </p:nvSpPr>
            <p:spPr>
              <a:xfrm>
                <a:off x="10244138" y="3549253"/>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越权信息被返回</a:t>
                </a:r>
              </a:p>
            </p:txBody>
          </p:sp>
        </p:grpSp>
        <p:grpSp>
          <p:nvGrpSpPr>
            <p:cNvPr id="252" name="leaf-7"/>
            <p:cNvGrpSpPr/>
            <p:nvPr/>
          </p:nvGrpSpPr>
          <p:grpSpPr>
            <a:xfrm>
              <a:off x="9963150" y="3771900"/>
              <a:ext cx="1905000" cy="400050"/>
              <a:chOff x="9963150" y="3771900"/>
              <a:chExt cx="1905000" cy="400050"/>
            </a:xfrm>
          </p:grpSpPr>
          <p:sp>
            <p:nvSpPr>
              <p:cNvPr id="244" name="Rectangle 244"/>
              <p:cNvSpPr/>
              <p:nvPr/>
            </p:nvSpPr>
            <p:spPr>
              <a:xfrm>
                <a:off x="9963150" y="3771900"/>
                <a:ext cx="1905000" cy="400050"/>
              </a:xfrm>
              <a:prstGeom prst="roundRect">
                <a:avLst>
                  <a:gd name="adj" fmla="val 14286"/>
                </a:avLst>
              </a:prstGeom>
              <a:solidFill>
                <a:srgbClr val="F4F8EC"/>
              </a:solidFill>
              <a:ln>
                <a:noFill/>
              </a:ln>
            </p:spPr>
          </p:sp>
          <p:grpSp>
            <p:nvGrpSpPr>
              <p:cNvPr id="249" name="Group 249"/>
              <p:cNvGrpSpPr/>
              <p:nvPr/>
            </p:nvGrpSpPr>
            <p:grpSpPr>
              <a:xfrm>
                <a:off x="10056019" y="3921919"/>
                <a:ext cx="100012" cy="100012"/>
                <a:chOff x="10056019" y="3921919"/>
                <a:chExt cx="100012" cy="100012"/>
              </a:xfrm>
            </p:grpSpPr>
            <p:sp>
              <p:nvSpPr>
                <p:cNvPr id="245" name="Freeform 245"/>
                <p:cNvSpPr/>
                <p:nvPr/>
              </p:nvSpPr>
              <p:spPr>
                <a:xfrm>
                  <a:off x="10067131" y="39219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7C3B2F"/>
                  </a:solidFill>
                </a:ln>
              </p:spPr>
            </p:sp>
            <p:sp>
              <p:nvSpPr>
                <p:cNvPr id="246" name="Freeform 246"/>
                <p:cNvSpPr/>
                <p:nvPr/>
              </p:nvSpPr>
              <p:spPr>
                <a:xfrm>
                  <a:off x="10056019" y="398859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7C3B2F"/>
                  </a:solidFill>
                </a:ln>
              </p:spPr>
            </p:sp>
            <p:sp>
              <p:nvSpPr>
                <p:cNvPr id="247" name="Freeform 247"/>
                <p:cNvSpPr/>
                <p:nvPr/>
              </p:nvSpPr>
              <p:spPr>
                <a:xfrm>
                  <a:off x="10128250" y="392264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7C3B2F"/>
                  </a:solidFill>
                </a:ln>
              </p:spPr>
            </p:sp>
            <p:sp>
              <p:nvSpPr>
                <p:cNvPr id="248" name="Freeform 248"/>
                <p:cNvSpPr/>
                <p:nvPr/>
              </p:nvSpPr>
              <p:spPr>
                <a:xfrm>
                  <a:off x="10139362" y="398942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7C3B2F"/>
                  </a:solidFill>
                </a:ln>
              </p:spPr>
            </p:sp>
          </p:grpSp>
          <p:sp>
            <p:nvSpPr>
              <p:cNvPr id="250" name="TextBox 250"/>
              <p:cNvSpPr txBox="1"/>
              <p:nvPr/>
            </p:nvSpPr>
            <p:spPr>
              <a:xfrm>
                <a:off x="10244138" y="3856911"/>
                <a:ext cx="58300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问题理解偏差</a:t>
                </a:r>
              </a:p>
            </p:txBody>
          </p:sp>
          <p:sp>
            <p:nvSpPr>
              <p:cNvPr id="251" name="TextBox 251"/>
              <p:cNvSpPr txBox="1"/>
              <p:nvPr/>
            </p:nvSpPr>
            <p:spPr>
              <a:xfrm>
                <a:off x="10244138" y="4006453"/>
                <a:ext cx="688010"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意图识别或边界错误</a:t>
                </a:r>
              </a:p>
            </p:txBody>
          </p:sp>
        </p:grpSp>
      </p:grpSp>
      <p:grpSp>
        <p:nvGrpSpPr>
          <p:cNvPr id="309" name="improve-loop"/>
          <p:cNvGrpSpPr/>
          <p:nvPr/>
        </p:nvGrpSpPr>
        <p:grpSpPr>
          <a:xfrm>
            <a:off x="280797" y="4657249"/>
            <a:ext cx="11625453" cy="1114901"/>
            <a:chOff x="280797" y="4657249"/>
            <a:chExt cx="11625453" cy="1114901"/>
          </a:xfrm>
        </p:grpSpPr>
        <p:sp>
          <p:nvSpPr>
            <p:cNvPr id="254" name="TextBox 254"/>
            <p:cNvSpPr txBox="1"/>
            <p:nvPr/>
          </p:nvSpPr>
          <p:spPr>
            <a:xfrm>
              <a:off x="280797" y="4657249"/>
              <a:ext cx="801472" cy="190690"/>
            </a:xfrm>
            <a:prstGeom prst="rect">
              <a:avLst/>
            </a:prstGeom>
            <a:noFill/>
            <a:ln>
              <a:noFill/>
            </a:ln>
          </p:spPr>
          <p:txBody>
            <a:bodyPr wrap="none" lIns="0" tIns="0" rIns="0" bIns="0" anchor="t" anchorCtr="0">
              <a:spAutoFit/>
            </a:bodyPr>
            <a:lstStyle/>
            <a:p>
              <a:pPr algn="l"/>
              <a:r>
                <a:rPr lang="zh-CN" sz="980" b="1" dirty="0">
                  <a:solidFill>
                    <a:srgbClr val="42140B"/>
                  </a:solidFill>
                  <a:latin typeface="+mn-lt"/>
                  <a:ea typeface="+mn-ea"/>
                  <a:cs typeface="+mn-cs"/>
                </a:rPr>
                <a:t>持续改进闭环</a:t>
              </a:r>
            </a:p>
          </p:txBody>
        </p:sp>
        <p:sp>
          <p:nvSpPr>
            <p:cNvPr id="255" name="Line 255"/>
            <p:cNvSpPr/>
            <p:nvPr/>
          </p:nvSpPr>
          <p:spPr>
            <a:xfrm>
              <a:off x="285750" y="4838700"/>
              <a:ext cx="11620500" cy="9525"/>
            </a:xfrm>
            <a:custGeom>
              <a:avLst/>
              <a:gdLst/>
              <a:ahLst/>
              <a:cxnLst/>
              <a:rect l="l" t="t" r="r" b="b"/>
              <a:pathLst>
                <a:path w="11620500" h="9525">
                  <a:moveTo>
                    <a:pt x="0" y="0"/>
                  </a:moveTo>
                  <a:lnTo>
                    <a:pt x="11620500" y="0"/>
                  </a:lnTo>
                </a:path>
              </a:pathLst>
            </a:custGeom>
            <a:noFill/>
            <a:ln w="9525">
              <a:solidFill>
                <a:srgbClr val="D9E8C6"/>
              </a:solidFill>
            </a:ln>
          </p:spPr>
        </p:sp>
        <p:sp>
          <p:nvSpPr>
            <p:cNvPr id="256" name="Freeform 256"/>
            <p:cNvSpPr/>
            <p:nvPr/>
          </p:nvSpPr>
          <p:spPr>
            <a:xfrm>
              <a:off x="628650" y="5524500"/>
              <a:ext cx="9620250" cy="247650"/>
            </a:xfrm>
            <a:custGeom>
              <a:avLst/>
              <a:gdLst/>
              <a:ahLst/>
              <a:cxnLst/>
              <a:rect l="l" t="t" r="r" b="b"/>
              <a:pathLst>
                <a:path w="9620250" h="247650">
                  <a:moveTo>
                    <a:pt x="9620250" y="0"/>
                  </a:moveTo>
                  <a:lnTo>
                    <a:pt x="9620250" y="247650"/>
                  </a:lnTo>
                  <a:lnTo>
                    <a:pt x="0" y="247650"/>
                  </a:lnTo>
                  <a:lnTo>
                    <a:pt x="0" y="38100"/>
                  </a:lnTo>
                </a:path>
              </a:pathLst>
            </a:custGeom>
            <a:noFill/>
            <a:ln w="12382">
              <a:solidFill>
                <a:srgbClr val="9A4B3C"/>
              </a:solidFill>
              <a:custDash>
                <a:ds d="461538" sp="307692"/>
              </a:custDash>
              <a:tailEnd type="arrow" w="lg" len="lg"/>
            </a:ln>
          </p:spPr>
        </p:sp>
        <p:grpSp>
          <p:nvGrpSpPr>
            <p:cNvPr id="264" name="il-step-1"/>
            <p:cNvGrpSpPr/>
            <p:nvPr/>
          </p:nvGrpSpPr>
          <p:grpSpPr>
            <a:xfrm>
              <a:off x="419100" y="5086350"/>
              <a:ext cx="1357313" cy="482918"/>
              <a:chOff x="419100" y="5086350"/>
              <a:chExt cx="1357313" cy="482918"/>
            </a:xfrm>
          </p:grpSpPr>
          <p:sp>
            <p:nvSpPr>
              <p:cNvPr id="257" name="Ellipse 257"/>
              <p:cNvSpPr/>
              <p:nvPr/>
            </p:nvSpPr>
            <p:spPr>
              <a:xfrm>
                <a:off x="419100" y="5086350"/>
                <a:ext cx="419100" cy="419100"/>
              </a:xfrm>
              <a:prstGeom prst="ellipse">
                <a:avLst/>
              </a:prstGeom>
              <a:solidFill>
                <a:srgbClr val="42140B"/>
              </a:solidFill>
              <a:ln>
                <a:noFill/>
              </a:ln>
            </p:spPr>
          </p:sp>
          <p:grpSp>
            <p:nvGrpSpPr>
              <p:cNvPr id="261" name="Group 261"/>
              <p:cNvGrpSpPr/>
              <p:nvPr/>
            </p:nvGrpSpPr>
            <p:grpSpPr>
              <a:xfrm>
                <a:off x="558800" y="5217319"/>
                <a:ext cx="139700" cy="157162"/>
                <a:chOff x="558800" y="5217319"/>
                <a:chExt cx="139700" cy="157162"/>
              </a:xfrm>
            </p:grpSpPr>
            <p:sp>
              <p:nvSpPr>
                <p:cNvPr id="258" name="Freeform 258"/>
                <p:cNvSpPr/>
                <p:nvPr/>
              </p:nvSpPr>
              <p:spPr>
                <a:xfrm>
                  <a:off x="558800" y="5217319"/>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FFFFFF"/>
                  </a:solidFill>
                </a:ln>
              </p:spPr>
            </p:sp>
            <p:sp>
              <p:nvSpPr>
                <p:cNvPr id="259" name="Freeform 259"/>
                <p:cNvSpPr/>
                <p:nvPr/>
              </p:nvSpPr>
              <p:spPr>
                <a:xfrm>
                  <a:off x="558800" y="5243513"/>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sp>
              <p:nvSpPr>
                <p:cNvPr id="260" name="Freeform 260"/>
                <p:cNvSpPr/>
                <p:nvPr/>
              </p:nvSpPr>
              <p:spPr>
                <a:xfrm>
                  <a:off x="558800" y="5295900"/>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grpSp>
          <p:sp>
            <p:nvSpPr>
              <p:cNvPr id="262" name="TextBox 262"/>
              <p:cNvSpPr txBox="1"/>
              <p:nvPr/>
            </p:nvSpPr>
            <p:spPr>
              <a:xfrm>
                <a:off x="928688" y="5149691"/>
                <a:ext cx="340690"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数据集</a:t>
                </a:r>
              </a:p>
            </p:txBody>
          </p:sp>
          <p:sp>
            <p:nvSpPr>
              <p:cNvPr id="263" name="TextBox 263"/>
              <p:cNvSpPr txBox="1"/>
              <p:nvPr/>
            </p:nvSpPr>
            <p:spPr>
              <a:xfrm>
                <a:off x="928688" y="5326380"/>
                <a:ext cx="8477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3A4238"/>
                    </a:solidFill>
                    <a:latin typeface="+mn-lt"/>
                    <a:ea typeface="+mn-ea"/>
                    <a:cs typeface="+mn-cs"/>
                  </a:rPr>
                  <a:t>收集与清洗黄金数据集，</a:t>
                </a:r>
                <a:br/>
                <a:r>
                  <a:rPr lang="zh-CN" sz="600" dirty="0">
                    <a:solidFill>
                      <a:srgbClr val="3A4238"/>
                    </a:solidFill>
                    <a:latin typeface="+mn-lt"/>
                    <a:ea typeface="+mn-ea"/>
                    <a:cs typeface="+mn-cs"/>
                  </a:rPr>
                  <a:t>补充边界案例与难例</a:t>
                </a:r>
              </a:p>
            </p:txBody>
          </p:sp>
        </p:grpSp>
        <p:sp>
          <p:nvSpPr>
            <p:cNvPr id="265" name="il-arr-1"/>
            <p:cNvSpPr/>
            <p:nvPr/>
          </p:nvSpPr>
          <p:spPr>
            <a:xfrm>
              <a:off x="2152650" y="5238750"/>
              <a:ext cx="95250" cy="114300"/>
            </a:xfrm>
            <a:custGeom>
              <a:avLst/>
              <a:gdLst/>
              <a:ahLst/>
              <a:cxnLst/>
              <a:rect l="l" t="t" r="r" b="b"/>
              <a:pathLst>
                <a:path w="95250" h="114300">
                  <a:moveTo>
                    <a:pt x="0" y="0"/>
                  </a:moveTo>
                  <a:lnTo>
                    <a:pt x="95250" y="57150"/>
                  </a:lnTo>
                  <a:lnTo>
                    <a:pt x="0" y="114300"/>
                  </a:lnTo>
                  <a:close/>
                </a:path>
              </a:pathLst>
            </a:custGeom>
            <a:solidFill>
              <a:srgbClr val="9A4B3C"/>
            </a:solidFill>
            <a:ln>
              <a:noFill/>
            </a:ln>
          </p:spPr>
        </p:sp>
        <p:grpSp>
          <p:nvGrpSpPr>
            <p:cNvPr id="274" name="il-step-2"/>
            <p:cNvGrpSpPr/>
            <p:nvPr/>
          </p:nvGrpSpPr>
          <p:grpSpPr>
            <a:xfrm>
              <a:off x="2343150" y="5086350"/>
              <a:ext cx="1136333" cy="482918"/>
              <a:chOff x="2343150" y="5086350"/>
              <a:chExt cx="1136333" cy="482918"/>
            </a:xfrm>
          </p:grpSpPr>
          <p:sp>
            <p:nvSpPr>
              <p:cNvPr id="266" name="Ellipse 266"/>
              <p:cNvSpPr/>
              <p:nvPr/>
            </p:nvSpPr>
            <p:spPr>
              <a:xfrm>
                <a:off x="2343150" y="5086350"/>
                <a:ext cx="419100" cy="419100"/>
              </a:xfrm>
              <a:prstGeom prst="ellipse">
                <a:avLst/>
              </a:prstGeom>
              <a:solidFill>
                <a:srgbClr val="643228"/>
              </a:solidFill>
              <a:ln>
                <a:noFill/>
              </a:ln>
            </p:spPr>
          </p:sp>
          <p:grpSp>
            <p:nvGrpSpPr>
              <p:cNvPr id="271" name="Group 271"/>
              <p:cNvGrpSpPr/>
              <p:nvPr/>
            </p:nvGrpSpPr>
            <p:grpSpPr>
              <a:xfrm>
                <a:off x="2491581" y="5226050"/>
                <a:ext cx="130970" cy="148431"/>
                <a:chOff x="2491581" y="5226050"/>
                <a:chExt cx="130970" cy="148431"/>
              </a:xfrm>
            </p:grpSpPr>
            <p:sp>
              <p:nvSpPr>
                <p:cNvPr id="267" name="Freeform 267"/>
                <p:cNvSpPr/>
                <p:nvPr/>
              </p:nvSpPr>
              <p:spPr>
                <a:xfrm>
                  <a:off x="2491581" y="5226050"/>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FFFFFF"/>
                  </a:solidFill>
                </a:ln>
              </p:spPr>
            </p:sp>
            <p:sp>
              <p:nvSpPr>
                <p:cNvPr id="268" name="Freeform 268"/>
                <p:cNvSpPr/>
                <p:nvPr/>
              </p:nvSpPr>
              <p:spPr>
                <a:xfrm>
                  <a:off x="2570163" y="5339556"/>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sp>
              <p:nvSpPr>
                <p:cNvPr id="269" name="Freeform 269"/>
                <p:cNvSpPr/>
                <p:nvPr/>
              </p:nvSpPr>
              <p:spPr>
                <a:xfrm>
                  <a:off x="2526506" y="5260975"/>
                  <a:ext cx="34925" cy="9525"/>
                </a:xfrm>
                <a:custGeom>
                  <a:avLst/>
                  <a:gdLst/>
                  <a:ahLst/>
                  <a:cxnLst/>
                  <a:rect l="l" t="t" r="r" b="b"/>
                  <a:pathLst>
                    <a:path w="34925" h="9525">
                      <a:moveTo>
                        <a:pt x="0" y="0"/>
                      </a:moveTo>
                      <a:lnTo>
                        <a:pt x="34925" y="0"/>
                      </a:lnTo>
                    </a:path>
                  </a:pathLst>
                </a:custGeom>
                <a:noFill/>
                <a:ln w="17463">
                  <a:solidFill>
                    <a:srgbClr val="FFFFFF"/>
                  </a:solidFill>
                </a:ln>
              </p:spPr>
            </p:sp>
            <p:sp>
              <p:nvSpPr>
                <p:cNvPr id="270" name="Freeform 270"/>
                <p:cNvSpPr/>
                <p:nvPr/>
              </p:nvSpPr>
              <p:spPr>
                <a:xfrm>
                  <a:off x="2526506" y="5295900"/>
                  <a:ext cx="17463" cy="9525"/>
                </a:xfrm>
                <a:custGeom>
                  <a:avLst/>
                  <a:gdLst/>
                  <a:ahLst/>
                  <a:cxnLst/>
                  <a:rect l="l" t="t" r="r" b="b"/>
                  <a:pathLst>
                    <a:path w="17463" h="9525">
                      <a:moveTo>
                        <a:pt x="0" y="0"/>
                      </a:moveTo>
                      <a:lnTo>
                        <a:pt x="17463" y="0"/>
                      </a:lnTo>
                    </a:path>
                  </a:pathLst>
                </a:custGeom>
                <a:noFill/>
                <a:ln w="17463">
                  <a:solidFill>
                    <a:srgbClr val="FFFFFF"/>
                  </a:solidFill>
                </a:ln>
              </p:spPr>
            </p:sp>
          </p:grpSp>
          <p:sp>
            <p:nvSpPr>
              <p:cNvPr id="272" name="TextBox 272"/>
              <p:cNvSpPr txBox="1"/>
              <p:nvPr/>
            </p:nvSpPr>
            <p:spPr>
              <a:xfrm>
                <a:off x="2852738" y="5149691"/>
                <a:ext cx="230302"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评测</a:t>
                </a:r>
              </a:p>
            </p:txBody>
          </p:sp>
          <p:sp>
            <p:nvSpPr>
              <p:cNvPr id="273" name="TextBox 273"/>
              <p:cNvSpPr txBox="1"/>
              <p:nvPr/>
            </p:nvSpPr>
            <p:spPr>
              <a:xfrm>
                <a:off x="2852738" y="5326380"/>
                <a:ext cx="62674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3A4238"/>
                    </a:solidFill>
                    <a:latin typeface="+mn-lt"/>
                    <a:ea typeface="+mn-ea"/>
                    <a:cs typeface="+mn-cs"/>
                  </a:rPr>
                  <a:t>离线全量评测</a:t>
                </a:r>
                <a:br/>
                <a:r>
                  <a:rPr lang="zh-CN" sz="600" dirty="0">
                    <a:solidFill>
                      <a:srgbClr val="3A4238"/>
                    </a:solidFill>
                    <a:latin typeface="+mn-lt"/>
                    <a:ea typeface="+mn-ea"/>
                    <a:cs typeface="+mn-cs"/>
                  </a:rPr>
                  <a:t xml:space="preserve">+ 在线 A/B 验证　</a:t>
                </a:r>
              </a:p>
            </p:txBody>
          </p:sp>
        </p:grpSp>
        <p:sp>
          <p:nvSpPr>
            <p:cNvPr id="275" name="il-arr-2"/>
            <p:cNvSpPr/>
            <p:nvPr/>
          </p:nvSpPr>
          <p:spPr>
            <a:xfrm>
              <a:off x="4076700" y="5238750"/>
              <a:ext cx="95250" cy="114300"/>
            </a:xfrm>
            <a:custGeom>
              <a:avLst/>
              <a:gdLst/>
              <a:ahLst/>
              <a:cxnLst/>
              <a:rect l="l" t="t" r="r" b="b"/>
              <a:pathLst>
                <a:path w="95250" h="114300">
                  <a:moveTo>
                    <a:pt x="0" y="0"/>
                  </a:moveTo>
                  <a:lnTo>
                    <a:pt x="95250" y="57150"/>
                  </a:lnTo>
                  <a:lnTo>
                    <a:pt x="0" y="114300"/>
                  </a:lnTo>
                  <a:close/>
                </a:path>
              </a:pathLst>
            </a:custGeom>
            <a:solidFill>
              <a:srgbClr val="9A4B3C"/>
            </a:solidFill>
            <a:ln>
              <a:noFill/>
            </a:ln>
          </p:spPr>
        </p:sp>
        <p:grpSp>
          <p:nvGrpSpPr>
            <p:cNvPr id="283" name="il-step-3"/>
            <p:cNvGrpSpPr/>
            <p:nvPr/>
          </p:nvGrpSpPr>
          <p:grpSpPr>
            <a:xfrm>
              <a:off x="4267200" y="5086350"/>
              <a:ext cx="1052513" cy="482918"/>
              <a:chOff x="4267200" y="5086350"/>
              <a:chExt cx="1052513" cy="482918"/>
            </a:xfrm>
          </p:grpSpPr>
          <p:sp>
            <p:nvSpPr>
              <p:cNvPr id="276" name="Ellipse 276"/>
              <p:cNvSpPr/>
              <p:nvPr/>
            </p:nvSpPr>
            <p:spPr>
              <a:xfrm>
                <a:off x="4267200" y="5086350"/>
                <a:ext cx="419100" cy="419100"/>
              </a:xfrm>
              <a:prstGeom prst="ellipse">
                <a:avLst/>
              </a:prstGeom>
              <a:solidFill>
                <a:srgbClr val="7C3B2F"/>
              </a:solidFill>
              <a:ln>
                <a:noFill/>
              </a:ln>
            </p:spPr>
          </p:sp>
          <p:grpSp>
            <p:nvGrpSpPr>
              <p:cNvPr id="280" name="Group 280"/>
              <p:cNvGrpSpPr/>
              <p:nvPr/>
            </p:nvGrpSpPr>
            <p:grpSpPr>
              <a:xfrm>
                <a:off x="4398169" y="5217319"/>
                <a:ext cx="157163" cy="157163"/>
                <a:chOff x="4398169" y="5217319"/>
                <a:chExt cx="157163" cy="157163"/>
              </a:xfrm>
            </p:grpSpPr>
            <p:sp>
              <p:nvSpPr>
                <p:cNvPr id="277" name="Freeform 277"/>
                <p:cNvSpPr/>
                <p:nvPr/>
              </p:nvSpPr>
              <p:spPr>
                <a:xfrm>
                  <a:off x="4468019" y="528716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278" name="Freeform 278"/>
                <p:cNvSpPr/>
                <p:nvPr/>
              </p:nvSpPr>
              <p:spPr>
                <a:xfrm>
                  <a:off x="4433094" y="525224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279" name="Freeform 279"/>
                <p:cNvSpPr/>
                <p:nvPr/>
              </p:nvSpPr>
              <p:spPr>
                <a:xfrm>
                  <a:off x="4398169" y="5217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281" name="TextBox 281"/>
              <p:cNvSpPr txBox="1"/>
              <p:nvPr/>
            </p:nvSpPr>
            <p:spPr>
              <a:xfrm>
                <a:off x="4776788" y="5149691"/>
                <a:ext cx="230302"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定位</a:t>
                </a:r>
              </a:p>
            </p:txBody>
          </p:sp>
          <p:sp>
            <p:nvSpPr>
              <p:cNvPr id="282" name="TextBox 282"/>
              <p:cNvSpPr txBox="1"/>
              <p:nvPr/>
            </p:nvSpPr>
            <p:spPr>
              <a:xfrm>
                <a:off x="4776788" y="5326380"/>
                <a:ext cx="5429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3A4238"/>
                    </a:solidFill>
                    <a:latin typeface="+mn-lt"/>
                    <a:ea typeface="+mn-ea"/>
                    <a:cs typeface="+mn-cs"/>
                  </a:rPr>
                  <a:t>定位问题层级与</a:t>
                </a:r>
                <a:br/>
                <a:r>
                  <a:rPr lang="zh-CN" sz="600" dirty="0">
                    <a:solidFill>
                      <a:srgbClr val="3A4238"/>
                    </a:solidFill>
                    <a:latin typeface="+mn-lt"/>
                    <a:ea typeface="+mn-ea"/>
                    <a:cs typeface="+mn-cs"/>
                  </a:rPr>
                  <a:t>根因（错误树）</a:t>
                </a:r>
              </a:p>
            </p:txBody>
          </p:sp>
        </p:grpSp>
        <p:sp>
          <p:nvSpPr>
            <p:cNvPr id="284" name="il-arr-3"/>
            <p:cNvSpPr/>
            <p:nvPr/>
          </p:nvSpPr>
          <p:spPr>
            <a:xfrm>
              <a:off x="6000750" y="5238750"/>
              <a:ext cx="95250" cy="114300"/>
            </a:xfrm>
            <a:custGeom>
              <a:avLst/>
              <a:gdLst/>
              <a:ahLst/>
              <a:cxnLst/>
              <a:rect l="l" t="t" r="r" b="b"/>
              <a:pathLst>
                <a:path w="95250" h="114300">
                  <a:moveTo>
                    <a:pt x="0" y="0"/>
                  </a:moveTo>
                  <a:lnTo>
                    <a:pt x="95250" y="57150"/>
                  </a:lnTo>
                  <a:lnTo>
                    <a:pt x="0" y="114300"/>
                  </a:lnTo>
                  <a:close/>
                </a:path>
              </a:pathLst>
            </a:custGeom>
            <a:solidFill>
              <a:srgbClr val="9A4B3C"/>
            </a:solidFill>
            <a:ln>
              <a:noFill/>
            </a:ln>
          </p:spPr>
        </p:sp>
        <p:grpSp>
          <p:nvGrpSpPr>
            <p:cNvPr id="291" name="il-step-4"/>
            <p:cNvGrpSpPr/>
            <p:nvPr/>
          </p:nvGrpSpPr>
          <p:grpSpPr>
            <a:xfrm>
              <a:off x="6191250" y="5086350"/>
              <a:ext cx="1204913" cy="482918"/>
              <a:chOff x="6191250" y="5086350"/>
              <a:chExt cx="1204913" cy="482918"/>
            </a:xfrm>
          </p:grpSpPr>
          <p:sp>
            <p:nvSpPr>
              <p:cNvPr id="285" name="Ellipse 285"/>
              <p:cNvSpPr/>
              <p:nvPr/>
            </p:nvSpPr>
            <p:spPr>
              <a:xfrm>
                <a:off x="6191250" y="5086350"/>
                <a:ext cx="419100" cy="419100"/>
              </a:xfrm>
              <a:prstGeom prst="ellipse">
                <a:avLst/>
              </a:prstGeom>
              <a:solidFill>
                <a:srgbClr val="8C4336"/>
              </a:solidFill>
              <a:ln>
                <a:noFill/>
              </a:ln>
            </p:spPr>
          </p:sp>
          <p:grpSp>
            <p:nvGrpSpPr>
              <p:cNvPr id="288" name="Group 288"/>
              <p:cNvGrpSpPr/>
              <p:nvPr/>
            </p:nvGrpSpPr>
            <p:grpSpPr>
              <a:xfrm>
                <a:off x="6318386" y="5213486"/>
                <a:ext cx="164829" cy="164829"/>
                <a:chOff x="6318386" y="5213486"/>
                <a:chExt cx="164829" cy="164829"/>
              </a:xfrm>
            </p:grpSpPr>
            <p:sp>
              <p:nvSpPr>
                <p:cNvPr id="286" name="Freeform 286"/>
                <p:cNvSpPr/>
                <p:nvPr/>
              </p:nvSpPr>
              <p:spPr>
                <a:xfrm>
                  <a:off x="6318386" y="5213486"/>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FFFFFF"/>
                  </a:solidFill>
                </a:ln>
              </p:spPr>
            </p:sp>
            <p:sp>
              <p:nvSpPr>
                <p:cNvPr id="287" name="Freeform 287"/>
                <p:cNvSpPr/>
                <p:nvPr/>
              </p:nvSpPr>
              <p:spPr>
                <a:xfrm>
                  <a:off x="6374606" y="5269706"/>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FFFFFF"/>
                  </a:solidFill>
                </a:ln>
              </p:spPr>
            </p:sp>
          </p:grpSp>
          <p:sp>
            <p:nvSpPr>
              <p:cNvPr id="289" name="TextBox 289"/>
              <p:cNvSpPr txBox="1"/>
              <p:nvPr/>
            </p:nvSpPr>
            <p:spPr>
              <a:xfrm>
                <a:off x="6700838" y="5149691"/>
                <a:ext cx="625216"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调参/改知识</a:t>
                </a:r>
              </a:p>
            </p:txBody>
          </p:sp>
          <p:sp>
            <p:nvSpPr>
              <p:cNvPr id="290" name="TextBox 290"/>
              <p:cNvSpPr txBox="1"/>
              <p:nvPr/>
            </p:nvSpPr>
            <p:spPr>
              <a:xfrm>
                <a:off x="6700838" y="5326380"/>
                <a:ext cx="6953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3A4238"/>
                    </a:solidFill>
                    <a:latin typeface="+mn-lt"/>
                    <a:ea typeface="+mn-ea"/>
                    <a:cs typeface="+mn-cs"/>
                  </a:rPr>
                  <a:t>调参、改提示词、</a:t>
                </a:r>
                <a:br/>
                <a:r>
                  <a:rPr lang="zh-CN" sz="600" dirty="0">
                    <a:solidFill>
                      <a:srgbClr val="3A4238"/>
                    </a:solidFill>
                    <a:latin typeface="+mn-lt"/>
                    <a:ea typeface="+mn-ea"/>
                    <a:cs typeface="+mn-cs"/>
                  </a:rPr>
                  <a:t>优化检索或更新知识</a:t>
                </a:r>
              </a:p>
            </p:txBody>
          </p:sp>
        </p:grpSp>
        <p:sp>
          <p:nvSpPr>
            <p:cNvPr id="292" name="il-arr-4"/>
            <p:cNvSpPr/>
            <p:nvPr/>
          </p:nvSpPr>
          <p:spPr>
            <a:xfrm>
              <a:off x="7924800" y="5238750"/>
              <a:ext cx="95250" cy="114300"/>
            </a:xfrm>
            <a:custGeom>
              <a:avLst/>
              <a:gdLst/>
              <a:ahLst/>
              <a:cxnLst/>
              <a:rect l="l" t="t" r="r" b="b"/>
              <a:pathLst>
                <a:path w="95250" h="114300">
                  <a:moveTo>
                    <a:pt x="0" y="0"/>
                  </a:moveTo>
                  <a:lnTo>
                    <a:pt x="95250" y="57150"/>
                  </a:lnTo>
                  <a:lnTo>
                    <a:pt x="0" y="114300"/>
                  </a:lnTo>
                  <a:close/>
                </a:path>
              </a:pathLst>
            </a:custGeom>
            <a:solidFill>
              <a:srgbClr val="9A4B3C"/>
            </a:solidFill>
            <a:ln>
              <a:noFill/>
            </a:ln>
          </p:spPr>
        </p:sp>
        <p:grpSp>
          <p:nvGrpSpPr>
            <p:cNvPr id="299" name="il-step-5"/>
            <p:cNvGrpSpPr/>
            <p:nvPr/>
          </p:nvGrpSpPr>
          <p:grpSpPr>
            <a:xfrm>
              <a:off x="8115300" y="5086350"/>
              <a:ext cx="1052513" cy="482918"/>
              <a:chOff x="8115300" y="5086350"/>
              <a:chExt cx="1052513" cy="482918"/>
            </a:xfrm>
          </p:grpSpPr>
          <p:sp>
            <p:nvSpPr>
              <p:cNvPr id="293" name="Ellipse 293"/>
              <p:cNvSpPr/>
              <p:nvPr/>
            </p:nvSpPr>
            <p:spPr>
              <a:xfrm>
                <a:off x="8115300" y="5086350"/>
                <a:ext cx="419100" cy="419100"/>
              </a:xfrm>
              <a:prstGeom prst="ellipse">
                <a:avLst/>
              </a:prstGeom>
              <a:solidFill>
                <a:srgbClr val="9A4B3C"/>
              </a:solidFill>
              <a:ln>
                <a:noFill/>
              </a:ln>
            </p:spPr>
          </p:sp>
          <p:grpSp>
            <p:nvGrpSpPr>
              <p:cNvPr id="296" name="Group 296"/>
              <p:cNvGrpSpPr/>
              <p:nvPr/>
            </p:nvGrpSpPr>
            <p:grpSpPr>
              <a:xfrm>
                <a:off x="8246269" y="5217319"/>
                <a:ext cx="157163" cy="157163"/>
                <a:chOff x="8246269" y="5217319"/>
                <a:chExt cx="157163" cy="157163"/>
              </a:xfrm>
            </p:grpSpPr>
            <p:sp>
              <p:nvSpPr>
                <p:cNvPr id="294" name="Freeform 294"/>
                <p:cNvSpPr/>
                <p:nvPr/>
              </p:nvSpPr>
              <p:spPr>
                <a:xfrm>
                  <a:off x="8246269" y="5217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sp>
              <p:nvSpPr>
                <p:cNvPr id="295" name="Freeform 295"/>
                <p:cNvSpPr/>
                <p:nvPr/>
              </p:nvSpPr>
              <p:spPr>
                <a:xfrm>
                  <a:off x="8298656" y="5278438"/>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297" name="TextBox 297"/>
              <p:cNvSpPr txBox="1"/>
              <p:nvPr/>
            </p:nvSpPr>
            <p:spPr>
              <a:xfrm>
                <a:off x="8624888" y="514969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回归测试</a:t>
                </a:r>
              </a:p>
            </p:txBody>
          </p:sp>
          <p:sp>
            <p:nvSpPr>
              <p:cNvPr id="298" name="TextBox 298"/>
              <p:cNvSpPr txBox="1"/>
              <p:nvPr/>
            </p:nvSpPr>
            <p:spPr>
              <a:xfrm>
                <a:off x="8624888" y="5326380"/>
                <a:ext cx="5429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3A4238"/>
                    </a:solidFill>
                    <a:latin typeface="+mn-lt"/>
                    <a:ea typeface="+mn-ea"/>
                    <a:cs typeface="+mn-cs"/>
                  </a:rPr>
                  <a:t>离线回归与在线</a:t>
                </a:r>
                <a:br/>
                <a:r>
                  <a:rPr lang="zh-CN" sz="600" dirty="0">
                    <a:solidFill>
                      <a:srgbClr val="3A4238"/>
                    </a:solidFill>
                    <a:latin typeface="+mn-lt"/>
                    <a:ea typeface="+mn-ea"/>
                    <a:cs typeface="+mn-cs"/>
                  </a:rPr>
                  <a:t>灰度验证</a:t>
                </a:r>
              </a:p>
            </p:txBody>
          </p:sp>
        </p:grpSp>
        <p:sp>
          <p:nvSpPr>
            <p:cNvPr id="300" name="il-arr-5"/>
            <p:cNvSpPr/>
            <p:nvPr/>
          </p:nvSpPr>
          <p:spPr>
            <a:xfrm>
              <a:off x="9848850" y="5238750"/>
              <a:ext cx="95250" cy="114300"/>
            </a:xfrm>
            <a:custGeom>
              <a:avLst/>
              <a:gdLst/>
              <a:ahLst/>
              <a:cxnLst/>
              <a:rect l="l" t="t" r="r" b="b"/>
              <a:pathLst>
                <a:path w="95250" h="114300">
                  <a:moveTo>
                    <a:pt x="0" y="0"/>
                  </a:moveTo>
                  <a:lnTo>
                    <a:pt x="95250" y="57150"/>
                  </a:lnTo>
                  <a:lnTo>
                    <a:pt x="0" y="114300"/>
                  </a:lnTo>
                  <a:close/>
                </a:path>
              </a:pathLst>
            </a:custGeom>
            <a:solidFill>
              <a:srgbClr val="9A4B3C"/>
            </a:solidFill>
            <a:ln>
              <a:noFill/>
            </a:ln>
          </p:spPr>
        </p:sp>
        <p:grpSp>
          <p:nvGrpSpPr>
            <p:cNvPr id="308" name="il-step-6"/>
            <p:cNvGrpSpPr/>
            <p:nvPr/>
          </p:nvGrpSpPr>
          <p:grpSpPr>
            <a:xfrm>
              <a:off x="10039350" y="5086350"/>
              <a:ext cx="1052513" cy="482918"/>
              <a:chOff x="10039350" y="5086350"/>
              <a:chExt cx="1052513" cy="482918"/>
            </a:xfrm>
          </p:grpSpPr>
          <p:sp>
            <p:nvSpPr>
              <p:cNvPr id="301" name="Ellipse 301"/>
              <p:cNvSpPr/>
              <p:nvPr/>
            </p:nvSpPr>
            <p:spPr>
              <a:xfrm>
                <a:off x="10039350" y="5086350"/>
                <a:ext cx="419100" cy="419100"/>
              </a:xfrm>
              <a:prstGeom prst="ellipse">
                <a:avLst/>
              </a:prstGeom>
              <a:solidFill>
                <a:srgbClr val="42140B"/>
              </a:solidFill>
              <a:ln>
                <a:noFill/>
              </a:ln>
            </p:spPr>
          </p:sp>
          <p:grpSp>
            <p:nvGrpSpPr>
              <p:cNvPr id="305" name="Group 305"/>
              <p:cNvGrpSpPr/>
              <p:nvPr/>
            </p:nvGrpSpPr>
            <p:grpSpPr>
              <a:xfrm>
                <a:off x="10176292" y="5226050"/>
                <a:ext cx="142458" cy="142458"/>
                <a:chOff x="10176292" y="5226050"/>
                <a:chExt cx="142458" cy="142458"/>
              </a:xfrm>
            </p:grpSpPr>
            <p:sp>
              <p:nvSpPr>
                <p:cNvPr id="302" name="Freeform 302"/>
                <p:cNvSpPr/>
                <p:nvPr/>
              </p:nvSpPr>
              <p:spPr>
                <a:xfrm>
                  <a:off x="10179050" y="5226050"/>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C93F27"/>
                  </a:solidFill>
                </a:ln>
              </p:spPr>
            </p:sp>
            <p:sp>
              <p:nvSpPr>
                <p:cNvPr id="303" name="Freeform 303"/>
                <p:cNvSpPr/>
                <p:nvPr/>
              </p:nvSpPr>
              <p:spPr>
                <a:xfrm>
                  <a:off x="10176292" y="5313363"/>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C93F27"/>
                  </a:solidFill>
                </a:ln>
              </p:spPr>
            </p:sp>
            <p:sp>
              <p:nvSpPr>
                <p:cNvPr id="304" name="Freeform 304"/>
                <p:cNvSpPr/>
                <p:nvPr/>
              </p:nvSpPr>
              <p:spPr>
                <a:xfrm>
                  <a:off x="10266363" y="5260975"/>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C93F27"/>
                  </a:solidFill>
                </a:ln>
              </p:spPr>
            </p:sp>
          </p:grpSp>
          <p:sp>
            <p:nvSpPr>
              <p:cNvPr id="306" name="TextBox 306"/>
              <p:cNvSpPr txBox="1"/>
              <p:nvPr/>
            </p:nvSpPr>
            <p:spPr>
              <a:xfrm>
                <a:off x="10548938" y="5149691"/>
                <a:ext cx="230302"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发布</a:t>
                </a:r>
              </a:p>
            </p:txBody>
          </p:sp>
          <p:sp>
            <p:nvSpPr>
              <p:cNvPr id="307" name="TextBox 307"/>
              <p:cNvSpPr txBox="1"/>
              <p:nvPr/>
            </p:nvSpPr>
            <p:spPr>
              <a:xfrm>
                <a:off x="10548938" y="5326380"/>
                <a:ext cx="5429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3A4238"/>
                    </a:solidFill>
                    <a:latin typeface="+mn-lt"/>
                    <a:ea typeface="+mn-ea"/>
                    <a:cs typeface="+mn-cs"/>
                  </a:rPr>
                  <a:t>全量发布，持续</a:t>
                </a:r>
                <a:br/>
                <a:r>
                  <a:rPr lang="zh-CN" sz="600" dirty="0">
                    <a:solidFill>
                      <a:srgbClr val="3A4238"/>
                    </a:solidFill>
                    <a:latin typeface="+mn-lt"/>
                    <a:ea typeface="+mn-ea"/>
                    <a:cs typeface="+mn-cs"/>
                  </a:rPr>
                  <a:t>监控与反馈</a:t>
                </a:r>
              </a:p>
            </p:txBody>
          </p:sp>
        </p:grpSp>
      </p:gr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10</a:t>
              </a:r>
            </a:p>
          </p:txBody>
        </p:sp>
        <p:sp>
          <p:nvSpPr>
            <p:cNvPr id="4" name="TextBox 4"/>
            <p:cNvSpPr txBox="1"/>
            <p:nvPr/>
          </p:nvSpPr>
          <p:spPr>
            <a:xfrm>
              <a:off x="942594" y="151448"/>
              <a:ext cx="72313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权限必须在</a:t>
              </a:r>
              <a:r>
                <a:rPr lang="zh-CN" sz="1950" b="1" dirty="0">
                  <a:solidFill>
                    <a:srgbClr val="7C3B2F"/>
                  </a:solidFill>
                  <a:latin typeface="SimSun"/>
                  <a:ea typeface="SimSun"/>
                  <a:cs typeface="SimSun"/>
                </a:rPr>
                <a:t>检索前生效</a:t>
              </a:r>
              <a:r>
                <a:rPr lang="zh-CN" sz="1950" b="1" dirty="0">
                  <a:solidFill>
                    <a:srgbClr val="1A1A1A"/>
                  </a:solidFill>
                  <a:latin typeface="SimSun"/>
                  <a:ea typeface="SimSun"/>
                  <a:cs typeface="SimSun"/>
                </a:rPr>
                <a:t>，答案只能继承用户有权看到的知识</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79" name="identity-inputs"/>
          <p:cNvGrpSpPr/>
          <p:nvPr/>
        </p:nvGrpSpPr>
        <p:grpSpPr>
          <a:xfrm>
            <a:off x="228600" y="628650"/>
            <a:ext cx="1676400" cy="4400550"/>
            <a:chOff x="228600" y="628650"/>
            <a:chExt cx="1676400" cy="4400550"/>
          </a:xfrm>
        </p:grpSpPr>
        <p:sp>
          <p:nvSpPr>
            <p:cNvPr id="7" name="Rectangle 7"/>
            <p:cNvSpPr/>
            <p:nvPr/>
          </p:nvSpPr>
          <p:spPr>
            <a:xfrm>
              <a:off x="228600" y="628650"/>
              <a:ext cx="1676400" cy="228600"/>
            </a:xfrm>
            <a:prstGeom prst="roundRect">
              <a:avLst>
                <a:gd name="adj" fmla="val 25000"/>
              </a:avLst>
            </a:prstGeom>
            <a:solidFill>
              <a:srgbClr val="42140B"/>
            </a:solidFill>
            <a:ln>
              <a:noFill/>
            </a:ln>
          </p:spPr>
        </p:sp>
        <p:sp>
          <p:nvSpPr>
            <p:cNvPr id="8" name="TextBox 8"/>
            <p:cNvSpPr txBox="1"/>
            <p:nvPr/>
          </p:nvSpPr>
          <p:spPr>
            <a:xfrm>
              <a:off x="598945" y="697468"/>
              <a:ext cx="93571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身份与上下文输入</a:t>
              </a:r>
            </a:p>
          </p:txBody>
        </p:sp>
        <p:grpSp>
          <p:nvGrpSpPr>
            <p:cNvPr id="17" name="in-sso"/>
            <p:cNvGrpSpPr/>
            <p:nvPr/>
          </p:nvGrpSpPr>
          <p:grpSpPr>
            <a:xfrm>
              <a:off x="228600" y="952500"/>
              <a:ext cx="1676400" cy="533400"/>
              <a:chOff x="228600" y="952500"/>
              <a:chExt cx="1676400" cy="533400"/>
            </a:xfrm>
          </p:grpSpPr>
          <p:sp>
            <p:nvSpPr>
              <p:cNvPr id="9" name="Rectangle 9"/>
              <p:cNvSpPr/>
              <p:nvPr/>
            </p:nvSpPr>
            <p:spPr>
              <a:xfrm>
                <a:off x="228600" y="952500"/>
                <a:ext cx="1676400" cy="533400"/>
              </a:xfrm>
              <a:prstGeom prst="roundRect">
                <a:avLst>
                  <a:gd name="adj" fmla="val 14286"/>
                </a:avLst>
              </a:prstGeom>
              <a:solidFill>
                <a:srgbClr val="F4F8EC"/>
              </a:solidFill>
              <a:ln w="9525">
                <a:solidFill>
                  <a:srgbClr val="D9E8C6"/>
                </a:solidFill>
              </a:ln>
            </p:spPr>
          </p:sp>
          <p:sp>
            <p:nvSpPr>
              <p:cNvPr id="10" name="Ellipse 10"/>
              <p:cNvSpPr/>
              <p:nvPr/>
            </p:nvSpPr>
            <p:spPr>
              <a:xfrm>
                <a:off x="342900" y="1066800"/>
                <a:ext cx="304800" cy="304800"/>
              </a:xfrm>
              <a:prstGeom prst="ellipse">
                <a:avLst/>
              </a:prstGeom>
              <a:solidFill>
                <a:srgbClr val="FFFFFF"/>
              </a:solidFill>
              <a:ln w="9525">
                <a:solidFill>
                  <a:srgbClr val="BE776A"/>
                </a:solidFill>
              </a:ln>
            </p:spPr>
          </p:sp>
          <p:grpSp>
            <p:nvGrpSpPr>
              <p:cNvPr id="14" name="Group 14"/>
              <p:cNvGrpSpPr/>
              <p:nvPr/>
            </p:nvGrpSpPr>
            <p:grpSpPr>
              <a:xfrm>
                <a:off x="445294" y="1154906"/>
                <a:ext cx="100012" cy="128588"/>
                <a:chOff x="445294" y="1154906"/>
                <a:chExt cx="100012" cy="128588"/>
              </a:xfrm>
            </p:grpSpPr>
            <p:sp>
              <p:nvSpPr>
                <p:cNvPr id="11" name="Freeform 11"/>
                <p:cNvSpPr/>
                <p:nvPr/>
              </p:nvSpPr>
              <p:spPr>
                <a:xfrm>
                  <a:off x="445294" y="1212056"/>
                  <a:ext cx="100012" cy="71438"/>
                </a:xfrm>
                <a:custGeom>
                  <a:avLst/>
                  <a:gdLst/>
                  <a:ahLst/>
                  <a:cxnLst/>
                  <a:rect l="l" t="t" r="r" b="b"/>
                  <a:pathLst>
                    <a:path w="100012" h="71438">
                      <a:moveTo>
                        <a:pt x="0" y="14288"/>
                      </a:moveTo>
                      <a:cubicBezTo>
                        <a:pt x="0" y="6397"/>
                        <a:pt x="6397" y="0"/>
                        <a:pt x="14288" y="0"/>
                      </a:cubicBezTo>
                      <a:lnTo>
                        <a:pt x="85725" y="0"/>
                      </a:lnTo>
                      <a:cubicBezTo>
                        <a:pt x="93616" y="0"/>
                        <a:pt x="100012" y="6397"/>
                        <a:pt x="100012" y="14288"/>
                      </a:cubicBezTo>
                      <a:lnTo>
                        <a:pt x="100012" y="57150"/>
                      </a:lnTo>
                      <a:cubicBezTo>
                        <a:pt x="100012" y="65041"/>
                        <a:pt x="93616" y="71438"/>
                        <a:pt x="85725" y="71438"/>
                      </a:cubicBezTo>
                      <a:lnTo>
                        <a:pt x="14288" y="71438"/>
                      </a:lnTo>
                      <a:cubicBezTo>
                        <a:pt x="6397" y="71438"/>
                        <a:pt x="0" y="65041"/>
                        <a:pt x="0" y="57150"/>
                      </a:cubicBezTo>
                      <a:lnTo>
                        <a:pt x="0" y="14288"/>
                      </a:lnTo>
                    </a:path>
                  </a:pathLst>
                </a:custGeom>
                <a:noFill/>
                <a:ln w="14288">
                  <a:solidFill>
                    <a:srgbClr val="7C3B2F"/>
                  </a:solidFill>
                </a:ln>
              </p:spPr>
            </p:sp>
            <p:sp>
              <p:nvSpPr>
                <p:cNvPr id="12" name="Freeform 12"/>
                <p:cNvSpPr/>
                <p:nvPr/>
              </p:nvSpPr>
              <p:spPr>
                <a:xfrm>
                  <a:off x="488156" y="12406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C3B2F"/>
                  </a:solidFill>
                </a:ln>
              </p:spPr>
            </p:sp>
            <p:sp>
              <p:nvSpPr>
                <p:cNvPr id="13" name="Freeform 13"/>
                <p:cNvSpPr/>
                <p:nvPr/>
              </p:nvSpPr>
              <p:spPr>
                <a:xfrm>
                  <a:off x="466725" y="1154906"/>
                  <a:ext cx="57150" cy="57150"/>
                </a:xfrm>
                <a:custGeom>
                  <a:avLst/>
                  <a:gdLst/>
                  <a:ahLst/>
                  <a:cxnLst/>
                  <a:rect l="l" t="t" r="r" b="b"/>
                  <a:pathLst>
                    <a:path w="57150" h="57150">
                      <a:moveTo>
                        <a:pt x="0" y="57150"/>
                      </a:moveTo>
                      <a:lnTo>
                        <a:pt x="0" y="28575"/>
                      </a:lnTo>
                      <a:cubicBezTo>
                        <a:pt x="0" y="12793"/>
                        <a:pt x="12793" y="0"/>
                        <a:pt x="28575" y="0"/>
                      </a:cubicBezTo>
                      <a:cubicBezTo>
                        <a:pt x="44357" y="0"/>
                        <a:pt x="57150" y="12793"/>
                        <a:pt x="57150" y="28575"/>
                      </a:cubicBezTo>
                      <a:lnTo>
                        <a:pt x="57150" y="57150"/>
                      </a:lnTo>
                    </a:path>
                  </a:pathLst>
                </a:custGeom>
                <a:noFill/>
                <a:ln w="14288">
                  <a:solidFill>
                    <a:srgbClr val="7C3B2F"/>
                  </a:solidFill>
                </a:ln>
              </p:spPr>
            </p:sp>
          </p:grpSp>
          <p:sp>
            <p:nvSpPr>
              <p:cNvPr id="15" name="TextBox 15"/>
              <p:cNvSpPr txBox="1"/>
              <p:nvPr/>
            </p:nvSpPr>
            <p:spPr>
              <a:xfrm>
                <a:off x="738188" y="1096089"/>
                <a:ext cx="688117"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 xml:space="preserve">SSO / MFA　</a:t>
                </a:r>
              </a:p>
            </p:txBody>
          </p:sp>
          <p:sp>
            <p:nvSpPr>
              <p:cNvPr id="16" name="TextBox 16"/>
              <p:cNvSpPr txBox="1"/>
              <p:nvPr/>
            </p:nvSpPr>
            <p:spPr>
              <a:xfrm>
                <a:off x="738188" y="1272778"/>
                <a:ext cx="763397"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企业账号与多因子认证</a:t>
                </a:r>
              </a:p>
            </p:txBody>
          </p:sp>
        </p:grpSp>
        <p:grpSp>
          <p:nvGrpSpPr>
            <p:cNvPr id="27" name="in-user"/>
            <p:cNvGrpSpPr/>
            <p:nvPr/>
          </p:nvGrpSpPr>
          <p:grpSpPr>
            <a:xfrm>
              <a:off x="228600" y="1543050"/>
              <a:ext cx="1676400" cy="533400"/>
              <a:chOff x="228600" y="1543050"/>
              <a:chExt cx="1676400" cy="533400"/>
            </a:xfrm>
          </p:grpSpPr>
          <p:sp>
            <p:nvSpPr>
              <p:cNvPr id="18" name="Rectangle 18"/>
              <p:cNvSpPr/>
              <p:nvPr/>
            </p:nvSpPr>
            <p:spPr>
              <a:xfrm>
                <a:off x="228600" y="1543050"/>
                <a:ext cx="1676400" cy="533400"/>
              </a:xfrm>
              <a:prstGeom prst="roundRect">
                <a:avLst>
                  <a:gd name="adj" fmla="val 14286"/>
                </a:avLst>
              </a:prstGeom>
              <a:solidFill>
                <a:srgbClr val="FFFFFF"/>
              </a:solidFill>
              <a:ln w="9525">
                <a:solidFill>
                  <a:srgbClr val="D9E8C6"/>
                </a:solidFill>
              </a:ln>
            </p:spPr>
          </p:sp>
          <p:sp>
            <p:nvSpPr>
              <p:cNvPr id="19" name="Ellipse 19"/>
              <p:cNvSpPr/>
              <p:nvPr/>
            </p:nvSpPr>
            <p:spPr>
              <a:xfrm>
                <a:off x="342900" y="1657350"/>
                <a:ext cx="304800" cy="304800"/>
              </a:xfrm>
              <a:prstGeom prst="ellipse">
                <a:avLst/>
              </a:prstGeom>
              <a:solidFill>
                <a:srgbClr val="FFFFFF"/>
              </a:solidFill>
              <a:ln w="9525">
                <a:solidFill>
                  <a:srgbClr val="BE776A"/>
                </a:solidFill>
              </a:ln>
            </p:spPr>
          </p:sp>
          <p:grpSp>
            <p:nvGrpSpPr>
              <p:cNvPr id="24" name="Group 24"/>
              <p:cNvGrpSpPr/>
              <p:nvPr/>
            </p:nvGrpSpPr>
            <p:grpSpPr>
              <a:xfrm>
                <a:off x="431006" y="1745456"/>
                <a:ext cx="128588" cy="128588"/>
                <a:chOff x="431006" y="1745456"/>
                <a:chExt cx="128588" cy="128588"/>
              </a:xfrm>
            </p:grpSpPr>
            <p:sp>
              <p:nvSpPr>
                <p:cNvPr id="20" name="Freeform 20"/>
                <p:cNvSpPr/>
                <p:nvPr/>
              </p:nvSpPr>
              <p:spPr>
                <a:xfrm>
                  <a:off x="445294" y="17454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C3B2F"/>
                  </a:solidFill>
                </a:ln>
              </p:spPr>
            </p:sp>
            <p:sp>
              <p:nvSpPr>
                <p:cNvPr id="21" name="Freeform 21"/>
                <p:cNvSpPr/>
                <p:nvPr/>
              </p:nvSpPr>
              <p:spPr>
                <a:xfrm>
                  <a:off x="431006" y="183118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7C3B2F"/>
                  </a:solidFill>
                </a:ln>
              </p:spPr>
            </p:sp>
            <p:sp>
              <p:nvSpPr>
                <p:cNvPr id="22" name="Freeform 22"/>
                <p:cNvSpPr/>
                <p:nvPr/>
              </p:nvSpPr>
              <p:spPr>
                <a:xfrm>
                  <a:off x="523875" y="174638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7C3B2F"/>
                  </a:solidFill>
                </a:ln>
              </p:spPr>
            </p:sp>
            <p:sp>
              <p:nvSpPr>
                <p:cNvPr id="23" name="Freeform 23"/>
                <p:cNvSpPr/>
                <p:nvPr/>
              </p:nvSpPr>
              <p:spPr>
                <a:xfrm>
                  <a:off x="538163" y="183225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7C3B2F"/>
                  </a:solidFill>
                </a:ln>
              </p:spPr>
            </p:sp>
          </p:grpSp>
          <p:sp>
            <p:nvSpPr>
              <p:cNvPr id="25" name="TextBox 25"/>
              <p:cNvSpPr txBox="1"/>
              <p:nvPr/>
            </p:nvSpPr>
            <p:spPr>
              <a:xfrm>
                <a:off x="738188" y="1686639"/>
                <a:ext cx="222225"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用户</a:t>
                </a:r>
              </a:p>
            </p:txBody>
          </p:sp>
          <p:sp>
            <p:nvSpPr>
              <p:cNvPr id="26" name="TextBox 26"/>
              <p:cNvSpPr txBox="1"/>
              <p:nvPr/>
            </p:nvSpPr>
            <p:spPr>
              <a:xfrm>
                <a:off x="738188" y="1863328"/>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用户身份与属性</a:t>
                </a:r>
              </a:p>
            </p:txBody>
          </p:sp>
        </p:grpSp>
        <p:grpSp>
          <p:nvGrpSpPr>
            <p:cNvPr id="36" name="in-role"/>
            <p:cNvGrpSpPr/>
            <p:nvPr/>
          </p:nvGrpSpPr>
          <p:grpSpPr>
            <a:xfrm>
              <a:off x="228600" y="2133600"/>
              <a:ext cx="1676400" cy="533400"/>
              <a:chOff x="228600" y="2133600"/>
              <a:chExt cx="1676400" cy="533400"/>
            </a:xfrm>
          </p:grpSpPr>
          <p:sp>
            <p:nvSpPr>
              <p:cNvPr id="28" name="Rectangle 28"/>
              <p:cNvSpPr/>
              <p:nvPr/>
            </p:nvSpPr>
            <p:spPr>
              <a:xfrm>
                <a:off x="228600" y="2133600"/>
                <a:ext cx="1676400" cy="533400"/>
              </a:xfrm>
              <a:prstGeom prst="roundRect">
                <a:avLst>
                  <a:gd name="adj" fmla="val 14286"/>
                </a:avLst>
              </a:prstGeom>
              <a:solidFill>
                <a:srgbClr val="F4F8EC"/>
              </a:solidFill>
              <a:ln w="9525">
                <a:solidFill>
                  <a:srgbClr val="D9E8C6"/>
                </a:solidFill>
              </a:ln>
            </p:spPr>
          </p:sp>
          <p:sp>
            <p:nvSpPr>
              <p:cNvPr id="29" name="Ellipse 29"/>
              <p:cNvSpPr/>
              <p:nvPr/>
            </p:nvSpPr>
            <p:spPr>
              <a:xfrm>
                <a:off x="342900" y="2247900"/>
                <a:ext cx="304800" cy="304800"/>
              </a:xfrm>
              <a:prstGeom prst="ellipse">
                <a:avLst/>
              </a:prstGeom>
              <a:solidFill>
                <a:srgbClr val="FFFFFF"/>
              </a:solidFill>
              <a:ln w="9525">
                <a:solidFill>
                  <a:srgbClr val="BE776A"/>
                </a:solidFill>
              </a:ln>
            </p:spPr>
          </p:sp>
          <p:grpSp>
            <p:nvGrpSpPr>
              <p:cNvPr id="33" name="Group 33"/>
              <p:cNvGrpSpPr/>
              <p:nvPr/>
            </p:nvGrpSpPr>
            <p:grpSpPr>
              <a:xfrm>
                <a:off x="452438" y="2336006"/>
                <a:ext cx="107155" cy="128588"/>
                <a:chOff x="452438" y="2336006"/>
                <a:chExt cx="107155" cy="128588"/>
              </a:xfrm>
            </p:grpSpPr>
            <p:sp>
              <p:nvSpPr>
                <p:cNvPr id="30" name="Freeform 30"/>
                <p:cNvSpPr/>
                <p:nvPr/>
              </p:nvSpPr>
              <p:spPr>
                <a:xfrm>
                  <a:off x="466725" y="23360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C3B2F"/>
                  </a:solidFill>
                </a:ln>
              </p:spPr>
            </p:sp>
            <p:sp>
              <p:nvSpPr>
                <p:cNvPr id="31" name="Freeform 31"/>
                <p:cNvSpPr/>
                <p:nvPr/>
              </p:nvSpPr>
              <p:spPr>
                <a:xfrm>
                  <a:off x="452438" y="2421731"/>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7C3B2F"/>
                  </a:solidFill>
                </a:ln>
              </p:spPr>
            </p:sp>
            <p:sp>
              <p:nvSpPr>
                <p:cNvPr id="32" name="Freeform 32"/>
                <p:cNvSpPr/>
                <p:nvPr/>
              </p:nvSpPr>
              <p:spPr>
                <a:xfrm>
                  <a:off x="516731" y="2436019"/>
                  <a:ext cx="42862" cy="28575"/>
                </a:xfrm>
                <a:custGeom>
                  <a:avLst/>
                  <a:gdLst/>
                  <a:ahLst/>
                  <a:cxnLst/>
                  <a:rect l="l" t="t" r="r" b="b"/>
                  <a:pathLst>
                    <a:path w="42862" h="28575">
                      <a:moveTo>
                        <a:pt x="0" y="14288"/>
                      </a:moveTo>
                      <a:lnTo>
                        <a:pt x="14288" y="28575"/>
                      </a:lnTo>
                      <a:lnTo>
                        <a:pt x="42862" y="0"/>
                      </a:lnTo>
                    </a:path>
                  </a:pathLst>
                </a:custGeom>
                <a:noFill/>
                <a:ln w="14288">
                  <a:solidFill>
                    <a:srgbClr val="7C3B2F"/>
                  </a:solidFill>
                </a:ln>
              </p:spPr>
            </p:sp>
          </p:grpSp>
          <p:sp>
            <p:nvSpPr>
              <p:cNvPr id="34" name="TextBox 34"/>
              <p:cNvSpPr txBox="1"/>
              <p:nvPr/>
            </p:nvSpPr>
            <p:spPr>
              <a:xfrm>
                <a:off x="738188" y="2277189"/>
                <a:ext cx="222225"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角色</a:t>
                </a:r>
              </a:p>
            </p:txBody>
          </p:sp>
          <p:sp>
            <p:nvSpPr>
              <p:cNvPr id="35" name="TextBox 35"/>
              <p:cNvSpPr txBox="1"/>
              <p:nvPr/>
            </p:nvSpPr>
            <p:spPr>
              <a:xfrm>
                <a:off x="738188" y="2453878"/>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岗位角色与职责</a:t>
                </a:r>
              </a:p>
            </p:txBody>
          </p:sp>
        </p:grpSp>
        <p:grpSp>
          <p:nvGrpSpPr>
            <p:cNvPr id="50" name="in-dept"/>
            <p:cNvGrpSpPr/>
            <p:nvPr/>
          </p:nvGrpSpPr>
          <p:grpSpPr>
            <a:xfrm>
              <a:off x="228600" y="2724150"/>
              <a:ext cx="1676400" cy="533400"/>
              <a:chOff x="228600" y="2724150"/>
              <a:chExt cx="1676400" cy="533400"/>
            </a:xfrm>
          </p:grpSpPr>
          <p:sp>
            <p:nvSpPr>
              <p:cNvPr id="37" name="Rectangle 37"/>
              <p:cNvSpPr/>
              <p:nvPr/>
            </p:nvSpPr>
            <p:spPr>
              <a:xfrm>
                <a:off x="228600" y="2724150"/>
                <a:ext cx="1676400" cy="533400"/>
              </a:xfrm>
              <a:prstGeom prst="roundRect">
                <a:avLst>
                  <a:gd name="adj" fmla="val 14286"/>
                </a:avLst>
              </a:prstGeom>
              <a:solidFill>
                <a:srgbClr val="FFFFFF"/>
              </a:solidFill>
              <a:ln w="9525">
                <a:solidFill>
                  <a:srgbClr val="D9E8C6"/>
                </a:solidFill>
              </a:ln>
            </p:spPr>
          </p:sp>
          <p:sp>
            <p:nvSpPr>
              <p:cNvPr id="38" name="Ellipse 38"/>
              <p:cNvSpPr/>
              <p:nvPr/>
            </p:nvSpPr>
            <p:spPr>
              <a:xfrm>
                <a:off x="342900" y="2838450"/>
                <a:ext cx="304800" cy="304800"/>
              </a:xfrm>
              <a:prstGeom prst="ellipse">
                <a:avLst/>
              </a:prstGeom>
              <a:solidFill>
                <a:srgbClr val="FFFFFF"/>
              </a:solidFill>
              <a:ln w="9525">
                <a:solidFill>
                  <a:srgbClr val="BE776A"/>
                </a:solidFill>
              </a:ln>
            </p:spPr>
          </p:sp>
          <p:grpSp>
            <p:nvGrpSpPr>
              <p:cNvPr id="47" name="Group 47"/>
              <p:cNvGrpSpPr/>
              <p:nvPr/>
            </p:nvGrpSpPr>
            <p:grpSpPr>
              <a:xfrm>
                <a:off x="431006" y="2926556"/>
                <a:ext cx="130969" cy="138113"/>
                <a:chOff x="431006" y="2926556"/>
                <a:chExt cx="130969" cy="138113"/>
              </a:xfrm>
            </p:grpSpPr>
            <p:sp>
              <p:nvSpPr>
                <p:cNvPr id="39" name="Freeform 39"/>
                <p:cNvSpPr/>
                <p:nvPr/>
              </p:nvSpPr>
              <p:spPr>
                <a:xfrm>
                  <a:off x="431006" y="3055144"/>
                  <a:ext cx="128588" cy="9525"/>
                </a:xfrm>
                <a:custGeom>
                  <a:avLst/>
                  <a:gdLst/>
                  <a:ahLst/>
                  <a:cxnLst/>
                  <a:rect l="l" t="t" r="r" b="b"/>
                  <a:pathLst>
                    <a:path w="128588" h="9525">
                      <a:moveTo>
                        <a:pt x="0" y="0"/>
                      </a:moveTo>
                      <a:lnTo>
                        <a:pt x="128588" y="0"/>
                      </a:lnTo>
                    </a:path>
                  </a:pathLst>
                </a:custGeom>
                <a:noFill/>
                <a:ln w="14288">
                  <a:solidFill>
                    <a:srgbClr val="7C3B2F"/>
                  </a:solidFill>
                </a:ln>
              </p:spPr>
            </p:sp>
            <p:sp>
              <p:nvSpPr>
                <p:cNvPr id="40" name="Freeform 40"/>
                <p:cNvSpPr/>
                <p:nvPr/>
              </p:nvSpPr>
              <p:spPr>
                <a:xfrm>
                  <a:off x="431006" y="2976562"/>
                  <a:ext cx="128588" cy="9525"/>
                </a:xfrm>
                <a:custGeom>
                  <a:avLst/>
                  <a:gdLst/>
                  <a:ahLst/>
                  <a:cxnLst/>
                  <a:rect l="l" t="t" r="r" b="b"/>
                  <a:pathLst>
                    <a:path w="128588" h="9525">
                      <a:moveTo>
                        <a:pt x="0" y="0"/>
                      </a:moveTo>
                      <a:lnTo>
                        <a:pt x="128588" y="0"/>
                      </a:lnTo>
                    </a:path>
                  </a:pathLst>
                </a:custGeom>
                <a:noFill/>
                <a:ln w="14288">
                  <a:solidFill>
                    <a:srgbClr val="7C3B2F"/>
                  </a:solidFill>
                </a:ln>
              </p:spPr>
            </p:sp>
            <p:sp>
              <p:nvSpPr>
                <p:cNvPr id="41" name="Freeform 41"/>
                <p:cNvSpPr/>
                <p:nvPr/>
              </p:nvSpPr>
              <p:spPr>
                <a:xfrm>
                  <a:off x="445294" y="2926556"/>
                  <a:ext cx="100012" cy="21431"/>
                </a:xfrm>
                <a:custGeom>
                  <a:avLst/>
                  <a:gdLst/>
                  <a:ahLst/>
                  <a:cxnLst/>
                  <a:rect l="l" t="t" r="r" b="b"/>
                  <a:pathLst>
                    <a:path w="100012" h="21431">
                      <a:moveTo>
                        <a:pt x="0" y="21431"/>
                      </a:moveTo>
                      <a:lnTo>
                        <a:pt x="50006" y="0"/>
                      </a:lnTo>
                      <a:lnTo>
                        <a:pt x="100012" y="21431"/>
                      </a:lnTo>
                    </a:path>
                  </a:pathLst>
                </a:custGeom>
                <a:noFill/>
                <a:ln w="14288">
                  <a:solidFill>
                    <a:srgbClr val="7C3B2F"/>
                  </a:solidFill>
                </a:ln>
              </p:spPr>
            </p:sp>
            <p:sp>
              <p:nvSpPr>
                <p:cNvPr id="42" name="Freeform 42"/>
                <p:cNvSpPr/>
                <p:nvPr/>
              </p:nvSpPr>
              <p:spPr>
                <a:xfrm>
                  <a:off x="438150" y="2976562"/>
                  <a:ext cx="9525" cy="78581"/>
                </a:xfrm>
                <a:custGeom>
                  <a:avLst/>
                  <a:gdLst/>
                  <a:ahLst/>
                  <a:cxnLst/>
                  <a:rect l="l" t="t" r="r" b="b"/>
                  <a:pathLst>
                    <a:path w="9525" h="78581">
                      <a:moveTo>
                        <a:pt x="0" y="0"/>
                      </a:moveTo>
                      <a:lnTo>
                        <a:pt x="0" y="78581"/>
                      </a:lnTo>
                    </a:path>
                  </a:pathLst>
                </a:custGeom>
                <a:noFill/>
                <a:ln w="14288">
                  <a:solidFill>
                    <a:srgbClr val="7C3B2F"/>
                  </a:solidFill>
                </a:ln>
              </p:spPr>
            </p:sp>
            <p:sp>
              <p:nvSpPr>
                <p:cNvPr id="43" name="Freeform 43"/>
                <p:cNvSpPr/>
                <p:nvPr/>
              </p:nvSpPr>
              <p:spPr>
                <a:xfrm>
                  <a:off x="552450" y="2976562"/>
                  <a:ext cx="9525" cy="78581"/>
                </a:xfrm>
                <a:custGeom>
                  <a:avLst/>
                  <a:gdLst/>
                  <a:ahLst/>
                  <a:cxnLst/>
                  <a:rect l="l" t="t" r="r" b="b"/>
                  <a:pathLst>
                    <a:path w="9525" h="78581">
                      <a:moveTo>
                        <a:pt x="0" y="0"/>
                      </a:moveTo>
                      <a:lnTo>
                        <a:pt x="0" y="78581"/>
                      </a:lnTo>
                    </a:path>
                  </a:pathLst>
                </a:custGeom>
                <a:noFill/>
                <a:ln w="14288">
                  <a:solidFill>
                    <a:srgbClr val="7C3B2F"/>
                  </a:solidFill>
                </a:ln>
              </p:spPr>
            </p:sp>
            <p:sp>
              <p:nvSpPr>
                <p:cNvPr id="44" name="Freeform 44"/>
                <p:cNvSpPr/>
                <p:nvPr/>
              </p:nvSpPr>
              <p:spPr>
                <a:xfrm>
                  <a:off x="466725" y="3005138"/>
                  <a:ext cx="9525" cy="21431"/>
                </a:xfrm>
                <a:custGeom>
                  <a:avLst/>
                  <a:gdLst/>
                  <a:ahLst/>
                  <a:cxnLst/>
                  <a:rect l="l" t="t" r="r" b="b"/>
                  <a:pathLst>
                    <a:path w="9525" h="21431">
                      <a:moveTo>
                        <a:pt x="0" y="0"/>
                      </a:moveTo>
                      <a:lnTo>
                        <a:pt x="0" y="21431"/>
                      </a:lnTo>
                    </a:path>
                  </a:pathLst>
                </a:custGeom>
                <a:noFill/>
                <a:ln w="14288">
                  <a:solidFill>
                    <a:srgbClr val="7C3B2F"/>
                  </a:solidFill>
                </a:ln>
              </p:spPr>
            </p:sp>
            <p:sp>
              <p:nvSpPr>
                <p:cNvPr id="45" name="Freeform 45"/>
                <p:cNvSpPr/>
                <p:nvPr/>
              </p:nvSpPr>
              <p:spPr>
                <a:xfrm>
                  <a:off x="495300" y="3005138"/>
                  <a:ext cx="9525" cy="21431"/>
                </a:xfrm>
                <a:custGeom>
                  <a:avLst/>
                  <a:gdLst/>
                  <a:ahLst/>
                  <a:cxnLst/>
                  <a:rect l="l" t="t" r="r" b="b"/>
                  <a:pathLst>
                    <a:path w="9525" h="21431">
                      <a:moveTo>
                        <a:pt x="0" y="0"/>
                      </a:moveTo>
                      <a:lnTo>
                        <a:pt x="0" y="21431"/>
                      </a:lnTo>
                    </a:path>
                  </a:pathLst>
                </a:custGeom>
                <a:noFill/>
                <a:ln w="14288">
                  <a:solidFill>
                    <a:srgbClr val="7C3B2F"/>
                  </a:solidFill>
                </a:ln>
              </p:spPr>
            </p:sp>
            <p:sp>
              <p:nvSpPr>
                <p:cNvPr id="46" name="Freeform 46"/>
                <p:cNvSpPr/>
                <p:nvPr/>
              </p:nvSpPr>
              <p:spPr>
                <a:xfrm>
                  <a:off x="523875" y="3005138"/>
                  <a:ext cx="9525" cy="21431"/>
                </a:xfrm>
                <a:custGeom>
                  <a:avLst/>
                  <a:gdLst/>
                  <a:ahLst/>
                  <a:cxnLst/>
                  <a:rect l="l" t="t" r="r" b="b"/>
                  <a:pathLst>
                    <a:path w="9525" h="21431">
                      <a:moveTo>
                        <a:pt x="0" y="0"/>
                      </a:moveTo>
                      <a:lnTo>
                        <a:pt x="0" y="21431"/>
                      </a:lnTo>
                    </a:path>
                  </a:pathLst>
                </a:custGeom>
                <a:noFill/>
                <a:ln w="14288">
                  <a:solidFill>
                    <a:srgbClr val="7C3B2F"/>
                  </a:solidFill>
                </a:ln>
              </p:spPr>
            </p:sp>
          </p:grpSp>
          <p:sp>
            <p:nvSpPr>
              <p:cNvPr id="48" name="TextBox 48"/>
              <p:cNvSpPr txBox="1"/>
              <p:nvPr/>
            </p:nvSpPr>
            <p:spPr>
              <a:xfrm>
                <a:off x="738188" y="2867739"/>
                <a:ext cx="222225"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部门</a:t>
                </a:r>
              </a:p>
            </p:txBody>
          </p:sp>
          <p:sp>
            <p:nvSpPr>
              <p:cNvPr id="49" name="TextBox 49"/>
              <p:cNvSpPr txBox="1"/>
              <p:nvPr/>
            </p:nvSpPr>
            <p:spPr>
              <a:xfrm>
                <a:off x="738188" y="3044428"/>
                <a:ext cx="688010"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组织架构与汇报关系</a:t>
                </a:r>
              </a:p>
            </p:txBody>
          </p:sp>
        </p:grpSp>
        <p:grpSp>
          <p:nvGrpSpPr>
            <p:cNvPr id="60" name="in-project"/>
            <p:cNvGrpSpPr/>
            <p:nvPr/>
          </p:nvGrpSpPr>
          <p:grpSpPr>
            <a:xfrm>
              <a:off x="228600" y="3314700"/>
              <a:ext cx="1676400" cy="533400"/>
              <a:chOff x="228600" y="3314700"/>
              <a:chExt cx="1676400" cy="533400"/>
            </a:xfrm>
          </p:grpSpPr>
          <p:sp>
            <p:nvSpPr>
              <p:cNvPr id="51" name="Rectangle 51"/>
              <p:cNvSpPr/>
              <p:nvPr/>
            </p:nvSpPr>
            <p:spPr>
              <a:xfrm>
                <a:off x="228600" y="3314700"/>
                <a:ext cx="1676400" cy="533400"/>
              </a:xfrm>
              <a:prstGeom prst="roundRect">
                <a:avLst>
                  <a:gd name="adj" fmla="val 14286"/>
                </a:avLst>
              </a:prstGeom>
              <a:solidFill>
                <a:srgbClr val="F4F8EC"/>
              </a:solidFill>
              <a:ln w="9525">
                <a:solidFill>
                  <a:srgbClr val="D9E8C6"/>
                </a:solidFill>
              </a:ln>
            </p:spPr>
          </p:sp>
          <p:sp>
            <p:nvSpPr>
              <p:cNvPr id="52" name="Ellipse 52"/>
              <p:cNvSpPr/>
              <p:nvPr/>
            </p:nvSpPr>
            <p:spPr>
              <a:xfrm>
                <a:off x="342900" y="3429000"/>
                <a:ext cx="304800" cy="304800"/>
              </a:xfrm>
              <a:prstGeom prst="ellipse">
                <a:avLst/>
              </a:prstGeom>
              <a:solidFill>
                <a:srgbClr val="FFFFFF"/>
              </a:solidFill>
              <a:ln w="9525">
                <a:solidFill>
                  <a:srgbClr val="BE776A"/>
                </a:solidFill>
              </a:ln>
            </p:spPr>
          </p:sp>
          <p:grpSp>
            <p:nvGrpSpPr>
              <p:cNvPr id="57" name="Group 57"/>
              <p:cNvGrpSpPr/>
              <p:nvPr/>
            </p:nvGrpSpPr>
            <p:grpSpPr>
              <a:xfrm>
                <a:off x="431006" y="3517106"/>
                <a:ext cx="128588" cy="121444"/>
                <a:chOff x="431006" y="3517106"/>
                <a:chExt cx="128588" cy="121444"/>
              </a:xfrm>
            </p:grpSpPr>
            <p:sp>
              <p:nvSpPr>
                <p:cNvPr id="53" name="Freeform 53"/>
                <p:cNvSpPr/>
                <p:nvPr/>
              </p:nvSpPr>
              <p:spPr>
                <a:xfrm>
                  <a:off x="431006" y="3545681"/>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7C3B2F"/>
                  </a:solidFill>
                </a:ln>
              </p:spPr>
            </p:sp>
            <p:sp>
              <p:nvSpPr>
                <p:cNvPr id="54" name="Freeform 54"/>
                <p:cNvSpPr/>
                <p:nvPr/>
              </p:nvSpPr>
              <p:spPr>
                <a:xfrm>
                  <a:off x="466725" y="3517106"/>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7C3B2F"/>
                  </a:solidFill>
                </a:ln>
              </p:spPr>
            </p:sp>
            <p:sp>
              <p:nvSpPr>
                <p:cNvPr id="55" name="Freeform 55"/>
                <p:cNvSpPr/>
                <p:nvPr/>
              </p:nvSpPr>
              <p:spPr>
                <a:xfrm>
                  <a:off x="495300" y="3581400"/>
                  <a:ext cx="9525" cy="9525"/>
                </a:xfrm>
                <a:custGeom>
                  <a:avLst/>
                  <a:gdLst/>
                  <a:ahLst/>
                  <a:cxnLst/>
                  <a:rect l="l" t="t" r="r" b="b"/>
                  <a:pathLst>
                    <a:path w="9525" h="9525">
                      <a:moveTo>
                        <a:pt x="0" y="0"/>
                      </a:moveTo>
                      <a:lnTo>
                        <a:pt x="0" y="71"/>
                      </a:lnTo>
                    </a:path>
                  </a:pathLst>
                </a:custGeom>
                <a:noFill/>
                <a:ln w="14288">
                  <a:solidFill>
                    <a:srgbClr val="7C3B2F"/>
                  </a:solidFill>
                </a:ln>
              </p:spPr>
            </p:sp>
            <p:sp>
              <p:nvSpPr>
                <p:cNvPr id="56" name="Freeform 56"/>
                <p:cNvSpPr/>
                <p:nvPr/>
              </p:nvSpPr>
              <p:spPr>
                <a:xfrm>
                  <a:off x="431006" y="3588544"/>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7C3B2F"/>
                  </a:solidFill>
                </a:ln>
              </p:spPr>
            </p:sp>
          </p:grpSp>
          <p:sp>
            <p:nvSpPr>
              <p:cNvPr id="58" name="TextBox 58"/>
              <p:cNvSpPr txBox="1"/>
              <p:nvPr/>
            </p:nvSpPr>
            <p:spPr>
              <a:xfrm>
                <a:off x="738188" y="3458289"/>
                <a:ext cx="222225"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项目</a:t>
                </a:r>
              </a:p>
            </p:txBody>
          </p:sp>
          <p:sp>
            <p:nvSpPr>
              <p:cNvPr id="59" name="TextBox 59"/>
              <p:cNvSpPr txBox="1"/>
              <p:nvPr/>
            </p:nvSpPr>
            <p:spPr>
              <a:xfrm>
                <a:off x="738188" y="3634978"/>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项目归属与成员</a:t>
                </a:r>
              </a:p>
            </p:txBody>
          </p:sp>
        </p:grpSp>
        <p:grpSp>
          <p:nvGrpSpPr>
            <p:cNvPr id="69" name="in-location"/>
            <p:cNvGrpSpPr/>
            <p:nvPr/>
          </p:nvGrpSpPr>
          <p:grpSpPr>
            <a:xfrm>
              <a:off x="228600" y="3905250"/>
              <a:ext cx="1676400" cy="533400"/>
              <a:chOff x="228600" y="3905250"/>
              <a:chExt cx="1676400" cy="533400"/>
            </a:xfrm>
          </p:grpSpPr>
          <p:sp>
            <p:nvSpPr>
              <p:cNvPr id="61" name="Rectangle 61"/>
              <p:cNvSpPr/>
              <p:nvPr/>
            </p:nvSpPr>
            <p:spPr>
              <a:xfrm>
                <a:off x="228600" y="3905250"/>
                <a:ext cx="1676400" cy="533400"/>
              </a:xfrm>
              <a:prstGeom prst="roundRect">
                <a:avLst>
                  <a:gd name="adj" fmla="val 14286"/>
                </a:avLst>
              </a:prstGeom>
              <a:solidFill>
                <a:srgbClr val="FFFFFF"/>
              </a:solidFill>
              <a:ln w="9525">
                <a:solidFill>
                  <a:srgbClr val="D9E8C6"/>
                </a:solidFill>
              </a:ln>
            </p:spPr>
          </p:sp>
          <p:sp>
            <p:nvSpPr>
              <p:cNvPr id="62" name="Ellipse 62"/>
              <p:cNvSpPr/>
              <p:nvPr/>
            </p:nvSpPr>
            <p:spPr>
              <a:xfrm>
                <a:off x="342900" y="4019550"/>
                <a:ext cx="304800" cy="304800"/>
              </a:xfrm>
              <a:prstGeom prst="ellipse">
                <a:avLst/>
              </a:prstGeom>
              <a:solidFill>
                <a:srgbClr val="FFFFFF"/>
              </a:solidFill>
              <a:ln w="9525">
                <a:solidFill>
                  <a:srgbClr val="BE776A"/>
                </a:solidFill>
              </a:ln>
            </p:spPr>
          </p:sp>
          <p:grpSp>
            <p:nvGrpSpPr>
              <p:cNvPr id="66" name="Group 66"/>
              <p:cNvGrpSpPr/>
              <p:nvPr/>
            </p:nvGrpSpPr>
            <p:grpSpPr>
              <a:xfrm>
                <a:off x="431006" y="4107656"/>
                <a:ext cx="128588" cy="128588"/>
                <a:chOff x="431006" y="4107656"/>
                <a:chExt cx="128588" cy="128588"/>
              </a:xfrm>
            </p:grpSpPr>
            <p:sp>
              <p:nvSpPr>
                <p:cNvPr id="63" name="Freeform 63"/>
                <p:cNvSpPr/>
                <p:nvPr/>
              </p:nvSpPr>
              <p:spPr>
                <a:xfrm>
                  <a:off x="431006" y="4107656"/>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7C3B2F"/>
                  </a:solidFill>
                </a:ln>
              </p:spPr>
            </p:sp>
            <p:sp>
              <p:nvSpPr>
                <p:cNvPr id="64" name="Freeform 64"/>
                <p:cNvSpPr/>
                <p:nvPr/>
              </p:nvSpPr>
              <p:spPr>
                <a:xfrm>
                  <a:off x="445294" y="4171950"/>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7C3B2F"/>
                  </a:solidFill>
                </a:ln>
              </p:spPr>
            </p:sp>
            <p:sp>
              <p:nvSpPr>
                <p:cNvPr id="65" name="Freeform 65"/>
                <p:cNvSpPr/>
                <p:nvPr/>
              </p:nvSpPr>
              <p:spPr>
                <a:xfrm>
                  <a:off x="473869" y="4179094"/>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7C3B2F"/>
                  </a:solidFill>
                </a:ln>
              </p:spPr>
            </p:sp>
          </p:grpSp>
          <p:sp>
            <p:nvSpPr>
              <p:cNvPr id="67" name="TextBox 67"/>
              <p:cNvSpPr txBox="1"/>
              <p:nvPr/>
            </p:nvSpPr>
            <p:spPr>
              <a:xfrm>
                <a:off x="738188" y="4048839"/>
                <a:ext cx="222225"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地点</a:t>
                </a:r>
              </a:p>
            </p:txBody>
          </p:sp>
          <p:sp>
            <p:nvSpPr>
              <p:cNvPr id="68" name="TextBox 68"/>
              <p:cNvSpPr txBox="1"/>
              <p:nvPr/>
            </p:nvSpPr>
            <p:spPr>
              <a:xfrm>
                <a:off x="738188" y="4225528"/>
                <a:ext cx="688010"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办公地点与合规区域</a:t>
                </a:r>
              </a:p>
            </p:txBody>
          </p:sp>
        </p:grpSp>
        <p:grpSp>
          <p:nvGrpSpPr>
            <p:cNvPr id="78" name="in-device"/>
            <p:cNvGrpSpPr/>
            <p:nvPr/>
          </p:nvGrpSpPr>
          <p:grpSpPr>
            <a:xfrm>
              <a:off x="228600" y="4495800"/>
              <a:ext cx="1676400" cy="533400"/>
              <a:chOff x="228600" y="4495800"/>
              <a:chExt cx="1676400" cy="533400"/>
            </a:xfrm>
          </p:grpSpPr>
          <p:sp>
            <p:nvSpPr>
              <p:cNvPr id="70" name="Rectangle 70"/>
              <p:cNvSpPr/>
              <p:nvPr/>
            </p:nvSpPr>
            <p:spPr>
              <a:xfrm>
                <a:off x="228600" y="4495800"/>
                <a:ext cx="1676400" cy="533400"/>
              </a:xfrm>
              <a:prstGeom prst="roundRect">
                <a:avLst>
                  <a:gd name="adj" fmla="val 14286"/>
                </a:avLst>
              </a:prstGeom>
              <a:solidFill>
                <a:srgbClr val="F4F8EC"/>
              </a:solidFill>
              <a:ln w="9525">
                <a:solidFill>
                  <a:srgbClr val="D9E8C6"/>
                </a:solidFill>
              </a:ln>
            </p:spPr>
          </p:sp>
          <p:sp>
            <p:nvSpPr>
              <p:cNvPr id="71" name="Ellipse 71"/>
              <p:cNvSpPr/>
              <p:nvPr/>
            </p:nvSpPr>
            <p:spPr>
              <a:xfrm>
                <a:off x="342900" y="4610100"/>
                <a:ext cx="304800" cy="304800"/>
              </a:xfrm>
              <a:prstGeom prst="ellipse">
                <a:avLst/>
              </a:prstGeom>
              <a:solidFill>
                <a:srgbClr val="FFFFFF"/>
              </a:solidFill>
              <a:ln w="9525">
                <a:solidFill>
                  <a:srgbClr val="BE776A"/>
                </a:solidFill>
              </a:ln>
            </p:spPr>
          </p:sp>
          <p:grpSp>
            <p:nvGrpSpPr>
              <p:cNvPr id="75" name="Group 75"/>
              <p:cNvGrpSpPr/>
              <p:nvPr/>
            </p:nvGrpSpPr>
            <p:grpSpPr>
              <a:xfrm>
                <a:off x="452438" y="4698206"/>
                <a:ext cx="85725" cy="128588"/>
                <a:chOff x="452438" y="4698206"/>
                <a:chExt cx="85725" cy="128588"/>
              </a:xfrm>
            </p:grpSpPr>
            <p:sp>
              <p:nvSpPr>
                <p:cNvPr id="72" name="Freeform 72"/>
                <p:cNvSpPr/>
                <p:nvPr/>
              </p:nvSpPr>
              <p:spPr>
                <a:xfrm>
                  <a:off x="452438" y="4698206"/>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7C3B2F"/>
                  </a:solidFill>
                </a:ln>
              </p:spPr>
            </p:sp>
            <p:sp>
              <p:nvSpPr>
                <p:cNvPr id="73" name="Freeform 73"/>
                <p:cNvSpPr/>
                <p:nvPr/>
              </p:nvSpPr>
              <p:spPr>
                <a:xfrm>
                  <a:off x="488156" y="4705350"/>
                  <a:ext cx="14288" cy="9525"/>
                </a:xfrm>
                <a:custGeom>
                  <a:avLst/>
                  <a:gdLst/>
                  <a:ahLst/>
                  <a:cxnLst/>
                  <a:rect l="l" t="t" r="r" b="b"/>
                  <a:pathLst>
                    <a:path w="14288" h="9525">
                      <a:moveTo>
                        <a:pt x="0" y="0"/>
                      </a:moveTo>
                      <a:lnTo>
                        <a:pt x="14288" y="0"/>
                      </a:lnTo>
                    </a:path>
                  </a:pathLst>
                </a:custGeom>
                <a:noFill/>
                <a:ln w="14288">
                  <a:solidFill>
                    <a:srgbClr val="7C3B2F"/>
                  </a:solidFill>
                </a:ln>
              </p:spPr>
            </p:sp>
            <p:sp>
              <p:nvSpPr>
                <p:cNvPr id="74" name="Freeform 74"/>
                <p:cNvSpPr/>
                <p:nvPr/>
              </p:nvSpPr>
              <p:spPr>
                <a:xfrm>
                  <a:off x="495300" y="4798219"/>
                  <a:ext cx="9525" cy="9525"/>
                </a:xfrm>
                <a:custGeom>
                  <a:avLst/>
                  <a:gdLst/>
                  <a:ahLst/>
                  <a:cxnLst/>
                  <a:rect l="l" t="t" r="r" b="b"/>
                  <a:pathLst>
                    <a:path w="9525" h="9525">
                      <a:moveTo>
                        <a:pt x="0" y="0"/>
                      </a:moveTo>
                      <a:lnTo>
                        <a:pt x="0" y="71"/>
                      </a:lnTo>
                    </a:path>
                  </a:pathLst>
                </a:custGeom>
                <a:noFill/>
                <a:ln w="14288">
                  <a:solidFill>
                    <a:srgbClr val="7C3B2F"/>
                  </a:solidFill>
                </a:ln>
              </p:spPr>
            </p:sp>
          </p:grpSp>
          <p:sp>
            <p:nvSpPr>
              <p:cNvPr id="76" name="TextBox 76"/>
              <p:cNvSpPr txBox="1"/>
              <p:nvPr/>
            </p:nvSpPr>
            <p:spPr>
              <a:xfrm>
                <a:off x="738188" y="4639389"/>
                <a:ext cx="222225"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设备</a:t>
                </a:r>
              </a:p>
            </p:txBody>
          </p:sp>
          <p:sp>
            <p:nvSpPr>
              <p:cNvPr id="77" name="TextBox 77"/>
              <p:cNvSpPr txBox="1"/>
              <p:nvPr/>
            </p:nvSpPr>
            <p:spPr>
              <a:xfrm>
                <a:off x="738188" y="4816078"/>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终端与安全状态</a:t>
                </a:r>
              </a:p>
            </p:txBody>
          </p:sp>
        </p:grpSp>
      </p:grpSp>
      <p:sp>
        <p:nvSpPr>
          <p:cNvPr id="80" name="in-arrow"/>
          <p:cNvSpPr/>
          <p:nvPr/>
        </p:nvSpPr>
        <p:spPr>
          <a:xfrm>
            <a:off x="1924050" y="2247900"/>
            <a:ext cx="76200" cy="76200"/>
          </a:xfrm>
          <a:custGeom>
            <a:avLst/>
            <a:gdLst/>
            <a:ahLst/>
            <a:cxnLst/>
            <a:rect l="l" t="t" r="r" b="b"/>
            <a:pathLst>
              <a:path w="76200" h="76200">
                <a:moveTo>
                  <a:pt x="0" y="0"/>
                </a:moveTo>
                <a:lnTo>
                  <a:pt x="76200" y="38100"/>
                </a:lnTo>
                <a:lnTo>
                  <a:pt x="0" y="76200"/>
                </a:lnTo>
                <a:close/>
              </a:path>
            </a:pathLst>
          </a:custGeom>
          <a:solidFill>
            <a:srgbClr val="9A4B3C"/>
          </a:solidFill>
          <a:ln>
            <a:noFill/>
          </a:ln>
        </p:spPr>
      </p:sp>
      <p:grpSp>
        <p:nvGrpSpPr>
          <p:cNvPr id="204" name="policy-engine"/>
          <p:cNvGrpSpPr/>
          <p:nvPr/>
        </p:nvGrpSpPr>
        <p:grpSpPr>
          <a:xfrm>
            <a:off x="2019300" y="628650"/>
            <a:ext cx="5334000" cy="4267200"/>
            <a:chOff x="2019300" y="628650"/>
            <a:chExt cx="5334000" cy="4267200"/>
          </a:xfrm>
        </p:grpSpPr>
        <p:sp>
          <p:nvSpPr>
            <p:cNvPr id="81" name="Rectangle 81"/>
            <p:cNvSpPr/>
            <p:nvPr/>
          </p:nvSpPr>
          <p:spPr>
            <a:xfrm>
              <a:off x="2019300" y="628650"/>
              <a:ext cx="5334000" cy="2038350"/>
            </a:xfrm>
            <a:prstGeom prst="roundRect">
              <a:avLst>
                <a:gd name="adj" fmla="val 3738"/>
              </a:avLst>
            </a:prstGeom>
            <a:solidFill>
              <a:srgbClr val="F4F8EC"/>
            </a:solidFill>
            <a:ln w="9525">
              <a:solidFill>
                <a:srgbClr val="D9E8C6"/>
              </a:solidFill>
            </a:ln>
          </p:spPr>
        </p:sp>
        <p:sp>
          <p:nvSpPr>
            <p:cNvPr id="82" name="Rectangle 82"/>
            <p:cNvSpPr/>
            <p:nvPr/>
          </p:nvSpPr>
          <p:spPr>
            <a:xfrm>
              <a:off x="2019300" y="628650"/>
              <a:ext cx="5334000" cy="247650"/>
            </a:xfrm>
            <a:prstGeom prst="roundRect">
              <a:avLst>
                <a:gd name="adj" fmla="val 30769"/>
              </a:avLst>
            </a:prstGeom>
            <a:solidFill>
              <a:srgbClr val="42140B"/>
            </a:solidFill>
            <a:ln>
              <a:noFill/>
            </a:ln>
          </p:spPr>
        </p:sp>
        <p:sp>
          <p:nvSpPr>
            <p:cNvPr id="83" name="Rectangle 83"/>
            <p:cNvSpPr/>
            <p:nvPr/>
          </p:nvSpPr>
          <p:spPr>
            <a:xfrm>
              <a:off x="2019300" y="762000"/>
              <a:ext cx="5334000" cy="114300"/>
            </a:xfrm>
            <a:prstGeom prst="rect">
              <a:avLst/>
            </a:prstGeom>
            <a:solidFill>
              <a:srgbClr val="42140B"/>
            </a:solidFill>
            <a:ln>
              <a:noFill/>
            </a:ln>
          </p:spPr>
        </p:sp>
        <p:sp>
          <p:nvSpPr>
            <p:cNvPr id="84" name="TextBox 84"/>
            <p:cNvSpPr txBox="1"/>
            <p:nvPr/>
          </p:nvSpPr>
          <p:spPr>
            <a:xfrm>
              <a:off x="3772852" y="702945"/>
              <a:ext cx="182689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策略决策引擎（零信任访问控制）</a:t>
              </a:r>
            </a:p>
          </p:txBody>
        </p:sp>
        <p:grpSp>
          <p:nvGrpSpPr>
            <p:cNvPr id="88" name="Group 88"/>
            <p:cNvGrpSpPr/>
            <p:nvPr/>
          </p:nvGrpSpPr>
          <p:grpSpPr>
            <a:xfrm>
              <a:off x="7137400" y="695325"/>
              <a:ext cx="88900" cy="114300"/>
              <a:chOff x="7137400" y="695325"/>
              <a:chExt cx="88900" cy="114300"/>
            </a:xfrm>
          </p:grpSpPr>
          <p:sp>
            <p:nvSpPr>
              <p:cNvPr id="85" name="Freeform 85"/>
              <p:cNvSpPr/>
              <p:nvPr/>
            </p:nvSpPr>
            <p:spPr>
              <a:xfrm>
                <a:off x="7137400" y="746125"/>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FFFFFF"/>
                </a:solidFill>
              </a:ln>
            </p:spPr>
          </p:sp>
          <p:sp>
            <p:nvSpPr>
              <p:cNvPr id="86" name="Freeform 86"/>
              <p:cNvSpPr/>
              <p:nvPr/>
            </p:nvSpPr>
            <p:spPr>
              <a:xfrm>
                <a:off x="7175500" y="771525"/>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87" name="Freeform 87"/>
              <p:cNvSpPr/>
              <p:nvPr/>
            </p:nvSpPr>
            <p:spPr>
              <a:xfrm>
                <a:off x="7156450" y="695325"/>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FFFFFF"/>
                </a:solidFill>
              </a:ln>
            </p:spPr>
          </p:sp>
        </p:grpSp>
        <p:grpSp>
          <p:nvGrpSpPr>
            <p:cNvPr id="98" name="pe-rbac"/>
            <p:cNvGrpSpPr/>
            <p:nvPr/>
          </p:nvGrpSpPr>
          <p:grpSpPr>
            <a:xfrm>
              <a:off x="2133600" y="990600"/>
              <a:ext cx="1162050" cy="876300"/>
              <a:chOff x="2133600" y="990600"/>
              <a:chExt cx="1162050" cy="876300"/>
            </a:xfrm>
          </p:grpSpPr>
          <p:sp>
            <p:nvSpPr>
              <p:cNvPr id="89" name="Rectangle 89"/>
              <p:cNvSpPr/>
              <p:nvPr/>
            </p:nvSpPr>
            <p:spPr>
              <a:xfrm>
                <a:off x="2133600" y="990600"/>
                <a:ext cx="1162050" cy="876300"/>
              </a:xfrm>
              <a:prstGeom prst="roundRect">
                <a:avLst>
                  <a:gd name="adj" fmla="val 8696"/>
                </a:avLst>
              </a:prstGeom>
              <a:solidFill>
                <a:srgbClr val="FFFFFF"/>
              </a:solidFill>
              <a:ln w="9525">
                <a:solidFill>
                  <a:srgbClr val="D9E8C6"/>
                </a:solidFill>
              </a:ln>
            </p:spPr>
          </p:sp>
          <p:sp>
            <p:nvSpPr>
              <p:cNvPr id="90" name="TextBox 90"/>
              <p:cNvSpPr txBox="1"/>
              <p:nvPr/>
            </p:nvSpPr>
            <p:spPr>
              <a:xfrm>
                <a:off x="2526901" y="1077039"/>
                <a:ext cx="375449"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 xml:space="preserve">RBAC　</a:t>
                </a:r>
              </a:p>
            </p:txBody>
          </p:sp>
          <p:grpSp>
            <p:nvGrpSpPr>
              <p:cNvPr id="95" name="Group 95"/>
              <p:cNvGrpSpPr/>
              <p:nvPr/>
            </p:nvGrpSpPr>
            <p:grpSpPr>
              <a:xfrm>
                <a:off x="2636044" y="1264444"/>
                <a:ext cx="157163" cy="157163"/>
                <a:chOff x="2636044" y="1264444"/>
                <a:chExt cx="157163" cy="157163"/>
              </a:xfrm>
            </p:grpSpPr>
            <p:sp>
              <p:nvSpPr>
                <p:cNvPr id="91" name="Freeform 91"/>
                <p:cNvSpPr/>
                <p:nvPr/>
              </p:nvSpPr>
              <p:spPr>
                <a:xfrm>
                  <a:off x="2653506" y="12644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7C3B2F"/>
                  </a:solidFill>
                </a:ln>
              </p:spPr>
            </p:sp>
            <p:sp>
              <p:nvSpPr>
                <p:cNvPr id="92" name="Freeform 92"/>
                <p:cNvSpPr/>
                <p:nvPr/>
              </p:nvSpPr>
              <p:spPr>
                <a:xfrm>
                  <a:off x="2636044" y="13692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7C3B2F"/>
                  </a:solidFill>
                </a:ln>
              </p:spPr>
            </p:sp>
            <p:sp>
              <p:nvSpPr>
                <p:cNvPr id="93" name="Freeform 93"/>
                <p:cNvSpPr/>
                <p:nvPr/>
              </p:nvSpPr>
              <p:spPr>
                <a:xfrm>
                  <a:off x="2749550" y="12655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7C3B2F"/>
                  </a:solidFill>
                </a:ln>
              </p:spPr>
            </p:sp>
            <p:sp>
              <p:nvSpPr>
                <p:cNvPr id="94" name="Freeform 94"/>
                <p:cNvSpPr/>
                <p:nvPr/>
              </p:nvSpPr>
              <p:spPr>
                <a:xfrm>
                  <a:off x="2767013" y="13705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7C3B2F"/>
                  </a:solidFill>
                </a:ln>
              </p:spPr>
            </p:sp>
          </p:grpSp>
          <p:sp>
            <p:nvSpPr>
              <p:cNvPr id="96" name="TextBox 96"/>
              <p:cNvSpPr txBox="1"/>
              <p:nvPr/>
            </p:nvSpPr>
            <p:spPr>
              <a:xfrm>
                <a:off x="2370620" y="1558528"/>
                <a:ext cx="688010" cy="111919"/>
              </a:xfrm>
              <a:prstGeom prst="rect">
                <a:avLst/>
              </a:prstGeom>
              <a:noFill/>
              <a:ln>
                <a:noFill/>
              </a:ln>
            </p:spPr>
            <p:txBody>
              <a:bodyPr wrap="none" lIns="0" tIns="0" rIns="0" bIns="0" anchor="t" anchorCtr="0">
                <a:spAutoFit/>
              </a:bodyPr>
              <a:lstStyle/>
              <a:p>
                <a:pPr algn="ctr"/>
                <a:r>
                  <a:rPr lang="zh-CN" sz="560" dirty="0">
                    <a:solidFill>
                      <a:srgbClr val="3A4238"/>
                    </a:solidFill>
                    <a:latin typeface="+mn-lt"/>
                    <a:ea typeface="+mn-ea"/>
                    <a:cs typeface="+mn-cs"/>
                  </a:rPr>
                  <a:t>基于角色的访问控制</a:t>
                </a:r>
              </a:p>
            </p:txBody>
          </p:sp>
          <p:sp>
            <p:nvSpPr>
              <p:cNvPr id="97" name="TextBox 97"/>
              <p:cNvSpPr txBox="1"/>
              <p:nvPr/>
            </p:nvSpPr>
            <p:spPr>
              <a:xfrm>
                <a:off x="2483701" y="1691878"/>
                <a:ext cx="461848"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最小角色授权</a:t>
                </a:r>
              </a:p>
            </p:txBody>
          </p:sp>
        </p:grpSp>
        <p:sp>
          <p:nvSpPr>
            <p:cNvPr id="99" name="TextBox 99"/>
            <p:cNvSpPr txBox="1"/>
            <p:nvPr/>
          </p:nvSpPr>
          <p:spPr>
            <a:xfrm>
              <a:off x="3309583" y="1356360"/>
              <a:ext cx="105484" cy="234696"/>
            </a:xfrm>
            <a:prstGeom prst="rect">
              <a:avLst/>
            </a:prstGeom>
            <a:noFill/>
            <a:ln>
              <a:noFill/>
            </a:ln>
          </p:spPr>
          <p:txBody>
            <a:bodyPr wrap="none" lIns="0" tIns="0" rIns="0" bIns="0" anchor="t" anchorCtr="0">
              <a:spAutoFit/>
            </a:bodyPr>
            <a:lstStyle/>
            <a:p>
              <a:pPr algn="ctr"/>
              <a:r>
                <a:rPr lang="zh-CN" sz="1200" b="1" dirty="0">
                  <a:solidFill>
                    <a:srgbClr val="7C3B2F"/>
                  </a:solidFill>
                  <a:latin typeface="+mn-lt"/>
                  <a:ea typeface="+mn-ea"/>
                  <a:cs typeface="+mn-cs"/>
                </a:rPr>
                <a:t>+</a:t>
              </a:r>
            </a:p>
          </p:txBody>
        </p:sp>
        <p:grpSp>
          <p:nvGrpSpPr>
            <p:cNvPr id="107" name="pe-abac"/>
            <p:cNvGrpSpPr/>
            <p:nvPr/>
          </p:nvGrpSpPr>
          <p:grpSpPr>
            <a:xfrm>
              <a:off x="3429000" y="990600"/>
              <a:ext cx="1162050" cy="876300"/>
              <a:chOff x="3429000" y="990600"/>
              <a:chExt cx="1162050" cy="876300"/>
            </a:xfrm>
          </p:grpSpPr>
          <p:sp>
            <p:nvSpPr>
              <p:cNvPr id="100" name="Rectangle 100"/>
              <p:cNvSpPr/>
              <p:nvPr/>
            </p:nvSpPr>
            <p:spPr>
              <a:xfrm>
                <a:off x="3429000" y="990600"/>
                <a:ext cx="1162050" cy="876300"/>
              </a:xfrm>
              <a:prstGeom prst="roundRect">
                <a:avLst>
                  <a:gd name="adj" fmla="val 8696"/>
                </a:avLst>
              </a:prstGeom>
              <a:solidFill>
                <a:srgbClr val="FFFFFF"/>
              </a:solidFill>
              <a:ln w="9525">
                <a:solidFill>
                  <a:srgbClr val="D9E8C6"/>
                </a:solidFill>
              </a:ln>
            </p:spPr>
          </p:sp>
          <p:sp>
            <p:nvSpPr>
              <p:cNvPr id="101" name="TextBox 101"/>
              <p:cNvSpPr txBox="1"/>
              <p:nvPr/>
            </p:nvSpPr>
            <p:spPr>
              <a:xfrm>
                <a:off x="3822301" y="1077039"/>
                <a:ext cx="375449"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 xml:space="preserve">ABAC　</a:t>
                </a:r>
              </a:p>
            </p:txBody>
          </p:sp>
          <p:grpSp>
            <p:nvGrpSpPr>
              <p:cNvPr id="104" name="Group 104"/>
              <p:cNvGrpSpPr/>
              <p:nvPr/>
            </p:nvGrpSpPr>
            <p:grpSpPr>
              <a:xfrm>
                <a:off x="3927611" y="1260611"/>
                <a:ext cx="164829" cy="164829"/>
                <a:chOff x="3927611" y="1260611"/>
                <a:chExt cx="164829" cy="164829"/>
              </a:xfrm>
            </p:grpSpPr>
            <p:sp>
              <p:nvSpPr>
                <p:cNvPr id="102" name="Freeform 102"/>
                <p:cNvSpPr/>
                <p:nvPr/>
              </p:nvSpPr>
              <p:spPr>
                <a:xfrm>
                  <a:off x="3927611" y="126061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7C3B2F"/>
                  </a:solidFill>
                </a:ln>
              </p:spPr>
            </p:sp>
            <p:sp>
              <p:nvSpPr>
                <p:cNvPr id="103" name="Freeform 103"/>
                <p:cNvSpPr/>
                <p:nvPr/>
              </p:nvSpPr>
              <p:spPr>
                <a:xfrm>
                  <a:off x="3983831" y="131683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7C3B2F"/>
                  </a:solidFill>
                </a:ln>
              </p:spPr>
            </p:sp>
          </p:grpSp>
          <p:sp>
            <p:nvSpPr>
              <p:cNvPr id="105" name="TextBox 105"/>
              <p:cNvSpPr txBox="1"/>
              <p:nvPr/>
            </p:nvSpPr>
            <p:spPr>
              <a:xfrm>
                <a:off x="3666020" y="1558528"/>
                <a:ext cx="688010" cy="111919"/>
              </a:xfrm>
              <a:prstGeom prst="rect">
                <a:avLst/>
              </a:prstGeom>
              <a:noFill/>
              <a:ln>
                <a:noFill/>
              </a:ln>
            </p:spPr>
            <p:txBody>
              <a:bodyPr wrap="none" lIns="0" tIns="0" rIns="0" bIns="0" anchor="t" anchorCtr="0">
                <a:spAutoFit/>
              </a:bodyPr>
              <a:lstStyle/>
              <a:p>
                <a:pPr algn="ctr"/>
                <a:r>
                  <a:rPr lang="zh-CN" sz="560" dirty="0">
                    <a:solidFill>
                      <a:srgbClr val="3A4238"/>
                    </a:solidFill>
                    <a:latin typeface="+mn-lt"/>
                    <a:ea typeface="+mn-ea"/>
                    <a:cs typeface="+mn-cs"/>
                  </a:rPr>
                  <a:t>基于属性的访问控制</a:t>
                </a:r>
              </a:p>
            </p:txBody>
          </p:sp>
          <p:sp>
            <p:nvSpPr>
              <p:cNvPr id="106" name="TextBox 106"/>
              <p:cNvSpPr txBox="1"/>
              <p:nvPr/>
            </p:nvSpPr>
            <p:spPr>
              <a:xfrm>
                <a:off x="3641519" y="1691878"/>
                <a:ext cx="737011"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身份/资源/环境/操作</a:t>
                </a:r>
              </a:p>
            </p:txBody>
          </p:sp>
        </p:grpSp>
        <p:sp>
          <p:nvSpPr>
            <p:cNvPr id="108" name="TextBox 108"/>
            <p:cNvSpPr txBox="1"/>
            <p:nvPr/>
          </p:nvSpPr>
          <p:spPr>
            <a:xfrm>
              <a:off x="4604983" y="1356360"/>
              <a:ext cx="105484" cy="234696"/>
            </a:xfrm>
            <a:prstGeom prst="rect">
              <a:avLst/>
            </a:prstGeom>
            <a:noFill/>
            <a:ln>
              <a:noFill/>
            </a:ln>
          </p:spPr>
          <p:txBody>
            <a:bodyPr wrap="none" lIns="0" tIns="0" rIns="0" bIns="0" anchor="t" anchorCtr="0">
              <a:spAutoFit/>
            </a:bodyPr>
            <a:lstStyle/>
            <a:p>
              <a:pPr algn="ctr"/>
              <a:r>
                <a:rPr lang="zh-CN" sz="1200" b="1" dirty="0">
                  <a:solidFill>
                    <a:srgbClr val="7C3B2F"/>
                  </a:solidFill>
                  <a:latin typeface="+mn-lt"/>
                  <a:ea typeface="+mn-ea"/>
                  <a:cs typeface="+mn-cs"/>
                </a:rPr>
                <a:t>+</a:t>
              </a:r>
            </a:p>
          </p:txBody>
        </p:sp>
        <p:grpSp>
          <p:nvGrpSpPr>
            <p:cNvPr id="119" name="pe-acl"/>
            <p:cNvGrpSpPr/>
            <p:nvPr/>
          </p:nvGrpSpPr>
          <p:grpSpPr>
            <a:xfrm>
              <a:off x="4724400" y="990600"/>
              <a:ext cx="1162050" cy="876300"/>
              <a:chOff x="4724400" y="990600"/>
              <a:chExt cx="1162050" cy="876300"/>
            </a:xfrm>
          </p:grpSpPr>
          <p:sp>
            <p:nvSpPr>
              <p:cNvPr id="109" name="Rectangle 109"/>
              <p:cNvSpPr/>
              <p:nvPr/>
            </p:nvSpPr>
            <p:spPr>
              <a:xfrm>
                <a:off x="4724400" y="990600"/>
                <a:ext cx="1162050" cy="876300"/>
              </a:xfrm>
              <a:prstGeom prst="roundRect">
                <a:avLst>
                  <a:gd name="adj" fmla="val 8696"/>
                </a:avLst>
              </a:prstGeom>
              <a:solidFill>
                <a:srgbClr val="FFFFFF"/>
              </a:solidFill>
              <a:ln w="9525">
                <a:solidFill>
                  <a:srgbClr val="D9E8C6"/>
                </a:solidFill>
              </a:ln>
            </p:spPr>
          </p:sp>
          <p:sp>
            <p:nvSpPr>
              <p:cNvPr id="110" name="TextBox 110"/>
              <p:cNvSpPr txBox="1"/>
              <p:nvPr/>
            </p:nvSpPr>
            <p:spPr>
              <a:xfrm>
                <a:off x="5026099" y="1077039"/>
                <a:ext cx="558651"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 xml:space="preserve">文档 ACL　</a:t>
                </a:r>
              </a:p>
            </p:txBody>
          </p:sp>
          <p:grpSp>
            <p:nvGrpSpPr>
              <p:cNvPr id="116" name="Group 116"/>
              <p:cNvGrpSpPr/>
              <p:nvPr/>
            </p:nvGrpSpPr>
            <p:grpSpPr>
              <a:xfrm>
                <a:off x="5244306" y="1264444"/>
                <a:ext cx="122238" cy="157163"/>
                <a:chOff x="5244306" y="1264444"/>
                <a:chExt cx="122238" cy="157163"/>
              </a:xfrm>
            </p:grpSpPr>
            <p:sp>
              <p:nvSpPr>
                <p:cNvPr id="111" name="Freeform 111"/>
                <p:cNvSpPr/>
                <p:nvPr/>
              </p:nvSpPr>
              <p:spPr>
                <a:xfrm>
                  <a:off x="5322888" y="12644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7C3B2F"/>
                  </a:solidFill>
                </a:ln>
              </p:spPr>
            </p:sp>
            <p:sp>
              <p:nvSpPr>
                <p:cNvPr id="112" name="Freeform 112"/>
                <p:cNvSpPr/>
                <p:nvPr/>
              </p:nvSpPr>
              <p:spPr>
                <a:xfrm>
                  <a:off x="5244306" y="12644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7C3B2F"/>
                  </a:solidFill>
                </a:ln>
              </p:spPr>
            </p:sp>
            <p:sp>
              <p:nvSpPr>
                <p:cNvPr id="113" name="Freeform 113"/>
                <p:cNvSpPr/>
                <p:nvPr/>
              </p:nvSpPr>
              <p:spPr>
                <a:xfrm>
                  <a:off x="5279231" y="1316831"/>
                  <a:ext cx="9525" cy="9525"/>
                </a:xfrm>
                <a:custGeom>
                  <a:avLst/>
                  <a:gdLst/>
                  <a:ahLst/>
                  <a:cxnLst/>
                  <a:rect l="l" t="t" r="r" b="b"/>
                  <a:pathLst>
                    <a:path w="9525" h="9525">
                      <a:moveTo>
                        <a:pt x="0" y="0"/>
                      </a:moveTo>
                      <a:lnTo>
                        <a:pt x="8731" y="0"/>
                      </a:lnTo>
                    </a:path>
                  </a:pathLst>
                </a:custGeom>
                <a:noFill/>
                <a:ln w="17463">
                  <a:solidFill>
                    <a:srgbClr val="7C3B2F"/>
                  </a:solidFill>
                </a:ln>
              </p:spPr>
            </p:sp>
            <p:sp>
              <p:nvSpPr>
                <p:cNvPr id="114" name="Freeform 114"/>
                <p:cNvSpPr/>
                <p:nvPr/>
              </p:nvSpPr>
              <p:spPr>
                <a:xfrm>
                  <a:off x="5279231" y="1351756"/>
                  <a:ext cx="52388" cy="9525"/>
                </a:xfrm>
                <a:custGeom>
                  <a:avLst/>
                  <a:gdLst/>
                  <a:ahLst/>
                  <a:cxnLst/>
                  <a:rect l="l" t="t" r="r" b="b"/>
                  <a:pathLst>
                    <a:path w="52388" h="9525">
                      <a:moveTo>
                        <a:pt x="0" y="0"/>
                      </a:moveTo>
                      <a:lnTo>
                        <a:pt x="52388" y="0"/>
                      </a:lnTo>
                    </a:path>
                  </a:pathLst>
                </a:custGeom>
                <a:noFill/>
                <a:ln w="17463">
                  <a:solidFill>
                    <a:srgbClr val="7C3B2F"/>
                  </a:solidFill>
                </a:ln>
              </p:spPr>
            </p:sp>
            <p:sp>
              <p:nvSpPr>
                <p:cNvPr id="115" name="Freeform 115"/>
                <p:cNvSpPr/>
                <p:nvPr/>
              </p:nvSpPr>
              <p:spPr>
                <a:xfrm>
                  <a:off x="5279231" y="1386681"/>
                  <a:ext cx="52388" cy="9525"/>
                </a:xfrm>
                <a:custGeom>
                  <a:avLst/>
                  <a:gdLst/>
                  <a:ahLst/>
                  <a:cxnLst/>
                  <a:rect l="l" t="t" r="r" b="b"/>
                  <a:pathLst>
                    <a:path w="52388" h="9525">
                      <a:moveTo>
                        <a:pt x="0" y="0"/>
                      </a:moveTo>
                      <a:lnTo>
                        <a:pt x="52388" y="0"/>
                      </a:lnTo>
                    </a:path>
                  </a:pathLst>
                </a:custGeom>
                <a:noFill/>
                <a:ln w="17463">
                  <a:solidFill>
                    <a:srgbClr val="7C3B2F"/>
                  </a:solidFill>
                </a:ln>
              </p:spPr>
            </p:sp>
          </p:grpSp>
          <p:sp>
            <p:nvSpPr>
              <p:cNvPr id="117" name="TextBox 117"/>
              <p:cNvSpPr txBox="1"/>
              <p:nvPr/>
            </p:nvSpPr>
            <p:spPr>
              <a:xfrm>
                <a:off x="4961420" y="1558528"/>
                <a:ext cx="688010" cy="111919"/>
              </a:xfrm>
              <a:prstGeom prst="rect">
                <a:avLst/>
              </a:prstGeom>
              <a:noFill/>
              <a:ln>
                <a:noFill/>
              </a:ln>
            </p:spPr>
            <p:txBody>
              <a:bodyPr wrap="none" lIns="0" tIns="0" rIns="0" bIns="0" anchor="t" anchorCtr="0">
                <a:spAutoFit/>
              </a:bodyPr>
              <a:lstStyle/>
              <a:p>
                <a:pPr algn="ctr"/>
                <a:r>
                  <a:rPr lang="zh-CN" sz="560" dirty="0">
                    <a:solidFill>
                      <a:srgbClr val="3A4238"/>
                    </a:solidFill>
                    <a:latin typeface="+mn-lt"/>
                    <a:ea typeface="+mn-ea"/>
                    <a:cs typeface="+mn-cs"/>
                  </a:rPr>
                  <a:t>资源级访问权限列表</a:t>
                </a:r>
              </a:p>
            </p:txBody>
          </p:sp>
          <p:sp>
            <p:nvSpPr>
              <p:cNvPr id="118" name="TextBox 118"/>
              <p:cNvSpPr txBox="1"/>
              <p:nvPr/>
            </p:nvSpPr>
            <p:spPr>
              <a:xfrm>
                <a:off x="5036807" y="1691878"/>
                <a:ext cx="537235"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按文档粒度授权</a:t>
                </a:r>
              </a:p>
            </p:txBody>
          </p:sp>
        </p:grpSp>
        <p:sp>
          <p:nvSpPr>
            <p:cNvPr id="120" name="TextBox 120"/>
            <p:cNvSpPr txBox="1"/>
            <p:nvPr/>
          </p:nvSpPr>
          <p:spPr>
            <a:xfrm>
              <a:off x="5900383" y="1356360"/>
              <a:ext cx="105484" cy="234696"/>
            </a:xfrm>
            <a:prstGeom prst="rect">
              <a:avLst/>
            </a:prstGeom>
            <a:noFill/>
            <a:ln>
              <a:noFill/>
            </a:ln>
          </p:spPr>
          <p:txBody>
            <a:bodyPr wrap="none" lIns="0" tIns="0" rIns="0" bIns="0" anchor="t" anchorCtr="0">
              <a:spAutoFit/>
            </a:bodyPr>
            <a:lstStyle/>
            <a:p>
              <a:pPr algn="ctr"/>
              <a:r>
                <a:rPr lang="zh-CN" sz="1200" b="1" dirty="0">
                  <a:solidFill>
                    <a:srgbClr val="7C3B2F"/>
                  </a:solidFill>
                  <a:latin typeface="+mn-lt"/>
                  <a:ea typeface="+mn-ea"/>
                  <a:cs typeface="+mn-cs"/>
                </a:rPr>
                <a:t>+</a:t>
              </a:r>
            </a:p>
          </p:txBody>
        </p:sp>
        <p:grpSp>
          <p:nvGrpSpPr>
            <p:cNvPr id="128" name="pe-mask"/>
            <p:cNvGrpSpPr/>
            <p:nvPr/>
          </p:nvGrpSpPr>
          <p:grpSpPr>
            <a:xfrm>
              <a:off x="6019800" y="990600"/>
              <a:ext cx="1162050" cy="876300"/>
              <a:chOff x="6019800" y="990600"/>
              <a:chExt cx="1162050" cy="876300"/>
            </a:xfrm>
          </p:grpSpPr>
          <p:sp>
            <p:nvSpPr>
              <p:cNvPr id="121" name="Rectangle 121"/>
              <p:cNvSpPr/>
              <p:nvPr/>
            </p:nvSpPr>
            <p:spPr>
              <a:xfrm>
                <a:off x="6019800" y="990600"/>
                <a:ext cx="1162050" cy="876300"/>
              </a:xfrm>
              <a:prstGeom prst="roundRect">
                <a:avLst>
                  <a:gd name="adj" fmla="val 8696"/>
                </a:avLst>
              </a:prstGeom>
              <a:solidFill>
                <a:srgbClr val="FFFFFF"/>
              </a:solidFill>
              <a:ln w="9525">
                <a:solidFill>
                  <a:srgbClr val="D9E8C6"/>
                </a:solidFill>
              </a:ln>
            </p:spPr>
          </p:sp>
          <p:sp>
            <p:nvSpPr>
              <p:cNvPr id="122" name="TextBox 122"/>
              <p:cNvSpPr txBox="1"/>
              <p:nvPr/>
            </p:nvSpPr>
            <p:spPr>
              <a:xfrm>
                <a:off x="6330188" y="1077039"/>
                <a:ext cx="5412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字段级脱敏</a:t>
                </a:r>
              </a:p>
            </p:txBody>
          </p:sp>
          <p:grpSp>
            <p:nvGrpSpPr>
              <p:cNvPr id="125" name="Group 125"/>
              <p:cNvGrpSpPr/>
              <p:nvPr/>
            </p:nvGrpSpPr>
            <p:grpSpPr>
              <a:xfrm>
                <a:off x="6522244" y="1290638"/>
                <a:ext cx="157163" cy="104775"/>
                <a:chOff x="6522244" y="1290638"/>
                <a:chExt cx="157163" cy="104775"/>
              </a:xfrm>
            </p:grpSpPr>
            <p:sp>
              <p:nvSpPr>
                <p:cNvPr id="123" name="Freeform 123"/>
                <p:cNvSpPr/>
                <p:nvPr/>
              </p:nvSpPr>
              <p:spPr>
                <a:xfrm>
                  <a:off x="6583363" y="1325563"/>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C3B2F"/>
                  </a:solidFill>
                </a:ln>
              </p:spPr>
            </p:sp>
            <p:sp>
              <p:nvSpPr>
                <p:cNvPr id="124" name="Freeform 124"/>
                <p:cNvSpPr/>
                <p:nvPr/>
              </p:nvSpPr>
              <p:spPr>
                <a:xfrm>
                  <a:off x="6522244" y="1290638"/>
                  <a:ext cx="157163" cy="104775"/>
                </a:xfrm>
                <a:custGeom>
                  <a:avLst/>
                  <a:gdLst/>
                  <a:ahLst/>
                  <a:cxnLst/>
                  <a:rect l="l" t="t" r="r" b="b"/>
                  <a:pathLst>
                    <a:path w="157163" h="104775">
                      <a:moveTo>
                        <a:pt x="157163" y="52388"/>
                      </a:moveTo>
                      <a:cubicBezTo>
                        <a:pt x="136208" y="87313"/>
                        <a:pt x="110014" y="104775"/>
                        <a:pt x="78581" y="104775"/>
                      </a:cubicBezTo>
                      <a:cubicBezTo>
                        <a:pt x="47149" y="104775"/>
                        <a:pt x="20955" y="87313"/>
                        <a:pt x="0" y="52388"/>
                      </a:cubicBezTo>
                      <a:cubicBezTo>
                        <a:pt x="20955" y="17463"/>
                        <a:pt x="47149" y="0"/>
                        <a:pt x="78581" y="0"/>
                      </a:cubicBezTo>
                      <a:cubicBezTo>
                        <a:pt x="110014" y="0"/>
                        <a:pt x="136208" y="17463"/>
                        <a:pt x="157163" y="52388"/>
                      </a:cubicBezTo>
                    </a:path>
                  </a:pathLst>
                </a:custGeom>
                <a:noFill/>
                <a:ln w="17463">
                  <a:solidFill>
                    <a:srgbClr val="7C3B2F"/>
                  </a:solidFill>
                </a:ln>
              </p:spPr>
            </p:sp>
          </p:grpSp>
          <p:sp>
            <p:nvSpPr>
              <p:cNvPr id="126" name="TextBox 126"/>
              <p:cNvSpPr txBox="1"/>
              <p:nvPr/>
            </p:nvSpPr>
            <p:spPr>
              <a:xfrm>
                <a:off x="6294514" y="1558528"/>
                <a:ext cx="612623" cy="111919"/>
              </a:xfrm>
              <a:prstGeom prst="rect">
                <a:avLst/>
              </a:prstGeom>
              <a:noFill/>
              <a:ln>
                <a:noFill/>
              </a:ln>
            </p:spPr>
            <p:txBody>
              <a:bodyPr wrap="none" lIns="0" tIns="0" rIns="0" bIns="0" anchor="t" anchorCtr="0">
                <a:spAutoFit/>
              </a:bodyPr>
              <a:lstStyle/>
              <a:p>
                <a:pPr algn="ctr"/>
                <a:r>
                  <a:rPr lang="zh-CN" sz="560" dirty="0">
                    <a:solidFill>
                      <a:srgbClr val="3A4238"/>
                    </a:solidFill>
                    <a:latin typeface="+mn-lt"/>
                    <a:ea typeface="+mn-ea"/>
                    <a:cs typeface="+mn-cs"/>
                  </a:rPr>
                  <a:t>字段级权限与脱敏</a:t>
                </a:r>
              </a:p>
            </p:txBody>
          </p:sp>
          <p:sp>
            <p:nvSpPr>
              <p:cNvPr id="127" name="TextBox 127"/>
              <p:cNvSpPr txBox="1"/>
              <p:nvPr/>
            </p:nvSpPr>
            <p:spPr>
              <a:xfrm>
                <a:off x="6294514" y="1691878"/>
                <a:ext cx="612623"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动态屏蔽敏感字段</a:t>
                </a:r>
              </a:p>
            </p:txBody>
          </p:sp>
        </p:grpSp>
        <p:sp>
          <p:nvSpPr>
            <p:cNvPr id="129" name="Polygon 129"/>
            <p:cNvSpPr/>
            <p:nvPr/>
          </p:nvSpPr>
          <p:spPr>
            <a:xfrm>
              <a:off x="4629150" y="1905000"/>
              <a:ext cx="114300" cy="76200"/>
            </a:xfrm>
            <a:custGeom>
              <a:avLst/>
              <a:gdLst/>
              <a:ahLst/>
              <a:cxnLst/>
              <a:rect l="l" t="t" r="r" b="b"/>
              <a:pathLst>
                <a:path w="114300" h="76200">
                  <a:moveTo>
                    <a:pt x="0" y="0"/>
                  </a:moveTo>
                  <a:lnTo>
                    <a:pt x="114300" y="0"/>
                  </a:lnTo>
                  <a:lnTo>
                    <a:pt x="57150" y="76200"/>
                  </a:lnTo>
                  <a:close/>
                </a:path>
              </a:pathLst>
            </a:custGeom>
            <a:solidFill>
              <a:srgbClr val="9A4B3C"/>
            </a:solidFill>
            <a:ln>
              <a:noFill/>
            </a:ln>
          </p:spPr>
        </p:sp>
        <p:grpSp>
          <p:nvGrpSpPr>
            <p:cNvPr id="136" name="pe-decision"/>
            <p:cNvGrpSpPr/>
            <p:nvPr/>
          </p:nvGrpSpPr>
          <p:grpSpPr>
            <a:xfrm>
              <a:off x="3543300" y="2019300"/>
              <a:ext cx="2286000" cy="533400"/>
              <a:chOff x="3543300" y="2019300"/>
              <a:chExt cx="2286000" cy="533400"/>
            </a:xfrm>
          </p:grpSpPr>
          <p:sp>
            <p:nvSpPr>
              <p:cNvPr id="130" name="Rectangle 130"/>
              <p:cNvSpPr/>
              <p:nvPr/>
            </p:nvSpPr>
            <p:spPr>
              <a:xfrm>
                <a:off x="3543300" y="2019300"/>
                <a:ext cx="2286000" cy="533400"/>
              </a:xfrm>
              <a:prstGeom prst="roundRect">
                <a:avLst>
                  <a:gd name="adj" fmla="val 14286"/>
                </a:avLst>
              </a:prstGeom>
              <a:solidFill>
                <a:srgbClr val="FFFFFF"/>
              </a:solidFill>
              <a:ln w="14288">
                <a:solidFill>
                  <a:srgbClr val="BE776A"/>
                </a:solidFill>
              </a:ln>
            </p:spPr>
          </p:sp>
          <p:grpSp>
            <p:nvGrpSpPr>
              <p:cNvPr id="133" name="Group 133"/>
              <p:cNvGrpSpPr/>
              <p:nvPr/>
            </p:nvGrpSpPr>
            <p:grpSpPr>
              <a:xfrm>
                <a:off x="3692371" y="2200275"/>
                <a:ext cx="186006" cy="171450"/>
                <a:chOff x="3692371" y="2200275"/>
                <a:chExt cx="186006" cy="171450"/>
              </a:xfrm>
            </p:grpSpPr>
            <p:sp>
              <p:nvSpPr>
                <p:cNvPr id="131" name="Freeform 131"/>
                <p:cNvSpPr/>
                <p:nvPr/>
              </p:nvSpPr>
              <p:spPr>
                <a:xfrm>
                  <a:off x="3692371" y="22002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7C3B2F"/>
                  </a:solidFill>
                </a:ln>
              </p:spPr>
            </p:sp>
            <p:sp>
              <p:nvSpPr>
                <p:cNvPr id="132" name="Freeform 132"/>
                <p:cNvSpPr/>
                <p:nvPr/>
              </p:nvSpPr>
              <p:spPr>
                <a:xfrm>
                  <a:off x="3819525" y="2333625"/>
                  <a:ext cx="57150" cy="38100"/>
                </a:xfrm>
                <a:custGeom>
                  <a:avLst/>
                  <a:gdLst/>
                  <a:ahLst/>
                  <a:cxnLst/>
                  <a:rect l="l" t="t" r="r" b="b"/>
                  <a:pathLst>
                    <a:path w="57150" h="38100">
                      <a:moveTo>
                        <a:pt x="0" y="19050"/>
                      </a:moveTo>
                      <a:lnTo>
                        <a:pt x="19050" y="38100"/>
                      </a:lnTo>
                      <a:lnTo>
                        <a:pt x="57150" y="0"/>
                      </a:lnTo>
                    </a:path>
                  </a:pathLst>
                </a:custGeom>
                <a:noFill/>
                <a:ln w="19050">
                  <a:solidFill>
                    <a:srgbClr val="7C3B2F"/>
                  </a:solidFill>
                </a:ln>
              </p:spPr>
            </p:sp>
          </p:grpSp>
          <p:sp>
            <p:nvSpPr>
              <p:cNvPr id="134" name="TextBox 134"/>
              <p:cNvSpPr txBox="1"/>
              <p:nvPr/>
            </p:nvSpPr>
            <p:spPr>
              <a:xfrm>
                <a:off x="4014788" y="21357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策略决策</a:t>
                </a:r>
              </a:p>
            </p:txBody>
          </p:sp>
          <p:sp>
            <p:nvSpPr>
              <p:cNvPr id="135" name="TextBox 135"/>
              <p:cNvSpPr txBox="1"/>
              <p:nvPr/>
            </p:nvSpPr>
            <p:spPr>
              <a:xfrm>
                <a:off x="4014788" y="2335530"/>
                <a:ext cx="1515923"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允许访问的范围（文档/字段/操作/时效）</a:t>
                </a:r>
              </a:p>
            </p:txBody>
          </p:sp>
        </p:grpSp>
        <p:sp>
          <p:nvSpPr>
            <p:cNvPr id="137" name="Polygon 137"/>
            <p:cNvSpPr/>
            <p:nvPr/>
          </p:nvSpPr>
          <p:spPr>
            <a:xfrm>
              <a:off x="4629150" y="2705100"/>
              <a:ext cx="114300" cy="95250"/>
            </a:xfrm>
            <a:custGeom>
              <a:avLst/>
              <a:gdLst/>
              <a:ahLst/>
              <a:cxnLst/>
              <a:rect l="l" t="t" r="r" b="b"/>
              <a:pathLst>
                <a:path w="114300" h="95250">
                  <a:moveTo>
                    <a:pt x="0" y="0"/>
                  </a:moveTo>
                  <a:lnTo>
                    <a:pt x="114300" y="0"/>
                  </a:lnTo>
                  <a:lnTo>
                    <a:pt x="57150" y="95250"/>
                  </a:lnTo>
                  <a:close/>
                </a:path>
              </a:pathLst>
            </a:custGeom>
            <a:solidFill>
              <a:srgbClr val="9A4B3C"/>
            </a:solidFill>
            <a:ln>
              <a:noFill/>
            </a:ln>
          </p:spPr>
        </p:sp>
        <p:grpSp>
          <p:nvGrpSpPr>
            <p:cNvPr id="145" name="flow-prefilter"/>
            <p:cNvGrpSpPr/>
            <p:nvPr/>
          </p:nvGrpSpPr>
          <p:grpSpPr>
            <a:xfrm>
              <a:off x="2019300" y="2819400"/>
              <a:ext cx="1028700" cy="1600200"/>
              <a:chOff x="2019300" y="2819400"/>
              <a:chExt cx="1028700" cy="1600200"/>
            </a:xfrm>
          </p:grpSpPr>
          <p:sp>
            <p:nvSpPr>
              <p:cNvPr id="138" name="Rectangle 138"/>
              <p:cNvSpPr/>
              <p:nvPr/>
            </p:nvSpPr>
            <p:spPr>
              <a:xfrm>
                <a:off x="2019300" y="2819400"/>
                <a:ext cx="1028700" cy="1600200"/>
              </a:xfrm>
              <a:prstGeom prst="roundRect">
                <a:avLst>
                  <a:gd name="adj" fmla="val 7407"/>
                </a:avLst>
              </a:prstGeom>
              <a:solidFill>
                <a:srgbClr val="FFFFFF"/>
              </a:solidFill>
              <a:ln w="9525">
                <a:solidFill>
                  <a:srgbClr val="D9E8C6"/>
                </a:solidFill>
              </a:ln>
            </p:spPr>
          </p:sp>
          <p:sp>
            <p:nvSpPr>
              <p:cNvPr id="139" name="TextBox 139"/>
              <p:cNvSpPr txBox="1"/>
              <p:nvPr/>
            </p:nvSpPr>
            <p:spPr>
              <a:xfrm>
                <a:off x="2276475" y="2928938"/>
                <a:ext cx="514350"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检索前过滤</a:t>
                </a:r>
              </a:p>
            </p:txBody>
          </p:sp>
          <p:sp>
            <p:nvSpPr>
              <p:cNvPr id="140" name="Ellipse 140"/>
              <p:cNvSpPr/>
              <p:nvPr/>
            </p:nvSpPr>
            <p:spPr>
              <a:xfrm>
                <a:off x="2381250" y="3124200"/>
                <a:ext cx="304800" cy="304800"/>
              </a:xfrm>
              <a:prstGeom prst="ellipse">
                <a:avLst/>
              </a:prstGeom>
              <a:solidFill>
                <a:srgbClr val="F4F8EC"/>
              </a:solidFill>
              <a:ln w="9525">
                <a:solidFill>
                  <a:srgbClr val="BE776A"/>
                </a:solidFill>
              </a:ln>
            </p:spPr>
          </p:sp>
          <p:sp>
            <p:nvSpPr>
              <p:cNvPr id="141" name="Freeform 141"/>
              <p:cNvSpPr/>
              <p:nvPr/>
            </p:nvSpPr>
            <p:spPr>
              <a:xfrm>
                <a:off x="2476500" y="3219450"/>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7C3B2F"/>
                </a:solidFill>
              </a:ln>
            </p:spPr>
          </p:sp>
          <p:sp>
            <p:nvSpPr>
              <p:cNvPr id="142" name="TextBox 142"/>
              <p:cNvSpPr txBox="1"/>
              <p:nvPr/>
            </p:nvSpPr>
            <p:spPr>
              <a:xfrm>
                <a:off x="2090738" y="359687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基于策略裁剪索引</a:t>
                </a:r>
              </a:p>
            </p:txBody>
          </p:sp>
          <p:sp>
            <p:nvSpPr>
              <p:cNvPr id="143" name="TextBox 143"/>
              <p:cNvSpPr txBox="1"/>
              <p:nvPr/>
            </p:nvSpPr>
            <p:spPr>
              <a:xfrm>
                <a:off x="2090738" y="37683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过滤无权文档与字段</a:t>
                </a:r>
              </a:p>
            </p:txBody>
          </p:sp>
          <p:sp>
            <p:nvSpPr>
              <p:cNvPr id="144" name="TextBox 144"/>
              <p:cNvSpPr txBox="1"/>
              <p:nvPr/>
            </p:nvSpPr>
            <p:spPr>
              <a:xfrm>
                <a:off x="2090738" y="39397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生成可检索集合</a:t>
                </a:r>
              </a:p>
            </p:txBody>
          </p:sp>
        </p:grpSp>
        <p:sp>
          <p:nvSpPr>
            <p:cNvPr id="146" name="Polygon 146"/>
            <p:cNvSpPr/>
            <p:nvPr/>
          </p:nvSpPr>
          <p:spPr>
            <a:xfrm>
              <a:off x="3048000" y="3581400"/>
              <a:ext cx="57150" cy="76200"/>
            </a:xfrm>
            <a:custGeom>
              <a:avLst/>
              <a:gdLst/>
              <a:ahLst/>
              <a:cxnLst/>
              <a:rect l="l" t="t" r="r" b="b"/>
              <a:pathLst>
                <a:path w="57150" h="76200">
                  <a:moveTo>
                    <a:pt x="0" y="0"/>
                  </a:moveTo>
                  <a:lnTo>
                    <a:pt x="57150" y="38100"/>
                  </a:lnTo>
                  <a:lnTo>
                    <a:pt x="0" y="76200"/>
                  </a:lnTo>
                  <a:close/>
                </a:path>
              </a:pathLst>
            </a:custGeom>
            <a:solidFill>
              <a:srgbClr val="9A4B3C"/>
            </a:solidFill>
            <a:ln>
              <a:noFill/>
            </a:ln>
          </p:spPr>
        </p:sp>
        <p:grpSp>
          <p:nvGrpSpPr>
            <p:cNvPr id="157" name="flow-search"/>
            <p:cNvGrpSpPr/>
            <p:nvPr/>
          </p:nvGrpSpPr>
          <p:grpSpPr>
            <a:xfrm>
              <a:off x="3095625" y="2819400"/>
              <a:ext cx="1028700" cy="1600200"/>
              <a:chOff x="3095625" y="2819400"/>
              <a:chExt cx="1028700" cy="1600200"/>
            </a:xfrm>
          </p:grpSpPr>
          <p:sp>
            <p:nvSpPr>
              <p:cNvPr id="147" name="Rectangle 147"/>
              <p:cNvSpPr/>
              <p:nvPr/>
            </p:nvSpPr>
            <p:spPr>
              <a:xfrm>
                <a:off x="3095625" y="2819400"/>
                <a:ext cx="1028700" cy="1600200"/>
              </a:xfrm>
              <a:prstGeom prst="roundRect">
                <a:avLst>
                  <a:gd name="adj" fmla="val 7407"/>
                </a:avLst>
              </a:prstGeom>
              <a:solidFill>
                <a:srgbClr val="FFFFFF"/>
              </a:solidFill>
              <a:ln w="9525">
                <a:solidFill>
                  <a:srgbClr val="D9E8C6"/>
                </a:solidFill>
              </a:ln>
            </p:spPr>
          </p:sp>
          <p:sp>
            <p:nvSpPr>
              <p:cNvPr id="148" name="TextBox 148"/>
              <p:cNvSpPr txBox="1"/>
              <p:nvPr/>
            </p:nvSpPr>
            <p:spPr>
              <a:xfrm>
                <a:off x="3403282" y="2928938"/>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安全检索</a:t>
                </a:r>
              </a:p>
            </p:txBody>
          </p:sp>
          <p:sp>
            <p:nvSpPr>
              <p:cNvPr id="149" name="Ellipse 149"/>
              <p:cNvSpPr/>
              <p:nvPr/>
            </p:nvSpPr>
            <p:spPr>
              <a:xfrm>
                <a:off x="3457575" y="3124200"/>
                <a:ext cx="304800" cy="304800"/>
              </a:xfrm>
              <a:prstGeom prst="ellipse">
                <a:avLst/>
              </a:prstGeom>
              <a:solidFill>
                <a:srgbClr val="F4F8EC"/>
              </a:solidFill>
              <a:ln w="9525">
                <a:solidFill>
                  <a:srgbClr val="BE776A"/>
                </a:solidFill>
              </a:ln>
            </p:spPr>
          </p:sp>
          <p:grpSp>
            <p:nvGrpSpPr>
              <p:cNvPr id="153" name="Group 153"/>
              <p:cNvGrpSpPr/>
              <p:nvPr/>
            </p:nvGrpSpPr>
            <p:grpSpPr>
              <a:xfrm>
                <a:off x="3552825" y="3212306"/>
                <a:ext cx="114300" cy="128588"/>
                <a:chOff x="3552825" y="3212306"/>
                <a:chExt cx="114300" cy="128588"/>
              </a:xfrm>
            </p:grpSpPr>
            <p:sp>
              <p:nvSpPr>
                <p:cNvPr id="150" name="Freeform 150"/>
                <p:cNvSpPr/>
                <p:nvPr/>
              </p:nvSpPr>
              <p:spPr>
                <a:xfrm>
                  <a:off x="3552825" y="321230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C3B2F"/>
                  </a:solidFill>
                </a:ln>
              </p:spPr>
            </p:sp>
            <p:sp>
              <p:nvSpPr>
                <p:cNvPr id="151" name="Freeform 151"/>
                <p:cNvSpPr/>
                <p:nvPr/>
              </p:nvSpPr>
              <p:spPr>
                <a:xfrm>
                  <a:off x="3552825" y="323373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C3B2F"/>
                  </a:solidFill>
                </a:ln>
              </p:spPr>
            </p:sp>
            <p:sp>
              <p:nvSpPr>
                <p:cNvPr id="152" name="Freeform 152"/>
                <p:cNvSpPr/>
                <p:nvPr/>
              </p:nvSpPr>
              <p:spPr>
                <a:xfrm>
                  <a:off x="3552825" y="327660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C3B2F"/>
                  </a:solidFill>
                </a:ln>
              </p:spPr>
            </p:sp>
          </p:grpSp>
          <p:sp>
            <p:nvSpPr>
              <p:cNvPr id="154" name="TextBox 154"/>
              <p:cNvSpPr txBox="1"/>
              <p:nvPr/>
            </p:nvSpPr>
            <p:spPr>
              <a:xfrm>
                <a:off x="3167062" y="3596878"/>
                <a:ext cx="839597"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仅在可访问集合中检索</a:t>
                </a:r>
              </a:p>
            </p:txBody>
          </p:sp>
          <p:sp>
            <p:nvSpPr>
              <p:cNvPr id="155" name="TextBox 155"/>
              <p:cNvSpPr txBox="1"/>
              <p:nvPr/>
            </p:nvSpPr>
            <p:spPr>
              <a:xfrm>
                <a:off x="3167062" y="3768328"/>
                <a:ext cx="85090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语义检索 + 结构化检索</a:t>
                </a:r>
              </a:p>
            </p:txBody>
          </p:sp>
          <p:sp>
            <p:nvSpPr>
              <p:cNvPr id="156" name="TextBox 156"/>
              <p:cNvSpPr txBox="1"/>
              <p:nvPr/>
            </p:nvSpPr>
            <p:spPr>
              <a:xfrm>
                <a:off x="3167062" y="393977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返回受权文档片段</a:t>
                </a:r>
              </a:p>
            </p:txBody>
          </p:sp>
        </p:grpSp>
        <p:sp>
          <p:nvSpPr>
            <p:cNvPr id="158" name="Polygon 158"/>
            <p:cNvSpPr/>
            <p:nvPr/>
          </p:nvSpPr>
          <p:spPr>
            <a:xfrm>
              <a:off x="4124325" y="3581400"/>
              <a:ext cx="57150" cy="76200"/>
            </a:xfrm>
            <a:custGeom>
              <a:avLst/>
              <a:gdLst/>
              <a:ahLst/>
              <a:cxnLst/>
              <a:rect l="l" t="t" r="r" b="b"/>
              <a:pathLst>
                <a:path w="57150" h="76200">
                  <a:moveTo>
                    <a:pt x="0" y="0"/>
                  </a:moveTo>
                  <a:lnTo>
                    <a:pt x="57150" y="38100"/>
                  </a:lnTo>
                  <a:lnTo>
                    <a:pt x="0" y="76200"/>
                  </a:lnTo>
                  <a:close/>
                </a:path>
              </a:pathLst>
            </a:custGeom>
            <a:solidFill>
              <a:srgbClr val="9A4B3C"/>
            </a:solidFill>
            <a:ln>
              <a:noFill/>
            </a:ln>
          </p:spPr>
        </p:sp>
        <p:grpSp>
          <p:nvGrpSpPr>
            <p:cNvPr id="175" name="flow-generate"/>
            <p:cNvGrpSpPr/>
            <p:nvPr/>
          </p:nvGrpSpPr>
          <p:grpSpPr>
            <a:xfrm>
              <a:off x="4171950" y="2819400"/>
              <a:ext cx="1028700" cy="1600200"/>
              <a:chOff x="4171950" y="2819400"/>
              <a:chExt cx="1028700" cy="1600200"/>
            </a:xfrm>
          </p:grpSpPr>
          <p:sp>
            <p:nvSpPr>
              <p:cNvPr id="159" name="Rectangle 159"/>
              <p:cNvSpPr/>
              <p:nvPr/>
            </p:nvSpPr>
            <p:spPr>
              <a:xfrm>
                <a:off x="4171950" y="2819400"/>
                <a:ext cx="1028700" cy="1600200"/>
              </a:xfrm>
              <a:prstGeom prst="roundRect">
                <a:avLst>
                  <a:gd name="adj" fmla="val 7407"/>
                </a:avLst>
              </a:prstGeom>
              <a:solidFill>
                <a:srgbClr val="FFFFFF"/>
              </a:solidFill>
              <a:ln w="9525">
                <a:solidFill>
                  <a:srgbClr val="D9E8C6"/>
                </a:solidFill>
              </a:ln>
            </p:spPr>
          </p:sp>
          <p:sp>
            <p:nvSpPr>
              <p:cNvPr id="160" name="TextBox 160"/>
              <p:cNvSpPr txBox="1"/>
              <p:nvPr/>
            </p:nvSpPr>
            <p:spPr>
              <a:xfrm>
                <a:off x="4224547" y="2928938"/>
                <a:ext cx="923506"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 xml:space="preserve">生成（受控LLM）　</a:t>
                </a:r>
              </a:p>
            </p:txBody>
          </p:sp>
          <p:sp>
            <p:nvSpPr>
              <p:cNvPr id="161" name="Ellipse 161"/>
              <p:cNvSpPr/>
              <p:nvPr/>
            </p:nvSpPr>
            <p:spPr>
              <a:xfrm>
                <a:off x="4533900" y="3124200"/>
                <a:ext cx="304800" cy="304800"/>
              </a:xfrm>
              <a:prstGeom prst="ellipse">
                <a:avLst/>
              </a:prstGeom>
              <a:solidFill>
                <a:srgbClr val="F4F8EC"/>
              </a:solidFill>
              <a:ln w="9525">
                <a:solidFill>
                  <a:srgbClr val="BE776A"/>
                </a:solidFill>
              </a:ln>
            </p:spPr>
          </p:sp>
          <p:grpSp>
            <p:nvGrpSpPr>
              <p:cNvPr id="171" name="Group 171"/>
              <p:cNvGrpSpPr/>
              <p:nvPr/>
            </p:nvGrpSpPr>
            <p:grpSpPr>
              <a:xfrm>
                <a:off x="4636294" y="3205162"/>
                <a:ext cx="100012" cy="135732"/>
                <a:chOff x="4636294" y="3205162"/>
                <a:chExt cx="100012" cy="135732"/>
              </a:xfrm>
            </p:grpSpPr>
            <p:sp>
              <p:nvSpPr>
                <p:cNvPr id="162" name="Freeform 162"/>
                <p:cNvSpPr/>
                <p:nvPr/>
              </p:nvSpPr>
              <p:spPr>
                <a:xfrm>
                  <a:off x="4643438" y="3219450"/>
                  <a:ext cx="85725" cy="57150"/>
                </a:xfrm>
                <a:custGeom>
                  <a:avLst/>
                  <a:gdLst/>
                  <a:ahLst/>
                  <a:cxnLst/>
                  <a:rect l="l" t="t" r="r" b="b"/>
                  <a:pathLst>
                    <a:path w="85725" h="57150">
                      <a:moveTo>
                        <a:pt x="0" y="14288"/>
                      </a:moveTo>
                      <a:cubicBezTo>
                        <a:pt x="0" y="6397"/>
                        <a:pt x="6397" y="0"/>
                        <a:pt x="14288" y="0"/>
                      </a:cubicBezTo>
                      <a:lnTo>
                        <a:pt x="71438" y="0"/>
                      </a:lnTo>
                      <a:cubicBezTo>
                        <a:pt x="79328" y="0"/>
                        <a:pt x="85725" y="6397"/>
                        <a:pt x="85725" y="14288"/>
                      </a:cubicBezTo>
                      <a:lnTo>
                        <a:pt x="85725" y="42862"/>
                      </a:lnTo>
                      <a:cubicBezTo>
                        <a:pt x="85725" y="50753"/>
                        <a:pt x="79328" y="57150"/>
                        <a:pt x="71438" y="57150"/>
                      </a:cubicBezTo>
                      <a:lnTo>
                        <a:pt x="14288" y="57150"/>
                      </a:lnTo>
                      <a:cubicBezTo>
                        <a:pt x="6397" y="57150"/>
                        <a:pt x="0" y="50753"/>
                        <a:pt x="0" y="42862"/>
                      </a:cubicBezTo>
                      <a:lnTo>
                        <a:pt x="0" y="14288"/>
                      </a:lnTo>
                    </a:path>
                  </a:pathLst>
                </a:custGeom>
                <a:noFill/>
                <a:ln w="14288">
                  <a:solidFill>
                    <a:srgbClr val="7C3B2F"/>
                  </a:solidFill>
                </a:ln>
              </p:spPr>
            </p:sp>
            <p:sp>
              <p:nvSpPr>
                <p:cNvPr id="163" name="Freeform 163"/>
                <p:cNvSpPr/>
                <p:nvPr/>
              </p:nvSpPr>
              <p:spPr>
                <a:xfrm>
                  <a:off x="4686300" y="3205162"/>
                  <a:ext cx="9525" cy="14288"/>
                </a:xfrm>
                <a:custGeom>
                  <a:avLst/>
                  <a:gdLst/>
                  <a:ahLst/>
                  <a:cxnLst/>
                  <a:rect l="l" t="t" r="r" b="b"/>
                  <a:pathLst>
                    <a:path w="9525" h="14288">
                      <a:moveTo>
                        <a:pt x="0" y="0"/>
                      </a:moveTo>
                      <a:lnTo>
                        <a:pt x="0" y="14288"/>
                      </a:lnTo>
                    </a:path>
                  </a:pathLst>
                </a:custGeom>
                <a:noFill/>
                <a:ln w="14288">
                  <a:solidFill>
                    <a:srgbClr val="7C3B2F"/>
                  </a:solidFill>
                </a:ln>
              </p:spPr>
            </p:sp>
            <p:sp>
              <p:nvSpPr>
                <p:cNvPr id="164" name="Freeform 164"/>
                <p:cNvSpPr/>
                <p:nvPr/>
              </p:nvSpPr>
              <p:spPr>
                <a:xfrm>
                  <a:off x="4664869" y="3276600"/>
                  <a:ext cx="9525" cy="64294"/>
                </a:xfrm>
                <a:custGeom>
                  <a:avLst/>
                  <a:gdLst/>
                  <a:ahLst/>
                  <a:cxnLst/>
                  <a:rect l="l" t="t" r="r" b="b"/>
                  <a:pathLst>
                    <a:path w="9525" h="64294">
                      <a:moveTo>
                        <a:pt x="0" y="0"/>
                      </a:moveTo>
                      <a:lnTo>
                        <a:pt x="0" y="64294"/>
                      </a:lnTo>
                    </a:path>
                  </a:pathLst>
                </a:custGeom>
                <a:noFill/>
                <a:ln w="14288">
                  <a:solidFill>
                    <a:srgbClr val="7C3B2F"/>
                  </a:solidFill>
                </a:ln>
              </p:spPr>
            </p:sp>
            <p:sp>
              <p:nvSpPr>
                <p:cNvPr id="165" name="Freeform 165"/>
                <p:cNvSpPr/>
                <p:nvPr/>
              </p:nvSpPr>
              <p:spPr>
                <a:xfrm>
                  <a:off x="4707731" y="3276600"/>
                  <a:ext cx="9525" cy="64294"/>
                </a:xfrm>
                <a:custGeom>
                  <a:avLst/>
                  <a:gdLst/>
                  <a:ahLst/>
                  <a:cxnLst/>
                  <a:rect l="l" t="t" r="r" b="b"/>
                  <a:pathLst>
                    <a:path w="9525" h="64294">
                      <a:moveTo>
                        <a:pt x="0" y="0"/>
                      </a:moveTo>
                      <a:lnTo>
                        <a:pt x="0" y="64294"/>
                      </a:lnTo>
                    </a:path>
                  </a:pathLst>
                </a:custGeom>
                <a:noFill/>
                <a:ln w="14288">
                  <a:solidFill>
                    <a:srgbClr val="7C3B2F"/>
                  </a:solidFill>
                </a:ln>
              </p:spPr>
            </p:sp>
            <p:sp>
              <p:nvSpPr>
                <p:cNvPr id="166" name="Freeform 166"/>
                <p:cNvSpPr/>
                <p:nvPr/>
              </p:nvSpPr>
              <p:spPr>
                <a:xfrm>
                  <a:off x="4636294" y="3290888"/>
                  <a:ext cx="28575" cy="14288"/>
                </a:xfrm>
                <a:custGeom>
                  <a:avLst/>
                  <a:gdLst/>
                  <a:ahLst/>
                  <a:cxnLst/>
                  <a:rect l="l" t="t" r="r" b="b"/>
                  <a:pathLst>
                    <a:path w="28575" h="14288">
                      <a:moveTo>
                        <a:pt x="0" y="14288"/>
                      </a:moveTo>
                      <a:lnTo>
                        <a:pt x="28575" y="0"/>
                      </a:lnTo>
                    </a:path>
                  </a:pathLst>
                </a:custGeom>
                <a:noFill/>
                <a:ln w="14288">
                  <a:solidFill>
                    <a:srgbClr val="7C3B2F"/>
                  </a:solidFill>
                </a:ln>
              </p:spPr>
            </p:sp>
            <p:sp>
              <p:nvSpPr>
                <p:cNvPr id="167" name="Freeform 167"/>
                <p:cNvSpPr/>
                <p:nvPr/>
              </p:nvSpPr>
              <p:spPr>
                <a:xfrm>
                  <a:off x="4707731" y="3290888"/>
                  <a:ext cx="28575" cy="14288"/>
                </a:xfrm>
                <a:custGeom>
                  <a:avLst/>
                  <a:gdLst/>
                  <a:ahLst/>
                  <a:cxnLst/>
                  <a:rect l="l" t="t" r="r" b="b"/>
                  <a:pathLst>
                    <a:path w="28575" h="14288">
                      <a:moveTo>
                        <a:pt x="0" y="0"/>
                      </a:moveTo>
                      <a:lnTo>
                        <a:pt x="28575" y="14288"/>
                      </a:lnTo>
                    </a:path>
                  </a:pathLst>
                </a:custGeom>
                <a:noFill/>
                <a:ln w="14288">
                  <a:solidFill>
                    <a:srgbClr val="7C3B2F"/>
                  </a:solidFill>
                </a:ln>
              </p:spPr>
            </p:sp>
            <p:sp>
              <p:nvSpPr>
                <p:cNvPr id="168" name="Freeform 168"/>
                <p:cNvSpPr/>
                <p:nvPr/>
              </p:nvSpPr>
              <p:spPr>
                <a:xfrm>
                  <a:off x="4664869" y="3319462"/>
                  <a:ext cx="42862" cy="9525"/>
                </a:xfrm>
                <a:custGeom>
                  <a:avLst/>
                  <a:gdLst/>
                  <a:ahLst/>
                  <a:cxnLst/>
                  <a:rect l="l" t="t" r="r" b="b"/>
                  <a:pathLst>
                    <a:path w="42862" h="9525">
                      <a:moveTo>
                        <a:pt x="0" y="0"/>
                      </a:moveTo>
                      <a:lnTo>
                        <a:pt x="42862" y="0"/>
                      </a:lnTo>
                    </a:path>
                  </a:pathLst>
                </a:custGeom>
                <a:noFill/>
                <a:ln w="14288">
                  <a:solidFill>
                    <a:srgbClr val="7C3B2F"/>
                  </a:solidFill>
                </a:ln>
              </p:spPr>
            </p:sp>
            <p:sp>
              <p:nvSpPr>
                <p:cNvPr id="169" name="Freeform 169"/>
                <p:cNvSpPr/>
                <p:nvPr/>
              </p:nvSpPr>
              <p:spPr>
                <a:xfrm>
                  <a:off x="4672012" y="3248025"/>
                  <a:ext cx="9525" cy="9525"/>
                </a:xfrm>
                <a:custGeom>
                  <a:avLst/>
                  <a:gdLst/>
                  <a:ahLst/>
                  <a:cxnLst/>
                  <a:rect l="l" t="t" r="r" b="b"/>
                  <a:pathLst>
                    <a:path w="9525" h="9525">
                      <a:moveTo>
                        <a:pt x="0" y="0"/>
                      </a:moveTo>
                      <a:lnTo>
                        <a:pt x="0" y="71"/>
                      </a:lnTo>
                    </a:path>
                  </a:pathLst>
                </a:custGeom>
                <a:noFill/>
                <a:ln w="14288">
                  <a:solidFill>
                    <a:srgbClr val="7C3B2F"/>
                  </a:solidFill>
                </a:ln>
              </p:spPr>
            </p:sp>
            <p:sp>
              <p:nvSpPr>
                <p:cNvPr id="170" name="Freeform 170"/>
                <p:cNvSpPr/>
                <p:nvPr/>
              </p:nvSpPr>
              <p:spPr>
                <a:xfrm>
                  <a:off x="4700588" y="3248025"/>
                  <a:ext cx="9525" cy="9525"/>
                </a:xfrm>
                <a:custGeom>
                  <a:avLst/>
                  <a:gdLst/>
                  <a:ahLst/>
                  <a:cxnLst/>
                  <a:rect l="l" t="t" r="r" b="b"/>
                  <a:pathLst>
                    <a:path w="9525" h="9525">
                      <a:moveTo>
                        <a:pt x="0" y="0"/>
                      </a:moveTo>
                      <a:lnTo>
                        <a:pt x="0" y="71"/>
                      </a:lnTo>
                    </a:path>
                  </a:pathLst>
                </a:custGeom>
                <a:noFill/>
                <a:ln w="14288">
                  <a:solidFill>
                    <a:srgbClr val="7C3B2F"/>
                  </a:solidFill>
                </a:ln>
              </p:spPr>
            </p:sp>
          </p:grpSp>
          <p:sp>
            <p:nvSpPr>
              <p:cNvPr id="172" name="TextBox 172"/>
              <p:cNvSpPr txBox="1"/>
              <p:nvPr/>
            </p:nvSpPr>
            <p:spPr>
              <a:xfrm>
                <a:off x="4243388" y="35968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输入受控上下文</a:t>
                </a:r>
              </a:p>
            </p:txBody>
          </p:sp>
          <p:sp>
            <p:nvSpPr>
              <p:cNvPr id="173" name="TextBox 173"/>
              <p:cNvSpPr txBox="1"/>
              <p:nvPr/>
            </p:nvSpPr>
            <p:spPr>
              <a:xfrm>
                <a:off x="4243388" y="376832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系统指令约束输出</a:t>
                </a:r>
              </a:p>
            </p:txBody>
          </p:sp>
          <p:sp>
            <p:nvSpPr>
              <p:cNvPr id="174" name="TextBox 174"/>
              <p:cNvSpPr txBox="1"/>
              <p:nvPr/>
            </p:nvSpPr>
            <p:spPr>
              <a:xfrm>
                <a:off x="4243388" y="393977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禁止臆测与越权回答</a:t>
                </a:r>
              </a:p>
            </p:txBody>
          </p:sp>
        </p:grpSp>
        <p:sp>
          <p:nvSpPr>
            <p:cNvPr id="176" name="Polygon 176"/>
            <p:cNvSpPr/>
            <p:nvPr/>
          </p:nvSpPr>
          <p:spPr>
            <a:xfrm>
              <a:off x="5200650" y="3581400"/>
              <a:ext cx="57150" cy="76200"/>
            </a:xfrm>
            <a:custGeom>
              <a:avLst/>
              <a:gdLst/>
              <a:ahLst/>
              <a:cxnLst/>
              <a:rect l="l" t="t" r="r" b="b"/>
              <a:pathLst>
                <a:path w="57150" h="76200">
                  <a:moveTo>
                    <a:pt x="0" y="0"/>
                  </a:moveTo>
                  <a:lnTo>
                    <a:pt x="57150" y="38100"/>
                  </a:lnTo>
                  <a:lnTo>
                    <a:pt x="0" y="76200"/>
                  </a:lnTo>
                  <a:close/>
                </a:path>
              </a:pathLst>
            </a:custGeom>
            <a:solidFill>
              <a:srgbClr val="9A4B3C"/>
            </a:solidFill>
            <a:ln>
              <a:noFill/>
            </a:ln>
          </p:spPr>
        </p:sp>
        <p:grpSp>
          <p:nvGrpSpPr>
            <p:cNvPr id="186" name="flow-outfilter"/>
            <p:cNvGrpSpPr/>
            <p:nvPr/>
          </p:nvGrpSpPr>
          <p:grpSpPr>
            <a:xfrm>
              <a:off x="5248275" y="2819400"/>
              <a:ext cx="1028700" cy="1600200"/>
              <a:chOff x="5248275" y="2819400"/>
              <a:chExt cx="1028700" cy="1600200"/>
            </a:xfrm>
          </p:grpSpPr>
          <p:sp>
            <p:nvSpPr>
              <p:cNvPr id="177" name="Rectangle 177"/>
              <p:cNvSpPr/>
              <p:nvPr/>
            </p:nvSpPr>
            <p:spPr>
              <a:xfrm>
                <a:off x="5248275" y="2819400"/>
                <a:ext cx="1028700" cy="1600200"/>
              </a:xfrm>
              <a:prstGeom prst="roundRect">
                <a:avLst>
                  <a:gd name="adj" fmla="val 7407"/>
                </a:avLst>
              </a:prstGeom>
              <a:solidFill>
                <a:srgbClr val="FFFFFF"/>
              </a:solidFill>
              <a:ln w="9525">
                <a:solidFill>
                  <a:srgbClr val="D9E8C6"/>
                </a:solidFill>
              </a:ln>
            </p:spPr>
          </p:sp>
          <p:sp>
            <p:nvSpPr>
              <p:cNvPr id="178" name="TextBox 178"/>
              <p:cNvSpPr txBox="1"/>
              <p:nvPr/>
            </p:nvSpPr>
            <p:spPr>
              <a:xfrm>
                <a:off x="5555932" y="2928938"/>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输出过滤</a:t>
                </a:r>
              </a:p>
            </p:txBody>
          </p:sp>
          <p:sp>
            <p:nvSpPr>
              <p:cNvPr id="179" name="Ellipse 179"/>
              <p:cNvSpPr/>
              <p:nvPr/>
            </p:nvSpPr>
            <p:spPr>
              <a:xfrm>
                <a:off x="5610225" y="3124200"/>
                <a:ext cx="304800" cy="304800"/>
              </a:xfrm>
              <a:prstGeom prst="ellipse">
                <a:avLst/>
              </a:prstGeom>
              <a:solidFill>
                <a:srgbClr val="F4F8EC"/>
              </a:solidFill>
              <a:ln w="9525">
                <a:solidFill>
                  <a:srgbClr val="BE776A"/>
                </a:solidFill>
              </a:ln>
            </p:spPr>
          </p:sp>
          <p:grpSp>
            <p:nvGrpSpPr>
              <p:cNvPr id="182" name="Group 182"/>
              <p:cNvGrpSpPr/>
              <p:nvPr/>
            </p:nvGrpSpPr>
            <p:grpSpPr>
              <a:xfrm>
                <a:off x="5688690" y="3212306"/>
                <a:ext cx="139505" cy="128588"/>
                <a:chOff x="5688690" y="3212306"/>
                <a:chExt cx="139505" cy="128588"/>
              </a:xfrm>
            </p:grpSpPr>
            <p:sp>
              <p:nvSpPr>
                <p:cNvPr id="180" name="Freeform 180"/>
                <p:cNvSpPr/>
                <p:nvPr/>
              </p:nvSpPr>
              <p:spPr>
                <a:xfrm>
                  <a:off x="5688690" y="321230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7C3B2F"/>
                  </a:solidFill>
                </a:ln>
              </p:spPr>
            </p:sp>
            <p:sp>
              <p:nvSpPr>
                <p:cNvPr id="181" name="Freeform 181"/>
                <p:cNvSpPr/>
                <p:nvPr/>
              </p:nvSpPr>
              <p:spPr>
                <a:xfrm>
                  <a:off x="5784056" y="3312319"/>
                  <a:ext cx="42862" cy="28575"/>
                </a:xfrm>
                <a:custGeom>
                  <a:avLst/>
                  <a:gdLst/>
                  <a:ahLst/>
                  <a:cxnLst/>
                  <a:rect l="l" t="t" r="r" b="b"/>
                  <a:pathLst>
                    <a:path w="42862" h="28575">
                      <a:moveTo>
                        <a:pt x="0" y="14288"/>
                      </a:moveTo>
                      <a:lnTo>
                        <a:pt x="14288" y="28575"/>
                      </a:lnTo>
                      <a:lnTo>
                        <a:pt x="42862" y="0"/>
                      </a:lnTo>
                    </a:path>
                  </a:pathLst>
                </a:custGeom>
                <a:noFill/>
                <a:ln w="14288">
                  <a:solidFill>
                    <a:srgbClr val="7C3B2F"/>
                  </a:solidFill>
                </a:ln>
              </p:spPr>
            </p:sp>
          </p:grpSp>
          <p:sp>
            <p:nvSpPr>
              <p:cNvPr id="183" name="TextBox 183"/>
              <p:cNvSpPr txBox="1"/>
              <p:nvPr/>
            </p:nvSpPr>
            <p:spPr>
              <a:xfrm>
                <a:off x="5319712" y="35968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内容安全与脱敏</a:t>
                </a:r>
              </a:p>
            </p:txBody>
          </p:sp>
          <p:sp>
            <p:nvSpPr>
              <p:cNvPr id="184" name="TextBox 184"/>
              <p:cNvSpPr txBox="1"/>
              <p:nvPr/>
            </p:nvSpPr>
            <p:spPr>
              <a:xfrm>
                <a:off x="5319712" y="376832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字段级屏蔽与重写</a:t>
                </a:r>
              </a:p>
            </p:txBody>
          </p:sp>
          <p:sp>
            <p:nvSpPr>
              <p:cNvPr id="185" name="TextBox 185"/>
              <p:cNvSpPr txBox="1"/>
              <p:nvPr/>
            </p:nvSpPr>
            <p:spPr>
              <a:xfrm>
                <a:off x="5319712" y="39397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记录发布与审计</a:t>
                </a:r>
              </a:p>
            </p:txBody>
          </p:sp>
        </p:grpSp>
        <p:sp>
          <p:nvSpPr>
            <p:cNvPr id="187" name="Polygon 187"/>
            <p:cNvSpPr/>
            <p:nvPr/>
          </p:nvSpPr>
          <p:spPr>
            <a:xfrm>
              <a:off x="6276975" y="3581400"/>
              <a:ext cx="57150" cy="76200"/>
            </a:xfrm>
            <a:custGeom>
              <a:avLst/>
              <a:gdLst/>
              <a:ahLst/>
              <a:cxnLst/>
              <a:rect l="l" t="t" r="r" b="b"/>
              <a:pathLst>
                <a:path w="57150" h="76200">
                  <a:moveTo>
                    <a:pt x="0" y="0"/>
                  </a:moveTo>
                  <a:lnTo>
                    <a:pt x="57150" y="38100"/>
                  </a:lnTo>
                  <a:lnTo>
                    <a:pt x="0" y="76200"/>
                  </a:lnTo>
                  <a:close/>
                </a:path>
              </a:pathLst>
            </a:custGeom>
            <a:solidFill>
              <a:srgbClr val="9A4B3C"/>
            </a:solidFill>
            <a:ln>
              <a:noFill/>
            </a:ln>
          </p:spPr>
        </p:sp>
        <p:grpSp>
          <p:nvGrpSpPr>
            <p:cNvPr id="196" name="flow-output"/>
            <p:cNvGrpSpPr/>
            <p:nvPr/>
          </p:nvGrpSpPr>
          <p:grpSpPr>
            <a:xfrm>
              <a:off x="6324600" y="2819400"/>
              <a:ext cx="1028700" cy="1600200"/>
              <a:chOff x="6324600" y="2819400"/>
              <a:chExt cx="1028700" cy="1600200"/>
            </a:xfrm>
          </p:grpSpPr>
          <p:sp>
            <p:nvSpPr>
              <p:cNvPr id="188" name="Rectangle 188"/>
              <p:cNvSpPr/>
              <p:nvPr/>
            </p:nvSpPr>
            <p:spPr>
              <a:xfrm>
                <a:off x="6324600" y="2819400"/>
                <a:ext cx="1028700" cy="1600200"/>
              </a:xfrm>
              <a:prstGeom prst="roundRect">
                <a:avLst>
                  <a:gd name="adj" fmla="val 7407"/>
                </a:avLst>
              </a:prstGeom>
              <a:solidFill>
                <a:srgbClr val="42140B"/>
              </a:solidFill>
              <a:ln>
                <a:noFill/>
              </a:ln>
            </p:spPr>
          </p:sp>
          <p:sp>
            <p:nvSpPr>
              <p:cNvPr id="189" name="TextBox 189"/>
              <p:cNvSpPr txBox="1"/>
              <p:nvPr/>
            </p:nvSpPr>
            <p:spPr>
              <a:xfrm>
                <a:off x="6480810" y="2928938"/>
                <a:ext cx="71628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输出（仅可见）</a:t>
                </a:r>
              </a:p>
            </p:txBody>
          </p:sp>
          <p:sp>
            <p:nvSpPr>
              <p:cNvPr id="190" name="Ellipse 190"/>
              <p:cNvSpPr/>
              <p:nvPr/>
            </p:nvSpPr>
            <p:spPr>
              <a:xfrm>
                <a:off x="6610350" y="3200400"/>
                <a:ext cx="457200" cy="457200"/>
              </a:xfrm>
              <a:prstGeom prst="ellipse">
                <a:avLst/>
              </a:prstGeom>
              <a:solidFill>
                <a:srgbClr val="643228"/>
              </a:solidFill>
              <a:ln>
                <a:noFill/>
              </a:ln>
            </p:spPr>
          </p:sp>
          <p:grpSp>
            <p:nvGrpSpPr>
              <p:cNvPr id="193" name="Group 193"/>
              <p:cNvGrpSpPr/>
              <p:nvPr/>
            </p:nvGrpSpPr>
            <p:grpSpPr>
              <a:xfrm>
                <a:off x="6724650" y="3314700"/>
                <a:ext cx="228599" cy="228599"/>
                <a:chOff x="6724650" y="3314700"/>
                <a:chExt cx="228599" cy="228599"/>
              </a:xfrm>
            </p:grpSpPr>
            <p:sp>
              <p:nvSpPr>
                <p:cNvPr id="191" name="Freeform 191"/>
                <p:cNvSpPr/>
                <p:nvPr/>
              </p:nvSpPr>
              <p:spPr>
                <a:xfrm>
                  <a:off x="6724650" y="331470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FFFFFF"/>
                  </a:solidFill>
                </a:ln>
              </p:spPr>
            </p:sp>
            <p:sp>
              <p:nvSpPr>
                <p:cNvPr id="192" name="Freeform 192"/>
                <p:cNvSpPr/>
                <p:nvPr/>
              </p:nvSpPr>
              <p:spPr>
                <a:xfrm>
                  <a:off x="6800850" y="3403600"/>
                  <a:ext cx="76200" cy="50800"/>
                </a:xfrm>
                <a:custGeom>
                  <a:avLst/>
                  <a:gdLst/>
                  <a:ahLst/>
                  <a:cxnLst/>
                  <a:rect l="l" t="t" r="r" b="b"/>
                  <a:pathLst>
                    <a:path w="76200" h="50800">
                      <a:moveTo>
                        <a:pt x="0" y="25400"/>
                      </a:moveTo>
                      <a:lnTo>
                        <a:pt x="25400" y="50800"/>
                      </a:lnTo>
                      <a:lnTo>
                        <a:pt x="76200" y="0"/>
                      </a:lnTo>
                    </a:path>
                  </a:pathLst>
                </a:custGeom>
                <a:noFill/>
                <a:ln w="25400">
                  <a:solidFill>
                    <a:srgbClr val="FFFFFF"/>
                  </a:solidFill>
                </a:ln>
              </p:spPr>
            </p:sp>
          </p:grpSp>
          <p:sp>
            <p:nvSpPr>
              <p:cNvPr id="194" name="TextBox 194"/>
              <p:cNvSpPr txBox="1"/>
              <p:nvPr/>
            </p:nvSpPr>
            <p:spPr>
              <a:xfrm>
                <a:off x="6551486" y="3859530"/>
                <a:ext cx="574929" cy="119062"/>
              </a:xfrm>
              <a:prstGeom prst="rect">
                <a:avLst/>
              </a:prstGeom>
              <a:noFill/>
              <a:ln>
                <a:noFill/>
              </a:ln>
            </p:spPr>
            <p:txBody>
              <a:bodyPr wrap="none" lIns="0" tIns="0" rIns="0" bIns="0" anchor="t" anchorCtr="0">
                <a:spAutoFit/>
              </a:bodyPr>
              <a:lstStyle/>
              <a:p>
                <a:pPr algn="ctr"/>
                <a:r>
                  <a:rPr lang="zh-CN" sz="600" dirty="0">
                    <a:solidFill>
                      <a:srgbClr val="E4B7AF"/>
                    </a:solidFill>
                    <a:latin typeface="+mn-lt"/>
                    <a:ea typeface="+mn-ea"/>
                    <a:cs typeface="+mn-cs"/>
                  </a:rPr>
                  <a:t>仅包含用户有权</a:t>
                </a:r>
              </a:p>
            </p:txBody>
          </p:sp>
          <p:sp>
            <p:nvSpPr>
              <p:cNvPr id="195" name="TextBox 195"/>
              <p:cNvSpPr txBox="1"/>
              <p:nvPr/>
            </p:nvSpPr>
            <p:spPr>
              <a:xfrm>
                <a:off x="6511100" y="3992880"/>
                <a:ext cx="655701" cy="119062"/>
              </a:xfrm>
              <a:prstGeom prst="rect">
                <a:avLst/>
              </a:prstGeom>
              <a:noFill/>
              <a:ln>
                <a:noFill/>
              </a:ln>
            </p:spPr>
            <p:txBody>
              <a:bodyPr wrap="none" lIns="0" tIns="0" rIns="0" bIns="0" anchor="t" anchorCtr="0">
                <a:spAutoFit/>
              </a:bodyPr>
              <a:lstStyle/>
              <a:p>
                <a:pPr algn="ctr"/>
                <a:r>
                  <a:rPr lang="zh-CN" sz="600" dirty="0">
                    <a:solidFill>
                      <a:srgbClr val="E4B7AF"/>
                    </a:solidFill>
                    <a:latin typeface="+mn-lt"/>
                    <a:ea typeface="+mn-ea"/>
                    <a:cs typeface="+mn-cs"/>
                  </a:rPr>
                  <a:t>看到的知识与字段</a:t>
                </a:r>
              </a:p>
            </p:txBody>
          </p:sp>
        </p:grpSp>
        <p:grpSp>
          <p:nvGrpSpPr>
            <p:cNvPr id="203" name="pe-banner"/>
            <p:cNvGrpSpPr/>
            <p:nvPr/>
          </p:nvGrpSpPr>
          <p:grpSpPr>
            <a:xfrm>
              <a:off x="2019300" y="4629150"/>
              <a:ext cx="5334000" cy="266700"/>
              <a:chOff x="2019300" y="4629150"/>
              <a:chExt cx="5334000" cy="266700"/>
            </a:xfrm>
          </p:grpSpPr>
          <p:sp>
            <p:nvSpPr>
              <p:cNvPr id="197" name="Rectangle 197"/>
              <p:cNvSpPr/>
              <p:nvPr/>
            </p:nvSpPr>
            <p:spPr>
              <a:xfrm>
                <a:off x="2019300" y="4629150"/>
                <a:ext cx="5334000" cy="266700"/>
              </a:xfrm>
              <a:prstGeom prst="roundRect">
                <a:avLst>
                  <a:gd name="adj" fmla="val 50000"/>
                </a:avLst>
              </a:prstGeom>
              <a:solidFill>
                <a:srgbClr val="E7F2D8"/>
              </a:solidFill>
              <a:ln w="9525">
                <a:solidFill>
                  <a:srgbClr val="BE776A"/>
                </a:solidFill>
                <a:custDash>
                  <a:ds d="500000" sp="300000"/>
                </a:custDash>
              </a:ln>
            </p:spPr>
          </p:sp>
          <p:grpSp>
            <p:nvGrpSpPr>
              <p:cNvPr id="201" name="Group 201"/>
              <p:cNvGrpSpPr/>
              <p:nvPr/>
            </p:nvGrpSpPr>
            <p:grpSpPr>
              <a:xfrm>
                <a:off x="2218531" y="4712494"/>
                <a:ext cx="77787" cy="100012"/>
                <a:chOff x="2218531" y="4712494"/>
                <a:chExt cx="77787" cy="100012"/>
              </a:xfrm>
            </p:grpSpPr>
            <p:sp>
              <p:nvSpPr>
                <p:cNvPr id="198" name="Freeform 198"/>
                <p:cNvSpPr/>
                <p:nvPr/>
              </p:nvSpPr>
              <p:spPr>
                <a:xfrm>
                  <a:off x="2218531" y="4756944"/>
                  <a:ext cx="77787" cy="55562"/>
                </a:xfrm>
                <a:custGeom>
                  <a:avLst/>
                  <a:gdLst/>
                  <a:ahLst/>
                  <a:cxnLst/>
                  <a:rect l="l" t="t" r="r" b="b"/>
                  <a:pathLst>
                    <a:path w="77787" h="55562">
                      <a:moveTo>
                        <a:pt x="0" y="11112"/>
                      </a:moveTo>
                      <a:cubicBezTo>
                        <a:pt x="0" y="4975"/>
                        <a:pt x="4975" y="0"/>
                        <a:pt x="11112" y="0"/>
                      </a:cubicBezTo>
                      <a:lnTo>
                        <a:pt x="66675" y="0"/>
                      </a:lnTo>
                      <a:cubicBezTo>
                        <a:pt x="72812" y="0"/>
                        <a:pt x="77787" y="4975"/>
                        <a:pt x="77787" y="11112"/>
                      </a:cubicBezTo>
                      <a:lnTo>
                        <a:pt x="77787" y="44450"/>
                      </a:lnTo>
                      <a:cubicBezTo>
                        <a:pt x="77787" y="50587"/>
                        <a:pt x="72812" y="55562"/>
                        <a:pt x="66675" y="55562"/>
                      </a:cubicBezTo>
                      <a:lnTo>
                        <a:pt x="11112" y="55562"/>
                      </a:lnTo>
                      <a:cubicBezTo>
                        <a:pt x="4975" y="55562"/>
                        <a:pt x="0" y="50587"/>
                        <a:pt x="0" y="44450"/>
                      </a:cubicBezTo>
                      <a:lnTo>
                        <a:pt x="0" y="11112"/>
                      </a:lnTo>
                    </a:path>
                  </a:pathLst>
                </a:custGeom>
                <a:noFill/>
                <a:ln w="11112">
                  <a:solidFill>
                    <a:srgbClr val="7C3B2F"/>
                  </a:solidFill>
                </a:ln>
              </p:spPr>
            </p:sp>
            <p:sp>
              <p:nvSpPr>
                <p:cNvPr id="199" name="Freeform 199"/>
                <p:cNvSpPr/>
                <p:nvPr/>
              </p:nvSpPr>
              <p:spPr>
                <a:xfrm>
                  <a:off x="2251869" y="477916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7C3B2F"/>
                  </a:solidFill>
                </a:ln>
              </p:spPr>
            </p:sp>
            <p:sp>
              <p:nvSpPr>
                <p:cNvPr id="200" name="Freeform 200"/>
                <p:cNvSpPr/>
                <p:nvPr/>
              </p:nvSpPr>
              <p:spPr>
                <a:xfrm>
                  <a:off x="2235200" y="4712494"/>
                  <a:ext cx="44450" cy="44450"/>
                </a:xfrm>
                <a:custGeom>
                  <a:avLst/>
                  <a:gdLst/>
                  <a:ahLst/>
                  <a:cxnLst/>
                  <a:rect l="l" t="t" r="r" b="b"/>
                  <a:pathLst>
                    <a:path w="44450" h="44450">
                      <a:moveTo>
                        <a:pt x="0" y="44450"/>
                      </a:moveTo>
                      <a:lnTo>
                        <a:pt x="0" y="22225"/>
                      </a:lnTo>
                      <a:cubicBezTo>
                        <a:pt x="0" y="9950"/>
                        <a:pt x="9950" y="0"/>
                        <a:pt x="22225" y="0"/>
                      </a:cubicBezTo>
                      <a:cubicBezTo>
                        <a:pt x="34500" y="0"/>
                        <a:pt x="44450" y="9950"/>
                        <a:pt x="44450" y="22225"/>
                      </a:cubicBezTo>
                      <a:lnTo>
                        <a:pt x="44450" y="44450"/>
                      </a:lnTo>
                    </a:path>
                  </a:pathLst>
                </a:custGeom>
                <a:noFill/>
                <a:ln w="11112">
                  <a:solidFill>
                    <a:srgbClr val="7C3B2F"/>
                  </a:solidFill>
                </a:ln>
              </p:spPr>
            </p:sp>
          </p:grpSp>
          <p:sp>
            <p:nvSpPr>
              <p:cNvPr id="202" name="TextBox 202"/>
              <p:cNvSpPr txBox="1"/>
              <p:nvPr/>
            </p:nvSpPr>
            <p:spPr>
              <a:xfrm>
                <a:off x="3448355" y="4733211"/>
                <a:ext cx="2590190"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全链路强制执行：策略在检索前生效，答案仅继承已授权知识</a:t>
                </a:r>
              </a:p>
            </p:txBody>
          </p:sp>
        </p:grpSp>
      </p:grpSp>
      <p:grpSp>
        <p:nvGrpSpPr>
          <p:cNvPr id="261" name="control-table"/>
          <p:cNvGrpSpPr/>
          <p:nvPr/>
        </p:nvGrpSpPr>
        <p:grpSpPr>
          <a:xfrm>
            <a:off x="7467600" y="628650"/>
            <a:ext cx="4495800" cy="4505325"/>
            <a:chOff x="7467600" y="628650"/>
            <a:chExt cx="4495800" cy="4505325"/>
          </a:xfrm>
        </p:grpSpPr>
        <p:sp>
          <p:nvSpPr>
            <p:cNvPr id="205" name="Rectangle 205"/>
            <p:cNvSpPr/>
            <p:nvPr/>
          </p:nvSpPr>
          <p:spPr>
            <a:xfrm>
              <a:off x="7467600" y="628650"/>
              <a:ext cx="4495800" cy="228600"/>
            </a:xfrm>
            <a:prstGeom prst="roundRect">
              <a:avLst>
                <a:gd name="adj" fmla="val 25000"/>
              </a:avLst>
            </a:prstGeom>
            <a:solidFill>
              <a:srgbClr val="42140B"/>
            </a:solidFill>
            <a:ln>
              <a:noFill/>
            </a:ln>
          </p:spPr>
        </p:sp>
        <p:sp>
          <p:nvSpPr>
            <p:cNvPr id="206" name="TextBox 206"/>
            <p:cNvSpPr txBox="1"/>
            <p:nvPr/>
          </p:nvSpPr>
          <p:spPr>
            <a:xfrm>
              <a:off x="9347264" y="693420"/>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关键控制措施</a:t>
              </a:r>
            </a:p>
          </p:txBody>
        </p:sp>
        <p:sp>
          <p:nvSpPr>
            <p:cNvPr id="207" name="Rectangle 207"/>
            <p:cNvSpPr/>
            <p:nvPr/>
          </p:nvSpPr>
          <p:spPr>
            <a:xfrm>
              <a:off x="7467600" y="914400"/>
              <a:ext cx="4495800" cy="209550"/>
            </a:xfrm>
            <a:prstGeom prst="rect">
              <a:avLst/>
            </a:prstGeom>
            <a:solidFill>
              <a:srgbClr val="E7F2D8"/>
            </a:solidFill>
            <a:ln>
              <a:noFill/>
            </a:ln>
          </p:spPr>
        </p:sp>
        <p:sp>
          <p:nvSpPr>
            <p:cNvPr id="208" name="TextBox 208"/>
            <p:cNvSpPr txBox="1"/>
            <p:nvPr/>
          </p:nvSpPr>
          <p:spPr>
            <a:xfrm>
              <a:off x="7795717" y="980361"/>
              <a:ext cx="29626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控制项</a:t>
              </a:r>
            </a:p>
          </p:txBody>
        </p:sp>
        <p:sp>
          <p:nvSpPr>
            <p:cNvPr id="209" name="TextBox 209"/>
            <p:cNvSpPr txBox="1"/>
            <p:nvPr/>
          </p:nvSpPr>
          <p:spPr>
            <a:xfrm>
              <a:off x="9157957" y="980361"/>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目的</a:t>
              </a:r>
            </a:p>
          </p:txBody>
        </p:sp>
        <p:sp>
          <p:nvSpPr>
            <p:cNvPr id="210" name="TextBox 210"/>
            <p:cNvSpPr txBox="1"/>
            <p:nvPr/>
          </p:nvSpPr>
          <p:spPr>
            <a:xfrm>
              <a:off x="10834027" y="980361"/>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关键措施</a:t>
              </a:r>
            </a:p>
          </p:txBody>
        </p:sp>
        <p:grpSp>
          <p:nvGrpSpPr>
            <p:cNvPr id="257" name="ct-rows"/>
            <p:cNvGrpSpPr/>
            <p:nvPr/>
          </p:nvGrpSpPr>
          <p:grpSpPr>
            <a:xfrm>
              <a:off x="7467600" y="1123950"/>
              <a:ext cx="4495800" cy="4000500"/>
              <a:chOff x="7467600" y="1123950"/>
              <a:chExt cx="4495800" cy="4000500"/>
            </a:xfrm>
          </p:grpSpPr>
          <p:sp>
            <p:nvSpPr>
              <p:cNvPr id="211" name="Rectangle 211"/>
              <p:cNvSpPr/>
              <p:nvPr/>
            </p:nvSpPr>
            <p:spPr>
              <a:xfrm>
                <a:off x="7467600" y="1123950"/>
                <a:ext cx="4495800" cy="666750"/>
              </a:xfrm>
              <a:prstGeom prst="rect">
                <a:avLst/>
              </a:prstGeom>
              <a:solidFill>
                <a:srgbClr val="FFFFFF"/>
              </a:solidFill>
              <a:ln>
                <a:noFill/>
              </a:ln>
            </p:spPr>
          </p:sp>
          <p:grpSp>
            <p:nvGrpSpPr>
              <p:cNvPr id="214" name="Group 214"/>
              <p:cNvGrpSpPr/>
              <p:nvPr/>
            </p:nvGrpSpPr>
            <p:grpSpPr>
              <a:xfrm>
                <a:off x="7592380" y="1400175"/>
                <a:ext cx="124004" cy="114300"/>
                <a:chOff x="7592380" y="1400175"/>
                <a:chExt cx="124004" cy="114300"/>
              </a:xfrm>
            </p:grpSpPr>
            <p:sp>
              <p:nvSpPr>
                <p:cNvPr id="212" name="Freeform 212"/>
                <p:cNvSpPr/>
                <p:nvPr/>
              </p:nvSpPr>
              <p:spPr>
                <a:xfrm>
                  <a:off x="7592380" y="1400175"/>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7C3B2F"/>
                  </a:solidFill>
                </a:ln>
              </p:spPr>
            </p:sp>
            <p:sp>
              <p:nvSpPr>
                <p:cNvPr id="213" name="Freeform 213"/>
                <p:cNvSpPr/>
                <p:nvPr/>
              </p:nvSpPr>
              <p:spPr>
                <a:xfrm>
                  <a:off x="7677150" y="1489075"/>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215" name="TextBox 215"/>
              <p:cNvSpPr txBox="1"/>
              <p:nvPr/>
            </p:nvSpPr>
            <p:spPr>
              <a:xfrm>
                <a:off x="7786688" y="141446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最小权限</a:t>
                </a:r>
              </a:p>
            </p:txBody>
          </p:sp>
          <p:sp>
            <p:nvSpPr>
              <p:cNvPr id="216" name="TextBox 216"/>
              <p:cNvSpPr txBox="1"/>
              <p:nvPr/>
            </p:nvSpPr>
            <p:spPr>
              <a:xfrm>
                <a:off x="8472488" y="1348978"/>
                <a:ext cx="57848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仅授予完成</a:t>
                </a:r>
                <a:br/>
                <a:r>
                  <a:rPr lang="zh-CN" sz="560" dirty="0">
                    <a:solidFill>
                      <a:srgbClr val="3A4238"/>
                    </a:solidFill>
                    <a:latin typeface="+mn-lt"/>
                    <a:ea typeface="+mn-ea"/>
                    <a:cs typeface="+mn-cs"/>
                  </a:rPr>
                  <a:t>工作所需最小权限</a:t>
                </a:r>
              </a:p>
            </p:txBody>
          </p:sp>
          <p:sp>
            <p:nvSpPr>
              <p:cNvPr id="217" name="TextBox 217"/>
              <p:cNvSpPr txBox="1"/>
              <p:nvPr/>
            </p:nvSpPr>
            <p:spPr>
              <a:xfrm>
                <a:off x="10148888" y="1348978"/>
                <a:ext cx="64960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细粒度权限控制、</a:t>
                </a:r>
                <a:br/>
                <a:r>
                  <a:rPr lang="zh-CN" sz="560" dirty="0">
                    <a:solidFill>
                      <a:srgbClr val="3A4238"/>
                    </a:solidFill>
                    <a:latin typeface="+mn-lt"/>
                    <a:ea typeface="+mn-ea"/>
                    <a:cs typeface="+mn-cs"/>
                  </a:rPr>
                  <a:t>定期复核、到期回收</a:t>
                </a:r>
              </a:p>
            </p:txBody>
          </p:sp>
          <p:sp>
            <p:nvSpPr>
              <p:cNvPr id="218" name="Rectangle 218"/>
              <p:cNvSpPr/>
              <p:nvPr/>
            </p:nvSpPr>
            <p:spPr>
              <a:xfrm>
                <a:off x="7467600" y="1790700"/>
                <a:ext cx="4495800" cy="666750"/>
              </a:xfrm>
              <a:prstGeom prst="rect">
                <a:avLst/>
              </a:prstGeom>
              <a:solidFill>
                <a:srgbClr val="F4F8EC"/>
              </a:solidFill>
              <a:ln>
                <a:noFill/>
              </a:ln>
            </p:spPr>
          </p:sp>
          <p:grpSp>
            <p:nvGrpSpPr>
              <p:cNvPr id="222" name="Group 222"/>
              <p:cNvGrpSpPr/>
              <p:nvPr/>
            </p:nvGrpSpPr>
            <p:grpSpPr>
              <a:xfrm>
                <a:off x="7613650" y="2066925"/>
                <a:ext cx="88900" cy="114300"/>
                <a:chOff x="7613650" y="2066925"/>
                <a:chExt cx="88900" cy="114300"/>
              </a:xfrm>
            </p:grpSpPr>
            <p:sp>
              <p:nvSpPr>
                <p:cNvPr id="219" name="Freeform 219"/>
                <p:cNvSpPr/>
                <p:nvPr/>
              </p:nvSpPr>
              <p:spPr>
                <a:xfrm>
                  <a:off x="7613650" y="2117725"/>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7C3B2F"/>
                  </a:solidFill>
                </a:ln>
              </p:spPr>
            </p:sp>
            <p:sp>
              <p:nvSpPr>
                <p:cNvPr id="220" name="Freeform 220"/>
                <p:cNvSpPr/>
                <p:nvPr/>
              </p:nvSpPr>
              <p:spPr>
                <a:xfrm>
                  <a:off x="7651750" y="2143125"/>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7C3B2F"/>
                  </a:solidFill>
                </a:ln>
              </p:spPr>
            </p:sp>
            <p:sp>
              <p:nvSpPr>
                <p:cNvPr id="221" name="Freeform 221"/>
                <p:cNvSpPr/>
                <p:nvPr/>
              </p:nvSpPr>
              <p:spPr>
                <a:xfrm>
                  <a:off x="7632700" y="2066925"/>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7C3B2F"/>
                  </a:solidFill>
                </a:ln>
              </p:spPr>
            </p:sp>
          </p:grpSp>
          <p:sp>
            <p:nvSpPr>
              <p:cNvPr id="223" name="TextBox 223"/>
              <p:cNvSpPr txBox="1"/>
              <p:nvPr/>
            </p:nvSpPr>
            <p:spPr>
              <a:xfrm>
                <a:off x="7786688" y="208121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密级继承</a:t>
                </a:r>
              </a:p>
            </p:txBody>
          </p:sp>
          <p:sp>
            <p:nvSpPr>
              <p:cNvPr id="224" name="TextBox 224"/>
              <p:cNvSpPr txBox="1"/>
              <p:nvPr/>
            </p:nvSpPr>
            <p:spPr>
              <a:xfrm>
                <a:off x="8472488" y="2015728"/>
                <a:ext cx="50736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答案密级不高于</a:t>
                </a:r>
                <a:br/>
                <a:r>
                  <a:rPr lang="zh-CN" sz="560" dirty="0">
                    <a:solidFill>
                      <a:srgbClr val="3A4238"/>
                    </a:solidFill>
                    <a:latin typeface="+mn-lt"/>
                    <a:ea typeface="+mn-ea"/>
                    <a:cs typeface="+mn-cs"/>
                  </a:rPr>
                  <a:t>最严格来源</a:t>
                </a:r>
              </a:p>
            </p:txBody>
          </p:sp>
          <p:sp>
            <p:nvSpPr>
              <p:cNvPr id="225" name="TextBox 225"/>
              <p:cNvSpPr txBox="1"/>
              <p:nvPr/>
            </p:nvSpPr>
            <p:spPr>
              <a:xfrm>
                <a:off x="10148888" y="2015728"/>
                <a:ext cx="64960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密级标签、</a:t>
                </a:r>
                <a:br/>
                <a:r>
                  <a:rPr lang="zh-CN" sz="560" dirty="0">
                    <a:solidFill>
                      <a:srgbClr val="3A4238"/>
                    </a:solidFill>
                    <a:latin typeface="+mn-lt"/>
                    <a:ea typeface="+mn-ea"/>
                    <a:cs typeface="+mn-cs"/>
                  </a:rPr>
                  <a:t>向下继承、向上阻断</a:t>
                </a:r>
              </a:p>
            </p:txBody>
          </p:sp>
          <p:sp>
            <p:nvSpPr>
              <p:cNvPr id="226" name="Rectangle 226"/>
              <p:cNvSpPr/>
              <p:nvPr/>
            </p:nvSpPr>
            <p:spPr>
              <a:xfrm>
                <a:off x="7467600" y="2457450"/>
                <a:ext cx="4495800" cy="666750"/>
              </a:xfrm>
              <a:prstGeom prst="rect">
                <a:avLst/>
              </a:prstGeom>
              <a:solidFill>
                <a:srgbClr val="FFFFFF"/>
              </a:solidFill>
              <a:ln>
                <a:noFill/>
              </a:ln>
            </p:spPr>
          </p:sp>
          <p:grpSp>
            <p:nvGrpSpPr>
              <p:cNvPr id="229" name="Group 229"/>
              <p:cNvGrpSpPr/>
              <p:nvPr/>
            </p:nvGrpSpPr>
            <p:grpSpPr>
              <a:xfrm>
                <a:off x="7600950" y="2733675"/>
                <a:ext cx="114300" cy="114300"/>
                <a:chOff x="7600950" y="2733675"/>
                <a:chExt cx="114300" cy="114300"/>
              </a:xfrm>
            </p:grpSpPr>
            <p:sp>
              <p:nvSpPr>
                <p:cNvPr id="227" name="Freeform 227"/>
                <p:cNvSpPr/>
                <p:nvPr/>
              </p:nvSpPr>
              <p:spPr>
                <a:xfrm>
                  <a:off x="7600950" y="273367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C3B2F"/>
                  </a:solidFill>
                </a:ln>
              </p:spPr>
            </p:sp>
            <p:sp>
              <p:nvSpPr>
                <p:cNvPr id="228" name="Freeform 228"/>
                <p:cNvSpPr/>
                <p:nvPr/>
              </p:nvSpPr>
              <p:spPr>
                <a:xfrm>
                  <a:off x="7658100" y="2759075"/>
                  <a:ext cx="19050" cy="50800"/>
                </a:xfrm>
                <a:custGeom>
                  <a:avLst/>
                  <a:gdLst/>
                  <a:ahLst/>
                  <a:cxnLst/>
                  <a:rect l="l" t="t" r="r" b="b"/>
                  <a:pathLst>
                    <a:path w="19050" h="50800">
                      <a:moveTo>
                        <a:pt x="0" y="0"/>
                      </a:moveTo>
                      <a:lnTo>
                        <a:pt x="0" y="31750"/>
                      </a:lnTo>
                      <a:lnTo>
                        <a:pt x="19050" y="50800"/>
                      </a:lnTo>
                    </a:path>
                  </a:pathLst>
                </a:custGeom>
                <a:noFill/>
                <a:ln w="12700">
                  <a:solidFill>
                    <a:srgbClr val="7C3B2F"/>
                  </a:solidFill>
                </a:ln>
              </p:spPr>
            </p:sp>
          </p:grpSp>
          <p:sp>
            <p:nvSpPr>
              <p:cNvPr id="230" name="TextBox 230"/>
              <p:cNvSpPr txBox="1"/>
              <p:nvPr/>
            </p:nvSpPr>
            <p:spPr>
              <a:xfrm>
                <a:off x="7786688" y="274796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临时授权</a:t>
                </a:r>
              </a:p>
            </p:txBody>
          </p:sp>
          <p:sp>
            <p:nvSpPr>
              <p:cNvPr id="231" name="TextBox 231"/>
              <p:cNvSpPr txBox="1"/>
              <p:nvPr/>
            </p:nvSpPr>
            <p:spPr>
              <a:xfrm>
                <a:off x="8472488" y="2682478"/>
                <a:ext cx="50736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按需临时授予，</a:t>
                </a:r>
                <a:br/>
                <a:r>
                  <a:rPr lang="zh-CN" sz="560" dirty="0">
                    <a:solidFill>
                      <a:srgbClr val="3A4238"/>
                    </a:solidFill>
                    <a:latin typeface="+mn-lt"/>
                    <a:ea typeface="+mn-ea"/>
                    <a:cs typeface="+mn-cs"/>
                  </a:rPr>
                  <a:t>到期自动失效</a:t>
                </a:r>
              </a:p>
            </p:txBody>
          </p:sp>
          <p:sp>
            <p:nvSpPr>
              <p:cNvPr id="232" name="TextBox 232"/>
              <p:cNvSpPr txBox="1"/>
              <p:nvPr/>
            </p:nvSpPr>
            <p:spPr>
              <a:xfrm>
                <a:off x="10148888" y="2682478"/>
                <a:ext cx="72072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时效绑定、范围限定、</a:t>
                </a:r>
                <a:br/>
                <a:r>
                  <a:rPr lang="zh-CN" sz="560" dirty="0">
                    <a:solidFill>
                      <a:srgbClr val="3A4238"/>
                    </a:solidFill>
                    <a:latin typeface="+mn-lt"/>
                    <a:ea typeface="+mn-ea"/>
                    <a:cs typeface="+mn-cs"/>
                  </a:rPr>
                  <a:t>自动回收</a:t>
                </a:r>
              </a:p>
            </p:txBody>
          </p:sp>
          <p:sp>
            <p:nvSpPr>
              <p:cNvPr id="233" name="Rectangle 233"/>
              <p:cNvSpPr/>
              <p:nvPr/>
            </p:nvSpPr>
            <p:spPr>
              <a:xfrm>
                <a:off x="7467600" y="3124200"/>
                <a:ext cx="4495800" cy="666750"/>
              </a:xfrm>
              <a:prstGeom prst="rect">
                <a:avLst/>
              </a:prstGeom>
              <a:solidFill>
                <a:srgbClr val="F4F8EC"/>
              </a:solidFill>
              <a:ln>
                <a:noFill/>
              </a:ln>
            </p:spPr>
          </p:sp>
          <p:grpSp>
            <p:nvGrpSpPr>
              <p:cNvPr id="237" name="Group 237"/>
              <p:cNvGrpSpPr/>
              <p:nvPr/>
            </p:nvGrpSpPr>
            <p:grpSpPr>
              <a:xfrm>
                <a:off x="7620000" y="3400425"/>
                <a:ext cx="95250" cy="114300"/>
                <a:chOff x="7620000" y="3400425"/>
                <a:chExt cx="95250" cy="114300"/>
              </a:xfrm>
            </p:grpSpPr>
            <p:sp>
              <p:nvSpPr>
                <p:cNvPr id="234" name="Freeform 234"/>
                <p:cNvSpPr/>
                <p:nvPr/>
              </p:nvSpPr>
              <p:spPr>
                <a:xfrm>
                  <a:off x="7632700" y="34004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C3B2F"/>
                  </a:solidFill>
                </a:ln>
              </p:spPr>
            </p:sp>
            <p:sp>
              <p:nvSpPr>
                <p:cNvPr id="235" name="Freeform 235"/>
                <p:cNvSpPr/>
                <p:nvPr/>
              </p:nvSpPr>
              <p:spPr>
                <a:xfrm>
                  <a:off x="7620000" y="3476625"/>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7C3B2F"/>
                  </a:solidFill>
                </a:ln>
              </p:spPr>
            </p:sp>
            <p:sp>
              <p:nvSpPr>
                <p:cNvPr id="236" name="Freeform 236"/>
                <p:cNvSpPr/>
                <p:nvPr/>
              </p:nvSpPr>
              <p:spPr>
                <a:xfrm>
                  <a:off x="7677150" y="3489325"/>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238" name="TextBox 238"/>
              <p:cNvSpPr txBox="1"/>
              <p:nvPr/>
            </p:nvSpPr>
            <p:spPr>
              <a:xfrm>
                <a:off x="7786688" y="341471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离职回收</a:t>
                </a:r>
              </a:p>
            </p:txBody>
          </p:sp>
          <p:sp>
            <p:nvSpPr>
              <p:cNvPr id="239" name="TextBox 239"/>
              <p:cNvSpPr txBox="1"/>
              <p:nvPr/>
            </p:nvSpPr>
            <p:spPr>
              <a:xfrm>
                <a:off x="8472488" y="3349228"/>
                <a:ext cx="475361"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离职/调岗权限</a:t>
                </a:r>
                <a:br/>
                <a:r>
                  <a:rPr lang="zh-CN" sz="560" dirty="0">
                    <a:solidFill>
                      <a:srgbClr val="3A4238"/>
                    </a:solidFill>
                    <a:latin typeface="+mn-lt"/>
                    <a:ea typeface="+mn-ea"/>
                    <a:cs typeface="+mn-cs"/>
                  </a:rPr>
                  <a:t>立即回收</a:t>
                </a:r>
              </a:p>
            </p:txBody>
          </p:sp>
          <p:sp>
            <p:nvSpPr>
              <p:cNvPr id="240" name="TextBox 240"/>
              <p:cNvSpPr txBox="1"/>
              <p:nvPr/>
            </p:nvSpPr>
            <p:spPr>
              <a:xfrm>
                <a:off x="10148888" y="3349228"/>
                <a:ext cx="50736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身份状态同步、</a:t>
                </a:r>
                <a:br/>
                <a:r>
                  <a:rPr lang="zh-CN" sz="560" dirty="0">
                    <a:solidFill>
                      <a:srgbClr val="3A4238"/>
                    </a:solidFill>
                    <a:latin typeface="+mn-lt"/>
                    <a:ea typeface="+mn-ea"/>
                    <a:cs typeface="+mn-cs"/>
                  </a:rPr>
                  <a:t>权限自动清理</a:t>
                </a:r>
              </a:p>
            </p:txBody>
          </p:sp>
          <p:sp>
            <p:nvSpPr>
              <p:cNvPr id="241" name="Rectangle 241"/>
              <p:cNvSpPr/>
              <p:nvPr/>
            </p:nvSpPr>
            <p:spPr>
              <a:xfrm>
                <a:off x="7467600" y="3790950"/>
                <a:ext cx="4495800" cy="666750"/>
              </a:xfrm>
              <a:prstGeom prst="rect">
                <a:avLst/>
              </a:prstGeom>
              <a:solidFill>
                <a:srgbClr val="FFFFFF"/>
              </a:solidFill>
              <a:ln>
                <a:noFill/>
              </a:ln>
            </p:spPr>
          </p:sp>
          <p:grpSp>
            <p:nvGrpSpPr>
              <p:cNvPr id="246" name="Group 246"/>
              <p:cNvGrpSpPr/>
              <p:nvPr/>
            </p:nvGrpSpPr>
            <p:grpSpPr>
              <a:xfrm>
                <a:off x="7600950" y="4073525"/>
                <a:ext cx="114300" cy="101600"/>
                <a:chOff x="7600950" y="4073525"/>
                <a:chExt cx="114300" cy="101600"/>
              </a:xfrm>
            </p:grpSpPr>
            <p:sp>
              <p:nvSpPr>
                <p:cNvPr id="242" name="Freeform 242"/>
                <p:cNvSpPr/>
                <p:nvPr/>
              </p:nvSpPr>
              <p:spPr>
                <a:xfrm>
                  <a:off x="7600950" y="4092575"/>
                  <a:ext cx="114300" cy="9525"/>
                </a:xfrm>
                <a:custGeom>
                  <a:avLst/>
                  <a:gdLst/>
                  <a:ahLst/>
                  <a:cxnLst/>
                  <a:rect l="l" t="t" r="r" b="b"/>
                  <a:pathLst>
                    <a:path w="114300" h="9525">
                      <a:moveTo>
                        <a:pt x="114300" y="0"/>
                      </a:moveTo>
                      <a:lnTo>
                        <a:pt x="0" y="0"/>
                      </a:lnTo>
                    </a:path>
                  </a:pathLst>
                </a:custGeom>
                <a:noFill/>
                <a:ln w="12700">
                  <a:solidFill>
                    <a:srgbClr val="7C3B2F"/>
                  </a:solidFill>
                </a:ln>
              </p:spPr>
            </p:sp>
            <p:sp>
              <p:nvSpPr>
                <p:cNvPr id="243" name="Freeform 243"/>
                <p:cNvSpPr/>
                <p:nvPr/>
              </p:nvSpPr>
              <p:spPr>
                <a:xfrm>
                  <a:off x="7696200" y="4073525"/>
                  <a:ext cx="19050" cy="38100"/>
                </a:xfrm>
                <a:custGeom>
                  <a:avLst/>
                  <a:gdLst/>
                  <a:ahLst/>
                  <a:cxnLst/>
                  <a:rect l="l" t="t" r="r" b="b"/>
                  <a:pathLst>
                    <a:path w="19050" h="38100">
                      <a:moveTo>
                        <a:pt x="0" y="38100"/>
                      </a:moveTo>
                      <a:lnTo>
                        <a:pt x="19050" y="19050"/>
                      </a:lnTo>
                      <a:lnTo>
                        <a:pt x="0" y="0"/>
                      </a:lnTo>
                    </a:path>
                  </a:pathLst>
                </a:custGeom>
                <a:noFill/>
                <a:ln w="12700">
                  <a:solidFill>
                    <a:srgbClr val="7C3B2F"/>
                  </a:solidFill>
                </a:ln>
              </p:spPr>
            </p:sp>
            <p:sp>
              <p:nvSpPr>
                <p:cNvPr id="244" name="Freeform 244"/>
                <p:cNvSpPr/>
                <p:nvPr/>
              </p:nvSpPr>
              <p:spPr>
                <a:xfrm>
                  <a:off x="7600950" y="4137025"/>
                  <a:ext cx="19050" cy="38100"/>
                </a:xfrm>
                <a:custGeom>
                  <a:avLst/>
                  <a:gdLst/>
                  <a:ahLst/>
                  <a:cxnLst/>
                  <a:rect l="l" t="t" r="r" b="b"/>
                  <a:pathLst>
                    <a:path w="19050" h="38100">
                      <a:moveTo>
                        <a:pt x="19050" y="38100"/>
                      </a:moveTo>
                      <a:lnTo>
                        <a:pt x="0" y="19050"/>
                      </a:lnTo>
                      <a:lnTo>
                        <a:pt x="19050" y="0"/>
                      </a:lnTo>
                    </a:path>
                  </a:pathLst>
                </a:custGeom>
                <a:noFill/>
                <a:ln w="12700">
                  <a:solidFill>
                    <a:srgbClr val="7C3B2F"/>
                  </a:solidFill>
                </a:ln>
              </p:spPr>
            </p:sp>
            <p:sp>
              <p:nvSpPr>
                <p:cNvPr id="245" name="Freeform 245"/>
                <p:cNvSpPr/>
                <p:nvPr/>
              </p:nvSpPr>
              <p:spPr>
                <a:xfrm>
                  <a:off x="7600950" y="4156075"/>
                  <a:ext cx="114300" cy="9525"/>
                </a:xfrm>
                <a:custGeom>
                  <a:avLst/>
                  <a:gdLst/>
                  <a:ahLst/>
                  <a:cxnLst/>
                  <a:rect l="l" t="t" r="r" b="b"/>
                  <a:pathLst>
                    <a:path w="114300" h="9525">
                      <a:moveTo>
                        <a:pt x="0" y="0"/>
                      </a:moveTo>
                      <a:lnTo>
                        <a:pt x="114300" y="0"/>
                      </a:lnTo>
                    </a:path>
                  </a:pathLst>
                </a:custGeom>
                <a:noFill/>
                <a:ln w="12700">
                  <a:solidFill>
                    <a:srgbClr val="7C3B2F"/>
                  </a:solidFill>
                </a:ln>
              </p:spPr>
            </p:sp>
          </p:grpSp>
          <p:sp>
            <p:nvSpPr>
              <p:cNvPr id="247" name="TextBox 247"/>
              <p:cNvSpPr txBox="1"/>
              <p:nvPr/>
            </p:nvSpPr>
            <p:spPr>
              <a:xfrm>
                <a:off x="7786688" y="408146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跨域隔离</a:t>
                </a:r>
              </a:p>
            </p:txBody>
          </p:sp>
          <p:sp>
            <p:nvSpPr>
              <p:cNvPr id="248" name="TextBox 248"/>
              <p:cNvSpPr txBox="1"/>
              <p:nvPr/>
            </p:nvSpPr>
            <p:spPr>
              <a:xfrm>
                <a:off x="8472488" y="4015978"/>
                <a:ext cx="475361"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业务域/数据域</a:t>
                </a:r>
                <a:br/>
                <a:r>
                  <a:rPr lang="zh-CN" sz="560" dirty="0">
                    <a:solidFill>
                      <a:srgbClr val="3A4238"/>
                    </a:solidFill>
                    <a:latin typeface="+mn-lt"/>
                    <a:ea typeface="+mn-ea"/>
                    <a:cs typeface="+mn-cs"/>
                  </a:rPr>
                  <a:t>隔离</a:t>
                </a:r>
              </a:p>
            </p:txBody>
          </p:sp>
          <p:sp>
            <p:nvSpPr>
              <p:cNvPr id="249" name="TextBox 249"/>
              <p:cNvSpPr txBox="1"/>
              <p:nvPr/>
            </p:nvSpPr>
            <p:spPr>
              <a:xfrm>
                <a:off x="10148888" y="4015978"/>
                <a:ext cx="72072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权限阻断、</a:t>
                </a:r>
                <a:br/>
                <a:r>
                  <a:rPr lang="zh-CN" sz="560" dirty="0">
                    <a:solidFill>
                      <a:srgbClr val="3A4238"/>
                    </a:solidFill>
                    <a:latin typeface="+mn-lt"/>
                    <a:ea typeface="+mn-ea"/>
                    <a:cs typeface="+mn-cs"/>
                  </a:rPr>
                  <a:t>白名单访问、网闸控制</a:t>
                </a:r>
              </a:p>
            </p:txBody>
          </p:sp>
          <p:sp>
            <p:nvSpPr>
              <p:cNvPr id="250" name="Rectangle 250"/>
              <p:cNvSpPr/>
              <p:nvPr/>
            </p:nvSpPr>
            <p:spPr>
              <a:xfrm>
                <a:off x="7467600" y="4457700"/>
                <a:ext cx="4495800" cy="666750"/>
              </a:xfrm>
              <a:prstGeom prst="rect">
                <a:avLst/>
              </a:prstGeom>
              <a:solidFill>
                <a:srgbClr val="F4F8EC"/>
              </a:solidFill>
              <a:ln>
                <a:noFill/>
              </a:ln>
            </p:spPr>
          </p:sp>
          <p:grpSp>
            <p:nvGrpSpPr>
              <p:cNvPr id="253" name="Group 253"/>
              <p:cNvGrpSpPr/>
              <p:nvPr/>
            </p:nvGrpSpPr>
            <p:grpSpPr>
              <a:xfrm>
                <a:off x="7600950" y="4752975"/>
                <a:ext cx="114300" cy="76200"/>
                <a:chOff x="7600950" y="4752975"/>
                <a:chExt cx="114300" cy="76200"/>
              </a:xfrm>
            </p:grpSpPr>
            <p:sp>
              <p:nvSpPr>
                <p:cNvPr id="251" name="Freeform 251"/>
                <p:cNvSpPr/>
                <p:nvPr/>
              </p:nvSpPr>
              <p:spPr>
                <a:xfrm>
                  <a:off x="7645400" y="47783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sp>
              <p:nvSpPr>
                <p:cNvPr id="252" name="Freeform 252"/>
                <p:cNvSpPr/>
                <p:nvPr/>
              </p:nvSpPr>
              <p:spPr>
                <a:xfrm>
                  <a:off x="7600950" y="4752975"/>
                  <a:ext cx="114300" cy="76200"/>
                </a:xfrm>
                <a:custGeom>
                  <a:avLst/>
                  <a:gdLst/>
                  <a:ahLst/>
                  <a:cxnLst/>
                  <a:rect l="l" t="t" r="r" b="b"/>
                  <a:pathLst>
                    <a:path w="114300" h="76200">
                      <a:moveTo>
                        <a:pt x="114300" y="38100"/>
                      </a:moveTo>
                      <a:cubicBezTo>
                        <a:pt x="99060" y="63500"/>
                        <a:pt x="80010" y="76200"/>
                        <a:pt x="57150" y="76200"/>
                      </a:cubicBezTo>
                      <a:cubicBezTo>
                        <a:pt x="34290" y="76200"/>
                        <a:pt x="15240" y="63500"/>
                        <a:pt x="0" y="38100"/>
                      </a:cubicBezTo>
                      <a:cubicBezTo>
                        <a:pt x="15240" y="12700"/>
                        <a:pt x="34290" y="0"/>
                        <a:pt x="57150" y="0"/>
                      </a:cubicBezTo>
                      <a:cubicBezTo>
                        <a:pt x="80010" y="0"/>
                        <a:pt x="99060" y="12700"/>
                        <a:pt x="114300" y="38100"/>
                      </a:cubicBezTo>
                    </a:path>
                  </a:pathLst>
                </a:custGeom>
                <a:noFill/>
                <a:ln w="12700">
                  <a:solidFill>
                    <a:srgbClr val="7C3B2F"/>
                  </a:solidFill>
                </a:ln>
              </p:spPr>
            </p:sp>
          </p:grpSp>
          <p:sp>
            <p:nvSpPr>
              <p:cNvPr id="254" name="TextBox 254"/>
              <p:cNvSpPr txBox="1"/>
              <p:nvPr/>
            </p:nvSpPr>
            <p:spPr>
              <a:xfrm>
                <a:off x="7786688" y="4748212"/>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审计追踪</a:t>
                </a:r>
              </a:p>
            </p:txBody>
          </p:sp>
          <p:sp>
            <p:nvSpPr>
              <p:cNvPr id="255" name="TextBox 255"/>
              <p:cNvSpPr txBox="1"/>
              <p:nvPr/>
            </p:nvSpPr>
            <p:spPr>
              <a:xfrm>
                <a:off x="8472488" y="4682728"/>
                <a:ext cx="50736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全链路可审计、</a:t>
                </a:r>
                <a:br/>
                <a:r>
                  <a:rPr lang="zh-CN" sz="560" dirty="0">
                    <a:solidFill>
                      <a:srgbClr val="3A4238"/>
                    </a:solidFill>
                    <a:latin typeface="+mn-lt"/>
                    <a:ea typeface="+mn-ea"/>
                    <a:cs typeface="+mn-cs"/>
                  </a:rPr>
                  <a:t>可追溯</a:t>
                </a:r>
              </a:p>
            </p:txBody>
          </p:sp>
          <p:sp>
            <p:nvSpPr>
              <p:cNvPr id="256" name="TextBox 256"/>
              <p:cNvSpPr txBox="1"/>
              <p:nvPr/>
            </p:nvSpPr>
            <p:spPr>
              <a:xfrm>
                <a:off x="10148888" y="4682728"/>
                <a:ext cx="86296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记录谁、何时、查了什么、</a:t>
                </a:r>
                <a:br/>
                <a:r>
                  <a:rPr lang="zh-CN" sz="560" dirty="0">
                    <a:solidFill>
                      <a:srgbClr val="3A4238"/>
                    </a:solidFill>
                    <a:latin typeface="+mn-lt"/>
                    <a:ea typeface="+mn-ea"/>
                    <a:cs typeface="+mn-cs"/>
                  </a:rPr>
                  <a:t>看了什么、导出了什么</a:t>
                </a:r>
              </a:p>
            </p:txBody>
          </p:sp>
        </p:grpSp>
        <p:sp>
          <p:nvSpPr>
            <p:cNvPr id="258" name="Line 258"/>
            <p:cNvSpPr/>
            <p:nvPr/>
          </p:nvSpPr>
          <p:spPr>
            <a:xfrm>
              <a:off x="8420100" y="914400"/>
              <a:ext cx="9525" cy="4210050"/>
            </a:xfrm>
            <a:custGeom>
              <a:avLst/>
              <a:gdLst/>
              <a:ahLst/>
              <a:cxnLst/>
              <a:rect l="l" t="t" r="r" b="b"/>
              <a:pathLst>
                <a:path w="9525" h="4210050">
                  <a:moveTo>
                    <a:pt x="0" y="0"/>
                  </a:moveTo>
                  <a:lnTo>
                    <a:pt x="0" y="4210050"/>
                  </a:lnTo>
                </a:path>
              </a:pathLst>
            </a:custGeom>
            <a:noFill/>
            <a:ln w="9525">
              <a:solidFill>
                <a:srgbClr val="D9E8C6"/>
              </a:solidFill>
            </a:ln>
          </p:spPr>
        </p:sp>
        <p:sp>
          <p:nvSpPr>
            <p:cNvPr id="259" name="Line 259"/>
            <p:cNvSpPr/>
            <p:nvPr/>
          </p:nvSpPr>
          <p:spPr>
            <a:xfrm>
              <a:off x="10096500" y="914400"/>
              <a:ext cx="9525" cy="4210050"/>
            </a:xfrm>
            <a:custGeom>
              <a:avLst/>
              <a:gdLst/>
              <a:ahLst/>
              <a:cxnLst/>
              <a:rect l="l" t="t" r="r" b="b"/>
              <a:pathLst>
                <a:path w="9525" h="4210050">
                  <a:moveTo>
                    <a:pt x="0" y="0"/>
                  </a:moveTo>
                  <a:lnTo>
                    <a:pt x="0" y="4210050"/>
                  </a:lnTo>
                </a:path>
              </a:pathLst>
            </a:custGeom>
            <a:noFill/>
            <a:ln w="9525">
              <a:solidFill>
                <a:srgbClr val="D9E8C6"/>
              </a:solidFill>
            </a:ln>
          </p:spPr>
        </p:sp>
        <p:sp>
          <p:nvSpPr>
            <p:cNvPr id="260" name="Line 260"/>
            <p:cNvSpPr/>
            <p:nvPr/>
          </p:nvSpPr>
          <p:spPr>
            <a:xfrm>
              <a:off x="7467600" y="5124450"/>
              <a:ext cx="4495800" cy="9525"/>
            </a:xfrm>
            <a:custGeom>
              <a:avLst/>
              <a:gdLst/>
              <a:ahLst/>
              <a:cxnLst/>
              <a:rect l="l" t="t" r="r" b="b"/>
              <a:pathLst>
                <a:path w="4495800" h="9525">
                  <a:moveTo>
                    <a:pt x="0" y="0"/>
                  </a:moveTo>
                  <a:lnTo>
                    <a:pt x="4495800" y="0"/>
                  </a:lnTo>
                </a:path>
              </a:pathLst>
            </a:custGeom>
            <a:noFill/>
            <a:ln w="9525">
              <a:solidFill>
                <a:srgbClr val="D9E8C6"/>
              </a:solidFill>
            </a:ln>
          </p:spPr>
        </p:sp>
      </p:grpSp>
      <p:grpSp>
        <p:nvGrpSpPr>
          <p:cNvPr id="268" name="threat-label"/>
          <p:cNvGrpSpPr/>
          <p:nvPr/>
        </p:nvGrpSpPr>
        <p:grpSpPr>
          <a:xfrm>
            <a:off x="228600" y="5295900"/>
            <a:ext cx="1066800" cy="1371600"/>
            <a:chOff x="228600" y="5295900"/>
            <a:chExt cx="1066800" cy="1371600"/>
          </a:xfrm>
        </p:grpSpPr>
        <p:sp>
          <p:nvSpPr>
            <p:cNvPr id="262" name="Rectangle 262"/>
            <p:cNvSpPr/>
            <p:nvPr/>
          </p:nvSpPr>
          <p:spPr>
            <a:xfrm>
              <a:off x="228600" y="5295900"/>
              <a:ext cx="1066800" cy="1371600"/>
            </a:xfrm>
            <a:prstGeom prst="roundRect">
              <a:avLst>
                <a:gd name="adj" fmla="val 8929"/>
              </a:avLst>
            </a:prstGeom>
            <a:solidFill>
              <a:srgbClr val="42140B"/>
            </a:solidFill>
            <a:ln>
              <a:noFill/>
            </a:ln>
          </p:spPr>
        </p:sp>
        <p:sp>
          <p:nvSpPr>
            <p:cNvPr id="263" name="TextBox 263"/>
            <p:cNvSpPr txBox="1"/>
            <p:nvPr/>
          </p:nvSpPr>
          <p:spPr>
            <a:xfrm>
              <a:off x="493192" y="56097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威胁场景</a:t>
              </a:r>
            </a:p>
          </p:txBody>
        </p:sp>
        <p:sp>
          <p:nvSpPr>
            <p:cNvPr id="264" name="TextBox 264"/>
            <p:cNvSpPr txBox="1"/>
            <p:nvPr/>
          </p:nvSpPr>
          <p:spPr>
            <a:xfrm>
              <a:off x="559156" y="5800249"/>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与控制</a:t>
              </a:r>
            </a:p>
          </p:txBody>
        </p:sp>
        <p:grpSp>
          <p:nvGrpSpPr>
            <p:cNvPr id="267" name="Group 267"/>
            <p:cNvGrpSpPr/>
            <p:nvPr/>
          </p:nvGrpSpPr>
          <p:grpSpPr>
            <a:xfrm>
              <a:off x="646991" y="6129338"/>
              <a:ext cx="217008" cy="200025"/>
              <a:chOff x="646991" y="6129338"/>
              <a:chExt cx="217008" cy="200025"/>
            </a:xfrm>
          </p:grpSpPr>
          <p:sp>
            <p:nvSpPr>
              <p:cNvPr id="265" name="Freeform 265"/>
              <p:cNvSpPr/>
              <p:nvPr/>
            </p:nvSpPr>
            <p:spPr>
              <a:xfrm>
                <a:off x="646991" y="61293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E4B7AF"/>
                </a:solidFill>
              </a:ln>
            </p:spPr>
          </p:sp>
          <p:sp>
            <p:nvSpPr>
              <p:cNvPr id="266" name="Freeform 266"/>
              <p:cNvSpPr/>
              <p:nvPr/>
            </p:nvSpPr>
            <p:spPr>
              <a:xfrm>
                <a:off x="795338" y="6284913"/>
                <a:ext cx="66675" cy="44450"/>
              </a:xfrm>
              <a:custGeom>
                <a:avLst/>
                <a:gdLst/>
                <a:ahLst/>
                <a:cxnLst/>
                <a:rect l="l" t="t" r="r" b="b"/>
                <a:pathLst>
                  <a:path w="66675" h="44450">
                    <a:moveTo>
                      <a:pt x="0" y="22225"/>
                    </a:moveTo>
                    <a:lnTo>
                      <a:pt x="22225" y="44450"/>
                    </a:lnTo>
                    <a:lnTo>
                      <a:pt x="66675" y="0"/>
                    </a:lnTo>
                  </a:path>
                </a:pathLst>
              </a:custGeom>
              <a:noFill/>
              <a:ln w="22225">
                <a:solidFill>
                  <a:srgbClr val="E4B7AF"/>
                </a:solidFill>
              </a:ln>
            </p:spPr>
          </p:sp>
        </p:grpSp>
      </p:grpSp>
      <p:grpSp>
        <p:nvGrpSpPr>
          <p:cNvPr id="280" name="threat-1"/>
          <p:cNvGrpSpPr/>
          <p:nvPr/>
        </p:nvGrpSpPr>
        <p:grpSpPr>
          <a:xfrm>
            <a:off x="1390650" y="5295900"/>
            <a:ext cx="2038350" cy="1371600"/>
            <a:chOff x="1390650" y="5295900"/>
            <a:chExt cx="2038350" cy="1371600"/>
          </a:xfrm>
        </p:grpSpPr>
        <p:sp>
          <p:nvSpPr>
            <p:cNvPr id="269" name="Rectangle 269"/>
            <p:cNvSpPr/>
            <p:nvPr/>
          </p:nvSpPr>
          <p:spPr>
            <a:xfrm>
              <a:off x="1390650" y="5295900"/>
              <a:ext cx="2038350" cy="1371600"/>
            </a:xfrm>
            <a:prstGeom prst="roundRect">
              <a:avLst>
                <a:gd name="adj" fmla="val 5556"/>
              </a:avLst>
            </a:prstGeom>
            <a:solidFill>
              <a:srgbClr val="F4F8EC"/>
            </a:solidFill>
            <a:ln w="9525">
              <a:solidFill>
                <a:srgbClr val="D9E8C6"/>
              </a:solidFill>
            </a:ln>
          </p:spPr>
        </p:sp>
        <p:sp>
          <p:nvSpPr>
            <p:cNvPr id="270" name="Ellipse 270"/>
            <p:cNvSpPr/>
            <p:nvPr/>
          </p:nvSpPr>
          <p:spPr>
            <a:xfrm>
              <a:off x="1495425" y="5400675"/>
              <a:ext cx="285750" cy="285750"/>
            </a:xfrm>
            <a:prstGeom prst="ellipse">
              <a:avLst/>
            </a:prstGeom>
            <a:solidFill>
              <a:srgbClr val="FFFFFF"/>
            </a:solidFill>
            <a:ln w="9525">
              <a:solidFill>
                <a:srgbClr val="C44E3A"/>
              </a:solidFill>
            </a:ln>
          </p:spPr>
        </p:sp>
        <p:grpSp>
          <p:nvGrpSpPr>
            <p:cNvPr id="273" name="Group 273"/>
            <p:cNvGrpSpPr/>
            <p:nvPr/>
          </p:nvGrpSpPr>
          <p:grpSpPr>
            <a:xfrm>
              <a:off x="1581150" y="5505450"/>
              <a:ext cx="114300" cy="76200"/>
              <a:chOff x="1581150" y="5505450"/>
              <a:chExt cx="114300" cy="76200"/>
            </a:xfrm>
          </p:grpSpPr>
          <p:sp>
            <p:nvSpPr>
              <p:cNvPr id="271" name="Freeform 271"/>
              <p:cNvSpPr/>
              <p:nvPr/>
            </p:nvSpPr>
            <p:spPr>
              <a:xfrm>
                <a:off x="1625600" y="55308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44E3A"/>
                </a:solidFill>
              </a:ln>
            </p:spPr>
          </p:sp>
          <p:sp>
            <p:nvSpPr>
              <p:cNvPr id="272" name="Freeform 272"/>
              <p:cNvSpPr/>
              <p:nvPr/>
            </p:nvSpPr>
            <p:spPr>
              <a:xfrm>
                <a:off x="1581150" y="5505450"/>
                <a:ext cx="114300" cy="76200"/>
              </a:xfrm>
              <a:custGeom>
                <a:avLst/>
                <a:gdLst/>
                <a:ahLst/>
                <a:cxnLst/>
                <a:rect l="l" t="t" r="r" b="b"/>
                <a:pathLst>
                  <a:path w="114300" h="76200">
                    <a:moveTo>
                      <a:pt x="114300" y="38100"/>
                    </a:moveTo>
                    <a:cubicBezTo>
                      <a:pt x="99060" y="63500"/>
                      <a:pt x="80010" y="76200"/>
                      <a:pt x="57150" y="76200"/>
                    </a:cubicBezTo>
                    <a:cubicBezTo>
                      <a:pt x="34290" y="76200"/>
                      <a:pt x="15240" y="63500"/>
                      <a:pt x="0" y="38100"/>
                    </a:cubicBezTo>
                    <a:cubicBezTo>
                      <a:pt x="15240" y="12700"/>
                      <a:pt x="34290" y="0"/>
                      <a:pt x="57150" y="0"/>
                    </a:cubicBezTo>
                    <a:cubicBezTo>
                      <a:pt x="80010" y="0"/>
                      <a:pt x="99060" y="12700"/>
                      <a:pt x="114300" y="38100"/>
                    </a:cubicBezTo>
                  </a:path>
                </a:pathLst>
              </a:custGeom>
              <a:noFill/>
              <a:ln w="12700">
                <a:solidFill>
                  <a:srgbClr val="C44E3A"/>
                </a:solidFill>
              </a:ln>
            </p:spPr>
          </p:sp>
        </p:grpSp>
        <p:sp>
          <p:nvSpPr>
            <p:cNvPr id="274" name="TextBox 274"/>
            <p:cNvSpPr txBox="1"/>
            <p:nvPr/>
          </p:nvSpPr>
          <p:spPr>
            <a:xfrm>
              <a:off x="1862138" y="54123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越权问答</a:t>
              </a:r>
            </a:p>
          </p:txBody>
        </p:sp>
        <p:sp>
          <p:nvSpPr>
            <p:cNvPr id="275" name="TextBox 275"/>
            <p:cNvSpPr txBox="1"/>
            <p:nvPr/>
          </p:nvSpPr>
          <p:spPr>
            <a:xfrm>
              <a:off x="1862138" y="5593080"/>
              <a:ext cx="898017"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尝试访问无权文档或字段</a:t>
              </a:r>
            </a:p>
          </p:txBody>
        </p:sp>
        <p:sp>
          <p:nvSpPr>
            <p:cNvPr id="276" name="Line 276"/>
            <p:cNvSpPr/>
            <p:nvPr/>
          </p:nvSpPr>
          <p:spPr>
            <a:xfrm>
              <a:off x="1524000" y="5772150"/>
              <a:ext cx="1771650" cy="9525"/>
            </a:xfrm>
            <a:custGeom>
              <a:avLst/>
              <a:gdLst/>
              <a:ahLst/>
              <a:cxnLst/>
              <a:rect l="l" t="t" r="r" b="b"/>
              <a:pathLst>
                <a:path w="1771650" h="9525">
                  <a:moveTo>
                    <a:pt x="0" y="0"/>
                  </a:moveTo>
                  <a:lnTo>
                    <a:pt x="1771650" y="0"/>
                  </a:lnTo>
                </a:path>
              </a:pathLst>
            </a:custGeom>
            <a:noFill/>
            <a:ln w="9525">
              <a:solidFill>
                <a:srgbClr val="D9E8C6"/>
              </a:solidFill>
            </a:ln>
          </p:spPr>
        </p:sp>
        <p:sp>
          <p:nvSpPr>
            <p:cNvPr id="277" name="TextBox 277"/>
            <p:cNvSpPr txBox="1"/>
            <p:nvPr/>
          </p:nvSpPr>
          <p:spPr>
            <a:xfrm>
              <a:off x="1519238" y="5870734"/>
              <a:ext cx="375691" cy="133350"/>
            </a:xfrm>
            <a:prstGeom prst="rect">
              <a:avLst/>
            </a:prstGeom>
            <a:noFill/>
            <a:ln>
              <a:noFill/>
            </a:ln>
          </p:spPr>
          <p:txBody>
            <a:bodyPr wrap="none" lIns="0" tIns="0" rIns="0" bIns="0" anchor="t" anchorCtr="0">
              <a:spAutoFit/>
            </a:bodyPr>
            <a:lstStyle/>
            <a:p>
              <a:pPr algn="l"/>
              <a:r>
                <a:rPr lang="zh-CN" sz="680" b="1" dirty="0">
                  <a:solidFill>
                    <a:srgbClr val="7C3B2F"/>
                  </a:solidFill>
                  <a:latin typeface="+mn-lt"/>
                  <a:ea typeface="+mn-ea"/>
                  <a:cs typeface="+mn-cs"/>
                </a:rPr>
                <a:t>控制措施</a:t>
              </a:r>
            </a:p>
          </p:txBody>
        </p:sp>
        <p:sp>
          <p:nvSpPr>
            <p:cNvPr id="278" name="TextBox 278"/>
            <p:cNvSpPr txBox="1"/>
            <p:nvPr/>
          </p:nvSpPr>
          <p:spPr>
            <a:xfrm>
              <a:off x="1519238" y="6069330"/>
              <a:ext cx="986333"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检索前过滤 + 字段级脱敏</a:t>
              </a:r>
            </a:p>
          </p:txBody>
        </p:sp>
        <p:sp>
          <p:nvSpPr>
            <p:cNvPr id="279" name="TextBox 279"/>
            <p:cNvSpPr txBox="1"/>
            <p:nvPr/>
          </p:nvSpPr>
          <p:spPr>
            <a:xfrm>
              <a:off x="1519238" y="6240780"/>
              <a:ext cx="986333"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默认拒绝 + 策略决策日志</a:t>
              </a:r>
            </a:p>
          </p:txBody>
        </p:sp>
      </p:grpSp>
      <p:grpSp>
        <p:nvGrpSpPr>
          <p:cNvPr id="293" name="threat-2"/>
          <p:cNvGrpSpPr/>
          <p:nvPr/>
        </p:nvGrpSpPr>
        <p:grpSpPr>
          <a:xfrm>
            <a:off x="3505200" y="5295900"/>
            <a:ext cx="2038350" cy="1371600"/>
            <a:chOff x="3505200" y="5295900"/>
            <a:chExt cx="2038350" cy="1371600"/>
          </a:xfrm>
        </p:grpSpPr>
        <p:sp>
          <p:nvSpPr>
            <p:cNvPr id="281" name="Rectangle 281"/>
            <p:cNvSpPr/>
            <p:nvPr/>
          </p:nvSpPr>
          <p:spPr>
            <a:xfrm>
              <a:off x="3505200" y="5295900"/>
              <a:ext cx="2038350" cy="1371600"/>
            </a:xfrm>
            <a:prstGeom prst="roundRect">
              <a:avLst>
                <a:gd name="adj" fmla="val 5556"/>
              </a:avLst>
            </a:prstGeom>
            <a:solidFill>
              <a:srgbClr val="FFFFFF"/>
            </a:solidFill>
            <a:ln w="9525">
              <a:solidFill>
                <a:srgbClr val="D9E8C6"/>
              </a:solidFill>
            </a:ln>
          </p:spPr>
        </p:sp>
        <p:sp>
          <p:nvSpPr>
            <p:cNvPr id="282" name="Ellipse 282"/>
            <p:cNvSpPr/>
            <p:nvPr/>
          </p:nvSpPr>
          <p:spPr>
            <a:xfrm>
              <a:off x="3609975" y="5400675"/>
              <a:ext cx="285750" cy="285750"/>
            </a:xfrm>
            <a:prstGeom prst="ellipse">
              <a:avLst/>
            </a:prstGeom>
            <a:solidFill>
              <a:srgbClr val="FFFFFF"/>
            </a:solidFill>
            <a:ln w="9525">
              <a:solidFill>
                <a:srgbClr val="C44E3A"/>
              </a:solidFill>
            </a:ln>
          </p:spPr>
        </p:sp>
        <p:grpSp>
          <p:nvGrpSpPr>
            <p:cNvPr id="286" name="Group 286"/>
            <p:cNvGrpSpPr/>
            <p:nvPr/>
          </p:nvGrpSpPr>
          <p:grpSpPr>
            <a:xfrm>
              <a:off x="3688810" y="5484290"/>
              <a:ext cx="128076" cy="110034"/>
              <a:chOff x="3688810" y="5484290"/>
              <a:chExt cx="128076" cy="110034"/>
            </a:xfrm>
          </p:grpSpPr>
          <p:sp>
            <p:nvSpPr>
              <p:cNvPr id="283" name="Freeform 283"/>
              <p:cNvSpPr/>
              <p:nvPr/>
            </p:nvSpPr>
            <p:spPr>
              <a:xfrm>
                <a:off x="3752850" y="5524500"/>
                <a:ext cx="9525" cy="25400"/>
              </a:xfrm>
              <a:custGeom>
                <a:avLst/>
                <a:gdLst/>
                <a:ahLst/>
                <a:cxnLst/>
                <a:rect l="l" t="t" r="r" b="b"/>
                <a:pathLst>
                  <a:path w="9525" h="25400">
                    <a:moveTo>
                      <a:pt x="0" y="0"/>
                    </a:moveTo>
                    <a:lnTo>
                      <a:pt x="0" y="25400"/>
                    </a:lnTo>
                  </a:path>
                </a:pathLst>
              </a:custGeom>
              <a:noFill/>
              <a:ln w="12700">
                <a:solidFill>
                  <a:srgbClr val="C44E3A"/>
                </a:solidFill>
              </a:ln>
            </p:spPr>
          </p:sp>
          <p:sp>
            <p:nvSpPr>
              <p:cNvPr id="284" name="Freeform 284"/>
              <p:cNvSpPr/>
              <p:nvPr/>
            </p:nvSpPr>
            <p:spPr>
              <a:xfrm>
                <a:off x="3688810" y="548429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C44E3A"/>
                </a:solidFill>
              </a:ln>
            </p:spPr>
          </p:sp>
          <p:sp>
            <p:nvSpPr>
              <p:cNvPr id="285" name="Freeform 285"/>
              <p:cNvSpPr/>
              <p:nvPr/>
            </p:nvSpPr>
            <p:spPr>
              <a:xfrm>
                <a:off x="3752850" y="5568950"/>
                <a:ext cx="9525" cy="9525"/>
              </a:xfrm>
              <a:custGeom>
                <a:avLst/>
                <a:gdLst/>
                <a:ahLst/>
                <a:cxnLst/>
                <a:rect l="l" t="t" r="r" b="b"/>
                <a:pathLst>
                  <a:path w="9525" h="9525">
                    <a:moveTo>
                      <a:pt x="0" y="0"/>
                    </a:moveTo>
                    <a:lnTo>
                      <a:pt x="64" y="0"/>
                    </a:lnTo>
                  </a:path>
                </a:pathLst>
              </a:custGeom>
              <a:noFill/>
              <a:ln w="12700">
                <a:solidFill>
                  <a:srgbClr val="C44E3A"/>
                </a:solidFill>
              </a:ln>
            </p:spPr>
          </p:sp>
        </p:grpSp>
        <p:sp>
          <p:nvSpPr>
            <p:cNvPr id="287" name="TextBox 287"/>
            <p:cNvSpPr txBox="1"/>
            <p:nvPr/>
          </p:nvSpPr>
          <p:spPr>
            <a:xfrm>
              <a:off x="3976688" y="54123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提示注入</a:t>
              </a:r>
            </a:p>
          </p:txBody>
        </p:sp>
        <p:sp>
          <p:nvSpPr>
            <p:cNvPr id="288" name="TextBox 288"/>
            <p:cNvSpPr txBox="1"/>
            <p:nvPr/>
          </p:nvSpPr>
          <p:spPr>
            <a:xfrm>
              <a:off x="3976688" y="5593080"/>
              <a:ext cx="817245"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试图诱导模型忽略规则</a:t>
              </a:r>
            </a:p>
          </p:txBody>
        </p:sp>
        <p:sp>
          <p:nvSpPr>
            <p:cNvPr id="289" name="Line 289"/>
            <p:cNvSpPr/>
            <p:nvPr/>
          </p:nvSpPr>
          <p:spPr>
            <a:xfrm>
              <a:off x="3638550" y="5772150"/>
              <a:ext cx="1771650" cy="9525"/>
            </a:xfrm>
            <a:custGeom>
              <a:avLst/>
              <a:gdLst/>
              <a:ahLst/>
              <a:cxnLst/>
              <a:rect l="l" t="t" r="r" b="b"/>
              <a:pathLst>
                <a:path w="1771650" h="9525">
                  <a:moveTo>
                    <a:pt x="0" y="0"/>
                  </a:moveTo>
                  <a:lnTo>
                    <a:pt x="1771650" y="0"/>
                  </a:lnTo>
                </a:path>
              </a:pathLst>
            </a:custGeom>
            <a:noFill/>
            <a:ln w="9525">
              <a:solidFill>
                <a:srgbClr val="D9E8C6"/>
              </a:solidFill>
            </a:ln>
          </p:spPr>
        </p:sp>
        <p:sp>
          <p:nvSpPr>
            <p:cNvPr id="290" name="TextBox 290"/>
            <p:cNvSpPr txBox="1"/>
            <p:nvPr/>
          </p:nvSpPr>
          <p:spPr>
            <a:xfrm>
              <a:off x="3633788" y="5870734"/>
              <a:ext cx="375691" cy="133350"/>
            </a:xfrm>
            <a:prstGeom prst="rect">
              <a:avLst/>
            </a:prstGeom>
            <a:noFill/>
            <a:ln>
              <a:noFill/>
            </a:ln>
          </p:spPr>
          <p:txBody>
            <a:bodyPr wrap="none" lIns="0" tIns="0" rIns="0" bIns="0" anchor="t" anchorCtr="0">
              <a:spAutoFit/>
            </a:bodyPr>
            <a:lstStyle/>
            <a:p>
              <a:pPr algn="l"/>
              <a:r>
                <a:rPr lang="zh-CN" sz="680" b="1" dirty="0">
                  <a:solidFill>
                    <a:srgbClr val="7C3B2F"/>
                  </a:solidFill>
                  <a:latin typeface="+mn-lt"/>
                  <a:ea typeface="+mn-ea"/>
                  <a:cs typeface="+mn-cs"/>
                </a:rPr>
                <a:t>控制措施</a:t>
              </a:r>
            </a:p>
          </p:txBody>
        </p:sp>
        <p:sp>
          <p:nvSpPr>
            <p:cNvPr id="291" name="TextBox 291"/>
            <p:cNvSpPr txBox="1"/>
            <p:nvPr/>
          </p:nvSpPr>
          <p:spPr>
            <a:xfrm>
              <a:off x="3633788" y="6069330"/>
              <a:ext cx="731901"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系统指令强化约束</a:t>
              </a:r>
            </a:p>
          </p:txBody>
        </p:sp>
        <p:sp>
          <p:nvSpPr>
            <p:cNvPr id="292" name="TextBox 292"/>
            <p:cNvSpPr txBox="1"/>
            <p:nvPr/>
          </p:nvSpPr>
          <p:spPr>
            <a:xfrm>
              <a:off x="3633788" y="6240780"/>
              <a:ext cx="89344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关键词检测与提示隔离</a:t>
              </a:r>
            </a:p>
          </p:txBody>
        </p:sp>
      </p:grpSp>
      <p:grpSp>
        <p:nvGrpSpPr>
          <p:cNvPr id="306" name="threat-3"/>
          <p:cNvGrpSpPr/>
          <p:nvPr/>
        </p:nvGrpSpPr>
        <p:grpSpPr>
          <a:xfrm>
            <a:off x="5619750" y="5295900"/>
            <a:ext cx="2038350" cy="1371600"/>
            <a:chOff x="5619750" y="5295900"/>
            <a:chExt cx="2038350" cy="1371600"/>
          </a:xfrm>
        </p:grpSpPr>
        <p:sp>
          <p:nvSpPr>
            <p:cNvPr id="294" name="Rectangle 294"/>
            <p:cNvSpPr/>
            <p:nvPr/>
          </p:nvSpPr>
          <p:spPr>
            <a:xfrm>
              <a:off x="5619750" y="5295900"/>
              <a:ext cx="2038350" cy="1371600"/>
            </a:xfrm>
            <a:prstGeom prst="roundRect">
              <a:avLst>
                <a:gd name="adj" fmla="val 5556"/>
              </a:avLst>
            </a:prstGeom>
            <a:solidFill>
              <a:srgbClr val="F4F8EC"/>
            </a:solidFill>
            <a:ln w="9525">
              <a:solidFill>
                <a:srgbClr val="D9E8C6"/>
              </a:solidFill>
            </a:ln>
          </p:spPr>
        </p:sp>
        <p:sp>
          <p:nvSpPr>
            <p:cNvPr id="295" name="Ellipse 295"/>
            <p:cNvSpPr/>
            <p:nvPr/>
          </p:nvSpPr>
          <p:spPr>
            <a:xfrm>
              <a:off x="5724525" y="5400675"/>
              <a:ext cx="285750" cy="285750"/>
            </a:xfrm>
            <a:prstGeom prst="ellipse">
              <a:avLst/>
            </a:prstGeom>
            <a:solidFill>
              <a:srgbClr val="FFFFFF"/>
            </a:solidFill>
            <a:ln w="9525">
              <a:solidFill>
                <a:srgbClr val="C44E3A"/>
              </a:solidFill>
            </a:ln>
          </p:spPr>
        </p:sp>
        <p:grpSp>
          <p:nvGrpSpPr>
            <p:cNvPr id="299" name="Group 299"/>
            <p:cNvGrpSpPr/>
            <p:nvPr/>
          </p:nvGrpSpPr>
          <p:grpSpPr>
            <a:xfrm>
              <a:off x="5822950" y="5486400"/>
              <a:ext cx="88900" cy="114300"/>
              <a:chOff x="5822950" y="5486400"/>
              <a:chExt cx="88900" cy="114300"/>
            </a:xfrm>
          </p:grpSpPr>
          <p:sp>
            <p:nvSpPr>
              <p:cNvPr id="296" name="Freeform 296"/>
              <p:cNvSpPr/>
              <p:nvPr/>
            </p:nvSpPr>
            <p:spPr>
              <a:xfrm>
                <a:off x="5822950" y="553720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C44E3A"/>
                </a:solidFill>
              </a:ln>
            </p:spPr>
          </p:sp>
          <p:sp>
            <p:nvSpPr>
              <p:cNvPr id="297" name="Freeform 297"/>
              <p:cNvSpPr/>
              <p:nvPr/>
            </p:nvSpPr>
            <p:spPr>
              <a:xfrm>
                <a:off x="5861050" y="55626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C44E3A"/>
                </a:solidFill>
              </a:ln>
            </p:spPr>
          </p:sp>
          <p:sp>
            <p:nvSpPr>
              <p:cNvPr id="298" name="Freeform 298"/>
              <p:cNvSpPr/>
              <p:nvPr/>
            </p:nvSpPr>
            <p:spPr>
              <a:xfrm>
                <a:off x="5842000" y="548640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C44E3A"/>
                </a:solidFill>
              </a:ln>
            </p:spPr>
          </p:sp>
        </p:grpSp>
        <p:sp>
          <p:nvSpPr>
            <p:cNvPr id="300" name="TextBox 300"/>
            <p:cNvSpPr txBox="1"/>
            <p:nvPr/>
          </p:nvSpPr>
          <p:spPr>
            <a:xfrm>
              <a:off x="6091238" y="54123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敏感泄露</a:t>
              </a:r>
            </a:p>
          </p:txBody>
        </p:sp>
        <p:sp>
          <p:nvSpPr>
            <p:cNvPr id="301" name="TextBox 301"/>
            <p:cNvSpPr txBox="1"/>
            <p:nvPr/>
          </p:nvSpPr>
          <p:spPr>
            <a:xfrm>
              <a:off x="6091238" y="5593080"/>
              <a:ext cx="736473"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模型生成或记忆泄露</a:t>
              </a:r>
            </a:p>
          </p:txBody>
        </p:sp>
        <p:sp>
          <p:nvSpPr>
            <p:cNvPr id="302" name="Line 302"/>
            <p:cNvSpPr/>
            <p:nvPr/>
          </p:nvSpPr>
          <p:spPr>
            <a:xfrm>
              <a:off x="5753100" y="5772150"/>
              <a:ext cx="1771650" cy="9525"/>
            </a:xfrm>
            <a:custGeom>
              <a:avLst/>
              <a:gdLst/>
              <a:ahLst/>
              <a:cxnLst/>
              <a:rect l="l" t="t" r="r" b="b"/>
              <a:pathLst>
                <a:path w="1771650" h="9525">
                  <a:moveTo>
                    <a:pt x="0" y="0"/>
                  </a:moveTo>
                  <a:lnTo>
                    <a:pt x="1771650" y="0"/>
                  </a:lnTo>
                </a:path>
              </a:pathLst>
            </a:custGeom>
            <a:noFill/>
            <a:ln w="9525">
              <a:solidFill>
                <a:srgbClr val="D9E8C6"/>
              </a:solidFill>
            </a:ln>
          </p:spPr>
        </p:sp>
        <p:sp>
          <p:nvSpPr>
            <p:cNvPr id="303" name="TextBox 303"/>
            <p:cNvSpPr txBox="1"/>
            <p:nvPr/>
          </p:nvSpPr>
          <p:spPr>
            <a:xfrm>
              <a:off x="5748338" y="5870734"/>
              <a:ext cx="375691" cy="133350"/>
            </a:xfrm>
            <a:prstGeom prst="rect">
              <a:avLst/>
            </a:prstGeom>
            <a:noFill/>
            <a:ln>
              <a:noFill/>
            </a:ln>
          </p:spPr>
          <p:txBody>
            <a:bodyPr wrap="none" lIns="0" tIns="0" rIns="0" bIns="0" anchor="t" anchorCtr="0">
              <a:spAutoFit/>
            </a:bodyPr>
            <a:lstStyle/>
            <a:p>
              <a:pPr algn="l"/>
              <a:r>
                <a:rPr lang="zh-CN" sz="680" b="1" dirty="0">
                  <a:solidFill>
                    <a:srgbClr val="7C3B2F"/>
                  </a:solidFill>
                  <a:latin typeface="+mn-lt"/>
                  <a:ea typeface="+mn-ea"/>
                  <a:cs typeface="+mn-cs"/>
                </a:rPr>
                <a:t>控制措施</a:t>
              </a:r>
            </a:p>
          </p:txBody>
        </p:sp>
        <p:sp>
          <p:nvSpPr>
            <p:cNvPr id="304" name="TextBox 304"/>
            <p:cNvSpPr txBox="1"/>
            <p:nvPr/>
          </p:nvSpPr>
          <p:spPr>
            <a:xfrm>
              <a:off x="5748338" y="6069330"/>
              <a:ext cx="651129"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输出过滤与脱敏</a:t>
              </a:r>
            </a:p>
          </p:txBody>
        </p:sp>
        <p:sp>
          <p:nvSpPr>
            <p:cNvPr id="305" name="TextBox 305"/>
            <p:cNvSpPr txBox="1"/>
            <p:nvPr/>
          </p:nvSpPr>
          <p:spPr>
            <a:xfrm>
              <a:off x="5748338" y="6240780"/>
              <a:ext cx="905561"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禁止臆测 + 最小上下文</a:t>
              </a:r>
            </a:p>
          </p:txBody>
        </p:sp>
      </p:grpSp>
      <p:grpSp>
        <p:nvGrpSpPr>
          <p:cNvPr id="319" name="threat-4"/>
          <p:cNvGrpSpPr/>
          <p:nvPr/>
        </p:nvGrpSpPr>
        <p:grpSpPr>
          <a:xfrm>
            <a:off x="7734300" y="5295900"/>
            <a:ext cx="2038350" cy="1371600"/>
            <a:chOff x="7734300" y="5295900"/>
            <a:chExt cx="2038350" cy="1371600"/>
          </a:xfrm>
        </p:grpSpPr>
        <p:sp>
          <p:nvSpPr>
            <p:cNvPr id="307" name="Rectangle 307"/>
            <p:cNvSpPr/>
            <p:nvPr/>
          </p:nvSpPr>
          <p:spPr>
            <a:xfrm>
              <a:off x="7734300" y="5295900"/>
              <a:ext cx="2038350" cy="1371600"/>
            </a:xfrm>
            <a:prstGeom prst="roundRect">
              <a:avLst>
                <a:gd name="adj" fmla="val 5556"/>
              </a:avLst>
            </a:prstGeom>
            <a:solidFill>
              <a:srgbClr val="FFFFFF"/>
            </a:solidFill>
            <a:ln w="9525">
              <a:solidFill>
                <a:srgbClr val="D9E8C6"/>
              </a:solidFill>
            </a:ln>
          </p:spPr>
        </p:sp>
        <p:sp>
          <p:nvSpPr>
            <p:cNvPr id="308" name="Ellipse 308"/>
            <p:cNvSpPr/>
            <p:nvPr/>
          </p:nvSpPr>
          <p:spPr>
            <a:xfrm>
              <a:off x="7839075" y="5400675"/>
              <a:ext cx="285750" cy="285750"/>
            </a:xfrm>
            <a:prstGeom prst="ellipse">
              <a:avLst/>
            </a:prstGeom>
            <a:solidFill>
              <a:srgbClr val="FFFFFF"/>
            </a:solidFill>
            <a:ln w="9525">
              <a:solidFill>
                <a:srgbClr val="C44E3A"/>
              </a:solidFill>
            </a:ln>
          </p:spPr>
        </p:sp>
        <p:grpSp>
          <p:nvGrpSpPr>
            <p:cNvPr id="312" name="Group 312"/>
            <p:cNvGrpSpPr/>
            <p:nvPr/>
          </p:nvGrpSpPr>
          <p:grpSpPr>
            <a:xfrm>
              <a:off x="7931150" y="5486400"/>
              <a:ext cx="101600" cy="114300"/>
              <a:chOff x="7931150" y="5486400"/>
              <a:chExt cx="101600" cy="114300"/>
            </a:xfrm>
          </p:grpSpPr>
          <p:sp>
            <p:nvSpPr>
              <p:cNvPr id="309" name="Freeform 309"/>
              <p:cNvSpPr/>
              <p:nvPr/>
            </p:nvSpPr>
            <p:spPr>
              <a:xfrm>
                <a:off x="7931150" y="548640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C44E3A"/>
                </a:solidFill>
              </a:ln>
            </p:spPr>
          </p:sp>
          <p:sp>
            <p:nvSpPr>
              <p:cNvPr id="310" name="Freeform 310"/>
              <p:cNvSpPr/>
              <p:nvPr/>
            </p:nvSpPr>
            <p:spPr>
              <a:xfrm>
                <a:off x="7931150" y="55054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44E3A"/>
                </a:solidFill>
              </a:ln>
            </p:spPr>
          </p:sp>
          <p:sp>
            <p:nvSpPr>
              <p:cNvPr id="311" name="Freeform 311"/>
              <p:cNvSpPr/>
              <p:nvPr/>
            </p:nvSpPr>
            <p:spPr>
              <a:xfrm>
                <a:off x="7931150" y="55435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44E3A"/>
                </a:solidFill>
              </a:ln>
            </p:spPr>
          </p:sp>
        </p:grpSp>
        <p:sp>
          <p:nvSpPr>
            <p:cNvPr id="313" name="TextBox 313"/>
            <p:cNvSpPr txBox="1"/>
            <p:nvPr/>
          </p:nvSpPr>
          <p:spPr>
            <a:xfrm>
              <a:off x="8205788" y="54123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索引污染</a:t>
              </a:r>
            </a:p>
          </p:txBody>
        </p:sp>
        <p:sp>
          <p:nvSpPr>
            <p:cNvPr id="314" name="TextBox 314"/>
            <p:cNvSpPr txBox="1"/>
            <p:nvPr/>
          </p:nvSpPr>
          <p:spPr>
            <a:xfrm>
              <a:off x="8205788" y="5593080"/>
              <a:ext cx="1023214"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投毒文档/恶意内容进入索引</a:t>
              </a:r>
            </a:p>
          </p:txBody>
        </p:sp>
        <p:sp>
          <p:nvSpPr>
            <p:cNvPr id="315" name="Line 315"/>
            <p:cNvSpPr/>
            <p:nvPr/>
          </p:nvSpPr>
          <p:spPr>
            <a:xfrm>
              <a:off x="7867650" y="5772150"/>
              <a:ext cx="1771650" cy="9525"/>
            </a:xfrm>
            <a:custGeom>
              <a:avLst/>
              <a:gdLst/>
              <a:ahLst/>
              <a:cxnLst/>
              <a:rect l="l" t="t" r="r" b="b"/>
              <a:pathLst>
                <a:path w="1771650" h="9525">
                  <a:moveTo>
                    <a:pt x="0" y="0"/>
                  </a:moveTo>
                  <a:lnTo>
                    <a:pt x="1771650" y="0"/>
                  </a:lnTo>
                </a:path>
              </a:pathLst>
            </a:custGeom>
            <a:noFill/>
            <a:ln w="9525">
              <a:solidFill>
                <a:srgbClr val="D9E8C6"/>
              </a:solidFill>
            </a:ln>
          </p:spPr>
        </p:sp>
        <p:sp>
          <p:nvSpPr>
            <p:cNvPr id="316" name="TextBox 316"/>
            <p:cNvSpPr txBox="1"/>
            <p:nvPr/>
          </p:nvSpPr>
          <p:spPr>
            <a:xfrm>
              <a:off x="7862888" y="5870734"/>
              <a:ext cx="375691" cy="133350"/>
            </a:xfrm>
            <a:prstGeom prst="rect">
              <a:avLst/>
            </a:prstGeom>
            <a:noFill/>
            <a:ln>
              <a:noFill/>
            </a:ln>
          </p:spPr>
          <p:txBody>
            <a:bodyPr wrap="none" lIns="0" tIns="0" rIns="0" bIns="0" anchor="t" anchorCtr="0">
              <a:spAutoFit/>
            </a:bodyPr>
            <a:lstStyle/>
            <a:p>
              <a:pPr algn="l"/>
              <a:r>
                <a:rPr lang="zh-CN" sz="680" b="1" dirty="0">
                  <a:solidFill>
                    <a:srgbClr val="7C3B2F"/>
                  </a:solidFill>
                  <a:latin typeface="+mn-lt"/>
                  <a:ea typeface="+mn-ea"/>
                  <a:cs typeface="+mn-cs"/>
                </a:rPr>
                <a:t>控制措施</a:t>
              </a:r>
            </a:p>
          </p:txBody>
        </p:sp>
        <p:sp>
          <p:nvSpPr>
            <p:cNvPr id="317" name="TextBox 317"/>
            <p:cNvSpPr txBox="1"/>
            <p:nvPr/>
          </p:nvSpPr>
          <p:spPr>
            <a:xfrm>
              <a:off x="7862888" y="6069330"/>
              <a:ext cx="812673"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文档准入与内容扫描</a:t>
              </a:r>
            </a:p>
          </p:txBody>
        </p:sp>
        <p:sp>
          <p:nvSpPr>
            <p:cNvPr id="318" name="TextBox 318"/>
            <p:cNvSpPr txBox="1"/>
            <p:nvPr/>
          </p:nvSpPr>
          <p:spPr>
            <a:xfrm>
              <a:off x="7862888" y="6240780"/>
              <a:ext cx="97421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来源可信校验与版本管理</a:t>
              </a:r>
            </a:p>
          </p:txBody>
        </p:sp>
      </p:grpSp>
      <p:grpSp>
        <p:nvGrpSpPr>
          <p:cNvPr id="332" name="threat-5"/>
          <p:cNvGrpSpPr/>
          <p:nvPr/>
        </p:nvGrpSpPr>
        <p:grpSpPr>
          <a:xfrm>
            <a:off x="9848850" y="5295900"/>
            <a:ext cx="2038350" cy="1371600"/>
            <a:chOff x="9848850" y="5295900"/>
            <a:chExt cx="2038350" cy="1371600"/>
          </a:xfrm>
        </p:grpSpPr>
        <p:sp>
          <p:nvSpPr>
            <p:cNvPr id="320" name="Rectangle 320"/>
            <p:cNvSpPr/>
            <p:nvPr/>
          </p:nvSpPr>
          <p:spPr>
            <a:xfrm>
              <a:off x="9848850" y="5295900"/>
              <a:ext cx="2038350" cy="1371600"/>
            </a:xfrm>
            <a:prstGeom prst="roundRect">
              <a:avLst>
                <a:gd name="adj" fmla="val 5556"/>
              </a:avLst>
            </a:prstGeom>
            <a:solidFill>
              <a:srgbClr val="F4F8EC"/>
            </a:solidFill>
            <a:ln w="9525">
              <a:solidFill>
                <a:srgbClr val="D9E8C6"/>
              </a:solidFill>
            </a:ln>
          </p:spPr>
        </p:sp>
        <p:sp>
          <p:nvSpPr>
            <p:cNvPr id="321" name="Ellipse 321"/>
            <p:cNvSpPr/>
            <p:nvPr/>
          </p:nvSpPr>
          <p:spPr>
            <a:xfrm>
              <a:off x="9953625" y="5400675"/>
              <a:ext cx="285750" cy="285750"/>
            </a:xfrm>
            <a:prstGeom prst="ellipse">
              <a:avLst/>
            </a:prstGeom>
            <a:solidFill>
              <a:srgbClr val="FFFFFF"/>
            </a:solidFill>
            <a:ln w="9525">
              <a:solidFill>
                <a:srgbClr val="C44E3A"/>
              </a:solidFill>
            </a:ln>
          </p:spPr>
        </p:sp>
        <p:grpSp>
          <p:nvGrpSpPr>
            <p:cNvPr id="325" name="Group 325"/>
            <p:cNvGrpSpPr/>
            <p:nvPr/>
          </p:nvGrpSpPr>
          <p:grpSpPr>
            <a:xfrm>
              <a:off x="10052050" y="5486400"/>
              <a:ext cx="88900" cy="114300"/>
              <a:chOff x="10052050" y="5486400"/>
              <a:chExt cx="88900" cy="114300"/>
            </a:xfrm>
          </p:grpSpPr>
          <p:sp>
            <p:nvSpPr>
              <p:cNvPr id="322" name="Freeform 322"/>
              <p:cNvSpPr/>
              <p:nvPr/>
            </p:nvSpPr>
            <p:spPr>
              <a:xfrm>
                <a:off x="10052050" y="5524500"/>
                <a:ext cx="88900" cy="76200"/>
              </a:xfrm>
              <a:custGeom>
                <a:avLst/>
                <a:gdLst/>
                <a:ahLst/>
                <a:cxnLst/>
                <a:rect l="l" t="t" r="r" b="b"/>
                <a:pathLst>
                  <a:path w="88900" h="76200">
                    <a:moveTo>
                      <a:pt x="19050" y="0"/>
                    </a:moveTo>
                    <a:lnTo>
                      <a:pt x="12700" y="0"/>
                    </a:lnTo>
                    <a:cubicBezTo>
                      <a:pt x="5686" y="0"/>
                      <a:pt x="0" y="5686"/>
                      <a:pt x="0" y="12700"/>
                    </a:cubicBezTo>
                    <a:lnTo>
                      <a:pt x="0" y="63500"/>
                    </a:lnTo>
                    <a:cubicBezTo>
                      <a:pt x="0" y="70514"/>
                      <a:pt x="5686" y="76200"/>
                      <a:pt x="12700" y="76200"/>
                    </a:cubicBezTo>
                    <a:lnTo>
                      <a:pt x="76200" y="76200"/>
                    </a:lnTo>
                    <a:cubicBezTo>
                      <a:pt x="83214" y="76200"/>
                      <a:pt x="88900" y="70514"/>
                      <a:pt x="88900" y="63500"/>
                    </a:cubicBezTo>
                    <a:lnTo>
                      <a:pt x="88900" y="12700"/>
                    </a:lnTo>
                    <a:cubicBezTo>
                      <a:pt x="88900" y="5686"/>
                      <a:pt x="83214" y="0"/>
                      <a:pt x="76200" y="0"/>
                    </a:cubicBezTo>
                    <a:lnTo>
                      <a:pt x="69850" y="0"/>
                    </a:lnTo>
                  </a:path>
                </a:pathLst>
              </a:custGeom>
              <a:noFill/>
              <a:ln w="12700">
                <a:solidFill>
                  <a:srgbClr val="C44E3A"/>
                </a:solidFill>
              </a:ln>
            </p:spPr>
          </p:sp>
          <p:sp>
            <p:nvSpPr>
              <p:cNvPr id="323" name="Freeform 323"/>
              <p:cNvSpPr/>
              <p:nvPr/>
            </p:nvSpPr>
            <p:spPr>
              <a:xfrm>
                <a:off x="10096500" y="5486400"/>
                <a:ext cx="9525" cy="69850"/>
              </a:xfrm>
              <a:custGeom>
                <a:avLst/>
                <a:gdLst/>
                <a:ahLst/>
                <a:cxnLst/>
                <a:rect l="l" t="t" r="r" b="b"/>
                <a:pathLst>
                  <a:path w="9525" h="69850">
                    <a:moveTo>
                      <a:pt x="0" y="69850"/>
                    </a:moveTo>
                    <a:lnTo>
                      <a:pt x="0" y="0"/>
                    </a:lnTo>
                  </a:path>
                </a:pathLst>
              </a:custGeom>
              <a:noFill/>
              <a:ln w="12700">
                <a:solidFill>
                  <a:srgbClr val="C44E3A"/>
                </a:solidFill>
              </a:ln>
            </p:spPr>
          </p:sp>
          <p:sp>
            <p:nvSpPr>
              <p:cNvPr id="324" name="Freeform 324"/>
              <p:cNvSpPr/>
              <p:nvPr/>
            </p:nvSpPr>
            <p:spPr>
              <a:xfrm>
                <a:off x="10077450" y="5486400"/>
                <a:ext cx="38100" cy="19050"/>
              </a:xfrm>
              <a:custGeom>
                <a:avLst/>
                <a:gdLst/>
                <a:ahLst/>
                <a:cxnLst/>
                <a:rect l="l" t="t" r="r" b="b"/>
                <a:pathLst>
                  <a:path w="38100" h="19050">
                    <a:moveTo>
                      <a:pt x="0" y="19050"/>
                    </a:moveTo>
                    <a:lnTo>
                      <a:pt x="19050" y="0"/>
                    </a:lnTo>
                    <a:lnTo>
                      <a:pt x="38100" y="19050"/>
                    </a:lnTo>
                  </a:path>
                </a:pathLst>
              </a:custGeom>
              <a:noFill/>
              <a:ln w="12700">
                <a:solidFill>
                  <a:srgbClr val="C44E3A"/>
                </a:solidFill>
              </a:ln>
            </p:spPr>
          </p:sp>
        </p:grpSp>
        <p:sp>
          <p:nvSpPr>
            <p:cNvPr id="326" name="TextBox 326"/>
            <p:cNvSpPr txBox="1"/>
            <p:nvPr/>
          </p:nvSpPr>
          <p:spPr>
            <a:xfrm>
              <a:off x="10320338" y="5412343"/>
              <a:ext cx="4726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导出滥用</a:t>
              </a:r>
            </a:p>
          </p:txBody>
        </p:sp>
        <p:sp>
          <p:nvSpPr>
            <p:cNvPr id="327" name="TextBox 327"/>
            <p:cNvSpPr txBox="1"/>
            <p:nvPr/>
          </p:nvSpPr>
          <p:spPr>
            <a:xfrm>
              <a:off x="10320338" y="5593080"/>
              <a:ext cx="736473"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批量导出或外发泄露</a:t>
              </a:r>
            </a:p>
          </p:txBody>
        </p:sp>
        <p:sp>
          <p:nvSpPr>
            <p:cNvPr id="328" name="Line 328"/>
            <p:cNvSpPr/>
            <p:nvPr/>
          </p:nvSpPr>
          <p:spPr>
            <a:xfrm>
              <a:off x="9982200" y="5772150"/>
              <a:ext cx="1771650" cy="9525"/>
            </a:xfrm>
            <a:custGeom>
              <a:avLst/>
              <a:gdLst/>
              <a:ahLst/>
              <a:cxnLst/>
              <a:rect l="l" t="t" r="r" b="b"/>
              <a:pathLst>
                <a:path w="1771650" h="9525">
                  <a:moveTo>
                    <a:pt x="0" y="0"/>
                  </a:moveTo>
                  <a:lnTo>
                    <a:pt x="1771650" y="0"/>
                  </a:lnTo>
                </a:path>
              </a:pathLst>
            </a:custGeom>
            <a:noFill/>
            <a:ln w="9525">
              <a:solidFill>
                <a:srgbClr val="D9E8C6"/>
              </a:solidFill>
            </a:ln>
          </p:spPr>
        </p:sp>
        <p:sp>
          <p:nvSpPr>
            <p:cNvPr id="329" name="TextBox 329"/>
            <p:cNvSpPr txBox="1"/>
            <p:nvPr/>
          </p:nvSpPr>
          <p:spPr>
            <a:xfrm>
              <a:off x="9977438" y="5870734"/>
              <a:ext cx="375691" cy="133350"/>
            </a:xfrm>
            <a:prstGeom prst="rect">
              <a:avLst/>
            </a:prstGeom>
            <a:noFill/>
            <a:ln>
              <a:noFill/>
            </a:ln>
          </p:spPr>
          <p:txBody>
            <a:bodyPr wrap="none" lIns="0" tIns="0" rIns="0" bIns="0" anchor="t" anchorCtr="0">
              <a:spAutoFit/>
            </a:bodyPr>
            <a:lstStyle/>
            <a:p>
              <a:pPr algn="l"/>
              <a:r>
                <a:rPr lang="zh-CN" sz="680" b="1" dirty="0">
                  <a:solidFill>
                    <a:srgbClr val="7C3B2F"/>
                  </a:solidFill>
                  <a:latin typeface="+mn-lt"/>
                  <a:ea typeface="+mn-ea"/>
                  <a:cs typeface="+mn-cs"/>
                </a:rPr>
                <a:t>控制措施</a:t>
              </a:r>
            </a:p>
          </p:txBody>
        </p:sp>
        <p:sp>
          <p:nvSpPr>
            <p:cNvPr id="330" name="TextBox 330"/>
            <p:cNvSpPr txBox="1"/>
            <p:nvPr/>
          </p:nvSpPr>
          <p:spPr>
            <a:xfrm>
              <a:off x="9977438" y="6069330"/>
              <a:ext cx="812673"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导出权限控制与水印</a:t>
              </a:r>
            </a:p>
          </p:txBody>
        </p:sp>
        <p:sp>
          <p:nvSpPr>
            <p:cNvPr id="331" name="TextBox 331"/>
            <p:cNvSpPr txBox="1"/>
            <p:nvPr/>
          </p:nvSpPr>
          <p:spPr>
            <a:xfrm>
              <a:off x="9977438" y="6240780"/>
              <a:ext cx="812673"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导出审计与异常告警</a:t>
              </a:r>
            </a:p>
          </p:txBody>
        </p:sp>
      </p:gr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11</a:t>
              </a:r>
            </a:p>
          </p:txBody>
        </p:sp>
        <p:sp>
          <p:nvSpPr>
            <p:cNvPr id="4" name="TextBox 4"/>
            <p:cNvSpPr txBox="1"/>
            <p:nvPr/>
          </p:nvSpPr>
          <p:spPr>
            <a:xfrm>
              <a:off x="942594" y="151448"/>
              <a:ext cx="808671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可信AI要贯穿</a:t>
              </a:r>
              <a:r>
                <a:rPr lang="zh-CN" sz="1950" b="1" dirty="0">
                  <a:solidFill>
                    <a:srgbClr val="7C3B2F"/>
                  </a:solidFill>
                  <a:latin typeface="SimSun"/>
                  <a:ea typeface="SimSun"/>
                  <a:cs typeface="SimSun"/>
                </a:rPr>
                <a:t>设计、开发、上线与运营</a:t>
              </a:r>
              <a:r>
                <a:rPr lang="zh-CN" sz="1950" b="1" dirty="0">
                  <a:solidFill>
                    <a:srgbClr val="1A1A1A"/>
                  </a:solidFill>
                  <a:latin typeface="SimSun"/>
                  <a:ea typeface="SimSun"/>
                  <a:cs typeface="SimSun"/>
                </a:rPr>
                <a:t>，而不是上线前补一次评审</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118" name="trust-wheel"/>
          <p:cNvGrpSpPr/>
          <p:nvPr/>
        </p:nvGrpSpPr>
        <p:grpSpPr>
          <a:xfrm>
            <a:off x="639128" y="828675"/>
            <a:ext cx="3865245" cy="3508772"/>
            <a:chOff x="639128" y="828675"/>
            <a:chExt cx="3865245" cy="3508772"/>
          </a:xfrm>
        </p:grpSpPr>
        <p:grpSp>
          <p:nvGrpSpPr>
            <p:cNvPr id="13" name="wheel-arcs"/>
            <p:cNvGrpSpPr/>
            <p:nvPr/>
          </p:nvGrpSpPr>
          <p:grpSpPr>
            <a:xfrm>
              <a:off x="1061556" y="1023938"/>
              <a:ext cx="3020389" cy="2943224"/>
              <a:chOff x="1061556" y="1023938"/>
              <a:chExt cx="3020389" cy="2943224"/>
            </a:xfrm>
          </p:grpSpPr>
          <p:sp>
            <p:nvSpPr>
              <p:cNvPr id="7" name="Freeform 7"/>
              <p:cNvSpPr/>
              <p:nvPr/>
            </p:nvSpPr>
            <p:spPr>
              <a:xfrm>
                <a:off x="3278505" y="1166812"/>
                <a:ext cx="411480" cy="321945"/>
              </a:xfrm>
              <a:custGeom>
                <a:avLst/>
                <a:gdLst/>
                <a:ahLst/>
                <a:cxnLst/>
                <a:rect l="l" t="t" r="r" b="b"/>
                <a:pathLst>
                  <a:path w="411480" h="321945">
                    <a:moveTo>
                      <a:pt x="0" y="0"/>
                    </a:moveTo>
                    <a:cubicBezTo>
                      <a:pt x="154881" y="82504"/>
                      <a:pt x="294139" y="191460"/>
                      <a:pt x="411480" y="321945"/>
                    </a:cubicBezTo>
                  </a:path>
                </a:pathLst>
              </a:custGeom>
              <a:noFill/>
              <a:ln w="14288">
                <a:solidFill>
                  <a:srgbClr val="BE776A"/>
                </a:solidFill>
                <a:tailEnd type="arrow" w="lg" len="lg"/>
              </a:ln>
            </p:spPr>
          </p:sp>
          <p:sp>
            <p:nvSpPr>
              <p:cNvPr id="8" name="Freeform 8"/>
              <p:cNvSpPr/>
              <p:nvPr/>
            </p:nvSpPr>
            <p:spPr>
              <a:xfrm>
                <a:off x="4003358" y="2443162"/>
                <a:ext cx="78587" cy="517207"/>
              </a:xfrm>
              <a:custGeom>
                <a:avLst/>
                <a:gdLst/>
                <a:ahLst/>
                <a:cxnLst/>
                <a:rect l="l" t="t" r="r" b="b"/>
                <a:pathLst>
                  <a:path w="78587" h="517207">
                    <a:moveTo>
                      <a:pt x="72390" y="0"/>
                    </a:moveTo>
                    <a:cubicBezTo>
                      <a:pt x="78587" y="175304"/>
                      <a:pt x="54088" y="350341"/>
                      <a:pt x="0" y="517207"/>
                    </a:cubicBezTo>
                  </a:path>
                </a:pathLst>
              </a:custGeom>
              <a:noFill/>
              <a:ln w="14288">
                <a:solidFill>
                  <a:srgbClr val="BE776A"/>
                </a:solidFill>
                <a:tailEnd type="arrow" w="lg" len="lg"/>
              </a:ln>
            </p:spPr>
          </p:sp>
          <p:sp>
            <p:nvSpPr>
              <p:cNvPr id="9" name="Freeform 9"/>
              <p:cNvSpPr/>
              <p:nvPr/>
            </p:nvSpPr>
            <p:spPr>
              <a:xfrm>
                <a:off x="2885122" y="3771900"/>
                <a:ext cx="483870" cy="195262"/>
              </a:xfrm>
              <a:custGeom>
                <a:avLst/>
                <a:gdLst/>
                <a:ahLst/>
                <a:cxnLst/>
                <a:rect l="l" t="t" r="r" b="b"/>
                <a:pathLst>
                  <a:path w="483870" h="195262">
                    <a:moveTo>
                      <a:pt x="483870" y="0"/>
                    </a:moveTo>
                    <a:cubicBezTo>
                      <a:pt x="335180" y="92765"/>
                      <a:pt x="171429" y="158845"/>
                      <a:pt x="0" y="195262"/>
                    </a:cubicBezTo>
                  </a:path>
                </a:pathLst>
              </a:custGeom>
              <a:noFill/>
              <a:ln w="14288">
                <a:solidFill>
                  <a:srgbClr val="BE776A"/>
                </a:solidFill>
                <a:tailEnd type="arrow" w="lg" len="lg"/>
              </a:ln>
            </p:spPr>
          </p:sp>
          <p:sp>
            <p:nvSpPr>
              <p:cNvPr id="10" name="Freeform 10"/>
              <p:cNvSpPr/>
              <p:nvPr/>
            </p:nvSpPr>
            <p:spPr>
              <a:xfrm>
                <a:off x="1453515" y="3502343"/>
                <a:ext cx="411480" cy="321945"/>
              </a:xfrm>
              <a:custGeom>
                <a:avLst/>
                <a:gdLst/>
                <a:ahLst/>
                <a:cxnLst/>
                <a:rect l="l" t="t" r="r" b="b"/>
                <a:pathLst>
                  <a:path w="411480" h="321945">
                    <a:moveTo>
                      <a:pt x="411480" y="321945"/>
                    </a:moveTo>
                    <a:cubicBezTo>
                      <a:pt x="256599" y="239441"/>
                      <a:pt x="117341" y="130485"/>
                      <a:pt x="0" y="0"/>
                    </a:cubicBezTo>
                  </a:path>
                </a:pathLst>
              </a:custGeom>
              <a:noFill/>
              <a:ln w="14288">
                <a:solidFill>
                  <a:srgbClr val="BE776A"/>
                </a:solidFill>
                <a:tailEnd type="arrow" w="lg" len="lg"/>
              </a:ln>
            </p:spPr>
          </p:sp>
          <p:sp>
            <p:nvSpPr>
              <p:cNvPr id="11" name="Freeform 11"/>
              <p:cNvSpPr/>
              <p:nvPr/>
            </p:nvSpPr>
            <p:spPr>
              <a:xfrm>
                <a:off x="1061556" y="2030730"/>
                <a:ext cx="78587" cy="517207"/>
              </a:xfrm>
              <a:custGeom>
                <a:avLst/>
                <a:gdLst/>
                <a:ahLst/>
                <a:cxnLst/>
                <a:rect l="l" t="t" r="r" b="b"/>
                <a:pathLst>
                  <a:path w="78587" h="517207">
                    <a:moveTo>
                      <a:pt x="6197" y="517207"/>
                    </a:moveTo>
                    <a:cubicBezTo>
                      <a:pt x="0" y="341904"/>
                      <a:pt x="24499" y="166866"/>
                      <a:pt x="78587" y="0"/>
                    </a:cubicBezTo>
                  </a:path>
                </a:pathLst>
              </a:custGeom>
              <a:noFill/>
              <a:ln w="14288">
                <a:solidFill>
                  <a:srgbClr val="BE776A"/>
                </a:solidFill>
                <a:tailEnd type="arrow" w="lg" len="lg"/>
              </a:ln>
            </p:spPr>
          </p:sp>
          <p:sp>
            <p:nvSpPr>
              <p:cNvPr id="12" name="Freeform 12"/>
              <p:cNvSpPr/>
              <p:nvPr/>
            </p:nvSpPr>
            <p:spPr>
              <a:xfrm>
                <a:off x="1774508" y="1023938"/>
                <a:ext cx="483870" cy="195262"/>
              </a:xfrm>
              <a:custGeom>
                <a:avLst/>
                <a:gdLst/>
                <a:ahLst/>
                <a:cxnLst/>
                <a:rect l="l" t="t" r="r" b="b"/>
                <a:pathLst>
                  <a:path w="483870" h="195262">
                    <a:moveTo>
                      <a:pt x="0" y="195262"/>
                    </a:moveTo>
                    <a:cubicBezTo>
                      <a:pt x="148690" y="102498"/>
                      <a:pt x="312441" y="36417"/>
                      <a:pt x="483870" y="0"/>
                    </a:cubicBezTo>
                  </a:path>
                </a:pathLst>
              </a:custGeom>
              <a:noFill/>
              <a:ln w="14288">
                <a:solidFill>
                  <a:srgbClr val="BE776A"/>
                </a:solidFill>
                <a:tailEnd type="arrow" w="lg" len="lg"/>
              </a:ln>
            </p:spPr>
          </p:sp>
        </p:grpSp>
        <p:sp>
          <p:nvSpPr>
            <p:cNvPr id="14" name="Freeform 14"/>
            <p:cNvSpPr/>
            <p:nvPr/>
          </p:nvSpPr>
          <p:spPr>
            <a:xfrm>
              <a:off x="1447800" y="1371600"/>
              <a:ext cx="2247900" cy="2247900"/>
            </a:xfrm>
            <a:prstGeom prst="blockArc">
              <a:avLst>
                <a:gd name="adj1" fmla="val 14460000"/>
                <a:gd name="adj2" fmla="val 17940000"/>
                <a:gd name="adj3" fmla="val 25000"/>
              </a:avLst>
            </a:prstGeom>
            <a:solidFill>
              <a:srgbClr val="E7F2D8"/>
            </a:solidFill>
            <a:ln w="19050">
              <a:solidFill>
                <a:srgbClr val="FFFFFF"/>
              </a:solidFill>
            </a:ln>
          </p:spPr>
        </p:sp>
        <p:sp>
          <p:nvSpPr>
            <p:cNvPr id="15" name="Freeform 15"/>
            <p:cNvSpPr/>
            <p:nvPr/>
          </p:nvSpPr>
          <p:spPr>
            <a:xfrm>
              <a:off x="1447800" y="1371600"/>
              <a:ext cx="2247900" cy="2247900"/>
            </a:xfrm>
            <a:prstGeom prst="blockArc">
              <a:avLst>
                <a:gd name="adj1" fmla="val 18060000"/>
                <a:gd name="adj2" fmla="val 21540000"/>
                <a:gd name="adj3" fmla="val 25000"/>
              </a:avLst>
            </a:prstGeom>
            <a:solidFill>
              <a:srgbClr val="E4B7AF"/>
            </a:solidFill>
            <a:ln w="19050">
              <a:solidFill>
                <a:srgbClr val="FFFFFF"/>
              </a:solidFill>
            </a:ln>
          </p:spPr>
        </p:sp>
        <p:sp>
          <p:nvSpPr>
            <p:cNvPr id="16" name="Freeform 16"/>
            <p:cNvSpPr/>
            <p:nvPr/>
          </p:nvSpPr>
          <p:spPr>
            <a:xfrm>
              <a:off x="1447800" y="1371600"/>
              <a:ext cx="2247900" cy="2247900"/>
            </a:xfrm>
            <a:prstGeom prst="blockArc">
              <a:avLst>
                <a:gd name="adj1" fmla="val 60000"/>
                <a:gd name="adj2" fmla="val 3540000"/>
                <a:gd name="adj3" fmla="val 25000"/>
              </a:avLst>
            </a:prstGeom>
            <a:solidFill>
              <a:srgbClr val="E7F2D8"/>
            </a:solidFill>
            <a:ln w="19050">
              <a:solidFill>
                <a:srgbClr val="FFFFFF"/>
              </a:solidFill>
            </a:ln>
          </p:spPr>
        </p:sp>
        <p:sp>
          <p:nvSpPr>
            <p:cNvPr id="17" name="Freeform 17"/>
            <p:cNvSpPr/>
            <p:nvPr/>
          </p:nvSpPr>
          <p:spPr>
            <a:xfrm>
              <a:off x="1447800" y="1371600"/>
              <a:ext cx="2247900" cy="2247900"/>
            </a:xfrm>
            <a:prstGeom prst="blockArc">
              <a:avLst>
                <a:gd name="adj1" fmla="val 3660000"/>
                <a:gd name="adj2" fmla="val 7140000"/>
                <a:gd name="adj3" fmla="val 25000"/>
              </a:avLst>
            </a:prstGeom>
            <a:solidFill>
              <a:srgbClr val="E4B7AF"/>
            </a:solidFill>
            <a:ln w="19050">
              <a:solidFill>
                <a:srgbClr val="FFFFFF"/>
              </a:solidFill>
            </a:ln>
          </p:spPr>
        </p:sp>
        <p:sp>
          <p:nvSpPr>
            <p:cNvPr id="18" name="Freeform 18"/>
            <p:cNvSpPr/>
            <p:nvPr/>
          </p:nvSpPr>
          <p:spPr>
            <a:xfrm>
              <a:off x="1447800" y="1371600"/>
              <a:ext cx="2247900" cy="2247900"/>
            </a:xfrm>
            <a:prstGeom prst="blockArc">
              <a:avLst>
                <a:gd name="adj1" fmla="val 7260000"/>
                <a:gd name="adj2" fmla="val 10740000"/>
                <a:gd name="adj3" fmla="val 25000"/>
              </a:avLst>
            </a:prstGeom>
            <a:solidFill>
              <a:srgbClr val="E7F2D8"/>
            </a:solidFill>
            <a:ln w="19050">
              <a:solidFill>
                <a:srgbClr val="FFFFFF"/>
              </a:solidFill>
            </a:ln>
          </p:spPr>
        </p:sp>
        <p:sp>
          <p:nvSpPr>
            <p:cNvPr id="19" name="Freeform 19"/>
            <p:cNvSpPr/>
            <p:nvPr/>
          </p:nvSpPr>
          <p:spPr>
            <a:xfrm>
              <a:off x="1447800" y="1371600"/>
              <a:ext cx="2247900" cy="2247900"/>
            </a:xfrm>
            <a:prstGeom prst="blockArc">
              <a:avLst>
                <a:gd name="adj1" fmla="val 10860000"/>
                <a:gd name="adj2" fmla="val 14340000"/>
                <a:gd name="adj3" fmla="val 25000"/>
              </a:avLst>
            </a:prstGeom>
            <a:solidFill>
              <a:srgbClr val="E4B7AF"/>
            </a:solidFill>
            <a:ln w="19050">
              <a:solidFill>
                <a:srgbClr val="FFFFFF"/>
              </a:solidFill>
            </a:ln>
          </p:spPr>
        </p:sp>
        <p:grpSp>
          <p:nvGrpSpPr>
            <p:cNvPr id="62" name="wheel-inner-labels"/>
            <p:cNvGrpSpPr/>
            <p:nvPr/>
          </p:nvGrpSpPr>
          <p:grpSpPr>
            <a:xfrm>
              <a:off x="1679054" y="1538288"/>
              <a:ext cx="1831163" cy="2030967"/>
              <a:chOff x="1679054" y="1538288"/>
              <a:chExt cx="1831163" cy="2030967"/>
            </a:xfrm>
          </p:grpSpPr>
          <p:grpSp>
            <p:nvGrpSpPr>
              <p:cNvPr id="23" name="Group 23"/>
              <p:cNvGrpSpPr/>
              <p:nvPr/>
            </p:nvGrpSpPr>
            <p:grpSpPr>
              <a:xfrm>
                <a:off x="2538412" y="1538288"/>
                <a:ext cx="66675" cy="85725"/>
                <a:chOff x="2538412" y="1538288"/>
                <a:chExt cx="66675" cy="85725"/>
              </a:xfrm>
            </p:grpSpPr>
            <p:sp>
              <p:nvSpPr>
                <p:cNvPr id="20" name="Freeform 20"/>
                <p:cNvSpPr/>
                <p:nvPr/>
              </p:nvSpPr>
              <p:spPr>
                <a:xfrm>
                  <a:off x="2538412" y="1576388"/>
                  <a:ext cx="66675" cy="47625"/>
                </a:xfrm>
                <a:custGeom>
                  <a:avLst/>
                  <a:gdLst/>
                  <a:ahLst/>
                  <a:cxnLst/>
                  <a:rect l="l" t="t" r="r" b="b"/>
                  <a:pathLst>
                    <a:path w="66675" h="47625">
                      <a:moveTo>
                        <a:pt x="0" y="9525"/>
                      </a:moveTo>
                      <a:cubicBezTo>
                        <a:pt x="0" y="4264"/>
                        <a:pt x="4264" y="0"/>
                        <a:pt x="9525" y="0"/>
                      </a:cubicBezTo>
                      <a:lnTo>
                        <a:pt x="57150" y="0"/>
                      </a:lnTo>
                      <a:cubicBezTo>
                        <a:pt x="62411" y="0"/>
                        <a:pt x="66675" y="4264"/>
                        <a:pt x="66675" y="9525"/>
                      </a:cubicBezTo>
                      <a:lnTo>
                        <a:pt x="66675" y="38100"/>
                      </a:lnTo>
                      <a:cubicBezTo>
                        <a:pt x="66675" y="43361"/>
                        <a:pt x="62411" y="47625"/>
                        <a:pt x="57150" y="47625"/>
                      </a:cubicBezTo>
                      <a:lnTo>
                        <a:pt x="9525" y="47625"/>
                      </a:lnTo>
                      <a:cubicBezTo>
                        <a:pt x="4264" y="47625"/>
                        <a:pt x="0" y="43361"/>
                        <a:pt x="0" y="38100"/>
                      </a:cubicBezTo>
                      <a:lnTo>
                        <a:pt x="0" y="9525"/>
                      </a:lnTo>
                    </a:path>
                  </a:pathLst>
                </a:custGeom>
                <a:noFill/>
                <a:ln w="9525">
                  <a:solidFill>
                    <a:srgbClr val="42140B"/>
                  </a:solidFill>
                </a:ln>
              </p:spPr>
            </p:sp>
            <p:sp>
              <p:nvSpPr>
                <p:cNvPr id="21" name="Freeform 21"/>
                <p:cNvSpPr/>
                <p:nvPr/>
              </p:nvSpPr>
              <p:spPr>
                <a:xfrm>
                  <a:off x="2566988" y="159543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42140B"/>
                  </a:solidFill>
                </a:ln>
              </p:spPr>
            </p:sp>
            <p:sp>
              <p:nvSpPr>
                <p:cNvPr id="22" name="Freeform 22"/>
                <p:cNvSpPr/>
                <p:nvPr/>
              </p:nvSpPr>
              <p:spPr>
                <a:xfrm>
                  <a:off x="2552700" y="1538288"/>
                  <a:ext cx="38100" cy="38100"/>
                </a:xfrm>
                <a:custGeom>
                  <a:avLst/>
                  <a:gdLst/>
                  <a:ahLst/>
                  <a:cxnLst/>
                  <a:rect l="l" t="t" r="r" b="b"/>
                  <a:pathLst>
                    <a:path w="38100" h="38100">
                      <a:moveTo>
                        <a:pt x="0" y="38100"/>
                      </a:moveTo>
                      <a:lnTo>
                        <a:pt x="0" y="19050"/>
                      </a:lnTo>
                      <a:cubicBezTo>
                        <a:pt x="0" y="8529"/>
                        <a:pt x="8529" y="0"/>
                        <a:pt x="19050" y="0"/>
                      </a:cubicBezTo>
                      <a:cubicBezTo>
                        <a:pt x="29571" y="0"/>
                        <a:pt x="38100" y="8529"/>
                        <a:pt x="38100" y="19050"/>
                      </a:cubicBezTo>
                      <a:lnTo>
                        <a:pt x="38100" y="38100"/>
                      </a:lnTo>
                    </a:path>
                  </a:pathLst>
                </a:custGeom>
                <a:noFill/>
                <a:ln w="9525">
                  <a:solidFill>
                    <a:srgbClr val="42140B"/>
                  </a:solidFill>
                </a:ln>
              </p:spPr>
            </p:sp>
          </p:grpSp>
          <p:sp>
            <p:nvSpPr>
              <p:cNvPr id="24" name="TextBox 24"/>
              <p:cNvSpPr txBox="1"/>
              <p:nvPr/>
            </p:nvSpPr>
            <p:spPr>
              <a:xfrm>
                <a:off x="2383904" y="167973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隐私保护</a:t>
                </a:r>
              </a:p>
            </p:txBody>
          </p:sp>
          <p:sp>
            <p:nvSpPr>
              <p:cNvPr id="25" name="TextBox 25"/>
              <p:cNvSpPr txBox="1"/>
              <p:nvPr/>
            </p:nvSpPr>
            <p:spPr>
              <a:xfrm>
                <a:off x="2435060" y="1804749"/>
                <a:ext cx="273380"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最小必要</a:t>
                </a:r>
              </a:p>
            </p:txBody>
          </p:sp>
          <p:sp>
            <p:nvSpPr>
              <p:cNvPr id="26" name="TextBox 26"/>
              <p:cNvSpPr txBox="1"/>
              <p:nvPr/>
            </p:nvSpPr>
            <p:spPr>
              <a:xfrm>
                <a:off x="2435060" y="1890474"/>
                <a:ext cx="273380"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隐私增强</a:t>
                </a:r>
              </a:p>
            </p:txBody>
          </p:sp>
          <p:grpSp>
            <p:nvGrpSpPr>
              <p:cNvPr id="29" name="Group 29"/>
              <p:cNvGrpSpPr/>
              <p:nvPr/>
            </p:nvGrpSpPr>
            <p:grpSpPr>
              <a:xfrm>
                <a:off x="3233738" y="1895475"/>
                <a:ext cx="85725" cy="57150"/>
                <a:chOff x="3233738" y="1895475"/>
                <a:chExt cx="85725" cy="57150"/>
              </a:xfrm>
            </p:grpSpPr>
            <p:sp>
              <p:nvSpPr>
                <p:cNvPr id="27" name="Freeform 27"/>
                <p:cNvSpPr/>
                <p:nvPr/>
              </p:nvSpPr>
              <p:spPr>
                <a:xfrm>
                  <a:off x="3267075" y="19145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42140B"/>
                  </a:solidFill>
                </a:ln>
              </p:spPr>
            </p:sp>
            <p:sp>
              <p:nvSpPr>
                <p:cNvPr id="28" name="Freeform 28"/>
                <p:cNvSpPr/>
                <p:nvPr/>
              </p:nvSpPr>
              <p:spPr>
                <a:xfrm>
                  <a:off x="3233738" y="1895475"/>
                  <a:ext cx="85725" cy="57150"/>
                </a:xfrm>
                <a:custGeom>
                  <a:avLst/>
                  <a:gdLst/>
                  <a:ahLst/>
                  <a:cxnLst/>
                  <a:rect l="l" t="t" r="r" b="b"/>
                  <a:pathLst>
                    <a:path w="85725" h="57150">
                      <a:moveTo>
                        <a:pt x="85725" y="28575"/>
                      </a:moveTo>
                      <a:cubicBezTo>
                        <a:pt x="74295" y="47625"/>
                        <a:pt x="60008" y="57150"/>
                        <a:pt x="42862" y="57150"/>
                      </a:cubicBezTo>
                      <a:cubicBezTo>
                        <a:pt x="25717" y="57150"/>
                        <a:pt x="11430" y="47625"/>
                        <a:pt x="0" y="28575"/>
                      </a:cubicBezTo>
                      <a:cubicBezTo>
                        <a:pt x="11430" y="9525"/>
                        <a:pt x="25717" y="0"/>
                        <a:pt x="42862" y="0"/>
                      </a:cubicBezTo>
                      <a:cubicBezTo>
                        <a:pt x="60008" y="0"/>
                        <a:pt x="74295" y="9525"/>
                        <a:pt x="85725" y="28575"/>
                      </a:cubicBezTo>
                    </a:path>
                  </a:pathLst>
                </a:custGeom>
                <a:noFill/>
                <a:ln w="9525">
                  <a:solidFill>
                    <a:srgbClr val="42140B"/>
                  </a:solidFill>
                </a:ln>
              </p:spPr>
            </p:sp>
          </p:grpSp>
          <p:sp>
            <p:nvSpPr>
              <p:cNvPr id="30" name="TextBox 30"/>
              <p:cNvSpPr txBox="1"/>
              <p:nvPr/>
            </p:nvSpPr>
            <p:spPr>
              <a:xfrm>
                <a:off x="3042984" y="2022634"/>
                <a:ext cx="467233"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透明可解释</a:t>
                </a:r>
              </a:p>
            </p:txBody>
          </p:sp>
          <p:sp>
            <p:nvSpPr>
              <p:cNvPr id="31" name="TextBox 31"/>
              <p:cNvSpPr txBox="1"/>
              <p:nvPr/>
            </p:nvSpPr>
            <p:spPr>
              <a:xfrm>
                <a:off x="3073946" y="2147649"/>
                <a:ext cx="405308"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可理解可追溯</a:t>
                </a:r>
              </a:p>
            </p:txBody>
          </p:sp>
          <p:sp>
            <p:nvSpPr>
              <p:cNvPr id="32" name="TextBox 32"/>
              <p:cNvSpPr txBox="1"/>
              <p:nvPr/>
            </p:nvSpPr>
            <p:spPr>
              <a:xfrm>
                <a:off x="3139910" y="2233374"/>
                <a:ext cx="273380"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清晰披露</a:t>
                </a:r>
              </a:p>
            </p:txBody>
          </p:sp>
          <p:grpSp>
            <p:nvGrpSpPr>
              <p:cNvPr id="38" name="Group 38"/>
              <p:cNvGrpSpPr/>
              <p:nvPr/>
            </p:nvGrpSpPr>
            <p:grpSpPr>
              <a:xfrm>
                <a:off x="3233738" y="2719388"/>
                <a:ext cx="85725" cy="90487"/>
                <a:chOff x="3233738" y="2719388"/>
                <a:chExt cx="85725" cy="90487"/>
              </a:xfrm>
            </p:grpSpPr>
            <p:sp>
              <p:nvSpPr>
                <p:cNvPr id="33" name="Freeform 33"/>
                <p:cNvSpPr/>
                <p:nvPr/>
              </p:nvSpPr>
              <p:spPr>
                <a:xfrm>
                  <a:off x="3252788" y="2800350"/>
                  <a:ext cx="47625" cy="9525"/>
                </a:xfrm>
                <a:custGeom>
                  <a:avLst/>
                  <a:gdLst/>
                  <a:ahLst/>
                  <a:cxnLst/>
                  <a:rect l="l" t="t" r="r" b="b"/>
                  <a:pathLst>
                    <a:path w="47625" h="9525">
                      <a:moveTo>
                        <a:pt x="0" y="0"/>
                      </a:moveTo>
                      <a:lnTo>
                        <a:pt x="47625" y="0"/>
                      </a:lnTo>
                    </a:path>
                  </a:pathLst>
                </a:custGeom>
                <a:noFill/>
                <a:ln w="9525">
                  <a:solidFill>
                    <a:srgbClr val="42140B"/>
                  </a:solidFill>
                </a:ln>
              </p:spPr>
            </p:sp>
            <p:sp>
              <p:nvSpPr>
                <p:cNvPr id="34" name="Freeform 34"/>
                <p:cNvSpPr/>
                <p:nvPr/>
              </p:nvSpPr>
              <p:spPr>
                <a:xfrm>
                  <a:off x="3248025" y="2728912"/>
                  <a:ext cx="57150" cy="9525"/>
                </a:xfrm>
                <a:custGeom>
                  <a:avLst/>
                  <a:gdLst/>
                  <a:ahLst/>
                  <a:cxnLst/>
                  <a:rect l="l" t="t" r="r" b="b"/>
                  <a:pathLst>
                    <a:path w="57150" h="9525">
                      <a:moveTo>
                        <a:pt x="0" y="4762"/>
                      </a:moveTo>
                      <a:lnTo>
                        <a:pt x="28575" y="0"/>
                      </a:lnTo>
                      <a:lnTo>
                        <a:pt x="57150" y="4762"/>
                      </a:lnTo>
                    </a:path>
                  </a:pathLst>
                </a:custGeom>
                <a:noFill/>
                <a:ln w="9525">
                  <a:solidFill>
                    <a:srgbClr val="42140B"/>
                  </a:solidFill>
                </a:ln>
              </p:spPr>
            </p:sp>
            <p:sp>
              <p:nvSpPr>
                <p:cNvPr id="35" name="Freeform 35"/>
                <p:cNvSpPr/>
                <p:nvPr/>
              </p:nvSpPr>
              <p:spPr>
                <a:xfrm>
                  <a:off x="3276600" y="2719388"/>
                  <a:ext cx="9525" cy="80962"/>
                </a:xfrm>
                <a:custGeom>
                  <a:avLst/>
                  <a:gdLst/>
                  <a:ahLst/>
                  <a:cxnLst/>
                  <a:rect l="l" t="t" r="r" b="b"/>
                  <a:pathLst>
                    <a:path w="9525" h="80962">
                      <a:moveTo>
                        <a:pt x="0" y="0"/>
                      </a:moveTo>
                      <a:lnTo>
                        <a:pt x="0" y="80962"/>
                      </a:lnTo>
                    </a:path>
                  </a:pathLst>
                </a:custGeom>
                <a:noFill/>
                <a:ln w="9525">
                  <a:solidFill>
                    <a:srgbClr val="42140B"/>
                  </a:solidFill>
                </a:ln>
              </p:spPr>
            </p:sp>
            <p:sp>
              <p:nvSpPr>
                <p:cNvPr id="36" name="Freeform 36"/>
                <p:cNvSpPr/>
                <p:nvPr/>
              </p:nvSpPr>
              <p:spPr>
                <a:xfrm>
                  <a:off x="3233738" y="2733675"/>
                  <a:ext cx="28575" cy="42862"/>
                </a:xfrm>
                <a:custGeom>
                  <a:avLst/>
                  <a:gdLst/>
                  <a:ahLst/>
                  <a:cxnLst/>
                  <a:rect l="l" t="t" r="r" b="b"/>
                  <a:pathLst>
                    <a:path w="28575" h="42862">
                      <a:moveTo>
                        <a:pt x="28575" y="28575"/>
                      </a:moveTo>
                      <a:lnTo>
                        <a:pt x="14288" y="0"/>
                      </a:lnTo>
                      <a:lnTo>
                        <a:pt x="0" y="28575"/>
                      </a:lnTo>
                      <a:cubicBezTo>
                        <a:pt x="0" y="36466"/>
                        <a:pt x="6397" y="42862"/>
                        <a:pt x="14288" y="42862"/>
                      </a:cubicBezTo>
                      <a:cubicBezTo>
                        <a:pt x="22178" y="42862"/>
                        <a:pt x="28575" y="36466"/>
                        <a:pt x="28575" y="28575"/>
                      </a:cubicBezTo>
                    </a:path>
                  </a:pathLst>
                </a:custGeom>
                <a:noFill/>
                <a:ln w="9525">
                  <a:solidFill>
                    <a:srgbClr val="42140B"/>
                  </a:solidFill>
                </a:ln>
              </p:spPr>
            </p:sp>
            <p:sp>
              <p:nvSpPr>
                <p:cNvPr id="37" name="Freeform 37"/>
                <p:cNvSpPr/>
                <p:nvPr/>
              </p:nvSpPr>
              <p:spPr>
                <a:xfrm>
                  <a:off x="3290888" y="2733675"/>
                  <a:ext cx="28575" cy="42862"/>
                </a:xfrm>
                <a:custGeom>
                  <a:avLst/>
                  <a:gdLst/>
                  <a:ahLst/>
                  <a:cxnLst/>
                  <a:rect l="l" t="t" r="r" b="b"/>
                  <a:pathLst>
                    <a:path w="28575" h="42862">
                      <a:moveTo>
                        <a:pt x="28575" y="28575"/>
                      </a:moveTo>
                      <a:lnTo>
                        <a:pt x="14288" y="0"/>
                      </a:lnTo>
                      <a:lnTo>
                        <a:pt x="0" y="28575"/>
                      </a:lnTo>
                      <a:cubicBezTo>
                        <a:pt x="0" y="36466"/>
                        <a:pt x="6397" y="42862"/>
                        <a:pt x="14288" y="42862"/>
                      </a:cubicBezTo>
                      <a:cubicBezTo>
                        <a:pt x="22178" y="42862"/>
                        <a:pt x="28575" y="36466"/>
                        <a:pt x="28575" y="28575"/>
                      </a:cubicBezTo>
                    </a:path>
                  </a:pathLst>
                </a:custGeom>
                <a:noFill/>
                <a:ln w="9525">
                  <a:solidFill>
                    <a:srgbClr val="42140B"/>
                  </a:solidFill>
                </a:ln>
              </p:spPr>
            </p:sp>
          </p:grpSp>
          <p:sp>
            <p:nvSpPr>
              <p:cNvPr id="39" name="TextBox 39"/>
              <p:cNvSpPr txBox="1"/>
              <p:nvPr/>
            </p:nvSpPr>
            <p:spPr>
              <a:xfrm>
                <a:off x="3088754" y="286083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公平无偏</a:t>
                </a:r>
              </a:p>
            </p:txBody>
          </p:sp>
          <p:sp>
            <p:nvSpPr>
              <p:cNvPr id="40" name="TextBox 40"/>
              <p:cNvSpPr txBox="1"/>
              <p:nvPr/>
            </p:nvSpPr>
            <p:spPr>
              <a:xfrm>
                <a:off x="3139910" y="2985849"/>
                <a:ext cx="273380"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公平对待</a:t>
                </a:r>
              </a:p>
            </p:txBody>
          </p:sp>
          <p:sp>
            <p:nvSpPr>
              <p:cNvPr id="41" name="TextBox 41"/>
              <p:cNvSpPr txBox="1"/>
              <p:nvPr/>
            </p:nvSpPr>
            <p:spPr>
              <a:xfrm>
                <a:off x="3139910" y="3071574"/>
                <a:ext cx="273380"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消除歧视</a:t>
                </a:r>
              </a:p>
            </p:txBody>
          </p:sp>
          <p:grpSp>
            <p:nvGrpSpPr>
              <p:cNvPr id="45" name="Group 45"/>
              <p:cNvGrpSpPr/>
              <p:nvPr/>
            </p:nvGrpSpPr>
            <p:grpSpPr>
              <a:xfrm>
                <a:off x="2543175" y="3119438"/>
                <a:ext cx="71438" cy="85725"/>
                <a:chOff x="2543175" y="3119438"/>
                <a:chExt cx="71438" cy="85725"/>
              </a:xfrm>
            </p:grpSpPr>
            <p:sp>
              <p:nvSpPr>
                <p:cNvPr id="42" name="Freeform 42"/>
                <p:cNvSpPr/>
                <p:nvPr/>
              </p:nvSpPr>
              <p:spPr>
                <a:xfrm>
                  <a:off x="2552700" y="31194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42140B"/>
                  </a:solidFill>
                </a:ln>
              </p:spPr>
            </p:sp>
            <p:sp>
              <p:nvSpPr>
                <p:cNvPr id="43" name="Freeform 43"/>
                <p:cNvSpPr/>
                <p:nvPr/>
              </p:nvSpPr>
              <p:spPr>
                <a:xfrm>
                  <a:off x="2543175" y="3176588"/>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42140B"/>
                  </a:solidFill>
                </a:ln>
              </p:spPr>
            </p:sp>
            <p:sp>
              <p:nvSpPr>
                <p:cNvPr id="44" name="Freeform 44"/>
                <p:cNvSpPr/>
                <p:nvPr/>
              </p:nvSpPr>
              <p:spPr>
                <a:xfrm>
                  <a:off x="2586038" y="3186112"/>
                  <a:ext cx="28575" cy="19050"/>
                </a:xfrm>
                <a:custGeom>
                  <a:avLst/>
                  <a:gdLst/>
                  <a:ahLst/>
                  <a:cxnLst/>
                  <a:rect l="l" t="t" r="r" b="b"/>
                  <a:pathLst>
                    <a:path w="28575" h="19050">
                      <a:moveTo>
                        <a:pt x="0" y="9525"/>
                      </a:moveTo>
                      <a:lnTo>
                        <a:pt x="9525" y="19050"/>
                      </a:lnTo>
                      <a:lnTo>
                        <a:pt x="28575" y="0"/>
                      </a:lnTo>
                    </a:path>
                  </a:pathLst>
                </a:custGeom>
                <a:noFill/>
                <a:ln w="9525">
                  <a:solidFill>
                    <a:srgbClr val="42140B"/>
                  </a:solidFill>
                </a:ln>
              </p:spPr>
            </p:sp>
          </p:grpSp>
          <p:sp>
            <p:nvSpPr>
              <p:cNvPr id="46" name="TextBox 46"/>
              <p:cNvSpPr txBox="1"/>
              <p:nvPr/>
            </p:nvSpPr>
            <p:spPr>
              <a:xfrm>
                <a:off x="2383904" y="326088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问责担当</a:t>
                </a:r>
              </a:p>
            </p:txBody>
          </p:sp>
          <p:sp>
            <p:nvSpPr>
              <p:cNvPr id="47" name="TextBox 47"/>
              <p:cNvSpPr txBox="1"/>
              <p:nvPr/>
            </p:nvSpPr>
            <p:spPr>
              <a:xfrm>
                <a:off x="2369096" y="3385899"/>
                <a:ext cx="405308"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明确责任主体</a:t>
                </a:r>
              </a:p>
            </p:txBody>
          </p:sp>
          <p:sp>
            <p:nvSpPr>
              <p:cNvPr id="48" name="TextBox 48"/>
              <p:cNvSpPr txBox="1"/>
              <p:nvPr/>
            </p:nvSpPr>
            <p:spPr>
              <a:xfrm>
                <a:off x="2402078" y="3471624"/>
                <a:ext cx="339344"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可追溯到人</a:t>
                </a:r>
              </a:p>
            </p:txBody>
          </p:sp>
          <p:grpSp>
            <p:nvGrpSpPr>
              <p:cNvPr id="51" name="Group 51"/>
              <p:cNvGrpSpPr/>
              <p:nvPr/>
            </p:nvGrpSpPr>
            <p:grpSpPr>
              <a:xfrm>
                <a:off x="1817610" y="2719388"/>
                <a:ext cx="93003" cy="85724"/>
                <a:chOff x="1817610" y="2719388"/>
                <a:chExt cx="93003" cy="85724"/>
              </a:xfrm>
            </p:grpSpPr>
            <p:sp>
              <p:nvSpPr>
                <p:cNvPr id="49" name="Freeform 49"/>
                <p:cNvSpPr/>
                <p:nvPr/>
              </p:nvSpPr>
              <p:spPr>
                <a:xfrm>
                  <a:off x="1817610" y="2719388"/>
                  <a:ext cx="93003" cy="84992"/>
                </a:xfrm>
                <a:custGeom>
                  <a:avLst/>
                  <a:gdLst/>
                  <a:ahLst/>
                  <a:cxnLst/>
                  <a:rect l="l" t="t" r="r" b="b"/>
                  <a:pathLst>
                    <a:path w="93003" h="84992">
                      <a:moveTo>
                        <a:pt x="46718" y="84992"/>
                      </a:moveTo>
                      <a:cubicBezTo>
                        <a:pt x="16883" y="75743"/>
                        <a:pt x="0" y="44255"/>
                        <a:pt x="8808" y="14288"/>
                      </a:cubicBezTo>
                      <a:cubicBezTo>
                        <a:pt x="23646" y="14966"/>
                        <a:pt x="38165" y="9842"/>
                        <a:pt x="49290" y="0"/>
                      </a:cubicBezTo>
                      <a:cubicBezTo>
                        <a:pt x="60414" y="9842"/>
                        <a:pt x="74933" y="14966"/>
                        <a:pt x="89771" y="14288"/>
                      </a:cubicBezTo>
                      <a:cubicBezTo>
                        <a:pt x="93003" y="25285"/>
                        <a:pt x="92854" y="37000"/>
                        <a:pt x="89342" y="47911"/>
                      </a:cubicBezTo>
                    </a:path>
                  </a:pathLst>
                </a:custGeom>
                <a:noFill/>
                <a:ln w="9525">
                  <a:solidFill>
                    <a:srgbClr val="42140B"/>
                  </a:solidFill>
                </a:ln>
              </p:spPr>
            </p:sp>
            <p:sp>
              <p:nvSpPr>
                <p:cNvPr id="50" name="Freeform 50"/>
                <p:cNvSpPr/>
                <p:nvPr/>
              </p:nvSpPr>
              <p:spPr>
                <a:xfrm>
                  <a:off x="1881188" y="2786062"/>
                  <a:ext cx="28575" cy="19050"/>
                </a:xfrm>
                <a:custGeom>
                  <a:avLst/>
                  <a:gdLst/>
                  <a:ahLst/>
                  <a:cxnLst/>
                  <a:rect l="l" t="t" r="r" b="b"/>
                  <a:pathLst>
                    <a:path w="28575" h="19050">
                      <a:moveTo>
                        <a:pt x="0" y="9525"/>
                      </a:moveTo>
                      <a:lnTo>
                        <a:pt x="9525" y="19050"/>
                      </a:lnTo>
                      <a:lnTo>
                        <a:pt x="28575" y="0"/>
                      </a:lnTo>
                    </a:path>
                  </a:pathLst>
                </a:custGeom>
                <a:noFill/>
                <a:ln w="9525">
                  <a:solidFill>
                    <a:srgbClr val="42140B"/>
                  </a:solidFill>
                </a:ln>
              </p:spPr>
            </p:sp>
          </p:grpSp>
          <p:sp>
            <p:nvSpPr>
              <p:cNvPr id="52" name="TextBox 52"/>
              <p:cNvSpPr txBox="1"/>
              <p:nvPr/>
            </p:nvSpPr>
            <p:spPr>
              <a:xfrm>
                <a:off x="1679054" y="286083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稳健可靠</a:t>
                </a:r>
              </a:p>
            </p:txBody>
          </p:sp>
          <p:sp>
            <p:nvSpPr>
              <p:cNvPr id="53" name="TextBox 53"/>
              <p:cNvSpPr txBox="1"/>
              <p:nvPr/>
            </p:nvSpPr>
            <p:spPr>
              <a:xfrm>
                <a:off x="1730210" y="2985849"/>
                <a:ext cx="273380"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性能稳定</a:t>
                </a:r>
              </a:p>
            </p:txBody>
          </p:sp>
          <p:sp>
            <p:nvSpPr>
              <p:cNvPr id="54" name="TextBox 54"/>
              <p:cNvSpPr txBox="1"/>
              <p:nvPr/>
            </p:nvSpPr>
            <p:spPr>
              <a:xfrm>
                <a:off x="1730210" y="3071574"/>
                <a:ext cx="273380"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容错抗扰</a:t>
                </a:r>
              </a:p>
            </p:txBody>
          </p:sp>
          <p:grpSp>
            <p:nvGrpSpPr>
              <p:cNvPr id="58" name="Group 58"/>
              <p:cNvGrpSpPr/>
              <p:nvPr/>
            </p:nvGrpSpPr>
            <p:grpSpPr>
              <a:xfrm>
                <a:off x="1833562" y="1881188"/>
                <a:ext cx="66675" cy="85725"/>
                <a:chOff x="1833562" y="1881188"/>
                <a:chExt cx="66675" cy="85725"/>
              </a:xfrm>
            </p:grpSpPr>
            <p:sp>
              <p:nvSpPr>
                <p:cNvPr id="55" name="Freeform 55"/>
                <p:cNvSpPr/>
                <p:nvPr/>
              </p:nvSpPr>
              <p:spPr>
                <a:xfrm>
                  <a:off x="1833562" y="1919288"/>
                  <a:ext cx="66675" cy="47625"/>
                </a:xfrm>
                <a:custGeom>
                  <a:avLst/>
                  <a:gdLst/>
                  <a:ahLst/>
                  <a:cxnLst/>
                  <a:rect l="l" t="t" r="r" b="b"/>
                  <a:pathLst>
                    <a:path w="66675" h="47625">
                      <a:moveTo>
                        <a:pt x="0" y="9525"/>
                      </a:moveTo>
                      <a:cubicBezTo>
                        <a:pt x="0" y="4264"/>
                        <a:pt x="4264" y="0"/>
                        <a:pt x="9525" y="0"/>
                      </a:cubicBezTo>
                      <a:lnTo>
                        <a:pt x="57150" y="0"/>
                      </a:lnTo>
                      <a:cubicBezTo>
                        <a:pt x="62411" y="0"/>
                        <a:pt x="66675" y="4264"/>
                        <a:pt x="66675" y="9525"/>
                      </a:cubicBezTo>
                      <a:lnTo>
                        <a:pt x="66675" y="38100"/>
                      </a:lnTo>
                      <a:cubicBezTo>
                        <a:pt x="66675" y="43361"/>
                        <a:pt x="62411" y="47625"/>
                        <a:pt x="57150" y="47625"/>
                      </a:cubicBezTo>
                      <a:lnTo>
                        <a:pt x="9525" y="47625"/>
                      </a:lnTo>
                      <a:cubicBezTo>
                        <a:pt x="4264" y="47625"/>
                        <a:pt x="0" y="43361"/>
                        <a:pt x="0" y="38100"/>
                      </a:cubicBezTo>
                      <a:lnTo>
                        <a:pt x="0" y="9525"/>
                      </a:lnTo>
                    </a:path>
                  </a:pathLst>
                </a:custGeom>
                <a:noFill/>
                <a:ln w="9525">
                  <a:solidFill>
                    <a:srgbClr val="42140B"/>
                  </a:solidFill>
                </a:ln>
              </p:spPr>
            </p:sp>
            <p:sp>
              <p:nvSpPr>
                <p:cNvPr id="56" name="Freeform 56"/>
                <p:cNvSpPr/>
                <p:nvPr/>
              </p:nvSpPr>
              <p:spPr>
                <a:xfrm>
                  <a:off x="1862138" y="193833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42140B"/>
                  </a:solidFill>
                </a:ln>
              </p:spPr>
            </p:sp>
            <p:sp>
              <p:nvSpPr>
                <p:cNvPr id="57" name="Freeform 57"/>
                <p:cNvSpPr/>
                <p:nvPr/>
              </p:nvSpPr>
              <p:spPr>
                <a:xfrm>
                  <a:off x="1847850" y="1881188"/>
                  <a:ext cx="38100" cy="38100"/>
                </a:xfrm>
                <a:custGeom>
                  <a:avLst/>
                  <a:gdLst/>
                  <a:ahLst/>
                  <a:cxnLst/>
                  <a:rect l="l" t="t" r="r" b="b"/>
                  <a:pathLst>
                    <a:path w="38100" h="38100">
                      <a:moveTo>
                        <a:pt x="0" y="38100"/>
                      </a:moveTo>
                      <a:lnTo>
                        <a:pt x="0" y="19050"/>
                      </a:lnTo>
                      <a:cubicBezTo>
                        <a:pt x="0" y="8529"/>
                        <a:pt x="8529" y="0"/>
                        <a:pt x="19050" y="0"/>
                      </a:cubicBezTo>
                      <a:cubicBezTo>
                        <a:pt x="29571" y="0"/>
                        <a:pt x="38100" y="8529"/>
                        <a:pt x="38100" y="19050"/>
                      </a:cubicBezTo>
                      <a:lnTo>
                        <a:pt x="38100" y="38100"/>
                      </a:lnTo>
                    </a:path>
                  </a:pathLst>
                </a:custGeom>
                <a:noFill/>
                <a:ln w="9525">
                  <a:solidFill>
                    <a:srgbClr val="42140B"/>
                  </a:solidFill>
                </a:ln>
              </p:spPr>
            </p:sp>
          </p:grpSp>
          <p:sp>
            <p:nvSpPr>
              <p:cNvPr id="59" name="TextBox 59"/>
              <p:cNvSpPr txBox="1"/>
              <p:nvPr/>
            </p:nvSpPr>
            <p:spPr>
              <a:xfrm>
                <a:off x="1679054" y="202263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安全可信</a:t>
                </a:r>
              </a:p>
            </p:txBody>
          </p:sp>
          <p:sp>
            <p:nvSpPr>
              <p:cNvPr id="60" name="TextBox 60"/>
              <p:cNvSpPr txBox="1"/>
              <p:nvPr/>
            </p:nvSpPr>
            <p:spPr>
              <a:xfrm>
                <a:off x="1730210" y="2147649"/>
                <a:ext cx="273380"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安全防护</a:t>
                </a:r>
              </a:p>
            </p:txBody>
          </p:sp>
          <p:sp>
            <p:nvSpPr>
              <p:cNvPr id="61" name="TextBox 61"/>
              <p:cNvSpPr txBox="1"/>
              <p:nvPr/>
            </p:nvSpPr>
            <p:spPr>
              <a:xfrm>
                <a:off x="1730210" y="2233374"/>
                <a:ext cx="273380" cy="97631"/>
              </a:xfrm>
              <a:prstGeom prst="rect">
                <a:avLst/>
              </a:prstGeom>
              <a:noFill/>
              <a:ln>
                <a:noFill/>
              </a:ln>
            </p:spPr>
            <p:txBody>
              <a:bodyPr wrap="none" lIns="0" tIns="0" rIns="0" bIns="0" anchor="t" anchorCtr="0">
                <a:spAutoFit/>
              </a:bodyPr>
              <a:lstStyle/>
              <a:p>
                <a:pPr algn="ctr"/>
                <a:r>
                  <a:rPr lang="zh-CN" sz="490" dirty="0">
                    <a:solidFill>
                      <a:srgbClr val="3A4238"/>
                    </a:solidFill>
                    <a:latin typeface="+mn-lt"/>
                    <a:ea typeface="+mn-ea"/>
                    <a:cs typeface="+mn-cs"/>
                  </a:rPr>
                  <a:t>可信运行</a:t>
                </a:r>
              </a:p>
            </p:txBody>
          </p:sp>
        </p:grpSp>
        <p:grpSp>
          <p:nvGrpSpPr>
            <p:cNvPr id="68" name="wheel-core"/>
            <p:cNvGrpSpPr/>
            <p:nvPr/>
          </p:nvGrpSpPr>
          <p:grpSpPr>
            <a:xfrm>
              <a:off x="2152650" y="2076450"/>
              <a:ext cx="838200" cy="838200"/>
              <a:chOff x="2152650" y="2076450"/>
              <a:chExt cx="838200" cy="838200"/>
            </a:xfrm>
          </p:grpSpPr>
          <p:sp>
            <p:nvSpPr>
              <p:cNvPr id="63" name="Ellipse 63"/>
              <p:cNvSpPr/>
              <p:nvPr/>
            </p:nvSpPr>
            <p:spPr>
              <a:xfrm>
                <a:off x="2152650" y="2076450"/>
                <a:ext cx="838200" cy="838200"/>
              </a:xfrm>
              <a:prstGeom prst="ellipse">
                <a:avLst/>
              </a:prstGeom>
              <a:gradFill>
                <a:gsLst>
                  <a:gs pos="0">
                    <a:srgbClr val="643228"/>
                  </a:gs>
                  <a:gs pos="100000">
                    <a:srgbClr val="42140B"/>
                  </a:gs>
                </a:gsLst>
                <a:lin ang="2700000" scaled="1"/>
              </a:gradFill>
              <a:ln>
                <a:noFill/>
              </a:ln>
            </p:spPr>
          </p:sp>
          <p:grpSp>
            <p:nvGrpSpPr>
              <p:cNvPr id="66" name="Group 66"/>
              <p:cNvGrpSpPr/>
              <p:nvPr/>
            </p:nvGrpSpPr>
            <p:grpSpPr>
              <a:xfrm>
                <a:off x="2481385" y="2274094"/>
                <a:ext cx="170506" cy="157162"/>
                <a:chOff x="2481385" y="2274094"/>
                <a:chExt cx="170506" cy="157162"/>
              </a:xfrm>
            </p:grpSpPr>
            <p:sp>
              <p:nvSpPr>
                <p:cNvPr id="64" name="Freeform 64"/>
                <p:cNvSpPr/>
                <p:nvPr/>
              </p:nvSpPr>
              <p:spPr>
                <a:xfrm>
                  <a:off x="2481385" y="227409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FFFFFF"/>
                  </a:solidFill>
                </a:ln>
              </p:spPr>
            </p:sp>
            <p:sp>
              <p:nvSpPr>
                <p:cNvPr id="65" name="Freeform 65"/>
                <p:cNvSpPr/>
                <p:nvPr/>
              </p:nvSpPr>
              <p:spPr>
                <a:xfrm>
                  <a:off x="2597944" y="2396331"/>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67" name="TextBox 67"/>
              <p:cNvSpPr txBox="1"/>
              <p:nvPr/>
            </p:nvSpPr>
            <p:spPr>
              <a:xfrm>
                <a:off x="2328123" y="2588895"/>
                <a:ext cx="48725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 xml:space="preserve">可信AI　</a:t>
                </a:r>
              </a:p>
            </p:txBody>
          </p:sp>
        </p:grpSp>
        <p:grpSp>
          <p:nvGrpSpPr>
            <p:cNvPr id="117" name="wheel-outer-nodes"/>
            <p:cNvGrpSpPr/>
            <p:nvPr/>
          </p:nvGrpSpPr>
          <p:grpSpPr>
            <a:xfrm>
              <a:off x="639128" y="828675"/>
              <a:ext cx="3865245" cy="3508772"/>
              <a:chOff x="639128" y="828675"/>
              <a:chExt cx="3865245" cy="3508772"/>
            </a:xfrm>
          </p:grpSpPr>
          <p:sp>
            <p:nvSpPr>
              <p:cNvPr id="69" name="Ellipse 69"/>
              <p:cNvSpPr/>
              <p:nvPr/>
            </p:nvSpPr>
            <p:spPr>
              <a:xfrm>
                <a:off x="2409825" y="828675"/>
                <a:ext cx="323850" cy="323850"/>
              </a:xfrm>
              <a:prstGeom prst="ellipse">
                <a:avLst/>
              </a:prstGeom>
              <a:solidFill>
                <a:srgbClr val="7C3B2F"/>
              </a:solidFill>
              <a:ln>
                <a:noFill/>
              </a:ln>
            </p:spPr>
          </p:sp>
          <p:grpSp>
            <p:nvGrpSpPr>
              <p:cNvPr id="73" name="Group 73"/>
              <p:cNvGrpSpPr/>
              <p:nvPr/>
            </p:nvGrpSpPr>
            <p:grpSpPr>
              <a:xfrm>
                <a:off x="2507456" y="926306"/>
                <a:ext cx="128588" cy="128588"/>
                <a:chOff x="2507456" y="926306"/>
                <a:chExt cx="128588" cy="128588"/>
              </a:xfrm>
            </p:grpSpPr>
            <p:sp>
              <p:nvSpPr>
                <p:cNvPr id="70" name="Freeform 70"/>
                <p:cNvSpPr/>
                <p:nvPr/>
              </p:nvSpPr>
              <p:spPr>
                <a:xfrm>
                  <a:off x="2564606" y="9834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71" name="Freeform 71"/>
                <p:cNvSpPr/>
                <p:nvPr/>
              </p:nvSpPr>
              <p:spPr>
                <a:xfrm>
                  <a:off x="2536031" y="9548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72" name="Freeform 72"/>
                <p:cNvSpPr/>
                <p:nvPr/>
              </p:nvSpPr>
              <p:spPr>
                <a:xfrm>
                  <a:off x="2507456" y="9263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74" name="TextBox 74"/>
              <p:cNvSpPr txBox="1"/>
              <p:nvPr/>
            </p:nvSpPr>
            <p:spPr>
              <a:xfrm>
                <a:off x="2776538" y="871538"/>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场景准入</a:t>
                </a:r>
              </a:p>
            </p:txBody>
          </p:sp>
          <p:sp>
            <p:nvSpPr>
              <p:cNvPr id="75" name="TextBox 75"/>
              <p:cNvSpPr txBox="1"/>
              <p:nvPr/>
            </p:nvSpPr>
            <p:spPr>
              <a:xfrm>
                <a:off x="2776538" y="1015603"/>
                <a:ext cx="46184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业务价值评估</a:t>
                </a:r>
              </a:p>
            </p:txBody>
          </p:sp>
          <p:sp>
            <p:nvSpPr>
              <p:cNvPr id="76" name="TextBox 76"/>
              <p:cNvSpPr txBox="1"/>
              <p:nvPr/>
            </p:nvSpPr>
            <p:spPr>
              <a:xfrm>
                <a:off x="2776538" y="1120378"/>
                <a:ext cx="311074"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风险初判</a:t>
                </a:r>
              </a:p>
            </p:txBody>
          </p:sp>
          <p:sp>
            <p:nvSpPr>
              <p:cNvPr id="77" name="Ellipse 77"/>
              <p:cNvSpPr/>
              <p:nvPr/>
            </p:nvSpPr>
            <p:spPr>
              <a:xfrm>
                <a:off x="3714750" y="1581150"/>
                <a:ext cx="323850" cy="323850"/>
              </a:xfrm>
              <a:prstGeom prst="ellipse">
                <a:avLst/>
              </a:prstGeom>
              <a:solidFill>
                <a:srgbClr val="7C3B2F"/>
              </a:solidFill>
              <a:ln>
                <a:noFill/>
              </a:ln>
            </p:spPr>
          </p:sp>
          <p:grpSp>
            <p:nvGrpSpPr>
              <p:cNvPr id="81" name="Group 81"/>
              <p:cNvGrpSpPr/>
              <p:nvPr/>
            </p:nvGrpSpPr>
            <p:grpSpPr>
              <a:xfrm>
                <a:off x="3819525" y="1678781"/>
                <a:ext cx="114300" cy="128588"/>
                <a:chOff x="3819525" y="1678781"/>
                <a:chExt cx="114300" cy="128588"/>
              </a:xfrm>
            </p:grpSpPr>
            <p:sp>
              <p:nvSpPr>
                <p:cNvPr id="78" name="Freeform 78"/>
                <p:cNvSpPr/>
                <p:nvPr/>
              </p:nvSpPr>
              <p:spPr>
                <a:xfrm>
                  <a:off x="3819525" y="167878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79" name="Freeform 79"/>
                <p:cNvSpPr/>
                <p:nvPr/>
              </p:nvSpPr>
              <p:spPr>
                <a:xfrm>
                  <a:off x="3819525" y="170021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80" name="Freeform 80"/>
                <p:cNvSpPr/>
                <p:nvPr/>
              </p:nvSpPr>
              <p:spPr>
                <a:xfrm>
                  <a:off x="3819525" y="174307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sp>
            <p:nvSpPr>
              <p:cNvPr id="82" name="TextBox 82"/>
              <p:cNvSpPr txBox="1"/>
              <p:nvPr/>
            </p:nvSpPr>
            <p:spPr>
              <a:xfrm>
                <a:off x="4090988" y="1633538"/>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数据评审</a:t>
                </a:r>
              </a:p>
            </p:txBody>
          </p:sp>
          <p:sp>
            <p:nvSpPr>
              <p:cNvPr id="83" name="TextBox 83"/>
              <p:cNvSpPr txBox="1"/>
              <p:nvPr/>
            </p:nvSpPr>
            <p:spPr>
              <a:xfrm>
                <a:off x="4090988" y="1777603"/>
                <a:ext cx="311074"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数据合规</a:t>
                </a:r>
              </a:p>
            </p:txBody>
          </p:sp>
          <p:sp>
            <p:nvSpPr>
              <p:cNvPr id="84" name="TextBox 84"/>
              <p:cNvSpPr txBox="1"/>
              <p:nvPr/>
            </p:nvSpPr>
            <p:spPr>
              <a:xfrm>
                <a:off x="4090988" y="1882378"/>
                <a:ext cx="386461"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质量与权限</a:t>
                </a:r>
              </a:p>
            </p:txBody>
          </p:sp>
          <p:sp>
            <p:nvSpPr>
              <p:cNvPr id="85" name="Ellipse 85"/>
              <p:cNvSpPr/>
              <p:nvPr/>
            </p:nvSpPr>
            <p:spPr>
              <a:xfrm>
                <a:off x="3714750" y="3086100"/>
                <a:ext cx="323850" cy="323850"/>
              </a:xfrm>
              <a:prstGeom prst="ellipse">
                <a:avLst/>
              </a:prstGeom>
              <a:solidFill>
                <a:srgbClr val="7C3B2F"/>
              </a:solidFill>
              <a:ln>
                <a:noFill/>
              </a:ln>
            </p:spPr>
          </p:sp>
          <p:grpSp>
            <p:nvGrpSpPr>
              <p:cNvPr id="88" name="Group 88"/>
              <p:cNvGrpSpPr/>
              <p:nvPr/>
            </p:nvGrpSpPr>
            <p:grpSpPr>
              <a:xfrm>
                <a:off x="3819525" y="3205162"/>
                <a:ext cx="114300" cy="102394"/>
                <a:chOff x="3819525" y="3205162"/>
                <a:chExt cx="114300" cy="102394"/>
              </a:xfrm>
            </p:grpSpPr>
            <p:sp>
              <p:nvSpPr>
                <p:cNvPr id="86" name="Freeform 86"/>
                <p:cNvSpPr/>
                <p:nvPr/>
              </p:nvSpPr>
              <p:spPr>
                <a:xfrm>
                  <a:off x="3819525" y="3298031"/>
                  <a:ext cx="114300" cy="9525"/>
                </a:xfrm>
                <a:custGeom>
                  <a:avLst/>
                  <a:gdLst/>
                  <a:ahLst/>
                  <a:cxnLst/>
                  <a:rect l="l" t="t" r="r" b="b"/>
                  <a:pathLst>
                    <a:path w="114300" h="9525">
                      <a:moveTo>
                        <a:pt x="0" y="0"/>
                      </a:moveTo>
                      <a:lnTo>
                        <a:pt x="114300" y="0"/>
                      </a:lnTo>
                    </a:path>
                  </a:pathLst>
                </a:custGeom>
                <a:noFill/>
                <a:ln w="14288">
                  <a:solidFill>
                    <a:srgbClr val="FFFFFF"/>
                  </a:solidFill>
                </a:ln>
              </p:spPr>
            </p:sp>
            <p:sp>
              <p:nvSpPr>
                <p:cNvPr id="87" name="Freeform 87"/>
                <p:cNvSpPr/>
                <p:nvPr/>
              </p:nvSpPr>
              <p:spPr>
                <a:xfrm>
                  <a:off x="3819525" y="3205162"/>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FFFFFF"/>
                  </a:solidFill>
                </a:ln>
              </p:spPr>
            </p:sp>
          </p:grpSp>
          <p:sp>
            <p:nvSpPr>
              <p:cNvPr id="89" name="TextBox 89"/>
              <p:cNvSpPr txBox="1"/>
              <p:nvPr/>
            </p:nvSpPr>
            <p:spPr>
              <a:xfrm>
                <a:off x="4090988" y="3138488"/>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模型评测</a:t>
                </a:r>
              </a:p>
            </p:txBody>
          </p:sp>
          <p:sp>
            <p:nvSpPr>
              <p:cNvPr id="90" name="TextBox 90"/>
              <p:cNvSpPr txBox="1"/>
              <p:nvPr/>
            </p:nvSpPr>
            <p:spPr>
              <a:xfrm>
                <a:off x="4090988" y="3282553"/>
                <a:ext cx="386461"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能力与局限</a:t>
                </a:r>
              </a:p>
            </p:txBody>
          </p:sp>
          <p:sp>
            <p:nvSpPr>
              <p:cNvPr id="91" name="TextBox 91"/>
              <p:cNvSpPr txBox="1"/>
              <p:nvPr/>
            </p:nvSpPr>
            <p:spPr>
              <a:xfrm>
                <a:off x="4090988" y="3387328"/>
                <a:ext cx="311074"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多维评测</a:t>
                </a:r>
              </a:p>
            </p:txBody>
          </p:sp>
          <p:sp>
            <p:nvSpPr>
              <p:cNvPr id="92" name="Ellipse 92"/>
              <p:cNvSpPr/>
              <p:nvPr/>
            </p:nvSpPr>
            <p:spPr>
              <a:xfrm>
                <a:off x="2409825" y="3838575"/>
                <a:ext cx="323850" cy="323850"/>
              </a:xfrm>
              <a:prstGeom prst="ellipse">
                <a:avLst/>
              </a:prstGeom>
              <a:solidFill>
                <a:srgbClr val="7C3B2F"/>
              </a:solidFill>
              <a:ln>
                <a:noFill/>
              </a:ln>
            </p:spPr>
          </p:sp>
          <p:grpSp>
            <p:nvGrpSpPr>
              <p:cNvPr id="98" name="Group 98"/>
              <p:cNvGrpSpPr/>
              <p:nvPr/>
            </p:nvGrpSpPr>
            <p:grpSpPr>
              <a:xfrm>
                <a:off x="2521744" y="3936206"/>
                <a:ext cx="100013" cy="128588"/>
                <a:chOff x="2521744" y="3936206"/>
                <a:chExt cx="100013" cy="128588"/>
              </a:xfrm>
            </p:grpSpPr>
            <p:sp>
              <p:nvSpPr>
                <p:cNvPr id="93" name="Freeform 93"/>
                <p:cNvSpPr/>
                <p:nvPr/>
              </p:nvSpPr>
              <p:spPr>
                <a:xfrm>
                  <a:off x="2586038" y="393620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94" name="Freeform 94"/>
                <p:cNvSpPr/>
                <p:nvPr/>
              </p:nvSpPr>
              <p:spPr>
                <a:xfrm>
                  <a:off x="2521744" y="393620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95" name="Freeform 95"/>
                <p:cNvSpPr/>
                <p:nvPr/>
              </p:nvSpPr>
              <p:spPr>
                <a:xfrm>
                  <a:off x="2550319" y="3979069"/>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96" name="Freeform 96"/>
                <p:cNvSpPr/>
                <p:nvPr/>
              </p:nvSpPr>
              <p:spPr>
                <a:xfrm>
                  <a:off x="2550319" y="4007644"/>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97" name="Freeform 97"/>
                <p:cNvSpPr/>
                <p:nvPr/>
              </p:nvSpPr>
              <p:spPr>
                <a:xfrm>
                  <a:off x="2550319" y="4036219"/>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99" name="TextBox 99"/>
              <p:cNvSpPr txBox="1"/>
              <p:nvPr/>
            </p:nvSpPr>
            <p:spPr>
              <a:xfrm>
                <a:off x="2776538" y="3976688"/>
                <a:ext cx="41338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上线审批</a:t>
                </a:r>
              </a:p>
            </p:txBody>
          </p:sp>
          <p:sp>
            <p:nvSpPr>
              <p:cNvPr id="100" name="TextBox 100"/>
              <p:cNvSpPr txBox="1"/>
              <p:nvPr/>
            </p:nvSpPr>
            <p:spPr>
              <a:xfrm>
                <a:off x="2776538" y="4120753"/>
                <a:ext cx="311074"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风险复核</a:t>
                </a:r>
              </a:p>
            </p:txBody>
          </p:sp>
          <p:sp>
            <p:nvSpPr>
              <p:cNvPr id="101" name="TextBox 101"/>
              <p:cNvSpPr txBox="1"/>
              <p:nvPr/>
            </p:nvSpPr>
            <p:spPr>
              <a:xfrm>
                <a:off x="2776538" y="4225528"/>
                <a:ext cx="311074"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合规审批</a:t>
                </a:r>
              </a:p>
            </p:txBody>
          </p:sp>
          <p:sp>
            <p:nvSpPr>
              <p:cNvPr id="102" name="Ellipse 102"/>
              <p:cNvSpPr/>
              <p:nvPr/>
            </p:nvSpPr>
            <p:spPr>
              <a:xfrm>
                <a:off x="1104900" y="3086100"/>
                <a:ext cx="323850" cy="323850"/>
              </a:xfrm>
              <a:prstGeom prst="ellipse">
                <a:avLst/>
              </a:prstGeom>
              <a:solidFill>
                <a:srgbClr val="7C3B2F"/>
              </a:solidFill>
              <a:ln>
                <a:noFill/>
              </a:ln>
            </p:spPr>
          </p:sp>
          <p:grpSp>
            <p:nvGrpSpPr>
              <p:cNvPr id="105" name="Group 105"/>
              <p:cNvGrpSpPr/>
              <p:nvPr/>
            </p:nvGrpSpPr>
            <p:grpSpPr>
              <a:xfrm>
                <a:off x="1202531" y="3205162"/>
                <a:ext cx="128588" cy="85725"/>
                <a:chOff x="1202531" y="3205162"/>
                <a:chExt cx="128588" cy="85725"/>
              </a:xfrm>
            </p:grpSpPr>
            <p:sp>
              <p:nvSpPr>
                <p:cNvPr id="103" name="Freeform 103"/>
                <p:cNvSpPr/>
                <p:nvPr/>
              </p:nvSpPr>
              <p:spPr>
                <a:xfrm>
                  <a:off x="1252538" y="3233738"/>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104" name="Freeform 104"/>
                <p:cNvSpPr/>
                <p:nvPr/>
              </p:nvSpPr>
              <p:spPr>
                <a:xfrm>
                  <a:off x="1202531" y="3205162"/>
                  <a:ext cx="128588" cy="85725"/>
                </a:xfrm>
                <a:custGeom>
                  <a:avLst/>
                  <a:gdLst/>
                  <a:ahLst/>
                  <a:cxnLst/>
                  <a:rect l="l" t="t" r="r" b="b"/>
                  <a:pathLst>
                    <a:path w="128588" h="85725">
                      <a:moveTo>
                        <a:pt x="128588" y="42862"/>
                      </a:moveTo>
                      <a:cubicBezTo>
                        <a:pt x="111442" y="71438"/>
                        <a:pt x="90011" y="85725"/>
                        <a:pt x="64294" y="85725"/>
                      </a:cubicBezTo>
                      <a:cubicBezTo>
                        <a:pt x="38576" y="85725"/>
                        <a:pt x="17145" y="71438"/>
                        <a:pt x="0" y="42862"/>
                      </a:cubicBezTo>
                      <a:cubicBezTo>
                        <a:pt x="17145" y="14288"/>
                        <a:pt x="38576" y="0"/>
                        <a:pt x="64294" y="0"/>
                      </a:cubicBezTo>
                      <a:cubicBezTo>
                        <a:pt x="90011" y="0"/>
                        <a:pt x="111442" y="14288"/>
                        <a:pt x="128588" y="42862"/>
                      </a:cubicBezTo>
                    </a:path>
                  </a:pathLst>
                </a:custGeom>
                <a:noFill/>
                <a:ln w="14288">
                  <a:solidFill>
                    <a:srgbClr val="FFFFFF"/>
                  </a:solidFill>
                </a:ln>
              </p:spPr>
            </p:sp>
          </p:grpSp>
          <p:sp>
            <p:nvSpPr>
              <p:cNvPr id="106" name="TextBox 106"/>
              <p:cNvSpPr txBox="1"/>
              <p:nvPr/>
            </p:nvSpPr>
            <p:spPr>
              <a:xfrm>
                <a:off x="639128" y="3138488"/>
                <a:ext cx="413385" cy="147638"/>
              </a:xfrm>
              <a:prstGeom prst="rect">
                <a:avLst/>
              </a:prstGeom>
              <a:noFill/>
              <a:ln>
                <a:noFill/>
              </a:ln>
            </p:spPr>
            <p:txBody>
              <a:bodyPr wrap="none" lIns="0" tIns="0" rIns="0" bIns="0" anchor="t" anchorCtr="0">
                <a:spAutoFit/>
              </a:bodyPr>
              <a:lstStyle/>
              <a:p>
                <a:pPr algn="r"/>
                <a:r>
                  <a:rPr lang="zh-CN" sz="750" b="1" dirty="0">
                    <a:solidFill>
                      <a:srgbClr val="42140B"/>
                    </a:solidFill>
                    <a:latin typeface="+mn-lt"/>
                    <a:ea typeface="+mn-ea"/>
                    <a:cs typeface="+mn-cs"/>
                  </a:rPr>
                  <a:t>持续监控</a:t>
                </a:r>
              </a:p>
            </p:txBody>
          </p:sp>
          <p:sp>
            <p:nvSpPr>
              <p:cNvPr id="107" name="TextBox 107"/>
              <p:cNvSpPr txBox="1"/>
              <p:nvPr/>
            </p:nvSpPr>
            <p:spPr>
              <a:xfrm>
                <a:off x="741439" y="3282553"/>
                <a:ext cx="311074" cy="111919"/>
              </a:xfrm>
              <a:prstGeom prst="rect">
                <a:avLst/>
              </a:prstGeom>
              <a:noFill/>
              <a:ln>
                <a:noFill/>
              </a:ln>
            </p:spPr>
            <p:txBody>
              <a:bodyPr wrap="none" lIns="0" tIns="0" rIns="0" bIns="0" anchor="t" anchorCtr="0">
                <a:spAutoFit/>
              </a:bodyPr>
              <a:lstStyle/>
              <a:p>
                <a:pPr algn="r"/>
                <a:r>
                  <a:rPr lang="zh-CN" sz="560" dirty="0">
                    <a:solidFill>
                      <a:srgbClr val="66705F"/>
                    </a:solidFill>
                    <a:latin typeface="+mn-lt"/>
                    <a:ea typeface="+mn-ea"/>
                    <a:cs typeface="+mn-cs"/>
                  </a:rPr>
                  <a:t>运行监控</a:t>
                </a:r>
              </a:p>
            </p:txBody>
          </p:sp>
          <p:sp>
            <p:nvSpPr>
              <p:cNvPr id="108" name="TextBox 108"/>
              <p:cNvSpPr txBox="1"/>
              <p:nvPr/>
            </p:nvSpPr>
            <p:spPr>
              <a:xfrm>
                <a:off x="741439" y="3387328"/>
                <a:ext cx="311074" cy="111919"/>
              </a:xfrm>
              <a:prstGeom prst="rect">
                <a:avLst/>
              </a:prstGeom>
              <a:noFill/>
              <a:ln>
                <a:noFill/>
              </a:ln>
            </p:spPr>
            <p:txBody>
              <a:bodyPr wrap="none" lIns="0" tIns="0" rIns="0" bIns="0" anchor="t" anchorCtr="0">
                <a:spAutoFit/>
              </a:bodyPr>
              <a:lstStyle/>
              <a:p>
                <a:pPr algn="r"/>
                <a:r>
                  <a:rPr lang="zh-CN" sz="560" dirty="0">
                    <a:solidFill>
                      <a:srgbClr val="66705F"/>
                    </a:solidFill>
                    <a:latin typeface="+mn-lt"/>
                    <a:ea typeface="+mn-ea"/>
                    <a:cs typeface="+mn-cs"/>
                  </a:rPr>
                  <a:t>指标告警</a:t>
                </a:r>
              </a:p>
            </p:txBody>
          </p:sp>
          <p:sp>
            <p:nvSpPr>
              <p:cNvPr id="109" name="Ellipse 109"/>
              <p:cNvSpPr/>
              <p:nvPr/>
            </p:nvSpPr>
            <p:spPr>
              <a:xfrm>
                <a:off x="1104900" y="1581150"/>
                <a:ext cx="323850" cy="323850"/>
              </a:xfrm>
              <a:prstGeom prst="ellipse">
                <a:avLst/>
              </a:prstGeom>
              <a:solidFill>
                <a:srgbClr val="7C3B2F"/>
              </a:solidFill>
              <a:ln>
                <a:noFill/>
              </a:ln>
            </p:spPr>
          </p:sp>
          <p:grpSp>
            <p:nvGrpSpPr>
              <p:cNvPr id="113" name="Group 113"/>
              <p:cNvGrpSpPr/>
              <p:nvPr/>
            </p:nvGrpSpPr>
            <p:grpSpPr>
              <a:xfrm>
                <a:off x="1194779" y="1676408"/>
                <a:ext cx="144086" cy="123788"/>
                <a:chOff x="1194779" y="1676408"/>
                <a:chExt cx="144086" cy="123788"/>
              </a:xfrm>
            </p:grpSpPr>
            <p:sp>
              <p:nvSpPr>
                <p:cNvPr id="110" name="Freeform 110"/>
                <p:cNvSpPr/>
                <p:nvPr/>
              </p:nvSpPr>
              <p:spPr>
                <a:xfrm>
                  <a:off x="1266825" y="1721644"/>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111" name="Freeform 111"/>
                <p:cNvSpPr/>
                <p:nvPr/>
              </p:nvSpPr>
              <p:spPr>
                <a:xfrm>
                  <a:off x="1194779" y="1676408"/>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FFFFFF"/>
                  </a:solidFill>
                </a:ln>
              </p:spPr>
            </p:sp>
            <p:sp>
              <p:nvSpPr>
                <p:cNvPr id="112" name="Freeform 112"/>
                <p:cNvSpPr/>
                <p:nvPr/>
              </p:nvSpPr>
              <p:spPr>
                <a:xfrm>
                  <a:off x="1266825" y="1771650"/>
                  <a:ext cx="9525" cy="9525"/>
                </a:xfrm>
                <a:custGeom>
                  <a:avLst/>
                  <a:gdLst/>
                  <a:ahLst/>
                  <a:cxnLst/>
                  <a:rect l="l" t="t" r="r" b="b"/>
                  <a:pathLst>
                    <a:path w="9525" h="9525">
                      <a:moveTo>
                        <a:pt x="0" y="0"/>
                      </a:moveTo>
                      <a:lnTo>
                        <a:pt x="71" y="0"/>
                      </a:lnTo>
                    </a:path>
                  </a:pathLst>
                </a:custGeom>
                <a:noFill/>
                <a:ln w="14288">
                  <a:solidFill>
                    <a:srgbClr val="FFFFFF"/>
                  </a:solidFill>
                </a:ln>
              </p:spPr>
            </p:sp>
          </p:grpSp>
          <p:sp>
            <p:nvSpPr>
              <p:cNvPr id="114" name="TextBox 114"/>
              <p:cNvSpPr txBox="1"/>
              <p:nvPr/>
            </p:nvSpPr>
            <p:spPr>
              <a:xfrm>
                <a:off x="639128" y="1633538"/>
                <a:ext cx="413385" cy="147638"/>
              </a:xfrm>
              <a:prstGeom prst="rect">
                <a:avLst/>
              </a:prstGeom>
              <a:noFill/>
              <a:ln>
                <a:noFill/>
              </a:ln>
            </p:spPr>
            <p:txBody>
              <a:bodyPr wrap="none" lIns="0" tIns="0" rIns="0" bIns="0" anchor="t" anchorCtr="0">
                <a:spAutoFit/>
              </a:bodyPr>
              <a:lstStyle/>
              <a:p>
                <a:pPr algn="r"/>
                <a:r>
                  <a:rPr lang="zh-CN" sz="750" b="1" dirty="0">
                    <a:solidFill>
                      <a:srgbClr val="42140B"/>
                    </a:solidFill>
                    <a:latin typeface="+mn-lt"/>
                    <a:ea typeface="+mn-ea"/>
                    <a:cs typeface="+mn-cs"/>
                  </a:rPr>
                  <a:t>事件响应</a:t>
                </a:r>
              </a:p>
            </p:txBody>
          </p:sp>
          <p:sp>
            <p:nvSpPr>
              <p:cNvPr id="115" name="TextBox 115"/>
              <p:cNvSpPr txBox="1"/>
              <p:nvPr/>
            </p:nvSpPr>
            <p:spPr>
              <a:xfrm>
                <a:off x="741439" y="1777603"/>
                <a:ext cx="311074" cy="111919"/>
              </a:xfrm>
              <a:prstGeom prst="rect">
                <a:avLst/>
              </a:prstGeom>
              <a:noFill/>
              <a:ln>
                <a:noFill/>
              </a:ln>
            </p:spPr>
            <p:txBody>
              <a:bodyPr wrap="none" lIns="0" tIns="0" rIns="0" bIns="0" anchor="t" anchorCtr="0">
                <a:spAutoFit/>
              </a:bodyPr>
              <a:lstStyle/>
              <a:p>
                <a:pPr algn="r"/>
                <a:r>
                  <a:rPr lang="zh-CN" sz="560" dirty="0">
                    <a:solidFill>
                      <a:srgbClr val="66705F"/>
                    </a:solidFill>
                    <a:latin typeface="+mn-lt"/>
                    <a:ea typeface="+mn-ea"/>
                    <a:cs typeface="+mn-cs"/>
                  </a:rPr>
                  <a:t>应急处置</a:t>
                </a:r>
              </a:p>
            </p:txBody>
          </p:sp>
          <p:sp>
            <p:nvSpPr>
              <p:cNvPr id="116" name="TextBox 116"/>
              <p:cNvSpPr txBox="1"/>
              <p:nvPr/>
            </p:nvSpPr>
            <p:spPr>
              <a:xfrm>
                <a:off x="741439" y="1882378"/>
                <a:ext cx="311074" cy="111919"/>
              </a:xfrm>
              <a:prstGeom prst="rect">
                <a:avLst/>
              </a:prstGeom>
              <a:noFill/>
              <a:ln>
                <a:noFill/>
              </a:ln>
            </p:spPr>
            <p:txBody>
              <a:bodyPr wrap="none" lIns="0" tIns="0" rIns="0" bIns="0" anchor="t" anchorCtr="0">
                <a:spAutoFit/>
              </a:bodyPr>
              <a:lstStyle/>
              <a:p>
                <a:pPr algn="r"/>
                <a:r>
                  <a:rPr lang="zh-CN" sz="560" dirty="0">
                    <a:solidFill>
                      <a:srgbClr val="66705F"/>
                    </a:solidFill>
                    <a:latin typeface="+mn-lt"/>
                    <a:ea typeface="+mn-ea"/>
                    <a:cs typeface="+mn-cs"/>
                  </a:rPr>
                  <a:t>复盘改进</a:t>
                </a:r>
              </a:p>
            </p:txBody>
          </p:sp>
        </p:grpSp>
      </p:grpSp>
      <p:grpSp>
        <p:nvGrpSpPr>
          <p:cNvPr id="183" name="risk-matrix"/>
          <p:cNvGrpSpPr/>
          <p:nvPr/>
        </p:nvGrpSpPr>
        <p:grpSpPr>
          <a:xfrm>
            <a:off x="5486400" y="628650"/>
            <a:ext cx="6477000" cy="3571875"/>
            <a:chOff x="5486400" y="628650"/>
            <a:chExt cx="6477000" cy="3571875"/>
          </a:xfrm>
        </p:grpSpPr>
        <p:sp>
          <p:nvSpPr>
            <p:cNvPr id="119" name="Rectangle 119"/>
            <p:cNvSpPr/>
            <p:nvPr/>
          </p:nvSpPr>
          <p:spPr>
            <a:xfrm>
              <a:off x="5486400" y="628650"/>
              <a:ext cx="6477000" cy="228600"/>
            </a:xfrm>
            <a:prstGeom prst="roundRect">
              <a:avLst>
                <a:gd name="adj" fmla="val 25000"/>
              </a:avLst>
            </a:prstGeom>
            <a:solidFill>
              <a:srgbClr val="42140B"/>
            </a:solidFill>
            <a:ln>
              <a:noFill/>
            </a:ln>
          </p:spPr>
        </p:sp>
        <p:sp>
          <p:nvSpPr>
            <p:cNvPr id="120" name="TextBox 120"/>
            <p:cNvSpPr txBox="1"/>
            <p:nvPr/>
          </p:nvSpPr>
          <p:spPr>
            <a:xfrm>
              <a:off x="8165537" y="693420"/>
              <a:ext cx="1118726"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风险—控制—证据矩阵</a:t>
              </a:r>
            </a:p>
          </p:txBody>
        </p:sp>
        <p:sp>
          <p:nvSpPr>
            <p:cNvPr id="121" name="Rectangle 121"/>
            <p:cNvSpPr/>
            <p:nvPr/>
          </p:nvSpPr>
          <p:spPr>
            <a:xfrm>
              <a:off x="5486400" y="914400"/>
              <a:ext cx="6477000" cy="190500"/>
            </a:xfrm>
            <a:prstGeom prst="rect">
              <a:avLst/>
            </a:prstGeom>
            <a:solidFill>
              <a:srgbClr val="E7F2D8"/>
            </a:solidFill>
            <a:ln>
              <a:noFill/>
            </a:ln>
          </p:spPr>
        </p:sp>
        <p:sp>
          <p:nvSpPr>
            <p:cNvPr id="122" name="TextBox 122"/>
            <p:cNvSpPr txBox="1"/>
            <p:nvPr/>
          </p:nvSpPr>
          <p:spPr>
            <a:xfrm>
              <a:off x="5976277" y="970836"/>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风险类别</a:t>
              </a:r>
            </a:p>
          </p:txBody>
        </p:sp>
        <p:sp>
          <p:nvSpPr>
            <p:cNvPr id="123" name="TextBox 123"/>
            <p:cNvSpPr txBox="1"/>
            <p:nvPr/>
          </p:nvSpPr>
          <p:spPr>
            <a:xfrm>
              <a:off x="7804747" y="970836"/>
              <a:ext cx="58300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关键控制措施</a:t>
              </a:r>
            </a:p>
          </p:txBody>
        </p:sp>
        <p:sp>
          <p:nvSpPr>
            <p:cNvPr id="124" name="TextBox 124"/>
            <p:cNvSpPr txBox="1"/>
            <p:nvPr/>
          </p:nvSpPr>
          <p:spPr>
            <a:xfrm>
              <a:off x="10453027" y="970836"/>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关键证据</a:t>
              </a:r>
            </a:p>
          </p:txBody>
        </p:sp>
        <p:grpSp>
          <p:nvGrpSpPr>
            <p:cNvPr id="179" name="rm-rows"/>
            <p:cNvGrpSpPr/>
            <p:nvPr/>
          </p:nvGrpSpPr>
          <p:grpSpPr>
            <a:xfrm>
              <a:off x="5486400" y="1104900"/>
              <a:ext cx="6477000" cy="3086100"/>
              <a:chOff x="5486400" y="1104900"/>
              <a:chExt cx="6477000" cy="3086100"/>
            </a:xfrm>
          </p:grpSpPr>
          <p:sp>
            <p:nvSpPr>
              <p:cNvPr id="125" name="Rectangle 125"/>
              <p:cNvSpPr/>
              <p:nvPr/>
            </p:nvSpPr>
            <p:spPr>
              <a:xfrm>
                <a:off x="5486400" y="1104900"/>
                <a:ext cx="6477000" cy="514350"/>
              </a:xfrm>
              <a:prstGeom prst="rect">
                <a:avLst/>
              </a:prstGeom>
              <a:solidFill>
                <a:srgbClr val="FFFFFF"/>
              </a:solidFill>
              <a:ln>
                <a:noFill/>
              </a:ln>
            </p:spPr>
          </p:sp>
          <p:grpSp>
            <p:nvGrpSpPr>
              <p:cNvPr id="129" name="Group 129"/>
              <p:cNvGrpSpPr/>
              <p:nvPr/>
            </p:nvGrpSpPr>
            <p:grpSpPr>
              <a:xfrm>
                <a:off x="5593810" y="1274240"/>
                <a:ext cx="128076" cy="110034"/>
                <a:chOff x="5593810" y="1274240"/>
                <a:chExt cx="128076" cy="110034"/>
              </a:xfrm>
            </p:grpSpPr>
            <p:sp>
              <p:nvSpPr>
                <p:cNvPr id="126" name="Freeform 126"/>
                <p:cNvSpPr/>
                <p:nvPr/>
              </p:nvSpPr>
              <p:spPr>
                <a:xfrm>
                  <a:off x="5657850" y="1314450"/>
                  <a:ext cx="9525" cy="25400"/>
                </a:xfrm>
                <a:custGeom>
                  <a:avLst/>
                  <a:gdLst/>
                  <a:ahLst/>
                  <a:cxnLst/>
                  <a:rect l="l" t="t" r="r" b="b"/>
                  <a:pathLst>
                    <a:path w="9525" h="25400">
                      <a:moveTo>
                        <a:pt x="0" y="0"/>
                      </a:moveTo>
                      <a:lnTo>
                        <a:pt x="0" y="25400"/>
                      </a:lnTo>
                    </a:path>
                  </a:pathLst>
                </a:custGeom>
                <a:noFill/>
                <a:ln w="12700">
                  <a:solidFill>
                    <a:srgbClr val="7C3B2F"/>
                  </a:solidFill>
                </a:ln>
              </p:spPr>
            </p:sp>
            <p:sp>
              <p:nvSpPr>
                <p:cNvPr id="127" name="Freeform 127"/>
                <p:cNvSpPr/>
                <p:nvPr/>
              </p:nvSpPr>
              <p:spPr>
                <a:xfrm>
                  <a:off x="5593810" y="127424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7C3B2F"/>
                  </a:solidFill>
                </a:ln>
              </p:spPr>
            </p:sp>
            <p:sp>
              <p:nvSpPr>
                <p:cNvPr id="128" name="Freeform 128"/>
                <p:cNvSpPr/>
                <p:nvPr/>
              </p:nvSpPr>
              <p:spPr>
                <a:xfrm>
                  <a:off x="5657850" y="1358900"/>
                  <a:ext cx="9525" cy="9525"/>
                </a:xfrm>
                <a:custGeom>
                  <a:avLst/>
                  <a:gdLst/>
                  <a:ahLst/>
                  <a:cxnLst/>
                  <a:rect l="l" t="t" r="r" b="b"/>
                  <a:pathLst>
                    <a:path w="9525" h="9525">
                      <a:moveTo>
                        <a:pt x="0" y="0"/>
                      </a:moveTo>
                      <a:lnTo>
                        <a:pt x="64" y="0"/>
                      </a:lnTo>
                    </a:path>
                  </a:pathLst>
                </a:custGeom>
                <a:noFill/>
                <a:ln w="12700">
                  <a:solidFill>
                    <a:srgbClr val="7C3B2F"/>
                  </a:solidFill>
                </a:ln>
              </p:spPr>
            </p:sp>
          </p:grpSp>
          <p:sp>
            <p:nvSpPr>
              <p:cNvPr id="130" name="TextBox 130"/>
              <p:cNvSpPr txBox="1"/>
              <p:nvPr/>
            </p:nvSpPr>
            <p:spPr>
              <a:xfrm>
                <a:off x="5786438" y="1237536"/>
                <a:ext cx="48742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幻觉与误导</a:t>
                </a:r>
              </a:p>
            </p:txBody>
          </p:sp>
          <p:sp>
            <p:nvSpPr>
              <p:cNvPr id="131" name="TextBox 131"/>
              <p:cNvSpPr txBox="1"/>
              <p:nvPr/>
            </p:nvSpPr>
            <p:spPr>
              <a:xfrm>
                <a:off x="5786438" y="1391126"/>
                <a:ext cx="499542" cy="104775"/>
              </a:xfrm>
              <a:prstGeom prst="rect">
                <a:avLst/>
              </a:prstGeom>
              <a:noFill/>
              <a:ln>
                <a:noFill/>
              </a:ln>
            </p:spPr>
            <p:txBody>
              <a:bodyPr wrap="none" lIns="0" tIns="0" rIns="0" bIns="0" anchor="t" anchorCtr="0">
                <a:spAutoFit/>
              </a:bodyPr>
              <a:lstStyle/>
              <a:p>
                <a:pPr algn="l"/>
                <a:r>
                  <a:rPr lang="zh-CN" sz="520" dirty="0">
                    <a:solidFill>
                      <a:srgbClr val="66705F"/>
                    </a:solidFill>
                    <a:latin typeface="+mn-lt"/>
                    <a:ea typeface="+mn-ea"/>
                    <a:cs typeface="+mn-cs"/>
                  </a:rPr>
                  <a:t>生成内容不准确</a:t>
                </a:r>
              </a:p>
            </p:txBody>
          </p:sp>
          <p:sp>
            <p:nvSpPr>
              <p:cNvPr id="132" name="TextBox 132"/>
              <p:cNvSpPr txBox="1"/>
              <p:nvPr/>
            </p:nvSpPr>
            <p:spPr>
              <a:xfrm>
                <a:off x="6929438" y="1187053"/>
                <a:ext cx="868045"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检索增强与知识边界控制</a:t>
                </a:r>
              </a:p>
              <a:p>
                <a:pPr algn="l" marL="76200" indent="-76200">
                  <a:lnSpc>
                    <a:spcPts val="1125"/>
                  </a:lnSpc>
                  <a:buClr>
                    <a:srgbClr val="3A4238"/>
                  </a:buClr>
                  <a:buSzTx/>
                  <a:buFontTx/>
                  <a:buChar char="•"/>
                </a:pPr>
                <a:r>
                  <a:rPr lang="zh-CN" sz="560" dirty="0">
                    <a:solidFill>
                      <a:srgbClr val="3A4238"/>
                    </a:solidFill>
                    <a:latin typeface="+mn-lt"/>
                    <a:ea typeface="+mn-ea"/>
                    <a:cs typeface="+mn-cs"/>
                  </a:rPr>
                  <a:t>事实性评测与人工验证</a:t>
                </a:r>
              </a:p>
              <a:p>
                <a:pPr algn="l" marL="76200" indent="-76200">
                  <a:lnSpc>
                    <a:spcPts val="1125"/>
                  </a:lnSpc>
                  <a:buClr>
                    <a:srgbClr val="3A4238"/>
                  </a:buClr>
                  <a:buSzTx/>
                  <a:buFontTx/>
                  <a:buChar char="•"/>
                </a:pPr>
                <a:r>
                  <a:rPr lang="zh-CN" sz="560" dirty="0">
                    <a:solidFill>
                      <a:srgbClr val="3A4238"/>
                    </a:solidFill>
                    <a:latin typeface="+mn-lt"/>
                    <a:ea typeface="+mn-ea"/>
                    <a:cs typeface="+mn-cs"/>
                  </a:rPr>
                  <a:t>输出不确定性提示</a:t>
                </a:r>
              </a:p>
            </p:txBody>
          </p:sp>
          <p:sp>
            <p:nvSpPr>
              <p:cNvPr id="133" name="TextBox 133"/>
              <p:cNvSpPr txBox="1"/>
              <p:nvPr/>
            </p:nvSpPr>
            <p:spPr>
              <a:xfrm>
                <a:off x="9405938" y="1187053"/>
                <a:ext cx="725805"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评测报告与基准结果</a:t>
                </a:r>
              </a:p>
              <a:p>
                <a:pPr algn="l" marL="76200" indent="-76200">
                  <a:lnSpc>
                    <a:spcPts val="1125"/>
                  </a:lnSpc>
                  <a:buClr>
                    <a:srgbClr val="3A4238"/>
                  </a:buClr>
                  <a:buSzTx/>
                  <a:buFontTx/>
                  <a:buChar char="•"/>
                </a:pPr>
                <a:r>
                  <a:rPr lang="zh-CN" sz="560" dirty="0">
                    <a:solidFill>
                      <a:srgbClr val="3A4238"/>
                    </a:solidFill>
                    <a:latin typeface="+mn-lt"/>
                    <a:ea typeface="+mn-ea"/>
                    <a:cs typeface="+mn-cs"/>
                  </a:rPr>
                  <a:t>知识来源与引用记录</a:t>
                </a:r>
              </a:p>
              <a:p>
                <a:pPr algn="l" marL="76200" indent="-76200">
                  <a:lnSpc>
                    <a:spcPts val="1125"/>
                  </a:lnSpc>
                  <a:buClr>
                    <a:srgbClr val="3A4238"/>
                  </a:buClr>
                  <a:buSzTx/>
                  <a:buFontTx/>
                  <a:buChar char="•"/>
                </a:pPr>
                <a:r>
                  <a:rPr lang="zh-CN" sz="560" dirty="0">
                    <a:solidFill>
                      <a:srgbClr val="3A4238"/>
                    </a:solidFill>
                    <a:latin typeface="+mn-lt"/>
                    <a:ea typeface="+mn-ea"/>
                    <a:cs typeface="+mn-cs"/>
                  </a:rPr>
                  <a:t>人工验证与抽检记录</a:t>
                </a:r>
              </a:p>
            </p:txBody>
          </p:sp>
          <p:sp>
            <p:nvSpPr>
              <p:cNvPr id="134" name="Rectangle 134"/>
              <p:cNvSpPr/>
              <p:nvPr/>
            </p:nvSpPr>
            <p:spPr>
              <a:xfrm>
                <a:off x="5486400" y="1619250"/>
                <a:ext cx="6477000" cy="514350"/>
              </a:xfrm>
              <a:prstGeom prst="rect">
                <a:avLst/>
              </a:prstGeom>
              <a:solidFill>
                <a:srgbClr val="F4F8EC"/>
              </a:solidFill>
              <a:ln>
                <a:noFill/>
              </a:ln>
            </p:spPr>
          </p:sp>
          <p:grpSp>
            <p:nvGrpSpPr>
              <p:cNvPr id="138" name="Group 138"/>
              <p:cNvGrpSpPr/>
              <p:nvPr/>
            </p:nvGrpSpPr>
            <p:grpSpPr>
              <a:xfrm>
                <a:off x="5613400" y="1790700"/>
                <a:ext cx="88900" cy="114300"/>
                <a:chOff x="5613400" y="1790700"/>
                <a:chExt cx="88900" cy="114300"/>
              </a:xfrm>
            </p:grpSpPr>
            <p:sp>
              <p:nvSpPr>
                <p:cNvPr id="135" name="Freeform 135"/>
                <p:cNvSpPr/>
                <p:nvPr/>
              </p:nvSpPr>
              <p:spPr>
                <a:xfrm>
                  <a:off x="5613400" y="184150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7C3B2F"/>
                  </a:solidFill>
                </a:ln>
              </p:spPr>
            </p:sp>
            <p:sp>
              <p:nvSpPr>
                <p:cNvPr id="136" name="Freeform 136"/>
                <p:cNvSpPr/>
                <p:nvPr/>
              </p:nvSpPr>
              <p:spPr>
                <a:xfrm>
                  <a:off x="5651500" y="18669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7C3B2F"/>
                  </a:solidFill>
                </a:ln>
              </p:spPr>
            </p:sp>
            <p:sp>
              <p:nvSpPr>
                <p:cNvPr id="137" name="Freeform 137"/>
                <p:cNvSpPr/>
                <p:nvPr/>
              </p:nvSpPr>
              <p:spPr>
                <a:xfrm>
                  <a:off x="5632450" y="179070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7C3B2F"/>
                  </a:solidFill>
                </a:ln>
              </p:spPr>
            </p:sp>
          </p:grpSp>
          <p:sp>
            <p:nvSpPr>
              <p:cNvPr id="139" name="TextBox 139"/>
              <p:cNvSpPr txBox="1"/>
              <p:nvPr/>
            </p:nvSpPr>
            <p:spPr>
              <a:xfrm>
                <a:off x="5786438" y="1751886"/>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隐私风险</a:t>
                </a:r>
              </a:p>
            </p:txBody>
          </p:sp>
          <p:sp>
            <p:nvSpPr>
              <p:cNvPr id="140" name="TextBox 140"/>
              <p:cNvSpPr txBox="1"/>
              <p:nvPr/>
            </p:nvSpPr>
            <p:spPr>
              <a:xfrm>
                <a:off x="5786438" y="1905476"/>
                <a:ext cx="499542" cy="104775"/>
              </a:xfrm>
              <a:prstGeom prst="rect">
                <a:avLst/>
              </a:prstGeom>
              <a:noFill/>
              <a:ln>
                <a:noFill/>
              </a:ln>
            </p:spPr>
            <p:txBody>
              <a:bodyPr wrap="none" lIns="0" tIns="0" rIns="0" bIns="0" anchor="t" anchorCtr="0">
                <a:spAutoFit/>
              </a:bodyPr>
              <a:lstStyle/>
              <a:p>
                <a:pPr algn="l"/>
                <a:r>
                  <a:rPr lang="zh-CN" sz="520" dirty="0">
                    <a:solidFill>
                      <a:srgbClr val="66705F"/>
                    </a:solidFill>
                    <a:latin typeface="+mn-lt"/>
                    <a:ea typeface="+mn-ea"/>
                    <a:cs typeface="+mn-cs"/>
                  </a:rPr>
                  <a:t>数据泄露与滥用</a:t>
                </a:r>
              </a:p>
            </p:txBody>
          </p:sp>
          <p:sp>
            <p:nvSpPr>
              <p:cNvPr id="141" name="TextBox 141"/>
              <p:cNvSpPr txBox="1"/>
              <p:nvPr/>
            </p:nvSpPr>
            <p:spPr>
              <a:xfrm>
                <a:off x="6929438" y="1701403"/>
                <a:ext cx="725805"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数据分级与最小化</a:t>
                </a:r>
              </a:p>
              <a:p>
                <a:pPr algn="l" marL="76200" indent="-76200">
                  <a:lnSpc>
                    <a:spcPts val="1125"/>
                  </a:lnSpc>
                  <a:buClr>
                    <a:srgbClr val="3A4238"/>
                  </a:buClr>
                  <a:buSzTx/>
                  <a:buFontTx/>
                  <a:buChar char="•"/>
                </a:pPr>
                <a:r>
                  <a:rPr lang="zh-CN" sz="560" dirty="0">
                    <a:solidFill>
                      <a:srgbClr val="3A4238"/>
                    </a:solidFill>
                    <a:latin typeface="+mn-lt"/>
                    <a:ea typeface="+mn-ea"/>
                    <a:cs typeface="+mn-cs"/>
                  </a:rPr>
                  <a:t>脱敏与匿名化处理</a:t>
                </a:r>
              </a:p>
              <a:p>
                <a:pPr algn="l" marL="76200" indent="-76200">
                  <a:lnSpc>
                    <a:spcPts val="1125"/>
                  </a:lnSpc>
                  <a:buClr>
                    <a:srgbClr val="3A4238"/>
                  </a:buClr>
                  <a:buSzTx/>
                  <a:buFontTx/>
                  <a:buChar char="•"/>
                </a:pPr>
                <a:r>
                  <a:rPr lang="zh-CN" sz="560" dirty="0">
                    <a:solidFill>
                      <a:srgbClr val="3A4238"/>
                    </a:solidFill>
                    <a:latin typeface="+mn-lt"/>
                    <a:ea typeface="+mn-ea"/>
                    <a:cs typeface="+mn-cs"/>
                  </a:rPr>
                  <a:t>访问控制与授权审计</a:t>
                </a:r>
              </a:p>
            </p:txBody>
          </p:sp>
          <p:sp>
            <p:nvSpPr>
              <p:cNvPr id="142" name="TextBox 142"/>
              <p:cNvSpPr txBox="1"/>
              <p:nvPr/>
            </p:nvSpPr>
            <p:spPr>
              <a:xfrm>
                <a:off x="9405938" y="1701403"/>
                <a:ext cx="725805"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数据清单与分级记录</a:t>
                </a:r>
              </a:p>
              <a:p>
                <a:pPr algn="l" marL="76200" indent="-76200">
                  <a:lnSpc>
                    <a:spcPts val="1125"/>
                  </a:lnSpc>
                  <a:buClr>
                    <a:srgbClr val="3A4238"/>
                  </a:buClr>
                  <a:buSzTx/>
                  <a:buFontTx/>
                  <a:buChar char="•"/>
                </a:pPr>
                <a:r>
                  <a:rPr lang="zh-CN" sz="560" dirty="0">
                    <a:solidFill>
                      <a:srgbClr val="3A4238"/>
                    </a:solidFill>
                    <a:latin typeface="+mn-lt"/>
                    <a:ea typeface="+mn-ea"/>
                    <a:cs typeface="+mn-cs"/>
                  </a:rPr>
                  <a:t>脱敏方案与处理日志</a:t>
                </a:r>
              </a:p>
              <a:p>
                <a:pPr algn="l" marL="76200" indent="-76200">
                  <a:lnSpc>
                    <a:spcPts val="1125"/>
                  </a:lnSpc>
                  <a:buClr>
                    <a:srgbClr val="3A4238"/>
                  </a:buClr>
                  <a:buSzTx/>
                  <a:buFontTx/>
                  <a:buChar char="•"/>
                </a:pPr>
                <a:r>
                  <a:rPr lang="zh-CN" sz="560" dirty="0">
                    <a:solidFill>
                      <a:srgbClr val="3A4238"/>
                    </a:solidFill>
                    <a:latin typeface="+mn-lt"/>
                    <a:ea typeface="+mn-ea"/>
                    <a:cs typeface="+mn-cs"/>
                  </a:rPr>
                  <a:t>访问日志与审计记录</a:t>
                </a:r>
              </a:p>
            </p:txBody>
          </p:sp>
          <p:sp>
            <p:nvSpPr>
              <p:cNvPr id="143" name="Rectangle 143"/>
              <p:cNvSpPr/>
              <p:nvPr/>
            </p:nvSpPr>
            <p:spPr>
              <a:xfrm>
                <a:off x="5486400" y="2133600"/>
                <a:ext cx="6477000" cy="514350"/>
              </a:xfrm>
              <a:prstGeom prst="rect">
                <a:avLst/>
              </a:prstGeom>
              <a:solidFill>
                <a:srgbClr val="FFFFFF"/>
              </a:solidFill>
              <a:ln>
                <a:noFill/>
              </a:ln>
            </p:spPr>
          </p:sp>
          <p:grpSp>
            <p:nvGrpSpPr>
              <p:cNvPr id="149" name="Group 149"/>
              <p:cNvGrpSpPr/>
              <p:nvPr/>
            </p:nvGrpSpPr>
            <p:grpSpPr>
              <a:xfrm>
                <a:off x="5600700" y="2305050"/>
                <a:ext cx="114300" cy="117475"/>
                <a:chOff x="5600700" y="2305050"/>
                <a:chExt cx="114300" cy="117475"/>
              </a:xfrm>
            </p:grpSpPr>
            <p:sp>
              <p:nvSpPr>
                <p:cNvPr id="144" name="Freeform 144"/>
                <p:cNvSpPr/>
                <p:nvPr/>
              </p:nvSpPr>
              <p:spPr>
                <a:xfrm>
                  <a:off x="5626100" y="2413000"/>
                  <a:ext cx="63500" cy="9525"/>
                </a:xfrm>
                <a:custGeom>
                  <a:avLst/>
                  <a:gdLst/>
                  <a:ahLst/>
                  <a:cxnLst/>
                  <a:rect l="l" t="t" r="r" b="b"/>
                  <a:pathLst>
                    <a:path w="63500" h="9525">
                      <a:moveTo>
                        <a:pt x="0" y="0"/>
                      </a:moveTo>
                      <a:lnTo>
                        <a:pt x="63500" y="0"/>
                      </a:lnTo>
                    </a:path>
                  </a:pathLst>
                </a:custGeom>
                <a:noFill/>
                <a:ln w="12700">
                  <a:solidFill>
                    <a:srgbClr val="7C3B2F"/>
                  </a:solidFill>
                </a:ln>
              </p:spPr>
            </p:sp>
            <p:sp>
              <p:nvSpPr>
                <p:cNvPr id="145" name="Freeform 145"/>
                <p:cNvSpPr/>
                <p:nvPr/>
              </p:nvSpPr>
              <p:spPr>
                <a:xfrm>
                  <a:off x="5619750" y="2317750"/>
                  <a:ext cx="76200" cy="9525"/>
                </a:xfrm>
                <a:custGeom>
                  <a:avLst/>
                  <a:gdLst/>
                  <a:ahLst/>
                  <a:cxnLst/>
                  <a:rect l="l" t="t" r="r" b="b"/>
                  <a:pathLst>
                    <a:path w="76200" h="9525">
                      <a:moveTo>
                        <a:pt x="0" y="6350"/>
                      </a:moveTo>
                      <a:lnTo>
                        <a:pt x="38100" y="0"/>
                      </a:lnTo>
                      <a:lnTo>
                        <a:pt x="76200" y="6350"/>
                      </a:lnTo>
                    </a:path>
                  </a:pathLst>
                </a:custGeom>
                <a:noFill/>
                <a:ln w="12700">
                  <a:solidFill>
                    <a:srgbClr val="7C3B2F"/>
                  </a:solidFill>
                </a:ln>
              </p:spPr>
            </p:sp>
            <p:sp>
              <p:nvSpPr>
                <p:cNvPr id="146" name="Freeform 146"/>
                <p:cNvSpPr/>
                <p:nvPr/>
              </p:nvSpPr>
              <p:spPr>
                <a:xfrm>
                  <a:off x="5657850" y="2305050"/>
                  <a:ext cx="9525" cy="107950"/>
                </a:xfrm>
                <a:custGeom>
                  <a:avLst/>
                  <a:gdLst/>
                  <a:ahLst/>
                  <a:cxnLst/>
                  <a:rect l="l" t="t" r="r" b="b"/>
                  <a:pathLst>
                    <a:path w="9525" h="107950">
                      <a:moveTo>
                        <a:pt x="0" y="0"/>
                      </a:moveTo>
                      <a:lnTo>
                        <a:pt x="0" y="107950"/>
                      </a:lnTo>
                    </a:path>
                  </a:pathLst>
                </a:custGeom>
                <a:noFill/>
                <a:ln w="12700">
                  <a:solidFill>
                    <a:srgbClr val="7C3B2F"/>
                  </a:solidFill>
                </a:ln>
              </p:spPr>
            </p:sp>
            <p:sp>
              <p:nvSpPr>
                <p:cNvPr id="147" name="Freeform 147"/>
                <p:cNvSpPr/>
                <p:nvPr/>
              </p:nvSpPr>
              <p:spPr>
                <a:xfrm>
                  <a:off x="5600700" y="2324100"/>
                  <a:ext cx="38100" cy="57150"/>
                </a:xfrm>
                <a:custGeom>
                  <a:avLst/>
                  <a:gdLst/>
                  <a:ahLst/>
                  <a:cxnLst/>
                  <a:rect l="l" t="t" r="r" b="b"/>
                  <a:pathLst>
                    <a:path w="38100" h="57150">
                      <a:moveTo>
                        <a:pt x="38100" y="38100"/>
                      </a:moveTo>
                      <a:lnTo>
                        <a:pt x="19050" y="0"/>
                      </a:lnTo>
                      <a:lnTo>
                        <a:pt x="0" y="38100"/>
                      </a:lnTo>
                      <a:cubicBezTo>
                        <a:pt x="0" y="48621"/>
                        <a:pt x="8529" y="57150"/>
                        <a:pt x="19050" y="57150"/>
                      </a:cubicBezTo>
                      <a:cubicBezTo>
                        <a:pt x="29571" y="57150"/>
                        <a:pt x="38100" y="48621"/>
                        <a:pt x="38100" y="38100"/>
                      </a:cubicBezTo>
                    </a:path>
                  </a:pathLst>
                </a:custGeom>
                <a:noFill/>
                <a:ln w="12700">
                  <a:solidFill>
                    <a:srgbClr val="7C3B2F"/>
                  </a:solidFill>
                </a:ln>
              </p:spPr>
            </p:sp>
            <p:sp>
              <p:nvSpPr>
                <p:cNvPr id="148" name="Freeform 148"/>
                <p:cNvSpPr/>
                <p:nvPr/>
              </p:nvSpPr>
              <p:spPr>
                <a:xfrm>
                  <a:off x="5676900" y="2324100"/>
                  <a:ext cx="38100" cy="57150"/>
                </a:xfrm>
                <a:custGeom>
                  <a:avLst/>
                  <a:gdLst/>
                  <a:ahLst/>
                  <a:cxnLst/>
                  <a:rect l="l" t="t" r="r" b="b"/>
                  <a:pathLst>
                    <a:path w="38100" h="57150">
                      <a:moveTo>
                        <a:pt x="38100" y="38100"/>
                      </a:moveTo>
                      <a:lnTo>
                        <a:pt x="19050" y="0"/>
                      </a:lnTo>
                      <a:lnTo>
                        <a:pt x="0" y="38100"/>
                      </a:lnTo>
                      <a:cubicBezTo>
                        <a:pt x="0" y="48621"/>
                        <a:pt x="8529" y="57150"/>
                        <a:pt x="19050" y="57150"/>
                      </a:cubicBezTo>
                      <a:cubicBezTo>
                        <a:pt x="29571" y="57150"/>
                        <a:pt x="38100" y="48621"/>
                        <a:pt x="38100" y="38100"/>
                      </a:cubicBezTo>
                    </a:path>
                  </a:pathLst>
                </a:custGeom>
                <a:noFill/>
                <a:ln w="12700">
                  <a:solidFill>
                    <a:srgbClr val="7C3B2F"/>
                  </a:solidFill>
                </a:ln>
              </p:spPr>
            </p:sp>
          </p:grpSp>
          <p:sp>
            <p:nvSpPr>
              <p:cNvPr id="150" name="TextBox 150"/>
              <p:cNvSpPr txBox="1"/>
              <p:nvPr/>
            </p:nvSpPr>
            <p:spPr>
              <a:xfrm>
                <a:off x="5786438" y="2266236"/>
                <a:ext cx="48742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偏见与歧视</a:t>
                </a:r>
              </a:p>
            </p:txBody>
          </p:sp>
          <p:sp>
            <p:nvSpPr>
              <p:cNvPr id="151" name="TextBox 151"/>
              <p:cNvSpPr txBox="1"/>
              <p:nvPr/>
            </p:nvSpPr>
            <p:spPr>
              <a:xfrm>
                <a:off x="5786438" y="2419826"/>
                <a:ext cx="359537" cy="104775"/>
              </a:xfrm>
              <a:prstGeom prst="rect">
                <a:avLst/>
              </a:prstGeom>
              <a:noFill/>
              <a:ln>
                <a:noFill/>
              </a:ln>
            </p:spPr>
            <p:txBody>
              <a:bodyPr wrap="none" lIns="0" tIns="0" rIns="0" bIns="0" anchor="t" anchorCtr="0">
                <a:spAutoFit/>
              </a:bodyPr>
              <a:lstStyle/>
              <a:p>
                <a:pPr algn="l"/>
                <a:r>
                  <a:rPr lang="zh-CN" sz="520" dirty="0">
                    <a:solidFill>
                      <a:srgbClr val="66705F"/>
                    </a:solidFill>
                    <a:latin typeface="+mn-lt"/>
                    <a:ea typeface="+mn-ea"/>
                    <a:cs typeface="+mn-cs"/>
                  </a:rPr>
                  <a:t>不公平对待</a:t>
                </a:r>
              </a:p>
            </p:txBody>
          </p:sp>
          <p:sp>
            <p:nvSpPr>
              <p:cNvPr id="152" name="TextBox 152"/>
              <p:cNvSpPr txBox="1"/>
              <p:nvPr/>
            </p:nvSpPr>
            <p:spPr>
              <a:xfrm>
                <a:off x="6929438" y="2215753"/>
                <a:ext cx="796925"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数据属性识别与评估</a:t>
                </a:r>
              </a:p>
              <a:p>
                <a:pPr algn="l" marL="76200" indent="-76200">
                  <a:lnSpc>
                    <a:spcPts val="1125"/>
                  </a:lnSpc>
                  <a:buClr>
                    <a:srgbClr val="3A4238"/>
                  </a:buClr>
                  <a:buSzTx/>
                  <a:buFontTx/>
                  <a:buChar char="•"/>
                </a:pPr>
                <a:r>
                  <a:rPr lang="zh-CN" sz="560" dirty="0">
                    <a:solidFill>
                      <a:srgbClr val="3A4238"/>
                    </a:solidFill>
                    <a:latin typeface="+mn-lt"/>
                    <a:ea typeface="+mn-ea"/>
                    <a:cs typeface="+mn-cs"/>
                  </a:rPr>
                  <a:t>公平性指标监测与阈值</a:t>
                </a:r>
              </a:p>
              <a:p>
                <a:pPr algn="l" marL="76200" indent="-76200">
                  <a:lnSpc>
                    <a:spcPts val="1125"/>
                  </a:lnSpc>
                  <a:buClr>
                    <a:srgbClr val="3A4238"/>
                  </a:buClr>
                  <a:buSzTx/>
                  <a:buFontTx/>
                  <a:buChar char="•"/>
                </a:pPr>
                <a:r>
                  <a:rPr lang="zh-CN" sz="560" dirty="0">
                    <a:solidFill>
                      <a:srgbClr val="3A4238"/>
                    </a:solidFill>
                    <a:latin typeface="+mn-lt"/>
                    <a:ea typeface="+mn-ea"/>
                    <a:cs typeface="+mn-cs"/>
                  </a:rPr>
                  <a:t>偏见缓解与数据均衡</a:t>
                </a:r>
              </a:p>
            </p:txBody>
          </p:sp>
          <p:sp>
            <p:nvSpPr>
              <p:cNvPr id="153" name="TextBox 153"/>
              <p:cNvSpPr txBox="1"/>
              <p:nvPr/>
            </p:nvSpPr>
            <p:spPr>
              <a:xfrm>
                <a:off x="9405938" y="2215753"/>
                <a:ext cx="725805"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公平性评估报告</a:t>
                </a:r>
              </a:p>
              <a:p>
                <a:pPr algn="l" marL="76200" indent="-76200">
                  <a:lnSpc>
                    <a:spcPts val="1125"/>
                  </a:lnSpc>
                  <a:buClr>
                    <a:srgbClr val="3A4238"/>
                  </a:buClr>
                  <a:buSzTx/>
                  <a:buFontTx/>
                  <a:buChar char="•"/>
                </a:pPr>
                <a:r>
                  <a:rPr lang="zh-CN" sz="560" dirty="0">
                    <a:solidFill>
                      <a:srgbClr val="3A4238"/>
                    </a:solidFill>
                    <a:latin typeface="+mn-lt"/>
                    <a:ea typeface="+mn-ea"/>
                    <a:cs typeface="+mn-cs"/>
                  </a:rPr>
                  <a:t>监测报告与历史趋势</a:t>
                </a:r>
              </a:p>
              <a:p>
                <a:pPr algn="l" marL="76200" indent="-76200">
                  <a:lnSpc>
                    <a:spcPts val="1125"/>
                  </a:lnSpc>
                  <a:buClr>
                    <a:srgbClr val="3A4238"/>
                  </a:buClr>
                  <a:buSzTx/>
                  <a:buFontTx/>
                  <a:buChar char="•"/>
                </a:pPr>
                <a:r>
                  <a:rPr lang="zh-CN" sz="560" dirty="0">
                    <a:solidFill>
                      <a:srgbClr val="3A4238"/>
                    </a:solidFill>
                    <a:latin typeface="+mn-lt"/>
                    <a:ea typeface="+mn-ea"/>
                    <a:cs typeface="+mn-cs"/>
                  </a:rPr>
                  <a:t>缓解措施与验证记录</a:t>
                </a:r>
              </a:p>
            </p:txBody>
          </p:sp>
          <p:sp>
            <p:nvSpPr>
              <p:cNvPr id="154" name="Rectangle 154"/>
              <p:cNvSpPr/>
              <p:nvPr/>
            </p:nvSpPr>
            <p:spPr>
              <a:xfrm>
                <a:off x="5486400" y="2647950"/>
                <a:ext cx="6477000" cy="514350"/>
              </a:xfrm>
              <a:prstGeom prst="rect">
                <a:avLst/>
              </a:prstGeom>
              <a:solidFill>
                <a:srgbClr val="F4F8EC"/>
              </a:solidFill>
              <a:ln>
                <a:noFill/>
              </a:ln>
            </p:spPr>
          </p:sp>
          <p:grpSp>
            <p:nvGrpSpPr>
              <p:cNvPr id="157" name="Group 157"/>
              <p:cNvGrpSpPr/>
              <p:nvPr/>
            </p:nvGrpSpPr>
            <p:grpSpPr>
              <a:xfrm>
                <a:off x="5592130" y="2819400"/>
                <a:ext cx="124004" cy="114300"/>
                <a:chOff x="5592130" y="2819400"/>
                <a:chExt cx="124004" cy="114300"/>
              </a:xfrm>
            </p:grpSpPr>
            <p:sp>
              <p:nvSpPr>
                <p:cNvPr id="155" name="Freeform 155"/>
                <p:cNvSpPr/>
                <p:nvPr/>
              </p:nvSpPr>
              <p:spPr>
                <a:xfrm>
                  <a:off x="5592130" y="281940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7C3B2F"/>
                  </a:solidFill>
                </a:ln>
              </p:spPr>
            </p:sp>
            <p:sp>
              <p:nvSpPr>
                <p:cNvPr id="156" name="Freeform 156"/>
                <p:cNvSpPr/>
                <p:nvPr/>
              </p:nvSpPr>
              <p:spPr>
                <a:xfrm>
                  <a:off x="5676900" y="290830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158" name="TextBox 158"/>
              <p:cNvSpPr txBox="1"/>
              <p:nvPr/>
            </p:nvSpPr>
            <p:spPr>
              <a:xfrm>
                <a:off x="5786438" y="2780586"/>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安全风险</a:t>
                </a:r>
              </a:p>
            </p:txBody>
          </p:sp>
          <p:sp>
            <p:nvSpPr>
              <p:cNvPr id="159" name="TextBox 159"/>
              <p:cNvSpPr txBox="1"/>
              <p:nvPr/>
            </p:nvSpPr>
            <p:spPr>
              <a:xfrm>
                <a:off x="5786438" y="2934176"/>
                <a:ext cx="359537" cy="104775"/>
              </a:xfrm>
              <a:prstGeom prst="rect">
                <a:avLst/>
              </a:prstGeom>
              <a:noFill/>
              <a:ln>
                <a:noFill/>
              </a:ln>
            </p:spPr>
            <p:txBody>
              <a:bodyPr wrap="none" lIns="0" tIns="0" rIns="0" bIns="0" anchor="t" anchorCtr="0">
                <a:spAutoFit/>
              </a:bodyPr>
              <a:lstStyle/>
              <a:p>
                <a:pPr algn="l"/>
                <a:r>
                  <a:rPr lang="zh-CN" sz="520" dirty="0">
                    <a:solidFill>
                      <a:srgbClr val="66705F"/>
                    </a:solidFill>
                    <a:latin typeface="+mn-lt"/>
                    <a:ea typeface="+mn-ea"/>
                    <a:cs typeface="+mn-cs"/>
                  </a:rPr>
                  <a:t>攻击与越权</a:t>
                </a:r>
              </a:p>
            </p:txBody>
          </p:sp>
          <p:sp>
            <p:nvSpPr>
              <p:cNvPr id="160" name="TextBox 160"/>
              <p:cNvSpPr txBox="1"/>
              <p:nvPr/>
            </p:nvSpPr>
            <p:spPr>
              <a:xfrm>
                <a:off x="6929438" y="2730103"/>
                <a:ext cx="725805"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威胁建模与红蓝对抗</a:t>
                </a:r>
              </a:p>
              <a:p>
                <a:pPr algn="l" marL="76200" indent="-76200">
                  <a:lnSpc>
                    <a:spcPts val="1125"/>
                  </a:lnSpc>
                  <a:buClr>
                    <a:srgbClr val="3A4238"/>
                  </a:buClr>
                  <a:buSzTx/>
                  <a:buFontTx/>
                  <a:buChar char="•"/>
                </a:pPr>
                <a:r>
                  <a:rPr lang="zh-CN" sz="560" dirty="0">
                    <a:solidFill>
                      <a:srgbClr val="3A4238"/>
                    </a:solidFill>
                    <a:latin typeface="+mn-lt"/>
                    <a:ea typeface="+mn-ea"/>
                    <a:cs typeface="+mn-cs"/>
                  </a:rPr>
                  <a:t>输入输出安全过滤</a:t>
                </a:r>
              </a:p>
              <a:p>
                <a:pPr algn="l" marL="76200" indent="-76200">
                  <a:lnSpc>
                    <a:spcPts val="1125"/>
                  </a:lnSpc>
                  <a:buClr>
                    <a:srgbClr val="3A4238"/>
                  </a:buClr>
                  <a:buSzTx/>
                  <a:buFontTx/>
                  <a:buChar char="•"/>
                </a:pPr>
                <a:r>
                  <a:rPr lang="zh-CN" sz="560" dirty="0">
                    <a:solidFill>
                      <a:srgbClr val="3A4238"/>
                    </a:solidFill>
                    <a:latin typeface="+mn-lt"/>
                    <a:ea typeface="+mn-ea"/>
                    <a:cs typeface="+mn-cs"/>
                  </a:rPr>
                  <a:t>漏洞管理与补丁更新</a:t>
                </a:r>
              </a:p>
            </p:txBody>
          </p:sp>
          <p:sp>
            <p:nvSpPr>
              <p:cNvPr id="161" name="TextBox 161"/>
              <p:cNvSpPr txBox="1"/>
              <p:nvPr/>
            </p:nvSpPr>
            <p:spPr>
              <a:xfrm>
                <a:off x="9405938" y="2730103"/>
                <a:ext cx="725805"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安全测试与渗透报告</a:t>
                </a:r>
              </a:p>
              <a:p>
                <a:pPr algn="l" marL="76200" indent="-76200">
                  <a:lnSpc>
                    <a:spcPts val="1125"/>
                  </a:lnSpc>
                  <a:buClr>
                    <a:srgbClr val="3A4238"/>
                  </a:buClr>
                  <a:buSzTx/>
                  <a:buFontTx/>
                  <a:buChar char="•"/>
                </a:pPr>
                <a:r>
                  <a:rPr lang="zh-CN" sz="560" dirty="0">
                    <a:solidFill>
                      <a:srgbClr val="3A4238"/>
                    </a:solidFill>
                    <a:latin typeface="+mn-lt"/>
                    <a:ea typeface="+mn-ea"/>
                    <a:cs typeface="+mn-cs"/>
                  </a:rPr>
                  <a:t>过滤策略与命中日志</a:t>
                </a:r>
              </a:p>
              <a:p>
                <a:pPr algn="l" marL="76200" indent="-76200">
                  <a:lnSpc>
                    <a:spcPts val="1125"/>
                  </a:lnSpc>
                  <a:buClr>
                    <a:srgbClr val="3A4238"/>
                  </a:buClr>
                  <a:buSzTx/>
                  <a:buFontTx/>
                  <a:buChar char="•"/>
                </a:pPr>
                <a:r>
                  <a:rPr lang="zh-CN" sz="560" dirty="0">
                    <a:solidFill>
                      <a:srgbClr val="3A4238"/>
                    </a:solidFill>
                    <a:latin typeface="+mn-lt"/>
                    <a:ea typeface="+mn-ea"/>
                    <a:cs typeface="+mn-cs"/>
                  </a:rPr>
                  <a:t>漏洞台账与修复记录</a:t>
                </a:r>
              </a:p>
            </p:txBody>
          </p:sp>
          <p:sp>
            <p:nvSpPr>
              <p:cNvPr id="162" name="Rectangle 162"/>
              <p:cNvSpPr/>
              <p:nvPr/>
            </p:nvSpPr>
            <p:spPr>
              <a:xfrm>
                <a:off x="5486400" y="3162300"/>
                <a:ext cx="6477000" cy="514350"/>
              </a:xfrm>
              <a:prstGeom prst="rect">
                <a:avLst/>
              </a:prstGeom>
              <a:solidFill>
                <a:srgbClr val="FFFFFF"/>
              </a:solidFill>
              <a:ln>
                <a:noFill/>
              </a:ln>
            </p:spPr>
          </p:sp>
          <p:grpSp>
            <p:nvGrpSpPr>
              <p:cNvPr id="166" name="Group 166"/>
              <p:cNvGrpSpPr/>
              <p:nvPr/>
            </p:nvGrpSpPr>
            <p:grpSpPr>
              <a:xfrm>
                <a:off x="5619750" y="3333750"/>
                <a:ext cx="95250" cy="114300"/>
                <a:chOff x="5619750" y="3333750"/>
                <a:chExt cx="95250" cy="114300"/>
              </a:xfrm>
            </p:grpSpPr>
            <p:sp>
              <p:nvSpPr>
                <p:cNvPr id="163" name="Freeform 163"/>
                <p:cNvSpPr/>
                <p:nvPr/>
              </p:nvSpPr>
              <p:spPr>
                <a:xfrm>
                  <a:off x="5632450" y="33337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C3B2F"/>
                  </a:solidFill>
                </a:ln>
              </p:spPr>
            </p:sp>
            <p:sp>
              <p:nvSpPr>
                <p:cNvPr id="164" name="Freeform 164"/>
                <p:cNvSpPr/>
                <p:nvPr/>
              </p:nvSpPr>
              <p:spPr>
                <a:xfrm>
                  <a:off x="5619750" y="34099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7C3B2F"/>
                  </a:solidFill>
                </a:ln>
              </p:spPr>
            </p:sp>
            <p:sp>
              <p:nvSpPr>
                <p:cNvPr id="165" name="Freeform 165"/>
                <p:cNvSpPr/>
                <p:nvPr/>
              </p:nvSpPr>
              <p:spPr>
                <a:xfrm>
                  <a:off x="5676900" y="342265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167" name="TextBox 167"/>
              <p:cNvSpPr txBox="1"/>
              <p:nvPr/>
            </p:nvSpPr>
            <p:spPr>
              <a:xfrm>
                <a:off x="5786438" y="3294936"/>
                <a:ext cx="48742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责任与问责</a:t>
                </a:r>
              </a:p>
            </p:txBody>
          </p:sp>
          <p:sp>
            <p:nvSpPr>
              <p:cNvPr id="168" name="TextBox 168"/>
              <p:cNvSpPr txBox="1"/>
              <p:nvPr/>
            </p:nvSpPr>
            <p:spPr>
              <a:xfrm>
                <a:off x="5786438" y="3448526"/>
                <a:ext cx="639547" cy="104775"/>
              </a:xfrm>
              <a:prstGeom prst="rect">
                <a:avLst/>
              </a:prstGeom>
              <a:noFill/>
              <a:ln>
                <a:noFill/>
              </a:ln>
            </p:spPr>
            <p:txBody>
              <a:bodyPr wrap="none" lIns="0" tIns="0" rIns="0" bIns="0" anchor="t" anchorCtr="0">
                <a:spAutoFit/>
              </a:bodyPr>
              <a:lstStyle/>
              <a:p>
                <a:pPr algn="l"/>
                <a:r>
                  <a:rPr lang="zh-CN" sz="520" dirty="0">
                    <a:solidFill>
                      <a:srgbClr val="66705F"/>
                    </a:solidFill>
                    <a:latin typeface="+mn-lt"/>
                    <a:ea typeface="+mn-ea"/>
                    <a:cs typeface="+mn-cs"/>
                  </a:rPr>
                  <a:t>责任不清、追责困难</a:t>
                </a:r>
              </a:p>
            </p:txBody>
          </p:sp>
          <p:sp>
            <p:nvSpPr>
              <p:cNvPr id="169" name="TextBox 169"/>
              <p:cNvSpPr txBox="1"/>
              <p:nvPr/>
            </p:nvSpPr>
            <p:spPr>
              <a:xfrm>
                <a:off x="6929438" y="3244453"/>
                <a:ext cx="793369"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 xml:space="preserve">明确责任主体与RACI　</a:t>
                </a:r>
              </a:p>
              <a:p>
                <a:pPr algn="l" marL="76200" indent="-76200">
                  <a:lnSpc>
                    <a:spcPts val="1125"/>
                  </a:lnSpc>
                  <a:buClr>
                    <a:srgbClr val="3A4238"/>
                  </a:buClr>
                  <a:buSzTx/>
                  <a:buFontTx/>
                  <a:buChar char="•"/>
                </a:pPr>
                <a:r>
                  <a:rPr lang="zh-CN" sz="560" dirty="0">
                    <a:solidFill>
                      <a:srgbClr val="3A4238"/>
                    </a:solidFill>
                    <a:latin typeface="+mn-lt"/>
                    <a:ea typeface="+mn-ea"/>
                    <a:cs typeface="+mn-cs"/>
                  </a:rPr>
                  <a:t>决策留痕与版本追溯</a:t>
                </a:r>
              </a:p>
              <a:p>
                <a:pPr algn="l" marL="76200" indent="-76200">
                  <a:lnSpc>
                    <a:spcPts val="1125"/>
                  </a:lnSpc>
                  <a:buClr>
                    <a:srgbClr val="3A4238"/>
                  </a:buClr>
                  <a:buSzTx/>
                  <a:buFontTx/>
                  <a:buChar char="•"/>
                </a:pPr>
                <a:r>
                  <a:rPr lang="zh-CN" sz="560" dirty="0">
                    <a:solidFill>
                      <a:srgbClr val="3A4238"/>
                    </a:solidFill>
                    <a:latin typeface="+mn-lt"/>
                    <a:ea typeface="+mn-ea"/>
                    <a:cs typeface="+mn-cs"/>
                  </a:rPr>
                  <a:t>投诉与申诉通道</a:t>
                </a:r>
              </a:p>
            </p:txBody>
          </p:sp>
          <p:sp>
            <p:nvSpPr>
              <p:cNvPr id="170" name="TextBox 170"/>
              <p:cNvSpPr txBox="1"/>
              <p:nvPr/>
            </p:nvSpPr>
            <p:spPr>
              <a:xfrm>
                <a:off x="9405938" y="3244453"/>
                <a:ext cx="725805"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 xml:space="preserve">RACI与职责清单　</a:t>
                </a:r>
              </a:p>
              <a:p>
                <a:pPr algn="l" marL="76200" indent="-76200">
                  <a:lnSpc>
                    <a:spcPts val="1125"/>
                  </a:lnSpc>
                  <a:buClr>
                    <a:srgbClr val="3A4238"/>
                  </a:buClr>
                  <a:buSzTx/>
                  <a:buFontTx/>
                  <a:buChar char="•"/>
                </a:pPr>
                <a:r>
                  <a:rPr lang="zh-CN" sz="560" dirty="0">
                    <a:solidFill>
                      <a:srgbClr val="3A4238"/>
                    </a:solidFill>
                    <a:latin typeface="+mn-lt"/>
                    <a:ea typeface="+mn-ea"/>
                    <a:cs typeface="+mn-cs"/>
                  </a:rPr>
                  <a:t>操作日志与决策记录</a:t>
                </a:r>
              </a:p>
              <a:p>
                <a:pPr algn="l" marL="76200" indent="-76200">
                  <a:lnSpc>
                    <a:spcPts val="1125"/>
                  </a:lnSpc>
                  <a:buClr>
                    <a:srgbClr val="3A4238"/>
                  </a:buClr>
                  <a:buSzTx/>
                  <a:buFontTx/>
                  <a:buChar char="•"/>
                </a:pPr>
                <a:r>
                  <a:rPr lang="zh-CN" sz="560" dirty="0">
                    <a:solidFill>
                      <a:srgbClr val="3A4238"/>
                    </a:solidFill>
                    <a:latin typeface="+mn-lt"/>
                    <a:ea typeface="+mn-ea"/>
                    <a:cs typeface="+mn-cs"/>
                  </a:rPr>
                  <a:t>投诉处理与闭环记录</a:t>
                </a:r>
              </a:p>
            </p:txBody>
          </p:sp>
          <p:sp>
            <p:nvSpPr>
              <p:cNvPr id="171" name="Rectangle 171"/>
              <p:cNvSpPr/>
              <p:nvPr/>
            </p:nvSpPr>
            <p:spPr>
              <a:xfrm>
                <a:off x="5486400" y="3676650"/>
                <a:ext cx="6477000" cy="514350"/>
              </a:xfrm>
              <a:prstGeom prst="rect">
                <a:avLst/>
              </a:prstGeom>
              <a:solidFill>
                <a:srgbClr val="F4F8EC"/>
              </a:solidFill>
              <a:ln>
                <a:noFill/>
              </a:ln>
            </p:spPr>
          </p:sp>
          <p:grpSp>
            <p:nvGrpSpPr>
              <p:cNvPr id="174" name="Group 174"/>
              <p:cNvGrpSpPr/>
              <p:nvPr/>
            </p:nvGrpSpPr>
            <p:grpSpPr>
              <a:xfrm>
                <a:off x="5607050" y="3867150"/>
                <a:ext cx="101600" cy="92075"/>
                <a:chOff x="5607050" y="3867150"/>
                <a:chExt cx="101600" cy="92075"/>
              </a:xfrm>
            </p:grpSpPr>
            <p:sp>
              <p:nvSpPr>
                <p:cNvPr id="172" name="Freeform 172"/>
                <p:cNvSpPr/>
                <p:nvPr/>
              </p:nvSpPr>
              <p:spPr>
                <a:xfrm>
                  <a:off x="5607050" y="3949700"/>
                  <a:ext cx="101600" cy="9525"/>
                </a:xfrm>
                <a:custGeom>
                  <a:avLst/>
                  <a:gdLst/>
                  <a:ahLst/>
                  <a:cxnLst/>
                  <a:rect l="l" t="t" r="r" b="b"/>
                  <a:pathLst>
                    <a:path w="101600" h="9525">
                      <a:moveTo>
                        <a:pt x="0" y="0"/>
                      </a:moveTo>
                      <a:lnTo>
                        <a:pt x="101600" y="0"/>
                      </a:lnTo>
                    </a:path>
                  </a:pathLst>
                </a:custGeom>
                <a:noFill/>
                <a:ln w="12700">
                  <a:solidFill>
                    <a:srgbClr val="7C3B2F"/>
                  </a:solidFill>
                </a:ln>
              </p:spPr>
            </p:sp>
            <p:sp>
              <p:nvSpPr>
                <p:cNvPr id="173" name="Freeform 173"/>
                <p:cNvSpPr/>
                <p:nvPr/>
              </p:nvSpPr>
              <p:spPr>
                <a:xfrm>
                  <a:off x="5607050" y="386715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7C3B2F"/>
                  </a:solidFill>
                </a:ln>
              </p:spPr>
            </p:sp>
          </p:grpSp>
          <p:sp>
            <p:nvSpPr>
              <p:cNvPr id="175" name="TextBox 175"/>
              <p:cNvSpPr txBox="1"/>
              <p:nvPr/>
            </p:nvSpPr>
            <p:spPr>
              <a:xfrm>
                <a:off x="5786438" y="3809286"/>
                <a:ext cx="48742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可靠性风险</a:t>
                </a:r>
              </a:p>
            </p:txBody>
          </p:sp>
          <p:sp>
            <p:nvSpPr>
              <p:cNvPr id="176" name="TextBox 176"/>
              <p:cNvSpPr txBox="1"/>
              <p:nvPr/>
            </p:nvSpPr>
            <p:spPr>
              <a:xfrm>
                <a:off x="5786438" y="3962876"/>
                <a:ext cx="569544" cy="104775"/>
              </a:xfrm>
              <a:prstGeom prst="rect">
                <a:avLst/>
              </a:prstGeom>
              <a:noFill/>
              <a:ln>
                <a:noFill/>
              </a:ln>
            </p:spPr>
            <p:txBody>
              <a:bodyPr wrap="none" lIns="0" tIns="0" rIns="0" bIns="0" anchor="t" anchorCtr="0">
                <a:spAutoFit/>
              </a:bodyPr>
              <a:lstStyle/>
              <a:p>
                <a:pPr algn="l"/>
                <a:r>
                  <a:rPr lang="zh-CN" sz="520" dirty="0">
                    <a:solidFill>
                      <a:srgbClr val="66705F"/>
                    </a:solidFill>
                    <a:latin typeface="+mn-lt"/>
                    <a:ea typeface="+mn-ea"/>
                    <a:cs typeface="+mn-cs"/>
                  </a:rPr>
                  <a:t>不稳定与性能退化</a:t>
                </a:r>
              </a:p>
            </p:txBody>
          </p:sp>
          <p:sp>
            <p:nvSpPr>
              <p:cNvPr id="177" name="TextBox 177"/>
              <p:cNvSpPr txBox="1"/>
              <p:nvPr/>
            </p:nvSpPr>
            <p:spPr>
              <a:xfrm>
                <a:off x="6929438" y="3758803"/>
                <a:ext cx="772033"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模型监控与漂移检测</a:t>
                </a:r>
              </a:p>
              <a:p>
                <a:pPr algn="l" marL="76200" indent="-76200">
                  <a:lnSpc>
                    <a:spcPts val="1125"/>
                  </a:lnSpc>
                  <a:buClr>
                    <a:srgbClr val="3A4238"/>
                  </a:buClr>
                  <a:buSzTx/>
                  <a:buFontTx/>
                  <a:buChar char="•"/>
                </a:pPr>
                <a:r>
                  <a:rPr lang="zh-CN" sz="560" dirty="0">
                    <a:solidFill>
                      <a:srgbClr val="3A4238"/>
                    </a:solidFill>
                    <a:latin typeface="+mn-lt"/>
                    <a:ea typeface="+mn-ea"/>
                    <a:cs typeface="+mn-cs"/>
                  </a:rPr>
                  <a:t xml:space="preserve">性能SLA与容量管理　</a:t>
                </a:r>
              </a:p>
              <a:p>
                <a:pPr algn="l" marL="76200" indent="-76200">
                  <a:lnSpc>
                    <a:spcPts val="1125"/>
                  </a:lnSpc>
                  <a:buClr>
                    <a:srgbClr val="3A4238"/>
                  </a:buClr>
                  <a:buSzTx/>
                  <a:buFontTx/>
                  <a:buChar char="•"/>
                </a:pPr>
                <a:r>
                  <a:rPr lang="zh-CN" sz="560" dirty="0">
                    <a:solidFill>
                      <a:srgbClr val="3A4238"/>
                    </a:solidFill>
                    <a:latin typeface="+mn-lt"/>
                    <a:ea typeface="+mn-ea"/>
                    <a:cs typeface="+mn-cs"/>
                  </a:rPr>
                  <a:t>灰度发布与回滚机制</a:t>
                </a:r>
              </a:p>
            </p:txBody>
          </p:sp>
          <p:sp>
            <p:nvSpPr>
              <p:cNvPr id="178" name="TextBox 178"/>
              <p:cNvSpPr txBox="1"/>
              <p:nvPr/>
            </p:nvSpPr>
            <p:spPr>
              <a:xfrm>
                <a:off x="9405938" y="3758803"/>
                <a:ext cx="772033" cy="397669"/>
              </a:xfrm>
              <a:prstGeom prst="rect">
                <a:avLst/>
              </a:prstGeom>
              <a:noFill/>
              <a:ln>
                <a:noFill/>
              </a:ln>
            </p:spPr>
            <p:txBody>
              <a:bodyPr wrap="none" lIns="0" tIns="0" rIns="0" bIns="0" anchor="t" anchorCtr="0">
                <a:spAutoFit/>
              </a:bodyPr>
              <a:lstStyle/>
              <a:p>
                <a:pPr algn="l" marL="76200" indent="-76200">
                  <a:lnSpc>
                    <a:spcPts val="1125"/>
                  </a:lnSpc>
                  <a:buClr>
                    <a:srgbClr val="3A4238"/>
                  </a:buClr>
                  <a:buSzTx/>
                  <a:buFontTx/>
                  <a:buChar char="•"/>
                </a:pPr>
                <a:r>
                  <a:rPr lang="zh-CN" sz="560" dirty="0">
                    <a:solidFill>
                      <a:srgbClr val="3A4238"/>
                    </a:solidFill>
                    <a:latin typeface="+mn-lt"/>
                    <a:ea typeface="+mn-ea"/>
                    <a:cs typeface="+mn-cs"/>
                  </a:rPr>
                  <a:t>监控看板与告警记录</a:t>
                </a:r>
              </a:p>
              <a:p>
                <a:pPr algn="l" marL="76200" indent="-76200">
                  <a:lnSpc>
                    <a:spcPts val="1125"/>
                  </a:lnSpc>
                  <a:buClr>
                    <a:srgbClr val="3A4238"/>
                  </a:buClr>
                  <a:buSzTx/>
                  <a:buFontTx/>
                  <a:buChar char="•"/>
                </a:pPr>
                <a:r>
                  <a:rPr lang="zh-CN" sz="560" dirty="0">
                    <a:solidFill>
                      <a:srgbClr val="3A4238"/>
                    </a:solidFill>
                    <a:latin typeface="+mn-lt"/>
                    <a:ea typeface="+mn-ea"/>
                    <a:cs typeface="+mn-cs"/>
                  </a:rPr>
                  <a:t xml:space="preserve">SLA报告与容量评估　</a:t>
                </a:r>
              </a:p>
              <a:p>
                <a:pPr algn="l" marL="76200" indent="-76200">
                  <a:lnSpc>
                    <a:spcPts val="1125"/>
                  </a:lnSpc>
                  <a:buClr>
                    <a:srgbClr val="3A4238"/>
                  </a:buClr>
                  <a:buSzTx/>
                  <a:buFontTx/>
                  <a:buChar char="•"/>
                </a:pPr>
                <a:r>
                  <a:rPr lang="zh-CN" sz="560" dirty="0">
                    <a:solidFill>
                      <a:srgbClr val="3A4238"/>
                    </a:solidFill>
                    <a:latin typeface="+mn-lt"/>
                    <a:ea typeface="+mn-ea"/>
                    <a:cs typeface="+mn-cs"/>
                  </a:rPr>
                  <a:t>发布与回滚记录</a:t>
                </a:r>
              </a:p>
            </p:txBody>
          </p:sp>
        </p:grpSp>
        <p:sp>
          <p:nvSpPr>
            <p:cNvPr id="180" name="Line 180"/>
            <p:cNvSpPr/>
            <p:nvPr/>
          </p:nvSpPr>
          <p:spPr>
            <a:xfrm>
              <a:off x="6858000" y="914400"/>
              <a:ext cx="9525" cy="3276600"/>
            </a:xfrm>
            <a:custGeom>
              <a:avLst/>
              <a:gdLst/>
              <a:ahLst/>
              <a:cxnLst/>
              <a:rect l="l" t="t" r="r" b="b"/>
              <a:pathLst>
                <a:path w="9525" h="3276600">
                  <a:moveTo>
                    <a:pt x="0" y="0"/>
                  </a:moveTo>
                  <a:lnTo>
                    <a:pt x="0" y="3276600"/>
                  </a:lnTo>
                </a:path>
              </a:pathLst>
            </a:custGeom>
            <a:noFill/>
            <a:ln w="9525">
              <a:solidFill>
                <a:srgbClr val="D9E8C6"/>
              </a:solidFill>
            </a:ln>
          </p:spPr>
        </p:sp>
        <p:sp>
          <p:nvSpPr>
            <p:cNvPr id="181" name="Line 181"/>
            <p:cNvSpPr/>
            <p:nvPr/>
          </p:nvSpPr>
          <p:spPr>
            <a:xfrm>
              <a:off x="9334500" y="914400"/>
              <a:ext cx="9525" cy="3276600"/>
            </a:xfrm>
            <a:custGeom>
              <a:avLst/>
              <a:gdLst/>
              <a:ahLst/>
              <a:cxnLst/>
              <a:rect l="l" t="t" r="r" b="b"/>
              <a:pathLst>
                <a:path w="9525" h="3276600">
                  <a:moveTo>
                    <a:pt x="0" y="0"/>
                  </a:moveTo>
                  <a:lnTo>
                    <a:pt x="0" y="3276600"/>
                  </a:lnTo>
                </a:path>
              </a:pathLst>
            </a:custGeom>
            <a:noFill/>
            <a:ln w="9525">
              <a:solidFill>
                <a:srgbClr val="D9E8C6"/>
              </a:solidFill>
            </a:ln>
          </p:spPr>
        </p:sp>
        <p:sp>
          <p:nvSpPr>
            <p:cNvPr id="182" name="Line 182"/>
            <p:cNvSpPr/>
            <p:nvPr/>
          </p:nvSpPr>
          <p:spPr>
            <a:xfrm>
              <a:off x="5486400" y="4191000"/>
              <a:ext cx="6477000" cy="9525"/>
            </a:xfrm>
            <a:custGeom>
              <a:avLst/>
              <a:gdLst/>
              <a:ahLst/>
              <a:cxnLst/>
              <a:rect l="l" t="t" r="r" b="b"/>
              <a:pathLst>
                <a:path w="6477000" h="9525">
                  <a:moveTo>
                    <a:pt x="0" y="0"/>
                  </a:moveTo>
                  <a:lnTo>
                    <a:pt x="6477000" y="0"/>
                  </a:lnTo>
                </a:path>
              </a:pathLst>
            </a:custGeom>
            <a:noFill/>
            <a:ln w="9525">
              <a:solidFill>
                <a:srgbClr val="D9E8C6"/>
              </a:solidFill>
            </a:ln>
          </p:spPr>
        </p:sp>
      </p:grpSp>
      <p:sp>
        <p:nvSpPr>
          <p:cNvPr id="184" name="Line 184"/>
          <p:cNvSpPr/>
          <p:nvPr/>
        </p:nvSpPr>
        <p:spPr>
          <a:xfrm>
            <a:off x="2390775" y="4400550"/>
            <a:ext cx="1" cy="190500"/>
          </a:xfrm>
          <a:prstGeom prst="line">
            <a:avLst/>
          </a:prstGeom>
          <a:noFill/>
          <a:ln w="11430">
            <a:solidFill>
              <a:srgbClr val="9A4B3C"/>
            </a:solidFill>
            <a:custDash>
              <a:ds d="250000" sp="250000"/>
            </a:custDash>
            <a:tailEnd type="arrow" w="lg" len="lg"/>
          </a:ln>
        </p:spPr>
      </p:sp>
      <p:sp>
        <p:nvSpPr>
          <p:cNvPr id="185" name="Line 185"/>
          <p:cNvSpPr/>
          <p:nvPr/>
        </p:nvSpPr>
        <p:spPr>
          <a:xfrm>
            <a:off x="4124325" y="4400550"/>
            <a:ext cx="1" cy="190500"/>
          </a:xfrm>
          <a:prstGeom prst="line">
            <a:avLst/>
          </a:prstGeom>
          <a:noFill/>
          <a:ln w="11430">
            <a:solidFill>
              <a:srgbClr val="9A4B3C"/>
            </a:solidFill>
            <a:custDash>
              <a:ds d="250000" sp="250000"/>
            </a:custDash>
            <a:tailEnd type="arrow" w="lg" len="lg"/>
          </a:ln>
        </p:spPr>
      </p:sp>
      <p:sp>
        <p:nvSpPr>
          <p:cNvPr id="186" name="Line 186"/>
          <p:cNvSpPr/>
          <p:nvPr/>
        </p:nvSpPr>
        <p:spPr>
          <a:xfrm>
            <a:off x="5857875" y="4286250"/>
            <a:ext cx="1" cy="304800"/>
          </a:xfrm>
          <a:prstGeom prst="line">
            <a:avLst/>
          </a:prstGeom>
          <a:noFill/>
          <a:ln w="11430">
            <a:solidFill>
              <a:srgbClr val="9A4B3C"/>
            </a:solidFill>
            <a:custDash>
              <a:ds d="250000" sp="250000"/>
            </a:custDash>
            <a:tailEnd type="arrow" w="lg" len="lg"/>
          </a:ln>
        </p:spPr>
      </p:sp>
      <p:sp>
        <p:nvSpPr>
          <p:cNvPr id="187" name="Line 187"/>
          <p:cNvSpPr/>
          <p:nvPr/>
        </p:nvSpPr>
        <p:spPr>
          <a:xfrm>
            <a:off x="7591425" y="4286250"/>
            <a:ext cx="1" cy="304800"/>
          </a:xfrm>
          <a:prstGeom prst="line">
            <a:avLst/>
          </a:prstGeom>
          <a:noFill/>
          <a:ln w="11430">
            <a:solidFill>
              <a:srgbClr val="9A4B3C"/>
            </a:solidFill>
            <a:custDash>
              <a:ds d="250000" sp="250000"/>
            </a:custDash>
            <a:tailEnd type="arrow" w="lg" len="lg"/>
          </a:ln>
        </p:spPr>
      </p:sp>
      <p:sp>
        <p:nvSpPr>
          <p:cNvPr id="188" name="Line 188"/>
          <p:cNvSpPr/>
          <p:nvPr/>
        </p:nvSpPr>
        <p:spPr>
          <a:xfrm>
            <a:off x="9324975" y="4286250"/>
            <a:ext cx="1" cy="304800"/>
          </a:xfrm>
          <a:prstGeom prst="line">
            <a:avLst/>
          </a:prstGeom>
          <a:noFill/>
          <a:ln w="11430">
            <a:solidFill>
              <a:srgbClr val="9A4B3C"/>
            </a:solidFill>
            <a:custDash>
              <a:ds d="250000" sp="250000"/>
            </a:custDash>
            <a:tailEnd type="arrow" w="lg" len="lg"/>
          </a:ln>
        </p:spPr>
      </p:sp>
      <p:sp>
        <p:nvSpPr>
          <p:cNvPr id="189" name="Line 189"/>
          <p:cNvSpPr/>
          <p:nvPr/>
        </p:nvSpPr>
        <p:spPr>
          <a:xfrm>
            <a:off x="11058525" y="4286250"/>
            <a:ext cx="1" cy="304800"/>
          </a:xfrm>
          <a:prstGeom prst="line">
            <a:avLst/>
          </a:prstGeom>
          <a:noFill/>
          <a:ln w="11430">
            <a:solidFill>
              <a:srgbClr val="9A4B3C"/>
            </a:solidFill>
            <a:custDash>
              <a:ds d="250000" sp="250000"/>
            </a:custDash>
            <a:tailEnd type="arrow" w="lg" len="lg"/>
          </a:ln>
        </p:spPr>
      </p:sp>
      <p:grpSp>
        <p:nvGrpSpPr>
          <p:cNvPr id="193" name="gov-label"/>
          <p:cNvGrpSpPr/>
          <p:nvPr/>
        </p:nvGrpSpPr>
        <p:grpSpPr>
          <a:xfrm>
            <a:off x="228600" y="4629150"/>
            <a:ext cx="1238250" cy="1066800"/>
            <a:chOff x="228600" y="4629150"/>
            <a:chExt cx="1238250" cy="1066800"/>
          </a:xfrm>
        </p:grpSpPr>
        <p:sp>
          <p:nvSpPr>
            <p:cNvPr id="190" name="Rectangle 190"/>
            <p:cNvSpPr/>
            <p:nvPr/>
          </p:nvSpPr>
          <p:spPr>
            <a:xfrm>
              <a:off x="228600" y="4629150"/>
              <a:ext cx="1238250" cy="1066800"/>
            </a:xfrm>
            <a:prstGeom prst="roundRect">
              <a:avLst>
                <a:gd name="adj" fmla="val 8929"/>
              </a:avLst>
            </a:prstGeom>
            <a:solidFill>
              <a:srgbClr val="42140B"/>
            </a:solidFill>
            <a:ln>
              <a:noFill/>
            </a:ln>
          </p:spPr>
        </p:sp>
        <p:sp>
          <p:nvSpPr>
            <p:cNvPr id="191" name="TextBox 191"/>
            <p:cNvSpPr txBox="1"/>
            <p:nvPr/>
          </p:nvSpPr>
          <p:spPr>
            <a:xfrm>
              <a:off x="463334" y="500419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治理运营模式</a:t>
              </a:r>
            </a:p>
          </p:txBody>
        </p:sp>
        <p:sp>
          <p:nvSpPr>
            <p:cNvPr id="192" name="TextBox 192"/>
            <p:cNvSpPr txBox="1"/>
            <p:nvPr/>
          </p:nvSpPr>
          <p:spPr>
            <a:xfrm>
              <a:off x="523913" y="5229939"/>
              <a:ext cx="647624" cy="154781"/>
            </a:xfrm>
            <a:prstGeom prst="rect">
              <a:avLst/>
            </a:prstGeom>
            <a:noFill/>
            <a:ln>
              <a:noFill/>
            </a:ln>
          </p:spPr>
          <p:txBody>
            <a:bodyPr wrap="none" lIns="0" tIns="0" rIns="0" bIns="0" anchor="t" anchorCtr="0">
              <a:spAutoFit/>
            </a:bodyPr>
            <a:lstStyle/>
            <a:p>
              <a:pPr algn="ctr"/>
              <a:r>
                <a:rPr lang="zh-CN" sz="790" dirty="0">
                  <a:solidFill>
                    <a:srgbClr val="E4B7AF"/>
                  </a:solidFill>
                  <a:latin typeface="+mn-lt"/>
                  <a:ea typeface="+mn-ea"/>
                  <a:cs typeface="+mn-cs"/>
                </a:rPr>
                <a:t>（贯通执行）</a:t>
              </a:r>
            </a:p>
          </p:txBody>
        </p:sp>
      </p:grpSp>
      <p:grpSp>
        <p:nvGrpSpPr>
          <p:cNvPr id="206" name="gov-committee"/>
          <p:cNvGrpSpPr/>
          <p:nvPr/>
        </p:nvGrpSpPr>
        <p:grpSpPr>
          <a:xfrm>
            <a:off x="1581150" y="4629150"/>
            <a:ext cx="1619250" cy="1066800"/>
            <a:chOff x="1581150" y="4629150"/>
            <a:chExt cx="1619250" cy="1066800"/>
          </a:xfrm>
        </p:grpSpPr>
        <p:sp>
          <p:nvSpPr>
            <p:cNvPr id="194" name="Rectangle 194"/>
            <p:cNvSpPr/>
            <p:nvPr/>
          </p:nvSpPr>
          <p:spPr>
            <a:xfrm>
              <a:off x="1581150" y="4629150"/>
              <a:ext cx="1619250" cy="1066800"/>
            </a:xfrm>
            <a:prstGeom prst="roundRect">
              <a:avLst>
                <a:gd name="adj" fmla="val 7143"/>
              </a:avLst>
            </a:prstGeom>
            <a:solidFill>
              <a:srgbClr val="F4F8EC"/>
            </a:solidFill>
            <a:ln w="9525">
              <a:solidFill>
                <a:srgbClr val="D9E8C6"/>
              </a:solidFill>
            </a:ln>
          </p:spPr>
        </p:sp>
        <p:grpSp>
          <p:nvGrpSpPr>
            <p:cNvPr id="201" name="Group 201"/>
            <p:cNvGrpSpPr/>
            <p:nvPr/>
          </p:nvGrpSpPr>
          <p:grpSpPr>
            <a:xfrm>
              <a:off x="1714500" y="4743450"/>
              <a:ext cx="114300" cy="114300"/>
              <a:chOff x="1714500" y="4743450"/>
              <a:chExt cx="114300" cy="114300"/>
            </a:xfrm>
          </p:grpSpPr>
          <p:sp>
            <p:nvSpPr>
              <p:cNvPr id="195" name="Freeform 195"/>
              <p:cNvSpPr/>
              <p:nvPr/>
            </p:nvSpPr>
            <p:spPr>
              <a:xfrm>
                <a:off x="1758950" y="4794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sp>
            <p:nvSpPr>
              <p:cNvPr id="196" name="Freeform 196"/>
              <p:cNvSpPr/>
              <p:nvPr/>
            </p:nvSpPr>
            <p:spPr>
              <a:xfrm>
                <a:off x="1746250" y="48387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7C3B2F"/>
                </a:solidFill>
              </a:ln>
            </p:spPr>
          </p:sp>
          <p:sp>
            <p:nvSpPr>
              <p:cNvPr id="197" name="Freeform 197"/>
              <p:cNvSpPr/>
              <p:nvPr/>
            </p:nvSpPr>
            <p:spPr>
              <a:xfrm>
                <a:off x="1790700" y="47434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sp>
            <p:nvSpPr>
              <p:cNvPr id="198" name="Freeform 198"/>
              <p:cNvSpPr/>
              <p:nvPr/>
            </p:nvSpPr>
            <p:spPr>
              <a:xfrm>
                <a:off x="1803400" y="47879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7C3B2F"/>
                </a:solidFill>
              </a:ln>
            </p:spPr>
          </p:sp>
          <p:sp>
            <p:nvSpPr>
              <p:cNvPr id="199" name="Freeform 199"/>
              <p:cNvSpPr/>
              <p:nvPr/>
            </p:nvSpPr>
            <p:spPr>
              <a:xfrm>
                <a:off x="1727200" y="47434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sp>
            <p:nvSpPr>
              <p:cNvPr id="200" name="Freeform 200"/>
              <p:cNvSpPr/>
              <p:nvPr/>
            </p:nvSpPr>
            <p:spPr>
              <a:xfrm>
                <a:off x="1714500" y="47879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7C3B2F"/>
                </a:solidFill>
              </a:ln>
            </p:spPr>
          </p:sp>
        </p:grpSp>
        <p:sp>
          <p:nvSpPr>
            <p:cNvPr id="202" name="TextBox 202"/>
            <p:cNvSpPr txBox="1"/>
            <p:nvPr/>
          </p:nvSpPr>
          <p:spPr>
            <a:xfrm>
              <a:off x="1919288" y="4759166"/>
              <a:ext cx="555177"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 xml:space="preserve">AI委员会　</a:t>
              </a:r>
            </a:p>
          </p:txBody>
        </p:sp>
        <p:sp>
          <p:nvSpPr>
            <p:cNvPr id="203" name="TextBox 203"/>
            <p:cNvSpPr txBox="1"/>
            <p:nvPr/>
          </p:nvSpPr>
          <p:spPr>
            <a:xfrm>
              <a:off x="1690688" y="5036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战略与政策制定</a:t>
              </a:r>
            </a:p>
          </p:txBody>
        </p:sp>
        <p:sp>
          <p:nvSpPr>
            <p:cNvPr id="204" name="TextBox 204"/>
            <p:cNvSpPr txBox="1"/>
            <p:nvPr/>
          </p:nvSpPr>
          <p:spPr>
            <a:xfrm>
              <a:off x="1690688" y="52270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风险容忍与决策</a:t>
              </a:r>
            </a:p>
          </p:txBody>
        </p:sp>
        <p:sp>
          <p:nvSpPr>
            <p:cNvPr id="205" name="TextBox 205"/>
            <p:cNvSpPr txBox="1"/>
            <p:nvPr/>
          </p:nvSpPr>
          <p:spPr>
            <a:xfrm>
              <a:off x="1690688" y="5417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绩效评估与监督</a:t>
              </a:r>
            </a:p>
          </p:txBody>
        </p:sp>
      </p:grpSp>
      <p:sp>
        <p:nvSpPr>
          <p:cNvPr id="207" name="gov-link-1"/>
          <p:cNvSpPr txBox="1"/>
          <p:nvPr/>
        </p:nvSpPr>
        <p:spPr>
          <a:xfrm>
            <a:off x="3222431" y="5121116"/>
            <a:ext cx="70239" cy="161925"/>
          </a:xfrm>
          <a:prstGeom prst="rect">
            <a:avLst/>
          </a:prstGeom>
          <a:noFill/>
          <a:ln>
            <a:noFill/>
          </a:ln>
        </p:spPr>
        <p:txBody>
          <a:bodyPr wrap="none" lIns="0" tIns="0" rIns="0" bIns="0" anchor="t" anchorCtr="0">
            <a:spAutoFit/>
          </a:bodyPr>
          <a:lstStyle/>
          <a:p>
            <a:pPr algn="ctr"/>
            <a:r>
              <a:rPr lang="zh-CN" sz="820" dirty="0">
                <a:solidFill>
                  <a:srgbClr val="9A4B3C"/>
                </a:solidFill>
                <a:latin typeface="+mn-lt"/>
                <a:ea typeface="+mn-ea"/>
                <a:cs typeface="+mn-cs"/>
              </a:rPr>
              <a:t>⇔</a:t>
            </a:r>
          </a:p>
        </p:txBody>
      </p:sp>
      <p:grpSp>
        <p:nvGrpSpPr>
          <p:cNvPr id="217" name="gov-owner"/>
          <p:cNvGrpSpPr/>
          <p:nvPr/>
        </p:nvGrpSpPr>
        <p:grpSpPr>
          <a:xfrm>
            <a:off x="3314700" y="4629150"/>
            <a:ext cx="1619250" cy="1066800"/>
            <a:chOff x="3314700" y="4629150"/>
            <a:chExt cx="1619250" cy="1066800"/>
          </a:xfrm>
        </p:grpSpPr>
        <p:sp>
          <p:nvSpPr>
            <p:cNvPr id="208" name="Rectangle 208"/>
            <p:cNvSpPr/>
            <p:nvPr/>
          </p:nvSpPr>
          <p:spPr>
            <a:xfrm>
              <a:off x="3314700" y="4629150"/>
              <a:ext cx="1619250" cy="1066800"/>
            </a:xfrm>
            <a:prstGeom prst="roundRect">
              <a:avLst>
                <a:gd name="adj" fmla="val 7143"/>
              </a:avLst>
            </a:prstGeom>
            <a:solidFill>
              <a:srgbClr val="FFFFFF"/>
            </a:solidFill>
            <a:ln w="9525">
              <a:solidFill>
                <a:srgbClr val="D9E8C6"/>
              </a:solidFill>
            </a:ln>
          </p:spPr>
        </p:sp>
        <p:grpSp>
          <p:nvGrpSpPr>
            <p:cNvPr id="212" name="Group 212"/>
            <p:cNvGrpSpPr/>
            <p:nvPr/>
          </p:nvGrpSpPr>
          <p:grpSpPr>
            <a:xfrm>
              <a:off x="3467100" y="4743450"/>
              <a:ext cx="95250" cy="114300"/>
              <a:chOff x="3467100" y="4743450"/>
              <a:chExt cx="95250" cy="114300"/>
            </a:xfrm>
          </p:grpSpPr>
          <p:sp>
            <p:nvSpPr>
              <p:cNvPr id="209" name="Freeform 209"/>
              <p:cNvSpPr/>
              <p:nvPr/>
            </p:nvSpPr>
            <p:spPr>
              <a:xfrm>
                <a:off x="3479800" y="47434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C3B2F"/>
                </a:solidFill>
              </a:ln>
            </p:spPr>
          </p:sp>
          <p:sp>
            <p:nvSpPr>
              <p:cNvPr id="210" name="Freeform 210"/>
              <p:cNvSpPr/>
              <p:nvPr/>
            </p:nvSpPr>
            <p:spPr>
              <a:xfrm>
                <a:off x="3467100" y="48196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7C3B2F"/>
                </a:solidFill>
              </a:ln>
            </p:spPr>
          </p:sp>
          <p:sp>
            <p:nvSpPr>
              <p:cNvPr id="211" name="Freeform 211"/>
              <p:cNvSpPr/>
              <p:nvPr/>
            </p:nvSpPr>
            <p:spPr>
              <a:xfrm>
                <a:off x="3524250" y="483235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213" name="TextBox 213"/>
            <p:cNvSpPr txBox="1"/>
            <p:nvPr/>
          </p:nvSpPr>
          <p:spPr>
            <a:xfrm>
              <a:off x="3652838" y="4759166"/>
              <a:ext cx="709933"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 xml:space="preserve">业务Owner　</a:t>
              </a:r>
            </a:p>
          </p:txBody>
        </p:sp>
        <p:sp>
          <p:nvSpPr>
            <p:cNvPr id="214" name="TextBox 214"/>
            <p:cNvSpPr txBox="1"/>
            <p:nvPr/>
          </p:nvSpPr>
          <p:spPr>
            <a:xfrm>
              <a:off x="3424238" y="5036582"/>
              <a:ext cx="602666"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业务价值明确</a:t>
              </a:r>
            </a:p>
          </p:txBody>
        </p:sp>
        <p:sp>
          <p:nvSpPr>
            <p:cNvPr id="215" name="TextBox 215"/>
            <p:cNvSpPr txBox="1"/>
            <p:nvPr/>
          </p:nvSpPr>
          <p:spPr>
            <a:xfrm>
              <a:off x="3424238" y="5227082"/>
              <a:ext cx="77497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场景准入与优先级</a:t>
              </a:r>
            </a:p>
          </p:txBody>
        </p:sp>
        <p:sp>
          <p:nvSpPr>
            <p:cNvPr id="216" name="TextBox 216"/>
            <p:cNvSpPr txBox="1"/>
            <p:nvPr/>
          </p:nvSpPr>
          <p:spPr>
            <a:xfrm>
              <a:off x="3424238" y="5417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结果应用与反馈</a:t>
              </a:r>
            </a:p>
          </p:txBody>
        </p:sp>
      </p:grpSp>
      <p:sp>
        <p:nvSpPr>
          <p:cNvPr id="218" name="gov-link-2"/>
          <p:cNvSpPr txBox="1"/>
          <p:nvPr/>
        </p:nvSpPr>
        <p:spPr>
          <a:xfrm>
            <a:off x="4955981" y="5121116"/>
            <a:ext cx="70239" cy="161925"/>
          </a:xfrm>
          <a:prstGeom prst="rect">
            <a:avLst/>
          </a:prstGeom>
          <a:noFill/>
          <a:ln>
            <a:noFill/>
          </a:ln>
        </p:spPr>
        <p:txBody>
          <a:bodyPr wrap="none" lIns="0" tIns="0" rIns="0" bIns="0" anchor="t" anchorCtr="0">
            <a:spAutoFit/>
          </a:bodyPr>
          <a:lstStyle/>
          <a:p>
            <a:pPr algn="ctr"/>
            <a:r>
              <a:rPr lang="zh-CN" sz="820" dirty="0">
                <a:solidFill>
                  <a:srgbClr val="9A4B3C"/>
                </a:solidFill>
                <a:latin typeface="+mn-lt"/>
                <a:ea typeface="+mn-ea"/>
                <a:cs typeface="+mn-cs"/>
              </a:rPr>
              <a:t>⇔</a:t>
            </a:r>
          </a:p>
        </p:txBody>
      </p:sp>
      <p:grpSp>
        <p:nvGrpSpPr>
          <p:cNvPr id="227" name="gov-risk"/>
          <p:cNvGrpSpPr/>
          <p:nvPr/>
        </p:nvGrpSpPr>
        <p:grpSpPr>
          <a:xfrm>
            <a:off x="5048250" y="4629150"/>
            <a:ext cx="1619250" cy="1066800"/>
            <a:chOff x="5048250" y="4629150"/>
            <a:chExt cx="1619250" cy="1066800"/>
          </a:xfrm>
        </p:grpSpPr>
        <p:sp>
          <p:nvSpPr>
            <p:cNvPr id="219" name="Rectangle 219"/>
            <p:cNvSpPr/>
            <p:nvPr/>
          </p:nvSpPr>
          <p:spPr>
            <a:xfrm>
              <a:off x="5048250" y="4629150"/>
              <a:ext cx="1619250" cy="1066800"/>
            </a:xfrm>
            <a:prstGeom prst="roundRect">
              <a:avLst>
                <a:gd name="adj" fmla="val 7143"/>
              </a:avLst>
            </a:prstGeom>
            <a:solidFill>
              <a:srgbClr val="F4F8EC"/>
            </a:solidFill>
            <a:ln w="9525">
              <a:solidFill>
                <a:srgbClr val="D9E8C6"/>
              </a:solidFill>
            </a:ln>
          </p:spPr>
        </p:sp>
        <p:grpSp>
          <p:nvGrpSpPr>
            <p:cNvPr id="222" name="Group 222"/>
            <p:cNvGrpSpPr/>
            <p:nvPr/>
          </p:nvGrpSpPr>
          <p:grpSpPr>
            <a:xfrm>
              <a:off x="5173030" y="4743450"/>
              <a:ext cx="124004" cy="114300"/>
              <a:chOff x="5173030" y="4743450"/>
              <a:chExt cx="124004" cy="114300"/>
            </a:xfrm>
          </p:grpSpPr>
          <p:sp>
            <p:nvSpPr>
              <p:cNvPr id="220" name="Freeform 220"/>
              <p:cNvSpPr/>
              <p:nvPr/>
            </p:nvSpPr>
            <p:spPr>
              <a:xfrm>
                <a:off x="5173030" y="47434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7C3B2F"/>
                </a:solidFill>
              </a:ln>
            </p:spPr>
          </p:sp>
          <p:sp>
            <p:nvSpPr>
              <p:cNvPr id="221" name="Freeform 221"/>
              <p:cNvSpPr/>
              <p:nvPr/>
            </p:nvSpPr>
            <p:spPr>
              <a:xfrm>
                <a:off x="5257800" y="483235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223" name="TextBox 223"/>
            <p:cNvSpPr txBox="1"/>
            <p:nvPr/>
          </p:nvSpPr>
          <p:spPr>
            <a:xfrm>
              <a:off x="5386388" y="4759166"/>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风险合规</a:t>
              </a:r>
            </a:p>
          </p:txBody>
        </p:sp>
        <p:sp>
          <p:nvSpPr>
            <p:cNvPr id="224" name="TextBox 224"/>
            <p:cNvSpPr txBox="1"/>
            <p:nvPr/>
          </p:nvSpPr>
          <p:spPr>
            <a:xfrm>
              <a:off x="5157788" y="5036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政策与标准落地</a:t>
              </a:r>
            </a:p>
          </p:txBody>
        </p:sp>
        <p:sp>
          <p:nvSpPr>
            <p:cNvPr id="225" name="TextBox 225"/>
            <p:cNvSpPr txBox="1"/>
            <p:nvPr/>
          </p:nvSpPr>
          <p:spPr>
            <a:xfrm>
              <a:off x="5157788" y="52270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合规审查与监督</a:t>
              </a:r>
            </a:p>
          </p:txBody>
        </p:sp>
        <p:sp>
          <p:nvSpPr>
            <p:cNvPr id="226" name="TextBox 226"/>
            <p:cNvSpPr txBox="1"/>
            <p:nvPr/>
          </p:nvSpPr>
          <p:spPr>
            <a:xfrm>
              <a:off x="5157788" y="5417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风险评估与报告</a:t>
              </a:r>
            </a:p>
          </p:txBody>
        </p:sp>
      </p:grpSp>
      <p:sp>
        <p:nvSpPr>
          <p:cNvPr id="228" name="gov-link-3"/>
          <p:cNvSpPr txBox="1"/>
          <p:nvPr/>
        </p:nvSpPr>
        <p:spPr>
          <a:xfrm>
            <a:off x="6689531" y="5121116"/>
            <a:ext cx="70239" cy="161925"/>
          </a:xfrm>
          <a:prstGeom prst="rect">
            <a:avLst/>
          </a:prstGeom>
          <a:noFill/>
          <a:ln>
            <a:noFill/>
          </a:ln>
        </p:spPr>
        <p:txBody>
          <a:bodyPr wrap="none" lIns="0" tIns="0" rIns="0" bIns="0" anchor="t" anchorCtr="0">
            <a:spAutoFit/>
          </a:bodyPr>
          <a:lstStyle/>
          <a:p>
            <a:pPr algn="ctr"/>
            <a:r>
              <a:rPr lang="zh-CN" sz="820" dirty="0">
                <a:solidFill>
                  <a:srgbClr val="9A4B3C"/>
                </a:solidFill>
                <a:latin typeface="+mn-lt"/>
                <a:ea typeface="+mn-ea"/>
                <a:cs typeface="+mn-cs"/>
              </a:rPr>
              <a:t>⇔</a:t>
            </a:r>
          </a:p>
        </p:txBody>
      </p:sp>
      <p:grpSp>
        <p:nvGrpSpPr>
          <p:cNvPr id="238" name="gov-data"/>
          <p:cNvGrpSpPr/>
          <p:nvPr/>
        </p:nvGrpSpPr>
        <p:grpSpPr>
          <a:xfrm>
            <a:off x="6781800" y="4629150"/>
            <a:ext cx="1619250" cy="1066800"/>
            <a:chOff x="6781800" y="4629150"/>
            <a:chExt cx="1619250" cy="1066800"/>
          </a:xfrm>
        </p:grpSpPr>
        <p:sp>
          <p:nvSpPr>
            <p:cNvPr id="229" name="Rectangle 229"/>
            <p:cNvSpPr/>
            <p:nvPr/>
          </p:nvSpPr>
          <p:spPr>
            <a:xfrm>
              <a:off x="6781800" y="4629150"/>
              <a:ext cx="1619250" cy="1066800"/>
            </a:xfrm>
            <a:prstGeom prst="roundRect">
              <a:avLst>
                <a:gd name="adj" fmla="val 7143"/>
              </a:avLst>
            </a:prstGeom>
            <a:solidFill>
              <a:srgbClr val="FFFFFF"/>
            </a:solidFill>
            <a:ln w="9525">
              <a:solidFill>
                <a:srgbClr val="D9E8C6"/>
              </a:solidFill>
            </a:ln>
          </p:spPr>
        </p:sp>
        <p:grpSp>
          <p:nvGrpSpPr>
            <p:cNvPr id="233" name="Group 233"/>
            <p:cNvGrpSpPr/>
            <p:nvPr/>
          </p:nvGrpSpPr>
          <p:grpSpPr>
            <a:xfrm>
              <a:off x="6921500" y="4743450"/>
              <a:ext cx="101600" cy="114300"/>
              <a:chOff x="6921500" y="4743450"/>
              <a:chExt cx="101600" cy="114300"/>
            </a:xfrm>
          </p:grpSpPr>
          <p:sp>
            <p:nvSpPr>
              <p:cNvPr id="230" name="Freeform 230"/>
              <p:cNvSpPr/>
              <p:nvPr/>
            </p:nvSpPr>
            <p:spPr>
              <a:xfrm>
                <a:off x="6921500" y="47434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7C3B2F"/>
                </a:solidFill>
              </a:ln>
            </p:spPr>
          </p:sp>
          <p:sp>
            <p:nvSpPr>
              <p:cNvPr id="231" name="Freeform 231"/>
              <p:cNvSpPr/>
              <p:nvPr/>
            </p:nvSpPr>
            <p:spPr>
              <a:xfrm>
                <a:off x="6921500" y="47625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7C3B2F"/>
                </a:solidFill>
              </a:ln>
            </p:spPr>
          </p:sp>
          <p:sp>
            <p:nvSpPr>
              <p:cNvPr id="232" name="Freeform 232"/>
              <p:cNvSpPr/>
              <p:nvPr/>
            </p:nvSpPr>
            <p:spPr>
              <a:xfrm>
                <a:off x="6921500" y="48006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7C3B2F"/>
                </a:solidFill>
              </a:ln>
            </p:spPr>
          </p:sp>
        </p:grpSp>
        <p:sp>
          <p:nvSpPr>
            <p:cNvPr id="234" name="TextBox 234"/>
            <p:cNvSpPr txBox="1"/>
            <p:nvPr/>
          </p:nvSpPr>
          <p:spPr>
            <a:xfrm>
              <a:off x="7119938" y="4759166"/>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数据团队</a:t>
              </a:r>
            </a:p>
          </p:txBody>
        </p:sp>
        <p:sp>
          <p:nvSpPr>
            <p:cNvPr id="235" name="TextBox 235"/>
            <p:cNvSpPr txBox="1"/>
            <p:nvPr/>
          </p:nvSpPr>
          <p:spPr>
            <a:xfrm>
              <a:off x="6891338" y="5036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数据合规与治理</a:t>
              </a:r>
            </a:p>
          </p:txBody>
        </p:sp>
        <p:sp>
          <p:nvSpPr>
            <p:cNvPr id="236" name="TextBox 236"/>
            <p:cNvSpPr txBox="1"/>
            <p:nvPr/>
          </p:nvSpPr>
          <p:spPr>
            <a:xfrm>
              <a:off x="6891338" y="52270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质量与血缘管理</a:t>
              </a:r>
            </a:p>
          </p:txBody>
        </p:sp>
        <p:sp>
          <p:nvSpPr>
            <p:cNvPr id="237" name="TextBox 237"/>
            <p:cNvSpPr txBox="1"/>
            <p:nvPr/>
          </p:nvSpPr>
          <p:spPr>
            <a:xfrm>
              <a:off x="6891338" y="5417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特征与样本管理</a:t>
              </a:r>
            </a:p>
          </p:txBody>
        </p:sp>
      </p:grpSp>
      <p:sp>
        <p:nvSpPr>
          <p:cNvPr id="239" name="gov-link-4"/>
          <p:cNvSpPr txBox="1"/>
          <p:nvPr/>
        </p:nvSpPr>
        <p:spPr>
          <a:xfrm>
            <a:off x="8423081" y="5121116"/>
            <a:ext cx="70239" cy="161925"/>
          </a:xfrm>
          <a:prstGeom prst="rect">
            <a:avLst/>
          </a:prstGeom>
          <a:noFill/>
          <a:ln>
            <a:noFill/>
          </a:ln>
        </p:spPr>
        <p:txBody>
          <a:bodyPr wrap="none" lIns="0" tIns="0" rIns="0" bIns="0" anchor="t" anchorCtr="0">
            <a:spAutoFit/>
          </a:bodyPr>
          <a:lstStyle/>
          <a:p>
            <a:pPr algn="ctr"/>
            <a:r>
              <a:rPr lang="zh-CN" sz="820" dirty="0">
                <a:solidFill>
                  <a:srgbClr val="9A4B3C"/>
                </a:solidFill>
                <a:latin typeface="+mn-lt"/>
                <a:ea typeface="+mn-ea"/>
                <a:cs typeface="+mn-cs"/>
              </a:rPr>
              <a:t>⇔</a:t>
            </a:r>
          </a:p>
        </p:txBody>
      </p:sp>
      <p:grpSp>
        <p:nvGrpSpPr>
          <p:cNvPr id="248" name="gov-platform"/>
          <p:cNvGrpSpPr/>
          <p:nvPr/>
        </p:nvGrpSpPr>
        <p:grpSpPr>
          <a:xfrm>
            <a:off x="8515350" y="4629150"/>
            <a:ext cx="1619250" cy="1066800"/>
            <a:chOff x="8515350" y="4629150"/>
            <a:chExt cx="1619250" cy="1066800"/>
          </a:xfrm>
        </p:grpSpPr>
        <p:sp>
          <p:nvSpPr>
            <p:cNvPr id="240" name="Rectangle 240"/>
            <p:cNvSpPr/>
            <p:nvPr/>
          </p:nvSpPr>
          <p:spPr>
            <a:xfrm>
              <a:off x="8515350" y="4629150"/>
              <a:ext cx="1619250" cy="1066800"/>
            </a:xfrm>
            <a:prstGeom prst="roundRect">
              <a:avLst>
                <a:gd name="adj" fmla="val 7143"/>
              </a:avLst>
            </a:prstGeom>
            <a:solidFill>
              <a:srgbClr val="F4F8EC"/>
            </a:solidFill>
            <a:ln w="9525">
              <a:solidFill>
                <a:srgbClr val="D9E8C6"/>
              </a:solidFill>
            </a:ln>
          </p:spPr>
        </p:sp>
        <p:grpSp>
          <p:nvGrpSpPr>
            <p:cNvPr id="243" name="Group 243"/>
            <p:cNvGrpSpPr/>
            <p:nvPr/>
          </p:nvGrpSpPr>
          <p:grpSpPr>
            <a:xfrm>
              <a:off x="8645912" y="4740662"/>
              <a:ext cx="119875" cy="119875"/>
              <a:chOff x="8645912" y="4740662"/>
              <a:chExt cx="119875" cy="119875"/>
            </a:xfrm>
          </p:grpSpPr>
          <p:sp>
            <p:nvSpPr>
              <p:cNvPr id="241" name="Freeform 241"/>
              <p:cNvSpPr/>
              <p:nvPr/>
            </p:nvSpPr>
            <p:spPr>
              <a:xfrm>
                <a:off x="8645912" y="474066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7C3B2F"/>
                </a:solidFill>
              </a:ln>
            </p:spPr>
          </p:sp>
          <p:sp>
            <p:nvSpPr>
              <p:cNvPr id="242" name="Freeform 242"/>
              <p:cNvSpPr/>
              <p:nvPr/>
            </p:nvSpPr>
            <p:spPr>
              <a:xfrm>
                <a:off x="8686800" y="47815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7C3B2F"/>
                </a:solidFill>
              </a:ln>
            </p:spPr>
          </p:sp>
        </p:grpSp>
        <p:sp>
          <p:nvSpPr>
            <p:cNvPr id="244" name="TextBox 244"/>
            <p:cNvSpPr txBox="1"/>
            <p:nvPr/>
          </p:nvSpPr>
          <p:spPr>
            <a:xfrm>
              <a:off x="8853488" y="4759166"/>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技术平台</a:t>
              </a:r>
            </a:p>
          </p:txBody>
        </p:sp>
        <p:sp>
          <p:nvSpPr>
            <p:cNvPr id="245" name="TextBox 245"/>
            <p:cNvSpPr txBox="1"/>
            <p:nvPr/>
          </p:nvSpPr>
          <p:spPr>
            <a:xfrm>
              <a:off x="8624888" y="5036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平台能力与工具</a:t>
              </a:r>
            </a:p>
          </p:txBody>
        </p:sp>
        <p:sp>
          <p:nvSpPr>
            <p:cNvPr id="246" name="TextBox 246"/>
            <p:cNvSpPr txBox="1"/>
            <p:nvPr/>
          </p:nvSpPr>
          <p:spPr>
            <a:xfrm>
              <a:off x="8624888" y="52270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安全与运维保障</a:t>
              </a:r>
            </a:p>
          </p:txBody>
        </p:sp>
        <p:sp>
          <p:nvSpPr>
            <p:cNvPr id="247" name="TextBox 247"/>
            <p:cNvSpPr txBox="1"/>
            <p:nvPr/>
          </p:nvSpPr>
          <p:spPr>
            <a:xfrm>
              <a:off x="8624888" y="5417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监控与可观测性</a:t>
              </a:r>
            </a:p>
          </p:txBody>
        </p:sp>
      </p:grpSp>
      <p:sp>
        <p:nvSpPr>
          <p:cNvPr id="249" name="gov-link-5"/>
          <p:cNvSpPr txBox="1"/>
          <p:nvPr/>
        </p:nvSpPr>
        <p:spPr>
          <a:xfrm>
            <a:off x="10156631" y="5121116"/>
            <a:ext cx="70239" cy="161925"/>
          </a:xfrm>
          <a:prstGeom prst="rect">
            <a:avLst/>
          </a:prstGeom>
          <a:noFill/>
          <a:ln>
            <a:noFill/>
          </a:ln>
        </p:spPr>
        <p:txBody>
          <a:bodyPr wrap="none" lIns="0" tIns="0" rIns="0" bIns="0" anchor="t" anchorCtr="0">
            <a:spAutoFit/>
          </a:bodyPr>
          <a:lstStyle/>
          <a:p>
            <a:pPr algn="ctr"/>
            <a:r>
              <a:rPr lang="zh-CN" sz="820" dirty="0">
                <a:solidFill>
                  <a:srgbClr val="9A4B3C"/>
                </a:solidFill>
                <a:latin typeface="+mn-lt"/>
                <a:ea typeface="+mn-ea"/>
                <a:cs typeface="+mn-cs"/>
              </a:rPr>
              <a:t>⇔</a:t>
            </a:r>
          </a:p>
        </p:txBody>
      </p:sp>
      <p:grpSp>
        <p:nvGrpSpPr>
          <p:cNvPr id="258" name="gov-audit"/>
          <p:cNvGrpSpPr/>
          <p:nvPr/>
        </p:nvGrpSpPr>
        <p:grpSpPr>
          <a:xfrm>
            <a:off x="10248900" y="4629150"/>
            <a:ext cx="1619250" cy="1066800"/>
            <a:chOff x="10248900" y="4629150"/>
            <a:chExt cx="1619250" cy="1066800"/>
          </a:xfrm>
        </p:grpSpPr>
        <p:sp>
          <p:nvSpPr>
            <p:cNvPr id="250" name="Rectangle 250"/>
            <p:cNvSpPr/>
            <p:nvPr/>
          </p:nvSpPr>
          <p:spPr>
            <a:xfrm>
              <a:off x="10248900" y="4629150"/>
              <a:ext cx="1619250" cy="1066800"/>
            </a:xfrm>
            <a:prstGeom prst="roundRect">
              <a:avLst>
                <a:gd name="adj" fmla="val 7143"/>
              </a:avLst>
            </a:prstGeom>
            <a:solidFill>
              <a:srgbClr val="FFFFFF"/>
            </a:solidFill>
            <a:ln w="9525">
              <a:solidFill>
                <a:srgbClr val="D9E8C6"/>
              </a:solidFill>
            </a:ln>
          </p:spPr>
        </p:sp>
        <p:grpSp>
          <p:nvGrpSpPr>
            <p:cNvPr id="253" name="Group 253"/>
            <p:cNvGrpSpPr/>
            <p:nvPr/>
          </p:nvGrpSpPr>
          <p:grpSpPr>
            <a:xfrm>
              <a:off x="10382250" y="4743450"/>
              <a:ext cx="114300" cy="114300"/>
              <a:chOff x="10382250" y="4743450"/>
              <a:chExt cx="114300" cy="114300"/>
            </a:xfrm>
          </p:grpSpPr>
          <p:sp>
            <p:nvSpPr>
              <p:cNvPr id="251" name="Freeform 251"/>
              <p:cNvSpPr/>
              <p:nvPr/>
            </p:nvSpPr>
            <p:spPr>
              <a:xfrm>
                <a:off x="10382250" y="474345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7C3B2F"/>
                </a:solidFill>
              </a:ln>
            </p:spPr>
          </p:sp>
          <p:sp>
            <p:nvSpPr>
              <p:cNvPr id="252" name="Freeform 252"/>
              <p:cNvSpPr/>
              <p:nvPr/>
            </p:nvSpPr>
            <p:spPr>
              <a:xfrm>
                <a:off x="10458450" y="4819650"/>
                <a:ext cx="38100" cy="38100"/>
              </a:xfrm>
              <a:custGeom>
                <a:avLst/>
                <a:gdLst/>
                <a:ahLst/>
                <a:cxnLst/>
                <a:rect l="l" t="t" r="r" b="b"/>
                <a:pathLst>
                  <a:path w="38100" h="38100">
                    <a:moveTo>
                      <a:pt x="38100" y="38100"/>
                    </a:moveTo>
                    <a:lnTo>
                      <a:pt x="0" y="0"/>
                    </a:lnTo>
                  </a:path>
                </a:pathLst>
              </a:custGeom>
              <a:noFill/>
              <a:ln w="12700">
                <a:solidFill>
                  <a:srgbClr val="7C3B2F"/>
                </a:solidFill>
              </a:ln>
            </p:spPr>
          </p:sp>
        </p:grpSp>
        <p:sp>
          <p:nvSpPr>
            <p:cNvPr id="254" name="TextBox 254"/>
            <p:cNvSpPr txBox="1"/>
            <p:nvPr/>
          </p:nvSpPr>
          <p:spPr>
            <a:xfrm>
              <a:off x="10587038" y="4759166"/>
              <a:ext cx="230302"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内审</a:t>
              </a:r>
            </a:p>
          </p:txBody>
        </p:sp>
        <p:sp>
          <p:nvSpPr>
            <p:cNvPr id="255" name="TextBox 255"/>
            <p:cNvSpPr txBox="1"/>
            <p:nvPr/>
          </p:nvSpPr>
          <p:spPr>
            <a:xfrm>
              <a:off x="10358438" y="5036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独立评估与抽样</a:t>
              </a:r>
            </a:p>
          </p:txBody>
        </p:sp>
        <p:sp>
          <p:nvSpPr>
            <p:cNvPr id="256" name="TextBox 256"/>
            <p:cNvSpPr txBox="1"/>
            <p:nvPr/>
          </p:nvSpPr>
          <p:spPr>
            <a:xfrm>
              <a:off x="10358438" y="52270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控制有效性验证</a:t>
              </a:r>
            </a:p>
          </p:txBody>
        </p:sp>
        <p:sp>
          <p:nvSpPr>
            <p:cNvPr id="257" name="TextBox 257"/>
            <p:cNvSpPr txBox="1"/>
            <p:nvPr/>
          </p:nvSpPr>
          <p:spPr>
            <a:xfrm>
              <a:off x="10358438" y="5417582"/>
              <a:ext cx="688823"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改进建议与跟踪</a:t>
              </a:r>
            </a:p>
          </p:txBody>
        </p:sp>
      </p:grpSp>
      <p:sp>
        <p:nvSpPr>
          <p:cNvPr id="259" name="gov-loop"/>
          <p:cNvSpPr/>
          <p:nvPr/>
        </p:nvSpPr>
        <p:spPr>
          <a:xfrm>
            <a:off x="2390775" y="5715000"/>
            <a:ext cx="8667750" cy="152400"/>
          </a:xfrm>
          <a:custGeom>
            <a:avLst/>
            <a:gdLst/>
            <a:ahLst/>
            <a:cxnLst/>
            <a:rect l="l" t="t" r="r" b="b"/>
            <a:pathLst>
              <a:path w="8667750" h="152400">
                <a:moveTo>
                  <a:pt x="8667750" y="0"/>
                </a:moveTo>
                <a:lnTo>
                  <a:pt x="8667750" y="152400"/>
                </a:lnTo>
                <a:lnTo>
                  <a:pt x="0" y="152400"/>
                </a:lnTo>
                <a:lnTo>
                  <a:pt x="0" y="19050"/>
                </a:lnTo>
              </a:path>
            </a:pathLst>
          </a:custGeom>
          <a:noFill/>
          <a:ln w="11430">
            <a:solidFill>
              <a:srgbClr val="BE776A"/>
            </a:solidFill>
            <a:custDash>
              <a:ds d="416667" sp="333333"/>
            </a:custDash>
            <a:tailEnd type="arrow" w="lg" len="lg"/>
          </a:ln>
        </p:spPr>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12</a:t>
              </a:r>
            </a:p>
          </p:txBody>
        </p:sp>
        <p:sp>
          <p:nvSpPr>
            <p:cNvPr id="4" name="TextBox 4"/>
            <p:cNvSpPr txBox="1"/>
            <p:nvPr/>
          </p:nvSpPr>
          <p:spPr>
            <a:xfrm>
              <a:off x="942594" y="151448"/>
              <a:ext cx="763079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LLMOps把知识、提示、模型与评测纳入同一条</a:t>
              </a:r>
              <a:r>
                <a:rPr lang="zh-CN" sz="1950" b="1" dirty="0">
                  <a:solidFill>
                    <a:srgbClr val="7C3B2F"/>
                  </a:solidFill>
                  <a:latin typeface="SimSun"/>
                  <a:ea typeface="SimSun"/>
                  <a:cs typeface="SimSun"/>
                </a:rPr>
                <a:t>可观测发布链</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66" name="release-chain"/>
          <p:cNvGrpSpPr/>
          <p:nvPr/>
        </p:nvGrpSpPr>
        <p:grpSpPr>
          <a:xfrm>
            <a:off x="228600" y="628650"/>
            <a:ext cx="11734800" cy="704850"/>
            <a:chOff x="228600" y="628650"/>
            <a:chExt cx="11734800" cy="704850"/>
          </a:xfrm>
        </p:grpSpPr>
        <p:sp>
          <p:nvSpPr>
            <p:cNvPr id="7" name="Rectangle 7"/>
            <p:cNvSpPr/>
            <p:nvPr/>
          </p:nvSpPr>
          <p:spPr>
            <a:xfrm>
              <a:off x="228600" y="628650"/>
              <a:ext cx="11734800" cy="704850"/>
            </a:xfrm>
            <a:prstGeom prst="roundRect">
              <a:avLst>
                <a:gd name="adj" fmla="val 10811"/>
              </a:avLst>
            </a:prstGeom>
            <a:solidFill>
              <a:srgbClr val="F4F8EC"/>
            </a:solidFill>
            <a:ln w="9525">
              <a:solidFill>
                <a:srgbClr val="D9E8C6"/>
              </a:solidFill>
            </a:ln>
          </p:spPr>
        </p:sp>
        <p:grpSp>
          <p:nvGrpSpPr>
            <p:cNvPr id="14" name="rc-1"/>
            <p:cNvGrpSpPr/>
            <p:nvPr/>
          </p:nvGrpSpPr>
          <p:grpSpPr>
            <a:xfrm>
              <a:off x="390525" y="853916"/>
              <a:ext cx="951731" cy="292656"/>
              <a:chOff x="390525" y="853916"/>
              <a:chExt cx="951731" cy="292656"/>
            </a:xfrm>
          </p:grpSpPr>
          <p:grpSp>
            <p:nvGrpSpPr>
              <p:cNvPr id="11" name="Group 11"/>
              <p:cNvGrpSpPr/>
              <p:nvPr/>
            </p:nvGrpSpPr>
            <p:grpSpPr>
              <a:xfrm>
                <a:off x="390525" y="895350"/>
                <a:ext cx="133350" cy="152400"/>
                <a:chOff x="390525" y="895350"/>
                <a:chExt cx="133350" cy="152400"/>
              </a:xfrm>
            </p:grpSpPr>
            <p:sp>
              <p:nvSpPr>
                <p:cNvPr id="8" name="Freeform 8"/>
                <p:cNvSpPr/>
                <p:nvPr/>
              </p:nvSpPr>
              <p:spPr>
                <a:xfrm>
                  <a:off x="390525" y="89535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rgbClr val="7C3B2F"/>
                  </a:solidFill>
                </a:ln>
              </p:spPr>
            </p:sp>
            <p:sp>
              <p:nvSpPr>
                <p:cNvPr id="9" name="Freeform 9"/>
                <p:cNvSpPr/>
                <p:nvPr/>
              </p:nvSpPr>
              <p:spPr>
                <a:xfrm>
                  <a:off x="390525" y="100965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rgbClr val="7C3B2F"/>
                  </a:solidFill>
                </a:ln>
              </p:spPr>
            </p:sp>
            <p:sp>
              <p:nvSpPr>
                <p:cNvPr id="10" name="Freeform 10"/>
                <p:cNvSpPr/>
                <p:nvPr/>
              </p:nvSpPr>
              <p:spPr>
                <a:xfrm>
                  <a:off x="428625" y="933450"/>
                  <a:ext cx="57150" cy="9525"/>
                </a:xfrm>
                <a:custGeom>
                  <a:avLst/>
                  <a:gdLst/>
                  <a:ahLst/>
                  <a:cxnLst/>
                  <a:rect l="l" t="t" r="r" b="b"/>
                  <a:pathLst>
                    <a:path w="57150" h="9525">
                      <a:moveTo>
                        <a:pt x="0" y="0"/>
                      </a:moveTo>
                      <a:lnTo>
                        <a:pt x="57150" y="0"/>
                      </a:lnTo>
                    </a:path>
                  </a:pathLst>
                </a:custGeom>
                <a:noFill/>
                <a:ln w="19050">
                  <a:solidFill>
                    <a:srgbClr val="7C3B2F"/>
                  </a:solidFill>
                </a:ln>
              </p:spPr>
            </p:sp>
          </p:grpSp>
          <p:sp>
            <p:nvSpPr>
              <p:cNvPr id="12" name="TextBox 12"/>
              <p:cNvSpPr txBox="1"/>
              <p:nvPr/>
            </p:nvSpPr>
            <p:spPr>
              <a:xfrm>
                <a:off x="642938" y="853916"/>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知识版本</a:t>
                </a:r>
              </a:p>
            </p:txBody>
          </p:sp>
          <p:sp>
            <p:nvSpPr>
              <p:cNvPr id="13" name="TextBox 13"/>
              <p:cNvSpPr txBox="1"/>
              <p:nvPr/>
            </p:nvSpPr>
            <p:spPr>
              <a:xfrm>
                <a:off x="642938" y="10346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增量更新 · 版本管理</a:t>
                </a:r>
              </a:p>
            </p:txBody>
          </p:sp>
        </p:grpSp>
        <p:sp>
          <p:nvSpPr>
            <p:cNvPr id="15" name="Polygon 15"/>
            <p:cNvSpPr/>
            <p:nvPr/>
          </p:nvSpPr>
          <p:spPr>
            <a:xfrm>
              <a:off x="1638300" y="933450"/>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19" name="rc-2"/>
            <p:cNvGrpSpPr/>
            <p:nvPr/>
          </p:nvGrpSpPr>
          <p:grpSpPr>
            <a:xfrm>
              <a:off x="1809521" y="853916"/>
              <a:ext cx="1031412" cy="292656"/>
              <a:chOff x="1809521" y="853916"/>
              <a:chExt cx="1031412" cy="292656"/>
            </a:xfrm>
          </p:grpSpPr>
          <p:sp>
            <p:nvSpPr>
              <p:cNvPr id="16" name="Freeform 16"/>
              <p:cNvSpPr/>
              <p:nvPr/>
            </p:nvSpPr>
            <p:spPr>
              <a:xfrm>
                <a:off x="1809521" y="887968"/>
                <a:ext cx="190157" cy="168564"/>
              </a:xfrm>
              <a:custGeom>
                <a:avLst/>
                <a:gdLst/>
                <a:ahLst/>
                <a:cxnLst/>
                <a:rect l="l" t="t" r="r" b="b"/>
                <a:pathLst>
                  <a:path w="190157" h="168564">
                    <a:moveTo>
                      <a:pt x="9754" y="159782"/>
                    </a:moveTo>
                    <a:lnTo>
                      <a:pt x="22136" y="122634"/>
                    </a:lnTo>
                    <a:cubicBezTo>
                      <a:pt x="0" y="89897"/>
                      <a:pt x="8553" y="47654"/>
                      <a:pt x="42139" y="23822"/>
                    </a:cubicBezTo>
                    <a:cubicBezTo>
                      <a:pt x="75724" y="0"/>
                      <a:pt x="123958" y="1953"/>
                      <a:pt x="154962" y="28394"/>
                    </a:cubicBezTo>
                    <a:cubicBezTo>
                      <a:pt x="185966" y="54845"/>
                      <a:pt x="190157" y="97603"/>
                      <a:pt x="164763" y="128416"/>
                    </a:cubicBezTo>
                    <a:cubicBezTo>
                      <a:pt x="139370" y="159229"/>
                      <a:pt x="92231" y="168564"/>
                      <a:pt x="54521" y="150257"/>
                    </a:cubicBezTo>
                    <a:lnTo>
                      <a:pt x="9754" y="159782"/>
                    </a:lnTo>
                  </a:path>
                </a:pathLst>
              </a:custGeom>
              <a:noFill/>
              <a:ln w="19050">
                <a:solidFill>
                  <a:srgbClr val="7C3B2F"/>
                </a:solidFill>
              </a:ln>
            </p:spPr>
          </p:sp>
          <p:sp>
            <p:nvSpPr>
              <p:cNvPr id="17" name="TextBox 17"/>
              <p:cNvSpPr txBox="1"/>
              <p:nvPr/>
            </p:nvSpPr>
            <p:spPr>
              <a:xfrm>
                <a:off x="2090738" y="853916"/>
                <a:ext cx="750195"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 xml:space="preserve">Prompt版本　</a:t>
                </a:r>
              </a:p>
            </p:txBody>
          </p:sp>
          <p:sp>
            <p:nvSpPr>
              <p:cNvPr id="18" name="TextBox 18"/>
              <p:cNvSpPr txBox="1"/>
              <p:nvPr/>
            </p:nvSpPr>
            <p:spPr>
              <a:xfrm>
                <a:off x="2090738" y="10346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模板管理 · 版本管理</a:t>
                </a:r>
              </a:p>
            </p:txBody>
          </p:sp>
        </p:grpSp>
        <p:sp>
          <p:nvSpPr>
            <p:cNvPr id="20" name="Polygon 20"/>
            <p:cNvSpPr/>
            <p:nvPr/>
          </p:nvSpPr>
          <p:spPr>
            <a:xfrm>
              <a:off x="3086100" y="933450"/>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27" name="rc-3"/>
            <p:cNvGrpSpPr/>
            <p:nvPr/>
          </p:nvGrpSpPr>
          <p:grpSpPr>
            <a:xfrm>
              <a:off x="3286125" y="853916"/>
              <a:ext cx="951731" cy="292656"/>
              <a:chOff x="3286125" y="853916"/>
              <a:chExt cx="951731" cy="292656"/>
            </a:xfrm>
          </p:grpSpPr>
          <p:grpSp>
            <p:nvGrpSpPr>
              <p:cNvPr id="24" name="Group 24"/>
              <p:cNvGrpSpPr/>
              <p:nvPr/>
            </p:nvGrpSpPr>
            <p:grpSpPr>
              <a:xfrm>
                <a:off x="3286125" y="885825"/>
                <a:ext cx="133350" cy="171450"/>
                <a:chOff x="3286125" y="885825"/>
                <a:chExt cx="133350" cy="171450"/>
              </a:xfrm>
            </p:grpSpPr>
            <p:sp>
              <p:nvSpPr>
                <p:cNvPr id="21" name="Freeform 21"/>
                <p:cNvSpPr/>
                <p:nvPr/>
              </p:nvSpPr>
              <p:spPr>
                <a:xfrm>
                  <a:off x="3286125" y="94297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7C3B2F"/>
                  </a:solidFill>
                </a:ln>
              </p:spPr>
            </p:sp>
            <p:sp>
              <p:nvSpPr>
                <p:cNvPr id="22" name="Freeform 22"/>
                <p:cNvSpPr/>
                <p:nvPr/>
              </p:nvSpPr>
              <p:spPr>
                <a:xfrm>
                  <a:off x="3352800" y="885825"/>
                  <a:ext cx="9525" cy="104775"/>
                </a:xfrm>
                <a:custGeom>
                  <a:avLst/>
                  <a:gdLst/>
                  <a:ahLst/>
                  <a:cxnLst/>
                  <a:rect l="l" t="t" r="r" b="b"/>
                  <a:pathLst>
                    <a:path w="9525" h="104775">
                      <a:moveTo>
                        <a:pt x="0" y="104775"/>
                      </a:moveTo>
                      <a:lnTo>
                        <a:pt x="0" y="0"/>
                      </a:lnTo>
                    </a:path>
                  </a:pathLst>
                </a:custGeom>
                <a:noFill/>
                <a:ln w="19050">
                  <a:solidFill>
                    <a:srgbClr val="7C3B2F"/>
                  </a:solidFill>
                </a:ln>
              </p:spPr>
            </p:sp>
            <p:sp>
              <p:nvSpPr>
                <p:cNvPr id="23" name="Freeform 23"/>
                <p:cNvSpPr/>
                <p:nvPr/>
              </p:nvSpPr>
              <p:spPr>
                <a:xfrm>
                  <a:off x="3324225" y="885825"/>
                  <a:ext cx="57150" cy="28575"/>
                </a:xfrm>
                <a:custGeom>
                  <a:avLst/>
                  <a:gdLst/>
                  <a:ahLst/>
                  <a:cxnLst/>
                  <a:rect l="l" t="t" r="r" b="b"/>
                  <a:pathLst>
                    <a:path w="57150" h="28575">
                      <a:moveTo>
                        <a:pt x="0" y="28575"/>
                      </a:moveTo>
                      <a:lnTo>
                        <a:pt x="28575" y="0"/>
                      </a:lnTo>
                      <a:lnTo>
                        <a:pt x="57150" y="28575"/>
                      </a:lnTo>
                    </a:path>
                  </a:pathLst>
                </a:custGeom>
                <a:noFill/>
                <a:ln w="19050">
                  <a:solidFill>
                    <a:srgbClr val="7C3B2F"/>
                  </a:solidFill>
                </a:ln>
              </p:spPr>
            </p:sp>
          </p:grpSp>
          <p:sp>
            <p:nvSpPr>
              <p:cNvPr id="25" name="TextBox 25"/>
              <p:cNvSpPr txBox="1"/>
              <p:nvPr/>
            </p:nvSpPr>
            <p:spPr>
              <a:xfrm>
                <a:off x="3538538" y="853916"/>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模型路由</a:t>
                </a:r>
              </a:p>
            </p:txBody>
          </p:sp>
          <p:sp>
            <p:nvSpPr>
              <p:cNvPr id="26" name="TextBox 26"/>
              <p:cNvSpPr txBox="1"/>
              <p:nvPr/>
            </p:nvSpPr>
            <p:spPr>
              <a:xfrm>
                <a:off x="3538538" y="10346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路由策略 · 模型配置</a:t>
                </a:r>
              </a:p>
            </p:txBody>
          </p:sp>
        </p:grpSp>
        <p:sp>
          <p:nvSpPr>
            <p:cNvPr id="28" name="Polygon 28"/>
            <p:cNvSpPr/>
            <p:nvPr/>
          </p:nvSpPr>
          <p:spPr>
            <a:xfrm>
              <a:off x="4533900" y="933450"/>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36" name="rc-4"/>
            <p:cNvGrpSpPr/>
            <p:nvPr/>
          </p:nvGrpSpPr>
          <p:grpSpPr>
            <a:xfrm>
              <a:off x="4733925" y="853916"/>
              <a:ext cx="951731" cy="292656"/>
              <a:chOff x="4733925" y="853916"/>
              <a:chExt cx="951731" cy="292656"/>
            </a:xfrm>
          </p:grpSpPr>
          <p:grpSp>
            <p:nvGrpSpPr>
              <p:cNvPr id="33" name="Group 33"/>
              <p:cNvGrpSpPr/>
              <p:nvPr/>
            </p:nvGrpSpPr>
            <p:grpSpPr>
              <a:xfrm>
                <a:off x="4733925" y="895350"/>
                <a:ext cx="142875" cy="161925"/>
                <a:chOff x="4733925" y="895350"/>
                <a:chExt cx="142875" cy="161925"/>
              </a:xfrm>
            </p:grpSpPr>
            <p:sp>
              <p:nvSpPr>
                <p:cNvPr id="29" name="Freeform 29"/>
                <p:cNvSpPr/>
                <p:nvPr/>
              </p:nvSpPr>
              <p:spPr>
                <a:xfrm>
                  <a:off x="4733925" y="89535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7C3B2F"/>
                  </a:solidFill>
                </a:ln>
              </p:spPr>
            </p:sp>
            <p:sp>
              <p:nvSpPr>
                <p:cNvPr id="30" name="Freeform 30"/>
                <p:cNvSpPr/>
                <p:nvPr/>
              </p:nvSpPr>
              <p:spPr>
                <a:xfrm>
                  <a:off x="4819650" y="1019175"/>
                  <a:ext cx="57150" cy="38100"/>
                </a:xfrm>
                <a:custGeom>
                  <a:avLst/>
                  <a:gdLst/>
                  <a:ahLst/>
                  <a:cxnLst/>
                  <a:rect l="l" t="t" r="r" b="b"/>
                  <a:pathLst>
                    <a:path w="57150" h="38100">
                      <a:moveTo>
                        <a:pt x="0" y="19050"/>
                      </a:moveTo>
                      <a:lnTo>
                        <a:pt x="19050" y="38100"/>
                      </a:lnTo>
                      <a:lnTo>
                        <a:pt x="57150" y="0"/>
                      </a:lnTo>
                    </a:path>
                  </a:pathLst>
                </a:custGeom>
                <a:noFill/>
                <a:ln w="19050">
                  <a:solidFill>
                    <a:srgbClr val="7C3B2F"/>
                  </a:solidFill>
                </a:ln>
              </p:spPr>
            </p:sp>
            <p:sp>
              <p:nvSpPr>
                <p:cNvPr id="31" name="Freeform 31"/>
                <p:cNvSpPr/>
                <p:nvPr/>
              </p:nvSpPr>
              <p:spPr>
                <a:xfrm>
                  <a:off x="4772025" y="933450"/>
                  <a:ext cx="38100" cy="9525"/>
                </a:xfrm>
                <a:custGeom>
                  <a:avLst/>
                  <a:gdLst/>
                  <a:ahLst/>
                  <a:cxnLst/>
                  <a:rect l="l" t="t" r="r" b="b"/>
                  <a:pathLst>
                    <a:path w="38100" h="9525">
                      <a:moveTo>
                        <a:pt x="0" y="0"/>
                      </a:moveTo>
                      <a:lnTo>
                        <a:pt x="38100" y="0"/>
                      </a:lnTo>
                    </a:path>
                  </a:pathLst>
                </a:custGeom>
                <a:noFill/>
                <a:ln w="19050">
                  <a:solidFill>
                    <a:srgbClr val="7C3B2F"/>
                  </a:solidFill>
                </a:ln>
              </p:spPr>
            </p:sp>
            <p:sp>
              <p:nvSpPr>
                <p:cNvPr id="32" name="Freeform 32"/>
                <p:cNvSpPr/>
                <p:nvPr/>
              </p:nvSpPr>
              <p:spPr>
                <a:xfrm>
                  <a:off x="4772025" y="971550"/>
                  <a:ext cx="19050" cy="9525"/>
                </a:xfrm>
                <a:custGeom>
                  <a:avLst/>
                  <a:gdLst/>
                  <a:ahLst/>
                  <a:cxnLst/>
                  <a:rect l="l" t="t" r="r" b="b"/>
                  <a:pathLst>
                    <a:path w="19050" h="9525">
                      <a:moveTo>
                        <a:pt x="0" y="0"/>
                      </a:moveTo>
                      <a:lnTo>
                        <a:pt x="19050" y="0"/>
                      </a:lnTo>
                    </a:path>
                  </a:pathLst>
                </a:custGeom>
                <a:noFill/>
                <a:ln w="19050">
                  <a:solidFill>
                    <a:srgbClr val="7C3B2F"/>
                  </a:solidFill>
                </a:ln>
              </p:spPr>
            </p:sp>
          </p:grpSp>
          <p:sp>
            <p:nvSpPr>
              <p:cNvPr id="34" name="TextBox 34"/>
              <p:cNvSpPr txBox="1"/>
              <p:nvPr/>
            </p:nvSpPr>
            <p:spPr>
              <a:xfrm>
                <a:off x="4986338" y="853916"/>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自动评测</a:t>
                </a:r>
              </a:p>
            </p:txBody>
          </p:sp>
          <p:sp>
            <p:nvSpPr>
              <p:cNvPr id="35" name="TextBox 35"/>
              <p:cNvSpPr txBox="1"/>
              <p:nvPr/>
            </p:nvSpPr>
            <p:spPr>
              <a:xfrm>
                <a:off x="4986338" y="10346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离线评测 · 基准回归</a:t>
                </a:r>
              </a:p>
            </p:txBody>
          </p:sp>
        </p:grpSp>
        <p:sp>
          <p:nvSpPr>
            <p:cNvPr id="37" name="Polygon 37"/>
            <p:cNvSpPr/>
            <p:nvPr/>
          </p:nvSpPr>
          <p:spPr>
            <a:xfrm>
              <a:off x="5981700" y="933450"/>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44" name="rc-5"/>
            <p:cNvGrpSpPr/>
            <p:nvPr/>
          </p:nvGrpSpPr>
          <p:grpSpPr>
            <a:xfrm>
              <a:off x="6191250" y="853916"/>
              <a:ext cx="942206" cy="292656"/>
              <a:chOff x="6191250" y="853916"/>
              <a:chExt cx="942206" cy="292656"/>
            </a:xfrm>
          </p:grpSpPr>
          <p:grpSp>
            <p:nvGrpSpPr>
              <p:cNvPr id="41" name="Group 41"/>
              <p:cNvGrpSpPr/>
              <p:nvPr/>
            </p:nvGrpSpPr>
            <p:grpSpPr>
              <a:xfrm>
                <a:off x="6191250" y="885825"/>
                <a:ext cx="142875" cy="171450"/>
                <a:chOff x="6191250" y="885825"/>
                <a:chExt cx="142875" cy="171450"/>
              </a:xfrm>
            </p:grpSpPr>
            <p:sp>
              <p:nvSpPr>
                <p:cNvPr id="38" name="Freeform 38"/>
                <p:cNvSpPr/>
                <p:nvPr/>
              </p:nvSpPr>
              <p:spPr>
                <a:xfrm>
                  <a:off x="6210300" y="8858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7C3B2F"/>
                  </a:solidFill>
                </a:ln>
              </p:spPr>
            </p:sp>
            <p:sp>
              <p:nvSpPr>
                <p:cNvPr id="39" name="Freeform 39"/>
                <p:cNvSpPr/>
                <p:nvPr/>
              </p:nvSpPr>
              <p:spPr>
                <a:xfrm>
                  <a:off x="6191250" y="100012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7C3B2F"/>
                  </a:solidFill>
                </a:ln>
              </p:spPr>
            </p:sp>
            <p:sp>
              <p:nvSpPr>
                <p:cNvPr id="40" name="Freeform 40"/>
                <p:cNvSpPr/>
                <p:nvPr/>
              </p:nvSpPr>
              <p:spPr>
                <a:xfrm>
                  <a:off x="6276975" y="1019175"/>
                  <a:ext cx="57150" cy="38100"/>
                </a:xfrm>
                <a:custGeom>
                  <a:avLst/>
                  <a:gdLst/>
                  <a:ahLst/>
                  <a:cxnLst/>
                  <a:rect l="l" t="t" r="r" b="b"/>
                  <a:pathLst>
                    <a:path w="57150" h="38100">
                      <a:moveTo>
                        <a:pt x="0" y="19050"/>
                      </a:moveTo>
                      <a:lnTo>
                        <a:pt x="19050" y="38100"/>
                      </a:lnTo>
                      <a:lnTo>
                        <a:pt x="57150" y="0"/>
                      </a:lnTo>
                    </a:path>
                  </a:pathLst>
                </a:custGeom>
                <a:noFill/>
                <a:ln w="19050">
                  <a:solidFill>
                    <a:srgbClr val="7C3B2F"/>
                  </a:solidFill>
                </a:ln>
              </p:spPr>
            </p:sp>
          </p:grpSp>
          <p:sp>
            <p:nvSpPr>
              <p:cNvPr id="42" name="TextBox 42"/>
              <p:cNvSpPr txBox="1"/>
              <p:nvPr/>
            </p:nvSpPr>
            <p:spPr>
              <a:xfrm>
                <a:off x="6434138" y="853916"/>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人工审批</a:t>
                </a:r>
              </a:p>
            </p:txBody>
          </p:sp>
          <p:sp>
            <p:nvSpPr>
              <p:cNvPr id="43" name="TextBox 43"/>
              <p:cNvSpPr txBox="1"/>
              <p:nvPr/>
            </p:nvSpPr>
            <p:spPr>
              <a:xfrm>
                <a:off x="6434138" y="10346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评测报告 · 风险审查</a:t>
                </a:r>
              </a:p>
            </p:txBody>
          </p:sp>
        </p:grpSp>
        <p:sp>
          <p:nvSpPr>
            <p:cNvPr id="45" name="Polygon 45"/>
            <p:cNvSpPr/>
            <p:nvPr/>
          </p:nvSpPr>
          <p:spPr>
            <a:xfrm>
              <a:off x="7429500" y="933450"/>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51" name="rc-6"/>
            <p:cNvGrpSpPr/>
            <p:nvPr/>
          </p:nvGrpSpPr>
          <p:grpSpPr>
            <a:xfrm>
              <a:off x="7607820" y="853916"/>
              <a:ext cx="973436" cy="292656"/>
              <a:chOff x="7607820" y="853916"/>
              <a:chExt cx="973436" cy="292656"/>
            </a:xfrm>
          </p:grpSpPr>
          <p:grpSp>
            <p:nvGrpSpPr>
              <p:cNvPr id="48" name="Group 48"/>
              <p:cNvGrpSpPr/>
              <p:nvPr/>
            </p:nvGrpSpPr>
            <p:grpSpPr>
              <a:xfrm>
                <a:off x="7607820" y="887463"/>
                <a:ext cx="172200" cy="172467"/>
                <a:chOff x="7607820" y="887463"/>
                <a:chExt cx="172200" cy="172467"/>
              </a:xfrm>
            </p:grpSpPr>
            <p:sp>
              <p:nvSpPr>
                <p:cNvPr id="46" name="Freeform 46"/>
                <p:cNvSpPr/>
                <p:nvPr/>
              </p:nvSpPr>
              <p:spPr>
                <a:xfrm>
                  <a:off x="7607820" y="887463"/>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9050">
                  <a:solidFill>
                    <a:srgbClr val="7C3B2F"/>
                  </a:solidFill>
                </a:ln>
              </p:spPr>
            </p:sp>
            <p:sp>
              <p:nvSpPr>
                <p:cNvPr id="47" name="Freeform 47"/>
                <p:cNvSpPr/>
                <p:nvPr/>
              </p:nvSpPr>
              <p:spPr>
                <a:xfrm>
                  <a:off x="7724775" y="890588"/>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9050">
                  <a:solidFill>
                    <a:srgbClr val="7C3B2F"/>
                  </a:solidFill>
                </a:ln>
              </p:spPr>
            </p:sp>
          </p:grpSp>
          <p:sp>
            <p:nvSpPr>
              <p:cNvPr id="49" name="TextBox 49"/>
              <p:cNvSpPr txBox="1"/>
              <p:nvPr/>
            </p:nvSpPr>
            <p:spPr>
              <a:xfrm>
                <a:off x="7881938" y="853916"/>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灰度发布</a:t>
                </a:r>
              </a:p>
            </p:txBody>
          </p:sp>
          <p:sp>
            <p:nvSpPr>
              <p:cNvPr id="50" name="TextBox 50"/>
              <p:cNvSpPr txBox="1"/>
              <p:nvPr/>
            </p:nvSpPr>
            <p:spPr>
              <a:xfrm>
                <a:off x="7881938" y="10346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流量控制 · 逐步放量</a:t>
                </a:r>
              </a:p>
            </p:txBody>
          </p:sp>
        </p:grpSp>
        <p:sp>
          <p:nvSpPr>
            <p:cNvPr id="52" name="Polygon 52"/>
            <p:cNvSpPr/>
            <p:nvPr/>
          </p:nvSpPr>
          <p:spPr>
            <a:xfrm>
              <a:off x="8877300" y="933450"/>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58" name="rc-7"/>
            <p:cNvGrpSpPr/>
            <p:nvPr/>
          </p:nvGrpSpPr>
          <p:grpSpPr>
            <a:xfrm>
              <a:off x="9067800" y="853916"/>
              <a:ext cx="885869" cy="292656"/>
              <a:chOff x="9067800" y="853916"/>
              <a:chExt cx="885869" cy="292656"/>
            </a:xfrm>
          </p:grpSpPr>
          <p:grpSp>
            <p:nvGrpSpPr>
              <p:cNvPr id="55" name="Group 55"/>
              <p:cNvGrpSpPr/>
              <p:nvPr/>
            </p:nvGrpSpPr>
            <p:grpSpPr>
              <a:xfrm>
                <a:off x="9067800" y="914400"/>
                <a:ext cx="152400" cy="133350"/>
                <a:chOff x="9067800" y="914400"/>
                <a:chExt cx="152400" cy="133350"/>
              </a:xfrm>
            </p:grpSpPr>
            <p:sp>
              <p:nvSpPr>
                <p:cNvPr id="53" name="Freeform 53"/>
                <p:cNvSpPr/>
                <p:nvPr/>
              </p:nvSpPr>
              <p:spPr>
                <a:xfrm>
                  <a:off x="9067800" y="1038225"/>
                  <a:ext cx="152400" cy="9525"/>
                </a:xfrm>
                <a:custGeom>
                  <a:avLst/>
                  <a:gdLst/>
                  <a:ahLst/>
                  <a:cxnLst/>
                  <a:rect l="l" t="t" r="r" b="b"/>
                  <a:pathLst>
                    <a:path w="152400" h="9525">
                      <a:moveTo>
                        <a:pt x="0" y="0"/>
                      </a:moveTo>
                      <a:lnTo>
                        <a:pt x="152400" y="0"/>
                      </a:lnTo>
                    </a:path>
                  </a:pathLst>
                </a:custGeom>
                <a:noFill/>
                <a:ln w="19050">
                  <a:solidFill>
                    <a:srgbClr val="7C3B2F"/>
                  </a:solidFill>
                </a:ln>
              </p:spPr>
            </p:sp>
            <p:sp>
              <p:nvSpPr>
                <p:cNvPr id="54" name="Freeform 54"/>
                <p:cNvSpPr/>
                <p:nvPr/>
              </p:nvSpPr>
              <p:spPr>
                <a:xfrm>
                  <a:off x="9067800" y="91440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7C3B2F"/>
                  </a:solidFill>
                </a:ln>
              </p:spPr>
            </p:sp>
          </p:grpSp>
          <p:sp>
            <p:nvSpPr>
              <p:cNvPr id="56" name="TextBox 56"/>
              <p:cNvSpPr txBox="1"/>
              <p:nvPr/>
            </p:nvSpPr>
            <p:spPr>
              <a:xfrm>
                <a:off x="9329738" y="853916"/>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在线监控</a:t>
                </a:r>
              </a:p>
            </p:txBody>
          </p:sp>
          <p:sp>
            <p:nvSpPr>
              <p:cNvPr id="57" name="TextBox 57"/>
              <p:cNvSpPr txBox="1"/>
              <p:nvPr/>
            </p:nvSpPr>
            <p:spPr>
              <a:xfrm>
                <a:off x="9329738" y="1034653"/>
                <a:ext cx="623931"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全链路 · 实时告警</a:t>
                </a:r>
              </a:p>
            </p:txBody>
          </p:sp>
        </p:grpSp>
        <p:sp>
          <p:nvSpPr>
            <p:cNvPr id="59" name="Polygon 59"/>
            <p:cNvSpPr/>
            <p:nvPr/>
          </p:nvSpPr>
          <p:spPr>
            <a:xfrm>
              <a:off x="10325100" y="933450"/>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65" name="rc-8"/>
            <p:cNvGrpSpPr/>
            <p:nvPr/>
          </p:nvGrpSpPr>
          <p:grpSpPr>
            <a:xfrm>
              <a:off x="10515600" y="853916"/>
              <a:ext cx="961256" cy="292656"/>
              <a:chOff x="10515600" y="853916"/>
              <a:chExt cx="961256" cy="292656"/>
            </a:xfrm>
          </p:grpSpPr>
          <p:grpSp>
            <p:nvGrpSpPr>
              <p:cNvPr id="62" name="Group 62"/>
              <p:cNvGrpSpPr/>
              <p:nvPr/>
            </p:nvGrpSpPr>
            <p:grpSpPr>
              <a:xfrm>
                <a:off x="10515600" y="891675"/>
                <a:ext cx="152400" cy="159750"/>
                <a:chOff x="10515600" y="891675"/>
                <a:chExt cx="152400" cy="159750"/>
              </a:xfrm>
            </p:grpSpPr>
            <p:sp>
              <p:nvSpPr>
                <p:cNvPr id="60" name="Freeform 60"/>
                <p:cNvSpPr/>
                <p:nvPr/>
              </p:nvSpPr>
              <p:spPr>
                <a:xfrm>
                  <a:off x="10515600" y="89167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7C3B2F"/>
                  </a:solidFill>
                </a:ln>
              </p:spPr>
            </p:sp>
            <p:sp>
              <p:nvSpPr>
                <p:cNvPr id="61" name="Freeform 61"/>
                <p:cNvSpPr/>
                <p:nvPr/>
              </p:nvSpPr>
              <p:spPr>
                <a:xfrm>
                  <a:off x="10515600" y="98107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7C3B2F"/>
                  </a:solidFill>
                </a:ln>
              </p:spPr>
            </p:sp>
          </p:grpSp>
          <p:sp>
            <p:nvSpPr>
              <p:cNvPr id="63" name="TextBox 63"/>
              <p:cNvSpPr txBox="1"/>
              <p:nvPr/>
            </p:nvSpPr>
            <p:spPr>
              <a:xfrm>
                <a:off x="10777538" y="853916"/>
                <a:ext cx="514828"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回流/优化</a:t>
                </a:r>
              </a:p>
            </p:txBody>
          </p:sp>
          <p:sp>
            <p:nvSpPr>
              <p:cNvPr id="64" name="TextBox 64"/>
              <p:cNvSpPr txBox="1"/>
              <p:nvPr/>
            </p:nvSpPr>
            <p:spPr>
              <a:xfrm>
                <a:off x="10777538" y="10346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快速回滚 · 持续优化</a:t>
                </a:r>
              </a:p>
            </p:txBody>
          </p:sp>
        </p:grpSp>
      </p:grpSp>
      <p:grpSp>
        <p:nvGrpSpPr>
          <p:cNvPr id="105" name="registries"/>
          <p:cNvGrpSpPr/>
          <p:nvPr/>
        </p:nvGrpSpPr>
        <p:grpSpPr>
          <a:xfrm>
            <a:off x="228600" y="1447800"/>
            <a:ext cx="2057400" cy="3600450"/>
            <a:chOff x="228600" y="1447800"/>
            <a:chExt cx="2057400" cy="3600450"/>
          </a:xfrm>
        </p:grpSpPr>
        <p:sp>
          <p:nvSpPr>
            <p:cNvPr id="67" name="Rectangle 67"/>
            <p:cNvSpPr/>
            <p:nvPr/>
          </p:nvSpPr>
          <p:spPr>
            <a:xfrm>
              <a:off x="228600" y="1447800"/>
              <a:ext cx="2057400" cy="3600450"/>
            </a:xfrm>
            <a:prstGeom prst="roundRect">
              <a:avLst>
                <a:gd name="adj" fmla="val 3704"/>
              </a:avLst>
            </a:prstGeom>
            <a:solidFill>
              <a:srgbClr val="FFFFFF"/>
            </a:solidFill>
            <a:ln w="9525">
              <a:solidFill>
                <a:srgbClr val="D9E8C6"/>
              </a:solidFill>
            </a:ln>
          </p:spPr>
        </p:sp>
        <p:sp>
          <p:nvSpPr>
            <p:cNvPr id="68" name="Rectangle 68"/>
            <p:cNvSpPr/>
            <p:nvPr/>
          </p:nvSpPr>
          <p:spPr>
            <a:xfrm>
              <a:off x="228600" y="1447800"/>
              <a:ext cx="2057400" cy="228600"/>
            </a:xfrm>
            <a:prstGeom prst="roundRect">
              <a:avLst>
                <a:gd name="adj" fmla="val 33333"/>
              </a:avLst>
            </a:prstGeom>
            <a:solidFill>
              <a:srgbClr val="42140B"/>
            </a:solidFill>
            <a:ln>
              <a:noFill/>
            </a:ln>
          </p:spPr>
        </p:sp>
        <p:sp>
          <p:nvSpPr>
            <p:cNvPr id="69" name="Rectangle 69"/>
            <p:cNvSpPr/>
            <p:nvPr/>
          </p:nvSpPr>
          <p:spPr>
            <a:xfrm>
              <a:off x="228600" y="1581150"/>
              <a:ext cx="2057400" cy="95250"/>
            </a:xfrm>
            <a:prstGeom prst="rect">
              <a:avLst/>
            </a:prstGeom>
            <a:solidFill>
              <a:srgbClr val="42140B"/>
            </a:solidFill>
            <a:ln>
              <a:noFill/>
            </a:ln>
          </p:spPr>
        </p:sp>
        <p:sp>
          <p:nvSpPr>
            <p:cNvPr id="70" name="TextBox 70"/>
            <p:cNvSpPr txBox="1"/>
            <p:nvPr/>
          </p:nvSpPr>
          <p:spPr>
            <a:xfrm>
              <a:off x="464380" y="1520666"/>
              <a:ext cx="158584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 xml:space="preserve">版本注册中心（Registries）　</a:t>
              </a:r>
            </a:p>
          </p:txBody>
        </p:sp>
        <p:grpSp>
          <p:nvGrpSpPr>
            <p:cNvPr id="80" name="reg-knowledge"/>
            <p:cNvGrpSpPr/>
            <p:nvPr/>
          </p:nvGrpSpPr>
          <p:grpSpPr>
            <a:xfrm>
              <a:off x="304800" y="1771650"/>
              <a:ext cx="1905000" cy="723900"/>
              <a:chOff x="304800" y="1771650"/>
              <a:chExt cx="1905000" cy="723900"/>
            </a:xfrm>
          </p:grpSpPr>
          <p:sp>
            <p:nvSpPr>
              <p:cNvPr id="71" name="Rectangle 71"/>
              <p:cNvSpPr/>
              <p:nvPr/>
            </p:nvSpPr>
            <p:spPr>
              <a:xfrm>
                <a:off x="304800" y="1771650"/>
                <a:ext cx="1905000" cy="723900"/>
              </a:xfrm>
              <a:prstGeom prst="roundRect">
                <a:avLst>
                  <a:gd name="adj" fmla="val 7895"/>
                </a:avLst>
              </a:prstGeom>
              <a:solidFill>
                <a:srgbClr val="F4F8EC"/>
              </a:solidFill>
              <a:ln>
                <a:noFill/>
              </a:ln>
            </p:spPr>
          </p:sp>
          <p:sp>
            <p:nvSpPr>
              <p:cNvPr id="72" name="Ellipse 72"/>
              <p:cNvSpPr/>
              <p:nvPr/>
            </p:nvSpPr>
            <p:spPr>
              <a:xfrm>
                <a:off x="381000" y="1981200"/>
                <a:ext cx="304800" cy="304800"/>
              </a:xfrm>
              <a:prstGeom prst="ellipse">
                <a:avLst/>
              </a:prstGeom>
              <a:solidFill>
                <a:srgbClr val="FFFFFF"/>
              </a:solidFill>
              <a:ln w="9525">
                <a:solidFill>
                  <a:srgbClr val="BE776A"/>
                </a:solidFill>
              </a:ln>
            </p:spPr>
          </p:sp>
          <p:grpSp>
            <p:nvGrpSpPr>
              <p:cNvPr id="76" name="Group 76"/>
              <p:cNvGrpSpPr/>
              <p:nvPr/>
            </p:nvGrpSpPr>
            <p:grpSpPr>
              <a:xfrm>
                <a:off x="483394" y="2076450"/>
                <a:ext cx="100012" cy="114300"/>
                <a:chOff x="483394" y="2076450"/>
                <a:chExt cx="100012" cy="114300"/>
              </a:xfrm>
            </p:grpSpPr>
            <p:sp>
              <p:nvSpPr>
                <p:cNvPr id="73" name="Freeform 73"/>
                <p:cNvSpPr/>
                <p:nvPr/>
              </p:nvSpPr>
              <p:spPr>
                <a:xfrm>
                  <a:off x="483394" y="2076450"/>
                  <a:ext cx="100012" cy="114300"/>
                </a:xfrm>
                <a:custGeom>
                  <a:avLst/>
                  <a:gdLst/>
                  <a:ahLst/>
                  <a:cxnLst/>
                  <a:rect l="l" t="t" r="r" b="b"/>
                  <a:pathLst>
                    <a:path w="100012" h="114300">
                      <a:moveTo>
                        <a:pt x="100012" y="0"/>
                      </a:moveTo>
                      <a:lnTo>
                        <a:pt x="100012" y="114300"/>
                      </a:lnTo>
                      <a:lnTo>
                        <a:pt x="14288" y="114300"/>
                      </a:lnTo>
                      <a:cubicBezTo>
                        <a:pt x="6397" y="114300"/>
                        <a:pt x="0" y="107903"/>
                        <a:pt x="0" y="100012"/>
                      </a:cubicBezTo>
                      <a:lnTo>
                        <a:pt x="0" y="14288"/>
                      </a:lnTo>
                      <a:cubicBezTo>
                        <a:pt x="0" y="6397"/>
                        <a:pt x="6397" y="0"/>
                        <a:pt x="14288" y="0"/>
                      </a:cubicBezTo>
                      <a:lnTo>
                        <a:pt x="100012" y="0"/>
                      </a:lnTo>
                    </a:path>
                  </a:pathLst>
                </a:custGeom>
                <a:noFill/>
                <a:ln w="14288">
                  <a:solidFill>
                    <a:srgbClr val="7C3B2F"/>
                  </a:solidFill>
                </a:ln>
              </p:spPr>
            </p:sp>
            <p:sp>
              <p:nvSpPr>
                <p:cNvPr id="74" name="Freeform 74"/>
                <p:cNvSpPr/>
                <p:nvPr/>
              </p:nvSpPr>
              <p:spPr>
                <a:xfrm>
                  <a:off x="483394" y="2162175"/>
                  <a:ext cx="100012" cy="14288"/>
                </a:xfrm>
                <a:custGeom>
                  <a:avLst/>
                  <a:gdLst/>
                  <a:ahLst/>
                  <a:cxnLst/>
                  <a:rect l="l" t="t" r="r" b="b"/>
                  <a:pathLst>
                    <a:path w="100012" h="14288">
                      <a:moveTo>
                        <a:pt x="100012" y="0"/>
                      </a:moveTo>
                      <a:lnTo>
                        <a:pt x="14288" y="0"/>
                      </a:lnTo>
                      <a:cubicBezTo>
                        <a:pt x="6397" y="0"/>
                        <a:pt x="0" y="6397"/>
                        <a:pt x="0" y="14288"/>
                      </a:cubicBezTo>
                    </a:path>
                  </a:pathLst>
                </a:custGeom>
                <a:noFill/>
                <a:ln w="14288">
                  <a:solidFill>
                    <a:srgbClr val="7C3B2F"/>
                  </a:solidFill>
                </a:ln>
              </p:spPr>
            </p:sp>
            <p:sp>
              <p:nvSpPr>
                <p:cNvPr id="75" name="Freeform 75"/>
                <p:cNvSpPr/>
                <p:nvPr/>
              </p:nvSpPr>
              <p:spPr>
                <a:xfrm>
                  <a:off x="511969" y="2105025"/>
                  <a:ext cx="42862" cy="9525"/>
                </a:xfrm>
                <a:custGeom>
                  <a:avLst/>
                  <a:gdLst/>
                  <a:ahLst/>
                  <a:cxnLst/>
                  <a:rect l="l" t="t" r="r" b="b"/>
                  <a:pathLst>
                    <a:path w="42862" h="9525">
                      <a:moveTo>
                        <a:pt x="0" y="0"/>
                      </a:moveTo>
                      <a:lnTo>
                        <a:pt x="42862" y="0"/>
                      </a:lnTo>
                    </a:path>
                  </a:pathLst>
                </a:custGeom>
                <a:noFill/>
                <a:ln w="14288">
                  <a:solidFill>
                    <a:srgbClr val="7C3B2F"/>
                  </a:solidFill>
                </a:ln>
              </p:spPr>
            </p:sp>
          </p:grpSp>
          <p:sp>
            <p:nvSpPr>
              <p:cNvPr id="77" name="TextBox 77"/>
              <p:cNvSpPr txBox="1"/>
              <p:nvPr/>
            </p:nvSpPr>
            <p:spPr>
              <a:xfrm>
                <a:off x="776288" y="1923336"/>
                <a:ext cx="1049713"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Knowledge Registry　</a:t>
                </a:r>
              </a:p>
            </p:txBody>
          </p:sp>
          <p:sp>
            <p:nvSpPr>
              <p:cNvPr id="78" name="TextBox 78"/>
              <p:cNvSpPr txBox="1"/>
              <p:nvPr/>
            </p:nvSpPr>
            <p:spPr>
              <a:xfrm>
                <a:off x="776288" y="2110978"/>
                <a:ext cx="688010"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知识对象、分块索引</a:t>
                </a:r>
              </a:p>
            </p:txBody>
          </p:sp>
          <p:sp>
            <p:nvSpPr>
              <p:cNvPr id="79" name="TextBox 79"/>
              <p:cNvSpPr txBox="1"/>
              <p:nvPr/>
            </p:nvSpPr>
            <p:spPr>
              <a:xfrm>
                <a:off x="776288" y="2263378"/>
                <a:ext cx="688010"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版本、元数据、权限</a:t>
                </a:r>
              </a:p>
            </p:txBody>
          </p:sp>
        </p:grpSp>
        <p:grpSp>
          <p:nvGrpSpPr>
            <p:cNvPr id="87" name="reg-prompt"/>
            <p:cNvGrpSpPr/>
            <p:nvPr/>
          </p:nvGrpSpPr>
          <p:grpSpPr>
            <a:xfrm>
              <a:off x="304800" y="2571750"/>
              <a:ext cx="1905000" cy="723900"/>
              <a:chOff x="304800" y="2571750"/>
              <a:chExt cx="1905000" cy="723900"/>
            </a:xfrm>
          </p:grpSpPr>
          <p:sp>
            <p:nvSpPr>
              <p:cNvPr id="81" name="Rectangle 81"/>
              <p:cNvSpPr/>
              <p:nvPr/>
            </p:nvSpPr>
            <p:spPr>
              <a:xfrm>
                <a:off x="304800" y="2571750"/>
                <a:ext cx="1905000" cy="723900"/>
              </a:xfrm>
              <a:prstGeom prst="roundRect">
                <a:avLst>
                  <a:gd name="adj" fmla="val 7895"/>
                </a:avLst>
              </a:prstGeom>
              <a:solidFill>
                <a:srgbClr val="F4F8EC"/>
              </a:solidFill>
              <a:ln>
                <a:noFill/>
              </a:ln>
            </p:spPr>
          </p:sp>
          <p:sp>
            <p:nvSpPr>
              <p:cNvPr id="82" name="Ellipse 82"/>
              <p:cNvSpPr/>
              <p:nvPr/>
            </p:nvSpPr>
            <p:spPr>
              <a:xfrm>
                <a:off x="381000" y="2781300"/>
                <a:ext cx="304800" cy="304800"/>
              </a:xfrm>
              <a:prstGeom prst="ellipse">
                <a:avLst/>
              </a:prstGeom>
              <a:solidFill>
                <a:srgbClr val="FFFFFF"/>
              </a:solidFill>
              <a:ln w="9525">
                <a:solidFill>
                  <a:srgbClr val="BE776A"/>
                </a:solidFill>
              </a:ln>
            </p:spPr>
          </p:sp>
          <p:sp>
            <p:nvSpPr>
              <p:cNvPr id="83" name="Freeform 83"/>
              <p:cNvSpPr/>
              <p:nvPr/>
            </p:nvSpPr>
            <p:spPr>
              <a:xfrm>
                <a:off x="461791" y="287101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7C3B2F"/>
                </a:solidFill>
              </a:ln>
            </p:spPr>
          </p:sp>
          <p:sp>
            <p:nvSpPr>
              <p:cNvPr id="84" name="TextBox 84"/>
              <p:cNvSpPr txBox="1"/>
              <p:nvPr/>
            </p:nvSpPr>
            <p:spPr>
              <a:xfrm>
                <a:off x="776288" y="2723436"/>
                <a:ext cx="909413"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Prompt Registry　</a:t>
                </a:r>
              </a:p>
            </p:txBody>
          </p:sp>
          <p:sp>
            <p:nvSpPr>
              <p:cNvPr id="85" name="TextBox 85"/>
              <p:cNvSpPr txBox="1"/>
              <p:nvPr/>
            </p:nvSpPr>
            <p:spPr>
              <a:xfrm>
                <a:off x="776288" y="2911078"/>
                <a:ext cx="61262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模板、参数、变量</a:t>
                </a:r>
              </a:p>
            </p:txBody>
          </p:sp>
          <p:sp>
            <p:nvSpPr>
              <p:cNvPr id="86" name="TextBox 86"/>
              <p:cNvSpPr txBox="1"/>
              <p:nvPr/>
            </p:nvSpPr>
            <p:spPr>
              <a:xfrm>
                <a:off x="776288" y="3063478"/>
                <a:ext cx="61262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版本、标签、复用</a:t>
                </a:r>
              </a:p>
            </p:txBody>
          </p:sp>
        </p:grpSp>
        <p:grpSp>
          <p:nvGrpSpPr>
            <p:cNvPr id="94" name="reg-model"/>
            <p:cNvGrpSpPr/>
            <p:nvPr/>
          </p:nvGrpSpPr>
          <p:grpSpPr>
            <a:xfrm>
              <a:off x="304800" y="3371850"/>
              <a:ext cx="1905000" cy="723900"/>
              <a:chOff x="304800" y="3371850"/>
              <a:chExt cx="1905000" cy="723900"/>
            </a:xfrm>
          </p:grpSpPr>
          <p:sp>
            <p:nvSpPr>
              <p:cNvPr id="88" name="Rectangle 88"/>
              <p:cNvSpPr/>
              <p:nvPr/>
            </p:nvSpPr>
            <p:spPr>
              <a:xfrm>
                <a:off x="304800" y="3371850"/>
                <a:ext cx="1905000" cy="723900"/>
              </a:xfrm>
              <a:prstGeom prst="roundRect">
                <a:avLst>
                  <a:gd name="adj" fmla="val 7895"/>
                </a:avLst>
              </a:prstGeom>
              <a:solidFill>
                <a:srgbClr val="F4F8EC"/>
              </a:solidFill>
              <a:ln>
                <a:noFill/>
              </a:ln>
            </p:spPr>
          </p:sp>
          <p:sp>
            <p:nvSpPr>
              <p:cNvPr id="89" name="Ellipse 89"/>
              <p:cNvSpPr/>
              <p:nvPr/>
            </p:nvSpPr>
            <p:spPr>
              <a:xfrm>
                <a:off x="381000" y="3581400"/>
                <a:ext cx="304800" cy="304800"/>
              </a:xfrm>
              <a:prstGeom prst="ellipse">
                <a:avLst/>
              </a:prstGeom>
              <a:solidFill>
                <a:srgbClr val="FFFFFF"/>
              </a:solidFill>
              <a:ln w="9525">
                <a:solidFill>
                  <a:srgbClr val="BE776A"/>
                </a:solidFill>
              </a:ln>
            </p:spPr>
          </p:sp>
          <p:sp>
            <p:nvSpPr>
              <p:cNvPr id="90" name="Freeform 90"/>
              <p:cNvSpPr/>
              <p:nvPr/>
            </p:nvSpPr>
            <p:spPr>
              <a:xfrm>
                <a:off x="469106" y="3669506"/>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7C3B2F"/>
                </a:solidFill>
              </a:ln>
            </p:spPr>
          </p:sp>
          <p:sp>
            <p:nvSpPr>
              <p:cNvPr id="91" name="TextBox 91"/>
              <p:cNvSpPr txBox="1"/>
              <p:nvPr/>
            </p:nvSpPr>
            <p:spPr>
              <a:xfrm>
                <a:off x="776288" y="3523536"/>
                <a:ext cx="828922"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Model Registry　</a:t>
                </a:r>
              </a:p>
            </p:txBody>
          </p:sp>
          <p:sp>
            <p:nvSpPr>
              <p:cNvPr id="92" name="TextBox 92"/>
              <p:cNvSpPr txBox="1"/>
              <p:nvPr/>
            </p:nvSpPr>
            <p:spPr>
              <a:xfrm>
                <a:off x="776288" y="3711178"/>
                <a:ext cx="61262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模型、配置、能力</a:t>
                </a:r>
              </a:p>
            </p:txBody>
          </p:sp>
          <p:sp>
            <p:nvSpPr>
              <p:cNvPr id="93" name="TextBox 93"/>
              <p:cNvSpPr txBox="1"/>
              <p:nvPr/>
            </p:nvSpPr>
            <p:spPr>
              <a:xfrm>
                <a:off x="776288" y="3863578"/>
                <a:ext cx="61262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版本、路由、权重</a:t>
                </a:r>
              </a:p>
            </p:txBody>
          </p:sp>
        </p:grpSp>
        <p:grpSp>
          <p:nvGrpSpPr>
            <p:cNvPr id="104" name="reg-eval"/>
            <p:cNvGrpSpPr/>
            <p:nvPr/>
          </p:nvGrpSpPr>
          <p:grpSpPr>
            <a:xfrm>
              <a:off x="304800" y="4171950"/>
              <a:ext cx="1950749" cy="723900"/>
              <a:chOff x="304800" y="4171950"/>
              <a:chExt cx="1950749" cy="723900"/>
            </a:xfrm>
          </p:grpSpPr>
          <p:sp>
            <p:nvSpPr>
              <p:cNvPr id="95" name="Rectangle 95"/>
              <p:cNvSpPr/>
              <p:nvPr/>
            </p:nvSpPr>
            <p:spPr>
              <a:xfrm>
                <a:off x="304800" y="4171950"/>
                <a:ext cx="1905000" cy="723900"/>
              </a:xfrm>
              <a:prstGeom prst="roundRect">
                <a:avLst>
                  <a:gd name="adj" fmla="val 7895"/>
                </a:avLst>
              </a:prstGeom>
              <a:solidFill>
                <a:srgbClr val="F4F8EC"/>
              </a:solidFill>
              <a:ln>
                <a:noFill/>
              </a:ln>
            </p:spPr>
          </p:sp>
          <p:sp>
            <p:nvSpPr>
              <p:cNvPr id="96" name="Ellipse 96"/>
              <p:cNvSpPr/>
              <p:nvPr/>
            </p:nvSpPr>
            <p:spPr>
              <a:xfrm>
                <a:off x="381000" y="4381500"/>
                <a:ext cx="304800" cy="304800"/>
              </a:xfrm>
              <a:prstGeom prst="ellipse">
                <a:avLst/>
              </a:prstGeom>
              <a:solidFill>
                <a:srgbClr val="FFFFFF"/>
              </a:solidFill>
              <a:ln w="9525">
                <a:solidFill>
                  <a:srgbClr val="BE776A"/>
                </a:solidFill>
              </a:ln>
            </p:spPr>
          </p:sp>
          <p:grpSp>
            <p:nvGrpSpPr>
              <p:cNvPr id="100" name="Group 100"/>
              <p:cNvGrpSpPr/>
              <p:nvPr/>
            </p:nvGrpSpPr>
            <p:grpSpPr>
              <a:xfrm>
                <a:off x="476250" y="4469606"/>
                <a:ext cx="114300" cy="128588"/>
                <a:chOff x="476250" y="4469606"/>
                <a:chExt cx="114300" cy="128588"/>
              </a:xfrm>
            </p:grpSpPr>
            <p:sp>
              <p:nvSpPr>
                <p:cNvPr id="97" name="Freeform 97"/>
                <p:cNvSpPr/>
                <p:nvPr/>
              </p:nvSpPr>
              <p:spPr>
                <a:xfrm>
                  <a:off x="476250" y="446960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C3B2F"/>
                  </a:solidFill>
                </a:ln>
              </p:spPr>
            </p:sp>
            <p:sp>
              <p:nvSpPr>
                <p:cNvPr id="98" name="Freeform 98"/>
                <p:cNvSpPr/>
                <p:nvPr/>
              </p:nvSpPr>
              <p:spPr>
                <a:xfrm>
                  <a:off x="476250" y="449103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C3B2F"/>
                  </a:solidFill>
                </a:ln>
              </p:spPr>
            </p:sp>
            <p:sp>
              <p:nvSpPr>
                <p:cNvPr id="99" name="Freeform 99"/>
                <p:cNvSpPr/>
                <p:nvPr/>
              </p:nvSpPr>
              <p:spPr>
                <a:xfrm>
                  <a:off x="476250" y="453390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C3B2F"/>
                  </a:solidFill>
                </a:ln>
              </p:spPr>
            </p:sp>
          </p:grpSp>
          <p:sp>
            <p:nvSpPr>
              <p:cNvPr id="101" name="TextBox 101"/>
              <p:cNvSpPr txBox="1"/>
              <p:nvPr/>
            </p:nvSpPr>
            <p:spPr>
              <a:xfrm>
                <a:off x="776288" y="4323636"/>
                <a:ext cx="1479261"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Evaluation Dataset Registry　</a:t>
                </a:r>
              </a:p>
            </p:txBody>
          </p:sp>
          <p:sp>
            <p:nvSpPr>
              <p:cNvPr id="102" name="TextBox 102"/>
              <p:cNvSpPr txBox="1"/>
              <p:nvPr/>
            </p:nvSpPr>
            <p:spPr>
              <a:xfrm>
                <a:off x="776288" y="4511278"/>
                <a:ext cx="688010"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评测集、标签、分布</a:t>
                </a:r>
              </a:p>
            </p:txBody>
          </p:sp>
          <p:sp>
            <p:nvSpPr>
              <p:cNvPr id="103" name="TextBox 103"/>
              <p:cNvSpPr txBox="1"/>
              <p:nvPr/>
            </p:nvSpPr>
            <p:spPr>
              <a:xfrm>
                <a:off x="776288" y="4663678"/>
                <a:ext cx="61262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版本、切分、基准</a:t>
                </a:r>
              </a:p>
            </p:txBody>
          </p:sp>
        </p:grpSp>
      </p:grpSp>
      <p:sp>
        <p:nvSpPr>
          <p:cNvPr id="106" name="reg-arr-1"/>
          <p:cNvSpPr/>
          <p:nvPr/>
        </p:nvSpPr>
        <p:spPr>
          <a:xfrm>
            <a:off x="2305050" y="2095500"/>
            <a:ext cx="76200" cy="76200"/>
          </a:xfrm>
          <a:custGeom>
            <a:avLst/>
            <a:gdLst/>
            <a:ahLst/>
            <a:cxnLst/>
            <a:rect l="l" t="t" r="r" b="b"/>
            <a:pathLst>
              <a:path w="76200" h="76200">
                <a:moveTo>
                  <a:pt x="0" y="0"/>
                </a:moveTo>
                <a:lnTo>
                  <a:pt x="76200" y="38100"/>
                </a:lnTo>
                <a:lnTo>
                  <a:pt x="0" y="76200"/>
                </a:lnTo>
                <a:close/>
              </a:path>
            </a:pathLst>
          </a:custGeom>
          <a:solidFill>
            <a:srgbClr val="BE776A"/>
          </a:solidFill>
          <a:ln>
            <a:noFill/>
          </a:ln>
        </p:spPr>
      </p:sp>
      <p:sp>
        <p:nvSpPr>
          <p:cNvPr id="107" name="reg-arr-2"/>
          <p:cNvSpPr/>
          <p:nvPr/>
        </p:nvSpPr>
        <p:spPr>
          <a:xfrm>
            <a:off x="2305050" y="2895600"/>
            <a:ext cx="76200" cy="76200"/>
          </a:xfrm>
          <a:custGeom>
            <a:avLst/>
            <a:gdLst/>
            <a:ahLst/>
            <a:cxnLst/>
            <a:rect l="l" t="t" r="r" b="b"/>
            <a:pathLst>
              <a:path w="76200" h="76200">
                <a:moveTo>
                  <a:pt x="0" y="0"/>
                </a:moveTo>
                <a:lnTo>
                  <a:pt x="76200" y="38100"/>
                </a:lnTo>
                <a:lnTo>
                  <a:pt x="0" y="76200"/>
                </a:lnTo>
                <a:close/>
              </a:path>
            </a:pathLst>
          </a:custGeom>
          <a:solidFill>
            <a:srgbClr val="BE776A"/>
          </a:solidFill>
          <a:ln>
            <a:noFill/>
          </a:ln>
        </p:spPr>
      </p:sp>
      <p:sp>
        <p:nvSpPr>
          <p:cNvPr id="108" name="reg-arr-3"/>
          <p:cNvSpPr/>
          <p:nvPr/>
        </p:nvSpPr>
        <p:spPr>
          <a:xfrm>
            <a:off x="2305050" y="3695700"/>
            <a:ext cx="76200" cy="76200"/>
          </a:xfrm>
          <a:custGeom>
            <a:avLst/>
            <a:gdLst/>
            <a:ahLst/>
            <a:cxnLst/>
            <a:rect l="l" t="t" r="r" b="b"/>
            <a:pathLst>
              <a:path w="76200" h="76200">
                <a:moveTo>
                  <a:pt x="0" y="0"/>
                </a:moveTo>
                <a:lnTo>
                  <a:pt x="76200" y="38100"/>
                </a:lnTo>
                <a:lnTo>
                  <a:pt x="0" y="76200"/>
                </a:lnTo>
                <a:close/>
              </a:path>
            </a:pathLst>
          </a:custGeom>
          <a:solidFill>
            <a:srgbClr val="BE776A"/>
          </a:solidFill>
          <a:ln>
            <a:noFill/>
          </a:ln>
        </p:spPr>
      </p:sp>
      <p:sp>
        <p:nvSpPr>
          <p:cNvPr id="109" name="reg-arr-4"/>
          <p:cNvSpPr/>
          <p:nvPr/>
        </p:nvSpPr>
        <p:spPr>
          <a:xfrm>
            <a:off x="2305050" y="4495800"/>
            <a:ext cx="76200" cy="76200"/>
          </a:xfrm>
          <a:custGeom>
            <a:avLst/>
            <a:gdLst/>
            <a:ahLst/>
            <a:cxnLst/>
            <a:rect l="l" t="t" r="r" b="b"/>
            <a:pathLst>
              <a:path w="76200" h="76200">
                <a:moveTo>
                  <a:pt x="0" y="0"/>
                </a:moveTo>
                <a:lnTo>
                  <a:pt x="76200" y="38100"/>
                </a:lnTo>
                <a:lnTo>
                  <a:pt x="0" y="76200"/>
                </a:lnTo>
                <a:close/>
              </a:path>
            </a:pathLst>
          </a:custGeom>
          <a:solidFill>
            <a:srgbClr val="BE776A"/>
          </a:solidFill>
          <a:ln>
            <a:noFill/>
          </a:ln>
        </p:spPr>
      </p:sp>
      <p:grpSp>
        <p:nvGrpSpPr>
          <p:cNvPr id="202" name="observability"/>
          <p:cNvGrpSpPr/>
          <p:nvPr/>
        </p:nvGrpSpPr>
        <p:grpSpPr>
          <a:xfrm>
            <a:off x="2400300" y="1447800"/>
            <a:ext cx="4838700" cy="3600450"/>
            <a:chOff x="2400300" y="1447800"/>
            <a:chExt cx="4838700" cy="3600450"/>
          </a:xfrm>
        </p:grpSpPr>
        <p:sp>
          <p:nvSpPr>
            <p:cNvPr id="110" name="Rectangle 110"/>
            <p:cNvSpPr/>
            <p:nvPr/>
          </p:nvSpPr>
          <p:spPr>
            <a:xfrm>
              <a:off x="2400300" y="1447800"/>
              <a:ext cx="4838700" cy="3600450"/>
            </a:xfrm>
            <a:prstGeom prst="roundRect">
              <a:avLst>
                <a:gd name="adj" fmla="val 2116"/>
              </a:avLst>
            </a:prstGeom>
            <a:solidFill>
              <a:srgbClr val="FFFFFF"/>
            </a:solidFill>
            <a:ln w="9525">
              <a:solidFill>
                <a:srgbClr val="D9E8C6"/>
              </a:solidFill>
            </a:ln>
          </p:spPr>
        </p:sp>
        <p:sp>
          <p:nvSpPr>
            <p:cNvPr id="111" name="Rectangle 111"/>
            <p:cNvSpPr/>
            <p:nvPr/>
          </p:nvSpPr>
          <p:spPr>
            <a:xfrm>
              <a:off x="2400300" y="1447800"/>
              <a:ext cx="4838700" cy="228600"/>
            </a:xfrm>
            <a:prstGeom prst="roundRect">
              <a:avLst>
                <a:gd name="adj" fmla="val 33333"/>
              </a:avLst>
            </a:prstGeom>
            <a:solidFill>
              <a:srgbClr val="42140B"/>
            </a:solidFill>
            <a:ln>
              <a:noFill/>
            </a:ln>
          </p:spPr>
        </p:sp>
        <p:sp>
          <p:nvSpPr>
            <p:cNvPr id="112" name="Rectangle 112"/>
            <p:cNvSpPr/>
            <p:nvPr/>
          </p:nvSpPr>
          <p:spPr>
            <a:xfrm>
              <a:off x="2400300" y="1581150"/>
              <a:ext cx="4838700" cy="95250"/>
            </a:xfrm>
            <a:prstGeom prst="rect">
              <a:avLst/>
            </a:prstGeom>
            <a:solidFill>
              <a:srgbClr val="42140B"/>
            </a:solidFill>
            <a:ln>
              <a:noFill/>
            </a:ln>
          </p:spPr>
        </p:sp>
        <p:sp>
          <p:nvSpPr>
            <p:cNvPr id="113" name="TextBox 113"/>
            <p:cNvSpPr txBox="1"/>
            <p:nvPr/>
          </p:nvSpPr>
          <p:spPr>
            <a:xfrm>
              <a:off x="3807455" y="1520666"/>
              <a:ext cx="20243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 xml:space="preserve">可观测性总览（Observability Map）　</a:t>
              </a:r>
            </a:p>
          </p:txBody>
        </p:sp>
        <p:grpSp>
          <p:nvGrpSpPr>
            <p:cNvPr id="122" name="obs-spokes"/>
            <p:cNvGrpSpPr/>
            <p:nvPr/>
          </p:nvGrpSpPr>
          <p:grpSpPr>
            <a:xfrm>
              <a:off x="3209925" y="2152650"/>
              <a:ext cx="3219450" cy="2324100"/>
              <a:chOff x="3209925" y="2152650"/>
              <a:chExt cx="3219450" cy="2324100"/>
            </a:xfrm>
          </p:grpSpPr>
          <p:sp>
            <p:nvSpPr>
              <p:cNvPr id="114" name="Line 114"/>
              <p:cNvSpPr/>
              <p:nvPr/>
            </p:nvSpPr>
            <p:spPr>
              <a:xfrm>
                <a:off x="3209925" y="2152650"/>
                <a:ext cx="1609725" cy="1162050"/>
              </a:xfrm>
              <a:custGeom>
                <a:avLst/>
                <a:gdLst/>
                <a:ahLst/>
                <a:cxnLst/>
                <a:rect l="l" t="t" r="r" b="b"/>
                <a:pathLst>
                  <a:path w="1609725" h="1162050">
                    <a:moveTo>
                      <a:pt x="1609725" y="1162050"/>
                    </a:moveTo>
                    <a:lnTo>
                      <a:pt x="0" y="0"/>
                    </a:lnTo>
                  </a:path>
                </a:pathLst>
              </a:custGeom>
              <a:noFill/>
              <a:ln w="9525">
                <a:solidFill>
                  <a:srgbClr val="BE776A"/>
                </a:solidFill>
                <a:custDash>
                  <a:ds d="400000" sp="300000"/>
                </a:custDash>
              </a:ln>
            </p:spPr>
          </p:sp>
          <p:sp>
            <p:nvSpPr>
              <p:cNvPr id="115" name="Line 115"/>
              <p:cNvSpPr/>
              <p:nvPr/>
            </p:nvSpPr>
            <p:spPr>
              <a:xfrm>
                <a:off x="4819650" y="2152650"/>
                <a:ext cx="9525" cy="1162050"/>
              </a:xfrm>
              <a:custGeom>
                <a:avLst/>
                <a:gdLst/>
                <a:ahLst/>
                <a:cxnLst/>
                <a:rect l="l" t="t" r="r" b="b"/>
                <a:pathLst>
                  <a:path w="9525" h="1162050">
                    <a:moveTo>
                      <a:pt x="0" y="1162050"/>
                    </a:moveTo>
                    <a:lnTo>
                      <a:pt x="0" y="0"/>
                    </a:lnTo>
                  </a:path>
                </a:pathLst>
              </a:custGeom>
              <a:noFill/>
              <a:ln w="9525">
                <a:solidFill>
                  <a:srgbClr val="BE776A"/>
                </a:solidFill>
                <a:custDash>
                  <a:ds d="400000" sp="300000"/>
                </a:custDash>
              </a:ln>
            </p:spPr>
          </p:sp>
          <p:sp>
            <p:nvSpPr>
              <p:cNvPr id="116" name="Line 116"/>
              <p:cNvSpPr/>
              <p:nvPr/>
            </p:nvSpPr>
            <p:spPr>
              <a:xfrm>
                <a:off x="4819650" y="2152650"/>
                <a:ext cx="1609725" cy="1162050"/>
              </a:xfrm>
              <a:custGeom>
                <a:avLst/>
                <a:gdLst/>
                <a:ahLst/>
                <a:cxnLst/>
                <a:rect l="l" t="t" r="r" b="b"/>
                <a:pathLst>
                  <a:path w="1609725" h="1162050">
                    <a:moveTo>
                      <a:pt x="0" y="1162050"/>
                    </a:moveTo>
                    <a:lnTo>
                      <a:pt x="1609725" y="0"/>
                    </a:lnTo>
                  </a:path>
                </a:pathLst>
              </a:custGeom>
              <a:noFill/>
              <a:ln w="9525">
                <a:solidFill>
                  <a:srgbClr val="BE776A"/>
                </a:solidFill>
                <a:custDash>
                  <a:ds d="400000" sp="300000"/>
                </a:custDash>
              </a:ln>
            </p:spPr>
          </p:sp>
          <p:sp>
            <p:nvSpPr>
              <p:cNvPr id="117" name="Line 117"/>
              <p:cNvSpPr/>
              <p:nvPr/>
            </p:nvSpPr>
            <p:spPr>
              <a:xfrm>
                <a:off x="3209925" y="3314700"/>
                <a:ext cx="1609725" cy="9525"/>
              </a:xfrm>
              <a:custGeom>
                <a:avLst/>
                <a:gdLst/>
                <a:ahLst/>
                <a:cxnLst/>
                <a:rect l="l" t="t" r="r" b="b"/>
                <a:pathLst>
                  <a:path w="1609725" h="9525">
                    <a:moveTo>
                      <a:pt x="1609725" y="0"/>
                    </a:moveTo>
                    <a:lnTo>
                      <a:pt x="0" y="0"/>
                    </a:lnTo>
                  </a:path>
                </a:pathLst>
              </a:custGeom>
              <a:noFill/>
              <a:ln w="9525">
                <a:solidFill>
                  <a:srgbClr val="BE776A"/>
                </a:solidFill>
                <a:custDash>
                  <a:ds d="400000" sp="300000"/>
                </a:custDash>
              </a:ln>
            </p:spPr>
          </p:sp>
          <p:sp>
            <p:nvSpPr>
              <p:cNvPr id="118" name="Line 118"/>
              <p:cNvSpPr/>
              <p:nvPr/>
            </p:nvSpPr>
            <p:spPr>
              <a:xfrm>
                <a:off x="4819650" y="3314700"/>
                <a:ext cx="1609725" cy="9525"/>
              </a:xfrm>
              <a:custGeom>
                <a:avLst/>
                <a:gdLst/>
                <a:ahLst/>
                <a:cxnLst/>
                <a:rect l="l" t="t" r="r" b="b"/>
                <a:pathLst>
                  <a:path w="1609725" h="9525">
                    <a:moveTo>
                      <a:pt x="0" y="0"/>
                    </a:moveTo>
                    <a:lnTo>
                      <a:pt x="1609725" y="0"/>
                    </a:lnTo>
                  </a:path>
                </a:pathLst>
              </a:custGeom>
              <a:noFill/>
              <a:ln w="9525">
                <a:solidFill>
                  <a:srgbClr val="BE776A"/>
                </a:solidFill>
                <a:custDash>
                  <a:ds d="400000" sp="300000"/>
                </a:custDash>
              </a:ln>
            </p:spPr>
          </p:sp>
          <p:sp>
            <p:nvSpPr>
              <p:cNvPr id="119" name="Line 119"/>
              <p:cNvSpPr/>
              <p:nvPr/>
            </p:nvSpPr>
            <p:spPr>
              <a:xfrm>
                <a:off x="3209925" y="3314700"/>
                <a:ext cx="1609725" cy="1162050"/>
              </a:xfrm>
              <a:custGeom>
                <a:avLst/>
                <a:gdLst/>
                <a:ahLst/>
                <a:cxnLst/>
                <a:rect l="l" t="t" r="r" b="b"/>
                <a:pathLst>
                  <a:path w="1609725" h="1162050">
                    <a:moveTo>
                      <a:pt x="1609725" y="0"/>
                    </a:moveTo>
                    <a:lnTo>
                      <a:pt x="0" y="1162050"/>
                    </a:lnTo>
                  </a:path>
                </a:pathLst>
              </a:custGeom>
              <a:noFill/>
              <a:ln w="9525">
                <a:solidFill>
                  <a:srgbClr val="BE776A"/>
                </a:solidFill>
                <a:custDash>
                  <a:ds d="400000" sp="300000"/>
                </a:custDash>
              </a:ln>
            </p:spPr>
          </p:sp>
          <p:sp>
            <p:nvSpPr>
              <p:cNvPr id="120" name="Line 120"/>
              <p:cNvSpPr/>
              <p:nvPr/>
            </p:nvSpPr>
            <p:spPr>
              <a:xfrm>
                <a:off x="4819650" y="3314700"/>
                <a:ext cx="9525" cy="1162050"/>
              </a:xfrm>
              <a:custGeom>
                <a:avLst/>
                <a:gdLst/>
                <a:ahLst/>
                <a:cxnLst/>
                <a:rect l="l" t="t" r="r" b="b"/>
                <a:pathLst>
                  <a:path w="9525" h="1162050">
                    <a:moveTo>
                      <a:pt x="0" y="0"/>
                    </a:moveTo>
                    <a:lnTo>
                      <a:pt x="0" y="1162050"/>
                    </a:lnTo>
                  </a:path>
                </a:pathLst>
              </a:custGeom>
              <a:noFill/>
              <a:ln w="9525">
                <a:solidFill>
                  <a:srgbClr val="BE776A"/>
                </a:solidFill>
                <a:custDash>
                  <a:ds d="400000" sp="300000"/>
                </a:custDash>
              </a:ln>
            </p:spPr>
          </p:sp>
          <p:sp>
            <p:nvSpPr>
              <p:cNvPr id="121" name="Line 121"/>
              <p:cNvSpPr/>
              <p:nvPr/>
            </p:nvSpPr>
            <p:spPr>
              <a:xfrm>
                <a:off x="4819650" y="3314700"/>
                <a:ext cx="1609725" cy="1162050"/>
              </a:xfrm>
              <a:custGeom>
                <a:avLst/>
                <a:gdLst/>
                <a:ahLst/>
                <a:cxnLst/>
                <a:rect l="l" t="t" r="r" b="b"/>
                <a:pathLst>
                  <a:path w="1609725" h="1162050">
                    <a:moveTo>
                      <a:pt x="0" y="0"/>
                    </a:moveTo>
                    <a:lnTo>
                      <a:pt x="1609725" y="1162050"/>
                    </a:lnTo>
                  </a:path>
                </a:pathLst>
              </a:custGeom>
              <a:noFill/>
              <a:ln w="9525">
                <a:solidFill>
                  <a:srgbClr val="BE776A"/>
                </a:solidFill>
                <a:custDash>
                  <a:ds d="400000" sp="300000"/>
                </a:custDash>
              </a:ln>
            </p:spPr>
          </p:sp>
        </p:grpSp>
        <p:grpSp>
          <p:nvGrpSpPr>
            <p:cNvPr id="130" name="obs-retrieval"/>
            <p:cNvGrpSpPr/>
            <p:nvPr/>
          </p:nvGrpSpPr>
          <p:grpSpPr>
            <a:xfrm>
              <a:off x="2495550" y="1809750"/>
              <a:ext cx="1428750" cy="685800"/>
              <a:chOff x="2495550" y="1809750"/>
              <a:chExt cx="1428750" cy="685800"/>
            </a:xfrm>
          </p:grpSpPr>
          <p:sp>
            <p:nvSpPr>
              <p:cNvPr id="123" name="Rectangle 123"/>
              <p:cNvSpPr/>
              <p:nvPr/>
            </p:nvSpPr>
            <p:spPr>
              <a:xfrm>
                <a:off x="2495550" y="1809750"/>
                <a:ext cx="1428750" cy="685800"/>
              </a:xfrm>
              <a:prstGeom prst="roundRect">
                <a:avLst>
                  <a:gd name="adj" fmla="val 8333"/>
                </a:avLst>
              </a:prstGeom>
              <a:solidFill>
                <a:srgbClr val="F4F8EC"/>
              </a:solidFill>
              <a:ln w="9525">
                <a:solidFill>
                  <a:srgbClr val="D9E8C6"/>
                </a:solidFill>
              </a:ln>
            </p:spPr>
          </p:sp>
          <p:grpSp>
            <p:nvGrpSpPr>
              <p:cNvPr id="126" name="Group 126"/>
              <p:cNvGrpSpPr/>
              <p:nvPr/>
            </p:nvGrpSpPr>
            <p:grpSpPr>
              <a:xfrm>
                <a:off x="2609850" y="1924050"/>
                <a:ext cx="114300" cy="114300"/>
                <a:chOff x="2609850" y="1924050"/>
                <a:chExt cx="114300" cy="114300"/>
              </a:xfrm>
            </p:grpSpPr>
            <p:sp>
              <p:nvSpPr>
                <p:cNvPr id="124" name="Freeform 124"/>
                <p:cNvSpPr/>
                <p:nvPr/>
              </p:nvSpPr>
              <p:spPr>
                <a:xfrm>
                  <a:off x="2609850" y="192405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7C3B2F"/>
                  </a:solidFill>
                </a:ln>
              </p:spPr>
            </p:sp>
            <p:sp>
              <p:nvSpPr>
                <p:cNvPr id="125" name="Freeform 125"/>
                <p:cNvSpPr/>
                <p:nvPr/>
              </p:nvSpPr>
              <p:spPr>
                <a:xfrm>
                  <a:off x="2686050" y="2000250"/>
                  <a:ext cx="38100" cy="38100"/>
                </a:xfrm>
                <a:custGeom>
                  <a:avLst/>
                  <a:gdLst/>
                  <a:ahLst/>
                  <a:cxnLst/>
                  <a:rect l="l" t="t" r="r" b="b"/>
                  <a:pathLst>
                    <a:path w="38100" h="38100">
                      <a:moveTo>
                        <a:pt x="38100" y="38100"/>
                      </a:moveTo>
                      <a:lnTo>
                        <a:pt x="0" y="0"/>
                      </a:lnTo>
                    </a:path>
                  </a:pathLst>
                </a:custGeom>
                <a:noFill/>
                <a:ln w="12700">
                  <a:solidFill>
                    <a:srgbClr val="7C3B2F"/>
                  </a:solidFill>
                </a:ln>
              </p:spPr>
            </p:sp>
          </p:grpSp>
          <p:sp>
            <p:nvSpPr>
              <p:cNvPr id="127" name="TextBox 127"/>
              <p:cNvSpPr txBox="1"/>
              <p:nvPr/>
            </p:nvSpPr>
            <p:spPr>
              <a:xfrm>
                <a:off x="2795588" y="1942386"/>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检索追踪</a:t>
                </a:r>
              </a:p>
            </p:txBody>
          </p:sp>
          <p:sp>
            <p:nvSpPr>
              <p:cNvPr id="128" name="TextBox 128"/>
              <p:cNvSpPr txBox="1"/>
              <p:nvPr/>
            </p:nvSpPr>
            <p:spPr>
              <a:xfrm>
                <a:off x="2586038" y="2168128"/>
                <a:ext cx="688010"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检索策略、命中情况</a:t>
                </a:r>
              </a:p>
            </p:txBody>
          </p:sp>
          <p:sp>
            <p:nvSpPr>
              <p:cNvPr id="129" name="TextBox 129"/>
              <p:cNvSpPr txBox="1"/>
              <p:nvPr/>
            </p:nvSpPr>
            <p:spPr>
              <a:xfrm>
                <a:off x="2586038" y="2320528"/>
                <a:ext cx="537235"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重排、文档来源</a:t>
                </a:r>
              </a:p>
            </p:txBody>
          </p:sp>
        </p:grpSp>
        <p:grpSp>
          <p:nvGrpSpPr>
            <p:cNvPr id="141" name="obs-context"/>
            <p:cNvGrpSpPr/>
            <p:nvPr/>
          </p:nvGrpSpPr>
          <p:grpSpPr>
            <a:xfrm>
              <a:off x="4105275" y="1809750"/>
              <a:ext cx="1428750" cy="685800"/>
              <a:chOff x="4105275" y="1809750"/>
              <a:chExt cx="1428750" cy="685800"/>
            </a:xfrm>
          </p:grpSpPr>
          <p:sp>
            <p:nvSpPr>
              <p:cNvPr id="131" name="Rectangle 131"/>
              <p:cNvSpPr/>
              <p:nvPr/>
            </p:nvSpPr>
            <p:spPr>
              <a:xfrm>
                <a:off x="4105275" y="1809750"/>
                <a:ext cx="1428750" cy="685800"/>
              </a:xfrm>
              <a:prstGeom prst="roundRect">
                <a:avLst>
                  <a:gd name="adj" fmla="val 8333"/>
                </a:avLst>
              </a:prstGeom>
              <a:solidFill>
                <a:srgbClr val="F4F8EC"/>
              </a:solidFill>
              <a:ln w="9525">
                <a:solidFill>
                  <a:srgbClr val="D9E8C6"/>
                </a:solidFill>
              </a:ln>
            </p:spPr>
          </p:sp>
          <p:grpSp>
            <p:nvGrpSpPr>
              <p:cNvPr id="137" name="Group 137"/>
              <p:cNvGrpSpPr/>
              <p:nvPr/>
            </p:nvGrpSpPr>
            <p:grpSpPr>
              <a:xfrm>
                <a:off x="4232275" y="1924050"/>
                <a:ext cx="88900" cy="114300"/>
                <a:chOff x="4232275" y="1924050"/>
                <a:chExt cx="88900" cy="114300"/>
              </a:xfrm>
            </p:grpSpPr>
            <p:sp>
              <p:nvSpPr>
                <p:cNvPr id="132" name="Freeform 132"/>
                <p:cNvSpPr/>
                <p:nvPr/>
              </p:nvSpPr>
              <p:spPr>
                <a:xfrm>
                  <a:off x="4289425" y="19240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7C3B2F"/>
                  </a:solidFill>
                </a:ln>
              </p:spPr>
            </p:sp>
            <p:sp>
              <p:nvSpPr>
                <p:cNvPr id="133" name="Freeform 133"/>
                <p:cNvSpPr/>
                <p:nvPr/>
              </p:nvSpPr>
              <p:spPr>
                <a:xfrm>
                  <a:off x="4232275" y="19240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7C3B2F"/>
                  </a:solidFill>
                </a:ln>
              </p:spPr>
            </p:sp>
            <p:sp>
              <p:nvSpPr>
                <p:cNvPr id="134" name="Freeform 134"/>
                <p:cNvSpPr/>
                <p:nvPr/>
              </p:nvSpPr>
              <p:spPr>
                <a:xfrm>
                  <a:off x="4257675" y="1962150"/>
                  <a:ext cx="9525" cy="9525"/>
                </a:xfrm>
                <a:custGeom>
                  <a:avLst/>
                  <a:gdLst/>
                  <a:ahLst/>
                  <a:cxnLst/>
                  <a:rect l="l" t="t" r="r" b="b"/>
                  <a:pathLst>
                    <a:path w="9525" h="9525">
                      <a:moveTo>
                        <a:pt x="0" y="0"/>
                      </a:moveTo>
                      <a:lnTo>
                        <a:pt x="6350" y="0"/>
                      </a:lnTo>
                    </a:path>
                  </a:pathLst>
                </a:custGeom>
                <a:noFill/>
                <a:ln w="12700">
                  <a:solidFill>
                    <a:srgbClr val="7C3B2F"/>
                  </a:solidFill>
                </a:ln>
              </p:spPr>
            </p:sp>
            <p:sp>
              <p:nvSpPr>
                <p:cNvPr id="135" name="Freeform 135"/>
                <p:cNvSpPr/>
                <p:nvPr/>
              </p:nvSpPr>
              <p:spPr>
                <a:xfrm>
                  <a:off x="4257675" y="1987550"/>
                  <a:ext cx="38100" cy="9525"/>
                </a:xfrm>
                <a:custGeom>
                  <a:avLst/>
                  <a:gdLst/>
                  <a:ahLst/>
                  <a:cxnLst/>
                  <a:rect l="l" t="t" r="r" b="b"/>
                  <a:pathLst>
                    <a:path w="38100" h="9525">
                      <a:moveTo>
                        <a:pt x="0" y="0"/>
                      </a:moveTo>
                      <a:lnTo>
                        <a:pt x="38100" y="0"/>
                      </a:lnTo>
                    </a:path>
                  </a:pathLst>
                </a:custGeom>
                <a:noFill/>
                <a:ln w="12700">
                  <a:solidFill>
                    <a:srgbClr val="7C3B2F"/>
                  </a:solidFill>
                </a:ln>
              </p:spPr>
            </p:sp>
            <p:sp>
              <p:nvSpPr>
                <p:cNvPr id="136" name="Freeform 136"/>
                <p:cNvSpPr/>
                <p:nvPr/>
              </p:nvSpPr>
              <p:spPr>
                <a:xfrm>
                  <a:off x="4257675" y="2012950"/>
                  <a:ext cx="38100" cy="9525"/>
                </a:xfrm>
                <a:custGeom>
                  <a:avLst/>
                  <a:gdLst/>
                  <a:ahLst/>
                  <a:cxnLst/>
                  <a:rect l="l" t="t" r="r" b="b"/>
                  <a:pathLst>
                    <a:path w="38100" h="9525">
                      <a:moveTo>
                        <a:pt x="0" y="0"/>
                      </a:moveTo>
                      <a:lnTo>
                        <a:pt x="38100" y="0"/>
                      </a:lnTo>
                    </a:path>
                  </a:pathLst>
                </a:custGeom>
                <a:noFill/>
                <a:ln w="12700">
                  <a:solidFill>
                    <a:srgbClr val="7C3B2F"/>
                  </a:solidFill>
                </a:ln>
              </p:spPr>
            </p:sp>
          </p:grpSp>
          <p:sp>
            <p:nvSpPr>
              <p:cNvPr id="138" name="TextBox 138"/>
              <p:cNvSpPr txBox="1"/>
              <p:nvPr/>
            </p:nvSpPr>
            <p:spPr>
              <a:xfrm>
                <a:off x="4405312" y="1942386"/>
                <a:ext cx="972514"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上下文（Context）　</a:t>
                </a:r>
              </a:p>
            </p:txBody>
          </p:sp>
          <p:sp>
            <p:nvSpPr>
              <p:cNvPr id="139" name="TextBox 139"/>
              <p:cNvSpPr txBox="1"/>
              <p:nvPr/>
            </p:nvSpPr>
            <p:spPr>
              <a:xfrm>
                <a:off x="4195762" y="2168128"/>
                <a:ext cx="763397"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拼接内容、上下文长度</a:t>
                </a:r>
              </a:p>
            </p:txBody>
          </p:sp>
          <p:sp>
            <p:nvSpPr>
              <p:cNvPr id="140" name="TextBox 140"/>
              <p:cNvSpPr txBox="1"/>
              <p:nvPr/>
            </p:nvSpPr>
            <p:spPr>
              <a:xfrm>
                <a:off x="4195762" y="2320528"/>
                <a:ext cx="61262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截断策略、变量值</a:t>
                </a:r>
              </a:p>
            </p:txBody>
          </p:sp>
        </p:grpSp>
        <p:grpSp>
          <p:nvGrpSpPr>
            <p:cNvPr id="152" name="obs-token"/>
            <p:cNvGrpSpPr/>
            <p:nvPr/>
          </p:nvGrpSpPr>
          <p:grpSpPr>
            <a:xfrm>
              <a:off x="5715000" y="1809750"/>
              <a:ext cx="1428750" cy="685800"/>
              <a:chOff x="5715000" y="1809750"/>
              <a:chExt cx="1428750" cy="685800"/>
            </a:xfrm>
          </p:grpSpPr>
          <p:sp>
            <p:nvSpPr>
              <p:cNvPr id="142" name="Rectangle 142"/>
              <p:cNvSpPr/>
              <p:nvPr/>
            </p:nvSpPr>
            <p:spPr>
              <a:xfrm>
                <a:off x="5715000" y="1809750"/>
                <a:ext cx="1428750" cy="685800"/>
              </a:xfrm>
              <a:prstGeom prst="roundRect">
                <a:avLst>
                  <a:gd name="adj" fmla="val 8333"/>
                </a:avLst>
              </a:prstGeom>
              <a:solidFill>
                <a:srgbClr val="F4F8EC"/>
              </a:solidFill>
              <a:ln w="9525">
                <a:solidFill>
                  <a:srgbClr val="D9E8C6"/>
                </a:solidFill>
              </a:ln>
            </p:spPr>
          </p:sp>
          <p:grpSp>
            <p:nvGrpSpPr>
              <p:cNvPr id="148" name="Group 148"/>
              <p:cNvGrpSpPr/>
              <p:nvPr/>
            </p:nvGrpSpPr>
            <p:grpSpPr>
              <a:xfrm>
                <a:off x="5829300" y="1923199"/>
                <a:ext cx="114300" cy="115151"/>
                <a:chOff x="5829300" y="1923199"/>
                <a:chExt cx="114300" cy="115151"/>
              </a:xfrm>
            </p:grpSpPr>
            <p:sp>
              <p:nvSpPr>
                <p:cNvPr id="143" name="Freeform 143"/>
                <p:cNvSpPr/>
                <p:nvPr/>
              </p:nvSpPr>
              <p:spPr>
                <a:xfrm>
                  <a:off x="5867400" y="197485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7C3B2F"/>
                  </a:solidFill>
                </a:ln>
              </p:spPr>
            </p:sp>
            <p:sp>
              <p:nvSpPr>
                <p:cNvPr id="144" name="Freeform 144"/>
                <p:cNvSpPr/>
                <p:nvPr/>
              </p:nvSpPr>
              <p:spPr>
                <a:xfrm>
                  <a:off x="5867400" y="199390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7C3B2F"/>
                  </a:solidFill>
                </a:ln>
              </p:spPr>
            </p:sp>
            <p:sp>
              <p:nvSpPr>
                <p:cNvPr id="145" name="Freeform 145"/>
                <p:cNvSpPr/>
                <p:nvPr/>
              </p:nvSpPr>
              <p:spPr>
                <a:xfrm>
                  <a:off x="5829300" y="192319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7C3B2F"/>
                  </a:solidFill>
                </a:ln>
              </p:spPr>
            </p:sp>
            <p:sp>
              <p:nvSpPr>
                <p:cNvPr id="146" name="Freeform 146"/>
                <p:cNvSpPr/>
                <p:nvPr/>
              </p:nvSpPr>
              <p:spPr>
                <a:xfrm>
                  <a:off x="5829300" y="194310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7C3B2F"/>
                  </a:solidFill>
                </a:ln>
              </p:spPr>
            </p:sp>
            <p:sp>
              <p:nvSpPr>
                <p:cNvPr id="147" name="Freeform 147"/>
                <p:cNvSpPr/>
                <p:nvPr/>
              </p:nvSpPr>
              <p:spPr>
                <a:xfrm>
                  <a:off x="5829300" y="1974850"/>
                  <a:ext cx="12700" cy="12700"/>
                </a:xfrm>
                <a:custGeom>
                  <a:avLst/>
                  <a:gdLst/>
                  <a:ahLst/>
                  <a:cxnLst/>
                  <a:rect l="l" t="t" r="r" b="b"/>
                  <a:pathLst>
                    <a:path w="12700" h="12700">
                      <a:moveTo>
                        <a:pt x="0" y="0"/>
                      </a:moveTo>
                      <a:cubicBezTo>
                        <a:pt x="0" y="5639"/>
                        <a:pt x="4902" y="9208"/>
                        <a:pt x="12700" y="12700"/>
                      </a:cubicBezTo>
                    </a:path>
                  </a:pathLst>
                </a:custGeom>
                <a:noFill/>
                <a:ln w="12700">
                  <a:solidFill>
                    <a:srgbClr val="7C3B2F"/>
                  </a:solidFill>
                </a:ln>
              </p:spPr>
            </p:sp>
          </p:grpSp>
          <p:sp>
            <p:nvSpPr>
              <p:cNvPr id="149" name="TextBox 149"/>
              <p:cNvSpPr txBox="1"/>
              <p:nvPr/>
            </p:nvSpPr>
            <p:spPr>
              <a:xfrm>
                <a:off x="6015038" y="1942386"/>
                <a:ext cx="575378"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Token用量　</a:t>
                </a:r>
              </a:p>
            </p:txBody>
          </p:sp>
          <p:sp>
            <p:nvSpPr>
              <p:cNvPr id="150" name="TextBox 150"/>
              <p:cNvSpPr txBox="1"/>
              <p:nvPr/>
            </p:nvSpPr>
            <p:spPr>
              <a:xfrm>
                <a:off x="5805488" y="2168128"/>
                <a:ext cx="61262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输入、输出、总量</a:t>
                </a:r>
              </a:p>
            </p:txBody>
          </p:sp>
          <p:sp>
            <p:nvSpPr>
              <p:cNvPr id="151" name="TextBox 151"/>
              <p:cNvSpPr txBox="1"/>
              <p:nvPr/>
            </p:nvSpPr>
            <p:spPr>
              <a:xfrm>
                <a:off x="5805488" y="2320528"/>
                <a:ext cx="386461"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趋势、分布</a:t>
                </a:r>
              </a:p>
            </p:txBody>
          </p:sp>
        </p:grpSp>
        <p:grpSp>
          <p:nvGrpSpPr>
            <p:cNvPr id="160" name="obs-latency"/>
            <p:cNvGrpSpPr/>
            <p:nvPr/>
          </p:nvGrpSpPr>
          <p:grpSpPr>
            <a:xfrm>
              <a:off x="2495550" y="2971800"/>
              <a:ext cx="1428750" cy="685800"/>
              <a:chOff x="2495550" y="2971800"/>
              <a:chExt cx="1428750" cy="685800"/>
            </a:xfrm>
          </p:grpSpPr>
          <p:sp>
            <p:nvSpPr>
              <p:cNvPr id="153" name="Rectangle 153"/>
              <p:cNvSpPr/>
              <p:nvPr/>
            </p:nvSpPr>
            <p:spPr>
              <a:xfrm>
                <a:off x="2495550" y="2971800"/>
                <a:ext cx="1428750" cy="685800"/>
              </a:xfrm>
              <a:prstGeom prst="roundRect">
                <a:avLst>
                  <a:gd name="adj" fmla="val 8333"/>
                </a:avLst>
              </a:prstGeom>
              <a:solidFill>
                <a:srgbClr val="F4F8EC"/>
              </a:solidFill>
              <a:ln w="9525">
                <a:solidFill>
                  <a:srgbClr val="D9E8C6"/>
                </a:solidFill>
              </a:ln>
            </p:spPr>
          </p:sp>
          <p:grpSp>
            <p:nvGrpSpPr>
              <p:cNvPr id="156" name="Group 156"/>
              <p:cNvGrpSpPr/>
              <p:nvPr/>
            </p:nvGrpSpPr>
            <p:grpSpPr>
              <a:xfrm>
                <a:off x="2609850" y="3086100"/>
                <a:ext cx="114300" cy="114300"/>
                <a:chOff x="2609850" y="3086100"/>
                <a:chExt cx="114300" cy="114300"/>
              </a:xfrm>
            </p:grpSpPr>
            <p:sp>
              <p:nvSpPr>
                <p:cNvPr id="154" name="Freeform 154"/>
                <p:cNvSpPr/>
                <p:nvPr/>
              </p:nvSpPr>
              <p:spPr>
                <a:xfrm>
                  <a:off x="2609850" y="30861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C3B2F"/>
                  </a:solidFill>
                </a:ln>
              </p:spPr>
            </p:sp>
            <p:sp>
              <p:nvSpPr>
                <p:cNvPr id="155" name="Freeform 155"/>
                <p:cNvSpPr/>
                <p:nvPr/>
              </p:nvSpPr>
              <p:spPr>
                <a:xfrm>
                  <a:off x="2667000" y="3111500"/>
                  <a:ext cx="19050" cy="50800"/>
                </a:xfrm>
                <a:custGeom>
                  <a:avLst/>
                  <a:gdLst/>
                  <a:ahLst/>
                  <a:cxnLst/>
                  <a:rect l="l" t="t" r="r" b="b"/>
                  <a:pathLst>
                    <a:path w="19050" h="50800">
                      <a:moveTo>
                        <a:pt x="0" y="0"/>
                      </a:moveTo>
                      <a:lnTo>
                        <a:pt x="0" y="31750"/>
                      </a:lnTo>
                      <a:lnTo>
                        <a:pt x="19050" y="50800"/>
                      </a:lnTo>
                    </a:path>
                  </a:pathLst>
                </a:custGeom>
                <a:noFill/>
                <a:ln w="12700">
                  <a:solidFill>
                    <a:srgbClr val="7C3B2F"/>
                  </a:solidFill>
                </a:ln>
              </p:spPr>
            </p:sp>
          </p:grpSp>
          <p:sp>
            <p:nvSpPr>
              <p:cNvPr id="157" name="TextBox 157"/>
              <p:cNvSpPr txBox="1"/>
              <p:nvPr/>
            </p:nvSpPr>
            <p:spPr>
              <a:xfrm>
                <a:off x="2795588" y="3104436"/>
                <a:ext cx="876933"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延迟（Latency）　</a:t>
                </a:r>
              </a:p>
            </p:txBody>
          </p:sp>
          <p:sp>
            <p:nvSpPr>
              <p:cNvPr id="158" name="TextBox 158"/>
              <p:cNvSpPr txBox="1"/>
              <p:nvPr/>
            </p:nvSpPr>
            <p:spPr>
              <a:xfrm>
                <a:off x="2586038" y="3330178"/>
                <a:ext cx="763397"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端到端延迟、分段耗时</a:t>
                </a:r>
              </a:p>
            </p:txBody>
          </p:sp>
          <p:sp>
            <p:nvSpPr>
              <p:cNvPr id="159" name="TextBox 159"/>
              <p:cNvSpPr txBox="1"/>
              <p:nvPr/>
            </p:nvSpPr>
            <p:spPr>
              <a:xfrm>
                <a:off x="2586038" y="3482578"/>
                <a:ext cx="566821"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 xml:space="preserve">P50/P95/P99　</a:t>
                </a:r>
              </a:p>
            </p:txBody>
          </p:sp>
        </p:grpSp>
        <p:grpSp>
          <p:nvGrpSpPr>
            <p:cNvPr id="169" name="obs-cost"/>
            <p:cNvGrpSpPr/>
            <p:nvPr/>
          </p:nvGrpSpPr>
          <p:grpSpPr>
            <a:xfrm>
              <a:off x="5715000" y="2971800"/>
              <a:ext cx="1428750" cy="685800"/>
              <a:chOff x="5715000" y="2971800"/>
              <a:chExt cx="1428750" cy="685800"/>
            </a:xfrm>
          </p:grpSpPr>
          <p:sp>
            <p:nvSpPr>
              <p:cNvPr id="161" name="Rectangle 161"/>
              <p:cNvSpPr/>
              <p:nvPr/>
            </p:nvSpPr>
            <p:spPr>
              <a:xfrm>
                <a:off x="5715000" y="2971800"/>
                <a:ext cx="1428750" cy="685800"/>
              </a:xfrm>
              <a:prstGeom prst="roundRect">
                <a:avLst>
                  <a:gd name="adj" fmla="val 8333"/>
                </a:avLst>
              </a:prstGeom>
              <a:solidFill>
                <a:srgbClr val="F4F8EC"/>
              </a:solidFill>
              <a:ln w="9525">
                <a:solidFill>
                  <a:srgbClr val="D9E8C6"/>
                </a:solidFill>
              </a:ln>
            </p:spPr>
          </p:sp>
          <p:grpSp>
            <p:nvGrpSpPr>
              <p:cNvPr id="165" name="Group 165"/>
              <p:cNvGrpSpPr/>
              <p:nvPr/>
            </p:nvGrpSpPr>
            <p:grpSpPr>
              <a:xfrm>
                <a:off x="5829300" y="3098800"/>
                <a:ext cx="114300" cy="88900"/>
                <a:chOff x="5829300" y="3098800"/>
                <a:chExt cx="114300" cy="88900"/>
              </a:xfrm>
            </p:grpSpPr>
            <p:sp>
              <p:nvSpPr>
                <p:cNvPr id="162" name="Freeform 162"/>
                <p:cNvSpPr/>
                <p:nvPr/>
              </p:nvSpPr>
              <p:spPr>
                <a:xfrm>
                  <a:off x="5829300" y="3098800"/>
                  <a:ext cx="88900" cy="63500"/>
                </a:xfrm>
                <a:custGeom>
                  <a:avLst/>
                  <a:gdLst/>
                  <a:ahLst/>
                  <a:cxnLst/>
                  <a:rect l="l" t="t" r="r" b="b"/>
                  <a:pathLst>
                    <a:path w="88900" h="63500">
                      <a:moveTo>
                        <a:pt x="25400" y="63500"/>
                      </a:moveTo>
                      <a:lnTo>
                        <a:pt x="6350" y="63500"/>
                      </a:lnTo>
                      <a:cubicBezTo>
                        <a:pt x="2843" y="63500"/>
                        <a:pt x="0" y="60657"/>
                        <a:pt x="0" y="57150"/>
                      </a:cubicBezTo>
                      <a:lnTo>
                        <a:pt x="0" y="6350"/>
                      </a:lnTo>
                      <a:cubicBezTo>
                        <a:pt x="0" y="2843"/>
                        <a:pt x="2843" y="0"/>
                        <a:pt x="6350" y="0"/>
                      </a:cubicBezTo>
                      <a:lnTo>
                        <a:pt x="82550" y="0"/>
                      </a:lnTo>
                      <a:cubicBezTo>
                        <a:pt x="86057" y="0"/>
                        <a:pt x="88900" y="2843"/>
                        <a:pt x="88900" y="6350"/>
                      </a:cubicBezTo>
                      <a:lnTo>
                        <a:pt x="88900" y="25400"/>
                      </a:lnTo>
                    </a:path>
                  </a:pathLst>
                </a:custGeom>
                <a:noFill/>
                <a:ln w="12700">
                  <a:solidFill>
                    <a:srgbClr val="7C3B2F"/>
                  </a:solidFill>
                </a:ln>
              </p:spPr>
            </p:sp>
            <p:sp>
              <p:nvSpPr>
                <p:cNvPr id="163" name="Freeform 163"/>
                <p:cNvSpPr/>
                <p:nvPr/>
              </p:nvSpPr>
              <p:spPr>
                <a:xfrm>
                  <a:off x="5854700" y="3124200"/>
                  <a:ext cx="88900" cy="63500"/>
                </a:xfrm>
                <a:custGeom>
                  <a:avLst/>
                  <a:gdLst/>
                  <a:ahLst/>
                  <a:cxnLst/>
                  <a:rect l="l" t="t" r="r" b="b"/>
                  <a:pathLst>
                    <a:path w="88900" h="63500">
                      <a:moveTo>
                        <a:pt x="0" y="6350"/>
                      </a:moveTo>
                      <a:cubicBezTo>
                        <a:pt x="0" y="2843"/>
                        <a:pt x="2843" y="0"/>
                        <a:pt x="6350" y="0"/>
                      </a:cubicBezTo>
                      <a:lnTo>
                        <a:pt x="82550" y="0"/>
                      </a:lnTo>
                      <a:cubicBezTo>
                        <a:pt x="86057" y="0"/>
                        <a:pt x="88900" y="2843"/>
                        <a:pt x="88900" y="6350"/>
                      </a:cubicBezTo>
                      <a:lnTo>
                        <a:pt x="88900" y="57150"/>
                      </a:lnTo>
                      <a:cubicBezTo>
                        <a:pt x="88900" y="60657"/>
                        <a:pt x="86057" y="63500"/>
                        <a:pt x="82550" y="63500"/>
                      </a:cubicBezTo>
                      <a:lnTo>
                        <a:pt x="6350" y="63500"/>
                      </a:lnTo>
                      <a:cubicBezTo>
                        <a:pt x="2843" y="63500"/>
                        <a:pt x="0" y="60657"/>
                        <a:pt x="0" y="57150"/>
                      </a:cubicBezTo>
                      <a:lnTo>
                        <a:pt x="0" y="6350"/>
                      </a:lnTo>
                    </a:path>
                  </a:pathLst>
                </a:custGeom>
                <a:noFill/>
                <a:ln w="12700">
                  <a:solidFill>
                    <a:srgbClr val="7C3B2F"/>
                  </a:solidFill>
                </a:ln>
              </p:spPr>
            </p:sp>
            <p:sp>
              <p:nvSpPr>
                <p:cNvPr id="164" name="Freeform 164"/>
                <p:cNvSpPr/>
                <p:nvPr/>
              </p:nvSpPr>
              <p:spPr>
                <a:xfrm>
                  <a:off x="5886450" y="3143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C3B2F"/>
                  </a:solidFill>
                </a:ln>
              </p:spPr>
            </p:sp>
          </p:grpSp>
          <p:sp>
            <p:nvSpPr>
              <p:cNvPr id="166" name="TextBox 166"/>
              <p:cNvSpPr txBox="1"/>
              <p:nvPr/>
            </p:nvSpPr>
            <p:spPr>
              <a:xfrm>
                <a:off x="6015038" y="3104436"/>
                <a:ext cx="711341"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成本（Cost）　</a:t>
                </a:r>
              </a:p>
            </p:txBody>
          </p:sp>
          <p:sp>
            <p:nvSpPr>
              <p:cNvPr id="167" name="TextBox 167"/>
              <p:cNvSpPr txBox="1"/>
              <p:nvPr/>
            </p:nvSpPr>
            <p:spPr>
              <a:xfrm>
                <a:off x="5805488" y="3330178"/>
                <a:ext cx="838784"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按模型、按请求、按用户</a:t>
                </a:r>
              </a:p>
            </p:txBody>
          </p:sp>
          <p:sp>
            <p:nvSpPr>
              <p:cNvPr id="168" name="TextBox 168"/>
              <p:cNvSpPr txBox="1"/>
              <p:nvPr/>
            </p:nvSpPr>
            <p:spPr>
              <a:xfrm>
                <a:off x="5805488" y="3482578"/>
                <a:ext cx="537235"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成本趋势、预算</a:t>
                </a:r>
              </a:p>
            </p:txBody>
          </p:sp>
        </p:grpSp>
        <p:grpSp>
          <p:nvGrpSpPr>
            <p:cNvPr id="175" name="obs-answer"/>
            <p:cNvGrpSpPr/>
            <p:nvPr/>
          </p:nvGrpSpPr>
          <p:grpSpPr>
            <a:xfrm>
              <a:off x="2495550" y="4133850"/>
              <a:ext cx="1428750" cy="685800"/>
              <a:chOff x="2495550" y="4133850"/>
              <a:chExt cx="1428750" cy="685800"/>
            </a:xfrm>
          </p:grpSpPr>
          <p:sp>
            <p:nvSpPr>
              <p:cNvPr id="170" name="Rectangle 170"/>
              <p:cNvSpPr/>
              <p:nvPr/>
            </p:nvSpPr>
            <p:spPr>
              <a:xfrm>
                <a:off x="2495550" y="4133850"/>
                <a:ext cx="1428750" cy="685800"/>
              </a:xfrm>
              <a:prstGeom prst="roundRect">
                <a:avLst>
                  <a:gd name="adj" fmla="val 8333"/>
                </a:avLst>
              </a:prstGeom>
              <a:solidFill>
                <a:srgbClr val="F4F8EC"/>
              </a:solidFill>
              <a:ln w="9525">
                <a:solidFill>
                  <a:srgbClr val="D9E8C6"/>
                </a:solidFill>
              </a:ln>
            </p:spPr>
          </p:sp>
          <p:sp>
            <p:nvSpPr>
              <p:cNvPr id="171" name="Freeform 171"/>
              <p:cNvSpPr/>
              <p:nvPr/>
            </p:nvSpPr>
            <p:spPr>
              <a:xfrm>
                <a:off x="2603348" y="424957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7C3B2F"/>
                </a:solidFill>
              </a:ln>
            </p:spPr>
          </p:sp>
          <p:sp>
            <p:nvSpPr>
              <p:cNvPr id="172" name="TextBox 172"/>
              <p:cNvSpPr txBox="1"/>
              <p:nvPr/>
            </p:nvSpPr>
            <p:spPr>
              <a:xfrm>
                <a:off x="2795588" y="4266486"/>
                <a:ext cx="841997"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答案（Answer）　</a:t>
                </a:r>
              </a:p>
            </p:txBody>
          </p:sp>
          <p:sp>
            <p:nvSpPr>
              <p:cNvPr id="173" name="TextBox 173"/>
              <p:cNvSpPr txBox="1"/>
              <p:nvPr/>
            </p:nvSpPr>
            <p:spPr>
              <a:xfrm>
                <a:off x="2586038" y="4492228"/>
                <a:ext cx="763397"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输出内容、结构化结果</a:t>
                </a:r>
              </a:p>
            </p:txBody>
          </p:sp>
          <p:sp>
            <p:nvSpPr>
              <p:cNvPr id="174" name="TextBox 174"/>
              <p:cNvSpPr txBox="1"/>
              <p:nvPr/>
            </p:nvSpPr>
            <p:spPr>
              <a:xfrm>
                <a:off x="2586038" y="4644628"/>
                <a:ext cx="461848"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置信度、评分</a:t>
                </a:r>
              </a:p>
            </p:txBody>
          </p:sp>
        </p:grpSp>
        <p:grpSp>
          <p:nvGrpSpPr>
            <p:cNvPr id="184" name="obs-citation"/>
            <p:cNvGrpSpPr/>
            <p:nvPr/>
          </p:nvGrpSpPr>
          <p:grpSpPr>
            <a:xfrm>
              <a:off x="4105275" y="4133850"/>
              <a:ext cx="1428750" cy="685800"/>
              <a:chOff x="4105275" y="4133850"/>
              <a:chExt cx="1428750" cy="685800"/>
            </a:xfrm>
          </p:grpSpPr>
          <p:sp>
            <p:nvSpPr>
              <p:cNvPr id="176" name="Rectangle 176"/>
              <p:cNvSpPr/>
              <p:nvPr/>
            </p:nvSpPr>
            <p:spPr>
              <a:xfrm>
                <a:off x="4105275" y="4133850"/>
                <a:ext cx="1428750" cy="685800"/>
              </a:xfrm>
              <a:prstGeom prst="roundRect">
                <a:avLst>
                  <a:gd name="adj" fmla="val 8333"/>
                </a:avLst>
              </a:prstGeom>
              <a:solidFill>
                <a:srgbClr val="F4F8EC"/>
              </a:solidFill>
              <a:ln w="9525">
                <a:solidFill>
                  <a:srgbClr val="D9E8C6"/>
                </a:solidFill>
              </a:ln>
            </p:spPr>
          </p:sp>
          <p:grpSp>
            <p:nvGrpSpPr>
              <p:cNvPr id="180" name="Group 180"/>
              <p:cNvGrpSpPr/>
              <p:nvPr/>
            </p:nvGrpSpPr>
            <p:grpSpPr>
              <a:xfrm>
                <a:off x="4225924" y="4251397"/>
                <a:ext cx="104694" cy="107792"/>
                <a:chOff x="4225924" y="4251397"/>
                <a:chExt cx="104694" cy="107792"/>
              </a:xfrm>
            </p:grpSpPr>
            <p:sp>
              <p:nvSpPr>
                <p:cNvPr id="177" name="Freeform 177"/>
                <p:cNvSpPr/>
                <p:nvPr/>
              </p:nvSpPr>
              <p:spPr>
                <a:xfrm>
                  <a:off x="4257675" y="4286250"/>
                  <a:ext cx="38100" cy="38100"/>
                </a:xfrm>
                <a:custGeom>
                  <a:avLst/>
                  <a:gdLst/>
                  <a:ahLst/>
                  <a:cxnLst/>
                  <a:rect l="l" t="t" r="r" b="b"/>
                  <a:pathLst>
                    <a:path w="38100" h="38100">
                      <a:moveTo>
                        <a:pt x="0" y="38100"/>
                      </a:moveTo>
                      <a:lnTo>
                        <a:pt x="38100" y="0"/>
                      </a:lnTo>
                    </a:path>
                  </a:pathLst>
                </a:custGeom>
                <a:noFill/>
                <a:ln w="12700">
                  <a:solidFill>
                    <a:srgbClr val="7C3B2F"/>
                  </a:solidFill>
                </a:ln>
              </p:spPr>
            </p:sp>
            <p:sp>
              <p:nvSpPr>
                <p:cNvPr id="178" name="Freeform 178"/>
                <p:cNvSpPr/>
                <p:nvPr/>
              </p:nvSpPr>
              <p:spPr>
                <a:xfrm>
                  <a:off x="4270375" y="4251397"/>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7C3B2F"/>
                  </a:solidFill>
                </a:ln>
              </p:spPr>
            </p:sp>
            <p:sp>
              <p:nvSpPr>
                <p:cNvPr id="179" name="Freeform 179"/>
                <p:cNvSpPr/>
                <p:nvPr/>
              </p:nvSpPr>
              <p:spPr>
                <a:xfrm>
                  <a:off x="4225924" y="4298950"/>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7C3B2F"/>
                  </a:solidFill>
                </a:ln>
              </p:spPr>
            </p:sp>
          </p:grpSp>
          <p:sp>
            <p:nvSpPr>
              <p:cNvPr id="181" name="TextBox 181"/>
              <p:cNvSpPr txBox="1"/>
              <p:nvPr/>
            </p:nvSpPr>
            <p:spPr>
              <a:xfrm>
                <a:off x="4405312" y="4266486"/>
                <a:ext cx="88159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引用（Citation）　</a:t>
                </a:r>
              </a:p>
            </p:txBody>
          </p:sp>
          <p:sp>
            <p:nvSpPr>
              <p:cNvPr id="182" name="TextBox 182"/>
              <p:cNvSpPr txBox="1"/>
              <p:nvPr/>
            </p:nvSpPr>
            <p:spPr>
              <a:xfrm>
                <a:off x="4195762" y="4492228"/>
                <a:ext cx="838784"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引用文档、位置、可信度</a:t>
                </a:r>
              </a:p>
            </p:txBody>
          </p:sp>
          <p:sp>
            <p:nvSpPr>
              <p:cNvPr id="183" name="TextBox 183"/>
              <p:cNvSpPr txBox="1"/>
              <p:nvPr/>
            </p:nvSpPr>
            <p:spPr>
              <a:xfrm>
                <a:off x="4195762" y="4644628"/>
                <a:ext cx="537235"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可追溯、可验证</a:t>
                </a:r>
              </a:p>
            </p:txBody>
          </p:sp>
        </p:grpSp>
        <p:grpSp>
          <p:nvGrpSpPr>
            <p:cNvPr id="194" name="obs-feedback"/>
            <p:cNvGrpSpPr/>
            <p:nvPr/>
          </p:nvGrpSpPr>
          <p:grpSpPr>
            <a:xfrm>
              <a:off x="5715000" y="4133850"/>
              <a:ext cx="1428750" cy="685800"/>
              <a:chOff x="5715000" y="4133850"/>
              <a:chExt cx="1428750" cy="685800"/>
            </a:xfrm>
          </p:grpSpPr>
          <p:sp>
            <p:nvSpPr>
              <p:cNvPr id="185" name="Rectangle 185"/>
              <p:cNvSpPr/>
              <p:nvPr/>
            </p:nvSpPr>
            <p:spPr>
              <a:xfrm>
                <a:off x="5715000" y="4133850"/>
                <a:ext cx="1428750" cy="685800"/>
              </a:xfrm>
              <a:prstGeom prst="roundRect">
                <a:avLst>
                  <a:gd name="adj" fmla="val 8333"/>
                </a:avLst>
              </a:prstGeom>
              <a:solidFill>
                <a:srgbClr val="F4F8EC"/>
              </a:solidFill>
              <a:ln w="9525">
                <a:solidFill>
                  <a:srgbClr val="D9E8C6"/>
                </a:solidFill>
              </a:ln>
            </p:spPr>
          </p:sp>
          <p:grpSp>
            <p:nvGrpSpPr>
              <p:cNvPr id="190" name="Group 190"/>
              <p:cNvGrpSpPr/>
              <p:nvPr/>
            </p:nvGrpSpPr>
            <p:grpSpPr>
              <a:xfrm>
                <a:off x="5829300" y="4248150"/>
                <a:ext cx="114300" cy="114301"/>
                <a:chOff x="5829300" y="4248150"/>
                <a:chExt cx="114300" cy="114301"/>
              </a:xfrm>
            </p:grpSpPr>
            <p:sp>
              <p:nvSpPr>
                <p:cNvPr id="186" name="Freeform 186"/>
                <p:cNvSpPr/>
                <p:nvPr/>
              </p:nvSpPr>
              <p:spPr>
                <a:xfrm>
                  <a:off x="5842000" y="42481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C3B2F"/>
                  </a:solidFill>
                </a:ln>
              </p:spPr>
            </p:sp>
            <p:sp>
              <p:nvSpPr>
                <p:cNvPr id="187" name="Freeform 187"/>
                <p:cNvSpPr/>
                <p:nvPr/>
              </p:nvSpPr>
              <p:spPr>
                <a:xfrm>
                  <a:off x="5829300" y="43243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7C3B2F"/>
                  </a:solidFill>
                </a:ln>
              </p:spPr>
            </p:sp>
            <p:sp>
              <p:nvSpPr>
                <p:cNvPr id="188" name="Freeform 188"/>
                <p:cNvSpPr/>
                <p:nvPr/>
              </p:nvSpPr>
              <p:spPr>
                <a:xfrm>
                  <a:off x="5911850" y="42489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7C3B2F"/>
                  </a:solidFill>
                </a:ln>
              </p:spPr>
            </p:sp>
            <p:sp>
              <p:nvSpPr>
                <p:cNvPr id="189" name="Freeform 189"/>
                <p:cNvSpPr/>
                <p:nvPr/>
              </p:nvSpPr>
              <p:spPr>
                <a:xfrm>
                  <a:off x="5924550" y="43253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7C3B2F"/>
                  </a:solidFill>
                </a:ln>
              </p:spPr>
            </p:sp>
          </p:grpSp>
          <p:sp>
            <p:nvSpPr>
              <p:cNvPr id="191" name="TextBox 191"/>
              <p:cNvSpPr txBox="1"/>
              <p:nvPr/>
            </p:nvSpPr>
            <p:spPr>
              <a:xfrm>
                <a:off x="6015038" y="4266486"/>
                <a:ext cx="932131"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 xml:space="preserve">反馈（Feedback）　</a:t>
                </a:r>
              </a:p>
            </p:txBody>
          </p:sp>
          <p:sp>
            <p:nvSpPr>
              <p:cNvPr id="192" name="TextBox 192"/>
              <p:cNvSpPr txBox="1"/>
              <p:nvPr/>
            </p:nvSpPr>
            <p:spPr>
              <a:xfrm>
                <a:off x="5805488" y="4492228"/>
                <a:ext cx="61262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显式、隐式、评分</a:t>
                </a:r>
              </a:p>
            </p:txBody>
          </p:sp>
          <p:sp>
            <p:nvSpPr>
              <p:cNvPr id="193" name="TextBox 193"/>
              <p:cNvSpPr txBox="1"/>
              <p:nvPr/>
            </p:nvSpPr>
            <p:spPr>
              <a:xfrm>
                <a:off x="5805488" y="4644628"/>
                <a:ext cx="537235"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问题类型、意见</a:t>
                </a:r>
              </a:p>
            </p:txBody>
          </p:sp>
        </p:grpSp>
        <p:grpSp>
          <p:nvGrpSpPr>
            <p:cNvPr id="201" name="obs-core"/>
            <p:cNvGrpSpPr/>
            <p:nvPr/>
          </p:nvGrpSpPr>
          <p:grpSpPr>
            <a:xfrm>
              <a:off x="4457700" y="2952750"/>
              <a:ext cx="723900" cy="723900"/>
              <a:chOff x="4457700" y="2952750"/>
              <a:chExt cx="723900" cy="723900"/>
            </a:xfrm>
          </p:grpSpPr>
          <p:sp>
            <p:nvSpPr>
              <p:cNvPr id="195" name="Ellipse 195"/>
              <p:cNvSpPr/>
              <p:nvPr/>
            </p:nvSpPr>
            <p:spPr>
              <a:xfrm>
                <a:off x="4457700" y="2952750"/>
                <a:ext cx="723900" cy="723900"/>
              </a:xfrm>
              <a:prstGeom prst="ellipse">
                <a:avLst/>
              </a:prstGeom>
              <a:solidFill>
                <a:srgbClr val="42140B"/>
              </a:solidFill>
              <a:ln>
                <a:noFill/>
              </a:ln>
            </p:spPr>
          </p:sp>
          <p:grpSp>
            <p:nvGrpSpPr>
              <p:cNvPr id="198" name="Group 198"/>
              <p:cNvGrpSpPr/>
              <p:nvPr/>
            </p:nvGrpSpPr>
            <p:grpSpPr>
              <a:xfrm>
                <a:off x="4741069" y="3119438"/>
                <a:ext cx="157163" cy="104775"/>
                <a:chOff x="4741069" y="3119438"/>
                <a:chExt cx="157163" cy="104775"/>
              </a:xfrm>
            </p:grpSpPr>
            <p:sp>
              <p:nvSpPr>
                <p:cNvPr id="196" name="Freeform 196"/>
                <p:cNvSpPr/>
                <p:nvPr/>
              </p:nvSpPr>
              <p:spPr>
                <a:xfrm>
                  <a:off x="4802188" y="3154363"/>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97" name="Freeform 197"/>
                <p:cNvSpPr/>
                <p:nvPr/>
              </p:nvSpPr>
              <p:spPr>
                <a:xfrm>
                  <a:off x="4741069" y="3119438"/>
                  <a:ext cx="157163" cy="104775"/>
                </a:xfrm>
                <a:custGeom>
                  <a:avLst/>
                  <a:gdLst/>
                  <a:ahLst/>
                  <a:cxnLst/>
                  <a:rect l="l" t="t" r="r" b="b"/>
                  <a:pathLst>
                    <a:path w="157163" h="104775">
                      <a:moveTo>
                        <a:pt x="157163" y="52388"/>
                      </a:moveTo>
                      <a:cubicBezTo>
                        <a:pt x="136208" y="87313"/>
                        <a:pt x="110014" y="104775"/>
                        <a:pt x="78581" y="104775"/>
                      </a:cubicBezTo>
                      <a:cubicBezTo>
                        <a:pt x="47149" y="104775"/>
                        <a:pt x="20955" y="87313"/>
                        <a:pt x="0" y="52388"/>
                      </a:cubicBezTo>
                      <a:cubicBezTo>
                        <a:pt x="20955" y="17463"/>
                        <a:pt x="47149" y="0"/>
                        <a:pt x="78581" y="0"/>
                      </a:cubicBezTo>
                      <a:cubicBezTo>
                        <a:pt x="110014" y="0"/>
                        <a:pt x="136208" y="17463"/>
                        <a:pt x="157163" y="52388"/>
                      </a:cubicBezTo>
                    </a:path>
                  </a:pathLst>
                </a:custGeom>
                <a:noFill/>
                <a:ln w="17463">
                  <a:solidFill>
                    <a:srgbClr val="FFFFFF"/>
                  </a:solidFill>
                </a:ln>
              </p:spPr>
            </p:sp>
          </p:grpSp>
          <p:sp>
            <p:nvSpPr>
              <p:cNvPr id="199" name="TextBox 199"/>
              <p:cNvSpPr txBox="1"/>
              <p:nvPr/>
            </p:nvSpPr>
            <p:spPr>
              <a:xfrm>
                <a:off x="4653344" y="3345180"/>
                <a:ext cx="33261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一次请求</a:t>
                </a:r>
              </a:p>
            </p:txBody>
          </p:sp>
          <p:sp>
            <p:nvSpPr>
              <p:cNvPr id="200" name="TextBox 200"/>
              <p:cNvSpPr txBox="1"/>
              <p:nvPr/>
            </p:nvSpPr>
            <p:spPr>
              <a:xfrm>
                <a:off x="4612958" y="3459480"/>
                <a:ext cx="413385" cy="119062"/>
              </a:xfrm>
              <a:prstGeom prst="rect">
                <a:avLst/>
              </a:prstGeom>
              <a:noFill/>
              <a:ln>
                <a:noFill/>
              </a:ln>
            </p:spPr>
            <p:txBody>
              <a:bodyPr wrap="none" lIns="0" tIns="0" rIns="0" bIns="0" anchor="t" anchorCtr="0">
                <a:spAutoFit/>
              </a:bodyPr>
              <a:lstStyle/>
              <a:p>
                <a:pPr algn="ctr"/>
                <a:r>
                  <a:rPr lang="zh-CN" sz="600" dirty="0">
                    <a:solidFill>
                      <a:srgbClr val="E4B7AF"/>
                    </a:solidFill>
                    <a:latin typeface="+mn-lt"/>
                    <a:ea typeface="+mn-ea"/>
                    <a:cs typeface="+mn-cs"/>
                  </a:rPr>
                  <a:t>全链路追踪</a:t>
                </a:r>
              </a:p>
            </p:txBody>
          </p:sp>
        </p:grpSp>
      </p:grpSp>
      <p:grpSp>
        <p:nvGrpSpPr>
          <p:cNvPr id="278" name="release-gates"/>
          <p:cNvGrpSpPr/>
          <p:nvPr/>
        </p:nvGrpSpPr>
        <p:grpSpPr>
          <a:xfrm>
            <a:off x="7353300" y="1447800"/>
            <a:ext cx="4610100" cy="3600450"/>
            <a:chOff x="7353300" y="1447800"/>
            <a:chExt cx="4610100" cy="3600450"/>
          </a:xfrm>
        </p:grpSpPr>
        <p:sp>
          <p:nvSpPr>
            <p:cNvPr id="203" name="Rectangle 203"/>
            <p:cNvSpPr/>
            <p:nvPr/>
          </p:nvSpPr>
          <p:spPr>
            <a:xfrm>
              <a:off x="7353300" y="1447800"/>
              <a:ext cx="4610100" cy="3600450"/>
            </a:xfrm>
            <a:prstGeom prst="roundRect">
              <a:avLst>
                <a:gd name="adj" fmla="val 2116"/>
              </a:avLst>
            </a:prstGeom>
            <a:solidFill>
              <a:srgbClr val="FFFFFF"/>
            </a:solidFill>
            <a:ln w="9525">
              <a:solidFill>
                <a:srgbClr val="D9E8C6"/>
              </a:solidFill>
            </a:ln>
          </p:spPr>
        </p:sp>
        <p:sp>
          <p:nvSpPr>
            <p:cNvPr id="204" name="Rectangle 204"/>
            <p:cNvSpPr/>
            <p:nvPr/>
          </p:nvSpPr>
          <p:spPr>
            <a:xfrm>
              <a:off x="7353300" y="1447800"/>
              <a:ext cx="4610100" cy="228600"/>
            </a:xfrm>
            <a:prstGeom prst="roundRect">
              <a:avLst>
                <a:gd name="adj" fmla="val 33333"/>
              </a:avLst>
            </a:prstGeom>
            <a:solidFill>
              <a:srgbClr val="42140B"/>
            </a:solidFill>
            <a:ln>
              <a:noFill/>
            </a:ln>
          </p:spPr>
        </p:sp>
        <p:sp>
          <p:nvSpPr>
            <p:cNvPr id="205" name="Rectangle 205"/>
            <p:cNvSpPr/>
            <p:nvPr/>
          </p:nvSpPr>
          <p:spPr>
            <a:xfrm>
              <a:off x="7353300" y="1581150"/>
              <a:ext cx="4610100" cy="95250"/>
            </a:xfrm>
            <a:prstGeom prst="rect">
              <a:avLst/>
            </a:prstGeom>
            <a:solidFill>
              <a:srgbClr val="42140B"/>
            </a:solidFill>
            <a:ln>
              <a:noFill/>
            </a:ln>
          </p:spPr>
        </p:sp>
        <p:sp>
          <p:nvSpPr>
            <p:cNvPr id="206" name="TextBox 206"/>
            <p:cNvSpPr txBox="1"/>
            <p:nvPr/>
          </p:nvSpPr>
          <p:spPr>
            <a:xfrm>
              <a:off x="8878199" y="1520666"/>
              <a:ext cx="156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 xml:space="preserve">发布门禁（Release Gates）　</a:t>
              </a:r>
            </a:p>
          </p:txBody>
        </p:sp>
        <p:grpSp>
          <p:nvGrpSpPr>
            <p:cNvPr id="221" name="gate-quality"/>
            <p:cNvGrpSpPr/>
            <p:nvPr/>
          </p:nvGrpSpPr>
          <p:grpSpPr>
            <a:xfrm>
              <a:off x="7429500" y="1790700"/>
              <a:ext cx="4457700" cy="666750"/>
              <a:chOff x="7429500" y="1790700"/>
              <a:chExt cx="4457700" cy="666750"/>
            </a:xfrm>
          </p:grpSpPr>
          <p:sp>
            <p:nvSpPr>
              <p:cNvPr id="207" name="Rectangle 207"/>
              <p:cNvSpPr/>
              <p:nvPr/>
            </p:nvSpPr>
            <p:spPr>
              <a:xfrm>
                <a:off x="7429500" y="1790700"/>
                <a:ext cx="4457700" cy="666750"/>
              </a:xfrm>
              <a:prstGeom prst="roundRect">
                <a:avLst>
                  <a:gd name="adj" fmla="val 8571"/>
                </a:avLst>
              </a:prstGeom>
              <a:solidFill>
                <a:srgbClr val="F4F8EC"/>
              </a:solidFill>
              <a:ln>
                <a:noFill/>
              </a:ln>
            </p:spPr>
          </p:sp>
          <p:sp>
            <p:nvSpPr>
              <p:cNvPr id="208" name="Ellipse 208"/>
              <p:cNvSpPr/>
              <p:nvPr/>
            </p:nvSpPr>
            <p:spPr>
              <a:xfrm>
                <a:off x="7534275" y="1981200"/>
                <a:ext cx="285750" cy="285750"/>
              </a:xfrm>
              <a:prstGeom prst="ellipse">
                <a:avLst/>
              </a:prstGeom>
              <a:solidFill>
                <a:srgbClr val="FFFFFF"/>
              </a:solidFill>
              <a:ln w="9525">
                <a:solidFill>
                  <a:srgbClr val="BE776A"/>
                </a:solidFill>
              </a:ln>
            </p:spPr>
          </p:sp>
          <p:grpSp>
            <p:nvGrpSpPr>
              <p:cNvPr id="211" name="Group 211"/>
              <p:cNvGrpSpPr/>
              <p:nvPr/>
            </p:nvGrpSpPr>
            <p:grpSpPr>
              <a:xfrm>
                <a:off x="7603215" y="2059781"/>
                <a:ext cx="139505" cy="128588"/>
                <a:chOff x="7603215" y="2059781"/>
                <a:chExt cx="139505" cy="128588"/>
              </a:xfrm>
            </p:grpSpPr>
            <p:sp>
              <p:nvSpPr>
                <p:cNvPr id="209" name="Freeform 209"/>
                <p:cNvSpPr/>
                <p:nvPr/>
              </p:nvSpPr>
              <p:spPr>
                <a:xfrm>
                  <a:off x="7603215" y="205978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7C3B2F"/>
                  </a:solidFill>
                </a:ln>
              </p:spPr>
            </p:sp>
            <p:sp>
              <p:nvSpPr>
                <p:cNvPr id="210" name="Freeform 210"/>
                <p:cNvSpPr/>
                <p:nvPr/>
              </p:nvSpPr>
              <p:spPr>
                <a:xfrm>
                  <a:off x="7698581" y="2159794"/>
                  <a:ext cx="42862" cy="28575"/>
                </a:xfrm>
                <a:custGeom>
                  <a:avLst/>
                  <a:gdLst/>
                  <a:ahLst/>
                  <a:cxnLst/>
                  <a:rect l="l" t="t" r="r" b="b"/>
                  <a:pathLst>
                    <a:path w="42862" h="28575">
                      <a:moveTo>
                        <a:pt x="0" y="14288"/>
                      </a:moveTo>
                      <a:lnTo>
                        <a:pt x="14288" y="28575"/>
                      </a:lnTo>
                      <a:lnTo>
                        <a:pt x="42862" y="0"/>
                      </a:lnTo>
                    </a:path>
                  </a:pathLst>
                </a:custGeom>
                <a:noFill/>
                <a:ln w="14288">
                  <a:solidFill>
                    <a:srgbClr val="7C3B2F"/>
                  </a:solidFill>
                </a:ln>
              </p:spPr>
            </p:sp>
          </p:grpSp>
          <p:sp>
            <p:nvSpPr>
              <p:cNvPr id="212" name="TextBox 212"/>
              <p:cNvSpPr txBox="1"/>
              <p:nvPr/>
            </p:nvSpPr>
            <p:spPr>
              <a:xfrm>
                <a:off x="7900988" y="1919288"/>
                <a:ext cx="89374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 xml:space="preserve">质量（Quality）　</a:t>
                </a:r>
              </a:p>
            </p:txBody>
          </p:sp>
          <p:sp>
            <p:nvSpPr>
              <p:cNvPr id="213" name="TextBox 213"/>
              <p:cNvSpPr txBox="1"/>
              <p:nvPr/>
            </p:nvSpPr>
            <p:spPr>
              <a:xfrm>
                <a:off x="7900988" y="2110978"/>
                <a:ext cx="54854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 xml:space="preserve">准确率 ≥ 阈值　</a:t>
                </a:r>
              </a:p>
            </p:txBody>
          </p:sp>
          <p:sp>
            <p:nvSpPr>
              <p:cNvPr id="214" name="TextBox 214"/>
              <p:cNvSpPr txBox="1"/>
              <p:nvPr/>
            </p:nvSpPr>
            <p:spPr>
              <a:xfrm>
                <a:off x="7900988" y="2263378"/>
                <a:ext cx="699318"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 xml:space="preserve">引用正确率 ≥ 阈值　</a:t>
                </a:r>
              </a:p>
            </p:txBody>
          </p:sp>
          <p:sp>
            <p:nvSpPr>
              <p:cNvPr id="215" name="TextBox 215"/>
              <p:cNvSpPr txBox="1"/>
              <p:nvPr/>
            </p:nvSpPr>
            <p:spPr>
              <a:xfrm>
                <a:off x="11359274" y="1890474"/>
                <a:ext cx="141453" cy="97631"/>
              </a:xfrm>
              <a:prstGeom prst="rect">
                <a:avLst/>
              </a:prstGeom>
              <a:noFill/>
              <a:ln>
                <a:noFill/>
              </a:ln>
            </p:spPr>
            <p:txBody>
              <a:bodyPr wrap="none" lIns="0" tIns="0" rIns="0" bIns="0" anchor="t" anchorCtr="0">
                <a:spAutoFit/>
              </a:bodyPr>
              <a:lstStyle/>
              <a:p>
                <a:pPr algn="ctr"/>
                <a:r>
                  <a:rPr lang="zh-CN" sz="490" dirty="0">
                    <a:solidFill>
                      <a:srgbClr val="66705F"/>
                    </a:solidFill>
                    <a:latin typeface="+mn-lt"/>
                    <a:ea typeface="+mn-ea"/>
                    <a:cs typeface="+mn-cs"/>
                  </a:rPr>
                  <a:t>阈值</a:t>
                </a:r>
              </a:p>
            </p:txBody>
          </p:sp>
          <p:sp>
            <p:nvSpPr>
              <p:cNvPr id="216" name="Line 216"/>
              <p:cNvSpPr/>
              <p:nvPr/>
            </p:nvSpPr>
            <p:spPr>
              <a:xfrm>
                <a:off x="11430000" y="1981200"/>
                <a:ext cx="9525" cy="419100"/>
              </a:xfrm>
              <a:custGeom>
                <a:avLst/>
                <a:gdLst/>
                <a:ahLst/>
                <a:cxnLst/>
                <a:rect l="l" t="t" r="r" b="b"/>
                <a:pathLst>
                  <a:path w="9525" h="419100">
                    <a:moveTo>
                      <a:pt x="0" y="0"/>
                    </a:moveTo>
                    <a:lnTo>
                      <a:pt x="0" y="419100"/>
                    </a:lnTo>
                  </a:path>
                </a:pathLst>
              </a:custGeom>
              <a:noFill/>
              <a:ln w="9525">
                <a:solidFill>
                  <a:srgbClr val="9AA395"/>
                </a:solidFill>
                <a:prstDash val="sysDot"/>
              </a:ln>
            </p:spPr>
          </p:sp>
          <p:sp>
            <p:nvSpPr>
              <p:cNvPr id="217" name="Rectangle 217"/>
              <p:cNvSpPr/>
              <p:nvPr/>
            </p:nvSpPr>
            <p:spPr>
              <a:xfrm>
                <a:off x="10096500" y="2114550"/>
                <a:ext cx="1676400" cy="57150"/>
              </a:xfrm>
              <a:prstGeom prst="roundRect">
                <a:avLst>
                  <a:gd name="adj" fmla="val 50000"/>
                </a:avLst>
              </a:prstGeom>
              <a:solidFill>
                <a:srgbClr val="E7F2D8"/>
              </a:solidFill>
              <a:ln>
                <a:noFill/>
              </a:ln>
            </p:spPr>
          </p:sp>
          <p:sp>
            <p:nvSpPr>
              <p:cNvPr id="218" name="Rectangle 218"/>
              <p:cNvSpPr/>
              <p:nvPr/>
            </p:nvSpPr>
            <p:spPr>
              <a:xfrm>
                <a:off x="10096500" y="2114550"/>
                <a:ext cx="1428750" cy="57150"/>
              </a:xfrm>
              <a:prstGeom prst="roundRect">
                <a:avLst>
                  <a:gd name="adj" fmla="val 50000"/>
                </a:avLst>
              </a:prstGeom>
              <a:solidFill>
                <a:srgbClr val="7C3B2F"/>
              </a:solidFill>
              <a:ln>
                <a:noFill/>
              </a:ln>
            </p:spPr>
          </p:sp>
          <p:sp>
            <p:nvSpPr>
              <p:cNvPr id="219" name="Rectangle 219"/>
              <p:cNvSpPr/>
              <p:nvPr/>
            </p:nvSpPr>
            <p:spPr>
              <a:xfrm>
                <a:off x="10096500" y="2266950"/>
                <a:ext cx="1676400" cy="57150"/>
              </a:xfrm>
              <a:prstGeom prst="roundRect">
                <a:avLst>
                  <a:gd name="adj" fmla="val 50000"/>
                </a:avLst>
              </a:prstGeom>
              <a:solidFill>
                <a:srgbClr val="E7F2D8"/>
              </a:solidFill>
              <a:ln>
                <a:noFill/>
              </a:ln>
            </p:spPr>
          </p:sp>
          <p:sp>
            <p:nvSpPr>
              <p:cNvPr id="220" name="Rectangle 220"/>
              <p:cNvSpPr/>
              <p:nvPr/>
            </p:nvSpPr>
            <p:spPr>
              <a:xfrm>
                <a:off x="10096500" y="2266950"/>
                <a:ext cx="1219200" cy="57150"/>
              </a:xfrm>
              <a:prstGeom prst="roundRect">
                <a:avLst>
                  <a:gd name="adj" fmla="val 50000"/>
                </a:avLst>
              </a:prstGeom>
              <a:solidFill>
                <a:srgbClr val="CE9085"/>
              </a:solidFill>
              <a:ln>
                <a:noFill/>
              </a:ln>
            </p:spPr>
          </p:sp>
        </p:grpSp>
        <p:grpSp>
          <p:nvGrpSpPr>
            <p:cNvPr id="237" name="gate-safety"/>
            <p:cNvGrpSpPr/>
            <p:nvPr/>
          </p:nvGrpSpPr>
          <p:grpSpPr>
            <a:xfrm>
              <a:off x="7429500" y="2533650"/>
              <a:ext cx="4457700" cy="666750"/>
              <a:chOff x="7429500" y="2533650"/>
              <a:chExt cx="4457700" cy="666750"/>
            </a:xfrm>
          </p:grpSpPr>
          <p:sp>
            <p:nvSpPr>
              <p:cNvPr id="222" name="Rectangle 222"/>
              <p:cNvSpPr/>
              <p:nvPr/>
            </p:nvSpPr>
            <p:spPr>
              <a:xfrm>
                <a:off x="7429500" y="2533650"/>
                <a:ext cx="4457700" cy="666750"/>
              </a:xfrm>
              <a:prstGeom prst="roundRect">
                <a:avLst>
                  <a:gd name="adj" fmla="val 8571"/>
                </a:avLst>
              </a:prstGeom>
              <a:solidFill>
                <a:srgbClr val="F4F8EC"/>
              </a:solidFill>
              <a:ln>
                <a:noFill/>
              </a:ln>
            </p:spPr>
          </p:sp>
          <p:sp>
            <p:nvSpPr>
              <p:cNvPr id="223" name="Ellipse 223"/>
              <p:cNvSpPr/>
              <p:nvPr/>
            </p:nvSpPr>
            <p:spPr>
              <a:xfrm>
                <a:off x="7534275" y="2724150"/>
                <a:ext cx="285750" cy="285750"/>
              </a:xfrm>
              <a:prstGeom prst="ellipse">
                <a:avLst/>
              </a:prstGeom>
              <a:solidFill>
                <a:srgbClr val="FFFFFF"/>
              </a:solidFill>
              <a:ln w="9525">
                <a:solidFill>
                  <a:srgbClr val="BE776A"/>
                </a:solidFill>
              </a:ln>
            </p:spPr>
          </p:sp>
          <p:grpSp>
            <p:nvGrpSpPr>
              <p:cNvPr id="227" name="Group 227"/>
              <p:cNvGrpSpPr/>
              <p:nvPr/>
            </p:nvGrpSpPr>
            <p:grpSpPr>
              <a:xfrm>
                <a:off x="7627144" y="2802731"/>
                <a:ext cx="100012" cy="128588"/>
                <a:chOff x="7627144" y="2802731"/>
                <a:chExt cx="100012" cy="128588"/>
              </a:xfrm>
            </p:grpSpPr>
            <p:sp>
              <p:nvSpPr>
                <p:cNvPr id="224" name="Freeform 224"/>
                <p:cNvSpPr/>
                <p:nvPr/>
              </p:nvSpPr>
              <p:spPr>
                <a:xfrm>
                  <a:off x="7627144" y="2859881"/>
                  <a:ext cx="100012" cy="71438"/>
                </a:xfrm>
                <a:custGeom>
                  <a:avLst/>
                  <a:gdLst/>
                  <a:ahLst/>
                  <a:cxnLst/>
                  <a:rect l="l" t="t" r="r" b="b"/>
                  <a:pathLst>
                    <a:path w="100012" h="71438">
                      <a:moveTo>
                        <a:pt x="0" y="14288"/>
                      </a:moveTo>
                      <a:cubicBezTo>
                        <a:pt x="0" y="6397"/>
                        <a:pt x="6397" y="0"/>
                        <a:pt x="14288" y="0"/>
                      </a:cubicBezTo>
                      <a:lnTo>
                        <a:pt x="85725" y="0"/>
                      </a:lnTo>
                      <a:cubicBezTo>
                        <a:pt x="93616" y="0"/>
                        <a:pt x="100012" y="6397"/>
                        <a:pt x="100012" y="14288"/>
                      </a:cubicBezTo>
                      <a:lnTo>
                        <a:pt x="100012" y="57150"/>
                      </a:lnTo>
                      <a:cubicBezTo>
                        <a:pt x="100012" y="65041"/>
                        <a:pt x="93616" y="71438"/>
                        <a:pt x="85725" y="71438"/>
                      </a:cubicBezTo>
                      <a:lnTo>
                        <a:pt x="14288" y="71438"/>
                      </a:lnTo>
                      <a:cubicBezTo>
                        <a:pt x="6397" y="71438"/>
                        <a:pt x="0" y="65041"/>
                        <a:pt x="0" y="57150"/>
                      </a:cubicBezTo>
                      <a:lnTo>
                        <a:pt x="0" y="14288"/>
                      </a:lnTo>
                    </a:path>
                  </a:pathLst>
                </a:custGeom>
                <a:noFill/>
                <a:ln w="14288">
                  <a:solidFill>
                    <a:srgbClr val="7C3B2F"/>
                  </a:solidFill>
                </a:ln>
              </p:spPr>
            </p:sp>
            <p:sp>
              <p:nvSpPr>
                <p:cNvPr id="225" name="Freeform 225"/>
                <p:cNvSpPr/>
                <p:nvPr/>
              </p:nvSpPr>
              <p:spPr>
                <a:xfrm>
                  <a:off x="7670006" y="28884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C3B2F"/>
                  </a:solidFill>
                </a:ln>
              </p:spPr>
            </p:sp>
            <p:sp>
              <p:nvSpPr>
                <p:cNvPr id="226" name="Freeform 226"/>
                <p:cNvSpPr/>
                <p:nvPr/>
              </p:nvSpPr>
              <p:spPr>
                <a:xfrm>
                  <a:off x="7648575" y="2802731"/>
                  <a:ext cx="57150" cy="57150"/>
                </a:xfrm>
                <a:custGeom>
                  <a:avLst/>
                  <a:gdLst/>
                  <a:ahLst/>
                  <a:cxnLst/>
                  <a:rect l="l" t="t" r="r" b="b"/>
                  <a:pathLst>
                    <a:path w="57150" h="57150">
                      <a:moveTo>
                        <a:pt x="0" y="57150"/>
                      </a:moveTo>
                      <a:lnTo>
                        <a:pt x="0" y="28575"/>
                      </a:lnTo>
                      <a:cubicBezTo>
                        <a:pt x="0" y="12793"/>
                        <a:pt x="12793" y="0"/>
                        <a:pt x="28575" y="0"/>
                      </a:cubicBezTo>
                      <a:cubicBezTo>
                        <a:pt x="44357" y="0"/>
                        <a:pt x="57150" y="12793"/>
                        <a:pt x="57150" y="28575"/>
                      </a:cubicBezTo>
                      <a:lnTo>
                        <a:pt x="57150" y="57150"/>
                      </a:lnTo>
                    </a:path>
                  </a:pathLst>
                </a:custGeom>
                <a:noFill/>
                <a:ln w="14288">
                  <a:solidFill>
                    <a:srgbClr val="7C3B2F"/>
                  </a:solidFill>
                </a:ln>
              </p:spPr>
            </p:sp>
          </p:grpSp>
          <p:sp>
            <p:nvSpPr>
              <p:cNvPr id="228" name="TextBox 228"/>
              <p:cNvSpPr txBox="1"/>
              <p:nvPr/>
            </p:nvSpPr>
            <p:spPr>
              <a:xfrm>
                <a:off x="7900988" y="2662238"/>
                <a:ext cx="867494"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 xml:space="preserve">安全（Safety）　</a:t>
                </a:r>
              </a:p>
            </p:txBody>
          </p:sp>
          <p:sp>
            <p:nvSpPr>
              <p:cNvPr id="229" name="TextBox 229"/>
              <p:cNvSpPr txBox="1"/>
              <p:nvPr/>
            </p:nvSpPr>
            <p:spPr>
              <a:xfrm>
                <a:off x="7900988" y="2853928"/>
                <a:ext cx="54854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 xml:space="preserve">有害率 ≤ 阈值　</a:t>
                </a:r>
              </a:p>
            </p:txBody>
          </p:sp>
          <p:sp>
            <p:nvSpPr>
              <p:cNvPr id="230" name="TextBox 230"/>
              <p:cNvSpPr txBox="1"/>
              <p:nvPr/>
            </p:nvSpPr>
            <p:spPr>
              <a:xfrm>
                <a:off x="7900988" y="3006328"/>
                <a:ext cx="54854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 xml:space="preserve">越权率 ≤ 阈值　</a:t>
                </a:r>
              </a:p>
            </p:txBody>
          </p:sp>
          <p:sp>
            <p:nvSpPr>
              <p:cNvPr id="231" name="TextBox 231"/>
              <p:cNvSpPr txBox="1"/>
              <p:nvPr/>
            </p:nvSpPr>
            <p:spPr>
              <a:xfrm>
                <a:off x="11359274" y="2633424"/>
                <a:ext cx="141453" cy="97631"/>
              </a:xfrm>
              <a:prstGeom prst="rect">
                <a:avLst/>
              </a:prstGeom>
              <a:noFill/>
              <a:ln>
                <a:noFill/>
              </a:ln>
            </p:spPr>
            <p:txBody>
              <a:bodyPr wrap="none" lIns="0" tIns="0" rIns="0" bIns="0" anchor="t" anchorCtr="0">
                <a:spAutoFit/>
              </a:bodyPr>
              <a:lstStyle/>
              <a:p>
                <a:pPr algn="ctr"/>
                <a:r>
                  <a:rPr lang="zh-CN" sz="490" dirty="0">
                    <a:solidFill>
                      <a:srgbClr val="66705F"/>
                    </a:solidFill>
                    <a:latin typeface="+mn-lt"/>
                    <a:ea typeface="+mn-ea"/>
                    <a:cs typeface="+mn-cs"/>
                  </a:rPr>
                  <a:t>阈值</a:t>
                </a:r>
              </a:p>
            </p:txBody>
          </p:sp>
          <p:sp>
            <p:nvSpPr>
              <p:cNvPr id="232" name="Line 232"/>
              <p:cNvSpPr/>
              <p:nvPr/>
            </p:nvSpPr>
            <p:spPr>
              <a:xfrm>
                <a:off x="11430000" y="2724150"/>
                <a:ext cx="9525" cy="419100"/>
              </a:xfrm>
              <a:custGeom>
                <a:avLst/>
                <a:gdLst/>
                <a:ahLst/>
                <a:cxnLst/>
                <a:rect l="l" t="t" r="r" b="b"/>
                <a:pathLst>
                  <a:path w="9525" h="419100">
                    <a:moveTo>
                      <a:pt x="0" y="0"/>
                    </a:moveTo>
                    <a:lnTo>
                      <a:pt x="0" y="419100"/>
                    </a:lnTo>
                  </a:path>
                </a:pathLst>
              </a:custGeom>
              <a:noFill/>
              <a:ln w="9525">
                <a:solidFill>
                  <a:srgbClr val="9AA395"/>
                </a:solidFill>
                <a:prstDash val="sysDot"/>
              </a:ln>
            </p:spPr>
          </p:sp>
          <p:sp>
            <p:nvSpPr>
              <p:cNvPr id="233" name="Rectangle 233"/>
              <p:cNvSpPr/>
              <p:nvPr/>
            </p:nvSpPr>
            <p:spPr>
              <a:xfrm>
                <a:off x="10096500" y="2857500"/>
                <a:ext cx="1676400" cy="57150"/>
              </a:xfrm>
              <a:prstGeom prst="roundRect">
                <a:avLst>
                  <a:gd name="adj" fmla="val 50000"/>
                </a:avLst>
              </a:prstGeom>
              <a:solidFill>
                <a:srgbClr val="E7F2D8"/>
              </a:solidFill>
              <a:ln>
                <a:noFill/>
              </a:ln>
            </p:spPr>
          </p:sp>
          <p:sp>
            <p:nvSpPr>
              <p:cNvPr id="234" name="Rectangle 234"/>
              <p:cNvSpPr/>
              <p:nvPr/>
            </p:nvSpPr>
            <p:spPr>
              <a:xfrm>
                <a:off x="10096500" y="2857500"/>
                <a:ext cx="1047750" cy="57150"/>
              </a:xfrm>
              <a:prstGeom prst="roundRect">
                <a:avLst>
                  <a:gd name="adj" fmla="val 50000"/>
                </a:avLst>
              </a:prstGeom>
              <a:solidFill>
                <a:srgbClr val="7C3B2F"/>
              </a:solidFill>
              <a:ln>
                <a:noFill/>
              </a:ln>
            </p:spPr>
          </p:sp>
          <p:sp>
            <p:nvSpPr>
              <p:cNvPr id="235" name="Rectangle 235"/>
              <p:cNvSpPr/>
              <p:nvPr/>
            </p:nvSpPr>
            <p:spPr>
              <a:xfrm>
                <a:off x="10096500" y="3009900"/>
                <a:ext cx="1676400" cy="57150"/>
              </a:xfrm>
              <a:prstGeom prst="roundRect">
                <a:avLst>
                  <a:gd name="adj" fmla="val 50000"/>
                </a:avLst>
              </a:prstGeom>
              <a:solidFill>
                <a:srgbClr val="E7F2D8"/>
              </a:solidFill>
              <a:ln>
                <a:noFill/>
              </a:ln>
            </p:spPr>
          </p:sp>
          <p:sp>
            <p:nvSpPr>
              <p:cNvPr id="236" name="Rectangle 236"/>
              <p:cNvSpPr/>
              <p:nvPr/>
            </p:nvSpPr>
            <p:spPr>
              <a:xfrm>
                <a:off x="10096500" y="3009900"/>
                <a:ext cx="914400" cy="57150"/>
              </a:xfrm>
              <a:prstGeom prst="roundRect">
                <a:avLst>
                  <a:gd name="adj" fmla="val 50000"/>
                </a:avLst>
              </a:prstGeom>
              <a:solidFill>
                <a:srgbClr val="7C3B2F"/>
              </a:solidFill>
              <a:ln>
                <a:noFill/>
              </a:ln>
            </p:spPr>
          </p:sp>
        </p:grpSp>
        <p:grpSp>
          <p:nvGrpSpPr>
            <p:cNvPr id="252" name="gate-performance"/>
            <p:cNvGrpSpPr/>
            <p:nvPr/>
          </p:nvGrpSpPr>
          <p:grpSpPr>
            <a:xfrm>
              <a:off x="7429500" y="3276600"/>
              <a:ext cx="4457700" cy="666750"/>
              <a:chOff x="7429500" y="3276600"/>
              <a:chExt cx="4457700" cy="666750"/>
            </a:xfrm>
          </p:grpSpPr>
          <p:sp>
            <p:nvSpPr>
              <p:cNvPr id="238" name="Rectangle 238"/>
              <p:cNvSpPr/>
              <p:nvPr/>
            </p:nvSpPr>
            <p:spPr>
              <a:xfrm>
                <a:off x="7429500" y="3276600"/>
                <a:ext cx="4457700" cy="666750"/>
              </a:xfrm>
              <a:prstGeom prst="roundRect">
                <a:avLst>
                  <a:gd name="adj" fmla="val 8571"/>
                </a:avLst>
              </a:prstGeom>
              <a:solidFill>
                <a:srgbClr val="F4F8EC"/>
              </a:solidFill>
              <a:ln>
                <a:noFill/>
              </a:ln>
            </p:spPr>
          </p:sp>
          <p:sp>
            <p:nvSpPr>
              <p:cNvPr id="239" name="Ellipse 239"/>
              <p:cNvSpPr/>
              <p:nvPr/>
            </p:nvSpPr>
            <p:spPr>
              <a:xfrm>
                <a:off x="7534275" y="3467100"/>
                <a:ext cx="285750" cy="285750"/>
              </a:xfrm>
              <a:prstGeom prst="ellipse">
                <a:avLst/>
              </a:prstGeom>
              <a:solidFill>
                <a:srgbClr val="FFFFFF"/>
              </a:solidFill>
              <a:ln w="9525">
                <a:solidFill>
                  <a:srgbClr val="BE776A"/>
                </a:solidFill>
              </a:ln>
            </p:spPr>
          </p:sp>
          <p:grpSp>
            <p:nvGrpSpPr>
              <p:cNvPr id="242" name="Group 242"/>
              <p:cNvGrpSpPr/>
              <p:nvPr/>
            </p:nvGrpSpPr>
            <p:grpSpPr>
              <a:xfrm>
                <a:off x="7612856" y="3545681"/>
                <a:ext cx="128588" cy="128588"/>
                <a:chOff x="7612856" y="3545681"/>
                <a:chExt cx="128588" cy="128588"/>
              </a:xfrm>
            </p:grpSpPr>
            <p:sp>
              <p:nvSpPr>
                <p:cNvPr id="240" name="Freeform 240"/>
                <p:cNvSpPr/>
                <p:nvPr/>
              </p:nvSpPr>
              <p:spPr>
                <a:xfrm>
                  <a:off x="7612856" y="35456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C3B2F"/>
                  </a:solidFill>
                </a:ln>
              </p:spPr>
            </p:sp>
            <p:sp>
              <p:nvSpPr>
                <p:cNvPr id="241" name="Freeform 241"/>
                <p:cNvSpPr/>
                <p:nvPr/>
              </p:nvSpPr>
              <p:spPr>
                <a:xfrm>
                  <a:off x="7677150" y="3574256"/>
                  <a:ext cx="21431" cy="57150"/>
                </a:xfrm>
                <a:custGeom>
                  <a:avLst/>
                  <a:gdLst/>
                  <a:ahLst/>
                  <a:cxnLst/>
                  <a:rect l="l" t="t" r="r" b="b"/>
                  <a:pathLst>
                    <a:path w="21431" h="57150">
                      <a:moveTo>
                        <a:pt x="0" y="0"/>
                      </a:moveTo>
                      <a:lnTo>
                        <a:pt x="0" y="35719"/>
                      </a:lnTo>
                      <a:lnTo>
                        <a:pt x="21431" y="57150"/>
                      </a:lnTo>
                    </a:path>
                  </a:pathLst>
                </a:custGeom>
                <a:noFill/>
                <a:ln w="14288">
                  <a:solidFill>
                    <a:srgbClr val="7C3B2F"/>
                  </a:solidFill>
                </a:ln>
              </p:spPr>
            </p:sp>
          </p:grpSp>
          <p:sp>
            <p:nvSpPr>
              <p:cNvPr id="243" name="TextBox 243"/>
              <p:cNvSpPr txBox="1"/>
              <p:nvPr/>
            </p:nvSpPr>
            <p:spPr>
              <a:xfrm>
                <a:off x="7900988" y="3405188"/>
                <a:ext cx="1180342"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 xml:space="preserve">性能（Performance）　</a:t>
                </a:r>
              </a:p>
            </p:txBody>
          </p:sp>
          <p:sp>
            <p:nvSpPr>
              <p:cNvPr id="244" name="TextBox 244"/>
              <p:cNvSpPr txBox="1"/>
              <p:nvPr/>
            </p:nvSpPr>
            <p:spPr>
              <a:xfrm>
                <a:off x="7900988" y="3596878"/>
                <a:ext cx="628482"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 xml:space="preserve">P95 延迟 ≤ 阈值　</a:t>
                </a:r>
              </a:p>
            </p:txBody>
          </p:sp>
          <p:sp>
            <p:nvSpPr>
              <p:cNvPr id="245" name="TextBox 245"/>
              <p:cNvSpPr txBox="1"/>
              <p:nvPr/>
            </p:nvSpPr>
            <p:spPr>
              <a:xfrm>
                <a:off x="7900988" y="3749278"/>
                <a:ext cx="54854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 xml:space="preserve">超时率 ≤ 阈值　</a:t>
                </a:r>
              </a:p>
            </p:txBody>
          </p:sp>
          <p:sp>
            <p:nvSpPr>
              <p:cNvPr id="246" name="TextBox 246"/>
              <p:cNvSpPr txBox="1"/>
              <p:nvPr/>
            </p:nvSpPr>
            <p:spPr>
              <a:xfrm>
                <a:off x="11359274" y="3376374"/>
                <a:ext cx="141453" cy="97631"/>
              </a:xfrm>
              <a:prstGeom prst="rect">
                <a:avLst/>
              </a:prstGeom>
              <a:noFill/>
              <a:ln>
                <a:noFill/>
              </a:ln>
            </p:spPr>
            <p:txBody>
              <a:bodyPr wrap="none" lIns="0" tIns="0" rIns="0" bIns="0" anchor="t" anchorCtr="0">
                <a:spAutoFit/>
              </a:bodyPr>
              <a:lstStyle/>
              <a:p>
                <a:pPr algn="ctr"/>
                <a:r>
                  <a:rPr lang="zh-CN" sz="490" dirty="0">
                    <a:solidFill>
                      <a:srgbClr val="66705F"/>
                    </a:solidFill>
                    <a:latin typeface="+mn-lt"/>
                    <a:ea typeface="+mn-ea"/>
                    <a:cs typeface="+mn-cs"/>
                  </a:rPr>
                  <a:t>阈值</a:t>
                </a:r>
              </a:p>
            </p:txBody>
          </p:sp>
          <p:sp>
            <p:nvSpPr>
              <p:cNvPr id="247" name="Line 247"/>
              <p:cNvSpPr/>
              <p:nvPr/>
            </p:nvSpPr>
            <p:spPr>
              <a:xfrm>
                <a:off x="11430000" y="3467100"/>
                <a:ext cx="9525" cy="419100"/>
              </a:xfrm>
              <a:custGeom>
                <a:avLst/>
                <a:gdLst/>
                <a:ahLst/>
                <a:cxnLst/>
                <a:rect l="l" t="t" r="r" b="b"/>
                <a:pathLst>
                  <a:path w="9525" h="419100">
                    <a:moveTo>
                      <a:pt x="0" y="0"/>
                    </a:moveTo>
                    <a:lnTo>
                      <a:pt x="0" y="419100"/>
                    </a:lnTo>
                  </a:path>
                </a:pathLst>
              </a:custGeom>
              <a:noFill/>
              <a:ln w="9525">
                <a:solidFill>
                  <a:srgbClr val="9AA395"/>
                </a:solidFill>
                <a:prstDash val="sysDot"/>
              </a:ln>
            </p:spPr>
          </p:sp>
          <p:sp>
            <p:nvSpPr>
              <p:cNvPr id="248" name="Rectangle 248"/>
              <p:cNvSpPr/>
              <p:nvPr/>
            </p:nvSpPr>
            <p:spPr>
              <a:xfrm>
                <a:off x="10096500" y="3600450"/>
                <a:ext cx="1676400" cy="57150"/>
              </a:xfrm>
              <a:prstGeom prst="roundRect">
                <a:avLst>
                  <a:gd name="adj" fmla="val 50000"/>
                </a:avLst>
              </a:prstGeom>
              <a:solidFill>
                <a:srgbClr val="E7F2D8"/>
              </a:solidFill>
              <a:ln>
                <a:noFill/>
              </a:ln>
            </p:spPr>
          </p:sp>
          <p:sp>
            <p:nvSpPr>
              <p:cNvPr id="249" name="Rectangle 249"/>
              <p:cNvSpPr/>
              <p:nvPr/>
            </p:nvSpPr>
            <p:spPr>
              <a:xfrm>
                <a:off x="10096500" y="3600450"/>
                <a:ext cx="1295400" cy="57150"/>
              </a:xfrm>
              <a:prstGeom prst="roundRect">
                <a:avLst>
                  <a:gd name="adj" fmla="val 50000"/>
                </a:avLst>
              </a:prstGeom>
              <a:solidFill>
                <a:srgbClr val="CE9085"/>
              </a:solidFill>
              <a:ln>
                <a:noFill/>
              </a:ln>
            </p:spPr>
          </p:sp>
          <p:sp>
            <p:nvSpPr>
              <p:cNvPr id="250" name="Rectangle 250"/>
              <p:cNvSpPr/>
              <p:nvPr/>
            </p:nvSpPr>
            <p:spPr>
              <a:xfrm>
                <a:off x="10096500" y="3752850"/>
                <a:ext cx="1676400" cy="57150"/>
              </a:xfrm>
              <a:prstGeom prst="roundRect">
                <a:avLst>
                  <a:gd name="adj" fmla="val 50000"/>
                </a:avLst>
              </a:prstGeom>
              <a:solidFill>
                <a:srgbClr val="E7F2D8"/>
              </a:solidFill>
              <a:ln>
                <a:noFill/>
              </a:ln>
            </p:spPr>
          </p:sp>
          <p:sp>
            <p:nvSpPr>
              <p:cNvPr id="251" name="Rectangle 251"/>
              <p:cNvSpPr/>
              <p:nvPr/>
            </p:nvSpPr>
            <p:spPr>
              <a:xfrm>
                <a:off x="10096500" y="3752850"/>
                <a:ext cx="1123950" cy="57150"/>
              </a:xfrm>
              <a:prstGeom prst="roundRect">
                <a:avLst>
                  <a:gd name="adj" fmla="val 50000"/>
                </a:avLst>
              </a:prstGeom>
              <a:solidFill>
                <a:srgbClr val="7C3B2F"/>
              </a:solidFill>
              <a:ln>
                <a:noFill/>
              </a:ln>
            </p:spPr>
          </p:sp>
        </p:grpSp>
        <p:grpSp>
          <p:nvGrpSpPr>
            <p:cNvPr id="270" name="gate-cost"/>
            <p:cNvGrpSpPr/>
            <p:nvPr/>
          </p:nvGrpSpPr>
          <p:grpSpPr>
            <a:xfrm>
              <a:off x="7429500" y="4019550"/>
              <a:ext cx="4457700" cy="666750"/>
              <a:chOff x="7429500" y="4019550"/>
              <a:chExt cx="4457700" cy="666750"/>
            </a:xfrm>
          </p:grpSpPr>
          <p:sp>
            <p:nvSpPr>
              <p:cNvPr id="253" name="Rectangle 253"/>
              <p:cNvSpPr/>
              <p:nvPr/>
            </p:nvSpPr>
            <p:spPr>
              <a:xfrm>
                <a:off x="7429500" y="4019550"/>
                <a:ext cx="4457700" cy="666750"/>
              </a:xfrm>
              <a:prstGeom prst="roundRect">
                <a:avLst>
                  <a:gd name="adj" fmla="val 8571"/>
                </a:avLst>
              </a:prstGeom>
              <a:solidFill>
                <a:srgbClr val="F4F8EC"/>
              </a:solidFill>
              <a:ln>
                <a:noFill/>
              </a:ln>
            </p:spPr>
          </p:sp>
          <p:sp>
            <p:nvSpPr>
              <p:cNvPr id="254" name="Ellipse 254"/>
              <p:cNvSpPr/>
              <p:nvPr/>
            </p:nvSpPr>
            <p:spPr>
              <a:xfrm>
                <a:off x="7534275" y="4210050"/>
                <a:ext cx="285750" cy="285750"/>
              </a:xfrm>
              <a:prstGeom prst="ellipse">
                <a:avLst/>
              </a:prstGeom>
              <a:solidFill>
                <a:srgbClr val="FFFFFF"/>
              </a:solidFill>
              <a:ln w="9525">
                <a:solidFill>
                  <a:srgbClr val="BE776A"/>
                </a:solidFill>
              </a:ln>
            </p:spPr>
          </p:sp>
          <p:grpSp>
            <p:nvGrpSpPr>
              <p:cNvPr id="260" name="Group 260"/>
              <p:cNvGrpSpPr/>
              <p:nvPr/>
            </p:nvGrpSpPr>
            <p:grpSpPr>
              <a:xfrm>
                <a:off x="7612856" y="4287674"/>
                <a:ext cx="128588" cy="129544"/>
                <a:chOff x="7612856" y="4287674"/>
                <a:chExt cx="128588" cy="129544"/>
              </a:xfrm>
            </p:grpSpPr>
            <p:sp>
              <p:nvSpPr>
                <p:cNvPr id="255" name="Freeform 255"/>
                <p:cNvSpPr/>
                <p:nvPr/>
              </p:nvSpPr>
              <p:spPr>
                <a:xfrm>
                  <a:off x="7655719" y="434578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7C3B2F"/>
                  </a:solidFill>
                </a:ln>
              </p:spPr>
            </p:sp>
            <p:sp>
              <p:nvSpPr>
                <p:cNvPr id="256" name="Freeform 256"/>
                <p:cNvSpPr/>
                <p:nvPr/>
              </p:nvSpPr>
              <p:spPr>
                <a:xfrm>
                  <a:off x="7655719" y="436721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7C3B2F"/>
                  </a:solidFill>
                </a:ln>
              </p:spPr>
            </p:sp>
            <p:sp>
              <p:nvSpPr>
                <p:cNvPr id="257" name="Freeform 257"/>
                <p:cNvSpPr/>
                <p:nvPr/>
              </p:nvSpPr>
              <p:spPr>
                <a:xfrm>
                  <a:off x="7612856" y="428767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7C3B2F"/>
                  </a:solidFill>
                </a:ln>
              </p:spPr>
            </p:sp>
            <p:sp>
              <p:nvSpPr>
                <p:cNvPr id="258" name="Freeform 258"/>
                <p:cNvSpPr/>
                <p:nvPr/>
              </p:nvSpPr>
              <p:spPr>
                <a:xfrm>
                  <a:off x="7612856" y="431006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7C3B2F"/>
                  </a:solidFill>
                </a:ln>
              </p:spPr>
            </p:sp>
            <p:sp>
              <p:nvSpPr>
                <p:cNvPr id="259" name="Freeform 259"/>
                <p:cNvSpPr/>
                <p:nvPr/>
              </p:nvSpPr>
              <p:spPr>
                <a:xfrm>
                  <a:off x="7612856" y="434578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7C3B2F"/>
                  </a:solidFill>
                </a:ln>
              </p:spPr>
            </p:sp>
          </p:grpSp>
          <p:sp>
            <p:nvSpPr>
              <p:cNvPr id="261" name="TextBox 261"/>
              <p:cNvSpPr txBox="1"/>
              <p:nvPr/>
            </p:nvSpPr>
            <p:spPr>
              <a:xfrm>
                <a:off x="7900988" y="4148138"/>
                <a:ext cx="75088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 xml:space="preserve">成本（Cost）　</a:t>
                </a:r>
              </a:p>
            </p:txBody>
          </p:sp>
          <p:sp>
            <p:nvSpPr>
              <p:cNvPr id="262" name="TextBox 262"/>
              <p:cNvSpPr txBox="1"/>
              <p:nvPr/>
            </p:nvSpPr>
            <p:spPr>
              <a:xfrm>
                <a:off x="7900988" y="4339828"/>
                <a:ext cx="623931"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 xml:space="preserve">单次成本 ≤ 阈值　</a:t>
                </a:r>
              </a:p>
            </p:txBody>
          </p:sp>
          <p:sp>
            <p:nvSpPr>
              <p:cNvPr id="263" name="TextBox 263"/>
              <p:cNvSpPr txBox="1"/>
              <p:nvPr/>
            </p:nvSpPr>
            <p:spPr>
              <a:xfrm>
                <a:off x="7900988" y="4492228"/>
                <a:ext cx="54854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 xml:space="preserve">日成本 ≤ 预算　</a:t>
                </a:r>
              </a:p>
            </p:txBody>
          </p:sp>
          <p:sp>
            <p:nvSpPr>
              <p:cNvPr id="264" name="TextBox 264"/>
              <p:cNvSpPr txBox="1"/>
              <p:nvPr/>
            </p:nvSpPr>
            <p:spPr>
              <a:xfrm>
                <a:off x="11359274" y="4119324"/>
                <a:ext cx="141453" cy="97631"/>
              </a:xfrm>
              <a:prstGeom prst="rect">
                <a:avLst/>
              </a:prstGeom>
              <a:noFill/>
              <a:ln>
                <a:noFill/>
              </a:ln>
            </p:spPr>
            <p:txBody>
              <a:bodyPr wrap="none" lIns="0" tIns="0" rIns="0" bIns="0" anchor="t" anchorCtr="0">
                <a:spAutoFit/>
              </a:bodyPr>
              <a:lstStyle/>
              <a:p>
                <a:pPr algn="ctr"/>
                <a:r>
                  <a:rPr lang="zh-CN" sz="490" dirty="0">
                    <a:solidFill>
                      <a:srgbClr val="66705F"/>
                    </a:solidFill>
                    <a:latin typeface="+mn-lt"/>
                    <a:ea typeface="+mn-ea"/>
                    <a:cs typeface="+mn-cs"/>
                  </a:rPr>
                  <a:t>阈值</a:t>
                </a:r>
              </a:p>
            </p:txBody>
          </p:sp>
          <p:sp>
            <p:nvSpPr>
              <p:cNvPr id="265" name="Line 265"/>
              <p:cNvSpPr/>
              <p:nvPr/>
            </p:nvSpPr>
            <p:spPr>
              <a:xfrm>
                <a:off x="11430000" y="4210050"/>
                <a:ext cx="9525" cy="419100"/>
              </a:xfrm>
              <a:custGeom>
                <a:avLst/>
                <a:gdLst/>
                <a:ahLst/>
                <a:cxnLst/>
                <a:rect l="l" t="t" r="r" b="b"/>
                <a:pathLst>
                  <a:path w="9525" h="419100">
                    <a:moveTo>
                      <a:pt x="0" y="0"/>
                    </a:moveTo>
                    <a:lnTo>
                      <a:pt x="0" y="419100"/>
                    </a:lnTo>
                  </a:path>
                </a:pathLst>
              </a:custGeom>
              <a:noFill/>
              <a:ln w="9525">
                <a:solidFill>
                  <a:srgbClr val="9AA395"/>
                </a:solidFill>
                <a:prstDash val="sysDot"/>
              </a:ln>
            </p:spPr>
          </p:sp>
          <p:sp>
            <p:nvSpPr>
              <p:cNvPr id="266" name="Rectangle 266"/>
              <p:cNvSpPr/>
              <p:nvPr/>
            </p:nvSpPr>
            <p:spPr>
              <a:xfrm>
                <a:off x="10096500" y="4343400"/>
                <a:ext cx="1676400" cy="57150"/>
              </a:xfrm>
              <a:prstGeom prst="roundRect">
                <a:avLst>
                  <a:gd name="adj" fmla="val 50000"/>
                </a:avLst>
              </a:prstGeom>
              <a:solidFill>
                <a:srgbClr val="E7F2D8"/>
              </a:solidFill>
              <a:ln>
                <a:noFill/>
              </a:ln>
            </p:spPr>
          </p:sp>
          <p:sp>
            <p:nvSpPr>
              <p:cNvPr id="267" name="Rectangle 267"/>
              <p:cNvSpPr/>
              <p:nvPr/>
            </p:nvSpPr>
            <p:spPr>
              <a:xfrm>
                <a:off x="10096500" y="4343400"/>
                <a:ext cx="1181100" cy="57150"/>
              </a:xfrm>
              <a:prstGeom prst="roundRect">
                <a:avLst>
                  <a:gd name="adj" fmla="val 50000"/>
                </a:avLst>
              </a:prstGeom>
              <a:solidFill>
                <a:srgbClr val="7C3B2F"/>
              </a:solidFill>
              <a:ln>
                <a:noFill/>
              </a:ln>
            </p:spPr>
          </p:sp>
          <p:sp>
            <p:nvSpPr>
              <p:cNvPr id="268" name="Rectangle 268"/>
              <p:cNvSpPr/>
              <p:nvPr/>
            </p:nvSpPr>
            <p:spPr>
              <a:xfrm>
                <a:off x="10096500" y="4495800"/>
                <a:ext cx="1676400" cy="57150"/>
              </a:xfrm>
              <a:prstGeom prst="roundRect">
                <a:avLst>
                  <a:gd name="adj" fmla="val 50000"/>
                </a:avLst>
              </a:prstGeom>
              <a:solidFill>
                <a:srgbClr val="E7F2D8"/>
              </a:solidFill>
              <a:ln>
                <a:noFill/>
              </a:ln>
            </p:spPr>
          </p:sp>
          <p:sp>
            <p:nvSpPr>
              <p:cNvPr id="269" name="Line 269"/>
              <p:cNvSpPr/>
              <p:nvPr/>
            </p:nvSpPr>
            <p:spPr>
              <a:xfrm>
                <a:off x="10096500" y="4524375"/>
                <a:ext cx="1581150" cy="9525"/>
              </a:xfrm>
              <a:custGeom>
                <a:avLst/>
                <a:gdLst/>
                <a:ahLst/>
                <a:cxnLst/>
                <a:rect l="l" t="t" r="r" b="b"/>
                <a:pathLst>
                  <a:path w="1581150" h="9525">
                    <a:moveTo>
                      <a:pt x="0" y="0"/>
                    </a:moveTo>
                    <a:lnTo>
                      <a:pt x="1581150" y="0"/>
                    </a:lnTo>
                  </a:path>
                </a:pathLst>
              </a:custGeom>
              <a:noFill/>
              <a:ln w="28575">
                <a:solidFill>
                  <a:srgbClr val="9AA395"/>
                </a:solidFill>
                <a:custDash>
                  <a:ds d="100000" sp="100000"/>
                </a:custDash>
              </a:ln>
            </p:spPr>
          </p:sp>
        </p:grpSp>
        <p:grpSp>
          <p:nvGrpSpPr>
            <p:cNvPr id="277" name="gate-legend"/>
            <p:cNvGrpSpPr/>
            <p:nvPr/>
          </p:nvGrpSpPr>
          <p:grpSpPr>
            <a:xfrm>
              <a:off x="7524750" y="4840605"/>
              <a:ext cx="2418779" cy="119062"/>
              <a:chOff x="7524750" y="4840605"/>
              <a:chExt cx="2418779" cy="119062"/>
            </a:xfrm>
          </p:grpSpPr>
          <p:sp>
            <p:nvSpPr>
              <p:cNvPr id="271" name="Line 271"/>
              <p:cNvSpPr/>
              <p:nvPr/>
            </p:nvSpPr>
            <p:spPr>
              <a:xfrm>
                <a:off x="7524750" y="4876800"/>
                <a:ext cx="209550" cy="9525"/>
              </a:xfrm>
              <a:custGeom>
                <a:avLst/>
                <a:gdLst/>
                <a:ahLst/>
                <a:cxnLst/>
                <a:rect l="l" t="t" r="r" b="b"/>
                <a:pathLst>
                  <a:path w="209550" h="9525">
                    <a:moveTo>
                      <a:pt x="0" y="0"/>
                    </a:moveTo>
                    <a:lnTo>
                      <a:pt x="209550" y="0"/>
                    </a:lnTo>
                  </a:path>
                </a:pathLst>
              </a:custGeom>
              <a:noFill/>
              <a:ln w="28575">
                <a:solidFill>
                  <a:srgbClr val="7C3B2F"/>
                </a:solidFill>
              </a:ln>
            </p:spPr>
          </p:sp>
          <p:sp>
            <p:nvSpPr>
              <p:cNvPr id="272" name="TextBox 272"/>
              <p:cNvSpPr txBox="1"/>
              <p:nvPr/>
            </p:nvSpPr>
            <p:spPr>
              <a:xfrm>
                <a:off x="7786688" y="4840605"/>
                <a:ext cx="171069"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达标</a:t>
                </a:r>
              </a:p>
            </p:txBody>
          </p:sp>
          <p:sp>
            <p:nvSpPr>
              <p:cNvPr id="273" name="Line 273"/>
              <p:cNvSpPr/>
              <p:nvPr/>
            </p:nvSpPr>
            <p:spPr>
              <a:xfrm>
                <a:off x="8382000" y="4876800"/>
                <a:ext cx="209550" cy="9525"/>
              </a:xfrm>
              <a:custGeom>
                <a:avLst/>
                <a:gdLst/>
                <a:ahLst/>
                <a:cxnLst/>
                <a:rect l="l" t="t" r="r" b="b"/>
                <a:pathLst>
                  <a:path w="209550" h="9525">
                    <a:moveTo>
                      <a:pt x="0" y="0"/>
                    </a:moveTo>
                    <a:lnTo>
                      <a:pt x="209550" y="0"/>
                    </a:lnTo>
                  </a:path>
                </a:pathLst>
              </a:custGeom>
              <a:noFill/>
              <a:ln w="28575">
                <a:solidFill>
                  <a:srgbClr val="CE9085"/>
                </a:solidFill>
              </a:ln>
            </p:spPr>
          </p:sp>
          <p:sp>
            <p:nvSpPr>
              <p:cNvPr id="274" name="TextBox 274"/>
              <p:cNvSpPr txBox="1"/>
              <p:nvPr/>
            </p:nvSpPr>
            <p:spPr>
              <a:xfrm>
                <a:off x="8643938" y="4840605"/>
                <a:ext cx="332613"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接近阈值</a:t>
                </a:r>
              </a:p>
            </p:txBody>
          </p:sp>
          <p:sp>
            <p:nvSpPr>
              <p:cNvPr id="275" name="Line 275"/>
              <p:cNvSpPr/>
              <p:nvPr/>
            </p:nvSpPr>
            <p:spPr>
              <a:xfrm>
                <a:off x="9429750" y="4876800"/>
                <a:ext cx="209550" cy="9525"/>
              </a:xfrm>
              <a:custGeom>
                <a:avLst/>
                <a:gdLst/>
                <a:ahLst/>
                <a:cxnLst/>
                <a:rect l="l" t="t" r="r" b="b"/>
                <a:pathLst>
                  <a:path w="209550" h="9525">
                    <a:moveTo>
                      <a:pt x="0" y="0"/>
                    </a:moveTo>
                    <a:lnTo>
                      <a:pt x="209550" y="0"/>
                    </a:lnTo>
                  </a:path>
                </a:pathLst>
              </a:custGeom>
              <a:noFill/>
              <a:ln w="28575">
                <a:solidFill>
                  <a:srgbClr val="9AA395"/>
                </a:solidFill>
                <a:custDash>
                  <a:ds d="100000" sp="100000"/>
                </a:custDash>
              </a:ln>
            </p:spPr>
          </p:sp>
          <p:sp>
            <p:nvSpPr>
              <p:cNvPr id="276" name="TextBox 276"/>
              <p:cNvSpPr txBox="1"/>
              <p:nvPr/>
            </p:nvSpPr>
            <p:spPr>
              <a:xfrm>
                <a:off x="9691688" y="4840605"/>
                <a:ext cx="251841"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未达标</a:t>
                </a:r>
              </a:p>
            </p:txBody>
          </p:sp>
        </p:grpSp>
      </p:grpSp>
      <p:grpSp>
        <p:nvGrpSpPr>
          <p:cNvPr id="305" name="runtime-env"/>
          <p:cNvGrpSpPr/>
          <p:nvPr/>
        </p:nvGrpSpPr>
        <p:grpSpPr>
          <a:xfrm>
            <a:off x="228600" y="5162550"/>
            <a:ext cx="11734800" cy="609600"/>
            <a:chOff x="228600" y="5162550"/>
            <a:chExt cx="11734800" cy="609600"/>
          </a:xfrm>
        </p:grpSpPr>
        <p:sp>
          <p:nvSpPr>
            <p:cNvPr id="279" name="Rectangle 279"/>
            <p:cNvSpPr/>
            <p:nvPr/>
          </p:nvSpPr>
          <p:spPr>
            <a:xfrm>
              <a:off x="228600" y="5162550"/>
              <a:ext cx="11734800" cy="609600"/>
            </a:xfrm>
            <a:prstGeom prst="roundRect">
              <a:avLst>
                <a:gd name="adj" fmla="val 12500"/>
              </a:avLst>
            </a:prstGeom>
            <a:solidFill>
              <a:srgbClr val="F4F8EC"/>
            </a:solidFill>
            <a:ln w="9525">
              <a:solidFill>
                <a:srgbClr val="D9E8C6"/>
              </a:solidFill>
            </a:ln>
          </p:spPr>
        </p:sp>
        <p:sp>
          <p:nvSpPr>
            <p:cNvPr id="280" name="Rectangle 280"/>
            <p:cNvSpPr/>
            <p:nvPr/>
          </p:nvSpPr>
          <p:spPr>
            <a:xfrm>
              <a:off x="304800" y="5238750"/>
              <a:ext cx="1047750" cy="457200"/>
            </a:xfrm>
            <a:prstGeom prst="roundRect">
              <a:avLst>
                <a:gd name="adj" fmla="val 12500"/>
              </a:avLst>
            </a:prstGeom>
            <a:solidFill>
              <a:srgbClr val="42140B"/>
            </a:solidFill>
            <a:ln>
              <a:noFill/>
            </a:ln>
          </p:spPr>
        </p:sp>
        <p:sp>
          <p:nvSpPr>
            <p:cNvPr id="281" name="TextBox 281"/>
            <p:cNvSpPr txBox="1"/>
            <p:nvPr/>
          </p:nvSpPr>
          <p:spPr>
            <a:xfrm>
              <a:off x="581596" y="54178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运行环境</a:t>
              </a:r>
            </a:p>
          </p:txBody>
        </p:sp>
        <p:grpSp>
          <p:nvGrpSpPr>
            <p:cNvPr id="287" name="env-dev"/>
            <p:cNvGrpSpPr/>
            <p:nvPr/>
          </p:nvGrpSpPr>
          <p:grpSpPr>
            <a:xfrm>
              <a:off x="2117861" y="5349716"/>
              <a:ext cx="1051111" cy="292656"/>
              <a:chOff x="2117861" y="5349716"/>
              <a:chExt cx="1051111" cy="292656"/>
            </a:xfrm>
          </p:grpSpPr>
          <p:grpSp>
            <p:nvGrpSpPr>
              <p:cNvPr id="284" name="Group 284"/>
              <p:cNvGrpSpPr/>
              <p:nvPr/>
            </p:nvGrpSpPr>
            <p:grpSpPr>
              <a:xfrm>
                <a:off x="2117861" y="5384936"/>
                <a:ext cx="164829" cy="164829"/>
                <a:chOff x="2117861" y="5384936"/>
                <a:chExt cx="164829" cy="164829"/>
              </a:xfrm>
            </p:grpSpPr>
            <p:sp>
              <p:nvSpPr>
                <p:cNvPr id="282" name="Freeform 282"/>
                <p:cNvSpPr/>
                <p:nvPr/>
              </p:nvSpPr>
              <p:spPr>
                <a:xfrm>
                  <a:off x="2117861" y="5384936"/>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7C3B2F"/>
                  </a:solidFill>
                </a:ln>
              </p:spPr>
            </p:sp>
            <p:sp>
              <p:nvSpPr>
                <p:cNvPr id="283" name="Freeform 283"/>
                <p:cNvSpPr/>
                <p:nvPr/>
              </p:nvSpPr>
              <p:spPr>
                <a:xfrm>
                  <a:off x="2174081" y="5441156"/>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7C3B2F"/>
                  </a:solidFill>
                </a:ln>
              </p:spPr>
            </p:sp>
          </p:grpSp>
          <p:sp>
            <p:nvSpPr>
              <p:cNvPr id="285" name="TextBox 285"/>
              <p:cNvSpPr txBox="1"/>
              <p:nvPr/>
            </p:nvSpPr>
            <p:spPr>
              <a:xfrm>
                <a:off x="2395538" y="5349716"/>
                <a:ext cx="773434"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开发（Dev）​​</a:t>
                </a:r>
              </a:p>
            </p:txBody>
          </p:sp>
          <p:sp>
            <p:nvSpPr>
              <p:cNvPr id="286" name="TextBox 286"/>
              <p:cNvSpPr txBox="1"/>
              <p:nvPr/>
            </p:nvSpPr>
            <p:spPr>
              <a:xfrm>
                <a:off x="2395538" y="55304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快速迭代 · 本地评测</a:t>
                </a:r>
              </a:p>
            </p:txBody>
          </p:sp>
        </p:grpSp>
        <p:sp>
          <p:nvSpPr>
            <p:cNvPr id="288" name="Line 288"/>
            <p:cNvSpPr/>
            <p:nvPr/>
          </p:nvSpPr>
          <p:spPr>
            <a:xfrm>
              <a:off x="4000500" y="5467350"/>
              <a:ext cx="1447800" cy="1"/>
            </a:xfrm>
            <a:prstGeom prst="line">
              <a:avLst/>
            </a:prstGeom>
            <a:noFill/>
            <a:ln w="12382">
              <a:solidFill>
                <a:srgbClr val="9A4B3C"/>
              </a:solidFill>
              <a:custDash>
                <a:ds d="461538" sp="307692"/>
              </a:custDash>
              <a:tailEnd type="arrow" w="lg" len="lg"/>
            </a:ln>
          </p:spPr>
        </p:sp>
        <p:grpSp>
          <p:nvGrpSpPr>
            <p:cNvPr id="296" name="env-test"/>
            <p:cNvGrpSpPr/>
            <p:nvPr/>
          </p:nvGrpSpPr>
          <p:grpSpPr>
            <a:xfrm>
              <a:off x="5663406" y="5349716"/>
              <a:ext cx="1076455" cy="292656"/>
              <a:chOff x="5663406" y="5349716"/>
              <a:chExt cx="1076455" cy="292656"/>
            </a:xfrm>
          </p:grpSpPr>
          <p:grpSp>
            <p:nvGrpSpPr>
              <p:cNvPr id="293" name="Group 293"/>
              <p:cNvGrpSpPr/>
              <p:nvPr/>
            </p:nvGrpSpPr>
            <p:grpSpPr>
              <a:xfrm>
                <a:off x="5663406" y="5397500"/>
                <a:ext cx="130970" cy="148431"/>
                <a:chOff x="5663406" y="5397500"/>
                <a:chExt cx="130970" cy="148431"/>
              </a:xfrm>
            </p:grpSpPr>
            <p:sp>
              <p:nvSpPr>
                <p:cNvPr id="289" name="Freeform 289"/>
                <p:cNvSpPr/>
                <p:nvPr/>
              </p:nvSpPr>
              <p:spPr>
                <a:xfrm>
                  <a:off x="5663406" y="5397500"/>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7C3B2F"/>
                  </a:solidFill>
                </a:ln>
              </p:spPr>
            </p:sp>
            <p:sp>
              <p:nvSpPr>
                <p:cNvPr id="290" name="Freeform 290"/>
                <p:cNvSpPr/>
                <p:nvPr/>
              </p:nvSpPr>
              <p:spPr>
                <a:xfrm>
                  <a:off x="5741988" y="5511006"/>
                  <a:ext cx="52388" cy="34925"/>
                </a:xfrm>
                <a:custGeom>
                  <a:avLst/>
                  <a:gdLst/>
                  <a:ahLst/>
                  <a:cxnLst/>
                  <a:rect l="l" t="t" r="r" b="b"/>
                  <a:pathLst>
                    <a:path w="52388" h="34925">
                      <a:moveTo>
                        <a:pt x="0" y="17463"/>
                      </a:moveTo>
                      <a:lnTo>
                        <a:pt x="17463" y="34925"/>
                      </a:lnTo>
                      <a:lnTo>
                        <a:pt x="52388" y="0"/>
                      </a:lnTo>
                    </a:path>
                  </a:pathLst>
                </a:custGeom>
                <a:noFill/>
                <a:ln w="17463">
                  <a:solidFill>
                    <a:srgbClr val="7C3B2F"/>
                  </a:solidFill>
                </a:ln>
              </p:spPr>
            </p:sp>
            <p:sp>
              <p:nvSpPr>
                <p:cNvPr id="291" name="Freeform 291"/>
                <p:cNvSpPr/>
                <p:nvPr/>
              </p:nvSpPr>
              <p:spPr>
                <a:xfrm>
                  <a:off x="5698331" y="5432425"/>
                  <a:ext cx="34925" cy="9525"/>
                </a:xfrm>
                <a:custGeom>
                  <a:avLst/>
                  <a:gdLst/>
                  <a:ahLst/>
                  <a:cxnLst/>
                  <a:rect l="l" t="t" r="r" b="b"/>
                  <a:pathLst>
                    <a:path w="34925" h="9525">
                      <a:moveTo>
                        <a:pt x="0" y="0"/>
                      </a:moveTo>
                      <a:lnTo>
                        <a:pt x="34925" y="0"/>
                      </a:lnTo>
                    </a:path>
                  </a:pathLst>
                </a:custGeom>
                <a:noFill/>
                <a:ln w="17463">
                  <a:solidFill>
                    <a:srgbClr val="7C3B2F"/>
                  </a:solidFill>
                </a:ln>
              </p:spPr>
            </p:sp>
            <p:sp>
              <p:nvSpPr>
                <p:cNvPr id="292" name="Freeform 292"/>
                <p:cNvSpPr/>
                <p:nvPr/>
              </p:nvSpPr>
              <p:spPr>
                <a:xfrm>
                  <a:off x="5698331" y="5467350"/>
                  <a:ext cx="17463" cy="9525"/>
                </a:xfrm>
                <a:custGeom>
                  <a:avLst/>
                  <a:gdLst/>
                  <a:ahLst/>
                  <a:cxnLst/>
                  <a:rect l="l" t="t" r="r" b="b"/>
                  <a:pathLst>
                    <a:path w="17463" h="9525">
                      <a:moveTo>
                        <a:pt x="0" y="0"/>
                      </a:moveTo>
                      <a:lnTo>
                        <a:pt x="17463" y="0"/>
                      </a:lnTo>
                    </a:path>
                  </a:pathLst>
                </a:custGeom>
                <a:noFill/>
                <a:ln w="17463">
                  <a:solidFill>
                    <a:srgbClr val="7C3B2F"/>
                  </a:solidFill>
                </a:ln>
              </p:spPr>
            </p:sp>
          </p:grpSp>
          <p:sp>
            <p:nvSpPr>
              <p:cNvPr id="294" name="TextBox 294"/>
              <p:cNvSpPr txBox="1"/>
              <p:nvPr/>
            </p:nvSpPr>
            <p:spPr>
              <a:xfrm>
                <a:off x="5919788" y="5349716"/>
                <a:ext cx="820073"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 xml:space="preserve">测试（Test）　</a:t>
                </a:r>
              </a:p>
            </p:txBody>
          </p:sp>
          <p:sp>
            <p:nvSpPr>
              <p:cNvPr id="295" name="TextBox 295"/>
              <p:cNvSpPr txBox="1"/>
              <p:nvPr/>
            </p:nvSpPr>
            <p:spPr>
              <a:xfrm>
                <a:off x="5919788" y="55304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集成验证 · 回归测试</a:t>
                </a:r>
              </a:p>
            </p:txBody>
          </p:sp>
        </p:grpSp>
        <p:sp>
          <p:nvSpPr>
            <p:cNvPr id="297" name="Line 297"/>
            <p:cNvSpPr/>
            <p:nvPr/>
          </p:nvSpPr>
          <p:spPr>
            <a:xfrm>
              <a:off x="7524750" y="5467350"/>
              <a:ext cx="1447800" cy="1"/>
            </a:xfrm>
            <a:prstGeom prst="line">
              <a:avLst/>
            </a:prstGeom>
            <a:noFill/>
            <a:ln w="12382">
              <a:solidFill>
                <a:srgbClr val="9A4B3C"/>
              </a:solidFill>
              <a:custDash>
                <a:ds d="461538" sp="307692"/>
              </a:custDash>
              <a:tailEnd type="arrow" w="lg" len="lg"/>
            </a:ln>
          </p:spPr>
        </p:sp>
        <p:grpSp>
          <p:nvGrpSpPr>
            <p:cNvPr id="304" name="env-prod"/>
            <p:cNvGrpSpPr/>
            <p:nvPr/>
          </p:nvGrpSpPr>
          <p:grpSpPr>
            <a:xfrm>
              <a:off x="9176167" y="5349716"/>
              <a:ext cx="1087944" cy="292656"/>
              <a:chOff x="9176167" y="5349716"/>
              <a:chExt cx="1087944" cy="292656"/>
            </a:xfrm>
          </p:grpSpPr>
          <p:grpSp>
            <p:nvGrpSpPr>
              <p:cNvPr id="301" name="Group 301"/>
              <p:cNvGrpSpPr/>
              <p:nvPr/>
            </p:nvGrpSpPr>
            <p:grpSpPr>
              <a:xfrm>
                <a:off x="9176167" y="5397500"/>
                <a:ext cx="142458" cy="142458"/>
                <a:chOff x="9176167" y="5397500"/>
                <a:chExt cx="142458" cy="142458"/>
              </a:xfrm>
            </p:grpSpPr>
            <p:sp>
              <p:nvSpPr>
                <p:cNvPr id="298" name="Freeform 298"/>
                <p:cNvSpPr/>
                <p:nvPr/>
              </p:nvSpPr>
              <p:spPr>
                <a:xfrm>
                  <a:off x="9178925" y="5397500"/>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7C3B2F"/>
                  </a:solidFill>
                </a:ln>
              </p:spPr>
            </p:sp>
            <p:sp>
              <p:nvSpPr>
                <p:cNvPr id="299" name="Freeform 299"/>
                <p:cNvSpPr/>
                <p:nvPr/>
              </p:nvSpPr>
              <p:spPr>
                <a:xfrm>
                  <a:off x="9176167" y="5484813"/>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7C3B2F"/>
                  </a:solidFill>
                </a:ln>
              </p:spPr>
            </p:sp>
            <p:sp>
              <p:nvSpPr>
                <p:cNvPr id="300" name="Freeform 300"/>
                <p:cNvSpPr/>
                <p:nvPr/>
              </p:nvSpPr>
              <p:spPr>
                <a:xfrm>
                  <a:off x="9266238" y="5432425"/>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7C3B2F"/>
                  </a:solidFill>
                </a:ln>
              </p:spPr>
            </p:sp>
          </p:grpSp>
          <p:sp>
            <p:nvSpPr>
              <p:cNvPr id="302" name="TextBox 302"/>
              <p:cNvSpPr txBox="1"/>
              <p:nvPr/>
            </p:nvSpPr>
            <p:spPr>
              <a:xfrm>
                <a:off x="9444038" y="5349716"/>
                <a:ext cx="820073"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 xml:space="preserve">生产（Prod）　</a:t>
                </a:r>
              </a:p>
            </p:txBody>
          </p:sp>
          <p:sp>
            <p:nvSpPr>
              <p:cNvPr id="303" name="TextBox 303"/>
              <p:cNvSpPr txBox="1"/>
              <p:nvPr/>
            </p:nvSpPr>
            <p:spPr>
              <a:xfrm>
                <a:off x="9444038" y="55304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稳定运行 · 持续监控</a:t>
                </a:r>
              </a:p>
            </p:txBody>
          </p:sp>
        </p:grpSp>
      </p:grpSp>
      <p:grpSp>
        <p:nvGrpSpPr>
          <p:cNvPr id="362" name="incident-loop"/>
          <p:cNvGrpSpPr/>
          <p:nvPr/>
        </p:nvGrpSpPr>
        <p:grpSpPr>
          <a:xfrm>
            <a:off x="228600" y="5886450"/>
            <a:ext cx="11734800" cy="838200"/>
            <a:chOff x="228600" y="5886450"/>
            <a:chExt cx="11734800" cy="838200"/>
          </a:xfrm>
        </p:grpSpPr>
        <p:sp>
          <p:nvSpPr>
            <p:cNvPr id="306" name="Rectangle 306"/>
            <p:cNvSpPr/>
            <p:nvPr/>
          </p:nvSpPr>
          <p:spPr>
            <a:xfrm>
              <a:off x="228600" y="5886450"/>
              <a:ext cx="11734800" cy="838200"/>
            </a:xfrm>
            <a:prstGeom prst="roundRect">
              <a:avLst>
                <a:gd name="adj" fmla="val 9091"/>
              </a:avLst>
            </a:prstGeom>
            <a:solidFill>
              <a:srgbClr val="FFFFFF"/>
            </a:solidFill>
            <a:ln w="9525">
              <a:solidFill>
                <a:srgbClr val="D9E8C6"/>
              </a:solidFill>
            </a:ln>
          </p:spPr>
        </p:sp>
        <p:sp>
          <p:nvSpPr>
            <p:cNvPr id="307" name="Rectangle 307"/>
            <p:cNvSpPr/>
            <p:nvPr/>
          </p:nvSpPr>
          <p:spPr>
            <a:xfrm>
              <a:off x="304800" y="5962650"/>
              <a:ext cx="1143000" cy="685800"/>
            </a:xfrm>
            <a:prstGeom prst="roundRect">
              <a:avLst>
                <a:gd name="adj" fmla="val 8333"/>
              </a:avLst>
            </a:prstGeom>
            <a:solidFill>
              <a:srgbClr val="42140B"/>
            </a:solidFill>
            <a:ln>
              <a:noFill/>
            </a:ln>
          </p:spPr>
        </p:sp>
        <p:sp>
          <p:nvSpPr>
            <p:cNvPr id="308" name="TextBox 308"/>
            <p:cNvSpPr txBox="1"/>
            <p:nvPr/>
          </p:nvSpPr>
          <p:spPr>
            <a:xfrm>
              <a:off x="629222" y="61607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事件闭环</a:t>
              </a:r>
            </a:p>
          </p:txBody>
        </p:sp>
        <p:sp>
          <p:nvSpPr>
            <p:cNvPr id="309" name="TextBox 309"/>
            <p:cNvSpPr txBox="1"/>
            <p:nvPr/>
          </p:nvSpPr>
          <p:spPr>
            <a:xfrm>
              <a:off x="525399" y="6364605"/>
              <a:ext cx="701802" cy="119062"/>
            </a:xfrm>
            <a:prstGeom prst="rect">
              <a:avLst/>
            </a:prstGeom>
            <a:noFill/>
            <a:ln>
              <a:noFill/>
            </a:ln>
          </p:spPr>
          <p:txBody>
            <a:bodyPr wrap="none" lIns="0" tIns="0" rIns="0" bIns="0" anchor="t" anchorCtr="0">
              <a:spAutoFit/>
            </a:bodyPr>
            <a:lstStyle/>
            <a:p>
              <a:pPr algn="ctr"/>
              <a:r>
                <a:rPr lang="zh-CN" sz="600" dirty="0">
                  <a:solidFill>
                    <a:srgbClr val="E4B7AF"/>
                  </a:solidFill>
                  <a:latin typeface="+mn-lt"/>
                  <a:ea typeface="+mn-ea"/>
                  <a:cs typeface="+mn-cs"/>
                </a:rPr>
                <a:t xml:space="preserve">(Incident Loop)　</a:t>
              </a:r>
            </a:p>
          </p:txBody>
        </p:sp>
        <p:grpSp>
          <p:nvGrpSpPr>
            <p:cNvPr id="317" name="inc-alert"/>
            <p:cNvGrpSpPr/>
            <p:nvPr/>
          </p:nvGrpSpPr>
          <p:grpSpPr>
            <a:xfrm>
              <a:off x="1647825" y="6143625"/>
              <a:ext cx="1059102" cy="336947"/>
              <a:chOff x="1647825" y="6143625"/>
              <a:chExt cx="1059102" cy="336947"/>
            </a:xfrm>
          </p:grpSpPr>
          <p:sp>
            <p:nvSpPr>
              <p:cNvPr id="310" name="Ellipse 310"/>
              <p:cNvSpPr/>
              <p:nvPr/>
            </p:nvSpPr>
            <p:spPr>
              <a:xfrm>
                <a:off x="1647825" y="6143625"/>
                <a:ext cx="323850" cy="323850"/>
              </a:xfrm>
              <a:prstGeom prst="ellipse">
                <a:avLst/>
              </a:prstGeom>
              <a:solidFill>
                <a:srgbClr val="F4F8EC"/>
              </a:solidFill>
              <a:ln w="9525">
                <a:solidFill>
                  <a:srgbClr val="BE776A"/>
                </a:solidFill>
              </a:ln>
            </p:spPr>
          </p:sp>
          <p:grpSp>
            <p:nvGrpSpPr>
              <p:cNvPr id="314" name="Group 314"/>
              <p:cNvGrpSpPr/>
              <p:nvPr/>
            </p:nvGrpSpPr>
            <p:grpSpPr>
              <a:xfrm>
                <a:off x="1729699" y="6231475"/>
                <a:ext cx="160095" cy="137543"/>
                <a:chOff x="1729699" y="6231475"/>
                <a:chExt cx="160095" cy="137543"/>
              </a:xfrm>
            </p:grpSpPr>
            <p:sp>
              <p:nvSpPr>
                <p:cNvPr id="311" name="Freeform 311"/>
                <p:cNvSpPr/>
                <p:nvPr/>
              </p:nvSpPr>
              <p:spPr>
                <a:xfrm>
                  <a:off x="1809750" y="6281737"/>
                  <a:ext cx="9525" cy="31750"/>
                </a:xfrm>
                <a:custGeom>
                  <a:avLst/>
                  <a:gdLst/>
                  <a:ahLst/>
                  <a:cxnLst/>
                  <a:rect l="l" t="t" r="r" b="b"/>
                  <a:pathLst>
                    <a:path w="9525" h="31750">
                      <a:moveTo>
                        <a:pt x="0" y="0"/>
                      </a:moveTo>
                      <a:lnTo>
                        <a:pt x="0" y="31750"/>
                      </a:lnTo>
                    </a:path>
                  </a:pathLst>
                </a:custGeom>
                <a:noFill/>
                <a:ln w="15875">
                  <a:solidFill>
                    <a:srgbClr val="C44E3A"/>
                  </a:solidFill>
                </a:ln>
              </p:spPr>
            </p:sp>
            <p:sp>
              <p:nvSpPr>
                <p:cNvPr id="312" name="Freeform 312"/>
                <p:cNvSpPr/>
                <p:nvPr/>
              </p:nvSpPr>
              <p:spPr>
                <a:xfrm>
                  <a:off x="1729699" y="623147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C44E3A"/>
                  </a:solidFill>
                </a:ln>
              </p:spPr>
            </p:sp>
            <p:sp>
              <p:nvSpPr>
                <p:cNvPr id="313" name="Freeform 313"/>
                <p:cNvSpPr/>
                <p:nvPr/>
              </p:nvSpPr>
              <p:spPr>
                <a:xfrm>
                  <a:off x="1809750" y="6337300"/>
                  <a:ext cx="9525" cy="9525"/>
                </a:xfrm>
                <a:custGeom>
                  <a:avLst/>
                  <a:gdLst/>
                  <a:ahLst/>
                  <a:cxnLst/>
                  <a:rect l="l" t="t" r="r" b="b"/>
                  <a:pathLst>
                    <a:path w="9525" h="9525">
                      <a:moveTo>
                        <a:pt x="0" y="0"/>
                      </a:moveTo>
                      <a:lnTo>
                        <a:pt x="79" y="0"/>
                      </a:lnTo>
                    </a:path>
                  </a:pathLst>
                </a:custGeom>
                <a:noFill/>
                <a:ln w="15875">
                  <a:solidFill>
                    <a:srgbClr val="C44E3A"/>
                  </a:solidFill>
                </a:ln>
              </p:spPr>
            </p:sp>
          </p:grpSp>
          <p:sp>
            <p:nvSpPr>
              <p:cNvPr id="315" name="TextBox 315"/>
              <p:cNvSpPr txBox="1"/>
              <p:nvPr/>
            </p:nvSpPr>
            <p:spPr>
              <a:xfrm>
                <a:off x="2071688" y="617434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告警</a:t>
                </a:r>
              </a:p>
            </p:txBody>
          </p:sp>
          <p:sp>
            <p:nvSpPr>
              <p:cNvPr id="316" name="TextBox 316"/>
              <p:cNvSpPr txBox="1"/>
              <p:nvPr/>
            </p:nvSpPr>
            <p:spPr>
              <a:xfrm>
                <a:off x="2071688" y="6368653"/>
                <a:ext cx="635239"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阈值 · 异常 · 趋势</a:t>
                </a:r>
              </a:p>
            </p:txBody>
          </p:sp>
        </p:grpSp>
        <p:sp>
          <p:nvSpPr>
            <p:cNvPr id="318" name="Polygon 318"/>
            <p:cNvSpPr/>
            <p:nvPr/>
          </p:nvSpPr>
          <p:spPr>
            <a:xfrm>
              <a:off x="3143250" y="6257925"/>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326" name="inc-locate"/>
            <p:cNvGrpSpPr/>
            <p:nvPr/>
          </p:nvGrpSpPr>
          <p:grpSpPr>
            <a:xfrm>
              <a:off x="3343275" y="6143625"/>
              <a:ext cx="1123181" cy="336947"/>
              <a:chOff x="3343275" y="6143625"/>
              <a:chExt cx="1123181" cy="336947"/>
            </a:xfrm>
          </p:grpSpPr>
          <p:sp>
            <p:nvSpPr>
              <p:cNvPr id="319" name="Ellipse 319"/>
              <p:cNvSpPr/>
              <p:nvPr/>
            </p:nvSpPr>
            <p:spPr>
              <a:xfrm>
                <a:off x="3343275" y="6143625"/>
                <a:ext cx="323850" cy="323850"/>
              </a:xfrm>
              <a:prstGeom prst="ellipse">
                <a:avLst/>
              </a:prstGeom>
              <a:solidFill>
                <a:srgbClr val="F4F8EC"/>
              </a:solidFill>
              <a:ln w="9525">
                <a:solidFill>
                  <a:srgbClr val="BE776A"/>
                </a:solidFill>
              </a:ln>
            </p:spPr>
          </p:sp>
          <p:grpSp>
            <p:nvGrpSpPr>
              <p:cNvPr id="323" name="Group 323"/>
              <p:cNvGrpSpPr/>
              <p:nvPr/>
            </p:nvGrpSpPr>
            <p:grpSpPr>
              <a:xfrm>
                <a:off x="3433762" y="6234112"/>
                <a:ext cx="142875" cy="142875"/>
                <a:chOff x="3433762" y="6234112"/>
                <a:chExt cx="142875" cy="142875"/>
              </a:xfrm>
            </p:grpSpPr>
            <p:sp>
              <p:nvSpPr>
                <p:cNvPr id="320" name="Freeform 320"/>
                <p:cNvSpPr/>
                <p:nvPr/>
              </p:nvSpPr>
              <p:spPr>
                <a:xfrm>
                  <a:off x="3497262" y="62976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7C3B2F"/>
                  </a:solidFill>
                </a:ln>
              </p:spPr>
            </p:sp>
            <p:sp>
              <p:nvSpPr>
                <p:cNvPr id="321" name="Freeform 321"/>
                <p:cNvSpPr/>
                <p:nvPr/>
              </p:nvSpPr>
              <p:spPr>
                <a:xfrm>
                  <a:off x="3465512" y="62658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7C3B2F"/>
                  </a:solidFill>
                </a:ln>
              </p:spPr>
            </p:sp>
            <p:sp>
              <p:nvSpPr>
                <p:cNvPr id="322" name="Freeform 322"/>
                <p:cNvSpPr/>
                <p:nvPr/>
              </p:nvSpPr>
              <p:spPr>
                <a:xfrm>
                  <a:off x="3433762" y="62341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7C3B2F"/>
                  </a:solidFill>
                </a:ln>
              </p:spPr>
            </p:sp>
          </p:grpSp>
          <p:sp>
            <p:nvSpPr>
              <p:cNvPr id="324" name="TextBox 324"/>
              <p:cNvSpPr txBox="1"/>
              <p:nvPr/>
            </p:nvSpPr>
            <p:spPr>
              <a:xfrm>
                <a:off x="3767138" y="617434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定位</a:t>
                </a:r>
              </a:p>
            </p:txBody>
          </p:sp>
          <p:sp>
            <p:nvSpPr>
              <p:cNvPr id="325" name="TextBox 325"/>
              <p:cNvSpPr txBox="1"/>
              <p:nvPr/>
            </p:nvSpPr>
            <p:spPr>
              <a:xfrm>
                <a:off x="3767138" y="63686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根因分析 · 影响范围</a:t>
                </a:r>
              </a:p>
            </p:txBody>
          </p:sp>
        </p:grpSp>
        <p:sp>
          <p:nvSpPr>
            <p:cNvPr id="327" name="Polygon 327"/>
            <p:cNvSpPr/>
            <p:nvPr/>
          </p:nvSpPr>
          <p:spPr>
            <a:xfrm>
              <a:off x="4838700" y="6257925"/>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334" name="inc-isolate"/>
            <p:cNvGrpSpPr/>
            <p:nvPr/>
          </p:nvGrpSpPr>
          <p:grpSpPr>
            <a:xfrm>
              <a:off x="5038725" y="6143625"/>
              <a:ext cx="1059102" cy="336947"/>
              <a:chOff x="5038725" y="6143625"/>
              <a:chExt cx="1059102" cy="336947"/>
            </a:xfrm>
          </p:grpSpPr>
          <p:sp>
            <p:nvSpPr>
              <p:cNvPr id="328" name="Ellipse 328"/>
              <p:cNvSpPr/>
              <p:nvPr/>
            </p:nvSpPr>
            <p:spPr>
              <a:xfrm>
                <a:off x="5038725" y="6143625"/>
                <a:ext cx="323850" cy="323850"/>
              </a:xfrm>
              <a:prstGeom prst="ellipse">
                <a:avLst/>
              </a:prstGeom>
              <a:solidFill>
                <a:srgbClr val="F4F8EC"/>
              </a:solidFill>
              <a:ln w="9525">
                <a:solidFill>
                  <a:srgbClr val="BE776A"/>
                </a:solidFill>
              </a:ln>
            </p:spPr>
          </p:sp>
          <p:grpSp>
            <p:nvGrpSpPr>
              <p:cNvPr id="331" name="Group 331"/>
              <p:cNvGrpSpPr/>
              <p:nvPr/>
            </p:nvGrpSpPr>
            <p:grpSpPr>
              <a:xfrm>
                <a:off x="5118500" y="6234112"/>
                <a:ext cx="155005" cy="142875"/>
                <a:chOff x="5118500" y="6234112"/>
                <a:chExt cx="155005" cy="142875"/>
              </a:xfrm>
            </p:grpSpPr>
            <p:sp>
              <p:nvSpPr>
                <p:cNvPr id="329" name="Freeform 329"/>
                <p:cNvSpPr/>
                <p:nvPr/>
              </p:nvSpPr>
              <p:spPr>
                <a:xfrm>
                  <a:off x="5118500" y="62341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7C3B2F"/>
                  </a:solidFill>
                </a:ln>
              </p:spPr>
            </p:sp>
            <p:sp>
              <p:nvSpPr>
                <p:cNvPr id="330" name="Freeform 330"/>
                <p:cNvSpPr/>
                <p:nvPr/>
              </p:nvSpPr>
              <p:spPr>
                <a:xfrm>
                  <a:off x="5224462" y="6345237"/>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grpSp>
          <p:sp>
            <p:nvSpPr>
              <p:cNvPr id="332" name="TextBox 332"/>
              <p:cNvSpPr txBox="1"/>
              <p:nvPr/>
            </p:nvSpPr>
            <p:spPr>
              <a:xfrm>
                <a:off x="5462588" y="617434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隔离</a:t>
                </a:r>
              </a:p>
            </p:txBody>
          </p:sp>
          <p:sp>
            <p:nvSpPr>
              <p:cNvPr id="333" name="TextBox 333"/>
              <p:cNvSpPr txBox="1"/>
              <p:nvPr/>
            </p:nvSpPr>
            <p:spPr>
              <a:xfrm>
                <a:off x="5462588" y="6368653"/>
                <a:ext cx="635239"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熔断 · 限流 · 切流</a:t>
                </a:r>
              </a:p>
            </p:txBody>
          </p:sp>
        </p:grpSp>
        <p:sp>
          <p:nvSpPr>
            <p:cNvPr id="335" name="Polygon 335"/>
            <p:cNvSpPr/>
            <p:nvPr/>
          </p:nvSpPr>
          <p:spPr>
            <a:xfrm>
              <a:off x="6534150" y="6257925"/>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342" name="inc-fix"/>
            <p:cNvGrpSpPr/>
            <p:nvPr/>
          </p:nvGrpSpPr>
          <p:grpSpPr>
            <a:xfrm>
              <a:off x="6734175" y="6143625"/>
              <a:ext cx="1059102" cy="336947"/>
              <a:chOff x="6734175" y="6143625"/>
              <a:chExt cx="1059102" cy="336947"/>
            </a:xfrm>
          </p:grpSpPr>
          <p:sp>
            <p:nvSpPr>
              <p:cNvPr id="336" name="Ellipse 336"/>
              <p:cNvSpPr/>
              <p:nvPr/>
            </p:nvSpPr>
            <p:spPr>
              <a:xfrm>
                <a:off x="6734175" y="6143625"/>
                <a:ext cx="323850" cy="323850"/>
              </a:xfrm>
              <a:prstGeom prst="ellipse">
                <a:avLst/>
              </a:prstGeom>
              <a:solidFill>
                <a:srgbClr val="F4F8EC"/>
              </a:solidFill>
              <a:ln w="9525">
                <a:solidFill>
                  <a:srgbClr val="BE776A"/>
                </a:solidFill>
              </a:ln>
            </p:spPr>
          </p:sp>
          <p:grpSp>
            <p:nvGrpSpPr>
              <p:cNvPr id="339" name="Group 339"/>
              <p:cNvGrpSpPr/>
              <p:nvPr/>
            </p:nvGrpSpPr>
            <p:grpSpPr>
              <a:xfrm>
                <a:off x="6821178" y="6230628"/>
                <a:ext cx="149844" cy="149844"/>
                <a:chOff x="6821178" y="6230628"/>
                <a:chExt cx="149844" cy="149844"/>
              </a:xfrm>
            </p:grpSpPr>
            <p:sp>
              <p:nvSpPr>
                <p:cNvPr id="337" name="Freeform 337"/>
                <p:cNvSpPr/>
                <p:nvPr/>
              </p:nvSpPr>
              <p:spPr>
                <a:xfrm>
                  <a:off x="6821178" y="623062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7C3B2F"/>
                  </a:solidFill>
                </a:ln>
              </p:spPr>
            </p:sp>
            <p:sp>
              <p:nvSpPr>
                <p:cNvPr id="338" name="Freeform 338"/>
                <p:cNvSpPr/>
                <p:nvPr/>
              </p:nvSpPr>
              <p:spPr>
                <a:xfrm>
                  <a:off x="6872287" y="628173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7C3B2F"/>
                  </a:solidFill>
                </a:ln>
              </p:spPr>
            </p:sp>
          </p:grpSp>
          <p:sp>
            <p:nvSpPr>
              <p:cNvPr id="340" name="TextBox 340"/>
              <p:cNvSpPr txBox="1"/>
              <p:nvPr/>
            </p:nvSpPr>
            <p:spPr>
              <a:xfrm>
                <a:off x="7158038" y="617434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修复</a:t>
                </a:r>
              </a:p>
            </p:txBody>
          </p:sp>
          <p:sp>
            <p:nvSpPr>
              <p:cNvPr id="341" name="TextBox 341"/>
              <p:cNvSpPr txBox="1"/>
              <p:nvPr/>
            </p:nvSpPr>
            <p:spPr>
              <a:xfrm>
                <a:off x="7158038" y="6368653"/>
                <a:ext cx="635239"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配置 · 数据 · 代码</a:t>
                </a:r>
              </a:p>
            </p:txBody>
          </p:sp>
        </p:grpSp>
        <p:sp>
          <p:nvSpPr>
            <p:cNvPr id="343" name="Polygon 343"/>
            <p:cNvSpPr/>
            <p:nvPr/>
          </p:nvSpPr>
          <p:spPr>
            <a:xfrm>
              <a:off x="8229600" y="6257925"/>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352" name="inc-regress"/>
            <p:cNvGrpSpPr/>
            <p:nvPr/>
          </p:nvGrpSpPr>
          <p:grpSpPr>
            <a:xfrm>
              <a:off x="8429625" y="6143625"/>
              <a:ext cx="1123181" cy="336947"/>
              <a:chOff x="8429625" y="6143625"/>
              <a:chExt cx="1123181" cy="336947"/>
            </a:xfrm>
          </p:grpSpPr>
          <p:sp>
            <p:nvSpPr>
              <p:cNvPr id="344" name="Ellipse 344"/>
              <p:cNvSpPr/>
              <p:nvPr/>
            </p:nvSpPr>
            <p:spPr>
              <a:xfrm>
                <a:off x="8429625" y="6143625"/>
                <a:ext cx="323850" cy="323850"/>
              </a:xfrm>
              <a:prstGeom prst="ellipse">
                <a:avLst/>
              </a:prstGeom>
              <a:solidFill>
                <a:srgbClr val="F4F8EC"/>
              </a:solidFill>
              <a:ln w="9525">
                <a:solidFill>
                  <a:srgbClr val="BE776A"/>
                </a:solidFill>
              </a:ln>
            </p:spPr>
          </p:sp>
          <p:grpSp>
            <p:nvGrpSpPr>
              <p:cNvPr id="349" name="Group 349"/>
              <p:cNvGrpSpPr/>
              <p:nvPr/>
            </p:nvGrpSpPr>
            <p:grpSpPr>
              <a:xfrm>
                <a:off x="8520112" y="6242050"/>
                <a:ext cx="142875" cy="136525"/>
                <a:chOff x="8520112" y="6242050"/>
                <a:chExt cx="142875" cy="136525"/>
              </a:xfrm>
            </p:grpSpPr>
            <p:sp>
              <p:nvSpPr>
                <p:cNvPr id="345" name="Freeform 345"/>
                <p:cNvSpPr/>
                <p:nvPr/>
              </p:nvSpPr>
              <p:spPr>
                <a:xfrm>
                  <a:off x="8520112" y="63055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7C3B2F"/>
                  </a:solidFill>
                </a:ln>
              </p:spPr>
            </p:sp>
            <p:sp>
              <p:nvSpPr>
                <p:cNvPr id="346" name="Freeform 346"/>
                <p:cNvSpPr/>
                <p:nvPr/>
              </p:nvSpPr>
              <p:spPr>
                <a:xfrm>
                  <a:off x="8615362" y="62738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7C3B2F"/>
                  </a:solidFill>
                </a:ln>
              </p:spPr>
            </p:sp>
            <p:sp>
              <p:nvSpPr>
                <p:cNvPr id="347" name="Freeform 347"/>
                <p:cNvSpPr/>
                <p:nvPr/>
              </p:nvSpPr>
              <p:spPr>
                <a:xfrm>
                  <a:off x="8567737" y="62420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7C3B2F"/>
                  </a:solidFill>
                </a:ln>
              </p:spPr>
            </p:sp>
            <p:sp>
              <p:nvSpPr>
                <p:cNvPr id="348" name="Freeform 348"/>
                <p:cNvSpPr/>
                <p:nvPr/>
              </p:nvSpPr>
              <p:spPr>
                <a:xfrm>
                  <a:off x="8528050" y="6369050"/>
                  <a:ext cx="111125" cy="9525"/>
                </a:xfrm>
                <a:custGeom>
                  <a:avLst/>
                  <a:gdLst/>
                  <a:ahLst/>
                  <a:cxnLst/>
                  <a:rect l="l" t="t" r="r" b="b"/>
                  <a:pathLst>
                    <a:path w="111125" h="9525">
                      <a:moveTo>
                        <a:pt x="0" y="0"/>
                      </a:moveTo>
                      <a:lnTo>
                        <a:pt x="111125" y="0"/>
                      </a:lnTo>
                    </a:path>
                  </a:pathLst>
                </a:custGeom>
                <a:noFill/>
                <a:ln w="15875">
                  <a:solidFill>
                    <a:srgbClr val="7C3B2F"/>
                  </a:solidFill>
                </a:ln>
              </p:spPr>
            </p:sp>
          </p:grpSp>
          <p:sp>
            <p:nvSpPr>
              <p:cNvPr id="350" name="TextBox 350"/>
              <p:cNvSpPr txBox="1"/>
              <p:nvPr/>
            </p:nvSpPr>
            <p:spPr>
              <a:xfrm>
                <a:off x="8853488" y="617434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回归</a:t>
                </a:r>
              </a:p>
            </p:txBody>
          </p:sp>
          <p:sp>
            <p:nvSpPr>
              <p:cNvPr id="351" name="TextBox 351"/>
              <p:cNvSpPr txBox="1"/>
              <p:nvPr/>
            </p:nvSpPr>
            <p:spPr>
              <a:xfrm>
                <a:off x="8853488" y="6368653"/>
                <a:ext cx="699318"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验证修复 · 回归评测</a:t>
                </a:r>
              </a:p>
            </p:txBody>
          </p:sp>
        </p:grpSp>
        <p:sp>
          <p:nvSpPr>
            <p:cNvPr id="353" name="Polygon 353"/>
            <p:cNvSpPr/>
            <p:nvPr/>
          </p:nvSpPr>
          <p:spPr>
            <a:xfrm>
              <a:off x="9925050" y="6257925"/>
              <a:ext cx="95250" cy="95250"/>
            </a:xfrm>
            <a:custGeom>
              <a:avLst/>
              <a:gdLst/>
              <a:ahLst/>
              <a:cxnLst/>
              <a:rect l="l" t="t" r="r" b="b"/>
              <a:pathLst>
                <a:path w="95250" h="95250">
                  <a:moveTo>
                    <a:pt x="0" y="0"/>
                  </a:moveTo>
                  <a:lnTo>
                    <a:pt x="95250" y="47625"/>
                  </a:lnTo>
                  <a:lnTo>
                    <a:pt x="0" y="95250"/>
                  </a:lnTo>
                  <a:close/>
                </a:path>
              </a:pathLst>
            </a:custGeom>
            <a:solidFill>
              <a:srgbClr val="9A4B3C"/>
            </a:solidFill>
            <a:ln>
              <a:noFill/>
            </a:ln>
          </p:spPr>
        </p:sp>
        <p:grpSp>
          <p:nvGrpSpPr>
            <p:cNvPr id="361" name="inc-review"/>
            <p:cNvGrpSpPr/>
            <p:nvPr/>
          </p:nvGrpSpPr>
          <p:grpSpPr>
            <a:xfrm>
              <a:off x="10125075" y="6143625"/>
              <a:ext cx="1059102" cy="336947"/>
              <a:chOff x="10125075" y="6143625"/>
              <a:chExt cx="1059102" cy="336947"/>
            </a:xfrm>
          </p:grpSpPr>
          <p:sp>
            <p:nvSpPr>
              <p:cNvPr id="354" name="Ellipse 354"/>
              <p:cNvSpPr/>
              <p:nvPr/>
            </p:nvSpPr>
            <p:spPr>
              <a:xfrm>
                <a:off x="10125075" y="6143625"/>
                <a:ext cx="323850" cy="323850"/>
              </a:xfrm>
              <a:prstGeom prst="ellipse">
                <a:avLst/>
              </a:prstGeom>
              <a:solidFill>
                <a:srgbClr val="F4F8EC"/>
              </a:solidFill>
              <a:ln w="9525">
                <a:solidFill>
                  <a:srgbClr val="BE776A"/>
                </a:solidFill>
              </a:ln>
            </p:spPr>
          </p:sp>
          <p:grpSp>
            <p:nvGrpSpPr>
              <p:cNvPr id="358" name="Group 358"/>
              <p:cNvGrpSpPr/>
              <p:nvPr/>
            </p:nvGrpSpPr>
            <p:grpSpPr>
              <a:xfrm>
                <a:off x="10231437" y="6242050"/>
                <a:ext cx="111125" cy="127000"/>
                <a:chOff x="10231437" y="6242050"/>
                <a:chExt cx="111125" cy="127000"/>
              </a:xfrm>
            </p:grpSpPr>
            <p:sp>
              <p:nvSpPr>
                <p:cNvPr id="355" name="Freeform 355"/>
                <p:cNvSpPr/>
                <p:nvPr/>
              </p:nvSpPr>
              <p:spPr>
                <a:xfrm>
                  <a:off x="10231437" y="6242050"/>
                  <a:ext cx="111125" cy="127000"/>
                </a:xfrm>
                <a:custGeom>
                  <a:avLst/>
                  <a:gdLst/>
                  <a:ahLst/>
                  <a:cxnLst/>
                  <a:rect l="l" t="t" r="r" b="b"/>
                  <a:pathLst>
                    <a:path w="111125" h="127000">
                      <a:moveTo>
                        <a:pt x="111125" y="0"/>
                      </a:moveTo>
                      <a:lnTo>
                        <a:pt x="111125" y="127000"/>
                      </a:lnTo>
                      <a:lnTo>
                        <a:pt x="15875" y="127000"/>
                      </a:lnTo>
                      <a:cubicBezTo>
                        <a:pt x="7107" y="127000"/>
                        <a:pt x="0" y="119892"/>
                        <a:pt x="0" y="111125"/>
                      </a:cubicBezTo>
                      <a:lnTo>
                        <a:pt x="0" y="15875"/>
                      </a:lnTo>
                      <a:cubicBezTo>
                        <a:pt x="0" y="7107"/>
                        <a:pt x="7107" y="0"/>
                        <a:pt x="15875" y="0"/>
                      </a:cubicBezTo>
                      <a:lnTo>
                        <a:pt x="111125" y="0"/>
                      </a:lnTo>
                    </a:path>
                  </a:pathLst>
                </a:custGeom>
                <a:noFill/>
                <a:ln w="15875">
                  <a:solidFill>
                    <a:srgbClr val="7C3B2F"/>
                  </a:solidFill>
                </a:ln>
              </p:spPr>
            </p:sp>
            <p:sp>
              <p:nvSpPr>
                <p:cNvPr id="356" name="Freeform 356"/>
                <p:cNvSpPr/>
                <p:nvPr/>
              </p:nvSpPr>
              <p:spPr>
                <a:xfrm>
                  <a:off x="10231437" y="6337300"/>
                  <a:ext cx="111125" cy="15875"/>
                </a:xfrm>
                <a:custGeom>
                  <a:avLst/>
                  <a:gdLst/>
                  <a:ahLst/>
                  <a:cxnLst/>
                  <a:rect l="l" t="t" r="r" b="b"/>
                  <a:pathLst>
                    <a:path w="111125" h="15875">
                      <a:moveTo>
                        <a:pt x="111125" y="0"/>
                      </a:moveTo>
                      <a:lnTo>
                        <a:pt x="15875" y="0"/>
                      </a:lnTo>
                      <a:cubicBezTo>
                        <a:pt x="7107" y="0"/>
                        <a:pt x="0" y="7107"/>
                        <a:pt x="0" y="15875"/>
                      </a:cubicBezTo>
                    </a:path>
                  </a:pathLst>
                </a:custGeom>
                <a:noFill/>
                <a:ln w="15875">
                  <a:solidFill>
                    <a:srgbClr val="7C3B2F"/>
                  </a:solidFill>
                </a:ln>
              </p:spPr>
            </p:sp>
            <p:sp>
              <p:nvSpPr>
                <p:cNvPr id="357" name="Freeform 357"/>
                <p:cNvSpPr/>
                <p:nvPr/>
              </p:nvSpPr>
              <p:spPr>
                <a:xfrm>
                  <a:off x="10263187" y="6273800"/>
                  <a:ext cx="47625" cy="9525"/>
                </a:xfrm>
                <a:custGeom>
                  <a:avLst/>
                  <a:gdLst/>
                  <a:ahLst/>
                  <a:cxnLst/>
                  <a:rect l="l" t="t" r="r" b="b"/>
                  <a:pathLst>
                    <a:path w="47625" h="9525">
                      <a:moveTo>
                        <a:pt x="0" y="0"/>
                      </a:moveTo>
                      <a:lnTo>
                        <a:pt x="47625" y="0"/>
                      </a:lnTo>
                    </a:path>
                  </a:pathLst>
                </a:custGeom>
                <a:noFill/>
                <a:ln w="15875">
                  <a:solidFill>
                    <a:srgbClr val="7C3B2F"/>
                  </a:solidFill>
                </a:ln>
              </p:spPr>
            </p:sp>
          </p:grpSp>
          <p:sp>
            <p:nvSpPr>
              <p:cNvPr id="359" name="TextBox 359"/>
              <p:cNvSpPr txBox="1"/>
              <p:nvPr/>
            </p:nvSpPr>
            <p:spPr>
              <a:xfrm>
                <a:off x="10548938" y="617434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复盘</a:t>
                </a:r>
              </a:p>
            </p:txBody>
          </p:sp>
          <p:sp>
            <p:nvSpPr>
              <p:cNvPr id="360" name="TextBox 360"/>
              <p:cNvSpPr txBox="1"/>
              <p:nvPr/>
            </p:nvSpPr>
            <p:spPr>
              <a:xfrm>
                <a:off x="10548938" y="6368653"/>
                <a:ext cx="635239"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总结 · 改进 · 沉淀</a:t>
                </a:r>
              </a:p>
            </p:txBody>
          </p:sp>
        </p:grpSp>
      </p:gr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13</a:t>
              </a:r>
            </a:p>
          </p:txBody>
        </p:sp>
        <p:sp>
          <p:nvSpPr>
            <p:cNvPr id="4" name="TextBox 4"/>
            <p:cNvSpPr txBox="1"/>
            <p:nvPr/>
          </p:nvSpPr>
          <p:spPr>
            <a:xfrm>
              <a:off x="942594" y="151448"/>
              <a:ext cx="72313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人机协同的关键不是保留人工，而是</a:t>
              </a:r>
              <a:r>
                <a:rPr lang="zh-CN" sz="1950" b="1" dirty="0">
                  <a:solidFill>
                    <a:srgbClr val="7C3B2F"/>
                  </a:solidFill>
                  <a:latin typeface="SimSun"/>
                  <a:ea typeface="SimSun"/>
                  <a:cs typeface="SimSun"/>
                </a:rPr>
                <a:t>把判断权放在正确节点</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60" name="roles"/>
          <p:cNvGrpSpPr/>
          <p:nvPr/>
        </p:nvGrpSpPr>
        <p:grpSpPr>
          <a:xfrm>
            <a:off x="228600" y="628650"/>
            <a:ext cx="2286000" cy="4362450"/>
            <a:chOff x="228600" y="628650"/>
            <a:chExt cx="2286000" cy="4362450"/>
          </a:xfrm>
        </p:grpSpPr>
        <p:sp>
          <p:nvSpPr>
            <p:cNvPr id="7" name="Rectangle 7"/>
            <p:cNvSpPr/>
            <p:nvPr/>
          </p:nvSpPr>
          <p:spPr>
            <a:xfrm>
              <a:off x="228600" y="628650"/>
              <a:ext cx="2286000" cy="228600"/>
            </a:xfrm>
            <a:prstGeom prst="roundRect">
              <a:avLst>
                <a:gd name="adj" fmla="val 25000"/>
              </a:avLst>
            </a:prstGeom>
            <a:solidFill>
              <a:srgbClr val="42140B"/>
            </a:solidFill>
            <a:ln>
              <a:noFill/>
            </a:ln>
          </p:spPr>
        </p:sp>
        <p:sp>
          <p:nvSpPr>
            <p:cNvPr id="8" name="TextBox 8"/>
            <p:cNvSpPr txBox="1"/>
            <p:nvPr/>
          </p:nvSpPr>
          <p:spPr>
            <a:xfrm>
              <a:off x="1077404" y="697468"/>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角色与职责</a:t>
              </a:r>
            </a:p>
          </p:txBody>
        </p:sp>
        <p:grpSp>
          <p:nvGrpSpPr>
            <p:cNvPr id="17" name="role-owner"/>
            <p:cNvGrpSpPr/>
            <p:nvPr/>
          </p:nvGrpSpPr>
          <p:grpSpPr>
            <a:xfrm>
              <a:off x="228600" y="933450"/>
              <a:ext cx="2286000" cy="628650"/>
              <a:chOff x="228600" y="933450"/>
              <a:chExt cx="2286000" cy="628650"/>
            </a:xfrm>
          </p:grpSpPr>
          <p:sp>
            <p:nvSpPr>
              <p:cNvPr id="9" name="Rectangle 9"/>
              <p:cNvSpPr/>
              <p:nvPr/>
            </p:nvSpPr>
            <p:spPr>
              <a:xfrm>
                <a:off x="228600" y="933450"/>
                <a:ext cx="2286000" cy="628650"/>
              </a:xfrm>
              <a:prstGeom prst="roundRect">
                <a:avLst>
                  <a:gd name="adj" fmla="val 12121"/>
                </a:avLst>
              </a:prstGeom>
              <a:solidFill>
                <a:srgbClr val="F4F8EC"/>
              </a:solidFill>
              <a:ln w="9525">
                <a:solidFill>
                  <a:srgbClr val="D9E8C6"/>
                </a:solidFill>
              </a:ln>
            </p:spPr>
          </p:sp>
          <p:sp>
            <p:nvSpPr>
              <p:cNvPr id="10" name="Ellipse 10"/>
              <p:cNvSpPr/>
              <p:nvPr/>
            </p:nvSpPr>
            <p:spPr>
              <a:xfrm>
                <a:off x="333375" y="1085850"/>
                <a:ext cx="323850" cy="323850"/>
              </a:xfrm>
              <a:prstGeom prst="ellipse">
                <a:avLst/>
              </a:prstGeom>
              <a:solidFill>
                <a:srgbClr val="FFFFFF"/>
              </a:solidFill>
              <a:ln w="9525">
                <a:solidFill>
                  <a:srgbClr val="BE776A"/>
                </a:solidFill>
              </a:ln>
            </p:spPr>
          </p:sp>
          <p:grpSp>
            <p:nvGrpSpPr>
              <p:cNvPr id="14" name="Group 14"/>
              <p:cNvGrpSpPr/>
              <p:nvPr/>
            </p:nvGrpSpPr>
            <p:grpSpPr>
              <a:xfrm>
                <a:off x="447675" y="1176337"/>
                <a:ext cx="119062" cy="142875"/>
                <a:chOff x="447675" y="1176337"/>
                <a:chExt cx="119062" cy="142875"/>
              </a:xfrm>
            </p:grpSpPr>
            <p:sp>
              <p:nvSpPr>
                <p:cNvPr id="11" name="Freeform 11"/>
                <p:cNvSpPr/>
                <p:nvPr/>
              </p:nvSpPr>
              <p:spPr>
                <a:xfrm>
                  <a:off x="463550" y="117633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7C3B2F"/>
                  </a:solidFill>
                </a:ln>
              </p:spPr>
            </p:sp>
            <p:sp>
              <p:nvSpPr>
                <p:cNvPr id="12" name="Freeform 12"/>
                <p:cNvSpPr/>
                <p:nvPr/>
              </p:nvSpPr>
              <p:spPr>
                <a:xfrm>
                  <a:off x="447675" y="1271587"/>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7C3B2F"/>
                  </a:solidFill>
                </a:ln>
              </p:spPr>
            </p:sp>
            <p:sp>
              <p:nvSpPr>
                <p:cNvPr id="13" name="Freeform 13"/>
                <p:cNvSpPr/>
                <p:nvPr/>
              </p:nvSpPr>
              <p:spPr>
                <a:xfrm>
                  <a:off x="519112" y="1287462"/>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grpSp>
          <p:sp>
            <p:nvSpPr>
              <p:cNvPr id="15" name="TextBox 15"/>
              <p:cNvSpPr txBox="1"/>
              <p:nvPr/>
            </p:nvSpPr>
            <p:spPr>
              <a:xfrm>
                <a:off x="757238" y="1096089"/>
                <a:ext cx="684308"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 xml:space="preserve">业务Owner　</a:t>
                </a:r>
              </a:p>
            </p:txBody>
          </p:sp>
          <p:sp>
            <p:nvSpPr>
              <p:cNvPr id="16" name="TextBox 16"/>
              <p:cNvSpPr txBox="1"/>
              <p:nvPr/>
            </p:nvSpPr>
            <p:spPr>
              <a:xfrm>
                <a:off x="757238" y="1272778"/>
                <a:ext cx="72072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定义目标与评估影响，</a:t>
                </a:r>
                <a:br/>
                <a:r>
                  <a:rPr lang="zh-CN" sz="560" dirty="0">
                    <a:solidFill>
                      <a:srgbClr val="3A4238"/>
                    </a:solidFill>
                    <a:latin typeface="+mn-lt"/>
                    <a:ea typeface="+mn-ea"/>
                    <a:cs typeface="+mn-cs"/>
                  </a:rPr>
                  <a:t>对业务结果负责</a:t>
                </a:r>
              </a:p>
            </p:txBody>
          </p:sp>
        </p:grpSp>
        <p:grpSp>
          <p:nvGrpSpPr>
            <p:cNvPr id="26" name="role-expert"/>
            <p:cNvGrpSpPr/>
            <p:nvPr/>
          </p:nvGrpSpPr>
          <p:grpSpPr>
            <a:xfrm>
              <a:off x="228600" y="1619250"/>
              <a:ext cx="2286000" cy="628650"/>
              <a:chOff x="228600" y="1619250"/>
              <a:chExt cx="2286000" cy="628650"/>
            </a:xfrm>
          </p:grpSpPr>
          <p:sp>
            <p:nvSpPr>
              <p:cNvPr id="18" name="Rectangle 18"/>
              <p:cNvSpPr/>
              <p:nvPr/>
            </p:nvSpPr>
            <p:spPr>
              <a:xfrm>
                <a:off x="228600" y="1619250"/>
                <a:ext cx="2286000" cy="628650"/>
              </a:xfrm>
              <a:prstGeom prst="roundRect">
                <a:avLst>
                  <a:gd name="adj" fmla="val 12121"/>
                </a:avLst>
              </a:prstGeom>
              <a:solidFill>
                <a:srgbClr val="FFFFFF"/>
              </a:solidFill>
              <a:ln w="9525">
                <a:solidFill>
                  <a:srgbClr val="D9E8C6"/>
                </a:solidFill>
              </a:ln>
            </p:spPr>
          </p:sp>
          <p:sp>
            <p:nvSpPr>
              <p:cNvPr id="19" name="Ellipse 19"/>
              <p:cNvSpPr/>
              <p:nvPr/>
            </p:nvSpPr>
            <p:spPr>
              <a:xfrm>
                <a:off x="333375" y="1771650"/>
                <a:ext cx="323850" cy="323850"/>
              </a:xfrm>
              <a:prstGeom prst="ellipse">
                <a:avLst/>
              </a:prstGeom>
              <a:solidFill>
                <a:srgbClr val="FFFFFF"/>
              </a:solidFill>
              <a:ln w="9525">
                <a:solidFill>
                  <a:srgbClr val="BE776A"/>
                </a:solidFill>
              </a:ln>
            </p:spPr>
          </p:sp>
          <p:grpSp>
            <p:nvGrpSpPr>
              <p:cNvPr id="23" name="Group 23"/>
              <p:cNvGrpSpPr/>
              <p:nvPr/>
            </p:nvGrpSpPr>
            <p:grpSpPr>
              <a:xfrm>
                <a:off x="427053" y="1862137"/>
                <a:ext cx="136478" cy="142002"/>
                <a:chOff x="427053" y="1862137"/>
                <a:chExt cx="136478" cy="142002"/>
              </a:xfrm>
            </p:grpSpPr>
            <p:sp>
              <p:nvSpPr>
                <p:cNvPr id="20" name="Freeform 20"/>
                <p:cNvSpPr/>
                <p:nvPr/>
              </p:nvSpPr>
              <p:spPr>
                <a:xfrm>
                  <a:off x="447675" y="1862137"/>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7C3B2F"/>
                  </a:solidFill>
                </a:ln>
              </p:spPr>
            </p:sp>
            <p:sp>
              <p:nvSpPr>
                <p:cNvPr id="21" name="Freeform 21"/>
                <p:cNvSpPr/>
                <p:nvPr/>
              </p:nvSpPr>
              <p:spPr>
                <a:xfrm>
                  <a:off x="495300" y="1933575"/>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7C3B2F"/>
                  </a:solidFill>
                </a:ln>
              </p:spPr>
            </p:sp>
            <p:sp>
              <p:nvSpPr>
                <p:cNvPr id="22" name="Freeform 22"/>
                <p:cNvSpPr/>
                <p:nvPr/>
              </p:nvSpPr>
              <p:spPr>
                <a:xfrm>
                  <a:off x="427053" y="1933575"/>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7C3B2F"/>
                  </a:solidFill>
                </a:ln>
              </p:spPr>
            </p:sp>
          </p:grpSp>
          <p:sp>
            <p:nvSpPr>
              <p:cNvPr id="24" name="TextBox 24"/>
              <p:cNvSpPr txBox="1"/>
              <p:nvPr/>
            </p:nvSpPr>
            <p:spPr>
              <a:xfrm>
                <a:off x="757238" y="178188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领域专家</a:t>
                </a:r>
              </a:p>
            </p:txBody>
          </p:sp>
          <p:sp>
            <p:nvSpPr>
              <p:cNvPr id="25" name="TextBox 25"/>
              <p:cNvSpPr txBox="1"/>
              <p:nvPr/>
            </p:nvSpPr>
            <p:spPr>
              <a:xfrm>
                <a:off x="757238" y="1958578"/>
                <a:ext cx="72072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提供专业判断与标准，</a:t>
                </a:r>
                <a:br/>
                <a:r>
                  <a:rPr lang="zh-CN" sz="560" dirty="0">
                    <a:solidFill>
                      <a:srgbClr val="3A4238"/>
                    </a:solidFill>
                    <a:latin typeface="+mn-lt"/>
                    <a:ea typeface="+mn-ea"/>
                    <a:cs typeface="+mn-cs"/>
                  </a:rPr>
                  <a:t>把关复杂与高风险决策</a:t>
                </a:r>
              </a:p>
            </p:txBody>
          </p:sp>
        </p:grpSp>
        <p:grpSp>
          <p:nvGrpSpPr>
            <p:cNvPr id="35" name="role-ops"/>
            <p:cNvGrpSpPr/>
            <p:nvPr/>
          </p:nvGrpSpPr>
          <p:grpSpPr>
            <a:xfrm>
              <a:off x="228600" y="2305050"/>
              <a:ext cx="2286000" cy="628650"/>
              <a:chOff x="228600" y="2305050"/>
              <a:chExt cx="2286000" cy="628650"/>
            </a:xfrm>
          </p:grpSpPr>
          <p:sp>
            <p:nvSpPr>
              <p:cNvPr id="27" name="Rectangle 27"/>
              <p:cNvSpPr/>
              <p:nvPr/>
            </p:nvSpPr>
            <p:spPr>
              <a:xfrm>
                <a:off x="228600" y="2305050"/>
                <a:ext cx="2286000" cy="628650"/>
              </a:xfrm>
              <a:prstGeom prst="roundRect">
                <a:avLst>
                  <a:gd name="adj" fmla="val 12121"/>
                </a:avLst>
              </a:prstGeom>
              <a:solidFill>
                <a:srgbClr val="F4F8EC"/>
              </a:solidFill>
              <a:ln w="9525">
                <a:solidFill>
                  <a:srgbClr val="D9E8C6"/>
                </a:solidFill>
              </a:ln>
            </p:spPr>
          </p:sp>
          <p:sp>
            <p:nvSpPr>
              <p:cNvPr id="28" name="Ellipse 28"/>
              <p:cNvSpPr/>
              <p:nvPr/>
            </p:nvSpPr>
            <p:spPr>
              <a:xfrm>
                <a:off x="333375" y="2457450"/>
                <a:ext cx="323850" cy="323850"/>
              </a:xfrm>
              <a:prstGeom prst="ellipse">
                <a:avLst/>
              </a:prstGeom>
              <a:solidFill>
                <a:srgbClr val="FFFFFF"/>
              </a:solidFill>
              <a:ln w="9525">
                <a:solidFill>
                  <a:srgbClr val="BE776A"/>
                </a:solidFill>
              </a:ln>
            </p:spPr>
          </p:sp>
          <p:grpSp>
            <p:nvGrpSpPr>
              <p:cNvPr id="32" name="Group 32"/>
              <p:cNvGrpSpPr/>
              <p:nvPr/>
            </p:nvGrpSpPr>
            <p:grpSpPr>
              <a:xfrm>
                <a:off x="439737" y="2555875"/>
                <a:ext cx="111125" cy="127000"/>
                <a:chOff x="439737" y="2555875"/>
                <a:chExt cx="111125" cy="127000"/>
              </a:xfrm>
            </p:grpSpPr>
            <p:sp>
              <p:nvSpPr>
                <p:cNvPr id="29" name="Freeform 29"/>
                <p:cNvSpPr/>
                <p:nvPr/>
              </p:nvSpPr>
              <p:spPr>
                <a:xfrm>
                  <a:off x="439737" y="2555875"/>
                  <a:ext cx="111125" cy="127000"/>
                </a:xfrm>
                <a:custGeom>
                  <a:avLst/>
                  <a:gdLst/>
                  <a:ahLst/>
                  <a:cxnLst/>
                  <a:rect l="l" t="t" r="r" b="b"/>
                  <a:pathLst>
                    <a:path w="111125" h="127000">
                      <a:moveTo>
                        <a:pt x="111125" y="0"/>
                      </a:moveTo>
                      <a:lnTo>
                        <a:pt x="111125" y="127000"/>
                      </a:lnTo>
                      <a:lnTo>
                        <a:pt x="15875" y="127000"/>
                      </a:lnTo>
                      <a:cubicBezTo>
                        <a:pt x="7107" y="127000"/>
                        <a:pt x="0" y="119892"/>
                        <a:pt x="0" y="111125"/>
                      </a:cubicBezTo>
                      <a:lnTo>
                        <a:pt x="0" y="15875"/>
                      </a:lnTo>
                      <a:cubicBezTo>
                        <a:pt x="0" y="7107"/>
                        <a:pt x="7107" y="0"/>
                        <a:pt x="15875" y="0"/>
                      </a:cubicBezTo>
                      <a:lnTo>
                        <a:pt x="111125" y="0"/>
                      </a:lnTo>
                    </a:path>
                  </a:pathLst>
                </a:custGeom>
                <a:noFill/>
                <a:ln w="15875">
                  <a:solidFill>
                    <a:srgbClr val="7C3B2F"/>
                  </a:solidFill>
                </a:ln>
              </p:spPr>
            </p:sp>
            <p:sp>
              <p:nvSpPr>
                <p:cNvPr id="30" name="Freeform 30"/>
                <p:cNvSpPr/>
                <p:nvPr/>
              </p:nvSpPr>
              <p:spPr>
                <a:xfrm>
                  <a:off x="439737" y="2651125"/>
                  <a:ext cx="111125" cy="15875"/>
                </a:xfrm>
                <a:custGeom>
                  <a:avLst/>
                  <a:gdLst/>
                  <a:ahLst/>
                  <a:cxnLst/>
                  <a:rect l="l" t="t" r="r" b="b"/>
                  <a:pathLst>
                    <a:path w="111125" h="15875">
                      <a:moveTo>
                        <a:pt x="111125" y="0"/>
                      </a:moveTo>
                      <a:lnTo>
                        <a:pt x="15875" y="0"/>
                      </a:lnTo>
                      <a:cubicBezTo>
                        <a:pt x="7107" y="0"/>
                        <a:pt x="0" y="7107"/>
                        <a:pt x="0" y="15875"/>
                      </a:cubicBezTo>
                    </a:path>
                  </a:pathLst>
                </a:custGeom>
                <a:noFill/>
                <a:ln w="15875">
                  <a:solidFill>
                    <a:srgbClr val="7C3B2F"/>
                  </a:solidFill>
                </a:ln>
              </p:spPr>
            </p:sp>
            <p:sp>
              <p:nvSpPr>
                <p:cNvPr id="31" name="Freeform 31"/>
                <p:cNvSpPr/>
                <p:nvPr/>
              </p:nvSpPr>
              <p:spPr>
                <a:xfrm>
                  <a:off x="471487" y="2587625"/>
                  <a:ext cx="47625" cy="9525"/>
                </a:xfrm>
                <a:custGeom>
                  <a:avLst/>
                  <a:gdLst/>
                  <a:ahLst/>
                  <a:cxnLst/>
                  <a:rect l="l" t="t" r="r" b="b"/>
                  <a:pathLst>
                    <a:path w="47625" h="9525">
                      <a:moveTo>
                        <a:pt x="0" y="0"/>
                      </a:moveTo>
                      <a:lnTo>
                        <a:pt x="47625" y="0"/>
                      </a:lnTo>
                    </a:path>
                  </a:pathLst>
                </a:custGeom>
                <a:noFill/>
                <a:ln w="15875">
                  <a:solidFill>
                    <a:srgbClr val="7C3B2F"/>
                  </a:solidFill>
                </a:ln>
              </p:spPr>
            </p:sp>
          </p:grpSp>
          <p:sp>
            <p:nvSpPr>
              <p:cNvPr id="33" name="TextBox 33"/>
              <p:cNvSpPr txBox="1"/>
              <p:nvPr/>
            </p:nvSpPr>
            <p:spPr>
              <a:xfrm>
                <a:off x="757238" y="246768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知识运营</a:t>
                </a:r>
              </a:p>
            </p:txBody>
          </p:sp>
          <p:sp>
            <p:nvSpPr>
              <p:cNvPr id="34" name="TextBox 34"/>
              <p:cNvSpPr txBox="1"/>
              <p:nvPr/>
            </p:nvSpPr>
            <p:spPr>
              <a:xfrm>
                <a:off x="757238" y="2644378"/>
                <a:ext cx="72072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沉淀与维护知识资产，</a:t>
                </a:r>
                <a:br/>
                <a:r>
                  <a:rPr lang="zh-CN" sz="560" dirty="0">
                    <a:solidFill>
                      <a:srgbClr val="3A4238"/>
                    </a:solidFill>
                    <a:latin typeface="+mn-lt"/>
                    <a:ea typeface="+mn-ea"/>
                    <a:cs typeface="+mn-cs"/>
                  </a:rPr>
                  <a:t>提升可检索性与可用性</a:t>
                </a:r>
              </a:p>
            </p:txBody>
          </p:sp>
        </p:grpSp>
        <p:grpSp>
          <p:nvGrpSpPr>
            <p:cNvPr id="43" name="role-pm"/>
            <p:cNvGrpSpPr/>
            <p:nvPr/>
          </p:nvGrpSpPr>
          <p:grpSpPr>
            <a:xfrm>
              <a:off x="228600" y="2990850"/>
              <a:ext cx="2286000" cy="628650"/>
              <a:chOff x="228600" y="2990850"/>
              <a:chExt cx="2286000" cy="628650"/>
            </a:xfrm>
          </p:grpSpPr>
          <p:sp>
            <p:nvSpPr>
              <p:cNvPr id="36" name="Rectangle 36"/>
              <p:cNvSpPr/>
              <p:nvPr/>
            </p:nvSpPr>
            <p:spPr>
              <a:xfrm>
                <a:off x="228600" y="2990850"/>
                <a:ext cx="2286000" cy="628650"/>
              </a:xfrm>
              <a:prstGeom prst="roundRect">
                <a:avLst>
                  <a:gd name="adj" fmla="val 12121"/>
                </a:avLst>
              </a:prstGeom>
              <a:solidFill>
                <a:srgbClr val="FFFFFF"/>
              </a:solidFill>
              <a:ln w="9525">
                <a:solidFill>
                  <a:srgbClr val="D9E8C6"/>
                </a:solidFill>
              </a:ln>
            </p:spPr>
          </p:sp>
          <p:sp>
            <p:nvSpPr>
              <p:cNvPr id="37" name="Ellipse 37"/>
              <p:cNvSpPr/>
              <p:nvPr/>
            </p:nvSpPr>
            <p:spPr>
              <a:xfrm>
                <a:off x="333375" y="3143250"/>
                <a:ext cx="323850" cy="323850"/>
              </a:xfrm>
              <a:prstGeom prst="ellipse">
                <a:avLst/>
              </a:prstGeom>
              <a:solidFill>
                <a:srgbClr val="FFFFFF"/>
              </a:solidFill>
              <a:ln w="9525">
                <a:solidFill>
                  <a:srgbClr val="BE776A"/>
                </a:solidFill>
              </a:ln>
            </p:spPr>
          </p:sp>
          <p:grpSp>
            <p:nvGrpSpPr>
              <p:cNvPr id="40" name="Group 40"/>
              <p:cNvGrpSpPr/>
              <p:nvPr/>
            </p:nvGrpSpPr>
            <p:grpSpPr>
              <a:xfrm>
                <a:off x="431800" y="3257550"/>
                <a:ext cx="127000" cy="112712"/>
                <a:chOff x="431800" y="3257550"/>
                <a:chExt cx="127000" cy="112712"/>
              </a:xfrm>
            </p:grpSpPr>
            <p:sp>
              <p:nvSpPr>
                <p:cNvPr id="38" name="Freeform 38"/>
                <p:cNvSpPr/>
                <p:nvPr/>
              </p:nvSpPr>
              <p:spPr>
                <a:xfrm>
                  <a:off x="431800" y="3360737"/>
                  <a:ext cx="127000" cy="9525"/>
                </a:xfrm>
                <a:custGeom>
                  <a:avLst/>
                  <a:gdLst/>
                  <a:ahLst/>
                  <a:cxnLst/>
                  <a:rect l="l" t="t" r="r" b="b"/>
                  <a:pathLst>
                    <a:path w="127000" h="9525">
                      <a:moveTo>
                        <a:pt x="0" y="0"/>
                      </a:moveTo>
                      <a:lnTo>
                        <a:pt x="127000" y="0"/>
                      </a:lnTo>
                    </a:path>
                  </a:pathLst>
                </a:custGeom>
                <a:noFill/>
                <a:ln w="15875">
                  <a:solidFill>
                    <a:srgbClr val="7C3B2F"/>
                  </a:solidFill>
                </a:ln>
              </p:spPr>
            </p:sp>
            <p:sp>
              <p:nvSpPr>
                <p:cNvPr id="39" name="Freeform 39"/>
                <p:cNvSpPr/>
                <p:nvPr/>
              </p:nvSpPr>
              <p:spPr>
                <a:xfrm>
                  <a:off x="431800" y="3257550"/>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7C3B2F"/>
                  </a:solidFill>
                </a:ln>
              </p:spPr>
            </p:sp>
          </p:grpSp>
          <p:sp>
            <p:nvSpPr>
              <p:cNvPr id="41" name="TextBox 41"/>
              <p:cNvSpPr txBox="1"/>
              <p:nvPr/>
            </p:nvSpPr>
            <p:spPr>
              <a:xfrm>
                <a:off x="757238" y="3153489"/>
                <a:ext cx="64156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 xml:space="preserve">AI产品经理　</a:t>
                </a:r>
              </a:p>
            </p:txBody>
          </p:sp>
          <p:sp>
            <p:nvSpPr>
              <p:cNvPr id="42" name="TextBox 42"/>
              <p:cNvSpPr txBox="1"/>
              <p:nvPr/>
            </p:nvSpPr>
            <p:spPr>
              <a:xfrm>
                <a:off x="757238" y="3330178"/>
                <a:ext cx="72072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定义场景与体验，</a:t>
                </a:r>
                <a:br/>
                <a:r>
                  <a:rPr lang="zh-CN" sz="560" dirty="0">
                    <a:solidFill>
                      <a:srgbClr val="3A4238"/>
                    </a:solidFill>
                    <a:latin typeface="+mn-lt"/>
                    <a:ea typeface="+mn-ea"/>
                    <a:cs typeface="+mn-cs"/>
                  </a:rPr>
                  <a:t>平衡效果、成本与风险</a:t>
                </a:r>
              </a:p>
            </p:txBody>
          </p:sp>
        </p:grpSp>
        <p:grpSp>
          <p:nvGrpSpPr>
            <p:cNvPr id="51" name="role-eng"/>
            <p:cNvGrpSpPr/>
            <p:nvPr/>
          </p:nvGrpSpPr>
          <p:grpSpPr>
            <a:xfrm>
              <a:off x="228600" y="3676650"/>
              <a:ext cx="2286000" cy="628650"/>
              <a:chOff x="228600" y="3676650"/>
              <a:chExt cx="2286000" cy="628650"/>
            </a:xfrm>
          </p:grpSpPr>
          <p:sp>
            <p:nvSpPr>
              <p:cNvPr id="44" name="Rectangle 44"/>
              <p:cNvSpPr/>
              <p:nvPr/>
            </p:nvSpPr>
            <p:spPr>
              <a:xfrm>
                <a:off x="228600" y="3676650"/>
                <a:ext cx="2286000" cy="628650"/>
              </a:xfrm>
              <a:prstGeom prst="roundRect">
                <a:avLst>
                  <a:gd name="adj" fmla="val 12121"/>
                </a:avLst>
              </a:prstGeom>
              <a:solidFill>
                <a:srgbClr val="F4F8EC"/>
              </a:solidFill>
              <a:ln w="9525">
                <a:solidFill>
                  <a:srgbClr val="D9E8C6"/>
                </a:solidFill>
              </a:ln>
            </p:spPr>
          </p:sp>
          <p:sp>
            <p:nvSpPr>
              <p:cNvPr id="45" name="Ellipse 45"/>
              <p:cNvSpPr/>
              <p:nvPr/>
            </p:nvSpPr>
            <p:spPr>
              <a:xfrm>
                <a:off x="333375" y="3829050"/>
                <a:ext cx="323850" cy="323850"/>
              </a:xfrm>
              <a:prstGeom prst="ellipse">
                <a:avLst/>
              </a:prstGeom>
              <a:solidFill>
                <a:srgbClr val="FFFFFF"/>
              </a:solidFill>
              <a:ln w="9525">
                <a:solidFill>
                  <a:srgbClr val="BE776A"/>
                </a:solidFill>
              </a:ln>
            </p:spPr>
          </p:sp>
          <p:grpSp>
            <p:nvGrpSpPr>
              <p:cNvPr id="48" name="Group 48"/>
              <p:cNvGrpSpPr/>
              <p:nvPr/>
            </p:nvGrpSpPr>
            <p:grpSpPr>
              <a:xfrm>
                <a:off x="420378" y="3916053"/>
                <a:ext cx="149844" cy="149844"/>
                <a:chOff x="420378" y="3916053"/>
                <a:chExt cx="149844" cy="149844"/>
              </a:xfrm>
            </p:grpSpPr>
            <p:sp>
              <p:nvSpPr>
                <p:cNvPr id="46" name="Freeform 46"/>
                <p:cNvSpPr/>
                <p:nvPr/>
              </p:nvSpPr>
              <p:spPr>
                <a:xfrm>
                  <a:off x="420378" y="3916053"/>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7C3B2F"/>
                  </a:solidFill>
                </a:ln>
              </p:spPr>
            </p:sp>
            <p:sp>
              <p:nvSpPr>
                <p:cNvPr id="47" name="Freeform 47"/>
                <p:cNvSpPr/>
                <p:nvPr/>
              </p:nvSpPr>
              <p:spPr>
                <a:xfrm>
                  <a:off x="471487" y="39671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7C3B2F"/>
                  </a:solidFill>
                </a:ln>
              </p:spPr>
            </p:sp>
          </p:grpSp>
          <p:sp>
            <p:nvSpPr>
              <p:cNvPr id="49" name="TextBox 49"/>
              <p:cNvSpPr txBox="1"/>
              <p:nvPr/>
            </p:nvSpPr>
            <p:spPr>
              <a:xfrm>
                <a:off x="757238" y="383928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模型工程</a:t>
                </a:r>
              </a:p>
            </p:txBody>
          </p:sp>
          <p:sp>
            <p:nvSpPr>
              <p:cNvPr id="50" name="TextBox 50"/>
              <p:cNvSpPr txBox="1"/>
              <p:nvPr/>
            </p:nvSpPr>
            <p:spPr>
              <a:xfrm>
                <a:off x="757238" y="4015978"/>
                <a:ext cx="72072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负责模型与检索质量，</a:t>
                </a:r>
                <a:br/>
                <a:r>
                  <a:rPr lang="zh-CN" sz="560" dirty="0">
                    <a:solidFill>
                      <a:srgbClr val="3A4238"/>
                    </a:solidFill>
                    <a:latin typeface="+mn-lt"/>
                    <a:ea typeface="+mn-ea"/>
                    <a:cs typeface="+mn-cs"/>
                  </a:rPr>
                  <a:t>保障稳定性与可观测性</a:t>
                </a:r>
              </a:p>
            </p:txBody>
          </p:sp>
        </p:grpSp>
        <p:grpSp>
          <p:nvGrpSpPr>
            <p:cNvPr id="59" name="role-risk"/>
            <p:cNvGrpSpPr/>
            <p:nvPr/>
          </p:nvGrpSpPr>
          <p:grpSpPr>
            <a:xfrm>
              <a:off x="228600" y="4362450"/>
              <a:ext cx="2286000" cy="628650"/>
              <a:chOff x="228600" y="4362450"/>
              <a:chExt cx="2286000" cy="628650"/>
            </a:xfrm>
          </p:grpSpPr>
          <p:sp>
            <p:nvSpPr>
              <p:cNvPr id="52" name="Rectangle 52"/>
              <p:cNvSpPr/>
              <p:nvPr/>
            </p:nvSpPr>
            <p:spPr>
              <a:xfrm>
                <a:off x="228600" y="4362450"/>
                <a:ext cx="2286000" cy="628650"/>
              </a:xfrm>
              <a:prstGeom prst="roundRect">
                <a:avLst>
                  <a:gd name="adj" fmla="val 12121"/>
                </a:avLst>
              </a:prstGeom>
              <a:solidFill>
                <a:srgbClr val="FFFFFF"/>
              </a:solidFill>
              <a:ln w="9525">
                <a:solidFill>
                  <a:srgbClr val="D9E8C6"/>
                </a:solidFill>
              </a:ln>
            </p:spPr>
          </p:sp>
          <p:sp>
            <p:nvSpPr>
              <p:cNvPr id="53" name="Ellipse 53"/>
              <p:cNvSpPr/>
              <p:nvPr/>
            </p:nvSpPr>
            <p:spPr>
              <a:xfrm>
                <a:off x="333375" y="4514850"/>
                <a:ext cx="323850" cy="323850"/>
              </a:xfrm>
              <a:prstGeom prst="ellipse">
                <a:avLst/>
              </a:prstGeom>
              <a:solidFill>
                <a:srgbClr val="FFFFFF"/>
              </a:solidFill>
              <a:ln w="9525">
                <a:solidFill>
                  <a:srgbClr val="BE776A"/>
                </a:solidFill>
              </a:ln>
            </p:spPr>
          </p:sp>
          <p:grpSp>
            <p:nvGrpSpPr>
              <p:cNvPr id="56" name="Group 56"/>
              <p:cNvGrpSpPr/>
              <p:nvPr/>
            </p:nvGrpSpPr>
            <p:grpSpPr>
              <a:xfrm>
                <a:off x="413150" y="4605337"/>
                <a:ext cx="155005" cy="142875"/>
                <a:chOff x="413150" y="4605337"/>
                <a:chExt cx="155005" cy="142875"/>
              </a:xfrm>
            </p:grpSpPr>
            <p:sp>
              <p:nvSpPr>
                <p:cNvPr id="54" name="Freeform 54"/>
                <p:cNvSpPr/>
                <p:nvPr/>
              </p:nvSpPr>
              <p:spPr>
                <a:xfrm>
                  <a:off x="413150" y="4605337"/>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7C3B2F"/>
                  </a:solidFill>
                </a:ln>
              </p:spPr>
            </p:sp>
            <p:sp>
              <p:nvSpPr>
                <p:cNvPr id="55" name="Freeform 55"/>
                <p:cNvSpPr/>
                <p:nvPr/>
              </p:nvSpPr>
              <p:spPr>
                <a:xfrm>
                  <a:off x="519112" y="4716462"/>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grpSp>
          <p:sp>
            <p:nvSpPr>
              <p:cNvPr id="57" name="TextBox 57"/>
              <p:cNvSpPr txBox="1"/>
              <p:nvPr/>
            </p:nvSpPr>
            <p:spPr>
              <a:xfrm>
                <a:off x="757238" y="452508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风险合规</a:t>
                </a:r>
              </a:p>
            </p:txBody>
          </p:sp>
          <p:sp>
            <p:nvSpPr>
              <p:cNvPr id="58" name="TextBox 58"/>
              <p:cNvSpPr txBox="1"/>
              <p:nvPr/>
            </p:nvSpPr>
            <p:spPr>
              <a:xfrm>
                <a:off x="757238" y="4701778"/>
                <a:ext cx="72072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制定规则与监控风险，</a:t>
                </a:r>
                <a:br/>
                <a:r>
                  <a:rPr lang="zh-CN" sz="560" dirty="0">
                    <a:solidFill>
                      <a:srgbClr val="3A4238"/>
                    </a:solidFill>
                    <a:latin typeface="+mn-lt"/>
                    <a:ea typeface="+mn-ea"/>
                    <a:cs typeface="+mn-cs"/>
                  </a:rPr>
                  <a:t>确保合规与可审计</a:t>
                </a:r>
              </a:p>
            </p:txBody>
          </p:sp>
        </p:grpSp>
      </p:grpSp>
      <p:grpSp>
        <p:nvGrpSpPr>
          <p:cNvPr id="110" name="decision-matrix"/>
          <p:cNvGrpSpPr/>
          <p:nvPr/>
        </p:nvGrpSpPr>
        <p:grpSpPr>
          <a:xfrm>
            <a:off x="2628900" y="628650"/>
            <a:ext cx="6362700" cy="2254330"/>
            <a:chOff x="2628900" y="628650"/>
            <a:chExt cx="6362700" cy="2254330"/>
          </a:xfrm>
        </p:grpSpPr>
        <p:sp>
          <p:nvSpPr>
            <p:cNvPr id="61" name="Rectangle 61"/>
            <p:cNvSpPr/>
            <p:nvPr/>
          </p:nvSpPr>
          <p:spPr>
            <a:xfrm>
              <a:off x="2628900" y="628650"/>
              <a:ext cx="6362700" cy="2247900"/>
            </a:xfrm>
            <a:prstGeom prst="roundRect">
              <a:avLst>
                <a:gd name="adj" fmla="val 3390"/>
              </a:avLst>
            </a:prstGeom>
            <a:solidFill>
              <a:srgbClr val="FFFFFF"/>
            </a:solidFill>
            <a:ln w="9525">
              <a:solidFill>
                <a:srgbClr val="D9E8C6"/>
              </a:solidFill>
            </a:ln>
          </p:spPr>
        </p:sp>
        <p:sp>
          <p:nvSpPr>
            <p:cNvPr id="62" name="Rectangle 62"/>
            <p:cNvSpPr/>
            <p:nvPr/>
          </p:nvSpPr>
          <p:spPr>
            <a:xfrm>
              <a:off x="2628900" y="628650"/>
              <a:ext cx="6362700" cy="228600"/>
            </a:xfrm>
            <a:prstGeom prst="roundRect">
              <a:avLst>
                <a:gd name="adj" fmla="val 33333"/>
              </a:avLst>
            </a:prstGeom>
            <a:solidFill>
              <a:srgbClr val="42140B"/>
            </a:solidFill>
            <a:ln>
              <a:noFill/>
            </a:ln>
          </p:spPr>
        </p:sp>
        <p:sp>
          <p:nvSpPr>
            <p:cNvPr id="63" name="Rectangle 63"/>
            <p:cNvSpPr/>
            <p:nvPr/>
          </p:nvSpPr>
          <p:spPr>
            <a:xfrm>
              <a:off x="2628900" y="762000"/>
              <a:ext cx="6362700" cy="95250"/>
            </a:xfrm>
            <a:prstGeom prst="rect">
              <a:avLst/>
            </a:prstGeom>
            <a:solidFill>
              <a:srgbClr val="42140B"/>
            </a:solidFill>
            <a:ln>
              <a:noFill/>
            </a:ln>
          </p:spPr>
        </p:sp>
        <p:sp>
          <p:nvSpPr>
            <p:cNvPr id="64" name="TextBox 64"/>
            <p:cNvSpPr txBox="1"/>
            <p:nvPr/>
          </p:nvSpPr>
          <p:spPr>
            <a:xfrm>
              <a:off x="4751517" y="697468"/>
              <a:ext cx="2117466"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决策权矩阵：任务不确定性 × 后果严重性</a:t>
              </a:r>
            </a:p>
          </p:txBody>
        </p:sp>
        <p:sp>
          <p:nvSpPr>
            <p:cNvPr id="65" name="Line 65"/>
            <p:cNvSpPr/>
            <p:nvPr/>
          </p:nvSpPr>
          <p:spPr>
            <a:xfrm flipV="1">
              <a:off x="3181350" y="952500"/>
              <a:ext cx="1" cy="1733550"/>
            </a:xfrm>
            <a:prstGeom prst="line">
              <a:avLst/>
            </a:prstGeom>
            <a:noFill/>
            <a:ln w="11430">
              <a:solidFill>
                <a:srgbClr val="3A4238"/>
              </a:solidFill>
              <a:tailEnd type="arrow" w="lg" len="lg"/>
            </a:ln>
          </p:spPr>
        </p:sp>
        <p:sp>
          <p:nvSpPr>
            <p:cNvPr id="66" name="Line 66"/>
            <p:cNvSpPr/>
            <p:nvPr/>
          </p:nvSpPr>
          <p:spPr>
            <a:xfrm>
              <a:off x="3181350" y="2686050"/>
              <a:ext cx="5734050" cy="1"/>
            </a:xfrm>
            <a:prstGeom prst="line">
              <a:avLst/>
            </a:prstGeom>
            <a:noFill/>
            <a:ln w="11430">
              <a:solidFill>
                <a:srgbClr val="3A4238"/>
              </a:solidFill>
              <a:tailEnd type="arrow" w="lg" len="lg"/>
            </a:ln>
          </p:spPr>
        </p:sp>
        <p:sp>
          <p:nvSpPr>
            <p:cNvPr id="67" name="TextBox 67"/>
            <p:cNvSpPr txBox="1"/>
            <p:nvPr/>
          </p:nvSpPr>
          <p:spPr>
            <a:xfrm>
              <a:off x="3008846" y="993934"/>
              <a:ext cx="101067" cy="133350"/>
            </a:xfrm>
            <a:prstGeom prst="rect">
              <a:avLst/>
            </a:prstGeom>
            <a:noFill/>
            <a:ln>
              <a:noFill/>
            </a:ln>
          </p:spPr>
          <p:txBody>
            <a:bodyPr wrap="none" lIns="0" tIns="0" rIns="0" bIns="0" anchor="t" anchorCtr="0">
              <a:spAutoFit/>
            </a:bodyPr>
            <a:lstStyle/>
            <a:p>
              <a:pPr algn="r"/>
              <a:r>
                <a:rPr lang="zh-CN" sz="680" dirty="0">
                  <a:solidFill>
                    <a:srgbClr val="3A4238"/>
                  </a:solidFill>
                  <a:latin typeface="+mn-lt"/>
                  <a:ea typeface="+mn-ea"/>
                  <a:cs typeface="+mn-cs"/>
                </a:rPr>
                <a:t>高</a:t>
              </a:r>
            </a:p>
          </p:txBody>
        </p:sp>
        <p:sp>
          <p:nvSpPr>
            <p:cNvPr id="68" name="TextBox 68"/>
            <p:cNvSpPr txBox="1"/>
            <p:nvPr/>
          </p:nvSpPr>
          <p:spPr>
            <a:xfrm>
              <a:off x="3008846" y="2575084"/>
              <a:ext cx="101067" cy="133350"/>
            </a:xfrm>
            <a:prstGeom prst="rect">
              <a:avLst/>
            </a:prstGeom>
            <a:noFill/>
            <a:ln>
              <a:noFill/>
            </a:ln>
          </p:spPr>
          <p:txBody>
            <a:bodyPr wrap="none" lIns="0" tIns="0" rIns="0" bIns="0" anchor="t" anchorCtr="0">
              <a:spAutoFit/>
            </a:bodyPr>
            <a:lstStyle/>
            <a:p>
              <a:pPr algn="r"/>
              <a:r>
                <a:rPr lang="zh-CN" sz="680" dirty="0">
                  <a:solidFill>
                    <a:srgbClr val="3A4238"/>
                  </a:solidFill>
                  <a:latin typeface="+mn-lt"/>
                  <a:ea typeface="+mn-ea"/>
                  <a:cs typeface="+mn-cs"/>
                </a:rPr>
                <a:t>低</a:t>
              </a:r>
            </a:p>
          </p:txBody>
        </p:sp>
        <p:sp>
          <p:nvSpPr>
            <p:cNvPr id="69" name="TextBox 69"/>
            <p:cNvSpPr txBox="1"/>
            <p:nvPr/>
          </p:nvSpPr>
          <p:spPr>
            <a:xfrm>
              <a:off x="2814307" y="1694736"/>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任务</a:t>
              </a:r>
            </a:p>
          </p:txBody>
        </p:sp>
        <p:sp>
          <p:nvSpPr>
            <p:cNvPr id="70" name="TextBox 70"/>
            <p:cNvSpPr txBox="1"/>
            <p:nvPr/>
          </p:nvSpPr>
          <p:spPr>
            <a:xfrm>
              <a:off x="2718727" y="1828086"/>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不确定性</a:t>
              </a:r>
            </a:p>
          </p:txBody>
        </p:sp>
        <p:sp>
          <p:nvSpPr>
            <p:cNvPr id="71" name="TextBox 71"/>
            <p:cNvSpPr txBox="1"/>
            <p:nvPr/>
          </p:nvSpPr>
          <p:spPr>
            <a:xfrm>
              <a:off x="3271838" y="2746534"/>
              <a:ext cx="101067" cy="133350"/>
            </a:xfrm>
            <a:prstGeom prst="rect">
              <a:avLst/>
            </a:prstGeom>
            <a:noFill/>
            <a:ln>
              <a:noFill/>
            </a:ln>
          </p:spPr>
          <p:txBody>
            <a:bodyPr wrap="none" lIns="0" tIns="0" rIns="0" bIns="0" anchor="t" anchorCtr="0">
              <a:spAutoFit/>
            </a:bodyPr>
            <a:lstStyle/>
            <a:p>
              <a:pPr algn="l"/>
              <a:r>
                <a:rPr lang="zh-CN" sz="680" dirty="0">
                  <a:solidFill>
                    <a:srgbClr val="3A4238"/>
                  </a:solidFill>
                  <a:latin typeface="+mn-lt"/>
                  <a:ea typeface="+mn-ea"/>
                  <a:cs typeface="+mn-cs"/>
                </a:rPr>
                <a:t>低</a:t>
              </a:r>
            </a:p>
          </p:txBody>
        </p:sp>
        <p:sp>
          <p:nvSpPr>
            <p:cNvPr id="72" name="TextBox 72"/>
            <p:cNvSpPr txBox="1"/>
            <p:nvPr/>
          </p:nvSpPr>
          <p:spPr>
            <a:xfrm>
              <a:off x="8666696" y="2746534"/>
              <a:ext cx="101067" cy="133350"/>
            </a:xfrm>
            <a:prstGeom prst="rect">
              <a:avLst/>
            </a:prstGeom>
            <a:noFill/>
            <a:ln>
              <a:noFill/>
            </a:ln>
          </p:spPr>
          <p:txBody>
            <a:bodyPr wrap="none" lIns="0" tIns="0" rIns="0" bIns="0" anchor="t" anchorCtr="0">
              <a:spAutoFit/>
            </a:bodyPr>
            <a:lstStyle/>
            <a:p>
              <a:pPr algn="r"/>
              <a:r>
                <a:rPr lang="zh-CN" sz="680" dirty="0">
                  <a:solidFill>
                    <a:srgbClr val="3A4238"/>
                  </a:solidFill>
                  <a:latin typeface="+mn-lt"/>
                  <a:ea typeface="+mn-ea"/>
                  <a:cs typeface="+mn-cs"/>
                </a:rPr>
                <a:t>高</a:t>
              </a:r>
            </a:p>
          </p:txBody>
        </p:sp>
        <p:sp>
          <p:nvSpPr>
            <p:cNvPr id="73" name="TextBox 73"/>
            <p:cNvSpPr txBox="1"/>
            <p:nvPr/>
          </p:nvSpPr>
          <p:spPr>
            <a:xfrm>
              <a:off x="5804662" y="2742486"/>
              <a:ext cx="48742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后果严重性</a:t>
              </a:r>
            </a:p>
          </p:txBody>
        </p:sp>
        <p:grpSp>
          <p:nvGrpSpPr>
            <p:cNvPr id="78" name="quad-suggest"/>
            <p:cNvGrpSpPr/>
            <p:nvPr/>
          </p:nvGrpSpPr>
          <p:grpSpPr>
            <a:xfrm>
              <a:off x="3238500" y="952500"/>
              <a:ext cx="2762250" cy="819150"/>
              <a:chOff x="3238500" y="952500"/>
              <a:chExt cx="2762250" cy="819150"/>
            </a:xfrm>
          </p:grpSpPr>
          <p:sp>
            <p:nvSpPr>
              <p:cNvPr id="74" name="Rectangle 74"/>
              <p:cNvSpPr/>
              <p:nvPr/>
            </p:nvSpPr>
            <p:spPr>
              <a:xfrm>
                <a:off x="3238500" y="952500"/>
                <a:ext cx="2762250" cy="819150"/>
              </a:xfrm>
              <a:prstGeom prst="roundRect">
                <a:avLst>
                  <a:gd name="adj" fmla="val 6977"/>
                </a:avLst>
              </a:prstGeom>
              <a:solidFill>
                <a:srgbClr val="E4B7AF"/>
              </a:solidFill>
              <a:ln>
                <a:noFill/>
              </a:ln>
            </p:spPr>
          </p:sp>
          <p:sp>
            <p:nvSpPr>
              <p:cNvPr id="75" name="Freeform 75"/>
              <p:cNvSpPr/>
              <p:nvPr/>
            </p:nvSpPr>
            <p:spPr>
              <a:xfrm>
                <a:off x="3409721" y="1230868"/>
                <a:ext cx="190157" cy="168564"/>
              </a:xfrm>
              <a:custGeom>
                <a:avLst/>
                <a:gdLst/>
                <a:ahLst/>
                <a:cxnLst/>
                <a:rect l="l" t="t" r="r" b="b"/>
                <a:pathLst>
                  <a:path w="190157" h="168564">
                    <a:moveTo>
                      <a:pt x="9754" y="159782"/>
                    </a:moveTo>
                    <a:lnTo>
                      <a:pt x="22136" y="122634"/>
                    </a:lnTo>
                    <a:cubicBezTo>
                      <a:pt x="0" y="89897"/>
                      <a:pt x="8553" y="47654"/>
                      <a:pt x="42139" y="23822"/>
                    </a:cubicBezTo>
                    <a:cubicBezTo>
                      <a:pt x="75724" y="0"/>
                      <a:pt x="123958" y="1953"/>
                      <a:pt x="154962" y="28394"/>
                    </a:cubicBezTo>
                    <a:cubicBezTo>
                      <a:pt x="185966" y="54845"/>
                      <a:pt x="190157" y="97603"/>
                      <a:pt x="164763" y="128416"/>
                    </a:cubicBezTo>
                    <a:cubicBezTo>
                      <a:pt x="139370" y="159229"/>
                      <a:pt x="92231" y="168564"/>
                      <a:pt x="54521" y="150257"/>
                    </a:cubicBezTo>
                    <a:lnTo>
                      <a:pt x="9754" y="159782"/>
                    </a:lnTo>
                  </a:path>
                </a:pathLst>
              </a:custGeom>
              <a:noFill/>
              <a:ln w="19050">
                <a:solidFill>
                  <a:srgbClr val="42140B"/>
                </a:solidFill>
              </a:ln>
            </p:spPr>
          </p:sp>
          <p:sp>
            <p:nvSpPr>
              <p:cNvPr id="76" name="TextBox 76"/>
              <p:cNvSpPr txBox="1"/>
              <p:nvPr/>
            </p:nvSpPr>
            <p:spPr>
              <a:xfrm>
                <a:off x="3748088" y="1111091"/>
                <a:ext cx="886342"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 xml:space="preserve">AI建议人工确认　</a:t>
                </a:r>
              </a:p>
            </p:txBody>
          </p:sp>
          <p:sp>
            <p:nvSpPr>
              <p:cNvPr id="77" name="TextBox 77"/>
              <p:cNvSpPr txBox="1"/>
              <p:nvPr/>
            </p:nvSpPr>
            <p:spPr>
              <a:xfrm>
                <a:off x="3748088" y="1310878"/>
                <a:ext cx="638937"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AI提供建议与依据，</a:t>
                </a:r>
                <a:br/>
                <a:r>
                  <a:rPr lang="zh-CN" sz="560" dirty="0">
                    <a:solidFill>
                      <a:srgbClr val="3A4238"/>
                    </a:solidFill>
                    <a:latin typeface="+mn-lt"/>
                    <a:ea typeface="+mn-ea"/>
                    <a:cs typeface="+mn-cs"/>
                  </a:rPr>
                  <a:t>人工做最终判断</a:t>
                </a:r>
              </a:p>
            </p:txBody>
          </p:sp>
        </p:grpSp>
        <p:grpSp>
          <p:nvGrpSpPr>
            <p:cNvPr id="87" name="quad-dual"/>
            <p:cNvGrpSpPr/>
            <p:nvPr/>
          </p:nvGrpSpPr>
          <p:grpSpPr>
            <a:xfrm>
              <a:off x="6096000" y="952500"/>
              <a:ext cx="2762250" cy="819150"/>
              <a:chOff x="6096000" y="952500"/>
              <a:chExt cx="2762250" cy="819150"/>
            </a:xfrm>
          </p:grpSpPr>
          <p:sp>
            <p:nvSpPr>
              <p:cNvPr id="79" name="Rectangle 79"/>
              <p:cNvSpPr/>
              <p:nvPr/>
            </p:nvSpPr>
            <p:spPr>
              <a:xfrm>
                <a:off x="6096000" y="952500"/>
                <a:ext cx="2762250" cy="819150"/>
              </a:xfrm>
              <a:prstGeom prst="roundRect">
                <a:avLst>
                  <a:gd name="adj" fmla="val 6977"/>
                </a:avLst>
              </a:prstGeom>
              <a:solidFill>
                <a:srgbClr val="CE9085"/>
              </a:solidFill>
              <a:ln>
                <a:noFill/>
              </a:ln>
            </p:spPr>
          </p:sp>
          <p:grpSp>
            <p:nvGrpSpPr>
              <p:cNvPr id="84" name="Group 84"/>
              <p:cNvGrpSpPr/>
              <p:nvPr/>
            </p:nvGrpSpPr>
            <p:grpSpPr>
              <a:xfrm>
                <a:off x="6276975" y="1228725"/>
                <a:ext cx="171450" cy="171450"/>
                <a:chOff x="6276975" y="1228725"/>
                <a:chExt cx="171450" cy="171450"/>
              </a:xfrm>
            </p:grpSpPr>
            <p:sp>
              <p:nvSpPr>
                <p:cNvPr id="80" name="Freeform 80"/>
                <p:cNvSpPr/>
                <p:nvPr/>
              </p:nvSpPr>
              <p:spPr>
                <a:xfrm>
                  <a:off x="6296025" y="12287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42140B"/>
                  </a:solidFill>
                </a:ln>
              </p:spPr>
            </p:sp>
            <p:sp>
              <p:nvSpPr>
                <p:cNvPr id="81" name="Freeform 81"/>
                <p:cNvSpPr/>
                <p:nvPr/>
              </p:nvSpPr>
              <p:spPr>
                <a:xfrm>
                  <a:off x="6276975" y="13430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42140B"/>
                  </a:solidFill>
                </a:ln>
              </p:spPr>
            </p:sp>
            <p:sp>
              <p:nvSpPr>
                <p:cNvPr id="82" name="Freeform 82"/>
                <p:cNvSpPr/>
                <p:nvPr/>
              </p:nvSpPr>
              <p:spPr>
                <a:xfrm>
                  <a:off x="6400800" y="12299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42140B"/>
                  </a:solidFill>
                </a:ln>
              </p:spPr>
            </p:sp>
            <p:sp>
              <p:nvSpPr>
                <p:cNvPr id="83" name="Freeform 83"/>
                <p:cNvSpPr/>
                <p:nvPr/>
              </p:nvSpPr>
              <p:spPr>
                <a:xfrm>
                  <a:off x="6419850" y="13444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42140B"/>
                  </a:solidFill>
                </a:ln>
              </p:spPr>
            </p:sp>
          </p:grpSp>
          <p:sp>
            <p:nvSpPr>
              <p:cNvPr id="85" name="TextBox 85"/>
              <p:cNvSpPr txBox="1"/>
              <p:nvPr/>
            </p:nvSpPr>
            <p:spPr>
              <a:xfrm>
                <a:off x="6605588" y="111109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双人复核</a:t>
                </a:r>
              </a:p>
            </p:txBody>
          </p:sp>
          <p:sp>
            <p:nvSpPr>
              <p:cNvPr id="86" name="TextBox 86"/>
              <p:cNvSpPr txBox="1"/>
              <p:nvPr/>
            </p:nvSpPr>
            <p:spPr>
              <a:xfrm>
                <a:off x="6605588" y="1310878"/>
                <a:ext cx="638937"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AI与专家独立判断，</a:t>
                </a:r>
                <a:br/>
                <a:r>
                  <a:rPr lang="zh-CN" sz="560" dirty="0">
                    <a:solidFill>
                      <a:srgbClr val="3A4238"/>
                    </a:solidFill>
                    <a:latin typeface="+mn-lt"/>
                    <a:ea typeface="+mn-ea"/>
                    <a:cs typeface="+mn-cs"/>
                  </a:rPr>
                  <a:t>一致后执行或答复</a:t>
                </a:r>
              </a:p>
            </p:txBody>
          </p:sp>
        </p:grpSp>
        <p:grpSp>
          <p:nvGrpSpPr>
            <p:cNvPr id="101" name="quad-auto"/>
            <p:cNvGrpSpPr/>
            <p:nvPr/>
          </p:nvGrpSpPr>
          <p:grpSpPr>
            <a:xfrm>
              <a:off x="3238500" y="1828800"/>
              <a:ext cx="2762250" cy="819150"/>
              <a:chOff x="3238500" y="1828800"/>
              <a:chExt cx="2762250" cy="819150"/>
            </a:xfrm>
          </p:grpSpPr>
          <p:sp>
            <p:nvSpPr>
              <p:cNvPr id="88" name="Rectangle 88"/>
              <p:cNvSpPr/>
              <p:nvPr/>
            </p:nvSpPr>
            <p:spPr>
              <a:xfrm>
                <a:off x="3238500" y="1828800"/>
                <a:ext cx="2762250" cy="819150"/>
              </a:xfrm>
              <a:prstGeom prst="roundRect">
                <a:avLst>
                  <a:gd name="adj" fmla="val 6977"/>
                </a:avLst>
              </a:prstGeom>
              <a:solidFill>
                <a:srgbClr val="E7F2D8"/>
              </a:solidFill>
              <a:ln>
                <a:noFill/>
              </a:ln>
            </p:spPr>
          </p:sp>
          <p:grpSp>
            <p:nvGrpSpPr>
              <p:cNvPr id="98" name="Group 98"/>
              <p:cNvGrpSpPr/>
              <p:nvPr/>
            </p:nvGrpSpPr>
            <p:grpSpPr>
              <a:xfrm>
                <a:off x="3438525" y="2095500"/>
                <a:ext cx="133350" cy="180975"/>
                <a:chOff x="3438525" y="2095500"/>
                <a:chExt cx="133350" cy="180975"/>
              </a:xfrm>
            </p:grpSpPr>
            <p:sp>
              <p:nvSpPr>
                <p:cNvPr id="89" name="Freeform 89"/>
                <p:cNvSpPr/>
                <p:nvPr/>
              </p:nvSpPr>
              <p:spPr>
                <a:xfrm>
                  <a:off x="3448050" y="2114550"/>
                  <a:ext cx="114300" cy="76200"/>
                </a:xfrm>
                <a:custGeom>
                  <a:avLst/>
                  <a:gdLst/>
                  <a:ahLst/>
                  <a:cxnLst/>
                  <a:rect l="l" t="t" r="r" b="b"/>
                  <a:pathLst>
                    <a:path w="114300" h="76200">
                      <a:moveTo>
                        <a:pt x="0" y="19050"/>
                      </a:moveTo>
                      <a:cubicBezTo>
                        <a:pt x="0" y="8529"/>
                        <a:pt x="8529" y="0"/>
                        <a:pt x="19050" y="0"/>
                      </a:cubicBezTo>
                      <a:lnTo>
                        <a:pt x="95250" y="0"/>
                      </a:lnTo>
                      <a:cubicBezTo>
                        <a:pt x="105771" y="0"/>
                        <a:pt x="114300" y="8529"/>
                        <a:pt x="114300" y="19050"/>
                      </a:cubicBezTo>
                      <a:lnTo>
                        <a:pt x="114300" y="57150"/>
                      </a:lnTo>
                      <a:cubicBezTo>
                        <a:pt x="114300" y="67671"/>
                        <a:pt x="105771" y="76200"/>
                        <a:pt x="95250" y="76200"/>
                      </a:cubicBezTo>
                      <a:lnTo>
                        <a:pt x="19050" y="76200"/>
                      </a:lnTo>
                      <a:cubicBezTo>
                        <a:pt x="8529" y="76200"/>
                        <a:pt x="0" y="67671"/>
                        <a:pt x="0" y="57150"/>
                      </a:cubicBezTo>
                      <a:lnTo>
                        <a:pt x="0" y="19050"/>
                      </a:lnTo>
                    </a:path>
                  </a:pathLst>
                </a:custGeom>
                <a:noFill/>
                <a:ln w="19050">
                  <a:solidFill>
                    <a:srgbClr val="7C3B2F"/>
                  </a:solidFill>
                </a:ln>
              </p:spPr>
            </p:sp>
            <p:sp>
              <p:nvSpPr>
                <p:cNvPr id="90" name="Freeform 90"/>
                <p:cNvSpPr/>
                <p:nvPr/>
              </p:nvSpPr>
              <p:spPr>
                <a:xfrm>
                  <a:off x="3505200" y="2095500"/>
                  <a:ext cx="9525" cy="19050"/>
                </a:xfrm>
                <a:custGeom>
                  <a:avLst/>
                  <a:gdLst/>
                  <a:ahLst/>
                  <a:cxnLst/>
                  <a:rect l="l" t="t" r="r" b="b"/>
                  <a:pathLst>
                    <a:path w="9525" h="19050">
                      <a:moveTo>
                        <a:pt x="0" y="0"/>
                      </a:moveTo>
                      <a:lnTo>
                        <a:pt x="0" y="19050"/>
                      </a:lnTo>
                    </a:path>
                  </a:pathLst>
                </a:custGeom>
                <a:noFill/>
                <a:ln w="19050">
                  <a:solidFill>
                    <a:srgbClr val="7C3B2F"/>
                  </a:solidFill>
                </a:ln>
              </p:spPr>
            </p:sp>
            <p:sp>
              <p:nvSpPr>
                <p:cNvPr id="91" name="Freeform 91"/>
                <p:cNvSpPr/>
                <p:nvPr/>
              </p:nvSpPr>
              <p:spPr>
                <a:xfrm>
                  <a:off x="3476625" y="2190750"/>
                  <a:ext cx="9525" cy="85725"/>
                </a:xfrm>
                <a:custGeom>
                  <a:avLst/>
                  <a:gdLst/>
                  <a:ahLst/>
                  <a:cxnLst/>
                  <a:rect l="l" t="t" r="r" b="b"/>
                  <a:pathLst>
                    <a:path w="9525" h="85725">
                      <a:moveTo>
                        <a:pt x="0" y="0"/>
                      </a:moveTo>
                      <a:lnTo>
                        <a:pt x="0" y="85725"/>
                      </a:lnTo>
                    </a:path>
                  </a:pathLst>
                </a:custGeom>
                <a:noFill/>
                <a:ln w="19050">
                  <a:solidFill>
                    <a:srgbClr val="7C3B2F"/>
                  </a:solidFill>
                </a:ln>
              </p:spPr>
            </p:sp>
            <p:sp>
              <p:nvSpPr>
                <p:cNvPr id="92" name="Freeform 92"/>
                <p:cNvSpPr/>
                <p:nvPr/>
              </p:nvSpPr>
              <p:spPr>
                <a:xfrm>
                  <a:off x="3533775" y="2190750"/>
                  <a:ext cx="9525" cy="85725"/>
                </a:xfrm>
                <a:custGeom>
                  <a:avLst/>
                  <a:gdLst/>
                  <a:ahLst/>
                  <a:cxnLst/>
                  <a:rect l="l" t="t" r="r" b="b"/>
                  <a:pathLst>
                    <a:path w="9525" h="85725">
                      <a:moveTo>
                        <a:pt x="0" y="0"/>
                      </a:moveTo>
                      <a:lnTo>
                        <a:pt x="0" y="85725"/>
                      </a:lnTo>
                    </a:path>
                  </a:pathLst>
                </a:custGeom>
                <a:noFill/>
                <a:ln w="19050">
                  <a:solidFill>
                    <a:srgbClr val="7C3B2F"/>
                  </a:solidFill>
                </a:ln>
              </p:spPr>
            </p:sp>
            <p:sp>
              <p:nvSpPr>
                <p:cNvPr id="93" name="Freeform 93"/>
                <p:cNvSpPr/>
                <p:nvPr/>
              </p:nvSpPr>
              <p:spPr>
                <a:xfrm>
                  <a:off x="3438525" y="2209800"/>
                  <a:ext cx="38100" cy="19050"/>
                </a:xfrm>
                <a:custGeom>
                  <a:avLst/>
                  <a:gdLst/>
                  <a:ahLst/>
                  <a:cxnLst/>
                  <a:rect l="l" t="t" r="r" b="b"/>
                  <a:pathLst>
                    <a:path w="38100" h="19050">
                      <a:moveTo>
                        <a:pt x="0" y="19050"/>
                      </a:moveTo>
                      <a:lnTo>
                        <a:pt x="38100" y="0"/>
                      </a:lnTo>
                    </a:path>
                  </a:pathLst>
                </a:custGeom>
                <a:noFill/>
                <a:ln w="19050">
                  <a:solidFill>
                    <a:srgbClr val="7C3B2F"/>
                  </a:solidFill>
                </a:ln>
              </p:spPr>
            </p:sp>
            <p:sp>
              <p:nvSpPr>
                <p:cNvPr id="94" name="Freeform 94"/>
                <p:cNvSpPr/>
                <p:nvPr/>
              </p:nvSpPr>
              <p:spPr>
                <a:xfrm>
                  <a:off x="3533775" y="2209800"/>
                  <a:ext cx="38100" cy="19050"/>
                </a:xfrm>
                <a:custGeom>
                  <a:avLst/>
                  <a:gdLst/>
                  <a:ahLst/>
                  <a:cxnLst/>
                  <a:rect l="l" t="t" r="r" b="b"/>
                  <a:pathLst>
                    <a:path w="38100" h="19050">
                      <a:moveTo>
                        <a:pt x="0" y="0"/>
                      </a:moveTo>
                      <a:lnTo>
                        <a:pt x="38100" y="19050"/>
                      </a:lnTo>
                    </a:path>
                  </a:pathLst>
                </a:custGeom>
                <a:noFill/>
                <a:ln w="19050">
                  <a:solidFill>
                    <a:srgbClr val="7C3B2F"/>
                  </a:solidFill>
                </a:ln>
              </p:spPr>
            </p:sp>
            <p:sp>
              <p:nvSpPr>
                <p:cNvPr id="95" name="Freeform 95"/>
                <p:cNvSpPr/>
                <p:nvPr/>
              </p:nvSpPr>
              <p:spPr>
                <a:xfrm>
                  <a:off x="3476625" y="2247900"/>
                  <a:ext cx="57150" cy="9525"/>
                </a:xfrm>
                <a:custGeom>
                  <a:avLst/>
                  <a:gdLst/>
                  <a:ahLst/>
                  <a:cxnLst/>
                  <a:rect l="l" t="t" r="r" b="b"/>
                  <a:pathLst>
                    <a:path w="57150" h="9525">
                      <a:moveTo>
                        <a:pt x="0" y="0"/>
                      </a:moveTo>
                      <a:lnTo>
                        <a:pt x="57150" y="0"/>
                      </a:lnTo>
                    </a:path>
                  </a:pathLst>
                </a:custGeom>
                <a:noFill/>
                <a:ln w="19050">
                  <a:solidFill>
                    <a:srgbClr val="7C3B2F"/>
                  </a:solidFill>
                </a:ln>
              </p:spPr>
            </p:sp>
            <p:sp>
              <p:nvSpPr>
                <p:cNvPr id="96" name="Freeform 96"/>
                <p:cNvSpPr/>
                <p:nvPr/>
              </p:nvSpPr>
              <p:spPr>
                <a:xfrm>
                  <a:off x="3486150" y="2152650"/>
                  <a:ext cx="9525" cy="9525"/>
                </a:xfrm>
                <a:custGeom>
                  <a:avLst/>
                  <a:gdLst/>
                  <a:ahLst/>
                  <a:cxnLst/>
                  <a:rect l="l" t="t" r="r" b="b"/>
                  <a:pathLst>
                    <a:path w="9525" h="9525">
                      <a:moveTo>
                        <a:pt x="0" y="0"/>
                      </a:moveTo>
                      <a:lnTo>
                        <a:pt x="0" y="95"/>
                      </a:lnTo>
                    </a:path>
                  </a:pathLst>
                </a:custGeom>
                <a:noFill/>
                <a:ln w="19050">
                  <a:solidFill>
                    <a:srgbClr val="7C3B2F"/>
                  </a:solidFill>
                </a:ln>
              </p:spPr>
            </p:sp>
            <p:sp>
              <p:nvSpPr>
                <p:cNvPr id="97" name="Freeform 97"/>
                <p:cNvSpPr/>
                <p:nvPr/>
              </p:nvSpPr>
              <p:spPr>
                <a:xfrm>
                  <a:off x="3524250" y="2152650"/>
                  <a:ext cx="9525" cy="9525"/>
                </a:xfrm>
                <a:custGeom>
                  <a:avLst/>
                  <a:gdLst/>
                  <a:ahLst/>
                  <a:cxnLst/>
                  <a:rect l="l" t="t" r="r" b="b"/>
                  <a:pathLst>
                    <a:path w="9525" h="9525">
                      <a:moveTo>
                        <a:pt x="0" y="0"/>
                      </a:moveTo>
                      <a:lnTo>
                        <a:pt x="0" y="95"/>
                      </a:lnTo>
                    </a:path>
                  </a:pathLst>
                </a:custGeom>
                <a:noFill/>
                <a:ln w="19050">
                  <a:solidFill>
                    <a:srgbClr val="7C3B2F"/>
                  </a:solidFill>
                </a:ln>
              </p:spPr>
            </p:sp>
          </p:grpSp>
          <p:sp>
            <p:nvSpPr>
              <p:cNvPr id="99" name="TextBox 99"/>
              <p:cNvSpPr txBox="1"/>
              <p:nvPr/>
            </p:nvSpPr>
            <p:spPr>
              <a:xfrm>
                <a:off x="3748088" y="198739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自动执行</a:t>
                </a:r>
              </a:p>
            </p:txBody>
          </p:sp>
          <p:sp>
            <p:nvSpPr>
              <p:cNvPr id="100" name="TextBox 100"/>
              <p:cNvSpPr txBox="1"/>
              <p:nvPr/>
            </p:nvSpPr>
            <p:spPr>
              <a:xfrm>
                <a:off x="3748088" y="2187178"/>
                <a:ext cx="638937"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AI自主完成并留痕，</a:t>
                </a:r>
                <a:br/>
                <a:r>
                  <a:rPr lang="zh-CN" sz="560" dirty="0">
                    <a:solidFill>
                      <a:srgbClr val="3A4238"/>
                    </a:solidFill>
                    <a:latin typeface="+mn-lt"/>
                    <a:ea typeface="+mn-ea"/>
                    <a:cs typeface="+mn-cs"/>
                  </a:rPr>
                  <a:t>异常自动拦截</a:t>
                </a:r>
              </a:p>
            </p:txBody>
          </p:sp>
        </p:grpSp>
        <p:grpSp>
          <p:nvGrpSpPr>
            <p:cNvPr id="109" name="quad-forbid"/>
            <p:cNvGrpSpPr/>
            <p:nvPr/>
          </p:nvGrpSpPr>
          <p:grpSpPr>
            <a:xfrm>
              <a:off x="6096000" y="1828800"/>
              <a:ext cx="2762250" cy="819150"/>
              <a:chOff x="6096000" y="1828800"/>
              <a:chExt cx="2762250" cy="819150"/>
            </a:xfrm>
          </p:grpSpPr>
          <p:sp>
            <p:nvSpPr>
              <p:cNvPr id="102" name="Rectangle 102"/>
              <p:cNvSpPr/>
              <p:nvPr/>
            </p:nvSpPr>
            <p:spPr>
              <a:xfrm>
                <a:off x="6096000" y="1828800"/>
                <a:ext cx="2762250" cy="819150"/>
              </a:xfrm>
              <a:prstGeom prst="roundRect">
                <a:avLst>
                  <a:gd name="adj" fmla="val 6977"/>
                </a:avLst>
              </a:prstGeom>
              <a:solidFill>
                <a:srgbClr val="D9E8C6"/>
              </a:solidFill>
              <a:ln>
                <a:noFill/>
              </a:ln>
            </p:spPr>
          </p:sp>
          <p:grpSp>
            <p:nvGrpSpPr>
              <p:cNvPr id="106" name="Group 106"/>
              <p:cNvGrpSpPr/>
              <p:nvPr/>
            </p:nvGrpSpPr>
            <p:grpSpPr>
              <a:xfrm>
                <a:off x="6266639" y="2101861"/>
                <a:ext cx="192114" cy="165051"/>
                <a:chOff x="6266639" y="2101861"/>
                <a:chExt cx="192114" cy="165051"/>
              </a:xfrm>
            </p:grpSpPr>
            <p:sp>
              <p:nvSpPr>
                <p:cNvPr id="103" name="Freeform 103"/>
                <p:cNvSpPr/>
                <p:nvPr/>
              </p:nvSpPr>
              <p:spPr>
                <a:xfrm>
                  <a:off x="6362700" y="2162175"/>
                  <a:ext cx="9525" cy="38100"/>
                </a:xfrm>
                <a:custGeom>
                  <a:avLst/>
                  <a:gdLst/>
                  <a:ahLst/>
                  <a:cxnLst/>
                  <a:rect l="l" t="t" r="r" b="b"/>
                  <a:pathLst>
                    <a:path w="9525" h="38100">
                      <a:moveTo>
                        <a:pt x="0" y="0"/>
                      </a:moveTo>
                      <a:lnTo>
                        <a:pt x="0" y="38100"/>
                      </a:lnTo>
                    </a:path>
                  </a:pathLst>
                </a:custGeom>
                <a:noFill/>
                <a:ln w="19050">
                  <a:solidFill>
                    <a:srgbClr val="C44E3A"/>
                  </a:solidFill>
                </a:ln>
              </p:spPr>
            </p:sp>
            <p:sp>
              <p:nvSpPr>
                <p:cNvPr id="104" name="Freeform 104"/>
                <p:cNvSpPr/>
                <p:nvPr/>
              </p:nvSpPr>
              <p:spPr>
                <a:xfrm>
                  <a:off x="6266639" y="210186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44E3A"/>
                  </a:solidFill>
                </a:ln>
              </p:spPr>
            </p:sp>
            <p:sp>
              <p:nvSpPr>
                <p:cNvPr id="105" name="Freeform 105"/>
                <p:cNvSpPr/>
                <p:nvPr/>
              </p:nvSpPr>
              <p:spPr>
                <a:xfrm>
                  <a:off x="6362700" y="2228850"/>
                  <a:ext cx="9525" cy="9525"/>
                </a:xfrm>
                <a:custGeom>
                  <a:avLst/>
                  <a:gdLst/>
                  <a:ahLst/>
                  <a:cxnLst/>
                  <a:rect l="l" t="t" r="r" b="b"/>
                  <a:pathLst>
                    <a:path w="9525" h="9525">
                      <a:moveTo>
                        <a:pt x="0" y="0"/>
                      </a:moveTo>
                      <a:lnTo>
                        <a:pt x="95" y="0"/>
                      </a:lnTo>
                    </a:path>
                  </a:pathLst>
                </a:custGeom>
                <a:noFill/>
                <a:ln w="19050">
                  <a:solidFill>
                    <a:srgbClr val="C44E3A"/>
                  </a:solidFill>
                </a:ln>
              </p:spPr>
            </p:sp>
          </p:grpSp>
          <p:sp>
            <p:nvSpPr>
              <p:cNvPr id="107" name="TextBox 107"/>
              <p:cNvSpPr txBox="1"/>
              <p:nvPr/>
            </p:nvSpPr>
            <p:spPr>
              <a:xfrm>
                <a:off x="6605588" y="1987391"/>
                <a:ext cx="561467"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禁止自动化</a:t>
                </a:r>
              </a:p>
            </p:txBody>
          </p:sp>
          <p:sp>
            <p:nvSpPr>
              <p:cNvPr id="108" name="TextBox 108"/>
              <p:cNvSpPr txBox="1"/>
              <p:nvPr/>
            </p:nvSpPr>
            <p:spPr>
              <a:xfrm>
                <a:off x="6605588" y="2187178"/>
                <a:ext cx="86296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涉及法律、隐私、伦理等，</a:t>
                </a:r>
                <a:br/>
                <a:r>
                  <a:rPr lang="zh-CN" sz="560" dirty="0">
                    <a:solidFill>
                      <a:srgbClr val="3A4238"/>
                    </a:solidFill>
                    <a:latin typeface="+mn-lt"/>
                    <a:ea typeface="+mn-ea"/>
                    <a:cs typeface="+mn-cs"/>
                  </a:rPr>
                  <a:t>必须人工处理</a:t>
                </a:r>
              </a:p>
            </p:txBody>
          </p:sp>
        </p:grpSp>
      </p:grpSp>
      <p:grpSp>
        <p:nvGrpSpPr>
          <p:cNvPr id="173" name="workflow"/>
          <p:cNvGrpSpPr/>
          <p:nvPr/>
        </p:nvGrpSpPr>
        <p:grpSpPr>
          <a:xfrm>
            <a:off x="2628900" y="2952750"/>
            <a:ext cx="6362700" cy="2133600"/>
            <a:chOff x="2628900" y="2952750"/>
            <a:chExt cx="6362700" cy="2133600"/>
          </a:xfrm>
        </p:grpSpPr>
        <p:sp>
          <p:nvSpPr>
            <p:cNvPr id="111" name="Rectangle 111"/>
            <p:cNvSpPr/>
            <p:nvPr/>
          </p:nvSpPr>
          <p:spPr>
            <a:xfrm>
              <a:off x="2628900" y="2952750"/>
              <a:ext cx="6362700" cy="2133600"/>
            </a:xfrm>
            <a:prstGeom prst="roundRect">
              <a:avLst>
                <a:gd name="adj" fmla="val 3571"/>
              </a:avLst>
            </a:prstGeom>
            <a:solidFill>
              <a:srgbClr val="FFFFFF"/>
            </a:solidFill>
            <a:ln w="9525">
              <a:solidFill>
                <a:srgbClr val="D9E8C6"/>
              </a:solidFill>
            </a:ln>
          </p:spPr>
        </p:sp>
        <p:sp>
          <p:nvSpPr>
            <p:cNvPr id="112" name="Rectangle 112"/>
            <p:cNvSpPr/>
            <p:nvPr/>
          </p:nvSpPr>
          <p:spPr>
            <a:xfrm>
              <a:off x="2628900" y="2952750"/>
              <a:ext cx="6362700" cy="228600"/>
            </a:xfrm>
            <a:prstGeom prst="roundRect">
              <a:avLst>
                <a:gd name="adj" fmla="val 33333"/>
              </a:avLst>
            </a:prstGeom>
            <a:solidFill>
              <a:srgbClr val="42140B"/>
            </a:solidFill>
            <a:ln>
              <a:noFill/>
            </a:ln>
          </p:spPr>
        </p:sp>
        <p:sp>
          <p:nvSpPr>
            <p:cNvPr id="113" name="Rectangle 113"/>
            <p:cNvSpPr/>
            <p:nvPr/>
          </p:nvSpPr>
          <p:spPr>
            <a:xfrm>
              <a:off x="2628900" y="3086100"/>
              <a:ext cx="6362700" cy="95250"/>
            </a:xfrm>
            <a:prstGeom prst="rect">
              <a:avLst/>
            </a:prstGeom>
            <a:solidFill>
              <a:srgbClr val="42140B"/>
            </a:solidFill>
            <a:ln>
              <a:noFill/>
            </a:ln>
          </p:spPr>
        </p:sp>
        <p:sp>
          <p:nvSpPr>
            <p:cNvPr id="114" name="TextBox 114"/>
            <p:cNvSpPr txBox="1"/>
            <p:nvPr/>
          </p:nvSpPr>
          <p:spPr>
            <a:xfrm>
              <a:off x="5400281" y="3021568"/>
              <a:ext cx="81993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人机协同工作流</a:t>
              </a:r>
            </a:p>
          </p:txBody>
        </p:sp>
        <p:grpSp>
          <p:nvGrpSpPr>
            <p:cNvPr id="123" name="wf-links"/>
            <p:cNvGrpSpPr/>
            <p:nvPr/>
          </p:nvGrpSpPr>
          <p:grpSpPr>
            <a:xfrm>
              <a:off x="3200400" y="3438525"/>
              <a:ext cx="3752850" cy="1314450"/>
              <a:chOff x="3200400" y="3438525"/>
              <a:chExt cx="3752850" cy="1314450"/>
            </a:xfrm>
          </p:grpSpPr>
          <p:sp>
            <p:nvSpPr>
              <p:cNvPr id="115" name="Line 115"/>
              <p:cNvSpPr/>
              <p:nvPr/>
            </p:nvSpPr>
            <p:spPr>
              <a:xfrm>
                <a:off x="3657600" y="3543300"/>
                <a:ext cx="209550" cy="1"/>
              </a:xfrm>
              <a:prstGeom prst="line">
                <a:avLst/>
              </a:prstGeom>
              <a:noFill/>
              <a:ln w="12382">
                <a:solidFill>
                  <a:srgbClr val="9A4B3C"/>
                </a:solidFill>
                <a:tailEnd type="arrow" w="lg" len="lg"/>
              </a:ln>
            </p:spPr>
          </p:sp>
          <p:sp>
            <p:nvSpPr>
              <p:cNvPr id="116" name="Line 116"/>
              <p:cNvSpPr/>
              <p:nvPr/>
            </p:nvSpPr>
            <p:spPr>
              <a:xfrm>
                <a:off x="4800600" y="3543300"/>
                <a:ext cx="495300" cy="9525"/>
              </a:xfrm>
              <a:custGeom>
                <a:avLst/>
                <a:gdLst/>
                <a:ahLst/>
                <a:cxnLst/>
                <a:rect l="l" t="t" r="r" b="b"/>
                <a:pathLst>
                  <a:path w="495300" h="9525">
                    <a:moveTo>
                      <a:pt x="0" y="0"/>
                    </a:moveTo>
                    <a:lnTo>
                      <a:pt x="495300" y="0"/>
                    </a:lnTo>
                  </a:path>
                </a:pathLst>
              </a:custGeom>
              <a:noFill/>
              <a:ln w="12382">
                <a:solidFill>
                  <a:srgbClr val="9A4B3C"/>
                </a:solidFill>
              </a:ln>
            </p:spPr>
          </p:sp>
          <p:sp>
            <p:nvSpPr>
              <p:cNvPr id="117" name="Line 117"/>
              <p:cNvSpPr/>
              <p:nvPr/>
            </p:nvSpPr>
            <p:spPr>
              <a:xfrm>
                <a:off x="5295900" y="3438525"/>
                <a:ext cx="9525" cy="800100"/>
              </a:xfrm>
              <a:custGeom>
                <a:avLst/>
                <a:gdLst/>
                <a:ahLst/>
                <a:cxnLst/>
                <a:rect l="l" t="t" r="r" b="b"/>
                <a:pathLst>
                  <a:path w="9525" h="800100">
                    <a:moveTo>
                      <a:pt x="0" y="0"/>
                    </a:moveTo>
                    <a:lnTo>
                      <a:pt x="0" y="800100"/>
                    </a:lnTo>
                  </a:path>
                </a:pathLst>
              </a:custGeom>
              <a:noFill/>
              <a:ln w="12382">
                <a:solidFill>
                  <a:srgbClr val="9A4B3C"/>
                </a:solidFill>
              </a:ln>
            </p:spPr>
          </p:sp>
          <p:sp>
            <p:nvSpPr>
              <p:cNvPr id="118" name="Line 118"/>
              <p:cNvSpPr/>
              <p:nvPr/>
            </p:nvSpPr>
            <p:spPr>
              <a:xfrm>
                <a:off x="5295900" y="3438525"/>
                <a:ext cx="285750" cy="1"/>
              </a:xfrm>
              <a:prstGeom prst="line">
                <a:avLst/>
              </a:prstGeom>
              <a:noFill/>
              <a:ln w="12382">
                <a:solidFill>
                  <a:srgbClr val="9A4B3C"/>
                </a:solidFill>
                <a:tailEnd type="arrow" w="lg" len="lg"/>
              </a:ln>
            </p:spPr>
          </p:sp>
          <p:sp>
            <p:nvSpPr>
              <p:cNvPr id="119" name="Line 119"/>
              <p:cNvSpPr/>
              <p:nvPr/>
            </p:nvSpPr>
            <p:spPr>
              <a:xfrm>
                <a:off x="5295900" y="3838575"/>
                <a:ext cx="285750" cy="1"/>
              </a:xfrm>
              <a:prstGeom prst="line">
                <a:avLst/>
              </a:prstGeom>
              <a:noFill/>
              <a:ln w="12382">
                <a:solidFill>
                  <a:srgbClr val="9A4B3C"/>
                </a:solidFill>
                <a:tailEnd type="arrow" w="lg" len="lg"/>
              </a:ln>
            </p:spPr>
          </p:sp>
          <p:sp>
            <p:nvSpPr>
              <p:cNvPr id="120" name="Line 120"/>
              <p:cNvSpPr/>
              <p:nvPr/>
            </p:nvSpPr>
            <p:spPr>
              <a:xfrm>
                <a:off x="5295900" y="4238625"/>
                <a:ext cx="285750" cy="1"/>
              </a:xfrm>
              <a:prstGeom prst="line">
                <a:avLst/>
              </a:prstGeom>
              <a:noFill/>
              <a:ln w="12382">
                <a:solidFill>
                  <a:srgbClr val="9A4B3C"/>
                </a:solidFill>
                <a:tailEnd type="arrow" w="lg" len="lg"/>
              </a:ln>
            </p:spPr>
          </p:sp>
          <p:sp>
            <p:nvSpPr>
              <p:cNvPr id="121" name="Freeform 121"/>
              <p:cNvSpPr/>
              <p:nvPr/>
            </p:nvSpPr>
            <p:spPr>
              <a:xfrm>
                <a:off x="6724650" y="4419600"/>
                <a:ext cx="228600" cy="333375"/>
              </a:xfrm>
              <a:custGeom>
                <a:avLst/>
                <a:gdLst/>
                <a:ahLst/>
                <a:cxnLst/>
                <a:rect l="l" t="t" r="r" b="b"/>
                <a:pathLst>
                  <a:path w="228600" h="333375">
                    <a:moveTo>
                      <a:pt x="228600" y="0"/>
                    </a:moveTo>
                    <a:lnTo>
                      <a:pt x="228600" y="333375"/>
                    </a:lnTo>
                    <a:lnTo>
                      <a:pt x="0" y="333375"/>
                    </a:lnTo>
                  </a:path>
                </a:pathLst>
              </a:custGeom>
              <a:noFill/>
              <a:ln w="12382">
                <a:solidFill>
                  <a:srgbClr val="9A4B3C"/>
                </a:solidFill>
                <a:custDash>
                  <a:ds d="384615" sp="307692"/>
                </a:custDash>
                <a:tailEnd type="arrow" w="lg" len="lg"/>
              </a:ln>
            </p:spPr>
          </p:sp>
          <p:sp>
            <p:nvSpPr>
              <p:cNvPr id="122" name="Freeform 122"/>
              <p:cNvSpPr/>
              <p:nvPr/>
            </p:nvSpPr>
            <p:spPr>
              <a:xfrm>
                <a:off x="3200400" y="3771900"/>
                <a:ext cx="1066800" cy="981075"/>
              </a:xfrm>
              <a:custGeom>
                <a:avLst/>
                <a:gdLst/>
                <a:ahLst/>
                <a:cxnLst/>
                <a:rect l="l" t="t" r="r" b="b"/>
                <a:pathLst>
                  <a:path w="1066800" h="981075">
                    <a:moveTo>
                      <a:pt x="1066800" y="981075"/>
                    </a:moveTo>
                    <a:lnTo>
                      <a:pt x="0" y="981075"/>
                    </a:lnTo>
                    <a:lnTo>
                      <a:pt x="0" y="0"/>
                    </a:lnTo>
                  </a:path>
                </a:pathLst>
              </a:custGeom>
              <a:noFill/>
              <a:ln w="12382">
                <a:solidFill>
                  <a:srgbClr val="9A4B3C"/>
                </a:solidFill>
                <a:custDash>
                  <a:ds d="384615" sp="307692"/>
                </a:custDash>
                <a:tailEnd type="arrow" w="lg" len="lg"/>
              </a:ln>
            </p:spPr>
          </p:sp>
        </p:grpSp>
        <p:grpSp>
          <p:nvGrpSpPr>
            <p:cNvPr id="131" name="wf-draft"/>
            <p:cNvGrpSpPr/>
            <p:nvPr/>
          </p:nvGrpSpPr>
          <p:grpSpPr>
            <a:xfrm>
              <a:off x="2757488" y="3352800"/>
              <a:ext cx="912832" cy="736997"/>
              <a:chOff x="2757488" y="3352800"/>
              <a:chExt cx="912832" cy="736997"/>
            </a:xfrm>
          </p:grpSpPr>
          <p:sp>
            <p:nvSpPr>
              <p:cNvPr id="124" name="Rectangle 124"/>
              <p:cNvSpPr/>
              <p:nvPr/>
            </p:nvSpPr>
            <p:spPr>
              <a:xfrm>
                <a:off x="2762250" y="3352800"/>
                <a:ext cx="895350" cy="381000"/>
              </a:xfrm>
              <a:prstGeom prst="roundRect">
                <a:avLst>
                  <a:gd name="adj" fmla="val 15000"/>
                </a:avLst>
              </a:prstGeom>
              <a:solidFill>
                <a:srgbClr val="42140B"/>
              </a:solidFill>
              <a:ln>
                <a:noFill/>
              </a:ln>
            </p:spPr>
          </p:sp>
          <p:grpSp>
            <p:nvGrpSpPr>
              <p:cNvPr id="127" name="Group 127"/>
              <p:cNvGrpSpPr/>
              <p:nvPr/>
            </p:nvGrpSpPr>
            <p:grpSpPr>
              <a:xfrm>
                <a:off x="2862262" y="3471862"/>
                <a:ext cx="142875" cy="142875"/>
                <a:chOff x="2862262" y="3471862"/>
                <a:chExt cx="142875" cy="142875"/>
              </a:xfrm>
            </p:grpSpPr>
            <p:sp>
              <p:nvSpPr>
                <p:cNvPr id="125" name="Freeform 125"/>
                <p:cNvSpPr/>
                <p:nvPr/>
              </p:nvSpPr>
              <p:spPr>
                <a:xfrm>
                  <a:off x="2862262" y="347186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FFFFFF"/>
                  </a:solidFill>
                </a:ln>
              </p:spPr>
            </p:sp>
            <p:sp>
              <p:nvSpPr>
                <p:cNvPr id="126" name="Freeform 126"/>
                <p:cNvSpPr/>
                <p:nvPr/>
              </p:nvSpPr>
              <p:spPr>
                <a:xfrm>
                  <a:off x="2957512" y="3567112"/>
                  <a:ext cx="47625" cy="47625"/>
                </a:xfrm>
                <a:custGeom>
                  <a:avLst/>
                  <a:gdLst/>
                  <a:ahLst/>
                  <a:cxnLst/>
                  <a:rect l="l" t="t" r="r" b="b"/>
                  <a:pathLst>
                    <a:path w="47625" h="47625">
                      <a:moveTo>
                        <a:pt x="47625" y="47625"/>
                      </a:moveTo>
                      <a:lnTo>
                        <a:pt x="0" y="0"/>
                      </a:lnTo>
                    </a:path>
                  </a:pathLst>
                </a:custGeom>
                <a:noFill/>
                <a:ln w="15875">
                  <a:solidFill>
                    <a:srgbClr val="FFFFFF"/>
                  </a:solidFill>
                </a:ln>
              </p:spPr>
            </p:sp>
          </p:grpSp>
          <p:sp>
            <p:nvSpPr>
              <p:cNvPr id="128" name="TextBox 128"/>
              <p:cNvSpPr txBox="1"/>
              <p:nvPr/>
            </p:nvSpPr>
            <p:spPr>
              <a:xfrm>
                <a:off x="2997180" y="3504486"/>
                <a:ext cx="673140"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 xml:space="preserve">AI检索与草拟　</a:t>
                </a:r>
              </a:p>
            </p:txBody>
          </p:sp>
          <p:sp>
            <p:nvSpPr>
              <p:cNvPr id="129" name="TextBox 129"/>
              <p:cNvSpPr txBox="1"/>
              <p:nvPr/>
            </p:nvSpPr>
            <p:spPr>
              <a:xfrm>
                <a:off x="2757488" y="3844528"/>
                <a:ext cx="612623"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检索知识与案例，</a:t>
                </a:r>
              </a:p>
            </p:txBody>
          </p:sp>
          <p:sp>
            <p:nvSpPr>
              <p:cNvPr id="130" name="TextBox 130"/>
              <p:cNvSpPr txBox="1"/>
              <p:nvPr/>
            </p:nvSpPr>
            <p:spPr>
              <a:xfrm>
                <a:off x="2757488" y="3977878"/>
                <a:ext cx="537235"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生成初稿与依据</a:t>
                </a:r>
              </a:p>
            </p:txBody>
          </p:sp>
        </p:grpSp>
        <p:grpSp>
          <p:nvGrpSpPr>
            <p:cNvPr id="142" name="wf-confidence"/>
            <p:cNvGrpSpPr/>
            <p:nvPr/>
          </p:nvGrpSpPr>
          <p:grpSpPr>
            <a:xfrm>
              <a:off x="3900488" y="3352800"/>
              <a:ext cx="900112" cy="736997"/>
              <a:chOff x="3900488" y="3352800"/>
              <a:chExt cx="900112" cy="736997"/>
            </a:xfrm>
          </p:grpSpPr>
          <p:sp>
            <p:nvSpPr>
              <p:cNvPr id="132" name="Rectangle 132"/>
              <p:cNvSpPr/>
              <p:nvPr/>
            </p:nvSpPr>
            <p:spPr>
              <a:xfrm>
                <a:off x="3905250" y="3352800"/>
                <a:ext cx="895350" cy="381000"/>
              </a:xfrm>
              <a:prstGeom prst="roundRect">
                <a:avLst>
                  <a:gd name="adj" fmla="val 15000"/>
                </a:avLst>
              </a:prstGeom>
              <a:solidFill>
                <a:srgbClr val="7C3B2F"/>
              </a:solidFill>
              <a:ln>
                <a:noFill/>
              </a:ln>
            </p:spPr>
          </p:sp>
          <p:grpSp>
            <p:nvGrpSpPr>
              <p:cNvPr id="138" name="Group 138"/>
              <p:cNvGrpSpPr/>
              <p:nvPr/>
            </p:nvGrpSpPr>
            <p:grpSpPr>
              <a:xfrm>
                <a:off x="4005262" y="3471862"/>
                <a:ext cx="142875" cy="144463"/>
                <a:chOff x="4005262" y="3471862"/>
                <a:chExt cx="142875" cy="144463"/>
              </a:xfrm>
            </p:grpSpPr>
            <p:sp>
              <p:nvSpPr>
                <p:cNvPr id="133" name="Freeform 133"/>
                <p:cNvSpPr/>
                <p:nvPr/>
              </p:nvSpPr>
              <p:spPr>
                <a:xfrm>
                  <a:off x="4037012" y="3606800"/>
                  <a:ext cx="79375" cy="9525"/>
                </a:xfrm>
                <a:custGeom>
                  <a:avLst/>
                  <a:gdLst/>
                  <a:ahLst/>
                  <a:cxnLst/>
                  <a:rect l="l" t="t" r="r" b="b"/>
                  <a:pathLst>
                    <a:path w="79375" h="9525">
                      <a:moveTo>
                        <a:pt x="0" y="0"/>
                      </a:moveTo>
                      <a:lnTo>
                        <a:pt x="79375" y="0"/>
                      </a:lnTo>
                    </a:path>
                  </a:pathLst>
                </a:custGeom>
                <a:noFill/>
                <a:ln w="15875">
                  <a:solidFill>
                    <a:srgbClr val="FFFFFF"/>
                  </a:solidFill>
                </a:ln>
              </p:spPr>
            </p:sp>
            <p:sp>
              <p:nvSpPr>
                <p:cNvPr id="134" name="Freeform 134"/>
                <p:cNvSpPr/>
                <p:nvPr/>
              </p:nvSpPr>
              <p:spPr>
                <a:xfrm>
                  <a:off x="4029075" y="3487737"/>
                  <a:ext cx="95250" cy="9525"/>
                </a:xfrm>
                <a:custGeom>
                  <a:avLst/>
                  <a:gdLst/>
                  <a:ahLst/>
                  <a:cxnLst/>
                  <a:rect l="l" t="t" r="r" b="b"/>
                  <a:pathLst>
                    <a:path w="95250" h="9525">
                      <a:moveTo>
                        <a:pt x="0" y="7937"/>
                      </a:moveTo>
                      <a:lnTo>
                        <a:pt x="47625" y="0"/>
                      </a:lnTo>
                      <a:lnTo>
                        <a:pt x="95250" y="7937"/>
                      </a:lnTo>
                    </a:path>
                  </a:pathLst>
                </a:custGeom>
                <a:noFill/>
                <a:ln w="15875">
                  <a:solidFill>
                    <a:srgbClr val="FFFFFF"/>
                  </a:solidFill>
                </a:ln>
              </p:spPr>
            </p:sp>
            <p:sp>
              <p:nvSpPr>
                <p:cNvPr id="135" name="Freeform 135"/>
                <p:cNvSpPr/>
                <p:nvPr/>
              </p:nvSpPr>
              <p:spPr>
                <a:xfrm>
                  <a:off x="4076700" y="3471862"/>
                  <a:ext cx="9525" cy="134937"/>
                </a:xfrm>
                <a:custGeom>
                  <a:avLst/>
                  <a:gdLst/>
                  <a:ahLst/>
                  <a:cxnLst/>
                  <a:rect l="l" t="t" r="r" b="b"/>
                  <a:pathLst>
                    <a:path w="9525" h="134937">
                      <a:moveTo>
                        <a:pt x="0" y="0"/>
                      </a:moveTo>
                      <a:lnTo>
                        <a:pt x="0" y="134937"/>
                      </a:lnTo>
                    </a:path>
                  </a:pathLst>
                </a:custGeom>
                <a:noFill/>
                <a:ln w="15875">
                  <a:solidFill>
                    <a:srgbClr val="FFFFFF"/>
                  </a:solidFill>
                </a:ln>
              </p:spPr>
            </p:sp>
            <p:sp>
              <p:nvSpPr>
                <p:cNvPr id="136" name="Freeform 136"/>
                <p:cNvSpPr/>
                <p:nvPr/>
              </p:nvSpPr>
              <p:spPr>
                <a:xfrm>
                  <a:off x="4005262" y="3495675"/>
                  <a:ext cx="47625" cy="71437"/>
                </a:xfrm>
                <a:custGeom>
                  <a:avLst/>
                  <a:gdLst/>
                  <a:ahLst/>
                  <a:cxnLst/>
                  <a:rect l="l" t="t" r="r" b="b"/>
                  <a:pathLst>
                    <a:path w="47625" h="71437">
                      <a:moveTo>
                        <a:pt x="47625" y="47625"/>
                      </a:moveTo>
                      <a:lnTo>
                        <a:pt x="23812" y="0"/>
                      </a:lnTo>
                      <a:lnTo>
                        <a:pt x="0" y="47625"/>
                      </a:lnTo>
                      <a:cubicBezTo>
                        <a:pt x="0" y="60776"/>
                        <a:pt x="10661" y="71437"/>
                        <a:pt x="23812" y="71437"/>
                      </a:cubicBezTo>
                      <a:cubicBezTo>
                        <a:pt x="36964" y="71437"/>
                        <a:pt x="47625" y="60776"/>
                        <a:pt x="47625" y="47625"/>
                      </a:cubicBezTo>
                    </a:path>
                  </a:pathLst>
                </a:custGeom>
                <a:noFill/>
                <a:ln w="15875">
                  <a:solidFill>
                    <a:srgbClr val="FFFFFF"/>
                  </a:solidFill>
                </a:ln>
              </p:spPr>
            </p:sp>
            <p:sp>
              <p:nvSpPr>
                <p:cNvPr id="137" name="Freeform 137"/>
                <p:cNvSpPr/>
                <p:nvPr/>
              </p:nvSpPr>
              <p:spPr>
                <a:xfrm>
                  <a:off x="4100512" y="3495675"/>
                  <a:ext cx="47625" cy="71437"/>
                </a:xfrm>
                <a:custGeom>
                  <a:avLst/>
                  <a:gdLst/>
                  <a:ahLst/>
                  <a:cxnLst/>
                  <a:rect l="l" t="t" r="r" b="b"/>
                  <a:pathLst>
                    <a:path w="47625" h="71437">
                      <a:moveTo>
                        <a:pt x="47625" y="47625"/>
                      </a:moveTo>
                      <a:lnTo>
                        <a:pt x="23812" y="0"/>
                      </a:lnTo>
                      <a:lnTo>
                        <a:pt x="0" y="47625"/>
                      </a:lnTo>
                      <a:cubicBezTo>
                        <a:pt x="0" y="60776"/>
                        <a:pt x="10661" y="71437"/>
                        <a:pt x="23812" y="71437"/>
                      </a:cubicBezTo>
                      <a:cubicBezTo>
                        <a:pt x="36964" y="71437"/>
                        <a:pt x="47625" y="60776"/>
                        <a:pt x="47625" y="47625"/>
                      </a:cubicBezTo>
                    </a:path>
                  </a:pathLst>
                </a:custGeom>
                <a:noFill/>
                <a:ln w="15875">
                  <a:solidFill>
                    <a:srgbClr val="FFFFFF"/>
                  </a:solidFill>
                </a:ln>
              </p:spPr>
            </p:sp>
          </p:grpSp>
          <p:sp>
            <p:nvSpPr>
              <p:cNvPr id="139" name="TextBox 139"/>
              <p:cNvSpPr txBox="1"/>
              <p:nvPr/>
            </p:nvSpPr>
            <p:spPr>
              <a:xfrm>
                <a:off x="4280827" y="35044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置信判断</a:t>
                </a:r>
              </a:p>
            </p:txBody>
          </p:sp>
          <p:sp>
            <p:nvSpPr>
              <p:cNvPr id="140" name="TextBox 140"/>
              <p:cNvSpPr txBox="1"/>
              <p:nvPr/>
            </p:nvSpPr>
            <p:spPr>
              <a:xfrm>
                <a:off x="3900488" y="3844528"/>
                <a:ext cx="838784"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评估置信度、依据充分性</a:t>
                </a:r>
              </a:p>
            </p:txBody>
          </p:sp>
          <p:sp>
            <p:nvSpPr>
              <p:cNvPr id="141" name="TextBox 141"/>
              <p:cNvSpPr txBox="1"/>
              <p:nvPr/>
            </p:nvSpPr>
            <p:spPr>
              <a:xfrm>
                <a:off x="3900488" y="3977878"/>
                <a:ext cx="386461" cy="111919"/>
              </a:xfrm>
              <a:prstGeom prst="rect">
                <a:avLst/>
              </a:prstGeom>
              <a:noFill/>
              <a:ln>
                <a:noFill/>
              </a:ln>
            </p:spPr>
            <p:txBody>
              <a:bodyPr wrap="none" lIns="0" tIns="0" rIns="0" bIns="0" anchor="t" anchorCtr="0">
                <a:spAutoFit/>
              </a:bodyPr>
              <a:lstStyle/>
              <a:p>
                <a:pPr algn="l"/>
                <a:r>
                  <a:rPr lang="zh-CN" sz="560" dirty="0">
                    <a:solidFill>
                      <a:srgbClr val="66705F"/>
                    </a:solidFill>
                    <a:latin typeface="+mn-lt"/>
                    <a:ea typeface="+mn-ea"/>
                    <a:cs typeface="+mn-cs"/>
                  </a:rPr>
                  <a:t>与风险信号</a:t>
                </a:r>
              </a:p>
            </p:txBody>
          </p:sp>
        </p:grpSp>
        <p:grpSp>
          <p:nvGrpSpPr>
            <p:cNvPr id="147" name="wf-auto"/>
            <p:cNvGrpSpPr/>
            <p:nvPr/>
          </p:nvGrpSpPr>
          <p:grpSpPr>
            <a:xfrm>
              <a:off x="5619750" y="3257550"/>
              <a:ext cx="3238500" cy="361950"/>
              <a:chOff x="5619750" y="3257550"/>
              <a:chExt cx="3238500" cy="361950"/>
            </a:xfrm>
          </p:grpSpPr>
          <p:sp>
            <p:nvSpPr>
              <p:cNvPr id="143" name="Rectangle 143"/>
              <p:cNvSpPr/>
              <p:nvPr/>
            </p:nvSpPr>
            <p:spPr>
              <a:xfrm>
                <a:off x="5619750" y="3257550"/>
                <a:ext cx="3238500" cy="361950"/>
              </a:xfrm>
              <a:prstGeom prst="roundRect">
                <a:avLst>
                  <a:gd name="adj" fmla="val 15789"/>
                </a:avLst>
              </a:prstGeom>
              <a:solidFill>
                <a:srgbClr val="E7F2D8"/>
              </a:solidFill>
              <a:ln w="9525">
                <a:solidFill>
                  <a:srgbClr val="D9E8C6"/>
                </a:solidFill>
              </a:ln>
            </p:spPr>
          </p:sp>
          <p:sp>
            <p:nvSpPr>
              <p:cNvPr id="144" name="Freeform 144"/>
              <p:cNvSpPr/>
              <p:nvPr/>
            </p:nvSpPr>
            <p:spPr>
              <a:xfrm>
                <a:off x="5727548" y="3382804"/>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7C3B2F"/>
                </a:solidFill>
              </a:ln>
            </p:spPr>
          </p:sp>
          <p:sp>
            <p:nvSpPr>
              <p:cNvPr id="145" name="TextBox 145"/>
              <p:cNvSpPr txBox="1"/>
              <p:nvPr/>
            </p:nvSpPr>
            <p:spPr>
              <a:xfrm>
                <a:off x="5938838" y="3313986"/>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自动回复</a:t>
                </a:r>
              </a:p>
            </p:txBody>
          </p:sp>
          <p:sp>
            <p:nvSpPr>
              <p:cNvPr id="146" name="TextBox 146"/>
              <p:cNvSpPr txBox="1"/>
              <p:nvPr/>
            </p:nvSpPr>
            <p:spPr>
              <a:xfrm>
                <a:off x="5938838" y="3473053"/>
                <a:ext cx="1064946"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低风险高置信，直接响应并留痕</a:t>
                </a:r>
              </a:p>
            </p:txBody>
          </p:sp>
        </p:grpSp>
        <p:grpSp>
          <p:nvGrpSpPr>
            <p:cNvPr id="155" name="wf-expert"/>
            <p:cNvGrpSpPr/>
            <p:nvPr/>
          </p:nvGrpSpPr>
          <p:grpSpPr>
            <a:xfrm>
              <a:off x="5619750" y="3657600"/>
              <a:ext cx="3238500" cy="361950"/>
              <a:chOff x="5619750" y="3657600"/>
              <a:chExt cx="3238500" cy="361950"/>
            </a:xfrm>
          </p:grpSpPr>
          <p:sp>
            <p:nvSpPr>
              <p:cNvPr id="148" name="Rectangle 148"/>
              <p:cNvSpPr/>
              <p:nvPr/>
            </p:nvSpPr>
            <p:spPr>
              <a:xfrm>
                <a:off x="5619750" y="3657600"/>
                <a:ext cx="3238500" cy="361950"/>
              </a:xfrm>
              <a:prstGeom prst="roundRect">
                <a:avLst>
                  <a:gd name="adj" fmla="val 15789"/>
                </a:avLst>
              </a:prstGeom>
              <a:solidFill>
                <a:srgbClr val="E7F2D8"/>
              </a:solidFill>
              <a:ln w="9525">
                <a:solidFill>
                  <a:srgbClr val="D9E8C6"/>
                </a:solidFill>
              </a:ln>
            </p:spPr>
          </p:sp>
          <p:grpSp>
            <p:nvGrpSpPr>
              <p:cNvPr id="152" name="Group 152"/>
              <p:cNvGrpSpPr/>
              <p:nvPr/>
            </p:nvGrpSpPr>
            <p:grpSpPr>
              <a:xfrm>
                <a:off x="5753100" y="3781425"/>
                <a:ext cx="95250" cy="114300"/>
                <a:chOff x="5753100" y="3781425"/>
                <a:chExt cx="95250" cy="114300"/>
              </a:xfrm>
            </p:grpSpPr>
            <p:sp>
              <p:nvSpPr>
                <p:cNvPr id="149" name="Freeform 149"/>
                <p:cNvSpPr/>
                <p:nvPr/>
              </p:nvSpPr>
              <p:spPr>
                <a:xfrm>
                  <a:off x="5765800" y="37814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C3B2F"/>
                  </a:solidFill>
                </a:ln>
              </p:spPr>
            </p:sp>
            <p:sp>
              <p:nvSpPr>
                <p:cNvPr id="150" name="Freeform 150"/>
                <p:cNvSpPr/>
                <p:nvPr/>
              </p:nvSpPr>
              <p:spPr>
                <a:xfrm>
                  <a:off x="5753100" y="3857625"/>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7C3B2F"/>
                  </a:solidFill>
                </a:ln>
              </p:spPr>
            </p:sp>
            <p:sp>
              <p:nvSpPr>
                <p:cNvPr id="151" name="Freeform 151"/>
                <p:cNvSpPr/>
                <p:nvPr/>
              </p:nvSpPr>
              <p:spPr>
                <a:xfrm>
                  <a:off x="5810250" y="3870325"/>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153" name="TextBox 153"/>
              <p:cNvSpPr txBox="1"/>
              <p:nvPr/>
            </p:nvSpPr>
            <p:spPr>
              <a:xfrm>
                <a:off x="5938838" y="3714036"/>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专家审核</a:t>
                </a:r>
              </a:p>
            </p:txBody>
          </p:sp>
          <p:sp>
            <p:nvSpPr>
              <p:cNvPr id="154" name="TextBox 154"/>
              <p:cNvSpPr txBox="1"/>
              <p:nvPr/>
            </p:nvSpPr>
            <p:spPr>
              <a:xfrm>
                <a:off x="5938838" y="3873103"/>
                <a:ext cx="989559"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中高风险或置信，转专家评审</a:t>
                </a:r>
              </a:p>
            </p:txBody>
          </p:sp>
        </p:grpSp>
        <p:grpSp>
          <p:nvGrpSpPr>
            <p:cNvPr id="163" name="wf-escalate"/>
            <p:cNvGrpSpPr/>
            <p:nvPr/>
          </p:nvGrpSpPr>
          <p:grpSpPr>
            <a:xfrm>
              <a:off x="5619750" y="4057650"/>
              <a:ext cx="3238500" cy="361950"/>
              <a:chOff x="5619750" y="4057650"/>
              <a:chExt cx="3238500" cy="361950"/>
            </a:xfrm>
          </p:grpSpPr>
          <p:sp>
            <p:nvSpPr>
              <p:cNvPr id="156" name="Rectangle 156"/>
              <p:cNvSpPr/>
              <p:nvPr/>
            </p:nvSpPr>
            <p:spPr>
              <a:xfrm>
                <a:off x="5619750" y="4057650"/>
                <a:ext cx="3238500" cy="361950"/>
              </a:xfrm>
              <a:prstGeom prst="roundRect">
                <a:avLst>
                  <a:gd name="adj" fmla="val 15789"/>
                </a:avLst>
              </a:prstGeom>
              <a:solidFill>
                <a:srgbClr val="E7F2D8"/>
              </a:solidFill>
              <a:ln w="9525">
                <a:solidFill>
                  <a:srgbClr val="D9E8C6"/>
                </a:solidFill>
              </a:ln>
            </p:spPr>
          </p:sp>
          <p:grpSp>
            <p:nvGrpSpPr>
              <p:cNvPr id="160" name="Group 160"/>
              <p:cNvGrpSpPr/>
              <p:nvPr/>
            </p:nvGrpSpPr>
            <p:grpSpPr>
              <a:xfrm>
                <a:off x="5727160" y="4179365"/>
                <a:ext cx="128076" cy="110034"/>
                <a:chOff x="5727160" y="4179365"/>
                <a:chExt cx="128076" cy="110034"/>
              </a:xfrm>
            </p:grpSpPr>
            <p:sp>
              <p:nvSpPr>
                <p:cNvPr id="157" name="Freeform 157"/>
                <p:cNvSpPr/>
                <p:nvPr/>
              </p:nvSpPr>
              <p:spPr>
                <a:xfrm>
                  <a:off x="5791200" y="4219575"/>
                  <a:ext cx="9525" cy="25400"/>
                </a:xfrm>
                <a:custGeom>
                  <a:avLst/>
                  <a:gdLst/>
                  <a:ahLst/>
                  <a:cxnLst/>
                  <a:rect l="l" t="t" r="r" b="b"/>
                  <a:pathLst>
                    <a:path w="9525" h="25400">
                      <a:moveTo>
                        <a:pt x="0" y="0"/>
                      </a:moveTo>
                      <a:lnTo>
                        <a:pt x="0" y="25400"/>
                      </a:lnTo>
                    </a:path>
                  </a:pathLst>
                </a:custGeom>
                <a:noFill/>
                <a:ln w="12700">
                  <a:solidFill>
                    <a:srgbClr val="C44E3A"/>
                  </a:solidFill>
                </a:ln>
              </p:spPr>
            </p:sp>
            <p:sp>
              <p:nvSpPr>
                <p:cNvPr id="158" name="Freeform 158"/>
                <p:cNvSpPr/>
                <p:nvPr/>
              </p:nvSpPr>
              <p:spPr>
                <a:xfrm>
                  <a:off x="5727160" y="4179365"/>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C44E3A"/>
                  </a:solidFill>
                </a:ln>
              </p:spPr>
            </p:sp>
            <p:sp>
              <p:nvSpPr>
                <p:cNvPr id="159" name="Freeform 159"/>
                <p:cNvSpPr/>
                <p:nvPr/>
              </p:nvSpPr>
              <p:spPr>
                <a:xfrm>
                  <a:off x="5791200" y="4264025"/>
                  <a:ext cx="9525" cy="9525"/>
                </a:xfrm>
                <a:custGeom>
                  <a:avLst/>
                  <a:gdLst/>
                  <a:ahLst/>
                  <a:cxnLst/>
                  <a:rect l="l" t="t" r="r" b="b"/>
                  <a:pathLst>
                    <a:path w="9525" h="9525">
                      <a:moveTo>
                        <a:pt x="0" y="0"/>
                      </a:moveTo>
                      <a:lnTo>
                        <a:pt x="64" y="0"/>
                      </a:lnTo>
                    </a:path>
                  </a:pathLst>
                </a:custGeom>
                <a:noFill/>
                <a:ln w="12700">
                  <a:solidFill>
                    <a:srgbClr val="C44E3A"/>
                  </a:solidFill>
                </a:ln>
              </p:spPr>
            </p:sp>
          </p:grpSp>
          <p:sp>
            <p:nvSpPr>
              <p:cNvPr id="161" name="TextBox 161"/>
              <p:cNvSpPr txBox="1"/>
              <p:nvPr/>
            </p:nvSpPr>
            <p:spPr>
              <a:xfrm>
                <a:off x="5938838" y="4114086"/>
                <a:ext cx="39184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风险升级</a:t>
                </a:r>
              </a:p>
            </p:txBody>
          </p:sp>
          <p:sp>
            <p:nvSpPr>
              <p:cNvPr id="162" name="TextBox 162"/>
              <p:cNvSpPr txBox="1"/>
              <p:nvPr/>
            </p:nvSpPr>
            <p:spPr>
              <a:xfrm>
                <a:off x="5938838" y="4273153"/>
                <a:ext cx="1140333" cy="111919"/>
              </a:xfrm>
              <a:prstGeom prst="rect">
                <a:avLst/>
              </a:prstGeom>
              <a:noFill/>
              <a:ln>
                <a:noFill/>
              </a:ln>
            </p:spPr>
            <p:txBody>
              <a:bodyPr wrap="none" lIns="0" tIns="0" rIns="0" bIns="0" anchor="t" anchorCtr="0">
                <a:spAutoFit/>
              </a:bodyPr>
              <a:lstStyle/>
              <a:p>
                <a:pPr algn="l"/>
                <a:r>
                  <a:rPr lang="zh-CN" sz="560" dirty="0">
                    <a:solidFill>
                      <a:srgbClr val="3A4238"/>
                    </a:solidFill>
                    <a:latin typeface="+mn-lt"/>
                    <a:ea typeface="+mn-ea"/>
                    <a:cs typeface="+mn-cs"/>
                  </a:rPr>
                  <a:t>高风险或低置信，升级至风险合规</a:t>
                </a:r>
              </a:p>
            </p:txBody>
          </p:sp>
        </p:grpSp>
        <p:grpSp>
          <p:nvGrpSpPr>
            <p:cNvPr id="172" name="wf-feedback"/>
            <p:cNvGrpSpPr/>
            <p:nvPr/>
          </p:nvGrpSpPr>
          <p:grpSpPr>
            <a:xfrm>
              <a:off x="4286250" y="4533900"/>
              <a:ext cx="2438400" cy="457200"/>
              <a:chOff x="4286250" y="4533900"/>
              <a:chExt cx="2438400" cy="457200"/>
            </a:xfrm>
          </p:grpSpPr>
          <p:sp>
            <p:nvSpPr>
              <p:cNvPr id="164" name="Rectangle 164"/>
              <p:cNvSpPr/>
              <p:nvPr/>
            </p:nvSpPr>
            <p:spPr>
              <a:xfrm>
                <a:off x="4286250" y="4533900"/>
                <a:ext cx="2438400" cy="457200"/>
              </a:xfrm>
              <a:prstGeom prst="roundRect">
                <a:avLst>
                  <a:gd name="adj" fmla="val 12500"/>
                </a:avLst>
              </a:prstGeom>
              <a:solidFill>
                <a:srgbClr val="F4F8EC"/>
              </a:solidFill>
              <a:ln w="9525">
                <a:solidFill>
                  <a:srgbClr val="BE776A"/>
                </a:solidFill>
              </a:ln>
            </p:spPr>
          </p:sp>
          <p:grpSp>
            <p:nvGrpSpPr>
              <p:cNvPr id="168" name="Group 168"/>
              <p:cNvGrpSpPr/>
              <p:nvPr/>
            </p:nvGrpSpPr>
            <p:grpSpPr>
              <a:xfrm>
                <a:off x="4413250" y="4691062"/>
                <a:ext cx="127000" cy="142875"/>
                <a:chOff x="4413250" y="4691062"/>
                <a:chExt cx="127000" cy="142875"/>
              </a:xfrm>
            </p:grpSpPr>
            <p:sp>
              <p:nvSpPr>
                <p:cNvPr id="165" name="Freeform 165"/>
                <p:cNvSpPr/>
                <p:nvPr/>
              </p:nvSpPr>
              <p:spPr>
                <a:xfrm>
                  <a:off x="4413250" y="46910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7C3B2F"/>
                  </a:solidFill>
                </a:ln>
              </p:spPr>
            </p:sp>
            <p:sp>
              <p:nvSpPr>
                <p:cNvPr id="166" name="Freeform 166"/>
                <p:cNvSpPr/>
                <p:nvPr/>
              </p:nvSpPr>
              <p:spPr>
                <a:xfrm>
                  <a:off x="4413250" y="47148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sp>
              <p:nvSpPr>
                <p:cNvPr id="167" name="Freeform 167"/>
                <p:cNvSpPr/>
                <p:nvPr/>
              </p:nvSpPr>
              <p:spPr>
                <a:xfrm>
                  <a:off x="4413250" y="47625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grpSp>
          <p:sp>
            <p:nvSpPr>
              <p:cNvPr id="169" name="TextBox 169"/>
              <p:cNvSpPr txBox="1"/>
              <p:nvPr/>
            </p:nvSpPr>
            <p:spPr>
              <a:xfrm>
                <a:off x="4662488" y="4590336"/>
                <a:ext cx="678586" cy="140494"/>
              </a:xfrm>
              <a:prstGeom prst="rect">
                <a:avLst/>
              </a:prstGeom>
              <a:noFill/>
              <a:ln>
                <a:noFill/>
              </a:ln>
            </p:spPr>
            <p:txBody>
              <a:bodyPr wrap="none" lIns="0" tIns="0" rIns="0" bIns="0" anchor="t" anchorCtr="0">
                <a:spAutoFit/>
              </a:bodyPr>
              <a:lstStyle/>
              <a:p>
                <a:pPr algn="l"/>
                <a:r>
                  <a:rPr lang="zh-CN" sz="710" b="1" dirty="0">
                    <a:solidFill>
                      <a:srgbClr val="42140B"/>
                    </a:solidFill>
                    <a:latin typeface="+mn-lt"/>
                    <a:ea typeface="+mn-ea"/>
                    <a:cs typeface="+mn-cs"/>
                  </a:rPr>
                  <a:t>知识沉淀与反馈</a:t>
                </a:r>
              </a:p>
            </p:txBody>
          </p:sp>
          <p:sp>
            <p:nvSpPr>
              <p:cNvPr id="170" name="TextBox 170"/>
              <p:cNvSpPr txBox="1"/>
              <p:nvPr/>
            </p:nvSpPr>
            <p:spPr>
              <a:xfrm>
                <a:off x="4662488" y="4743926"/>
                <a:ext cx="1129563"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记录结果与依据，更新知识与规则，</a:t>
                </a:r>
              </a:p>
            </p:txBody>
          </p:sp>
          <p:sp>
            <p:nvSpPr>
              <p:cNvPr id="171" name="TextBox 171"/>
              <p:cNvSpPr txBox="1"/>
              <p:nvPr/>
            </p:nvSpPr>
            <p:spPr>
              <a:xfrm>
                <a:off x="4662488" y="4858226"/>
                <a:ext cx="779551"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持续提升效果与可解释性</a:t>
                </a:r>
              </a:p>
            </p:txBody>
          </p:sp>
        </p:grpSp>
      </p:grpSp>
      <p:grpSp>
        <p:nvGrpSpPr>
          <p:cNvPr id="223" name="escalation-rules"/>
          <p:cNvGrpSpPr/>
          <p:nvPr/>
        </p:nvGrpSpPr>
        <p:grpSpPr>
          <a:xfrm>
            <a:off x="9105900" y="628650"/>
            <a:ext cx="2857500" cy="4400550"/>
            <a:chOff x="9105900" y="628650"/>
            <a:chExt cx="2857500" cy="4400550"/>
          </a:xfrm>
        </p:grpSpPr>
        <p:sp>
          <p:nvSpPr>
            <p:cNvPr id="174" name="Rectangle 174"/>
            <p:cNvSpPr/>
            <p:nvPr/>
          </p:nvSpPr>
          <p:spPr>
            <a:xfrm>
              <a:off x="9105900" y="628650"/>
              <a:ext cx="2857500" cy="228600"/>
            </a:xfrm>
            <a:prstGeom prst="roundRect">
              <a:avLst>
                <a:gd name="adj" fmla="val 25000"/>
              </a:avLst>
            </a:prstGeom>
            <a:solidFill>
              <a:srgbClr val="42140B"/>
            </a:solidFill>
            <a:ln>
              <a:noFill/>
            </a:ln>
          </p:spPr>
        </p:sp>
        <p:sp>
          <p:nvSpPr>
            <p:cNvPr id="175" name="TextBox 175"/>
            <p:cNvSpPr txBox="1"/>
            <p:nvPr/>
          </p:nvSpPr>
          <p:spPr>
            <a:xfrm>
              <a:off x="9951022" y="697468"/>
              <a:ext cx="116725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升级规则：何时不自动</a:t>
              </a:r>
            </a:p>
          </p:txBody>
        </p:sp>
        <p:grpSp>
          <p:nvGrpSpPr>
            <p:cNvPr id="184" name="rule-confidence"/>
            <p:cNvGrpSpPr/>
            <p:nvPr/>
          </p:nvGrpSpPr>
          <p:grpSpPr>
            <a:xfrm>
              <a:off x="9105900" y="933450"/>
              <a:ext cx="2857500" cy="742950"/>
              <a:chOff x="9105900" y="933450"/>
              <a:chExt cx="2857500" cy="742950"/>
            </a:xfrm>
          </p:grpSpPr>
          <p:sp>
            <p:nvSpPr>
              <p:cNvPr id="176" name="Rectangle 176"/>
              <p:cNvSpPr/>
              <p:nvPr/>
            </p:nvSpPr>
            <p:spPr>
              <a:xfrm>
                <a:off x="9105900" y="933450"/>
                <a:ext cx="2857500" cy="742950"/>
              </a:xfrm>
              <a:prstGeom prst="roundRect">
                <a:avLst>
                  <a:gd name="adj" fmla="val 10256"/>
                </a:avLst>
              </a:prstGeom>
              <a:solidFill>
                <a:srgbClr val="F4F8EC"/>
              </a:solidFill>
              <a:ln w="9525">
                <a:solidFill>
                  <a:srgbClr val="D9E8C6"/>
                </a:solidFill>
              </a:ln>
            </p:spPr>
          </p:sp>
          <p:sp>
            <p:nvSpPr>
              <p:cNvPr id="177" name="Ellipse 177"/>
              <p:cNvSpPr/>
              <p:nvPr/>
            </p:nvSpPr>
            <p:spPr>
              <a:xfrm>
                <a:off x="9229725" y="1143000"/>
                <a:ext cx="323850" cy="323850"/>
              </a:xfrm>
              <a:prstGeom prst="ellipse">
                <a:avLst/>
              </a:prstGeom>
              <a:solidFill>
                <a:srgbClr val="FFFFFF"/>
              </a:solidFill>
              <a:ln w="9525">
                <a:solidFill>
                  <a:srgbClr val="BE776A"/>
                </a:solidFill>
              </a:ln>
            </p:spPr>
          </p:sp>
          <p:grpSp>
            <p:nvGrpSpPr>
              <p:cNvPr id="181" name="Group 181"/>
              <p:cNvGrpSpPr/>
              <p:nvPr/>
            </p:nvGrpSpPr>
            <p:grpSpPr>
              <a:xfrm>
                <a:off x="9311599" y="1230850"/>
                <a:ext cx="160095" cy="137543"/>
                <a:chOff x="9311599" y="1230850"/>
                <a:chExt cx="160095" cy="137543"/>
              </a:xfrm>
            </p:grpSpPr>
            <p:sp>
              <p:nvSpPr>
                <p:cNvPr id="178" name="Freeform 178"/>
                <p:cNvSpPr/>
                <p:nvPr/>
              </p:nvSpPr>
              <p:spPr>
                <a:xfrm>
                  <a:off x="9391650" y="1281112"/>
                  <a:ext cx="9525" cy="31750"/>
                </a:xfrm>
                <a:custGeom>
                  <a:avLst/>
                  <a:gdLst/>
                  <a:ahLst/>
                  <a:cxnLst/>
                  <a:rect l="l" t="t" r="r" b="b"/>
                  <a:pathLst>
                    <a:path w="9525" h="31750">
                      <a:moveTo>
                        <a:pt x="0" y="0"/>
                      </a:moveTo>
                      <a:lnTo>
                        <a:pt x="0" y="31750"/>
                      </a:lnTo>
                    </a:path>
                  </a:pathLst>
                </a:custGeom>
                <a:noFill/>
                <a:ln w="15875">
                  <a:solidFill>
                    <a:srgbClr val="7C3B2F"/>
                  </a:solidFill>
                </a:ln>
              </p:spPr>
            </p:sp>
            <p:sp>
              <p:nvSpPr>
                <p:cNvPr id="179" name="Freeform 179"/>
                <p:cNvSpPr/>
                <p:nvPr/>
              </p:nvSpPr>
              <p:spPr>
                <a:xfrm>
                  <a:off x="9311599" y="1230850"/>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7C3B2F"/>
                  </a:solidFill>
                </a:ln>
              </p:spPr>
            </p:sp>
            <p:sp>
              <p:nvSpPr>
                <p:cNvPr id="180" name="Freeform 180"/>
                <p:cNvSpPr/>
                <p:nvPr/>
              </p:nvSpPr>
              <p:spPr>
                <a:xfrm>
                  <a:off x="9391650" y="1336675"/>
                  <a:ext cx="9525" cy="9525"/>
                </a:xfrm>
                <a:custGeom>
                  <a:avLst/>
                  <a:gdLst/>
                  <a:ahLst/>
                  <a:cxnLst/>
                  <a:rect l="l" t="t" r="r" b="b"/>
                  <a:pathLst>
                    <a:path w="9525" h="9525">
                      <a:moveTo>
                        <a:pt x="0" y="0"/>
                      </a:moveTo>
                      <a:lnTo>
                        <a:pt x="79" y="0"/>
                      </a:lnTo>
                    </a:path>
                  </a:pathLst>
                </a:custGeom>
                <a:noFill/>
                <a:ln w="15875">
                  <a:solidFill>
                    <a:srgbClr val="7C3B2F"/>
                  </a:solidFill>
                </a:ln>
              </p:spPr>
            </p:sp>
          </p:grpSp>
          <p:sp>
            <p:nvSpPr>
              <p:cNvPr id="182" name="TextBox 182"/>
              <p:cNvSpPr txBox="1"/>
              <p:nvPr/>
            </p:nvSpPr>
            <p:spPr>
              <a:xfrm>
                <a:off x="9653588" y="113418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低置信度</a:t>
                </a:r>
              </a:p>
            </p:txBody>
          </p:sp>
          <p:sp>
            <p:nvSpPr>
              <p:cNvPr id="183" name="TextBox 183"/>
              <p:cNvSpPr txBox="1"/>
              <p:nvPr/>
            </p:nvSpPr>
            <p:spPr>
              <a:xfrm>
                <a:off x="9653588" y="1329928"/>
                <a:ext cx="93408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置信度低于阈值或依据不足，</a:t>
                </a:r>
                <a:br/>
                <a:r>
                  <a:rPr lang="zh-CN" sz="560" dirty="0">
                    <a:solidFill>
                      <a:srgbClr val="3A4238"/>
                    </a:solidFill>
                    <a:latin typeface="+mn-lt"/>
                    <a:ea typeface="+mn-ea"/>
                    <a:cs typeface="+mn-cs"/>
                  </a:rPr>
                  <a:t>必须转人工判断</a:t>
                </a:r>
              </a:p>
            </p:txBody>
          </p:sp>
        </p:grpSp>
        <p:grpSp>
          <p:nvGrpSpPr>
            <p:cNvPr id="194" name="rule-conflict"/>
            <p:cNvGrpSpPr/>
            <p:nvPr/>
          </p:nvGrpSpPr>
          <p:grpSpPr>
            <a:xfrm>
              <a:off x="9105900" y="1733550"/>
              <a:ext cx="2857500" cy="742950"/>
              <a:chOff x="9105900" y="1733550"/>
              <a:chExt cx="2857500" cy="742950"/>
            </a:xfrm>
          </p:grpSpPr>
          <p:sp>
            <p:nvSpPr>
              <p:cNvPr id="185" name="Rectangle 185"/>
              <p:cNvSpPr/>
              <p:nvPr/>
            </p:nvSpPr>
            <p:spPr>
              <a:xfrm>
                <a:off x="9105900" y="1733550"/>
                <a:ext cx="2857500" cy="742950"/>
              </a:xfrm>
              <a:prstGeom prst="roundRect">
                <a:avLst>
                  <a:gd name="adj" fmla="val 10256"/>
                </a:avLst>
              </a:prstGeom>
              <a:solidFill>
                <a:srgbClr val="FFFFFF"/>
              </a:solidFill>
              <a:ln w="9525">
                <a:solidFill>
                  <a:srgbClr val="D9E8C6"/>
                </a:solidFill>
              </a:ln>
            </p:spPr>
          </p:sp>
          <p:sp>
            <p:nvSpPr>
              <p:cNvPr id="186" name="Ellipse 186"/>
              <p:cNvSpPr/>
              <p:nvPr/>
            </p:nvSpPr>
            <p:spPr>
              <a:xfrm>
                <a:off x="9229725" y="1943100"/>
                <a:ext cx="323850" cy="323850"/>
              </a:xfrm>
              <a:prstGeom prst="ellipse">
                <a:avLst/>
              </a:prstGeom>
              <a:solidFill>
                <a:srgbClr val="FFFFFF"/>
              </a:solidFill>
              <a:ln w="9525">
                <a:solidFill>
                  <a:srgbClr val="BE776A"/>
                </a:solidFill>
              </a:ln>
            </p:spPr>
          </p:sp>
          <p:grpSp>
            <p:nvGrpSpPr>
              <p:cNvPr id="191" name="Group 191"/>
              <p:cNvGrpSpPr/>
              <p:nvPr/>
            </p:nvGrpSpPr>
            <p:grpSpPr>
              <a:xfrm>
                <a:off x="9320212" y="2041525"/>
                <a:ext cx="142875" cy="127000"/>
                <a:chOff x="9320212" y="2041525"/>
                <a:chExt cx="142875" cy="127000"/>
              </a:xfrm>
            </p:grpSpPr>
            <p:sp>
              <p:nvSpPr>
                <p:cNvPr id="187" name="Freeform 187"/>
                <p:cNvSpPr/>
                <p:nvPr/>
              </p:nvSpPr>
              <p:spPr>
                <a:xfrm>
                  <a:off x="9320212" y="2065337"/>
                  <a:ext cx="142875" cy="9525"/>
                </a:xfrm>
                <a:custGeom>
                  <a:avLst/>
                  <a:gdLst/>
                  <a:ahLst/>
                  <a:cxnLst/>
                  <a:rect l="l" t="t" r="r" b="b"/>
                  <a:pathLst>
                    <a:path w="142875" h="9525">
                      <a:moveTo>
                        <a:pt x="142875" y="0"/>
                      </a:moveTo>
                      <a:lnTo>
                        <a:pt x="0" y="0"/>
                      </a:lnTo>
                    </a:path>
                  </a:pathLst>
                </a:custGeom>
                <a:noFill/>
                <a:ln w="15875">
                  <a:solidFill>
                    <a:srgbClr val="7C3B2F"/>
                  </a:solidFill>
                </a:ln>
              </p:spPr>
            </p:sp>
            <p:sp>
              <p:nvSpPr>
                <p:cNvPr id="188" name="Freeform 188"/>
                <p:cNvSpPr/>
                <p:nvPr/>
              </p:nvSpPr>
              <p:spPr>
                <a:xfrm>
                  <a:off x="9439275" y="2041525"/>
                  <a:ext cx="23812" cy="47625"/>
                </a:xfrm>
                <a:custGeom>
                  <a:avLst/>
                  <a:gdLst/>
                  <a:ahLst/>
                  <a:cxnLst/>
                  <a:rect l="l" t="t" r="r" b="b"/>
                  <a:pathLst>
                    <a:path w="23812" h="47625">
                      <a:moveTo>
                        <a:pt x="0" y="47625"/>
                      </a:moveTo>
                      <a:lnTo>
                        <a:pt x="23812" y="23812"/>
                      </a:lnTo>
                      <a:lnTo>
                        <a:pt x="0" y="0"/>
                      </a:lnTo>
                    </a:path>
                  </a:pathLst>
                </a:custGeom>
                <a:noFill/>
                <a:ln w="15875">
                  <a:solidFill>
                    <a:srgbClr val="7C3B2F"/>
                  </a:solidFill>
                </a:ln>
              </p:spPr>
            </p:sp>
            <p:sp>
              <p:nvSpPr>
                <p:cNvPr id="189" name="Freeform 189"/>
                <p:cNvSpPr/>
                <p:nvPr/>
              </p:nvSpPr>
              <p:spPr>
                <a:xfrm>
                  <a:off x="9320212" y="2120900"/>
                  <a:ext cx="23812" cy="47625"/>
                </a:xfrm>
                <a:custGeom>
                  <a:avLst/>
                  <a:gdLst/>
                  <a:ahLst/>
                  <a:cxnLst/>
                  <a:rect l="l" t="t" r="r" b="b"/>
                  <a:pathLst>
                    <a:path w="23812" h="47625">
                      <a:moveTo>
                        <a:pt x="23812" y="47625"/>
                      </a:moveTo>
                      <a:lnTo>
                        <a:pt x="0" y="23812"/>
                      </a:lnTo>
                      <a:lnTo>
                        <a:pt x="23812" y="0"/>
                      </a:lnTo>
                    </a:path>
                  </a:pathLst>
                </a:custGeom>
                <a:noFill/>
                <a:ln w="15875">
                  <a:solidFill>
                    <a:srgbClr val="7C3B2F"/>
                  </a:solidFill>
                </a:ln>
              </p:spPr>
            </p:sp>
            <p:sp>
              <p:nvSpPr>
                <p:cNvPr id="190" name="Freeform 190"/>
                <p:cNvSpPr/>
                <p:nvPr/>
              </p:nvSpPr>
              <p:spPr>
                <a:xfrm>
                  <a:off x="9320212" y="2144712"/>
                  <a:ext cx="142875" cy="9525"/>
                </a:xfrm>
                <a:custGeom>
                  <a:avLst/>
                  <a:gdLst/>
                  <a:ahLst/>
                  <a:cxnLst/>
                  <a:rect l="l" t="t" r="r" b="b"/>
                  <a:pathLst>
                    <a:path w="142875" h="9525">
                      <a:moveTo>
                        <a:pt x="0" y="0"/>
                      </a:moveTo>
                      <a:lnTo>
                        <a:pt x="142875" y="0"/>
                      </a:lnTo>
                    </a:path>
                  </a:pathLst>
                </a:custGeom>
                <a:noFill/>
                <a:ln w="15875">
                  <a:solidFill>
                    <a:srgbClr val="7C3B2F"/>
                  </a:solidFill>
                </a:ln>
              </p:spPr>
            </p:sp>
          </p:grpSp>
          <p:sp>
            <p:nvSpPr>
              <p:cNvPr id="192" name="TextBox 192"/>
              <p:cNvSpPr txBox="1"/>
              <p:nvPr/>
            </p:nvSpPr>
            <p:spPr>
              <a:xfrm>
                <a:off x="9653588" y="193428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来源冲突</a:t>
                </a:r>
              </a:p>
            </p:txBody>
          </p:sp>
          <p:sp>
            <p:nvSpPr>
              <p:cNvPr id="193" name="TextBox 193"/>
              <p:cNvSpPr txBox="1"/>
              <p:nvPr/>
            </p:nvSpPr>
            <p:spPr>
              <a:xfrm>
                <a:off x="9653588" y="2130028"/>
                <a:ext cx="86296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关键事实在多源间不一致，</a:t>
                </a:r>
                <a:br/>
                <a:r>
                  <a:rPr lang="zh-CN" sz="560" dirty="0">
                    <a:solidFill>
                      <a:srgbClr val="3A4238"/>
                    </a:solidFill>
                    <a:latin typeface="+mn-lt"/>
                    <a:ea typeface="+mn-ea"/>
                    <a:cs typeface="+mn-cs"/>
                  </a:rPr>
                  <a:t>需要专家裁决</a:t>
                </a:r>
              </a:p>
            </p:txBody>
          </p:sp>
        </p:grpSp>
        <p:grpSp>
          <p:nvGrpSpPr>
            <p:cNvPr id="203" name="rule-sensitive"/>
            <p:cNvGrpSpPr/>
            <p:nvPr/>
          </p:nvGrpSpPr>
          <p:grpSpPr>
            <a:xfrm>
              <a:off x="9105900" y="2533650"/>
              <a:ext cx="2857500" cy="742950"/>
              <a:chOff x="9105900" y="2533650"/>
              <a:chExt cx="2857500" cy="742950"/>
            </a:xfrm>
          </p:grpSpPr>
          <p:sp>
            <p:nvSpPr>
              <p:cNvPr id="195" name="Rectangle 195"/>
              <p:cNvSpPr/>
              <p:nvPr/>
            </p:nvSpPr>
            <p:spPr>
              <a:xfrm>
                <a:off x="9105900" y="2533650"/>
                <a:ext cx="2857500" cy="742950"/>
              </a:xfrm>
              <a:prstGeom prst="roundRect">
                <a:avLst>
                  <a:gd name="adj" fmla="val 10256"/>
                </a:avLst>
              </a:prstGeom>
              <a:solidFill>
                <a:srgbClr val="F4F8EC"/>
              </a:solidFill>
              <a:ln w="9525">
                <a:solidFill>
                  <a:srgbClr val="D9E8C6"/>
                </a:solidFill>
              </a:ln>
            </p:spPr>
          </p:sp>
          <p:sp>
            <p:nvSpPr>
              <p:cNvPr id="196" name="Ellipse 196"/>
              <p:cNvSpPr/>
              <p:nvPr/>
            </p:nvSpPr>
            <p:spPr>
              <a:xfrm>
                <a:off x="9229725" y="2743200"/>
                <a:ext cx="323850" cy="323850"/>
              </a:xfrm>
              <a:prstGeom prst="ellipse">
                <a:avLst/>
              </a:prstGeom>
              <a:solidFill>
                <a:srgbClr val="FFFFFF"/>
              </a:solidFill>
              <a:ln w="9525">
                <a:solidFill>
                  <a:srgbClr val="BE776A"/>
                </a:solidFill>
              </a:ln>
            </p:spPr>
          </p:sp>
          <p:grpSp>
            <p:nvGrpSpPr>
              <p:cNvPr id="200" name="Group 200"/>
              <p:cNvGrpSpPr/>
              <p:nvPr/>
            </p:nvGrpSpPr>
            <p:grpSpPr>
              <a:xfrm>
                <a:off x="9336087" y="2833687"/>
                <a:ext cx="111125" cy="142875"/>
                <a:chOff x="9336087" y="2833687"/>
                <a:chExt cx="111125" cy="142875"/>
              </a:xfrm>
            </p:grpSpPr>
            <p:sp>
              <p:nvSpPr>
                <p:cNvPr id="197" name="Freeform 197"/>
                <p:cNvSpPr/>
                <p:nvPr/>
              </p:nvSpPr>
              <p:spPr>
                <a:xfrm>
                  <a:off x="9336087" y="2897187"/>
                  <a:ext cx="111125" cy="79375"/>
                </a:xfrm>
                <a:custGeom>
                  <a:avLst/>
                  <a:gdLst/>
                  <a:ahLst/>
                  <a:cxnLst/>
                  <a:rect l="l" t="t" r="r" b="b"/>
                  <a:pathLst>
                    <a:path w="111125" h="79375">
                      <a:moveTo>
                        <a:pt x="0" y="15875"/>
                      </a:moveTo>
                      <a:cubicBezTo>
                        <a:pt x="0" y="7107"/>
                        <a:pt x="7107" y="0"/>
                        <a:pt x="15875" y="0"/>
                      </a:cubicBezTo>
                      <a:lnTo>
                        <a:pt x="95250" y="0"/>
                      </a:lnTo>
                      <a:cubicBezTo>
                        <a:pt x="104017" y="0"/>
                        <a:pt x="111125" y="7107"/>
                        <a:pt x="111125" y="15875"/>
                      </a:cubicBezTo>
                      <a:lnTo>
                        <a:pt x="111125" y="63500"/>
                      </a:lnTo>
                      <a:cubicBezTo>
                        <a:pt x="111125" y="72267"/>
                        <a:pt x="104017" y="79375"/>
                        <a:pt x="95250" y="79375"/>
                      </a:cubicBezTo>
                      <a:lnTo>
                        <a:pt x="15875" y="79375"/>
                      </a:lnTo>
                      <a:cubicBezTo>
                        <a:pt x="7107" y="79375"/>
                        <a:pt x="0" y="72267"/>
                        <a:pt x="0" y="63500"/>
                      </a:cubicBezTo>
                      <a:lnTo>
                        <a:pt x="0" y="15875"/>
                      </a:lnTo>
                    </a:path>
                  </a:pathLst>
                </a:custGeom>
                <a:noFill/>
                <a:ln w="15875">
                  <a:solidFill>
                    <a:srgbClr val="7C3B2F"/>
                  </a:solidFill>
                </a:ln>
              </p:spPr>
            </p:sp>
            <p:sp>
              <p:nvSpPr>
                <p:cNvPr id="198" name="Freeform 198"/>
                <p:cNvSpPr/>
                <p:nvPr/>
              </p:nvSpPr>
              <p:spPr>
                <a:xfrm>
                  <a:off x="9383712" y="292893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7C3B2F"/>
                  </a:solidFill>
                </a:ln>
              </p:spPr>
            </p:sp>
            <p:sp>
              <p:nvSpPr>
                <p:cNvPr id="199" name="Freeform 199"/>
                <p:cNvSpPr/>
                <p:nvPr/>
              </p:nvSpPr>
              <p:spPr>
                <a:xfrm>
                  <a:off x="9359900" y="2833687"/>
                  <a:ext cx="63500" cy="63500"/>
                </a:xfrm>
                <a:custGeom>
                  <a:avLst/>
                  <a:gdLst/>
                  <a:ahLst/>
                  <a:cxnLst/>
                  <a:rect l="l" t="t" r="r" b="b"/>
                  <a:pathLst>
                    <a:path w="63500" h="63500">
                      <a:moveTo>
                        <a:pt x="0" y="63500"/>
                      </a:moveTo>
                      <a:lnTo>
                        <a:pt x="0" y="31750"/>
                      </a:lnTo>
                      <a:cubicBezTo>
                        <a:pt x="0" y="14215"/>
                        <a:pt x="14215" y="0"/>
                        <a:pt x="31750" y="0"/>
                      </a:cubicBezTo>
                      <a:cubicBezTo>
                        <a:pt x="49285" y="0"/>
                        <a:pt x="63500" y="14215"/>
                        <a:pt x="63500" y="31750"/>
                      </a:cubicBezTo>
                      <a:lnTo>
                        <a:pt x="63500" y="63500"/>
                      </a:lnTo>
                    </a:path>
                  </a:pathLst>
                </a:custGeom>
                <a:noFill/>
                <a:ln w="15875">
                  <a:solidFill>
                    <a:srgbClr val="7C3B2F"/>
                  </a:solidFill>
                </a:ln>
              </p:spPr>
            </p:sp>
          </p:grpSp>
          <p:sp>
            <p:nvSpPr>
              <p:cNvPr id="201" name="TextBox 201"/>
              <p:cNvSpPr txBox="1"/>
              <p:nvPr/>
            </p:nvSpPr>
            <p:spPr>
              <a:xfrm>
                <a:off x="9653588" y="273438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敏感主题</a:t>
                </a:r>
              </a:p>
            </p:txBody>
          </p:sp>
          <p:sp>
            <p:nvSpPr>
              <p:cNvPr id="202" name="TextBox 202"/>
              <p:cNvSpPr txBox="1"/>
              <p:nvPr/>
            </p:nvSpPr>
            <p:spPr>
              <a:xfrm>
                <a:off x="9653588" y="2930128"/>
                <a:ext cx="93408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涉及法律、个人信息、财务、</a:t>
                </a:r>
                <a:br/>
                <a:r>
                  <a:rPr lang="zh-CN" sz="560" dirty="0">
                    <a:solidFill>
                      <a:srgbClr val="3A4238"/>
                    </a:solidFill>
                    <a:latin typeface="+mn-lt"/>
                    <a:ea typeface="+mn-ea"/>
                    <a:cs typeface="+mn-cs"/>
                  </a:rPr>
                  <a:t>员工关系等敏感事项</a:t>
                </a:r>
              </a:p>
            </p:txBody>
          </p:sp>
        </p:grpSp>
        <p:grpSp>
          <p:nvGrpSpPr>
            <p:cNvPr id="214" name="rule-irreversible"/>
            <p:cNvGrpSpPr/>
            <p:nvPr/>
          </p:nvGrpSpPr>
          <p:grpSpPr>
            <a:xfrm>
              <a:off x="9105900" y="3333750"/>
              <a:ext cx="2857500" cy="742950"/>
              <a:chOff x="9105900" y="3333750"/>
              <a:chExt cx="2857500" cy="742950"/>
            </a:xfrm>
          </p:grpSpPr>
          <p:sp>
            <p:nvSpPr>
              <p:cNvPr id="204" name="Rectangle 204"/>
              <p:cNvSpPr/>
              <p:nvPr/>
            </p:nvSpPr>
            <p:spPr>
              <a:xfrm>
                <a:off x="9105900" y="3333750"/>
                <a:ext cx="2857500" cy="742950"/>
              </a:xfrm>
              <a:prstGeom prst="roundRect">
                <a:avLst>
                  <a:gd name="adj" fmla="val 10256"/>
                </a:avLst>
              </a:prstGeom>
              <a:solidFill>
                <a:srgbClr val="FFFFFF"/>
              </a:solidFill>
              <a:ln w="9525">
                <a:solidFill>
                  <a:srgbClr val="D9E8C6"/>
                </a:solidFill>
              </a:ln>
            </p:spPr>
          </p:sp>
          <p:sp>
            <p:nvSpPr>
              <p:cNvPr id="205" name="Ellipse 205"/>
              <p:cNvSpPr/>
              <p:nvPr/>
            </p:nvSpPr>
            <p:spPr>
              <a:xfrm>
                <a:off x="9229725" y="3543300"/>
                <a:ext cx="323850" cy="323850"/>
              </a:xfrm>
              <a:prstGeom prst="ellipse">
                <a:avLst/>
              </a:prstGeom>
              <a:solidFill>
                <a:srgbClr val="FFFFFF"/>
              </a:solidFill>
              <a:ln w="9525">
                <a:solidFill>
                  <a:srgbClr val="BE776A"/>
                </a:solidFill>
              </a:ln>
            </p:spPr>
          </p:sp>
          <p:grpSp>
            <p:nvGrpSpPr>
              <p:cNvPr id="211" name="Group 211"/>
              <p:cNvGrpSpPr/>
              <p:nvPr/>
            </p:nvGrpSpPr>
            <p:grpSpPr>
              <a:xfrm>
                <a:off x="9318757" y="3632332"/>
                <a:ext cx="145966" cy="153855"/>
                <a:chOff x="9318757" y="3632332"/>
                <a:chExt cx="145966" cy="153855"/>
              </a:xfrm>
            </p:grpSpPr>
            <p:sp>
              <p:nvSpPr>
                <p:cNvPr id="206" name="Freeform 206"/>
                <p:cNvSpPr/>
                <p:nvPr/>
              </p:nvSpPr>
              <p:spPr>
                <a:xfrm>
                  <a:off x="9375775" y="3689350"/>
                  <a:ext cx="88948" cy="88929"/>
                </a:xfrm>
                <a:custGeom>
                  <a:avLst/>
                  <a:gdLst/>
                  <a:ahLst/>
                  <a:cxnLst/>
                  <a:rect l="l" t="t" r="r" b="b"/>
                  <a:pathLst>
                    <a:path w="88948" h="88929">
                      <a:moveTo>
                        <a:pt x="23812" y="0"/>
                      </a:moveTo>
                      <a:lnTo>
                        <a:pt x="82415" y="58880"/>
                      </a:lnTo>
                      <a:cubicBezTo>
                        <a:pt x="88948" y="65389"/>
                        <a:pt x="88948" y="75930"/>
                        <a:pt x="82415" y="82431"/>
                      </a:cubicBezTo>
                      <a:cubicBezTo>
                        <a:pt x="75882" y="88929"/>
                        <a:pt x="65326" y="88929"/>
                        <a:pt x="58793" y="82431"/>
                      </a:cubicBezTo>
                      <a:lnTo>
                        <a:pt x="0" y="23812"/>
                      </a:lnTo>
                    </a:path>
                  </a:pathLst>
                </a:custGeom>
                <a:noFill/>
                <a:ln w="15875">
                  <a:solidFill>
                    <a:srgbClr val="7C3B2F"/>
                  </a:solidFill>
                </a:ln>
              </p:spPr>
            </p:sp>
            <p:sp>
              <p:nvSpPr>
                <p:cNvPr id="207" name="Freeform 207"/>
                <p:cNvSpPr/>
                <p:nvPr/>
              </p:nvSpPr>
              <p:spPr>
                <a:xfrm>
                  <a:off x="9344025" y="3681412"/>
                  <a:ext cx="31750" cy="31750"/>
                </a:xfrm>
                <a:custGeom>
                  <a:avLst/>
                  <a:gdLst/>
                  <a:ahLst/>
                  <a:cxnLst/>
                  <a:rect l="l" t="t" r="r" b="b"/>
                  <a:pathLst>
                    <a:path w="31750" h="31750">
                      <a:moveTo>
                        <a:pt x="0" y="0"/>
                      </a:moveTo>
                      <a:lnTo>
                        <a:pt x="31750" y="31750"/>
                      </a:lnTo>
                    </a:path>
                  </a:pathLst>
                </a:custGeom>
                <a:noFill/>
                <a:ln w="15875">
                  <a:solidFill>
                    <a:srgbClr val="7C3B2F"/>
                  </a:solidFill>
                </a:ln>
              </p:spPr>
            </p:sp>
            <p:sp>
              <p:nvSpPr>
                <p:cNvPr id="208" name="Freeform 208"/>
                <p:cNvSpPr/>
                <p:nvPr/>
              </p:nvSpPr>
              <p:spPr>
                <a:xfrm>
                  <a:off x="9367837" y="3657600"/>
                  <a:ext cx="31750" cy="31750"/>
                </a:xfrm>
                <a:custGeom>
                  <a:avLst/>
                  <a:gdLst/>
                  <a:ahLst/>
                  <a:cxnLst/>
                  <a:rect l="l" t="t" r="r" b="b"/>
                  <a:pathLst>
                    <a:path w="31750" h="31750">
                      <a:moveTo>
                        <a:pt x="31750" y="31750"/>
                      </a:moveTo>
                      <a:lnTo>
                        <a:pt x="0" y="0"/>
                      </a:lnTo>
                    </a:path>
                  </a:pathLst>
                </a:custGeom>
                <a:noFill/>
                <a:ln w="15875">
                  <a:solidFill>
                    <a:srgbClr val="7C3B2F"/>
                  </a:solidFill>
                </a:ln>
              </p:spPr>
            </p:sp>
            <p:sp>
              <p:nvSpPr>
                <p:cNvPr id="209" name="Freeform 209"/>
                <p:cNvSpPr/>
                <p:nvPr/>
              </p:nvSpPr>
              <p:spPr>
                <a:xfrm>
                  <a:off x="9320212" y="3776662"/>
                  <a:ext cx="55562" cy="9525"/>
                </a:xfrm>
                <a:custGeom>
                  <a:avLst/>
                  <a:gdLst/>
                  <a:ahLst/>
                  <a:cxnLst/>
                  <a:rect l="l" t="t" r="r" b="b"/>
                  <a:pathLst>
                    <a:path w="55562" h="9525">
                      <a:moveTo>
                        <a:pt x="0" y="0"/>
                      </a:moveTo>
                      <a:lnTo>
                        <a:pt x="55562" y="0"/>
                      </a:lnTo>
                    </a:path>
                  </a:pathLst>
                </a:custGeom>
                <a:noFill/>
                <a:ln w="15875">
                  <a:solidFill>
                    <a:srgbClr val="7C3B2F"/>
                  </a:solidFill>
                </a:ln>
              </p:spPr>
            </p:sp>
            <p:sp>
              <p:nvSpPr>
                <p:cNvPr id="210" name="Freeform 210"/>
                <p:cNvSpPr/>
                <p:nvPr/>
              </p:nvSpPr>
              <p:spPr>
                <a:xfrm>
                  <a:off x="9318757" y="3632332"/>
                  <a:ext cx="106099" cy="106099"/>
                </a:xfrm>
                <a:custGeom>
                  <a:avLst/>
                  <a:gdLst/>
                  <a:ahLst/>
                  <a:cxnLst/>
                  <a:rect l="l" t="t" r="r" b="b"/>
                  <a:pathLst>
                    <a:path w="106099" h="106099">
                      <a:moveTo>
                        <a:pt x="31563" y="103000"/>
                      </a:moveTo>
                      <a:lnTo>
                        <a:pt x="3099" y="74536"/>
                      </a:lnTo>
                      <a:cubicBezTo>
                        <a:pt x="0" y="71437"/>
                        <a:pt x="0" y="66412"/>
                        <a:pt x="3099" y="63313"/>
                      </a:cubicBezTo>
                      <a:lnTo>
                        <a:pt x="21299" y="45112"/>
                      </a:lnTo>
                      <a:lnTo>
                        <a:pt x="25268" y="49081"/>
                      </a:lnTo>
                      <a:lnTo>
                        <a:pt x="49081" y="25268"/>
                      </a:lnTo>
                      <a:lnTo>
                        <a:pt x="45112" y="21299"/>
                      </a:lnTo>
                      <a:lnTo>
                        <a:pt x="63313" y="3099"/>
                      </a:lnTo>
                      <a:cubicBezTo>
                        <a:pt x="66412" y="0"/>
                        <a:pt x="71437" y="0"/>
                        <a:pt x="74536" y="3099"/>
                      </a:cubicBezTo>
                      <a:lnTo>
                        <a:pt x="103000" y="31563"/>
                      </a:lnTo>
                      <a:cubicBezTo>
                        <a:pt x="106099" y="34662"/>
                        <a:pt x="106099" y="39687"/>
                        <a:pt x="103000" y="42786"/>
                      </a:cubicBezTo>
                      <a:lnTo>
                        <a:pt x="84799" y="60987"/>
                      </a:lnTo>
                      <a:lnTo>
                        <a:pt x="80831" y="57018"/>
                      </a:lnTo>
                      <a:lnTo>
                        <a:pt x="57018" y="80831"/>
                      </a:lnTo>
                      <a:lnTo>
                        <a:pt x="60987" y="84799"/>
                      </a:lnTo>
                      <a:lnTo>
                        <a:pt x="42786" y="103000"/>
                      </a:lnTo>
                      <a:cubicBezTo>
                        <a:pt x="39687" y="106099"/>
                        <a:pt x="34662" y="106099"/>
                        <a:pt x="31563" y="103000"/>
                      </a:cubicBezTo>
                    </a:path>
                  </a:pathLst>
                </a:custGeom>
                <a:noFill/>
                <a:ln w="15875">
                  <a:solidFill>
                    <a:srgbClr val="7C3B2F"/>
                  </a:solidFill>
                </a:ln>
              </p:spPr>
            </p:sp>
          </p:grpSp>
          <p:sp>
            <p:nvSpPr>
              <p:cNvPr id="212" name="TextBox 212"/>
              <p:cNvSpPr txBox="1"/>
              <p:nvPr/>
            </p:nvSpPr>
            <p:spPr>
              <a:xfrm>
                <a:off x="9653588" y="3534489"/>
                <a:ext cx="54127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不可逆操作</a:t>
                </a:r>
              </a:p>
            </p:txBody>
          </p:sp>
          <p:sp>
            <p:nvSpPr>
              <p:cNvPr id="213" name="TextBox 213"/>
              <p:cNvSpPr txBox="1"/>
              <p:nvPr/>
            </p:nvSpPr>
            <p:spPr>
              <a:xfrm>
                <a:off x="9653588" y="3730228"/>
                <a:ext cx="86296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可能产生重大、不可逆影响</a:t>
                </a:r>
                <a:br/>
                <a:r>
                  <a:rPr lang="zh-CN" sz="560" dirty="0">
                    <a:solidFill>
                      <a:srgbClr val="3A4238"/>
                    </a:solidFill>
                    <a:latin typeface="+mn-lt"/>
                    <a:ea typeface="+mn-ea"/>
                    <a:cs typeface="+mn-cs"/>
                  </a:rPr>
                  <a:t>的操作或承诺</a:t>
                </a:r>
              </a:p>
            </p:txBody>
          </p:sp>
        </p:grpSp>
        <p:grpSp>
          <p:nvGrpSpPr>
            <p:cNvPr id="222" name="rule-audit"/>
            <p:cNvGrpSpPr/>
            <p:nvPr/>
          </p:nvGrpSpPr>
          <p:grpSpPr>
            <a:xfrm>
              <a:off x="9105900" y="4133850"/>
              <a:ext cx="2857500" cy="895350"/>
              <a:chOff x="9105900" y="4133850"/>
              <a:chExt cx="2857500" cy="895350"/>
            </a:xfrm>
          </p:grpSpPr>
          <p:sp>
            <p:nvSpPr>
              <p:cNvPr id="215" name="Rectangle 215"/>
              <p:cNvSpPr/>
              <p:nvPr/>
            </p:nvSpPr>
            <p:spPr>
              <a:xfrm>
                <a:off x="9105900" y="4133850"/>
                <a:ext cx="2857500" cy="895350"/>
              </a:xfrm>
              <a:prstGeom prst="roundRect">
                <a:avLst>
                  <a:gd name="adj" fmla="val 8511"/>
                </a:avLst>
              </a:prstGeom>
              <a:solidFill>
                <a:srgbClr val="E7F2D8"/>
              </a:solidFill>
              <a:ln w="9525">
                <a:solidFill>
                  <a:srgbClr val="BE776A"/>
                </a:solidFill>
              </a:ln>
            </p:spPr>
          </p:sp>
          <p:sp>
            <p:nvSpPr>
              <p:cNvPr id="216" name="Ellipse 216"/>
              <p:cNvSpPr/>
              <p:nvPr/>
            </p:nvSpPr>
            <p:spPr>
              <a:xfrm>
                <a:off x="9229725" y="4419600"/>
                <a:ext cx="323850" cy="323850"/>
              </a:xfrm>
              <a:prstGeom prst="ellipse">
                <a:avLst/>
              </a:prstGeom>
              <a:solidFill>
                <a:srgbClr val="FFFFFF"/>
              </a:solidFill>
              <a:ln w="9525">
                <a:solidFill>
                  <a:srgbClr val="BE776A"/>
                </a:solidFill>
              </a:ln>
            </p:spPr>
          </p:sp>
          <p:grpSp>
            <p:nvGrpSpPr>
              <p:cNvPr id="219" name="Group 219"/>
              <p:cNvGrpSpPr/>
              <p:nvPr/>
            </p:nvGrpSpPr>
            <p:grpSpPr>
              <a:xfrm>
                <a:off x="9309500" y="4510087"/>
                <a:ext cx="155005" cy="142875"/>
                <a:chOff x="9309500" y="4510087"/>
                <a:chExt cx="155005" cy="142875"/>
              </a:xfrm>
            </p:grpSpPr>
            <p:sp>
              <p:nvSpPr>
                <p:cNvPr id="217" name="Freeform 217"/>
                <p:cNvSpPr/>
                <p:nvPr/>
              </p:nvSpPr>
              <p:spPr>
                <a:xfrm>
                  <a:off x="9309500" y="4510087"/>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7C3B2F"/>
                  </a:solidFill>
                </a:ln>
              </p:spPr>
            </p:sp>
            <p:sp>
              <p:nvSpPr>
                <p:cNvPr id="218" name="Freeform 218"/>
                <p:cNvSpPr/>
                <p:nvPr/>
              </p:nvSpPr>
              <p:spPr>
                <a:xfrm>
                  <a:off x="9415462" y="4621212"/>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grpSp>
          <p:sp>
            <p:nvSpPr>
              <p:cNvPr id="220" name="TextBox 220"/>
              <p:cNvSpPr txBox="1"/>
              <p:nvPr/>
            </p:nvSpPr>
            <p:spPr>
              <a:xfrm>
                <a:off x="9653588" y="4353639"/>
                <a:ext cx="54127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记录与审计</a:t>
                </a:r>
              </a:p>
            </p:txBody>
          </p:sp>
          <p:sp>
            <p:nvSpPr>
              <p:cNvPr id="221" name="TextBox 221"/>
              <p:cNvSpPr txBox="1"/>
              <p:nvPr/>
            </p:nvSpPr>
            <p:spPr>
              <a:xfrm>
                <a:off x="9653588" y="4549378"/>
                <a:ext cx="1005205" cy="235744"/>
              </a:xfrm>
              <a:prstGeom prst="rect">
                <a:avLst/>
              </a:prstGeom>
              <a:noFill/>
              <a:ln>
                <a:noFill/>
              </a:ln>
            </p:spPr>
            <p:txBody>
              <a:bodyPr wrap="none" lIns="0" tIns="0" rIns="0" bIns="0" anchor="t" anchorCtr="0">
                <a:spAutoFit/>
              </a:bodyPr>
              <a:lstStyle/>
              <a:p>
                <a:pPr algn="l">
                  <a:lnSpc>
                    <a:spcPts val="975"/>
                  </a:lnSpc>
                </a:pPr>
                <a:r>
                  <a:rPr lang="zh-CN" sz="560" dirty="0">
                    <a:solidFill>
                      <a:srgbClr val="3A4238"/>
                    </a:solidFill>
                    <a:latin typeface="+mn-lt"/>
                    <a:ea typeface="+mn-ea"/>
                    <a:cs typeface="+mn-cs"/>
                  </a:rPr>
                  <a:t>所有升级均需留痕：触发原因、</a:t>
                </a:r>
                <a:br/>
                <a:r>
                  <a:rPr lang="zh-CN" sz="560" dirty="0">
                    <a:solidFill>
                      <a:srgbClr val="3A4238"/>
                    </a:solidFill>
                    <a:latin typeface="+mn-lt"/>
                    <a:ea typeface="+mn-ea"/>
                    <a:cs typeface="+mn-cs"/>
                  </a:rPr>
                  <a:t>依据、处理人、结论与时间</a:t>
                </a:r>
              </a:p>
            </p:txBody>
          </p:sp>
        </p:grpSp>
      </p:grpSp>
      <p:grpSp>
        <p:nvGrpSpPr>
          <p:cNvPr id="265" name="ops-rhythm"/>
          <p:cNvGrpSpPr/>
          <p:nvPr/>
        </p:nvGrpSpPr>
        <p:grpSpPr>
          <a:xfrm>
            <a:off x="228600" y="5219700"/>
            <a:ext cx="11734800" cy="1447800"/>
            <a:chOff x="228600" y="5219700"/>
            <a:chExt cx="11734800" cy="1447800"/>
          </a:xfrm>
        </p:grpSpPr>
        <p:sp>
          <p:nvSpPr>
            <p:cNvPr id="224" name="Rectangle 224"/>
            <p:cNvSpPr/>
            <p:nvPr/>
          </p:nvSpPr>
          <p:spPr>
            <a:xfrm>
              <a:off x="228600" y="5219700"/>
              <a:ext cx="11734800" cy="1447800"/>
            </a:xfrm>
            <a:prstGeom prst="roundRect">
              <a:avLst>
                <a:gd name="adj" fmla="val 6579"/>
              </a:avLst>
            </a:prstGeom>
            <a:solidFill>
              <a:srgbClr val="F4F8EC"/>
            </a:solidFill>
            <a:ln w="9525">
              <a:solidFill>
                <a:srgbClr val="D9E8C6"/>
              </a:solidFill>
            </a:ln>
          </p:spPr>
        </p:sp>
        <p:sp>
          <p:nvSpPr>
            <p:cNvPr id="225" name="Rectangle 225"/>
            <p:cNvSpPr/>
            <p:nvPr/>
          </p:nvSpPr>
          <p:spPr>
            <a:xfrm>
              <a:off x="304800" y="5486400"/>
              <a:ext cx="1047750" cy="914400"/>
            </a:xfrm>
            <a:prstGeom prst="roundRect">
              <a:avLst>
                <a:gd name="adj" fmla="val 8333"/>
              </a:avLst>
            </a:prstGeom>
            <a:solidFill>
              <a:srgbClr val="42140B"/>
            </a:solidFill>
            <a:ln>
              <a:noFill/>
            </a:ln>
          </p:spPr>
        </p:sp>
        <p:sp>
          <p:nvSpPr>
            <p:cNvPr id="226" name="TextBox 226"/>
            <p:cNvSpPr txBox="1"/>
            <p:nvPr/>
          </p:nvSpPr>
          <p:spPr>
            <a:xfrm>
              <a:off x="581596" y="57892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服务运营</a:t>
              </a:r>
            </a:p>
          </p:txBody>
        </p:sp>
        <p:sp>
          <p:nvSpPr>
            <p:cNvPr id="227" name="TextBox 227"/>
            <p:cNvSpPr txBox="1"/>
            <p:nvPr/>
          </p:nvSpPr>
          <p:spPr>
            <a:xfrm>
              <a:off x="702754" y="597979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节奏</a:t>
              </a:r>
            </a:p>
          </p:txBody>
        </p:sp>
        <p:grpSp>
          <p:nvGrpSpPr>
            <p:cNvPr id="240" name="rhythm-daily"/>
            <p:cNvGrpSpPr/>
            <p:nvPr/>
          </p:nvGrpSpPr>
          <p:grpSpPr>
            <a:xfrm>
              <a:off x="1619250" y="5732145"/>
              <a:ext cx="1749743" cy="630793"/>
              <a:chOff x="1619250" y="5732145"/>
              <a:chExt cx="1749743" cy="630793"/>
            </a:xfrm>
          </p:grpSpPr>
          <p:sp>
            <p:nvSpPr>
              <p:cNvPr id="228" name="Ellipse 228"/>
              <p:cNvSpPr/>
              <p:nvPr/>
            </p:nvSpPr>
            <p:spPr>
              <a:xfrm>
                <a:off x="1619250" y="5734050"/>
                <a:ext cx="419100" cy="419100"/>
              </a:xfrm>
              <a:prstGeom prst="ellipse">
                <a:avLst/>
              </a:prstGeom>
              <a:solidFill>
                <a:srgbClr val="FFFFFF"/>
              </a:solidFill>
              <a:ln w="14288">
                <a:solidFill>
                  <a:srgbClr val="BE776A"/>
                </a:solidFill>
              </a:ln>
            </p:spPr>
          </p:sp>
          <p:grpSp>
            <p:nvGrpSpPr>
              <p:cNvPr id="235" name="Group 235"/>
              <p:cNvGrpSpPr/>
              <p:nvPr/>
            </p:nvGrpSpPr>
            <p:grpSpPr>
              <a:xfrm>
                <a:off x="1752600" y="5857875"/>
                <a:ext cx="152400" cy="171450"/>
                <a:chOff x="1752600" y="5857875"/>
                <a:chExt cx="152400" cy="171450"/>
              </a:xfrm>
            </p:grpSpPr>
            <p:sp>
              <p:nvSpPr>
                <p:cNvPr id="229" name="Freeform 229"/>
                <p:cNvSpPr/>
                <p:nvPr/>
              </p:nvSpPr>
              <p:spPr>
                <a:xfrm>
                  <a:off x="1752600" y="5876925"/>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7C3B2F"/>
                  </a:solidFill>
                </a:ln>
              </p:spPr>
            </p:sp>
            <p:sp>
              <p:nvSpPr>
                <p:cNvPr id="230" name="Freeform 230"/>
                <p:cNvSpPr/>
                <p:nvPr/>
              </p:nvSpPr>
              <p:spPr>
                <a:xfrm>
                  <a:off x="1866900" y="5857875"/>
                  <a:ext cx="9525" cy="38100"/>
                </a:xfrm>
                <a:custGeom>
                  <a:avLst/>
                  <a:gdLst/>
                  <a:ahLst/>
                  <a:cxnLst/>
                  <a:rect l="l" t="t" r="r" b="b"/>
                  <a:pathLst>
                    <a:path w="9525" h="38100">
                      <a:moveTo>
                        <a:pt x="0" y="0"/>
                      </a:moveTo>
                      <a:lnTo>
                        <a:pt x="0" y="38100"/>
                      </a:lnTo>
                    </a:path>
                  </a:pathLst>
                </a:custGeom>
                <a:noFill/>
                <a:ln w="19050">
                  <a:solidFill>
                    <a:srgbClr val="7C3B2F"/>
                  </a:solidFill>
                </a:ln>
              </p:spPr>
            </p:sp>
            <p:sp>
              <p:nvSpPr>
                <p:cNvPr id="231" name="Freeform 231"/>
                <p:cNvSpPr/>
                <p:nvPr/>
              </p:nvSpPr>
              <p:spPr>
                <a:xfrm>
                  <a:off x="1790700" y="5857875"/>
                  <a:ext cx="9525" cy="38100"/>
                </a:xfrm>
                <a:custGeom>
                  <a:avLst/>
                  <a:gdLst/>
                  <a:ahLst/>
                  <a:cxnLst/>
                  <a:rect l="l" t="t" r="r" b="b"/>
                  <a:pathLst>
                    <a:path w="9525" h="38100">
                      <a:moveTo>
                        <a:pt x="0" y="0"/>
                      </a:moveTo>
                      <a:lnTo>
                        <a:pt x="0" y="38100"/>
                      </a:lnTo>
                    </a:path>
                  </a:pathLst>
                </a:custGeom>
                <a:noFill/>
                <a:ln w="19050">
                  <a:solidFill>
                    <a:srgbClr val="7C3B2F"/>
                  </a:solidFill>
                </a:ln>
              </p:spPr>
            </p:sp>
            <p:sp>
              <p:nvSpPr>
                <p:cNvPr id="232" name="Freeform 232"/>
                <p:cNvSpPr/>
                <p:nvPr/>
              </p:nvSpPr>
              <p:spPr>
                <a:xfrm>
                  <a:off x="1752600" y="5934075"/>
                  <a:ext cx="152400" cy="9525"/>
                </a:xfrm>
                <a:custGeom>
                  <a:avLst/>
                  <a:gdLst/>
                  <a:ahLst/>
                  <a:cxnLst/>
                  <a:rect l="l" t="t" r="r" b="b"/>
                  <a:pathLst>
                    <a:path w="152400" h="9525">
                      <a:moveTo>
                        <a:pt x="0" y="0"/>
                      </a:moveTo>
                      <a:lnTo>
                        <a:pt x="152400" y="0"/>
                      </a:lnTo>
                    </a:path>
                  </a:pathLst>
                </a:custGeom>
                <a:noFill/>
                <a:ln w="19050">
                  <a:solidFill>
                    <a:srgbClr val="7C3B2F"/>
                  </a:solidFill>
                </a:ln>
              </p:spPr>
            </p:sp>
            <p:sp>
              <p:nvSpPr>
                <p:cNvPr id="233" name="Freeform 233"/>
                <p:cNvSpPr/>
                <p:nvPr/>
              </p:nvSpPr>
              <p:spPr>
                <a:xfrm>
                  <a:off x="1819275" y="5972175"/>
                  <a:ext cx="9525" cy="9525"/>
                </a:xfrm>
                <a:custGeom>
                  <a:avLst/>
                  <a:gdLst/>
                  <a:ahLst/>
                  <a:cxnLst/>
                  <a:rect l="l" t="t" r="r" b="b"/>
                  <a:pathLst>
                    <a:path w="9525" h="9525">
                      <a:moveTo>
                        <a:pt x="0" y="0"/>
                      </a:moveTo>
                      <a:lnTo>
                        <a:pt x="9525" y="0"/>
                      </a:lnTo>
                    </a:path>
                  </a:pathLst>
                </a:custGeom>
                <a:noFill/>
                <a:ln w="19050">
                  <a:solidFill>
                    <a:srgbClr val="7C3B2F"/>
                  </a:solidFill>
                </a:ln>
              </p:spPr>
            </p:sp>
            <p:sp>
              <p:nvSpPr>
                <p:cNvPr id="234" name="Freeform 234"/>
                <p:cNvSpPr/>
                <p:nvPr/>
              </p:nvSpPr>
              <p:spPr>
                <a:xfrm>
                  <a:off x="1828800" y="5972175"/>
                  <a:ext cx="9525" cy="28575"/>
                </a:xfrm>
                <a:custGeom>
                  <a:avLst/>
                  <a:gdLst/>
                  <a:ahLst/>
                  <a:cxnLst/>
                  <a:rect l="l" t="t" r="r" b="b"/>
                  <a:pathLst>
                    <a:path w="9525" h="28575">
                      <a:moveTo>
                        <a:pt x="0" y="0"/>
                      </a:moveTo>
                      <a:lnTo>
                        <a:pt x="0" y="28575"/>
                      </a:lnTo>
                    </a:path>
                  </a:pathLst>
                </a:custGeom>
                <a:noFill/>
                <a:ln w="19050">
                  <a:solidFill>
                    <a:srgbClr val="7C3B2F"/>
                  </a:solidFill>
                </a:ln>
              </p:spPr>
            </p:sp>
          </p:grpSp>
          <p:sp>
            <p:nvSpPr>
              <p:cNvPr id="236" name="TextBox 236"/>
              <p:cNvSpPr txBox="1"/>
              <p:nvPr/>
            </p:nvSpPr>
            <p:spPr>
              <a:xfrm>
                <a:off x="2147888" y="5732145"/>
                <a:ext cx="1221105"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每日：反馈分拣与处置</a:t>
                </a:r>
              </a:p>
            </p:txBody>
          </p:sp>
          <p:sp>
            <p:nvSpPr>
              <p:cNvPr id="237" name="TextBox 237"/>
              <p:cNvSpPr txBox="1"/>
              <p:nvPr/>
            </p:nvSpPr>
            <p:spPr>
              <a:xfrm>
                <a:off x="2147888" y="5950982"/>
                <a:ext cx="871093"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处理用户反馈与异常，</a:t>
                </a:r>
              </a:p>
            </p:txBody>
          </p:sp>
          <p:sp>
            <p:nvSpPr>
              <p:cNvPr id="238" name="TextBox 238"/>
              <p:cNvSpPr txBox="1"/>
              <p:nvPr/>
            </p:nvSpPr>
            <p:spPr>
              <a:xfrm>
                <a:off x="2147888" y="6093857"/>
                <a:ext cx="698779"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更新知识与规则，</a:t>
                </a:r>
              </a:p>
            </p:txBody>
          </p:sp>
          <p:sp>
            <p:nvSpPr>
              <p:cNvPr id="239" name="TextBox 239"/>
              <p:cNvSpPr txBox="1"/>
              <p:nvPr/>
            </p:nvSpPr>
            <p:spPr>
              <a:xfrm>
                <a:off x="2147888" y="6236732"/>
                <a:ext cx="612623"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修复问题并闭环</a:t>
                </a:r>
              </a:p>
            </p:txBody>
          </p:sp>
        </p:grpSp>
        <p:sp>
          <p:nvSpPr>
            <p:cNvPr id="241" name="Polygon 241"/>
            <p:cNvSpPr/>
            <p:nvPr/>
          </p:nvSpPr>
          <p:spPr>
            <a:xfrm>
              <a:off x="4686300" y="5886450"/>
              <a:ext cx="133350" cy="114300"/>
            </a:xfrm>
            <a:custGeom>
              <a:avLst/>
              <a:gdLst/>
              <a:ahLst/>
              <a:cxnLst/>
              <a:rect l="l" t="t" r="r" b="b"/>
              <a:pathLst>
                <a:path w="133350" h="114300">
                  <a:moveTo>
                    <a:pt x="0" y="0"/>
                  </a:moveTo>
                  <a:lnTo>
                    <a:pt x="133350" y="57150"/>
                  </a:lnTo>
                  <a:lnTo>
                    <a:pt x="0" y="114300"/>
                  </a:lnTo>
                  <a:close/>
                </a:path>
              </a:pathLst>
            </a:custGeom>
            <a:solidFill>
              <a:srgbClr val="9A4B3C"/>
            </a:solidFill>
            <a:ln>
              <a:noFill/>
            </a:ln>
          </p:spPr>
        </p:sp>
        <p:grpSp>
          <p:nvGrpSpPr>
            <p:cNvPr id="252" name="rhythm-weekly"/>
            <p:cNvGrpSpPr/>
            <p:nvPr/>
          </p:nvGrpSpPr>
          <p:grpSpPr>
            <a:xfrm>
              <a:off x="5143500" y="5732145"/>
              <a:ext cx="1399731" cy="630793"/>
              <a:chOff x="5143500" y="5732145"/>
              <a:chExt cx="1399731" cy="630793"/>
            </a:xfrm>
          </p:grpSpPr>
          <p:sp>
            <p:nvSpPr>
              <p:cNvPr id="242" name="Ellipse 242"/>
              <p:cNvSpPr/>
              <p:nvPr/>
            </p:nvSpPr>
            <p:spPr>
              <a:xfrm>
                <a:off x="5143500" y="5734050"/>
                <a:ext cx="419100" cy="419100"/>
              </a:xfrm>
              <a:prstGeom prst="ellipse">
                <a:avLst/>
              </a:prstGeom>
              <a:solidFill>
                <a:srgbClr val="FFFFFF"/>
              </a:solidFill>
              <a:ln w="14288">
                <a:solidFill>
                  <a:srgbClr val="BE776A"/>
                </a:solidFill>
              </a:ln>
            </p:spPr>
          </p:sp>
          <p:grpSp>
            <p:nvGrpSpPr>
              <p:cNvPr id="247" name="Group 247"/>
              <p:cNvGrpSpPr/>
              <p:nvPr/>
            </p:nvGrpSpPr>
            <p:grpSpPr>
              <a:xfrm>
                <a:off x="5286375" y="5867400"/>
                <a:ext cx="142875" cy="161925"/>
                <a:chOff x="5286375" y="5867400"/>
                <a:chExt cx="142875" cy="161925"/>
              </a:xfrm>
            </p:grpSpPr>
            <p:sp>
              <p:nvSpPr>
                <p:cNvPr id="243" name="Freeform 243"/>
                <p:cNvSpPr/>
                <p:nvPr/>
              </p:nvSpPr>
              <p:spPr>
                <a:xfrm>
                  <a:off x="5286375" y="586740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7C3B2F"/>
                  </a:solidFill>
                </a:ln>
              </p:spPr>
            </p:sp>
            <p:sp>
              <p:nvSpPr>
                <p:cNvPr id="244" name="Freeform 244"/>
                <p:cNvSpPr/>
                <p:nvPr/>
              </p:nvSpPr>
              <p:spPr>
                <a:xfrm>
                  <a:off x="5372100" y="5991225"/>
                  <a:ext cx="57150" cy="38100"/>
                </a:xfrm>
                <a:custGeom>
                  <a:avLst/>
                  <a:gdLst/>
                  <a:ahLst/>
                  <a:cxnLst/>
                  <a:rect l="l" t="t" r="r" b="b"/>
                  <a:pathLst>
                    <a:path w="57150" h="38100">
                      <a:moveTo>
                        <a:pt x="0" y="19050"/>
                      </a:moveTo>
                      <a:lnTo>
                        <a:pt x="19050" y="38100"/>
                      </a:lnTo>
                      <a:lnTo>
                        <a:pt x="57150" y="0"/>
                      </a:lnTo>
                    </a:path>
                  </a:pathLst>
                </a:custGeom>
                <a:noFill/>
                <a:ln w="19050">
                  <a:solidFill>
                    <a:srgbClr val="7C3B2F"/>
                  </a:solidFill>
                </a:ln>
              </p:spPr>
            </p:sp>
            <p:sp>
              <p:nvSpPr>
                <p:cNvPr id="245" name="Freeform 245"/>
                <p:cNvSpPr/>
                <p:nvPr/>
              </p:nvSpPr>
              <p:spPr>
                <a:xfrm>
                  <a:off x="5324475" y="5905500"/>
                  <a:ext cx="38100" cy="9525"/>
                </a:xfrm>
                <a:custGeom>
                  <a:avLst/>
                  <a:gdLst/>
                  <a:ahLst/>
                  <a:cxnLst/>
                  <a:rect l="l" t="t" r="r" b="b"/>
                  <a:pathLst>
                    <a:path w="38100" h="9525">
                      <a:moveTo>
                        <a:pt x="0" y="0"/>
                      </a:moveTo>
                      <a:lnTo>
                        <a:pt x="38100" y="0"/>
                      </a:lnTo>
                    </a:path>
                  </a:pathLst>
                </a:custGeom>
                <a:noFill/>
                <a:ln w="19050">
                  <a:solidFill>
                    <a:srgbClr val="7C3B2F"/>
                  </a:solidFill>
                </a:ln>
              </p:spPr>
            </p:sp>
            <p:sp>
              <p:nvSpPr>
                <p:cNvPr id="246" name="Freeform 246"/>
                <p:cNvSpPr/>
                <p:nvPr/>
              </p:nvSpPr>
              <p:spPr>
                <a:xfrm>
                  <a:off x="5324475" y="5943600"/>
                  <a:ext cx="19050" cy="9525"/>
                </a:xfrm>
                <a:custGeom>
                  <a:avLst/>
                  <a:gdLst/>
                  <a:ahLst/>
                  <a:cxnLst/>
                  <a:rect l="l" t="t" r="r" b="b"/>
                  <a:pathLst>
                    <a:path w="19050" h="9525">
                      <a:moveTo>
                        <a:pt x="0" y="0"/>
                      </a:moveTo>
                      <a:lnTo>
                        <a:pt x="19050" y="0"/>
                      </a:lnTo>
                    </a:path>
                  </a:pathLst>
                </a:custGeom>
                <a:noFill/>
                <a:ln w="19050">
                  <a:solidFill>
                    <a:srgbClr val="7C3B2F"/>
                  </a:solidFill>
                </a:ln>
              </p:spPr>
            </p:sp>
          </p:grpSp>
          <p:sp>
            <p:nvSpPr>
              <p:cNvPr id="248" name="TextBox 248"/>
              <p:cNvSpPr txBox="1"/>
              <p:nvPr/>
            </p:nvSpPr>
            <p:spPr>
              <a:xfrm>
                <a:off x="5672138" y="5732145"/>
                <a:ext cx="857631"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每周：质量复盘</a:t>
                </a:r>
              </a:p>
            </p:txBody>
          </p:sp>
          <p:sp>
            <p:nvSpPr>
              <p:cNvPr id="249" name="TextBox 249"/>
              <p:cNvSpPr txBox="1"/>
              <p:nvPr/>
            </p:nvSpPr>
            <p:spPr>
              <a:xfrm>
                <a:off x="5672138" y="5950982"/>
                <a:ext cx="698779"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评估效果与风险，</a:t>
                </a:r>
              </a:p>
            </p:txBody>
          </p:sp>
          <p:sp>
            <p:nvSpPr>
              <p:cNvPr id="250" name="TextBox 250"/>
              <p:cNvSpPr txBox="1"/>
              <p:nvPr/>
            </p:nvSpPr>
            <p:spPr>
              <a:xfrm>
                <a:off x="5672138" y="6093857"/>
                <a:ext cx="871093"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抽样审查与根因分析，</a:t>
                </a:r>
              </a:p>
            </p:txBody>
          </p:sp>
          <p:sp>
            <p:nvSpPr>
              <p:cNvPr id="251" name="TextBox 251"/>
              <p:cNvSpPr txBox="1"/>
              <p:nvPr/>
            </p:nvSpPr>
            <p:spPr>
              <a:xfrm>
                <a:off x="5672138" y="6236732"/>
                <a:ext cx="612623"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优化策略与阈值</a:t>
                </a:r>
              </a:p>
            </p:txBody>
          </p:sp>
        </p:grpSp>
        <p:sp>
          <p:nvSpPr>
            <p:cNvPr id="253" name="Polygon 253"/>
            <p:cNvSpPr/>
            <p:nvPr/>
          </p:nvSpPr>
          <p:spPr>
            <a:xfrm>
              <a:off x="8210550" y="5886450"/>
              <a:ext cx="133350" cy="114300"/>
            </a:xfrm>
            <a:custGeom>
              <a:avLst/>
              <a:gdLst/>
              <a:ahLst/>
              <a:cxnLst/>
              <a:rect l="l" t="t" r="r" b="b"/>
              <a:pathLst>
                <a:path w="133350" h="114300">
                  <a:moveTo>
                    <a:pt x="0" y="0"/>
                  </a:moveTo>
                  <a:lnTo>
                    <a:pt x="133350" y="57150"/>
                  </a:lnTo>
                  <a:lnTo>
                    <a:pt x="0" y="114300"/>
                  </a:lnTo>
                  <a:close/>
                </a:path>
              </a:pathLst>
            </a:custGeom>
            <a:solidFill>
              <a:srgbClr val="9A4B3C"/>
            </a:solidFill>
            <a:ln>
              <a:noFill/>
            </a:ln>
          </p:spPr>
        </p:sp>
        <p:grpSp>
          <p:nvGrpSpPr>
            <p:cNvPr id="264" name="rhythm-monthly"/>
            <p:cNvGrpSpPr/>
            <p:nvPr/>
          </p:nvGrpSpPr>
          <p:grpSpPr>
            <a:xfrm>
              <a:off x="8667750" y="5732145"/>
              <a:ext cx="1485888" cy="630793"/>
              <a:chOff x="8667750" y="5732145"/>
              <a:chExt cx="1485888" cy="630793"/>
            </a:xfrm>
          </p:grpSpPr>
          <p:sp>
            <p:nvSpPr>
              <p:cNvPr id="254" name="Ellipse 254"/>
              <p:cNvSpPr/>
              <p:nvPr/>
            </p:nvSpPr>
            <p:spPr>
              <a:xfrm>
                <a:off x="8667750" y="5734050"/>
                <a:ext cx="419100" cy="419100"/>
              </a:xfrm>
              <a:prstGeom prst="ellipse">
                <a:avLst/>
              </a:prstGeom>
              <a:solidFill>
                <a:srgbClr val="FFFFFF"/>
              </a:solidFill>
              <a:ln w="14288">
                <a:solidFill>
                  <a:srgbClr val="BE776A"/>
                </a:solidFill>
              </a:ln>
            </p:spPr>
          </p:sp>
          <p:grpSp>
            <p:nvGrpSpPr>
              <p:cNvPr id="259" name="Group 259"/>
              <p:cNvGrpSpPr/>
              <p:nvPr/>
            </p:nvGrpSpPr>
            <p:grpSpPr>
              <a:xfrm>
                <a:off x="8791575" y="5867400"/>
                <a:ext cx="171450" cy="161925"/>
                <a:chOff x="8791575" y="5867400"/>
                <a:chExt cx="171450" cy="161925"/>
              </a:xfrm>
            </p:grpSpPr>
            <p:sp>
              <p:nvSpPr>
                <p:cNvPr id="255" name="Freeform 255"/>
                <p:cNvSpPr/>
                <p:nvPr/>
              </p:nvSpPr>
              <p:spPr>
                <a:xfrm>
                  <a:off x="8791575" y="59436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7C3B2F"/>
                  </a:solidFill>
                </a:ln>
              </p:spPr>
            </p:sp>
            <p:sp>
              <p:nvSpPr>
                <p:cNvPr id="256" name="Freeform 256"/>
                <p:cNvSpPr/>
                <p:nvPr/>
              </p:nvSpPr>
              <p:spPr>
                <a:xfrm>
                  <a:off x="8905875" y="59055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7C3B2F"/>
                  </a:solidFill>
                </a:ln>
              </p:spPr>
            </p:sp>
            <p:sp>
              <p:nvSpPr>
                <p:cNvPr id="257" name="Freeform 257"/>
                <p:cNvSpPr/>
                <p:nvPr/>
              </p:nvSpPr>
              <p:spPr>
                <a:xfrm>
                  <a:off x="8848725" y="58674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7C3B2F"/>
                  </a:solidFill>
                </a:ln>
              </p:spPr>
            </p:sp>
            <p:sp>
              <p:nvSpPr>
                <p:cNvPr id="258" name="Freeform 258"/>
                <p:cNvSpPr/>
                <p:nvPr/>
              </p:nvSpPr>
              <p:spPr>
                <a:xfrm>
                  <a:off x="8801100" y="6019800"/>
                  <a:ext cx="133350" cy="9525"/>
                </a:xfrm>
                <a:custGeom>
                  <a:avLst/>
                  <a:gdLst/>
                  <a:ahLst/>
                  <a:cxnLst/>
                  <a:rect l="l" t="t" r="r" b="b"/>
                  <a:pathLst>
                    <a:path w="133350" h="9525">
                      <a:moveTo>
                        <a:pt x="0" y="0"/>
                      </a:moveTo>
                      <a:lnTo>
                        <a:pt x="133350" y="0"/>
                      </a:lnTo>
                    </a:path>
                  </a:pathLst>
                </a:custGeom>
                <a:noFill/>
                <a:ln w="19050">
                  <a:solidFill>
                    <a:srgbClr val="7C3B2F"/>
                  </a:solidFill>
                </a:ln>
              </p:spPr>
            </p:sp>
          </p:grpSp>
          <p:sp>
            <p:nvSpPr>
              <p:cNvPr id="260" name="TextBox 260"/>
              <p:cNvSpPr txBox="1"/>
              <p:nvPr/>
            </p:nvSpPr>
            <p:spPr>
              <a:xfrm>
                <a:off x="9196388" y="5732145"/>
                <a:ext cx="857631"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每月：组合评审</a:t>
                </a:r>
              </a:p>
            </p:txBody>
          </p:sp>
          <p:sp>
            <p:nvSpPr>
              <p:cNvPr id="261" name="TextBox 261"/>
              <p:cNvSpPr txBox="1"/>
              <p:nvPr/>
            </p:nvSpPr>
            <p:spPr>
              <a:xfrm>
                <a:off x="9196388" y="5950982"/>
                <a:ext cx="957250"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评审场景组合与优先级，</a:t>
                </a:r>
              </a:p>
            </p:txBody>
          </p:sp>
          <p:sp>
            <p:nvSpPr>
              <p:cNvPr id="262" name="TextBox 262"/>
              <p:cNvSpPr txBox="1"/>
              <p:nvPr/>
            </p:nvSpPr>
            <p:spPr>
              <a:xfrm>
                <a:off x="9196388" y="6093857"/>
                <a:ext cx="698779"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衡量价值与风险，</a:t>
                </a:r>
              </a:p>
            </p:txBody>
          </p:sp>
          <p:sp>
            <p:nvSpPr>
              <p:cNvPr id="263" name="TextBox 263"/>
              <p:cNvSpPr txBox="1"/>
              <p:nvPr/>
            </p:nvSpPr>
            <p:spPr>
              <a:xfrm>
                <a:off x="9196388" y="6236732"/>
                <a:ext cx="612623" cy="126206"/>
              </a:xfrm>
              <a:prstGeom prst="rect">
                <a:avLst/>
              </a:prstGeom>
              <a:noFill/>
              <a:ln>
                <a:noFill/>
              </a:ln>
            </p:spPr>
            <p:txBody>
              <a:bodyPr wrap="none" lIns="0" tIns="0" rIns="0" bIns="0" anchor="t" anchorCtr="0">
                <a:spAutoFit/>
              </a:bodyPr>
              <a:lstStyle/>
              <a:p>
                <a:pPr algn="l"/>
                <a:r>
                  <a:rPr lang="zh-CN" sz="640" dirty="0">
                    <a:solidFill>
                      <a:srgbClr val="3A4238"/>
                    </a:solidFill>
                    <a:latin typeface="+mn-lt"/>
                    <a:ea typeface="+mn-ea"/>
                    <a:cs typeface="+mn-cs"/>
                  </a:rPr>
                  <a:t>调整资源与路线</a:t>
                </a:r>
              </a:p>
            </p:txBody>
          </p:sp>
        </p:grpSp>
      </p:gr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14</a:t>
              </a:r>
            </a:p>
          </p:txBody>
        </p:sp>
        <p:sp>
          <p:nvSpPr>
            <p:cNvPr id="4" name="TextBox 4"/>
            <p:cNvSpPr txBox="1"/>
            <p:nvPr/>
          </p:nvSpPr>
          <p:spPr>
            <a:xfrm>
              <a:off x="942594" y="151448"/>
              <a:ext cx="72313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员工采用率取决于是否</a:t>
              </a:r>
              <a:r>
                <a:rPr lang="zh-CN" sz="1950" b="1" dirty="0">
                  <a:solidFill>
                    <a:srgbClr val="7C3B2F"/>
                  </a:solidFill>
                  <a:latin typeface="SimSun"/>
                  <a:ea typeface="SimSun"/>
                  <a:cs typeface="SimSun"/>
                </a:rPr>
                <a:t>嵌入工作流</a:t>
              </a:r>
              <a:r>
                <a:rPr lang="zh-CN" sz="1950" b="1" dirty="0">
                  <a:solidFill>
                    <a:srgbClr val="1A1A1A"/>
                  </a:solidFill>
                  <a:latin typeface="SimSun"/>
                  <a:ea typeface="SimSun"/>
                  <a:cs typeface="SimSun"/>
                </a:rPr>
                <a:t>，而不是培训办了多少场</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23" name="vs-bar"/>
          <p:cNvGrpSpPr/>
          <p:nvPr/>
        </p:nvGrpSpPr>
        <p:grpSpPr>
          <a:xfrm>
            <a:off x="285750" y="685800"/>
            <a:ext cx="7334250" cy="457200"/>
            <a:chOff x="285750" y="685800"/>
            <a:chExt cx="7334250" cy="457200"/>
          </a:xfrm>
        </p:grpSpPr>
        <p:sp>
          <p:nvSpPr>
            <p:cNvPr id="7" name="Rectangle 7"/>
            <p:cNvSpPr/>
            <p:nvPr/>
          </p:nvSpPr>
          <p:spPr>
            <a:xfrm>
              <a:off x="285750" y="685800"/>
              <a:ext cx="3200400" cy="457200"/>
            </a:xfrm>
            <a:prstGeom prst="roundRect">
              <a:avLst>
                <a:gd name="adj" fmla="val 20833"/>
              </a:avLst>
            </a:prstGeom>
            <a:solidFill>
              <a:srgbClr val="42140B"/>
            </a:solidFill>
            <a:ln>
              <a:noFill/>
            </a:ln>
          </p:spPr>
        </p:sp>
        <p:grpSp>
          <p:nvGrpSpPr>
            <p:cNvPr id="11" name="Group 11"/>
            <p:cNvGrpSpPr/>
            <p:nvPr/>
          </p:nvGrpSpPr>
          <p:grpSpPr>
            <a:xfrm>
              <a:off x="476250" y="828675"/>
              <a:ext cx="114300" cy="171450"/>
              <a:chOff x="476250" y="828675"/>
              <a:chExt cx="114300" cy="171450"/>
            </a:xfrm>
          </p:grpSpPr>
          <p:sp>
            <p:nvSpPr>
              <p:cNvPr id="8" name="Freeform 8"/>
              <p:cNvSpPr/>
              <p:nvPr/>
            </p:nvSpPr>
            <p:spPr>
              <a:xfrm>
                <a:off x="476250" y="82867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FFFFFF"/>
                </a:solidFill>
              </a:ln>
            </p:spPr>
          </p:sp>
          <p:sp>
            <p:nvSpPr>
              <p:cNvPr id="9" name="Freeform 9"/>
              <p:cNvSpPr/>
              <p:nvPr/>
            </p:nvSpPr>
            <p:spPr>
              <a:xfrm>
                <a:off x="523875" y="838200"/>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10" name="Freeform 10"/>
              <p:cNvSpPr/>
              <p:nvPr/>
            </p:nvSpPr>
            <p:spPr>
              <a:xfrm>
                <a:off x="533400" y="962025"/>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12" name="TextBox 12"/>
            <p:cNvSpPr txBox="1"/>
            <p:nvPr/>
          </p:nvSpPr>
          <p:spPr>
            <a:xfrm>
              <a:off x="757238" y="787241"/>
              <a:ext cx="8818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独立门户</a:t>
              </a:r>
              <a:r>
                <a:rPr lang="zh-CN" sz="640" dirty="0">
                  <a:solidFill>
                    <a:srgbClr val="E4B7AF"/>
                  </a:solidFill>
                  <a:latin typeface="+mn-lt"/>
                  <a:ea typeface="+mn-ea"/>
                  <a:cs typeface="+mn-cs"/>
                </a:rPr>
                <a:t>（需切换）</a:t>
              </a:r>
            </a:p>
          </p:txBody>
        </p:sp>
        <p:sp>
          <p:nvSpPr>
            <p:cNvPr id="13" name="TextBox 13"/>
            <p:cNvSpPr txBox="1"/>
            <p:nvPr/>
          </p:nvSpPr>
          <p:spPr>
            <a:xfrm>
              <a:off x="757238" y="969407"/>
              <a:ext cx="871093"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工具孤岛，使用断点多</a:t>
              </a:r>
            </a:p>
          </p:txBody>
        </p:sp>
        <p:sp>
          <p:nvSpPr>
            <p:cNvPr id="14" name="Ellipse 14"/>
            <p:cNvSpPr/>
            <p:nvPr/>
          </p:nvSpPr>
          <p:spPr>
            <a:xfrm>
              <a:off x="3619500" y="723900"/>
              <a:ext cx="381000" cy="381000"/>
            </a:xfrm>
            <a:prstGeom prst="ellipse">
              <a:avLst/>
            </a:prstGeom>
            <a:solidFill>
              <a:srgbClr val="FFFFFF"/>
            </a:solidFill>
            <a:ln w="19050">
              <a:solidFill>
                <a:srgbClr val="7C3B2F"/>
              </a:solidFill>
            </a:ln>
          </p:spPr>
        </p:sp>
        <p:sp>
          <p:nvSpPr>
            <p:cNvPr id="15" name="TextBox 15"/>
            <p:cNvSpPr txBox="1"/>
            <p:nvPr/>
          </p:nvSpPr>
          <p:spPr>
            <a:xfrm>
              <a:off x="3731308" y="864870"/>
              <a:ext cx="157383" cy="176212"/>
            </a:xfrm>
            <a:prstGeom prst="rect">
              <a:avLst/>
            </a:prstGeom>
            <a:noFill/>
            <a:ln>
              <a:noFill/>
            </a:ln>
          </p:spPr>
          <p:txBody>
            <a:bodyPr wrap="none" lIns="0" tIns="0" rIns="0" bIns="0" anchor="t" anchorCtr="0">
              <a:spAutoFit/>
            </a:bodyPr>
            <a:lstStyle/>
            <a:p>
              <a:pPr algn="ctr"/>
              <a:r>
                <a:rPr lang="en-US" sz="900" b="1" dirty="0">
                  <a:solidFill>
                    <a:srgbClr val="7C3B2F"/>
                  </a:solidFill>
                  <a:latin typeface="+mn-lt"/>
                  <a:ea typeface="+mn-ea"/>
                  <a:cs typeface="+mn-cs"/>
                </a:rPr>
                <a:t>VS</a:t>
              </a:r>
            </a:p>
          </p:txBody>
        </p:sp>
        <p:sp>
          <p:nvSpPr>
            <p:cNvPr id="16" name="Rectangle 16"/>
            <p:cNvSpPr/>
            <p:nvPr/>
          </p:nvSpPr>
          <p:spPr>
            <a:xfrm>
              <a:off x="4133850" y="685800"/>
              <a:ext cx="3486150" cy="457200"/>
            </a:xfrm>
            <a:prstGeom prst="roundRect">
              <a:avLst>
                <a:gd name="adj" fmla="val 20833"/>
              </a:avLst>
            </a:prstGeom>
            <a:solidFill>
              <a:srgbClr val="7C3B2F"/>
            </a:solidFill>
            <a:ln>
              <a:noFill/>
            </a:ln>
          </p:spPr>
        </p:sp>
        <p:grpSp>
          <p:nvGrpSpPr>
            <p:cNvPr id="20" name="Group 20"/>
            <p:cNvGrpSpPr/>
            <p:nvPr/>
          </p:nvGrpSpPr>
          <p:grpSpPr>
            <a:xfrm>
              <a:off x="4305299" y="833546"/>
              <a:ext cx="157041" cy="161688"/>
              <a:chOff x="4305299" y="833546"/>
              <a:chExt cx="157041" cy="161688"/>
            </a:xfrm>
          </p:grpSpPr>
          <p:sp>
            <p:nvSpPr>
              <p:cNvPr id="17" name="Freeform 17"/>
              <p:cNvSpPr/>
              <p:nvPr/>
            </p:nvSpPr>
            <p:spPr>
              <a:xfrm>
                <a:off x="4352925" y="885825"/>
                <a:ext cx="57150" cy="57150"/>
              </a:xfrm>
              <a:custGeom>
                <a:avLst/>
                <a:gdLst/>
                <a:ahLst/>
                <a:cxnLst/>
                <a:rect l="l" t="t" r="r" b="b"/>
                <a:pathLst>
                  <a:path w="57150" h="57150">
                    <a:moveTo>
                      <a:pt x="0" y="57150"/>
                    </a:moveTo>
                    <a:lnTo>
                      <a:pt x="57150" y="0"/>
                    </a:lnTo>
                  </a:path>
                </a:pathLst>
              </a:custGeom>
              <a:noFill/>
              <a:ln w="19050">
                <a:solidFill>
                  <a:srgbClr val="FFFFFF"/>
                </a:solidFill>
              </a:ln>
            </p:spPr>
          </p:sp>
          <p:sp>
            <p:nvSpPr>
              <p:cNvPr id="18" name="Freeform 18"/>
              <p:cNvSpPr/>
              <p:nvPr/>
            </p:nvSpPr>
            <p:spPr>
              <a:xfrm>
                <a:off x="4371975" y="833546"/>
                <a:ext cx="90365" cy="90379"/>
              </a:xfrm>
              <a:custGeom>
                <a:avLst/>
                <a:gdLst/>
                <a:ahLst/>
                <a:cxnLst/>
                <a:rect l="l" t="t" r="r" b="b"/>
                <a:pathLst>
                  <a:path w="90365" h="90379">
                    <a:moveTo>
                      <a:pt x="0" y="23704"/>
                    </a:moveTo>
                    <a:lnTo>
                      <a:pt x="4410" y="18599"/>
                    </a:lnTo>
                    <a:cubicBezTo>
                      <a:pt x="23011" y="0"/>
                      <a:pt x="53168" y="2"/>
                      <a:pt x="71766" y="18603"/>
                    </a:cubicBezTo>
                    <a:cubicBezTo>
                      <a:pt x="90365" y="37204"/>
                      <a:pt x="90363" y="67361"/>
                      <a:pt x="71761" y="85959"/>
                    </a:cubicBezTo>
                    <a:lnTo>
                      <a:pt x="66675" y="90379"/>
                    </a:lnTo>
                  </a:path>
                </a:pathLst>
              </a:custGeom>
              <a:noFill/>
              <a:ln w="19050">
                <a:solidFill>
                  <a:srgbClr val="FFFFFF"/>
                </a:solidFill>
              </a:ln>
            </p:spPr>
          </p:sp>
          <p:sp>
            <p:nvSpPr>
              <p:cNvPr id="19" name="Freeform 19"/>
              <p:cNvSpPr/>
              <p:nvPr/>
            </p:nvSpPr>
            <p:spPr>
              <a:xfrm>
                <a:off x="4305299" y="904875"/>
                <a:ext cx="85726" cy="90359"/>
              </a:xfrm>
              <a:custGeom>
                <a:avLst/>
                <a:gdLst/>
                <a:ahLst/>
                <a:cxnLst/>
                <a:rect l="l" t="t" r="r" b="b"/>
                <a:pathLst>
                  <a:path w="85726" h="90359">
                    <a:moveTo>
                      <a:pt x="85726" y="66675"/>
                    </a:moveTo>
                    <a:lnTo>
                      <a:pt x="81945" y="71761"/>
                    </a:lnTo>
                    <a:cubicBezTo>
                      <a:pt x="63138" y="90359"/>
                      <a:pt x="32867" y="90359"/>
                      <a:pt x="14060" y="71761"/>
                    </a:cubicBezTo>
                    <a:cubicBezTo>
                      <a:pt x="5063" y="62865"/>
                      <a:pt x="0" y="50738"/>
                      <a:pt x="0" y="38086"/>
                    </a:cubicBezTo>
                    <a:cubicBezTo>
                      <a:pt x="0" y="25433"/>
                      <a:pt x="5063" y="13306"/>
                      <a:pt x="14060" y="4410"/>
                    </a:cubicBezTo>
                    <a:lnTo>
                      <a:pt x="19051" y="0"/>
                    </a:lnTo>
                  </a:path>
                </a:pathLst>
              </a:custGeom>
              <a:noFill/>
              <a:ln w="19050">
                <a:solidFill>
                  <a:srgbClr val="FFFFFF"/>
                </a:solidFill>
              </a:ln>
            </p:spPr>
          </p:sp>
        </p:grpSp>
        <p:sp>
          <p:nvSpPr>
            <p:cNvPr id="21" name="TextBox 21"/>
            <p:cNvSpPr txBox="1"/>
            <p:nvPr/>
          </p:nvSpPr>
          <p:spPr>
            <a:xfrm>
              <a:off x="4605338" y="791289"/>
              <a:ext cx="2048253"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 xml:space="preserve">嵌入到 OA / IM / CRM / Service Desk　</a:t>
              </a:r>
            </a:p>
          </p:txBody>
        </p:sp>
        <p:sp>
          <p:nvSpPr>
            <p:cNvPr id="22" name="TextBox 22"/>
            <p:cNvSpPr txBox="1"/>
            <p:nvPr/>
          </p:nvSpPr>
          <p:spPr>
            <a:xfrm>
              <a:off x="4605338" y="969407"/>
              <a:ext cx="957250" cy="126206"/>
            </a:xfrm>
            <a:prstGeom prst="rect">
              <a:avLst/>
            </a:prstGeom>
            <a:noFill/>
            <a:ln>
              <a:noFill/>
            </a:ln>
          </p:spPr>
          <p:txBody>
            <a:bodyPr wrap="none" lIns="0" tIns="0" rIns="0" bIns="0" anchor="t" anchorCtr="0">
              <a:spAutoFit/>
            </a:bodyPr>
            <a:lstStyle/>
            <a:p>
              <a:pPr algn="l"/>
              <a:r>
                <a:rPr lang="zh-CN" sz="640" dirty="0">
                  <a:solidFill>
                    <a:srgbClr val="E7F2D8"/>
                  </a:solidFill>
                  <a:latin typeface="+mn-lt"/>
                  <a:ea typeface="+mn-ea"/>
                  <a:cs typeface="+mn-cs"/>
                </a:rPr>
                <a:t>融入日常流程，随手可用</a:t>
              </a:r>
            </a:p>
          </p:txBody>
        </p:sp>
      </p:grpSp>
      <p:grpSp>
        <p:nvGrpSpPr>
          <p:cNvPr id="116" name="adoption-matrix"/>
          <p:cNvGrpSpPr/>
          <p:nvPr/>
        </p:nvGrpSpPr>
        <p:grpSpPr>
          <a:xfrm>
            <a:off x="285750" y="1333500"/>
            <a:ext cx="7334250" cy="3048000"/>
            <a:chOff x="285750" y="1333500"/>
            <a:chExt cx="7334250" cy="3048000"/>
          </a:xfrm>
        </p:grpSpPr>
        <p:sp>
          <p:nvSpPr>
            <p:cNvPr id="24" name="Freeform 24"/>
            <p:cNvSpPr/>
            <p:nvPr/>
          </p:nvSpPr>
          <p:spPr>
            <a:xfrm>
              <a:off x="1143000" y="1333500"/>
              <a:ext cx="1295400" cy="285750"/>
            </a:xfrm>
            <a:prstGeom prst="chevron">
              <a:avLst/>
            </a:prstGeom>
            <a:solidFill>
              <a:srgbClr val="42140B"/>
            </a:solidFill>
            <a:ln>
              <a:noFill/>
            </a:ln>
          </p:spPr>
        </p:sp>
        <p:sp>
          <p:nvSpPr>
            <p:cNvPr id="25" name="Freeform 25"/>
            <p:cNvSpPr/>
            <p:nvPr/>
          </p:nvSpPr>
          <p:spPr>
            <a:xfrm>
              <a:off x="2438400" y="1333500"/>
              <a:ext cx="1295400" cy="285750"/>
            </a:xfrm>
            <a:prstGeom prst="chevron">
              <a:avLst/>
            </a:prstGeom>
            <a:solidFill>
              <a:srgbClr val="50261E"/>
            </a:solidFill>
            <a:ln>
              <a:noFill/>
            </a:ln>
          </p:spPr>
        </p:sp>
        <p:sp>
          <p:nvSpPr>
            <p:cNvPr id="26" name="Freeform 26"/>
            <p:cNvSpPr/>
            <p:nvPr/>
          </p:nvSpPr>
          <p:spPr>
            <a:xfrm>
              <a:off x="3733800" y="1333500"/>
              <a:ext cx="1295400" cy="285750"/>
            </a:xfrm>
            <a:prstGeom prst="chevron">
              <a:avLst/>
            </a:prstGeom>
            <a:solidFill>
              <a:srgbClr val="7C3B2F"/>
            </a:solidFill>
            <a:ln>
              <a:noFill/>
            </a:ln>
          </p:spPr>
        </p:sp>
        <p:sp>
          <p:nvSpPr>
            <p:cNvPr id="27" name="Freeform 27"/>
            <p:cNvSpPr/>
            <p:nvPr/>
          </p:nvSpPr>
          <p:spPr>
            <a:xfrm>
              <a:off x="5029200" y="1333500"/>
              <a:ext cx="1295400" cy="285750"/>
            </a:xfrm>
            <a:prstGeom prst="chevron">
              <a:avLst/>
            </a:prstGeom>
            <a:solidFill>
              <a:srgbClr val="9A4B3C"/>
            </a:solidFill>
            <a:ln>
              <a:noFill/>
            </a:ln>
          </p:spPr>
        </p:sp>
        <p:sp>
          <p:nvSpPr>
            <p:cNvPr id="28" name="Freeform 28"/>
            <p:cNvSpPr/>
            <p:nvPr/>
          </p:nvSpPr>
          <p:spPr>
            <a:xfrm>
              <a:off x="6324600" y="1333500"/>
              <a:ext cx="1295400" cy="285750"/>
            </a:xfrm>
            <a:prstGeom prst="chevron">
              <a:avLst/>
            </a:prstGeom>
            <a:solidFill>
              <a:srgbClr val="BE776A"/>
            </a:solidFill>
            <a:ln>
              <a:noFill/>
            </a:ln>
          </p:spPr>
        </p:sp>
        <p:sp>
          <p:nvSpPr>
            <p:cNvPr id="29" name="TextBox 29"/>
            <p:cNvSpPr txBox="1"/>
            <p:nvPr/>
          </p:nvSpPr>
          <p:spPr>
            <a:xfrm>
              <a:off x="1721930" y="14268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认知</a:t>
              </a:r>
            </a:p>
          </p:txBody>
        </p:sp>
        <p:sp>
          <p:nvSpPr>
            <p:cNvPr id="30" name="TextBox 30"/>
            <p:cNvSpPr txBox="1"/>
            <p:nvPr/>
          </p:nvSpPr>
          <p:spPr>
            <a:xfrm>
              <a:off x="3017329" y="14268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尝试</a:t>
              </a:r>
            </a:p>
          </p:txBody>
        </p:sp>
        <p:sp>
          <p:nvSpPr>
            <p:cNvPr id="31" name="TextBox 31"/>
            <p:cNvSpPr txBox="1"/>
            <p:nvPr/>
          </p:nvSpPr>
          <p:spPr>
            <a:xfrm>
              <a:off x="4312730" y="14268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信任</a:t>
              </a:r>
            </a:p>
          </p:txBody>
        </p:sp>
        <p:sp>
          <p:nvSpPr>
            <p:cNvPr id="32" name="TextBox 32"/>
            <p:cNvSpPr txBox="1"/>
            <p:nvPr/>
          </p:nvSpPr>
          <p:spPr>
            <a:xfrm>
              <a:off x="5608130" y="14268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习惯</a:t>
              </a:r>
            </a:p>
          </p:txBody>
        </p:sp>
        <p:sp>
          <p:nvSpPr>
            <p:cNvPr id="33" name="TextBox 33"/>
            <p:cNvSpPr txBox="1"/>
            <p:nvPr/>
          </p:nvSpPr>
          <p:spPr>
            <a:xfrm>
              <a:off x="6903530" y="14268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共创</a:t>
              </a:r>
            </a:p>
          </p:txBody>
        </p:sp>
        <p:grpSp>
          <p:nvGrpSpPr>
            <p:cNvPr id="56" name="row-barriers"/>
            <p:cNvGrpSpPr/>
            <p:nvPr/>
          </p:nvGrpSpPr>
          <p:grpSpPr>
            <a:xfrm>
              <a:off x="285750" y="1695450"/>
              <a:ext cx="7296150" cy="685800"/>
              <a:chOff x="285750" y="1695450"/>
              <a:chExt cx="7296150" cy="685800"/>
            </a:xfrm>
          </p:grpSpPr>
          <p:sp>
            <p:nvSpPr>
              <p:cNvPr id="34" name="Rectangle 34"/>
              <p:cNvSpPr/>
              <p:nvPr/>
            </p:nvSpPr>
            <p:spPr>
              <a:xfrm>
                <a:off x="285750" y="1695450"/>
                <a:ext cx="800100" cy="685800"/>
              </a:xfrm>
              <a:prstGeom prst="roundRect">
                <a:avLst>
                  <a:gd name="adj" fmla="val 8333"/>
                </a:avLst>
              </a:prstGeom>
              <a:solidFill>
                <a:srgbClr val="F4F8EC"/>
              </a:solidFill>
              <a:ln w="9525">
                <a:solidFill>
                  <a:srgbClr val="D9E8C6"/>
                </a:solidFill>
              </a:ln>
            </p:spPr>
          </p:sp>
          <p:grpSp>
            <p:nvGrpSpPr>
              <p:cNvPr id="39" name="Group 39"/>
              <p:cNvGrpSpPr/>
              <p:nvPr/>
            </p:nvGrpSpPr>
            <p:grpSpPr>
              <a:xfrm>
                <a:off x="614362" y="1814512"/>
                <a:ext cx="142875" cy="142875"/>
                <a:chOff x="614362" y="1814512"/>
                <a:chExt cx="142875" cy="142875"/>
              </a:xfrm>
            </p:grpSpPr>
            <p:sp>
              <p:nvSpPr>
                <p:cNvPr id="35" name="Freeform 35"/>
                <p:cNvSpPr/>
                <p:nvPr/>
              </p:nvSpPr>
              <p:spPr>
                <a:xfrm>
                  <a:off x="630237" y="18145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7C3B2F"/>
                  </a:solidFill>
                </a:ln>
              </p:spPr>
            </p:sp>
            <p:sp>
              <p:nvSpPr>
                <p:cNvPr id="36" name="Freeform 36"/>
                <p:cNvSpPr/>
                <p:nvPr/>
              </p:nvSpPr>
              <p:spPr>
                <a:xfrm>
                  <a:off x="614362" y="19097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7C3B2F"/>
                  </a:solidFill>
                </a:ln>
              </p:spPr>
            </p:sp>
            <p:sp>
              <p:nvSpPr>
                <p:cNvPr id="37" name="Freeform 37"/>
                <p:cNvSpPr/>
                <p:nvPr/>
              </p:nvSpPr>
              <p:spPr>
                <a:xfrm>
                  <a:off x="717550" y="18155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7C3B2F"/>
                  </a:solidFill>
                </a:ln>
              </p:spPr>
            </p:sp>
            <p:sp>
              <p:nvSpPr>
                <p:cNvPr id="38" name="Freeform 38"/>
                <p:cNvSpPr/>
                <p:nvPr/>
              </p:nvSpPr>
              <p:spPr>
                <a:xfrm>
                  <a:off x="733425" y="19109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7C3B2F"/>
                  </a:solidFill>
                </a:ln>
              </p:spPr>
            </p:sp>
          </p:grpSp>
          <p:sp>
            <p:nvSpPr>
              <p:cNvPr id="40" name="TextBox 40"/>
              <p:cNvSpPr txBox="1"/>
              <p:nvPr/>
            </p:nvSpPr>
            <p:spPr>
              <a:xfrm>
                <a:off x="489877" y="2132886"/>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员工障碍</a:t>
                </a:r>
              </a:p>
            </p:txBody>
          </p:sp>
          <p:sp>
            <p:nvSpPr>
              <p:cNvPr id="41" name="Rectangle 41"/>
              <p:cNvSpPr/>
              <p:nvPr/>
            </p:nvSpPr>
            <p:spPr>
              <a:xfrm>
                <a:off x="1143000" y="1695450"/>
                <a:ext cx="1257300" cy="685800"/>
              </a:xfrm>
              <a:prstGeom prst="roundRect">
                <a:avLst>
                  <a:gd name="adj" fmla="val 5556"/>
                </a:avLst>
              </a:prstGeom>
              <a:solidFill>
                <a:srgbClr val="FFFFFF"/>
              </a:solidFill>
              <a:ln w="9525">
                <a:solidFill>
                  <a:srgbClr val="D9E8C6"/>
                </a:solidFill>
              </a:ln>
            </p:spPr>
          </p:sp>
          <p:sp>
            <p:nvSpPr>
              <p:cNvPr id="42" name="TextBox 42"/>
              <p:cNvSpPr txBox="1"/>
              <p:nvPr/>
            </p:nvSpPr>
            <p:spPr>
              <a:xfrm>
                <a:off x="1214438" y="1897380"/>
                <a:ext cx="89344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不知道能解决什么问题</a:t>
                </a:r>
              </a:p>
            </p:txBody>
          </p:sp>
          <p:sp>
            <p:nvSpPr>
              <p:cNvPr id="43" name="TextBox 43"/>
              <p:cNvSpPr txBox="1"/>
              <p:nvPr/>
            </p:nvSpPr>
            <p:spPr>
              <a:xfrm>
                <a:off x="1214438" y="20878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看不见价值</a:t>
                </a:r>
              </a:p>
            </p:txBody>
          </p:sp>
          <p:sp>
            <p:nvSpPr>
              <p:cNvPr id="44" name="Rectangle 44"/>
              <p:cNvSpPr/>
              <p:nvPr/>
            </p:nvSpPr>
            <p:spPr>
              <a:xfrm>
                <a:off x="2438400" y="1695450"/>
                <a:ext cx="1257300" cy="685800"/>
              </a:xfrm>
              <a:prstGeom prst="roundRect">
                <a:avLst>
                  <a:gd name="adj" fmla="val 5556"/>
                </a:avLst>
              </a:prstGeom>
              <a:solidFill>
                <a:srgbClr val="FFFFFF"/>
              </a:solidFill>
              <a:ln w="9525">
                <a:solidFill>
                  <a:srgbClr val="D9E8C6"/>
                </a:solidFill>
              </a:ln>
            </p:spPr>
          </p:sp>
          <p:sp>
            <p:nvSpPr>
              <p:cNvPr id="45" name="TextBox 45"/>
              <p:cNvSpPr txBox="1"/>
              <p:nvPr/>
            </p:nvSpPr>
            <p:spPr>
              <a:xfrm>
                <a:off x="2509838" y="18973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找不到入口</a:t>
                </a:r>
              </a:p>
            </p:txBody>
          </p:sp>
          <p:sp>
            <p:nvSpPr>
              <p:cNvPr id="46" name="TextBox 46"/>
              <p:cNvSpPr txBox="1"/>
              <p:nvPr/>
            </p:nvSpPr>
            <p:spPr>
              <a:xfrm>
                <a:off x="2509838" y="20878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不清楚怎么用</a:t>
                </a:r>
              </a:p>
            </p:txBody>
          </p:sp>
          <p:sp>
            <p:nvSpPr>
              <p:cNvPr id="47" name="Rectangle 47"/>
              <p:cNvSpPr/>
              <p:nvPr/>
            </p:nvSpPr>
            <p:spPr>
              <a:xfrm>
                <a:off x="3733800" y="1695450"/>
                <a:ext cx="1257300" cy="685800"/>
              </a:xfrm>
              <a:prstGeom prst="roundRect">
                <a:avLst>
                  <a:gd name="adj" fmla="val 5556"/>
                </a:avLst>
              </a:prstGeom>
              <a:solidFill>
                <a:srgbClr val="FFFFFF"/>
              </a:solidFill>
              <a:ln w="9525">
                <a:solidFill>
                  <a:srgbClr val="D9E8C6"/>
                </a:solidFill>
              </a:ln>
            </p:spPr>
          </p:sp>
          <p:sp>
            <p:nvSpPr>
              <p:cNvPr id="48" name="TextBox 48"/>
              <p:cNvSpPr txBox="1"/>
              <p:nvPr/>
            </p:nvSpPr>
            <p:spPr>
              <a:xfrm>
                <a:off x="3805238" y="18973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担心不准确</a:t>
                </a:r>
              </a:p>
            </p:txBody>
          </p:sp>
          <p:sp>
            <p:nvSpPr>
              <p:cNvPr id="49" name="TextBox 49"/>
              <p:cNvSpPr txBox="1"/>
              <p:nvPr/>
            </p:nvSpPr>
            <p:spPr>
              <a:xfrm>
                <a:off x="3805238" y="20878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结果不稳定</a:t>
                </a:r>
              </a:p>
            </p:txBody>
          </p:sp>
          <p:sp>
            <p:nvSpPr>
              <p:cNvPr id="50" name="Rectangle 50"/>
              <p:cNvSpPr/>
              <p:nvPr/>
            </p:nvSpPr>
            <p:spPr>
              <a:xfrm>
                <a:off x="5029200" y="1695450"/>
                <a:ext cx="1257300" cy="685800"/>
              </a:xfrm>
              <a:prstGeom prst="roundRect">
                <a:avLst>
                  <a:gd name="adj" fmla="val 5556"/>
                </a:avLst>
              </a:prstGeom>
              <a:solidFill>
                <a:srgbClr val="FFFFFF"/>
              </a:solidFill>
              <a:ln w="9525">
                <a:solidFill>
                  <a:srgbClr val="D9E8C6"/>
                </a:solidFill>
              </a:ln>
            </p:spPr>
          </p:sp>
          <p:sp>
            <p:nvSpPr>
              <p:cNvPr id="51" name="TextBox 51"/>
              <p:cNvSpPr txBox="1"/>
              <p:nvPr/>
            </p:nvSpPr>
            <p:spPr>
              <a:xfrm>
                <a:off x="5100638" y="18973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需要切换系统</a:t>
                </a:r>
              </a:p>
            </p:txBody>
          </p:sp>
          <p:sp>
            <p:nvSpPr>
              <p:cNvPr id="52" name="TextBox 52"/>
              <p:cNvSpPr txBox="1"/>
              <p:nvPr/>
            </p:nvSpPr>
            <p:spPr>
              <a:xfrm>
                <a:off x="5100638" y="20878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打断工作流</a:t>
                </a:r>
              </a:p>
            </p:txBody>
          </p:sp>
          <p:sp>
            <p:nvSpPr>
              <p:cNvPr id="53" name="Rectangle 53"/>
              <p:cNvSpPr/>
              <p:nvPr/>
            </p:nvSpPr>
            <p:spPr>
              <a:xfrm>
                <a:off x="6324600" y="1695450"/>
                <a:ext cx="1257300" cy="685800"/>
              </a:xfrm>
              <a:prstGeom prst="roundRect">
                <a:avLst>
                  <a:gd name="adj" fmla="val 5556"/>
                </a:avLst>
              </a:prstGeom>
              <a:solidFill>
                <a:srgbClr val="FFFFFF"/>
              </a:solidFill>
              <a:ln w="9525">
                <a:solidFill>
                  <a:srgbClr val="D9E8C6"/>
                </a:solidFill>
              </a:ln>
            </p:spPr>
          </p:sp>
          <p:sp>
            <p:nvSpPr>
              <p:cNvPr id="54" name="TextBox 54"/>
              <p:cNvSpPr txBox="1"/>
              <p:nvPr/>
            </p:nvSpPr>
            <p:spPr>
              <a:xfrm>
                <a:off x="6396038" y="1897380"/>
                <a:ext cx="651129"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不知道如何反馈</a:t>
                </a:r>
              </a:p>
            </p:txBody>
          </p:sp>
          <p:sp>
            <p:nvSpPr>
              <p:cNvPr id="55" name="TextBox 55"/>
              <p:cNvSpPr txBox="1"/>
              <p:nvPr/>
            </p:nvSpPr>
            <p:spPr>
              <a:xfrm>
                <a:off x="6396038" y="20878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看不到影响力</a:t>
                </a:r>
              </a:p>
            </p:txBody>
          </p:sp>
        </p:grpSp>
        <p:grpSp>
          <p:nvGrpSpPr>
            <p:cNvPr id="77" name="row-interventions"/>
            <p:cNvGrpSpPr/>
            <p:nvPr/>
          </p:nvGrpSpPr>
          <p:grpSpPr>
            <a:xfrm>
              <a:off x="285750" y="2457450"/>
              <a:ext cx="7296150" cy="685800"/>
              <a:chOff x="285750" y="2457450"/>
              <a:chExt cx="7296150" cy="685800"/>
            </a:xfrm>
          </p:grpSpPr>
          <p:sp>
            <p:nvSpPr>
              <p:cNvPr id="57" name="Rectangle 57"/>
              <p:cNvSpPr/>
              <p:nvPr/>
            </p:nvSpPr>
            <p:spPr>
              <a:xfrm>
                <a:off x="285750" y="2457450"/>
                <a:ext cx="800100" cy="685800"/>
              </a:xfrm>
              <a:prstGeom prst="roundRect">
                <a:avLst>
                  <a:gd name="adj" fmla="val 8333"/>
                </a:avLst>
              </a:prstGeom>
              <a:solidFill>
                <a:srgbClr val="F4F8EC"/>
              </a:solidFill>
              <a:ln w="9525">
                <a:solidFill>
                  <a:srgbClr val="D9E8C6"/>
                </a:solidFill>
              </a:ln>
            </p:spPr>
          </p:sp>
          <p:grpSp>
            <p:nvGrpSpPr>
              <p:cNvPr id="60" name="Group 60"/>
              <p:cNvGrpSpPr/>
              <p:nvPr/>
            </p:nvGrpSpPr>
            <p:grpSpPr>
              <a:xfrm>
                <a:off x="610878" y="2573028"/>
                <a:ext cx="149844" cy="149844"/>
                <a:chOff x="610878" y="2573028"/>
                <a:chExt cx="149844" cy="149844"/>
              </a:xfrm>
            </p:grpSpPr>
            <p:sp>
              <p:nvSpPr>
                <p:cNvPr id="58" name="Freeform 58"/>
                <p:cNvSpPr/>
                <p:nvPr/>
              </p:nvSpPr>
              <p:spPr>
                <a:xfrm>
                  <a:off x="610878" y="257302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7C3B2F"/>
                  </a:solidFill>
                </a:ln>
              </p:spPr>
            </p:sp>
            <p:sp>
              <p:nvSpPr>
                <p:cNvPr id="59" name="Freeform 59"/>
                <p:cNvSpPr/>
                <p:nvPr/>
              </p:nvSpPr>
              <p:spPr>
                <a:xfrm>
                  <a:off x="661987" y="262413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7C3B2F"/>
                  </a:solidFill>
                </a:ln>
              </p:spPr>
            </p:sp>
          </p:grpSp>
          <p:sp>
            <p:nvSpPr>
              <p:cNvPr id="61" name="TextBox 61"/>
              <p:cNvSpPr txBox="1"/>
              <p:nvPr/>
            </p:nvSpPr>
            <p:spPr>
              <a:xfrm>
                <a:off x="489877" y="2894886"/>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干预措施</a:t>
                </a:r>
              </a:p>
            </p:txBody>
          </p:sp>
          <p:sp>
            <p:nvSpPr>
              <p:cNvPr id="62" name="Rectangle 62"/>
              <p:cNvSpPr/>
              <p:nvPr/>
            </p:nvSpPr>
            <p:spPr>
              <a:xfrm>
                <a:off x="1143000" y="2457450"/>
                <a:ext cx="1257300" cy="685800"/>
              </a:xfrm>
              <a:prstGeom prst="roundRect">
                <a:avLst>
                  <a:gd name="adj" fmla="val 5556"/>
                </a:avLst>
              </a:prstGeom>
              <a:solidFill>
                <a:srgbClr val="F4F8EC"/>
              </a:solidFill>
              <a:ln w="9525">
                <a:solidFill>
                  <a:srgbClr val="D9E8C6"/>
                </a:solidFill>
              </a:ln>
            </p:spPr>
          </p:sp>
          <p:sp>
            <p:nvSpPr>
              <p:cNvPr id="63" name="TextBox 63"/>
              <p:cNvSpPr txBox="1"/>
              <p:nvPr/>
            </p:nvSpPr>
            <p:spPr>
              <a:xfrm>
                <a:off x="1214438" y="26593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场景化传播</a:t>
                </a:r>
              </a:p>
            </p:txBody>
          </p:sp>
          <p:sp>
            <p:nvSpPr>
              <p:cNvPr id="64" name="TextBox 64"/>
              <p:cNvSpPr txBox="1"/>
              <p:nvPr/>
            </p:nvSpPr>
            <p:spPr>
              <a:xfrm>
                <a:off x="1214438" y="28498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痛点案例触达</a:t>
                </a:r>
              </a:p>
            </p:txBody>
          </p:sp>
          <p:sp>
            <p:nvSpPr>
              <p:cNvPr id="65" name="Rectangle 65"/>
              <p:cNvSpPr/>
              <p:nvPr/>
            </p:nvSpPr>
            <p:spPr>
              <a:xfrm>
                <a:off x="2438400" y="2457450"/>
                <a:ext cx="1257300" cy="685800"/>
              </a:xfrm>
              <a:prstGeom prst="roundRect">
                <a:avLst>
                  <a:gd name="adj" fmla="val 5556"/>
                </a:avLst>
              </a:prstGeom>
              <a:solidFill>
                <a:srgbClr val="F4F8EC"/>
              </a:solidFill>
              <a:ln w="9525">
                <a:solidFill>
                  <a:srgbClr val="D9E8C6"/>
                </a:solidFill>
              </a:ln>
            </p:spPr>
          </p:sp>
          <p:sp>
            <p:nvSpPr>
              <p:cNvPr id="66" name="TextBox 66"/>
              <p:cNvSpPr txBox="1"/>
              <p:nvPr/>
            </p:nvSpPr>
            <p:spPr>
              <a:xfrm>
                <a:off x="2509838" y="2659380"/>
                <a:ext cx="408813"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嵌入入口</a:t>
                </a:r>
              </a:p>
            </p:txBody>
          </p:sp>
          <p:sp>
            <p:nvSpPr>
              <p:cNvPr id="67" name="TextBox 67"/>
              <p:cNvSpPr txBox="1"/>
              <p:nvPr/>
            </p:nvSpPr>
            <p:spPr>
              <a:xfrm>
                <a:off x="2509838" y="28498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引导式体验</a:t>
                </a:r>
              </a:p>
            </p:txBody>
          </p:sp>
          <p:sp>
            <p:nvSpPr>
              <p:cNvPr id="68" name="Rectangle 68"/>
              <p:cNvSpPr/>
              <p:nvPr/>
            </p:nvSpPr>
            <p:spPr>
              <a:xfrm>
                <a:off x="3733800" y="2457450"/>
                <a:ext cx="1257300" cy="685800"/>
              </a:xfrm>
              <a:prstGeom prst="roundRect">
                <a:avLst>
                  <a:gd name="adj" fmla="val 5556"/>
                </a:avLst>
              </a:prstGeom>
              <a:solidFill>
                <a:srgbClr val="F4F8EC"/>
              </a:solidFill>
              <a:ln w="9525">
                <a:solidFill>
                  <a:srgbClr val="D9E8C6"/>
                </a:solidFill>
              </a:ln>
            </p:spPr>
          </p:sp>
          <p:sp>
            <p:nvSpPr>
              <p:cNvPr id="69" name="TextBox 69"/>
              <p:cNvSpPr txBox="1"/>
              <p:nvPr/>
            </p:nvSpPr>
            <p:spPr>
              <a:xfrm>
                <a:off x="3805238" y="26593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高质量知识源</a:t>
                </a:r>
              </a:p>
            </p:txBody>
          </p:sp>
          <p:sp>
            <p:nvSpPr>
              <p:cNvPr id="70" name="TextBox 70"/>
              <p:cNvSpPr txBox="1"/>
              <p:nvPr/>
            </p:nvSpPr>
            <p:spPr>
              <a:xfrm>
                <a:off x="3805238" y="2849880"/>
                <a:ext cx="651129"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引用与溯源展示</a:t>
                </a:r>
              </a:p>
            </p:txBody>
          </p:sp>
          <p:sp>
            <p:nvSpPr>
              <p:cNvPr id="71" name="Rectangle 71"/>
              <p:cNvSpPr/>
              <p:nvPr/>
            </p:nvSpPr>
            <p:spPr>
              <a:xfrm>
                <a:off x="5029200" y="2457450"/>
                <a:ext cx="1257300" cy="685800"/>
              </a:xfrm>
              <a:prstGeom prst="roundRect">
                <a:avLst>
                  <a:gd name="adj" fmla="val 5556"/>
                </a:avLst>
              </a:prstGeom>
              <a:solidFill>
                <a:srgbClr val="F4F8EC"/>
              </a:solidFill>
              <a:ln w="9525">
                <a:solidFill>
                  <a:srgbClr val="D9E8C6"/>
                </a:solidFill>
              </a:ln>
            </p:spPr>
          </p:sp>
          <p:sp>
            <p:nvSpPr>
              <p:cNvPr id="72" name="TextBox 72"/>
              <p:cNvSpPr txBox="1"/>
              <p:nvPr/>
            </p:nvSpPr>
            <p:spPr>
              <a:xfrm>
                <a:off x="5100638" y="26593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流程内触发</a:t>
                </a:r>
              </a:p>
            </p:txBody>
          </p:sp>
          <p:sp>
            <p:nvSpPr>
              <p:cNvPr id="73" name="TextBox 73"/>
              <p:cNvSpPr txBox="1"/>
              <p:nvPr/>
            </p:nvSpPr>
            <p:spPr>
              <a:xfrm>
                <a:off x="5100638" y="2849880"/>
                <a:ext cx="651129"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一键调用与保存</a:t>
                </a:r>
              </a:p>
            </p:txBody>
          </p:sp>
          <p:sp>
            <p:nvSpPr>
              <p:cNvPr id="74" name="Rectangle 74"/>
              <p:cNvSpPr/>
              <p:nvPr/>
            </p:nvSpPr>
            <p:spPr>
              <a:xfrm>
                <a:off x="6324600" y="2457450"/>
                <a:ext cx="1257300" cy="685800"/>
              </a:xfrm>
              <a:prstGeom prst="roundRect">
                <a:avLst>
                  <a:gd name="adj" fmla="val 5556"/>
                </a:avLst>
              </a:prstGeom>
              <a:solidFill>
                <a:srgbClr val="F4F8EC"/>
              </a:solidFill>
              <a:ln w="9525">
                <a:solidFill>
                  <a:srgbClr val="D9E8C6"/>
                </a:solidFill>
              </a:ln>
            </p:spPr>
          </p:sp>
          <p:sp>
            <p:nvSpPr>
              <p:cNvPr id="75" name="TextBox 75"/>
              <p:cNvSpPr txBox="1"/>
              <p:nvPr/>
            </p:nvSpPr>
            <p:spPr>
              <a:xfrm>
                <a:off x="6396038" y="26593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便捷反馈通道</a:t>
                </a:r>
              </a:p>
            </p:txBody>
          </p:sp>
          <p:sp>
            <p:nvSpPr>
              <p:cNvPr id="76" name="TextBox 76"/>
              <p:cNvSpPr txBox="1"/>
              <p:nvPr/>
            </p:nvSpPr>
            <p:spPr>
              <a:xfrm>
                <a:off x="6396038" y="2849880"/>
                <a:ext cx="651129"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共创激励与认可</a:t>
                </a:r>
              </a:p>
            </p:txBody>
          </p:sp>
        </p:grpSp>
        <p:grpSp>
          <p:nvGrpSpPr>
            <p:cNvPr id="100" name="row-evidence"/>
            <p:cNvGrpSpPr/>
            <p:nvPr/>
          </p:nvGrpSpPr>
          <p:grpSpPr>
            <a:xfrm>
              <a:off x="285750" y="3219450"/>
              <a:ext cx="7296150" cy="685800"/>
              <a:chOff x="285750" y="3219450"/>
              <a:chExt cx="7296150" cy="685800"/>
            </a:xfrm>
          </p:grpSpPr>
          <p:sp>
            <p:nvSpPr>
              <p:cNvPr id="78" name="Rectangle 78"/>
              <p:cNvSpPr/>
              <p:nvPr/>
            </p:nvSpPr>
            <p:spPr>
              <a:xfrm>
                <a:off x="285750" y="3219450"/>
                <a:ext cx="800100" cy="685800"/>
              </a:xfrm>
              <a:prstGeom prst="roundRect">
                <a:avLst>
                  <a:gd name="adj" fmla="val 8333"/>
                </a:avLst>
              </a:prstGeom>
              <a:solidFill>
                <a:srgbClr val="F4F8EC"/>
              </a:solidFill>
              <a:ln w="9525">
                <a:solidFill>
                  <a:srgbClr val="D9E8C6"/>
                </a:solidFill>
              </a:ln>
            </p:spPr>
          </p:sp>
          <p:grpSp>
            <p:nvGrpSpPr>
              <p:cNvPr id="83" name="Group 83"/>
              <p:cNvGrpSpPr/>
              <p:nvPr/>
            </p:nvGrpSpPr>
            <p:grpSpPr>
              <a:xfrm>
                <a:off x="614362" y="3346450"/>
                <a:ext cx="142875" cy="136525"/>
                <a:chOff x="614362" y="3346450"/>
                <a:chExt cx="142875" cy="136525"/>
              </a:xfrm>
            </p:grpSpPr>
            <p:sp>
              <p:nvSpPr>
                <p:cNvPr id="79" name="Freeform 79"/>
                <p:cNvSpPr/>
                <p:nvPr/>
              </p:nvSpPr>
              <p:spPr>
                <a:xfrm>
                  <a:off x="614362" y="34099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7C3B2F"/>
                  </a:solidFill>
                </a:ln>
              </p:spPr>
            </p:sp>
            <p:sp>
              <p:nvSpPr>
                <p:cNvPr id="80" name="Freeform 80"/>
                <p:cNvSpPr/>
                <p:nvPr/>
              </p:nvSpPr>
              <p:spPr>
                <a:xfrm>
                  <a:off x="709612" y="33782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7C3B2F"/>
                  </a:solidFill>
                </a:ln>
              </p:spPr>
            </p:sp>
            <p:sp>
              <p:nvSpPr>
                <p:cNvPr id="81" name="Freeform 81"/>
                <p:cNvSpPr/>
                <p:nvPr/>
              </p:nvSpPr>
              <p:spPr>
                <a:xfrm>
                  <a:off x="661987" y="33464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7C3B2F"/>
                  </a:solidFill>
                </a:ln>
              </p:spPr>
            </p:sp>
            <p:sp>
              <p:nvSpPr>
                <p:cNvPr id="82" name="Freeform 82"/>
                <p:cNvSpPr/>
                <p:nvPr/>
              </p:nvSpPr>
              <p:spPr>
                <a:xfrm>
                  <a:off x="622300" y="3473450"/>
                  <a:ext cx="111125" cy="9525"/>
                </a:xfrm>
                <a:custGeom>
                  <a:avLst/>
                  <a:gdLst/>
                  <a:ahLst/>
                  <a:cxnLst/>
                  <a:rect l="l" t="t" r="r" b="b"/>
                  <a:pathLst>
                    <a:path w="111125" h="9525">
                      <a:moveTo>
                        <a:pt x="0" y="0"/>
                      </a:moveTo>
                      <a:lnTo>
                        <a:pt x="111125" y="0"/>
                      </a:lnTo>
                    </a:path>
                  </a:pathLst>
                </a:custGeom>
                <a:noFill/>
                <a:ln w="15875">
                  <a:solidFill>
                    <a:srgbClr val="7C3B2F"/>
                  </a:solidFill>
                </a:ln>
              </p:spPr>
            </p:sp>
          </p:grpSp>
          <p:sp>
            <p:nvSpPr>
              <p:cNvPr id="84" name="TextBox 84"/>
              <p:cNvSpPr txBox="1"/>
              <p:nvPr/>
            </p:nvSpPr>
            <p:spPr>
              <a:xfrm>
                <a:off x="489877" y="3656886"/>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证据指标</a:t>
                </a:r>
              </a:p>
            </p:txBody>
          </p:sp>
          <p:sp>
            <p:nvSpPr>
              <p:cNvPr id="85" name="Rectangle 85"/>
              <p:cNvSpPr/>
              <p:nvPr/>
            </p:nvSpPr>
            <p:spPr>
              <a:xfrm>
                <a:off x="1143000" y="3219450"/>
                <a:ext cx="1257300" cy="685800"/>
              </a:xfrm>
              <a:prstGeom prst="roundRect">
                <a:avLst>
                  <a:gd name="adj" fmla="val 5556"/>
                </a:avLst>
              </a:prstGeom>
              <a:solidFill>
                <a:srgbClr val="FFFFFF"/>
              </a:solidFill>
              <a:ln w="9525">
                <a:solidFill>
                  <a:srgbClr val="D9E8C6"/>
                </a:solidFill>
              </a:ln>
            </p:spPr>
          </p:sp>
          <p:sp>
            <p:nvSpPr>
              <p:cNvPr id="86" name="TextBox 86"/>
              <p:cNvSpPr txBox="1"/>
              <p:nvPr/>
            </p:nvSpPr>
            <p:spPr>
              <a:xfrm>
                <a:off x="1214438" y="3421380"/>
                <a:ext cx="408813"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曝光人数</a:t>
                </a:r>
              </a:p>
            </p:txBody>
          </p:sp>
          <p:sp>
            <p:nvSpPr>
              <p:cNvPr id="87" name="TextBox 87"/>
              <p:cNvSpPr txBox="1"/>
              <p:nvPr/>
            </p:nvSpPr>
            <p:spPr>
              <a:xfrm>
                <a:off x="1214438" y="36118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认知度调研</a:t>
                </a:r>
              </a:p>
            </p:txBody>
          </p:sp>
          <p:sp>
            <p:nvSpPr>
              <p:cNvPr id="88" name="Rectangle 88"/>
              <p:cNvSpPr/>
              <p:nvPr/>
            </p:nvSpPr>
            <p:spPr>
              <a:xfrm>
                <a:off x="2438400" y="3219450"/>
                <a:ext cx="1257300" cy="685800"/>
              </a:xfrm>
              <a:prstGeom prst="roundRect">
                <a:avLst>
                  <a:gd name="adj" fmla="val 5556"/>
                </a:avLst>
              </a:prstGeom>
              <a:solidFill>
                <a:srgbClr val="FFFFFF"/>
              </a:solidFill>
              <a:ln w="9525">
                <a:solidFill>
                  <a:srgbClr val="D9E8C6"/>
                </a:solidFill>
              </a:ln>
            </p:spPr>
          </p:sp>
          <p:sp>
            <p:nvSpPr>
              <p:cNvPr id="89" name="TextBox 89"/>
              <p:cNvSpPr txBox="1"/>
              <p:nvPr/>
            </p:nvSpPr>
            <p:spPr>
              <a:xfrm>
                <a:off x="2509838" y="34213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首次使用人数</a:t>
                </a:r>
              </a:p>
            </p:txBody>
          </p:sp>
          <p:sp>
            <p:nvSpPr>
              <p:cNvPr id="90" name="TextBox 90"/>
              <p:cNvSpPr txBox="1"/>
              <p:nvPr/>
            </p:nvSpPr>
            <p:spPr>
              <a:xfrm>
                <a:off x="2509838" y="36118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首次使用率</a:t>
                </a:r>
              </a:p>
            </p:txBody>
          </p:sp>
          <p:sp>
            <p:nvSpPr>
              <p:cNvPr id="91" name="Rectangle 91"/>
              <p:cNvSpPr/>
              <p:nvPr/>
            </p:nvSpPr>
            <p:spPr>
              <a:xfrm>
                <a:off x="3733800" y="3219450"/>
                <a:ext cx="1257300" cy="685800"/>
              </a:xfrm>
              <a:prstGeom prst="roundRect">
                <a:avLst>
                  <a:gd name="adj" fmla="val 5556"/>
                </a:avLst>
              </a:prstGeom>
              <a:solidFill>
                <a:srgbClr val="FFFFFF"/>
              </a:solidFill>
              <a:ln w="9525">
                <a:solidFill>
                  <a:srgbClr val="D9E8C6"/>
                </a:solidFill>
              </a:ln>
            </p:spPr>
          </p:sp>
          <p:sp>
            <p:nvSpPr>
              <p:cNvPr id="92" name="TextBox 92"/>
              <p:cNvSpPr txBox="1"/>
              <p:nvPr/>
            </p:nvSpPr>
            <p:spPr>
              <a:xfrm>
                <a:off x="3805238" y="34213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采纳满意度</a:t>
                </a:r>
              </a:p>
            </p:txBody>
          </p:sp>
          <p:sp>
            <p:nvSpPr>
              <p:cNvPr id="93" name="TextBox 93"/>
              <p:cNvSpPr txBox="1"/>
              <p:nvPr/>
            </p:nvSpPr>
            <p:spPr>
              <a:xfrm>
                <a:off x="3805238" y="3611880"/>
                <a:ext cx="695554"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准确/有用反馈率</a:t>
                </a:r>
              </a:p>
            </p:txBody>
          </p:sp>
          <p:sp>
            <p:nvSpPr>
              <p:cNvPr id="94" name="Rectangle 94"/>
              <p:cNvSpPr/>
              <p:nvPr/>
            </p:nvSpPr>
            <p:spPr>
              <a:xfrm>
                <a:off x="5029200" y="3219450"/>
                <a:ext cx="1257300" cy="685800"/>
              </a:xfrm>
              <a:prstGeom prst="roundRect">
                <a:avLst>
                  <a:gd name="adj" fmla="val 5556"/>
                </a:avLst>
              </a:prstGeom>
              <a:solidFill>
                <a:srgbClr val="FFFFFF"/>
              </a:solidFill>
              <a:ln w="9525">
                <a:solidFill>
                  <a:srgbClr val="D9E8C6"/>
                </a:solidFill>
              </a:ln>
            </p:spPr>
          </p:sp>
          <p:sp>
            <p:nvSpPr>
              <p:cNvPr id="95" name="TextBox 95"/>
              <p:cNvSpPr txBox="1"/>
              <p:nvPr/>
            </p:nvSpPr>
            <p:spPr>
              <a:xfrm>
                <a:off x="5100638" y="34213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重复使用率</a:t>
                </a:r>
              </a:p>
            </p:txBody>
          </p:sp>
          <p:sp>
            <p:nvSpPr>
              <p:cNvPr id="96" name="TextBox 96"/>
              <p:cNvSpPr txBox="1"/>
              <p:nvPr/>
            </p:nvSpPr>
            <p:spPr>
              <a:xfrm>
                <a:off x="5100638" y="36118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周活跃渗透率</a:t>
                </a:r>
              </a:p>
            </p:txBody>
          </p:sp>
          <p:sp>
            <p:nvSpPr>
              <p:cNvPr id="97" name="Rectangle 97"/>
              <p:cNvSpPr/>
              <p:nvPr/>
            </p:nvSpPr>
            <p:spPr>
              <a:xfrm>
                <a:off x="6324600" y="3219450"/>
                <a:ext cx="1257300" cy="685800"/>
              </a:xfrm>
              <a:prstGeom prst="roundRect">
                <a:avLst>
                  <a:gd name="adj" fmla="val 5556"/>
                </a:avLst>
              </a:prstGeom>
              <a:solidFill>
                <a:srgbClr val="FFFFFF"/>
              </a:solidFill>
              <a:ln w="9525">
                <a:solidFill>
                  <a:srgbClr val="D9E8C6"/>
                </a:solidFill>
              </a:ln>
            </p:spPr>
          </p:sp>
          <p:sp>
            <p:nvSpPr>
              <p:cNvPr id="98" name="TextBox 98"/>
              <p:cNvSpPr txBox="1"/>
              <p:nvPr/>
            </p:nvSpPr>
            <p:spPr>
              <a:xfrm>
                <a:off x="6396038" y="3421380"/>
                <a:ext cx="408813"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贡献人数</a:t>
                </a:r>
              </a:p>
            </p:txBody>
          </p:sp>
          <p:sp>
            <p:nvSpPr>
              <p:cNvPr id="99" name="TextBox 99"/>
              <p:cNvSpPr txBox="1"/>
              <p:nvPr/>
            </p:nvSpPr>
            <p:spPr>
              <a:xfrm>
                <a:off x="6396038" y="3611880"/>
                <a:ext cx="651129"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采纳的贡献占比</a:t>
                </a:r>
              </a:p>
            </p:txBody>
          </p:sp>
        </p:grpSp>
        <p:grpSp>
          <p:nvGrpSpPr>
            <p:cNvPr id="115" name="result-bar"/>
            <p:cNvGrpSpPr/>
            <p:nvPr/>
          </p:nvGrpSpPr>
          <p:grpSpPr>
            <a:xfrm>
              <a:off x="285750" y="4000500"/>
              <a:ext cx="7334250" cy="381000"/>
              <a:chOff x="285750" y="4000500"/>
              <a:chExt cx="7334250" cy="381000"/>
            </a:xfrm>
          </p:grpSpPr>
          <p:sp>
            <p:nvSpPr>
              <p:cNvPr id="101" name="Rectangle 101"/>
              <p:cNvSpPr/>
              <p:nvPr/>
            </p:nvSpPr>
            <p:spPr>
              <a:xfrm>
                <a:off x="285750" y="4000500"/>
                <a:ext cx="7334250" cy="381000"/>
              </a:xfrm>
              <a:prstGeom prst="roundRect">
                <a:avLst>
                  <a:gd name="adj" fmla="val 20000"/>
                </a:avLst>
              </a:prstGeom>
              <a:solidFill>
                <a:srgbClr val="E7F2D8"/>
              </a:solidFill>
              <a:ln w="9525">
                <a:solidFill>
                  <a:srgbClr val="D9E8C6"/>
                </a:solidFill>
              </a:ln>
            </p:spPr>
          </p:sp>
          <p:grpSp>
            <p:nvGrpSpPr>
              <p:cNvPr id="105" name="Group 105"/>
              <p:cNvGrpSpPr/>
              <p:nvPr/>
            </p:nvGrpSpPr>
            <p:grpSpPr>
              <a:xfrm>
                <a:off x="453349" y="4116925"/>
                <a:ext cx="160095" cy="137543"/>
                <a:chOff x="453349" y="4116925"/>
                <a:chExt cx="160095" cy="137543"/>
              </a:xfrm>
            </p:grpSpPr>
            <p:sp>
              <p:nvSpPr>
                <p:cNvPr id="102" name="Freeform 102"/>
                <p:cNvSpPr/>
                <p:nvPr/>
              </p:nvSpPr>
              <p:spPr>
                <a:xfrm>
                  <a:off x="533400" y="4167187"/>
                  <a:ext cx="9525" cy="31750"/>
                </a:xfrm>
                <a:custGeom>
                  <a:avLst/>
                  <a:gdLst/>
                  <a:ahLst/>
                  <a:cxnLst/>
                  <a:rect l="l" t="t" r="r" b="b"/>
                  <a:pathLst>
                    <a:path w="9525" h="31750">
                      <a:moveTo>
                        <a:pt x="0" y="0"/>
                      </a:moveTo>
                      <a:lnTo>
                        <a:pt x="0" y="31750"/>
                      </a:lnTo>
                    </a:path>
                  </a:pathLst>
                </a:custGeom>
                <a:noFill/>
                <a:ln w="15875">
                  <a:solidFill>
                    <a:srgbClr val="66705F"/>
                  </a:solidFill>
                </a:ln>
              </p:spPr>
            </p:sp>
            <p:sp>
              <p:nvSpPr>
                <p:cNvPr id="103" name="Freeform 103"/>
                <p:cNvSpPr/>
                <p:nvPr/>
              </p:nvSpPr>
              <p:spPr>
                <a:xfrm>
                  <a:off x="453349" y="411692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66705F"/>
                  </a:solidFill>
                </a:ln>
              </p:spPr>
            </p:sp>
            <p:sp>
              <p:nvSpPr>
                <p:cNvPr id="104" name="Freeform 104"/>
                <p:cNvSpPr/>
                <p:nvPr/>
              </p:nvSpPr>
              <p:spPr>
                <a:xfrm>
                  <a:off x="533400" y="4222750"/>
                  <a:ext cx="9525" cy="9525"/>
                </a:xfrm>
                <a:custGeom>
                  <a:avLst/>
                  <a:gdLst/>
                  <a:ahLst/>
                  <a:cxnLst/>
                  <a:rect l="l" t="t" r="r" b="b"/>
                  <a:pathLst>
                    <a:path w="9525" h="9525">
                      <a:moveTo>
                        <a:pt x="0" y="0"/>
                      </a:moveTo>
                      <a:lnTo>
                        <a:pt x="79" y="0"/>
                      </a:lnTo>
                    </a:path>
                  </a:pathLst>
                </a:custGeom>
                <a:noFill/>
                <a:ln w="15875">
                  <a:solidFill>
                    <a:srgbClr val="66705F"/>
                  </a:solidFill>
                </a:ln>
              </p:spPr>
            </p:sp>
          </p:grpSp>
          <p:sp>
            <p:nvSpPr>
              <p:cNvPr id="106" name="TextBox 106"/>
              <p:cNvSpPr txBox="1"/>
              <p:nvPr/>
            </p:nvSpPr>
            <p:spPr>
              <a:xfrm>
                <a:off x="719138" y="4071938"/>
                <a:ext cx="81724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结果：尝鲜后流失</a:t>
                </a:r>
              </a:p>
            </p:txBody>
          </p:sp>
          <p:sp>
            <p:nvSpPr>
              <p:cNvPr id="107" name="TextBox 107"/>
              <p:cNvSpPr txBox="1"/>
              <p:nvPr/>
            </p:nvSpPr>
            <p:spPr>
              <a:xfrm>
                <a:off x="719138" y="4240530"/>
                <a:ext cx="898017"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使用断点多，价值难沉淀</a:t>
                </a:r>
              </a:p>
            </p:txBody>
          </p:sp>
          <p:sp>
            <p:nvSpPr>
              <p:cNvPr id="108" name="Freeform 108"/>
              <p:cNvSpPr/>
              <p:nvPr/>
            </p:nvSpPr>
            <p:spPr>
              <a:xfrm>
                <a:off x="3619500" y="4057650"/>
                <a:ext cx="571500" cy="266700"/>
              </a:xfrm>
              <a:prstGeom prst="rightArrow">
                <a:avLst/>
              </a:prstGeom>
              <a:solidFill>
                <a:srgbClr val="BE776A"/>
              </a:solidFill>
              <a:ln>
                <a:noFill/>
              </a:ln>
            </p:spPr>
          </p:sp>
          <p:grpSp>
            <p:nvGrpSpPr>
              <p:cNvPr id="112" name="Group 112"/>
              <p:cNvGrpSpPr/>
              <p:nvPr/>
            </p:nvGrpSpPr>
            <p:grpSpPr>
              <a:xfrm>
                <a:off x="4432299" y="4123622"/>
                <a:ext cx="130867" cy="134739"/>
                <a:chOff x="4432299" y="4123622"/>
                <a:chExt cx="130867" cy="134739"/>
              </a:xfrm>
            </p:grpSpPr>
            <p:sp>
              <p:nvSpPr>
                <p:cNvPr id="109" name="Freeform 109"/>
                <p:cNvSpPr/>
                <p:nvPr/>
              </p:nvSpPr>
              <p:spPr>
                <a:xfrm>
                  <a:off x="4471987" y="4167187"/>
                  <a:ext cx="47625" cy="47625"/>
                </a:xfrm>
                <a:custGeom>
                  <a:avLst/>
                  <a:gdLst/>
                  <a:ahLst/>
                  <a:cxnLst/>
                  <a:rect l="l" t="t" r="r" b="b"/>
                  <a:pathLst>
                    <a:path w="47625" h="47625">
                      <a:moveTo>
                        <a:pt x="0" y="47625"/>
                      </a:moveTo>
                      <a:lnTo>
                        <a:pt x="47625" y="0"/>
                      </a:lnTo>
                    </a:path>
                  </a:pathLst>
                </a:custGeom>
                <a:noFill/>
                <a:ln w="15875">
                  <a:solidFill>
                    <a:srgbClr val="7C3B2F"/>
                  </a:solidFill>
                </a:ln>
              </p:spPr>
            </p:sp>
            <p:sp>
              <p:nvSpPr>
                <p:cNvPr id="110" name="Freeform 110"/>
                <p:cNvSpPr/>
                <p:nvPr/>
              </p:nvSpPr>
              <p:spPr>
                <a:xfrm>
                  <a:off x="4487862" y="4123622"/>
                  <a:ext cx="75304" cy="75316"/>
                </a:xfrm>
                <a:custGeom>
                  <a:avLst/>
                  <a:gdLst/>
                  <a:ahLst/>
                  <a:cxnLst/>
                  <a:rect l="l" t="t" r="r" b="b"/>
                  <a:pathLst>
                    <a:path w="75304" h="75316">
                      <a:moveTo>
                        <a:pt x="0" y="19753"/>
                      </a:moveTo>
                      <a:lnTo>
                        <a:pt x="3675" y="15499"/>
                      </a:lnTo>
                      <a:cubicBezTo>
                        <a:pt x="19176" y="0"/>
                        <a:pt x="44306" y="2"/>
                        <a:pt x="59805" y="15503"/>
                      </a:cubicBezTo>
                      <a:cubicBezTo>
                        <a:pt x="75304" y="31004"/>
                        <a:pt x="75302" y="56134"/>
                        <a:pt x="59801" y="71633"/>
                      </a:cubicBezTo>
                      <a:lnTo>
                        <a:pt x="55562" y="75316"/>
                      </a:lnTo>
                    </a:path>
                  </a:pathLst>
                </a:custGeom>
                <a:noFill/>
                <a:ln w="15875">
                  <a:solidFill>
                    <a:srgbClr val="7C3B2F"/>
                  </a:solidFill>
                </a:ln>
              </p:spPr>
            </p:sp>
            <p:sp>
              <p:nvSpPr>
                <p:cNvPr id="111" name="Freeform 111"/>
                <p:cNvSpPr/>
                <p:nvPr/>
              </p:nvSpPr>
              <p:spPr>
                <a:xfrm>
                  <a:off x="4432299" y="4183062"/>
                  <a:ext cx="71439" cy="75299"/>
                </a:xfrm>
                <a:custGeom>
                  <a:avLst/>
                  <a:gdLst/>
                  <a:ahLst/>
                  <a:cxnLst/>
                  <a:rect l="l" t="t" r="r" b="b"/>
                  <a:pathLst>
                    <a:path w="71439" h="75299">
                      <a:moveTo>
                        <a:pt x="71439" y="55562"/>
                      </a:moveTo>
                      <a:lnTo>
                        <a:pt x="68287" y="59801"/>
                      </a:lnTo>
                      <a:cubicBezTo>
                        <a:pt x="52615" y="75299"/>
                        <a:pt x="27389" y="75299"/>
                        <a:pt x="11717" y="59801"/>
                      </a:cubicBezTo>
                      <a:cubicBezTo>
                        <a:pt x="4219" y="52388"/>
                        <a:pt x="0" y="42282"/>
                        <a:pt x="0" y="31738"/>
                      </a:cubicBezTo>
                      <a:cubicBezTo>
                        <a:pt x="0" y="21194"/>
                        <a:pt x="4219" y="11089"/>
                        <a:pt x="11717" y="3675"/>
                      </a:cubicBezTo>
                      <a:lnTo>
                        <a:pt x="15876" y="0"/>
                      </a:lnTo>
                    </a:path>
                  </a:pathLst>
                </a:custGeom>
                <a:noFill/>
                <a:ln w="15875">
                  <a:solidFill>
                    <a:srgbClr val="7C3B2F"/>
                  </a:solidFill>
                </a:ln>
              </p:spPr>
            </p:sp>
          </p:grpSp>
          <p:sp>
            <p:nvSpPr>
              <p:cNvPr id="113" name="TextBox 113"/>
              <p:cNvSpPr txBox="1"/>
              <p:nvPr/>
            </p:nvSpPr>
            <p:spPr>
              <a:xfrm>
                <a:off x="4681538" y="4071938"/>
                <a:ext cx="1019175"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结果：持续采用与共创</a:t>
                </a:r>
              </a:p>
            </p:txBody>
          </p:sp>
          <p:sp>
            <p:nvSpPr>
              <p:cNvPr id="114" name="TextBox 114"/>
              <p:cNvSpPr txBox="1"/>
              <p:nvPr/>
            </p:nvSpPr>
            <p:spPr>
              <a:xfrm>
                <a:off x="4681538" y="4240530"/>
                <a:ext cx="1059561" cy="119062"/>
              </a:xfrm>
              <a:prstGeom prst="rect">
                <a:avLst/>
              </a:prstGeom>
              <a:noFill/>
              <a:ln>
                <a:noFill/>
              </a:ln>
            </p:spPr>
            <p:txBody>
              <a:bodyPr wrap="none" lIns="0" tIns="0" rIns="0" bIns="0" anchor="t" anchorCtr="0">
                <a:spAutoFit/>
              </a:bodyPr>
              <a:lstStyle/>
              <a:p>
                <a:pPr algn="l"/>
                <a:r>
                  <a:rPr lang="zh-CN" sz="600" dirty="0">
                    <a:solidFill>
                      <a:srgbClr val="66705F"/>
                    </a:solidFill>
                    <a:latin typeface="+mn-lt"/>
                    <a:ea typeface="+mn-ea"/>
                    <a:cs typeface="+mn-cs"/>
                  </a:rPr>
                  <a:t>价值持续产生，能力不断增强</a:t>
                </a:r>
              </a:p>
            </p:txBody>
          </p:sp>
        </p:grpSp>
      </p:grpSp>
      <p:grpSp>
        <p:nvGrpSpPr>
          <p:cNvPr id="162" name="role-scenarios"/>
          <p:cNvGrpSpPr/>
          <p:nvPr/>
        </p:nvGrpSpPr>
        <p:grpSpPr>
          <a:xfrm>
            <a:off x="7772400" y="721995"/>
            <a:ext cx="4191000" cy="3573780"/>
            <a:chOff x="7772400" y="721995"/>
            <a:chExt cx="4191000" cy="3573780"/>
          </a:xfrm>
        </p:grpSpPr>
        <p:sp>
          <p:nvSpPr>
            <p:cNvPr id="117" name="TextBox 117"/>
            <p:cNvSpPr txBox="1"/>
            <p:nvPr/>
          </p:nvSpPr>
          <p:spPr>
            <a:xfrm>
              <a:off x="7824788" y="721995"/>
              <a:ext cx="2675001" cy="176212"/>
            </a:xfrm>
            <a:prstGeom prst="rect">
              <a:avLst/>
            </a:prstGeom>
            <a:noFill/>
            <a:ln>
              <a:noFill/>
            </a:ln>
          </p:spPr>
          <p:txBody>
            <a:bodyPr wrap="none" lIns="0" tIns="0" rIns="0" bIns="0" anchor="t" anchorCtr="0">
              <a:spAutoFit/>
            </a:bodyPr>
            <a:lstStyle/>
            <a:p>
              <a:pPr algn="l"/>
              <a:r>
                <a:rPr lang="zh-CN" sz="900" b="1" dirty="0">
                  <a:solidFill>
                    <a:srgbClr val="42140B"/>
                  </a:solidFill>
                  <a:latin typeface="+mn-lt"/>
                  <a:ea typeface="+mn-ea"/>
                  <a:cs typeface="+mn-cs"/>
                </a:rPr>
                <a:t>不同角色的场景化应用</a:t>
              </a:r>
              <a:r>
                <a:rPr lang="zh-CN" sz="600" dirty="0">
                  <a:solidFill>
                    <a:srgbClr val="66705F"/>
                  </a:solidFill>
                  <a:latin typeface="+mn-lt"/>
                  <a:ea typeface="+mn-ea"/>
                  <a:cs typeface="+mn-cs"/>
                </a:rPr>
                <a:t>（在需要的时刻提供正确的知识与能力）</a:t>
              </a:r>
            </a:p>
          </p:txBody>
        </p:sp>
        <p:sp>
          <p:nvSpPr>
            <p:cNvPr id="118" name="Rectangle 118"/>
            <p:cNvSpPr/>
            <p:nvPr/>
          </p:nvSpPr>
          <p:spPr>
            <a:xfrm>
              <a:off x="7772400" y="933450"/>
              <a:ext cx="4191000" cy="209550"/>
            </a:xfrm>
            <a:prstGeom prst="rect">
              <a:avLst/>
            </a:prstGeom>
            <a:solidFill>
              <a:srgbClr val="E7F2D8"/>
            </a:solidFill>
            <a:ln>
              <a:noFill/>
            </a:ln>
          </p:spPr>
        </p:sp>
        <p:sp>
          <p:nvSpPr>
            <p:cNvPr id="119" name="TextBox 119"/>
            <p:cNvSpPr txBox="1"/>
            <p:nvPr/>
          </p:nvSpPr>
          <p:spPr>
            <a:xfrm>
              <a:off x="8262607" y="999411"/>
              <a:ext cx="200685"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角色</a:t>
              </a:r>
            </a:p>
          </p:txBody>
        </p:sp>
        <p:sp>
          <p:nvSpPr>
            <p:cNvPr id="120" name="TextBox 120"/>
            <p:cNvSpPr txBox="1"/>
            <p:nvPr/>
          </p:nvSpPr>
          <p:spPr>
            <a:xfrm>
              <a:off x="9975786" y="999411"/>
              <a:ext cx="965327"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关键时刻的知识与行动</a:t>
              </a:r>
            </a:p>
          </p:txBody>
        </p:sp>
        <p:grpSp>
          <p:nvGrpSpPr>
            <p:cNvPr id="159" name="rs-rows"/>
            <p:cNvGrpSpPr/>
            <p:nvPr/>
          </p:nvGrpSpPr>
          <p:grpSpPr>
            <a:xfrm>
              <a:off x="7772400" y="1143000"/>
              <a:ext cx="4191000" cy="3143250"/>
              <a:chOff x="7772400" y="1143000"/>
              <a:chExt cx="4191000" cy="3143250"/>
            </a:xfrm>
          </p:grpSpPr>
          <p:sp>
            <p:nvSpPr>
              <p:cNvPr id="121" name="Rectangle 121"/>
              <p:cNvSpPr/>
              <p:nvPr/>
            </p:nvSpPr>
            <p:spPr>
              <a:xfrm>
                <a:off x="7772400" y="1143000"/>
                <a:ext cx="4191000" cy="628650"/>
              </a:xfrm>
              <a:prstGeom prst="rect">
                <a:avLst/>
              </a:prstGeom>
              <a:solidFill>
                <a:srgbClr val="FFFFFF"/>
              </a:solidFill>
              <a:ln>
                <a:noFill/>
              </a:ln>
            </p:spPr>
          </p:sp>
          <p:grpSp>
            <p:nvGrpSpPr>
              <p:cNvPr id="125" name="Group 125"/>
              <p:cNvGrpSpPr/>
              <p:nvPr/>
            </p:nvGrpSpPr>
            <p:grpSpPr>
              <a:xfrm>
                <a:off x="7977188" y="1378744"/>
                <a:ext cx="130969" cy="157163"/>
                <a:chOff x="7977188" y="1378744"/>
                <a:chExt cx="130969" cy="157163"/>
              </a:xfrm>
            </p:grpSpPr>
            <p:sp>
              <p:nvSpPr>
                <p:cNvPr id="122" name="Freeform 122"/>
                <p:cNvSpPr/>
                <p:nvPr/>
              </p:nvSpPr>
              <p:spPr>
                <a:xfrm>
                  <a:off x="7994650" y="13787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7C3B2F"/>
                  </a:solidFill>
                </a:ln>
              </p:spPr>
            </p:sp>
            <p:sp>
              <p:nvSpPr>
                <p:cNvPr id="123" name="Freeform 123"/>
                <p:cNvSpPr/>
                <p:nvPr/>
              </p:nvSpPr>
              <p:spPr>
                <a:xfrm>
                  <a:off x="7977188" y="148351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7C3B2F"/>
                  </a:solidFill>
                </a:ln>
              </p:spPr>
            </p:sp>
            <p:sp>
              <p:nvSpPr>
                <p:cNvPr id="124" name="Freeform 124"/>
                <p:cNvSpPr/>
                <p:nvPr/>
              </p:nvSpPr>
              <p:spPr>
                <a:xfrm>
                  <a:off x="8055769" y="1500981"/>
                  <a:ext cx="52388" cy="34925"/>
                </a:xfrm>
                <a:custGeom>
                  <a:avLst/>
                  <a:gdLst/>
                  <a:ahLst/>
                  <a:cxnLst/>
                  <a:rect l="l" t="t" r="r" b="b"/>
                  <a:pathLst>
                    <a:path w="52388" h="34925">
                      <a:moveTo>
                        <a:pt x="0" y="17463"/>
                      </a:moveTo>
                      <a:lnTo>
                        <a:pt x="17463" y="34925"/>
                      </a:lnTo>
                      <a:lnTo>
                        <a:pt x="52388" y="0"/>
                      </a:lnTo>
                    </a:path>
                  </a:pathLst>
                </a:custGeom>
                <a:noFill/>
                <a:ln w="17463">
                  <a:solidFill>
                    <a:srgbClr val="7C3B2F"/>
                  </a:solidFill>
                </a:ln>
              </p:spPr>
            </p:sp>
          </p:grpSp>
          <p:sp>
            <p:nvSpPr>
              <p:cNvPr id="126" name="TextBox 126"/>
              <p:cNvSpPr txBox="1"/>
              <p:nvPr/>
            </p:nvSpPr>
            <p:spPr>
              <a:xfrm>
                <a:off x="8243888" y="1415891"/>
                <a:ext cx="340690"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新员工</a:t>
                </a:r>
              </a:p>
            </p:txBody>
          </p:sp>
          <p:sp>
            <p:nvSpPr>
              <p:cNvPr id="127" name="TextBox 127"/>
              <p:cNvSpPr txBox="1"/>
              <p:nvPr/>
            </p:nvSpPr>
            <p:spPr>
              <a:xfrm>
                <a:off x="9043988" y="1340882"/>
                <a:ext cx="861136"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入职指引与制度查询</a:t>
                </a:r>
              </a:p>
            </p:txBody>
          </p:sp>
          <p:sp>
            <p:nvSpPr>
              <p:cNvPr id="128" name="TextBox 128"/>
              <p:cNvSpPr txBox="1"/>
              <p:nvPr/>
            </p:nvSpPr>
            <p:spPr>
              <a:xfrm>
                <a:off x="9043988" y="1531382"/>
                <a:ext cx="861136"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团队与流程快速了解</a:t>
                </a:r>
              </a:p>
            </p:txBody>
          </p:sp>
          <p:sp>
            <p:nvSpPr>
              <p:cNvPr id="129" name="Rectangle 129"/>
              <p:cNvSpPr/>
              <p:nvPr/>
            </p:nvSpPr>
            <p:spPr>
              <a:xfrm>
                <a:off x="7772400" y="1771650"/>
                <a:ext cx="4191000" cy="628650"/>
              </a:xfrm>
              <a:prstGeom prst="rect">
                <a:avLst/>
              </a:prstGeom>
              <a:solidFill>
                <a:srgbClr val="F4F8EC"/>
              </a:solidFill>
              <a:ln>
                <a:noFill/>
              </a:ln>
            </p:spPr>
          </p:sp>
          <p:sp>
            <p:nvSpPr>
              <p:cNvPr id="130" name="Freeform 130"/>
              <p:cNvSpPr/>
              <p:nvPr/>
            </p:nvSpPr>
            <p:spPr>
              <a:xfrm>
                <a:off x="7942053" y="2009358"/>
                <a:ext cx="174311" cy="154517"/>
              </a:xfrm>
              <a:custGeom>
                <a:avLst/>
                <a:gdLst/>
                <a:ahLst/>
                <a:cxnLst/>
                <a:rect l="l" t="t" r="r" b="b"/>
                <a:pathLst>
                  <a:path w="174311" h="154517">
                    <a:moveTo>
                      <a:pt x="8941" y="146467"/>
                    </a:moveTo>
                    <a:lnTo>
                      <a:pt x="20291" y="112415"/>
                    </a:lnTo>
                    <a:cubicBezTo>
                      <a:pt x="0" y="82406"/>
                      <a:pt x="7841" y="43682"/>
                      <a:pt x="38627" y="21837"/>
                    </a:cubicBezTo>
                    <a:cubicBezTo>
                      <a:pt x="69413" y="0"/>
                      <a:pt x="113629" y="1790"/>
                      <a:pt x="142049" y="26028"/>
                    </a:cubicBezTo>
                    <a:cubicBezTo>
                      <a:pt x="170469" y="50275"/>
                      <a:pt x="174311" y="89469"/>
                      <a:pt x="151033" y="117715"/>
                    </a:cubicBezTo>
                    <a:cubicBezTo>
                      <a:pt x="127756" y="145960"/>
                      <a:pt x="84545" y="154517"/>
                      <a:pt x="49978" y="137736"/>
                    </a:cubicBezTo>
                    <a:lnTo>
                      <a:pt x="8941" y="146467"/>
                    </a:lnTo>
                  </a:path>
                </a:pathLst>
              </a:custGeom>
              <a:noFill/>
              <a:ln w="17463">
                <a:solidFill>
                  <a:srgbClr val="7C3B2F"/>
                </a:solidFill>
              </a:ln>
            </p:spPr>
          </p:sp>
          <p:sp>
            <p:nvSpPr>
              <p:cNvPr id="131" name="TextBox 131"/>
              <p:cNvSpPr txBox="1"/>
              <p:nvPr/>
            </p:nvSpPr>
            <p:spPr>
              <a:xfrm>
                <a:off x="8243888" y="2044541"/>
                <a:ext cx="230302"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客服</a:t>
                </a:r>
              </a:p>
            </p:txBody>
          </p:sp>
          <p:sp>
            <p:nvSpPr>
              <p:cNvPr id="132" name="TextBox 132"/>
              <p:cNvSpPr txBox="1"/>
              <p:nvPr/>
            </p:nvSpPr>
            <p:spPr>
              <a:xfrm>
                <a:off x="9043988" y="1969532"/>
                <a:ext cx="774979"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实时检索解决方案</a:t>
                </a:r>
              </a:p>
            </p:txBody>
          </p:sp>
          <p:sp>
            <p:nvSpPr>
              <p:cNvPr id="133" name="TextBox 133"/>
              <p:cNvSpPr txBox="1"/>
              <p:nvPr/>
            </p:nvSpPr>
            <p:spPr>
              <a:xfrm>
                <a:off x="9043988" y="2160032"/>
                <a:ext cx="1033450"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一键生成回复与话术建议</a:t>
                </a:r>
              </a:p>
            </p:txBody>
          </p:sp>
          <p:sp>
            <p:nvSpPr>
              <p:cNvPr id="134" name="Rectangle 134"/>
              <p:cNvSpPr/>
              <p:nvPr/>
            </p:nvSpPr>
            <p:spPr>
              <a:xfrm>
                <a:off x="7772400" y="2400300"/>
                <a:ext cx="4191000" cy="628650"/>
              </a:xfrm>
              <a:prstGeom prst="rect">
                <a:avLst/>
              </a:prstGeom>
              <a:solidFill>
                <a:srgbClr val="FFFFFF"/>
              </a:solidFill>
              <a:ln>
                <a:noFill/>
              </a:ln>
            </p:spPr>
          </p:sp>
          <p:grpSp>
            <p:nvGrpSpPr>
              <p:cNvPr id="137" name="Group 137"/>
              <p:cNvGrpSpPr/>
              <p:nvPr/>
            </p:nvGrpSpPr>
            <p:grpSpPr>
              <a:xfrm>
                <a:off x="7950994" y="2670969"/>
                <a:ext cx="157163" cy="87313"/>
                <a:chOff x="7950994" y="2670969"/>
                <a:chExt cx="157163" cy="87313"/>
              </a:xfrm>
            </p:grpSpPr>
            <p:sp>
              <p:nvSpPr>
                <p:cNvPr id="135" name="Freeform 135"/>
                <p:cNvSpPr/>
                <p:nvPr/>
              </p:nvSpPr>
              <p:spPr>
                <a:xfrm>
                  <a:off x="7950994" y="267096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7C3B2F"/>
                  </a:solidFill>
                </a:ln>
              </p:spPr>
            </p:sp>
            <p:sp>
              <p:nvSpPr>
                <p:cNvPr id="136" name="Freeform 136"/>
                <p:cNvSpPr/>
                <p:nvPr/>
              </p:nvSpPr>
              <p:spPr>
                <a:xfrm>
                  <a:off x="8047038" y="2670969"/>
                  <a:ext cx="61119" cy="61119"/>
                </a:xfrm>
                <a:custGeom>
                  <a:avLst/>
                  <a:gdLst/>
                  <a:ahLst/>
                  <a:cxnLst/>
                  <a:rect l="l" t="t" r="r" b="b"/>
                  <a:pathLst>
                    <a:path w="61119" h="61119">
                      <a:moveTo>
                        <a:pt x="0" y="0"/>
                      </a:moveTo>
                      <a:lnTo>
                        <a:pt x="61119" y="0"/>
                      </a:lnTo>
                      <a:lnTo>
                        <a:pt x="61119" y="61119"/>
                      </a:lnTo>
                    </a:path>
                  </a:pathLst>
                </a:custGeom>
                <a:noFill/>
                <a:ln w="17463">
                  <a:solidFill>
                    <a:srgbClr val="7C3B2F"/>
                  </a:solidFill>
                </a:ln>
              </p:spPr>
            </p:sp>
          </p:grpSp>
          <p:sp>
            <p:nvSpPr>
              <p:cNvPr id="138" name="TextBox 138"/>
              <p:cNvSpPr txBox="1"/>
              <p:nvPr/>
            </p:nvSpPr>
            <p:spPr>
              <a:xfrm>
                <a:off x="8243888" y="2673191"/>
                <a:ext cx="230302"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销售</a:t>
                </a:r>
              </a:p>
            </p:txBody>
          </p:sp>
          <p:sp>
            <p:nvSpPr>
              <p:cNvPr id="139" name="TextBox 139"/>
              <p:cNvSpPr txBox="1"/>
              <p:nvPr/>
            </p:nvSpPr>
            <p:spPr>
              <a:xfrm>
                <a:off x="9043988" y="2598182"/>
                <a:ext cx="861136"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客户信息与方案检索</a:t>
                </a:r>
              </a:p>
            </p:txBody>
          </p:sp>
          <p:sp>
            <p:nvSpPr>
              <p:cNvPr id="140" name="TextBox 140"/>
              <p:cNvSpPr txBox="1"/>
              <p:nvPr/>
            </p:nvSpPr>
            <p:spPr>
              <a:xfrm>
                <a:off x="9043988" y="2788682"/>
                <a:ext cx="1042065"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报价/方案/投标材料生成</a:t>
                </a:r>
              </a:p>
            </p:txBody>
          </p:sp>
          <p:sp>
            <p:nvSpPr>
              <p:cNvPr id="141" name="Rectangle 141"/>
              <p:cNvSpPr/>
              <p:nvPr/>
            </p:nvSpPr>
            <p:spPr>
              <a:xfrm>
                <a:off x="7772400" y="3028950"/>
                <a:ext cx="4191000" cy="628650"/>
              </a:xfrm>
              <a:prstGeom prst="rect">
                <a:avLst/>
              </a:prstGeom>
              <a:solidFill>
                <a:srgbClr val="F4F8EC"/>
              </a:solidFill>
              <a:ln>
                <a:noFill/>
              </a:ln>
            </p:spPr>
          </p:sp>
          <p:grpSp>
            <p:nvGrpSpPr>
              <p:cNvPr id="144" name="Group 144"/>
              <p:cNvGrpSpPr/>
              <p:nvPr/>
            </p:nvGrpSpPr>
            <p:grpSpPr>
              <a:xfrm>
                <a:off x="7947161" y="3260861"/>
                <a:ext cx="164829" cy="164829"/>
                <a:chOff x="7947161" y="3260861"/>
                <a:chExt cx="164829" cy="164829"/>
              </a:xfrm>
            </p:grpSpPr>
            <p:sp>
              <p:nvSpPr>
                <p:cNvPr id="142" name="Freeform 142"/>
                <p:cNvSpPr/>
                <p:nvPr/>
              </p:nvSpPr>
              <p:spPr>
                <a:xfrm>
                  <a:off x="7947161" y="326086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7C3B2F"/>
                  </a:solidFill>
                </a:ln>
              </p:spPr>
            </p:sp>
            <p:sp>
              <p:nvSpPr>
                <p:cNvPr id="143" name="Freeform 143"/>
                <p:cNvSpPr/>
                <p:nvPr/>
              </p:nvSpPr>
              <p:spPr>
                <a:xfrm>
                  <a:off x="8003381" y="331708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7C3B2F"/>
                  </a:solidFill>
                </a:ln>
              </p:spPr>
            </p:sp>
          </p:grpSp>
          <p:sp>
            <p:nvSpPr>
              <p:cNvPr id="145" name="TextBox 145"/>
              <p:cNvSpPr txBox="1"/>
              <p:nvPr/>
            </p:nvSpPr>
            <p:spPr>
              <a:xfrm>
                <a:off x="8243888" y="3301841"/>
                <a:ext cx="230302"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研发</a:t>
                </a:r>
              </a:p>
            </p:txBody>
          </p:sp>
          <p:sp>
            <p:nvSpPr>
              <p:cNvPr id="146" name="TextBox 146"/>
              <p:cNvSpPr txBox="1"/>
              <p:nvPr/>
            </p:nvSpPr>
            <p:spPr>
              <a:xfrm>
                <a:off x="9043988" y="3226832"/>
                <a:ext cx="861136"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技术方案检索与问答</a:t>
                </a:r>
              </a:p>
            </p:txBody>
          </p:sp>
          <p:sp>
            <p:nvSpPr>
              <p:cNvPr id="147" name="TextBox 147"/>
              <p:cNvSpPr txBox="1"/>
              <p:nvPr/>
            </p:nvSpPr>
            <p:spPr>
              <a:xfrm>
                <a:off x="9043988" y="3417332"/>
                <a:ext cx="1042065"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代码/文档/接口快速生成</a:t>
                </a:r>
              </a:p>
            </p:txBody>
          </p:sp>
          <p:sp>
            <p:nvSpPr>
              <p:cNvPr id="148" name="Rectangle 148"/>
              <p:cNvSpPr/>
              <p:nvPr/>
            </p:nvSpPr>
            <p:spPr>
              <a:xfrm>
                <a:off x="7772400" y="3657600"/>
                <a:ext cx="4191000" cy="628650"/>
              </a:xfrm>
              <a:prstGeom prst="rect">
                <a:avLst/>
              </a:prstGeom>
              <a:solidFill>
                <a:srgbClr val="FFFFFF"/>
              </a:solidFill>
              <a:ln>
                <a:noFill/>
              </a:ln>
            </p:spPr>
          </p:sp>
          <p:grpSp>
            <p:nvGrpSpPr>
              <p:cNvPr id="155" name="Group 155"/>
              <p:cNvGrpSpPr/>
              <p:nvPr/>
            </p:nvGrpSpPr>
            <p:grpSpPr>
              <a:xfrm>
                <a:off x="7950994" y="3893344"/>
                <a:ext cx="157162" cy="157163"/>
                <a:chOff x="7950994" y="3893344"/>
                <a:chExt cx="157162" cy="157163"/>
              </a:xfrm>
            </p:grpSpPr>
            <p:sp>
              <p:nvSpPr>
                <p:cNvPr id="149" name="Freeform 149"/>
                <p:cNvSpPr/>
                <p:nvPr/>
              </p:nvSpPr>
              <p:spPr>
                <a:xfrm>
                  <a:off x="8012113" y="39631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C3B2F"/>
                  </a:solidFill>
                </a:ln>
              </p:spPr>
            </p:sp>
            <p:sp>
              <p:nvSpPr>
                <p:cNvPr id="150" name="Freeform 150"/>
                <p:cNvSpPr/>
                <p:nvPr/>
              </p:nvSpPr>
              <p:spPr>
                <a:xfrm>
                  <a:off x="7994650" y="402431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7C3B2F"/>
                  </a:solidFill>
                </a:ln>
              </p:spPr>
            </p:sp>
            <p:sp>
              <p:nvSpPr>
                <p:cNvPr id="151" name="Freeform 151"/>
                <p:cNvSpPr/>
                <p:nvPr/>
              </p:nvSpPr>
              <p:spPr>
                <a:xfrm>
                  <a:off x="8055769" y="38933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C3B2F"/>
                  </a:solidFill>
                </a:ln>
              </p:spPr>
            </p:sp>
            <p:sp>
              <p:nvSpPr>
                <p:cNvPr id="152" name="Freeform 152"/>
                <p:cNvSpPr/>
                <p:nvPr/>
              </p:nvSpPr>
              <p:spPr>
                <a:xfrm>
                  <a:off x="8073231" y="395446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7C3B2F"/>
                  </a:solidFill>
                </a:ln>
              </p:spPr>
            </p:sp>
            <p:sp>
              <p:nvSpPr>
                <p:cNvPr id="153" name="Freeform 153"/>
                <p:cNvSpPr/>
                <p:nvPr/>
              </p:nvSpPr>
              <p:spPr>
                <a:xfrm>
                  <a:off x="7968456" y="38933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C3B2F"/>
                  </a:solidFill>
                </a:ln>
              </p:spPr>
            </p:sp>
            <p:sp>
              <p:nvSpPr>
                <p:cNvPr id="154" name="Freeform 154"/>
                <p:cNvSpPr/>
                <p:nvPr/>
              </p:nvSpPr>
              <p:spPr>
                <a:xfrm>
                  <a:off x="7950994" y="395446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7C3B2F"/>
                  </a:solidFill>
                </a:ln>
              </p:spPr>
            </p:sp>
          </p:grpSp>
          <p:sp>
            <p:nvSpPr>
              <p:cNvPr id="156" name="TextBox 156"/>
              <p:cNvSpPr txBox="1"/>
              <p:nvPr/>
            </p:nvSpPr>
            <p:spPr>
              <a:xfrm>
                <a:off x="8243888" y="3930491"/>
                <a:ext cx="340690"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管理者</a:t>
                </a:r>
              </a:p>
            </p:txBody>
          </p:sp>
          <p:sp>
            <p:nvSpPr>
              <p:cNvPr id="157" name="TextBox 157"/>
              <p:cNvSpPr txBox="1"/>
              <p:nvPr/>
            </p:nvSpPr>
            <p:spPr>
              <a:xfrm>
                <a:off x="9043988" y="3855482"/>
                <a:ext cx="861136"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数据洞察与报告生成</a:t>
                </a:r>
              </a:p>
            </p:txBody>
          </p:sp>
          <p:sp>
            <p:nvSpPr>
              <p:cNvPr id="158" name="TextBox 158"/>
              <p:cNvSpPr txBox="1"/>
              <p:nvPr/>
            </p:nvSpPr>
            <p:spPr>
              <a:xfrm>
                <a:off x="9043988" y="4045982"/>
                <a:ext cx="861136" cy="126206"/>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40" dirty="0">
                    <a:solidFill>
                      <a:srgbClr val="3A4238"/>
                    </a:solidFill>
                    <a:latin typeface="+mn-lt"/>
                    <a:ea typeface="+mn-ea"/>
                    <a:cs typeface="+mn-cs"/>
                  </a:rPr>
                  <a:t>决策支持与风险预警</a:t>
                </a:r>
              </a:p>
            </p:txBody>
          </p:sp>
        </p:grpSp>
        <p:sp>
          <p:nvSpPr>
            <p:cNvPr id="160" name="Line 160"/>
            <p:cNvSpPr/>
            <p:nvPr/>
          </p:nvSpPr>
          <p:spPr>
            <a:xfrm>
              <a:off x="8953500" y="933450"/>
              <a:ext cx="9525" cy="3352800"/>
            </a:xfrm>
            <a:custGeom>
              <a:avLst/>
              <a:gdLst/>
              <a:ahLst/>
              <a:cxnLst/>
              <a:rect l="l" t="t" r="r" b="b"/>
              <a:pathLst>
                <a:path w="9525" h="3352800">
                  <a:moveTo>
                    <a:pt x="0" y="0"/>
                  </a:moveTo>
                  <a:lnTo>
                    <a:pt x="0" y="3352800"/>
                  </a:lnTo>
                </a:path>
              </a:pathLst>
            </a:custGeom>
            <a:noFill/>
            <a:ln w="9525">
              <a:solidFill>
                <a:srgbClr val="D9E8C6"/>
              </a:solidFill>
            </a:ln>
          </p:spPr>
        </p:sp>
        <p:sp>
          <p:nvSpPr>
            <p:cNvPr id="161" name="Line 161"/>
            <p:cNvSpPr/>
            <p:nvPr/>
          </p:nvSpPr>
          <p:spPr>
            <a:xfrm>
              <a:off x="7772400" y="4286250"/>
              <a:ext cx="4191000" cy="9525"/>
            </a:xfrm>
            <a:custGeom>
              <a:avLst/>
              <a:gdLst/>
              <a:ahLst/>
              <a:cxnLst/>
              <a:rect l="l" t="t" r="r" b="b"/>
              <a:pathLst>
                <a:path w="4191000" h="9525">
                  <a:moveTo>
                    <a:pt x="0" y="0"/>
                  </a:moveTo>
                  <a:lnTo>
                    <a:pt x="4191000" y="0"/>
                  </a:lnTo>
                </a:path>
              </a:pathLst>
            </a:custGeom>
            <a:noFill/>
            <a:ln w="9525">
              <a:solidFill>
                <a:srgbClr val="D9E8C6"/>
              </a:solidFill>
            </a:ln>
          </p:spPr>
        </p:sp>
      </p:grpSp>
      <p:grpSp>
        <p:nvGrpSpPr>
          <p:cNvPr id="220" name="adoption-levers"/>
          <p:cNvGrpSpPr/>
          <p:nvPr/>
        </p:nvGrpSpPr>
        <p:grpSpPr>
          <a:xfrm>
            <a:off x="228600" y="4533900"/>
            <a:ext cx="6096000" cy="1695450"/>
            <a:chOff x="228600" y="4533900"/>
            <a:chExt cx="6096000" cy="1695450"/>
          </a:xfrm>
        </p:grpSpPr>
        <p:sp>
          <p:nvSpPr>
            <p:cNvPr id="163" name="Rectangle 163"/>
            <p:cNvSpPr/>
            <p:nvPr/>
          </p:nvSpPr>
          <p:spPr>
            <a:xfrm>
              <a:off x="228600" y="4533900"/>
              <a:ext cx="6096000" cy="1695450"/>
            </a:xfrm>
            <a:prstGeom prst="roundRect">
              <a:avLst>
                <a:gd name="adj" fmla="val 5618"/>
              </a:avLst>
            </a:prstGeom>
            <a:solidFill>
              <a:srgbClr val="F4F8EC"/>
            </a:solidFill>
            <a:ln w="9525">
              <a:solidFill>
                <a:srgbClr val="D9E8C6"/>
              </a:solidFill>
            </a:ln>
          </p:spPr>
        </p:sp>
        <p:sp>
          <p:nvSpPr>
            <p:cNvPr id="164" name="TextBox 164"/>
            <p:cNvSpPr txBox="1"/>
            <p:nvPr/>
          </p:nvSpPr>
          <p:spPr>
            <a:xfrm>
              <a:off x="2726626" y="4627245"/>
              <a:ext cx="1099947" cy="176212"/>
            </a:xfrm>
            <a:prstGeom prst="rect">
              <a:avLst/>
            </a:prstGeom>
            <a:noFill/>
            <a:ln>
              <a:noFill/>
            </a:ln>
          </p:spPr>
          <p:txBody>
            <a:bodyPr wrap="none" lIns="0" tIns="0" rIns="0" bIns="0" anchor="t" anchorCtr="0">
              <a:spAutoFit/>
            </a:bodyPr>
            <a:lstStyle/>
            <a:p>
              <a:pPr algn="ctr"/>
              <a:r>
                <a:rPr lang="zh-CN" sz="900" b="1" dirty="0">
                  <a:solidFill>
                    <a:srgbClr val="42140B"/>
                  </a:solidFill>
                  <a:latin typeface="+mn-lt"/>
                  <a:ea typeface="+mn-ea"/>
                  <a:cs typeface="+mn-cs"/>
                </a:rPr>
                <a:t>推动采用的关键杠杆</a:t>
              </a:r>
            </a:p>
          </p:txBody>
        </p:sp>
        <p:grpSp>
          <p:nvGrpSpPr>
            <p:cNvPr id="171" name="lever-1"/>
            <p:cNvGrpSpPr/>
            <p:nvPr/>
          </p:nvGrpSpPr>
          <p:grpSpPr>
            <a:xfrm>
              <a:off x="285750" y="4819650"/>
              <a:ext cx="952500" cy="1333500"/>
              <a:chOff x="285750" y="4819650"/>
              <a:chExt cx="952500" cy="1333500"/>
            </a:xfrm>
          </p:grpSpPr>
          <p:sp>
            <p:nvSpPr>
              <p:cNvPr id="165" name="Rectangle 165"/>
              <p:cNvSpPr/>
              <p:nvPr/>
            </p:nvSpPr>
            <p:spPr>
              <a:xfrm>
                <a:off x="285750" y="4819650"/>
                <a:ext cx="952500" cy="1333500"/>
              </a:xfrm>
              <a:prstGeom prst="roundRect">
                <a:avLst>
                  <a:gd name="adj" fmla="val 8000"/>
                </a:avLst>
              </a:prstGeom>
              <a:solidFill>
                <a:srgbClr val="FFFFFF"/>
              </a:solidFill>
              <a:ln w="9525">
                <a:solidFill>
                  <a:srgbClr val="D9E8C6"/>
                </a:solidFill>
              </a:ln>
            </p:spPr>
          </p:sp>
          <p:sp>
            <p:nvSpPr>
              <p:cNvPr id="166" name="Ellipse 166"/>
              <p:cNvSpPr/>
              <p:nvPr/>
            </p:nvSpPr>
            <p:spPr>
              <a:xfrm>
                <a:off x="590550" y="4933950"/>
                <a:ext cx="342900" cy="342900"/>
              </a:xfrm>
              <a:prstGeom prst="ellipse">
                <a:avLst/>
              </a:prstGeom>
              <a:solidFill>
                <a:srgbClr val="F4F8EC"/>
              </a:solidFill>
              <a:ln w="9525">
                <a:solidFill>
                  <a:srgbClr val="BE776A"/>
                </a:solidFill>
              </a:ln>
            </p:spPr>
          </p:sp>
          <p:sp>
            <p:nvSpPr>
              <p:cNvPr id="167" name="Freeform 167"/>
              <p:cNvSpPr/>
              <p:nvPr/>
            </p:nvSpPr>
            <p:spPr>
              <a:xfrm>
                <a:off x="690562" y="5057775"/>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7C3B2F"/>
                </a:solidFill>
              </a:ln>
            </p:spPr>
          </p:sp>
          <p:sp>
            <p:nvSpPr>
              <p:cNvPr id="168" name="TextBox 168"/>
              <p:cNvSpPr txBox="1"/>
              <p:nvPr/>
            </p:nvSpPr>
            <p:spPr>
              <a:xfrm>
                <a:off x="555308" y="5386388"/>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领导示范</a:t>
                </a:r>
              </a:p>
            </p:txBody>
          </p:sp>
          <p:sp>
            <p:nvSpPr>
              <p:cNvPr id="169" name="TextBox 169"/>
              <p:cNvSpPr txBox="1"/>
              <p:nvPr/>
            </p:nvSpPr>
            <p:spPr>
              <a:xfrm>
                <a:off x="357188" y="56542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亲自使用与分享</a:t>
                </a:r>
              </a:p>
            </p:txBody>
          </p:sp>
          <p:sp>
            <p:nvSpPr>
              <p:cNvPr id="170" name="TextBox 170"/>
              <p:cNvSpPr txBox="1"/>
              <p:nvPr/>
            </p:nvSpPr>
            <p:spPr>
              <a:xfrm>
                <a:off x="357188" y="58257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设定明确期望</a:t>
                </a:r>
              </a:p>
            </p:txBody>
          </p:sp>
        </p:grpSp>
        <p:grpSp>
          <p:nvGrpSpPr>
            <p:cNvPr id="184" name="lever-2"/>
            <p:cNvGrpSpPr/>
            <p:nvPr/>
          </p:nvGrpSpPr>
          <p:grpSpPr>
            <a:xfrm>
              <a:off x="1295400" y="4819650"/>
              <a:ext cx="952500" cy="1333500"/>
              <a:chOff x="1295400" y="4819650"/>
              <a:chExt cx="952500" cy="1333500"/>
            </a:xfrm>
          </p:grpSpPr>
          <p:sp>
            <p:nvSpPr>
              <p:cNvPr id="172" name="Rectangle 172"/>
              <p:cNvSpPr/>
              <p:nvPr/>
            </p:nvSpPr>
            <p:spPr>
              <a:xfrm>
                <a:off x="1295400" y="4819650"/>
                <a:ext cx="952500" cy="1333500"/>
              </a:xfrm>
              <a:prstGeom prst="roundRect">
                <a:avLst>
                  <a:gd name="adj" fmla="val 8000"/>
                </a:avLst>
              </a:prstGeom>
              <a:solidFill>
                <a:srgbClr val="FFFFFF"/>
              </a:solidFill>
              <a:ln w="9525">
                <a:solidFill>
                  <a:srgbClr val="D9E8C6"/>
                </a:solidFill>
              </a:ln>
            </p:spPr>
          </p:sp>
          <p:sp>
            <p:nvSpPr>
              <p:cNvPr id="173" name="Ellipse 173"/>
              <p:cNvSpPr/>
              <p:nvPr/>
            </p:nvSpPr>
            <p:spPr>
              <a:xfrm>
                <a:off x="1600200" y="4933950"/>
                <a:ext cx="342900" cy="342900"/>
              </a:xfrm>
              <a:prstGeom prst="ellipse">
                <a:avLst/>
              </a:prstGeom>
              <a:solidFill>
                <a:srgbClr val="F4F8EC"/>
              </a:solidFill>
              <a:ln w="9525">
                <a:solidFill>
                  <a:srgbClr val="BE776A"/>
                </a:solidFill>
              </a:ln>
            </p:spPr>
          </p:sp>
          <p:grpSp>
            <p:nvGrpSpPr>
              <p:cNvPr id="180" name="Group 180"/>
              <p:cNvGrpSpPr/>
              <p:nvPr/>
            </p:nvGrpSpPr>
            <p:grpSpPr>
              <a:xfrm>
                <a:off x="1700212" y="5033962"/>
                <a:ext cx="142875" cy="142875"/>
                <a:chOff x="1700212" y="5033962"/>
                <a:chExt cx="142875" cy="142875"/>
              </a:xfrm>
            </p:grpSpPr>
            <p:sp>
              <p:nvSpPr>
                <p:cNvPr id="174" name="Freeform 174"/>
                <p:cNvSpPr/>
                <p:nvPr/>
              </p:nvSpPr>
              <p:spPr>
                <a:xfrm>
                  <a:off x="1755775" y="50974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C3B2F"/>
                  </a:solidFill>
                </a:ln>
              </p:spPr>
            </p:sp>
            <p:sp>
              <p:nvSpPr>
                <p:cNvPr id="175" name="Freeform 175"/>
                <p:cNvSpPr/>
                <p:nvPr/>
              </p:nvSpPr>
              <p:spPr>
                <a:xfrm>
                  <a:off x="1739900" y="51530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7C3B2F"/>
                  </a:solidFill>
                </a:ln>
              </p:spPr>
            </p:sp>
            <p:sp>
              <p:nvSpPr>
                <p:cNvPr id="176" name="Freeform 176"/>
                <p:cNvSpPr/>
                <p:nvPr/>
              </p:nvSpPr>
              <p:spPr>
                <a:xfrm>
                  <a:off x="1795462" y="50339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C3B2F"/>
                  </a:solidFill>
                </a:ln>
              </p:spPr>
            </p:sp>
            <p:sp>
              <p:nvSpPr>
                <p:cNvPr id="177" name="Freeform 177"/>
                <p:cNvSpPr/>
                <p:nvPr/>
              </p:nvSpPr>
              <p:spPr>
                <a:xfrm>
                  <a:off x="1811337" y="50895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7C3B2F"/>
                  </a:solidFill>
                </a:ln>
              </p:spPr>
            </p:sp>
            <p:sp>
              <p:nvSpPr>
                <p:cNvPr id="178" name="Freeform 178"/>
                <p:cNvSpPr/>
                <p:nvPr/>
              </p:nvSpPr>
              <p:spPr>
                <a:xfrm>
                  <a:off x="1716087" y="50339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C3B2F"/>
                  </a:solidFill>
                </a:ln>
              </p:spPr>
            </p:sp>
            <p:sp>
              <p:nvSpPr>
                <p:cNvPr id="179" name="Freeform 179"/>
                <p:cNvSpPr/>
                <p:nvPr/>
              </p:nvSpPr>
              <p:spPr>
                <a:xfrm>
                  <a:off x="1700212" y="50895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7C3B2F"/>
                  </a:solidFill>
                </a:ln>
              </p:spPr>
            </p:sp>
          </p:grpSp>
          <p:sp>
            <p:nvSpPr>
              <p:cNvPr id="181" name="TextBox 181"/>
              <p:cNvSpPr txBox="1"/>
              <p:nvPr/>
            </p:nvSpPr>
            <p:spPr>
              <a:xfrm>
                <a:off x="1564958" y="5386388"/>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超级用户</a:t>
                </a:r>
              </a:p>
            </p:txBody>
          </p:sp>
          <p:sp>
            <p:nvSpPr>
              <p:cNvPr id="182" name="TextBox 182"/>
              <p:cNvSpPr txBox="1"/>
              <p:nvPr/>
            </p:nvSpPr>
            <p:spPr>
              <a:xfrm>
                <a:off x="1366838" y="56542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贴身支持与答疑</a:t>
                </a:r>
              </a:p>
            </p:txBody>
          </p:sp>
          <p:sp>
            <p:nvSpPr>
              <p:cNvPr id="183" name="TextBox 183"/>
              <p:cNvSpPr txBox="1"/>
              <p:nvPr/>
            </p:nvSpPr>
            <p:spPr>
              <a:xfrm>
                <a:off x="1366838" y="58257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扩散最佳实践</a:t>
                </a:r>
              </a:p>
            </p:txBody>
          </p:sp>
        </p:grpSp>
        <p:grpSp>
          <p:nvGrpSpPr>
            <p:cNvPr id="193" name="lever-3"/>
            <p:cNvGrpSpPr/>
            <p:nvPr/>
          </p:nvGrpSpPr>
          <p:grpSpPr>
            <a:xfrm>
              <a:off x="2305050" y="4819650"/>
              <a:ext cx="952500" cy="1333500"/>
              <a:chOff x="2305050" y="4819650"/>
              <a:chExt cx="952500" cy="1333500"/>
            </a:xfrm>
          </p:grpSpPr>
          <p:sp>
            <p:nvSpPr>
              <p:cNvPr id="185" name="Rectangle 185"/>
              <p:cNvSpPr/>
              <p:nvPr/>
            </p:nvSpPr>
            <p:spPr>
              <a:xfrm>
                <a:off x="2305050" y="4819650"/>
                <a:ext cx="952500" cy="1333500"/>
              </a:xfrm>
              <a:prstGeom prst="roundRect">
                <a:avLst>
                  <a:gd name="adj" fmla="val 8000"/>
                </a:avLst>
              </a:prstGeom>
              <a:solidFill>
                <a:srgbClr val="FFFFFF"/>
              </a:solidFill>
              <a:ln w="9525">
                <a:solidFill>
                  <a:srgbClr val="D9E8C6"/>
                </a:solidFill>
              </a:ln>
            </p:spPr>
          </p:sp>
          <p:sp>
            <p:nvSpPr>
              <p:cNvPr id="186" name="Ellipse 186"/>
              <p:cNvSpPr/>
              <p:nvPr/>
            </p:nvSpPr>
            <p:spPr>
              <a:xfrm>
                <a:off x="2609850" y="4933950"/>
                <a:ext cx="342900" cy="342900"/>
              </a:xfrm>
              <a:prstGeom prst="ellipse">
                <a:avLst/>
              </a:prstGeom>
              <a:solidFill>
                <a:srgbClr val="F4F8EC"/>
              </a:solidFill>
              <a:ln w="9525">
                <a:solidFill>
                  <a:srgbClr val="BE776A"/>
                </a:solidFill>
              </a:ln>
            </p:spPr>
          </p:sp>
          <p:grpSp>
            <p:nvGrpSpPr>
              <p:cNvPr id="189" name="Group 189"/>
              <p:cNvGrpSpPr/>
              <p:nvPr/>
            </p:nvGrpSpPr>
            <p:grpSpPr>
              <a:xfrm>
                <a:off x="2701925" y="5049837"/>
                <a:ext cx="158750" cy="111125"/>
                <a:chOff x="2701925" y="5049837"/>
                <a:chExt cx="158750" cy="111125"/>
              </a:xfrm>
            </p:grpSpPr>
            <p:sp>
              <p:nvSpPr>
                <p:cNvPr id="187" name="Freeform 187"/>
                <p:cNvSpPr/>
                <p:nvPr/>
              </p:nvSpPr>
              <p:spPr>
                <a:xfrm>
                  <a:off x="2701925" y="5049837"/>
                  <a:ext cx="158750" cy="79375"/>
                </a:xfrm>
                <a:custGeom>
                  <a:avLst/>
                  <a:gdLst/>
                  <a:ahLst/>
                  <a:cxnLst/>
                  <a:rect l="l" t="t" r="r" b="b"/>
                  <a:pathLst>
                    <a:path w="158750" h="79375">
                      <a:moveTo>
                        <a:pt x="158750" y="31750"/>
                      </a:moveTo>
                      <a:lnTo>
                        <a:pt x="79375" y="0"/>
                      </a:lnTo>
                      <a:lnTo>
                        <a:pt x="0" y="31750"/>
                      </a:lnTo>
                      <a:lnTo>
                        <a:pt x="79375" y="63500"/>
                      </a:lnTo>
                      <a:lnTo>
                        <a:pt x="158750" y="31750"/>
                      </a:lnTo>
                      <a:lnTo>
                        <a:pt x="158750" y="79375"/>
                      </a:lnTo>
                    </a:path>
                  </a:pathLst>
                </a:custGeom>
                <a:noFill/>
                <a:ln w="15875">
                  <a:solidFill>
                    <a:srgbClr val="7C3B2F"/>
                  </a:solidFill>
                </a:ln>
              </p:spPr>
            </p:sp>
            <p:sp>
              <p:nvSpPr>
                <p:cNvPr id="188" name="Freeform 188"/>
                <p:cNvSpPr/>
                <p:nvPr/>
              </p:nvSpPr>
              <p:spPr>
                <a:xfrm>
                  <a:off x="2733675" y="5094287"/>
                  <a:ext cx="95250" cy="66675"/>
                </a:xfrm>
                <a:custGeom>
                  <a:avLst/>
                  <a:gdLst/>
                  <a:ahLst/>
                  <a:cxnLst/>
                  <a:rect l="l" t="t" r="r" b="b"/>
                  <a:pathLst>
                    <a:path w="95250" h="66675">
                      <a:moveTo>
                        <a:pt x="0" y="0"/>
                      </a:moveTo>
                      <a:lnTo>
                        <a:pt x="0" y="42862"/>
                      </a:lnTo>
                      <a:cubicBezTo>
                        <a:pt x="0" y="56014"/>
                        <a:pt x="21322" y="66675"/>
                        <a:pt x="47625" y="66675"/>
                      </a:cubicBezTo>
                      <a:cubicBezTo>
                        <a:pt x="73928" y="66675"/>
                        <a:pt x="95250" y="56014"/>
                        <a:pt x="95250" y="42862"/>
                      </a:cubicBezTo>
                      <a:lnTo>
                        <a:pt x="95250" y="0"/>
                      </a:lnTo>
                    </a:path>
                  </a:pathLst>
                </a:custGeom>
                <a:noFill/>
                <a:ln w="15875">
                  <a:solidFill>
                    <a:srgbClr val="7C3B2F"/>
                  </a:solidFill>
                </a:ln>
              </p:spPr>
            </p:sp>
          </p:grpSp>
          <p:sp>
            <p:nvSpPr>
              <p:cNvPr id="190" name="TextBox 190"/>
              <p:cNvSpPr txBox="1"/>
              <p:nvPr/>
            </p:nvSpPr>
            <p:spPr>
              <a:xfrm>
                <a:off x="2524125" y="5386388"/>
                <a:ext cx="514350"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场景化培训</a:t>
                </a:r>
              </a:p>
            </p:txBody>
          </p:sp>
          <p:sp>
            <p:nvSpPr>
              <p:cNvPr id="191" name="TextBox 191"/>
              <p:cNvSpPr txBox="1"/>
              <p:nvPr/>
            </p:nvSpPr>
            <p:spPr>
              <a:xfrm>
                <a:off x="2376488" y="56542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小而精的场景课</a:t>
                </a:r>
              </a:p>
            </p:txBody>
          </p:sp>
          <p:sp>
            <p:nvSpPr>
              <p:cNvPr id="192" name="TextBox 192"/>
              <p:cNvSpPr txBox="1"/>
              <p:nvPr/>
            </p:nvSpPr>
            <p:spPr>
              <a:xfrm>
                <a:off x="2376488" y="58257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带练与任务驱动</a:t>
                </a:r>
              </a:p>
            </p:txBody>
          </p:sp>
        </p:grpSp>
        <p:grpSp>
          <p:nvGrpSpPr>
            <p:cNvPr id="203" name="lever-4"/>
            <p:cNvGrpSpPr/>
            <p:nvPr/>
          </p:nvGrpSpPr>
          <p:grpSpPr>
            <a:xfrm>
              <a:off x="3314700" y="4819650"/>
              <a:ext cx="952500" cy="1333500"/>
              <a:chOff x="3314700" y="4819650"/>
              <a:chExt cx="952500" cy="1333500"/>
            </a:xfrm>
          </p:grpSpPr>
          <p:sp>
            <p:nvSpPr>
              <p:cNvPr id="194" name="Rectangle 194"/>
              <p:cNvSpPr/>
              <p:nvPr/>
            </p:nvSpPr>
            <p:spPr>
              <a:xfrm>
                <a:off x="3314700" y="4819650"/>
                <a:ext cx="952500" cy="1333500"/>
              </a:xfrm>
              <a:prstGeom prst="roundRect">
                <a:avLst>
                  <a:gd name="adj" fmla="val 8000"/>
                </a:avLst>
              </a:prstGeom>
              <a:solidFill>
                <a:srgbClr val="FFFFFF"/>
              </a:solidFill>
              <a:ln w="9525">
                <a:solidFill>
                  <a:srgbClr val="D9E8C6"/>
                </a:solidFill>
              </a:ln>
            </p:spPr>
          </p:sp>
          <p:sp>
            <p:nvSpPr>
              <p:cNvPr id="195" name="Ellipse 195"/>
              <p:cNvSpPr/>
              <p:nvPr/>
            </p:nvSpPr>
            <p:spPr>
              <a:xfrm>
                <a:off x="3619500" y="4933950"/>
                <a:ext cx="342900" cy="342900"/>
              </a:xfrm>
              <a:prstGeom prst="ellipse">
                <a:avLst/>
              </a:prstGeom>
              <a:solidFill>
                <a:srgbClr val="F4F8EC"/>
              </a:solidFill>
              <a:ln w="9525">
                <a:solidFill>
                  <a:srgbClr val="BE776A"/>
                </a:solidFill>
              </a:ln>
            </p:spPr>
          </p:sp>
          <p:grpSp>
            <p:nvGrpSpPr>
              <p:cNvPr id="199" name="Group 199"/>
              <p:cNvGrpSpPr/>
              <p:nvPr/>
            </p:nvGrpSpPr>
            <p:grpSpPr>
              <a:xfrm>
                <a:off x="3722703" y="5033962"/>
                <a:ext cx="136478" cy="142002"/>
                <a:chOff x="3722703" y="5033962"/>
                <a:chExt cx="136478" cy="142002"/>
              </a:xfrm>
            </p:grpSpPr>
            <p:sp>
              <p:nvSpPr>
                <p:cNvPr id="196" name="Freeform 196"/>
                <p:cNvSpPr/>
                <p:nvPr/>
              </p:nvSpPr>
              <p:spPr>
                <a:xfrm>
                  <a:off x="3743325" y="5033962"/>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7C3B2F"/>
                  </a:solidFill>
                </a:ln>
              </p:spPr>
            </p:sp>
            <p:sp>
              <p:nvSpPr>
                <p:cNvPr id="197" name="Freeform 197"/>
                <p:cNvSpPr/>
                <p:nvPr/>
              </p:nvSpPr>
              <p:spPr>
                <a:xfrm>
                  <a:off x="3790950" y="5105400"/>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7C3B2F"/>
                  </a:solidFill>
                </a:ln>
              </p:spPr>
            </p:sp>
            <p:sp>
              <p:nvSpPr>
                <p:cNvPr id="198" name="Freeform 198"/>
                <p:cNvSpPr/>
                <p:nvPr/>
              </p:nvSpPr>
              <p:spPr>
                <a:xfrm>
                  <a:off x="3722703" y="5105400"/>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7C3B2F"/>
                  </a:solidFill>
                </a:ln>
              </p:spPr>
            </p:sp>
          </p:grpSp>
          <p:sp>
            <p:nvSpPr>
              <p:cNvPr id="200" name="TextBox 200"/>
              <p:cNvSpPr txBox="1"/>
              <p:nvPr/>
            </p:nvSpPr>
            <p:spPr>
              <a:xfrm>
                <a:off x="3584258" y="5386388"/>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激励机制</a:t>
                </a:r>
              </a:p>
            </p:txBody>
          </p:sp>
          <p:sp>
            <p:nvSpPr>
              <p:cNvPr id="201" name="TextBox 201"/>
              <p:cNvSpPr txBox="1"/>
              <p:nvPr/>
            </p:nvSpPr>
            <p:spPr>
              <a:xfrm>
                <a:off x="3386138" y="56542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使用与贡献激励</a:t>
                </a:r>
              </a:p>
            </p:txBody>
          </p:sp>
          <p:sp>
            <p:nvSpPr>
              <p:cNvPr id="202" name="TextBox 202"/>
              <p:cNvSpPr txBox="1"/>
              <p:nvPr/>
            </p:nvSpPr>
            <p:spPr>
              <a:xfrm>
                <a:off x="3386138" y="58257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认可与荣誉体系</a:t>
                </a:r>
              </a:p>
            </p:txBody>
          </p:sp>
        </p:grpSp>
        <p:grpSp>
          <p:nvGrpSpPr>
            <p:cNvPr id="212" name="lever-5"/>
            <p:cNvGrpSpPr/>
            <p:nvPr/>
          </p:nvGrpSpPr>
          <p:grpSpPr>
            <a:xfrm>
              <a:off x="4324350" y="4819650"/>
              <a:ext cx="952500" cy="1333500"/>
              <a:chOff x="4324350" y="4819650"/>
              <a:chExt cx="952500" cy="1333500"/>
            </a:xfrm>
          </p:grpSpPr>
          <p:sp>
            <p:nvSpPr>
              <p:cNvPr id="204" name="Rectangle 204"/>
              <p:cNvSpPr/>
              <p:nvPr/>
            </p:nvSpPr>
            <p:spPr>
              <a:xfrm>
                <a:off x="4324350" y="4819650"/>
                <a:ext cx="952500" cy="1333500"/>
              </a:xfrm>
              <a:prstGeom prst="roundRect">
                <a:avLst>
                  <a:gd name="adj" fmla="val 8000"/>
                </a:avLst>
              </a:prstGeom>
              <a:solidFill>
                <a:srgbClr val="FFFFFF"/>
              </a:solidFill>
              <a:ln w="9525">
                <a:solidFill>
                  <a:srgbClr val="D9E8C6"/>
                </a:solidFill>
              </a:ln>
            </p:spPr>
          </p:sp>
          <p:sp>
            <p:nvSpPr>
              <p:cNvPr id="205" name="Ellipse 205"/>
              <p:cNvSpPr/>
              <p:nvPr/>
            </p:nvSpPr>
            <p:spPr>
              <a:xfrm>
                <a:off x="4629150" y="4933950"/>
                <a:ext cx="342900" cy="342900"/>
              </a:xfrm>
              <a:prstGeom prst="ellipse">
                <a:avLst/>
              </a:prstGeom>
              <a:solidFill>
                <a:srgbClr val="F4F8EC"/>
              </a:solidFill>
              <a:ln w="9525">
                <a:solidFill>
                  <a:srgbClr val="BE776A"/>
                </a:solidFill>
              </a:ln>
            </p:spPr>
          </p:sp>
          <p:grpSp>
            <p:nvGrpSpPr>
              <p:cNvPr id="208" name="Group 208"/>
              <p:cNvGrpSpPr/>
              <p:nvPr/>
            </p:nvGrpSpPr>
            <p:grpSpPr>
              <a:xfrm>
                <a:off x="4737100" y="5038837"/>
                <a:ext cx="127000" cy="133125"/>
                <a:chOff x="4737100" y="5038837"/>
                <a:chExt cx="127000" cy="133125"/>
              </a:xfrm>
            </p:grpSpPr>
            <p:sp>
              <p:nvSpPr>
                <p:cNvPr id="206" name="Freeform 206"/>
                <p:cNvSpPr/>
                <p:nvPr/>
              </p:nvSpPr>
              <p:spPr>
                <a:xfrm>
                  <a:off x="4737100" y="503883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7C3B2F"/>
                  </a:solidFill>
                </a:ln>
              </p:spPr>
            </p:sp>
            <p:sp>
              <p:nvSpPr>
                <p:cNvPr id="207" name="Freeform 207"/>
                <p:cNvSpPr/>
                <p:nvPr/>
              </p:nvSpPr>
              <p:spPr>
                <a:xfrm>
                  <a:off x="4737100" y="511333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7C3B2F"/>
                  </a:solidFill>
                </a:ln>
              </p:spPr>
            </p:sp>
          </p:grpSp>
          <p:sp>
            <p:nvSpPr>
              <p:cNvPr id="209" name="TextBox 209"/>
              <p:cNvSpPr txBox="1"/>
              <p:nvPr/>
            </p:nvSpPr>
            <p:spPr>
              <a:xfrm>
                <a:off x="4593908" y="5386388"/>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反馈闭环</a:t>
                </a:r>
              </a:p>
            </p:txBody>
          </p:sp>
          <p:sp>
            <p:nvSpPr>
              <p:cNvPr id="210" name="TextBox 210"/>
              <p:cNvSpPr txBox="1"/>
              <p:nvPr/>
            </p:nvSpPr>
            <p:spPr>
              <a:xfrm>
                <a:off x="4395788" y="56542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快速采纳与迭代</a:t>
                </a:r>
              </a:p>
            </p:txBody>
          </p:sp>
          <p:sp>
            <p:nvSpPr>
              <p:cNvPr id="211" name="TextBox 211"/>
              <p:cNvSpPr txBox="1"/>
              <p:nvPr/>
            </p:nvSpPr>
            <p:spPr>
              <a:xfrm>
                <a:off x="4395788" y="58257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让反馈者看见</a:t>
                </a:r>
              </a:p>
            </p:txBody>
          </p:sp>
        </p:grpSp>
        <p:grpSp>
          <p:nvGrpSpPr>
            <p:cNvPr id="219" name="lever-6"/>
            <p:cNvGrpSpPr/>
            <p:nvPr/>
          </p:nvGrpSpPr>
          <p:grpSpPr>
            <a:xfrm>
              <a:off x="5334000" y="4819650"/>
              <a:ext cx="952500" cy="1333500"/>
              <a:chOff x="5334000" y="4819650"/>
              <a:chExt cx="952500" cy="1333500"/>
            </a:xfrm>
          </p:grpSpPr>
          <p:sp>
            <p:nvSpPr>
              <p:cNvPr id="213" name="Rectangle 213"/>
              <p:cNvSpPr/>
              <p:nvPr/>
            </p:nvSpPr>
            <p:spPr>
              <a:xfrm>
                <a:off x="5334000" y="4819650"/>
                <a:ext cx="952500" cy="1333500"/>
              </a:xfrm>
              <a:prstGeom prst="roundRect">
                <a:avLst>
                  <a:gd name="adj" fmla="val 8000"/>
                </a:avLst>
              </a:prstGeom>
              <a:solidFill>
                <a:srgbClr val="FFFFFF"/>
              </a:solidFill>
              <a:ln w="9525">
                <a:solidFill>
                  <a:srgbClr val="D9E8C6"/>
                </a:solidFill>
              </a:ln>
            </p:spPr>
          </p:sp>
          <p:sp>
            <p:nvSpPr>
              <p:cNvPr id="214" name="Ellipse 214"/>
              <p:cNvSpPr/>
              <p:nvPr/>
            </p:nvSpPr>
            <p:spPr>
              <a:xfrm>
                <a:off x="5638800" y="4933950"/>
                <a:ext cx="342900" cy="342900"/>
              </a:xfrm>
              <a:prstGeom prst="ellipse">
                <a:avLst/>
              </a:prstGeom>
              <a:solidFill>
                <a:srgbClr val="F4F8EC"/>
              </a:solidFill>
              <a:ln w="9525">
                <a:solidFill>
                  <a:srgbClr val="BE776A"/>
                </a:solidFill>
              </a:ln>
            </p:spPr>
          </p:sp>
          <p:sp>
            <p:nvSpPr>
              <p:cNvPr id="215" name="Freeform 215"/>
              <p:cNvSpPr/>
              <p:nvPr/>
            </p:nvSpPr>
            <p:spPr>
              <a:xfrm>
                <a:off x="5730684" y="503574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7C3B2F"/>
                </a:solidFill>
              </a:ln>
            </p:spPr>
          </p:sp>
          <p:sp>
            <p:nvSpPr>
              <p:cNvPr id="216" name="TextBox 216"/>
              <p:cNvSpPr txBox="1"/>
              <p:nvPr/>
            </p:nvSpPr>
            <p:spPr>
              <a:xfrm>
                <a:off x="5603558" y="5386388"/>
                <a:ext cx="413385" cy="147638"/>
              </a:xfrm>
              <a:prstGeom prst="rect">
                <a:avLst/>
              </a:prstGeom>
              <a:noFill/>
              <a:ln>
                <a:noFill/>
              </a:ln>
            </p:spPr>
            <p:txBody>
              <a:bodyPr wrap="none" lIns="0" tIns="0" rIns="0" bIns="0" anchor="t" anchorCtr="0">
                <a:spAutoFit/>
              </a:bodyPr>
              <a:lstStyle/>
              <a:p>
                <a:pPr algn="ctr"/>
                <a:r>
                  <a:rPr lang="zh-CN" sz="750" b="1" dirty="0">
                    <a:solidFill>
                      <a:srgbClr val="42140B"/>
                    </a:solidFill>
                    <a:latin typeface="+mn-lt"/>
                    <a:ea typeface="+mn-ea"/>
                    <a:cs typeface="+mn-cs"/>
                  </a:rPr>
                  <a:t>透明沟通</a:t>
                </a:r>
              </a:p>
            </p:txBody>
          </p:sp>
          <p:sp>
            <p:nvSpPr>
              <p:cNvPr id="217" name="TextBox 217"/>
              <p:cNvSpPr txBox="1"/>
              <p:nvPr/>
            </p:nvSpPr>
            <p:spPr>
              <a:xfrm>
                <a:off x="5405438" y="565427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进展与价值可视化</a:t>
                </a:r>
              </a:p>
            </p:txBody>
          </p:sp>
          <p:sp>
            <p:nvSpPr>
              <p:cNvPr id="218" name="TextBox 218"/>
              <p:cNvSpPr txBox="1"/>
              <p:nvPr/>
            </p:nvSpPr>
            <p:spPr>
              <a:xfrm>
                <a:off x="5405438" y="582572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双向沟通持续进行</a:t>
                </a:r>
              </a:p>
            </p:txBody>
          </p:sp>
        </p:grpSp>
      </p:grpSp>
      <p:grpSp>
        <p:nvGrpSpPr>
          <p:cNvPr id="265" name="adoption-metrics"/>
          <p:cNvGrpSpPr/>
          <p:nvPr/>
        </p:nvGrpSpPr>
        <p:grpSpPr>
          <a:xfrm>
            <a:off x="6438900" y="4533900"/>
            <a:ext cx="5524500" cy="1695450"/>
            <a:chOff x="6438900" y="4533900"/>
            <a:chExt cx="5524500" cy="1695450"/>
          </a:xfrm>
        </p:grpSpPr>
        <p:sp>
          <p:nvSpPr>
            <p:cNvPr id="221" name="Rectangle 221"/>
            <p:cNvSpPr/>
            <p:nvPr/>
          </p:nvSpPr>
          <p:spPr>
            <a:xfrm>
              <a:off x="6438900" y="4533900"/>
              <a:ext cx="5524500" cy="1695450"/>
            </a:xfrm>
            <a:prstGeom prst="roundRect">
              <a:avLst>
                <a:gd name="adj" fmla="val 5618"/>
              </a:avLst>
            </a:prstGeom>
            <a:solidFill>
              <a:srgbClr val="FFFFFF"/>
            </a:solidFill>
            <a:ln w="9525">
              <a:solidFill>
                <a:srgbClr val="D9E8C6"/>
              </a:solidFill>
            </a:ln>
          </p:spPr>
        </p:sp>
        <p:sp>
          <p:nvSpPr>
            <p:cNvPr id="222" name="TextBox 222"/>
            <p:cNvSpPr txBox="1"/>
            <p:nvPr/>
          </p:nvSpPr>
          <p:spPr>
            <a:xfrm>
              <a:off x="8429054" y="4627245"/>
              <a:ext cx="1544193" cy="176212"/>
            </a:xfrm>
            <a:prstGeom prst="rect">
              <a:avLst/>
            </a:prstGeom>
            <a:noFill/>
            <a:ln>
              <a:noFill/>
            </a:ln>
          </p:spPr>
          <p:txBody>
            <a:bodyPr wrap="none" lIns="0" tIns="0" rIns="0" bIns="0" anchor="t" anchorCtr="0">
              <a:spAutoFit/>
            </a:bodyPr>
            <a:lstStyle/>
            <a:p>
              <a:pPr algn="ctr"/>
              <a:r>
                <a:rPr lang="zh-CN" sz="900" b="1" dirty="0">
                  <a:solidFill>
                    <a:srgbClr val="42140B"/>
                  </a:solidFill>
                  <a:latin typeface="+mn-lt"/>
                  <a:ea typeface="+mn-ea"/>
                  <a:cs typeface="+mn-cs"/>
                </a:rPr>
                <a:t>核心采用指标</a:t>
              </a:r>
              <a:r>
                <a:rPr lang="zh-CN" sz="600" dirty="0">
                  <a:solidFill>
                    <a:srgbClr val="66705F"/>
                  </a:solidFill>
                  <a:latin typeface="+mn-lt"/>
                  <a:ea typeface="+mn-ea"/>
                  <a:cs typeface="+mn-cs"/>
                </a:rPr>
                <a:t>（追踪结果而非活动）</a:t>
              </a:r>
            </a:p>
          </p:txBody>
        </p:sp>
        <p:grpSp>
          <p:nvGrpSpPr>
            <p:cNvPr id="233" name="metric-1"/>
            <p:cNvGrpSpPr/>
            <p:nvPr/>
          </p:nvGrpSpPr>
          <p:grpSpPr>
            <a:xfrm>
              <a:off x="6496050" y="4819650"/>
              <a:ext cx="990600" cy="1333500"/>
              <a:chOff x="6496050" y="4819650"/>
              <a:chExt cx="990600" cy="1333500"/>
            </a:xfrm>
          </p:grpSpPr>
          <p:sp>
            <p:nvSpPr>
              <p:cNvPr id="223" name="Rectangle 223"/>
              <p:cNvSpPr/>
              <p:nvPr/>
            </p:nvSpPr>
            <p:spPr>
              <a:xfrm>
                <a:off x="6496050" y="4819650"/>
                <a:ext cx="990600" cy="1333500"/>
              </a:xfrm>
              <a:prstGeom prst="roundRect">
                <a:avLst>
                  <a:gd name="adj" fmla="val 7692"/>
                </a:avLst>
              </a:prstGeom>
              <a:solidFill>
                <a:srgbClr val="F4F8EC"/>
              </a:solidFill>
              <a:ln w="9525">
                <a:solidFill>
                  <a:srgbClr val="D9E8C6"/>
                </a:solidFill>
              </a:ln>
            </p:spPr>
          </p:sp>
          <p:sp>
            <p:nvSpPr>
              <p:cNvPr id="224" name="Ellipse 224"/>
              <p:cNvSpPr/>
              <p:nvPr/>
            </p:nvSpPr>
            <p:spPr>
              <a:xfrm>
                <a:off x="6781800" y="5086350"/>
                <a:ext cx="419100" cy="419100"/>
              </a:xfrm>
              <a:prstGeom prst="ellipse">
                <a:avLst/>
              </a:prstGeom>
              <a:solidFill>
                <a:srgbClr val="FFFFFF"/>
              </a:solidFill>
              <a:ln w="14288">
                <a:solidFill>
                  <a:srgbClr val="BE776A"/>
                </a:solidFill>
              </a:ln>
            </p:spPr>
          </p:sp>
          <p:grpSp>
            <p:nvGrpSpPr>
              <p:cNvPr id="231" name="Group 231"/>
              <p:cNvGrpSpPr/>
              <p:nvPr/>
            </p:nvGrpSpPr>
            <p:grpSpPr>
              <a:xfrm>
                <a:off x="6905625" y="5210175"/>
                <a:ext cx="171450" cy="171450"/>
                <a:chOff x="6905625" y="5210175"/>
                <a:chExt cx="171450" cy="171450"/>
              </a:xfrm>
            </p:grpSpPr>
            <p:sp>
              <p:nvSpPr>
                <p:cNvPr id="225" name="Freeform 225"/>
                <p:cNvSpPr/>
                <p:nvPr/>
              </p:nvSpPr>
              <p:spPr>
                <a:xfrm>
                  <a:off x="6972300" y="5286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C3B2F"/>
                  </a:solidFill>
                </a:ln>
              </p:spPr>
            </p:sp>
            <p:sp>
              <p:nvSpPr>
                <p:cNvPr id="226" name="Freeform 226"/>
                <p:cNvSpPr/>
                <p:nvPr/>
              </p:nvSpPr>
              <p:spPr>
                <a:xfrm>
                  <a:off x="6953250" y="53530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7C3B2F"/>
                  </a:solidFill>
                </a:ln>
              </p:spPr>
            </p:sp>
            <p:sp>
              <p:nvSpPr>
                <p:cNvPr id="227" name="Freeform 227"/>
                <p:cNvSpPr/>
                <p:nvPr/>
              </p:nvSpPr>
              <p:spPr>
                <a:xfrm>
                  <a:off x="7019925" y="52101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C3B2F"/>
                  </a:solidFill>
                </a:ln>
              </p:spPr>
            </p:sp>
            <p:sp>
              <p:nvSpPr>
                <p:cNvPr id="228" name="Freeform 228"/>
                <p:cNvSpPr/>
                <p:nvPr/>
              </p:nvSpPr>
              <p:spPr>
                <a:xfrm>
                  <a:off x="7038975" y="52768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7C3B2F"/>
                  </a:solidFill>
                </a:ln>
              </p:spPr>
            </p:sp>
            <p:sp>
              <p:nvSpPr>
                <p:cNvPr id="229" name="Freeform 229"/>
                <p:cNvSpPr/>
                <p:nvPr/>
              </p:nvSpPr>
              <p:spPr>
                <a:xfrm>
                  <a:off x="6924675" y="52101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C3B2F"/>
                  </a:solidFill>
                </a:ln>
              </p:spPr>
            </p:sp>
            <p:sp>
              <p:nvSpPr>
                <p:cNvPr id="230" name="Freeform 230"/>
                <p:cNvSpPr/>
                <p:nvPr/>
              </p:nvSpPr>
              <p:spPr>
                <a:xfrm>
                  <a:off x="6905625" y="52768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7C3B2F"/>
                  </a:solidFill>
                </a:ln>
              </p:spPr>
            </p:sp>
          </p:grpSp>
          <p:sp>
            <p:nvSpPr>
              <p:cNvPr id="232" name="TextBox 232"/>
              <p:cNvSpPr txBox="1"/>
              <p:nvPr/>
            </p:nvSpPr>
            <p:spPr>
              <a:xfrm>
                <a:off x="6720713" y="5706189"/>
                <a:ext cx="5412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活跃用户数</a:t>
                </a:r>
              </a:p>
            </p:txBody>
          </p:sp>
        </p:grpSp>
        <p:grpSp>
          <p:nvGrpSpPr>
            <p:cNvPr id="240" name="metric-2"/>
            <p:cNvGrpSpPr/>
            <p:nvPr/>
          </p:nvGrpSpPr>
          <p:grpSpPr>
            <a:xfrm>
              <a:off x="7562850" y="4819650"/>
              <a:ext cx="990600" cy="1333500"/>
              <a:chOff x="7562850" y="4819650"/>
              <a:chExt cx="990600" cy="1333500"/>
            </a:xfrm>
          </p:grpSpPr>
          <p:sp>
            <p:nvSpPr>
              <p:cNvPr id="234" name="Rectangle 234"/>
              <p:cNvSpPr/>
              <p:nvPr/>
            </p:nvSpPr>
            <p:spPr>
              <a:xfrm>
                <a:off x="7562850" y="4819650"/>
                <a:ext cx="990600" cy="1333500"/>
              </a:xfrm>
              <a:prstGeom prst="roundRect">
                <a:avLst>
                  <a:gd name="adj" fmla="val 7692"/>
                </a:avLst>
              </a:prstGeom>
              <a:solidFill>
                <a:srgbClr val="F4F8EC"/>
              </a:solidFill>
              <a:ln w="9525">
                <a:solidFill>
                  <a:srgbClr val="D9E8C6"/>
                </a:solidFill>
              </a:ln>
            </p:spPr>
          </p:sp>
          <p:sp>
            <p:nvSpPr>
              <p:cNvPr id="235" name="Ellipse 235"/>
              <p:cNvSpPr/>
              <p:nvPr/>
            </p:nvSpPr>
            <p:spPr>
              <a:xfrm>
                <a:off x="7848600" y="5086350"/>
                <a:ext cx="419100" cy="419100"/>
              </a:xfrm>
              <a:prstGeom prst="ellipse">
                <a:avLst/>
              </a:prstGeom>
              <a:solidFill>
                <a:srgbClr val="FFFFFF"/>
              </a:solidFill>
              <a:ln w="14288">
                <a:solidFill>
                  <a:srgbClr val="BE776A"/>
                </a:solidFill>
              </a:ln>
            </p:spPr>
          </p:sp>
          <p:grpSp>
            <p:nvGrpSpPr>
              <p:cNvPr id="238" name="Group 238"/>
              <p:cNvGrpSpPr/>
              <p:nvPr/>
            </p:nvGrpSpPr>
            <p:grpSpPr>
              <a:xfrm>
                <a:off x="7981950" y="5210175"/>
                <a:ext cx="152400" cy="171450"/>
                <a:chOff x="7981950" y="5210175"/>
                <a:chExt cx="152400" cy="171450"/>
              </a:xfrm>
            </p:grpSpPr>
            <p:sp>
              <p:nvSpPr>
                <p:cNvPr id="236" name="Freeform 236"/>
                <p:cNvSpPr/>
                <p:nvPr/>
              </p:nvSpPr>
              <p:spPr>
                <a:xfrm>
                  <a:off x="7981950" y="5210175"/>
                  <a:ext cx="152400" cy="85725"/>
                </a:xfrm>
                <a:custGeom>
                  <a:avLst/>
                  <a:gdLst/>
                  <a:ahLst/>
                  <a:cxnLst/>
                  <a:rect l="l" t="t" r="r" b="b"/>
                  <a:pathLst>
                    <a:path w="152400" h="85725">
                      <a:moveTo>
                        <a:pt x="0" y="85725"/>
                      </a:moveTo>
                      <a:lnTo>
                        <a:pt x="0" y="57150"/>
                      </a:lnTo>
                      <a:cubicBezTo>
                        <a:pt x="0" y="41368"/>
                        <a:pt x="12793" y="28575"/>
                        <a:pt x="28575" y="28575"/>
                      </a:cubicBezTo>
                      <a:lnTo>
                        <a:pt x="152400" y="28575"/>
                      </a:lnTo>
                      <a:moveTo>
                        <a:pt x="123825" y="0"/>
                      </a:moveTo>
                      <a:lnTo>
                        <a:pt x="152400" y="28575"/>
                      </a:lnTo>
                      <a:lnTo>
                        <a:pt x="123825" y="57150"/>
                      </a:lnTo>
                    </a:path>
                  </a:pathLst>
                </a:custGeom>
                <a:noFill/>
                <a:ln w="19050">
                  <a:solidFill>
                    <a:srgbClr val="7C3B2F"/>
                  </a:solidFill>
                </a:ln>
              </p:spPr>
            </p:sp>
            <p:sp>
              <p:nvSpPr>
                <p:cNvPr id="237" name="Freeform 237"/>
                <p:cNvSpPr/>
                <p:nvPr/>
              </p:nvSpPr>
              <p:spPr>
                <a:xfrm>
                  <a:off x="7981950" y="5295900"/>
                  <a:ext cx="152400" cy="85725"/>
                </a:xfrm>
                <a:custGeom>
                  <a:avLst/>
                  <a:gdLst/>
                  <a:ahLst/>
                  <a:cxnLst/>
                  <a:rect l="l" t="t" r="r" b="b"/>
                  <a:pathLst>
                    <a:path w="152400" h="85725">
                      <a:moveTo>
                        <a:pt x="152400" y="0"/>
                      </a:moveTo>
                      <a:lnTo>
                        <a:pt x="152400" y="28575"/>
                      </a:lnTo>
                      <a:cubicBezTo>
                        <a:pt x="152400" y="44357"/>
                        <a:pt x="139607" y="57150"/>
                        <a:pt x="123825" y="57150"/>
                      </a:cubicBezTo>
                      <a:lnTo>
                        <a:pt x="0" y="57150"/>
                      </a:lnTo>
                      <a:moveTo>
                        <a:pt x="28575" y="85725"/>
                      </a:moveTo>
                      <a:lnTo>
                        <a:pt x="0" y="57150"/>
                      </a:lnTo>
                      <a:lnTo>
                        <a:pt x="28575" y="28575"/>
                      </a:lnTo>
                    </a:path>
                  </a:pathLst>
                </a:custGeom>
                <a:noFill/>
                <a:ln w="19050">
                  <a:solidFill>
                    <a:srgbClr val="7C3B2F"/>
                  </a:solidFill>
                </a:ln>
              </p:spPr>
            </p:sp>
          </p:grpSp>
          <p:sp>
            <p:nvSpPr>
              <p:cNvPr id="239" name="TextBox 239"/>
              <p:cNvSpPr txBox="1"/>
              <p:nvPr/>
            </p:nvSpPr>
            <p:spPr>
              <a:xfrm>
                <a:off x="7787513" y="5706189"/>
                <a:ext cx="5412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重复使用率</a:t>
                </a:r>
              </a:p>
            </p:txBody>
          </p:sp>
        </p:grpSp>
        <p:grpSp>
          <p:nvGrpSpPr>
            <p:cNvPr id="249" name="metric-3"/>
            <p:cNvGrpSpPr/>
            <p:nvPr/>
          </p:nvGrpSpPr>
          <p:grpSpPr>
            <a:xfrm>
              <a:off x="8629650" y="4819650"/>
              <a:ext cx="990600" cy="1333500"/>
              <a:chOff x="8629650" y="4819650"/>
              <a:chExt cx="990600" cy="1333500"/>
            </a:xfrm>
          </p:grpSpPr>
          <p:sp>
            <p:nvSpPr>
              <p:cNvPr id="241" name="Rectangle 241"/>
              <p:cNvSpPr/>
              <p:nvPr/>
            </p:nvSpPr>
            <p:spPr>
              <a:xfrm>
                <a:off x="8629650" y="4819650"/>
                <a:ext cx="990600" cy="1333500"/>
              </a:xfrm>
              <a:prstGeom prst="roundRect">
                <a:avLst>
                  <a:gd name="adj" fmla="val 7692"/>
                </a:avLst>
              </a:prstGeom>
              <a:solidFill>
                <a:srgbClr val="F4F8EC"/>
              </a:solidFill>
              <a:ln w="9525">
                <a:solidFill>
                  <a:srgbClr val="D9E8C6"/>
                </a:solidFill>
              </a:ln>
            </p:spPr>
          </p:sp>
          <p:sp>
            <p:nvSpPr>
              <p:cNvPr id="242" name="Ellipse 242"/>
              <p:cNvSpPr/>
              <p:nvPr/>
            </p:nvSpPr>
            <p:spPr>
              <a:xfrm>
                <a:off x="8915400" y="5086350"/>
                <a:ext cx="419100" cy="419100"/>
              </a:xfrm>
              <a:prstGeom prst="ellipse">
                <a:avLst/>
              </a:prstGeom>
              <a:solidFill>
                <a:srgbClr val="FFFFFF"/>
              </a:solidFill>
              <a:ln w="14288">
                <a:solidFill>
                  <a:srgbClr val="BE776A"/>
                </a:solidFill>
              </a:ln>
            </p:spPr>
          </p:sp>
          <p:grpSp>
            <p:nvGrpSpPr>
              <p:cNvPr id="247" name="Group 247"/>
              <p:cNvGrpSpPr/>
              <p:nvPr/>
            </p:nvGrpSpPr>
            <p:grpSpPr>
              <a:xfrm>
                <a:off x="9058275" y="5219700"/>
                <a:ext cx="142875" cy="161925"/>
                <a:chOff x="9058275" y="5219700"/>
                <a:chExt cx="142875" cy="161925"/>
              </a:xfrm>
            </p:grpSpPr>
            <p:sp>
              <p:nvSpPr>
                <p:cNvPr id="243" name="Freeform 243"/>
                <p:cNvSpPr/>
                <p:nvPr/>
              </p:nvSpPr>
              <p:spPr>
                <a:xfrm>
                  <a:off x="9058275" y="521970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7C3B2F"/>
                  </a:solidFill>
                </a:ln>
              </p:spPr>
            </p:sp>
            <p:sp>
              <p:nvSpPr>
                <p:cNvPr id="244" name="Freeform 244"/>
                <p:cNvSpPr/>
                <p:nvPr/>
              </p:nvSpPr>
              <p:spPr>
                <a:xfrm>
                  <a:off x="9144000" y="5343525"/>
                  <a:ext cx="57150" cy="38100"/>
                </a:xfrm>
                <a:custGeom>
                  <a:avLst/>
                  <a:gdLst/>
                  <a:ahLst/>
                  <a:cxnLst/>
                  <a:rect l="l" t="t" r="r" b="b"/>
                  <a:pathLst>
                    <a:path w="57150" h="38100">
                      <a:moveTo>
                        <a:pt x="0" y="19050"/>
                      </a:moveTo>
                      <a:lnTo>
                        <a:pt x="19050" y="38100"/>
                      </a:lnTo>
                      <a:lnTo>
                        <a:pt x="57150" y="0"/>
                      </a:lnTo>
                    </a:path>
                  </a:pathLst>
                </a:custGeom>
                <a:noFill/>
                <a:ln w="19050">
                  <a:solidFill>
                    <a:srgbClr val="7C3B2F"/>
                  </a:solidFill>
                </a:ln>
              </p:spPr>
            </p:sp>
            <p:sp>
              <p:nvSpPr>
                <p:cNvPr id="245" name="Freeform 245"/>
                <p:cNvSpPr/>
                <p:nvPr/>
              </p:nvSpPr>
              <p:spPr>
                <a:xfrm>
                  <a:off x="9096375" y="5257800"/>
                  <a:ext cx="38100" cy="9525"/>
                </a:xfrm>
                <a:custGeom>
                  <a:avLst/>
                  <a:gdLst/>
                  <a:ahLst/>
                  <a:cxnLst/>
                  <a:rect l="l" t="t" r="r" b="b"/>
                  <a:pathLst>
                    <a:path w="38100" h="9525">
                      <a:moveTo>
                        <a:pt x="0" y="0"/>
                      </a:moveTo>
                      <a:lnTo>
                        <a:pt x="38100" y="0"/>
                      </a:lnTo>
                    </a:path>
                  </a:pathLst>
                </a:custGeom>
                <a:noFill/>
                <a:ln w="19050">
                  <a:solidFill>
                    <a:srgbClr val="7C3B2F"/>
                  </a:solidFill>
                </a:ln>
              </p:spPr>
            </p:sp>
            <p:sp>
              <p:nvSpPr>
                <p:cNvPr id="246" name="Freeform 246"/>
                <p:cNvSpPr/>
                <p:nvPr/>
              </p:nvSpPr>
              <p:spPr>
                <a:xfrm>
                  <a:off x="9096375" y="5295900"/>
                  <a:ext cx="19050" cy="9525"/>
                </a:xfrm>
                <a:custGeom>
                  <a:avLst/>
                  <a:gdLst/>
                  <a:ahLst/>
                  <a:cxnLst/>
                  <a:rect l="l" t="t" r="r" b="b"/>
                  <a:pathLst>
                    <a:path w="19050" h="9525">
                      <a:moveTo>
                        <a:pt x="0" y="0"/>
                      </a:moveTo>
                      <a:lnTo>
                        <a:pt x="19050" y="0"/>
                      </a:lnTo>
                    </a:path>
                  </a:pathLst>
                </a:custGeom>
                <a:noFill/>
                <a:ln w="19050">
                  <a:solidFill>
                    <a:srgbClr val="7C3B2F"/>
                  </a:solidFill>
                </a:ln>
              </p:spPr>
            </p:sp>
          </p:grpSp>
          <p:sp>
            <p:nvSpPr>
              <p:cNvPr id="248" name="TextBox 248"/>
              <p:cNvSpPr txBox="1"/>
              <p:nvPr/>
            </p:nvSpPr>
            <p:spPr>
              <a:xfrm>
                <a:off x="8854313" y="5706189"/>
                <a:ext cx="5412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任务完成率</a:t>
                </a:r>
              </a:p>
            </p:txBody>
          </p:sp>
        </p:grpSp>
        <p:grpSp>
          <p:nvGrpSpPr>
            <p:cNvPr id="256" name="metric-4"/>
            <p:cNvGrpSpPr/>
            <p:nvPr/>
          </p:nvGrpSpPr>
          <p:grpSpPr>
            <a:xfrm>
              <a:off x="9696450" y="4819650"/>
              <a:ext cx="990600" cy="1333500"/>
              <a:chOff x="9696450" y="4819650"/>
              <a:chExt cx="990600" cy="1333500"/>
            </a:xfrm>
          </p:grpSpPr>
          <p:sp>
            <p:nvSpPr>
              <p:cNvPr id="250" name="Rectangle 250"/>
              <p:cNvSpPr/>
              <p:nvPr/>
            </p:nvSpPr>
            <p:spPr>
              <a:xfrm>
                <a:off x="9696450" y="4819650"/>
                <a:ext cx="990600" cy="1333500"/>
              </a:xfrm>
              <a:prstGeom prst="roundRect">
                <a:avLst>
                  <a:gd name="adj" fmla="val 7692"/>
                </a:avLst>
              </a:prstGeom>
              <a:solidFill>
                <a:srgbClr val="F4F8EC"/>
              </a:solidFill>
              <a:ln w="9525">
                <a:solidFill>
                  <a:srgbClr val="D9E8C6"/>
                </a:solidFill>
              </a:ln>
            </p:spPr>
          </p:sp>
          <p:sp>
            <p:nvSpPr>
              <p:cNvPr id="251" name="Ellipse 251"/>
              <p:cNvSpPr/>
              <p:nvPr/>
            </p:nvSpPr>
            <p:spPr>
              <a:xfrm>
                <a:off x="9982200" y="5086350"/>
                <a:ext cx="419100" cy="419100"/>
              </a:xfrm>
              <a:prstGeom prst="ellipse">
                <a:avLst/>
              </a:prstGeom>
              <a:solidFill>
                <a:srgbClr val="FFFFFF"/>
              </a:solidFill>
              <a:ln w="14288">
                <a:solidFill>
                  <a:srgbClr val="BE776A"/>
                </a:solidFill>
              </a:ln>
            </p:spPr>
          </p:sp>
          <p:grpSp>
            <p:nvGrpSpPr>
              <p:cNvPr id="254" name="Group 254"/>
              <p:cNvGrpSpPr/>
              <p:nvPr/>
            </p:nvGrpSpPr>
            <p:grpSpPr>
              <a:xfrm>
                <a:off x="10106025" y="5210175"/>
                <a:ext cx="171450" cy="171450"/>
                <a:chOff x="10106025" y="5210175"/>
                <a:chExt cx="171450" cy="171450"/>
              </a:xfrm>
            </p:grpSpPr>
            <p:sp>
              <p:nvSpPr>
                <p:cNvPr id="252" name="Freeform 252"/>
                <p:cNvSpPr/>
                <p:nvPr/>
              </p:nvSpPr>
              <p:spPr>
                <a:xfrm>
                  <a:off x="10106025" y="52101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7C3B2F"/>
                  </a:solidFill>
                </a:ln>
              </p:spPr>
            </p:sp>
            <p:sp>
              <p:nvSpPr>
                <p:cNvPr id="253" name="Freeform 253"/>
                <p:cNvSpPr/>
                <p:nvPr/>
              </p:nvSpPr>
              <p:spPr>
                <a:xfrm>
                  <a:off x="10191750" y="5248275"/>
                  <a:ext cx="28575" cy="76200"/>
                </a:xfrm>
                <a:custGeom>
                  <a:avLst/>
                  <a:gdLst/>
                  <a:ahLst/>
                  <a:cxnLst/>
                  <a:rect l="l" t="t" r="r" b="b"/>
                  <a:pathLst>
                    <a:path w="28575" h="76200">
                      <a:moveTo>
                        <a:pt x="0" y="0"/>
                      </a:moveTo>
                      <a:lnTo>
                        <a:pt x="0" y="47625"/>
                      </a:lnTo>
                      <a:lnTo>
                        <a:pt x="28575" y="76200"/>
                      </a:lnTo>
                    </a:path>
                  </a:pathLst>
                </a:custGeom>
                <a:noFill/>
                <a:ln w="19050">
                  <a:solidFill>
                    <a:srgbClr val="7C3B2F"/>
                  </a:solidFill>
                </a:ln>
              </p:spPr>
            </p:sp>
          </p:grpSp>
          <p:sp>
            <p:nvSpPr>
              <p:cNvPr id="255" name="TextBox 255"/>
              <p:cNvSpPr txBox="1"/>
              <p:nvPr/>
            </p:nvSpPr>
            <p:spPr>
              <a:xfrm>
                <a:off x="9974288" y="5706189"/>
                <a:ext cx="43492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节省时间</a:t>
                </a:r>
              </a:p>
            </p:txBody>
          </p:sp>
        </p:grpSp>
        <p:grpSp>
          <p:nvGrpSpPr>
            <p:cNvPr id="264" name="metric-5"/>
            <p:cNvGrpSpPr/>
            <p:nvPr/>
          </p:nvGrpSpPr>
          <p:grpSpPr>
            <a:xfrm>
              <a:off x="10763250" y="4819650"/>
              <a:ext cx="990600" cy="1333500"/>
              <a:chOff x="10763250" y="4819650"/>
              <a:chExt cx="990600" cy="1333500"/>
            </a:xfrm>
          </p:grpSpPr>
          <p:sp>
            <p:nvSpPr>
              <p:cNvPr id="257" name="Rectangle 257"/>
              <p:cNvSpPr/>
              <p:nvPr/>
            </p:nvSpPr>
            <p:spPr>
              <a:xfrm>
                <a:off x="10763250" y="4819650"/>
                <a:ext cx="990600" cy="1333500"/>
              </a:xfrm>
              <a:prstGeom prst="roundRect">
                <a:avLst>
                  <a:gd name="adj" fmla="val 7692"/>
                </a:avLst>
              </a:prstGeom>
              <a:solidFill>
                <a:srgbClr val="F4F8EC"/>
              </a:solidFill>
              <a:ln w="9525">
                <a:solidFill>
                  <a:srgbClr val="D9E8C6"/>
                </a:solidFill>
              </a:ln>
            </p:spPr>
          </p:sp>
          <p:sp>
            <p:nvSpPr>
              <p:cNvPr id="258" name="Ellipse 258"/>
              <p:cNvSpPr/>
              <p:nvPr/>
            </p:nvSpPr>
            <p:spPr>
              <a:xfrm>
                <a:off x="11049000" y="5086350"/>
                <a:ext cx="419100" cy="419100"/>
              </a:xfrm>
              <a:prstGeom prst="ellipse">
                <a:avLst/>
              </a:prstGeom>
              <a:solidFill>
                <a:srgbClr val="FFFFFF"/>
              </a:solidFill>
              <a:ln w="14288">
                <a:solidFill>
                  <a:srgbClr val="BE776A"/>
                </a:solidFill>
              </a:ln>
            </p:spPr>
          </p:sp>
          <p:grpSp>
            <p:nvGrpSpPr>
              <p:cNvPr id="262" name="Group 262"/>
              <p:cNvGrpSpPr/>
              <p:nvPr/>
            </p:nvGrpSpPr>
            <p:grpSpPr>
              <a:xfrm>
                <a:off x="11201400" y="5210175"/>
                <a:ext cx="142875" cy="171450"/>
                <a:chOff x="11201400" y="5210175"/>
                <a:chExt cx="142875" cy="171450"/>
              </a:xfrm>
            </p:grpSpPr>
            <p:sp>
              <p:nvSpPr>
                <p:cNvPr id="259" name="Freeform 259"/>
                <p:cNvSpPr/>
                <p:nvPr/>
              </p:nvSpPr>
              <p:spPr>
                <a:xfrm>
                  <a:off x="11220450" y="52101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7C3B2F"/>
                  </a:solidFill>
                </a:ln>
              </p:spPr>
            </p:sp>
            <p:sp>
              <p:nvSpPr>
                <p:cNvPr id="260" name="Freeform 260"/>
                <p:cNvSpPr/>
                <p:nvPr/>
              </p:nvSpPr>
              <p:spPr>
                <a:xfrm>
                  <a:off x="11201400" y="53244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7C3B2F"/>
                  </a:solidFill>
                </a:ln>
              </p:spPr>
            </p:sp>
            <p:sp>
              <p:nvSpPr>
                <p:cNvPr id="261" name="Freeform 261"/>
                <p:cNvSpPr/>
                <p:nvPr/>
              </p:nvSpPr>
              <p:spPr>
                <a:xfrm>
                  <a:off x="11287125" y="5343525"/>
                  <a:ext cx="57150" cy="38100"/>
                </a:xfrm>
                <a:custGeom>
                  <a:avLst/>
                  <a:gdLst/>
                  <a:ahLst/>
                  <a:cxnLst/>
                  <a:rect l="l" t="t" r="r" b="b"/>
                  <a:pathLst>
                    <a:path w="57150" h="38100">
                      <a:moveTo>
                        <a:pt x="0" y="19050"/>
                      </a:moveTo>
                      <a:lnTo>
                        <a:pt x="19050" y="38100"/>
                      </a:lnTo>
                      <a:lnTo>
                        <a:pt x="57150" y="0"/>
                      </a:lnTo>
                    </a:path>
                  </a:pathLst>
                </a:custGeom>
                <a:noFill/>
                <a:ln w="19050">
                  <a:solidFill>
                    <a:srgbClr val="7C3B2F"/>
                  </a:solidFill>
                </a:ln>
              </p:spPr>
            </p:sp>
          </p:grpSp>
          <p:sp>
            <p:nvSpPr>
              <p:cNvPr id="263" name="TextBox 263"/>
              <p:cNvSpPr txBox="1"/>
              <p:nvPr/>
            </p:nvSpPr>
            <p:spPr>
              <a:xfrm>
                <a:off x="10987913" y="5706189"/>
                <a:ext cx="541274" cy="154781"/>
              </a:xfrm>
              <a:prstGeom prst="rect">
                <a:avLst/>
              </a:prstGeom>
              <a:noFill/>
              <a:ln>
                <a:noFill/>
              </a:ln>
            </p:spPr>
            <p:txBody>
              <a:bodyPr wrap="none" lIns="0" tIns="0" rIns="0" bIns="0" anchor="t" anchorCtr="0">
                <a:spAutoFit/>
              </a:bodyPr>
              <a:lstStyle/>
              <a:p>
                <a:pPr algn="ctr"/>
                <a:r>
                  <a:rPr lang="zh-CN" sz="790" b="1" dirty="0">
                    <a:solidFill>
                      <a:srgbClr val="42140B"/>
                    </a:solidFill>
                    <a:latin typeface="+mn-lt"/>
                    <a:ea typeface="+mn-ea"/>
                    <a:cs typeface="+mn-cs"/>
                  </a:rPr>
                  <a:t>贡献采用率</a:t>
                </a:r>
              </a:p>
            </p:txBody>
          </p:sp>
        </p:grpSp>
      </p:gr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15</a:t>
              </a:r>
            </a:p>
          </p:txBody>
        </p:sp>
        <p:sp>
          <p:nvSpPr>
            <p:cNvPr id="4" name="TextBox 4"/>
            <p:cNvSpPr txBox="1"/>
            <p:nvPr/>
          </p:nvSpPr>
          <p:spPr>
            <a:xfrm>
              <a:off x="942594" y="151448"/>
              <a:ext cx="695401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推广路线从</a:t>
              </a:r>
              <a:r>
                <a:rPr lang="zh-CN" sz="1950" b="1" dirty="0">
                  <a:solidFill>
                    <a:srgbClr val="7C3B2F"/>
                  </a:solidFill>
                  <a:latin typeface="SimSun"/>
                  <a:ea typeface="SimSun"/>
                  <a:cs typeface="SimSun"/>
                </a:rPr>
                <a:t>高价值试点</a:t>
              </a:r>
              <a:r>
                <a:rPr lang="zh-CN" sz="1950" b="1" dirty="0">
                  <a:solidFill>
                    <a:srgbClr val="1A1A1A"/>
                  </a:solidFill>
                  <a:latin typeface="SimSun"/>
                  <a:ea typeface="SimSun"/>
                  <a:cs typeface="SimSun"/>
                </a:rPr>
                <a:t>起步，以能力复用推动</a:t>
              </a:r>
              <a:r>
                <a:rPr lang="zh-CN" sz="1950" b="1" dirty="0">
                  <a:solidFill>
                    <a:srgbClr val="7C3B2F"/>
                  </a:solidFill>
                  <a:latin typeface="SimSun"/>
                  <a:ea typeface="SimSun"/>
                  <a:cs typeface="SimSun"/>
                </a:rPr>
                <a:t>规模化复制</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19" name="stage-chevrons"/>
          <p:cNvGrpSpPr/>
          <p:nvPr/>
        </p:nvGrpSpPr>
        <p:grpSpPr>
          <a:xfrm>
            <a:off x="1200150" y="666750"/>
            <a:ext cx="8801100" cy="266700"/>
            <a:chOff x="1200150" y="666750"/>
            <a:chExt cx="8801100" cy="266700"/>
          </a:xfrm>
        </p:grpSpPr>
        <p:sp>
          <p:nvSpPr>
            <p:cNvPr id="7" name="Freeform 7"/>
            <p:cNvSpPr/>
            <p:nvPr/>
          </p:nvSpPr>
          <p:spPr>
            <a:xfrm>
              <a:off x="1200150" y="666750"/>
              <a:ext cx="1466850" cy="266700"/>
            </a:xfrm>
            <a:prstGeom prst="chevron">
              <a:avLst/>
            </a:prstGeom>
            <a:solidFill>
              <a:srgbClr val="42140B"/>
            </a:solidFill>
            <a:ln>
              <a:noFill/>
            </a:ln>
          </p:spPr>
        </p:sp>
        <p:sp>
          <p:nvSpPr>
            <p:cNvPr id="8" name="Freeform 8"/>
            <p:cNvSpPr/>
            <p:nvPr/>
          </p:nvSpPr>
          <p:spPr>
            <a:xfrm>
              <a:off x="2667000" y="666750"/>
              <a:ext cx="1466850" cy="266700"/>
            </a:xfrm>
            <a:prstGeom prst="chevron">
              <a:avLst/>
            </a:prstGeom>
            <a:solidFill>
              <a:srgbClr val="50261E"/>
            </a:solidFill>
            <a:ln>
              <a:noFill/>
            </a:ln>
          </p:spPr>
        </p:sp>
        <p:sp>
          <p:nvSpPr>
            <p:cNvPr id="9" name="Freeform 9"/>
            <p:cNvSpPr/>
            <p:nvPr/>
          </p:nvSpPr>
          <p:spPr>
            <a:xfrm>
              <a:off x="4133850" y="666750"/>
              <a:ext cx="1466850" cy="266700"/>
            </a:xfrm>
            <a:prstGeom prst="chevron">
              <a:avLst/>
            </a:prstGeom>
            <a:solidFill>
              <a:srgbClr val="643228"/>
            </a:solidFill>
            <a:ln>
              <a:noFill/>
            </a:ln>
          </p:spPr>
        </p:sp>
        <p:sp>
          <p:nvSpPr>
            <p:cNvPr id="10" name="Freeform 10"/>
            <p:cNvSpPr/>
            <p:nvPr/>
          </p:nvSpPr>
          <p:spPr>
            <a:xfrm>
              <a:off x="5600700" y="666750"/>
              <a:ext cx="1466850" cy="266700"/>
            </a:xfrm>
            <a:prstGeom prst="chevron">
              <a:avLst/>
            </a:prstGeom>
            <a:solidFill>
              <a:srgbClr val="7C3B2F"/>
            </a:solidFill>
            <a:ln>
              <a:noFill/>
            </a:ln>
          </p:spPr>
        </p:sp>
        <p:sp>
          <p:nvSpPr>
            <p:cNvPr id="11" name="Freeform 11"/>
            <p:cNvSpPr/>
            <p:nvPr/>
          </p:nvSpPr>
          <p:spPr>
            <a:xfrm>
              <a:off x="7067550" y="666750"/>
              <a:ext cx="1466850" cy="266700"/>
            </a:xfrm>
            <a:prstGeom prst="chevron">
              <a:avLst/>
            </a:prstGeom>
            <a:solidFill>
              <a:srgbClr val="9A4B3C"/>
            </a:solidFill>
            <a:ln>
              <a:noFill/>
            </a:ln>
          </p:spPr>
        </p:sp>
        <p:sp>
          <p:nvSpPr>
            <p:cNvPr id="12" name="Freeform 12"/>
            <p:cNvSpPr/>
            <p:nvPr/>
          </p:nvSpPr>
          <p:spPr>
            <a:xfrm>
              <a:off x="8534400" y="666750"/>
              <a:ext cx="1466850" cy="266700"/>
            </a:xfrm>
            <a:prstGeom prst="chevron">
              <a:avLst/>
            </a:prstGeom>
            <a:solidFill>
              <a:srgbClr val="BE776A"/>
            </a:solidFill>
            <a:ln>
              <a:noFill/>
            </a:ln>
          </p:spPr>
        </p:sp>
        <p:sp>
          <p:nvSpPr>
            <p:cNvPr id="13" name="TextBox 13"/>
            <p:cNvSpPr txBox="1"/>
            <p:nvPr/>
          </p:nvSpPr>
          <p:spPr>
            <a:xfrm>
              <a:off x="1734122" y="7410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定义价值</a:t>
              </a:r>
            </a:p>
          </p:txBody>
        </p:sp>
        <p:sp>
          <p:nvSpPr>
            <p:cNvPr id="14" name="TextBox 14"/>
            <p:cNvSpPr txBox="1"/>
            <p:nvPr/>
          </p:nvSpPr>
          <p:spPr>
            <a:xfrm>
              <a:off x="3200972" y="7410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验证可行</a:t>
              </a:r>
            </a:p>
          </p:txBody>
        </p:sp>
        <p:sp>
          <p:nvSpPr>
            <p:cNvPr id="15" name="TextBox 15"/>
            <p:cNvSpPr txBox="1"/>
            <p:nvPr/>
          </p:nvSpPr>
          <p:spPr>
            <a:xfrm>
              <a:off x="4667822" y="7410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试点运行</a:t>
              </a:r>
            </a:p>
          </p:txBody>
        </p:sp>
        <p:sp>
          <p:nvSpPr>
            <p:cNvPr id="16" name="TextBox 16"/>
            <p:cNvSpPr txBox="1"/>
            <p:nvPr/>
          </p:nvSpPr>
          <p:spPr>
            <a:xfrm>
              <a:off x="6134671" y="7410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平台固化</a:t>
              </a:r>
            </a:p>
          </p:txBody>
        </p:sp>
        <p:sp>
          <p:nvSpPr>
            <p:cNvPr id="17" name="TextBox 17"/>
            <p:cNvSpPr txBox="1"/>
            <p:nvPr/>
          </p:nvSpPr>
          <p:spPr>
            <a:xfrm>
              <a:off x="7601521" y="7410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规模推广</a:t>
              </a:r>
            </a:p>
          </p:txBody>
        </p:sp>
        <p:sp>
          <p:nvSpPr>
            <p:cNvPr id="18" name="TextBox 18"/>
            <p:cNvSpPr txBox="1"/>
            <p:nvPr/>
          </p:nvSpPr>
          <p:spPr>
            <a:xfrm>
              <a:off x="9068372" y="7410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持续优化</a:t>
              </a:r>
            </a:p>
          </p:txBody>
        </p:sp>
      </p:grpSp>
      <p:grpSp>
        <p:nvGrpSpPr>
          <p:cNvPr id="51" name="row-scene"/>
          <p:cNvGrpSpPr/>
          <p:nvPr/>
        </p:nvGrpSpPr>
        <p:grpSpPr>
          <a:xfrm>
            <a:off x="228600" y="1009650"/>
            <a:ext cx="9734550" cy="762000"/>
            <a:chOff x="228600" y="1009650"/>
            <a:chExt cx="9734550" cy="762000"/>
          </a:xfrm>
        </p:grpSpPr>
        <p:sp>
          <p:nvSpPr>
            <p:cNvPr id="20" name="Rectangle 20"/>
            <p:cNvSpPr/>
            <p:nvPr/>
          </p:nvSpPr>
          <p:spPr>
            <a:xfrm>
              <a:off x="228600" y="1009650"/>
              <a:ext cx="914400" cy="762000"/>
            </a:xfrm>
            <a:prstGeom prst="roundRect">
              <a:avLst>
                <a:gd name="adj" fmla="val 7500"/>
              </a:avLst>
            </a:prstGeom>
            <a:solidFill>
              <a:srgbClr val="42140B"/>
            </a:solidFill>
            <a:ln>
              <a:noFill/>
            </a:ln>
          </p:spPr>
        </p:sp>
        <p:grpSp>
          <p:nvGrpSpPr>
            <p:cNvPr id="24" name="Group 24"/>
            <p:cNvGrpSpPr/>
            <p:nvPr/>
          </p:nvGrpSpPr>
          <p:grpSpPr>
            <a:xfrm>
              <a:off x="607219" y="1150144"/>
              <a:ext cx="157163" cy="157163"/>
              <a:chOff x="607219" y="1150144"/>
              <a:chExt cx="157163" cy="157163"/>
            </a:xfrm>
          </p:grpSpPr>
          <p:sp>
            <p:nvSpPr>
              <p:cNvPr id="21" name="Freeform 21"/>
              <p:cNvSpPr/>
              <p:nvPr/>
            </p:nvSpPr>
            <p:spPr>
              <a:xfrm>
                <a:off x="677069" y="121999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22" name="Freeform 22"/>
              <p:cNvSpPr/>
              <p:nvPr/>
            </p:nvSpPr>
            <p:spPr>
              <a:xfrm>
                <a:off x="642144" y="118506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23" name="Freeform 23"/>
              <p:cNvSpPr/>
              <p:nvPr/>
            </p:nvSpPr>
            <p:spPr>
              <a:xfrm>
                <a:off x="607219" y="11501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25" name="TextBox 25"/>
            <p:cNvSpPr txBox="1"/>
            <p:nvPr/>
          </p:nvSpPr>
          <p:spPr>
            <a:xfrm>
              <a:off x="521513" y="1419939"/>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场景与</a:t>
              </a:r>
            </a:p>
          </p:txBody>
        </p:sp>
        <p:sp>
          <p:nvSpPr>
            <p:cNvPr id="26" name="TextBox 26"/>
            <p:cNvSpPr txBox="1"/>
            <p:nvPr/>
          </p:nvSpPr>
          <p:spPr>
            <a:xfrm>
              <a:off x="574688" y="15532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业务</a:t>
              </a:r>
            </a:p>
          </p:txBody>
        </p:sp>
        <p:sp>
          <p:nvSpPr>
            <p:cNvPr id="27" name="Rectangle 27"/>
            <p:cNvSpPr/>
            <p:nvPr/>
          </p:nvSpPr>
          <p:spPr>
            <a:xfrm>
              <a:off x="1200150" y="1009650"/>
              <a:ext cx="1428750" cy="762000"/>
            </a:xfrm>
            <a:prstGeom prst="roundRect">
              <a:avLst>
                <a:gd name="adj" fmla="val 5000"/>
              </a:avLst>
            </a:prstGeom>
            <a:solidFill>
              <a:srgbClr val="FFFFFF"/>
            </a:solidFill>
            <a:ln w="9525">
              <a:solidFill>
                <a:srgbClr val="D9E8C6"/>
              </a:solidFill>
            </a:ln>
          </p:spPr>
        </p:sp>
        <p:sp>
          <p:nvSpPr>
            <p:cNvPr id="28" name="TextBox 28"/>
            <p:cNvSpPr txBox="1"/>
            <p:nvPr/>
          </p:nvSpPr>
          <p:spPr>
            <a:xfrm>
              <a:off x="1271588" y="1139428"/>
              <a:ext cx="80567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use-case charter　</a:t>
              </a:r>
            </a:p>
          </p:txBody>
        </p:sp>
        <p:sp>
          <p:nvSpPr>
            <p:cNvPr id="29" name="TextBox 29"/>
            <p:cNvSpPr txBox="1"/>
            <p:nvPr/>
          </p:nvSpPr>
          <p:spPr>
            <a:xfrm>
              <a:off x="1271588" y="1348978"/>
              <a:ext cx="64956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价值假设与KPI　</a:t>
              </a:r>
            </a:p>
          </p:txBody>
        </p:sp>
        <p:sp>
          <p:nvSpPr>
            <p:cNvPr id="30" name="TextBox 30"/>
            <p:cNvSpPr txBox="1"/>
            <p:nvPr/>
          </p:nvSpPr>
          <p:spPr>
            <a:xfrm>
              <a:off x="1271588" y="15585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目标用户与痛点</a:t>
              </a:r>
            </a:p>
          </p:txBody>
        </p:sp>
        <p:sp>
          <p:nvSpPr>
            <p:cNvPr id="31" name="Rectangle 31"/>
            <p:cNvSpPr/>
            <p:nvPr/>
          </p:nvSpPr>
          <p:spPr>
            <a:xfrm>
              <a:off x="2667000" y="1009650"/>
              <a:ext cx="1428750" cy="762000"/>
            </a:xfrm>
            <a:prstGeom prst="roundRect">
              <a:avLst>
                <a:gd name="adj" fmla="val 5000"/>
              </a:avLst>
            </a:prstGeom>
            <a:solidFill>
              <a:srgbClr val="FFFFFF"/>
            </a:solidFill>
            <a:ln w="9525">
              <a:solidFill>
                <a:srgbClr val="D9E8C6"/>
              </a:solidFill>
            </a:ln>
          </p:spPr>
        </p:sp>
        <p:sp>
          <p:nvSpPr>
            <p:cNvPr id="32" name="TextBox 32"/>
            <p:cNvSpPr txBox="1"/>
            <p:nvPr/>
          </p:nvSpPr>
          <p:spPr>
            <a:xfrm>
              <a:off x="2738438" y="11394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方案设计与流程映射</a:t>
              </a:r>
            </a:p>
          </p:txBody>
        </p:sp>
        <p:sp>
          <p:nvSpPr>
            <p:cNvPr id="33" name="TextBox 33"/>
            <p:cNvSpPr txBox="1"/>
            <p:nvPr/>
          </p:nvSpPr>
          <p:spPr>
            <a:xfrm>
              <a:off x="2738438" y="134897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成功标准与评估方法</a:t>
              </a:r>
            </a:p>
          </p:txBody>
        </p:sp>
        <p:sp>
          <p:nvSpPr>
            <p:cNvPr id="34" name="TextBox 34"/>
            <p:cNvSpPr txBox="1"/>
            <p:nvPr/>
          </p:nvSpPr>
          <p:spPr>
            <a:xfrm>
              <a:off x="2738438" y="15585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风险与假设清单</a:t>
              </a:r>
            </a:p>
          </p:txBody>
        </p:sp>
        <p:sp>
          <p:nvSpPr>
            <p:cNvPr id="35" name="Rectangle 35"/>
            <p:cNvSpPr/>
            <p:nvPr/>
          </p:nvSpPr>
          <p:spPr>
            <a:xfrm>
              <a:off x="4133850" y="1009650"/>
              <a:ext cx="1428750" cy="762000"/>
            </a:xfrm>
            <a:prstGeom prst="roundRect">
              <a:avLst>
                <a:gd name="adj" fmla="val 5000"/>
              </a:avLst>
            </a:prstGeom>
            <a:solidFill>
              <a:srgbClr val="FFFFFF"/>
            </a:solidFill>
            <a:ln w="9525">
              <a:solidFill>
                <a:srgbClr val="D9E8C6"/>
              </a:solidFill>
            </a:ln>
          </p:spPr>
        </p:sp>
        <p:sp>
          <p:nvSpPr>
            <p:cNvPr id="36" name="TextBox 36"/>
            <p:cNvSpPr txBox="1"/>
            <p:nvPr/>
          </p:nvSpPr>
          <p:spPr>
            <a:xfrm>
              <a:off x="4205288" y="11394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试点范围与用户</a:t>
              </a:r>
            </a:p>
          </p:txBody>
        </p:sp>
        <p:sp>
          <p:nvSpPr>
            <p:cNvPr id="37" name="TextBox 37"/>
            <p:cNvSpPr txBox="1"/>
            <p:nvPr/>
          </p:nvSpPr>
          <p:spPr>
            <a:xfrm>
              <a:off x="4205288" y="13489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关键流程落地</a:t>
              </a:r>
            </a:p>
          </p:txBody>
        </p:sp>
        <p:sp>
          <p:nvSpPr>
            <p:cNvPr id="38" name="TextBox 38"/>
            <p:cNvSpPr txBox="1"/>
            <p:nvPr/>
          </p:nvSpPr>
          <p:spPr>
            <a:xfrm>
              <a:off x="4205288" y="15585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效果跟踪与反馈</a:t>
              </a:r>
            </a:p>
          </p:txBody>
        </p:sp>
        <p:sp>
          <p:nvSpPr>
            <p:cNvPr id="39" name="Rectangle 39"/>
            <p:cNvSpPr/>
            <p:nvPr/>
          </p:nvSpPr>
          <p:spPr>
            <a:xfrm>
              <a:off x="5600700" y="1009650"/>
              <a:ext cx="1428750" cy="762000"/>
            </a:xfrm>
            <a:prstGeom prst="roundRect">
              <a:avLst>
                <a:gd name="adj" fmla="val 5000"/>
              </a:avLst>
            </a:prstGeom>
            <a:solidFill>
              <a:srgbClr val="FFFFFF"/>
            </a:solidFill>
            <a:ln w="9525">
              <a:solidFill>
                <a:srgbClr val="D9E8C6"/>
              </a:solidFill>
            </a:ln>
          </p:spPr>
        </p:sp>
        <p:sp>
          <p:nvSpPr>
            <p:cNvPr id="40" name="TextBox 40"/>
            <p:cNvSpPr txBox="1"/>
            <p:nvPr/>
          </p:nvSpPr>
          <p:spPr>
            <a:xfrm>
              <a:off x="5672138" y="1139428"/>
              <a:ext cx="685409"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标准流程与SOP　</a:t>
              </a:r>
            </a:p>
          </p:txBody>
        </p:sp>
        <p:sp>
          <p:nvSpPr>
            <p:cNvPr id="41" name="TextBox 41"/>
            <p:cNvSpPr txBox="1"/>
            <p:nvPr/>
          </p:nvSpPr>
          <p:spPr>
            <a:xfrm>
              <a:off x="5672138" y="13489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可复用场景包</a:t>
              </a:r>
            </a:p>
          </p:txBody>
        </p:sp>
        <p:sp>
          <p:nvSpPr>
            <p:cNvPr id="42" name="TextBox 42"/>
            <p:cNvSpPr txBox="1"/>
            <p:nvPr/>
          </p:nvSpPr>
          <p:spPr>
            <a:xfrm>
              <a:off x="5672138" y="15585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价值实现方法论</a:t>
              </a:r>
            </a:p>
          </p:txBody>
        </p:sp>
        <p:sp>
          <p:nvSpPr>
            <p:cNvPr id="43" name="Rectangle 43"/>
            <p:cNvSpPr/>
            <p:nvPr/>
          </p:nvSpPr>
          <p:spPr>
            <a:xfrm>
              <a:off x="7067550" y="1009650"/>
              <a:ext cx="1428750" cy="762000"/>
            </a:xfrm>
            <a:prstGeom prst="roundRect">
              <a:avLst>
                <a:gd name="adj" fmla="val 5000"/>
              </a:avLst>
            </a:prstGeom>
            <a:solidFill>
              <a:srgbClr val="FFFFFF"/>
            </a:solidFill>
            <a:ln w="9525">
              <a:solidFill>
                <a:srgbClr val="D9E8C6"/>
              </a:solidFill>
            </a:ln>
          </p:spPr>
        </p:sp>
        <p:sp>
          <p:nvSpPr>
            <p:cNvPr id="44" name="TextBox 44"/>
            <p:cNvSpPr txBox="1"/>
            <p:nvPr/>
          </p:nvSpPr>
          <p:spPr>
            <a:xfrm>
              <a:off x="7138988" y="113942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扩展计划与优先级</a:t>
              </a:r>
            </a:p>
          </p:txBody>
        </p:sp>
        <p:sp>
          <p:nvSpPr>
            <p:cNvPr id="45" name="TextBox 45"/>
            <p:cNvSpPr txBox="1"/>
            <p:nvPr/>
          </p:nvSpPr>
          <p:spPr>
            <a:xfrm>
              <a:off x="7138988" y="13489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变更管理与培训</a:t>
              </a:r>
            </a:p>
          </p:txBody>
        </p:sp>
        <p:sp>
          <p:nvSpPr>
            <p:cNvPr id="46" name="TextBox 46"/>
            <p:cNvSpPr txBox="1"/>
            <p:nvPr/>
          </p:nvSpPr>
          <p:spPr>
            <a:xfrm>
              <a:off x="7138988" y="15585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价值看板与通报</a:t>
              </a:r>
            </a:p>
          </p:txBody>
        </p:sp>
        <p:sp>
          <p:nvSpPr>
            <p:cNvPr id="47" name="Rectangle 47"/>
            <p:cNvSpPr/>
            <p:nvPr/>
          </p:nvSpPr>
          <p:spPr>
            <a:xfrm>
              <a:off x="8534400" y="1009650"/>
              <a:ext cx="1428750" cy="762000"/>
            </a:xfrm>
            <a:prstGeom prst="roundRect">
              <a:avLst>
                <a:gd name="adj" fmla="val 5000"/>
              </a:avLst>
            </a:prstGeom>
            <a:solidFill>
              <a:srgbClr val="FFFFFF"/>
            </a:solidFill>
            <a:ln w="9525">
              <a:solidFill>
                <a:srgbClr val="D9E8C6"/>
              </a:solidFill>
            </a:ln>
          </p:spPr>
        </p:sp>
        <p:sp>
          <p:nvSpPr>
            <p:cNvPr id="48" name="TextBox 48"/>
            <p:cNvSpPr txBox="1"/>
            <p:nvPr/>
          </p:nvSpPr>
          <p:spPr>
            <a:xfrm>
              <a:off x="8605838" y="11394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迭代需求与路线</a:t>
              </a:r>
            </a:p>
          </p:txBody>
        </p:sp>
        <p:sp>
          <p:nvSpPr>
            <p:cNvPr id="49" name="TextBox 49"/>
            <p:cNvSpPr txBox="1"/>
            <p:nvPr/>
          </p:nvSpPr>
          <p:spPr>
            <a:xfrm>
              <a:off x="8605838" y="13489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效果复盘与优化</a:t>
              </a:r>
            </a:p>
          </p:txBody>
        </p:sp>
        <p:sp>
          <p:nvSpPr>
            <p:cNvPr id="50" name="TextBox 50"/>
            <p:cNvSpPr txBox="1"/>
            <p:nvPr/>
          </p:nvSpPr>
          <p:spPr>
            <a:xfrm>
              <a:off x="8605838" y="15585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创新机会识别</a:t>
              </a:r>
            </a:p>
          </p:txBody>
        </p:sp>
      </p:grpSp>
      <p:grpSp>
        <p:nvGrpSpPr>
          <p:cNvPr id="83" name="row-knowledge"/>
          <p:cNvGrpSpPr/>
          <p:nvPr/>
        </p:nvGrpSpPr>
        <p:grpSpPr>
          <a:xfrm>
            <a:off x="228600" y="1809750"/>
            <a:ext cx="9734550" cy="762000"/>
            <a:chOff x="228600" y="1809750"/>
            <a:chExt cx="9734550" cy="762000"/>
          </a:xfrm>
        </p:grpSpPr>
        <p:sp>
          <p:nvSpPr>
            <p:cNvPr id="52" name="Rectangle 52"/>
            <p:cNvSpPr/>
            <p:nvPr/>
          </p:nvSpPr>
          <p:spPr>
            <a:xfrm>
              <a:off x="228600" y="1809750"/>
              <a:ext cx="914400" cy="762000"/>
            </a:xfrm>
            <a:prstGeom prst="roundRect">
              <a:avLst>
                <a:gd name="adj" fmla="val 7500"/>
              </a:avLst>
            </a:prstGeom>
            <a:solidFill>
              <a:srgbClr val="643228"/>
            </a:solidFill>
            <a:ln>
              <a:noFill/>
            </a:ln>
          </p:spPr>
        </p:sp>
        <p:grpSp>
          <p:nvGrpSpPr>
            <p:cNvPr id="56" name="Group 56"/>
            <p:cNvGrpSpPr/>
            <p:nvPr/>
          </p:nvGrpSpPr>
          <p:grpSpPr>
            <a:xfrm>
              <a:off x="624681" y="1958975"/>
              <a:ext cx="122238" cy="139700"/>
              <a:chOff x="624681" y="1958975"/>
              <a:chExt cx="122238" cy="139700"/>
            </a:xfrm>
          </p:grpSpPr>
          <p:sp>
            <p:nvSpPr>
              <p:cNvPr id="53" name="Freeform 53"/>
              <p:cNvSpPr/>
              <p:nvPr/>
            </p:nvSpPr>
            <p:spPr>
              <a:xfrm>
                <a:off x="624681" y="1958975"/>
                <a:ext cx="122238" cy="139700"/>
              </a:xfrm>
              <a:custGeom>
                <a:avLst/>
                <a:gdLst/>
                <a:ahLst/>
                <a:cxnLst/>
                <a:rect l="l" t="t" r="r" b="b"/>
                <a:pathLst>
                  <a:path w="122238" h="139700">
                    <a:moveTo>
                      <a:pt x="122238" y="0"/>
                    </a:moveTo>
                    <a:lnTo>
                      <a:pt x="122238" y="139700"/>
                    </a:lnTo>
                    <a:lnTo>
                      <a:pt x="17463" y="139700"/>
                    </a:lnTo>
                    <a:cubicBezTo>
                      <a:pt x="7818" y="139700"/>
                      <a:pt x="0" y="131882"/>
                      <a:pt x="0" y="122238"/>
                    </a:cubicBezTo>
                    <a:lnTo>
                      <a:pt x="0" y="17463"/>
                    </a:lnTo>
                    <a:cubicBezTo>
                      <a:pt x="0" y="7818"/>
                      <a:pt x="7818" y="0"/>
                      <a:pt x="17463" y="0"/>
                    </a:cubicBezTo>
                    <a:lnTo>
                      <a:pt x="122238" y="0"/>
                    </a:lnTo>
                  </a:path>
                </a:pathLst>
              </a:custGeom>
              <a:noFill/>
              <a:ln w="17463">
                <a:solidFill>
                  <a:srgbClr val="FFFFFF"/>
                </a:solidFill>
              </a:ln>
            </p:spPr>
          </p:sp>
          <p:sp>
            <p:nvSpPr>
              <p:cNvPr id="54" name="Freeform 54"/>
              <p:cNvSpPr/>
              <p:nvPr/>
            </p:nvSpPr>
            <p:spPr>
              <a:xfrm>
                <a:off x="624681" y="2063750"/>
                <a:ext cx="122238" cy="17463"/>
              </a:xfrm>
              <a:custGeom>
                <a:avLst/>
                <a:gdLst/>
                <a:ahLst/>
                <a:cxnLst/>
                <a:rect l="l" t="t" r="r" b="b"/>
                <a:pathLst>
                  <a:path w="122238" h="17463">
                    <a:moveTo>
                      <a:pt x="122238" y="0"/>
                    </a:moveTo>
                    <a:lnTo>
                      <a:pt x="17463" y="0"/>
                    </a:lnTo>
                    <a:cubicBezTo>
                      <a:pt x="7818" y="0"/>
                      <a:pt x="0" y="7818"/>
                      <a:pt x="0" y="17463"/>
                    </a:cubicBezTo>
                  </a:path>
                </a:pathLst>
              </a:custGeom>
              <a:noFill/>
              <a:ln w="17463">
                <a:solidFill>
                  <a:srgbClr val="FFFFFF"/>
                </a:solidFill>
              </a:ln>
            </p:spPr>
          </p:sp>
          <p:sp>
            <p:nvSpPr>
              <p:cNvPr id="55" name="Freeform 55"/>
              <p:cNvSpPr/>
              <p:nvPr/>
            </p:nvSpPr>
            <p:spPr>
              <a:xfrm>
                <a:off x="659606" y="1993900"/>
                <a:ext cx="52388" cy="9525"/>
              </a:xfrm>
              <a:custGeom>
                <a:avLst/>
                <a:gdLst/>
                <a:ahLst/>
                <a:cxnLst/>
                <a:rect l="l" t="t" r="r" b="b"/>
                <a:pathLst>
                  <a:path w="52388" h="9525">
                    <a:moveTo>
                      <a:pt x="0" y="0"/>
                    </a:moveTo>
                    <a:lnTo>
                      <a:pt x="52388" y="0"/>
                    </a:lnTo>
                  </a:path>
                </a:pathLst>
              </a:custGeom>
              <a:noFill/>
              <a:ln w="17463">
                <a:solidFill>
                  <a:srgbClr val="FFFFFF"/>
                </a:solidFill>
              </a:ln>
            </p:spPr>
          </p:sp>
        </p:grpSp>
        <p:sp>
          <p:nvSpPr>
            <p:cNvPr id="57" name="TextBox 57"/>
            <p:cNvSpPr txBox="1"/>
            <p:nvPr/>
          </p:nvSpPr>
          <p:spPr>
            <a:xfrm>
              <a:off x="574688" y="22200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知识</a:t>
              </a:r>
            </a:p>
          </p:txBody>
        </p:sp>
        <p:sp>
          <p:nvSpPr>
            <p:cNvPr id="58" name="TextBox 58"/>
            <p:cNvSpPr txBox="1"/>
            <p:nvPr/>
          </p:nvSpPr>
          <p:spPr>
            <a:xfrm>
              <a:off x="574688" y="23533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治理</a:t>
              </a:r>
            </a:p>
          </p:txBody>
        </p:sp>
        <p:sp>
          <p:nvSpPr>
            <p:cNvPr id="59" name="Rectangle 59"/>
            <p:cNvSpPr/>
            <p:nvPr/>
          </p:nvSpPr>
          <p:spPr>
            <a:xfrm>
              <a:off x="1200150" y="1809750"/>
              <a:ext cx="1428750" cy="762000"/>
            </a:xfrm>
            <a:prstGeom prst="roundRect">
              <a:avLst>
                <a:gd name="adj" fmla="val 5000"/>
              </a:avLst>
            </a:prstGeom>
            <a:solidFill>
              <a:srgbClr val="F4F8EC"/>
            </a:solidFill>
            <a:ln w="9525">
              <a:solidFill>
                <a:srgbClr val="D9E8C6"/>
              </a:solidFill>
            </a:ln>
          </p:spPr>
        </p:sp>
        <p:sp>
          <p:nvSpPr>
            <p:cNvPr id="60" name="TextBox 60"/>
            <p:cNvSpPr txBox="1"/>
            <p:nvPr/>
          </p:nvSpPr>
          <p:spPr>
            <a:xfrm>
              <a:off x="1271588" y="1939528"/>
              <a:ext cx="786826"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source inventory　</a:t>
              </a:r>
            </a:p>
          </p:txBody>
        </p:sp>
        <p:sp>
          <p:nvSpPr>
            <p:cNvPr id="61" name="TextBox 61"/>
            <p:cNvSpPr txBox="1"/>
            <p:nvPr/>
          </p:nvSpPr>
          <p:spPr>
            <a:xfrm>
              <a:off x="1271588" y="214907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知识域与分布梳理</a:t>
              </a:r>
            </a:p>
          </p:txBody>
        </p:sp>
        <p:sp>
          <p:nvSpPr>
            <p:cNvPr id="62" name="TextBox 62"/>
            <p:cNvSpPr txBox="1"/>
            <p:nvPr/>
          </p:nvSpPr>
          <p:spPr>
            <a:xfrm>
              <a:off x="1271588" y="23586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数据分级初判</a:t>
              </a:r>
            </a:p>
          </p:txBody>
        </p:sp>
        <p:sp>
          <p:nvSpPr>
            <p:cNvPr id="63" name="Rectangle 63"/>
            <p:cNvSpPr/>
            <p:nvPr/>
          </p:nvSpPr>
          <p:spPr>
            <a:xfrm>
              <a:off x="2667000" y="1809750"/>
              <a:ext cx="1428750" cy="762000"/>
            </a:xfrm>
            <a:prstGeom prst="roundRect">
              <a:avLst>
                <a:gd name="adj" fmla="val 5000"/>
              </a:avLst>
            </a:prstGeom>
            <a:solidFill>
              <a:srgbClr val="F4F8EC"/>
            </a:solidFill>
            <a:ln w="9525">
              <a:solidFill>
                <a:srgbClr val="D9E8C6"/>
              </a:solidFill>
            </a:ln>
          </p:spPr>
        </p:sp>
        <p:sp>
          <p:nvSpPr>
            <p:cNvPr id="64" name="TextBox 64"/>
            <p:cNvSpPr txBox="1"/>
            <p:nvPr/>
          </p:nvSpPr>
          <p:spPr>
            <a:xfrm>
              <a:off x="2738438" y="19395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知识采集与清洗策略</a:t>
              </a:r>
            </a:p>
          </p:txBody>
        </p:sp>
        <p:sp>
          <p:nvSpPr>
            <p:cNvPr id="65" name="TextBox 65"/>
            <p:cNvSpPr txBox="1"/>
            <p:nvPr/>
          </p:nvSpPr>
          <p:spPr>
            <a:xfrm>
              <a:off x="2738438" y="214907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质量规则与元数据</a:t>
              </a:r>
            </a:p>
          </p:txBody>
        </p:sp>
        <p:sp>
          <p:nvSpPr>
            <p:cNvPr id="66" name="TextBox 66"/>
            <p:cNvSpPr txBox="1"/>
            <p:nvPr/>
          </p:nvSpPr>
          <p:spPr>
            <a:xfrm>
              <a:off x="2738438" y="23586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权限与使用范围界定</a:t>
              </a:r>
            </a:p>
          </p:txBody>
        </p:sp>
        <p:sp>
          <p:nvSpPr>
            <p:cNvPr id="67" name="Rectangle 67"/>
            <p:cNvSpPr/>
            <p:nvPr/>
          </p:nvSpPr>
          <p:spPr>
            <a:xfrm>
              <a:off x="4133850" y="1809750"/>
              <a:ext cx="1428750" cy="762000"/>
            </a:xfrm>
            <a:prstGeom prst="roundRect">
              <a:avLst>
                <a:gd name="adj" fmla="val 5000"/>
              </a:avLst>
            </a:prstGeom>
            <a:solidFill>
              <a:srgbClr val="F4F8EC"/>
            </a:solidFill>
            <a:ln w="9525">
              <a:solidFill>
                <a:srgbClr val="D9E8C6"/>
              </a:solidFill>
            </a:ln>
          </p:spPr>
        </p:sp>
        <p:sp>
          <p:nvSpPr>
            <p:cNvPr id="68" name="TextBox 68"/>
            <p:cNvSpPr txBox="1"/>
            <p:nvPr/>
          </p:nvSpPr>
          <p:spPr>
            <a:xfrm>
              <a:off x="4205288" y="19395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知识整理与去重</a:t>
              </a:r>
            </a:p>
          </p:txBody>
        </p:sp>
        <p:sp>
          <p:nvSpPr>
            <p:cNvPr id="69" name="TextBox 69"/>
            <p:cNvSpPr txBox="1"/>
            <p:nvPr/>
          </p:nvSpPr>
          <p:spPr>
            <a:xfrm>
              <a:off x="4205288" y="2149078"/>
              <a:ext cx="711439"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golden set 构建　</a:t>
              </a:r>
            </a:p>
          </p:txBody>
        </p:sp>
        <p:sp>
          <p:nvSpPr>
            <p:cNvPr id="70" name="TextBox 70"/>
            <p:cNvSpPr txBox="1"/>
            <p:nvPr/>
          </p:nvSpPr>
          <p:spPr>
            <a:xfrm>
              <a:off x="4205288" y="23586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引用与溯源验证</a:t>
              </a:r>
            </a:p>
          </p:txBody>
        </p:sp>
        <p:sp>
          <p:nvSpPr>
            <p:cNvPr id="71" name="Rectangle 71"/>
            <p:cNvSpPr/>
            <p:nvPr/>
          </p:nvSpPr>
          <p:spPr>
            <a:xfrm>
              <a:off x="5600700" y="1809750"/>
              <a:ext cx="1428750" cy="762000"/>
            </a:xfrm>
            <a:prstGeom prst="roundRect">
              <a:avLst>
                <a:gd name="adj" fmla="val 5000"/>
              </a:avLst>
            </a:prstGeom>
            <a:solidFill>
              <a:srgbClr val="F4F8EC"/>
            </a:solidFill>
            <a:ln w="9525">
              <a:solidFill>
                <a:srgbClr val="D9E8C6"/>
              </a:solidFill>
            </a:ln>
          </p:spPr>
        </p:sp>
        <p:sp>
          <p:nvSpPr>
            <p:cNvPr id="72" name="TextBox 72"/>
            <p:cNvSpPr txBox="1"/>
            <p:nvPr/>
          </p:nvSpPr>
          <p:spPr>
            <a:xfrm>
              <a:off x="5672138" y="19395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知识治理规范</a:t>
              </a:r>
            </a:p>
          </p:txBody>
        </p:sp>
        <p:sp>
          <p:nvSpPr>
            <p:cNvPr id="73" name="TextBox 73"/>
            <p:cNvSpPr txBox="1"/>
            <p:nvPr/>
          </p:nvSpPr>
          <p:spPr>
            <a:xfrm>
              <a:off x="5672138" y="214907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更新与生命周期管理</a:t>
              </a:r>
            </a:p>
          </p:txBody>
        </p:sp>
        <p:sp>
          <p:nvSpPr>
            <p:cNvPr id="74" name="TextBox 74"/>
            <p:cNvSpPr txBox="1"/>
            <p:nvPr/>
          </p:nvSpPr>
          <p:spPr>
            <a:xfrm>
              <a:off x="5672138" y="23586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知识服务化目录</a:t>
              </a:r>
            </a:p>
          </p:txBody>
        </p:sp>
        <p:sp>
          <p:nvSpPr>
            <p:cNvPr id="75" name="Rectangle 75"/>
            <p:cNvSpPr/>
            <p:nvPr/>
          </p:nvSpPr>
          <p:spPr>
            <a:xfrm>
              <a:off x="7067550" y="1809750"/>
              <a:ext cx="1428750" cy="762000"/>
            </a:xfrm>
            <a:prstGeom prst="roundRect">
              <a:avLst>
                <a:gd name="adj" fmla="val 5000"/>
              </a:avLst>
            </a:prstGeom>
            <a:solidFill>
              <a:srgbClr val="F4F8EC"/>
            </a:solidFill>
            <a:ln w="9525">
              <a:solidFill>
                <a:srgbClr val="D9E8C6"/>
              </a:solidFill>
            </a:ln>
          </p:spPr>
        </p:sp>
        <p:sp>
          <p:nvSpPr>
            <p:cNvPr id="76" name="TextBox 76"/>
            <p:cNvSpPr txBox="1"/>
            <p:nvPr/>
          </p:nvSpPr>
          <p:spPr>
            <a:xfrm>
              <a:off x="7138988" y="19395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跨域知识整合</a:t>
              </a:r>
            </a:p>
          </p:txBody>
        </p:sp>
        <p:sp>
          <p:nvSpPr>
            <p:cNvPr id="77" name="TextBox 77"/>
            <p:cNvSpPr txBox="1"/>
            <p:nvPr/>
          </p:nvSpPr>
          <p:spPr>
            <a:xfrm>
              <a:off x="7138988" y="21490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治理流程自动化</a:t>
              </a:r>
            </a:p>
          </p:txBody>
        </p:sp>
        <p:sp>
          <p:nvSpPr>
            <p:cNvPr id="78" name="TextBox 78"/>
            <p:cNvSpPr txBox="1"/>
            <p:nvPr/>
          </p:nvSpPr>
          <p:spPr>
            <a:xfrm>
              <a:off x="7138988" y="23586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知识复用度提升</a:t>
              </a:r>
            </a:p>
          </p:txBody>
        </p:sp>
        <p:sp>
          <p:nvSpPr>
            <p:cNvPr id="79" name="Rectangle 79"/>
            <p:cNvSpPr/>
            <p:nvPr/>
          </p:nvSpPr>
          <p:spPr>
            <a:xfrm>
              <a:off x="8534400" y="1809750"/>
              <a:ext cx="1428750" cy="762000"/>
            </a:xfrm>
            <a:prstGeom prst="roundRect">
              <a:avLst>
                <a:gd name="adj" fmla="val 5000"/>
              </a:avLst>
            </a:prstGeom>
            <a:solidFill>
              <a:srgbClr val="F4F8EC"/>
            </a:solidFill>
            <a:ln w="9525">
              <a:solidFill>
                <a:srgbClr val="D9E8C6"/>
              </a:solidFill>
            </a:ln>
          </p:spPr>
        </p:sp>
        <p:sp>
          <p:nvSpPr>
            <p:cNvPr id="80" name="TextBox 80"/>
            <p:cNvSpPr txBox="1"/>
            <p:nvPr/>
          </p:nvSpPr>
          <p:spPr>
            <a:xfrm>
              <a:off x="8605838" y="19395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知识质量监控</a:t>
              </a:r>
            </a:p>
          </p:txBody>
        </p:sp>
        <p:sp>
          <p:nvSpPr>
            <p:cNvPr id="81" name="TextBox 81"/>
            <p:cNvSpPr txBox="1"/>
            <p:nvPr/>
          </p:nvSpPr>
          <p:spPr>
            <a:xfrm>
              <a:off x="8605838" y="21490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知识图谱完善</a:t>
              </a:r>
            </a:p>
          </p:txBody>
        </p:sp>
        <p:sp>
          <p:nvSpPr>
            <p:cNvPr id="82" name="TextBox 82"/>
            <p:cNvSpPr txBox="1"/>
            <p:nvPr/>
          </p:nvSpPr>
          <p:spPr>
            <a:xfrm>
              <a:off x="8605838" y="23586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沉淀与复用机制</a:t>
              </a:r>
            </a:p>
          </p:txBody>
        </p:sp>
      </p:grpSp>
      <p:grpSp>
        <p:nvGrpSpPr>
          <p:cNvPr id="114" name="row-tech"/>
          <p:cNvGrpSpPr/>
          <p:nvPr/>
        </p:nvGrpSpPr>
        <p:grpSpPr>
          <a:xfrm>
            <a:off x="228600" y="2609850"/>
            <a:ext cx="9734550" cy="762000"/>
            <a:chOff x="228600" y="2609850"/>
            <a:chExt cx="9734550" cy="762000"/>
          </a:xfrm>
        </p:grpSpPr>
        <p:sp>
          <p:nvSpPr>
            <p:cNvPr id="84" name="Rectangle 84"/>
            <p:cNvSpPr/>
            <p:nvPr/>
          </p:nvSpPr>
          <p:spPr>
            <a:xfrm>
              <a:off x="228600" y="2609850"/>
              <a:ext cx="914400" cy="762000"/>
            </a:xfrm>
            <a:prstGeom prst="roundRect">
              <a:avLst>
                <a:gd name="adj" fmla="val 7500"/>
              </a:avLst>
            </a:prstGeom>
            <a:solidFill>
              <a:srgbClr val="7C3B2F"/>
            </a:solidFill>
            <a:ln>
              <a:noFill/>
            </a:ln>
          </p:spPr>
        </p:sp>
        <p:grpSp>
          <p:nvGrpSpPr>
            <p:cNvPr id="87" name="Group 87"/>
            <p:cNvGrpSpPr/>
            <p:nvPr/>
          </p:nvGrpSpPr>
          <p:grpSpPr>
            <a:xfrm>
              <a:off x="603386" y="2746511"/>
              <a:ext cx="164829" cy="164829"/>
              <a:chOff x="603386" y="2746511"/>
              <a:chExt cx="164829" cy="164829"/>
            </a:xfrm>
          </p:grpSpPr>
          <p:sp>
            <p:nvSpPr>
              <p:cNvPr id="85" name="Freeform 85"/>
              <p:cNvSpPr/>
              <p:nvPr/>
            </p:nvSpPr>
            <p:spPr>
              <a:xfrm>
                <a:off x="603386" y="274651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FFFFFF"/>
                </a:solidFill>
              </a:ln>
            </p:spPr>
          </p:sp>
          <p:sp>
            <p:nvSpPr>
              <p:cNvPr id="86" name="Freeform 86"/>
              <p:cNvSpPr/>
              <p:nvPr/>
            </p:nvSpPr>
            <p:spPr>
              <a:xfrm>
                <a:off x="659606" y="280273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FFFFFF"/>
                </a:solidFill>
              </a:ln>
            </p:spPr>
          </p:sp>
        </p:grpSp>
        <p:sp>
          <p:nvSpPr>
            <p:cNvPr id="88" name="TextBox 88"/>
            <p:cNvSpPr txBox="1"/>
            <p:nvPr/>
          </p:nvSpPr>
          <p:spPr>
            <a:xfrm>
              <a:off x="574688" y="30201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技术</a:t>
              </a:r>
            </a:p>
          </p:txBody>
        </p:sp>
        <p:sp>
          <p:nvSpPr>
            <p:cNvPr id="89" name="TextBox 89"/>
            <p:cNvSpPr txBox="1"/>
            <p:nvPr/>
          </p:nvSpPr>
          <p:spPr>
            <a:xfrm>
              <a:off x="574688" y="31534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平台</a:t>
              </a:r>
            </a:p>
          </p:txBody>
        </p:sp>
        <p:sp>
          <p:nvSpPr>
            <p:cNvPr id="90" name="Rectangle 90"/>
            <p:cNvSpPr/>
            <p:nvPr/>
          </p:nvSpPr>
          <p:spPr>
            <a:xfrm>
              <a:off x="1200150" y="2609850"/>
              <a:ext cx="1428750" cy="762000"/>
            </a:xfrm>
            <a:prstGeom prst="roundRect">
              <a:avLst>
                <a:gd name="adj" fmla="val 5000"/>
              </a:avLst>
            </a:prstGeom>
            <a:solidFill>
              <a:srgbClr val="FFFFFF"/>
            </a:solidFill>
            <a:ln w="9525">
              <a:solidFill>
                <a:srgbClr val="D9E8C6"/>
              </a:solidFill>
            </a:ln>
          </p:spPr>
        </p:sp>
        <p:sp>
          <p:nvSpPr>
            <p:cNvPr id="91" name="TextBox 91"/>
            <p:cNvSpPr txBox="1"/>
            <p:nvPr/>
          </p:nvSpPr>
          <p:spPr>
            <a:xfrm>
              <a:off x="1271588" y="27396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技术要求与约束</a:t>
              </a:r>
            </a:p>
          </p:txBody>
        </p:sp>
        <p:sp>
          <p:nvSpPr>
            <p:cNvPr id="92" name="TextBox 92"/>
            <p:cNvSpPr txBox="1"/>
            <p:nvPr/>
          </p:nvSpPr>
          <p:spPr>
            <a:xfrm>
              <a:off x="1271588" y="29491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架构原则与选型</a:t>
              </a:r>
            </a:p>
          </p:txBody>
        </p:sp>
        <p:sp>
          <p:nvSpPr>
            <p:cNvPr id="93" name="TextBox 93"/>
            <p:cNvSpPr txBox="1"/>
            <p:nvPr/>
          </p:nvSpPr>
          <p:spPr>
            <a:xfrm>
              <a:off x="1271588" y="31587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集成边界定义</a:t>
              </a:r>
            </a:p>
          </p:txBody>
        </p:sp>
        <p:sp>
          <p:nvSpPr>
            <p:cNvPr id="94" name="Rectangle 94"/>
            <p:cNvSpPr/>
            <p:nvPr/>
          </p:nvSpPr>
          <p:spPr>
            <a:xfrm>
              <a:off x="2667000" y="2609850"/>
              <a:ext cx="1428750" cy="762000"/>
            </a:xfrm>
            <a:prstGeom prst="roundRect">
              <a:avLst>
                <a:gd name="adj" fmla="val 5000"/>
              </a:avLst>
            </a:prstGeom>
            <a:solidFill>
              <a:srgbClr val="FFFFFF"/>
            </a:solidFill>
            <a:ln w="9525">
              <a:solidFill>
                <a:srgbClr val="D9E8C6"/>
              </a:solidFill>
            </a:ln>
          </p:spPr>
        </p:sp>
        <p:sp>
          <p:nvSpPr>
            <p:cNvPr id="95" name="TextBox 95"/>
            <p:cNvSpPr txBox="1"/>
            <p:nvPr/>
          </p:nvSpPr>
          <p:spPr>
            <a:xfrm>
              <a:off x="2738438" y="2739628"/>
              <a:ext cx="70930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MVP 范围与设计　</a:t>
              </a:r>
            </a:p>
          </p:txBody>
        </p:sp>
        <p:sp>
          <p:nvSpPr>
            <p:cNvPr id="96" name="TextBox 96"/>
            <p:cNvSpPr txBox="1"/>
            <p:nvPr/>
          </p:nvSpPr>
          <p:spPr>
            <a:xfrm>
              <a:off x="2738438" y="29491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模型与工具验证</a:t>
              </a:r>
            </a:p>
          </p:txBody>
        </p:sp>
        <p:sp>
          <p:nvSpPr>
            <p:cNvPr id="97" name="TextBox 97"/>
            <p:cNvSpPr txBox="1"/>
            <p:nvPr/>
          </p:nvSpPr>
          <p:spPr>
            <a:xfrm>
              <a:off x="2738438" y="31587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性能与成本评估</a:t>
              </a:r>
            </a:p>
          </p:txBody>
        </p:sp>
        <p:sp>
          <p:nvSpPr>
            <p:cNvPr id="98" name="Rectangle 98"/>
            <p:cNvSpPr/>
            <p:nvPr/>
          </p:nvSpPr>
          <p:spPr>
            <a:xfrm>
              <a:off x="4133850" y="2609850"/>
              <a:ext cx="1428750" cy="762000"/>
            </a:xfrm>
            <a:prstGeom prst="roundRect">
              <a:avLst>
                <a:gd name="adj" fmla="val 5000"/>
              </a:avLst>
            </a:prstGeom>
            <a:solidFill>
              <a:srgbClr val="FFFFFF"/>
            </a:solidFill>
            <a:ln w="9525">
              <a:solidFill>
                <a:srgbClr val="D9E8C6"/>
              </a:solidFill>
            </a:ln>
          </p:spPr>
        </p:sp>
        <p:sp>
          <p:nvSpPr>
            <p:cNvPr id="99" name="TextBox 99"/>
            <p:cNvSpPr txBox="1"/>
            <p:nvPr/>
          </p:nvSpPr>
          <p:spPr>
            <a:xfrm>
              <a:off x="4205288" y="2739628"/>
              <a:ext cx="70930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MVP 构建与部署　</a:t>
              </a:r>
            </a:p>
          </p:txBody>
        </p:sp>
        <p:sp>
          <p:nvSpPr>
            <p:cNvPr id="100" name="TextBox 100"/>
            <p:cNvSpPr txBox="1"/>
            <p:nvPr/>
          </p:nvSpPr>
          <p:spPr>
            <a:xfrm>
              <a:off x="4205288" y="29491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检索与生成联调</a:t>
              </a:r>
            </a:p>
          </p:txBody>
        </p:sp>
        <p:sp>
          <p:nvSpPr>
            <p:cNvPr id="101" name="TextBox 101"/>
            <p:cNvSpPr txBox="1"/>
            <p:nvPr/>
          </p:nvSpPr>
          <p:spPr>
            <a:xfrm>
              <a:off x="4205288" y="315872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可用性与性能验证</a:t>
              </a:r>
            </a:p>
          </p:txBody>
        </p:sp>
        <p:sp>
          <p:nvSpPr>
            <p:cNvPr id="102" name="Rectangle 102"/>
            <p:cNvSpPr/>
            <p:nvPr/>
          </p:nvSpPr>
          <p:spPr>
            <a:xfrm>
              <a:off x="5600700" y="2609850"/>
              <a:ext cx="1428750" cy="762000"/>
            </a:xfrm>
            <a:prstGeom prst="roundRect">
              <a:avLst>
                <a:gd name="adj" fmla="val 5000"/>
              </a:avLst>
            </a:prstGeom>
            <a:solidFill>
              <a:srgbClr val="FFFFFF"/>
            </a:solidFill>
            <a:ln w="9525">
              <a:solidFill>
                <a:srgbClr val="D9E8C6"/>
              </a:solidFill>
            </a:ln>
          </p:spPr>
        </p:sp>
        <p:sp>
          <p:nvSpPr>
            <p:cNvPr id="103" name="TextBox 103"/>
            <p:cNvSpPr txBox="1"/>
            <p:nvPr/>
          </p:nvSpPr>
          <p:spPr>
            <a:xfrm>
              <a:off x="5672138" y="27396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可复用连接器</a:t>
              </a:r>
            </a:p>
          </p:txBody>
        </p:sp>
        <p:sp>
          <p:nvSpPr>
            <p:cNvPr id="104" name="TextBox 104"/>
            <p:cNvSpPr txBox="1"/>
            <p:nvPr/>
          </p:nvSpPr>
          <p:spPr>
            <a:xfrm>
              <a:off x="5672138" y="2949178"/>
              <a:ext cx="692592"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model gateway　</a:t>
              </a:r>
            </a:p>
          </p:txBody>
        </p:sp>
        <p:sp>
          <p:nvSpPr>
            <p:cNvPr id="105" name="TextBox 105"/>
            <p:cNvSpPr txBox="1"/>
            <p:nvPr/>
          </p:nvSpPr>
          <p:spPr>
            <a:xfrm>
              <a:off x="5672138" y="31587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观测与评估体系</a:t>
              </a:r>
            </a:p>
          </p:txBody>
        </p:sp>
        <p:sp>
          <p:nvSpPr>
            <p:cNvPr id="106" name="Rectangle 106"/>
            <p:cNvSpPr/>
            <p:nvPr/>
          </p:nvSpPr>
          <p:spPr>
            <a:xfrm>
              <a:off x="7067550" y="2609850"/>
              <a:ext cx="1428750" cy="762000"/>
            </a:xfrm>
            <a:prstGeom prst="roundRect">
              <a:avLst>
                <a:gd name="adj" fmla="val 5000"/>
              </a:avLst>
            </a:prstGeom>
            <a:solidFill>
              <a:srgbClr val="FFFFFF"/>
            </a:solidFill>
            <a:ln w="9525">
              <a:solidFill>
                <a:srgbClr val="D9E8C6"/>
              </a:solidFill>
            </a:ln>
          </p:spPr>
        </p:sp>
        <p:sp>
          <p:nvSpPr>
            <p:cNvPr id="107" name="TextBox 107"/>
            <p:cNvSpPr txBox="1"/>
            <p:nvPr/>
          </p:nvSpPr>
          <p:spPr>
            <a:xfrm>
              <a:off x="7138988" y="27396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平台能力开放</a:t>
              </a:r>
            </a:p>
          </p:txBody>
        </p:sp>
        <p:sp>
          <p:nvSpPr>
            <p:cNvPr id="108" name="TextBox 108"/>
            <p:cNvSpPr txBox="1"/>
            <p:nvPr/>
          </p:nvSpPr>
          <p:spPr>
            <a:xfrm>
              <a:off x="7138988" y="29491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标准化接入工具</a:t>
              </a:r>
            </a:p>
          </p:txBody>
        </p:sp>
        <p:sp>
          <p:nvSpPr>
            <p:cNvPr id="109" name="TextBox 109"/>
            <p:cNvSpPr txBox="1"/>
            <p:nvPr/>
          </p:nvSpPr>
          <p:spPr>
            <a:xfrm>
              <a:off x="7138988" y="31587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资源与容量管理</a:t>
              </a:r>
            </a:p>
          </p:txBody>
        </p:sp>
        <p:sp>
          <p:nvSpPr>
            <p:cNvPr id="110" name="Rectangle 110"/>
            <p:cNvSpPr/>
            <p:nvPr/>
          </p:nvSpPr>
          <p:spPr>
            <a:xfrm>
              <a:off x="8534400" y="2609850"/>
              <a:ext cx="1428750" cy="762000"/>
            </a:xfrm>
            <a:prstGeom prst="roundRect">
              <a:avLst>
                <a:gd name="adj" fmla="val 5000"/>
              </a:avLst>
            </a:prstGeom>
            <a:solidFill>
              <a:srgbClr val="FFFFFF"/>
            </a:solidFill>
            <a:ln w="9525">
              <a:solidFill>
                <a:srgbClr val="D9E8C6"/>
              </a:solidFill>
            </a:ln>
          </p:spPr>
        </p:sp>
        <p:sp>
          <p:nvSpPr>
            <p:cNvPr id="111" name="TextBox 111"/>
            <p:cNvSpPr txBox="1"/>
            <p:nvPr/>
          </p:nvSpPr>
          <p:spPr>
            <a:xfrm>
              <a:off x="8605838" y="27396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模型与能力升级</a:t>
              </a:r>
            </a:p>
          </p:txBody>
        </p:sp>
        <p:sp>
          <p:nvSpPr>
            <p:cNvPr id="112" name="TextBox 112"/>
            <p:cNvSpPr txBox="1"/>
            <p:nvPr/>
          </p:nvSpPr>
          <p:spPr>
            <a:xfrm>
              <a:off x="8605838" y="294917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检索与自动化优化</a:t>
              </a:r>
            </a:p>
          </p:txBody>
        </p:sp>
        <p:sp>
          <p:nvSpPr>
            <p:cNvPr id="113" name="TextBox 113"/>
            <p:cNvSpPr txBox="1"/>
            <p:nvPr/>
          </p:nvSpPr>
          <p:spPr>
            <a:xfrm>
              <a:off x="8605838" y="31587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成本优化与效率提升</a:t>
              </a:r>
            </a:p>
          </p:txBody>
        </p:sp>
      </p:grpSp>
      <p:grpSp>
        <p:nvGrpSpPr>
          <p:cNvPr id="145" name="row-security"/>
          <p:cNvGrpSpPr/>
          <p:nvPr/>
        </p:nvGrpSpPr>
        <p:grpSpPr>
          <a:xfrm>
            <a:off x="228600" y="3409950"/>
            <a:ext cx="9734550" cy="762000"/>
            <a:chOff x="228600" y="3409950"/>
            <a:chExt cx="9734550" cy="762000"/>
          </a:xfrm>
        </p:grpSpPr>
        <p:sp>
          <p:nvSpPr>
            <p:cNvPr id="115" name="Rectangle 115"/>
            <p:cNvSpPr/>
            <p:nvPr/>
          </p:nvSpPr>
          <p:spPr>
            <a:xfrm>
              <a:off x="228600" y="3409950"/>
              <a:ext cx="914400" cy="762000"/>
            </a:xfrm>
            <a:prstGeom prst="roundRect">
              <a:avLst>
                <a:gd name="adj" fmla="val 7500"/>
              </a:avLst>
            </a:prstGeom>
            <a:solidFill>
              <a:srgbClr val="8C4336"/>
            </a:solidFill>
            <a:ln>
              <a:noFill/>
            </a:ln>
          </p:spPr>
        </p:sp>
        <p:grpSp>
          <p:nvGrpSpPr>
            <p:cNvPr id="118" name="Group 118"/>
            <p:cNvGrpSpPr/>
            <p:nvPr/>
          </p:nvGrpSpPr>
          <p:grpSpPr>
            <a:xfrm>
              <a:off x="595435" y="3550444"/>
              <a:ext cx="170506" cy="157162"/>
              <a:chOff x="595435" y="3550444"/>
              <a:chExt cx="170506" cy="157162"/>
            </a:xfrm>
          </p:grpSpPr>
          <p:sp>
            <p:nvSpPr>
              <p:cNvPr id="116" name="Freeform 116"/>
              <p:cNvSpPr/>
              <p:nvPr/>
            </p:nvSpPr>
            <p:spPr>
              <a:xfrm>
                <a:off x="595435" y="355044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FFFFFF"/>
                </a:solidFill>
              </a:ln>
            </p:spPr>
          </p:sp>
          <p:sp>
            <p:nvSpPr>
              <p:cNvPr id="117" name="Freeform 117"/>
              <p:cNvSpPr/>
              <p:nvPr/>
            </p:nvSpPr>
            <p:spPr>
              <a:xfrm>
                <a:off x="711994" y="3672681"/>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119" name="TextBox 119"/>
            <p:cNvSpPr txBox="1"/>
            <p:nvPr/>
          </p:nvSpPr>
          <p:spPr>
            <a:xfrm>
              <a:off x="574688" y="38202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安全</a:t>
              </a:r>
            </a:p>
          </p:txBody>
        </p:sp>
        <p:sp>
          <p:nvSpPr>
            <p:cNvPr id="120" name="TextBox 120"/>
            <p:cNvSpPr txBox="1"/>
            <p:nvPr/>
          </p:nvSpPr>
          <p:spPr>
            <a:xfrm>
              <a:off x="574688" y="39535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合规</a:t>
              </a:r>
            </a:p>
          </p:txBody>
        </p:sp>
        <p:sp>
          <p:nvSpPr>
            <p:cNvPr id="121" name="Rectangle 121"/>
            <p:cNvSpPr/>
            <p:nvPr/>
          </p:nvSpPr>
          <p:spPr>
            <a:xfrm>
              <a:off x="1200150" y="3409950"/>
              <a:ext cx="1428750" cy="762000"/>
            </a:xfrm>
            <a:prstGeom prst="roundRect">
              <a:avLst>
                <a:gd name="adj" fmla="val 5000"/>
              </a:avLst>
            </a:prstGeom>
            <a:solidFill>
              <a:srgbClr val="F4F8EC"/>
            </a:solidFill>
            <a:ln w="9525">
              <a:solidFill>
                <a:srgbClr val="D9E8C6"/>
              </a:solidFill>
            </a:ln>
          </p:spPr>
        </p:sp>
        <p:sp>
          <p:nvSpPr>
            <p:cNvPr id="122" name="TextBox 122"/>
            <p:cNvSpPr txBox="1"/>
            <p:nvPr/>
          </p:nvSpPr>
          <p:spPr>
            <a:xfrm>
              <a:off x="1271588" y="35397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合规要求梳理</a:t>
              </a:r>
            </a:p>
          </p:txBody>
        </p:sp>
        <p:sp>
          <p:nvSpPr>
            <p:cNvPr id="123" name="TextBox 123"/>
            <p:cNvSpPr txBox="1"/>
            <p:nvPr/>
          </p:nvSpPr>
          <p:spPr>
            <a:xfrm>
              <a:off x="1271588" y="37492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数据分类分级</a:t>
              </a:r>
            </a:p>
          </p:txBody>
        </p:sp>
        <p:sp>
          <p:nvSpPr>
            <p:cNvPr id="124" name="TextBox 124"/>
            <p:cNvSpPr txBox="1"/>
            <p:nvPr/>
          </p:nvSpPr>
          <p:spPr>
            <a:xfrm>
              <a:off x="1271588" y="39588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风险初评估</a:t>
              </a:r>
            </a:p>
          </p:txBody>
        </p:sp>
        <p:sp>
          <p:nvSpPr>
            <p:cNvPr id="125" name="Rectangle 125"/>
            <p:cNvSpPr/>
            <p:nvPr/>
          </p:nvSpPr>
          <p:spPr>
            <a:xfrm>
              <a:off x="2667000" y="3409950"/>
              <a:ext cx="1428750" cy="762000"/>
            </a:xfrm>
            <a:prstGeom prst="roundRect">
              <a:avLst>
                <a:gd name="adj" fmla="val 5000"/>
              </a:avLst>
            </a:prstGeom>
            <a:solidFill>
              <a:srgbClr val="F4F8EC"/>
            </a:solidFill>
            <a:ln w="9525">
              <a:solidFill>
                <a:srgbClr val="D9E8C6"/>
              </a:solidFill>
            </a:ln>
          </p:spPr>
        </p:sp>
        <p:sp>
          <p:nvSpPr>
            <p:cNvPr id="126" name="TextBox 126"/>
            <p:cNvSpPr txBox="1"/>
            <p:nvPr/>
          </p:nvSpPr>
          <p:spPr>
            <a:xfrm>
              <a:off x="2738438" y="35397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隐私影响评估</a:t>
              </a:r>
            </a:p>
          </p:txBody>
        </p:sp>
        <p:sp>
          <p:nvSpPr>
            <p:cNvPr id="127" name="TextBox 127"/>
            <p:cNvSpPr txBox="1"/>
            <p:nvPr/>
          </p:nvSpPr>
          <p:spPr>
            <a:xfrm>
              <a:off x="2738438" y="37492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控制措施设计</a:t>
              </a:r>
            </a:p>
          </p:txBody>
        </p:sp>
        <p:sp>
          <p:nvSpPr>
            <p:cNvPr id="128" name="TextBox 128"/>
            <p:cNvSpPr txBox="1"/>
            <p:nvPr/>
          </p:nvSpPr>
          <p:spPr>
            <a:xfrm>
              <a:off x="2738438" y="39588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合规方案评审</a:t>
              </a:r>
            </a:p>
          </p:txBody>
        </p:sp>
        <p:sp>
          <p:nvSpPr>
            <p:cNvPr id="129" name="Rectangle 129"/>
            <p:cNvSpPr/>
            <p:nvPr/>
          </p:nvSpPr>
          <p:spPr>
            <a:xfrm>
              <a:off x="4133850" y="3409950"/>
              <a:ext cx="1428750" cy="762000"/>
            </a:xfrm>
            <a:prstGeom prst="roundRect">
              <a:avLst>
                <a:gd name="adj" fmla="val 5000"/>
              </a:avLst>
            </a:prstGeom>
            <a:solidFill>
              <a:srgbClr val="F4F8EC"/>
            </a:solidFill>
            <a:ln w="9525">
              <a:solidFill>
                <a:srgbClr val="D9E8C6"/>
              </a:solidFill>
            </a:ln>
          </p:spPr>
        </p:sp>
        <p:sp>
          <p:nvSpPr>
            <p:cNvPr id="130" name="TextBox 130"/>
            <p:cNvSpPr txBox="1"/>
            <p:nvPr/>
          </p:nvSpPr>
          <p:spPr>
            <a:xfrm>
              <a:off x="4205288" y="35397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策略落地与验证</a:t>
              </a:r>
            </a:p>
          </p:txBody>
        </p:sp>
        <p:sp>
          <p:nvSpPr>
            <p:cNvPr id="131" name="TextBox 131"/>
            <p:cNvSpPr txBox="1"/>
            <p:nvPr/>
          </p:nvSpPr>
          <p:spPr>
            <a:xfrm>
              <a:off x="4205288" y="37492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访问控制与审计</a:t>
              </a:r>
            </a:p>
          </p:txBody>
        </p:sp>
        <p:sp>
          <p:nvSpPr>
            <p:cNvPr id="132" name="TextBox 132"/>
            <p:cNvSpPr txBox="1"/>
            <p:nvPr/>
          </p:nvSpPr>
          <p:spPr>
            <a:xfrm>
              <a:off x="4205288" y="39588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安全测试与加固</a:t>
              </a:r>
            </a:p>
          </p:txBody>
        </p:sp>
        <p:sp>
          <p:nvSpPr>
            <p:cNvPr id="133" name="Rectangle 133"/>
            <p:cNvSpPr/>
            <p:nvPr/>
          </p:nvSpPr>
          <p:spPr>
            <a:xfrm>
              <a:off x="5600700" y="3409950"/>
              <a:ext cx="1428750" cy="762000"/>
            </a:xfrm>
            <a:prstGeom prst="roundRect">
              <a:avLst>
                <a:gd name="adj" fmla="val 5000"/>
              </a:avLst>
            </a:prstGeom>
            <a:solidFill>
              <a:srgbClr val="F4F8EC"/>
            </a:solidFill>
            <a:ln w="9525">
              <a:solidFill>
                <a:srgbClr val="D9E8C6"/>
              </a:solidFill>
            </a:ln>
          </p:spPr>
        </p:sp>
        <p:sp>
          <p:nvSpPr>
            <p:cNvPr id="134" name="TextBox 134"/>
            <p:cNvSpPr txBox="1"/>
            <p:nvPr/>
          </p:nvSpPr>
          <p:spPr>
            <a:xfrm>
              <a:off x="5672138" y="35397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治理策略固化</a:t>
              </a:r>
            </a:p>
          </p:txBody>
        </p:sp>
        <p:sp>
          <p:nvSpPr>
            <p:cNvPr id="135" name="TextBox 135"/>
            <p:cNvSpPr txBox="1"/>
            <p:nvPr/>
          </p:nvSpPr>
          <p:spPr>
            <a:xfrm>
              <a:off x="5672138" y="37492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合规模板与清单</a:t>
              </a:r>
            </a:p>
          </p:txBody>
        </p:sp>
        <p:sp>
          <p:nvSpPr>
            <p:cNvPr id="136" name="TextBox 136"/>
            <p:cNvSpPr txBox="1"/>
            <p:nvPr/>
          </p:nvSpPr>
          <p:spPr>
            <a:xfrm>
              <a:off x="5672138" y="39588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审计与追踪机制</a:t>
              </a:r>
            </a:p>
          </p:txBody>
        </p:sp>
        <p:sp>
          <p:nvSpPr>
            <p:cNvPr id="137" name="Rectangle 137"/>
            <p:cNvSpPr/>
            <p:nvPr/>
          </p:nvSpPr>
          <p:spPr>
            <a:xfrm>
              <a:off x="7067550" y="3409950"/>
              <a:ext cx="1428750" cy="762000"/>
            </a:xfrm>
            <a:prstGeom prst="roundRect">
              <a:avLst>
                <a:gd name="adj" fmla="val 5000"/>
              </a:avLst>
            </a:prstGeom>
            <a:solidFill>
              <a:srgbClr val="F4F8EC"/>
            </a:solidFill>
            <a:ln w="9525">
              <a:solidFill>
                <a:srgbClr val="D9E8C6"/>
              </a:solidFill>
            </a:ln>
          </p:spPr>
        </p:sp>
        <p:sp>
          <p:nvSpPr>
            <p:cNvPr id="138" name="TextBox 138"/>
            <p:cNvSpPr txBox="1"/>
            <p:nvPr/>
          </p:nvSpPr>
          <p:spPr>
            <a:xfrm>
              <a:off x="7138988" y="35397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合规能力复用</a:t>
              </a:r>
            </a:p>
          </p:txBody>
        </p:sp>
        <p:sp>
          <p:nvSpPr>
            <p:cNvPr id="139" name="TextBox 139"/>
            <p:cNvSpPr txBox="1"/>
            <p:nvPr/>
          </p:nvSpPr>
          <p:spPr>
            <a:xfrm>
              <a:off x="7138988" y="37492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持续监控与告警</a:t>
              </a:r>
            </a:p>
          </p:txBody>
        </p:sp>
        <p:sp>
          <p:nvSpPr>
            <p:cNvPr id="140" name="TextBox 140"/>
            <p:cNvSpPr txBox="1"/>
            <p:nvPr/>
          </p:nvSpPr>
          <p:spPr>
            <a:xfrm>
              <a:off x="7138988" y="39588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第三方与供应链管理</a:t>
              </a:r>
            </a:p>
          </p:txBody>
        </p:sp>
        <p:sp>
          <p:nvSpPr>
            <p:cNvPr id="141" name="Rectangle 141"/>
            <p:cNvSpPr/>
            <p:nvPr/>
          </p:nvSpPr>
          <p:spPr>
            <a:xfrm>
              <a:off x="8534400" y="3409950"/>
              <a:ext cx="1428750" cy="762000"/>
            </a:xfrm>
            <a:prstGeom prst="roundRect">
              <a:avLst>
                <a:gd name="adj" fmla="val 5000"/>
              </a:avLst>
            </a:prstGeom>
            <a:solidFill>
              <a:srgbClr val="F4F8EC"/>
            </a:solidFill>
            <a:ln w="9525">
              <a:solidFill>
                <a:srgbClr val="D9E8C6"/>
              </a:solidFill>
            </a:ln>
          </p:spPr>
        </p:sp>
        <p:sp>
          <p:nvSpPr>
            <p:cNvPr id="142" name="TextBox 142"/>
            <p:cNvSpPr txBox="1"/>
            <p:nvPr/>
          </p:nvSpPr>
          <p:spPr>
            <a:xfrm>
              <a:off x="8605838" y="35397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风险再评估</a:t>
              </a:r>
            </a:p>
          </p:txBody>
        </p:sp>
        <p:sp>
          <p:nvSpPr>
            <p:cNvPr id="143" name="TextBox 143"/>
            <p:cNvSpPr txBox="1"/>
            <p:nvPr/>
          </p:nvSpPr>
          <p:spPr>
            <a:xfrm>
              <a:off x="8605838" y="37492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策略优化与更新</a:t>
              </a:r>
            </a:p>
          </p:txBody>
        </p:sp>
        <p:sp>
          <p:nvSpPr>
            <p:cNvPr id="144" name="TextBox 144"/>
            <p:cNvSpPr txBox="1"/>
            <p:nvPr/>
          </p:nvSpPr>
          <p:spPr>
            <a:xfrm>
              <a:off x="8605838" y="39588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合规能力成熟度提升</a:t>
              </a:r>
            </a:p>
          </p:txBody>
        </p:sp>
      </p:grpSp>
      <p:grpSp>
        <p:nvGrpSpPr>
          <p:cNvPr id="180" name="row-org"/>
          <p:cNvGrpSpPr/>
          <p:nvPr/>
        </p:nvGrpSpPr>
        <p:grpSpPr>
          <a:xfrm>
            <a:off x="228600" y="4210050"/>
            <a:ext cx="9734550" cy="762000"/>
            <a:chOff x="228600" y="4210050"/>
            <a:chExt cx="9734550" cy="762000"/>
          </a:xfrm>
        </p:grpSpPr>
        <p:sp>
          <p:nvSpPr>
            <p:cNvPr id="146" name="Rectangle 146"/>
            <p:cNvSpPr/>
            <p:nvPr/>
          </p:nvSpPr>
          <p:spPr>
            <a:xfrm>
              <a:off x="228600" y="4210050"/>
              <a:ext cx="914400" cy="762000"/>
            </a:xfrm>
            <a:prstGeom prst="roundRect">
              <a:avLst>
                <a:gd name="adj" fmla="val 7500"/>
              </a:avLst>
            </a:prstGeom>
            <a:solidFill>
              <a:srgbClr val="9A4B3C"/>
            </a:solidFill>
            <a:ln>
              <a:noFill/>
            </a:ln>
          </p:spPr>
        </p:sp>
        <p:grpSp>
          <p:nvGrpSpPr>
            <p:cNvPr id="153" name="Group 153"/>
            <p:cNvGrpSpPr/>
            <p:nvPr/>
          </p:nvGrpSpPr>
          <p:grpSpPr>
            <a:xfrm>
              <a:off x="607219" y="4350544"/>
              <a:ext cx="157162" cy="157163"/>
              <a:chOff x="607219" y="4350544"/>
              <a:chExt cx="157162" cy="157163"/>
            </a:xfrm>
          </p:grpSpPr>
          <p:sp>
            <p:nvSpPr>
              <p:cNvPr id="147" name="Freeform 147"/>
              <p:cNvSpPr/>
              <p:nvPr/>
            </p:nvSpPr>
            <p:spPr>
              <a:xfrm>
                <a:off x="668338" y="44203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48" name="Freeform 148"/>
              <p:cNvSpPr/>
              <p:nvPr/>
            </p:nvSpPr>
            <p:spPr>
              <a:xfrm>
                <a:off x="650875" y="448151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FFFFFF"/>
                </a:solidFill>
              </a:ln>
            </p:spPr>
          </p:sp>
          <p:sp>
            <p:nvSpPr>
              <p:cNvPr id="149" name="Freeform 149"/>
              <p:cNvSpPr/>
              <p:nvPr/>
            </p:nvSpPr>
            <p:spPr>
              <a:xfrm>
                <a:off x="711994" y="43505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50" name="Freeform 150"/>
              <p:cNvSpPr/>
              <p:nvPr/>
            </p:nvSpPr>
            <p:spPr>
              <a:xfrm>
                <a:off x="729456" y="441166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FFFFFF"/>
                </a:solidFill>
              </a:ln>
            </p:spPr>
          </p:sp>
          <p:sp>
            <p:nvSpPr>
              <p:cNvPr id="151" name="Freeform 151"/>
              <p:cNvSpPr/>
              <p:nvPr/>
            </p:nvSpPr>
            <p:spPr>
              <a:xfrm>
                <a:off x="624681" y="43505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52" name="Freeform 152"/>
              <p:cNvSpPr/>
              <p:nvPr/>
            </p:nvSpPr>
            <p:spPr>
              <a:xfrm>
                <a:off x="607219" y="441166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FFFFFF"/>
                </a:solidFill>
              </a:ln>
            </p:spPr>
          </p:sp>
        </p:grpSp>
        <p:sp>
          <p:nvSpPr>
            <p:cNvPr id="154" name="TextBox 154"/>
            <p:cNvSpPr txBox="1"/>
            <p:nvPr/>
          </p:nvSpPr>
          <p:spPr>
            <a:xfrm>
              <a:off x="521513" y="4620339"/>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组织与</a:t>
              </a:r>
            </a:p>
          </p:txBody>
        </p:sp>
        <p:sp>
          <p:nvSpPr>
            <p:cNvPr id="155" name="TextBox 155"/>
            <p:cNvSpPr txBox="1"/>
            <p:nvPr/>
          </p:nvSpPr>
          <p:spPr>
            <a:xfrm>
              <a:off x="574688" y="47536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运营</a:t>
              </a:r>
            </a:p>
          </p:txBody>
        </p:sp>
        <p:sp>
          <p:nvSpPr>
            <p:cNvPr id="156" name="Rectangle 156"/>
            <p:cNvSpPr/>
            <p:nvPr/>
          </p:nvSpPr>
          <p:spPr>
            <a:xfrm>
              <a:off x="1200150" y="4210050"/>
              <a:ext cx="1428750" cy="762000"/>
            </a:xfrm>
            <a:prstGeom prst="roundRect">
              <a:avLst>
                <a:gd name="adj" fmla="val 5000"/>
              </a:avLst>
            </a:prstGeom>
            <a:solidFill>
              <a:srgbClr val="FFFFFF"/>
            </a:solidFill>
            <a:ln w="9525">
              <a:solidFill>
                <a:srgbClr val="D9E8C6"/>
              </a:solidFill>
            </a:ln>
          </p:spPr>
        </p:sp>
        <p:sp>
          <p:nvSpPr>
            <p:cNvPr id="157" name="TextBox 157"/>
            <p:cNvSpPr txBox="1"/>
            <p:nvPr/>
          </p:nvSpPr>
          <p:spPr>
            <a:xfrm>
              <a:off x="1271588" y="43398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干系人地图</a:t>
              </a:r>
            </a:p>
          </p:txBody>
        </p:sp>
        <p:sp>
          <p:nvSpPr>
            <p:cNvPr id="158" name="TextBox 158"/>
            <p:cNvSpPr txBox="1"/>
            <p:nvPr/>
          </p:nvSpPr>
          <p:spPr>
            <a:xfrm>
              <a:off x="1271588" y="4549378"/>
              <a:ext cx="54260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RACI与职责　</a:t>
              </a:r>
            </a:p>
          </p:txBody>
        </p:sp>
        <p:sp>
          <p:nvSpPr>
            <p:cNvPr id="159" name="TextBox 159"/>
            <p:cNvSpPr txBox="1"/>
            <p:nvPr/>
          </p:nvSpPr>
          <p:spPr>
            <a:xfrm>
              <a:off x="1271588" y="47589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运营模式设想</a:t>
              </a:r>
            </a:p>
          </p:txBody>
        </p:sp>
        <p:sp>
          <p:nvSpPr>
            <p:cNvPr id="160" name="Rectangle 160"/>
            <p:cNvSpPr/>
            <p:nvPr/>
          </p:nvSpPr>
          <p:spPr>
            <a:xfrm>
              <a:off x="2667000" y="4210050"/>
              <a:ext cx="1428750" cy="762000"/>
            </a:xfrm>
            <a:prstGeom prst="roundRect">
              <a:avLst>
                <a:gd name="adj" fmla="val 5000"/>
              </a:avLst>
            </a:prstGeom>
            <a:solidFill>
              <a:srgbClr val="FFFFFF"/>
            </a:solidFill>
            <a:ln w="9525">
              <a:solidFill>
                <a:srgbClr val="D9E8C6"/>
              </a:solidFill>
            </a:ln>
          </p:spPr>
        </p:sp>
        <p:sp>
          <p:nvSpPr>
            <p:cNvPr id="161" name="TextBox 161"/>
            <p:cNvSpPr txBox="1"/>
            <p:nvPr/>
          </p:nvSpPr>
          <p:spPr>
            <a:xfrm>
              <a:off x="2738438" y="43398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团队组建与分工</a:t>
              </a:r>
            </a:p>
          </p:txBody>
        </p:sp>
        <p:sp>
          <p:nvSpPr>
            <p:cNvPr id="162" name="TextBox 162"/>
            <p:cNvSpPr txBox="1"/>
            <p:nvPr/>
          </p:nvSpPr>
          <p:spPr>
            <a:xfrm>
              <a:off x="2738438" y="45493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运营流程设计</a:t>
              </a:r>
            </a:p>
          </p:txBody>
        </p:sp>
        <p:sp>
          <p:nvSpPr>
            <p:cNvPr id="163" name="TextBox 163"/>
            <p:cNvSpPr txBox="1"/>
            <p:nvPr/>
          </p:nvSpPr>
          <p:spPr>
            <a:xfrm>
              <a:off x="2738438" y="47589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变更与沟通计划</a:t>
              </a:r>
            </a:p>
          </p:txBody>
        </p:sp>
        <p:sp>
          <p:nvSpPr>
            <p:cNvPr id="164" name="Rectangle 164"/>
            <p:cNvSpPr/>
            <p:nvPr/>
          </p:nvSpPr>
          <p:spPr>
            <a:xfrm>
              <a:off x="4133850" y="4210050"/>
              <a:ext cx="1428750" cy="762000"/>
            </a:xfrm>
            <a:prstGeom prst="roundRect">
              <a:avLst>
                <a:gd name="adj" fmla="val 5000"/>
              </a:avLst>
            </a:prstGeom>
            <a:solidFill>
              <a:srgbClr val="FFFFFF"/>
            </a:solidFill>
            <a:ln w="9525">
              <a:solidFill>
                <a:srgbClr val="D9E8C6"/>
              </a:solidFill>
            </a:ln>
          </p:spPr>
        </p:sp>
        <p:sp>
          <p:nvSpPr>
            <p:cNvPr id="165" name="TextBox 165"/>
            <p:cNvSpPr txBox="1"/>
            <p:nvPr/>
          </p:nvSpPr>
          <p:spPr>
            <a:xfrm>
              <a:off x="4205288" y="43398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运营机制试运行</a:t>
              </a:r>
            </a:p>
          </p:txBody>
        </p:sp>
        <p:sp>
          <p:nvSpPr>
            <p:cNvPr id="166" name="TextBox 166"/>
            <p:cNvSpPr txBox="1"/>
            <p:nvPr/>
          </p:nvSpPr>
          <p:spPr>
            <a:xfrm>
              <a:off x="4205288" y="45493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用户支持与培训</a:t>
              </a:r>
            </a:p>
          </p:txBody>
        </p:sp>
        <p:sp>
          <p:nvSpPr>
            <p:cNvPr id="167" name="TextBox 167"/>
            <p:cNvSpPr txBox="1"/>
            <p:nvPr/>
          </p:nvSpPr>
          <p:spPr>
            <a:xfrm>
              <a:off x="4205288" y="47589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反馈收集与改进</a:t>
              </a:r>
            </a:p>
          </p:txBody>
        </p:sp>
        <p:sp>
          <p:nvSpPr>
            <p:cNvPr id="168" name="Rectangle 168"/>
            <p:cNvSpPr/>
            <p:nvPr/>
          </p:nvSpPr>
          <p:spPr>
            <a:xfrm>
              <a:off x="5600700" y="4210050"/>
              <a:ext cx="1428750" cy="762000"/>
            </a:xfrm>
            <a:prstGeom prst="roundRect">
              <a:avLst>
                <a:gd name="adj" fmla="val 5000"/>
              </a:avLst>
            </a:prstGeom>
            <a:solidFill>
              <a:srgbClr val="FFFFFF"/>
            </a:solidFill>
            <a:ln w="9525">
              <a:solidFill>
                <a:srgbClr val="D9E8C6"/>
              </a:solidFill>
            </a:ln>
          </p:spPr>
        </p:sp>
        <p:sp>
          <p:nvSpPr>
            <p:cNvPr id="169" name="TextBox 169"/>
            <p:cNvSpPr txBox="1"/>
            <p:nvPr/>
          </p:nvSpPr>
          <p:spPr>
            <a:xfrm>
              <a:off x="5672138" y="4339828"/>
              <a:ext cx="760796"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运营中心（OCC）　</a:t>
              </a:r>
            </a:p>
          </p:txBody>
        </p:sp>
        <p:sp>
          <p:nvSpPr>
            <p:cNvPr id="170" name="TextBox 170"/>
            <p:cNvSpPr txBox="1"/>
            <p:nvPr/>
          </p:nvSpPr>
          <p:spPr>
            <a:xfrm>
              <a:off x="5672138" y="4549378"/>
              <a:ext cx="693374"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 xml:space="preserve">服务标准与 SLA　</a:t>
              </a:r>
            </a:p>
          </p:txBody>
        </p:sp>
        <p:sp>
          <p:nvSpPr>
            <p:cNvPr id="171" name="TextBox 171"/>
            <p:cNvSpPr txBox="1"/>
            <p:nvPr/>
          </p:nvSpPr>
          <p:spPr>
            <a:xfrm>
              <a:off x="5672138" y="47589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知识与培训体系</a:t>
              </a:r>
            </a:p>
          </p:txBody>
        </p:sp>
        <p:sp>
          <p:nvSpPr>
            <p:cNvPr id="172" name="Rectangle 172"/>
            <p:cNvSpPr/>
            <p:nvPr/>
          </p:nvSpPr>
          <p:spPr>
            <a:xfrm>
              <a:off x="7067550" y="4210050"/>
              <a:ext cx="1428750" cy="762000"/>
            </a:xfrm>
            <a:prstGeom prst="roundRect">
              <a:avLst>
                <a:gd name="adj" fmla="val 5000"/>
              </a:avLst>
            </a:prstGeom>
            <a:solidFill>
              <a:srgbClr val="FFFFFF"/>
            </a:solidFill>
            <a:ln w="9525">
              <a:solidFill>
                <a:srgbClr val="D9E8C6"/>
              </a:solidFill>
            </a:ln>
          </p:spPr>
        </p:sp>
        <p:sp>
          <p:nvSpPr>
            <p:cNvPr id="173" name="TextBox 173"/>
            <p:cNvSpPr txBox="1"/>
            <p:nvPr/>
          </p:nvSpPr>
          <p:spPr>
            <a:xfrm>
              <a:off x="7138988" y="43398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运营规模化</a:t>
              </a:r>
            </a:p>
          </p:txBody>
        </p:sp>
        <p:sp>
          <p:nvSpPr>
            <p:cNvPr id="174" name="TextBox 174"/>
            <p:cNvSpPr txBox="1"/>
            <p:nvPr/>
          </p:nvSpPr>
          <p:spPr>
            <a:xfrm>
              <a:off x="7138988" y="45493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社区与赋能体系</a:t>
              </a:r>
            </a:p>
          </p:txBody>
        </p:sp>
        <p:sp>
          <p:nvSpPr>
            <p:cNvPr id="175" name="TextBox 175"/>
            <p:cNvSpPr txBox="1"/>
            <p:nvPr/>
          </p:nvSpPr>
          <p:spPr>
            <a:xfrm>
              <a:off x="7138988" y="47589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绩效与激励机制</a:t>
              </a:r>
            </a:p>
          </p:txBody>
        </p:sp>
        <p:sp>
          <p:nvSpPr>
            <p:cNvPr id="176" name="Rectangle 176"/>
            <p:cNvSpPr/>
            <p:nvPr/>
          </p:nvSpPr>
          <p:spPr>
            <a:xfrm>
              <a:off x="8534400" y="4210050"/>
              <a:ext cx="1428750" cy="762000"/>
            </a:xfrm>
            <a:prstGeom prst="roundRect">
              <a:avLst>
                <a:gd name="adj" fmla="val 5000"/>
              </a:avLst>
            </a:prstGeom>
            <a:solidFill>
              <a:srgbClr val="FFFFFF"/>
            </a:solidFill>
            <a:ln w="9525">
              <a:solidFill>
                <a:srgbClr val="D9E8C6"/>
              </a:solidFill>
            </a:ln>
          </p:spPr>
        </p:sp>
        <p:sp>
          <p:nvSpPr>
            <p:cNvPr id="177" name="TextBox 177"/>
            <p:cNvSpPr txBox="1"/>
            <p:nvPr/>
          </p:nvSpPr>
          <p:spPr>
            <a:xfrm>
              <a:off x="8605838" y="43398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运营指标优化</a:t>
              </a:r>
            </a:p>
          </p:txBody>
        </p:sp>
        <p:sp>
          <p:nvSpPr>
            <p:cNvPr id="178" name="TextBox 178"/>
            <p:cNvSpPr txBox="1"/>
            <p:nvPr/>
          </p:nvSpPr>
          <p:spPr>
            <a:xfrm>
              <a:off x="8605838" y="45493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能力建设与认证</a:t>
              </a:r>
            </a:p>
          </p:txBody>
        </p:sp>
        <p:sp>
          <p:nvSpPr>
            <p:cNvPr id="179" name="TextBox 179"/>
            <p:cNvSpPr txBox="1"/>
            <p:nvPr/>
          </p:nvSpPr>
          <p:spPr>
            <a:xfrm>
              <a:off x="8605838" y="47589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最佳实践沉淀</a:t>
              </a:r>
            </a:p>
          </p:txBody>
        </p:sp>
      </p:grpSp>
      <p:grpSp>
        <p:nvGrpSpPr>
          <p:cNvPr id="235" name="decision-gates"/>
          <p:cNvGrpSpPr/>
          <p:nvPr/>
        </p:nvGrpSpPr>
        <p:grpSpPr>
          <a:xfrm>
            <a:off x="228600" y="5067300"/>
            <a:ext cx="9734550" cy="647700"/>
            <a:chOff x="228600" y="5067300"/>
            <a:chExt cx="9734550" cy="647700"/>
          </a:xfrm>
        </p:grpSpPr>
        <p:sp>
          <p:nvSpPr>
            <p:cNvPr id="181" name="Rectangle 181"/>
            <p:cNvSpPr/>
            <p:nvPr/>
          </p:nvSpPr>
          <p:spPr>
            <a:xfrm>
              <a:off x="228600" y="5067300"/>
              <a:ext cx="914400" cy="647700"/>
            </a:xfrm>
            <a:prstGeom prst="roundRect">
              <a:avLst>
                <a:gd name="adj" fmla="val 8824"/>
              </a:avLst>
            </a:prstGeom>
            <a:solidFill>
              <a:srgbClr val="42140B"/>
            </a:solidFill>
            <a:ln>
              <a:noFill/>
            </a:ln>
          </p:spPr>
        </p:sp>
        <p:grpSp>
          <p:nvGrpSpPr>
            <p:cNvPr id="184" name="Group 184"/>
            <p:cNvGrpSpPr/>
            <p:nvPr/>
          </p:nvGrpSpPr>
          <p:grpSpPr>
            <a:xfrm>
              <a:off x="359569" y="5318005"/>
              <a:ext cx="100012" cy="127913"/>
              <a:chOff x="359569" y="5318005"/>
              <a:chExt cx="100012" cy="127913"/>
            </a:xfrm>
          </p:grpSpPr>
          <p:sp>
            <p:nvSpPr>
              <p:cNvPr id="182" name="Freeform 182"/>
              <p:cNvSpPr/>
              <p:nvPr/>
            </p:nvSpPr>
            <p:spPr>
              <a:xfrm>
                <a:off x="359569" y="5318005"/>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4288">
                <a:solidFill>
                  <a:srgbClr val="FFFFFF"/>
                </a:solidFill>
              </a:ln>
            </p:spPr>
          </p:sp>
          <p:sp>
            <p:nvSpPr>
              <p:cNvPr id="183" name="Freeform 183"/>
              <p:cNvSpPr/>
              <p:nvPr/>
            </p:nvSpPr>
            <p:spPr>
              <a:xfrm>
                <a:off x="359569" y="5395912"/>
                <a:ext cx="9525" cy="50006"/>
              </a:xfrm>
              <a:custGeom>
                <a:avLst/>
                <a:gdLst/>
                <a:ahLst/>
                <a:cxnLst/>
                <a:rect l="l" t="t" r="r" b="b"/>
                <a:pathLst>
                  <a:path w="9525" h="50006">
                    <a:moveTo>
                      <a:pt x="0" y="50006"/>
                    </a:moveTo>
                    <a:lnTo>
                      <a:pt x="0" y="0"/>
                    </a:lnTo>
                  </a:path>
                </a:pathLst>
              </a:custGeom>
              <a:noFill/>
              <a:ln w="14288">
                <a:solidFill>
                  <a:srgbClr val="FFFFFF"/>
                </a:solidFill>
              </a:ln>
            </p:spPr>
          </p:sp>
        </p:grpSp>
        <p:sp>
          <p:nvSpPr>
            <p:cNvPr id="185" name="TextBox 185"/>
            <p:cNvSpPr txBox="1"/>
            <p:nvPr/>
          </p:nvSpPr>
          <p:spPr>
            <a:xfrm>
              <a:off x="547688" y="5276136"/>
              <a:ext cx="48742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关键决策门</a:t>
              </a:r>
            </a:p>
          </p:txBody>
        </p:sp>
        <p:sp>
          <p:nvSpPr>
            <p:cNvPr id="186" name="TextBox 186"/>
            <p:cNvSpPr txBox="1"/>
            <p:nvPr/>
          </p:nvSpPr>
          <p:spPr>
            <a:xfrm>
              <a:off x="547688" y="5436632"/>
              <a:ext cx="538658" cy="126206"/>
            </a:xfrm>
            <a:prstGeom prst="rect">
              <a:avLst/>
            </a:prstGeom>
            <a:noFill/>
            <a:ln>
              <a:noFill/>
            </a:ln>
          </p:spPr>
          <p:txBody>
            <a:bodyPr wrap="none" lIns="0" tIns="0" rIns="0" bIns="0" anchor="t" anchorCtr="0">
              <a:spAutoFit/>
            </a:bodyPr>
            <a:lstStyle/>
            <a:p>
              <a:pPr algn="l"/>
              <a:r>
                <a:rPr lang="zh-CN" sz="640" dirty="0">
                  <a:solidFill>
                    <a:srgbClr val="E4B7AF"/>
                  </a:solidFill>
                  <a:latin typeface="+mn-lt"/>
                  <a:ea typeface="+mn-ea"/>
                  <a:cs typeface="+mn-cs"/>
                </a:rPr>
                <a:t xml:space="preserve">Go / No-Go　</a:t>
              </a:r>
            </a:p>
          </p:txBody>
        </p:sp>
        <p:grpSp>
          <p:nvGrpSpPr>
            <p:cNvPr id="194" name="gate-1"/>
            <p:cNvGrpSpPr/>
            <p:nvPr/>
          </p:nvGrpSpPr>
          <p:grpSpPr>
            <a:xfrm>
              <a:off x="1200150" y="5067300"/>
              <a:ext cx="1428750" cy="647700"/>
              <a:chOff x="1200150" y="5067300"/>
              <a:chExt cx="1428750" cy="647700"/>
            </a:xfrm>
          </p:grpSpPr>
          <p:sp>
            <p:nvSpPr>
              <p:cNvPr id="187" name="Rectangle 187"/>
              <p:cNvSpPr/>
              <p:nvPr/>
            </p:nvSpPr>
            <p:spPr>
              <a:xfrm>
                <a:off x="1200150" y="5067300"/>
                <a:ext cx="1428750" cy="647700"/>
              </a:xfrm>
              <a:prstGeom prst="roundRect">
                <a:avLst>
                  <a:gd name="adj" fmla="val 8824"/>
                </a:avLst>
              </a:prstGeom>
              <a:solidFill>
                <a:srgbClr val="E7F2D8"/>
              </a:solidFill>
              <a:ln w="9525">
                <a:solidFill>
                  <a:srgbClr val="D9E8C6"/>
                </a:solidFill>
              </a:ln>
            </p:spPr>
          </p:sp>
          <p:grpSp>
            <p:nvGrpSpPr>
              <p:cNvPr id="190" name="Group 190"/>
              <p:cNvGrpSpPr/>
              <p:nvPr/>
            </p:nvGrpSpPr>
            <p:grpSpPr>
              <a:xfrm>
                <a:off x="1312069" y="5198269"/>
                <a:ext cx="100012" cy="100012"/>
                <a:chOff x="1312069" y="5198269"/>
                <a:chExt cx="100012" cy="100012"/>
              </a:xfrm>
            </p:grpSpPr>
            <p:sp>
              <p:nvSpPr>
                <p:cNvPr id="188" name="Freeform 188"/>
                <p:cNvSpPr/>
                <p:nvPr/>
              </p:nvSpPr>
              <p:spPr>
                <a:xfrm>
                  <a:off x="1312069" y="51982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C3B2F"/>
                  </a:solidFill>
                </a:ln>
              </p:spPr>
            </p:sp>
            <p:sp>
              <p:nvSpPr>
                <p:cNvPr id="189" name="Freeform 189"/>
                <p:cNvSpPr/>
                <p:nvPr/>
              </p:nvSpPr>
              <p:spPr>
                <a:xfrm>
                  <a:off x="1345406" y="5237162"/>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191" name="TextBox 191"/>
              <p:cNvSpPr txBox="1"/>
              <p:nvPr/>
            </p:nvSpPr>
            <p:spPr>
              <a:xfrm>
                <a:off x="1481138" y="521493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价值门</a:t>
                </a:r>
              </a:p>
            </p:txBody>
          </p:sp>
          <p:sp>
            <p:nvSpPr>
              <p:cNvPr id="192" name="TextBox 192"/>
              <p:cNvSpPr txBox="1"/>
              <p:nvPr/>
            </p:nvSpPr>
            <p:spPr>
              <a:xfrm>
                <a:off x="1290638" y="5410676"/>
                <a:ext cx="569544"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标准：价值明确、</a:t>
                </a:r>
              </a:p>
            </p:txBody>
          </p:sp>
          <p:sp>
            <p:nvSpPr>
              <p:cNvPr id="193" name="TextBox 193"/>
              <p:cNvSpPr txBox="1"/>
              <p:nvPr/>
            </p:nvSpPr>
            <p:spPr>
              <a:xfrm>
                <a:off x="1290638" y="5544026"/>
                <a:ext cx="569544"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可衡量、优先级高</a:t>
                </a:r>
              </a:p>
            </p:txBody>
          </p:sp>
        </p:grpSp>
        <p:grpSp>
          <p:nvGrpSpPr>
            <p:cNvPr id="202" name="gate-2"/>
            <p:cNvGrpSpPr/>
            <p:nvPr/>
          </p:nvGrpSpPr>
          <p:grpSpPr>
            <a:xfrm>
              <a:off x="2667000" y="5067300"/>
              <a:ext cx="1428750" cy="647700"/>
              <a:chOff x="2667000" y="5067300"/>
              <a:chExt cx="1428750" cy="647700"/>
            </a:xfrm>
          </p:grpSpPr>
          <p:sp>
            <p:nvSpPr>
              <p:cNvPr id="195" name="Rectangle 195"/>
              <p:cNvSpPr/>
              <p:nvPr/>
            </p:nvSpPr>
            <p:spPr>
              <a:xfrm>
                <a:off x="2667000" y="5067300"/>
                <a:ext cx="1428750" cy="647700"/>
              </a:xfrm>
              <a:prstGeom prst="roundRect">
                <a:avLst>
                  <a:gd name="adj" fmla="val 8824"/>
                </a:avLst>
              </a:prstGeom>
              <a:solidFill>
                <a:srgbClr val="E7F2D8"/>
              </a:solidFill>
              <a:ln w="9525">
                <a:solidFill>
                  <a:srgbClr val="D9E8C6"/>
                </a:solidFill>
              </a:ln>
            </p:spPr>
          </p:sp>
          <p:grpSp>
            <p:nvGrpSpPr>
              <p:cNvPr id="198" name="Group 198"/>
              <p:cNvGrpSpPr/>
              <p:nvPr/>
            </p:nvGrpSpPr>
            <p:grpSpPr>
              <a:xfrm>
                <a:off x="2778919" y="5198269"/>
                <a:ext cx="100012" cy="100012"/>
                <a:chOff x="2778919" y="5198269"/>
                <a:chExt cx="100012" cy="100012"/>
              </a:xfrm>
            </p:grpSpPr>
            <p:sp>
              <p:nvSpPr>
                <p:cNvPr id="196" name="Freeform 196"/>
                <p:cNvSpPr/>
                <p:nvPr/>
              </p:nvSpPr>
              <p:spPr>
                <a:xfrm>
                  <a:off x="2778919" y="51982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C3B2F"/>
                  </a:solidFill>
                </a:ln>
              </p:spPr>
            </p:sp>
            <p:sp>
              <p:nvSpPr>
                <p:cNvPr id="197" name="Freeform 197"/>
                <p:cNvSpPr/>
                <p:nvPr/>
              </p:nvSpPr>
              <p:spPr>
                <a:xfrm>
                  <a:off x="2812256" y="5237162"/>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199" name="TextBox 199"/>
              <p:cNvSpPr txBox="1"/>
              <p:nvPr/>
            </p:nvSpPr>
            <p:spPr>
              <a:xfrm>
                <a:off x="2947988" y="521493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可行门</a:t>
                </a:r>
              </a:p>
            </p:txBody>
          </p:sp>
          <p:sp>
            <p:nvSpPr>
              <p:cNvPr id="200" name="TextBox 200"/>
              <p:cNvSpPr txBox="1"/>
              <p:nvPr/>
            </p:nvSpPr>
            <p:spPr>
              <a:xfrm>
                <a:off x="2757488" y="5410676"/>
                <a:ext cx="569544"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标准：技术可行、</a:t>
                </a:r>
              </a:p>
            </p:txBody>
          </p:sp>
          <p:sp>
            <p:nvSpPr>
              <p:cNvPr id="201" name="TextBox 201"/>
              <p:cNvSpPr txBox="1"/>
              <p:nvPr/>
            </p:nvSpPr>
            <p:spPr>
              <a:xfrm>
                <a:off x="2757488" y="5544026"/>
                <a:ext cx="639547"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数据可用、风险可控</a:t>
                </a:r>
              </a:p>
            </p:txBody>
          </p:sp>
        </p:grpSp>
        <p:grpSp>
          <p:nvGrpSpPr>
            <p:cNvPr id="210" name="gate-3"/>
            <p:cNvGrpSpPr/>
            <p:nvPr/>
          </p:nvGrpSpPr>
          <p:grpSpPr>
            <a:xfrm>
              <a:off x="4133850" y="5067300"/>
              <a:ext cx="1428750" cy="647700"/>
              <a:chOff x="4133850" y="5067300"/>
              <a:chExt cx="1428750" cy="647700"/>
            </a:xfrm>
          </p:grpSpPr>
          <p:sp>
            <p:nvSpPr>
              <p:cNvPr id="203" name="Rectangle 203"/>
              <p:cNvSpPr/>
              <p:nvPr/>
            </p:nvSpPr>
            <p:spPr>
              <a:xfrm>
                <a:off x="4133850" y="5067300"/>
                <a:ext cx="1428750" cy="647700"/>
              </a:xfrm>
              <a:prstGeom prst="roundRect">
                <a:avLst>
                  <a:gd name="adj" fmla="val 8824"/>
                </a:avLst>
              </a:prstGeom>
              <a:solidFill>
                <a:srgbClr val="E7F2D8"/>
              </a:solidFill>
              <a:ln w="9525">
                <a:solidFill>
                  <a:srgbClr val="D9E8C6"/>
                </a:solidFill>
              </a:ln>
            </p:spPr>
          </p:sp>
          <p:grpSp>
            <p:nvGrpSpPr>
              <p:cNvPr id="206" name="Group 206"/>
              <p:cNvGrpSpPr/>
              <p:nvPr/>
            </p:nvGrpSpPr>
            <p:grpSpPr>
              <a:xfrm>
                <a:off x="4245769" y="5198269"/>
                <a:ext cx="100012" cy="100012"/>
                <a:chOff x="4245769" y="5198269"/>
                <a:chExt cx="100012" cy="100012"/>
              </a:xfrm>
            </p:grpSpPr>
            <p:sp>
              <p:nvSpPr>
                <p:cNvPr id="204" name="Freeform 204"/>
                <p:cNvSpPr/>
                <p:nvPr/>
              </p:nvSpPr>
              <p:spPr>
                <a:xfrm>
                  <a:off x="4245769" y="51982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C3B2F"/>
                  </a:solidFill>
                </a:ln>
              </p:spPr>
            </p:sp>
            <p:sp>
              <p:nvSpPr>
                <p:cNvPr id="205" name="Freeform 205"/>
                <p:cNvSpPr/>
                <p:nvPr/>
              </p:nvSpPr>
              <p:spPr>
                <a:xfrm>
                  <a:off x="4279106" y="5237162"/>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207" name="TextBox 207"/>
              <p:cNvSpPr txBox="1"/>
              <p:nvPr/>
            </p:nvSpPr>
            <p:spPr>
              <a:xfrm>
                <a:off x="4414838" y="521493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试点门</a:t>
                </a:r>
              </a:p>
            </p:txBody>
          </p:sp>
          <p:sp>
            <p:nvSpPr>
              <p:cNvPr id="208" name="TextBox 208"/>
              <p:cNvSpPr txBox="1"/>
              <p:nvPr/>
            </p:nvSpPr>
            <p:spPr>
              <a:xfrm>
                <a:off x="4224338" y="5410676"/>
                <a:ext cx="776381"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 xml:space="preserve">标准：达成MVP目标、　</a:t>
                </a:r>
              </a:p>
            </p:txBody>
          </p:sp>
          <p:sp>
            <p:nvSpPr>
              <p:cNvPr id="209" name="TextBox 209"/>
              <p:cNvSpPr txBox="1"/>
              <p:nvPr/>
            </p:nvSpPr>
            <p:spPr>
              <a:xfrm>
                <a:off x="4224338" y="5544026"/>
                <a:ext cx="639547"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用户认可、效果初显</a:t>
                </a:r>
              </a:p>
            </p:txBody>
          </p:sp>
        </p:grpSp>
        <p:grpSp>
          <p:nvGrpSpPr>
            <p:cNvPr id="218" name="gate-4"/>
            <p:cNvGrpSpPr/>
            <p:nvPr/>
          </p:nvGrpSpPr>
          <p:grpSpPr>
            <a:xfrm>
              <a:off x="5600700" y="5067300"/>
              <a:ext cx="1428750" cy="647700"/>
              <a:chOff x="5600700" y="5067300"/>
              <a:chExt cx="1428750" cy="647700"/>
            </a:xfrm>
          </p:grpSpPr>
          <p:sp>
            <p:nvSpPr>
              <p:cNvPr id="211" name="Rectangle 211"/>
              <p:cNvSpPr/>
              <p:nvPr/>
            </p:nvSpPr>
            <p:spPr>
              <a:xfrm>
                <a:off x="5600700" y="5067300"/>
                <a:ext cx="1428750" cy="647700"/>
              </a:xfrm>
              <a:prstGeom prst="roundRect">
                <a:avLst>
                  <a:gd name="adj" fmla="val 8824"/>
                </a:avLst>
              </a:prstGeom>
              <a:solidFill>
                <a:srgbClr val="E7F2D8"/>
              </a:solidFill>
              <a:ln w="9525">
                <a:solidFill>
                  <a:srgbClr val="D9E8C6"/>
                </a:solidFill>
              </a:ln>
            </p:spPr>
          </p:sp>
          <p:grpSp>
            <p:nvGrpSpPr>
              <p:cNvPr id="214" name="Group 214"/>
              <p:cNvGrpSpPr/>
              <p:nvPr/>
            </p:nvGrpSpPr>
            <p:grpSpPr>
              <a:xfrm>
                <a:off x="5712619" y="5198269"/>
                <a:ext cx="100012" cy="100012"/>
                <a:chOff x="5712619" y="5198269"/>
                <a:chExt cx="100012" cy="100012"/>
              </a:xfrm>
            </p:grpSpPr>
            <p:sp>
              <p:nvSpPr>
                <p:cNvPr id="212" name="Freeform 212"/>
                <p:cNvSpPr/>
                <p:nvPr/>
              </p:nvSpPr>
              <p:spPr>
                <a:xfrm>
                  <a:off x="5712619" y="51982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C3B2F"/>
                  </a:solidFill>
                </a:ln>
              </p:spPr>
            </p:sp>
            <p:sp>
              <p:nvSpPr>
                <p:cNvPr id="213" name="Freeform 213"/>
                <p:cNvSpPr/>
                <p:nvPr/>
              </p:nvSpPr>
              <p:spPr>
                <a:xfrm>
                  <a:off x="5745956" y="5237162"/>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215" name="TextBox 215"/>
              <p:cNvSpPr txBox="1"/>
              <p:nvPr/>
            </p:nvSpPr>
            <p:spPr>
              <a:xfrm>
                <a:off x="5881688" y="521493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固化门</a:t>
                </a:r>
              </a:p>
            </p:txBody>
          </p:sp>
          <p:sp>
            <p:nvSpPr>
              <p:cNvPr id="216" name="TextBox 216"/>
              <p:cNvSpPr txBox="1"/>
              <p:nvPr/>
            </p:nvSpPr>
            <p:spPr>
              <a:xfrm>
                <a:off x="5691188" y="5410676"/>
                <a:ext cx="639547"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标准：能力可复用、</a:t>
                </a:r>
              </a:p>
            </p:txBody>
          </p:sp>
          <p:sp>
            <p:nvSpPr>
              <p:cNvPr id="217" name="TextBox 217"/>
              <p:cNvSpPr txBox="1"/>
              <p:nvPr/>
            </p:nvSpPr>
            <p:spPr>
              <a:xfrm>
                <a:off x="5691188" y="5544026"/>
                <a:ext cx="499542"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标准化、可运营</a:t>
                </a:r>
              </a:p>
            </p:txBody>
          </p:sp>
        </p:grpSp>
        <p:grpSp>
          <p:nvGrpSpPr>
            <p:cNvPr id="226" name="gate-5"/>
            <p:cNvGrpSpPr/>
            <p:nvPr/>
          </p:nvGrpSpPr>
          <p:grpSpPr>
            <a:xfrm>
              <a:off x="7067550" y="5067300"/>
              <a:ext cx="1428750" cy="647700"/>
              <a:chOff x="7067550" y="5067300"/>
              <a:chExt cx="1428750" cy="647700"/>
            </a:xfrm>
          </p:grpSpPr>
          <p:sp>
            <p:nvSpPr>
              <p:cNvPr id="219" name="Rectangle 219"/>
              <p:cNvSpPr/>
              <p:nvPr/>
            </p:nvSpPr>
            <p:spPr>
              <a:xfrm>
                <a:off x="7067550" y="5067300"/>
                <a:ext cx="1428750" cy="647700"/>
              </a:xfrm>
              <a:prstGeom prst="roundRect">
                <a:avLst>
                  <a:gd name="adj" fmla="val 8824"/>
                </a:avLst>
              </a:prstGeom>
              <a:solidFill>
                <a:srgbClr val="E7F2D8"/>
              </a:solidFill>
              <a:ln w="9525">
                <a:solidFill>
                  <a:srgbClr val="D9E8C6"/>
                </a:solidFill>
              </a:ln>
            </p:spPr>
          </p:sp>
          <p:grpSp>
            <p:nvGrpSpPr>
              <p:cNvPr id="222" name="Group 222"/>
              <p:cNvGrpSpPr/>
              <p:nvPr/>
            </p:nvGrpSpPr>
            <p:grpSpPr>
              <a:xfrm>
                <a:off x="7179469" y="5198269"/>
                <a:ext cx="100012" cy="100012"/>
                <a:chOff x="7179469" y="5198269"/>
                <a:chExt cx="100012" cy="100012"/>
              </a:xfrm>
            </p:grpSpPr>
            <p:sp>
              <p:nvSpPr>
                <p:cNvPr id="220" name="Freeform 220"/>
                <p:cNvSpPr/>
                <p:nvPr/>
              </p:nvSpPr>
              <p:spPr>
                <a:xfrm>
                  <a:off x="7179469" y="51982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C3B2F"/>
                  </a:solidFill>
                </a:ln>
              </p:spPr>
            </p:sp>
            <p:sp>
              <p:nvSpPr>
                <p:cNvPr id="221" name="Freeform 221"/>
                <p:cNvSpPr/>
                <p:nvPr/>
              </p:nvSpPr>
              <p:spPr>
                <a:xfrm>
                  <a:off x="7212806" y="5237162"/>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223" name="TextBox 223"/>
              <p:cNvSpPr txBox="1"/>
              <p:nvPr/>
            </p:nvSpPr>
            <p:spPr>
              <a:xfrm>
                <a:off x="7348538" y="521493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规模门</a:t>
                </a:r>
              </a:p>
            </p:txBody>
          </p:sp>
          <p:sp>
            <p:nvSpPr>
              <p:cNvPr id="224" name="TextBox 224"/>
              <p:cNvSpPr txBox="1"/>
              <p:nvPr/>
            </p:nvSpPr>
            <p:spPr>
              <a:xfrm>
                <a:off x="7158038" y="5410676"/>
                <a:ext cx="639547"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标准：模式可复制、</a:t>
                </a:r>
              </a:p>
            </p:txBody>
          </p:sp>
          <p:sp>
            <p:nvSpPr>
              <p:cNvPr id="225" name="TextBox 225"/>
              <p:cNvSpPr txBox="1"/>
              <p:nvPr/>
            </p:nvSpPr>
            <p:spPr>
              <a:xfrm>
                <a:off x="7158038" y="5544026"/>
                <a:ext cx="639547"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资源就绪、合规通过</a:t>
                </a:r>
              </a:p>
            </p:txBody>
          </p:sp>
        </p:grpSp>
        <p:grpSp>
          <p:nvGrpSpPr>
            <p:cNvPr id="234" name="gate-6"/>
            <p:cNvGrpSpPr/>
            <p:nvPr/>
          </p:nvGrpSpPr>
          <p:grpSpPr>
            <a:xfrm>
              <a:off x="8534400" y="5067300"/>
              <a:ext cx="1428750" cy="647700"/>
              <a:chOff x="8534400" y="5067300"/>
              <a:chExt cx="1428750" cy="647700"/>
            </a:xfrm>
          </p:grpSpPr>
          <p:sp>
            <p:nvSpPr>
              <p:cNvPr id="227" name="Rectangle 227"/>
              <p:cNvSpPr/>
              <p:nvPr/>
            </p:nvSpPr>
            <p:spPr>
              <a:xfrm>
                <a:off x="8534400" y="5067300"/>
                <a:ext cx="1428750" cy="647700"/>
              </a:xfrm>
              <a:prstGeom prst="roundRect">
                <a:avLst>
                  <a:gd name="adj" fmla="val 8824"/>
                </a:avLst>
              </a:prstGeom>
              <a:solidFill>
                <a:srgbClr val="E7F2D8"/>
              </a:solidFill>
              <a:ln w="9525">
                <a:solidFill>
                  <a:srgbClr val="D9E8C6"/>
                </a:solidFill>
              </a:ln>
            </p:spPr>
          </p:sp>
          <p:grpSp>
            <p:nvGrpSpPr>
              <p:cNvPr id="230" name="Group 230"/>
              <p:cNvGrpSpPr/>
              <p:nvPr/>
            </p:nvGrpSpPr>
            <p:grpSpPr>
              <a:xfrm>
                <a:off x="8646319" y="5198269"/>
                <a:ext cx="100012" cy="100012"/>
                <a:chOff x="8646319" y="5198269"/>
                <a:chExt cx="100012" cy="100012"/>
              </a:xfrm>
            </p:grpSpPr>
            <p:sp>
              <p:nvSpPr>
                <p:cNvPr id="228" name="Freeform 228"/>
                <p:cNvSpPr/>
                <p:nvPr/>
              </p:nvSpPr>
              <p:spPr>
                <a:xfrm>
                  <a:off x="8646319" y="51982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C3B2F"/>
                  </a:solidFill>
                </a:ln>
              </p:spPr>
            </p:sp>
            <p:sp>
              <p:nvSpPr>
                <p:cNvPr id="229" name="Freeform 229"/>
                <p:cNvSpPr/>
                <p:nvPr/>
              </p:nvSpPr>
              <p:spPr>
                <a:xfrm>
                  <a:off x="8679656" y="5237162"/>
                  <a:ext cx="33337" cy="22225"/>
                </a:xfrm>
                <a:custGeom>
                  <a:avLst/>
                  <a:gdLst/>
                  <a:ahLst/>
                  <a:cxnLst/>
                  <a:rect l="l" t="t" r="r" b="b"/>
                  <a:pathLst>
                    <a:path w="33337" h="22225">
                      <a:moveTo>
                        <a:pt x="0" y="11112"/>
                      </a:moveTo>
                      <a:lnTo>
                        <a:pt x="11112" y="22225"/>
                      </a:lnTo>
                      <a:lnTo>
                        <a:pt x="33337" y="0"/>
                      </a:lnTo>
                    </a:path>
                  </a:pathLst>
                </a:custGeom>
                <a:noFill/>
                <a:ln w="11112">
                  <a:solidFill>
                    <a:srgbClr val="7C3B2F"/>
                  </a:solidFill>
                </a:ln>
              </p:spPr>
            </p:sp>
          </p:grpSp>
          <p:sp>
            <p:nvSpPr>
              <p:cNvPr id="231" name="TextBox 231"/>
              <p:cNvSpPr txBox="1"/>
              <p:nvPr/>
            </p:nvSpPr>
            <p:spPr>
              <a:xfrm>
                <a:off x="8815388" y="5214938"/>
                <a:ext cx="31242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优化门</a:t>
                </a:r>
              </a:p>
            </p:txBody>
          </p:sp>
          <p:sp>
            <p:nvSpPr>
              <p:cNvPr id="232" name="TextBox 232"/>
              <p:cNvSpPr txBox="1"/>
              <p:nvPr/>
            </p:nvSpPr>
            <p:spPr>
              <a:xfrm>
                <a:off x="8624888" y="5410676"/>
                <a:ext cx="569544"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标准：效果持续、</a:t>
                </a:r>
              </a:p>
            </p:txBody>
          </p:sp>
          <p:sp>
            <p:nvSpPr>
              <p:cNvPr id="233" name="TextBox 233"/>
              <p:cNvSpPr txBox="1"/>
              <p:nvPr/>
            </p:nvSpPr>
            <p:spPr>
              <a:xfrm>
                <a:off x="8624888" y="5544026"/>
                <a:ext cx="639547" cy="104775"/>
              </a:xfrm>
              <a:prstGeom prst="rect">
                <a:avLst/>
              </a:prstGeom>
              <a:noFill/>
              <a:ln>
                <a:noFill/>
              </a:ln>
            </p:spPr>
            <p:txBody>
              <a:bodyPr wrap="none" lIns="0" tIns="0" rIns="0" bIns="0" anchor="t" anchorCtr="0">
                <a:spAutoFit/>
              </a:bodyPr>
              <a:lstStyle/>
              <a:p>
                <a:pPr algn="l"/>
                <a:r>
                  <a:rPr lang="zh-CN" sz="520" dirty="0">
                    <a:solidFill>
                      <a:srgbClr val="3A4238"/>
                    </a:solidFill>
                    <a:latin typeface="+mn-lt"/>
                    <a:ea typeface="+mn-ea"/>
                    <a:cs typeface="+mn-cs"/>
                  </a:rPr>
                  <a:t>成本可控、体验提升</a:t>
                </a:r>
              </a:p>
            </p:txBody>
          </p:sp>
        </p:grpSp>
      </p:grpSp>
      <p:grpSp>
        <p:nvGrpSpPr>
          <p:cNvPr id="244" name="metric-band"/>
          <p:cNvGrpSpPr/>
          <p:nvPr/>
        </p:nvGrpSpPr>
        <p:grpSpPr>
          <a:xfrm>
            <a:off x="1276350" y="5886450"/>
            <a:ext cx="8648700" cy="349330"/>
            <a:chOff x="1276350" y="5886450"/>
            <a:chExt cx="8648700" cy="349330"/>
          </a:xfrm>
        </p:grpSpPr>
        <p:sp>
          <p:nvSpPr>
            <p:cNvPr id="236" name="Line 236"/>
            <p:cNvSpPr/>
            <p:nvPr/>
          </p:nvSpPr>
          <p:spPr>
            <a:xfrm>
              <a:off x="1276350" y="5924550"/>
              <a:ext cx="8648700" cy="1"/>
            </a:xfrm>
            <a:prstGeom prst="line">
              <a:avLst/>
            </a:prstGeom>
            <a:noFill/>
            <a:ln w="12382">
              <a:solidFill>
                <a:srgbClr val="9A4B3C"/>
              </a:solidFill>
              <a:custDash>
                <a:ds d="461538" sp="307692"/>
              </a:custDash>
              <a:headEnd type="arrow" w="lg" len="lg"/>
              <a:tailEnd type="arrow" w="lg" len="lg"/>
            </a:ln>
          </p:spPr>
        </p:sp>
        <p:sp>
          <p:nvSpPr>
            <p:cNvPr id="237" name="Ellipse 237"/>
            <p:cNvSpPr/>
            <p:nvPr/>
          </p:nvSpPr>
          <p:spPr>
            <a:xfrm>
              <a:off x="1876425" y="5886450"/>
              <a:ext cx="76200" cy="76200"/>
            </a:xfrm>
            <a:prstGeom prst="ellipse">
              <a:avLst/>
            </a:prstGeom>
            <a:solidFill>
              <a:srgbClr val="7C3B2F"/>
            </a:solidFill>
            <a:ln>
              <a:noFill/>
            </a:ln>
          </p:spPr>
        </p:sp>
        <p:sp>
          <p:nvSpPr>
            <p:cNvPr id="238" name="Ellipse 238"/>
            <p:cNvSpPr/>
            <p:nvPr/>
          </p:nvSpPr>
          <p:spPr>
            <a:xfrm>
              <a:off x="3343275" y="5886450"/>
              <a:ext cx="76200" cy="76200"/>
            </a:xfrm>
            <a:prstGeom prst="ellipse">
              <a:avLst/>
            </a:prstGeom>
            <a:solidFill>
              <a:srgbClr val="7C3B2F"/>
            </a:solidFill>
            <a:ln>
              <a:noFill/>
            </a:ln>
          </p:spPr>
        </p:sp>
        <p:sp>
          <p:nvSpPr>
            <p:cNvPr id="239" name="Ellipse 239"/>
            <p:cNvSpPr/>
            <p:nvPr/>
          </p:nvSpPr>
          <p:spPr>
            <a:xfrm>
              <a:off x="4810125" y="5886450"/>
              <a:ext cx="76200" cy="76200"/>
            </a:xfrm>
            <a:prstGeom prst="ellipse">
              <a:avLst/>
            </a:prstGeom>
            <a:solidFill>
              <a:srgbClr val="7C3B2F"/>
            </a:solidFill>
            <a:ln>
              <a:noFill/>
            </a:ln>
          </p:spPr>
        </p:sp>
        <p:sp>
          <p:nvSpPr>
            <p:cNvPr id="240" name="Ellipse 240"/>
            <p:cNvSpPr/>
            <p:nvPr/>
          </p:nvSpPr>
          <p:spPr>
            <a:xfrm>
              <a:off x="6276975" y="5886450"/>
              <a:ext cx="76200" cy="76200"/>
            </a:xfrm>
            <a:prstGeom prst="ellipse">
              <a:avLst/>
            </a:prstGeom>
            <a:solidFill>
              <a:srgbClr val="7C3B2F"/>
            </a:solidFill>
            <a:ln>
              <a:noFill/>
            </a:ln>
          </p:spPr>
        </p:sp>
        <p:sp>
          <p:nvSpPr>
            <p:cNvPr id="241" name="Ellipse 241"/>
            <p:cNvSpPr/>
            <p:nvPr/>
          </p:nvSpPr>
          <p:spPr>
            <a:xfrm>
              <a:off x="7743825" y="5886450"/>
              <a:ext cx="76200" cy="76200"/>
            </a:xfrm>
            <a:prstGeom prst="ellipse">
              <a:avLst/>
            </a:prstGeom>
            <a:solidFill>
              <a:srgbClr val="7C3B2F"/>
            </a:solidFill>
            <a:ln>
              <a:noFill/>
            </a:ln>
          </p:spPr>
        </p:sp>
        <p:sp>
          <p:nvSpPr>
            <p:cNvPr id="242" name="Ellipse 242"/>
            <p:cNvSpPr/>
            <p:nvPr/>
          </p:nvSpPr>
          <p:spPr>
            <a:xfrm>
              <a:off x="9210675" y="5886450"/>
              <a:ext cx="76200" cy="76200"/>
            </a:xfrm>
            <a:prstGeom prst="ellipse">
              <a:avLst/>
            </a:prstGeom>
            <a:solidFill>
              <a:srgbClr val="7C3B2F"/>
            </a:solidFill>
            <a:ln>
              <a:noFill/>
            </a:ln>
          </p:spPr>
        </p:sp>
        <p:sp>
          <p:nvSpPr>
            <p:cNvPr id="243" name="TextBox 243"/>
            <p:cNvSpPr txBox="1"/>
            <p:nvPr/>
          </p:nvSpPr>
          <p:spPr>
            <a:xfrm>
              <a:off x="3493173" y="6095286"/>
              <a:ext cx="4215054" cy="140494"/>
            </a:xfrm>
            <a:prstGeom prst="rect">
              <a:avLst/>
            </a:prstGeom>
            <a:noFill/>
            <a:ln>
              <a:noFill/>
            </a:ln>
          </p:spPr>
          <p:txBody>
            <a:bodyPr wrap="none" lIns="0" tIns="0" rIns="0" bIns="0" anchor="t" anchorCtr="0">
              <a:spAutoFit/>
            </a:bodyPr>
            <a:lstStyle/>
            <a:p>
              <a:pPr algn="ctr"/>
              <a:r>
                <a:rPr lang="zh-CN" sz="710" dirty="0">
                  <a:solidFill>
                    <a:srgbClr val="42140B"/>
                  </a:solidFill>
                  <a:latin typeface="+mn-lt"/>
                  <a:ea typeface="+mn-ea"/>
                  <a:cs typeface="+mn-cs"/>
                </a:rPr>
                <a:t>以衡量指标驱动决策与迭代：</a:t>
              </a:r>
              <a:r>
                <a:rPr lang="zh-CN" sz="710" b="1" dirty="0">
                  <a:solidFill>
                    <a:srgbClr val="42140B"/>
                  </a:solidFill>
                  <a:latin typeface="+mn-lt"/>
                  <a:ea typeface="+mn-ea"/>
                  <a:cs typeface="+mn-cs"/>
                </a:rPr>
                <a:t>价值实现</a:t>
              </a:r>
              <a:r>
                <a:rPr lang="zh-CN" sz="710" dirty="0">
                  <a:solidFill>
                    <a:srgbClr val="42140B"/>
                  </a:solidFill>
                  <a:latin typeface="+mn-lt"/>
                  <a:ea typeface="+mn-ea"/>
                  <a:cs typeface="+mn-cs"/>
                </a:rPr>
                <a:t xml:space="preserve"> ｜ </a:t>
              </a:r>
              <a:r>
                <a:rPr lang="zh-CN" sz="710" b="1" dirty="0">
                  <a:solidFill>
                    <a:srgbClr val="42140B"/>
                  </a:solidFill>
                  <a:latin typeface="+mn-lt"/>
                  <a:ea typeface="+mn-ea"/>
                  <a:cs typeface="+mn-cs"/>
                </a:rPr>
                <a:t>采用率</a:t>
              </a:r>
              <a:r>
                <a:rPr lang="zh-CN" sz="710" dirty="0">
                  <a:solidFill>
                    <a:srgbClr val="42140B"/>
                  </a:solidFill>
                  <a:latin typeface="+mn-lt"/>
                  <a:ea typeface="+mn-ea"/>
                  <a:cs typeface="+mn-cs"/>
                </a:rPr>
                <a:t xml:space="preserve"> ｜ </a:t>
              </a:r>
              <a:r>
                <a:rPr lang="zh-CN" sz="710" b="1" dirty="0">
                  <a:solidFill>
                    <a:srgbClr val="42140B"/>
                  </a:solidFill>
                  <a:latin typeface="+mn-lt"/>
                  <a:ea typeface="+mn-ea"/>
                  <a:cs typeface="+mn-cs"/>
                </a:rPr>
                <a:t>效果指标</a:t>
              </a:r>
              <a:r>
                <a:rPr lang="zh-CN" sz="710" dirty="0">
                  <a:solidFill>
                    <a:srgbClr val="42140B"/>
                  </a:solidFill>
                  <a:latin typeface="+mn-lt"/>
                  <a:ea typeface="+mn-ea"/>
                  <a:cs typeface="+mn-cs"/>
                </a:rPr>
                <a:t xml:space="preserve"> ｜ </a:t>
              </a:r>
              <a:r>
                <a:rPr lang="zh-CN" sz="710" b="1" dirty="0">
                  <a:solidFill>
                    <a:srgbClr val="42140B"/>
                  </a:solidFill>
                  <a:latin typeface="+mn-lt"/>
                  <a:ea typeface="+mn-ea"/>
                  <a:cs typeface="+mn-cs"/>
                </a:rPr>
                <a:t>质量指标</a:t>
              </a:r>
              <a:r>
                <a:rPr lang="zh-CN" sz="710" dirty="0">
                  <a:solidFill>
                    <a:srgbClr val="42140B"/>
                  </a:solidFill>
                  <a:latin typeface="+mn-lt"/>
                  <a:ea typeface="+mn-ea"/>
                  <a:cs typeface="+mn-cs"/>
                </a:rPr>
                <a:t xml:space="preserve"> ｜ </a:t>
              </a:r>
              <a:r>
                <a:rPr lang="zh-CN" sz="710" b="1" dirty="0">
                  <a:solidFill>
                    <a:srgbClr val="42140B"/>
                  </a:solidFill>
                  <a:latin typeface="+mn-lt"/>
                  <a:ea typeface="+mn-ea"/>
                  <a:cs typeface="+mn-cs"/>
                </a:rPr>
                <a:t>风险指标</a:t>
              </a:r>
              <a:r>
                <a:rPr lang="zh-CN" sz="710" dirty="0">
                  <a:solidFill>
                    <a:srgbClr val="42140B"/>
                  </a:solidFill>
                  <a:latin typeface="+mn-lt"/>
                  <a:ea typeface="+mn-ea"/>
                  <a:cs typeface="+mn-cs"/>
                </a:rPr>
                <a:t xml:space="preserve"> ｜ </a:t>
              </a:r>
              <a:r>
                <a:rPr lang="zh-CN" sz="710" b="1" dirty="0">
                  <a:solidFill>
                    <a:srgbClr val="42140B"/>
                  </a:solidFill>
                  <a:latin typeface="+mn-lt"/>
                  <a:ea typeface="+mn-ea"/>
                  <a:cs typeface="+mn-cs"/>
                </a:rPr>
                <a:t>成本效率</a:t>
              </a:r>
            </a:p>
          </p:txBody>
        </p:sp>
      </p:grpSp>
      <p:grpSp>
        <p:nvGrpSpPr>
          <p:cNvPr id="300" name="scale-path"/>
          <p:cNvGrpSpPr/>
          <p:nvPr/>
        </p:nvGrpSpPr>
        <p:grpSpPr>
          <a:xfrm>
            <a:off x="10134600" y="628650"/>
            <a:ext cx="1828800" cy="5657850"/>
            <a:chOff x="10134600" y="628650"/>
            <a:chExt cx="1828800" cy="5657850"/>
          </a:xfrm>
        </p:grpSpPr>
        <p:sp>
          <p:nvSpPr>
            <p:cNvPr id="245" name="Rectangle 245"/>
            <p:cNvSpPr/>
            <p:nvPr/>
          </p:nvSpPr>
          <p:spPr>
            <a:xfrm>
              <a:off x="10134600" y="628650"/>
              <a:ext cx="1828800" cy="5657850"/>
            </a:xfrm>
            <a:prstGeom prst="roundRect">
              <a:avLst>
                <a:gd name="adj" fmla="val 5208"/>
              </a:avLst>
            </a:prstGeom>
            <a:solidFill>
              <a:srgbClr val="FFFFFF"/>
            </a:solidFill>
            <a:ln w="9525">
              <a:solidFill>
                <a:srgbClr val="D9E8C6"/>
              </a:solidFill>
            </a:ln>
          </p:spPr>
        </p:sp>
        <p:sp>
          <p:nvSpPr>
            <p:cNvPr id="246" name="Rectangle 246"/>
            <p:cNvSpPr/>
            <p:nvPr/>
          </p:nvSpPr>
          <p:spPr>
            <a:xfrm>
              <a:off x="10134600" y="628650"/>
              <a:ext cx="1828800" cy="247650"/>
            </a:xfrm>
            <a:prstGeom prst="roundRect">
              <a:avLst>
                <a:gd name="adj" fmla="val 38462"/>
              </a:avLst>
            </a:prstGeom>
            <a:solidFill>
              <a:srgbClr val="42140B"/>
            </a:solidFill>
            <a:ln>
              <a:noFill/>
            </a:ln>
          </p:spPr>
        </p:sp>
        <p:sp>
          <p:nvSpPr>
            <p:cNvPr id="247" name="Rectangle 247"/>
            <p:cNvSpPr/>
            <p:nvPr/>
          </p:nvSpPr>
          <p:spPr>
            <a:xfrm>
              <a:off x="10134600" y="762000"/>
              <a:ext cx="1828800" cy="114300"/>
            </a:xfrm>
            <a:prstGeom prst="rect">
              <a:avLst/>
            </a:prstGeom>
            <a:solidFill>
              <a:srgbClr val="42140B"/>
            </a:solidFill>
            <a:ln>
              <a:noFill/>
            </a:ln>
          </p:spPr>
        </p:sp>
        <p:sp>
          <p:nvSpPr>
            <p:cNvPr id="248" name="TextBox 248"/>
            <p:cNvSpPr txBox="1"/>
            <p:nvPr/>
          </p:nvSpPr>
          <p:spPr>
            <a:xfrm>
              <a:off x="10639031" y="706993"/>
              <a:ext cx="81993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规模化复制路径</a:t>
              </a:r>
            </a:p>
          </p:txBody>
        </p:sp>
        <p:grpSp>
          <p:nvGrpSpPr>
            <p:cNvPr id="257" name="sp-1"/>
            <p:cNvGrpSpPr/>
            <p:nvPr/>
          </p:nvGrpSpPr>
          <p:grpSpPr>
            <a:xfrm>
              <a:off x="10210800" y="990600"/>
              <a:ext cx="1676400" cy="1104900"/>
              <a:chOff x="10210800" y="990600"/>
              <a:chExt cx="1676400" cy="1104900"/>
            </a:xfrm>
          </p:grpSpPr>
          <p:sp>
            <p:nvSpPr>
              <p:cNvPr id="249" name="Rectangle 249"/>
              <p:cNvSpPr/>
              <p:nvPr/>
            </p:nvSpPr>
            <p:spPr>
              <a:xfrm>
                <a:off x="10210800" y="990600"/>
                <a:ext cx="1676400" cy="1104900"/>
              </a:xfrm>
              <a:prstGeom prst="roundRect">
                <a:avLst>
                  <a:gd name="adj" fmla="val 6897"/>
                </a:avLst>
              </a:prstGeom>
              <a:solidFill>
                <a:srgbClr val="F4F8EC"/>
              </a:solidFill>
              <a:ln>
                <a:noFill/>
              </a:ln>
            </p:spPr>
          </p:sp>
          <p:sp>
            <p:nvSpPr>
              <p:cNvPr id="250" name="Ellipse 250"/>
              <p:cNvSpPr/>
              <p:nvPr/>
            </p:nvSpPr>
            <p:spPr>
              <a:xfrm>
                <a:off x="10858500" y="1066800"/>
                <a:ext cx="381000" cy="381000"/>
              </a:xfrm>
              <a:prstGeom prst="ellipse">
                <a:avLst/>
              </a:prstGeom>
              <a:solidFill>
                <a:srgbClr val="FFFFFF"/>
              </a:solidFill>
              <a:ln w="14288">
                <a:solidFill>
                  <a:srgbClr val="BE776A"/>
                </a:solidFill>
              </a:ln>
            </p:spPr>
          </p:sp>
          <p:grpSp>
            <p:nvGrpSpPr>
              <p:cNvPr id="253" name="Group 253"/>
              <p:cNvGrpSpPr/>
              <p:nvPr/>
            </p:nvGrpSpPr>
            <p:grpSpPr>
              <a:xfrm>
                <a:off x="10979150" y="1178719"/>
                <a:ext cx="139700" cy="157162"/>
                <a:chOff x="10979150" y="1178719"/>
                <a:chExt cx="139700" cy="157162"/>
              </a:xfrm>
            </p:grpSpPr>
            <p:sp>
              <p:nvSpPr>
                <p:cNvPr id="251" name="Freeform 251"/>
                <p:cNvSpPr/>
                <p:nvPr/>
              </p:nvSpPr>
              <p:spPr>
                <a:xfrm>
                  <a:off x="10979150" y="1178719"/>
                  <a:ext cx="139700" cy="78581"/>
                </a:xfrm>
                <a:custGeom>
                  <a:avLst/>
                  <a:gdLst/>
                  <a:ahLst/>
                  <a:cxnLst/>
                  <a:rect l="l" t="t" r="r" b="b"/>
                  <a:pathLst>
                    <a:path w="139700" h="78581">
                      <a:moveTo>
                        <a:pt x="0" y="78581"/>
                      </a:moveTo>
                      <a:lnTo>
                        <a:pt x="0" y="52388"/>
                      </a:lnTo>
                      <a:cubicBezTo>
                        <a:pt x="0" y="37921"/>
                        <a:pt x="11727" y="26194"/>
                        <a:pt x="26194" y="26194"/>
                      </a:cubicBezTo>
                      <a:lnTo>
                        <a:pt x="139700" y="26194"/>
                      </a:lnTo>
                      <a:moveTo>
                        <a:pt x="113506" y="0"/>
                      </a:moveTo>
                      <a:lnTo>
                        <a:pt x="139700" y="26194"/>
                      </a:lnTo>
                      <a:lnTo>
                        <a:pt x="113506" y="52388"/>
                      </a:lnTo>
                    </a:path>
                  </a:pathLst>
                </a:custGeom>
                <a:noFill/>
                <a:ln w="17463">
                  <a:solidFill>
                    <a:srgbClr val="7C3B2F"/>
                  </a:solidFill>
                </a:ln>
              </p:spPr>
            </p:sp>
            <p:sp>
              <p:nvSpPr>
                <p:cNvPr id="252" name="Freeform 252"/>
                <p:cNvSpPr/>
                <p:nvPr/>
              </p:nvSpPr>
              <p:spPr>
                <a:xfrm>
                  <a:off x="10979150" y="1257300"/>
                  <a:ext cx="139700" cy="78581"/>
                </a:xfrm>
                <a:custGeom>
                  <a:avLst/>
                  <a:gdLst/>
                  <a:ahLst/>
                  <a:cxnLst/>
                  <a:rect l="l" t="t" r="r" b="b"/>
                  <a:pathLst>
                    <a:path w="139700" h="78581">
                      <a:moveTo>
                        <a:pt x="139700" y="0"/>
                      </a:moveTo>
                      <a:lnTo>
                        <a:pt x="139700" y="26194"/>
                      </a:lnTo>
                      <a:cubicBezTo>
                        <a:pt x="139700" y="40660"/>
                        <a:pt x="127973" y="52388"/>
                        <a:pt x="113506" y="52388"/>
                      </a:cubicBezTo>
                      <a:lnTo>
                        <a:pt x="0" y="52388"/>
                      </a:lnTo>
                      <a:moveTo>
                        <a:pt x="26194" y="78581"/>
                      </a:moveTo>
                      <a:lnTo>
                        <a:pt x="0" y="52388"/>
                      </a:lnTo>
                      <a:lnTo>
                        <a:pt x="26194" y="26194"/>
                      </a:lnTo>
                    </a:path>
                  </a:pathLst>
                </a:custGeom>
                <a:noFill/>
                <a:ln w="17463">
                  <a:solidFill>
                    <a:srgbClr val="7C3B2F"/>
                  </a:solidFill>
                </a:ln>
              </p:spPr>
            </p:sp>
          </p:grpSp>
          <p:sp>
            <p:nvSpPr>
              <p:cNvPr id="254" name="TextBox 254"/>
              <p:cNvSpPr txBox="1"/>
              <p:nvPr/>
            </p:nvSpPr>
            <p:spPr>
              <a:xfrm>
                <a:off x="10823461" y="1530191"/>
                <a:ext cx="451079"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复制场景</a:t>
                </a:r>
              </a:p>
            </p:txBody>
          </p:sp>
          <p:sp>
            <p:nvSpPr>
              <p:cNvPr id="255" name="TextBox 255"/>
              <p:cNvSpPr txBox="1"/>
              <p:nvPr/>
            </p:nvSpPr>
            <p:spPr>
              <a:xfrm>
                <a:off x="10301288" y="174902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复用场景包与模板</a:t>
                </a:r>
              </a:p>
            </p:txBody>
          </p:sp>
          <p:sp>
            <p:nvSpPr>
              <p:cNvPr id="256" name="TextBox 256"/>
              <p:cNvSpPr txBox="1"/>
              <p:nvPr/>
            </p:nvSpPr>
            <p:spPr>
              <a:xfrm>
                <a:off x="10301288" y="190142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最佳实践快速落地</a:t>
                </a:r>
              </a:p>
            </p:txBody>
          </p:sp>
        </p:grpSp>
        <p:sp>
          <p:nvSpPr>
            <p:cNvPr id="258" name="Polygon 258"/>
            <p:cNvSpPr/>
            <p:nvPr/>
          </p:nvSpPr>
          <p:spPr>
            <a:xfrm>
              <a:off x="10972800" y="2133600"/>
              <a:ext cx="152400" cy="76200"/>
            </a:xfrm>
            <a:custGeom>
              <a:avLst/>
              <a:gdLst/>
              <a:ahLst/>
              <a:cxnLst/>
              <a:rect l="l" t="t" r="r" b="b"/>
              <a:pathLst>
                <a:path w="152400" h="76200">
                  <a:moveTo>
                    <a:pt x="0" y="0"/>
                  </a:moveTo>
                  <a:lnTo>
                    <a:pt x="152400" y="0"/>
                  </a:lnTo>
                  <a:lnTo>
                    <a:pt x="76200" y="76200"/>
                  </a:lnTo>
                  <a:close/>
                </a:path>
              </a:pathLst>
            </a:custGeom>
            <a:solidFill>
              <a:srgbClr val="9A4B3C"/>
            </a:solidFill>
            <a:ln>
              <a:noFill/>
            </a:ln>
          </p:spPr>
        </p:sp>
        <p:grpSp>
          <p:nvGrpSpPr>
            <p:cNvPr id="271" name="sp-2"/>
            <p:cNvGrpSpPr/>
            <p:nvPr/>
          </p:nvGrpSpPr>
          <p:grpSpPr>
            <a:xfrm>
              <a:off x="10210800" y="2266950"/>
              <a:ext cx="1676400" cy="1104900"/>
              <a:chOff x="10210800" y="2266950"/>
              <a:chExt cx="1676400" cy="1104900"/>
            </a:xfrm>
          </p:grpSpPr>
          <p:sp>
            <p:nvSpPr>
              <p:cNvPr id="259" name="Rectangle 259"/>
              <p:cNvSpPr/>
              <p:nvPr/>
            </p:nvSpPr>
            <p:spPr>
              <a:xfrm>
                <a:off x="10210800" y="2266950"/>
                <a:ext cx="1676400" cy="1104900"/>
              </a:xfrm>
              <a:prstGeom prst="roundRect">
                <a:avLst>
                  <a:gd name="adj" fmla="val 6897"/>
                </a:avLst>
              </a:prstGeom>
              <a:solidFill>
                <a:srgbClr val="F4F8EC"/>
              </a:solidFill>
              <a:ln>
                <a:noFill/>
              </a:ln>
            </p:spPr>
          </p:sp>
          <p:sp>
            <p:nvSpPr>
              <p:cNvPr id="260" name="Ellipse 260"/>
              <p:cNvSpPr/>
              <p:nvPr/>
            </p:nvSpPr>
            <p:spPr>
              <a:xfrm>
                <a:off x="10858500" y="2343150"/>
                <a:ext cx="381000" cy="381000"/>
              </a:xfrm>
              <a:prstGeom prst="ellipse">
                <a:avLst/>
              </a:prstGeom>
              <a:solidFill>
                <a:srgbClr val="FFFFFF"/>
              </a:solidFill>
              <a:ln w="14288">
                <a:solidFill>
                  <a:srgbClr val="BE776A"/>
                </a:solidFill>
              </a:ln>
            </p:spPr>
          </p:sp>
          <p:grpSp>
            <p:nvGrpSpPr>
              <p:cNvPr id="267" name="Group 267"/>
              <p:cNvGrpSpPr/>
              <p:nvPr/>
            </p:nvGrpSpPr>
            <p:grpSpPr>
              <a:xfrm>
                <a:off x="10970419" y="2455069"/>
                <a:ext cx="157162" cy="157163"/>
                <a:chOff x="10970419" y="2455069"/>
                <a:chExt cx="157162" cy="157163"/>
              </a:xfrm>
            </p:grpSpPr>
            <p:sp>
              <p:nvSpPr>
                <p:cNvPr id="261" name="Freeform 261"/>
                <p:cNvSpPr/>
                <p:nvPr/>
              </p:nvSpPr>
              <p:spPr>
                <a:xfrm>
                  <a:off x="11031538" y="25249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C3B2F"/>
                  </a:solidFill>
                </a:ln>
              </p:spPr>
            </p:sp>
            <p:sp>
              <p:nvSpPr>
                <p:cNvPr id="262" name="Freeform 262"/>
                <p:cNvSpPr/>
                <p:nvPr/>
              </p:nvSpPr>
              <p:spPr>
                <a:xfrm>
                  <a:off x="11014075" y="2586038"/>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7C3B2F"/>
                  </a:solidFill>
                </a:ln>
              </p:spPr>
            </p:sp>
            <p:sp>
              <p:nvSpPr>
                <p:cNvPr id="263" name="Freeform 263"/>
                <p:cNvSpPr/>
                <p:nvPr/>
              </p:nvSpPr>
              <p:spPr>
                <a:xfrm>
                  <a:off x="11075194" y="245506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C3B2F"/>
                  </a:solidFill>
                </a:ln>
              </p:spPr>
            </p:sp>
            <p:sp>
              <p:nvSpPr>
                <p:cNvPr id="264" name="Freeform 264"/>
                <p:cNvSpPr/>
                <p:nvPr/>
              </p:nvSpPr>
              <p:spPr>
                <a:xfrm>
                  <a:off x="11092656" y="2516188"/>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7C3B2F"/>
                  </a:solidFill>
                </a:ln>
              </p:spPr>
            </p:sp>
            <p:sp>
              <p:nvSpPr>
                <p:cNvPr id="265" name="Freeform 265"/>
                <p:cNvSpPr/>
                <p:nvPr/>
              </p:nvSpPr>
              <p:spPr>
                <a:xfrm>
                  <a:off x="10987881" y="245506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C3B2F"/>
                  </a:solidFill>
                </a:ln>
              </p:spPr>
            </p:sp>
            <p:sp>
              <p:nvSpPr>
                <p:cNvPr id="266" name="Freeform 266"/>
                <p:cNvSpPr/>
                <p:nvPr/>
              </p:nvSpPr>
              <p:spPr>
                <a:xfrm>
                  <a:off x="10970419" y="2516188"/>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7C3B2F"/>
                  </a:solidFill>
                </a:ln>
              </p:spPr>
            </p:sp>
          </p:grpSp>
          <p:sp>
            <p:nvSpPr>
              <p:cNvPr id="268" name="TextBox 268"/>
              <p:cNvSpPr txBox="1"/>
              <p:nvPr/>
            </p:nvSpPr>
            <p:spPr>
              <a:xfrm>
                <a:off x="10823461" y="2806541"/>
                <a:ext cx="451079"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扩展部门</a:t>
                </a:r>
              </a:p>
            </p:txBody>
          </p:sp>
          <p:sp>
            <p:nvSpPr>
              <p:cNvPr id="269" name="TextBox 269"/>
              <p:cNvSpPr txBox="1"/>
              <p:nvPr/>
            </p:nvSpPr>
            <p:spPr>
              <a:xfrm>
                <a:off x="10301288" y="302537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按优先级扩展覆盖</a:t>
                </a:r>
              </a:p>
            </p:txBody>
          </p:sp>
          <p:sp>
            <p:nvSpPr>
              <p:cNvPr id="270" name="TextBox 270"/>
              <p:cNvSpPr txBox="1"/>
              <p:nvPr/>
            </p:nvSpPr>
            <p:spPr>
              <a:xfrm>
                <a:off x="10301288" y="317777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标准化赋能与支持</a:t>
                </a:r>
              </a:p>
            </p:txBody>
          </p:sp>
        </p:grpSp>
        <p:sp>
          <p:nvSpPr>
            <p:cNvPr id="272" name="Polygon 272"/>
            <p:cNvSpPr/>
            <p:nvPr/>
          </p:nvSpPr>
          <p:spPr>
            <a:xfrm>
              <a:off x="10972800" y="3409950"/>
              <a:ext cx="152400" cy="76200"/>
            </a:xfrm>
            <a:custGeom>
              <a:avLst/>
              <a:gdLst/>
              <a:ahLst/>
              <a:cxnLst/>
              <a:rect l="l" t="t" r="r" b="b"/>
              <a:pathLst>
                <a:path w="152400" h="76200">
                  <a:moveTo>
                    <a:pt x="0" y="0"/>
                  </a:moveTo>
                  <a:lnTo>
                    <a:pt x="152400" y="0"/>
                  </a:lnTo>
                  <a:lnTo>
                    <a:pt x="76200" y="76200"/>
                  </a:lnTo>
                  <a:close/>
                </a:path>
              </a:pathLst>
            </a:custGeom>
            <a:solidFill>
              <a:srgbClr val="9A4B3C"/>
            </a:solidFill>
            <a:ln>
              <a:noFill/>
            </a:ln>
          </p:spPr>
        </p:sp>
        <p:grpSp>
          <p:nvGrpSpPr>
            <p:cNvPr id="282" name="sp-3"/>
            <p:cNvGrpSpPr/>
            <p:nvPr/>
          </p:nvGrpSpPr>
          <p:grpSpPr>
            <a:xfrm>
              <a:off x="10210800" y="3543300"/>
              <a:ext cx="1676400" cy="1104900"/>
              <a:chOff x="10210800" y="3543300"/>
              <a:chExt cx="1676400" cy="1104900"/>
            </a:xfrm>
          </p:grpSpPr>
          <p:sp>
            <p:nvSpPr>
              <p:cNvPr id="273" name="Rectangle 273"/>
              <p:cNvSpPr/>
              <p:nvPr/>
            </p:nvSpPr>
            <p:spPr>
              <a:xfrm>
                <a:off x="10210800" y="3543300"/>
                <a:ext cx="1676400" cy="1104900"/>
              </a:xfrm>
              <a:prstGeom prst="roundRect">
                <a:avLst>
                  <a:gd name="adj" fmla="val 6897"/>
                </a:avLst>
              </a:prstGeom>
              <a:solidFill>
                <a:srgbClr val="F4F8EC"/>
              </a:solidFill>
              <a:ln>
                <a:noFill/>
              </a:ln>
            </p:spPr>
          </p:sp>
          <p:sp>
            <p:nvSpPr>
              <p:cNvPr id="274" name="Ellipse 274"/>
              <p:cNvSpPr/>
              <p:nvPr/>
            </p:nvSpPr>
            <p:spPr>
              <a:xfrm>
                <a:off x="10858500" y="3619500"/>
                <a:ext cx="381000" cy="381000"/>
              </a:xfrm>
              <a:prstGeom prst="ellipse">
                <a:avLst/>
              </a:prstGeom>
              <a:solidFill>
                <a:srgbClr val="FFFFFF"/>
              </a:solidFill>
              <a:ln w="14288">
                <a:solidFill>
                  <a:srgbClr val="BE776A"/>
                </a:solidFill>
              </a:ln>
            </p:spPr>
          </p:sp>
          <p:grpSp>
            <p:nvGrpSpPr>
              <p:cNvPr id="278" name="Group 278"/>
              <p:cNvGrpSpPr/>
              <p:nvPr/>
            </p:nvGrpSpPr>
            <p:grpSpPr>
              <a:xfrm>
                <a:off x="10979150" y="3731419"/>
                <a:ext cx="139700" cy="157162"/>
                <a:chOff x="10979150" y="3731419"/>
                <a:chExt cx="139700" cy="157162"/>
              </a:xfrm>
            </p:grpSpPr>
            <p:sp>
              <p:nvSpPr>
                <p:cNvPr id="275" name="Freeform 275"/>
                <p:cNvSpPr/>
                <p:nvPr/>
              </p:nvSpPr>
              <p:spPr>
                <a:xfrm>
                  <a:off x="10979150" y="3731419"/>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7C3B2F"/>
                  </a:solidFill>
                </a:ln>
              </p:spPr>
            </p:sp>
            <p:sp>
              <p:nvSpPr>
                <p:cNvPr id="276" name="Freeform 276"/>
                <p:cNvSpPr/>
                <p:nvPr/>
              </p:nvSpPr>
              <p:spPr>
                <a:xfrm>
                  <a:off x="10979150" y="3757613"/>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7C3B2F"/>
                  </a:solidFill>
                </a:ln>
              </p:spPr>
            </p:sp>
            <p:sp>
              <p:nvSpPr>
                <p:cNvPr id="277" name="Freeform 277"/>
                <p:cNvSpPr/>
                <p:nvPr/>
              </p:nvSpPr>
              <p:spPr>
                <a:xfrm>
                  <a:off x="10979150" y="3810000"/>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7C3B2F"/>
                  </a:solidFill>
                </a:ln>
              </p:spPr>
            </p:sp>
          </p:grpSp>
          <p:sp>
            <p:nvSpPr>
              <p:cNvPr id="279" name="TextBox 279"/>
              <p:cNvSpPr txBox="1"/>
              <p:nvPr/>
            </p:nvSpPr>
            <p:spPr>
              <a:xfrm>
                <a:off x="10768266" y="4082891"/>
                <a:ext cx="561467"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接入新知识</a:t>
                </a:r>
              </a:p>
            </p:txBody>
          </p:sp>
          <p:sp>
            <p:nvSpPr>
              <p:cNvPr id="280" name="TextBox 280"/>
              <p:cNvSpPr txBox="1"/>
              <p:nvPr/>
            </p:nvSpPr>
            <p:spPr>
              <a:xfrm>
                <a:off x="10301288" y="43017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复用治理规范与工具</a:t>
                </a:r>
              </a:p>
            </p:txBody>
          </p:sp>
          <p:sp>
            <p:nvSpPr>
              <p:cNvPr id="281" name="TextBox 281"/>
              <p:cNvSpPr txBox="1"/>
              <p:nvPr/>
            </p:nvSpPr>
            <p:spPr>
              <a:xfrm>
                <a:off x="10301288" y="445412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安全合规接入新源</a:t>
                </a:r>
              </a:p>
            </p:txBody>
          </p:sp>
        </p:grpSp>
        <p:sp>
          <p:nvSpPr>
            <p:cNvPr id="283" name="Polygon 283"/>
            <p:cNvSpPr/>
            <p:nvPr/>
          </p:nvSpPr>
          <p:spPr>
            <a:xfrm>
              <a:off x="10972800" y="4686300"/>
              <a:ext cx="152400" cy="76200"/>
            </a:xfrm>
            <a:custGeom>
              <a:avLst/>
              <a:gdLst/>
              <a:ahLst/>
              <a:cxnLst/>
              <a:rect l="l" t="t" r="r" b="b"/>
              <a:pathLst>
                <a:path w="152400" h="76200">
                  <a:moveTo>
                    <a:pt x="0" y="0"/>
                  </a:moveTo>
                  <a:lnTo>
                    <a:pt x="152400" y="0"/>
                  </a:lnTo>
                  <a:lnTo>
                    <a:pt x="76200" y="76200"/>
                  </a:lnTo>
                  <a:close/>
                </a:path>
              </a:pathLst>
            </a:custGeom>
            <a:solidFill>
              <a:srgbClr val="9A4B3C"/>
            </a:solidFill>
            <a:ln>
              <a:noFill/>
            </a:ln>
          </p:spPr>
        </p:sp>
        <p:grpSp>
          <p:nvGrpSpPr>
            <p:cNvPr id="299" name="sp-4"/>
            <p:cNvGrpSpPr/>
            <p:nvPr/>
          </p:nvGrpSpPr>
          <p:grpSpPr>
            <a:xfrm>
              <a:off x="10210800" y="4819650"/>
              <a:ext cx="1676400" cy="1104900"/>
              <a:chOff x="10210800" y="4819650"/>
              <a:chExt cx="1676400" cy="1104900"/>
            </a:xfrm>
          </p:grpSpPr>
          <p:sp>
            <p:nvSpPr>
              <p:cNvPr id="284" name="Rectangle 284"/>
              <p:cNvSpPr/>
              <p:nvPr/>
            </p:nvSpPr>
            <p:spPr>
              <a:xfrm>
                <a:off x="10210800" y="4819650"/>
                <a:ext cx="1676400" cy="1104900"/>
              </a:xfrm>
              <a:prstGeom prst="roundRect">
                <a:avLst>
                  <a:gd name="adj" fmla="val 6897"/>
                </a:avLst>
              </a:prstGeom>
              <a:solidFill>
                <a:srgbClr val="F4F8EC"/>
              </a:solidFill>
              <a:ln>
                <a:noFill/>
              </a:ln>
            </p:spPr>
          </p:sp>
          <p:sp>
            <p:nvSpPr>
              <p:cNvPr id="285" name="Ellipse 285"/>
              <p:cNvSpPr/>
              <p:nvPr/>
            </p:nvSpPr>
            <p:spPr>
              <a:xfrm>
                <a:off x="10858500" y="4895850"/>
                <a:ext cx="381000" cy="381000"/>
              </a:xfrm>
              <a:prstGeom prst="ellipse">
                <a:avLst/>
              </a:prstGeom>
              <a:solidFill>
                <a:srgbClr val="FFFFFF"/>
              </a:solidFill>
              <a:ln w="14288">
                <a:solidFill>
                  <a:srgbClr val="BE776A"/>
                </a:solidFill>
              </a:ln>
            </p:spPr>
          </p:sp>
          <p:grpSp>
            <p:nvGrpSpPr>
              <p:cNvPr id="295" name="Group 295"/>
              <p:cNvGrpSpPr/>
              <p:nvPr/>
            </p:nvGrpSpPr>
            <p:grpSpPr>
              <a:xfrm>
                <a:off x="10987881" y="4999038"/>
                <a:ext cx="122238" cy="165893"/>
                <a:chOff x="10987881" y="4999038"/>
                <a:chExt cx="122238" cy="165893"/>
              </a:xfrm>
            </p:grpSpPr>
            <p:sp>
              <p:nvSpPr>
                <p:cNvPr id="286" name="Freeform 286"/>
                <p:cNvSpPr/>
                <p:nvPr/>
              </p:nvSpPr>
              <p:spPr>
                <a:xfrm>
                  <a:off x="10996613" y="5016500"/>
                  <a:ext cx="104775" cy="69850"/>
                </a:xfrm>
                <a:custGeom>
                  <a:avLst/>
                  <a:gdLst/>
                  <a:ahLst/>
                  <a:cxnLst/>
                  <a:rect l="l" t="t" r="r" b="b"/>
                  <a:pathLst>
                    <a:path w="104775" h="69850">
                      <a:moveTo>
                        <a:pt x="0" y="17463"/>
                      </a:moveTo>
                      <a:cubicBezTo>
                        <a:pt x="0" y="7818"/>
                        <a:pt x="7818" y="0"/>
                        <a:pt x="17463" y="0"/>
                      </a:cubicBezTo>
                      <a:lnTo>
                        <a:pt x="87313" y="0"/>
                      </a:lnTo>
                      <a:cubicBezTo>
                        <a:pt x="96957" y="0"/>
                        <a:pt x="104775" y="7818"/>
                        <a:pt x="104775" y="17463"/>
                      </a:cubicBezTo>
                      <a:lnTo>
                        <a:pt x="104775" y="52388"/>
                      </a:lnTo>
                      <a:cubicBezTo>
                        <a:pt x="104775" y="62032"/>
                        <a:pt x="96957" y="69850"/>
                        <a:pt x="87313" y="69850"/>
                      </a:cubicBezTo>
                      <a:lnTo>
                        <a:pt x="17463" y="69850"/>
                      </a:lnTo>
                      <a:cubicBezTo>
                        <a:pt x="7818" y="69850"/>
                        <a:pt x="0" y="62032"/>
                        <a:pt x="0" y="52388"/>
                      </a:cubicBezTo>
                      <a:lnTo>
                        <a:pt x="0" y="17463"/>
                      </a:lnTo>
                    </a:path>
                  </a:pathLst>
                </a:custGeom>
                <a:noFill/>
                <a:ln w="17463">
                  <a:solidFill>
                    <a:srgbClr val="7C3B2F"/>
                  </a:solidFill>
                </a:ln>
              </p:spPr>
            </p:sp>
            <p:sp>
              <p:nvSpPr>
                <p:cNvPr id="287" name="Freeform 287"/>
                <p:cNvSpPr/>
                <p:nvPr/>
              </p:nvSpPr>
              <p:spPr>
                <a:xfrm>
                  <a:off x="11049000" y="4999038"/>
                  <a:ext cx="9525" cy="17463"/>
                </a:xfrm>
                <a:custGeom>
                  <a:avLst/>
                  <a:gdLst/>
                  <a:ahLst/>
                  <a:cxnLst/>
                  <a:rect l="l" t="t" r="r" b="b"/>
                  <a:pathLst>
                    <a:path w="9525" h="17463">
                      <a:moveTo>
                        <a:pt x="0" y="0"/>
                      </a:moveTo>
                      <a:lnTo>
                        <a:pt x="0" y="17463"/>
                      </a:lnTo>
                    </a:path>
                  </a:pathLst>
                </a:custGeom>
                <a:noFill/>
                <a:ln w="17463">
                  <a:solidFill>
                    <a:srgbClr val="7C3B2F"/>
                  </a:solidFill>
                </a:ln>
              </p:spPr>
            </p:sp>
            <p:sp>
              <p:nvSpPr>
                <p:cNvPr id="288" name="Freeform 288"/>
                <p:cNvSpPr/>
                <p:nvPr/>
              </p:nvSpPr>
              <p:spPr>
                <a:xfrm>
                  <a:off x="11022806" y="5086350"/>
                  <a:ext cx="9525" cy="78581"/>
                </a:xfrm>
                <a:custGeom>
                  <a:avLst/>
                  <a:gdLst/>
                  <a:ahLst/>
                  <a:cxnLst/>
                  <a:rect l="l" t="t" r="r" b="b"/>
                  <a:pathLst>
                    <a:path w="9525" h="78581">
                      <a:moveTo>
                        <a:pt x="0" y="0"/>
                      </a:moveTo>
                      <a:lnTo>
                        <a:pt x="0" y="78581"/>
                      </a:lnTo>
                    </a:path>
                  </a:pathLst>
                </a:custGeom>
                <a:noFill/>
                <a:ln w="17463">
                  <a:solidFill>
                    <a:srgbClr val="7C3B2F"/>
                  </a:solidFill>
                </a:ln>
              </p:spPr>
            </p:sp>
            <p:sp>
              <p:nvSpPr>
                <p:cNvPr id="289" name="Freeform 289"/>
                <p:cNvSpPr/>
                <p:nvPr/>
              </p:nvSpPr>
              <p:spPr>
                <a:xfrm>
                  <a:off x="11075194" y="5086350"/>
                  <a:ext cx="9525" cy="78581"/>
                </a:xfrm>
                <a:custGeom>
                  <a:avLst/>
                  <a:gdLst/>
                  <a:ahLst/>
                  <a:cxnLst/>
                  <a:rect l="l" t="t" r="r" b="b"/>
                  <a:pathLst>
                    <a:path w="9525" h="78581">
                      <a:moveTo>
                        <a:pt x="0" y="0"/>
                      </a:moveTo>
                      <a:lnTo>
                        <a:pt x="0" y="78581"/>
                      </a:lnTo>
                    </a:path>
                  </a:pathLst>
                </a:custGeom>
                <a:noFill/>
                <a:ln w="17463">
                  <a:solidFill>
                    <a:srgbClr val="7C3B2F"/>
                  </a:solidFill>
                </a:ln>
              </p:spPr>
            </p:sp>
            <p:sp>
              <p:nvSpPr>
                <p:cNvPr id="290" name="Freeform 290"/>
                <p:cNvSpPr/>
                <p:nvPr/>
              </p:nvSpPr>
              <p:spPr>
                <a:xfrm>
                  <a:off x="10987881" y="5103813"/>
                  <a:ext cx="34925" cy="17463"/>
                </a:xfrm>
                <a:custGeom>
                  <a:avLst/>
                  <a:gdLst/>
                  <a:ahLst/>
                  <a:cxnLst/>
                  <a:rect l="l" t="t" r="r" b="b"/>
                  <a:pathLst>
                    <a:path w="34925" h="17463">
                      <a:moveTo>
                        <a:pt x="0" y="17463"/>
                      </a:moveTo>
                      <a:lnTo>
                        <a:pt x="34925" y="0"/>
                      </a:lnTo>
                    </a:path>
                  </a:pathLst>
                </a:custGeom>
                <a:noFill/>
                <a:ln w="17463">
                  <a:solidFill>
                    <a:srgbClr val="7C3B2F"/>
                  </a:solidFill>
                </a:ln>
              </p:spPr>
            </p:sp>
            <p:sp>
              <p:nvSpPr>
                <p:cNvPr id="291" name="Freeform 291"/>
                <p:cNvSpPr/>
                <p:nvPr/>
              </p:nvSpPr>
              <p:spPr>
                <a:xfrm>
                  <a:off x="11075194" y="5103813"/>
                  <a:ext cx="34925" cy="17463"/>
                </a:xfrm>
                <a:custGeom>
                  <a:avLst/>
                  <a:gdLst/>
                  <a:ahLst/>
                  <a:cxnLst/>
                  <a:rect l="l" t="t" r="r" b="b"/>
                  <a:pathLst>
                    <a:path w="34925" h="17463">
                      <a:moveTo>
                        <a:pt x="0" y="0"/>
                      </a:moveTo>
                      <a:lnTo>
                        <a:pt x="34925" y="17463"/>
                      </a:lnTo>
                    </a:path>
                  </a:pathLst>
                </a:custGeom>
                <a:noFill/>
                <a:ln w="17463">
                  <a:solidFill>
                    <a:srgbClr val="7C3B2F"/>
                  </a:solidFill>
                </a:ln>
              </p:spPr>
            </p:sp>
            <p:sp>
              <p:nvSpPr>
                <p:cNvPr id="292" name="Freeform 292"/>
                <p:cNvSpPr/>
                <p:nvPr/>
              </p:nvSpPr>
              <p:spPr>
                <a:xfrm>
                  <a:off x="11022806" y="5138738"/>
                  <a:ext cx="52388" cy="9525"/>
                </a:xfrm>
                <a:custGeom>
                  <a:avLst/>
                  <a:gdLst/>
                  <a:ahLst/>
                  <a:cxnLst/>
                  <a:rect l="l" t="t" r="r" b="b"/>
                  <a:pathLst>
                    <a:path w="52388" h="9525">
                      <a:moveTo>
                        <a:pt x="0" y="0"/>
                      </a:moveTo>
                      <a:lnTo>
                        <a:pt x="52388" y="0"/>
                      </a:lnTo>
                    </a:path>
                  </a:pathLst>
                </a:custGeom>
                <a:noFill/>
                <a:ln w="17463">
                  <a:solidFill>
                    <a:srgbClr val="7C3B2F"/>
                  </a:solidFill>
                </a:ln>
              </p:spPr>
            </p:sp>
            <p:sp>
              <p:nvSpPr>
                <p:cNvPr id="293" name="Freeform 293"/>
                <p:cNvSpPr/>
                <p:nvPr/>
              </p:nvSpPr>
              <p:spPr>
                <a:xfrm>
                  <a:off x="11031538" y="5051425"/>
                  <a:ext cx="9525" cy="9525"/>
                </a:xfrm>
                <a:custGeom>
                  <a:avLst/>
                  <a:gdLst/>
                  <a:ahLst/>
                  <a:cxnLst/>
                  <a:rect l="l" t="t" r="r" b="b"/>
                  <a:pathLst>
                    <a:path w="9525" h="9525">
                      <a:moveTo>
                        <a:pt x="0" y="0"/>
                      </a:moveTo>
                      <a:lnTo>
                        <a:pt x="0" y="87"/>
                      </a:lnTo>
                    </a:path>
                  </a:pathLst>
                </a:custGeom>
                <a:noFill/>
                <a:ln w="17463">
                  <a:solidFill>
                    <a:srgbClr val="7C3B2F"/>
                  </a:solidFill>
                </a:ln>
              </p:spPr>
            </p:sp>
            <p:sp>
              <p:nvSpPr>
                <p:cNvPr id="294" name="Freeform 294"/>
                <p:cNvSpPr/>
                <p:nvPr/>
              </p:nvSpPr>
              <p:spPr>
                <a:xfrm>
                  <a:off x="11066463" y="5051425"/>
                  <a:ext cx="9525" cy="9525"/>
                </a:xfrm>
                <a:custGeom>
                  <a:avLst/>
                  <a:gdLst/>
                  <a:ahLst/>
                  <a:cxnLst/>
                  <a:rect l="l" t="t" r="r" b="b"/>
                  <a:pathLst>
                    <a:path w="9525" h="9525">
                      <a:moveTo>
                        <a:pt x="0" y="0"/>
                      </a:moveTo>
                      <a:lnTo>
                        <a:pt x="0" y="87"/>
                      </a:lnTo>
                    </a:path>
                  </a:pathLst>
                </a:custGeom>
                <a:noFill/>
                <a:ln w="17463">
                  <a:solidFill>
                    <a:srgbClr val="7C3B2F"/>
                  </a:solidFill>
                </a:ln>
              </p:spPr>
            </p:sp>
          </p:grpSp>
          <p:sp>
            <p:nvSpPr>
              <p:cNvPr id="296" name="TextBox 296"/>
              <p:cNvSpPr txBox="1"/>
              <p:nvPr/>
            </p:nvSpPr>
            <p:spPr>
              <a:xfrm>
                <a:off x="10768266" y="5359241"/>
                <a:ext cx="561467"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升级智能体</a:t>
                </a:r>
              </a:p>
            </p:txBody>
          </p:sp>
          <p:sp>
            <p:nvSpPr>
              <p:cNvPr id="297" name="TextBox 297"/>
              <p:cNvSpPr txBox="1"/>
              <p:nvPr/>
            </p:nvSpPr>
            <p:spPr>
              <a:xfrm>
                <a:off x="10301288" y="557807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模型与能力持续升级</a:t>
                </a:r>
              </a:p>
            </p:txBody>
          </p:sp>
          <p:sp>
            <p:nvSpPr>
              <p:cNvPr id="298" name="TextBox 298"/>
              <p:cNvSpPr txBox="1"/>
              <p:nvPr/>
            </p:nvSpPr>
            <p:spPr>
              <a:xfrm>
                <a:off x="10301288" y="573047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自动化与智能化增强</a:t>
                </a:r>
              </a:p>
            </p:txBody>
          </p:sp>
        </p:grpSp>
      </p:gr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16</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价值度量要同时证明</a:t>
              </a:r>
              <a:r>
                <a:rPr lang="zh-CN" sz="1950" b="1" dirty="0">
                  <a:solidFill>
                    <a:srgbClr val="7C3B2F"/>
                  </a:solidFill>
                  <a:latin typeface="SimSun"/>
                  <a:ea typeface="SimSun"/>
                  <a:cs typeface="SimSun"/>
                </a:rPr>
                <a:t>效率提升、质量改善、风险下降与增长贡献</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95" name="value-cards"/>
          <p:cNvGrpSpPr/>
          <p:nvPr/>
        </p:nvGrpSpPr>
        <p:grpSpPr>
          <a:xfrm>
            <a:off x="285750" y="723186"/>
            <a:ext cx="3943350" cy="4572714"/>
            <a:chOff x="285750" y="723186"/>
            <a:chExt cx="3943350" cy="4572714"/>
          </a:xfrm>
        </p:grpSpPr>
        <p:sp>
          <p:nvSpPr>
            <p:cNvPr id="7" name="TextBox 7"/>
            <p:cNvSpPr txBox="1"/>
            <p:nvPr/>
          </p:nvSpPr>
          <p:spPr>
            <a:xfrm>
              <a:off x="432727" y="723186"/>
              <a:ext cx="391846"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业务结果</a:t>
              </a:r>
            </a:p>
          </p:txBody>
        </p:sp>
        <p:sp>
          <p:nvSpPr>
            <p:cNvPr id="8" name="TextBox 8"/>
            <p:cNvSpPr txBox="1"/>
            <p:nvPr/>
          </p:nvSpPr>
          <p:spPr>
            <a:xfrm>
              <a:off x="1565542" y="723186"/>
              <a:ext cx="774167"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驱动指标（示例）</a:t>
              </a:r>
            </a:p>
          </p:txBody>
        </p:sp>
        <p:sp>
          <p:nvSpPr>
            <p:cNvPr id="9" name="TextBox 9"/>
            <p:cNvSpPr txBox="1"/>
            <p:nvPr/>
          </p:nvSpPr>
          <p:spPr>
            <a:xfrm>
              <a:off x="3117786" y="723186"/>
              <a:ext cx="965327" cy="140494"/>
            </a:xfrm>
            <a:prstGeom prst="rect">
              <a:avLst/>
            </a:prstGeom>
            <a:noFill/>
            <a:ln>
              <a:noFill/>
            </a:ln>
          </p:spPr>
          <p:txBody>
            <a:bodyPr wrap="none" lIns="0" tIns="0" rIns="0" bIns="0" anchor="t" anchorCtr="0">
              <a:spAutoFit/>
            </a:bodyPr>
            <a:lstStyle/>
            <a:p>
              <a:pPr algn="ctr"/>
              <a:r>
                <a:rPr lang="zh-CN" sz="710" b="1" dirty="0">
                  <a:solidFill>
                    <a:srgbClr val="42140B"/>
                  </a:solidFill>
                  <a:latin typeface="+mn-lt"/>
                  <a:ea typeface="+mn-ea"/>
                  <a:cs typeface="+mn-cs"/>
                </a:rPr>
                <a:t>测算口径（财务转化）</a:t>
              </a:r>
            </a:p>
          </p:txBody>
        </p:sp>
        <p:grpSp>
          <p:nvGrpSpPr>
            <p:cNvPr id="30" name="vc-efficiency"/>
            <p:cNvGrpSpPr/>
            <p:nvPr/>
          </p:nvGrpSpPr>
          <p:grpSpPr>
            <a:xfrm>
              <a:off x="285750" y="914400"/>
              <a:ext cx="3943350" cy="1009650"/>
              <a:chOff x="285750" y="914400"/>
              <a:chExt cx="3943350" cy="1009650"/>
            </a:xfrm>
          </p:grpSpPr>
          <p:sp>
            <p:nvSpPr>
              <p:cNvPr id="10" name="Rectangle 10"/>
              <p:cNvSpPr/>
              <p:nvPr/>
            </p:nvSpPr>
            <p:spPr>
              <a:xfrm>
                <a:off x="285750" y="914400"/>
                <a:ext cx="914400" cy="1009650"/>
              </a:xfrm>
              <a:prstGeom prst="roundRect">
                <a:avLst>
                  <a:gd name="adj" fmla="val 10417"/>
                </a:avLst>
              </a:prstGeom>
              <a:solidFill>
                <a:srgbClr val="F4F8EC"/>
              </a:solidFill>
              <a:ln w="9525">
                <a:solidFill>
                  <a:srgbClr val="D9E8C6"/>
                </a:solidFill>
              </a:ln>
            </p:spPr>
          </p:sp>
          <p:sp>
            <p:nvSpPr>
              <p:cNvPr id="11" name="Ellipse 11"/>
              <p:cNvSpPr/>
              <p:nvPr/>
            </p:nvSpPr>
            <p:spPr>
              <a:xfrm>
                <a:off x="514350" y="1104900"/>
                <a:ext cx="457200" cy="457200"/>
              </a:xfrm>
              <a:prstGeom prst="ellipse">
                <a:avLst/>
              </a:prstGeom>
              <a:solidFill>
                <a:srgbClr val="42140B"/>
              </a:solidFill>
              <a:ln>
                <a:noFill/>
              </a:ln>
            </p:spPr>
          </p:sp>
          <p:grpSp>
            <p:nvGrpSpPr>
              <p:cNvPr id="14" name="Group 14"/>
              <p:cNvGrpSpPr/>
              <p:nvPr/>
            </p:nvGrpSpPr>
            <p:grpSpPr>
              <a:xfrm>
                <a:off x="642938" y="1233488"/>
                <a:ext cx="200026" cy="200026"/>
                <a:chOff x="642938" y="1233488"/>
                <a:chExt cx="200026" cy="200026"/>
              </a:xfrm>
            </p:grpSpPr>
            <p:sp>
              <p:nvSpPr>
                <p:cNvPr id="12" name="Freeform 12"/>
                <p:cNvSpPr/>
                <p:nvPr/>
              </p:nvSpPr>
              <p:spPr>
                <a:xfrm>
                  <a:off x="642938" y="12334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FFFFFF"/>
                  </a:solidFill>
                </a:ln>
              </p:spPr>
            </p:sp>
            <p:sp>
              <p:nvSpPr>
                <p:cNvPr id="13" name="Freeform 13"/>
                <p:cNvSpPr/>
                <p:nvPr/>
              </p:nvSpPr>
              <p:spPr>
                <a:xfrm>
                  <a:off x="742950" y="1277938"/>
                  <a:ext cx="33338" cy="88900"/>
                </a:xfrm>
                <a:custGeom>
                  <a:avLst/>
                  <a:gdLst/>
                  <a:ahLst/>
                  <a:cxnLst/>
                  <a:rect l="l" t="t" r="r" b="b"/>
                  <a:pathLst>
                    <a:path w="33338" h="88900">
                      <a:moveTo>
                        <a:pt x="0" y="0"/>
                      </a:moveTo>
                      <a:lnTo>
                        <a:pt x="0" y="55563"/>
                      </a:lnTo>
                      <a:lnTo>
                        <a:pt x="33338" y="88900"/>
                      </a:lnTo>
                    </a:path>
                  </a:pathLst>
                </a:custGeom>
                <a:noFill/>
                <a:ln w="22225">
                  <a:solidFill>
                    <a:srgbClr val="FFFFFF"/>
                  </a:solidFill>
                </a:ln>
              </p:spPr>
            </p:sp>
          </p:grpSp>
          <p:sp>
            <p:nvSpPr>
              <p:cNvPr id="15" name="TextBox 15"/>
              <p:cNvSpPr txBox="1"/>
              <p:nvPr/>
            </p:nvSpPr>
            <p:spPr>
              <a:xfrm>
                <a:off x="617030" y="1693545"/>
                <a:ext cx="251841" cy="176212"/>
              </a:xfrm>
              <a:prstGeom prst="rect">
                <a:avLst/>
              </a:prstGeom>
              <a:noFill/>
              <a:ln>
                <a:noFill/>
              </a:ln>
            </p:spPr>
            <p:txBody>
              <a:bodyPr wrap="none" lIns="0" tIns="0" rIns="0" bIns="0" anchor="t" anchorCtr="0">
                <a:spAutoFit/>
              </a:bodyPr>
              <a:lstStyle/>
              <a:p>
                <a:pPr algn="ctr"/>
                <a:r>
                  <a:rPr lang="zh-CN" sz="900" b="1" dirty="0">
                    <a:solidFill>
                      <a:srgbClr val="42140B"/>
                    </a:solidFill>
                    <a:latin typeface="+mn-lt"/>
                    <a:ea typeface="+mn-ea"/>
                    <a:cs typeface="+mn-cs"/>
                  </a:rPr>
                  <a:t>效率</a:t>
                </a:r>
              </a:p>
            </p:txBody>
          </p:sp>
          <p:sp>
            <p:nvSpPr>
              <p:cNvPr id="16" name="Rectangle 16"/>
              <p:cNvSpPr/>
              <p:nvPr/>
            </p:nvSpPr>
            <p:spPr>
              <a:xfrm>
                <a:off x="1238250" y="914400"/>
                <a:ext cx="1619250" cy="1009650"/>
              </a:xfrm>
              <a:prstGeom prst="roundRect">
                <a:avLst>
                  <a:gd name="adj" fmla="val 5660"/>
                </a:avLst>
              </a:prstGeom>
              <a:solidFill>
                <a:srgbClr val="FFFFFF"/>
              </a:solidFill>
              <a:ln w="9525">
                <a:solidFill>
                  <a:srgbClr val="D9E8C6"/>
                </a:solidFill>
              </a:ln>
            </p:spPr>
          </p:sp>
          <p:sp>
            <p:nvSpPr>
              <p:cNvPr id="17" name="TextBox 17"/>
              <p:cNvSpPr txBox="1"/>
              <p:nvPr/>
            </p:nvSpPr>
            <p:spPr>
              <a:xfrm>
                <a:off x="1328738" y="1040130"/>
                <a:ext cx="731901"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人均检索时间下降</a:t>
                </a:r>
              </a:p>
            </p:txBody>
          </p:sp>
          <p:sp>
            <p:nvSpPr>
              <p:cNvPr id="18" name="TextBox 18"/>
              <p:cNvSpPr txBox="1"/>
              <p:nvPr/>
            </p:nvSpPr>
            <p:spPr>
              <a:xfrm>
                <a:off x="1328738" y="1268730"/>
                <a:ext cx="731901"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自动化覆盖率提升</a:t>
                </a:r>
              </a:p>
            </p:txBody>
          </p:sp>
          <p:sp>
            <p:nvSpPr>
              <p:cNvPr id="19" name="TextBox 19"/>
              <p:cNvSpPr txBox="1"/>
              <p:nvPr/>
            </p:nvSpPr>
            <p:spPr>
              <a:xfrm>
                <a:off x="1328738" y="149733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重复劳动减少</a:t>
                </a:r>
              </a:p>
            </p:txBody>
          </p:sp>
          <p:sp>
            <p:nvSpPr>
              <p:cNvPr id="20" name="TextBox 20"/>
              <p:cNvSpPr txBox="1"/>
              <p:nvPr/>
            </p:nvSpPr>
            <p:spPr>
              <a:xfrm>
                <a:off x="1328738" y="1725930"/>
                <a:ext cx="731901"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人工干预次数下降</a:t>
                </a:r>
              </a:p>
            </p:txBody>
          </p:sp>
          <p:sp>
            <p:nvSpPr>
              <p:cNvPr id="21" name="Polygon 21"/>
              <p:cNvSpPr/>
              <p:nvPr/>
            </p:nvSpPr>
            <p:spPr>
              <a:xfrm>
                <a:off x="3009900" y="1371600"/>
                <a:ext cx="133350" cy="114300"/>
              </a:xfrm>
              <a:custGeom>
                <a:avLst/>
                <a:gdLst/>
                <a:ahLst/>
                <a:cxnLst/>
                <a:rect l="l" t="t" r="r" b="b"/>
                <a:pathLst>
                  <a:path w="133350" h="114300">
                    <a:moveTo>
                      <a:pt x="0" y="0"/>
                    </a:moveTo>
                    <a:lnTo>
                      <a:pt x="0" y="114300"/>
                    </a:lnTo>
                    <a:lnTo>
                      <a:pt x="133350" y="57150"/>
                    </a:lnTo>
                    <a:close/>
                  </a:path>
                </a:pathLst>
              </a:custGeom>
              <a:solidFill>
                <a:srgbClr val="9A4B3C"/>
              </a:solidFill>
              <a:ln>
                <a:noFill/>
              </a:ln>
            </p:spPr>
          </p:sp>
          <p:sp>
            <p:nvSpPr>
              <p:cNvPr id="22" name="Rectangle 22"/>
              <p:cNvSpPr/>
              <p:nvPr/>
            </p:nvSpPr>
            <p:spPr>
              <a:xfrm>
                <a:off x="3200400" y="971550"/>
                <a:ext cx="1028700" cy="895350"/>
              </a:xfrm>
              <a:prstGeom prst="roundRect">
                <a:avLst>
                  <a:gd name="adj" fmla="val 6383"/>
                </a:avLst>
              </a:prstGeom>
              <a:solidFill>
                <a:srgbClr val="F4F8EC"/>
              </a:solidFill>
              <a:ln w="9525">
                <a:solidFill>
                  <a:srgbClr val="D9E8C6"/>
                </a:solidFill>
              </a:ln>
            </p:spPr>
          </p:sp>
          <p:sp>
            <p:nvSpPr>
              <p:cNvPr id="23" name="TextBox 23"/>
              <p:cNvSpPr txBox="1"/>
              <p:nvPr/>
            </p:nvSpPr>
            <p:spPr>
              <a:xfrm>
                <a:off x="3559213" y="1063228"/>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测算口径</a:t>
                </a:r>
              </a:p>
            </p:txBody>
          </p:sp>
          <p:sp>
            <p:nvSpPr>
              <p:cNvPr id="24" name="TextBox 24"/>
              <p:cNvSpPr txBox="1"/>
              <p:nvPr/>
            </p:nvSpPr>
            <p:spPr>
              <a:xfrm>
                <a:off x="3526904" y="120348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节省工时</a:t>
                </a:r>
              </a:p>
            </p:txBody>
          </p:sp>
          <p:sp>
            <p:nvSpPr>
              <p:cNvPr id="25" name="TextBox 25"/>
              <p:cNvSpPr txBox="1"/>
              <p:nvPr/>
            </p:nvSpPr>
            <p:spPr>
              <a:xfrm>
                <a:off x="3684814" y="1336834"/>
                <a:ext cx="59873"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a:t>
                </a:r>
              </a:p>
            </p:txBody>
          </p:sp>
          <p:sp>
            <p:nvSpPr>
              <p:cNvPr id="26" name="TextBox 26"/>
              <p:cNvSpPr txBox="1"/>
              <p:nvPr/>
            </p:nvSpPr>
            <p:spPr>
              <a:xfrm>
                <a:off x="3526904" y="147018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单位成本</a:t>
                </a:r>
              </a:p>
            </p:txBody>
          </p:sp>
          <p:sp>
            <p:nvSpPr>
              <p:cNvPr id="27" name="Line 27"/>
              <p:cNvSpPr/>
              <p:nvPr/>
            </p:nvSpPr>
            <p:spPr>
              <a:xfrm>
                <a:off x="3314700" y="1619250"/>
                <a:ext cx="800100" cy="9525"/>
              </a:xfrm>
              <a:custGeom>
                <a:avLst/>
                <a:gdLst/>
                <a:ahLst/>
                <a:cxnLst/>
                <a:rect l="l" t="t" r="r" b="b"/>
                <a:pathLst>
                  <a:path w="800100" h="9525">
                    <a:moveTo>
                      <a:pt x="0" y="0"/>
                    </a:moveTo>
                    <a:lnTo>
                      <a:pt x="800100" y="0"/>
                    </a:lnTo>
                  </a:path>
                </a:pathLst>
              </a:custGeom>
              <a:noFill/>
              <a:ln w="9525">
                <a:solidFill>
                  <a:srgbClr val="BE776A"/>
                </a:solidFill>
              </a:ln>
            </p:spPr>
          </p:sp>
          <p:sp>
            <p:nvSpPr>
              <p:cNvPr id="28" name="TextBox 28"/>
              <p:cNvSpPr txBox="1"/>
              <p:nvPr/>
            </p:nvSpPr>
            <p:spPr>
              <a:xfrm>
                <a:off x="3512399" y="1687830"/>
                <a:ext cx="404702" cy="119062"/>
              </a:xfrm>
              <a:prstGeom prst="rect">
                <a:avLst/>
              </a:prstGeom>
              <a:noFill/>
              <a:ln>
                <a:noFill/>
              </a:ln>
            </p:spPr>
            <p:txBody>
              <a:bodyPr wrap="none" lIns="0" tIns="0" rIns="0" bIns="0" anchor="t" anchorCtr="0">
                <a:spAutoFit/>
              </a:bodyPr>
              <a:lstStyle/>
              <a:p>
                <a:pPr algn="ctr"/>
                <a:r>
                  <a:rPr lang="zh-CN" sz="600" b="1" dirty="0">
                    <a:solidFill>
                      <a:srgbClr val="7C3B2F"/>
                    </a:solidFill>
                    <a:latin typeface="+mn-lt"/>
                    <a:ea typeface="+mn-ea"/>
                    <a:cs typeface="+mn-cs"/>
                  </a:rPr>
                  <a:t>= 财务价值</a:t>
                </a:r>
              </a:p>
            </p:txBody>
          </p:sp>
          <p:sp>
            <p:nvSpPr>
              <p:cNvPr id="29" name="TextBox 29"/>
              <p:cNvSpPr txBox="1"/>
              <p:nvPr/>
            </p:nvSpPr>
            <p:spPr>
              <a:xfrm>
                <a:off x="3512096" y="1795224"/>
                <a:ext cx="405308" cy="97631"/>
              </a:xfrm>
              <a:prstGeom prst="rect">
                <a:avLst/>
              </a:prstGeom>
              <a:noFill/>
              <a:ln>
                <a:noFill/>
              </a:ln>
            </p:spPr>
            <p:txBody>
              <a:bodyPr wrap="none" lIns="0" tIns="0" rIns="0" bIns="0" anchor="t" anchorCtr="0">
                <a:spAutoFit/>
              </a:bodyPr>
              <a:lstStyle/>
              <a:p>
                <a:pPr algn="ctr"/>
                <a:r>
                  <a:rPr lang="zh-CN" sz="490" dirty="0">
                    <a:solidFill>
                      <a:srgbClr val="66705F"/>
                    </a:solidFill>
                    <a:latin typeface="+mn-lt"/>
                    <a:ea typeface="+mn-ea"/>
                    <a:cs typeface="+mn-cs"/>
                  </a:rPr>
                  <a:t>（测算口径）</a:t>
                </a:r>
              </a:p>
            </p:txBody>
          </p:sp>
        </p:grpSp>
        <p:grpSp>
          <p:nvGrpSpPr>
            <p:cNvPr id="52" name="vc-quality"/>
            <p:cNvGrpSpPr/>
            <p:nvPr/>
          </p:nvGrpSpPr>
          <p:grpSpPr>
            <a:xfrm>
              <a:off x="285750" y="2038350"/>
              <a:ext cx="3943350" cy="1009650"/>
              <a:chOff x="285750" y="2038350"/>
              <a:chExt cx="3943350" cy="1009650"/>
            </a:xfrm>
          </p:grpSpPr>
          <p:sp>
            <p:nvSpPr>
              <p:cNvPr id="31" name="Rectangle 31"/>
              <p:cNvSpPr/>
              <p:nvPr/>
            </p:nvSpPr>
            <p:spPr>
              <a:xfrm>
                <a:off x="285750" y="2038350"/>
                <a:ext cx="914400" cy="1009650"/>
              </a:xfrm>
              <a:prstGeom prst="roundRect">
                <a:avLst>
                  <a:gd name="adj" fmla="val 10417"/>
                </a:avLst>
              </a:prstGeom>
              <a:solidFill>
                <a:srgbClr val="FFFFFF"/>
              </a:solidFill>
              <a:ln w="9525">
                <a:solidFill>
                  <a:srgbClr val="D9E8C6"/>
                </a:solidFill>
              </a:ln>
            </p:spPr>
          </p:sp>
          <p:sp>
            <p:nvSpPr>
              <p:cNvPr id="32" name="Ellipse 32"/>
              <p:cNvSpPr/>
              <p:nvPr/>
            </p:nvSpPr>
            <p:spPr>
              <a:xfrm>
                <a:off x="514350" y="2228850"/>
                <a:ext cx="457200" cy="457200"/>
              </a:xfrm>
              <a:prstGeom prst="ellipse">
                <a:avLst/>
              </a:prstGeom>
              <a:solidFill>
                <a:srgbClr val="643228"/>
              </a:solidFill>
              <a:ln>
                <a:noFill/>
              </a:ln>
            </p:spPr>
          </p:sp>
          <p:grpSp>
            <p:nvGrpSpPr>
              <p:cNvPr id="36" name="Group 36"/>
              <p:cNvGrpSpPr/>
              <p:nvPr/>
            </p:nvGrpSpPr>
            <p:grpSpPr>
              <a:xfrm>
                <a:off x="647405" y="2357438"/>
                <a:ext cx="191068" cy="198802"/>
                <a:chOff x="647405" y="2357438"/>
                <a:chExt cx="191068" cy="198802"/>
              </a:xfrm>
            </p:grpSpPr>
            <p:sp>
              <p:nvSpPr>
                <p:cNvPr id="33" name="Freeform 33"/>
                <p:cNvSpPr/>
                <p:nvPr/>
              </p:nvSpPr>
              <p:spPr>
                <a:xfrm>
                  <a:off x="676275" y="2357438"/>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22225">
                  <a:solidFill>
                    <a:srgbClr val="FFFFFF"/>
                  </a:solidFill>
                </a:ln>
              </p:spPr>
            </p:sp>
            <p:sp>
              <p:nvSpPr>
                <p:cNvPr id="34" name="Freeform 34"/>
                <p:cNvSpPr/>
                <p:nvPr/>
              </p:nvSpPr>
              <p:spPr>
                <a:xfrm>
                  <a:off x="742950" y="2457450"/>
                  <a:ext cx="95523" cy="98790"/>
                </a:xfrm>
                <a:custGeom>
                  <a:avLst/>
                  <a:gdLst/>
                  <a:ahLst/>
                  <a:cxnLst/>
                  <a:rect l="l" t="t" r="r" b="b"/>
                  <a:pathLst>
                    <a:path w="95523" h="98790">
                      <a:moveTo>
                        <a:pt x="0" y="33338"/>
                      </a:moveTo>
                      <a:lnTo>
                        <a:pt x="37783" y="98790"/>
                      </a:lnTo>
                      <a:lnTo>
                        <a:pt x="55540" y="62864"/>
                      </a:lnTo>
                      <a:lnTo>
                        <a:pt x="95523" y="65442"/>
                      </a:lnTo>
                      <a:lnTo>
                        <a:pt x="57741" y="0"/>
                      </a:lnTo>
                    </a:path>
                  </a:pathLst>
                </a:custGeom>
                <a:noFill/>
                <a:ln w="22225">
                  <a:solidFill>
                    <a:srgbClr val="FFFFFF"/>
                  </a:solidFill>
                </a:ln>
              </p:spPr>
            </p:sp>
            <p:sp>
              <p:nvSpPr>
                <p:cNvPr id="35" name="Freeform 35"/>
                <p:cNvSpPr/>
                <p:nvPr/>
              </p:nvSpPr>
              <p:spPr>
                <a:xfrm>
                  <a:off x="647405" y="2457450"/>
                  <a:ext cx="95523" cy="98779"/>
                </a:xfrm>
                <a:custGeom>
                  <a:avLst/>
                  <a:gdLst/>
                  <a:ahLst/>
                  <a:cxnLst/>
                  <a:rect l="l" t="t" r="r" b="b"/>
                  <a:pathLst>
                    <a:path w="95523" h="98779">
                      <a:moveTo>
                        <a:pt x="37783" y="0"/>
                      </a:moveTo>
                      <a:lnTo>
                        <a:pt x="0" y="65453"/>
                      </a:lnTo>
                      <a:lnTo>
                        <a:pt x="39983" y="62864"/>
                      </a:lnTo>
                      <a:lnTo>
                        <a:pt x="57741" y="98779"/>
                      </a:lnTo>
                      <a:lnTo>
                        <a:pt x="95523" y="33338"/>
                      </a:lnTo>
                    </a:path>
                  </a:pathLst>
                </a:custGeom>
                <a:noFill/>
                <a:ln w="22225">
                  <a:solidFill>
                    <a:srgbClr val="FFFFFF"/>
                  </a:solidFill>
                </a:ln>
              </p:spPr>
            </p:sp>
          </p:grpSp>
          <p:sp>
            <p:nvSpPr>
              <p:cNvPr id="37" name="TextBox 37"/>
              <p:cNvSpPr txBox="1"/>
              <p:nvPr/>
            </p:nvSpPr>
            <p:spPr>
              <a:xfrm>
                <a:off x="617030" y="2817495"/>
                <a:ext cx="251841" cy="176212"/>
              </a:xfrm>
              <a:prstGeom prst="rect">
                <a:avLst/>
              </a:prstGeom>
              <a:noFill/>
              <a:ln>
                <a:noFill/>
              </a:ln>
            </p:spPr>
            <p:txBody>
              <a:bodyPr wrap="none" lIns="0" tIns="0" rIns="0" bIns="0" anchor="t" anchorCtr="0">
                <a:spAutoFit/>
              </a:bodyPr>
              <a:lstStyle/>
              <a:p>
                <a:pPr algn="ctr"/>
                <a:r>
                  <a:rPr lang="zh-CN" sz="900" b="1" dirty="0">
                    <a:solidFill>
                      <a:srgbClr val="42140B"/>
                    </a:solidFill>
                    <a:latin typeface="+mn-lt"/>
                    <a:ea typeface="+mn-ea"/>
                    <a:cs typeface="+mn-cs"/>
                  </a:rPr>
                  <a:t>质量</a:t>
                </a:r>
              </a:p>
            </p:txBody>
          </p:sp>
          <p:sp>
            <p:nvSpPr>
              <p:cNvPr id="38" name="Rectangle 38"/>
              <p:cNvSpPr/>
              <p:nvPr/>
            </p:nvSpPr>
            <p:spPr>
              <a:xfrm>
                <a:off x="1238250" y="2038350"/>
                <a:ext cx="1619250" cy="1009650"/>
              </a:xfrm>
              <a:prstGeom prst="roundRect">
                <a:avLst>
                  <a:gd name="adj" fmla="val 5660"/>
                </a:avLst>
              </a:prstGeom>
              <a:solidFill>
                <a:srgbClr val="FFFFFF"/>
              </a:solidFill>
              <a:ln w="9525">
                <a:solidFill>
                  <a:srgbClr val="D9E8C6"/>
                </a:solidFill>
              </a:ln>
            </p:spPr>
          </p:sp>
          <p:sp>
            <p:nvSpPr>
              <p:cNvPr id="39" name="TextBox 39"/>
              <p:cNvSpPr txBox="1"/>
              <p:nvPr/>
            </p:nvSpPr>
            <p:spPr>
              <a:xfrm>
                <a:off x="1328738" y="2164080"/>
                <a:ext cx="651129"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首问解决率提升</a:t>
                </a:r>
              </a:p>
            </p:txBody>
          </p:sp>
          <p:sp>
            <p:nvSpPr>
              <p:cNvPr id="40" name="TextBox 40"/>
              <p:cNvSpPr txBox="1"/>
              <p:nvPr/>
            </p:nvSpPr>
            <p:spPr>
              <a:xfrm>
                <a:off x="1328738" y="2392680"/>
                <a:ext cx="731901"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一次性解决率提升</a:t>
                </a:r>
              </a:p>
            </p:txBody>
          </p:sp>
          <p:sp>
            <p:nvSpPr>
              <p:cNvPr id="41" name="TextBox 41"/>
              <p:cNvSpPr txBox="1"/>
              <p:nvPr/>
            </p:nvSpPr>
            <p:spPr>
              <a:xfrm>
                <a:off x="1328738" y="26212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返工率下降</a:t>
                </a:r>
              </a:p>
            </p:txBody>
          </p:sp>
          <p:sp>
            <p:nvSpPr>
              <p:cNvPr id="42" name="TextBox 42"/>
              <p:cNvSpPr txBox="1"/>
              <p:nvPr/>
            </p:nvSpPr>
            <p:spPr>
              <a:xfrm>
                <a:off x="1328738" y="2849880"/>
                <a:ext cx="651129"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客户满意度提升</a:t>
                </a:r>
              </a:p>
            </p:txBody>
          </p:sp>
          <p:sp>
            <p:nvSpPr>
              <p:cNvPr id="43" name="Polygon 43"/>
              <p:cNvSpPr/>
              <p:nvPr/>
            </p:nvSpPr>
            <p:spPr>
              <a:xfrm>
                <a:off x="3009900" y="2495550"/>
                <a:ext cx="133350" cy="114300"/>
              </a:xfrm>
              <a:custGeom>
                <a:avLst/>
                <a:gdLst/>
                <a:ahLst/>
                <a:cxnLst/>
                <a:rect l="l" t="t" r="r" b="b"/>
                <a:pathLst>
                  <a:path w="133350" h="114300">
                    <a:moveTo>
                      <a:pt x="0" y="0"/>
                    </a:moveTo>
                    <a:lnTo>
                      <a:pt x="0" y="114300"/>
                    </a:lnTo>
                    <a:lnTo>
                      <a:pt x="133350" y="57150"/>
                    </a:lnTo>
                    <a:close/>
                  </a:path>
                </a:pathLst>
              </a:custGeom>
              <a:solidFill>
                <a:srgbClr val="9A4B3C"/>
              </a:solidFill>
              <a:ln>
                <a:noFill/>
              </a:ln>
            </p:spPr>
          </p:sp>
          <p:sp>
            <p:nvSpPr>
              <p:cNvPr id="44" name="Rectangle 44"/>
              <p:cNvSpPr/>
              <p:nvPr/>
            </p:nvSpPr>
            <p:spPr>
              <a:xfrm>
                <a:off x="3200400" y="2095500"/>
                <a:ext cx="1028700" cy="895350"/>
              </a:xfrm>
              <a:prstGeom prst="roundRect">
                <a:avLst>
                  <a:gd name="adj" fmla="val 6383"/>
                </a:avLst>
              </a:prstGeom>
              <a:solidFill>
                <a:srgbClr val="F4F8EC"/>
              </a:solidFill>
              <a:ln w="9525">
                <a:solidFill>
                  <a:srgbClr val="D9E8C6"/>
                </a:solidFill>
              </a:ln>
            </p:spPr>
          </p:sp>
          <p:sp>
            <p:nvSpPr>
              <p:cNvPr id="45" name="TextBox 45"/>
              <p:cNvSpPr txBox="1"/>
              <p:nvPr/>
            </p:nvSpPr>
            <p:spPr>
              <a:xfrm>
                <a:off x="3559213" y="2187178"/>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测算口径</a:t>
                </a:r>
              </a:p>
            </p:txBody>
          </p:sp>
          <p:sp>
            <p:nvSpPr>
              <p:cNvPr id="46" name="TextBox 46"/>
              <p:cNvSpPr txBox="1"/>
              <p:nvPr/>
            </p:nvSpPr>
            <p:spPr>
              <a:xfrm>
                <a:off x="3572675" y="2327434"/>
                <a:ext cx="284150"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工单量</a:t>
                </a:r>
              </a:p>
            </p:txBody>
          </p:sp>
          <p:sp>
            <p:nvSpPr>
              <p:cNvPr id="47" name="TextBox 47"/>
              <p:cNvSpPr txBox="1"/>
              <p:nvPr/>
            </p:nvSpPr>
            <p:spPr>
              <a:xfrm>
                <a:off x="3684814" y="2460784"/>
                <a:ext cx="59873"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a:t>
                </a:r>
              </a:p>
            </p:txBody>
          </p:sp>
          <p:sp>
            <p:nvSpPr>
              <p:cNvPr id="48" name="TextBox 48"/>
              <p:cNvSpPr txBox="1"/>
              <p:nvPr/>
            </p:nvSpPr>
            <p:spPr>
              <a:xfrm>
                <a:off x="3572675" y="2594134"/>
                <a:ext cx="284150"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工时量</a:t>
                </a:r>
              </a:p>
            </p:txBody>
          </p:sp>
          <p:sp>
            <p:nvSpPr>
              <p:cNvPr id="49" name="Line 49"/>
              <p:cNvSpPr/>
              <p:nvPr/>
            </p:nvSpPr>
            <p:spPr>
              <a:xfrm>
                <a:off x="3314700" y="2743200"/>
                <a:ext cx="800100" cy="9525"/>
              </a:xfrm>
              <a:custGeom>
                <a:avLst/>
                <a:gdLst/>
                <a:ahLst/>
                <a:cxnLst/>
                <a:rect l="l" t="t" r="r" b="b"/>
                <a:pathLst>
                  <a:path w="800100" h="9525">
                    <a:moveTo>
                      <a:pt x="0" y="0"/>
                    </a:moveTo>
                    <a:lnTo>
                      <a:pt x="800100" y="0"/>
                    </a:lnTo>
                  </a:path>
                </a:pathLst>
              </a:custGeom>
              <a:noFill/>
              <a:ln w="9525">
                <a:solidFill>
                  <a:srgbClr val="BE776A"/>
                </a:solidFill>
              </a:ln>
            </p:spPr>
          </p:sp>
          <p:sp>
            <p:nvSpPr>
              <p:cNvPr id="50" name="TextBox 50"/>
              <p:cNvSpPr txBox="1"/>
              <p:nvPr/>
            </p:nvSpPr>
            <p:spPr>
              <a:xfrm>
                <a:off x="3512399" y="2811780"/>
                <a:ext cx="404702" cy="119062"/>
              </a:xfrm>
              <a:prstGeom prst="rect">
                <a:avLst/>
              </a:prstGeom>
              <a:noFill/>
              <a:ln>
                <a:noFill/>
              </a:ln>
            </p:spPr>
            <p:txBody>
              <a:bodyPr wrap="none" lIns="0" tIns="0" rIns="0" bIns="0" anchor="t" anchorCtr="0">
                <a:spAutoFit/>
              </a:bodyPr>
              <a:lstStyle/>
              <a:p>
                <a:pPr algn="ctr"/>
                <a:r>
                  <a:rPr lang="zh-CN" sz="600" b="1" dirty="0">
                    <a:solidFill>
                      <a:srgbClr val="7C3B2F"/>
                    </a:solidFill>
                    <a:latin typeface="+mn-lt"/>
                    <a:ea typeface="+mn-ea"/>
                    <a:cs typeface="+mn-cs"/>
                  </a:rPr>
                  <a:t>= 财务价值</a:t>
                </a:r>
              </a:p>
            </p:txBody>
          </p:sp>
          <p:sp>
            <p:nvSpPr>
              <p:cNvPr id="51" name="TextBox 51"/>
              <p:cNvSpPr txBox="1"/>
              <p:nvPr/>
            </p:nvSpPr>
            <p:spPr>
              <a:xfrm>
                <a:off x="3512096" y="2919174"/>
                <a:ext cx="405308" cy="97631"/>
              </a:xfrm>
              <a:prstGeom prst="rect">
                <a:avLst/>
              </a:prstGeom>
              <a:noFill/>
              <a:ln>
                <a:noFill/>
              </a:ln>
            </p:spPr>
            <p:txBody>
              <a:bodyPr wrap="none" lIns="0" tIns="0" rIns="0" bIns="0" anchor="t" anchorCtr="0">
                <a:spAutoFit/>
              </a:bodyPr>
              <a:lstStyle/>
              <a:p>
                <a:pPr algn="ctr"/>
                <a:r>
                  <a:rPr lang="zh-CN" sz="490" dirty="0">
                    <a:solidFill>
                      <a:srgbClr val="66705F"/>
                    </a:solidFill>
                    <a:latin typeface="+mn-lt"/>
                    <a:ea typeface="+mn-ea"/>
                    <a:cs typeface="+mn-cs"/>
                  </a:rPr>
                  <a:t>（测算口径）</a:t>
                </a:r>
              </a:p>
            </p:txBody>
          </p:sp>
        </p:grpSp>
        <p:grpSp>
          <p:nvGrpSpPr>
            <p:cNvPr id="73" name="vc-risk"/>
            <p:cNvGrpSpPr/>
            <p:nvPr/>
          </p:nvGrpSpPr>
          <p:grpSpPr>
            <a:xfrm>
              <a:off x="285750" y="3162300"/>
              <a:ext cx="3943350" cy="1009650"/>
              <a:chOff x="285750" y="3162300"/>
              <a:chExt cx="3943350" cy="1009650"/>
            </a:xfrm>
          </p:grpSpPr>
          <p:sp>
            <p:nvSpPr>
              <p:cNvPr id="53" name="Rectangle 53"/>
              <p:cNvSpPr/>
              <p:nvPr/>
            </p:nvSpPr>
            <p:spPr>
              <a:xfrm>
                <a:off x="285750" y="3162300"/>
                <a:ext cx="914400" cy="1009650"/>
              </a:xfrm>
              <a:prstGeom prst="roundRect">
                <a:avLst>
                  <a:gd name="adj" fmla="val 10417"/>
                </a:avLst>
              </a:prstGeom>
              <a:solidFill>
                <a:srgbClr val="F4F8EC"/>
              </a:solidFill>
              <a:ln w="9525">
                <a:solidFill>
                  <a:srgbClr val="D9E8C6"/>
                </a:solidFill>
              </a:ln>
            </p:spPr>
          </p:sp>
          <p:sp>
            <p:nvSpPr>
              <p:cNvPr id="54" name="Ellipse 54"/>
              <p:cNvSpPr/>
              <p:nvPr/>
            </p:nvSpPr>
            <p:spPr>
              <a:xfrm>
                <a:off x="514350" y="3352800"/>
                <a:ext cx="457200" cy="457200"/>
              </a:xfrm>
              <a:prstGeom prst="ellipse">
                <a:avLst/>
              </a:prstGeom>
              <a:solidFill>
                <a:srgbClr val="7C3B2F"/>
              </a:solidFill>
              <a:ln>
                <a:noFill/>
              </a:ln>
            </p:spPr>
          </p:sp>
          <p:grpSp>
            <p:nvGrpSpPr>
              <p:cNvPr id="57" name="Group 57"/>
              <p:cNvGrpSpPr/>
              <p:nvPr/>
            </p:nvGrpSpPr>
            <p:grpSpPr>
              <a:xfrm>
                <a:off x="627941" y="3481388"/>
                <a:ext cx="217008" cy="200025"/>
                <a:chOff x="627941" y="3481388"/>
                <a:chExt cx="217008" cy="200025"/>
              </a:xfrm>
            </p:grpSpPr>
            <p:sp>
              <p:nvSpPr>
                <p:cNvPr id="55" name="Freeform 55"/>
                <p:cNvSpPr/>
                <p:nvPr/>
              </p:nvSpPr>
              <p:spPr>
                <a:xfrm>
                  <a:off x="627941" y="348138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FFFFFF"/>
                  </a:solidFill>
                </a:ln>
              </p:spPr>
            </p:sp>
            <p:sp>
              <p:nvSpPr>
                <p:cNvPr id="56" name="Freeform 56"/>
                <p:cNvSpPr/>
                <p:nvPr/>
              </p:nvSpPr>
              <p:spPr>
                <a:xfrm>
                  <a:off x="776288" y="3636963"/>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58" name="TextBox 58"/>
              <p:cNvSpPr txBox="1"/>
              <p:nvPr/>
            </p:nvSpPr>
            <p:spPr>
              <a:xfrm>
                <a:off x="617030" y="3941445"/>
                <a:ext cx="251841" cy="176212"/>
              </a:xfrm>
              <a:prstGeom prst="rect">
                <a:avLst/>
              </a:prstGeom>
              <a:noFill/>
              <a:ln>
                <a:noFill/>
              </a:ln>
            </p:spPr>
            <p:txBody>
              <a:bodyPr wrap="none" lIns="0" tIns="0" rIns="0" bIns="0" anchor="t" anchorCtr="0">
                <a:spAutoFit/>
              </a:bodyPr>
              <a:lstStyle/>
              <a:p>
                <a:pPr algn="ctr"/>
                <a:r>
                  <a:rPr lang="zh-CN" sz="900" b="1" dirty="0">
                    <a:solidFill>
                      <a:srgbClr val="42140B"/>
                    </a:solidFill>
                    <a:latin typeface="+mn-lt"/>
                    <a:ea typeface="+mn-ea"/>
                    <a:cs typeface="+mn-cs"/>
                  </a:rPr>
                  <a:t>风险</a:t>
                </a:r>
              </a:p>
            </p:txBody>
          </p:sp>
          <p:sp>
            <p:nvSpPr>
              <p:cNvPr id="59" name="Rectangle 59"/>
              <p:cNvSpPr/>
              <p:nvPr/>
            </p:nvSpPr>
            <p:spPr>
              <a:xfrm>
                <a:off x="1238250" y="3162300"/>
                <a:ext cx="1619250" cy="1009650"/>
              </a:xfrm>
              <a:prstGeom prst="roundRect">
                <a:avLst>
                  <a:gd name="adj" fmla="val 5660"/>
                </a:avLst>
              </a:prstGeom>
              <a:solidFill>
                <a:srgbClr val="FFFFFF"/>
              </a:solidFill>
              <a:ln w="9525">
                <a:solidFill>
                  <a:srgbClr val="D9E8C6"/>
                </a:solidFill>
              </a:ln>
            </p:spPr>
          </p:sp>
          <p:sp>
            <p:nvSpPr>
              <p:cNvPr id="60" name="TextBox 60"/>
              <p:cNvSpPr txBox="1"/>
              <p:nvPr/>
            </p:nvSpPr>
            <p:spPr>
              <a:xfrm>
                <a:off x="1328738" y="3288030"/>
                <a:ext cx="651129"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高风险事件减少</a:t>
                </a:r>
              </a:p>
            </p:txBody>
          </p:sp>
          <p:sp>
            <p:nvSpPr>
              <p:cNvPr id="61" name="TextBox 61"/>
              <p:cNvSpPr txBox="1"/>
              <p:nvPr/>
            </p:nvSpPr>
            <p:spPr>
              <a:xfrm>
                <a:off x="1328738" y="351663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合规罚款减少</a:t>
                </a:r>
              </a:p>
            </p:txBody>
          </p:sp>
          <p:sp>
            <p:nvSpPr>
              <p:cNvPr id="62" name="TextBox 62"/>
              <p:cNvSpPr txBox="1"/>
              <p:nvPr/>
            </p:nvSpPr>
            <p:spPr>
              <a:xfrm>
                <a:off x="1328738" y="374523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审计发现减少</a:t>
                </a:r>
              </a:p>
            </p:txBody>
          </p:sp>
          <p:sp>
            <p:nvSpPr>
              <p:cNvPr id="63" name="TextBox 63"/>
              <p:cNvSpPr txBox="1"/>
              <p:nvPr/>
            </p:nvSpPr>
            <p:spPr>
              <a:xfrm>
                <a:off x="1328738" y="397383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返工事件减少</a:t>
                </a:r>
              </a:p>
            </p:txBody>
          </p:sp>
          <p:sp>
            <p:nvSpPr>
              <p:cNvPr id="64" name="Polygon 64"/>
              <p:cNvSpPr/>
              <p:nvPr/>
            </p:nvSpPr>
            <p:spPr>
              <a:xfrm>
                <a:off x="3009900" y="3619500"/>
                <a:ext cx="133350" cy="114300"/>
              </a:xfrm>
              <a:custGeom>
                <a:avLst/>
                <a:gdLst/>
                <a:ahLst/>
                <a:cxnLst/>
                <a:rect l="l" t="t" r="r" b="b"/>
                <a:pathLst>
                  <a:path w="133350" h="114300">
                    <a:moveTo>
                      <a:pt x="0" y="0"/>
                    </a:moveTo>
                    <a:lnTo>
                      <a:pt x="0" y="114300"/>
                    </a:lnTo>
                    <a:lnTo>
                      <a:pt x="133350" y="57150"/>
                    </a:lnTo>
                    <a:close/>
                  </a:path>
                </a:pathLst>
              </a:custGeom>
              <a:solidFill>
                <a:srgbClr val="9A4B3C"/>
              </a:solidFill>
              <a:ln>
                <a:noFill/>
              </a:ln>
            </p:spPr>
          </p:sp>
          <p:sp>
            <p:nvSpPr>
              <p:cNvPr id="65" name="Rectangle 65"/>
              <p:cNvSpPr/>
              <p:nvPr/>
            </p:nvSpPr>
            <p:spPr>
              <a:xfrm>
                <a:off x="3200400" y="3219450"/>
                <a:ext cx="1028700" cy="895350"/>
              </a:xfrm>
              <a:prstGeom prst="roundRect">
                <a:avLst>
                  <a:gd name="adj" fmla="val 6383"/>
                </a:avLst>
              </a:prstGeom>
              <a:solidFill>
                <a:srgbClr val="F4F8EC"/>
              </a:solidFill>
              <a:ln w="9525">
                <a:solidFill>
                  <a:srgbClr val="D9E8C6"/>
                </a:solidFill>
              </a:ln>
            </p:spPr>
          </p:sp>
          <p:sp>
            <p:nvSpPr>
              <p:cNvPr id="66" name="TextBox 66"/>
              <p:cNvSpPr txBox="1"/>
              <p:nvPr/>
            </p:nvSpPr>
            <p:spPr>
              <a:xfrm>
                <a:off x="3559213" y="3311128"/>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测算口径</a:t>
                </a:r>
              </a:p>
            </p:txBody>
          </p:sp>
          <p:sp>
            <p:nvSpPr>
              <p:cNvPr id="67" name="TextBox 67"/>
              <p:cNvSpPr txBox="1"/>
              <p:nvPr/>
            </p:nvSpPr>
            <p:spPr>
              <a:xfrm>
                <a:off x="3435363" y="3451384"/>
                <a:ext cx="558775"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风险事件减少</a:t>
                </a:r>
              </a:p>
            </p:txBody>
          </p:sp>
          <p:sp>
            <p:nvSpPr>
              <p:cNvPr id="68" name="TextBox 68"/>
              <p:cNvSpPr txBox="1"/>
              <p:nvPr/>
            </p:nvSpPr>
            <p:spPr>
              <a:xfrm>
                <a:off x="3684814" y="3584734"/>
                <a:ext cx="59873"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a:t>
                </a:r>
              </a:p>
            </p:txBody>
          </p:sp>
          <p:sp>
            <p:nvSpPr>
              <p:cNvPr id="69" name="TextBox 69"/>
              <p:cNvSpPr txBox="1"/>
              <p:nvPr/>
            </p:nvSpPr>
            <p:spPr>
              <a:xfrm>
                <a:off x="3526904" y="371808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平均损失</a:t>
                </a:r>
              </a:p>
            </p:txBody>
          </p:sp>
          <p:sp>
            <p:nvSpPr>
              <p:cNvPr id="70" name="Line 70"/>
              <p:cNvSpPr/>
              <p:nvPr/>
            </p:nvSpPr>
            <p:spPr>
              <a:xfrm>
                <a:off x="3314700" y="3867150"/>
                <a:ext cx="800100" cy="9525"/>
              </a:xfrm>
              <a:custGeom>
                <a:avLst/>
                <a:gdLst/>
                <a:ahLst/>
                <a:cxnLst/>
                <a:rect l="l" t="t" r="r" b="b"/>
                <a:pathLst>
                  <a:path w="800100" h="9525">
                    <a:moveTo>
                      <a:pt x="0" y="0"/>
                    </a:moveTo>
                    <a:lnTo>
                      <a:pt x="800100" y="0"/>
                    </a:lnTo>
                  </a:path>
                </a:pathLst>
              </a:custGeom>
              <a:noFill/>
              <a:ln w="9525">
                <a:solidFill>
                  <a:srgbClr val="BE776A"/>
                </a:solidFill>
              </a:ln>
            </p:spPr>
          </p:sp>
          <p:sp>
            <p:nvSpPr>
              <p:cNvPr id="71" name="TextBox 71"/>
              <p:cNvSpPr txBox="1"/>
              <p:nvPr/>
            </p:nvSpPr>
            <p:spPr>
              <a:xfrm>
                <a:off x="3512399" y="3935730"/>
                <a:ext cx="404702" cy="119062"/>
              </a:xfrm>
              <a:prstGeom prst="rect">
                <a:avLst/>
              </a:prstGeom>
              <a:noFill/>
              <a:ln>
                <a:noFill/>
              </a:ln>
            </p:spPr>
            <p:txBody>
              <a:bodyPr wrap="none" lIns="0" tIns="0" rIns="0" bIns="0" anchor="t" anchorCtr="0">
                <a:spAutoFit/>
              </a:bodyPr>
              <a:lstStyle/>
              <a:p>
                <a:pPr algn="ctr"/>
                <a:r>
                  <a:rPr lang="zh-CN" sz="600" b="1" dirty="0">
                    <a:solidFill>
                      <a:srgbClr val="7C3B2F"/>
                    </a:solidFill>
                    <a:latin typeface="+mn-lt"/>
                    <a:ea typeface="+mn-ea"/>
                    <a:cs typeface="+mn-cs"/>
                  </a:rPr>
                  <a:t>= 财务价值</a:t>
                </a:r>
              </a:p>
            </p:txBody>
          </p:sp>
          <p:sp>
            <p:nvSpPr>
              <p:cNvPr id="72" name="TextBox 72"/>
              <p:cNvSpPr txBox="1"/>
              <p:nvPr/>
            </p:nvSpPr>
            <p:spPr>
              <a:xfrm>
                <a:off x="3512096" y="4043124"/>
                <a:ext cx="405308" cy="97631"/>
              </a:xfrm>
              <a:prstGeom prst="rect">
                <a:avLst/>
              </a:prstGeom>
              <a:noFill/>
              <a:ln>
                <a:noFill/>
              </a:ln>
            </p:spPr>
            <p:txBody>
              <a:bodyPr wrap="none" lIns="0" tIns="0" rIns="0" bIns="0" anchor="t" anchorCtr="0">
                <a:spAutoFit/>
              </a:bodyPr>
              <a:lstStyle/>
              <a:p>
                <a:pPr algn="ctr"/>
                <a:r>
                  <a:rPr lang="zh-CN" sz="490" dirty="0">
                    <a:solidFill>
                      <a:srgbClr val="66705F"/>
                    </a:solidFill>
                    <a:latin typeface="+mn-lt"/>
                    <a:ea typeface="+mn-ea"/>
                    <a:cs typeface="+mn-cs"/>
                  </a:rPr>
                  <a:t>（测算口径）</a:t>
                </a:r>
              </a:p>
            </p:txBody>
          </p:sp>
        </p:grpSp>
        <p:grpSp>
          <p:nvGrpSpPr>
            <p:cNvPr id="94" name="vc-growth"/>
            <p:cNvGrpSpPr/>
            <p:nvPr/>
          </p:nvGrpSpPr>
          <p:grpSpPr>
            <a:xfrm>
              <a:off x="285750" y="4286250"/>
              <a:ext cx="3943350" cy="1009650"/>
              <a:chOff x="285750" y="4286250"/>
              <a:chExt cx="3943350" cy="1009650"/>
            </a:xfrm>
          </p:grpSpPr>
          <p:sp>
            <p:nvSpPr>
              <p:cNvPr id="74" name="Rectangle 74"/>
              <p:cNvSpPr/>
              <p:nvPr/>
            </p:nvSpPr>
            <p:spPr>
              <a:xfrm>
                <a:off x="285750" y="4286250"/>
                <a:ext cx="914400" cy="1009650"/>
              </a:xfrm>
              <a:prstGeom prst="roundRect">
                <a:avLst>
                  <a:gd name="adj" fmla="val 10417"/>
                </a:avLst>
              </a:prstGeom>
              <a:solidFill>
                <a:srgbClr val="FFFFFF"/>
              </a:solidFill>
              <a:ln w="9525">
                <a:solidFill>
                  <a:srgbClr val="D9E8C6"/>
                </a:solidFill>
              </a:ln>
            </p:spPr>
          </p:sp>
          <p:sp>
            <p:nvSpPr>
              <p:cNvPr id="75" name="Ellipse 75"/>
              <p:cNvSpPr/>
              <p:nvPr/>
            </p:nvSpPr>
            <p:spPr>
              <a:xfrm>
                <a:off x="514350" y="4476750"/>
                <a:ext cx="457200" cy="457200"/>
              </a:xfrm>
              <a:prstGeom prst="ellipse">
                <a:avLst/>
              </a:prstGeom>
              <a:solidFill>
                <a:srgbClr val="8C4336"/>
              </a:solidFill>
              <a:ln>
                <a:noFill/>
              </a:ln>
            </p:spPr>
          </p:sp>
          <p:grpSp>
            <p:nvGrpSpPr>
              <p:cNvPr id="78" name="Group 78"/>
              <p:cNvGrpSpPr/>
              <p:nvPr/>
            </p:nvGrpSpPr>
            <p:grpSpPr>
              <a:xfrm>
                <a:off x="654050" y="4638675"/>
                <a:ext cx="177801" cy="153988"/>
                <a:chOff x="654050" y="4638675"/>
                <a:chExt cx="177801" cy="153988"/>
              </a:xfrm>
            </p:grpSpPr>
            <p:sp>
              <p:nvSpPr>
                <p:cNvPr id="76" name="Freeform 76"/>
                <p:cNvSpPr/>
                <p:nvPr/>
              </p:nvSpPr>
              <p:spPr>
                <a:xfrm>
                  <a:off x="654050" y="4783138"/>
                  <a:ext cx="177801" cy="9525"/>
                </a:xfrm>
                <a:custGeom>
                  <a:avLst/>
                  <a:gdLst/>
                  <a:ahLst/>
                  <a:cxnLst/>
                  <a:rect l="l" t="t" r="r" b="b"/>
                  <a:pathLst>
                    <a:path w="177801" h="9525">
                      <a:moveTo>
                        <a:pt x="0" y="0"/>
                      </a:moveTo>
                      <a:lnTo>
                        <a:pt x="177801" y="0"/>
                      </a:lnTo>
                    </a:path>
                  </a:pathLst>
                </a:custGeom>
                <a:noFill/>
                <a:ln w="22225">
                  <a:solidFill>
                    <a:srgbClr val="FFFFFF"/>
                  </a:solidFill>
                </a:ln>
              </p:spPr>
            </p:sp>
            <p:sp>
              <p:nvSpPr>
                <p:cNvPr id="77" name="Freeform 77"/>
                <p:cNvSpPr/>
                <p:nvPr/>
              </p:nvSpPr>
              <p:spPr>
                <a:xfrm>
                  <a:off x="654050" y="4638675"/>
                  <a:ext cx="177801" cy="100013"/>
                </a:xfrm>
                <a:custGeom>
                  <a:avLst/>
                  <a:gdLst/>
                  <a:ahLst/>
                  <a:cxnLst/>
                  <a:rect l="l" t="t" r="r" b="b"/>
                  <a:pathLst>
                    <a:path w="177801" h="100013">
                      <a:moveTo>
                        <a:pt x="0" y="100013"/>
                      </a:moveTo>
                      <a:lnTo>
                        <a:pt x="44450" y="33338"/>
                      </a:lnTo>
                      <a:lnTo>
                        <a:pt x="88900" y="55563"/>
                      </a:lnTo>
                      <a:lnTo>
                        <a:pt x="133350" y="0"/>
                      </a:lnTo>
                      <a:lnTo>
                        <a:pt x="177801" y="44450"/>
                      </a:lnTo>
                    </a:path>
                  </a:pathLst>
                </a:custGeom>
                <a:noFill/>
                <a:ln w="22225">
                  <a:solidFill>
                    <a:srgbClr val="FFFFFF"/>
                  </a:solidFill>
                </a:ln>
              </p:spPr>
            </p:sp>
          </p:grpSp>
          <p:sp>
            <p:nvSpPr>
              <p:cNvPr id="79" name="TextBox 79"/>
              <p:cNvSpPr txBox="1"/>
              <p:nvPr/>
            </p:nvSpPr>
            <p:spPr>
              <a:xfrm>
                <a:off x="617030" y="5065395"/>
                <a:ext cx="251841" cy="176212"/>
              </a:xfrm>
              <a:prstGeom prst="rect">
                <a:avLst/>
              </a:prstGeom>
              <a:noFill/>
              <a:ln>
                <a:noFill/>
              </a:ln>
            </p:spPr>
            <p:txBody>
              <a:bodyPr wrap="none" lIns="0" tIns="0" rIns="0" bIns="0" anchor="t" anchorCtr="0">
                <a:spAutoFit/>
              </a:bodyPr>
              <a:lstStyle/>
              <a:p>
                <a:pPr algn="ctr"/>
                <a:r>
                  <a:rPr lang="zh-CN" sz="900" b="1" dirty="0">
                    <a:solidFill>
                      <a:srgbClr val="42140B"/>
                    </a:solidFill>
                    <a:latin typeface="+mn-lt"/>
                    <a:ea typeface="+mn-ea"/>
                    <a:cs typeface="+mn-cs"/>
                  </a:rPr>
                  <a:t>增长</a:t>
                </a:r>
              </a:p>
            </p:txBody>
          </p:sp>
          <p:sp>
            <p:nvSpPr>
              <p:cNvPr id="80" name="Rectangle 80"/>
              <p:cNvSpPr/>
              <p:nvPr/>
            </p:nvSpPr>
            <p:spPr>
              <a:xfrm>
                <a:off x="1238250" y="4286250"/>
                <a:ext cx="1619250" cy="1009650"/>
              </a:xfrm>
              <a:prstGeom prst="roundRect">
                <a:avLst>
                  <a:gd name="adj" fmla="val 5660"/>
                </a:avLst>
              </a:prstGeom>
              <a:solidFill>
                <a:srgbClr val="FFFFFF"/>
              </a:solidFill>
              <a:ln w="9525">
                <a:solidFill>
                  <a:srgbClr val="D9E8C6"/>
                </a:solidFill>
              </a:ln>
            </p:spPr>
          </p:sp>
          <p:sp>
            <p:nvSpPr>
              <p:cNvPr id="81" name="TextBox 81"/>
              <p:cNvSpPr txBox="1"/>
              <p:nvPr/>
            </p:nvSpPr>
            <p:spPr>
              <a:xfrm>
                <a:off x="1328738" y="44119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转化率提升</a:t>
                </a:r>
              </a:p>
            </p:txBody>
          </p:sp>
          <p:sp>
            <p:nvSpPr>
              <p:cNvPr id="82" name="TextBox 82"/>
              <p:cNvSpPr txBox="1"/>
              <p:nvPr/>
            </p:nvSpPr>
            <p:spPr>
              <a:xfrm>
                <a:off x="1328738" y="4640580"/>
                <a:ext cx="489585"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客单价提升</a:t>
                </a:r>
              </a:p>
            </p:txBody>
          </p:sp>
          <p:sp>
            <p:nvSpPr>
              <p:cNvPr id="83" name="TextBox 83"/>
              <p:cNvSpPr txBox="1"/>
              <p:nvPr/>
            </p:nvSpPr>
            <p:spPr>
              <a:xfrm>
                <a:off x="1328738" y="48691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交叉销售提升</a:t>
                </a:r>
              </a:p>
            </p:txBody>
          </p:sp>
          <p:sp>
            <p:nvSpPr>
              <p:cNvPr id="84" name="TextBox 84"/>
              <p:cNvSpPr txBox="1"/>
              <p:nvPr/>
            </p:nvSpPr>
            <p:spPr>
              <a:xfrm>
                <a:off x="1328738" y="5097780"/>
                <a:ext cx="570357" cy="119062"/>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600" dirty="0">
                    <a:solidFill>
                      <a:srgbClr val="3A4238"/>
                    </a:solidFill>
                    <a:latin typeface="+mn-lt"/>
                    <a:ea typeface="+mn-ea"/>
                    <a:cs typeface="+mn-cs"/>
                  </a:rPr>
                  <a:t>客户留存提升</a:t>
                </a:r>
              </a:p>
            </p:txBody>
          </p:sp>
          <p:sp>
            <p:nvSpPr>
              <p:cNvPr id="85" name="Polygon 85"/>
              <p:cNvSpPr/>
              <p:nvPr/>
            </p:nvSpPr>
            <p:spPr>
              <a:xfrm>
                <a:off x="3009900" y="4743450"/>
                <a:ext cx="133350" cy="114300"/>
              </a:xfrm>
              <a:custGeom>
                <a:avLst/>
                <a:gdLst/>
                <a:ahLst/>
                <a:cxnLst/>
                <a:rect l="l" t="t" r="r" b="b"/>
                <a:pathLst>
                  <a:path w="133350" h="114300">
                    <a:moveTo>
                      <a:pt x="0" y="0"/>
                    </a:moveTo>
                    <a:lnTo>
                      <a:pt x="0" y="114300"/>
                    </a:lnTo>
                    <a:lnTo>
                      <a:pt x="133350" y="57150"/>
                    </a:lnTo>
                    <a:close/>
                  </a:path>
                </a:pathLst>
              </a:custGeom>
              <a:solidFill>
                <a:srgbClr val="9A4B3C"/>
              </a:solidFill>
              <a:ln>
                <a:noFill/>
              </a:ln>
            </p:spPr>
          </p:sp>
          <p:sp>
            <p:nvSpPr>
              <p:cNvPr id="86" name="Rectangle 86"/>
              <p:cNvSpPr/>
              <p:nvPr/>
            </p:nvSpPr>
            <p:spPr>
              <a:xfrm>
                <a:off x="3200400" y="4343400"/>
                <a:ext cx="1028700" cy="895350"/>
              </a:xfrm>
              <a:prstGeom prst="roundRect">
                <a:avLst>
                  <a:gd name="adj" fmla="val 6383"/>
                </a:avLst>
              </a:prstGeom>
              <a:solidFill>
                <a:srgbClr val="F4F8EC"/>
              </a:solidFill>
              <a:ln w="9525">
                <a:solidFill>
                  <a:srgbClr val="D9E8C6"/>
                </a:solidFill>
              </a:ln>
            </p:spPr>
          </p:sp>
          <p:sp>
            <p:nvSpPr>
              <p:cNvPr id="87" name="TextBox 87"/>
              <p:cNvSpPr txBox="1"/>
              <p:nvPr/>
            </p:nvSpPr>
            <p:spPr>
              <a:xfrm>
                <a:off x="3559213" y="4435078"/>
                <a:ext cx="311074" cy="111919"/>
              </a:xfrm>
              <a:prstGeom prst="rect">
                <a:avLst/>
              </a:prstGeom>
              <a:noFill/>
              <a:ln>
                <a:noFill/>
              </a:ln>
            </p:spPr>
            <p:txBody>
              <a:bodyPr wrap="none" lIns="0" tIns="0" rIns="0" bIns="0" anchor="t" anchorCtr="0">
                <a:spAutoFit/>
              </a:bodyPr>
              <a:lstStyle/>
              <a:p>
                <a:pPr algn="ctr"/>
                <a:r>
                  <a:rPr lang="zh-CN" sz="560" dirty="0">
                    <a:solidFill>
                      <a:srgbClr val="66705F"/>
                    </a:solidFill>
                    <a:latin typeface="+mn-lt"/>
                    <a:ea typeface="+mn-ea"/>
                    <a:cs typeface="+mn-cs"/>
                  </a:rPr>
                  <a:t>测算口径</a:t>
                </a:r>
              </a:p>
            </p:txBody>
          </p:sp>
          <p:sp>
            <p:nvSpPr>
              <p:cNvPr id="88" name="TextBox 88"/>
              <p:cNvSpPr txBox="1"/>
              <p:nvPr/>
            </p:nvSpPr>
            <p:spPr>
              <a:xfrm>
                <a:off x="3526904" y="457533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转化提升</a:t>
                </a:r>
              </a:p>
            </p:txBody>
          </p:sp>
          <p:sp>
            <p:nvSpPr>
              <p:cNvPr id="89" name="TextBox 89"/>
              <p:cNvSpPr txBox="1"/>
              <p:nvPr/>
            </p:nvSpPr>
            <p:spPr>
              <a:xfrm>
                <a:off x="3684814" y="4708684"/>
                <a:ext cx="59873" cy="133350"/>
              </a:xfrm>
              <a:prstGeom prst="rect">
                <a:avLst/>
              </a:prstGeom>
              <a:noFill/>
              <a:ln>
                <a:noFill/>
              </a:ln>
            </p:spPr>
            <p:txBody>
              <a:bodyPr wrap="none" lIns="0" tIns="0" rIns="0" bIns="0" anchor="t" anchorCtr="0">
                <a:spAutoFit/>
              </a:bodyPr>
              <a:lstStyle/>
              <a:p>
                <a:pPr algn="ctr"/>
                <a:r>
                  <a:rPr lang="zh-CN" sz="680" dirty="0">
                    <a:solidFill>
                      <a:srgbClr val="7C3B2F"/>
                    </a:solidFill>
                    <a:latin typeface="+mn-lt"/>
                    <a:ea typeface="+mn-ea"/>
                    <a:cs typeface="+mn-cs"/>
                  </a:rPr>
                  <a:t>×</a:t>
                </a:r>
              </a:p>
            </p:txBody>
          </p:sp>
          <p:sp>
            <p:nvSpPr>
              <p:cNvPr id="90" name="TextBox 90"/>
              <p:cNvSpPr txBox="1"/>
              <p:nvPr/>
            </p:nvSpPr>
            <p:spPr>
              <a:xfrm>
                <a:off x="3526904" y="4842034"/>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机会规模</a:t>
                </a:r>
              </a:p>
            </p:txBody>
          </p:sp>
          <p:sp>
            <p:nvSpPr>
              <p:cNvPr id="91" name="Line 91"/>
              <p:cNvSpPr/>
              <p:nvPr/>
            </p:nvSpPr>
            <p:spPr>
              <a:xfrm>
                <a:off x="3314700" y="4991100"/>
                <a:ext cx="800100" cy="9525"/>
              </a:xfrm>
              <a:custGeom>
                <a:avLst/>
                <a:gdLst/>
                <a:ahLst/>
                <a:cxnLst/>
                <a:rect l="l" t="t" r="r" b="b"/>
                <a:pathLst>
                  <a:path w="800100" h="9525">
                    <a:moveTo>
                      <a:pt x="0" y="0"/>
                    </a:moveTo>
                    <a:lnTo>
                      <a:pt x="800100" y="0"/>
                    </a:lnTo>
                  </a:path>
                </a:pathLst>
              </a:custGeom>
              <a:noFill/>
              <a:ln w="9525">
                <a:solidFill>
                  <a:srgbClr val="BE776A"/>
                </a:solidFill>
              </a:ln>
            </p:spPr>
          </p:sp>
          <p:sp>
            <p:nvSpPr>
              <p:cNvPr id="92" name="TextBox 92"/>
              <p:cNvSpPr txBox="1"/>
              <p:nvPr/>
            </p:nvSpPr>
            <p:spPr>
              <a:xfrm>
                <a:off x="3512399" y="5059680"/>
                <a:ext cx="404702" cy="119062"/>
              </a:xfrm>
              <a:prstGeom prst="rect">
                <a:avLst/>
              </a:prstGeom>
              <a:noFill/>
              <a:ln>
                <a:noFill/>
              </a:ln>
            </p:spPr>
            <p:txBody>
              <a:bodyPr wrap="none" lIns="0" tIns="0" rIns="0" bIns="0" anchor="t" anchorCtr="0">
                <a:spAutoFit/>
              </a:bodyPr>
              <a:lstStyle/>
              <a:p>
                <a:pPr algn="ctr"/>
                <a:r>
                  <a:rPr lang="zh-CN" sz="600" b="1" dirty="0">
                    <a:solidFill>
                      <a:srgbClr val="7C3B2F"/>
                    </a:solidFill>
                    <a:latin typeface="+mn-lt"/>
                    <a:ea typeface="+mn-ea"/>
                    <a:cs typeface="+mn-cs"/>
                  </a:rPr>
                  <a:t>= 财务价值</a:t>
                </a:r>
              </a:p>
            </p:txBody>
          </p:sp>
          <p:sp>
            <p:nvSpPr>
              <p:cNvPr id="93" name="TextBox 93"/>
              <p:cNvSpPr txBox="1"/>
              <p:nvPr/>
            </p:nvSpPr>
            <p:spPr>
              <a:xfrm>
                <a:off x="3512096" y="5167074"/>
                <a:ext cx="405308" cy="97631"/>
              </a:xfrm>
              <a:prstGeom prst="rect">
                <a:avLst/>
              </a:prstGeom>
              <a:noFill/>
              <a:ln>
                <a:noFill/>
              </a:ln>
            </p:spPr>
            <p:txBody>
              <a:bodyPr wrap="none" lIns="0" tIns="0" rIns="0" bIns="0" anchor="t" anchorCtr="0">
                <a:spAutoFit/>
              </a:bodyPr>
              <a:lstStyle/>
              <a:p>
                <a:pPr algn="ctr"/>
                <a:r>
                  <a:rPr lang="zh-CN" sz="490" dirty="0">
                    <a:solidFill>
                      <a:srgbClr val="66705F"/>
                    </a:solidFill>
                    <a:latin typeface="+mn-lt"/>
                    <a:ea typeface="+mn-ea"/>
                    <a:cs typeface="+mn-cs"/>
                  </a:rPr>
                  <a:t>（测算口径）</a:t>
                </a:r>
              </a:p>
            </p:txBody>
          </p:sp>
        </p:grpSp>
      </p:grpSp>
      <p:grpSp>
        <p:nvGrpSpPr>
          <p:cNvPr id="150" name="kpi-pyramid"/>
          <p:cNvGrpSpPr/>
          <p:nvPr/>
        </p:nvGrpSpPr>
        <p:grpSpPr>
          <a:xfrm>
            <a:off x="4343400" y="666750"/>
            <a:ext cx="3276600" cy="4286250"/>
            <a:chOff x="4343400" y="666750"/>
            <a:chExt cx="3276600" cy="4286250"/>
          </a:xfrm>
        </p:grpSpPr>
        <p:sp>
          <p:nvSpPr>
            <p:cNvPr id="96" name="Rectangle 96"/>
            <p:cNvSpPr/>
            <p:nvPr/>
          </p:nvSpPr>
          <p:spPr>
            <a:xfrm>
              <a:off x="4343400" y="666750"/>
              <a:ext cx="3276600" cy="228600"/>
            </a:xfrm>
            <a:prstGeom prst="roundRect">
              <a:avLst>
                <a:gd name="adj" fmla="val 25000"/>
              </a:avLst>
            </a:prstGeom>
            <a:solidFill>
              <a:srgbClr val="42140B"/>
            </a:solidFill>
            <a:ln>
              <a:noFill/>
            </a:ln>
          </p:spPr>
        </p:sp>
        <p:sp>
          <p:nvSpPr>
            <p:cNvPr id="97" name="TextBox 97"/>
            <p:cNvSpPr txBox="1"/>
            <p:nvPr/>
          </p:nvSpPr>
          <p:spPr>
            <a:xfrm>
              <a:off x="5155315" y="739616"/>
              <a:ext cx="165277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 xml:space="preserve">价值实现的指标层（KPI 体系）　</a:t>
              </a:r>
            </a:p>
          </p:txBody>
        </p:sp>
        <p:grpSp>
          <p:nvGrpSpPr>
            <p:cNvPr id="106" name="kpi-business"/>
            <p:cNvGrpSpPr/>
            <p:nvPr/>
          </p:nvGrpSpPr>
          <p:grpSpPr>
            <a:xfrm>
              <a:off x="4476750" y="990600"/>
              <a:ext cx="3009900" cy="685800"/>
              <a:chOff x="4476750" y="990600"/>
              <a:chExt cx="3009900" cy="685800"/>
            </a:xfrm>
          </p:grpSpPr>
          <p:sp>
            <p:nvSpPr>
              <p:cNvPr id="98" name="Rectangle 98"/>
              <p:cNvSpPr/>
              <p:nvPr/>
            </p:nvSpPr>
            <p:spPr>
              <a:xfrm>
                <a:off x="4476750" y="990600"/>
                <a:ext cx="3009900" cy="685800"/>
              </a:xfrm>
              <a:prstGeom prst="roundRect">
                <a:avLst>
                  <a:gd name="adj" fmla="val 11111"/>
                </a:avLst>
              </a:prstGeom>
              <a:solidFill>
                <a:srgbClr val="42140B"/>
              </a:solidFill>
              <a:ln>
                <a:noFill/>
              </a:ln>
            </p:spPr>
          </p:sp>
          <p:sp>
            <p:nvSpPr>
              <p:cNvPr id="99" name="Ellipse 99"/>
              <p:cNvSpPr/>
              <p:nvPr/>
            </p:nvSpPr>
            <p:spPr>
              <a:xfrm>
                <a:off x="4657725" y="1171575"/>
                <a:ext cx="323850" cy="323850"/>
              </a:xfrm>
              <a:prstGeom prst="ellipse">
                <a:avLst/>
              </a:prstGeom>
              <a:solidFill>
                <a:srgbClr val="643228"/>
              </a:solidFill>
              <a:ln>
                <a:noFill/>
              </a:ln>
            </p:spPr>
          </p:sp>
          <p:grpSp>
            <p:nvGrpSpPr>
              <p:cNvPr id="103" name="Group 103"/>
              <p:cNvGrpSpPr/>
              <p:nvPr/>
            </p:nvGrpSpPr>
            <p:grpSpPr>
              <a:xfrm>
                <a:off x="4748212" y="1262062"/>
                <a:ext cx="142875" cy="142875"/>
                <a:chOff x="4748212" y="1262062"/>
                <a:chExt cx="142875" cy="142875"/>
              </a:xfrm>
            </p:grpSpPr>
            <p:sp>
              <p:nvSpPr>
                <p:cNvPr id="100" name="Freeform 100"/>
                <p:cNvSpPr/>
                <p:nvPr/>
              </p:nvSpPr>
              <p:spPr>
                <a:xfrm>
                  <a:off x="4811712" y="13255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101" name="Freeform 101"/>
                <p:cNvSpPr/>
                <p:nvPr/>
              </p:nvSpPr>
              <p:spPr>
                <a:xfrm>
                  <a:off x="4779962" y="12938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102" name="Freeform 102"/>
                <p:cNvSpPr/>
                <p:nvPr/>
              </p:nvSpPr>
              <p:spPr>
                <a:xfrm>
                  <a:off x="4748212" y="12620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104" name="TextBox 104"/>
              <p:cNvSpPr txBox="1"/>
              <p:nvPr/>
            </p:nvSpPr>
            <p:spPr>
              <a:xfrm>
                <a:off x="5100638" y="1179195"/>
                <a:ext cx="61531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业务成果层</a:t>
                </a:r>
              </a:p>
            </p:txBody>
          </p:sp>
          <p:sp>
            <p:nvSpPr>
              <p:cNvPr id="105" name="TextBox 105"/>
              <p:cNvSpPr txBox="1"/>
              <p:nvPr/>
            </p:nvSpPr>
            <p:spPr>
              <a:xfrm>
                <a:off x="5100638" y="1428036"/>
                <a:ext cx="1232952" cy="140494"/>
              </a:xfrm>
              <a:prstGeom prst="rect">
                <a:avLst/>
              </a:prstGeom>
              <a:noFill/>
              <a:ln>
                <a:noFill/>
              </a:ln>
            </p:spPr>
            <p:txBody>
              <a:bodyPr wrap="none" lIns="0" tIns="0" rIns="0" bIns="0" anchor="t" anchorCtr="0">
                <a:spAutoFit/>
              </a:bodyPr>
              <a:lstStyle/>
              <a:p>
                <a:pPr algn="l"/>
                <a:r>
                  <a:rPr lang="zh-CN" sz="710" dirty="0">
                    <a:solidFill>
                      <a:srgbClr val="E4B7AF"/>
                    </a:solidFill>
                    <a:latin typeface="+mn-lt"/>
                    <a:ea typeface="+mn-ea"/>
                    <a:cs typeface="+mn-cs"/>
                  </a:rPr>
                  <a:t>效率 ｜ 质量 ｜ 风险 ｜ 增长</a:t>
                </a:r>
              </a:p>
            </p:txBody>
          </p:sp>
        </p:grpSp>
        <p:sp>
          <p:nvSpPr>
            <p:cNvPr id="107" name="Polygon 107"/>
            <p:cNvSpPr/>
            <p:nvPr/>
          </p:nvSpPr>
          <p:spPr>
            <a:xfrm>
              <a:off x="5924550" y="1714500"/>
              <a:ext cx="114300" cy="95250"/>
            </a:xfrm>
            <a:custGeom>
              <a:avLst/>
              <a:gdLst/>
              <a:ahLst/>
              <a:cxnLst/>
              <a:rect l="l" t="t" r="r" b="b"/>
              <a:pathLst>
                <a:path w="114300" h="95250">
                  <a:moveTo>
                    <a:pt x="0" y="0"/>
                  </a:moveTo>
                  <a:lnTo>
                    <a:pt x="114300" y="0"/>
                  </a:lnTo>
                  <a:lnTo>
                    <a:pt x="57150" y="95250"/>
                  </a:lnTo>
                  <a:close/>
                </a:path>
              </a:pathLst>
            </a:custGeom>
            <a:solidFill>
              <a:srgbClr val="9A4B3C"/>
            </a:solidFill>
            <a:ln>
              <a:noFill/>
            </a:ln>
          </p:spPr>
        </p:sp>
        <p:grpSp>
          <p:nvGrpSpPr>
            <p:cNvPr id="119" name="kpi-adoption"/>
            <p:cNvGrpSpPr/>
            <p:nvPr/>
          </p:nvGrpSpPr>
          <p:grpSpPr>
            <a:xfrm>
              <a:off x="4476750" y="1809750"/>
              <a:ext cx="3009900" cy="685800"/>
              <a:chOff x="4476750" y="1809750"/>
              <a:chExt cx="3009900" cy="685800"/>
            </a:xfrm>
          </p:grpSpPr>
          <p:sp>
            <p:nvSpPr>
              <p:cNvPr id="108" name="Rectangle 108"/>
              <p:cNvSpPr/>
              <p:nvPr/>
            </p:nvSpPr>
            <p:spPr>
              <a:xfrm>
                <a:off x="4476750" y="1809750"/>
                <a:ext cx="3009900" cy="685800"/>
              </a:xfrm>
              <a:prstGeom prst="roundRect">
                <a:avLst>
                  <a:gd name="adj" fmla="val 11111"/>
                </a:avLst>
              </a:prstGeom>
              <a:solidFill>
                <a:srgbClr val="CE9085"/>
              </a:solidFill>
              <a:ln>
                <a:noFill/>
              </a:ln>
            </p:spPr>
          </p:sp>
          <p:sp>
            <p:nvSpPr>
              <p:cNvPr id="109" name="Ellipse 109"/>
              <p:cNvSpPr/>
              <p:nvPr/>
            </p:nvSpPr>
            <p:spPr>
              <a:xfrm>
                <a:off x="4657725" y="1990725"/>
                <a:ext cx="323850" cy="323850"/>
              </a:xfrm>
              <a:prstGeom prst="ellipse">
                <a:avLst/>
              </a:prstGeom>
              <a:solidFill>
                <a:srgbClr val="FFFFFF"/>
              </a:solidFill>
              <a:ln>
                <a:noFill/>
              </a:ln>
            </p:spPr>
          </p:sp>
          <p:grpSp>
            <p:nvGrpSpPr>
              <p:cNvPr id="116" name="Group 116"/>
              <p:cNvGrpSpPr/>
              <p:nvPr/>
            </p:nvGrpSpPr>
            <p:grpSpPr>
              <a:xfrm>
                <a:off x="4748212" y="2081212"/>
                <a:ext cx="142875" cy="142875"/>
                <a:chOff x="4748212" y="2081212"/>
                <a:chExt cx="142875" cy="142875"/>
              </a:xfrm>
            </p:grpSpPr>
            <p:sp>
              <p:nvSpPr>
                <p:cNvPr id="110" name="Freeform 110"/>
                <p:cNvSpPr/>
                <p:nvPr/>
              </p:nvSpPr>
              <p:spPr>
                <a:xfrm>
                  <a:off x="4803775" y="21447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643228"/>
                  </a:solidFill>
                </a:ln>
              </p:spPr>
            </p:sp>
            <p:sp>
              <p:nvSpPr>
                <p:cNvPr id="111" name="Freeform 111"/>
                <p:cNvSpPr/>
                <p:nvPr/>
              </p:nvSpPr>
              <p:spPr>
                <a:xfrm>
                  <a:off x="4787900" y="220027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643228"/>
                  </a:solidFill>
                </a:ln>
              </p:spPr>
            </p:sp>
            <p:sp>
              <p:nvSpPr>
                <p:cNvPr id="112" name="Freeform 112"/>
                <p:cNvSpPr/>
                <p:nvPr/>
              </p:nvSpPr>
              <p:spPr>
                <a:xfrm>
                  <a:off x="4843462" y="20812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643228"/>
                  </a:solidFill>
                </a:ln>
              </p:spPr>
            </p:sp>
            <p:sp>
              <p:nvSpPr>
                <p:cNvPr id="113" name="Freeform 113"/>
                <p:cNvSpPr/>
                <p:nvPr/>
              </p:nvSpPr>
              <p:spPr>
                <a:xfrm>
                  <a:off x="4859337" y="213677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643228"/>
                  </a:solidFill>
                </a:ln>
              </p:spPr>
            </p:sp>
            <p:sp>
              <p:nvSpPr>
                <p:cNvPr id="114" name="Freeform 114"/>
                <p:cNvSpPr/>
                <p:nvPr/>
              </p:nvSpPr>
              <p:spPr>
                <a:xfrm>
                  <a:off x="4764087" y="20812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643228"/>
                  </a:solidFill>
                </a:ln>
              </p:spPr>
            </p:sp>
            <p:sp>
              <p:nvSpPr>
                <p:cNvPr id="115" name="Freeform 115"/>
                <p:cNvSpPr/>
                <p:nvPr/>
              </p:nvSpPr>
              <p:spPr>
                <a:xfrm>
                  <a:off x="4748212" y="213677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643228"/>
                  </a:solidFill>
                </a:ln>
              </p:spPr>
            </p:sp>
          </p:grpSp>
          <p:sp>
            <p:nvSpPr>
              <p:cNvPr id="117" name="TextBox 117"/>
              <p:cNvSpPr txBox="1"/>
              <p:nvPr/>
            </p:nvSpPr>
            <p:spPr>
              <a:xfrm>
                <a:off x="5100638" y="2002393"/>
                <a:ext cx="1284056"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采用与变革层</a:t>
                </a:r>
                <a:r>
                  <a:rPr lang="zh-CN" sz="600" dirty="0">
                    <a:solidFill>
                      <a:srgbClr val="50261E"/>
                    </a:solidFill>
                    <a:latin typeface="+mn-lt"/>
                    <a:ea typeface="+mn-ea"/>
                    <a:cs typeface="+mn-cs"/>
                  </a:rPr>
                  <a:t xml:space="preserve">（Adoption）　</a:t>
                </a:r>
              </a:p>
            </p:txBody>
          </p:sp>
          <p:sp>
            <p:nvSpPr>
              <p:cNvPr id="118" name="TextBox 118"/>
              <p:cNvSpPr txBox="1"/>
              <p:nvPr/>
            </p:nvSpPr>
            <p:spPr>
              <a:xfrm>
                <a:off x="5100638" y="2255282"/>
                <a:ext cx="1715430" cy="126206"/>
              </a:xfrm>
              <a:prstGeom prst="rect">
                <a:avLst/>
              </a:prstGeom>
              <a:noFill/>
              <a:ln>
                <a:noFill/>
              </a:ln>
            </p:spPr>
            <p:txBody>
              <a:bodyPr wrap="none" lIns="0" tIns="0" rIns="0" bIns="0" anchor="t" anchorCtr="0">
                <a:spAutoFit/>
              </a:bodyPr>
              <a:lstStyle/>
              <a:p>
                <a:pPr algn="l"/>
                <a:r>
                  <a:rPr lang="zh-CN" sz="640" dirty="0">
                    <a:solidFill>
                      <a:srgbClr val="50261E"/>
                    </a:solidFill>
                    <a:latin typeface="+mn-lt"/>
                    <a:ea typeface="+mn-ea"/>
                    <a:cs typeface="+mn-cs"/>
                  </a:rPr>
                  <a:t>活跃用户 ｜ 覆盖范围 ｜ 使用频次 ｜ 满意度</a:t>
                </a:r>
              </a:p>
            </p:txBody>
          </p:sp>
        </p:grpSp>
        <p:sp>
          <p:nvSpPr>
            <p:cNvPr id="120" name="Polygon 120"/>
            <p:cNvSpPr/>
            <p:nvPr/>
          </p:nvSpPr>
          <p:spPr>
            <a:xfrm>
              <a:off x="5924550" y="2533650"/>
              <a:ext cx="114300" cy="95250"/>
            </a:xfrm>
            <a:custGeom>
              <a:avLst/>
              <a:gdLst/>
              <a:ahLst/>
              <a:cxnLst/>
              <a:rect l="l" t="t" r="r" b="b"/>
              <a:pathLst>
                <a:path w="114300" h="95250">
                  <a:moveTo>
                    <a:pt x="0" y="0"/>
                  </a:moveTo>
                  <a:lnTo>
                    <a:pt x="114300" y="0"/>
                  </a:lnTo>
                  <a:lnTo>
                    <a:pt x="57150" y="95250"/>
                  </a:lnTo>
                  <a:close/>
                </a:path>
              </a:pathLst>
            </a:custGeom>
            <a:solidFill>
              <a:srgbClr val="9A4B3C"/>
            </a:solidFill>
            <a:ln>
              <a:noFill/>
            </a:ln>
          </p:spPr>
        </p:sp>
        <p:grpSp>
          <p:nvGrpSpPr>
            <p:cNvPr id="130" name="kpi-task"/>
            <p:cNvGrpSpPr/>
            <p:nvPr/>
          </p:nvGrpSpPr>
          <p:grpSpPr>
            <a:xfrm>
              <a:off x="4476750" y="2628900"/>
              <a:ext cx="3009900" cy="685800"/>
              <a:chOff x="4476750" y="2628900"/>
              <a:chExt cx="3009900" cy="685800"/>
            </a:xfrm>
          </p:grpSpPr>
          <p:sp>
            <p:nvSpPr>
              <p:cNvPr id="121" name="Rectangle 121"/>
              <p:cNvSpPr/>
              <p:nvPr/>
            </p:nvSpPr>
            <p:spPr>
              <a:xfrm>
                <a:off x="4476750" y="2628900"/>
                <a:ext cx="3009900" cy="685800"/>
              </a:xfrm>
              <a:prstGeom prst="roundRect">
                <a:avLst>
                  <a:gd name="adj" fmla="val 11111"/>
                </a:avLst>
              </a:prstGeom>
              <a:solidFill>
                <a:srgbClr val="E4B7AF"/>
              </a:solidFill>
              <a:ln>
                <a:noFill/>
              </a:ln>
            </p:spPr>
          </p:sp>
          <p:sp>
            <p:nvSpPr>
              <p:cNvPr id="122" name="Ellipse 122"/>
              <p:cNvSpPr/>
              <p:nvPr/>
            </p:nvSpPr>
            <p:spPr>
              <a:xfrm>
                <a:off x="4657725" y="2809875"/>
                <a:ext cx="323850" cy="323850"/>
              </a:xfrm>
              <a:prstGeom prst="ellipse">
                <a:avLst/>
              </a:prstGeom>
              <a:solidFill>
                <a:srgbClr val="FFFFFF"/>
              </a:solidFill>
              <a:ln>
                <a:noFill/>
              </a:ln>
            </p:spPr>
          </p:sp>
          <p:grpSp>
            <p:nvGrpSpPr>
              <p:cNvPr id="127" name="Group 127"/>
              <p:cNvGrpSpPr/>
              <p:nvPr/>
            </p:nvGrpSpPr>
            <p:grpSpPr>
              <a:xfrm>
                <a:off x="4764087" y="2908300"/>
                <a:ext cx="119063" cy="134937"/>
                <a:chOff x="4764087" y="2908300"/>
                <a:chExt cx="119063" cy="134937"/>
              </a:xfrm>
            </p:grpSpPr>
            <p:sp>
              <p:nvSpPr>
                <p:cNvPr id="123" name="Freeform 123"/>
                <p:cNvSpPr/>
                <p:nvPr/>
              </p:nvSpPr>
              <p:spPr>
                <a:xfrm>
                  <a:off x="4764087" y="2908300"/>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643228"/>
                  </a:solidFill>
                </a:ln>
              </p:spPr>
            </p:sp>
            <p:sp>
              <p:nvSpPr>
                <p:cNvPr id="124" name="Freeform 124"/>
                <p:cNvSpPr/>
                <p:nvPr/>
              </p:nvSpPr>
              <p:spPr>
                <a:xfrm>
                  <a:off x="4835525" y="3011487"/>
                  <a:ext cx="47625" cy="31750"/>
                </a:xfrm>
                <a:custGeom>
                  <a:avLst/>
                  <a:gdLst/>
                  <a:ahLst/>
                  <a:cxnLst/>
                  <a:rect l="l" t="t" r="r" b="b"/>
                  <a:pathLst>
                    <a:path w="47625" h="31750">
                      <a:moveTo>
                        <a:pt x="0" y="15875"/>
                      </a:moveTo>
                      <a:lnTo>
                        <a:pt x="15875" y="31750"/>
                      </a:lnTo>
                      <a:lnTo>
                        <a:pt x="47625" y="0"/>
                      </a:lnTo>
                    </a:path>
                  </a:pathLst>
                </a:custGeom>
                <a:noFill/>
                <a:ln w="15875">
                  <a:solidFill>
                    <a:srgbClr val="643228"/>
                  </a:solidFill>
                </a:ln>
              </p:spPr>
            </p:sp>
            <p:sp>
              <p:nvSpPr>
                <p:cNvPr id="125" name="Freeform 125"/>
                <p:cNvSpPr/>
                <p:nvPr/>
              </p:nvSpPr>
              <p:spPr>
                <a:xfrm>
                  <a:off x="4795837" y="2940050"/>
                  <a:ext cx="31750" cy="9525"/>
                </a:xfrm>
                <a:custGeom>
                  <a:avLst/>
                  <a:gdLst/>
                  <a:ahLst/>
                  <a:cxnLst/>
                  <a:rect l="l" t="t" r="r" b="b"/>
                  <a:pathLst>
                    <a:path w="31750" h="9525">
                      <a:moveTo>
                        <a:pt x="0" y="0"/>
                      </a:moveTo>
                      <a:lnTo>
                        <a:pt x="31750" y="0"/>
                      </a:lnTo>
                    </a:path>
                  </a:pathLst>
                </a:custGeom>
                <a:noFill/>
                <a:ln w="15875">
                  <a:solidFill>
                    <a:srgbClr val="643228"/>
                  </a:solidFill>
                </a:ln>
              </p:spPr>
            </p:sp>
            <p:sp>
              <p:nvSpPr>
                <p:cNvPr id="126" name="Freeform 126"/>
                <p:cNvSpPr/>
                <p:nvPr/>
              </p:nvSpPr>
              <p:spPr>
                <a:xfrm>
                  <a:off x="4795837" y="2971800"/>
                  <a:ext cx="15875" cy="9525"/>
                </a:xfrm>
                <a:custGeom>
                  <a:avLst/>
                  <a:gdLst/>
                  <a:ahLst/>
                  <a:cxnLst/>
                  <a:rect l="l" t="t" r="r" b="b"/>
                  <a:pathLst>
                    <a:path w="15875" h="9525">
                      <a:moveTo>
                        <a:pt x="0" y="0"/>
                      </a:moveTo>
                      <a:lnTo>
                        <a:pt x="15875" y="0"/>
                      </a:lnTo>
                    </a:path>
                  </a:pathLst>
                </a:custGeom>
                <a:noFill/>
                <a:ln w="15875">
                  <a:solidFill>
                    <a:srgbClr val="643228"/>
                  </a:solidFill>
                </a:ln>
              </p:spPr>
            </p:sp>
          </p:grpSp>
          <p:sp>
            <p:nvSpPr>
              <p:cNvPr id="128" name="TextBox 128"/>
              <p:cNvSpPr txBox="1"/>
              <p:nvPr/>
            </p:nvSpPr>
            <p:spPr>
              <a:xfrm>
                <a:off x="5100638" y="2821543"/>
                <a:ext cx="1126693"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任务与流程层</a:t>
                </a:r>
                <a:r>
                  <a:rPr lang="zh-CN" sz="600" dirty="0">
                    <a:solidFill>
                      <a:srgbClr val="50261E"/>
                    </a:solidFill>
                    <a:latin typeface="+mn-lt"/>
                    <a:ea typeface="+mn-ea"/>
                    <a:cs typeface="+mn-cs"/>
                  </a:rPr>
                  <a:t xml:space="preserve">（Task）　</a:t>
                </a:r>
              </a:p>
            </p:txBody>
          </p:sp>
          <p:sp>
            <p:nvSpPr>
              <p:cNvPr id="129" name="TextBox 129"/>
              <p:cNvSpPr txBox="1"/>
              <p:nvPr/>
            </p:nvSpPr>
            <p:spPr>
              <a:xfrm>
                <a:off x="5100638" y="3074432"/>
                <a:ext cx="1491422" cy="126206"/>
              </a:xfrm>
              <a:prstGeom prst="rect">
                <a:avLst/>
              </a:prstGeom>
              <a:noFill/>
              <a:ln>
                <a:noFill/>
              </a:ln>
            </p:spPr>
            <p:txBody>
              <a:bodyPr wrap="none" lIns="0" tIns="0" rIns="0" bIns="0" anchor="t" anchorCtr="0">
                <a:spAutoFit/>
              </a:bodyPr>
              <a:lstStyle/>
              <a:p>
                <a:pPr algn="l"/>
                <a:r>
                  <a:rPr lang="zh-CN" sz="640" dirty="0">
                    <a:solidFill>
                      <a:srgbClr val="50261E"/>
                    </a:solidFill>
                    <a:latin typeface="+mn-lt"/>
                    <a:ea typeface="+mn-ea"/>
                    <a:cs typeface="+mn-cs"/>
                  </a:rPr>
                  <a:t>任务完成量 ｜ 任务成功率 ｜ 处理时长</a:t>
                </a:r>
              </a:p>
            </p:txBody>
          </p:sp>
        </p:grpSp>
        <p:sp>
          <p:nvSpPr>
            <p:cNvPr id="131" name="Polygon 131"/>
            <p:cNvSpPr/>
            <p:nvPr/>
          </p:nvSpPr>
          <p:spPr>
            <a:xfrm>
              <a:off x="5924550" y="3352800"/>
              <a:ext cx="114300" cy="95250"/>
            </a:xfrm>
            <a:custGeom>
              <a:avLst/>
              <a:gdLst/>
              <a:ahLst/>
              <a:cxnLst/>
              <a:rect l="l" t="t" r="r" b="b"/>
              <a:pathLst>
                <a:path w="114300" h="95250">
                  <a:moveTo>
                    <a:pt x="0" y="0"/>
                  </a:moveTo>
                  <a:lnTo>
                    <a:pt x="114300" y="0"/>
                  </a:lnTo>
                  <a:lnTo>
                    <a:pt x="57150" y="95250"/>
                  </a:lnTo>
                  <a:close/>
                </a:path>
              </a:pathLst>
            </a:custGeom>
            <a:solidFill>
              <a:srgbClr val="9A4B3C"/>
            </a:solidFill>
            <a:ln>
              <a:noFill/>
            </a:ln>
          </p:spPr>
        </p:sp>
        <p:grpSp>
          <p:nvGrpSpPr>
            <p:cNvPr id="139" name="kpi-retrieval"/>
            <p:cNvGrpSpPr/>
            <p:nvPr/>
          </p:nvGrpSpPr>
          <p:grpSpPr>
            <a:xfrm>
              <a:off x="4476750" y="3448050"/>
              <a:ext cx="3009900" cy="685800"/>
              <a:chOff x="4476750" y="3448050"/>
              <a:chExt cx="3009900" cy="685800"/>
            </a:xfrm>
          </p:grpSpPr>
          <p:sp>
            <p:nvSpPr>
              <p:cNvPr id="132" name="Rectangle 132"/>
              <p:cNvSpPr/>
              <p:nvPr/>
            </p:nvSpPr>
            <p:spPr>
              <a:xfrm>
                <a:off x="4476750" y="3448050"/>
                <a:ext cx="3009900" cy="685800"/>
              </a:xfrm>
              <a:prstGeom prst="roundRect">
                <a:avLst>
                  <a:gd name="adj" fmla="val 11111"/>
                </a:avLst>
              </a:prstGeom>
              <a:solidFill>
                <a:srgbClr val="E4B7AF"/>
              </a:solidFill>
              <a:ln>
                <a:noFill/>
              </a:ln>
            </p:spPr>
          </p:sp>
          <p:sp>
            <p:nvSpPr>
              <p:cNvPr id="133" name="Ellipse 133"/>
              <p:cNvSpPr/>
              <p:nvPr/>
            </p:nvSpPr>
            <p:spPr>
              <a:xfrm>
                <a:off x="4657725" y="3629025"/>
                <a:ext cx="323850" cy="323850"/>
              </a:xfrm>
              <a:prstGeom prst="ellipse">
                <a:avLst/>
              </a:prstGeom>
              <a:solidFill>
                <a:srgbClr val="FFFFFF"/>
              </a:solidFill>
              <a:ln>
                <a:noFill/>
              </a:ln>
            </p:spPr>
          </p:sp>
          <p:grpSp>
            <p:nvGrpSpPr>
              <p:cNvPr id="136" name="Group 136"/>
              <p:cNvGrpSpPr/>
              <p:nvPr/>
            </p:nvGrpSpPr>
            <p:grpSpPr>
              <a:xfrm>
                <a:off x="4748212" y="3719512"/>
                <a:ext cx="142875" cy="142875"/>
                <a:chOff x="4748212" y="3719512"/>
                <a:chExt cx="142875" cy="142875"/>
              </a:xfrm>
            </p:grpSpPr>
            <p:sp>
              <p:nvSpPr>
                <p:cNvPr id="134" name="Freeform 134"/>
                <p:cNvSpPr/>
                <p:nvPr/>
              </p:nvSpPr>
              <p:spPr>
                <a:xfrm>
                  <a:off x="4748212" y="37195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643228"/>
                  </a:solidFill>
                </a:ln>
              </p:spPr>
            </p:sp>
            <p:sp>
              <p:nvSpPr>
                <p:cNvPr id="135" name="Freeform 135"/>
                <p:cNvSpPr/>
                <p:nvPr/>
              </p:nvSpPr>
              <p:spPr>
                <a:xfrm>
                  <a:off x="4843462" y="3814762"/>
                  <a:ext cx="47625" cy="47625"/>
                </a:xfrm>
                <a:custGeom>
                  <a:avLst/>
                  <a:gdLst/>
                  <a:ahLst/>
                  <a:cxnLst/>
                  <a:rect l="l" t="t" r="r" b="b"/>
                  <a:pathLst>
                    <a:path w="47625" h="47625">
                      <a:moveTo>
                        <a:pt x="47625" y="47625"/>
                      </a:moveTo>
                      <a:lnTo>
                        <a:pt x="0" y="0"/>
                      </a:lnTo>
                    </a:path>
                  </a:pathLst>
                </a:custGeom>
                <a:noFill/>
                <a:ln w="15875">
                  <a:solidFill>
                    <a:srgbClr val="643228"/>
                  </a:solidFill>
                </a:ln>
              </p:spPr>
            </p:sp>
          </p:grpSp>
          <p:sp>
            <p:nvSpPr>
              <p:cNvPr id="137" name="TextBox 137"/>
              <p:cNvSpPr txBox="1"/>
              <p:nvPr/>
            </p:nvSpPr>
            <p:spPr>
              <a:xfrm>
                <a:off x="5100638" y="3640693"/>
                <a:ext cx="1779326"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检索与生成层</a:t>
                </a:r>
                <a:r>
                  <a:rPr lang="zh-CN" sz="600" dirty="0">
                    <a:solidFill>
                      <a:srgbClr val="50261E"/>
                    </a:solidFill>
                    <a:latin typeface="+mn-lt"/>
                    <a:ea typeface="+mn-ea"/>
                    <a:cs typeface="+mn-cs"/>
                  </a:rPr>
                  <a:t xml:space="preserve">（Retrieval/Generation）　</a:t>
                </a:r>
              </a:p>
            </p:txBody>
          </p:sp>
          <p:sp>
            <p:nvSpPr>
              <p:cNvPr id="138" name="TextBox 138"/>
              <p:cNvSpPr txBox="1"/>
              <p:nvPr/>
            </p:nvSpPr>
            <p:spPr>
              <a:xfrm>
                <a:off x="5100638" y="3893582"/>
                <a:ext cx="1801586" cy="126206"/>
              </a:xfrm>
              <a:prstGeom prst="rect">
                <a:avLst/>
              </a:prstGeom>
              <a:noFill/>
              <a:ln>
                <a:noFill/>
              </a:ln>
            </p:spPr>
            <p:txBody>
              <a:bodyPr wrap="none" lIns="0" tIns="0" rIns="0" bIns="0" anchor="t" anchorCtr="0">
                <a:spAutoFit/>
              </a:bodyPr>
              <a:lstStyle/>
              <a:p>
                <a:pPr algn="l"/>
                <a:r>
                  <a:rPr lang="zh-CN" sz="640" dirty="0">
                    <a:solidFill>
                      <a:srgbClr val="50261E"/>
                    </a:solidFill>
                    <a:latin typeface="+mn-lt"/>
                    <a:ea typeface="+mn-ea"/>
                    <a:cs typeface="+mn-cs"/>
                  </a:rPr>
                  <a:t>检索命中率 ｜ 生成采纳率 ｜ 准确性 ｜ 相关性</a:t>
                </a:r>
              </a:p>
            </p:txBody>
          </p:sp>
        </p:grpSp>
        <p:sp>
          <p:nvSpPr>
            <p:cNvPr id="140" name="Polygon 140"/>
            <p:cNvSpPr/>
            <p:nvPr/>
          </p:nvSpPr>
          <p:spPr>
            <a:xfrm>
              <a:off x="5924550" y="4171950"/>
              <a:ext cx="114300" cy="95250"/>
            </a:xfrm>
            <a:custGeom>
              <a:avLst/>
              <a:gdLst/>
              <a:ahLst/>
              <a:cxnLst/>
              <a:rect l="l" t="t" r="r" b="b"/>
              <a:pathLst>
                <a:path w="114300" h="95250">
                  <a:moveTo>
                    <a:pt x="0" y="0"/>
                  </a:moveTo>
                  <a:lnTo>
                    <a:pt x="114300" y="0"/>
                  </a:lnTo>
                  <a:lnTo>
                    <a:pt x="57150" y="95250"/>
                  </a:lnTo>
                  <a:close/>
                </a:path>
              </a:pathLst>
            </a:custGeom>
            <a:solidFill>
              <a:srgbClr val="9A4B3C"/>
            </a:solidFill>
            <a:ln>
              <a:noFill/>
            </a:ln>
          </p:spPr>
        </p:sp>
        <p:grpSp>
          <p:nvGrpSpPr>
            <p:cNvPr id="149" name="kpi-platform"/>
            <p:cNvGrpSpPr/>
            <p:nvPr/>
          </p:nvGrpSpPr>
          <p:grpSpPr>
            <a:xfrm>
              <a:off x="4476750" y="4267200"/>
              <a:ext cx="3009900" cy="685800"/>
              <a:chOff x="4476750" y="4267200"/>
              <a:chExt cx="3009900" cy="685800"/>
            </a:xfrm>
          </p:grpSpPr>
          <p:sp>
            <p:nvSpPr>
              <p:cNvPr id="141" name="Rectangle 141"/>
              <p:cNvSpPr/>
              <p:nvPr/>
            </p:nvSpPr>
            <p:spPr>
              <a:xfrm>
                <a:off x="4476750" y="4267200"/>
                <a:ext cx="3009900" cy="685800"/>
              </a:xfrm>
              <a:prstGeom prst="roundRect">
                <a:avLst>
                  <a:gd name="adj" fmla="val 11111"/>
                </a:avLst>
              </a:prstGeom>
              <a:solidFill>
                <a:srgbClr val="E7F2D8"/>
              </a:solidFill>
              <a:ln>
                <a:noFill/>
              </a:ln>
            </p:spPr>
          </p:sp>
          <p:sp>
            <p:nvSpPr>
              <p:cNvPr id="142" name="Ellipse 142"/>
              <p:cNvSpPr/>
              <p:nvPr/>
            </p:nvSpPr>
            <p:spPr>
              <a:xfrm>
                <a:off x="4657725" y="4448175"/>
                <a:ext cx="323850" cy="323850"/>
              </a:xfrm>
              <a:prstGeom prst="ellipse">
                <a:avLst/>
              </a:prstGeom>
              <a:solidFill>
                <a:srgbClr val="FFFFFF"/>
              </a:solidFill>
              <a:ln>
                <a:noFill/>
              </a:ln>
            </p:spPr>
          </p:sp>
          <p:grpSp>
            <p:nvGrpSpPr>
              <p:cNvPr id="146" name="Group 146"/>
              <p:cNvGrpSpPr/>
              <p:nvPr/>
            </p:nvGrpSpPr>
            <p:grpSpPr>
              <a:xfrm>
                <a:off x="4756150" y="4538662"/>
                <a:ext cx="127000" cy="142875"/>
                <a:chOff x="4756150" y="4538662"/>
                <a:chExt cx="127000" cy="142875"/>
              </a:xfrm>
            </p:grpSpPr>
            <p:sp>
              <p:nvSpPr>
                <p:cNvPr id="143" name="Freeform 143"/>
                <p:cNvSpPr/>
                <p:nvPr/>
              </p:nvSpPr>
              <p:spPr>
                <a:xfrm>
                  <a:off x="4756150" y="45386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643228"/>
                  </a:solidFill>
                </a:ln>
              </p:spPr>
            </p:sp>
            <p:sp>
              <p:nvSpPr>
                <p:cNvPr id="144" name="Freeform 144"/>
                <p:cNvSpPr/>
                <p:nvPr/>
              </p:nvSpPr>
              <p:spPr>
                <a:xfrm>
                  <a:off x="4756150" y="45624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643228"/>
                  </a:solidFill>
                </a:ln>
              </p:spPr>
            </p:sp>
            <p:sp>
              <p:nvSpPr>
                <p:cNvPr id="145" name="Freeform 145"/>
                <p:cNvSpPr/>
                <p:nvPr/>
              </p:nvSpPr>
              <p:spPr>
                <a:xfrm>
                  <a:off x="4756150" y="46101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643228"/>
                  </a:solidFill>
                </a:ln>
              </p:spPr>
            </p:sp>
          </p:grpSp>
          <p:sp>
            <p:nvSpPr>
              <p:cNvPr id="147" name="TextBox 147"/>
              <p:cNvSpPr txBox="1"/>
              <p:nvPr/>
            </p:nvSpPr>
            <p:spPr>
              <a:xfrm>
                <a:off x="5100638" y="4459843"/>
                <a:ext cx="1300324"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平台与治理层</a:t>
                </a:r>
                <a:r>
                  <a:rPr lang="zh-CN" sz="600" dirty="0">
                    <a:solidFill>
                      <a:srgbClr val="50261E"/>
                    </a:solidFill>
                    <a:latin typeface="+mn-lt"/>
                    <a:ea typeface="+mn-ea"/>
                    <a:cs typeface="+mn-cs"/>
                  </a:rPr>
                  <a:t xml:space="preserve">（Platform）　</a:t>
                </a:r>
              </a:p>
            </p:txBody>
          </p:sp>
          <p:sp>
            <p:nvSpPr>
              <p:cNvPr id="148" name="TextBox 148"/>
              <p:cNvSpPr txBox="1"/>
              <p:nvPr/>
            </p:nvSpPr>
            <p:spPr>
              <a:xfrm>
                <a:off x="5100638" y="4712732"/>
                <a:ext cx="1543116" cy="126206"/>
              </a:xfrm>
              <a:prstGeom prst="rect">
                <a:avLst/>
              </a:prstGeom>
              <a:noFill/>
              <a:ln>
                <a:noFill/>
              </a:ln>
            </p:spPr>
            <p:txBody>
              <a:bodyPr wrap="none" lIns="0" tIns="0" rIns="0" bIns="0" anchor="t" anchorCtr="0">
                <a:spAutoFit/>
              </a:bodyPr>
              <a:lstStyle/>
              <a:p>
                <a:pPr algn="l"/>
                <a:r>
                  <a:rPr lang="zh-CN" sz="640" dirty="0">
                    <a:solidFill>
                      <a:srgbClr val="50261E"/>
                    </a:solidFill>
                    <a:latin typeface="+mn-lt"/>
                    <a:ea typeface="+mn-ea"/>
                    <a:cs typeface="+mn-cs"/>
                  </a:rPr>
                  <a:t>可用性 ｜ 性能 ｜ 安全合规 ｜ 成本效率</a:t>
                </a:r>
              </a:p>
            </p:txBody>
          </p:sp>
        </p:grpSp>
      </p:grpSp>
      <p:grpSp>
        <p:nvGrpSpPr>
          <p:cNvPr id="207" name="value-governance"/>
          <p:cNvGrpSpPr/>
          <p:nvPr/>
        </p:nvGrpSpPr>
        <p:grpSpPr>
          <a:xfrm>
            <a:off x="7734300" y="666750"/>
            <a:ext cx="4229100" cy="4029075"/>
            <a:chOff x="7734300" y="666750"/>
            <a:chExt cx="4229100" cy="4029075"/>
          </a:xfrm>
        </p:grpSpPr>
        <p:sp>
          <p:nvSpPr>
            <p:cNvPr id="151" name="Rectangle 151"/>
            <p:cNvSpPr/>
            <p:nvPr/>
          </p:nvSpPr>
          <p:spPr>
            <a:xfrm>
              <a:off x="7734300" y="666750"/>
              <a:ext cx="4229100" cy="228600"/>
            </a:xfrm>
            <a:prstGeom prst="roundRect">
              <a:avLst>
                <a:gd name="adj" fmla="val 25000"/>
              </a:avLst>
            </a:prstGeom>
            <a:solidFill>
              <a:srgbClr val="42140B"/>
            </a:solidFill>
            <a:ln>
              <a:noFill/>
            </a:ln>
          </p:spPr>
        </p:sp>
        <p:sp>
          <p:nvSpPr>
            <p:cNvPr id="152" name="TextBox 152"/>
            <p:cNvSpPr txBox="1"/>
            <p:nvPr/>
          </p:nvSpPr>
          <p:spPr>
            <a:xfrm>
              <a:off x="9126563" y="739616"/>
              <a:ext cx="14445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 xml:space="preserve">价值实现治理（闭环管理）　</a:t>
              </a:r>
            </a:p>
          </p:txBody>
        </p:sp>
        <p:sp>
          <p:nvSpPr>
            <p:cNvPr id="153" name="Rectangle 153"/>
            <p:cNvSpPr/>
            <p:nvPr/>
          </p:nvSpPr>
          <p:spPr>
            <a:xfrm>
              <a:off x="7734300" y="952500"/>
              <a:ext cx="4229100" cy="209550"/>
            </a:xfrm>
            <a:prstGeom prst="rect">
              <a:avLst/>
            </a:prstGeom>
            <a:solidFill>
              <a:srgbClr val="E7F2D8"/>
            </a:solidFill>
            <a:ln>
              <a:noFill/>
            </a:ln>
          </p:spPr>
        </p:sp>
        <p:sp>
          <p:nvSpPr>
            <p:cNvPr id="154" name="TextBox 154"/>
            <p:cNvSpPr txBox="1"/>
            <p:nvPr/>
          </p:nvSpPr>
          <p:spPr>
            <a:xfrm>
              <a:off x="8203679" y="1022509"/>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治理要素</a:t>
              </a:r>
            </a:p>
          </p:txBody>
        </p:sp>
        <p:sp>
          <p:nvSpPr>
            <p:cNvPr id="155" name="TextBox 155"/>
            <p:cNvSpPr txBox="1"/>
            <p:nvPr/>
          </p:nvSpPr>
          <p:spPr>
            <a:xfrm>
              <a:off x="9432404" y="1022509"/>
              <a:ext cx="375691"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关键问题</a:t>
              </a:r>
            </a:p>
          </p:txBody>
        </p:sp>
        <p:sp>
          <p:nvSpPr>
            <p:cNvPr id="156" name="TextBox 156"/>
            <p:cNvSpPr txBox="1"/>
            <p:nvPr/>
          </p:nvSpPr>
          <p:spPr>
            <a:xfrm>
              <a:off x="10981271" y="1022509"/>
              <a:ext cx="192608" cy="133350"/>
            </a:xfrm>
            <a:prstGeom prst="rect">
              <a:avLst/>
            </a:prstGeom>
            <a:noFill/>
            <a:ln>
              <a:noFill/>
            </a:ln>
          </p:spPr>
          <p:txBody>
            <a:bodyPr wrap="none" lIns="0" tIns="0" rIns="0" bIns="0" anchor="t" anchorCtr="0">
              <a:spAutoFit/>
            </a:bodyPr>
            <a:lstStyle/>
            <a:p>
              <a:pPr algn="ctr"/>
              <a:r>
                <a:rPr lang="zh-CN" sz="680" b="1" dirty="0">
                  <a:solidFill>
                    <a:srgbClr val="42140B"/>
                  </a:solidFill>
                  <a:latin typeface="+mn-lt"/>
                  <a:ea typeface="+mn-ea"/>
                  <a:cs typeface="+mn-cs"/>
                </a:rPr>
                <a:t>说明</a:t>
              </a:r>
            </a:p>
          </p:txBody>
        </p:sp>
        <p:grpSp>
          <p:nvGrpSpPr>
            <p:cNvPr id="203" name="vg-rows"/>
            <p:cNvGrpSpPr/>
            <p:nvPr/>
          </p:nvGrpSpPr>
          <p:grpSpPr>
            <a:xfrm>
              <a:off x="7734300" y="1162050"/>
              <a:ext cx="4229100" cy="3524250"/>
              <a:chOff x="7734300" y="1162050"/>
              <a:chExt cx="4229100" cy="3524250"/>
            </a:xfrm>
          </p:grpSpPr>
          <p:sp>
            <p:nvSpPr>
              <p:cNvPr id="157" name="Rectangle 157"/>
              <p:cNvSpPr/>
              <p:nvPr/>
            </p:nvSpPr>
            <p:spPr>
              <a:xfrm>
                <a:off x="7734300" y="1162050"/>
                <a:ext cx="4229100" cy="704850"/>
              </a:xfrm>
              <a:prstGeom prst="rect">
                <a:avLst/>
              </a:prstGeom>
              <a:solidFill>
                <a:srgbClr val="FFFFFF"/>
              </a:solidFill>
              <a:ln>
                <a:noFill/>
              </a:ln>
            </p:spPr>
          </p:sp>
          <p:grpSp>
            <p:nvGrpSpPr>
              <p:cNvPr id="162" name="Group 162"/>
              <p:cNvGrpSpPr/>
              <p:nvPr/>
            </p:nvGrpSpPr>
            <p:grpSpPr>
              <a:xfrm>
                <a:off x="7870031" y="1438275"/>
                <a:ext cx="128587" cy="123825"/>
                <a:chOff x="7870031" y="1438275"/>
                <a:chExt cx="128587" cy="123825"/>
              </a:xfrm>
            </p:grpSpPr>
            <p:sp>
              <p:nvSpPr>
                <p:cNvPr id="158" name="Freeform 158"/>
                <p:cNvSpPr/>
                <p:nvPr/>
              </p:nvSpPr>
              <p:spPr>
                <a:xfrm>
                  <a:off x="7870031" y="149542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7C3B2F"/>
                  </a:solidFill>
                </a:ln>
              </p:spPr>
            </p:sp>
            <p:sp>
              <p:nvSpPr>
                <p:cNvPr id="159" name="Freeform 159"/>
                <p:cNvSpPr/>
                <p:nvPr/>
              </p:nvSpPr>
              <p:spPr>
                <a:xfrm>
                  <a:off x="7955756" y="146685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7C3B2F"/>
                  </a:solidFill>
                </a:ln>
              </p:spPr>
            </p:sp>
            <p:sp>
              <p:nvSpPr>
                <p:cNvPr id="160" name="Freeform 160"/>
                <p:cNvSpPr/>
                <p:nvPr/>
              </p:nvSpPr>
              <p:spPr>
                <a:xfrm>
                  <a:off x="7912894" y="143827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7C3B2F"/>
                  </a:solidFill>
                </a:ln>
              </p:spPr>
            </p:sp>
            <p:sp>
              <p:nvSpPr>
                <p:cNvPr id="161" name="Freeform 161"/>
                <p:cNvSpPr/>
                <p:nvPr/>
              </p:nvSpPr>
              <p:spPr>
                <a:xfrm>
                  <a:off x="7877175" y="1552575"/>
                  <a:ext cx="100012" cy="9525"/>
                </a:xfrm>
                <a:custGeom>
                  <a:avLst/>
                  <a:gdLst/>
                  <a:ahLst/>
                  <a:cxnLst/>
                  <a:rect l="l" t="t" r="r" b="b"/>
                  <a:pathLst>
                    <a:path w="100012" h="9525">
                      <a:moveTo>
                        <a:pt x="0" y="0"/>
                      </a:moveTo>
                      <a:lnTo>
                        <a:pt x="100012" y="0"/>
                      </a:lnTo>
                    </a:path>
                  </a:pathLst>
                </a:custGeom>
                <a:noFill/>
                <a:ln w="14288">
                  <a:solidFill>
                    <a:srgbClr val="7C3B2F"/>
                  </a:solidFill>
                </a:ln>
              </p:spPr>
            </p:sp>
          </p:grpSp>
          <p:sp>
            <p:nvSpPr>
              <p:cNvPr id="163" name="TextBox 163"/>
              <p:cNvSpPr txBox="1"/>
              <p:nvPr/>
            </p:nvSpPr>
            <p:spPr>
              <a:xfrm>
                <a:off x="8091488" y="1385888"/>
                <a:ext cx="733707"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基线</a:t>
                </a:r>
                <a:r>
                  <a:rPr lang="zh-CN" sz="560" dirty="0">
                    <a:solidFill>
                      <a:srgbClr val="66705F"/>
                    </a:solidFill>
                    <a:latin typeface="+mn-lt"/>
                    <a:ea typeface="+mn-ea"/>
                    <a:cs typeface="+mn-cs"/>
                  </a:rPr>
                  <a:t xml:space="preserve">（Baseline）　</a:t>
                </a:r>
              </a:p>
            </p:txBody>
          </p:sp>
          <p:sp>
            <p:nvSpPr>
              <p:cNvPr id="164" name="TextBox 164"/>
              <p:cNvSpPr txBox="1"/>
              <p:nvPr/>
            </p:nvSpPr>
            <p:spPr>
              <a:xfrm>
                <a:off x="9139238" y="1487805"/>
                <a:ext cx="538582"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当前表现如何?</a:t>
                </a:r>
              </a:p>
            </p:txBody>
          </p:sp>
          <p:sp>
            <p:nvSpPr>
              <p:cNvPr id="165" name="TextBox 165"/>
              <p:cNvSpPr txBox="1"/>
              <p:nvPr/>
            </p:nvSpPr>
            <p:spPr>
              <a:xfrm>
                <a:off x="10244138" y="1406128"/>
                <a:ext cx="64960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定义口径与时间窗，</a:t>
                </a:r>
                <a:br/>
                <a:r>
                  <a:rPr lang="zh-CN" sz="560" dirty="0">
                    <a:solidFill>
                      <a:srgbClr val="3A4238"/>
                    </a:solidFill>
                    <a:latin typeface="+mn-lt"/>
                    <a:ea typeface="+mn-ea"/>
                    <a:cs typeface="+mn-cs"/>
                  </a:rPr>
                  <a:t>建立可比的基线</a:t>
                </a:r>
              </a:p>
            </p:txBody>
          </p:sp>
          <p:sp>
            <p:nvSpPr>
              <p:cNvPr id="166" name="Rectangle 166"/>
              <p:cNvSpPr/>
              <p:nvPr/>
            </p:nvSpPr>
            <p:spPr>
              <a:xfrm>
                <a:off x="7734300" y="1866900"/>
                <a:ext cx="4229100" cy="704850"/>
              </a:xfrm>
              <a:prstGeom prst="rect">
                <a:avLst/>
              </a:prstGeom>
              <a:solidFill>
                <a:srgbClr val="F4F8EC"/>
              </a:solidFill>
              <a:ln>
                <a:noFill/>
              </a:ln>
            </p:spPr>
          </p:sp>
          <p:grpSp>
            <p:nvGrpSpPr>
              <p:cNvPr id="170" name="Group 170"/>
              <p:cNvGrpSpPr/>
              <p:nvPr/>
            </p:nvGrpSpPr>
            <p:grpSpPr>
              <a:xfrm>
                <a:off x="7870031" y="2135981"/>
                <a:ext cx="128588" cy="128588"/>
                <a:chOff x="7870031" y="2135981"/>
                <a:chExt cx="128588" cy="128588"/>
              </a:xfrm>
            </p:grpSpPr>
            <p:sp>
              <p:nvSpPr>
                <p:cNvPr id="167" name="Freeform 167"/>
                <p:cNvSpPr/>
                <p:nvPr/>
              </p:nvSpPr>
              <p:spPr>
                <a:xfrm>
                  <a:off x="7927181" y="21931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C3B2F"/>
                  </a:solidFill>
                </a:ln>
              </p:spPr>
            </p:sp>
            <p:sp>
              <p:nvSpPr>
                <p:cNvPr id="168" name="Freeform 168"/>
                <p:cNvSpPr/>
                <p:nvPr/>
              </p:nvSpPr>
              <p:spPr>
                <a:xfrm>
                  <a:off x="7898606" y="216455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7C3B2F"/>
                  </a:solidFill>
                </a:ln>
              </p:spPr>
            </p:sp>
            <p:sp>
              <p:nvSpPr>
                <p:cNvPr id="169" name="Freeform 169"/>
                <p:cNvSpPr/>
                <p:nvPr/>
              </p:nvSpPr>
              <p:spPr>
                <a:xfrm>
                  <a:off x="7870031" y="21359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C3B2F"/>
                  </a:solidFill>
                </a:ln>
              </p:spPr>
            </p:sp>
          </p:grpSp>
          <p:sp>
            <p:nvSpPr>
              <p:cNvPr id="171" name="TextBox 171"/>
              <p:cNvSpPr txBox="1"/>
              <p:nvPr/>
            </p:nvSpPr>
            <p:spPr>
              <a:xfrm>
                <a:off x="8091488" y="2090738"/>
                <a:ext cx="688741"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目标</a:t>
                </a:r>
                <a:r>
                  <a:rPr lang="zh-CN" sz="560" dirty="0">
                    <a:solidFill>
                      <a:srgbClr val="66705F"/>
                    </a:solidFill>
                    <a:latin typeface="+mn-lt"/>
                    <a:ea typeface="+mn-ea"/>
                    <a:cs typeface="+mn-cs"/>
                  </a:rPr>
                  <a:t xml:space="preserve">（Target）　</a:t>
                </a:r>
              </a:p>
            </p:txBody>
          </p:sp>
          <p:sp>
            <p:nvSpPr>
              <p:cNvPr id="172" name="TextBox 172"/>
              <p:cNvSpPr txBox="1"/>
              <p:nvPr/>
            </p:nvSpPr>
            <p:spPr>
              <a:xfrm>
                <a:off x="9139238" y="2192655"/>
                <a:ext cx="538582"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期望达到什么?</a:t>
                </a:r>
              </a:p>
            </p:txBody>
          </p:sp>
          <p:sp>
            <p:nvSpPr>
              <p:cNvPr id="173" name="TextBox 173"/>
              <p:cNvSpPr txBox="1"/>
              <p:nvPr/>
            </p:nvSpPr>
            <p:spPr>
              <a:xfrm>
                <a:off x="10244138" y="2110978"/>
                <a:ext cx="64960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设定目标与里程碑，</a:t>
                </a:r>
                <a:br/>
                <a:r>
                  <a:rPr lang="zh-CN" sz="560" dirty="0">
                    <a:solidFill>
                      <a:srgbClr val="3A4238"/>
                    </a:solidFill>
                    <a:latin typeface="+mn-lt"/>
                    <a:ea typeface="+mn-ea"/>
                    <a:cs typeface="+mn-cs"/>
                  </a:rPr>
                  <a:t>明确时间与范围</a:t>
                </a:r>
              </a:p>
            </p:txBody>
          </p:sp>
          <p:sp>
            <p:nvSpPr>
              <p:cNvPr id="174" name="Rectangle 174"/>
              <p:cNvSpPr/>
              <p:nvPr/>
            </p:nvSpPr>
            <p:spPr>
              <a:xfrm>
                <a:off x="7734300" y="2571750"/>
                <a:ext cx="4229100" cy="704850"/>
              </a:xfrm>
              <a:prstGeom prst="rect">
                <a:avLst/>
              </a:prstGeom>
              <a:solidFill>
                <a:srgbClr val="FFFFFF"/>
              </a:solidFill>
              <a:ln>
                <a:noFill/>
              </a:ln>
            </p:spPr>
          </p:sp>
          <p:grpSp>
            <p:nvGrpSpPr>
              <p:cNvPr id="178" name="Group 178"/>
              <p:cNvGrpSpPr/>
              <p:nvPr/>
            </p:nvGrpSpPr>
            <p:grpSpPr>
              <a:xfrm>
                <a:off x="7891462" y="2840831"/>
                <a:ext cx="107156" cy="128588"/>
                <a:chOff x="7891462" y="2840831"/>
                <a:chExt cx="107156" cy="128588"/>
              </a:xfrm>
            </p:grpSpPr>
            <p:sp>
              <p:nvSpPr>
                <p:cNvPr id="175" name="Freeform 175"/>
                <p:cNvSpPr/>
                <p:nvPr/>
              </p:nvSpPr>
              <p:spPr>
                <a:xfrm>
                  <a:off x="7905750" y="28408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C3B2F"/>
                  </a:solidFill>
                </a:ln>
              </p:spPr>
            </p:sp>
            <p:sp>
              <p:nvSpPr>
                <p:cNvPr id="176" name="Freeform 176"/>
                <p:cNvSpPr/>
                <p:nvPr/>
              </p:nvSpPr>
              <p:spPr>
                <a:xfrm>
                  <a:off x="7891462" y="292655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7C3B2F"/>
                  </a:solidFill>
                </a:ln>
              </p:spPr>
            </p:sp>
            <p:sp>
              <p:nvSpPr>
                <p:cNvPr id="177" name="Freeform 177"/>
                <p:cNvSpPr/>
                <p:nvPr/>
              </p:nvSpPr>
              <p:spPr>
                <a:xfrm>
                  <a:off x="7955756" y="2940844"/>
                  <a:ext cx="42862" cy="28575"/>
                </a:xfrm>
                <a:custGeom>
                  <a:avLst/>
                  <a:gdLst/>
                  <a:ahLst/>
                  <a:cxnLst/>
                  <a:rect l="l" t="t" r="r" b="b"/>
                  <a:pathLst>
                    <a:path w="42862" h="28575">
                      <a:moveTo>
                        <a:pt x="0" y="14288"/>
                      </a:moveTo>
                      <a:lnTo>
                        <a:pt x="14288" y="28575"/>
                      </a:lnTo>
                      <a:lnTo>
                        <a:pt x="42862" y="0"/>
                      </a:lnTo>
                    </a:path>
                  </a:pathLst>
                </a:custGeom>
                <a:noFill/>
                <a:ln w="14288">
                  <a:solidFill>
                    <a:srgbClr val="7C3B2F"/>
                  </a:solidFill>
                </a:ln>
              </p:spPr>
            </p:sp>
          </p:grpSp>
          <p:sp>
            <p:nvSpPr>
              <p:cNvPr id="179" name="TextBox 179"/>
              <p:cNvSpPr txBox="1"/>
              <p:nvPr/>
            </p:nvSpPr>
            <p:spPr>
              <a:xfrm>
                <a:off x="8091488" y="2795588"/>
                <a:ext cx="77874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责任人</a:t>
                </a:r>
                <a:r>
                  <a:rPr lang="zh-CN" sz="560" dirty="0">
                    <a:solidFill>
                      <a:srgbClr val="66705F"/>
                    </a:solidFill>
                    <a:latin typeface="+mn-lt"/>
                    <a:ea typeface="+mn-ea"/>
                    <a:cs typeface="+mn-cs"/>
                  </a:rPr>
                  <a:t xml:space="preserve">（Owner）　</a:t>
                </a:r>
              </a:p>
            </p:txBody>
          </p:sp>
          <p:sp>
            <p:nvSpPr>
              <p:cNvPr id="180" name="TextBox 180"/>
              <p:cNvSpPr txBox="1"/>
              <p:nvPr/>
            </p:nvSpPr>
            <p:spPr>
              <a:xfrm>
                <a:off x="9139238" y="2897505"/>
                <a:ext cx="457810"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谁负责达成?</a:t>
                </a:r>
              </a:p>
            </p:txBody>
          </p:sp>
          <p:sp>
            <p:nvSpPr>
              <p:cNvPr id="181" name="TextBox 181"/>
              <p:cNvSpPr txBox="1"/>
              <p:nvPr/>
            </p:nvSpPr>
            <p:spPr>
              <a:xfrm>
                <a:off x="10244138" y="2815828"/>
                <a:ext cx="79184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明确业务与技术责任人，</a:t>
                </a:r>
                <a:br/>
                <a:r>
                  <a:rPr lang="zh-CN" sz="560" dirty="0">
                    <a:solidFill>
                      <a:srgbClr val="3A4238"/>
                    </a:solidFill>
                    <a:latin typeface="+mn-lt"/>
                    <a:ea typeface="+mn-ea"/>
                    <a:cs typeface="+mn-cs"/>
                  </a:rPr>
                  <a:t>对结果负责</a:t>
                </a:r>
              </a:p>
            </p:txBody>
          </p:sp>
          <p:sp>
            <p:nvSpPr>
              <p:cNvPr id="182" name="Rectangle 182"/>
              <p:cNvSpPr/>
              <p:nvPr/>
            </p:nvSpPr>
            <p:spPr>
              <a:xfrm>
                <a:off x="7734300" y="3276600"/>
                <a:ext cx="4229100" cy="704850"/>
              </a:xfrm>
              <a:prstGeom prst="rect">
                <a:avLst/>
              </a:prstGeom>
              <a:solidFill>
                <a:srgbClr val="F4F8EC"/>
              </a:solidFill>
              <a:ln>
                <a:noFill/>
              </a:ln>
            </p:spPr>
          </p:sp>
          <p:grpSp>
            <p:nvGrpSpPr>
              <p:cNvPr id="188" name="Group 188"/>
              <p:cNvGrpSpPr/>
              <p:nvPr/>
            </p:nvGrpSpPr>
            <p:grpSpPr>
              <a:xfrm>
                <a:off x="7884319" y="3545681"/>
                <a:ext cx="100012" cy="128588"/>
                <a:chOff x="7884319" y="3545681"/>
                <a:chExt cx="100012" cy="128588"/>
              </a:xfrm>
            </p:grpSpPr>
            <p:sp>
              <p:nvSpPr>
                <p:cNvPr id="183" name="Freeform 183"/>
                <p:cNvSpPr/>
                <p:nvPr/>
              </p:nvSpPr>
              <p:spPr>
                <a:xfrm>
                  <a:off x="7948612" y="35456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7C3B2F"/>
                  </a:solidFill>
                </a:ln>
              </p:spPr>
            </p:sp>
            <p:sp>
              <p:nvSpPr>
                <p:cNvPr id="184" name="Freeform 184"/>
                <p:cNvSpPr/>
                <p:nvPr/>
              </p:nvSpPr>
              <p:spPr>
                <a:xfrm>
                  <a:off x="7884319" y="35456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7C3B2F"/>
                  </a:solidFill>
                </a:ln>
              </p:spPr>
            </p:sp>
            <p:sp>
              <p:nvSpPr>
                <p:cNvPr id="185" name="Freeform 185"/>
                <p:cNvSpPr/>
                <p:nvPr/>
              </p:nvSpPr>
              <p:spPr>
                <a:xfrm>
                  <a:off x="7912894" y="3588544"/>
                  <a:ext cx="9525" cy="9525"/>
                </a:xfrm>
                <a:custGeom>
                  <a:avLst/>
                  <a:gdLst/>
                  <a:ahLst/>
                  <a:cxnLst/>
                  <a:rect l="l" t="t" r="r" b="b"/>
                  <a:pathLst>
                    <a:path w="9525" h="9525">
                      <a:moveTo>
                        <a:pt x="0" y="0"/>
                      </a:moveTo>
                      <a:lnTo>
                        <a:pt x="7144" y="0"/>
                      </a:lnTo>
                    </a:path>
                  </a:pathLst>
                </a:custGeom>
                <a:noFill/>
                <a:ln w="14288">
                  <a:solidFill>
                    <a:srgbClr val="7C3B2F"/>
                  </a:solidFill>
                </a:ln>
              </p:spPr>
            </p:sp>
            <p:sp>
              <p:nvSpPr>
                <p:cNvPr id="186" name="Freeform 186"/>
                <p:cNvSpPr/>
                <p:nvPr/>
              </p:nvSpPr>
              <p:spPr>
                <a:xfrm>
                  <a:off x="7912894" y="3617119"/>
                  <a:ext cx="42862" cy="9525"/>
                </a:xfrm>
                <a:custGeom>
                  <a:avLst/>
                  <a:gdLst/>
                  <a:ahLst/>
                  <a:cxnLst/>
                  <a:rect l="l" t="t" r="r" b="b"/>
                  <a:pathLst>
                    <a:path w="42862" h="9525">
                      <a:moveTo>
                        <a:pt x="0" y="0"/>
                      </a:moveTo>
                      <a:lnTo>
                        <a:pt x="42862" y="0"/>
                      </a:lnTo>
                    </a:path>
                  </a:pathLst>
                </a:custGeom>
                <a:noFill/>
                <a:ln w="14288">
                  <a:solidFill>
                    <a:srgbClr val="7C3B2F"/>
                  </a:solidFill>
                </a:ln>
              </p:spPr>
            </p:sp>
            <p:sp>
              <p:nvSpPr>
                <p:cNvPr id="187" name="Freeform 187"/>
                <p:cNvSpPr/>
                <p:nvPr/>
              </p:nvSpPr>
              <p:spPr>
                <a:xfrm>
                  <a:off x="7912894" y="3645694"/>
                  <a:ext cx="42862" cy="9525"/>
                </a:xfrm>
                <a:custGeom>
                  <a:avLst/>
                  <a:gdLst/>
                  <a:ahLst/>
                  <a:cxnLst/>
                  <a:rect l="l" t="t" r="r" b="b"/>
                  <a:pathLst>
                    <a:path w="42862" h="9525">
                      <a:moveTo>
                        <a:pt x="0" y="0"/>
                      </a:moveTo>
                      <a:lnTo>
                        <a:pt x="42862" y="0"/>
                      </a:lnTo>
                    </a:path>
                  </a:pathLst>
                </a:custGeom>
                <a:noFill/>
                <a:ln w="14288">
                  <a:solidFill>
                    <a:srgbClr val="7C3B2F"/>
                  </a:solidFill>
                </a:ln>
              </p:spPr>
            </p:sp>
          </p:grpSp>
          <p:sp>
            <p:nvSpPr>
              <p:cNvPr id="189" name="TextBox 189"/>
              <p:cNvSpPr txBox="1"/>
              <p:nvPr/>
            </p:nvSpPr>
            <p:spPr>
              <a:xfrm>
                <a:off x="8091488" y="3500438"/>
                <a:ext cx="752687"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证据</a:t>
                </a:r>
                <a:r>
                  <a:rPr lang="zh-CN" sz="560" dirty="0">
                    <a:solidFill>
                      <a:srgbClr val="66705F"/>
                    </a:solidFill>
                    <a:latin typeface="+mn-lt"/>
                    <a:ea typeface="+mn-ea"/>
                    <a:cs typeface="+mn-cs"/>
                  </a:rPr>
                  <a:t xml:space="preserve">（Evidence）　</a:t>
                </a:r>
              </a:p>
            </p:txBody>
          </p:sp>
          <p:sp>
            <p:nvSpPr>
              <p:cNvPr id="190" name="TextBox 190"/>
              <p:cNvSpPr txBox="1"/>
              <p:nvPr/>
            </p:nvSpPr>
            <p:spPr>
              <a:xfrm>
                <a:off x="9139238" y="3602355"/>
                <a:ext cx="538582"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如何证明达成?</a:t>
                </a:r>
              </a:p>
            </p:txBody>
          </p:sp>
          <p:sp>
            <p:nvSpPr>
              <p:cNvPr id="191" name="TextBox 191"/>
              <p:cNvSpPr txBox="1"/>
              <p:nvPr/>
            </p:nvSpPr>
            <p:spPr>
              <a:xfrm>
                <a:off x="10244138" y="3520678"/>
                <a:ext cx="72072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数据来源与取数逻辑，</a:t>
                </a:r>
                <a:br/>
                <a:r>
                  <a:rPr lang="zh-CN" sz="560" dirty="0">
                    <a:solidFill>
                      <a:srgbClr val="3A4238"/>
                    </a:solidFill>
                    <a:latin typeface="+mn-lt"/>
                    <a:ea typeface="+mn-ea"/>
                    <a:cs typeface="+mn-cs"/>
                  </a:rPr>
                  <a:t>留存计算样本与依据</a:t>
                </a:r>
              </a:p>
            </p:txBody>
          </p:sp>
          <p:sp>
            <p:nvSpPr>
              <p:cNvPr id="192" name="Rectangle 192"/>
              <p:cNvSpPr/>
              <p:nvPr/>
            </p:nvSpPr>
            <p:spPr>
              <a:xfrm>
                <a:off x="7734300" y="3981450"/>
                <a:ext cx="4229100" cy="704850"/>
              </a:xfrm>
              <a:prstGeom prst="rect">
                <a:avLst/>
              </a:prstGeom>
              <a:solidFill>
                <a:srgbClr val="FFFFFF"/>
              </a:solidFill>
              <a:ln>
                <a:noFill/>
              </a:ln>
            </p:spPr>
          </p:sp>
          <p:grpSp>
            <p:nvGrpSpPr>
              <p:cNvPr id="199" name="Group 199"/>
              <p:cNvGrpSpPr/>
              <p:nvPr/>
            </p:nvGrpSpPr>
            <p:grpSpPr>
              <a:xfrm>
                <a:off x="7877175" y="4250531"/>
                <a:ext cx="114300" cy="128588"/>
                <a:chOff x="7877175" y="4250531"/>
                <a:chExt cx="114300" cy="128588"/>
              </a:xfrm>
            </p:grpSpPr>
            <p:sp>
              <p:nvSpPr>
                <p:cNvPr id="193" name="Freeform 193"/>
                <p:cNvSpPr/>
                <p:nvPr/>
              </p:nvSpPr>
              <p:spPr>
                <a:xfrm>
                  <a:off x="7877175" y="4264819"/>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7C3B2F"/>
                  </a:solidFill>
                </a:ln>
              </p:spPr>
            </p:sp>
            <p:sp>
              <p:nvSpPr>
                <p:cNvPr id="194" name="Freeform 194"/>
                <p:cNvSpPr/>
                <p:nvPr/>
              </p:nvSpPr>
              <p:spPr>
                <a:xfrm>
                  <a:off x="7962900" y="4250531"/>
                  <a:ext cx="9525" cy="28575"/>
                </a:xfrm>
                <a:custGeom>
                  <a:avLst/>
                  <a:gdLst/>
                  <a:ahLst/>
                  <a:cxnLst/>
                  <a:rect l="l" t="t" r="r" b="b"/>
                  <a:pathLst>
                    <a:path w="9525" h="28575">
                      <a:moveTo>
                        <a:pt x="0" y="0"/>
                      </a:moveTo>
                      <a:lnTo>
                        <a:pt x="0" y="28575"/>
                      </a:lnTo>
                    </a:path>
                  </a:pathLst>
                </a:custGeom>
                <a:noFill/>
                <a:ln w="14288">
                  <a:solidFill>
                    <a:srgbClr val="7C3B2F"/>
                  </a:solidFill>
                </a:ln>
              </p:spPr>
            </p:sp>
            <p:sp>
              <p:nvSpPr>
                <p:cNvPr id="195" name="Freeform 195"/>
                <p:cNvSpPr/>
                <p:nvPr/>
              </p:nvSpPr>
              <p:spPr>
                <a:xfrm>
                  <a:off x="7905750" y="4250531"/>
                  <a:ext cx="9525" cy="28575"/>
                </a:xfrm>
                <a:custGeom>
                  <a:avLst/>
                  <a:gdLst/>
                  <a:ahLst/>
                  <a:cxnLst/>
                  <a:rect l="l" t="t" r="r" b="b"/>
                  <a:pathLst>
                    <a:path w="9525" h="28575">
                      <a:moveTo>
                        <a:pt x="0" y="0"/>
                      </a:moveTo>
                      <a:lnTo>
                        <a:pt x="0" y="28575"/>
                      </a:lnTo>
                    </a:path>
                  </a:pathLst>
                </a:custGeom>
                <a:noFill/>
                <a:ln w="14288">
                  <a:solidFill>
                    <a:srgbClr val="7C3B2F"/>
                  </a:solidFill>
                </a:ln>
              </p:spPr>
            </p:sp>
            <p:sp>
              <p:nvSpPr>
                <p:cNvPr id="196" name="Freeform 196"/>
                <p:cNvSpPr/>
                <p:nvPr/>
              </p:nvSpPr>
              <p:spPr>
                <a:xfrm>
                  <a:off x="7877175" y="4307681"/>
                  <a:ext cx="114300" cy="9525"/>
                </a:xfrm>
                <a:custGeom>
                  <a:avLst/>
                  <a:gdLst/>
                  <a:ahLst/>
                  <a:cxnLst/>
                  <a:rect l="l" t="t" r="r" b="b"/>
                  <a:pathLst>
                    <a:path w="114300" h="9525">
                      <a:moveTo>
                        <a:pt x="0" y="0"/>
                      </a:moveTo>
                      <a:lnTo>
                        <a:pt x="114300" y="0"/>
                      </a:lnTo>
                    </a:path>
                  </a:pathLst>
                </a:custGeom>
                <a:noFill/>
                <a:ln w="14288">
                  <a:solidFill>
                    <a:srgbClr val="7C3B2F"/>
                  </a:solidFill>
                </a:ln>
              </p:spPr>
            </p:sp>
            <p:sp>
              <p:nvSpPr>
                <p:cNvPr id="197" name="Freeform 197"/>
                <p:cNvSpPr/>
                <p:nvPr/>
              </p:nvSpPr>
              <p:spPr>
                <a:xfrm>
                  <a:off x="7927181" y="4336256"/>
                  <a:ext cx="9525" cy="9525"/>
                </a:xfrm>
                <a:custGeom>
                  <a:avLst/>
                  <a:gdLst/>
                  <a:ahLst/>
                  <a:cxnLst/>
                  <a:rect l="l" t="t" r="r" b="b"/>
                  <a:pathLst>
                    <a:path w="9525" h="9525">
                      <a:moveTo>
                        <a:pt x="0" y="0"/>
                      </a:moveTo>
                      <a:lnTo>
                        <a:pt x="7144" y="0"/>
                      </a:lnTo>
                    </a:path>
                  </a:pathLst>
                </a:custGeom>
                <a:noFill/>
                <a:ln w="14288">
                  <a:solidFill>
                    <a:srgbClr val="7C3B2F"/>
                  </a:solidFill>
                </a:ln>
              </p:spPr>
            </p:sp>
            <p:sp>
              <p:nvSpPr>
                <p:cNvPr id="198" name="Freeform 198"/>
                <p:cNvSpPr/>
                <p:nvPr/>
              </p:nvSpPr>
              <p:spPr>
                <a:xfrm>
                  <a:off x="7934325" y="4336256"/>
                  <a:ext cx="9525" cy="21431"/>
                </a:xfrm>
                <a:custGeom>
                  <a:avLst/>
                  <a:gdLst/>
                  <a:ahLst/>
                  <a:cxnLst/>
                  <a:rect l="l" t="t" r="r" b="b"/>
                  <a:pathLst>
                    <a:path w="9525" h="21431">
                      <a:moveTo>
                        <a:pt x="0" y="0"/>
                      </a:moveTo>
                      <a:lnTo>
                        <a:pt x="0" y="21431"/>
                      </a:lnTo>
                    </a:path>
                  </a:pathLst>
                </a:custGeom>
                <a:noFill/>
                <a:ln w="14288">
                  <a:solidFill>
                    <a:srgbClr val="7C3B2F"/>
                  </a:solidFill>
                </a:ln>
              </p:spPr>
            </p:sp>
          </p:grpSp>
          <p:sp>
            <p:nvSpPr>
              <p:cNvPr id="200" name="TextBox 200"/>
              <p:cNvSpPr txBox="1"/>
              <p:nvPr/>
            </p:nvSpPr>
            <p:spPr>
              <a:xfrm>
                <a:off x="8091488" y="4205288"/>
                <a:ext cx="886866"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复盘节奏</a:t>
                </a:r>
                <a:r>
                  <a:rPr lang="zh-CN" sz="560" dirty="0">
                    <a:solidFill>
                      <a:srgbClr val="66705F"/>
                    </a:solidFill>
                    <a:latin typeface="+mn-lt"/>
                    <a:ea typeface="+mn-ea"/>
                    <a:cs typeface="+mn-cs"/>
                  </a:rPr>
                  <a:t xml:space="preserve">（Review）　</a:t>
                </a:r>
              </a:p>
            </p:txBody>
          </p:sp>
          <p:sp>
            <p:nvSpPr>
              <p:cNvPr id="201" name="TextBox 201"/>
              <p:cNvSpPr txBox="1"/>
              <p:nvPr/>
            </p:nvSpPr>
            <p:spPr>
              <a:xfrm>
                <a:off x="9139238" y="4307205"/>
                <a:ext cx="538582" cy="119062"/>
              </a:xfrm>
              <a:prstGeom prst="rect">
                <a:avLst/>
              </a:prstGeom>
              <a:noFill/>
              <a:ln>
                <a:noFill/>
              </a:ln>
            </p:spPr>
            <p:txBody>
              <a:bodyPr wrap="none" lIns="0" tIns="0" rIns="0" bIns="0" anchor="t" anchorCtr="0">
                <a:spAutoFit/>
              </a:bodyPr>
              <a:lstStyle/>
              <a:p>
                <a:pPr algn="l"/>
                <a:r>
                  <a:rPr lang="zh-CN" sz="600" dirty="0">
                    <a:solidFill>
                      <a:srgbClr val="3A4238"/>
                    </a:solidFill>
                    <a:latin typeface="+mn-lt"/>
                    <a:ea typeface="+mn-ea"/>
                    <a:cs typeface="+mn-cs"/>
                  </a:rPr>
                  <a:t>何时复盘优化?</a:t>
                </a:r>
              </a:p>
            </p:txBody>
          </p:sp>
          <p:sp>
            <p:nvSpPr>
              <p:cNvPr id="202" name="TextBox 202"/>
              <p:cNvSpPr txBox="1"/>
              <p:nvPr/>
            </p:nvSpPr>
            <p:spPr>
              <a:xfrm>
                <a:off x="10244138" y="4225528"/>
                <a:ext cx="720725" cy="254794"/>
              </a:xfrm>
              <a:prstGeom prst="rect">
                <a:avLst/>
              </a:prstGeom>
              <a:noFill/>
              <a:ln>
                <a:noFill/>
              </a:ln>
            </p:spPr>
            <p:txBody>
              <a:bodyPr wrap="none" lIns="0" tIns="0" rIns="0" bIns="0" anchor="t" anchorCtr="0">
                <a:spAutoFit/>
              </a:bodyPr>
              <a:lstStyle/>
              <a:p>
                <a:pPr algn="l">
                  <a:lnSpc>
                    <a:spcPts val="1125"/>
                  </a:lnSpc>
                </a:pPr>
                <a:r>
                  <a:rPr lang="zh-CN" sz="560" dirty="0">
                    <a:solidFill>
                      <a:srgbClr val="3A4238"/>
                    </a:solidFill>
                    <a:latin typeface="+mn-lt"/>
                    <a:ea typeface="+mn-ea"/>
                    <a:cs typeface="+mn-cs"/>
                  </a:rPr>
                  <a:t>定期评审与洞察输出，</a:t>
                </a:r>
                <a:br/>
                <a:r>
                  <a:rPr lang="zh-CN" sz="560" dirty="0">
                    <a:solidFill>
                      <a:srgbClr val="3A4238"/>
                    </a:solidFill>
                    <a:latin typeface="+mn-lt"/>
                    <a:ea typeface="+mn-ea"/>
                    <a:cs typeface="+mn-cs"/>
                  </a:rPr>
                  <a:t>驱动行动与持续优化</a:t>
                </a:r>
              </a:p>
            </p:txBody>
          </p:sp>
        </p:grpSp>
        <p:sp>
          <p:nvSpPr>
            <p:cNvPr id="204" name="Line 204"/>
            <p:cNvSpPr/>
            <p:nvPr/>
          </p:nvSpPr>
          <p:spPr>
            <a:xfrm>
              <a:off x="9048750" y="952500"/>
              <a:ext cx="9525" cy="3733800"/>
            </a:xfrm>
            <a:custGeom>
              <a:avLst/>
              <a:gdLst/>
              <a:ahLst/>
              <a:cxnLst/>
              <a:rect l="l" t="t" r="r" b="b"/>
              <a:pathLst>
                <a:path w="9525" h="3733800">
                  <a:moveTo>
                    <a:pt x="0" y="0"/>
                  </a:moveTo>
                  <a:lnTo>
                    <a:pt x="0" y="3733800"/>
                  </a:lnTo>
                </a:path>
              </a:pathLst>
            </a:custGeom>
            <a:noFill/>
            <a:ln w="9525">
              <a:solidFill>
                <a:srgbClr val="D9E8C6"/>
              </a:solidFill>
            </a:ln>
          </p:spPr>
        </p:sp>
        <p:sp>
          <p:nvSpPr>
            <p:cNvPr id="205" name="Line 205"/>
            <p:cNvSpPr/>
            <p:nvPr/>
          </p:nvSpPr>
          <p:spPr>
            <a:xfrm>
              <a:off x="10191750" y="952500"/>
              <a:ext cx="9525" cy="3733800"/>
            </a:xfrm>
            <a:custGeom>
              <a:avLst/>
              <a:gdLst/>
              <a:ahLst/>
              <a:cxnLst/>
              <a:rect l="l" t="t" r="r" b="b"/>
              <a:pathLst>
                <a:path w="9525" h="3733800">
                  <a:moveTo>
                    <a:pt x="0" y="0"/>
                  </a:moveTo>
                  <a:lnTo>
                    <a:pt x="0" y="3733800"/>
                  </a:lnTo>
                </a:path>
              </a:pathLst>
            </a:custGeom>
            <a:noFill/>
            <a:ln w="9525">
              <a:solidFill>
                <a:srgbClr val="D9E8C6"/>
              </a:solidFill>
            </a:ln>
          </p:spPr>
        </p:sp>
        <p:sp>
          <p:nvSpPr>
            <p:cNvPr id="206" name="Line 206"/>
            <p:cNvSpPr/>
            <p:nvPr/>
          </p:nvSpPr>
          <p:spPr>
            <a:xfrm>
              <a:off x="7734300" y="4686300"/>
              <a:ext cx="4229100" cy="9525"/>
            </a:xfrm>
            <a:custGeom>
              <a:avLst/>
              <a:gdLst/>
              <a:ahLst/>
              <a:cxnLst/>
              <a:rect l="l" t="t" r="r" b="b"/>
              <a:pathLst>
                <a:path w="4229100" h="9525">
                  <a:moveTo>
                    <a:pt x="0" y="0"/>
                  </a:moveTo>
                  <a:lnTo>
                    <a:pt x="4229100" y="0"/>
                  </a:lnTo>
                </a:path>
              </a:pathLst>
            </a:custGeom>
            <a:noFill/>
            <a:ln w="9525">
              <a:solidFill>
                <a:srgbClr val="D9E8C6"/>
              </a:solidFill>
            </a:ln>
          </p:spPr>
        </p:sp>
      </p:grpSp>
      <p:grpSp>
        <p:nvGrpSpPr>
          <p:cNvPr id="243" name="bsc-band"/>
          <p:cNvGrpSpPr/>
          <p:nvPr/>
        </p:nvGrpSpPr>
        <p:grpSpPr>
          <a:xfrm>
            <a:off x="228600" y="5524500"/>
            <a:ext cx="11734800" cy="1085850"/>
            <a:chOff x="228600" y="5524500"/>
            <a:chExt cx="11734800" cy="1085850"/>
          </a:xfrm>
        </p:grpSpPr>
        <p:sp>
          <p:nvSpPr>
            <p:cNvPr id="208" name="Rectangle 208"/>
            <p:cNvSpPr/>
            <p:nvPr/>
          </p:nvSpPr>
          <p:spPr>
            <a:xfrm>
              <a:off x="228600" y="5524500"/>
              <a:ext cx="11734800" cy="247650"/>
            </a:xfrm>
            <a:prstGeom prst="roundRect">
              <a:avLst>
                <a:gd name="adj" fmla="val 23077"/>
              </a:avLst>
            </a:prstGeom>
            <a:solidFill>
              <a:srgbClr val="E7F2D8"/>
            </a:solidFill>
            <a:ln>
              <a:noFill/>
            </a:ln>
          </p:spPr>
        </p:sp>
        <p:sp>
          <p:nvSpPr>
            <p:cNvPr id="209" name="TextBox 209"/>
            <p:cNvSpPr txBox="1"/>
            <p:nvPr/>
          </p:nvSpPr>
          <p:spPr>
            <a:xfrm>
              <a:off x="5686031" y="5602843"/>
              <a:ext cx="819937" cy="169069"/>
            </a:xfrm>
            <a:prstGeom prst="rect">
              <a:avLst/>
            </a:prstGeom>
            <a:noFill/>
            <a:ln>
              <a:noFill/>
            </a:ln>
          </p:spPr>
          <p:txBody>
            <a:bodyPr wrap="none" lIns="0" tIns="0" rIns="0" bIns="0" anchor="t" anchorCtr="0">
              <a:spAutoFit/>
            </a:bodyPr>
            <a:lstStyle/>
            <a:p>
              <a:pPr algn="ctr"/>
              <a:r>
                <a:rPr lang="zh-CN" sz="860" b="1" dirty="0">
                  <a:solidFill>
                    <a:srgbClr val="42140B"/>
                  </a:solidFill>
                  <a:latin typeface="+mn-lt"/>
                  <a:ea typeface="+mn-ea"/>
                  <a:cs typeface="+mn-cs"/>
                </a:rPr>
                <a:t>平衡计分卡维度</a:t>
              </a:r>
            </a:p>
          </p:txBody>
        </p:sp>
        <p:grpSp>
          <p:nvGrpSpPr>
            <p:cNvPr id="219" name="bsc-financial"/>
            <p:cNvGrpSpPr/>
            <p:nvPr/>
          </p:nvGrpSpPr>
          <p:grpSpPr>
            <a:xfrm>
              <a:off x="228600" y="5772150"/>
              <a:ext cx="2933700" cy="838200"/>
              <a:chOff x="228600" y="5772150"/>
              <a:chExt cx="2933700" cy="838200"/>
            </a:xfrm>
          </p:grpSpPr>
          <p:sp>
            <p:nvSpPr>
              <p:cNvPr id="210" name="Rectangle 210"/>
              <p:cNvSpPr/>
              <p:nvPr/>
            </p:nvSpPr>
            <p:spPr>
              <a:xfrm>
                <a:off x="228600" y="5772150"/>
                <a:ext cx="2933700" cy="838200"/>
              </a:xfrm>
              <a:prstGeom prst="rect">
                <a:avLst/>
              </a:prstGeom>
              <a:solidFill>
                <a:srgbClr val="F4F8EC"/>
              </a:solidFill>
              <a:ln w="9525">
                <a:solidFill>
                  <a:srgbClr val="D9E8C6"/>
                </a:solidFill>
              </a:ln>
            </p:spPr>
          </p:sp>
          <p:sp>
            <p:nvSpPr>
              <p:cNvPr id="211" name="Ellipse 211"/>
              <p:cNvSpPr/>
              <p:nvPr/>
            </p:nvSpPr>
            <p:spPr>
              <a:xfrm>
                <a:off x="438150" y="6019800"/>
                <a:ext cx="342900" cy="342900"/>
              </a:xfrm>
              <a:prstGeom prst="ellipse">
                <a:avLst/>
              </a:prstGeom>
              <a:solidFill>
                <a:srgbClr val="42140B"/>
              </a:solidFill>
              <a:ln>
                <a:noFill/>
              </a:ln>
            </p:spPr>
          </p:sp>
          <p:grpSp>
            <p:nvGrpSpPr>
              <p:cNvPr id="217" name="Group 217"/>
              <p:cNvGrpSpPr/>
              <p:nvPr/>
            </p:nvGrpSpPr>
            <p:grpSpPr>
              <a:xfrm>
                <a:off x="531019" y="6111499"/>
                <a:ext cx="157162" cy="158333"/>
                <a:chOff x="531019" y="6111499"/>
                <a:chExt cx="157162" cy="158333"/>
              </a:xfrm>
            </p:grpSpPr>
            <p:sp>
              <p:nvSpPr>
                <p:cNvPr id="212" name="Freeform 212"/>
                <p:cNvSpPr/>
                <p:nvPr/>
              </p:nvSpPr>
              <p:spPr>
                <a:xfrm>
                  <a:off x="583406" y="6182519"/>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FFFFFF"/>
                  </a:solidFill>
                </a:ln>
              </p:spPr>
            </p:sp>
            <p:sp>
              <p:nvSpPr>
                <p:cNvPr id="213" name="Freeform 213"/>
                <p:cNvSpPr/>
                <p:nvPr/>
              </p:nvSpPr>
              <p:spPr>
                <a:xfrm>
                  <a:off x="583406" y="6208713"/>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FFFFFF"/>
                  </a:solidFill>
                </a:ln>
              </p:spPr>
            </p:sp>
            <p:sp>
              <p:nvSpPr>
                <p:cNvPr id="214" name="Freeform 214"/>
                <p:cNvSpPr/>
                <p:nvPr/>
              </p:nvSpPr>
              <p:spPr>
                <a:xfrm>
                  <a:off x="531019" y="6111499"/>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FFFFFF"/>
                  </a:solidFill>
                </a:ln>
              </p:spPr>
            </p:sp>
            <p:sp>
              <p:nvSpPr>
                <p:cNvPr id="215" name="Freeform 215"/>
                <p:cNvSpPr/>
                <p:nvPr/>
              </p:nvSpPr>
              <p:spPr>
                <a:xfrm>
                  <a:off x="531019" y="6138863"/>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FFFFFF"/>
                  </a:solidFill>
                </a:ln>
              </p:spPr>
            </p:sp>
            <p:sp>
              <p:nvSpPr>
                <p:cNvPr id="216" name="Freeform 216"/>
                <p:cNvSpPr/>
                <p:nvPr/>
              </p:nvSpPr>
              <p:spPr>
                <a:xfrm>
                  <a:off x="531019" y="6182519"/>
                  <a:ext cx="17463" cy="17463"/>
                </a:xfrm>
                <a:custGeom>
                  <a:avLst/>
                  <a:gdLst/>
                  <a:ahLst/>
                  <a:cxnLst/>
                  <a:rect l="l" t="t" r="r" b="b"/>
                  <a:pathLst>
                    <a:path w="17463" h="17463">
                      <a:moveTo>
                        <a:pt x="0" y="0"/>
                      </a:moveTo>
                      <a:cubicBezTo>
                        <a:pt x="0" y="7753"/>
                        <a:pt x="6741" y="12660"/>
                        <a:pt x="17463" y="17463"/>
                      </a:cubicBezTo>
                    </a:path>
                  </a:pathLst>
                </a:custGeom>
                <a:noFill/>
                <a:ln w="17463">
                  <a:solidFill>
                    <a:srgbClr val="FFFFFF"/>
                  </a:solidFill>
                </a:ln>
              </p:spPr>
            </p:sp>
          </p:grpSp>
          <p:sp>
            <p:nvSpPr>
              <p:cNvPr id="218" name="TextBox 218"/>
              <p:cNvSpPr txBox="1"/>
              <p:nvPr/>
            </p:nvSpPr>
            <p:spPr>
              <a:xfrm>
                <a:off x="909638" y="6079093"/>
                <a:ext cx="1095223"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财务维度</a:t>
                </a:r>
                <a:r>
                  <a:rPr lang="zh-CN" sz="640" dirty="0">
                    <a:solidFill>
                      <a:srgbClr val="66705F"/>
                    </a:solidFill>
                    <a:latin typeface="+mn-lt"/>
                    <a:ea typeface="+mn-ea"/>
                    <a:cs typeface="+mn-cs"/>
                  </a:rPr>
                  <a:t xml:space="preserve">（Financial）　</a:t>
                </a:r>
              </a:p>
            </p:txBody>
          </p:sp>
        </p:grpSp>
        <p:grpSp>
          <p:nvGrpSpPr>
            <p:cNvPr id="228" name="bsc-customer"/>
            <p:cNvGrpSpPr/>
            <p:nvPr/>
          </p:nvGrpSpPr>
          <p:grpSpPr>
            <a:xfrm>
              <a:off x="3162300" y="5772150"/>
              <a:ext cx="2933700" cy="838200"/>
              <a:chOff x="3162300" y="5772150"/>
              <a:chExt cx="2933700" cy="838200"/>
            </a:xfrm>
          </p:grpSpPr>
          <p:sp>
            <p:nvSpPr>
              <p:cNvPr id="220" name="Rectangle 220"/>
              <p:cNvSpPr/>
              <p:nvPr/>
            </p:nvSpPr>
            <p:spPr>
              <a:xfrm>
                <a:off x="3162300" y="5772150"/>
                <a:ext cx="2933700" cy="838200"/>
              </a:xfrm>
              <a:prstGeom prst="rect">
                <a:avLst/>
              </a:prstGeom>
              <a:solidFill>
                <a:srgbClr val="FFFFFF"/>
              </a:solidFill>
              <a:ln w="9525">
                <a:solidFill>
                  <a:srgbClr val="D9E8C6"/>
                </a:solidFill>
              </a:ln>
            </p:spPr>
          </p:sp>
          <p:sp>
            <p:nvSpPr>
              <p:cNvPr id="221" name="Ellipse 221"/>
              <p:cNvSpPr/>
              <p:nvPr/>
            </p:nvSpPr>
            <p:spPr>
              <a:xfrm>
                <a:off x="3371850" y="6019800"/>
                <a:ext cx="342900" cy="342900"/>
              </a:xfrm>
              <a:prstGeom prst="ellipse">
                <a:avLst/>
              </a:prstGeom>
              <a:solidFill>
                <a:srgbClr val="643228"/>
              </a:solidFill>
              <a:ln>
                <a:noFill/>
              </a:ln>
            </p:spPr>
          </p:sp>
          <p:grpSp>
            <p:nvGrpSpPr>
              <p:cNvPr id="226" name="Group 226"/>
              <p:cNvGrpSpPr/>
              <p:nvPr/>
            </p:nvGrpSpPr>
            <p:grpSpPr>
              <a:xfrm>
                <a:off x="3464719" y="6112669"/>
                <a:ext cx="157163" cy="157163"/>
                <a:chOff x="3464719" y="6112669"/>
                <a:chExt cx="157163" cy="157163"/>
              </a:xfrm>
            </p:grpSpPr>
            <p:sp>
              <p:nvSpPr>
                <p:cNvPr id="222" name="Freeform 222"/>
                <p:cNvSpPr/>
                <p:nvPr/>
              </p:nvSpPr>
              <p:spPr>
                <a:xfrm>
                  <a:off x="3482181" y="61126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223" name="Freeform 223"/>
                <p:cNvSpPr/>
                <p:nvPr/>
              </p:nvSpPr>
              <p:spPr>
                <a:xfrm>
                  <a:off x="3464719" y="621744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224" name="Freeform 224"/>
                <p:cNvSpPr/>
                <p:nvPr/>
              </p:nvSpPr>
              <p:spPr>
                <a:xfrm>
                  <a:off x="3578225" y="611380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225" name="Freeform 225"/>
                <p:cNvSpPr/>
                <p:nvPr/>
              </p:nvSpPr>
              <p:spPr>
                <a:xfrm>
                  <a:off x="3595688" y="621875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227" name="TextBox 227"/>
              <p:cNvSpPr txBox="1"/>
              <p:nvPr/>
            </p:nvSpPr>
            <p:spPr>
              <a:xfrm>
                <a:off x="3843338" y="6079093"/>
                <a:ext cx="1130214"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客户维度</a:t>
                </a:r>
                <a:r>
                  <a:rPr lang="zh-CN" sz="640" dirty="0">
                    <a:solidFill>
                      <a:srgbClr val="66705F"/>
                    </a:solidFill>
                    <a:latin typeface="+mn-lt"/>
                    <a:ea typeface="+mn-ea"/>
                    <a:cs typeface="+mn-cs"/>
                  </a:rPr>
                  <a:t xml:space="preserve">（Customer）　</a:t>
                </a:r>
              </a:p>
            </p:txBody>
          </p:sp>
        </p:grpSp>
        <p:grpSp>
          <p:nvGrpSpPr>
            <p:cNvPr id="235" name="bsc-process"/>
            <p:cNvGrpSpPr/>
            <p:nvPr/>
          </p:nvGrpSpPr>
          <p:grpSpPr>
            <a:xfrm>
              <a:off x="6096000" y="5772150"/>
              <a:ext cx="2933700" cy="838200"/>
              <a:chOff x="6096000" y="5772150"/>
              <a:chExt cx="2933700" cy="838200"/>
            </a:xfrm>
          </p:grpSpPr>
          <p:sp>
            <p:nvSpPr>
              <p:cNvPr id="229" name="Rectangle 229"/>
              <p:cNvSpPr/>
              <p:nvPr/>
            </p:nvSpPr>
            <p:spPr>
              <a:xfrm>
                <a:off x="6096000" y="5772150"/>
                <a:ext cx="2933700" cy="838200"/>
              </a:xfrm>
              <a:prstGeom prst="rect">
                <a:avLst/>
              </a:prstGeom>
              <a:solidFill>
                <a:srgbClr val="F4F8EC"/>
              </a:solidFill>
              <a:ln w="9525">
                <a:solidFill>
                  <a:srgbClr val="D9E8C6"/>
                </a:solidFill>
              </a:ln>
            </p:spPr>
          </p:sp>
          <p:sp>
            <p:nvSpPr>
              <p:cNvPr id="230" name="Ellipse 230"/>
              <p:cNvSpPr/>
              <p:nvPr/>
            </p:nvSpPr>
            <p:spPr>
              <a:xfrm>
                <a:off x="6305550" y="6019800"/>
                <a:ext cx="342900" cy="342900"/>
              </a:xfrm>
              <a:prstGeom prst="ellipse">
                <a:avLst/>
              </a:prstGeom>
              <a:solidFill>
                <a:srgbClr val="7C3B2F"/>
              </a:solidFill>
              <a:ln>
                <a:noFill/>
              </a:ln>
            </p:spPr>
          </p:sp>
          <p:grpSp>
            <p:nvGrpSpPr>
              <p:cNvPr id="233" name="Group 233"/>
              <p:cNvGrpSpPr/>
              <p:nvPr/>
            </p:nvGrpSpPr>
            <p:grpSpPr>
              <a:xfrm>
                <a:off x="6394586" y="6108836"/>
                <a:ext cx="164829" cy="164829"/>
                <a:chOff x="6394586" y="6108836"/>
                <a:chExt cx="164829" cy="164829"/>
              </a:xfrm>
            </p:grpSpPr>
            <p:sp>
              <p:nvSpPr>
                <p:cNvPr id="231" name="Freeform 231"/>
                <p:cNvSpPr/>
                <p:nvPr/>
              </p:nvSpPr>
              <p:spPr>
                <a:xfrm>
                  <a:off x="6394586" y="6108836"/>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FFFFFF"/>
                  </a:solidFill>
                </a:ln>
              </p:spPr>
            </p:sp>
            <p:sp>
              <p:nvSpPr>
                <p:cNvPr id="232" name="Freeform 232"/>
                <p:cNvSpPr/>
                <p:nvPr/>
              </p:nvSpPr>
              <p:spPr>
                <a:xfrm>
                  <a:off x="6450806" y="6165056"/>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FFFFFF"/>
                  </a:solidFill>
                </a:ln>
              </p:spPr>
            </p:sp>
          </p:grpSp>
          <p:sp>
            <p:nvSpPr>
              <p:cNvPr id="234" name="TextBox 234"/>
              <p:cNvSpPr txBox="1"/>
              <p:nvPr/>
            </p:nvSpPr>
            <p:spPr>
              <a:xfrm>
                <a:off x="6777038" y="6079093"/>
                <a:ext cx="166143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内部流程维度</a:t>
                </a:r>
                <a:r>
                  <a:rPr lang="zh-CN" sz="640" dirty="0">
                    <a:solidFill>
                      <a:srgbClr val="66705F"/>
                    </a:solidFill>
                    <a:latin typeface="+mn-lt"/>
                    <a:ea typeface="+mn-ea"/>
                    <a:cs typeface="+mn-cs"/>
                  </a:rPr>
                  <a:t xml:space="preserve">（Internal Process）　</a:t>
                </a:r>
              </a:p>
            </p:txBody>
          </p:sp>
        </p:grpSp>
        <p:grpSp>
          <p:nvGrpSpPr>
            <p:cNvPr id="242" name="bsc-learning"/>
            <p:cNvGrpSpPr/>
            <p:nvPr/>
          </p:nvGrpSpPr>
          <p:grpSpPr>
            <a:xfrm>
              <a:off x="9029700" y="5772150"/>
              <a:ext cx="2933700" cy="838200"/>
              <a:chOff x="9029700" y="5772150"/>
              <a:chExt cx="2933700" cy="838200"/>
            </a:xfrm>
          </p:grpSpPr>
          <p:sp>
            <p:nvSpPr>
              <p:cNvPr id="236" name="Rectangle 236"/>
              <p:cNvSpPr/>
              <p:nvPr/>
            </p:nvSpPr>
            <p:spPr>
              <a:xfrm>
                <a:off x="9029700" y="5772150"/>
                <a:ext cx="2933700" cy="838200"/>
              </a:xfrm>
              <a:prstGeom prst="rect">
                <a:avLst/>
              </a:prstGeom>
              <a:solidFill>
                <a:srgbClr val="FFFFFF"/>
              </a:solidFill>
              <a:ln w="9525">
                <a:solidFill>
                  <a:srgbClr val="D9E8C6"/>
                </a:solidFill>
              </a:ln>
            </p:spPr>
          </p:sp>
          <p:sp>
            <p:nvSpPr>
              <p:cNvPr id="237" name="Ellipse 237"/>
              <p:cNvSpPr/>
              <p:nvPr/>
            </p:nvSpPr>
            <p:spPr>
              <a:xfrm>
                <a:off x="9239250" y="6019800"/>
                <a:ext cx="342900" cy="342900"/>
              </a:xfrm>
              <a:prstGeom prst="ellipse">
                <a:avLst/>
              </a:prstGeom>
              <a:solidFill>
                <a:srgbClr val="8C4336"/>
              </a:solidFill>
              <a:ln>
                <a:noFill/>
              </a:ln>
            </p:spPr>
          </p:sp>
          <p:grpSp>
            <p:nvGrpSpPr>
              <p:cNvPr id="240" name="Group 240"/>
              <p:cNvGrpSpPr/>
              <p:nvPr/>
            </p:nvGrpSpPr>
            <p:grpSpPr>
              <a:xfrm>
                <a:off x="9323388" y="6130131"/>
                <a:ext cx="174625" cy="122238"/>
                <a:chOff x="9323388" y="6130131"/>
                <a:chExt cx="174625" cy="122238"/>
              </a:xfrm>
            </p:grpSpPr>
            <p:sp>
              <p:nvSpPr>
                <p:cNvPr id="238" name="Freeform 238"/>
                <p:cNvSpPr/>
                <p:nvPr/>
              </p:nvSpPr>
              <p:spPr>
                <a:xfrm>
                  <a:off x="9323388" y="6130131"/>
                  <a:ext cx="174625" cy="87313"/>
                </a:xfrm>
                <a:custGeom>
                  <a:avLst/>
                  <a:gdLst/>
                  <a:ahLst/>
                  <a:cxnLst/>
                  <a:rect l="l" t="t" r="r" b="b"/>
                  <a:pathLst>
                    <a:path w="174625" h="87313">
                      <a:moveTo>
                        <a:pt x="174625" y="34925"/>
                      </a:moveTo>
                      <a:lnTo>
                        <a:pt x="87313" y="0"/>
                      </a:lnTo>
                      <a:lnTo>
                        <a:pt x="0" y="34925"/>
                      </a:lnTo>
                      <a:lnTo>
                        <a:pt x="87313" y="69850"/>
                      </a:lnTo>
                      <a:lnTo>
                        <a:pt x="174625" y="34925"/>
                      </a:lnTo>
                      <a:lnTo>
                        <a:pt x="174625" y="87313"/>
                      </a:lnTo>
                    </a:path>
                  </a:pathLst>
                </a:custGeom>
                <a:noFill/>
                <a:ln w="17463">
                  <a:solidFill>
                    <a:srgbClr val="FFFFFF"/>
                  </a:solidFill>
                </a:ln>
              </p:spPr>
            </p:sp>
            <p:sp>
              <p:nvSpPr>
                <p:cNvPr id="239" name="Freeform 239"/>
                <p:cNvSpPr/>
                <p:nvPr/>
              </p:nvSpPr>
              <p:spPr>
                <a:xfrm>
                  <a:off x="9358313" y="6179026"/>
                  <a:ext cx="104775" cy="73343"/>
                </a:xfrm>
                <a:custGeom>
                  <a:avLst/>
                  <a:gdLst/>
                  <a:ahLst/>
                  <a:cxnLst/>
                  <a:rect l="l" t="t" r="r" b="b"/>
                  <a:pathLst>
                    <a:path w="104775" h="73343">
                      <a:moveTo>
                        <a:pt x="0" y="0"/>
                      </a:moveTo>
                      <a:lnTo>
                        <a:pt x="0" y="47149"/>
                      </a:lnTo>
                      <a:cubicBezTo>
                        <a:pt x="0" y="61615"/>
                        <a:pt x="23455" y="73343"/>
                        <a:pt x="52388" y="73343"/>
                      </a:cubicBezTo>
                      <a:cubicBezTo>
                        <a:pt x="81320" y="73343"/>
                        <a:pt x="104775" y="61615"/>
                        <a:pt x="104775" y="47149"/>
                      </a:cubicBezTo>
                      <a:lnTo>
                        <a:pt x="104775" y="0"/>
                      </a:lnTo>
                    </a:path>
                  </a:pathLst>
                </a:custGeom>
                <a:noFill/>
                <a:ln w="17463">
                  <a:solidFill>
                    <a:srgbClr val="FFFFFF"/>
                  </a:solidFill>
                </a:ln>
              </p:spPr>
            </p:sp>
          </p:grpSp>
          <p:sp>
            <p:nvSpPr>
              <p:cNvPr id="241" name="TextBox 241"/>
              <p:cNvSpPr txBox="1"/>
              <p:nvPr/>
            </p:nvSpPr>
            <p:spPr>
              <a:xfrm>
                <a:off x="9710738" y="6079093"/>
                <a:ext cx="1842718"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学习与成长维度</a:t>
                </a:r>
                <a:r>
                  <a:rPr lang="zh-CN" sz="640" dirty="0">
                    <a:solidFill>
                      <a:srgbClr val="66705F"/>
                    </a:solidFill>
                    <a:latin typeface="+mn-lt"/>
                    <a:ea typeface="+mn-ea"/>
                    <a:cs typeface="+mn-cs"/>
                  </a:rPr>
                  <a:t xml:space="preserve">（Learning &amp; Growth）　</a:t>
                </a:r>
              </a:p>
            </p:txBody>
          </p:sp>
        </p:grpSp>
      </p:gr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42140B"/>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17</a:t>
              </a:r>
            </a:p>
          </p:txBody>
        </p:sp>
        <p:sp>
          <p:nvSpPr>
            <p:cNvPr id="4" name="TextBox 4"/>
            <p:cNvSpPr txBox="1"/>
            <p:nvPr/>
          </p:nvSpPr>
          <p:spPr>
            <a:xfrm>
              <a:off x="942594" y="151448"/>
              <a:ext cx="868444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企业级AI知识库最终形成</a:t>
              </a:r>
              <a:r>
                <a:rPr lang="zh-CN" sz="1950" b="1" dirty="0">
                  <a:solidFill>
                    <a:srgbClr val="7C3B2F"/>
                  </a:solidFill>
                  <a:latin typeface="SimSun"/>
                  <a:ea typeface="SimSun"/>
                  <a:cs typeface="SimSun"/>
                </a:rPr>
                <a:t>“知识越用越准、组织越用越聪明”</a:t>
              </a:r>
              <a:r>
                <a:rPr lang="zh-CN" sz="1950" b="1" dirty="0">
                  <a:solidFill>
                    <a:srgbClr val="1A1A1A"/>
                  </a:solidFill>
                  <a:latin typeface="SimSun"/>
                  <a:ea typeface="SimSun"/>
                  <a:cs typeface="SimSun"/>
                </a:rPr>
                <a:t>的增强飞轮</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7C3B2F"/>
              </a:solidFill>
            </a:ln>
          </p:spPr>
        </p:sp>
      </p:grpSp>
      <p:grpSp>
        <p:nvGrpSpPr>
          <p:cNvPr id="72" name="capability-ladder"/>
          <p:cNvGrpSpPr/>
          <p:nvPr/>
        </p:nvGrpSpPr>
        <p:grpSpPr>
          <a:xfrm>
            <a:off x="228600" y="628650"/>
            <a:ext cx="2095500" cy="3771900"/>
            <a:chOff x="228600" y="628650"/>
            <a:chExt cx="2095500" cy="3771900"/>
          </a:xfrm>
        </p:grpSpPr>
        <p:sp>
          <p:nvSpPr>
            <p:cNvPr id="7" name="Rectangle 7"/>
            <p:cNvSpPr/>
            <p:nvPr/>
          </p:nvSpPr>
          <p:spPr>
            <a:xfrm>
              <a:off x="228600" y="628650"/>
              <a:ext cx="2095500" cy="228600"/>
            </a:xfrm>
            <a:prstGeom prst="roundRect">
              <a:avLst>
                <a:gd name="adj" fmla="val 25000"/>
              </a:avLst>
            </a:prstGeom>
            <a:solidFill>
              <a:srgbClr val="42140B"/>
            </a:solidFill>
            <a:ln>
              <a:noFill/>
            </a:ln>
          </p:spPr>
        </p:sp>
        <p:sp>
          <p:nvSpPr>
            <p:cNvPr id="8" name="TextBox 8"/>
            <p:cNvSpPr txBox="1"/>
            <p:nvPr/>
          </p:nvSpPr>
          <p:spPr>
            <a:xfrm>
              <a:off x="664451" y="701516"/>
              <a:ext cx="122379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从静态到智能的能力跃迁</a:t>
              </a:r>
            </a:p>
          </p:txBody>
        </p:sp>
        <p:grpSp>
          <p:nvGrpSpPr>
            <p:cNvPr id="21" name="ladder-1"/>
            <p:cNvGrpSpPr/>
            <p:nvPr/>
          </p:nvGrpSpPr>
          <p:grpSpPr>
            <a:xfrm>
              <a:off x="228600" y="933450"/>
              <a:ext cx="2095500" cy="647700"/>
              <a:chOff x="228600" y="933450"/>
              <a:chExt cx="2095500" cy="647700"/>
            </a:xfrm>
          </p:grpSpPr>
          <p:sp>
            <p:nvSpPr>
              <p:cNvPr id="9" name="Rectangle 9"/>
              <p:cNvSpPr/>
              <p:nvPr/>
            </p:nvSpPr>
            <p:spPr>
              <a:xfrm>
                <a:off x="228600" y="933450"/>
                <a:ext cx="2095500" cy="647700"/>
              </a:xfrm>
              <a:prstGeom prst="roundRect">
                <a:avLst>
                  <a:gd name="adj" fmla="val 11765"/>
                </a:avLst>
              </a:prstGeom>
              <a:solidFill>
                <a:srgbClr val="F4F8EC"/>
              </a:solidFill>
              <a:ln w="9525">
                <a:solidFill>
                  <a:srgbClr val="D9E8C6"/>
                </a:solidFill>
              </a:ln>
            </p:spPr>
          </p:sp>
          <p:sp>
            <p:nvSpPr>
              <p:cNvPr id="10" name="Rectangle 10"/>
              <p:cNvSpPr/>
              <p:nvPr/>
            </p:nvSpPr>
            <p:spPr>
              <a:xfrm>
                <a:off x="228600" y="933450"/>
                <a:ext cx="533400" cy="647700"/>
              </a:xfrm>
              <a:prstGeom prst="roundRect">
                <a:avLst>
                  <a:gd name="adj" fmla="val 14286"/>
                </a:avLst>
              </a:prstGeom>
              <a:solidFill>
                <a:srgbClr val="B76B5D"/>
              </a:solidFill>
              <a:ln>
                <a:noFill/>
              </a:ln>
            </p:spPr>
          </p:sp>
          <p:sp>
            <p:nvSpPr>
              <p:cNvPr id="11" name="Rectangle 11"/>
              <p:cNvSpPr/>
              <p:nvPr/>
            </p:nvSpPr>
            <p:spPr>
              <a:xfrm>
                <a:off x="666750" y="933450"/>
                <a:ext cx="95250" cy="647700"/>
              </a:xfrm>
              <a:prstGeom prst="rect">
                <a:avLst/>
              </a:prstGeom>
              <a:solidFill>
                <a:srgbClr val="B76B5D"/>
              </a:solidFill>
              <a:ln>
                <a:noFill/>
              </a:ln>
            </p:spPr>
          </p:sp>
          <p:grpSp>
            <p:nvGrpSpPr>
              <p:cNvPr id="17" name="Group 17"/>
              <p:cNvGrpSpPr/>
              <p:nvPr/>
            </p:nvGrpSpPr>
            <p:grpSpPr>
              <a:xfrm>
                <a:off x="428625" y="1171575"/>
                <a:ext cx="133350" cy="171450"/>
                <a:chOff x="428625" y="1171575"/>
                <a:chExt cx="133350" cy="171450"/>
              </a:xfrm>
            </p:grpSpPr>
            <p:sp>
              <p:nvSpPr>
                <p:cNvPr id="12" name="Freeform 12"/>
                <p:cNvSpPr/>
                <p:nvPr/>
              </p:nvSpPr>
              <p:spPr>
                <a:xfrm>
                  <a:off x="514350" y="1171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FFFFFF"/>
                  </a:solidFill>
                </a:ln>
              </p:spPr>
            </p:sp>
            <p:sp>
              <p:nvSpPr>
                <p:cNvPr id="13" name="Freeform 13"/>
                <p:cNvSpPr/>
                <p:nvPr/>
              </p:nvSpPr>
              <p:spPr>
                <a:xfrm>
                  <a:off x="428625" y="1171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FFFFFF"/>
                  </a:solidFill>
                </a:ln>
              </p:spPr>
            </p:sp>
            <p:sp>
              <p:nvSpPr>
                <p:cNvPr id="14" name="Freeform 14"/>
                <p:cNvSpPr/>
                <p:nvPr/>
              </p:nvSpPr>
              <p:spPr>
                <a:xfrm>
                  <a:off x="466725" y="1228725"/>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15" name="Freeform 15"/>
                <p:cNvSpPr/>
                <p:nvPr/>
              </p:nvSpPr>
              <p:spPr>
                <a:xfrm>
                  <a:off x="466725" y="1266825"/>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16" name="Freeform 16"/>
                <p:cNvSpPr/>
                <p:nvPr/>
              </p:nvSpPr>
              <p:spPr>
                <a:xfrm>
                  <a:off x="466725" y="1304925"/>
                  <a:ext cx="57150" cy="9525"/>
                </a:xfrm>
                <a:custGeom>
                  <a:avLst/>
                  <a:gdLst/>
                  <a:ahLst/>
                  <a:cxnLst/>
                  <a:rect l="l" t="t" r="r" b="b"/>
                  <a:pathLst>
                    <a:path w="57150" h="9525">
                      <a:moveTo>
                        <a:pt x="0" y="0"/>
                      </a:moveTo>
                      <a:lnTo>
                        <a:pt x="57150" y="0"/>
                      </a:lnTo>
                    </a:path>
                  </a:pathLst>
                </a:custGeom>
                <a:noFill/>
                <a:ln w="19050">
                  <a:solidFill>
                    <a:srgbClr val="FFFFFF"/>
                  </a:solidFill>
                </a:ln>
              </p:spPr>
            </p:sp>
          </p:grpSp>
          <p:sp>
            <p:nvSpPr>
              <p:cNvPr id="18" name="TextBox 18"/>
              <p:cNvSpPr txBox="1"/>
              <p:nvPr/>
            </p:nvSpPr>
            <p:spPr>
              <a:xfrm>
                <a:off x="871538" y="103489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静态文档</a:t>
                </a:r>
              </a:p>
            </p:txBody>
          </p:sp>
          <p:sp>
            <p:nvSpPr>
              <p:cNvPr id="19" name="TextBox 19"/>
              <p:cNvSpPr txBox="1"/>
              <p:nvPr/>
            </p:nvSpPr>
            <p:spPr>
              <a:xfrm>
                <a:off x="871538" y="123467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分散存储，难以查找</a:t>
                </a:r>
              </a:p>
            </p:txBody>
          </p:sp>
          <p:sp>
            <p:nvSpPr>
              <p:cNvPr id="20" name="TextBox 20"/>
              <p:cNvSpPr txBox="1"/>
              <p:nvPr/>
            </p:nvSpPr>
            <p:spPr>
              <a:xfrm>
                <a:off x="871538" y="138707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版本混乱，更新滞后</a:t>
                </a:r>
              </a:p>
            </p:txBody>
          </p:sp>
        </p:grpSp>
        <p:sp>
          <p:nvSpPr>
            <p:cNvPr id="22" name="Polygon 22"/>
            <p:cNvSpPr/>
            <p:nvPr/>
          </p:nvSpPr>
          <p:spPr>
            <a:xfrm>
              <a:off x="438150" y="1600200"/>
              <a:ext cx="114300" cy="76200"/>
            </a:xfrm>
            <a:custGeom>
              <a:avLst/>
              <a:gdLst/>
              <a:ahLst/>
              <a:cxnLst/>
              <a:rect l="l" t="t" r="r" b="b"/>
              <a:pathLst>
                <a:path w="114300" h="76200">
                  <a:moveTo>
                    <a:pt x="0" y="76200"/>
                  </a:moveTo>
                  <a:lnTo>
                    <a:pt x="114300" y="76200"/>
                  </a:lnTo>
                  <a:lnTo>
                    <a:pt x="57150" y="0"/>
                  </a:lnTo>
                  <a:close/>
                </a:path>
              </a:pathLst>
            </a:custGeom>
            <a:solidFill>
              <a:srgbClr val="9A4B3C"/>
            </a:solidFill>
            <a:ln>
              <a:noFill/>
            </a:ln>
          </p:spPr>
        </p:sp>
        <p:grpSp>
          <p:nvGrpSpPr>
            <p:cNvPr id="33" name="ladder-2"/>
            <p:cNvGrpSpPr/>
            <p:nvPr/>
          </p:nvGrpSpPr>
          <p:grpSpPr>
            <a:xfrm>
              <a:off x="228600" y="1638300"/>
              <a:ext cx="2095500" cy="647700"/>
              <a:chOff x="228600" y="1638300"/>
              <a:chExt cx="2095500" cy="647700"/>
            </a:xfrm>
          </p:grpSpPr>
          <p:sp>
            <p:nvSpPr>
              <p:cNvPr id="23" name="Rectangle 23"/>
              <p:cNvSpPr/>
              <p:nvPr/>
            </p:nvSpPr>
            <p:spPr>
              <a:xfrm>
                <a:off x="228600" y="1638300"/>
                <a:ext cx="2095500" cy="647700"/>
              </a:xfrm>
              <a:prstGeom prst="roundRect">
                <a:avLst>
                  <a:gd name="adj" fmla="val 11765"/>
                </a:avLst>
              </a:prstGeom>
              <a:solidFill>
                <a:srgbClr val="FFFFFF"/>
              </a:solidFill>
              <a:ln w="9525">
                <a:solidFill>
                  <a:srgbClr val="D9E8C6"/>
                </a:solidFill>
              </a:ln>
            </p:spPr>
          </p:sp>
          <p:sp>
            <p:nvSpPr>
              <p:cNvPr id="24" name="Rectangle 24"/>
              <p:cNvSpPr/>
              <p:nvPr/>
            </p:nvSpPr>
            <p:spPr>
              <a:xfrm>
                <a:off x="228600" y="1638300"/>
                <a:ext cx="533400" cy="647700"/>
              </a:xfrm>
              <a:prstGeom prst="roundRect">
                <a:avLst>
                  <a:gd name="adj" fmla="val 14286"/>
                </a:avLst>
              </a:prstGeom>
              <a:solidFill>
                <a:srgbClr val="9A4B3C"/>
              </a:solidFill>
              <a:ln>
                <a:noFill/>
              </a:ln>
            </p:spPr>
          </p:sp>
          <p:sp>
            <p:nvSpPr>
              <p:cNvPr id="25" name="Rectangle 25"/>
              <p:cNvSpPr/>
              <p:nvPr/>
            </p:nvSpPr>
            <p:spPr>
              <a:xfrm>
                <a:off x="666750" y="1638300"/>
                <a:ext cx="95250" cy="647700"/>
              </a:xfrm>
              <a:prstGeom prst="rect">
                <a:avLst/>
              </a:prstGeom>
              <a:solidFill>
                <a:srgbClr val="9A4B3C"/>
              </a:solidFill>
              <a:ln>
                <a:noFill/>
              </a:ln>
            </p:spPr>
          </p:sp>
          <p:grpSp>
            <p:nvGrpSpPr>
              <p:cNvPr id="29" name="Group 29"/>
              <p:cNvGrpSpPr/>
              <p:nvPr/>
            </p:nvGrpSpPr>
            <p:grpSpPr>
              <a:xfrm>
                <a:off x="419100" y="1876425"/>
                <a:ext cx="152400" cy="171450"/>
                <a:chOff x="419100" y="1876425"/>
                <a:chExt cx="152400" cy="171450"/>
              </a:xfrm>
            </p:grpSpPr>
            <p:sp>
              <p:nvSpPr>
                <p:cNvPr id="26" name="Freeform 26"/>
                <p:cNvSpPr/>
                <p:nvPr/>
              </p:nvSpPr>
              <p:spPr>
                <a:xfrm>
                  <a:off x="419100" y="187642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FFFFFF"/>
                  </a:solidFill>
                </a:ln>
              </p:spPr>
            </p:sp>
            <p:sp>
              <p:nvSpPr>
                <p:cNvPr id="27" name="Freeform 27"/>
                <p:cNvSpPr/>
                <p:nvPr/>
              </p:nvSpPr>
              <p:spPr>
                <a:xfrm>
                  <a:off x="419100" y="19050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sp>
              <p:nvSpPr>
                <p:cNvPr id="28" name="Freeform 28"/>
                <p:cNvSpPr/>
                <p:nvPr/>
              </p:nvSpPr>
              <p:spPr>
                <a:xfrm>
                  <a:off x="419100" y="19621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grpSp>
          <p:sp>
            <p:nvSpPr>
              <p:cNvPr id="30" name="TextBox 30"/>
              <p:cNvSpPr txBox="1"/>
              <p:nvPr/>
            </p:nvSpPr>
            <p:spPr>
              <a:xfrm>
                <a:off x="871538" y="173974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统一知识</a:t>
                </a:r>
              </a:p>
            </p:txBody>
          </p:sp>
          <p:sp>
            <p:nvSpPr>
              <p:cNvPr id="31" name="TextBox 31"/>
              <p:cNvSpPr txBox="1"/>
              <p:nvPr/>
            </p:nvSpPr>
            <p:spPr>
              <a:xfrm>
                <a:off x="871538" y="1939528"/>
                <a:ext cx="839597"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结构化沉淀，统一治理</a:t>
                </a:r>
              </a:p>
            </p:txBody>
          </p:sp>
          <p:sp>
            <p:nvSpPr>
              <p:cNvPr id="32" name="TextBox 32"/>
              <p:cNvSpPr txBox="1"/>
              <p:nvPr/>
            </p:nvSpPr>
            <p:spPr>
              <a:xfrm>
                <a:off x="871538" y="20919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标签化、标准化</a:t>
                </a:r>
              </a:p>
            </p:txBody>
          </p:sp>
        </p:grpSp>
        <p:grpSp>
          <p:nvGrpSpPr>
            <p:cNvPr id="41" name="ladder-3"/>
            <p:cNvGrpSpPr/>
            <p:nvPr/>
          </p:nvGrpSpPr>
          <p:grpSpPr>
            <a:xfrm>
              <a:off x="228600" y="2343150"/>
              <a:ext cx="2095500" cy="647700"/>
              <a:chOff x="228600" y="2343150"/>
              <a:chExt cx="2095500" cy="647700"/>
            </a:xfrm>
          </p:grpSpPr>
          <p:sp>
            <p:nvSpPr>
              <p:cNvPr id="34" name="Rectangle 34"/>
              <p:cNvSpPr/>
              <p:nvPr/>
            </p:nvSpPr>
            <p:spPr>
              <a:xfrm>
                <a:off x="228600" y="2343150"/>
                <a:ext cx="2095500" cy="647700"/>
              </a:xfrm>
              <a:prstGeom prst="roundRect">
                <a:avLst>
                  <a:gd name="adj" fmla="val 11765"/>
                </a:avLst>
              </a:prstGeom>
              <a:solidFill>
                <a:srgbClr val="F4F8EC"/>
              </a:solidFill>
              <a:ln w="9525">
                <a:solidFill>
                  <a:srgbClr val="D9E8C6"/>
                </a:solidFill>
              </a:ln>
            </p:spPr>
          </p:sp>
          <p:sp>
            <p:nvSpPr>
              <p:cNvPr id="35" name="Rectangle 35"/>
              <p:cNvSpPr/>
              <p:nvPr/>
            </p:nvSpPr>
            <p:spPr>
              <a:xfrm>
                <a:off x="228600" y="2343150"/>
                <a:ext cx="533400" cy="647700"/>
              </a:xfrm>
              <a:prstGeom prst="roundRect">
                <a:avLst>
                  <a:gd name="adj" fmla="val 14286"/>
                </a:avLst>
              </a:prstGeom>
              <a:solidFill>
                <a:srgbClr val="8C4336"/>
              </a:solidFill>
              <a:ln>
                <a:noFill/>
              </a:ln>
            </p:spPr>
          </p:sp>
          <p:sp>
            <p:nvSpPr>
              <p:cNvPr id="36" name="Rectangle 36"/>
              <p:cNvSpPr/>
              <p:nvPr/>
            </p:nvSpPr>
            <p:spPr>
              <a:xfrm>
                <a:off x="666750" y="2343150"/>
                <a:ext cx="95250" cy="647700"/>
              </a:xfrm>
              <a:prstGeom prst="rect">
                <a:avLst/>
              </a:prstGeom>
              <a:solidFill>
                <a:srgbClr val="8C4336"/>
              </a:solidFill>
              <a:ln>
                <a:noFill/>
              </a:ln>
            </p:spPr>
          </p:sp>
          <p:sp>
            <p:nvSpPr>
              <p:cNvPr id="37" name="Freeform 37"/>
              <p:cNvSpPr/>
              <p:nvPr/>
            </p:nvSpPr>
            <p:spPr>
              <a:xfrm>
                <a:off x="399821" y="2583418"/>
                <a:ext cx="190157" cy="168564"/>
              </a:xfrm>
              <a:custGeom>
                <a:avLst/>
                <a:gdLst/>
                <a:ahLst/>
                <a:cxnLst/>
                <a:rect l="l" t="t" r="r" b="b"/>
                <a:pathLst>
                  <a:path w="190157" h="168564">
                    <a:moveTo>
                      <a:pt x="9754" y="159782"/>
                    </a:moveTo>
                    <a:lnTo>
                      <a:pt x="22136" y="122634"/>
                    </a:lnTo>
                    <a:cubicBezTo>
                      <a:pt x="0" y="89897"/>
                      <a:pt x="8553" y="47654"/>
                      <a:pt x="42139" y="23822"/>
                    </a:cubicBezTo>
                    <a:cubicBezTo>
                      <a:pt x="75724" y="0"/>
                      <a:pt x="123958" y="1953"/>
                      <a:pt x="154962" y="28394"/>
                    </a:cubicBezTo>
                    <a:cubicBezTo>
                      <a:pt x="185966" y="54845"/>
                      <a:pt x="190157" y="97603"/>
                      <a:pt x="164763" y="128416"/>
                    </a:cubicBezTo>
                    <a:cubicBezTo>
                      <a:pt x="139370" y="159229"/>
                      <a:pt x="92231" y="168564"/>
                      <a:pt x="54521" y="150257"/>
                    </a:cubicBezTo>
                    <a:lnTo>
                      <a:pt x="9754" y="159782"/>
                    </a:lnTo>
                  </a:path>
                </a:pathLst>
              </a:custGeom>
              <a:noFill/>
              <a:ln w="19050">
                <a:solidFill>
                  <a:srgbClr val="FFFFFF"/>
                </a:solidFill>
              </a:ln>
            </p:spPr>
          </p:sp>
          <p:sp>
            <p:nvSpPr>
              <p:cNvPr id="38" name="TextBox 38"/>
              <p:cNvSpPr txBox="1"/>
              <p:nvPr/>
            </p:nvSpPr>
            <p:spPr>
              <a:xfrm>
                <a:off x="871538" y="244459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智能问答</a:t>
                </a:r>
              </a:p>
            </p:txBody>
          </p:sp>
          <p:sp>
            <p:nvSpPr>
              <p:cNvPr id="39" name="TextBox 39"/>
              <p:cNvSpPr txBox="1"/>
              <p:nvPr/>
            </p:nvSpPr>
            <p:spPr>
              <a:xfrm>
                <a:off x="871538" y="26443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自然语言理解</a:t>
                </a:r>
              </a:p>
            </p:txBody>
          </p:sp>
          <p:sp>
            <p:nvSpPr>
              <p:cNvPr id="40" name="TextBox 40"/>
              <p:cNvSpPr txBox="1"/>
              <p:nvPr/>
            </p:nvSpPr>
            <p:spPr>
              <a:xfrm>
                <a:off x="871538" y="279677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快速定位，精准回答</a:t>
                </a:r>
              </a:p>
            </p:txBody>
          </p:sp>
        </p:grpSp>
        <p:grpSp>
          <p:nvGrpSpPr>
            <p:cNvPr id="54" name="ladder-4"/>
            <p:cNvGrpSpPr/>
            <p:nvPr/>
          </p:nvGrpSpPr>
          <p:grpSpPr>
            <a:xfrm>
              <a:off x="228600" y="3048000"/>
              <a:ext cx="2095500" cy="647700"/>
              <a:chOff x="228600" y="3048000"/>
              <a:chExt cx="2095500" cy="647700"/>
            </a:xfrm>
          </p:grpSpPr>
          <p:sp>
            <p:nvSpPr>
              <p:cNvPr id="42" name="Rectangle 42"/>
              <p:cNvSpPr/>
              <p:nvPr/>
            </p:nvSpPr>
            <p:spPr>
              <a:xfrm>
                <a:off x="228600" y="3048000"/>
                <a:ext cx="2095500" cy="647700"/>
              </a:xfrm>
              <a:prstGeom prst="roundRect">
                <a:avLst>
                  <a:gd name="adj" fmla="val 11765"/>
                </a:avLst>
              </a:prstGeom>
              <a:solidFill>
                <a:srgbClr val="FFFFFF"/>
              </a:solidFill>
              <a:ln w="9525">
                <a:solidFill>
                  <a:srgbClr val="D9E8C6"/>
                </a:solidFill>
              </a:ln>
            </p:spPr>
          </p:sp>
          <p:sp>
            <p:nvSpPr>
              <p:cNvPr id="43" name="Rectangle 43"/>
              <p:cNvSpPr/>
              <p:nvPr/>
            </p:nvSpPr>
            <p:spPr>
              <a:xfrm>
                <a:off x="228600" y="3048000"/>
                <a:ext cx="533400" cy="647700"/>
              </a:xfrm>
              <a:prstGeom prst="roundRect">
                <a:avLst>
                  <a:gd name="adj" fmla="val 14286"/>
                </a:avLst>
              </a:prstGeom>
              <a:solidFill>
                <a:srgbClr val="7C3B2F"/>
              </a:solidFill>
              <a:ln>
                <a:noFill/>
              </a:ln>
            </p:spPr>
          </p:sp>
          <p:sp>
            <p:nvSpPr>
              <p:cNvPr id="44" name="Rectangle 44"/>
              <p:cNvSpPr/>
              <p:nvPr/>
            </p:nvSpPr>
            <p:spPr>
              <a:xfrm>
                <a:off x="666750" y="3048000"/>
                <a:ext cx="95250" cy="647700"/>
              </a:xfrm>
              <a:prstGeom prst="rect">
                <a:avLst/>
              </a:prstGeom>
              <a:solidFill>
                <a:srgbClr val="7C3B2F"/>
              </a:solidFill>
              <a:ln>
                <a:noFill/>
              </a:ln>
            </p:spPr>
          </p:sp>
          <p:grpSp>
            <p:nvGrpSpPr>
              <p:cNvPr id="50" name="Group 50"/>
              <p:cNvGrpSpPr/>
              <p:nvPr/>
            </p:nvGrpSpPr>
            <p:grpSpPr>
              <a:xfrm>
                <a:off x="409575" y="3286125"/>
                <a:ext cx="171450" cy="171450"/>
                <a:chOff x="409575" y="3286125"/>
                <a:chExt cx="171450" cy="171450"/>
              </a:xfrm>
            </p:grpSpPr>
            <p:sp>
              <p:nvSpPr>
                <p:cNvPr id="45" name="Freeform 45"/>
                <p:cNvSpPr/>
                <p:nvPr/>
              </p:nvSpPr>
              <p:spPr>
                <a:xfrm>
                  <a:off x="409575" y="340042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FFFFFF"/>
                  </a:solidFill>
                </a:ln>
              </p:spPr>
            </p:sp>
            <p:sp>
              <p:nvSpPr>
                <p:cNvPr id="46" name="Freeform 46"/>
                <p:cNvSpPr/>
                <p:nvPr/>
              </p:nvSpPr>
              <p:spPr>
                <a:xfrm>
                  <a:off x="523875" y="340042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FFFFFF"/>
                  </a:solidFill>
                </a:ln>
              </p:spPr>
            </p:sp>
            <p:sp>
              <p:nvSpPr>
                <p:cNvPr id="47" name="Freeform 47"/>
                <p:cNvSpPr/>
                <p:nvPr/>
              </p:nvSpPr>
              <p:spPr>
                <a:xfrm>
                  <a:off x="466725" y="328612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FFFFFF"/>
                  </a:solidFill>
                </a:ln>
              </p:spPr>
            </p:sp>
            <p:sp>
              <p:nvSpPr>
                <p:cNvPr id="48" name="Freeform 48"/>
                <p:cNvSpPr/>
                <p:nvPr/>
              </p:nvSpPr>
              <p:spPr>
                <a:xfrm>
                  <a:off x="438150" y="3371850"/>
                  <a:ext cx="114300" cy="28575"/>
                </a:xfrm>
                <a:custGeom>
                  <a:avLst/>
                  <a:gdLst/>
                  <a:ahLst/>
                  <a:cxnLst/>
                  <a:rect l="l" t="t" r="r" b="b"/>
                  <a:pathLst>
                    <a:path w="114300" h="28575">
                      <a:moveTo>
                        <a:pt x="0" y="28575"/>
                      </a:moveTo>
                      <a:lnTo>
                        <a:pt x="0" y="19050"/>
                      </a:lnTo>
                      <a:cubicBezTo>
                        <a:pt x="0" y="8529"/>
                        <a:pt x="8529" y="0"/>
                        <a:pt x="19050" y="0"/>
                      </a:cubicBezTo>
                      <a:lnTo>
                        <a:pt x="95250" y="0"/>
                      </a:lnTo>
                      <a:cubicBezTo>
                        <a:pt x="105771" y="0"/>
                        <a:pt x="114300" y="8529"/>
                        <a:pt x="114300" y="19050"/>
                      </a:cubicBezTo>
                      <a:lnTo>
                        <a:pt x="114300" y="28575"/>
                      </a:lnTo>
                    </a:path>
                  </a:pathLst>
                </a:custGeom>
                <a:noFill/>
                <a:ln w="19050">
                  <a:solidFill>
                    <a:srgbClr val="FFFFFF"/>
                  </a:solidFill>
                </a:ln>
              </p:spPr>
            </p:sp>
            <p:sp>
              <p:nvSpPr>
                <p:cNvPr id="49" name="Freeform 49"/>
                <p:cNvSpPr/>
                <p:nvPr/>
              </p:nvSpPr>
              <p:spPr>
                <a:xfrm>
                  <a:off x="495300" y="3343275"/>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51" name="TextBox 51"/>
              <p:cNvSpPr txBox="1"/>
              <p:nvPr/>
            </p:nvSpPr>
            <p:spPr>
              <a:xfrm>
                <a:off x="871538" y="3149441"/>
                <a:ext cx="451079"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流程助手</a:t>
                </a:r>
              </a:p>
            </p:txBody>
          </p:sp>
          <p:sp>
            <p:nvSpPr>
              <p:cNvPr id="52" name="TextBox 52"/>
              <p:cNvSpPr txBox="1"/>
              <p:nvPr/>
            </p:nvSpPr>
            <p:spPr>
              <a:xfrm>
                <a:off x="871538" y="33492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嵌入业务流程</a:t>
                </a:r>
              </a:p>
            </p:txBody>
          </p:sp>
          <p:sp>
            <p:nvSpPr>
              <p:cNvPr id="53" name="TextBox 53"/>
              <p:cNvSpPr txBox="1"/>
              <p:nvPr/>
            </p:nvSpPr>
            <p:spPr>
              <a:xfrm>
                <a:off x="871538" y="35016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引导执行，辅助决策</a:t>
                </a:r>
              </a:p>
            </p:txBody>
          </p:sp>
        </p:grpSp>
        <p:grpSp>
          <p:nvGrpSpPr>
            <p:cNvPr id="71" name="ladder-5"/>
            <p:cNvGrpSpPr/>
            <p:nvPr/>
          </p:nvGrpSpPr>
          <p:grpSpPr>
            <a:xfrm>
              <a:off x="228600" y="3752850"/>
              <a:ext cx="2095500" cy="647700"/>
              <a:chOff x="228600" y="3752850"/>
              <a:chExt cx="2095500" cy="647700"/>
            </a:xfrm>
          </p:grpSpPr>
          <p:sp>
            <p:nvSpPr>
              <p:cNvPr id="55" name="Rectangle 55"/>
              <p:cNvSpPr/>
              <p:nvPr/>
            </p:nvSpPr>
            <p:spPr>
              <a:xfrm>
                <a:off x="228600" y="3752850"/>
                <a:ext cx="2095500" cy="647700"/>
              </a:xfrm>
              <a:prstGeom prst="roundRect">
                <a:avLst>
                  <a:gd name="adj" fmla="val 11765"/>
                </a:avLst>
              </a:prstGeom>
              <a:solidFill>
                <a:srgbClr val="F4F8EC"/>
              </a:solidFill>
              <a:ln w="9525">
                <a:solidFill>
                  <a:srgbClr val="D9E8C6"/>
                </a:solidFill>
              </a:ln>
            </p:spPr>
          </p:sp>
          <p:sp>
            <p:nvSpPr>
              <p:cNvPr id="56" name="Rectangle 56"/>
              <p:cNvSpPr/>
              <p:nvPr/>
            </p:nvSpPr>
            <p:spPr>
              <a:xfrm>
                <a:off x="228600" y="3752850"/>
                <a:ext cx="533400" cy="647700"/>
              </a:xfrm>
              <a:prstGeom prst="roundRect">
                <a:avLst>
                  <a:gd name="adj" fmla="val 14286"/>
                </a:avLst>
              </a:prstGeom>
              <a:solidFill>
                <a:srgbClr val="42140B"/>
              </a:solidFill>
              <a:ln>
                <a:noFill/>
              </a:ln>
            </p:spPr>
          </p:sp>
          <p:sp>
            <p:nvSpPr>
              <p:cNvPr id="57" name="Rectangle 57"/>
              <p:cNvSpPr/>
              <p:nvPr/>
            </p:nvSpPr>
            <p:spPr>
              <a:xfrm>
                <a:off x="666750" y="3752850"/>
                <a:ext cx="95250" cy="647700"/>
              </a:xfrm>
              <a:prstGeom prst="rect">
                <a:avLst/>
              </a:prstGeom>
              <a:solidFill>
                <a:srgbClr val="42140B"/>
              </a:solidFill>
              <a:ln>
                <a:noFill/>
              </a:ln>
            </p:spPr>
          </p:sp>
          <p:grpSp>
            <p:nvGrpSpPr>
              <p:cNvPr id="67" name="Group 67"/>
              <p:cNvGrpSpPr/>
              <p:nvPr/>
            </p:nvGrpSpPr>
            <p:grpSpPr>
              <a:xfrm>
                <a:off x="428625" y="3981450"/>
                <a:ext cx="133350" cy="180975"/>
                <a:chOff x="428625" y="3981450"/>
                <a:chExt cx="133350" cy="180975"/>
              </a:xfrm>
            </p:grpSpPr>
            <p:sp>
              <p:nvSpPr>
                <p:cNvPr id="58" name="Freeform 58"/>
                <p:cNvSpPr/>
                <p:nvPr/>
              </p:nvSpPr>
              <p:spPr>
                <a:xfrm>
                  <a:off x="438150" y="4000500"/>
                  <a:ext cx="114300" cy="76200"/>
                </a:xfrm>
                <a:custGeom>
                  <a:avLst/>
                  <a:gdLst/>
                  <a:ahLst/>
                  <a:cxnLst/>
                  <a:rect l="l" t="t" r="r" b="b"/>
                  <a:pathLst>
                    <a:path w="114300" h="76200">
                      <a:moveTo>
                        <a:pt x="0" y="19050"/>
                      </a:moveTo>
                      <a:cubicBezTo>
                        <a:pt x="0" y="8529"/>
                        <a:pt x="8529" y="0"/>
                        <a:pt x="19050" y="0"/>
                      </a:cubicBezTo>
                      <a:lnTo>
                        <a:pt x="95250" y="0"/>
                      </a:lnTo>
                      <a:cubicBezTo>
                        <a:pt x="105771" y="0"/>
                        <a:pt x="114300" y="8529"/>
                        <a:pt x="114300" y="19050"/>
                      </a:cubicBezTo>
                      <a:lnTo>
                        <a:pt x="114300" y="57150"/>
                      </a:lnTo>
                      <a:cubicBezTo>
                        <a:pt x="114300" y="67671"/>
                        <a:pt x="105771" y="76200"/>
                        <a:pt x="95250" y="76200"/>
                      </a:cubicBezTo>
                      <a:lnTo>
                        <a:pt x="19050" y="76200"/>
                      </a:lnTo>
                      <a:cubicBezTo>
                        <a:pt x="8529" y="76200"/>
                        <a:pt x="0" y="67671"/>
                        <a:pt x="0" y="57150"/>
                      </a:cubicBezTo>
                      <a:lnTo>
                        <a:pt x="0" y="19050"/>
                      </a:lnTo>
                    </a:path>
                  </a:pathLst>
                </a:custGeom>
                <a:noFill/>
                <a:ln w="19050">
                  <a:solidFill>
                    <a:srgbClr val="FFFFFF"/>
                  </a:solidFill>
                </a:ln>
              </p:spPr>
            </p:sp>
            <p:sp>
              <p:nvSpPr>
                <p:cNvPr id="59" name="Freeform 59"/>
                <p:cNvSpPr/>
                <p:nvPr/>
              </p:nvSpPr>
              <p:spPr>
                <a:xfrm>
                  <a:off x="495300" y="3981450"/>
                  <a:ext cx="9525" cy="19050"/>
                </a:xfrm>
                <a:custGeom>
                  <a:avLst/>
                  <a:gdLst/>
                  <a:ahLst/>
                  <a:cxnLst/>
                  <a:rect l="l" t="t" r="r" b="b"/>
                  <a:pathLst>
                    <a:path w="9525" h="19050">
                      <a:moveTo>
                        <a:pt x="0" y="0"/>
                      </a:moveTo>
                      <a:lnTo>
                        <a:pt x="0" y="19050"/>
                      </a:lnTo>
                    </a:path>
                  </a:pathLst>
                </a:custGeom>
                <a:noFill/>
                <a:ln w="19050">
                  <a:solidFill>
                    <a:srgbClr val="FFFFFF"/>
                  </a:solidFill>
                </a:ln>
              </p:spPr>
            </p:sp>
            <p:sp>
              <p:nvSpPr>
                <p:cNvPr id="60" name="Freeform 60"/>
                <p:cNvSpPr/>
                <p:nvPr/>
              </p:nvSpPr>
              <p:spPr>
                <a:xfrm>
                  <a:off x="466725" y="4076700"/>
                  <a:ext cx="9525" cy="85725"/>
                </a:xfrm>
                <a:custGeom>
                  <a:avLst/>
                  <a:gdLst/>
                  <a:ahLst/>
                  <a:cxnLst/>
                  <a:rect l="l" t="t" r="r" b="b"/>
                  <a:pathLst>
                    <a:path w="9525" h="85725">
                      <a:moveTo>
                        <a:pt x="0" y="0"/>
                      </a:moveTo>
                      <a:lnTo>
                        <a:pt x="0" y="85725"/>
                      </a:lnTo>
                    </a:path>
                  </a:pathLst>
                </a:custGeom>
                <a:noFill/>
                <a:ln w="19050">
                  <a:solidFill>
                    <a:srgbClr val="FFFFFF"/>
                  </a:solidFill>
                </a:ln>
              </p:spPr>
            </p:sp>
            <p:sp>
              <p:nvSpPr>
                <p:cNvPr id="61" name="Freeform 61"/>
                <p:cNvSpPr/>
                <p:nvPr/>
              </p:nvSpPr>
              <p:spPr>
                <a:xfrm>
                  <a:off x="523875" y="4076700"/>
                  <a:ext cx="9525" cy="85725"/>
                </a:xfrm>
                <a:custGeom>
                  <a:avLst/>
                  <a:gdLst/>
                  <a:ahLst/>
                  <a:cxnLst/>
                  <a:rect l="l" t="t" r="r" b="b"/>
                  <a:pathLst>
                    <a:path w="9525" h="85725">
                      <a:moveTo>
                        <a:pt x="0" y="0"/>
                      </a:moveTo>
                      <a:lnTo>
                        <a:pt x="0" y="85725"/>
                      </a:lnTo>
                    </a:path>
                  </a:pathLst>
                </a:custGeom>
                <a:noFill/>
                <a:ln w="19050">
                  <a:solidFill>
                    <a:srgbClr val="FFFFFF"/>
                  </a:solidFill>
                </a:ln>
              </p:spPr>
            </p:sp>
            <p:sp>
              <p:nvSpPr>
                <p:cNvPr id="62" name="Freeform 62"/>
                <p:cNvSpPr/>
                <p:nvPr/>
              </p:nvSpPr>
              <p:spPr>
                <a:xfrm>
                  <a:off x="428625" y="4095750"/>
                  <a:ext cx="38100" cy="19050"/>
                </a:xfrm>
                <a:custGeom>
                  <a:avLst/>
                  <a:gdLst/>
                  <a:ahLst/>
                  <a:cxnLst/>
                  <a:rect l="l" t="t" r="r" b="b"/>
                  <a:pathLst>
                    <a:path w="38100" h="19050">
                      <a:moveTo>
                        <a:pt x="0" y="19050"/>
                      </a:moveTo>
                      <a:lnTo>
                        <a:pt x="38100" y="0"/>
                      </a:lnTo>
                    </a:path>
                  </a:pathLst>
                </a:custGeom>
                <a:noFill/>
                <a:ln w="19050">
                  <a:solidFill>
                    <a:srgbClr val="FFFFFF"/>
                  </a:solidFill>
                </a:ln>
              </p:spPr>
            </p:sp>
            <p:sp>
              <p:nvSpPr>
                <p:cNvPr id="63" name="Freeform 63"/>
                <p:cNvSpPr/>
                <p:nvPr/>
              </p:nvSpPr>
              <p:spPr>
                <a:xfrm>
                  <a:off x="523875" y="4095750"/>
                  <a:ext cx="38100" cy="19050"/>
                </a:xfrm>
                <a:custGeom>
                  <a:avLst/>
                  <a:gdLst/>
                  <a:ahLst/>
                  <a:cxnLst/>
                  <a:rect l="l" t="t" r="r" b="b"/>
                  <a:pathLst>
                    <a:path w="38100" h="19050">
                      <a:moveTo>
                        <a:pt x="0" y="0"/>
                      </a:moveTo>
                      <a:lnTo>
                        <a:pt x="38100" y="19050"/>
                      </a:lnTo>
                    </a:path>
                  </a:pathLst>
                </a:custGeom>
                <a:noFill/>
                <a:ln w="19050">
                  <a:solidFill>
                    <a:srgbClr val="FFFFFF"/>
                  </a:solidFill>
                </a:ln>
              </p:spPr>
            </p:sp>
            <p:sp>
              <p:nvSpPr>
                <p:cNvPr id="64" name="Freeform 64"/>
                <p:cNvSpPr/>
                <p:nvPr/>
              </p:nvSpPr>
              <p:spPr>
                <a:xfrm>
                  <a:off x="466725" y="4133850"/>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65" name="Freeform 65"/>
                <p:cNvSpPr/>
                <p:nvPr/>
              </p:nvSpPr>
              <p:spPr>
                <a:xfrm>
                  <a:off x="476250" y="4038600"/>
                  <a:ext cx="9525" cy="9525"/>
                </a:xfrm>
                <a:custGeom>
                  <a:avLst/>
                  <a:gdLst/>
                  <a:ahLst/>
                  <a:cxnLst/>
                  <a:rect l="l" t="t" r="r" b="b"/>
                  <a:pathLst>
                    <a:path w="9525" h="9525">
                      <a:moveTo>
                        <a:pt x="0" y="0"/>
                      </a:moveTo>
                      <a:lnTo>
                        <a:pt x="0" y="95"/>
                      </a:lnTo>
                    </a:path>
                  </a:pathLst>
                </a:custGeom>
                <a:noFill/>
                <a:ln w="19050">
                  <a:solidFill>
                    <a:srgbClr val="FFFFFF"/>
                  </a:solidFill>
                </a:ln>
              </p:spPr>
            </p:sp>
            <p:sp>
              <p:nvSpPr>
                <p:cNvPr id="66" name="Freeform 66"/>
                <p:cNvSpPr/>
                <p:nvPr/>
              </p:nvSpPr>
              <p:spPr>
                <a:xfrm>
                  <a:off x="514350" y="4038600"/>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68" name="TextBox 68"/>
              <p:cNvSpPr txBox="1"/>
              <p:nvPr/>
            </p:nvSpPr>
            <p:spPr>
              <a:xfrm>
                <a:off x="871538" y="3854291"/>
                <a:ext cx="561467" cy="161925"/>
              </a:xfrm>
              <a:prstGeom prst="rect">
                <a:avLst/>
              </a:prstGeom>
              <a:noFill/>
              <a:ln>
                <a:noFill/>
              </a:ln>
            </p:spPr>
            <p:txBody>
              <a:bodyPr wrap="none" lIns="0" tIns="0" rIns="0" bIns="0" anchor="t" anchorCtr="0">
                <a:spAutoFit/>
              </a:bodyPr>
              <a:lstStyle/>
              <a:p>
                <a:pPr algn="l"/>
                <a:r>
                  <a:rPr lang="zh-CN" sz="820" b="1" dirty="0">
                    <a:solidFill>
                      <a:srgbClr val="42140B"/>
                    </a:solidFill>
                    <a:latin typeface="+mn-lt"/>
                    <a:ea typeface="+mn-ea"/>
                    <a:cs typeface="+mn-cs"/>
                  </a:rPr>
                  <a:t>行动智能体</a:t>
                </a:r>
              </a:p>
            </p:txBody>
          </p:sp>
          <p:sp>
            <p:nvSpPr>
              <p:cNvPr id="69" name="TextBox 69"/>
              <p:cNvSpPr txBox="1"/>
              <p:nvPr/>
            </p:nvSpPr>
            <p:spPr>
              <a:xfrm>
                <a:off x="871538" y="40540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自主规划与执行</a:t>
                </a:r>
              </a:p>
            </p:txBody>
          </p:sp>
          <p:sp>
            <p:nvSpPr>
              <p:cNvPr id="70" name="TextBox 70"/>
              <p:cNvSpPr txBox="1"/>
              <p:nvPr/>
            </p:nvSpPr>
            <p:spPr>
              <a:xfrm>
                <a:off x="871538" y="4206478"/>
                <a:ext cx="688823"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闭环交付业务结果</a:t>
                </a:r>
              </a:p>
            </p:txBody>
          </p:sp>
        </p:grpSp>
      </p:grpSp>
      <p:grpSp>
        <p:nvGrpSpPr>
          <p:cNvPr id="175" name="flywheel"/>
          <p:cNvGrpSpPr/>
          <p:nvPr/>
        </p:nvGrpSpPr>
        <p:grpSpPr>
          <a:xfrm>
            <a:off x="2476500" y="628650"/>
            <a:ext cx="5486400" cy="3333750"/>
            <a:chOff x="2476500" y="628650"/>
            <a:chExt cx="5486400" cy="3333750"/>
          </a:xfrm>
        </p:grpSpPr>
        <p:sp>
          <p:nvSpPr>
            <p:cNvPr id="73" name="Rectangle 73"/>
            <p:cNvSpPr/>
            <p:nvPr/>
          </p:nvSpPr>
          <p:spPr>
            <a:xfrm>
              <a:off x="3771900" y="628650"/>
              <a:ext cx="2857500" cy="247650"/>
            </a:xfrm>
            <a:prstGeom prst="roundRect">
              <a:avLst>
                <a:gd name="adj" fmla="val 23077"/>
              </a:avLst>
            </a:prstGeom>
            <a:solidFill>
              <a:srgbClr val="42140B"/>
            </a:solidFill>
            <a:ln>
              <a:noFill/>
            </a:ln>
          </p:spPr>
        </p:sp>
        <p:sp>
          <p:nvSpPr>
            <p:cNvPr id="74" name="TextBox 74"/>
            <p:cNvSpPr txBox="1"/>
            <p:nvPr/>
          </p:nvSpPr>
          <p:spPr>
            <a:xfrm>
              <a:off x="4211815" y="706993"/>
              <a:ext cx="1977669"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知识增强飞轮：越用越准，越用越聪明</a:t>
              </a:r>
            </a:p>
          </p:txBody>
        </p:sp>
        <p:sp>
          <p:nvSpPr>
            <p:cNvPr id="75" name="Freeform 75"/>
            <p:cNvSpPr/>
            <p:nvPr/>
          </p:nvSpPr>
          <p:spPr>
            <a:xfrm>
              <a:off x="4057650" y="1428750"/>
              <a:ext cx="2286000" cy="2286000"/>
            </a:xfrm>
            <a:prstGeom prst="blockArc">
              <a:avLst>
                <a:gd name="adj1" fmla="val 14940000"/>
                <a:gd name="adj2" fmla="val 17460000"/>
                <a:gd name="adj3" fmla="val 24000"/>
              </a:avLst>
            </a:prstGeom>
            <a:solidFill>
              <a:srgbClr val="42140B"/>
            </a:solidFill>
            <a:ln>
              <a:noFill/>
            </a:ln>
          </p:spPr>
        </p:sp>
        <p:sp>
          <p:nvSpPr>
            <p:cNvPr id="76" name="Freeform 76"/>
            <p:cNvSpPr/>
            <p:nvPr/>
          </p:nvSpPr>
          <p:spPr>
            <a:xfrm>
              <a:off x="4057650" y="1428750"/>
              <a:ext cx="2286000" cy="2286000"/>
            </a:xfrm>
            <a:prstGeom prst="blockArc">
              <a:avLst>
                <a:gd name="adj1" fmla="val 17640000"/>
                <a:gd name="adj2" fmla="val 20160000"/>
                <a:gd name="adj3" fmla="val 24000"/>
              </a:avLst>
            </a:prstGeom>
            <a:solidFill>
              <a:srgbClr val="50261E"/>
            </a:solidFill>
            <a:ln>
              <a:noFill/>
            </a:ln>
          </p:spPr>
        </p:sp>
        <p:sp>
          <p:nvSpPr>
            <p:cNvPr id="77" name="Freeform 77"/>
            <p:cNvSpPr/>
            <p:nvPr/>
          </p:nvSpPr>
          <p:spPr>
            <a:xfrm>
              <a:off x="4057650" y="1428750"/>
              <a:ext cx="2286000" cy="2286000"/>
            </a:xfrm>
            <a:prstGeom prst="blockArc">
              <a:avLst>
                <a:gd name="adj1" fmla="val 20340000"/>
                <a:gd name="adj2" fmla="val 1260000"/>
                <a:gd name="adj3" fmla="val 24000"/>
              </a:avLst>
            </a:prstGeom>
            <a:solidFill>
              <a:srgbClr val="643228"/>
            </a:solidFill>
            <a:ln>
              <a:noFill/>
            </a:ln>
          </p:spPr>
        </p:sp>
        <p:sp>
          <p:nvSpPr>
            <p:cNvPr id="78" name="Freeform 78"/>
            <p:cNvSpPr/>
            <p:nvPr/>
          </p:nvSpPr>
          <p:spPr>
            <a:xfrm>
              <a:off x="4057650" y="1428750"/>
              <a:ext cx="2286000" cy="2286000"/>
            </a:xfrm>
            <a:prstGeom prst="blockArc">
              <a:avLst>
                <a:gd name="adj1" fmla="val 1440000"/>
                <a:gd name="adj2" fmla="val 3960000"/>
                <a:gd name="adj3" fmla="val 24000"/>
              </a:avLst>
            </a:prstGeom>
            <a:solidFill>
              <a:srgbClr val="7C3B2F"/>
            </a:solidFill>
            <a:ln>
              <a:noFill/>
            </a:ln>
          </p:spPr>
        </p:sp>
        <p:sp>
          <p:nvSpPr>
            <p:cNvPr id="79" name="Freeform 79"/>
            <p:cNvSpPr/>
            <p:nvPr/>
          </p:nvSpPr>
          <p:spPr>
            <a:xfrm>
              <a:off x="4057650" y="1428750"/>
              <a:ext cx="2286000" cy="2286000"/>
            </a:xfrm>
            <a:prstGeom prst="blockArc">
              <a:avLst>
                <a:gd name="adj1" fmla="val 4140000"/>
                <a:gd name="adj2" fmla="val 6660000"/>
                <a:gd name="adj3" fmla="val 24000"/>
              </a:avLst>
            </a:prstGeom>
            <a:solidFill>
              <a:srgbClr val="8C4336"/>
            </a:solidFill>
            <a:ln>
              <a:noFill/>
            </a:ln>
          </p:spPr>
        </p:sp>
        <p:sp>
          <p:nvSpPr>
            <p:cNvPr id="80" name="Freeform 80"/>
            <p:cNvSpPr/>
            <p:nvPr/>
          </p:nvSpPr>
          <p:spPr>
            <a:xfrm>
              <a:off x="4057650" y="1428750"/>
              <a:ext cx="2286000" cy="2286000"/>
            </a:xfrm>
            <a:prstGeom prst="blockArc">
              <a:avLst>
                <a:gd name="adj1" fmla="val 6840000"/>
                <a:gd name="adj2" fmla="val 9360000"/>
                <a:gd name="adj3" fmla="val 24000"/>
              </a:avLst>
            </a:prstGeom>
            <a:solidFill>
              <a:srgbClr val="9A4B3C"/>
            </a:solidFill>
            <a:ln>
              <a:noFill/>
            </a:ln>
          </p:spPr>
        </p:sp>
        <p:sp>
          <p:nvSpPr>
            <p:cNvPr id="81" name="Freeform 81"/>
            <p:cNvSpPr/>
            <p:nvPr/>
          </p:nvSpPr>
          <p:spPr>
            <a:xfrm>
              <a:off x="4057650" y="1428750"/>
              <a:ext cx="2286000" cy="2286000"/>
            </a:xfrm>
            <a:prstGeom prst="blockArc">
              <a:avLst>
                <a:gd name="adj1" fmla="val 9540000"/>
                <a:gd name="adj2" fmla="val 12060000"/>
                <a:gd name="adj3" fmla="val 24000"/>
              </a:avLst>
            </a:prstGeom>
            <a:solidFill>
              <a:srgbClr val="A85C4E"/>
            </a:solidFill>
            <a:ln>
              <a:noFill/>
            </a:ln>
          </p:spPr>
        </p:sp>
        <p:sp>
          <p:nvSpPr>
            <p:cNvPr id="82" name="Freeform 82"/>
            <p:cNvSpPr/>
            <p:nvPr/>
          </p:nvSpPr>
          <p:spPr>
            <a:xfrm>
              <a:off x="4057650" y="1428750"/>
              <a:ext cx="2286000" cy="2286000"/>
            </a:xfrm>
            <a:prstGeom prst="blockArc">
              <a:avLst>
                <a:gd name="adj1" fmla="val 12240000"/>
                <a:gd name="adj2" fmla="val 14760000"/>
                <a:gd name="adj3" fmla="val 24000"/>
              </a:avLst>
            </a:prstGeom>
            <a:solidFill>
              <a:srgbClr val="B76B5D"/>
            </a:solidFill>
            <a:ln>
              <a:noFill/>
            </a:ln>
          </p:spPr>
        </p:sp>
        <p:grpSp>
          <p:nvGrpSpPr>
            <p:cNvPr id="123" name="fw-labels"/>
            <p:cNvGrpSpPr/>
            <p:nvPr/>
          </p:nvGrpSpPr>
          <p:grpSpPr>
            <a:xfrm>
              <a:off x="4156799" y="1557338"/>
              <a:ext cx="2087702" cy="2024300"/>
              <a:chOff x="4156799" y="1557338"/>
              <a:chExt cx="2087702" cy="2024300"/>
            </a:xfrm>
          </p:grpSpPr>
          <p:grpSp>
            <p:nvGrpSpPr>
              <p:cNvPr id="87" name="Group 87"/>
              <p:cNvGrpSpPr/>
              <p:nvPr/>
            </p:nvGrpSpPr>
            <p:grpSpPr>
              <a:xfrm>
                <a:off x="5157788" y="1557338"/>
                <a:ext cx="85725" cy="85725"/>
                <a:chOff x="5157788" y="1557338"/>
                <a:chExt cx="85725" cy="85725"/>
              </a:xfrm>
            </p:grpSpPr>
            <p:sp>
              <p:nvSpPr>
                <p:cNvPr id="83" name="Freeform 83"/>
                <p:cNvSpPr/>
                <p:nvPr/>
              </p:nvSpPr>
              <p:spPr>
                <a:xfrm>
                  <a:off x="5167312" y="15573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FFFFFF"/>
                  </a:solidFill>
                </a:ln>
              </p:spPr>
            </p:sp>
            <p:sp>
              <p:nvSpPr>
                <p:cNvPr id="84" name="Freeform 84"/>
                <p:cNvSpPr/>
                <p:nvPr/>
              </p:nvSpPr>
              <p:spPr>
                <a:xfrm>
                  <a:off x="5157788" y="161448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FFFFFF"/>
                  </a:solidFill>
                </a:ln>
              </p:spPr>
            </p:sp>
            <p:sp>
              <p:nvSpPr>
                <p:cNvPr id="85" name="Freeform 85"/>
                <p:cNvSpPr/>
                <p:nvPr/>
              </p:nvSpPr>
              <p:spPr>
                <a:xfrm>
                  <a:off x="5219700" y="155795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FFFFFF"/>
                  </a:solidFill>
                </a:ln>
              </p:spPr>
            </p:sp>
            <p:sp>
              <p:nvSpPr>
                <p:cNvPr id="86" name="Freeform 86"/>
                <p:cNvSpPr/>
                <p:nvPr/>
              </p:nvSpPr>
              <p:spPr>
                <a:xfrm>
                  <a:off x="5229225" y="1615202"/>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FFFFFF"/>
                  </a:solidFill>
                </a:ln>
              </p:spPr>
            </p:sp>
          </p:grpSp>
          <p:sp>
            <p:nvSpPr>
              <p:cNvPr id="88" name="TextBox 88"/>
              <p:cNvSpPr txBox="1"/>
              <p:nvPr/>
            </p:nvSpPr>
            <p:spPr>
              <a:xfrm>
                <a:off x="5023574" y="17218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业务使用</a:t>
                </a:r>
              </a:p>
            </p:txBody>
          </p:sp>
          <p:sp>
            <p:nvSpPr>
              <p:cNvPr id="89" name="Freeform 89"/>
              <p:cNvSpPr/>
              <p:nvPr/>
            </p:nvSpPr>
            <p:spPr>
              <a:xfrm>
                <a:off x="5762511" y="1815584"/>
                <a:ext cx="95079" cy="84282"/>
              </a:xfrm>
              <a:custGeom>
                <a:avLst/>
                <a:gdLst/>
                <a:ahLst/>
                <a:cxnLst/>
                <a:rect l="l" t="t" r="r" b="b"/>
                <a:pathLst>
                  <a:path w="95079" h="84282">
                    <a:moveTo>
                      <a:pt x="4877" y="79891"/>
                    </a:moveTo>
                    <a:lnTo>
                      <a:pt x="11068" y="61317"/>
                    </a:lnTo>
                    <a:cubicBezTo>
                      <a:pt x="0" y="44948"/>
                      <a:pt x="4277" y="23827"/>
                      <a:pt x="21069" y="11911"/>
                    </a:cubicBezTo>
                    <a:cubicBezTo>
                      <a:pt x="37862" y="0"/>
                      <a:pt x="61979" y="976"/>
                      <a:pt x="77481" y="14197"/>
                    </a:cubicBezTo>
                    <a:cubicBezTo>
                      <a:pt x="92983" y="27422"/>
                      <a:pt x="95079" y="48801"/>
                      <a:pt x="82382" y="64208"/>
                    </a:cubicBezTo>
                    <a:cubicBezTo>
                      <a:pt x="69685" y="79615"/>
                      <a:pt x="46115" y="84282"/>
                      <a:pt x="27261" y="75128"/>
                    </a:cubicBezTo>
                    <a:lnTo>
                      <a:pt x="4877" y="79891"/>
                    </a:lnTo>
                  </a:path>
                </a:pathLst>
              </a:custGeom>
              <a:noFill/>
              <a:ln w="9525">
                <a:solidFill>
                  <a:srgbClr val="FFFFFF"/>
                </a:solidFill>
              </a:ln>
            </p:spPr>
          </p:sp>
          <p:sp>
            <p:nvSpPr>
              <p:cNvPr id="90" name="TextBox 90"/>
              <p:cNvSpPr txBox="1"/>
              <p:nvPr/>
            </p:nvSpPr>
            <p:spPr>
              <a:xfrm>
                <a:off x="5590096" y="1979057"/>
                <a:ext cx="44030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问题与反馈</a:t>
                </a:r>
              </a:p>
            </p:txBody>
          </p:sp>
          <p:grpSp>
            <p:nvGrpSpPr>
              <p:cNvPr id="96" name="Group 96"/>
              <p:cNvGrpSpPr/>
              <p:nvPr/>
            </p:nvGrpSpPr>
            <p:grpSpPr>
              <a:xfrm>
                <a:off x="6034088" y="2424112"/>
                <a:ext cx="66675" cy="85725"/>
                <a:chOff x="6034088" y="2424112"/>
                <a:chExt cx="66675" cy="85725"/>
              </a:xfrm>
            </p:grpSpPr>
            <p:sp>
              <p:nvSpPr>
                <p:cNvPr id="91" name="Freeform 91"/>
                <p:cNvSpPr/>
                <p:nvPr/>
              </p:nvSpPr>
              <p:spPr>
                <a:xfrm>
                  <a:off x="6076950" y="2424112"/>
                  <a:ext cx="23812" cy="23812"/>
                </a:xfrm>
                <a:custGeom>
                  <a:avLst/>
                  <a:gdLst/>
                  <a:ahLst/>
                  <a:cxnLst/>
                  <a:rect l="l" t="t" r="r" b="b"/>
                  <a:pathLst>
                    <a:path w="23812" h="23812">
                      <a:moveTo>
                        <a:pt x="0" y="0"/>
                      </a:moveTo>
                      <a:lnTo>
                        <a:pt x="0" y="19050"/>
                      </a:lnTo>
                      <a:cubicBezTo>
                        <a:pt x="0" y="21680"/>
                        <a:pt x="2132" y="23812"/>
                        <a:pt x="4762" y="23812"/>
                      </a:cubicBezTo>
                      <a:lnTo>
                        <a:pt x="23812" y="23812"/>
                      </a:lnTo>
                    </a:path>
                  </a:pathLst>
                </a:custGeom>
                <a:noFill/>
                <a:ln w="9525">
                  <a:solidFill>
                    <a:srgbClr val="FFFFFF"/>
                  </a:solidFill>
                </a:ln>
              </p:spPr>
            </p:sp>
            <p:sp>
              <p:nvSpPr>
                <p:cNvPr id="92" name="Freeform 92"/>
                <p:cNvSpPr/>
                <p:nvPr/>
              </p:nvSpPr>
              <p:spPr>
                <a:xfrm>
                  <a:off x="6034088" y="2424112"/>
                  <a:ext cx="66675" cy="85725"/>
                </a:xfrm>
                <a:custGeom>
                  <a:avLst/>
                  <a:gdLst/>
                  <a:ahLst/>
                  <a:cxnLst/>
                  <a:rect l="l" t="t" r="r" b="b"/>
                  <a:pathLst>
                    <a:path w="66675" h="85725">
                      <a:moveTo>
                        <a:pt x="57150" y="85725"/>
                      </a:moveTo>
                      <a:lnTo>
                        <a:pt x="9525" y="85725"/>
                      </a:lnTo>
                      <a:cubicBezTo>
                        <a:pt x="4264" y="85725"/>
                        <a:pt x="0" y="81461"/>
                        <a:pt x="0" y="76200"/>
                      </a:cubicBezTo>
                      <a:lnTo>
                        <a:pt x="0" y="9525"/>
                      </a:lnTo>
                      <a:cubicBezTo>
                        <a:pt x="0" y="4264"/>
                        <a:pt x="4264" y="0"/>
                        <a:pt x="9525" y="0"/>
                      </a:cubicBezTo>
                      <a:lnTo>
                        <a:pt x="42862" y="0"/>
                      </a:lnTo>
                      <a:lnTo>
                        <a:pt x="66675" y="23812"/>
                      </a:lnTo>
                      <a:lnTo>
                        <a:pt x="66675" y="76200"/>
                      </a:lnTo>
                      <a:cubicBezTo>
                        <a:pt x="66675" y="81461"/>
                        <a:pt x="62411" y="85725"/>
                        <a:pt x="57150" y="85725"/>
                      </a:cubicBezTo>
                    </a:path>
                  </a:pathLst>
                </a:custGeom>
                <a:noFill/>
                <a:ln w="9525">
                  <a:solidFill>
                    <a:srgbClr val="FFFFFF"/>
                  </a:solidFill>
                </a:ln>
              </p:spPr>
            </p:sp>
            <p:sp>
              <p:nvSpPr>
                <p:cNvPr id="93" name="Freeform 93"/>
                <p:cNvSpPr/>
                <p:nvPr/>
              </p:nvSpPr>
              <p:spPr>
                <a:xfrm>
                  <a:off x="6053138" y="2452688"/>
                  <a:ext cx="9525" cy="9525"/>
                </a:xfrm>
                <a:custGeom>
                  <a:avLst/>
                  <a:gdLst/>
                  <a:ahLst/>
                  <a:cxnLst/>
                  <a:rect l="l" t="t" r="r" b="b"/>
                  <a:pathLst>
                    <a:path w="9525" h="9525">
                      <a:moveTo>
                        <a:pt x="0" y="0"/>
                      </a:moveTo>
                      <a:lnTo>
                        <a:pt x="4762" y="0"/>
                      </a:lnTo>
                    </a:path>
                  </a:pathLst>
                </a:custGeom>
                <a:noFill/>
                <a:ln w="9525">
                  <a:solidFill>
                    <a:srgbClr val="FFFFFF"/>
                  </a:solidFill>
                </a:ln>
              </p:spPr>
            </p:sp>
            <p:sp>
              <p:nvSpPr>
                <p:cNvPr id="94" name="Freeform 94"/>
                <p:cNvSpPr/>
                <p:nvPr/>
              </p:nvSpPr>
              <p:spPr>
                <a:xfrm>
                  <a:off x="6053138" y="2471738"/>
                  <a:ext cx="28575" cy="9525"/>
                </a:xfrm>
                <a:custGeom>
                  <a:avLst/>
                  <a:gdLst/>
                  <a:ahLst/>
                  <a:cxnLst/>
                  <a:rect l="l" t="t" r="r" b="b"/>
                  <a:pathLst>
                    <a:path w="28575" h="9525">
                      <a:moveTo>
                        <a:pt x="0" y="0"/>
                      </a:moveTo>
                      <a:lnTo>
                        <a:pt x="28575" y="0"/>
                      </a:lnTo>
                    </a:path>
                  </a:pathLst>
                </a:custGeom>
                <a:noFill/>
                <a:ln w="9525">
                  <a:solidFill>
                    <a:srgbClr val="FFFFFF"/>
                  </a:solidFill>
                </a:ln>
              </p:spPr>
            </p:sp>
            <p:sp>
              <p:nvSpPr>
                <p:cNvPr id="95" name="Freeform 95"/>
                <p:cNvSpPr/>
                <p:nvPr/>
              </p:nvSpPr>
              <p:spPr>
                <a:xfrm>
                  <a:off x="6053138" y="2490788"/>
                  <a:ext cx="28575" cy="9525"/>
                </a:xfrm>
                <a:custGeom>
                  <a:avLst/>
                  <a:gdLst/>
                  <a:ahLst/>
                  <a:cxnLst/>
                  <a:rect l="l" t="t" r="r" b="b"/>
                  <a:pathLst>
                    <a:path w="28575" h="9525">
                      <a:moveTo>
                        <a:pt x="0" y="0"/>
                      </a:moveTo>
                      <a:lnTo>
                        <a:pt x="28575" y="0"/>
                      </a:lnTo>
                    </a:path>
                  </a:pathLst>
                </a:custGeom>
                <a:noFill/>
                <a:ln w="9525">
                  <a:solidFill>
                    <a:srgbClr val="FFFFFF"/>
                  </a:solidFill>
                </a:ln>
              </p:spPr>
            </p:sp>
          </p:grpSp>
          <p:sp>
            <p:nvSpPr>
              <p:cNvPr id="97" name="TextBox 97"/>
              <p:cNvSpPr txBox="1"/>
              <p:nvPr/>
            </p:nvSpPr>
            <p:spPr>
              <a:xfrm>
                <a:off x="5890349" y="25886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知识补齐</a:t>
                </a:r>
              </a:p>
            </p:txBody>
          </p:sp>
          <p:grpSp>
            <p:nvGrpSpPr>
              <p:cNvPr id="101" name="Group 101"/>
              <p:cNvGrpSpPr/>
              <p:nvPr/>
            </p:nvGrpSpPr>
            <p:grpSpPr>
              <a:xfrm>
                <a:off x="5769302" y="3033712"/>
                <a:ext cx="81886" cy="85202"/>
                <a:chOff x="5769302" y="3033712"/>
                <a:chExt cx="81886" cy="85202"/>
              </a:xfrm>
            </p:grpSpPr>
            <p:sp>
              <p:nvSpPr>
                <p:cNvPr id="98" name="Freeform 98"/>
                <p:cNvSpPr/>
                <p:nvPr/>
              </p:nvSpPr>
              <p:spPr>
                <a:xfrm>
                  <a:off x="5781675" y="30337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9525">
                  <a:solidFill>
                    <a:srgbClr val="FFFFFF"/>
                  </a:solidFill>
                </a:ln>
              </p:spPr>
            </p:sp>
            <p:sp>
              <p:nvSpPr>
                <p:cNvPr id="99" name="Freeform 99"/>
                <p:cNvSpPr/>
                <p:nvPr/>
              </p:nvSpPr>
              <p:spPr>
                <a:xfrm>
                  <a:off x="5810250" y="3076575"/>
                  <a:ext cx="40938" cy="42339"/>
                </a:xfrm>
                <a:custGeom>
                  <a:avLst/>
                  <a:gdLst/>
                  <a:ahLst/>
                  <a:cxnLst/>
                  <a:rect l="l" t="t" r="r" b="b"/>
                  <a:pathLst>
                    <a:path w="40938" h="42339">
                      <a:moveTo>
                        <a:pt x="0" y="14288"/>
                      </a:moveTo>
                      <a:lnTo>
                        <a:pt x="16193" y="42339"/>
                      </a:lnTo>
                      <a:lnTo>
                        <a:pt x="23803" y="26941"/>
                      </a:lnTo>
                      <a:lnTo>
                        <a:pt x="40938" y="28046"/>
                      </a:lnTo>
                      <a:lnTo>
                        <a:pt x="24746" y="0"/>
                      </a:lnTo>
                    </a:path>
                  </a:pathLst>
                </a:custGeom>
                <a:noFill/>
                <a:ln w="9525">
                  <a:solidFill>
                    <a:srgbClr val="FFFFFF"/>
                  </a:solidFill>
                </a:ln>
              </p:spPr>
            </p:sp>
            <p:sp>
              <p:nvSpPr>
                <p:cNvPr id="100" name="Freeform 100"/>
                <p:cNvSpPr/>
                <p:nvPr/>
              </p:nvSpPr>
              <p:spPr>
                <a:xfrm>
                  <a:off x="5769302" y="3076575"/>
                  <a:ext cx="40938" cy="42334"/>
                </a:xfrm>
                <a:custGeom>
                  <a:avLst/>
                  <a:gdLst/>
                  <a:ahLst/>
                  <a:cxnLst/>
                  <a:rect l="l" t="t" r="r" b="b"/>
                  <a:pathLst>
                    <a:path w="40938" h="42334">
                      <a:moveTo>
                        <a:pt x="16192" y="0"/>
                      </a:moveTo>
                      <a:lnTo>
                        <a:pt x="0" y="28051"/>
                      </a:lnTo>
                      <a:lnTo>
                        <a:pt x="17135" y="26941"/>
                      </a:lnTo>
                      <a:lnTo>
                        <a:pt x="24746" y="42334"/>
                      </a:lnTo>
                      <a:lnTo>
                        <a:pt x="40938" y="14288"/>
                      </a:lnTo>
                    </a:path>
                  </a:pathLst>
                </a:custGeom>
                <a:noFill/>
                <a:ln w="9525">
                  <a:solidFill>
                    <a:srgbClr val="FFFFFF"/>
                  </a:solidFill>
                </a:ln>
              </p:spPr>
            </p:sp>
          </p:grpSp>
          <p:sp>
            <p:nvSpPr>
              <p:cNvPr id="102" name="TextBox 102"/>
              <p:cNvSpPr txBox="1"/>
              <p:nvPr/>
            </p:nvSpPr>
            <p:spPr>
              <a:xfrm>
                <a:off x="5633174" y="31982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质量提升</a:t>
                </a:r>
              </a:p>
            </p:txBody>
          </p:sp>
          <p:grpSp>
            <p:nvGrpSpPr>
              <p:cNvPr id="105" name="Group 105"/>
              <p:cNvGrpSpPr/>
              <p:nvPr/>
            </p:nvGrpSpPr>
            <p:grpSpPr>
              <a:xfrm>
                <a:off x="5157788" y="3290888"/>
                <a:ext cx="85725" cy="85725"/>
                <a:chOff x="5157788" y="3290888"/>
                <a:chExt cx="85725" cy="85725"/>
              </a:xfrm>
            </p:grpSpPr>
            <p:sp>
              <p:nvSpPr>
                <p:cNvPr id="103" name="Freeform 103"/>
                <p:cNvSpPr/>
                <p:nvPr/>
              </p:nvSpPr>
              <p:spPr>
                <a:xfrm>
                  <a:off x="5157788" y="3290888"/>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9525">
                  <a:solidFill>
                    <a:srgbClr val="FFFFFF"/>
                  </a:solidFill>
                </a:ln>
              </p:spPr>
            </p:sp>
            <p:sp>
              <p:nvSpPr>
                <p:cNvPr id="104" name="Freeform 104"/>
                <p:cNvSpPr/>
                <p:nvPr/>
              </p:nvSpPr>
              <p:spPr>
                <a:xfrm>
                  <a:off x="5214938" y="3348038"/>
                  <a:ext cx="28575" cy="28575"/>
                </a:xfrm>
                <a:custGeom>
                  <a:avLst/>
                  <a:gdLst/>
                  <a:ahLst/>
                  <a:cxnLst/>
                  <a:rect l="l" t="t" r="r" b="b"/>
                  <a:pathLst>
                    <a:path w="28575" h="28575">
                      <a:moveTo>
                        <a:pt x="28575" y="28575"/>
                      </a:moveTo>
                      <a:lnTo>
                        <a:pt x="0" y="0"/>
                      </a:lnTo>
                    </a:path>
                  </a:pathLst>
                </a:custGeom>
                <a:noFill/>
                <a:ln w="9525">
                  <a:solidFill>
                    <a:srgbClr val="FFFFFF"/>
                  </a:solidFill>
                </a:ln>
              </p:spPr>
            </p:sp>
          </p:grpSp>
          <p:sp>
            <p:nvSpPr>
              <p:cNvPr id="106" name="TextBox 106"/>
              <p:cNvSpPr txBox="1"/>
              <p:nvPr/>
            </p:nvSpPr>
            <p:spPr>
              <a:xfrm>
                <a:off x="5023574" y="34554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检索更准</a:t>
                </a:r>
              </a:p>
            </p:txBody>
          </p:sp>
          <p:grpSp>
            <p:nvGrpSpPr>
              <p:cNvPr id="109" name="Group 109"/>
              <p:cNvGrpSpPr/>
              <p:nvPr/>
            </p:nvGrpSpPr>
            <p:grpSpPr>
              <a:xfrm>
                <a:off x="4541760" y="3033712"/>
                <a:ext cx="93003" cy="85726"/>
                <a:chOff x="4541760" y="3033712"/>
                <a:chExt cx="93003" cy="85726"/>
              </a:xfrm>
            </p:grpSpPr>
            <p:sp>
              <p:nvSpPr>
                <p:cNvPr id="107" name="Freeform 107"/>
                <p:cNvSpPr/>
                <p:nvPr/>
              </p:nvSpPr>
              <p:spPr>
                <a:xfrm>
                  <a:off x="4541760" y="3033712"/>
                  <a:ext cx="93003" cy="84992"/>
                </a:xfrm>
                <a:custGeom>
                  <a:avLst/>
                  <a:gdLst/>
                  <a:ahLst/>
                  <a:cxnLst/>
                  <a:rect l="l" t="t" r="r" b="b"/>
                  <a:pathLst>
                    <a:path w="93003" h="84992">
                      <a:moveTo>
                        <a:pt x="46718" y="84992"/>
                      </a:moveTo>
                      <a:cubicBezTo>
                        <a:pt x="16883" y="75743"/>
                        <a:pt x="0" y="44255"/>
                        <a:pt x="8808" y="14288"/>
                      </a:cubicBezTo>
                      <a:cubicBezTo>
                        <a:pt x="23646" y="14966"/>
                        <a:pt x="38165" y="9842"/>
                        <a:pt x="49290" y="0"/>
                      </a:cubicBezTo>
                      <a:cubicBezTo>
                        <a:pt x="60414" y="9842"/>
                        <a:pt x="74933" y="14966"/>
                        <a:pt x="89771" y="14288"/>
                      </a:cubicBezTo>
                      <a:cubicBezTo>
                        <a:pt x="93003" y="25285"/>
                        <a:pt x="92854" y="37000"/>
                        <a:pt x="89342" y="47911"/>
                      </a:cubicBezTo>
                    </a:path>
                  </a:pathLst>
                </a:custGeom>
                <a:noFill/>
                <a:ln w="9525">
                  <a:solidFill>
                    <a:srgbClr val="FFFFFF"/>
                  </a:solidFill>
                </a:ln>
              </p:spPr>
            </p:sp>
            <p:sp>
              <p:nvSpPr>
                <p:cNvPr id="108" name="Freeform 108"/>
                <p:cNvSpPr/>
                <p:nvPr/>
              </p:nvSpPr>
              <p:spPr>
                <a:xfrm>
                  <a:off x="4605338" y="3100388"/>
                  <a:ext cx="28575" cy="19050"/>
                </a:xfrm>
                <a:custGeom>
                  <a:avLst/>
                  <a:gdLst/>
                  <a:ahLst/>
                  <a:cxnLst/>
                  <a:rect l="l" t="t" r="r" b="b"/>
                  <a:pathLst>
                    <a:path w="28575" h="19050">
                      <a:moveTo>
                        <a:pt x="0" y="9525"/>
                      </a:moveTo>
                      <a:lnTo>
                        <a:pt x="9525" y="19050"/>
                      </a:lnTo>
                      <a:lnTo>
                        <a:pt x="28575" y="0"/>
                      </a:lnTo>
                    </a:path>
                  </a:pathLst>
                </a:custGeom>
                <a:noFill/>
                <a:ln w="9525">
                  <a:solidFill>
                    <a:srgbClr val="FFFFFF"/>
                  </a:solidFill>
                </a:ln>
              </p:spPr>
            </p:sp>
          </p:grpSp>
          <p:sp>
            <p:nvSpPr>
              <p:cNvPr id="110" name="TextBox 110"/>
              <p:cNvSpPr txBox="1"/>
              <p:nvPr/>
            </p:nvSpPr>
            <p:spPr>
              <a:xfrm>
                <a:off x="4413974" y="31982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答案可信</a:t>
                </a:r>
              </a:p>
            </p:txBody>
          </p:sp>
          <p:grpSp>
            <p:nvGrpSpPr>
              <p:cNvPr id="113" name="Group 113"/>
              <p:cNvGrpSpPr/>
              <p:nvPr/>
            </p:nvGrpSpPr>
            <p:grpSpPr>
              <a:xfrm>
                <a:off x="4291012" y="2424112"/>
                <a:ext cx="85725" cy="85725"/>
                <a:chOff x="4291012" y="2424112"/>
                <a:chExt cx="85725" cy="85725"/>
              </a:xfrm>
            </p:grpSpPr>
            <p:sp>
              <p:nvSpPr>
                <p:cNvPr id="111" name="Freeform 111"/>
                <p:cNvSpPr/>
                <p:nvPr/>
              </p:nvSpPr>
              <p:spPr>
                <a:xfrm>
                  <a:off x="4291012" y="2424112"/>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FFFFFF"/>
                  </a:solidFill>
                </a:ln>
              </p:spPr>
            </p:sp>
            <p:sp>
              <p:nvSpPr>
                <p:cNvPr id="112" name="Freeform 112"/>
                <p:cNvSpPr/>
                <p:nvPr/>
              </p:nvSpPr>
              <p:spPr>
                <a:xfrm>
                  <a:off x="4319588" y="2457450"/>
                  <a:ext cx="28575" cy="19050"/>
                </a:xfrm>
                <a:custGeom>
                  <a:avLst/>
                  <a:gdLst/>
                  <a:ahLst/>
                  <a:cxnLst/>
                  <a:rect l="l" t="t" r="r" b="b"/>
                  <a:pathLst>
                    <a:path w="28575" h="19050">
                      <a:moveTo>
                        <a:pt x="0" y="9525"/>
                      </a:moveTo>
                      <a:lnTo>
                        <a:pt x="9525" y="19050"/>
                      </a:lnTo>
                      <a:lnTo>
                        <a:pt x="28575" y="0"/>
                      </a:lnTo>
                    </a:path>
                  </a:pathLst>
                </a:custGeom>
                <a:noFill/>
                <a:ln w="9525">
                  <a:solidFill>
                    <a:srgbClr val="FFFFFF"/>
                  </a:solidFill>
                </a:ln>
              </p:spPr>
            </p:sp>
          </p:grpSp>
          <p:sp>
            <p:nvSpPr>
              <p:cNvPr id="114" name="TextBox 114"/>
              <p:cNvSpPr txBox="1"/>
              <p:nvPr/>
            </p:nvSpPr>
            <p:spPr>
              <a:xfrm>
                <a:off x="4156799" y="25886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任务完成</a:t>
                </a:r>
              </a:p>
            </p:txBody>
          </p:sp>
          <p:grpSp>
            <p:nvGrpSpPr>
              <p:cNvPr id="121" name="Group 121"/>
              <p:cNvGrpSpPr/>
              <p:nvPr/>
            </p:nvGrpSpPr>
            <p:grpSpPr>
              <a:xfrm>
                <a:off x="4548188" y="1814512"/>
                <a:ext cx="85724" cy="85726"/>
                <a:chOff x="4548188" y="1814512"/>
                <a:chExt cx="85724" cy="85726"/>
              </a:xfrm>
            </p:grpSpPr>
            <p:sp>
              <p:nvSpPr>
                <p:cNvPr id="115" name="Freeform 115"/>
                <p:cNvSpPr/>
                <p:nvPr/>
              </p:nvSpPr>
              <p:spPr>
                <a:xfrm>
                  <a:off x="4581525" y="1852612"/>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FFFFFF"/>
                  </a:solidFill>
                </a:ln>
              </p:spPr>
            </p:sp>
            <p:sp>
              <p:nvSpPr>
                <p:cNvPr id="116" name="Freeform 116"/>
                <p:cNvSpPr/>
                <p:nvPr/>
              </p:nvSpPr>
              <p:spPr>
                <a:xfrm>
                  <a:off x="4572000" y="1885950"/>
                  <a:ext cx="38100" cy="14288"/>
                </a:xfrm>
                <a:custGeom>
                  <a:avLst/>
                  <a:gdLst/>
                  <a:ahLst/>
                  <a:cxnLst/>
                  <a:rect l="l" t="t" r="r" b="b"/>
                  <a:pathLst>
                    <a:path w="38100" h="14288">
                      <a:moveTo>
                        <a:pt x="0" y="14288"/>
                      </a:moveTo>
                      <a:lnTo>
                        <a:pt x="0" y="9525"/>
                      </a:lnTo>
                      <a:cubicBezTo>
                        <a:pt x="0" y="4264"/>
                        <a:pt x="4264" y="0"/>
                        <a:pt x="9525" y="0"/>
                      </a:cubicBezTo>
                      <a:lnTo>
                        <a:pt x="28575" y="0"/>
                      </a:lnTo>
                      <a:cubicBezTo>
                        <a:pt x="33836" y="0"/>
                        <a:pt x="38100" y="4264"/>
                        <a:pt x="38100" y="9525"/>
                      </a:cubicBezTo>
                      <a:lnTo>
                        <a:pt x="38100" y="14288"/>
                      </a:lnTo>
                    </a:path>
                  </a:pathLst>
                </a:custGeom>
                <a:noFill/>
                <a:ln w="9525">
                  <a:solidFill>
                    <a:srgbClr val="FFFFFF"/>
                  </a:solidFill>
                </a:ln>
              </p:spPr>
            </p:sp>
            <p:sp>
              <p:nvSpPr>
                <p:cNvPr id="117" name="Freeform 117"/>
                <p:cNvSpPr/>
                <p:nvPr/>
              </p:nvSpPr>
              <p:spPr>
                <a:xfrm>
                  <a:off x="4605338" y="1814512"/>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FFFFFF"/>
                  </a:solidFill>
                </a:ln>
              </p:spPr>
            </p:sp>
            <p:sp>
              <p:nvSpPr>
                <p:cNvPr id="118" name="Freeform 118"/>
                <p:cNvSpPr/>
                <p:nvPr/>
              </p:nvSpPr>
              <p:spPr>
                <a:xfrm>
                  <a:off x="4614862" y="1847850"/>
                  <a:ext cx="19050" cy="14288"/>
                </a:xfrm>
                <a:custGeom>
                  <a:avLst/>
                  <a:gdLst/>
                  <a:ahLst/>
                  <a:cxnLst/>
                  <a:rect l="l" t="t" r="r" b="b"/>
                  <a:pathLst>
                    <a:path w="19050" h="14288">
                      <a:moveTo>
                        <a:pt x="0" y="0"/>
                      </a:moveTo>
                      <a:lnTo>
                        <a:pt x="9525" y="0"/>
                      </a:lnTo>
                      <a:cubicBezTo>
                        <a:pt x="14786" y="0"/>
                        <a:pt x="19050" y="4264"/>
                        <a:pt x="19050" y="9525"/>
                      </a:cubicBezTo>
                      <a:lnTo>
                        <a:pt x="19050" y="14288"/>
                      </a:lnTo>
                    </a:path>
                  </a:pathLst>
                </a:custGeom>
                <a:noFill/>
                <a:ln w="9525">
                  <a:solidFill>
                    <a:srgbClr val="FFFFFF"/>
                  </a:solidFill>
                </a:ln>
              </p:spPr>
            </p:sp>
            <p:sp>
              <p:nvSpPr>
                <p:cNvPr id="119" name="Freeform 119"/>
                <p:cNvSpPr/>
                <p:nvPr/>
              </p:nvSpPr>
              <p:spPr>
                <a:xfrm>
                  <a:off x="4557712" y="1814512"/>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FFFFFF"/>
                  </a:solidFill>
                </a:ln>
              </p:spPr>
            </p:sp>
            <p:sp>
              <p:nvSpPr>
                <p:cNvPr id="120" name="Freeform 120"/>
                <p:cNvSpPr/>
                <p:nvPr/>
              </p:nvSpPr>
              <p:spPr>
                <a:xfrm>
                  <a:off x="4548188" y="1847850"/>
                  <a:ext cx="19050" cy="14288"/>
                </a:xfrm>
                <a:custGeom>
                  <a:avLst/>
                  <a:gdLst/>
                  <a:ahLst/>
                  <a:cxnLst/>
                  <a:rect l="l" t="t" r="r" b="b"/>
                  <a:pathLst>
                    <a:path w="19050" h="14288">
                      <a:moveTo>
                        <a:pt x="0" y="14288"/>
                      </a:moveTo>
                      <a:lnTo>
                        <a:pt x="0" y="9525"/>
                      </a:lnTo>
                      <a:cubicBezTo>
                        <a:pt x="0" y="4264"/>
                        <a:pt x="4264" y="0"/>
                        <a:pt x="9525" y="0"/>
                      </a:cubicBezTo>
                      <a:lnTo>
                        <a:pt x="19050" y="0"/>
                      </a:lnTo>
                    </a:path>
                  </a:pathLst>
                </a:custGeom>
                <a:noFill/>
                <a:ln w="9525">
                  <a:solidFill>
                    <a:srgbClr val="FFFFFF"/>
                  </a:solidFill>
                </a:ln>
              </p:spPr>
            </p:sp>
          </p:grpSp>
          <p:sp>
            <p:nvSpPr>
              <p:cNvPr id="122" name="TextBox 122"/>
              <p:cNvSpPr txBox="1"/>
              <p:nvPr/>
            </p:nvSpPr>
            <p:spPr>
              <a:xfrm>
                <a:off x="4360126" y="1987153"/>
                <a:ext cx="461848"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更多业务使用</a:t>
                </a:r>
              </a:p>
            </p:txBody>
          </p:sp>
        </p:grpSp>
        <p:grpSp>
          <p:nvGrpSpPr>
            <p:cNvPr id="130" name="fw-core"/>
            <p:cNvGrpSpPr/>
            <p:nvPr/>
          </p:nvGrpSpPr>
          <p:grpSpPr>
            <a:xfrm>
              <a:off x="4705350" y="2076450"/>
              <a:ext cx="990600" cy="990600"/>
              <a:chOff x="4705350" y="2076450"/>
              <a:chExt cx="990600" cy="990600"/>
            </a:xfrm>
          </p:grpSpPr>
          <p:sp>
            <p:nvSpPr>
              <p:cNvPr id="124" name="Ellipse 124"/>
              <p:cNvSpPr/>
              <p:nvPr/>
            </p:nvSpPr>
            <p:spPr>
              <a:xfrm>
                <a:off x="4705350" y="2076450"/>
                <a:ext cx="990600" cy="990600"/>
              </a:xfrm>
              <a:prstGeom prst="ellipse">
                <a:avLst/>
              </a:prstGeom>
              <a:solidFill>
                <a:srgbClr val="FFFFFF"/>
              </a:solidFill>
              <a:ln w="14288">
                <a:solidFill>
                  <a:srgbClr val="BE776A"/>
                </a:solidFill>
                <a:custDash>
                  <a:ds d="266667" sp="200000"/>
                </a:custDash>
              </a:ln>
            </p:spPr>
          </p:sp>
          <p:grpSp>
            <p:nvGrpSpPr>
              <p:cNvPr id="128" name="Group 128"/>
              <p:cNvGrpSpPr/>
              <p:nvPr/>
            </p:nvGrpSpPr>
            <p:grpSpPr>
              <a:xfrm>
                <a:off x="5107781" y="2316956"/>
                <a:ext cx="185737" cy="185737"/>
                <a:chOff x="5107781" y="2316956"/>
                <a:chExt cx="185737" cy="185737"/>
              </a:xfrm>
            </p:grpSpPr>
            <p:sp>
              <p:nvSpPr>
                <p:cNvPr id="125" name="Freeform 125"/>
                <p:cNvSpPr/>
                <p:nvPr/>
              </p:nvSpPr>
              <p:spPr>
                <a:xfrm>
                  <a:off x="5107781" y="2316956"/>
                  <a:ext cx="185737" cy="92868"/>
                </a:xfrm>
                <a:custGeom>
                  <a:avLst/>
                  <a:gdLst/>
                  <a:ahLst/>
                  <a:cxnLst/>
                  <a:rect l="l" t="t" r="r" b="b"/>
                  <a:pathLst>
                    <a:path w="185737" h="92868">
                      <a:moveTo>
                        <a:pt x="0" y="92868"/>
                      </a:moveTo>
                      <a:lnTo>
                        <a:pt x="10319" y="92868"/>
                      </a:lnTo>
                      <a:moveTo>
                        <a:pt x="92868" y="0"/>
                      </a:moveTo>
                      <a:lnTo>
                        <a:pt x="92868" y="10319"/>
                      </a:lnTo>
                      <a:moveTo>
                        <a:pt x="175418" y="92868"/>
                      </a:moveTo>
                      <a:lnTo>
                        <a:pt x="185737" y="92868"/>
                      </a:lnTo>
                      <a:moveTo>
                        <a:pt x="26829" y="26829"/>
                      </a:moveTo>
                      <a:lnTo>
                        <a:pt x="34052" y="34052"/>
                      </a:lnTo>
                      <a:moveTo>
                        <a:pt x="158908" y="26829"/>
                      </a:moveTo>
                      <a:lnTo>
                        <a:pt x="151685" y="34052"/>
                      </a:lnTo>
                    </a:path>
                  </a:pathLst>
                </a:custGeom>
                <a:noFill/>
                <a:ln w="20637">
                  <a:solidFill>
                    <a:srgbClr val="7C3B2F"/>
                  </a:solidFill>
                </a:ln>
              </p:spPr>
            </p:sp>
            <p:sp>
              <p:nvSpPr>
                <p:cNvPr id="126" name="Freeform 126"/>
                <p:cNvSpPr/>
                <p:nvPr/>
              </p:nvSpPr>
              <p:spPr>
                <a:xfrm>
                  <a:off x="5144681" y="2358231"/>
                  <a:ext cx="111937" cy="144462"/>
                </a:xfrm>
                <a:custGeom>
                  <a:avLst/>
                  <a:gdLst/>
                  <a:ahLst/>
                  <a:cxnLst/>
                  <a:rect l="l" t="t" r="r" b="b"/>
                  <a:pathLst>
                    <a:path w="111937" h="144462">
                      <a:moveTo>
                        <a:pt x="25012" y="92868"/>
                      </a:moveTo>
                      <a:cubicBezTo>
                        <a:pt x="7246" y="79544"/>
                        <a:pt x="0" y="56346"/>
                        <a:pt x="7023" y="35278"/>
                      </a:cubicBezTo>
                      <a:cubicBezTo>
                        <a:pt x="14045" y="14210"/>
                        <a:pt x="33761" y="0"/>
                        <a:pt x="55969" y="0"/>
                      </a:cubicBezTo>
                      <a:cubicBezTo>
                        <a:pt x="78176" y="0"/>
                        <a:pt x="97892" y="14210"/>
                        <a:pt x="104915" y="35278"/>
                      </a:cubicBezTo>
                      <a:cubicBezTo>
                        <a:pt x="111937" y="56346"/>
                        <a:pt x="104691" y="79544"/>
                        <a:pt x="86925" y="92868"/>
                      </a:cubicBezTo>
                      <a:cubicBezTo>
                        <a:pt x="78754" y="100957"/>
                        <a:pt x="74922" y="112452"/>
                        <a:pt x="76606" y="123825"/>
                      </a:cubicBezTo>
                      <a:cubicBezTo>
                        <a:pt x="76606" y="135222"/>
                        <a:pt x="67366" y="144462"/>
                        <a:pt x="55969" y="144462"/>
                      </a:cubicBezTo>
                      <a:cubicBezTo>
                        <a:pt x="44571" y="144462"/>
                        <a:pt x="35331" y="135222"/>
                        <a:pt x="35331" y="123825"/>
                      </a:cubicBezTo>
                      <a:cubicBezTo>
                        <a:pt x="37015" y="112452"/>
                        <a:pt x="33183" y="100957"/>
                        <a:pt x="25012" y="92868"/>
                      </a:cubicBezTo>
                    </a:path>
                  </a:pathLst>
                </a:custGeom>
                <a:noFill/>
                <a:ln w="20637">
                  <a:solidFill>
                    <a:srgbClr val="7C3B2F"/>
                  </a:solidFill>
                </a:ln>
              </p:spPr>
            </p:sp>
            <p:sp>
              <p:nvSpPr>
                <p:cNvPr id="127" name="Freeform 127"/>
                <p:cNvSpPr/>
                <p:nvPr/>
              </p:nvSpPr>
              <p:spPr>
                <a:xfrm>
                  <a:off x="5176917" y="2461418"/>
                  <a:ext cx="47466" cy="9525"/>
                </a:xfrm>
                <a:custGeom>
                  <a:avLst/>
                  <a:gdLst/>
                  <a:ahLst/>
                  <a:cxnLst/>
                  <a:rect l="l" t="t" r="r" b="b"/>
                  <a:pathLst>
                    <a:path w="47466" h="9525">
                      <a:moveTo>
                        <a:pt x="0" y="0"/>
                      </a:moveTo>
                      <a:lnTo>
                        <a:pt x="47466" y="0"/>
                      </a:lnTo>
                    </a:path>
                  </a:pathLst>
                </a:custGeom>
                <a:noFill/>
                <a:ln w="20637">
                  <a:solidFill>
                    <a:srgbClr val="7C3B2F"/>
                  </a:solidFill>
                </a:ln>
              </p:spPr>
            </p:sp>
          </p:grpSp>
          <p:sp>
            <p:nvSpPr>
              <p:cNvPr id="129" name="TextBox 129"/>
              <p:cNvSpPr txBox="1"/>
              <p:nvPr/>
            </p:nvSpPr>
            <p:spPr>
              <a:xfrm>
                <a:off x="4864722" y="2673191"/>
                <a:ext cx="671855" cy="161925"/>
              </a:xfrm>
              <a:prstGeom prst="rect">
                <a:avLst/>
              </a:prstGeom>
              <a:noFill/>
              <a:ln>
                <a:noFill/>
              </a:ln>
            </p:spPr>
            <p:txBody>
              <a:bodyPr wrap="none" lIns="0" tIns="0" rIns="0" bIns="0" anchor="t" anchorCtr="0">
                <a:spAutoFit/>
              </a:bodyPr>
              <a:lstStyle/>
              <a:p>
                <a:pPr algn="ctr"/>
                <a:r>
                  <a:rPr lang="zh-CN" sz="820" b="1" dirty="0">
                    <a:solidFill>
                      <a:srgbClr val="42140B"/>
                    </a:solidFill>
                    <a:latin typeface="+mn-lt"/>
                    <a:ea typeface="+mn-ea"/>
                    <a:cs typeface="+mn-cs"/>
                  </a:rPr>
                  <a:t>企业知识智能</a:t>
                </a:r>
              </a:p>
            </p:txBody>
          </p:sp>
        </p:grpSp>
        <p:grpSp>
          <p:nvGrpSpPr>
            <p:cNvPr id="140" name="fw-card-scene"/>
            <p:cNvGrpSpPr/>
            <p:nvPr/>
          </p:nvGrpSpPr>
          <p:grpSpPr>
            <a:xfrm>
              <a:off x="2476500" y="1104900"/>
              <a:ext cx="1257300" cy="914400"/>
              <a:chOff x="2476500" y="1104900"/>
              <a:chExt cx="1257300" cy="914400"/>
            </a:xfrm>
          </p:grpSpPr>
          <p:sp>
            <p:nvSpPr>
              <p:cNvPr id="131" name="Rectangle 131"/>
              <p:cNvSpPr/>
              <p:nvPr/>
            </p:nvSpPr>
            <p:spPr>
              <a:xfrm>
                <a:off x="2476500" y="1104900"/>
                <a:ext cx="1257300" cy="914400"/>
              </a:xfrm>
              <a:prstGeom prst="roundRect">
                <a:avLst>
                  <a:gd name="adj" fmla="val 8333"/>
                </a:avLst>
              </a:prstGeom>
              <a:solidFill>
                <a:srgbClr val="F4F8EC"/>
              </a:solidFill>
              <a:ln w="9525">
                <a:solidFill>
                  <a:srgbClr val="D9E8C6"/>
                </a:solidFill>
              </a:ln>
            </p:spPr>
          </p:sp>
          <p:sp>
            <p:nvSpPr>
              <p:cNvPr id="132" name="Ellipse 132"/>
              <p:cNvSpPr/>
              <p:nvPr/>
            </p:nvSpPr>
            <p:spPr>
              <a:xfrm>
                <a:off x="2552700" y="1181100"/>
                <a:ext cx="266700" cy="266700"/>
              </a:xfrm>
              <a:prstGeom prst="ellipse">
                <a:avLst/>
              </a:prstGeom>
              <a:solidFill>
                <a:srgbClr val="FFFFFF"/>
              </a:solidFill>
              <a:ln w="9525">
                <a:solidFill>
                  <a:srgbClr val="BE776A"/>
                </a:solidFill>
              </a:ln>
            </p:spPr>
          </p:sp>
          <p:grpSp>
            <p:nvGrpSpPr>
              <p:cNvPr id="135" name="Group 135"/>
              <p:cNvGrpSpPr/>
              <p:nvPr/>
            </p:nvGrpSpPr>
            <p:grpSpPr>
              <a:xfrm>
                <a:off x="2641600" y="1257899"/>
                <a:ext cx="88900" cy="113701"/>
                <a:chOff x="2641600" y="1257899"/>
                <a:chExt cx="88900" cy="113701"/>
              </a:xfrm>
            </p:grpSpPr>
            <p:sp>
              <p:nvSpPr>
                <p:cNvPr id="133" name="Freeform 133"/>
                <p:cNvSpPr/>
                <p:nvPr/>
              </p:nvSpPr>
              <p:spPr>
                <a:xfrm>
                  <a:off x="2641600" y="1257899"/>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7C3B2F"/>
                  </a:solidFill>
                </a:ln>
              </p:spPr>
            </p:sp>
            <p:sp>
              <p:nvSpPr>
                <p:cNvPr id="134" name="Freeform 134"/>
                <p:cNvSpPr/>
                <p:nvPr/>
              </p:nvSpPr>
              <p:spPr>
                <a:xfrm>
                  <a:off x="2641600" y="1327150"/>
                  <a:ext cx="9525" cy="44450"/>
                </a:xfrm>
                <a:custGeom>
                  <a:avLst/>
                  <a:gdLst/>
                  <a:ahLst/>
                  <a:cxnLst/>
                  <a:rect l="l" t="t" r="r" b="b"/>
                  <a:pathLst>
                    <a:path w="9525" h="44450">
                      <a:moveTo>
                        <a:pt x="0" y="44450"/>
                      </a:moveTo>
                      <a:lnTo>
                        <a:pt x="0" y="0"/>
                      </a:lnTo>
                    </a:path>
                  </a:pathLst>
                </a:custGeom>
                <a:noFill/>
                <a:ln w="12700">
                  <a:solidFill>
                    <a:srgbClr val="7C3B2F"/>
                  </a:solidFill>
                </a:ln>
              </p:spPr>
            </p:sp>
          </p:grpSp>
          <p:sp>
            <p:nvSpPr>
              <p:cNvPr id="136" name="TextBox 136"/>
              <p:cNvSpPr txBox="1"/>
              <p:nvPr/>
            </p:nvSpPr>
            <p:spPr>
              <a:xfrm>
                <a:off x="2871788" y="126753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场景价值</a:t>
                </a:r>
              </a:p>
            </p:txBody>
          </p:sp>
          <p:sp>
            <p:nvSpPr>
              <p:cNvPr id="137" name="TextBox 137"/>
              <p:cNvSpPr txBox="1"/>
              <p:nvPr/>
            </p:nvSpPr>
            <p:spPr>
              <a:xfrm>
                <a:off x="2566988" y="15204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聚焦高价值场景</a:t>
                </a:r>
              </a:p>
            </p:txBody>
          </p:sp>
          <p:sp>
            <p:nvSpPr>
              <p:cNvPr id="138" name="TextBox 138"/>
              <p:cNvSpPr txBox="1"/>
              <p:nvPr/>
            </p:nvSpPr>
            <p:spPr>
              <a:xfrm>
                <a:off x="2566988" y="16728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量化业务收益</a:t>
                </a:r>
              </a:p>
            </p:txBody>
          </p:sp>
          <p:sp>
            <p:nvSpPr>
              <p:cNvPr id="139" name="TextBox 139"/>
              <p:cNvSpPr txBox="1"/>
              <p:nvPr/>
            </p:nvSpPr>
            <p:spPr>
              <a:xfrm>
                <a:off x="2566988" y="18252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持续复制推广</a:t>
                </a:r>
              </a:p>
            </p:txBody>
          </p:sp>
        </p:grpSp>
        <p:grpSp>
          <p:nvGrpSpPr>
            <p:cNvPr id="156" name="fw-card-gov"/>
            <p:cNvGrpSpPr/>
            <p:nvPr/>
          </p:nvGrpSpPr>
          <p:grpSpPr>
            <a:xfrm>
              <a:off x="6705600" y="1104900"/>
              <a:ext cx="1257300" cy="914400"/>
              <a:chOff x="6705600" y="1104900"/>
              <a:chExt cx="1257300" cy="914400"/>
            </a:xfrm>
          </p:grpSpPr>
          <p:sp>
            <p:nvSpPr>
              <p:cNvPr id="141" name="Rectangle 141"/>
              <p:cNvSpPr/>
              <p:nvPr/>
            </p:nvSpPr>
            <p:spPr>
              <a:xfrm>
                <a:off x="6705600" y="1104900"/>
                <a:ext cx="1257300" cy="914400"/>
              </a:xfrm>
              <a:prstGeom prst="roundRect">
                <a:avLst>
                  <a:gd name="adj" fmla="val 8333"/>
                </a:avLst>
              </a:prstGeom>
              <a:solidFill>
                <a:srgbClr val="F4F8EC"/>
              </a:solidFill>
              <a:ln w="9525">
                <a:solidFill>
                  <a:srgbClr val="D9E8C6"/>
                </a:solidFill>
              </a:ln>
            </p:spPr>
          </p:sp>
          <p:sp>
            <p:nvSpPr>
              <p:cNvPr id="142" name="Ellipse 142"/>
              <p:cNvSpPr/>
              <p:nvPr/>
            </p:nvSpPr>
            <p:spPr>
              <a:xfrm>
                <a:off x="6781800" y="1181100"/>
                <a:ext cx="266700" cy="266700"/>
              </a:xfrm>
              <a:prstGeom prst="ellipse">
                <a:avLst/>
              </a:prstGeom>
              <a:solidFill>
                <a:srgbClr val="FFFFFF"/>
              </a:solidFill>
              <a:ln w="9525">
                <a:solidFill>
                  <a:srgbClr val="BE776A"/>
                </a:solidFill>
              </a:ln>
            </p:spPr>
          </p:sp>
          <p:grpSp>
            <p:nvGrpSpPr>
              <p:cNvPr id="151" name="Group 151"/>
              <p:cNvGrpSpPr/>
              <p:nvPr/>
            </p:nvGrpSpPr>
            <p:grpSpPr>
              <a:xfrm>
                <a:off x="6858000" y="1257300"/>
                <a:ext cx="117475" cy="123825"/>
                <a:chOff x="6858000" y="1257300"/>
                <a:chExt cx="117475" cy="123825"/>
              </a:xfrm>
            </p:grpSpPr>
            <p:sp>
              <p:nvSpPr>
                <p:cNvPr id="143" name="Freeform 143"/>
                <p:cNvSpPr/>
                <p:nvPr/>
              </p:nvSpPr>
              <p:spPr>
                <a:xfrm>
                  <a:off x="6858000" y="1371600"/>
                  <a:ext cx="114300" cy="9525"/>
                </a:xfrm>
                <a:custGeom>
                  <a:avLst/>
                  <a:gdLst/>
                  <a:ahLst/>
                  <a:cxnLst/>
                  <a:rect l="l" t="t" r="r" b="b"/>
                  <a:pathLst>
                    <a:path w="114300" h="9525">
                      <a:moveTo>
                        <a:pt x="0" y="0"/>
                      </a:moveTo>
                      <a:lnTo>
                        <a:pt x="114300" y="0"/>
                      </a:lnTo>
                    </a:path>
                  </a:pathLst>
                </a:custGeom>
                <a:noFill/>
                <a:ln w="12700">
                  <a:solidFill>
                    <a:srgbClr val="7C3B2F"/>
                  </a:solidFill>
                </a:ln>
              </p:spPr>
            </p:sp>
            <p:sp>
              <p:nvSpPr>
                <p:cNvPr id="144" name="Freeform 144"/>
                <p:cNvSpPr/>
                <p:nvPr/>
              </p:nvSpPr>
              <p:spPr>
                <a:xfrm>
                  <a:off x="6858000" y="1301750"/>
                  <a:ext cx="114300" cy="9525"/>
                </a:xfrm>
                <a:custGeom>
                  <a:avLst/>
                  <a:gdLst/>
                  <a:ahLst/>
                  <a:cxnLst/>
                  <a:rect l="l" t="t" r="r" b="b"/>
                  <a:pathLst>
                    <a:path w="114300" h="9525">
                      <a:moveTo>
                        <a:pt x="0" y="0"/>
                      </a:moveTo>
                      <a:lnTo>
                        <a:pt x="114300" y="0"/>
                      </a:lnTo>
                    </a:path>
                  </a:pathLst>
                </a:custGeom>
                <a:noFill/>
                <a:ln w="12700">
                  <a:solidFill>
                    <a:srgbClr val="7C3B2F"/>
                  </a:solidFill>
                </a:ln>
              </p:spPr>
            </p:sp>
            <p:sp>
              <p:nvSpPr>
                <p:cNvPr id="145" name="Freeform 145"/>
                <p:cNvSpPr/>
                <p:nvPr/>
              </p:nvSpPr>
              <p:spPr>
                <a:xfrm>
                  <a:off x="6870700" y="1257300"/>
                  <a:ext cx="88900" cy="19050"/>
                </a:xfrm>
                <a:custGeom>
                  <a:avLst/>
                  <a:gdLst/>
                  <a:ahLst/>
                  <a:cxnLst/>
                  <a:rect l="l" t="t" r="r" b="b"/>
                  <a:pathLst>
                    <a:path w="88900" h="19050">
                      <a:moveTo>
                        <a:pt x="0" y="19050"/>
                      </a:moveTo>
                      <a:lnTo>
                        <a:pt x="44450" y="0"/>
                      </a:lnTo>
                      <a:lnTo>
                        <a:pt x="88900" y="19050"/>
                      </a:lnTo>
                    </a:path>
                  </a:pathLst>
                </a:custGeom>
                <a:noFill/>
                <a:ln w="12700">
                  <a:solidFill>
                    <a:srgbClr val="7C3B2F"/>
                  </a:solidFill>
                </a:ln>
              </p:spPr>
            </p:sp>
            <p:sp>
              <p:nvSpPr>
                <p:cNvPr id="146" name="Freeform 146"/>
                <p:cNvSpPr/>
                <p:nvPr/>
              </p:nvSpPr>
              <p:spPr>
                <a:xfrm>
                  <a:off x="6864350" y="1301750"/>
                  <a:ext cx="9525" cy="69850"/>
                </a:xfrm>
                <a:custGeom>
                  <a:avLst/>
                  <a:gdLst/>
                  <a:ahLst/>
                  <a:cxnLst/>
                  <a:rect l="l" t="t" r="r" b="b"/>
                  <a:pathLst>
                    <a:path w="9525" h="69850">
                      <a:moveTo>
                        <a:pt x="0" y="0"/>
                      </a:moveTo>
                      <a:lnTo>
                        <a:pt x="0" y="69850"/>
                      </a:lnTo>
                    </a:path>
                  </a:pathLst>
                </a:custGeom>
                <a:noFill/>
                <a:ln w="12700">
                  <a:solidFill>
                    <a:srgbClr val="7C3B2F"/>
                  </a:solidFill>
                </a:ln>
              </p:spPr>
            </p:sp>
            <p:sp>
              <p:nvSpPr>
                <p:cNvPr id="147" name="Freeform 147"/>
                <p:cNvSpPr/>
                <p:nvPr/>
              </p:nvSpPr>
              <p:spPr>
                <a:xfrm>
                  <a:off x="6965950" y="1301750"/>
                  <a:ext cx="9525" cy="69850"/>
                </a:xfrm>
                <a:custGeom>
                  <a:avLst/>
                  <a:gdLst/>
                  <a:ahLst/>
                  <a:cxnLst/>
                  <a:rect l="l" t="t" r="r" b="b"/>
                  <a:pathLst>
                    <a:path w="9525" h="69850">
                      <a:moveTo>
                        <a:pt x="0" y="0"/>
                      </a:moveTo>
                      <a:lnTo>
                        <a:pt x="0" y="69850"/>
                      </a:lnTo>
                    </a:path>
                  </a:pathLst>
                </a:custGeom>
                <a:noFill/>
                <a:ln w="12700">
                  <a:solidFill>
                    <a:srgbClr val="7C3B2F"/>
                  </a:solidFill>
                </a:ln>
              </p:spPr>
            </p:sp>
            <p:sp>
              <p:nvSpPr>
                <p:cNvPr id="148" name="Freeform 148"/>
                <p:cNvSpPr/>
                <p:nvPr/>
              </p:nvSpPr>
              <p:spPr>
                <a:xfrm>
                  <a:off x="6889750" y="1327150"/>
                  <a:ext cx="9525" cy="19050"/>
                </a:xfrm>
                <a:custGeom>
                  <a:avLst/>
                  <a:gdLst/>
                  <a:ahLst/>
                  <a:cxnLst/>
                  <a:rect l="l" t="t" r="r" b="b"/>
                  <a:pathLst>
                    <a:path w="9525" h="19050">
                      <a:moveTo>
                        <a:pt x="0" y="0"/>
                      </a:moveTo>
                      <a:lnTo>
                        <a:pt x="0" y="19050"/>
                      </a:lnTo>
                    </a:path>
                  </a:pathLst>
                </a:custGeom>
                <a:noFill/>
                <a:ln w="12700">
                  <a:solidFill>
                    <a:srgbClr val="7C3B2F"/>
                  </a:solidFill>
                </a:ln>
              </p:spPr>
            </p:sp>
            <p:sp>
              <p:nvSpPr>
                <p:cNvPr id="149" name="Freeform 149"/>
                <p:cNvSpPr/>
                <p:nvPr/>
              </p:nvSpPr>
              <p:spPr>
                <a:xfrm>
                  <a:off x="6915150" y="1327150"/>
                  <a:ext cx="9525" cy="19050"/>
                </a:xfrm>
                <a:custGeom>
                  <a:avLst/>
                  <a:gdLst/>
                  <a:ahLst/>
                  <a:cxnLst/>
                  <a:rect l="l" t="t" r="r" b="b"/>
                  <a:pathLst>
                    <a:path w="9525" h="19050">
                      <a:moveTo>
                        <a:pt x="0" y="0"/>
                      </a:moveTo>
                      <a:lnTo>
                        <a:pt x="0" y="19050"/>
                      </a:lnTo>
                    </a:path>
                  </a:pathLst>
                </a:custGeom>
                <a:noFill/>
                <a:ln w="12700">
                  <a:solidFill>
                    <a:srgbClr val="7C3B2F"/>
                  </a:solidFill>
                </a:ln>
              </p:spPr>
            </p:sp>
            <p:sp>
              <p:nvSpPr>
                <p:cNvPr id="150" name="Freeform 150"/>
                <p:cNvSpPr/>
                <p:nvPr/>
              </p:nvSpPr>
              <p:spPr>
                <a:xfrm>
                  <a:off x="6940550" y="1327150"/>
                  <a:ext cx="9525" cy="19050"/>
                </a:xfrm>
                <a:custGeom>
                  <a:avLst/>
                  <a:gdLst/>
                  <a:ahLst/>
                  <a:cxnLst/>
                  <a:rect l="l" t="t" r="r" b="b"/>
                  <a:pathLst>
                    <a:path w="9525" h="19050">
                      <a:moveTo>
                        <a:pt x="0" y="0"/>
                      </a:moveTo>
                      <a:lnTo>
                        <a:pt x="0" y="19050"/>
                      </a:lnTo>
                    </a:path>
                  </a:pathLst>
                </a:custGeom>
                <a:noFill/>
                <a:ln w="12700">
                  <a:solidFill>
                    <a:srgbClr val="7C3B2F"/>
                  </a:solidFill>
                </a:ln>
              </p:spPr>
            </p:sp>
          </p:grpSp>
          <p:sp>
            <p:nvSpPr>
              <p:cNvPr id="152" name="TextBox 152"/>
              <p:cNvSpPr txBox="1"/>
              <p:nvPr/>
            </p:nvSpPr>
            <p:spPr>
              <a:xfrm>
                <a:off x="7100888" y="1267539"/>
                <a:ext cx="43492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治理机制</a:t>
                </a:r>
              </a:p>
            </p:txBody>
          </p:sp>
          <p:sp>
            <p:nvSpPr>
              <p:cNvPr id="153" name="TextBox 153"/>
              <p:cNvSpPr txBox="1"/>
              <p:nvPr/>
            </p:nvSpPr>
            <p:spPr>
              <a:xfrm>
                <a:off x="6796088" y="15204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标准规范体系</a:t>
                </a:r>
              </a:p>
            </p:txBody>
          </p:sp>
          <p:sp>
            <p:nvSpPr>
              <p:cNvPr id="154" name="TextBox 154"/>
              <p:cNvSpPr txBox="1"/>
              <p:nvPr/>
            </p:nvSpPr>
            <p:spPr>
              <a:xfrm>
                <a:off x="6796088" y="16728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生命周期管理</a:t>
                </a:r>
              </a:p>
            </p:txBody>
          </p:sp>
          <p:sp>
            <p:nvSpPr>
              <p:cNvPr id="155" name="TextBox 155"/>
              <p:cNvSpPr txBox="1"/>
              <p:nvPr/>
            </p:nvSpPr>
            <p:spPr>
              <a:xfrm>
                <a:off x="6796088" y="18252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质量评估与审计</a:t>
                </a:r>
              </a:p>
            </p:txBody>
          </p:sp>
        </p:grpSp>
        <p:grpSp>
          <p:nvGrpSpPr>
            <p:cNvPr id="166" name="fw-card-trust"/>
            <p:cNvGrpSpPr/>
            <p:nvPr/>
          </p:nvGrpSpPr>
          <p:grpSpPr>
            <a:xfrm>
              <a:off x="2476500" y="3048000"/>
              <a:ext cx="1257300" cy="914400"/>
              <a:chOff x="2476500" y="3048000"/>
              <a:chExt cx="1257300" cy="914400"/>
            </a:xfrm>
          </p:grpSpPr>
          <p:sp>
            <p:nvSpPr>
              <p:cNvPr id="157" name="Rectangle 157"/>
              <p:cNvSpPr/>
              <p:nvPr/>
            </p:nvSpPr>
            <p:spPr>
              <a:xfrm>
                <a:off x="2476500" y="3048000"/>
                <a:ext cx="1257300" cy="914400"/>
              </a:xfrm>
              <a:prstGeom prst="roundRect">
                <a:avLst>
                  <a:gd name="adj" fmla="val 8333"/>
                </a:avLst>
              </a:prstGeom>
              <a:solidFill>
                <a:srgbClr val="F4F8EC"/>
              </a:solidFill>
              <a:ln w="9525">
                <a:solidFill>
                  <a:srgbClr val="D9E8C6"/>
                </a:solidFill>
              </a:ln>
            </p:spPr>
          </p:sp>
          <p:sp>
            <p:nvSpPr>
              <p:cNvPr id="158" name="Ellipse 158"/>
              <p:cNvSpPr/>
              <p:nvPr/>
            </p:nvSpPr>
            <p:spPr>
              <a:xfrm>
                <a:off x="2552700" y="3124200"/>
                <a:ext cx="266700" cy="266700"/>
              </a:xfrm>
              <a:prstGeom prst="ellipse">
                <a:avLst/>
              </a:prstGeom>
              <a:solidFill>
                <a:srgbClr val="FFFFFF"/>
              </a:solidFill>
              <a:ln w="9525">
                <a:solidFill>
                  <a:srgbClr val="BE776A"/>
                </a:solidFill>
              </a:ln>
            </p:spPr>
          </p:sp>
          <p:grpSp>
            <p:nvGrpSpPr>
              <p:cNvPr id="161" name="Group 161"/>
              <p:cNvGrpSpPr/>
              <p:nvPr/>
            </p:nvGrpSpPr>
            <p:grpSpPr>
              <a:xfrm>
                <a:off x="2620330" y="3200400"/>
                <a:ext cx="124004" cy="114300"/>
                <a:chOff x="2620330" y="3200400"/>
                <a:chExt cx="124004" cy="114300"/>
              </a:xfrm>
            </p:grpSpPr>
            <p:sp>
              <p:nvSpPr>
                <p:cNvPr id="159" name="Freeform 159"/>
                <p:cNvSpPr/>
                <p:nvPr/>
              </p:nvSpPr>
              <p:spPr>
                <a:xfrm>
                  <a:off x="2620330" y="320040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7C3B2F"/>
                  </a:solidFill>
                </a:ln>
              </p:spPr>
            </p:sp>
            <p:sp>
              <p:nvSpPr>
                <p:cNvPr id="160" name="Freeform 160"/>
                <p:cNvSpPr/>
                <p:nvPr/>
              </p:nvSpPr>
              <p:spPr>
                <a:xfrm>
                  <a:off x="2705100" y="3289300"/>
                  <a:ext cx="38100" cy="25400"/>
                </a:xfrm>
                <a:custGeom>
                  <a:avLst/>
                  <a:gdLst/>
                  <a:ahLst/>
                  <a:cxnLst/>
                  <a:rect l="l" t="t" r="r" b="b"/>
                  <a:pathLst>
                    <a:path w="38100" h="25400">
                      <a:moveTo>
                        <a:pt x="0" y="12700"/>
                      </a:moveTo>
                      <a:lnTo>
                        <a:pt x="12700" y="25400"/>
                      </a:lnTo>
                      <a:lnTo>
                        <a:pt x="38100" y="0"/>
                      </a:lnTo>
                    </a:path>
                  </a:pathLst>
                </a:custGeom>
                <a:noFill/>
                <a:ln w="12700">
                  <a:solidFill>
                    <a:srgbClr val="7C3B2F"/>
                  </a:solidFill>
                </a:ln>
              </p:spPr>
            </p:sp>
          </p:grpSp>
          <p:sp>
            <p:nvSpPr>
              <p:cNvPr id="162" name="TextBox 162"/>
              <p:cNvSpPr txBox="1"/>
              <p:nvPr/>
            </p:nvSpPr>
            <p:spPr>
              <a:xfrm>
                <a:off x="2871788" y="3210639"/>
                <a:ext cx="428864"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 xml:space="preserve">可信AI　</a:t>
                </a:r>
              </a:p>
            </p:txBody>
          </p:sp>
          <p:sp>
            <p:nvSpPr>
              <p:cNvPr id="163" name="TextBox 163"/>
              <p:cNvSpPr txBox="1"/>
              <p:nvPr/>
            </p:nvSpPr>
            <p:spPr>
              <a:xfrm>
                <a:off x="2566988" y="34635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数据安全与隐私</a:t>
                </a:r>
              </a:p>
            </p:txBody>
          </p:sp>
          <p:sp>
            <p:nvSpPr>
              <p:cNvPr id="164" name="TextBox 164"/>
              <p:cNvSpPr txBox="1"/>
              <p:nvPr/>
            </p:nvSpPr>
            <p:spPr>
              <a:xfrm>
                <a:off x="2566988" y="36159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可解释与可追溯</a:t>
                </a:r>
              </a:p>
            </p:txBody>
          </p:sp>
          <p:sp>
            <p:nvSpPr>
              <p:cNvPr id="165" name="TextBox 165"/>
              <p:cNvSpPr txBox="1"/>
              <p:nvPr/>
            </p:nvSpPr>
            <p:spPr>
              <a:xfrm>
                <a:off x="2566988" y="37683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安全合规可控</a:t>
                </a:r>
              </a:p>
            </p:txBody>
          </p:sp>
        </p:grpSp>
        <p:grpSp>
          <p:nvGrpSpPr>
            <p:cNvPr id="174" name="fw-card-rag"/>
            <p:cNvGrpSpPr/>
            <p:nvPr/>
          </p:nvGrpSpPr>
          <p:grpSpPr>
            <a:xfrm>
              <a:off x="6705600" y="3048000"/>
              <a:ext cx="1257300" cy="914400"/>
              <a:chOff x="6705600" y="3048000"/>
              <a:chExt cx="1257300" cy="914400"/>
            </a:xfrm>
          </p:grpSpPr>
          <p:sp>
            <p:nvSpPr>
              <p:cNvPr id="167" name="Rectangle 167"/>
              <p:cNvSpPr/>
              <p:nvPr/>
            </p:nvSpPr>
            <p:spPr>
              <a:xfrm>
                <a:off x="6705600" y="3048000"/>
                <a:ext cx="1257300" cy="914400"/>
              </a:xfrm>
              <a:prstGeom prst="roundRect">
                <a:avLst>
                  <a:gd name="adj" fmla="val 8333"/>
                </a:avLst>
              </a:prstGeom>
              <a:solidFill>
                <a:srgbClr val="F4F8EC"/>
              </a:solidFill>
              <a:ln w="9525">
                <a:solidFill>
                  <a:srgbClr val="D9E8C6"/>
                </a:solidFill>
              </a:ln>
            </p:spPr>
          </p:sp>
          <p:sp>
            <p:nvSpPr>
              <p:cNvPr id="168" name="Ellipse 168"/>
              <p:cNvSpPr/>
              <p:nvPr/>
            </p:nvSpPr>
            <p:spPr>
              <a:xfrm>
                <a:off x="6781800" y="3124200"/>
                <a:ext cx="266700" cy="266700"/>
              </a:xfrm>
              <a:prstGeom prst="ellipse">
                <a:avLst/>
              </a:prstGeom>
              <a:solidFill>
                <a:srgbClr val="FFFFFF"/>
              </a:solidFill>
              <a:ln w="9525">
                <a:solidFill>
                  <a:srgbClr val="BE776A"/>
                </a:solidFill>
              </a:ln>
            </p:spPr>
          </p:sp>
          <p:sp>
            <p:nvSpPr>
              <p:cNvPr id="169" name="Freeform 169"/>
              <p:cNvSpPr/>
              <p:nvPr/>
            </p:nvSpPr>
            <p:spPr>
              <a:xfrm>
                <a:off x="6858000" y="320040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7C3B2F"/>
                </a:solidFill>
              </a:ln>
            </p:spPr>
          </p:sp>
          <p:sp>
            <p:nvSpPr>
              <p:cNvPr id="170" name="TextBox 170"/>
              <p:cNvSpPr txBox="1"/>
              <p:nvPr/>
            </p:nvSpPr>
            <p:spPr>
              <a:xfrm>
                <a:off x="7100888" y="3210639"/>
                <a:ext cx="523255" cy="154781"/>
              </a:xfrm>
              <a:prstGeom prst="rect">
                <a:avLst/>
              </a:prstGeom>
              <a:noFill/>
              <a:ln>
                <a:noFill/>
              </a:ln>
            </p:spPr>
            <p:txBody>
              <a:bodyPr wrap="none" lIns="0" tIns="0" rIns="0" bIns="0" anchor="t" anchorCtr="0">
                <a:spAutoFit/>
              </a:bodyPr>
              <a:lstStyle/>
              <a:p>
                <a:pPr algn="l"/>
                <a:r>
                  <a:rPr lang="zh-CN" sz="790" b="1" dirty="0">
                    <a:solidFill>
                      <a:srgbClr val="42140B"/>
                    </a:solidFill>
                    <a:latin typeface="+mn-lt"/>
                    <a:ea typeface="+mn-ea"/>
                    <a:cs typeface="+mn-cs"/>
                  </a:rPr>
                  <a:t xml:space="preserve">RAG平台　</a:t>
                </a:r>
              </a:p>
            </p:txBody>
          </p:sp>
          <p:sp>
            <p:nvSpPr>
              <p:cNvPr id="171" name="TextBox 171"/>
              <p:cNvSpPr txBox="1"/>
              <p:nvPr/>
            </p:nvSpPr>
            <p:spPr>
              <a:xfrm>
                <a:off x="6796088" y="346352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高质量检索</a:t>
                </a:r>
              </a:p>
            </p:txBody>
          </p:sp>
          <p:sp>
            <p:nvSpPr>
              <p:cNvPr id="172" name="TextBox 172"/>
              <p:cNvSpPr txBox="1"/>
              <p:nvPr/>
            </p:nvSpPr>
            <p:spPr>
              <a:xfrm>
                <a:off x="6796088" y="36159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插件与工具集成</a:t>
                </a:r>
              </a:p>
            </p:txBody>
          </p:sp>
          <p:sp>
            <p:nvSpPr>
              <p:cNvPr id="173" name="TextBox 173"/>
              <p:cNvSpPr txBox="1"/>
              <p:nvPr/>
            </p:nvSpPr>
            <p:spPr>
              <a:xfrm>
                <a:off x="6796088" y="376832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可观测与优化</a:t>
                </a:r>
              </a:p>
            </p:txBody>
          </p:sp>
        </p:grpSp>
      </p:grpSp>
      <p:sp>
        <p:nvSpPr>
          <p:cNvPr id="176" name="fw-out-arrow"/>
          <p:cNvSpPr/>
          <p:nvPr/>
        </p:nvSpPr>
        <p:spPr>
          <a:xfrm>
            <a:off x="7981950" y="2495550"/>
            <a:ext cx="76200" cy="152400"/>
          </a:xfrm>
          <a:custGeom>
            <a:avLst/>
            <a:gdLst/>
            <a:ahLst/>
            <a:cxnLst/>
            <a:rect l="l" t="t" r="r" b="b"/>
            <a:pathLst>
              <a:path w="76200" h="152400">
                <a:moveTo>
                  <a:pt x="0" y="0"/>
                </a:moveTo>
                <a:lnTo>
                  <a:pt x="76200" y="76200"/>
                </a:lnTo>
                <a:lnTo>
                  <a:pt x="0" y="152400"/>
                </a:lnTo>
                <a:close/>
              </a:path>
            </a:pathLst>
          </a:custGeom>
          <a:solidFill>
            <a:srgbClr val="9A4B3C"/>
          </a:solidFill>
          <a:ln>
            <a:noFill/>
          </a:ln>
        </p:spPr>
      </p:sp>
      <p:grpSp>
        <p:nvGrpSpPr>
          <p:cNvPr id="231" name="operating-system"/>
          <p:cNvGrpSpPr/>
          <p:nvPr/>
        </p:nvGrpSpPr>
        <p:grpSpPr>
          <a:xfrm>
            <a:off x="8077200" y="628650"/>
            <a:ext cx="3886200" cy="3676650"/>
            <a:chOff x="8077200" y="628650"/>
            <a:chExt cx="3886200" cy="3676650"/>
          </a:xfrm>
        </p:grpSpPr>
        <p:sp>
          <p:nvSpPr>
            <p:cNvPr id="177" name="Rectangle 177"/>
            <p:cNvSpPr/>
            <p:nvPr/>
          </p:nvSpPr>
          <p:spPr>
            <a:xfrm>
              <a:off x="8077200" y="628650"/>
              <a:ext cx="3886200" cy="228600"/>
            </a:xfrm>
            <a:prstGeom prst="roundRect">
              <a:avLst>
                <a:gd name="adj" fmla="val 25000"/>
              </a:avLst>
            </a:prstGeom>
            <a:solidFill>
              <a:srgbClr val="42140B"/>
            </a:solidFill>
            <a:ln>
              <a:noFill/>
            </a:ln>
          </p:spPr>
        </p:sp>
        <p:sp>
          <p:nvSpPr>
            <p:cNvPr id="178" name="TextBox 178"/>
            <p:cNvSpPr txBox="1"/>
            <p:nvPr/>
          </p:nvSpPr>
          <p:spPr>
            <a:xfrm>
              <a:off x="9518790" y="701516"/>
              <a:ext cx="10030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企业级运营操作系统</a:t>
              </a:r>
            </a:p>
          </p:txBody>
        </p:sp>
        <p:sp>
          <p:nvSpPr>
            <p:cNvPr id="179" name="Line 179"/>
            <p:cNvSpPr/>
            <p:nvPr/>
          </p:nvSpPr>
          <p:spPr>
            <a:xfrm>
              <a:off x="8343900" y="1066800"/>
              <a:ext cx="9525" cy="3200400"/>
            </a:xfrm>
            <a:custGeom>
              <a:avLst/>
              <a:gdLst/>
              <a:ahLst/>
              <a:cxnLst/>
              <a:rect l="l" t="t" r="r" b="b"/>
              <a:pathLst>
                <a:path w="9525" h="3200400">
                  <a:moveTo>
                    <a:pt x="0" y="0"/>
                  </a:moveTo>
                  <a:lnTo>
                    <a:pt x="0" y="3200400"/>
                  </a:lnTo>
                </a:path>
              </a:pathLst>
            </a:custGeom>
            <a:noFill/>
            <a:ln w="14288">
              <a:solidFill>
                <a:srgbClr val="BE776A"/>
              </a:solidFill>
              <a:prstDash val="dash"/>
            </a:ln>
          </p:spPr>
        </p:sp>
        <p:grpSp>
          <p:nvGrpSpPr>
            <p:cNvPr id="189" name="os-strategy"/>
            <p:cNvGrpSpPr/>
            <p:nvPr/>
          </p:nvGrpSpPr>
          <p:grpSpPr>
            <a:xfrm>
              <a:off x="8181975" y="933450"/>
              <a:ext cx="3781425" cy="628650"/>
              <a:chOff x="8181975" y="933450"/>
              <a:chExt cx="3781425" cy="628650"/>
            </a:xfrm>
          </p:grpSpPr>
          <p:sp>
            <p:nvSpPr>
              <p:cNvPr id="180" name="Rectangle 180"/>
              <p:cNvSpPr/>
              <p:nvPr/>
            </p:nvSpPr>
            <p:spPr>
              <a:xfrm>
                <a:off x="8534400" y="933450"/>
                <a:ext cx="3429000" cy="628650"/>
              </a:xfrm>
              <a:prstGeom prst="roundRect">
                <a:avLst>
                  <a:gd name="adj" fmla="val 12121"/>
                </a:avLst>
              </a:prstGeom>
              <a:solidFill>
                <a:srgbClr val="F4F8EC"/>
              </a:solidFill>
              <a:ln w="9525">
                <a:solidFill>
                  <a:srgbClr val="D9E8C6"/>
                </a:solidFill>
              </a:ln>
            </p:spPr>
          </p:sp>
          <p:sp>
            <p:nvSpPr>
              <p:cNvPr id="181" name="Ellipse 181"/>
              <p:cNvSpPr/>
              <p:nvPr/>
            </p:nvSpPr>
            <p:spPr>
              <a:xfrm>
                <a:off x="8181975" y="1085850"/>
                <a:ext cx="323850" cy="323850"/>
              </a:xfrm>
              <a:prstGeom prst="ellipse">
                <a:avLst/>
              </a:prstGeom>
              <a:solidFill>
                <a:srgbClr val="FFFFFF"/>
              </a:solidFill>
              <a:ln w="14288">
                <a:solidFill>
                  <a:srgbClr val="BE776A"/>
                </a:solidFill>
              </a:ln>
            </p:spPr>
          </p:sp>
          <p:grpSp>
            <p:nvGrpSpPr>
              <p:cNvPr id="185" name="Group 185"/>
              <p:cNvGrpSpPr/>
              <p:nvPr/>
            </p:nvGrpSpPr>
            <p:grpSpPr>
              <a:xfrm>
                <a:off x="8272462" y="1176337"/>
                <a:ext cx="142875" cy="142875"/>
                <a:chOff x="8272462" y="1176337"/>
                <a:chExt cx="142875" cy="142875"/>
              </a:xfrm>
            </p:grpSpPr>
            <p:sp>
              <p:nvSpPr>
                <p:cNvPr id="182" name="Freeform 182"/>
                <p:cNvSpPr/>
                <p:nvPr/>
              </p:nvSpPr>
              <p:spPr>
                <a:xfrm>
                  <a:off x="8335962" y="123983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7C3B2F"/>
                  </a:solidFill>
                </a:ln>
              </p:spPr>
            </p:sp>
            <p:sp>
              <p:nvSpPr>
                <p:cNvPr id="183" name="Freeform 183"/>
                <p:cNvSpPr/>
                <p:nvPr/>
              </p:nvSpPr>
              <p:spPr>
                <a:xfrm>
                  <a:off x="8304212" y="120808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7C3B2F"/>
                  </a:solidFill>
                </a:ln>
              </p:spPr>
            </p:sp>
            <p:sp>
              <p:nvSpPr>
                <p:cNvPr id="184" name="Freeform 184"/>
                <p:cNvSpPr/>
                <p:nvPr/>
              </p:nvSpPr>
              <p:spPr>
                <a:xfrm>
                  <a:off x="8272462" y="117633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7C3B2F"/>
                  </a:solidFill>
                </a:ln>
              </p:spPr>
            </p:sp>
          </p:grpSp>
          <p:sp>
            <p:nvSpPr>
              <p:cNvPr id="186" name="TextBox 186"/>
              <p:cNvSpPr txBox="1"/>
              <p:nvPr/>
            </p:nvSpPr>
            <p:spPr>
              <a:xfrm>
                <a:off x="8662988" y="108799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战略</a:t>
                </a:r>
              </a:p>
            </p:txBody>
          </p:sp>
          <p:sp>
            <p:nvSpPr>
              <p:cNvPr id="187" name="TextBox 187"/>
              <p:cNvSpPr txBox="1"/>
              <p:nvPr/>
            </p:nvSpPr>
            <p:spPr>
              <a:xfrm>
                <a:off x="8662988" y="12727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对齐业务目标</a:t>
                </a:r>
              </a:p>
            </p:txBody>
          </p:sp>
          <p:sp>
            <p:nvSpPr>
              <p:cNvPr id="188" name="TextBox 188"/>
              <p:cNvSpPr txBox="1"/>
              <p:nvPr/>
            </p:nvSpPr>
            <p:spPr>
              <a:xfrm>
                <a:off x="8662988" y="1406128"/>
                <a:ext cx="764210"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调整优先级与路线图</a:t>
                </a:r>
              </a:p>
            </p:txBody>
          </p:sp>
        </p:grpSp>
        <p:grpSp>
          <p:nvGrpSpPr>
            <p:cNvPr id="199" name="os-data"/>
            <p:cNvGrpSpPr/>
            <p:nvPr/>
          </p:nvGrpSpPr>
          <p:grpSpPr>
            <a:xfrm>
              <a:off x="8181975" y="1619250"/>
              <a:ext cx="3781425" cy="628650"/>
              <a:chOff x="8181975" y="1619250"/>
              <a:chExt cx="3781425" cy="628650"/>
            </a:xfrm>
          </p:grpSpPr>
          <p:sp>
            <p:nvSpPr>
              <p:cNvPr id="190" name="Rectangle 190"/>
              <p:cNvSpPr/>
              <p:nvPr/>
            </p:nvSpPr>
            <p:spPr>
              <a:xfrm>
                <a:off x="8534400" y="1619250"/>
                <a:ext cx="3429000" cy="628650"/>
              </a:xfrm>
              <a:prstGeom prst="roundRect">
                <a:avLst>
                  <a:gd name="adj" fmla="val 12121"/>
                </a:avLst>
              </a:prstGeom>
              <a:solidFill>
                <a:srgbClr val="FFFFFF"/>
              </a:solidFill>
              <a:ln w="9525">
                <a:solidFill>
                  <a:srgbClr val="D9E8C6"/>
                </a:solidFill>
              </a:ln>
            </p:spPr>
          </p:sp>
          <p:sp>
            <p:nvSpPr>
              <p:cNvPr id="191" name="Ellipse 191"/>
              <p:cNvSpPr/>
              <p:nvPr/>
            </p:nvSpPr>
            <p:spPr>
              <a:xfrm>
                <a:off x="8181975" y="1771650"/>
                <a:ext cx="323850" cy="323850"/>
              </a:xfrm>
              <a:prstGeom prst="ellipse">
                <a:avLst/>
              </a:prstGeom>
              <a:solidFill>
                <a:srgbClr val="FFFFFF"/>
              </a:solidFill>
              <a:ln w="14288">
                <a:solidFill>
                  <a:srgbClr val="BE776A"/>
                </a:solidFill>
              </a:ln>
            </p:spPr>
          </p:sp>
          <p:grpSp>
            <p:nvGrpSpPr>
              <p:cNvPr id="195" name="Group 195"/>
              <p:cNvGrpSpPr/>
              <p:nvPr/>
            </p:nvGrpSpPr>
            <p:grpSpPr>
              <a:xfrm>
                <a:off x="8280400" y="1862137"/>
                <a:ext cx="127000" cy="142875"/>
                <a:chOff x="8280400" y="1862137"/>
                <a:chExt cx="127000" cy="142875"/>
              </a:xfrm>
            </p:grpSpPr>
            <p:sp>
              <p:nvSpPr>
                <p:cNvPr id="192" name="Freeform 192"/>
                <p:cNvSpPr/>
                <p:nvPr/>
              </p:nvSpPr>
              <p:spPr>
                <a:xfrm>
                  <a:off x="8280400" y="1862137"/>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7C3B2F"/>
                  </a:solidFill>
                </a:ln>
              </p:spPr>
            </p:sp>
            <p:sp>
              <p:nvSpPr>
                <p:cNvPr id="193" name="Freeform 193"/>
                <p:cNvSpPr/>
                <p:nvPr/>
              </p:nvSpPr>
              <p:spPr>
                <a:xfrm>
                  <a:off x="8280400" y="18859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sp>
              <p:nvSpPr>
                <p:cNvPr id="194" name="Freeform 194"/>
                <p:cNvSpPr/>
                <p:nvPr/>
              </p:nvSpPr>
              <p:spPr>
                <a:xfrm>
                  <a:off x="8280400" y="19335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C3B2F"/>
                  </a:solidFill>
                </a:ln>
              </p:spPr>
            </p:sp>
          </p:grpSp>
          <p:sp>
            <p:nvSpPr>
              <p:cNvPr id="196" name="TextBox 196"/>
              <p:cNvSpPr txBox="1"/>
              <p:nvPr/>
            </p:nvSpPr>
            <p:spPr>
              <a:xfrm>
                <a:off x="8662988" y="177379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数据</a:t>
                </a:r>
              </a:p>
            </p:txBody>
          </p:sp>
          <p:sp>
            <p:nvSpPr>
              <p:cNvPr id="197" name="TextBox 197"/>
              <p:cNvSpPr txBox="1"/>
              <p:nvPr/>
            </p:nvSpPr>
            <p:spPr>
              <a:xfrm>
                <a:off x="8662988" y="19585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内外部数据整合</a:t>
                </a:r>
              </a:p>
            </p:txBody>
          </p:sp>
          <p:sp>
            <p:nvSpPr>
              <p:cNvPr id="198" name="TextBox 198"/>
              <p:cNvSpPr txBox="1"/>
              <p:nvPr/>
            </p:nvSpPr>
            <p:spPr>
              <a:xfrm>
                <a:off x="8662988" y="20919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高质量数据供给</a:t>
                </a:r>
              </a:p>
            </p:txBody>
          </p:sp>
        </p:grpSp>
        <p:grpSp>
          <p:nvGrpSpPr>
            <p:cNvPr id="208" name="os-tech"/>
            <p:cNvGrpSpPr/>
            <p:nvPr/>
          </p:nvGrpSpPr>
          <p:grpSpPr>
            <a:xfrm>
              <a:off x="8181975" y="2305050"/>
              <a:ext cx="3781425" cy="628650"/>
              <a:chOff x="8181975" y="2305050"/>
              <a:chExt cx="3781425" cy="628650"/>
            </a:xfrm>
          </p:grpSpPr>
          <p:sp>
            <p:nvSpPr>
              <p:cNvPr id="200" name="Rectangle 200"/>
              <p:cNvSpPr/>
              <p:nvPr/>
            </p:nvSpPr>
            <p:spPr>
              <a:xfrm>
                <a:off x="8534400" y="2305050"/>
                <a:ext cx="3429000" cy="628650"/>
              </a:xfrm>
              <a:prstGeom prst="roundRect">
                <a:avLst>
                  <a:gd name="adj" fmla="val 12121"/>
                </a:avLst>
              </a:prstGeom>
              <a:solidFill>
                <a:srgbClr val="F4F8EC"/>
              </a:solidFill>
              <a:ln w="9525">
                <a:solidFill>
                  <a:srgbClr val="D9E8C6"/>
                </a:solidFill>
              </a:ln>
            </p:spPr>
          </p:sp>
          <p:sp>
            <p:nvSpPr>
              <p:cNvPr id="201" name="Ellipse 201"/>
              <p:cNvSpPr/>
              <p:nvPr/>
            </p:nvSpPr>
            <p:spPr>
              <a:xfrm>
                <a:off x="8181975" y="2457450"/>
                <a:ext cx="323850" cy="323850"/>
              </a:xfrm>
              <a:prstGeom prst="ellipse">
                <a:avLst/>
              </a:prstGeom>
              <a:solidFill>
                <a:srgbClr val="FFFFFF"/>
              </a:solidFill>
              <a:ln w="14288">
                <a:solidFill>
                  <a:srgbClr val="BE776A"/>
                </a:solidFill>
              </a:ln>
            </p:spPr>
          </p:sp>
          <p:grpSp>
            <p:nvGrpSpPr>
              <p:cNvPr id="204" name="Group 204"/>
              <p:cNvGrpSpPr/>
              <p:nvPr/>
            </p:nvGrpSpPr>
            <p:grpSpPr>
              <a:xfrm>
                <a:off x="8268978" y="2544453"/>
                <a:ext cx="149844" cy="149844"/>
                <a:chOff x="8268978" y="2544453"/>
                <a:chExt cx="149844" cy="149844"/>
              </a:xfrm>
            </p:grpSpPr>
            <p:sp>
              <p:nvSpPr>
                <p:cNvPr id="202" name="Freeform 202"/>
                <p:cNvSpPr/>
                <p:nvPr/>
              </p:nvSpPr>
              <p:spPr>
                <a:xfrm>
                  <a:off x="8268978" y="2544453"/>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7C3B2F"/>
                  </a:solidFill>
                </a:ln>
              </p:spPr>
            </p:sp>
            <p:sp>
              <p:nvSpPr>
                <p:cNvPr id="203" name="Freeform 203"/>
                <p:cNvSpPr/>
                <p:nvPr/>
              </p:nvSpPr>
              <p:spPr>
                <a:xfrm>
                  <a:off x="8320087" y="25955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7C3B2F"/>
                  </a:solidFill>
                </a:ln>
              </p:spPr>
            </p:sp>
          </p:grpSp>
          <p:sp>
            <p:nvSpPr>
              <p:cNvPr id="205" name="TextBox 205"/>
              <p:cNvSpPr txBox="1"/>
              <p:nvPr/>
            </p:nvSpPr>
            <p:spPr>
              <a:xfrm>
                <a:off x="8662988" y="245959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技术</a:t>
                </a:r>
              </a:p>
            </p:txBody>
          </p:sp>
          <p:sp>
            <p:nvSpPr>
              <p:cNvPr id="206" name="TextBox 206"/>
              <p:cNvSpPr txBox="1"/>
              <p:nvPr/>
            </p:nvSpPr>
            <p:spPr>
              <a:xfrm>
                <a:off x="8662988" y="26443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稳定可靠的架构</a:t>
                </a:r>
              </a:p>
            </p:txBody>
          </p:sp>
          <p:sp>
            <p:nvSpPr>
              <p:cNvPr id="207" name="TextBox 207"/>
              <p:cNvSpPr txBox="1"/>
              <p:nvPr/>
            </p:nvSpPr>
            <p:spPr>
              <a:xfrm>
                <a:off x="8662988" y="27777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持续迭代与创新</a:t>
                </a:r>
              </a:p>
            </p:txBody>
          </p:sp>
        </p:grpSp>
        <p:grpSp>
          <p:nvGrpSpPr>
            <p:cNvPr id="221" name="os-talent"/>
            <p:cNvGrpSpPr/>
            <p:nvPr/>
          </p:nvGrpSpPr>
          <p:grpSpPr>
            <a:xfrm>
              <a:off x="8181975" y="2990850"/>
              <a:ext cx="3781425" cy="628650"/>
              <a:chOff x="8181975" y="2990850"/>
              <a:chExt cx="3781425" cy="628650"/>
            </a:xfrm>
          </p:grpSpPr>
          <p:sp>
            <p:nvSpPr>
              <p:cNvPr id="209" name="Rectangle 209"/>
              <p:cNvSpPr/>
              <p:nvPr/>
            </p:nvSpPr>
            <p:spPr>
              <a:xfrm>
                <a:off x="8534400" y="2990850"/>
                <a:ext cx="3429000" cy="628650"/>
              </a:xfrm>
              <a:prstGeom prst="roundRect">
                <a:avLst>
                  <a:gd name="adj" fmla="val 12121"/>
                </a:avLst>
              </a:prstGeom>
              <a:solidFill>
                <a:srgbClr val="FFFFFF"/>
              </a:solidFill>
              <a:ln w="9525">
                <a:solidFill>
                  <a:srgbClr val="D9E8C6"/>
                </a:solidFill>
              </a:ln>
            </p:spPr>
          </p:sp>
          <p:sp>
            <p:nvSpPr>
              <p:cNvPr id="210" name="Ellipse 210"/>
              <p:cNvSpPr/>
              <p:nvPr/>
            </p:nvSpPr>
            <p:spPr>
              <a:xfrm>
                <a:off x="8181975" y="3143250"/>
                <a:ext cx="323850" cy="323850"/>
              </a:xfrm>
              <a:prstGeom prst="ellipse">
                <a:avLst/>
              </a:prstGeom>
              <a:solidFill>
                <a:srgbClr val="FFFFFF"/>
              </a:solidFill>
              <a:ln w="14288">
                <a:solidFill>
                  <a:srgbClr val="BE776A"/>
                </a:solidFill>
              </a:ln>
            </p:spPr>
          </p:sp>
          <p:grpSp>
            <p:nvGrpSpPr>
              <p:cNvPr id="217" name="Group 217"/>
              <p:cNvGrpSpPr/>
              <p:nvPr/>
            </p:nvGrpSpPr>
            <p:grpSpPr>
              <a:xfrm>
                <a:off x="8272462" y="3233737"/>
                <a:ext cx="142875" cy="142875"/>
                <a:chOff x="8272462" y="3233737"/>
                <a:chExt cx="142875" cy="142875"/>
              </a:xfrm>
            </p:grpSpPr>
            <p:sp>
              <p:nvSpPr>
                <p:cNvPr id="211" name="Freeform 211"/>
                <p:cNvSpPr/>
                <p:nvPr/>
              </p:nvSpPr>
              <p:spPr>
                <a:xfrm>
                  <a:off x="8328025" y="32972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C3B2F"/>
                  </a:solidFill>
                </a:ln>
              </p:spPr>
            </p:sp>
            <p:sp>
              <p:nvSpPr>
                <p:cNvPr id="212" name="Freeform 212"/>
                <p:cNvSpPr/>
                <p:nvPr/>
              </p:nvSpPr>
              <p:spPr>
                <a:xfrm>
                  <a:off x="8312150" y="3352800"/>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7C3B2F"/>
                  </a:solidFill>
                </a:ln>
              </p:spPr>
            </p:sp>
            <p:sp>
              <p:nvSpPr>
                <p:cNvPr id="213" name="Freeform 213"/>
                <p:cNvSpPr/>
                <p:nvPr/>
              </p:nvSpPr>
              <p:spPr>
                <a:xfrm>
                  <a:off x="8367712" y="32337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C3B2F"/>
                  </a:solidFill>
                </a:ln>
              </p:spPr>
            </p:sp>
            <p:sp>
              <p:nvSpPr>
                <p:cNvPr id="214" name="Freeform 214"/>
                <p:cNvSpPr/>
                <p:nvPr/>
              </p:nvSpPr>
              <p:spPr>
                <a:xfrm>
                  <a:off x="8383587" y="3289300"/>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7C3B2F"/>
                  </a:solidFill>
                </a:ln>
              </p:spPr>
            </p:sp>
            <p:sp>
              <p:nvSpPr>
                <p:cNvPr id="215" name="Freeform 215"/>
                <p:cNvSpPr/>
                <p:nvPr/>
              </p:nvSpPr>
              <p:spPr>
                <a:xfrm>
                  <a:off x="8288337" y="32337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C3B2F"/>
                  </a:solidFill>
                </a:ln>
              </p:spPr>
            </p:sp>
            <p:sp>
              <p:nvSpPr>
                <p:cNvPr id="216" name="Freeform 216"/>
                <p:cNvSpPr/>
                <p:nvPr/>
              </p:nvSpPr>
              <p:spPr>
                <a:xfrm>
                  <a:off x="8272462" y="3289300"/>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7C3B2F"/>
                  </a:solidFill>
                </a:ln>
              </p:spPr>
            </p:sp>
          </p:grpSp>
          <p:sp>
            <p:nvSpPr>
              <p:cNvPr id="218" name="TextBox 218"/>
              <p:cNvSpPr txBox="1"/>
              <p:nvPr/>
            </p:nvSpPr>
            <p:spPr>
              <a:xfrm>
                <a:off x="8662988" y="314539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人才</a:t>
                </a:r>
              </a:p>
            </p:txBody>
          </p:sp>
          <p:sp>
            <p:nvSpPr>
              <p:cNvPr id="219" name="TextBox 219"/>
              <p:cNvSpPr txBox="1"/>
              <p:nvPr/>
            </p:nvSpPr>
            <p:spPr>
              <a:xfrm>
                <a:off x="8662988" y="33301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能力建设与培训</a:t>
                </a:r>
              </a:p>
            </p:txBody>
          </p:sp>
          <p:sp>
            <p:nvSpPr>
              <p:cNvPr id="220" name="TextBox 220"/>
              <p:cNvSpPr txBox="1"/>
              <p:nvPr/>
            </p:nvSpPr>
            <p:spPr>
              <a:xfrm>
                <a:off x="8662988" y="34635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组织协同与文化</a:t>
                </a:r>
              </a:p>
            </p:txBody>
          </p:sp>
        </p:grpSp>
        <p:grpSp>
          <p:nvGrpSpPr>
            <p:cNvPr id="230" name="os-risk"/>
            <p:cNvGrpSpPr/>
            <p:nvPr/>
          </p:nvGrpSpPr>
          <p:grpSpPr>
            <a:xfrm>
              <a:off x="8181975" y="3676650"/>
              <a:ext cx="3781425" cy="628650"/>
              <a:chOff x="8181975" y="3676650"/>
              <a:chExt cx="3781425" cy="628650"/>
            </a:xfrm>
          </p:grpSpPr>
          <p:sp>
            <p:nvSpPr>
              <p:cNvPr id="222" name="Rectangle 222"/>
              <p:cNvSpPr/>
              <p:nvPr/>
            </p:nvSpPr>
            <p:spPr>
              <a:xfrm>
                <a:off x="8534400" y="3676650"/>
                <a:ext cx="3429000" cy="628650"/>
              </a:xfrm>
              <a:prstGeom prst="roundRect">
                <a:avLst>
                  <a:gd name="adj" fmla="val 12121"/>
                </a:avLst>
              </a:prstGeom>
              <a:solidFill>
                <a:srgbClr val="F4F8EC"/>
              </a:solidFill>
              <a:ln w="9525">
                <a:solidFill>
                  <a:srgbClr val="D9E8C6"/>
                </a:solidFill>
              </a:ln>
            </p:spPr>
          </p:sp>
          <p:sp>
            <p:nvSpPr>
              <p:cNvPr id="223" name="Ellipse 223"/>
              <p:cNvSpPr/>
              <p:nvPr/>
            </p:nvSpPr>
            <p:spPr>
              <a:xfrm>
                <a:off x="8181975" y="3829050"/>
                <a:ext cx="323850" cy="323850"/>
              </a:xfrm>
              <a:prstGeom prst="ellipse">
                <a:avLst/>
              </a:prstGeom>
              <a:solidFill>
                <a:srgbClr val="FFFFFF"/>
              </a:solidFill>
              <a:ln w="14288">
                <a:solidFill>
                  <a:srgbClr val="BE776A"/>
                </a:solidFill>
              </a:ln>
            </p:spPr>
          </p:sp>
          <p:grpSp>
            <p:nvGrpSpPr>
              <p:cNvPr id="226" name="Group 226"/>
              <p:cNvGrpSpPr/>
              <p:nvPr/>
            </p:nvGrpSpPr>
            <p:grpSpPr>
              <a:xfrm>
                <a:off x="8261750" y="3919537"/>
                <a:ext cx="155005" cy="142875"/>
                <a:chOff x="8261750" y="3919537"/>
                <a:chExt cx="155005" cy="142875"/>
              </a:xfrm>
            </p:grpSpPr>
            <p:sp>
              <p:nvSpPr>
                <p:cNvPr id="224" name="Freeform 224"/>
                <p:cNvSpPr/>
                <p:nvPr/>
              </p:nvSpPr>
              <p:spPr>
                <a:xfrm>
                  <a:off x="8261750" y="3919537"/>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7C3B2F"/>
                  </a:solidFill>
                </a:ln>
              </p:spPr>
            </p:sp>
            <p:sp>
              <p:nvSpPr>
                <p:cNvPr id="225" name="Freeform 225"/>
                <p:cNvSpPr/>
                <p:nvPr/>
              </p:nvSpPr>
              <p:spPr>
                <a:xfrm>
                  <a:off x="8367712" y="4030662"/>
                  <a:ext cx="47625" cy="31750"/>
                </a:xfrm>
                <a:custGeom>
                  <a:avLst/>
                  <a:gdLst/>
                  <a:ahLst/>
                  <a:cxnLst/>
                  <a:rect l="l" t="t" r="r" b="b"/>
                  <a:pathLst>
                    <a:path w="47625" h="31750">
                      <a:moveTo>
                        <a:pt x="0" y="15875"/>
                      </a:moveTo>
                      <a:lnTo>
                        <a:pt x="15875" y="31750"/>
                      </a:lnTo>
                      <a:lnTo>
                        <a:pt x="47625" y="0"/>
                      </a:lnTo>
                    </a:path>
                  </a:pathLst>
                </a:custGeom>
                <a:noFill/>
                <a:ln w="15875">
                  <a:solidFill>
                    <a:srgbClr val="7C3B2F"/>
                  </a:solidFill>
                </a:ln>
              </p:spPr>
            </p:sp>
          </p:grpSp>
          <p:sp>
            <p:nvSpPr>
              <p:cNvPr id="227" name="TextBox 227"/>
              <p:cNvSpPr txBox="1"/>
              <p:nvPr/>
            </p:nvSpPr>
            <p:spPr>
              <a:xfrm>
                <a:off x="8662988" y="3831193"/>
                <a:ext cx="241071" cy="169069"/>
              </a:xfrm>
              <a:prstGeom prst="rect">
                <a:avLst/>
              </a:prstGeom>
              <a:noFill/>
              <a:ln>
                <a:noFill/>
              </a:ln>
            </p:spPr>
            <p:txBody>
              <a:bodyPr wrap="none" lIns="0" tIns="0" rIns="0" bIns="0" anchor="t" anchorCtr="0">
                <a:spAutoFit/>
              </a:bodyPr>
              <a:lstStyle/>
              <a:p>
                <a:pPr algn="l"/>
                <a:r>
                  <a:rPr lang="zh-CN" sz="860" b="1" dirty="0">
                    <a:solidFill>
                      <a:srgbClr val="42140B"/>
                    </a:solidFill>
                    <a:latin typeface="+mn-lt"/>
                    <a:ea typeface="+mn-ea"/>
                    <a:cs typeface="+mn-cs"/>
                  </a:rPr>
                  <a:t>风险</a:t>
                </a:r>
              </a:p>
            </p:txBody>
          </p:sp>
          <p:sp>
            <p:nvSpPr>
              <p:cNvPr id="228" name="TextBox 228"/>
              <p:cNvSpPr txBox="1"/>
              <p:nvPr/>
            </p:nvSpPr>
            <p:spPr>
              <a:xfrm>
                <a:off x="8662988" y="40159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风险识别与评估</a:t>
                </a:r>
              </a:p>
            </p:txBody>
          </p:sp>
          <p:sp>
            <p:nvSpPr>
              <p:cNvPr id="229" name="TextBox 229"/>
              <p:cNvSpPr txBox="1"/>
              <p:nvPr/>
            </p:nvSpPr>
            <p:spPr>
              <a:xfrm>
                <a:off x="8662988" y="414932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合规与控制闭环</a:t>
                </a:r>
              </a:p>
            </p:txBody>
          </p:sp>
        </p:grpSp>
      </p:grpSp>
      <p:grpSp>
        <p:nvGrpSpPr>
          <p:cNvPr id="305" name="closed-loop"/>
          <p:cNvGrpSpPr/>
          <p:nvPr/>
        </p:nvGrpSpPr>
        <p:grpSpPr>
          <a:xfrm>
            <a:off x="381000" y="4552950"/>
            <a:ext cx="11353800" cy="1257300"/>
            <a:chOff x="381000" y="4552950"/>
            <a:chExt cx="11353800" cy="1257300"/>
          </a:xfrm>
        </p:grpSpPr>
        <p:sp>
          <p:nvSpPr>
            <p:cNvPr id="232" name="Rectangle 232"/>
            <p:cNvSpPr/>
            <p:nvPr/>
          </p:nvSpPr>
          <p:spPr>
            <a:xfrm>
              <a:off x="4191000" y="4552950"/>
              <a:ext cx="3810000" cy="228600"/>
            </a:xfrm>
            <a:prstGeom prst="roundRect">
              <a:avLst>
                <a:gd name="adj" fmla="val 25000"/>
              </a:avLst>
            </a:prstGeom>
            <a:solidFill>
              <a:srgbClr val="42140B"/>
            </a:solidFill>
            <a:ln>
              <a:noFill/>
            </a:ln>
          </p:spPr>
        </p:sp>
        <p:sp>
          <p:nvSpPr>
            <p:cNvPr id="233" name="TextBox 233"/>
            <p:cNvSpPr txBox="1"/>
            <p:nvPr/>
          </p:nvSpPr>
          <p:spPr>
            <a:xfrm>
              <a:off x="5165052" y="4621768"/>
              <a:ext cx="1861896"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全闭环架构：从价值创造到持续学习</a:t>
              </a:r>
            </a:p>
          </p:txBody>
        </p:sp>
        <p:sp>
          <p:nvSpPr>
            <p:cNvPr id="234" name="Freeform 234"/>
            <p:cNvSpPr/>
            <p:nvPr/>
          </p:nvSpPr>
          <p:spPr>
            <a:xfrm>
              <a:off x="1143000" y="5638800"/>
              <a:ext cx="9829800" cy="171450"/>
            </a:xfrm>
            <a:custGeom>
              <a:avLst/>
              <a:gdLst/>
              <a:ahLst/>
              <a:cxnLst/>
              <a:rect l="l" t="t" r="r" b="b"/>
              <a:pathLst>
                <a:path w="9829800" h="171450">
                  <a:moveTo>
                    <a:pt x="9829800" y="0"/>
                  </a:moveTo>
                  <a:lnTo>
                    <a:pt x="9829800" y="171450"/>
                  </a:lnTo>
                  <a:lnTo>
                    <a:pt x="0" y="171450"/>
                  </a:lnTo>
                  <a:lnTo>
                    <a:pt x="0" y="19050"/>
                  </a:lnTo>
                </a:path>
              </a:pathLst>
            </a:custGeom>
            <a:noFill/>
            <a:ln w="12382">
              <a:solidFill>
                <a:srgbClr val="9A4B3C"/>
              </a:solidFill>
              <a:custDash>
                <a:ds d="461538" sp="307692"/>
              </a:custDash>
              <a:tailEnd type="arrow" w="lg" len="lg"/>
            </a:ln>
          </p:spPr>
        </p:sp>
        <p:grpSp>
          <p:nvGrpSpPr>
            <p:cNvPr id="244" name="cl-value"/>
            <p:cNvGrpSpPr/>
            <p:nvPr/>
          </p:nvGrpSpPr>
          <p:grpSpPr>
            <a:xfrm>
              <a:off x="381000" y="4895850"/>
              <a:ext cx="1524000" cy="723900"/>
              <a:chOff x="381000" y="4895850"/>
              <a:chExt cx="1524000" cy="723900"/>
            </a:xfrm>
          </p:grpSpPr>
          <p:sp>
            <p:nvSpPr>
              <p:cNvPr id="235" name="Rectangle 235"/>
              <p:cNvSpPr/>
              <p:nvPr/>
            </p:nvSpPr>
            <p:spPr>
              <a:xfrm>
                <a:off x="381000" y="4895850"/>
                <a:ext cx="1524000" cy="723900"/>
              </a:xfrm>
              <a:prstGeom prst="roundRect">
                <a:avLst>
                  <a:gd name="adj" fmla="val 10526"/>
                </a:avLst>
              </a:prstGeom>
              <a:solidFill>
                <a:srgbClr val="F4F8EC"/>
              </a:solidFill>
              <a:ln w="9525">
                <a:solidFill>
                  <a:srgbClr val="D9E8C6"/>
                </a:solidFill>
              </a:ln>
            </p:spPr>
          </p:sp>
          <p:grpSp>
            <p:nvGrpSpPr>
              <p:cNvPr id="240" name="Group 240"/>
              <p:cNvGrpSpPr/>
              <p:nvPr/>
            </p:nvGrpSpPr>
            <p:grpSpPr>
              <a:xfrm>
                <a:off x="502444" y="5026025"/>
                <a:ext cx="157163" cy="149225"/>
                <a:chOff x="502444" y="5026025"/>
                <a:chExt cx="157163" cy="149225"/>
              </a:xfrm>
            </p:grpSpPr>
            <p:sp>
              <p:nvSpPr>
                <p:cNvPr id="236" name="Freeform 236"/>
                <p:cNvSpPr/>
                <p:nvPr/>
              </p:nvSpPr>
              <p:spPr>
                <a:xfrm>
                  <a:off x="502444" y="509587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7C3B2F"/>
                  </a:solidFill>
                </a:ln>
              </p:spPr>
            </p:sp>
            <p:sp>
              <p:nvSpPr>
                <p:cNvPr id="237" name="Freeform 237"/>
                <p:cNvSpPr/>
                <p:nvPr/>
              </p:nvSpPr>
              <p:spPr>
                <a:xfrm>
                  <a:off x="607219" y="506095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7C3B2F"/>
                  </a:solidFill>
                </a:ln>
              </p:spPr>
            </p:sp>
            <p:sp>
              <p:nvSpPr>
                <p:cNvPr id="238" name="Freeform 238"/>
                <p:cNvSpPr/>
                <p:nvPr/>
              </p:nvSpPr>
              <p:spPr>
                <a:xfrm>
                  <a:off x="554831" y="502602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7C3B2F"/>
                  </a:solidFill>
                </a:ln>
              </p:spPr>
            </p:sp>
            <p:sp>
              <p:nvSpPr>
                <p:cNvPr id="239" name="Freeform 239"/>
                <p:cNvSpPr/>
                <p:nvPr/>
              </p:nvSpPr>
              <p:spPr>
                <a:xfrm>
                  <a:off x="511175" y="5165725"/>
                  <a:ext cx="122238" cy="9525"/>
                </a:xfrm>
                <a:custGeom>
                  <a:avLst/>
                  <a:gdLst/>
                  <a:ahLst/>
                  <a:cxnLst/>
                  <a:rect l="l" t="t" r="r" b="b"/>
                  <a:pathLst>
                    <a:path w="122238" h="9525">
                      <a:moveTo>
                        <a:pt x="0" y="0"/>
                      </a:moveTo>
                      <a:lnTo>
                        <a:pt x="122238" y="0"/>
                      </a:lnTo>
                    </a:path>
                  </a:pathLst>
                </a:custGeom>
                <a:noFill/>
                <a:ln w="17463">
                  <a:solidFill>
                    <a:srgbClr val="7C3B2F"/>
                  </a:solidFill>
                </a:ln>
              </p:spPr>
            </p:sp>
          </p:grpSp>
          <p:sp>
            <p:nvSpPr>
              <p:cNvPr id="241" name="TextBox 241"/>
              <p:cNvSpPr txBox="1"/>
              <p:nvPr/>
            </p:nvSpPr>
            <p:spPr>
              <a:xfrm>
                <a:off x="757238" y="5062538"/>
                <a:ext cx="584181"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价值</a:t>
                </a:r>
                <a:r>
                  <a:rPr lang="zh-CN" sz="560" dirty="0">
                    <a:solidFill>
                      <a:srgbClr val="66705F"/>
                    </a:solidFill>
                    <a:latin typeface="+mn-lt"/>
                    <a:ea typeface="+mn-ea"/>
                    <a:cs typeface="+mn-cs"/>
                  </a:rPr>
                  <a:t xml:space="preserve"> (Value)　</a:t>
                </a:r>
              </a:p>
            </p:txBody>
          </p:sp>
          <p:sp>
            <p:nvSpPr>
              <p:cNvPr id="242" name="TextBox 242"/>
              <p:cNvSpPr txBox="1"/>
              <p:nvPr/>
            </p:nvSpPr>
            <p:spPr>
              <a:xfrm>
                <a:off x="471488" y="53113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业务目标与场景</a:t>
                </a:r>
              </a:p>
            </p:txBody>
          </p:sp>
          <p:sp>
            <p:nvSpPr>
              <p:cNvPr id="243" name="TextBox 243"/>
              <p:cNvSpPr txBox="1"/>
              <p:nvPr/>
            </p:nvSpPr>
            <p:spPr>
              <a:xfrm>
                <a:off x="471488" y="54637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衡量指标与收益</a:t>
                </a:r>
              </a:p>
            </p:txBody>
          </p:sp>
        </p:grpSp>
        <p:sp>
          <p:nvSpPr>
            <p:cNvPr id="245" name="Polygon 245"/>
            <p:cNvSpPr/>
            <p:nvPr/>
          </p:nvSpPr>
          <p:spPr>
            <a:xfrm>
              <a:off x="1924050" y="5210175"/>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grpSp>
          <p:nvGrpSpPr>
            <p:cNvPr id="254" name="cl-knowledge"/>
            <p:cNvGrpSpPr/>
            <p:nvPr/>
          </p:nvGrpSpPr>
          <p:grpSpPr>
            <a:xfrm>
              <a:off x="2019300" y="4895850"/>
              <a:ext cx="1524000" cy="723900"/>
              <a:chOff x="2019300" y="4895850"/>
              <a:chExt cx="1524000" cy="723900"/>
            </a:xfrm>
          </p:grpSpPr>
          <p:sp>
            <p:nvSpPr>
              <p:cNvPr id="246" name="Rectangle 246"/>
              <p:cNvSpPr/>
              <p:nvPr/>
            </p:nvSpPr>
            <p:spPr>
              <a:xfrm>
                <a:off x="2019300" y="4895850"/>
                <a:ext cx="1524000" cy="723900"/>
              </a:xfrm>
              <a:prstGeom prst="roundRect">
                <a:avLst>
                  <a:gd name="adj" fmla="val 10526"/>
                </a:avLst>
              </a:prstGeom>
              <a:solidFill>
                <a:srgbClr val="F4F8EC"/>
              </a:solidFill>
              <a:ln w="9525">
                <a:solidFill>
                  <a:srgbClr val="D9E8C6"/>
                </a:solidFill>
              </a:ln>
            </p:spPr>
          </p:sp>
          <p:grpSp>
            <p:nvGrpSpPr>
              <p:cNvPr id="250" name="Group 250"/>
              <p:cNvGrpSpPr/>
              <p:nvPr/>
            </p:nvGrpSpPr>
            <p:grpSpPr>
              <a:xfrm>
                <a:off x="2158206" y="5026025"/>
                <a:ext cx="122238" cy="139700"/>
                <a:chOff x="2158206" y="5026025"/>
                <a:chExt cx="122238" cy="139700"/>
              </a:xfrm>
            </p:grpSpPr>
            <p:sp>
              <p:nvSpPr>
                <p:cNvPr id="247" name="Freeform 247"/>
                <p:cNvSpPr/>
                <p:nvPr/>
              </p:nvSpPr>
              <p:spPr>
                <a:xfrm>
                  <a:off x="2158206" y="5026025"/>
                  <a:ext cx="122238" cy="139700"/>
                </a:xfrm>
                <a:custGeom>
                  <a:avLst/>
                  <a:gdLst/>
                  <a:ahLst/>
                  <a:cxnLst/>
                  <a:rect l="l" t="t" r="r" b="b"/>
                  <a:pathLst>
                    <a:path w="122238" h="139700">
                      <a:moveTo>
                        <a:pt x="122238" y="0"/>
                      </a:moveTo>
                      <a:lnTo>
                        <a:pt x="122238" y="139700"/>
                      </a:lnTo>
                      <a:lnTo>
                        <a:pt x="17463" y="139700"/>
                      </a:lnTo>
                      <a:cubicBezTo>
                        <a:pt x="7818" y="139700"/>
                        <a:pt x="0" y="131882"/>
                        <a:pt x="0" y="122238"/>
                      </a:cubicBezTo>
                      <a:lnTo>
                        <a:pt x="0" y="17463"/>
                      </a:lnTo>
                      <a:cubicBezTo>
                        <a:pt x="0" y="7818"/>
                        <a:pt x="7818" y="0"/>
                        <a:pt x="17463" y="0"/>
                      </a:cubicBezTo>
                      <a:lnTo>
                        <a:pt x="122238" y="0"/>
                      </a:lnTo>
                    </a:path>
                  </a:pathLst>
                </a:custGeom>
                <a:noFill/>
                <a:ln w="17463">
                  <a:solidFill>
                    <a:srgbClr val="7C3B2F"/>
                  </a:solidFill>
                </a:ln>
              </p:spPr>
            </p:sp>
            <p:sp>
              <p:nvSpPr>
                <p:cNvPr id="248" name="Freeform 248"/>
                <p:cNvSpPr/>
                <p:nvPr/>
              </p:nvSpPr>
              <p:spPr>
                <a:xfrm>
                  <a:off x="2158206" y="5130800"/>
                  <a:ext cx="122238" cy="17463"/>
                </a:xfrm>
                <a:custGeom>
                  <a:avLst/>
                  <a:gdLst/>
                  <a:ahLst/>
                  <a:cxnLst/>
                  <a:rect l="l" t="t" r="r" b="b"/>
                  <a:pathLst>
                    <a:path w="122238" h="17463">
                      <a:moveTo>
                        <a:pt x="122238" y="0"/>
                      </a:moveTo>
                      <a:lnTo>
                        <a:pt x="17463" y="0"/>
                      </a:lnTo>
                      <a:cubicBezTo>
                        <a:pt x="7818" y="0"/>
                        <a:pt x="0" y="7818"/>
                        <a:pt x="0" y="17463"/>
                      </a:cubicBezTo>
                    </a:path>
                  </a:pathLst>
                </a:custGeom>
                <a:noFill/>
                <a:ln w="17463">
                  <a:solidFill>
                    <a:srgbClr val="7C3B2F"/>
                  </a:solidFill>
                </a:ln>
              </p:spPr>
            </p:sp>
            <p:sp>
              <p:nvSpPr>
                <p:cNvPr id="249" name="Freeform 249"/>
                <p:cNvSpPr/>
                <p:nvPr/>
              </p:nvSpPr>
              <p:spPr>
                <a:xfrm>
                  <a:off x="2193131" y="5060950"/>
                  <a:ext cx="52388" cy="9525"/>
                </a:xfrm>
                <a:custGeom>
                  <a:avLst/>
                  <a:gdLst/>
                  <a:ahLst/>
                  <a:cxnLst/>
                  <a:rect l="l" t="t" r="r" b="b"/>
                  <a:pathLst>
                    <a:path w="52388" h="9525">
                      <a:moveTo>
                        <a:pt x="0" y="0"/>
                      </a:moveTo>
                      <a:lnTo>
                        <a:pt x="52388" y="0"/>
                      </a:lnTo>
                    </a:path>
                  </a:pathLst>
                </a:custGeom>
                <a:noFill/>
                <a:ln w="17463">
                  <a:solidFill>
                    <a:srgbClr val="7C3B2F"/>
                  </a:solidFill>
                </a:ln>
              </p:spPr>
            </p:sp>
          </p:grpSp>
          <p:sp>
            <p:nvSpPr>
              <p:cNvPr id="251" name="TextBox 251"/>
              <p:cNvSpPr txBox="1"/>
              <p:nvPr/>
            </p:nvSpPr>
            <p:spPr>
              <a:xfrm>
                <a:off x="2395538" y="5062538"/>
                <a:ext cx="764769"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知识</a:t>
                </a:r>
                <a:r>
                  <a:rPr lang="zh-CN" sz="560" dirty="0">
                    <a:solidFill>
                      <a:srgbClr val="66705F"/>
                    </a:solidFill>
                    <a:latin typeface="+mn-lt"/>
                    <a:ea typeface="+mn-ea"/>
                    <a:cs typeface="+mn-cs"/>
                  </a:rPr>
                  <a:t xml:space="preserve"> (Knowledge)　</a:t>
                </a:r>
              </a:p>
            </p:txBody>
          </p:sp>
          <p:sp>
            <p:nvSpPr>
              <p:cNvPr id="252" name="TextBox 252"/>
              <p:cNvSpPr txBox="1"/>
              <p:nvPr/>
            </p:nvSpPr>
            <p:spPr>
              <a:xfrm>
                <a:off x="2109788" y="531137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采集与沉淀</a:t>
                </a:r>
              </a:p>
            </p:txBody>
          </p:sp>
          <p:sp>
            <p:nvSpPr>
              <p:cNvPr id="253" name="TextBox 253"/>
              <p:cNvSpPr txBox="1"/>
              <p:nvPr/>
            </p:nvSpPr>
            <p:spPr>
              <a:xfrm>
                <a:off x="2109788" y="54637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结构化与治理</a:t>
                </a:r>
              </a:p>
            </p:txBody>
          </p:sp>
        </p:grpSp>
        <p:sp>
          <p:nvSpPr>
            <p:cNvPr id="255" name="Polygon 255"/>
            <p:cNvSpPr/>
            <p:nvPr/>
          </p:nvSpPr>
          <p:spPr>
            <a:xfrm>
              <a:off x="3562350" y="5210175"/>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grpSp>
          <p:nvGrpSpPr>
            <p:cNvPr id="263" name="cl-retrieval"/>
            <p:cNvGrpSpPr/>
            <p:nvPr/>
          </p:nvGrpSpPr>
          <p:grpSpPr>
            <a:xfrm>
              <a:off x="3657600" y="4895850"/>
              <a:ext cx="1524000" cy="723900"/>
              <a:chOff x="3657600" y="4895850"/>
              <a:chExt cx="1524000" cy="723900"/>
            </a:xfrm>
          </p:grpSpPr>
          <p:sp>
            <p:nvSpPr>
              <p:cNvPr id="256" name="Rectangle 256"/>
              <p:cNvSpPr/>
              <p:nvPr/>
            </p:nvSpPr>
            <p:spPr>
              <a:xfrm>
                <a:off x="3657600" y="4895850"/>
                <a:ext cx="1524000" cy="723900"/>
              </a:xfrm>
              <a:prstGeom prst="roundRect">
                <a:avLst>
                  <a:gd name="adj" fmla="val 10526"/>
                </a:avLst>
              </a:prstGeom>
              <a:solidFill>
                <a:srgbClr val="F4F8EC"/>
              </a:solidFill>
              <a:ln w="9525">
                <a:solidFill>
                  <a:srgbClr val="D9E8C6"/>
                </a:solidFill>
              </a:ln>
            </p:spPr>
          </p:sp>
          <p:grpSp>
            <p:nvGrpSpPr>
              <p:cNvPr id="259" name="Group 259"/>
              <p:cNvGrpSpPr/>
              <p:nvPr/>
            </p:nvGrpSpPr>
            <p:grpSpPr>
              <a:xfrm>
                <a:off x="3779044" y="5017294"/>
                <a:ext cx="157163" cy="157163"/>
                <a:chOff x="3779044" y="5017294"/>
                <a:chExt cx="157163" cy="157163"/>
              </a:xfrm>
            </p:grpSpPr>
            <p:sp>
              <p:nvSpPr>
                <p:cNvPr id="257" name="Freeform 257"/>
                <p:cNvSpPr/>
                <p:nvPr/>
              </p:nvSpPr>
              <p:spPr>
                <a:xfrm>
                  <a:off x="3779044" y="501729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7C3B2F"/>
                  </a:solidFill>
                </a:ln>
              </p:spPr>
            </p:sp>
            <p:sp>
              <p:nvSpPr>
                <p:cNvPr id="258" name="Freeform 258"/>
                <p:cNvSpPr/>
                <p:nvPr/>
              </p:nvSpPr>
              <p:spPr>
                <a:xfrm>
                  <a:off x="3883819" y="5122069"/>
                  <a:ext cx="52388" cy="52388"/>
                </a:xfrm>
                <a:custGeom>
                  <a:avLst/>
                  <a:gdLst/>
                  <a:ahLst/>
                  <a:cxnLst/>
                  <a:rect l="l" t="t" r="r" b="b"/>
                  <a:pathLst>
                    <a:path w="52388" h="52388">
                      <a:moveTo>
                        <a:pt x="52388" y="52388"/>
                      </a:moveTo>
                      <a:lnTo>
                        <a:pt x="0" y="0"/>
                      </a:lnTo>
                    </a:path>
                  </a:pathLst>
                </a:custGeom>
                <a:noFill/>
                <a:ln w="17463">
                  <a:solidFill>
                    <a:srgbClr val="7C3B2F"/>
                  </a:solidFill>
                </a:ln>
              </p:spPr>
            </p:sp>
          </p:grpSp>
          <p:sp>
            <p:nvSpPr>
              <p:cNvPr id="260" name="TextBox 260"/>
              <p:cNvSpPr txBox="1"/>
              <p:nvPr/>
            </p:nvSpPr>
            <p:spPr>
              <a:xfrm>
                <a:off x="4033838" y="5062538"/>
                <a:ext cx="730631"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检索</a:t>
                </a:r>
                <a:r>
                  <a:rPr lang="zh-CN" sz="560" dirty="0">
                    <a:solidFill>
                      <a:srgbClr val="66705F"/>
                    </a:solidFill>
                    <a:latin typeface="+mn-lt"/>
                    <a:ea typeface="+mn-ea"/>
                    <a:cs typeface="+mn-cs"/>
                  </a:rPr>
                  <a:t xml:space="preserve"> (Retrieval)　</a:t>
                </a:r>
              </a:p>
            </p:txBody>
          </p:sp>
          <p:sp>
            <p:nvSpPr>
              <p:cNvPr id="261" name="TextBox 261"/>
              <p:cNvSpPr txBox="1"/>
              <p:nvPr/>
            </p:nvSpPr>
            <p:spPr>
              <a:xfrm>
                <a:off x="3748088" y="5311378"/>
                <a:ext cx="70013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向量检索 + 关键词</a:t>
                </a:r>
              </a:p>
            </p:txBody>
          </p:sp>
          <p:sp>
            <p:nvSpPr>
              <p:cNvPr id="262" name="TextBox 262"/>
              <p:cNvSpPr txBox="1"/>
              <p:nvPr/>
            </p:nvSpPr>
            <p:spPr>
              <a:xfrm>
                <a:off x="3748088" y="546377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召回与重排</a:t>
                </a:r>
              </a:p>
            </p:txBody>
          </p:sp>
        </p:grpSp>
        <p:sp>
          <p:nvSpPr>
            <p:cNvPr id="264" name="Polygon 264"/>
            <p:cNvSpPr/>
            <p:nvPr/>
          </p:nvSpPr>
          <p:spPr>
            <a:xfrm>
              <a:off x="5200650" y="5210175"/>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grpSp>
          <p:nvGrpSpPr>
            <p:cNvPr id="273" name="cl-reasoning"/>
            <p:cNvGrpSpPr/>
            <p:nvPr/>
          </p:nvGrpSpPr>
          <p:grpSpPr>
            <a:xfrm>
              <a:off x="5295900" y="4895850"/>
              <a:ext cx="1524000" cy="723900"/>
              <a:chOff x="5295900" y="4895850"/>
              <a:chExt cx="1524000" cy="723900"/>
            </a:xfrm>
          </p:grpSpPr>
          <p:sp>
            <p:nvSpPr>
              <p:cNvPr id="265" name="Rectangle 265"/>
              <p:cNvSpPr/>
              <p:nvPr/>
            </p:nvSpPr>
            <p:spPr>
              <a:xfrm>
                <a:off x="5295900" y="4895850"/>
                <a:ext cx="1524000" cy="723900"/>
              </a:xfrm>
              <a:prstGeom prst="roundRect">
                <a:avLst>
                  <a:gd name="adj" fmla="val 10526"/>
                </a:avLst>
              </a:prstGeom>
              <a:solidFill>
                <a:srgbClr val="F4F8EC"/>
              </a:solidFill>
              <a:ln w="9525">
                <a:solidFill>
                  <a:srgbClr val="D9E8C6"/>
                </a:solidFill>
              </a:ln>
            </p:spPr>
          </p:sp>
          <p:grpSp>
            <p:nvGrpSpPr>
              <p:cNvPr id="269" name="Group 269"/>
              <p:cNvGrpSpPr/>
              <p:nvPr/>
            </p:nvGrpSpPr>
            <p:grpSpPr>
              <a:xfrm>
                <a:off x="5417344" y="5017294"/>
                <a:ext cx="157163" cy="157163"/>
                <a:chOff x="5417344" y="5017294"/>
                <a:chExt cx="157163" cy="157163"/>
              </a:xfrm>
            </p:grpSpPr>
            <p:sp>
              <p:nvSpPr>
                <p:cNvPr id="266" name="Freeform 266"/>
                <p:cNvSpPr/>
                <p:nvPr/>
              </p:nvSpPr>
              <p:spPr>
                <a:xfrm>
                  <a:off x="5417344" y="5017294"/>
                  <a:ext cx="157163" cy="78581"/>
                </a:xfrm>
                <a:custGeom>
                  <a:avLst/>
                  <a:gdLst/>
                  <a:ahLst/>
                  <a:cxnLst/>
                  <a:rect l="l" t="t" r="r" b="b"/>
                  <a:pathLst>
                    <a:path w="157163" h="78581">
                      <a:moveTo>
                        <a:pt x="0" y="78581"/>
                      </a:moveTo>
                      <a:lnTo>
                        <a:pt x="8731" y="78581"/>
                      </a:lnTo>
                      <a:moveTo>
                        <a:pt x="78581" y="0"/>
                      </a:moveTo>
                      <a:lnTo>
                        <a:pt x="78581" y="8731"/>
                      </a:lnTo>
                      <a:moveTo>
                        <a:pt x="148431" y="78581"/>
                      </a:moveTo>
                      <a:lnTo>
                        <a:pt x="157163" y="78581"/>
                      </a:lnTo>
                      <a:moveTo>
                        <a:pt x="22701" y="22701"/>
                      </a:moveTo>
                      <a:lnTo>
                        <a:pt x="28813" y="28813"/>
                      </a:lnTo>
                      <a:moveTo>
                        <a:pt x="134461" y="22701"/>
                      </a:moveTo>
                      <a:lnTo>
                        <a:pt x="128349" y="28813"/>
                      </a:lnTo>
                    </a:path>
                  </a:pathLst>
                </a:custGeom>
                <a:noFill/>
                <a:ln w="17463">
                  <a:solidFill>
                    <a:srgbClr val="7C3B2F"/>
                  </a:solidFill>
                </a:ln>
              </p:spPr>
            </p:sp>
            <p:sp>
              <p:nvSpPr>
                <p:cNvPr id="267" name="Freeform 267"/>
                <p:cNvSpPr/>
                <p:nvPr/>
              </p:nvSpPr>
              <p:spPr>
                <a:xfrm>
                  <a:off x="5448567" y="5052219"/>
                  <a:ext cx="94716" cy="122238"/>
                </a:xfrm>
                <a:custGeom>
                  <a:avLst/>
                  <a:gdLst/>
                  <a:ahLst/>
                  <a:cxnLst/>
                  <a:rect l="l" t="t" r="r" b="b"/>
                  <a:pathLst>
                    <a:path w="94716" h="122238">
                      <a:moveTo>
                        <a:pt x="21164" y="78581"/>
                      </a:moveTo>
                      <a:cubicBezTo>
                        <a:pt x="6132" y="67307"/>
                        <a:pt x="0" y="47678"/>
                        <a:pt x="5942" y="29851"/>
                      </a:cubicBezTo>
                      <a:cubicBezTo>
                        <a:pt x="11884" y="12024"/>
                        <a:pt x="28567" y="0"/>
                        <a:pt x="47358" y="0"/>
                      </a:cubicBezTo>
                      <a:cubicBezTo>
                        <a:pt x="66149" y="0"/>
                        <a:pt x="82832" y="12024"/>
                        <a:pt x="88774" y="29851"/>
                      </a:cubicBezTo>
                      <a:cubicBezTo>
                        <a:pt x="94716" y="47678"/>
                        <a:pt x="88585" y="67307"/>
                        <a:pt x="73552" y="78581"/>
                      </a:cubicBezTo>
                      <a:cubicBezTo>
                        <a:pt x="66638" y="85425"/>
                        <a:pt x="63396" y="95152"/>
                        <a:pt x="64821" y="104775"/>
                      </a:cubicBezTo>
                      <a:cubicBezTo>
                        <a:pt x="64821" y="114419"/>
                        <a:pt x="57002" y="122238"/>
                        <a:pt x="47358" y="122238"/>
                      </a:cubicBezTo>
                      <a:cubicBezTo>
                        <a:pt x="37714" y="122238"/>
                        <a:pt x="29896" y="114419"/>
                        <a:pt x="29896" y="104775"/>
                      </a:cubicBezTo>
                      <a:cubicBezTo>
                        <a:pt x="31320" y="95152"/>
                        <a:pt x="28078" y="85425"/>
                        <a:pt x="21164" y="78581"/>
                      </a:cubicBezTo>
                    </a:path>
                  </a:pathLst>
                </a:custGeom>
                <a:noFill/>
                <a:ln w="17463">
                  <a:solidFill>
                    <a:srgbClr val="7C3B2F"/>
                  </a:solidFill>
                </a:ln>
              </p:spPr>
            </p:sp>
            <p:sp>
              <p:nvSpPr>
                <p:cNvPr id="268" name="Freeform 268"/>
                <p:cNvSpPr/>
                <p:nvPr/>
              </p:nvSpPr>
              <p:spPr>
                <a:xfrm>
                  <a:off x="5475843" y="5139531"/>
                  <a:ext cx="40164" cy="9525"/>
                </a:xfrm>
                <a:custGeom>
                  <a:avLst/>
                  <a:gdLst/>
                  <a:ahLst/>
                  <a:cxnLst/>
                  <a:rect l="l" t="t" r="r" b="b"/>
                  <a:pathLst>
                    <a:path w="40164" h="9525">
                      <a:moveTo>
                        <a:pt x="0" y="0"/>
                      </a:moveTo>
                      <a:lnTo>
                        <a:pt x="40164" y="0"/>
                      </a:lnTo>
                    </a:path>
                  </a:pathLst>
                </a:custGeom>
                <a:noFill/>
                <a:ln w="17463">
                  <a:solidFill>
                    <a:srgbClr val="7C3B2F"/>
                  </a:solidFill>
                </a:ln>
              </p:spPr>
            </p:sp>
          </p:grpSp>
          <p:sp>
            <p:nvSpPr>
              <p:cNvPr id="270" name="TextBox 270"/>
              <p:cNvSpPr txBox="1"/>
              <p:nvPr/>
            </p:nvSpPr>
            <p:spPr>
              <a:xfrm>
                <a:off x="5672138" y="5062538"/>
                <a:ext cx="749596"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推理</a:t>
                </a:r>
                <a:r>
                  <a:rPr lang="zh-CN" sz="560" dirty="0">
                    <a:solidFill>
                      <a:srgbClr val="66705F"/>
                    </a:solidFill>
                    <a:latin typeface="+mn-lt"/>
                    <a:ea typeface="+mn-ea"/>
                    <a:cs typeface="+mn-cs"/>
                  </a:rPr>
                  <a:t xml:space="preserve"> (Reasoning)　</a:t>
                </a:r>
              </a:p>
            </p:txBody>
          </p:sp>
          <p:sp>
            <p:nvSpPr>
              <p:cNvPr id="271" name="TextBox 271"/>
              <p:cNvSpPr txBox="1"/>
              <p:nvPr/>
            </p:nvSpPr>
            <p:spPr>
              <a:xfrm>
                <a:off x="5386388" y="531137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大模型推理</a:t>
                </a:r>
              </a:p>
            </p:txBody>
          </p:sp>
          <p:sp>
            <p:nvSpPr>
              <p:cNvPr id="272" name="TextBox 272"/>
              <p:cNvSpPr txBox="1"/>
              <p:nvPr/>
            </p:nvSpPr>
            <p:spPr>
              <a:xfrm>
                <a:off x="5386388" y="54637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逻辑与工具增强</a:t>
                </a:r>
              </a:p>
            </p:txBody>
          </p:sp>
        </p:grpSp>
        <p:sp>
          <p:nvSpPr>
            <p:cNvPr id="274" name="Polygon 274"/>
            <p:cNvSpPr/>
            <p:nvPr/>
          </p:nvSpPr>
          <p:spPr>
            <a:xfrm>
              <a:off x="6838950" y="5210175"/>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grpSp>
          <p:nvGrpSpPr>
            <p:cNvPr id="283" name="cl-action"/>
            <p:cNvGrpSpPr/>
            <p:nvPr/>
          </p:nvGrpSpPr>
          <p:grpSpPr>
            <a:xfrm>
              <a:off x="6934200" y="4895850"/>
              <a:ext cx="1524000" cy="723900"/>
              <a:chOff x="6934200" y="4895850"/>
              <a:chExt cx="1524000" cy="723900"/>
            </a:xfrm>
          </p:grpSpPr>
          <p:sp>
            <p:nvSpPr>
              <p:cNvPr id="275" name="Rectangle 275"/>
              <p:cNvSpPr/>
              <p:nvPr/>
            </p:nvSpPr>
            <p:spPr>
              <a:xfrm>
                <a:off x="6934200" y="4895850"/>
                <a:ext cx="1524000" cy="723900"/>
              </a:xfrm>
              <a:prstGeom prst="roundRect">
                <a:avLst>
                  <a:gd name="adj" fmla="val 10526"/>
                </a:avLst>
              </a:prstGeom>
              <a:solidFill>
                <a:srgbClr val="F4F8EC"/>
              </a:solidFill>
              <a:ln w="9525">
                <a:solidFill>
                  <a:srgbClr val="D9E8C6"/>
                </a:solidFill>
              </a:ln>
            </p:spPr>
          </p:sp>
          <p:grpSp>
            <p:nvGrpSpPr>
              <p:cNvPr id="279" name="Group 279"/>
              <p:cNvGrpSpPr/>
              <p:nvPr/>
            </p:nvGrpSpPr>
            <p:grpSpPr>
              <a:xfrm>
                <a:off x="7061617" y="5026025"/>
                <a:ext cx="142458" cy="142458"/>
                <a:chOff x="7061617" y="5026025"/>
                <a:chExt cx="142458" cy="142458"/>
              </a:xfrm>
            </p:grpSpPr>
            <p:sp>
              <p:nvSpPr>
                <p:cNvPr id="276" name="Freeform 276"/>
                <p:cNvSpPr/>
                <p:nvPr/>
              </p:nvSpPr>
              <p:spPr>
                <a:xfrm>
                  <a:off x="7064375" y="5026025"/>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7C3B2F"/>
                  </a:solidFill>
                </a:ln>
              </p:spPr>
            </p:sp>
            <p:sp>
              <p:nvSpPr>
                <p:cNvPr id="277" name="Freeform 277"/>
                <p:cNvSpPr/>
                <p:nvPr/>
              </p:nvSpPr>
              <p:spPr>
                <a:xfrm>
                  <a:off x="7061617" y="5113338"/>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7C3B2F"/>
                  </a:solidFill>
                </a:ln>
              </p:spPr>
            </p:sp>
            <p:sp>
              <p:nvSpPr>
                <p:cNvPr id="278" name="Freeform 278"/>
                <p:cNvSpPr/>
                <p:nvPr/>
              </p:nvSpPr>
              <p:spPr>
                <a:xfrm>
                  <a:off x="7151688" y="5060950"/>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7C3B2F"/>
                  </a:solidFill>
                </a:ln>
              </p:spPr>
            </p:sp>
          </p:grpSp>
          <p:sp>
            <p:nvSpPr>
              <p:cNvPr id="280" name="TextBox 280"/>
              <p:cNvSpPr txBox="1"/>
              <p:nvPr/>
            </p:nvSpPr>
            <p:spPr>
              <a:xfrm>
                <a:off x="7310438" y="5062538"/>
                <a:ext cx="625480"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行动</a:t>
                </a:r>
                <a:r>
                  <a:rPr lang="zh-CN" sz="560" dirty="0">
                    <a:solidFill>
                      <a:srgbClr val="66705F"/>
                    </a:solidFill>
                    <a:latin typeface="+mn-lt"/>
                    <a:ea typeface="+mn-ea"/>
                    <a:cs typeface="+mn-cs"/>
                  </a:rPr>
                  <a:t xml:space="preserve"> (Action)　</a:t>
                </a:r>
              </a:p>
            </p:txBody>
          </p:sp>
          <p:sp>
            <p:nvSpPr>
              <p:cNvPr id="281" name="TextBox 281"/>
              <p:cNvSpPr txBox="1"/>
              <p:nvPr/>
            </p:nvSpPr>
            <p:spPr>
              <a:xfrm>
                <a:off x="7024688" y="5311378"/>
                <a:ext cx="538048"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执行与自动化</a:t>
                </a:r>
              </a:p>
            </p:txBody>
          </p:sp>
          <p:sp>
            <p:nvSpPr>
              <p:cNvPr id="282" name="TextBox 282"/>
              <p:cNvSpPr txBox="1"/>
              <p:nvPr/>
            </p:nvSpPr>
            <p:spPr>
              <a:xfrm>
                <a:off x="7024688" y="5463778"/>
                <a:ext cx="57951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调用工具/系统</a:t>
                </a:r>
              </a:p>
            </p:txBody>
          </p:sp>
        </p:grpSp>
        <p:sp>
          <p:nvSpPr>
            <p:cNvPr id="284" name="Polygon 284"/>
            <p:cNvSpPr/>
            <p:nvPr/>
          </p:nvSpPr>
          <p:spPr>
            <a:xfrm>
              <a:off x="8477250" y="5210175"/>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grpSp>
          <p:nvGrpSpPr>
            <p:cNvPr id="295" name="cl-evidence"/>
            <p:cNvGrpSpPr/>
            <p:nvPr/>
          </p:nvGrpSpPr>
          <p:grpSpPr>
            <a:xfrm>
              <a:off x="8572500" y="4895850"/>
              <a:ext cx="1524000" cy="723900"/>
              <a:chOff x="8572500" y="4895850"/>
              <a:chExt cx="1524000" cy="723900"/>
            </a:xfrm>
          </p:grpSpPr>
          <p:sp>
            <p:nvSpPr>
              <p:cNvPr id="285" name="Rectangle 285"/>
              <p:cNvSpPr/>
              <p:nvPr/>
            </p:nvSpPr>
            <p:spPr>
              <a:xfrm>
                <a:off x="8572500" y="4895850"/>
                <a:ext cx="1524000" cy="723900"/>
              </a:xfrm>
              <a:prstGeom prst="roundRect">
                <a:avLst>
                  <a:gd name="adj" fmla="val 10526"/>
                </a:avLst>
              </a:prstGeom>
              <a:solidFill>
                <a:srgbClr val="F4F8EC"/>
              </a:solidFill>
              <a:ln w="9525">
                <a:solidFill>
                  <a:srgbClr val="D9E8C6"/>
                </a:solidFill>
              </a:ln>
            </p:spPr>
          </p:sp>
          <p:grpSp>
            <p:nvGrpSpPr>
              <p:cNvPr id="291" name="Group 291"/>
              <p:cNvGrpSpPr/>
              <p:nvPr/>
            </p:nvGrpSpPr>
            <p:grpSpPr>
              <a:xfrm>
                <a:off x="8711406" y="5017294"/>
                <a:ext cx="122238" cy="157163"/>
                <a:chOff x="8711406" y="5017294"/>
                <a:chExt cx="122238" cy="157163"/>
              </a:xfrm>
            </p:grpSpPr>
            <p:sp>
              <p:nvSpPr>
                <p:cNvPr id="286" name="Freeform 286"/>
                <p:cNvSpPr/>
                <p:nvPr/>
              </p:nvSpPr>
              <p:spPr>
                <a:xfrm>
                  <a:off x="8789988" y="501729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7C3B2F"/>
                  </a:solidFill>
                </a:ln>
              </p:spPr>
            </p:sp>
            <p:sp>
              <p:nvSpPr>
                <p:cNvPr id="287" name="Freeform 287"/>
                <p:cNvSpPr/>
                <p:nvPr/>
              </p:nvSpPr>
              <p:spPr>
                <a:xfrm>
                  <a:off x="8711406" y="501729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7C3B2F"/>
                  </a:solidFill>
                </a:ln>
              </p:spPr>
            </p:sp>
            <p:sp>
              <p:nvSpPr>
                <p:cNvPr id="288" name="Freeform 288"/>
                <p:cNvSpPr/>
                <p:nvPr/>
              </p:nvSpPr>
              <p:spPr>
                <a:xfrm>
                  <a:off x="8746331" y="5069681"/>
                  <a:ext cx="9525" cy="9525"/>
                </a:xfrm>
                <a:custGeom>
                  <a:avLst/>
                  <a:gdLst/>
                  <a:ahLst/>
                  <a:cxnLst/>
                  <a:rect l="l" t="t" r="r" b="b"/>
                  <a:pathLst>
                    <a:path w="9525" h="9525">
                      <a:moveTo>
                        <a:pt x="0" y="0"/>
                      </a:moveTo>
                      <a:lnTo>
                        <a:pt x="8731" y="0"/>
                      </a:lnTo>
                    </a:path>
                  </a:pathLst>
                </a:custGeom>
                <a:noFill/>
                <a:ln w="17463">
                  <a:solidFill>
                    <a:srgbClr val="7C3B2F"/>
                  </a:solidFill>
                </a:ln>
              </p:spPr>
            </p:sp>
            <p:sp>
              <p:nvSpPr>
                <p:cNvPr id="289" name="Freeform 289"/>
                <p:cNvSpPr/>
                <p:nvPr/>
              </p:nvSpPr>
              <p:spPr>
                <a:xfrm>
                  <a:off x="8746331" y="5104606"/>
                  <a:ext cx="52388" cy="9525"/>
                </a:xfrm>
                <a:custGeom>
                  <a:avLst/>
                  <a:gdLst/>
                  <a:ahLst/>
                  <a:cxnLst/>
                  <a:rect l="l" t="t" r="r" b="b"/>
                  <a:pathLst>
                    <a:path w="52388" h="9525">
                      <a:moveTo>
                        <a:pt x="0" y="0"/>
                      </a:moveTo>
                      <a:lnTo>
                        <a:pt x="52388" y="0"/>
                      </a:lnTo>
                    </a:path>
                  </a:pathLst>
                </a:custGeom>
                <a:noFill/>
                <a:ln w="17463">
                  <a:solidFill>
                    <a:srgbClr val="7C3B2F"/>
                  </a:solidFill>
                </a:ln>
              </p:spPr>
            </p:sp>
            <p:sp>
              <p:nvSpPr>
                <p:cNvPr id="290" name="Freeform 290"/>
                <p:cNvSpPr/>
                <p:nvPr/>
              </p:nvSpPr>
              <p:spPr>
                <a:xfrm>
                  <a:off x="8746331" y="5139531"/>
                  <a:ext cx="52388" cy="9525"/>
                </a:xfrm>
                <a:custGeom>
                  <a:avLst/>
                  <a:gdLst/>
                  <a:ahLst/>
                  <a:cxnLst/>
                  <a:rect l="l" t="t" r="r" b="b"/>
                  <a:pathLst>
                    <a:path w="52388" h="9525">
                      <a:moveTo>
                        <a:pt x="0" y="0"/>
                      </a:moveTo>
                      <a:lnTo>
                        <a:pt x="52388" y="0"/>
                      </a:lnTo>
                    </a:path>
                  </a:pathLst>
                </a:custGeom>
                <a:noFill/>
                <a:ln w="17463">
                  <a:solidFill>
                    <a:srgbClr val="7C3B2F"/>
                  </a:solidFill>
                </a:ln>
              </p:spPr>
            </p:sp>
          </p:grpSp>
          <p:sp>
            <p:nvSpPr>
              <p:cNvPr id="292" name="TextBox 292"/>
              <p:cNvSpPr txBox="1"/>
              <p:nvPr/>
            </p:nvSpPr>
            <p:spPr>
              <a:xfrm>
                <a:off x="8948738" y="5062538"/>
                <a:ext cx="708202"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证据</a:t>
                </a:r>
                <a:r>
                  <a:rPr lang="zh-CN" sz="560" dirty="0">
                    <a:solidFill>
                      <a:srgbClr val="66705F"/>
                    </a:solidFill>
                    <a:latin typeface="+mn-lt"/>
                    <a:ea typeface="+mn-ea"/>
                    <a:cs typeface="+mn-cs"/>
                  </a:rPr>
                  <a:t xml:space="preserve"> (Evidence)　</a:t>
                </a:r>
              </a:p>
            </p:txBody>
          </p:sp>
          <p:sp>
            <p:nvSpPr>
              <p:cNvPr id="293" name="TextBox 293"/>
              <p:cNvSpPr txBox="1"/>
              <p:nvPr/>
            </p:nvSpPr>
            <p:spPr>
              <a:xfrm>
                <a:off x="8662988" y="531137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引用与来源</a:t>
                </a:r>
              </a:p>
            </p:txBody>
          </p:sp>
          <p:sp>
            <p:nvSpPr>
              <p:cNvPr id="294" name="TextBox 294"/>
              <p:cNvSpPr txBox="1"/>
              <p:nvPr/>
            </p:nvSpPr>
            <p:spPr>
              <a:xfrm>
                <a:off x="8662988" y="54637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可追溯与可审计</a:t>
                </a:r>
              </a:p>
            </p:txBody>
          </p:sp>
        </p:grpSp>
        <p:sp>
          <p:nvSpPr>
            <p:cNvPr id="296" name="Polygon 296"/>
            <p:cNvSpPr/>
            <p:nvPr/>
          </p:nvSpPr>
          <p:spPr>
            <a:xfrm>
              <a:off x="10115550" y="5210175"/>
              <a:ext cx="76200" cy="95250"/>
            </a:xfrm>
            <a:custGeom>
              <a:avLst/>
              <a:gdLst/>
              <a:ahLst/>
              <a:cxnLst/>
              <a:rect l="l" t="t" r="r" b="b"/>
              <a:pathLst>
                <a:path w="76200" h="95250">
                  <a:moveTo>
                    <a:pt x="0" y="0"/>
                  </a:moveTo>
                  <a:lnTo>
                    <a:pt x="76200" y="47625"/>
                  </a:lnTo>
                  <a:lnTo>
                    <a:pt x="0" y="95250"/>
                  </a:lnTo>
                  <a:close/>
                </a:path>
              </a:pathLst>
            </a:custGeom>
            <a:solidFill>
              <a:srgbClr val="9A4B3C"/>
            </a:solidFill>
            <a:ln>
              <a:noFill/>
            </a:ln>
          </p:spPr>
        </p:sp>
        <p:grpSp>
          <p:nvGrpSpPr>
            <p:cNvPr id="304" name="cl-learning"/>
            <p:cNvGrpSpPr/>
            <p:nvPr/>
          </p:nvGrpSpPr>
          <p:grpSpPr>
            <a:xfrm>
              <a:off x="10210800" y="4895850"/>
              <a:ext cx="1524000" cy="723900"/>
              <a:chOff x="10210800" y="4895850"/>
              <a:chExt cx="1524000" cy="723900"/>
            </a:xfrm>
          </p:grpSpPr>
          <p:sp>
            <p:nvSpPr>
              <p:cNvPr id="297" name="Rectangle 297"/>
              <p:cNvSpPr/>
              <p:nvPr/>
            </p:nvSpPr>
            <p:spPr>
              <a:xfrm>
                <a:off x="10210800" y="4895850"/>
                <a:ext cx="1524000" cy="723900"/>
              </a:xfrm>
              <a:prstGeom prst="roundRect">
                <a:avLst>
                  <a:gd name="adj" fmla="val 10526"/>
                </a:avLst>
              </a:prstGeom>
              <a:solidFill>
                <a:srgbClr val="F4F8EC"/>
              </a:solidFill>
              <a:ln w="9525">
                <a:solidFill>
                  <a:srgbClr val="D9E8C6"/>
                </a:solidFill>
              </a:ln>
            </p:spPr>
          </p:sp>
          <p:grpSp>
            <p:nvGrpSpPr>
              <p:cNvPr id="300" name="Group 300"/>
              <p:cNvGrpSpPr/>
              <p:nvPr/>
            </p:nvGrpSpPr>
            <p:grpSpPr>
              <a:xfrm>
                <a:off x="10340975" y="5022656"/>
                <a:ext cx="139700" cy="146438"/>
                <a:chOff x="10340975" y="5022656"/>
                <a:chExt cx="139700" cy="146438"/>
              </a:xfrm>
            </p:grpSpPr>
            <p:sp>
              <p:nvSpPr>
                <p:cNvPr id="298" name="Freeform 298"/>
                <p:cNvSpPr/>
                <p:nvPr/>
              </p:nvSpPr>
              <p:spPr>
                <a:xfrm>
                  <a:off x="10340975" y="5022656"/>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7C3B2F"/>
                  </a:solidFill>
                </a:ln>
              </p:spPr>
            </p:sp>
            <p:sp>
              <p:nvSpPr>
                <p:cNvPr id="299" name="Freeform 299"/>
                <p:cNvSpPr/>
                <p:nvPr/>
              </p:nvSpPr>
              <p:spPr>
                <a:xfrm>
                  <a:off x="10340975" y="5104606"/>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7C3B2F"/>
                  </a:solidFill>
                </a:ln>
              </p:spPr>
            </p:sp>
          </p:grpSp>
          <p:sp>
            <p:nvSpPr>
              <p:cNvPr id="301" name="TextBox 301"/>
              <p:cNvSpPr txBox="1"/>
              <p:nvPr/>
            </p:nvSpPr>
            <p:spPr>
              <a:xfrm>
                <a:off x="10587038" y="5062538"/>
                <a:ext cx="708202" cy="147638"/>
              </a:xfrm>
              <a:prstGeom prst="rect">
                <a:avLst/>
              </a:prstGeom>
              <a:noFill/>
              <a:ln>
                <a:noFill/>
              </a:ln>
            </p:spPr>
            <p:txBody>
              <a:bodyPr wrap="none" lIns="0" tIns="0" rIns="0" bIns="0" anchor="t" anchorCtr="0">
                <a:spAutoFit/>
              </a:bodyPr>
              <a:lstStyle/>
              <a:p>
                <a:pPr algn="l"/>
                <a:r>
                  <a:rPr lang="zh-CN" sz="750" b="1" dirty="0">
                    <a:solidFill>
                      <a:srgbClr val="42140B"/>
                    </a:solidFill>
                    <a:latin typeface="+mn-lt"/>
                    <a:ea typeface="+mn-ea"/>
                    <a:cs typeface="+mn-cs"/>
                  </a:rPr>
                  <a:t>学习</a:t>
                </a:r>
                <a:r>
                  <a:rPr lang="zh-CN" sz="560" dirty="0">
                    <a:solidFill>
                      <a:srgbClr val="66705F"/>
                    </a:solidFill>
                    <a:latin typeface="+mn-lt"/>
                    <a:ea typeface="+mn-ea"/>
                    <a:cs typeface="+mn-cs"/>
                  </a:rPr>
                  <a:t xml:space="preserve"> (Learning)　</a:t>
                </a:r>
              </a:p>
            </p:txBody>
          </p:sp>
          <p:sp>
            <p:nvSpPr>
              <p:cNvPr id="302" name="TextBox 302"/>
              <p:cNvSpPr txBox="1"/>
              <p:nvPr/>
            </p:nvSpPr>
            <p:spPr>
              <a:xfrm>
                <a:off x="10301288" y="5311378"/>
                <a:ext cx="462661"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反馈与评估</a:t>
                </a:r>
              </a:p>
            </p:txBody>
          </p:sp>
          <p:sp>
            <p:nvSpPr>
              <p:cNvPr id="303" name="TextBox 303"/>
              <p:cNvSpPr txBox="1"/>
              <p:nvPr/>
            </p:nvSpPr>
            <p:spPr>
              <a:xfrm>
                <a:off x="10301288" y="5463778"/>
                <a:ext cx="613435" cy="111919"/>
              </a:xfrm>
              <a:prstGeom prst="rect">
                <a:avLst/>
              </a:prstGeom>
              <a:noFill/>
              <a:ln>
                <a:noFill/>
              </a:ln>
            </p:spPr>
            <p:txBody>
              <a:bodyPr wrap="none" lIns="0" tIns="0" rIns="0" bIns="0" anchor="t" anchorCtr="0">
                <a:spAutoFit/>
              </a:bodyPr>
              <a:lstStyle/>
              <a:p>
                <a:pPr algn="l" marL="76200" indent="-76200">
                  <a:buClr>
                    <a:srgbClr val="3A4238"/>
                  </a:buClr>
                  <a:buSzTx/>
                  <a:buFontTx/>
                  <a:buChar char="•"/>
                </a:pPr>
                <a:r>
                  <a:rPr lang="zh-CN" sz="560" dirty="0">
                    <a:solidFill>
                      <a:srgbClr val="3A4238"/>
                    </a:solidFill>
                    <a:latin typeface="+mn-lt"/>
                    <a:ea typeface="+mn-ea"/>
                    <a:cs typeface="+mn-cs"/>
                  </a:rPr>
                  <a:t>知识更新与优化</a:t>
                </a:r>
              </a:p>
            </p:txBody>
          </p:sp>
        </p:grpSp>
      </p:gr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glow"/>
          <p:cNvSpPr/>
          <p:nvPr/>
        </p:nvSpPr>
        <p:spPr>
          <a:xfrm>
            <a:off x="5334000" y="0"/>
            <a:ext cx="6858000" cy="6858000"/>
          </a:xfrm>
          <a:prstGeom prst="rect">
            <a:avLst/>
          </a:prstGeom>
          <a:gradFill>
            <a:gsLst>
              <a:gs pos="0">
                <a:srgbClr val="FDEFF1">
                  <a:alpha val="0"/>
                </a:srgbClr>
              </a:gs>
              <a:gs pos="100000">
                <a:srgbClr val="F3B2A3">
                  <a:alpha val="45000"/>
                </a:srgbClr>
              </a:gs>
            </a:gsLst>
            <a:lin ang="2700000" scaled="1"/>
          </a:gradFill>
          <a:ln>
            <a:noFill/>
          </a:ln>
        </p:spPr>
      </p:sp>
      <p:sp>
        <p:nvSpPr>
          <p:cNvPr id="3" name="skyline-back"/>
          <p:cNvSpPr/>
          <p:nvPr/>
        </p:nvSpPr>
        <p:spPr>
          <a:xfrm>
            <a:off x="381000" y="4048125"/>
            <a:ext cx="5334000" cy="1285875"/>
          </a:xfrm>
          <a:custGeom>
            <a:avLst/>
            <a:gdLst/>
            <a:ahLst/>
            <a:cxnLst/>
            <a:rect l="l" t="t" r="r" b="b"/>
            <a:pathLst>
              <a:path w="5334000" h="1285875">
                <a:moveTo>
                  <a:pt x="0" y="1285875"/>
                </a:moveTo>
                <a:lnTo>
                  <a:pt x="0" y="714375"/>
                </a:lnTo>
                <a:lnTo>
                  <a:pt x="285750" y="714375"/>
                </a:lnTo>
                <a:lnTo>
                  <a:pt x="285750" y="428625"/>
                </a:lnTo>
                <a:lnTo>
                  <a:pt x="523875" y="428625"/>
                </a:lnTo>
                <a:lnTo>
                  <a:pt x="523875" y="904875"/>
                </a:lnTo>
                <a:lnTo>
                  <a:pt x="762000" y="904875"/>
                </a:lnTo>
                <a:lnTo>
                  <a:pt x="762000" y="285750"/>
                </a:lnTo>
                <a:lnTo>
                  <a:pt x="1047750" y="285750"/>
                </a:lnTo>
                <a:lnTo>
                  <a:pt x="1047750" y="47625"/>
                </a:lnTo>
                <a:lnTo>
                  <a:pt x="1190625" y="47625"/>
                </a:lnTo>
                <a:lnTo>
                  <a:pt x="1190625" y="904875"/>
                </a:lnTo>
                <a:lnTo>
                  <a:pt x="1476375" y="904875"/>
                </a:lnTo>
                <a:lnTo>
                  <a:pt x="1476375" y="523875"/>
                </a:lnTo>
                <a:lnTo>
                  <a:pt x="1762125" y="523875"/>
                </a:lnTo>
                <a:lnTo>
                  <a:pt x="1762125" y="762000"/>
                </a:lnTo>
                <a:lnTo>
                  <a:pt x="2000250" y="762000"/>
                </a:lnTo>
                <a:lnTo>
                  <a:pt x="2000250" y="142875"/>
                </a:lnTo>
                <a:lnTo>
                  <a:pt x="2190750" y="142875"/>
                </a:lnTo>
                <a:lnTo>
                  <a:pt x="2190750" y="0"/>
                </a:lnTo>
                <a:lnTo>
                  <a:pt x="2333625" y="0"/>
                </a:lnTo>
                <a:lnTo>
                  <a:pt x="2333625" y="904875"/>
                </a:lnTo>
                <a:lnTo>
                  <a:pt x="2619375" y="904875"/>
                </a:lnTo>
                <a:lnTo>
                  <a:pt x="2619375" y="428625"/>
                </a:lnTo>
                <a:lnTo>
                  <a:pt x="2905125" y="428625"/>
                </a:lnTo>
                <a:lnTo>
                  <a:pt x="2905125" y="714375"/>
                </a:lnTo>
                <a:lnTo>
                  <a:pt x="3238500" y="714375"/>
                </a:lnTo>
                <a:lnTo>
                  <a:pt x="3238500" y="333375"/>
                </a:lnTo>
                <a:lnTo>
                  <a:pt x="3524250" y="333375"/>
                </a:lnTo>
                <a:lnTo>
                  <a:pt x="3524250" y="809625"/>
                </a:lnTo>
                <a:lnTo>
                  <a:pt x="3857625" y="809625"/>
                </a:lnTo>
                <a:lnTo>
                  <a:pt x="3857625" y="476250"/>
                </a:lnTo>
                <a:lnTo>
                  <a:pt x="4191000" y="476250"/>
                </a:lnTo>
                <a:lnTo>
                  <a:pt x="4191000" y="1000125"/>
                </a:lnTo>
                <a:lnTo>
                  <a:pt x="4572000" y="1000125"/>
                </a:lnTo>
                <a:lnTo>
                  <a:pt x="4572000" y="619125"/>
                </a:lnTo>
                <a:lnTo>
                  <a:pt x="4953000" y="619125"/>
                </a:lnTo>
                <a:lnTo>
                  <a:pt x="4953000" y="1095375"/>
                </a:lnTo>
                <a:lnTo>
                  <a:pt x="5334000" y="1095375"/>
                </a:lnTo>
                <a:lnTo>
                  <a:pt x="5334000" y="1285875"/>
                </a:lnTo>
                <a:close/>
              </a:path>
            </a:pathLst>
          </a:custGeom>
          <a:gradFill>
            <a:gsLst>
              <a:gs pos="0">
                <a:srgbClr val="FBE3E6">
                  <a:alpha val="60000"/>
                </a:srgbClr>
              </a:gs>
              <a:gs pos="100000">
                <a:srgbClr val="F3B2A3">
                  <a:alpha val="60000"/>
                </a:srgbClr>
              </a:gs>
            </a:gsLst>
            <a:lin ang="5400000" scaled="1"/>
          </a:gradFill>
          <a:ln>
            <a:noFill/>
          </a:ln>
        </p:spPr>
      </p:sp>
      <p:sp>
        <p:nvSpPr>
          <p:cNvPr id="4" name="skyline-front"/>
          <p:cNvSpPr/>
          <p:nvPr/>
        </p:nvSpPr>
        <p:spPr>
          <a:xfrm>
            <a:off x="381000" y="4238625"/>
            <a:ext cx="5334000" cy="1114425"/>
          </a:xfrm>
          <a:custGeom>
            <a:avLst/>
            <a:gdLst/>
            <a:ahLst/>
            <a:cxnLst/>
            <a:rect l="l" t="t" r="r" b="b"/>
            <a:pathLst>
              <a:path w="5334000" h="1114425">
                <a:moveTo>
                  <a:pt x="0" y="1114425"/>
                </a:moveTo>
                <a:lnTo>
                  <a:pt x="0" y="714375"/>
                </a:lnTo>
                <a:lnTo>
                  <a:pt x="190500" y="714375"/>
                </a:lnTo>
                <a:lnTo>
                  <a:pt x="190500" y="857250"/>
                </a:lnTo>
                <a:lnTo>
                  <a:pt x="381000" y="857250"/>
                </a:lnTo>
                <a:lnTo>
                  <a:pt x="381000" y="523875"/>
                </a:lnTo>
                <a:lnTo>
                  <a:pt x="571500" y="523875"/>
                </a:lnTo>
                <a:lnTo>
                  <a:pt x="571500" y="952500"/>
                </a:lnTo>
                <a:lnTo>
                  <a:pt x="857250" y="952500"/>
                </a:lnTo>
                <a:lnTo>
                  <a:pt x="857250" y="238125"/>
                </a:lnTo>
                <a:lnTo>
                  <a:pt x="1000125" y="238125"/>
                </a:lnTo>
                <a:lnTo>
                  <a:pt x="1000125" y="0"/>
                </a:lnTo>
                <a:lnTo>
                  <a:pt x="1095375" y="0"/>
                </a:lnTo>
                <a:lnTo>
                  <a:pt x="1095375" y="238125"/>
                </a:lnTo>
                <a:lnTo>
                  <a:pt x="1238250" y="238125"/>
                </a:lnTo>
                <a:lnTo>
                  <a:pt x="1238250" y="904875"/>
                </a:lnTo>
                <a:lnTo>
                  <a:pt x="1524000" y="904875"/>
                </a:lnTo>
                <a:lnTo>
                  <a:pt x="1524000" y="619125"/>
                </a:lnTo>
                <a:lnTo>
                  <a:pt x="1666875" y="619125"/>
                </a:lnTo>
                <a:lnTo>
                  <a:pt x="1666875" y="952500"/>
                </a:lnTo>
                <a:lnTo>
                  <a:pt x="1905000" y="952500"/>
                </a:lnTo>
                <a:lnTo>
                  <a:pt x="1905000" y="428625"/>
                </a:lnTo>
                <a:lnTo>
                  <a:pt x="2114550" y="428625"/>
                </a:lnTo>
                <a:lnTo>
                  <a:pt x="2114550" y="238125"/>
                </a:lnTo>
                <a:lnTo>
                  <a:pt x="2209800" y="238125"/>
                </a:lnTo>
                <a:lnTo>
                  <a:pt x="2209800" y="428625"/>
                </a:lnTo>
                <a:lnTo>
                  <a:pt x="2400300" y="428625"/>
                </a:lnTo>
                <a:lnTo>
                  <a:pt x="2400300" y="981075"/>
                </a:lnTo>
                <a:lnTo>
                  <a:pt x="2762250" y="981075"/>
                </a:lnTo>
                <a:lnTo>
                  <a:pt x="2762250" y="666750"/>
                </a:lnTo>
                <a:lnTo>
                  <a:pt x="3048000" y="666750"/>
                </a:lnTo>
                <a:lnTo>
                  <a:pt x="3048000" y="952500"/>
                </a:lnTo>
                <a:lnTo>
                  <a:pt x="3333750" y="952500"/>
                </a:lnTo>
                <a:lnTo>
                  <a:pt x="3333750" y="523875"/>
                </a:lnTo>
                <a:lnTo>
                  <a:pt x="3619500" y="523875"/>
                </a:lnTo>
                <a:lnTo>
                  <a:pt x="3619500" y="952500"/>
                </a:lnTo>
                <a:lnTo>
                  <a:pt x="3952875" y="952500"/>
                </a:lnTo>
                <a:lnTo>
                  <a:pt x="3952875" y="714375"/>
                </a:lnTo>
                <a:lnTo>
                  <a:pt x="4286250" y="714375"/>
                </a:lnTo>
                <a:lnTo>
                  <a:pt x="4286250" y="1047750"/>
                </a:lnTo>
                <a:lnTo>
                  <a:pt x="4667250" y="1047750"/>
                </a:lnTo>
                <a:lnTo>
                  <a:pt x="4667250" y="762000"/>
                </a:lnTo>
                <a:lnTo>
                  <a:pt x="4953000" y="762000"/>
                </a:lnTo>
                <a:lnTo>
                  <a:pt x="4953000" y="1095375"/>
                </a:lnTo>
                <a:lnTo>
                  <a:pt x="5334000" y="1095375"/>
                </a:lnTo>
                <a:lnTo>
                  <a:pt x="5334000" y="1114425"/>
                </a:lnTo>
                <a:close/>
              </a:path>
            </a:pathLst>
          </a:custGeom>
          <a:gradFill>
            <a:gsLst>
              <a:gs pos="0">
                <a:srgbClr val="F3B2A3">
                  <a:alpha val="55000"/>
                </a:srgbClr>
              </a:gs>
              <a:gs pos="100000">
                <a:srgbClr val="E9826B">
                  <a:alpha val="85000"/>
                </a:srgbClr>
              </a:gs>
            </a:gsLst>
            <a:lin ang="5400000" scaled="1"/>
          </a:gradFill>
          <a:ln>
            <a:noFill/>
          </a:ln>
        </p:spPr>
      </p:sp>
      <p:sp>
        <p:nvSpPr>
          <p:cNvPr id="5" name="ribbon-1"/>
          <p:cNvSpPr/>
          <p:nvPr/>
        </p:nvSpPr>
        <p:spPr>
          <a:xfrm>
            <a:off x="0" y="5143500"/>
            <a:ext cx="12192000" cy="1619250"/>
          </a:xfrm>
          <a:custGeom>
            <a:avLst/>
            <a:gdLst/>
            <a:ahLst/>
            <a:cxnLst/>
            <a:rect l="l" t="t" r="r" b="b"/>
            <a:pathLst>
              <a:path w="12192000" h="1619250">
                <a:moveTo>
                  <a:pt x="0" y="571500"/>
                </a:moveTo>
                <a:cubicBezTo>
                  <a:pt x="1905000" y="0"/>
                  <a:pt x="4000500" y="1143000"/>
                  <a:pt x="6096000" y="666750"/>
                </a:cubicBezTo>
                <a:cubicBezTo>
                  <a:pt x="8191500" y="190500"/>
                  <a:pt x="10096500" y="952500"/>
                  <a:pt x="12192000" y="476250"/>
                </a:cubicBezTo>
                <a:lnTo>
                  <a:pt x="12192000" y="1143000"/>
                </a:lnTo>
                <a:cubicBezTo>
                  <a:pt x="10096500" y="1524000"/>
                  <a:pt x="8191500" y="857250"/>
                  <a:pt x="6096000" y="1238250"/>
                </a:cubicBezTo>
                <a:cubicBezTo>
                  <a:pt x="4000500" y="1619250"/>
                  <a:pt x="1905000" y="666750"/>
                  <a:pt x="0" y="1190625"/>
                </a:cubicBezTo>
                <a:close/>
              </a:path>
            </a:pathLst>
          </a:custGeom>
          <a:gradFill>
            <a:gsLst>
              <a:gs pos="0">
                <a:srgbClr val="C83210">
                  <a:alpha val="85000"/>
                </a:srgbClr>
              </a:gs>
              <a:gs pos="50000">
                <a:srgbClr val="E9826B">
                  <a:alpha val="55000"/>
                </a:srgbClr>
              </a:gs>
              <a:gs pos="100000">
                <a:srgbClr val="C83210">
                  <a:alpha val="85000"/>
                </a:srgbClr>
              </a:gs>
            </a:gsLst>
            <a:lin ang="0" scaled="1"/>
          </a:gradFill>
          <a:ln>
            <a:noFill/>
          </a:ln>
        </p:spPr>
      </p:sp>
      <p:sp>
        <p:nvSpPr>
          <p:cNvPr id="6" name="ribbon-2"/>
          <p:cNvSpPr/>
          <p:nvPr/>
        </p:nvSpPr>
        <p:spPr>
          <a:xfrm>
            <a:off x="0" y="5715000"/>
            <a:ext cx="12192000" cy="1238250"/>
          </a:xfrm>
          <a:custGeom>
            <a:avLst/>
            <a:gdLst/>
            <a:ahLst/>
            <a:cxnLst/>
            <a:rect l="l" t="t" r="r" b="b"/>
            <a:pathLst>
              <a:path w="12192000" h="1238250">
                <a:moveTo>
                  <a:pt x="0" y="381000"/>
                </a:moveTo>
                <a:cubicBezTo>
                  <a:pt x="2286000" y="0"/>
                  <a:pt x="4381500" y="952500"/>
                  <a:pt x="6667500" y="476250"/>
                </a:cubicBezTo>
                <a:cubicBezTo>
                  <a:pt x="8953500" y="0"/>
                  <a:pt x="10668000" y="762000"/>
                  <a:pt x="12192000" y="381000"/>
                </a:cubicBezTo>
                <a:lnTo>
                  <a:pt x="12192000" y="857250"/>
                </a:lnTo>
                <a:cubicBezTo>
                  <a:pt x="10668000" y="1143000"/>
                  <a:pt x="8953500" y="476250"/>
                  <a:pt x="6667500" y="857250"/>
                </a:cubicBezTo>
                <a:cubicBezTo>
                  <a:pt x="4381500" y="1238250"/>
                  <a:pt x="2286000" y="381000"/>
                  <a:pt x="0" y="857250"/>
                </a:cubicBezTo>
                <a:close/>
              </a:path>
            </a:pathLst>
          </a:custGeom>
          <a:gradFill>
            <a:gsLst>
              <a:gs pos="0">
                <a:srgbClr val="F3B2A3">
                  <a:alpha val="35000"/>
                </a:srgbClr>
              </a:gs>
              <a:gs pos="100000">
                <a:srgbClr val="E9826B">
                  <a:alpha val="55000"/>
                </a:srgbClr>
              </a:gs>
            </a:gsLst>
            <a:lin ang="0" scaled="1"/>
          </a:gradFill>
          <a:ln>
            <a:noFill/>
          </a:ln>
        </p:spPr>
      </p:sp>
      <p:sp>
        <p:nvSpPr>
          <p:cNvPr id="7" name="ribbon-thread"/>
          <p:cNvSpPr/>
          <p:nvPr/>
        </p:nvSpPr>
        <p:spPr>
          <a:xfrm>
            <a:off x="6096000" y="1238250"/>
            <a:ext cx="5362575" cy="3048000"/>
          </a:xfrm>
          <a:custGeom>
            <a:avLst/>
            <a:gdLst/>
            <a:ahLst/>
            <a:cxnLst/>
            <a:rect l="l" t="t" r="r" b="b"/>
            <a:pathLst>
              <a:path w="5362575" h="3048000">
                <a:moveTo>
                  <a:pt x="476250" y="0"/>
                </a:moveTo>
                <a:cubicBezTo>
                  <a:pt x="0" y="666750"/>
                  <a:pt x="571500" y="1238250"/>
                  <a:pt x="571500" y="1790700"/>
                </a:cubicBezTo>
                <a:moveTo>
                  <a:pt x="5248275" y="190500"/>
                </a:moveTo>
                <a:cubicBezTo>
                  <a:pt x="5143500" y="666750"/>
                  <a:pt x="4667250" y="857250"/>
                  <a:pt x="4514850" y="904875"/>
                </a:cubicBezTo>
                <a:moveTo>
                  <a:pt x="5362575" y="2095500"/>
                </a:moveTo>
                <a:cubicBezTo>
                  <a:pt x="5334000" y="2571750"/>
                  <a:pt x="4953000" y="2762250"/>
                  <a:pt x="4743450" y="3048000"/>
                </a:cubicBezTo>
                <a:moveTo>
                  <a:pt x="571500" y="1905000"/>
                </a:moveTo>
                <a:cubicBezTo>
                  <a:pt x="190500" y="2381250"/>
                  <a:pt x="0" y="2857500"/>
                  <a:pt x="390525" y="3028950"/>
                </a:cubicBezTo>
                <a:moveTo>
                  <a:pt x="4114800" y="2571750"/>
                </a:moveTo>
                <a:cubicBezTo>
                  <a:pt x="4286250" y="2762250"/>
                  <a:pt x="4476750" y="2952750"/>
                  <a:pt x="4743450" y="3048000"/>
                </a:cubicBezTo>
              </a:path>
            </a:pathLst>
          </a:custGeom>
          <a:noFill/>
          <a:ln w="28575">
            <a:solidFill>
              <a:srgbClr val="E9826B">
                <a:alpha val="55000"/>
              </a:srgbClr>
            </a:solidFill>
          </a:ln>
        </p:spPr>
      </p:sp>
      <p:grpSp>
        <p:nvGrpSpPr>
          <p:cNvPr id="10" name="footer-band"/>
          <p:cNvGrpSpPr/>
          <p:nvPr/>
        </p:nvGrpSpPr>
        <p:grpSpPr>
          <a:xfrm>
            <a:off x="0" y="6477000"/>
            <a:ext cx="12192000" cy="381000"/>
            <a:chOff x="0" y="6477000"/>
            <a:chExt cx="12192000" cy="381000"/>
          </a:xfrm>
        </p:grpSpPr>
        <p:sp>
          <p:nvSpPr>
            <p:cNvPr id="8" name="Rectangle 8"/>
            <p:cNvSpPr/>
            <p:nvPr/>
          </p:nvSpPr>
          <p:spPr>
            <a:xfrm>
              <a:off x="0" y="6477000"/>
              <a:ext cx="12192000" cy="381000"/>
            </a:xfrm>
            <a:prstGeom prst="rect">
              <a:avLst/>
            </a:prstGeom>
            <a:gradFill>
              <a:gsLst>
                <a:gs pos="0">
                  <a:srgbClr val="8F230A"/>
                </a:gs>
                <a:gs pos="55000">
                  <a:srgbClr val="C83210"/>
                </a:gs>
                <a:gs pos="100000">
                  <a:srgbClr val="D64F30"/>
                </a:gs>
              </a:gsLst>
              <a:lin ang="0" scaled="1"/>
            </a:gradFill>
            <a:ln>
              <a:noFill/>
            </a:ln>
          </p:spPr>
        </p:sp>
        <p:sp>
          <p:nvSpPr>
            <p:cNvPr id="9" name="TextBox 9"/>
            <p:cNvSpPr txBox="1"/>
            <p:nvPr/>
          </p:nvSpPr>
          <p:spPr>
            <a:xfrm>
              <a:off x="1137666" y="6611302"/>
              <a:ext cx="4675251"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零售银行部　｜　客户认证　｜　内容运营　｜　精准触达　｜　支付执行</a:t>
              </a:r>
            </a:p>
          </p:txBody>
        </p:sp>
      </p:grpSp>
      <p:grpSp>
        <p:nvGrpSpPr>
          <p:cNvPr id="13" name="cover-title"/>
          <p:cNvGrpSpPr/>
          <p:nvPr/>
        </p:nvGrpSpPr>
        <p:grpSpPr>
          <a:xfrm>
            <a:off x="438150" y="724852"/>
            <a:ext cx="5181600" cy="2428875"/>
            <a:chOff x="438150" y="724852"/>
            <a:chExt cx="5181600" cy="2428875"/>
          </a:xfrm>
        </p:grpSpPr>
        <p:sp>
          <p:nvSpPr>
            <p:cNvPr id="11" name="TextBox 11"/>
            <p:cNvSpPr txBox="1"/>
            <p:nvPr/>
          </p:nvSpPr>
          <p:spPr>
            <a:xfrm>
              <a:off x="438150" y="724852"/>
              <a:ext cx="3309366" cy="790575"/>
            </a:xfrm>
            <a:prstGeom prst="rect">
              <a:avLst/>
            </a:prstGeom>
            <a:noFill/>
            <a:ln>
              <a:noFill/>
            </a:ln>
          </p:spPr>
          <p:txBody>
            <a:bodyPr wrap="none" lIns="0" tIns="0" rIns="0" bIns="0" anchor="t" anchorCtr="0">
              <a:spAutoFit/>
            </a:bodyPr>
            <a:lstStyle/>
            <a:p>
              <a:pPr algn="l"/>
              <a:r>
                <a:rPr lang="zh-CN" sz="4050" b="1" dirty="0">
                  <a:solidFill>
                    <a:srgbClr val="222222"/>
                  </a:solidFill>
                  <a:latin typeface="+mn-lt"/>
                  <a:ea typeface="+mn-ea"/>
                  <a:cs typeface="+mn-cs"/>
                </a:rPr>
                <a:t>某股份制银行</a:t>
              </a:r>
            </a:p>
          </p:txBody>
        </p:sp>
        <p:sp>
          <p:nvSpPr>
            <p:cNvPr id="12" name="TextBox 12"/>
            <p:cNvSpPr txBox="1"/>
            <p:nvPr/>
          </p:nvSpPr>
          <p:spPr>
            <a:xfrm>
              <a:off x="438150" y="1544002"/>
              <a:ext cx="5181600" cy="1609725"/>
            </a:xfrm>
            <a:prstGeom prst="rect">
              <a:avLst/>
            </a:prstGeom>
            <a:noFill/>
            <a:ln>
              <a:noFill/>
            </a:ln>
          </p:spPr>
          <p:txBody>
            <a:bodyPr wrap="none" lIns="0" tIns="0" rIns="0" bIns="0" anchor="t" anchorCtr="0">
              <a:spAutoFit/>
            </a:bodyPr>
            <a:lstStyle/>
            <a:p>
              <a:pPr algn="l">
                <a:lnSpc>
                  <a:spcPts val="6450"/>
                </a:lnSpc>
              </a:pPr>
              <a:r>
                <a:rPr lang="zh-CN" sz="4050" b="1" dirty="0">
                  <a:solidFill>
                    <a:srgbClr val="C83210"/>
                  </a:solidFill>
                  <a:latin typeface="+mn-lt"/>
                  <a:ea typeface="+mn-ea"/>
                  <a:cs typeface="+mn-cs"/>
                </a:rPr>
                <a:t>企微内容营销与</a:t>
              </a:r>
              <a:br/>
              <a:r>
                <a:rPr lang="zh-CN" sz="4050" b="1" dirty="0">
                  <a:solidFill>
                    <a:srgbClr val="C83210"/>
                  </a:solidFill>
                  <a:latin typeface="+mn-lt"/>
                  <a:ea typeface="+mn-ea"/>
                  <a:cs typeface="+mn-cs"/>
                </a:rPr>
                <a:t>客户触达体系建设方案</a:t>
              </a:r>
            </a:p>
          </p:txBody>
        </p:sp>
      </p:grpSp>
      <p:grpSp>
        <p:nvGrpSpPr>
          <p:cNvPr id="16" name="cover-subtitle"/>
          <p:cNvGrpSpPr/>
          <p:nvPr/>
        </p:nvGrpSpPr>
        <p:grpSpPr>
          <a:xfrm>
            <a:off x="457200" y="3249454"/>
            <a:ext cx="3808095" cy="308039"/>
            <a:chOff x="457200" y="3249454"/>
            <a:chExt cx="3808095" cy="308039"/>
          </a:xfrm>
        </p:grpSpPr>
        <p:sp>
          <p:nvSpPr>
            <p:cNvPr id="14" name="Line 14"/>
            <p:cNvSpPr/>
            <p:nvPr/>
          </p:nvSpPr>
          <p:spPr>
            <a:xfrm>
              <a:off x="457200" y="3352800"/>
              <a:ext cx="476250" cy="9525"/>
            </a:xfrm>
            <a:custGeom>
              <a:avLst/>
              <a:gdLst/>
              <a:ahLst/>
              <a:cxnLst/>
              <a:rect l="l" t="t" r="r" b="b"/>
              <a:pathLst>
                <a:path w="476250" h="9525">
                  <a:moveTo>
                    <a:pt x="0" y="0"/>
                  </a:moveTo>
                  <a:lnTo>
                    <a:pt x="476250" y="0"/>
                  </a:lnTo>
                </a:path>
              </a:pathLst>
            </a:custGeom>
            <a:noFill/>
            <a:ln w="23812">
              <a:solidFill>
                <a:srgbClr val="C83210"/>
              </a:solidFill>
            </a:ln>
          </p:spPr>
        </p:sp>
        <p:sp>
          <p:nvSpPr>
            <p:cNvPr id="15" name="TextBox 15"/>
            <p:cNvSpPr txBox="1"/>
            <p:nvPr/>
          </p:nvSpPr>
          <p:spPr>
            <a:xfrm>
              <a:off x="1058799" y="3249454"/>
              <a:ext cx="3206496" cy="308039"/>
            </a:xfrm>
            <a:prstGeom prst="rect">
              <a:avLst/>
            </a:prstGeom>
            <a:noFill/>
            <a:ln>
              <a:noFill/>
            </a:ln>
          </p:spPr>
          <p:txBody>
            <a:bodyPr wrap="none" lIns="0" tIns="0" rIns="0" bIns="0" anchor="t" anchorCtr="0">
              <a:spAutoFit/>
            </a:bodyPr>
            <a:lstStyle/>
            <a:p>
              <a:pPr algn="l"/>
              <a:r>
                <a:rPr lang="zh-CN" sz="1580" dirty="0">
                  <a:solidFill>
                    <a:srgbClr val="4A4A4A"/>
                  </a:solidFill>
                  <a:latin typeface="+mn-lt"/>
                  <a:ea typeface="+mn-ea"/>
                  <a:cs typeface="+mn-cs"/>
                </a:rPr>
                <a:t>从盲目加好友到分层经营长尾客户</a:t>
              </a:r>
            </a:p>
          </p:txBody>
        </p:sp>
      </p:grpSp>
      <p:grpSp>
        <p:nvGrpSpPr>
          <p:cNvPr id="21" name="cover-slogan"/>
          <p:cNvGrpSpPr/>
          <p:nvPr/>
        </p:nvGrpSpPr>
        <p:grpSpPr>
          <a:xfrm>
            <a:off x="851916" y="4439602"/>
            <a:ext cx="576072" cy="608648"/>
            <a:chOff x="851916" y="4439602"/>
            <a:chExt cx="576072" cy="608648"/>
          </a:xfrm>
        </p:grpSpPr>
        <p:sp>
          <p:nvSpPr>
            <p:cNvPr id="17" name="TextBox 17"/>
            <p:cNvSpPr txBox="1"/>
            <p:nvPr/>
          </p:nvSpPr>
          <p:spPr>
            <a:xfrm>
              <a:off x="851916" y="4439602"/>
              <a:ext cx="576072" cy="205359"/>
            </a:xfrm>
            <a:prstGeom prst="rect">
              <a:avLst/>
            </a:prstGeom>
            <a:noFill/>
            <a:ln>
              <a:noFill/>
            </a:ln>
          </p:spPr>
          <p:txBody>
            <a:bodyPr wrap="none" lIns="0" tIns="0" rIns="0" bIns="0" anchor="t" anchorCtr="0">
              <a:spAutoFit/>
            </a:bodyPr>
            <a:lstStyle/>
            <a:p>
              <a:pPr algn="l"/>
              <a:r>
                <a:rPr lang="zh-CN" sz="1050" b="1" dirty="0">
                  <a:solidFill>
                    <a:srgbClr val="8F230A"/>
                  </a:solidFill>
                  <a:latin typeface="+mn-lt"/>
                  <a:ea typeface="+mn-ea"/>
                  <a:cs typeface="+mn-cs"/>
                </a:rPr>
                <a:t>更懂客户</a:t>
              </a:r>
            </a:p>
          </p:txBody>
        </p:sp>
        <p:sp>
          <p:nvSpPr>
            <p:cNvPr id="18" name="TextBox 18"/>
            <p:cNvSpPr txBox="1"/>
            <p:nvPr/>
          </p:nvSpPr>
          <p:spPr>
            <a:xfrm>
              <a:off x="851916" y="4630102"/>
              <a:ext cx="576072" cy="205359"/>
            </a:xfrm>
            <a:prstGeom prst="rect">
              <a:avLst/>
            </a:prstGeom>
            <a:noFill/>
            <a:ln>
              <a:noFill/>
            </a:ln>
          </p:spPr>
          <p:txBody>
            <a:bodyPr wrap="none" lIns="0" tIns="0" rIns="0" bIns="0" anchor="t" anchorCtr="0">
              <a:spAutoFit/>
            </a:bodyPr>
            <a:lstStyle/>
            <a:p>
              <a:pPr algn="l"/>
              <a:r>
                <a:rPr lang="zh-CN" sz="1050" b="1" dirty="0">
                  <a:solidFill>
                    <a:srgbClr val="8F230A"/>
                  </a:solidFill>
                  <a:latin typeface="+mn-lt"/>
                  <a:ea typeface="+mn-ea"/>
                  <a:cs typeface="+mn-cs"/>
                </a:rPr>
                <a:t>更近距离</a:t>
              </a:r>
            </a:p>
          </p:txBody>
        </p:sp>
        <p:sp>
          <p:nvSpPr>
            <p:cNvPr id="19" name="TextBox 19"/>
            <p:cNvSpPr txBox="1"/>
            <p:nvPr/>
          </p:nvSpPr>
          <p:spPr>
            <a:xfrm>
              <a:off x="851916" y="4820602"/>
              <a:ext cx="576072" cy="205359"/>
            </a:xfrm>
            <a:prstGeom prst="rect">
              <a:avLst/>
            </a:prstGeom>
            <a:noFill/>
            <a:ln>
              <a:noFill/>
            </a:ln>
          </p:spPr>
          <p:txBody>
            <a:bodyPr wrap="none" lIns="0" tIns="0" rIns="0" bIns="0" anchor="t" anchorCtr="0">
              <a:spAutoFit/>
            </a:bodyPr>
            <a:lstStyle/>
            <a:p>
              <a:pPr algn="l"/>
              <a:r>
                <a:rPr lang="zh-CN" sz="1050" b="1" dirty="0">
                  <a:solidFill>
                    <a:srgbClr val="8F230A"/>
                  </a:solidFill>
                  <a:latin typeface="+mn-lt"/>
                  <a:ea typeface="+mn-ea"/>
                  <a:cs typeface="+mn-cs"/>
                </a:rPr>
                <a:t>更有温度</a:t>
              </a:r>
            </a:p>
          </p:txBody>
        </p:sp>
        <p:sp>
          <p:nvSpPr>
            <p:cNvPr id="20" name="Rectangle 20"/>
            <p:cNvSpPr/>
            <p:nvPr/>
          </p:nvSpPr>
          <p:spPr>
            <a:xfrm>
              <a:off x="857250" y="5019675"/>
              <a:ext cx="209550" cy="28575"/>
            </a:xfrm>
            <a:prstGeom prst="rect">
              <a:avLst/>
            </a:prstGeom>
            <a:solidFill>
              <a:srgbClr val="C83210"/>
            </a:solidFill>
            <a:ln>
              <a:noFill/>
            </a:ln>
          </p:spPr>
        </p:sp>
      </p:grpSp>
      <p:grpSp>
        <p:nvGrpSpPr>
          <p:cNvPr id="82" name="phone-mockup"/>
          <p:cNvGrpSpPr/>
          <p:nvPr/>
        </p:nvGrpSpPr>
        <p:grpSpPr>
          <a:xfrm>
            <a:off x="7658100" y="628650"/>
            <a:ext cx="2247900" cy="4305300"/>
            <a:chOff x="7658100" y="628650"/>
            <a:chExt cx="2247900" cy="4305300"/>
          </a:xfrm>
        </p:grpSpPr>
        <p:sp>
          <p:nvSpPr>
            <p:cNvPr id="22" name="Rectangle 22"/>
            <p:cNvSpPr/>
            <p:nvPr/>
          </p:nvSpPr>
          <p:spPr>
            <a:xfrm>
              <a:off x="7658100" y="628650"/>
              <a:ext cx="2247900" cy="4305300"/>
            </a:xfrm>
            <a:prstGeom prst="roundRect">
              <a:avLst>
                <a:gd name="adj" fmla="val 15254"/>
              </a:avLst>
            </a:prstGeom>
            <a:gradFill>
              <a:gsLst>
                <a:gs pos="0">
                  <a:srgbClr val="C83210"/>
                </a:gs>
                <a:gs pos="100000">
                  <a:srgbClr val="8F230A"/>
                </a:gs>
              </a:gsLst>
              <a:lin ang="5400000" scaled="1"/>
            </a:gradFill>
            <a:ln>
              <a:noFill/>
            </a:ln>
            <a:effectLst>
              <a:outerShdw blurRad="152400" dist="57150" dir="5400000" algn="ctr" rotWithShape="0">
                <a:srgbClr val="8F230A">
                  <a:alpha val="12000"/>
                </a:srgbClr>
              </a:outerShdw>
            </a:effectLst>
          </p:spPr>
        </p:sp>
        <p:sp>
          <p:nvSpPr>
            <p:cNvPr id="23" name="Rectangle 23"/>
            <p:cNvSpPr/>
            <p:nvPr/>
          </p:nvSpPr>
          <p:spPr>
            <a:xfrm>
              <a:off x="7734300" y="704850"/>
              <a:ext cx="2095500" cy="4152900"/>
            </a:xfrm>
            <a:prstGeom prst="roundRect">
              <a:avLst>
                <a:gd name="adj" fmla="val 13636"/>
              </a:avLst>
            </a:prstGeom>
            <a:solidFill>
              <a:srgbClr val="FFFFFF"/>
            </a:solidFill>
            <a:ln>
              <a:noFill/>
            </a:ln>
          </p:spPr>
        </p:sp>
        <p:sp>
          <p:nvSpPr>
            <p:cNvPr id="24" name="Rectangle 24"/>
            <p:cNvSpPr/>
            <p:nvPr/>
          </p:nvSpPr>
          <p:spPr>
            <a:xfrm>
              <a:off x="8401050" y="704850"/>
              <a:ext cx="762000" cy="152400"/>
            </a:xfrm>
            <a:prstGeom prst="roundRect">
              <a:avLst>
                <a:gd name="adj" fmla="val 50000"/>
              </a:avLst>
            </a:prstGeom>
            <a:solidFill>
              <a:srgbClr val="8F230A"/>
            </a:solidFill>
            <a:ln>
              <a:noFill/>
            </a:ln>
          </p:spPr>
        </p:sp>
        <p:sp>
          <p:nvSpPr>
            <p:cNvPr id="25" name="TextBox 25"/>
            <p:cNvSpPr txBox="1"/>
            <p:nvPr/>
          </p:nvSpPr>
          <p:spPr>
            <a:xfrm>
              <a:off x="7861935" y="1078706"/>
              <a:ext cx="98502" cy="220028"/>
            </a:xfrm>
            <a:prstGeom prst="rect">
              <a:avLst/>
            </a:prstGeom>
            <a:noFill/>
            <a:ln>
              <a:noFill/>
            </a:ln>
          </p:spPr>
          <p:txBody>
            <a:bodyPr wrap="none" lIns="0" tIns="0" rIns="0" bIns="0" anchor="t" anchorCtr="0">
              <a:spAutoFit/>
            </a:bodyPr>
            <a:lstStyle/>
            <a:p>
              <a:pPr algn="l"/>
              <a:r>
                <a:rPr lang="zh-CN" sz="1120" b="1" dirty="0">
                  <a:solidFill>
                    <a:srgbClr val="8F230A"/>
                  </a:solidFill>
                  <a:latin typeface="+mn-lt"/>
                  <a:ea typeface="+mn-ea"/>
                  <a:cs typeface="+mn-cs"/>
                </a:rPr>
                <a:t>‹</a:t>
              </a:r>
            </a:p>
          </p:txBody>
        </p:sp>
        <p:sp>
          <p:nvSpPr>
            <p:cNvPr id="26" name="TextBox 26"/>
            <p:cNvSpPr txBox="1"/>
            <p:nvPr/>
          </p:nvSpPr>
          <p:spPr>
            <a:xfrm>
              <a:off x="8014335" y="1078706"/>
              <a:ext cx="614528" cy="220028"/>
            </a:xfrm>
            <a:prstGeom prst="rect">
              <a:avLst/>
            </a:prstGeom>
            <a:noFill/>
            <a:ln>
              <a:noFill/>
            </a:ln>
          </p:spPr>
          <p:txBody>
            <a:bodyPr wrap="none" lIns="0" tIns="0" rIns="0" bIns="0" anchor="t" anchorCtr="0">
              <a:spAutoFit/>
            </a:bodyPr>
            <a:lstStyle/>
            <a:p>
              <a:pPr algn="l"/>
              <a:r>
                <a:rPr lang="zh-CN" sz="1120" b="1" dirty="0">
                  <a:solidFill>
                    <a:srgbClr val="222222"/>
                  </a:solidFill>
                  <a:latin typeface="+mn-lt"/>
                  <a:ea typeface="+mn-ea"/>
                  <a:cs typeface="+mn-cs"/>
                </a:rPr>
                <a:t>企业微信</a:t>
              </a:r>
            </a:p>
          </p:txBody>
        </p:sp>
        <p:grpSp>
          <p:nvGrpSpPr>
            <p:cNvPr id="29" name="Group 29"/>
            <p:cNvGrpSpPr/>
            <p:nvPr/>
          </p:nvGrpSpPr>
          <p:grpSpPr>
            <a:xfrm>
              <a:off x="9372600" y="1085850"/>
              <a:ext cx="114300" cy="114300"/>
              <a:chOff x="9372600" y="1085850"/>
              <a:chExt cx="114300" cy="114300"/>
            </a:xfrm>
          </p:grpSpPr>
          <p:sp>
            <p:nvSpPr>
              <p:cNvPr id="27" name="Freeform 27"/>
              <p:cNvSpPr/>
              <p:nvPr/>
            </p:nvSpPr>
            <p:spPr>
              <a:xfrm>
                <a:off x="9372600" y="108585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8F230A"/>
                </a:solidFill>
              </a:ln>
            </p:spPr>
          </p:sp>
          <p:sp>
            <p:nvSpPr>
              <p:cNvPr id="28" name="Freeform 28"/>
              <p:cNvSpPr/>
              <p:nvPr/>
            </p:nvSpPr>
            <p:spPr>
              <a:xfrm>
                <a:off x="9448800" y="1162050"/>
                <a:ext cx="38100" cy="38100"/>
              </a:xfrm>
              <a:custGeom>
                <a:avLst/>
                <a:gdLst/>
                <a:ahLst/>
                <a:cxnLst/>
                <a:rect l="l" t="t" r="r" b="b"/>
                <a:pathLst>
                  <a:path w="38100" h="38100">
                    <a:moveTo>
                      <a:pt x="38100" y="38100"/>
                    </a:moveTo>
                    <a:lnTo>
                      <a:pt x="0" y="0"/>
                    </a:lnTo>
                  </a:path>
                </a:pathLst>
              </a:custGeom>
              <a:noFill/>
              <a:ln w="12700">
                <a:solidFill>
                  <a:srgbClr val="8F230A"/>
                </a:solidFill>
              </a:ln>
            </p:spPr>
          </p:sp>
        </p:grpSp>
        <p:grpSp>
          <p:nvGrpSpPr>
            <p:cNvPr id="33" name="Group 33"/>
            <p:cNvGrpSpPr/>
            <p:nvPr/>
          </p:nvGrpSpPr>
          <p:grpSpPr>
            <a:xfrm>
              <a:off x="9601200" y="1085850"/>
              <a:ext cx="114300" cy="114300"/>
              <a:chOff x="9601200" y="1085850"/>
              <a:chExt cx="114300" cy="114300"/>
            </a:xfrm>
          </p:grpSpPr>
          <p:sp>
            <p:nvSpPr>
              <p:cNvPr id="30" name="Freeform 30"/>
              <p:cNvSpPr/>
              <p:nvPr/>
            </p:nvSpPr>
            <p:spPr>
              <a:xfrm>
                <a:off x="9601200" y="10858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8F230A"/>
                </a:solidFill>
              </a:ln>
            </p:spPr>
          </p:sp>
          <p:sp>
            <p:nvSpPr>
              <p:cNvPr id="31" name="Freeform 31"/>
              <p:cNvSpPr/>
              <p:nvPr/>
            </p:nvSpPr>
            <p:spPr>
              <a:xfrm>
                <a:off x="9639300" y="1143000"/>
                <a:ext cx="38100" cy="9525"/>
              </a:xfrm>
              <a:custGeom>
                <a:avLst/>
                <a:gdLst/>
                <a:ahLst/>
                <a:cxnLst/>
                <a:rect l="l" t="t" r="r" b="b"/>
                <a:pathLst>
                  <a:path w="38100" h="9525">
                    <a:moveTo>
                      <a:pt x="0" y="0"/>
                    </a:moveTo>
                    <a:lnTo>
                      <a:pt x="38100" y="0"/>
                    </a:lnTo>
                  </a:path>
                </a:pathLst>
              </a:custGeom>
              <a:noFill/>
              <a:ln w="12700">
                <a:solidFill>
                  <a:srgbClr val="8F230A"/>
                </a:solidFill>
              </a:ln>
            </p:spPr>
          </p:sp>
          <p:sp>
            <p:nvSpPr>
              <p:cNvPr id="32" name="Freeform 32"/>
              <p:cNvSpPr/>
              <p:nvPr/>
            </p:nvSpPr>
            <p:spPr>
              <a:xfrm>
                <a:off x="9658350" y="1123950"/>
                <a:ext cx="9525" cy="38100"/>
              </a:xfrm>
              <a:custGeom>
                <a:avLst/>
                <a:gdLst/>
                <a:ahLst/>
                <a:cxnLst/>
                <a:rect l="l" t="t" r="r" b="b"/>
                <a:pathLst>
                  <a:path w="9525" h="38100">
                    <a:moveTo>
                      <a:pt x="0" y="0"/>
                    </a:moveTo>
                    <a:lnTo>
                      <a:pt x="0" y="38100"/>
                    </a:lnTo>
                  </a:path>
                </a:pathLst>
              </a:custGeom>
              <a:noFill/>
              <a:ln w="12700">
                <a:solidFill>
                  <a:srgbClr val="8F230A"/>
                </a:solidFill>
              </a:ln>
            </p:spPr>
          </p:sp>
        </p:grpSp>
        <p:sp>
          <p:nvSpPr>
            <p:cNvPr id="34" name="Line 34"/>
            <p:cNvSpPr/>
            <p:nvPr/>
          </p:nvSpPr>
          <p:spPr>
            <a:xfrm>
              <a:off x="7810500" y="1333500"/>
              <a:ext cx="1943100" cy="9525"/>
            </a:xfrm>
            <a:custGeom>
              <a:avLst/>
              <a:gdLst/>
              <a:ahLst/>
              <a:cxnLst/>
              <a:rect l="l" t="t" r="r" b="b"/>
              <a:pathLst>
                <a:path w="1943100" h="9525">
                  <a:moveTo>
                    <a:pt x="0" y="0"/>
                  </a:moveTo>
                  <a:lnTo>
                    <a:pt x="1943100" y="0"/>
                  </a:lnTo>
                </a:path>
              </a:pathLst>
            </a:custGeom>
            <a:noFill/>
            <a:ln w="9525">
              <a:solidFill>
                <a:srgbClr val="F1C7CC"/>
              </a:solidFill>
            </a:ln>
          </p:spPr>
        </p:sp>
        <p:sp>
          <p:nvSpPr>
            <p:cNvPr id="35" name="Rectangle 35"/>
            <p:cNvSpPr/>
            <p:nvPr/>
          </p:nvSpPr>
          <p:spPr>
            <a:xfrm>
              <a:off x="7810500" y="1409700"/>
              <a:ext cx="1943100" cy="666750"/>
            </a:xfrm>
            <a:prstGeom prst="roundRect">
              <a:avLst>
                <a:gd name="adj" fmla="val 14286"/>
              </a:avLst>
            </a:prstGeom>
            <a:solidFill>
              <a:srgbClr val="FDEFF1"/>
            </a:solidFill>
            <a:ln>
              <a:noFill/>
            </a:ln>
          </p:spPr>
        </p:sp>
        <p:sp>
          <p:nvSpPr>
            <p:cNvPr id="36" name="Rectangle 36"/>
            <p:cNvSpPr/>
            <p:nvPr/>
          </p:nvSpPr>
          <p:spPr>
            <a:xfrm>
              <a:off x="7905750" y="1514475"/>
              <a:ext cx="342900" cy="342900"/>
            </a:xfrm>
            <a:prstGeom prst="roundRect">
              <a:avLst>
                <a:gd name="adj" fmla="val 22222"/>
              </a:avLst>
            </a:prstGeom>
            <a:solidFill>
              <a:srgbClr val="C83210"/>
            </a:solidFill>
            <a:ln>
              <a:noFill/>
            </a:ln>
          </p:spPr>
        </p:sp>
        <p:grpSp>
          <p:nvGrpSpPr>
            <p:cNvPr id="39" name="Group 39"/>
            <p:cNvGrpSpPr/>
            <p:nvPr/>
          </p:nvGrpSpPr>
          <p:grpSpPr>
            <a:xfrm>
              <a:off x="8020050" y="1600200"/>
              <a:ext cx="114300" cy="171450"/>
              <a:chOff x="8020050" y="1600200"/>
              <a:chExt cx="114300" cy="171450"/>
            </a:xfrm>
          </p:grpSpPr>
          <p:sp>
            <p:nvSpPr>
              <p:cNvPr id="37" name="Freeform 37"/>
              <p:cNvSpPr/>
              <p:nvPr/>
            </p:nvSpPr>
            <p:spPr>
              <a:xfrm>
                <a:off x="8039100" y="16002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38" name="Freeform 38"/>
              <p:cNvSpPr/>
              <p:nvPr/>
            </p:nvSpPr>
            <p:spPr>
              <a:xfrm>
                <a:off x="8020050" y="171450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grpSp>
        <p:sp>
          <p:nvSpPr>
            <p:cNvPr id="40" name="TextBox 40"/>
            <p:cNvSpPr txBox="1"/>
            <p:nvPr/>
          </p:nvSpPr>
          <p:spPr>
            <a:xfrm>
              <a:off x="8339138" y="1569720"/>
              <a:ext cx="978789" cy="176212"/>
            </a:xfrm>
            <a:prstGeom prst="rect">
              <a:avLst/>
            </a:prstGeom>
            <a:noFill/>
            <a:ln>
              <a:noFill/>
            </a:ln>
          </p:spPr>
          <p:txBody>
            <a:bodyPr wrap="none" lIns="0" tIns="0" rIns="0" bIns="0" anchor="t" anchorCtr="0">
              <a:spAutoFit/>
            </a:bodyPr>
            <a:lstStyle/>
            <a:p>
              <a:pPr algn="l"/>
              <a:r>
                <a:rPr lang="zh-CN" sz="900" b="1" dirty="0">
                  <a:solidFill>
                    <a:srgbClr val="222222"/>
                  </a:solidFill>
                  <a:latin typeface="+mn-lt"/>
                  <a:ea typeface="+mn-ea"/>
                  <a:cs typeface="+mn-cs"/>
                </a:rPr>
                <a:t>您的专属客户经理</a:t>
              </a:r>
            </a:p>
          </p:txBody>
        </p:sp>
        <p:sp>
          <p:nvSpPr>
            <p:cNvPr id="41" name="Rectangle 41"/>
            <p:cNvSpPr/>
            <p:nvPr/>
          </p:nvSpPr>
          <p:spPr>
            <a:xfrm>
              <a:off x="8343900" y="1771650"/>
              <a:ext cx="1143000" cy="57150"/>
            </a:xfrm>
            <a:prstGeom prst="roundRect">
              <a:avLst>
                <a:gd name="adj" fmla="val 50000"/>
              </a:avLst>
            </a:prstGeom>
            <a:solidFill>
              <a:srgbClr val="F1C7CC"/>
            </a:solidFill>
            <a:ln>
              <a:noFill/>
            </a:ln>
          </p:spPr>
        </p:sp>
        <p:sp>
          <p:nvSpPr>
            <p:cNvPr id="42" name="Rectangle 42"/>
            <p:cNvSpPr/>
            <p:nvPr/>
          </p:nvSpPr>
          <p:spPr>
            <a:xfrm>
              <a:off x="8343900" y="1885950"/>
              <a:ext cx="857250" cy="57150"/>
            </a:xfrm>
            <a:prstGeom prst="roundRect">
              <a:avLst>
                <a:gd name="adj" fmla="val 50000"/>
              </a:avLst>
            </a:prstGeom>
            <a:solidFill>
              <a:srgbClr val="F1C7CC"/>
            </a:solidFill>
            <a:ln>
              <a:noFill/>
            </a:ln>
          </p:spPr>
        </p:sp>
        <p:sp>
          <p:nvSpPr>
            <p:cNvPr id="43" name="Rectangle 43"/>
            <p:cNvSpPr/>
            <p:nvPr/>
          </p:nvSpPr>
          <p:spPr>
            <a:xfrm>
              <a:off x="7810500" y="2152650"/>
              <a:ext cx="1943100" cy="666750"/>
            </a:xfrm>
            <a:prstGeom prst="roundRect">
              <a:avLst>
                <a:gd name="adj" fmla="val 14286"/>
              </a:avLst>
            </a:prstGeom>
            <a:solidFill>
              <a:srgbClr val="FFFFFF"/>
            </a:solidFill>
            <a:ln w="9525">
              <a:solidFill>
                <a:srgbClr val="F1C7CC"/>
              </a:solidFill>
            </a:ln>
          </p:spPr>
        </p:sp>
        <p:sp>
          <p:nvSpPr>
            <p:cNvPr id="44" name="Rectangle 44"/>
            <p:cNvSpPr/>
            <p:nvPr/>
          </p:nvSpPr>
          <p:spPr>
            <a:xfrm>
              <a:off x="7905750" y="2257425"/>
              <a:ext cx="342900" cy="342900"/>
            </a:xfrm>
            <a:prstGeom prst="roundRect">
              <a:avLst>
                <a:gd name="adj" fmla="val 22222"/>
              </a:avLst>
            </a:prstGeom>
            <a:solidFill>
              <a:srgbClr val="C83210"/>
            </a:solidFill>
            <a:ln>
              <a:noFill/>
            </a:ln>
          </p:spPr>
        </p:sp>
        <p:grpSp>
          <p:nvGrpSpPr>
            <p:cNvPr id="47" name="Group 47"/>
            <p:cNvGrpSpPr/>
            <p:nvPr/>
          </p:nvGrpSpPr>
          <p:grpSpPr>
            <a:xfrm>
              <a:off x="8001000" y="2371725"/>
              <a:ext cx="152400" cy="133350"/>
              <a:chOff x="8001000" y="2371725"/>
              <a:chExt cx="152400" cy="133350"/>
            </a:xfrm>
          </p:grpSpPr>
          <p:sp>
            <p:nvSpPr>
              <p:cNvPr id="45" name="Freeform 45"/>
              <p:cNvSpPr/>
              <p:nvPr/>
            </p:nvSpPr>
            <p:spPr>
              <a:xfrm>
                <a:off x="8001000" y="24955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46" name="Freeform 46"/>
              <p:cNvSpPr/>
              <p:nvPr/>
            </p:nvSpPr>
            <p:spPr>
              <a:xfrm>
                <a:off x="8001000" y="2371725"/>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FFFF"/>
                </a:solidFill>
              </a:ln>
            </p:spPr>
          </p:sp>
        </p:grpSp>
        <p:sp>
          <p:nvSpPr>
            <p:cNvPr id="48" name="TextBox 48"/>
            <p:cNvSpPr txBox="1"/>
            <p:nvPr/>
          </p:nvSpPr>
          <p:spPr>
            <a:xfrm>
              <a:off x="8339138" y="2312670"/>
              <a:ext cx="736473" cy="176212"/>
            </a:xfrm>
            <a:prstGeom prst="rect">
              <a:avLst/>
            </a:prstGeom>
            <a:noFill/>
            <a:ln>
              <a:noFill/>
            </a:ln>
          </p:spPr>
          <p:txBody>
            <a:bodyPr wrap="none" lIns="0" tIns="0" rIns="0" bIns="0" anchor="t" anchorCtr="0">
              <a:spAutoFit/>
            </a:bodyPr>
            <a:lstStyle/>
            <a:p>
              <a:pPr algn="l"/>
              <a:r>
                <a:rPr lang="zh-CN" sz="900" b="1" dirty="0">
                  <a:solidFill>
                    <a:srgbClr val="222222"/>
                  </a:solidFill>
                  <a:latin typeface="+mn-lt"/>
                  <a:ea typeface="+mn-ea"/>
                  <a:cs typeface="+mn-cs"/>
                </a:rPr>
                <a:t>精选理财观点</a:t>
              </a:r>
            </a:p>
          </p:txBody>
        </p:sp>
        <p:sp>
          <p:nvSpPr>
            <p:cNvPr id="49" name="Rectangle 49"/>
            <p:cNvSpPr/>
            <p:nvPr/>
          </p:nvSpPr>
          <p:spPr>
            <a:xfrm>
              <a:off x="8343900" y="2514600"/>
              <a:ext cx="1219200" cy="57150"/>
            </a:xfrm>
            <a:prstGeom prst="roundRect">
              <a:avLst>
                <a:gd name="adj" fmla="val 50000"/>
              </a:avLst>
            </a:prstGeom>
            <a:solidFill>
              <a:srgbClr val="F1C7CC"/>
            </a:solidFill>
            <a:ln>
              <a:noFill/>
            </a:ln>
          </p:spPr>
        </p:sp>
        <p:sp>
          <p:nvSpPr>
            <p:cNvPr id="50" name="Rectangle 50"/>
            <p:cNvSpPr/>
            <p:nvPr/>
          </p:nvSpPr>
          <p:spPr>
            <a:xfrm>
              <a:off x="8343900" y="2628900"/>
              <a:ext cx="800100" cy="57150"/>
            </a:xfrm>
            <a:prstGeom prst="roundRect">
              <a:avLst>
                <a:gd name="adj" fmla="val 50000"/>
              </a:avLst>
            </a:prstGeom>
            <a:solidFill>
              <a:srgbClr val="F1C7CC"/>
            </a:solidFill>
            <a:ln>
              <a:noFill/>
            </a:ln>
          </p:spPr>
        </p:sp>
        <p:sp>
          <p:nvSpPr>
            <p:cNvPr id="51" name="Rectangle 51"/>
            <p:cNvSpPr/>
            <p:nvPr/>
          </p:nvSpPr>
          <p:spPr>
            <a:xfrm>
              <a:off x="7810500" y="2895600"/>
              <a:ext cx="1943100" cy="666750"/>
            </a:xfrm>
            <a:prstGeom prst="roundRect">
              <a:avLst>
                <a:gd name="adj" fmla="val 14286"/>
              </a:avLst>
            </a:prstGeom>
            <a:solidFill>
              <a:srgbClr val="FDEFF1"/>
            </a:solidFill>
            <a:ln>
              <a:noFill/>
            </a:ln>
          </p:spPr>
        </p:sp>
        <p:sp>
          <p:nvSpPr>
            <p:cNvPr id="52" name="Rectangle 52"/>
            <p:cNvSpPr/>
            <p:nvPr/>
          </p:nvSpPr>
          <p:spPr>
            <a:xfrm>
              <a:off x="7905750" y="3000375"/>
              <a:ext cx="342900" cy="342900"/>
            </a:xfrm>
            <a:prstGeom prst="roundRect">
              <a:avLst>
                <a:gd name="adj" fmla="val 22222"/>
              </a:avLst>
            </a:prstGeom>
            <a:solidFill>
              <a:srgbClr val="C83210"/>
            </a:solidFill>
            <a:ln>
              <a:noFill/>
            </a:ln>
          </p:spPr>
        </p:sp>
        <p:grpSp>
          <p:nvGrpSpPr>
            <p:cNvPr id="57" name="Group 57"/>
            <p:cNvGrpSpPr/>
            <p:nvPr/>
          </p:nvGrpSpPr>
          <p:grpSpPr>
            <a:xfrm>
              <a:off x="7991475" y="3085772"/>
              <a:ext cx="171450" cy="171778"/>
              <a:chOff x="7991475" y="3085772"/>
              <a:chExt cx="171450" cy="171778"/>
            </a:xfrm>
          </p:grpSpPr>
          <p:sp>
            <p:nvSpPr>
              <p:cNvPr id="53" name="Freeform 53"/>
              <p:cNvSpPr/>
              <p:nvPr/>
            </p:nvSpPr>
            <p:spPr>
              <a:xfrm>
                <a:off x="7991475" y="3133725"/>
                <a:ext cx="171450" cy="38100"/>
              </a:xfrm>
              <a:custGeom>
                <a:avLst/>
                <a:gdLst/>
                <a:ahLst/>
                <a:cxnLst/>
                <a:rect l="l" t="t" r="r" b="b"/>
                <a:pathLst>
                  <a:path w="171450" h="38100">
                    <a:moveTo>
                      <a:pt x="0" y="9525"/>
                    </a:moveTo>
                    <a:cubicBezTo>
                      <a:pt x="0" y="4264"/>
                      <a:pt x="4264" y="0"/>
                      <a:pt x="9525" y="0"/>
                    </a:cubicBezTo>
                    <a:lnTo>
                      <a:pt x="161925" y="0"/>
                    </a:lnTo>
                    <a:cubicBezTo>
                      <a:pt x="167186" y="0"/>
                      <a:pt x="171450" y="4264"/>
                      <a:pt x="171450" y="9525"/>
                    </a:cubicBezTo>
                    <a:lnTo>
                      <a:pt x="171450" y="28575"/>
                    </a:lnTo>
                    <a:cubicBezTo>
                      <a:pt x="171450" y="33836"/>
                      <a:pt x="167186" y="38100"/>
                      <a:pt x="161925" y="38100"/>
                    </a:cubicBezTo>
                    <a:lnTo>
                      <a:pt x="9525" y="38100"/>
                    </a:lnTo>
                    <a:cubicBezTo>
                      <a:pt x="4264" y="38100"/>
                      <a:pt x="0" y="33836"/>
                      <a:pt x="0" y="28575"/>
                    </a:cubicBezTo>
                    <a:lnTo>
                      <a:pt x="0" y="9525"/>
                    </a:lnTo>
                  </a:path>
                </a:pathLst>
              </a:custGeom>
              <a:noFill/>
              <a:ln w="19050">
                <a:solidFill>
                  <a:srgbClr val="FFFFFF"/>
                </a:solidFill>
              </a:ln>
            </p:spPr>
          </p:sp>
          <p:sp>
            <p:nvSpPr>
              <p:cNvPr id="54" name="Freeform 54"/>
              <p:cNvSpPr/>
              <p:nvPr/>
            </p:nvSpPr>
            <p:spPr>
              <a:xfrm>
                <a:off x="8077200" y="3133725"/>
                <a:ext cx="9525" cy="123825"/>
              </a:xfrm>
              <a:custGeom>
                <a:avLst/>
                <a:gdLst/>
                <a:ahLst/>
                <a:cxnLst/>
                <a:rect l="l" t="t" r="r" b="b"/>
                <a:pathLst>
                  <a:path w="9525" h="123825">
                    <a:moveTo>
                      <a:pt x="0" y="0"/>
                    </a:moveTo>
                    <a:lnTo>
                      <a:pt x="0" y="123825"/>
                    </a:lnTo>
                  </a:path>
                </a:pathLst>
              </a:custGeom>
              <a:noFill/>
              <a:ln w="19050">
                <a:solidFill>
                  <a:srgbClr val="FFFFFF"/>
                </a:solidFill>
              </a:ln>
            </p:spPr>
          </p:sp>
          <p:sp>
            <p:nvSpPr>
              <p:cNvPr id="55" name="Freeform 55"/>
              <p:cNvSpPr/>
              <p:nvPr/>
            </p:nvSpPr>
            <p:spPr>
              <a:xfrm>
                <a:off x="8010525" y="3171825"/>
                <a:ext cx="133350" cy="85725"/>
              </a:xfrm>
              <a:custGeom>
                <a:avLst/>
                <a:gdLst/>
                <a:ahLst/>
                <a:cxnLst/>
                <a:rect l="l" t="t" r="r" b="b"/>
                <a:pathLst>
                  <a:path w="133350" h="85725">
                    <a:moveTo>
                      <a:pt x="133350" y="0"/>
                    </a:moveTo>
                    <a:lnTo>
                      <a:pt x="133350" y="66675"/>
                    </a:lnTo>
                    <a:cubicBezTo>
                      <a:pt x="133350" y="77196"/>
                      <a:pt x="124821" y="85725"/>
                      <a:pt x="114300" y="85725"/>
                    </a:cubicBezTo>
                    <a:lnTo>
                      <a:pt x="19050" y="85725"/>
                    </a:lnTo>
                    <a:cubicBezTo>
                      <a:pt x="8529" y="85725"/>
                      <a:pt x="0" y="77196"/>
                      <a:pt x="0" y="66675"/>
                    </a:cubicBezTo>
                    <a:lnTo>
                      <a:pt x="0" y="0"/>
                    </a:lnTo>
                  </a:path>
                </a:pathLst>
              </a:custGeom>
              <a:noFill/>
              <a:ln w="19050">
                <a:solidFill>
                  <a:srgbClr val="FFFFFF"/>
                </a:solidFill>
              </a:ln>
            </p:spPr>
          </p:sp>
          <p:sp>
            <p:nvSpPr>
              <p:cNvPr id="56" name="Freeform 56"/>
              <p:cNvSpPr/>
              <p:nvPr/>
            </p:nvSpPr>
            <p:spPr>
              <a:xfrm>
                <a:off x="8010525" y="3085772"/>
                <a:ext cx="133350" cy="47953"/>
              </a:xfrm>
              <a:custGeom>
                <a:avLst/>
                <a:gdLst/>
                <a:ahLst/>
                <a:cxnLst/>
                <a:rect l="l" t="t" r="r" b="b"/>
                <a:pathLst>
                  <a:path w="133350" h="47953">
                    <a:moveTo>
                      <a:pt x="23812" y="47953"/>
                    </a:moveTo>
                    <a:cubicBezTo>
                      <a:pt x="10661" y="47953"/>
                      <a:pt x="0" y="37291"/>
                      <a:pt x="0" y="24140"/>
                    </a:cubicBezTo>
                    <a:cubicBezTo>
                      <a:pt x="0" y="10989"/>
                      <a:pt x="10661" y="328"/>
                      <a:pt x="23812" y="328"/>
                    </a:cubicBezTo>
                    <a:cubicBezTo>
                      <a:pt x="42617" y="0"/>
                      <a:pt x="59624" y="18897"/>
                      <a:pt x="66675" y="47953"/>
                    </a:cubicBezTo>
                    <a:cubicBezTo>
                      <a:pt x="73726" y="18897"/>
                      <a:pt x="90733" y="0"/>
                      <a:pt x="109538" y="328"/>
                    </a:cubicBezTo>
                    <a:cubicBezTo>
                      <a:pt x="122689" y="328"/>
                      <a:pt x="133350" y="10989"/>
                      <a:pt x="133350" y="24140"/>
                    </a:cubicBezTo>
                    <a:cubicBezTo>
                      <a:pt x="133350" y="37291"/>
                      <a:pt x="122689" y="47953"/>
                      <a:pt x="109538" y="47953"/>
                    </a:cubicBezTo>
                  </a:path>
                </a:pathLst>
              </a:custGeom>
              <a:noFill/>
              <a:ln w="19050">
                <a:solidFill>
                  <a:srgbClr val="FFFFFF"/>
                </a:solidFill>
              </a:ln>
            </p:spPr>
          </p:sp>
        </p:grpSp>
        <p:sp>
          <p:nvSpPr>
            <p:cNvPr id="58" name="TextBox 58"/>
            <p:cNvSpPr txBox="1"/>
            <p:nvPr/>
          </p:nvSpPr>
          <p:spPr>
            <a:xfrm>
              <a:off x="8339138" y="3055620"/>
              <a:ext cx="736473" cy="176212"/>
            </a:xfrm>
            <a:prstGeom prst="rect">
              <a:avLst/>
            </a:prstGeom>
            <a:noFill/>
            <a:ln>
              <a:noFill/>
            </a:ln>
          </p:spPr>
          <p:txBody>
            <a:bodyPr wrap="none" lIns="0" tIns="0" rIns="0" bIns="0" anchor="t" anchorCtr="0">
              <a:spAutoFit/>
            </a:bodyPr>
            <a:lstStyle/>
            <a:p>
              <a:pPr algn="l"/>
              <a:r>
                <a:rPr lang="zh-CN" sz="900" b="1" dirty="0">
                  <a:solidFill>
                    <a:srgbClr val="222222"/>
                  </a:solidFill>
                  <a:latin typeface="+mn-lt"/>
                  <a:ea typeface="+mn-ea"/>
                  <a:cs typeface="+mn-cs"/>
                </a:rPr>
                <a:t>专属客户活动</a:t>
              </a:r>
            </a:p>
          </p:txBody>
        </p:sp>
        <p:sp>
          <p:nvSpPr>
            <p:cNvPr id="59" name="Rectangle 59"/>
            <p:cNvSpPr/>
            <p:nvPr/>
          </p:nvSpPr>
          <p:spPr>
            <a:xfrm>
              <a:off x="8343900" y="3257550"/>
              <a:ext cx="1066800" cy="57150"/>
            </a:xfrm>
            <a:prstGeom prst="roundRect">
              <a:avLst>
                <a:gd name="adj" fmla="val 50000"/>
              </a:avLst>
            </a:prstGeom>
            <a:solidFill>
              <a:srgbClr val="F1C7CC"/>
            </a:solidFill>
            <a:ln>
              <a:noFill/>
            </a:ln>
          </p:spPr>
        </p:sp>
        <p:sp>
          <p:nvSpPr>
            <p:cNvPr id="60" name="Rectangle 60"/>
            <p:cNvSpPr/>
            <p:nvPr/>
          </p:nvSpPr>
          <p:spPr>
            <a:xfrm>
              <a:off x="8343900" y="3371850"/>
              <a:ext cx="914400" cy="57150"/>
            </a:xfrm>
            <a:prstGeom prst="roundRect">
              <a:avLst>
                <a:gd name="adj" fmla="val 50000"/>
              </a:avLst>
            </a:prstGeom>
            <a:solidFill>
              <a:srgbClr val="F1C7CC"/>
            </a:solidFill>
            <a:ln>
              <a:noFill/>
            </a:ln>
          </p:spPr>
        </p:sp>
        <p:sp>
          <p:nvSpPr>
            <p:cNvPr id="61" name="Rectangle 61"/>
            <p:cNvSpPr/>
            <p:nvPr/>
          </p:nvSpPr>
          <p:spPr>
            <a:xfrm>
              <a:off x="7810500" y="3638550"/>
              <a:ext cx="1943100" cy="666750"/>
            </a:xfrm>
            <a:prstGeom prst="roundRect">
              <a:avLst>
                <a:gd name="adj" fmla="val 14286"/>
              </a:avLst>
            </a:prstGeom>
            <a:solidFill>
              <a:srgbClr val="FFFFFF"/>
            </a:solidFill>
            <a:ln w="9525">
              <a:solidFill>
                <a:srgbClr val="F1C7CC"/>
              </a:solidFill>
            </a:ln>
          </p:spPr>
        </p:sp>
        <p:sp>
          <p:nvSpPr>
            <p:cNvPr id="62" name="Rectangle 62"/>
            <p:cNvSpPr/>
            <p:nvPr/>
          </p:nvSpPr>
          <p:spPr>
            <a:xfrm>
              <a:off x="7905750" y="3743325"/>
              <a:ext cx="342900" cy="342900"/>
            </a:xfrm>
            <a:prstGeom prst="roundRect">
              <a:avLst>
                <a:gd name="adj" fmla="val 22222"/>
              </a:avLst>
            </a:prstGeom>
            <a:solidFill>
              <a:srgbClr val="C83210"/>
            </a:solidFill>
            <a:ln>
              <a:noFill/>
            </a:ln>
          </p:spPr>
        </p:sp>
        <p:grpSp>
          <p:nvGrpSpPr>
            <p:cNvPr id="68" name="Group 68"/>
            <p:cNvGrpSpPr/>
            <p:nvPr/>
          </p:nvGrpSpPr>
          <p:grpSpPr>
            <a:xfrm>
              <a:off x="8010525" y="3829050"/>
              <a:ext cx="133350" cy="171450"/>
              <a:chOff x="8010525" y="3829050"/>
              <a:chExt cx="133350" cy="171450"/>
            </a:xfrm>
          </p:grpSpPr>
          <p:sp>
            <p:nvSpPr>
              <p:cNvPr id="63" name="Freeform 63"/>
              <p:cNvSpPr/>
              <p:nvPr/>
            </p:nvSpPr>
            <p:spPr>
              <a:xfrm>
                <a:off x="8096250" y="38290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FFFFFF"/>
                </a:solidFill>
              </a:ln>
            </p:spPr>
          </p:sp>
          <p:sp>
            <p:nvSpPr>
              <p:cNvPr id="64" name="Freeform 64"/>
              <p:cNvSpPr/>
              <p:nvPr/>
            </p:nvSpPr>
            <p:spPr>
              <a:xfrm>
                <a:off x="8010525" y="38290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FFFFFF"/>
                </a:solidFill>
              </a:ln>
            </p:spPr>
          </p:sp>
          <p:sp>
            <p:nvSpPr>
              <p:cNvPr id="65" name="Freeform 65"/>
              <p:cNvSpPr/>
              <p:nvPr/>
            </p:nvSpPr>
            <p:spPr>
              <a:xfrm>
                <a:off x="8048625" y="3886200"/>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66" name="Freeform 66"/>
              <p:cNvSpPr/>
              <p:nvPr/>
            </p:nvSpPr>
            <p:spPr>
              <a:xfrm>
                <a:off x="8048625" y="3924300"/>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67" name="Freeform 67"/>
              <p:cNvSpPr/>
              <p:nvPr/>
            </p:nvSpPr>
            <p:spPr>
              <a:xfrm>
                <a:off x="8048625" y="3962400"/>
                <a:ext cx="57150" cy="9525"/>
              </a:xfrm>
              <a:custGeom>
                <a:avLst/>
                <a:gdLst/>
                <a:ahLst/>
                <a:cxnLst/>
                <a:rect l="l" t="t" r="r" b="b"/>
                <a:pathLst>
                  <a:path w="57150" h="9525">
                    <a:moveTo>
                      <a:pt x="0" y="0"/>
                    </a:moveTo>
                    <a:lnTo>
                      <a:pt x="57150" y="0"/>
                    </a:lnTo>
                  </a:path>
                </a:pathLst>
              </a:custGeom>
              <a:noFill/>
              <a:ln w="19050">
                <a:solidFill>
                  <a:srgbClr val="FFFFFF"/>
                </a:solidFill>
              </a:ln>
            </p:spPr>
          </p:sp>
        </p:grpSp>
        <p:sp>
          <p:nvSpPr>
            <p:cNvPr id="69" name="TextBox 69"/>
            <p:cNvSpPr txBox="1"/>
            <p:nvPr/>
          </p:nvSpPr>
          <p:spPr>
            <a:xfrm>
              <a:off x="8339138" y="3798570"/>
              <a:ext cx="857631" cy="176212"/>
            </a:xfrm>
            <a:prstGeom prst="rect">
              <a:avLst/>
            </a:prstGeom>
            <a:noFill/>
            <a:ln>
              <a:noFill/>
            </a:ln>
          </p:spPr>
          <p:txBody>
            <a:bodyPr wrap="none" lIns="0" tIns="0" rIns="0" bIns="0" anchor="t" anchorCtr="0">
              <a:spAutoFit/>
            </a:bodyPr>
            <a:lstStyle/>
            <a:p>
              <a:pPr algn="l"/>
              <a:r>
                <a:rPr lang="zh-CN" sz="900" b="1" dirty="0">
                  <a:solidFill>
                    <a:srgbClr val="222222"/>
                  </a:solidFill>
                  <a:latin typeface="+mn-lt"/>
                  <a:ea typeface="+mn-ea"/>
                  <a:cs typeface="+mn-cs"/>
                </a:rPr>
                <a:t>一对一专属服务</a:t>
              </a:r>
            </a:p>
          </p:txBody>
        </p:sp>
        <p:sp>
          <p:nvSpPr>
            <p:cNvPr id="70" name="Rectangle 70"/>
            <p:cNvSpPr/>
            <p:nvPr/>
          </p:nvSpPr>
          <p:spPr>
            <a:xfrm>
              <a:off x="8343900" y="4000500"/>
              <a:ext cx="1181100" cy="57150"/>
            </a:xfrm>
            <a:prstGeom prst="roundRect">
              <a:avLst>
                <a:gd name="adj" fmla="val 50000"/>
              </a:avLst>
            </a:prstGeom>
            <a:solidFill>
              <a:srgbClr val="F1C7CC"/>
            </a:solidFill>
            <a:ln>
              <a:noFill/>
            </a:ln>
          </p:spPr>
        </p:sp>
        <p:sp>
          <p:nvSpPr>
            <p:cNvPr id="71" name="Rectangle 71"/>
            <p:cNvSpPr/>
            <p:nvPr/>
          </p:nvSpPr>
          <p:spPr>
            <a:xfrm>
              <a:off x="8343900" y="4114800"/>
              <a:ext cx="762000" cy="57150"/>
            </a:xfrm>
            <a:prstGeom prst="roundRect">
              <a:avLst>
                <a:gd name="adj" fmla="val 50000"/>
              </a:avLst>
            </a:prstGeom>
            <a:solidFill>
              <a:srgbClr val="F1C7CC"/>
            </a:solidFill>
            <a:ln>
              <a:noFill/>
            </a:ln>
          </p:spPr>
        </p:sp>
        <p:sp>
          <p:nvSpPr>
            <p:cNvPr id="72" name="Rectangle 72"/>
            <p:cNvSpPr/>
            <p:nvPr/>
          </p:nvSpPr>
          <p:spPr>
            <a:xfrm>
              <a:off x="7810500" y="4419600"/>
              <a:ext cx="1390650" cy="266700"/>
            </a:xfrm>
            <a:prstGeom prst="roundRect">
              <a:avLst>
                <a:gd name="adj" fmla="val 50000"/>
              </a:avLst>
            </a:prstGeom>
            <a:solidFill>
              <a:srgbClr val="F5F5F5"/>
            </a:solidFill>
            <a:ln>
              <a:noFill/>
            </a:ln>
          </p:spPr>
        </p:sp>
        <p:grpSp>
          <p:nvGrpSpPr>
            <p:cNvPr id="77" name="Group 77"/>
            <p:cNvGrpSpPr/>
            <p:nvPr/>
          </p:nvGrpSpPr>
          <p:grpSpPr>
            <a:xfrm>
              <a:off x="9336881" y="4488656"/>
              <a:ext cx="128588" cy="128588"/>
              <a:chOff x="9336881" y="4488656"/>
              <a:chExt cx="128588" cy="128588"/>
            </a:xfrm>
          </p:grpSpPr>
          <p:sp>
            <p:nvSpPr>
              <p:cNvPr id="73" name="Freeform 73"/>
              <p:cNvSpPr/>
              <p:nvPr/>
            </p:nvSpPr>
            <p:spPr>
              <a:xfrm>
                <a:off x="9336881" y="44886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8F230A"/>
                </a:solidFill>
              </a:ln>
            </p:spPr>
          </p:sp>
          <p:sp>
            <p:nvSpPr>
              <p:cNvPr id="74" name="Freeform 74"/>
              <p:cNvSpPr/>
              <p:nvPr/>
            </p:nvSpPr>
            <p:spPr>
              <a:xfrm>
                <a:off x="9379744" y="4538662"/>
                <a:ext cx="9525" cy="9525"/>
              </a:xfrm>
              <a:custGeom>
                <a:avLst/>
                <a:gdLst/>
                <a:ahLst/>
                <a:cxnLst/>
                <a:rect l="l" t="t" r="r" b="b"/>
                <a:pathLst>
                  <a:path w="9525" h="9525">
                    <a:moveTo>
                      <a:pt x="0" y="0"/>
                    </a:moveTo>
                    <a:lnTo>
                      <a:pt x="71" y="0"/>
                    </a:lnTo>
                  </a:path>
                </a:pathLst>
              </a:custGeom>
              <a:noFill/>
              <a:ln w="14288">
                <a:solidFill>
                  <a:srgbClr val="8F230A"/>
                </a:solidFill>
              </a:ln>
            </p:spPr>
          </p:sp>
          <p:sp>
            <p:nvSpPr>
              <p:cNvPr id="75" name="Freeform 75"/>
              <p:cNvSpPr/>
              <p:nvPr/>
            </p:nvSpPr>
            <p:spPr>
              <a:xfrm>
                <a:off x="9422606" y="4538662"/>
                <a:ext cx="9525" cy="9525"/>
              </a:xfrm>
              <a:custGeom>
                <a:avLst/>
                <a:gdLst/>
                <a:ahLst/>
                <a:cxnLst/>
                <a:rect l="l" t="t" r="r" b="b"/>
                <a:pathLst>
                  <a:path w="9525" h="9525">
                    <a:moveTo>
                      <a:pt x="0" y="0"/>
                    </a:moveTo>
                    <a:lnTo>
                      <a:pt x="71" y="0"/>
                    </a:lnTo>
                  </a:path>
                </a:pathLst>
              </a:custGeom>
              <a:noFill/>
              <a:ln w="14288">
                <a:solidFill>
                  <a:srgbClr val="8F230A"/>
                </a:solidFill>
              </a:ln>
            </p:spPr>
          </p:sp>
          <p:sp>
            <p:nvSpPr>
              <p:cNvPr id="76" name="Freeform 76"/>
              <p:cNvSpPr/>
              <p:nvPr/>
            </p:nvSpPr>
            <p:spPr>
              <a:xfrm>
                <a:off x="9383316" y="4574381"/>
                <a:ext cx="35719" cy="9525"/>
              </a:xfrm>
              <a:custGeom>
                <a:avLst/>
                <a:gdLst/>
                <a:ahLst/>
                <a:cxnLst/>
                <a:rect l="l" t="t" r="r" b="b"/>
                <a:pathLst>
                  <a:path w="35719" h="9525">
                    <a:moveTo>
                      <a:pt x="0" y="0"/>
                    </a:moveTo>
                    <a:cubicBezTo>
                      <a:pt x="4703" y="4800"/>
                      <a:pt x="11140" y="7505"/>
                      <a:pt x="17859" y="7505"/>
                    </a:cubicBezTo>
                    <a:cubicBezTo>
                      <a:pt x="24579" y="7505"/>
                      <a:pt x="31016" y="4800"/>
                      <a:pt x="35719" y="0"/>
                    </a:cubicBezTo>
                  </a:path>
                </a:pathLst>
              </a:custGeom>
              <a:noFill/>
              <a:ln w="14288">
                <a:solidFill>
                  <a:srgbClr val="8F230A"/>
                </a:solidFill>
              </a:ln>
            </p:spPr>
          </p:sp>
        </p:grpSp>
        <p:grpSp>
          <p:nvGrpSpPr>
            <p:cNvPr id="81" name="Group 81"/>
            <p:cNvGrpSpPr/>
            <p:nvPr/>
          </p:nvGrpSpPr>
          <p:grpSpPr>
            <a:xfrm>
              <a:off x="9584531" y="4488656"/>
              <a:ext cx="128588" cy="128588"/>
              <a:chOff x="9584531" y="4488656"/>
              <a:chExt cx="128588" cy="128588"/>
            </a:xfrm>
          </p:grpSpPr>
          <p:sp>
            <p:nvSpPr>
              <p:cNvPr id="78" name="Freeform 78"/>
              <p:cNvSpPr/>
              <p:nvPr/>
            </p:nvSpPr>
            <p:spPr>
              <a:xfrm>
                <a:off x="9584531" y="44886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8F230A"/>
                </a:solidFill>
              </a:ln>
            </p:spPr>
          </p:sp>
          <p:sp>
            <p:nvSpPr>
              <p:cNvPr id="79" name="Freeform 79"/>
              <p:cNvSpPr/>
              <p:nvPr/>
            </p:nvSpPr>
            <p:spPr>
              <a:xfrm>
                <a:off x="9627394" y="4552950"/>
                <a:ext cx="42862" cy="9525"/>
              </a:xfrm>
              <a:custGeom>
                <a:avLst/>
                <a:gdLst/>
                <a:ahLst/>
                <a:cxnLst/>
                <a:rect l="l" t="t" r="r" b="b"/>
                <a:pathLst>
                  <a:path w="42862" h="9525">
                    <a:moveTo>
                      <a:pt x="0" y="0"/>
                    </a:moveTo>
                    <a:lnTo>
                      <a:pt x="42862" y="0"/>
                    </a:lnTo>
                  </a:path>
                </a:pathLst>
              </a:custGeom>
              <a:noFill/>
              <a:ln w="14288">
                <a:solidFill>
                  <a:srgbClr val="8F230A"/>
                </a:solidFill>
              </a:ln>
            </p:spPr>
          </p:sp>
          <p:sp>
            <p:nvSpPr>
              <p:cNvPr id="80" name="Freeform 80"/>
              <p:cNvSpPr/>
              <p:nvPr/>
            </p:nvSpPr>
            <p:spPr>
              <a:xfrm>
                <a:off x="9648825" y="4531519"/>
                <a:ext cx="9525" cy="42862"/>
              </a:xfrm>
              <a:custGeom>
                <a:avLst/>
                <a:gdLst/>
                <a:ahLst/>
                <a:cxnLst/>
                <a:rect l="l" t="t" r="r" b="b"/>
                <a:pathLst>
                  <a:path w="9525" h="42862">
                    <a:moveTo>
                      <a:pt x="0" y="0"/>
                    </a:moveTo>
                    <a:lnTo>
                      <a:pt x="0" y="42862"/>
                    </a:lnTo>
                  </a:path>
                </a:pathLst>
              </a:custGeom>
              <a:noFill/>
              <a:ln w="14288">
                <a:solidFill>
                  <a:srgbClr val="8F230A"/>
                </a:solidFill>
              </a:ln>
            </p:spPr>
          </p:sp>
        </p:grpSp>
      </p:grpSp>
      <p:grpSp>
        <p:nvGrpSpPr>
          <p:cNvPr id="88" name="badge-hnw"/>
          <p:cNvGrpSpPr/>
          <p:nvPr/>
        </p:nvGrpSpPr>
        <p:grpSpPr>
          <a:xfrm>
            <a:off x="6718935" y="866775"/>
            <a:ext cx="815340" cy="1301591"/>
            <a:chOff x="6718935" y="866775"/>
            <a:chExt cx="815340" cy="1301591"/>
          </a:xfrm>
        </p:grpSpPr>
        <p:sp>
          <p:nvSpPr>
            <p:cNvPr id="83" name="Ellipse 83"/>
            <p:cNvSpPr/>
            <p:nvPr/>
          </p:nvSpPr>
          <p:spPr>
            <a:xfrm>
              <a:off x="6791325" y="866775"/>
              <a:ext cx="742950" cy="742950"/>
            </a:xfrm>
            <a:prstGeom prst="ellipse">
              <a:avLst/>
            </a:prstGeom>
            <a:solidFill>
              <a:srgbClr val="FFFFFF"/>
            </a:solidFill>
            <a:ln w="19050">
              <a:solidFill>
                <a:srgbClr val="F3B2A3"/>
              </a:solidFill>
            </a:ln>
          </p:spPr>
        </p:sp>
        <p:pic>
          <p:nvPicPr>
            <p:cNvPr id="84" name="Image 84"/>
            <p:cNvPicPr>
              <a:picLocks noChangeAspect="1"/>
            </p:cNvPicPr>
            <p:nvPr/>
          </p:nvPicPr>
          <p:blipFill>
            <a:blip r:embed="rId2"/>
            <a:stretch>
              <a:fillRect/>
            </a:stretch>
          </p:blipFill>
          <p:spPr>
            <a:xfrm>
              <a:off x="6819900" y="895350"/>
              <a:ext cx="685800" cy="685800"/>
            </a:xfrm>
            <a:prstGeom prst="ellipse">
              <a:avLst/>
            </a:prstGeom>
          </p:spPr>
        </p:pic>
        <p:sp>
          <p:nvSpPr>
            <p:cNvPr id="85" name="TextBox 85"/>
            <p:cNvSpPr txBox="1"/>
            <p:nvPr/>
          </p:nvSpPr>
          <p:spPr>
            <a:xfrm>
              <a:off x="6718935" y="1688306"/>
              <a:ext cx="765302"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mn-lt"/>
                  <a:ea typeface="+mn-ea"/>
                  <a:cs typeface="+mn-cs"/>
                </a:rPr>
                <a:t>高净值客户</a:t>
              </a:r>
            </a:p>
          </p:txBody>
        </p:sp>
        <p:sp>
          <p:nvSpPr>
            <p:cNvPr id="86" name="TextBox 86"/>
            <p:cNvSpPr txBox="1"/>
            <p:nvPr/>
          </p:nvSpPr>
          <p:spPr>
            <a:xfrm>
              <a:off x="6719888" y="1882616"/>
              <a:ext cx="451079"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专业服务</a:t>
              </a:r>
            </a:p>
          </p:txBody>
        </p:sp>
        <p:sp>
          <p:nvSpPr>
            <p:cNvPr id="87" name="TextBox 87"/>
            <p:cNvSpPr txBox="1"/>
            <p:nvPr/>
          </p:nvSpPr>
          <p:spPr>
            <a:xfrm>
              <a:off x="6719888" y="2006441"/>
              <a:ext cx="451079"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家族传承</a:t>
              </a:r>
            </a:p>
          </p:txBody>
        </p:sp>
      </p:grpSp>
      <p:grpSp>
        <p:nvGrpSpPr>
          <p:cNvPr id="94" name="badge-young"/>
          <p:cNvGrpSpPr/>
          <p:nvPr/>
        </p:nvGrpSpPr>
        <p:grpSpPr>
          <a:xfrm>
            <a:off x="10972800" y="647700"/>
            <a:ext cx="742950" cy="1301591"/>
            <a:chOff x="10972800" y="647700"/>
            <a:chExt cx="742950" cy="1301591"/>
          </a:xfrm>
        </p:grpSpPr>
        <p:sp>
          <p:nvSpPr>
            <p:cNvPr id="89" name="Ellipse 89"/>
            <p:cNvSpPr/>
            <p:nvPr/>
          </p:nvSpPr>
          <p:spPr>
            <a:xfrm>
              <a:off x="10972800" y="647700"/>
              <a:ext cx="742950" cy="742950"/>
            </a:xfrm>
            <a:prstGeom prst="ellipse">
              <a:avLst/>
            </a:prstGeom>
            <a:solidFill>
              <a:srgbClr val="FFFFFF"/>
            </a:solidFill>
            <a:ln w="19050">
              <a:solidFill>
                <a:srgbClr val="F3B2A3"/>
              </a:solidFill>
            </a:ln>
          </p:spPr>
        </p:sp>
        <p:pic>
          <p:nvPicPr>
            <p:cNvPr id="90" name="Image 90"/>
            <p:cNvPicPr>
              <a:picLocks noChangeAspect="1"/>
            </p:cNvPicPr>
            <p:nvPr/>
          </p:nvPicPr>
          <p:blipFill>
            <a:blip r:embed="rId3"/>
            <a:stretch>
              <a:fillRect/>
            </a:stretch>
          </p:blipFill>
          <p:spPr>
            <a:xfrm>
              <a:off x="11001375" y="676275"/>
              <a:ext cx="685800" cy="685800"/>
            </a:xfrm>
            <a:prstGeom prst="ellipse">
              <a:avLst/>
            </a:prstGeom>
          </p:spPr>
        </p:pic>
        <p:sp>
          <p:nvSpPr>
            <p:cNvPr id="91" name="TextBox 91"/>
            <p:cNvSpPr txBox="1"/>
            <p:nvPr/>
          </p:nvSpPr>
          <p:spPr>
            <a:xfrm>
              <a:off x="11005185" y="1469231"/>
              <a:ext cx="614528"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mn-lt"/>
                  <a:ea typeface="+mn-ea"/>
                  <a:cs typeface="+mn-cs"/>
                </a:rPr>
                <a:t>年轻客群</a:t>
              </a:r>
            </a:p>
          </p:txBody>
        </p:sp>
        <p:sp>
          <p:nvSpPr>
            <p:cNvPr id="92" name="TextBox 92"/>
            <p:cNvSpPr txBox="1"/>
            <p:nvPr/>
          </p:nvSpPr>
          <p:spPr>
            <a:xfrm>
              <a:off x="11006138" y="1663541"/>
              <a:ext cx="451079"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品质生活</a:t>
              </a:r>
            </a:p>
          </p:txBody>
        </p:sp>
        <p:sp>
          <p:nvSpPr>
            <p:cNvPr id="93" name="TextBox 93"/>
            <p:cNvSpPr txBox="1"/>
            <p:nvPr/>
          </p:nvSpPr>
          <p:spPr>
            <a:xfrm>
              <a:off x="11006138" y="1787366"/>
              <a:ext cx="451079"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财富增值</a:t>
              </a:r>
            </a:p>
          </p:txBody>
        </p:sp>
      </p:grpSp>
      <p:grpSp>
        <p:nvGrpSpPr>
          <p:cNvPr id="100" name="badge-mid"/>
          <p:cNvGrpSpPr/>
          <p:nvPr/>
        </p:nvGrpSpPr>
        <p:grpSpPr>
          <a:xfrm>
            <a:off x="6623685" y="2657475"/>
            <a:ext cx="748665" cy="1301591"/>
            <a:chOff x="6623685" y="2657475"/>
            <a:chExt cx="748665" cy="1301591"/>
          </a:xfrm>
        </p:grpSpPr>
        <p:sp>
          <p:nvSpPr>
            <p:cNvPr id="95" name="Ellipse 95"/>
            <p:cNvSpPr/>
            <p:nvPr/>
          </p:nvSpPr>
          <p:spPr>
            <a:xfrm>
              <a:off x="6629400" y="2657475"/>
              <a:ext cx="742950" cy="742950"/>
            </a:xfrm>
            <a:prstGeom prst="ellipse">
              <a:avLst/>
            </a:prstGeom>
            <a:solidFill>
              <a:srgbClr val="FFFFFF"/>
            </a:solidFill>
            <a:ln w="19050">
              <a:solidFill>
                <a:srgbClr val="F3B2A3"/>
              </a:solidFill>
            </a:ln>
          </p:spPr>
        </p:sp>
        <p:pic>
          <p:nvPicPr>
            <p:cNvPr id="96" name="Image 96"/>
            <p:cNvPicPr>
              <a:picLocks noChangeAspect="1"/>
            </p:cNvPicPr>
            <p:nvPr/>
          </p:nvPicPr>
          <p:blipFill>
            <a:blip r:embed="rId4"/>
            <a:stretch>
              <a:fillRect/>
            </a:stretch>
          </p:blipFill>
          <p:spPr>
            <a:xfrm>
              <a:off x="6657975" y="2686050"/>
              <a:ext cx="685800" cy="685800"/>
            </a:xfrm>
            <a:prstGeom prst="ellipse">
              <a:avLst/>
            </a:prstGeom>
          </p:spPr>
        </p:pic>
        <p:sp>
          <p:nvSpPr>
            <p:cNvPr id="97" name="TextBox 97"/>
            <p:cNvSpPr txBox="1"/>
            <p:nvPr/>
          </p:nvSpPr>
          <p:spPr>
            <a:xfrm>
              <a:off x="6623685" y="3479006"/>
              <a:ext cx="614528"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mn-lt"/>
                  <a:ea typeface="+mn-ea"/>
                  <a:cs typeface="+mn-cs"/>
                </a:rPr>
                <a:t>中坚客群</a:t>
              </a:r>
            </a:p>
          </p:txBody>
        </p:sp>
        <p:sp>
          <p:nvSpPr>
            <p:cNvPr id="98" name="TextBox 98"/>
            <p:cNvSpPr txBox="1"/>
            <p:nvPr/>
          </p:nvSpPr>
          <p:spPr>
            <a:xfrm>
              <a:off x="6624638" y="3673316"/>
              <a:ext cx="451079"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稳健配置</a:t>
              </a:r>
            </a:p>
          </p:txBody>
        </p:sp>
        <p:sp>
          <p:nvSpPr>
            <p:cNvPr id="99" name="TextBox 99"/>
            <p:cNvSpPr txBox="1"/>
            <p:nvPr/>
          </p:nvSpPr>
          <p:spPr>
            <a:xfrm>
              <a:off x="6624638" y="3797141"/>
              <a:ext cx="451079"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品质升级</a:t>
              </a:r>
            </a:p>
          </p:txBody>
        </p:sp>
      </p:grpSp>
      <p:grpSp>
        <p:nvGrpSpPr>
          <p:cNvPr id="106" name="badge-tail"/>
          <p:cNvGrpSpPr/>
          <p:nvPr/>
        </p:nvGrpSpPr>
        <p:grpSpPr>
          <a:xfrm>
            <a:off x="11062335" y="2581275"/>
            <a:ext cx="767715" cy="1301591"/>
            <a:chOff x="11062335" y="2581275"/>
            <a:chExt cx="767715" cy="1301591"/>
          </a:xfrm>
        </p:grpSpPr>
        <p:sp>
          <p:nvSpPr>
            <p:cNvPr id="101" name="Ellipse 101"/>
            <p:cNvSpPr/>
            <p:nvPr/>
          </p:nvSpPr>
          <p:spPr>
            <a:xfrm>
              <a:off x="11087100" y="2581275"/>
              <a:ext cx="742950" cy="742950"/>
            </a:xfrm>
            <a:prstGeom prst="ellipse">
              <a:avLst/>
            </a:prstGeom>
            <a:solidFill>
              <a:srgbClr val="FFFFFF"/>
            </a:solidFill>
            <a:ln w="19050">
              <a:solidFill>
                <a:srgbClr val="F3B2A3"/>
              </a:solidFill>
            </a:ln>
          </p:spPr>
        </p:sp>
        <p:pic>
          <p:nvPicPr>
            <p:cNvPr id="102" name="Image 102"/>
            <p:cNvPicPr>
              <a:picLocks noChangeAspect="1"/>
            </p:cNvPicPr>
            <p:nvPr/>
          </p:nvPicPr>
          <p:blipFill>
            <a:blip r:embed="rId5"/>
            <a:stretch>
              <a:fillRect/>
            </a:stretch>
          </p:blipFill>
          <p:spPr>
            <a:xfrm>
              <a:off x="11115675" y="2609850"/>
              <a:ext cx="685800" cy="685800"/>
            </a:xfrm>
            <a:prstGeom prst="ellipse">
              <a:avLst/>
            </a:prstGeom>
          </p:spPr>
        </p:pic>
        <p:sp>
          <p:nvSpPr>
            <p:cNvPr id="103" name="TextBox 103"/>
            <p:cNvSpPr txBox="1"/>
            <p:nvPr/>
          </p:nvSpPr>
          <p:spPr>
            <a:xfrm>
              <a:off x="11062335" y="3402806"/>
              <a:ext cx="614528"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mn-lt"/>
                  <a:ea typeface="+mn-ea"/>
                  <a:cs typeface="+mn-cs"/>
                </a:rPr>
                <a:t>长尾客户</a:t>
              </a:r>
            </a:p>
          </p:txBody>
        </p:sp>
        <p:sp>
          <p:nvSpPr>
            <p:cNvPr id="104" name="TextBox 104"/>
            <p:cNvSpPr txBox="1"/>
            <p:nvPr/>
          </p:nvSpPr>
          <p:spPr>
            <a:xfrm>
              <a:off x="11063288" y="3597116"/>
              <a:ext cx="451079"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持续陪伴</a:t>
              </a:r>
            </a:p>
          </p:txBody>
        </p:sp>
        <p:sp>
          <p:nvSpPr>
            <p:cNvPr id="105" name="TextBox 105"/>
            <p:cNvSpPr txBox="1"/>
            <p:nvPr/>
          </p:nvSpPr>
          <p:spPr>
            <a:xfrm>
              <a:off x="11063288" y="3720941"/>
              <a:ext cx="451079"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挖掘价值</a:t>
              </a:r>
            </a:p>
          </p:txBody>
        </p:sp>
      </p:grpSp>
      <p:grpSp>
        <p:nvGrpSpPr>
          <p:cNvPr id="115" name="badge-content-r"/>
          <p:cNvGrpSpPr/>
          <p:nvPr/>
        </p:nvGrpSpPr>
        <p:grpSpPr>
          <a:xfrm>
            <a:off x="10385311" y="1933575"/>
            <a:ext cx="451079" cy="653891"/>
            <a:chOff x="10385311" y="1933575"/>
            <a:chExt cx="451079" cy="653891"/>
          </a:xfrm>
        </p:grpSpPr>
        <p:sp>
          <p:nvSpPr>
            <p:cNvPr id="107" name="Ellipse 107"/>
            <p:cNvSpPr/>
            <p:nvPr/>
          </p:nvSpPr>
          <p:spPr>
            <a:xfrm>
              <a:off x="10401300" y="1933575"/>
              <a:ext cx="419100" cy="419100"/>
            </a:xfrm>
            <a:prstGeom prst="ellipse">
              <a:avLst/>
            </a:prstGeom>
            <a:solidFill>
              <a:srgbClr val="FFFFFF"/>
            </a:solidFill>
            <a:ln w="14288">
              <a:solidFill>
                <a:srgbClr val="F3B2A3"/>
              </a:solidFill>
            </a:ln>
          </p:spPr>
        </p:sp>
        <p:grpSp>
          <p:nvGrpSpPr>
            <p:cNvPr id="113" name="Group 113"/>
            <p:cNvGrpSpPr/>
            <p:nvPr/>
          </p:nvGrpSpPr>
          <p:grpSpPr>
            <a:xfrm>
              <a:off x="10544175" y="2057400"/>
              <a:ext cx="133350" cy="171450"/>
              <a:chOff x="10544175" y="2057400"/>
              <a:chExt cx="133350" cy="171450"/>
            </a:xfrm>
          </p:grpSpPr>
          <p:sp>
            <p:nvSpPr>
              <p:cNvPr id="108" name="Freeform 108"/>
              <p:cNvSpPr/>
              <p:nvPr/>
            </p:nvSpPr>
            <p:spPr>
              <a:xfrm>
                <a:off x="10629900" y="20574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C83210"/>
                </a:solidFill>
              </a:ln>
            </p:spPr>
          </p:sp>
          <p:sp>
            <p:nvSpPr>
              <p:cNvPr id="109" name="Freeform 109"/>
              <p:cNvSpPr/>
              <p:nvPr/>
            </p:nvSpPr>
            <p:spPr>
              <a:xfrm>
                <a:off x="10544175" y="20574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C83210"/>
                </a:solidFill>
              </a:ln>
            </p:spPr>
          </p:sp>
          <p:sp>
            <p:nvSpPr>
              <p:cNvPr id="110" name="Freeform 110"/>
              <p:cNvSpPr/>
              <p:nvPr/>
            </p:nvSpPr>
            <p:spPr>
              <a:xfrm>
                <a:off x="10582275" y="2114550"/>
                <a:ext cx="9525" cy="9525"/>
              </a:xfrm>
              <a:custGeom>
                <a:avLst/>
                <a:gdLst/>
                <a:ahLst/>
                <a:cxnLst/>
                <a:rect l="l" t="t" r="r" b="b"/>
                <a:pathLst>
                  <a:path w="9525" h="9525">
                    <a:moveTo>
                      <a:pt x="0" y="0"/>
                    </a:moveTo>
                    <a:lnTo>
                      <a:pt x="9525" y="0"/>
                    </a:lnTo>
                  </a:path>
                </a:pathLst>
              </a:custGeom>
              <a:noFill/>
              <a:ln w="19050">
                <a:solidFill>
                  <a:srgbClr val="C83210"/>
                </a:solidFill>
              </a:ln>
            </p:spPr>
          </p:sp>
          <p:sp>
            <p:nvSpPr>
              <p:cNvPr id="111" name="Freeform 111"/>
              <p:cNvSpPr/>
              <p:nvPr/>
            </p:nvSpPr>
            <p:spPr>
              <a:xfrm>
                <a:off x="10582275" y="2152650"/>
                <a:ext cx="57150" cy="9525"/>
              </a:xfrm>
              <a:custGeom>
                <a:avLst/>
                <a:gdLst/>
                <a:ahLst/>
                <a:cxnLst/>
                <a:rect l="l" t="t" r="r" b="b"/>
                <a:pathLst>
                  <a:path w="57150" h="9525">
                    <a:moveTo>
                      <a:pt x="0" y="0"/>
                    </a:moveTo>
                    <a:lnTo>
                      <a:pt x="57150" y="0"/>
                    </a:lnTo>
                  </a:path>
                </a:pathLst>
              </a:custGeom>
              <a:noFill/>
              <a:ln w="19050">
                <a:solidFill>
                  <a:srgbClr val="C83210"/>
                </a:solidFill>
              </a:ln>
            </p:spPr>
          </p:sp>
          <p:sp>
            <p:nvSpPr>
              <p:cNvPr id="112" name="Freeform 112"/>
              <p:cNvSpPr/>
              <p:nvPr/>
            </p:nvSpPr>
            <p:spPr>
              <a:xfrm>
                <a:off x="10582275" y="2190750"/>
                <a:ext cx="57150" cy="9525"/>
              </a:xfrm>
              <a:custGeom>
                <a:avLst/>
                <a:gdLst/>
                <a:ahLst/>
                <a:cxnLst/>
                <a:rect l="l" t="t" r="r" b="b"/>
                <a:pathLst>
                  <a:path w="57150" h="9525">
                    <a:moveTo>
                      <a:pt x="0" y="0"/>
                    </a:moveTo>
                    <a:lnTo>
                      <a:pt x="57150" y="0"/>
                    </a:lnTo>
                  </a:path>
                </a:pathLst>
              </a:custGeom>
              <a:noFill/>
              <a:ln w="19050">
                <a:solidFill>
                  <a:srgbClr val="C83210"/>
                </a:solidFill>
              </a:ln>
            </p:spPr>
          </p:sp>
        </p:grpSp>
        <p:sp>
          <p:nvSpPr>
            <p:cNvPr id="114" name="TextBox 114"/>
            <p:cNvSpPr txBox="1"/>
            <p:nvPr/>
          </p:nvSpPr>
          <p:spPr>
            <a:xfrm>
              <a:off x="10385311" y="2425541"/>
              <a:ext cx="451079" cy="161925"/>
            </a:xfrm>
            <a:prstGeom prst="rect">
              <a:avLst/>
            </a:prstGeom>
            <a:noFill/>
            <a:ln>
              <a:noFill/>
            </a:ln>
          </p:spPr>
          <p:txBody>
            <a:bodyPr wrap="none" lIns="0" tIns="0" rIns="0" bIns="0" anchor="t" anchorCtr="0">
              <a:spAutoFit/>
            </a:bodyPr>
            <a:lstStyle/>
            <a:p>
              <a:pPr algn="ctr"/>
              <a:r>
                <a:rPr lang="zh-CN" sz="820" b="1" dirty="0">
                  <a:solidFill>
                    <a:srgbClr val="8F230A"/>
                  </a:solidFill>
                  <a:latin typeface="+mn-lt"/>
                  <a:ea typeface="+mn-ea"/>
                  <a:cs typeface="+mn-cs"/>
                </a:rPr>
                <a:t>优质内容</a:t>
              </a:r>
            </a:p>
          </p:txBody>
        </p:sp>
      </p:grpSp>
      <p:grpSp>
        <p:nvGrpSpPr>
          <p:cNvPr id="123" name="badge-tier"/>
          <p:cNvGrpSpPr/>
          <p:nvPr/>
        </p:nvGrpSpPr>
        <p:grpSpPr>
          <a:xfrm>
            <a:off x="10004311" y="3400425"/>
            <a:ext cx="451079" cy="653891"/>
            <a:chOff x="10004311" y="3400425"/>
            <a:chExt cx="451079" cy="653891"/>
          </a:xfrm>
        </p:grpSpPr>
        <p:sp>
          <p:nvSpPr>
            <p:cNvPr id="116" name="Ellipse 116"/>
            <p:cNvSpPr/>
            <p:nvPr/>
          </p:nvSpPr>
          <p:spPr>
            <a:xfrm>
              <a:off x="10020300" y="3400425"/>
              <a:ext cx="419100" cy="419100"/>
            </a:xfrm>
            <a:prstGeom prst="ellipse">
              <a:avLst/>
            </a:prstGeom>
            <a:solidFill>
              <a:srgbClr val="FFFFFF"/>
            </a:solidFill>
            <a:ln w="14288">
              <a:solidFill>
                <a:srgbClr val="F3B2A3"/>
              </a:solidFill>
            </a:ln>
          </p:spPr>
        </p:sp>
        <p:grpSp>
          <p:nvGrpSpPr>
            <p:cNvPr id="121" name="Group 121"/>
            <p:cNvGrpSpPr/>
            <p:nvPr/>
          </p:nvGrpSpPr>
          <p:grpSpPr>
            <a:xfrm>
              <a:off x="10144125" y="3533775"/>
              <a:ext cx="171450" cy="161925"/>
              <a:chOff x="10144125" y="3533775"/>
              <a:chExt cx="171450" cy="161925"/>
            </a:xfrm>
          </p:grpSpPr>
          <p:sp>
            <p:nvSpPr>
              <p:cNvPr id="117" name="Freeform 117"/>
              <p:cNvSpPr/>
              <p:nvPr/>
            </p:nvSpPr>
            <p:spPr>
              <a:xfrm>
                <a:off x="10144125" y="3609975"/>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C83210"/>
                </a:solidFill>
              </a:ln>
            </p:spPr>
          </p:sp>
          <p:sp>
            <p:nvSpPr>
              <p:cNvPr id="118" name="Freeform 118"/>
              <p:cNvSpPr/>
              <p:nvPr/>
            </p:nvSpPr>
            <p:spPr>
              <a:xfrm>
                <a:off x="10258425" y="3571875"/>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C83210"/>
                </a:solidFill>
              </a:ln>
            </p:spPr>
          </p:sp>
          <p:sp>
            <p:nvSpPr>
              <p:cNvPr id="119" name="Freeform 119"/>
              <p:cNvSpPr/>
              <p:nvPr/>
            </p:nvSpPr>
            <p:spPr>
              <a:xfrm>
                <a:off x="10201275" y="3533775"/>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C83210"/>
                </a:solidFill>
              </a:ln>
            </p:spPr>
          </p:sp>
          <p:sp>
            <p:nvSpPr>
              <p:cNvPr id="120" name="Freeform 120"/>
              <p:cNvSpPr/>
              <p:nvPr/>
            </p:nvSpPr>
            <p:spPr>
              <a:xfrm>
                <a:off x="10153650" y="3686175"/>
                <a:ext cx="133350" cy="9525"/>
              </a:xfrm>
              <a:custGeom>
                <a:avLst/>
                <a:gdLst/>
                <a:ahLst/>
                <a:cxnLst/>
                <a:rect l="l" t="t" r="r" b="b"/>
                <a:pathLst>
                  <a:path w="133350" h="9525">
                    <a:moveTo>
                      <a:pt x="0" y="0"/>
                    </a:moveTo>
                    <a:lnTo>
                      <a:pt x="133350" y="0"/>
                    </a:lnTo>
                  </a:path>
                </a:pathLst>
              </a:custGeom>
              <a:noFill/>
              <a:ln w="19050">
                <a:solidFill>
                  <a:srgbClr val="C83210"/>
                </a:solidFill>
              </a:ln>
            </p:spPr>
          </p:sp>
        </p:grpSp>
        <p:sp>
          <p:nvSpPr>
            <p:cNvPr id="122" name="TextBox 122"/>
            <p:cNvSpPr txBox="1"/>
            <p:nvPr/>
          </p:nvSpPr>
          <p:spPr>
            <a:xfrm>
              <a:off x="10004311" y="3892391"/>
              <a:ext cx="451079" cy="161925"/>
            </a:xfrm>
            <a:prstGeom prst="rect">
              <a:avLst/>
            </a:prstGeom>
            <a:noFill/>
            <a:ln>
              <a:noFill/>
            </a:ln>
          </p:spPr>
          <p:txBody>
            <a:bodyPr wrap="none" lIns="0" tIns="0" rIns="0" bIns="0" anchor="t" anchorCtr="0">
              <a:spAutoFit/>
            </a:bodyPr>
            <a:lstStyle/>
            <a:p>
              <a:pPr algn="ctr"/>
              <a:r>
                <a:rPr lang="zh-CN" sz="820" b="1" dirty="0">
                  <a:solidFill>
                    <a:srgbClr val="8F230A"/>
                  </a:solidFill>
                  <a:latin typeface="+mn-lt"/>
                  <a:ea typeface="+mn-ea"/>
                  <a:cs typeface="+mn-cs"/>
                </a:rPr>
                <a:t>分层运营</a:t>
              </a:r>
            </a:p>
          </p:txBody>
        </p:sp>
      </p:grpSp>
      <p:grpSp>
        <p:nvGrpSpPr>
          <p:cNvPr id="130" name="badge-branch"/>
          <p:cNvGrpSpPr/>
          <p:nvPr/>
        </p:nvGrpSpPr>
        <p:grpSpPr>
          <a:xfrm>
            <a:off x="10613911" y="4076700"/>
            <a:ext cx="451079" cy="653891"/>
            <a:chOff x="10613911" y="4076700"/>
            <a:chExt cx="451079" cy="653891"/>
          </a:xfrm>
        </p:grpSpPr>
        <p:sp>
          <p:nvSpPr>
            <p:cNvPr id="124" name="Ellipse 124"/>
            <p:cNvSpPr/>
            <p:nvPr/>
          </p:nvSpPr>
          <p:spPr>
            <a:xfrm>
              <a:off x="10629900" y="4076700"/>
              <a:ext cx="419100" cy="419100"/>
            </a:xfrm>
            <a:prstGeom prst="ellipse">
              <a:avLst/>
            </a:prstGeom>
            <a:solidFill>
              <a:srgbClr val="FFFFFF"/>
            </a:solidFill>
            <a:ln w="14288">
              <a:solidFill>
                <a:srgbClr val="F3B2A3"/>
              </a:solidFill>
            </a:ln>
          </p:spPr>
        </p:sp>
        <p:grpSp>
          <p:nvGrpSpPr>
            <p:cNvPr id="128" name="Group 128"/>
            <p:cNvGrpSpPr/>
            <p:nvPr/>
          </p:nvGrpSpPr>
          <p:grpSpPr>
            <a:xfrm>
              <a:off x="10782300" y="4200525"/>
              <a:ext cx="142875" cy="171450"/>
              <a:chOff x="10782300" y="4200525"/>
              <a:chExt cx="142875" cy="171450"/>
            </a:xfrm>
          </p:grpSpPr>
          <p:sp>
            <p:nvSpPr>
              <p:cNvPr id="125" name="Freeform 125"/>
              <p:cNvSpPr/>
              <p:nvPr/>
            </p:nvSpPr>
            <p:spPr>
              <a:xfrm>
                <a:off x="10801350" y="42005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83210"/>
                </a:solidFill>
              </a:ln>
            </p:spPr>
          </p:sp>
          <p:sp>
            <p:nvSpPr>
              <p:cNvPr id="126" name="Freeform 126"/>
              <p:cNvSpPr/>
              <p:nvPr/>
            </p:nvSpPr>
            <p:spPr>
              <a:xfrm>
                <a:off x="10782300" y="431482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C83210"/>
                </a:solidFill>
              </a:ln>
            </p:spPr>
          </p:sp>
          <p:sp>
            <p:nvSpPr>
              <p:cNvPr id="127" name="Freeform 127"/>
              <p:cNvSpPr/>
              <p:nvPr/>
            </p:nvSpPr>
            <p:spPr>
              <a:xfrm>
                <a:off x="10868025" y="4333875"/>
                <a:ext cx="57150" cy="38100"/>
              </a:xfrm>
              <a:custGeom>
                <a:avLst/>
                <a:gdLst/>
                <a:ahLst/>
                <a:cxnLst/>
                <a:rect l="l" t="t" r="r" b="b"/>
                <a:pathLst>
                  <a:path w="57150" h="38100">
                    <a:moveTo>
                      <a:pt x="0" y="19050"/>
                    </a:moveTo>
                    <a:lnTo>
                      <a:pt x="19050" y="38100"/>
                    </a:lnTo>
                    <a:lnTo>
                      <a:pt x="57150" y="0"/>
                    </a:lnTo>
                  </a:path>
                </a:pathLst>
              </a:custGeom>
              <a:noFill/>
              <a:ln w="19050">
                <a:solidFill>
                  <a:srgbClr val="C83210"/>
                </a:solidFill>
              </a:ln>
            </p:spPr>
          </p:sp>
        </p:grpSp>
        <p:sp>
          <p:nvSpPr>
            <p:cNvPr id="129" name="TextBox 129"/>
            <p:cNvSpPr txBox="1"/>
            <p:nvPr/>
          </p:nvSpPr>
          <p:spPr>
            <a:xfrm>
              <a:off x="10613911" y="4568666"/>
              <a:ext cx="451079" cy="161925"/>
            </a:xfrm>
            <a:prstGeom prst="rect">
              <a:avLst/>
            </a:prstGeom>
            <a:noFill/>
            <a:ln>
              <a:noFill/>
            </a:ln>
          </p:spPr>
          <p:txBody>
            <a:bodyPr wrap="none" lIns="0" tIns="0" rIns="0" bIns="0" anchor="t" anchorCtr="0">
              <a:spAutoFit/>
            </a:bodyPr>
            <a:lstStyle/>
            <a:p>
              <a:pPr algn="ctr"/>
              <a:r>
                <a:rPr lang="zh-CN" sz="820" b="1" dirty="0">
                  <a:solidFill>
                    <a:srgbClr val="8F230A"/>
                  </a:solidFill>
                  <a:latin typeface="+mn-lt"/>
                  <a:ea typeface="+mn-ea"/>
                  <a:cs typeface="+mn-cs"/>
                </a:rPr>
                <a:t>支行联动</a:t>
              </a:r>
            </a:p>
          </p:txBody>
        </p:sp>
      </p:grpSp>
      <p:grpSp>
        <p:nvGrpSpPr>
          <p:cNvPr id="139" name="badge-content-l"/>
          <p:cNvGrpSpPr/>
          <p:nvPr/>
        </p:nvGrpSpPr>
        <p:grpSpPr>
          <a:xfrm>
            <a:off x="6260986" y="4057650"/>
            <a:ext cx="451079" cy="653891"/>
            <a:chOff x="6260986" y="4057650"/>
            <a:chExt cx="451079" cy="653891"/>
          </a:xfrm>
        </p:grpSpPr>
        <p:sp>
          <p:nvSpPr>
            <p:cNvPr id="131" name="Ellipse 131"/>
            <p:cNvSpPr/>
            <p:nvPr/>
          </p:nvSpPr>
          <p:spPr>
            <a:xfrm>
              <a:off x="6276975" y="4057650"/>
              <a:ext cx="419100" cy="419100"/>
            </a:xfrm>
            <a:prstGeom prst="ellipse">
              <a:avLst/>
            </a:prstGeom>
            <a:solidFill>
              <a:srgbClr val="FFFFFF"/>
            </a:solidFill>
            <a:ln w="14288">
              <a:solidFill>
                <a:srgbClr val="F3B2A3"/>
              </a:solidFill>
            </a:ln>
          </p:spPr>
        </p:sp>
        <p:grpSp>
          <p:nvGrpSpPr>
            <p:cNvPr id="137" name="Group 137"/>
            <p:cNvGrpSpPr/>
            <p:nvPr/>
          </p:nvGrpSpPr>
          <p:grpSpPr>
            <a:xfrm>
              <a:off x="6419850" y="4181475"/>
              <a:ext cx="133350" cy="171450"/>
              <a:chOff x="6419850" y="4181475"/>
              <a:chExt cx="133350" cy="171450"/>
            </a:xfrm>
          </p:grpSpPr>
          <p:sp>
            <p:nvSpPr>
              <p:cNvPr id="132" name="Freeform 132"/>
              <p:cNvSpPr/>
              <p:nvPr/>
            </p:nvSpPr>
            <p:spPr>
              <a:xfrm>
                <a:off x="6505575" y="41814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C83210"/>
                </a:solidFill>
              </a:ln>
            </p:spPr>
          </p:sp>
          <p:sp>
            <p:nvSpPr>
              <p:cNvPr id="133" name="Freeform 133"/>
              <p:cNvSpPr/>
              <p:nvPr/>
            </p:nvSpPr>
            <p:spPr>
              <a:xfrm>
                <a:off x="6419850" y="41814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C83210"/>
                </a:solidFill>
              </a:ln>
            </p:spPr>
          </p:sp>
          <p:sp>
            <p:nvSpPr>
              <p:cNvPr id="134" name="Freeform 134"/>
              <p:cNvSpPr/>
              <p:nvPr/>
            </p:nvSpPr>
            <p:spPr>
              <a:xfrm>
                <a:off x="6457950" y="4238625"/>
                <a:ext cx="9525" cy="9525"/>
              </a:xfrm>
              <a:custGeom>
                <a:avLst/>
                <a:gdLst/>
                <a:ahLst/>
                <a:cxnLst/>
                <a:rect l="l" t="t" r="r" b="b"/>
                <a:pathLst>
                  <a:path w="9525" h="9525">
                    <a:moveTo>
                      <a:pt x="0" y="0"/>
                    </a:moveTo>
                    <a:lnTo>
                      <a:pt x="9525" y="0"/>
                    </a:lnTo>
                  </a:path>
                </a:pathLst>
              </a:custGeom>
              <a:noFill/>
              <a:ln w="19050">
                <a:solidFill>
                  <a:srgbClr val="C83210"/>
                </a:solidFill>
              </a:ln>
            </p:spPr>
          </p:sp>
          <p:sp>
            <p:nvSpPr>
              <p:cNvPr id="135" name="Freeform 135"/>
              <p:cNvSpPr/>
              <p:nvPr/>
            </p:nvSpPr>
            <p:spPr>
              <a:xfrm>
                <a:off x="6457950" y="4276725"/>
                <a:ext cx="57150" cy="9525"/>
              </a:xfrm>
              <a:custGeom>
                <a:avLst/>
                <a:gdLst/>
                <a:ahLst/>
                <a:cxnLst/>
                <a:rect l="l" t="t" r="r" b="b"/>
                <a:pathLst>
                  <a:path w="57150" h="9525">
                    <a:moveTo>
                      <a:pt x="0" y="0"/>
                    </a:moveTo>
                    <a:lnTo>
                      <a:pt x="57150" y="0"/>
                    </a:lnTo>
                  </a:path>
                </a:pathLst>
              </a:custGeom>
              <a:noFill/>
              <a:ln w="19050">
                <a:solidFill>
                  <a:srgbClr val="C83210"/>
                </a:solidFill>
              </a:ln>
            </p:spPr>
          </p:sp>
          <p:sp>
            <p:nvSpPr>
              <p:cNvPr id="136" name="Freeform 136"/>
              <p:cNvSpPr/>
              <p:nvPr/>
            </p:nvSpPr>
            <p:spPr>
              <a:xfrm>
                <a:off x="6457950" y="4314825"/>
                <a:ext cx="57150" cy="9525"/>
              </a:xfrm>
              <a:custGeom>
                <a:avLst/>
                <a:gdLst/>
                <a:ahLst/>
                <a:cxnLst/>
                <a:rect l="l" t="t" r="r" b="b"/>
                <a:pathLst>
                  <a:path w="57150" h="9525">
                    <a:moveTo>
                      <a:pt x="0" y="0"/>
                    </a:moveTo>
                    <a:lnTo>
                      <a:pt x="57150" y="0"/>
                    </a:lnTo>
                  </a:path>
                </a:pathLst>
              </a:custGeom>
              <a:noFill/>
              <a:ln w="19050">
                <a:solidFill>
                  <a:srgbClr val="C83210"/>
                </a:solidFill>
              </a:ln>
            </p:spPr>
          </p:sp>
        </p:grpSp>
        <p:sp>
          <p:nvSpPr>
            <p:cNvPr id="138" name="TextBox 138"/>
            <p:cNvSpPr txBox="1"/>
            <p:nvPr/>
          </p:nvSpPr>
          <p:spPr>
            <a:xfrm>
              <a:off x="6260986" y="4549616"/>
              <a:ext cx="451079" cy="161925"/>
            </a:xfrm>
            <a:prstGeom prst="rect">
              <a:avLst/>
            </a:prstGeom>
            <a:noFill/>
            <a:ln>
              <a:noFill/>
            </a:ln>
          </p:spPr>
          <p:txBody>
            <a:bodyPr wrap="none" lIns="0" tIns="0" rIns="0" bIns="0" anchor="t" anchorCtr="0">
              <a:spAutoFit/>
            </a:bodyPr>
            <a:lstStyle/>
            <a:p>
              <a:pPr algn="ctr"/>
              <a:r>
                <a:rPr lang="zh-CN" sz="820" b="1" dirty="0">
                  <a:solidFill>
                    <a:srgbClr val="8F230A"/>
                  </a:solidFill>
                  <a:latin typeface="+mn-lt"/>
                  <a:ea typeface="+mn-ea"/>
                  <a:cs typeface="+mn-cs"/>
                </a:rPr>
                <a:t>优质内容</a:t>
              </a:r>
            </a:p>
          </p:txBody>
        </p:sp>
      </p:grpSp>
      <p:grpSp>
        <p:nvGrpSpPr>
          <p:cNvPr id="147" name="badge-reach"/>
          <p:cNvGrpSpPr/>
          <p:nvPr/>
        </p:nvGrpSpPr>
        <p:grpSpPr>
          <a:xfrm>
            <a:off x="7108711" y="4533900"/>
            <a:ext cx="451079" cy="663416"/>
            <a:chOff x="7108711" y="4533900"/>
            <a:chExt cx="451079" cy="663416"/>
          </a:xfrm>
        </p:grpSpPr>
        <p:sp>
          <p:nvSpPr>
            <p:cNvPr id="140" name="Ellipse 140"/>
            <p:cNvSpPr/>
            <p:nvPr/>
          </p:nvSpPr>
          <p:spPr>
            <a:xfrm>
              <a:off x="7124700" y="4533900"/>
              <a:ext cx="419100" cy="419100"/>
            </a:xfrm>
            <a:prstGeom prst="ellipse">
              <a:avLst/>
            </a:prstGeom>
            <a:solidFill>
              <a:srgbClr val="FFFFFF"/>
            </a:solidFill>
            <a:ln w="14288">
              <a:solidFill>
                <a:srgbClr val="F3B2A3"/>
              </a:solidFill>
            </a:ln>
          </p:spPr>
        </p:sp>
        <p:grpSp>
          <p:nvGrpSpPr>
            <p:cNvPr id="145" name="Group 145"/>
            <p:cNvGrpSpPr/>
            <p:nvPr/>
          </p:nvGrpSpPr>
          <p:grpSpPr>
            <a:xfrm>
              <a:off x="7248525" y="4657725"/>
              <a:ext cx="171450" cy="171450"/>
              <a:chOff x="7248525" y="4657725"/>
              <a:chExt cx="171450" cy="171450"/>
            </a:xfrm>
          </p:grpSpPr>
          <p:sp>
            <p:nvSpPr>
              <p:cNvPr id="141" name="Freeform 141"/>
              <p:cNvSpPr/>
              <p:nvPr/>
            </p:nvSpPr>
            <p:spPr>
              <a:xfrm>
                <a:off x="7267575" y="46577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83210"/>
                </a:solidFill>
              </a:ln>
            </p:spPr>
          </p:sp>
          <p:sp>
            <p:nvSpPr>
              <p:cNvPr id="142" name="Freeform 142"/>
              <p:cNvSpPr/>
              <p:nvPr/>
            </p:nvSpPr>
            <p:spPr>
              <a:xfrm>
                <a:off x="7248525" y="47720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83210"/>
                </a:solidFill>
              </a:ln>
            </p:spPr>
          </p:sp>
          <p:sp>
            <p:nvSpPr>
              <p:cNvPr id="143" name="Freeform 143"/>
              <p:cNvSpPr/>
              <p:nvPr/>
            </p:nvSpPr>
            <p:spPr>
              <a:xfrm>
                <a:off x="7372350" y="46589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83210"/>
                </a:solidFill>
              </a:ln>
            </p:spPr>
          </p:sp>
          <p:sp>
            <p:nvSpPr>
              <p:cNvPr id="144" name="Freeform 144"/>
              <p:cNvSpPr/>
              <p:nvPr/>
            </p:nvSpPr>
            <p:spPr>
              <a:xfrm>
                <a:off x="7391400" y="47734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83210"/>
                </a:solidFill>
              </a:ln>
            </p:spPr>
          </p:sp>
        </p:grpSp>
        <p:sp>
          <p:nvSpPr>
            <p:cNvPr id="146" name="TextBox 146"/>
            <p:cNvSpPr txBox="1"/>
            <p:nvPr/>
          </p:nvSpPr>
          <p:spPr>
            <a:xfrm>
              <a:off x="7108711" y="5035391"/>
              <a:ext cx="451079" cy="161925"/>
            </a:xfrm>
            <a:prstGeom prst="rect">
              <a:avLst/>
            </a:prstGeom>
            <a:noFill/>
            <a:ln>
              <a:noFill/>
            </a:ln>
          </p:spPr>
          <p:txBody>
            <a:bodyPr wrap="none" lIns="0" tIns="0" rIns="0" bIns="0" anchor="t" anchorCtr="0">
              <a:spAutoFit/>
            </a:bodyPr>
            <a:lstStyle/>
            <a:p>
              <a:pPr algn="ctr"/>
              <a:r>
                <a:rPr lang="zh-CN" sz="820" b="1" dirty="0">
                  <a:solidFill>
                    <a:srgbClr val="8F230A"/>
                  </a:solidFill>
                  <a:latin typeface="+mn-lt"/>
                  <a:ea typeface="+mn-ea"/>
                  <a:cs typeface="+mn-cs"/>
                </a:rPr>
                <a:t>精准触达</a:t>
              </a:r>
            </a:p>
          </p:txBody>
        </p:sp>
      </p:grpSp>
      <p:grpSp>
        <p:nvGrpSpPr>
          <p:cNvPr id="151" name="offline-label"/>
          <p:cNvGrpSpPr/>
          <p:nvPr/>
        </p:nvGrpSpPr>
        <p:grpSpPr>
          <a:xfrm>
            <a:off x="6947535" y="5288756"/>
            <a:ext cx="672808" cy="527685"/>
            <a:chOff x="6947535" y="5288756"/>
            <a:chExt cx="672808" cy="527685"/>
          </a:xfrm>
        </p:grpSpPr>
        <p:sp>
          <p:nvSpPr>
            <p:cNvPr id="148" name="TextBox 148"/>
            <p:cNvSpPr txBox="1"/>
            <p:nvPr/>
          </p:nvSpPr>
          <p:spPr>
            <a:xfrm>
              <a:off x="6947535" y="5288756"/>
              <a:ext cx="614528"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mn-lt"/>
                  <a:ea typeface="+mn-ea"/>
                  <a:cs typeface="+mn-cs"/>
                </a:rPr>
                <a:t>线下网点</a:t>
              </a:r>
            </a:p>
          </p:txBody>
        </p:sp>
        <p:sp>
          <p:nvSpPr>
            <p:cNvPr id="149" name="TextBox 149"/>
            <p:cNvSpPr txBox="1"/>
            <p:nvPr/>
          </p:nvSpPr>
          <p:spPr>
            <a:xfrm>
              <a:off x="6948488" y="5502116"/>
              <a:ext cx="561467"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面对面服务</a:t>
              </a:r>
            </a:p>
          </p:txBody>
        </p:sp>
        <p:sp>
          <p:nvSpPr>
            <p:cNvPr id="150" name="TextBox 150"/>
            <p:cNvSpPr txBox="1"/>
            <p:nvPr/>
          </p:nvSpPr>
          <p:spPr>
            <a:xfrm>
              <a:off x="6948488" y="5654516"/>
              <a:ext cx="671855"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线上线下协同</a:t>
              </a:r>
            </a:p>
          </p:txBody>
        </p:sp>
      </p:grpSp>
      <p:grpSp>
        <p:nvGrpSpPr>
          <p:cNvPr id="154" name="offline-scene"/>
          <p:cNvGrpSpPr/>
          <p:nvPr/>
        </p:nvGrpSpPr>
        <p:grpSpPr>
          <a:xfrm>
            <a:off x="8953500" y="5029200"/>
            <a:ext cx="2286000" cy="1390650"/>
            <a:chOff x="8953500" y="5029200"/>
            <a:chExt cx="2286000" cy="1390650"/>
          </a:xfrm>
        </p:grpSpPr>
        <p:pic>
          <p:nvPicPr>
            <p:cNvPr id="152" name="Image 152"/>
            <p:cNvPicPr>
              <a:picLocks noChangeAspect="1"/>
            </p:cNvPicPr>
            <p:nvPr/>
          </p:nvPicPr>
          <p:blipFill>
            <a:blip r:embed="rId6"/>
            <a:srcRect l="0" t="2685" r="0" b="2685"/>
            <a:stretch>
              <a:fillRect/>
            </a:stretch>
          </p:blipFill>
          <p:spPr>
            <a:xfrm>
              <a:off x="8953500" y="5029200"/>
              <a:ext cx="2286000" cy="1390650"/>
            </a:xfrm>
            <a:prstGeom prst="roundRect">
              <a:avLst>
                <a:gd name="adj" fmla="val 9589"/>
              </a:avLst>
            </a:prstGeom>
          </p:spPr>
        </p:pic>
        <p:sp>
          <p:nvSpPr>
            <p:cNvPr id="153" name="Rectangle 153"/>
            <p:cNvSpPr/>
            <p:nvPr/>
          </p:nvSpPr>
          <p:spPr>
            <a:xfrm>
              <a:off x="8953500" y="5029200"/>
              <a:ext cx="2286000" cy="1390650"/>
            </a:xfrm>
            <a:prstGeom prst="roundRect">
              <a:avLst>
                <a:gd name="adj" fmla="val 9589"/>
              </a:avLst>
            </a:prstGeom>
            <a:noFill/>
            <a:ln w="14288">
              <a:solidFill>
                <a:srgbClr val="F3B2A3"/>
              </a:solidFill>
            </a:ln>
          </p:spPr>
        </p:sp>
      </p:gr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942594" y="151448"/>
              <a:ext cx="6399276"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现状诊断</a:t>
              </a:r>
              <a:r>
                <a:rPr lang="zh-CN" sz="1950" b="1" dirty="0">
                  <a:solidFill>
                    <a:srgbClr val="222222"/>
                  </a:solidFill>
                  <a:latin typeface="SimSun"/>
                  <a:ea typeface="SimSun"/>
                  <a:cs typeface="SimSun"/>
                </a:rPr>
                <a:t>｜企微好友增长没有转化为可经营客户资产</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18" name="kpi-1"/>
          <p:cNvGrpSpPr/>
          <p:nvPr/>
        </p:nvGrpSpPr>
        <p:grpSpPr>
          <a:xfrm>
            <a:off x="190500" y="647700"/>
            <a:ext cx="1905000" cy="914400"/>
            <a:chOff x="190500" y="647700"/>
            <a:chExt cx="1905000" cy="914400"/>
          </a:xfrm>
        </p:grpSpPr>
        <p:sp>
          <p:nvSpPr>
            <p:cNvPr id="7" name="Rectangle 7"/>
            <p:cNvSpPr/>
            <p:nvPr/>
          </p:nvSpPr>
          <p:spPr>
            <a:xfrm>
              <a:off x="190500" y="647700"/>
              <a:ext cx="1905000" cy="914400"/>
            </a:xfrm>
            <a:prstGeom prst="roundRect">
              <a:avLst>
                <a:gd name="adj" fmla="val 8333"/>
              </a:avLst>
            </a:prstGeom>
            <a:solidFill>
              <a:srgbClr val="FDEFF1"/>
            </a:solidFill>
            <a:ln>
              <a:noFill/>
            </a:ln>
          </p:spPr>
        </p:sp>
        <p:grpSp>
          <p:nvGrpSpPr>
            <p:cNvPr id="13" name="Group 13"/>
            <p:cNvGrpSpPr/>
            <p:nvPr/>
          </p:nvGrpSpPr>
          <p:grpSpPr>
            <a:xfrm>
              <a:off x="359569" y="835819"/>
              <a:ext cx="226219" cy="226219"/>
              <a:chOff x="359569" y="835819"/>
              <a:chExt cx="226219" cy="226219"/>
            </a:xfrm>
          </p:grpSpPr>
          <p:sp>
            <p:nvSpPr>
              <p:cNvPr id="8" name="Freeform 8"/>
              <p:cNvSpPr/>
              <p:nvPr/>
            </p:nvSpPr>
            <p:spPr>
              <a:xfrm>
                <a:off x="383381" y="83581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C83210"/>
                </a:solidFill>
              </a:ln>
            </p:spPr>
          </p:sp>
          <p:sp>
            <p:nvSpPr>
              <p:cNvPr id="9" name="Freeform 9"/>
              <p:cNvSpPr/>
              <p:nvPr/>
            </p:nvSpPr>
            <p:spPr>
              <a:xfrm>
                <a:off x="359569" y="978694"/>
                <a:ext cx="125373" cy="71438"/>
              </a:xfrm>
              <a:custGeom>
                <a:avLst/>
                <a:gdLst/>
                <a:ahLst/>
                <a:cxnLst/>
                <a:rect l="l" t="t" r="r" b="b"/>
                <a:pathLst>
                  <a:path w="125373" h="71438">
                    <a:moveTo>
                      <a:pt x="0" y="71438"/>
                    </a:moveTo>
                    <a:lnTo>
                      <a:pt x="0" y="47625"/>
                    </a:lnTo>
                    <a:cubicBezTo>
                      <a:pt x="0" y="21322"/>
                      <a:pt x="21322" y="0"/>
                      <a:pt x="47625" y="0"/>
                    </a:cubicBezTo>
                    <a:lnTo>
                      <a:pt x="95250" y="0"/>
                    </a:lnTo>
                    <a:cubicBezTo>
                      <a:pt x="106680" y="0"/>
                      <a:pt x="117157" y="4024"/>
                      <a:pt x="125373" y="10728"/>
                    </a:cubicBezTo>
                  </a:path>
                </a:pathLst>
              </a:custGeom>
              <a:noFill/>
              <a:ln w="23812">
                <a:solidFill>
                  <a:srgbClr val="C83210"/>
                </a:solidFill>
              </a:ln>
            </p:spPr>
          </p:sp>
          <p:sp>
            <p:nvSpPr>
              <p:cNvPr id="10" name="Freeform 10"/>
              <p:cNvSpPr/>
              <p:nvPr/>
            </p:nvSpPr>
            <p:spPr>
              <a:xfrm>
                <a:off x="514350" y="837367"/>
                <a:ext cx="35812" cy="92273"/>
              </a:xfrm>
              <a:custGeom>
                <a:avLst/>
                <a:gdLst/>
                <a:ahLst/>
                <a:cxnLst/>
                <a:rect l="l" t="t" r="r" b="b"/>
                <a:pathLst>
                  <a:path w="35812" h="92273">
                    <a:moveTo>
                      <a:pt x="0" y="0"/>
                    </a:moveTo>
                    <a:cubicBezTo>
                      <a:pt x="21073" y="5396"/>
                      <a:pt x="35812" y="24384"/>
                      <a:pt x="35812" y="46137"/>
                    </a:cubicBezTo>
                    <a:cubicBezTo>
                      <a:pt x="35812" y="67890"/>
                      <a:pt x="21073" y="86878"/>
                      <a:pt x="0" y="92273"/>
                    </a:cubicBezTo>
                  </a:path>
                </a:pathLst>
              </a:custGeom>
              <a:noFill/>
              <a:ln w="23812">
                <a:solidFill>
                  <a:srgbClr val="C83210"/>
                </a:solidFill>
              </a:ln>
            </p:spPr>
          </p:sp>
          <p:sp>
            <p:nvSpPr>
              <p:cNvPr id="11" name="Freeform 11"/>
              <p:cNvSpPr/>
              <p:nvPr/>
            </p:nvSpPr>
            <p:spPr>
              <a:xfrm>
                <a:off x="514350" y="1026319"/>
                <a:ext cx="71438" cy="9525"/>
              </a:xfrm>
              <a:custGeom>
                <a:avLst/>
                <a:gdLst/>
                <a:ahLst/>
                <a:cxnLst/>
                <a:rect l="l" t="t" r="r" b="b"/>
                <a:pathLst>
                  <a:path w="71438" h="9525">
                    <a:moveTo>
                      <a:pt x="0" y="0"/>
                    </a:moveTo>
                    <a:lnTo>
                      <a:pt x="71438" y="0"/>
                    </a:lnTo>
                  </a:path>
                </a:pathLst>
              </a:custGeom>
              <a:noFill/>
              <a:ln w="23812">
                <a:solidFill>
                  <a:srgbClr val="C83210"/>
                </a:solidFill>
              </a:ln>
            </p:spPr>
          </p:sp>
          <p:sp>
            <p:nvSpPr>
              <p:cNvPr id="12" name="Freeform 12"/>
              <p:cNvSpPr/>
              <p:nvPr/>
            </p:nvSpPr>
            <p:spPr>
              <a:xfrm>
                <a:off x="550069" y="990600"/>
                <a:ext cx="9525" cy="71438"/>
              </a:xfrm>
              <a:custGeom>
                <a:avLst/>
                <a:gdLst/>
                <a:ahLst/>
                <a:cxnLst/>
                <a:rect l="l" t="t" r="r" b="b"/>
                <a:pathLst>
                  <a:path w="9525" h="71438">
                    <a:moveTo>
                      <a:pt x="0" y="0"/>
                    </a:moveTo>
                    <a:lnTo>
                      <a:pt x="0" y="71438"/>
                    </a:lnTo>
                  </a:path>
                </a:pathLst>
              </a:custGeom>
              <a:noFill/>
              <a:ln w="23812">
                <a:solidFill>
                  <a:srgbClr val="C83210"/>
                </a:solidFill>
              </a:ln>
            </p:spPr>
          </p:sp>
        </p:grpSp>
        <p:sp>
          <p:nvSpPr>
            <p:cNvPr id="14" name="TextBox 14"/>
            <p:cNvSpPr txBox="1"/>
            <p:nvPr/>
          </p:nvSpPr>
          <p:spPr>
            <a:xfrm>
              <a:off x="700088" y="832247"/>
              <a:ext cx="768782"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企微好友总量</a:t>
              </a:r>
            </a:p>
          </p:txBody>
        </p:sp>
        <p:sp>
          <p:nvSpPr>
            <p:cNvPr id="15" name="TextBox 15"/>
            <p:cNvSpPr txBox="1"/>
            <p:nvPr/>
          </p:nvSpPr>
          <p:spPr>
            <a:xfrm>
              <a:off x="694944" y="1027748"/>
              <a:ext cx="836845"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Arial"/>
                  <a:ea typeface="Microsoft YaHei"/>
                  <a:cs typeface="Arial"/>
                </a:rPr>
                <a:t xml:space="preserve">48万　</a:t>
              </a:r>
            </a:p>
          </p:txBody>
        </p:sp>
        <p:sp>
          <p:nvSpPr>
            <p:cNvPr id="16" name="TextBox 16"/>
            <p:cNvSpPr txBox="1"/>
            <p:nvPr/>
          </p:nvSpPr>
          <p:spPr>
            <a:xfrm>
              <a:off x="319088" y="1381839"/>
              <a:ext cx="541274" cy="154781"/>
            </a:xfrm>
            <a:prstGeom prst="rect">
              <a:avLst/>
            </a:prstGeom>
            <a:noFill/>
            <a:ln>
              <a:noFill/>
            </a:ln>
          </p:spPr>
          <p:txBody>
            <a:bodyPr wrap="none" lIns="0" tIns="0" rIns="0" bIns="0" anchor="t" anchorCtr="0">
              <a:spAutoFit/>
            </a:bodyPr>
            <a:lstStyle/>
            <a:p>
              <a:pPr algn="l"/>
              <a:r>
                <a:rPr lang="zh-CN" sz="790" dirty="0">
                  <a:solidFill>
                    <a:srgbClr val="666666"/>
                  </a:solidFill>
                  <a:latin typeface="+mn-lt"/>
                  <a:ea typeface="+mn-ea"/>
                  <a:cs typeface="+mn-cs"/>
                </a:rPr>
                <a:t>较上年增长</a:t>
              </a:r>
            </a:p>
          </p:txBody>
        </p:sp>
        <p:sp>
          <p:nvSpPr>
            <p:cNvPr id="17" name="TextBox 17"/>
            <p:cNvSpPr txBox="1"/>
            <p:nvPr/>
          </p:nvSpPr>
          <p:spPr>
            <a:xfrm>
              <a:off x="871538" y="1381839"/>
              <a:ext cx="222395"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Arial"/>
                  <a:ea typeface="Arial"/>
                  <a:cs typeface="Arial"/>
                </a:rPr>
                <a:t>92%</a:t>
              </a:r>
            </a:p>
          </p:txBody>
        </p:sp>
      </p:grpSp>
      <p:grpSp>
        <p:nvGrpSpPr>
          <p:cNvPr id="28" name="kpi-2"/>
          <p:cNvGrpSpPr/>
          <p:nvPr/>
        </p:nvGrpSpPr>
        <p:grpSpPr>
          <a:xfrm>
            <a:off x="2171700" y="647700"/>
            <a:ext cx="1905000" cy="914400"/>
            <a:chOff x="2171700" y="647700"/>
            <a:chExt cx="1905000" cy="914400"/>
          </a:xfrm>
        </p:grpSpPr>
        <p:sp>
          <p:nvSpPr>
            <p:cNvPr id="19" name="Rectangle 19"/>
            <p:cNvSpPr/>
            <p:nvPr/>
          </p:nvSpPr>
          <p:spPr>
            <a:xfrm>
              <a:off x="2171700" y="647700"/>
              <a:ext cx="1905000" cy="914400"/>
            </a:xfrm>
            <a:prstGeom prst="roundRect">
              <a:avLst>
                <a:gd name="adj" fmla="val 8333"/>
              </a:avLst>
            </a:prstGeom>
            <a:solidFill>
              <a:srgbClr val="FDEFF1"/>
            </a:solidFill>
            <a:ln>
              <a:noFill/>
            </a:ln>
          </p:spPr>
        </p:sp>
        <p:grpSp>
          <p:nvGrpSpPr>
            <p:cNvPr id="23" name="Group 23"/>
            <p:cNvGrpSpPr/>
            <p:nvPr/>
          </p:nvGrpSpPr>
          <p:grpSpPr>
            <a:xfrm>
              <a:off x="2376488" y="835819"/>
              <a:ext cx="178594" cy="214313"/>
              <a:chOff x="2376488" y="835819"/>
              <a:chExt cx="178594" cy="214313"/>
            </a:xfrm>
          </p:grpSpPr>
          <p:sp>
            <p:nvSpPr>
              <p:cNvPr id="20" name="Freeform 20"/>
              <p:cNvSpPr/>
              <p:nvPr/>
            </p:nvSpPr>
            <p:spPr>
              <a:xfrm>
                <a:off x="2400300" y="83581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C83210"/>
                </a:solidFill>
              </a:ln>
            </p:spPr>
          </p:sp>
          <p:sp>
            <p:nvSpPr>
              <p:cNvPr id="21" name="Freeform 21"/>
              <p:cNvSpPr/>
              <p:nvPr/>
            </p:nvSpPr>
            <p:spPr>
              <a:xfrm>
                <a:off x="2376488" y="978694"/>
                <a:ext cx="95250" cy="71438"/>
              </a:xfrm>
              <a:custGeom>
                <a:avLst/>
                <a:gdLst/>
                <a:ahLst/>
                <a:cxnLst/>
                <a:rect l="l" t="t" r="r" b="b"/>
                <a:pathLst>
                  <a:path w="95250" h="71438">
                    <a:moveTo>
                      <a:pt x="0" y="71438"/>
                    </a:moveTo>
                    <a:lnTo>
                      <a:pt x="0" y="47625"/>
                    </a:lnTo>
                    <a:cubicBezTo>
                      <a:pt x="0" y="21322"/>
                      <a:pt x="21322" y="0"/>
                      <a:pt x="47625" y="0"/>
                    </a:cubicBezTo>
                    <a:lnTo>
                      <a:pt x="95250" y="0"/>
                    </a:lnTo>
                  </a:path>
                </a:pathLst>
              </a:custGeom>
              <a:noFill/>
              <a:ln w="23812">
                <a:solidFill>
                  <a:srgbClr val="C83210"/>
                </a:solidFill>
              </a:ln>
            </p:spPr>
          </p:sp>
          <p:sp>
            <p:nvSpPr>
              <p:cNvPr id="22" name="Freeform 22"/>
              <p:cNvSpPr/>
              <p:nvPr/>
            </p:nvSpPr>
            <p:spPr>
              <a:xfrm>
                <a:off x="2483644" y="1002506"/>
                <a:ext cx="71438" cy="47625"/>
              </a:xfrm>
              <a:custGeom>
                <a:avLst/>
                <a:gdLst/>
                <a:ahLst/>
                <a:cxnLst/>
                <a:rect l="l" t="t" r="r" b="b"/>
                <a:pathLst>
                  <a:path w="71438" h="47625">
                    <a:moveTo>
                      <a:pt x="0" y="23812"/>
                    </a:moveTo>
                    <a:lnTo>
                      <a:pt x="23812" y="47625"/>
                    </a:lnTo>
                    <a:lnTo>
                      <a:pt x="71438" y="0"/>
                    </a:lnTo>
                  </a:path>
                </a:pathLst>
              </a:custGeom>
              <a:noFill/>
              <a:ln w="23812">
                <a:solidFill>
                  <a:srgbClr val="C83210"/>
                </a:solidFill>
              </a:ln>
            </p:spPr>
          </p:sp>
        </p:grpSp>
        <p:sp>
          <p:nvSpPr>
            <p:cNvPr id="24" name="TextBox 24"/>
            <p:cNvSpPr txBox="1"/>
            <p:nvPr/>
          </p:nvSpPr>
          <p:spPr>
            <a:xfrm>
              <a:off x="2681288" y="832247"/>
              <a:ext cx="642239"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认证客户数</a:t>
              </a:r>
            </a:p>
          </p:txBody>
        </p:sp>
        <p:sp>
          <p:nvSpPr>
            <p:cNvPr id="25" name="TextBox 25"/>
            <p:cNvSpPr txBox="1"/>
            <p:nvPr/>
          </p:nvSpPr>
          <p:spPr>
            <a:xfrm>
              <a:off x="2676144" y="1027748"/>
              <a:ext cx="836845"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Arial"/>
                  <a:ea typeface="Microsoft YaHei"/>
                  <a:cs typeface="Arial"/>
                </a:rPr>
                <a:t xml:space="preserve">21万　</a:t>
              </a:r>
            </a:p>
          </p:txBody>
        </p:sp>
        <p:sp>
          <p:nvSpPr>
            <p:cNvPr id="26" name="TextBox 26"/>
            <p:cNvSpPr txBox="1"/>
            <p:nvPr/>
          </p:nvSpPr>
          <p:spPr>
            <a:xfrm>
              <a:off x="2300288" y="1381839"/>
              <a:ext cx="541274" cy="154781"/>
            </a:xfrm>
            <a:prstGeom prst="rect">
              <a:avLst/>
            </a:prstGeom>
            <a:noFill/>
            <a:ln>
              <a:noFill/>
            </a:ln>
          </p:spPr>
          <p:txBody>
            <a:bodyPr wrap="none" lIns="0" tIns="0" rIns="0" bIns="0" anchor="t" anchorCtr="0">
              <a:spAutoFit/>
            </a:bodyPr>
            <a:lstStyle/>
            <a:p>
              <a:pPr algn="l"/>
              <a:r>
                <a:rPr lang="zh-CN" sz="790" dirty="0">
                  <a:solidFill>
                    <a:srgbClr val="666666"/>
                  </a:solidFill>
                  <a:latin typeface="+mn-lt"/>
                  <a:ea typeface="+mn-ea"/>
                  <a:cs typeface="+mn-cs"/>
                </a:rPr>
                <a:t>较上年增长</a:t>
              </a:r>
            </a:p>
          </p:txBody>
        </p:sp>
        <p:sp>
          <p:nvSpPr>
            <p:cNvPr id="27" name="TextBox 27"/>
            <p:cNvSpPr txBox="1"/>
            <p:nvPr/>
          </p:nvSpPr>
          <p:spPr>
            <a:xfrm>
              <a:off x="2852738" y="1381839"/>
              <a:ext cx="222395"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Arial"/>
                  <a:ea typeface="Arial"/>
                  <a:cs typeface="Arial"/>
                </a:rPr>
                <a:t>40%</a:t>
              </a:r>
            </a:p>
          </p:txBody>
        </p:sp>
      </p:grpSp>
      <p:grpSp>
        <p:nvGrpSpPr>
          <p:cNvPr id="37" name="kpi-3"/>
          <p:cNvGrpSpPr/>
          <p:nvPr/>
        </p:nvGrpSpPr>
        <p:grpSpPr>
          <a:xfrm>
            <a:off x="4152900" y="647700"/>
            <a:ext cx="1905000" cy="914400"/>
            <a:chOff x="4152900" y="647700"/>
            <a:chExt cx="1905000" cy="914400"/>
          </a:xfrm>
        </p:grpSpPr>
        <p:sp>
          <p:nvSpPr>
            <p:cNvPr id="29" name="Rectangle 29"/>
            <p:cNvSpPr/>
            <p:nvPr/>
          </p:nvSpPr>
          <p:spPr>
            <a:xfrm>
              <a:off x="4152900" y="647700"/>
              <a:ext cx="1905000" cy="914400"/>
            </a:xfrm>
            <a:prstGeom prst="roundRect">
              <a:avLst>
                <a:gd name="adj" fmla="val 8333"/>
              </a:avLst>
            </a:prstGeom>
            <a:solidFill>
              <a:srgbClr val="FDEFF1"/>
            </a:solidFill>
            <a:ln>
              <a:noFill/>
            </a:ln>
          </p:spPr>
        </p:sp>
        <p:grpSp>
          <p:nvGrpSpPr>
            <p:cNvPr id="32" name="Group 32"/>
            <p:cNvGrpSpPr/>
            <p:nvPr/>
          </p:nvGrpSpPr>
          <p:grpSpPr>
            <a:xfrm>
              <a:off x="4318650" y="837866"/>
              <a:ext cx="215250" cy="215584"/>
              <a:chOff x="4318650" y="837866"/>
              <a:chExt cx="215250" cy="215584"/>
            </a:xfrm>
          </p:grpSpPr>
          <p:sp>
            <p:nvSpPr>
              <p:cNvPr id="30" name="Freeform 30"/>
              <p:cNvSpPr/>
              <p:nvPr/>
            </p:nvSpPr>
            <p:spPr>
              <a:xfrm>
                <a:off x="4318650" y="837866"/>
                <a:ext cx="215250" cy="215584"/>
              </a:xfrm>
              <a:custGeom>
                <a:avLst/>
                <a:gdLst/>
                <a:ahLst/>
                <a:cxnLst/>
                <a:rect l="l" t="t" r="r" b="b"/>
                <a:pathLst>
                  <a:path w="215250" h="215584">
                    <a:moveTo>
                      <a:pt x="86663" y="334"/>
                    </a:moveTo>
                    <a:cubicBezTo>
                      <a:pt x="35109" y="12285"/>
                      <a:pt x="0" y="60082"/>
                      <a:pt x="4015" y="112851"/>
                    </a:cubicBezTo>
                    <a:cubicBezTo>
                      <a:pt x="8029" y="165619"/>
                      <a:pt x="49965" y="207555"/>
                      <a:pt x="102733" y="211569"/>
                    </a:cubicBezTo>
                    <a:cubicBezTo>
                      <a:pt x="155502" y="215584"/>
                      <a:pt x="203299" y="180475"/>
                      <a:pt x="215250" y="128921"/>
                    </a:cubicBezTo>
                    <a:cubicBezTo>
                      <a:pt x="215250" y="122346"/>
                      <a:pt x="209919" y="117015"/>
                      <a:pt x="203344" y="117015"/>
                    </a:cubicBezTo>
                    <a:lnTo>
                      <a:pt x="122381" y="117015"/>
                    </a:lnTo>
                    <a:cubicBezTo>
                      <a:pt x="109230" y="117015"/>
                      <a:pt x="98569" y="106354"/>
                      <a:pt x="98569" y="93203"/>
                    </a:cubicBezTo>
                    <a:lnTo>
                      <a:pt x="98569" y="9859"/>
                    </a:lnTo>
                    <a:cubicBezTo>
                      <a:pt x="98270" y="7010"/>
                      <a:pt x="96843" y="4399"/>
                      <a:pt x="94606" y="2609"/>
                    </a:cubicBezTo>
                    <a:cubicBezTo>
                      <a:pt x="92368" y="819"/>
                      <a:pt x="89508" y="0"/>
                      <a:pt x="86663" y="334"/>
                    </a:cubicBezTo>
                  </a:path>
                </a:pathLst>
              </a:custGeom>
              <a:noFill/>
              <a:ln w="23812">
                <a:solidFill>
                  <a:srgbClr val="C83210"/>
                </a:solidFill>
              </a:ln>
            </p:spPr>
          </p:sp>
          <p:sp>
            <p:nvSpPr>
              <p:cNvPr id="31" name="Freeform 31"/>
              <p:cNvSpPr/>
              <p:nvPr/>
            </p:nvSpPr>
            <p:spPr>
              <a:xfrm>
                <a:off x="4464844" y="841772"/>
                <a:ext cx="65484" cy="65484"/>
              </a:xfrm>
              <a:custGeom>
                <a:avLst/>
                <a:gdLst/>
                <a:ahLst/>
                <a:cxnLst/>
                <a:rect l="l" t="t" r="r" b="b"/>
                <a:pathLst>
                  <a:path w="65484" h="65484">
                    <a:moveTo>
                      <a:pt x="0" y="0"/>
                    </a:moveTo>
                    <a:cubicBezTo>
                      <a:pt x="30621" y="10782"/>
                      <a:pt x="54703" y="34864"/>
                      <a:pt x="65484" y="65484"/>
                    </a:cubicBezTo>
                    <a:lnTo>
                      <a:pt x="11906" y="65484"/>
                    </a:lnTo>
                    <a:cubicBezTo>
                      <a:pt x="5331" y="65484"/>
                      <a:pt x="0" y="60154"/>
                      <a:pt x="0" y="53578"/>
                    </a:cubicBezTo>
                    <a:lnTo>
                      <a:pt x="0" y="0"/>
                    </a:lnTo>
                  </a:path>
                </a:pathLst>
              </a:custGeom>
              <a:noFill/>
              <a:ln w="23812">
                <a:solidFill>
                  <a:srgbClr val="C83210"/>
                </a:solidFill>
              </a:ln>
            </p:spPr>
          </p:sp>
        </p:grpSp>
        <p:sp>
          <p:nvSpPr>
            <p:cNvPr id="33" name="TextBox 33"/>
            <p:cNvSpPr txBox="1"/>
            <p:nvPr/>
          </p:nvSpPr>
          <p:spPr>
            <a:xfrm>
              <a:off x="4662488" y="832247"/>
              <a:ext cx="389153"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认证率</a:t>
              </a:r>
            </a:p>
          </p:txBody>
        </p:sp>
        <p:sp>
          <p:nvSpPr>
            <p:cNvPr id="34" name="TextBox 34"/>
            <p:cNvSpPr txBox="1"/>
            <p:nvPr/>
          </p:nvSpPr>
          <p:spPr>
            <a:xfrm>
              <a:off x="4657344" y="1027748"/>
              <a:ext cx="764183"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Arial"/>
                  <a:ea typeface="Arial"/>
                  <a:cs typeface="Arial"/>
                </a:rPr>
                <a:t>43.8%</a:t>
              </a:r>
            </a:p>
          </p:txBody>
        </p:sp>
        <p:sp>
          <p:nvSpPr>
            <p:cNvPr id="35" name="TextBox 35"/>
            <p:cNvSpPr txBox="1"/>
            <p:nvPr/>
          </p:nvSpPr>
          <p:spPr>
            <a:xfrm>
              <a:off x="4281488" y="1381839"/>
              <a:ext cx="541274" cy="154781"/>
            </a:xfrm>
            <a:prstGeom prst="rect">
              <a:avLst/>
            </a:prstGeom>
            <a:noFill/>
            <a:ln>
              <a:noFill/>
            </a:ln>
          </p:spPr>
          <p:txBody>
            <a:bodyPr wrap="none" lIns="0" tIns="0" rIns="0" bIns="0" anchor="t" anchorCtr="0">
              <a:spAutoFit/>
            </a:bodyPr>
            <a:lstStyle/>
            <a:p>
              <a:pPr algn="l"/>
              <a:r>
                <a:rPr lang="zh-CN" sz="790" dirty="0">
                  <a:solidFill>
                    <a:srgbClr val="666666"/>
                  </a:solidFill>
                  <a:latin typeface="+mn-lt"/>
                  <a:ea typeface="+mn-ea"/>
                  <a:cs typeface="+mn-cs"/>
                </a:rPr>
                <a:t>较上年提升</a:t>
              </a:r>
            </a:p>
          </p:txBody>
        </p:sp>
        <p:sp>
          <p:nvSpPr>
            <p:cNvPr id="36" name="TextBox 36"/>
            <p:cNvSpPr txBox="1"/>
            <p:nvPr/>
          </p:nvSpPr>
          <p:spPr>
            <a:xfrm>
              <a:off x="4833938" y="1381839"/>
              <a:ext cx="316897" cy="154781"/>
            </a:xfrm>
            <a:prstGeom prst="rect">
              <a:avLst/>
            </a:prstGeom>
            <a:noFill/>
            <a:ln>
              <a:noFill/>
            </a:ln>
          </p:spPr>
          <p:txBody>
            <a:bodyPr wrap="none" lIns="0" tIns="0" rIns="0" bIns="0" anchor="t" anchorCtr="0">
              <a:spAutoFit/>
            </a:bodyPr>
            <a:lstStyle/>
            <a:p>
              <a:pPr algn="l"/>
              <a:r>
                <a:rPr lang="en-US" sz="790" b="1" dirty="0">
                  <a:solidFill>
                    <a:srgbClr val="C83210"/>
                  </a:solidFill>
                  <a:latin typeface="Arial"/>
                  <a:ea typeface="Arial"/>
                  <a:cs typeface="Arial"/>
                </a:rPr>
                <a:t>5.1pct</a:t>
              </a:r>
            </a:p>
          </p:txBody>
        </p:sp>
      </p:grpSp>
      <p:grpSp>
        <p:nvGrpSpPr>
          <p:cNvPr id="46" name="kpi-4"/>
          <p:cNvGrpSpPr/>
          <p:nvPr/>
        </p:nvGrpSpPr>
        <p:grpSpPr>
          <a:xfrm>
            <a:off x="6134100" y="647700"/>
            <a:ext cx="1905000" cy="914400"/>
            <a:chOff x="6134100" y="647700"/>
            <a:chExt cx="1905000" cy="914400"/>
          </a:xfrm>
        </p:grpSpPr>
        <p:sp>
          <p:nvSpPr>
            <p:cNvPr id="38" name="Rectangle 38"/>
            <p:cNvSpPr/>
            <p:nvPr/>
          </p:nvSpPr>
          <p:spPr>
            <a:xfrm>
              <a:off x="6134100" y="647700"/>
              <a:ext cx="1905000" cy="914400"/>
            </a:xfrm>
            <a:prstGeom prst="roundRect">
              <a:avLst>
                <a:gd name="adj" fmla="val 8333"/>
              </a:avLst>
            </a:prstGeom>
            <a:solidFill>
              <a:srgbClr val="FDEFF1"/>
            </a:solidFill>
            <a:ln>
              <a:noFill/>
            </a:ln>
          </p:spPr>
        </p:sp>
        <p:grpSp>
          <p:nvGrpSpPr>
            <p:cNvPr id="41" name="Group 41"/>
            <p:cNvGrpSpPr/>
            <p:nvPr/>
          </p:nvGrpSpPr>
          <p:grpSpPr>
            <a:xfrm>
              <a:off x="6303169" y="835819"/>
              <a:ext cx="214312" cy="214312"/>
              <a:chOff x="6303169" y="835819"/>
              <a:chExt cx="214312" cy="214312"/>
            </a:xfrm>
          </p:grpSpPr>
          <p:sp>
            <p:nvSpPr>
              <p:cNvPr id="39" name="Freeform 39"/>
              <p:cNvSpPr/>
              <p:nvPr/>
            </p:nvSpPr>
            <p:spPr>
              <a:xfrm>
                <a:off x="6386512" y="835819"/>
                <a:ext cx="130969" cy="130969"/>
              </a:xfrm>
              <a:custGeom>
                <a:avLst/>
                <a:gdLst/>
                <a:ahLst/>
                <a:cxnLst/>
                <a:rect l="l" t="t" r="r" b="b"/>
                <a:pathLst>
                  <a:path w="130969" h="130969">
                    <a:moveTo>
                      <a:pt x="130969" y="130969"/>
                    </a:moveTo>
                    <a:lnTo>
                      <a:pt x="95250" y="95250"/>
                    </a:lnTo>
                    <a:lnTo>
                      <a:pt x="11906" y="95250"/>
                    </a:lnTo>
                    <a:cubicBezTo>
                      <a:pt x="5331" y="95250"/>
                      <a:pt x="0" y="89919"/>
                      <a:pt x="0" y="83344"/>
                    </a:cubicBezTo>
                    <a:lnTo>
                      <a:pt x="0" y="11906"/>
                    </a:lnTo>
                    <a:cubicBezTo>
                      <a:pt x="0" y="5331"/>
                      <a:pt x="5331" y="0"/>
                      <a:pt x="11906" y="0"/>
                    </a:cubicBezTo>
                    <a:lnTo>
                      <a:pt x="119062" y="0"/>
                    </a:lnTo>
                    <a:cubicBezTo>
                      <a:pt x="125638" y="0"/>
                      <a:pt x="130969" y="5331"/>
                      <a:pt x="130969" y="11906"/>
                    </a:cubicBezTo>
                    <a:lnTo>
                      <a:pt x="130969" y="130969"/>
                    </a:lnTo>
                  </a:path>
                </a:pathLst>
              </a:custGeom>
              <a:noFill/>
              <a:ln w="23812">
                <a:solidFill>
                  <a:srgbClr val="C83210"/>
                </a:solidFill>
              </a:ln>
            </p:spPr>
          </p:sp>
          <p:sp>
            <p:nvSpPr>
              <p:cNvPr id="40" name="Freeform 40"/>
              <p:cNvSpPr/>
              <p:nvPr/>
            </p:nvSpPr>
            <p:spPr>
              <a:xfrm>
                <a:off x="6303169" y="919162"/>
                <a:ext cx="130969" cy="130969"/>
              </a:xfrm>
              <a:custGeom>
                <a:avLst/>
                <a:gdLst/>
                <a:ahLst/>
                <a:cxnLst/>
                <a:rect l="l" t="t" r="r" b="b"/>
                <a:pathLst>
                  <a:path w="130969" h="130969">
                    <a:moveTo>
                      <a:pt x="130969" y="59531"/>
                    </a:moveTo>
                    <a:lnTo>
                      <a:pt x="130969" y="83344"/>
                    </a:lnTo>
                    <a:cubicBezTo>
                      <a:pt x="130969" y="89919"/>
                      <a:pt x="125638" y="95250"/>
                      <a:pt x="119062" y="95250"/>
                    </a:cubicBezTo>
                    <a:lnTo>
                      <a:pt x="35719" y="95250"/>
                    </a:lnTo>
                    <a:lnTo>
                      <a:pt x="0" y="130969"/>
                    </a:lnTo>
                    <a:lnTo>
                      <a:pt x="0" y="11906"/>
                    </a:lnTo>
                    <a:cubicBezTo>
                      <a:pt x="0" y="5331"/>
                      <a:pt x="5331" y="0"/>
                      <a:pt x="11906" y="0"/>
                    </a:cubicBezTo>
                    <a:lnTo>
                      <a:pt x="35719" y="0"/>
                    </a:lnTo>
                  </a:path>
                </a:pathLst>
              </a:custGeom>
              <a:noFill/>
              <a:ln w="23812">
                <a:solidFill>
                  <a:srgbClr val="C83210"/>
                </a:solidFill>
              </a:ln>
            </p:spPr>
          </p:sp>
        </p:grpSp>
        <p:sp>
          <p:nvSpPr>
            <p:cNvPr id="42" name="TextBox 42"/>
            <p:cNvSpPr txBox="1"/>
            <p:nvPr/>
          </p:nvSpPr>
          <p:spPr>
            <a:xfrm>
              <a:off x="6643688" y="832247"/>
              <a:ext cx="768782"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月均触达次数</a:t>
              </a:r>
            </a:p>
          </p:txBody>
        </p:sp>
        <p:sp>
          <p:nvSpPr>
            <p:cNvPr id="43" name="TextBox 43"/>
            <p:cNvSpPr txBox="1"/>
            <p:nvPr/>
          </p:nvSpPr>
          <p:spPr>
            <a:xfrm>
              <a:off x="6638544" y="1027748"/>
              <a:ext cx="909770"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Arial"/>
                  <a:ea typeface="Microsoft YaHei"/>
                  <a:cs typeface="Arial"/>
                </a:rPr>
                <a:t xml:space="preserve">2.7次　</a:t>
              </a:r>
            </a:p>
          </p:txBody>
        </p:sp>
        <p:sp>
          <p:nvSpPr>
            <p:cNvPr id="44" name="TextBox 44"/>
            <p:cNvSpPr txBox="1"/>
            <p:nvPr/>
          </p:nvSpPr>
          <p:spPr>
            <a:xfrm>
              <a:off x="6262688" y="1381839"/>
              <a:ext cx="647624" cy="154781"/>
            </a:xfrm>
            <a:prstGeom prst="rect">
              <a:avLst/>
            </a:prstGeom>
            <a:noFill/>
            <a:ln>
              <a:noFill/>
            </a:ln>
          </p:spPr>
          <p:txBody>
            <a:bodyPr wrap="none" lIns="0" tIns="0" rIns="0" bIns="0" anchor="t" anchorCtr="0">
              <a:spAutoFit/>
            </a:bodyPr>
            <a:lstStyle/>
            <a:p>
              <a:pPr algn="l"/>
              <a:r>
                <a:rPr lang="zh-CN" sz="790" dirty="0">
                  <a:solidFill>
                    <a:srgbClr val="666666"/>
                  </a:solidFill>
                  <a:latin typeface="+mn-lt"/>
                  <a:ea typeface="+mn-ea"/>
                  <a:cs typeface="+mn-cs"/>
                </a:rPr>
                <a:t>行业优秀水平</a:t>
              </a:r>
            </a:p>
          </p:txBody>
        </p:sp>
        <p:sp>
          <p:nvSpPr>
            <p:cNvPr id="45" name="TextBox 45"/>
            <p:cNvSpPr txBox="1"/>
            <p:nvPr/>
          </p:nvSpPr>
          <p:spPr>
            <a:xfrm>
              <a:off x="6910388" y="1381839"/>
              <a:ext cx="269593"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Arial"/>
                  <a:ea typeface="Microsoft YaHei"/>
                  <a:cs typeface="Arial"/>
                </a:rPr>
                <a:t>6-8次</a:t>
              </a:r>
            </a:p>
          </p:txBody>
        </p:sp>
      </p:grpSp>
      <p:grpSp>
        <p:nvGrpSpPr>
          <p:cNvPr id="56" name="kpi-5"/>
          <p:cNvGrpSpPr/>
          <p:nvPr/>
        </p:nvGrpSpPr>
        <p:grpSpPr>
          <a:xfrm>
            <a:off x="8115300" y="647700"/>
            <a:ext cx="1905000" cy="914400"/>
            <a:chOff x="8115300" y="647700"/>
            <a:chExt cx="1905000" cy="914400"/>
          </a:xfrm>
        </p:grpSpPr>
        <p:sp>
          <p:nvSpPr>
            <p:cNvPr id="47" name="Rectangle 47"/>
            <p:cNvSpPr/>
            <p:nvPr/>
          </p:nvSpPr>
          <p:spPr>
            <a:xfrm>
              <a:off x="8115300" y="647700"/>
              <a:ext cx="1905000" cy="914400"/>
            </a:xfrm>
            <a:prstGeom prst="roundRect">
              <a:avLst>
                <a:gd name="adj" fmla="val 8333"/>
              </a:avLst>
            </a:prstGeom>
            <a:solidFill>
              <a:srgbClr val="FDEFF1"/>
            </a:solidFill>
            <a:ln>
              <a:noFill/>
            </a:ln>
          </p:spPr>
        </p:sp>
        <p:grpSp>
          <p:nvGrpSpPr>
            <p:cNvPr id="52" name="Group 52"/>
            <p:cNvGrpSpPr/>
            <p:nvPr/>
          </p:nvGrpSpPr>
          <p:grpSpPr>
            <a:xfrm>
              <a:off x="8284369" y="859631"/>
              <a:ext cx="214312" cy="166688"/>
              <a:chOff x="8284369" y="859631"/>
              <a:chExt cx="214312" cy="166688"/>
            </a:xfrm>
          </p:grpSpPr>
          <p:sp>
            <p:nvSpPr>
              <p:cNvPr id="48" name="Freeform 48"/>
              <p:cNvSpPr/>
              <p:nvPr/>
            </p:nvSpPr>
            <p:spPr>
              <a:xfrm>
                <a:off x="8284369" y="859631"/>
                <a:ext cx="214312" cy="166688"/>
              </a:xfrm>
              <a:custGeom>
                <a:avLst/>
                <a:gdLst/>
                <a:ahLst/>
                <a:cxnLst/>
                <a:rect l="l" t="t" r="r" b="b"/>
                <a:pathLst>
                  <a:path w="214312" h="166688">
                    <a:moveTo>
                      <a:pt x="0" y="23812"/>
                    </a:moveTo>
                    <a:cubicBezTo>
                      <a:pt x="0" y="10661"/>
                      <a:pt x="10661" y="0"/>
                      <a:pt x="23812" y="0"/>
                    </a:cubicBezTo>
                    <a:lnTo>
                      <a:pt x="190500" y="0"/>
                    </a:lnTo>
                    <a:cubicBezTo>
                      <a:pt x="203651" y="0"/>
                      <a:pt x="214312" y="10661"/>
                      <a:pt x="214312" y="23812"/>
                    </a:cubicBezTo>
                    <a:lnTo>
                      <a:pt x="214312" y="142875"/>
                    </a:lnTo>
                    <a:cubicBezTo>
                      <a:pt x="214312" y="156026"/>
                      <a:pt x="203651" y="166688"/>
                      <a:pt x="190500" y="166688"/>
                    </a:cubicBezTo>
                    <a:lnTo>
                      <a:pt x="23812" y="166688"/>
                    </a:lnTo>
                    <a:cubicBezTo>
                      <a:pt x="10661" y="166688"/>
                      <a:pt x="0" y="156026"/>
                      <a:pt x="0" y="142875"/>
                    </a:cubicBezTo>
                    <a:lnTo>
                      <a:pt x="0" y="23812"/>
                    </a:lnTo>
                  </a:path>
                </a:pathLst>
              </a:custGeom>
              <a:noFill/>
              <a:ln w="23812">
                <a:solidFill>
                  <a:srgbClr val="C83210"/>
                </a:solidFill>
              </a:ln>
            </p:spPr>
          </p:sp>
          <p:sp>
            <p:nvSpPr>
              <p:cNvPr id="49" name="Freeform 49"/>
              <p:cNvSpPr/>
              <p:nvPr/>
            </p:nvSpPr>
            <p:spPr>
              <a:xfrm>
                <a:off x="8331994" y="907256"/>
                <a:ext cx="47625" cy="71438"/>
              </a:xfrm>
              <a:custGeom>
                <a:avLst/>
                <a:gdLst/>
                <a:ahLst/>
                <a:cxnLst/>
                <a:rect l="l" t="t" r="r" b="b"/>
                <a:pathLst>
                  <a:path w="47625" h="71438">
                    <a:moveTo>
                      <a:pt x="0" y="71438"/>
                    </a:moveTo>
                    <a:lnTo>
                      <a:pt x="0" y="23812"/>
                    </a:lnTo>
                    <a:cubicBezTo>
                      <a:pt x="0" y="10661"/>
                      <a:pt x="10661" y="0"/>
                      <a:pt x="23812" y="0"/>
                    </a:cubicBezTo>
                    <a:cubicBezTo>
                      <a:pt x="36964" y="0"/>
                      <a:pt x="47625" y="10661"/>
                      <a:pt x="47625" y="23812"/>
                    </a:cubicBezTo>
                    <a:lnTo>
                      <a:pt x="47625" y="71438"/>
                    </a:lnTo>
                  </a:path>
                </a:pathLst>
              </a:custGeom>
              <a:noFill/>
              <a:ln w="23812">
                <a:solidFill>
                  <a:srgbClr val="C83210"/>
                </a:solidFill>
              </a:ln>
            </p:spPr>
          </p:sp>
          <p:sp>
            <p:nvSpPr>
              <p:cNvPr id="50" name="Freeform 50"/>
              <p:cNvSpPr/>
              <p:nvPr/>
            </p:nvSpPr>
            <p:spPr>
              <a:xfrm>
                <a:off x="8331994" y="954881"/>
                <a:ext cx="47625" cy="9525"/>
              </a:xfrm>
              <a:custGeom>
                <a:avLst/>
                <a:gdLst/>
                <a:ahLst/>
                <a:cxnLst/>
                <a:rect l="l" t="t" r="r" b="b"/>
                <a:pathLst>
                  <a:path w="47625" h="9525">
                    <a:moveTo>
                      <a:pt x="0" y="0"/>
                    </a:moveTo>
                    <a:lnTo>
                      <a:pt x="47625" y="0"/>
                    </a:lnTo>
                  </a:path>
                </a:pathLst>
              </a:custGeom>
              <a:noFill/>
              <a:ln w="23812">
                <a:solidFill>
                  <a:srgbClr val="C83210"/>
                </a:solidFill>
              </a:ln>
            </p:spPr>
          </p:sp>
          <p:sp>
            <p:nvSpPr>
              <p:cNvPr id="51" name="Freeform 51"/>
              <p:cNvSpPr/>
              <p:nvPr/>
            </p:nvSpPr>
            <p:spPr>
              <a:xfrm>
                <a:off x="8415338" y="907256"/>
                <a:ext cx="35719" cy="71438"/>
              </a:xfrm>
              <a:custGeom>
                <a:avLst/>
                <a:gdLst/>
                <a:ahLst/>
                <a:cxnLst/>
                <a:rect l="l" t="t" r="r" b="b"/>
                <a:pathLst>
                  <a:path w="35719" h="71438">
                    <a:moveTo>
                      <a:pt x="35719" y="0"/>
                    </a:moveTo>
                    <a:lnTo>
                      <a:pt x="35719" y="71438"/>
                    </a:lnTo>
                    <a:lnTo>
                      <a:pt x="17859" y="71438"/>
                    </a:lnTo>
                    <a:cubicBezTo>
                      <a:pt x="7996" y="71438"/>
                      <a:pt x="0" y="63442"/>
                      <a:pt x="0" y="53578"/>
                    </a:cubicBezTo>
                    <a:cubicBezTo>
                      <a:pt x="0" y="43715"/>
                      <a:pt x="7996" y="35719"/>
                      <a:pt x="17859" y="35719"/>
                    </a:cubicBezTo>
                    <a:cubicBezTo>
                      <a:pt x="27723" y="35719"/>
                      <a:pt x="35719" y="43715"/>
                      <a:pt x="35719" y="53578"/>
                    </a:cubicBezTo>
                  </a:path>
                </a:pathLst>
              </a:custGeom>
              <a:noFill/>
              <a:ln w="23812">
                <a:solidFill>
                  <a:srgbClr val="C83210"/>
                </a:solidFill>
              </a:ln>
            </p:spPr>
          </p:sp>
        </p:grpSp>
        <p:sp>
          <p:nvSpPr>
            <p:cNvPr id="53" name="TextBox 53"/>
            <p:cNvSpPr txBox="1"/>
            <p:nvPr/>
          </p:nvSpPr>
          <p:spPr>
            <a:xfrm>
              <a:off x="8624888" y="832247"/>
              <a:ext cx="768782"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广告内容占比</a:t>
              </a:r>
            </a:p>
          </p:txBody>
        </p:sp>
        <p:sp>
          <p:nvSpPr>
            <p:cNvPr id="54" name="TextBox 54"/>
            <p:cNvSpPr txBox="1"/>
            <p:nvPr/>
          </p:nvSpPr>
          <p:spPr>
            <a:xfrm>
              <a:off x="8619744" y="1027748"/>
              <a:ext cx="545250"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Arial"/>
                  <a:ea typeface="Arial"/>
                  <a:cs typeface="Arial"/>
                </a:rPr>
                <a:t>72%</a:t>
              </a:r>
            </a:p>
          </p:txBody>
        </p:sp>
        <p:sp>
          <p:nvSpPr>
            <p:cNvPr id="55" name="TextBox 55"/>
            <p:cNvSpPr txBox="1"/>
            <p:nvPr/>
          </p:nvSpPr>
          <p:spPr>
            <a:xfrm>
              <a:off x="8243888" y="1381839"/>
              <a:ext cx="966673" cy="154781"/>
            </a:xfrm>
            <a:prstGeom prst="rect">
              <a:avLst/>
            </a:prstGeom>
            <a:noFill/>
            <a:ln>
              <a:noFill/>
            </a:ln>
          </p:spPr>
          <p:txBody>
            <a:bodyPr wrap="none" lIns="0" tIns="0" rIns="0" bIns="0" anchor="t" anchorCtr="0">
              <a:spAutoFit/>
            </a:bodyPr>
            <a:lstStyle/>
            <a:p>
              <a:pPr algn="l"/>
              <a:r>
                <a:rPr lang="zh-CN" sz="790" dirty="0">
                  <a:solidFill>
                    <a:srgbClr val="666666"/>
                  </a:solidFill>
                  <a:latin typeface="+mn-lt"/>
                  <a:ea typeface="+mn-ea"/>
                  <a:cs typeface="+mn-cs"/>
                </a:rPr>
                <a:t>非个性化内容占比高</a:t>
              </a:r>
            </a:p>
          </p:txBody>
        </p:sp>
      </p:grpSp>
      <p:grpSp>
        <p:nvGrpSpPr>
          <p:cNvPr id="64" name="kpi-6"/>
          <p:cNvGrpSpPr/>
          <p:nvPr/>
        </p:nvGrpSpPr>
        <p:grpSpPr>
          <a:xfrm>
            <a:off x="10096500" y="647700"/>
            <a:ext cx="1905000" cy="914400"/>
            <a:chOff x="10096500" y="647700"/>
            <a:chExt cx="1905000" cy="914400"/>
          </a:xfrm>
        </p:grpSpPr>
        <p:sp>
          <p:nvSpPr>
            <p:cNvPr id="57" name="Rectangle 57"/>
            <p:cNvSpPr/>
            <p:nvPr/>
          </p:nvSpPr>
          <p:spPr>
            <a:xfrm>
              <a:off x="10096500" y="647700"/>
              <a:ext cx="1905000" cy="914400"/>
            </a:xfrm>
            <a:prstGeom prst="roundRect">
              <a:avLst>
                <a:gd name="adj" fmla="val 8333"/>
              </a:avLst>
            </a:prstGeom>
            <a:solidFill>
              <a:srgbClr val="FDEFF1"/>
            </a:solidFill>
            <a:ln>
              <a:noFill/>
            </a:ln>
          </p:spPr>
        </p:sp>
        <p:grpSp>
          <p:nvGrpSpPr>
            <p:cNvPr id="60" name="Group 60"/>
            <p:cNvGrpSpPr/>
            <p:nvPr/>
          </p:nvGrpSpPr>
          <p:grpSpPr>
            <a:xfrm>
              <a:off x="10265569" y="883444"/>
              <a:ext cx="214313" cy="119062"/>
              <a:chOff x="10265569" y="883444"/>
              <a:chExt cx="214313" cy="119062"/>
            </a:xfrm>
          </p:grpSpPr>
          <p:sp>
            <p:nvSpPr>
              <p:cNvPr id="58" name="Freeform 58"/>
              <p:cNvSpPr/>
              <p:nvPr/>
            </p:nvSpPr>
            <p:spPr>
              <a:xfrm>
                <a:off x="10265569" y="883444"/>
                <a:ext cx="214312" cy="119062"/>
              </a:xfrm>
              <a:custGeom>
                <a:avLst/>
                <a:gdLst/>
                <a:ahLst/>
                <a:cxnLst/>
                <a:rect l="l" t="t" r="r" b="b"/>
                <a:pathLst>
                  <a:path w="214312" h="119062">
                    <a:moveTo>
                      <a:pt x="0" y="0"/>
                    </a:moveTo>
                    <a:lnTo>
                      <a:pt x="71438" y="71438"/>
                    </a:lnTo>
                    <a:lnTo>
                      <a:pt x="119062" y="23812"/>
                    </a:lnTo>
                    <a:lnTo>
                      <a:pt x="214312" y="119062"/>
                    </a:lnTo>
                  </a:path>
                </a:pathLst>
              </a:custGeom>
              <a:noFill/>
              <a:ln w="23812">
                <a:solidFill>
                  <a:srgbClr val="C83210"/>
                </a:solidFill>
              </a:ln>
            </p:spPr>
          </p:sp>
          <p:sp>
            <p:nvSpPr>
              <p:cNvPr id="59" name="Freeform 59"/>
              <p:cNvSpPr/>
              <p:nvPr/>
            </p:nvSpPr>
            <p:spPr>
              <a:xfrm>
                <a:off x="10396538" y="919162"/>
                <a:ext cx="83344" cy="83344"/>
              </a:xfrm>
              <a:custGeom>
                <a:avLst/>
                <a:gdLst/>
                <a:ahLst/>
                <a:cxnLst/>
                <a:rect l="l" t="t" r="r" b="b"/>
                <a:pathLst>
                  <a:path w="83344" h="83344">
                    <a:moveTo>
                      <a:pt x="83344" y="0"/>
                    </a:moveTo>
                    <a:lnTo>
                      <a:pt x="83344" y="83344"/>
                    </a:lnTo>
                    <a:lnTo>
                      <a:pt x="0" y="83344"/>
                    </a:lnTo>
                  </a:path>
                </a:pathLst>
              </a:custGeom>
              <a:noFill/>
              <a:ln w="23812">
                <a:solidFill>
                  <a:srgbClr val="C83210"/>
                </a:solidFill>
              </a:ln>
            </p:spPr>
          </p:sp>
        </p:grpSp>
        <p:sp>
          <p:nvSpPr>
            <p:cNvPr id="61" name="TextBox 61"/>
            <p:cNvSpPr txBox="1"/>
            <p:nvPr/>
          </p:nvSpPr>
          <p:spPr>
            <a:xfrm>
              <a:off x="10606088" y="832247"/>
              <a:ext cx="515696"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月流失率</a:t>
              </a:r>
            </a:p>
          </p:txBody>
        </p:sp>
        <p:sp>
          <p:nvSpPr>
            <p:cNvPr id="62" name="TextBox 62"/>
            <p:cNvSpPr txBox="1"/>
            <p:nvPr/>
          </p:nvSpPr>
          <p:spPr>
            <a:xfrm>
              <a:off x="10600944" y="1027748"/>
              <a:ext cx="618175"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Arial"/>
                  <a:ea typeface="Arial"/>
                  <a:cs typeface="Arial"/>
                </a:rPr>
                <a:t>3.6%</a:t>
              </a:r>
            </a:p>
          </p:txBody>
        </p:sp>
        <p:sp>
          <p:nvSpPr>
            <p:cNvPr id="63" name="TextBox 63"/>
            <p:cNvSpPr txBox="1"/>
            <p:nvPr/>
          </p:nvSpPr>
          <p:spPr>
            <a:xfrm>
              <a:off x="10225088" y="1381839"/>
              <a:ext cx="1094293" cy="154781"/>
            </a:xfrm>
            <a:prstGeom prst="rect">
              <a:avLst/>
            </a:prstGeom>
            <a:noFill/>
            <a:ln>
              <a:noFill/>
            </a:ln>
          </p:spPr>
          <p:txBody>
            <a:bodyPr wrap="none" lIns="0" tIns="0" rIns="0" bIns="0" anchor="t" anchorCtr="0">
              <a:spAutoFit/>
            </a:bodyPr>
            <a:lstStyle/>
            <a:p>
              <a:pPr algn="l"/>
              <a:r>
                <a:rPr lang="zh-CN" sz="790" dirty="0">
                  <a:solidFill>
                    <a:srgbClr val="666666"/>
                  </a:solidFill>
                  <a:latin typeface="+mn-lt"/>
                  <a:ea typeface="+mn-ea"/>
                  <a:cs typeface="+mn-cs"/>
                </a:rPr>
                <a:t xml:space="preserve">约1.7万好友/月流失　</a:t>
              </a:r>
            </a:p>
          </p:txBody>
        </p:sp>
      </p:grpSp>
      <p:grpSp>
        <p:nvGrpSpPr>
          <p:cNvPr id="154" name="problem-tree"/>
          <p:cNvGrpSpPr/>
          <p:nvPr/>
        </p:nvGrpSpPr>
        <p:grpSpPr>
          <a:xfrm>
            <a:off x="171450" y="1695450"/>
            <a:ext cx="7067550" cy="2990850"/>
            <a:chOff x="171450" y="1695450"/>
            <a:chExt cx="7067550" cy="2990850"/>
          </a:xfrm>
        </p:grpSpPr>
        <p:sp>
          <p:nvSpPr>
            <p:cNvPr id="65" name="Rectangle 65"/>
            <p:cNvSpPr/>
            <p:nvPr/>
          </p:nvSpPr>
          <p:spPr>
            <a:xfrm>
              <a:off x="171450" y="1695450"/>
              <a:ext cx="7067550" cy="2990850"/>
            </a:xfrm>
            <a:prstGeom prst="roundRect">
              <a:avLst>
                <a:gd name="adj" fmla="val 2548"/>
              </a:avLst>
            </a:prstGeom>
            <a:solidFill>
              <a:srgbClr val="FFFFFF"/>
            </a:solidFill>
            <a:ln w="9525">
              <a:solidFill>
                <a:srgbClr val="F1C7CC"/>
              </a:solidFill>
            </a:ln>
          </p:spPr>
        </p:sp>
        <p:sp>
          <p:nvSpPr>
            <p:cNvPr id="66" name="Polygon 66"/>
            <p:cNvSpPr/>
            <p:nvPr/>
          </p:nvSpPr>
          <p:spPr>
            <a:xfrm>
              <a:off x="171450" y="1695450"/>
              <a:ext cx="1257300" cy="247650"/>
            </a:xfrm>
            <a:custGeom>
              <a:avLst/>
              <a:gdLst/>
              <a:ahLst/>
              <a:cxnLst/>
              <a:rect l="l" t="t" r="r" b="b"/>
              <a:pathLst>
                <a:path w="1257300" h="247650">
                  <a:moveTo>
                    <a:pt x="0" y="0"/>
                  </a:moveTo>
                  <a:lnTo>
                    <a:pt x="1257300" y="0"/>
                  </a:lnTo>
                  <a:lnTo>
                    <a:pt x="1143000" y="247650"/>
                  </a:lnTo>
                  <a:lnTo>
                    <a:pt x="0" y="247650"/>
                  </a:lnTo>
                  <a:close/>
                </a:path>
              </a:pathLst>
            </a:custGeom>
            <a:gradFill>
              <a:gsLst>
                <a:gs pos="0">
                  <a:srgbClr val="8F230A"/>
                </a:gs>
                <a:gs pos="100000">
                  <a:srgbClr val="C83210"/>
                </a:gs>
              </a:gsLst>
              <a:lin ang="0" scaled="1"/>
            </a:gradFill>
            <a:ln>
              <a:noFill/>
            </a:ln>
          </p:spPr>
        </p:sp>
        <p:sp>
          <p:nvSpPr>
            <p:cNvPr id="67" name="TextBox 67"/>
            <p:cNvSpPr txBox="1"/>
            <p:nvPr/>
          </p:nvSpPr>
          <p:spPr>
            <a:xfrm>
              <a:off x="280797" y="1771174"/>
              <a:ext cx="66954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关键问题树</a:t>
              </a:r>
            </a:p>
          </p:txBody>
        </p:sp>
        <p:sp>
          <p:nvSpPr>
            <p:cNvPr id="68" name="TextBox 68"/>
            <p:cNvSpPr txBox="1"/>
            <p:nvPr/>
          </p:nvSpPr>
          <p:spPr>
            <a:xfrm>
              <a:off x="1519238" y="1787366"/>
              <a:ext cx="2327681" cy="161925"/>
            </a:xfrm>
            <a:prstGeom prst="rect">
              <a:avLst/>
            </a:prstGeom>
            <a:noFill/>
            <a:ln>
              <a:noFill/>
            </a:ln>
          </p:spPr>
          <p:txBody>
            <a:bodyPr wrap="none" lIns="0" tIns="0" rIns="0" bIns="0" anchor="t" anchorCtr="0">
              <a:spAutoFit/>
            </a:bodyPr>
            <a:lstStyle/>
            <a:p>
              <a:pPr algn="l"/>
              <a:r>
                <a:rPr lang="zh-CN" sz="820" dirty="0">
                  <a:solidFill>
                    <a:srgbClr val="C83210"/>
                  </a:solidFill>
                  <a:latin typeface="+mn-lt"/>
                  <a:ea typeface="+mn-ea"/>
                  <a:cs typeface="+mn-cs"/>
                </a:rPr>
                <a:t>好友量增长快，但向下转化各环节存在明显断点</a:t>
              </a:r>
            </a:p>
          </p:txBody>
        </p:sp>
        <p:sp>
          <p:nvSpPr>
            <p:cNvPr id="69" name="Rectangle 69"/>
            <p:cNvSpPr/>
            <p:nvPr/>
          </p:nvSpPr>
          <p:spPr>
            <a:xfrm>
              <a:off x="2495550" y="2038350"/>
              <a:ext cx="2381250" cy="533400"/>
            </a:xfrm>
            <a:prstGeom prst="roundRect">
              <a:avLst>
                <a:gd name="adj" fmla="val 10714"/>
              </a:avLst>
            </a:prstGeom>
            <a:gradFill>
              <a:gsLst>
                <a:gs pos="0">
                  <a:srgbClr val="C83210"/>
                </a:gs>
                <a:gs pos="100000">
                  <a:srgbClr val="8F230A"/>
                </a:gs>
              </a:gsLst>
              <a:lin ang="0" scaled="1"/>
            </a:gradFill>
            <a:ln>
              <a:noFill/>
            </a:ln>
          </p:spPr>
        </p:sp>
        <p:grpSp>
          <p:nvGrpSpPr>
            <p:cNvPr id="73" name="Group 73"/>
            <p:cNvGrpSpPr/>
            <p:nvPr/>
          </p:nvGrpSpPr>
          <p:grpSpPr>
            <a:xfrm>
              <a:off x="4534609" y="2199228"/>
              <a:ext cx="208123" cy="178805"/>
              <a:chOff x="4534609" y="2199228"/>
              <a:chExt cx="208123" cy="178805"/>
            </a:xfrm>
          </p:grpSpPr>
          <p:sp>
            <p:nvSpPr>
              <p:cNvPr id="70" name="Freeform 70"/>
              <p:cNvSpPr/>
              <p:nvPr/>
            </p:nvSpPr>
            <p:spPr>
              <a:xfrm>
                <a:off x="4638675" y="2264568"/>
                <a:ext cx="9525" cy="41275"/>
              </a:xfrm>
              <a:custGeom>
                <a:avLst/>
                <a:gdLst/>
                <a:ahLst/>
                <a:cxnLst/>
                <a:rect l="l" t="t" r="r" b="b"/>
                <a:pathLst>
                  <a:path w="9525" h="41275">
                    <a:moveTo>
                      <a:pt x="0" y="0"/>
                    </a:moveTo>
                    <a:lnTo>
                      <a:pt x="0" y="41275"/>
                    </a:lnTo>
                  </a:path>
                </a:pathLst>
              </a:custGeom>
              <a:noFill/>
              <a:ln w="20637">
                <a:solidFill>
                  <a:srgbClr val="FFFFFF"/>
                </a:solidFill>
              </a:ln>
            </p:spPr>
          </p:sp>
          <p:sp>
            <p:nvSpPr>
              <p:cNvPr id="71" name="Freeform 71"/>
              <p:cNvSpPr/>
              <p:nvPr/>
            </p:nvSpPr>
            <p:spPr>
              <a:xfrm>
                <a:off x="4534609" y="2199228"/>
                <a:ext cx="208123" cy="178805"/>
              </a:xfrm>
              <a:custGeom>
                <a:avLst/>
                <a:gdLst/>
                <a:ahLst/>
                <a:cxnLst/>
                <a:rect l="l" t="t" r="r" b="b"/>
                <a:pathLst>
                  <a:path w="208123" h="178805">
                    <a:moveTo>
                      <a:pt x="87174" y="9526"/>
                    </a:moveTo>
                    <a:lnTo>
                      <a:pt x="3530" y="149180"/>
                    </a:lnTo>
                    <a:cubicBezTo>
                      <a:pt x="21" y="155256"/>
                      <a:pt x="0" y="162738"/>
                      <a:pt x="3474" y="168834"/>
                    </a:cubicBezTo>
                    <a:cubicBezTo>
                      <a:pt x="6948" y="174931"/>
                      <a:pt x="13395" y="178726"/>
                      <a:pt x="20412" y="178805"/>
                    </a:cubicBezTo>
                    <a:lnTo>
                      <a:pt x="187719" y="178805"/>
                    </a:lnTo>
                    <a:cubicBezTo>
                      <a:pt x="194732" y="178724"/>
                      <a:pt x="201176" y="174930"/>
                      <a:pt x="204650" y="168837"/>
                    </a:cubicBezTo>
                    <a:cubicBezTo>
                      <a:pt x="208123" y="162744"/>
                      <a:pt x="208104" y="155266"/>
                      <a:pt x="204601" y="149190"/>
                    </a:cubicBezTo>
                    <a:lnTo>
                      <a:pt x="120957" y="9516"/>
                    </a:lnTo>
                    <a:cubicBezTo>
                      <a:pt x="117378" y="3609"/>
                      <a:pt x="110973" y="0"/>
                      <a:pt x="104065" y="0"/>
                    </a:cubicBezTo>
                    <a:cubicBezTo>
                      <a:pt x="97158" y="0"/>
                      <a:pt x="90753" y="3609"/>
                      <a:pt x="87174" y="9516"/>
                    </a:cubicBezTo>
                  </a:path>
                </a:pathLst>
              </a:custGeom>
              <a:noFill/>
              <a:ln w="20637">
                <a:solidFill>
                  <a:srgbClr val="FFFFFF"/>
                </a:solidFill>
              </a:ln>
            </p:spPr>
          </p:sp>
          <p:sp>
            <p:nvSpPr>
              <p:cNvPr id="72" name="Freeform 72"/>
              <p:cNvSpPr/>
              <p:nvPr/>
            </p:nvSpPr>
            <p:spPr>
              <a:xfrm>
                <a:off x="4638675" y="2336799"/>
                <a:ext cx="9525" cy="9525"/>
              </a:xfrm>
              <a:custGeom>
                <a:avLst/>
                <a:gdLst/>
                <a:ahLst/>
                <a:cxnLst/>
                <a:rect l="l" t="t" r="r" b="b"/>
                <a:pathLst>
                  <a:path w="9525" h="9525">
                    <a:moveTo>
                      <a:pt x="0" y="0"/>
                    </a:moveTo>
                    <a:lnTo>
                      <a:pt x="103" y="0"/>
                    </a:lnTo>
                  </a:path>
                </a:pathLst>
              </a:custGeom>
              <a:noFill/>
              <a:ln w="20637">
                <a:solidFill>
                  <a:srgbClr val="FFFFFF"/>
                </a:solidFill>
              </a:ln>
            </p:spPr>
          </p:sp>
        </p:grpSp>
        <p:sp>
          <p:nvSpPr>
            <p:cNvPr id="74" name="TextBox 74"/>
            <p:cNvSpPr txBox="1"/>
            <p:nvPr/>
          </p:nvSpPr>
          <p:spPr>
            <a:xfrm>
              <a:off x="3180664" y="214264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企微好友增长</a:t>
              </a:r>
            </a:p>
          </p:txBody>
        </p:sp>
        <p:sp>
          <p:nvSpPr>
            <p:cNvPr id="75" name="TextBox 75"/>
            <p:cNvSpPr txBox="1"/>
            <p:nvPr/>
          </p:nvSpPr>
          <p:spPr>
            <a:xfrm>
              <a:off x="2849690" y="2341245"/>
              <a:ext cx="146342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没有转化为可经营客户资产</a:t>
              </a:r>
            </a:p>
          </p:txBody>
        </p:sp>
        <p:sp>
          <p:nvSpPr>
            <p:cNvPr id="76" name="Freeform 76"/>
            <p:cNvSpPr/>
            <p:nvPr/>
          </p:nvSpPr>
          <p:spPr>
            <a:xfrm>
              <a:off x="771525" y="2571750"/>
              <a:ext cx="5829300" cy="304800"/>
            </a:xfrm>
            <a:custGeom>
              <a:avLst/>
              <a:gdLst/>
              <a:ahLst/>
              <a:cxnLst/>
              <a:rect l="l" t="t" r="r" b="b"/>
              <a:pathLst>
                <a:path w="5829300" h="304800">
                  <a:moveTo>
                    <a:pt x="2914650" y="0"/>
                  </a:moveTo>
                  <a:lnTo>
                    <a:pt x="2914650" y="171450"/>
                  </a:lnTo>
                  <a:moveTo>
                    <a:pt x="0" y="171450"/>
                  </a:moveTo>
                  <a:lnTo>
                    <a:pt x="5829300" y="171450"/>
                  </a:lnTo>
                  <a:moveTo>
                    <a:pt x="0" y="171450"/>
                  </a:moveTo>
                  <a:lnTo>
                    <a:pt x="0" y="304800"/>
                  </a:lnTo>
                  <a:moveTo>
                    <a:pt x="1162050" y="171450"/>
                  </a:moveTo>
                  <a:lnTo>
                    <a:pt x="1162050" y="304800"/>
                  </a:lnTo>
                  <a:moveTo>
                    <a:pt x="2324100" y="171450"/>
                  </a:moveTo>
                  <a:lnTo>
                    <a:pt x="2324100" y="304800"/>
                  </a:lnTo>
                  <a:moveTo>
                    <a:pt x="3486150" y="171450"/>
                  </a:moveTo>
                  <a:lnTo>
                    <a:pt x="3486150" y="304800"/>
                  </a:lnTo>
                  <a:moveTo>
                    <a:pt x="4648200" y="171450"/>
                  </a:moveTo>
                  <a:lnTo>
                    <a:pt x="4648200" y="304800"/>
                  </a:lnTo>
                  <a:moveTo>
                    <a:pt x="5810250" y="171450"/>
                  </a:moveTo>
                  <a:lnTo>
                    <a:pt x="5810250" y="304800"/>
                  </a:lnTo>
                </a:path>
              </a:pathLst>
            </a:custGeom>
            <a:noFill/>
            <a:ln w="11430">
              <a:solidFill>
                <a:srgbClr val="C83210"/>
              </a:solidFill>
            </a:ln>
          </p:spPr>
        </p:sp>
        <p:grpSp>
          <p:nvGrpSpPr>
            <p:cNvPr id="88" name="leaf-1"/>
            <p:cNvGrpSpPr/>
            <p:nvPr/>
          </p:nvGrpSpPr>
          <p:grpSpPr>
            <a:xfrm>
              <a:off x="228600" y="2876550"/>
              <a:ext cx="1085850" cy="1752600"/>
              <a:chOff x="228600" y="2876550"/>
              <a:chExt cx="1085850" cy="1752600"/>
            </a:xfrm>
          </p:grpSpPr>
          <p:sp>
            <p:nvSpPr>
              <p:cNvPr id="77" name="Rectangle 77"/>
              <p:cNvSpPr/>
              <p:nvPr/>
            </p:nvSpPr>
            <p:spPr>
              <a:xfrm>
                <a:off x="228600" y="2876550"/>
                <a:ext cx="1085850" cy="1752600"/>
              </a:xfrm>
              <a:prstGeom prst="roundRect">
                <a:avLst>
                  <a:gd name="adj" fmla="val 5263"/>
                </a:avLst>
              </a:prstGeom>
              <a:solidFill>
                <a:srgbClr val="FFFFFF"/>
              </a:solidFill>
              <a:ln w="9525">
                <a:solidFill>
                  <a:srgbClr val="F1C7CC"/>
                </a:solidFill>
              </a:ln>
            </p:spPr>
          </p:sp>
          <p:sp>
            <p:nvSpPr>
              <p:cNvPr id="78" name="Rectangle 78"/>
              <p:cNvSpPr/>
              <p:nvPr/>
            </p:nvSpPr>
            <p:spPr>
              <a:xfrm>
                <a:off x="228600" y="2876550"/>
                <a:ext cx="1085850" cy="514350"/>
              </a:xfrm>
              <a:prstGeom prst="roundRect">
                <a:avLst>
                  <a:gd name="adj" fmla="val 11111"/>
                </a:avLst>
              </a:prstGeom>
              <a:solidFill>
                <a:srgbClr val="FBE3E6"/>
              </a:solidFill>
              <a:ln>
                <a:noFill/>
              </a:ln>
            </p:spPr>
          </p:sp>
          <p:grpSp>
            <p:nvGrpSpPr>
              <p:cNvPr id="83" name="Group 83"/>
              <p:cNvGrpSpPr/>
              <p:nvPr/>
            </p:nvGrpSpPr>
            <p:grpSpPr>
              <a:xfrm>
                <a:off x="719138" y="2959894"/>
                <a:ext cx="139700" cy="165894"/>
                <a:chOff x="719138" y="2959894"/>
                <a:chExt cx="139700" cy="165894"/>
              </a:xfrm>
            </p:grpSpPr>
            <p:sp>
              <p:nvSpPr>
                <p:cNvPr id="79" name="Freeform 79"/>
                <p:cNvSpPr/>
                <p:nvPr/>
              </p:nvSpPr>
              <p:spPr>
                <a:xfrm>
                  <a:off x="736600" y="29598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C83210"/>
                  </a:solidFill>
                </a:ln>
              </p:spPr>
            </p:sp>
            <p:sp>
              <p:nvSpPr>
                <p:cNvPr id="80" name="Freeform 80"/>
                <p:cNvSpPr/>
                <p:nvPr/>
              </p:nvSpPr>
              <p:spPr>
                <a:xfrm>
                  <a:off x="806450" y="3099594"/>
                  <a:ext cx="52388" cy="9525"/>
                </a:xfrm>
                <a:custGeom>
                  <a:avLst/>
                  <a:gdLst/>
                  <a:ahLst/>
                  <a:cxnLst/>
                  <a:rect l="l" t="t" r="r" b="b"/>
                  <a:pathLst>
                    <a:path w="52388" h="9525">
                      <a:moveTo>
                        <a:pt x="0" y="0"/>
                      </a:moveTo>
                      <a:lnTo>
                        <a:pt x="52388" y="0"/>
                      </a:lnTo>
                    </a:path>
                  </a:pathLst>
                </a:custGeom>
                <a:noFill/>
                <a:ln w="17463">
                  <a:solidFill>
                    <a:srgbClr val="C83210"/>
                  </a:solidFill>
                </a:ln>
              </p:spPr>
            </p:sp>
            <p:sp>
              <p:nvSpPr>
                <p:cNvPr id="81" name="Freeform 81"/>
                <p:cNvSpPr/>
                <p:nvPr/>
              </p:nvSpPr>
              <p:spPr>
                <a:xfrm>
                  <a:off x="832644" y="3073400"/>
                  <a:ext cx="9525" cy="52388"/>
                </a:xfrm>
                <a:custGeom>
                  <a:avLst/>
                  <a:gdLst/>
                  <a:ahLst/>
                  <a:cxnLst/>
                  <a:rect l="l" t="t" r="r" b="b"/>
                  <a:pathLst>
                    <a:path w="9525" h="52388">
                      <a:moveTo>
                        <a:pt x="0" y="0"/>
                      </a:moveTo>
                      <a:lnTo>
                        <a:pt x="0" y="52388"/>
                      </a:lnTo>
                    </a:path>
                  </a:pathLst>
                </a:custGeom>
                <a:noFill/>
                <a:ln w="17463">
                  <a:solidFill>
                    <a:srgbClr val="C83210"/>
                  </a:solidFill>
                </a:ln>
              </p:spPr>
            </p:sp>
            <p:sp>
              <p:nvSpPr>
                <p:cNvPr id="82" name="Freeform 82"/>
                <p:cNvSpPr/>
                <p:nvPr/>
              </p:nvSpPr>
              <p:spPr>
                <a:xfrm>
                  <a:off x="719138" y="30646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C83210"/>
                  </a:solidFill>
                </a:ln>
              </p:spPr>
            </p:sp>
          </p:grpSp>
          <p:sp>
            <p:nvSpPr>
              <p:cNvPr id="84" name="TextBox 84"/>
              <p:cNvSpPr txBox="1"/>
              <p:nvPr/>
            </p:nvSpPr>
            <p:spPr>
              <a:xfrm>
                <a:off x="524446" y="3217545"/>
                <a:ext cx="494157"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盲目添加</a:t>
                </a:r>
              </a:p>
            </p:txBody>
          </p:sp>
          <p:sp>
            <p:nvSpPr>
              <p:cNvPr id="85" name="TextBox 85"/>
              <p:cNvSpPr txBox="1"/>
              <p:nvPr/>
            </p:nvSpPr>
            <p:spPr>
              <a:xfrm>
                <a:off x="300038" y="3485436"/>
                <a:ext cx="627190" cy="264319"/>
              </a:xfrm>
              <a:prstGeom prst="rect">
                <a:avLst/>
              </a:prstGeom>
              <a:noFill/>
              <a:ln>
                <a:noFill/>
              </a:ln>
            </p:spPr>
            <p:txBody>
              <a:bodyPr wrap="none" lIns="0" tIns="0" rIns="0" bIns="0" anchor="t" anchorCtr="0">
                <a:spAutoFit/>
              </a:bodyPr>
              <a:lstStyle/>
              <a:p>
                <a:pPr algn="l" marL="76644" indent="-76644">
                  <a:lnSpc>
                    <a:spcPts val="975"/>
                  </a:lnSpc>
                  <a:buClr>
                    <a:srgbClr val="3D3D3D"/>
                  </a:buClr>
                  <a:buSzTx/>
                  <a:buFontTx/>
                  <a:buChar char="•"/>
                </a:pPr>
                <a:r>
                  <a:rPr lang="zh-CN" sz="710" dirty="0">
                    <a:solidFill>
                      <a:srgbClr val="3D3D3D"/>
                    </a:solidFill>
                    <a:latin typeface="+mn-lt"/>
                    <a:ea typeface="+mn-ea"/>
                    <a:cs typeface="+mn-cs"/>
                  </a:rPr>
                  <a:t>追求好友数量</a:t>
                </a:r>
                <a:br/>
                <a:r>
                  <a:rPr lang="zh-CN" sz="710" dirty="0">
                    <a:solidFill>
                      <a:srgbClr val="3D3D3D"/>
                    </a:solidFill>
                    <a:latin typeface="+mn-lt"/>
                    <a:ea typeface="+mn-ea"/>
                    <a:cs typeface="+mn-cs"/>
                  </a:rPr>
                  <a:t xml:space="preserve">　忽视质量</a:t>
                </a:r>
              </a:p>
            </p:txBody>
          </p:sp>
          <p:sp>
            <p:nvSpPr>
              <p:cNvPr id="86" name="TextBox 86"/>
              <p:cNvSpPr txBox="1"/>
              <p:nvPr/>
            </p:nvSpPr>
            <p:spPr>
              <a:xfrm>
                <a:off x="300038" y="3771186"/>
                <a:ext cx="640715" cy="264319"/>
              </a:xfrm>
              <a:prstGeom prst="rect">
                <a:avLst/>
              </a:prstGeom>
              <a:noFill/>
              <a:ln>
                <a:noFill/>
              </a:ln>
            </p:spPr>
            <p:txBody>
              <a:bodyPr wrap="none" lIns="0" tIns="0" rIns="0" bIns="0" anchor="t" anchorCtr="0">
                <a:spAutoFit/>
              </a:bodyPr>
              <a:lstStyle/>
              <a:p>
                <a:pPr algn="l" marL="76644" indent="-76644">
                  <a:lnSpc>
                    <a:spcPts val="975"/>
                  </a:lnSpc>
                  <a:buClr>
                    <a:srgbClr val="3D3D3D"/>
                  </a:buClr>
                  <a:buSzTx/>
                  <a:buFontTx/>
                  <a:buChar char="•"/>
                </a:pPr>
                <a:r>
                  <a:rPr lang="zh-CN" sz="710" dirty="0">
                    <a:solidFill>
                      <a:srgbClr val="3D3D3D"/>
                    </a:solidFill>
                    <a:latin typeface="+mn-lt"/>
                    <a:ea typeface="+mn-ea"/>
                    <a:cs typeface="+mn-cs"/>
                  </a:rPr>
                  <a:t>活动引流为主</a:t>
                </a:r>
                <a:br/>
                <a:r>
                  <a:rPr lang="zh-CN" sz="710" dirty="0">
                    <a:solidFill>
                      <a:srgbClr val="3D3D3D"/>
                    </a:solidFill>
                    <a:latin typeface="+mn-lt"/>
                    <a:ea typeface="+mn-ea"/>
                    <a:cs typeface="+mn-cs"/>
                  </a:rPr>
                  <a:t xml:space="preserve">　客户意图不明</a:t>
                </a:r>
              </a:p>
            </p:txBody>
          </p:sp>
          <p:sp>
            <p:nvSpPr>
              <p:cNvPr id="87" name="TextBox 87"/>
              <p:cNvSpPr txBox="1"/>
              <p:nvPr/>
            </p:nvSpPr>
            <p:spPr>
              <a:xfrm>
                <a:off x="300038" y="405693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大量非目标客户</a:t>
                </a:r>
              </a:p>
            </p:txBody>
          </p:sp>
        </p:grpSp>
        <p:grpSp>
          <p:nvGrpSpPr>
            <p:cNvPr id="102" name="leaf-2"/>
            <p:cNvGrpSpPr/>
            <p:nvPr/>
          </p:nvGrpSpPr>
          <p:grpSpPr>
            <a:xfrm>
              <a:off x="1390650" y="2876550"/>
              <a:ext cx="1085850" cy="1752600"/>
              <a:chOff x="1390650" y="2876550"/>
              <a:chExt cx="1085850" cy="1752600"/>
            </a:xfrm>
          </p:grpSpPr>
          <p:sp>
            <p:nvSpPr>
              <p:cNvPr id="89" name="Rectangle 89"/>
              <p:cNvSpPr/>
              <p:nvPr/>
            </p:nvSpPr>
            <p:spPr>
              <a:xfrm>
                <a:off x="1390650" y="2876550"/>
                <a:ext cx="1085850" cy="1752600"/>
              </a:xfrm>
              <a:prstGeom prst="roundRect">
                <a:avLst>
                  <a:gd name="adj" fmla="val 5263"/>
                </a:avLst>
              </a:prstGeom>
              <a:solidFill>
                <a:srgbClr val="FFFFFF"/>
              </a:solidFill>
              <a:ln w="9525">
                <a:solidFill>
                  <a:srgbClr val="F1C7CC"/>
                </a:solidFill>
              </a:ln>
            </p:spPr>
          </p:sp>
          <p:sp>
            <p:nvSpPr>
              <p:cNvPr id="90" name="Rectangle 90"/>
              <p:cNvSpPr/>
              <p:nvPr/>
            </p:nvSpPr>
            <p:spPr>
              <a:xfrm>
                <a:off x="1390650" y="2876550"/>
                <a:ext cx="1085850" cy="514350"/>
              </a:xfrm>
              <a:prstGeom prst="roundRect">
                <a:avLst>
                  <a:gd name="adj" fmla="val 11111"/>
                </a:avLst>
              </a:prstGeom>
              <a:solidFill>
                <a:srgbClr val="FBE3E6"/>
              </a:solidFill>
              <a:ln>
                <a:noFill/>
              </a:ln>
            </p:spPr>
          </p:sp>
          <p:grpSp>
            <p:nvGrpSpPr>
              <p:cNvPr id="96" name="Group 96"/>
              <p:cNvGrpSpPr/>
              <p:nvPr/>
            </p:nvGrpSpPr>
            <p:grpSpPr>
              <a:xfrm>
                <a:off x="1854994" y="2968625"/>
                <a:ext cx="157163" cy="139700"/>
                <a:chOff x="1854994" y="2968625"/>
                <a:chExt cx="157163" cy="139700"/>
              </a:xfrm>
            </p:grpSpPr>
            <p:sp>
              <p:nvSpPr>
                <p:cNvPr id="91" name="Freeform 91"/>
                <p:cNvSpPr/>
                <p:nvPr/>
              </p:nvSpPr>
              <p:spPr>
                <a:xfrm>
                  <a:off x="1854994" y="2968625"/>
                  <a:ext cx="157163" cy="139700"/>
                </a:xfrm>
                <a:custGeom>
                  <a:avLst/>
                  <a:gdLst/>
                  <a:ahLst/>
                  <a:cxnLst/>
                  <a:rect l="l" t="t" r="r" b="b"/>
                  <a:pathLst>
                    <a:path w="157163" h="139700">
                      <a:moveTo>
                        <a:pt x="0" y="26194"/>
                      </a:moveTo>
                      <a:cubicBezTo>
                        <a:pt x="0" y="11727"/>
                        <a:pt x="11727" y="0"/>
                        <a:pt x="26194" y="0"/>
                      </a:cubicBezTo>
                      <a:lnTo>
                        <a:pt x="130969" y="0"/>
                      </a:lnTo>
                      <a:cubicBezTo>
                        <a:pt x="145435" y="0"/>
                        <a:pt x="157163" y="11727"/>
                        <a:pt x="157163" y="26194"/>
                      </a:cubicBezTo>
                      <a:lnTo>
                        <a:pt x="157163" y="113506"/>
                      </a:lnTo>
                      <a:cubicBezTo>
                        <a:pt x="157163" y="127973"/>
                        <a:pt x="145435" y="139700"/>
                        <a:pt x="130969" y="139700"/>
                      </a:cubicBezTo>
                      <a:lnTo>
                        <a:pt x="26194" y="139700"/>
                      </a:lnTo>
                      <a:cubicBezTo>
                        <a:pt x="11727" y="139700"/>
                        <a:pt x="0" y="127973"/>
                        <a:pt x="0" y="113506"/>
                      </a:cubicBezTo>
                      <a:lnTo>
                        <a:pt x="0" y="26194"/>
                      </a:lnTo>
                    </a:path>
                  </a:pathLst>
                </a:custGeom>
                <a:noFill/>
                <a:ln w="17463">
                  <a:solidFill>
                    <a:srgbClr val="C83210"/>
                  </a:solidFill>
                </a:ln>
              </p:spPr>
            </p:sp>
            <p:sp>
              <p:nvSpPr>
                <p:cNvPr id="92" name="Freeform 92"/>
                <p:cNvSpPr/>
                <p:nvPr/>
              </p:nvSpPr>
              <p:spPr>
                <a:xfrm>
                  <a:off x="1889919" y="3003550"/>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83210"/>
                  </a:solidFill>
                </a:ln>
              </p:spPr>
            </p:sp>
            <p:sp>
              <p:nvSpPr>
                <p:cNvPr id="93" name="Freeform 93"/>
                <p:cNvSpPr/>
                <p:nvPr/>
              </p:nvSpPr>
              <p:spPr>
                <a:xfrm>
                  <a:off x="1959769" y="3003550"/>
                  <a:ext cx="17463" cy="9525"/>
                </a:xfrm>
                <a:custGeom>
                  <a:avLst/>
                  <a:gdLst/>
                  <a:ahLst/>
                  <a:cxnLst/>
                  <a:rect l="l" t="t" r="r" b="b"/>
                  <a:pathLst>
                    <a:path w="17463" h="9525">
                      <a:moveTo>
                        <a:pt x="0" y="0"/>
                      </a:moveTo>
                      <a:lnTo>
                        <a:pt x="17463" y="0"/>
                      </a:lnTo>
                    </a:path>
                  </a:pathLst>
                </a:custGeom>
                <a:noFill/>
                <a:ln w="17463">
                  <a:solidFill>
                    <a:srgbClr val="C83210"/>
                  </a:solidFill>
                </a:ln>
              </p:spPr>
            </p:sp>
            <p:sp>
              <p:nvSpPr>
                <p:cNvPr id="94" name="Freeform 94"/>
                <p:cNvSpPr/>
                <p:nvPr/>
              </p:nvSpPr>
              <p:spPr>
                <a:xfrm>
                  <a:off x="1959769" y="3038475"/>
                  <a:ext cx="17463" cy="9525"/>
                </a:xfrm>
                <a:custGeom>
                  <a:avLst/>
                  <a:gdLst/>
                  <a:ahLst/>
                  <a:cxnLst/>
                  <a:rect l="l" t="t" r="r" b="b"/>
                  <a:pathLst>
                    <a:path w="17463" h="9525">
                      <a:moveTo>
                        <a:pt x="0" y="0"/>
                      </a:moveTo>
                      <a:lnTo>
                        <a:pt x="17463" y="0"/>
                      </a:lnTo>
                    </a:path>
                  </a:pathLst>
                </a:custGeom>
                <a:noFill/>
                <a:ln w="17463">
                  <a:solidFill>
                    <a:srgbClr val="C83210"/>
                  </a:solidFill>
                </a:ln>
              </p:spPr>
            </p:sp>
            <p:sp>
              <p:nvSpPr>
                <p:cNvPr id="95" name="Freeform 95"/>
                <p:cNvSpPr/>
                <p:nvPr/>
              </p:nvSpPr>
              <p:spPr>
                <a:xfrm>
                  <a:off x="1889919" y="3073400"/>
                  <a:ext cx="87313" cy="9525"/>
                </a:xfrm>
                <a:custGeom>
                  <a:avLst/>
                  <a:gdLst/>
                  <a:ahLst/>
                  <a:cxnLst/>
                  <a:rect l="l" t="t" r="r" b="b"/>
                  <a:pathLst>
                    <a:path w="87313" h="9525">
                      <a:moveTo>
                        <a:pt x="0" y="0"/>
                      </a:moveTo>
                      <a:lnTo>
                        <a:pt x="87313" y="0"/>
                      </a:lnTo>
                    </a:path>
                  </a:pathLst>
                </a:custGeom>
                <a:noFill/>
                <a:ln w="17463">
                  <a:solidFill>
                    <a:srgbClr val="C83210"/>
                  </a:solidFill>
                </a:ln>
              </p:spPr>
            </p:sp>
          </p:grpSp>
          <p:sp>
            <p:nvSpPr>
              <p:cNvPr id="97" name="TextBox 97"/>
              <p:cNvSpPr txBox="1"/>
              <p:nvPr/>
            </p:nvSpPr>
            <p:spPr>
              <a:xfrm>
                <a:off x="1686496" y="3217545"/>
                <a:ext cx="494157"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认证缺口</a:t>
                </a:r>
              </a:p>
            </p:txBody>
          </p:sp>
          <p:sp>
            <p:nvSpPr>
              <p:cNvPr id="98" name="TextBox 98"/>
              <p:cNvSpPr txBox="1"/>
              <p:nvPr/>
            </p:nvSpPr>
            <p:spPr>
              <a:xfrm>
                <a:off x="1462088" y="3485436"/>
                <a:ext cx="65965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客户不愿认证</a:t>
                </a:r>
              </a:p>
            </p:txBody>
          </p:sp>
          <p:sp>
            <p:nvSpPr>
              <p:cNvPr id="99" name="TextBox 99"/>
              <p:cNvSpPr txBox="1"/>
              <p:nvPr/>
            </p:nvSpPr>
            <p:spPr>
              <a:xfrm>
                <a:off x="1462088" y="3656886"/>
                <a:ext cx="65965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认证流程繁琐</a:t>
                </a:r>
              </a:p>
            </p:txBody>
          </p:sp>
          <p:sp>
            <p:nvSpPr>
              <p:cNvPr id="100" name="TextBox 100"/>
              <p:cNvSpPr txBox="1"/>
              <p:nvPr/>
            </p:nvSpPr>
            <p:spPr>
              <a:xfrm>
                <a:off x="1462088" y="3828336"/>
                <a:ext cx="65965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缺乏权益激励</a:t>
                </a:r>
              </a:p>
            </p:txBody>
          </p:sp>
          <p:sp>
            <p:nvSpPr>
              <p:cNvPr id="101" name="TextBox 101"/>
              <p:cNvSpPr txBox="1"/>
              <p:nvPr/>
            </p:nvSpPr>
            <p:spPr>
              <a:xfrm>
                <a:off x="1462088" y="399978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前端话术不统一</a:t>
                </a:r>
              </a:p>
            </p:txBody>
          </p:sp>
        </p:grpSp>
        <p:grpSp>
          <p:nvGrpSpPr>
            <p:cNvPr id="113" name="leaf-3"/>
            <p:cNvGrpSpPr/>
            <p:nvPr/>
          </p:nvGrpSpPr>
          <p:grpSpPr>
            <a:xfrm>
              <a:off x="2552700" y="2876550"/>
              <a:ext cx="1085850" cy="1752600"/>
              <a:chOff x="2552700" y="2876550"/>
              <a:chExt cx="1085850" cy="1752600"/>
            </a:xfrm>
          </p:grpSpPr>
          <p:sp>
            <p:nvSpPr>
              <p:cNvPr id="103" name="Rectangle 103"/>
              <p:cNvSpPr/>
              <p:nvPr/>
            </p:nvSpPr>
            <p:spPr>
              <a:xfrm>
                <a:off x="2552700" y="2876550"/>
                <a:ext cx="1085850" cy="1752600"/>
              </a:xfrm>
              <a:prstGeom prst="roundRect">
                <a:avLst>
                  <a:gd name="adj" fmla="val 5263"/>
                </a:avLst>
              </a:prstGeom>
              <a:solidFill>
                <a:srgbClr val="FFFFFF"/>
              </a:solidFill>
              <a:ln w="9525">
                <a:solidFill>
                  <a:srgbClr val="F1C7CC"/>
                </a:solidFill>
              </a:ln>
            </p:spPr>
          </p:sp>
          <p:sp>
            <p:nvSpPr>
              <p:cNvPr id="104" name="Rectangle 104"/>
              <p:cNvSpPr/>
              <p:nvPr/>
            </p:nvSpPr>
            <p:spPr>
              <a:xfrm>
                <a:off x="2552700" y="2876550"/>
                <a:ext cx="1085850" cy="514350"/>
              </a:xfrm>
              <a:prstGeom prst="roundRect">
                <a:avLst>
                  <a:gd name="adj" fmla="val 11111"/>
                </a:avLst>
              </a:prstGeom>
              <a:solidFill>
                <a:srgbClr val="FBE3E6"/>
              </a:solidFill>
              <a:ln>
                <a:noFill/>
              </a:ln>
            </p:spPr>
          </p:sp>
          <p:grpSp>
            <p:nvGrpSpPr>
              <p:cNvPr id="107" name="Group 107"/>
              <p:cNvGrpSpPr/>
              <p:nvPr/>
            </p:nvGrpSpPr>
            <p:grpSpPr>
              <a:xfrm>
                <a:off x="3017044" y="2959894"/>
                <a:ext cx="159232" cy="159232"/>
                <a:chOff x="3017044" y="2959894"/>
                <a:chExt cx="159232" cy="159232"/>
              </a:xfrm>
            </p:grpSpPr>
            <p:sp>
              <p:nvSpPr>
                <p:cNvPr id="105" name="Freeform 105"/>
                <p:cNvSpPr/>
                <p:nvPr/>
              </p:nvSpPr>
              <p:spPr>
                <a:xfrm>
                  <a:off x="3047603" y="2990453"/>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C83210"/>
                  </a:solidFill>
                </a:ln>
              </p:spPr>
            </p:sp>
            <p:sp>
              <p:nvSpPr>
                <p:cNvPr id="106" name="Freeform 106"/>
                <p:cNvSpPr/>
                <p:nvPr/>
              </p:nvSpPr>
              <p:spPr>
                <a:xfrm>
                  <a:off x="3017044" y="2959894"/>
                  <a:ext cx="159232" cy="159232"/>
                </a:xfrm>
                <a:custGeom>
                  <a:avLst/>
                  <a:gdLst/>
                  <a:ahLst/>
                  <a:cxnLst/>
                  <a:rect l="l" t="t" r="r" b="b"/>
                  <a:pathLst>
                    <a:path w="159232" h="159232">
                      <a:moveTo>
                        <a:pt x="0" y="26194"/>
                      </a:moveTo>
                      <a:lnTo>
                        <a:pt x="0" y="71352"/>
                      </a:lnTo>
                      <a:cubicBezTo>
                        <a:pt x="1" y="75983"/>
                        <a:pt x="1841" y="80424"/>
                        <a:pt x="5117" y="83698"/>
                      </a:cubicBezTo>
                      <a:lnTo>
                        <a:pt x="72434" y="151016"/>
                      </a:lnTo>
                      <a:cubicBezTo>
                        <a:pt x="80652" y="159232"/>
                        <a:pt x="93973" y="159232"/>
                        <a:pt x="102191" y="151016"/>
                      </a:cubicBezTo>
                      <a:lnTo>
                        <a:pt x="151016" y="102191"/>
                      </a:lnTo>
                      <a:cubicBezTo>
                        <a:pt x="159232" y="93973"/>
                        <a:pt x="159232" y="80652"/>
                        <a:pt x="151016" y="72434"/>
                      </a:cubicBezTo>
                      <a:lnTo>
                        <a:pt x="83698" y="5117"/>
                      </a:lnTo>
                      <a:cubicBezTo>
                        <a:pt x="80424" y="1841"/>
                        <a:pt x="75983" y="1"/>
                        <a:pt x="71352" y="0"/>
                      </a:cubicBezTo>
                      <a:lnTo>
                        <a:pt x="26194" y="0"/>
                      </a:lnTo>
                      <a:cubicBezTo>
                        <a:pt x="19247" y="0"/>
                        <a:pt x="12584" y="2760"/>
                        <a:pt x="7672" y="7672"/>
                      </a:cubicBezTo>
                      <a:cubicBezTo>
                        <a:pt x="2760" y="12584"/>
                        <a:pt x="0" y="19247"/>
                        <a:pt x="0" y="26194"/>
                      </a:cubicBezTo>
                    </a:path>
                  </a:pathLst>
                </a:custGeom>
                <a:noFill/>
                <a:ln w="17463">
                  <a:solidFill>
                    <a:srgbClr val="C83210"/>
                  </a:solidFill>
                </a:ln>
              </p:spPr>
            </p:sp>
          </p:grpSp>
          <p:sp>
            <p:nvSpPr>
              <p:cNvPr id="108" name="TextBox 108"/>
              <p:cNvSpPr txBox="1"/>
              <p:nvPr/>
            </p:nvSpPr>
            <p:spPr>
              <a:xfrm>
                <a:off x="2848546" y="3217545"/>
                <a:ext cx="494157"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标签缺失</a:t>
                </a:r>
              </a:p>
            </p:txBody>
          </p:sp>
          <p:sp>
            <p:nvSpPr>
              <p:cNvPr id="109" name="TextBox 109"/>
              <p:cNvSpPr txBox="1"/>
              <p:nvPr/>
            </p:nvSpPr>
            <p:spPr>
              <a:xfrm>
                <a:off x="2624138" y="3485436"/>
                <a:ext cx="717360" cy="264319"/>
              </a:xfrm>
              <a:prstGeom prst="rect">
                <a:avLst/>
              </a:prstGeom>
              <a:noFill/>
              <a:ln>
                <a:noFill/>
              </a:ln>
            </p:spPr>
            <p:txBody>
              <a:bodyPr wrap="none" lIns="0" tIns="0" rIns="0" bIns="0" anchor="t" anchorCtr="0">
                <a:spAutoFit/>
              </a:bodyPr>
              <a:lstStyle/>
              <a:p>
                <a:pPr algn="l" marL="76644" indent="-76644">
                  <a:lnSpc>
                    <a:spcPts val="975"/>
                  </a:lnSpc>
                  <a:buClr>
                    <a:srgbClr val="3D3D3D"/>
                  </a:buClr>
                  <a:buSzTx/>
                  <a:buFontTx/>
                  <a:buChar char="•"/>
                </a:pPr>
                <a:r>
                  <a:rPr lang="zh-CN" sz="710" dirty="0">
                    <a:solidFill>
                      <a:srgbClr val="3D3D3D"/>
                    </a:solidFill>
                    <a:latin typeface="+mn-lt"/>
                    <a:ea typeface="+mn-ea"/>
                    <a:cs typeface="+mn-cs"/>
                  </a:rPr>
                  <a:t>未建立统一标签</a:t>
                </a:r>
                <a:br/>
                <a:r>
                  <a:rPr lang="zh-CN" sz="710" dirty="0">
                    <a:solidFill>
                      <a:srgbClr val="3D3D3D"/>
                    </a:solidFill>
                    <a:latin typeface="+mn-lt"/>
                    <a:ea typeface="+mn-ea"/>
                    <a:cs typeface="+mn-cs"/>
                  </a:rPr>
                  <a:t xml:space="preserve">　体系</a:t>
                </a:r>
              </a:p>
            </p:txBody>
          </p:sp>
          <p:sp>
            <p:nvSpPr>
              <p:cNvPr id="110" name="TextBox 110"/>
              <p:cNvSpPr txBox="1"/>
              <p:nvPr/>
            </p:nvSpPr>
            <p:spPr>
              <a:xfrm>
                <a:off x="2624138" y="377118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客户画像不完整</a:t>
                </a:r>
              </a:p>
            </p:txBody>
          </p:sp>
          <p:sp>
            <p:nvSpPr>
              <p:cNvPr id="111" name="TextBox 111"/>
              <p:cNvSpPr txBox="1"/>
              <p:nvPr/>
            </p:nvSpPr>
            <p:spPr>
              <a:xfrm>
                <a:off x="2624138" y="394263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标签更新不及时</a:t>
                </a:r>
              </a:p>
            </p:txBody>
          </p:sp>
          <p:sp>
            <p:nvSpPr>
              <p:cNvPr id="112" name="TextBox 112"/>
              <p:cNvSpPr txBox="1"/>
              <p:nvPr/>
            </p:nvSpPr>
            <p:spPr>
              <a:xfrm>
                <a:off x="2624138" y="4114086"/>
                <a:ext cx="85081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难以支撑精准运营</a:t>
                </a:r>
              </a:p>
            </p:txBody>
          </p:sp>
        </p:grpSp>
        <p:grpSp>
          <p:nvGrpSpPr>
            <p:cNvPr id="127" name="leaf-4"/>
            <p:cNvGrpSpPr/>
            <p:nvPr/>
          </p:nvGrpSpPr>
          <p:grpSpPr>
            <a:xfrm>
              <a:off x="3714750" y="2876550"/>
              <a:ext cx="1085850" cy="1752600"/>
              <a:chOff x="3714750" y="2876550"/>
              <a:chExt cx="1085850" cy="1752600"/>
            </a:xfrm>
          </p:grpSpPr>
          <p:sp>
            <p:nvSpPr>
              <p:cNvPr id="114" name="Rectangle 114"/>
              <p:cNvSpPr/>
              <p:nvPr/>
            </p:nvSpPr>
            <p:spPr>
              <a:xfrm>
                <a:off x="3714750" y="2876550"/>
                <a:ext cx="1085850" cy="1752600"/>
              </a:xfrm>
              <a:prstGeom prst="roundRect">
                <a:avLst>
                  <a:gd name="adj" fmla="val 5263"/>
                </a:avLst>
              </a:prstGeom>
              <a:solidFill>
                <a:srgbClr val="FFFFFF"/>
              </a:solidFill>
              <a:ln w="9525">
                <a:solidFill>
                  <a:srgbClr val="F1C7CC"/>
                </a:solidFill>
              </a:ln>
            </p:spPr>
          </p:sp>
          <p:sp>
            <p:nvSpPr>
              <p:cNvPr id="115" name="Rectangle 115"/>
              <p:cNvSpPr/>
              <p:nvPr/>
            </p:nvSpPr>
            <p:spPr>
              <a:xfrm>
                <a:off x="3714750" y="2876550"/>
                <a:ext cx="1085850" cy="514350"/>
              </a:xfrm>
              <a:prstGeom prst="roundRect">
                <a:avLst>
                  <a:gd name="adj" fmla="val 11111"/>
                </a:avLst>
              </a:prstGeom>
              <a:solidFill>
                <a:srgbClr val="FBE3E6"/>
              </a:solidFill>
              <a:ln>
                <a:noFill/>
              </a:ln>
            </p:spPr>
          </p:sp>
          <p:grpSp>
            <p:nvGrpSpPr>
              <p:cNvPr id="121" name="Group 121"/>
              <p:cNvGrpSpPr/>
              <p:nvPr/>
            </p:nvGrpSpPr>
            <p:grpSpPr>
              <a:xfrm>
                <a:off x="4196556" y="2959894"/>
                <a:ext cx="122238" cy="157163"/>
                <a:chOff x="4196556" y="2959894"/>
                <a:chExt cx="122238" cy="157163"/>
              </a:xfrm>
            </p:grpSpPr>
            <p:sp>
              <p:nvSpPr>
                <p:cNvPr id="116" name="Freeform 116"/>
                <p:cNvSpPr/>
                <p:nvPr/>
              </p:nvSpPr>
              <p:spPr>
                <a:xfrm>
                  <a:off x="4275138" y="295989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C83210"/>
                  </a:solidFill>
                </a:ln>
              </p:spPr>
            </p:sp>
            <p:sp>
              <p:nvSpPr>
                <p:cNvPr id="117" name="Freeform 117"/>
                <p:cNvSpPr/>
                <p:nvPr/>
              </p:nvSpPr>
              <p:spPr>
                <a:xfrm>
                  <a:off x="4196556" y="295989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C83210"/>
                  </a:solidFill>
                </a:ln>
              </p:spPr>
            </p:sp>
            <p:sp>
              <p:nvSpPr>
                <p:cNvPr id="118" name="Freeform 118"/>
                <p:cNvSpPr/>
                <p:nvPr/>
              </p:nvSpPr>
              <p:spPr>
                <a:xfrm>
                  <a:off x="4231481" y="3012281"/>
                  <a:ext cx="9525" cy="9525"/>
                </a:xfrm>
                <a:custGeom>
                  <a:avLst/>
                  <a:gdLst/>
                  <a:ahLst/>
                  <a:cxnLst/>
                  <a:rect l="l" t="t" r="r" b="b"/>
                  <a:pathLst>
                    <a:path w="9525" h="9525">
                      <a:moveTo>
                        <a:pt x="0" y="0"/>
                      </a:moveTo>
                      <a:lnTo>
                        <a:pt x="8731" y="0"/>
                      </a:lnTo>
                    </a:path>
                  </a:pathLst>
                </a:custGeom>
                <a:noFill/>
                <a:ln w="17463">
                  <a:solidFill>
                    <a:srgbClr val="C83210"/>
                  </a:solidFill>
                </a:ln>
              </p:spPr>
            </p:sp>
            <p:sp>
              <p:nvSpPr>
                <p:cNvPr id="119" name="Freeform 119"/>
                <p:cNvSpPr/>
                <p:nvPr/>
              </p:nvSpPr>
              <p:spPr>
                <a:xfrm>
                  <a:off x="4231481" y="3047206"/>
                  <a:ext cx="52388" cy="9525"/>
                </a:xfrm>
                <a:custGeom>
                  <a:avLst/>
                  <a:gdLst/>
                  <a:ahLst/>
                  <a:cxnLst/>
                  <a:rect l="l" t="t" r="r" b="b"/>
                  <a:pathLst>
                    <a:path w="52388" h="9525">
                      <a:moveTo>
                        <a:pt x="0" y="0"/>
                      </a:moveTo>
                      <a:lnTo>
                        <a:pt x="52388" y="0"/>
                      </a:lnTo>
                    </a:path>
                  </a:pathLst>
                </a:custGeom>
                <a:noFill/>
                <a:ln w="17463">
                  <a:solidFill>
                    <a:srgbClr val="C83210"/>
                  </a:solidFill>
                </a:ln>
              </p:spPr>
            </p:sp>
            <p:sp>
              <p:nvSpPr>
                <p:cNvPr id="120" name="Freeform 120"/>
                <p:cNvSpPr/>
                <p:nvPr/>
              </p:nvSpPr>
              <p:spPr>
                <a:xfrm>
                  <a:off x="4231481" y="3082131"/>
                  <a:ext cx="52388" cy="9525"/>
                </a:xfrm>
                <a:custGeom>
                  <a:avLst/>
                  <a:gdLst/>
                  <a:ahLst/>
                  <a:cxnLst/>
                  <a:rect l="l" t="t" r="r" b="b"/>
                  <a:pathLst>
                    <a:path w="52388" h="9525">
                      <a:moveTo>
                        <a:pt x="0" y="0"/>
                      </a:moveTo>
                      <a:lnTo>
                        <a:pt x="52388" y="0"/>
                      </a:lnTo>
                    </a:path>
                  </a:pathLst>
                </a:custGeom>
                <a:noFill/>
                <a:ln w="17463">
                  <a:solidFill>
                    <a:srgbClr val="C83210"/>
                  </a:solidFill>
                </a:ln>
              </p:spPr>
            </p:sp>
          </p:grpSp>
          <p:sp>
            <p:nvSpPr>
              <p:cNvPr id="122" name="TextBox 122"/>
              <p:cNvSpPr txBox="1"/>
              <p:nvPr/>
            </p:nvSpPr>
            <p:spPr>
              <a:xfrm>
                <a:off x="4010596" y="3217545"/>
                <a:ext cx="494157"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内容单一</a:t>
                </a:r>
              </a:p>
            </p:txBody>
          </p:sp>
          <p:sp>
            <p:nvSpPr>
              <p:cNvPr id="123" name="TextBox 123"/>
              <p:cNvSpPr txBox="1"/>
              <p:nvPr/>
            </p:nvSpPr>
            <p:spPr>
              <a:xfrm>
                <a:off x="3786188" y="348543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以广告宣传为主</a:t>
                </a:r>
              </a:p>
            </p:txBody>
          </p:sp>
          <p:sp>
            <p:nvSpPr>
              <p:cNvPr id="124" name="TextBox 124"/>
              <p:cNvSpPr txBox="1"/>
              <p:nvPr/>
            </p:nvSpPr>
            <p:spPr>
              <a:xfrm>
                <a:off x="3786188" y="365688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缺乏差异化内容</a:t>
                </a:r>
              </a:p>
            </p:txBody>
          </p:sp>
          <p:sp>
            <p:nvSpPr>
              <p:cNvPr id="125" name="TextBox 125"/>
              <p:cNvSpPr txBox="1"/>
              <p:nvPr/>
            </p:nvSpPr>
            <p:spPr>
              <a:xfrm>
                <a:off x="3786188" y="3828336"/>
                <a:ext cx="85081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与客户需求不匹配</a:t>
                </a:r>
              </a:p>
            </p:txBody>
          </p:sp>
          <p:sp>
            <p:nvSpPr>
              <p:cNvPr id="126" name="TextBox 126"/>
              <p:cNvSpPr txBox="1"/>
              <p:nvPr/>
            </p:nvSpPr>
            <p:spPr>
              <a:xfrm>
                <a:off x="3786188" y="399978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互动性弱、吸引力低</a:t>
                </a:r>
              </a:p>
            </p:txBody>
          </p:sp>
        </p:grpSp>
        <p:grpSp>
          <p:nvGrpSpPr>
            <p:cNvPr id="138" name="leaf-5"/>
            <p:cNvGrpSpPr/>
            <p:nvPr/>
          </p:nvGrpSpPr>
          <p:grpSpPr>
            <a:xfrm>
              <a:off x="4876800" y="2876550"/>
              <a:ext cx="1085850" cy="1752600"/>
              <a:chOff x="4876800" y="2876550"/>
              <a:chExt cx="1085850" cy="1752600"/>
            </a:xfrm>
          </p:grpSpPr>
          <p:sp>
            <p:nvSpPr>
              <p:cNvPr id="128" name="Rectangle 128"/>
              <p:cNvSpPr/>
              <p:nvPr/>
            </p:nvSpPr>
            <p:spPr>
              <a:xfrm>
                <a:off x="4876800" y="2876550"/>
                <a:ext cx="1085850" cy="1752600"/>
              </a:xfrm>
              <a:prstGeom prst="roundRect">
                <a:avLst>
                  <a:gd name="adj" fmla="val 5263"/>
                </a:avLst>
              </a:prstGeom>
              <a:solidFill>
                <a:srgbClr val="FFFFFF"/>
              </a:solidFill>
              <a:ln w="9525">
                <a:solidFill>
                  <a:srgbClr val="F1C7CC"/>
                </a:solidFill>
              </a:ln>
            </p:spPr>
          </p:sp>
          <p:sp>
            <p:nvSpPr>
              <p:cNvPr id="129" name="Rectangle 129"/>
              <p:cNvSpPr/>
              <p:nvPr/>
            </p:nvSpPr>
            <p:spPr>
              <a:xfrm>
                <a:off x="4876800" y="2876550"/>
                <a:ext cx="1085850" cy="514350"/>
              </a:xfrm>
              <a:prstGeom prst="roundRect">
                <a:avLst>
                  <a:gd name="adj" fmla="val 11111"/>
                </a:avLst>
              </a:prstGeom>
              <a:solidFill>
                <a:srgbClr val="FBE3E6"/>
              </a:solidFill>
              <a:ln>
                <a:noFill/>
              </a:ln>
            </p:spPr>
          </p:sp>
          <p:grpSp>
            <p:nvGrpSpPr>
              <p:cNvPr id="132" name="Group 132"/>
              <p:cNvGrpSpPr/>
              <p:nvPr/>
            </p:nvGrpSpPr>
            <p:grpSpPr>
              <a:xfrm>
                <a:off x="5338342" y="2959894"/>
                <a:ext cx="159965" cy="159964"/>
                <a:chOff x="5338342" y="2959894"/>
                <a:chExt cx="159965" cy="159964"/>
              </a:xfrm>
            </p:grpSpPr>
            <p:sp>
              <p:nvSpPr>
                <p:cNvPr id="130" name="Freeform 130"/>
                <p:cNvSpPr/>
                <p:nvPr/>
              </p:nvSpPr>
              <p:spPr>
                <a:xfrm>
                  <a:off x="5402263" y="2959894"/>
                  <a:ext cx="96044" cy="96044"/>
                </a:xfrm>
                <a:custGeom>
                  <a:avLst/>
                  <a:gdLst/>
                  <a:ahLst/>
                  <a:cxnLst/>
                  <a:rect l="l" t="t" r="r" b="b"/>
                  <a:pathLst>
                    <a:path w="96044" h="96044">
                      <a:moveTo>
                        <a:pt x="0" y="96044"/>
                      </a:moveTo>
                      <a:lnTo>
                        <a:pt x="96044" y="0"/>
                      </a:lnTo>
                    </a:path>
                  </a:pathLst>
                </a:custGeom>
                <a:noFill/>
                <a:ln w="17463">
                  <a:solidFill>
                    <a:srgbClr val="C83210"/>
                  </a:solidFill>
                </a:ln>
              </p:spPr>
            </p:sp>
            <p:sp>
              <p:nvSpPr>
                <p:cNvPr id="131" name="Freeform 131"/>
                <p:cNvSpPr/>
                <p:nvPr/>
              </p:nvSpPr>
              <p:spPr>
                <a:xfrm>
                  <a:off x="5338342" y="2959894"/>
                  <a:ext cx="159964" cy="159964"/>
                </a:xfrm>
                <a:custGeom>
                  <a:avLst/>
                  <a:gdLst/>
                  <a:ahLst/>
                  <a:cxnLst/>
                  <a:rect l="l" t="t" r="r" b="b"/>
                  <a:pathLst>
                    <a:path w="159964" h="159964">
                      <a:moveTo>
                        <a:pt x="159964" y="0"/>
                      </a:moveTo>
                      <a:lnTo>
                        <a:pt x="103211" y="157163"/>
                      </a:lnTo>
                      <a:cubicBezTo>
                        <a:pt x="102429" y="158870"/>
                        <a:pt x="100723" y="159964"/>
                        <a:pt x="98845" y="159964"/>
                      </a:cubicBezTo>
                      <a:cubicBezTo>
                        <a:pt x="96968" y="159964"/>
                        <a:pt x="95262" y="158870"/>
                        <a:pt x="94480" y="157163"/>
                      </a:cubicBezTo>
                      <a:lnTo>
                        <a:pt x="63920" y="96044"/>
                      </a:lnTo>
                      <a:lnTo>
                        <a:pt x="2802" y="65484"/>
                      </a:lnTo>
                      <a:cubicBezTo>
                        <a:pt x="1095" y="64702"/>
                        <a:pt x="0" y="62997"/>
                        <a:pt x="0" y="61119"/>
                      </a:cubicBezTo>
                      <a:cubicBezTo>
                        <a:pt x="0" y="59241"/>
                        <a:pt x="1095" y="57535"/>
                        <a:pt x="2802" y="56753"/>
                      </a:cubicBezTo>
                      <a:lnTo>
                        <a:pt x="159964" y="0"/>
                      </a:lnTo>
                    </a:path>
                  </a:pathLst>
                </a:custGeom>
                <a:noFill/>
                <a:ln w="17463">
                  <a:solidFill>
                    <a:srgbClr val="C83210"/>
                  </a:solidFill>
                </a:ln>
              </p:spPr>
            </p:sp>
          </p:grpSp>
          <p:sp>
            <p:nvSpPr>
              <p:cNvPr id="133" name="TextBox 133"/>
              <p:cNvSpPr txBox="1"/>
              <p:nvPr/>
            </p:nvSpPr>
            <p:spPr>
              <a:xfrm>
                <a:off x="5172646" y="3217545"/>
                <a:ext cx="494157"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触达失序</a:t>
                </a:r>
              </a:p>
            </p:txBody>
          </p:sp>
          <p:sp>
            <p:nvSpPr>
              <p:cNvPr id="134" name="TextBox 134"/>
              <p:cNvSpPr txBox="1"/>
              <p:nvPr/>
            </p:nvSpPr>
            <p:spPr>
              <a:xfrm>
                <a:off x="4948238" y="348543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触达频次不合理</a:t>
                </a:r>
              </a:p>
            </p:txBody>
          </p:sp>
          <p:sp>
            <p:nvSpPr>
              <p:cNvPr id="135" name="TextBox 135"/>
              <p:cNvSpPr txBox="1"/>
              <p:nvPr/>
            </p:nvSpPr>
            <p:spPr>
              <a:xfrm>
                <a:off x="4948238" y="3656886"/>
                <a:ext cx="85081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缺乏分层触达策略</a:t>
                </a:r>
              </a:p>
            </p:txBody>
          </p:sp>
          <p:sp>
            <p:nvSpPr>
              <p:cNvPr id="136" name="TextBox 136"/>
              <p:cNvSpPr txBox="1"/>
              <p:nvPr/>
            </p:nvSpPr>
            <p:spPr>
              <a:xfrm>
                <a:off x="4948238" y="382833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重要节点未触达</a:t>
                </a:r>
              </a:p>
            </p:txBody>
          </p:sp>
          <p:sp>
            <p:nvSpPr>
              <p:cNvPr id="137" name="TextBox 137"/>
              <p:cNvSpPr txBox="1"/>
              <p:nvPr/>
            </p:nvSpPr>
            <p:spPr>
              <a:xfrm>
                <a:off x="4948238" y="3999786"/>
                <a:ext cx="65965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客户体验不佳</a:t>
                </a:r>
              </a:p>
            </p:txBody>
          </p:sp>
        </p:grpSp>
        <p:grpSp>
          <p:nvGrpSpPr>
            <p:cNvPr id="153" name="leaf-6"/>
            <p:cNvGrpSpPr/>
            <p:nvPr/>
          </p:nvGrpSpPr>
          <p:grpSpPr>
            <a:xfrm>
              <a:off x="6038850" y="2876550"/>
              <a:ext cx="1085850" cy="1752600"/>
              <a:chOff x="6038850" y="2876550"/>
              <a:chExt cx="1085850" cy="1752600"/>
            </a:xfrm>
          </p:grpSpPr>
          <p:sp>
            <p:nvSpPr>
              <p:cNvPr id="139" name="Rectangle 139"/>
              <p:cNvSpPr/>
              <p:nvPr/>
            </p:nvSpPr>
            <p:spPr>
              <a:xfrm>
                <a:off x="6038850" y="2876550"/>
                <a:ext cx="1085850" cy="1752600"/>
              </a:xfrm>
              <a:prstGeom prst="roundRect">
                <a:avLst>
                  <a:gd name="adj" fmla="val 5263"/>
                </a:avLst>
              </a:prstGeom>
              <a:solidFill>
                <a:srgbClr val="FFFFFF"/>
              </a:solidFill>
              <a:ln w="9525">
                <a:solidFill>
                  <a:srgbClr val="F1C7CC"/>
                </a:solidFill>
              </a:ln>
            </p:spPr>
          </p:sp>
          <p:sp>
            <p:nvSpPr>
              <p:cNvPr id="140" name="Rectangle 140"/>
              <p:cNvSpPr/>
              <p:nvPr/>
            </p:nvSpPr>
            <p:spPr>
              <a:xfrm>
                <a:off x="6038850" y="2876550"/>
                <a:ext cx="1085850" cy="514350"/>
              </a:xfrm>
              <a:prstGeom prst="roundRect">
                <a:avLst>
                  <a:gd name="adj" fmla="val 11111"/>
                </a:avLst>
              </a:prstGeom>
              <a:solidFill>
                <a:srgbClr val="FBE3E6"/>
              </a:solidFill>
              <a:ln>
                <a:noFill/>
              </a:ln>
            </p:spPr>
          </p:sp>
          <p:grpSp>
            <p:nvGrpSpPr>
              <p:cNvPr id="147" name="Group 147"/>
              <p:cNvGrpSpPr/>
              <p:nvPr/>
            </p:nvGrpSpPr>
            <p:grpSpPr>
              <a:xfrm>
                <a:off x="6503194" y="2959894"/>
                <a:ext cx="157162" cy="157163"/>
                <a:chOff x="6503194" y="2959894"/>
                <a:chExt cx="157162" cy="157163"/>
              </a:xfrm>
            </p:grpSpPr>
            <p:sp>
              <p:nvSpPr>
                <p:cNvPr id="141" name="Freeform 141"/>
                <p:cNvSpPr/>
                <p:nvPr/>
              </p:nvSpPr>
              <p:spPr>
                <a:xfrm>
                  <a:off x="6564313" y="30297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83210"/>
                  </a:solidFill>
                </a:ln>
              </p:spPr>
            </p:sp>
            <p:sp>
              <p:nvSpPr>
                <p:cNvPr id="142" name="Freeform 142"/>
                <p:cNvSpPr/>
                <p:nvPr/>
              </p:nvSpPr>
              <p:spPr>
                <a:xfrm>
                  <a:off x="6546850" y="309086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C83210"/>
                  </a:solidFill>
                </a:ln>
              </p:spPr>
            </p:sp>
            <p:sp>
              <p:nvSpPr>
                <p:cNvPr id="143" name="Freeform 143"/>
                <p:cNvSpPr/>
                <p:nvPr/>
              </p:nvSpPr>
              <p:spPr>
                <a:xfrm>
                  <a:off x="6607969" y="29598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83210"/>
                  </a:solidFill>
                </a:ln>
              </p:spPr>
            </p:sp>
            <p:sp>
              <p:nvSpPr>
                <p:cNvPr id="144" name="Freeform 144"/>
                <p:cNvSpPr/>
                <p:nvPr/>
              </p:nvSpPr>
              <p:spPr>
                <a:xfrm>
                  <a:off x="6625431" y="302101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C83210"/>
                  </a:solidFill>
                </a:ln>
              </p:spPr>
            </p:sp>
            <p:sp>
              <p:nvSpPr>
                <p:cNvPr id="145" name="Freeform 145"/>
                <p:cNvSpPr/>
                <p:nvPr/>
              </p:nvSpPr>
              <p:spPr>
                <a:xfrm>
                  <a:off x="6520656" y="29598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83210"/>
                  </a:solidFill>
                </a:ln>
              </p:spPr>
            </p:sp>
            <p:sp>
              <p:nvSpPr>
                <p:cNvPr id="146" name="Freeform 146"/>
                <p:cNvSpPr/>
                <p:nvPr/>
              </p:nvSpPr>
              <p:spPr>
                <a:xfrm>
                  <a:off x="6503194" y="302101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C83210"/>
                  </a:solidFill>
                </a:ln>
              </p:spPr>
            </p:sp>
          </p:grpSp>
          <p:sp>
            <p:nvSpPr>
              <p:cNvPr id="148" name="TextBox 148"/>
              <p:cNvSpPr txBox="1"/>
              <p:nvPr/>
            </p:nvSpPr>
            <p:spPr>
              <a:xfrm>
                <a:off x="6334696" y="3217545"/>
                <a:ext cx="494157"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责任不清</a:t>
                </a:r>
              </a:p>
            </p:txBody>
          </p:sp>
          <p:sp>
            <p:nvSpPr>
              <p:cNvPr id="149" name="TextBox 149"/>
              <p:cNvSpPr txBox="1"/>
              <p:nvPr/>
            </p:nvSpPr>
            <p:spPr>
              <a:xfrm>
                <a:off x="6110288" y="348543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总分支协同不足</a:t>
                </a:r>
              </a:p>
            </p:txBody>
          </p:sp>
          <p:sp>
            <p:nvSpPr>
              <p:cNvPr id="150" name="TextBox 150"/>
              <p:cNvSpPr txBox="1"/>
              <p:nvPr/>
            </p:nvSpPr>
            <p:spPr>
              <a:xfrm>
                <a:off x="6110288" y="3656886"/>
                <a:ext cx="85081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账号运营责任模糊</a:t>
                </a:r>
              </a:p>
            </p:txBody>
          </p:sp>
          <p:sp>
            <p:nvSpPr>
              <p:cNvPr id="151" name="TextBox 151"/>
              <p:cNvSpPr txBox="1"/>
              <p:nvPr/>
            </p:nvSpPr>
            <p:spPr>
              <a:xfrm>
                <a:off x="6110288" y="382833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考核机制不健全</a:t>
                </a:r>
              </a:p>
            </p:txBody>
          </p:sp>
          <p:sp>
            <p:nvSpPr>
              <p:cNvPr id="152" name="TextBox 152"/>
              <p:cNvSpPr txBox="1"/>
              <p:nvPr/>
            </p:nvSpPr>
            <p:spPr>
              <a:xfrm>
                <a:off x="6110288" y="3999786"/>
                <a:ext cx="65965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缺乏有效督导</a:t>
                </a:r>
              </a:p>
            </p:txBody>
          </p:sp>
        </p:grpSp>
      </p:grpSp>
      <p:grpSp>
        <p:nvGrpSpPr>
          <p:cNvPr id="190" name="conversion-funnel"/>
          <p:cNvGrpSpPr/>
          <p:nvPr/>
        </p:nvGrpSpPr>
        <p:grpSpPr>
          <a:xfrm>
            <a:off x="7334250" y="1695450"/>
            <a:ext cx="4686300" cy="2990850"/>
            <a:chOff x="7334250" y="1695450"/>
            <a:chExt cx="4686300" cy="2990850"/>
          </a:xfrm>
        </p:grpSpPr>
        <p:sp>
          <p:nvSpPr>
            <p:cNvPr id="155" name="Rectangle 155"/>
            <p:cNvSpPr/>
            <p:nvPr/>
          </p:nvSpPr>
          <p:spPr>
            <a:xfrm>
              <a:off x="7334250" y="1695450"/>
              <a:ext cx="4686300" cy="2990850"/>
            </a:xfrm>
            <a:prstGeom prst="roundRect">
              <a:avLst>
                <a:gd name="adj" fmla="val 2548"/>
              </a:avLst>
            </a:prstGeom>
            <a:solidFill>
              <a:srgbClr val="FFFFFF"/>
            </a:solidFill>
            <a:ln w="9525">
              <a:solidFill>
                <a:srgbClr val="F1C7CC"/>
              </a:solidFill>
            </a:ln>
          </p:spPr>
        </p:sp>
        <p:sp>
          <p:nvSpPr>
            <p:cNvPr id="156" name="Polygon 156"/>
            <p:cNvSpPr/>
            <p:nvPr/>
          </p:nvSpPr>
          <p:spPr>
            <a:xfrm>
              <a:off x="7334250" y="1695450"/>
              <a:ext cx="1390650" cy="247650"/>
            </a:xfrm>
            <a:custGeom>
              <a:avLst/>
              <a:gdLst/>
              <a:ahLst/>
              <a:cxnLst/>
              <a:rect l="l" t="t" r="r" b="b"/>
              <a:pathLst>
                <a:path w="1390650" h="247650">
                  <a:moveTo>
                    <a:pt x="0" y="0"/>
                  </a:moveTo>
                  <a:lnTo>
                    <a:pt x="1390650" y="0"/>
                  </a:lnTo>
                  <a:lnTo>
                    <a:pt x="1276350" y="247650"/>
                  </a:lnTo>
                  <a:lnTo>
                    <a:pt x="0" y="247650"/>
                  </a:lnTo>
                  <a:close/>
                </a:path>
              </a:pathLst>
            </a:custGeom>
            <a:gradFill>
              <a:gsLst>
                <a:gs pos="0">
                  <a:srgbClr val="8F230A"/>
                </a:gs>
                <a:gs pos="100000">
                  <a:srgbClr val="C83210"/>
                </a:gs>
              </a:gsLst>
              <a:lin ang="0" scaled="1"/>
            </a:gradFill>
            <a:ln>
              <a:noFill/>
            </a:ln>
          </p:spPr>
        </p:sp>
        <p:sp>
          <p:nvSpPr>
            <p:cNvPr id="157" name="TextBox 157"/>
            <p:cNvSpPr txBox="1"/>
            <p:nvPr/>
          </p:nvSpPr>
          <p:spPr>
            <a:xfrm>
              <a:off x="7443597" y="1771174"/>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客户转化漏斗</a:t>
              </a:r>
            </a:p>
          </p:txBody>
        </p:sp>
        <p:sp>
          <p:nvSpPr>
            <p:cNvPr id="158" name="TextBox 158"/>
            <p:cNvSpPr txBox="1"/>
            <p:nvPr/>
          </p:nvSpPr>
          <p:spPr>
            <a:xfrm>
              <a:off x="8815388" y="1787366"/>
              <a:ext cx="2162099" cy="161925"/>
            </a:xfrm>
            <a:prstGeom prst="rect">
              <a:avLst/>
            </a:prstGeom>
            <a:noFill/>
            <a:ln>
              <a:noFill/>
            </a:ln>
          </p:spPr>
          <p:txBody>
            <a:bodyPr wrap="none" lIns="0" tIns="0" rIns="0" bIns="0" anchor="t" anchorCtr="0">
              <a:spAutoFit/>
            </a:bodyPr>
            <a:lstStyle/>
            <a:p>
              <a:pPr algn="l"/>
              <a:r>
                <a:rPr lang="zh-CN" sz="820" dirty="0">
                  <a:solidFill>
                    <a:srgbClr val="C83210"/>
                  </a:solidFill>
                  <a:latin typeface="+mn-lt"/>
                  <a:ea typeface="+mn-ea"/>
                  <a:cs typeface="+mn-cs"/>
                </a:rPr>
                <a:t xml:space="preserve">从100个企微好友到2个商机，转化率仅2%　</a:t>
              </a:r>
            </a:p>
          </p:txBody>
        </p:sp>
        <p:sp>
          <p:nvSpPr>
            <p:cNvPr id="159" name="TextBox 159"/>
            <p:cNvSpPr txBox="1"/>
            <p:nvPr/>
          </p:nvSpPr>
          <p:spPr>
            <a:xfrm>
              <a:off x="11181178" y="2075736"/>
              <a:ext cx="688144"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转化率(较上级)</a:t>
              </a:r>
            </a:p>
          </p:txBody>
        </p:sp>
        <p:sp>
          <p:nvSpPr>
            <p:cNvPr id="160" name="Polygon 160"/>
            <p:cNvSpPr/>
            <p:nvPr/>
          </p:nvSpPr>
          <p:spPr>
            <a:xfrm>
              <a:off x="8572500" y="2209800"/>
              <a:ext cx="2476500" cy="381000"/>
            </a:xfrm>
            <a:custGeom>
              <a:avLst/>
              <a:gdLst/>
              <a:ahLst/>
              <a:cxnLst/>
              <a:rect l="l" t="t" r="r" b="b"/>
              <a:pathLst>
                <a:path w="2476500" h="381000">
                  <a:moveTo>
                    <a:pt x="0" y="0"/>
                  </a:moveTo>
                  <a:lnTo>
                    <a:pt x="2476500" y="0"/>
                  </a:lnTo>
                  <a:lnTo>
                    <a:pt x="2314575" y="381000"/>
                  </a:lnTo>
                  <a:lnTo>
                    <a:pt x="161925" y="381000"/>
                  </a:lnTo>
                  <a:close/>
                </a:path>
              </a:pathLst>
            </a:custGeom>
            <a:solidFill>
              <a:srgbClr val="8F230A"/>
            </a:solidFill>
            <a:ln>
              <a:noFill/>
            </a:ln>
          </p:spPr>
        </p:sp>
        <p:sp>
          <p:nvSpPr>
            <p:cNvPr id="161" name="Polygon 161"/>
            <p:cNvSpPr/>
            <p:nvPr/>
          </p:nvSpPr>
          <p:spPr>
            <a:xfrm>
              <a:off x="8734425" y="2609850"/>
              <a:ext cx="2152650" cy="381000"/>
            </a:xfrm>
            <a:custGeom>
              <a:avLst/>
              <a:gdLst/>
              <a:ahLst/>
              <a:cxnLst/>
              <a:rect l="l" t="t" r="r" b="b"/>
              <a:pathLst>
                <a:path w="2152650" h="381000">
                  <a:moveTo>
                    <a:pt x="0" y="0"/>
                  </a:moveTo>
                  <a:lnTo>
                    <a:pt x="2152650" y="0"/>
                  </a:lnTo>
                  <a:lnTo>
                    <a:pt x="1990725" y="381000"/>
                  </a:lnTo>
                  <a:lnTo>
                    <a:pt x="161925" y="381000"/>
                  </a:lnTo>
                  <a:close/>
                </a:path>
              </a:pathLst>
            </a:custGeom>
            <a:solidFill>
              <a:srgbClr val="C83210"/>
            </a:solidFill>
            <a:ln>
              <a:noFill/>
            </a:ln>
          </p:spPr>
        </p:sp>
        <p:sp>
          <p:nvSpPr>
            <p:cNvPr id="162" name="Polygon 162"/>
            <p:cNvSpPr/>
            <p:nvPr/>
          </p:nvSpPr>
          <p:spPr>
            <a:xfrm>
              <a:off x="8896350" y="3009900"/>
              <a:ext cx="1828800" cy="381000"/>
            </a:xfrm>
            <a:custGeom>
              <a:avLst/>
              <a:gdLst/>
              <a:ahLst/>
              <a:cxnLst/>
              <a:rect l="l" t="t" r="r" b="b"/>
              <a:pathLst>
                <a:path w="1828800" h="381000">
                  <a:moveTo>
                    <a:pt x="0" y="0"/>
                  </a:moveTo>
                  <a:lnTo>
                    <a:pt x="1828800" y="0"/>
                  </a:lnTo>
                  <a:lnTo>
                    <a:pt x="1666875" y="381000"/>
                  </a:lnTo>
                  <a:lnTo>
                    <a:pt x="161925" y="381000"/>
                  </a:lnTo>
                  <a:close/>
                </a:path>
              </a:pathLst>
            </a:custGeom>
            <a:solidFill>
              <a:srgbClr val="D64F30"/>
            </a:solidFill>
            <a:ln>
              <a:noFill/>
            </a:ln>
          </p:spPr>
        </p:sp>
        <p:sp>
          <p:nvSpPr>
            <p:cNvPr id="163" name="Polygon 163"/>
            <p:cNvSpPr/>
            <p:nvPr/>
          </p:nvSpPr>
          <p:spPr>
            <a:xfrm>
              <a:off x="9058275" y="3409950"/>
              <a:ext cx="1504950" cy="381000"/>
            </a:xfrm>
            <a:custGeom>
              <a:avLst/>
              <a:gdLst/>
              <a:ahLst/>
              <a:cxnLst/>
              <a:rect l="l" t="t" r="r" b="b"/>
              <a:pathLst>
                <a:path w="1504950" h="381000">
                  <a:moveTo>
                    <a:pt x="0" y="0"/>
                  </a:moveTo>
                  <a:lnTo>
                    <a:pt x="1504950" y="0"/>
                  </a:lnTo>
                  <a:lnTo>
                    <a:pt x="1343025" y="381000"/>
                  </a:lnTo>
                  <a:lnTo>
                    <a:pt x="161925" y="381000"/>
                  </a:lnTo>
                  <a:close/>
                </a:path>
              </a:pathLst>
            </a:custGeom>
            <a:solidFill>
              <a:srgbClr val="E9826B"/>
            </a:solidFill>
            <a:ln>
              <a:noFill/>
            </a:ln>
          </p:spPr>
        </p:sp>
        <p:sp>
          <p:nvSpPr>
            <p:cNvPr id="164" name="Polygon 164"/>
            <p:cNvSpPr/>
            <p:nvPr/>
          </p:nvSpPr>
          <p:spPr>
            <a:xfrm>
              <a:off x="9220200" y="3810000"/>
              <a:ext cx="1181100" cy="381000"/>
            </a:xfrm>
            <a:custGeom>
              <a:avLst/>
              <a:gdLst/>
              <a:ahLst/>
              <a:cxnLst/>
              <a:rect l="l" t="t" r="r" b="b"/>
              <a:pathLst>
                <a:path w="1181100" h="381000">
                  <a:moveTo>
                    <a:pt x="0" y="0"/>
                  </a:moveTo>
                  <a:lnTo>
                    <a:pt x="1181100" y="0"/>
                  </a:lnTo>
                  <a:lnTo>
                    <a:pt x="1019175" y="381000"/>
                  </a:lnTo>
                  <a:lnTo>
                    <a:pt x="161925" y="381000"/>
                  </a:lnTo>
                  <a:close/>
                </a:path>
              </a:pathLst>
            </a:custGeom>
            <a:solidFill>
              <a:srgbClr val="F3B2A3"/>
            </a:solidFill>
            <a:ln>
              <a:noFill/>
            </a:ln>
          </p:spPr>
        </p:sp>
        <p:sp>
          <p:nvSpPr>
            <p:cNvPr id="165" name="Polygon 165"/>
            <p:cNvSpPr/>
            <p:nvPr/>
          </p:nvSpPr>
          <p:spPr>
            <a:xfrm>
              <a:off x="9382125" y="4210050"/>
              <a:ext cx="857250" cy="381000"/>
            </a:xfrm>
            <a:custGeom>
              <a:avLst/>
              <a:gdLst/>
              <a:ahLst/>
              <a:cxnLst/>
              <a:rect l="l" t="t" r="r" b="b"/>
              <a:pathLst>
                <a:path w="857250" h="381000">
                  <a:moveTo>
                    <a:pt x="0" y="0"/>
                  </a:moveTo>
                  <a:lnTo>
                    <a:pt x="857250" y="0"/>
                  </a:lnTo>
                  <a:lnTo>
                    <a:pt x="695325" y="381000"/>
                  </a:lnTo>
                  <a:lnTo>
                    <a:pt x="161925" y="381000"/>
                  </a:lnTo>
                  <a:close/>
                </a:path>
              </a:pathLst>
            </a:custGeom>
            <a:solidFill>
              <a:srgbClr val="F8D2C9"/>
            </a:solidFill>
            <a:ln>
              <a:noFill/>
            </a:ln>
          </p:spPr>
        </p:sp>
        <p:sp>
          <p:nvSpPr>
            <p:cNvPr id="166" name="TextBox 166"/>
            <p:cNvSpPr txBox="1"/>
            <p:nvPr/>
          </p:nvSpPr>
          <p:spPr>
            <a:xfrm>
              <a:off x="9669878" y="2327910"/>
              <a:ext cx="2817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Arial"/>
                  <a:cs typeface="Arial"/>
                </a:rPr>
                <a:t>100</a:t>
              </a:r>
            </a:p>
          </p:txBody>
        </p:sp>
        <p:sp>
          <p:nvSpPr>
            <p:cNvPr id="167" name="TextBox 167"/>
            <p:cNvSpPr txBox="1"/>
            <p:nvPr/>
          </p:nvSpPr>
          <p:spPr>
            <a:xfrm>
              <a:off x="9714803" y="2727960"/>
              <a:ext cx="19189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Arial"/>
                  <a:cs typeface="Arial"/>
                </a:rPr>
                <a:t>44</a:t>
              </a:r>
            </a:p>
          </p:txBody>
        </p:sp>
        <p:sp>
          <p:nvSpPr>
            <p:cNvPr id="168" name="TextBox 168"/>
            <p:cNvSpPr txBox="1"/>
            <p:nvPr/>
          </p:nvSpPr>
          <p:spPr>
            <a:xfrm>
              <a:off x="9714803" y="3128010"/>
              <a:ext cx="19189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Arial"/>
                  <a:cs typeface="Arial"/>
                </a:rPr>
                <a:t>31</a:t>
              </a:r>
            </a:p>
          </p:txBody>
        </p:sp>
        <p:sp>
          <p:nvSpPr>
            <p:cNvPr id="169" name="TextBox 169"/>
            <p:cNvSpPr txBox="1"/>
            <p:nvPr/>
          </p:nvSpPr>
          <p:spPr>
            <a:xfrm>
              <a:off x="9714803" y="3528060"/>
              <a:ext cx="19189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Arial"/>
                  <a:cs typeface="Arial"/>
                </a:rPr>
                <a:t>18</a:t>
              </a:r>
            </a:p>
          </p:txBody>
        </p:sp>
        <p:sp>
          <p:nvSpPr>
            <p:cNvPr id="170" name="TextBox 170"/>
            <p:cNvSpPr txBox="1"/>
            <p:nvPr/>
          </p:nvSpPr>
          <p:spPr>
            <a:xfrm>
              <a:off x="9759729" y="3928110"/>
              <a:ext cx="102043" cy="234696"/>
            </a:xfrm>
            <a:prstGeom prst="rect">
              <a:avLst/>
            </a:prstGeom>
            <a:noFill/>
            <a:ln>
              <a:noFill/>
            </a:ln>
          </p:spPr>
          <p:txBody>
            <a:bodyPr wrap="none" lIns="0" tIns="0" rIns="0" bIns="0" anchor="t" anchorCtr="0">
              <a:spAutoFit/>
            </a:bodyPr>
            <a:lstStyle/>
            <a:p>
              <a:pPr algn="ctr"/>
              <a:r>
                <a:rPr lang="zh-CN" sz="1200" b="1" dirty="0">
                  <a:solidFill>
                    <a:srgbClr val="8F230A"/>
                  </a:solidFill>
                  <a:latin typeface="Arial"/>
                  <a:ea typeface="Arial"/>
                  <a:cs typeface="Arial"/>
                </a:rPr>
                <a:t>7</a:t>
              </a:r>
            </a:p>
          </p:txBody>
        </p:sp>
        <p:sp>
          <p:nvSpPr>
            <p:cNvPr id="171" name="TextBox 171"/>
            <p:cNvSpPr txBox="1"/>
            <p:nvPr/>
          </p:nvSpPr>
          <p:spPr>
            <a:xfrm>
              <a:off x="9759729" y="4328160"/>
              <a:ext cx="102043" cy="234696"/>
            </a:xfrm>
            <a:prstGeom prst="rect">
              <a:avLst/>
            </a:prstGeom>
            <a:noFill/>
            <a:ln>
              <a:noFill/>
            </a:ln>
          </p:spPr>
          <p:txBody>
            <a:bodyPr wrap="none" lIns="0" tIns="0" rIns="0" bIns="0" anchor="t" anchorCtr="0">
              <a:spAutoFit/>
            </a:bodyPr>
            <a:lstStyle/>
            <a:p>
              <a:pPr algn="ctr"/>
              <a:r>
                <a:rPr lang="zh-CN" sz="1200" b="1" dirty="0">
                  <a:solidFill>
                    <a:srgbClr val="8F230A"/>
                  </a:solidFill>
                  <a:latin typeface="Arial"/>
                  <a:ea typeface="Arial"/>
                  <a:cs typeface="Arial"/>
                </a:rPr>
                <a:t>2</a:t>
              </a:r>
            </a:p>
          </p:txBody>
        </p:sp>
        <p:sp>
          <p:nvSpPr>
            <p:cNvPr id="172" name="TextBox 172"/>
            <p:cNvSpPr txBox="1"/>
            <p:nvPr/>
          </p:nvSpPr>
          <p:spPr>
            <a:xfrm>
              <a:off x="7481888" y="2354818"/>
              <a:ext cx="704164" cy="169069"/>
            </a:xfrm>
            <a:prstGeom prst="rect">
              <a:avLst/>
            </a:prstGeom>
            <a:noFill/>
            <a:ln>
              <a:noFill/>
            </a:ln>
          </p:spPr>
          <p:txBody>
            <a:bodyPr wrap="none" lIns="0" tIns="0" rIns="0" bIns="0" anchor="t" anchorCtr="0">
              <a:spAutoFit/>
            </a:bodyPr>
            <a:lstStyle/>
            <a:p>
              <a:pPr algn="l"/>
              <a:r>
                <a:rPr lang="zh-CN" sz="860" dirty="0">
                  <a:solidFill>
                    <a:srgbClr val="222222"/>
                  </a:solidFill>
                  <a:latin typeface="+mn-lt"/>
                  <a:ea typeface="+mn-ea"/>
                  <a:cs typeface="+mn-cs"/>
                </a:rPr>
                <a:t>添加企微好友</a:t>
              </a:r>
            </a:p>
          </p:txBody>
        </p:sp>
        <p:sp>
          <p:nvSpPr>
            <p:cNvPr id="173" name="TextBox 173"/>
            <p:cNvSpPr txBox="1"/>
            <p:nvPr/>
          </p:nvSpPr>
          <p:spPr>
            <a:xfrm>
              <a:off x="7481888" y="2754868"/>
              <a:ext cx="704164" cy="169069"/>
            </a:xfrm>
            <a:prstGeom prst="rect">
              <a:avLst/>
            </a:prstGeom>
            <a:noFill/>
            <a:ln>
              <a:noFill/>
            </a:ln>
          </p:spPr>
          <p:txBody>
            <a:bodyPr wrap="none" lIns="0" tIns="0" rIns="0" bIns="0" anchor="t" anchorCtr="0">
              <a:spAutoFit/>
            </a:bodyPr>
            <a:lstStyle/>
            <a:p>
              <a:pPr algn="l"/>
              <a:r>
                <a:rPr lang="zh-CN" sz="860" dirty="0">
                  <a:solidFill>
                    <a:srgbClr val="222222"/>
                  </a:solidFill>
                  <a:latin typeface="+mn-lt"/>
                  <a:ea typeface="+mn-ea"/>
                  <a:cs typeface="+mn-cs"/>
                </a:rPr>
                <a:t>完成身份认证</a:t>
              </a:r>
            </a:p>
          </p:txBody>
        </p:sp>
        <p:sp>
          <p:nvSpPr>
            <p:cNvPr id="174" name="TextBox 174"/>
            <p:cNvSpPr txBox="1"/>
            <p:nvPr/>
          </p:nvSpPr>
          <p:spPr>
            <a:xfrm>
              <a:off x="7481888" y="3154918"/>
              <a:ext cx="704164" cy="169069"/>
            </a:xfrm>
            <a:prstGeom prst="rect">
              <a:avLst/>
            </a:prstGeom>
            <a:noFill/>
            <a:ln>
              <a:noFill/>
            </a:ln>
          </p:spPr>
          <p:txBody>
            <a:bodyPr wrap="none" lIns="0" tIns="0" rIns="0" bIns="0" anchor="t" anchorCtr="0">
              <a:spAutoFit/>
            </a:bodyPr>
            <a:lstStyle/>
            <a:p>
              <a:pPr algn="l"/>
              <a:r>
                <a:rPr lang="zh-CN" sz="860" dirty="0">
                  <a:solidFill>
                    <a:srgbClr val="222222"/>
                  </a:solidFill>
                  <a:latin typeface="+mn-lt"/>
                  <a:ea typeface="+mn-ea"/>
                  <a:cs typeface="+mn-cs"/>
                </a:rPr>
                <a:t>配置客户标签</a:t>
              </a:r>
            </a:p>
          </p:txBody>
        </p:sp>
        <p:sp>
          <p:nvSpPr>
            <p:cNvPr id="175" name="TextBox 175"/>
            <p:cNvSpPr txBox="1"/>
            <p:nvPr/>
          </p:nvSpPr>
          <p:spPr>
            <a:xfrm>
              <a:off x="7481888" y="3554968"/>
              <a:ext cx="704164" cy="169069"/>
            </a:xfrm>
            <a:prstGeom prst="rect">
              <a:avLst/>
            </a:prstGeom>
            <a:noFill/>
            <a:ln>
              <a:noFill/>
            </a:ln>
          </p:spPr>
          <p:txBody>
            <a:bodyPr wrap="none" lIns="0" tIns="0" rIns="0" bIns="0" anchor="t" anchorCtr="0">
              <a:spAutoFit/>
            </a:bodyPr>
            <a:lstStyle/>
            <a:p>
              <a:pPr algn="l"/>
              <a:r>
                <a:rPr lang="zh-CN" sz="860" dirty="0">
                  <a:solidFill>
                    <a:srgbClr val="222222"/>
                  </a:solidFill>
                  <a:latin typeface="+mn-lt"/>
                  <a:ea typeface="+mn-ea"/>
                  <a:cs typeface="+mn-cs"/>
                </a:rPr>
                <a:t>有效内容触达</a:t>
              </a:r>
            </a:p>
          </p:txBody>
        </p:sp>
        <p:sp>
          <p:nvSpPr>
            <p:cNvPr id="176" name="TextBox 176"/>
            <p:cNvSpPr txBox="1"/>
            <p:nvPr/>
          </p:nvSpPr>
          <p:spPr>
            <a:xfrm>
              <a:off x="7481888" y="3955018"/>
              <a:ext cx="704164" cy="169069"/>
            </a:xfrm>
            <a:prstGeom prst="rect">
              <a:avLst/>
            </a:prstGeom>
            <a:noFill/>
            <a:ln>
              <a:noFill/>
            </a:ln>
          </p:spPr>
          <p:txBody>
            <a:bodyPr wrap="none" lIns="0" tIns="0" rIns="0" bIns="0" anchor="t" anchorCtr="0">
              <a:spAutoFit/>
            </a:bodyPr>
            <a:lstStyle/>
            <a:p>
              <a:pPr algn="l"/>
              <a:r>
                <a:rPr lang="zh-CN" sz="860" dirty="0">
                  <a:solidFill>
                    <a:srgbClr val="222222"/>
                  </a:solidFill>
                  <a:latin typeface="+mn-lt"/>
                  <a:ea typeface="+mn-ea"/>
                  <a:cs typeface="+mn-cs"/>
                </a:rPr>
                <a:t>产生互动行为</a:t>
              </a:r>
            </a:p>
          </p:txBody>
        </p:sp>
        <p:sp>
          <p:nvSpPr>
            <p:cNvPr id="177" name="TextBox 177"/>
            <p:cNvSpPr txBox="1"/>
            <p:nvPr/>
          </p:nvSpPr>
          <p:spPr>
            <a:xfrm>
              <a:off x="7481888" y="4355068"/>
              <a:ext cx="704164" cy="169069"/>
            </a:xfrm>
            <a:prstGeom prst="rect">
              <a:avLst/>
            </a:prstGeom>
            <a:noFill/>
            <a:ln>
              <a:noFill/>
            </a:ln>
          </p:spPr>
          <p:txBody>
            <a:bodyPr wrap="none" lIns="0" tIns="0" rIns="0" bIns="0" anchor="t" anchorCtr="0">
              <a:spAutoFit/>
            </a:bodyPr>
            <a:lstStyle/>
            <a:p>
              <a:pPr algn="l"/>
              <a:r>
                <a:rPr lang="zh-CN" sz="860" dirty="0">
                  <a:solidFill>
                    <a:srgbClr val="222222"/>
                  </a:solidFill>
                  <a:latin typeface="+mn-lt"/>
                  <a:ea typeface="+mn-ea"/>
                  <a:cs typeface="+mn-cs"/>
                </a:rPr>
                <a:t>形成销售商机</a:t>
              </a:r>
            </a:p>
          </p:txBody>
        </p:sp>
        <p:sp>
          <p:nvSpPr>
            <p:cNvPr id="178" name="Rectangle 178"/>
            <p:cNvSpPr/>
            <p:nvPr/>
          </p:nvSpPr>
          <p:spPr>
            <a:xfrm>
              <a:off x="11163300" y="2286000"/>
              <a:ext cx="723900" cy="228600"/>
            </a:xfrm>
            <a:prstGeom prst="roundRect">
              <a:avLst>
                <a:gd name="adj" fmla="val 50000"/>
              </a:avLst>
            </a:prstGeom>
            <a:solidFill>
              <a:srgbClr val="FBE3E6"/>
            </a:solidFill>
            <a:ln>
              <a:noFill/>
            </a:ln>
          </p:spPr>
        </p:sp>
        <p:sp>
          <p:nvSpPr>
            <p:cNvPr id="179" name="Rectangle 179"/>
            <p:cNvSpPr/>
            <p:nvPr/>
          </p:nvSpPr>
          <p:spPr>
            <a:xfrm>
              <a:off x="11163300" y="2686050"/>
              <a:ext cx="723900" cy="228600"/>
            </a:xfrm>
            <a:prstGeom prst="roundRect">
              <a:avLst>
                <a:gd name="adj" fmla="val 50000"/>
              </a:avLst>
            </a:prstGeom>
            <a:solidFill>
              <a:srgbClr val="FBE3E6"/>
            </a:solidFill>
            <a:ln>
              <a:noFill/>
            </a:ln>
          </p:spPr>
        </p:sp>
        <p:sp>
          <p:nvSpPr>
            <p:cNvPr id="180" name="Rectangle 180"/>
            <p:cNvSpPr/>
            <p:nvPr/>
          </p:nvSpPr>
          <p:spPr>
            <a:xfrm>
              <a:off x="11163300" y="3086100"/>
              <a:ext cx="723900" cy="228600"/>
            </a:xfrm>
            <a:prstGeom prst="roundRect">
              <a:avLst>
                <a:gd name="adj" fmla="val 50000"/>
              </a:avLst>
            </a:prstGeom>
            <a:solidFill>
              <a:srgbClr val="FBE3E6"/>
            </a:solidFill>
            <a:ln>
              <a:noFill/>
            </a:ln>
          </p:spPr>
        </p:sp>
        <p:sp>
          <p:nvSpPr>
            <p:cNvPr id="181" name="Rectangle 181"/>
            <p:cNvSpPr/>
            <p:nvPr/>
          </p:nvSpPr>
          <p:spPr>
            <a:xfrm>
              <a:off x="11163300" y="3486150"/>
              <a:ext cx="723900" cy="228600"/>
            </a:xfrm>
            <a:prstGeom prst="roundRect">
              <a:avLst>
                <a:gd name="adj" fmla="val 50000"/>
              </a:avLst>
            </a:prstGeom>
            <a:solidFill>
              <a:srgbClr val="FBE3E6"/>
            </a:solidFill>
            <a:ln>
              <a:noFill/>
            </a:ln>
          </p:spPr>
        </p:sp>
        <p:sp>
          <p:nvSpPr>
            <p:cNvPr id="182" name="Rectangle 182"/>
            <p:cNvSpPr/>
            <p:nvPr/>
          </p:nvSpPr>
          <p:spPr>
            <a:xfrm>
              <a:off x="11163300" y="3886200"/>
              <a:ext cx="723900" cy="228600"/>
            </a:xfrm>
            <a:prstGeom prst="roundRect">
              <a:avLst>
                <a:gd name="adj" fmla="val 50000"/>
              </a:avLst>
            </a:prstGeom>
            <a:solidFill>
              <a:srgbClr val="FBE3E6"/>
            </a:solidFill>
            <a:ln>
              <a:noFill/>
            </a:ln>
          </p:spPr>
        </p:sp>
        <p:sp>
          <p:nvSpPr>
            <p:cNvPr id="183" name="Rectangle 183"/>
            <p:cNvSpPr/>
            <p:nvPr/>
          </p:nvSpPr>
          <p:spPr>
            <a:xfrm>
              <a:off x="11163300" y="4286250"/>
              <a:ext cx="723900" cy="228600"/>
            </a:xfrm>
            <a:prstGeom prst="roundRect">
              <a:avLst>
                <a:gd name="adj" fmla="val 50000"/>
              </a:avLst>
            </a:prstGeom>
            <a:solidFill>
              <a:srgbClr val="FBE3E6"/>
            </a:solidFill>
            <a:ln>
              <a:noFill/>
            </a:ln>
          </p:spPr>
        </p:sp>
        <p:sp>
          <p:nvSpPr>
            <p:cNvPr id="184" name="TextBox 184"/>
            <p:cNvSpPr txBox="1"/>
            <p:nvPr/>
          </p:nvSpPr>
          <p:spPr>
            <a:xfrm>
              <a:off x="11372425" y="2354818"/>
              <a:ext cx="305650" cy="169069"/>
            </a:xfrm>
            <a:prstGeom prst="rect">
              <a:avLst/>
            </a:prstGeom>
            <a:noFill/>
            <a:ln>
              <a:noFill/>
            </a:ln>
          </p:spPr>
          <p:txBody>
            <a:bodyPr wrap="none" lIns="0" tIns="0" rIns="0" bIns="0" anchor="t" anchorCtr="0">
              <a:spAutoFit/>
            </a:bodyPr>
            <a:lstStyle/>
            <a:p>
              <a:pPr algn="ctr"/>
              <a:r>
                <a:rPr lang="zh-CN" sz="860" b="1" dirty="0">
                  <a:solidFill>
                    <a:srgbClr val="C83210"/>
                  </a:solidFill>
                  <a:latin typeface="Arial"/>
                  <a:ea typeface="Arial"/>
                  <a:cs typeface="Arial"/>
                </a:rPr>
                <a:t>100%</a:t>
              </a:r>
            </a:p>
          </p:txBody>
        </p:sp>
        <p:sp>
          <p:nvSpPr>
            <p:cNvPr id="185" name="TextBox 185"/>
            <p:cNvSpPr txBox="1"/>
            <p:nvPr/>
          </p:nvSpPr>
          <p:spPr>
            <a:xfrm>
              <a:off x="11356344" y="2754868"/>
              <a:ext cx="337811" cy="169069"/>
            </a:xfrm>
            <a:prstGeom prst="rect">
              <a:avLst/>
            </a:prstGeom>
            <a:noFill/>
            <a:ln>
              <a:noFill/>
            </a:ln>
          </p:spPr>
          <p:txBody>
            <a:bodyPr wrap="none" lIns="0" tIns="0" rIns="0" bIns="0" anchor="t" anchorCtr="0">
              <a:spAutoFit/>
            </a:bodyPr>
            <a:lstStyle/>
            <a:p>
              <a:pPr algn="ctr"/>
              <a:r>
                <a:rPr lang="zh-CN" sz="860" b="1" dirty="0">
                  <a:solidFill>
                    <a:srgbClr val="C83210"/>
                  </a:solidFill>
                  <a:latin typeface="Arial"/>
                  <a:ea typeface="Arial"/>
                  <a:cs typeface="Arial"/>
                </a:rPr>
                <a:t>74.0%</a:t>
              </a:r>
            </a:p>
          </p:txBody>
        </p:sp>
        <p:sp>
          <p:nvSpPr>
            <p:cNvPr id="186" name="TextBox 186"/>
            <p:cNvSpPr txBox="1"/>
            <p:nvPr/>
          </p:nvSpPr>
          <p:spPr>
            <a:xfrm>
              <a:off x="11356344" y="3154918"/>
              <a:ext cx="337811" cy="169069"/>
            </a:xfrm>
            <a:prstGeom prst="rect">
              <a:avLst/>
            </a:prstGeom>
            <a:noFill/>
            <a:ln>
              <a:noFill/>
            </a:ln>
          </p:spPr>
          <p:txBody>
            <a:bodyPr wrap="none" lIns="0" tIns="0" rIns="0" bIns="0" anchor="t" anchorCtr="0">
              <a:spAutoFit/>
            </a:bodyPr>
            <a:lstStyle/>
            <a:p>
              <a:pPr algn="ctr"/>
              <a:r>
                <a:rPr lang="zh-CN" sz="860" b="1" dirty="0">
                  <a:solidFill>
                    <a:srgbClr val="C83210"/>
                  </a:solidFill>
                  <a:latin typeface="Arial"/>
                  <a:ea typeface="Arial"/>
                  <a:cs typeface="Arial"/>
                </a:rPr>
                <a:t>58.1%</a:t>
              </a:r>
            </a:p>
          </p:txBody>
        </p:sp>
        <p:sp>
          <p:nvSpPr>
            <p:cNvPr id="187" name="TextBox 187"/>
            <p:cNvSpPr txBox="1"/>
            <p:nvPr/>
          </p:nvSpPr>
          <p:spPr>
            <a:xfrm>
              <a:off x="11356344" y="3554968"/>
              <a:ext cx="337811" cy="169069"/>
            </a:xfrm>
            <a:prstGeom prst="rect">
              <a:avLst/>
            </a:prstGeom>
            <a:noFill/>
            <a:ln>
              <a:noFill/>
            </a:ln>
          </p:spPr>
          <p:txBody>
            <a:bodyPr wrap="none" lIns="0" tIns="0" rIns="0" bIns="0" anchor="t" anchorCtr="0">
              <a:spAutoFit/>
            </a:bodyPr>
            <a:lstStyle/>
            <a:p>
              <a:pPr algn="ctr"/>
              <a:r>
                <a:rPr lang="zh-CN" sz="860" b="1" dirty="0">
                  <a:solidFill>
                    <a:srgbClr val="C83210"/>
                  </a:solidFill>
                  <a:latin typeface="Arial"/>
                  <a:ea typeface="Arial"/>
                  <a:cs typeface="Arial"/>
                </a:rPr>
                <a:t>38.9%</a:t>
              </a:r>
            </a:p>
          </p:txBody>
        </p:sp>
        <p:sp>
          <p:nvSpPr>
            <p:cNvPr id="188" name="TextBox 188"/>
            <p:cNvSpPr txBox="1"/>
            <p:nvPr/>
          </p:nvSpPr>
          <p:spPr>
            <a:xfrm>
              <a:off x="11356344" y="3955018"/>
              <a:ext cx="337811" cy="169069"/>
            </a:xfrm>
            <a:prstGeom prst="rect">
              <a:avLst/>
            </a:prstGeom>
            <a:noFill/>
            <a:ln>
              <a:noFill/>
            </a:ln>
          </p:spPr>
          <p:txBody>
            <a:bodyPr wrap="none" lIns="0" tIns="0" rIns="0" bIns="0" anchor="t" anchorCtr="0">
              <a:spAutoFit/>
            </a:bodyPr>
            <a:lstStyle/>
            <a:p>
              <a:pPr algn="ctr"/>
              <a:r>
                <a:rPr lang="zh-CN" sz="860" b="1" dirty="0">
                  <a:solidFill>
                    <a:srgbClr val="C83210"/>
                  </a:solidFill>
                  <a:latin typeface="Arial"/>
                  <a:ea typeface="Arial"/>
                  <a:cs typeface="Arial"/>
                </a:rPr>
                <a:t>28.6%</a:t>
              </a:r>
            </a:p>
          </p:txBody>
        </p:sp>
        <p:sp>
          <p:nvSpPr>
            <p:cNvPr id="189" name="TextBox 189"/>
            <p:cNvSpPr txBox="1"/>
            <p:nvPr/>
          </p:nvSpPr>
          <p:spPr>
            <a:xfrm>
              <a:off x="11388541" y="4355068"/>
              <a:ext cx="273418" cy="169069"/>
            </a:xfrm>
            <a:prstGeom prst="rect">
              <a:avLst/>
            </a:prstGeom>
            <a:noFill/>
            <a:ln>
              <a:noFill/>
            </a:ln>
          </p:spPr>
          <p:txBody>
            <a:bodyPr wrap="none" lIns="0" tIns="0" rIns="0" bIns="0" anchor="t" anchorCtr="0">
              <a:spAutoFit/>
            </a:bodyPr>
            <a:lstStyle/>
            <a:p>
              <a:pPr algn="ctr"/>
              <a:r>
                <a:rPr lang="zh-CN" sz="860" b="1" dirty="0">
                  <a:solidFill>
                    <a:srgbClr val="C83210"/>
                  </a:solidFill>
                  <a:latin typeface="Arial"/>
                  <a:ea typeface="Arial"/>
                  <a:cs typeface="Arial"/>
                </a:rPr>
                <a:t>2.0%</a:t>
              </a:r>
            </a:p>
          </p:txBody>
        </p:sp>
      </p:grpSp>
      <p:grpSp>
        <p:nvGrpSpPr>
          <p:cNvPr id="264" name="root-cause-matrix"/>
          <p:cNvGrpSpPr/>
          <p:nvPr/>
        </p:nvGrpSpPr>
        <p:grpSpPr>
          <a:xfrm>
            <a:off x="171450" y="4781550"/>
            <a:ext cx="11849100" cy="2019300"/>
            <a:chOff x="171450" y="4781550"/>
            <a:chExt cx="11849100" cy="2019300"/>
          </a:xfrm>
        </p:grpSpPr>
        <p:sp>
          <p:nvSpPr>
            <p:cNvPr id="191" name="Rectangle 191"/>
            <p:cNvSpPr/>
            <p:nvPr/>
          </p:nvSpPr>
          <p:spPr>
            <a:xfrm>
              <a:off x="171450" y="4781550"/>
              <a:ext cx="11849100" cy="2019300"/>
            </a:xfrm>
            <a:prstGeom prst="roundRect">
              <a:avLst>
                <a:gd name="adj" fmla="val 3774"/>
              </a:avLst>
            </a:prstGeom>
            <a:solidFill>
              <a:srgbClr val="FFFFFF"/>
            </a:solidFill>
            <a:ln w="9525">
              <a:solidFill>
                <a:srgbClr val="F1C7CC"/>
              </a:solidFill>
            </a:ln>
          </p:spPr>
        </p:sp>
        <p:sp>
          <p:nvSpPr>
            <p:cNvPr id="192" name="Polygon 192"/>
            <p:cNvSpPr/>
            <p:nvPr/>
          </p:nvSpPr>
          <p:spPr>
            <a:xfrm>
              <a:off x="171450" y="4781550"/>
              <a:ext cx="1409700" cy="247650"/>
            </a:xfrm>
            <a:custGeom>
              <a:avLst/>
              <a:gdLst/>
              <a:ahLst/>
              <a:cxnLst/>
              <a:rect l="l" t="t" r="r" b="b"/>
              <a:pathLst>
                <a:path w="1409700" h="247650">
                  <a:moveTo>
                    <a:pt x="0" y="0"/>
                  </a:moveTo>
                  <a:lnTo>
                    <a:pt x="1409700" y="0"/>
                  </a:lnTo>
                  <a:lnTo>
                    <a:pt x="1295400" y="247650"/>
                  </a:lnTo>
                  <a:lnTo>
                    <a:pt x="0" y="247650"/>
                  </a:lnTo>
                  <a:close/>
                </a:path>
              </a:pathLst>
            </a:custGeom>
            <a:gradFill>
              <a:gsLst>
                <a:gs pos="0">
                  <a:srgbClr val="8F230A"/>
                </a:gs>
                <a:gs pos="100000">
                  <a:srgbClr val="C83210"/>
                </a:gs>
              </a:gsLst>
              <a:lin ang="0" scaled="1"/>
            </a:gradFill>
            <a:ln>
              <a:noFill/>
            </a:ln>
          </p:spPr>
        </p:sp>
        <p:sp>
          <p:nvSpPr>
            <p:cNvPr id="193" name="TextBox 193"/>
            <p:cNvSpPr txBox="1"/>
            <p:nvPr/>
          </p:nvSpPr>
          <p:spPr>
            <a:xfrm>
              <a:off x="280797" y="4857274"/>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根因分析矩阵</a:t>
              </a:r>
            </a:p>
          </p:txBody>
        </p:sp>
        <p:sp>
          <p:nvSpPr>
            <p:cNvPr id="194" name="TextBox 194"/>
            <p:cNvSpPr txBox="1"/>
            <p:nvPr/>
          </p:nvSpPr>
          <p:spPr>
            <a:xfrm>
              <a:off x="1690688" y="4873466"/>
              <a:ext cx="2879623" cy="161925"/>
            </a:xfrm>
            <a:prstGeom prst="rect">
              <a:avLst/>
            </a:prstGeom>
            <a:noFill/>
            <a:ln>
              <a:noFill/>
            </a:ln>
          </p:spPr>
          <p:txBody>
            <a:bodyPr wrap="none" lIns="0" tIns="0" rIns="0" bIns="0" anchor="t" anchorCtr="0">
              <a:spAutoFit/>
            </a:bodyPr>
            <a:lstStyle/>
            <a:p>
              <a:pPr algn="l"/>
              <a:r>
                <a:rPr lang="zh-CN" sz="820" dirty="0">
                  <a:solidFill>
                    <a:srgbClr val="C83210"/>
                  </a:solidFill>
                  <a:latin typeface="+mn-lt"/>
                  <a:ea typeface="+mn-ea"/>
                  <a:cs typeface="+mn-cs"/>
                </a:rPr>
                <a:t>从机制、管理、执行、能力、系统五个维度，定位问题根源</a:t>
              </a:r>
            </a:p>
          </p:txBody>
        </p:sp>
        <p:sp>
          <p:nvSpPr>
            <p:cNvPr id="195" name="Rectangle 195"/>
            <p:cNvSpPr/>
            <p:nvPr/>
          </p:nvSpPr>
          <p:spPr>
            <a:xfrm>
              <a:off x="228600" y="5105400"/>
              <a:ext cx="11734800" cy="228600"/>
            </a:xfrm>
            <a:prstGeom prst="rect">
              <a:avLst/>
            </a:prstGeom>
            <a:gradFill>
              <a:gsLst>
                <a:gs pos="0">
                  <a:srgbClr val="C83210"/>
                </a:gs>
                <a:gs pos="45000">
                  <a:srgbClr val="E9826B"/>
                </a:gs>
                <a:gs pos="100000">
                  <a:srgbClr val="F8D2C9"/>
                </a:gs>
              </a:gsLst>
              <a:lin ang="0" scaled="1"/>
            </a:gradFill>
            <a:ln>
              <a:noFill/>
            </a:ln>
          </p:spPr>
        </p:sp>
        <p:sp>
          <p:nvSpPr>
            <p:cNvPr id="196" name="TextBox 196"/>
            <p:cNvSpPr txBox="1"/>
            <p:nvPr/>
          </p:nvSpPr>
          <p:spPr>
            <a:xfrm>
              <a:off x="650888" y="5182314"/>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维度</a:t>
              </a:r>
            </a:p>
          </p:txBody>
        </p:sp>
        <p:sp>
          <p:nvSpPr>
            <p:cNvPr id="197" name="TextBox 197"/>
            <p:cNvSpPr txBox="1"/>
            <p:nvPr/>
          </p:nvSpPr>
          <p:spPr>
            <a:xfrm>
              <a:off x="2544788" y="51823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典型症状</a:t>
              </a:r>
            </a:p>
          </p:txBody>
        </p:sp>
        <p:sp>
          <p:nvSpPr>
            <p:cNvPr id="198" name="TextBox 198"/>
            <p:cNvSpPr txBox="1"/>
            <p:nvPr/>
          </p:nvSpPr>
          <p:spPr>
            <a:xfrm>
              <a:off x="5116538" y="51823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核心原因</a:t>
              </a:r>
            </a:p>
          </p:txBody>
        </p:sp>
        <p:sp>
          <p:nvSpPr>
            <p:cNvPr id="199" name="TextBox 199"/>
            <p:cNvSpPr txBox="1"/>
            <p:nvPr/>
          </p:nvSpPr>
          <p:spPr>
            <a:xfrm>
              <a:off x="7539863" y="5182314"/>
              <a:ext cx="541274" cy="154781"/>
            </a:xfrm>
            <a:prstGeom prst="rect">
              <a:avLst/>
            </a:prstGeom>
            <a:noFill/>
            <a:ln>
              <a:noFill/>
            </a:ln>
          </p:spPr>
          <p:txBody>
            <a:bodyPr wrap="none" lIns="0" tIns="0" rIns="0" bIns="0" anchor="t" anchorCtr="0">
              <a:spAutoFit/>
            </a:bodyPr>
            <a:lstStyle/>
            <a:p>
              <a:pPr algn="ctr"/>
              <a:r>
                <a:rPr lang="zh-CN" sz="790" b="1" dirty="0">
                  <a:solidFill>
                    <a:srgbClr val="8F230A"/>
                  </a:solidFill>
                  <a:latin typeface="+mn-lt"/>
                  <a:ea typeface="+mn-ea"/>
                  <a:cs typeface="+mn-cs"/>
                </a:rPr>
                <a:t>产生的影响</a:t>
              </a:r>
            </a:p>
          </p:txBody>
        </p:sp>
        <p:sp>
          <p:nvSpPr>
            <p:cNvPr id="200" name="TextBox 200"/>
            <p:cNvSpPr txBox="1"/>
            <p:nvPr/>
          </p:nvSpPr>
          <p:spPr>
            <a:xfrm>
              <a:off x="10069538" y="5182314"/>
              <a:ext cx="434924" cy="154781"/>
            </a:xfrm>
            <a:prstGeom prst="rect">
              <a:avLst/>
            </a:prstGeom>
            <a:noFill/>
            <a:ln>
              <a:noFill/>
            </a:ln>
          </p:spPr>
          <p:txBody>
            <a:bodyPr wrap="none" lIns="0" tIns="0" rIns="0" bIns="0" anchor="t" anchorCtr="0">
              <a:spAutoFit/>
            </a:bodyPr>
            <a:lstStyle/>
            <a:p>
              <a:pPr algn="ctr"/>
              <a:r>
                <a:rPr lang="zh-CN" sz="790" b="1" dirty="0">
                  <a:solidFill>
                    <a:srgbClr val="8F230A"/>
                  </a:solidFill>
                  <a:latin typeface="+mn-lt"/>
                  <a:ea typeface="+mn-ea"/>
                  <a:cs typeface="+mn-cs"/>
                </a:rPr>
                <a:t>关键证据</a:t>
              </a:r>
            </a:p>
          </p:txBody>
        </p:sp>
        <p:sp>
          <p:nvSpPr>
            <p:cNvPr id="201" name="Rectangle 201"/>
            <p:cNvSpPr/>
            <p:nvPr/>
          </p:nvSpPr>
          <p:spPr>
            <a:xfrm>
              <a:off x="228600" y="5334000"/>
              <a:ext cx="11734800" cy="285750"/>
            </a:xfrm>
            <a:prstGeom prst="rect">
              <a:avLst/>
            </a:prstGeom>
            <a:solidFill>
              <a:srgbClr val="FDEFF1"/>
            </a:solidFill>
            <a:ln>
              <a:noFill/>
            </a:ln>
          </p:spPr>
        </p:sp>
        <p:sp>
          <p:nvSpPr>
            <p:cNvPr id="202" name="Rectangle 202"/>
            <p:cNvSpPr/>
            <p:nvPr/>
          </p:nvSpPr>
          <p:spPr>
            <a:xfrm>
              <a:off x="228600" y="5905500"/>
              <a:ext cx="11734800" cy="285750"/>
            </a:xfrm>
            <a:prstGeom prst="rect">
              <a:avLst/>
            </a:prstGeom>
            <a:solidFill>
              <a:srgbClr val="FDEFF1"/>
            </a:solidFill>
            <a:ln>
              <a:noFill/>
            </a:ln>
          </p:spPr>
        </p:sp>
        <p:sp>
          <p:nvSpPr>
            <p:cNvPr id="203" name="Rectangle 203"/>
            <p:cNvSpPr/>
            <p:nvPr/>
          </p:nvSpPr>
          <p:spPr>
            <a:xfrm>
              <a:off x="228600" y="6477000"/>
              <a:ext cx="11734800" cy="285750"/>
            </a:xfrm>
            <a:prstGeom prst="rect">
              <a:avLst/>
            </a:prstGeom>
            <a:solidFill>
              <a:srgbClr val="FDEFF1"/>
            </a:solidFill>
            <a:ln>
              <a:noFill/>
            </a:ln>
          </p:spPr>
        </p:sp>
        <p:sp>
          <p:nvSpPr>
            <p:cNvPr id="204" name="Line 204"/>
            <p:cNvSpPr/>
            <p:nvPr/>
          </p:nvSpPr>
          <p:spPr>
            <a:xfrm>
              <a:off x="1333500" y="5334000"/>
              <a:ext cx="9525" cy="1428750"/>
            </a:xfrm>
            <a:custGeom>
              <a:avLst/>
              <a:gdLst/>
              <a:ahLst/>
              <a:cxnLst/>
              <a:rect l="l" t="t" r="r" b="b"/>
              <a:pathLst>
                <a:path w="9525" h="1428750">
                  <a:moveTo>
                    <a:pt x="0" y="0"/>
                  </a:moveTo>
                  <a:lnTo>
                    <a:pt x="0" y="1428750"/>
                  </a:lnTo>
                </a:path>
              </a:pathLst>
            </a:custGeom>
            <a:noFill/>
            <a:ln w="9525">
              <a:solidFill>
                <a:srgbClr val="F1C7CC"/>
              </a:solidFill>
            </a:ln>
          </p:spPr>
        </p:sp>
        <p:sp>
          <p:nvSpPr>
            <p:cNvPr id="205" name="Line 205"/>
            <p:cNvSpPr/>
            <p:nvPr/>
          </p:nvSpPr>
          <p:spPr>
            <a:xfrm>
              <a:off x="4095750" y="5334000"/>
              <a:ext cx="9525" cy="1428750"/>
            </a:xfrm>
            <a:custGeom>
              <a:avLst/>
              <a:gdLst/>
              <a:ahLst/>
              <a:cxnLst/>
              <a:rect l="l" t="t" r="r" b="b"/>
              <a:pathLst>
                <a:path w="9525" h="1428750">
                  <a:moveTo>
                    <a:pt x="0" y="0"/>
                  </a:moveTo>
                  <a:lnTo>
                    <a:pt x="0" y="1428750"/>
                  </a:lnTo>
                </a:path>
              </a:pathLst>
            </a:custGeom>
            <a:noFill/>
            <a:ln w="9525">
              <a:solidFill>
                <a:srgbClr val="F1C7CC"/>
              </a:solidFill>
            </a:ln>
          </p:spPr>
        </p:sp>
        <p:sp>
          <p:nvSpPr>
            <p:cNvPr id="206" name="Line 206"/>
            <p:cNvSpPr/>
            <p:nvPr/>
          </p:nvSpPr>
          <p:spPr>
            <a:xfrm>
              <a:off x="6572250" y="5334000"/>
              <a:ext cx="9525" cy="1428750"/>
            </a:xfrm>
            <a:custGeom>
              <a:avLst/>
              <a:gdLst/>
              <a:ahLst/>
              <a:cxnLst/>
              <a:rect l="l" t="t" r="r" b="b"/>
              <a:pathLst>
                <a:path w="9525" h="1428750">
                  <a:moveTo>
                    <a:pt x="0" y="0"/>
                  </a:moveTo>
                  <a:lnTo>
                    <a:pt x="0" y="1428750"/>
                  </a:lnTo>
                </a:path>
              </a:pathLst>
            </a:custGeom>
            <a:noFill/>
            <a:ln w="9525">
              <a:solidFill>
                <a:srgbClr val="F1C7CC"/>
              </a:solidFill>
            </a:ln>
          </p:spPr>
        </p:sp>
        <p:sp>
          <p:nvSpPr>
            <p:cNvPr id="207" name="Line 207"/>
            <p:cNvSpPr/>
            <p:nvPr/>
          </p:nvSpPr>
          <p:spPr>
            <a:xfrm>
              <a:off x="9048750" y="5334000"/>
              <a:ext cx="9525" cy="1428750"/>
            </a:xfrm>
            <a:custGeom>
              <a:avLst/>
              <a:gdLst/>
              <a:ahLst/>
              <a:cxnLst/>
              <a:rect l="l" t="t" r="r" b="b"/>
              <a:pathLst>
                <a:path w="9525" h="1428750">
                  <a:moveTo>
                    <a:pt x="0" y="0"/>
                  </a:moveTo>
                  <a:lnTo>
                    <a:pt x="0" y="1428750"/>
                  </a:lnTo>
                </a:path>
              </a:pathLst>
            </a:custGeom>
            <a:noFill/>
            <a:ln w="9525">
              <a:solidFill>
                <a:srgbClr val="F1C7CC"/>
              </a:solidFill>
            </a:ln>
          </p:spPr>
        </p:sp>
        <p:grpSp>
          <p:nvGrpSpPr>
            <p:cNvPr id="216" name="Group 216"/>
            <p:cNvGrpSpPr/>
            <p:nvPr/>
          </p:nvGrpSpPr>
          <p:grpSpPr>
            <a:xfrm>
              <a:off x="342900" y="5419725"/>
              <a:ext cx="117475" cy="123825"/>
              <a:chOff x="342900" y="5419725"/>
              <a:chExt cx="117475" cy="123825"/>
            </a:xfrm>
          </p:grpSpPr>
          <p:sp>
            <p:nvSpPr>
              <p:cNvPr id="208" name="Freeform 208"/>
              <p:cNvSpPr/>
              <p:nvPr/>
            </p:nvSpPr>
            <p:spPr>
              <a:xfrm>
                <a:off x="342900" y="5534025"/>
                <a:ext cx="114300" cy="9525"/>
              </a:xfrm>
              <a:custGeom>
                <a:avLst/>
                <a:gdLst/>
                <a:ahLst/>
                <a:cxnLst/>
                <a:rect l="l" t="t" r="r" b="b"/>
                <a:pathLst>
                  <a:path w="114300" h="9525">
                    <a:moveTo>
                      <a:pt x="0" y="0"/>
                    </a:moveTo>
                    <a:lnTo>
                      <a:pt x="114300" y="0"/>
                    </a:lnTo>
                  </a:path>
                </a:pathLst>
              </a:custGeom>
              <a:noFill/>
              <a:ln w="12700">
                <a:solidFill>
                  <a:srgbClr val="C83210"/>
                </a:solidFill>
              </a:ln>
            </p:spPr>
          </p:sp>
          <p:sp>
            <p:nvSpPr>
              <p:cNvPr id="209" name="Freeform 209"/>
              <p:cNvSpPr/>
              <p:nvPr/>
            </p:nvSpPr>
            <p:spPr>
              <a:xfrm>
                <a:off x="342900" y="5464175"/>
                <a:ext cx="114300" cy="9525"/>
              </a:xfrm>
              <a:custGeom>
                <a:avLst/>
                <a:gdLst/>
                <a:ahLst/>
                <a:cxnLst/>
                <a:rect l="l" t="t" r="r" b="b"/>
                <a:pathLst>
                  <a:path w="114300" h="9525">
                    <a:moveTo>
                      <a:pt x="0" y="0"/>
                    </a:moveTo>
                    <a:lnTo>
                      <a:pt x="114300" y="0"/>
                    </a:lnTo>
                  </a:path>
                </a:pathLst>
              </a:custGeom>
              <a:noFill/>
              <a:ln w="12700">
                <a:solidFill>
                  <a:srgbClr val="C83210"/>
                </a:solidFill>
              </a:ln>
            </p:spPr>
          </p:sp>
          <p:sp>
            <p:nvSpPr>
              <p:cNvPr id="210" name="Freeform 210"/>
              <p:cNvSpPr/>
              <p:nvPr/>
            </p:nvSpPr>
            <p:spPr>
              <a:xfrm>
                <a:off x="355600" y="5419725"/>
                <a:ext cx="88900" cy="19050"/>
              </a:xfrm>
              <a:custGeom>
                <a:avLst/>
                <a:gdLst/>
                <a:ahLst/>
                <a:cxnLst/>
                <a:rect l="l" t="t" r="r" b="b"/>
                <a:pathLst>
                  <a:path w="88900" h="19050">
                    <a:moveTo>
                      <a:pt x="0" y="19050"/>
                    </a:moveTo>
                    <a:lnTo>
                      <a:pt x="44450" y="0"/>
                    </a:lnTo>
                    <a:lnTo>
                      <a:pt x="88900" y="19050"/>
                    </a:lnTo>
                  </a:path>
                </a:pathLst>
              </a:custGeom>
              <a:noFill/>
              <a:ln w="12700">
                <a:solidFill>
                  <a:srgbClr val="C83210"/>
                </a:solidFill>
              </a:ln>
            </p:spPr>
          </p:sp>
          <p:sp>
            <p:nvSpPr>
              <p:cNvPr id="211" name="Freeform 211"/>
              <p:cNvSpPr/>
              <p:nvPr/>
            </p:nvSpPr>
            <p:spPr>
              <a:xfrm>
                <a:off x="349250" y="5464175"/>
                <a:ext cx="9525" cy="69850"/>
              </a:xfrm>
              <a:custGeom>
                <a:avLst/>
                <a:gdLst/>
                <a:ahLst/>
                <a:cxnLst/>
                <a:rect l="l" t="t" r="r" b="b"/>
                <a:pathLst>
                  <a:path w="9525" h="69850">
                    <a:moveTo>
                      <a:pt x="0" y="0"/>
                    </a:moveTo>
                    <a:lnTo>
                      <a:pt x="0" y="69850"/>
                    </a:lnTo>
                  </a:path>
                </a:pathLst>
              </a:custGeom>
              <a:noFill/>
              <a:ln w="12700">
                <a:solidFill>
                  <a:srgbClr val="C83210"/>
                </a:solidFill>
              </a:ln>
            </p:spPr>
          </p:sp>
          <p:sp>
            <p:nvSpPr>
              <p:cNvPr id="212" name="Freeform 212"/>
              <p:cNvSpPr/>
              <p:nvPr/>
            </p:nvSpPr>
            <p:spPr>
              <a:xfrm>
                <a:off x="450850" y="5464175"/>
                <a:ext cx="9525" cy="69850"/>
              </a:xfrm>
              <a:custGeom>
                <a:avLst/>
                <a:gdLst/>
                <a:ahLst/>
                <a:cxnLst/>
                <a:rect l="l" t="t" r="r" b="b"/>
                <a:pathLst>
                  <a:path w="9525" h="69850">
                    <a:moveTo>
                      <a:pt x="0" y="0"/>
                    </a:moveTo>
                    <a:lnTo>
                      <a:pt x="0" y="69850"/>
                    </a:lnTo>
                  </a:path>
                </a:pathLst>
              </a:custGeom>
              <a:noFill/>
              <a:ln w="12700">
                <a:solidFill>
                  <a:srgbClr val="C83210"/>
                </a:solidFill>
              </a:ln>
            </p:spPr>
          </p:sp>
          <p:sp>
            <p:nvSpPr>
              <p:cNvPr id="213" name="Freeform 213"/>
              <p:cNvSpPr/>
              <p:nvPr/>
            </p:nvSpPr>
            <p:spPr>
              <a:xfrm>
                <a:off x="374650" y="5489575"/>
                <a:ext cx="9525" cy="19050"/>
              </a:xfrm>
              <a:custGeom>
                <a:avLst/>
                <a:gdLst/>
                <a:ahLst/>
                <a:cxnLst/>
                <a:rect l="l" t="t" r="r" b="b"/>
                <a:pathLst>
                  <a:path w="9525" h="19050">
                    <a:moveTo>
                      <a:pt x="0" y="0"/>
                    </a:moveTo>
                    <a:lnTo>
                      <a:pt x="0" y="19050"/>
                    </a:lnTo>
                  </a:path>
                </a:pathLst>
              </a:custGeom>
              <a:noFill/>
              <a:ln w="12700">
                <a:solidFill>
                  <a:srgbClr val="C83210"/>
                </a:solidFill>
              </a:ln>
            </p:spPr>
          </p:sp>
          <p:sp>
            <p:nvSpPr>
              <p:cNvPr id="214" name="Freeform 214"/>
              <p:cNvSpPr/>
              <p:nvPr/>
            </p:nvSpPr>
            <p:spPr>
              <a:xfrm>
                <a:off x="400050" y="5489575"/>
                <a:ext cx="9525" cy="19050"/>
              </a:xfrm>
              <a:custGeom>
                <a:avLst/>
                <a:gdLst/>
                <a:ahLst/>
                <a:cxnLst/>
                <a:rect l="l" t="t" r="r" b="b"/>
                <a:pathLst>
                  <a:path w="9525" h="19050">
                    <a:moveTo>
                      <a:pt x="0" y="0"/>
                    </a:moveTo>
                    <a:lnTo>
                      <a:pt x="0" y="19050"/>
                    </a:lnTo>
                  </a:path>
                </a:pathLst>
              </a:custGeom>
              <a:noFill/>
              <a:ln w="12700">
                <a:solidFill>
                  <a:srgbClr val="C83210"/>
                </a:solidFill>
              </a:ln>
            </p:spPr>
          </p:sp>
          <p:sp>
            <p:nvSpPr>
              <p:cNvPr id="215" name="Freeform 215"/>
              <p:cNvSpPr/>
              <p:nvPr/>
            </p:nvSpPr>
            <p:spPr>
              <a:xfrm>
                <a:off x="425450" y="5489575"/>
                <a:ext cx="9525" cy="19050"/>
              </a:xfrm>
              <a:custGeom>
                <a:avLst/>
                <a:gdLst/>
                <a:ahLst/>
                <a:cxnLst/>
                <a:rect l="l" t="t" r="r" b="b"/>
                <a:pathLst>
                  <a:path w="9525" h="19050">
                    <a:moveTo>
                      <a:pt x="0" y="0"/>
                    </a:moveTo>
                    <a:lnTo>
                      <a:pt x="0" y="19050"/>
                    </a:lnTo>
                  </a:path>
                </a:pathLst>
              </a:custGeom>
              <a:noFill/>
              <a:ln w="12700">
                <a:solidFill>
                  <a:srgbClr val="C83210"/>
                </a:solidFill>
              </a:ln>
            </p:spPr>
          </p:sp>
        </p:grpSp>
        <p:sp>
          <p:nvSpPr>
            <p:cNvPr id="217" name="TextBox 217"/>
            <p:cNvSpPr txBox="1"/>
            <p:nvPr/>
          </p:nvSpPr>
          <p:spPr>
            <a:xfrm>
              <a:off x="528638" y="543948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总行机制</a:t>
              </a:r>
            </a:p>
          </p:txBody>
        </p:sp>
        <p:sp>
          <p:nvSpPr>
            <p:cNvPr id="218" name="TextBox 218"/>
            <p:cNvSpPr txBox="1"/>
            <p:nvPr/>
          </p:nvSpPr>
          <p:spPr>
            <a:xfrm>
              <a:off x="1423988" y="5443538"/>
              <a:ext cx="150399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缺乏统一的企微运营战略和标准</a:t>
              </a:r>
            </a:p>
          </p:txBody>
        </p:sp>
        <p:sp>
          <p:nvSpPr>
            <p:cNvPr id="219" name="TextBox 219"/>
            <p:cNvSpPr txBox="1"/>
            <p:nvPr/>
          </p:nvSpPr>
          <p:spPr>
            <a:xfrm>
              <a:off x="4186238" y="5443538"/>
              <a:ext cx="150399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顶层设计不完善，资源投入不足</a:t>
              </a:r>
            </a:p>
          </p:txBody>
        </p:sp>
        <p:sp>
          <p:nvSpPr>
            <p:cNvPr id="220" name="TextBox 220"/>
            <p:cNvSpPr txBox="1"/>
            <p:nvPr/>
          </p:nvSpPr>
          <p:spPr>
            <a:xfrm>
              <a:off x="6662738" y="5443538"/>
              <a:ext cx="1403032"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各行各自为战，难以形成合力</a:t>
              </a:r>
            </a:p>
          </p:txBody>
        </p:sp>
        <p:sp>
          <p:nvSpPr>
            <p:cNvPr id="221" name="TextBox 221"/>
            <p:cNvSpPr txBox="1"/>
            <p:nvPr/>
          </p:nvSpPr>
          <p:spPr>
            <a:xfrm>
              <a:off x="9139238" y="5443538"/>
              <a:ext cx="1966165"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企微相关制度文件仅</a:t>
              </a:r>
              <a:r>
                <a:rPr lang="zh-CN" sz="750" b="1" dirty="0">
                  <a:solidFill>
                    <a:srgbClr val="C83210"/>
                  </a:solidFill>
                  <a:latin typeface="+mn-lt"/>
                  <a:ea typeface="+mn-ea"/>
                  <a:cs typeface="+mn-cs"/>
                </a:rPr>
                <a:t>3</a:t>
              </a:r>
              <a:r>
                <a:rPr lang="zh-CN" sz="750" dirty="0">
                  <a:solidFill>
                    <a:srgbClr val="3D3D3D"/>
                  </a:solidFill>
                  <a:latin typeface="+mn-lt"/>
                  <a:ea typeface="+mn-ea"/>
                  <a:cs typeface="+mn-cs"/>
                </a:rPr>
                <a:t xml:space="preserve">个，近一年未更新　</a:t>
              </a:r>
            </a:p>
          </p:txBody>
        </p:sp>
        <p:grpSp>
          <p:nvGrpSpPr>
            <p:cNvPr id="230" name="Group 230"/>
            <p:cNvGrpSpPr/>
            <p:nvPr/>
          </p:nvGrpSpPr>
          <p:grpSpPr>
            <a:xfrm>
              <a:off x="342900" y="5705475"/>
              <a:ext cx="114300" cy="123825"/>
              <a:chOff x="342900" y="5705475"/>
              <a:chExt cx="114300" cy="123825"/>
            </a:xfrm>
          </p:grpSpPr>
          <p:sp>
            <p:nvSpPr>
              <p:cNvPr id="222" name="Freeform 222"/>
              <p:cNvSpPr/>
              <p:nvPr/>
            </p:nvSpPr>
            <p:spPr>
              <a:xfrm>
                <a:off x="342900" y="5819775"/>
                <a:ext cx="114300" cy="9525"/>
              </a:xfrm>
              <a:custGeom>
                <a:avLst/>
                <a:gdLst/>
                <a:ahLst/>
                <a:cxnLst/>
                <a:rect l="l" t="t" r="r" b="b"/>
                <a:pathLst>
                  <a:path w="114300" h="9525">
                    <a:moveTo>
                      <a:pt x="0" y="0"/>
                    </a:moveTo>
                    <a:lnTo>
                      <a:pt x="114300" y="0"/>
                    </a:lnTo>
                  </a:path>
                </a:pathLst>
              </a:custGeom>
              <a:noFill/>
              <a:ln w="12700">
                <a:solidFill>
                  <a:srgbClr val="C83210"/>
                </a:solidFill>
              </a:ln>
            </p:spPr>
          </p:sp>
          <p:sp>
            <p:nvSpPr>
              <p:cNvPr id="223" name="Freeform 223"/>
              <p:cNvSpPr/>
              <p:nvPr/>
            </p:nvSpPr>
            <p:spPr>
              <a:xfrm>
                <a:off x="381000" y="5737225"/>
                <a:ext cx="9525" cy="9525"/>
              </a:xfrm>
              <a:custGeom>
                <a:avLst/>
                <a:gdLst/>
                <a:ahLst/>
                <a:cxnLst/>
                <a:rect l="l" t="t" r="r" b="b"/>
                <a:pathLst>
                  <a:path w="9525" h="9525">
                    <a:moveTo>
                      <a:pt x="0" y="0"/>
                    </a:moveTo>
                    <a:lnTo>
                      <a:pt x="6350" y="0"/>
                    </a:lnTo>
                  </a:path>
                </a:pathLst>
              </a:custGeom>
              <a:noFill/>
              <a:ln w="12700">
                <a:solidFill>
                  <a:srgbClr val="C83210"/>
                </a:solidFill>
              </a:ln>
            </p:spPr>
          </p:sp>
          <p:sp>
            <p:nvSpPr>
              <p:cNvPr id="224" name="Freeform 224"/>
              <p:cNvSpPr/>
              <p:nvPr/>
            </p:nvSpPr>
            <p:spPr>
              <a:xfrm>
                <a:off x="381000" y="5762625"/>
                <a:ext cx="9525" cy="9525"/>
              </a:xfrm>
              <a:custGeom>
                <a:avLst/>
                <a:gdLst/>
                <a:ahLst/>
                <a:cxnLst/>
                <a:rect l="l" t="t" r="r" b="b"/>
                <a:pathLst>
                  <a:path w="9525" h="9525">
                    <a:moveTo>
                      <a:pt x="0" y="0"/>
                    </a:moveTo>
                    <a:lnTo>
                      <a:pt x="6350" y="0"/>
                    </a:lnTo>
                  </a:path>
                </a:pathLst>
              </a:custGeom>
              <a:noFill/>
              <a:ln w="12700">
                <a:solidFill>
                  <a:srgbClr val="C83210"/>
                </a:solidFill>
              </a:ln>
            </p:spPr>
          </p:sp>
          <p:sp>
            <p:nvSpPr>
              <p:cNvPr id="225" name="Freeform 225"/>
              <p:cNvSpPr/>
              <p:nvPr/>
            </p:nvSpPr>
            <p:spPr>
              <a:xfrm>
                <a:off x="381000" y="5788025"/>
                <a:ext cx="9525" cy="9525"/>
              </a:xfrm>
              <a:custGeom>
                <a:avLst/>
                <a:gdLst/>
                <a:ahLst/>
                <a:cxnLst/>
                <a:rect l="l" t="t" r="r" b="b"/>
                <a:pathLst>
                  <a:path w="9525" h="9525">
                    <a:moveTo>
                      <a:pt x="0" y="0"/>
                    </a:moveTo>
                    <a:lnTo>
                      <a:pt x="6350" y="0"/>
                    </a:lnTo>
                  </a:path>
                </a:pathLst>
              </a:custGeom>
              <a:noFill/>
              <a:ln w="12700">
                <a:solidFill>
                  <a:srgbClr val="C83210"/>
                </a:solidFill>
              </a:ln>
            </p:spPr>
          </p:sp>
          <p:sp>
            <p:nvSpPr>
              <p:cNvPr id="226" name="Freeform 226"/>
              <p:cNvSpPr/>
              <p:nvPr/>
            </p:nvSpPr>
            <p:spPr>
              <a:xfrm>
                <a:off x="412750" y="5737225"/>
                <a:ext cx="9525" cy="9525"/>
              </a:xfrm>
              <a:custGeom>
                <a:avLst/>
                <a:gdLst/>
                <a:ahLst/>
                <a:cxnLst/>
                <a:rect l="l" t="t" r="r" b="b"/>
                <a:pathLst>
                  <a:path w="9525" h="9525">
                    <a:moveTo>
                      <a:pt x="0" y="0"/>
                    </a:moveTo>
                    <a:lnTo>
                      <a:pt x="6350" y="0"/>
                    </a:lnTo>
                  </a:path>
                </a:pathLst>
              </a:custGeom>
              <a:noFill/>
              <a:ln w="12700">
                <a:solidFill>
                  <a:srgbClr val="C83210"/>
                </a:solidFill>
              </a:ln>
            </p:spPr>
          </p:sp>
          <p:sp>
            <p:nvSpPr>
              <p:cNvPr id="227" name="Freeform 227"/>
              <p:cNvSpPr/>
              <p:nvPr/>
            </p:nvSpPr>
            <p:spPr>
              <a:xfrm>
                <a:off x="412750" y="5762625"/>
                <a:ext cx="9525" cy="9525"/>
              </a:xfrm>
              <a:custGeom>
                <a:avLst/>
                <a:gdLst/>
                <a:ahLst/>
                <a:cxnLst/>
                <a:rect l="l" t="t" r="r" b="b"/>
                <a:pathLst>
                  <a:path w="9525" h="9525">
                    <a:moveTo>
                      <a:pt x="0" y="0"/>
                    </a:moveTo>
                    <a:lnTo>
                      <a:pt x="6350" y="0"/>
                    </a:lnTo>
                  </a:path>
                </a:pathLst>
              </a:custGeom>
              <a:noFill/>
              <a:ln w="12700">
                <a:solidFill>
                  <a:srgbClr val="C83210"/>
                </a:solidFill>
              </a:ln>
            </p:spPr>
          </p:sp>
          <p:sp>
            <p:nvSpPr>
              <p:cNvPr id="228" name="Freeform 228"/>
              <p:cNvSpPr/>
              <p:nvPr/>
            </p:nvSpPr>
            <p:spPr>
              <a:xfrm>
                <a:off x="412750" y="5788025"/>
                <a:ext cx="9525" cy="9525"/>
              </a:xfrm>
              <a:custGeom>
                <a:avLst/>
                <a:gdLst/>
                <a:ahLst/>
                <a:cxnLst/>
                <a:rect l="l" t="t" r="r" b="b"/>
                <a:pathLst>
                  <a:path w="9525" h="9525">
                    <a:moveTo>
                      <a:pt x="0" y="0"/>
                    </a:moveTo>
                    <a:lnTo>
                      <a:pt x="6350" y="0"/>
                    </a:lnTo>
                  </a:path>
                </a:pathLst>
              </a:custGeom>
              <a:noFill/>
              <a:ln w="12700">
                <a:solidFill>
                  <a:srgbClr val="C83210"/>
                </a:solidFill>
              </a:ln>
            </p:spPr>
          </p:sp>
          <p:sp>
            <p:nvSpPr>
              <p:cNvPr id="229" name="Freeform 229"/>
              <p:cNvSpPr/>
              <p:nvPr/>
            </p:nvSpPr>
            <p:spPr>
              <a:xfrm>
                <a:off x="355600" y="5705475"/>
                <a:ext cx="88900" cy="114300"/>
              </a:xfrm>
              <a:custGeom>
                <a:avLst/>
                <a:gdLst/>
                <a:ahLst/>
                <a:cxnLst/>
                <a:rect l="l" t="t" r="r" b="b"/>
                <a:pathLst>
                  <a:path w="88900" h="114300">
                    <a:moveTo>
                      <a:pt x="0" y="114300"/>
                    </a:moveTo>
                    <a:lnTo>
                      <a:pt x="0" y="12700"/>
                    </a:lnTo>
                    <a:cubicBezTo>
                      <a:pt x="0" y="5686"/>
                      <a:pt x="5686" y="0"/>
                      <a:pt x="12700" y="0"/>
                    </a:cubicBezTo>
                    <a:lnTo>
                      <a:pt x="76200" y="0"/>
                    </a:lnTo>
                    <a:cubicBezTo>
                      <a:pt x="83214" y="0"/>
                      <a:pt x="88900" y="5686"/>
                      <a:pt x="88900" y="12700"/>
                    </a:cubicBezTo>
                    <a:lnTo>
                      <a:pt x="88900" y="114300"/>
                    </a:lnTo>
                  </a:path>
                </a:pathLst>
              </a:custGeom>
              <a:noFill/>
              <a:ln w="12700">
                <a:solidFill>
                  <a:srgbClr val="C83210"/>
                </a:solidFill>
              </a:ln>
            </p:spPr>
          </p:sp>
        </p:grpSp>
        <p:sp>
          <p:nvSpPr>
            <p:cNvPr id="231" name="TextBox 231"/>
            <p:cNvSpPr txBox="1"/>
            <p:nvPr/>
          </p:nvSpPr>
          <p:spPr>
            <a:xfrm>
              <a:off x="528638" y="572523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分行管理</a:t>
              </a:r>
            </a:p>
          </p:txBody>
        </p:sp>
        <p:sp>
          <p:nvSpPr>
            <p:cNvPr id="232" name="TextBox 232"/>
            <p:cNvSpPr txBox="1"/>
            <p:nvPr/>
          </p:nvSpPr>
          <p:spPr>
            <a:xfrm>
              <a:off x="1423988" y="5729288"/>
              <a:ext cx="150399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目标分解不清晰，过程管理薄弱</a:t>
              </a:r>
            </a:p>
          </p:txBody>
        </p:sp>
        <p:sp>
          <p:nvSpPr>
            <p:cNvPr id="233" name="TextBox 233"/>
            <p:cNvSpPr txBox="1"/>
            <p:nvPr/>
          </p:nvSpPr>
          <p:spPr>
            <a:xfrm>
              <a:off x="4186238" y="5729288"/>
              <a:ext cx="190785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重规模、轻质量，缺乏有效的监控和辅导</a:t>
              </a:r>
            </a:p>
          </p:txBody>
        </p:sp>
        <p:sp>
          <p:nvSpPr>
            <p:cNvPr id="234" name="TextBox 234"/>
            <p:cNvSpPr txBox="1"/>
            <p:nvPr/>
          </p:nvSpPr>
          <p:spPr>
            <a:xfrm>
              <a:off x="6662738" y="5729288"/>
              <a:ext cx="1604962"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分行间发展不平衡，质量参差不齐</a:t>
              </a:r>
            </a:p>
          </p:txBody>
        </p:sp>
        <p:sp>
          <p:nvSpPr>
            <p:cNvPr id="235" name="TextBox 235"/>
            <p:cNvSpPr txBox="1"/>
            <p:nvPr/>
          </p:nvSpPr>
          <p:spPr>
            <a:xfrm>
              <a:off x="9139238" y="5729288"/>
              <a:ext cx="1801087"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仅</a:t>
              </a:r>
              <a:r>
                <a:rPr lang="zh-CN" sz="750" b="1" dirty="0">
                  <a:solidFill>
                    <a:srgbClr val="C83210"/>
                  </a:solidFill>
                  <a:latin typeface="+mn-lt"/>
                  <a:ea typeface="+mn-ea"/>
                  <a:cs typeface="+mn-cs"/>
                </a:rPr>
                <a:t>28%</a:t>
              </a:r>
              <a:r>
                <a:rPr lang="zh-CN" sz="750" dirty="0">
                  <a:solidFill>
                    <a:srgbClr val="3D3D3D"/>
                  </a:solidFill>
                  <a:latin typeface="+mn-lt"/>
                  <a:ea typeface="+mn-ea"/>
                  <a:cs typeface="+mn-cs"/>
                </a:rPr>
                <a:t xml:space="preserve">的分行建立企微月度经营分析　</a:t>
              </a:r>
            </a:p>
          </p:txBody>
        </p:sp>
        <p:grpSp>
          <p:nvGrpSpPr>
            <p:cNvPr id="241" name="Group 241"/>
            <p:cNvGrpSpPr/>
            <p:nvPr/>
          </p:nvGrpSpPr>
          <p:grpSpPr>
            <a:xfrm>
              <a:off x="342900" y="5991225"/>
              <a:ext cx="114300" cy="123825"/>
              <a:chOff x="342900" y="5991225"/>
              <a:chExt cx="114300" cy="123825"/>
            </a:xfrm>
          </p:grpSpPr>
          <p:sp>
            <p:nvSpPr>
              <p:cNvPr id="236" name="Freeform 236"/>
              <p:cNvSpPr/>
              <p:nvPr/>
            </p:nvSpPr>
            <p:spPr>
              <a:xfrm>
                <a:off x="342900" y="6105525"/>
                <a:ext cx="114300" cy="9525"/>
              </a:xfrm>
              <a:custGeom>
                <a:avLst/>
                <a:gdLst/>
                <a:ahLst/>
                <a:cxnLst/>
                <a:rect l="l" t="t" r="r" b="b"/>
                <a:pathLst>
                  <a:path w="114300" h="9525">
                    <a:moveTo>
                      <a:pt x="0" y="0"/>
                    </a:moveTo>
                    <a:lnTo>
                      <a:pt x="114300" y="0"/>
                    </a:lnTo>
                  </a:path>
                </a:pathLst>
              </a:custGeom>
              <a:noFill/>
              <a:ln w="12700">
                <a:solidFill>
                  <a:srgbClr val="C83210"/>
                </a:solidFill>
              </a:ln>
            </p:spPr>
          </p:sp>
          <p:sp>
            <p:nvSpPr>
              <p:cNvPr id="237" name="Freeform 237"/>
              <p:cNvSpPr/>
              <p:nvPr/>
            </p:nvSpPr>
            <p:spPr>
              <a:xfrm>
                <a:off x="342900" y="5991225"/>
                <a:ext cx="114300" cy="50800"/>
              </a:xfrm>
              <a:custGeom>
                <a:avLst/>
                <a:gdLst/>
                <a:ahLst/>
                <a:cxnLst/>
                <a:rect l="l" t="t" r="r" b="b"/>
                <a:pathLst>
                  <a:path w="114300" h="50800">
                    <a:moveTo>
                      <a:pt x="0" y="25400"/>
                    </a:moveTo>
                    <a:lnTo>
                      <a:pt x="0" y="31750"/>
                    </a:lnTo>
                    <a:cubicBezTo>
                      <a:pt x="0" y="42271"/>
                      <a:pt x="8529" y="50800"/>
                      <a:pt x="19050" y="50800"/>
                    </a:cubicBezTo>
                    <a:cubicBezTo>
                      <a:pt x="29571" y="50800"/>
                      <a:pt x="38100" y="42271"/>
                      <a:pt x="38100" y="31750"/>
                    </a:cubicBezTo>
                    <a:lnTo>
                      <a:pt x="38100" y="25400"/>
                    </a:lnTo>
                    <a:moveTo>
                      <a:pt x="38100" y="31750"/>
                    </a:moveTo>
                    <a:cubicBezTo>
                      <a:pt x="38100" y="42271"/>
                      <a:pt x="46629" y="50800"/>
                      <a:pt x="57150" y="50800"/>
                    </a:cubicBezTo>
                    <a:cubicBezTo>
                      <a:pt x="67671" y="50800"/>
                      <a:pt x="76200" y="42271"/>
                      <a:pt x="76200" y="31750"/>
                    </a:cubicBezTo>
                    <a:lnTo>
                      <a:pt x="76200" y="25400"/>
                    </a:lnTo>
                    <a:moveTo>
                      <a:pt x="76200" y="31750"/>
                    </a:moveTo>
                    <a:cubicBezTo>
                      <a:pt x="76200" y="42271"/>
                      <a:pt x="84729" y="50800"/>
                      <a:pt x="95250" y="50800"/>
                    </a:cubicBezTo>
                    <a:cubicBezTo>
                      <a:pt x="105771" y="50800"/>
                      <a:pt x="114300" y="42271"/>
                      <a:pt x="114300" y="31750"/>
                    </a:cubicBezTo>
                    <a:lnTo>
                      <a:pt x="114300" y="25400"/>
                    </a:lnTo>
                    <a:lnTo>
                      <a:pt x="0" y="25400"/>
                    </a:lnTo>
                    <a:lnTo>
                      <a:pt x="12700" y="0"/>
                    </a:lnTo>
                    <a:lnTo>
                      <a:pt x="101600" y="0"/>
                    </a:lnTo>
                    <a:lnTo>
                      <a:pt x="114300" y="25400"/>
                    </a:lnTo>
                  </a:path>
                </a:pathLst>
              </a:custGeom>
              <a:noFill/>
              <a:ln w="12700">
                <a:solidFill>
                  <a:srgbClr val="C83210"/>
                </a:solidFill>
              </a:ln>
            </p:spPr>
          </p:sp>
          <p:sp>
            <p:nvSpPr>
              <p:cNvPr id="238" name="Freeform 238"/>
              <p:cNvSpPr/>
              <p:nvPr/>
            </p:nvSpPr>
            <p:spPr>
              <a:xfrm>
                <a:off x="355600" y="6041073"/>
                <a:ext cx="9525" cy="64453"/>
              </a:xfrm>
              <a:custGeom>
                <a:avLst/>
                <a:gdLst/>
                <a:ahLst/>
                <a:cxnLst/>
                <a:rect l="l" t="t" r="r" b="b"/>
                <a:pathLst>
                  <a:path w="9525" h="64453">
                    <a:moveTo>
                      <a:pt x="0" y="64453"/>
                    </a:moveTo>
                    <a:lnTo>
                      <a:pt x="0" y="0"/>
                    </a:lnTo>
                  </a:path>
                </a:pathLst>
              </a:custGeom>
              <a:noFill/>
              <a:ln w="12700">
                <a:solidFill>
                  <a:srgbClr val="C83210"/>
                </a:solidFill>
              </a:ln>
            </p:spPr>
          </p:sp>
          <p:sp>
            <p:nvSpPr>
              <p:cNvPr id="239" name="Freeform 239"/>
              <p:cNvSpPr/>
              <p:nvPr/>
            </p:nvSpPr>
            <p:spPr>
              <a:xfrm>
                <a:off x="444500" y="6041073"/>
                <a:ext cx="9525" cy="64453"/>
              </a:xfrm>
              <a:custGeom>
                <a:avLst/>
                <a:gdLst/>
                <a:ahLst/>
                <a:cxnLst/>
                <a:rect l="l" t="t" r="r" b="b"/>
                <a:pathLst>
                  <a:path w="9525" h="64453">
                    <a:moveTo>
                      <a:pt x="0" y="64453"/>
                    </a:moveTo>
                    <a:lnTo>
                      <a:pt x="0" y="0"/>
                    </a:lnTo>
                  </a:path>
                </a:pathLst>
              </a:custGeom>
              <a:noFill/>
              <a:ln w="12700">
                <a:solidFill>
                  <a:srgbClr val="C83210"/>
                </a:solidFill>
              </a:ln>
            </p:spPr>
          </p:sp>
          <p:sp>
            <p:nvSpPr>
              <p:cNvPr id="240" name="Freeform 240"/>
              <p:cNvSpPr/>
              <p:nvPr/>
            </p:nvSpPr>
            <p:spPr>
              <a:xfrm>
                <a:off x="381000" y="6067425"/>
                <a:ext cx="38100" cy="38100"/>
              </a:xfrm>
              <a:custGeom>
                <a:avLst/>
                <a:gdLst/>
                <a:ahLst/>
                <a:cxnLst/>
                <a:rect l="l" t="t" r="r" b="b"/>
                <a:pathLst>
                  <a:path w="38100" h="38100">
                    <a:moveTo>
                      <a:pt x="0" y="38100"/>
                    </a:moveTo>
                    <a:lnTo>
                      <a:pt x="0" y="12700"/>
                    </a:lnTo>
                    <a:cubicBezTo>
                      <a:pt x="0" y="5686"/>
                      <a:pt x="5686" y="0"/>
                      <a:pt x="12700" y="0"/>
                    </a:cubicBezTo>
                    <a:lnTo>
                      <a:pt x="25400" y="0"/>
                    </a:lnTo>
                    <a:cubicBezTo>
                      <a:pt x="32414" y="0"/>
                      <a:pt x="38100" y="5686"/>
                      <a:pt x="38100" y="12700"/>
                    </a:cubicBezTo>
                    <a:lnTo>
                      <a:pt x="38100" y="38100"/>
                    </a:lnTo>
                  </a:path>
                </a:pathLst>
              </a:custGeom>
              <a:noFill/>
              <a:ln w="12700">
                <a:solidFill>
                  <a:srgbClr val="C83210"/>
                </a:solidFill>
              </a:ln>
            </p:spPr>
          </p:sp>
        </p:grpSp>
        <p:sp>
          <p:nvSpPr>
            <p:cNvPr id="242" name="TextBox 242"/>
            <p:cNvSpPr txBox="1"/>
            <p:nvPr/>
          </p:nvSpPr>
          <p:spPr>
            <a:xfrm>
              <a:off x="528638" y="601098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支行执行</a:t>
              </a:r>
            </a:p>
          </p:txBody>
        </p:sp>
        <p:sp>
          <p:nvSpPr>
            <p:cNvPr id="243" name="TextBox 243"/>
            <p:cNvSpPr txBox="1"/>
            <p:nvPr/>
          </p:nvSpPr>
          <p:spPr>
            <a:xfrm>
              <a:off x="1423988" y="6015038"/>
              <a:ext cx="150399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执行标准不统一，重视程度不足</a:t>
              </a:r>
            </a:p>
          </p:txBody>
        </p:sp>
        <p:sp>
          <p:nvSpPr>
            <p:cNvPr id="244" name="TextBox 244"/>
            <p:cNvSpPr txBox="1"/>
            <p:nvPr/>
          </p:nvSpPr>
          <p:spPr>
            <a:xfrm>
              <a:off x="4186238" y="6015038"/>
              <a:ext cx="150399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缺乏细化的执行指引和激励措施</a:t>
              </a:r>
            </a:p>
          </p:txBody>
        </p:sp>
        <p:sp>
          <p:nvSpPr>
            <p:cNvPr id="245" name="TextBox 245"/>
            <p:cNvSpPr txBox="1"/>
            <p:nvPr/>
          </p:nvSpPr>
          <p:spPr>
            <a:xfrm>
              <a:off x="6662738" y="6015038"/>
              <a:ext cx="150399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一线执行随意性大，转化效果差</a:t>
              </a:r>
            </a:p>
          </p:txBody>
        </p:sp>
        <p:sp>
          <p:nvSpPr>
            <p:cNvPr id="246" name="TextBox 246"/>
            <p:cNvSpPr txBox="1"/>
            <p:nvPr/>
          </p:nvSpPr>
          <p:spPr>
            <a:xfrm>
              <a:off x="9139238" y="6015038"/>
              <a:ext cx="1594585"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支行企微运营SOP覆盖率仅</a:t>
              </a:r>
              <a:r>
                <a:rPr lang="zh-CN" sz="750" b="1" dirty="0">
                  <a:solidFill>
                    <a:srgbClr val="C83210"/>
                  </a:solidFill>
                  <a:latin typeface="+mn-lt"/>
                  <a:ea typeface="+mn-ea"/>
                  <a:cs typeface="+mn-cs"/>
                </a:rPr>
                <a:t>35%</a:t>
              </a:r>
              <a:r>
                <a:rPr lang="zh-CN" sz="750" dirty="0">
                  <a:solidFill>
                    <a:srgbClr val="3D3D3D"/>
                  </a:solidFill>
                  <a:latin typeface="+mn-lt"/>
                  <a:ea typeface="+mn-ea"/>
                  <a:cs typeface="+mn-cs"/>
                </a:rPr>
                <a:t xml:space="preserve">　</a:t>
              </a:r>
            </a:p>
          </p:txBody>
        </p:sp>
        <p:grpSp>
          <p:nvGrpSpPr>
            <p:cNvPr id="249" name="Group 249"/>
            <p:cNvGrpSpPr/>
            <p:nvPr/>
          </p:nvGrpSpPr>
          <p:grpSpPr>
            <a:xfrm>
              <a:off x="361950" y="6276975"/>
              <a:ext cx="76200" cy="114300"/>
              <a:chOff x="361950" y="6276975"/>
              <a:chExt cx="76200" cy="114300"/>
            </a:xfrm>
          </p:grpSpPr>
          <p:sp>
            <p:nvSpPr>
              <p:cNvPr id="247" name="Freeform 247"/>
              <p:cNvSpPr/>
              <p:nvPr/>
            </p:nvSpPr>
            <p:spPr>
              <a:xfrm>
                <a:off x="374650" y="62769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248" name="Freeform 248"/>
              <p:cNvSpPr/>
              <p:nvPr/>
            </p:nvSpPr>
            <p:spPr>
              <a:xfrm>
                <a:off x="361950" y="635317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C83210"/>
                </a:solidFill>
              </a:ln>
            </p:spPr>
          </p:sp>
        </p:grpSp>
        <p:sp>
          <p:nvSpPr>
            <p:cNvPr id="250" name="TextBox 250"/>
            <p:cNvSpPr txBox="1"/>
            <p:nvPr/>
          </p:nvSpPr>
          <p:spPr>
            <a:xfrm>
              <a:off x="528638" y="629673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员工能力</a:t>
              </a:r>
            </a:p>
          </p:txBody>
        </p:sp>
        <p:sp>
          <p:nvSpPr>
            <p:cNvPr id="251" name="TextBox 251"/>
            <p:cNvSpPr txBox="1"/>
            <p:nvPr/>
          </p:nvSpPr>
          <p:spPr>
            <a:xfrm>
              <a:off x="1423988" y="6300788"/>
              <a:ext cx="130206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不会加、不会聊、不会运营</a:t>
              </a:r>
            </a:p>
          </p:txBody>
        </p:sp>
        <p:sp>
          <p:nvSpPr>
            <p:cNvPr id="252" name="TextBox 252"/>
            <p:cNvSpPr txBox="1"/>
            <p:nvPr/>
          </p:nvSpPr>
          <p:spPr>
            <a:xfrm>
              <a:off x="4186238" y="6300788"/>
              <a:ext cx="150399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培训体系不完善，实战辅导不足</a:t>
              </a:r>
            </a:p>
          </p:txBody>
        </p:sp>
        <p:sp>
          <p:nvSpPr>
            <p:cNvPr id="253" name="TextBox 253"/>
            <p:cNvSpPr txBox="1"/>
            <p:nvPr/>
          </p:nvSpPr>
          <p:spPr>
            <a:xfrm>
              <a:off x="6662738" y="6300788"/>
              <a:ext cx="150399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员工信心不足，客户经营能力弱</a:t>
              </a:r>
            </a:p>
          </p:txBody>
        </p:sp>
        <p:sp>
          <p:nvSpPr>
            <p:cNvPr id="254" name="TextBox 254"/>
            <p:cNvSpPr txBox="1"/>
            <p:nvPr/>
          </p:nvSpPr>
          <p:spPr>
            <a:xfrm>
              <a:off x="9139238" y="6300788"/>
              <a:ext cx="1801087"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近半年仅</a:t>
              </a:r>
              <a:r>
                <a:rPr lang="zh-CN" sz="750" b="1" dirty="0">
                  <a:solidFill>
                    <a:srgbClr val="C83210"/>
                  </a:solidFill>
                  <a:latin typeface="+mn-lt"/>
                  <a:ea typeface="+mn-ea"/>
                  <a:cs typeface="+mn-cs"/>
                </a:rPr>
                <a:t>12%</a:t>
              </a:r>
              <a:r>
                <a:rPr lang="zh-CN" sz="750" dirty="0">
                  <a:solidFill>
                    <a:srgbClr val="3D3D3D"/>
                  </a:solidFill>
                  <a:latin typeface="+mn-lt"/>
                  <a:ea typeface="+mn-ea"/>
                  <a:cs typeface="+mn-cs"/>
                </a:rPr>
                <a:t xml:space="preserve">的员工接受过系统培训　</a:t>
              </a:r>
            </a:p>
          </p:txBody>
        </p:sp>
        <p:grpSp>
          <p:nvGrpSpPr>
            <p:cNvPr id="258" name="Group 258"/>
            <p:cNvGrpSpPr/>
            <p:nvPr/>
          </p:nvGrpSpPr>
          <p:grpSpPr>
            <a:xfrm>
              <a:off x="349250" y="6562725"/>
              <a:ext cx="101600" cy="114300"/>
              <a:chOff x="349250" y="6562725"/>
              <a:chExt cx="101600" cy="114300"/>
            </a:xfrm>
          </p:grpSpPr>
          <p:sp>
            <p:nvSpPr>
              <p:cNvPr id="255" name="Freeform 255"/>
              <p:cNvSpPr/>
              <p:nvPr/>
            </p:nvSpPr>
            <p:spPr>
              <a:xfrm>
                <a:off x="349250" y="6562725"/>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C83210"/>
                </a:solidFill>
              </a:ln>
            </p:spPr>
          </p:sp>
          <p:sp>
            <p:nvSpPr>
              <p:cNvPr id="256" name="Freeform 256"/>
              <p:cNvSpPr/>
              <p:nvPr/>
            </p:nvSpPr>
            <p:spPr>
              <a:xfrm>
                <a:off x="349250" y="658177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83210"/>
                </a:solidFill>
              </a:ln>
            </p:spPr>
          </p:sp>
          <p:sp>
            <p:nvSpPr>
              <p:cNvPr id="257" name="Freeform 257"/>
              <p:cNvSpPr/>
              <p:nvPr/>
            </p:nvSpPr>
            <p:spPr>
              <a:xfrm>
                <a:off x="349250" y="661987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83210"/>
                </a:solidFill>
              </a:ln>
            </p:spPr>
          </p:sp>
        </p:grpSp>
        <p:sp>
          <p:nvSpPr>
            <p:cNvPr id="259" name="TextBox 259"/>
            <p:cNvSpPr txBox="1"/>
            <p:nvPr/>
          </p:nvSpPr>
          <p:spPr>
            <a:xfrm>
              <a:off x="528638" y="658248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系统数据</a:t>
              </a:r>
            </a:p>
          </p:txBody>
        </p:sp>
        <p:sp>
          <p:nvSpPr>
            <p:cNvPr id="260" name="TextBox 260"/>
            <p:cNvSpPr txBox="1"/>
            <p:nvPr/>
          </p:nvSpPr>
          <p:spPr>
            <a:xfrm>
              <a:off x="1423988" y="6586538"/>
              <a:ext cx="1201102"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数据割裂，功能支撑不足</a:t>
              </a:r>
            </a:p>
          </p:txBody>
        </p:sp>
        <p:sp>
          <p:nvSpPr>
            <p:cNvPr id="261" name="TextBox 261"/>
            <p:cNvSpPr txBox="1"/>
            <p:nvPr/>
          </p:nvSpPr>
          <p:spPr>
            <a:xfrm>
              <a:off x="4186238" y="6586538"/>
              <a:ext cx="1302068"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系统建设滞后，数据未打通</a:t>
              </a:r>
            </a:p>
          </p:txBody>
        </p:sp>
        <p:sp>
          <p:nvSpPr>
            <p:cNvPr id="262" name="TextBox 262"/>
            <p:cNvSpPr txBox="1"/>
            <p:nvPr/>
          </p:nvSpPr>
          <p:spPr>
            <a:xfrm>
              <a:off x="6662738" y="6586538"/>
              <a:ext cx="1403032"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无法实现精准画像和智能运营</a:t>
              </a:r>
            </a:p>
          </p:txBody>
        </p:sp>
        <p:sp>
          <p:nvSpPr>
            <p:cNvPr id="263" name="TextBox 263"/>
            <p:cNvSpPr txBox="1"/>
            <p:nvPr/>
          </p:nvSpPr>
          <p:spPr>
            <a:xfrm>
              <a:off x="9139238" y="6586538"/>
              <a:ext cx="2103982" cy="147638"/>
            </a:xfrm>
            <a:prstGeom prst="rect">
              <a:avLst/>
            </a:prstGeom>
            <a:noFill/>
            <a:ln>
              <a:noFill/>
            </a:ln>
          </p:spPr>
          <p:txBody>
            <a:bodyPr wrap="none" lIns="0" tIns="0" rIns="0" bIns="0" anchor="t" anchorCtr="0">
              <a:spAutoFit/>
            </a:bodyPr>
            <a:lstStyle/>
            <a:p>
              <a:pPr algn="l" marL="80962" indent="-80962">
                <a:buClr>
                  <a:srgbClr val="3D3D3D"/>
                </a:buClr>
                <a:buSzTx/>
                <a:buFontTx/>
                <a:buChar char="•"/>
              </a:pPr>
              <a:r>
                <a:rPr lang="zh-CN" sz="750" dirty="0">
                  <a:solidFill>
                    <a:srgbClr val="3D3D3D"/>
                  </a:solidFill>
                  <a:latin typeface="+mn-lt"/>
                  <a:ea typeface="+mn-ea"/>
                  <a:cs typeface="+mn-cs"/>
                </a:rPr>
                <a:t>企微与核心系统未打通，标签覆盖率仅</a:t>
              </a:r>
              <a:r>
                <a:rPr lang="zh-CN" sz="750" b="1" dirty="0">
                  <a:solidFill>
                    <a:srgbClr val="C83210"/>
                  </a:solidFill>
                  <a:latin typeface="+mn-lt"/>
                  <a:ea typeface="+mn-ea"/>
                  <a:cs typeface="+mn-cs"/>
                </a:rPr>
                <a:t>18%</a:t>
              </a:r>
              <a:r>
                <a:rPr lang="zh-CN" sz="750" dirty="0">
                  <a:solidFill>
                    <a:srgbClr val="3D3D3D"/>
                  </a:solidFill>
                  <a:latin typeface="+mn-lt"/>
                  <a:ea typeface="+mn-ea"/>
                  <a:cs typeface="+mn-cs"/>
                </a:rPr>
                <a:t xml:space="preserve">　</a:t>
              </a:r>
            </a:p>
          </p:txBody>
        </p:sp>
      </p:gr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03</a:t>
              </a:r>
            </a:p>
          </p:txBody>
        </p:sp>
        <p:sp>
          <p:nvSpPr>
            <p:cNvPr id="4" name="TextBox 4"/>
            <p:cNvSpPr txBox="1"/>
            <p:nvPr/>
          </p:nvSpPr>
          <p:spPr>
            <a:xfrm>
              <a:off x="942594" y="151448"/>
              <a:ext cx="6676644"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建设目标</a:t>
              </a:r>
              <a:r>
                <a:rPr lang="zh-CN" sz="1950" b="1" dirty="0">
                  <a:solidFill>
                    <a:srgbClr val="222222"/>
                  </a:solidFill>
                  <a:latin typeface="SimSun"/>
                  <a:ea typeface="SimSun"/>
                  <a:cs typeface="SimSun"/>
                </a:rPr>
                <a:t>｜把企微升级为零售客户持续经营的基础设施</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11" name="band1-label"/>
          <p:cNvGrpSpPr/>
          <p:nvPr/>
        </p:nvGrpSpPr>
        <p:grpSpPr>
          <a:xfrm>
            <a:off x="171450" y="647700"/>
            <a:ext cx="495300" cy="1143000"/>
            <a:chOff x="171450" y="647700"/>
            <a:chExt cx="495300" cy="1143000"/>
          </a:xfrm>
        </p:grpSpPr>
        <p:sp>
          <p:nvSpPr>
            <p:cNvPr id="7" name="Rectangle 7"/>
            <p:cNvSpPr/>
            <p:nvPr/>
          </p:nvSpPr>
          <p:spPr>
            <a:xfrm>
              <a:off x="171450" y="647700"/>
              <a:ext cx="495300" cy="1143000"/>
            </a:xfrm>
            <a:prstGeom prst="roundRect">
              <a:avLst>
                <a:gd name="adj" fmla="val 11538"/>
              </a:avLst>
            </a:prstGeom>
            <a:solidFill>
              <a:srgbClr val="C83210"/>
            </a:solidFill>
            <a:ln>
              <a:noFill/>
            </a:ln>
          </p:spPr>
        </p:sp>
        <p:sp>
          <p:nvSpPr>
            <p:cNvPr id="8" name="TextBox 8"/>
            <p:cNvSpPr txBox="1"/>
            <p:nvPr/>
          </p:nvSpPr>
          <p:spPr>
            <a:xfrm>
              <a:off x="282219" y="9615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四大</a:t>
              </a:r>
            </a:p>
          </p:txBody>
        </p:sp>
        <p:sp>
          <p:nvSpPr>
            <p:cNvPr id="9" name="TextBox 9"/>
            <p:cNvSpPr txBox="1"/>
            <p:nvPr/>
          </p:nvSpPr>
          <p:spPr>
            <a:xfrm>
              <a:off x="282219" y="11520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建设</a:t>
              </a:r>
            </a:p>
          </p:txBody>
        </p:sp>
        <p:sp>
          <p:nvSpPr>
            <p:cNvPr id="10" name="TextBox 10"/>
            <p:cNvSpPr txBox="1"/>
            <p:nvPr/>
          </p:nvSpPr>
          <p:spPr>
            <a:xfrm>
              <a:off x="282219" y="13425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成效</a:t>
              </a:r>
            </a:p>
          </p:txBody>
        </p:sp>
      </p:grpSp>
      <p:grpSp>
        <p:nvGrpSpPr>
          <p:cNvPr id="22" name="effect-1"/>
          <p:cNvGrpSpPr/>
          <p:nvPr/>
        </p:nvGrpSpPr>
        <p:grpSpPr>
          <a:xfrm>
            <a:off x="762000" y="647700"/>
            <a:ext cx="2743200" cy="1143000"/>
            <a:chOff x="762000" y="647700"/>
            <a:chExt cx="2743200" cy="1143000"/>
          </a:xfrm>
        </p:grpSpPr>
        <p:sp>
          <p:nvSpPr>
            <p:cNvPr id="12" name="Rectangle 12"/>
            <p:cNvSpPr/>
            <p:nvPr/>
          </p:nvSpPr>
          <p:spPr>
            <a:xfrm>
              <a:off x="762000" y="647700"/>
              <a:ext cx="2743200" cy="1143000"/>
            </a:xfrm>
            <a:prstGeom prst="roundRect">
              <a:avLst>
                <a:gd name="adj" fmla="val 6667"/>
              </a:avLst>
            </a:prstGeom>
            <a:solidFill>
              <a:srgbClr val="FDEFF1"/>
            </a:solidFill>
            <a:ln>
              <a:noFill/>
            </a:ln>
          </p:spPr>
        </p:sp>
        <p:sp>
          <p:nvSpPr>
            <p:cNvPr id="13" name="Ellipse 13"/>
            <p:cNvSpPr/>
            <p:nvPr/>
          </p:nvSpPr>
          <p:spPr>
            <a:xfrm>
              <a:off x="952500" y="762000"/>
              <a:ext cx="419100" cy="419100"/>
            </a:xfrm>
            <a:prstGeom prst="ellipse">
              <a:avLst/>
            </a:prstGeom>
            <a:solidFill>
              <a:srgbClr val="C83210"/>
            </a:solidFill>
            <a:ln>
              <a:noFill/>
            </a:ln>
          </p:spPr>
        </p:sp>
        <p:grpSp>
          <p:nvGrpSpPr>
            <p:cNvPr id="18" name="Group 18"/>
            <p:cNvGrpSpPr/>
            <p:nvPr/>
          </p:nvGrpSpPr>
          <p:grpSpPr>
            <a:xfrm>
              <a:off x="1062038" y="871538"/>
              <a:ext cx="200026" cy="200025"/>
              <a:chOff x="1062038" y="871538"/>
              <a:chExt cx="200026" cy="200025"/>
            </a:xfrm>
          </p:grpSpPr>
          <p:sp>
            <p:nvSpPr>
              <p:cNvPr id="14" name="Freeform 14"/>
              <p:cNvSpPr/>
              <p:nvPr/>
            </p:nvSpPr>
            <p:spPr>
              <a:xfrm>
                <a:off x="1084263" y="8715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15" name="Freeform 15"/>
              <p:cNvSpPr/>
              <p:nvPr/>
            </p:nvSpPr>
            <p:spPr>
              <a:xfrm>
                <a:off x="1062038" y="10048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FFFFFF"/>
                </a:solidFill>
              </a:ln>
            </p:spPr>
          </p:sp>
          <p:sp>
            <p:nvSpPr>
              <p:cNvPr id="16" name="Freeform 16"/>
              <p:cNvSpPr/>
              <p:nvPr/>
            </p:nvSpPr>
            <p:spPr>
              <a:xfrm>
                <a:off x="1206501" y="8729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FFFFFF"/>
                </a:solidFill>
              </a:ln>
            </p:spPr>
          </p:sp>
          <p:sp>
            <p:nvSpPr>
              <p:cNvPr id="17" name="Freeform 17"/>
              <p:cNvSpPr/>
              <p:nvPr/>
            </p:nvSpPr>
            <p:spPr>
              <a:xfrm>
                <a:off x="1228726" y="10065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FFFFFF"/>
                </a:solidFill>
              </a:ln>
            </p:spPr>
          </p:sp>
        </p:grpSp>
        <p:sp>
          <p:nvSpPr>
            <p:cNvPr id="19" name="TextBox 19"/>
            <p:cNvSpPr txBox="1"/>
            <p:nvPr/>
          </p:nvSpPr>
          <p:spPr>
            <a:xfrm>
              <a:off x="1479423" y="900589"/>
              <a:ext cx="874522" cy="249364"/>
            </a:xfrm>
            <a:prstGeom prst="rect">
              <a:avLst/>
            </a:prstGeom>
            <a:noFill/>
            <a:ln>
              <a:noFill/>
            </a:ln>
          </p:spPr>
          <p:txBody>
            <a:bodyPr wrap="none" lIns="0" tIns="0" rIns="0" bIns="0" anchor="t" anchorCtr="0">
              <a:spAutoFit/>
            </a:bodyPr>
            <a:lstStyle/>
            <a:p>
              <a:pPr algn="l"/>
              <a:r>
                <a:rPr lang="zh-CN" sz="1280" b="1" dirty="0">
                  <a:solidFill>
                    <a:srgbClr val="222222"/>
                  </a:solidFill>
                  <a:latin typeface="+mn-lt"/>
                  <a:ea typeface="+mn-ea"/>
                  <a:cs typeface="+mn-cs"/>
                </a:rPr>
                <a:t>客户可识别</a:t>
              </a:r>
            </a:p>
          </p:txBody>
        </p:sp>
        <p:sp>
          <p:nvSpPr>
            <p:cNvPr id="20" name="TextBox 20"/>
            <p:cNvSpPr txBox="1"/>
            <p:nvPr/>
          </p:nvSpPr>
          <p:spPr>
            <a:xfrm>
              <a:off x="909638" y="1343739"/>
              <a:ext cx="1690052" cy="154781"/>
            </a:xfrm>
            <a:prstGeom prst="rect">
              <a:avLst/>
            </a:prstGeom>
            <a:noFill/>
            <a:ln>
              <a:noFill/>
            </a:ln>
          </p:spPr>
          <p:txBody>
            <a:bodyPr wrap="none" lIns="0" tIns="0" rIns="0" bIns="0" anchor="t" anchorCtr="0">
              <a:spAutoFit/>
            </a:bodyPr>
            <a:lstStyle/>
            <a:p>
              <a:pPr algn="l" marL="85280" indent="-85280">
                <a:buClr>
                  <a:srgbClr val="3D3D3D"/>
                </a:buClr>
                <a:buSzTx/>
                <a:buFontTx/>
                <a:buChar char="•"/>
              </a:pPr>
              <a:r>
                <a:rPr lang="zh-CN" sz="790" dirty="0">
                  <a:solidFill>
                    <a:srgbClr val="3D3D3D"/>
                  </a:solidFill>
                  <a:latin typeface="+mn-lt"/>
                  <a:ea typeface="+mn-ea"/>
                  <a:cs typeface="+mn-cs"/>
                </a:rPr>
                <a:t>打通客户身份，形成统一客户视图</a:t>
              </a:r>
            </a:p>
          </p:txBody>
        </p:sp>
        <p:sp>
          <p:nvSpPr>
            <p:cNvPr id="21" name="TextBox 21"/>
            <p:cNvSpPr txBox="1"/>
            <p:nvPr/>
          </p:nvSpPr>
          <p:spPr>
            <a:xfrm>
              <a:off x="909638" y="1534239"/>
              <a:ext cx="1902752" cy="154781"/>
            </a:xfrm>
            <a:prstGeom prst="rect">
              <a:avLst/>
            </a:prstGeom>
            <a:noFill/>
            <a:ln>
              <a:noFill/>
            </a:ln>
          </p:spPr>
          <p:txBody>
            <a:bodyPr wrap="none" lIns="0" tIns="0" rIns="0" bIns="0" anchor="t" anchorCtr="0">
              <a:spAutoFit/>
            </a:bodyPr>
            <a:lstStyle/>
            <a:p>
              <a:pPr algn="l" marL="85280" indent="-85280">
                <a:buClr>
                  <a:srgbClr val="3D3D3D"/>
                </a:buClr>
                <a:buSzTx/>
                <a:buFontTx/>
                <a:buChar char="•"/>
              </a:pPr>
              <a:r>
                <a:rPr lang="zh-CN" sz="790" dirty="0">
                  <a:solidFill>
                    <a:srgbClr val="3D3D3D"/>
                  </a:solidFill>
                  <a:latin typeface="+mn-lt"/>
                  <a:ea typeface="+mn-ea"/>
                  <a:cs typeface="+mn-cs"/>
                </a:rPr>
                <a:t>识别客户特征与价值，支撑精细化经营</a:t>
              </a:r>
            </a:p>
          </p:txBody>
        </p:sp>
      </p:grpSp>
      <p:grpSp>
        <p:nvGrpSpPr>
          <p:cNvPr id="34" name="effect-2"/>
          <p:cNvGrpSpPr/>
          <p:nvPr/>
        </p:nvGrpSpPr>
        <p:grpSpPr>
          <a:xfrm>
            <a:off x="3600450" y="647700"/>
            <a:ext cx="2743200" cy="1143000"/>
            <a:chOff x="3600450" y="647700"/>
            <a:chExt cx="2743200" cy="1143000"/>
          </a:xfrm>
        </p:grpSpPr>
        <p:sp>
          <p:nvSpPr>
            <p:cNvPr id="23" name="Rectangle 23"/>
            <p:cNvSpPr/>
            <p:nvPr/>
          </p:nvSpPr>
          <p:spPr>
            <a:xfrm>
              <a:off x="3600450" y="647700"/>
              <a:ext cx="2743200" cy="1143000"/>
            </a:xfrm>
            <a:prstGeom prst="roundRect">
              <a:avLst>
                <a:gd name="adj" fmla="val 6667"/>
              </a:avLst>
            </a:prstGeom>
            <a:solidFill>
              <a:srgbClr val="FDEFF1"/>
            </a:solidFill>
            <a:ln>
              <a:noFill/>
            </a:ln>
          </p:spPr>
        </p:sp>
        <p:sp>
          <p:nvSpPr>
            <p:cNvPr id="24" name="Ellipse 24"/>
            <p:cNvSpPr/>
            <p:nvPr/>
          </p:nvSpPr>
          <p:spPr>
            <a:xfrm>
              <a:off x="3790950" y="762000"/>
              <a:ext cx="419100" cy="419100"/>
            </a:xfrm>
            <a:prstGeom prst="ellipse">
              <a:avLst/>
            </a:prstGeom>
            <a:solidFill>
              <a:srgbClr val="C83210"/>
            </a:solidFill>
            <a:ln>
              <a:noFill/>
            </a:ln>
          </p:spPr>
        </p:sp>
        <p:grpSp>
          <p:nvGrpSpPr>
            <p:cNvPr id="30" name="Group 30"/>
            <p:cNvGrpSpPr/>
            <p:nvPr/>
          </p:nvGrpSpPr>
          <p:grpSpPr>
            <a:xfrm>
              <a:off x="3922713" y="871538"/>
              <a:ext cx="155575" cy="200026"/>
              <a:chOff x="3922713" y="871538"/>
              <a:chExt cx="155575" cy="200026"/>
            </a:xfrm>
          </p:grpSpPr>
          <p:sp>
            <p:nvSpPr>
              <p:cNvPr id="25" name="Freeform 25"/>
              <p:cNvSpPr/>
              <p:nvPr/>
            </p:nvSpPr>
            <p:spPr>
              <a:xfrm>
                <a:off x="4022725" y="871538"/>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22225">
                <a:solidFill>
                  <a:srgbClr val="FFFFFF"/>
                </a:solidFill>
              </a:ln>
            </p:spPr>
          </p:sp>
          <p:sp>
            <p:nvSpPr>
              <p:cNvPr id="26" name="Freeform 26"/>
              <p:cNvSpPr/>
              <p:nvPr/>
            </p:nvSpPr>
            <p:spPr>
              <a:xfrm>
                <a:off x="3922713" y="871538"/>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22225">
                <a:solidFill>
                  <a:srgbClr val="FFFFFF"/>
                </a:solidFill>
              </a:ln>
            </p:spPr>
          </p:sp>
          <p:sp>
            <p:nvSpPr>
              <p:cNvPr id="27" name="Freeform 27"/>
              <p:cNvSpPr/>
              <p:nvPr/>
            </p:nvSpPr>
            <p:spPr>
              <a:xfrm>
                <a:off x="3967163" y="938213"/>
                <a:ext cx="11113" cy="9525"/>
              </a:xfrm>
              <a:custGeom>
                <a:avLst/>
                <a:gdLst/>
                <a:ahLst/>
                <a:cxnLst/>
                <a:rect l="l" t="t" r="r" b="b"/>
                <a:pathLst>
                  <a:path w="11113" h="9525">
                    <a:moveTo>
                      <a:pt x="0" y="0"/>
                    </a:moveTo>
                    <a:lnTo>
                      <a:pt x="11113" y="0"/>
                    </a:lnTo>
                  </a:path>
                </a:pathLst>
              </a:custGeom>
              <a:noFill/>
              <a:ln w="22225">
                <a:solidFill>
                  <a:srgbClr val="FFFFFF"/>
                </a:solidFill>
              </a:ln>
            </p:spPr>
          </p:sp>
          <p:sp>
            <p:nvSpPr>
              <p:cNvPr id="28" name="Freeform 28"/>
              <p:cNvSpPr/>
              <p:nvPr/>
            </p:nvSpPr>
            <p:spPr>
              <a:xfrm>
                <a:off x="3967163" y="982663"/>
                <a:ext cx="66675" cy="9525"/>
              </a:xfrm>
              <a:custGeom>
                <a:avLst/>
                <a:gdLst/>
                <a:ahLst/>
                <a:cxnLst/>
                <a:rect l="l" t="t" r="r" b="b"/>
                <a:pathLst>
                  <a:path w="66675" h="9525">
                    <a:moveTo>
                      <a:pt x="0" y="0"/>
                    </a:moveTo>
                    <a:lnTo>
                      <a:pt x="66675" y="0"/>
                    </a:lnTo>
                  </a:path>
                </a:pathLst>
              </a:custGeom>
              <a:noFill/>
              <a:ln w="22225">
                <a:solidFill>
                  <a:srgbClr val="FFFFFF"/>
                </a:solidFill>
              </a:ln>
            </p:spPr>
          </p:sp>
          <p:sp>
            <p:nvSpPr>
              <p:cNvPr id="29" name="Freeform 29"/>
              <p:cNvSpPr/>
              <p:nvPr/>
            </p:nvSpPr>
            <p:spPr>
              <a:xfrm>
                <a:off x="3967163" y="1027113"/>
                <a:ext cx="66675" cy="9525"/>
              </a:xfrm>
              <a:custGeom>
                <a:avLst/>
                <a:gdLst/>
                <a:ahLst/>
                <a:cxnLst/>
                <a:rect l="l" t="t" r="r" b="b"/>
                <a:pathLst>
                  <a:path w="66675" h="9525">
                    <a:moveTo>
                      <a:pt x="0" y="0"/>
                    </a:moveTo>
                    <a:lnTo>
                      <a:pt x="66675" y="0"/>
                    </a:lnTo>
                  </a:path>
                </a:pathLst>
              </a:custGeom>
              <a:noFill/>
              <a:ln w="22225">
                <a:solidFill>
                  <a:srgbClr val="FFFFFF"/>
                </a:solidFill>
              </a:ln>
            </p:spPr>
          </p:sp>
        </p:grpSp>
        <p:sp>
          <p:nvSpPr>
            <p:cNvPr id="31" name="TextBox 31"/>
            <p:cNvSpPr txBox="1"/>
            <p:nvPr/>
          </p:nvSpPr>
          <p:spPr>
            <a:xfrm>
              <a:off x="4317873" y="900589"/>
              <a:ext cx="874522" cy="249364"/>
            </a:xfrm>
            <a:prstGeom prst="rect">
              <a:avLst/>
            </a:prstGeom>
            <a:noFill/>
            <a:ln>
              <a:noFill/>
            </a:ln>
          </p:spPr>
          <p:txBody>
            <a:bodyPr wrap="none" lIns="0" tIns="0" rIns="0" bIns="0" anchor="t" anchorCtr="0">
              <a:spAutoFit/>
            </a:bodyPr>
            <a:lstStyle/>
            <a:p>
              <a:pPr algn="l"/>
              <a:r>
                <a:rPr lang="zh-CN" sz="1280" b="1" dirty="0">
                  <a:solidFill>
                    <a:srgbClr val="222222"/>
                  </a:solidFill>
                  <a:latin typeface="+mn-lt"/>
                  <a:ea typeface="+mn-ea"/>
                  <a:cs typeface="+mn-cs"/>
                </a:rPr>
                <a:t>内容可匹配</a:t>
              </a:r>
            </a:p>
          </p:txBody>
        </p:sp>
        <p:sp>
          <p:nvSpPr>
            <p:cNvPr id="32" name="TextBox 32"/>
            <p:cNvSpPr txBox="1"/>
            <p:nvPr/>
          </p:nvSpPr>
          <p:spPr>
            <a:xfrm>
              <a:off x="3748088" y="1343739"/>
              <a:ext cx="1902752" cy="154781"/>
            </a:xfrm>
            <a:prstGeom prst="rect">
              <a:avLst/>
            </a:prstGeom>
            <a:noFill/>
            <a:ln>
              <a:noFill/>
            </a:ln>
          </p:spPr>
          <p:txBody>
            <a:bodyPr wrap="none" lIns="0" tIns="0" rIns="0" bIns="0" anchor="t" anchorCtr="0">
              <a:spAutoFit/>
            </a:bodyPr>
            <a:lstStyle/>
            <a:p>
              <a:pPr algn="l" marL="85280" indent="-85280">
                <a:buClr>
                  <a:srgbClr val="3D3D3D"/>
                </a:buClr>
                <a:buSzTx/>
                <a:buFontTx/>
                <a:buChar char="•"/>
              </a:pPr>
              <a:r>
                <a:rPr lang="zh-CN" sz="790" dirty="0">
                  <a:solidFill>
                    <a:srgbClr val="3D3D3D"/>
                  </a:solidFill>
                  <a:latin typeface="+mn-lt"/>
                  <a:ea typeface="+mn-ea"/>
                  <a:cs typeface="+mn-cs"/>
                </a:rPr>
                <a:t>基于客户标签与需求，匹配个性化内容</a:t>
              </a:r>
            </a:p>
          </p:txBody>
        </p:sp>
        <p:sp>
          <p:nvSpPr>
            <p:cNvPr id="33" name="TextBox 33"/>
            <p:cNvSpPr txBox="1"/>
            <p:nvPr/>
          </p:nvSpPr>
          <p:spPr>
            <a:xfrm>
              <a:off x="3748088" y="1534239"/>
              <a:ext cx="2115452" cy="154781"/>
            </a:xfrm>
            <a:prstGeom prst="rect">
              <a:avLst/>
            </a:prstGeom>
            <a:noFill/>
            <a:ln>
              <a:noFill/>
            </a:ln>
          </p:spPr>
          <p:txBody>
            <a:bodyPr wrap="none" lIns="0" tIns="0" rIns="0" bIns="0" anchor="t" anchorCtr="0">
              <a:spAutoFit/>
            </a:bodyPr>
            <a:lstStyle/>
            <a:p>
              <a:pPr algn="l" marL="85280" indent="-85280">
                <a:buClr>
                  <a:srgbClr val="3D3D3D"/>
                </a:buClr>
                <a:buSzTx/>
                <a:buFontTx/>
                <a:buChar char="•"/>
              </a:pPr>
              <a:r>
                <a:rPr lang="zh-CN" sz="790" dirty="0">
                  <a:solidFill>
                    <a:srgbClr val="3D3D3D"/>
                  </a:solidFill>
                  <a:latin typeface="+mn-lt"/>
                  <a:ea typeface="+mn-ea"/>
                  <a:cs typeface="+mn-cs"/>
                </a:rPr>
                <a:t>覆盖产品、权益、活动、知识等多类型内容</a:t>
              </a:r>
            </a:p>
          </p:txBody>
        </p:sp>
      </p:grpSp>
      <p:grpSp>
        <p:nvGrpSpPr>
          <p:cNvPr id="43" name="effect-3"/>
          <p:cNvGrpSpPr/>
          <p:nvPr/>
        </p:nvGrpSpPr>
        <p:grpSpPr>
          <a:xfrm>
            <a:off x="6438900" y="647700"/>
            <a:ext cx="2743200" cy="1143000"/>
            <a:chOff x="6438900" y="647700"/>
            <a:chExt cx="2743200" cy="1143000"/>
          </a:xfrm>
        </p:grpSpPr>
        <p:sp>
          <p:nvSpPr>
            <p:cNvPr id="35" name="Rectangle 35"/>
            <p:cNvSpPr/>
            <p:nvPr/>
          </p:nvSpPr>
          <p:spPr>
            <a:xfrm>
              <a:off x="6438900" y="647700"/>
              <a:ext cx="2743200" cy="1143000"/>
            </a:xfrm>
            <a:prstGeom prst="roundRect">
              <a:avLst>
                <a:gd name="adj" fmla="val 6667"/>
              </a:avLst>
            </a:prstGeom>
            <a:solidFill>
              <a:srgbClr val="FDEFF1"/>
            </a:solidFill>
            <a:ln>
              <a:noFill/>
            </a:ln>
          </p:spPr>
        </p:sp>
        <p:sp>
          <p:nvSpPr>
            <p:cNvPr id="36" name="Ellipse 36"/>
            <p:cNvSpPr/>
            <p:nvPr/>
          </p:nvSpPr>
          <p:spPr>
            <a:xfrm>
              <a:off x="6629400" y="762000"/>
              <a:ext cx="419100" cy="419100"/>
            </a:xfrm>
            <a:prstGeom prst="ellipse">
              <a:avLst/>
            </a:prstGeom>
            <a:solidFill>
              <a:srgbClr val="C83210"/>
            </a:solidFill>
            <a:ln>
              <a:noFill/>
            </a:ln>
          </p:spPr>
        </p:sp>
        <p:grpSp>
          <p:nvGrpSpPr>
            <p:cNvPr id="39" name="Group 39"/>
            <p:cNvGrpSpPr/>
            <p:nvPr/>
          </p:nvGrpSpPr>
          <p:grpSpPr>
            <a:xfrm>
              <a:off x="6735372" y="871538"/>
              <a:ext cx="203591" cy="203591"/>
              <a:chOff x="6735372" y="871538"/>
              <a:chExt cx="203591" cy="203591"/>
            </a:xfrm>
          </p:grpSpPr>
          <p:sp>
            <p:nvSpPr>
              <p:cNvPr id="37" name="Freeform 37"/>
              <p:cNvSpPr/>
              <p:nvPr/>
            </p:nvSpPr>
            <p:spPr>
              <a:xfrm>
                <a:off x="6816725" y="871538"/>
                <a:ext cx="122238" cy="122238"/>
              </a:xfrm>
              <a:custGeom>
                <a:avLst/>
                <a:gdLst/>
                <a:ahLst/>
                <a:cxnLst/>
                <a:rect l="l" t="t" r="r" b="b"/>
                <a:pathLst>
                  <a:path w="122238" h="122238">
                    <a:moveTo>
                      <a:pt x="0" y="122238"/>
                    </a:moveTo>
                    <a:lnTo>
                      <a:pt x="122238" y="0"/>
                    </a:lnTo>
                  </a:path>
                </a:pathLst>
              </a:custGeom>
              <a:noFill/>
              <a:ln w="22225">
                <a:solidFill>
                  <a:srgbClr val="FFFFFF"/>
                </a:solidFill>
              </a:ln>
            </p:spPr>
          </p:sp>
          <p:sp>
            <p:nvSpPr>
              <p:cNvPr id="38" name="Freeform 38"/>
              <p:cNvSpPr/>
              <p:nvPr/>
            </p:nvSpPr>
            <p:spPr>
              <a:xfrm>
                <a:off x="6735372" y="8715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FFFFFF"/>
                </a:solidFill>
              </a:ln>
            </p:spPr>
          </p:sp>
        </p:grpSp>
        <p:sp>
          <p:nvSpPr>
            <p:cNvPr id="40" name="TextBox 40"/>
            <p:cNvSpPr txBox="1"/>
            <p:nvPr/>
          </p:nvSpPr>
          <p:spPr>
            <a:xfrm>
              <a:off x="7156323" y="900589"/>
              <a:ext cx="874522" cy="249364"/>
            </a:xfrm>
            <a:prstGeom prst="rect">
              <a:avLst/>
            </a:prstGeom>
            <a:noFill/>
            <a:ln>
              <a:noFill/>
            </a:ln>
          </p:spPr>
          <p:txBody>
            <a:bodyPr wrap="none" lIns="0" tIns="0" rIns="0" bIns="0" anchor="t" anchorCtr="0">
              <a:spAutoFit/>
            </a:bodyPr>
            <a:lstStyle/>
            <a:p>
              <a:pPr algn="l"/>
              <a:r>
                <a:rPr lang="zh-CN" sz="1280" b="1" dirty="0">
                  <a:solidFill>
                    <a:srgbClr val="222222"/>
                  </a:solidFill>
                  <a:latin typeface="+mn-lt"/>
                  <a:ea typeface="+mn-ea"/>
                  <a:cs typeface="+mn-cs"/>
                </a:rPr>
                <a:t>触达可编排</a:t>
              </a:r>
            </a:p>
          </p:txBody>
        </p:sp>
        <p:sp>
          <p:nvSpPr>
            <p:cNvPr id="41" name="TextBox 41"/>
            <p:cNvSpPr txBox="1"/>
            <p:nvPr/>
          </p:nvSpPr>
          <p:spPr>
            <a:xfrm>
              <a:off x="6586538" y="1343739"/>
              <a:ext cx="1796402" cy="154781"/>
            </a:xfrm>
            <a:prstGeom prst="rect">
              <a:avLst/>
            </a:prstGeom>
            <a:noFill/>
            <a:ln>
              <a:noFill/>
            </a:ln>
          </p:spPr>
          <p:txBody>
            <a:bodyPr wrap="none" lIns="0" tIns="0" rIns="0" bIns="0" anchor="t" anchorCtr="0">
              <a:spAutoFit/>
            </a:bodyPr>
            <a:lstStyle/>
            <a:p>
              <a:pPr algn="l" marL="85280" indent="-85280">
                <a:buClr>
                  <a:srgbClr val="3D3D3D"/>
                </a:buClr>
                <a:buSzTx/>
                <a:buFontTx/>
                <a:buChar char="•"/>
              </a:pPr>
              <a:r>
                <a:rPr lang="zh-CN" sz="790" dirty="0">
                  <a:solidFill>
                    <a:srgbClr val="3D3D3D"/>
                  </a:solidFill>
                  <a:latin typeface="+mn-lt"/>
                  <a:ea typeface="+mn-ea"/>
                  <a:cs typeface="+mn-cs"/>
                </a:rPr>
                <a:t>多场景、多渠道、自动化的触达编排</a:t>
              </a:r>
            </a:p>
          </p:txBody>
        </p:sp>
        <p:sp>
          <p:nvSpPr>
            <p:cNvPr id="42" name="TextBox 42"/>
            <p:cNvSpPr txBox="1"/>
            <p:nvPr/>
          </p:nvSpPr>
          <p:spPr>
            <a:xfrm>
              <a:off x="6586538" y="1534239"/>
              <a:ext cx="2115452" cy="154781"/>
            </a:xfrm>
            <a:prstGeom prst="rect">
              <a:avLst/>
            </a:prstGeom>
            <a:noFill/>
            <a:ln>
              <a:noFill/>
            </a:ln>
          </p:spPr>
          <p:txBody>
            <a:bodyPr wrap="none" lIns="0" tIns="0" rIns="0" bIns="0" anchor="t" anchorCtr="0">
              <a:spAutoFit/>
            </a:bodyPr>
            <a:lstStyle/>
            <a:p>
              <a:pPr algn="l" marL="85280" indent="-85280">
                <a:buClr>
                  <a:srgbClr val="3D3D3D"/>
                </a:buClr>
                <a:buSzTx/>
                <a:buFontTx/>
                <a:buChar char="•"/>
              </a:pPr>
              <a:r>
                <a:rPr lang="zh-CN" sz="790" dirty="0">
                  <a:solidFill>
                    <a:srgbClr val="3D3D3D"/>
                  </a:solidFill>
                  <a:latin typeface="+mn-lt"/>
                  <a:ea typeface="+mn-ea"/>
                  <a:cs typeface="+mn-cs"/>
                </a:rPr>
                <a:t>基于客户旅程实现合适的内容、时机与频次</a:t>
              </a:r>
            </a:p>
          </p:txBody>
        </p:sp>
      </p:grpSp>
      <p:grpSp>
        <p:nvGrpSpPr>
          <p:cNvPr id="54" name="effect-4"/>
          <p:cNvGrpSpPr/>
          <p:nvPr/>
        </p:nvGrpSpPr>
        <p:grpSpPr>
          <a:xfrm>
            <a:off x="9277350" y="647700"/>
            <a:ext cx="2743200" cy="1143000"/>
            <a:chOff x="9277350" y="647700"/>
            <a:chExt cx="2743200" cy="1143000"/>
          </a:xfrm>
        </p:grpSpPr>
        <p:sp>
          <p:nvSpPr>
            <p:cNvPr id="44" name="Rectangle 44"/>
            <p:cNvSpPr/>
            <p:nvPr/>
          </p:nvSpPr>
          <p:spPr>
            <a:xfrm>
              <a:off x="9277350" y="647700"/>
              <a:ext cx="2743200" cy="1143000"/>
            </a:xfrm>
            <a:prstGeom prst="roundRect">
              <a:avLst>
                <a:gd name="adj" fmla="val 6667"/>
              </a:avLst>
            </a:prstGeom>
            <a:solidFill>
              <a:srgbClr val="FDEFF1"/>
            </a:solidFill>
            <a:ln>
              <a:noFill/>
            </a:ln>
          </p:spPr>
        </p:sp>
        <p:sp>
          <p:nvSpPr>
            <p:cNvPr id="45" name="Ellipse 45"/>
            <p:cNvSpPr/>
            <p:nvPr/>
          </p:nvSpPr>
          <p:spPr>
            <a:xfrm>
              <a:off x="9467850" y="762000"/>
              <a:ext cx="419100" cy="419100"/>
            </a:xfrm>
            <a:prstGeom prst="ellipse">
              <a:avLst/>
            </a:prstGeom>
            <a:solidFill>
              <a:srgbClr val="C83210"/>
            </a:solidFill>
            <a:ln>
              <a:noFill/>
            </a:ln>
          </p:spPr>
        </p:sp>
        <p:grpSp>
          <p:nvGrpSpPr>
            <p:cNvPr id="50" name="Group 50"/>
            <p:cNvGrpSpPr/>
            <p:nvPr/>
          </p:nvGrpSpPr>
          <p:grpSpPr>
            <a:xfrm>
              <a:off x="9577388" y="882650"/>
              <a:ext cx="200025" cy="187326"/>
              <a:chOff x="9577388" y="882650"/>
              <a:chExt cx="200025" cy="187326"/>
            </a:xfrm>
          </p:grpSpPr>
          <p:sp>
            <p:nvSpPr>
              <p:cNvPr id="46" name="Freeform 46"/>
              <p:cNvSpPr/>
              <p:nvPr/>
            </p:nvSpPr>
            <p:spPr>
              <a:xfrm>
                <a:off x="9577388" y="97155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FFFFFF"/>
                </a:solidFill>
              </a:ln>
            </p:spPr>
          </p:sp>
          <p:sp>
            <p:nvSpPr>
              <p:cNvPr id="47" name="Freeform 47"/>
              <p:cNvSpPr/>
              <p:nvPr/>
            </p:nvSpPr>
            <p:spPr>
              <a:xfrm>
                <a:off x="9710738" y="92710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FFFFFF"/>
                </a:solidFill>
              </a:ln>
            </p:spPr>
          </p:sp>
          <p:sp>
            <p:nvSpPr>
              <p:cNvPr id="48" name="Freeform 48"/>
              <p:cNvSpPr/>
              <p:nvPr/>
            </p:nvSpPr>
            <p:spPr>
              <a:xfrm>
                <a:off x="9644063" y="88265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FFFFFF"/>
                </a:solidFill>
              </a:ln>
            </p:spPr>
          </p:sp>
          <p:sp>
            <p:nvSpPr>
              <p:cNvPr id="49" name="Freeform 49"/>
              <p:cNvSpPr/>
              <p:nvPr/>
            </p:nvSpPr>
            <p:spPr>
              <a:xfrm>
                <a:off x="9588500" y="1060451"/>
                <a:ext cx="155575" cy="9525"/>
              </a:xfrm>
              <a:custGeom>
                <a:avLst/>
                <a:gdLst/>
                <a:ahLst/>
                <a:cxnLst/>
                <a:rect l="l" t="t" r="r" b="b"/>
                <a:pathLst>
                  <a:path w="155575" h="9525">
                    <a:moveTo>
                      <a:pt x="0" y="0"/>
                    </a:moveTo>
                    <a:lnTo>
                      <a:pt x="155575" y="0"/>
                    </a:lnTo>
                  </a:path>
                </a:pathLst>
              </a:custGeom>
              <a:noFill/>
              <a:ln w="22225">
                <a:solidFill>
                  <a:srgbClr val="FFFFFF"/>
                </a:solidFill>
              </a:ln>
            </p:spPr>
          </p:sp>
        </p:grpSp>
        <p:sp>
          <p:nvSpPr>
            <p:cNvPr id="51" name="TextBox 51"/>
            <p:cNvSpPr txBox="1"/>
            <p:nvPr/>
          </p:nvSpPr>
          <p:spPr>
            <a:xfrm>
              <a:off x="9994773" y="900589"/>
              <a:ext cx="874522" cy="249364"/>
            </a:xfrm>
            <a:prstGeom prst="rect">
              <a:avLst/>
            </a:prstGeom>
            <a:noFill/>
            <a:ln>
              <a:noFill/>
            </a:ln>
          </p:spPr>
          <p:txBody>
            <a:bodyPr wrap="none" lIns="0" tIns="0" rIns="0" bIns="0" anchor="t" anchorCtr="0">
              <a:spAutoFit/>
            </a:bodyPr>
            <a:lstStyle/>
            <a:p>
              <a:pPr algn="l"/>
              <a:r>
                <a:rPr lang="zh-CN" sz="1280" b="1" dirty="0">
                  <a:solidFill>
                    <a:srgbClr val="222222"/>
                  </a:solidFill>
                  <a:latin typeface="+mn-lt"/>
                  <a:ea typeface="+mn-ea"/>
                  <a:cs typeface="+mn-cs"/>
                </a:rPr>
                <a:t>效果可衡量</a:t>
              </a:r>
            </a:p>
          </p:txBody>
        </p:sp>
        <p:sp>
          <p:nvSpPr>
            <p:cNvPr id="52" name="TextBox 52"/>
            <p:cNvSpPr txBox="1"/>
            <p:nvPr/>
          </p:nvSpPr>
          <p:spPr>
            <a:xfrm>
              <a:off x="9424988" y="1343739"/>
              <a:ext cx="1371003" cy="154781"/>
            </a:xfrm>
            <a:prstGeom prst="rect">
              <a:avLst/>
            </a:prstGeom>
            <a:noFill/>
            <a:ln>
              <a:noFill/>
            </a:ln>
          </p:spPr>
          <p:txBody>
            <a:bodyPr wrap="none" lIns="0" tIns="0" rIns="0" bIns="0" anchor="t" anchorCtr="0">
              <a:spAutoFit/>
            </a:bodyPr>
            <a:lstStyle/>
            <a:p>
              <a:pPr algn="l" marL="85280" indent="-85280">
                <a:buClr>
                  <a:srgbClr val="3D3D3D"/>
                </a:buClr>
                <a:buSzTx/>
                <a:buFontTx/>
                <a:buChar char="•"/>
              </a:pPr>
              <a:r>
                <a:rPr lang="zh-CN" sz="790" dirty="0">
                  <a:solidFill>
                    <a:srgbClr val="3D3D3D"/>
                  </a:solidFill>
                  <a:latin typeface="+mn-lt"/>
                  <a:ea typeface="+mn-ea"/>
                  <a:cs typeface="+mn-cs"/>
                </a:rPr>
                <a:t>全链路数据追踪与转化归因</a:t>
              </a:r>
            </a:p>
          </p:txBody>
        </p:sp>
        <p:sp>
          <p:nvSpPr>
            <p:cNvPr id="53" name="TextBox 53"/>
            <p:cNvSpPr txBox="1"/>
            <p:nvPr/>
          </p:nvSpPr>
          <p:spPr>
            <a:xfrm>
              <a:off x="9424988" y="1534239"/>
              <a:ext cx="1477353" cy="154781"/>
            </a:xfrm>
            <a:prstGeom prst="rect">
              <a:avLst/>
            </a:prstGeom>
            <a:noFill/>
            <a:ln>
              <a:noFill/>
            </a:ln>
          </p:spPr>
          <p:txBody>
            <a:bodyPr wrap="none" lIns="0" tIns="0" rIns="0" bIns="0" anchor="t" anchorCtr="0">
              <a:spAutoFit/>
            </a:bodyPr>
            <a:lstStyle/>
            <a:p>
              <a:pPr algn="l" marL="85280" indent="-85280">
                <a:buClr>
                  <a:srgbClr val="3D3D3D"/>
                </a:buClr>
                <a:buSzTx/>
                <a:buFontTx/>
                <a:buChar char="•"/>
              </a:pPr>
              <a:r>
                <a:rPr lang="zh-CN" sz="790" dirty="0">
                  <a:solidFill>
                    <a:srgbClr val="3D3D3D"/>
                  </a:solidFill>
                  <a:latin typeface="+mn-lt"/>
                  <a:ea typeface="+mn-ea"/>
                  <a:cs typeface="+mn-cs"/>
                </a:rPr>
                <a:t>以数据驱动持续优化运营策略</a:t>
              </a:r>
            </a:p>
          </p:txBody>
        </p:sp>
      </p:grpSp>
      <p:grpSp>
        <p:nvGrpSpPr>
          <p:cNvPr id="59" name="band2-label"/>
          <p:cNvGrpSpPr/>
          <p:nvPr/>
        </p:nvGrpSpPr>
        <p:grpSpPr>
          <a:xfrm>
            <a:off x="171450" y="1924050"/>
            <a:ext cx="495300" cy="914400"/>
            <a:chOff x="171450" y="1924050"/>
            <a:chExt cx="495300" cy="914400"/>
          </a:xfrm>
        </p:grpSpPr>
        <p:sp>
          <p:nvSpPr>
            <p:cNvPr id="55" name="Rectangle 55"/>
            <p:cNvSpPr/>
            <p:nvPr/>
          </p:nvSpPr>
          <p:spPr>
            <a:xfrm>
              <a:off x="171450" y="1924050"/>
              <a:ext cx="495300" cy="914400"/>
            </a:xfrm>
            <a:prstGeom prst="roundRect">
              <a:avLst>
                <a:gd name="adj" fmla="val 11538"/>
              </a:avLst>
            </a:prstGeom>
            <a:solidFill>
              <a:srgbClr val="C83210"/>
            </a:solidFill>
            <a:ln>
              <a:noFill/>
            </a:ln>
          </p:spPr>
        </p:sp>
        <p:sp>
          <p:nvSpPr>
            <p:cNvPr id="56" name="TextBox 56"/>
            <p:cNvSpPr txBox="1"/>
            <p:nvPr/>
          </p:nvSpPr>
          <p:spPr>
            <a:xfrm>
              <a:off x="282219" y="21235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客户</a:t>
              </a:r>
            </a:p>
          </p:txBody>
        </p:sp>
        <p:sp>
          <p:nvSpPr>
            <p:cNvPr id="57" name="TextBox 57"/>
            <p:cNvSpPr txBox="1"/>
            <p:nvPr/>
          </p:nvSpPr>
          <p:spPr>
            <a:xfrm>
              <a:off x="282219" y="23140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经营</a:t>
              </a:r>
            </a:p>
          </p:txBody>
        </p:sp>
        <p:sp>
          <p:nvSpPr>
            <p:cNvPr id="58" name="TextBox 58"/>
            <p:cNvSpPr txBox="1"/>
            <p:nvPr/>
          </p:nvSpPr>
          <p:spPr>
            <a:xfrm>
              <a:off x="216256" y="2504599"/>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全链路</a:t>
              </a:r>
            </a:p>
          </p:txBody>
        </p:sp>
      </p:grpSp>
      <p:grpSp>
        <p:nvGrpSpPr>
          <p:cNvPr id="117" name="journey-chain"/>
          <p:cNvGrpSpPr/>
          <p:nvPr/>
        </p:nvGrpSpPr>
        <p:grpSpPr>
          <a:xfrm>
            <a:off x="762000" y="1952625"/>
            <a:ext cx="11249025" cy="857250"/>
            <a:chOff x="762000" y="1952625"/>
            <a:chExt cx="11249025" cy="857250"/>
          </a:xfrm>
        </p:grpSpPr>
        <p:sp>
          <p:nvSpPr>
            <p:cNvPr id="60" name="Freeform 60"/>
            <p:cNvSpPr/>
            <p:nvPr/>
          </p:nvSpPr>
          <p:spPr>
            <a:xfrm>
              <a:off x="762000" y="1952625"/>
              <a:ext cx="1447800" cy="857250"/>
            </a:xfrm>
            <a:prstGeom prst="chevron">
              <a:avLst>
                <a:gd name="adj" fmla="val 18000"/>
              </a:avLst>
            </a:prstGeom>
            <a:solidFill>
              <a:srgbClr val="FBE3E6"/>
            </a:solidFill>
            <a:ln>
              <a:noFill/>
            </a:ln>
          </p:spPr>
        </p:sp>
        <p:sp>
          <p:nvSpPr>
            <p:cNvPr id="61" name="Freeform 61"/>
            <p:cNvSpPr/>
            <p:nvPr/>
          </p:nvSpPr>
          <p:spPr>
            <a:xfrm>
              <a:off x="2162175" y="1952625"/>
              <a:ext cx="1447800" cy="857250"/>
            </a:xfrm>
            <a:prstGeom prst="chevron">
              <a:avLst>
                <a:gd name="adj" fmla="val 18000"/>
              </a:avLst>
            </a:prstGeom>
            <a:solidFill>
              <a:srgbClr val="FBE3E6"/>
            </a:solidFill>
            <a:ln>
              <a:noFill/>
            </a:ln>
          </p:spPr>
        </p:sp>
        <p:sp>
          <p:nvSpPr>
            <p:cNvPr id="62" name="Freeform 62"/>
            <p:cNvSpPr/>
            <p:nvPr/>
          </p:nvSpPr>
          <p:spPr>
            <a:xfrm>
              <a:off x="3562350" y="1952625"/>
              <a:ext cx="1447800" cy="857250"/>
            </a:xfrm>
            <a:prstGeom prst="chevron">
              <a:avLst>
                <a:gd name="adj" fmla="val 18000"/>
              </a:avLst>
            </a:prstGeom>
            <a:solidFill>
              <a:srgbClr val="FBE3E6"/>
            </a:solidFill>
            <a:ln>
              <a:noFill/>
            </a:ln>
          </p:spPr>
        </p:sp>
        <p:sp>
          <p:nvSpPr>
            <p:cNvPr id="63" name="Freeform 63"/>
            <p:cNvSpPr/>
            <p:nvPr/>
          </p:nvSpPr>
          <p:spPr>
            <a:xfrm>
              <a:off x="4962525" y="1952625"/>
              <a:ext cx="1447800" cy="857250"/>
            </a:xfrm>
            <a:prstGeom prst="chevron">
              <a:avLst>
                <a:gd name="adj" fmla="val 18000"/>
              </a:avLst>
            </a:prstGeom>
            <a:solidFill>
              <a:srgbClr val="FBE3E6"/>
            </a:solidFill>
            <a:ln>
              <a:noFill/>
            </a:ln>
          </p:spPr>
        </p:sp>
        <p:sp>
          <p:nvSpPr>
            <p:cNvPr id="64" name="Freeform 64"/>
            <p:cNvSpPr/>
            <p:nvPr/>
          </p:nvSpPr>
          <p:spPr>
            <a:xfrm>
              <a:off x="6362700" y="1952625"/>
              <a:ext cx="1447800" cy="857250"/>
            </a:xfrm>
            <a:prstGeom prst="chevron">
              <a:avLst>
                <a:gd name="adj" fmla="val 18000"/>
              </a:avLst>
            </a:prstGeom>
            <a:solidFill>
              <a:srgbClr val="FBE3E6"/>
            </a:solidFill>
            <a:ln>
              <a:noFill/>
            </a:ln>
          </p:spPr>
        </p:sp>
        <p:sp>
          <p:nvSpPr>
            <p:cNvPr id="65" name="Freeform 65"/>
            <p:cNvSpPr/>
            <p:nvPr/>
          </p:nvSpPr>
          <p:spPr>
            <a:xfrm>
              <a:off x="7762875" y="1952625"/>
              <a:ext cx="1447800" cy="857250"/>
            </a:xfrm>
            <a:prstGeom prst="chevron">
              <a:avLst>
                <a:gd name="adj" fmla="val 18000"/>
              </a:avLst>
            </a:prstGeom>
            <a:solidFill>
              <a:srgbClr val="FBE3E6"/>
            </a:solidFill>
            <a:ln>
              <a:noFill/>
            </a:ln>
          </p:spPr>
        </p:sp>
        <p:sp>
          <p:nvSpPr>
            <p:cNvPr id="66" name="Freeform 66"/>
            <p:cNvSpPr/>
            <p:nvPr/>
          </p:nvSpPr>
          <p:spPr>
            <a:xfrm>
              <a:off x="9163050" y="1952625"/>
              <a:ext cx="1447800" cy="857250"/>
            </a:xfrm>
            <a:prstGeom prst="chevron">
              <a:avLst>
                <a:gd name="adj" fmla="val 18000"/>
              </a:avLst>
            </a:prstGeom>
            <a:solidFill>
              <a:srgbClr val="FBE3E6"/>
            </a:solidFill>
            <a:ln>
              <a:noFill/>
            </a:ln>
          </p:spPr>
        </p:sp>
        <p:sp>
          <p:nvSpPr>
            <p:cNvPr id="67" name="Freeform 67"/>
            <p:cNvSpPr/>
            <p:nvPr/>
          </p:nvSpPr>
          <p:spPr>
            <a:xfrm>
              <a:off x="10563225" y="1952625"/>
              <a:ext cx="1447800" cy="857250"/>
            </a:xfrm>
            <a:prstGeom prst="chevron">
              <a:avLst>
                <a:gd name="adj" fmla="val 18000"/>
              </a:avLst>
            </a:prstGeom>
            <a:solidFill>
              <a:srgbClr val="FBE3E6"/>
            </a:solidFill>
            <a:ln>
              <a:noFill/>
            </a:ln>
          </p:spPr>
        </p:sp>
        <p:grpSp>
          <p:nvGrpSpPr>
            <p:cNvPr id="72" name="Group 72"/>
            <p:cNvGrpSpPr/>
            <p:nvPr/>
          </p:nvGrpSpPr>
          <p:grpSpPr>
            <a:xfrm>
              <a:off x="1443038" y="2045494"/>
              <a:ext cx="139700" cy="165894"/>
              <a:chOff x="1443038" y="2045494"/>
              <a:chExt cx="139700" cy="165894"/>
            </a:xfrm>
          </p:grpSpPr>
          <p:sp>
            <p:nvSpPr>
              <p:cNvPr id="68" name="Freeform 68"/>
              <p:cNvSpPr/>
              <p:nvPr/>
            </p:nvSpPr>
            <p:spPr>
              <a:xfrm>
                <a:off x="1460500" y="20454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C83210"/>
                </a:solidFill>
              </a:ln>
            </p:spPr>
          </p:sp>
          <p:sp>
            <p:nvSpPr>
              <p:cNvPr id="69" name="Freeform 69"/>
              <p:cNvSpPr/>
              <p:nvPr/>
            </p:nvSpPr>
            <p:spPr>
              <a:xfrm>
                <a:off x="1530350" y="2185194"/>
                <a:ext cx="52388" cy="9525"/>
              </a:xfrm>
              <a:custGeom>
                <a:avLst/>
                <a:gdLst/>
                <a:ahLst/>
                <a:cxnLst/>
                <a:rect l="l" t="t" r="r" b="b"/>
                <a:pathLst>
                  <a:path w="52388" h="9525">
                    <a:moveTo>
                      <a:pt x="0" y="0"/>
                    </a:moveTo>
                    <a:lnTo>
                      <a:pt x="52388" y="0"/>
                    </a:lnTo>
                  </a:path>
                </a:pathLst>
              </a:custGeom>
              <a:noFill/>
              <a:ln w="17463">
                <a:solidFill>
                  <a:srgbClr val="C83210"/>
                </a:solidFill>
              </a:ln>
            </p:spPr>
          </p:sp>
          <p:sp>
            <p:nvSpPr>
              <p:cNvPr id="70" name="Freeform 70"/>
              <p:cNvSpPr/>
              <p:nvPr/>
            </p:nvSpPr>
            <p:spPr>
              <a:xfrm>
                <a:off x="1556544" y="2159000"/>
                <a:ext cx="9525" cy="52388"/>
              </a:xfrm>
              <a:custGeom>
                <a:avLst/>
                <a:gdLst/>
                <a:ahLst/>
                <a:cxnLst/>
                <a:rect l="l" t="t" r="r" b="b"/>
                <a:pathLst>
                  <a:path w="9525" h="52388">
                    <a:moveTo>
                      <a:pt x="0" y="0"/>
                    </a:moveTo>
                    <a:lnTo>
                      <a:pt x="0" y="52388"/>
                    </a:lnTo>
                  </a:path>
                </a:pathLst>
              </a:custGeom>
              <a:noFill/>
              <a:ln w="17463">
                <a:solidFill>
                  <a:srgbClr val="C83210"/>
                </a:solidFill>
              </a:ln>
            </p:spPr>
          </p:sp>
          <p:sp>
            <p:nvSpPr>
              <p:cNvPr id="71" name="Freeform 71"/>
              <p:cNvSpPr/>
              <p:nvPr/>
            </p:nvSpPr>
            <p:spPr>
              <a:xfrm>
                <a:off x="1443038" y="21502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C83210"/>
                </a:solidFill>
              </a:ln>
            </p:spPr>
          </p:sp>
        </p:grpSp>
        <p:sp>
          <p:nvSpPr>
            <p:cNvPr id="73" name="TextBox 73"/>
            <p:cNvSpPr txBox="1"/>
            <p:nvPr/>
          </p:nvSpPr>
          <p:spPr>
            <a:xfrm>
              <a:off x="1237577" y="2337197"/>
              <a:ext cx="515696" cy="183356"/>
            </a:xfrm>
            <a:prstGeom prst="rect">
              <a:avLst/>
            </a:prstGeom>
            <a:noFill/>
            <a:ln>
              <a:noFill/>
            </a:ln>
          </p:spPr>
          <p:txBody>
            <a:bodyPr wrap="none" lIns="0" tIns="0" rIns="0" bIns="0" anchor="t" anchorCtr="0">
              <a:spAutoFit/>
            </a:bodyPr>
            <a:lstStyle/>
            <a:p>
              <a:pPr algn="ctr"/>
              <a:r>
                <a:rPr lang="zh-CN" sz="940" b="1" dirty="0">
                  <a:solidFill>
                    <a:srgbClr val="222222"/>
                  </a:solidFill>
                  <a:latin typeface="+mn-lt"/>
                  <a:ea typeface="+mn-ea"/>
                  <a:cs typeface="+mn-cs"/>
                </a:rPr>
                <a:t>获客添加</a:t>
              </a:r>
            </a:p>
          </p:txBody>
        </p:sp>
        <p:sp>
          <p:nvSpPr>
            <p:cNvPr id="74" name="TextBox 74"/>
            <p:cNvSpPr txBox="1"/>
            <p:nvPr/>
          </p:nvSpPr>
          <p:spPr>
            <a:xfrm>
              <a:off x="1007982" y="2551986"/>
              <a:ext cx="974885"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(线上线下多场景引流)</a:t>
              </a:r>
            </a:p>
          </p:txBody>
        </p:sp>
        <p:grpSp>
          <p:nvGrpSpPr>
            <p:cNvPr id="80" name="Group 80"/>
            <p:cNvGrpSpPr/>
            <p:nvPr/>
          </p:nvGrpSpPr>
          <p:grpSpPr>
            <a:xfrm>
              <a:off x="2817019" y="2054225"/>
              <a:ext cx="157163" cy="139700"/>
              <a:chOff x="2817019" y="2054225"/>
              <a:chExt cx="157163" cy="139700"/>
            </a:xfrm>
          </p:grpSpPr>
          <p:sp>
            <p:nvSpPr>
              <p:cNvPr id="75" name="Freeform 75"/>
              <p:cNvSpPr/>
              <p:nvPr/>
            </p:nvSpPr>
            <p:spPr>
              <a:xfrm>
                <a:off x="2817019" y="2054225"/>
                <a:ext cx="157163" cy="139700"/>
              </a:xfrm>
              <a:custGeom>
                <a:avLst/>
                <a:gdLst/>
                <a:ahLst/>
                <a:cxnLst/>
                <a:rect l="l" t="t" r="r" b="b"/>
                <a:pathLst>
                  <a:path w="157163" h="139700">
                    <a:moveTo>
                      <a:pt x="0" y="26194"/>
                    </a:moveTo>
                    <a:cubicBezTo>
                      <a:pt x="0" y="11727"/>
                      <a:pt x="11727" y="0"/>
                      <a:pt x="26194" y="0"/>
                    </a:cubicBezTo>
                    <a:lnTo>
                      <a:pt x="130969" y="0"/>
                    </a:lnTo>
                    <a:cubicBezTo>
                      <a:pt x="145435" y="0"/>
                      <a:pt x="157163" y="11727"/>
                      <a:pt x="157163" y="26194"/>
                    </a:cubicBezTo>
                    <a:lnTo>
                      <a:pt x="157163" y="113506"/>
                    </a:lnTo>
                    <a:cubicBezTo>
                      <a:pt x="157163" y="127973"/>
                      <a:pt x="145435" y="139700"/>
                      <a:pt x="130969" y="139700"/>
                    </a:cubicBezTo>
                    <a:lnTo>
                      <a:pt x="26194" y="139700"/>
                    </a:lnTo>
                    <a:cubicBezTo>
                      <a:pt x="11727" y="139700"/>
                      <a:pt x="0" y="127973"/>
                      <a:pt x="0" y="113506"/>
                    </a:cubicBezTo>
                    <a:lnTo>
                      <a:pt x="0" y="26194"/>
                    </a:lnTo>
                  </a:path>
                </a:pathLst>
              </a:custGeom>
              <a:noFill/>
              <a:ln w="17463">
                <a:solidFill>
                  <a:srgbClr val="C83210"/>
                </a:solidFill>
              </a:ln>
            </p:spPr>
          </p:sp>
          <p:sp>
            <p:nvSpPr>
              <p:cNvPr id="76" name="Freeform 76"/>
              <p:cNvSpPr/>
              <p:nvPr/>
            </p:nvSpPr>
            <p:spPr>
              <a:xfrm>
                <a:off x="2851944" y="2089150"/>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83210"/>
                </a:solidFill>
              </a:ln>
            </p:spPr>
          </p:sp>
          <p:sp>
            <p:nvSpPr>
              <p:cNvPr id="77" name="Freeform 77"/>
              <p:cNvSpPr/>
              <p:nvPr/>
            </p:nvSpPr>
            <p:spPr>
              <a:xfrm>
                <a:off x="2921794" y="2089150"/>
                <a:ext cx="17463" cy="9525"/>
              </a:xfrm>
              <a:custGeom>
                <a:avLst/>
                <a:gdLst/>
                <a:ahLst/>
                <a:cxnLst/>
                <a:rect l="l" t="t" r="r" b="b"/>
                <a:pathLst>
                  <a:path w="17463" h="9525">
                    <a:moveTo>
                      <a:pt x="0" y="0"/>
                    </a:moveTo>
                    <a:lnTo>
                      <a:pt x="17463" y="0"/>
                    </a:lnTo>
                  </a:path>
                </a:pathLst>
              </a:custGeom>
              <a:noFill/>
              <a:ln w="17463">
                <a:solidFill>
                  <a:srgbClr val="C83210"/>
                </a:solidFill>
              </a:ln>
            </p:spPr>
          </p:sp>
          <p:sp>
            <p:nvSpPr>
              <p:cNvPr id="78" name="Freeform 78"/>
              <p:cNvSpPr/>
              <p:nvPr/>
            </p:nvSpPr>
            <p:spPr>
              <a:xfrm>
                <a:off x="2921794" y="2124075"/>
                <a:ext cx="17463" cy="9525"/>
              </a:xfrm>
              <a:custGeom>
                <a:avLst/>
                <a:gdLst/>
                <a:ahLst/>
                <a:cxnLst/>
                <a:rect l="l" t="t" r="r" b="b"/>
                <a:pathLst>
                  <a:path w="17463" h="9525">
                    <a:moveTo>
                      <a:pt x="0" y="0"/>
                    </a:moveTo>
                    <a:lnTo>
                      <a:pt x="17463" y="0"/>
                    </a:lnTo>
                  </a:path>
                </a:pathLst>
              </a:custGeom>
              <a:noFill/>
              <a:ln w="17463">
                <a:solidFill>
                  <a:srgbClr val="C83210"/>
                </a:solidFill>
              </a:ln>
            </p:spPr>
          </p:sp>
          <p:sp>
            <p:nvSpPr>
              <p:cNvPr id="79" name="Freeform 79"/>
              <p:cNvSpPr/>
              <p:nvPr/>
            </p:nvSpPr>
            <p:spPr>
              <a:xfrm>
                <a:off x="2851944" y="2159000"/>
                <a:ext cx="87313" cy="9525"/>
              </a:xfrm>
              <a:custGeom>
                <a:avLst/>
                <a:gdLst/>
                <a:ahLst/>
                <a:cxnLst/>
                <a:rect l="l" t="t" r="r" b="b"/>
                <a:pathLst>
                  <a:path w="87313" h="9525">
                    <a:moveTo>
                      <a:pt x="0" y="0"/>
                    </a:moveTo>
                    <a:lnTo>
                      <a:pt x="87313" y="0"/>
                    </a:lnTo>
                  </a:path>
                </a:pathLst>
              </a:custGeom>
              <a:noFill/>
              <a:ln w="17463">
                <a:solidFill>
                  <a:srgbClr val="C83210"/>
                </a:solidFill>
              </a:ln>
            </p:spPr>
          </p:sp>
        </p:grpSp>
        <p:sp>
          <p:nvSpPr>
            <p:cNvPr id="81" name="TextBox 81"/>
            <p:cNvSpPr txBox="1"/>
            <p:nvPr/>
          </p:nvSpPr>
          <p:spPr>
            <a:xfrm>
              <a:off x="2637752" y="2337197"/>
              <a:ext cx="515696" cy="183356"/>
            </a:xfrm>
            <a:prstGeom prst="rect">
              <a:avLst/>
            </a:prstGeom>
            <a:noFill/>
            <a:ln>
              <a:noFill/>
            </a:ln>
          </p:spPr>
          <p:txBody>
            <a:bodyPr wrap="none" lIns="0" tIns="0" rIns="0" bIns="0" anchor="t" anchorCtr="0">
              <a:spAutoFit/>
            </a:bodyPr>
            <a:lstStyle/>
            <a:p>
              <a:pPr algn="ctr"/>
              <a:r>
                <a:rPr lang="zh-CN" sz="940" b="1" dirty="0">
                  <a:solidFill>
                    <a:srgbClr val="222222"/>
                  </a:solidFill>
                  <a:latin typeface="+mn-lt"/>
                  <a:ea typeface="+mn-ea"/>
                  <a:cs typeface="+mn-cs"/>
                </a:rPr>
                <a:t>身份认证</a:t>
              </a:r>
            </a:p>
          </p:txBody>
        </p:sp>
        <p:sp>
          <p:nvSpPr>
            <p:cNvPr id="82" name="TextBox 82"/>
            <p:cNvSpPr txBox="1"/>
            <p:nvPr/>
          </p:nvSpPr>
          <p:spPr>
            <a:xfrm>
              <a:off x="2408157" y="2551986"/>
              <a:ext cx="974885"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(核验身份，建立信任)</a:t>
              </a:r>
            </a:p>
          </p:txBody>
        </p:sp>
        <p:grpSp>
          <p:nvGrpSpPr>
            <p:cNvPr id="86" name="Group 86"/>
            <p:cNvGrpSpPr/>
            <p:nvPr/>
          </p:nvGrpSpPr>
          <p:grpSpPr>
            <a:xfrm>
              <a:off x="4225925" y="2054225"/>
              <a:ext cx="139700" cy="139700"/>
              <a:chOff x="4225925" y="2054225"/>
              <a:chExt cx="139700" cy="139700"/>
            </a:xfrm>
          </p:grpSpPr>
          <p:sp>
            <p:nvSpPr>
              <p:cNvPr id="83" name="Freeform 83"/>
              <p:cNvSpPr/>
              <p:nvPr/>
            </p:nvSpPr>
            <p:spPr>
              <a:xfrm>
                <a:off x="4225925" y="2054225"/>
                <a:ext cx="139700" cy="69850"/>
              </a:xfrm>
              <a:custGeom>
                <a:avLst/>
                <a:gdLst/>
                <a:ahLst/>
                <a:cxnLst/>
                <a:rect l="l" t="t" r="r" b="b"/>
                <a:pathLst>
                  <a:path w="139700" h="69850">
                    <a:moveTo>
                      <a:pt x="69850" y="0"/>
                    </a:moveTo>
                    <a:lnTo>
                      <a:pt x="0" y="34925"/>
                    </a:lnTo>
                    <a:lnTo>
                      <a:pt x="69850" y="69850"/>
                    </a:lnTo>
                    <a:lnTo>
                      <a:pt x="139700" y="34925"/>
                    </a:lnTo>
                    <a:lnTo>
                      <a:pt x="69850" y="0"/>
                    </a:lnTo>
                  </a:path>
                </a:pathLst>
              </a:custGeom>
              <a:noFill/>
              <a:ln w="17463">
                <a:solidFill>
                  <a:srgbClr val="C83210"/>
                </a:solidFill>
              </a:ln>
            </p:spPr>
          </p:sp>
          <p:sp>
            <p:nvSpPr>
              <p:cNvPr id="84" name="Freeform 84"/>
              <p:cNvSpPr/>
              <p:nvPr/>
            </p:nvSpPr>
            <p:spPr>
              <a:xfrm>
                <a:off x="4225925" y="2124075"/>
                <a:ext cx="139700" cy="34925"/>
              </a:xfrm>
              <a:custGeom>
                <a:avLst/>
                <a:gdLst/>
                <a:ahLst/>
                <a:cxnLst/>
                <a:rect l="l" t="t" r="r" b="b"/>
                <a:pathLst>
                  <a:path w="139700" h="34925">
                    <a:moveTo>
                      <a:pt x="0" y="0"/>
                    </a:moveTo>
                    <a:lnTo>
                      <a:pt x="69850" y="34925"/>
                    </a:lnTo>
                    <a:lnTo>
                      <a:pt x="139700" y="0"/>
                    </a:lnTo>
                  </a:path>
                </a:pathLst>
              </a:custGeom>
              <a:noFill/>
              <a:ln w="17463">
                <a:solidFill>
                  <a:srgbClr val="C83210"/>
                </a:solidFill>
              </a:ln>
            </p:spPr>
          </p:sp>
          <p:sp>
            <p:nvSpPr>
              <p:cNvPr id="85" name="Freeform 85"/>
              <p:cNvSpPr/>
              <p:nvPr/>
            </p:nvSpPr>
            <p:spPr>
              <a:xfrm>
                <a:off x="4225925" y="2159000"/>
                <a:ext cx="139700" cy="34925"/>
              </a:xfrm>
              <a:custGeom>
                <a:avLst/>
                <a:gdLst/>
                <a:ahLst/>
                <a:cxnLst/>
                <a:rect l="l" t="t" r="r" b="b"/>
                <a:pathLst>
                  <a:path w="139700" h="34925">
                    <a:moveTo>
                      <a:pt x="0" y="0"/>
                    </a:moveTo>
                    <a:lnTo>
                      <a:pt x="69850" y="34925"/>
                    </a:lnTo>
                    <a:lnTo>
                      <a:pt x="139700" y="0"/>
                    </a:lnTo>
                  </a:path>
                </a:pathLst>
              </a:custGeom>
              <a:noFill/>
              <a:ln w="17463">
                <a:solidFill>
                  <a:srgbClr val="C83210"/>
                </a:solidFill>
              </a:ln>
            </p:spPr>
          </p:sp>
        </p:grpSp>
        <p:sp>
          <p:nvSpPr>
            <p:cNvPr id="87" name="TextBox 87"/>
            <p:cNvSpPr txBox="1"/>
            <p:nvPr/>
          </p:nvSpPr>
          <p:spPr>
            <a:xfrm>
              <a:off x="4037927" y="2337197"/>
              <a:ext cx="515696" cy="183356"/>
            </a:xfrm>
            <a:prstGeom prst="rect">
              <a:avLst/>
            </a:prstGeom>
            <a:noFill/>
            <a:ln>
              <a:noFill/>
            </a:ln>
          </p:spPr>
          <p:txBody>
            <a:bodyPr wrap="none" lIns="0" tIns="0" rIns="0" bIns="0" anchor="t" anchorCtr="0">
              <a:spAutoFit/>
            </a:bodyPr>
            <a:lstStyle/>
            <a:p>
              <a:pPr algn="ctr"/>
              <a:r>
                <a:rPr lang="zh-CN" sz="940" b="1" dirty="0">
                  <a:solidFill>
                    <a:srgbClr val="222222"/>
                  </a:solidFill>
                  <a:latin typeface="+mn-lt"/>
                  <a:ea typeface="+mn-ea"/>
                  <a:cs typeface="+mn-cs"/>
                </a:rPr>
                <a:t>标签分层</a:t>
              </a:r>
            </a:p>
          </p:txBody>
        </p:sp>
        <p:sp>
          <p:nvSpPr>
            <p:cNvPr id="88" name="TextBox 88"/>
            <p:cNvSpPr txBox="1"/>
            <p:nvPr/>
          </p:nvSpPr>
          <p:spPr>
            <a:xfrm>
              <a:off x="3808332" y="2551986"/>
              <a:ext cx="974885"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(多维标签，客户分层)</a:t>
              </a:r>
            </a:p>
          </p:txBody>
        </p:sp>
        <p:grpSp>
          <p:nvGrpSpPr>
            <p:cNvPr id="94" name="Group 94"/>
            <p:cNvGrpSpPr/>
            <p:nvPr/>
          </p:nvGrpSpPr>
          <p:grpSpPr>
            <a:xfrm>
              <a:off x="5634831" y="2045494"/>
              <a:ext cx="122238" cy="157163"/>
              <a:chOff x="5634831" y="2045494"/>
              <a:chExt cx="122238" cy="157163"/>
            </a:xfrm>
          </p:grpSpPr>
          <p:sp>
            <p:nvSpPr>
              <p:cNvPr id="89" name="Freeform 89"/>
              <p:cNvSpPr/>
              <p:nvPr/>
            </p:nvSpPr>
            <p:spPr>
              <a:xfrm>
                <a:off x="5713413" y="204549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C83210"/>
                </a:solidFill>
              </a:ln>
            </p:spPr>
          </p:sp>
          <p:sp>
            <p:nvSpPr>
              <p:cNvPr id="90" name="Freeform 90"/>
              <p:cNvSpPr/>
              <p:nvPr/>
            </p:nvSpPr>
            <p:spPr>
              <a:xfrm>
                <a:off x="5634831" y="204549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C83210"/>
                </a:solidFill>
              </a:ln>
            </p:spPr>
          </p:sp>
          <p:sp>
            <p:nvSpPr>
              <p:cNvPr id="91" name="Freeform 91"/>
              <p:cNvSpPr/>
              <p:nvPr/>
            </p:nvSpPr>
            <p:spPr>
              <a:xfrm>
                <a:off x="5669756" y="2097881"/>
                <a:ext cx="9525" cy="9525"/>
              </a:xfrm>
              <a:custGeom>
                <a:avLst/>
                <a:gdLst/>
                <a:ahLst/>
                <a:cxnLst/>
                <a:rect l="l" t="t" r="r" b="b"/>
                <a:pathLst>
                  <a:path w="9525" h="9525">
                    <a:moveTo>
                      <a:pt x="0" y="0"/>
                    </a:moveTo>
                    <a:lnTo>
                      <a:pt x="8731" y="0"/>
                    </a:lnTo>
                  </a:path>
                </a:pathLst>
              </a:custGeom>
              <a:noFill/>
              <a:ln w="17463">
                <a:solidFill>
                  <a:srgbClr val="C83210"/>
                </a:solidFill>
              </a:ln>
            </p:spPr>
          </p:sp>
          <p:sp>
            <p:nvSpPr>
              <p:cNvPr id="92" name="Freeform 92"/>
              <p:cNvSpPr/>
              <p:nvPr/>
            </p:nvSpPr>
            <p:spPr>
              <a:xfrm>
                <a:off x="5669756" y="2132806"/>
                <a:ext cx="52388" cy="9525"/>
              </a:xfrm>
              <a:custGeom>
                <a:avLst/>
                <a:gdLst/>
                <a:ahLst/>
                <a:cxnLst/>
                <a:rect l="l" t="t" r="r" b="b"/>
                <a:pathLst>
                  <a:path w="52388" h="9525">
                    <a:moveTo>
                      <a:pt x="0" y="0"/>
                    </a:moveTo>
                    <a:lnTo>
                      <a:pt x="52388" y="0"/>
                    </a:lnTo>
                  </a:path>
                </a:pathLst>
              </a:custGeom>
              <a:noFill/>
              <a:ln w="17463">
                <a:solidFill>
                  <a:srgbClr val="C83210"/>
                </a:solidFill>
              </a:ln>
            </p:spPr>
          </p:sp>
          <p:sp>
            <p:nvSpPr>
              <p:cNvPr id="93" name="Freeform 93"/>
              <p:cNvSpPr/>
              <p:nvPr/>
            </p:nvSpPr>
            <p:spPr>
              <a:xfrm>
                <a:off x="5669756" y="2167731"/>
                <a:ext cx="52388" cy="9525"/>
              </a:xfrm>
              <a:custGeom>
                <a:avLst/>
                <a:gdLst/>
                <a:ahLst/>
                <a:cxnLst/>
                <a:rect l="l" t="t" r="r" b="b"/>
                <a:pathLst>
                  <a:path w="52388" h="9525">
                    <a:moveTo>
                      <a:pt x="0" y="0"/>
                    </a:moveTo>
                    <a:lnTo>
                      <a:pt x="52388" y="0"/>
                    </a:lnTo>
                  </a:path>
                </a:pathLst>
              </a:custGeom>
              <a:noFill/>
              <a:ln w="17463">
                <a:solidFill>
                  <a:srgbClr val="C83210"/>
                </a:solidFill>
              </a:ln>
            </p:spPr>
          </p:sp>
        </p:grpSp>
        <p:sp>
          <p:nvSpPr>
            <p:cNvPr id="95" name="TextBox 95"/>
            <p:cNvSpPr txBox="1"/>
            <p:nvPr/>
          </p:nvSpPr>
          <p:spPr>
            <a:xfrm>
              <a:off x="5438102" y="2337197"/>
              <a:ext cx="515696" cy="183356"/>
            </a:xfrm>
            <a:prstGeom prst="rect">
              <a:avLst/>
            </a:prstGeom>
            <a:noFill/>
            <a:ln>
              <a:noFill/>
            </a:ln>
          </p:spPr>
          <p:txBody>
            <a:bodyPr wrap="none" lIns="0" tIns="0" rIns="0" bIns="0" anchor="t" anchorCtr="0">
              <a:spAutoFit/>
            </a:bodyPr>
            <a:lstStyle/>
            <a:p>
              <a:pPr algn="ctr"/>
              <a:r>
                <a:rPr lang="zh-CN" sz="940" b="1" dirty="0">
                  <a:solidFill>
                    <a:srgbClr val="222222"/>
                  </a:solidFill>
                  <a:latin typeface="+mn-lt"/>
                  <a:ea typeface="+mn-ea"/>
                  <a:cs typeface="+mn-cs"/>
                </a:rPr>
                <a:t>内容匹配</a:t>
              </a:r>
            </a:p>
          </p:txBody>
        </p:sp>
        <p:sp>
          <p:nvSpPr>
            <p:cNvPr id="96" name="TextBox 96"/>
            <p:cNvSpPr txBox="1"/>
            <p:nvPr/>
          </p:nvSpPr>
          <p:spPr>
            <a:xfrm>
              <a:off x="5304088" y="2551986"/>
              <a:ext cx="783725"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(个性化内容推荐)</a:t>
              </a:r>
            </a:p>
          </p:txBody>
        </p:sp>
        <p:grpSp>
          <p:nvGrpSpPr>
            <p:cNvPr id="99" name="Group 99"/>
            <p:cNvGrpSpPr/>
            <p:nvPr/>
          </p:nvGrpSpPr>
          <p:grpSpPr>
            <a:xfrm>
              <a:off x="7014742" y="2045494"/>
              <a:ext cx="159965" cy="159964"/>
              <a:chOff x="7014742" y="2045494"/>
              <a:chExt cx="159965" cy="159964"/>
            </a:xfrm>
          </p:grpSpPr>
          <p:sp>
            <p:nvSpPr>
              <p:cNvPr id="97" name="Freeform 97"/>
              <p:cNvSpPr/>
              <p:nvPr/>
            </p:nvSpPr>
            <p:spPr>
              <a:xfrm>
                <a:off x="7078663" y="2045494"/>
                <a:ext cx="96044" cy="96044"/>
              </a:xfrm>
              <a:custGeom>
                <a:avLst/>
                <a:gdLst/>
                <a:ahLst/>
                <a:cxnLst/>
                <a:rect l="l" t="t" r="r" b="b"/>
                <a:pathLst>
                  <a:path w="96044" h="96044">
                    <a:moveTo>
                      <a:pt x="0" y="96044"/>
                    </a:moveTo>
                    <a:lnTo>
                      <a:pt x="96044" y="0"/>
                    </a:lnTo>
                  </a:path>
                </a:pathLst>
              </a:custGeom>
              <a:noFill/>
              <a:ln w="17463">
                <a:solidFill>
                  <a:srgbClr val="C83210"/>
                </a:solidFill>
              </a:ln>
            </p:spPr>
          </p:sp>
          <p:sp>
            <p:nvSpPr>
              <p:cNvPr id="98" name="Freeform 98"/>
              <p:cNvSpPr/>
              <p:nvPr/>
            </p:nvSpPr>
            <p:spPr>
              <a:xfrm>
                <a:off x="7014742" y="2045494"/>
                <a:ext cx="159964" cy="159964"/>
              </a:xfrm>
              <a:custGeom>
                <a:avLst/>
                <a:gdLst/>
                <a:ahLst/>
                <a:cxnLst/>
                <a:rect l="l" t="t" r="r" b="b"/>
                <a:pathLst>
                  <a:path w="159964" h="159964">
                    <a:moveTo>
                      <a:pt x="159964" y="0"/>
                    </a:moveTo>
                    <a:lnTo>
                      <a:pt x="103211" y="157163"/>
                    </a:lnTo>
                    <a:cubicBezTo>
                      <a:pt x="102429" y="158870"/>
                      <a:pt x="100723" y="159964"/>
                      <a:pt x="98845" y="159964"/>
                    </a:cubicBezTo>
                    <a:cubicBezTo>
                      <a:pt x="96968" y="159964"/>
                      <a:pt x="95262" y="158870"/>
                      <a:pt x="94480" y="157163"/>
                    </a:cubicBezTo>
                    <a:lnTo>
                      <a:pt x="63920" y="96044"/>
                    </a:lnTo>
                    <a:lnTo>
                      <a:pt x="2802" y="65484"/>
                    </a:lnTo>
                    <a:cubicBezTo>
                      <a:pt x="1095" y="64702"/>
                      <a:pt x="0" y="62997"/>
                      <a:pt x="0" y="61119"/>
                    </a:cubicBezTo>
                    <a:cubicBezTo>
                      <a:pt x="0" y="59241"/>
                      <a:pt x="1095" y="57535"/>
                      <a:pt x="2802" y="56753"/>
                    </a:cubicBezTo>
                    <a:lnTo>
                      <a:pt x="159964" y="0"/>
                    </a:lnTo>
                  </a:path>
                </a:pathLst>
              </a:custGeom>
              <a:noFill/>
              <a:ln w="17463">
                <a:solidFill>
                  <a:srgbClr val="C83210"/>
                </a:solidFill>
              </a:ln>
            </p:spPr>
          </p:sp>
        </p:grpSp>
        <p:sp>
          <p:nvSpPr>
            <p:cNvPr id="100" name="TextBox 100"/>
            <p:cNvSpPr txBox="1"/>
            <p:nvPr/>
          </p:nvSpPr>
          <p:spPr>
            <a:xfrm>
              <a:off x="6838277" y="2337197"/>
              <a:ext cx="515696" cy="183356"/>
            </a:xfrm>
            <a:prstGeom prst="rect">
              <a:avLst/>
            </a:prstGeom>
            <a:noFill/>
            <a:ln>
              <a:noFill/>
            </a:ln>
          </p:spPr>
          <p:txBody>
            <a:bodyPr wrap="none" lIns="0" tIns="0" rIns="0" bIns="0" anchor="t" anchorCtr="0">
              <a:spAutoFit/>
            </a:bodyPr>
            <a:lstStyle/>
            <a:p>
              <a:pPr algn="ctr"/>
              <a:r>
                <a:rPr lang="zh-CN" sz="940" b="1" dirty="0">
                  <a:solidFill>
                    <a:srgbClr val="222222"/>
                  </a:solidFill>
                  <a:latin typeface="+mn-lt"/>
                  <a:ea typeface="+mn-ea"/>
                  <a:cs typeface="+mn-cs"/>
                </a:rPr>
                <a:t>渠道触达</a:t>
              </a:r>
            </a:p>
          </p:txBody>
        </p:sp>
        <p:sp>
          <p:nvSpPr>
            <p:cNvPr id="101" name="TextBox 101"/>
            <p:cNvSpPr txBox="1"/>
            <p:nvPr/>
          </p:nvSpPr>
          <p:spPr>
            <a:xfrm>
              <a:off x="6593672" y="2551986"/>
              <a:ext cx="1004906"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Arial"/>
                  <a:ea typeface="Microsoft YaHei"/>
                  <a:cs typeface="Arial"/>
                </a:rPr>
                <a:t>(企微/群聊/朋友圈/1V1)</a:t>
              </a:r>
            </a:p>
          </p:txBody>
        </p:sp>
        <p:grpSp>
          <p:nvGrpSpPr>
            <p:cNvPr id="104" name="Group 104"/>
            <p:cNvGrpSpPr/>
            <p:nvPr/>
          </p:nvGrpSpPr>
          <p:grpSpPr>
            <a:xfrm>
              <a:off x="8426450" y="2050856"/>
              <a:ext cx="139700" cy="146438"/>
              <a:chOff x="8426450" y="2050856"/>
              <a:chExt cx="139700" cy="146438"/>
            </a:xfrm>
          </p:grpSpPr>
          <p:sp>
            <p:nvSpPr>
              <p:cNvPr id="102" name="Freeform 102"/>
              <p:cNvSpPr/>
              <p:nvPr/>
            </p:nvSpPr>
            <p:spPr>
              <a:xfrm>
                <a:off x="8426450" y="2050856"/>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C83210"/>
                </a:solidFill>
              </a:ln>
            </p:spPr>
          </p:sp>
          <p:sp>
            <p:nvSpPr>
              <p:cNvPr id="103" name="Freeform 103"/>
              <p:cNvSpPr/>
              <p:nvPr/>
            </p:nvSpPr>
            <p:spPr>
              <a:xfrm>
                <a:off x="8426450" y="2132806"/>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C83210"/>
                </a:solidFill>
              </a:ln>
            </p:spPr>
          </p:sp>
        </p:grpSp>
        <p:sp>
          <p:nvSpPr>
            <p:cNvPr id="105" name="TextBox 105"/>
            <p:cNvSpPr txBox="1"/>
            <p:nvPr/>
          </p:nvSpPr>
          <p:spPr>
            <a:xfrm>
              <a:off x="8238452" y="2337197"/>
              <a:ext cx="515696" cy="183356"/>
            </a:xfrm>
            <a:prstGeom prst="rect">
              <a:avLst/>
            </a:prstGeom>
            <a:noFill/>
            <a:ln>
              <a:noFill/>
            </a:ln>
          </p:spPr>
          <p:txBody>
            <a:bodyPr wrap="none" lIns="0" tIns="0" rIns="0" bIns="0" anchor="t" anchorCtr="0">
              <a:spAutoFit/>
            </a:bodyPr>
            <a:lstStyle/>
            <a:p>
              <a:pPr algn="ctr"/>
              <a:r>
                <a:rPr lang="zh-CN" sz="940" b="1" dirty="0">
                  <a:solidFill>
                    <a:srgbClr val="222222"/>
                  </a:solidFill>
                  <a:latin typeface="+mn-lt"/>
                  <a:ea typeface="+mn-ea"/>
                  <a:cs typeface="+mn-cs"/>
                </a:rPr>
                <a:t>互动识别</a:t>
              </a:r>
            </a:p>
          </p:txBody>
        </p:sp>
        <p:sp>
          <p:nvSpPr>
            <p:cNvPr id="106" name="TextBox 106"/>
            <p:cNvSpPr txBox="1"/>
            <p:nvPr/>
          </p:nvSpPr>
          <p:spPr>
            <a:xfrm>
              <a:off x="8008857" y="2551986"/>
              <a:ext cx="974885"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(行为捕捉，意图识别)</a:t>
              </a:r>
            </a:p>
          </p:txBody>
        </p:sp>
        <p:grpSp>
          <p:nvGrpSpPr>
            <p:cNvPr id="109" name="Group 109"/>
            <p:cNvGrpSpPr/>
            <p:nvPr/>
          </p:nvGrpSpPr>
          <p:grpSpPr>
            <a:xfrm>
              <a:off x="9817894" y="2080419"/>
              <a:ext cx="157163" cy="87313"/>
              <a:chOff x="9817894" y="2080419"/>
              <a:chExt cx="157163" cy="87313"/>
            </a:xfrm>
          </p:grpSpPr>
          <p:sp>
            <p:nvSpPr>
              <p:cNvPr id="107" name="Freeform 107"/>
              <p:cNvSpPr/>
              <p:nvPr/>
            </p:nvSpPr>
            <p:spPr>
              <a:xfrm>
                <a:off x="9817894" y="208041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C83210"/>
                </a:solidFill>
              </a:ln>
            </p:spPr>
          </p:sp>
          <p:sp>
            <p:nvSpPr>
              <p:cNvPr id="108" name="Freeform 108"/>
              <p:cNvSpPr/>
              <p:nvPr/>
            </p:nvSpPr>
            <p:spPr>
              <a:xfrm>
                <a:off x="9913938" y="2080419"/>
                <a:ext cx="61119" cy="61119"/>
              </a:xfrm>
              <a:custGeom>
                <a:avLst/>
                <a:gdLst/>
                <a:ahLst/>
                <a:cxnLst/>
                <a:rect l="l" t="t" r="r" b="b"/>
                <a:pathLst>
                  <a:path w="61119" h="61119">
                    <a:moveTo>
                      <a:pt x="0" y="0"/>
                    </a:moveTo>
                    <a:lnTo>
                      <a:pt x="61119" y="0"/>
                    </a:lnTo>
                    <a:lnTo>
                      <a:pt x="61119" y="61119"/>
                    </a:lnTo>
                  </a:path>
                </a:pathLst>
              </a:custGeom>
              <a:noFill/>
              <a:ln w="17463">
                <a:solidFill>
                  <a:srgbClr val="C83210"/>
                </a:solidFill>
              </a:ln>
            </p:spPr>
          </p:sp>
        </p:grpSp>
        <p:sp>
          <p:nvSpPr>
            <p:cNvPr id="110" name="TextBox 110"/>
            <p:cNvSpPr txBox="1"/>
            <p:nvPr/>
          </p:nvSpPr>
          <p:spPr>
            <a:xfrm>
              <a:off x="9638627" y="2337197"/>
              <a:ext cx="515696" cy="183356"/>
            </a:xfrm>
            <a:prstGeom prst="rect">
              <a:avLst/>
            </a:prstGeom>
            <a:noFill/>
            <a:ln>
              <a:noFill/>
            </a:ln>
          </p:spPr>
          <p:txBody>
            <a:bodyPr wrap="none" lIns="0" tIns="0" rIns="0" bIns="0" anchor="t" anchorCtr="0">
              <a:spAutoFit/>
            </a:bodyPr>
            <a:lstStyle/>
            <a:p>
              <a:pPr algn="ctr"/>
              <a:r>
                <a:rPr lang="zh-CN" sz="940" b="1" dirty="0">
                  <a:solidFill>
                    <a:srgbClr val="222222"/>
                  </a:solidFill>
                  <a:latin typeface="+mn-lt"/>
                  <a:ea typeface="+mn-ea"/>
                  <a:cs typeface="+mn-cs"/>
                </a:rPr>
                <a:t>线索转化</a:t>
              </a:r>
            </a:p>
          </p:txBody>
        </p:sp>
        <p:sp>
          <p:nvSpPr>
            <p:cNvPr id="111" name="TextBox 111"/>
            <p:cNvSpPr txBox="1"/>
            <p:nvPr/>
          </p:nvSpPr>
          <p:spPr>
            <a:xfrm>
              <a:off x="9409032" y="2551986"/>
              <a:ext cx="974885"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(产品推荐，促进成交)</a:t>
              </a:r>
            </a:p>
          </p:txBody>
        </p:sp>
        <p:grpSp>
          <p:nvGrpSpPr>
            <p:cNvPr id="114" name="Group 114"/>
            <p:cNvGrpSpPr/>
            <p:nvPr/>
          </p:nvGrpSpPr>
          <p:grpSpPr>
            <a:xfrm>
              <a:off x="11226800" y="2045494"/>
              <a:ext cx="139700" cy="157162"/>
              <a:chOff x="11226800" y="2045494"/>
              <a:chExt cx="139700" cy="157162"/>
            </a:xfrm>
          </p:grpSpPr>
          <p:sp>
            <p:nvSpPr>
              <p:cNvPr id="112" name="Freeform 112"/>
              <p:cNvSpPr/>
              <p:nvPr/>
            </p:nvSpPr>
            <p:spPr>
              <a:xfrm>
                <a:off x="11226800" y="2045494"/>
                <a:ext cx="139700" cy="78581"/>
              </a:xfrm>
              <a:custGeom>
                <a:avLst/>
                <a:gdLst/>
                <a:ahLst/>
                <a:cxnLst/>
                <a:rect l="l" t="t" r="r" b="b"/>
                <a:pathLst>
                  <a:path w="139700" h="78581">
                    <a:moveTo>
                      <a:pt x="0" y="78581"/>
                    </a:moveTo>
                    <a:lnTo>
                      <a:pt x="0" y="52388"/>
                    </a:lnTo>
                    <a:cubicBezTo>
                      <a:pt x="0" y="37921"/>
                      <a:pt x="11727" y="26194"/>
                      <a:pt x="26194" y="26194"/>
                    </a:cubicBezTo>
                    <a:lnTo>
                      <a:pt x="139700" y="26194"/>
                    </a:lnTo>
                    <a:moveTo>
                      <a:pt x="113506" y="0"/>
                    </a:moveTo>
                    <a:lnTo>
                      <a:pt x="139700" y="26194"/>
                    </a:lnTo>
                    <a:lnTo>
                      <a:pt x="113506" y="52388"/>
                    </a:lnTo>
                  </a:path>
                </a:pathLst>
              </a:custGeom>
              <a:noFill/>
              <a:ln w="17463">
                <a:solidFill>
                  <a:srgbClr val="C83210"/>
                </a:solidFill>
              </a:ln>
            </p:spPr>
          </p:sp>
          <p:sp>
            <p:nvSpPr>
              <p:cNvPr id="113" name="Freeform 113"/>
              <p:cNvSpPr/>
              <p:nvPr/>
            </p:nvSpPr>
            <p:spPr>
              <a:xfrm>
                <a:off x="11226800" y="2124075"/>
                <a:ext cx="139700" cy="78581"/>
              </a:xfrm>
              <a:custGeom>
                <a:avLst/>
                <a:gdLst/>
                <a:ahLst/>
                <a:cxnLst/>
                <a:rect l="l" t="t" r="r" b="b"/>
                <a:pathLst>
                  <a:path w="139700" h="78581">
                    <a:moveTo>
                      <a:pt x="139700" y="0"/>
                    </a:moveTo>
                    <a:lnTo>
                      <a:pt x="139700" y="26194"/>
                    </a:lnTo>
                    <a:cubicBezTo>
                      <a:pt x="139700" y="40660"/>
                      <a:pt x="127973" y="52388"/>
                      <a:pt x="113506" y="52388"/>
                    </a:cubicBezTo>
                    <a:lnTo>
                      <a:pt x="0" y="52388"/>
                    </a:lnTo>
                    <a:moveTo>
                      <a:pt x="26194" y="78581"/>
                    </a:moveTo>
                    <a:lnTo>
                      <a:pt x="0" y="52388"/>
                    </a:lnTo>
                    <a:lnTo>
                      <a:pt x="26194" y="26194"/>
                    </a:lnTo>
                  </a:path>
                </a:pathLst>
              </a:custGeom>
              <a:noFill/>
              <a:ln w="17463">
                <a:solidFill>
                  <a:srgbClr val="C83210"/>
                </a:solidFill>
              </a:ln>
            </p:spPr>
          </p:sp>
        </p:grpSp>
        <p:sp>
          <p:nvSpPr>
            <p:cNvPr id="115" name="TextBox 115"/>
            <p:cNvSpPr txBox="1"/>
            <p:nvPr/>
          </p:nvSpPr>
          <p:spPr>
            <a:xfrm>
              <a:off x="11038802" y="2337197"/>
              <a:ext cx="515696" cy="183356"/>
            </a:xfrm>
            <a:prstGeom prst="rect">
              <a:avLst/>
            </a:prstGeom>
            <a:noFill/>
            <a:ln>
              <a:noFill/>
            </a:ln>
          </p:spPr>
          <p:txBody>
            <a:bodyPr wrap="none" lIns="0" tIns="0" rIns="0" bIns="0" anchor="t" anchorCtr="0">
              <a:spAutoFit/>
            </a:bodyPr>
            <a:lstStyle/>
            <a:p>
              <a:pPr algn="ctr"/>
              <a:r>
                <a:rPr lang="zh-CN" sz="940" b="1" dirty="0">
                  <a:solidFill>
                    <a:srgbClr val="222222"/>
                  </a:solidFill>
                  <a:latin typeface="+mn-lt"/>
                  <a:ea typeface="+mn-ea"/>
                  <a:cs typeface="+mn-cs"/>
                </a:rPr>
                <a:t>持续运营</a:t>
              </a:r>
            </a:p>
          </p:txBody>
        </p:sp>
        <p:sp>
          <p:nvSpPr>
            <p:cNvPr id="116" name="TextBox 116"/>
            <p:cNvSpPr txBox="1"/>
            <p:nvPr/>
          </p:nvSpPr>
          <p:spPr>
            <a:xfrm>
              <a:off x="10809207" y="2551986"/>
              <a:ext cx="974885"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(长期陪伴，价值提升)</a:t>
              </a:r>
            </a:p>
          </p:txBody>
        </p:sp>
      </p:grpSp>
      <p:grpSp>
        <p:nvGrpSpPr>
          <p:cNvPr id="122" name="band3-label"/>
          <p:cNvGrpSpPr/>
          <p:nvPr/>
        </p:nvGrpSpPr>
        <p:grpSpPr>
          <a:xfrm>
            <a:off x="171450" y="2990850"/>
            <a:ext cx="495300" cy="2019300"/>
            <a:chOff x="171450" y="2990850"/>
            <a:chExt cx="495300" cy="2019300"/>
          </a:xfrm>
        </p:grpSpPr>
        <p:sp>
          <p:nvSpPr>
            <p:cNvPr id="118" name="Rectangle 118"/>
            <p:cNvSpPr/>
            <p:nvPr/>
          </p:nvSpPr>
          <p:spPr>
            <a:xfrm>
              <a:off x="171450" y="2990850"/>
              <a:ext cx="495300" cy="2019300"/>
            </a:xfrm>
            <a:prstGeom prst="roundRect">
              <a:avLst>
                <a:gd name="adj" fmla="val 11538"/>
              </a:avLst>
            </a:prstGeom>
            <a:solidFill>
              <a:srgbClr val="C83210"/>
            </a:solidFill>
            <a:ln>
              <a:noFill/>
            </a:ln>
          </p:spPr>
        </p:sp>
        <p:sp>
          <p:nvSpPr>
            <p:cNvPr id="119" name="TextBox 119"/>
            <p:cNvSpPr txBox="1"/>
            <p:nvPr/>
          </p:nvSpPr>
          <p:spPr>
            <a:xfrm>
              <a:off x="282219" y="37428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六大</a:t>
              </a:r>
            </a:p>
          </p:txBody>
        </p:sp>
        <p:sp>
          <p:nvSpPr>
            <p:cNvPr id="120" name="TextBox 120"/>
            <p:cNvSpPr txBox="1"/>
            <p:nvPr/>
          </p:nvSpPr>
          <p:spPr>
            <a:xfrm>
              <a:off x="282219" y="39333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能力</a:t>
              </a:r>
            </a:p>
          </p:txBody>
        </p:sp>
        <p:sp>
          <p:nvSpPr>
            <p:cNvPr id="121" name="TextBox 121"/>
            <p:cNvSpPr txBox="1"/>
            <p:nvPr/>
          </p:nvSpPr>
          <p:spPr>
            <a:xfrm>
              <a:off x="282219" y="41238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支柱</a:t>
              </a:r>
            </a:p>
          </p:txBody>
        </p:sp>
      </p:grpSp>
      <p:grpSp>
        <p:nvGrpSpPr>
          <p:cNvPr id="138" name="pillar-1"/>
          <p:cNvGrpSpPr/>
          <p:nvPr/>
        </p:nvGrpSpPr>
        <p:grpSpPr>
          <a:xfrm>
            <a:off x="762000" y="2990850"/>
            <a:ext cx="1809750" cy="2019300"/>
            <a:chOff x="762000" y="2990850"/>
            <a:chExt cx="1809750" cy="2019300"/>
          </a:xfrm>
        </p:grpSpPr>
        <p:sp>
          <p:nvSpPr>
            <p:cNvPr id="123" name="Rectangle 123"/>
            <p:cNvSpPr/>
            <p:nvPr/>
          </p:nvSpPr>
          <p:spPr>
            <a:xfrm>
              <a:off x="762000" y="2990850"/>
              <a:ext cx="1809750" cy="2019300"/>
            </a:xfrm>
            <a:prstGeom prst="roundRect">
              <a:avLst>
                <a:gd name="adj" fmla="val 3158"/>
              </a:avLst>
            </a:prstGeom>
            <a:solidFill>
              <a:srgbClr val="FFFFFF"/>
            </a:solidFill>
            <a:ln w="9525">
              <a:solidFill>
                <a:srgbClr val="F1C7CC"/>
              </a:solidFill>
            </a:ln>
          </p:spPr>
        </p:sp>
        <p:sp>
          <p:nvSpPr>
            <p:cNvPr id="124" name="Rectangle 124"/>
            <p:cNvSpPr/>
            <p:nvPr/>
          </p:nvSpPr>
          <p:spPr>
            <a:xfrm>
              <a:off x="762000" y="2990850"/>
              <a:ext cx="1809750" cy="285750"/>
            </a:xfrm>
            <a:prstGeom prst="roundRect">
              <a:avLst>
                <a:gd name="adj" fmla="val 20000"/>
              </a:avLst>
            </a:prstGeom>
            <a:gradFill>
              <a:gsLst>
                <a:gs pos="0">
                  <a:srgbClr val="8F230A"/>
                </a:gs>
                <a:gs pos="100000">
                  <a:srgbClr val="C83210"/>
                </a:gs>
              </a:gsLst>
              <a:lin ang="0" scaled="1"/>
            </a:gradFill>
            <a:ln>
              <a:noFill/>
            </a:ln>
          </p:spPr>
        </p:sp>
        <p:sp>
          <p:nvSpPr>
            <p:cNvPr id="125" name="Ellipse 125"/>
            <p:cNvSpPr/>
            <p:nvPr/>
          </p:nvSpPr>
          <p:spPr>
            <a:xfrm>
              <a:off x="847725" y="3028950"/>
              <a:ext cx="209550" cy="209550"/>
            </a:xfrm>
            <a:prstGeom prst="ellipse">
              <a:avLst/>
            </a:prstGeom>
            <a:solidFill>
              <a:srgbClr val="FFFFFF"/>
            </a:solidFill>
            <a:ln>
              <a:noFill/>
            </a:ln>
          </p:spPr>
        </p:sp>
        <p:sp>
          <p:nvSpPr>
            <p:cNvPr id="126" name="TextBox 126"/>
            <p:cNvSpPr txBox="1"/>
            <p:nvPr/>
          </p:nvSpPr>
          <p:spPr>
            <a:xfrm>
              <a:off x="888586" y="3086814"/>
              <a:ext cx="127829"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Arial"/>
                  <a:cs typeface="Arial"/>
                </a:rPr>
                <a:t>01</a:t>
              </a:r>
            </a:p>
          </p:txBody>
        </p:sp>
        <p:sp>
          <p:nvSpPr>
            <p:cNvPr id="127" name="TextBox 127"/>
            <p:cNvSpPr txBox="1"/>
            <p:nvPr/>
          </p:nvSpPr>
          <p:spPr>
            <a:xfrm>
              <a:off x="1138047" y="30760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账户体系</a:t>
              </a:r>
            </a:p>
          </p:txBody>
        </p:sp>
        <p:grpSp>
          <p:nvGrpSpPr>
            <p:cNvPr id="131" name="Group 131"/>
            <p:cNvGrpSpPr/>
            <p:nvPr/>
          </p:nvGrpSpPr>
          <p:grpSpPr>
            <a:xfrm>
              <a:off x="1574006" y="3383756"/>
              <a:ext cx="185737" cy="185737"/>
              <a:chOff x="1574006" y="3383756"/>
              <a:chExt cx="185737" cy="185737"/>
            </a:xfrm>
          </p:grpSpPr>
          <p:sp>
            <p:nvSpPr>
              <p:cNvPr id="128" name="Freeform 128"/>
              <p:cNvSpPr/>
              <p:nvPr/>
            </p:nvSpPr>
            <p:spPr>
              <a:xfrm>
                <a:off x="1574006" y="33837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83210"/>
                </a:solidFill>
              </a:ln>
            </p:spPr>
          </p:sp>
          <p:sp>
            <p:nvSpPr>
              <p:cNvPr id="129" name="Freeform 129"/>
              <p:cNvSpPr/>
              <p:nvPr/>
            </p:nvSpPr>
            <p:spPr>
              <a:xfrm>
                <a:off x="1635918" y="3425031"/>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C83210"/>
                </a:solidFill>
              </a:ln>
            </p:spPr>
          </p:sp>
          <p:sp>
            <p:nvSpPr>
              <p:cNvPr id="130" name="Freeform 130"/>
              <p:cNvSpPr/>
              <p:nvPr/>
            </p:nvSpPr>
            <p:spPr>
              <a:xfrm>
                <a:off x="1606696" y="3517893"/>
                <a:ext cx="120378" cy="29466"/>
              </a:xfrm>
              <a:custGeom>
                <a:avLst/>
                <a:gdLst/>
                <a:ahLst/>
                <a:cxnLst/>
                <a:rect l="l" t="t" r="r" b="b"/>
                <a:pathLst>
                  <a:path w="120378" h="29466">
                    <a:moveTo>
                      <a:pt x="0" y="29404"/>
                    </a:moveTo>
                    <a:cubicBezTo>
                      <a:pt x="5244" y="11950"/>
                      <a:pt x="21316" y="1"/>
                      <a:pt x="39541" y="6"/>
                    </a:cubicBezTo>
                    <a:lnTo>
                      <a:pt x="80816" y="6"/>
                    </a:lnTo>
                    <a:cubicBezTo>
                      <a:pt x="99066" y="0"/>
                      <a:pt x="115154" y="11980"/>
                      <a:pt x="120378" y="29466"/>
                    </a:cubicBezTo>
                  </a:path>
                </a:pathLst>
              </a:custGeom>
              <a:noFill/>
              <a:ln w="20637">
                <a:solidFill>
                  <a:srgbClr val="C83210"/>
                </a:solidFill>
              </a:ln>
            </p:spPr>
          </p:sp>
        </p:grpSp>
        <p:sp>
          <p:nvSpPr>
            <p:cNvPr id="132" name="Rectangle 132"/>
            <p:cNvSpPr/>
            <p:nvPr/>
          </p:nvSpPr>
          <p:spPr>
            <a:xfrm>
              <a:off x="857250" y="3676650"/>
              <a:ext cx="1619250" cy="190500"/>
            </a:xfrm>
            <a:prstGeom prst="roundRect">
              <a:avLst>
                <a:gd name="adj" fmla="val 50000"/>
              </a:avLst>
            </a:prstGeom>
            <a:solidFill>
              <a:srgbClr val="FBE3E6"/>
            </a:solidFill>
            <a:ln>
              <a:noFill/>
            </a:ln>
          </p:spPr>
        </p:sp>
        <p:sp>
          <p:nvSpPr>
            <p:cNvPr id="133" name="TextBox 133"/>
            <p:cNvSpPr txBox="1"/>
            <p:nvPr/>
          </p:nvSpPr>
          <p:spPr>
            <a:xfrm>
              <a:off x="1136421" y="3733086"/>
              <a:ext cx="1060907" cy="140494"/>
            </a:xfrm>
            <a:prstGeom prst="rect">
              <a:avLst/>
            </a:prstGeom>
            <a:noFill/>
            <a:ln>
              <a:noFill/>
            </a:ln>
          </p:spPr>
          <p:txBody>
            <a:bodyPr wrap="none" lIns="0" tIns="0" rIns="0" bIns="0" anchor="t" anchorCtr="0">
              <a:spAutoFit/>
            </a:bodyPr>
            <a:lstStyle/>
            <a:p>
              <a:pPr algn="ctr"/>
              <a:r>
                <a:rPr lang="zh-CN" sz="710" dirty="0">
                  <a:solidFill>
                    <a:srgbClr val="8F230A"/>
                  </a:solidFill>
                  <a:latin typeface="+mn-lt"/>
                  <a:ea typeface="+mn-ea"/>
                  <a:cs typeface="+mn-cs"/>
                </a:rPr>
                <a:t>统一客户账户与身份管理</a:t>
              </a:r>
            </a:p>
          </p:txBody>
        </p:sp>
        <p:sp>
          <p:nvSpPr>
            <p:cNvPr id="134" name="TextBox 134"/>
            <p:cNvSpPr txBox="1"/>
            <p:nvPr/>
          </p:nvSpPr>
          <p:spPr>
            <a:xfrm>
              <a:off x="909638" y="3999786"/>
              <a:ext cx="1041972"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企微客户统一账户体系</a:t>
              </a:r>
            </a:p>
          </p:txBody>
        </p:sp>
        <p:sp>
          <p:nvSpPr>
            <p:cNvPr id="135" name="TextBox 135"/>
            <p:cNvSpPr txBox="1"/>
            <p:nvPr/>
          </p:nvSpPr>
          <p:spPr>
            <a:xfrm>
              <a:off x="909638" y="420933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身份认证与实名核验</a:t>
              </a:r>
            </a:p>
          </p:txBody>
        </p:sp>
        <p:sp>
          <p:nvSpPr>
            <p:cNvPr id="136" name="TextBox 136"/>
            <p:cNvSpPr txBox="1"/>
            <p:nvPr/>
          </p:nvSpPr>
          <p:spPr>
            <a:xfrm>
              <a:off x="909638" y="441888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客户信息汇聚与去重</a:t>
              </a:r>
            </a:p>
          </p:txBody>
        </p:sp>
        <p:sp>
          <p:nvSpPr>
            <p:cNvPr id="137" name="TextBox 137"/>
            <p:cNvSpPr txBox="1"/>
            <p:nvPr/>
          </p:nvSpPr>
          <p:spPr>
            <a:xfrm>
              <a:off x="909638" y="4628436"/>
              <a:ext cx="774347"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 xml:space="preserve">客户360°视图　</a:t>
              </a:r>
            </a:p>
          </p:txBody>
        </p:sp>
      </p:grpSp>
      <p:grpSp>
        <p:nvGrpSpPr>
          <p:cNvPr id="153" name="pillar-2"/>
          <p:cNvGrpSpPr/>
          <p:nvPr/>
        </p:nvGrpSpPr>
        <p:grpSpPr>
          <a:xfrm>
            <a:off x="2647950" y="2990850"/>
            <a:ext cx="1809750" cy="2019300"/>
            <a:chOff x="2647950" y="2990850"/>
            <a:chExt cx="1809750" cy="2019300"/>
          </a:xfrm>
        </p:grpSpPr>
        <p:sp>
          <p:nvSpPr>
            <p:cNvPr id="139" name="Rectangle 139"/>
            <p:cNvSpPr/>
            <p:nvPr/>
          </p:nvSpPr>
          <p:spPr>
            <a:xfrm>
              <a:off x="2647950" y="2990850"/>
              <a:ext cx="1809750" cy="2019300"/>
            </a:xfrm>
            <a:prstGeom prst="roundRect">
              <a:avLst>
                <a:gd name="adj" fmla="val 3158"/>
              </a:avLst>
            </a:prstGeom>
            <a:solidFill>
              <a:srgbClr val="FFFFFF"/>
            </a:solidFill>
            <a:ln w="9525">
              <a:solidFill>
                <a:srgbClr val="F1C7CC"/>
              </a:solidFill>
            </a:ln>
          </p:spPr>
        </p:sp>
        <p:sp>
          <p:nvSpPr>
            <p:cNvPr id="140" name="Rectangle 140"/>
            <p:cNvSpPr/>
            <p:nvPr/>
          </p:nvSpPr>
          <p:spPr>
            <a:xfrm>
              <a:off x="2647950" y="2990850"/>
              <a:ext cx="1809750" cy="285750"/>
            </a:xfrm>
            <a:prstGeom prst="roundRect">
              <a:avLst>
                <a:gd name="adj" fmla="val 20000"/>
              </a:avLst>
            </a:prstGeom>
            <a:gradFill>
              <a:gsLst>
                <a:gs pos="0">
                  <a:srgbClr val="8F230A"/>
                </a:gs>
                <a:gs pos="100000">
                  <a:srgbClr val="C83210"/>
                </a:gs>
              </a:gsLst>
              <a:lin ang="0" scaled="1"/>
            </a:gradFill>
            <a:ln>
              <a:noFill/>
            </a:ln>
          </p:spPr>
        </p:sp>
        <p:sp>
          <p:nvSpPr>
            <p:cNvPr id="141" name="Ellipse 141"/>
            <p:cNvSpPr/>
            <p:nvPr/>
          </p:nvSpPr>
          <p:spPr>
            <a:xfrm>
              <a:off x="2733675" y="3028950"/>
              <a:ext cx="209550" cy="209550"/>
            </a:xfrm>
            <a:prstGeom prst="ellipse">
              <a:avLst/>
            </a:prstGeom>
            <a:solidFill>
              <a:srgbClr val="FFFFFF"/>
            </a:solidFill>
            <a:ln>
              <a:noFill/>
            </a:ln>
          </p:spPr>
        </p:sp>
        <p:sp>
          <p:nvSpPr>
            <p:cNvPr id="142" name="TextBox 142"/>
            <p:cNvSpPr txBox="1"/>
            <p:nvPr/>
          </p:nvSpPr>
          <p:spPr>
            <a:xfrm>
              <a:off x="2774536" y="3086814"/>
              <a:ext cx="127829"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Arial"/>
                  <a:cs typeface="Arial"/>
                </a:rPr>
                <a:t>02</a:t>
              </a:r>
            </a:p>
          </p:txBody>
        </p:sp>
        <p:sp>
          <p:nvSpPr>
            <p:cNvPr id="143" name="TextBox 143"/>
            <p:cNvSpPr txBox="1"/>
            <p:nvPr/>
          </p:nvSpPr>
          <p:spPr>
            <a:xfrm>
              <a:off x="3023997" y="30760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标签体系</a:t>
              </a:r>
            </a:p>
          </p:txBody>
        </p:sp>
        <p:grpSp>
          <p:nvGrpSpPr>
            <p:cNvPr id="146" name="Group 146"/>
            <p:cNvGrpSpPr/>
            <p:nvPr/>
          </p:nvGrpSpPr>
          <p:grpSpPr>
            <a:xfrm>
              <a:off x="3459956" y="3383756"/>
              <a:ext cx="188182" cy="188182"/>
              <a:chOff x="3459956" y="3383756"/>
              <a:chExt cx="188182" cy="188182"/>
            </a:xfrm>
          </p:grpSpPr>
          <p:sp>
            <p:nvSpPr>
              <p:cNvPr id="144" name="Freeform 144"/>
              <p:cNvSpPr/>
              <p:nvPr/>
            </p:nvSpPr>
            <p:spPr>
              <a:xfrm>
                <a:off x="3496072" y="3419872"/>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C83210"/>
                </a:solidFill>
              </a:ln>
            </p:spPr>
          </p:sp>
          <p:sp>
            <p:nvSpPr>
              <p:cNvPr id="145" name="Freeform 145"/>
              <p:cNvSpPr/>
              <p:nvPr/>
            </p:nvSpPr>
            <p:spPr>
              <a:xfrm>
                <a:off x="3459956" y="3383756"/>
                <a:ext cx="188182" cy="188182"/>
              </a:xfrm>
              <a:custGeom>
                <a:avLst/>
                <a:gdLst/>
                <a:ahLst/>
                <a:cxnLst/>
                <a:rect l="l" t="t" r="r" b="b"/>
                <a:pathLst>
                  <a:path w="188182" h="188182">
                    <a:moveTo>
                      <a:pt x="0" y="30956"/>
                    </a:moveTo>
                    <a:lnTo>
                      <a:pt x="0" y="84325"/>
                    </a:lnTo>
                    <a:cubicBezTo>
                      <a:pt x="1" y="89798"/>
                      <a:pt x="2176" y="95046"/>
                      <a:pt x="6047" y="98915"/>
                    </a:cubicBezTo>
                    <a:lnTo>
                      <a:pt x="85604" y="178473"/>
                    </a:lnTo>
                    <a:cubicBezTo>
                      <a:pt x="95315" y="188182"/>
                      <a:pt x="111059" y="188182"/>
                      <a:pt x="120770" y="178473"/>
                    </a:cubicBezTo>
                    <a:lnTo>
                      <a:pt x="178473" y="120770"/>
                    </a:lnTo>
                    <a:cubicBezTo>
                      <a:pt x="188182" y="111059"/>
                      <a:pt x="188182" y="95315"/>
                      <a:pt x="178473" y="85604"/>
                    </a:cubicBezTo>
                    <a:lnTo>
                      <a:pt x="98915" y="6047"/>
                    </a:lnTo>
                    <a:cubicBezTo>
                      <a:pt x="95046" y="2176"/>
                      <a:pt x="89798" y="1"/>
                      <a:pt x="84325" y="0"/>
                    </a:cubicBezTo>
                    <a:lnTo>
                      <a:pt x="30956" y="0"/>
                    </a:lnTo>
                    <a:cubicBezTo>
                      <a:pt x="22746" y="0"/>
                      <a:pt x="14872" y="3261"/>
                      <a:pt x="9067" y="9067"/>
                    </a:cubicBezTo>
                    <a:cubicBezTo>
                      <a:pt x="3261" y="14872"/>
                      <a:pt x="0" y="22746"/>
                      <a:pt x="0" y="30956"/>
                    </a:cubicBezTo>
                  </a:path>
                </a:pathLst>
              </a:custGeom>
              <a:noFill/>
              <a:ln w="20637">
                <a:solidFill>
                  <a:srgbClr val="C83210"/>
                </a:solidFill>
              </a:ln>
            </p:spPr>
          </p:sp>
        </p:grpSp>
        <p:sp>
          <p:nvSpPr>
            <p:cNvPr id="147" name="Rectangle 147"/>
            <p:cNvSpPr/>
            <p:nvPr/>
          </p:nvSpPr>
          <p:spPr>
            <a:xfrm>
              <a:off x="2743200" y="3676650"/>
              <a:ext cx="1619250" cy="190500"/>
            </a:xfrm>
            <a:prstGeom prst="roundRect">
              <a:avLst>
                <a:gd name="adj" fmla="val 50000"/>
              </a:avLst>
            </a:prstGeom>
            <a:solidFill>
              <a:srgbClr val="FBE3E6"/>
            </a:solidFill>
            <a:ln>
              <a:noFill/>
            </a:ln>
          </p:spPr>
        </p:sp>
        <p:sp>
          <p:nvSpPr>
            <p:cNvPr id="148" name="TextBox 148"/>
            <p:cNvSpPr txBox="1"/>
            <p:nvPr/>
          </p:nvSpPr>
          <p:spPr>
            <a:xfrm>
              <a:off x="3022371" y="3733086"/>
              <a:ext cx="1060907" cy="140494"/>
            </a:xfrm>
            <a:prstGeom prst="rect">
              <a:avLst/>
            </a:prstGeom>
            <a:noFill/>
            <a:ln>
              <a:noFill/>
            </a:ln>
          </p:spPr>
          <p:txBody>
            <a:bodyPr wrap="none" lIns="0" tIns="0" rIns="0" bIns="0" anchor="t" anchorCtr="0">
              <a:spAutoFit/>
            </a:bodyPr>
            <a:lstStyle/>
            <a:p>
              <a:pPr algn="ctr"/>
              <a:r>
                <a:rPr lang="zh-CN" sz="710" dirty="0">
                  <a:solidFill>
                    <a:srgbClr val="8F230A"/>
                  </a:solidFill>
                  <a:latin typeface="+mn-lt"/>
                  <a:ea typeface="+mn-ea"/>
                  <a:cs typeface="+mn-cs"/>
                </a:rPr>
                <a:t>构建多维标签与客户分层</a:t>
              </a:r>
            </a:p>
          </p:txBody>
        </p:sp>
        <p:sp>
          <p:nvSpPr>
            <p:cNvPr id="149" name="TextBox 149"/>
            <p:cNvSpPr txBox="1"/>
            <p:nvPr/>
          </p:nvSpPr>
          <p:spPr>
            <a:xfrm>
              <a:off x="2795588" y="3999786"/>
              <a:ext cx="65965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基础属性标签</a:t>
              </a:r>
            </a:p>
          </p:txBody>
        </p:sp>
        <p:sp>
          <p:nvSpPr>
            <p:cNvPr id="150" name="TextBox 150"/>
            <p:cNvSpPr txBox="1"/>
            <p:nvPr/>
          </p:nvSpPr>
          <p:spPr>
            <a:xfrm>
              <a:off x="2795588" y="4209336"/>
              <a:ext cx="65965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行为偏好标签</a:t>
              </a:r>
            </a:p>
          </p:txBody>
        </p:sp>
        <p:sp>
          <p:nvSpPr>
            <p:cNvPr id="151" name="TextBox 151"/>
            <p:cNvSpPr txBox="1"/>
            <p:nvPr/>
          </p:nvSpPr>
          <p:spPr>
            <a:xfrm>
              <a:off x="2795588" y="4418886"/>
              <a:ext cx="65965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产品持有标签</a:t>
              </a:r>
            </a:p>
          </p:txBody>
        </p:sp>
        <p:sp>
          <p:nvSpPr>
            <p:cNvPr id="152" name="TextBox 152"/>
            <p:cNvSpPr txBox="1"/>
            <p:nvPr/>
          </p:nvSpPr>
          <p:spPr>
            <a:xfrm>
              <a:off x="2795588" y="462843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价值分层与动态更新</a:t>
              </a:r>
            </a:p>
          </p:txBody>
        </p:sp>
      </p:grpSp>
      <p:grpSp>
        <p:nvGrpSpPr>
          <p:cNvPr id="171" name="pillar-3"/>
          <p:cNvGrpSpPr/>
          <p:nvPr/>
        </p:nvGrpSpPr>
        <p:grpSpPr>
          <a:xfrm>
            <a:off x="4533900" y="2990850"/>
            <a:ext cx="1809750" cy="2019300"/>
            <a:chOff x="4533900" y="2990850"/>
            <a:chExt cx="1809750" cy="2019300"/>
          </a:xfrm>
        </p:grpSpPr>
        <p:sp>
          <p:nvSpPr>
            <p:cNvPr id="154" name="Rectangle 154"/>
            <p:cNvSpPr/>
            <p:nvPr/>
          </p:nvSpPr>
          <p:spPr>
            <a:xfrm>
              <a:off x="4533900" y="2990850"/>
              <a:ext cx="1809750" cy="2019300"/>
            </a:xfrm>
            <a:prstGeom prst="roundRect">
              <a:avLst>
                <a:gd name="adj" fmla="val 3158"/>
              </a:avLst>
            </a:prstGeom>
            <a:solidFill>
              <a:srgbClr val="FFFFFF"/>
            </a:solidFill>
            <a:ln w="9525">
              <a:solidFill>
                <a:srgbClr val="F1C7CC"/>
              </a:solidFill>
            </a:ln>
          </p:spPr>
        </p:sp>
        <p:sp>
          <p:nvSpPr>
            <p:cNvPr id="155" name="Rectangle 155"/>
            <p:cNvSpPr/>
            <p:nvPr/>
          </p:nvSpPr>
          <p:spPr>
            <a:xfrm>
              <a:off x="4533900" y="2990850"/>
              <a:ext cx="1809750" cy="285750"/>
            </a:xfrm>
            <a:prstGeom prst="roundRect">
              <a:avLst>
                <a:gd name="adj" fmla="val 20000"/>
              </a:avLst>
            </a:prstGeom>
            <a:gradFill>
              <a:gsLst>
                <a:gs pos="0">
                  <a:srgbClr val="8F230A"/>
                </a:gs>
                <a:gs pos="100000">
                  <a:srgbClr val="C83210"/>
                </a:gs>
              </a:gsLst>
              <a:lin ang="0" scaled="1"/>
            </a:gradFill>
            <a:ln>
              <a:noFill/>
            </a:ln>
          </p:spPr>
        </p:sp>
        <p:sp>
          <p:nvSpPr>
            <p:cNvPr id="156" name="Ellipse 156"/>
            <p:cNvSpPr/>
            <p:nvPr/>
          </p:nvSpPr>
          <p:spPr>
            <a:xfrm>
              <a:off x="4619625" y="3028950"/>
              <a:ext cx="209550" cy="209550"/>
            </a:xfrm>
            <a:prstGeom prst="ellipse">
              <a:avLst/>
            </a:prstGeom>
            <a:solidFill>
              <a:srgbClr val="FFFFFF"/>
            </a:solidFill>
            <a:ln>
              <a:noFill/>
            </a:ln>
          </p:spPr>
        </p:sp>
        <p:sp>
          <p:nvSpPr>
            <p:cNvPr id="157" name="TextBox 157"/>
            <p:cNvSpPr txBox="1"/>
            <p:nvPr/>
          </p:nvSpPr>
          <p:spPr>
            <a:xfrm>
              <a:off x="4660486" y="3086814"/>
              <a:ext cx="127829"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Arial"/>
                  <a:cs typeface="Arial"/>
                </a:rPr>
                <a:t>03</a:t>
              </a:r>
            </a:p>
          </p:txBody>
        </p:sp>
        <p:sp>
          <p:nvSpPr>
            <p:cNvPr id="158" name="TextBox 158"/>
            <p:cNvSpPr txBox="1"/>
            <p:nvPr/>
          </p:nvSpPr>
          <p:spPr>
            <a:xfrm>
              <a:off x="4909947" y="30760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内容中台</a:t>
              </a:r>
            </a:p>
          </p:txBody>
        </p:sp>
        <p:grpSp>
          <p:nvGrpSpPr>
            <p:cNvPr id="164" name="Group 164"/>
            <p:cNvGrpSpPr/>
            <p:nvPr/>
          </p:nvGrpSpPr>
          <p:grpSpPr>
            <a:xfrm>
              <a:off x="5366544" y="3383756"/>
              <a:ext cx="144462" cy="185737"/>
              <a:chOff x="5366544" y="3383756"/>
              <a:chExt cx="144462" cy="185737"/>
            </a:xfrm>
          </p:grpSpPr>
          <p:sp>
            <p:nvSpPr>
              <p:cNvPr id="159" name="Freeform 159"/>
              <p:cNvSpPr/>
              <p:nvPr/>
            </p:nvSpPr>
            <p:spPr>
              <a:xfrm>
                <a:off x="5459412" y="338375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C83210"/>
                </a:solidFill>
              </a:ln>
            </p:spPr>
          </p:sp>
          <p:sp>
            <p:nvSpPr>
              <p:cNvPr id="160" name="Freeform 160"/>
              <p:cNvSpPr/>
              <p:nvPr/>
            </p:nvSpPr>
            <p:spPr>
              <a:xfrm>
                <a:off x="5366544" y="3383756"/>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C83210"/>
                </a:solidFill>
              </a:ln>
            </p:spPr>
          </p:sp>
          <p:sp>
            <p:nvSpPr>
              <p:cNvPr id="161" name="Freeform 161"/>
              <p:cNvSpPr/>
              <p:nvPr/>
            </p:nvSpPr>
            <p:spPr>
              <a:xfrm>
                <a:off x="5407818" y="3445668"/>
                <a:ext cx="10319" cy="9525"/>
              </a:xfrm>
              <a:custGeom>
                <a:avLst/>
                <a:gdLst/>
                <a:ahLst/>
                <a:cxnLst/>
                <a:rect l="l" t="t" r="r" b="b"/>
                <a:pathLst>
                  <a:path w="10319" h="9525">
                    <a:moveTo>
                      <a:pt x="0" y="0"/>
                    </a:moveTo>
                    <a:lnTo>
                      <a:pt x="10319" y="0"/>
                    </a:lnTo>
                  </a:path>
                </a:pathLst>
              </a:custGeom>
              <a:noFill/>
              <a:ln w="20637">
                <a:solidFill>
                  <a:srgbClr val="C83210"/>
                </a:solidFill>
              </a:ln>
            </p:spPr>
          </p:sp>
          <p:sp>
            <p:nvSpPr>
              <p:cNvPr id="162" name="Freeform 162"/>
              <p:cNvSpPr/>
              <p:nvPr/>
            </p:nvSpPr>
            <p:spPr>
              <a:xfrm>
                <a:off x="5407818" y="3486943"/>
                <a:ext cx="61912" cy="9525"/>
              </a:xfrm>
              <a:custGeom>
                <a:avLst/>
                <a:gdLst/>
                <a:ahLst/>
                <a:cxnLst/>
                <a:rect l="l" t="t" r="r" b="b"/>
                <a:pathLst>
                  <a:path w="61912" h="9525">
                    <a:moveTo>
                      <a:pt x="0" y="0"/>
                    </a:moveTo>
                    <a:lnTo>
                      <a:pt x="61912" y="0"/>
                    </a:lnTo>
                  </a:path>
                </a:pathLst>
              </a:custGeom>
              <a:noFill/>
              <a:ln w="20637">
                <a:solidFill>
                  <a:srgbClr val="C83210"/>
                </a:solidFill>
              </a:ln>
            </p:spPr>
          </p:sp>
          <p:sp>
            <p:nvSpPr>
              <p:cNvPr id="163" name="Freeform 163"/>
              <p:cNvSpPr/>
              <p:nvPr/>
            </p:nvSpPr>
            <p:spPr>
              <a:xfrm>
                <a:off x="5407818" y="3528218"/>
                <a:ext cx="61912" cy="9525"/>
              </a:xfrm>
              <a:custGeom>
                <a:avLst/>
                <a:gdLst/>
                <a:ahLst/>
                <a:cxnLst/>
                <a:rect l="l" t="t" r="r" b="b"/>
                <a:pathLst>
                  <a:path w="61912" h="9525">
                    <a:moveTo>
                      <a:pt x="0" y="0"/>
                    </a:moveTo>
                    <a:lnTo>
                      <a:pt x="61912" y="0"/>
                    </a:lnTo>
                  </a:path>
                </a:pathLst>
              </a:custGeom>
              <a:noFill/>
              <a:ln w="20637">
                <a:solidFill>
                  <a:srgbClr val="C83210"/>
                </a:solidFill>
              </a:ln>
            </p:spPr>
          </p:sp>
        </p:grpSp>
        <p:sp>
          <p:nvSpPr>
            <p:cNvPr id="165" name="Rectangle 165"/>
            <p:cNvSpPr/>
            <p:nvPr/>
          </p:nvSpPr>
          <p:spPr>
            <a:xfrm>
              <a:off x="4629150" y="3676650"/>
              <a:ext cx="1619250" cy="190500"/>
            </a:xfrm>
            <a:prstGeom prst="roundRect">
              <a:avLst>
                <a:gd name="adj" fmla="val 50000"/>
              </a:avLst>
            </a:prstGeom>
            <a:solidFill>
              <a:srgbClr val="FBE3E6"/>
            </a:solidFill>
            <a:ln>
              <a:noFill/>
            </a:ln>
          </p:spPr>
        </p:sp>
        <p:sp>
          <p:nvSpPr>
            <p:cNvPr id="166" name="TextBox 166"/>
            <p:cNvSpPr txBox="1"/>
            <p:nvPr/>
          </p:nvSpPr>
          <p:spPr>
            <a:xfrm>
              <a:off x="4860531" y="3733086"/>
              <a:ext cx="1156487" cy="140494"/>
            </a:xfrm>
            <a:prstGeom prst="rect">
              <a:avLst/>
            </a:prstGeom>
            <a:noFill/>
            <a:ln>
              <a:noFill/>
            </a:ln>
          </p:spPr>
          <p:txBody>
            <a:bodyPr wrap="none" lIns="0" tIns="0" rIns="0" bIns="0" anchor="t" anchorCtr="0">
              <a:spAutoFit/>
            </a:bodyPr>
            <a:lstStyle/>
            <a:p>
              <a:pPr algn="ctr"/>
              <a:r>
                <a:rPr lang="zh-CN" sz="710" dirty="0">
                  <a:solidFill>
                    <a:srgbClr val="8F230A"/>
                  </a:solidFill>
                  <a:latin typeface="+mn-lt"/>
                  <a:ea typeface="+mn-ea"/>
                  <a:cs typeface="+mn-cs"/>
                </a:rPr>
                <a:t>标准化、场景化的内容供给</a:t>
              </a:r>
            </a:p>
          </p:txBody>
        </p:sp>
        <p:sp>
          <p:nvSpPr>
            <p:cNvPr id="167" name="TextBox 167"/>
            <p:cNvSpPr txBox="1"/>
            <p:nvPr/>
          </p:nvSpPr>
          <p:spPr>
            <a:xfrm>
              <a:off x="4681538" y="3999786"/>
              <a:ext cx="564070"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产品内容库</a:t>
              </a:r>
            </a:p>
          </p:txBody>
        </p:sp>
        <p:sp>
          <p:nvSpPr>
            <p:cNvPr id="168" name="TextBox 168"/>
            <p:cNvSpPr txBox="1"/>
            <p:nvPr/>
          </p:nvSpPr>
          <p:spPr>
            <a:xfrm>
              <a:off x="4681538" y="4209336"/>
              <a:ext cx="564070"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营销活动库</a:t>
              </a:r>
            </a:p>
          </p:txBody>
        </p:sp>
        <p:sp>
          <p:nvSpPr>
            <p:cNvPr id="169" name="TextBox 169"/>
            <p:cNvSpPr txBox="1"/>
            <p:nvPr/>
          </p:nvSpPr>
          <p:spPr>
            <a:xfrm>
              <a:off x="4681538" y="4418886"/>
              <a:ext cx="564070"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投教知识库</a:t>
              </a:r>
            </a:p>
          </p:txBody>
        </p:sp>
        <p:sp>
          <p:nvSpPr>
            <p:cNvPr id="170" name="TextBox 170"/>
            <p:cNvSpPr txBox="1"/>
            <p:nvPr/>
          </p:nvSpPr>
          <p:spPr>
            <a:xfrm>
              <a:off x="4681538" y="462843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内容标签与匹配规则</a:t>
              </a:r>
            </a:p>
          </p:txBody>
        </p:sp>
      </p:grpSp>
      <p:grpSp>
        <p:nvGrpSpPr>
          <p:cNvPr id="187" name="pillar-4"/>
          <p:cNvGrpSpPr/>
          <p:nvPr/>
        </p:nvGrpSpPr>
        <p:grpSpPr>
          <a:xfrm>
            <a:off x="6419850" y="2990850"/>
            <a:ext cx="1809750" cy="2019300"/>
            <a:chOff x="6419850" y="2990850"/>
            <a:chExt cx="1809750" cy="2019300"/>
          </a:xfrm>
        </p:grpSpPr>
        <p:sp>
          <p:nvSpPr>
            <p:cNvPr id="172" name="Rectangle 172"/>
            <p:cNvSpPr/>
            <p:nvPr/>
          </p:nvSpPr>
          <p:spPr>
            <a:xfrm>
              <a:off x="6419850" y="2990850"/>
              <a:ext cx="1809750" cy="2019300"/>
            </a:xfrm>
            <a:prstGeom prst="roundRect">
              <a:avLst>
                <a:gd name="adj" fmla="val 3158"/>
              </a:avLst>
            </a:prstGeom>
            <a:solidFill>
              <a:srgbClr val="FFFFFF"/>
            </a:solidFill>
            <a:ln w="9525">
              <a:solidFill>
                <a:srgbClr val="F1C7CC"/>
              </a:solidFill>
            </a:ln>
          </p:spPr>
        </p:sp>
        <p:sp>
          <p:nvSpPr>
            <p:cNvPr id="173" name="Rectangle 173"/>
            <p:cNvSpPr/>
            <p:nvPr/>
          </p:nvSpPr>
          <p:spPr>
            <a:xfrm>
              <a:off x="6419850" y="2990850"/>
              <a:ext cx="1809750" cy="285750"/>
            </a:xfrm>
            <a:prstGeom prst="roundRect">
              <a:avLst>
                <a:gd name="adj" fmla="val 20000"/>
              </a:avLst>
            </a:prstGeom>
            <a:gradFill>
              <a:gsLst>
                <a:gs pos="0">
                  <a:srgbClr val="8F230A"/>
                </a:gs>
                <a:gs pos="100000">
                  <a:srgbClr val="C83210"/>
                </a:gs>
              </a:gsLst>
              <a:lin ang="0" scaled="1"/>
            </a:gradFill>
            <a:ln>
              <a:noFill/>
            </a:ln>
          </p:spPr>
        </p:sp>
        <p:sp>
          <p:nvSpPr>
            <p:cNvPr id="174" name="Ellipse 174"/>
            <p:cNvSpPr/>
            <p:nvPr/>
          </p:nvSpPr>
          <p:spPr>
            <a:xfrm>
              <a:off x="6505575" y="3028950"/>
              <a:ext cx="209550" cy="209550"/>
            </a:xfrm>
            <a:prstGeom prst="ellipse">
              <a:avLst/>
            </a:prstGeom>
            <a:solidFill>
              <a:srgbClr val="FFFFFF"/>
            </a:solidFill>
            <a:ln>
              <a:noFill/>
            </a:ln>
          </p:spPr>
        </p:sp>
        <p:sp>
          <p:nvSpPr>
            <p:cNvPr id="175" name="TextBox 175"/>
            <p:cNvSpPr txBox="1"/>
            <p:nvPr/>
          </p:nvSpPr>
          <p:spPr>
            <a:xfrm>
              <a:off x="6546436" y="3086814"/>
              <a:ext cx="127829"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Arial"/>
                  <a:cs typeface="Arial"/>
                </a:rPr>
                <a:t>04</a:t>
              </a:r>
            </a:p>
          </p:txBody>
        </p:sp>
        <p:sp>
          <p:nvSpPr>
            <p:cNvPr id="176" name="TextBox 176"/>
            <p:cNvSpPr txBox="1"/>
            <p:nvPr/>
          </p:nvSpPr>
          <p:spPr>
            <a:xfrm>
              <a:off x="6795897" y="30760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旅程编排</a:t>
              </a:r>
            </a:p>
          </p:txBody>
        </p:sp>
        <p:grpSp>
          <p:nvGrpSpPr>
            <p:cNvPr id="180" name="Group 180"/>
            <p:cNvGrpSpPr/>
            <p:nvPr/>
          </p:nvGrpSpPr>
          <p:grpSpPr>
            <a:xfrm>
              <a:off x="7231856" y="3383756"/>
              <a:ext cx="185737" cy="185737"/>
              <a:chOff x="7231856" y="3383756"/>
              <a:chExt cx="185737" cy="185737"/>
            </a:xfrm>
          </p:grpSpPr>
          <p:sp>
            <p:nvSpPr>
              <p:cNvPr id="177" name="Freeform 177"/>
              <p:cNvSpPr/>
              <p:nvPr/>
            </p:nvSpPr>
            <p:spPr>
              <a:xfrm>
                <a:off x="7231856" y="3528218"/>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83210"/>
                </a:solidFill>
              </a:ln>
            </p:spPr>
          </p:sp>
          <p:sp>
            <p:nvSpPr>
              <p:cNvPr id="178" name="Freeform 178"/>
              <p:cNvSpPr/>
              <p:nvPr/>
            </p:nvSpPr>
            <p:spPr>
              <a:xfrm>
                <a:off x="7376318" y="3383756"/>
                <a:ext cx="41275" cy="41275"/>
              </a:xfrm>
              <a:custGeom>
                <a:avLst/>
                <a:gdLst/>
                <a:ahLst/>
                <a:cxnLst/>
                <a:rect l="l" t="t" r="r" b="b"/>
                <a:pathLst>
                  <a:path w="41275" h="41275">
                    <a:moveTo>
                      <a:pt x="20637" y="41275"/>
                    </a:moveTo>
                    <a:cubicBezTo>
                      <a:pt x="32035" y="41275"/>
                      <a:pt x="41275" y="32035"/>
                      <a:pt x="41275" y="20637"/>
                    </a:cubicBezTo>
                    <a:cubicBezTo>
                      <a:pt x="41275" y="9240"/>
                      <a:pt x="32035" y="0"/>
                      <a:pt x="20637" y="0"/>
                    </a:cubicBezTo>
                    <a:cubicBezTo>
                      <a:pt x="9240" y="0"/>
                      <a:pt x="0" y="9240"/>
                      <a:pt x="0" y="20637"/>
                    </a:cubicBezTo>
                    <a:cubicBezTo>
                      <a:pt x="0" y="32035"/>
                      <a:pt x="9240" y="41275"/>
                      <a:pt x="20637" y="41275"/>
                    </a:cubicBezTo>
                  </a:path>
                </a:pathLst>
              </a:custGeom>
              <a:noFill/>
              <a:ln w="20637">
                <a:solidFill>
                  <a:srgbClr val="C83210"/>
                </a:solidFill>
              </a:ln>
            </p:spPr>
          </p:sp>
          <p:sp>
            <p:nvSpPr>
              <p:cNvPr id="179" name="Freeform 179"/>
              <p:cNvSpPr/>
              <p:nvPr/>
            </p:nvSpPr>
            <p:spPr>
              <a:xfrm>
                <a:off x="7252494" y="3404394"/>
                <a:ext cx="154781" cy="144462"/>
              </a:xfrm>
              <a:custGeom>
                <a:avLst/>
                <a:gdLst/>
                <a:ahLst/>
                <a:cxnLst/>
                <a:rect l="l" t="t" r="r" b="b"/>
                <a:pathLst>
                  <a:path w="154781" h="144462">
                    <a:moveTo>
                      <a:pt x="61912" y="144462"/>
                    </a:moveTo>
                    <a:lnTo>
                      <a:pt x="118665" y="144462"/>
                    </a:lnTo>
                    <a:cubicBezTo>
                      <a:pt x="138611" y="144462"/>
                      <a:pt x="154781" y="128293"/>
                      <a:pt x="154781" y="108347"/>
                    </a:cubicBezTo>
                    <a:cubicBezTo>
                      <a:pt x="154781" y="88400"/>
                      <a:pt x="138611" y="72231"/>
                      <a:pt x="118665" y="72231"/>
                    </a:cubicBezTo>
                    <a:lnTo>
                      <a:pt x="36116" y="72231"/>
                    </a:lnTo>
                    <a:cubicBezTo>
                      <a:pt x="16169" y="72231"/>
                      <a:pt x="0" y="56062"/>
                      <a:pt x="0" y="36116"/>
                    </a:cubicBezTo>
                    <a:cubicBezTo>
                      <a:pt x="0" y="16169"/>
                      <a:pt x="16169" y="0"/>
                      <a:pt x="36116" y="0"/>
                    </a:cubicBezTo>
                    <a:lnTo>
                      <a:pt x="82550" y="0"/>
                    </a:lnTo>
                  </a:path>
                </a:pathLst>
              </a:custGeom>
              <a:noFill/>
              <a:ln w="20637">
                <a:solidFill>
                  <a:srgbClr val="C83210"/>
                </a:solidFill>
              </a:ln>
            </p:spPr>
          </p:sp>
        </p:grpSp>
        <p:sp>
          <p:nvSpPr>
            <p:cNvPr id="181" name="Rectangle 181"/>
            <p:cNvSpPr/>
            <p:nvPr/>
          </p:nvSpPr>
          <p:spPr>
            <a:xfrm>
              <a:off x="6515100" y="3676650"/>
              <a:ext cx="1619250" cy="190500"/>
            </a:xfrm>
            <a:prstGeom prst="roundRect">
              <a:avLst>
                <a:gd name="adj" fmla="val 50000"/>
              </a:avLst>
            </a:prstGeom>
            <a:solidFill>
              <a:srgbClr val="FBE3E6"/>
            </a:solidFill>
            <a:ln>
              <a:noFill/>
            </a:ln>
          </p:spPr>
        </p:sp>
        <p:sp>
          <p:nvSpPr>
            <p:cNvPr id="182" name="TextBox 182"/>
            <p:cNvSpPr txBox="1"/>
            <p:nvPr/>
          </p:nvSpPr>
          <p:spPr>
            <a:xfrm>
              <a:off x="6698691" y="3733086"/>
              <a:ext cx="1252068" cy="140494"/>
            </a:xfrm>
            <a:prstGeom prst="rect">
              <a:avLst/>
            </a:prstGeom>
            <a:noFill/>
            <a:ln>
              <a:noFill/>
            </a:ln>
          </p:spPr>
          <p:txBody>
            <a:bodyPr wrap="none" lIns="0" tIns="0" rIns="0" bIns="0" anchor="t" anchorCtr="0">
              <a:spAutoFit/>
            </a:bodyPr>
            <a:lstStyle/>
            <a:p>
              <a:pPr algn="ctr"/>
              <a:r>
                <a:rPr lang="zh-CN" sz="710" dirty="0">
                  <a:solidFill>
                    <a:srgbClr val="8F230A"/>
                  </a:solidFill>
                  <a:latin typeface="+mn-lt"/>
                  <a:ea typeface="+mn-ea"/>
                  <a:cs typeface="+mn-cs"/>
                </a:rPr>
                <a:t>自动化的客户旅程与触达编排</a:t>
              </a:r>
            </a:p>
          </p:txBody>
        </p:sp>
        <p:sp>
          <p:nvSpPr>
            <p:cNvPr id="183" name="TextBox 183"/>
            <p:cNvSpPr txBox="1"/>
            <p:nvPr/>
          </p:nvSpPr>
          <p:spPr>
            <a:xfrm>
              <a:off x="6567488" y="3999786"/>
              <a:ext cx="85081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客户旅程策略设计</a:t>
              </a:r>
            </a:p>
          </p:txBody>
        </p:sp>
        <p:sp>
          <p:nvSpPr>
            <p:cNvPr id="184" name="TextBox 184"/>
            <p:cNvSpPr txBox="1"/>
            <p:nvPr/>
          </p:nvSpPr>
          <p:spPr>
            <a:xfrm>
              <a:off x="6567488" y="420933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多渠道触达编排</a:t>
              </a:r>
            </a:p>
          </p:txBody>
        </p:sp>
        <p:sp>
          <p:nvSpPr>
            <p:cNvPr id="185" name="TextBox 185"/>
            <p:cNvSpPr txBox="1"/>
            <p:nvPr/>
          </p:nvSpPr>
          <p:spPr>
            <a:xfrm>
              <a:off x="6567488" y="441888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节点任务与自动执行</a:t>
              </a:r>
            </a:p>
          </p:txBody>
        </p:sp>
        <p:sp>
          <p:nvSpPr>
            <p:cNvPr id="186" name="TextBox 186"/>
            <p:cNvSpPr txBox="1"/>
            <p:nvPr/>
          </p:nvSpPr>
          <p:spPr>
            <a:xfrm>
              <a:off x="6567488" y="4628436"/>
              <a:ext cx="1013143" cy="140494"/>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710" dirty="0">
                  <a:solidFill>
                    <a:srgbClr val="3D3D3D"/>
                  </a:solidFill>
                  <a:latin typeface="Arial"/>
                  <a:ea typeface="Microsoft YaHei"/>
                  <a:cs typeface="Arial"/>
                </a:rPr>
                <a:t xml:space="preserve">A/B测试与策略优化　</a:t>
              </a:r>
            </a:p>
          </p:txBody>
        </p:sp>
      </p:grpSp>
      <p:grpSp>
        <p:nvGrpSpPr>
          <p:cNvPr id="206" name="pillar-5"/>
          <p:cNvGrpSpPr/>
          <p:nvPr/>
        </p:nvGrpSpPr>
        <p:grpSpPr>
          <a:xfrm>
            <a:off x="8305800" y="2990850"/>
            <a:ext cx="1809750" cy="2019300"/>
            <a:chOff x="8305800" y="2990850"/>
            <a:chExt cx="1809750" cy="2019300"/>
          </a:xfrm>
        </p:grpSpPr>
        <p:sp>
          <p:nvSpPr>
            <p:cNvPr id="188" name="Rectangle 188"/>
            <p:cNvSpPr/>
            <p:nvPr/>
          </p:nvSpPr>
          <p:spPr>
            <a:xfrm>
              <a:off x="8305800" y="2990850"/>
              <a:ext cx="1809750" cy="2019300"/>
            </a:xfrm>
            <a:prstGeom prst="roundRect">
              <a:avLst>
                <a:gd name="adj" fmla="val 3158"/>
              </a:avLst>
            </a:prstGeom>
            <a:solidFill>
              <a:srgbClr val="FFFFFF"/>
            </a:solidFill>
            <a:ln w="9525">
              <a:solidFill>
                <a:srgbClr val="F1C7CC"/>
              </a:solidFill>
            </a:ln>
          </p:spPr>
        </p:sp>
        <p:sp>
          <p:nvSpPr>
            <p:cNvPr id="189" name="Rectangle 189"/>
            <p:cNvSpPr/>
            <p:nvPr/>
          </p:nvSpPr>
          <p:spPr>
            <a:xfrm>
              <a:off x="8305800" y="2990850"/>
              <a:ext cx="1809750" cy="285750"/>
            </a:xfrm>
            <a:prstGeom prst="roundRect">
              <a:avLst>
                <a:gd name="adj" fmla="val 20000"/>
              </a:avLst>
            </a:prstGeom>
            <a:gradFill>
              <a:gsLst>
                <a:gs pos="0">
                  <a:srgbClr val="8F230A"/>
                </a:gs>
                <a:gs pos="100000">
                  <a:srgbClr val="C83210"/>
                </a:gs>
              </a:gsLst>
              <a:lin ang="0" scaled="1"/>
            </a:gradFill>
            <a:ln>
              <a:noFill/>
            </a:ln>
          </p:spPr>
        </p:sp>
        <p:sp>
          <p:nvSpPr>
            <p:cNvPr id="190" name="Ellipse 190"/>
            <p:cNvSpPr/>
            <p:nvPr/>
          </p:nvSpPr>
          <p:spPr>
            <a:xfrm>
              <a:off x="8391525" y="3028950"/>
              <a:ext cx="209550" cy="209550"/>
            </a:xfrm>
            <a:prstGeom prst="ellipse">
              <a:avLst/>
            </a:prstGeom>
            <a:solidFill>
              <a:srgbClr val="FFFFFF"/>
            </a:solidFill>
            <a:ln>
              <a:noFill/>
            </a:ln>
          </p:spPr>
        </p:sp>
        <p:sp>
          <p:nvSpPr>
            <p:cNvPr id="191" name="TextBox 191"/>
            <p:cNvSpPr txBox="1"/>
            <p:nvPr/>
          </p:nvSpPr>
          <p:spPr>
            <a:xfrm>
              <a:off x="8432386" y="3086814"/>
              <a:ext cx="127829"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Arial"/>
                  <a:cs typeface="Arial"/>
                </a:rPr>
                <a:t>05</a:t>
              </a:r>
            </a:p>
          </p:txBody>
        </p:sp>
        <p:sp>
          <p:nvSpPr>
            <p:cNvPr id="192" name="TextBox 192"/>
            <p:cNvSpPr txBox="1"/>
            <p:nvPr/>
          </p:nvSpPr>
          <p:spPr>
            <a:xfrm>
              <a:off x="8681847" y="30760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支行执行</a:t>
              </a:r>
            </a:p>
          </p:txBody>
        </p:sp>
        <p:grpSp>
          <p:nvGrpSpPr>
            <p:cNvPr id="199" name="Group 199"/>
            <p:cNvGrpSpPr/>
            <p:nvPr/>
          </p:nvGrpSpPr>
          <p:grpSpPr>
            <a:xfrm>
              <a:off x="9117806" y="3383756"/>
              <a:ext cx="185737" cy="185737"/>
              <a:chOff x="9117806" y="3383756"/>
              <a:chExt cx="185737" cy="185737"/>
            </a:xfrm>
          </p:grpSpPr>
          <p:sp>
            <p:nvSpPr>
              <p:cNvPr id="193" name="Freeform 193"/>
              <p:cNvSpPr/>
              <p:nvPr/>
            </p:nvSpPr>
            <p:spPr>
              <a:xfrm>
                <a:off x="9190037" y="34663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83210"/>
                </a:solidFill>
              </a:ln>
            </p:spPr>
          </p:sp>
          <p:sp>
            <p:nvSpPr>
              <p:cNvPr id="194" name="Freeform 194"/>
              <p:cNvSpPr/>
              <p:nvPr/>
            </p:nvSpPr>
            <p:spPr>
              <a:xfrm>
                <a:off x="9169400" y="353853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C83210"/>
                </a:solidFill>
              </a:ln>
            </p:spPr>
          </p:sp>
          <p:sp>
            <p:nvSpPr>
              <p:cNvPr id="195" name="Freeform 195"/>
              <p:cNvSpPr/>
              <p:nvPr/>
            </p:nvSpPr>
            <p:spPr>
              <a:xfrm>
                <a:off x="9241631" y="33837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83210"/>
                </a:solidFill>
              </a:ln>
            </p:spPr>
          </p:sp>
          <p:sp>
            <p:nvSpPr>
              <p:cNvPr id="196" name="Freeform 196"/>
              <p:cNvSpPr/>
              <p:nvPr/>
            </p:nvSpPr>
            <p:spPr>
              <a:xfrm>
                <a:off x="9262268" y="345598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C83210"/>
                </a:solidFill>
              </a:ln>
            </p:spPr>
          </p:sp>
          <p:sp>
            <p:nvSpPr>
              <p:cNvPr id="197" name="Freeform 197"/>
              <p:cNvSpPr/>
              <p:nvPr/>
            </p:nvSpPr>
            <p:spPr>
              <a:xfrm>
                <a:off x="9138444" y="33837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83210"/>
                </a:solidFill>
              </a:ln>
            </p:spPr>
          </p:sp>
          <p:sp>
            <p:nvSpPr>
              <p:cNvPr id="198" name="Freeform 198"/>
              <p:cNvSpPr/>
              <p:nvPr/>
            </p:nvSpPr>
            <p:spPr>
              <a:xfrm>
                <a:off x="9117806" y="345598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C83210"/>
                </a:solidFill>
              </a:ln>
            </p:spPr>
          </p:sp>
        </p:grpSp>
        <p:sp>
          <p:nvSpPr>
            <p:cNvPr id="200" name="Rectangle 200"/>
            <p:cNvSpPr/>
            <p:nvPr/>
          </p:nvSpPr>
          <p:spPr>
            <a:xfrm>
              <a:off x="8401050" y="3676650"/>
              <a:ext cx="1619250" cy="190500"/>
            </a:xfrm>
            <a:prstGeom prst="roundRect">
              <a:avLst>
                <a:gd name="adj" fmla="val 50000"/>
              </a:avLst>
            </a:prstGeom>
            <a:solidFill>
              <a:srgbClr val="FBE3E6"/>
            </a:solidFill>
            <a:ln>
              <a:noFill/>
            </a:ln>
          </p:spPr>
        </p:sp>
        <p:sp>
          <p:nvSpPr>
            <p:cNvPr id="201" name="TextBox 201"/>
            <p:cNvSpPr txBox="1"/>
            <p:nvPr/>
          </p:nvSpPr>
          <p:spPr>
            <a:xfrm>
              <a:off x="8632431" y="3733086"/>
              <a:ext cx="1156487" cy="140494"/>
            </a:xfrm>
            <a:prstGeom prst="rect">
              <a:avLst/>
            </a:prstGeom>
            <a:noFill/>
            <a:ln>
              <a:noFill/>
            </a:ln>
          </p:spPr>
          <p:txBody>
            <a:bodyPr wrap="none" lIns="0" tIns="0" rIns="0" bIns="0" anchor="t" anchorCtr="0">
              <a:spAutoFit/>
            </a:bodyPr>
            <a:lstStyle/>
            <a:p>
              <a:pPr algn="ctr"/>
              <a:r>
                <a:rPr lang="zh-CN" sz="710" dirty="0">
                  <a:solidFill>
                    <a:srgbClr val="8F230A"/>
                  </a:solidFill>
                  <a:latin typeface="+mn-lt"/>
                  <a:ea typeface="+mn-ea"/>
                  <a:cs typeface="+mn-cs"/>
                </a:rPr>
                <a:t>支行团队的落地执行与赋能</a:t>
              </a:r>
            </a:p>
          </p:txBody>
        </p:sp>
        <p:sp>
          <p:nvSpPr>
            <p:cNvPr id="202" name="TextBox 202"/>
            <p:cNvSpPr txBox="1"/>
            <p:nvPr/>
          </p:nvSpPr>
          <p:spPr>
            <a:xfrm>
              <a:off x="8453438" y="3999786"/>
              <a:ext cx="1137552"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支行任务下发与进度管理</a:t>
              </a:r>
            </a:p>
          </p:txBody>
        </p:sp>
        <p:sp>
          <p:nvSpPr>
            <p:cNvPr id="203" name="TextBox 203"/>
            <p:cNvSpPr txBox="1"/>
            <p:nvPr/>
          </p:nvSpPr>
          <p:spPr>
            <a:xfrm>
              <a:off x="8453438" y="4209336"/>
              <a:ext cx="1133224"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 xml:space="preserve">客户跟进SOP与话术库　</a:t>
              </a:r>
            </a:p>
          </p:txBody>
        </p:sp>
        <p:sp>
          <p:nvSpPr>
            <p:cNvPr id="204" name="TextBox 204"/>
            <p:cNvSpPr txBox="1"/>
            <p:nvPr/>
          </p:nvSpPr>
          <p:spPr>
            <a:xfrm>
              <a:off x="8453438" y="441888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员工培训与能力提升</a:t>
              </a:r>
            </a:p>
          </p:txBody>
        </p:sp>
        <p:sp>
          <p:nvSpPr>
            <p:cNvPr id="205" name="TextBox 205"/>
            <p:cNvSpPr txBox="1"/>
            <p:nvPr/>
          </p:nvSpPr>
          <p:spPr>
            <a:xfrm>
              <a:off x="8453438" y="462843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优秀案例沉淀与推广</a:t>
              </a:r>
            </a:p>
          </p:txBody>
        </p:sp>
      </p:grpSp>
      <p:grpSp>
        <p:nvGrpSpPr>
          <p:cNvPr id="223" name="pillar-6"/>
          <p:cNvGrpSpPr/>
          <p:nvPr/>
        </p:nvGrpSpPr>
        <p:grpSpPr>
          <a:xfrm>
            <a:off x="10191750" y="2990850"/>
            <a:ext cx="1809750" cy="2019300"/>
            <a:chOff x="10191750" y="2990850"/>
            <a:chExt cx="1809750" cy="2019300"/>
          </a:xfrm>
        </p:grpSpPr>
        <p:sp>
          <p:nvSpPr>
            <p:cNvPr id="207" name="Rectangle 207"/>
            <p:cNvSpPr/>
            <p:nvPr/>
          </p:nvSpPr>
          <p:spPr>
            <a:xfrm>
              <a:off x="10191750" y="2990850"/>
              <a:ext cx="1809750" cy="2019300"/>
            </a:xfrm>
            <a:prstGeom prst="roundRect">
              <a:avLst>
                <a:gd name="adj" fmla="val 3158"/>
              </a:avLst>
            </a:prstGeom>
            <a:solidFill>
              <a:srgbClr val="FFFFFF"/>
            </a:solidFill>
            <a:ln w="9525">
              <a:solidFill>
                <a:srgbClr val="F1C7CC"/>
              </a:solidFill>
            </a:ln>
          </p:spPr>
        </p:sp>
        <p:sp>
          <p:nvSpPr>
            <p:cNvPr id="208" name="Rectangle 208"/>
            <p:cNvSpPr/>
            <p:nvPr/>
          </p:nvSpPr>
          <p:spPr>
            <a:xfrm>
              <a:off x="10191750" y="2990850"/>
              <a:ext cx="1809750" cy="285750"/>
            </a:xfrm>
            <a:prstGeom prst="roundRect">
              <a:avLst>
                <a:gd name="adj" fmla="val 20000"/>
              </a:avLst>
            </a:prstGeom>
            <a:gradFill>
              <a:gsLst>
                <a:gs pos="0">
                  <a:srgbClr val="8F230A"/>
                </a:gs>
                <a:gs pos="100000">
                  <a:srgbClr val="C83210"/>
                </a:gs>
              </a:gsLst>
              <a:lin ang="0" scaled="1"/>
            </a:gradFill>
            <a:ln>
              <a:noFill/>
            </a:ln>
          </p:spPr>
        </p:sp>
        <p:sp>
          <p:nvSpPr>
            <p:cNvPr id="209" name="Ellipse 209"/>
            <p:cNvSpPr/>
            <p:nvPr/>
          </p:nvSpPr>
          <p:spPr>
            <a:xfrm>
              <a:off x="10277475" y="3028950"/>
              <a:ext cx="209550" cy="209550"/>
            </a:xfrm>
            <a:prstGeom prst="ellipse">
              <a:avLst/>
            </a:prstGeom>
            <a:solidFill>
              <a:srgbClr val="FFFFFF"/>
            </a:solidFill>
            <a:ln>
              <a:noFill/>
            </a:ln>
          </p:spPr>
        </p:sp>
        <p:sp>
          <p:nvSpPr>
            <p:cNvPr id="210" name="TextBox 210"/>
            <p:cNvSpPr txBox="1"/>
            <p:nvPr/>
          </p:nvSpPr>
          <p:spPr>
            <a:xfrm>
              <a:off x="10318336" y="3086814"/>
              <a:ext cx="127829"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Arial"/>
                  <a:cs typeface="Arial"/>
                </a:rPr>
                <a:t>06</a:t>
              </a:r>
            </a:p>
          </p:txBody>
        </p:sp>
        <p:sp>
          <p:nvSpPr>
            <p:cNvPr id="211" name="TextBox 211"/>
            <p:cNvSpPr txBox="1"/>
            <p:nvPr/>
          </p:nvSpPr>
          <p:spPr>
            <a:xfrm>
              <a:off x="10567797" y="30760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数据评价</a:t>
              </a:r>
            </a:p>
          </p:txBody>
        </p:sp>
        <p:grpSp>
          <p:nvGrpSpPr>
            <p:cNvPr id="216" name="Group 216"/>
            <p:cNvGrpSpPr/>
            <p:nvPr/>
          </p:nvGrpSpPr>
          <p:grpSpPr>
            <a:xfrm>
              <a:off x="11003756" y="3394075"/>
              <a:ext cx="185737" cy="174624"/>
              <a:chOff x="11003756" y="3394075"/>
              <a:chExt cx="185737" cy="174624"/>
            </a:xfrm>
          </p:grpSpPr>
          <p:sp>
            <p:nvSpPr>
              <p:cNvPr id="212" name="Freeform 212"/>
              <p:cNvSpPr/>
              <p:nvPr/>
            </p:nvSpPr>
            <p:spPr>
              <a:xfrm>
                <a:off x="11003756" y="347662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C83210"/>
                </a:solidFill>
              </a:ln>
            </p:spPr>
          </p:sp>
          <p:sp>
            <p:nvSpPr>
              <p:cNvPr id="213" name="Freeform 213"/>
              <p:cNvSpPr/>
              <p:nvPr/>
            </p:nvSpPr>
            <p:spPr>
              <a:xfrm>
                <a:off x="11127581" y="343535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C83210"/>
                </a:solidFill>
              </a:ln>
            </p:spPr>
          </p:sp>
          <p:sp>
            <p:nvSpPr>
              <p:cNvPr id="214" name="Freeform 214"/>
              <p:cNvSpPr/>
              <p:nvPr/>
            </p:nvSpPr>
            <p:spPr>
              <a:xfrm>
                <a:off x="11065668" y="339407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C83210"/>
                </a:solidFill>
              </a:ln>
            </p:spPr>
          </p:sp>
          <p:sp>
            <p:nvSpPr>
              <p:cNvPr id="215" name="Freeform 215"/>
              <p:cNvSpPr/>
              <p:nvPr/>
            </p:nvSpPr>
            <p:spPr>
              <a:xfrm>
                <a:off x="11014075" y="3559174"/>
                <a:ext cx="144462" cy="9525"/>
              </a:xfrm>
              <a:custGeom>
                <a:avLst/>
                <a:gdLst/>
                <a:ahLst/>
                <a:cxnLst/>
                <a:rect l="l" t="t" r="r" b="b"/>
                <a:pathLst>
                  <a:path w="144462" h="9525">
                    <a:moveTo>
                      <a:pt x="0" y="0"/>
                    </a:moveTo>
                    <a:lnTo>
                      <a:pt x="144462" y="0"/>
                    </a:lnTo>
                  </a:path>
                </a:pathLst>
              </a:custGeom>
              <a:noFill/>
              <a:ln w="20637">
                <a:solidFill>
                  <a:srgbClr val="C83210"/>
                </a:solidFill>
              </a:ln>
            </p:spPr>
          </p:sp>
        </p:grpSp>
        <p:sp>
          <p:nvSpPr>
            <p:cNvPr id="217" name="Rectangle 217"/>
            <p:cNvSpPr/>
            <p:nvPr/>
          </p:nvSpPr>
          <p:spPr>
            <a:xfrm>
              <a:off x="10287000" y="3676650"/>
              <a:ext cx="1619250" cy="190500"/>
            </a:xfrm>
            <a:prstGeom prst="roundRect">
              <a:avLst>
                <a:gd name="adj" fmla="val 50000"/>
              </a:avLst>
            </a:prstGeom>
            <a:solidFill>
              <a:srgbClr val="FBE3E6"/>
            </a:solidFill>
            <a:ln>
              <a:noFill/>
            </a:ln>
          </p:spPr>
        </p:sp>
        <p:sp>
          <p:nvSpPr>
            <p:cNvPr id="218" name="TextBox 218"/>
            <p:cNvSpPr txBox="1"/>
            <p:nvPr/>
          </p:nvSpPr>
          <p:spPr>
            <a:xfrm>
              <a:off x="10518381" y="3733086"/>
              <a:ext cx="1156487" cy="140494"/>
            </a:xfrm>
            <a:prstGeom prst="rect">
              <a:avLst/>
            </a:prstGeom>
            <a:noFill/>
            <a:ln>
              <a:noFill/>
            </a:ln>
          </p:spPr>
          <p:txBody>
            <a:bodyPr wrap="none" lIns="0" tIns="0" rIns="0" bIns="0" anchor="t" anchorCtr="0">
              <a:spAutoFit/>
            </a:bodyPr>
            <a:lstStyle/>
            <a:p>
              <a:pPr algn="ctr"/>
              <a:r>
                <a:rPr lang="zh-CN" sz="710" dirty="0">
                  <a:solidFill>
                    <a:srgbClr val="8F230A"/>
                  </a:solidFill>
                  <a:latin typeface="+mn-lt"/>
                  <a:ea typeface="+mn-ea"/>
                  <a:cs typeface="+mn-cs"/>
                </a:rPr>
                <a:t>全链路数据监测与效果评估</a:t>
              </a:r>
            </a:p>
          </p:txBody>
        </p:sp>
        <p:sp>
          <p:nvSpPr>
            <p:cNvPr id="219" name="TextBox 219"/>
            <p:cNvSpPr txBox="1"/>
            <p:nvPr/>
          </p:nvSpPr>
          <p:spPr>
            <a:xfrm>
              <a:off x="10339388" y="399978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客户增长与活跃分析</a:t>
              </a:r>
            </a:p>
          </p:txBody>
        </p:sp>
        <p:sp>
          <p:nvSpPr>
            <p:cNvPr id="220" name="TextBox 220"/>
            <p:cNvSpPr txBox="1"/>
            <p:nvPr/>
          </p:nvSpPr>
          <p:spPr>
            <a:xfrm>
              <a:off x="10339388" y="420933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内容触达与转化分析</a:t>
              </a:r>
            </a:p>
          </p:txBody>
        </p:sp>
        <p:sp>
          <p:nvSpPr>
            <p:cNvPr id="221" name="TextBox 221"/>
            <p:cNvSpPr txBox="1"/>
            <p:nvPr/>
          </p:nvSpPr>
          <p:spPr>
            <a:xfrm>
              <a:off x="10339388" y="441888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支行与员工绩效评估</a:t>
              </a:r>
            </a:p>
          </p:txBody>
        </p:sp>
        <p:sp>
          <p:nvSpPr>
            <p:cNvPr id="222" name="TextBox 222"/>
            <p:cNvSpPr txBox="1"/>
            <p:nvPr/>
          </p:nvSpPr>
          <p:spPr>
            <a:xfrm>
              <a:off x="10339388" y="462843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数据看板与预警机制</a:t>
              </a:r>
            </a:p>
          </p:txBody>
        </p:sp>
      </p:grpSp>
      <p:grpSp>
        <p:nvGrpSpPr>
          <p:cNvPr id="228" name="band4-label"/>
          <p:cNvGrpSpPr/>
          <p:nvPr/>
        </p:nvGrpSpPr>
        <p:grpSpPr>
          <a:xfrm>
            <a:off x="171450" y="5143500"/>
            <a:ext cx="495300" cy="1638300"/>
            <a:chOff x="171450" y="5143500"/>
            <a:chExt cx="495300" cy="1638300"/>
          </a:xfrm>
        </p:grpSpPr>
        <p:sp>
          <p:nvSpPr>
            <p:cNvPr id="224" name="Rectangle 224"/>
            <p:cNvSpPr/>
            <p:nvPr/>
          </p:nvSpPr>
          <p:spPr>
            <a:xfrm>
              <a:off x="171450" y="5143500"/>
              <a:ext cx="495300" cy="1638300"/>
            </a:xfrm>
            <a:prstGeom prst="roundRect">
              <a:avLst>
                <a:gd name="adj" fmla="val 11538"/>
              </a:avLst>
            </a:prstGeom>
            <a:solidFill>
              <a:srgbClr val="C83210"/>
            </a:solidFill>
            <a:ln>
              <a:noFill/>
            </a:ln>
          </p:spPr>
        </p:sp>
        <p:sp>
          <p:nvSpPr>
            <p:cNvPr id="225" name="TextBox 225"/>
            <p:cNvSpPr txBox="1"/>
            <p:nvPr/>
          </p:nvSpPr>
          <p:spPr>
            <a:xfrm>
              <a:off x="245530" y="5704999"/>
              <a:ext cx="34713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Arial"/>
                  <a:ea typeface="Microsoft YaHei"/>
                  <a:cs typeface="Arial"/>
                </a:rPr>
                <a:t>6个月</a:t>
              </a:r>
            </a:p>
          </p:txBody>
        </p:sp>
        <p:sp>
          <p:nvSpPr>
            <p:cNvPr id="226" name="TextBox 226"/>
            <p:cNvSpPr txBox="1"/>
            <p:nvPr/>
          </p:nvSpPr>
          <p:spPr>
            <a:xfrm>
              <a:off x="282219" y="58954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核心</a:t>
              </a:r>
            </a:p>
          </p:txBody>
        </p:sp>
        <p:sp>
          <p:nvSpPr>
            <p:cNvPr id="227" name="TextBox 227"/>
            <p:cNvSpPr txBox="1"/>
            <p:nvPr/>
          </p:nvSpPr>
          <p:spPr>
            <a:xfrm>
              <a:off x="282219" y="60859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目标</a:t>
              </a:r>
            </a:p>
          </p:txBody>
        </p:sp>
      </p:grpSp>
      <p:grpSp>
        <p:nvGrpSpPr>
          <p:cNvPr id="243" name="goal-1"/>
          <p:cNvGrpSpPr/>
          <p:nvPr/>
        </p:nvGrpSpPr>
        <p:grpSpPr>
          <a:xfrm>
            <a:off x="762000" y="5143500"/>
            <a:ext cx="2171700" cy="1638300"/>
            <a:chOff x="762000" y="5143500"/>
            <a:chExt cx="2171700" cy="1638300"/>
          </a:xfrm>
        </p:grpSpPr>
        <p:sp>
          <p:nvSpPr>
            <p:cNvPr id="229" name="Rectangle 229"/>
            <p:cNvSpPr/>
            <p:nvPr/>
          </p:nvSpPr>
          <p:spPr>
            <a:xfrm>
              <a:off x="762000" y="5143500"/>
              <a:ext cx="2171700" cy="1638300"/>
            </a:xfrm>
            <a:prstGeom prst="roundRect">
              <a:avLst>
                <a:gd name="adj" fmla="val 4651"/>
              </a:avLst>
            </a:prstGeom>
            <a:solidFill>
              <a:srgbClr val="FDEFF1"/>
            </a:solidFill>
            <a:ln>
              <a:noFill/>
            </a:ln>
          </p:spPr>
        </p:sp>
        <p:grpSp>
          <p:nvGrpSpPr>
            <p:cNvPr id="233" name="Group 233"/>
            <p:cNvGrpSpPr/>
            <p:nvPr/>
          </p:nvGrpSpPr>
          <p:grpSpPr>
            <a:xfrm>
              <a:off x="923925" y="5281612"/>
              <a:ext cx="119062" cy="142875"/>
              <a:chOff x="923925" y="5281612"/>
              <a:chExt cx="119062" cy="142875"/>
            </a:xfrm>
          </p:grpSpPr>
          <p:sp>
            <p:nvSpPr>
              <p:cNvPr id="230" name="Freeform 230"/>
              <p:cNvSpPr/>
              <p:nvPr/>
            </p:nvSpPr>
            <p:spPr>
              <a:xfrm>
                <a:off x="939800" y="52816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C83210"/>
                </a:solidFill>
              </a:ln>
            </p:spPr>
          </p:sp>
          <p:sp>
            <p:nvSpPr>
              <p:cNvPr id="231" name="Freeform 231"/>
              <p:cNvSpPr/>
              <p:nvPr/>
            </p:nvSpPr>
            <p:spPr>
              <a:xfrm>
                <a:off x="923925" y="53768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C83210"/>
                </a:solidFill>
              </a:ln>
            </p:spPr>
          </p:sp>
          <p:sp>
            <p:nvSpPr>
              <p:cNvPr id="232" name="Freeform 232"/>
              <p:cNvSpPr/>
              <p:nvPr/>
            </p:nvSpPr>
            <p:spPr>
              <a:xfrm>
                <a:off x="995362" y="5392737"/>
                <a:ext cx="47625" cy="31750"/>
              </a:xfrm>
              <a:custGeom>
                <a:avLst/>
                <a:gdLst/>
                <a:ahLst/>
                <a:cxnLst/>
                <a:rect l="l" t="t" r="r" b="b"/>
                <a:pathLst>
                  <a:path w="47625" h="31750">
                    <a:moveTo>
                      <a:pt x="0" y="15875"/>
                    </a:moveTo>
                    <a:lnTo>
                      <a:pt x="15875" y="31750"/>
                    </a:lnTo>
                    <a:lnTo>
                      <a:pt x="47625" y="0"/>
                    </a:lnTo>
                  </a:path>
                </a:pathLst>
              </a:custGeom>
              <a:noFill/>
              <a:ln w="15875">
                <a:solidFill>
                  <a:srgbClr val="C83210"/>
                </a:solidFill>
              </a:ln>
            </p:spPr>
          </p:sp>
        </p:grpSp>
        <p:sp>
          <p:nvSpPr>
            <p:cNvPr id="234" name="TextBox 234"/>
            <p:cNvSpPr txBox="1"/>
            <p:nvPr/>
          </p:nvSpPr>
          <p:spPr>
            <a:xfrm>
              <a:off x="1119188" y="5308997"/>
              <a:ext cx="389153"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认证率</a:t>
              </a:r>
            </a:p>
          </p:txBody>
        </p:sp>
        <p:sp>
          <p:nvSpPr>
            <p:cNvPr id="235" name="Rectangle 235"/>
            <p:cNvSpPr/>
            <p:nvPr/>
          </p:nvSpPr>
          <p:spPr>
            <a:xfrm>
              <a:off x="1295400" y="6115050"/>
              <a:ext cx="457200" cy="419100"/>
            </a:xfrm>
            <a:prstGeom prst="rect">
              <a:avLst/>
            </a:prstGeom>
            <a:solidFill>
              <a:srgbClr val="F3B2A3"/>
            </a:solidFill>
            <a:ln>
              <a:noFill/>
            </a:ln>
          </p:spPr>
        </p:sp>
        <p:sp>
          <p:nvSpPr>
            <p:cNvPr id="236" name="Rectangle 236"/>
            <p:cNvSpPr/>
            <p:nvPr/>
          </p:nvSpPr>
          <p:spPr>
            <a:xfrm>
              <a:off x="2095500" y="5867400"/>
              <a:ext cx="457200" cy="666750"/>
            </a:xfrm>
            <a:prstGeom prst="rect">
              <a:avLst/>
            </a:prstGeom>
            <a:solidFill>
              <a:srgbClr val="C83210"/>
            </a:solidFill>
            <a:ln>
              <a:noFill/>
            </a:ln>
          </p:spPr>
        </p:sp>
        <p:sp>
          <p:nvSpPr>
            <p:cNvPr id="237" name="TextBox 237"/>
            <p:cNvSpPr txBox="1"/>
            <p:nvPr/>
          </p:nvSpPr>
          <p:spPr>
            <a:xfrm>
              <a:off x="1347460" y="5941695"/>
              <a:ext cx="353081" cy="176212"/>
            </a:xfrm>
            <a:prstGeom prst="rect">
              <a:avLst/>
            </a:prstGeom>
            <a:noFill/>
            <a:ln>
              <a:noFill/>
            </a:ln>
          </p:spPr>
          <p:txBody>
            <a:bodyPr wrap="none" lIns="0" tIns="0" rIns="0" bIns="0" anchor="t" anchorCtr="0">
              <a:spAutoFit/>
            </a:bodyPr>
            <a:lstStyle/>
            <a:p>
              <a:pPr algn="ctr"/>
              <a:r>
                <a:rPr lang="zh-CN" sz="900" b="1" dirty="0">
                  <a:solidFill>
                    <a:srgbClr val="E9826B"/>
                  </a:solidFill>
                  <a:latin typeface="Arial"/>
                  <a:ea typeface="Arial"/>
                  <a:cs typeface="Arial"/>
                </a:rPr>
                <a:t>43.8%</a:t>
              </a:r>
            </a:p>
          </p:txBody>
        </p:sp>
        <p:sp>
          <p:nvSpPr>
            <p:cNvPr id="238" name="TextBox 238"/>
            <p:cNvSpPr txBox="1"/>
            <p:nvPr/>
          </p:nvSpPr>
          <p:spPr>
            <a:xfrm>
              <a:off x="2187114" y="5685949"/>
              <a:ext cx="273972"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70%</a:t>
              </a:r>
            </a:p>
          </p:txBody>
        </p:sp>
        <p:sp>
          <p:nvSpPr>
            <p:cNvPr id="239" name="Freeform 239"/>
            <p:cNvSpPr/>
            <p:nvPr/>
          </p:nvSpPr>
          <p:spPr>
            <a:xfrm>
              <a:off x="1771650" y="5702300"/>
              <a:ext cx="342900" cy="260350"/>
            </a:xfrm>
            <a:custGeom>
              <a:avLst/>
              <a:gdLst/>
              <a:ahLst/>
              <a:cxnLst/>
              <a:rect l="l" t="t" r="r" b="b"/>
              <a:pathLst>
                <a:path w="342900" h="260350">
                  <a:moveTo>
                    <a:pt x="0" y="260350"/>
                  </a:moveTo>
                  <a:cubicBezTo>
                    <a:pt x="120650" y="69850"/>
                    <a:pt x="234950" y="0"/>
                    <a:pt x="342900" y="50800"/>
                  </a:cubicBezTo>
                </a:path>
              </a:pathLst>
            </a:custGeom>
            <a:noFill/>
            <a:ln w="17145">
              <a:solidFill>
                <a:srgbClr val="C83210"/>
              </a:solidFill>
            </a:ln>
          </p:spPr>
        </p:sp>
        <p:sp>
          <p:nvSpPr>
            <p:cNvPr id="240" name="Polygon 240"/>
            <p:cNvSpPr/>
            <p:nvPr/>
          </p:nvSpPr>
          <p:spPr>
            <a:xfrm>
              <a:off x="2057400" y="5734050"/>
              <a:ext cx="95250" cy="85725"/>
            </a:xfrm>
            <a:custGeom>
              <a:avLst/>
              <a:gdLst/>
              <a:ahLst/>
              <a:cxnLst/>
              <a:rect l="l" t="t" r="r" b="b"/>
              <a:pathLst>
                <a:path w="95250" h="85725">
                  <a:moveTo>
                    <a:pt x="95250" y="38100"/>
                  </a:moveTo>
                  <a:lnTo>
                    <a:pt x="0" y="0"/>
                  </a:lnTo>
                  <a:lnTo>
                    <a:pt x="38100" y="85725"/>
                  </a:lnTo>
                  <a:close/>
                </a:path>
              </a:pathLst>
            </a:custGeom>
            <a:solidFill>
              <a:srgbClr val="C83210"/>
            </a:solidFill>
            <a:ln>
              <a:noFill/>
            </a:ln>
          </p:spPr>
        </p:sp>
        <p:sp>
          <p:nvSpPr>
            <p:cNvPr id="241" name="TextBox 241"/>
            <p:cNvSpPr txBox="1"/>
            <p:nvPr/>
          </p:nvSpPr>
          <p:spPr>
            <a:xfrm>
              <a:off x="1423657" y="6609636"/>
              <a:ext cx="20068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现状</a:t>
              </a:r>
            </a:p>
          </p:txBody>
        </p:sp>
        <p:sp>
          <p:nvSpPr>
            <p:cNvPr id="242" name="TextBox 242"/>
            <p:cNvSpPr txBox="1"/>
            <p:nvPr/>
          </p:nvSpPr>
          <p:spPr>
            <a:xfrm>
              <a:off x="2054102" y="6609636"/>
              <a:ext cx="53999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 xml:space="preserve">6个月目标　</a:t>
              </a:r>
            </a:p>
          </p:txBody>
        </p:sp>
      </p:grpSp>
      <p:grpSp>
        <p:nvGrpSpPr>
          <p:cNvPr id="257" name="goal-2"/>
          <p:cNvGrpSpPr/>
          <p:nvPr/>
        </p:nvGrpSpPr>
        <p:grpSpPr>
          <a:xfrm>
            <a:off x="3028950" y="5143500"/>
            <a:ext cx="2171700" cy="1638300"/>
            <a:chOff x="3028950" y="5143500"/>
            <a:chExt cx="2171700" cy="1638300"/>
          </a:xfrm>
        </p:grpSpPr>
        <p:sp>
          <p:nvSpPr>
            <p:cNvPr id="244" name="Rectangle 244"/>
            <p:cNvSpPr/>
            <p:nvPr/>
          </p:nvSpPr>
          <p:spPr>
            <a:xfrm>
              <a:off x="3028950" y="5143500"/>
              <a:ext cx="2171700" cy="1638300"/>
            </a:xfrm>
            <a:prstGeom prst="roundRect">
              <a:avLst>
                <a:gd name="adj" fmla="val 4651"/>
              </a:avLst>
            </a:prstGeom>
            <a:solidFill>
              <a:srgbClr val="FDEFF1"/>
            </a:solidFill>
            <a:ln>
              <a:noFill/>
            </a:ln>
          </p:spPr>
        </p:sp>
        <p:grpSp>
          <p:nvGrpSpPr>
            <p:cNvPr id="247" name="Group 247"/>
            <p:cNvGrpSpPr/>
            <p:nvPr/>
          </p:nvGrpSpPr>
          <p:grpSpPr>
            <a:xfrm>
              <a:off x="3167062" y="5281612"/>
              <a:ext cx="144756" cy="144756"/>
              <a:chOff x="3167062" y="5281612"/>
              <a:chExt cx="144756" cy="144756"/>
            </a:xfrm>
          </p:grpSpPr>
          <p:sp>
            <p:nvSpPr>
              <p:cNvPr id="245" name="Freeform 245"/>
              <p:cNvSpPr/>
              <p:nvPr/>
            </p:nvSpPr>
            <p:spPr>
              <a:xfrm>
                <a:off x="3194844" y="5309394"/>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C83210"/>
                </a:solidFill>
              </a:ln>
            </p:spPr>
          </p:sp>
          <p:sp>
            <p:nvSpPr>
              <p:cNvPr id="246" name="Freeform 246"/>
              <p:cNvSpPr/>
              <p:nvPr/>
            </p:nvSpPr>
            <p:spPr>
              <a:xfrm>
                <a:off x="3167062" y="5281612"/>
                <a:ext cx="144756" cy="144756"/>
              </a:xfrm>
              <a:custGeom>
                <a:avLst/>
                <a:gdLst/>
                <a:ahLst/>
                <a:cxnLst/>
                <a:rect l="l" t="t" r="r" b="b"/>
                <a:pathLst>
                  <a:path w="144756" h="144756">
                    <a:moveTo>
                      <a:pt x="0" y="23812"/>
                    </a:moveTo>
                    <a:lnTo>
                      <a:pt x="0" y="64865"/>
                    </a:lnTo>
                    <a:cubicBezTo>
                      <a:pt x="1" y="69075"/>
                      <a:pt x="1674" y="73112"/>
                      <a:pt x="4651" y="76089"/>
                    </a:cubicBezTo>
                    <a:lnTo>
                      <a:pt x="65849" y="137287"/>
                    </a:lnTo>
                    <a:cubicBezTo>
                      <a:pt x="73320" y="144756"/>
                      <a:pt x="85430" y="144756"/>
                      <a:pt x="92900" y="137287"/>
                    </a:cubicBezTo>
                    <a:lnTo>
                      <a:pt x="137287" y="92900"/>
                    </a:lnTo>
                    <a:cubicBezTo>
                      <a:pt x="144756" y="85430"/>
                      <a:pt x="144756" y="73320"/>
                      <a:pt x="137287" y="65849"/>
                    </a:cubicBezTo>
                    <a:lnTo>
                      <a:pt x="76089" y="4651"/>
                    </a:lnTo>
                    <a:cubicBezTo>
                      <a:pt x="73112" y="1674"/>
                      <a:pt x="69075" y="1"/>
                      <a:pt x="64865" y="0"/>
                    </a:cubicBezTo>
                    <a:lnTo>
                      <a:pt x="23812" y="0"/>
                    </a:lnTo>
                    <a:cubicBezTo>
                      <a:pt x="17497" y="0"/>
                      <a:pt x="11440" y="2509"/>
                      <a:pt x="6975" y="6975"/>
                    </a:cubicBezTo>
                    <a:cubicBezTo>
                      <a:pt x="2509" y="11440"/>
                      <a:pt x="0" y="17497"/>
                      <a:pt x="0" y="23812"/>
                    </a:cubicBezTo>
                  </a:path>
                </a:pathLst>
              </a:custGeom>
              <a:noFill/>
              <a:ln w="15875">
                <a:solidFill>
                  <a:srgbClr val="C83210"/>
                </a:solidFill>
              </a:ln>
            </p:spPr>
          </p:sp>
        </p:grpSp>
        <p:sp>
          <p:nvSpPr>
            <p:cNvPr id="248" name="TextBox 248"/>
            <p:cNvSpPr txBox="1"/>
            <p:nvPr/>
          </p:nvSpPr>
          <p:spPr>
            <a:xfrm>
              <a:off x="3386138" y="5308997"/>
              <a:ext cx="642239"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标签完整率</a:t>
              </a:r>
            </a:p>
          </p:txBody>
        </p:sp>
        <p:sp>
          <p:nvSpPr>
            <p:cNvPr id="249" name="Rectangle 249"/>
            <p:cNvSpPr/>
            <p:nvPr/>
          </p:nvSpPr>
          <p:spPr>
            <a:xfrm>
              <a:off x="3562350" y="6105525"/>
              <a:ext cx="457200" cy="428625"/>
            </a:xfrm>
            <a:prstGeom prst="rect">
              <a:avLst/>
            </a:prstGeom>
            <a:solidFill>
              <a:srgbClr val="F3B2A3"/>
            </a:solidFill>
            <a:ln>
              <a:noFill/>
            </a:ln>
          </p:spPr>
        </p:sp>
        <p:sp>
          <p:nvSpPr>
            <p:cNvPr id="250" name="Rectangle 250"/>
            <p:cNvSpPr/>
            <p:nvPr/>
          </p:nvSpPr>
          <p:spPr>
            <a:xfrm>
              <a:off x="4362450" y="5724525"/>
              <a:ext cx="457200" cy="809625"/>
            </a:xfrm>
            <a:prstGeom prst="rect">
              <a:avLst/>
            </a:prstGeom>
            <a:solidFill>
              <a:srgbClr val="C83210"/>
            </a:solidFill>
            <a:ln>
              <a:noFill/>
            </a:ln>
          </p:spPr>
        </p:sp>
        <p:sp>
          <p:nvSpPr>
            <p:cNvPr id="251" name="TextBox 251"/>
            <p:cNvSpPr txBox="1"/>
            <p:nvPr/>
          </p:nvSpPr>
          <p:spPr>
            <a:xfrm>
              <a:off x="3664933" y="5932170"/>
              <a:ext cx="252035" cy="176212"/>
            </a:xfrm>
            <a:prstGeom prst="rect">
              <a:avLst/>
            </a:prstGeom>
            <a:noFill/>
            <a:ln>
              <a:noFill/>
            </a:ln>
          </p:spPr>
          <p:txBody>
            <a:bodyPr wrap="none" lIns="0" tIns="0" rIns="0" bIns="0" anchor="t" anchorCtr="0">
              <a:spAutoFit/>
            </a:bodyPr>
            <a:lstStyle/>
            <a:p>
              <a:pPr algn="ctr"/>
              <a:r>
                <a:rPr lang="zh-CN" sz="900" b="1" dirty="0">
                  <a:solidFill>
                    <a:srgbClr val="E9826B"/>
                  </a:solidFill>
                  <a:latin typeface="Arial"/>
                  <a:ea typeface="Arial"/>
                  <a:cs typeface="Arial"/>
                </a:rPr>
                <a:t>45%</a:t>
              </a:r>
            </a:p>
          </p:txBody>
        </p:sp>
        <p:sp>
          <p:nvSpPr>
            <p:cNvPr id="252" name="TextBox 252"/>
            <p:cNvSpPr txBox="1"/>
            <p:nvPr/>
          </p:nvSpPr>
          <p:spPr>
            <a:xfrm>
              <a:off x="4454064" y="5543074"/>
              <a:ext cx="273972"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85%</a:t>
              </a:r>
            </a:p>
          </p:txBody>
        </p:sp>
        <p:sp>
          <p:nvSpPr>
            <p:cNvPr id="253" name="Freeform 253"/>
            <p:cNvSpPr/>
            <p:nvPr/>
          </p:nvSpPr>
          <p:spPr>
            <a:xfrm>
              <a:off x="4038600" y="5588000"/>
              <a:ext cx="342900" cy="365125"/>
            </a:xfrm>
            <a:custGeom>
              <a:avLst/>
              <a:gdLst/>
              <a:ahLst/>
              <a:cxnLst/>
              <a:rect l="l" t="t" r="r" b="b"/>
              <a:pathLst>
                <a:path w="342900" h="365125">
                  <a:moveTo>
                    <a:pt x="0" y="365125"/>
                  </a:moveTo>
                  <a:cubicBezTo>
                    <a:pt x="120650" y="111125"/>
                    <a:pt x="234950" y="0"/>
                    <a:pt x="342900" y="31750"/>
                  </a:cubicBezTo>
                </a:path>
              </a:pathLst>
            </a:custGeom>
            <a:noFill/>
            <a:ln w="17145">
              <a:solidFill>
                <a:srgbClr val="C83210"/>
              </a:solidFill>
            </a:ln>
          </p:spPr>
        </p:sp>
        <p:sp>
          <p:nvSpPr>
            <p:cNvPr id="254" name="Polygon 254"/>
            <p:cNvSpPr/>
            <p:nvPr/>
          </p:nvSpPr>
          <p:spPr>
            <a:xfrm>
              <a:off x="4324350" y="5591175"/>
              <a:ext cx="95250" cy="95250"/>
            </a:xfrm>
            <a:custGeom>
              <a:avLst/>
              <a:gdLst/>
              <a:ahLst/>
              <a:cxnLst/>
              <a:rect l="l" t="t" r="r" b="b"/>
              <a:pathLst>
                <a:path w="95250" h="95250">
                  <a:moveTo>
                    <a:pt x="95250" y="47625"/>
                  </a:moveTo>
                  <a:lnTo>
                    <a:pt x="0" y="0"/>
                  </a:lnTo>
                  <a:lnTo>
                    <a:pt x="28575" y="95250"/>
                  </a:lnTo>
                  <a:close/>
                </a:path>
              </a:pathLst>
            </a:custGeom>
            <a:solidFill>
              <a:srgbClr val="C83210"/>
            </a:solidFill>
            <a:ln>
              <a:noFill/>
            </a:ln>
          </p:spPr>
        </p:sp>
        <p:sp>
          <p:nvSpPr>
            <p:cNvPr id="255" name="TextBox 255"/>
            <p:cNvSpPr txBox="1"/>
            <p:nvPr/>
          </p:nvSpPr>
          <p:spPr>
            <a:xfrm>
              <a:off x="3690607" y="6609636"/>
              <a:ext cx="20068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现状</a:t>
              </a:r>
            </a:p>
          </p:txBody>
        </p:sp>
        <p:sp>
          <p:nvSpPr>
            <p:cNvPr id="256" name="TextBox 256"/>
            <p:cNvSpPr txBox="1"/>
            <p:nvPr/>
          </p:nvSpPr>
          <p:spPr>
            <a:xfrm>
              <a:off x="4321052" y="6609636"/>
              <a:ext cx="53999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 xml:space="preserve">6个月目标　</a:t>
              </a:r>
            </a:p>
          </p:txBody>
        </p:sp>
      </p:grpSp>
      <p:grpSp>
        <p:nvGrpSpPr>
          <p:cNvPr id="271" name="goal-3"/>
          <p:cNvGrpSpPr/>
          <p:nvPr/>
        </p:nvGrpSpPr>
        <p:grpSpPr>
          <a:xfrm>
            <a:off x="5295900" y="5143500"/>
            <a:ext cx="2171700" cy="1638300"/>
            <a:chOff x="5295900" y="5143500"/>
            <a:chExt cx="2171700" cy="1638300"/>
          </a:xfrm>
        </p:grpSpPr>
        <p:sp>
          <p:nvSpPr>
            <p:cNvPr id="258" name="Rectangle 258"/>
            <p:cNvSpPr/>
            <p:nvPr/>
          </p:nvSpPr>
          <p:spPr>
            <a:xfrm>
              <a:off x="5295900" y="5143500"/>
              <a:ext cx="2171700" cy="1638300"/>
            </a:xfrm>
            <a:prstGeom prst="roundRect">
              <a:avLst>
                <a:gd name="adj" fmla="val 4651"/>
              </a:avLst>
            </a:prstGeom>
            <a:solidFill>
              <a:srgbClr val="FDEFF1"/>
            </a:solidFill>
            <a:ln>
              <a:noFill/>
            </a:ln>
          </p:spPr>
        </p:sp>
        <p:grpSp>
          <p:nvGrpSpPr>
            <p:cNvPr id="261" name="Group 261"/>
            <p:cNvGrpSpPr/>
            <p:nvPr/>
          </p:nvGrpSpPr>
          <p:grpSpPr>
            <a:xfrm>
              <a:off x="5431466" y="5281612"/>
              <a:ext cx="145422" cy="145422"/>
              <a:chOff x="5431466" y="5281612"/>
              <a:chExt cx="145422" cy="145422"/>
            </a:xfrm>
          </p:grpSpPr>
          <p:sp>
            <p:nvSpPr>
              <p:cNvPr id="259" name="Freeform 259"/>
              <p:cNvSpPr/>
              <p:nvPr/>
            </p:nvSpPr>
            <p:spPr>
              <a:xfrm>
                <a:off x="5489575" y="5281612"/>
                <a:ext cx="87312" cy="87312"/>
              </a:xfrm>
              <a:custGeom>
                <a:avLst/>
                <a:gdLst/>
                <a:ahLst/>
                <a:cxnLst/>
                <a:rect l="l" t="t" r="r" b="b"/>
                <a:pathLst>
                  <a:path w="87312" h="87312">
                    <a:moveTo>
                      <a:pt x="0" y="87312"/>
                    </a:moveTo>
                    <a:lnTo>
                      <a:pt x="87312" y="0"/>
                    </a:lnTo>
                  </a:path>
                </a:pathLst>
              </a:custGeom>
              <a:noFill/>
              <a:ln w="15875">
                <a:solidFill>
                  <a:srgbClr val="C83210"/>
                </a:solidFill>
              </a:ln>
            </p:spPr>
          </p:sp>
          <p:sp>
            <p:nvSpPr>
              <p:cNvPr id="260" name="Freeform 260"/>
              <p:cNvSpPr/>
              <p:nvPr/>
            </p:nvSpPr>
            <p:spPr>
              <a:xfrm>
                <a:off x="5431466" y="5281612"/>
                <a:ext cx="145422" cy="145422"/>
              </a:xfrm>
              <a:custGeom>
                <a:avLst/>
                <a:gdLst/>
                <a:ahLst/>
                <a:cxnLst/>
                <a:rect l="l" t="t" r="r" b="b"/>
                <a:pathLst>
                  <a:path w="145422" h="145422">
                    <a:moveTo>
                      <a:pt x="145422" y="0"/>
                    </a:moveTo>
                    <a:lnTo>
                      <a:pt x="93828" y="142875"/>
                    </a:lnTo>
                    <a:cubicBezTo>
                      <a:pt x="93117" y="144427"/>
                      <a:pt x="91566" y="145422"/>
                      <a:pt x="89859" y="145422"/>
                    </a:cubicBezTo>
                    <a:cubicBezTo>
                      <a:pt x="88152" y="145422"/>
                      <a:pt x="86602" y="144427"/>
                      <a:pt x="85891" y="142875"/>
                    </a:cubicBezTo>
                    <a:lnTo>
                      <a:pt x="58109" y="87312"/>
                    </a:lnTo>
                    <a:lnTo>
                      <a:pt x="2547" y="59531"/>
                    </a:lnTo>
                    <a:cubicBezTo>
                      <a:pt x="995" y="58820"/>
                      <a:pt x="0" y="57270"/>
                      <a:pt x="0" y="55562"/>
                    </a:cubicBezTo>
                    <a:cubicBezTo>
                      <a:pt x="0" y="53855"/>
                      <a:pt x="995" y="52305"/>
                      <a:pt x="2547" y="51594"/>
                    </a:cubicBezTo>
                    <a:lnTo>
                      <a:pt x="145422" y="0"/>
                    </a:lnTo>
                  </a:path>
                </a:pathLst>
              </a:custGeom>
              <a:noFill/>
              <a:ln w="15875">
                <a:solidFill>
                  <a:srgbClr val="C83210"/>
                </a:solidFill>
              </a:ln>
            </p:spPr>
          </p:sp>
        </p:grpSp>
        <p:sp>
          <p:nvSpPr>
            <p:cNvPr id="262" name="TextBox 262"/>
            <p:cNvSpPr txBox="1"/>
            <p:nvPr/>
          </p:nvSpPr>
          <p:spPr>
            <a:xfrm>
              <a:off x="5653088" y="5308997"/>
              <a:ext cx="642239"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有效触达率</a:t>
              </a:r>
            </a:p>
          </p:txBody>
        </p:sp>
        <p:sp>
          <p:nvSpPr>
            <p:cNvPr id="263" name="Rectangle 263"/>
            <p:cNvSpPr/>
            <p:nvPr/>
          </p:nvSpPr>
          <p:spPr>
            <a:xfrm>
              <a:off x="5829300" y="6267450"/>
              <a:ext cx="457200" cy="266700"/>
            </a:xfrm>
            <a:prstGeom prst="rect">
              <a:avLst/>
            </a:prstGeom>
            <a:solidFill>
              <a:srgbClr val="F3B2A3"/>
            </a:solidFill>
            <a:ln>
              <a:noFill/>
            </a:ln>
          </p:spPr>
        </p:sp>
        <p:sp>
          <p:nvSpPr>
            <p:cNvPr id="264" name="Rectangle 264"/>
            <p:cNvSpPr/>
            <p:nvPr/>
          </p:nvSpPr>
          <p:spPr>
            <a:xfrm>
              <a:off x="6629400" y="5867400"/>
              <a:ext cx="457200" cy="666750"/>
            </a:xfrm>
            <a:prstGeom prst="rect">
              <a:avLst/>
            </a:prstGeom>
            <a:solidFill>
              <a:srgbClr val="C83210"/>
            </a:solidFill>
            <a:ln>
              <a:noFill/>
            </a:ln>
          </p:spPr>
        </p:sp>
        <p:sp>
          <p:nvSpPr>
            <p:cNvPr id="265" name="TextBox 265"/>
            <p:cNvSpPr txBox="1"/>
            <p:nvPr/>
          </p:nvSpPr>
          <p:spPr>
            <a:xfrm>
              <a:off x="5931883" y="6094095"/>
              <a:ext cx="252035" cy="176212"/>
            </a:xfrm>
            <a:prstGeom prst="rect">
              <a:avLst/>
            </a:prstGeom>
            <a:noFill/>
            <a:ln>
              <a:noFill/>
            </a:ln>
          </p:spPr>
          <p:txBody>
            <a:bodyPr wrap="none" lIns="0" tIns="0" rIns="0" bIns="0" anchor="t" anchorCtr="0">
              <a:spAutoFit/>
            </a:bodyPr>
            <a:lstStyle/>
            <a:p>
              <a:pPr algn="ctr"/>
              <a:r>
                <a:rPr lang="zh-CN" sz="900" b="1" dirty="0">
                  <a:solidFill>
                    <a:srgbClr val="E9826B"/>
                  </a:solidFill>
                  <a:latin typeface="Arial"/>
                  <a:ea typeface="Arial"/>
                  <a:cs typeface="Arial"/>
                </a:rPr>
                <a:t>18%</a:t>
              </a:r>
            </a:p>
          </p:txBody>
        </p:sp>
        <p:sp>
          <p:nvSpPr>
            <p:cNvPr id="266" name="TextBox 266"/>
            <p:cNvSpPr txBox="1"/>
            <p:nvPr/>
          </p:nvSpPr>
          <p:spPr>
            <a:xfrm>
              <a:off x="6721014" y="5685949"/>
              <a:ext cx="273972"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45%</a:t>
              </a:r>
            </a:p>
          </p:txBody>
        </p:sp>
        <p:sp>
          <p:nvSpPr>
            <p:cNvPr id="267" name="Freeform 267"/>
            <p:cNvSpPr/>
            <p:nvPr/>
          </p:nvSpPr>
          <p:spPr>
            <a:xfrm>
              <a:off x="6305550" y="5727700"/>
              <a:ext cx="342900" cy="387350"/>
            </a:xfrm>
            <a:custGeom>
              <a:avLst/>
              <a:gdLst/>
              <a:ahLst/>
              <a:cxnLst/>
              <a:rect l="l" t="t" r="r" b="b"/>
              <a:pathLst>
                <a:path w="342900" h="387350">
                  <a:moveTo>
                    <a:pt x="0" y="387350"/>
                  </a:moveTo>
                  <a:cubicBezTo>
                    <a:pt x="120650" y="120650"/>
                    <a:pt x="234950" y="0"/>
                    <a:pt x="342900" y="25400"/>
                  </a:cubicBezTo>
                </a:path>
              </a:pathLst>
            </a:custGeom>
            <a:noFill/>
            <a:ln w="17145">
              <a:solidFill>
                <a:srgbClr val="C83210"/>
              </a:solidFill>
            </a:ln>
          </p:spPr>
        </p:sp>
        <p:sp>
          <p:nvSpPr>
            <p:cNvPr id="268" name="Polygon 268"/>
            <p:cNvSpPr/>
            <p:nvPr/>
          </p:nvSpPr>
          <p:spPr>
            <a:xfrm>
              <a:off x="6591300" y="5724525"/>
              <a:ext cx="95250" cy="95250"/>
            </a:xfrm>
            <a:custGeom>
              <a:avLst/>
              <a:gdLst/>
              <a:ahLst/>
              <a:cxnLst/>
              <a:rect l="l" t="t" r="r" b="b"/>
              <a:pathLst>
                <a:path w="95250" h="95250">
                  <a:moveTo>
                    <a:pt x="95250" y="47625"/>
                  </a:moveTo>
                  <a:lnTo>
                    <a:pt x="0" y="0"/>
                  </a:lnTo>
                  <a:lnTo>
                    <a:pt x="28575" y="95250"/>
                  </a:lnTo>
                  <a:close/>
                </a:path>
              </a:pathLst>
            </a:custGeom>
            <a:solidFill>
              <a:srgbClr val="C83210"/>
            </a:solidFill>
            <a:ln>
              <a:noFill/>
            </a:ln>
          </p:spPr>
        </p:sp>
        <p:sp>
          <p:nvSpPr>
            <p:cNvPr id="269" name="TextBox 269"/>
            <p:cNvSpPr txBox="1"/>
            <p:nvPr/>
          </p:nvSpPr>
          <p:spPr>
            <a:xfrm>
              <a:off x="5957557" y="6609636"/>
              <a:ext cx="20068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现状</a:t>
              </a:r>
            </a:p>
          </p:txBody>
        </p:sp>
        <p:sp>
          <p:nvSpPr>
            <p:cNvPr id="270" name="TextBox 270"/>
            <p:cNvSpPr txBox="1"/>
            <p:nvPr/>
          </p:nvSpPr>
          <p:spPr>
            <a:xfrm>
              <a:off x="6588002" y="6609636"/>
              <a:ext cx="53999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 xml:space="preserve">6个月目标　</a:t>
              </a:r>
            </a:p>
          </p:txBody>
        </p:sp>
      </p:grpSp>
      <p:grpSp>
        <p:nvGrpSpPr>
          <p:cNvPr id="287" name="goal-4"/>
          <p:cNvGrpSpPr/>
          <p:nvPr/>
        </p:nvGrpSpPr>
        <p:grpSpPr>
          <a:xfrm>
            <a:off x="7562850" y="5143500"/>
            <a:ext cx="2171700" cy="1638300"/>
            <a:chOff x="7562850" y="5143500"/>
            <a:chExt cx="2171700" cy="1638300"/>
          </a:xfrm>
        </p:grpSpPr>
        <p:sp>
          <p:nvSpPr>
            <p:cNvPr id="272" name="Rectangle 272"/>
            <p:cNvSpPr/>
            <p:nvPr/>
          </p:nvSpPr>
          <p:spPr>
            <a:xfrm>
              <a:off x="7562850" y="5143500"/>
              <a:ext cx="2171700" cy="1638300"/>
            </a:xfrm>
            <a:prstGeom prst="roundRect">
              <a:avLst>
                <a:gd name="adj" fmla="val 4651"/>
              </a:avLst>
            </a:prstGeom>
            <a:solidFill>
              <a:srgbClr val="FDEFF1"/>
            </a:solidFill>
            <a:ln>
              <a:noFill/>
            </a:ln>
          </p:spPr>
        </p:sp>
        <p:grpSp>
          <p:nvGrpSpPr>
            <p:cNvPr id="277" name="Group 277"/>
            <p:cNvGrpSpPr/>
            <p:nvPr/>
          </p:nvGrpSpPr>
          <p:grpSpPr>
            <a:xfrm>
              <a:off x="7724775" y="5281612"/>
              <a:ext cx="126999" cy="150812"/>
              <a:chOff x="7724775" y="5281612"/>
              <a:chExt cx="126999" cy="150812"/>
            </a:xfrm>
          </p:grpSpPr>
          <p:sp>
            <p:nvSpPr>
              <p:cNvPr id="273" name="Freeform 273"/>
              <p:cNvSpPr/>
              <p:nvPr/>
            </p:nvSpPr>
            <p:spPr>
              <a:xfrm>
                <a:off x="7740650" y="52816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C83210"/>
                </a:solidFill>
              </a:ln>
            </p:spPr>
          </p:sp>
          <p:sp>
            <p:nvSpPr>
              <p:cNvPr id="274" name="Freeform 274"/>
              <p:cNvSpPr/>
              <p:nvPr/>
            </p:nvSpPr>
            <p:spPr>
              <a:xfrm>
                <a:off x="7724775" y="5376862"/>
                <a:ext cx="59531" cy="47625"/>
              </a:xfrm>
              <a:custGeom>
                <a:avLst/>
                <a:gdLst/>
                <a:ahLst/>
                <a:cxnLst/>
                <a:rect l="l" t="t" r="r" b="b"/>
                <a:pathLst>
                  <a:path w="59531" h="47625">
                    <a:moveTo>
                      <a:pt x="0" y="47625"/>
                    </a:moveTo>
                    <a:lnTo>
                      <a:pt x="0" y="31750"/>
                    </a:lnTo>
                    <a:cubicBezTo>
                      <a:pt x="0" y="14215"/>
                      <a:pt x="14215" y="0"/>
                      <a:pt x="31750" y="0"/>
                    </a:cubicBezTo>
                    <a:lnTo>
                      <a:pt x="59531" y="0"/>
                    </a:lnTo>
                  </a:path>
                </a:pathLst>
              </a:custGeom>
              <a:noFill/>
              <a:ln w="15875">
                <a:solidFill>
                  <a:srgbClr val="C83210"/>
                </a:solidFill>
              </a:ln>
            </p:spPr>
          </p:sp>
          <p:sp>
            <p:nvSpPr>
              <p:cNvPr id="275" name="Freeform 275"/>
              <p:cNvSpPr/>
              <p:nvPr/>
            </p:nvSpPr>
            <p:spPr>
              <a:xfrm>
                <a:off x="7812087" y="5392737"/>
                <a:ext cx="39687" cy="39687"/>
              </a:xfrm>
              <a:custGeom>
                <a:avLst/>
                <a:gdLst/>
                <a:ahLst/>
                <a:cxnLst/>
                <a:rect l="l" t="t" r="r" b="b"/>
                <a:pathLst>
                  <a:path w="39687" h="39687">
                    <a:moveTo>
                      <a:pt x="39687" y="39687"/>
                    </a:moveTo>
                    <a:lnTo>
                      <a:pt x="0" y="0"/>
                    </a:lnTo>
                  </a:path>
                </a:pathLst>
              </a:custGeom>
              <a:noFill/>
              <a:ln w="15875">
                <a:solidFill>
                  <a:srgbClr val="C83210"/>
                </a:solidFill>
              </a:ln>
            </p:spPr>
          </p:sp>
          <p:sp>
            <p:nvSpPr>
              <p:cNvPr id="276" name="Freeform 276"/>
              <p:cNvSpPr/>
              <p:nvPr/>
            </p:nvSpPr>
            <p:spPr>
              <a:xfrm>
                <a:off x="7812087" y="5392737"/>
                <a:ext cx="39687" cy="39687"/>
              </a:xfrm>
              <a:custGeom>
                <a:avLst/>
                <a:gdLst/>
                <a:ahLst/>
                <a:cxnLst/>
                <a:rect l="l" t="t" r="r" b="b"/>
                <a:pathLst>
                  <a:path w="39687" h="39687">
                    <a:moveTo>
                      <a:pt x="0" y="39687"/>
                    </a:moveTo>
                    <a:lnTo>
                      <a:pt x="39687" y="0"/>
                    </a:lnTo>
                  </a:path>
                </a:pathLst>
              </a:custGeom>
              <a:noFill/>
              <a:ln w="15875">
                <a:solidFill>
                  <a:srgbClr val="C83210"/>
                </a:solidFill>
              </a:ln>
            </p:spPr>
          </p:sp>
        </p:grpSp>
        <p:sp>
          <p:nvSpPr>
            <p:cNvPr id="278" name="TextBox 278"/>
            <p:cNvSpPr txBox="1"/>
            <p:nvPr/>
          </p:nvSpPr>
          <p:spPr>
            <a:xfrm>
              <a:off x="7920038" y="5308997"/>
              <a:ext cx="515696"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月流失率</a:t>
              </a:r>
            </a:p>
          </p:txBody>
        </p:sp>
        <p:sp>
          <p:nvSpPr>
            <p:cNvPr id="279" name="Rectangle 279"/>
            <p:cNvSpPr/>
            <p:nvPr/>
          </p:nvSpPr>
          <p:spPr>
            <a:xfrm>
              <a:off x="8096250" y="6096000"/>
              <a:ext cx="457200" cy="438150"/>
            </a:xfrm>
            <a:prstGeom prst="rect">
              <a:avLst/>
            </a:prstGeom>
            <a:solidFill>
              <a:srgbClr val="F3B2A3"/>
            </a:solidFill>
            <a:ln>
              <a:noFill/>
            </a:ln>
          </p:spPr>
        </p:sp>
        <p:sp>
          <p:nvSpPr>
            <p:cNvPr id="280" name="Rectangle 280"/>
            <p:cNvSpPr/>
            <p:nvPr/>
          </p:nvSpPr>
          <p:spPr>
            <a:xfrm>
              <a:off x="8896350" y="6324600"/>
              <a:ext cx="457200" cy="209550"/>
            </a:xfrm>
            <a:prstGeom prst="rect">
              <a:avLst/>
            </a:prstGeom>
            <a:solidFill>
              <a:srgbClr val="C83210"/>
            </a:solidFill>
            <a:ln>
              <a:noFill/>
            </a:ln>
          </p:spPr>
        </p:sp>
        <p:sp>
          <p:nvSpPr>
            <p:cNvPr id="281" name="TextBox 281"/>
            <p:cNvSpPr txBox="1"/>
            <p:nvPr/>
          </p:nvSpPr>
          <p:spPr>
            <a:xfrm>
              <a:off x="8182004" y="5922645"/>
              <a:ext cx="285693" cy="176212"/>
            </a:xfrm>
            <a:prstGeom prst="rect">
              <a:avLst/>
            </a:prstGeom>
            <a:noFill/>
            <a:ln>
              <a:noFill/>
            </a:ln>
          </p:spPr>
          <p:txBody>
            <a:bodyPr wrap="none" lIns="0" tIns="0" rIns="0" bIns="0" anchor="t" anchorCtr="0">
              <a:spAutoFit/>
            </a:bodyPr>
            <a:lstStyle/>
            <a:p>
              <a:pPr algn="ctr"/>
              <a:r>
                <a:rPr lang="zh-CN" sz="900" b="1" dirty="0">
                  <a:solidFill>
                    <a:srgbClr val="E9826B"/>
                  </a:solidFill>
                  <a:latin typeface="Arial"/>
                  <a:ea typeface="Arial"/>
                  <a:cs typeface="Arial"/>
                </a:rPr>
                <a:t>3.6%</a:t>
              </a:r>
            </a:p>
          </p:txBody>
        </p:sp>
        <p:sp>
          <p:nvSpPr>
            <p:cNvPr id="282" name="TextBox 282"/>
            <p:cNvSpPr txBox="1"/>
            <p:nvPr/>
          </p:nvSpPr>
          <p:spPr>
            <a:xfrm>
              <a:off x="8969639" y="6143149"/>
              <a:ext cx="310622"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1.5%</a:t>
              </a:r>
            </a:p>
          </p:txBody>
        </p:sp>
        <p:sp>
          <p:nvSpPr>
            <p:cNvPr id="283" name="Freeform 283"/>
            <p:cNvSpPr/>
            <p:nvPr/>
          </p:nvSpPr>
          <p:spPr>
            <a:xfrm>
              <a:off x="8572500" y="5943600"/>
              <a:ext cx="323850" cy="209550"/>
            </a:xfrm>
            <a:custGeom>
              <a:avLst/>
              <a:gdLst/>
              <a:ahLst/>
              <a:cxnLst/>
              <a:rect l="l" t="t" r="r" b="b"/>
              <a:pathLst>
                <a:path w="323850" h="209550">
                  <a:moveTo>
                    <a:pt x="0" y="0"/>
                  </a:moveTo>
                  <a:cubicBezTo>
                    <a:pt x="127000" y="38100"/>
                    <a:pt x="234950" y="107950"/>
                    <a:pt x="323850" y="209550"/>
                  </a:cubicBezTo>
                </a:path>
              </a:pathLst>
            </a:custGeom>
            <a:noFill/>
            <a:ln w="17145">
              <a:solidFill>
                <a:srgbClr val="C83210"/>
              </a:solidFill>
            </a:ln>
          </p:spPr>
        </p:sp>
        <p:sp>
          <p:nvSpPr>
            <p:cNvPr id="284" name="Polygon 284"/>
            <p:cNvSpPr/>
            <p:nvPr/>
          </p:nvSpPr>
          <p:spPr>
            <a:xfrm>
              <a:off x="8829675" y="6096000"/>
              <a:ext cx="95250" cy="95250"/>
            </a:xfrm>
            <a:custGeom>
              <a:avLst/>
              <a:gdLst/>
              <a:ahLst/>
              <a:cxnLst/>
              <a:rect l="l" t="t" r="r" b="b"/>
              <a:pathLst>
                <a:path w="95250" h="95250">
                  <a:moveTo>
                    <a:pt x="95250" y="95250"/>
                  </a:moveTo>
                  <a:lnTo>
                    <a:pt x="0" y="57150"/>
                  </a:lnTo>
                  <a:lnTo>
                    <a:pt x="85725" y="0"/>
                  </a:lnTo>
                  <a:close/>
                </a:path>
              </a:pathLst>
            </a:custGeom>
            <a:solidFill>
              <a:srgbClr val="C83210"/>
            </a:solidFill>
            <a:ln>
              <a:noFill/>
            </a:ln>
          </p:spPr>
        </p:sp>
        <p:sp>
          <p:nvSpPr>
            <p:cNvPr id="285" name="TextBox 285"/>
            <p:cNvSpPr txBox="1"/>
            <p:nvPr/>
          </p:nvSpPr>
          <p:spPr>
            <a:xfrm>
              <a:off x="8224507" y="6609636"/>
              <a:ext cx="20068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现状</a:t>
              </a:r>
            </a:p>
          </p:txBody>
        </p:sp>
        <p:sp>
          <p:nvSpPr>
            <p:cNvPr id="286" name="TextBox 286"/>
            <p:cNvSpPr txBox="1"/>
            <p:nvPr/>
          </p:nvSpPr>
          <p:spPr>
            <a:xfrm>
              <a:off x="8854952" y="6609636"/>
              <a:ext cx="53999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 xml:space="preserve">6个月目标　</a:t>
              </a:r>
            </a:p>
          </p:txBody>
        </p:sp>
      </p:grpSp>
      <p:grpSp>
        <p:nvGrpSpPr>
          <p:cNvPr id="303" name="goal-5"/>
          <p:cNvGrpSpPr/>
          <p:nvPr/>
        </p:nvGrpSpPr>
        <p:grpSpPr>
          <a:xfrm>
            <a:off x="9829800" y="5143500"/>
            <a:ext cx="2171700" cy="1638300"/>
            <a:chOff x="9829800" y="5143500"/>
            <a:chExt cx="2171700" cy="1638300"/>
          </a:xfrm>
        </p:grpSpPr>
        <p:sp>
          <p:nvSpPr>
            <p:cNvPr id="288" name="Rectangle 288"/>
            <p:cNvSpPr/>
            <p:nvPr/>
          </p:nvSpPr>
          <p:spPr>
            <a:xfrm>
              <a:off x="9829800" y="5143500"/>
              <a:ext cx="2171700" cy="1638300"/>
            </a:xfrm>
            <a:prstGeom prst="roundRect">
              <a:avLst>
                <a:gd name="adj" fmla="val 4651"/>
              </a:avLst>
            </a:prstGeom>
            <a:solidFill>
              <a:srgbClr val="FDEFF1"/>
            </a:solidFill>
            <a:ln>
              <a:noFill/>
            </a:ln>
          </p:spPr>
        </p:sp>
        <p:grpSp>
          <p:nvGrpSpPr>
            <p:cNvPr id="293" name="Group 293"/>
            <p:cNvGrpSpPr/>
            <p:nvPr/>
          </p:nvGrpSpPr>
          <p:grpSpPr>
            <a:xfrm>
              <a:off x="9967912" y="5289550"/>
              <a:ext cx="142875" cy="136525"/>
              <a:chOff x="9967912" y="5289550"/>
              <a:chExt cx="142875" cy="136525"/>
            </a:xfrm>
          </p:grpSpPr>
          <p:sp>
            <p:nvSpPr>
              <p:cNvPr id="289" name="Freeform 289"/>
              <p:cNvSpPr/>
              <p:nvPr/>
            </p:nvSpPr>
            <p:spPr>
              <a:xfrm>
                <a:off x="9967912" y="53530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C83210"/>
                </a:solidFill>
              </a:ln>
            </p:spPr>
          </p:sp>
          <p:sp>
            <p:nvSpPr>
              <p:cNvPr id="290" name="Freeform 290"/>
              <p:cNvSpPr/>
              <p:nvPr/>
            </p:nvSpPr>
            <p:spPr>
              <a:xfrm>
                <a:off x="10063162" y="53213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C83210"/>
                </a:solidFill>
              </a:ln>
            </p:spPr>
          </p:sp>
          <p:sp>
            <p:nvSpPr>
              <p:cNvPr id="291" name="Freeform 291"/>
              <p:cNvSpPr/>
              <p:nvPr/>
            </p:nvSpPr>
            <p:spPr>
              <a:xfrm>
                <a:off x="10015537" y="52895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C83210"/>
                </a:solidFill>
              </a:ln>
            </p:spPr>
          </p:sp>
          <p:sp>
            <p:nvSpPr>
              <p:cNvPr id="292" name="Freeform 292"/>
              <p:cNvSpPr/>
              <p:nvPr/>
            </p:nvSpPr>
            <p:spPr>
              <a:xfrm>
                <a:off x="9975850" y="5416550"/>
                <a:ext cx="111125" cy="9525"/>
              </a:xfrm>
              <a:custGeom>
                <a:avLst/>
                <a:gdLst/>
                <a:ahLst/>
                <a:cxnLst/>
                <a:rect l="l" t="t" r="r" b="b"/>
                <a:pathLst>
                  <a:path w="111125" h="9525">
                    <a:moveTo>
                      <a:pt x="0" y="0"/>
                    </a:moveTo>
                    <a:lnTo>
                      <a:pt x="111125" y="0"/>
                    </a:lnTo>
                  </a:path>
                </a:pathLst>
              </a:custGeom>
              <a:noFill/>
              <a:ln w="15875">
                <a:solidFill>
                  <a:srgbClr val="C83210"/>
                </a:solidFill>
              </a:ln>
            </p:spPr>
          </p:sp>
        </p:grpSp>
        <p:sp>
          <p:nvSpPr>
            <p:cNvPr id="294" name="TextBox 294"/>
            <p:cNvSpPr txBox="1"/>
            <p:nvPr/>
          </p:nvSpPr>
          <p:spPr>
            <a:xfrm>
              <a:off x="10186988" y="5308997"/>
              <a:ext cx="642239" cy="183356"/>
            </a:xfrm>
            <a:prstGeom prst="rect">
              <a:avLst/>
            </a:prstGeom>
            <a:noFill/>
            <a:ln>
              <a:noFill/>
            </a:ln>
          </p:spPr>
          <p:txBody>
            <a:bodyPr wrap="none" lIns="0" tIns="0" rIns="0" bIns="0" anchor="t" anchorCtr="0">
              <a:spAutoFit/>
            </a:bodyPr>
            <a:lstStyle/>
            <a:p>
              <a:pPr algn="l"/>
              <a:r>
                <a:rPr lang="zh-CN" sz="940" b="1" dirty="0">
                  <a:solidFill>
                    <a:srgbClr val="222222"/>
                  </a:solidFill>
                  <a:latin typeface="+mn-lt"/>
                  <a:ea typeface="+mn-ea"/>
                  <a:cs typeface="+mn-cs"/>
                </a:rPr>
                <a:t>长尾活跃率</a:t>
              </a:r>
            </a:p>
          </p:txBody>
        </p:sp>
        <p:sp>
          <p:nvSpPr>
            <p:cNvPr id="295" name="Rectangle 295"/>
            <p:cNvSpPr/>
            <p:nvPr/>
          </p:nvSpPr>
          <p:spPr>
            <a:xfrm>
              <a:off x="10363200" y="6267450"/>
              <a:ext cx="457200" cy="266700"/>
            </a:xfrm>
            <a:prstGeom prst="rect">
              <a:avLst/>
            </a:prstGeom>
            <a:solidFill>
              <a:srgbClr val="F3B2A3"/>
            </a:solidFill>
            <a:ln>
              <a:noFill/>
            </a:ln>
          </p:spPr>
        </p:sp>
        <p:sp>
          <p:nvSpPr>
            <p:cNvPr id="296" name="Rectangle 296"/>
            <p:cNvSpPr/>
            <p:nvPr/>
          </p:nvSpPr>
          <p:spPr>
            <a:xfrm>
              <a:off x="11163300" y="5867400"/>
              <a:ext cx="457200" cy="666750"/>
            </a:xfrm>
            <a:prstGeom prst="rect">
              <a:avLst/>
            </a:prstGeom>
            <a:solidFill>
              <a:srgbClr val="C83210"/>
            </a:solidFill>
            <a:ln>
              <a:noFill/>
            </a:ln>
          </p:spPr>
        </p:sp>
        <p:sp>
          <p:nvSpPr>
            <p:cNvPr id="297" name="TextBox 297"/>
            <p:cNvSpPr txBox="1"/>
            <p:nvPr/>
          </p:nvSpPr>
          <p:spPr>
            <a:xfrm>
              <a:off x="10465783" y="6094095"/>
              <a:ext cx="252035" cy="176212"/>
            </a:xfrm>
            <a:prstGeom prst="rect">
              <a:avLst/>
            </a:prstGeom>
            <a:noFill/>
            <a:ln>
              <a:noFill/>
            </a:ln>
          </p:spPr>
          <p:txBody>
            <a:bodyPr wrap="none" lIns="0" tIns="0" rIns="0" bIns="0" anchor="t" anchorCtr="0">
              <a:spAutoFit/>
            </a:bodyPr>
            <a:lstStyle/>
            <a:p>
              <a:pPr algn="ctr"/>
              <a:r>
                <a:rPr lang="zh-CN" sz="900" b="1" dirty="0">
                  <a:solidFill>
                    <a:srgbClr val="E9826B"/>
                  </a:solidFill>
                  <a:latin typeface="Arial"/>
                  <a:ea typeface="Arial"/>
                  <a:cs typeface="Arial"/>
                </a:rPr>
                <a:t>12%</a:t>
              </a:r>
            </a:p>
          </p:txBody>
        </p:sp>
        <p:sp>
          <p:nvSpPr>
            <p:cNvPr id="298" name="TextBox 298"/>
            <p:cNvSpPr txBox="1"/>
            <p:nvPr/>
          </p:nvSpPr>
          <p:spPr>
            <a:xfrm>
              <a:off x="11254914" y="5685949"/>
              <a:ext cx="273972"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30%</a:t>
              </a:r>
            </a:p>
          </p:txBody>
        </p:sp>
        <p:sp>
          <p:nvSpPr>
            <p:cNvPr id="299" name="Freeform 299"/>
            <p:cNvSpPr/>
            <p:nvPr/>
          </p:nvSpPr>
          <p:spPr>
            <a:xfrm>
              <a:off x="10839450" y="5727700"/>
              <a:ext cx="342900" cy="387350"/>
            </a:xfrm>
            <a:custGeom>
              <a:avLst/>
              <a:gdLst/>
              <a:ahLst/>
              <a:cxnLst/>
              <a:rect l="l" t="t" r="r" b="b"/>
              <a:pathLst>
                <a:path w="342900" h="387350">
                  <a:moveTo>
                    <a:pt x="0" y="387350"/>
                  </a:moveTo>
                  <a:cubicBezTo>
                    <a:pt x="120650" y="120650"/>
                    <a:pt x="234950" y="0"/>
                    <a:pt x="342900" y="25400"/>
                  </a:cubicBezTo>
                </a:path>
              </a:pathLst>
            </a:custGeom>
            <a:noFill/>
            <a:ln w="17145">
              <a:solidFill>
                <a:srgbClr val="C83210"/>
              </a:solidFill>
            </a:ln>
          </p:spPr>
        </p:sp>
        <p:sp>
          <p:nvSpPr>
            <p:cNvPr id="300" name="Polygon 300"/>
            <p:cNvSpPr/>
            <p:nvPr/>
          </p:nvSpPr>
          <p:spPr>
            <a:xfrm>
              <a:off x="11125200" y="5724525"/>
              <a:ext cx="95250" cy="95250"/>
            </a:xfrm>
            <a:custGeom>
              <a:avLst/>
              <a:gdLst/>
              <a:ahLst/>
              <a:cxnLst/>
              <a:rect l="l" t="t" r="r" b="b"/>
              <a:pathLst>
                <a:path w="95250" h="95250">
                  <a:moveTo>
                    <a:pt x="95250" y="47625"/>
                  </a:moveTo>
                  <a:lnTo>
                    <a:pt x="0" y="0"/>
                  </a:lnTo>
                  <a:lnTo>
                    <a:pt x="28575" y="95250"/>
                  </a:lnTo>
                  <a:close/>
                </a:path>
              </a:pathLst>
            </a:custGeom>
            <a:solidFill>
              <a:srgbClr val="C83210"/>
            </a:solidFill>
            <a:ln>
              <a:noFill/>
            </a:ln>
          </p:spPr>
        </p:sp>
        <p:sp>
          <p:nvSpPr>
            <p:cNvPr id="301" name="TextBox 301"/>
            <p:cNvSpPr txBox="1"/>
            <p:nvPr/>
          </p:nvSpPr>
          <p:spPr>
            <a:xfrm>
              <a:off x="10491457" y="6609636"/>
              <a:ext cx="20068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现状</a:t>
              </a:r>
            </a:p>
          </p:txBody>
        </p:sp>
        <p:sp>
          <p:nvSpPr>
            <p:cNvPr id="302" name="TextBox 302"/>
            <p:cNvSpPr txBox="1"/>
            <p:nvPr/>
          </p:nvSpPr>
          <p:spPr>
            <a:xfrm>
              <a:off x="11121902" y="6609636"/>
              <a:ext cx="539995" cy="140494"/>
            </a:xfrm>
            <a:prstGeom prst="rect">
              <a:avLst/>
            </a:prstGeom>
            <a:noFill/>
            <a:ln>
              <a:noFill/>
            </a:ln>
          </p:spPr>
          <p:txBody>
            <a:bodyPr wrap="none" lIns="0" tIns="0" rIns="0" bIns="0" anchor="t" anchorCtr="0">
              <a:spAutoFit/>
            </a:bodyPr>
            <a:lstStyle/>
            <a:p>
              <a:pPr algn="ctr"/>
              <a:r>
                <a:rPr lang="zh-CN" sz="710" dirty="0">
                  <a:solidFill>
                    <a:srgbClr val="808080"/>
                  </a:solidFill>
                  <a:latin typeface="+mn-lt"/>
                  <a:ea typeface="+mn-ea"/>
                  <a:cs typeface="+mn-cs"/>
                </a:rPr>
                <a:t xml:space="preserve">6个月目标　</a:t>
              </a:r>
            </a:p>
          </p:txBody>
        </p:sp>
      </p:gr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04</a:t>
              </a:r>
            </a:p>
          </p:txBody>
        </p:sp>
        <p:sp>
          <p:nvSpPr>
            <p:cNvPr id="4" name="TextBox 4"/>
            <p:cNvSpPr txBox="1"/>
            <p:nvPr/>
          </p:nvSpPr>
          <p:spPr>
            <a:xfrm>
              <a:off x="942594" y="151448"/>
              <a:ext cx="7551740"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认证提升</a:t>
              </a:r>
              <a:r>
                <a:rPr lang="zh-CN" sz="1950" b="1" dirty="0">
                  <a:solidFill>
                    <a:srgbClr val="222222"/>
                  </a:solidFill>
                  <a:latin typeface="SimSun"/>
                  <a:ea typeface="SimSun"/>
                  <a:cs typeface="SimSun"/>
                </a:rPr>
                <a:t xml:space="preserve">｜添加好友后的24小时决定客户能否进入经营体系　</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52" name="zone-funnel"/>
          <p:cNvGrpSpPr/>
          <p:nvPr/>
        </p:nvGrpSpPr>
        <p:grpSpPr>
          <a:xfrm>
            <a:off x="171450" y="647700"/>
            <a:ext cx="4972050" cy="2171700"/>
            <a:chOff x="171450" y="647700"/>
            <a:chExt cx="4972050" cy="2171700"/>
          </a:xfrm>
        </p:grpSpPr>
        <p:sp>
          <p:nvSpPr>
            <p:cNvPr id="7" name="Rectangle 7"/>
            <p:cNvSpPr/>
            <p:nvPr/>
          </p:nvSpPr>
          <p:spPr>
            <a:xfrm>
              <a:off x="171450" y="647700"/>
              <a:ext cx="4972050" cy="2171700"/>
            </a:xfrm>
            <a:prstGeom prst="roundRect">
              <a:avLst>
                <a:gd name="adj" fmla="val 2632"/>
              </a:avLst>
            </a:prstGeom>
            <a:solidFill>
              <a:srgbClr val="FDF5F6"/>
            </a:solidFill>
            <a:ln>
              <a:noFill/>
            </a:ln>
          </p:spPr>
        </p:sp>
        <p:sp>
          <p:nvSpPr>
            <p:cNvPr id="8" name="Rectangle 8"/>
            <p:cNvSpPr/>
            <p:nvPr/>
          </p:nvSpPr>
          <p:spPr>
            <a:xfrm>
              <a:off x="171450" y="647700"/>
              <a:ext cx="4972050" cy="228600"/>
            </a:xfrm>
            <a:prstGeom prst="roundRect">
              <a:avLst>
                <a:gd name="adj" fmla="val 25000"/>
              </a:avLst>
            </a:prstGeom>
            <a:solidFill>
              <a:srgbClr val="C83210"/>
            </a:solidFill>
            <a:ln>
              <a:noFill/>
            </a:ln>
          </p:spPr>
        </p:sp>
        <p:sp>
          <p:nvSpPr>
            <p:cNvPr id="9" name="TextBox 9"/>
            <p:cNvSpPr txBox="1"/>
            <p:nvPr/>
          </p:nvSpPr>
          <p:spPr>
            <a:xfrm>
              <a:off x="261938" y="712470"/>
              <a:ext cx="170573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一、客户添加后的四步认证漏斗</a:t>
              </a:r>
            </a:p>
          </p:txBody>
        </p:sp>
        <p:sp>
          <p:nvSpPr>
            <p:cNvPr id="10" name="Rectangle 10"/>
            <p:cNvSpPr/>
            <p:nvPr/>
          </p:nvSpPr>
          <p:spPr>
            <a:xfrm>
              <a:off x="304800" y="990600"/>
              <a:ext cx="990600" cy="209550"/>
            </a:xfrm>
            <a:prstGeom prst="roundRect">
              <a:avLst>
                <a:gd name="adj" fmla="val 18182"/>
              </a:avLst>
            </a:prstGeom>
            <a:solidFill>
              <a:srgbClr val="C83210"/>
            </a:solidFill>
            <a:ln>
              <a:noFill/>
            </a:ln>
          </p:spPr>
        </p:sp>
        <p:sp>
          <p:nvSpPr>
            <p:cNvPr id="11" name="TextBox 11"/>
            <p:cNvSpPr txBox="1"/>
            <p:nvPr/>
          </p:nvSpPr>
          <p:spPr>
            <a:xfrm>
              <a:off x="441920" y="1045845"/>
              <a:ext cx="71636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 xml:space="preserve">1 添加成功　</a:t>
              </a:r>
            </a:p>
          </p:txBody>
        </p:sp>
        <p:sp>
          <p:nvSpPr>
            <p:cNvPr id="12" name="TextBox 12"/>
            <p:cNvSpPr txBox="1"/>
            <p:nvPr/>
          </p:nvSpPr>
          <p:spPr>
            <a:xfrm>
              <a:off x="413017" y="1275636"/>
              <a:ext cx="774167"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建立企微好友关系</a:t>
              </a:r>
            </a:p>
          </p:txBody>
        </p:sp>
        <p:grpSp>
          <p:nvGrpSpPr>
            <p:cNvPr id="17" name="Group 17"/>
            <p:cNvGrpSpPr/>
            <p:nvPr/>
          </p:nvGrpSpPr>
          <p:grpSpPr>
            <a:xfrm>
              <a:off x="714375" y="1528762"/>
              <a:ext cx="228600" cy="271463"/>
              <a:chOff x="714375" y="1528762"/>
              <a:chExt cx="228600" cy="271463"/>
            </a:xfrm>
          </p:grpSpPr>
          <p:sp>
            <p:nvSpPr>
              <p:cNvPr id="13" name="Freeform 13"/>
              <p:cNvSpPr/>
              <p:nvPr/>
            </p:nvSpPr>
            <p:spPr>
              <a:xfrm>
                <a:off x="742950" y="15287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C83210"/>
                </a:solidFill>
              </a:ln>
            </p:spPr>
          </p:sp>
          <p:sp>
            <p:nvSpPr>
              <p:cNvPr id="14" name="Freeform 14"/>
              <p:cNvSpPr/>
              <p:nvPr/>
            </p:nvSpPr>
            <p:spPr>
              <a:xfrm>
                <a:off x="857250" y="1757362"/>
                <a:ext cx="85725" cy="9525"/>
              </a:xfrm>
              <a:custGeom>
                <a:avLst/>
                <a:gdLst/>
                <a:ahLst/>
                <a:cxnLst/>
                <a:rect l="l" t="t" r="r" b="b"/>
                <a:pathLst>
                  <a:path w="85725" h="9525">
                    <a:moveTo>
                      <a:pt x="0" y="0"/>
                    </a:moveTo>
                    <a:lnTo>
                      <a:pt x="85725" y="0"/>
                    </a:lnTo>
                  </a:path>
                </a:pathLst>
              </a:custGeom>
              <a:noFill/>
              <a:ln w="28575">
                <a:solidFill>
                  <a:srgbClr val="C83210"/>
                </a:solidFill>
              </a:ln>
            </p:spPr>
          </p:sp>
          <p:sp>
            <p:nvSpPr>
              <p:cNvPr id="15" name="Freeform 15"/>
              <p:cNvSpPr/>
              <p:nvPr/>
            </p:nvSpPr>
            <p:spPr>
              <a:xfrm>
                <a:off x="900112" y="1714500"/>
                <a:ext cx="9525" cy="85725"/>
              </a:xfrm>
              <a:custGeom>
                <a:avLst/>
                <a:gdLst/>
                <a:ahLst/>
                <a:cxnLst/>
                <a:rect l="l" t="t" r="r" b="b"/>
                <a:pathLst>
                  <a:path w="9525" h="85725">
                    <a:moveTo>
                      <a:pt x="0" y="0"/>
                    </a:moveTo>
                    <a:lnTo>
                      <a:pt x="0" y="85725"/>
                    </a:lnTo>
                  </a:path>
                </a:pathLst>
              </a:custGeom>
              <a:noFill/>
              <a:ln w="28575">
                <a:solidFill>
                  <a:srgbClr val="C83210"/>
                </a:solidFill>
              </a:ln>
            </p:spPr>
          </p:sp>
          <p:sp>
            <p:nvSpPr>
              <p:cNvPr id="16" name="Freeform 16"/>
              <p:cNvSpPr/>
              <p:nvPr/>
            </p:nvSpPr>
            <p:spPr>
              <a:xfrm>
                <a:off x="714375" y="1700212"/>
                <a:ext cx="114300" cy="85725"/>
              </a:xfrm>
              <a:custGeom>
                <a:avLst/>
                <a:gdLst/>
                <a:ahLst/>
                <a:cxnLst/>
                <a:rect l="l" t="t" r="r" b="b"/>
                <a:pathLst>
                  <a:path w="114300" h="85725">
                    <a:moveTo>
                      <a:pt x="0" y="85725"/>
                    </a:moveTo>
                    <a:lnTo>
                      <a:pt x="0" y="57150"/>
                    </a:lnTo>
                    <a:cubicBezTo>
                      <a:pt x="0" y="25587"/>
                      <a:pt x="25587" y="0"/>
                      <a:pt x="57150" y="0"/>
                    </a:cubicBezTo>
                    <a:lnTo>
                      <a:pt x="114300" y="0"/>
                    </a:lnTo>
                  </a:path>
                </a:pathLst>
              </a:custGeom>
              <a:noFill/>
              <a:ln w="28575">
                <a:solidFill>
                  <a:srgbClr val="C83210"/>
                </a:solidFill>
              </a:ln>
            </p:spPr>
          </p:sp>
        </p:grpSp>
        <p:sp>
          <p:nvSpPr>
            <p:cNvPr id="18" name="TextBox 18"/>
            <p:cNvSpPr txBox="1"/>
            <p:nvPr/>
          </p:nvSpPr>
          <p:spPr>
            <a:xfrm>
              <a:off x="534232" y="2105025"/>
              <a:ext cx="531737" cy="293370"/>
            </a:xfrm>
            <a:prstGeom prst="rect">
              <a:avLst/>
            </a:prstGeom>
            <a:noFill/>
            <a:ln>
              <a:noFill/>
            </a:ln>
          </p:spPr>
          <p:txBody>
            <a:bodyPr wrap="none" lIns="0" tIns="0" rIns="0" bIns="0" anchor="t" anchorCtr="0">
              <a:spAutoFit/>
            </a:bodyPr>
            <a:lstStyle/>
            <a:p>
              <a:pPr algn="ctr"/>
              <a:r>
                <a:rPr lang="zh-CN" sz="1500" b="1" dirty="0">
                  <a:solidFill>
                    <a:srgbClr val="C83210"/>
                  </a:solidFill>
                  <a:latin typeface="Arial"/>
                  <a:ea typeface="Arial"/>
                  <a:cs typeface="Arial"/>
                </a:rPr>
                <a:t>100%</a:t>
              </a:r>
            </a:p>
          </p:txBody>
        </p:sp>
        <p:sp>
          <p:nvSpPr>
            <p:cNvPr id="19" name="TextBox 19"/>
            <p:cNvSpPr txBox="1"/>
            <p:nvPr/>
          </p:nvSpPr>
          <p:spPr>
            <a:xfrm>
              <a:off x="556387" y="2380536"/>
              <a:ext cx="487426"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企微好友数</a:t>
              </a:r>
            </a:p>
          </p:txBody>
        </p:sp>
        <p:sp>
          <p:nvSpPr>
            <p:cNvPr id="20" name="Polygon 20"/>
            <p:cNvSpPr/>
            <p:nvPr/>
          </p:nvSpPr>
          <p:spPr>
            <a:xfrm>
              <a:off x="1333500" y="1676400"/>
              <a:ext cx="114300" cy="152400"/>
            </a:xfrm>
            <a:custGeom>
              <a:avLst/>
              <a:gdLst/>
              <a:ahLst/>
              <a:cxnLst/>
              <a:rect l="l" t="t" r="r" b="b"/>
              <a:pathLst>
                <a:path w="114300" h="152400">
                  <a:moveTo>
                    <a:pt x="0" y="0"/>
                  </a:moveTo>
                  <a:lnTo>
                    <a:pt x="114300" y="76200"/>
                  </a:lnTo>
                  <a:lnTo>
                    <a:pt x="0" y="152400"/>
                  </a:lnTo>
                  <a:close/>
                </a:path>
              </a:pathLst>
            </a:custGeom>
            <a:solidFill>
              <a:srgbClr val="F3B2A3"/>
            </a:solidFill>
            <a:ln>
              <a:noFill/>
            </a:ln>
          </p:spPr>
        </p:sp>
        <p:sp>
          <p:nvSpPr>
            <p:cNvPr id="21" name="Rectangle 21"/>
            <p:cNvSpPr/>
            <p:nvPr/>
          </p:nvSpPr>
          <p:spPr>
            <a:xfrm>
              <a:off x="1524000" y="990600"/>
              <a:ext cx="990600" cy="209550"/>
            </a:xfrm>
            <a:prstGeom prst="roundRect">
              <a:avLst>
                <a:gd name="adj" fmla="val 18182"/>
              </a:avLst>
            </a:prstGeom>
            <a:solidFill>
              <a:srgbClr val="C83210"/>
            </a:solidFill>
            <a:ln>
              <a:noFill/>
            </a:ln>
          </p:spPr>
        </p:sp>
        <p:sp>
          <p:nvSpPr>
            <p:cNvPr id="22" name="TextBox 22"/>
            <p:cNvSpPr txBox="1"/>
            <p:nvPr/>
          </p:nvSpPr>
          <p:spPr>
            <a:xfrm>
              <a:off x="1661120" y="1045845"/>
              <a:ext cx="71636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 xml:space="preserve">2 身份匹配　</a:t>
              </a:r>
            </a:p>
          </p:txBody>
        </p:sp>
        <p:sp>
          <p:nvSpPr>
            <p:cNvPr id="23" name="TextBox 23"/>
            <p:cNvSpPr txBox="1"/>
            <p:nvPr/>
          </p:nvSpPr>
          <p:spPr>
            <a:xfrm>
              <a:off x="1632217" y="1275636"/>
              <a:ext cx="774167"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识别客户身份信息</a:t>
              </a:r>
            </a:p>
          </p:txBody>
        </p:sp>
        <p:grpSp>
          <p:nvGrpSpPr>
            <p:cNvPr id="29" name="Group 29"/>
            <p:cNvGrpSpPr/>
            <p:nvPr/>
          </p:nvGrpSpPr>
          <p:grpSpPr>
            <a:xfrm>
              <a:off x="1890712" y="1543050"/>
              <a:ext cx="257175" cy="228600"/>
              <a:chOff x="1890712" y="1543050"/>
              <a:chExt cx="257175" cy="228600"/>
            </a:xfrm>
          </p:grpSpPr>
          <p:sp>
            <p:nvSpPr>
              <p:cNvPr id="24" name="Freeform 24"/>
              <p:cNvSpPr/>
              <p:nvPr/>
            </p:nvSpPr>
            <p:spPr>
              <a:xfrm>
                <a:off x="1890712" y="1543050"/>
                <a:ext cx="257175" cy="228600"/>
              </a:xfrm>
              <a:custGeom>
                <a:avLst/>
                <a:gdLst/>
                <a:ahLst/>
                <a:cxnLst/>
                <a:rect l="l" t="t" r="r" b="b"/>
                <a:pathLst>
                  <a:path w="257175" h="228600">
                    <a:moveTo>
                      <a:pt x="0" y="42862"/>
                    </a:moveTo>
                    <a:cubicBezTo>
                      <a:pt x="0" y="19190"/>
                      <a:pt x="19190" y="0"/>
                      <a:pt x="42862" y="0"/>
                    </a:cubicBezTo>
                    <a:lnTo>
                      <a:pt x="214312" y="0"/>
                    </a:lnTo>
                    <a:cubicBezTo>
                      <a:pt x="237985" y="0"/>
                      <a:pt x="257175" y="19190"/>
                      <a:pt x="257175" y="42862"/>
                    </a:cubicBezTo>
                    <a:lnTo>
                      <a:pt x="257175" y="185738"/>
                    </a:lnTo>
                    <a:cubicBezTo>
                      <a:pt x="257175" y="209410"/>
                      <a:pt x="237985" y="228600"/>
                      <a:pt x="214312" y="228600"/>
                    </a:cubicBezTo>
                    <a:lnTo>
                      <a:pt x="42862" y="228600"/>
                    </a:lnTo>
                    <a:cubicBezTo>
                      <a:pt x="19190" y="228600"/>
                      <a:pt x="0" y="209410"/>
                      <a:pt x="0" y="185738"/>
                    </a:cubicBezTo>
                    <a:lnTo>
                      <a:pt x="0" y="42862"/>
                    </a:lnTo>
                  </a:path>
                </a:pathLst>
              </a:custGeom>
              <a:noFill/>
              <a:ln w="28575">
                <a:solidFill>
                  <a:srgbClr val="C83210"/>
                </a:solidFill>
              </a:ln>
            </p:spPr>
          </p:sp>
          <p:sp>
            <p:nvSpPr>
              <p:cNvPr id="25" name="Freeform 25"/>
              <p:cNvSpPr/>
              <p:nvPr/>
            </p:nvSpPr>
            <p:spPr>
              <a:xfrm>
                <a:off x="1947862" y="1600200"/>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C83210"/>
                </a:solidFill>
              </a:ln>
            </p:spPr>
          </p:sp>
          <p:sp>
            <p:nvSpPr>
              <p:cNvPr id="26" name="Freeform 26"/>
              <p:cNvSpPr/>
              <p:nvPr/>
            </p:nvSpPr>
            <p:spPr>
              <a:xfrm>
                <a:off x="2062162" y="1600200"/>
                <a:ext cx="28575" cy="9525"/>
              </a:xfrm>
              <a:custGeom>
                <a:avLst/>
                <a:gdLst/>
                <a:ahLst/>
                <a:cxnLst/>
                <a:rect l="l" t="t" r="r" b="b"/>
                <a:pathLst>
                  <a:path w="28575" h="9525">
                    <a:moveTo>
                      <a:pt x="0" y="0"/>
                    </a:moveTo>
                    <a:lnTo>
                      <a:pt x="28575" y="0"/>
                    </a:lnTo>
                  </a:path>
                </a:pathLst>
              </a:custGeom>
              <a:noFill/>
              <a:ln w="28575">
                <a:solidFill>
                  <a:srgbClr val="C83210"/>
                </a:solidFill>
              </a:ln>
            </p:spPr>
          </p:sp>
          <p:sp>
            <p:nvSpPr>
              <p:cNvPr id="27" name="Freeform 27"/>
              <p:cNvSpPr/>
              <p:nvPr/>
            </p:nvSpPr>
            <p:spPr>
              <a:xfrm>
                <a:off x="2062162" y="1657350"/>
                <a:ext cx="28575" cy="9525"/>
              </a:xfrm>
              <a:custGeom>
                <a:avLst/>
                <a:gdLst/>
                <a:ahLst/>
                <a:cxnLst/>
                <a:rect l="l" t="t" r="r" b="b"/>
                <a:pathLst>
                  <a:path w="28575" h="9525">
                    <a:moveTo>
                      <a:pt x="0" y="0"/>
                    </a:moveTo>
                    <a:lnTo>
                      <a:pt x="28575" y="0"/>
                    </a:lnTo>
                  </a:path>
                </a:pathLst>
              </a:custGeom>
              <a:noFill/>
              <a:ln w="28575">
                <a:solidFill>
                  <a:srgbClr val="C83210"/>
                </a:solidFill>
              </a:ln>
            </p:spPr>
          </p:sp>
          <p:sp>
            <p:nvSpPr>
              <p:cNvPr id="28" name="Freeform 28"/>
              <p:cNvSpPr/>
              <p:nvPr/>
            </p:nvSpPr>
            <p:spPr>
              <a:xfrm>
                <a:off x="1947862" y="1714500"/>
                <a:ext cx="142875" cy="9525"/>
              </a:xfrm>
              <a:custGeom>
                <a:avLst/>
                <a:gdLst/>
                <a:ahLst/>
                <a:cxnLst/>
                <a:rect l="l" t="t" r="r" b="b"/>
                <a:pathLst>
                  <a:path w="142875" h="9525">
                    <a:moveTo>
                      <a:pt x="0" y="0"/>
                    </a:moveTo>
                    <a:lnTo>
                      <a:pt x="142875" y="0"/>
                    </a:lnTo>
                  </a:path>
                </a:pathLst>
              </a:custGeom>
              <a:noFill/>
              <a:ln w="28575">
                <a:solidFill>
                  <a:srgbClr val="C83210"/>
                </a:solidFill>
              </a:ln>
            </p:spPr>
          </p:sp>
        </p:grpSp>
        <p:sp>
          <p:nvSpPr>
            <p:cNvPr id="30" name="TextBox 30"/>
            <p:cNvSpPr txBox="1"/>
            <p:nvPr/>
          </p:nvSpPr>
          <p:spPr>
            <a:xfrm>
              <a:off x="1708623" y="2105025"/>
              <a:ext cx="621353" cy="293370"/>
            </a:xfrm>
            <a:prstGeom prst="rect">
              <a:avLst/>
            </a:prstGeom>
            <a:noFill/>
            <a:ln>
              <a:noFill/>
            </a:ln>
          </p:spPr>
          <p:txBody>
            <a:bodyPr wrap="none" lIns="0" tIns="0" rIns="0" bIns="0" anchor="t" anchorCtr="0">
              <a:spAutoFit/>
            </a:bodyPr>
            <a:lstStyle/>
            <a:p>
              <a:pPr algn="ctr"/>
              <a:r>
                <a:rPr lang="zh-CN" sz="1500" b="1" dirty="0">
                  <a:solidFill>
                    <a:srgbClr val="C83210"/>
                  </a:solidFill>
                  <a:latin typeface="Arial"/>
                  <a:ea typeface="Microsoft YaHei"/>
                  <a:cs typeface="Arial"/>
                </a:rPr>
                <a:t>约80%</a:t>
              </a:r>
            </a:p>
          </p:txBody>
        </p:sp>
        <p:sp>
          <p:nvSpPr>
            <p:cNvPr id="31" name="TextBox 31"/>
            <p:cNvSpPr txBox="1"/>
            <p:nvPr/>
          </p:nvSpPr>
          <p:spPr>
            <a:xfrm>
              <a:off x="1680007" y="2380536"/>
              <a:ext cx="678586"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匹配到有效身份</a:t>
              </a:r>
            </a:p>
          </p:txBody>
        </p:sp>
        <p:sp>
          <p:nvSpPr>
            <p:cNvPr id="32" name="Polygon 32"/>
            <p:cNvSpPr/>
            <p:nvPr/>
          </p:nvSpPr>
          <p:spPr>
            <a:xfrm>
              <a:off x="2552700" y="1676400"/>
              <a:ext cx="114300" cy="152400"/>
            </a:xfrm>
            <a:custGeom>
              <a:avLst/>
              <a:gdLst/>
              <a:ahLst/>
              <a:cxnLst/>
              <a:rect l="l" t="t" r="r" b="b"/>
              <a:pathLst>
                <a:path w="114300" h="152400">
                  <a:moveTo>
                    <a:pt x="0" y="0"/>
                  </a:moveTo>
                  <a:lnTo>
                    <a:pt x="114300" y="76200"/>
                  </a:lnTo>
                  <a:lnTo>
                    <a:pt x="0" y="152400"/>
                  </a:lnTo>
                  <a:close/>
                </a:path>
              </a:pathLst>
            </a:custGeom>
            <a:solidFill>
              <a:srgbClr val="F3B2A3"/>
            </a:solidFill>
            <a:ln>
              <a:noFill/>
            </a:ln>
          </p:spPr>
        </p:sp>
        <p:sp>
          <p:nvSpPr>
            <p:cNvPr id="33" name="Rectangle 33"/>
            <p:cNvSpPr/>
            <p:nvPr/>
          </p:nvSpPr>
          <p:spPr>
            <a:xfrm>
              <a:off x="2743200" y="990600"/>
              <a:ext cx="990600" cy="209550"/>
            </a:xfrm>
            <a:prstGeom prst="roundRect">
              <a:avLst>
                <a:gd name="adj" fmla="val 18182"/>
              </a:avLst>
            </a:prstGeom>
            <a:solidFill>
              <a:srgbClr val="C83210"/>
            </a:solidFill>
            <a:ln>
              <a:noFill/>
            </a:ln>
          </p:spPr>
        </p:sp>
        <p:sp>
          <p:nvSpPr>
            <p:cNvPr id="34" name="TextBox 34"/>
            <p:cNvSpPr txBox="1"/>
            <p:nvPr/>
          </p:nvSpPr>
          <p:spPr>
            <a:xfrm>
              <a:off x="2880320" y="1045845"/>
              <a:ext cx="71636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 xml:space="preserve">3 客户授权　</a:t>
              </a:r>
            </a:p>
          </p:txBody>
        </p:sp>
        <p:sp>
          <p:nvSpPr>
            <p:cNvPr id="35" name="TextBox 35"/>
            <p:cNvSpPr txBox="1"/>
            <p:nvPr/>
          </p:nvSpPr>
          <p:spPr>
            <a:xfrm>
              <a:off x="2851417" y="1275636"/>
              <a:ext cx="774167"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获取客户同意授权</a:t>
              </a:r>
            </a:p>
          </p:txBody>
        </p:sp>
        <p:grpSp>
          <p:nvGrpSpPr>
            <p:cNvPr id="39" name="Group 39"/>
            <p:cNvGrpSpPr/>
            <p:nvPr/>
          </p:nvGrpSpPr>
          <p:grpSpPr>
            <a:xfrm>
              <a:off x="3138488" y="1528762"/>
              <a:ext cx="200025" cy="257175"/>
              <a:chOff x="3138488" y="1528762"/>
              <a:chExt cx="200025" cy="257175"/>
            </a:xfrm>
          </p:grpSpPr>
          <p:sp>
            <p:nvSpPr>
              <p:cNvPr id="36" name="Freeform 36"/>
              <p:cNvSpPr/>
              <p:nvPr/>
            </p:nvSpPr>
            <p:spPr>
              <a:xfrm>
                <a:off x="3267075" y="1528762"/>
                <a:ext cx="71438" cy="71438"/>
              </a:xfrm>
              <a:custGeom>
                <a:avLst/>
                <a:gdLst/>
                <a:ahLst/>
                <a:cxnLst/>
                <a:rect l="l" t="t" r="r" b="b"/>
                <a:pathLst>
                  <a:path w="71438" h="71438">
                    <a:moveTo>
                      <a:pt x="0" y="0"/>
                    </a:moveTo>
                    <a:lnTo>
                      <a:pt x="0" y="57150"/>
                    </a:lnTo>
                    <a:cubicBezTo>
                      <a:pt x="0" y="65041"/>
                      <a:pt x="6397" y="71438"/>
                      <a:pt x="14288" y="71438"/>
                    </a:cubicBezTo>
                    <a:lnTo>
                      <a:pt x="71438" y="71438"/>
                    </a:lnTo>
                  </a:path>
                </a:pathLst>
              </a:custGeom>
              <a:noFill/>
              <a:ln w="28575">
                <a:solidFill>
                  <a:srgbClr val="C83210"/>
                </a:solidFill>
              </a:ln>
            </p:spPr>
          </p:sp>
          <p:sp>
            <p:nvSpPr>
              <p:cNvPr id="37" name="Freeform 37"/>
              <p:cNvSpPr/>
              <p:nvPr/>
            </p:nvSpPr>
            <p:spPr>
              <a:xfrm>
                <a:off x="3138488" y="1528762"/>
                <a:ext cx="200025" cy="257175"/>
              </a:xfrm>
              <a:custGeom>
                <a:avLst/>
                <a:gdLst/>
                <a:ahLst/>
                <a:cxnLst/>
                <a:rect l="l" t="t" r="r" b="b"/>
                <a:pathLst>
                  <a:path w="200025" h="257175">
                    <a:moveTo>
                      <a:pt x="171450" y="257175"/>
                    </a:moveTo>
                    <a:lnTo>
                      <a:pt x="28575" y="257175"/>
                    </a:lnTo>
                    <a:cubicBezTo>
                      <a:pt x="12793" y="257175"/>
                      <a:pt x="0" y="244382"/>
                      <a:pt x="0" y="228600"/>
                    </a:cubicBezTo>
                    <a:lnTo>
                      <a:pt x="0" y="28575"/>
                    </a:lnTo>
                    <a:cubicBezTo>
                      <a:pt x="0" y="12793"/>
                      <a:pt x="12793" y="0"/>
                      <a:pt x="28575" y="0"/>
                    </a:cubicBezTo>
                    <a:lnTo>
                      <a:pt x="128588" y="0"/>
                    </a:lnTo>
                    <a:lnTo>
                      <a:pt x="200025" y="71438"/>
                    </a:lnTo>
                    <a:lnTo>
                      <a:pt x="200025" y="228600"/>
                    </a:lnTo>
                    <a:cubicBezTo>
                      <a:pt x="200025" y="244382"/>
                      <a:pt x="187232" y="257175"/>
                      <a:pt x="171450" y="257175"/>
                    </a:cubicBezTo>
                  </a:path>
                </a:pathLst>
              </a:custGeom>
              <a:noFill/>
              <a:ln w="28575">
                <a:solidFill>
                  <a:srgbClr val="C83210"/>
                </a:solidFill>
              </a:ln>
            </p:spPr>
          </p:sp>
          <p:sp>
            <p:nvSpPr>
              <p:cNvPr id="38" name="Freeform 38"/>
              <p:cNvSpPr/>
              <p:nvPr/>
            </p:nvSpPr>
            <p:spPr>
              <a:xfrm>
                <a:off x="3195638" y="1671638"/>
                <a:ext cx="85725" cy="57150"/>
              </a:xfrm>
              <a:custGeom>
                <a:avLst/>
                <a:gdLst/>
                <a:ahLst/>
                <a:cxnLst/>
                <a:rect l="l" t="t" r="r" b="b"/>
                <a:pathLst>
                  <a:path w="85725" h="57150">
                    <a:moveTo>
                      <a:pt x="0" y="28575"/>
                    </a:moveTo>
                    <a:lnTo>
                      <a:pt x="28575" y="57150"/>
                    </a:lnTo>
                    <a:lnTo>
                      <a:pt x="85725" y="0"/>
                    </a:lnTo>
                  </a:path>
                </a:pathLst>
              </a:custGeom>
              <a:noFill/>
              <a:ln w="28575">
                <a:solidFill>
                  <a:srgbClr val="C83210"/>
                </a:solidFill>
              </a:ln>
            </p:spPr>
          </p:sp>
        </p:grpSp>
        <p:sp>
          <p:nvSpPr>
            <p:cNvPr id="40" name="TextBox 40"/>
            <p:cNvSpPr txBox="1"/>
            <p:nvPr/>
          </p:nvSpPr>
          <p:spPr>
            <a:xfrm>
              <a:off x="2927823" y="2105025"/>
              <a:ext cx="621353" cy="293370"/>
            </a:xfrm>
            <a:prstGeom prst="rect">
              <a:avLst/>
            </a:prstGeom>
            <a:noFill/>
            <a:ln>
              <a:noFill/>
            </a:ln>
          </p:spPr>
          <p:txBody>
            <a:bodyPr wrap="none" lIns="0" tIns="0" rIns="0" bIns="0" anchor="t" anchorCtr="0">
              <a:spAutoFit/>
            </a:bodyPr>
            <a:lstStyle/>
            <a:p>
              <a:pPr algn="ctr"/>
              <a:r>
                <a:rPr lang="zh-CN" sz="1500" b="1" dirty="0">
                  <a:solidFill>
                    <a:srgbClr val="C83210"/>
                  </a:solidFill>
                  <a:latin typeface="Arial"/>
                  <a:ea typeface="Microsoft YaHei"/>
                  <a:cs typeface="Arial"/>
                </a:rPr>
                <a:t>约65%</a:t>
              </a:r>
            </a:p>
          </p:txBody>
        </p:sp>
        <p:sp>
          <p:nvSpPr>
            <p:cNvPr id="41" name="TextBox 41"/>
            <p:cNvSpPr txBox="1"/>
            <p:nvPr/>
          </p:nvSpPr>
          <p:spPr>
            <a:xfrm>
              <a:off x="2946997" y="2380536"/>
              <a:ext cx="583006"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完成信息授权</a:t>
              </a:r>
            </a:p>
          </p:txBody>
        </p:sp>
        <p:sp>
          <p:nvSpPr>
            <p:cNvPr id="42" name="Polygon 42"/>
            <p:cNvSpPr/>
            <p:nvPr/>
          </p:nvSpPr>
          <p:spPr>
            <a:xfrm>
              <a:off x="3771900" y="1676400"/>
              <a:ext cx="114300" cy="152400"/>
            </a:xfrm>
            <a:custGeom>
              <a:avLst/>
              <a:gdLst/>
              <a:ahLst/>
              <a:cxnLst/>
              <a:rect l="l" t="t" r="r" b="b"/>
              <a:pathLst>
                <a:path w="114300" h="152400">
                  <a:moveTo>
                    <a:pt x="0" y="0"/>
                  </a:moveTo>
                  <a:lnTo>
                    <a:pt x="114300" y="76200"/>
                  </a:lnTo>
                  <a:lnTo>
                    <a:pt x="0" y="152400"/>
                  </a:lnTo>
                  <a:close/>
                </a:path>
              </a:pathLst>
            </a:custGeom>
            <a:solidFill>
              <a:srgbClr val="F3B2A3"/>
            </a:solidFill>
            <a:ln>
              <a:noFill/>
            </a:ln>
          </p:spPr>
        </p:sp>
        <p:sp>
          <p:nvSpPr>
            <p:cNvPr id="43" name="Rectangle 43"/>
            <p:cNvSpPr/>
            <p:nvPr/>
          </p:nvSpPr>
          <p:spPr>
            <a:xfrm>
              <a:off x="3962400" y="990600"/>
              <a:ext cx="990600" cy="209550"/>
            </a:xfrm>
            <a:prstGeom prst="roundRect">
              <a:avLst>
                <a:gd name="adj" fmla="val 18182"/>
              </a:avLst>
            </a:prstGeom>
            <a:solidFill>
              <a:srgbClr val="C83210"/>
            </a:solidFill>
            <a:ln>
              <a:noFill/>
            </a:ln>
          </p:spPr>
        </p:sp>
        <p:sp>
          <p:nvSpPr>
            <p:cNvPr id="44" name="TextBox 44"/>
            <p:cNvSpPr txBox="1"/>
            <p:nvPr/>
          </p:nvSpPr>
          <p:spPr>
            <a:xfrm>
              <a:off x="4099520" y="1045845"/>
              <a:ext cx="71636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 xml:space="preserve">4 行内认证　</a:t>
              </a:r>
            </a:p>
          </p:txBody>
        </p:sp>
        <p:sp>
          <p:nvSpPr>
            <p:cNvPr id="45" name="TextBox 45"/>
            <p:cNvSpPr txBox="1"/>
            <p:nvPr/>
          </p:nvSpPr>
          <p:spPr>
            <a:xfrm>
              <a:off x="4070617" y="1275636"/>
              <a:ext cx="774167"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接入行内客户体系</a:t>
              </a:r>
            </a:p>
          </p:txBody>
        </p:sp>
        <p:grpSp>
          <p:nvGrpSpPr>
            <p:cNvPr id="49" name="Group 49"/>
            <p:cNvGrpSpPr/>
            <p:nvPr/>
          </p:nvGrpSpPr>
          <p:grpSpPr>
            <a:xfrm>
              <a:off x="4343400" y="1528762"/>
              <a:ext cx="228600" cy="257176"/>
              <a:chOff x="4343400" y="1528762"/>
              <a:chExt cx="228600" cy="257176"/>
            </a:xfrm>
          </p:grpSpPr>
          <p:sp>
            <p:nvSpPr>
              <p:cNvPr id="46" name="Freeform 46"/>
              <p:cNvSpPr/>
              <p:nvPr/>
            </p:nvSpPr>
            <p:spPr>
              <a:xfrm>
                <a:off x="4343400" y="1528762"/>
                <a:ext cx="228600" cy="85725"/>
              </a:xfrm>
              <a:custGeom>
                <a:avLst/>
                <a:gdLst/>
                <a:ahLst/>
                <a:cxnLst/>
                <a:rect l="l" t="t" r="r" b="b"/>
                <a:pathLst>
                  <a:path w="228600" h="85725">
                    <a:moveTo>
                      <a:pt x="0" y="42862"/>
                    </a:moveTo>
                    <a:cubicBezTo>
                      <a:pt x="0" y="66535"/>
                      <a:pt x="51174" y="85725"/>
                      <a:pt x="114300" y="85725"/>
                    </a:cubicBezTo>
                    <a:cubicBezTo>
                      <a:pt x="177426" y="85725"/>
                      <a:pt x="228600" y="66535"/>
                      <a:pt x="228600" y="42862"/>
                    </a:cubicBezTo>
                    <a:cubicBezTo>
                      <a:pt x="228600" y="19190"/>
                      <a:pt x="177426" y="0"/>
                      <a:pt x="114300" y="0"/>
                    </a:cubicBezTo>
                    <a:cubicBezTo>
                      <a:pt x="51174" y="0"/>
                      <a:pt x="0" y="19190"/>
                      <a:pt x="0" y="42862"/>
                    </a:cubicBezTo>
                  </a:path>
                </a:pathLst>
              </a:custGeom>
              <a:noFill/>
              <a:ln w="28575">
                <a:solidFill>
                  <a:srgbClr val="C83210"/>
                </a:solidFill>
              </a:ln>
            </p:spPr>
          </p:sp>
          <p:sp>
            <p:nvSpPr>
              <p:cNvPr id="47" name="Freeform 47"/>
              <p:cNvSpPr/>
              <p:nvPr/>
            </p:nvSpPr>
            <p:spPr>
              <a:xfrm>
                <a:off x="4343400" y="1571625"/>
                <a:ext cx="228600" cy="128588"/>
              </a:xfrm>
              <a:custGeom>
                <a:avLst/>
                <a:gdLst/>
                <a:ahLst/>
                <a:cxnLst/>
                <a:rect l="l" t="t" r="r" b="b"/>
                <a:pathLst>
                  <a:path w="228600" h="128588">
                    <a:moveTo>
                      <a:pt x="0" y="0"/>
                    </a:moveTo>
                    <a:lnTo>
                      <a:pt x="0" y="85725"/>
                    </a:lnTo>
                    <a:cubicBezTo>
                      <a:pt x="0" y="109397"/>
                      <a:pt x="51174" y="128588"/>
                      <a:pt x="114300" y="128588"/>
                    </a:cubicBezTo>
                    <a:cubicBezTo>
                      <a:pt x="177426" y="128588"/>
                      <a:pt x="228600" y="109397"/>
                      <a:pt x="228600" y="85725"/>
                    </a:cubicBezTo>
                    <a:lnTo>
                      <a:pt x="228600" y="0"/>
                    </a:lnTo>
                  </a:path>
                </a:pathLst>
              </a:custGeom>
              <a:noFill/>
              <a:ln w="28575">
                <a:solidFill>
                  <a:srgbClr val="C83210"/>
                </a:solidFill>
              </a:ln>
            </p:spPr>
          </p:sp>
          <p:sp>
            <p:nvSpPr>
              <p:cNvPr id="48" name="Freeform 48"/>
              <p:cNvSpPr/>
              <p:nvPr/>
            </p:nvSpPr>
            <p:spPr>
              <a:xfrm>
                <a:off x="4343400" y="1657350"/>
                <a:ext cx="228600" cy="128588"/>
              </a:xfrm>
              <a:custGeom>
                <a:avLst/>
                <a:gdLst/>
                <a:ahLst/>
                <a:cxnLst/>
                <a:rect l="l" t="t" r="r" b="b"/>
                <a:pathLst>
                  <a:path w="228600" h="128588">
                    <a:moveTo>
                      <a:pt x="0" y="0"/>
                    </a:moveTo>
                    <a:lnTo>
                      <a:pt x="0" y="85725"/>
                    </a:lnTo>
                    <a:cubicBezTo>
                      <a:pt x="0" y="109397"/>
                      <a:pt x="51174" y="128588"/>
                      <a:pt x="114300" y="128588"/>
                    </a:cubicBezTo>
                    <a:cubicBezTo>
                      <a:pt x="177426" y="128588"/>
                      <a:pt x="228600" y="109397"/>
                      <a:pt x="228600" y="85725"/>
                    </a:cubicBezTo>
                    <a:lnTo>
                      <a:pt x="228600" y="0"/>
                    </a:lnTo>
                  </a:path>
                </a:pathLst>
              </a:custGeom>
              <a:noFill/>
              <a:ln w="28575">
                <a:solidFill>
                  <a:srgbClr val="C83210"/>
                </a:solidFill>
              </a:ln>
            </p:spPr>
          </p:sp>
        </p:grpSp>
        <p:sp>
          <p:nvSpPr>
            <p:cNvPr id="50" name="TextBox 50"/>
            <p:cNvSpPr txBox="1"/>
            <p:nvPr/>
          </p:nvSpPr>
          <p:spPr>
            <a:xfrm>
              <a:off x="4147023" y="2105025"/>
              <a:ext cx="621353" cy="293370"/>
            </a:xfrm>
            <a:prstGeom prst="rect">
              <a:avLst/>
            </a:prstGeom>
            <a:noFill/>
            <a:ln>
              <a:noFill/>
            </a:ln>
          </p:spPr>
          <p:txBody>
            <a:bodyPr wrap="none" lIns="0" tIns="0" rIns="0" bIns="0" anchor="t" anchorCtr="0">
              <a:spAutoFit/>
            </a:bodyPr>
            <a:lstStyle/>
            <a:p>
              <a:pPr algn="ctr"/>
              <a:r>
                <a:rPr lang="zh-CN" sz="1500" b="1" dirty="0">
                  <a:solidFill>
                    <a:srgbClr val="C83210"/>
                  </a:solidFill>
                  <a:latin typeface="Arial"/>
                  <a:ea typeface="Microsoft YaHei"/>
                  <a:cs typeface="Arial"/>
                </a:rPr>
                <a:t>约50%</a:t>
              </a:r>
            </a:p>
          </p:txBody>
        </p:sp>
        <p:sp>
          <p:nvSpPr>
            <p:cNvPr id="51" name="TextBox 51"/>
            <p:cNvSpPr txBox="1"/>
            <p:nvPr/>
          </p:nvSpPr>
          <p:spPr>
            <a:xfrm>
              <a:off x="4070617" y="2380536"/>
              <a:ext cx="774167"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进入可经营客户池</a:t>
              </a:r>
            </a:p>
          </p:txBody>
        </p:sp>
      </p:grpSp>
      <p:grpSp>
        <p:nvGrpSpPr>
          <p:cNvPr id="117" name="zone-sources"/>
          <p:cNvGrpSpPr/>
          <p:nvPr/>
        </p:nvGrpSpPr>
        <p:grpSpPr>
          <a:xfrm>
            <a:off x="5248275" y="647700"/>
            <a:ext cx="3333750" cy="2171700"/>
            <a:chOff x="5248275" y="647700"/>
            <a:chExt cx="3333750" cy="2171700"/>
          </a:xfrm>
        </p:grpSpPr>
        <p:sp>
          <p:nvSpPr>
            <p:cNvPr id="53" name="Rectangle 53"/>
            <p:cNvSpPr/>
            <p:nvPr/>
          </p:nvSpPr>
          <p:spPr>
            <a:xfrm>
              <a:off x="5248275" y="647700"/>
              <a:ext cx="3333750" cy="2171700"/>
            </a:xfrm>
            <a:prstGeom prst="roundRect">
              <a:avLst>
                <a:gd name="adj" fmla="val 2632"/>
              </a:avLst>
            </a:prstGeom>
            <a:solidFill>
              <a:srgbClr val="FDF5F6"/>
            </a:solidFill>
            <a:ln>
              <a:noFill/>
            </a:ln>
          </p:spPr>
        </p:sp>
        <p:sp>
          <p:nvSpPr>
            <p:cNvPr id="54" name="Rectangle 54"/>
            <p:cNvSpPr/>
            <p:nvPr/>
          </p:nvSpPr>
          <p:spPr>
            <a:xfrm>
              <a:off x="5248275" y="647700"/>
              <a:ext cx="3333750" cy="228600"/>
            </a:xfrm>
            <a:prstGeom prst="roundRect">
              <a:avLst>
                <a:gd name="adj" fmla="val 25000"/>
              </a:avLst>
            </a:prstGeom>
            <a:solidFill>
              <a:srgbClr val="C83210"/>
            </a:solidFill>
            <a:ln>
              <a:noFill/>
            </a:ln>
          </p:spPr>
        </p:sp>
        <p:sp>
          <p:nvSpPr>
            <p:cNvPr id="55" name="TextBox 55"/>
            <p:cNvSpPr txBox="1"/>
            <p:nvPr/>
          </p:nvSpPr>
          <p:spPr>
            <a:xfrm>
              <a:off x="5338762" y="712470"/>
              <a:ext cx="2381496"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二、主要添加来源及触发场景（线上+线下）</a:t>
              </a:r>
            </a:p>
          </p:txBody>
        </p:sp>
        <p:sp>
          <p:nvSpPr>
            <p:cNvPr id="56" name="Rectangle 56"/>
            <p:cNvSpPr/>
            <p:nvPr/>
          </p:nvSpPr>
          <p:spPr>
            <a:xfrm>
              <a:off x="5334000" y="952500"/>
              <a:ext cx="1028700" cy="876300"/>
            </a:xfrm>
            <a:prstGeom prst="roundRect">
              <a:avLst>
                <a:gd name="adj" fmla="val 6522"/>
              </a:avLst>
            </a:prstGeom>
            <a:solidFill>
              <a:srgbClr val="FFFFFF"/>
            </a:solidFill>
            <a:ln w="9525">
              <a:solidFill>
                <a:srgbClr val="F1C7CC"/>
              </a:solidFill>
            </a:ln>
          </p:spPr>
        </p:sp>
        <p:grpSp>
          <p:nvGrpSpPr>
            <p:cNvPr id="62" name="Group 62"/>
            <p:cNvGrpSpPr/>
            <p:nvPr/>
          </p:nvGrpSpPr>
          <p:grpSpPr>
            <a:xfrm>
              <a:off x="5455444" y="1073944"/>
              <a:ext cx="157163" cy="166687"/>
              <a:chOff x="5455444" y="1073944"/>
              <a:chExt cx="157163" cy="166687"/>
            </a:xfrm>
          </p:grpSpPr>
          <p:sp>
            <p:nvSpPr>
              <p:cNvPr id="57" name="Freeform 57"/>
              <p:cNvSpPr/>
              <p:nvPr/>
            </p:nvSpPr>
            <p:spPr>
              <a:xfrm>
                <a:off x="5455444" y="1231106"/>
                <a:ext cx="157163" cy="9525"/>
              </a:xfrm>
              <a:custGeom>
                <a:avLst/>
                <a:gdLst/>
                <a:ahLst/>
                <a:cxnLst/>
                <a:rect l="l" t="t" r="r" b="b"/>
                <a:pathLst>
                  <a:path w="157163" h="9525">
                    <a:moveTo>
                      <a:pt x="0" y="0"/>
                    </a:moveTo>
                    <a:lnTo>
                      <a:pt x="157163" y="0"/>
                    </a:lnTo>
                  </a:path>
                </a:pathLst>
              </a:custGeom>
              <a:noFill/>
              <a:ln w="17463">
                <a:solidFill>
                  <a:srgbClr val="C83210"/>
                </a:solidFill>
              </a:ln>
            </p:spPr>
          </p:sp>
          <p:sp>
            <p:nvSpPr>
              <p:cNvPr id="58" name="Freeform 58"/>
              <p:cNvSpPr/>
              <p:nvPr/>
            </p:nvSpPr>
            <p:spPr>
              <a:xfrm>
                <a:off x="5455444" y="1073944"/>
                <a:ext cx="157163" cy="69850"/>
              </a:xfrm>
              <a:custGeom>
                <a:avLst/>
                <a:gdLst/>
                <a:ahLst/>
                <a:cxnLst/>
                <a:rect l="l" t="t" r="r" b="b"/>
                <a:pathLst>
                  <a:path w="157163" h="69850">
                    <a:moveTo>
                      <a:pt x="0" y="34925"/>
                    </a:moveTo>
                    <a:lnTo>
                      <a:pt x="0" y="43656"/>
                    </a:lnTo>
                    <a:cubicBezTo>
                      <a:pt x="0" y="58123"/>
                      <a:pt x="11727" y="69850"/>
                      <a:pt x="26194" y="69850"/>
                    </a:cubicBezTo>
                    <a:cubicBezTo>
                      <a:pt x="40660" y="69850"/>
                      <a:pt x="52388" y="58123"/>
                      <a:pt x="52388" y="43656"/>
                    </a:cubicBezTo>
                    <a:lnTo>
                      <a:pt x="52388" y="34925"/>
                    </a:lnTo>
                    <a:moveTo>
                      <a:pt x="52388" y="43656"/>
                    </a:moveTo>
                    <a:cubicBezTo>
                      <a:pt x="52388" y="58123"/>
                      <a:pt x="64115" y="69850"/>
                      <a:pt x="78581" y="69850"/>
                    </a:cubicBezTo>
                    <a:cubicBezTo>
                      <a:pt x="93048" y="69850"/>
                      <a:pt x="104775" y="58123"/>
                      <a:pt x="104775" y="43656"/>
                    </a:cubicBezTo>
                    <a:lnTo>
                      <a:pt x="104775" y="34925"/>
                    </a:lnTo>
                    <a:moveTo>
                      <a:pt x="104775" y="43656"/>
                    </a:moveTo>
                    <a:cubicBezTo>
                      <a:pt x="104775" y="58123"/>
                      <a:pt x="116502" y="69850"/>
                      <a:pt x="130969" y="69850"/>
                    </a:cubicBezTo>
                    <a:cubicBezTo>
                      <a:pt x="145435" y="69850"/>
                      <a:pt x="157163" y="58123"/>
                      <a:pt x="157163" y="43656"/>
                    </a:cubicBezTo>
                    <a:lnTo>
                      <a:pt x="157163" y="34925"/>
                    </a:lnTo>
                    <a:lnTo>
                      <a:pt x="0" y="34925"/>
                    </a:lnTo>
                    <a:lnTo>
                      <a:pt x="17463" y="0"/>
                    </a:lnTo>
                    <a:lnTo>
                      <a:pt x="139700" y="0"/>
                    </a:lnTo>
                    <a:lnTo>
                      <a:pt x="157163" y="34925"/>
                    </a:lnTo>
                  </a:path>
                </a:pathLst>
              </a:custGeom>
              <a:noFill/>
              <a:ln w="17463">
                <a:solidFill>
                  <a:srgbClr val="C83210"/>
                </a:solidFill>
              </a:ln>
            </p:spPr>
          </p:sp>
          <p:sp>
            <p:nvSpPr>
              <p:cNvPr id="59" name="Freeform 59"/>
              <p:cNvSpPr/>
              <p:nvPr/>
            </p:nvSpPr>
            <p:spPr>
              <a:xfrm>
                <a:off x="5472906" y="1142484"/>
                <a:ext cx="9525" cy="88622"/>
              </a:xfrm>
              <a:custGeom>
                <a:avLst/>
                <a:gdLst/>
                <a:ahLst/>
                <a:cxnLst/>
                <a:rect l="l" t="t" r="r" b="b"/>
                <a:pathLst>
                  <a:path w="9525" h="88622">
                    <a:moveTo>
                      <a:pt x="0" y="88622"/>
                    </a:moveTo>
                    <a:lnTo>
                      <a:pt x="0" y="0"/>
                    </a:lnTo>
                  </a:path>
                </a:pathLst>
              </a:custGeom>
              <a:noFill/>
              <a:ln w="17463">
                <a:solidFill>
                  <a:srgbClr val="C83210"/>
                </a:solidFill>
              </a:ln>
            </p:spPr>
          </p:sp>
          <p:sp>
            <p:nvSpPr>
              <p:cNvPr id="60" name="Freeform 60"/>
              <p:cNvSpPr/>
              <p:nvPr/>
            </p:nvSpPr>
            <p:spPr>
              <a:xfrm>
                <a:off x="5595144" y="1142484"/>
                <a:ext cx="9525" cy="88622"/>
              </a:xfrm>
              <a:custGeom>
                <a:avLst/>
                <a:gdLst/>
                <a:ahLst/>
                <a:cxnLst/>
                <a:rect l="l" t="t" r="r" b="b"/>
                <a:pathLst>
                  <a:path w="9525" h="88622">
                    <a:moveTo>
                      <a:pt x="0" y="88622"/>
                    </a:moveTo>
                    <a:lnTo>
                      <a:pt x="0" y="0"/>
                    </a:lnTo>
                  </a:path>
                </a:pathLst>
              </a:custGeom>
              <a:noFill/>
              <a:ln w="17463">
                <a:solidFill>
                  <a:srgbClr val="C83210"/>
                </a:solidFill>
              </a:ln>
            </p:spPr>
          </p:sp>
          <p:sp>
            <p:nvSpPr>
              <p:cNvPr id="61" name="Freeform 61"/>
              <p:cNvSpPr/>
              <p:nvPr/>
            </p:nvSpPr>
            <p:spPr>
              <a:xfrm>
                <a:off x="5507831" y="1178719"/>
                <a:ext cx="52388" cy="52388"/>
              </a:xfrm>
              <a:custGeom>
                <a:avLst/>
                <a:gdLst/>
                <a:ahLst/>
                <a:cxnLst/>
                <a:rect l="l" t="t" r="r" b="b"/>
                <a:pathLst>
                  <a:path w="52388" h="52388">
                    <a:moveTo>
                      <a:pt x="0" y="52388"/>
                    </a:moveTo>
                    <a:lnTo>
                      <a:pt x="0" y="17463"/>
                    </a:lnTo>
                    <a:cubicBezTo>
                      <a:pt x="0" y="7818"/>
                      <a:pt x="7818" y="0"/>
                      <a:pt x="17463" y="0"/>
                    </a:cubicBezTo>
                    <a:lnTo>
                      <a:pt x="34925" y="0"/>
                    </a:lnTo>
                    <a:cubicBezTo>
                      <a:pt x="44569" y="0"/>
                      <a:pt x="52388" y="7818"/>
                      <a:pt x="52388" y="17463"/>
                    </a:cubicBezTo>
                    <a:lnTo>
                      <a:pt x="52388" y="52388"/>
                    </a:lnTo>
                  </a:path>
                </a:pathLst>
              </a:custGeom>
              <a:noFill/>
              <a:ln w="17463">
                <a:solidFill>
                  <a:srgbClr val="C83210"/>
                </a:solidFill>
              </a:ln>
            </p:spPr>
          </p:sp>
        </p:grpSp>
        <p:sp>
          <p:nvSpPr>
            <p:cNvPr id="63" name="TextBox 63"/>
            <p:cNvSpPr txBox="1"/>
            <p:nvPr/>
          </p:nvSpPr>
          <p:spPr>
            <a:xfrm>
              <a:off x="5691188" y="1111091"/>
              <a:ext cx="451079"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网点办理</a:t>
              </a:r>
            </a:p>
          </p:txBody>
        </p:sp>
        <p:sp>
          <p:nvSpPr>
            <p:cNvPr id="64" name="TextBox 64"/>
            <p:cNvSpPr txBox="1"/>
            <p:nvPr/>
          </p:nvSpPr>
          <p:spPr>
            <a:xfrm>
              <a:off x="5424488" y="1393984"/>
              <a:ext cx="79220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柜面/厅堂业务办理</a:t>
              </a:r>
            </a:p>
          </p:txBody>
        </p:sp>
        <p:sp>
          <p:nvSpPr>
            <p:cNvPr id="65" name="TextBox 65"/>
            <p:cNvSpPr txBox="1"/>
            <p:nvPr/>
          </p:nvSpPr>
          <p:spPr>
            <a:xfrm>
              <a:off x="5424488" y="1546384"/>
              <a:ext cx="558775"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引导添加企微</a:t>
              </a:r>
            </a:p>
          </p:txBody>
        </p:sp>
        <p:sp>
          <p:nvSpPr>
            <p:cNvPr id="66" name="Rectangle 66"/>
            <p:cNvSpPr/>
            <p:nvPr/>
          </p:nvSpPr>
          <p:spPr>
            <a:xfrm>
              <a:off x="6400800" y="952500"/>
              <a:ext cx="1028700" cy="876300"/>
            </a:xfrm>
            <a:prstGeom prst="roundRect">
              <a:avLst>
                <a:gd name="adj" fmla="val 6522"/>
              </a:avLst>
            </a:prstGeom>
            <a:solidFill>
              <a:srgbClr val="FFFFFF"/>
            </a:solidFill>
            <a:ln w="9525">
              <a:solidFill>
                <a:srgbClr val="F1C7CC"/>
              </a:solidFill>
            </a:ln>
          </p:spPr>
        </p:sp>
        <p:grpSp>
          <p:nvGrpSpPr>
            <p:cNvPr id="72" name="Group 72"/>
            <p:cNvGrpSpPr/>
            <p:nvPr/>
          </p:nvGrpSpPr>
          <p:grpSpPr>
            <a:xfrm>
              <a:off x="6522244" y="1082675"/>
              <a:ext cx="157163" cy="139700"/>
              <a:chOff x="6522244" y="1082675"/>
              <a:chExt cx="157163" cy="139700"/>
            </a:xfrm>
          </p:grpSpPr>
          <p:sp>
            <p:nvSpPr>
              <p:cNvPr id="67" name="Freeform 67"/>
              <p:cNvSpPr/>
              <p:nvPr/>
            </p:nvSpPr>
            <p:spPr>
              <a:xfrm>
                <a:off x="6522244" y="1082675"/>
                <a:ext cx="157163" cy="139700"/>
              </a:xfrm>
              <a:custGeom>
                <a:avLst/>
                <a:gdLst/>
                <a:ahLst/>
                <a:cxnLst/>
                <a:rect l="l" t="t" r="r" b="b"/>
                <a:pathLst>
                  <a:path w="157163" h="139700">
                    <a:moveTo>
                      <a:pt x="0" y="26194"/>
                    </a:moveTo>
                    <a:cubicBezTo>
                      <a:pt x="0" y="11727"/>
                      <a:pt x="11727" y="0"/>
                      <a:pt x="26194" y="0"/>
                    </a:cubicBezTo>
                    <a:lnTo>
                      <a:pt x="130969" y="0"/>
                    </a:lnTo>
                    <a:cubicBezTo>
                      <a:pt x="145435" y="0"/>
                      <a:pt x="157163" y="11727"/>
                      <a:pt x="157163" y="26194"/>
                    </a:cubicBezTo>
                    <a:lnTo>
                      <a:pt x="157163" y="113506"/>
                    </a:lnTo>
                    <a:cubicBezTo>
                      <a:pt x="157163" y="127973"/>
                      <a:pt x="145435" y="139700"/>
                      <a:pt x="130969" y="139700"/>
                    </a:cubicBezTo>
                    <a:lnTo>
                      <a:pt x="26194" y="139700"/>
                    </a:lnTo>
                    <a:cubicBezTo>
                      <a:pt x="11727" y="139700"/>
                      <a:pt x="0" y="127973"/>
                      <a:pt x="0" y="113506"/>
                    </a:cubicBezTo>
                    <a:lnTo>
                      <a:pt x="0" y="26194"/>
                    </a:lnTo>
                  </a:path>
                </a:pathLst>
              </a:custGeom>
              <a:noFill/>
              <a:ln w="17463">
                <a:solidFill>
                  <a:srgbClr val="C83210"/>
                </a:solidFill>
              </a:ln>
            </p:spPr>
          </p:sp>
          <p:sp>
            <p:nvSpPr>
              <p:cNvPr id="68" name="Freeform 68"/>
              <p:cNvSpPr/>
              <p:nvPr/>
            </p:nvSpPr>
            <p:spPr>
              <a:xfrm>
                <a:off x="6557169" y="1117600"/>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83210"/>
                </a:solidFill>
              </a:ln>
            </p:spPr>
          </p:sp>
          <p:sp>
            <p:nvSpPr>
              <p:cNvPr id="69" name="Freeform 69"/>
              <p:cNvSpPr/>
              <p:nvPr/>
            </p:nvSpPr>
            <p:spPr>
              <a:xfrm>
                <a:off x="6627019" y="1117600"/>
                <a:ext cx="17463" cy="9525"/>
              </a:xfrm>
              <a:custGeom>
                <a:avLst/>
                <a:gdLst/>
                <a:ahLst/>
                <a:cxnLst/>
                <a:rect l="l" t="t" r="r" b="b"/>
                <a:pathLst>
                  <a:path w="17463" h="9525">
                    <a:moveTo>
                      <a:pt x="0" y="0"/>
                    </a:moveTo>
                    <a:lnTo>
                      <a:pt x="17463" y="0"/>
                    </a:lnTo>
                  </a:path>
                </a:pathLst>
              </a:custGeom>
              <a:noFill/>
              <a:ln w="17463">
                <a:solidFill>
                  <a:srgbClr val="C83210"/>
                </a:solidFill>
              </a:ln>
            </p:spPr>
          </p:sp>
          <p:sp>
            <p:nvSpPr>
              <p:cNvPr id="70" name="Freeform 70"/>
              <p:cNvSpPr/>
              <p:nvPr/>
            </p:nvSpPr>
            <p:spPr>
              <a:xfrm>
                <a:off x="6627019" y="1152525"/>
                <a:ext cx="17463" cy="9525"/>
              </a:xfrm>
              <a:custGeom>
                <a:avLst/>
                <a:gdLst/>
                <a:ahLst/>
                <a:cxnLst/>
                <a:rect l="l" t="t" r="r" b="b"/>
                <a:pathLst>
                  <a:path w="17463" h="9525">
                    <a:moveTo>
                      <a:pt x="0" y="0"/>
                    </a:moveTo>
                    <a:lnTo>
                      <a:pt x="17463" y="0"/>
                    </a:lnTo>
                  </a:path>
                </a:pathLst>
              </a:custGeom>
              <a:noFill/>
              <a:ln w="17463">
                <a:solidFill>
                  <a:srgbClr val="C83210"/>
                </a:solidFill>
              </a:ln>
            </p:spPr>
          </p:sp>
          <p:sp>
            <p:nvSpPr>
              <p:cNvPr id="71" name="Freeform 71"/>
              <p:cNvSpPr/>
              <p:nvPr/>
            </p:nvSpPr>
            <p:spPr>
              <a:xfrm>
                <a:off x="6557169" y="1187450"/>
                <a:ext cx="87313" cy="9525"/>
              </a:xfrm>
              <a:custGeom>
                <a:avLst/>
                <a:gdLst/>
                <a:ahLst/>
                <a:cxnLst/>
                <a:rect l="l" t="t" r="r" b="b"/>
                <a:pathLst>
                  <a:path w="87313" h="9525">
                    <a:moveTo>
                      <a:pt x="0" y="0"/>
                    </a:moveTo>
                    <a:lnTo>
                      <a:pt x="87313" y="0"/>
                    </a:lnTo>
                  </a:path>
                </a:pathLst>
              </a:custGeom>
              <a:noFill/>
              <a:ln w="17463">
                <a:solidFill>
                  <a:srgbClr val="C83210"/>
                </a:solidFill>
              </a:ln>
            </p:spPr>
          </p:sp>
        </p:grpSp>
        <p:sp>
          <p:nvSpPr>
            <p:cNvPr id="73" name="TextBox 73"/>
            <p:cNvSpPr txBox="1"/>
            <p:nvPr/>
          </p:nvSpPr>
          <p:spPr>
            <a:xfrm>
              <a:off x="6757988" y="1111091"/>
              <a:ext cx="671855"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客户经理名片</a:t>
              </a:r>
            </a:p>
          </p:txBody>
        </p:sp>
        <p:sp>
          <p:nvSpPr>
            <p:cNvPr id="74" name="TextBox 74"/>
            <p:cNvSpPr txBox="1"/>
            <p:nvPr/>
          </p:nvSpPr>
          <p:spPr>
            <a:xfrm>
              <a:off x="6491288" y="1393984"/>
              <a:ext cx="74185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电子名片一键添加</a:t>
              </a:r>
            </a:p>
          </p:txBody>
        </p:sp>
        <p:sp>
          <p:nvSpPr>
            <p:cNvPr id="75" name="TextBox 75"/>
            <p:cNvSpPr txBox="1"/>
            <p:nvPr/>
          </p:nvSpPr>
          <p:spPr>
            <a:xfrm>
              <a:off x="6491288" y="1546384"/>
              <a:ext cx="467233"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面对面推荐</a:t>
              </a:r>
            </a:p>
          </p:txBody>
        </p:sp>
        <p:sp>
          <p:nvSpPr>
            <p:cNvPr id="76" name="Rectangle 76"/>
            <p:cNvSpPr/>
            <p:nvPr/>
          </p:nvSpPr>
          <p:spPr>
            <a:xfrm>
              <a:off x="7467600" y="952500"/>
              <a:ext cx="1028700" cy="876300"/>
            </a:xfrm>
            <a:prstGeom prst="roundRect">
              <a:avLst>
                <a:gd name="adj" fmla="val 6522"/>
              </a:avLst>
            </a:prstGeom>
            <a:solidFill>
              <a:srgbClr val="FFFFFF"/>
            </a:solidFill>
            <a:ln w="9525">
              <a:solidFill>
                <a:srgbClr val="F1C7CC"/>
              </a:solidFill>
            </a:ln>
          </p:spPr>
        </p:sp>
        <p:grpSp>
          <p:nvGrpSpPr>
            <p:cNvPr id="89" name="Group 89"/>
            <p:cNvGrpSpPr/>
            <p:nvPr/>
          </p:nvGrpSpPr>
          <p:grpSpPr>
            <a:xfrm>
              <a:off x="7597775" y="1082675"/>
              <a:ext cx="149225" cy="149225"/>
              <a:chOff x="7597775" y="1082675"/>
              <a:chExt cx="149225" cy="149225"/>
            </a:xfrm>
          </p:grpSpPr>
          <p:sp>
            <p:nvSpPr>
              <p:cNvPr id="77" name="Freeform 77"/>
              <p:cNvSpPr/>
              <p:nvPr/>
            </p:nvSpPr>
            <p:spPr>
              <a:xfrm>
                <a:off x="7597775" y="1082675"/>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C83210"/>
                </a:solidFill>
              </a:ln>
            </p:spPr>
          </p:sp>
          <p:sp>
            <p:nvSpPr>
              <p:cNvPr id="78" name="Freeform 78"/>
              <p:cNvSpPr/>
              <p:nvPr/>
            </p:nvSpPr>
            <p:spPr>
              <a:xfrm>
                <a:off x="7623969" y="1196181"/>
                <a:ext cx="9525" cy="9525"/>
              </a:xfrm>
              <a:custGeom>
                <a:avLst/>
                <a:gdLst/>
                <a:ahLst/>
                <a:cxnLst/>
                <a:rect l="l" t="t" r="r" b="b"/>
                <a:pathLst>
                  <a:path w="9525" h="9525">
                    <a:moveTo>
                      <a:pt x="0" y="0"/>
                    </a:moveTo>
                    <a:lnTo>
                      <a:pt x="0" y="87"/>
                    </a:lnTo>
                  </a:path>
                </a:pathLst>
              </a:custGeom>
              <a:noFill/>
              <a:ln w="17463">
                <a:solidFill>
                  <a:srgbClr val="C83210"/>
                </a:solidFill>
              </a:ln>
            </p:spPr>
          </p:sp>
          <p:sp>
            <p:nvSpPr>
              <p:cNvPr id="79" name="Freeform 79"/>
              <p:cNvSpPr/>
              <p:nvPr/>
            </p:nvSpPr>
            <p:spPr>
              <a:xfrm>
                <a:off x="7685088" y="1082675"/>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C83210"/>
                </a:solidFill>
              </a:ln>
            </p:spPr>
          </p:sp>
          <p:sp>
            <p:nvSpPr>
              <p:cNvPr id="80" name="Freeform 80"/>
              <p:cNvSpPr/>
              <p:nvPr/>
            </p:nvSpPr>
            <p:spPr>
              <a:xfrm>
                <a:off x="7623969" y="1108869"/>
                <a:ext cx="9525" cy="9525"/>
              </a:xfrm>
              <a:custGeom>
                <a:avLst/>
                <a:gdLst/>
                <a:ahLst/>
                <a:cxnLst/>
                <a:rect l="l" t="t" r="r" b="b"/>
                <a:pathLst>
                  <a:path w="9525" h="9525">
                    <a:moveTo>
                      <a:pt x="0" y="0"/>
                    </a:moveTo>
                    <a:lnTo>
                      <a:pt x="0" y="87"/>
                    </a:lnTo>
                  </a:path>
                </a:pathLst>
              </a:custGeom>
              <a:noFill/>
              <a:ln w="17463">
                <a:solidFill>
                  <a:srgbClr val="C83210"/>
                </a:solidFill>
              </a:ln>
            </p:spPr>
          </p:sp>
          <p:sp>
            <p:nvSpPr>
              <p:cNvPr id="81" name="Freeform 81"/>
              <p:cNvSpPr/>
              <p:nvPr/>
            </p:nvSpPr>
            <p:spPr>
              <a:xfrm>
                <a:off x="7597775" y="1169988"/>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C83210"/>
                </a:solidFill>
              </a:ln>
            </p:spPr>
          </p:sp>
          <p:sp>
            <p:nvSpPr>
              <p:cNvPr id="82" name="Freeform 82"/>
              <p:cNvSpPr/>
              <p:nvPr/>
            </p:nvSpPr>
            <p:spPr>
              <a:xfrm>
                <a:off x="7711281" y="1108869"/>
                <a:ext cx="9525" cy="9525"/>
              </a:xfrm>
              <a:custGeom>
                <a:avLst/>
                <a:gdLst/>
                <a:ahLst/>
                <a:cxnLst/>
                <a:rect l="l" t="t" r="r" b="b"/>
                <a:pathLst>
                  <a:path w="9525" h="9525">
                    <a:moveTo>
                      <a:pt x="0" y="0"/>
                    </a:moveTo>
                    <a:lnTo>
                      <a:pt x="0" y="87"/>
                    </a:lnTo>
                  </a:path>
                </a:pathLst>
              </a:custGeom>
              <a:noFill/>
              <a:ln w="17463">
                <a:solidFill>
                  <a:srgbClr val="C83210"/>
                </a:solidFill>
              </a:ln>
            </p:spPr>
          </p:sp>
          <p:sp>
            <p:nvSpPr>
              <p:cNvPr id="83" name="Freeform 83"/>
              <p:cNvSpPr/>
              <p:nvPr/>
            </p:nvSpPr>
            <p:spPr>
              <a:xfrm>
                <a:off x="7685088" y="1169988"/>
                <a:ext cx="26194" cy="9525"/>
              </a:xfrm>
              <a:custGeom>
                <a:avLst/>
                <a:gdLst/>
                <a:ahLst/>
                <a:cxnLst/>
                <a:rect l="l" t="t" r="r" b="b"/>
                <a:pathLst>
                  <a:path w="26194" h="9525">
                    <a:moveTo>
                      <a:pt x="0" y="0"/>
                    </a:moveTo>
                    <a:lnTo>
                      <a:pt x="26194" y="0"/>
                    </a:lnTo>
                  </a:path>
                </a:pathLst>
              </a:custGeom>
              <a:noFill/>
              <a:ln w="17463">
                <a:solidFill>
                  <a:srgbClr val="C83210"/>
                </a:solidFill>
              </a:ln>
            </p:spPr>
          </p:sp>
          <p:sp>
            <p:nvSpPr>
              <p:cNvPr id="84" name="Freeform 84"/>
              <p:cNvSpPr/>
              <p:nvPr/>
            </p:nvSpPr>
            <p:spPr>
              <a:xfrm>
                <a:off x="7737475" y="1169988"/>
                <a:ext cx="9525" cy="9525"/>
              </a:xfrm>
              <a:custGeom>
                <a:avLst/>
                <a:gdLst/>
                <a:ahLst/>
                <a:cxnLst/>
                <a:rect l="l" t="t" r="r" b="b"/>
                <a:pathLst>
                  <a:path w="9525" h="9525">
                    <a:moveTo>
                      <a:pt x="0" y="0"/>
                    </a:moveTo>
                    <a:lnTo>
                      <a:pt x="0" y="87"/>
                    </a:lnTo>
                  </a:path>
                </a:pathLst>
              </a:custGeom>
              <a:noFill/>
              <a:ln w="17463">
                <a:solidFill>
                  <a:srgbClr val="C83210"/>
                </a:solidFill>
              </a:ln>
            </p:spPr>
          </p:sp>
          <p:sp>
            <p:nvSpPr>
              <p:cNvPr id="85" name="Freeform 85"/>
              <p:cNvSpPr/>
              <p:nvPr/>
            </p:nvSpPr>
            <p:spPr>
              <a:xfrm>
                <a:off x="7685088" y="1169988"/>
                <a:ext cx="9525" cy="26194"/>
              </a:xfrm>
              <a:custGeom>
                <a:avLst/>
                <a:gdLst/>
                <a:ahLst/>
                <a:cxnLst/>
                <a:rect l="l" t="t" r="r" b="b"/>
                <a:pathLst>
                  <a:path w="9525" h="26194">
                    <a:moveTo>
                      <a:pt x="0" y="0"/>
                    </a:moveTo>
                    <a:lnTo>
                      <a:pt x="0" y="26194"/>
                    </a:lnTo>
                  </a:path>
                </a:pathLst>
              </a:custGeom>
              <a:noFill/>
              <a:ln w="17463">
                <a:solidFill>
                  <a:srgbClr val="C83210"/>
                </a:solidFill>
              </a:ln>
            </p:spPr>
          </p:sp>
          <p:sp>
            <p:nvSpPr>
              <p:cNvPr id="86" name="Freeform 86"/>
              <p:cNvSpPr/>
              <p:nvPr/>
            </p:nvSpPr>
            <p:spPr>
              <a:xfrm>
                <a:off x="7685088" y="1222375"/>
                <a:ext cx="26194" cy="9525"/>
              </a:xfrm>
              <a:custGeom>
                <a:avLst/>
                <a:gdLst/>
                <a:ahLst/>
                <a:cxnLst/>
                <a:rect l="l" t="t" r="r" b="b"/>
                <a:pathLst>
                  <a:path w="26194" h="9525">
                    <a:moveTo>
                      <a:pt x="0" y="0"/>
                    </a:moveTo>
                    <a:lnTo>
                      <a:pt x="26194" y="0"/>
                    </a:lnTo>
                  </a:path>
                </a:pathLst>
              </a:custGeom>
              <a:noFill/>
              <a:ln w="17463">
                <a:solidFill>
                  <a:srgbClr val="C83210"/>
                </a:solidFill>
              </a:ln>
            </p:spPr>
          </p:sp>
          <p:sp>
            <p:nvSpPr>
              <p:cNvPr id="87" name="Freeform 87"/>
              <p:cNvSpPr/>
              <p:nvPr/>
            </p:nvSpPr>
            <p:spPr>
              <a:xfrm>
                <a:off x="7711281" y="1196181"/>
                <a:ext cx="26194" cy="9525"/>
              </a:xfrm>
              <a:custGeom>
                <a:avLst/>
                <a:gdLst/>
                <a:ahLst/>
                <a:cxnLst/>
                <a:rect l="l" t="t" r="r" b="b"/>
                <a:pathLst>
                  <a:path w="26194" h="9525">
                    <a:moveTo>
                      <a:pt x="0" y="0"/>
                    </a:moveTo>
                    <a:lnTo>
                      <a:pt x="26194" y="0"/>
                    </a:lnTo>
                  </a:path>
                </a:pathLst>
              </a:custGeom>
              <a:noFill/>
              <a:ln w="17463">
                <a:solidFill>
                  <a:srgbClr val="C83210"/>
                </a:solidFill>
              </a:ln>
            </p:spPr>
          </p:sp>
          <p:sp>
            <p:nvSpPr>
              <p:cNvPr id="88" name="Freeform 88"/>
              <p:cNvSpPr/>
              <p:nvPr/>
            </p:nvSpPr>
            <p:spPr>
              <a:xfrm>
                <a:off x="7737475" y="1196181"/>
                <a:ext cx="9525" cy="26194"/>
              </a:xfrm>
              <a:custGeom>
                <a:avLst/>
                <a:gdLst/>
                <a:ahLst/>
                <a:cxnLst/>
                <a:rect l="l" t="t" r="r" b="b"/>
                <a:pathLst>
                  <a:path w="9525" h="26194">
                    <a:moveTo>
                      <a:pt x="0" y="0"/>
                    </a:moveTo>
                    <a:lnTo>
                      <a:pt x="0" y="26194"/>
                    </a:lnTo>
                  </a:path>
                </a:pathLst>
              </a:custGeom>
              <a:noFill/>
              <a:ln w="17463">
                <a:solidFill>
                  <a:srgbClr val="C83210"/>
                </a:solidFill>
              </a:ln>
            </p:spPr>
          </p:sp>
        </p:grpSp>
        <p:sp>
          <p:nvSpPr>
            <p:cNvPr id="90" name="TextBox 90"/>
            <p:cNvSpPr txBox="1"/>
            <p:nvPr/>
          </p:nvSpPr>
          <p:spPr>
            <a:xfrm>
              <a:off x="7824788" y="1111091"/>
              <a:ext cx="561467"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活动二维码</a:t>
              </a:r>
            </a:p>
          </p:txBody>
        </p:sp>
        <p:sp>
          <p:nvSpPr>
            <p:cNvPr id="91" name="TextBox 91"/>
            <p:cNvSpPr txBox="1"/>
            <p:nvPr/>
          </p:nvSpPr>
          <p:spPr>
            <a:xfrm>
              <a:off x="7558088" y="1393984"/>
              <a:ext cx="79220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厅堂活动/社区活动</a:t>
              </a:r>
            </a:p>
          </p:txBody>
        </p:sp>
        <p:sp>
          <p:nvSpPr>
            <p:cNvPr id="92" name="TextBox 92"/>
            <p:cNvSpPr txBox="1"/>
            <p:nvPr/>
          </p:nvSpPr>
          <p:spPr>
            <a:xfrm>
              <a:off x="7558088" y="1546384"/>
              <a:ext cx="375691"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扫码添加</a:t>
              </a:r>
            </a:p>
          </p:txBody>
        </p:sp>
        <p:sp>
          <p:nvSpPr>
            <p:cNvPr id="93" name="Rectangle 93"/>
            <p:cNvSpPr/>
            <p:nvPr/>
          </p:nvSpPr>
          <p:spPr>
            <a:xfrm>
              <a:off x="5334000" y="1905000"/>
              <a:ext cx="1028700" cy="876300"/>
            </a:xfrm>
            <a:prstGeom prst="roundRect">
              <a:avLst>
                <a:gd name="adj" fmla="val 6522"/>
              </a:avLst>
            </a:prstGeom>
            <a:solidFill>
              <a:srgbClr val="FFFFFF"/>
            </a:solidFill>
            <a:ln w="9525">
              <a:solidFill>
                <a:srgbClr val="F1C7CC"/>
              </a:solidFill>
            </a:ln>
          </p:spPr>
        </p:sp>
        <p:grpSp>
          <p:nvGrpSpPr>
            <p:cNvPr id="96" name="Group 96"/>
            <p:cNvGrpSpPr/>
            <p:nvPr/>
          </p:nvGrpSpPr>
          <p:grpSpPr>
            <a:xfrm>
              <a:off x="5455444" y="2043906"/>
              <a:ext cx="157163" cy="122238"/>
              <a:chOff x="5455444" y="2043906"/>
              <a:chExt cx="157163" cy="122238"/>
            </a:xfrm>
          </p:grpSpPr>
          <p:sp>
            <p:nvSpPr>
              <p:cNvPr id="94" name="Freeform 94"/>
              <p:cNvSpPr/>
              <p:nvPr/>
            </p:nvSpPr>
            <p:spPr>
              <a:xfrm>
                <a:off x="5455444" y="2043906"/>
                <a:ext cx="157163" cy="122238"/>
              </a:xfrm>
              <a:custGeom>
                <a:avLst/>
                <a:gdLst/>
                <a:ahLst/>
                <a:cxnLst/>
                <a:rect l="l" t="t" r="r" b="b"/>
                <a:pathLst>
                  <a:path w="157163" h="122238">
                    <a:moveTo>
                      <a:pt x="0" y="17463"/>
                    </a:moveTo>
                    <a:cubicBezTo>
                      <a:pt x="0" y="7818"/>
                      <a:pt x="7818" y="0"/>
                      <a:pt x="17463" y="0"/>
                    </a:cubicBezTo>
                    <a:lnTo>
                      <a:pt x="139700" y="0"/>
                    </a:lnTo>
                    <a:cubicBezTo>
                      <a:pt x="149344" y="0"/>
                      <a:pt x="157163" y="7818"/>
                      <a:pt x="157163" y="17463"/>
                    </a:cubicBezTo>
                    <a:lnTo>
                      <a:pt x="157163" y="104775"/>
                    </a:lnTo>
                    <a:cubicBezTo>
                      <a:pt x="157163" y="114419"/>
                      <a:pt x="149344" y="122238"/>
                      <a:pt x="139700" y="122238"/>
                    </a:cubicBezTo>
                    <a:lnTo>
                      <a:pt x="17463" y="122238"/>
                    </a:lnTo>
                    <a:cubicBezTo>
                      <a:pt x="7818" y="122238"/>
                      <a:pt x="0" y="114419"/>
                      <a:pt x="0" y="104775"/>
                    </a:cubicBezTo>
                    <a:lnTo>
                      <a:pt x="0" y="17463"/>
                    </a:lnTo>
                  </a:path>
                </a:pathLst>
              </a:custGeom>
              <a:noFill/>
              <a:ln w="17463">
                <a:solidFill>
                  <a:srgbClr val="C83210"/>
                </a:solidFill>
              </a:ln>
            </p:spPr>
          </p:sp>
          <p:sp>
            <p:nvSpPr>
              <p:cNvPr id="95" name="Freeform 95"/>
              <p:cNvSpPr/>
              <p:nvPr/>
            </p:nvSpPr>
            <p:spPr>
              <a:xfrm>
                <a:off x="5455444" y="2061369"/>
                <a:ext cx="157163" cy="52388"/>
              </a:xfrm>
              <a:custGeom>
                <a:avLst/>
                <a:gdLst/>
                <a:ahLst/>
                <a:cxnLst/>
                <a:rect l="l" t="t" r="r" b="b"/>
                <a:pathLst>
                  <a:path w="157163" h="52388">
                    <a:moveTo>
                      <a:pt x="0" y="0"/>
                    </a:moveTo>
                    <a:lnTo>
                      <a:pt x="78581" y="52388"/>
                    </a:lnTo>
                    <a:lnTo>
                      <a:pt x="157163" y="0"/>
                    </a:lnTo>
                  </a:path>
                </a:pathLst>
              </a:custGeom>
              <a:noFill/>
              <a:ln w="17463">
                <a:solidFill>
                  <a:srgbClr val="C83210"/>
                </a:solidFill>
              </a:ln>
            </p:spPr>
          </p:sp>
        </p:grpSp>
        <p:sp>
          <p:nvSpPr>
            <p:cNvPr id="97" name="TextBox 97"/>
            <p:cNvSpPr txBox="1"/>
            <p:nvPr/>
          </p:nvSpPr>
          <p:spPr>
            <a:xfrm>
              <a:off x="5691188" y="2063591"/>
              <a:ext cx="451079"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短信链接</a:t>
              </a:r>
            </a:p>
          </p:txBody>
        </p:sp>
        <p:sp>
          <p:nvSpPr>
            <p:cNvPr id="98" name="TextBox 98"/>
            <p:cNvSpPr txBox="1"/>
            <p:nvPr/>
          </p:nvSpPr>
          <p:spPr>
            <a:xfrm>
              <a:off x="5424488" y="2346484"/>
              <a:ext cx="65031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业务办理后短信</a:t>
              </a:r>
            </a:p>
          </p:txBody>
        </p:sp>
        <p:sp>
          <p:nvSpPr>
            <p:cNvPr id="99" name="TextBox 99"/>
            <p:cNvSpPr txBox="1"/>
            <p:nvPr/>
          </p:nvSpPr>
          <p:spPr>
            <a:xfrm>
              <a:off x="5424488" y="2498884"/>
              <a:ext cx="375691"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引导添加</a:t>
              </a:r>
            </a:p>
          </p:txBody>
        </p:sp>
        <p:sp>
          <p:nvSpPr>
            <p:cNvPr id="100" name="Rectangle 100"/>
            <p:cNvSpPr/>
            <p:nvPr/>
          </p:nvSpPr>
          <p:spPr>
            <a:xfrm>
              <a:off x="6400800" y="1905000"/>
              <a:ext cx="1028700" cy="876300"/>
            </a:xfrm>
            <a:prstGeom prst="roundRect">
              <a:avLst>
                <a:gd name="adj" fmla="val 6522"/>
              </a:avLst>
            </a:prstGeom>
            <a:solidFill>
              <a:srgbClr val="FFFFFF"/>
            </a:solidFill>
            <a:ln w="9525">
              <a:solidFill>
                <a:srgbClr val="F1C7CC"/>
              </a:solidFill>
            </a:ln>
          </p:spPr>
        </p:sp>
        <p:grpSp>
          <p:nvGrpSpPr>
            <p:cNvPr id="104" name="Group 104"/>
            <p:cNvGrpSpPr/>
            <p:nvPr/>
          </p:nvGrpSpPr>
          <p:grpSpPr>
            <a:xfrm>
              <a:off x="6548438" y="2026444"/>
              <a:ext cx="104775" cy="157163"/>
              <a:chOff x="6548438" y="2026444"/>
              <a:chExt cx="104775" cy="157163"/>
            </a:xfrm>
          </p:grpSpPr>
          <p:sp>
            <p:nvSpPr>
              <p:cNvPr id="101" name="Freeform 101"/>
              <p:cNvSpPr/>
              <p:nvPr/>
            </p:nvSpPr>
            <p:spPr>
              <a:xfrm>
                <a:off x="6548438" y="2026444"/>
                <a:ext cx="104775" cy="157163"/>
              </a:xfrm>
              <a:custGeom>
                <a:avLst/>
                <a:gdLst/>
                <a:ahLst/>
                <a:cxnLst/>
                <a:rect l="l" t="t" r="r" b="b"/>
                <a:pathLst>
                  <a:path w="104775" h="157163">
                    <a:moveTo>
                      <a:pt x="0" y="17463"/>
                    </a:moveTo>
                    <a:cubicBezTo>
                      <a:pt x="0" y="7818"/>
                      <a:pt x="7818" y="0"/>
                      <a:pt x="17463" y="0"/>
                    </a:cubicBezTo>
                    <a:lnTo>
                      <a:pt x="87313" y="0"/>
                    </a:lnTo>
                    <a:cubicBezTo>
                      <a:pt x="96957" y="0"/>
                      <a:pt x="104775" y="7818"/>
                      <a:pt x="104775" y="17463"/>
                    </a:cubicBezTo>
                    <a:lnTo>
                      <a:pt x="104775" y="139700"/>
                    </a:lnTo>
                    <a:cubicBezTo>
                      <a:pt x="104775" y="149344"/>
                      <a:pt x="96957" y="157163"/>
                      <a:pt x="87313" y="157163"/>
                    </a:cubicBezTo>
                    <a:lnTo>
                      <a:pt x="17463" y="157163"/>
                    </a:lnTo>
                    <a:cubicBezTo>
                      <a:pt x="7818" y="157163"/>
                      <a:pt x="0" y="149344"/>
                      <a:pt x="0" y="139700"/>
                    </a:cubicBezTo>
                    <a:lnTo>
                      <a:pt x="0" y="17463"/>
                    </a:lnTo>
                  </a:path>
                </a:pathLst>
              </a:custGeom>
              <a:noFill/>
              <a:ln w="17463">
                <a:solidFill>
                  <a:srgbClr val="C83210"/>
                </a:solidFill>
              </a:ln>
            </p:spPr>
          </p:sp>
          <p:sp>
            <p:nvSpPr>
              <p:cNvPr id="102" name="Freeform 102"/>
              <p:cNvSpPr/>
              <p:nvPr/>
            </p:nvSpPr>
            <p:spPr>
              <a:xfrm>
                <a:off x="6592094" y="2035175"/>
                <a:ext cx="17463" cy="9525"/>
              </a:xfrm>
              <a:custGeom>
                <a:avLst/>
                <a:gdLst/>
                <a:ahLst/>
                <a:cxnLst/>
                <a:rect l="l" t="t" r="r" b="b"/>
                <a:pathLst>
                  <a:path w="17463" h="9525">
                    <a:moveTo>
                      <a:pt x="0" y="0"/>
                    </a:moveTo>
                    <a:lnTo>
                      <a:pt x="17463" y="0"/>
                    </a:lnTo>
                  </a:path>
                </a:pathLst>
              </a:custGeom>
              <a:noFill/>
              <a:ln w="17463">
                <a:solidFill>
                  <a:srgbClr val="C83210"/>
                </a:solidFill>
              </a:ln>
            </p:spPr>
          </p:sp>
          <p:sp>
            <p:nvSpPr>
              <p:cNvPr id="103" name="Freeform 103"/>
              <p:cNvSpPr/>
              <p:nvPr/>
            </p:nvSpPr>
            <p:spPr>
              <a:xfrm>
                <a:off x="6600825" y="2148681"/>
                <a:ext cx="9525" cy="9525"/>
              </a:xfrm>
              <a:custGeom>
                <a:avLst/>
                <a:gdLst/>
                <a:ahLst/>
                <a:cxnLst/>
                <a:rect l="l" t="t" r="r" b="b"/>
                <a:pathLst>
                  <a:path w="9525" h="9525">
                    <a:moveTo>
                      <a:pt x="0" y="0"/>
                    </a:moveTo>
                    <a:lnTo>
                      <a:pt x="0" y="87"/>
                    </a:lnTo>
                  </a:path>
                </a:pathLst>
              </a:custGeom>
              <a:noFill/>
              <a:ln w="17463">
                <a:solidFill>
                  <a:srgbClr val="C83210"/>
                </a:solidFill>
              </a:ln>
            </p:spPr>
          </p:sp>
        </p:grpSp>
        <p:sp>
          <p:nvSpPr>
            <p:cNvPr id="105" name="TextBox 105"/>
            <p:cNvSpPr txBox="1"/>
            <p:nvPr/>
          </p:nvSpPr>
          <p:spPr>
            <a:xfrm>
              <a:off x="6757988" y="2063591"/>
              <a:ext cx="451079"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手机银行</a:t>
              </a:r>
            </a:p>
          </p:txBody>
        </p:sp>
        <p:sp>
          <p:nvSpPr>
            <p:cNvPr id="106" name="TextBox 106"/>
            <p:cNvSpPr txBox="1"/>
            <p:nvPr/>
          </p:nvSpPr>
          <p:spPr>
            <a:xfrm>
              <a:off x="6491288" y="2346484"/>
              <a:ext cx="75231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Arial"/>
                  <a:ea typeface="Microsoft YaHei"/>
                  <a:cs typeface="Arial"/>
                </a:rPr>
                <a:t xml:space="preserve">APP内引导添加　</a:t>
              </a:r>
            </a:p>
          </p:txBody>
        </p:sp>
        <p:sp>
          <p:nvSpPr>
            <p:cNvPr id="107" name="TextBox 107"/>
            <p:cNvSpPr txBox="1"/>
            <p:nvPr/>
          </p:nvSpPr>
          <p:spPr>
            <a:xfrm>
              <a:off x="6491288" y="2498884"/>
              <a:ext cx="558775"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专属客户经理</a:t>
              </a:r>
            </a:p>
          </p:txBody>
        </p:sp>
        <p:sp>
          <p:nvSpPr>
            <p:cNvPr id="108" name="Rectangle 108"/>
            <p:cNvSpPr/>
            <p:nvPr/>
          </p:nvSpPr>
          <p:spPr>
            <a:xfrm>
              <a:off x="7467600" y="1905000"/>
              <a:ext cx="1028700" cy="876300"/>
            </a:xfrm>
            <a:prstGeom prst="roundRect">
              <a:avLst>
                <a:gd name="adj" fmla="val 6522"/>
              </a:avLst>
            </a:prstGeom>
            <a:solidFill>
              <a:srgbClr val="FFFFFF"/>
            </a:solidFill>
            <a:ln w="9525">
              <a:solidFill>
                <a:srgbClr val="F1C7CC"/>
              </a:solidFill>
            </a:ln>
          </p:spPr>
        </p:sp>
        <p:grpSp>
          <p:nvGrpSpPr>
            <p:cNvPr id="113" name="Group 113"/>
            <p:cNvGrpSpPr/>
            <p:nvPr/>
          </p:nvGrpSpPr>
          <p:grpSpPr>
            <a:xfrm>
              <a:off x="7589044" y="2026143"/>
              <a:ext cx="157163" cy="157463"/>
              <a:chOff x="7589044" y="2026143"/>
              <a:chExt cx="157163" cy="157463"/>
            </a:xfrm>
          </p:grpSpPr>
          <p:sp>
            <p:nvSpPr>
              <p:cNvPr id="109" name="Freeform 109"/>
              <p:cNvSpPr/>
              <p:nvPr/>
            </p:nvSpPr>
            <p:spPr>
              <a:xfrm>
                <a:off x="7589044" y="2070100"/>
                <a:ext cx="157163" cy="34925"/>
              </a:xfrm>
              <a:custGeom>
                <a:avLst/>
                <a:gdLst/>
                <a:ahLst/>
                <a:cxnLst/>
                <a:rect l="l" t="t" r="r" b="b"/>
                <a:pathLst>
                  <a:path w="157163" h="34925">
                    <a:moveTo>
                      <a:pt x="0" y="8731"/>
                    </a:moveTo>
                    <a:cubicBezTo>
                      <a:pt x="0" y="3909"/>
                      <a:pt x="3909" y="0"/>
                      <a:pt x="8731" y="0"/>
                    </a:cubicBezTo>
                    <a:lnTo>
                      <a:pt x="148431" y="0"/>
                    </a:lnTo>
                    <a:cubicBezTo>
                      <a:pt x="153253" y="0"/>
                      <a:pt x="157163" y="3909"/>
                      <a:pt x="157163" y="8731"/>
                    </a:cubicBezTo>
                    <a:lnTo>
                      <a:pt x="157163" y="26194"/>
                    </a:lnTo>
                    <a:cubicBezTo>
                      <a:pt x="157163" y="31016"/>
                      <a:pt x="153253" y="34925"/>
                      <a:pt x="148431" y="34925"/>
                    </a:cubicBezTo>
                    <a:lnTo>
                      <a:pt x="8731" y="34925"/>
                    </a:lnTo>
                    <a:cubicBezTo>
                      <a:pt x="3909" y="34925"/>
                      <a:pt x="0" y="31016"/>
                      <a:pt x="0" y="26194"/>
                    </a:cubicBezTo>
                    <a:lnTo>
                      <a:pt x="0" y="8731"/>
                    </a:lnTo>
                  </a:path>
                </a:pathLst>
              </a:custGeom>
              <a:noFill/>
              <a:ln w="17463">
                <a:solidFill>
                  <a:srgbClr val="C83210"/>
                </a:solidFill>
              </a:ln>
            </p:spPr>
          </p:sp>
          <p:sp>
            <p:nvSpPr>
              <p:cNvPr id="110" name="Freeform 110"/>
              <p:cNvSpPr/>
              <p:nvPr/>
            </p:nvSpPr>
            <p:spPr>
              <a:xfrm>
                <a:off x="7667625" y="2070100"/>
                <a:ext cx="9525" cy="113506"/>
              </a:xfrm>
              <a:custGeom>
                <a:avLst/>
                <a:gdLst/>
                <a:ahLst/>
                <a:cxnLst/>
                <a:rect l="l" t="t" r="r" b="b"/>
                <a:pathLst>
                  <a:path w="9525" h="113506">
                    <a:moveTo>
                      <a:pt x="0" y="0"/>
                    </a:moveTo>
                    <a:lnTo>
                      <a:pt x="0" y="113506"/>
                    </a:lnTo>
                  </a:path>
                </a:pathLst>
              </a:custGeom>
              <a:noFill/>
              <a:ln w="17463">
                <a:solidFill>
                  <a:srgbClr val="C83210"/>
                </a:solidFill>
              </a:ln>
            </p:spPr>
          </p:sp>
          <p:sp>
            <p:nvSpPr>
              <p:cNvPr id="111" name="Freeform 111"/>
              <p:cNvSpPr/>
              <p:nvPr/>
            </p:nvSpPr>
            <p:spPr>
              <a:xfrm>
                <a:off x="7606506" y="2105025"/>
                <a:ext cx="122238" cy="78581"/>
              </a:xfrm>
              <a:custGeom>
                <a:avLst/>
                <a:gdLst/>
                <a:ahLst/>
                <a:cxnLst/>
                <a:rect l="l" t="t" r="r" b="b"/>
                <a:pathLst>
                  <a:path w="122238" h="78581">
                    <a:moveTo>
                      <a:pt x="122238" y="0"/>
                    </a:moveTo>
                    <a:lnTo>
                      <a:pt x="122238" y="61119"/>
                    </a:lnTo>
                    <a:cubicBezTo>
                      <a:pt x="122238" y="70763"/>
                      <a:pt x="114419" y="78581"/>
                      <a:pt x="104775" y="78581"/>
                    </a:cubicBezTo>
                    <a:lnTo>
                      <a:pt x="17463" y="78581"/>
                    </a:lnTo>
                    <a:cubicBezTo>
                      <a:pt x="7818" y="78581"/>
                      <a:pt x="0" y="70763"/>
                      <a:pt x="0" y="61119"/>
                    </a:cubicBezTo>
                    <a:lnTo>
                      <a:pt x="0" y="0"/>
                    </a:lnTo>
                  </a:path>
                </a:pathLst>
              </a:custGeom>
              <a:noFill/>
              <a:ln w="17463">
                <a:solidFill>
                  <a:srgbClr val="C83210"/>
                </a:solidFill>
              </a:ln>
            </p:spPr>
          </p:sp>
          <p:sp>
            <p:nvSpPr>
              <p:cNvPr id="112" name="Freeform 112"/>
              <p:cNvSpPr/>
              <p:nvPr/>
            </p:nvSpPr>
            <p:spPr>
              <a:xfrm>
                <a:off x="7606506" y="2026143"/>
                <a:ext cx="122238" cy="43957"/>
              </a:xfrm>
              <a:custGeom>
                <a:avLst/>
                <a:gdLst/>
                <a:ahLst/>
                <a:cxnLst/>
                <a:rect l="l" t="t" r="r" b="b"/>
                <a:pathLst>
                  <a:path w="122238" h="43957">
                    <a:moveTo>
                      <a:pt x="21828" y="43957"/>
                    </a:moveTo>
                    <a:cubicBezTo>
                      <a:pt x="9773" y="43957"/>
                      <a:pt x="0" y="34184"/>
                      <a:pt x="0" y="22128"/>
                    </a:cubicBezTo>
                    <a:cubicBezTo>
                      <a:pt x="0" y="10073"/>
                      <a:pt x="9773" y="300"/>
                      <a:pt x="21828" y="300"/>
                    </a:cubicBezTo>
                    <a:cubicBezTo>
                      <a:pt x="39066" y="0"/>
                      <a:pt x="54655" y="17322"/>
                      <a:pt x="61119" y="43957"/>
                    </a:cubicBezTo>
                    <a:cubicBezTo>
                      <a:pt x="67582" y="17322"/>
                      <a:pt x="83172" y="0"/>
                      <a:pt x="100409" y="300"/>
                    </a:cubicBezTo>
                    <a:cubicBezTo>
                      <a:pt x="112465" y="300"/>
                      <a:pt x="122238" y="10073"/>
                      <a:pt x="122238" y="22128"/>
                    </a:cubicBezTo>
                    <a:cubicBezTo>
                      <a:pt x="122238" y="34184"/>
                      <a:pt x="112465" y="43957"/>
                      <a:pt x="100409" y="43957"/>
                    </a:cubicBezTo>
                  </a:path>
                </a:pathLst>
              </a:custGeom>
              <a:noFill/>
              <a:ln w="17463">
                <a:solidFill>
                  <a:srgbClr val="C83210"/>
                </a:solidFill>
              </a:ln>
            </p:spPr>
          </p:sp>
        </p:grpSp>
        <p:sp>
          <p:nvSpPr>
            <p:cNvPr id="114" name="TextBox 114"/>
            <p:cNvSpPr txBox="1"/>
            <p:nvPr/>
          </p:nvSpPr>
          <p:spPr>
            <a:xfrm>
              <a:off x="7824788" y="2063591"/>
              <a:ext cx="451079"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权益领取</a:t>
              </a:r>
            </a:p>
          </p:txBody>
        </p:sp>
        <p:sp>
          <p:nvSpPr>
            <p:cNvPr id="115" name="TextBox 115"/>
            <p:cNvSpPr txBox="1"/>
            <p:nvPr/>
          </p:nvSpPr>
          <p:spPr>
            <a:xfrm>
              <a:off x="7558088" y="2346484"/>
              <a:ext cx="467233"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领取权益后</a:t>
              </a:r>
            </a:p>
          </p:txBody>
        </p:sp>
        <p:sp>
          <p:nvSpPr>
            <p:cNvPr id="116" name="TextBox 116"/>
            <p:cNvSpPr txBox="1"/>
            <p:nvPr/>
          </p:nvSpPr>
          <p:spPr>
            <a:xfrm>
              <a:off x="7558088" y="2498884"/>
              <a:ext cx="558775"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引导添加企微</a:t>
              </a:r>
            </a:p>
          </p:txBody>
        </p:sp>
      </p:grpSp>
      <p:grpSp>
        <p:nvGrpSpPr>
          <p:cNvPr id="167" name="zone-board"/>
          <p:cNvGrpSpPr/>
          <p:nvPr/>
        </p:nvGrpSpPr>
        <p:grpSpPr>
          <a:xfrm>
            <a:off x="8686800" y="647700"/>
            <a:ext cx="3333750" cy="2171700"/>
            <a:chOff x="8686800" y="647700"/>
            <a:chExt cx="3333750" cy="2171700"/>
          </a:xfrm>
        </p:grpSpPr>
        <p:sp>
          <p:nvSpPr>
            <p:cNvPr id="118" name="Rectangle 118"/>
            <p:cNvSpPr/>
            <p:nvPr/>
          </p:nvSpPr>
          <p:spPr>
            <a:xfrm>
              <a:off x="8686800" y="647700"/>
              <a:ext cx="3333750" cy="2171700"/>
            </a:xfrm>
            <a:prstGeom prst="roundRect">
              <a:avLst>
                <a:gd name="adj" fmla="val 2632"/>
              </a:avLst>
            </a:prstGeom>
            <a:solidFill>
              <a:srgbClr val="FDF5F6"/>
            </a:solidFill>
            <a:ln>
              <a:noFill/>
            </a:ln>
          </p:spPr>
        </p:sp>
        <p:sp>
          <p:nvSpPr>
            <p:cNvPr id="119" name="Rectangle 119"/>
            <p:cNvSpPr/>
            <p:nvPr/>
          </p:nvSpPr>
          <p:spPr>
            <a:xfrm>
              <a:off x="8686800" y="647700"/>
              <a:ext cx="3333750" cy="228600"/>
            </a:xfrm>
            <a:prstGeom prst="roundRect">
              <a:avLst>
                <a:gd name="adj" fmla="val 25000"/>
              </a:avLst>
            </a:prstGeom>
            <a:solidFill>
              <a:srgbClr val="C83210"/>
            </a:solidFill>
            <a:ln>
              <a:noFill/>
            </a:ln>
          </p:spPr>
        </p:sp>
        <p:sp>
          <p:nvSpPr>
            <p:cNvPr id="120" name="TextBox 120"/>
            <p:cNvSpPr txBox="1"/>
            <p:nvPr/>
          </p:nvSpPr>
          <p:spPr>
            <a:xfrm>
              <a:off x="8777288" y="712470"/>
              <a:ext cx="2087990"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 xml:space="preserve">三、各网点认证转化看板（近30天）　</a:t>
              </a:r>
            </a:p>
          </p:txBody>
        </p:sp>
        <p:sp>
          <p:nvSpPr>
            <p:cNvPr id="121" name="Rectangle 121"/>
            <p:cNvSpPr/>
            <p:nvPr/>
          </p:nvSpPr>
          <p:spPr>
            <a:xfrm>
              <a:off x="8743950" y="933450"/>
              <a:ext cx="3219450" cy="209550"/>
            </a:xfrm>
            <a:prstGeom prst="rect">
              <a:avLst/>
            </a:prstGeom>
            <a:solidFill>
              <a:srgbClr val="C83210"/>
            </a:solidFill>
            <a:ln>
              <a:noFill/>
            </a:ln>
          </p:spPr>
        </p:sp>
        <p:sp>
          <p:nvSpPr>
            <p:cNvPr id="122" name="TextBox 122"/>
            <p:cNvSpPr txBox="1"/>
            <p:nvPr/>
          </p:nvSpPr>
          <p:spPr>
            <a:xfrm>
              <a:off x="8996032" y="99941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网点</a:t>
              </a:r>
            </a:p>
          </p:txBody>
        </p:sp>
        <p:sp>
          <p:nvSpPr>
            <p:cNvPr id="123" name="TextBox 123"/>
            <p:cNvSpPr txBox="1"/>
            <p:nvPr/>
          </p:nvSpPr>
          <p:spPr>
            <a:xfrm>
              <a:off x="9519577" y="9994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认证新增</a:t>
              </a:r>
            </a:p>
          </p:txBody>
        </p:sp>
        <p:sp>
          <p:nvSpPr>
            <p:cNvPr id="124" name="TextBox 124"/>
            <p:cNvSpPr txBox="1"/>
            <p:nvPr/>
          </p:nvSpPr>
          <p:spPr>
            <a:xfrm>
              <a:off x="10072192" y="99941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认证率</a:t>
              </a:r>
            </a:p>
          </p:txBody>
        </p:sp>
        <p:sp>
          <p:nvSpPr>
            <p:cNvPr id="125" name="TextBox 125"/>
            <p:cNvSpPr txBox="1"/>
            <p:nvPr/>
          </p:nvSpPr>
          <p:spPr>
            <a:xfrm>
              <a:off x="10497768" y="1003459"/>
              <a:ext cx="569064"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Microsoft YaHei"/>
                  <a:cs typeface="Arial"/>
                </a:rPr>
                <a:t>24小时完成率</a:t>
              </a:r>
            </a:p>
          </p:txBody>
        </p:sp>
        <p:sp>
          <p:nvSpPr>
            <p:cNvPr id="126" name="TextBox 126"/>
            <p:cNvSpPr txBox="1"/>
            <p:nvPr/>
          </p:nvSpPr>
          <p:spPr>
            <a:xfrm>
              <a:off x="11220618" y="1003459"/>
              <a:ext cx="62831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Microsoft YaHei"/>
                  <a:cs typeface="Arial"/>
                </a:rPr>
                <a:t>失败原因TOP3</a:t>
              </a:r>
            </a:p>
          </p:txBody>
        </p:sp>
        <p:sp>
          <p:nvSpPr>
            <p:cNvPr id="127" name="Rectangle 127"/>
            <p:cNvSpPr/>
            <p:nvPr/>
          </p:nvSpPr>
          <p:spPr>
            <a:xfrm>
              <a:off x="8743950" y="1143000"/>
              <a:ext cx="3219450" cy="323850"/>
            </a:xfrm>
            <a:prstGeom prst="rect">
              <a:avLst/>
            </a:prstGeom>
            <a:solidFill>
              <a:srgbClr val="FFFFFF"/>
            </a:solidFill>
            <a:ln>
              <a:noFill/>
            </a:ln>
          </p:spPr>
        </p:sp>
        <p:sp>
          <p:nvSpPr>
            <p:cNvPr id="128" name="Rectangle 128"/>
            <p:cNvSpPr/>
            <p:nvPr/>
          </p:nvSpPr>
          <p:spPr>
            <a:xfrm>
              <a:off x="8743950" y="1466850"/>
              <a:ext cx="3219450" cy="323850"/>
            </a:xfrm>
            <a:prstGeom prst="rect">
              <a:avLst/>
            </a:prstGeom>
            <a:solidFill>
              <a:srgbClr val="FDEFF1"/>
            </a:solidFill>
            <a:ln>
              <a:noFill/>
            </a:ln>
          </p:spPr>
        </p:sp>
        <p:sp>
          <p:nvSpPr>
            <p:cNvPr id="129" name="Rectangle 129"/>
            <p:cNvSpPr/>
            <p:nvPr/>
          </p:nvSpPr>
          <p:spPr>
            <a:xfrm>
              <a:off x="8743950" y="1790700"/>
              <a:ext cx="3219450" cy="323850"/>
            </a:xfrm>
            <a:prstGeom prst="rect">
              <a:avLst/>
            </a:prstGeom>
            <a:solidFill>
              <a:srgbClr val="FFFFFF"/>
            </a:solidFill>
            <a:ln>
              <a:noFill/>
            </a:ln>
          </p:spPr>
        </p:sp>
        <p:sp>
          <p:nvSpPr>
            <p:cNvPr id="130" name="Rectangle 130"/>
            <p:cNvSpPr/>
            <p:nvPr/>
          </p:nvSpPr>
          <p:spPr>
            <a:xfrm>
              <a:off x="8743950" y="2114550"/>
              <a:ext cx="3219450" cy="323850"/>
            </a:xfrm>
            <a:prstGeom prst="rect">
              <a:avLst/>
            </a:prstGeom>
            <a:solidFill>
              <a:srgbClr val="FDEFF1"/>
            </a:solidFill>
            <a:ln>
              <a:noFill/>
            </a:ln>
          </p:spPr>
        </p:sp>
        <p:sp>
          <p:nvSpPr>
            <p:cNvPr id="131" name="Rectangle 131"/>
            <p:cNvSpPr/>
            <p:nvPr/>
          </p:nvSpPr>
          <p:spPr>
            <a:xfrm>
              <a:off x="8743950" y="2438400"/>
              <a:ext cx="3219450" cy="323850"/>
            </a:xfrm>
            <a:prstGeom prst="rect">
              <a:avLst/>
            </a:prstGeom>
            <a:solidFill>
              <a:srgbClr val="FFFFFF"/>
            </a:solidFill>
            <a:ln>
              <a:noFill/>
            </a:ln>
          </p:spPr>
        </p:sp>
        <p:sp>
          <p:nvSpPr>
            <p:cNvPr id="132" name="TextBox 132"/>
            <p:cNvSpPr txBox="1"/>
            <p:nvPr/>
          </p:nvSpPr>
          <p:spPr>
            <a:xfrm>
              <a:off x="8852662" y="1266111"/>
              <a:ext cx="487426"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mn-lt"/>
                  <a:ea typeface="+mn-ea"/>
                  <a:cs typeface="+mn-cs"/>
                </a:rPr>
                <a:t>总行营业部</a:t>
              </a:r>
            </a:p>
          </p:txBody>
        </p:sp>
        <p:sp>
          <p:nvSpPr>
            <p:cNvPr id="133" name="TextBox 133"/>
            <p:cNvSpPr txBox="1"/>
            <p:nvPr/>
          </p:nvSpPr>
          <p:spPr>
            <a:xfrm>
              <a:off x="9630995" y="1266111"/>
              <a:ext cx="169010"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386</a:t>
              </a:r>
            </a:p>
          </p:txBody>
        </p:sp>
        <p:sp>
          <p:nvSpPr>
            <p:cNvPr id="134" name="TextBox 134"/>
            <p:cNvSpPr txBox="1"/>
            <p:nvPr/>
          </p:nvSpPr>
          <p:spPr>
            <a:xfrm>
              <a:off x="10119906" y="126611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58%</a:t>
              </a:r>
            </a:p>
          </p:txBody>
        </p:sp>
        <p:sp>
          <p:nvSpPr>
            <p:cNvPr id="135" name="TextBox 135"/>
            <p:cNvSpPr txBox="1"/>
            <p:nvPr/>
          </p:nvSpPr>
          <p:spPr>
            <a:xfrm>
              <a:off x="10681881" y="126611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82%</a:t>
              </a:r>
            </a:p>
          </p:txBody>
        </p:sp>
        <p:sp>
          <p:nvSpPr>
            <p:cNvPr id="136" name="TextBox 136"/>
            <p:cNvSpPr txBox="1"/>
            <p:nvPr/>
          </p:nvSpPr>
          <p:spPr>
            <a:xfrm>
              <a:off x="11139488" y="1183005"/>
              <a:ext cx="534672"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1.未授权(28%)</a:t>
              </a:r>
            </a:p>
          </p:txBody>
        </p:sp>
        <p:sp>
          <p:nvSpPr>
            <p:cNvPr id="137" name="TextBox 137"/>
            <p:cNvSpPr txBox="1"/>
            <p:nvPr/>
          </p:nvSpPr>
          <p:spPr>
            <a:xfrm>
              <a:off x="11139488" y="1278255"/>
              <a:ext cx="696216"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2.信息不一致(18%)</a:t>
              </a:r>
            </a:p>
          </p:txBody>
        </p:sp>
        <p:sp>
          <p:nvSpPr>
            <p:cNvPr id="138" name="TextBox 138"/>
            <p:cNvSpPr txBox="1"/>
            <p:nvPr/>
          </p:nvSpPr>
          <p:spPr>
            <a:xfrm>
              <a:off x="11139488" y="1373505"/>
              <a:ext cx="615444"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3.客户拒绝(16%)</a:t>
              </a:r>
            </a:p>
          </p:txBody>
        </p:sp>
        <p:sp>
          <p:nvSpPr>
            <p:cNvPr id="139" name="TextBox 139"/>
            <p:cNvSpPr txBox="1"/>
            <p:nvPr/>
          </p:nvSpPr>
          <p:spPr>
            <a:xfrm>
              <a:off x="8852662" y="1589961"/>
              <a:ext cx="487426"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mn-lt"/>
                  <a:ea typeface="+mn-ea"/>
                  <a:cs typeface="+mn-cs"/>
                </a:rPr>
                <a:t>人民路支行</a:t>
              </a:r>
            </a:p>
          </p:txBody>
        </p:sp>
        <p:sp>
          <p:nvSpPr>
            <p:cNvPr id="140" name="TextBox 140"/>
            <p:cNvSpPr txBox="1"/>
            <p:nvPr/>
          </p:nvSpPr>
          <p:spPr>
            <a:xfrm>
              <a:off x="9630995" y="1589961"/>
              <a:ext cx="169010"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268</a:t>
              </a:r>
            </a:p>
          </p:txBody>
        </p:sp>
        <p:sp>
          <p:nvSpPr>
            <p:cNvPr id="141" name="TextBox 141"/>
            <p:cNvSpPr txBox="1"/>
            <p:nvPr/>
          </p:nvSpPr>
          <p:spPr>
            <a:xfrm>
              <a:off x="10119906" y="158996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52%</a:t>
              </a:r>
            </a:p>
          </p:txBody>
        </p:sp>
        <p:sp>
          <p:nvSpPr>
            <p:cNvPr id="142" name="TextBox 142"/>
            <p:cNvSpPr txBox="1"/>
            <p:nvPr/>
          </p:nvSpPr>
          <p:spPr>
            <a:xfrm>
              <a:off x="10681881" y="158996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76%</a:t>
              </a:r>
            </a:p>
          </p:txBody>
        </p:sp>
        <p:sp>
          <p:nvSpPr>
            <p:cNvPr id="143" name="TextBox 143"/>
            <p:cNvSpPr txBox="1"/>
            <p:nvPr/>
          </p:nvSpPr>
          <p:spPr>
            <a:xfrm>
              <a:off x="11139488" y="1506855"/>
              <a:ext cx="534672"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1.未授权(32%)</a:t>
              </a:r>
            </a:p>
          </p:txBody>
        </p:sp>
        <p:sp>
          <p:nvSpPr>
            <p:cNvPr id="144" name="TextBox 144"/>
            <p:cNvSpPr txBox="1"/>
            <p:nvPr/>
          </p:nvSpPr>
          <p:spPr>
            <a:xfrm>
              <a:off x="11139488" y="1602105"/>
              <a:ext cx="615444"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2.客户拒绝(21%)</a:t>
              </a:r>
            </a:p>
          </p:txBody>
        </p:sp>
        <p:sp>
          <p:nvSpPr>
            <p:cNvPr id="145" name="TextBox 145"/>
            <p:cNvSpPr txBox="1"/>
            <p:nvPr/>
          </p:nvSpPr>
          <p:spPr>
            <a:xfrm>
              <a:off x="11139488" y="1697355"/>
              <a:ext cx="696216"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3.非本行客户(15%)</a:t>
              </a:r>
            </a:p>
          </p:txBody>
        </p:sp>
        <p:sp>
          <p:nvSpPr>
            <p:cNvPr id="146" name="TextBox 146"/>
            <p:cNvSpPr txBox="1"/>
            <p:nvPr/>
          </p:nvSpPr>
          <p:spPr>
            <a:xfrm>
              <a:off x="8852662" y="1913811"/>
              <a:ext cx="487426"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mn-lt"/>
                  <a:ea typeface="+mn-ea"/>
                  <a:cs typeface="+mn-cs"/>
                </a:rPr>
                <a:t>中心城支行</a:t>
              </a:r>
            </a:p>
          </p:txBody>
        </p:sp>
        <p:sp>
          <p:nvSpPr>
            <p:cNvPr id="147" name="TextBox 147"/>
            <p:cNvSpPr txBox="1"/>
            <p:nvPr/>
          </p:nvSpPr>
          <p:spPr>
            <a:xfrm>
              <a:off x="9630995" y="1913811"/>
              <a:ext cx="169010"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235</a:t>
              </a:r>
            </a:p>
          </p:txBody>
        </p:sp>
        <p:sp>
          <p:nvSpPr>
            <p:cNvPr id="148" name="TextBox 148"/>
            <p:cNvSpPr txBox="1"/>
            <p:nvPr/>
          </p:nvSpPr>
          <p:spPr>
            <a:xfrm>
              <a:off x="10119906" y="191381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49%</a:t>
              </a:r>
            </a:p>
          </p:txBody>
        </p:sp>
        <p:sp>
          <p:nvSpPr>
            <p:cNvPr id="149" name="TextBox 149"/>
            <p:cNvSpPr txBox="1"/>
            <p:nvPr/>
          </p:nvSpPr>
          <p:spPr>
            <a:xfrm>
              <a:off x="10681881" y="191381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71%</a:t>
              </a:r>
            </a:p>
          </p:txBody>
        </p:sp>
        <p:sp>
          <p:nvSpPr>
            <p:cNvPr id="150" name="TextBox 150"/>
            <p:cNvSpPr txBox="1"/>
            <p:nvPr/>
          </p:nvSpPr>
          <p:spPr>
            <a:xfrm>
              <a:off x="11139488" y="1830705"/>
              <a:ext cx="534672"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1.未授权(30%)</a:t>
              </a:r>
            </a:p>
          </p:txBody>
        </p:sp>
        <p:sp>
          <p:nvSpPr>
            <p:cNvPr id="151" name="TextBox 151"/>
            <p:cNvSpPr txBox="1"/>
            <p:nvPr/>
          </p:nvSpPr>
          <p:spPr>
            <a:xfrm>
              <a:off x="11139488" y="1925955"/>
              <a:ext cx="696216"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2.信息不一致(20%)</a:t>
              </a:r>
            </a:p>
          </p:txBody>
        </p:sp>
        <p:sp>
          <p:nvSpPr>
            <p:cNvPr id="152" name="TextBox 152"/>
            <p:cNvSpPr txBox="1"/>
            <p:nvPr/>
          </p:nvSpPr>
          <p:spPr>
            <a:xfrm>
              <a:off x="11139488" y="2021205"/>
              <a:ext cx="615444"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3.联系不上(18%)</a:t>
              </a:r>
            </a:p>
          </p:txBody>
        </p:sp>
        <p:sp>
          <p:nvSpPr>
            <p:cNvPr id="153" name="TextBox 153"/>
            <p:cNvSpPr txBox="1"/>
            <p:nvPr/>
          </p:nvSpPr>
          <p:spPr>
            <a:xfrm>
              <a:off x="8900452" y="2237661"/>
              <a:ext cx="391846"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mn-lt"/>
                  <a:ea typeface="+mn-ea"/>
                  <a:cs typeface="+mn-cs"/>
                </a:rPr>
                <a:t>滨江支行</a:t>
              </a:r>
            </a:p>
          </p:txBody>
        </p:sp>
        <p:sp>
          <p:nvSpPr>
            <p:cNvPr id="154" name="TextBox 154"/>
            <p:cNvSpPr txBox="1"/>
            <p:nvPr/>
          </p:nvSpPr>
          <p:spPr>
            <a:xfrm>
              <a:off x="9630995" y="2237661"/>
              <a:ext cx="169010"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198</a:t>
              </a:r>
            </a:p>
          </p:txBody>
        </p:sp>
        <p:sp>
          <p:nvSpPr>
            <p:cNvPr id="155" name="TextBox 155"/>
            <p:cNvSpPr txBox="1"/>
            <p:nvPr/>
          </p:nvSpPr>
          <p:spPr>
            <a:xfrm>
              <a:off x="10119906" y="223766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61%</a:t>
              </a:r>
            </a:p>
          </p:txBody>
        </p:sp>
        <p:sp>
          <p:nvSpPr>
            <p:cNvPr id="156" name="TextBox 156"/>
            <p:cNvSpPr txBox="1"/>
            <p:nvPr/>
          </p:nvSpPr>
          <p:spPr>
            <a:xfrm>
              <a:off x="10681881" y="223766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85%</a:t>
              </a:r>
            </a:p>
          </p:txBody>
        </p:sp>
        <p:sp>
          <p:nvSpPr>
            <p:cNvPr id="157" name="TextBox 157"/>
            <p:cNvSpPr txBox="1"/>
            <p:nvPr/>
          </p:nvSpPr>
          <p:spPr>
            <a:xfrm>
              <a:off x="11139488" y="2154555"/>
              <a:ext cx="615444"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1.客户拒绝(26%)</a:t>
              </a:r>
            </a:p>
          </p:txBody>
        </p:sp>
        <p:sp>
          <p:nvSpPr>
            <p:cNvPr id="158" name="TextBox 158"/>
            <p:cNvSpPr txBox="1"/>
            <p:nvPr/>
          </p:nvSpPr>
          <p:spPr>
            <a:xfrm>
              <a:off x="11139488" y="2249805"/>
              <a:ext cx="534672"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2.未授权(24%)</a:t>
              </a:r>
            </a:p>
          </p:txBody>
        </p:sp>
        <p:sp>
          <p:nvSpPr>
            <p:cNvPr id="159" name="TextBox 159"/>
            <p:cNvSpPr txBox="1"/>
            <p:nvPr/>
          </p:nvSpPr>
          <p:spPr>
            <a:xfrm>
              <a:off x="11139488" y="2345055"/>
              <a:ext cx="696216"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3.信息不一致(17%)</a:t>
              </a:r>
            </a:p>
          </p:txBody>
        </p:sp>
        <p:sp>
          <p:nvSpPr>
            <p:cNvPr id="160" name="TextBox 160"/>
            <p:cNvSpPr txBox="1"/>
            <p:nvPr/>
          </p:nvSpPr>
          <p:spPr>
            <a:xfrm>
              <a:off x="8852662" y="2561511"/>
              <a:ext cx="487426"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mn-lt"/>
                  <a:ea typeface="+mn-ea"/>
                  <a:cs typeface="+mn-cs"/>
                </a:rPr>
                <a:t>科技园支行</a:t>
              </a:r>
            </a:p>
          </p:txBody>
        </p:sp>
        <p:sp>
          <p:nvSpPr>
            <p:cNvPr id="161" name="TextBox 161"/>
            <p:cNvSpPr txBox="1"/>
            <p:nvPr/>
          </p:nvSpPr>
          <p:spPr>
            <a:xfrm>
              <a:off x="9630995" y="2561511"/>
              <a:ext cx="169010"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173</a:t>
              </a:r>
            </a:p>
          </p:txBody>
        </p:sp>
        <p:sp>
          <p:nvSpPr>
            <p:cNvPr id="162" name="TextBox 162"/>
            <p:cNvSpPr txBox="1"/>
            <p:nvPr/>
          </p:nvSpPr>
          <p:spPr>
            <a:xfrm>
              <a:off x="10119906" y="256151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47%</a:t>
              </a:r>
            </a:p>
          </p:txBody>
        </p:sp>
        <p:sp>
          <p:nvSpPr>
            <p:cNvPr id="163" name="TextBox 163"/>
            <p:cNvSpPr txBox="1"/>
            <p:nvPr/>
          </p:nvSpPr>
          <p:spPr>
            <a:xfrm>
              <a:off x="10681881" y="2561511"/>
              <a:ext cx="200838"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68%</a:t>
              </a:r>
            </a:p>
          </p:txBody>
        </p:sp>
        <p:sp>
          <p:nvSpPr>
            <p:cNvPr id="164" name="TextBox 164"/>
            <p:cNvSpPr txBox="1"/>
            <p:nvPr/>
          </p:nvSpPr>
          <p:spPr>
            <a:xfrm>
              <a:off x="11139488" y="2478405"/>
              <a:ext cx="534672"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1.未授权(29%)</a:t>
              </a:r>
            </a:p>
          </p:txBody>
        </p:sp>
        <p:sp>
          <p:nvSpPr>
            <p:cNvPr id="165" name="TextBox 165"/>
            <p:cNvSpPr txBox="1"/>
            <p:nvPr/>
          </p:nvSpPr>
          <p:spPr>
            <a:xfrm>
              <a:off x="11139488" y="2573655"/>
              <a:ext cx="615444"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2.联系不上(22%)</a:t>
              </a:r>
            </a:p>
          </p:txBody>
        </p:sp>
        <p:sp>
          <p:nvSpPr>
            <p:cNvPr id="166" name="TextBox 166"/>
            <p:cNvSpPr txBox="1"/>
            <p:nvPr/>
          </p:nvSpPr>
          <p:spPr>
            <a:xfrm>
              <a:off x="11139488" y="2668905"/>
              <a:ext cx="696216"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3.非本行客户(18%)</a:t>
              </a:r>
            </a:p>
          </p:txBody>
        </p:sp>
      </p:grpSp>
      <p:grpSp>
        <p:nvGrpSpPr>
          <p:cNvPr id="239" name="zone-timeline"/>
          <p:cNvGrpSpPr/>
          <p:nvPr/>
        </p:nvGrpSpPr>
        <p:grpSpPr>
          <a:xfrm>
            <a:off x="171450" y="2914650"/>
            <a:ext cx="4972050" cy="2114550"/>
            <a:chOff x="171450" y="2914650"/>
            <a:chExt cx="4972050" cy="2114550"/>
          </a:xfrm>
        </p:grpSpPr>
        <p:sp>
          <p:nvSpPr>
            <p:cNvPr id="168" name="Rectangle 168"/>
            <p:cNvSpPr/>
            <p:nvPr/>
          </p:nvSpPr>
          <p:spPr>
            <a:xfrm>
              <a:off x="171450" y="2914650"/>
              <a:ext cx="4972050" cy="2114550"/>
            </a:xfrm>
            <a:prstGeom prst="roundRect">
              <a:avLst>
                <a:gd name="adj" fmla="val 2703"/>
              </a:avLst>
            </a:prstGeom>
            <a:solidFill>
              <a:srgbClr val="FDF5F6"/>
            </a:solidFill>
            <a:ln>
              <a:noFill/>
            </a:ln>
          </p:spPr>
        </p:sp>
        <p:sp>
          <p:nvSpPr>
            <p:cNvPr id="169" name="Rectangle 169"/>
            <p:cNvSpPr/>
            <p:nvPr/>
          </p:nvSpPr>
          <p:spPr>
            <a:xfrm>
              <a:off x="171450" y="2914650"/>
              <a:ext cx="4972050" cy="228600"/>
            </a:xfrm>
            <a:prstGeom prst="roundRect">
              <a:avLst>
                <a:gd name="adj" fmla="val 25000"/>
              </a:avLst>
            </a:prstGeom>
            <a:solidFill>
              <a:srgbClr val="C83210"/>
            </a:solidFill>
            <a:ln>
              <a:noFill/>
            </a:ln>
          </p:spPr>
        </p:sp>
        <p:sp>
          <p:nvSpPr>
            <p:cNvPr id="170" name="TextBox 170"/>
            <p:cNvSpPr txBox="1"/>
            <p:nvPr/>
          </p:nvSpPr>
          <p:spPr>
            <a:xfrm>
              <a:off x="261938" y="2979420"/>
              <a:ext cx="2209148"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 xml:space="preserve">四、添加后24小时关键动作与沟通节奏　</a:t>
              </a:r>
            </a:p>
          </p:txBody>
        </p:sp>
        <p:grpSp>
          <p:nvGrpSpPr>
            <p:cNvPr id="173" name="Group 173"/>
            <p:cNvGrpSpPr/>
            <p:nvPr/>
          </p:nvGrpSpPr>
          <p:grpSpPr>
            <a:xfrm>
              <a:off x="304800" y="3276600"/>
              <a:ext cx="114300" cy="114300"/>
              <a:chOff x="304800" y="3276600"/>
              <a:chExt cx="114300" cy="114300"/>
            </a:xfrm>
          </p:grpSpPr>
          <p:sp>
            <p:nvSpPr>
              <p:cNvPr id="171" name="Freeform 171"/>
              <p:cNvSpPr/>
              <p:nvPr/>
            </p:nvSpPr>
            <p:spPr>
              <a:xfrm>
                <a:off x="304800" y="32766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83210"/>
                </a:solidFill>
              </a:ln>
            </p:spPr>
          </p:sp>
          <p:sp>
            <p:nvSpPr>
              <p:cNvPr id="172" name="Freeform 172"/>
              <p:cNvSpPr/>
              <p:nvPr/>
            </p:nvSpPr>
            <p:spPr>
              <a:xfrm>
                <a:off x="361950" y="3302000"/>
                <a:ext cx="19050" cy="50800"/>
              </a:xfrm>
              <a:custGeom>
                <a:avLst/>
                <a:gdLst/>
                <a:ahLst/>
                <a:cxnLst/>
                <a:rect l="l" t="t" r="r" b="b"/>
                <a:pathLst>
                  <a:path w="19050" h="50800">
                    <a:moveTo>
                      <a:pt x="0" y="0"/>
                    </a:moveTo>
                    <a:lnTo>
                      <a:pt x="0" y="31750"/>
                    </a:lnTo>
                    <a:lnTo>
                      <a:pt x="19050" y="50800"/>
                    </a:lnTo>
                  </a:path>
                </a:pathLst>
              </a:custGeom>
              <a:noFill/>
              <a:ln w="12700">
                <a:solidFill>
                  <a:srgbClr val="C83210"/>
                </a:solidFill>
              </a:ln>
            </p:spPr>
          </p:sp>
        </p:grpSp>
        <p:sp>
          <p:nvSpPr>
            <p:cNvPr id="174" name="TextBox 174"/>
            <p:cNvSpPr txBox="1"/>
            <p:nvPr/>
          </p:nvSpPr>
          <p:spPr>
            <a:xfrm>
              <a:off x="490538" y="3284220"/>
              <a:ext cx="575163"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Arial"/>
                  <a:ea typeface="Microsoft YaHei"/>
                  <a:cs typeface="Arial"/>
                </a:rPr>
                <a:t xml:space="preserve">0–2小时　</a:t>
              </a:r>
            </a:p>
          </p:txBody>
        </p:sp>
        <p:sp>
          <p:nvSpPr>
            <p:cNvPr id="175" name="TextBox 175"/>
            <p:cNvSpPr txBox="1"/>
            <p:nvPr/>
          </p:nvSpPr>
          <p:spPr>
            <a:xfrm>
              <a:off x="490538" y="3462338"/>
              <a:ext cx="918210"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快速响应　建立信任</a:t>
              </a:r>
            </a:p>
          </p:txBody>
        </p:sp>
        <p:grpSp>
          <p:nvGrpSpPr>
            <p:cNvPr id="178" name="Group 178"/>
            <p:cNvGrpSpPr/>
            <p:nvPr/>
          </p:nvGrpSpPr>
          <p:grpSpPr>
            <a:xfrm>
              <a:off x="1924050" y="3276600"/>
              <a:ext cx="114300" cy="114300"/>
              <a:chOff x="1924050" y="3276600"/>
              <a:chExt cx="114300" cy="114300"/>
            </a:xfrm>
          </p:grpSpPr>
          <p:sp>
            <p:nvSpPr>
              <p:cNvPr id="176" name="Freeform 176"/>
              <p:cNvSpPr/>
              <p:nvPr/>
            </p:nvSpPr>
            <p:spPr>
              <a:xfrm>
                <a:off x="1924050" y="32766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83210"/>
                </a:solidFill>
              </a:ln>
            </p:spPr>
          </p:sp>
          <p:sp>
            <p:nvSpPr>
              <p:cNvPr id="177" name="Freeform 177"/>
              <p:cNvSpPr/>
              <p:nvPr/>
            </p:nvSpPr>
            <p:spPr>
              <a:xfrm>
                <a:off x="1981200" y="3302000"/>
                <a:ext cx="19050" cy="50800"/>
              </a:xfrm>
              <a:custGeom>
                <a:avLst/>
                <a:gdLst/>
                <a:ahLst/>
                <a:cxnLst/>
                <a:rect l="l" t="t" r="r" b="b"/>
                <a:pathLst>
                  <a:path w="19050" h="50800">
                    <a:moveTo>
                      <a:pt x="0" y="0"/>
                    </a:moveTo>
                    <a:lnTo>
                      <a:pt x="0" y="31750"/>
                    </a:lnTo>
                    <a:lnTo>
                      <a:pt x="19050" y="50800"/>
                    </a:lnTo>
                  </a:path>
                </a:pathLst>
              </a:custGeom>
              <a:noFill/>
              <a:ln w="12700">
                <a:solidFill>
                  <a:srgbClr val="C83210"/>
                </a:solidFill>
              </a:ln>
            </p:spPr>
          </p:sp>
        </p:grpSp>
        <p:sp>
          <p:nvSpPr>
            <p:cNvPr id="179" name="TextBox 179"/>
            <p:cNvSpPr txBox="1"/>
            <p:nvPr/>
          </p:nvSpPr>
          <p:spPr>
            <a:xfrm>
              <a:off x="2109788" y="3284220"/>
              <a:ext cx="575163"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Arial"/>
                  <a:ea typeface="Microsoft YaHei"/>
                  <a:cs typeface="Arial"/>
                </a:rPr>
                <a:t xml:space="preserve">2–8小时　</a:t>
              </a:r>
            </a:p>
          </p:txBody>
        </p:sp>
        <p:sp>
          <p:nvSpPr>
            <p:cNvPr id="180" name="TextBox 180"/>
            <p:cNvSpPr txBox="1"/>
            <p:nvPr/>
          </p:nvSpPr>
          <p:spPr>
            <a:xfrm>
              <a:off x="2109788" y="3462338"/>
              <a:ext cx="918210"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重点沟通　获取授权</a:t>
              </a:r>
            </a:p>
          </p:txBody>
        </p:sp>
        <p:grpSp>
          <p:nvGrpSpPr>
            <p:cNvPr id="183" name="Group 183"/>
            <p:cNvGrpSpPr/>
            <p:nvPr/>
          </p:nvGrpSpPr>
          <p:grpSpPr>
            <a:xfrm>
              <a:off x="3543300" y="3276600"/>
              <a:ext cx="114300" cy="114300"/>
              <a:chOff x="3543300" y="3276600"/>
              <a:chExt cx="114300" cy="114300"/>
            </a:xfrm>
          </p:grpSpPr>
          <p:sp>
            <p:nvSpPr>
              <p:cNvPr id="181" name="Freeform 181"/>
              <p:cNvSpPr/>
              <p:nvPr/>
            </p:nvSpPr>
            <p:spPr>
              <a:xfrm>
                <a:off x="3543300" y="32766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83210"/>
                </a:solidFill>
              </a:ln>
            </p:spPr>
          </p:sp>
          <p:sp>
            <p:nvSpPr>
              <p:cNvPr id="182" name="Freeform 182"/>
              <p:cNvSpPr/>
              <p:nvPr/>
            </p:nvSpPr>
            <p:spPr>
              <a:xfrm>
                <a:off x="3600450" y="3302000"/>
                <a:ext cx="19050" cy="50800"/>
              </a:xfrm>
              <a:custGeom>
                <a:avLst/>
                <a:gdLst/>
                <a:ahLst/>
                <a:cxnLst/>
                <a:rect l="l" t="t" r="r" b="b"/>
                <a:pathLst>
                  <a:path w="19050" h="50800">
                    <a:moveTo>
                      <a:pt x="0" y="0"/>
                    </a:moveTo>
                    <a:lnTo>
                      <a:pt x="0" y="31750"/>
                    </a:lnTo>
                    <a:lnTo>
                      <a:pt x="19050" y="50800"/>
                    </a:lnTo>
                  </a:path>
                </a:pathLst>
              </a:custGeom>
              <a:noFill/>
              <a:ln w="12700">
                <a:solidFill>
                  <a:srgbClr val="C83210"/>
                </a:solidFill>
              </a:ln>
            </p:spPr>
          </p:sp>
        </p:grpSp>
        <p:sp>
          <p:nvSpPr>
            <p:cNvPr id="184" name="TextBox 184"/>
            <p:cNvSpPr txBox="1"/>
            <p:nvPr/>
          </p:nvSpPr>
          <p:spPr>
            <a:xfrm>
              <a:off x="3729038" y="3284220"/>
              <a:ext cx="642551"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Arial"/>
                  <a:ea typeface="Microsoft YaHei"/>
                  <a:cs typeface="Arial"/>
                </a:rPr>
                <a:t xml:space="preserve">8–24小时　</a:t>
              </a:r>
            </a:p>
          </p:txBody>
        </p:sp>
        <p:sp>
          <p:nvSpPr>
            <p:cNvPr id="185" name="TextBox 185"/>
            <p:cNvSpPr txBox="1"/>
            <p:nvPr/>
          </p:nvSpPr>
          <p:spPr>
            <a:xfrm>
              <a:off x="3729038" y="3462338"/>
              <a:ext cx="918210"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完成认证　进入体系</a:t>
              </a:r>
            </a:p>
          </p:txBody>
        </p:sp>
        <p:sp>
          <p:nvSpPr>
            <p:cNvPr id="186" name="Line 186"/>
            <p:cNvSpPr/>
            <p:nvPr/>
          </p:nvSpPr>
          <p:spPr>
            <a:xfrm>
              <a:off x="285750" y="3676650"/>
              <a:ext cx="4743450" cy="9525"/>
            </a:xfrm>
            <a:custGeom>
              <a:avLst/>
              <a:gdLst/>
              <a:ahLst/>
              <a:cxnLst/>
              <a:rect l="l" t="t" r="r" b="b"/>
              <a:pathLst>
                <a:path w="4743450" h="9525">
                  <a:moveTo>
                    <a:pt x="0" y="0"/>
                  </a:moveTo>
                  <a:lnTo>
                    <a:pt x="4743450" y="0"/>
                  </a:lnTo>
                </a:path>
              </a:pathLst>
            </a:custGeom>
            <a:noFill/>
            <a:ln w="19050">
              <a:solidFill>
                <a:srgbClr val="C83210"/>
              </a:solidFill>
            </a:ln>
          </p:spPr>
        </p:sp>
        <p:sp>
          <p:nvSpPr>
            <p:cNvPr id="187" name="Ellipse 187"/>
            <p:cNvSpPr/>
            <p:nvPr/>
          </p:nvSpPr>
          <p:spPr>
            <a:xfrm>
              <a:off x="319088" y="3633788"/>
              <a:ext cx="85725" cy="85725"/>
            </a:xfrm>
            <a:prstGeom prst="ellipse">
              <a:avLst/>
            </a:prstGeom>
            <a:solidFill>
              <a:srgbClr val="C83210"/>
            </a:solidFill>
            <a:ln>
              <a:noFill/>
            </a:ln>
          </p:spPr>
        </p:sp>
        <p:sp>
          <p:nvSpPr>
            <p:cNvPr id="188" name="Ellipse 188"/>
            <p:cNvSpPr/>
            <p:nvPr/>
          </p:nvSpPr>
          <p:spPr>
            <a:xfrm>
              <a:off x="1938338" y="3633788"/>
              <a:ext cx="85725" cy="85725"/>
            </a:xfrm>
            <a:prstGeom prst="ellipse">
              <a:avLst/>
            </a:prstGeom>
            <a:solidFill>
              <a:srgbClr val="C83210"/>
            </a:solidFill>
            <a:ln>
              <a:noFill/>
            </a:ln>
          </p:spPr>
        </p:sp>
        <p:sp>
          <p:nvSpPr>
            <p:cNvPr id="189" name="Ellipse 189"/>
            <p:cNvSpPr/>
            <p:nvPr/>
          </p:nvSpPr>
          <p:spPr>
            <a:xfrm>
              <a:off x="3557588" y="3633788"/>
              <a:ext cx="85725" cy="85725"/>
            </a:xfrm>
            <a:prstGeom prst="ellipse">
              <a:avLst/>
            </a:prstGeom>
            <a:solidFill>
              <a:srgbClr val="C83210"/>
            </a:solidFill>
            <a:ln>
              <a:noFill/>
            </a:ln>
          </p:spPr>
        </p:sp>
        <p:sp>
          <p:nvSpPr>
            <p:cNvPr id="190" name="Polygon 190"/>
            <p:cNvSpPr/>
            <p:nvPr/>
          </p:nvSpPr>
          <p:spPr>
            <a:xfrm>
              <a:off x="4953000" y="3629025"/>
              <a:ext cx="95250" cy="95250"/>
            </a:xfrm>
            <a:custGeom>
              <a:avLst/>
              <a:gdLst/>
              <a:ahLst/>
              <a:cxnLst/>
              <a:rect l="l" t="t" r="r" b="b"/>
              <a:pathLst>
                <a:path w="95250" h="95250">
                  <a:moveTo>
                    <a:pt x="0" y="0"/>
                  </a:moveTo>
                  <a:lnTo>
                    <a:pt x="95250" y="47625"/>
                  </a:lnTo>
                  <a:lnTo>
                    <a:pt x="0" y="95250"/>
                  </a:lnTo>
                  <a:close/>
                </a:path>
              </a:pathLst>
            </a:custGeom>
            <a:solidFill>
              <a:srgbClr val="C83210"/>
            </a:solidFill>
            <a:ln>
              <a:noFill/>
            </a:ln>
          </p:spPr>
        </p:sp>
        <p:grpSp>
          <p:nvGrpSpPr>
            <p:cNvPr id="193" name="Group 193"/>
            <p:cNvGrpSpPr/>
            <p:nvPr/>
          </p:nvGrpSpPr>
          <p:grpSpPr>
            <a:xfrm>
              <a:off x="298847" y="3832622"/>
              <a:ext cx="78581" cy="78581"/>
              <a:chOff x="298847" y="3832622"/>
              <a:chExt cx="78581" cy="78581"/>
            </a:xfrm>
          </p:grpSpPr>
          <p:sp>
            <p:nvSpPr>
              <p:cNvPr id="191" name="Freeform 191"/>
              <p:cNvSpPr/>
              <p:nvPr/>
            </p:nvSpPr>
            <p:spPr>
              <a:xfrm>
                <a:off x="298847" y="38326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192" name="Freeform 192"/>
              <p:cNvSpPr/>
              <p:nvPr/>
            </p:nvSpPr>
            <p:spPr>
              <a:xfrm>
                <a:off x="325041" y="38631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194" name="TextBox 194"/>
            <p:cNvSpPr txBox="1"/>
            <p:nvPr/>
          </p:nvSpPr>
          <p:spPr>
            <a:xfrm>
              <a:off x="433388" y="3828336"/>
              <a:ext cx="92231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发送欢迎语+自我介绍</a:t>
              </a:r>
            </a:p>
          </p:txBody>
        </p:sp>
        <p:grpSp>
          <p:nvGrpSpPr>
            <p:cNvPr id="197" name="Group 197"/>
            <p:cNvGrpSpPr/>
            <p:nvPr/>
          </p:nvGrpSpPr>
          <p:grpSpPr>
            <a:xfrm>
              <a:off x="298847" y="4023122"/>
              <a:ext cx="78581" cy="78581"/>
              <a:chOff x="298847" y="4023122"/>
              <a:chExt cx="78581" cy="78581"/>
            </a:xfrm>
          </p:grpSpPr>
          <p:sp>
            <p:nvSpPr>
              <p:cNvPr id="195" name="Freeform 195"/>
              <p:cNvSpPr/>
              <p:nvPr/>
            </p:nvSpPr>
            <p:spPr>
              <a:xfrm>
                <a:off x="298847" y="40231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196" name="Freeform 196"/>
              <p:cNvSpPr/>
              <p:nvPr/>
            </p:nvSpPr>
            <p:spPr>
              <a:xfrm>
                <a:off x="325041" y="40536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198" name="TextBox 198"/>
            <p:cNvSpPr txBox="1"/>
            <p:nvPr/>
          </p:nvSpPr>
          <p:spPr>
            <a:xfrm>
              <a:off x="433388" y="4018836"/>
              <a:ext cx="86974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确认客户身份与需求</a:t>
              </a:r>
            </a:p>
          </p:txBody>
        </p:sp>
        <p:grpSp>
          <p:nvGrpSpPr>
            <p:cNvPr id="201" name="Group 201"/>
            <p:cNvGrpSpPr/>
            <p:nvPr/>
          </p:nvGrpSpPr>
          <p:grpSpPr>
            <a:xfrm>
              <a:off x="298847" y="4213622"/>
              <a:ext cx="78581" cy="78581"/>
              <a:chOff x="298847" y="4213622"/>
              <a:chExt cx="78581" cy="78581"/>
            </a:xfrm>
          </p:grpSpPr>
          <p:sp>
            <p:nvSpPr>
              <p:cNvPr id="199" name="Freeform 199"/>
              <p:cNvSpPr/>
              <p:nvPr/>
            </p:nvSpPr>
            <p:spPr>
              <a:xfrm>
                <a:off x="298847" y="42136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00" name="Freeform 200"/>
              <p:cNvSpPr/>
              <p:nvPr/>
            </p:nvSpPr>
            <p:spPr>
              <a:xfrm>
                <a:off x="325041" y="42441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02" name="TextBox 202"/>
            <p:cNvSpPr txBox="1"/>
            <p:nvPr/>
          </p:nvSpPr>
          <p:spPr>
            <a:xfrm>
              <a:off x="433388" y="4209336"/>
              <a:ext cx="77416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引导完成身份匹配</a:t>
              </a:r>
            </a:p>
          </p:txBody>
        </p:sp>
        <p:grpSp>
          <p:nvGrpSpPr>
            <p:cNvPr id="205" name="Group 205"/>
            <p:cNvGrpSpPr/>
            <p:nvPr/>
          </p:nvGrpSpPr>
          <p:grpSpPr>
            <a:xfrm>
              <a:off x="298847" y="4404122"/>
              <a:ext cx="78581" cy="78581"/>
              <a:chOff x="298847" y="4404122"/>
              <a:chExt cx="78581" cy="78581"/>
            </a:xfrm>
          </p:grpSpPr>
          <p:sp>
            <p:nvSpPr>
              <p:cNvPr id="203" name="Freeform 203"/>
              <p:cNvSpPr/>
              <p:nvPr/>
            </p:nvSpPr>
            <p:spPr>
              <a:xfrm>
                <a:off x="298847" y="44041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04" name="Freeform 204"/>
              <p:cNvSpPr/>
              <p:nvPr/>
            </p:nvSpPr>
            <p:spPr>
              <a:xfrm>
                <a:off x="325041" y="44346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06" name="TextBox 206"/>
            <p:cNvSpPr txBox="1"/>
            <p:nvPr/>
          </p:nvSpPr>
          <p:spPr>
            <a:xfrm>
              <a:off x="433388" y="4399836"/>
              <a:ext cx="77416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发送认证指引链接</a:t>
              </a:r>
            </a:p>
          </p:txBody>
        </p:sp>
        <p:grpSp>
          <p:nvGrpSpPr>
            <p:cNvPr id="209" name="Group 209"/>
            <p:cNvGrpSpPr/>
            <p:nvPr/>
          </p:nvGrpSpPr>
          <p:grpSpPr>
            <a:xfrm>
              <a:off x="1918097" y="3832622"/>
              <a:ext cx="78581" cy="78581"/>
              <a:chOff x="1918097" y="3832622"/>
              <a:chExt cx="78581" cy="78581"/>
            </a:xfrm>
          </p:grpSpPr>
          <p:sp>
            <p:nvSpPr>
              <p:cNvPr id="207" name="Freeform 207"/>
              <p:cNvSpPr/>
              <p:nvPr/>
            </p:nvSpPr>
            <p:spPr>
              <a:xfrm>
                <a:off x="1918097" y="38326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08" name="Freeform 208"/>
              <p:cNvSpPr/>
              <p:nvPr/>
            </p:nvSpPr>
            <p:spPr>
              <a:xfrm>
                <a:off x="1944291" y="38631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10" name="TextBox 210"/>
            <p:cNvSpPr txBox="1"/>
            <p:nvPr/>
          </p:nvSpPr>
          <p:spPr>
            <a:xfrm>
              <a:off x="2052638" y="3828336"/>
              <a:ext cx="106090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根据客户类型个性化沟通</a:t>
              </a:r>
            </a:p>
          </p:txBody>
        </p:sp>
        <p:grpSp>
          <p:nvGrpSpPr>
            <p:cNvPr id="213" name="Group 213"/>
            <p:cNvGrpSpPr/>
            <p:nvPr/>
          </p:nvGrpSpPr>
          <p:grpSpPr>
            <a:xfrm>
              <a:off x="1918097" y="4023122"/>
              <a:ext cx="78581" cy="78581"/>
              <a:chOff x="1918097" y="4023122"/>
              <a:chExt cx="78581" cy="78581"/>
            </a:xfrm>
          </p:grpSpPr>
          <p:sp>
            <p:nvSpPr>
              <p:cNvPr id="211" name="Freeform 211"/>
              <p:cNvSpPr/>
              <p:nvPr/>
            </p:nvSpPr>
            <p:spPr>
              <a:xfrm>
                <a:off x="1918097" y="40231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12" name="Freeform 212"/>
              <p:cNvSpPr/>
              <p:nvPr/>
            </p:nvSpPr>
            <p:spPr>
              <a:xfrm>
                <a:off x="1944291" y="40536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14" name="TextBox 214"/>
            <p:cNvSpPr txBox="1"/>
            <p:nvPr/>
          </p:nvSpPr>
          <p:spPr>
            <a:xfrm>
              <a:off x="2052638" y="4018836"/>
              <a:ext cx="86974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解答疑问，消除顾虑</a:t>
              </a:r>
            </a:p>
          </p:txBody>
        </p:sp>
        <p:grpSp>
          <p:nvGrpSpPr>
            <p:cNvPr id="217" name="Group 217"/>
            <p:cNvGrpSpPr/>
            <p:nvPr/>
          </p:nvGrpSpPr>
          <p:grpSpPr>
            <a:xfrm>
              <a:off x="1918097" y="4213622"/>
              <a:ext cx="78581" cy="78581"/>
              <a:chOff x="1918097" y="4213622"/>
              <a:chExt cx="78581" cy="78581"/>
            </a:xfrm>
          </p:grpSpPr>
          <p:sp>
            <p:nvSpPr>
              <p:cNvPr id="215" name="Freeform 215"/>
              <p:cNvSpPr/>
              <p:nvPr/>
            </p:nvSpPr>
            <p:spPr>
              <a:xfrm>
                <a:off x="1918097" y="42136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16" name="Freeform 216"/>
              <p:cNvSpPr/>
              <p:nvPr/>
            </p:nvSpPr>
            <p:spPr>
              <a:xfrm>
                <a:off x="1944291" y="42441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18" name="TextBox 218"/>
            <p:cNvSpPr txBox="1"/>
            <p:nvPr/>
          </p:nvSpPr>
          <p:spPr>
            <a:xfrm>
              <a:off x="2052638" y="4209336"/>
              <a:ext cx="96532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引导客户完成信息授权</a:t>
              </a:r>
            </a:p>
          </p:txBody>
        </p:sp>
        <p:grpSp>
          <p:nvGrpSpPr>
            <p:cNvPr id="221" name="Group 221"/>
            <p:cNvGrpSpPr/>
            <p:nvPr/>
          </p:nvGrpSpPr>
          <p:grpSpPr>
            <a:xfrm>
              <a:off x="1918097" y="4404122"/>
              <a:ext cx="78581" cy="78581"/>
              <a:chOff x="1918097" y="4404122"/>
              <a:chExt cx="78581" cy="78581"/>
            </a:xfrm>
          </p:grpSpPr>
          <p:sp>
            <p:nvSpPr>
              <p:cNvPr id="219" name="Freeform 219"/>
              <p:cNvSpPr/>
              <p:nvPr/>
            </p:nvSpPr>
            <p:spPr>
              <a:xfrm>
                <a:off x="1918097" y="44041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20" name="Freeform 220"/>
              <p:cNvSpPr/>
              <p:nvPr/>
            </p:nvSpPr>
            <p:spPr>
              <a:xfrm>
                <a:off x="1944291" y="44346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22" name="TextBox 222"/>
            <p:cNvSpPr txBox="1"/>
            <p:nvPr/>
          </p:nvSpPr>
          <p:spPr>
            <a:xfrm>
              <a:off x="2052638" y="4399836"/>
              <a:ext cx="125206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告知可享受的专属服务与权益</a:t>
              </a:r>
            </a:p>
          </p:txBody>
        </p:sp>
        <p:grpSp>
          <p:nvGrpSpPr>
            <p:cNvPr id="225" name="Group 225"/>
            <p:cNvGrpSpPr/>
            <p:nvPr/>
          </p:nvGrpSpPr>
          <p:grpSpPr>
            <a:xfrm>
              <a:off x="3537347" y="3832622"/>
              <a:ext cx="78581" cy="78581"/>
              <a:chOff x="3537347" y="3832622"/>
              <a:chExt cx="78581" cy="78581"/>
            </a:xfrm>
          </p:grpSpPr>
          <p:sp>
            <p:nvSpPr>
              <p:cNvPr id="223" name="Freeform 223"/>
              <p:cNvSpPr/>
              <p:nvPr/>
            </p:nvSpPr>
            <p:spPr>
              <a:xfrm>
                <a:off x="3537347" y="38326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24" name="Freeform 224"/>
              <p:cNvSpPr/>
              <p:nvPr/>
            </p:nvSpPr>
            <p:spPr>
              <a:xfrm>
                <a:off x="3563541" y="38631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26" name="TextBox 226"/>
            <p:cNvSpPr txBox="1"/>
            <p:nvPr/>
          </p:nvSpPr>
          <p:spPr>
            <a:xfrm>
              <a:off x="3671888" y="3828336"/>
              <a:ext cx="134764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跟进认证进度，提醒未完成客户</a:t>
              </a:r>
            </a:p>
          </p:txBody>
        </p:sp>
        <p:grpSp>
          <p:nvGrpSpPr>
            <p:cNvPr id="229" name="Group 229"/>
            <p:cNvGrpSpPr/>
            <p:nvPr/>
          </p:nvGrpSpPr>
          <p:grpSpPr>
            <a:xfrm>
              <a:off x="3537347" y="4023122"/>
              <a:ext cx="78581" cy="78581"/>
              <a:chOff x="3537347" y="4023122"/>
              <a:chExt cx="78581" cy="78581"/>
            </a:xfrm>
          </p:grpSpPr>
          <p:sp>
            <p:nvSpPr>
              <p:cNvPr id="227" name="Freeform 227"/>
              <p:cNvSpPr/>
              <p:nvPr/>
            </p:nvSpPr>
            <p:spPr>
              <a:xfrm>
                <a:off x="3537347" y="40231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28" name="Freeform 228"/>
              <p:cNvSpPr/>
              <p:nvPr/>
            </p:nvSpPr>
            <p:spPr>
              <a:xfrm>
                <a:off x="3563541" y="40536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30" name="TextBox 230"/>
            <p:cNvSpPr txBox="1"/>
            <p:nvPr/>
          </p:nvSpPr>
          <p:spPr>
            <a:xfrm>
              <a:off x="3671888" y="4018836"/>
              <a:ext cx="106090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协助解决认证过程中问题</a:t>
              </a:r>
            </a:p>
          </p:txBody>
        </p:sp>
        <p:grpSp>
          <p:nvGrpSpPr>
            <p:cNvPr id="233" name="Group 233"/>
            <p:cNvGrpSpPr/>
            <p:nvPr/>
          </p:nvGrpSpPr>
          <p:grpSpPr>
            <a:xfrm>
              <a:off x="3537347" y="4213622"/>
              <a:ext cx="78581" cy="78581"/>
              <a:chOff x="3537347" y="4213622"/>
              <a:chExt cx="78581" cy="78581"/>
            </a:xfrm>
          </p:grpSpPr>
          <p:sp>
            <p:nvSpPr>
              <p:cNvPr id="231" name="Freeform 231"/>
              <p:cNvSpPr/>
              <p:nvPr/>
            </p:nvSpPr>
            <p:spPr>
              <a:xfrm>
                <a:off x="3537347" y="42136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32" name="Freeform 232"/>
              <p:cNvSpPr/>
              <p:nvPr/>
            </p:nvSpPr>
            <p:spPr>
              <a:xfrm>
                <a:off x="3563541" y="42441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34" name="TextBox 234"/>
            <p:cNvSpPr txBox="1"/>
            <p:nvPr/>
          </p:nvSpPr>
          <p:spPr>
            <a:xfrm>
              <a:off x="3671888" y="4209336"/>
              <a:ext cx="125206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确认认证结果并发送成功通知</a:t>
              </a:r>
            </a:p>
          </p:txBody>
        </p:sp>
        <p:grpSp>
          <p:nvGrpSpPr>
            <p:cNvPr id="237" name="Group 237"/>
            <p:cNvGrpSpPr/>
            <p:nvPr/>
          </p:nvGrpSpPr>
          <p:grpSpPr>
            <a:xfrm>
              <a:off x="3537347" y="4404122"/>
              <a:ext cx="78581" cy="78581"/>
              <a:chOff x="3537347" y="4404122"/>
              <a:chExt cx="78581" cy="78581"/>
            </a:xfrm>
          </p:grpSpPr>
          <p:sp>
            <p:nvSpPr>
              <p:cNvPr id="235" name="Freeform 235"/>
              <p:cNvSpPr/>
              <p:nvPr/>
            </p:nvSpPr>
            <p:spPr>
              <a:xfrm>
                <a:off x="3537347" y="44041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36" name="Freeform 236"/>
              <p:cNvSpPr/>
              <p:nvPr/>
            </p:nvSpPr>
            <p:spPr>
              <a:xfrm>
                <a:off x="3563541" y="4434681"/>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38" name="TextBox 238"/>
            <p:cNvSpPr txBox="1"/>
            <p:nvPr/>
          </p:nvSpPr>
          <p:spPr>
            <a:xfrm>
              <a:off x="3671888" y="4399836"/>
              <a:ext cx="120905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邀请加入专属客群/标签分层</a:t>
              </a:r>
            </a:p>
          </p:txBody>
        </p:sp>
      </p:grpSp>
      <p:grpSp>
        <p:nvGrpSpPr>
          <p:cNvPr id="277" name="zone-scripts"/>
          <p:cNvGrpSpPr/>
          <p:nvPr/>
        </p:nvGrpSpPr>
        <p:grpSpPr>
          <a:xfrm>
            <a:off x="5248275" y="2914650"/>
            <a:ext cx="4124325" cy="2114550"/>
            <a:chOff x="5248275" y="2914650"/>
            <a:chExt cx="4124325" cy="2114550"/>
          </a:xfrm>
        </p:grpSpPr>
        <p:sp>
          <p:nvSpPr>
            <p:cNvPr id="240" name="Rectangle 240"/>
            <p:cNvSpPr/>
            <p:nvPr/>
          </p:nvSpPr>
          <p:spPr>
            <a:xfrm>
              <a:off x="5248275" y="2914650"/>
              <a:ext cx="4124325" cy="2114550"/>
            </a:xfrm>
            <a:prstGeom prst="roundRect">
              <a:avLst>
                <a:gd name="adj" fmla="val 2703"/>
              </a:avLst>
            </a:prstGeom>
            <a:solidFill>
              <a:srgbClr val="FDF5F6"/>
            </a:solidFill>
            <a:ln>
              <a:noFill/>
            </a:ln>
          </p:spPr>
        </p:sp>
        <p:sp>
          <p:nvSpPr>
            <p:cNvPr id="241" name="Rectangle 241"/>
            <p:cNvSpPr/>
            <p:nvPr/>
          </p:nvSpPr>
          <p:spPr>
            <a:xfrm>
              <a:off x="5248275" y="2914650"/>
              <a:ext cx="4124325" cy="228600"/>
            </a:xfrm>
            <a:prstGeom prst="roundRect">
              <a:avLst>
                <a:gd name="adj" fmla="val 25000"/>
              </a:avLst>
            </a:prstGeom>
            <a:solidFill>
              <a:srgbClr val="C83210"/>
            </a:solidFill>
            <a:ln>
              <a:noFill/>
            </a:ln>
          </p:spPr>
        </p:sp>
        <p:sp>
          <p:nvSpPr>
            <p:cNvPr id="242" name="TextBox 242"/>
            <p:cNvSpPr txBox="1"/>
            <p:nvPr/>
          </p:nvSpPr>
          <p:spPr>
            <a:xfrm>
              <a:off x="5338762" y="2979420"/>
              <a:ext cx="231152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五、不同客户类型的认证沟通话术（示例）</a:t>
              </a:r>
            </a:p>
          </p:txBody>
        </p:sp>
        <p:grpSp>
          <p:nvGrpSpPr>
            <p:cNvPr id="245" name="Group 245"/>
            <p:cNvGrpSpPr/>
            <p:nvPr/>
          </p:nvGrpSpPr>
          <p:grpSpPr>
            <a:xfrm>
              <a:off x="5372100" y="3200400"/>
              <a:ext cx="76200" cy="114300"/>
              <a:chOff x="5372100" y="3200400"/>
              <a:chExt cx="76200" cy="114300"/>
            </a:xfrm>
          </p:grpSpPr>
          <p:sp>
            <p:nvSpPr>
              <p:cNvPr id="243" name="Freeform 243"/>
              <p:cNvSpPr/>
              <p:nvPr/>
            </p:nvSpPr>
            <p:spPr>
              <a:xfrm>
                <a:off x="5384800" y="32004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244" name="Freeform 244"/>
              <p:cNvSpPr/>
              <p:nvPr/>
            </p:nvSpPr>
            <p:spPr>
              <a:xfrm>
                <a:off x="5372100" y="32766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C83210"/>
                </a:solidFill>
              </a:ln>
            </p:spPr>
          </p:sp>
        </p:grpSp>
        <p:sp>
          <p:nvSpPr>
            <p:cNvPr id="246" name="TextBox 246"/>
            <p:cNvSpPr txBox="1"/>
            <p:nvPr/>
          </p:nvSpPr>
          <p:spPr>
            <a:xfrm>
              <a:off x="5538788" y="3216116"/>
              <a:ext cx="1003021"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新客户（首次接触）</a:t>
              </a:r>
            </a:p>
          </p:txBody>
        </p:sp>
        <p:sp>
          <p:nvSpPr>
            <p:cNvPr id="247" name="Rectangle 247"/>
            <p:cNvSpPr/>
            <p:nvPr/>
          </p:nvSpPr>
          <p:spPr>
            <a:xfrm>
              <a:off x="5334000" y="3352800"/>
              <a:ext cx="1943100" cy="685800"/>
            </a:xfrm>
            <a:prstGeom prst="roundRect">
              <a:avLst>
                <a:gd name="adj" fmla="val 11111"/>
              </a:avLst>
            </a:prstGeom>
            <a:solidFill>
              <a:srgbClr val="FBE3E6"/>
            </a:solidFill>
            <a:ln>
              <a:noFill/>
            </a:ln>
          </p:spPr>
        </p:sp>
        <p:sp>
          <p:nvSpPr>
            <p:cNvPr id="248" name="Polygon 248"/>
            <p:cNvSpPr/>
            <p:nvPr/>
          </p:nvSpPr>
          <p:spPr>
            <a:xfrm>
              <a:off x="5410200" y="3276600"/>
              <a:ext cx="152400" cy="76200"/>
            </a:xfrm>
            <a:custGeom>
              <a:avLst/>
              <a:gdLst/>
              <a:ahLst/>
              <a:cxnLst/>
              <a:rect l="l" t="t" r="r" b="b"/>
              <a:pathLst>
                <a:path w="152400" h="76200">
                  <a:moveTo>
                    <a:pt x="0" y="76200"/>
                  </a:moveTo>
                  <a:lnTo>
                    <a:pt x="76200" y="0"/>
                  </a:lnTo>
                  <a:lnTo>
                    <a:pt x="152400" y="76200"/>
                  </a:lnTo>
                  <a:close/>
                </a:path>
              </a:pathLst>
            </a:custGeom>
            <a:solidFill>
              <a:srgbClr val="FBE3E6"/>
            </a:solidFill>
            <a:ln>
              <a:noFill/>
            </a:ln>
          </p:spPr>
        </p:sp>
        <p:sp>
          <p:nvSpPr>
            <p:cNvPr id="249" name="TextBox 249"/>
            <p:cNvSpPr txBox="1"/>
            <p:nvPr/>
          </p:nvSpPr>
          <p:spPr>
            <a:xfrm>
              <a:off x="5405438" y="3405378"/>
              <a:ext cx="1422730"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您好！我是XX银行的客户经理XXX，</a:t>
              </a:r>
            </a:p>
          </p:txBody>
        </p:sp>
        <p:sp>
          <p:nvSpPr>
            <p:cNvPr id="250" name="TextBox 250"/>
            <p:cNvSpPr txBox="1"/>
            <p:nvPr/>
          </p:nvSpPr>
          <p:spPr>
            <a:xfrm>
              <a:off x="5405438" y="3519678"/>
              <a:ext cx="1434465" cy="473392"/>
            </a:xfrm>
            <a:prstGeom prst="rect">
              <a:avLst/>
            </a:prstGeom>
            <a:noFill/>
            <a:ln>
              <a:noFill/>
            </a:ln>
          </p:spPr>
          <p:txBody>
            <a:bodyPr wrap="none" lIns="0" tIns="0" rIns="0" bIns="0" anchor="t" anchorCtr="0">
              <a:spAutoFit/>
            </a:bodyPr>
            <a:lstStyle/>
            <a:p>
              <a:pPr algn="l">
                <a:lnSpc>
                  <a:spcPts val="900"/>
                </a:lnSpc>
              </a:pPr>
              <a:r>
                <a:rPr lang="zh-CN" sz="660" dirty="0">
                  <a:solidFill>
                    <a:srgbClr val="3D3D3D"/>
                  </a:solidFill>
                  <a:latin typeface="+mn-lt"/>
                  <a:ea typeface="+mn-ea"/>
                  <a:cs typeface="+mn-cs"/>
                </a:rPr>
                <a:t>很高兴为您服务。为了给您提供更专业</a:t>
              </a:r>
              <a:br/>
              <a:r>
                <a:rPr lang="zh-CN" sz="660" dirty="0">
                  <a:solidFill>
                    <a:srgbClr val="3D3D3D"/>
                  </a:solidFill>
                  <a:latin typeface="+mn-lt"/>
                  <a:ea typeface="+mn-ea"/>
                  <a:cs typeface="+mn-cs"/>
                </a:rPr>
                <a:t>的金融服务，需要您完成简单的身份认</a:t>
              </a:r>
              <a:br/>
              <a:r>
                <a:rPr lang="zh-CN" sz="660" dirty="0">
                  <a:solidFill>
                    <a:srgbClr val="3D3D3D"/>
                  </a:solidFill>
                  <a:latin typeface="+mn-lt"/>
                  <a:ea typeface="+mn-ea"/>
                  <a:cs typeface="+mn-cs"/>
                </a:rPr>
                <a:t>证，点击下方链接即可，1分钟即可完</a:t>
              </a:r>
              <a:br/>
              <a:r>
                <a:rPr lang="zh-CN" sz="660" dirty="0">
                  <a:solidFill>
                    <a:srgbClr val="3D3D3D"/>
                  </a:solidFill>
                  <a:latin typeface="+mn-lt"/>
                  <a:ea typeface="+mn-ea"/>
                  <a:cs typeface="+mn-cs"/>
                </a:rPr>
                <a:t>成，感谢您的支持！</a:t>
              </a:r>
            </a:p>
          </p:txBody>
        </p:sp>
        <p:grpSp>
          <p:nvGrpSpPr>
            <p:cNvPr id="254" name="Group 254"/>
            <p:cNvGrpSpPr/>
            <p:nvPr/>
          </p:nvGrpSpPr>
          <p:grpSpPr>
            <a:xfrm>
              <a:off x="7391400" y="3200400"/>
              <a:ext cx="95250" cy="114300"/>
              <a:chOff x="7391400" y="3200400"/>
              <a:chExt cx="95250" cy="114300"/>
            </a:xfrm>
          </p:grpSpPr>
          <p:sp>
            <p:nvSpPr>
              <p:cNvPr id="251" name="Freeform 251"/>
              <p:cNvSpPr/>
              <p:nvPr/>
            </p:nvSpPr>
            <p:spPr>
              <a:xfrm>
                <a:off x="7404100" y="32004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252" name="Freeform 252"/>
              <p:cNvSpPr/>
              <p:nvPr/>
            </p:nvSpPr>
            <p:spPr>
              <a:xfrm>
                <a:off x="7391400" y="32766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C83210"/>
                </a:solidFill>
              </a:ln>
            </p:spPr>
          </p:sp>
          <p:sp>
            <p:nvSpPr>
              <p:cNvPr id="253" name="Freeform 253"/>
              <p:cNvSpPr/>
              <p:nvPr/>
            </p:nvSpPr>
            <p:spPr>
              <a:xfrm>
                <a:off x="7448550" y="3289300"/>
                <a:ext cx="38100" cy="25400"/>
              </a:xfrm>
              <a:custGeom>
                <a:avLst/>
                <a:gdLst/>
                <a:ahLst/>
                <a:cxnLst/>
                <a:rect l="l" t="t" r="r" b="b"/>
                <a:pathLst>
                  <a:path w="38100" h="25400">
                    <a:moveTo>
                      <a:pt x="0" y="12700"/>
                    </a:moveTo>
                    <a:lnTo>
                      <a:pt x="12700" y="25400"/>
                    </a:lnTo>
                    <a:lnTo>
                      <a:pt x="38100" y="0"/>
                    </a:lnTo>
                  </a:path>
                </a:pathLst>
              </a:custGeom>
              <a:noFill/>
              <a:ln w="12700">
                <a:solidFill>
                  <a:srgbClr val="C83210"/>
                </a:solidFill>
              </a:ln>
            </p:spPr>
          </p:sp>
        </p:grpSp>
        <p:sp>
          <p:nvSpPr>
            <p:cNvPr id="255" name="TextBox 255"/>
            <p:cNvSpPr txBox="1"/>
            <p:nvPr/>
          </p:nvSpPr>
          <p:spPr>
            <a:xfrm>
              <a:off x="7558088" y="3216116"/>
              <a:ext cx="782244"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存量未认证客户</a:t>
              </a:r>
            </a:p>
          </p:txBody>
        </p:sp>
        <p:sp>
          <p:nvSpPr>
            <p:cNvPr id="256" name="Rectangle 256"/>
            <p:cNvSpPr/>
            <p:nvPr/>
          </p:nvSpPr>
          <p:spPr>
            <a:xfrm>
              <a:off x="7353300" y="3352800"/>
              <a:ext cx="1943100" cy="685800"/>
            </a:xfrm>
            <a:prstGeom prst="roundRect">
              <a:avLst>
                <a:gd name="adj" fmla="val 11111"/>
              </a:avLst>
            </a:prstGeom>
            <a:solidFill>
              <a:srgbClr val="FBE3E6"/>
            </a:solidFill>
            <a:ln>
              <a:noFill/>
            </a:ln>
          </p:spPr>
        </p:sp>
        <p:sp>
          <p:nvSpPr>
            <p:cNvPr id="257" name="Polygon 257"/>
            <p:cNvSpPr/>
            <p:nvPr/>
          </p:nvSpPr>
          <p:spPr>
            <a:xfrm>
              <a:off x="7429500" y="3276600"/>
              <a:ext cx="152400" cy="76200"/>
            </a:xfrm>
            <a:custGeom>
              <a:avLst/>
              <a:gdLst/>
              <a:ahLst/>
              <a:cxnLst/>
              <a:rect l="l" t="t" r="r" b="b"/>
              <a:pathLst>
                <a:path w="152400" h="76200">
                  <a:moveTo>
                    <a:pt x="0" y="76200"/>
                  </a:moveTo>
                  <a:lnTo>
                    <a:pt x="76200" y="0"/>
                  </a:lnTo>
                  <a:lnTo>
                    <a:pt x="152400" y="76200"/>
                  </a:lnTo>
                  <a:close/>
                </a:path>
              </a:pathLst>
            </a:custGeom>
            <a:solidFill>
              <a:srgbClr val="FBE3E6"/>
            </a:solidFill>
            <a:ln>
              <a:noFill/>
            </a:ln>
          </p:spPr>
        </p:sp>
        <p:sp>
          <p:nvSpPr>
            <p:cNvPr id="258" name="TextBox 258"/>
            <p:cNvSpPr txBox="1"/>
            <p:nvPr/>
          </p:nvSpPr>
          <p:spPr>
            <a:xfrm>
              <a:off x="7424738" y="3405378"/>
              <a:ext cx="1350645" cy="587692"/>
            </a:xfrm>
            <a:prstGeom prst="rect">
              <a:avLst/>
            </a:prstGeom>
            <a:noFill/>
            <a:ln>
              <a:noFill/>
            </a:ln>
          </p:spPr>
          <p:txBody>
            <a:bodyPr wrap="none" lIns="0" tIns="0" rIns="0" bIns="0" anchor="t" anchorCtr="0">
              <a:spAutoFit/>
            </a:bodyPr>
            <a:lstStyle/>
            <a:p>
              <a:pPr algn="l">
                <a:lnSpc>
                  <a:spcPts val="900"/>
                </a:lnSpc>
              </a:pPr>
              <a:r>
                <a:rPr lang="zh-CN" sz="660" dirty="0">
                  <a:solidFill>
                    <a:srgbClr val="3D3D3D"/>
                  </a:solidFill>
                  <a:latin typeface="+mn-lt"/>
                  <a:ea typeface="+mn-ea"/>
                  <a:cs typeface="+mn-cs"/>
                </a:rPr>
                <a:t>您好！我是您的专属客户经理。为了</a:t>
              </a:r>
              <a:br/>
              <a:r>
                <a:rPr lang="zh-CN" sz="660" dirty="0">
                  <a:solidFill>
                    <a:srgbClr val="3D3D3D"/>
                  </a:solidFill>
                  <a:latin typeface="+mn-lt"/>
                  <a:ea typeface="+mn-ea"/>
                  <a:cs typeface="+mn-cs"/>
                </a:rPr>
                <a:t>让您享受更全面的专属服务（如产品</a:t>
              </a:r>
              <a:br/>
              <a:r>
                <a:rPr lang="zh-CN" sz="660" dirty="0">
                  <a:solidFill>
                    <a:srgbClr val="3D3D3D"/>
                  </a:solidFill>
                  <a:latin typeface="+mn-lt"/>
                  <a:ea typeface="+mn-ea"/>
                  <a:cs typeface="+mn-cs"/>
                </a:rPr>
                <a:t>推荐、权益活动等），需要完成身份</a:t>
              </a:r>
              <a:br/>
              <a:r>
                <a:rPr lang="zh-CN" sz="660" dirty="0">
                  <a:solidFill>
                    <a:srgbClr val="3D3D3D"/>
                  </a:solidFill>
                  <a:latin typeface="+mn-lt"/>
                  <a:ea typeface="+mn-ea"/>
                  <a:cs typeface="+mn-cs"/>
                </a:rPr>
                <a:t>认证，点击链接即可快速完成，感谢</a:t>
              </a:r>
              <a:br/>
              <a:r>
                <a:rPr lang="zh-CN" sz="660" dirty="0">
                  <a:solidFill>
                    <a:srgbClr val="3D3D3D"/>
                  </a:solidFill>
                  <a:latin typeface="+mn-lt"/>
                  <a:ea typeface="+mn-ea"/>
                  <a:cs typeface="+mn-cs"/>
                </a:rPr>
                <a:t>您的配合！</a:t>
              </a:r>
            </a:p>
          </p:txBody>
        </p:sp>
        <p:grpSp>
          <p:nvGrpSpPr>
            <p:cNvPr id="262" name="Group 262"/>
            <p:cNvGrpSpPr/>
            <p:nvPr/>
          </p:nvGrpSpPr>
          <p:grpSpPr>
            <a:xfrm>
              <a:off x="5372100" y="4114800"/>
              <a:ext cx="101610" cy="120650"/>
              <a:chOff x="5372100" y="4114800"/>
              <a:chExt cx="101610" cy="120650"/>
            </a:xfrm>
          </p:grpSpPr>
          <p:sp>
            <p:nvSpPr>
              <p:cNvPr id="259" name="Freeform 259"/>
              <p:cNvSpPr/>
              <p:nvPr/>
            </p:nvSpPr>
            <p:spPr>
              <a:xfrm>
                <a:off x="5384800" y="41148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260" name="Freeform 260"/>
              <p:cNvSpPr/>
              <p:nvPr/>
            </p:nvSpPr>
            <p:spPr>
              <a:xfrm>
                <a:off x="5372100" y="4191000"/>
                <a:ext cx="28575" cy="38100"/>
              </a:xfrm>
              <a:custGeom>
                <a:avLst/>
                <a:gdLst/>
                <a:ahLst/>
                <a:cxnLst/>
                <a:rect l="l" t="t" r="r" b="b"/>
                <a:pathLst>
                  <a:path w="28575" h="38100">
                    <a:moveTo>
                      <a:pt x="0" y="38100"/>
                    </a:moveTo>
                    <a:lnTo>
                      <a:pt x="0" y="25400"/>
                    </a:lnTo>
                    <a:cubicBezTo>
                      <a:pt x="0" y="11372"/>
                      <a:pt x="11372" y="0"/>
                      <a:pt x="25400" y="0"/>
                    </a:cubicBezTo>
                    <a:lnTo>
                      <a:pt x="28575" y="0"/>
                    </a:lnTo>
                  </a:path>
                </a:pathLst>
              </a:custGeom>
              <a:noFill/>
              <a:ln w="12700">
                <a:solidFill>
                  <a:srgbClr val="C83210"/>
                </a:solidFill>
              </a:ln>
            </p:spPr>
          </p:sp>
          <p:sp>
            <p:nvSpPr>
              <p:cNvPr id="261" name="Freeform 261"/>
              <p:cNvSpPr/>
              <p:nvPr/>
            </p:nvSpPr>
            <p:spPr>
              <a:xfrm>
                <a:off x="5422892" y="4189649"/>
                <a:ext cx="50818" cy="45801"/>
              </a:xfrm>
              <a:custGeom>
                <a:avLst/>
                <a:gdLst/>
                <a:ahLst/>
                <a:cxnLst/>
                <a:rect l="l" t="t" r="r" b="b"/>
                <a:pathLst>
                  <a:path w="50818" h="45801">
                    <a:moveTo>
                      <a:pt x="25408" y="45801"/>
                    </a:moveTo>
                    <a:lnTo>
                      <a:pt x="46680" y="24948"/>
                    </a:lnTo>
                    <a:cubicBezTo>
                      <a:pt x="49316" y="22391"/>
                      <a:pt x="50806" y="18877"/>
                      <a:pt x="50812" y="15204"/>
                    </a:cubicBezTo>
                    <a:cubicBezTo>
                      <a:pt x="50818" y="11532"/>
                      <a:pt x="49339" y="8013"/>
                      <a:pt x="46712" y="5447"/>
                    </a:cubicBezTo>
                    <a:cubicBezTo>
                      <a:pt x="41194" y="51"/>
                      <a:pt x="32382" y="34"/>
                      <a:pt x="26843" y="5409"/>
                    </a:cubicBezTo>
                    <a:lnTo>
                      <a:pt x="25421" y="6806"/>
                    </a:lnTo>
                    <a:lnTo>
                      <a:pt x="24005" y="5409"/>
                    </a:lnTo>
                    <a:cubicBezTo>
                      <a:pt x="18487" y="17"/>
                      <a:pt x="9679" y="0"/>
                      <a:pt x="4142" y="5371"/>
                    </a:cubicBezTo>
                    <a:cubicBezTo>
                      <a:pt x="1505" y="7928"/>
                      <a:pt x="14" y="11441"/>
                      <a:pt x="7" y="15113"/>
                    </a:cubicBezTo>
                    <a:cubicBezTo>
                      <a:pt x="0" y="18786"/>
                      <a:pt x="1477" y="22305"/>
                      <a:pt x="4104" y="24872"/>
                    </a:cubicBezTo>
                    <a:lnTo>
                      <a:pt x="25408" y="45801"/>
                    </a:lnTo>
                  </a:path>
                </a:pathLst>
              </a:custGeom>
              <a:noFill/>
              <a:ln w="12700">
                <a:solidFill>
                  <a:srgbClr val="C83210"/>
                </a:solidFill>
              </a:ln>
            </p:spPr>
          </p:sp>
        </p:grpSp>
        <p:sp>
          <p:nvSpPr>
            <p:cNvPr id="263" name="TextBox 263"/>
            <p:cNvSpPr txBox="1"/>
            <p:nvPr/>
          </p:nvSpPr>
          <p:spPr>
            <a:xfrm>
              <a:off x="5538788" y="4130516"/>
              <a:ext cx="451079"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老年客户</a:t>
              </a:r>
            </a:p>
          </p:txBody>
        </p:sp>
        <p:sp>
          <p:nvSpPr>
            <p:cNvPr id="264" name="Rectangle 264"/>
            <p:cNvSpPr/>
            <p:nvPr/>
          </p:nvSpPr>
          <p:spPr>
            <a:xfrm>
              <a:off x="5334000" y="4267200"/>
              <a:ext cx="1943100" cy="704850"/>
            </a:xfrm>
            <a:prstGeom prst="roundRect">
              <a:avLst>
                <a:gd name="adj" fmla="val 10811"/>
              </a:avLst>
            </a:prstGeom>
            <a:solidFill>
              <a:srgbClr val="FBE3E6"/>
            </a:solidFill>
            <a:ln>
              <a:noFill/>
            </a:ln>
          </p:spPr>
        </p:sp>
        <p:sp>
          <p:nvSpPr>
            <p:cNvPr id="265" name="Polygon 265"/>
            <p:cNvSpPr/>
            <p:nvPr/>
          </p:nvSpPr>
          <p:spPr>
            <a:xfrm>
              <a:off x="5410200" y="4191000"/>
              <a:ext cx="152400" cy="76200"/>
            </a:xfrm>
            <a:custGeom>
              <a:avLst/>
              <a:gdLst/>
              <a:ahLst/>
              <a:cxnLst/>
              <a:rect l="l" t="t" r="r" b="b"/>
              <a:pathLst>
                <a:path w="152400" h="76200">
                  <a:moveTo>
                    <a:pt x="0" y="76200"/>
                  </a:moveTo>
                  <a:lnTo>
                    <a:pt x="76200" y="0"/>
                  </a:lnTo>
                  <a:lnTo>
                    <a:pt x="152400" y="76200"/>
                  </a:lnTo>
                  <a:close/>
                </a:path>
              </a:pathLst>
            </a:custGeom>
            <a:solidFill>
              <a:srgbClr val="FBE3E6"/>
            </a:solidFill>
            <a:ln>
              <a:noFill/>
            </a:ln>
          </p:spPr>
        </p:sp>
        <p:sp>
          <p:nvSpPr>
            <p:cNvPr id="266" name="TextBox 266"/>
            <p:cNvSpPr txBox="1"/>
            <p:nvPr/>
          </p:nvSpPr>
          <p:spPr>
            <a:xfrm>
              <a:off x="5405438" y="4319778"/>
              <a:ext cx="1445529"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您好！我是XX银行的客户经理。我们</a:t>
              </a:r>
            </a:p>
          </p:txBody>
        </p:sp>
        <p:sp>
          <p:nvSpPr>
            <p:cNvPr id="267" name="TextBox 267"/>
            <p:cNvSpPr txBox="1"/>
            <p:nvPr/>
          </p:nvSpPr>
          <p:spPr>
            <a:xfrm>
              <a:off x="5405438" y="4434078"/>
              <a:ext cx="1350645" cy="473392"/>
            </a:xfrm>
            <a:prstGeom prst="rect">
              <a:avLst/>
            </a:prstGeom>
            <a:noFill/>
            <a:ln>
              <a:noFill/>
            </a:ln>
          </p:spPr>
          <p:txBody>
            <a:bodyPr wrap="none" lIns="0" tIns="0" rIns="0" bIns="0" anchor="t" anchorCtr="0">
              <a:spAutoFit/>
            </a:bodyPr>
            <a:lstStyle/>
            <a:p>
              <a:pPr algn="l">
                <a:lnSpc>
                  <a:spcPts val="900"/>
                </a:lnSpc>
              </a:pPr>
              <a:r>
                <a:rPr lang="zh-CN" sz="660" dirty="0">
                  <a:solidFill>
                    <a:srgbClr val="3D3D3D"/>
                  </a:solidFill>
                  <a:latin typeface="+mn-lt"/>
                  <a:ea typeface="+mn-ea"/>
                  <a:cs typeface="+mn-cs"/>
                </a:rPr>
                <a:t>可以帮您完成认证操作，您只需根据</a:t>
              </a:r>
              <a:br/>
              <a:r>
                <a:rPr lang="zh-CN" sz="660" dirty="0">
                  <a:solidFill>
                    <a:srgbClr val="3D3D3D"/>
                  </a:solidFill>
                  <a:latin typeface="+mn-lt"/>
                  <a:ea typeface="+mn-ea"/>
                  <a:cs typeface="+mn-cs"/>
                </a:rPr>
                <a:t>我的指引，点一下链接，或到网点由</a:t>
              </a:r>
              <a:br/>
              <a:r>
                <a:rPr lang="zh-CN" sz="660" dirty="0">
                  <a:solidFill>
                    <a:srgbClr val="3D3D3D"/>
                  </a:solidFill>
                  <a:latin typeface="+mn-lt"/>
                  <a:ea typeface="+mn-ea"/>
                  <a:cs typeface="+mn-cs"/>
                </a:rPr>
                <a:t>我们协助完成，完成后就能享受更多</a:t>
              </a:r>
              <a:br/>
              <a:r>
                <a:rPr lang="zh-CN" sz="660" dirty="0">
                  <a:solidFill>
                    <a:srgbClr val="3D3D3D"/>
                  </a:solidFill>
                  <a:latin typeface="+mn-lt"/>
                  <a:ea typeface="+mn-ea"/>
                  <a:cs typeface="+mn-cs"/>
                </a:rPr>
                <a:t>贴心服务。</a:t>
              </a:r>
            </a:p>
          </p:txBody>
        </p:sp>
        <p:grpSp>
          <p:nvGrpSpPr>
            <p:cNvPr id="272" name="Group 272"/>
            <p:cNvGrpSpPr/>
            <p:nvPr/>
          </p:nvGrpSpPr>
          <p:grpSpPr>
            <a:xfrm>
              <a:off x="7372350" y="4114800"/>
              <a:ext cx="114300" cy="114300"/>
              <a:chOff x="7372350" y="4114800"/>
              <a:chExt cx="114300" cy="114300"/>
            </a:xfrm>
          </p:grpSpPr>
          <p:sp>
            <p:nvSpPr>
              <p:cNvPr id="268" name="Freeform 268"/>
              <p:cNvSpPr/>
              <p:nvPr/>
            </p:nvSpPr>
            <p:spPr>
              <a:xfrm>
                <a:off x="7372350" y="41148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83210"/>
                </a:solidFill>
              </a:ln>
            </p:spPr>
          </p:sp>
          <p:sp>
            <p:nvSpPr>
              <p:cNvPr id="269" name="Freeform 269"/>
              <p:cNvSpPr/>
              <p:nvPr/>
            </p:nvSpPr>
            <p:spPr>
              <a:xfrm>
                <a:off x="7410450" y="4159250"/>
                <a:ext cx="9525" cy="9525"/>
              </a:xfrm>
              <a:custGeom>
                <a:avLst/>
                <a:gdLst/>
                <a:ahLst/>
                <a:cxnLst/>
                <a:rect l="l" t="t" r="r" b="b"/>
                <a:pathLst>
                  <a:path w="9525" h="9525">
                    <a:moveTo>
                      <a:pt x="0" y="0"/>
                    </a:moveTo>
                    <a:lnTo>
                      <a:pt x="64" y="0"/>
                    </a:lnTo>
                  </a:path>
                </a:pathLst>
              </a:custGeom>
              <a:noFill/>
              <a:ln w="12700">
                <a:solidFill>
                  <a:srgbClr val="C83210"/>
                </a:solidFill>
              </a:ln>
            </p:spPr>
          </p:sp>
          <p:sp>
            <p:nvSpPr>
              <p:cNvPr id="270" name="Freeform 270"/>
              <p:cNvSpPr/>
              <p:nvPr/>
            </p:nvSpPr>
            <p:spPr>
              <a:xfrm>
                <a:off x="7448550" y="4159250"/>
                <a:ext cx="9525" cy="9525"/>
              </a:xfrm>
              <a:custGeom>
                <a:avLst/>
                <a:gdLst/>
                <a:ahLst/>
                <a:cxnLst/>
                <a:rect l="l" t="t" r="r" b="b"/>
                <a:pathLst>
                  <a:path w="9525" h="9525">
                    <a:moveTo>
                      <a:pt x="0" y="0"/>
                    </a:moveTo>
                    <a:lnTo>
                      <a:pt x="64" y="0"/>
                    </a:lnTo>
                  </a:path>
                </a:pathLst>
              </a:custGeom>
              <a:noFill/>
              <a:ln w="12700">
                <a:solidFill>
                  <a:srgbClr val="C83210"/>
                </a:solidFill>
              </a:ln>
            </p:spPr>
          </p:sp>
          <p:sp>
            <p:nvSpPr>
              <p:cNvPr id="271" name="Freeform 271"/>
              <p:cNvSpPr/>
              <p:nvPr/>
            </p:nvSpPr>
            <p:spPr>
              <a:xfrm>
                <a:off x="7413625" y="4185917"/>
                <a:ext cx="31750" cy="9525"/>
              </a:xfrm>
              <a:custGeom>
                <a:avLst/>
                <a:gdLst/>
                <a:ahLst/>
                <a:cxnLst/>
                <a:rect l="l" t="t" r="r" b="b"/>
                <a:pathLst>
                  <a:path w="31750" h="9525">
                    <a:moveTo>
                      <a:pt x="0" y="6671"/>
                    </a:moveTo>
                    <a:cubicBezTo>
                      <a:pt x="4180" y="2404"/>
                      <a:pt x="9902" y="0"/>
                      <a:pt x="15875" y="0"/>
                    </a:cubicBezTo>
                    <a:cubicBezTo>
                      <a:pt x="21848" y="0"/>
                      <a:pt x="27570" y="2404"/>
                      <a:pt x="31750" y="6671"/>
                    </a:cubicBezTo>
                  </a:path>
                </a:pathLst>
              </a:custGeom>
              <a:noFill/>
              <a:ln w="12700">
                <a:solidFill>
                  <a:srgbClr val="C83210"/>
                </a:solidFill>
              </a:ln>
            </p:spPr>
          </p:sp>
        </p:grpSp>
        <p:sp>
          <p:nvSpPr>
            <p:cNvPr id="273" name="TextBox 273"/>
            <p:cNvSpPr txBox="1"/>
            <p:nvPr/>
          </p:nvSpPr>
          <p:spPr>
            <a:xfrm>
              <a:off x="7558088" y="4130516"/>
              <a:ext cx="1066770"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有顾虑/不愿意的客户</a:t>
              </a:r>
            </a:p>
          </p:txBody>
        </p:sp>
        <p:sp>
          <p:nvSpPr>
            <p:cNvPr id="274" name="Rectangle 274"/>
            <p:cNvSpPr/>
            <p:nvPr/>
          </p:nvSpPr>
          <p:spPr>
            <a:xfrm>
              <a:off x="7353300" y="4267200"/>
              <a:ext cx="1943100" cy="704850"/>
            </a:xfrm>
            <a:prstGeom prst="roundRect">
              <a:avLst>
                <a:gd name="adj" fmla="val 10811"/>
              </a:avLst>
            </a:prstGeom>
            <a:solidFill>
              <a:srgbClr val="FBE3E6"/>
            </a:solidFill>
            <a:ln>
              <a:noFill/>
            </a:ln>
          </p:spPr>
        </p:sp>
        <p:sp>
          <p:nvSpPr>
            <p:cNvPr id="275" name="Polygon 275"/>
            <p:cNvSpPr/>
            <p:nvPr/>
          </p:nvSpPr>
          <p:spPr>
            <a:xfrm>
              <a:off x="7429500" y="4191000"/>
              <a:ext cx="152400" cy="76200"/>
            </a:xfrm>
            <a:custGeom>
              <a:avLst/>
              <a:gdLst/>
              <a:ahLst/>
              <a:cxnLst/>
              <a:rect l="l" t="t" r="r" b="b"/>
              <a:pathLst>
                <a:path w="152400" h="76200">
                  <a:moveTo>
                    <a:pt x="0" y="76200"/>
                  </a:moveTo>
                  <a:lnTo>
                    <a:pt x="76200" y="0"/>
                  </a:lnTo>
                  <a:lnTo>
                    <a:pt x="152400" y="76200"/>
                  </a:lnTo>
                  <a:close/>
                </a:path>
              </a:pathLst>
            </a:custGeom>
            <a:solidFill>
              <a:srgbClr val="FBE3E6"/>
            </a:solidFill>
            <a:ln>
              <a:noFill/>
            </a:ln>
          </p:spPr>
        </p:sp>
        <p:sp>
          <p:nvSpPr>
            <p:cNvPr id="276" name="TextBox 276"/>
            <p:cNvSpPr txBox="1"/>
            <p:nvPr/>
          </p:nvSpPr>
          <p:spPr>
            <a:xfrm>
              <a:off x="7424738" y="4319778"/>
              <a:ext cx="1350645" cy="587692"/>
            </a:xfrm>
            <a:prstGeom prst="rect">
              <a:avLst/>
            </a:prstGeom>
            <a:noFill/>
            <a:ln>
              <a:noFill/>
            </a:ln>
          </p:spPr>
          <p:txBody>
            <a:bodyPr wrap="none" lIns="0" tIns="0" rIns="0" bIns="0" anchor="t" anchorCtr="0">
              <a:spAutoFit/>
            </a:bodyPr>
            <a:lstStyle/>
            <a:p>
              <a:pPr algn="l">
                <a:lnSpc>
                  <a:spcPts val="900"/>
                </a:lnSpc>
              </a:pPr>
              <a:r>
                <a:rPr lang="zh-CN" sz="660" dirty="0">
                  <a:solidFill>
                    <a:srgbClr val="3D3D3D"/>
                  </a:solidFill>
                  <a:latin typeface="+mn-lt"/>
                  <a:ea typeface="+mn-ea"/>
                  <a:cs typeface="+mn-cs"/>
                </a:rPr>
                <a:t>您好！我们非常理解您的顾虑。认证</a:t>
              </a:r>
              <a:br/>
              <a:r>
                <a:rPr lang="zh-CN" sz="660" dirty="0">
                  <a:solidFill>
                    <a:srgbClr val="3D3D3D"/>
                  </a:solidFill>
                  <a:latin typeface="+mn-lt"/>
                  <a:ea typeface="+mn-ea"/>
                  <a:cs typeface="+mn-cs"/>
                </a:rPr>
                <a:t>仅用于为您提供更安全、便捷的专属</a:t>
              </a:r>
              <a:br/>
              <a:r>
                <a:rPr lang="zh-CN" sz="660" dirty="0">
                  <a:solidFill>
                    <a:srgbClr val="3D3D3D"/>
                  </a:solidFill>
                  <a:latin typeface="+mn-lt"/>
                  <a:ea typeface="+mn-ea"/>
                  <a:cs typeface="+mn-cs"/>
                </a:rPr>
                <a:t>金融服务，您的信息会严格保密。如</a:t>
              </a:r>
              <a:br/>
              <a:r>
                <a:rPr lang="zh-CN" sz="660" dirty="0">
                  <a:solidFill>
                    <a:srgbClr val="3D3D3D"/>
                  </a:solidFill>
                  <a:latin typeface="+mn-lt"/>
                  <a:ea typeface="+mn-ea"/>
                  <a:cs typeface="+mn-cs"/>
                </a:rPr>
                <a:t>果您暂不方便，也可以稍后完成，您</a:t>
              </a:r>
              <a:br/>
              <a:r>
                <a:rPr lang="zh-CN" sz="660" dirty="0">
                  <a:solidFill>
                    <a:srgbClr val="3D3D3D"/>
                  </a:solidFill>
                  <a:latin typeface="+mn-lt"/>
                  <a:ea typeface="+mn-ea"/>
                  <a:cs typeface="+mn-cs"/>
                </a:rPr>
                <a:t>看可以吗？</a:t>
              </a:r>
            </a:p>
          </p:txBody>
        </p:sp>
      </p:grpSp>
      <p:grpSp>
        <p:nvGrpSpPr>
          <p:cNvPr id="327" name="zone-failures"/>
          <p:cNvGrpSpPr/>
          <p:nvPr/>
        </p:nvGrpSpPr>
        <p:grpSpPr>
          <a:xfrm>
            <a:off x="171450" y="5124450"/>
            <a:ext cx="9201150" cy="1676400"/>
            <a:chOff x="171450" y="5124450"/>
            <a:chExt cx="9201150" cy="1676400"/>
          </a:xfrm>
        </p:grpSpPr>
        <p:sp>
          <p:nvSpPr>
            <p:cNvPr id="278" name="Rectangle 278"/>
            <p:cNvSpPr/>
            <p:nvPr/>
          </p:nvSpPr>
          <p:spPr>
            <a:xfrm>
              <a:off x="171450" y="5124450"/>
              <a:ext cx="9201150" cy="1676400"/>
            </a:xfrm>
            <a:prstGeom prst="roundRect">
              <a:avLst>
                <a:gd name="adj" fmla="val 3409"/>
              </a:avLst>
            </a:prstGeom>
            <a:solidFill>
              <a:srgbClr val="FDF5F6"/>
            </a:solidFill>
            <a:ln>
              <a:noFill/>
            </a:ln>
          </p:spPr>
        </p:sp>
        <p:sp>
          <p:nvSpPr>
            <p:cNvPr id="279" name="Rectangle 279"/>
            <p:cNvSpPr/>
            <p:nvPr/>
          </p:nvSpPr>
          <p:spPr>
            <a:xfrm>
              <a:off x="171450" y="5124450"/>
              <a:ext cx="9201150" cy="228600"/>
            </a:xfrm>
            <a:prstGeom prst="roundRect">
              <a:avLst>
                <a:gd name="adj" fmla="val 25000"/>
              </a:avLst>
            </a:prstGeom>
            <a:solidFill>
              <a:srgbClr val="C83210"/>
            </a:solidFill>
            <a:ln>
              <a:noFill/>
            </a:ln>
          </p:spPr>
        </p:sp>
        <p:sp>
          <p:nvSpPr>
            <p:cNvPr id="280" name="TextBox 280"/>
            <p:cNvSpPr txBox="1"/>
            <p:nvPr/>
          </p:nvSpPr>
          <p:spPr>
            <a:xfrm>
              <a:off x="261938" y="5189220"/>
              <a:ext cx="182689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六、认证失败原因分类与改进措施</a:t>
              </a:r>
            </a:p>
          </p:txBody>
        </p:sp>
        <p:sp>
          <p:nvSpPr>
            <p:cNvPr id="281" name="Rectangle 281"/>
            <p:cNvSpPr/>
            <p:nvPr/>
          </p:nvSpPr>
          <p:spPr>
            <a:xfrm>
              <a:off x="228600" y="5410200"/>
              <a:ext cx="9086850" cy="190500"/>
            </a:xfrm>
            <a:prstGeom prst="rect">
              <a:avLst/>
            </a:prstGeom>
            <a:solidFill>
              <a:srgbClr val="C83210"/>
            </a:solidFill>
            <a:ln>
              <a:noFill/>
            </a:ln>
          </p:spPr>
        </p:sp>
        <p:sp>
          <p:nvSpPr>
            <p:cNvPr id="282" name="TextBox 282"/>
            <p:cNvSpPr txBox="1"/>
            <p:nvPr/>
          </p:nvSpPr>
          <p:spPr>
            <a:xfrm>
              <a:off x="299707" y="54666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序号</a:t>
              </a:r>
            </a:p>
          </p:txBody>
        </p:sp>
        <p:sp>
          <p:nvSpPr>
            <p:cNvPr id="283" name="TextBox 283"/>
            <p:cNvSpPr txBox="1"/>
            <p:nvPr/>
          </p:nvSpPr>
          <p:spPr>
            <a:xfrm>
              <a:off x="928027" y="54666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失败原因</a:t>
              </a:r>
            </a:p>
          </p:txBody>
        </p:sp>
        <p:sp>
          <p:nvSpPr>
            <p:cNvPr id="284" name="TextBox 284"/>
            <p:cNvSpPr txBox="1"/>
            <p:nvPr/>
          </p:nvSpPr>
          <p:spPr>
            <a:xfrm>
              <a:off x="1766557" y="54666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占比</a:t>
              </a:r>
            </a:p>
          </p:txBody>
        </p:sp>
        <p:sp>
          <p:nvSpPr>
            <p:cNvPr id="285" name="TextBox 285"/>
            <p:cNvSpPr txBox="1"/>
            <p:nvPr/>
          </p:nvSpPr>
          <p:spPr>
            <a:xfrm>
              <a:off x="3071152" y="54666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具体表现</a:t>
              </a:r>
            </a:p>
          </p:txBody>
        </p:sp>
        <p:sp>
          <p:nvSpPr>
            <p:cNvPr id="286" name="TextBox 286"/>
            <p:cNvSpPr txBox="1"/>
            <p:nvPr/>
          </p:nvSpPr>
          <p:spPr>
            <a:xfrm>
              <a:off x="6119152" y="54666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改进措施</a:t>
              </a:r>
            </a:p>
          </p:txBody>
        </p:sp>
        <p:sp>
          <p:nvSpPr>
            <p:cNvPr id="287" name="TextBox 287"/>
            <p:cNvSpPr txBox="1"/>
            <p:nvPr/>
          </p:nvSpPr>
          <p:spPr>
            <a:xfrm>
              <a:off x="8586292" y="5466636"/>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责任人</a:t>
              </a:r>
            </a:p>
          </p:txBody>
        </p:sp>
        <p:sp>
          <p:nvSpPr>
            <p:cNvPr id="288" name="Rectangle 288"/>
            <p:cNvSpPr/>
            <p:nvPr/>
          </p:nvSpPr>
          <p:spPr>
            <a:xfrm>
              <a:off x="228600" y="5791200"/>
              <a:ext cx="9086850" cy="190500"/>
            </a:xfrm>
            <a:prstGeom prst="rect">
              <a:avLst/>
            </a:prstGeom>
            <a:solidFill>
              <a:srgbClr val="FDEFF1"/>
            </a:solidFill>
            <a:ln>
              <a:noFill/>
            </a:ln>
          </p:spPr>
        </p:sp>
        <p:sp>
          <p:nvSpPr>
            <p:cNvPr id="289" name="Rectangle 289"/>
            <p:cNvSpPr/>
            <p:nvPr/>
          </p:nvSpPr>
          <p:spPr>
            <a:xfrm>
              <a:off x="228600" y="6172200"/>
              <a:ext cx="9086850" cy="190500"/>
            </a:xfrm>
            <a:prstGeom prst="rect">
              <a:avLst/>
            </a:prstGeom>
            <a:solidFill>
              <a:srgbClr val="FDEFF1"/>
            </a:solidFill>
            <a:ln>
              <a:noFill/>
            </a:ln>
          </p:spPr>
        </p:sp>
        <p:sp>
          <p:nvSpPr>
            <p:cNvPr id="290" name="Rectangle 290"/>
            <p:cNvSpPr/>
            <p:nvPr/>
          </p:nvSpPr>
          <p:spPr>
            <a:xfrm>
              <a:off x="228600" y="6553200"/>
              <a:ext cx="9086850" cy="190500"/>
            </a:xfrm>
            <a:prstGeom prst="rect">
              <a:avLst/>
            </a:prstGeom>
            <a:solidFill>
              <a:srgbClr val="FDEFF1"/>
            </a:solidFill>
            <a:ln>
              <a:noFill/>
            </a:ln>
          </p:spPr>
        </p:sp>
        <p:sp>
          <p:nvSpPr>
            <p:cNvPr id="291" name="TextBox 291"/>
            <p:cNvSpPr txBox="1"/>
            <p:nvPr/>
          </p:nvSpPr>
          <p:spPr>
            <a:xfrm>
              <a:off x="368707" y="5657136"/>
              <a:ext cx="62687"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1</a:t>
              </a:r>
            </a:p>
          </p:txBody>
        </p:sp>
        <p:sp>
          <p:nvSpPr>
            <p:cNvPr id="292" name="TextBox 292"/>
            <p:cNvSpPr txBox="1"/>
            <p:nvPr/>
          </p:nvSpPr>
          <p:spPr>
            <a:xfrm>
              <a:off x="642938" y="5657136"/>
              <a:ext cx="48742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客户未授权</a:t>
              </a:r>
            </a:p>
          </p:txBody>
        </p:sp>
        <p:sp>
          <p:nvSpPr>
            <p:cNvPr id="293" name="TextBox 293"/>
            <p:cNvSpPr txBox="1"/>
            <p:nvPr/>
          </p:nvSpPr>
          <p:spPr>
            <a:xfrm>
              <a:off x="1766481" y="5657136"/>
              <a:ext cx="200838" cy="140494"/>
            </a:xfrm>
            <a:prstGeom prst="rect">
              <a:avLst/>
            </a:prstGeom>
            <a:noFill/>
            <a:ln>
              <a:noFill/>
            </a:ln>
          </p:spPr>
          <p:txBody>
            <a:bodyPr wrap="none" lIns="0" tIns="0" rIns="0" bIns="0" anchor="t" anchorCtr="0">
              <a:spAutoFit/>
            </a:bodyPr>
            <a:lstStyle/>
            <a:p>
              <a:pPr algn="ctr"/>
              <a:r>
                <a:rPr lang="zh-CN" sz="710" dirty="0">
                  <a:solidFill>
                    <a:srgbClr val="C83210"/>
                  </a:solidFill>
                  <a:latin typeface="Arial"/>
                  <a:ea typeface="Arial"/>
                  <a:cs typeface="Arial"/>
                </a:rPr>
                <a:t>30%</a:t>
              </a:r>
            </a:p>
          </p:txBody>
        </p:sp>
        <p:sp>
          <p:nvSpPr>
            <p:cNvPr id="294" name="TextBox 294"/>
            <p:cNvSpPr txBox="1"/>
            <p:nvPr/>
          </p:nvSpPr>
          <p:spPr>
            <a:xfrm>
              <a:off x="2128838" y="5657136"/>
              <a:ext cx="153880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不愿提供身份信息或未点击授权链接</a:t>
              </a:r>
            </a:p>
          </p:txBody>
        </p:sp>
        <p:sp>
          <p:nvSpPr>
            <p:cNvPr id="295" name="TextBox 295"/>
            <p:cNvSpPr txBox="1"/>
            <p:nvPr/>
          </p:nvSpPr>
          <p:spPr>
            <a:xfrm>
              <a:off x="4548188" y="5657136"/>
              <a:ext cx="2164859"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强化话术引导，突出权益价值；提供操作视频/指引</a:t>
              </a:r>
            </a:p>
          </p:txBody>
        </p:sp>
        <p:sp>
          <p:nvSpPr>
            <p:cNvPr id="296" name="TextBox 296"/>
            <p:cNvSpPr txBox="1"/>
            <p:nvPr/>
          </p:nvSpPr>
          <p:spPr>
            <a:xfrm>
              <a:off x="8538502" y="5657136"/>
              <a:ext cx="39184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客户经理</a:t>
              </a:r>
            </a:p>
          </p:txBody>
        </p:sp>
        <p:sp>
          <p:nvSpPr>
            <p:cNvPr id="297" name="TextBox 297"/>
            <p:cNvSpPr txBox="1"/>
            <p:nvPr/>
          </p:nvSpPr>
          <p:spPr>
            <a:xfrm>
              <a:off x="368707" y="5847636"/>
              <a:ext cx="62687"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2</a:t>
              </a:r>
            </a:p>
          </p:txBody>
        </p:sp>
        <p:sp>
          <p:nvSpPr>
            <p:cNvPr id="298" name="TextBox 298"/>
            <p:cNvSpPr txBox="1"/>
            <p:nvPr/>
          </p:nvSpPr>
          <p:spPr>
            <a:xfrm>
              <a:off x="642938" y="5847636"/>
              <a:ext cx="48742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信息不一致</a:t>
              </a:r>
            </a:p>
          </p:txBody>
        </p:sp>
        <p:sp>
          <p:nvSpPr>
            <p:cNvPr id="299" name="TextBox 299"/>
            <p:cNvSpPr txBox="1"/>
            <p:nvPr/>
          </p:nvSpPr>
          <p:spPr>
            <a:xfrm>
              <a:off x="1766481" y="5847636"/>
              <a:ext cx="200838" cy="140494"/>
            </a:xfrm>
            <a:prstGeom prst="rect">
              <a:avLst/>
            </a:prstGeom>
            <a:noFill/>
            <a:ln>
              <a:noFill/>
            </a:ln>
          </p:spPr>
          <p:txBody>
            <a:bodyPr wrap="none" lIns="0" tIns="0" rIns="0" bIns="0" anchor="t" anchorCtr="0">
              <a:spAutoFit/>
            </a:bodyPr>
            <a:lstStyle/>
            <a:p>
              <a:pPr algn="ctr"/>
              <a:r>
                <a:rPr lang="zh-CN" sz="710" dirty="0">
                  <a:solidFill>
                    <a:srgbClr val="C83210"/>
                  </a:solidFill>
                  <a:latin typeface="Arial"/>
                  <a:ea typeface="Arial"/>
                  <a:cs typeface="Arial"/>
                </a:rPr>
                <a:t>20%</a:t>
              </a:r>
            </a:p>
          </p:txBody>
        </p:sp>
        <p:sp>
          <p:nvSpPr>
            <p:cNvPr id="300" name="TextBox 300"/>
            <p:cNvSpPr txBox="1"/>
            <p:nvPr/>
          </p:nvSpPr>
          <p:spPr>
            <a:xfrm>
              <a:off x="2128838" y="5847636"/>
              <a:ext cx="1729969"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姓名、手机号、证件号与行内信息不一致</a:t>
              </a:r>
            </a:p>
          </p:txBody>
        </p:sp>
        <p:sp>
          <p:nvSpPr>
            <p:cNvPr id="301" name="TextBox 301"/>
            <p:cNvSpPr txBox="1"/>
            <p:nvPr/>
          </p:nvSpPr>
          <p:spPr>
            <a:xfrm>
              <a:off x="4548188" y="5847636"/>
              <a:ext cx="144322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提前核对信息；提供信息修正指引</a:t>
              </a:r>
            </a:p>
          </p:txBody>
        </p:sp>
        <p:sp>
          <p:nvSpPr>
            <p:cNvPr id="302" name="TextBox 302"/>
            <p:cNvSpPr txBox="1"/>
            <p:nvPr/>
          </p:nvSpPr>
          <p:spPr>
            <a:xfrm>
              <a:off x="8538502" y="5847636"/>
              <a:ext cx="39184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网点运营</a:t>
              </a:r>
            </a:p>
          </p:txBody>
        </p:sp>
        <p:sp>
          <p:nvSpPr>
            <p:cNvPr id="303" name="TextBox 303"/>
            <p:cNvSpPr txBox="1"/>
            <p:nvPr/>
          </p:nvSpPr>
          <p:spPr>
            <a:xfrm>
              <a:off x="368707" y="6038136"/>
              <a:ext cx="62687"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3</a:t>
              </a:r>
            </a:p>
          </p:txBody>
        </p:sp>
        <p:sp>
          <p:nvSpPr>
            <p:cNvPr id="304" name="TextBox 304"/>
            <p:cNvSpPr txBox="1"/>
            <p:nvPr/>
          </p:nvSpPr>
          <p:spPr>
            <a:xfrm>
              <a:off x="642938" y="6038136"/>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客户拒绝</a:t>
              </a:r>
            </a:p>
          </p:txBody>
        </p:sp>
        <p:sp>
          <p:nvSpPr>
            <p:cNvPr id="305" name="TextBox 305"/>
            <p:cNvSpPr txBox="1"/>
            <p:nvPr/>
          </p:nvSpPr>
          <p:spPr>
            <a:xfrm>
              <a:off x="1766481" y="6038136"/>
              <a:ext cx="200838" cy="140494"/>
            </a:xfrm>
            <a:prstGeom prst="rect">
              <a:avLst/>
            </a:prstGeom>
            <a:noFill/>
            <a:ln>
              <a:noFill/>
            </a:ln>
          </p:spPr>
          <p:txBody>
            <a:bodyPr wrap="none" lIns="0" tIns="0" rIns="0" bIns="0" anchor="t" anchorCtr="0">
              <a:spAutoFit/>
            </a:bodyPr>
            <a:lstStyle/>
            <a:p>
              <a:pPr algn="ctr"/>
              <a:r>
                <a:rPr lang="zh-CN" sz="710" dirty="0">
                  <a:solidFill>
                    <a:srgbClr val="C83210"/>
                  </a:solidFill>
                  <a:latin typeface="Arial"/>
                  <a:ea typeface="Arial"/>
                  <a:cs typeface="Arial"/>
                </a:rPr>
                <a:t>15%</a:t>
              </a:r>
            </a:p>
          </p:txBody>
        </p:sp>
        <p:sp>
          <p:nvSpPr>
            <p:cNvPr id="306" name="TextBox 306"/>
            <p:cNvSpPr txBox="1"/>
            <p:nvPr/>
          </p:nvSpPr>
          <p:spPr>
            <a:xfrm>
              <a:off x="2128838" y="6038136"/>
              <a:ext cx="115648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明确表示不需要或不感兴趣</a:t>
              </a:r>
            </a:p>
          </p:txBody>
        </p:sp>
        <p:sp>
          <p:nvSpPr>
            <p:cNvPr id="307" name="TextBox 307"/>
            <p:cNvSpPr txBox="1"/>
            <p:nvPr/>
          </p:nvSpPr>
          <p:spPr>
            <a:xfrm>
              <a:off x="4548188" y="6038136"/>
              <a:ext cx="2016709"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尊重客户意愿，定期回访；提供差异化服务推荐</a:t>
              </a:r>
            </a:p>
          </p:txBody>
        </p:sp>
        <p:sp>
          <p:nvSpPr>
            <p:cNvPr id="308" name="TextBox 308"/>
            <p:cNvSpPr txBox="1"/>
            <p:nvPr/>
          </p:nvSpPr>
          <p:spPr>
            <a:xfrm>
              <a:off x="8538502" y="6038136"/>
              <a:ext cx="39184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客户经理</a:t>
              </a:r>
            </a:p>
          </p:txBody>
        </p:sp>
        <p:sp>
          <p:nvSpPr>
            <p:cNvPr id="309" name="TextBox 309"/>
            <p:cNvSpPr txBox="1"/>
            <p:nvPr/>
          </p:nvSpPr>
          <p:spPr>
            <a:xfrm>
              <a:off x="368707" y="6228636"/>
              <a:ext cx="62687"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4</a:t>
              </a:r>
            </a:p>
          </p:txBody>
        </p:sp>
        <p:sp>
          <p:nvSpPr>
            <p:cNvPr id="310" name="TextBox 310"/>
            <p:cNvSpPr txBox="1"/>
            <p:nvPr/>
          </p:nvSpPr>
          <p:spPr>
            <a:xfrm>
              <a:off x="642938" y="6228636"/>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联系不上</a:t>
              </a:r>
            </a:p>
          </p:txBody>
        </p:sp>
        <p:sp>
          <p:nvSpPr>
            <p:cNvPr id="311" name="TextBox 311"/>
            <p:cNvSpPr txBox="1"/>
            <p:nvPr/>
          </p:nvSpPr>
          <p:spPr>
            <a:xfrm>
              <a:off x="1766481" y="6228636"/>
              <a:ext cx="200838" cy="140494"/>
            </a:xfrm>
            <a:prstGeom prst="rect">
              <a:avLst/>
            </a:prstGeom>
            <a:noFill/>
            <a:ln>
              <a:noFill/>
            </a:ln>
          </p:spPr>
          <p:txBody>
            <a:bodyPr wrap="none" lIns="0" tIns="0" rIns="0" bIns="0" anchor="t" anchorCtr="0">
              <a:spAutoFit/>
            </a:bodyPr>
            <a:lstStyle/>
            <a:p>
              <a:pPr algn="ctr"/>
              <a:r>
                <a:rPr lang="zh-CN" sz="710" dirty="0">
                  <a:solidFill>
                    <a:srgbClr val="C83210"/>
                  </a:solidFill>
                  <a:latin typeface="Arial"/>
                  <a:ea typeface="Arial"/>
                  <a:cs typeface="Arial"/>
                </a:rPr>
                <a:t>12%</a:t>
              </a:r>
            </a:p>
          </p:txBody>
        </p:sp>
        <p:sp>
          <p:nvSpPr>
            <p:cNvPr id="312" name="TextBox 312"/>
            <p:cNvSpPr txBox="1"/>
            <p:nvPr/>
          </p:nvSpPr>
          <p:spPr>
            <a:xfrm>
              <a:off x="2128838" y="6228636"/>
              <a:ext cx="106090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添加后无应答或已读不回</a:t>
              </a:r>
            </a:p>
          </p:txBody>
        </p:sp>
        <p:sp>
          <p:nvSpPr>
            <p:cNvPr id="313" name="TextBox 313"/>
            <p:cNvSpPr txBox="1"/>
            <p:nvPr/>
          </p:nvSpPr>
          <p:spPr>
            <a:xfrm>
              <a:off x="4548188" y="6228636"/>
              <a:ext cx="111347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多渠道触达（电话/短信）</a:t>
              </a:r>
            </a:p>
          </p:txBody>
        </p:sp>
        <p:sp>
          <p:nvSpPr>
            <p:cNvPr id="314" name="TextBox 314"/>
            <p:cNvSpPr txBox="1"/>
            <p:nvPr/>
          </p:nvSpPr>
          <p:spPr>
            <a:xfrm>
              <a:off x="8538502" y="6228636"/>
              <a:ext cx="39184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客户经理</a:t>
              </a:r>
            </a:p>
          </p:txBody>
        </p:sp>
        <p:sp>
          <p:nvSpPr>
            <p:cNvPr id="315" name="TextBox 315"/>
            <p:cNvSpPr txBox="1"/>
            <p:nvPr/>
          </p:nvSpPr>
          <p:spPr>
            <a:xfrm>
              <a:off x="368707" y="6419136"/>
              <a:ext cx="62687"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5</a:t>
              </a:r>
            </a:p>
          </p:txBody>
        </p:sp>
        <p:sp>
          <p:nvSpPr>
            <p:cNvPr id="316" name="TextBox 316"/>
            <p:cNvSpPr txBox="1"/>
            <p:nvPr/>
          </p:nvSpPr>
          <p:spPr>
            <a:xfrm>
              <a:off x="642938" y="6419136"/>
              <a:ext cx="48742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非本行客户</a:t>
              </a:r>
            </a:p>
          </p:txBody>
        </p:sp>
        <p:sp>
          <p:nvSpPr>
            <p:cNvPr id="317" name="TextBox 317"/>
            <p:cNvSpPr txBox="1"/>
            <p:nvPr/>
          </p:nvSpPr>
          <p:spPr>
            <a:xfrm>
              <a:off x="1766481" y="6419136"/>
              <a:ext cx="200838" cy="140494"/>
            </a:xfrm>
            <a:prstGeom prst="rect">
              <a:avLst/>
            </a:prstGeom>
            <a:noFill/>
            <a:ln>
              <a:noFill/>
            </a:ln>
          </p:spPr>
          <p:txBody>
            <a:bodyPr wrap="none" lIns="0" tIns="0" rIns="0" bIns="0" anchor="t" anchorCtr="0">
              <a:spAutoFit/>
            </a:bodyPr>
            <a:lstStyle/>
            <a:p>
              <a:pPr algn="ctr"/>
              <a:r>
                <a:rPr lang="zh-CN" sz="710" dirty="0">
                  <a:solidFill>
                    <a:srgbClr val="C83210"/>
                  </a:solidFill>
                  <a:latin typeface="Arial"/>
                  <a:ea typeface="Arial"/>
                  <a:cs typeface="Arial"/>
                </a:rPr>
                <a:t>10%</a:t>
              </a:r>
            </a:p>
          </p:txBody>
        </p:sp>
        <p:sp>
          <p:nvSpPr>
            <p:cNvPr id="318" name="TextBox 318"/>
            <p:cNvSpPr txBox="1"/>
            <p:nvPr/>
          </p:nvSpPr>
          <p:spPr>
            <a:xfrm>
              <a:off x="2128838" y="6419136"/>
              <a:ext cx="77416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未在我行开立账户</a:t>
              </a:r>
            </a:p>
          </p:txBody>
        </p:sp>
        <p:sp>
          <p:nvSpPr>
            <p:cNvPr id="319" name="TextBox 319"/>
            <p:cNvSpPr txBox="1"/>
            <p:nvPr/>
          </p:nvSpPr>
          <p:spPr>
            <a:xfrm>
              <a:off x="4548188" y="6419136"/>
              <a:ext cx="1921129"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引导开户或转化为潜在客户；记录并持续跟进</a:t>
              </a:r>
            </a:p>
          </p:txBody>
        </p:sp>
        <p:sp>
          <p:nvSpPr>
            <p:cNvPr id="320" name="TextBox 320"/>
            <p:cNvSpPr txBox="1"/>
            <p:nvPr/>
          </p:nvSpPr>
          <p:spPr>
            <a:xfrm>
              <a:off x="8538502" y="6419136"/>
              <a:ext cx="39184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客户经理</a:t>
              </a:r>
            </a:p>
          </p:txBody>
        </p:sp>
        <p:sp>
          <p:nvSpPr>
            <p:cNvPr id="321" name="TextBox 321"/>
            <p:cNvSpPr txBox="1"/>
            <p:nvPr/>
          </p:nvSpPr>
          <p:spPr>
            <a:xfrm>
              <a:off x="368707" y="6609636"/>
              <a:ext cx="62687" cy="140494"/>
            </a:xfrm>
            <a:prstGeom prst="rect">
              <a:avLst/>
            </a:prstGeom>
            <a:noFill/>
            <a:ln>
              <a:noFill/>
            </a:ln>
          </p:spPr>
          <p:txBody>
            <a:bodyPr wrap="none" lIns="0" tIns="0" rIns="0" bIns="0" anchor="t" anchorCtr="0">
              <a:spAutoFit/>
            </a:bodyPr>
            <a:lstStyle/>
            <a:p>
              <a:pPr algn="ctr"/>
              <a:r>
                <a:rPr lang="zh-CN" sz="710" dirty="0">
                  <a:solidFill>
                    <a:srgbClr val="222222"/>
                  </a:solidFill>
                  <a:latin typeface="Arial"/>
                  <a:ea typeface="Arial"/>
                  <a:cs typeface="Arial"/>
                </a:rPr>
                <a:t>6</a:t>
              </a:r>
            </a:p>
          </p:txBody>
        </p:sp>
        <p:sp>
          <p:nvSpPr>
            <p:cNvPr id="322" name="TextBox 322"/>
            <p:cNvSpPr txBox="1"/>
            <p:nvPr/>
          </p:nvSpPr>
          <p:spPr>
            <a:xfrm>
              <a:off x="642938" y="6609636"/>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其他原因</a:t>
              </a:r>
            </a:p>
          </p:txBody>
        </p:sp>
        <p:sp>
          <p:nvSpPr>
            <p:cNvPr id="323" name="TextBox 323"/>
            <p:cNvSpPr txBox="1"/>
            <p:nvPr/>
          </p:nvSpPr>
          <p:spPr>
            <a:xfrm>
              <a:off x="1766481" y="6609636"/>
              <a:ext cx="200838" cy="140494"/>
            </a:xfrm>
            <a:prstGeom prst="rect">
              <a:avLst/>
            </a:prstGeom>
            <a:noFill/>
            <a:ln>
              <a:noFill/>
            </a:ln>
          </p:spPr>
          <p:txBody>
            <a:bodyPr wrap="none" lIns="0" tIns="0" rIns="0" bIns="0" anchor="t" anchorCtr="0">
              <a:spAutoFit/>
            </a:bodyPr>
            <a:lstStyle/>
            <a:p>
              <a:pPr algn="ctr"/>
              <a:r>
                <a:rPr lang="zh-CN" sz="710" dirty="0">
                  <a:solidFill>
                    <a:srgbClr val="C83210"/>
                  </a:solidFill>
                  <a:latin typeface="Arial"/>
                  <a:ea typeface="Arial"/>
                  <a:cs typeface="Arial"/>
                </a:rPr>
                <a:t>13%</a:t>
              </a:r>
            </a:p>
          </p:txBody>
        </p:sp>
        <p:sp>
          <p:nvSpPr>
            <p:cNvPr id="324" name="TextBox 324"/>
            <p:cNvSpPr txBox="1"/>
            <p:nvPr/>
          </p:nvSpPr>
          <p:spPr>
            <a:xfrm>
              <a:off x="2128838" y="6609636"/>
              <a:ext cx="144322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系统异常、链接失效、重复添加等</a:t>
              </a:r>
            </a:p>
          </p:txBody>
        </p:sp>
        <p:sp>
          <p:nvSpPr>
            <p:cNvPr id="325" name="TextBox 325"/>
            <p:cNvSpPr txBox="1"/>
            <p:nvPr/>
          </p:nvSpPr>
          <p:spPr>
            <a:xfrm>
              <a:off x="4548188" y="6609636"/>
              <a:ext cx="153880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优化系统稳定性；定期清理重复数据</a:t>
              </a:r>
            </a:p>
          </p:txBody>
        </p:sp>
        <p:sp>
          <p:nvSpPr>
            <p:cNvPr id="326" name="TextBox 326"/>
            <p:cNvSpPr txBox="1"/>
            <p:nvPr/>
          </p:nvSpPr>
          <p:spPr>
            <a:xfrm>
              <a:off x="8493632" y="6609636"/>
              <a:ext cx="48158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Arial"/>
                  <a:ea typeface="Microsoft YaHei"/>
                  <a:cs typeface="Arial"/>
                </a:rPr>
                <a:t xml:space="preserve">IT与运营　</a:t>
              </a:r>
            </a:p>
          </p:txBody>
        </p:sp>
      </p:grpSp>
      <p:grpSp>
        <p:nvGrpSpPr>
          <p:cNvPr id="331" name="slogan"/>
          <p:cNvGrpSpPr/>
          <p:nvPr/>
        </p:nvGrpSpPr>
        <p:grpSpPr>
          <a:xfrm>
            <a:off x="9563100" y="4643914"/>
            <a:ext cx="2362200" cy="613886"/>
            <a:chOff x="9563100" y="4643914"/>
            <a:chExt cx="2362200" cy="613886"/>
          </a:xfrm>
        </p:grpSpPr>
        <p:sp>
          <p:nvSpPr>
            <p:cNvPr id="328" name="Freeform 328"/>
            <p:cNvSpPr/>
            <p:nvPr/>
          </p:nvSpPr>
          <p:spPr>
            <a:xfrm>
              <a:off x="9563100" y="5175250"/>
              <a:ext cx="2362200" cy="82550"/>
            </a:xfrm>
            <a:custGeom>
              <a:avLst/>
              <a:gdLst/>
              <a:ahLst/>
              <a:cxnLst/>
              <a:rect l="l" t="t" r="r" b="b"/>
              <a:pathLst>
                <a:path w="2362200" h="82550">
                  <a:moveTo>
                    <a:pt x="0" y="82550"/>
                  </a:moveTo>
                  <a:cubicBezTo>
                    <a:pt x="787400" y="6350"/>
                    <a:pt x="1574800" y="0"/>
                    <a:pt x="2362200" y="63500"/>
                  </a:cubicBezTo>
                </a:path>
              </a:pathLst>
            </a:custGeom>
            <a:noFill/>
            <a:ln w="57150" cap="rnd">
              <a:solidFill>
                <a:srgbClr val="F3B2A3">
                  <a:alpha val="60000"/>
                </a:srgbClr>
              </a:solidFill>
            </a:ln>
          </p:spPr>
        </p:sp>
        <p:sp>
          <p:nvSpPr>
            <p:cNvPr id="329" name="TextBox 329"/>
            <p:cNvSpPr txBox="1"/>
            <p:nvPr/>
          </p:nvSpPr>
          <p:spPr>
            <a:xfrm>
              <a:off x="10124941" y="4643914"/>
              <a:ext cx="1238517" cy="249364"/>
            </a:xfrm>
            <a:prstGeom prst="rect">
              <a:avLst/>
            </a:prstGeom>
            <a:noFill/>
            <a:ln>
              <a:noFill/>
            </a:ln>
          </p:spPr>
          <p:txBody>
            <a:bodyPr wrap="none" lIns="0" tIns="0" rIns="0" bIns="0" anchor="t" anchorCtr="0">
              <a:spAutoFit/>
            </a:bodyPr>
            <a:lstStyle/>
            <a:p>
              <a:pPr algn="ctr"/>
              <a:r>
                <a:rPr lang="zh-CN" sz="1280" b="1" i="1" dirty="0">
                  <a:solidFill>
                    <a:srgbClr val="C83210"/>
                  </a:solidFill>
                  <a:latin typeface="Arial"/>
                  <a:ea typeface="Microsoft YaHei"/>
                  <a:cs typeface="Arial"/>
                </a:rPr>
                <a:t xml:space="preserve">把握24小时，　</a:t>
              </a:r>
            </a:p>
          </p:txBody>
        </p:sp>
        <p:sp>
          <p:nvSpPr>
            <p:cNvPr id="330" name="TextBox 330"/>
            <p:cNvSpPr txBox="1"/>
            <p:nvPr/>
          </p:nvSpPr>
          <p:spPr>
            <a:xfrm>
              <a:off x="9617685" y="4910614"/>
              <a:ext cx="2253031" cy="249364"/>
            </a:xfrm>
            <a:prstGeom prst="rect">
              <a:avLst/>
            </a:prstGeom>
            <a:noFill/>
            <a:ln>
              <a:noFill/>
            </a:ln>
          </p:spPr>
          <p:txBody>
            <a:bodyPr wrap="none" lIns="0" tIns="0" rIns="0" bIns="0" anchor="t" anchorCtr="0">
              <a:spAutoFit/>
            </a:bodyPr>
            <a:lstStyle/>
            <a:p>
              <a:pPr algn="ctr"/>
              <a:r>
                <a:rPr lang="zh-CN" sz="1280" b="1" i="1" dirty="0">
                  <a:solidFill>
                    <a:srgbClr val="C83210"/>
                  </a:solidFill>
                  <a:latin typeface="+mn-lt"/>
                  <a:ea typeface="+mn-ea"/>
                  <a:cs typeface="+mn-cs"/>
                </a:rPr>
                <a:t>让每一次添加都创造长期价值</a:t>
              </a:r>
            </a:p>
          </p:txBody>
        </p:sp>
      </p:grpSp>
      <p:grpSp>
        <p:nvGrpSpPr>
          <p:cNvPr id="357" name="value-icons"/>
          <p:cNvGrpSpPr/>
          <p:nvPr/>
        </p:nvGrpSpPr>
        <p:grpSpPr>
          <a:xfrm>
            <a:off x="9627413" y="5655469"/>
            <a:ext cx="2296274" cy="700801"/>
            <a:chOff x="9627413" y="5655469"/>
            <a:chExt cx="2296274" cy="700801"/>
          </a:xfrm>
        </p:grpSpPr>
        <p:grpSp>
          <p:nvGrpSpPr>
            <p:cNvPr id="335" name="Group 335"/>
            <p:cNvGrpSpPr/>
            <p:nvPr/>
          </p:nvGrpSpPr>
          <p:grpSpPr>
            <a:xfrm>
              <a:off x="9684544" y="5655469"/>
              <a:ext cx="214312" cy="214312"/>
              <a:chOff x="9684544" y="5655469"/>
              <a:chExt cx="214312" cy="214312"/>
            </a:xfrm>
          </p:grpSpPr>
          <p:sp>
            <p:nvSpPr>
              <p:cNvPr id="332" name="Freeform 332"/>
              <p:cNvSpPr/>
              <p:nvPr/>
            </p:nvSpPr>
            <p:spPr>
              <a:xfrm>
                <a:off x="9779794" y="575071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C83210"/>
                </a:solidFill>
              </a:ln>
            </p:spPr>
          </p:sp>
          <p:sp>
            <p:nvSpPr>
              <p:cNvPr id="333" name="Freeform 333"/>
              <p:cNvSpPr/>
              <p:nvPr/>
            </p:nvSpPr>
            <p:spPr>
              <a:xfrm>
                <a:off x="9732169" y="5703094"/>
                <a:ext cx="119062" cy="119062"/>
              </a:xfrm>
              <a:custGeom>
                <a:avLst/>
                <a:gdLst/>
                <a:ahLst/>
                <a:cxnLst/>
                <a:rect l="l" t="t" r="r" b="b"/>
                <a:pathLst>
                  <a:path w="119062" h="119062">
                    <a:moveTo>
                      <a:pt x="0" y="59531"/>
                    </a:moveTo>
                    <a:cubicBezTo>
                      <a:pt x="0" y="92409"/>
                      <a:pt x="26653" y="119062"/>
                      <a:pt x="59531" y="119062"/>
                    </a:cubicBezTo>
                    <a:cubicBezTo>
                      <a:pt x="92409" y="119062"/>
                      <a:pt x="119062" y="92409"/>
                      <a:pt x="119062" y="59531"/>
                    </a:cubicBezTo>
                    <a:cubicBezTo>
                      <a:pt x="119062" y="26653"/>
                      <a:pt x="92409" y="0"/>
                      <a:pt x="59531" y="0"/>
                    </a:cubicBezTo>
                    <a:cubicBezTo>
                      <a:pt x="26653" y="0"/>
                      <a:pt x="0" y="26653"/>
                      <a:pt x="0" y="59531"/>
                    </a:cubicBezTo>
                  </a:path>
                </a:pathLst>
              </a:custGeom>
              <a:noFill/>
              <a:ln w="23812">
                <a:solidFill>
                  <a:srgbClr val="C83210"/>
                </a:solidFill>
              </a:ln>
            </p:spPr>
          </p:sp>
          <p:sp>
            <p:nvSpPr>
              <p:cNvPr id="334" name="Freeform 334"/>
              <p:cNvSpPr/>
              <p:nvPr/>
            </p:nvSpPr>
            <p:spPr>
              <a:xfrm>
                <a:off x="9684544" y="565546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rgbClr val="C83210"/>
                </a:solidFill>
              </a:ln>
            </p:spPr>
          </p:sp>
        </p:grpSp>
        <p:sp>
          <p:nvSpPr>
            <p:cNvPr id="336" name="TextBox 336"/>
            <p:cNvSpPr txBox="1"/>
            <p:nvPr/>
          </p:nvSpPr>
          <p:spPr>
            <a:xfrm>
              <a:off x="9627413" y="6049089"/>
              <a:ext cx="328574"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更高的</a:t>
              </a:r>
            </a:p>
          </p:txBody>
        </p:sp>
        <p:sp>
          <p:nvSpPr>
            <p:cNvPr id="337" name="TextBox 337"/>
            <p:cNvSpPr txBox="1"/>
            <p:nvPr/>
          </p:nvSpPr>
          <p:spPr>
            <a:xfrm>
              <a:off x="9627413" y="6201489"/>
              <a:ext cx="328574"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认证率</a:t>
              </a:r>
            </a:p>
          </p:txBody>
        </p:sp>
        <p:grpSp>
          <p:nvGrpSpPr>
            <p:cNvPr id="342" name="Group 342"/>
            <p:cNvGrpSpPr/>
            <p:nvPr/>
          </p:nvGrpSpPr>
          <p:grpSpPr>
            <a:xfrm>
              <a:off x="10322719" y="5655469"/>
              <a:ext cx="214312" cy="214313"/>
              <a:chOff x="10322719" y="5655469"/>
              <a:chExt cx="214312" cy="214313"/>
            </a:xfrm>
          </p:grpSpPr>
          <p:sp>
            <p:nvSpPr>
              <p:cNvPr id="338" name="Freeform 338"/>
              <p:cNvSpPr/>
              <p:nvPr/>
            </p:nvSpPr>
            <p:spPr>
              <a:xfrm>
                <a:off x="10346531" y="565546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C83210"/>
                </a:solidFill>
              </a:ln>
            </p:spPr>
          </p:sp>
          <p:sp>
            <p:nvSpPr>
              <p:cNvPr id="339" name="Freeform 339"/>
              <p:cNvSpPr/>
              <p:nvPr/>
            </p:nvSpPr>
            <p:spPr>
              <a:xfrm>
                <a:off x="10322719" y="5798344"/>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23812">
                <a:solidFill>
                  <a:srgbClr val="C83210"/>
                </a:solidFill>
              </a:ln>
            </p:spPr>
          </p:sp>
          <p:sp>
            <p:nvSpPr>
              <p:cNvPr id="340" name="Freeform 340"/>
              <p:cNvSpPr/>
              <p:nvPr/>
            </p:nvSpPr>
            <p:spPr>
              <a:xfrm>
                <a:off x="10477500" y="5657017"/>
                <a:ext cx="35812" cy="92273"/>
              </a:xfrm>
              <a:custGeom>
                <a:avLst/>
                <a:gdLst/>
                <a:ahLst/>
                <a:cxnLst/>
                <a:rect l="l" t="t" r="r" b="b"/>
                <a:pathLst>
                  <a:path w="35812" h="92273">
                    <a:moveTo>
                      <a:pt x="0" y="0"/>
                    </a:moveTo>
                    <a:cubicBezTo>
                      <a:pt x="21073" y="5396"/>
                      <a:pt x="35812" y="24384"/>
                      <a:pt x="35812" y="46137"/>
                    </a:cubicBezTo>
                    <a:cubicBezTo>
                      <a:pt x="35812" y="67890"/>
                      <a:pt x="21073" y="86878"/>
                      <a:pt x="0" y="92273"/>
                    </a:cubicBezTo>
                  </a:path>
                </a:pathLst>
              </a:custGeom>
              <a:noFill/>
              <a:ln w="23812">
                <a:solidFill>
                  <a:srgbClr val="C83210"/>
                </a:solidFill>
              </a:ln>
            </p:spPr>
          </p:sp>
          <p:sp>
            <p:nvSpPr>
              <p:cNvPr id="341" name="Freeform 341"/>
              <p:cNvSpPr/>
              <p:nvPr/>
            </p:nvSpPr>
            <p:spPr>
              <a:xfrm>
                <a:off x="10501312" y="5800130"/>
                <a:ext cx="35719" cy="69652"/>
              </a:xfrm>
              <a:custGeom>
                <a:avLst/>
                <a:gdLst/>
                <a:ahLst/>
                <a:cxnLst/>
                <a:rect l="l" t="t" r="r" b="b"/>
                <a:pathLst>
                  <a:path w="35719" h="69652">
                    <a:moveTo>
                      <a:pt x="35719" y="69652"/>
                    </a:moveTo>
                    <a:lnTo>
                      <a:pt x="35719" y="45839"/>
                    </a:lnTo>
                    <a:cubicBezTo>
                      <a:pt x="35594" y="24224"/>
                      <a:pt x="20929" y="5403"/>
                      <a:pt x="0" y="0"/>
                    </a:cubicBezTo>
                  </a:path>
                </a:pathLst>
              </a:custGeom>
              <a:noFill/>
              <a:ln w="23812">
                <a:solidFill>
                  <a:srgbClr val="C83210"/>
                </a:solidFill>
              </a:ln>
            </p:spPr>
          </p:sp>
        </p:grpSp>
        <p:sp>
          <p:nvSpPr>
            <p:cNvPr id="343" name="TextBox 343"/>
            <p:cNvSpPr txBox="1"/>
            <p:nvPr/>
          </p:nvSpPr>
          <p:spPr>
            <a:xfrm>
              <a:off x="10212413" y="6049089"/>
              <a:ext cx="434924"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更完整的</a:t>
              </a:r>
            </a:p>
          </p:txBody>
        </p:sp>
        <p:sp>
          <p:nvSpPr>
            <p:cNvPr id="344" name="TextBox 344"/>
            <p:cNvSpPr txBox="1"/>
            <p:nvPr/>
          </p:nvSpPr>
          <p:spPr>
            <a:xfrm>
              <a:off x="10212413" y="6201489"/>
              <a:ext cx="434924"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客户画像</a:t>
              </a:r>
            </a:p>
          </p:txBody>
        </p:sp>
        <p:grpSp>
          <p:nvGrpSpPr>
            <p:cNvPr id="349" name="Group 349"/>
            <p:cNvGrpSpPr/>
            <p:nvPr/>
          </p:nvGrpSpPr>
          <p:grpSpPr>
            <a:xfrm>
              <a:off x="10960894" y="5667375"/>
              <a:ext cx="214313" cy="200025"/>
              <a:chOff x="10960894" y="5667375"/>
              <a:chExt cx="214313" cy="200025"/>
            </a:xfrm>
          </p:grpSpPr>
          <p:sp>
            <p:nvSpPr>
              <p:cNvPr id="345" name="Freeform 345"/>
              <p:cNvSpPr/>
              <p:nvPr/>
            </p:nvSpPr>
            <p:spPr>
              <a:xfrm>
                <a:off x="10960894" y="5762625"/>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C83210"/>
                </a:solidFill>
              </a:ln>
            </p:spPr>
          </p:sp>
          <p:sp>
            <p:nvSpPr>
              <p:cNvPr id="346" name="Freeform 346"/>
              <p:cNvSpPr/>
              <p:nvPr/>
            </p:nvSpPr>
            <p:spPr>
              <a:xfrm>
                <a:off x="11103769" y="5715000"/>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C83210"/>
                </a:solidFill>
              </a:ln>
            </p:spPr>
          </p:sp>
          <p:sp>
            <p:nvSpPr>
              <p:cNvPr id="347" name="Freeform 347"/>
              <p:cNvSpPr/>
              <p:nvPr/>
            </p:nvSpPr>
            <p:spPr>
              <a:xfrm>
                <a:off x="11032331" y="5667375"/>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C83210"/>
                </a:solidFill>
              </a:ln>
            </p:spPr>
          </p:sp>
          <p:sp>
            <p:nvSpPr>
              <p:cNvPr id="348" name="Freeform 348"/>
              <p:cNvSpPr/>
              <p:nvPr/>
            </p:nvSpPr>
            <p:spPr>
              <a:xfrm>
                <a:off x="10972800" y="5857875"/>
                <a:ext cx="166688" cy="9525"/>
              </a:xfrm>
              <a:custGeom>
                <a:avLst/>
                <a:gdLst/>
                <a:ahLst/>
                <a:cxnLst/>
                <a:rect l="l" t="t" r="r" b="b"/>
                <a:pathLst>
                  <a:path w="166688" h="9525">
                    <a:moveTo>
                      <a:pt x="0" y="0"/>
                    </a:moveTo>
                    <a:lnTo>
                      <a:pt x="166688" y="0"/>
                    </a:lnTo>
                  </a:path>
                </a:pathLst>
              </a:custGeom>
              <a:noFill/>
              <a:ln w="23812">
                <a:solidFill>
                  <a:srgbClr val="C83210"/>
                </a:solidFill>
              </a:ln>
            </p:spPr>
          </p:sp>
        </p:grpSp>
        <p:sp>
          <p:nvSpPr>
            <p:cNvPr id="350" name="TextBox 350"/>
            <p:cNvSpPr txBox="1"/>
            <p:nvPr/>
          </p:nvSpPr>
          <p:spPr>
            <a:xfrm>
              <a:off x="10850588" y="6049089"/>
              <a:ext cx="434924"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更精准的</a:t>
              </a:r>
            </a:p>
          </p:txBody>
        </p:sp>
        <p:sp>
          <p:nvSpPr>
            <p:cNvPr id="351" name="TextBox 351"/>
            <p:cNvSpPr txBox="1"/>
            <p:nvPr/>
          </p:nvSpPr>
          <p:spPr>
            <a:xfrm>
              <a:off x="10850588" y="6201489"/>
              <a:ext cx="434924"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营销触达</a:t>
              </a:r>
            </a:p>
          </p:txBody>
        </p:sp>
        <p:grpSp>
          <p:nvGrpSpPr>
            <p:cNvPr id="354" name="Group 354"/>
            <p:cNvGrpSpPr/>
            <p:nvPr/>
          </p:nvGrpSpPr>
          <p:grpSpPr>
            <a:xfrm>
              <a:off x="11599069" y="5679281"/>
              <a:ext cx="214312" cy="175142"/>
              <a:chOff x="11599069" y="5679281"/>
              <a:chExt cx="214312" cy="175142"/>
            </a:xfrm>
          </p:grpSpPr>
          <p:sp>
            <p:nvSpPr>
              <p:cNvPr id="352" name="Freeform 352"/>
              <p:cNvSpPr/>
              <p:nvPr/>
            </p:nvSpPr>
            <p:spPr>
              <a:xfrm>
                <a:off x="11599069" y="5679281"/>
                <a:ext cx="214312" cy="175142"/>
              </a:xfrm>
              <a:custGeom>
                <a:avLst/>
                <a:gdLst/>
                <a:ahLst/>
                <a:cxnLst/>
                <a:rect l="l" t="t" r="r" b="b"/>
                <a:pathLst>
                  <a:path w="214312" h="175142">
                    <a:moveTo>
                      <a:pt x="35719" y="0"/>
                    </a:moveTo>
                    <a:lnTo>
                      <a:pt x="178594" y="0"/>
                    </a:lnTo>
                    <a:lnTo>
                      <a:pt x="214312" y="59531"/>
                    </a:lnTo>
                    <a:lnTo>
                      <a:pt x="113109" y="172641"/>
                    </a:lnTo>
                    <a:cubicBezTo>
                      <a:pt x="111542" y="174241"/>
                      <a:pt x="109396" y="175142"/>
                      <a:pt x="107156" y="175142"/>
                    </a:cubicBezTo>
                    <a:cubicBezTo>
                      <a:pt x="104916" y="175142"/>
                      <a:pt x="102771" y="174241"/>
                      <a:pt x="101203" y="172641"/>
                    </a:cubicBezTo>
                    <a:lnTo>
                      <a:pt x="0" y="59531"/>
                    </a:lnTo>
                    <a:lnTo>
                      <a:pt x="35719" y="0"/>
                    </a:lnTo>
                  </a:path>
                </a:pathLst>
              </a:custGeom>
              <a:noFill/>
              <a:ln w="23812">
                <a:solidFill>
                  <a:srgbClr val="C83210"/>
                </a:solidFill>
              </a:ln>
            </p:spPr>
          </p:sp>
          <p:sp>
            <p:nvSpPr>
              <p:cNvPr id="353" name="Freeform 353"/>
              <p:cNvSpPr/>
              <p:nvPr/>
            </p:nvSpPr>
            <p:spPr>
              <a:xfrm>
                <a:off x="11658600" y="5724525"/>
                <a:ext cx="23812" cy="38100"/>
              </a:xfrm>
              <a:custGeom>
                <a:avLst/>
                <a:gdLst/>
                <a:ahLst/>
                <a:cxnLst/>
                <a:rect l="l" t="t" r="r" b="b"/>
                <a:pathLst>
                  <a:path w="23812" h="38100">
                    <a:moveTo>
                      <a:pt x="23812" y="38100"/>
                    </a:moveTo>
                    <a:lnTo>
                      <a:pt x="0" y="11906"/>
                    </a:lnTo>
                    <a:lnTo>
                      <a:pt x="7144" y="0"/>
                    </a:lnTo>
                  </a:path>
                </a:pathLst>
              </a:custGeom>
              <a:noFill/>
              <a:ln w="23812">
                <a:solidFill>
                  <a:srgbClr val="C83210"/>
                </a:solidFill>
              </a:ln>
            </p:spPr>
          </p:sp>
        </p:grpSp>
        <p:sp>
          <p:nvSpPr>
            <p:cNvPr id="355" name="TextBox 355"/>
            <p:cNvSpPr txBox="1"/>
            <p:nvPr/>
          </p:nvSpPr>
          <p:spPr>
            <a:xfrm>
              <a:off x="11488763" y="6049089"/>
              <a:ext cx="434924"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更长久的</a:t>
              </a:r>
            </a:p>
          </p:txBody>
        </p:sp>
        <p:sp>
          <p:nvSpPr>
            <p:cNvPr id="356" name="TextBox 356"/>
            <p:cNvSpPr txBox="1"/>
            <p:nvPr/>
          </p:nvSpPr>
          <p:spPr>
            <a:xfrm>
              <a:off x="11488763" y="6201489"/>
              <a:ext cx="434924"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客户价值</a:t>
              </a:r>
            </a:p>
          </p:txBody>
        </p:sp>
      </p:gr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05</a:t>
              </a:r>
            </a:p>
          </p:txBody>
        </p:sp>
        <p:sp>
          <p:nvSpPr>
            <p:cNvPr id="4" name="TextBox 4"/>
            <p:cNvSpPr txBox="1"/>
            <p:nvPr/>
          </p:nvSpPr>
          <p:spPr>
            <a:xfrm>
              <a:off x="942594" y="151448"/>
              <a:ext cx="6121908"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客户标签</a:t>
              </a:r>
              <a:r>
                <a:rPr lang="zh-CN" sz="1950" b="1" dirty="0">
                  <a:solidFill>
                    <a:srgbClr val="222222"/>
                  </a:solidFill>
                  <a:latin typeface="SimSun"/>
                  <a:ea typeface="SimSun"/>
                  <a:cs typeface="SimSun"/>
                </a:rPr>
                <a:t>｜标签必须能够直接决定下一次营销动作</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132" name="tag-system"/>
          <p:cNvGrpSpPr/>
          <p:nvPr/>
        </p:nvGrpSpPr>
        <p:grpSpPr>
          <a:xfrm>
            <a:off x="171450" y="647700"/>
            <a:ext cx="8686800" cy="2457450"/>
            <a:chOff x="171450" y="647700"/>
            <a:chExt cx="8686800" cy="2457450"/>
          </a:xfrm>
        </p:grpSpPr>
        <p:sp>
          <p:nvSpPr>
            <p:cNvPr id="7" name="Rectangle 7"/>
            <p:cNvSpPr/>
            <p:nvPr/>
          </p:nvSpPr>
          <p:spPr>
            <a:xfrm>
              <a:off x="171450" y="647700"/>
              <a:ext cx="8686800" cy="2457450"/>
            </a:xfrm>
            <a:prstGeom prst="roundRect">
              <a:avLst>
                <a:gd name="adj" fmla="val 2326"/>
              </a:avLst>
            </a:prstGeom>
            <a:solidFill>
              <a:srgbClr val="FFFFFF"/>
            </a:solidFill>
            <a:ln w="9525">
              <a:solidFill>
                <a:srgbClr val="F1C7CC"/>
              </a:solidFill>
            </a:ln>
          </p:spPr>
        </p:sp>
        <p:sp>
          <p:nvSpPr>
            <p:cNvPr id="8" name="Rectangle 8"/>
            <p:cNvSpPr/>
            <p:nvPr/>
          </p:nvSpPr>
          <p:spPr>
            <a:xfrm>
              <a:off x="228600" y="704850"/>
              <a:ext cx="38100" cy="152400"/>
            </a:xfrm>
            <a:prstGeom prst="rect">
              <a:avLst/>
            </a:prstGeom>
            <a:solidFill>
              <a:srgbClr val="C83210"/>
            </a:solidFill>
            <a:ln>
              <a:noFill/>
            </a:ln>
          </p:spPr>
        </p:sp>
        <p:sp>
          <p:nvSpPr>
            <p:cNvPr id="9" name="TextBox 9"/>
            <p:cNvSpPr txBox="1"/>
            <p:nvPr/>
          </p:nvSpPr>
          <p:spPr>
            <a:xfrm>
              <a:off x="318897" y="723424"/>
              <a:ext cx="1065327"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五层客户标签体系</a:t>
              </a:r>
            </a:p>
          </p:txBody>
        </p:sp>
        <p:sp>
          <p:nvSpPr>
            <p:cNvPr id="10" name="TextBox 10"/>
            <p:cNvSpPr txBox="1"/>
            <p:nvPr/>
          </p:nvSpPr>
          <p:spPr>
            <a:xfrm>
              <a:off x="1423988" y="747712"/>
              <a:ext cx="2230755" cy="147638"/>
            </a:xfrm>
            <a:prstGeom prst="rect">
              <a:avLst/>
            </a:prstGeom>
            <a:noFill/>
            <a:ln>
              <a:noFill/>
            </a:ln>
          </p:spPr>
          <p:txBody>
            <a:bodyPr wrap="none" lIns="0" tIns="0" rIns="0" bIns="0" anchor="t" anchorCtr="0">
              <a:spAutoFit/>
            </a:bodyPr>
            <a:lstStyle/>
            <a:p>
              <a:pPr algn="l"/>
              <a:r>
                <a:rPr lang="zh-CN" sz="750" dirty="0">
                  <a:solidFill>
                    <a:srgbClr val="666666"/>
                  </a:solidFill>
                  <a:latin typeface="+mn-lt"/>
                  <a:ea typeface="+mn-ea"/>
                  <a:cs typeface="+mn-cs"/>
                </a:rPr>
                <a:t>（从静态到动态，全面刻画客户，支撑精准触达）</a:t>
              </a:r>
            </a:p>
          </p:txBody>
        </p:sp>
        <p:grpSp>
          <p:nvGrpSpPr>
            <p:cNvPr id="32" name="tag-level-1"/>
            <p:cNvGrpSpPr/>
            <p:nvPr/>
          </p:nvGrpSpPr>
          <p:grpSpPr>
            <a:xfrm>
              <a:off x="228600" y="933450"/>
              <a:ext cx="1638300" cy="1581150"/>
              <a:chOff x="228600" y="933450"/>
              <a:chExt cx="1638300" cy="1581150"/>
            </a:xfrm>
          </p:grpSpPr>
          <p:sp>
            <p:nvSpPr>
              <p:cNvPr id="11" name="Rectangle 11"/>
              <p:cNvSpPr/>
              <p:nvPr/>
            </p:nvSpPr>
            <p:spPr>
              <a:xfrm>
                <a:off x="228600" y="933450"/>
                <a:ext cx="1638300" cy="381000"/>
              </a:xfrm>
              <a:prstGeom prst="roundRect">
                <a:avLst>
                  <a:gd name="adj" fmla="val 15000"/>
                </a:avLst>
              </a:prstGeom>
              <a:solidFill>
                <a:srgbClr val="C83210"/>
              </a:solidFill>
              <a:ln>
                <a:noFill/>
              </a:ln>
            </p:spPr>
          </p:sp>
          <p:grpSp>
            <p:nvGrpSpPr>
              <p:cNvPr id="14" name="Group 14"/>
              <p:cNvGrpSpPr/>
              <p:nvPr/>
            </p:nvGrpSpPr>
            <p:grpSpPr>
              <a:xfrm>
                <a:off x="376238" y="1045369"/>
                <a:ext cx="104775" cy="157163"/>
                <a:chOff x="376238" y="1045369"/>
                <a:chExt cx="104775" cy="157163"/>
              </a:xfrm>
            </p:grpSpPr>
            <p:sp>
              <p:nvSpPr>
                <p:cNvPr id="12" name="Freeform 12"/>
                <p:cNvSpPr/>
                <p:nvPr/>
              </p:nvSpPr>
              <p:spPr>
                <a:xfrm>
                  <a:off x="393700" y="10453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3" name="Freeform 13"/>
                <p:cNvSpPr/>
                <p:nvPr/>
              </p:nvSpPr>
              <p:spPr>
                <a:xfrm>
                  <a:off x="376238" y="115014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grpSp>
          <p:sp>
            <p:nvSpPr>
              <p:cNvPr id="15" name="TextBox 15"/>
              <p:cNvSpPr txBox="1"/>
              <p:nvPr/>
            </p:nvSpPr>
            <p:spPr>
              <a:xfrm>
                <a:off x="604838" y="998220"/>
                <a:ext cx="628860"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1. 基础属性</a:t>
                </a:r>
              </a:p>
            </p:txBody>
          </p:sp>
          <p:sp>
            <p:nvSpPr>
              <p:cNvPr id="16" name="TextBox 16"/>
              <p:cNvSpPr txBox="1"/>
              <p:nvPr/>
            </p:nvSpPr>
            <p:spPr>
              <a:xfrm>
                <a:off x="604838" y="1165384"/>
                <a:ext cx="558775" cy="133350"/>
              </a:xfrm>
              <a:prstGeom prst="rect">
                <a:avLst/>
              </a:prstGeom>
              <a:noFill/>
              <a:ln>
                <a:noFill/>
              </a:ln>
            </p:spPr>
            <p:txBody>
              <a:bodyPr wrap="none" lIns="0" tIns="0" rIns="0" bIns="0" anchor="t" anchorCtr="0">
                <a:spAutoFit/>
              </a:bodyPr>
              <a:lstStyle/>
              <a:p>
                <a:pPr algn="l"/>
                <a:r>
                  <a:rPr lang="zh-CN" sz="680" dirty="0">
                    <a:solidFill>
                      <a:srgbClr val="FFFFFF"/>
                    </a:solidFill>
                    <a:latin typeface="+mn-lt"/>
                    <a:ea typeface="+mn-ea"/>
                    <a:cs typeface="+mn-cs"/>
                  </a:rPr>
                  <a:t>识别客户是谁</a:t>
                </a:r>
              </a:p>
            </p:txBody>
          </p:sp>
          <p:sp>
            <p:nvSpPr>
              <p:cNvPr id="17" name="Rectangle 17"/>
              <p:cNvSpPr/>
              <p:nvPr/>
            </p:nvSpPr>
            <p:spPr>
              <a:xfrm>
                <a:off x="228600" y="1390650"/>
                <a:ext cx="1638300" cy="209550"/>
              </a:xfrm>
              <a:prstGeom prst="roundRect">
                <a:avLst>
                  <a:gd name="adj" fmla="val 13636"/>
                </a:avLst>
              </a:prstGeom>
              <a:solidFill>
                <a:srgbClr val="FDEFF1"/>
              </a:solidFill>
              <a:ln>
                <a:noFill/>
              </a:ln>
            </p:spPr>
          </p:sp>
          <p:sp>
            <p:nvSpPr>
              <p:cNvPr id="18" name="TextBox 18"/>
              <p:cNvSpPr txBox="1"/>
              <p:nvPr/>
            </p:nvSpPr>
            <p:spPr>
              <a:xfrm>
                <a:off x="300038" y="1456611"/>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年龄</a:t>
                </a:r>
              </a:p>
            </p:txBody>
          </p:sp>
          <p:sp>
            <p:nvSpPr>
              <p:cNvPr id="19" name="TextBox 19"/>
              <p:cNvSpPr txBox="1"/>
              <p:nvPr/>
            </p:nvSpPr>
            <p:spPr>
              <a:xfrm>
                <a:off x="852488" y="1460659"/>
                <a:ext cx="609837" cy="133350"/>
              </a:xfrm>
              <a:prstGeom prst="rect">
                <a:avLst/>
              </a:prstGeom>
              <a:noFill/>
              <a:ln>
                <a:noFill/>
              </a:ln>
            </p:spPr>
            <p:txBody>
              <a:bodyPr wrap="none" lIns="0" tIns="0" rIns="0" bIns="0" anchor="t" anchorCtr="0">
                <a:spAutoFit/>
              </a:bodyPr>
              <a:lstStyle/>
              <a:p>
                <a:pPr algn="l"/>
                <a:r>
                  <a:rPr lang="zh-CN" sz="680" dirty="0">
                    <a:solidFill>
                      <a:srgbClr val="666666"/>
                    </a:solidFill>
                    <a:latin typeface="Arial"/>
                    <a:ea typeface="Microsoft YaHei"/>
                    <a:cs typeface="Arial"/>
                  </a:rPr>
                  <a:t xml:space="preserve">如：25-30岁　</a:t>
                </a:r>
              </a:p>
            </p:txBody>
          </p:sp>
          <p:sp>
            <p:nvSpPr>
              <p:cNvPr id="20" name="Rectangle 20"/>
              <p:cNvSpPr/>
              <p:nvPr/>
            </p:nvSpPr>
            <p:spPr>
              <a:xfrm>
                <a:off x="228600" y="1619250"/>
                <a:ext cx="1638300" cy="209550"/>
              </a:xfrm>
              <a:prstGeom prst="roundRect">
                <a:avLst>
                  <a:gd name="adj" fmla="val 13636"/>
                </a:avLst>
              </a:prstGeom>
              <a:solidFill>
                <a:srgbClr val="FDEFF1"/>
              </a:solidFill>
              <a:ln>
                <a:noFill/>
              </a:ln>
            </p:spPr>
          </p:sp>
          <p:sp>
            <p:nvSpPr>
              <p:cNvPr id="21" name="TextBox 21"/>
              <p:cNvSpPr txBox="1"/>
              <p:nvPr/>
            </p:nvSpPr>
            <p:spPr>
              <a:xfrm>
                <a:off x="300038" y="1685211"/>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职业</a:t>
                </a:r>
              </a:p>
            </p:txBody>
          </p:sp>
          <p:sp>
            <p:nvSpPr>
              <p:cNvPr id="22" name="TextBox 22"/>
              <p:cNvSpPr txBox="1"/>
              <p:nvPr/>
            </p:nvSpPr>
            <p:spPr>
              <a:xfrm>
                <a:off x="852488" y="1689259"/>
                <a:ext cx="558775"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如：企业白领</a:t>
                </a:r>
              </a:p>
            </p:txBody>
          </p:sp>
          <p:sp>
            <p:nvSpPr>
              <p:cNvPr id="23" name="Rectangle 23"/>
              <p:cNvSpPr/>
              <p:nvPr/>
            </p:nvSpPr>
            <p:spPr>
              <a:xfrm>
                <a:off x="228600" y="1847850"/>
                <a:ext cx="1638300" cy="209550"/>
              </a:xfrm>
              <a:prstGeom prst="roundRect">
                <a:avLst>
                  <a:gd name="adj" fmla="val 13636"/>
                </a:avLst>
              </a:prstGeom>
              <a:solidFill>
                <a:srgbClr val="FDEFF1"/>
              </a:solidFill>
              <a:ln>
                <a:noFill/>
              </a:ln>
            </p:spPr>
          </p:sp>
          <p:sp>
            <p:nvSpPr>
              <p:cNvPr id="24" name="TextBox 24"/>
              <p:cNvSpPr txBox="1"/>
              <p:nvPr/>
            </p:nvSpPr>
            <p:spPr>
              <a:xfrm>
                <a:off x="300038" y="19138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家庭阶段</a:t>
                </a:r>
              </a:p>
            </p:txBody>
          </p:sp>
          <p:sp>
            <p:nvSpPr>
              <p:cNvPr id="25" name="TextBox 25"/>
              <p:cNvSpPr txBox="1"/>
              <p:nvPr/>
            </p:nvSpPr>
            <p:spPr>
              <a:xfrm>
                <a:off x="852488" y="1917859"/>
                <a:ext cx="558775"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如：已婚有孩</a:t>
                </a:r>
              </a:p>
            </p:txBody>
          </p:sp>
          <p:sp>
            <p:nvSpPr>
              <p:cNvPr id="26" name="Rectangle 26"/>
              <p:cNvSpPr/>
              <p:nvPr/>
            </p:nvSpPr>
            <p:spPr>
              <a:xfrm>
                <a:off x="228600" y="2076450"/>
                <a:ext cx="1638300" cy="209550"/>
              </a:xfrm>
              <a:prstGeom prst="roundRect">
                <a:avLst>
                  <a:gd name="adj" fmla="val 13636"/>
                </a:avLst>
              </a:prstGeom>
              <a:solidFill>
                <a:srgbClr val="FDEFF1"/>
              </a:solidFill>
              <a:ln>
                <a:noFill/>
              </a:ln>
            </p:spPr>
          </p:sp>
          <p:sp>
            <p:nvSpPr>
              <p:cNvPr id="27" name="TextBox 27"/>
              <p:cNvSpPr txBox="1"/>
              <p:nvPr/>
            </p:nvSpPr>
            <p:spPr>
              <a:xfrm>
                <a:off x="300038" y="2142411"/>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地域</a:t>
                </a:r>
              </a:p>
            </p:txBody>
          </p:sp>
          <p:sp>
            <p:nvSpPr>
              <p:cNvPr id="28" name="TextBox 28"/>
              <p:cNvSpPr txBox="1"/>
              <p:nvPr/>
            </p:nvSpPr>
            <p:spPr>
              <a:xfrm>
                <a:off x="852488" y="2146459"/>
                <a:ext cx="558775"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如：一线城市</a:t>
                </a:r>
              </a:p>
            </p:txBody>
          </p:sp>
          <p:sp>
            <p:nvSpPr>
              <p:cNvPr id="29" name="Rectangle 29"/>
              <p:cNvSpPr/>
              <p:nvPr/>
            </p:nvSpPr>
            <p:spPr>
              <a:xfrm>
                <a:off x="228600" y="2305050"/>
                <a:ext cx="1638300" cy="209550"/>
              </a:xfrm>
              <a:prstGeom prst="roundRect">
                <a:avLst>
                  <a:gd name="adj" fmla="val 13636"/>
                </a:avLst>
              </a:prstGeom>
              <a:solidFill>
                <a:srgbClr val="FDEFF1"/>
              </a:solidFill>
              <a:ln>
                <a:noFill/>
              </a:ln>
            </p:spPr>
          </p:sp>
          <p:sp>
            <p:nvSpPr>
              <p:cNvPr id="30" name="TextBox 30"/>
              <p:cNvSpPr txBox="1"/>
              <p:nvPr/>
            </p:nvSpPr>
            <p:spPr>
              <a:xfrm>
                <a:off x="300038" y="2371011"/>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学历</a:t>
                </a:r>
              </a:p>
            </p:txBody>
          </p:sp>
          <p:sp>
            <p:nvSpPr>
              <p:cNvPr id="31" name="TextBox 31"/>
              <p:cNvSpPr txBox="1"/>
              <p:nvPr/>
            </p:nvSpPr>
            <p:spPr>
              <a:xfrm>
                <a:off x="852488" y="2375059"/>
                <a:ext cx="65031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如：本科及以上</a:t>
                </a:r>
              </a:p>
            </p:txBody>
          </p:sp>
        </p:grpSp>
        <p:grpSp>
          <p:nvGrpSpPr>
            <p:cNvPr id="56" name="tag-level-2"/>
            <p:cNvGrpSpPr/>
            <p:nvPr/>
          </p:nvGrpSpPr>
          <p:grpSpPr>
            <a:xfrm>
              <a:off x="1943100" y="933450"/>
              <a:ext cx="1638300" cy="1581150"/>
              <a:chOff x="1943100" y="933450"/>
              <a:chExt cx="1638300" cy="1581150"/>
            </a:xfrm>
          </p:grpSpPr>
          <p:sp>
            <p:nvSpPr>
              <p:cNvPr id="33" name="Rectangle 33"/>
              <p:cNvSpPr/>
              <p:nvPr/>
            </p:nvSpPr>
            <p:spPr>
              <a:xfrm>
                <a:off x="1943100" y="933450"/>
                <a:ext cx="1638300" cy="381000"/>
              </a:xfrm>
              <a:prstGeom prst="roundRect">
                <a:avLst>
                  <a:gd name="adj" fmla="val 15000"/>
                </a:avLst>
              </a:prstGeom>
              <a:solidFill>
                <a:srgbClr val="C83210"/>
              </a:solidFill>
              <a:ln>
                <a:noFill/>
              </a:ln>
            </p:spPr>
          </p:sp>
          <p:grpSp>
            <p:nvGrpSpPr>
              <p:cNvPr id="38" name="Group 38"/>
              <p:cNvGrpSpPr/>
              <p:nvPr/>
            </p:nvGrpSpPr>
            <p:grpSpPr>
              <a:xfrm>
                <a:off x="2064544" y="1045369"/>
                <a:ext cx="157163" cy="157163"/>
                <a:chOff x="2064544" y="1045369"/>
                <a:chExt cx="157163" cy="157163"/>
              </a:xfrm>
            </p:grpSpPr>
            <p:sp>
              <p:nvSpPr>
                <p:cNvPr id="34" name="Freeform 34"/>
                <p:cNvSpPr/>
                <p:nvPr/>
              </p:nvSpPr>
              <p:spPr>
                <a:xfrm>
                  <a:off x="2082006" y="10453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35" name="Freeform 35"/>
                <p:cNvSpPr/>
                <p:nvPr/>
              </p:nvSpPr>
              <p:spPr>
                <a:xfrm>
                  <a:off x="2064544" y="115014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36" name="Freeform 36"/>
                <p:cNvSpPr/>
                <p:nvPr/>
              </p:nvSpPr>
              <p:spPr>
                <a:xfrm>
                  <a:off x="2178050" y="104650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37" name="Freeform 37"/>
                <p:cNvSpPr/>
                <p:nvPr/>
              </p:nvSpPr>
              <p:spPr>
                <a:xfrm>
                  <a:off x="2195513" y="115145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39" name="TextBox 39"/>
              <p:cNvSpPr txBox="1"/>
              <p:nvPr/>
            </p:nvSpPr>
            <p:spPr>
              <a:xfrm>
                <a:off x="2319338" y="998220"/>
                <a:ext cx="628860"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2. 关系状态</a:t>
                </a:r>
              </a:p>
            </p:txBody>
          </p:sp>
          <p:sp>
            <p:nvSpPr>
              <p:cNvPr id="40" name="TextBox 40"/>
              <p:cNvSpPr txBox="1"/>
              <p:nvPr/>
            </p:nvSpPr>
            <p:spPr>
              <a:xfrm>
                <a:off x="2319338" y="1165384"/>
                <a:ext cx="924941" cy="133350"/>
              </a:xfrm>
              <a:prstGeom prst="rect">
                <a:avLst/>
              </a:prstGeom>
              <a:noFill/>
              <a:ln>
                <a:noFill/>
              </a:ln>
            </p:spPr>
            <p:txBody>
              <a:bodyPr wrap="none" lIns="0" tIns="0" rIns="0" bIns="0" anchor="t" anchorCtr="0">
                <a:spAutoFit/>
              </a:bodyPr>
              <a:lstStyle/>
              <a:p>
                <a:pPr algn="l"/>
                <a:r>
                  <a:rPr lang="zh-CN" sz="680" dirty="0">
                    <a:solidFill>
                      <a:srgbClr val="FFFFFF"/>
                    </a:solidFill>
                    <a:latin typeface="+mn-lt"/>
                    <a:ea typeface="+mn-ea"/>
                    <a:cs typeface="+mn-cs"/>
                  </a:rPr>
                  <a:t>判断客户与我行的关系</a:t>
                </a:r>
              </a:p>
            </p:txBody>
          </p:sp>
          <p:sp>
            <p:nvSpPr>
              <p:cNvPr id="41" name="Rectangle 41"/>
              <p:cNvSpPr/>
              <p:nvPr/>
            </p:nvSpPr>
            <p:spPr>
              <a:xfrm>
                <a:off x="1943100" y="1390650"/>
                <a:ext cx="1638300" cy="209550"/>
              </a:xfrm>
              <a:prstGeom prst="roundRect">
                <a:avLst>
                  <a:gd name="adj" fmla="val 13636"/>
                </a:avLst>
              </a:prstGeom>
              <a:solidFill>
                <a:srgbClr val="FDEFF1"/>
              </a:solidFill>
              <a:ln>
                <a:noFill/>
              </a:ln>
            </p:spPr>
          </p:sp>
          <p:sp>
            <p:nvSpPr>
              <p:cNvPr id="42" name="TextBox 42"/>
              <p:cNvSpPr txBox="1"/>
              <p:nvPr/>
            </p:nvSpPr>
            <p:spPr>
              <a:xfrm>
                <a:off x="2014538" y="14566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新增客户</a:t>
                </a:r>
              </a:p>
            </p:txBody>
          </p:sp>
          <p:sp>
            <p:nvSpPr>
              <p:cNvPr id="43" name="TextBox 43"/>
              <p:cNvSpPr txBox="1"/>
              <p:nvPr/>
            </p:nvSpPr>
            <p:spPr>
              <a:xfrm>
                <a:off x="2566988" y="1460659"/>
                <a:ext cx="567929"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 xml:space="preserve">近30天新增　</a:t>
                </a:r>
              </a:p>
            </p:txBody>
          </p:sp>
          <p:sp>
            <p:nvSpPr>
              <p:cNvPr id="44" name="Rectangle 44"/>
              <p:cNvSpPr/>
              <p:nvPr/>
            </p:nvSpPr>
            <p:spPr>
              <a:xfrm>
                <a:off x="1943100" y="1619250"/>
                <a:ext cx="1638300" cy="209550"/>
              </a:xfrm>
              <a:prstGeom prst="roundRect">
                <a:avLst>
                  <a:gd name="adj" fmla="val 13636"/>
                </a:avLst>
              </a:prstGeom>
              <a:solidFill>
                <a:srgbClr val="FDEFF1"/>
              </a:solidFill>
              <a:ln>
                <a:noFill/>
              </a:ln>
            </p:spPr>
          </p:sp>
          <p:sp>
            <p:nvSpPr>
              <p:cNvPr id="45" name="TextBox 45"/>
              <p:cNvSpPr txBox="1"/>
              <p:nvPr/>
            </p:nvSpPr>
            <p:spPr>
              <a:xfrm>
                <a:off x="2014538" y="1685211"/>
                <a:ext cx="29626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已认证</a:t>
                </a:r>
              </a:p>
            </p:txBody>
          </p:sp>
          <p:sp>
            <p:nvSpPr>
              <p:cNvPr id="46" name="TextBox 46"/>
              <p:cNvSpPr txBox="1"/>
              <p:nvPr/>
            </p:nvSpPr>
            <p:spPr>
              <a:xfrm>
                <a:off x="2566988" y="1689259"/>
                <a:ext cx="558775"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完成企微认证</a:t>
                </a:r>
              </a:p>
            </p:txBody>
          </p:sp>
          <p:sp>
            <p:nvSpPr>
              <p:cNvPr id="47" name="Rectangle 47"/>
              <p:cNvSpPr/>
              <p:nvPr/>
            </p:nvSpPr>
            <p:spPr>
              <a:xfrm>
                <a:off x="1943100" y="1847850"/>
                <a:ext cx="1638300" cy="209550"/>
              </a:xfrm>
              <a:prstGeom prst="roundRect">
                <a:avLst>
                  <a:gd name="adj" fmla="val 13636"/>
                </a:avLst>
              </a:prstGeom>
              <a:solidFill>
                <a:srgbClr val="FDEFF1"/>
              </a:solidFill>
              <a:ln>
                <a:noFill/>
              </a:ln>
            </p:spPr>
          </p:sp>
          <p:sp>
            <p:nvSpPr>
              <p:cNvPr id="48" name="TextBox 48"/>
              <p:cNvSpPr txBox="1"/>
              <p:nvPr/>
            </p:nvSpPr>
            <p:spPr>
              <a:xfrm>
                <a:off x="2014538" y="19138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活跃客户</a:t>
                </a:r>
              </a:p>
            </p:txBody>
          </p:sp>
          <p:sp>
            <p:nvSpPr>
              <p:cNvPr id="49" name="TextBox 49"/>
              <p:cNvSpPr txBox="1"/>
              <p:nvPr/>
            </p:nvSpPr>
            <p:spPr>
              <a:xfrm>
                <a:off x="2566988" y="1917859"/>
                <a:ext cx="659470"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 xml:space="preserve">近30天有互动　</a:t>
                </a:r>
              </a:p>
            </p:txBody>
          </p:sp>
          <p:sp>
            <p:nvSpPr>
              <p:cNvPr id="50" name="Rectangle 50"/>
              <p:cNvSpPr/>
              <p:nvPr/>
            </p:nvSpPr>
            <p:spPr>
              <a:xfrm>
                <a:off x="1943100" y="2076450"/>
                <a:ext cx="1638300" cy="209550"/>
              </a:xfrm>
              <a:prstGeom prst="roundRect">
                <a:avLst>
                  <a:gd name="adj" fmla="val 13636"/>
                </a:avLst>
              </a:prstGeom>
              <a:solidFill>
                <a:srgbClr val="FDEFF1"/>
              </a:solidFill>
              <a:ln>
                <a:noFill/>
              </a:ln>
            </p:spPr>
          </p:sp>
          <p:sp>
            <p:nvSpPr>
              <p:cNvPr id="51" name="TextBox 51"/>
              <p:cNvSpPr txBox="1"/>
              <p:nvPr/>
            </p:nvSpPr>
            <p:spPr>
              <a:xfrm>
                <a:off x="2014538" y="21424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沉睡客户</a:t>
                </a:r>
              </a:p>
            </p:txBody>
          </p:sp>
          <p:sp>
            <p:nvSpPr>
              <p:cNvPr id="52" name="TextBox 52"/>
              <p:cNvSpPr txBox="1"/>
              <p:nvPr/>
            </p:nvSpPr>
            <p:spPr>
              <a:xfrm>
                <a:off x="2566988" y="2146459"/>
                <a:ext cx="659470"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 xml:space="preserve">近90天无互动　</a:t>
                </a:r>
              </a:p>
            </p:txBody>
          </p:sp>
          <p:sp>
            <p:nvSpPr>
              <p:cNvPr id="53" name="Rectangle 53"/>
              <p:cNvSpPr/>
              <p:nvPr/>
            </p:nvSpPr>
            <p:spPr>
              <a:xfrm>
                <a:off x="1943100" y="2305050"/>
                <a:ext cx="1638300" cy="209550"/>
              </a:xfrm>
              <a:prstGeom prst="roundRect">
                <a:avLst>
                  <a:gd name="adj" fmla="val 13636"/>
                </a:avLst>
              </a:prstGeom>
              <a:solidFill>
                <a:srgbClr val="FDEFF1"/>
              </a:solidFill>
              <a:ln>
                <a:noFill/>
              </a:ln>
            </p:spPr>
          </p:sp>
          <p:sp>
            <p:nvSpPr>
              <p:cNvPr id="54" name="TextBox 54"/>
              <p:cNvSpPr txBox="1"/>
              <p:nvPr/>
            </p:nvSpPr>
            <p:spPr>
              <a:xfrm>
                <a:off x="2014538" y="23710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流失风险</a:t>
                </a:r>
              </a:p>
            </p:txBody>
          </p:sp>
          <p:sp>
            <p:nvSpPr>
              <p:cNvPr id="55" name="TextBox 55"/>
              <p:cNvSpPr txBox="1"/>
              <p:nvPr/>
            </p:nvSpPr>
            <p:spPr>
              <a:xfrm>
                <a:off x="2566988" y="2375059"/>
                <a:ext cx="467233"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连续未响应</a:t>
                </a:r>
              </a:p>
            </p:txBody>
          </p:sp>
        </p:grpSp>
        <p:grpSp>
          <p:nvGrpSpPr>
            <p:cNvPr id="79" name="tag-level-3"/>
            <p:cNvGrpSpPr/>
            <p:nvPr/>
          </p:nvGrpSpPr>
          <p:grpSpPr>
            <a:xfrm>
              <a:off x="3657600" y="933450"/>
              <a:ext cx="1638300" cy="1809750"/>
              <a:chOff x="3657600" y="933450"/>
              <a:chExt cx="1638300" cy="1809750"/>
            </a:xfrm>
          </p:grpSpPr>
          <p:sp>
            <p:nvSpPr>
              <p:cNvPr id="57" name="Rectangle 57"/>
              <p:cNvSpPr/>
              <p:nvPr/>
            </p:nvSpPr>
            <p:spPr>
              <a:xfrm>
                <a:off x="3657600" y="933450"/>
                <a:ext cx="1638300" cy="381000"/>
              </a:xfrm>
              <a:prstGeom prst="roundRect">
                <a:avLst>
                  <a:gd name="adj" fmla="val 15000"/>
                </a:avLst>
              </a:prstGeom>
              <a:solidFill>
                <a:srgbClr val="C83210"/>
              </a:solidFill>
              <a:ln>
                <a:noFill/>
              </a:ln>
            </p:spPr>
          </p:sp>
          <p:grpSp>
            <p:nvGrpSpPr>
              <p:cNvPr id="62" name="Group 62"/>
              <p:cNvGrpSpPr/>
              <p:nvPr/>
            </p:nvGrpSpPr>
            <p:grpSpPr>
              <a:xfrm>
                <a:off x="3779044" y="1054100"/>
                <a:ext cx="157163" cy="149225"/>
                <a:chOff x="3779044" y="1054100"/>
                <a:chExt cx="157163" cy="149225"/>
              </a:xfrm>
            </p:grpSpPr>
            <p:sp>
              <p:nvSpPr>
                <p:cNvPr id="58" name="Freeform 58"/>
                <p:cNvSpPr/>
                <p:nvPr/>
              </p:nvSpPr>
              <p:spPr>
                <a:xfrm>
                  <a:off x="3779044" y="11239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59" name="Freeform 59"/>
                <p:cNvSpPr/>
                <p:nvPr/>
              </p:nvSpPr>
              <p:spPr>
                <a:xfrm>
                  <a:off x="3883819" y="10890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60" name="Freeform 60"/>
                <p:cNvSpPr/>
                <p:nvPr/>
              </p:nvSpPr>
              <p:spPr>
                <a:xfrm>
                  <a:off x="3831431" y="10541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61" name="Freeform 61"/>
                <p:cNvSpPr/>
                <p:nvPr/>
              </p:nvSpPr>
              <p:spPr>
                <a:xfrm>
                  <a:off x="3787775" y="1193800"/>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63" name="TextBox 63"/>
              <p:cNvSpPr txBox="1"/>
              <p:nvPr/>
            </p:nvSpPr>
            <p:spPr>
              <a:xfrm>
                <a:off x="4033838" y="998220"/>
                <a:ext cx="628860"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3. 资产价值</a:t>
                </a:r>
              </a:p>
            </p:txBody>
          </p:sp>
          <p:sp>
            <p:nvSpPr>
              <p:cNvPr id="64" name="TextBox 64"/>
              <p:cNvSpPr txBox="1"/>
              <p:nvPr/>
            </p:nvSpPr>
            <p:spPr>
              <a:xfrm>
                <a:off x="4033838" y="1165384"/>
                <a:ext cx="833399" cy="133350"/>
              </a:xfrm>
              <a:prstGeom prst="rect">
                <a:avLst/>
              </a:prstGeom>
              <a:noFill/>
              <a:ln>
                <a:noFill/>
              </a:ln>
            </p:spPr>
            <p:txBody>
              <a:bodyPr wrap="none" lIns="0" tIns="0" rIns="0" bIns="0" anchor="t" anchorCtr="0">
                <a:spAutoFit/>
              </a:bodyPr>
              <a:lstStyle/>
              <a:p>
                <a:pPr algn="l"/>
                <a:r>
                  <a:rPr lang="zh-CN" sz="680" dirty="0">
                    <a:solidFill>
                      <a:srgbClr val="FFFFFF"/>
                    </a:solidFill>
                    <a:latin typeface="+mn-lt"/>
                    <a:ea typeface="+mn-ea"/>
                    <a:cs typeface="+mn-cs"/>
                  </a:rPr>
                  <a:t>评估客户的贡献价值</a:t>
                </a:r>
              </a:p>
            </p:txBody>
          </p:sp>
          <p:sp>
            <p:nvSpPr>
              <p:cNvPr id="65" name="Rectangle 65"/>
              <p:cNvSpPr/>
              <p:nvPr/>
            </p:nvSpPr>
            <p:spPr>
              <a:xfrm>
                <a:off x="3657600" y="1390650"/>
                <a:ext cx="1638300" cy="323850"/>
              </a:xfrm>
              <a:prstGeom prst="roundRect">
                <a:avLst>
                  <a:gd name="adj" fmla="val 8824"/>
                </a:avLst>
              </a:prstGeom>
              <a:solidFill>
                <a:srgbClr val="FDEFF1"/>
              </a:solidFill>
              <a:ln>
                <a:noFill/>
              </a:ln>
            </p:spPr>
          </p:sp>
          <p:sp>
            <p:nvSpPr>
              <p:cNvPr id="66" name="TextBox 66"/>
              <p:cNvSpPr txBox="1"/>
              <p:nvPr/>
            </p:nvSpPr>
            <p:spPr>
              <a:xfrm>
                <a:off x="3729038" y="1513761"/>
                <a:ext cx="526261"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Arial"/>
                    <a:ea typeface="Microsoft YaHei"/>
                    <a:cs typeface="Arial"/>
                  </a:rPr>
                  <a:t xml:space="preserve">AUM分层　</a:t>
                </a:r>
              </a:p>
            </p:txBody>
          </p:sp>
          <p:sp>
            <p:nvSpPr>
              <p:cNvPr id="67" name="TextBox 67"/>
              <p:cNvSpPr txBox="1"/>
              <p:nvPr/>
            </p:nvSpPr>
            <p:spPr>
              <a:xfrm>
                <a:off x="4281488" y="1455182"/>
                <a:ext cx="83077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Arial"/>
                    <a:ea typeface="Microsoft YaHei"/>
                    <a:cs typeface="Arial"/>
                  </a:rPr>
                  <a:t xml:space="preserve">如：&lt;10万/10-50万　</a:t>
                </a:r>
              </a:p>
            </p:txBody>
          </p:sp>
          <p:sp>
            <p:nvSpPr>
              <p:cNvPr id="68" name="TextBox 68"/>
              <p:cNvSpPr txBox="1"/>
              <p:nvPr/>
            </p:nvSpPr>
            <p:spPr>
              <a:xfrm>
                <a:off x="4281488" y="1569482"/>
                <a:ext cx="754299" cy="126206"/>
              </a:xfrm>
              <a:prstGeom prst="rect">
                <a:avLst/>
              </a:prstGeom>
              <a:noFill/>
              <a:ln>
                <a:noFill/>
              </a:ln>
            </p:spPr>
            <p:txBody>
              <a:bodyPr wrap="none" lIns="0" tIns="0" rIns="0" bIns="0" anchor="t" anchorCtr="0">
                <a:spAutoFit/>
              </a:bodyPr>
              <a:lstStyle/>
              <a:p>
                <a:pPr algn="l"/>
                <a:r>
                  <a:rPr lang="zh-CN" sz="640" dirty="0">
                    <a:solidFill>
                      <a:srgbClr val="666666"/>
                    </a:solidFill>
                    <a:latin typeface="Arial"/>
                    <a:ea typeface="Microsoft YaHei"/>
                    <a:cs typeface="Arial"/>
                  </a:rPr>
                  <a:t xml:space="preserve">50-300万/&gt;300万　</a:t>
                </a:r>
              </a:p>
            </p:txBody>
          </p:sp>
          <p:sp>
            <p:nvSpPr>
              <p:cNvPr id="69" name="Rectangle 69"/>
              <p:cNvSpPr/>
              <p:nvPr/>
            </p:nvSpPr>
            <p:spPr>
              <a:xfrm>
                <a:off x="3657600" y="1733550"/>
                <a:ext cx="1638300" cy="323850"/>
              </a:xfrm>
              <a:prstGeom prst="roundRect">
                <a:avLst>
                  <a:gd name="adj" fmla="val 8824"/>
                </a:avLst>
              </a:prstGeom>
              <a:solidFill>
                <a:srgbClr val="FDEFF1"/>
              </a:solidFill>
              <a:ln>
                <a:noFill/>
              </a:ln>
            </p:spPr>
          </p:sp>
          <p:sp>
            <p:nvSpPr>
              <p:cNvPr id="70" name="TextBox 70"/>
              <p:cNvSpPr txBox="1"/>
              <p:nvPr/>
            </p:nvSpPr>
            <p:spPr>
              <a:xfrm>
                <a:off x="3729038" y="185666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月均资产</a:t>
                </a:r>
              </a:p>
            </p:txBody>
          </p:sp>
          <p:sp>
            <p:nvSpPr>
              <p:cNvPr id="71" name="TextBox 71"/>
              <p:cNvSpPr txBox="1"/>
              <p:nvPr/>
            </p:nvSpPr>
            <p:spPr>
              <a:xfrm>
                <a:off x="4281488" y="1860709"/>
                <a:ext cx="567929"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 xml:space="preserve">如：28万元　</a:t>
                </a:r>
              </a:p>
            </p:txBody>
          </p:sp>
          <p:sp>
            <p:nvSpPr>
              <p:cNvPr id="72" name="Rectangle 72"/>
              <p:cNvSpPr/>
              <p:nvPr/>
            </p:nvSpPr>
            <p:spPr>
              <a:xfrm>
                <a:off x="3657600" y="2076450"/>
                <a:ext cx="1638300" cy="323850"/>
              </a:xfrm>
              <a:prstGeom prst="roundRect">
                <a:avLst>
                  <a:gd name="adj" fmla="val 8824"/>
                </a:avLst>
              </a:prstGeom>
              <a:solidFill>
                <a:srgbClr val="FDEFF1"/>
              </a:solidFill>
              <a:ln>
                <a:noFill/>
              </a:ln>
            </p:spPr>
          </p:sp>
          <p:sp>
            <p:nvSpPr>
              <p:cNvPr id="73" name="TextBox 73"/>
              <p:cNvSpPr txBox="1"/>
              <p:nvPr/>
            </p:nvSpPr>
            <p:spPr>
              <a:xfrm>
                <a:off x="3729038" y="219956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资产增速</a:t>
                </a:r>
              </a:p>
            </p:txBody>
          </p:sp>
          <p:sp>
            <p:nvSpPr>
              <p:cNvPr id="74" name="TextBox 74"/>
              <p:cNvSpPr txBox="1"/>
              <p:nvPr/>
            </p:nvSpPr>
            <p:spPr>
              <a:xfrm>
                <a:off x="4281488" y="2203609"/>
                <a:ext cx="780269" cy="133350"/>
              </a:xfrm>
              <a:prstGeom prst="rect">
                <a:avLst/>
              </a:prstGeom>
              <a:noFill/>
              <a:ln>
                <a:noFill/>
              </a:ln>
            </p:spPr>
            <p:txBody>
              <a:bodyPr wrap="none" lIns="0" tIns="0" rIns="0" bIns="0" anchor="t" anchorCtr="0">
                <a:spAutoFit/>
              </a:bodyPr>
              <a:lstStyle/>
              <a:p>
                <a:pPr algn="l"/>
                <a:r>
                  <a:rPr lang="zh-CN" sz="680" dirty="0">
                    <a:solidFill>
                      <a:srgbClr val="666666"/>
                    </a:solidFill>
                    <a:latin typeface="Arial"/>
                    <a:ea typeface="Microsoft YaHei"/>
                    <a:cs typeface="Arial"/>
                  </a:rPr>
                  <a:t xml:space="preserve">如：近3月 +20%　</a:t>
                </a:r>
              </a:p>
            </p:txBody>
          </p:sp>
          <p:sp>
            <p:nvSpPr>
              <p:cNvPr id="75" name="Rectangle 75"/>
              <p:cNvSpPr/>
              <p:nvPr/>
            </p:nvSpPr>
            <p:spPr>
              <a:xfrm>
                <a:off x="3657600" y="2419350"/>
                <a:ext cx="1638300" cy="323850"/>
              </a:xfrm>
              <a:prstGeom prst="roundRect">
                <a:avLst>
                  <a:gd name="adj" fmla="val 8824"/>
                </a:avLst>
              </a:prstGeom>
              <a:solidFill>
                <a:srgbClr val="FDEFF1"/>
              </a:solidFill>
              <a:ln>
                <a:noFill/>
              </a:ln>
            </p:spPr>
          </p:sp>
          <p:sp>
            <p:nvSpPr>
              <p:cNvPr id="76" name="TextBox 76"/>
              <p:cNvSpPr txBox="1"/>
              <p:nvPr/>
            </p:nvSpPr>
            <p:spPr>
              <a:xfrm>
                <a:off x="3729038" y="254246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价值等级</a:t>
                </a:r>
              </a:p>
            </p:txBody>
          </p:sp>
          <p:sp>
            <p:nvSpPr>
              <p:cNvPr id="77" name="TextBox 77"/>
              <p:cNvSpPr txBox="1"/>
              <p:nvPr/>
            </p:nvSpPr>
            <p:spPr>
              <a:xfrm>
                <a:off x="4281488" y="2483882"/>
                <a:ext cx="879709"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如：大众/潜力/高净值</a:t>
                </a:r>
              </a:p>
            </p:txBody>
          </p:sp>
          <p:sp>
            <p:nvSpPr>
              <p:cNvPr id="78" name="TextBox 78"/>
              <p:cNvSpPr txBox="1"/>
              <p:nvPr/>
            </p:nvSpPr>
            <p:spPr>
              <a:xfrm>
                <a:off x="4281488" y="2598182"/>
                <a:ext cx="31538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/私行级</a:t>
                </a:r>
              </a:p>
            </p:txBody>
          </p:sp>
        </p:grpSp>
        <p:grpSp>
          <p:nvGrpSpPr>
            <p:cNvPr id="105" name="tag-level-4"/>
            <p:cNvGrpSpPr/>
            <p:nvPr/>
          </p:nvGrpSpPr>
          <p:grpSpPr>
            <a:xfrm>
              <a:off x="5372100" y="933450"/>
              <a:ext cx="1638300" cy="1809750"/>
              <a:chOff x="5372100" y="933450"/>
              <a:chExt cx="1638300" cy="1809750"/>
            </a:xfrm>
          </p:grpSpPr>
          <p:sp>
            <p:nvSpPr>
              <p:cNvPr id="80" name="Rectangle 80"/>
              <p:cNvSpPr/>
              <p:nvPr/>
            </p:nvSpPr>
            <p:spPr>
              <a:xfrm>
                <a:off x="5372100" y="933450"/>
                <a:ext cx="1638300" cy="381000"/>
              </a:xfrm>
              <a:prstGeom prst="roundRect">
                <a:avLst>
                  <a:gd name="adj" fmla="val 15000"/>
                </a:avLst>
              </a:prstGeom>
              <a:solidFill>
                <a:srgbClr val="C83210"/>
              </a:solidFill>
              <a:ln>
                <a:noFill/>
              </a:ln>
            </p:spPr>
          </p:sp>
          <p:grpSp>
            <p:nvGrpSpPr>
              <p:cNvPr id="84" name="Group 84"/>
              <p:cNvGrpSpPr/>
              <p:nvPr/>
            </p:nvGrpSpPr>
            <p:grpSpPr>
              <a:xfrm>
                <a:off x="5502275" y="1054100"/>
                <a:ext cx="139700" cy="139700"/>
                <a:chOff x="5502275" y="1054100"/>
                <a:chExt cx="139700" cy="139700"/>
              </a:xfrm>
            </p:grpSpPr>
            <p:sp>
              <p:nvSpPr>
                <p:cNvPr id="81" name="Freeform 81"/>
                <p:cNvSpPr/>
                <p:nvPr/>
              </p:nvSpPr>
              <p:spPr>
                <a:xfrm>
                  <a:off x="5502275" y="1054100"/>
                  <a:ext cx="139700" cy="69850"/>
                </a:xfrm>
                <a:custGeom>
                  <a:avLst/>
                  <a:gdLst/>
                  <a:ahLst/>
                  <a:cxnLst/>
                  <a:rect l="l" t="t" r="r" b="b"/>
                  <a:pathLst>
                    <a:path w="139700" h="69850">
                      <a:moveTo>
                        <a:pt x="69850" y="0"/>
                      </a:moveTo>
                      <a:lnTo>
                        <a:pt x="0" y="34925"/>
                      </a:lnTo>
                      <a:lnTo>
                        <a:pt x="69850" y="69850"/>
                      </a:lnTo>
                      <a:lnTo>
                        <a:pt x="139700" y="34925"/>
                      </a:lnTo>
                      <a:lnTo>
                        <a:pt x="69850" y="0"/>
                      </a:lnTo>
                    </a:path>
                  </a:pathLst>
                </a:custGeom>
                <a:noFill/>
                <a:ln w="17463">
                  <a:solidFill>
                    <a:srgbClr val="FFFFFF"/>
                  </a:solidFill>
                </a:ln>
              </p:spPr>
            </p:sp>
            <p:sp>
              <p:nvSpPr>
                <p:cNvPr id="82" name="Freeform 82"/>
                <p:cNvSpPr/>
                <p:nvPr/>
              </p:nvSpPr>
              <p:spPr>
                <a:xfrm>
                  <a:off x="5502275" y="1123950"/>
                  <a:ext cx="139700" cy="34925"/>
                </a:xfrm>
                <a:custGeom>
                  <a:avLst/>
                  <a:gdLst/>
                  <a:ahLst/>
                  <a:cxnLst/>
                  <a:rect l="l" t="t" r="r" b="b"/>
                  <a:pathLst>
                    <a:path w="139700" h="34925">
                      <a:moveTo>
                        <a:pt x="0" y="0"/>
                      </a:moveTo>
                      <a:lnTo>
                        <a:pt x="69850" y="34925"/>
                      </a:lnTo>
                      <a:lnTo>
                        <a:pt x="139700" y="0"/>
                      </a:lnTo>
                    </a:path>
                  </a:pathLst>
                </a:custGeom>
                <a:noFill/>
                <a:ln w="17463">
                  <a:solidFill>
                    <a:srgbClr val="FFFFFF"/>
                  </a:solidFill>
                </a:ln>
              </p:spPr>
            </p:sp>
            <p:sp>
              <p:nvSpPr>
                <p:cNvPr id="83" name="Freeform 83"/>
                <p:cNvSpPr/>
                <p:nvPr/>
              </p:nvSpPr>
              <p:spPr>
                <a:xfrm>
                  <a:off x="5502275" y="1158875"/>
                  <a:ext cx="139700" cy="34925"/>
                </a:xfrm>
                <a:custGeom>
                  <a:avLst/>
                  <a:gdLst/>
                  <a:ahLst/>
                  <a:cxnLst/>
                  <a:rect l="l" t="t" r="r" b="b"/>
                  <a:pathLst>
                    <a:path w="139700" h="34925">
                      <a:moveTo>
                        <a:pt x="0" y="0"/>
                      </a:moveTo>
                      <a:lnTo>
                        <a:pt x="69850" y="34925"/>
                      </a:lnTo>
                      <a:lnTo>
                        <a:pt x="139700" y="0"/>
                      </a:lnTo>
                    </a:path>
                  </a:pathLst>
                </a:custGeom>
                <a:noFill/>
                <a:ln w="17463">
                  <a:solidFill>
                    <a:srgbClr val="FFFFFF"/>
                  </a:solidFill>
                </a:ln>
              </p:spPr>
            </p:sp>
          </p:grpSp>
          <p:sp>
            <p:nvSpPr>
              <p:cNvPr id="85" name="TextBox 85"/>
              <p:cNvSpPr txBox="1"/>
              <p:nvPr/>
            </p:nvSpPr>
            <p:spPr>
              <a:xfrm>
                <a:off x="5748338" y="998220"/>
                <a:ext cx="628860"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4. 产品持有</a:t>
                </a:r>
              </a:p>
            </p:txBody>
          </p:sp>
          <p:sp>
            <p:nvSpPr>
              <p:cNvPr id="86" name="TextBox 86"/>
              <p:cNvSpPr txBox="1"/>
              <p:nvPr/>
            </p:nvSpPr>
            <p:spPr>
              <a:xfrm>
                <a:off x="5748338" y="1165384"/>
                <a:ext cx="924941" cy="133350"/>
              </a:xfrm>
              <a:prstGeom prst="rect">
                <a:avLst/>
              </a:prstGeom>
              <a:noFill/>
              <a:ln>
                <a:noFill/>
              </a:ln>
            </p:spPr>
            <p:txBody>
              <a:bodyPr wrap="none" lIns="0" tIns="0" rIns="0" bIns="0" anchor="t" anchorCtr="0">
                <a:spAutoFit/>
              </a:bodyPr>
              <a:lstStyle/>
              <a:p>
                <a:pPr algn="l"/>
                <a:r>
                  <a:rPr lang="zh-CN" sz="680" dirty="0">
                    <a:solidFill>
                      <a:srgbClr val="FFFFFF"/>
                    </a:solidFill>
                    <a:latin typeface="+mn-lt"/>
                    <a:ea typeface="+mn-ea"/>
                    <a:cs typeface="+mn-cs"/>
                  </a:rPr>
                  <a:t>了解客户已持有的产品</a:t>
                </a:r>
              </a:p>
            </p:txBody>
          </p:sp>
          <p:sp>
            <p:nvSpPr>
              <p:cNvPr id="87" name="Rectangle 87"/>
              <p:cNvSpPr/>
              <p:nvPr/>
            </p:nvSpPr>
            <p:spPr>
              <a:xfrm>
                <a:off x="5372100" y="1390650"/>
                <a:ext cx="1638300" cy="209550"/>
              </a:xfrm>
              <a:prstGeom prst="roundRect">
                <a:avLst>
                  <a:gd name="adj" fmla="val 13636"/>
                </a:avLst>
              </a:prstGeom>
              <a:solidFill>
                <a:srgbClr val="FDEFF1"/>
              </a:solidFill>
              <a:ln>
                <a:noFill/>
              </a:ln>
            </p:spPr>
          </p:sp>
          <p:sp>
            <p:nvSpPr>
              <p:cNvPr id="88" name="TextBox 88"/>
              <p:cNvSpPr txBox="1"/>
              <p:nvPr/>
            </p:nvSpPr>
            <p:spPr>
              <a:xfrm>
                <a:off x="5443538" y="1456611"/>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存款</a:t>
                </a:r>
              </a:p>
            </p:txBody>
          </p:sp>
          <p:sp>
            <p:nvSpPr>
              <p:cNvPr id="89" name="TextBox 89"/>
              <p:cNvSpPr txBox="1"/>
              <p:nvPr/>
            </p:nvSpPr>
            <p:spPr>
              <a:xfrm>
                <a:off x="5805488" y="1460659"/>
                <a:ext cx="1025637"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如：活期/定期/大额存单</a:t>
                </a:r>
              </a:p>
            </p:txBody>
          </p:sp>
          <p:sp>
            <p:nvSpPr>
              <p:cNvPr id="90" name="Rectangle 90"/>
              <p:cNvSpPr/>
              <p:nvPr/>
            </p:nvSpPr>
            <p:spPr>
              <a:xfrm>
                <a:off x="5372100" y="1619250"/>
                <a:ext cx="1638300" cy="209550"/>
              </a:xfrm>
              <a:prstGeom prst="roundRect">
                <a:avLst>
                  <a:gd name="adj" fmla="val 13636"/>
                </a:avLst>
              </a:prstGeom>
              <a:solidFill>
                <a:srgbClr val="FDEFF1"/>
              </a:solidFill>
              <a:ln>
                <a:noFill/>
              </a:ln>
            </p:spPr>
          </p:sp>
          <p:sp>
            <p:nvSpPr>
              <p:cNvPr id="91" name="TextBox 91"/>
              <p:cNvSpPr txBox="1"/>
              <p:nvPr/>
            </p:nvSpPr>
            <p:spPr>
              <a:xfrm>
                <a:off x="5443538" y="1685211"/>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理财</a:t>
                </a:r>
              </a:p>
            </p:txBody>
          </p:sp>
          <p:sp>
            <p:nvSpPr>
              <p:cNvPr id="92" name="TextBox 92"/>
              <p:cNvSpPr txBox="1"/>
              <p:nvPr/>
            </p:nvSpPr>
            <p:spPr>
              <a:xfrm>
                <a:off x="5805488" y="1689259"/>
                <a:ext cx="924941"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如：持有金额、到期日</a:t>
                </a:r>
              </a:p>
            </p:txBody>
          </p:sp>
          <p:sp>
            <p:nvSpPr>
              <p:cNvPr id="93" name="Rectangle 93"/>
              <p:cNvSpPr/>
              <p:nvPr/>
            </p:nvSpPr>
            <p:spPr>
              <a:xfrm>
                <a:off x="5372100" y="1847850"/>
                <a:ext cx="1638300" cy="209550"/>
              </a:xfrm>
              <a:prstGeom prst="roundRect">
                <a:avLst>
                  <a:gd name="adj" fmla="val 13636"/>
                </a:avLst>
              </a:prstGeom>
              <a:solidFill>
                <a:srgbClr val="FDEFF1"/>
              </a:solidFill>
              <a:ln>
                <a:noFill/>
              </a:ln>
            </p:spPr>
          </p:sp>
          <p:sp>
            <p:nvSpPr>
              <p:cNvPr id="94" name="TextBox 94"/>
              <p:cNvSpPr txBox="1"/>
              <p:nvPr/>
            </p:nvSpPr>
            <p:spPr>
              <a:xfrm>
                <a:off x="5443538" y="1913811"/>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基金</a:t>
                </a:r>
              </a:p>
            </p:txBody>
          </p:sp>
          <p:sp>
            <p:nvSpPr>
              <p:cNvPr id="95" name="TextBox 95"/>
              <p:cNvSpPr txBox="1"/>
              <p:nvPr/>
            </p:nvSpPr>
            <p:spPr>
              <a:xfrm>
                <a:off x="5805488" y="1917859"/>
                <a:ext cx="1016483"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如：持有品类、收益情况</a:t>
                </a:r>
              </a:p>
            </p:txBody>
          </p:sp>
          <p:sp>
            <p:nvSpPr>
              <p:cNvPr id="96" name="Rectangle 96"/>
              <p:cNvSpPr/>
              <p:nvPr/>
            </p:nvSpPr>
            <p:spPr>
              <a:xfrm>
                <a:off x="5372100" y="2076450"/>
                <a:ext cx="1638300" cy="209550"/>
              </a:xfrm>
              <a:prstGeom prst="roundRect">
                <a:avLst>
                  <a:gd name="adj" fmla="val 13636"/>
                </a:avLst>
              </a:prstGeom>
              <a:solidFill>
                <a:srgbClr val="FDEFF1"/>
              </a:solidFill>
              <a:ln>
                <a:noFill/>
              </a:ln>
            </p:spPr>
          </p:sp>
          <p:sp>
            <p:nvSpPr>
              <p:cNvPr id="97" name="TextBox 97"/>
              <p:cNvSpPr txBox="1"/>
              <p:nvPr/>
            </p:nvSpPr>
            <p:spPr>
              <a:xfrm>
                <a:off x="5443538" y="2142411"/>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保险</a:t>
                </a:r>
              </a:p>
            </p:txBody>
          </p:sp>
          <p:sp>
            <p:nvSpPr>
              <p:cNvPr id="98" name="TextBox 98"/>
              <p:cNvSpPr txBox="1"/>
              <p:nvPr/>
            </p:nvSpPr>
            <p:spPr>
              <a:xfrm>
                <a:off x="5805488" y="2146459"/>
                <a:ext cx="1025637"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如：寿险/健康险/年金险</a:t>
                </a:r>
              </a:p>
            </p:txBody>
          </p:sp>
          <p:sp>
            <p:nvSpPr>
              <p:cNvPr id="99" name="Rectangle 99"/>
              <p:cNvSpPr/>
              <p:nvPr/>
            </p:nvSpPr>
            <p:spPr>
              <a:xfrm>
                <a:off x="5372100" y="2305050"/>
                <a:ext cx="1638300" cy="209550"/>
              </a:xfrm>
              <a:prstGeom prst="roundRect">
                <a:avLst>
                  <a:gd name="adj" fmla="val 13636"/>
                </a:avLst>
              </a:prstGeom>
              <a:solidFill>
                <a:srgbClr val="FDEFF1"/>
              </a:solidFill>
              <a:ln>
                <a:noFill/>
              </a:ln>
            </p:spPr>
          </p:sp>
          <p:sp>
            <p:nvSpPr>
              <p:cNvPr id="100" name="TextBox 100"/>
              <p:cNvSpPr txBox="1"/>
              <p:nvPr/>
            </p:nvSpPr>
            <p:spPr>
              <a:xfrm>
                <a:off x="5443538" y="2371011"/>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贷款</a:t>
                </a:r>
              </a:p>
            </p:txBody>
          </p:sp>
          <p:sp>
            <p:nvSpPr>
              <p:cNvPr id="101" name="TextBox 101"/>
              <p:cNvSpPr txBox="1"/>
              <p:nvPr/>
            </p:nvSpPr>
            <p:spPr>
              <a:xfrm>
                <a:off x="5805488" y="2375059"/>
                <a:ext cx="1025637"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如：房贷/消费贷/经营贷</a:t>
                </a:r>
              </a:p>
            </p:txBody>
          </p:sp>
          <p:sp>
            <p:nvSpPr>
              <p:cNvPr id="102" name="Rectangle 102"/>
              <p:cNvSpPr/>
              <p:nvPr/>
            </p:nvSpPr>
            <p:spPr>
              <a:xfrm>
                <a:off x="5372100" y="2533650"/>
                <a:ext cx="1638300" cy="209550"/>
              </a:xfrm>
              <a:prstGeom prst="roundRect">
                <a:avLst>
                  <a:gd name="adj" fmla="val 13636"/>
                </a:avLst>
              </a:prstGeom>
              <a:solidFill>
                <a:srgbClr val="FDEFF1"/>
              </a:solidFill>
              <a:ln>
                <a:noFill/>
              </a:ln>
            </p:spPr>
          </p:sp>
          <p:sp>
            <p:nvSpPr>
              <p:cNvPr id="103" name="TextBox 103"/>
              <p:cNvSpPr txBox="1"/>
              <p:nvPr/>
            </p:nvSpPr>
            <p:spPr>
              <a:xfrm>
                <a:off x="5443538" y="2599611"/>
                <a:ext cx="29626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信用卡</a:t>
                </a:r>
              </a:p>
            </p:txBody>
          </p:sp>
          <p:sp>
            <p:nvSpPr>
              <p:cNvPr id="104" name="TextBox 104"/>
              <p:cNvSpPr txBox="1"/>
              <p:nvPr/>
            </p:nvSpPr>
            <p:spPr>
              <a:xfrm>
                <a:off x="5805488" y="2603659"/>
                <a:ext cx="1108024"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如：持有卡种、消费活跃度</a:t>
                </a:r>
              </a:p>
            </p:txBody>
          </p:sp>
        </p:grpSp>
        <p:grpSp>
          <p:nvGrpSpPr>
            <p:cNvPr id="131" name="tag-level-5"/>
            <p:cNvGrpSpPr/>
            <p:nvPr/>
          </p:nvGrpSpPr>
          <p:grpSpPr>
            <a:xfrm>
              <a:off x="7086600" y="933450"/>
              <a:ext cx="1638300" cy="1809750"/>
              <a:chOff x="7086600" y="933450"/>
              <a:chExt cx="1638300" cy="1809750"/>
            </a:xfrm>
          </p:grpSpPr>
          <p:sp>
            <p:nvSpPr>
              <p:cNvPr id="106" name="Rectangle 106"/>
              <p:cNvSpPr/>
              <p:nvPr/>
            </p:nvSpPr>
            <p:spPr>
              <a:xfrm>
                <a:off x="7086600" y="933450"/>
                <a:ext cx="1638300" cy="381000"/>
              </a:xfrm>
              <a:prstGeom prst="roundRect">
                <a:avLst>
                  <a:gd name="adj" fmla="val 15000"/>
                </a:avLst>
              </a:prstGeom>
              <a:solidFill>
                <a:srgbClr val="C83210"/>
              </a:solidFill>
              <a:ln>
                <a:noFill/>
              </a:ln>
            </p:spPr>
          </p:sp>
          <p:grpSp>
            <p:nvGrpSpPr>
              <p:cNvPr id="110" name="Group 110"/>
              <p:cNvGrpSpPr/>
              <p:nvPr/>
            </p:nvGrpSpPr>
            <p:grpSpPr>
              <a:xfrm>
                <a:off x="7208044" y="1045369"/>
                <a:ext cx="157163" cy="157163"/>
                <a:chOff x="7208044" y="1045369"/>
                <a:chExt cx="157163" cy="157163"/>
              </a:xfrm>
            </p:grpSpPr>
            <p:sp>
              <p:nvSpPr>
                <p:cNvPr id="107" name="Freeform 107"/>
                <p:cNvSpPr/>
                <p:nvPr/>
              </p:nvSpPr>
              <p:spPr>
                <a:xfrm>
                  <a:off x="7277894" y="111521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108" name="Freeform 108"/>
                <p:cNvSpPr/>
                <p:nvPr/>
              </p:nvSpPr>
              <p:spPr>
                <a:xfrm>
                  <a:off x="7242969" y="108029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109" name="Freeform 109"/>
                <p:cNvSpPr/>
                <p:nvPr/>
              </p:nvSpPr>
              <p:spPr>
                <a:xfrm>
                  <a:off x="7208044" y="10453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111" name="TextBox 111"/>
              <p:cNvSpPr txBox="1"/>
              <p:nvPr/>
            </p:nvSpPr>
            <p:spPr>
              <a:xfrm>
                <a:off x="7462838" y="998220"/>
                <a:ext cx="628860"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5. 行为意图</a:t>
                </a:r>
              </a:p>
            </p:txBody>
          </p:sp>
          <p:sp>
            <p:nvSpPr>
              <p:cNvPr id="112" name="TextBox 112"/>
              <p:cNvSpPr txBox="1"/>
              <p:nvPr/>
            </p:nvSpPr>
            <p:spPr>
              <a:xfrm>
                <a:off x="7462838" y="1165384"/>
                <a:ext cx="833399" cy="133350"/>
              </a:xfrm>
              <a:prstGeom prst="rect">
                <a:avLst/>
              </a:prstGeom>
              <a:noFill/>
              <a:ln>
                <a:noFill/>
              </a:ln>
            </p:spPr>
            <p:txBody>
              <a:bodyPr wrap="none" lIns="0" tIns="0" rIns="0" bIns="0" anchor="t" anchorCtr="0">
                <a:spAutoFit/>
              </a:bodyPr>
              <a:lstStyle/>
              <a:p>
                <a:pPr algn="l"/>
                <a:r>
                  <a:rPr lang="zh-CN" sz="680" dirty="0">
                    <a:solidFill>
                      <a:srgbClr val="FFFFFF"/>
                    </a:solidFill>
                    <a:latin typeface="+mn-lt"/>
                    <a:ea typeface="+mn-ea"/>
                    <a:cs typeface="+mn-cs"/>
                  </a:rPr>
                  <a:t>捕捉客户的实时需求</a:t>
                </a:r>
              </a:p>
            </p:txBody>
          </p:sp>
          <p:sp>
            <p:nvSpPr>
              <p:cNvPr id="113" name="Rectangle 113"/>
              <p:cNvSpPr/>
              <p:nvPr/>
            </p:nvSpPr>
            <p:spPr>
              <a:xfrm>
                <a:off x="7086600" y="1390650"/>
                <a:ext cx="1638300" cy="209550"/>
              </a:xfrm>
              <a:prstGeom prst="roundRect">
                <a:avLst>
                  <a:gd name="adj" fmla="val 13636"/>
                </a:avLst>
              </a:prstGeom>
              <a:solidFill>
                <a:srgbClr val="FDEFF1"/>
              </a:solidFill>
              <a:ln>
                <a:noFill/>
              </a:ln>
            </p:spPr>
          </p:sp>
          <p:sp>
            <p:nvSpPr>
              <p:cNvPr id="114" name="TextBox 114"/>
              <p:cNvSpPr txBox="1"/>
              <p:nvPr/>
            </p:nvSpPr>
            <p:spPr>
              <a:xfrm>
                <a:off x="7158038" y="14566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内容浏览</a:t>
                </a:r>
              </a:p>
            </p:txBody>
          </p:sp>
          <p:sp>
            <p:nvSpPr>
              <p:cNvPr id="115" name="TextBox 115"/>
              <p:cNvSpPr txBox="1"/>
              <p:nvPr/>
            </p:nvSpPr>
            <p:spPr>
              <a:xfrm>
                <a:off x="7672388" y="1460659"/>
                <a:ext cx="833399"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如：浏览理财产品页</a:t>
                </a:r>
              </a:p>
            </p:txBody>
          </p:sp>
          <p:sp>
            <p:nvSpPr>
              <p:cNvPr id="116" name="Rectangle 116"/>
              <p:cNvSpPr/>
              <p:nvPr/>
            </p:nvSpPr>
            <p:spPr>
              <a:xfrm>
                <a:off x="7086600" y="1619250"/>
                <a:ext cx="1638300" cy="209550"/>
              </a:xfrm>
              <a:prstGeom prst="roundRect">
                <a:avLst>
                  <a:gd name="adj" fmla="val 13636"/>
                </a:avLst>
              </a:prstGeom>
              <a:solidFill>
                <a:srgbClr val="FDEFF1"/>
              </a:solidFill>
              <a:ln>
                <a:noFill/>
              </a:ln>
            </p:spPr>
          </p:sp>
          <p:sp>
            <p:nvSpPr>
              <p:cNvPr id="117" name="TextBox 117"/>
              <p:cNvSpPr txBox="1"/>
              <p:nvPr/>
            </p:nvSpPr>
            <p:spPr>
              <a:xfrm>
                <a:off x="7158038" y="16852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产品咨询</a:t>
                </a:r>
              </a:p>
            </p:txBody>
          </p:sp>
          <p:sp>
            <p:nvSpPr>
              <p:cNvPr id="118" name="TextBox 118"/>
              <p:cNvSpPr txBox="1"/>
              <p:nvPr/>
            </p:nvSpPr>
            <p:spPr>
              <a:xfrm>
                <a:off x="7672388" y="1689259"/>
                <a:ext cx="79220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如：咨询基金/贷款</a:t>
                </a:r>
              </a:p>
            </p:txBody>
          </p:sp>
          <p:sp>
            <p:nvSpPr>
              <p:cNvPr id="119" name="Rectangle 119"/>
              <p:cNvSpPr/>
              <p:nvPr/>
            </p:nvSpPr>
            <p:spPr>
              <a:xfrm>
                <a:off x="7086600" y="1847850"/>
                <a:ext cx="1638300" cy="209550"/>
              </a:xfrm>
              <a:prstGeom prst="roundRect">
                <a:avLst>
                  <a:gd name="adj" fmla="val 13636"/>
                </a:avLst>
              </a:prstGeom>
              <a:solidFill>
                <a:srgbClr val="FDEFF1"/>
              </a:solidFill>
              <a:ln>
                <a:noFill/>
              </a:ln>
            </p:spPr>
          </p:sp>
          <p:sp>
            <p:nvSpPr>
              <p:cNvPr id="120" name="TextBox 120"/>
              <p:cNvSpPr txBox="1"/>
              <p:nvPr/>
            </p:nvSpPr>
            <p:spPr>
              <a:xfrm>
                <a:off x="7158038" y="19138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产品到期</a:t>
                </a:r>
              </a:p>
            </p:txBody>
          </p:sp>
          <p:sp>
            <p:nvSpPr>
              <p:cNvPr id="121" name="TextBox 121"/>
              <p:cNvSpPr txBox="1"/>
              <p:nvPr/>
            </p:nvSpPr>
            <p:spPr>
              <a:xfrm>
                <a:off x="7672388" y="1917859"/>
                <a:ext cx="74185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如：理财即将到期</a:t>
                </a:r>
              </a:p>
            </p:txBody>
          </p:sp>
          <p:sp>
            <p:nvSpPr>
              <p:cNvPr id="122" name="Rectangle 122"/>
              <p:cNvSpPr/>
              <p:nvPr/>
            </p:nvSpPr>
            <p:spPr>
              <a:xfrm>
                <a:off x="7086600" y="2076450"/>
                <a:ext cx="1638300" cy="209550"/>
              </a:xfrm>
              <a:prstGeom prst="roundRect">
                <a:avLst>
                  <a:gd name="adj" fmla="val 13636"/>
                </a:avLst>
              </a:prstGeom>
              <a:solidFill>
                <a:srgbClr val="FDEFF1"/>
              </a:solidFill>
              <a:ln>
                <a:noFill/>
              </a:ln>
            </p:spPr>
          </p:sp>
          <p:sp>
            <p:nvSpPr>
              <p:cNvPr id="123" name="TextBox 123"/>
              <p:cNvSpPr txBox="1"/>
              <p:nvPr/>
            </p:nvSpPr>
            <p:spPr>
              <a:xfrm>
                <a:off x="7158038" y="21424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余额变化</a:t>
                </a:r>
              </a:p>
            </p:txBody>
          </p:sp>
          <p:sp>
            <p:nvSpPr>
              <p:cNvPr id="124" name="TextBox 124"/>
              <p:cNvSpPr txBox="1"/>
              <p:nvPr/>
            </p:nvSpPr>
            <p:spPr>
              <a:xfrm>
                <a:off x="7672388" y="2146459"/>
                <a:ext cx="924941"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如：月末资金大幅增加</a:t>
                </a:r>
              </a:p>
            </p:txBody>
          </p:sp>
          <p:sp>
            <p:nvSpPr>
              <p:cNvPr id="125" name="Rectangle 125"/>
              <p:cNvSpPr/>
              <p:nvPr/>
            </p:nvSpPr>
            <p:spPr>
              <a:xfrm>
                <a:off x="7086600" y="2305050"/>
                <a:ext cx="1638300" cy="209550"/>
              </a:xfrm>
              <a:prstGeom prst="roundRect">
                <a:avLst>
                  <a:gd name="adj" fmla="val 13636"/>
                </a:avLst>
              </a:prstGeom>
              <a:solidFill>
                <a:srgbClr val="FDEFF1"/>
              </a:solidFill>
              <a:ln>
                <a:noFill/>
              </a:ln>
            </p:spPr>
          </p:sp>
          <p:sp>
            <p:nvSpPr>
              <p:cNvPr id="126" name="TextBox 126"/>
              <p:cNvSpPr txBox="1"/>
              <p:nvPr/>
            </p:nvSpPr>
            <p:spPr>
              <a:xfrm>
                <a:off x="7158038" y="23710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活动参与</a:t>
                </a:r>
              </a:p>
            </p:txBody>
          </p:sp>
          <p:sp>
            <p:nvSpPr>
              <p:cNvPr id="127" name="TextBox 127"/>
              <p:cNvSpPr txBox="1"/>
              <p:nvPr/>
            </p:nvSpPr>
            <p:spPr>
              <a:xfrm>
                <a:off x="7672388" y="2375059"/>
                <a:ext cx="975289"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如：参与直播/领取权益</a:t>
                </a:r>
              </a:p>
            </p:txBody>
          </p:sp>
          <p:sp>
            <p:nvSpPr>
              <p:cNvPr id="128" name="Rectangle 128"/>
              <p:cNvSpPr/>
              <p:nvPr/>
            </p:nvSpPr>
            <p:spPr>
              <a:xfrm>
                <a:off x="7086600" y="2533650"/>
                <a:ext cx="1638300" cy="209550"/>
              </a:xfrm>
              <a:prstGeom prst="roundRect">
                <a:avLst>
                  <a:gd name="adj" fmla="val 13636"/>
                </a:avLst>
              </a:prstGeom>
              <a:solidFill>
                <a:srgbClr val="FDEFF1"/>
              </a:solidFill>
              <a:ln>
                <a:noFill/>
              </a:ln>
            </p:spPr>
          </p:sp>
          <p:sp>
            <p:nvSpPr>
              <p:cNvPr id="129" name="TextBox 129"/>
              <p:cNvSpPr txBox="1"/>
              <p:nvPr/>
            </p:nvSpPr>
            <p:spPr>
              <a:xfrm>
                <a:off x="7158038" y="2599611"/>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意向评分</a:t>
                </a:r>
              </a:p>
            </p:txBody>
          </p:sp>
          <p:sp>
            <p:nvSpPr>
              <p:cNvPr id="130" name="TextBox 130"/>
              <p:cNvSpPr txBox="1"/>
              <p:nvPr/>
            </p:nvSpPr>
            <p:spPr>
              <a:xfrm>
                <a:off x="7672388" y="2603659"/>
                <a:ext cx="567929"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如：高/中/低</a:t>
                </a:r>
              </a:p>
            </p:txBody>
          </p:sp>
        </p:grpSp>
      </p:grpSp>
      <p:grpSp>
        <p:nvGrpSpPr>
          <p:cNvPr id="179" name="tag-loop"/>
          <p:cNvGrpSpPr/>
          <p:nvPr/>
        </p:nvGrpSpPr>
        <p:grpSpPr>
          <a:xfrm>
            <a:off x="8972550" y="647700"/>
            <a:ext cx="3048000" cy="2457450"/>
            <a:chOff x="8972550" y="647700"/>
            <a:chExt cx="3048000" cy="2457450"/>
          </a:xfrm>
        </p:grpSpPr>
        <p:sp>
          <p:nvSpPr>
            <p:cNvPr id="133" name="Rectangle 133"/>
            <p:cNvSpPr/>
            <p:nvPr/>
          </p:nvSpPr>
          <p:spPr>
            <a:xfrm>
              <a:off x="8972550" y="647700"/>
              <a:ext cx="3048000" cy="2457450"/>
            </a:xfrm>
            <a:prstGeom prst="roundRect">
              <a:avLst>
                <a:gd name="adj" fmla="val 2326"/>
              </a:avLst>
            </a:prstGeom>
            <a:solidFill>
              <a:srgbClr val="FFFFFF"/>
            </a:solidFill>
            <a:ln w="9525">
              <a:solidFill>
                <a:srgbClr val="F1C7CC"/>
              </a:solidFill>
            </a:ln>
          </p:spPr>
        </p:sp>
        <p:sp>
          <p:nvSpPr>
            <p:cNvPr id="134" name="Rectangle 134"/>
            <p:cNvSpPr/>
            <p:nvPr/>
          </p:nvSpPr>
          <p:spPr>
            <a:xfrm>
              <a:off x="9029700" y="704850"/>
              <a:ext cx="38100" cy="152400"/>
            </a:xfrm>
            <a:prstGeom prst="rect">
              <a:avLst/>
            </a:prstGeom>
            <a:solidFill>
              <a:srgbClr val="C83210"/>
            </a:solidFill>
            <a:ln>
              <a:noFill/>
            </a:ln>
          </p:spPr>
        </p:sp>
        <p:sp>
          <p:nvSpPr>
            <p:cNvPr id="135" name="TextBox 135"/>
            <p:cNvSpPr txBox="1"/>
            <p:nvPr/>
          </p:nvSpPr>
          <p:spPr>
            <a:xfrm>
              <a:off x="9119997" y="723424"/>
              <a:ext cx="1065327"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动态标签更新闭环</a:t>
              </a:r>
            </a:p>
          </p:txBody>
        </p:sp>
        <p:sp>
          <p:nvSpPr>
            <p:cNvPr id="136" name="Freeform 136"/>
            <p:cNvSpPr/>
            <p:nvPr/>
          </p:nvSpPr>
          <p:spPr>
            <a:xfrm>
              <a:off x="10141268" y="1423863"/>
              <a:ext cx="710565" cy="172527"/>
            </a:xfrm>
            <a:custGeom>
              <a:avLst/>
              <a:gdLst/>
              <a:ahLst/>
              <a:cxnLst/>
              <a:rect l="l" t="t" r="r" b="b"/>
              <a:pathLst>
                <a:path w="710565" h="172527">
                  <a:moveTo>
                    <a:pt x="0" y="172527"/>
                  </a:moveTo>
                  <a:cubicBezTo>
                    <a:pt x="205438" y="0"/>
                    <a:pt x="505127" y="0"/>
                    <a:pt x="710565" y="172527"/>
                  </a:cubicBezTo>
                </a:path>
              </a:pathLst>
            </a:custGeom>
            <a:noFill/>
            <a:ln w="23812">
              <a:solidFill>
                <a:srgbClr val="E9826B"/>
              </a:solidFill>
            </a:ln>
          </p:spPr>
        </p:sp>
        <p:sp>
          <p:nvSpPr>
            <p:cNvPr id="137" name="Polygon 137"/>
            <p:cNvSpPr/>
            <p:nvPr/>
          </p:nvSpPr>
          <p:spPr>
            <a:xfrm>
              <a:off x="10827068" y="1566862"/>
              <a:ext cx="82868" cy="78105"/>
            </a:xfrm>
            <a:custGeom>
              <a:avLst/>
              <a:gdLst/>
              <a:ahLst/>
              <a:cxnLst/>
              <a:rect l="l" t="t" r="r" b="b"/>
              <a:pathLst>
                <a:path w="82868" h="78105">
                  <a:moveTo>
                    <a:pt x="82868" y="78105"/>
                  </a:moveTo>
                  <a:lnTo>
                    <a:pt x="0" y="59055"/>
                  </a:lnTo>
                  <a:lnTo>
                    <a:pt x="49530" y="0"/>
                  </a:lnTo>
                  <a:close/>
                </a:path>
              </a:pathLst>
            </a:custGeom>
            <a:solidFill>
              <a:srgbClr val="E9826B"/>
            </a:solidFill>
            <a:ln>
              <a:noFill/>
            </a:ln>
          </p:spPr>
        </p:sp>
        <p:sp>
          <p:nvSpPr>
            <p:cNvPr id="138" name="Freeform 138"/>
            <p:cNvSpPr/>
            <p:nvPr/>
          </p:nvSpPr>
          <p:spPr>
            <a:xfrm>
              <a:off x="10919460" y="1664018"/>
              <a:ext cx="172527" cy="710565"/>
            </a:xfrm>
            <a:custGeom>
              <a:avLst/>
              <a:gdLst/>
              <a:ahLst/>
              <a:cxnLst/>
              <a:rect l="l" t="t" r="r" b="b"/>
              <a:pathLst>
                <a:path w="172527" h="710565">
                  <a:moveTo>
                    <a:pt x="0" y="0"/>
                  </a:moveTo>
                  <a:cubicBezTo>
                    <a:pt x="172527" y="205438"/>
                    <a:pt x="172527" y="505127"/>
                    <a:pt x="0" y="710565"/>
                  </a:cubicBezTo>
                </a:path>
              </a:pathLst>
            </a:custGeom>
            <a:noFill/>
            <a:ln w="23812">
              <a:solidFill>
                <a:srgbClr val="E9826B"/>
              </a:solidFill>
            </a:ln>
          </p:spPr>
        </p:sp>
        <p:sp>
          <p:nvSpPr>
            <p:cNvPr id="139" name="Polygon 139"/>
            <p:cNvSpPr/>
            <p:nvPr/>
          </p:nvSpPr>
          <p:spPr>
            <a:xfrm>
              <a:off x="10870882" y="2349818"/>
              <a:ext cx="78105" cy="82868"/>
            </a:xfrm>
            <a:custGeom>
              <a:avLst/>
              <a:gdLst/>
              <a:ahLst/>
              <a:cxnLst/>
              <a:rect l="l" t="t" r="r" b="b"/>
              <a:pathLst>
                <a:path w="78105" h="82868">
                  <a:moveTo>
                    <a:pt x="0" y="82868"/>
                  </a:moveTo>
                  <a:lnTo>
                    <a:pt x="19050" y="0"/>
                  </a:lnTo>
                  <a:lnTo>
                    <a:pt x="78105" y="49530"/>
                  </a:lnTo>
                  <a:close/>
                </a:path>
              </a:pathLst>
            </a:custGeom>
            <a:solidFill>
              <a:srgbClr val="E9826B"/>
            </a:solidFill>
            <a:ln>
              <a:noFill/>
            </a:ln>
          </p:spPr>
        </p:sp>
        <p:sp>
          <p:nvSpPr>
            <p:cNvPr id="140" name="Freeform 140"/>
            <p:cNvSpPr/>
            <p:nvPr/>
          </p:nvSpPr>
          <p:spPr>
            <a:xfrm>
              <a:off x="10141268" y="2442210"/>
              <a:ext cx="710565" cy="172527"/>
            </a:xfrm>
            <a:custGeom>
              <a:avLst/>
              <a:gdLst/>
              <a:ahLst/>
              <a:cxnLst/>
              <a:rect l="l" t="t" r="r" b="b"/>
              <a:pathLst>
                <a:path w="710565" h="172527">
                  <a:moveTo>
                    <a:pt x="710565" y="0"/>
                  </a:moveTo>
                  <a:cubicBezTo>
                    <a:pt x="505127" y="172527"/>
                    <a:pt x="205438" y="172527"/>
                    <a:pt x="0" y="0"/>
                  </a:cubicBezTo>
                </a:path>
              </a:pathLst>
            </a:custGeom>
            <a:noFill/>
            <a:ln w="23812">
              <a:solidFill>
                <a:srgbClr val="E9826B"/>
              </a:solidFill>
            </a:ln>
          </p:spPr>
        </p:sp>
        <p:sp>
          <p:nvSpPr>
            <p:cNvPr id="141" name="Polygon 141"/>
            <p:cNvSpPr/>
            <p:nvPr/>
          </p:nvSpPr>
          <p:spPr>
            <a:xfrm>
              <a:off x="10083165" y="2393632"/>
              <a:ext cx="82868" cy="78105"/>
            </a:xfrm>
            <a:custGeom>
              <a:avLst/>
              <a:gdLst/>
              <a:ahLst/>
              <a:cxnLst/>
              <a:rect l="l" t="t" r="r" b="b"/>
              <a:pathLst>
                <a:path w="82868" h="78105">
                  <a:moveTo>
                    <a:pt x="0" y="0"/>
                  </a:moveTo>
                  <a:lnTo>
                    <a:pt x="82868" y="19050"/>
                  </a:lnTo>
                  <a:lnTo>
                    <a:pt x="33338" y="78105"/>
                  </a:lnTo>
                  <a:close/>
                </a:path>
              </a:pathLst>
            </a:custGeom>
            <a:solidFill>
              <a:srgbClr val="E9826B"/>
            </a:solidFill>
            <a:ln>
              <a:noFill/>
            </a:ln>
          </p:spPr>
        </p:sp>
        <p:sp>
          <p:nvSpPr>
            <p:cNvPr id="142" name="Freeform 142"/>
            <p:cNvSpPr/>
            <p:nvPr/>
          </p:nvSpPr>
          <p:spPr>
            <a:xfrm>
              <a:off x="9901113" y="1664018"/>
              <a:ext cx="172527" cy="710565"/>
            </a:xfrm>
            <a:custGeom>
              <a:avLst/>
              <a:gdLst/>
              <a:ahLst/>
              <a:cxnLst/>
              <a:rect l="l" t="t" r="r" b="b"/>
              <a:pathLst>
                <a:path w="172527" h="710565">
                  <a:moveTo>
                    <a:pt x="172527" y="710565"/>
                  </a:moveTo>
                  <a:cubicBezTo>
                    <a:pt x="0" y="505127"/>
                    <a:pt x="0" y="205438"/>
                    <a:pt x="172527" y="0"/>
                  </a:cubicBezTo>
                </a:path>
              </a:pathLst>
            </a:custGeom>
            <a:noFill/>
            <a:ln w="23812">
              <a:solidFill>
                <a:srgbClr val="E9826B"/>
              </a:solidFill>
            </a:ln>
          </p:spPr>
        </p:sp>
        <p:sp>
          <p:nvSpPr>
            <p:cNvPr id="143" name="Polygon 143"/>
            <p:cNvSpPr/>
            <p:nvPr/>
          </p:nvSpPr>
          <p:spPr>
            <a:xfrm>
              <a:off x="10044112" y="1605915"/>
              <a:ext cx="78105" cy="82868"/>
            </a:xfrm>
            <a:custGeom>
              <a:avLst/>
              <a:gdLst/>
              <a:ahLst/>
              <a:cxnLst/>
              <a:rect l="l" t="t" r="r" b="b"/>
              <a:pathLst>
                <a:path w="78105" h="82868">
                  <a:moveTo>
                    <a:pt x="78105" y="0"/>
                  </a:moveTo>
                  <a:lnTo>
                    <a:pt x="59055" y="82868"/>
                  </a:lnTo>
                  <a:lnTo>
                    <a:pt x="0" y="33338"/>
                  </a:lnTo>
                  <a:close/>
                </a:path>
              </a:pathLst>
            </a:custGeom>
            <a:solidFill>
              <a:srgbClr val="E9826B"/>
            </a:solidFill>
            <a:ln>
              <a:noFill/>
            </a:ln>
          </p:spPr>
        </p:sp>
        <p:sp>
          <p:nvSpPr>
            <p:cNvPr id="144" name="Ellipse 144"/>
            <p:cNvSpPr/>
            <p:nvPr/>
          </p:nvSpPr>
          <p:spPr>
            <a:xfrm>
              <a:off x="10134600" y="1657350"/>
              <a:ext cx="723900" cy="723900"/>
            </a:xfrm>
            <a:prstGeom prst="ellipse">
              <a:avLst/>
            </a:prstGeom>
            <a:solidFill>
              <a:srgbClr val="C83210"/>
            </a:solidFill>
            <a:ln>
              <a:noFill/>
            </a:ln>
          </p:spPr>
        </p:sp>
        <p:grpSp>
          <p:nvGrpSpPr>
            <p:cNvPr id="147" name="Group 147"/>
            <p:cNvGrpSpPr/>
            <p:nvPr/>
          </p:nvGrpSpPr>
          <p:grpSpPr>
            <a:xfrm>
              <a:off x="10453688" y="1774031"/>
              <a:ext cx="85725" cy="128587"/>
              <a:chOff x="10453688" y="1774031"/>
              <a:chExt cx="85725" cy="128587"/>
            </a:xfrm>
          </p:grpSpPr>
          <p:sp>
            <p:nvSpPr>
              <p:cNvPr id="145" name="Freeform 145"/>
              <p:cNvSpPr/>
              <p:nvPr/>
            </p:nvSpPr>
            <p:spPr>
              <a:xfrm>
                <a:off x="10467975" y="17740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46" name="Freeform 146"/>
              <p:cNvSpPr/>
              <p:nvPr/>
            </p:nvSpPr>
            <p:spPr>
              <a:xfrm>
                <a:off x="10453688" y="18597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grpSp>
        <p:sp>
          <p:nvSpPr>
            <p:cNvPr id="148" name="TextBox 148"/>
            <p:cNvSpPr txBox="1"/>
            <p:nvPr/>
          </p:nvSpPr>
          <p:spPr>
            <a:xfrm>
              <a:off x="10271011" y="196834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客户标签</a:t>
              </a:r>
            </a:p>
          </p:txBody>
        </p:sp>
        <p:sp>
          <p:nvSpPr>
            <p:cNvPr id="149" name="TextBox 149"/>
            <p:cNvSpPr txBox="1"/>
            <p:nvPr/>
          </p:nvSpPr>
          <p:spPr>
            <a:xfrm>
              <a:off x="10271011" y="211121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动态更新</a:t>
              </a:r>
            </a:p>
          </p:txBody>
        </p:sp>
        <p:sp>
          <p:nvSpPr>
            <p:cNvPr id="150" name="Ellipse 150"/>
            <p:cNvSpPr/>
            <p:nvPr/>
          </p:nvSpPr>
          <p:spPr>
            <a:xfrm>
              <a:off x="9067800" y="1219200"/>
              <a:ext cx="266700" cy="266700"/>
            </a:xfrm>
            <a:prstGeom prst="ellipse">
              <a:avLst/>
            </a:prstGeom>
            <a:solidFill>
              <a:srgbClr val="FDEFF1"/>
            </a:solidFill>
            <a:ln>
              <a:noFill/>
            </a:ln>
          </p:spPr>
        </p:sp>
        <p:grpSp>
          <p:nvGrpSpPr>
            <p:cNvPr id="154" name="Group 154"/>
            <p:cNvGrpSpPr/>
            <p:nvPr/>
          </p:nvGrpSpPr>
          <p:grpSpPr>
            <a:xfrm>
              <a:off x="9150350" y="1295400"/>
              <a:ext cx="101600" cy="114300"/>
              <a:chOff x="9150350" y="1295400"/>
              <a:chExt cx="101600" cy="114300"/>
            </a:xfrm>
          </p:grpSpPr>
          <p:sp>
            <p:nvSpPr>
              <p:cNvPr id="151" name="Freeform 151"/>
              <p:cNvSpPr/>
              <p:nvPr/>
            </p:nvSpPr>
            <p:spPr>
              <a:xfrm>
                <a:off x="9150350" y="129540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C83210"/>
                </a:solidFill>
              </a:ln>
            </p:spPr>
          </p:sp>
          <p:sp>
            <p:nvSpPr>
              <p:cNvPr id="152" name="Freeform 152"/>
              <p:cNvSpPr/>
              <p:nvPr/>
            </p:nvSpPr>
            <p:spPr>
              <a:xfrm>
                <a:off x="9150350" y="13144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83210"/>
                </a:solidFill>
              </a:ln>
            </p:spPr>
          </p:sp>
          <p:sp>
            <p:nvSpPr>
              <p:cNvPr id="153" name="Freeform 153"/>
              <p:cNvSpPr/>
              <p:nvPr/>
            </p:nvSpPr>
            <p:spPr>
              <a:xfrm>
                <a:off x="9150350" y="13525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83210"/>
                </a:solidFill>
              </a:ln>
            </p:spPr>
          </p:sp>
        </p:grpSp>
        <p:sp>
          <p:nvSpPr>
            <p:cNvPr id="155" name="TextBox 155"/>
            <p:cNvSpPr txBox="1"/>
            <p:nvPr/>
          </p:nvSpPr>
          <p:spPr>
            <a:xfrm>
              <a:off x="9386888" y="1229439"/>
              <a:ext cx="553164"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Arial"/>
                  <a:ea typeface="Microsoft YaHei"/>
                  <a:cs typeface="Arial"/>
                </a:rPr>
                <a:t>1. 数据采集</a:t>
              </a:r>
            </a:p>
          </p:txBody>
        </p:sp>
        <p:sp>
          <p:nvSpPr>
            <p:cNvPr id="156" name="TextBox 156"/>
            <p:cNvSpPr txBox="1"/>
            <p:nvPr/>
          </p:nvSpPr>
          <p:spPr>
            <a:xfrm>
              <a:off x="9386888" y="1378982"/>
              <a:ext cx="612623"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多渠道进行数据</a:t>
              </a:r>
            </a:p>
          </p:txBody>
        </p:sp>
        <p:sp>
          <p:nvSpPr>
            <p:cNvPr id="157" name="TextBox 157"/>
            <p:cNvSpPr txBox="1"/>
            <p:nvPr/>
          </p:nvSpPr>
          <p:spPr>
            <a:xfrm>
              <a:off x="9386888" y="1493282"/>
              <a:ext cx="35415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实时汇集</a:t>
              </a:r>
            </a:p>
          </p:txBody>
        </p:sp>
        <p:sp>
          <p:nvSpPr>
            <p:cNvPr id="158" name="Ellipse 158"/>
            <p:cNvSpPr/>
            <p:nvPr/>
          </p:nvSpPr>
          <p:spPr>
            <a:xfrm>
              <a:off x="11677650" y="1219200"/>
              <a:ext cx="266700" cy="266700"/>
            </a:xfrm>
            <a:prstGeom prst="ellipse">
              <a:avLst/>
            </a:prstGeom>
            <a:solidFill>
              <a:srgbClr val="FDEFF1"/>
            </a:solidFill>
            <a:ln>
              <a:noFill/>
            </a:ln>
          </p:spPr>
        </p:sp>
        <p:grpSp>
          <p:nvGrpSpPr>
            <p:cNvPr id="161" name="Group 161"/>
            <p:cNvGrpSpPr/>
            <p:nvPr/>
          </p:nvGrpSpPr>
          <p:grpSpPr>
            <a:xfrm>
              <a:off x="11751062" y="1292612"/>
              <a:ext cx="119875" cy="119875"/>
              <a:chOff x="11751062" y="1292612"/>
              <a:chExt cx="119875" cy="119875"/>
            </a:xfrm>
          </p:grpSpPr>
          <p:sp>
            <p:nvSpPr>
              <p:cNvPr id="159" name="Freeform 159"/>
              <p:cNvSpPr/>
              <p:nvPr/>
            </p:nvSpPr>
            <p:spPr>
              <a:xfrm>
                <a:off x="11751062" y="129261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C83210"/>
                </a:solidFill>
              </a:ln>
            </p:spPr>
          </p:sp>
          <p:sp>
            <p:nvSpPr>
              <p:cNvPr id="160" name="Freeform 160"/>
              <p:cNvSpPr/>
              <p:nvPr/>
            </p:nvSpPr>
            <p:spPr>
              <a:xfrm>
                <a:off x="11791950" y="13335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C83210"/>
                </a:solidFill>
              </a:ln>
            </p:spPr>
          </p:sp>
        </p:grpSp>
        <p:sp>
          <p:nvSpPr>
            <p:cNvPr id="162" name="TextBox 162"/>
            <p:cNvSpPr txBox="1"/>
            <p:nvPr/>
          </p:nvSpPr>
          <p:spPr>
            <a:xfrm>
              <a:off x="11072099" y="1229439"/>
              <a:ext cx="553164" cy="154781"/>
            </a:xfrm>
            <a:prstGeom prst="rect">
              <a:avLst/>
            </a:prstGeom>
            <a:noFill/>
            <a:ln>
              <a:noFill/>
            </a:ln>
          </p:spPr>
          <p:txBody>
            <a:bodyPr wrap="none" lIns="0" tIns="0" rIns="0" bIns="0" anchor="t" anchorCtr="0">
              <a:spAutoFit/>
            </a:bodyPr>
            <a:lstStyle/>
            <a:p>
              <a:pPr algn="r"/>
              <a:r>
                <a:rPr lang="zh-CN" sz="790" b="1" dirty="0">
                  <a:solidFill>
                    <a:srgbClr val="222222"/>
                  </a:solidFill>
                  <a:latin typeface="Arial"/>
                  <a:ea typeface="Microsoft YaHei"/>
                  <a:cs typeface="Arial"/>
                </a:rPr>
                <a:t>2. 标签计算</a:t>
              </a:r>
            </a:p>
          </p:txBody>
        </p:sp>
        <p:sp>
          <p:nvSpPr>
            <p:cNvPr id="163" name="TextBox 163"/>
            <p:cNvSpPr txBox="1"/>
            <p:nvPr/>
          </p:nvSpPr>
          <p:spPr>
            <a:xfrm>
              <a:off x="10926483" y="1378982"/>
              <a:ext cx="698779"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规则引擎自动打标</a:t>
              </a:r>
            </a:p>
          </p:txBody>
        </p:sp>
        <p:sp>
          <p:nvSpPr>
            <p:cNvPr id="164" name="TextBox 164"/>
            <p:cNvSpPr txBox="1"/>
            <p:nvPr/>
          </p:nvSpPr>
          <p:spPr>
            <a:xfrm>
              <a:off x="11357267" y="1493282"/>
              <a:ext cx="267995"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与更新</a:t>
              </a:r>
            </a:p>
          </p:txBody>
        </p:sp>
        <p:sp>
          <p:nvSpPr>
            <p:cNvPr id="165" name="Ellipse 165"/>
            <p:cNvSpPr/>
            <p:nvPr/>
          </p:nvSpPr>
          <p:spPr>
            <a:xfrm>
              <a:off x="11677650" y="2609850"/>
              <a:ext cx="266700" cy="266700"/>
            </a:xfrm>
            <a:prstGeom prst="ellipse">
              <a:avLst/>
            </a:prstGeom>
            <a:solidFill>
              <a:srgbClr val="FDEFF1"/>
            </a:solidFill>
            <a:ln>
              <a:noFill/>
            </a:ln>
          </p:spPr>
        </p:sp>
        <p:grpSp>
          <p:nvGrpSpPr>
            <p:cNvPr id="168" name="Group 168"/>
            <p:cNvGrpSpPr/>
            <p:nvPr/>
          </p:nvGrpSpPr>
          <p:grpSpPr>
            <a:xfrm>
              <a:off x="11751812" y="2686050"/>
              <a:ext cx="116338" cy="116338"/>
              <a:chOff x="11751812" y="2686050"/>
              <a:chExt cx="116338" cy="116338"/>
            </a:xfrm>
          </p:grpSpPr>
          <p:sp>
            <p:nvSpPr>
              <p:cNvPr id="166" name="Freeform 166"/>
              <p:cNvSpPr/>
              <p:nvPr/>
            </p:nvSpPr>
            <p:spPr>
              <a:xfrm>
                <a:off x="11798300" y="2686050"/>
                <a:ext cx="69850" cy="69850"/>
              </a:xfrm>
              <a:custGeom>
                <a:avLst/>
                <a:gdLst/>
                <a:ahLst/>
                <a:cxnLst/>
                <a:rect l="l" t="t" r="r" b="b"/>
                <a:pathLst>
                  <a:path w="69850" h="69850">
                    <a:moveTo>
                      <a:pt x="0" y="69850"/>
                    </a:moveTo>
                    <a:lnTo>
                      <a:pt x="69850" y="0"/>
                    </a:lnTo>
                  </a:path>
                </a:pathLst>
              </a:custGeom>
              <a:noFill/>
              <a:ln w="12700">
                <a:solidFill>
                  <a:srgbClr val="C83210"/>
                </a:solidFill>
              </a:ln>
            </p:spPr>
          </p:sp>
          <p:sp>
            <p:nvSpPr>
              <p:cNvPr id="167" name="Freeform 167"/>
              <p:cNvSpPr/>
              <p:nvPr/>
            </p:nvSpPr>
            <p:spPr>
              <a:xfrm>
                <a:off x="11751812" y="2686050"/>
                <a:ext cx="116338" cy="116338"/>
              </a:xfrm>
              <a:custGeom>
                <a:avLst/>
                <a:gdLst/>
                <a:ahLst/>
                <a:cxnLst/>
                <a:rect l="l" t="t" r="r" b="b"/>
                <a:pathLst>
                  <a:path w="116338" h="116338">
                    <a:moveTo>
                      <a:pt x="116338" y="0"/>
                    </a:moveTo>
                    <a:lnTo>
                      <a:pt x="75063" y="114300"/>
                    </a:lnTo>
                    <a:cubicBezTo>
                      <a:pt x="74494" y="115542"/>
                      <a:pt x="73253" y="116338"/>
                      <a:pt x="71888" y="116338"/>
                    </a:cubicBezTo>
                    <a:cubicBezTo>
                      <a:pt x="70522" y="116338"/>
                      <a:pt x="69282" y="115542"/>
                      <a:pt x="68713" y="114300"/>
                    </a:cubicBezTo>
                    <a:lnTo>
                      <a:pt x="46488" y="69850"/>
                    </a:lnTo>
                    <a:lnTo>
                      <a:pt x="2038" y="47625"/>
                    </a:lnTo>
                    <a:cubicBezTo>
                      <a:pt x="796" y="47056"/>
                      <a:pt x="0" y="45816"/>
                      <a:pt x="0" y="44450"/>
                    </a:cubicBezTo>
                    <a:cubicBezTo>
                      <a:pt x="0" y="43084"/>
                      <a:pt x="796" y="41844"/>
                      <a:pt x="2038" y="41275"/>
                    </a:cubicBezTo>
                    <a:lnTo>
                      <a:pt x="116338" y="0"/>
                    </a:lnTo>
                  </a:path>
                </a:pathLst>
              </a:custGeom>
              <a:noFill/>
              <a:ln w="12700">
                <a:solidFill>
                  <a:srgbClr val="C83210"/>
                </a:solidFill>
              </a:ln>
            </p:spPr>
          </p:sp>
        </p:grpSp>
        <p:sp>
          <p:nvSpPr>
            <p:cNvPr id="169" name="TextBox 169"/>
            <p:cNvSpPr txBox="1"/>
            <p:nvPr/>
          </p:nvSpPr>
          <p:spPr>
            <a:xfrm>
              <a:off x="11072099" y="2620089"/>
              <a:ext cx="553164" cy="154781"/>
            </a:xfrm>
            <a:prstGeom prst="rect">
              <a:avLst/>
            </a:prstGeom>
            <a:noFill/>
            <a:ln>
              <a:noFill/>
            </a:ln>
          </p:spPr>
          <p:txBody>
            <a:bodyPr wrap="none" lIns="0" tIns="0" rIns="0" bIns="0" anchor="t" anchorCtr="0">
              <a:spAutoFit/>
            </a:bodyPr>
            <a:lstStyle/>
            <a:p>
              <a:pPr algn="r"/>
              <a:r>
                <a:rPr lang="zh-CN" sz="790" b="1" dirty="0">
                  <a:solidFill>
                    <a:srgbClr val="222222"/>
                  </a:solidFill>
                  <a:latin typeface="Arial"/>
                  <a:ea typeface="Microsoft YaHei"/>
                  <a:cs typeface="Arial"/>
                </a:rPr>
                <a:t>3. 营销触发</a:t>
              </a:r>
            </a:p>
          </p:txBody>
        </p:sp>
        <p:sp>
          <p:nvSpPr>
            <p:cNvPr id="170" name="TextBox 170"/>
            <p:cNvSpPr txBox="1"/>
            <p:nvPr/>
          </p:nvSpPr>
          <p:spPr>
            <a:xfrm>
              <a:off x="11098797" y="2769632"/>
              <a:ext cx="526466"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匹配策略推送</a:t>
              </a:r>
            </a:p>
          </p:txBody>
        </p:sp>
        <p:sp>
          <p:nvSpPr>
            <p:cNvPr id="171" name="TextBox 171"/>
            <p:cNvSpPr txBox="1"/>
            <p:nvPr/>
          </p:nvSpPr>
          <p:spPr>
            <a:xfrm>
              <a:off x="11012640" y="2883932"/>
              <a:ext cx="612623"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下一次营销动作</a:t>
              </a:r>
            </a:p>
          </p:txBody>
        </p:sp>
        <p:sp>
          <p:nvSpPr>
            <p:cNvPr id="172" name="Ellipse 172"/>
            <p:cNvSpPr/>
            <p:nvPr/>
          </p:nvSpPr>
          <p:spPr>
            <a:xfrm>
              <a:off x="9067800" y="2609850"/>
              <a:ext cx="266700" cy="266700"/>
            </a:xfrm>
            <a:prstGeom prst="ellipse">
              <a:avLst/>
            </a:prstGeom>
            <a:solidFill>
              <a:srgbClr val="FDEFF1"/>
            </a:solidFill>
            <a:ln>
              <a:noFill/>
            </a:ln>
          </p:spPr>
        </p:sp>
        <p:grpSp>
          <p:nvGrpSpPr>
            <p:cNvPr id="175" name="Group 175"/>
            <p:cNvGrpSpPr/>
            <p:nvPr/>
          </p:nvGrpSpPr>
          <p:grpSpPr>
            <a:xfrm>
              <a:off x="9150350" y="2705100"/>
              <a:ext cx="101600" cy="92075"/>
              <a:chOff x="9150350" y="2705100"/>
              <a:chExt cx="101600" cy="92075"/>
            </a:xfrm>
          </p:grpSpPr>
          <p:sp>
            <p:nvSpPr>
              <p:cNvPr id="173" name="Freeform 173"/>
              <p:cNvSpPr/>
              <p:nvPr/>
            </p:nvSpPr>
            <p:spPr>
              <a:xfrm>
                <a:off x="9150350" y="2787650"/>
                <a:ext cx="101600" cy="9525"/>
              </a:xfrm>
              <a:custGeom>
                <a:avLst/>
                <a:gdLst/>
                <a:ahLst/>
                <a:cxnLst/>
                <a:rect l="l" t="t" r="r" b="b"/>
                <a:pathLst>
                  <a:path w="101600" h="9525">
                    <a:moveTo>
                      <a:pt x="0" y="0"/>
                    </a:moveTo>
                    <a:lnTo>
                      <a:pt x="101600" y="0"/>
                    </a:lnTo>
                  </a:path>
                </a:pathLst>
              </a:custGeom>
              <a:noFill/>
              <a:ln w="12700">
                <a:solidFill>
                  <a:srgbClr val="C83210"/>
                </a:solidFill>
              </a:ln>
            </p:spPr>
          </p:sp>
          <p:sp>
            <p:nvSpPr>
              <p:cNvPr id="174" name="Freeform 174"/>
              <p:cNvSpPr/>
              <p:nvPr/>
            </p:nvSpPr>
            <p:spPr>
              <a:xfrm>
                <a:off x="9150350" y="270510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C83210"/>
                </a:solidFill>
              </a:ln>
            </p:spPr>
          </p:sp>
        </p:grpSp>
        <p:sp>
          <p:nvSpPr>
            <p:cNvPr id="176" name="TextBox 176"/>
            <p:cNvSpPr txBox="1"/>
            <p:nvPr/>
          </p:nvSpPr>
          <p:spPr>
            <a:xfrm>
              <a:off x="9386888" y="2620089"/>
              <a:ext cx="553164"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Arial"/>
                  <a:ea typeface="Microsoft YaHei"/>
                  <a:cs typeface="Arial"/>
                </a:rPr>
                <a:t>4. 效果反馈</a:t>
              </a:r>
            </a:p>
          </p:txBody>
        </p:sp>
        <p:sp>
          <p:nvSpPr>
            <p:cNvPr id="177" name="TextBox 177"/>
            <p:cNvSpPr txBox="1"/>
            <p:nvPr/>
          </p:nvSpPr>
          <p:spPr>
            <a:xfrm>
              <a:off x="9386888" y="2769632"/>
              <a:ext cx="698779"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客户响应行为反哺</a:t>
              </a:r>
            </a:p>
          </p:txBody>
        </p:sp>
        <p:sp>
          <p:nvSpPr>
            <p:cNvPr id="178" name="TextBox 178"/>
            <p:cNvSpPr txBox="1"/>
            <p:nvPr/>
          </p:nvSpPr>
          <p:spPr>
            <a:xfrm>
              <a:off x="9386888" y="2883932"/>
              <a:ext cx="35415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标签优化</a:t>
              </a:r>
            </a:p>
          </p:txBody>
        </p:sp>
      </p:grpSp>
      <p:grpSp>
        <p:nvGrpSpPr>
          <p:cNvPr id="255" name="scenario-table"/>
          <p:cNvGrpSpPr/>
          <p:nvPr/>
        </p:nvGrpSpPr>
        <p:grpSpPr>
          <a:xfrm>
            <a:off x="228600" y="3257550"/>
            <a:ext cx="11734800" cy="2505075"/>
            <a:chOff x="228600" y="3257550"/>
            <a:chExt cx="11734800" cy="2505075"/>
          </a:xfrm>
        </p:grpSpPr>
        <p:sp>
          <p:nvSpPr>
            <p:cNvPr id="180" name="Rectangle 180"/>
            <p:cNvSpPr/>
            <p:nvPr/>
          </p:nvSpPr>
          <p:spPr>
            <a:xfrm>
              <a:off x="228600" y="3257550"/>
              <a:ext cx="38100" cy="152400"/>
            </a:xfrm>
            <a:prstGeom prst="rect">
              <a:avLst/>
            </a:prstGeom>
            <a:solidFill>
              <a:srgbClr val="C83210"/>
            </a:solidFill>
            <a:ln>
              <a:noFill/>
            </a:ln>
          </p:spPr>
        </p:sp>
        <p:sp>
          <p:nvSpPr>
            <p:cNvPr id="181" name="TextBox 181"/>
            <p:cNvSpPr txBox="1"/>
            <p:nvPr/>
          </p:nvSpPr>
          <p:spPr>
            <a:xfrm>
              <a:off x="318897" y="3276124"/>
              <a:ext cx="2384603"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典型场景：从标签信号到下一次营销动作</a:t>
              </a:r>
            </a:p>
          </p:txBody>
        </p:sp>
        <p:sp>
          <p:nvSpPr>
            <p:cNvPr id="182" name="TextBox 182"/>
            <p:cNvSpPr txBox="1"/>
            <p:nvPr/>
          </p:nvSpPr>
          <p:spPr>
            <a:xfrm>
              <a:off x="2852738" y="3300412"/>
              <a:ext cx="1624965" cy="147638"/>
            </a:xfrm>
            <a:prstGeom prst="rect">
              <a:avLst/>
            </a:prstGeom>
            <a:noFill/>
            <a:ln>
              <a:noFill/>
            </a:ln>
          </p:spPr>
          <p:txBody>
            <a:bodyPr wrap="none" lIns="0" tIns="0" rIns="0" bIns="0" anchor="t" anchorCtr="0">
              <a:spAutoFit/>
            </a:bodyPr>
            <a:lstStyle/>
            <a:p>
              <a:pPr algn="l"/>
              <a:r>
                <a:rPr lang="zh-CN" sz="750" dirty="0">
                  <a:solidFill>
                    <a:srgbClr val="666666"/>
                  </a:solidFill>
                  <a:latin typeface="+mn-lt"/>
                  <a:ea typeface="+mn-ea"/>
                  <a:cs typeface="+mn-cs"/>
                </a:rPr>
                <a:t>（标签不是为了看，而是为了行动）</a:t>
              </a:r>
            </a:p>
          </p:txBody>
        </p:sp>
        <p:sp>
          <p:nvSpPr>
            <p:cNvPr id="183" name="Rectangle 183"/>
            <p:cNvSpPr/>
            <p:nvPr/>
          </p:nvSpPr>
          <p:spPr>
            <a:xfrm>
              <a:off x="228600" y="3486150"/>
              <a:ext cx="11734800" cy="209550"/>
            </a:xfrm>
            <a:prstGeom prst="rect">
              <a:avLst/>
            </a:prstGeom>
            <a:solidFill>
              <a:srgbClr val="C83210"/>
            </a:solidFill>
            <a:ln>
              <a:noFill/>
            </a:ln>
          </p:spPr>
        </p:sp>
        <p:sp>
          <p:nvSpPr>
            <p:cNvPr id="184" name="TextBox 184"/>
            <p:cNvSpPr txBox="1"/>
            <p:nvPr/>
          </p:nvSpPr>
          <p:spPr>
            <a:xfrm>
              <a:off x="484822" y="354806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场景</a:t>
              </a:r>
            </a:p>
          </p:txBody>
        </p:sp>
        <p:sp>
          <p:nvSpPr>
            <p:cNvPr id="185" name="TextBox 185"/>
            <p:cNvSpPr txBox="1"/>
            <p:nvPr/>
          </p:nvSpPr>
          <p:spPr>
            <a:xfrm>
              <a:off x="1502092" y="3548062"/>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关键标签信号</a:t>
              </a:r>
            </a:p>
          </p:txBody>
        </p:sp>
        <p:sp>
          <p:nvSpPr>
            <p:cNvPr id="186" name="TextBox 186"/>
            <p:cNvSpPr txBox="1"/>
            <p:nvPr/>
          </p:nvSpPr>
          <p:spPr>
            <a:xfrm>
              <a:off x="3168968" y="3548062"/>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客户特征示例</a:t>
              </a:r>
            </a:p>
          </p:txBody>
        </p:sp>
        <p:sp>
          <p:nvSpPr>
            <p:cNvPr id="187" name="TextBox 187"/>
            <p:cNvSpPr txBox="1"/>
            <p:nvPr/>
          </p:nvSpPr>
          <p:spPr>
            <a:xfrm>
              <a:off x="4896489" y="3548062"/>
              <a:ext cx="135127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Microsoft YaHei"/>
                  <a:cs typeface="Arial"/>
                </a:rPr>
                <a:t>下一次最佳营销动作（NBA）</a:t>
              </a:r>
            </a:p>
          </p:txBody>
        </p:sp>
        <p:sp>
          <p:nvSpPr>
            <p:cNvPr id="188" name="TextBox 188"/>
            <p:cNvSpPr txBox="1"/>
            <p:nvPr/>
          </p:nvSpPr>
          <p:spPr>
            <a:xfrm>
              <a:off x="7794308" y="354806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推荐内容</a:t>
              </a:r>
            </a:p>
          </p:txBody>
        </p:sp>
        <p:sp>
          <p:nvSpPr>
            <p:cNvPr id="189" name="TextBox 189"/>
            <p:cNvSpPr txBox="1"/>
            <p:nvPr/>
          </p:nvSpPr>
          <p:spPr>
            <a:xfrm>
              <a:off x="9413558" y="354806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触达渠道</a:t>
              </a:r>
            </a:p>
          </p:txBody>
        </p:sp>
        <p:sp>
          <p:nvSpPr>
            <p:cNvPr id="190" name="TextBox 190"/>
            <p:cNvSpPr txBox="1"/>
            <p:nvPr/>
          </p:nvSpPr>
          <p:spPr>
            <a:xfrm>
              <a:off x="10416540" y="3548062"/>
              <a:ext cx="31242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责任人</a:t>
              </a:r>
            </a:p>
          </p:txBody>
        </p:sp>
        <p:sp>
          <p:nvSpPr>
            <p:cNvPr id="191" name="TextBox 191"/>
            <p:cNvSpPr txBox="1"/>
            <p:nvPr/>
          </p:nvSpPr>
          <p:spPr>
            <a:xfrm>
              <a:off x="11394758" y="3548062"/>
              <a:ext cx="222885"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Arial"/>
                  <a:ea typeface="Arial"/>
                  <a:cs typeface="Arial"/>
                </a:rPr>
                <a:t>SLA</a:t>
              </a:r>
            </a:p>
          </p:txBody>
        </p:sp>
        <p:sp>
          <p:nvSpPr>
            <p:cNvPr id="192" name="Rectangle 192"/>
            <p:cNvSpPr/>
            <p:nvPr/>
          </p:nvSpPr>
          <p:spPr>
            <a:xfrm>
              <a:off x="228600" y="3695700"/>
              <a:ext cx="11734800" cy="342900"/>
            </a:xfrm>
            <a:prstGeom prst="rect">
              <a:avLst/>
            </a:prstGeom>
            <a:solidFill>
              <a:srgbClr val="FDEFF1"/>
            </a:solidFill>
            <a:ln>
              <a:noFill/>
            </a:ln>
          </p:spPr>
        </p:sp>
        <p:sp>
          <p:nvSpPr>
            <p:cNvPr id="193" name="Rectangle 193"/>
            <p:cNvSpPr/>
            <p:nvPr/>
          </p:nvSpPr>
          <p:spPr>
            <a:xfrm>
              <a:off x="228600" y="4381500"/>
              <a:ext cx="11734800" cy="342900"/>
            </a:xfrm>
            <a:prstGeom prst="rect">
              <a:avLst/>
            </a:prstGeom>
            <a:solidFill>
              <a:srgbClr val="FDEFF1"/>
            </a:solidFill>
            <a:ln>
              <a:noFill/>
            </a:ln>
          </p:spPr>
        </p:sp>
        <p:sp>
          <p:nvSpPr>
            <p:cNvPr id="194" name="Rectangle 194"/>
            <p:cNvSpPr/>
            <p:nvPr/>
          </p:nvSpPr>
          <p:spPr>
            <a:xfrm>
              <a:off x="228600" y="5067300"/>
              <a:ext cx="11734800" cy="342900"/>
            </a:xfrm>
            <a:prstGeom prst="rect">
              <a:avLst/>
            </a:prstGeom>
            <a:solidFill>
              <a:srgbClr val="FDEFF1"/>
            </a:solidFill>
            <a:ln>
              <a:noFill/>
            </a:ln>
          </p:spPr>
        </p:sp>
        <p:sp>
          <p:nvSpPr>
            <p:cNvPr id="195" name="Line 195"/>
            <p:cNvSpPr/>
            <p:nvPr/>
          </p:nvSpPr>
          <p:spPr>
            <a:xfrm>
              <a:off x="228600" y="5753100"/>
              <a:ext cx="11734800" cy="9525"/>
            </a:xfrm>
            <a:custGeom>
              <a:avLst/>
              <a:gdLst/>
              <a:ahLst/>
              <a:cxnLst/>
              <a:rect l="l" t="t" r="r" b="b"/>
              <a:pathLst>
                <a:path w="11734800" h="9525">
                  <a:moveTo>
                    <a:pt x="0" y="0"/>
                  </a:moveTo>
                  <a:lnTo>
                    <a:pt x="11734800" y="0"/>
                  </a:lnTo>
                </a:path>
              </a:pathLst>
            </a:custGeom>
            <a:noFill/>
            <a:ln w="9525">
              <a:solidFill>
                <a:srgbClr val="F1C7CC"/>
              </a:solidFill>
            </a:ln>
          </p:spPr>
        </p:sp>
        <p:sp>
          <p:nvSpPr>
            <p:cNvPr id="196" name="TextBox 196"/>
            <p:cNvSpPr txBox="1"/>
            <p:nvPr/>
          </p:nvSpPr>
          <p:spPr>
            <a:xfrm>
              <a:off x="373088" y="3820239"/>
              <a:ext cx="43492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新客转化</a:t>
              </a:r>
            </a:p>
          </p:txBody>
        </p:sp>
        <p:sp>
          <p:nvSpPr>
            <p:cNvPr id="197" name="TextBox 197"/>
            <p:cNvSpPr txBox="1"/>
            <p:nvPr/>
          </p:nvSpPr>
          <p:spPr>
            <a:xfrm>
              <a:off x="1023938" y="3761661"/>
              <a:ext cx="635575"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关系状态=新增</a:t>
              </a:r>
            </a:p>
          </p:txBody>
        </p:sp>
        <p:sp>
          <p:nvSpPr>
            <p:cNvPr id="198" name="TextBox 198"/>
            <p:cNvSpPr txBox="1"/>
            <p:nvPr/>
          </p:nvSpPr>
          <p:spPr>
            <a:xfrm>
              <a:off x="1023938" y="3885486"/>
              <a:ext cx="80096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Arial"/>
                  <a:ea typeface="Microsoft YaHei"/>
                  <a:cs typeface="Arial"/>
                </a:rPr>
                <a:t xml:space="preserve">资产价值=&lt;10万　</a:t>
              </a:r>
            </a:p>
          </p:txBody>
        </p:sp>
        <p:sp>
          <p:nvSpPr>
            <p:cNvPr id="199" name="TextBox 199"/>
            <p:cNvSpPr txBox="1"/>
            <p:nvPr/>
          </p:nvSpPr>
          <p:spPr>
            <a:xfrm>
              <a:off x="2738438" y="3828336"/>
              <a:ext cx="111347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 xml:space="preserve">近7天新增，未购买产品　</a:t>
              </a:r>
            </a:p>
          </p:txBody>
        </p:sp>
        <p:sp>
          <p:nvSpPr>
            <p:cNvPr id="200" name="TextBox 200"/>
            <p:cNvSpPr txBox="1"/>
            <p:nvPr/>
          </p:nvSpPr>
          <p:spPr>
            <a:xfrm>
              <a:off x="4357688" y="3828336"/>
              <a:ext cx="2112289"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发送新客专属权益，引导开立账户并购买货币理财</a:t>
              </a:r>
            </a:p>
          </p:txBody>
        </p:sp>
        <p:sp>
          <p:nvSpPr>
            <p:cNvPr id="201" name="TextBox 201"/>
            <p:cNvSpPr txBox="1"/>
            <p:nvPr/>
          </p:nvSpPr>
          <p:spPr>
            <a:xfrm>
              <a:off x="6929438" y="3761661"/>
              <a:ext cx="125206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【新客专享】闲钱理财优选，</a:t>
              </a:r>
            </a:p>
          </p:txBody>
        </p:sp>
        <p:sp>
          <p:nvSpPr>
            <p:cNvPr id="202" name="TextBox 202"/>
            <p:cNvSpPr txBox="1"/>
            <p:nvPr/>
          </p:nvSpPr>
          <p:spPr>
            <a:xfrm>
              <a:off x="6929438" y="3885486"/>
              <a:ext cx="77416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七日年化稳健增值</a:t>
              </a:r>
            </a:p>
          </p:txBody>
        </p:sp>
        <p:sp>
          <p:nvSpPr>
            <p:cNvPr id="203" name="TextBox 203"/>
            <p:cNvSpPr txBox="1"/>
            <p:nvPr/>
          </p:nvSpPr>
          <p:spPr>
            <a:xfrm>
              <a:off x="9424327" y="3828336"/>
              <a:ext cx="39184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企微消息</a:t>
              </a:r>
            </a:p>
          </p:txBody>
        </p:sp>
        <p:sp>
          <p:nvSpPr>
            <p:cNvPr id="204" name="TextBox 204"/>
            <p:cNvSpPr txBox="1"/>
            <p:nvPr/>
          </p:nvSpPr>
          <p:spPr>
            <a:xfrm>
              <a:off x="10281247" y="3828336"/>
              <a:ext cx="58300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网点客户经理</a:t>
              </a:r>
            </a:p>
          </p:txBody>
        </p:sp>
        <p:sp>
          <p:nvSpPr>
            <p:cNvPr id="205" name="TextBox 205"/>
            <p:cNvSpPr txBox="1"/>
            <p:nvPr/>
          </p:nvSpPr>
          <p:spPr>
            <a:xfrm>
              <a:off x="11255080" y="3828336"/>
              <a:ext cx="502241"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 xml:space="preserve">24小时内　</a:t>
              </a:r>
            </a:p>
          </p:txBody>
        </p:sp>
        <p:sp>
          <p:nvSpPr>
            <p:cNvPr id="206" name="TextBox 206"/>
            <p:cNvSpPr txBox="1"/>
            <p:nvPr/>
          </p:nvSpPr>
          <p:spPr>
            <a:xfrm>
              <a:off x="373088" y="4163139"/>
              <a:ext cx="43492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理财到期</a:t>
              </a:r>
            </a:p>
          </p:txBody>
        </p:sp>
        <p:sp>
          <p:nvSpPr>
            <p:cNvPr id="207" name="TextBox 207"/>
            <p:cNvSpPr txBox="1"/>
            <p:nvPr/>
          </p:nvSpPr>
          <p:spPr>
            <a:xfrm>
              <a:off x="1023938" y="4104561"/>
              <a:ext cx="635575"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产品持有=理财</a:t>
              </a:r>
            </a:p>
          </p:txBody>
        </p:sp>
        <p:sp>
          <p:nvSpPr>
            <p:cNvPr id="208" name="TextBox 208"/>
            <p:cNvSpPr txBox="1"/>
            <p:nvPr/>
          </p:nvSpPr>
          <p:spPr>
            <a:xfrm>
              <a:off x="1023938" y="4228386"/>
              <a:ext cx="1166045"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 xml:space="preserve">行为意图=到期（7天内）　</a:t>
              </a:r>
            </a:p>
          </p:txBody>
        </p:sp>
        <p:sp>
          <p:nvSpPr>
            <p:cNvPr id="209" name="TextBox 209"/>
            <p:cNvSpPr txBox="1"/>
            <p:nvPr/>
          </p:nvSpPr>
          <p:spPr>
            <a:xfrm>
              <a:off x="2738438" y="4171236"/>
              <a:ext cx="1218615"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 xml:space="preserve">持有10万理财，3天后到期　</a:t>
              </a:r>
            </a:p>
          </p:txBody>
        </p:sp>
        <p:sp>
          <p:nvSpPr>
            <p:cNvPr id="210" name="TextBox 210"/>
            <p:cNvSpPr txBox="1"/>
            <p:nvPr/>
          </p:nvSpPr>
          <p:spPr>
            <a:xfrm>
              <a:off x="4357688" y="4171236"/>
              <a:ext cx="163438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推荐同类或升级产品，预约一对一沟通</a:t>
              </a:r>
            </a:p>
          </p:txBody>
        </p:sp>
        <p:sp>
          <p:nvSpPr>
            <p:cNvPr id="211" name="TextBox 211"/>
            <p:cNvSpPr txBox="1"/>
            <p:nvPr/>
          </p:nvSpPr>
          <p:spPr>
            <a:xfrm>
              <a:off x="6929438" y="4104561"/>
              <a:ext cx="144322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【到期提醒】您的理财即将到期，</a:t>
              </a:r>
            </a:p>
          </p:txBody>
        </p:sp>
        <p:sp>
          <p:nvSpPr>
            <p:cNvPr id="212" name="TextBox 212"/>
            <p:cNvSpPr txBox="1"/>
            <p:nvPr/>
          </p:nvSpPr>
          <p:spPr>
            <a:xfrm>
              <a:off x="6929438" y="4228386"/>
              <a:ext cx="106090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为您精选下一期优选产品</a:t>
              </a:r>
            </a:p>
          </p:txBody>
        </p:sp>
        <p:sp>
          <p:nvSpPr>
            <p:cNvPr id="213" name="TextBox 213"/>
            <p:cNvSpPr txBox="1"/>
            <p:nvPr/>
          </p:nvSpPr>
          <p:spPr>
            <a:xfrm>
              <a:off x="9273788" y="4171236"/>
              <a:ext cx="692923"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企微消息 + 电话</a:t>
              </a:r>
            </a:p>
          </p:txBody>
        </p:sp>
        <p:sp>
          <p:nvSpPr>
            <p:cNvPr id="214" name="TextBox 214"/>
            <p:cNvSpPr txBox="1"/>
            <p:nvPr/>
          </p:nvSpPr>
          <p:spPr>
            <a:xfrm>
              <a:off x="10281247" y="4171236"/>
              <a:ext cx="58300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网点客户经理</a:t>
              </a:r>
            </a:p>
          </p:txBody>
        </p:sp>
        <p:sp>
          <p:nvSpPr>
            <p:cNvPr id="215" name="TextBox 215"/>
            <p:cNvSpPr txBox="1"/>
            <p:nvPr/>
          </p:nvSpPr>
          <p:spPr>
            <a:xfrm>
              <a:off x="11310277" y="4171236"/>
              <a:ext cx="391846"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当日触达</a:t>
              </a:r>
            </a:p>
          </p:txBody>
        </p:sp>
        <p:sp>
          <p:nvSpPr>
            <p:cNvPr id="216" name="TextBox 216"/>
            <p:cNvSpPr txBox="1"/>
            <p:nvPr/>
          </p:nvSpPr>
          <p:spPr>
            <a:xfrm>
              <a:off x="373088" y="4506039"/>
              <a:ext cx="43492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资产提升</a:t>
              </a:r>
            </a:p>
          </p:txBody>
        </p:sp>
        <p:sp>
          <p:nvSpPr>
            <p:cNvPr id="217" name="TextBox 217"/>
            <p:cNvSpPr txBox="1"/>
            <p:nvPr/>
          </p:nvSpPr>
          <p:spPr>
            <a:xfrm>
              <a:off x="1023938" y="4447461"/>
              <a:ext cx="936462" cy="140494"/>
            </a:xfrm>
            <a:prstGeom prst="rect">
              <a:avLst/>
            </a:prstGeom>
            <a:noFill/>
            <a:ln>
              <a:noFill/>
            </a:ln>
          </p:spPr>
          <p:txBody>
            <a:bodyPr wrap="none" lIns="0" tIns="0" rIns="0" bIns="0" anchor="t" anchorCtr="0">
              <a:spAutoFit/>
            </a:bodyPr>
            <a:lstStyle/>
            <a:p>
              <a:pPr algn="l"/>
              <a:r>
                <a:rPr lang="zh-CN" sz="710" dirty="0">
                  <a:solidFill>
                    <a:srgbClr val="3D3D3D"/>
                  </a:solidFill>
                  <a:latin typeface="Arial"/>
                  <a:ea typeface="Microsoft YaHei"/>
                  <a:cs typeface="Arial"/>
                </a:rPr>
                <a:t xml:space="preserve">资产价值=50-300万　</a:t>
              </a:r>
            </a:p>
          </p:txBody>
        </p:sp>
        <p:sp>
          <p:nvSpPr>
            <p:cNvPr id="218" name="TextBox 218"/>
            <p:cNvSpPr txBox="1"/>
            <p:nvPr/>
          </p:nvSpPr>
          <p:spPr>
            <a:xfrm>
              <a:off x="1023938" y="4571286"/>
              <a:ext cx="136385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Arial"/>
                  <a:ea typeface="Microsoft YaHei"/>
                  <a:cs typeface="Arial"/>
                </a:rPr>
                <a:t xml:space="preserve">行为意图=余额变化（+20%）　</a:t>
              </a:r>
            </a:p>
          </p:txBody>
        </p:sp>
        <p:sp>
          <p:nvSpPr>
            <p:cNvPr id="219" name="TextBox 219"/>
            <p:cNvSpPr txBox="1"/>
            <p:nvPr/>
          </p:nvSpPr>
          <p:spPr>
            <a:xfrm>
              <a:off x="2738438" y="4514136"/>
              <a:ext cx="146486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Arial"/>
                  <a:ea typeface="Microsoft YaHei"/>
                  <a:cs typeface="Arial"/>
                </a:rPr>
                <a:t xml:space="preserve">近30天资产增加20%，当前80万　</a:t>
              </a:r>
            </a:p>
          </p:txBody>
        </p:sp>
        <p:sp>
          <p:nvSpPr>
            <p:cNvPr id="220" name="TextBox 220"/>
            <p:cNvSpPr txBox="1"/>
            <p:nvPr/>
          </p:nvSpPr>
          <p:spPr>
            <a:xfrm>
              <a:off x="4357688" y="4514136"/>
              <a:ext cx="125206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邀请配置多元资产，提升收益</a:t>
              </a:r>
            </a:p>
          </p:txBody>
        </p:sp>
        <p:sp>
          <p:nvSpPr>
            <p:cNvPr id="221" name="TextBox 221"/>
            <p:cNvSpPr txBox="1"/>
            <p:nvPr/>
          </p:nvSpPr>
          <p:spPr>
            <a:xfrm>
              <a:off x="6929438" y="4447461"/>
              <a:ext cx="125206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【资产配置建议】多元配置，</a:t>
              </a:r>
            </a:p>
          </p:txBody>
        </p:sp>
        <p:sp>
          <p:nvSpPr>
            <p:cNvPr id="222" name="TextBox 222"/>
            <p:cNvSpPr txBox="1"/>
            <p:nvPr/>
          </p:nvSpPr>
          <p:spPr>
            <a:xfrm>
              <a:off x="6929438" y="4571286"/>
              <a:ext cx="67858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让财富更进一步</a:t>
              </a:r>
            </a:p>
          </p:txBody>
        </p:sp>
        <p:sp>
          <p:nvSpPr>
            <p:cNvPr id="223" name="TextBox 223"/>
            <p:cNvSpPr txBox="1"/>
            <p:nvPr/>
          </p:nvSpPr>
          <p:spPr>
            <a:xfrm>
              <a:off x="9229142" y="4514136"/>
              <a:ext cx="782217"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Arial"/>
                  <a:ea typeface="Microsoft YaHei"/>
                  <a:cs typeface="Arial"/>
                </a:rPr>
                <a:t xml:space="preserve">企微消息 + 1V1　</a:t>
              </a:r>
            </a:p>
          </p:txBody>
        </p:sp>
        <p:sp>
          <p:nvSpPr>
            <p:cNvPr id="224" name="TextBox 224"/>
            <p:cNvSpPr txBox="1"/>
            <p:nvPr/>
          </p:nvSpPr>
          <p:spPr>
            <a:xfrm>
              <a:off x="10376827" y="4514136"/>
              <a:ext cx="39184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财富顾问</a:t>
              </a:r>
            </a:p>
          </p:txBody>
        </p:sp>
        <p:sp>
          <p:nvSpPr>
            <p:cNvPr id="225" name="TextBox 225"/>
            <p:cNvSpPr txBox="1"/>
            <p:nvPr/>
          </p:nvSpPr>
          <p:spPr>
            <a:xfrm>
              <a:off x="11255080" y="4514136"/>
              <a:ext cx="502241"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 xml:space="preserve">48小时内　</a:t>
              </a:r>
            </a:p>
          </p:txBody>
        </p:sp>
        <p:sp>
          <p:nvSpPr>
            <p:cNvPr id="226" name="TextBox 226"/>
            <p:cNvSpPr txBox="1"/>
            <p:nvPr/>
          </p:nvSpPr>
          <p:spPr>
            <a:xfrm>
              <a:off x="373088" y="4848939"/>
              <a:ext cx="43492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基金意向</a:t>
              </a:r>
            </a:p>
          </p:txBody>
        </p:sp>
        <p:sp>
          <p:nvSpPr>
            <p:cNvPr id="227" name="TextBox 227"/>
            <p:cNvSpPr txBox="1"/>
            <p:nvPr/>
          </p:nvSpPr>
          <p:spPr>
            <a:xfrm>
              <a:off x="1023938" y="4790361"/>
              <a:ext cx="111347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行为意图=浏览（基金页）</a:t>
              </a:r>
            </a:p>
          </p:txBody>
        </p:sp>
        <p:sp>
          <p:nvSpPr>
            <p:cNvPr id="228" name="TextBox 228"/>
            <p:cNvSpPr txBox="1"/>
            <p:nvPr/>
          </p:nvSpPr>
          <p:spPr>
            <a:xfrm>
              <a:off x="1023938" y="4914186"/>
              <a:ext cx="635575"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关系状态=活跃</a:t>
              </a:r>
            </a:p>
          </p:txBody>
        </p:sp>
        <p:sp>
          <p:nvSpPr>
            <p:cNvPr id="229" name="TextBox 229"/>
            <p:cNvSpPr txBox="1"/>
            <p:nvPr/>
          </p:nvSpPr>
          <p:spPr>
            <a:xfrm>
              <a:off x="2738438" y="4857036"/>
              <a:ext cx="111347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 xml:space="preserve">近3天多次浏览基金产品　</a:t>
              </a:r>
            </a:p>
          </p:txBody>
        </p:sp>
        <p:sp>
          <p:nvSpPr>
            <p:cNvPr id="230" name="TextBox 230"/>
            <p:cNvSpPr txBox="1"/>
            <p:nvPr/>
          </p:nvSpPr>
          <p:spPr>
            <a:xfrm>
              <a:off x="4357688" y="4857036"/>
              <a:ext cx="187811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发送基金投资策略内容，邀请直播/预约顾问</a:t>
              </a:r>
            </a:p>
          </p:txBody>
        </p:sp>
        <p:sp>
          <p:nvSpPr>
            <p:cNvPr id="231" name="TextBox 231"/>
            <p:cNvSpPr txBox="1"/>
            <p:nvPr/>
          </p:nvSpPr>
          <p:spPr>
            <a:xfrm>
              <a:off x="6929438" y="4790361"/>
              <a:ext cx="115648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【市场解读】当前市场下的</a:t>
              </a:r>
            </a:p>
          </p:txBody>
        </p:sp>
        <p:sp>
          <p:nvSpPr>
            <p:cNvPr id="232" name="TextBox 232"/>
            <p:cNvSpPr txBox="1"/>
            <p:nvPr/>
          </p:nvSpPr>
          <p:spPr>
            <a:xfrm>
              <a:off x="6929438" y="4914186"/>
              <a:ext cx="58300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基金配置机会</a:t>
              </a:r>
            </a:p>
          </p:txBody>
        </p:sp>
        <p:sp>
          <p:nvSpPr>
            <p:cNvPr id="233" name="TextBox 233"/>
            <p:cNvSpPr txBox="1"/>
            <p:nvPr/>
          </p:nvSpPr>
          <p:spPr>
            <a:xfrm>
              <a:off x="9273788" y="4857036"/>
              <a:ext cx="692923"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企微消息 + 直播</a:t>
              </a:r>
            </a:p>
          </p:txBody>
        </p:sp>
        <p:sp>
          <p:nvSpPr>
            <p:cNvPr id="234" name="TextBox 234"/>
            <p:cNvSpPr txBox="1"/>
            <p:nvPr/>
          </p:nvSpPr>
          <p:spPr>
            <a:xfrm>
              <a:off x="10281247" y="4857036"/>
              <a:ext cx="58300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网点客户经理</a:t>
              </a:r>
            </a:p>
          </p:txBody>
        </p:sp>
        <p:sp>
          <p:nvSpPr>
            <p:cNvPr id="235" name="TextBox 235"/>
            <p:cNvSpPr txBox="1"/>
            <p:nvPr/>
          </p:nvSpPr>
          <p:spPr>
            <a:xfrm>
              <a:off x="11255080" y="4857036"/>
              <a:ext cx="502241"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 xml:space="preserve">24小时内　</a:t>
              </a:r>
            </a:p>
          </p:txBody>
        </p:sp>
        <p:sp>
          <p:nvSpPr>
            <p:cNvPr id="236" name="TextBox 236"/>
            <p:cNvSpPr txBox="1"/>
            <p:nvPr/>
          </p:nvSpPr>
          <p:spPr>
            <a:xfrm>
              <a:off x="373088" y="5191839"/>
              <a:ext cx="43492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沉睡唤醒</a:t>
              </a:r>
            </a:p>
          </p:txBody>
        </p:sp>
        <p:sp>
          <p:nvSpPr>
            <p:cNvPr id="237" name="TextBox 237"/>
            <p:cNvSpPr txBox="1"/>
            <p:nvPr/>
          </p:nvSpPr>
          <p:spPr>
            <a:xfrm>
              <a:off x="1023938" y="5199936"/>
              <a:ext cx="118328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Arial"/>
                  <a:ea typeface="Microsoft YaHei"/>
                  <a:cs typeface="Arial"/>
                </a:rPr>
                <a:t xml:space="preserve">关系状态=沉睡（&gt;90天）　</a:t>
              </a:r>
            </a:p>
          </p:txBody>
        </p:sp>
        <p:sp>
          <p:nvSpPr>
            <p:cNvPr id="238" name="TextBox 238"/>
            <p:cNvSpPr txBox="1"/>
            <p:nvPr/>
          </p:nvSpPr>
          <p:spPr>
            <a:xfrm>
              <a:off x="2738438" y="5199936"/>
              <a:ext cx="1271184"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 xml:space="preserve">90天未互动，持有存款20万　</a:t>
              </a:r>
            </a:p>
          </p:txBody>
        </p:sp>
        <p:sp>
          <p:nvSpPr>
            <p:cNvPr id="239" name="TextBox 239"/>
            <p:cNvSpPr txBox="1"/>
            <p:nvPr/>
          </p:nvSpPr>
          <p:spPr>
            <a:xfrm>
              <a:off x="4357688" y="5199936"/>
              <a:ext cx="149579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发送关怀问候+专属权益，重新激活</a:t>
              </a:r>
            </a:p>
          </p:txBody>
        </p:sp>
        <p:sp>
          <p:nvSpPr>
            <p:cNvPr id="240" name="TextBox 240"/>
            <p:cNvSpPr txBox="1"/>
            <p:nvPr/>
          </p:nvSpPr>
          <p:spPr>
            <a:xfrm>
              <a:off x="6929438" y="5133261"/>
              <a:ext cx="144322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【专属回馈】久违的您，我们为您</a:t>
              </a:r>
            </a:p>
          </p:txBody>
        </p:sp>
        <p:sp>
          <p:nvSpPr>
            <p:cNvPr id="241" name="TextBox 241"/>
            <p:cNvSpPr txBox="1"/>
            <p:nvPr/>
          </p:nvSpPr>
          <p:spPr>
            <a:xfrm>
              <a:off x="6929438" y="5257086"/>
              <a:ext cx="86974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准备了一份专属礼遇</a:t>
              </a:r>
            </a:p>
          </p:txBody>
        </p:sp>
        <p:sp>
          <p:nvSpPr>
            <p:cNvPr id="242" name="TextBox 242"/>
            <p:cNvSpPr txBox="1"/>
            <p:nvPr/>
          </p:nvSpPr>
          <p:spPr>
            <a:xfrm>
              <a:off x="9273788" y="5199936"/>
              <a:ext cx="692923"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企微消息 + 电话</a:t>
              </a:r>
            </a:p>
          </p:txBody>
        </p:sp>
        <p:sp>
          <p:nvSpPr>
            <p:cNvPr id="243" name="TextBox 243"/>
            <p:cNvSpPr txBox="1"/>
            <p:nvPr/>
          </p:nvSpPr>
          <p:spPr>
            <a:xfrm>
              <a:off x="10281247" y="5199936"/>
              <a:ext cx="58300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网点客户经理</a:t>
              </a:r>
            </a:p>
          </p:txBody>
        </p:sp>
        <p:sp>
          <p:nvSpPr>
            <p:cNvPr id="244" name="TextBox 244"/>
            <p:cNvSpPr txBox="1"/>
            <p:nvPr/>
          </p:nvSpPr>
          <p:spPr>
            <a:xfrm>
              <a:off x="11330468" y="5199936"/>
              <a:ext cx="351463"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 xml:space="preserve">3天内　</a:t>
              </a:r>
            </a:p>
          </p:txBody>
        </p:sp>
        <p:sp>
          <p:nvSpPr>
            <p:cNvPr id="245" name="TextBox 245"/>
            <p:cNvSpPr txBox="1"/>
            <p:nvPr/>
          </p:nvSpPr>
          <p:spPr>
            <a:xfrm>
              <a:off x="319913" y="5534739"/>
              <a:ext cx="54127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信用卡促活</a:t>
              </a:r>
            </a:p>
          </p:txBody>
        </p:sp>
        <p:sp>
          <p:nvSpPr>
            <p:cNvPr id="246" name="TextBox 246"/>
            <p:cNvSpPr txBox="1"/>
            <p:nvPr/>
          </p:nvSpPr>
          <p:spPr>
            <a:xfrm>
              <a:off x="1023938" y="5476161"/>
              <a:ext cx="73115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产品持有=信用卡</a:t>
              </a:r>
            </a:p>
          </p:txBody>
        </p:sp>
        <p:sp>
          <p:nvSpPr>
            <p:cNvPr id="247" name="TextBox 247"/>
            <p:cNvSpPr txBox="1"/>
            <p:nvPr/>
          </p:nvSpPr>
          <p:spPr>
            <a:xfrm>
              <a:off x="1023938" y="5599986"/>
              <a:ext cx="73115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行为意图=低活跃</a:t>
              </a:r>
            </a:p>
          </p:txBody>
        </p:sp>
        <p:sp>
          <p:nvSpPr>
            <p:cNvPr id="248" name="TextBox 248"/>
            <p:cNvSpPr txBox="1"/>
            <p:nvPr/>
          </p:nvSpPr>
          <p:spPr>
            <a:xfrm>
              <a:off x="2738438" y="5542836"/>
              <a:ext cx="974885"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 xml:space="preserve">持卡但近30天无消费　</a:t>
              </a:r>
            </a:p>
          </p:txBody>
        </p:sp>
        <p:sp>
          <p:nvSpPr>
            <p:cNvPr id="249" name="TextBox 249"/>
            <p:cNvSpPr txBox="1"/>
            <p:nvPr/>
          </p:nvSpPr>
          <p:spPr>
            <a:xfrm>
              <a:off x="4357688" y="5542836"/>
              <a:ext cx="153880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推送消费达标活动，提升用卡活跃度</a:t>
              </a:r>
            </a:p>
          </p:txBody>
        </p:sp>
        <p:sp>
          <p:nvSpPr>
            <p:cNvPr id="250" name="TextBox 250"/>
            <p:cNvSpPr txBox="1"/>
            <p:nvPr/>
          </p:nvSpPr>
          <p:spPr>
            <a:xfrm>
              <a:off x="6929438" y="5476161"/>
              <a:ext cx="134764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【用卡有礼】消费达标领好礼，</a:t>
              </a:r>
            </a:p>
          </p:txBody>
        </p:sp>
        <p:sp>
          <p:nvSpPr>
            <p:cNvPr id="251" name="TextBox 251"/>
            <p:cNvSpPr txBox="1"/>
            <p:nvPr/>
          </p:nvSpPr>
          <p:spPr>
            <a:xfrm>
              <a:off x="6929438" y="5599986"/>
              <a:ext cx="67858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更多惊喜等您来</a:t>
              </a:r>
            </a:p>
          </p:txBody>
        </p:sp>
        <p:sp>
          <p:nvSpPr>
            <p:cNvPr id="252" name="TextBox 252"/>
            <p:cNvSpPr txBox="1"/>
            <p:nvPr/>
          </p:nvSpPr>
          <p:spPr>
            <a:xfrm>
              <a:off x="9424327" y="5542836"/>
              <a:ext cx="39184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企微消息</a:t>
              </a:r>
            </a:p>
          </p:txBody>
        </p:sp>
        <p:sp>
          <p:nvSpPr>
            <p:cNvPr id="253" name="TextBox 253"/>
            <p:cNvSpPr txBox="1"/>
            <p:nvPr/>
          </p:nvSpPr>
          <p:spPr>
            <a:xfrm>
              <a:off x="10329037" y="5542836"/>
              <a:ext cx="48742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信用卡专员</a:t>
              </a:r>
            </a:p>
          </p:txBody>
        </p:sp>
        <p:sp>
          <p:nvSpPr>
            <p:cNvPr id="254" name="TextBox 254"/>
            <p:cNvSpPr txBox="1"/>
            <p:nvPr/>
          </p:nvSpPr>
          <p:spPr>
            <a:xfrm>
              <a:off x="11255080" y="5542836"/>
              <a:ext cx="502241"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 xml:space="preserve">48小时内　</a:t>
              </a:r>
            </a:p>
          </p:txBody>
        </p:sp>
      </p:grpSp>
      <p:grpSp>
        <p:nvGrpSpPr>
          <p:cNvPr id="310" name="tag-governance"/>
          <p:cNvGrpSpPr/>
          <p:nvPr/>
        </p:nvGrpSpPr>
        <p:grpSpPr>
          <a:xfrm>
            <a:off x="228600" y="5867400"/>
            <a:ext cx="7620000" cy="933688"/>
            <a:chOff x="228600" y="5867400"/>
            <a:chExt cx="7620000" cy="933688"/>
          </a:xfrm>
        </p:grpSpPr>
        <p:sp>
          <p:nvSpPr>
            <p:cNvPr id="256" name="Rectangle 256"/>
            <p:cNvSpPr/>
            <p:nvPr/>
          </p:nvSpPr>
          <p:spPr>
            <a:xfrm>
              <a:off x="228600" y="5867400"/>
              <a:ext cx="38100" cy="152400"/>
            </a:xfrm>
            <a:prstGeom prst="rect">
              <a:avLst/>
            </a:prstGeom>
            <a:solidFill>
              <a:srgbClr val="C83210"/>
            </a:solidFill>
            <a:ln>
              <a:noFill/>
            </a:ln>
          </p:spPr>
        </p:sp>
        <p:sp>
          <p:nvSpPr>
            <p:cNvPr id="257" name="TextBox 257"/>
            <p:cNvSpPr txBox="1"/>
            <p:nvPr/>
          </p:nvSpPr>
          <p:spPr>
            <a:xfrm>
              <a:off x="319088" y="5894070"/>
              <a:ext cx="736473"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标签治理机制</a:t>
              </a:r>
            </a:p>
          </p:txBody>
        </p:sp>
        <p:sp>
          <p:nvSpPr>
            <p:cNvPr id="258" name="TextBox 258"/>
            <p:cNvSpPr txBox="1"/>
            <p:nvPr/>
          </p:nvSpPr>
          <p:spPr>
            <a:xfrm>
              <a:off x="1119188" y="5914311"/>
              <a:ext cx="1729969" cy="140494"/>
            </a:xfrm>
            <a:prstGeom prst="rect">
              <a:avLst/>
            </a:prstGeom>
            <a:noFill/>
            <a:ln>
              <a:noFill/>
            </a:ln>
          </p:spPr>
          <p:txBody>
            <a:bodyPr wrap="none" lIns="0" tIns="0" rIns="0" bIns="0" anchor="t" anchorCtr="0">
              <a:spAutoFit/>
            </a:bodyPr>
            <a:lstStyle/>
            <a:p>
              <a:pPr algn="l"/>
              <a:r>
                <a:rPr lang="zh-CN" sz="710" dirty="0">
                  <a:solidFill>
                    <a:srgbClr val="666666"/>
                  </a:solidFill>
                  <a:latin typeface="+mn-lt"/>
                  <a:ea typeface="+mn-ea"/>
                  <a:cs typeface="+mn-cs"/>
                </a:rPr>
                <a:t>（确保标签准确、合规、可用、可持续）</a:t>
              </a:r>
            </a:p>
          </p:txBody>
        </p:sp>
        <p:sp>
          <p:nvSpPr>
            <p:cNvPr id="259" name="Rectangle 259"/>
            <p:cNvSpPr/>
            <p:nvPr/>
          </p:nvSpPr>
          <p:spPr>
            <a:xfrm>
              <a:off x="228600" y="6057900"/>
              <a:ext cx="1447800" cy="723900"/>
            </a:xfrm>
            <a:prstGeom prst="roundRect">
              <a:avLst>
                <a:gd name="adj" fmla="val 7895"/>
              </a:avLst>
            </a:prstGeom>
            <a:solidFill>
              <a:srgbClr val="FFFFFF"/>
            </a:solidFill>
            <a:ln w="9525">
              <a:solidFill>
                <a:srgbClr val="F1C7CC"/>
              </a:solidFill>
            </a:ln>
          </p:spPr>
        </p:sp>
        <p:grpSp>
          <p:nvGrpSpPr>
            <p:cNvPr id="263" name="Group 263"/>
            <p:cNvGrpSpPr/>
            <p:nvPr/>
          </p:nvGrpSpPr>
          <p:grpSpPr>
            <a:xfrm>
              <a:off x="336550" y="6157912"/>
              <a:ext cx="127000" cy="142875"/>
              <a:chOff x="336550" y="6157912"/>
              <a:chExt cx="127000" cy="142875"/>
            </a:xfrm>
          </p:grpSpPr>
          <p:sp>
            <p:nvSpPr>
              <p:cNvPr id="260" name="Freeform 260"/>
              <p:cNvSpPr/>
              <p:nvPr/>
            </p:nvSpPr>
            <p:spPr>
              <a:xfrm>
                <a:off x="336550" y="61579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C83210"/>
                </a:solidFill>
              </a:ln>
            </p:spPr>
          </p:sp>
          <p:sp>
            <p:nvSpPr>
              <p:cNvPr id="261" name="Freeform 261"/>
              <p:cNvSpPr/>
              <p:nvPr/>
            </p:nvSpPr>
            <p:spPr>
              <a:xfrm>
                <a:off x="336550" y="61817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C83210"/>
                </a:solidFill>
              </a:ln>
            </p:spPr>
          </p:sp>
          <p:sp>
            <p:nvSpPr>
              <p:cNvPr id="262" name="Freeform 262"/>
              <p:cNvSpPr/>
              <p:nvPr/>
            </p:nvSpPr>
            <p:spPr>
              <a:xfrm>
                <a:off x="336550" y="62293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C83210"/>
                </a:solidFill>
              </a:ln>
            </p:spPr>
          </p:sp>
        </p:grpSp>
        <p:sp>
          <p:nvSpPr>
            <p:cNvPr id="264" name="TextBox 264"/>
            <p:cNvSpPr txBox="1"/>
            <p:nvPr/>
          </p:nvSpPr>
          <p:spPr>
            <a:xfrm>
              <a:off x="547688" y="618243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数据来源</a:t>
              </a:r>
            </a:p>
          </p:txBody>
        </p:sp>
        <p:sp>
          <p:nvSpPr>
            <p:cNvPr id="265" name="TextBox 265"/>
            <p:cNvSpPr txBox="1"/>
            <p:nvPr/>
          </p:nvSpPr>
          <p:spPr>
            <a:xfrm>
              <a:off x="547688" y="6331982"/>
              <a:ext cx="430352"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核心系统</a:t>
              </a:r>
            </a:p>
          </p:txBody>
        </p:sp>
        <p:sp>
          <p:nvSpPr>
            <p:cNvPr id="266" name="TextBox 266"/>
            <p:cNvSpPr txBox="1"/>
            <p:nvPr/>
          </p:nvSpPr>
          <p:spPr>
            <a:xfrm>
              <a:off x="547688" y="64462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企微互动数据</a:t>
              </a:r>
            </a:p>
          </p:txBody>
        </p:sp>
        <p:sp>
          <p:nvSpPr>
            <p:cNvPr id="267" name="TextBox 267"/>
            <p:cNvSpPr txBox="1"/>
            <p:nvPr/>
          </p:nvSpPr>
          <p:spPr>
            <a:xfrm>
              <a:off x="547688" y="65605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线上渠道数据</a:t>
              </a:r>
            </a:p>
          </p:txBody>
        </p:sp>
        <p:sp>
          <p:nvSpPr>
            <p:cNvPr id="268" name="TextBox 268"/>
            <p:cNvSpPr txBox="1"/>
            <p:nvPr/>
          </p:nvSpPr>
          <p:spPr>
            <a:xfrm>
              <a:off x="547688" y="6674882"/>
              <a:ext cx="430352"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人工补充</a:t>
              </a:r>
            </a:p>
          </p:txBody>
        </p:sp>
        <p:sp>
          <p:nvSpPr>
            <p:cNvPr id="269" name="Rectangle 269"/>
            <p:cNvSpPr/>
            <p:nvPr/>
          </p:nvSpPr>
          <p:spPr>
            <a:xfrm>
              <a:off x="1752600" y="6057900"/>
              <a:ext cx="1447800" cy="723900"/>
            </a:xfrm>
            <a:prstGeom prst="roundRect">
              <a:avLst>
                <a:gd name="adj" fmla="val 7895"/>
              </a:avLst>
            </a:prstGeom>
            <a:solidFill>
              <a:srgbClr val="FFFFFF"/>
            </a:solidFill>
            <a:ln w="9525">
              <a:solidFill>
                <a:srgbClr val="F1C7CC"/>
              </a:solidFill>
            </a:ln>
          </p:spPr>
        </p:sp>
        <p:grpSp>
          <p:nvGrpSpPr>
            <p:cNvPr id="272" name="Group 272"/>
            <p:cNvGrpSpPr/>
            <p:nvPr/>
          </p:nvGrpSpPr>
          <p:grpSpPr>
            <a:xfrm>
              <a:off x="1852612" y="6157912"/>
              <a:ext cx="142875" cy="142875"/>
              <a:chOff x="1852612" y="6157912"/>
              <a:chExt cx="142875" cy="142875"/>
            </a:xfrm>
          </p:grpSpPr>
          <p:sp>
            <p:nvSpPr>
              <p:cNvPr id="270" name="Freeform 270"/>
              <p:cNvSpPr/>
              <p:nvPr/>
            </p:nvSpPr>
            <p:spPr>
              <a:xfrm>
                <a:off x="1852612" y="61579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C83210"/>
                </a:solidFill>
              </a:ln>
            </p:spPr>
          </p:sp>
          <p:sp>
            <p:nvSpPr>
              <p:cNvPr id="271" name="Freeform 271"/>
              <p:cNvSpPr/>
              <p:nvPr/>
            </p:nvSpPr>
            <p:spPr>
              <a:xfrm>
                <a:off x="1924050" y="6189662"/>
                <a:ext cx="23812" cy="63500"/>
              </a:xfrm>
              <a:custGeom>
                <a:avLst/>
                <a:gdLst/>
                <a:ahLst/>
                <a:cxnLst/>
                <a:rect l="l" t="t" r="r" b="b"/>
                <a:pathLst>
                  <a:path w="23812" h="63500">
                    <a:moveTo>
                      <a:pt x="0" y="0"/>
                    </a:moveTo>
                    <a:lnTo>
                      <a:pt x="0" y="39687"/>
                    </a:lnTo>
                    <a:lnTo>
                      <a:pt x="23812" y="63500"/>
                    </a:lnTo>
                  </a:path>
                </a:pathLst>
              </a:custGeom>
              <a:noFill/>
              <a:ln w="15875">
                <a:solidFill>
                  <a:srgbClr val="C83210"/>
                </a:solidFill>
              </a:ln>
            </p:spPr>
          </p:sp>
        </p:grpSp>
        <p:sp>
          <p:nvSpPr>
            <p:cNvPr id="273" name="TextBox 273"/>
            <p:cNvSpPr txBox="1"/>
            <p:nvPr/>
          </p:nvSpPr>
          <p:spPr>
            <a:xfrm>
              <a:off x="2071688" y="618243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更新频率</a:t>
              </a:r>
            </a:p>
          </p:txBody>
        </p:sp>
        <p:sp>
          <p:nvSpPr>
            <p:cNvPr id="274" name="TextBox 274"/>
            <p:cNvSpPr txBox="1"/>
            <p:nvPr/>
          </p:nvSpPr>
          <p:spPr>
            <a:xfrm>
              <a:off x="2071688" y="6331982"/>
              <a:ext cx="774979"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实时：行为类标签</a:t>
              </a:r>
            </a:p>
          </p:txBody>
        </p:sp>
        <p:sp>
          <p:nvSpPr>
            <p:cNvPr id="275" name="TextBox 275"/>
            <p:cNvSpPr txBox="1"/>
            <p:nvPr/>
          </p:nvSpPr>
          <p:spPr>
            <a:xfrm>
              <a:off x="2071688" y="6446282"/>
              <a:ext cx="86113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每日：资产、产品类</a:t>
              </a:r>
            </a:p>
          </p:txBody>
        </p:sp>
        <p:sp>
          <p:nvSpPr>
            <p:cNvPr id="276" name="TextBox 276"/>
            <p:cNvSpPr txBox="1"/>
            <p:nvPr/>
          </p:nvSpPr>
          <p:spPr>
            <a:xfrm>
              <a:off x="2071688" y="6560582"/>
              <a:ext cx="774979"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每周：关系状态类</a:t>
              </a:r>
            </a:p>
          </p:txBody>
        </p:sp>
        <p:sp>
          <p:nvSpPr>
            <p:cNvPr id="277" name="TextBox 277"/>
            <p:cNvSpPr txBox="1"/>
            <p:nvPr/>
          </p:nvSpPr>
          <p:spPr>
            <a:xfrm>
              <a:off x="2071688" y="6674882"/>
              <a:ext cx="774979"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每月：基础属性类</a:t>
              </a:r>
            </a:p>
          </p:txBody>
        </p:sp>
        <p:sp>
          <p:nvSpPr>
            <p:cNvPr id="278" name="Rectangle 278"/>
            <p:cNvSpPr/>
            <p:nvPr/>
          </p:nvSpPr>
          <p:spPr>
            <a:xfrm>
              <a:off x="3276600" y="6057900"/>
              <a:ext cx="1447800" cy="723900"/>
            </a:xfrm>
            <a:prstGeom prst="roundRect">
              <a:avLst>
                <a:gd name="adj" fmla="val 7895"/>
              </a:avLst>
            </a:prstGeom>
            <a:solidFill>
              <a:srgbClr val="FFFFFF"/>
            </a:solidFill>
            <a:ln w="9525">
              <a:solidFill>
                <a:srgbClr val="F1C7CC"/>
              </a:solidFill>
            </a:ln>
          </p:spPr>
        </p:sp>
        <p:grpSp>
          <p:nvGrpSpPr>
            <p:cNvPr id="285" name="Group 285"/>
            <p:cNvGrpSpPr/>
            <p:nvPr/>
          </p:nvGrpSpPr>
          <p:grpSpPr>
            <a:xfrm>
              <a:off x="3384550" y="6157912"/>
              <a:ext cx="127000" cy="142875"/>
              <a:chOff x="3384550" y="6157912"/>
              <a:chExt cx="127000" cy="142875"/>
            </a:xfrm>
          </p:grpSpPr>
          <p:sp>
            <p:nvSpPr>
              <p:cNvPr id="279" name="Freeform 279"/>
              <p:cNvSpPr/>
              <p:nvPr/>
            </p:nvSpPr>
            <p:spPr>
              <a:xfrm>
                <a:off x="3384550" y="61737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C83210"/>
                </a:solidFill>
              </a:ln>
            </p:spPr>
          </p:sp>
          <p:sp>
            <p:nvSpPr>
              <p:cNvPr id="280" name="Freeform 280"/>
              <p:cNvSpPr/>
              <p:nvPr/>
            </p:nvSpPr>
            <p:spPr>
              <a:xfrm>
                <a:off x="3479800" y="6157912"/>
                <a:ext cx="9525" cy="31750"/>
              </a:xfrm>
              <a:custGeom>
                <a:avLst/>
                <a:gdLst/>
                <a:ahLst/>
                <a:cxnLst/>
                <a:rect l="l" t="t" r="r" b="b"/>
                <a:pathLst>
                  <a:path w="9525" h="31750">
                    <a:moveTo>
                      <a:pt x="0" y="0"/>
                    </a:moveTo>
                    <a:lnTo>
                      <a:pt x="0" y="31750"/>
                    </a:lnTo>
                  </a:path>
                </a:pathLst>
              </a:custGeom>
              <a:noFill/>
              <a:ln w="15875">
                <a:solidFill>
                  <a:srgbClr val="C83210"/>
                </a:solidFill>
              </a:ln>
            </p:spPr>
          </p:sp>
          <p:sp>
            <p:nvSpPr>
              <p:cNvPr id="281" name="Freeform 281"/>
              <p:cNvSpPr/>
              <p:nvPr/>
            </p:nvSpPr>
            <p:spPr>
              <a:xfrm>
                <a:off x="3416300" y="6157912"/>
                <a:ext cx="9525" cy="31750"/>
              </a:xfrm>
              <a:custGeom>
                <a:avLst/>
                <a:gdLst/>
                <a:ahLst/>
                <a:cxnLst/>
                <a:rect l="l" t="t" r="r" b="b"/>
                <a:pathLst>
                  <a:path w="9525" h="31750">
                    <a:moveTo>
                      <a:pt x="0" y="0"/>
                    </a:moveTo>
                    <a:lnTo>
                      <a:pt x="0" y="31750"/>
                    </a:lnTo>
                  </a:path>
                </a:pathLst>
              </a:custGeom>
              <a:noFill/>
              <a:ln w="15875">
                <a:solidFill>
                  <a:srgbClr val="C83210"/>
                </a:solidFill>
              </a:ln>
            </p:spPr>
          </p:sp>
          <p:sp>
            <p:nvSpPr>
              <p:cNvPr id="282" name="Freeform 282"/>
              <p:cNvSpPr/>
              <p:nvPr/>
            </p:nvSpPr>
            <p:spPr>
              <a:xfrm>
                <a:off x="3384550" y="6221412"/>
                <a:ext cx="127000" cy="9525"/>
              </a:xfrm>
              <a:custGeom>
                <a:avLst/>
                <a:gdLst/>
                <a:ahLst/>
                <a:cxnLst/>
                <a:rect l="l" t="t" r="r" b="b"/>
                <a:pathLst>
                  <a:path w="127000" h="9525">
                    <a:moveTo>
                      <a:pt x="0" y="0"/>
                    </a:moveTo>
                    <a:lnTo>
                      <a:pt x="127000" y="0"/>
                    </a:lnTo>
                  </a:path>
                </a:pathLst>
              </a:custGeom>
              <a:noFill/>
              <a:ln w="15875">
                <a:solidFill>
                  <a:srgbClr val="C83210"/>
                </a:solidFill>
              </a:ln>
            </p:spPr>
          </p:sp>
          <p:sp>
            <p:nvSpPr>
              <p:cNvPr id="283" name="Freeform 283"/>
              <p:cNvSpPr/>
              <p:nvPr/>
            </p:nvSpPr>
            <p:spPr>
              <a:xfrm>
                <a:off x="3440112" y="6253162"/>
                <a:ext cx="9525" cy="9525"/>
              </a:xfrm>
              <a:custGeom>
                <a:avLst/>
                <a:gdLst/>
                <a:ahLst/>
                <a:cxnLst/>
                <a:rect l="l" t="t" r="r" b="b"/>
                <a:pathLst>
                  <a:path w="9525" h="9525">
                    <a:moveTo>
                      <a:pt x="0" y="0"/>
                    </a:moveTo>
                    <a:lnTo>
                      <a:pt x="7937" y="0"/>
                    </a:lnTo>
                  </a:path>
                </a:pathLst>
              </a:custGeom>
              <a:noFill/>
              <a:ln w="15875">
                <a:solidFill>
                  <a:srgbClr val="C83210"/>
                </a:solidFill>
              </a:ln>
            </p:spPr>
          </p:sp>
          <p:sp>
            <p:nvSpPr>
              <p:cNvPr id="284" name="Freeform 284"/>
              <p:cNvSpPr/>
              <p:nvPr/>
            </p:nvSpPr>
            <p:spPr>
              <a:xfrm>
                <a:off x="3448050" y="6253162"/>
                <a:ext cx="9525" cy="23812"/>
              </a:xfrm>
              <a:custGeom>
                <a:avLst/>
                <a:gdLst/>
                <a:ahLst/>
                <a:cxnLst/>
                <a:rect l="l" t="t" r="r" b="b"/>
                <a:pathLst>
                  <a:path w="9525" h="23812">
                    <a:moveTo>
                      <a:pt x="0" y="0"/>
                    </a:moveTo>
                    <a:lnTo>
                      <a:pt x="0" y="23812"/>
                    </a:lnTo>
                  </a:path>
                </a:pathLst>
              </a:custGeom>
              <a:noFill/>
              <a:ln w="15875">
                <a:solidFill>
                  <a:srgbClr val="C83210"/>
                </a:solidFill>
              </a:ln>
            </p:spPr>
          </p:sp>
        </p:grpSp>
        <p:sp>
          <p:nvSpPr>
            <p:cNvPr id="286" name="TextBox 286"/>
            <p:cNvSpPr txBox="1"/>
            <p:nvPr/>
          </p:nvSpPr>
          <p:spPr>
            <a:xfrm>
              <a:off x="3595688" y="6182439"/>
              <a:ext cx="32857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有效期</a:t>
              </a:r>
            </a:p>
          </p:txBody>
        </p:sp>
        <p:sp>
          <p:nvSpPr>
            <p:cNvPr id="287" name="TextBox 287"/>
            <p:cNvSpPr txBox="1"/>
            <p:nvPr/>
          </p:nvSpPr>
          <p:spPr>
            <a:xfrm>
              <a:off x="3595688" y="6331982"/>
              <a:ext cx="955909"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 xml:space="preserve">动态标签：一般90天　</a:t>
              </a:r>
            </a:p>
          </p:txBody>
        </p:sp>
        <p:sp>
          <p:nvSpPr>
            <p:cNvPr id="288" name="TextBox 288"/>
            <p:cNvSpPr txBox="1"/>
            <p:nvPr/>
          </p:nvSpPr>
          <p:spPr>
            <a:xfrm>
              <a:off x="3595688" y="6446282"/>
              <a:ext cx="86113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静态标签：长期有效</a:t>
              </a:r>
            </a:p>
          </p:txBody>
        </p:sp>
        <p:sp>
          <p:nvSpPr>
            <p:cNvPr id="289" name="TextBox 289"/>
            <p:cNvSpPr txBox="1"/>
            <p:nvPr/>
          </p:nvSpPr>
          <p:spPr>
            <a:xfrm>
              <a:off x="3595688" y="65605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过期自动失效</a:t>
              </a:r>
            </a:p>
          </p:txBody>
        </p:sp>
        <p:sp>
          <p:nvSpPr>
            <p:cNvPr id="290" name="TextBox 290"/>
            <p:cNvSpPr txBox="1"/>
            <p:nvPr/>
          </p:nvSpPr>
          <p:spPr>
            <a:xfrm>
              <a:off x="3595688" y="6674882"/>
              <a:ext cx="774979"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支持历史版本追溯</a:t>
              </a:r>
            </a:p>
          </p:txBody>
        </p:sp>
        <p:sp>
          <p:nvSpPr>
            <p:cNvPr id="291" name="Rectangle 291"/>
            <p:cNvSpPr/>
            <p:nvPr/>
          </p:nvSpPr>
          <p:spPr>
            <a:xfrm>
              <a:off x="4800600" y="6057900"/>
              <a:ext cx="1447800" cy="723900"/>
            </a:xfrm>
            <a:prstGeom prst="roundRect">
              <a:avLst>
                <a:gd name="adj" fmla="val 7895"/>
              </a:avLst>
            </a:prstGeom>
            <a:solidFill>
              <a:srgbClr val="FFFFFF"/>
            </a:solidFill>
            <a:ln w="9525">
              <a:solidFill>
                <a:srgbClr val="F1C7CC"/>
              </a:solidFill>
            </a:ln>
          </p:spPr>
        </p:sp>
        <p:grpSp>
          <p:nvGrpSpPr>
            <p:cNvPr id="294" name="Group 294"/>
            <p:cNvGrpSpPr/>
            <p:nvPr/>
          </p:nvGrpSpPr>
          <p:grpSpPr>
            <a:xfrm>
              <a:off x="4900612" y="6181725"/>
              <a:ext cx="142875" cy="95250"/>
              <a:chOff x="4900612" y="6181725"/>
              <a:chExt cx="142875" cy="95250"/>
            </a:xfrm>
          </p:grpSpPr>
          <p:sp>
            <p:nvSpPr>
              <p:cNvPr id="292" name="Freeform 292"/>
              <p:cNvSpPr/>
              <p:nvPr/>
            </p:nvSpPr>
            <p:spPr>
              <a:xfrm>
                <a:off x="4932362" y="6181725"/>
                <a:ext cx="111125" cy="31750"/>
              </a:xfrm>
              <a:custGeom>
                <a:avLst/>
                <a:gdLst/>
                <a:ahLst/>
                <a:cxnLst/>
                <a:rect l="l" t="t" r="r" b="b"/>
                <a:pathLst>
                  <a:path w="111125" h="31750">
                    <a:moveTo>
                      <a:pt x="0" y="31750"/>
                    </a:moveTo>
                    <a:lnTo>
                      <a:pt x="111125" y="31750"/>
                    </a:lnTo>
                    <a:lnTo>
                      <a:pt x="79375" y="0"/>
                    </a:lnTo>
                  </a:path>
                </a:pathLst>
              </a:custGeom>
              <a:noFill/>
              <a:ln w="15875">
                <a:solidFill>
                  <a:srgbClr val="C83210"/>
                </a:solidFill>
              </a:ln>
            </p:spPr>
          </p:sp>
          <p:sp>
            <p:nvSpPr>
              <p:cNvPr id="293" name="Freeform 293"/>
              <p:cNvSpPr/>
              <p:nvPr/>
            </p:nvSpPr>
            <p:spPr>
              <a:xfrm>
                <a:off x="4900612" y="6245225"/>
                <a:ext cx="111125" cy="31750"/>
              </a:xfrm>
              <a:custGeom>
                <a:avLst/>
                <a:gdLst/>
                <a:ahLst/>
                <a:cxnLst/>
                <a:rect l="l" t="t" r="r" b="b"/>
                <a:pathLst>
                  <a:path w="111125" h="31750">
                    <a:moveTo>
                      <a:pt x="111125" y="0"/>
                    </a:moveTo>
                    <a:lnTo>
                      <a:pt x="0" y="0"/>
                    </a:lnTo>
                    <a:lnTo>
                      <a:pt x="31750" y="31750"/>
                    </a:lnTo>
                  </a:path>
                </a:pathLst>
              </a:custGeom>
              <a:noFill/>
              <a:ln w="15875">
                <a:solidFill>
                  <a:srgbClr val="C83210"/>
                </a:solidFill>
              </a:ln>
            </p:spPr>
          </p:sp>
        </p:grpSp>
        <p:sp>
          <p:nvSpPr>
            <p:cNvPr id="295" name="TextBox 295"/>
            <p:cNvSpPr txBox="1"/>
            <p:nvPr/>
          </p:nvSpPr>
          <p:spPr>
            <a:xfrm>
              <a:off x="5119688" y="618243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冲突规则</a:t>
              </a:r>
            </a:p>
          </p:txBody>
        </p:sp>
        <p:sp>
          <p:nvSpPr>
            <p:cNvPr id="296" name="TextBox 296"/>
            <p:cNvSpPr txBox="1"/>
            <p:nvPr/>
          </p:nvSpPr>
          <p:spPr>
            <a:xfrm>
              <a:off x="5119688" y="6331982"/>
              <a:ext cx="688823"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以最新数据为准</a:t>
              </a:r>
            </a:p>
          </p:txBody>
        </p:sp>
        <p:sp>
          <p:nvSpPr>
            <p:cNvPr id="297" name="TextBox 297"/>
            <p:cNvSpPr txBox="1"/>
            <p:nvPr/>
          </p:nvSpPr>
          <p:spPr>
            <a:xfrm>
              <a:off x="5119688" y="6446282"/>
              <a:ext cx="1119607"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高优先级标签覆盖低优先级</a:t>
              </a:r>
            </a:p>
          </p:txBody>
        </p:sp>
        <p:sp>
          <p:nvSpPr>
            <p:cNvPr id="298" name="TextBox 298"/>
            <p:cNvSpPr txBox="1"/>
            <p:nvPr/>
          </p:nvSpPr>
          <p:spPr>
            <a:xfrm>
              <a:off x="5119688" y="6560582"/>
              <a:ext cx="86113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人工标注优先级最高</a:t>
              </a:r>
            </a:p>
          </p:txBody>
        </p:sp>
        <p:sp>
          <p:nvSpPr>
            <p:cNvPr id="299" name="TextBox 299"/>
            <p:cNvSpPr txBox="1"/>
            <p:nvPr/>
          </p:nvSpPr>
          <p:spPr>
            <a:xfrm>
              <a:off x="5119688" y="6674882"/>
              <a:ext cx="86113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异常数据进入审核池</a:t>
              </a:r>
            </a:p>
          </p:txBody>
        </p:sp>
        <p:sp>
          <p:nvSpPr>
            <p:cNvPr id="300" name="Rectangle 300"/>
            <p:cNvSpPr/>
            <p:nvPr/>
          </p:nvSpPr>
          <p:spPr>
            <a:xfrm>
              <a:off x="6324600" y="6057900"/>
              <a:ext cx="1524000" cy="723900"/>
            </a:xfrm>
            <a:prstGeom prst="roundRect">
              <a:avLst>
                <a:gd name="adj" fmla="val 7895"/>
              </a:avLst>
            </a:prstGeom>
            <a:solidFill>
              <a:srgbClr val="FFFFFF"/>
            </a:solidFill>
            <a:ln w="9525">
              <a:solidFill>
                <a:srgbClr val="F1C7CC"/>
              </a:solidFill>
            </a:ln>
          </p:spPr>
        </p:sp>
        <p:grpSp>
          <p:nvGrpSpPr>
            <p:cNvPr id="304" name="Group 304"/>
            <p:cNvGrpSpPr/>
            <p:nvPr/>
          </p:nvGrpSpPr>
          <p:grpSpPr>
            <a:xfrm>
              <a:off x="6440487" y="6157912"/>
              <a:ext cx="111125" cy="142875"/>
              <a:chOff x="6440487" y="6157912"/>
              <a:chExt cx="111125" cy="142875"/>
            </a:xfrm>
          </p:grpSpPr>
          <p:sp>
            <p:nvSpPr>
              <p:cNvPr id="301" name="Freeform 301"/>
              <p:cNvSpPr/>
              <p:nvPr/>
            </p:nvSpPr>
            <p:spPr>
              <a:xfrm>
                <a:off x="6440487" y="6221412"/>
                <a:ext cx="111125" cy="79375"/>
              </a:xfrm>
              <a:custGeom>
                <a:avLst/>
                <a:gdLst/>
                <a:ahLst/>
                <a:cxnLst/>
                <a:rect l="l" t="t" r="r" b="b"/>
                <a:pathLst>
                  <a:path w="111125" h="79375">
                    <a:moveTo>
                      <a:pt x="0" y="15875"/>
                    </a:moveTo>
                    <a:cubicBezTo>
                      <a:pt x="0" y="7107"/>
                      <a:pt x="7107" y="0"/>
                      <a:pt x="15875" y="0"/>
                    </a:cubicBezTo>
                    <a:lnTo>
                      <a:pt x="95250" y="0"/>
                    </a:lnTo>
                    <a:cubicBezTo>
                      <a:pt x="104017" y="0"/>
                      <a:pt x="111125" y="7107"/>
                      <a:pt x="111125" y="15875"/>
                    </a:cubicBezTo>
                    <a:lnTo>
                      <a:pt x="111125" y="63500"/>
                    </a:lnTo>
                    <a:cubicBezTo>
                      <a:pt x="111125" y="72267"/>
                      <a:pt x="104017" y="79375"/>
                      <a:pt x="95250" y="79375"/>
                    </a:cubicBezTo>
                    <a:lnTo>
                      <a:pt x="15875" y="79375"/>
                    </a:lnTo>
                    <a:cubicBezTo>
                      <a:pt x="7107" y="79375"/>
                      <a:pt x="0" y="72267"/>
                      <a:pt x="0" y="63500"/>
                    </a:cubicBezTo>
                    <a:lnTo>
                      <a:pt x="0" y="15875"/>
                    </a:lnTo>
                  </a:path>
                </a:pathLst>
              </a:custGeom>
              <a:noFill/>
              <a:ln w="15875">
                <a:solidFill>
                  <a:srgbClr val="C83210"/>
                </a:solidFill>
              </a:ln>
            </p:spPr>
          </p:sp>
          <p:sp>
            <p:nvSpPr>
              <p:cNvPr id="302" name="Freeform 302"/>
              <p:cNvSpPr/>
              <p:nvPr/>
            </p:nvSpPr>
            <p:spPr>
              <a:xfrm>
                <a:off x="6488112" y="62531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C83210"/>
                </a:solidFill>
              </a:ln>
            </p:spPr>
          </p:sp>
          <p:sp>
            <p:nvSpPr>
              <p:cNvPr id="303" name="Freeform 303"/>
              <p:cNvSpPr/>
              <p:nvPr/>
            </p:nvSpPr>
            <p:spPr>
              <a:xfrm>
                <a:off x="6464300" y="6157912"/>
                <a:ext cx="63500" cy="63500"/>
              </a:xfrm>
              <a:custGeom>
                <a:avLst/>
                <a:gdLst/>
                <a:ahLst/>
                <a:cxnLst/>
                <a:rect l="l" t="t" r="r" b="b"/>
                <a:pathLst>
                  <a:path w="63500" h="63500">
                    <a:moveTo>
                      <a:pt x="0" y="63500"/>
                    </a:moveTo>
                    <a:lnTo>
                      <a:pt x="0" y="31750"/>
                    </a:lnTo>
                    <a:cubicBezTo>
                      <a:pt x="0" y="14215"/>
                      <a:pt x="14215" y="0"/>
                      <a:pt x="31750" y="0"/>
                    </a:cubicBezTo>
                    <a:cubicBezTo>
                      <a:pt x="49285" y="0"/>
                      <a:pt x="63500" y="14215"/>
                      <a:pt x="63500" y="31750"/>
                    </a:cubicBezTo>
                    <a:lnTo>
                      <a:pt x="63500" y="63500"/>
                    </a:lnTo>
                  </a:path>
                </a:pathLst>
              </a:custGeom>
              <a:noFill/>
              <a:ln w="15875">
                <a:solidFill>
                  <a:srgbClr val="C83210"/>
                </a:solidFill>
              </a:ln>
            </p:spPr>
          </p:sp>
        </p:grpSp>
        <p:sp>
          <p:nvSpPr>
            <p:cNvPr id="305" name="TextBox 305"/>
            <p:cNvSpPr txBox="1"/>
            <p:nvPr/>
          </p:nvSpPr>
          <p:spPr>
            <a:xfrm>
              <a:off x="6643688" y="618243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权限管理</a:t>
              </a:r>
            </a:p>
          </p:txBody>
        </p:sp>
        <p:sp>
          <p:nvSpPr>
            <p:cNvPr id="306" name="TextBox 306"/>
            <p:cNvSpPr txBox="1"/>
            <p:nvPr/>
          </p:nvSpPr>
          <p:spPr>
            <a:xfrm>
              <a:off x="6643688" y="6331982"/>
              <a:ext cx="688823"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按角色分级查看</a:t>
              </a:r>
            </a:p>
          </p:txBody>
        </p:sp>
        <p:sp>
          <p:nvSpPr>
            <p:cNvPr id="307" name="TextBox 307"/>
            <p:cNvSpPr txBox="1"/>
            <p:nvPr/>
          </p:nvSpPr>
          <p:spPr>
            <a:xfrm>
              <a:off x="6643688" y="6446282"/>
              <a:ext cx="774979"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敏感标签脱敏显示</a:t>
              </a:r>
            </a:p>
          </p:txBody>
        </p:sp>
        <p:sp>
          <p:nvSpPr>
            <p:cNvPr id="308" name="TextBox 308"/>
            <p:cNvSpPr txBox="1"/>
            <p:nvPr/>
          </p:nvSpPr>
          <p:spPr>
            <a:xfrm>
              <a:off x="6643688" y="6560582"/>
              <a:ext cx="774979"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仅授权人员可导出</a:t>
              </a:r>
            </a:p>
          </p:txBody>
        </p:sp>
        <p:sp>
          <p:nvSpPr>
            <p:cNvPr id="309" name="TextBox 309"/>
            <p:cNvSpPr txBox="1"/>
            <p:nvPr/>
          </p:nvSpPr>
          <p:spPr>
            <a:xfrm>
              <a:off x="6643688" y="6674882"/>
              <a:ext cx="774979"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全程操作日志留痕</a:t>
              </a:r>
            </a:p>
          </p:txBody>
        </p:sp>
      </p:grpSp>
      <p:grpSp>
        <p:nvGrpSpPr>
          <p:cNvPr id="334" name="tag-value"/>
          <p:cNvGrpSpPr/>
          <p:nvPr/>
        </p:nvGrpSpPr>
        <p:grpSpPr>
          <a:xfrm>
            <a:off x="8077200" y="5867400"/>
            <a:ext cx="3897403" cy="811339"/>
            <a:chOff x="8077200" y="5867400"/>
            <a:chExt cx="3897403" cy="811339"/>
          </a:xfrm>
        </p:grpSpPr>
        <p:sp>
          <p:nvSpPr>
            <p:cNvPr id="311" name="Rectangle 311"/>
            <p:cNvSpPr/>
            <p:nvPr/>
          </p:nvSpPr>
          <p:spPr>
            <a:xfrm>
              <a:off x="8077200" y="5867400"/>
              <a:ext cx="38100" cy="152400"/>
            </a:xfrm>
            <a:prstGeom prst="rect">
              <a:avLst/>
            </a:prstGeom>
            <a:solidFill>
              <a:srgbClr val="C83210"/>
            </a:solidFill>
            <a:ln>
              <a:noFill/>
            </a:ln>
          </p:spPr>
        </p:sp>
        <p:sp>
          <p:nvSpPr>
            <p:cNvPr id="312" name="TextBox 312"/>
            <p:cNvSpPr txBox="1"/>
            <p:nvPr/>
          </p:nvSpPr>
          <p:spPr>
            <a:xfrm>
              <a:off x="8167688" y="5894070"/>
              <a:ext cx="736473"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标签应用价值</a:t>
              </a:r>
            </a:p>
          </p:txBody>
        </p:sp>
        <p:grpSp>
          <p:nvGrpSpPr>
            <p:cNvPr id="316" name="Group 316"/>
            <p:cNvGrpSpPr/>
            <p:nvPr/>
          </p:nvGrpSpPr>
          <p:grpSpPr>
            <a:xfrm>
              <a:off x="8146256" y="6279356"/>
              <a:ext cx="185737" cy="185737"/>
              <a:chOff x="8146256" y="6279356"/>
              <a:chExt cx="185737" cy="185737"/>
            </a:xfrm>
          </p:grpSpPr>
          <p:sp>
            <p:nvSpPr>
              <p:cNvPr id="313" name="Freeform 313"/>
              <p:cNvSpPr/>
              <p:nvPr/>
            </p:nvSpPr>
            <p:spPr>
              <a:xfrm>
                <a:off x="8228806" y="636190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C83210"/>
                </a:solidFill>
              </a:ln>
            </p:spPr>
          </p:sp>
          <p:sp>
            <p:nvSpPr>
              <p:cNvPr id="314" name="Freeform 314"/>
              <p:cNvSpPr/>
              <p:nvPr/>
            </p:nvSpPr>
            <p:spPr>
              <a:xfrm>
                <a:off x="8187531" y="632063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C83210"/>
                </a:solidFill>
              </a:ln>
            </p:spPr>
          </p:sp>
          <p:sp>
            <p:nvSpPr>
              <p:cNvPr id="315" name="Freeform 315"/>
              <p:cNvSpPr/>
              <p:nvPr/>
            </p:nvSpPr>
            <p:spPr>
              <a:xfrm>
                <a:off x="8146256" y="62793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83210"/>
                </a:solidFill>
              </a:ln>
            </p:spPr>
          </p:sp>
        </p:grpSp>
        <p:sp>
          <p:nvSpPr>
            <p:cNvPr id="317" name="TextBox 317"/>
            <p:cNvSpPr txBox="1"/>
            <p:nvPr/>
          </p:nvSpPr>
          <p:spPr>
            <a:xfrm>
              <a:off x="8415338" y="6156484"/>
              <a:ext cx="467233"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营销转化率</a:t>
              </a:r>
            </a:p>
          </p:txBody>
        </p:sp>
        <p:sp>
          <p:nvSpPr>
            <p:cNvPr id="318" name="TextBox 318"/>
            <p:cNvSpPr txBox="1"/>
            <p:nvPr/>
          </p:nvSpPr>
          <p:spPr>
            <a:xfrm>
              <a:off x="8411718" y="6356032"/>
              <a:ext cx="591085" cy="322707"/>
            </a:xfrm>
            <a:prstGeom prst="rect">
              <a:avLst/>
            </a:prstGeom>
            <a:noFill/>
            <a:ln>
              <a:noFill/>
            </a:ln>
          </p:spPr>
          <p:txBody>
            <a:bodyPr wrap="none" lIns="0" tIns="0" rIns="0" bIns="0" anchor="t" anchorCtr="0">
              <a:spAutoFit/>
            </a:bodyPr>
            <a:lstStyle/>
            <a:p>
              <a:pPr algn="l"/>
              <a:r>
                <a:rPr lang="zh-CN" sz="1650" b="1" dirty="0">
                  <a:solidFill>
                    <a:srgbClr val="C83210"/>
                  </a:solidFill>
                  <a:latin typeface="Arial"/>
                  <a:ea typeface="Arial"/>
                  <a:cs typeface="Arial"/>
                </a:rPr>
                <a:t>+35%</a:t>
              </a:r>
            </a:p>
          </p:txBody>
        </p:sp>
        <p:grpSp>
          <p:nvGrpSpPr>
            <p:cNvPr id="323" name="Group 323"/>
            <p:cNvGrpSpPr/>
            <p:nvPr/>
          </p:nvGrpSpPr>
          <p:grpSpPr>
            <a:xfrm>
              <a:off x="9136856" y="6279356"/>
              <a:ext cx="185737" cy="185738"/>
              <a:chOff x="9136856" y="6279356"/>
              <a:chExt cx="185737" cy="185738"/>
            </a:xfrm>
          </p:grpSpPr>
          <p:sp>
            <p:nvSpPr>
              <p:cNvPr id="319" name="Freeform 319"/>
              <p:cNvSpPr/>
              <p:nvPr/>
            </p:nvSpPr>
            <p:spPr>
              <a:xfrm>
                <a:off x="9157494" y="62793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83210"/>
                </a:solidFill>
              </a:ln>
            </p:spPr>
          </p:sp>
          <p:sp>
            <p:nvSpPr>
              <p:cNvPr id="320" name="Freeform 320"/>
              <p:cNvSpPr/>
              <p:nvPr/>
            </p:nvSpPr>
            <p:spPr>
              <a:xfrm>
                <a:off x="9136856" y="64031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83210"/>
                </a:solidFill>
              </a:ln>
            </p:spPr>
          </p:sp>
          <p:sp>
            <p:nvSpPr>
              <p:cNvPr id="321" name="Freeform 321"/>
              <p:cNvSpPr/>
              <p:nvPr/>
            </p:nvSpPr>
            <p:spPr>
              <a:xfrm>
                <a:off x="9270999" y="62806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83210"/>
                </a:solidFill>
              </a:ln>
            </p:spPr>
          </p:sp>
          <p:sp>
            <p:nvSpPr>
              <p:cNvPr id="322" name="Freeform 322"/>
              <p:cNvSpPr/>
              <p:nvPr/>
            </p:nvSpPr>
            <p:spPr>
              <a:xfrm>
                <a:off x="9291637" y="64047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83210"/>
                </a:solidFill>
              </a:ln>
            </p:spPr>
          </p:sp>
        </p:grpSp>
        <p:sp>
          <p:nvSpPr>
            <p:cNvPr id="324" name="TextBox 324"/>
            <p:cNvSpPr txBox="1"/>
            <p:nvPr/>
          </p:nvSpPr>
          <p:spPr>
            <a:xfrm>
              <a:off x="9405938" y="6156484"/>
              <a:ext cx="467233"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客户响应率</a:t>
              </a:r>
            </a:p>
          </p:txBody>
        </p:sp>
        <p:sp>
          <p:nvSpPr>
            <p:cNvPr id="325" name="TextBox 325"/>
            <p:cNvSpPr txBox="1"/>
            <p:nvPr/>
          </p:nvSpPr>
          <p:spPr>
            <a:xfrm>
              <a:off x="9402318" y="6356032"/>
              <a:ext cx="591085" cy="322707"/>
            </a:xfrm>
            <a:prstGeom prst="rect">
              <a:avLst/>
            </a:prstGeom>
            <a:noFill/>
            <a:ln>
              <a:noFill/>
            </a:ln>
          </p:spPr>
          <p:txBody>
            <a:bodyPr wrap="none" lIns="0" tIns="0" rIns="0" bIns="0" anchor="t" anchorCtr="0">
              <a:spAutoFit/>
            </a:bodyPr>
            <a:lstStyle/>
            <a:p>
              <a:pPr algn="l"/>
              <a:r>
                <a:rPr lang="zh-CN" sz="1650" b="1" dirty="0">
                  <a:solidFill>
                    <a:srgbClr val="C83210"/>
                  </a:solidFill>
                  <a:latin typeface="Arial"/>
                  <a:ea typeface="Arial"/>
                  <a:cs typeface="Arial"/>
                </a:rPr>
                <a:t>+50%</a:t>
              </a:r>
            </a:p>
          </p:txBody>
        </p:sp>
        <p:grpSp>
          <p:nvGrpSpPr>
            <p:cNvPr id="328" name="Group 328"/>
            <p:cNvGrpSpPr/>
            <p:nvPr/>
          </p:nvGrpSpPr>
          <p:grpSpPr>
            <a:xfrm>
              <a:off x="10137775" y="6310312"/>
              <a:ext cx="165099" cy="143669"/>
              <a:chOff x="10137775" y="6310312"/>
              <a:chExt cx="165099" cy="143669"/>
            </a:xfrm>
          </p:grpSpPr>
          <p:sp>
            <p:nvSpPr>
              <p:cNvPr id="326" name="Freeform 326"/>
              <p:cNvSpPr/>
              <p:nvPr/>
            </p:nvSpPr>
            <p:spPr>
              <a:xfrm>
                <a:off x="10137775" y="6444456"/>
                <a:ext cx="165099" cy="9525"/>
              </a:xfrm>
              <a:custGeom>
                <a:avLst/>
                <a:gdLst/>
                <a:ahLst/>
                <a:cxnLst/>
                <a:rect l="l" t="t" r="r" b="b"/>
                <a:pathLst>
                  <a:path w="165099" h="9525">
                    <a:moveTo>
                      <a:pt x="0" y="0"/>
                    </a:moveTo>
                    <a:lnTo>
                      <a:pt x="165099" y="0"/>
                    </a:lnTo>
                  </a:path>
                </a:pathLst>
              </a:custGeom>
              <a:noFill/>
              <a:ln w="20637">
                <a:solidFill>
                  <a:srgbClr val="C83210"/>
                </a:solidFill>
              </a:ln>
            </p:spPr>
          </p:sp>
          <p:sp>
            <p:nvSpPr>
              <p:cNvPr id="327" name="Freeform 327"/>
              <p:cNvSpPr/>
              <p:nvPr/>
            </p:nvSpPr>
            <p:spPr>
              <a:xfrm>
                <a:off x="10137775" y="6310312"/>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20637">
                <a:solidFill>
                  <a:srgbClr val="C83210"/>
                </a:solidFill>
              </a:ln>
            </p:spPr>
          </p:sp>
        </p:grpSp>
        <p:sp>
          <p:nvSpPr>
            <p:cNvPr id="329" name="TextBox 329"/>
            <p:cNvSpPr txBox="1"/>
            <p:nvPr/>
          </p:nvSpPr>
          <p:spPr>
            <a:xfrm>
              <a:off x="10396538" y="6156484"/>
              <a:ext cx="65031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客户资产提升率</a:t>
              </a:r>
            </a:p>
          </p:txBody>
        </p:sp>
        <p:sp>
          <p:nvSpPr>
            <p:cNvPr id="330" name="TextBox 330"/>
            <p:cNvSpPr txBox="1"/>
            <p:nvPr/>
          </p:nvSpPr>
          <p:spPr>
            <a:xfrm>
              <a:off x="10392918" y="6356032"/>
              <a:ext cx="591085" cy="322707"/>
            </a:xfrm>
            <a:prstGeom prst="rect">
              <a:avLst/>
            </a:prstGeom>
            <a:noFill/>
            <a:ln>
              <a:noFill/>
            </a:ln>
          </p:spPr>
          <p:txBody>
            <a:bodyPr wrap="none" lIns="0" tIns="0" rIns="0" bIns="0" anchor="t" anchorCtr="0">
              <a:spAutoFit/>
            </a:bodyPr>
            <a:lstStyle/>
            <a:p>
              <a:pPr algn="l"/>
              <a:r>
                <a:rPr lang="zh-CN" sz="1650" b="1" dirty="0">
                  <a:solidFill>
                    <a:srgbClr val="C83210"/>
                  </a:solidFill>
                  <a:latin typeface="Arial"/>
                  <a:ea typeface="Arial"/>
                  <a:cs typeface="Arial"/>
                </a:rPr>
                <a:t>+28%</a:t>
              </a:r>
            </a:p>
          </p:txBody>
        </p:sp>
        <p:sp>
          <p:nvSpPr>
            <p:cNvPr id="331" name="Freeform 331"/>
            <p:cNvSpPr/>
            <p:nvPr/>
          </p:nvSpPr>
          <p:spPr>
            <a:xfrm>
              <a:off x="11114483" y="6287028"/>
              <a:ext cx="192696" cy="167747"/>
            </a:xfrm>
            <a:custGeom>
              <a:avLst/>
              <a:gdLst/>
              <a:ahLst/>
              <a:cxnLst/>
              <a:rect l="l" t="t" r="r" b="b"/>
              <a:pathLst>
                <a:path w="192696" h="167747">
                  <a:moveTo>
                    <a:pt x="173832" y="91099"/>
                  </a:moveTo>
                  <a:lnTo>
                    <a:pt x="96442" y="167747"/>
                  </a:lnTo>
                  <a:lnTo>
                    <a:pt x="19051" y="91099"/>
                  </a:lnTo>
                  <a:cubicBezTo>
                    <a:pt x="5134" y="77557"/>
                    <a:pt x="0" y="57347"/>
                    <a:pt x="5766" y="38804"/>
                  </a:cubicBezTo>
                  <a:cubicBezTo>
                    <a:pt x="11531" y="20262"/>
                    <a:pt x="27220" y="6526"/>
                    <a:pt x="46362" y="3263"/>
                  </a:cubicBezTo>
                  <a:cubicBezTo>
                    <a:pt x="65505" y="0"/>
                    <a:pt x="84858" y="7761"/>
                    <a:pt x="96442" y="23347"/>
                  </a:cubicBezTo>
                  <a:cubicBezTo>
                    <a:pt x="108074" y="7877"/>
                    <a:pt x="127386" y="218"/>
                    <a:pt x="146458" y="3512"/>
                  </a:cubicBezTo>
                  <a:cubicBezTo>
                    <a:pt x="165531" y="6806"/>
                    <a:pt x="181156" y="20498"/>
                    <a:pt x="186926" y="38973"/>
                  </a:cubicBezTo>
                  <a:cubicBezTo>
                    <a:pt x="192696" y="57448"/>
                    <a:pt x="187640" y="77598"/>
                    <a:pt x="173832" y="91161"/>
                  </a:cubicBezTo>
                </a:path>
              </a:pathLst>
            </a:custGeom>
            <a:noFill/>
            <a:ln w="20637">
              <a:solidFill>
                <a:srgbClr val="C83210"/>
              </a:solidFill>
            </a:ln>
          </p:spPr>
        </p:sp>
        <p:sp>
          <p:nvSpPr>
            <p:cNvPr id="332" name="TextBox 332"/>
            <p:cNvSpPr txBox="1"/>
            <p:nvPr/>
          </p:nvSpPr>
          <p:spPr>
            <a:xfrm>
              <a:off x="11387138" y="6156484"/>
              <a:ext cx="467233"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客户满意度</a:t>
              </a:r>
            </a:p>
          </p:txBody>
        </p:sp>
        <p:sp>
          <p:nvSpPr>
            <p:cNvPr id="333" name="TextBox 333"/>
            <p:cNvSpPr txBox="1"/>
            <p:nvPr/>
          </p:nvSpPr>
          <p:spPr>
            <a:xfrm>
              <a:off x="11383518" y="6356032"/>
              <a:ext cx="591085" cy="322707"/>
            </a:xfrm>
            <a:prstGeom prst="rect">
              <a:avLst/>
            </a:prstGeom>
            <a:noFill/>
            <a:ln>
              <a:noFill/>
            </a:ln>
          </p:spPr>
          <p:txBody>
            <a:bodyPr wrap="none" lIns="0" tIns="0" rIns="0" bIns="0" anchor="t" anchorCtr="0">
              <a:spAutoFit/>
            </a:bodyPr>
            <a:lstStyle/>
            <a:p>
              <a:pPr algn="l"/>
              <a:r>
                <a:rPr lang="zh-CN" sz="1650" b="1" dirty="0">
                  <a:solidFill>
                    <a:srgbClr val="C83210"/>
                  </a:solidFill>
                  <a:latin typeface="Arial"/>
                  <a:ea typeface="Arial"/>
                  <a:cs typeface="Arial"/>
                </a:rPr>
                <a:t>+40%</a:t>
              </a:r>
            </a:p>
          </p:txBody>
        </p:sp>
      </p:gr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06</a:t>
              </a:r>
            </a:p>
          </p:txBody>
        </p:sp>
        <p:sp>
          <p:nvSpPr>
            <p:cNvPr id="4" name="TextBox 4"/>
            <p:cNvSpPr txBox="1"/>
            <p:nvPr/>
          </p:nvSpPr>
          <p:spPr>
            <a:xfrm>
              <a:off x="942594" y="151448"/>
              <a:ext cx="6676644"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长尾经营</a:t>
              </a:r>
              <a:r>
                <a:rPr lang="zh-CN" sz="1950" b="1" dirty="0">
                  <a:solidFill>
                    <a:srgbClr val="222222"/>
                  </a:solidFill>
                  <a:latin typeface="SimSun"/>
                  <a:ea typeface="SimSun"/>
                  <a:cs typeface="SimSun"/>
                </a:rPr>
                <a:t>｜用标准内容和自动旅程覆盖低频低价值客群</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63" name="segment-matrix"/>
          <p:cNvGrpSpPr/>
          <p:nvPr/>
        </p:nvGrpSpPr>
        <p:grpSpPr>
          <a:xfrm>
            <a:off x="171450" y="647700"/>
            <a:ext cx="4800600" cy="3543300"/>
            <a:chOff x="171450" y="647700"/>
            <a:chExt cx="4800600" cy="3543300"/>
          </a:xfrm>
        </p:grpSpPr>
        <p:sp>
          <p:nvSpPr>
            <p:cNvPr id="7" name="Rectangle 7"/>
            <p:cNvSpPr/>
            <p:nvPr/>
          </p:nvSpPr>
          <p:spPr>
            <a:xfrm>
              <a:off x="171450" y="647700"/>
              <a:ext cx="4800600" cy="3543300"/>
            </a:xfrm>
            <a:prstGeom prst="roundRect">
              <a:avLst>
                <a:gd name="adj" fmla="val 1613"/>
              </a:avLst>
            </a:prstGeom>
            <a:solidFill>
              <a:srgbClr val="FFFFFF"/>
            </a:solidFill>
            <a:ln w="9525">
              <a:solidFill>
                <a:srgbClr val="F1C7CC"/>
              </a:solidFill>
            </a:ln>
          </p:spPr>
        </p:sp>
        <p:sp>
          <p:nvSpPr>
            <p:cNvPr id="8" name="Rectangle 8"/>
            <p:cNvSpPr/>
            <p:nvPr/>
          </p:nvSpPr>
          <p:spPr>
            <a:xfrm>
              <a:off x="228600" y="704850"/>
              <a:ext cx="38100" cy="152400"/>
            </a:xfrm>
            <a:prstGeom prst="rect">
              <a:avLst/>
            </a:prstGeom>
            <a:solidFill>
              <a:srgbClr val="C83210"/>
            </a:solidFill>
            <a:ln>
              <a:noFill/>
            </a:ln>
          </p:spPr>
        </p:sp>
        <p:sp>
          <p:nvSpPr>
            <p:cNvPr id="9" name="TextBox 9"/>
            <p:cNvSpPr txBox="1"/>
            <p:nvPr/>
          </p:nvSpPr>
          <p:spPr>
            <a:xfrm>
              <a:off x="318897" y="723424"/>
              <a:ext cx="2543905"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一、客户分层矩阵（客户价值 × 服务强度）</a:t>
              </a:r>
            </a:p>
          </p:txBody>
        </p:sp>
        <p:sp>
          <p:nvSpPr>
            <p:cNvPr id="10" name="Line 10"/>
            <p:cNvSpPr/>
            <p:nvPr/>
          </p:nvSpPr>
          <p:spPr>
            <a:xfrm>
              <a:off x="590550" y="952500"/>
              <a:ext cx="9525" cy="2971800"/>
            </a:xfrm>
            <a:custGeom>
              <a:avLst/>
              <a:gdLst/>
              <a:ahLst/>
              <a:cxnLst/>
              <a:rect l="l" t="t" r="r" b="b"/>
              <a:pathLst>
                <a:path w="9525" h="2971800">
                  <a:moveTo>
                    <a:pt x="0" y="2971800"/>
                  </a:moveTo>
                  <a:lnTo>
                    <a:pt x="0" y="0"/>
                  </a:lnTo>
                </a:path>
              </a:pathLst>
            </a:custGeom>
            <a:noFill/>
            <a:ln w="14288">
              <a:solidFill>
                <a:srgbClr val="C83210"/>
              </a:solidFill>
            </a:ln>
          </p:spPr>
        </p:sp>
        <p:sp>
          <p:nvSpPr>
            <p:cNvPr id="11" name="Polygon 11"/>
            <p:cNvSpPr/>
            <p:nvPr/>
          </p:nvSpPr>
          <p:spPr>
            <a:xfrm>
              <a:off x="542925" y="914400"/>
              <a:ext cx="95250" cy="95250"/>
            </a:xfrm>
            <a:custGeom>
              <a:avLst/>
              <a:gdLst/>
              <a:ahLst/>
              <a:cxnLst/>
              <a:rect l="l" t="t" r="r" b="b"/>
              <a:pathLst>
                <a:path w="95250" h="95250">
                  <a:moveTo>
                    <a:pt x="47625" y="0"/>
                  </a:moveTo>
                  <a:lnTo>
                    <a:pt x="0" y="95250"/>
                  </a:lnTo>
                  <a:lnTo>
                    <a:pt x="95250" y="95250"/>
                  </a:lnTo>
                  <a:close/>
                </a:path>
              </a:pathLst>
            </a:custGeom>
            <a:solidFill>
              <a:srgbClr val="C83210"/>
            </a:solidFill>
            <a:ln>
              <a:noFill/>
            </a:ln>
          </p:spPr>
        </p:sp>
        <p:sp>
          <p:nvSpPr>
            <p:cNvPr id="12" name="Line 12"/>
            <p:cNvSpPr/>
            <p:nvPr/>
          </p:nvSpPr>
          <p:spPr>
            <a:xfrm>
              <a:off x="590550" y="3924300"/>
              <a:ext cx="4305300" cy="9525"/>
            </a:xfrm>
            <a:custGeom>
              <a:avLst/>
              <a:gdLst/>
              <a:ahLst/>
              <a:cxnLst/>
              <a:rect l="l" t="t" r="r" b="b"/>
              <a:pathLst>
                <a:path w="4305300" h="9525">
                  <a:moveTo>
                    <a:pt x="0" y="0"/>
                  </a:moveTo>
                  <a:lnTo>
                    <a:pt x="4305300" y="0"/>
                  </a:lnTo>
                </a:path>
              </a:pathLst>
            </a:custGeom>
            <a:noFill/>
            <a:ln w="14288">
              <a:solidFill>
                <a:srgbClr val="C83210"/>
              </a:solidFill>
            </a:ln>
          </p:spPr>
        </p:sp>
        <p:sp>
          <p:nvSpPr>
            <p:cNvPr id="13" name="Polygon 13"/>
            <p:cNvSpPr/>
            <p:nvPr/>
          </p:nvSpPr>
          <p:spPr>
            <a:xfrm>
              <a:off x="4838700" y="3876675"/>
              <a:ext cx="95250" cy="95250"/>
            </a:xfrm>
            <a:custGeom>
              <a:avLst/>
              <a:gdLst/>
              <a:ahLst/>
              <a:cxnLst/>
              <a:rect l="l" t="t" r="r" b="b"/>
              <a:pathLst>
                <a:path w="95250" h="95250">
                  <a:moveTo>
                    <a:pt x="95250" y="47625"/>
                  </a:moveTo>
                  <a:lnTo>
                    <a:pt x="0" y="0"/>
                  </a:lnTo>
                  <a:lnTo>
                    <a:pt x="0" y="95250"/>
                  </a:lnTo>
                  <a:close/>
                </a:path>
              </a:pathLst>
            </a:custGeom>
            <a:solidFill>
              <a:srgbClr val="C83210"/>
            </a:solidFill>
            <a:ln>
              <a:noFill/>
            </a:ln>
          </p:spPr>
        </p:sp>
        <p:sp>
          <p:nvSpPr>
            <p:cNvPr id="14" name="TextBox 14"/>
            <p:cNvSpPr txBox="1"/>
            <p:nvPr/>
          </p:nvSpPr>
          <p:spPr>
            <a:xfrm>
              <a:off x="380213" y="981789"/>
              <a:ext cx="115875"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高</a:t>
              </a:r>
            </a:p>
          </p:txBody>
        </p:sp>
        <p:sp>
          <p:nvSpPr>
            <p:cNvPr id="15" name="TextBox 15"/>
            <p:cNvSpPr txBox="1"/>
            <p:nvPr/>
          </p:nvSpPr>
          <p:spPr>
            <a:xfrm>
              <a:off x="380213" y="3782139"/>
              <a:ext cx="115875"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低</a:t>
              </a:r>
            </a:p>
          </p:txBody>
        </p:sp>
        <p:sp>
          <p:nvSpPr>
            <p:cNvPr id="16" name="TextBox 16"/>
            <p:cNvSpPr txBox="1"/>
            <p:nvPr/>
          </p:nvSpPr>
          <p:spPr>
            <a:xfrm>
              <a:off x="275272" y="2205038"/>
              <a:ext cx="211455" cy="147638"/>
            </a:xfrm>
            <a:prstGeom prst="rect">
              <a:avLst/>
            </a:prstGeom>
            <a:noFill/>
            <a:ln>
              <a:noFill/>
            </a:ln>
          </p:spPr>
          <p:txBody>
            <a:bodyPr wrap="none" lIns="0" tIns="0" rIns="0" bIns="0" anchor="t" anchorCtr="0">
              <a:spAutoFit/>
            </a:bodyPr>
            <a:lstStyle/>
            <a:p>
              <a:pPr algn="ctr"/>
              <a:r>
                <a:rPr lang="zh-CN" sz="750" b="1" dirty="0">
                  <a:solidFill>
                    <a:srgbClr val="222222"/>
                  </a:solidFill>
                  <a:latin typeface="+mn-lt"/>
                  <a:ea typeface="+mn-ea"/>
                  <a:cs typeface="+mn-cs"/>
                </a:rPr>
                <a:t>客户</a:t>
              </a:r>
            </a:p>
          </p:txBody>
        </p:sp>
        <p:sp>
          <p:nvSpPr>
            <p:cNvPr id="17" name="TextBox 17"/>
            <p:cNvSpPr txBox="1"/>
            <p:nvPr/>
          </p:nvSpPr>
          <p:spPr>
            <a:xfrm>
              <a:off x="275272" y="2357438"/>
              <a:ext cx="211455" cy="147638"/>
            </a:xfrm>
            <a:prstGeom prst="rect">
              <a:avLst/>
            </a:prstGeom>
            <a:noFill/>
            <a:ln>
              <a:noFill/>
            </a:ln>
          </p:spPr>
          <p:txBody>
            <a:bodyPr wrap="none" lIns="0" tIns="0" rIns="0" bIns="0" anchor="t" anchorCtr="0">
              <a:spAutoFit/>
            </a:bodyPr>
            <a:lstStyle/>
            <a:p>
              <a:pPr algn="ctr"/>
              <a:r>
                <a:rPr lang="zh-CN" sz="750" b="1" dirty="0">
                  <a:solidFill>
                    <a:srgbClr val="222222"/>
                  </a:solidFill>
                  <a:latin typeface="+mn-lt"/>
                  <a:ea typeface="+mn-ea"/>
                  <a:cs typeface="+mn-cs"/>
                </a:rPr>
                <a:t>价值</a:t>
              </a:r>
            </a:p>
          </p:txBody>
        </p:sp>
        <p:sp>
          <p:nvSpPr>
            <p:cNvPr id="18" name="TextBox 18"/>
            <p:cNvSpPr txBox="1"/>
            <p:nvPr/>
          </p:nvSpPr>
          <p:spPr>
            <a:xfrm>
              <a:off x="233890" y="2517934"/>
              <a:ext cx="294220" cy="133350"/>
            </a:xfrm>
            <a:prstGeom prst="rect">
              <a:avLst/>
            </a:prstGeom>
            <a:noFill/>
            <a:ln>
              <a:noFill/>
            </a:ln>
          </p:spPr>
          <p:txBody>
            <a:bodyPr wrap="none" lIns="0" tIns="0" rIns="0" bIns="0" anchor="t" anchorCtr="0">
              <a:spAutoFit/>
            </a:bodyPr>
            <a:lstStyle/>
            <a:p>
              <a:pPr algn="ctr"/>
              <a:r>
                <a:rPr lang="en-US" sz="680" b="1" dirty="0">
                  <a:solidFill>
                    <a:srgbClr val="222222"/>
                  </a:solidFill>
                  <a:latin typeface="Arial"/>
                  <a:ea typeface="Arial"/>
                  <a:cs typeface="Arial"/>
                </a:rPr>
                <a:t>(AUM)</a:t>
              </a:r>
            </a:p>
          </p:txBody>
        </p:sp>
        <p:sp>
          <p:nvSpPr>
            <p:cNvPr id="19" name="TextBox 19"/>
            <p:cNvSpPr txBox="1"/>
            <p:nvPr/>
          </p:nvSpPr>
          <p:spPr>
            <a:xfrm>
              <a:off x="627863" y="4010739"/>
              <a:ext cx="115875"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低</a:t>
              </a:r>
            </a:p>
          </p:txBody>
        </p:sp>
        <p:sp>
          <p:nvSpPr>
            <p:cNvPr id="20" name="TextBox 20"/>
            <p:cNvSpPr txBox="1"/>
            <p:nvPr/>
          </p:nvSpPr>
          <p:spPr>
            <a:xfrm>
              <a:off x="4761713" y="4010739"/>
              <a:ext cx="115875"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高</a:t>
              </a:r>
            </a:p>
          </p:txBody>
        </p:sp>
        <p:sp>
          <p:nvSpPr>
            <p:cNvPr id="21" name="TextBox 21"/>
            <p:cNvSpPr txBox="1"/>
            <p:nvPr/>
          </p:nvSpPr>
          <p:spPr>
            <a:xfrm>
              <a:off x="2225738" y="4010739"/>
              <a:ext cx="1073023" cy="154781"/>
            </a:xfrm>
            <a:prstGeom prst="rect">
              <a:avLst/>
            </a:prstGeom>
            <a:noFill/>
            <a:ln>
              <a:noFill/>
            </a:ln>
          </p:spPr>
          <p:txBody>
            <a:bodyPr wrap="none" lIns="0" tIns="0" rIns="0" bIns="0" anchor="t" anchorCtr="0">
              <a:spAutoFit/>
            </a:bodyPr>
            <a:lstStyle/>
            <a:p>
              <a:pPr algn="ctr"/>
              <a:r>
                <a:rPr lang="zh-CN" sz="790" b="1" dirty="0">
                  <a:solidFill>
                    <a:srgbClr val="222222"/>
                  </a:solidFill>
                  <a:latin typeface="+mn-lt"/>
                  <a:ea typeface="+mn-ea"/>
                  <a:cs typeface="+mn-cs"/>
                </a:rPr>
                <a:t>服务强度（人工投入）</a:t>
              </a:r>
            </a:p>
          </p:txBody>
        </p:sp>
        <p:sp>
          <p:nvSpPr>
            <p:cNvPr id="22" name="Rectangle 22"/>
            <p:cNvSpPr/>
            <p:nvPr/>
          </p:nvSpPr>
          <p:spPr>
            <a:xfrm>
              <a:off x="666750" y="952500"/>
              <a:ext cx="2057400" cy="1428750"/>
            </a:xfrm>
            <a:prstGeom prst="rect">
              <a:avLst/>
            </a:prstGeom>
            <a:solidFill>
              <a:srgbClr val="FBE3E6"/>
            </a:solidFill>
            <a:ln>
              <a:noFill/>
            </a:ln>
          </p:spPr>
        </p:sp>
        <p:sp>
          <p:nvSpPr>
            <p:cNvPr id="23" name="Freeform 23"/>
            <p:cNvSpPr/>
            <p:nvPr/>
          </p:nvSpPr>
          <p:spPr>
            <a:xfrm>
              <a:off x="945356" y="1147762"/>
              <a:ext cx="185737" cy="123825"/>
            </a:xfrm>
            <a:custGeom>
              <a:avLst/>
              <a:gdLst/>
              <a:ahLst/>
              <a:cxnLst/>
              <a:rect l="l" t="t" r="r" b="b"/>
              <a:pathLst>
                <a:path w="185737" h="123825">
                  <a:moveTo>
                    <a:pt x="92868" y="0"/>
                  </a:moveTo>
                  <a:lnTo>
                    <a:pt x="134143" y="61912"/>
                  </a:lnTo>
                  <a:lnTo>
                    <a:pt x="185737" y="20637"/>
                  </a:lnTo>
                  <a:lnTo>
                    <a:pt x="165099" y="123825"/>
                  </a:lnTo>
                  <a:lnTo>
                    <a:pt x="20637" y="123825"/>
                  </a:lnTo>
                  <a:lnTo>
                    <a:pt x="0" y="20637"/>
                  </a:lnTo>
                  <a:lnTo>
                    <a:pt x="51594" y="61912"/>
                  </a:lnTo>
                  <a:lnTo>
                    <a:pt x="92868" y="0"/>
                  </a:lnTo>
                </a:path>
              </a:pathLst>
            </a:custGeom>
            <a:noFill/>
            <a:ln w="20637">
              <a:solidFill>
                <a:srgbClr val="C83210"/>
              </a:solidFill>
            </a:ln>
          </p:spPr>
        </p:sp>
        <p:sp>
          <p:nvSpPr>
            <p:cNvPr id="24" name="TextBox 24"/>
            <p:cNvSpPr txBox="1"/>
            <p:nvPr/>
          </p:nvSpPr>
          <p:spPr>
            <a:xfrm>
              <a:off x="1271588" y="1098947"/>
              <a:ext cx="515696" cy="183356"/>
            </a:xfrm>
            <a:prstGeom prst="rect">
              <a:avLst/>
            </a:prstGeom>
            <a:noFill/>
            <a:ln>
              <a:noFill/>
            </a:ln>
          </p:spPr>
          <p:txBody>
            <a:bodyPr wrap="none" lIns="0" tIns="0" rIns="0" bIns="0" anchor="t" anchorCtr="0">
              <a:spAutoFit/>
            </a:bodyPr>
            <a:lstStyle/>
            <a:p>
              <a:pPr algn="l"/>
              <a:r>
                <a:rPr lang="zh-CN" sz="940" b="1" dirty="0">
                  <a:solidFill>
                    <a:srgbClr val="C83210"/>
                  </a:solidFill>
                  <a:latin typeface="+mn-lt"/>
                  <a:ea typeface="+mn-ea"/>
                  <a:cs typeface="+mn-cs"/>
                </a:rPr>
                <a:t>成长客户</a:t>
              </a:r>
            </a:p>
          </p:txBody>
        </p:sp>
        <p:sp>
          <p:nvSpPr>
            <p:cNvPr id="25" name="TextBox 25"/>
            <p:cNvSpPr txBox="1"/>
            <p:nvPr/>
          </p:nvSpPr>
          <p:spPr>
            <a:xfrm>
              <a:off x="1271588" y="1270397"/>
              <a:ext cx="515696" cy="183356"/>
            </a:xfrm>
            <a:prstGeom prst="rect">
              <a:avLst/>
            </a:prstGeom>
            <a:noFill/>
            <a:ln>
              <a:noFill/>
            </a:ln>
          </p:spPr>
          <p:txBody>
            <a:bodyPr wrap="none" lIns="0" tIns="0" rIns="0" bIns="0" anchor="t" anchorCtr="0">
              <a:spAutoFit/>
            </a:bodyPr>
            <a:lstStyle/>
            <a:p>
              <a:pPr algn="l"/>
              <a:r>
                <a:rPr lang="zh-CN" sz="940" b="1" dirty="0">
                  <a:solidFill>
                    <a:srgbClr val="C83210"/>
                  </a:solidFill>
                  <a:latin typeface="+mn-lt"/>
                  <a:ea typeface="+mn-ea"/>
                  <a:cs typeface="+mn-cs"/>
                </a:rPr>
                <a:t>重点培育</a:t>
              </a:r>
            </a:p>
          </p:txBody>
        </p:sp>
        <p:sp>
          <p:nvSpPr>
            <p:cNvPr id="26" name="TextBox 26"/>
            <p:cNvSpPr txBox="1"/>
            <p:nvPr/>
          </p:nvSpPr>
          <p:spPr>
            <a:xfrm>
              <a:off x="795338" y="1523286"/>
              <a:ext cx="840598" cy="140494"/>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710" dirty="0">
                  <a:solidFill>
                    <a:srgbClr val="3D3D3D"/>
                  </a:solidFill>
                  <a:latin typeface="Arial"/>
                  <a:ea typeface="Microsoft YaHei"/>
                  <a:cs typeface="Arial"/>
                </a:rPr>
                <a:t xml:space="preserve">AUM 5万–50万　</a:t>
              </a:r>
            </a:p>
          </p:txBody>
        </p:sp>
        <p:sp>
          <p:nvSpPr>
            <p:cNvPr id="27" name="TextBox 27"/>
            <p:cNvSpPr txBox="1"/>
            <p:nvPr/>
          </p:nvSpPr>
          <p:spPr>
            <a:xfrm>
              <a:off x="795338" y="1694736"/>
              <a:ext cx="1041972"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有一定金融需求与潜力</a:t>
              </a:r>
            </a:p>
          </p:txBody>
        </p:sp>
        <p:sp>
          <p:nvSpPr>
            <p:cNvPr id="28" name="TextBox 28"/>
            <p:cNvSpPr txBox="1"/>
            <p:nvPr/>
          </p:nvSpPr>
          <p:spPr>
            <a:xfrm>
              <a:off x="795338" y="1866186"/>
              <a:ext cx="1338270"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标准内容+定向活动+适度人工</a:t>
              </a:r>
            </a:p>
          </p:txBody>
        </p:sp>
        <p:sp>
          <p:nvSpPr>
            <p:cNvPr id="29" name="TextBox 29"/>
            <p:cNvSpPr txBox="1"/>
            <p:nvPr/>
          </p:nvSpPr>
          <p:spPr>
            <a:xfrm>
              <a:off x="795338" y="2037636"/>
              <a:ext cx="85081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向高价值客户转化</a:t>
              </a:r>
            </a:p>
          </p:txBody>
        </p:sp>
        <p:sp>
          <p:nvSpPr>
            <p:cNvPr id="30" name="Rectangle 30"/>
            <p:cNvSpPr/>
            <p:nvPr/>
          </p:nvSpPr>
          <p:spPr>
            <a:xfrm>
              <a:off x="2781300" y="952500"/>
              <a:ext cx="2057400" cy="1428750"/>
            </a:xfrm>
            <a:prstGeom prst="rect">
              <a:avLst/>
            </a:prstGeom>
            <a:solidFill>
              <a:srgbClr val="C83210"/>
            </a:solidFill>
            <a:ln>
              <a:noFill/>
            </a:ln>
          </p:spPr>
        </p:sp>
        <p:grpSp>
          <p:nvGrpSpPr>
            <p:cNvPr id="33" name="Group 33"/>
            <p:cNvGrpSpPr/>
            <p:nvPr/>
          </p:nvGrpSpPr>
          <p:grpSpPr>
            <a:xfrm>
              <a:off x="3059906" y="1137444"/>
              <a:ext cx="185737" cy="151789"/>
              <a:chOff x="3059906" y="1137444"/>
              <a:chExt cx="185737" cy="151789"/>
            </a:xfrm>
          </p:grpSpPr>
          <p:sp>
            <p:nvSpPr>
              <p:cNvPr id="31" name="Freeform 31"/>
              <p:cNvSpPr/>
              <p:nvPr/>
            </p:nvSpPr>
            <p:spPr>
              <a:xfrm>
                <a:off x="3059906" y="1137444"/>
                <a:ext cx="185737" cy="151789"/>
              </a:xfrm>
              <a:custGeom>
                <a:avLst/>
                <a:gdLst/>
                <a:ahLst/>
                <a:cxnLst/>
                <a:rect l="l" t="t" r="r" b="b"/>
                <a:pathLst>
                  <a:path w="185737" h="151789">
                    <a:moveTo>
                      <a:pt x="30956" y="0"/>
                    </a:moveTo>
                    <a:lnTo>
                      <a:pt x="154781" y="0"/>
                    </a:lnTo>
                    <a:lnTo>
                      <a:pt x="185737" y="51594"/>
                    </a:lnTo>
                    <a:lnTo>
                      <a:pt x="98028" y="149621"/>
                    </a:lnTo>
                    <a:cubicBezTo>
                      <a:pt x="96669" y="151008"/>
                      <a:pt x="94810" y="151789"/>
                      <a:pt x="92868" y="151789"/>
                    </a:cubicBezTo>
                    <a:cubicBezTo>
                      <a:pt x="90927" y="151789"/>
                      <a:pt x="89068" y="151008"/>
                      <a:pt x="87709" y="149621"/>
                    </a:cubicBezTo>
                    <a:lnTo>
                      <a:pt x="0" y="51594"/>
                    </a:lnTo>
                    <a:lnTo>
                      <a:pt x="30956" y="0"/>
                    </a:lnTo>
                  </a:path>
                </a:pathLst>
              </a:custGeom>
              <a:noFill/>
              <a:ln w="20637">
                <a:solidFill>
                  <a:srgbClr val="FFFFFF"/>
                </a:solidFill>
              </a:ln>
            </p:spPr>
          </p:sp>
          <p:sp>
            <p:nvSpPr>
              <p:cNvPr id="32" name="Freeform 32"/>
              <p:cNvSpPr/>
              <p:nvPr/>
            </p:nvSpPr>
            <p:spPr>
              <a:xfrm>
                <a:off x="3111500" y="1176655"/>
                <a:ext cx="20637" cy="33020"/>
              </a:xfrm>
              <a:custGeom>
                <a:avLst/>
                <a:gdLst/>
                <a:ahLst/>
                <a:cxnLst/>
                <a:rect l="l" t="t" r="r" b="b"/>
                <a:pathLst>
                  <a:path w="20637" h="33020">
                    <a:moveTo>
                      <a:pt x="20637" y="33020"/>
                    </a:moveTo>
                    <a:lnTo>
                      <a:pt x="0" y="10319"/>
                    </a:lnTo>
                    <a:lnTo>
                      <a:pt x="6191" y="0"/>
                    </a:lnTo>
                  </a:path>
                </a:pathLst>
              </a:custGeom>
              <a:noFill/>
              <a:ln w="20637">
                <a:solidFill>
                  <a:srgbClr val="FFFFFF"/>
                </a:solidFill>
              </a:ln>
            </p:spPr>
          </p:sp>
        </p:grpSp>
        <p:sp>
          <p:nvSpPr>
            <p:cNvPr id="34" name="TextBox 34"/>
            <p:cNvSpPr txBox="1"/>
            <p:nvPr/>
          </p:nvSpPr>
          <p:spPr>
            <a:xfrm>
              <a:off x="3386138" y="1098947"/>
              <a:ext cx="6422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高价值客户</a:t>
              </a:r>
            </a:p>
          </p:txBody>
        </p:sp>
        <p:sp>
          <p:nvSpPr>
            <p:cNvPr id="35" name="TextBox 35"/>
            <p:cNvSpPr txBox="1"/>
            <p:nvPr/>
          </p:nvSpPr>
          <p:spPr>
            <a:xfrm>
              <a:off x="3386138" y="127039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专属服务</a:t>
              </a:r>
            </a:p>
          </p:txBody>
        </p:sp>
        <p:sp>
          <p:nvSpPr>
            <p:cNvPr id="36" name="TextBox 36"/>
            <p:cNvSpPr txBox="1"/>
            <p:nvPr/>
          </p:nvSpPr>
          <p:spPr>
            <a:xfrm>
              <a:off x="2909888" y="1523286"/>
              <a:ext cx="725182" cy="140494"/>
            </a:xfrm>
            <a:prstGeom prst="rect">
              <a:avLst/>
            </a:prstGeom>
            <a:noFill/>
            <a:ln>
              <a:noFill/>
            </a:ln>
          </p:spPr>
          <p:txBody>
            <a:bodyPr wrap="none" lIns="0" tIns="0" rIns="0" bIns="0" anchor="t" anchorCtr="0">
              <a:spAutoFit/>
            </a:bodyPr>
            <a:lstStyle/>
            <a:p>
              <a:pPr algn="l" marL="76200" indent="-76200">
                <a:buClr>
                  <a:srgbClr val="FFFFFF"/>
                </a:buClr>
                <a:buSzTx/>
                <a:buFontTx/>
                <a:buChar char="•"/>
              </a:pPr>
              <a:r>
                <a:rPr lang="zh-CN" sz="710" dirty="0">
                  <a:solidFill>
                    <a:srgbClr val="FFFFFF"/>
                  </a:solidFill>
                  <a:latin typeface="Arial"/>
                  <a:ea typeface="Microsoft YaHei"/>
                  <a:cs typeface="Arial"/>
                </a:rPr>
                <a:t xml:space="preserve">AUM ≥ 50万　</a:t>
              </a:r>
            </a:p>
          </p:txBody>
        </p:sp>
        <p:sp>
          <p:nvSpPr>
            <p:cNvPr id="37" name="TextBox 37"/>
            <p:cNvSpPr txBox="1"/>
            <p:nvPr/>
          </p:nvSpPr>
          <p:spPr>
            <a:xfrm>
              <a:off x="2909888" y="1694736"/>
              <a:ext cx="1137552" cy="140494"/>
            </a:xfrm>
            <a:prstGeom prst="rect">
              <a:avLst/>
            </a:prstGeom>
            <a:noFill/>
            <a:ln>
              <a:noFill/>
            </a:ln>
          </p:spPr>
          <p:txBody>
            <a:bodyPr wrap="none" lIns="0" tIns="0" rIns="0" bIns="0" anchor="t" anchorCtr="0">
              <a:spAutoFit/>
            </a:bodyPr>
            <a:lstStyle/>
            <a:p>
              <a:pPr algn="l" marL="76644" indent="-76644">
                <a:buClr>
                  <a:srgbClr val="FFFFFF"/>
                </a:buClr>
                <a:buSzTx/>
                <a:buFontTx/>
                <a:buChar char="•"/>
              </a:pPr>
              <a:r>
                <a:rPr lang="zh-CN" sz="710" dirty="0">
                  <a:solidFill>
                    <a:srgbClr val="FFFFFF"/>
                  </a:solidFill>
                  <a:latin typeface="+mn-lt"/>
                  <a:ea typeface="+mn-ea"/>
                  <a:cs typeface="+mn-cs"/>
                </a:rPr>
                <a:t>高频互动、综合金融需求</a:t>
              </a:r>
            </a:p>
          </p:txBody>
        </p:sp>
        <p:sp>
          <p:nvSpPr>
            <p:cNvPr id="38" name="TextBox 38"/>
            <p:cNvSpPr txBox="1"/>
            <p:nvPr/>
          </p:nvSpPr>
          <p:spPr>
            <a:xfrm>
              <a:off x="2909888" y="1866186"/>
              <a:ext cx="998960" cy="140494"/>
            </a:xfrm>
            <a:prstGeom prst="rect">
              <a:avLst/>
            </a:prstGeom>
            <a:noFill/>
            <a:ln>
              <a:noFill/>
            </a:ln>
          </p:spPr>
          <p:txBody>
            <a:bodyPr wrap="none" lIns="0" tIns="0" rIns="0" bIns="0" anchor="t" anchorCtr="0">
              <a:spAutoFit/>
            </a:bodyPr>
            <a:lstStyle/>
            <a:p>
              <a:pPr algn="l" marL="76644" indent="-76644">
                <a:buClr>
                  <a:srgbClr val="FFFFFF"/>
                </a:buClr>
                <a:buSzTx/>
                <a:buFontTx/>
                <a:buChar char="•"/>
              </a:pPr>
              <a:r>
                <a:rPr lang="zh-CN" sz="710" dirty="0">
                  <a:solidFill>
                    <a:srgbClr val="FFFFFF"/>
                  </a:solidFill>
                  <a:latin typeface="+mn-lt"/>
                  <a:ea typeface="+mn-ea"/>
                  <a:cs typeface="+mn-cs"/>
                </a:rPr>
                <a:t>专属顾问+个性化服务</a:t>
              </a:r>
            </a:p>
          </p:txBody>
        </p:sp>
        <p:sp>
          <p:nvSpPr>
            <p:cNvPr id="39" name="TextBox 39"/>
            <p:cNvSpPr txBox="1"/>
            <p:nvPr/>
          </p:nvSpPr>
          <p:spPr>
            <a:xfrm>
              <a:off x="2909888" y="2037636"/>
              <a:ext cx="1137552" cy="140494"/>
            </a:xfrm>
            <a:prstGeom prst="rect">
              <a:avLst/>
            </a:prstGeom>
            <a:noFill/>
            <a:ln>
              <a:noFill/>
            </a:ln>
          </p:spPr>
          <p:txBody>
            <a:bodyPr wrap="none" lIns="0" tIns="0" rIns="0" bIns="0" anchor="t" anchorCtr="0">
              <a:spAutoFit/>
            </a:bodyPr>
            <a:lstStyle/>
            <a:p>
              <a:pPr algn="l" marL="76644" indent="-76644">
                <a:buClr>
                  <a:srgbClr val="FFFFFF"/>
                </a:buClr>
                <a:buSzTx/>
                <a:buFontTx/>
                <a:buChar char="•"/>
              </a:pPr>
              <a:r>
                <a:rPr lang="zh-CN" sz="710" dirty="0">
                  <a:solidFill>
                    <a:srgbClr val="FFFFFF"/>
                  </a:solidFill>
                  <a:latin typeface="+mn-lt"/>
                  <a:ea typeface="+mn-ea"/>
                  <a:cs typeface="+mn-cs"/>
                </a:rPr>
                <a:t>提升资产贡献与综合价值</a:t>
              </a:r>
            </a:p>
          </p:txBody>
        </p:sp>
        <p:sp>
          <p:nvSpPr>
            <p:cNvPr id="40" name="Rectangle 40"/>
            <p:cNvSpPr/>
            <p:nvPr/>
          </p:nvSpPr>
          <p:spPr>
            <a:xfrm>
              <a:off x="666750" y="2438400"/>
              <a:ext cx="2057400" cy="1428750"/>
            </a:xfrm>
            <a:prstGeom prst="rect">
              <a:avLst/>
            </a:prstGeom>
            <a:solidFill>
              <a:srgbClr val="FBE3E6"/>
            </a:solidFill>
            <a:ln>
              <a:noFill/>
            </a:ln>
          </p:spPr>
        </p:sp>
        <p:grpSp>
          <p:nvGrpSpPr>
            <p:cNvPr id="45" name="Group 45"/>
            <p:cNvGrpSpPr/>
            <p:nvPr/>
          </p:nvGrpSpPr>
          <p:grpSpPr>
            <a:xfrm>
              <a:off x="945356" y="2602706"/>
              <a:ext cx="185737" cy="185738"/>
              <a:chOff x="945356" y="2602706"/>
              <a:chExt cx="185737" cy="185738"/>
            </a:xfrm>
          </p:grpSpPr>
          <p:sp>
            <p:nvSpPr>
              <p:cNvPr id="41" name="Freeform 41"/>
              <p:cNvSpPr/>
              <p:nvPr/>
            </p:nvSpPr>
            <p:spPr>
              <a:xfrm>
                <a:off x="965994" y="26027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83210"/>
                </a:solidFill>
              </a:ln>
            </p:spPr>
          </p:sp>
          <p:sp>
            <p:nvSpPr>
              <p:cNvPr id="42" name="Freeform 42"/>
              <p:cNvSpPr/>
              <p:nvPr/>
            </p:nvSpPr>
            <p:spPr>
              <a:xfrm>
                <a:off x="945356" y="272653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83210"/>
                </a:solidFill>
              </a:ln>
            </p:spPr>
          </p:sp>
          <p:sp>
            <p:nvSpPr>
              <p:cNvPr id="43" name="Freeform 43"/>
              <p:cNvSpPr/>
              <p:nvPr/>
            </p:nvSpPr>
            <p:spPr>
              <a:xfrm>
                <a:off x="1079499" y="260404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83210"/>
                </a:solidFill>
              </a:ln>
            </p:spPr>
          </p:sp>
          <p:sp>
            <p:nvSpPr>
              <p:cNvPr id="44" name="Freeform 44"/>
              <p:cNvSpPr/>
              <p:nvPr/>
            </p:nvSpPr>
            <p:spPr>
              <a:xfrm>
                <a:off x="1100137" y="272807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83210"/>
                </a:solidFill>
              </a:ln>
            </p:spPr>
          </p:sp>
        </p:grpSp>
        <p:sp>
          <p:nvSpPr>
            <p:cNvPr id="46" name="TextBox 46"/>
            <p:cNvSpPr txBox="1"/>
            <p:nvPr/>
          </p:nvSpPr>
          <p:spPr>
            <a:xfrm>
              <a:off x="1271588" y="2584847"/>
              <a:ext cx="515696" cy="183356"/>
            </a:xfrm>
            <a:prstGeom prst="rect">
              <a:avLst/>
            </a:prstGeom>
            <a:noFill/>
            <a:ln>
              <a:noFill/>
            </a:ln>
          </p:spPr>
          <p:txBody>
            <a:bodyPr wrap="none" lIns="0" tIns="0" rIns="0" bIns="0" anchor="t" anchorCtr="0">
              <a:spAutoFit/>
            </a:bodyPr>
            <a:lstStyle/>
            <a:p>
              <a:pPr algn="l"/>
              <a:r>
                <a:rPr lang="zh-CN" sz="940" b="1" dirty="0">
                  <a:solidFill>
                    <a:srgbClr val="C83210"/>
                  </a:solidFill>
                  <a:latin typeface="+mn-lt"/>
                  <a:ea typeface="+mn-ea"/>
                  <a:cs typeface="+mn-cs"/>
                </a:rPr>
                <a:t>长尾客户</a:t>
              </a:r>
            </a:p>
          </p:txBody>
        </p:sp>
        <p:sp>
          <p:nvSpPr>
            <p:cNvPr id="47" name="TextBox 47"/>
            <p:cNvSpPr txBox="1"/>
            <p:nvPr/>
          </p:nvSpPr>
          <p:spPr>
            <a:xfrm>
              <a:off x="1271588" y="2756297"/>
              <a:ext cx="515696" cy="183356"/>
            </a:xfrm>
            <a:prstGeom prst="rect">
              <a:avLst/>
            </a:prstGeom>
            <a:noFill/>
            <a:ln>
              <a:noFill/>
            </a:ln>
          </p:spPr>
          <p:txBody>
            <a:bodyPr wrap="none" lIns="0" tIns="0" rIns="0" bIns="0" anchor="t" anchorCtr="0">
              <a:spAutoFit/>
            </a:bodyPr>
            <a:lstStyle/>
            <a:p>
              <a:pPr algn="l"/>
              <a:r>
                <a:rPr lang="zh-CN" sz="940" b="1" dirty="0">
                  <a:solidFill>
                    <a:srgbClr val="C83210"/>
                  </a:solidFill>
                  <a:latin typeface="+mn-lt"/>
                  <a:ea typeface="+mn-ea"/>
                  <a:cs typeface="+mn-cs"/>
                </a:rPr>
                <a:t>规模运营</a:t>
              </a:r>
            </a:p>
          </p:txBody>
        </p:sp>
        <p:sp>
          <p:nvSpPr>
            <p:cNvPr id="48" name="TextBox 48"/>
            <p:cNvSpPr txBox="1"/>
            <p:nvPr/>
          </p:nvSpPr>
          <p:spPr>
            <a:xfrm>
              <a:off x="795338" y="3009186"/>
              <a:ext cx="672566" cy="140494"/>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710" dirty="0">
                  <a:solidFill>
                    <a:srgbClr val="3D3D3D"/>
                  </a:solidFill>
                  <a:latin typeface="Arial"/>
                  <a:ea typeface="Microsoft YaHei"/>
                  <a:cs typeface="Arial"/>
                </a:rPr>
                <a:t xml:space="preserve">AUM &lt; 5万　</a:t>
              </a:r>
            </a:p>
          </p:txBody>
        </p:sp>
        <p:sp>
          <p:nvSpPr>
            <p:cNvPr id="49" name="TextBox 49"/>
            <p:cNvSpPr txBox="1"/>
            <p:nvPr/>
          </p:nvSpPr>
          <p:spPr>
            <a:xfrm>
              <a:off x="795338" y="3180636"/>
              <a:ext cx="1041972"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低频低价值，数量庞大</a:t>
              </a:r>
            </a:p>
          </p:txBody>
        </p:sp>
        <p:sp>
          <p:nvSpPr>
            <p:cNvPr id="50" name="TextBox 50"/>
            <p:cNvSpPr txBox="1"/>
            <p:nvPr/>
          </p:nvSpPr>
          <p:spPr>
            <a:xfrm>
              <a:off x="795338" y="3352086"/>
              <a:ext cx="1338270"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标准内容+自动旅程+批量触达</a:t>
              </a:r>
            </a:p>
          </p:txBody>
        </p:sp>
        <p:sp>
          <p:nvSpPr>
            <p:cNvPr id="51" name="TextBox 51"/>
            <p:cNvSpPr txBox="1"/>
            <p:nvPr/>
          </p:nvSpPr>
          <p:spPr>
            <a:xfrm>
              <a:off x="795338" y="352353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控制成本，持续培育</a:t>
              </a:r>
            </a:p>
          </p:txBody>
        </p:sp>
        <p:sp>
          <p:nvSpPr>
            <p:cNvPr id="52" name="Rectangle 52"/>
            <p:cNvSpPr/>
            <p:nvPr/>
          </p:nvSpPr>
          <p:spPr>
            <a:xfrm>
              <a:off x="2781300" y="2438400"/>
              <a:ext cx="2057400" cy="1428750"/>
            </a:xfrm>
            <a:prstGeom prst="rect">
              <a:avLst/>
            </a:prstGeom>
            <a:solidFill>
              <a:srgbClr val="FDEFF1"/>
            </a:solidFill>
            <a:ln>
              <a:noFill/>
            </a:ln>
          </p:spPr>
        </p:sp>
        <p:grpSp>
          <p:nvGrpSpPr>
            <p:cNvPr id="56" name="Group 56"/>
            <p:cNvGrpSpPr/>
            <p:nvPr/>
          </p:nvGrpSpPr>
          <p:grpSpPr>
            <a:xfrm>
              <a:off x="3054634" y="2602624"/>
              <a:ext cx="191009" cy="194645"/>
              <a:chOff x="3054634" y="2602624"/>
              <a:chExt cx="191009" cy="194645"/>
            </a:xfrm>
          </p:grpSpPr>
          <p:sp>
            <p:nvSpPr>
              <p:cNvPr id="53" name="Freeform 53"/>
              <p:cNvSpPr/>
              <p:nvPr/>
            </p:nvSpPr>
            <p:spPr>
              <a:xfrm>
                <a:off x="3054634" y="2602624"/>
                <a:ext cx="183920" cy="194645"/>
              </a:xfrm>
              <a:custGeom>
                <a:avLst/>
                <a:gdLst/>
                <a:ahLst/>
                <a:cxnLst/>
                <a:rect l="l" t="t" r="r" b="b"/>
                <a:pathLst>
                  <a:path w="183920" h="194645">
                    <a:moveTo>
                      <a:pt x="98140" y="83"/>
                    </a:moveTo>
                    <a:cubicBezTo>
                      <a:pt x="99502" y="83"/>
                      <a:pt x="100854" y="83"/>
                      <a:pt x="102196" y="83"/>
                    </a:cubicBezTo>
                    <a:cubicBezTo>
                      <a:pt x="74842" y="25499"/>
                      <a:pt x="69537" y="66822"/>
                      <a:pt x="89583" y="98324"/>
                    </a:cubicBezTo>
                    <a:cubicBezTo>
                      <a:pt x="109630" y="129826"/>
                      <a:pt x="149310" y="142523"/>
                      <a:pt x="183920" y="128509"/>
                    </a:cubicBezTo>
                    <a:cubicBezTo>
                      <a:pt x="166041" y="171529"/>
                      <a:pt x="119055" y="194645"/>
                      <a:pt x="74063" y="182555"/>
                    </a:cubicBezTo>
                    <a:cubicBezTo>
                      <a:pt x="29072" y="170466"/>
                      <a:pt x="0" y="126913"/>
                      <a:pt x="6092" y="80725"/>
                    </a:cubicBezTo>
                    <a:cubicBezTo>
                      <a:pt x="12183" y="34538"/>
                      <a:pt x="51553" y="11"/>
                      <a:pt x="98140" y="0"/>
                    </a:cubicBezTo>
                    <a:lnTo>
                      <a:pt x="98140" y="83"/>
                    </a:lnTo>
                  </a:path>
                </a:pathLst>
              </a:custGeom>
              <a:noFill/>
              <a:ln w="20637">
                <a:solidFill>
                  <a:srgbClr val="C83210"/>
                </a:solidFill>
              </a:ln>
            </p:spPr>
          </p:sp>
          <p:sp>
            <p:nvSpPr>
              <p:cNvPr id="54" name="Freeform 54"/>
              <p:cNvSpPr/>
              <p:nvPr/>
            </p:nvSpPr>
            <p:spPr>
              <a:xfrm>
                <a:off x="3183731" y="2613025"/>
                <a:ext cx="41275" cy="41275"/>
              </a:xfrm>
              <a:custGeom>
                <a:avLst/>
                <a:gdLst/>
                <a:ahLst/>
                <a:cxnLst/>
                <a:rect l="l" t="t" r="r" b="b"/>
                <a:pathLst>
                  <a:path w="41275" h="41275">
                    <a:moveTo>
                      <a:pt x="20637" y="0"/>
                    </a:moveTo>
                    <a:cubicBezTo>
                      <a:pt x="20637" y="11398"/>
                      <a:pt x="29877" y="20637"/>
                      <a:pt x="41275" y="20637"/>
                    </a:cubicBezTo>
                    <a:cubicBezTo>
                      <a:pt x="29877" y="20637"/>
                      <a:pt x="20637" y="29877"/>
                      <a:pt x="20637" y="41275"/>
                    </a:cubicBezTo>
                    <a:cubicBezTo>
                      <a:pt x="20637" y="29877"/>
                      <a:pt x="11398" y="20637"/>
                      <a:pt x="0" y="20637"/>
                    </a:cubicBezTo>
                    <a:cubicBezTo>
                      <a:pt x="11398" y="20637"/>
                      <a:pt x="20637" y="11398"/>
                      <a:pt x="20637" y="0"/>
                    </a:cubicBezTo>
                  </a:path>
                </a:pathLst>
              </a:custGeom>
              <a:noFill/>
              <a:ln w="20637">
                <a:solidFill>
                  <a:srgbClr val="C83210"/>
                </a:solidFill>
              </a:ln>
            </p:spPr>
          </p:sp>
          <p:sp>
            <p:nvSpPr>
              <p:cNvPr id="55" name="Freeform 55"/>
              <p:cNvSpPr/>
              <p:nvPr/>
            </p:nvSpPr>
            <p:spPr>
              <a:xfrm>
                <a:off x="3225006" y="2674937"/>
                <a:ext cx="20637" cy="20637"/>
              </a:xfrm>
              <a:custGeom>
                <a:avLst/>
                <a:gdLst/>
                <a:ahLst/>
                <a:cxnLst/>
                <a:rect l="l" t="t" r="r" b="b"/>
                <a:pathLst>
                  <a:path w="20637" h="20637">
                    <a:moveTo>
                      <a:pt x="0" y="10319"/>
                    </a:moveTo>
                    <a:lnTo>
                      <a:pt x="20637" y="10319"/>
                    </a:lnTo>
                    <a:moveTo>
                      <a:pt x="10319" y="0"/>
                    </a:moveTo>
                    <a:lnTo>
                      <a:pt x="10319" y="20637"/>
                    </a:lnTo>
                  </a:path>
                </a:pathLst>
              </a:custGeom>
              <a:noFill/>
              <a:ln w="20637">
                <a:solidFill>
                  <a:srgbClr val="C83210"/>
                </a:solidFill>
              </a:ln>
            </p:spPr>
          </p:sp>
        </p:grpSp>
        <p:sp>
          <p:nvSpPr>
            <p:cNvPr id="57" name="TextBox 57"/>
            <p:cNvSpPr txBox="1"/>
            <p:nvPr/>
          </p:nvSpPr>
          <p:spPr>
            <a:xfrm>
              <a:off x="3386138" y="2584847"/>
              <a:ext cx="515696" cy="183356"/>
            </a:xfrm>
            <a:prstGeom prst="rect">
              <a:avLst/>
            </a:prstGeom>
            <a:noFill/>
            <a:ln>
              <a:noFill/>
            </a:ln>
          </p:spPr>
          <p:txBody>
            <a:bodyPr wrap="none" lIns="0" tIns="0" rIns="0" bIns="0" anchor="t" anchorCtr="0">
              <a:spAutoFit/>
            </a:bodyPr>
            <a:lstStyle/>
            <a:p>
              <a:pPr algn="l"/>
              <a:r>
                <a:rPr lang="zh-CN" sz="940" b="1" dirty="0">
                  <a:solidFill>
                    <a:srgbClr val="C83210"/>
                  </a:solidFill>
                  <a:latin typeface="+mn-lt"/>
                  <a:ea typeface="+mn-ea"/>
                  <a:cs typeface="+mn-cs"/>
                </a:rPr>
                <a:t>沉睡客户</a:t>
              </a:r>
            </a:p>
          </p:txBody>
        </p:sp>
        <p:sp>
          <p:nvSpPr>
            <p:cNvPr id="58" name="TextBox 58"/>
            <p:cNvSpPr txBox="1"/>
            <p:nvPr/>
          </p:nvSpPr>
          <p:spPr>
            <a:xfrm>
              <a:off x="3386138" y="2756297"/>
              <a:ext cx="515696" cy="183356"/>
            </a:xfrm>
            <a:prstGeom prst="rect">
              <a:avLst/>
            </a:prstGeom>
            <a:noFill/>
            <a:ln>
              <a:noFill/>
            </a:ln>
          </p:spPr>
          <p:txBody>
            <a:bodyPr wrap="none" lIns="0" tIns="0" rIns="0" bIns="0" anchor="t" anchorCtr="0">
              <a:spAutoFit/>
            </a:bodyPr>
            <a:lstStyle/>
            <a:p>
              <a:pPr algn="l"/>
              <a:r>
                <a:rPr lang="zh-CN" sz="940" b="1" dirty="0">
                  <a:solidFill>
                    <a:srgbClr val="C83210"/>
                  </a:solidFill>
                  <a:latin typeface="+mn-lt"/>
                  <a:ea typeface="+mn-ea"/>
                  <a:cs typeface="+mn-cs"/>
                </a:rPr>
                <a:t>低频唤醒</a:t>
              </a:r>
            </a:p>
          </p:txBody>
        </p:sp>
        <p:sp>
          <p:nvSpPr>
            <p:cNvPr id="59" name="TextBox 59"/>
            <p:cNvSpPr txBox="1"/>
            <p:nvPr/>
          </p:nvSpPr>
          <p:spPr>
            <a:xfrm>
              <a:off x="2909888" y="3009186"/>
              <a:ext cx="624942" cy="140494"/>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710" dirty="0">
                  <a:solidFill>
                    <a:srgbClr val="3D3D3D"/>
                  </a:solidFill>
                  <a:latin typeface="Arial"/>
                  <a:ea typeface="Microsoft YaHei"/>
                  <a:cs typeface="Arial"/>
                </a:rPr>
                <a:t xml:space="preserve">AUM 任意　</a:t>
              </a:r>
            </a:p>
          </p:txBody>
        </p:sp>
        <p:sp>
          <p:nvSpPr>
            <p:cNvPr id="60" name="TextBox 60"/>
            <p:cNvSpPr txBox="1"/>
            <p:nvPr/>
          </p:nvSpPr>
          <p:spPr>
            <a:xfrm>
              <a:off x="2909888" y="3180636"/>
              <a:ext cx="1051530"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 xml:space="preserve">近90天及以上无互动　</a:t>
              </a:r>
            </a:p>
          </p:txBody>
        </p:sp>
        <p:sp>
          <p:nvSpPr>
            <p:cNvPr id="61" name="TextBox 61"/>
            <p:cNvSpPr txBox="1"/>
            <p:nvPr/>
          </p:nvSpPr>
          <p:spPr>
            <a:xfrm>
              <a:off x="2909888" y="3352086"/>
              <a:ext cx="903380"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标准内容+轻量旅程</a:t>
              </a:r>
            </a:p>
          </p:txBody>
        </p:sp>
        <p:sp>
          <p:nvSpPr>
            <p:cNvPr id="62" name="TextBox 62"/>
            <p:cNvSpPr txBox="1"/>
            <p:nvPr/>
          </p:nvSpPr>
          <p:spPr>
            <a:xfrm>
              <a:off x="2909888" y="3523536"/>
              <a:ext cx="1328712"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识别回暖信号，转入正常运营</a:t>
              </a:r>
            </a:p>
          </p:txBody>
        </p:sp>
      </p:grpSp>
      <p:grpSp>
        <p:nvGrpSpPr>
          <p:cNvPr id="107" name="pool-definition"/>
          <p:cNvGrpSpPr/>
          <p:nvPr/>
        </p:nvGrpSpPr>
        <p:grpSpPr>
          <a:xfrm>
            <a:off x="5076825" y="647700"/>
            <a:ext cx="3048000" cy="3543300"/>
            <a:chOff x="5076825" y="647700"/>
            <a:chExt cx="3048000" cy="3543300"/>
          </a:xfrm>
        </p:grpSpPr>
        <p:sp>
          <p:nvSpPr>
            <p:cNvPr id="64" name="Rectangle 64"/>
            <p:cNvSpPr/>
            <p:nvPr/>
          </p:nvSpPr>
          <p:spPr>
            <a:xfrm>
              <a:off x="5076825" y="647700"/>
              <a:ext cx="3048000" cy="3543300"/>
            </a:xfrm>
            <a:prstGeom prst="roundRect">
              <a:avLst>
                <a:gd name="adj" fmla="val 1875"/>
              </a:avLst>
            </a:prstGeom>
            <a:solidFill>
              <a:srgbClr val="FFFFFF"/>
            </a:solidFill>
            <a:ln w="9525">
              <a:solidFill>
                <a:srgbClr val="F1C7CC"/>
              </a:solidFill>
            </a:ln>
          </p:spPr>
        </p:sp>
        <p:sp>
          <p:nvSpPr>
            <p:cNvPr id="65" name="Rectangle 65"/>
            <p:cNvSpPr/>
            <p:nvPr/>
          </p:nvSpPr>
          <p:spPr>
            <a:xfrm>
              <a:off x="5133975" y="704850"/>
              <a:ext cx="38100" cy="152400"/>
            </a:xfrm>
            <a:prstGeom prst="rect">
              <a:avLst/>
            </a:prstGeom>
            <a:solidFill>
              <a:srgbClr val="C83210"/>
            </a:solidFill>
            <a:ln>
              <a:noFill/>
            </a:ln>
          </p:spPr>
        </p:sp>
        <p:sp>
          <p:nvSpPr>
            <p:cNvPr id="66" name="TextBox 66"/>
            <p:cNvSpPr txBox="1"/>
            <p:nvPr/>
          </p:nvSpPr>
          <p:spPr>
            <a:xfrm>
              <a:off x="5224272" y="723424"/>
              <a:ext cx="119725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二、长尾客户池定义</a:t>
              </a:r>
            </a:p>
          </p:txBody>
        </p:sp>
        <p:sp>
          <p:nvSpPr>
            <p:cNvPr id="67" name="Rectangle 67"/>
            <p:cNvSpPr/>
            <p:nvPr/>
          </p:nvSpPr>
          <p:spPr>
            <a:xfrm>
              <a:off x="5143500" y="933450"/>
              <a:ext cx="2914650" cy="419100"/>
            </a:xfrm>
            <a:prstGeom prst="roundRect">
              <a:avLst>
                <a:gd name="adj" fmla="val 13636"/>
              </a:avLst>
            </a:prstGeom>
            <a:solidFill>
              <a:srgbClr val="FBE3E6"/>
            </a:solidFill>
            <a:ln>
              <a:noFill/>
            </a:ln>
          </p:spPr>
        </p:sp>
        <p:grpSp>
          <p:nvGrpSpPr>
            <p:cNvPr id="74" name="Group 74"/>
            <p:cNvGrpSpPr/>
            <p:nvPr/>
          </p:nvGrpSpPr>
          <p:grpSpPr>
            <a:xfrm>
              <a:off x="5267325" y="1057275"/>
              <a:ext cx="171450" cy="171450"/>
              <a:chOff x="5267325" y="1057275"/>
              <a:chExt cx="171450" cy="171450"/>
            </a:xfrm>
          </p:grpSpPr>
          <p:sp>
            <p:nvSpPr>
              <p:cNvPr id="68" name="Freeform 68"/>
              <p:cNvSpPr/>
              <p:nvPr/>
            </p:nvSpPr>
            <p:spPr>
              <a:xfrm>
                <a:off x="5334000" y="1133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C83210"/>
                </a:solidFill>
              </a:ln>
            </p:spPr>
          </p:sp>
          <p:sp>
            <p:nvSpPr>
              <p:cNvPr id="69" name="Freeform 69"/>
              <p:cNvSpPr/>
              <p:nvPr/>
            </p:nvSpPr>
            <p:spPr>
              <a:xfrm>
                <a:off x="5314950" y="12001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C83210"/>
                </a:solidFill>
              </a:ln>
            </p:spPr>
          </p:sp>
          <p:sp>
            <p:nvSpPr>
              <p:cNvPr id="70" name="Freeform 70"/>
              <p:cNvSpPr/>
              <p:nvPr/>
            </p:nvSpPr>
            <p:spPr>
              <a:xfrm>
                <a:off x="5381625" y="10572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C83210"/>
                </a:solidFill>
              </a:ln>
            </p:spPr>
          </p:sp>
          <p:sp>
            <p:nvSpPr>
              <p:cNvPr id="71" name="Freeform 71"/>
              <p:cNvSpPr/>
              <p:nvPr/>
            </p:nvSpPr>
            <p:spPr>
              <a:xfrm>
                <a:off x="5400675" y="11239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C83210"/>
                </a:solidFill>
              </a:ln>
            </p:spPr>
          </p:sp>
          <p:sp>
            <p:nvSpPr>
              <p:cNvPr id="72" name="Freeform 72"/>
              <p:cNvSpPr/>
              <p:nvPr/>
            </p:nvSpPr>
            <p:spPr>
              <a:xfrm>
                <a:off x="5286375" y="10572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C83210"/>
                </a:solidFill>
              </a:ln>
            </p:spPr>
          </p:sp>
          <p:sp>
            <p:nvSpPr>
              <p:cNvPr id="73" name="Freeform 73"/>
              <p:cNvSpPr/>
              <p:nvPr/>
            </p:nvSpPr>
            <p:spPr>
              <a:xfrm>
                <a:off x="5267325" y="11239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C83210"/>
                </a:solidFill>
              </a:ln>
            </p:spPr>
          </p:sp>
        </p:grpSp>
        <p:sp>
          <p:nvSpPr>
            <p:cNvPr id="75" name="TextBox 75"/>
            <p:cNvSpPr txBox="1"/>
            <p:nvPr/>
          </p:nvSpPr>
          <p:spPr>
            <a:xfrm>
              <a:off x="5557838" y="996791"/>
              <a:ext cx="561467"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长尾客户：</a:t>
              </a:r>
            </a:p>
          </p:txBody>
        </p:sp>
        <p:sp>
          <p:nvSpPr>
            <p:cNvPr id="76" name="TextBox 76"/>
            <p:cNvSpPr txBox="1"/>
            <p:nvPr/>
          </p:nvSpPr>
          <p:spPr>
            <a:xfrm>
              <a:off x="5557838" y="1180386"/>
              <a:ext cx="1921129"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以规模化、自动化运营为主的低频低价值客群</a:t>
              </a:r>
            </a:p>
          </p:txBody>
        </p:sp>
        <p:sp>
          <p:nvSpPr>
            <p:cNvPr id="77" name="TextBox 77"/>
            <p:cNvSpPr txBox="1"/>
            <p:nvPr/>
          </p:nvSpPr>
          <p:spPr>
            <a:xfrm>
              <a:off x="5138738" y="1473041"/>
              <a:ext cx="1003021"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同时满足以下条件：</a:t>
              </a:r>
            </a:p>
          </p:txBody>
        </p:sp>
        <p:sp>
          <p:nvSpPr>
            <p:cNvPr id="78" name="Ellipse 78"/>
            <p:cNvSpPr/>
            <p:nvPr/>
          </p:nvSpPr>
          <p:spPr>
            <a:xfrm>
              <a:off x="5143500" y="1666875"/>
              <a:ext cx="152400" cy="152400"/>
            </a:xfrm>
            <a:prstGeom prst="ellipse">
              <a:avLst/>
            </a:prstGeom>
            <a:solidFill>
              <a:srgbClr val="C83210"/>
            </a:solidFill>
            <a:ln>
              <a:noFill/>
            </a:ln>
          </p:spPr>
        </p:sp>
        <p:sp>
          <p:nvSpPr>
            <p:cNvPr id="79" name="TextBox 79"/>
            <p:cNvSpPr txBox="1"/>
            <p:nvPr/>
          </p:nvSpPr>
          <p:spPr>
            <a:xfrm>
              <a:off x="5189480" y="1703546"/>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1</a:t>
              </a:r>
            </a:p>
          </p:txBody>
        </p:sp>
        <p:sp>
          <p:nvSpPr>
            <p:cNvPr id="80" name="TextBox 80"/>
            <p:cNvSpPr txBox="1"/>
            <p:nvPr/>
          </p:nvSpPr>
          <p:spPr>
            <a:xfrm>
              <a:off x="5348288" y="1700212"/>
              <a:ext cx="893303" cy="147638"/>
            </a:xfrm>
            <a:prstGeom prst="rect">
              <a:avLst/>
            </a:prstGeom>
            <a:noFill/>
            <a:ln>
              <a:noFill/>
            </a:ln>
          </p:spPr>
          <p:txBody>
            <a:bodyPr wrap="none" lIns="0" tIns="0" rIns="0" bIns="0" anchor="t" anchorCtr="0">
              <a:spAutoFit/>
            </a:bodyPr>
            <a:lstStyle/>
            <a:p>
              <a:pPr algn="l"/>
              <a:r>
                <a:rPr lang="zh-CN" sz="750" dirty="0">
                  <a:solidFill>
                    <a:srgbClr val="222222"/>
                  </a:solidFill>
                  <a:latin typeface="Arial"/>
                  <a:ea typeface="Microsoft YaHei"/>
                  <a:cs typeface="Arial"/>
                </a:rPr>
                <a:t xml:space="preserve">AUM 低于 5 万元　</a:t>
              </a:r>
            </a:p>
          </p:txBody>
        </p:sp>
        <p:sp>
          <p:nvSpPr>
            <p:cNvPr id="81" name="Ellipse 81"/>
            <p:cNvSpPr/>
            <p:nvPr/>
          </p:nvSpPr>
          <p:spPr>
            <a:xfrm>
              <a:off x="5143500" y="1914525"/>
              <a:ext cx="152400" cy="152400"/>
            </a:xfrm>
            <a:prstGeom prst="ellipse">
              <a:avLst/>
            </a:prstGeom>
            <a:solidFill>
              <a:srgbClr val="C83210"/>
            </a:solidFill>
            <a:ln>
              <a:noFill/>
            </a:ln>
          </p:spPr>
        </p:sp>
        <p:sp>
          <p:nvSpPr>
            <p:cNvPr id="82" name="TextBox 82"/>
            <p:cNvSpPr txBox="1"/>
            <p:nvPr/>
          </p:nvSpPr>
          <p:spPr>
            <a:xfrm>
              <a:off x="5189480" y="1951196"/>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2</a:t>
              </a:r>
            </a:p>
          </p:txBody>
        </p:sp>
        <p:sp>
          <p:nvSpPr>
            <p:cNvPr id="83" name="TextBox 83"/>
            <p:cNvSpPr txBox="1"/>
            <p:nvPr/>
          </p:nvSpPr>
          <p:spPr>
            <a:xfrm>
              <a:off x="5348288" y="1947862"/>
              <a:ext cx="1187585" cy="147638"/>
            </a:xfrm>
            <a:prstGeom prst="rect">
              <a:avLst/>
            </a:prstGeom>
            <a:noFill/>
            <a:ln>
              <a:noFill/>
            </a:ln>
          </p:spPr>
          <p:txBody>
            <a:bodyPr wrap="none" lIns="0" tIns="0" rIns="0" bIns="0" anchor="t" anchorCtr="0">
              <a:spAutoFit/>
            </a:bodyPr>
            <a:lstStyle/>
            <a:p>
              <a:pPr algn="l"/>
              <a:r>
                <a:rPr lang="zh-CN" sz="750" dirty="0">
                  <a:solidFill>
                    <a:srgbClr val="222222"/>
                  </a:solidFill>
                  <a:latin typeface="Arial"/>
                  <a:ea typeface="Microsoft YaHei"/>
                  <a:cs typeface="Arial"/>
                </a:rPr>
                <a:t xml:space="preserve">近 90 天无人工服务记录　</a:t>
              </a:r>
            </a:p>
          </p:txBody>
        </p:sp>
        <p:sp>
          <p:nvSpPr>
            <p:cNvPr id="84" name="TextBox 84"/>
            <p:cNvSpPr txBox="1"/>
            <p:nvPr/>
          </p:nvSpPr>
          <p:spPr>
            <a:xfrm>
              <a:off x="5348288" y="2093357"/>
              <a:ext cx="1560347" cy="126206"/>
            </a:xfrm>
            <a:prstGeom prst="rect">
              <a:avLst/>
            </a:prstGeom>
            <a:noFill/>
            <a:ln>
              <a:noFill/>
            </a:ln>
          </p:spPr>
          <p:txBody>
            <a:bodyPr wrap="none" lIns="0" tIns="0" rIns="0" bIns="0" anchor="t" anchorCtr="0">
              <a:spAutoFit/>
            </a:bodyPr>
            <a:lstStyle/>
            <a:p>
              <a:pPr algn="l"/>
              <a:r>
                <a:rPr lang="zh-CN" sz="640" dirty="0">
                  <a:solidFill>
                    <a:srgbClr val="808080"/>
                  </a:solidFill>
                  <a:latin typeface="+mn-lt"/>
                  <a:ea typeface="+mn-ea"/>
                  <a:cs typeface="+mn-cs"/>
                </a:rPr>
                <a:t>（含柜面、理财经理、电话等人工触达）</a:t>
              </a:r>
            </a:p>
          </p:txBody>
        </p:sp>
        <p:sp>
          <p:nvSpPr>
            <p:cNvPr id="85" name="Ellipse 85"/>
            <p:cNvSpPr/>
            <p:nvPr/>
          </p:nvSpPr>
          <p:spPr>
            <a:xfrm>
              <a:off x="5143500" y="2276475"/>
              <a:ext cx="152400" cy="152400"/>
            </a:xfrm>
            <a:prstGeom prst="ellipse">
              <a:avLst/>
            </a:prstGeom>
            <a:solidFill>
              <a:srgbClr val="C83210"/>
            </a:solidFill>
            <a:ln>
              <a:noFill/>
            </a:ln>
          </p:spPr>
        </p:sp>
        <p:sp>
          <p:nvSpPr>
            <p:cNvPr id="86" name="TextBox 86"/>
            <p:cNvSpPr txBox="1"/>
            <p:nvPr/>
          </p:nvSpPr>
          <p:spPr>
            <a:xfrm>
              <a:off x="5189480" y="2313146"/>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3</a:t>
              </a:r>
            </a:p>
          </p:txBody>
        </p:sp>
        <p:sp>
          <p:nvSpPr>
            <p:cNvPr id="87" name="TextBox 87"/>
            <p:cNvSpPr txBox="1"/>
            <p:nvPr/>
          </p:nvSpPr>
          <p:spPr>
            <a:xfrm>
              <a:off x="5348288" y="2309812"/>
              <a:ext cx="615315" cy="147638"/>
            </a:xfrm>
            <a:prstGeom prst="rect">
              <a:avLst/>
            </a:prstGeom>
            <a:noFill/>
            <a:ln>
              <a:noFill/>
            </a:ln>
          </p:spPr>
          <p:txBody>
            <a:bodyPr wrap="none" lIns="0" tIns="0" rIns="0" bIns="0" anchor="t" anchorCtr="0">
              <a:spAutoFit/>
            </a:bodyPr>
            <a:lstStyle/>
            <a:p>
              <a:pPr algn="l"/>
              <a:r>
                <a:rPr lang="zh-CN" sz="750" dirty="0">
                  <a:solidFill>
                    <a:srgbClr val="222222"/>
                  </a:solidFill>
                  <a:latin typeface="+mn-lt"/>
                  <a:ea typeface="+mn-ea"/>
                  <a:cs typeface="+mn-cs"/>
                </a:rPr>
                <a:t>无明确高意向</a:t>
              </a:r>
            </a:p>
          </p:txBody>
        </p:sp>
        <p:sp>
          <p:nvSpPr>
            <p:cNvPr id="88" name="TextBox 88"/>
            <p:cNvSpPr txBox="1"/>
            <p:nvPr/>
          </p:nvSpPr>
          <p:spPr>
            <a:xfrm>
              <a:off x="5348288" y="2455307"/>
              <a:ext cx="1991131" cy="126206"/>
            </a:xfrm>
            <a:prstGeom prst="rect">
              <a:avLst/>
            </a:prstGeom>
            <a:noFill/>
            <a:ln>
              <a:noFill/>
            </a:ln>
          </p:spPr>
          <p:txBody>
            <a:bodyPr wrap="none" lIns="0" tIns="0" rIns="0" bIns="0" anchor="t" anchorCtr="0">
              <a:spAutoFit/>
            </a:bodyPr>
            <a:lstStyle/>
            <a:p>
              <a:pPr algn="l"/>
              <a:r>
                <a:rPr lang="zh-CN" sz="640" dirty="0">
                  <a:solidFill>
                    <a:srgbClr val="808080"/>
                  </a:solidFill>
                  <a:latin typeface="+mn-lt"/>
                  <a:ea typeface="+mn-ea"/>
                  <a:cs typeface="+mn-cs"/>
                </a:rPr>
                <a:t>（未在近期表现出理财、贷款、信用卡等强烈需求）</a:t>
              </a:r>
            </a:p>
          </p:txBody>
        </p:sp>
        <p:sp>
          <p:nvSpPr>
            <p:cNvPr id="89" name="Line 89"/>
            <p:cNvSpPr/>
            <p:nvPr/>
          </p:nvSpPr>
          <p:spPr>
            <a:xfrm>
              <a:off x="5143500" y="2686050"/>
              <a:ext cx="2914650" cy="9525"/>
            </a:xfrm>
            <a:custGeom>
              <a:avLst/>
              <a:gdLst/>
              <a:ahLst/>
              <a:cxnLst/>
              <a:rect l="l" t="t" r="r" b="b"/>
              <a:pathLst>
                <a:path w="2914650" h="9525">
                  <a:moveTo>
                    <a:pt x="0" y="0"/>
                  </a:moveTo>
                  <a:lnTo>
                    <a:pt x="2914650" y="0"/>
                  </a:lnTo>
                </a:path>
              </a:pathLst>
            </a:custGeom>
            <a:noFill/>
            <a:ln w="9525">
              <a:solidFill>
                <a:srgbClr val="F3B2A3"/>
              </a:solidFill>
              <a:prstDash val="dash"/>
            </a:ln>
          </p:spPr>
        </p:sp>
        <p:sp>
          <p:nvSpPr>
            <p:cNvPr id="90" name="Ellipse 90"/>
            <p:cNvSpPr/>
            <p:nvPr/>
          </p:nvSpPr>
          <p:spPr>
            <a:xfrm>
              <a:off x="5133975" y="2771775"/>
              <a:ext cx="171450" cy="171450"/>
            </a:xfrm>
            <a:prstGeom prst="ellipse">
              <a:avLst/>
            </a:prstGeom>
            <a:solidFill>
              <a:srgbClr val="C83210"/>
            </a:solidFill>
            <a:ln>
              <a:noFill/>
            </a:ln>
          </p:spPr>
        </p:sp>
        <p:grpSp>
          <p:nvGrpSpPr>
            <p:cNvPr id="93" name="Group 93"/>
            <p:cNvGrpSpPr/>
            <p:nvPr/>
          </p:nvGrpSpPr>
          <p:grpSpPr>
            <a:xfrm>
              <a:off x="5191125" y="2828925"/>
              <a:ext cx="57150" cy="57150"/>
              <a:chOff x="5191125" y="2828925"/>
              <a:chExt cx="57150" cy="57150"/>
            </a:xfrm>
          </p:grpSpPr>
          <p:sp>
            <p:nvSpPr>
              <p:cNvPr id="91" name="Freeform 91"/>
              <p:cNvSpPr/>
              <p:nvPr/>
            </p:nvSpPr>
            <p:spPr>
              <a:xfrm>
                <a:off x="5191125" y="2828925"/>
                <a:ext cx="57150" cy="57150"/>
              </a:xfrm>
              <a:custGeom>
                <a:avLst/>
                <a:gdLst/>
                <a:ahLst/>
                <a:cxnLst/>
                <a:rect l="l" t="t" r="r" b="b"/>
                <a:pathLst>
                  <a:path w="57150" h="57150">
                    <a:moveTo>
                      <a:pt x="57150" y="0"/>
                    </a:moveTo>
                    <a:lnTo>
                      <a:pt x="0" y="57150"/>
                    </a:lnTo>
                  </a:path>
                </a:pathLst>
              </a:custGeom>
              <a:noFill/>
              <a:ln w="14288">
                <a:solidFill>
                  <a:srgbClr val="FFFFFF"/>
                </a:solidFill>
              </a:ln>
            </p:spPr>
          </p:sp>
          <p:sp>
            <p:nvSpPr>
              <p:cNvPr id="92" name="Freeform 92"/>
              <p:cNvSpPr/>
              <p:nvPr/>
            </p:nvSpPr>
            <p:spPr>
              <a:xfrm>
                <a:off x="5191125" y="2828925"/>
                <a:ext cx="57150" cy="57150"/>
              </a:xfrm>
              <a:custGeom>
                <a:avLst/>
                <a:gdLst/>
                <a:ahLst/>
                <a:cxnLst/>
                <a:rect l="l" t="t" r="r" b="b"/>
                <a:pathLst>
                  <a:path w="57150" h="57150">
                    <a:moveTo>
                      <a:pt x="0" y="0"/>
                    </a:moveTo>
                    <a:lnTo>
                      <a:pt x="57150" y="57150"/>
                    </a:lnTo>
                  </a:path>
                </a:pathLst>
              </a:custGeom>
              <a:noFill/>
              <a:ln w="14288">
                <a:solidFill>
                  <a:srgbClr val="FFFFFF"/>
                </a:solidFill>
              </a:ln>
            </p:spPr>
          </p:sp>
        </p:grpSp>
        <p:sp>
          <p:nvSpPr>
            <p:cNvPr id="94" name="TextBox 94"/>
            <p:cNvSpPr txBox="1"/>
            <p:nvPr/>
          </p:nvSpPr>
          <p:spPr>
            <a:xfrm>
              <a:off x="5367338" y="2806541"/>
              <a:ext cx="1223797"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以下客群不纳入长尾池：</a:t>
              </a:r>
            </a:p>
          </p:txBody>
        </p:sp>
        <p:sp>
          <p:nvSpPr>
            <p:cNvPr id="95" name="Ellipse 95"/>
            <p:cNvSpPr/>
            <p:nvPr/>
          </p:nvSpPr>
          <p:spPr>
            <a:xfrm>
              <a:off x="5153025" y="3038475"/>
              <a:ext cx="133350" cy="133350"/>
            </a:xfrm>
            <a:prstGeom prst="ellipse">
              <a:avLst/>
            </a:prstGeom>
            <a:solidFill>
              <a:srgbClr val="C83210"/>
            </a:solidFill>
            <a:ln>
              <a:noFill/>
            </a:ln>
          </p:spPr>
        </p:sp>
        <p:sp>
          <p:nvSpPr>
            <p:cNvPr id="96" name="TextBox 96"/>
            <p:cNvSpPr txBox="1"/>
            <p:nvPr/>
          </p:nvSpPr>
          <p:spPr>
            <a:xfrm>
              <a:off x="5192475" y="3068955"/>
              <a:ext cx="54450"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Arial"/>
                  <a:cs typeface="Arial"/>
                </a:rPr>
                <a:t>1</a:t>
              </a:r>
            </a:p>
          </p:txBody>
        </p:sp>
        <p:sp>
          <p:nvSpPr>
            <p:cNvPr id="97" name="TextBox 97"/>
            <p:cNvSpPr txBox="1"/>
            <p:nvPr/>
          </p:nvSpPr>
          <p:spPr>
            <a:xfrm>
              <a:off x="5348288" y="3066336"/>
              <a:ext cx="100318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Arial"/>
                  <a:ea typeface="Microsoft YaHei"/>
                  <a:cs typeface="Arial"/>
                </a:rPr>
                <a:t xml:space="preserve">AUM ≥ 5 万元的客户　</a:t>
              </a:r>
            </a:p>
          </p:txBody>
        </p:sp>
        <p:sp>
          <p:nvSpPr>
            <p:cNvPr id="98" name="Ellipse 98"/>
            <p:cNvSpPr/>
            <p:nvPr/>
          </p:nvSpPr>
          <p:spPr>
            <a:xfrm>
              <a:off x="5153025" y="3248025"/>
              <a:ext cx="133350" cy="133350"/>
            </a:xfrm>
            <a:prstGeom prst="ellipse">
              <a:avLst/>
            </a:prstGeom>
            <a:solidFill>
              <a:srgbClr val="C83210"/>
            </a:solidFill>
            <a:ln>
              <a:noFill/>
            </a:ln>
          </p:spPr>
        </p:sp>
        <p:sp>
          <p:nvSpPr>
            <p:cNvPr id="99" name="TextBox 99"/>
            <p:cNvSpPr txBox="1"/>
            <p:nvPr/>
          </p:nvSpPr>
          <p:spPr>
            <a:xfrm>
              <a:off x="5192475" y="3278505"/>
              <a:ext cx="54450"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Arial"/>
                  <a:cs typeface="Arial"/>
                </a:rPr>
                <a:t>2</a:t>
              </a:r>
            </a:p>
          </p:txBody>
        </p:sp>
        <p:sp>
          <p:nvSpPr>
            <p:cNvPr id="100" name="TextBox 100"/>
            <p:cNvSpPr txBox="1"/>
            <p:nvPr/>
          </p:nvSpPr>
          <p:spPr>
            <a:xfrm>
              <a:off x="5348288" y="3275886"/>
              <a:ext cx="150707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Arial"/>
                  <a:ea typeface="Microsoft YaHei"/>
                  <a:cs typeface="Arial"/>
                </a:rPr>
                <a:t xml:space="preserve">近 90 天内有人工服务记录的客户　</a:t>
              </a:r>
            </a:p>
          </p:txBody>
        </p:sp>
        <p:sp>
          <p:nvSpPr>
            <p:cNvPr id="101" name="Ellipse 101"/>
            <p:cNvSpPr/>
            <p:nvPr/>
          </p:nvSpPr>
          <p:spPr>
            <a:xfrm>
              <a:off x="5153025" y="3457575"/>
              <a:ext cx="133350" cy="133350"/>
            </a:xfrm>
            <a:prstGeom prst="ellipse">
              <a:avLst/>
            </a:prstGeom>
            <a:solidFill>
              <a:srgbClr val="C83210"/>
            </a:solidFill>
            <a:ln>
              <a:noFill/>
            </a:ln>
          </p:spPr>
        </p:sp>
        <p:sp>
          <p:nvSpPr>
            <p:cNvPr id="102" name="TextBox 102"/>
            <p:cNvSpPr txBox="1"/>
            <p:nvPr/>
          </p:nvSpPr>
          <p:spPr>
            <a:xfrm>
              <a:off x="5192475" y="3488055"/>
              <a:ext cx="54450"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Arial"/>
                  <a:cs typeface="Arial"/>
                </a:rPr>
                <a:t>3</a:t>
              </a:r>
            </a:p>
          </p:txBody>
        </p:sp>
        <p:sp>
          <p:nvSpPr>
            <p:cNvPr id="103" name="TextBox 103"/>
            <p:cNvSpPr txBox="1"/>
            <p:nvPr/>
          </p:nvSpPr>
          <p:spPr>
            <a:xfrm>
              <a:off x="5348288" y="3485436"/>
              <a:ext cx="2494610"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已明确表达高意向的客户（如申请理财、贷款、信用卡等）</a:t>
              </a:r>
            </a:p>
          </p:txBody>
        </p:sp>
        <p:sp>
          <p:nvSpPr>
            <p:cNvPr id="104" name="Ellipse 104"/>
            <p:cNvSpPr/>
            <p:nvPr/>
          </p:nvSpPr>
          <p:spPr>
            <a:xfrm>
              <a:off x="5153025" y="3667125"/>
              <a:ext cx="133350" cy="133350"/>
            </a:xfrm>
            <a:prstGeom prst="ellipse">
              <a:avLst/>
            </a:prstGeom>
            <a:solidFill>
              <a:srgbClr val="C83210"/>
            </a:solidFill>
            <a:ln>
              <a:noFill/>
            </a:ln>
          </p:spPr>
        </p:sp>
        <p:sp>
          <p:nvSpPr>
            <p:cNvPr id="105" name="TextBox 105"/>
            <p:cNvSpPr txBox="1"/>
            <p:nvPr/>
          </p:nvSpPr>
          <p:spPr>
            <a:xfrm>
              <a:off x="5192475" y="3697605"/>
              <a:ext cx="54450"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Arial"/>
                  <a:cs typeface="Arial"/>
                </a:rPr>
                <a:t>4</a:t>
              </a:r>
            </a:p>
          </p:txBody>
        </p:sp>
        <p:sp>
          <p:nvSpPr>
            <p:cNvPr id="106" name="TextBox 106"/>
            <p:cNvSpPr txBox="1"/>
            <p:nvPr/>
          </p:nvSpPr>
          <p:spPr>
            <a:xfrm>
              <a:off x="5348288" y="3694986"/>
              <a:ext cx="2494610"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特殊名单客户（如投诉客户、风险关注客户、员工亲属等）</a:t>
              </a:r>
            </a:p>
          </p:txBody>
        </p:sp>
      </p:grpSp>
      <p:grpSp>
        <p:nvGrpSpPr>
          <p:cNvPr id="163" name="auto-model"/>
          <p:cNvGrpSpPr/>
          <p:nvPr/>
        </p:nvGrpSpPr>
        <p:grpSpPr>
          <a:xfrm>
            <a:off x="8239125" y="647700"/>
            <a:ext cx="3781425" cy="3543300"/>
            <a:chOff x="8239125" y="647700"/>
            <a:chExt cx="3781425" cy="3543300"/>
          </a:xfrm>
        </p:grpSpPr>
        <p:sp>
          <p:nvSpPr>
            <p:cNvPr id="108" name="Rectangle 108"/>
            <p:cNvSpPr/>
            <p:nvPr/>
          </p:nvSpPr>
          <p:spPr>
            <a:xfrm>
              <a:off x="8239125" y="647700"/>
              <a:ext cx="3781425" cy="3543300"/>
            </a:xfrm>
            <a:prstGeom prst="roundRect">
              <a:avLst>
                <a:gd name="adj" fmla="val 1613"/>
              </a:avLst>
            </a:prstGeom>
            <a:solidFill>
              <a:srgbClr val="FFFFFF"/>
            </a:solidFill>
            <a:ln w="9525">
              <a:solidFill>
                <a:srgbClr val="F1C7CC"/>
              </a:solidFill>
            </a:ln>
          </p:spPr>
        </p:sp>
        <p:sp>
          <p:nvSpPr>
            <p:cNvPr id="109" name="Rectangle 109"/>
            <p:cNvSpPr/>
            <p:nvPr/>
          </p:nvSpPr>
          <p:spPr>
            <a:xfrm>
              <a:off x="8296275" y="704850"/>
              <a:ext cx="38100" cy="152400"/>
            </a:xfrm>
            <a:prstGeom prst="rect">
              <a:avLst/>
            </a:prstGeom>
            <a:solidFill>
              <a:srgbClr val="C83210"/>
            </a:solidFill>
            <a:ln>
              <a:noFill/>
            </a:ln>
          </p:spPr>
        </p:sp>
        <p:sp>
          <p:nvSpPr>
            <p:cNvPr id="110" name="TextBox 110"/>
            <p:cNvSpPr txBox="1"/>
            <p:nvPr/>
          </p:nvSpPr>
          <p:spPr>
            <a:xfrm>
              <a:off x="8386572" y="723424"/>
              <a:ext cx="119725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三、自动化运营模型</a:t>
              </a:r>
            </a:p>
          </p:txBody>
        </p:sp>
        <p:sp>
          <p:nvSpPr>
            <p:cNvPr id="111" name="Rectangle 111"/>
            <p:cNvSpPr/>
            <p:nvPr/>
          </p:nvSpPr>
          <p:spPr>
            <a:xfrm>
              <a:off x="8382000" y="952500"/>
              <a:ext cx="3581400" cy="419100"/>
            </a:xfrm>
            <a:prstGeom prst="roundRect">
              <a:avLst>
                <a:gd name="adj" fmla="val 50000"/>
              </a:avLst>
            </a:prstGeom>
            <a:solidFill>
              <a:srgbClr val="FDEFF1"/>
            </a:solidFill>
            <a:ln>
              <a:noFill/>
            </a:ln>
          </p:spPr>
        </p:sp>
        <p:sp>
          <p:nvSpPr>
            <p:cNvPr id="112" name="Ellipse 112"/>
            <p:cNvSpPr/>
            <p:nvPr/>
          </p:nvSpPr>
          <p:spPr>
            <a:xfrm>
              <a:off x="8420100" y="990600"/>
              <a:ext cx="342900" cy="342900"/>
            </a:xfrm>
            <a:prstGeom prst="ellipse">
              <a:avLst/>
            </a:prstGeom>
            <a:solidFill>
              <a:srgbClr val="C83210"/>
            </a:solidFill>
            <a:ln>
              <a:noFill/>
            </a:ln>
          </p:spPr>
        </p:sp>
        <p:grpSp>
          <p:nvGrpSpPr>
            <p:cNvPr id="115" name="Group 115"/>
            <p:cNvGrpSpPr/>
            <p:nvPr/>
          </p:nvGrpSpPr>
          <p:grpSpPr>
            <a:xfrm>
              <a:off x="8520112" y="1090612"/>
              <a:ext cx="144756" cy="144756"/>
              <a:chOff x="8520112" y="1090612"/>
              <a:chExt cx="144756" cy="144756"/>
            </a:xfrm>
          </p:grpSpPr>
          <p:sp>
            <p:nvSpPr>
              <p:cNvPr id="113" name="Freeform 113"/>
              <p:cNvSpPr/>
              <p:nvPr/>
            </p:nvSpPr>
            <p:spPr>
              <a:xfrm>
                <a:off x="8547894" y="1118394"/>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114" name="Freeform 114"/>
              <p:cNvSpPr/>
              <p:nvPr/>
            </p:nvSpPr>
            <p:spPr>
              <a:xfrm>
                <a:off x="8520112" y="1090612"/>
                <a:ext cx="144756" cy="144756"/>
              </a:xfrm>
              <a:custGeom>
                <a:avLst/>
                <a:gdLst/>
                <a:ahLst/>
                <a:cxnLst/>
                <a:rect l="l" t="t" r="r" b="b"/>
                <a:pathLst>
                  <a:path w="144756" h="144756">
                    <a:moveTo>
                      <a:pt x="0" y="23812"/>
                    </a:moveTo>
                    <a:lnTo>
                      <a:pt x="0" y="64865"/>
                    </a:lnTo>
                    <a:cubicBezTo>
                      <a:pt x="1" y="69075"/>
                      <a:pt x="1674" y="73112"/>
                      <a:pt x="4651" y="76089"/>
                    </a:cubicBezTo>
                    <a:lnTo>
                      <a:pt x="65849" y="137287"/>
                    </a:lnTo>
                    <a:cubicBezTo>
                      <a:pt x="73320" y="144756"/>
                      <a:pt x="85430" y="144756"/>
                      <a:pt x="92900" y="137287"/>
                    </a:cubicBezTo>
                    <a:lnTo>
                      <a:pt x="137287" y="92900"/>
                    </a:lnTo>
                    <a:cubicBezTo>
                      <a:pt x="144756" y="85430"/>
                      <a:pt x="144756" y="73320"/>
                      <a:pt x="137287" y="65849"/>
                    </a:cubicBezTo>
                    <a:lnTo>
                      <a:pt x="76089" y="4651"/>
                    </a:lnTo>
                    <a:cubicBezTo>
                      <a:pt x="73112" y="1674"/>
                      <a:pt x="69075" y="1"/>
                      <a:pt x="64865" y="0"/>
                    </a:cubicBezTo>
                    <a:lnTo>
                      <a:pt x="23812" y="0"/>
                    </a:lnTo>
                    <a:cubicBezTo>
                      <a:pt x="17497" y="0"/>
                      <a:pt x="11440" y="2509"/>
                      <a:pt x="6975" y="6975"/>
                    </a:cubicBezTo>
                    <a:cubicBezTo>
                      <a:pt x="2509" y="11440"/>
                      <a:pt x="0" y="17497"/>
                      <a:pt x="0" y="23812"/>
                    </a:cubicBezTo>
                  </a:path>
                </a:pathLst>
              </a:custGeom>
              <a:noFill/>
              <a:ln w="15875">
                <a:solidFill>
                  <a:srgbClr val="FFFFFF"/>
                </a:solidFill>
              </a:ln>
            </p:spPr>
          </p:sp>
        </p:grpSp>
        <p:sp>
          <p:nvSpPr>
            <p:cNvPr id="116" name="TextBox 116"/>
            <p:cNvSpPr txBox="1"/>
            <p:nvPr/>
          </p:nvSpPr>
          <p:spPr>
            <a:xfrm>
              <a:off x="8834438" y="1116568"/>
              <a:ext cx="633566"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Arial"/>
                  <a:ea typeface="Microsoft YaHei"/>
                  <a:cs typeface="Arial"/>
                </a:rPr>
                <a:t>01 标签触发</a:t>
              </a:r>
            </a:p>
          </p:txBody>
        </p:sp>
        <p:sp>
          <p:nvSpPr>
            <p:cNvPr id="117" name="TextBox 117"/>
            <p:cNvSpPr txBox="1"/>
            <p:nvPr/>
          </p:nvSpPr>
          <p:spPr>
            <a:xfrm>
              <a:off x="9958388" y="1037511"/>
              <a:ext cx="16325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D3D3D"/>
                  </a:solidFill>
                  <a:latin typeface="+mn-lt"/>
                  <a:ea typeface="+mn-ea"/>
                  <a:cs typeface="+mn-cs"/>
                </a:rPr>
                <a:t>基于客户标签（如客群属性、行为特征、</a:t>
              </a:r>
              <a:br/>
              <a:r>
                <a:rPr lang="zh-CN" sz="710" dirty="0">
                  <a:solidFill>
                    <a:srgbClr val="3D3D3D"/>
                  </a:solidFill>
                  <a:latin typeface="+mn-lt"/>
                  <a:ea typeface="+mn-ea"/>
                  <a:cs typeface="+mn-cs"/>
                </a:rPr>
                <a:t>生命周期等）自动进入旅程</a:t>
              </a:r>
            </a:p>
          </p:txBody>
        </p:sp>
        <p:sp>
          <p:nvSpPr>
            <p:cNvPr id="118" name="Polygon 118"/>
            <p:cNvSpPr/>
            <p:nvPr/>
          </p:nvSpPr>
          <p:spPr>
            <a:xfrm>
              <a:off x="8534400" y="1390650"/>
              <a:ext cx="114300" cy="57150"/>
            </a:xfrm>
            <a:custGeom>
              <a:avLst/>
              <a:gdLst/>
              <a:ahLst/>
              <a:cxnLst/>
              <a:rect l="l" t="t" r="r" b="b"/>
              <a:pathLst>
                <a:path w="114300" h="57150">
                  <a:moveTo>
                    <a:pt x="0" y="0"/>
                  </a:moveTo>
                  <a:lnTo>
                    <a:pt x="114300" y="0"/>
                  </a:lnTo>
                  <a:lnTo>
                    <a:pt x="57150" y="57150"/>
                  </a:lnTo>
                  <a:close/>
                </a:path>
              </a:pathLst>
            </a:custGeom>
            <a:solidFill>
              <a:srgbClr val="F3B2A3"/>
            </a:solidFill>
            <a:ln>
              <a:noFill/>
            </a:ln>
          </p:spPr>
        </p:sp>
        <p:sp>
          <p:nvSpPr>
            <p:cNvPr id="119" name="Rectangle 119"/>
            <p:cNvSpPr/>
            <p:nvPr/>
          </p:nvSpPr>
          <p:spPr>
            <a:xfrm>
              <a:off x="8382000" y="1466850"/>
              <a:ext cx="3581400" cy="419100"/>
            </a:xfrm>
            <a:prstGeom prst="roundRect">
              <a:avLst>
                <a:gd name="adj" fmla="val 50000"/>
              </a:avLst>
            </a:prstGeom>
            <a:solidFill>
              <a:srgbClr val="FDEFF1"/>
            </a:solidFill>
            <a:ln>
              <a:noFill/>
            </a:ln>
          </p:spPr>
        </p:sp>
        <p:sp>
          <p:nvSpPr>
            <p:cNvPr id="120" name="Ellipse 120"/>
            <p:cNvSpPr/>
            <p:nvPr/>
          </p:nvSpPr>
          <p:spPr>
            <a:xfrm>
              <a:off x="8420100" y="1504950"/>
              <a:ext cx="342900" cy="342900"/>
            </a:xfrm>
            <a:prstGeom prst="ellipse">
              <a:avLst/>
            </a:prstGeom>
            <a:solidFill>
              <a:srgbClr val="C83210"/>
            </a:solidFill>
            <a:ln>
              <a:noFill/>
            </a:ln>
          </p:spPr>
        </p:sp>
        <p:grpSp>
          <p:nvGrpSpPr>
            <p:cNvPr id="126" name="Group 126"/>
            <p:cNvGrpSpPr/>
            <p:nvPr/>
          </p:nvGrpSpPr>
          <p:grpSpPr>
            <a:xfrm>
              <a:off x="8535987" y="1604962"/>
              <a:ext cx="111125" cy="142875"/>
              <a:chOff x="8535987" y="1604962"/>
              <a:chExt cx="111125" cy="142875"/>
            </a:xfrm>
          </p:grpSpPr>
          <p:sp>
            <p:nvSpPr>
              <p:cNvPr id="121" name="Freeform 121"/>
              <p:cNvSpPr/>
              <p:nvPr/>
            </p:nvSpPr>
            <p:spPr>
              <a:xfrm>
                <a:off x="8607425" y="16049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122" name="Freeform 122"/>
              <p:cNvSpPr/>
              <p:nvPr/>
            </p:nvSpPr>
            <p:spPr>
              <a:xfrm>
                <a:off x="8535987" y="16049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123" name="Freeform 123"/>
              <p:cNvSpPr/>
              <p:nvPr/>
            </p:nvSpPr>
            <p:spPr>
              <a:xfrm>
                <a:off x="8567737" y="165258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24" name="Freeform 124"/>
              <p:cNvSpPr/>
              <p:nvPr/>
            </p:nvSpPr>
            <p:spPr>
              <a:xfrm>
                <a:off x="8567737" y="168433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125" name="Freeform 125"/>
              <p:cNvSpPr/>
              <p:nvPr/>
            </p:nvSpPr>
            <p:spPr>
              <a:xfrm>
                <a:off x="8567737" y="171608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127" name="TextBox 127"/>
            <p:cNvSpPr txBox="1"/>
            <p:nvPr/>
          </p:nvSpPr>
          <p:spPr>
            <a:xfrm>
              <a:off x="8834438" y="1630918"/>
              <a:ext cx="633566"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Arial"/>
                  <a:ea typeface="Microsoft YaHei"/>
                  <a:cs typeface="Arial"/>
                </a:rPr>
                <a:t>02 内容匹配</a:t>
              </a:r>
            </a:p>
          </p:txBody>
        </p:sp>
        <p:sp>
          <p:nvSpPr>
            <p:cNvPr id="128" name="TextBox 128"/>
            <p:cNvSpPr txBox="1"/>
            <p:nvPr/>
          </p:nvSpPr>
          <p:spPr>
            <a:xfrm>
              <a:off x="9958388" y="1551861"/>
              <a:ext cx="145224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D3D3D"/>
                  </a:solidFill>
                  <a:latin typeface="+mn-lt"/>
                  <a:ea typeface="+mn-ea"/>
                  <a:cs typeface="+mn-cs"/>
                </a:rPr>
                <a:t>匹配标准化内容库（图文、短视频、</a:t>
              </a:r>
              <a:br/>
              <a:r>
                <a:rPr lang="zh-CN" sz="710" dirty="0">
                  <a:solidFill>
                    <a:srgbClr val="3D3D3D"/>
                  </a:solidFill>
                  <a:latin typeface="+mn-lt"/>
                  <a:ea typeface="+mn-ea"/>
                  <a:cs typeface="+mn-cs"/>
                </a:rPr>
                <a:t>活动海报等），按标签选择最优内容</a:t>
              </a:r>
            </a:p>
          </p:txBody>
        </p:sp>
        <p:sp>
          <p:nvSpPr>
            <p:cNvPr id="129" name="Polygon 129"/>
            <p:cNvSpPr/>
            <p:nvPr/>
          </p:nvSpPr>
          <p:spPr>
            <a:xfrm>
              <a:off x="8534400" y="1905000"/>
              <a:ext cx="114300" cy="57150"/>
            </a:xfrm>
            <a:custGeom>
              <a:avLst/>
              <a:gdLst/>
              <a:ahLst/>
              <a:cxnLst/>
              <a:rect l="l" t="t" r="r" b="b"/>
              <a:pathLst>
                <a:path w="114300" h="57150">
                  <a:moveTo>
                    <a:pt x="0" y="0"/>
                  </a:moveTo>
                  <a:lnTo>
                    <a:pt x="114300" y="0"/>
                  </a:lnTo>
                  <a:lnTo>
                    <a:pt x="57150" y="57150"/>
                  </a:lnTo>
                  <a:close/>
                </a:path>
              </a:pathLst>
            </a:custGeom>
            <a:solidFill>
              <a:srgbClr val="F3B2A3"/>
            </a:solidFill>
            <a:ln>
              <a:noFill/>
            </a:ln>
          </p:spPr>
        </p:sp>
        <p:sp>
          <p:nvSpPr>
            <p:cNvPr id="130" name="Rectangle 130"/>
            <p:cNvSpPr/>
            <p:nvPr/>
          </p:nvSpPr>
          <p:spPr>
            <a:xfrm>
              <a:off x="8382000" y="1981200"/>
              <a:ext cx="3581400" cy="419100"/>
            </a:xfrm>
            <a:prstGeom prst="roundRect">
              <a:avLst>
                <a:gd name="adj" fmla="val 50000"/>
              </a:avLst>
            </a:prstGeom>
            <a:solidFill>
              <a:srgbClr val="FDEFF1"/>
            </a:solidFill>
            <a:ln>
              <a:noFill/>
            </a:ln>
          </p:spPr>
        </p:sp>
        <p:sp>
          <p:nvSpPr>
            <p:cNvPr id="131" name="Ellipse 131"/>
            <p:cNvSpPr/>
            <p:nvPr/>
          </p:nvSpPr>
          <p:spPr>
            <a:xfrm>
              <a:off x="8420100" y="2019300"/>
              <a:ext cx="342900" cy="342900"/>
            </a:xfrm>
            <a:prstGeom prst="ellipse">
              <a:avLst/>
            </a:prstGeom>
            <a:solidFill>
              <a:srgbClr val="C83210"/>
            </a:solidFill>
            <a:ln>
              <a:noFill/>
            </a:ln>
          </p:spPr>
        </p:sp>
        <p:grpSp>
          <p:nvGrpSpPr>
            <p:cNvPr id="134" name="Group 134"/>
            <p:cNvGrpSpPr/>
            <p:nvPr/>
          </p:nvGrpSpPr>
          <p:grpSpPr>
            <a:xfrm>
              <a:off x="8517566" y="2119312"/>
              <a:ext cx="145422" cy="145422"/>
              <a:chOff x="8517566" y="2119312"/>
              <a:chExt cx="145422" cy="145422"/>
            </a:xfrm>
          </p:grpSpPr>
          <p:sp>
            <p:nvSpPr>
              <p:cNvPr id="132" name="Freeform 132"/>
              <p:cNvSpPr/>
              <p:nvPr/>
            </p:nvSpPr>
            <p:spPr>
              <a:xfrm>
                <a:off x="8575675" y="2119312"/>
                <a:ext cx="87312" cy="87312"/>
              </a:xfrm>
              <a:custGeom>
                <a:avLst/>
                <a:gdLst/>
                <a:ahLst/>
                <a:cxnLst/>
                <a:rect l="l" t="t" r="r" b="b"/>
                <a:pathLst>
                  <a:path w="87312" h="87312">
                    <a:moveTo>
                      <a:pt x="0" y="87312"/>
                    </a:moveTo>
                    <a:lnTo>
                      <a:pt x="87312" y="0"/>
                    </a:lnTo>
                  </a:path>
                </a:pathLst>
              </a:custGeom>
              <a:noFill/>
              <a:ln w="15875">
                <a:solidFill>
                  <a:srgbClr val="FFFFFF"/>
                </a:solidFill>
              </a:ln>
            </p:spPr>
          </p:sp>
          <p:sp>
            <p:nvSpPr>
              <p:cNvPr id="133" name="Freeform 133"/>
              <p:cNvSpPr/>
              <p:nvPr/>
            </p:nvSpPr>
            <p:spPr>
              <a:xfrm>
                <a:off x="8517566" y="2119312"/>
                <a:ext cx="145422" cy="145422"/>
              </a:xfrm>
              <a:custGeom>
                <a:avLst/>
                <a:gdLst/>
                <a:ahLst/>
                <a:cxnLst/>
                <a:rect l="l" t="t" r="r" b="b"/>
                <a:pathLst>
                  <a:path w="145422" h="145422">
                    <a:moveTo>
                      <a:pt x="145422" y="0"/>
                    </a:moveTo>
                    <a:lnTo>
                      <a:pt x="93828" y="142875"/>
                    </a:lnTo>
                    <a:cubicBezTo>
                      <a:pt x="93117" y="144427"/>
                      <a:pt x="91566" y="145422"/>
                      <a:pt x="89859" y="145422"/>
                    </a:cubicBezTo>
                    <a:cubicBezTo>
                      <a:pt x="88152" y="145422"/>
                      <a:pt x="86602" y="144427"/>
                      <a:pt x="85891" y="142875"/>
                    </a:cubicBezTo>
                    <a:lnTo>
                      <a:pt x="58109" y="87312"/>
                    </a:lnTo>
                    <a:lnTo>
                      <a:pt x="2547" y="59531"/>
                    </a:lnTo>
                    <a:cubicBezTo>
                      <a:pt x="995" y="58820"/>
                      <a:pt x="0" y="57270"/>
                      <a:pt x="0" y="55562"/>
                    </a:cubicBezTo>
                    <a:cubicBezTo>
                      <a:pt x="0" y="53855"/>
                      <a:pt x="995" y="52305"/>
                      <a:pt x="2547" y="51594"/>
                    </a:cubicBezTo>
                    <a:lnTo>
                      <a:pt x="145422" y="0"/>
                    </a:lnTo>
                  </a:path>
                </a:pathLst>
              </a:custGeom>
              <a:noFill/>
              <a:ln w="15875">
                <a:solidFill>
                  <a:srgbClr val="FFFFFF"/>
                </a:solidFill>
              </a:ln>
            </p:spPr>
          </p:sp>
        </p:grpSp>
        <p:sp>
          <p:nvSpPr>
            <p:cNvPr id="135" name="TextBox 135"/>
            <p:cNvSpPr txBox="1"/>
            <p:nvPr/>
          </p:nvSpPr>
          <p:spPr>
            <a:xfrm>
              <a:off x="8834438" y="2145268"/>
              <a:ext cx="633566"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Arial"/>
                  <a:ea typeface="Microsoft YaHei"/>
                  <a:cs typeface="Arial"/>
                </a:rPr>
                <a:t>03 批量触达</a:t>
              </a:r>
            </a:p>
          </p:txBody>
        </p:sp>
        <p:sp>
          <p:nvSpPr>
            <p:cNvPr id="136" name="TextBox 136"/>
            <p:cNvSpPr txBox="1"/>
            <p:nvPr/>
          </p:nvSpPr>
          <p:spPr>
            <a:xfrm>
              <a:off x="9958388" y="2151936"/>
              <a:ext cx="144322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通过企业微信进行批量、定时触达</a:t>
              </a:r>
            </a:p>
          </p:txBody>
        </p:sp>
        <p:sp>
          <p:nvSpPr>
            <p:cNvPr id="137" name="Polygon 137"/>
            <p:cNvSpPr/>
            <p:nvPr/>
          </p:nvSpPr>
          <p:spPr>
            <a:xfrm>
              <a:off x="8534400" y="2419350"/>
              <a:ext cx="114300" cy="57150"/>
            </a:xfrm>
            <a:custGeom>
              <a:avLst/>
              <a:gdLst/>
              <a:ahLst/>
              <a:cxnLst/>
              <a:rect l="l" t="t" r="r" b="b"/>
              <a:pathLst>
                <a:path w="114300" h="57150">
                  <a:moveTo>
                    <a:pt x="0" y="0"/>
                  </a:moveTo>
                  <a:lnTo>
                    <a:pt x="114300" y="0"/>
                  </a:lnTo>
                  <a:lnTo>
                    <a:pt x="57150" y="57150"/>
                  </a:lnTo>
                  <a:close/>
                </a:path>
              </a:pathLst>
            </a:custGeom>
            <a:solidFill>
              <a:srgbClr val="F3B2A3"/>
            </a:solidFill>
            <a:ln>
              <a:noFill/>
            </a:ln>
          </p:spPr>
        </p:sp>
        <p:sp>
          <p:nvSpPr>
            <p:cNvPr id="138" name="Rectangle 138"/>
            <p:cNvSpPr/>
            <p:nvPr/>
          </p:nvSpPr>
          <p:spPr>
            <a:xfrm>
              <a:off x="8382000" y="2495550"/>
              <a:ext cx="3581400" cy="419100"/>
            </a:xfrm>
            <a:prstGeom prst="roundRect">
              <a:avLst>
                <a:gd name="adj" fmla="val 50000"/>
              </a:avLst>
            </a:prstGeom>
            <a:solidFill>
              <a:srgbClr val="FDEFF1"/>
            </a:solidFill>
            <a:ln>
              <a:noFill/>
            </a:ln>
          </p:spPr>
        </p:sp>
        <p:sp>
          <p:nvSpPr>
            <p:cNvPr id="139" name="Ellipse 139"/>
            <p:cNvSpPr/>
            <p:nvPr/>
          </p:nvSpPr>
          <p:spPr>
            <a:xfrm>
              <a:off x="8420100" y="2533650"/>
              <a:ext cx="342900" cy="342900"/>
            </a:xfrm>
            <a:prstGeom prst="ellipse">
              <a:avLst/>
            </a:prstGeom>
            <a:solidFill>
              <a:srgbClr val="C83210"/>
            </a:solidFill>
            <a:ln>
              <a:noFill/>
            </a:ln>
          </p:spPr>
        </p:sp>
        <p:grpSp>
          <p:nvGrpSpPr>
            <p:cNvPr id="144" name="Group 144"/>
            <p:cNvGrpSpPr/>
            <p:nvPr/>
          </p:nvGrpSpPr>
          <p:grpSpPr>
            <a:xfrm>
              <a:off x="8520112" y="2641600"/>
              <a:ext cx="142875" cy="136525"/>
              <a:chOff x="8520112" y="2641600"/>
              <a:chExt cx="142875" cy="136525"/>
            </a:xfrm>
          </p:grpSpPr>
          <p:sp>
            <p:nvSpPr>
              <p:cNvPr id="140" name="Freeform 140"/>
              <p:cNvSpPr/>
              <p:nvPr/>
            </p:nvSpPr>
            <p:spPr>
              <a:xfrm>
                <a:off x="8520112" y="27051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141" name="Freeform 141"/>
              <p:cNvSpPr/>
              <p:nvPr/>
            </p:nvSpPr>
            <p:spPr>
              <a:xfrm>
                <a:off x="8615362" y="26733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142" name="Freeform 142"/>
              <p:cNvSpPr/>
              <p:nvPr/>
            </p:nvSpPr>
            <p:spPr>
              <a:xfrm>
                <a:off x="8567737" y="26416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143" name="Freeform 143"/>
              <p:cNvSpPr/>
              <p:nvPr/>
            </p:nvSpPr>
            <p:spPr>
              <a:xfrm>
                <a:off x="8528050" y="2768600"/>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145" name="TextBox 145"/>
            <p:cNvSpPr txBox="1"/>
            <p:nvPr/>
          </p:nvSpPr>
          <p:spPr>
            <a:xfrm>
              <a:off x="8834438" y="2659618"/>
              <a:ext cx="633566"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Arial"/>
                  <a:ea typeface="Microsoft YaHei"/>
                  <a:cs typeface="Arial"/>
                </a:rPr>
                <a:t>04 行为评分</a:t>
              </a:r>
            </a:p>
          </p:txBody>
        </p:sp>
        <p:sp>
          <p:nvSpPr>
            <p:cNvPr id="146" name="TextBox 146"/>
            <p:cNvSpPr txBox="1"/>
            <p:nvPr/>
          </p:nvSpPr>
          <p:spPr>
            <a:xfrm>
              <a:off x="9958388" y="2666286"/>
              <a:ext cx="163438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根据阅读、点击、回复等行为进行评分</a:t>
              </a:r>
            </a:p>
          </p:txBody>
        </p:sp>
        <p:sp>
          <p:nvSpPr>
            <p:cNvPr id="147" name="Polygon 147"/>
            <p:cNvSpPr/>
            <p:nvPr/>
          </p:nvSpPr>
          <p:spPr>
            <a:xfrm>
              <a:off x="8534400" y="2933700"/>
              <a:ext cx="114300" cy="57150"/>
            </a:xfrm>
            <a:custGeom>
              <a:avLst/>
              <a:gdLst/>
              <a:ahLst/>
              <a:cxnLst/>
              <a:rect l="l" t="t" r="r" b="b"/>
              <a:pathLst>
                <a:path w="114300" h="57150">
                  <a:moveTo>
                    <a:pt x="0" y="0"/>
                  </a:moveTo>
                  <a:lnTo>
                    <a:pt x="114300" y="0"/>
                  </a:lnTo>
                  <a:lnTo>
                    <a:pt x="57150" y="57150"/>
                  </a:lnTo>
                  <a:close/>
                </a:path>
              </a:pathLst>
            </a:custGeom>
            <a:solidFill>
              <a:srgbClr val="F3B2A3"/>
            </a:solidFill>
            <a:ln>
              <a:noFill/>
            </a:ln>
          </p:spPr>
        </p:sp>
        <p:sp>
          <p:nvSpPr>
            <p:cNvPr id="148" name="Rectangle 148"/>
            <p:cNvSpPr/>
            <p:nvPr/>
          </p:nvSpPr>
          <p:spPr>
            <a:xfrm>
              <a:off x="8382000" y="3009900"/>
              <a:ext cx="3581400" cy="419100"/>
            </a:xfrm>
            <a:prstGeom prst="roundRect">
              <a:avLst>
                <a:gd name="adj" fmla="val 50000"/>
              </a:avLst>
            </a:prstGeom>
            <a:solidFill>
              <a:srgbClr val="FDEFF1"/>
            </a:solidFill>
            <a:ln>
              <a:noFill/>
            </a:ln>
          </p:spPr>
        </p:sp>
        <p:sp>
          <p:nvSpPr>
            <p:cNvPr id="149" name="Ellipse 149"/>
            <p:cNvSpPr/>
            <p:nvPr/>
          </p:nvSpPr>
          <p:spPr>
            <a:xfrm>
              <a:off x="8420100" y="3048000"/>
              <a:ext cx="342900" cy="342900"/>
            </a:xfrm>
            <a:prstGeom prst="ellipse">
              <a:avLst/>
            </a:prstGeom>
            <a:solidFill>
              <a:srgbClr val="C83210"/>
            </a:solidFill>
            <a:ln>
              <a:noFill/>
            </a:ln>
          </p:spPr>
        </p:sp>
        <p:grpSp>
          <p:nvGrpSpPr>
            <p:cNvPr id="152" name="Group 152"/>
            <p:cNvGrpSpPr/>
            <p:nvPr/>
          </p:nvGrpSpPr>
          <p:grpSpPr>
            <a:xfrm>
              <a:off x="8543925" y="3148012"/>
              <a:ext cx="95250" cy="142875"/>
              <a:chOff x="8543925" y="3148012"/>
              <a:chExt cx="95250" cy="142875"/>
            </a:xfrm>
          </p:grpSpPr>
          <p:sp>
            <p:nvSpPr>
              <p:cNvPr id="150" name="Freeform 150"/>
              <p:cNvSpPr/>
              <p:nvPr/>
            </p:nvSpPr>
            <p:spPr>
              <a:xfrm>
                <a:off x="8559800" y="31480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151" name="Freeform 151"/>
              <p:cNvSpPr/>
              <p:nvPr/>
            </p:nvSpPr>
            <p:spPr>
              <a:xfrm>
                <a:off x="8543925" y="32432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grpSp>
        <p:sp>
          <p:nvSpPr>
            <p:cNvPr id="153" name="TextBox 153"/>
            <p:cNvSpPr txBox="1"/>
            <p:nvPr/>
          </p:nvSpPr>
          <p:spPr>
            <a:xfrm>
              <a:off x="8834438" y="3173968"/>
              <a:ext cx="980885"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Arial"/>
                  <a:ea typeface="Microsoft YaHei"/>
                  <a:cs typeface="Arial"/>
                </a:rPr>
                <a:t>05 高意向升级人工</a:t>
              </a:r>
            </a:p>
          </p:txBody>
        </p:sp>
        <p:sp>
          <p:nvSpPr>
            <p:cNvPr id="154" name="TextBox 154"/>
            <p:cNvSpPr txBox="1"/>
            <p:nvPr/>
          </p:nvSpPr>
          <p:spPr>
            <a:xfrm>
              <a:off x="9958388" y="3094911"/>
              <a:ext cx="16325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D3D3D"/>
                  </a:solidFill>
                  <a:latin typeface="+mn-lt"/>
                  <a:ea typeface="+mn-ea"/>
                  <a:cs typeface="+mn-cs"/>
                </a:rPr>
                <a:t>达到预设评分阈值，自动分配给客户经理</a:t>
              </a:r>
              <a:br/>
              <a:r>
                <a:rPr lang="zh-CN" sz="710" dirty="0">
                  <a:solidFill>
                    <a:srgbClr val="3D3D3D"/>
                  </a:solidFill>
                  <a:latin typeface="+mn-lt"/>
                  <a:ea typeface="+mn-ea"/>
                  <a:cs typeface="+mn-cs"/>
                </a:rPr>
                <a:t>进行人工跟进</a:t>
              </a:r>
            </a:p>
          </p:txBody>
        </p:sp>
        <p:sp>
          <p:nvSpPr>
            <p:cNvPr id="155" name="Polygon 155"/>
            <p:cNvSpPr/>
            <p:nvPr/>
          </p:nvSpPr>
          <p:spPr>
            <a:xfrm>
              <a:off x="8534400" y="3448050"/>
              <a:ext cx="114300" cy="57150"/>
            </a:xfrm>
            <a:custGeom>
              <a:avLst/>
              <a:gdLst/>
              <a:ahLst/>
              <a:cxnLst/>
              <a:rect l="l" t="t" r="r" b="b"/>
              <a:pathLst>
                <a:path w="114300" h="57150">
                  <a:moveTo>
                    <a:pt x="0" y="0"/>
                  </a:moveTo>
                  <a:lnTo>
                    <a:pt x="114300" y="0"/>
                  </a:lnTo>
                  <a:lnTo>
                    <a:pt x="57150" y="57150"/>
                  </a:lnTo>
                  <a:close/>
                </a:path>
              </a:pathLst>
            </a:custGeom>
            <a:solidFill>
              <a:srgbClr val="F3B2A3"/>
            </a:solidFill>
            <a:ln>
              <a:noFill/>
            </a:ln>
          </p:spPr>
        </p:sp>
        <p:sp>
          <p:nvSpPr>
            <p:cNvPr id="156" name="Rectangle 156"/>
            <p:cNvSpPr/>
            <p:nvPr/>
          </p:nvSpPr>
          <p:spPr>
            <a:xfrm>
              <a:off x="8382000" y="3524250"/>
              <a:ext cx="3581400" cy="419100"/>
            </a:xfrm>
            <a:prstGeom prst="roundRect">
              <a:avLst>
                <a:gd name="adj" fmla="val 50000"/>
              </a:avLst>
            </a:prstGeom>
            <a:solidFill>
              <a:srgbClr val="FDEFF1"/>
            </a:solidFill>
            <a:ln>
              <a:noFill/>
            </a:ln>
          </p:spPr>
        </p:sp>
        <p:sp>
          <p:nvSpPr>
            <p:cNvPr id="157" name="Ellipse 157"/>
            <p:cNvSpPr/>
            <p:nvPr/>
          </p:nvSpPr>
          <p:spPr>
            <a:xfrm>
              <a:off x="8420100" y="3562350"/>
              <a:ext cx="342900" cy="342900"/>
            </a:xfrm>
            <a:prstGeom prst="ellipse">
              <a:avLst/>
            </a:prstGeom>
            <a:solidFill>
              <a:srgbClr val="C83210"/>
            </a:solidFill>
            <a:ln>
              <a:noFill/>
            </a:ln>
          </p:spPr>
        </p:sp>
        <p:grpSp>
          <p:nvGrpSpPr>
            <p:cNvPr id="160" name="Group 160"/>
            <p:cNvGrpSpPr/>
            <p:nvPr/>
          </p:nvGrpSpPr>
          <p:grpSpPr>
            <a:xfrm>
              <a:off x="8516628" y="3658878"/>
              <a:ext cx="149844" cy="149844"/>
              <a:chOff x="8516628" y="3658878"/>
              <a:chExt cx="149844" cy="149844"/>
            </a:xfrm>
          </p:grpSpPr>
          <p:sp>
            <p:nvSpPr>
              <p:cNvPr id="158" name="Freeform 158"/>
              <p:cNvSpPr/>
              <p:nvPr/>
            </p:nvSpPr>
            <p:spPr>
              <a:xfrm>
                <a:off x="8516628" y="365887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159" name="Freeform 159"/>
              <p:cNvSpPr/>
              <p:nvPr/>
            </p:nvSpPr>
            <p:spPr>
              <a:xfrm>
                <a:off x="8567737" y="370998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161" name="TextBox 161"/>
            <p:cNvSpPr txBox="1"/>
            <p:nvPr/>
          </p:nvSpPr>
          <p:spPr>
            <a:xfrm>
              <a:off x="8834438" y="3688318"/>
              <a:ext cx="749339"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Arial"/>
                  <a:ea typeface="Microsoft YaHei"/>
                  <a:cs typeface="Arial"/>
                </a:rPr>
                <a:t>06 无响应降频</a:t>
              </a:r>
            </a:p>
          </p:txBody>
        </p:sp>
        <p:sp>
          <p:nvSpPr>
            <p:cNvPr id="162" name="TextBox 162"/>
            <p:cNvSpPr txBox="1"/>
            <p:nvPr/>
          </p:nvSpPr>
          <p:spPr>
            <a:xfrm>
              <a:off x="9958388" y="3609261"/>
              <a:ext cx="17227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D3D3D"/>
                  </a:solidFill>
                  <a:latin typeface="+mn-lt"/>
                  <a:ea typeface="+mn-ea"/>
                  <a:cs typeface="+mn-cs"/>
                </a:rPr>
                <a:t>连续多次无响应的客户，自动降低触达频率</a:t>
              </a:r>
              <a:br/>
              <a:r>
                <a:rPr lang="zh-CN" sz="710" dirty="0">
                  <a:solidFill>
                    <a:srgbClr val="3D3D3D"/>
                  </a:solidFill>
                  <a:latin typeface="+mn-lt"/>
                  <a:ea typeface="+mn-ea"/>
                  <a:cs typeface="+mn-cs"/>
                </a:rPr>
                <a:t>或转入沉睡唤醒池</a:t>
              </a:r>
            </a:p>
          </p:txBody>
        </p:sp>
      </p:grpSp>
      <p:grpSp>
        <p:nvGrpSpPr>
          <p:cNvPr id="206" name="cost-table"/>
          <p:cNvGrpSpPr/>
          <p:nvPr/>
        </p:nvGrpSpPr>
        <p:grpSpPr>
          <a:xfrm>
            <a:off x="171450" y="4305300"/>
            <a:ext cx="5695950" cy="2495550"/>
            <a:chOff x="171450" y="4305300"/>
            <a:chExt cx="5695950" cy="2495550"/>
          </a:xfrm>
        </p:grpSpPr>
        <p:sp>
          <p:nvSpPr>
            <p:cNvPr id="164" name="Rectangle 164"/>
            <p:cNvSpPr/>
            <p:nvPr/>
          </p:nvSpPr>
          <p:spPr>
            <a:xfrm>
              <a:off x="171450" y="4305300"/>
              <a:ext cx="5695950" cy="2495550"/>
            </a:xfrm>
            <a:prstGeom prst="roundRect">
              <a:avLst>
                <a:gd name="adj" fmla="val 2290"/>
              </a:avLst>
            </a:prstGeom>
            <a:solidFill>
              <a:srgbClr val="FFFFFF"/>
            </a:solidFill>
            <a:ln w="9525">
              <a:solidFill>
                <a:srgbClr val="F1C7CC"/>
              </a:solidFill>
            </a:ln>
          </p:spPr>
        </p:sp>
        <p:sp>
          <p:nvSpPr>
            <p:cNvPr id="165" name="Rectangle 165"/>
            <p:cNvSpPr/>
            <p:nvPr/>
          </p:nvSpPr>
          <p:spPr>
            <a:xfrm>
              <a:off x="228600" y="4362450"/>
              <a:ext cx="38100" cy="152400"/>
            </a:xfrm>
            <a:prstGeom prst="rect">
              <a:avLst/>
            </a:prstGeom>
            <a:solidFill>
              <a:srgbClr val="C83210"/>
            </a:solidFill>
            <a:ln>
              <a:noFill/>
            </a:ln>
          </p:spPr>
        </p:sp>
        <p:sp>
          <p:nvSpPr>
            <p:cNvPr id="166" name="TextBox 166"/>
            <p:cNvSpPr txBox="1"/>
            <p:nvPr/>
          </p:nvSpPr>
          <p:spPr>
            <a:xfrm>
              <a:off x="318897" y="4381024"/>
              <a:ext cx="2076948"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Arial"/>
                  <a:ea typeface="Microsoft YaHei"/>
                  <a:cs typeface="Arial"/>
                </a:rPr>
                <a:t xml:space="preserve">四、人工 vs 自动化运营成本对比　</a:t>
              </a:r>
            </a:p>
          </p:txBody>
        </p:sp>
        <p:sp>
          <p:nvSpPr>
            <p:cNvPr id="167" name="TextBox 167"/>
            <p:cNvSpPr txBox="1"/>
            <p:nvPr/>
          </p:nvSpPr>
          <p:spPr>
            <a:xfrm>
              <a:off x="2490788" y="4405312"/>
              <a:ext cx="1433131" cy="147638"/>
            </a:xfrm>
            <a:prstGeom prst="rect">
              <a:avLst/>
            </a:prstGeom>
            <a:noFill/>
            <a:ln>
              <a:noFill/>
            </a:ln>
          </p:spPr>
          <p:txBody>
            <a:bodyPr wrap="none" lIns="0" tIns="0" rIns="0" bIns="0" anchor="t" anchorCtr="0">
              <a:spAutoFit/>
            </a:bodyPr>
            <a:lstStyle/>
            <a:p>
              <a:pPr algn="l"/>
              <a:r>
                <a:rPr lang="zh-CN" sz="750" dirty="0">
                  <a:solidFill>
                    <a:srgbClr val="666666"/>
                  </a:solidFill>
                  <a:latin typeface="+mn-lt"/>
                  <a:ea typeface="+mn-ea"/>
                  <a:cs typeface="+mn-cs"/>
                </a:rPr>
                <a:t xml:space="preserve">（以1万名长尾客户/月为例）　</a:t>
              </a:r>
            </a:p>
          </p:txBody>
        </p:sp>
        <p:sp>
          <p:nvSpPr>
            <p:cNvPr id="168" name="Rectangle 168"/>
            <p:cNvSpPr/>
            <p:nvPr/>
          </p:nvSpPr>
          <p:spPr>
            <a:xfrm>
              <a:off x="228600" y="4572000"/>
              <a:ext cx="5581650" cy="209550"/>
            </a:xfrm>
            <a:prstGeom prst="rect">
              <a:avLst/>
            </a:prstGeom>
            <a:solidFill>
              <a:srgbClr val="C83210"/>
            </a:solidFill>
            <a:ln>
              <a:noFill/>
            </a:ln>
          </p:spPr>
        </p:sp>
        <p:sp>
          <p:nvSpPr>
            <p:cNvPr id="169" name="TextBox 169"/>
            <p:cNvSpPr txBox="1"/>
            <p:nvPr/>
          </p:nvSpPr>
          <p:spPr>
            <a:xfrm>
              <a:off x="701040" y="4633912"/>
              <a:ext cx="31242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对比项</a:t>
              </a:r>
            </a:p>
          </p:txBody>
        </p:sp>
        <p:sp>
          <p:nvSpPr>
            <p:cNvPr id="170" name="TextBox 170"/>
            <p:cNvSpPr txBox="1"/>
            <p:nvPr/>
          </p:nvSpPr>
          <p:spPr>
            <a:xfrm>
              <a:off x="2136458" y="46339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人工运营</a:t>
              </a:r>
            </a:p>
          </p:txBody>
        </p:sp>
        <p:sp>
          <p:nvSpPr>
            <p:cNvPr id="171" name="TextBox 171"/>
            <p:cNvSpPr txBox="1"/>
            <p:nvPr/>
          </p:nvSpPr>
          <p:spPr>
            <a:xfrm>
              <a:off x="3800475" y="4633912"/>
              <a:ext cx="51435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自动化运营</a:t>
              </a:r>
            </a:p>
          </p:txBody>
        </p:sp>
        <p:sp>
          <p:nvSpPr>
            <p:cNvPr id="172" name="TextBox 172"/>
            <p:cNvSpPr txBox="1"/>
            <p:nvPr/>
          </p:nvSpPr>
          <p:spPr>
            <a:xfrm>
              <a:off x="5256848" y="463391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降幅</a:t>
              </a:r>
            </a:p>
          </p:txBody>
        </p:sp>
        <p:sp>
          <p:nvSpPr>
            <p:cNvPr id="173" name="Rectangle 173"/>
            <p:cNvSpPr/>
            <p:nvPr/>
          </p:nvSpPr>
          <p:spPr>
            <a:xfrm>
              <a:off x="228600" y="4781550"/>
              <a:ext cx="5581650" cy="304800"/>
            </a:xfrm>
            <a:prstGeom prst="rect">
              <a:avLst/>
            </a:prstGeom>
            <a:solidFill>
              <a:srgbClr val="FDEFF1"/>
            </a:solidFill>
            <a:ln>
              <a:noFill/>
            </a:ln>
          </p:spPr>
        </p:sp>
        <p:sp>
          <p:nvSpPr>
            <p:cNvPr id="174" name="Rectangle 174"/>
            <p:cNvSpPr/>
            <p:nvPr/>
          </p:nvSpPr>
          <p:spPr>
            <a:xfrm>
              <a:off x="228600" y="5391150"/>
              <a:ext cx="5581650" cy="304800"/>
            </a:xfrm>
            <a:prstGeom prst="rect">
              <a:avLst/>
            </a:prstGeom>
            <a:solidFill>
              <a:srgbClr val="FDEFF1"/>
            </a:solidFill>
            <a:ln>
              <a:noFill/>
            </a:ln>
          </p:spPr>
        </p:sp>
        <p:sp>
          <p:nvSpPr>
            <p:cNvPr id="175" name="Rectangle 175"/>
            <p:cNvSpPr/>
            <p:nvPr/>
          </p:nvSpPr>
          <p:spPr>
            <a:xfrm>
              <a:off x="228600" y="6000750"/>
              <a:ext cx="5581650" cy="304800"/>
            </a:xfrm>
            <a:prstGeom prst="rect">
              <a:avLst/>
            </a:prstGeom>
            <a:solidFill>
              <a:srgbClr val="FDEFF1"/>
            </a:solidFill>
            <a:ln>
              <a:noFill/>
            </a:ln>
          </p:spPr>
        </p:sp>
        <p:sp>
          <p:nvSpPr>
            <p:cNvPr id="176" name="Line 176"/>
            <p:cNvSpPr/>
            <p:nvPr/>
          </p:nvSpPr>
          <p:spPr>
            <a:xfrm>
              <a:off x="1485900" y="4781550"/>
              <a:ext cx="9525" cy="1828800"/>
            </a:xfrm>
            <a:custGeom>
              <a:avLst/>
              <a:gdLst/>
              <a:ahLst/>
              <a:cxnLst/>
              <a:rect l="l" t="t" r="r" b="b"/>
              <a:pathLst>
                <a:path w="9525" h="1828800">
                  <a:moveTo>
                    <a:pt x="0" y="0"/>
                  </a:moveTo>
                  <a:lnTo>
                    <a:pt x="0" y="1828800"/>
                  </a:lnTo>
                </a:path>
              </a:pathLst>
            </a:custGeom>
            <a:noFill/>
            <a:ln w="9525">
              <a:solidFill>
                <a:srgbClr val="F1C7CC"/>
              </a:solidFill>
            </a:ln>
          </p:spPr>
        </p:sp>
        <p:sp>
          <p:nvSpPr>
            <p:cNvPr id="177" name="Line 177"/>
            <p:cNvSpPr/>
            <p:nvPr/>
          </p:nvSpPr>
          <p:spPr>
            <a:xfrm>
              <a:off x="3200400" y="4781550"/>
              <a:ext cx="9525" cy="1828800"/>
            </a:xfrm>
            <a:custGeom>
              <a:avLst/>
              <a:gdLst/>
              <a:ahLst/>
              <a:cxnLst/>
              <a:rect l="l" t="t" r="r" b="b"/>
              <a:pathLst>
                <a:path w="9525" h="1828800">
                  <a:moveTo>
                    <a:pt x="0" y="0"/>
                  </a:moveTo>
                  <a:lnTo>
                    <a:pt x="0" y="1828800"/>
                  </a:lnTo>
                </a:path>
              </a:pathLst>
            </a:custGeom>
            <a:noFill/>
            <a:ln w="9525">
              <a:solidFill>
                <a:srgbClr val="F1C7CC"/>
              </a:solidFill>
            </a:ln>
          </p:spPr>
        </p:sp>
        <p:sp>
          <p:nvSpPr>
            <p:cNvPr id="178" name="Line 178"/>
            <p:cNvSpPr/>
            <p:nvPr/>
          </p:nvSpPr>
          <p:spPr>
            <a:xfrm>
              <a:off x="4914900" y="4781550"/>
              <a:ext cx="9525" cy="1828800"/>
            </a:xfrm>
            <a:custGeom>
              <a:avLst/>
              <a:gdLst/>
              <a:ahLst/>
              <a:cxnLst/>
              <a:rect l="l" t="t" r="r" b="b"/>
              <a:pathLst>
                <a:path w="9525" h="1828800">
                  <a:moveTo>
                    <a:pt x="0" y="0"/>
                  </a:moveTo>
                  <a:lnTo>
                    <a:pt x="0" y="1828800"/>
                  </a:lnTo>
                </a:path>
              </a:pathLst>
            </a:custGeom>
            <a:noFill/>
            <a:ln w="9525">
              <a:solidFill>
                <a:srgbClr val="F1C7CC"/>
              </a:solidFill>
            </a:ln>
          </p:spPr>
        </p:sp>
        <p:sp>
          <p:nvSpPr>
            <p:cNvPr id="179" name="TextBox 179"/>
            <p:cNvSpPr txBox="1"/>
            <p:nvPr/>
          </p:nvSpPr>
          <p:spPr>
            <a:xfrm>
              <a:off x="650558" y="4891088"/>
              <a:ext cx="413385" cy="147638"/>
            </a:xfrm>
            <a:prstGeom prst="rect">
              <a:avLst/>
            </a:prstGeom>
            <a:noFill/>
            <a:ln>
              <a:noFill/>
            </a:ln>
          </p:spPr>
          <p:txBody>
            <a:bodyPr wrap="none" lIns="0" tIns="0" rIns="0" bIns="0" anchor="t" anchorCtr="0">
              <a:spAutoFit/>
            </a:bodyPr>
            <a:lstStyle/>
            <a:p>
              <a:pPr algn="ctr"/>
              <a:r>
                <a:rPr lang="zh-CN" sz="750" dirty="0">
                  <a:solidFill>
                    <a:srgbClr val="222222"/>
                  </a:solidFill>
                  <a:latin typeface="+mn-lt"/>
                  <a:ea typeface="+mn-ea"/>
                  <a:cs typeface="+mn-cs"/>
                </a:rPr>
                <a:t>触达人力</a:t>
              </a:r>
            </a:p>
          </p:txBody>
        </p:sp>
        <p:sp>
          <p:nvSpPr>
            <p:cNvPr id="180" name="TextBox 180"/>
            <p:cNvSpPr txBox="1"/>
            <p:nvPr/>
          </p:nvSpPr>
          <p:spPr>
            <a:xfrm>
              <a:off x="2167242" y="4833938"/>
              <a:ext cx="351817"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Microsoft YaHei"/>
                  <a:cs typeface="Arial"/>
                </a:rPr>
                <a:t xml:space="preserve">10 人　</a:t>
              </a:r>
            </a:p>
          </p:txBody>
        </p:sp>
        <p:sp>
          <p:nvSpPr>
            <p:cNvPr id="181" name="TextBox 181"/>
            <p:cNvSpPr txBox="1"/>
            <p:nvPr/>
          </p:nvSpPr>
          <p:spPr>
            <a:xfrm>
              <a:off x="1885952" y="4969907"/>
              <a:ext cx="914395"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Arial"/>
                  <a:ea typeface="Microsoft YaHei"/>
                  <a:cs typeface="Arial"/>
                </a:rPr>
                <a:t xml:space="preserve">（每人维护1,000人）　</a:t>
              </a:r>
            </a:p>
          </p:txBody>
        </p:sp>
        <p:sp>
          <p:nvSpPr>
            <p:cNvPr id="182" name="TextBox 182"/>
            <p:cNvSpPr txBox="1"/>
            <p:nvPr/>
          </p:nvSpPr>
          <p:spPr>
            <a:xfrm>
              <a:off x="3909820" y="4833938"/>
              <a:ext cx="295660"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Microsoft YaHei"/>
                  <a:cs typeface="Arial"/>
                </a:rPr>
                <a:t xml:space="preserve">1 人　</a:t>
              </a:r>
            </a:p>
          </p:txBody>
        </p:sp>
        <p:sp>
          <p:nvSpPr>
            <p:cNvPr id="183" name="TextBox 183"/>
            <p:cNvSpPr txBox="1"/>
            <p:nvPr/>
          </p:nvSpPr>
          <p:spPr>
            <a:xfrm>
              <a:off x="3794417" y="4969907"/>
              <a:ext cx="52646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（系统运营）</a:t>
              </a:r>
            </a:p>
          </p:txBody>
        </p:sp>
        <p:sp>
          <p:nvSpPr>
            <p:cNvPr id="184" name="TextBox 184"/>
            <p:cNvSpPr txBox="1"/>
            <p:nvPr/>
          </p:nvSpPr>
          <p:spPr>
            <a:xfrm>
              <a:off x="5217501" y="4891088"/>
              <a:ext cx="290147"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Arial"/>
                  <a:ea typeface="Arial"/>
                  <a:cs typeface="Arial"/>
                </a:rPr>
                <a:t>↓ 90%</a:t>
              </a:r>
            </a:p>
          </p:txBody>
        </p:sp>
        <p:sp>
          <p:nvSpPr>
            <p:cNvPr id="185" name="TextBox 185"/>
            <p:cNvSpPr txBox="1"/>
            <p:nvPr/>
          </p:nvSpPr>
          <p:spPr>
            <a:xfrm>
              <a:off x="370380" y="5195888"/>
              <a:ext cx="973741" cy="147638"/>
            </a:xfrm>
            <a:prstGeom prst="rect">
              <a:avLst/>
            </a:prstGeom>
            <a:noFill/>
            <a:ln>
              <a:noFill/>
            </a:ln>
          </p:spPr>
          <p:txBody>
            <a:bodyPr wrap="none" lIns="0" tIns="0" rIns="0" bIns="0" anchor="t" anchorCtr="0">
              <a:spAutoFit/>
            </a:bodyPr>
            <a:lstStyle/>
            <a:p>
              <a:pPr algn="ctr"/>
              <a:r>
                <a:rPr lang="zh-CN" sz="750" dirty="0">
                  <a:solidFill>
                    <a:srgbClr val="222222"/>
                  </a:solidFill>
                  <a:latin typeface="+mn-lt"/>
                  <a:ea typeface="+mn-ea"/>
                  <a:cs typeface="+mn-cs"/>
                </a:rPr>
                <a:t>人力成本（万元/月）</a:t>
              </a:r>
            </a:p>
          </p:txBody>
        </p:sp>
        <p:sp>
          <p:nvSpPr>
            <p:cNvPr id="186" name="TextBox 186"/>
            <p:cNvSpPr txBox="1"/>
            <p:nvPr/>
          </p:nvSpPr>
          <p:spPr>
            <a:xfrm>
              <a:off x="2268207" y="5138738"/>
              <a:ext cx="149887"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Arial"/>
                  <a:cs typeface="Arial"/>
                </a:rPr>
                <a:t>5.0</a:t>
              </a:r>
            </a:p>
          </p:txBody>
        </p:sp>
        <p:sp>
          <p:nvSpPr>
            <p:cNvPr id="187" name="TextBox 187"/>
            <p:cNvSpPr txBox="1"/>
            <p:nvPr/>
          </p:nvSpPr>
          <p:spPr>
            <a:xfrm>
              <a:off x="1909938" y="5274707"/>
              <a:ext cx="866423"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Arial"/>
                  <a:ea typeface="Microsoft YaHei"/>
                  <a:cs typeface="Arial"/>
                </a:rPr>
                <a:t xml:space="preserve">（按0.5万元/人/月）　</a:t>
              </a:r>
            </a:p>
          </p:txBody>
        </p:sp>
        <p:sp>
          <p:nvSpPr>
            <p:cNvPr id="188" name="TextBox 188"/>
            <p:cNvSpPr txBox="1"/>
            <p:nvPr/>
          </p:nvSpPr>
          <p:spPr>
            <a:xfrm>
              <a:off x="3982707" y="5195888"/>
              <a:ext cx="149887"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Arial"/>
                  <a:cs typeface="Arial"/>
                </a:rPr>
                <a:t>0.5</a:t>
              </a:r>
            </a:p>
          </p:txBody>
        </p:sp>
        <p:sp>
          <p:nvSpPr>
            <p:cNvPr id="189" name="TextBox 189"/>
            <p:cNvSpPr txBox="1"/>
            <p:nvPr/>
          </p:nvSpPr>
          <p:spPr>
            <a:xfrm>
              <a:off x="5217501" y="5195888"/>
              <a:ext cx="290147"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Arial"/>
                  <a:ea typeface="Arial"/>
                  <a:cs typeface="Arial"/>
                </a:rPr>
                <a:t>↓ 90%</a:t>
              </a:r>
            </a:p>
          </p:txBody>
        </p:sp>
        <p:sp>
          <p:nvSpPr>
            <p:cNvPr id="190" name="TextBox 190"/>
            <p:cNvSpPr txBox="1"/>
            <p:nvPr/>
          </p:nvSpPr>
          <p:spPr>
            <a:xfrm>
              <a:off x="549592" y="5500688"/>
              <a:ext cx="615315" cy="147638"/>
            </a:xfrm>
            <a:prstGeom prst="rect">
              <a:avLst/>
            </a:prstGeom>
            <a:noFill/>
            <a:ln>
              <a:noFill/>
            </a:ln>
          </p:spPr>
          <p:txBody>
            <a:bodyPr wrap="none" lIns="0" tIns="0" rIns="0" bIns="0" anchor="t" anchorCtr="0">
              <a:spAutoFit/>
            </a:bodyPr>
            <a:lstStyle/>
            <a:p>
              <a:pPr algn="ctr"/>
              <a:r>
                <a:rPr lang="zh-CN" sz="750" dirty="0">
                  <a:solidFill>
                    <a:srgbClr val="222222"/>
                  </a:solidFill>
                  <a:latin typeface="+mn-lt"/>
                  <a:ea typeface="+mn-ea"/>
                  <a:cs typeface="+mn-cs"/>
                </a:rPr>
                <a:t>月均触达次数</a:t>
              </a:r>
            </a:p>
          </p:txBody>
        </p:sp>
        <p:sp>
          <p:nvSpPr>
            <p:cNvPr id="191" name="TextBox 191"/>
            <p:cNvSpPr txBox="1"/>
            <p:nvPr/>
          </p:nvSpPr>
          <p:spPr>
            <a:xfrm>
              <a:off x="2195320" y="5500688"/>
              <a:ext cx="295660"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Microsoft YaHei"/>
                  <a:cs typeface="Arial"/>
                </a:rPr>
                <a:t xml:space="preserve">1 次　</a:t>
              </a:r>
            </a:p>
          </p:txBody>
        </p:sp>
        <p:sp>
          <p:nvSpPr>
            <p:cNvPr id="192" name="TextBox 192"/>
            <p:cNvSpPr txBox="1"/>
            <p:nvPr/>
          </p:nvSpPr>
          <p:spPr>
            <a:xfrm>
              <a:off x="3909820" y="5500688"/>
              <a:ext cx="295660"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Microsoft YaHei"/>
                  <a:cs typeface="Arial"/>
                </a:rPr>
                <a:t xml:space="preserve">4 次　</a:t>
              </a:r>
            </a:p>
          </p:txBody>
        </p:sp>
        <p:sp>
          <p:nvSpPr>
            <p:cNvPr id="193" name="TextBox 193"/>
            <p:cNvSpPr txBox="1"/>
            <p:nvPr/>
          </p:nvSpPr>
          <p:spPr>
            <a:xfrm>
              <a:off x="5330047" y="5500688"/>
              <a:ext cx="65056" cy="147638"/>
            </a:xfrm>
            <a:prstGeom prst="rect">
              <a:avLst/>
            </a:prstGeom>
            <a:noFill/>
            <a:ln>
              <a:noFill/>
            </a:ln>
          </p:spPr>
          <p:txBody>
            <a:bodyPr wrap="none" lIns="0" tIns="0" rIns="0" bIns="0" anchor="t" anchorCtr="0">
              <a:spAutoFit/>
            </a:bodyPr>
            <a:lstStyle/>
            <a:p>
              <a:pPr algn="ctr"/>
              <a:r>
                <a:rPr lang="zh-CN" sz="750" dirty="0">
                  <a:solidFill>
                    <a:srgbClr val="808080"/>
                  </a:solidFill>
                  <a:latin typeface="+mn-lt"/>
                  <a:ea typeface="+mn-ea"/>
                  <a:cs typeface="+mn-cs"/>
                </a:rPr>
                <a:t>—</a:t>
              </a:r>
            </a:p>
          </p:txBody>
        </p:sp>
        <p:sp>
          <p:nvSpPr>
            <p:cNvPr id="194" name="TextBox 194"/>
            <p:cNvSpPr txBox="1"/>
            <p:nvPr/>
          </p:nvSpPr>
          <p:spPr>
            <a:xfrm>
              <a:off x="549592" y="5805488"/>
              <a:ext cx="615315" cy="147638"/>
            </a:xfrm>
            <a:prstGeom prst="rect">
              <a:avLst/>
            </a:prstGeom>
            <a:noFill/>
            <a:ln>
              <a:noFill/>
            </a:ln>
          </p:spPr>
          <p:txBody>
            <a:bodyPr wrap="none" lIns="0" tIns="0" rIns="0" bIns="0" anchor="t" anchorCtr="0">
              <a:spAutoFit/>
            </a:bodyPr>
            <a:lstStyle/>
            <a:p>
              <a:pPr algn="ctr"/>
              <a:r>
                <a:rPr lang="zh-CN" sz="750" dirty="0">
                  <a:solidFill>
                    <a:srgbClr val="222222"/>
                  </a:solidFill>
                  <a:latin typeface="+mn-lt"/>
                  <a:ea typeface="+mn-ea"/>
                  <a:cs typeface="+mn-cs"/>
                </a:rPr>
                <a:t>可触达客户数</a:t>
              </a:r>
            </a:p>
          </p:txBody>
        </p:sp>
        <p:sp>
          <p:nvSpPr>
            <p:cNvPr id="195" name="TextBox 195"/>
            <p:cNvSpPr txBox="1"/>
            <p:nvPr/>
          </p:nvSpPr>
          <p:spPr>
            <a:xfrm>
              <a:off x="2195320" y="5805488"/>
              <a:ext cx="295660"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Microsoft YaHei"/>
                  <a:cs typeface="Arial"/>
                </a:rPr>
                <a:t xml:space="preserve">1 万　</a:t>
              </a:r>
            </a:p>
          </p:txBody>
        </p:sp>
        <p:sp>
          <p:nvSpPr>
            <p:cNvPr id="196" name="TextBox 196"/>
            <p:cNvSpPr txBox="1"/>
            <p:nvPr/>
          </p:nvSpPr>
          <p:spPr>
            <a:xfrm>
              <a:off x="3880338" y="5805488"/>
              <a:ext cx="354623"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Microsoft YaHei"/>
                  <a:cs typeface="Arial"/>
                </a:rPr>
                <a:t xml:space="preserve">1 万+　</a:t>
              </a:r>
            </a:p>
          </p:txBody>
        </p:sp>
        <p:sp>
          <p:nvSpPr>
            <p:cNvPr id="197" name="TextBox 197"/>
            <p:cNvSpPr txBox="1"/>
            <p:nvPr/>
          </p:nvSpPr>
          <p:spPr>
            <a:xfrm>
              <a:off x="5330047" y="5805488"/>
              <a:ext cx="65056" cy="147638"/>
            </a:xfrm>
            <a:prstGeom prst="rect">
              <a:avLst/>
            </a:prstGeom>
            <a:noFill/>
            <a:ln>
              <a:noFill/>
            </a:ln>
          </p:spPr>
          <p:txBody>
            <a:bodyPr wrap="none" lIns="0" tIns="0" rIns="0" bIns="0" anchor="t" anchorCtr="0">
              <a:spAutoFit/>
            </a:bodyPr>
            <a:lstStyle/>
            <a:p>
              <a:pPr algn="ctr"/>
              <a:r>
                <a:rPr lang="zh-CN" sz="750" dirty="0">
                  <a:solidFill>
                    <a:srgbClr val="808080"/>
                  </a:solidFill>
                  <a:latin typeface="+mn-lt"/>
                  <a:ea typeface="+mn-ea"/>
                  <a:cs typeface="+mn-cs"/>
                </a:rPr>
                <a:t>—</a:t>
              </a:r>
            </a:p>
          </p:txBody>
        </p:sp>
        <p:sp>
          <p:nvSpPr>
            <p:cNvPr id="198" name="TextBox 198"/>
            <p:cNvSpPr txBox="1"/>
            <p:nvPr/>
          </p:nvSpPr>
          <p:spPr>
            <a:xfrm>
              <a:off x="398145" y="6110288"/>
              <a:ext cx="918210" cy="147638"/>
            </a:xfrm>
            <a:prstGeom prst="rect">
              <a:avLst/>
            </a:prstGeom>
            <a:noFill/>
            <a:ln>
              <a:noFill/>
            </a:ln>
          </p:spPr>
          <p:txBody>
            <a:bodyPr wrap="none" lIns="0" tIns="0" rIns="0" bIns="0" anchor="t" anchorCtr="0">
              <a:spAutoFit/>
            </a:bodyPr>
            <a:lstStyle/>
            <a:p>
              <a:pPr algn="ctr"/>
              <a:r>
                <a:rPr lang="zh-CN" sz="750" dirty="0">
                  <a:solidFill>
                    <a:srgbClr val="222222"/>
                  </a:solidFill>
                  <a:latin typeface="+mn-lt"/>
                  <a:ea typeface="+mn-ea"/>
                  <a:cs typeface="+mn-cs"/>
                </a:rPr>
                <a:t>单客月均成本（元）</a:t>
              </a:r>
            </a:p>
          </p:txBody>
        </p:sp>
        <p:sp>
          <p:nvSpPr>
            <p:cNvPr id="199" name="TextBox 199"/>
            <p:cNvSpPr txBox="1"/>
            <p:nvPr/>
          </p:nvSpPr>
          <p:spPr>
            <a:xfrm>
              <a:off x="2268207" y="6110288"/>
              <a:ext cx="149887"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Arial"/>
                  <a:cs typeface="Arial"/>
                </a:rPr>
                <a:t>5.0</a:t>
              </a:r>
            </a:p>
          </p:txBody>
        </p:sp>
        <p:sp>
          <p:nvSpPr>
            <p:cNvPr id="200" name="TextBox 200"/>
            <p:cNvSpPr txBox="1"/>
            <p:nvPr/>
          </p:nvSpPr>
          <p:spPr>
            <a:xfrm>
              <a:off x="3982707" y="6110288"/>
              <a:ext cx="149887"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Arial"/>
                  <a:cs typeface="Arial"/>
                </a:rPr>
                <a:t>0.5</a:t>
              </a:r>
            </a:p>
          </p:txBody>
        </p:sp>
        <p:sp>
          <p:nvSpPr>
            <p:cNvPr id="201" name="TextBox 201"/>
            <p:cNvSpPr txBox="1"/>
            <p:nvPr/>
          </p:nvSpPr>
          <p:spPr>
            <a:xfrm>
              <a:off x="5217501" y="6110288"/>
              <a:ext cx="290147"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Arial"/>
                  <a:ea typeface="Arial"/>
                  <a:cs typeface="Arial"/>
                </a:rPr>
                <a:t>↓ 90%</a:t>
              </a:r>
            </a:p>
          </p:txBody>
        </p:sp>
        <p:sp>
          <p:nvSpPr>
            <p:cNvPr id="202" name="TextBox 202"/>
            <p:cNvSpPr txBox="1"/>
            <p:nvPr/>
          </p:nvSpPr>
          <p:spPr>
            <a:xfrm>
              <a:off x="499110" y="6415088"/>
              <a:ext cx="716280" cy="147638"/>
            </a:xfrm>
            <a:prstGeom prst="rect">
              <a:avLst/>
            </a:prstGeom>
            <a:noFill/>
            <a:ln>
              <a:noFill/>
            </a:ln>
          </p:spPr>
          <p:txBody>
            <a:bodyPr wrap="none" lIns="0" tIns="0" rIns="0" bIns="0" anchor="t" anchorCtr="0">
              <a:spAutoFit/>
            </a:bodyPr>
            <a:lstStyle/>
            <a:p>
              <a:pPr algn="ctr"/>
              <a:r>
                <a:rPr lang="zh-CN" sz="750" dirty="0">
                  <a:solidFill>
                    <a:srgbClr val="222222"/>
                  </a:solidFill>
                  <a:latin typeface="+mn-lt"/>
                  <a:ea typeface="+mn-ea"/>
                  <a:cs typeface="+mn-cs"/>
                </a:rPr>
                <a:t>预计有效互动率</a:t>
              </a:r>
            </a:p>
          </p:txBody>
        </p:sp>
        <p:sp>
          <p:nvSpPr>
            <p:cNvPr id="203" name="TextBox 203"/>
            <p:cNvSpPr txBox="1"/>
            <p:nvPr/>
          </p:nvSpPr>
          <p:spPr>
            <a:xfrm>
              <a:off x="2164374" y="6415088"/>
              <a:ext cx="357551"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Arial"/>
                  <a:cs typeface="Arial"/>
                </a:rPr>
                <a:t>1%–2%</a:t>
              </a:r>
            </a:p>
          </p:txBody>
        </p:sp>
        <p:sp>
          <p:nvSpPr>
            <p:cNvPr id="204" name="TextBox 204"/>
            <p:cNvSpPr txBox="1"/>
            <p:nvPr/>
          </p:nvSpPr>
          <p:spPr>
            <a:xfrm>
              <a:off x="3878874" y="6415088"/>
              <a:ext cx="357551"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Arial"/>
                  <a:ea typeface="Arial"/>
                  <a:cs typeface="Arial"/>
                </a:rPr>
                <a:t>3%–5%</a:t>
              </a:r>
            </a:p>
          </p:txBody>
        </p:sp>
        <p:sp>
          <p:nvSpPr>
            <p:cNvPr id="205" name="TextBox 205"/>
            <p:cNvSpPr txBox="1"/>
            <p:nvPr/>
          </p:nvSpPr>
          <p:spPr>
            <a:xfrm>
              <a:off x="5071647" y="6415088"/>
              <a:ext cx="58185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Arial"/>
                  <a:ea typeface="Microsoft YaHei"/>
                  <a:cs typeface="Arial"/>
                </a:rPr>
                <a:t xml:space="preserve">提升2–3倍　</a:t>
              </a:r>
            </a:p>
          </p:txBody>
        </p:sp>
      </p:grpSp>
      <p:grpSp>
        <p:nvGrpSpPr>
          <p:cNvPr id="291" name="journey-table"/>
          <p:cNvGrpSpPr/>
          <p:nvPr/>
        </p:nvGrpSpPr>
        <p:grpSpPr>
          <a:xfrm>
            <a:off x="5981700" y="4305300"/>
            <a:ext cx="6038850" cy="2495550"/>
            <a:chOff x="5981700" y="4305300"/>
            <a:chExt cx="6038850" cy="2495550"/>
          </a:xfrm>
        </p:grpSpPr>
        <p:sp>
          <p:nvSpPr>
            <p:cNvPr id="207" name="Rectangle 207"/>
            <p:cNvSpPr/>
            <p:nvPr/>
          </p:nvSpPr>
          <p:spPr>
            <a:xfrm>
              <a:off x="5981700" y="4305300"/>
              <a:ext cx="6038850" cy="2495550"/>
            </a:xfrm>
            <a:prstGeom prst="roundRect">
              <a:avLst>
                <a:gd name="adj" fmla="val 2290"/>
              </a:avLst>
            </a:prstGeom>
            <a:solidFill>
              <a:srgbClr val="FFFFFF"/>
            </a:solidFill>
            <a:ln w="9525">
              <a:solidFill>
                <a:srgbClr val="F1C7CC"/>
              </a:solidFill>
            </a:ln>
          </p:spPr>
        </p:sp>
        <p:sp>
          <p:nvSpPr>
            <p:cNvPr id="208" name="Rectangle 208"/>
            <p:cNvSpPr/>
            <p:nvPr/>
          </p:nvSpPr>
          <p:spPr>
            <a:xfrm>
              <a:off x="6038850" y="4362450"/>
              <a:ext cx="38100" cy="152400"/>
            </a:xfrm>
            <a:prstGeom prst="rect">
              <a:avLst/>
            </a:prstGeom>
            <a:solidFill>
              <a:srgbClr val="C83210"/>
            </a:solidFill>
            <a:ln>
              <a:noFill/>
            </a:ln>
          </p:spPr>
        </p:sp>
        <p:sp>
          <p:nvSpPr>
            <p:cNvPr id="209" name="TextBox 209"/>
            <p:cNvSpPr txBox="1"/>
            <p:nvPr/>
          </p:nvSpPr>
          <p:spPr>
            <a:xfrm>
              <a:off x="6129147" y="4381024"/>
              <a:ext cx="2120748"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五、典型长尾客群月度自动旅程示例</a:t>
              </a:r>
            </a:p>
          </p:txBody>
        </p:sp>
        <p:sp>
          <p:nvSpPr>
            <p:cNvPr id="210" name="Rectangle 210"/>
            <p:cNvSpPr/>
            <p:nvPr/>
          </p:nvSpPr>
          <p:spPr>
            <a:xfrm>
              <a:off x="6038850" y="4572000"/>
              <a:ext cx="1962150" cy="361950"/>
            </a:xfrm>
            <a:prstGeom prst="rect">
              <a:avLst/>
            </a:prstGeom>
            <a:solidFill>
              <a:srgbClr val="C83210"/>
            </a:solidFill>
            <a:ln>
              <a:noFill/>
            </a:ln>
          </p:spPr>
        </p:sp>
        <p:sp>
          <p:nvSpPr>
            <p:cNvPr id="211" name="Rectangle 211"/>
            <p:cNvSpPr/>
            <p:nvPr/>
          </p:nvSpPr>
          <p:spPr>
            <a:xfrm>
              <a:off x="8001000" y="4572000"/>
              <a:ext cx="3962400" cy="190500"/>
            </a:xfrm>
            <a:prstGeom prst="rect">
              <a:avLst/>
            </a:prstGeom>
            <a:solidFill>
              <a:srgbClr val="C83210"/>
            </a:solidFill>
            <a:ln>
              <a:noFill/>
            </a:ln>
          </p:spPr>
        </p:sp>
        <p:sp>
          <p:nvSpPr>
            <p:cNvPr id="212" name="Rectangle 212"/>
            <p:cNvSpPr/>
            <p:nvPr/>
          </p:nvSpPr>
          <p:spPr>
            <a:xfrm>
              <a:off x="8001000" y="4762500"/>
              <a:ext cx="3962400" cy="171450"/>
            </a:xfrm>
            <a:prstGeom prst="rect">
              <a:avLst/>
            </a:prstGeom>
            <a:solidFill>
              <a:srgbClr val="D64F30"/>
            </a:solidFill>
            <a:ln>
              <a:noFill/>
            </a:ln>
          </p:spPr>
        </p:sp>
        <p:sp>
          <p:nvSpPr>
            <p:cNvPr id="213" name="TextBox 213"/>
            <p:cNvSpPr txBox="1"/>
            <p:nvPr/>
          </p:nvSpPr>
          <p:spPr>
            <a:xfrm>
              <a:off x="6260782" y="47101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客群类型</a:t>
              </a:r>
            </a:p>
          </p:txBody>
        </p:sp>
        <p:sp>
          <p:nvSpPr>
            <p:cNvPr id="214" name="TextBox 214"/>
            <p:cNvSpPr txBox="1"/>
            <p:nvPr/>
          </p:nvSpPr>
          <p:spPr>
            <a:xfrm>
              <a:off x="7241858" y="47101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客群特征</a:t>
              </a:r>
            </a:p>
          </p:txBody>
        </p:sp>
        <p:sp>
          <p:nvSpPr>
            <p:cNvPr id="215" name="TextBox 215"/>
            <p:cNvSpPr txBox="1"/>
            <p:nvPr/>
          </p:nvSpPr>
          <p:spPr>
            <a:xfrm>
              <a:off x="9472612" y="4624388"/>
              <a:ext cx="101917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月度内容旅程（示例）</a:t>
              </a:r>
            </a:p>
          </p:txBody>
        </p:sp>
        <p:sp>
          <p:nvSpPr>
            <p:cNvPr id="216" name="TextBox 216"/>
            <p:cNvSpPr txBox="1"/>
            <p:nvPr/>
          </p:nvSpPr>
          <p:spPr>
            <a:xfrm>
              <a:off x="8374538" y="4813459"/>
              <a:ext cx="243524"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Microsoft YaHei"/>
                  <a:cs typeface="Arial"/>
                </a:rPr>
                <a:t>第1周</a:t>
              </a:r>
            </a:p>
          </p:txBody>
        </p:sp>
        <p:sp>
          <p:nvSpPr>
            <p:cNvPr id="217" name="TextBox 217"/>
            <p:cNvSpPr txBox="1"/>
            <p:nvPr/>
          </p:nvSpPr>
          <p:spPr>
            <a:xfrm>
              <a:off x="9365138" y="4813459"/>
              <a:ext cx="243524"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Microsoft YaHei"/>
                  <a:cs typeface="Arial"/>
                </a:rPr>
                <a:t>第2周</a:t>
              </a:r>
            </a:p>
          </p:txBody>
        </p:sp>
        <p:sp>
          <p:nvSpPr>
            <p:cNvPr id="218" name="TextBox 218"/>
            <p:cNvSpPr txBox="1"/>
            <p:nvPr/>
          </p:nvSpPr>
          <p:spPr>
            <a:xfrm>
              <a:off x="10355738" y="4813459"/>
              <a:ext cx="243524"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Microsoft YaHei"/>
                  <a:cs typeface="Arial"/>
                </a:rPr>
                <a:t>第3周</a:t>
              </a:r>
            </a:p>
          </p:txBody>
        </p:sp>
        <p:sp>
          <p:nvSpPr>
            <p:cNvPr id="219" name="TextBox 219"/>
            <p:cNvSpPr txBox="1"/>
            <p:nvPr/>
          </p:nvSpPr>
          <p:spPr>
            <a:xfrm>
              <a:off x="11346338" y="4813459"/>
              <a:ext cx="243524"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Microsoft YaHei"/>
                  <a:cs typeface="Arial"/>
                </a:rPr>
                <a:t>第4周</a:t>
              </a:r>
            </a:p>
          </p:txBody>
        </p:sp>
        <p:sp>
          <p:nvSpPr>
            <p:cNvPr id="220" name="Rectangle 220"/>
            <p:cNvSpPr/>
            <p:nvPr/>
          </p:nvSpPr>
          <p:spPr>
            <a:xfrm>
              <a:off x="6038850" y="4933950"/>
              <a:ext cx="5924550" cy="419100"/>
            </a:xfrm>
            <a:prstGeom prst="rect">
              <a:avLst/>
            </a:prstGeom>
            <a:solidFill>
              <a:srgbClr val="FDEFF1"/>
            </a:solidFill>
            <a:ln>
              <a:noFill/>
            </a:ln>
          </p:spPr>
        </p:sp>
        <p:sp>
          <p:nvSpPr>
            <p:cNvPr id="221" name="Rectangle 221"/>
            <p:cNvSpPr/>
            <p:nvPr/>
          </p:nvSpPr>
          <p:spPr>
            <a:xfrm>
              <a:off x="6038850" y="5772150"/>
              <a:ext cx="5924550" cy="419100"/>
            </a:xfrm>
            <a:prstGeom prst="rect">
              <a:avLst/>
            </a:prstGeom>
            <a:solidFill>
              <a:srgbClr val="FDEFF1"/>
            </a:solidFill>
            <a:ln>
              <a:noFill/>
            </a:ln>
          </p:spPr>
        </p:sp>
        <p:sp>
          <p:nvSpPr>
            <p:cNvPr id="222" name="Line 222"/>
            <p:cNvSpPr/>
            <p:nvPr/>
          </p:nvSpPr>
          <p:spPr>
            <a:xfrm>
              <a:off x="6896100" y="4933950"/>
              <a:ext cx="9525" cy="1676400"/>
            </a:xfrm>
            <a:custGeom>
              <a:avLst/>
              <a:gdLst/>
              <a:ahLst/>
              <a:cxnLst/>
              <a:rect l="l" t="t" r="r" b="b"/>
              <a:pathLst>
                <a:path w="9525" h="1676400">
                  <a:moveTo>
                    <a:pt x="0" y="0"/>
                  </a:moveTo>
                  <a:lnTo>
                    <a:pt x="0" y="1676400"/>
                  </a:lnTo>
                </a:path>
              </a:pathLst>
            </a:custGeom>
            <a:noFill/>
            <a:ln w="9525">
              <a:solidFill>
                <a:srgbClr val="F1C7CC"/>
              </a:solidFill>
            </a:ln>
          </p:spPr>
        </p:sp>
        <p:sp>
          <p:nvSpPr>
            <p:cNvPr id="223" name="Line 223"/>
            <p:cNvSpPr/>
            <p:nvPr/>
          </p:nvSpPr>
          <p:spPr>
            <a:xfrm>
              <a:off x="8001000" y="4933950"/>
              <a:ext cx="9525" cy="1676400"/>
            </a:xfrm>
            <a:custGeom>
              <a:avLst/>
              <a:gdLst/>
              <a:ahLst/>
              <a:cxnLst/>
              <a:rect l="l" t="t" r="r" b="b"/>
              <a:pathLst>
                <a:path w="9525" h="1676400">
                  <a:moveTo>
                    <a:pt x="0" y="0"/>
                  </a:moveTo>
                  <a:lnTo>
                    <a:pt x="0" y="1676400"/>
                  </a:lnTo>
                </a:path>
              </a:pathLst>
            </a:custGeom>
            <a:noFill/>
            <a:ln w="9525">
              <a:solidFill>
                <a:srgbClr val="F1C7CC"/>
              </a:solidFill>
            </a:ln>
          </p:spPr>
        </p:sp>
        <p:sp>
          <p:nvSpPr>
            <p:cNvPr id="224" name="Line 224"/>
            <p:cNvSpPr/>
            <p:nvPr/>
          </p:nvSpPr>
          <p:spPr>
            <a:xfrm>
              <a:off x="8991600" y="4933950"/>
              <a:ext cx="9525" cy="1676400"/>
            </a:xfrm>
            <a:custGeom>
              <a:avLst/>
              <a:gdLst/>
              <a:ahLst/>
              <a:cxnLst/>
              <a:rect l="l" t="t" r="r" b="b"/>
              <a:pathLst>
                <a:path w="9525" h="1676400">
                  <a:moveTo>
                    <a:pt x="0" y="0"/>
                  </a:moveTo>
                  <a:lnTo>
                    <a:pt x="0" y="1676400"/>
                  </a:lnTo>
                </a:path>
              </a:pathLst>
            </a:custGeom>
            <a:noFill/>
            <a:ln w="9525">
              <a:solidFill>
                <a:srgbClr val="F1C7CC"/>
              </a:solidFill>
            </a:ln>
          </p:spPr>
        </p:sp>
        <p:sp>
          <p:nvSpPr>
            <p:cNvPr id="225" name="Line 225"/>
            <p:cNvSpPr/>
            <p:nvPr/>
          </p:nvSpPr>
          <p:spPr>
            <a:xfrm>
              <a:off x="9982200" y="4933950"/>
              <a:ext cx="9525" cy="1676400"/>
            </a:xfrm>
            <a:custGeom>
              <a:avLst/>
              <a:gdLst/>
              <a:ahLst/>
              <a:cxnLst/>
              <a:rect l="l" t="t" r="r" b="b"/>
              <a:pathLst>
                <a:path w="9525" h="1676400">
                  <a:moveTo>
                    <a:pt x="0" y="0"/>
                  </a:moveTo>
                  <a:lnTo>
                    <a:pt x="0" y="1676400"/>
                  </a:lnTo>
                </a:path>
              </a:pathLst>
            </a:custGeom>
            <a:noFill/>
            <a:ln w="9525">
              <a:solidFill>
                <a:srgbClr val="F1C7CC"/>
              </a:solidFill>
            </a:ln>
          </p:spPr>
        </p:sp>
        <p:sp>
          <p:nvSpPr>
            <p:cNvPr id="226" name="Line 226"/>
            <p:cNvSpPr/>
            <p:nvPr/>
          </p:nvSpPr>
          <p:spPr>
            <a:xfrm>
              <a:off x="10972800" y="4933950"/>
              <a:ext cx="9525" cy="1676400"/>
            </a:xfrm>
            <a:custGeom>
              <a:avLst/>
              <a:gdLst/>
              <a:ahLst/>
              <a:cxnLst/>
              <a:rect l="l" t="t" r="r" b="b"/>
              <a:pathLst>
                <a:path w="9525" h="1676400">
                  <a:moveTo>
                    <a:pt x="0" y="0"/>
                  </a:moveTo>
                  <a:lnTo>
                    <a:pt x="0" y="1676400"/>
                  </a:lnTo>
                </a:path>
              </a:pathLst>
            </a:custGeom>
            <a:noFill/>
            <a:ln w="9525">
              <a:solidFill>
                <a:srgbClr val="F1C7CC"/>
              </a:solidFill>
            </a:ln>
          </p:spPr>
        </p:sp>
        <p:grpSp>
          <p:nvGrpSpPr>
            <p:cNvPr id="231" name="Group 231"/>
            <p:cNvGrpSpPr/>
            <p:nvPr/>
          </p:nvGrpSpPr>
          <p:grpSpPr>
            <a:xfrm>
              <a:off x="6119812" y="5072062"/>
              <a:ext cx="142875" cy="134937"/>
              <a:chOff x="6119812" y="5072062"/>
              <a:chExt cx="142875" cy="134937"/>
            </a:xfrm>
          </p:grpSpPr>
          <p:sp>
            <p:nvSpPr>
              <p:cNvPr id="227" name="Freeform 227"/>
              <p:cNvSpPr/>
              <p:nvPr/>
            </p:nvSpPr>
            <p:spPr>
              <a:xfrm>
                <a:off x="6119812" y="5103812"/>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C83210"/>
                </a:solidFill>
              </a:ln>
            </p:spPr>
          </p:sp>
          <p:sp>
            <p:nvSpPr>
              <p:cNvPr id="228" name="Freeform 228"/>
              <p:cNvSpPr/>
              <p:nvPr/>
            </p:nvSpPr>
            <p:spPr>
              <a:xfrm>
                <a:off x="6159500" y="5072062"/>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C83210"/>
                </a:solidFill>
              </a:ln>
            </p:spPr>
          </p:sp>
          <p:sp>
            <p:nvSpPr>
              <p:cNvPr id="229" name="Freeform 229"/>
              <p:cNvSpPr/>
              <p:nvPr/>
            </p:nvSpPr>
            <p:spPr>
              <a:xfrm>
                <a:off x="6191250" y="5143500"/>
                <a:ext cx="9525" cy="9525"/>
              </a:xfrm>
              <a:custGeom>
                <a:avLst/>
                <a:gdLst/>
                <a:ahLst/>
                <a:cxnLst/>
                <a:rect l="l" t="t" r="r" b="b"/>
                <a:pathLst>
                  <a:path w="9525" h="9525">
                    <a:moveTo>
                      <a:pt x="0" y="0"/>
                    </a:moveTo>
                    <a:lnTo>
                      <a:pt x="0" y="79"/>
                    </a:lnTo>
                  </a:path>
                </a:pathLst>
              </a:custGeom>
              <a:noFill/>
              <a:ln w="15875">
                <a:solidFill>
                  <a:srgbClr val="C83210"/>
                </a:solidFill>
              </a:ln>
            </p:spPr>
          </p:sp>
          <p:sp>
            <p:nvSpPr>
              <p:cNvPr id="230" name="Freeform 230"/>
              <p:cNvSpPr/>
              <p:nvPr/>
            </p:nvSpPr>
            <p:spPr>
              <a:xfrm>
                <a:off x="6119812" y="5151437"/>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C83210"/>
                </a:solidFill>
              </a:ln>
            </p:spPr>
          </p:sp>
        </p:grpSp>
        <p:sp>
          <p:nvSpPr>
            <p:cNvPr id="232" name="TextBox 232"/>
            <p:cNvSpPr txBox="1"/>
            <p:nvPr/>
          </p:nvSpPr>
          <p:spPr>
            <a:xfrm>
              <a:off x="6338888" y="5106114"/>
              <a:ext cx="434924"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工资客群</a:t>
              </a:r>
            </a:p>
          </p:txBody>
        </p:sp>
        <p:sp>
          <p:nvSpPr>
            <p:cNvPr id="233" name="TextBox 233"/>
            <p:cNvSpPr txBox="1"/>
            <p:nvPr/>
          </p:nvSpPr>
          <p:spPr>
            <a:xfrm>
              <a:off x="6948488" y="49984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代发工资客户</a:t>
              </a:r>
            </a:p>
          </p:txBody>
        </p:sp>
        <p:sp>
          <p:nvSpPr>
            <p:cNvPr id="234" name="TextBox 234"/>
            <p:cNvSpPr txBox="1"/>
            <p:nvPr/>
          </p:nvSpPr>
          <p:spPr>
            <a:xfrm>
              <a:off x="6948488" y="5112782"/>
              <a:ext cx="614708"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Arial"/>
                  <a:ea typeface="Microsoft YaHei"/>
                  <a:cs typeface="Arial"/>
                </a:rPr>
                <a:t xml:space="preserve">AUM &lt; 5万　</a:t>
              </a:r>
            </a:p>
          </p:txBody>
        </p:sp>
        <p:sp>
          <p:nvSpPr>
            <p:cNvPr id="235" name="TextBox 235"/>
            <p:cNvSpPr txBox="1"/>
            <p:nvPr/>
          </p:nvSpPr>
          <p:spPr>
            <a:xfrm>
              <a:off x="6948488" y="52270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交易相对单一</a:t>
              </a:r>
            </a:p>
          </p:txBody>
        </p:sp>
        <p:sp>
          <p:nvSpPr>
            <p:cNvPr id="236" name="TextBox 236"/>
            <p:cNvSpPr txBox="1"/>
            <p:nvPr/>
          </p:nvSpPr>
          <p:spPr>
            <a:xfrm>
              <a:off x="8171142" y="5042059"/>
              <a:ext cx="650316"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工资理财小贴士</a:t>
              </a:r>
            </a:p>
          </p:txBody>
        </p:sp>
        <p:sp>
          <p:nvSpPr>
            <p:cNvPr id="237" name="TextBox 237"/>
            <p:cNvSpPr txBox="1"/>
            <p:nvPr/>
          </p:nvSpPr>
          <p:spPr>
            <a:xfrm>
              <a:off x="8308454" y="51658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sp>
          <p:nvSpPr>
            <p:cNvPr id="238" name="TextBox 238"/>
            <p:cNvSpPr txBox="1"/>
            <p:nvPr/>
          </p:nvSpPr>
          <p:spPr>
            <a:xfrm>
              <a:off x="9090797" y="5042059"/>
              <a:ext cx="792206"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活期+理财产品推荐</a:t>
              </a:r>
            </a:p>
          </p:txBody>
        </p:sp>
        <p:sp>
          <p:nvSpPr>
            <p:cNvPr id="239" name="TextBox 239"/>
            <p:cNvSpPr txBox="1"/>
            <p:nvPr/>
          </p:nvSpPr>
          <p:spPr>
            <a:xfrm>
              <a:off x="9299054" y="51658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sp>
          <p:nvSpPr>
            <p:cNvPr id="240" name="TextBox 240"/>
            <p:cNvSpPr txBox="1"/>
            <p:nvPr/>
          </p:nvSpPr>
          <p:spPr>
            <a:xfrm>
              <a:off x="10152342" y="5042059"/>
              <a:ext cx="650316"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工资族专属活动</a:t>
              </a:r>
            </a:p>
          </p:txBody>
        </p:sp>
        <p:sp>
          <p:nvSpPr>
            <p:cNvPr id="241" name="TextBox 241"/>
            <p:cNvSpPr txBox="1"/>
            <p:nvPr/>
          </p:nvSpPr>
          <p:spPr>
            <a:xfrm>
              <a:off x="10198113" y="5165884"/>
              <a:ext cx="558775"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（活动海报）</a:t>
              </a:r>
            </a:p>
          </p:txBody>
        </p:sp>
        <p:sp>
          <p:nvSpPr>
            <p:cNvPr id="242" name="TextBox 242"/>
            <p:cNvSpPr txBox="1"/>
            <p:nvPr/>
          </p:nvSpPr>
          <p:spPr>
            <a:xfrm>
              <a:off x="11188713" y="504205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客户权益提醒</a:t>
              </a:r>
            </a:p>
          </p:txBody>
        </p:sp>
        <p:sp>
          <p:nvSpPr>
            <p:cNvPr id="243" name="TextBox 243"/>
            <p:cNvSpPr txBox="1"/>
            <p:nvPr/>
          </p:nvSpPr>
          <p:spPr>
            <a:xfrm>
              <a:off x="11280254" y="51658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grpSp>
          <p:nvGrpSpPr>
            <p:cNvPr id="246" name="Group 246"/>
            <p:cNvGrpSpPr/>
            <p:nvPr/>
          </p:nvGrpSpPr>
          <p:grpSpPr>
            <a:xfrm>
              <a:off x="6111875" y="5507037"/>
              <a:ext cx="158750" cy="111125"/>
              <a:chOff x="6111875" y="5507037"/>
              <a:chExt cx="158750" cy="111125"/>
            </a:xfrm>
          </p:grpSpPr>
          <p:sp>
            <p:nvSpPr>
              <p:cNvPr id="244" name="Freeform 244"/>
              <p:cNvSpPr/>
              <p:nvPr/>
            </p:nvSpPr>
            <p:spPr>
              <a:xfrm>
                <a:off x="6111875" y="5507037"/>
                <a:ext cx="158750" cy="79375"/>
              </a:xfrm>
              <a:custGeom>
                <a:avLst/>
                <a:gdLst/>
                <a:ahLst/>
                <a:cxnLst/>
                <a:rect l="l" t="t" r="r" b="b"/>
                <a:pathLst>
                  <a:path w="158750" h="79375">
                    <a:moveTo>
                      <a:pt x="158750" y="31750"/>
                    </a:moveTo>
                    <a:lnTo>
                      <a:pt x="79375" y="0"/>
                    </a:lnTo>
                    <a:lnTo>
                      <a:pt x="0" y="31750"/>
                    </a:lnTo>
                    <a:lnTo>
                      <a:pt x="79375" y="63500"/>
                    </a:lnTo>
                    <a:lnTo>
                      <a:pt x="158750" y="31750"/>
                    </a:lnTo>
                    <a:lnTo>
                      <a:pt x="158750" y="79375"/>
                    </a:lnTo>
                  </a:path>
                </a:pathLst>
              </a:custGeom>
              <a:noFill/>
              <a:ln w="15875">
                <a:solidFill>
                  <a:srgbClr val="C83210"/>
                </a:solidFill>
              </a:ln>
            </p:spPr>
          </p:sp>
          <p:sp>
            <p:nvSpPr>
              <p:cNvPr id="245" name="Freeform 245"/>
              <p:cNvSpPr/>
              <p:nvPr/>
            </p:nvSpPr>
            <p:spPr>
              <a:xfrm>
                <a:off x="6143625" y="5551487"/>
                <a:ext cx="95250" cy="66675"/>
              </a:xfrm>
              <a:custGeom>
                <a:avLst/>
                <a:gdLst/>
                <a:ahLst/>
                <a:cxnLst/>
                <a:rect l="l" t="t" r="r" b="b"/>
                <a:pathLst>
                  <a:path w="95250" h="66675">
                    <a:moveTo>
                      <a:pt x="0" y="0"/>
                    </a:moveTo>
                    <a:lnTo>
                      <a:pt x="0" y="42862"/>
                    </a:lnTo>
                    <a:cubicBezTo>
                      <a:pt x="0" y="56014"/>
                      <a:pt x="21322" y="66675"/>
                      <a:pt x="47625" y="66675"/>
                    </a:cubicBezTo>
                    <a:cubicBezTo>
                      <a:pt x="73928" y="66675"/>
                      <a:pt x="95250" y="56014"/>
                      <a:pt x="95250" y="42862"/>
                    </a:cubicBezTo>
                    <a:lnTo>
                      <a:pt x="95250" y="0"/>
                    </a:lnTo>
                  </a:path>
                </a:pathLst>
              </a:custGeom>
              <a:noFill/>
              <a:ln w="15875">
                <a:solidFill>
                  <a:srgbClr val="C83210"/>
                </a:solidFill>
              </a:ln>
            </p:spPr>
          </p:sp>
        </p:grpSp>
        <p:sp>
          <p:nvSpPr>
            <p:cNvPr id="247" name="TextBox 247"/>
            <p:cNvSpPr txBox="1"/>
            <p:nvPr/>
          </p:nvSpPr>
          <p:spPr>
            <a:xfrm>
              <a:off x="6338888" y="5525214"/>
              <a:ext cx="434924"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年轻客群</a:t>
              </a:r>
            </a:p>
          </p:txBody>
        </p:sp>
        <p:sp>
          <p:nvSpPr>
            <p:cNvPr id="248" name="TextBox 248"/>
            <p:cNvSpPr txBox="1"/>
            <p:nvPr/>
          </p:nvSpPr>
          <p:spPr>
            <a:xfrm>
              <a:off x="6948488" y="5417582"/>
              <a:ext cx="497641"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Arial"/>
                  <a:ea typeface="Microsoft YaHei"/>
                  <a:cs typeface="Arial"/>
                </a:rPr>
                <a:t xml:space="preserve">18–30岁　</a:t>
              </a:r>
            </a:p>
          </p:txBody>
        </p:sp>
        <p:sp>
          <p:nvSpPr>
            <p:cNvPr id="249" name="TextBox 249"/>
            <p:cNvSpPr txBox="1"/>
            <p:nvPr/>
          </p:nvSpPr>
          <p:spPr>
            <a:xfrm>
              <a:off x="6948488" y="5531882"/>
              <a:ext cx="614708"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Arial"/>
                  <a:ea typeface="Microsoft YaHei"/>
                  <a:cs typeface="Arial"/>
                </a:rPr>
                <a:t xml:space="preserve">AUM &lt; 5万　</a:t>
              </a:r>
            </a:p>
          </p:txBody>
        </p:sp>
        <p:sp>
          <p:nvSpPr>
            <p:cNvPr id="250" name="TextBox 250"/>
            <p:cNvSpPr txBox="1"/>
            <p:nvPr/>
          </p:nvSpPr>
          <p:spPr>
            <a:xfrm>
              <a:off x="6948488" y="56461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偏好线上内容</a:t>
              </a:r>
            </a:p>
          </p:txBody>
        </p:sp>
        <p:sp>
          <p:nvSpPr>
            <p:cNvPr id="251" name="TextBox 251"/>
            <p:cNvSpPr txBox="1"/>
            <p:nvPr/>
          </p:nvSpPr>
          <p:spPr>
            <a:xfrm>
              <a:off x="8262684" y="5461159"/>
              <a:ext cx="467233"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攒钱小技巧</a:t>
              </a:r>
            </a:p>
          </p:txBody>
        </p:sp>
        <p:sp>
          <p:nvSpPr>
            <p:cNvPr id="252" name="TextBox 252"/>
            <p:cNvSpPr txBox="1"/>
            <p:nvPr/>
          </p:nvSpPr>
          <p:spPr>
            <a:xfrm>
              <a:off x="8262684" y="5584984"/>
              <a:ext cx="467233"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（短视频）</a:t>
              </a:r>
            </a:p>
          </p:txBody>
        </p:sp>
        <p:sp>
          <p:nvSpPr>
            <p:cNvPr id="253" name="TextBox 253"/>
            <p:cNvSpPr txBox="1"/>
            <p:nvPr/>
          </p:nvSpPr>
          <p:spPr>
            <a:xfrm>
              <a:off x="9161742" y="5461159"/>
              <a:ext cx="650316"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信用卡用卡攻略</a:t>
              </a:r>
            </a:p>
          </p:txBody>
        </p:sp>
        <p:sp>
          <p:nvSpPr>
            <p:cNvPr id="254" name="TextBox 254"/>
            <p:cNvSpPr txBox="1"/>
            <p:nvPr/>
          </p:nvSpPr>
          <p:spPr>
            <a:xfrm>
              <a:off x="9299054" y="55849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sp>
          <p:nvSpPr>
            <p:cNvPr id="255" name="TextBox 255"/>
            <p:cNvSpPr txBox="1"/>
            <p:nvPr/>
          </p:nvSpPr>
          <p:spPr>
            <a:xfrm>
              <a:off x="10152342" y="5461159"/>
              <a:ext cx="650316"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年轻人理财入门</a:t>
              </a:r>
            </a:p>
          </p:txBody>
        </p:sp>
        <p:sp>
          <p:nvSpPr>
            <p:cNvPr id="256" name="TextBox 256"/>
            <p:cNvSpPr txBox="1"/>
            <p:nvPr/>
          </p:nvSpPr>
          <p:spPr>
            <a:xfrm>
              <a:off x="10289654" y="55849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sp>
          <p:nvSpPr>
            <p:cNvPr id="257" name="TextBox 257"/>
            <p:cNvSpPr txBox="1"/>
            <p:nvPr/>
          </p:nvSpPr>
          <p:spPr>
            <a:xfrm>
              <a:off x="11280254" y="5461159"/>
              <a:ext cx="375691"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互动话题</a:t>
              </a:r>
            </a:p>
          </p:txBody>
        </p:sp>
        <p:sp>
          <p:nvSpPr>
            <p:cNvPr id="258" name="TextBox 258"/>
            <p:cNvSpPr txBox="1"/>
            <p:nvPr/>
          </p:nvSpPr>
          <p:spPr>
            <a:xfrm>
              <a:off x="11309970" y="5584984"/>
              <a:ext cx="316259"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Arial"/>
                  <a:ea typeface="Microsoft YaHei"/>
                  <a:cs typeface="Arial"/>
                </a:rPr>
                <a:t>（H5）</a:t>
              </a:r>
            </a:p>
          </p:txBody>
        </p:sp>
        <p:grpSp>
          <p:nvGrpSpPr>
            <p:cNvPr id="262" name="Group 262"/>
            <p:cNvGrpSpPr/>
            <p:nvPr/>
          </p:nvGrpSpPr>
          <p:grpSpPr>
            <a:xfrm>
              <a:off x="6119812" y="5910262"/>
              <a:ext cx="142875" cy="142875"/>
              <a:chOff x="6119812" y="5910262"/>
              <a:chExt cx="142875" cy="142875"/>
            </a:xfrm>
          </p:grpSpPr>
          <p:sp>
            <p:nvSpPr>
              <p:cNvPr id="259" name="Freeform 259"/>
              <p:cNvSpPr/>
              <p:nvPr/>
            </p:nvSpPr>
            <p:spPr>
              <a:xfrm>
                <a:off x="6119812" y="591026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C83210"/>
                </a:solidFill>
              </a:ln>
            </p:spPr>
          </p:sp>
          <p:sp>
            <p:nvSpPr>
              <p:cNvPr id="260" name="Freeform 260"/>
              <p:cNvSpPr/>
              <p:nvPr/>
            </p:nvSpPr>
            <p:spPr>
              <a:xfrm>
                <a:off x="6135687" y="598170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C83210"/>
                </a:solidFill>
              </a:ln>
            </p:spPr>
          </p:sp>
          <p:sp>
            <p:nvSpPr>
              <p:cNvPr id="261" name="Freeform 261"/>
              <p:cNvSpPr/>
              <p:nvPr/>
            </p:nvSpPr>
            <p:spPr>
              <a:xfrm>
                <a:off x="6167437" y="598963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C83210"/>
                </a:solidFill>
              </a:ln>
            </p:spPr>
          </p:sp>
        </p:grpSp>
        <p:sp>
          <p:nvSpPr>
            <p:cNvPr id="263" name="TextBox 263"/>
            <p:cNvSpPr txBox="1"/>
            <p:nvPr/>
          </p:nvSpPr>
          <p:spPr>
            <a:xfrm>
              <a:off x="6338888" y="5944314"/>
              <a:ext cx="434924"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家庭客群</a:t>
              </a:r>
            </a:p>
          </p:txBody>
        </p:sp>
        <p:sp>
          <p:nvSpPr>
            <p:cNvPr id="264" name="TextBox 264"/>
            <p:cNvSpPr txBox="1"/>
            <p:nvPr/>
          </p:nvSpPr>
          <p:spPr>
            <a:xfrm>
              <a:off x="6948488" y="5836682"/>
              <a:ext cx="497641"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Arial"/>
                  <a:ea typeface="Microsoft YaHei"/>
                  <a:cs typeface="Arial"/>
                </a:rPr>
                <a:t xml:space="preserve">30–50岁　</a:t>
              </a:r>
            </a:p>
          </p:txBody>
        </p:sp>
        <p:sp>
          <p:nvSpPr>
            <p:cNvPr id="265" name="TextBox 265"/>
            <p:cNvSpPr txBox="1"/>
            <p:nvPr/>
          </p:nvSpPr>
          <p:spPr>
            <a:xfrm>
              <a:off x="6948488" y="5950982"/>
              <a:ext cx="614708"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Arial"/>
                  <a:ea typeface="Microsoft YaHei"/>
                  <a:cs typeface="Arial"/>
                </a:rPr>
                <a:t xml:space="preserve">AUM &lt; 5万　</a:t>
              </a:r>
            </a:p>
          </p:txBody>
        </p:sp>
        <p:sp>
          <p:nvSpPr>
            <p:cNvPr id="266" name="TextBox 266"/>
            <p:cNvSpPr txBox="1"/>
            <p:nvPr/>
          </p:nvSpPr>
          <p:spPr>
            <a:xfrm>
              <a:off x="6948488" y="6065282"/>
              <a:ext cx="688823"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有家庭支出需求</a:t>
              </a:r>
            </a:p>
          </p:txBody>
        </p:sp>
        <p:sp>
          <p:nvSpPr>
            <p:cNvPr id="267" name="TextBox 267"/>
            <p:cNvSpPr txBox="1"/>
            <p:nvPr/>
          </p:nvSpPr>
          <p:spPr>
            <a:xfrm>
              <a:off x="8171142" y="5880259"/>
              <a:ext cx="650316"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家庭保障小知识</a:t>
              </a:r>
            </a:p>
          </p:txBody>
        </p:sp>
        <p:sp>
          <p:nvSpPr>
            <p:cNvPr id="268" name="TextBox 268"/>
            <p:cNvSpPr txBox="1"/>
            <p:nvPr/>
          </p:nvSpPr>
          <p:spPr>
            <a:xfrm>
              <a:off x="8308454" y="60040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sp>
          <p:nvSpPr>
            <p:cNvPr id="269" name="TextBox 269"/>
            <p:cNvSpPr txBox="1"/>
            <p:nvPr/>
          </p:nvSpPr>
          <p:spPr>
            <a:xfrm>
              <a:off x="9253284" y="5880259"/>
              <a:ext cx="467233"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教育金规划</a:t>
              </a:r>
            </a:p>
          </p:txBody>
        </p:sp>
        <p:sp>
          <p:nvSpPr>
            <p:cNvPr id="270" name="TextBox 270"/>
            <p:cNvSpPr txBox="1"/>
            <p:nvPr/>
          </p:nvSpPr>
          <p:spPr>
            <a:xfrm>
              <a:off x="9299054" y="60040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sp>
          <p:nvSpPr>
            <p:cNvPr id="271" name="TextBox 271"/>
            <p:cNvSpPr txBox="1"/>
            <p:nvPr/>
          </p:nvSpPr>
          <p:spPr>
            <a:xfrm>
              <a:off x="10198113" y="588025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家庭消费优惠</a:t>
              </a:r>
            </a:p>
          </p:txBody>
        </p:sp>
        <p:sp>
          <p:nvSpPr>
            <p:cNvPr id="272" name="TextBox 272"/>
            <p:cNvSpPr txBox="1"/>
            <p:nvPr/>
          </p:nvSpPr>
          <p:spPr>
            <a:xfrm>
              <a:off x="10198113" y="6004084"/>
              <a:ext cx="558775"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（活动海报）</a:t>
              </a:r>
            </a:p>
          </p:txBody>
        </p:sp>
        <p:sp>
          <p:nvSpPr>
            <p:cNvPr id="273" name="TextBox 273"/>
            <p:cNvSpPr txBox="1"/>
            <p:nvPr/>
          </p:nvSpPr>
          <p:spPr>
            <a:xfrm>
              <a:off x="11188713" y="588025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客户权益提醒</a:t>
              </a:r>
            </a:p>
          </p:txBody>
        </p:sp>
        <p:sp>
          <p:nvSpPr>
            <p:cNvPr id="274" name="TextBox 274"/>
            <p:cNvSpPr txBox="1"/>
            <p:nvPr/>
          </p:nvSpPr>
          <p:spPr>
            <a:xfrm>
              <a:off x="11280254" y="60040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grpSp>
          <p:nvGrpSpPr>
            <p:cNvPr id="278" name="Group 278"/>
            <p:cNvGrpSpPr/>
            <p:nvPr/>
          </p:nvGrpSpPr>
          <p:grpSpPr>
            <a:xfrm>
              <a:off x="6143625" y="6329362"/>
              <a:ext cx="127012" cy="150813"/>
              <a:chOff x="6143625" y="6329362"/>
              <a:chExt cx="127012" cy="150813"/>
            </a:xfrm>
          </p:grpSpPr>
          <p:sp>
            <p:nvSpPr>
              <p:cNvPr id="275" name="Freeform 275"/>
              <p:cNvSpPr/>
              <p:nvPr/>
            </p:nvSpPr>
            <p:spPr>
              <a:xfrm>
                <a:off x="6159500" y="63293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C83210"/>
                </a:solidFill>
              </a:ln>
            </p:spPr>
          </p:sp>
          <p:sp>
            <p:nvSpPr>
              <p:cNvPr id="276" name="Freeform 276"/>
              <p:cNvSpPr/>
              <p:nvPr/>
            </p:nvSpPr>
            <p:spPr>
              <a:xfrm>
                <a:off x="6143625" y="6424612"/>
                <a:ext cx="35719" cy="47625"/>
              </a:xfrm>
              <a:custGeom>
                <a:avLst/>
                <a:gdLst/>
                <a:ahLst/>
                <a:cxnLst/>
                <a:rect l="l" t="t" r="r" b="b"/>
                <a:pathLst>
                  <a:path w="35719" h="47625">
                    <a:moveTo>
                      <a:pt x="0" y="47625"/>
                    </a:moveTo>
                    <a:lnTo>
                      <a:pt x="0" y="31750"/>
                    </a:lnTo>
                    <a:cubicBezTo>
                      <a:pt x="0" y="14215"/>
                      <a:pt x="14215" y="0"/>
                      <a:pt x="31750" y="0"/>
                    </a:cubicBezTo>
                    <a:lnTo>
                      <a:pt x="35719" y="0"/>
                    </a:lnTo>
                  </a:path>
                </a:pathLst>
              </a:custGeom>
              <a:noFill/>
              <a:ln w="15875">
                <a:solidFill>
                  <a:srgbClr val="C83210"/>
                </a:solidFill>
              </a:ln>
            </p:spPr>
          </p:sp>
          <p:sp>
            <p:nvSpPr>
              <p:cNvPr id="277" name="Freeform 277"/>
              <p:cNvSpPr/>
              <p:nvPr/>
            </p:nvSpPr>
            <p:spPr>
              <a:xfrm>
                <a:off x="6207115" y="6422923"/>
                <a:ext cx="63522" cy="57252"/>
              </a:xfrm>
              <a:custGeom>
                <a:avLst/>
                <a:gdLst/>
                <a:ahLst/>
                <a:cxnLst/>
                <a:rect l="l" t="t" r="r" b="b"/>
                <a:pathLst>
                  <a:path w="63522" h="57252">
                    <a:moveTo>
                      <a:pt x="31760" y="57252"/>
                    </a:moveTo>
                    <a:lnTo>
                      <a:pt x="58350" y="31185"/>
                    </a:lnTo>
                    <a:cubicBezTo>
                      <a:pt x="61645" y="27988"/>
                      <a:pt x="63507" y="23596"/>
                      <a:pt x="63515" y="19005"/>
                    </a:cubicBezTo>
                    <a:cubicBezTo>
                      <a:pt x="63522" y="14415"/>
                      <a:pt x="61674" y="10016"/>
                      <a:pt x="58390" y="6809"/>
                    </a:cubicBezTo>
                    <a:cubicBezTo>
                      <a:pt x="51493" y="64"/>
                      <a:pt x="40477" y="42"/>
                      <a:pt x="33554" y="6761"/>
                    </a:cubicBezTo>
                    <a:lnTo>
                      <a:pt x="31776" y="8508"/>
                    </a:lnTo>
                    <a:lnTo>
                      <a:pt x="30006" y="6761"/>
                    </a:lnTo>
                    <a:cubicBezTo>
                      <a:pt x="23109" y="21"/>
                      <a:pt x="12099" y="0"/>
                      <a:pt x="5177" y="6714"/>
                    </a:cubicBezTo>
                    <a:cubicBezTo>
                      <a:pt x="1882" y="9909"/>
                      <a:pt x="18" y="14301"/>
                      <a:pt x="9" y="18892"/>
                    </a:cubicBezTo>
                    <a:cubicBezTo>
                      <a:pt x="0" y="23482"/>
                      <a:pt x="1847" y="27881"/>
                      <a:pt x="5130" y="31090"/>
                    </a:cubicBezTo>
                    <a:lnTo>
                      <a:pt x="31760" y="57252"/>
                    </a:lnTo>
                  </a:path>
                </a:pathLst>
              </a:custGeom>
              <a:noFill/>
              <a:ln w="15875">
                <a:solidFill>
                  <a:srgbClr val="C83210"/>
                </a:solidFill>
              </a:ln>
            </p:spPr>
          </p:sp>
        </p:grpSp>
        <p:sp>
          <p:nvSpPr>
            <p:cNvPr id="279" name="TextBox 279"/>
            <p:cNvSpPr txBox="1"/>
            <p:nvPr/>
          </p:nvSpPr>
          <p:spPr>
            <a:xfrm>
              <a:off x="6338888" y="6363414"/>
              <a:ext cx="434924"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银发客群</a:t>
              </a:r>
            </a:p>
          </p:txBody>
        </p:sp>
        <p:sp>
          <p:nvSpPr>
            <p:cNvPr id="280" name="TextBox 280"/>
            <p:cNvSpPr txBox="1"/>
            <p:nvPr/>
          </p:nvSpPr>
          <p:spPr>
            <a:xfrm>
              <a:off x="6948488" y="6255782"/>
              <a:ext cx="525125"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 xml:space="preserve">50岁以上　</a:t>
              </a:r>
            </a:p>
          </p:txBody>
        </p:sp>
        <p:sp>
          <p:nvSpPr>
            <p:cNvPr id="281" name="TextBox 281"/>
            <p:cNvSpPr txBox="1"/>
            <p:nvPr/>
          </p:nvSpPr>
          <p:spPr>
            <a:xfrm>
              <a:off x="6948488" y="6370082"/>
              <a:ext cx="614708"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Arial"/>
                  <a:ea typeface="Microsoft YaHei"/>
                  <a:cs typeface="Arial"/>
                </a:rPr>
                <a:t xml:space="preserve">AUM &lt; 5万　</a:t>
              </a:r>
            </a:p>
          </p:txBody>
        </p:sp>
        <p:sp>
          <p:nvSpPr>
            <p:cNvPr id="282" name="TextBox 282"/>
            <p:cNvSpPr txBox="1"/>
            <p:nvPr/>
          </p:nvSpPr>
          <p:spPr>
            <a:xfrm>
              <a:off x="6948488" y="6484382"/>
              <a:ext cx="688823"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偏好稳健、安全</a:t>
              </a:r>
            </a:p>
          </p:txBody>
        </p:sp>
        <p:sp>
          <p:nvSpPr>
            <p:cNvPr id="283" name="TextBox 283"/>
            <p:cNvSpPr txBox="1"/>
            <p:nvPr/>
          </p:nvSpPr>
          <p:spPr>
            <a:xfrm>
              <a:off x="8262684" y="6299359"/>
              <a:ext cx="467233"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防骗小课堂</a:t>
              </a:r>
            </a:p>
          </p:txBody>
        </p:sp>
        <p:sp>
          <p:nvSpPr>
            <p:cNvPr id="284" name="TextBox 284"/>
            <p:cNvSpPr txBox="1"/>
            <p:nvPr/>
          </p:nvSpPr>
          <p:spPr>
            <a:xfrm>
              <a:off x="8308454" y="64231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sp>
          <p:nvSpPr>
            <p:cNvPr id="285" name="TextBox 285"/>
            <p:cNvSpPr txBox="1"/>
            <p:nvPr/>
          </p:nvSpPr>
          <p:spPr>
            <a:xfrm>
              <a:off x="9207513" y="629935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存款产品介绍</a:t>
              </a:r>
            </a:p>
          </p:txBody>
        </p:sp>
        <p:sp>
          <p:nvSpPr>
            <p:cNvPr id="286" name="TextBox 286"/>
            <p:cNvSpPr txBox="1"/>
            <p:nvPr/>
          </p:nvSpPr>
          <p:spPr>
            <a:xfrm>
              <a:off x="9299054" y="64231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sp>
          <p:nvSpPr>
            <p:cNvPr id="287" name="TextBox 287"/>
            <p:cNvSpPr txBox="1"/>
            <p:nvPr/>
          </p:nvSpPr>
          <p:spPr>
            <a:xfrm>
              <a:off x="10198113" y="629935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养老金融知识</a:t>
              </a:r>
            </a:p>
          </p:txBody>
        </p:sp>
        <p:sp>
          <p:nvSpPr>
            <p:cNvPr id="288" name="TextBox 288"/>
            <p:cNvSpPr txBox="1"/>
            <p:nvPr/>
          </p:nvSpPr>
          <p:spPr>
            <a:xfrm>
              <a:off x="10289654" y="64231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sp>
          <p:nvSpPr>
            <p:cNvPr id="289" name="TextBox 289"/>
            <p:cNvSpPr txBox="1"/>
            <p:nvPr/>
          </p:nvSpPr>
          <p:spPr>
            <a:xfrm>
              <a:off x="11188713" y="629935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线下活动预告</a:t>
              </a:r>
            </a:p>
          </p:txBody>
        </p:sp>
        <p:sp>
          <p:nvSpPr>
            <p:cNvPr id="290" name="TextBox 290"/>
            <p:cNvSpPr txBox="1"/>
            <p:nvPr/>
          </p:nvSpPr>
          <p:spPr>
            <a:xfrm>
              <a:off x="11280254" y="6423184"/>
              <a:ext cx="375691" cy="133350"/>
            </a:xfrm>
            <a:prstGeom prst="rect">
              <a:avLst/>
            </a:prstGeom>
            <a:noFill/>
            <a:ln>
              <a:noFill/>
            </a:ln>
          </p:spPr>
          <p:txBody>
            <a:bodyPr wrap="none" lIns="0" tIns="0" rIns="0" bIns="0" anchor="t" anchorCtr="0">
              <a:spAutoFit/>
            </a:bodyPr>
            <a:lstStyle/>
            <a:p>
              <a:pPr algn="ctr"/>
              <a:r>
                <a:rPr lang="zh-CN" sz="680" dirty="0">
                  <a:solidFill>
                    <a:srgbClr val="808080"/>
                  </a:solidFill>
                  <a:latin typeface="+mn-lt"/>
                  <a:ea typeface="+mn-ea"/>
                  <a:cs typeface="+mn-cs"/>
                </a:rPr>
                <a:t>（图文）</a:t>
              </a:r>
            </a:p>
          </p:txBody>
        </p:sp>
      </p:gr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07</a:t>
              </a:r>
            </a:p>
          </p:txBody>
        </p:sp>
        <p:sp>
          <p:nvSpPr>
            <p:cNvPr id="4" name="TextBox 4"/>
            <p:cNvSpPr txBox="1"/>
            <p:nvPr/>
          </p:nvSpPr>
          <p:spPr>
            <a:xfrm>
              <a:off x="942594" y="151448"/>
              <a:ext cx="6121908"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内容策略</a:t>
              </a:r>
              <a:r>
                <a:rPr lang="zh-CN" sz="1950" b="1" dirty="0">
                  <a:solidFill>
                    <a:srgbClr val="222222"/>
                  </a:solidFill>
                  <a:latin typeface="SimSun"/>
                  <a:ea typeface="SimSun"/>
                  <a:cs typeface="SimSun"/>
                </a:rPr>
                <a:t>｜客户愿意接收的是帮助，不是重复广告</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33" name="content-pyramid"/>
          <p:cNvGrpSpPr/>
          <p:nvPr/>
        </p:nvGrpSpPr>
        <p:grpSpPr>
          <a:xfrm>
            <a:off x="228600" y="704850"/>
            <a:ext cx="3648050" cy="3486150"/>
            <a:chOff x="228600" y="704850"/>
            <a:chExt cx="3648050" cy="3486150"/>
          </a:xfrm>
        </p:grpSpPr>
        <p:sp>
          <p:nvSpPr>
            <p:cNvPr id="7" name="Rectangle 7"/>
            <p:cNvSpPr/>
            <p:nvPr/>
          </p:nvSpPr>
          <p:spPr>
            <a:xfrm>
              <a:off x="228600" y="704850"/>
              <a:ext cx="38100" cy="152400"/>
            </a:xfrm>
            <a:prstGeom prst="rect">
              <a:avLst/>
            </a:prstGeom>
            <a:solidFill>
              <a:srgbClr val="C83210"/>
            </a:solidFill>
            <a:ln>
              <a:noFill/>
            </a:ln>
          </p:spPr>
        </p:sp>
        <p:sp>
          <p:nvSpPr>
            <p:cNvPr id="8" name="TextBox 8"/>
            <p:cNvSpPr txBox="1"/>
            <p:nvPr/>
          </p:nvSpPr>
          <p:spPr>
            <a:xfrm>
              <a:off x="318897" y="723424"/>
              <a:ext cx="933399"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内容结构金字塔</a:t>
              </a:r>
            </a:p>
          </p:txBody>
        </p:sp>
        <p:sp>
          <p:nvSpPr>
            <p:cNvPr id="9" name="TextBox 9"/>
            <p:cNvSpPr txBox="1"/>
            <p:nvPr/>
          </p:nvSpPr>
          <p:spPr>
            <a:xfrm>
              <a:off x="319088" y="928688"/>
              <a:ext cx="2129790" cy="147638"/>
            </a:xfrm>
            <a:prstGeom prst="rect">
              <a:avLst/>
            </a:prstGeom>
            <a:noFill/>
            <a:ln>
              <a:noFill/>
            </a:ln>
          </p:spPr>
          <p:txBody>
            <a:bodyPr wrap="none" lIns="0" tIns="0" rIns="0" bIns="0" anchor="t" anchorCtr="0">
              <a:spAutoFit/>
            </a:bodyPr>
            <a:lstStyle/>
            <a:p>
              <a:pPr algn="l"/>
              <a:r>
                <a:rPr lang="zh-CN" sz="750" dirty="0">
                  <a:solidFill>
                    <a:srgbClr val="666666"/>
                  </a:solidFill>
                  <a:latin typeface="+mn-lt"/>
                  <a:ea typeface="+mn-ea"/>
                  <a:cs typeface="+mn-cs"/>
                </a:rPr>
                <a:t>以客户真实需求为中心，提供有价值的内容组合</a:t>
              </a:r>
            </a:p>
          </p:txBody>
        </p:sp>
        <p:sp>
          <p:nvSpPr>
            <p:cNvPr id="10" name="Polygon 10"/>
            <p:cNvSpPr/>
            <p:nvPr/>
          </p:nvSpPr>
          <p:spPr>
            <a:xfrm>
              <a:off x="1110615" y="1181100"/>
              <a:ext cx="636270" cy="914400"/>
            </a:xfrm>
            <a:custGeom>
              <a:avLst/>
              <a:gdLst/>
              <a:ahLst/>
              <a:cxnLst/>
              <a:rect l="l" t="t" r="r" b="b"/>
              <a:pathLst>
                <a:path w="636270" h="914400">
                  <a:moveTo>
                    <a:pt x="318135" y="0"/>
                  </a:moveTo>
                  <a:lnTo>
                    <a:pt x="636270" y="914400"/>
                  </a:lnTo>
                  <a:lnTo>
                    <a:pt x="0" y="914400"/>
                  </a:lnTo>
                  <a:close/>
                </a:path>
              </a:pathLst>
            </a:custGeom>
            <a:gradFill>
              <a:gsLst>
                <a:gs pos="0">
                  <a:srgbClr val="EF9D8A"/>
                </a:gs>
                <a:gs pos="100000">
                  <a:srgbClr val="E2735A"/>
                </a:gs>
              </a:gsLst>
              <a:lin ang="5400000" scaled="1"/>
            </a:gradFill>
            <a:ln>
              <a:noFill/>
            </a:ln>
          </p:spPr>
        </p:sp>
        <p:sp>
          <p:nvSpPr>
            <p:cNvPr id="11" name="Polygon 11"/>
            <p:cNvSpPr/>
            <p:nvPr/>
          </p:nvSpPr>
          <p:spPr>
            <a:xfrm>
              <a:off x="779145" y="2133600"/>
              <a:ext cx="1299210" cy="914400"/>
            </a:xfrm>
            <a:custGeom>
              <a:avLst/>
              <a:gdLst/>
              <a:ahLst/>
              <a:cxnLst/>
              <a:rect l="l" t="t" r="r" b="b"/>
              <a:pathLst>
                <a:path w="1299210" h="914400">
                  <a:moveTo>
                    <a:pt x="318135" y="0"/>
                  </a:moveTo>
                  <a:lnTo>
                    <a:pt x="981075" y="0"/>
                  </a:lnTo>
                  <a:lnTo>
                    <a:pt x="1299210" y="914400"/>
                  </a:lnTo>
                  <a:lnTo>
                    <a:pt x="0" y="914400"/>
                  </a:lnTo>
                  <a:close/>
                </a:path>
              </a:pathLst>
            </a:custGeom>
            <a:gradFill>
              <a:gsLst>
                <a:gs pos="0">
                  <a:srgbClr val="DC583A"/>
                </a:gs>
                <a:gs pos="100000">
                  <a:srgbClr val="C83210"/>
                </a:gs>
              </a:gsLst>
              <a:lin ang="5400000" scaled="1"/>
            </a:gradFill>
            <a:ln>
              <a:noFill/>
            </a:ln>
          </p:spPr>
        </p:sp>
        <p:sp>
          <p:nvSpPr>
            <p:cNvPr id="12" name="Polygon 12"/>
            <p:cNvSpPr/>
            <p:nvPr/>
          </p:nvSpPr>
          <p:spPr>
            <a:xfrm>
              <a:off x="381000" y="3086100"/>
              <a:ext cx="2095500" cy="1104900"/>
            </a:xfrm>
            <a:custGeom>
              <a:avLst/>
              <a:gdLst/>
              <a:ahLst/>
              <a:cxnLst/>
              <a:rect l="l" t="t" r="r" b="b"/>
              <a:pathLst>
                <a:path w="2095500" h="1104900">
                  <a:moveTo>
                    <a:pt x="384810" y="0"/>
                  </a:moveTo>
                  <a:lnTo>
                    <a:pt x="1710690" y="0"/>
                  </a:lnTo>
                  <a:lnTo>
                    <a:pt x="2095500" y="1104900"/>
                  </a:lnTo>
                  <a:lnTo>
                    <a:pt x="0" y="1104900"/>
                  </a:lnTo>
                  <a:close/>
                </a:path>
              </a:pathLst>
            </a:custGeom>
            <a:gradFill>
              <a:gsLst>
                <a:gs pos="0">
                  <a:srgbClr val="B32C0E"/>
                </a:gs>
                <a:gs pos="100000">
                  <a:srgbClr val="8F230A"/>
                </a:gs>
              </a:gsLst>
              <a:lin ang="5400000" scaled="1"/>
            </a:gradFill>
            <a:ln>
              <a:noFill/>
            </a:ln>
          </p:spPr>
        </p:sp>
        <p:sp>
          <p:nvSpPr>
            <p:cNvPr id="13" name="TextBox 13"/>
            <p:cNvSpPr txBox="1"/>
            <p:nvPr/>
          </p:nvSpPr>
          <p:spPr>
            <a:xfrm>
              <a:off x="1272140" y="1650206"/>
              <a:ext cx="31322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Arial"/>
                  <a:ea typeface="Arial"/>
                  <a:cs typeface="Arial"/>
                </a:rPr>
                <a:t>15%</a:t>
              </a:r>
            </a:p>
          </p:txBody>
        </p:sp>
        <p:sp>
          <p:nvSpPr>
            <p:cNvPr id="14" name="TextBox 14"/>
            <p:cNvSpPr txBox="1"/>
            <p:nvPr/>
          </p:nvSpPr>
          <p:spPr>
            <a:xfrm>
              <a:off x="1280617" y="183761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产品与</a:t>
              </a:r>
            </a:p>
          </p:txBody>
        </p:sp>
        <p:sp>
          <p:nvSpPr>
            <p:cNvPr id="15" name="TextBox 15"/>
            <p:cNvSpPr txBox="1"/>
            <p:nvPr/>
          </p:nvSpPr>
          <p:spPr>
            <a:xfrm>
              <a:off x="1232827" y="19614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交易机会</a:t>
              </a:r>
            </a:p>
          </p:txBody>
        </p:sp>
        <p:sp>
          <p:nvSpPr>
            <p:cNvPr id="16" name="TextBox 16"/>
            <p:cNvSpPr txBox="1"/>
            <p:nvPr/>
          </p:nvSpPr>
          <p:spPr>
            <a:xfrm>
              <a:off x="1249822" y="2434114"/>
              <a:ext cx="357857"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Arial"/>
                  <a:ea typeface="Arial"/>
                  <a:cs typeface="Arial"/>
                </a:rPr>
                <a:t>25%</a:t>
              </a:r>
            </a:p>
          </p:txBody>
        </p:sp>
        <p:sp>
          <p:nvSpPr>
            <p:cNvPr id="17" name="TextBox 17"/>
            <p:cNvSpPr txBox="1"/>
            <p:nvPr/>
          </p:nvSpPr>
          <p:spPr>
            <a:xfrm>
              <a:off x="1037628" y="2692241"/>
              <a:ext cx="78224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客户权益与活动</a:t>
              </a:r>
            </a:p>
          </p:txBody>
        </p:sp>
        <p:sp>
          <p:nvSpPr>
            <p:cNvPr id="18" name="TextBox 18"/>
            <p:cNvSpPr txBox="1"/>
            <p:nvPr/>
          </p:nvSpPr>
          <p:spPr>
            <a:xfrm>
              <a:off x="1219038" y="3476625"/>
              <a:ext cx="419423"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Arial"/>
                  <a:cs typeface="Arial"/>
                </a:rPr>
                <a:t>60%</a:t>
              </a:r>
            </a:p>
          </p:txBody>
        </p:sp>
        <p:sp>
          <p:nvSpPr>
            <p:cNvPr id="19" name="TextBox 19"/>
            <p:cNvSpPr txBox="1"/>
            <p:nvPr/>
          </p:nvSpPr>
          <p:spPr>
            <a:xfrm>
              <a:off x="878776" y="3769995"/>
              <a:ext cx="109994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金融知识与生活服务</a:t>
              </a:r>
            </a:p>
          </p:txBody>
        </p:sp>
        <p:sp>
          <p:nvSpPr>
            <p:cNvPr id="20" name="Line 20"/>
            <p:cNvSpPr/>
            <p:nvPr/>
          </p:nvSpPr>
          <p:spPr>
            <a:xfrm>
              <a:off x="1752600" y="1771650"/>
              <a:ext cx="762000" cy="9525"/>
            </a:xfrm>
            <a:custGeom>
              <a:avLst/>
              <a:gdLst/>
              <a:ahLst/>
              <a:cxnLst/>
              <a:rect l="l" t="t" r="r" b="b"/>
              <a:pathLst>
                <a:path w="762000" h="9525">
                  <a:moveTo>
                    <a:pt x="0" y="0"/>
                  </a:moveTo>
                  <a:lnTo>
                    <a:pt x="762000" y="0"/>
                  </a:lnTo>
                </a:path>
              </a:pathLst>
            </a:custGeom>
            <a:noFill/>
            <a:ln w="9525">
              <a:solidFill>
                <a:srgbClr val="F3B2A3"/>
              </a:solidFill>
            </a:ln>
          </p:spPr>
        </p:sp>
        <p:sp>
          <p:nvSpPr>
            <p:cNvPr id="21" name="TextBox 21"/>
            <p:cNvSpPr txBox="1"/>
            <p:nvPr/>
          </p:nvSpPr>
          <p:spPr>
            <a:xfrm>
              <a:off x="2566988" y="156138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产品解析与对比</a:t>
              </a:r>
            </a:p>
          </p:txBody>
        </p:sp>
        <p:sp>
          <p:nvSpPr>
            <p:cNvPr id="22" name="TextBox 22"/>
            <p:cNvSpPr txBox="1"/>
            <p:nvPr/>
          </p:nvSpPr>
          <p:spPr>
            <a:xfrm>
              <a:off x="2566988" y="1713786"/>
              <a:ext cx="468490"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申办指引</a:t>
              </a:r>
            </a:p>
          </p:txBody>
        </p:sp>
        <p:sp>
          <p:nvSpPr>
            <p:cNvPr id="23" name="TextBox 23"/>
            <p:cNvSpPr txBox="1"/>
            <p:nvPr/>
          </p:nvSpPr>
          <p:spPr>
            <a:xfrm>
              <a:off x="2566988" y="186618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适配的交易机会</a:t>
              </a:r>
            </a:p>
          </p:txBody>
        </p:sp>
        <p:sp>
          <p:nvSpPr>
            <p:cNvPr id="24" name="Line 24"/>
            <p:cNvSpPr/>
            <p:nvPr/>
          </p:nvSpPr>
          <p:spPr>
            <a:xfrm>
              <a:off x="2057400" y="2647950"/>
              <a:ext cx="552450" cy="9525"/>
            </a:xfrm>
            <a:custGeom>
              <a:avLst/>
              <a:gdLst/>
              <a:ahLst/>
              <a:cxnLst/>
              <a:rect l="l" t="t" r="r" b="b"/>
              <a:pathLst>
                <a:path w="552450" h="9525">
                  <a:moveTo>
                    <a:pt x="0" y="0"/>
                  </a:moveTo>
                  <a:lnTo>
                    <a:pt x="552450" y="0"/>
                  </a:lnTo>
                </a:path>
              </a:pathLst>
            </a:custGeom>
            <a:noFill/>
            <a:ln w="9525">
              <a:solidFill>
                <a:srgbClr val="F3B2A3"/>
              </a:solidFill>
            </a:ln>
          </p:spPr>
        </p:sp>
        <p:sp>
          <p:nvSpPr>
            <p:cNvPr id="25" name="TextBox 25"/>
            <p:cNvSpPr txBox="1"/>
            <p:nvPr/>
          </p:nvSpPr>
          <p:spPr>
            <a:xfrm>
              <a:off x="2662238" y="2437686"/>
              <a:ext cx="65965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客户专属权益</a:t>
              </a:r>
            </a:p>
          </p:txBody>
        </p:sp>
        <p:sp>
          <p:nvSpPr>
            <p:cNvPr id="26" name="TextBox 26"/>
            <p:cNvSpPr txBox="1"/>
            <p:nvPr/>
          </p:nvSpPr>
          <p:spPr>
            <a:xfrm>
              <a:off x="2662238" y="2590086"/>
              <a:ext cx="712220"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节日/主题活动</a:t>
              </a:r>
            </a:p>
          </p:txBody>
        </p:sp>
        <p:sp>
          <p:nvSpPr>
            <p:cNvPr id="27" name="TextBox 27"/>
            <p:cNvSpPr txBox="1"/>
            <p:nvPr/>
          </p:nvSpPr>
          <p:spPr>
            <a:xfrm>
              <a:off x="2662238" y="2742486"/>
              <a:ext cx="75523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积分与增值服务</a:t>
              </a:r>
            </a:p>
          </p:txBody>
        </p:sp>
        <p:sp>
          <p:nvSpPr>
            <p:cNvPr id="28" name="Line 28"/>
            <p:cNvSpPr/>
            <p:nvPr/>
          </p:nvSpPr>
          <p:spPr>
            <a:xfrm>
              <a:off x="2400300" y="3829050"/>
              <a:ext cx="95250" cy="9525"/>
            </a:xfrm>
            <a:custGeom>
              <a:avLst/>
              <a:gdLst/>
              <a:ahLst/>
              <a:cxnLst/>
              <a:rect l="l" t="t" r="r" b="b"/>
              <a:pathLst>
                <a:path w="95250" h="9525">
                  <a:moveTo>
                    <a:pt x="0" y="0"/>
                  </a:moveTo>
                  <a:lnTo>
                    <a:pt x="95250" y="0"/>
                  </a:lnTo>
                </a:path>
              </a:pathLst>
            </a:custGeom>
            <a:noFill/>
            <a:ln w="9525">
              <a:solidFill>
                <a:srgbClr val="F3B2A3"/>
              </a:solidFill>
            </a:ln>
          </p:spPr>
        </p:sp>
        <p:sp>
          <p:nvSpPr>
            <p:cNvPr id="29" name="TextBox 29"/>
            <p:cNvSpPr txBox="1"/>
            <p:nvPr/>
          </p:nvSpPr>
          <p:spPr>
            <a:xfrm>
              <a:off x="2547938" y="354258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理财知识与市场解读</a:t>
              </a:r>
            </a:p>
          </p:txBody>
        </p:sp>
        <p:sp>
          <p:nvSpPr>
            <p:cNvPr id="30" name="TextBox 30"/>
            <p:cNvSpPr txBox="1"/>
            <p:nvPr/>
          </p:nvSpPr>
          <p:spPr>
            <a:xfrm>
              <a:off x="2547938" y="369498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反诈安全与风险提示</a:t>
              </a:r>
            </a:p>
          </p:txBody>
        </p:sp>
        <p:sp>
          <p:nvSpPr>
            <p:cNvPr id="31" name="TextBox 31"/>
            <p:cNvSpPr txBox="1"/>
            <p:nvPr/>
          </p:nvSpPr>
          <p:spPr>
            <a:xfrm>
              <a:off x="2547938" y="3847386"/>
              <a:ext cx="946391"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生活服务与便民信息</a:t>
              </a:r>
            </a:p>
          </p:txBody>
        </p:sp>
        <p:sp>
          <p:nvSpPr>
            <p:cNvPr id="32" name="TextBox 32"/>
            <p:cNvSpPr txBox="1"/>
            <p:nvPr/>
          </p:nvSpPr>
          <p:spPr>
            <a:xfrm>
              <a:off x="2547938" y="3999786"/>
              <a:ext cx="1328712" cy="140494"/>
            </a:xfrm>
            <a:prstGeom prst="rect">
              <a:avLst/>
            </a:prstGeom>
            <a:noFill/>
            <a:ln>
              <a:noFill/>
            </a:ln>
          </p:spPr>
          <p:txBody>
            <a:bodyPr wrap="none" lIns="0" tIns="0" rIns="0" bIns="0" anchor="t" anchorCtr="0">
              <a:spAutoFit/>
            </a:bodyPr>
            <a:lstStyle/>
            <a:p>
              <a:pPr algn="l" marL="76644" indent="-76644">
                <a:buClr>
                  <a:srgbClr val="3D3D3D"/>
                </a:buClr>
                <a:buSzTx/>
                <a:buFontTx/>
                <a:buChar char="•"/>
              </a:pPr>
              <a:r>
                <a:rPr lang="zh-CN" sz="710" dirty="0">
                  <a:solidFill>
                    <a:srgbClr val="3D3D3D"/>
                  </a:solidFill>
                  <a:latin typeface="+mn-lt"/>
                  <a:ea typeface="+mn-ea"/>
                  <a:cs typeface="+mn-cs"/>
                </a:rPr>
                <a:t>家庭、健康、教育等实用内容</a:t>
              </a:r>
            </a:p>
          </p:txBody>
        </p:sp>
      </p:grpSp>
      <p:grpSp>
        <p:nvGrpSpPr>
          <p:cNvPr id="90" name="content-compare"/>
          <p:cNvGrpSpPr/>
          <p:nvPr/>
        </p:nvGrpSpPr>
        <p:grpSpPr>
          <a:xfrm>
            <a:off x="4057650" y="704850"/>
            <a:ext cx="3409950" cy="3714750"/>
            <a:chOff x="4057650" y="704850"/>
            <a:chExt cx="3409950" cy="3714750"/>
          </a:xfrm>
        </p:grpSpPr>
        <p:sp>
          <p:nvSpPr>
            <p:cNvPr id="34" name="Rectangle 34"/>
            <p:cNvSpPr/>
            <p:nvPr/>
          </p:nvSpPr>
          <p:spPr>
            <a:xfrm>
              <a:off x="4057650" y="704850"/>
              <a:ext cx="38100" cy="152400"/>
            </a:xfrm>
            <a:prstGeom prst="rect">
              <a:avLst/>
            </a:prstGeom>
            <a:solidFill>
              <a:srgbClr val="C83210"/>
            </a:solidFill>
            <a:ln>
              <a:noFill/>
            </a:ln>
          </p:spPr>
        </p:sp>
        <p:sp>
          <p:nvSpPr>
            <p:cNvPr id="35" name="TextBox 35"/>
            <p:cNvSpPr txBox="1"/>
            <p:nvPr/>
          </p:nvSpPr>
          <p:spPr>
            <a:xfrm>
              <a:off x="4147947" y="723424"/>
              <a:ext cx="2029718"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内容好坏对比：从“推销”到“帮助”</a:t>
              </a:r>
            </a:p>
          </p:txBody>
        </p:sp>
        <p:sp>
          <p:nvSpPr>
            <p:cNvPr id="36" name="Rectangle 36"/>
            <p:cNvSpPr/>
            <p:nvPr/>
          </p:nvSpPr>
          <p:spPr>
            <a:xfrm>
              <a:off x="4076700" y="933450"/>
              <a:ext cx="3390900" cy="342900"/>
            </a:xfrm>
            <a:prstGeom prst="roundRect">
              <a:avLst>
                <a:gd name="adj" fmla="val 11111"/>
              </a:avLst>
            </a:prstGeom>
            <a:solidFill>
              <a:srgbClr val="C83210"/>
            </a:solidFill>
            <a:ln>
              <a:noFill/>
            </a:ln>
          </p:spPr>
        </p:sp>
        <p:sp>
          <p:nvSpPr>
            <p:cNvPr id="37" name="TextBox 37"/>
            <p:cNvSpPr txBox="1"/>
            <p:nvPr/>
          </p:nvSpPr>
          <p:spPr>
            <a:xfrm>
              <a:off x="4251008" y="10620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对比维度</a:t>
              </a:r>
            </a:p>
          </p:txBody>
        </p:sp>
        <p:sp>
          <p:nvSpPr>
            <p:cNvPr id="38" name="TextBox 38"/>
            <p:cNvSpPr txBox="1"/>
            <p:nvPr/>
          </p:nvSpPr>
          <p:spPr>
            <a:xfrm>
              <a:off x="5156632" y="999411"/>
              <a:ext cx="67858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不受欢迎的内容</a:t>
              </a:r>
            </a:p>
          </p:txBody>
        </p:sp>
        <p:sp>
          <p:nvSpPr>
            <p:cNvPr id="39" name="TextBox 39"/>
            <p:cNvSpPr txBox="1"/>
            <p:nvPr/>
          </p:nvSpPr>
          <p:spPr>
            <a:xfrm>
              <a:off x="5262308" y="1136809"/>
              <a:ext cx="467233"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（硬广式）</a:t>
              </a:r>
            </a:p>
          </p:txBody>
        </p:sp>
        <p:sp>
          <p:nvSpPr>
            <p:cNvPr id="40" name="TextBox 40"/>
            <p:cNvSpPr txBox="1"/>
            <p:nvPr/>
          </p:nvSpPr>
          <p:spPr>
            <a:xfrm>
              <a:off x="6518872" y="999411"/>
              <a:ext cx="58300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受欢迎的内容</a:t>
              </a:r>
            </a:p>
          </p:txBody>
        </p:sp>
        <p:sp>
          <p:nvSpPr>
            <p:cNvPr id="41" name="TextBox 41"/>
            <p:cNvSpPr txBox="1"/>
            <p:nvPr/>
          </p:nvSpPr>
          <p:spPr>
            <a:xfrm>
              <a:off x="6576758" y="1136809"/>
              <a:ext cx="467233"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（服务式）</a:t>
              </a:r>
            </a:p>
          </p:txBody>
        </p:sp>
        <p:sp>
          <p:nvSpPr>
            <p:cNvPr id="42" name="Rectangle 42"/>
            <p:cNvSpPr/>
            <p:nvPr/>
          </p:nvSpPr>
          <p:spPr>
            <a:xfrm>
              <a:off x="4076700" y="1276350"/>
              <a:ext cx="3390900" cy="628650"/>
            </a:xfrm>
            <a:prstGeom prst="rect">
              <a:avLst/>
            </a:prstGeom>
            <a:solidFill>
              <a:srgbClr val="FDEFF1"/>
            </a:solidFill>
            <a:ln>
              <a:noFill/>
            </a:ln>
          </p:spPr>
        </p:sp>
        <p:sp>
          <p:nvSpPr>
            <p:cNvPr id="43" name="Rectangle 43"/>
            <p:cNvSpPr/>
            <p:nvPr/>
          </p:nvSpPr>
          <p:spPr>
            <a:xfrm>
              <a:off x="4076700" y="2533650"/>
              <a:ext cx="3390900" cy="628650"/>
            </a:xfrm>
            <a:prstGeom prst="rect">
              <a:avLst/>
            </a:prstGeom>
            <a:solidFill>
              <a:srgbClr val="FDEFF1"/>
            </a:solidFill>
            <a:ln>
              <a:noFill/>
            </a:ln>
          </p:spPr>
        </p:sp>
        <p:sp>
          <p:nvSpPr>
            <p:cNvPr id="44" name="Rectangle 44"/>
            <p:cNvSpPr/>
            <p:nvPr/>
          </p:nvSpPr>
          <p:spPr>
            <a:xfrm>
              <a:off x="4076700" y="3790950"/>
              <a:ext cx="3390900" cy="628650"/>
            </a:xfrm>
            <a:prstGeom prst="rect">
              <a:avLst/>
            </a:prstGeom>
            <a:solidFill>
              <a:srgbClr val="FDEFF1"/>
            </a:solidFill>
            <a:ln>
              <a:noFill/>
            </a:ln>
          </p:spPr>
        </p:sp>
        <p:sp>
          <p:nvSpPr>
            <p:cNvPr id="45" name="Line 45"/>
            <p:cNvSpPr/>
            <p:nvPr/>
          </p:nvSpPr>
          <p:spPr>
            <a:xfrm>
              <a:off x="4838700" y="1276350"/>
              <a:ext cx="9525" cy="3143250"/>
            </a:xfrm>
            <a:custGeom>
              <a:avLst/>
              <a:gdLst/>
              <a:ahLst/>
              <a:cxnLst/>
              <a:rect l="l" t="t" r="r" b="b"/>
              <a:pathLst>
                <a:path w="9525" h="3143250">
                  <a:moveTo>
                    <a:pt x="0" y="0"/>
                  </a:moveTo>
                  <a:lnTo>
                    <a:pt x="0" y="3143250"/>
                  </a:lnTo>
                </a:path>
              </a:pathLst>
            </a:custGeom>
            <a:noFill/>
            <a:ln w="9525">
              <a:solidFill>
                <a:srgbClr val="F1C7CC"/>
              </a:solidFill>
            </a:ln>
          </p:spPr>
        </p:sp>
        <p:sp>
          <p:nvSpPr>
            <p:cNvPr id="46" name="Line 46"/>
            <p:cNvSpPr/>
            <p:nvPr/>
          </p:nvSpPr>
          <p:spPr>
            <a:xfrm>
              <a:off x="6153150" y="1276350"/>
              <a:ext cx="9525" cy="3143250"/>
            </a:xfrm>
            <a:custGeom>
              <a:avLst/>
              <a:gdLst/>
              <a:ahLst/>
              <a:cxnLst/>
              <a:rect l="l" t="t" r="r" b="b"/>
              <a:pathLst>
                <a:path w="9525" h="3143250">
                  <a:moveTo>
                    <a:pt x="0" y="0"/>
                  </a:moveTo>
                  <a:lnTo>
                    <a:pt x="0" y="3143250"/>
                  </a:lnTo>
                </a:path>
              </a:pathLst>
            </a:custGeom>
            <a:noFill/>
            <a:ln w="9525">
              <a:solidFill>
                <a:srgbClr val="F1C7CC"/>
              </a:solidFill>
            </a:ln>
          </p:spPr>
        </p:sp>
        <p:grpSp>
          <p:nvGrpSpPr>
            <p:cNvPr id="52" name="Group 52"/>
            <p:cNvGrpSpPr/>
            <p:nvPr/>
          </p:nvGrpSpPr>
          <p:grpSpPr>
            <a:xfrm>
              <a:off x="4188619" y="1526381"/>
              <a:ext cx="100012" cy="128588"/>
              <a:chOff x="4188619" y="1526381"/>
              <a:chExt cx="100012" cy="128588"/>
            </a:xfrm>
          </p:grpSpPr>
          <p:sp>
            <p:nvSpPr>
              <p:cNvPr id="47" name="Freeform 47"/>
              <p:cNvSpPr/>
              <p:nvPr/>
            </p:nvSpPr>
            <p:spPr>
              <a:xfrm>
                <a:off x="4252912" y="15263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C83210"/>
                </a:solidFill>
              </a:ln>
            </p:spPr>
          </p:sp>
          <p:sp>
            <p:nvSpPr>
              <p:cNvPr id="48" name="Freeform 48"/>
              <p:cNvSpPr/>
              <p:nvPr/>
            </p:nvSpPr>
            <p:spPr>
              <a:xfrm>
                <a:off x="4188619" y="15263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C83210"/>
                </a:solidFill>
              </a:ln>
            </p:spPr>
          </p:sp>
          <p:sp>
            <p:nvSpPr>
              <p:cNvPr id="49" name="Freeform 49"/>
              <p:cNvSpPr/>
              <p:nvPr/>
            </p:nvSpPr>
            <p:spPr>
              <a:xfrm>
                <a:off x="4217194" y="1569244"/>
                <a:ext cx="9525" cy="9525"/>
              </a:xfrm>
              <a:custGeom>
                <a:avLst/>
                <a:gdLst/>
                <a:ahLst/>
                <a:cxnLst/>
                <a:rect l="l" t="t" r="r" b="b"/>
                <a:pathLst>
                  <a:path w="9525" h="9525">
                    <a:moveTo>
                      <a:pt x="0" y="0"/>
                    </a:moveTo>
                    <a:lnTo>
                      <a:pt x="7144" y="0"/>
                    </a:lnTo>
                  </a:path>
                </a:pathLst>
              </a:custGeom>
              <a:noFill/>
              <a:ln w="14288">
                <a:solidFill>
                  <a:srgbClr val="C83210"/>
                </a:solidFill>
              </a:ln>
            </p:spPr>
          </p:sp>
          <p:sp>
            <p:nvSpPr>
              <p:cNvPr id="50" name="Freeform 50"/>
              <p:cNvSpPr/>
              <p:nvPr/>
            </p:nvSpPr>
            <p:spPr>
              <a:xfrm>
                <a:off x="4217194" y="1597819"/>
                <a:ext cx="42862" cy="9525"/>
              </a:xfrm>
              <a:custGeom>
                <a:avLst/>
                <a:gdLst/>
                <a:ahLst/>
                <a:cxnLst/>
                <a:rect l="l" t="t" r="r" b="b"/>
                <a:pathLst>
                  <a:path w="42862" h="9525">
                    <a:moveTo>
                      <a:pt x="0" y="0"/>
                    </a:moveTo>
                    <a:lnTo>
                      <a:pt x="42862" y="0"/>
                    </a:lnTo>
                  </a:path>
                </a:pathLst>
              </a:custGeom>
              <a:noFill/>
              <a:ln w="14288">
                <a:solidFill>
                  <a:srgbClr val="C83210"/>
                </a:solidFill>
              </a:ln>
            </p:spPr>
          </p:sp>
          <p:sp>
            <p:nvSpPr>
              <p:cNvPr id="51" name="Freeform 51"/>
              <p:cNvSpPr/>
              <p:nvPr/>
            </p:nvSpPr>
            <p:spPr>
              <a:xfrm>
                <a:off x="4217194" y="1626394"/>
                <a:ext cx="42862" cy="9525"/>
              </a:xfrm>
              <a:custGeom>
                <a:avLst/>
                <a:gdLst/>
                <a:ahLst/>
                <a:cxnLst/>
                <a:rect l="l" t="t" r="r" b="b"/>
                <a:pathLst>
                  <a:path w="42862" h="9525">
                    <a:moveTo>
                      <a:pt x="0" y="0"/>
                    </a:moveTo>
                    <a:lnTo>
                      <a:pt x="42862" y="0"/>
                    </a:lnTo>
                  </a:path>
                </a:pathLst>
              </a:custGeom>
              <a:noFill/>
              <a:ln w="14288">
                <a:solidFill>
                  <a:srgbClr val="C83210"/>
                </a:solidFill>
              </a:ln>
            </p:spPr>
          </p:sp>
        </p:grpSp>
        <p:sp>
          <p:nvSpPr>
            <p:cNvPr id="53" name="TextBox 53"/>
            <p:cNvSpPr txBox="1"/>
            <p:nvPr/>
          </p:nvSpPr>
          <p:spPr>
            <a:xfrm>
              <a:off x="4376738" y="1557338"/>
              <a:ext cx="21145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标题</a:t>
              </a:r>
            </a:p>
          </p:txBody>
        </p:sp>
        <p:sp>
          <p:nvSpPr>
            <p:cNvPr id="54" name="TextBox 54"/>
            <p:cNvSpPr txBox="1"/>
            <p:nvPr/>
          </p:nvSpPr>
          <p:spPr>
            <a:xfrm>
              <a:off x="4891088" y="1479709"/>
              <a:ext cx="1108024"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【重磅推荐】我行新款理财</a:t>
              </a:r>
            </a:p>
          </p:txBody>
        </p:sp>
        <p:sp>
          <p:nvSpPr>
            <p:cNvPr id="55" name="TextBox 55"/>
            <p:cNvSpPr txBox="1"/>
            <p:nvPr/>
          </p:nvSpPr>
          <p:spPr>
            <a:xfrm>
              <a:off x="4891088" y="1613059"/>
              <a:ext cx="467233"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火热发售！</a:t>
              </a:r>
            </a:p>
          </p:txBody>
        </p:sp>
        <p:sp>
          <p:nvSpPr>
            <p:cNvPr id="56" name="TextBox 56"/>
            <p:cNvSpPr txBox="1"/>
            <p:nvPr/>
          </p:nvSpPr>
          <p:spPr>
            <a:xfrm>
              <a:off x="6205538" y="1479709"/>
              <a:ext cx="1108024"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如何让你的闲钱更有价值？</a:t>
              </a:r>
            </a:p>
          </p:txBody>
        </p:sp>
        <p:sp>
          <p:nvSpPr>
            <p:cNvPr id="57" name="TextBox 57"/>
            <p:cNvSpPr txBox="1"/>
            <p:nvPr/>
          </p:nvSpPr>
          <p:spPr>
            <a:xfrm>
              <a:off x="6205538" y="1613059"/>
              <a:ext cx="700664"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 xml:space="preserve">3个理财小技巧　</a:t>
              </a:r>
            </a:p>
          </p:txBody>
        </p:sp>
        <p:grpSp>
          <p:nvGrpSpPr>
            <p:cNvPr id="60" name="Group 60"/>
            <p:cNvGrpSpPr/>
            <p:nvPr/>
          </p:nvGrpSpPr>
          <p:grpSpPr>
            <a:xfrm>
              <a:off x="4195762" y="2155031"/>
              <a:ext cx="85725" cy="128587"/>
              <a:chOff x="4195762" y="2155031"/>
              <a:chExt cx="85725" cy="128587"/>
            </a:xfrm>
          </p:grpSpPr>
          <p:sp>
            <p:nvSpPr>
              <p:cNvPr id="58" name="Freeform 58"/>
              <p:cNvSpPr/>
              <p:nvPr/>
            </p:nvSpPr>
            <p:spPr>
              <a:xfrm>
                <a:off x="4210050" y="21550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C83210"/>
                </a:solidFill>
              </a:ln>
            </p:spPr>
          </p:sp>
          <p:sp>
            <p:nvSpPr>
              <p:cNvPr id="59" name="Freeform 59"/>
              <p:cNvSpPr/>
              <p:nvPr/>
            </p:nvSpPr>
            <p:spPr>
              <a:xfrm>
                <a:off x="4195762" y="22407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C83210"/>
                </a:solidFill>
              </a:ln>
            </p:spPr>
          </p:sp>
        </p:grpSp>
        <p:sp>
          <p:nvSpPr>
            <p:cNvPr id="61" name="TextBox 61"/>
            <p:cNvSpPr txBox="1"/>
            <p:nvPr/>
          </p:nvSpPr>
          <p:spPr>
            <a:xfrm>
              <a:off x="4376738" y="2128838"/>
              <a:ext cx="21145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客户</a:t>
              </a:r>
            </a:p>
          </p:txBody>
        </p:sp>
        <p:sp>
          <p:nvSpPr>
            <p:cNvPr id="62" name="TextBox 62"/>
            <p:cNvSpPr txBox="1"/>
            <p:nvPr/>
          </p:nvSpPr>
          <p:spPr>
            <a:xfrm>
              <a:off x="4376738" y="2262188"/>
              <a:ext cx="312420"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相关性</a:t>
              </a:r>
            </a:p>
          </p:txBody>
        </p:sp>
        <p:sp>
          <p:nvSpPr>
            <p:cNvPr id="63" name="TextBox 63"/>
            <p:cNvSpPr txBox="1"/>
            <p:nvPr/>
          </p:nvSpPr>
          <p:spPr>
            <a:xfrm>
              <a:off x="4891088" y="2108359"/>
              <a:ext cx="741858"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以我行产品为中心</a:t>
              </a:r>
            </a:p>
          </p:txBody>
        </p:sp>
        <p:sp>
          <p:nvSpPr>
            <p:cNvPr id="64" name="TextBox 64"/>
            <p:cNvSpPr txBox="1"/>
            <p:nvPr/>
          </p:nvSpPr>
          <p:spPr>
            <a:xfrm>
              <a:off x="4891088" y="2241709"/>
              <a:ext cx="741858"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与客户需求弱相关</a:t>
              </a:r>
            </a:p>
          </p:txBody>
        </p:sp>
        <p:sp>
          <p:nvSpPr>
            <p:cNvPr id="65" name="TextBox 65"/>
            <p:cNvSpPr txBox="1"/>
            <p:nvPr/>
          </p:nvSpPr>
          <p:spPr>
            <a:xfrm>
              <a:off x="6205538" y="2108359"/>
              <a:ext cx="833399"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从客户真实场景出发</a:t>
              </a:r>
            </a:p>
          </p:txBody>
        </p:sp>
        <p:sp>
          <p:nvSpPr>
            <p:cNvPr id="66" name="TextBox 66"/>
            <p:cNvSpPr txBox="1"/>
            <p:nvPr/>
          </p:nvSpPr>
          <p:spPr>
            <a:xfrm>
              <a:off x="6205538" y="2241709"/>
              <a:ext cx="558775"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解决实际问题</a:t>
              </a:r>
            </a:p>
          </p:txBody>
        </p:sp>
        <p:grpSp>
          <p:nvGrpSpPr>
            <p:cNvPr id="71" name="Group 71"/>
            <p:cNvGrpSpPr/>
            <p:nvPr/>
          </p:nvGrpSpPr>
          <p:grpSpPr>
            <a:xfrm>
              <a:off x="4174331" y="2790825"/>
              <a:ext cx="128587" cy="123825"/>
              <a:chOff x="4174331" y="2790825"/>
              <a:chExt cx="128587" cy="123825"/>
            </a:xfrm>
          </p:grpSpPr>
          <p:sp>
            <p:nvSpPr>
              <p:cNvPr id="67" name="Freeform 67"/>
              <p:cNvSpPr/>
              <p:nvPr/>
            </p:nvSpPr>
            <p:spPr>
              <a:xfrm>
                <a:off x="4174331" y="284797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C83210"/>
                </a:solidFill>
              </a:ln>
            </p:spPr>
          </p:sp>
          <p:sp>
            <p:nvSpPr>
              <p:cNvPr id="68" name="Freeform 68"/>
              <p:cNvSpPr/>
              <p:nvPr/>
            </p:nvSpPr>
            <p:spPr>
              <a:xfrm>
                <a:off x="4260056" y="281940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C83210"/>
                </a:solidFill>
              </a:ln>
            </p:spPr>
          </p:sp>
          <p:sp>
            <p:nvSpPr>
              <p:cNvPr id="69" name="Freeform 69"/>
              <p:cNvSpPr/>
              <p:nvPr/>
            </p:nvSpPr>
            <p:spPr>
              <a:xfrm>
                <a:off x="4217194" y="279082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C83210"/>
                </a:solidFill>
              </a:ln>
            </p:spPr>
          </p:sp>
          <p:sp>
            <p:nvSpPr>
              <p:cNvPr id="70" name="Freeform 70"/>
              <p:cNvSpPr/>
              <p:nvPr/>
            </p:nvSpPr>
            <p:spPr>
              <a:xfrm>
                <a:off x="4181475" y="2905125"/>
                <a:ext cx="100012" cy="9525"/>
              </a:xfrm>
              <a:custGeom>
                <a:avLst/>
                <a:gdLst/>
                <a:ahLst/>
                <a:cxnLst/>
                <a:rect l="l" t="t" r="r" b="b"/>
                <a:pathLst>
                  <a:path w="100012" h="9525">
                    <a:moveTo>
                      <a:pt x="0" y="0"/>
                    </a:moveTo>
                    <a:lnTo>
                      <a:pt x="100012" y="0"/>
                    </a:lnTo>
                  </a:path>
                </a:pathLst>
              </a:custGeom>
              <a:noFill/>
              <a:ln w="14288">
                <a:solidFill>
                  <a:srgbClr val="C83210"/>
                </a:solidFill>
              </a:ln>
            </p:spPr>
          </p:sp>
        </p:grpSp>
        <p:sp>
          <p:nvSpPr>
            <p:cNvPr id="72" name="TextBox 72"/>
            <p:cNvSpPr txBox="1"/>
            <p:nvPr/>
          </p:nvSpPr>
          <p:spPr>
            <a:xfrm>
              <a:off x="4376738" y="2814638"/>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内容证据</a:t>
              </a:r>
            </a:p>
          </p:txBody>
        </p:sp>
        <p:sp>
          <p:nvSpPr>
            <p:cNvPr id="73" name="TextBox 73"/>
            <p:cNvSpPr txBox="1"/>
            <p:nvPr/>
          </p:nvSpPr>
          <p:spPr>
            <a:xfrm>
              <a:off x="4891088" y="2737009"/>
              <a:ext cx="1016483"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仅强调收益、额度等卖点</a:t>
              </a:r>
            </a:p>
          </p:txBody>
        </p:sp>
        <p:sp>
          <p:nvSpPr>
            <p:cNvPr id="74" name="TextBox 74"/>
            <p:cNvSpPr txBox="1"/>
            <p:nvPr/>
          </p:nvSpPr>
          <p:spPr>
            <a:xfrm>
              <a:off x="4891088" y="2870359"/>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缺乏依据</a:t>
              </a:r>
            </a:p>
          </p:txBody>
        </p:sp>
        <p:sp>
          <p:nvSpPr>
            <p:cNvPr id="75" name="TextBox 75"/>
            <p:cNvSpPr txBox="1"/>
            <p:nvPr/>
          </p:nvSpPr>
          <p:spPr>
            <a:xfrm>
              <a:off x="6205538" y="2737009"/>
              <a:ext cx="1016483"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有数据、案例或权威来源</a:t>
              </a:r>
            </a:p>
          </p:txBody>
        </p:sp>
        <p:sp>
          <p:nvSpPr>
            <p:cNvPr id="76" name="TextBox 76"/>
            <p:cNvSpPr txBox="1"/>
            <p:nvPr/>
          </p:nvSpPr>
          <p:spPr>
            <a:xfrm>
              <a:off x="6205538" y="2870359"/>
              <a:ext cx="467233"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增强可信度</a:t>
              </a:r>
            </a:p>
          </p:txBody>
        </p:sp>
        <p:sp>
          <p:nvSpPr>
            <p:cNvPr id="77" name="Freeform 77"/>
            <p:cNvSpPr/>
            <p:nvPr/>
          </p:nvSpPr>
          <p:spPr>
            <a:xfrm>
              <a:off x="4181475" y="3419475"/>
              <a:ext cx="114282" cy="114282"/>
            </a:xfrm>
            <a:custGeom>
              <a:avLst/>
              <a:gdLst/>
              <a:ahLst/>
              <a:cxnLst/>
              <a:rect l="l" t="t" r="r" b="b"/>
              <a:pathLst>
                <a:path w="114282" h="114282">
                  <a:moveTo>
                    <a:pt x="27889" y="96891"/>
                  </a:moveTo>
                  <a:cubicBezTo>
                    <a:pt x="28667" y="100386"/>
                    <a:pt x="31536" y="103029"/>
                    <a:pt x="35083" y="103520"/>
                  </a:cubicBezTo>
                  <a:cubicBezTo>
                    <a:pt x="38630" y="104010"/>
                    <a:pt x="42108" y="102244"/>
                    <a:pt x="43805" y="99091"/>
                  </a:cubicBezTo>
                  <a:lnTo>
                    <a:pt x="58736" y="76995"/>
                  </a:lnTo>
                  <a:lnTo>
                    <a:pt x="93790" y="112050"/>
                  </a:lnTo>
                  <a:cubicBezTo>
                    <a:pt x="95220" y="113479"/>
                    <a:pt x="97159" y="114282"/>
                    <a:pt x="99180" y="114282"/>
                  </a:cubicBezTo>
                  <a:cubicBezTo>
                    <a:pt x="101202" y="114282"/>
                    <a:pt x="103141" y="113479"/>
                    <a:pt x="104570" y="112050"/>
                  </a:cubicBezTo>
                  <a:lnTo>
                    <a:pt x="112050" y="104570"/>
                  </a:lnTo>
                  <a:cubicBezTo>
                    <a:pt x="113479" y="103141"/>
                    <a:pt x="114282" y="101202"/>
                    <a:pt x="114282" y="99180"/>
                  </a:cubicBezTo>
                  <a:cubicBezTo>
                    <a:pt x="114282" y="97159"/>
                    <a:pt x="113479" y="95220"/>
                    <a:pt x="112050" y="93790"/>
                  </a:cubicBezTo>
                  <a:lnTo>
                    <a:pt x="76995" y="58736"/>
                  </a:lnTo>
                  <a:lnTo>
                    <a:pt x="99234" y="43805"/>
                  </a:lnTo>
                  <a:cubicBezTo>
                    <a:pt x="102387" y="42107"/>
                    <a:pt x="104152" y="38628"/>
                    <a:pt x="103660" y="35080"/>
                  </a:cubicBezTo>
                  <a:cubicBezTo>
                    <a:pt x="103168" y="31533"/>
                    <a:pt x="100523" y="28665"/>
                    <a:pt x="97026" y="27889"/>
                  </a:cubicBezTo>
                  <a:lnTo>
                    <a:pt x="0" y="0"/>
                  </a:lnTo>
                  <a:lnTo>
                    <a:pt x="27889" y="96891"/>
                  </a:lnTo>
                </a:path>
              </a:pathLst>
            </a:custGeom>
            <a:noFill/>
            <a:ln w="14288">
              <a:solidFill>
                <a:srgbClr val="C83210"/>
              </a:solidFill>
            </a:ln>
          </p:spPr>
        </p:sp>
        <p:sp>
          <p:nvSpPr>
            <p:cNvPr id="78" name="TextBox 78"/>
            <p:cNvSpPr txBox="1"/>
            <p:nvPr/>
          </p:nvSpPr>
          <p:spPr>
            <a:xfrm>
              <a:off x="4376738" y="3443288"/>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行动引导</a:t>
              </a:r>
            </a:p>
          </p:txBody>
        </p:sp>
        <p:sp>
          <p:nvSpPr>
            <p:cNvPr id="79" name="TextBox 79"/>
            <p:cNvSpPr txBox="1"/>
            <p:nvPr/>
          </p:nvSpPr>
          <p:spPr>
            <a:xfrm>
              <a:off x="4891088" y="3432334"/>
              <a:ext cx="84713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立即购买 / 火速上车</a:t>
              </a:r>
            </a:p>
          </p:txBody>
        </p:sp>
        <p:sp>
          <p:nvSpPr>
            <p:cNvPr id="80" name="TextBox 80"/>
            <p:cNvSpPr txBox="1"/>
            <p:nvPr/>
          </p:nvSpPr>
          <p:spPr>
            <a:xfrm>
              <a:off x="6205538" y="3365659"/>
              <a:ext cx="92494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查看攻略 / 领取工具 /</a:t>
              </a:r>
            </a:p>
          </p:txBody>
        </p:sp>
        <p:sp>
          <p:nvSpPr>
            <p:cNvPr id="81" name="TextBox 81"/>
            <p:cNvSpPr txBox="1"/>
            <p:nvPr/>
          </p:nvSpPr>
          <p:spPr>
            <a:xfrm>
              <a:off x="6205538" y="3499009"/>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预约咨询</a:t>
              </a:r>
            </a:p>
          </p:txBody>
        </p:sp>
        <p:grpSp>
          <p:nvGrpSpPr>
            <p:cNvPr id="84" name="Group 84"/>
            <p:cNvGrpSpPr/>
            <p:nvPr/>
          </p:nvGrpSpPr>
          <p:grpSpPr>
            <a:xfrm>
              <a:off x="4172340" y="4042210"/>
              <a:ext cx="129150" cy="129350"/>
              <a:chOff x="4172340" y="4042210"/>
              <a:chExt cx="129150" cy="129350"/>
            </a:xfrm>
          </p:grpSpPr>
          <p:sp>
            <p:nvSpPr>
              <p:cNvPr id="82" name="Freeform 82"/>
              <p:cNvSpPr/>
              <p:nvPr/>
            </p:nvSpPr>
            <p:spPr>
              <a:xfrm>
                <a:off x="4172340" y="4042210"/>
                <a:ext cx="129150" cy="129350"/>
              </a:xfrm>
              <a:custGeom>
                <a:avLst/>
                <a:gdLst/>
                <a:ahLst/>
                <a:cxnLst/>
                <a:rect l="l" t="t" r="r" b="b"/>
                <a:pathLst>
                  <a:path w="129150" h="129350">
                    <a:moveTo>
                      <a:pt x="51998" y="200"/>
                    </a:moveTo>
                    <a:cubicBezTo>
                      <a:pt x="21065" y="7371"/>
                      <a:pt x="0" y="36049"/>
                      <a:pt x="2409" y="67710"/>
                    </a:cubicBezTo>
                    <a:cubicBezTo>
                      <a:pt x="4818" y="99372"/>
                      <a:pt x="29979" y="124533"/>
                      <a:pt x="61640" y="126942"/>
                    </a:cubicBezTo>
                    <a:cubicBezTo>
                      <a:pt x="93301" y="129350"/>
                      <a:pt x="121979" y="108285"/>
                      <a:pt x="129150" y="77353"/>
                    </a:cubicBezTo>
                    <a:cubicBezTo>
                      <a:pt x="129150" y="73407"/>
                      <a:pt x="125952" y="70209"/>
                      <a:pt x="122006" y="70209"/>
                    </a:cubicBezTo>
                    <a:lnTo>
                      <a:pt x="73429" y="70209"/>
                    </a:lnTo>
                    <a:cubicBezTo>
                      <a:pt x="65538" y="70209"/>
                      <a:pt x="59141" y="63812"/>
                      <a:pt x="59141" y="55922"/>
                    </a:cubicBezTo>
                    <a:lnTo>
                      <a:pt x="59141" y="5915"/>
                    </a:lnTo>
                    <a:cubicBezTo>
                      <a:pt x="58962" y="4206"/>
                      <a:pt x="58106" y="2639"/>
                      <a:pt x="56763" y="1565"/>
                    </a:cubicBezTo>
                    <a:cubicBezTo>
                      <a:pt x="55421" y="492"/>
                      <a:pt x="53705" y="0"/>
                      <a:pt x="51998" y="200"/>
                    </a:cubicBezTo>
                  </a:path>
                </a:pathLst>
              </a:custGeom>
              <a:noFill/>
              <a:ln w="14288">
                <a:solidFill>
                  <a:srgbClr val="C83210"/>
                </a:solidFill>
              </a:ln>
            </p:spPr>
          </p:sp>
          <p:sp>
            <p:nvSpPr>
              <p:cNvPr id="83" name="Freeform 83"/>
              <p:cNvSpPr/>
              <p:nvPr/>
            </p:nvSpPr>
            <p:spPr>
              <a:xfrm>
                <a:off x="4260056" y="4044553"/>
                <a:ext cx="39291" cy="39291"/>
              </a:xfrm>
              <a:custGeom>
                <a:avLst/>
                <a:gdLst/>
                <a:ahLst/>
                <a:cxnLst/>
                <a:rect l="l" t="t" r="r" b="b"/>
                <a:pathLst>
                  <a:path w="39291" h="39291">
                    <a:moveTo>
                      <a:pt x="0" y="0"/>
                    </a:moveTo>
                    <a:cubicBezTo>
                      <a:pt x="18372" y="6469"/>
                      <a:pt x="32822" y="20918"/>
                      <a:pt x="39291" y="39291"/>
                    </a:cubicBezTo>
                    <a:lnTo>
                      <a:pt x="7144" y="39291"/>
                    </a:lnTo>
                    <a:cubicBezTo>
                      <a:pt x="3198" y="39291"/>
                      <a:pt x="0" y="36092"/>
                      <a:pt x="0" y="32147"/>
                    </a:cubicBezTo>
                    <a:lnTo>
                      <a:pt x="0" y="0"/>
                    </a:lnTo>
                  </a:path>
                </a:pathLst>
              </a:custGeom>
              <a:noFill/>
              <a:ln w="14288">
                <a:solidFill>
                  <a:srgbClr val="C83210"/>
                </a:solidFill>
              </a:ln>
            </p:spPr>
          </p:sp>
        </p:grpSp>
        <p:sp>
          <p:nvSpPr>
            <p:cNvPr id="85" name="TextBox 85"/>
            <p:cNvSpPr txBox="1"/>
            <p:nvPr/>
          </p:nvSpPr>
          <p:spPr>
            <a:xfrm>
              <a:off x="4376738" y="4071938"/>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推送频率</a:t>
              </a:r>
            </a:p>
          </p:txBody>
        </p:sp>
        <p:sp>
          <p:nvSpPr>
            <p:cNvPr id="86" name="TextBox 86"/>
            <p:cNvSpPr txBox="1"/>
            <p:nvPr/>
          </p:nvSpPr>
          <p:spPr>
            <a:xfrm>
              <a:off x="4891088" y="3994309"/>
              <a:ext cx="833399"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频繁推送，反复营销</a:t>
              </a:r>
            </a:p>
          </p:txBody>
        </p:sp>
        <p:sp>
          <p:nvSpPr>
            <p:cNvPr id="87" name="TextBox 87"/>
            <p:cNvSpPr txBox="1"/>
            <p:nvPr/>
          </p:nvSpPr>
          <p:spPr>
            <a:xfrm>
              <a:off x="4891088" y="4127659"/>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一周多次</a:t>
              </a:r>
            </a:p>
          </p:txBody>
        </p:sp>
        <p:sp>
          <p:nvSpPr>
            <p:cNvPr id="88" name="TextBox 88"/>
            <p:cNvSpPr txBox="1"/>
            <p:nvPr/>
          </p:nvSpPr>
          <p:spPr>
            <a:xfrm>
              <a:off x="6205538" y="3994309"/>
              <a:ext cx="833399"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合理节奏，注重质量</a:t>
              </a:r>
            </a:p>
          </p:txBody>
        </p:sp>
        <p:sp>
          <p:nvSpPr>
            <p:cNvPr id="89" name="TextBox 89"/>
            <p:cNvSpPr txBox="1"/>
            <p:nvPr/>
          </p:nvSpPr>
          <p:spPr>
            <a:xfrm>
              <a:off x="6205538" y="4127659"/>
              <a:ext cx="709818"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 xml:space="preserve">建议每周1-3次　</a:t>
              </a:r>
            </a:p>
          </p:txBody>
        </p:sp>
      </p:grpSp>
      <p:grpSp>
        <p:nvGrpSpPr>
          <p:cNvPr id="135" name="five-principles"/>
          <p:cNvGrpSpPr/>
          <p:nvPr/>
        </p:nvGrpSpPr>
        <p:grpSpPr>
          <a:xfrm>
            <a:off x="7715250" y="704850"/>
            <a:ext cx="4013188" cy="1346359"/>
            <a:chOff x="7715250" y="704850"/>
            <a:chExt cx="4013188" cy="1346359"/>
          </a:xfrm>
        </p:grpSpPr>
        <p:sp>
          <p:nvSpPr>
            <p:cNvPr id="91" name="Rectangle 91"/>
            <p:cNvSpPr/>
            <p:nvPr/>
          </p:nvSpPr>
          <p:spPr>
            <a:xfrm>
              <a:off x="7715250" y="704850"/>
              <a:ext cx="38100" cy="152400"/>
            </a:xfrm>
            <a:prstGeom prst="rect">
              <a:avLst/>
            </a:prstGeom>
            <a:solidFill>
              <a:srgbClr val="C83210"/>
            </a:solidFill>
            <a:ln>
              <a:noFill/>
            </a:ln>
          </p:spPr>
        </p:sp>
        <p:sp>
          <p:nvSpPr>
            <p:cNvPr id="92" name="TextBox 92"/>
            <p:cNvSpPr txBox="1"/>
            <p:nvPr/>
          </p:nvSpPr>
          <p:spPr>
            <a:xfrm>
              <a:off x="7805547" y="723424"/>
              <a:ext cx="119725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优质内容的五大原则</a:t>
              </a:r>
            </a:p>
          </p:txBody>
        </p:sp>
        <p:sp>
          <p:nvSpPr>
            <p:cNvPr id="93" name="Ellipse 93"/>
            <p:cNvSpPr/>
            <p:nvPr/>
          </p:nvSpPr>
          <p:spPr>
            <a:xfrm>
              <a:off x="7848600" y="914400"/>
              <a:ext cx="495300" cy="495300"/>
            </a:xfrm>
            <a:prstGeom prst="ellipse">
              <a:avLst/>
            </a:prstGeom>
            <a:solidFill>
              <a:srgbClr val="FDEFF1"/>
            </a:solidFill>
            <a:ln>
              <a:noFill/>
            </a:ln>
          </p:spPr>
        </p:sp>
        <p:grpSp>
          <p:nvGrpSpPr>
            <p:cNvPr id="97" name="Group 97"/>
            <p:cNvGrpSpPr/>
            <p:nvPr/>
          </p:nvGrpSpPr>
          <p:grpSpPr>
            <a:xfrm>
              <a:off x="8003381" y="1069181"/>
              <a:ext cx="185737" cy="185737"/>
              <a:chOff x="8003381" y="1069181"/>
              <a:chExt cx="185737" cy="185737"/>
            </a:xfrm>
          </p:grpSpPr>
          <p:sp>
            <p:nvSpPr>
              <p:cNvPr id="94" name="Freeform 94"/>
              <p:cNvSpPr/>
              <p:nvPr/>
            </p:nvSpPr>
            <p:spPr>
              <a:xfrm>
                <a:off x="8003381" y="1069181"/>
                <a:ext cx="185737" cy="92868"/>
              </a:xfrm>
              <a:custGeom>
                <a:avLst/>
                <a:gdLst/>
                <a:ahLst/>
                <a:cxnLst/>
                <a:rect l="l" t="t" r="r" b="b"/>
                <a:pathLst>
                  <a:path w="185737" h="92868">
                    <a:moveTo>
                      <a:pt x="0" y="92868"/>
                    </a:moveTo>
                    <a:lnTo>
                      <a:pt x="10319" y="92868"/>
                    </a:lnTo>
                    <a:moveTo>
                      <a:pt x="92868" y="0"/>
                    </a:moveTo>
                    <a:lnTo>
                      <a:pt x="92868" y="10319"/>
                    </a:lnTo>
                    <a:moveTo>
                      <a:pt x="175418" y="92868"/>
                    </a:moveTo>
                    <a:lnTo>
                      <a:pt x="185737" y="92868"/>
                    </a:lnTo>
                    <a:moveTo>
                      <a:pt x="26829" y="26829"/>
                    </a:moveTo>
                    <a:lnTo>
                      <a:pt x="34052" y="34052"/>
                    </a:lnTo>
                    <a:moveTo>
                      <a:pt x="158908" y="26829"/>
                    </a:moveTo>
                    <a:lnTo>
                      <a:pt x="151685" y="34052"/>
                    </a:lnTo>
                  </a:path>
                </a:pathLst>
              </a:custGeom>
              <a:noFill/>
              <a:ln w="20637">
                <a:solidFill>
                  <a:srgbClr val="C83210"/>
                </a:solidFill>
              </a:ln>
            </p:spPr>
          </p:sp>
          <p:sp>
            <p:nvSpPr>
              <p:cNvPr id="95" name="Freeform 95"/>
              <p:cNvSpPr/>
              <p:nvPr/>
            </p:nvSpPr>
            <p:spPr>
              <a:xfrm>
                <a:off x="8040281" y="1110456"/>
                <a:ext cx="111937" cy="144462"/>
              </a:xfrm>
              <a:custGeom>
                <a:avLst/>
                <a:gdLst/>
                <a:ahLst/>
                <a:cxnLst/>
                <a:rect l="l" t="t" r="r" b="b"/>
                <a:pathLst>
                  <a:path w="111937" h="144462">
                    <a:moveTo>
                      <a:pt x="25012" y="92868"/>
                    </a:moveTo>
                    <a:cubicBezTo>
                      <a:pt x="7246" y="79544"/>
                      <a:pt x="0" y="56346"/>
                      <a:pt x="7023" y="35278"/>
                    </a:cubicBezTo>
                    <a:cubicBezTo>
                      <a:pt x="14045" y="14210"/>
                      <a:pt x="33761" y="0"/>
                      <a:pt x="55969" y="0"/>
                    </a:cubicBezTo>
                    <a:cubicBezTo>
                      <a:pt x="78176" y="0"/>
                      <a:pt x="97892" y="14210"/>
                      <a:pt x="104915" y="35278"/>
                    </a:cubicBezTo>
                    <a:cubicBezTo>
                      <a:pt x="111937" y="56346"/>
                      <a:pt x="104691" y="79544"/>
                      <a:pt x="86925" y="92868"/>
                    </a:cubicBezTo>
                    <a:cubicBezTo>
                      <a:pt x="78754" y="100957"/>
                      <a:pt x="74922" y="112452"/>
                      <a:pt x="76606" y="123825"/>
                    </a:cubicBezTo>
                    <a:cubicBezTo>
                      <a:pt x="76606" y="135222"/>
                      <a:pt x="67366" y="144462"/>
                      <a:pt x="55969" y="144462"/>
                    </a:cubicBezTo>
                    <a:cubicBezTo>
                      <a:pt x="44571" y="144462"/>
                      <a:pt x="35331" y="135222"/>
                      <a:pt x="35331" y="123825"/>
                    </a:cubicBezTo>
                    <a:cubicBezTo>
                      <a:pt x="37015" y="112452"/>
                      <a:pt x="33183" y="100957"/>
                      <a:pt x="25012" y="92868"/>
                    </a:cubicBezTo>
                  </a:path>
                </a:pathLst>
              </a:custGeom>
              <a:noFill/>
              <a:ln w="20637">
                <a:solidFill>
                  <a:srgbClr val="C83210"/>
                </a:solidFill>
              </a:ln>
            </p:spPr>
          </p:sp>
          <p:sp>
            <p:nvSpPr>
              <p:cNvPr id="96" name="Freeform 96"/>
              <p:cNvSpPr/>
              <p:nvPr/>
            </p:nvSpPr>
            <p:spPr>
              <a:xfrm>
                <a:off x="8072517" y="1213643"/>
                <a:ext cx="47466" cy="9525"/>
              </a:xfrm>
              <a:custGeom>
                <a:avLst/>
                <a:gdLst/>
                <a:ahLst/>
                <a:cxnLst/>
                <a:rect l="l" t="t" r="r" b="b"/>
                <a:pathLst>
                  <a:path w="47466" h="9525">
                    <a:moveTo>
                      <a:pt x="0" y="0"/>
                    </a:moveTo>
                    <a:lnTo>
                      <a:pt x="47466" y="0"/>
                    </a:lnTo>
                  </a:path>
                </a:pathLst>
              </a:custGeom>
              <a:noFill/>
              <a:ln w="20637">
                <a:solidFill>
                  <a:srgbClr val="C83210"/>
                </a:solidFill>
              </a:ln>
            </p:spPr>
          </p:sp>
        </p:grpSp>
        <p:sp>
          <p:nvSpPr>
            <p:cNvPr id="98" name="TextBox 98"/>
            <p:cNvSpPr txBox="1"/>
            <p:nvPr/>
          </p:nvSpPr>
          <p:spPr>
            <a:xfrm>
              <a:off x="7970330" y="1474470"/>
              <a:ext cx="251841"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有用</a:t>
              </a:r>
            </a:p>
          </p:txBody>
        </p:sp>
        <p:sp>
          <p:nvSpPr>
            <p:cNvPr id="99" name="TextBox 99"/>
            <p:cNvSpPr txBox="1"/>
            <p:nvPr/>
          </p:nvSpPr>
          <p:spPr>
            <a:xfrm>
              <a:off x="7816863" y="167020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解决客户问题</a:t>
              </a:r>
            </a:p>
          </p:txBody>
        </p:sp>
        <p:sp>
          <p:nvSpPr>
            <p:cNvPr id="100" name="TextBox 100"/>
            <p:cNvSpPr txBox="1"/>
            <p:nvPr/>
          </p:nvSpPr>
          <p:spPr>
            <a:xfrm>
              <a:off x="7816863" y="1794034"/>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提供实际价值</a:t>
              </a:r>
            </a:p>
          </p:txBody>
        </p:sp>
        <p:sp>
          <p:nvSpPr>
            <p:cNvPr id="101" name="Ellipse 101"/>
            <p:cNvSpPr/>
            <p:nvPr/>
          </p:nvSpPr>
          <p:spPr>
            <a:xfrm>
              <a:off x="8686800" y="914400"/>
              <a:ext cx="495300" cy="495300"/>
            </a:xfrm>
            <a:prstGeom prst="ellipse">
              <a:avLst/>
            </a:prstGeom>
            <a:solidFill>
              <a:srgbClr val="FDEFF1"/>
            </a:solidFill>
            <a:ln>
              <a:noFill/>
            </a:ln>
          </p:spPr>
        </p:sp>
        <p:grpSp>
          <p:nvGrpSpPr>
            <p:cNvPr id="105" name="Group 105"/>
            <p:cNvGrpSpPr/>
            <p:nvPr/>
          </p:nvGrpSpPr>
          <p:grpSpPr>
            <a:xfrm>
              <a:off x="8862219" y="1079500"/>
              <a:ext cx="144462" cy="165099"/>
              <a:chOff x="8862219" y="1079500"/>
              <a:chExt cx="144462" cy="165099"/>
            </a:xfrm>
          </p:grpSpPr>
          <p:sp>
            <p:nvSpPr>
              <p:cNvPr id="102" name="Freeform 102"/>
              <p:cNvSpPr/>
              <p:nvPr/>
            </p:nvSpPr>
            <p:spPr>
              <a:xfrm>
                <a:off x="8862219" y="1079500"/>
                <a:ext cx="144462" cy="165099"/>
              </a:xfrm>
              <a:custGeom>
                <a:avLst/>
                <a:gdLst/>
                <a:ahLst/>
                <a:cxnLst/>
                <a:rect l="l" t="t" r="r" b="b"/>
                <a:pathLst>
                  <a:path w="144462" h="165099">
                    <a:moveTo>
                      <a:pt x="144462" y="0"/>
                    </a:moveTo>
                    <a:lnTo>
                      <a:pt x="144462" y="165099"/>
                    </a:lnTo>
                    <a:lnTo>
                      <a:pt x="20637" y="165099"/>
                    </a:lnTo>
                    <a:cubicBezTo>
                      <a:pt x="9240" y="165099"/>
                      <a:pt x="0" y="155860"/>
                      <a:pt x="0" y="144462"/>
                    </a:cubicBezTo>
                    <a:lnTo>
                      <a:pt x="0" y="20637"/>
                    </a:lnTo>
                    <a:cubicBezTo>
                      <a:pt x="0" y="9240"/>
                      <a:pt x="9240" y="0"/>
                      <a:pt x="20637" y="0"/>
                    </a:cubicBezTo>
                    <a:lnTo>
                      <a:pt x="144462" y="0"/>
                    </a:lnTo>
                  </a:path>
                </a:pathLst>
              </a:custGeom>
              <a:noFill/>
              <a:ln w="20637">
                <a:solidFill>
                  <a:srgbClr val="C83210"/>
                </a:solidFill>
              </a:ln>
            </p:spPr>
          </p:sp>
          <p:sp>
            <p:nvSpPr>
              <p:cNvPr id="103" name="Freeform 103"/>
              <p:cNvSpPr/>
              <p:nvPr/>
            </p:nvSpPr>
            <p:spPr>
              <a:xfrm>
                <a:off x="8862219" y="1203324"/>
                <a:ext cx="144462" cy="20637"/>
              </a:xfrm>
              <a:custGeom>
                <a:avLst/>
                <a:gdLst/>
                <a:ahLst/>
                <a:cxnLst/>
                <a:rect l="l" t="t" r="r" b="b"/>
                <a:pathLst>
                  <a:path w="144462" h="20637">
                    <a:moveTo>
                      <a:pt x="144462" y="0"/>
                    </a:moveTo>
                    <a:lnTo>
                      <a:pt x="20637" y="0"/>
                    </a:lnTo>
                    <a:cubicBezTo>
                      <a:pt x="9240" y="0"/>
                      <a:pt x="0" y="9240"/>
                      <a:pt x="0" y="20637"/>
                    </a:cubicBezTo>
                  </a:path>
                </a:pathLst>
              </a:custGeom>
              <a:noFill/>
              <a:ln w="20637">
                <a:solidFill>
                  <a:srgbClr val="C83210"/>
                </a:solidFill>
              </a:ln>
            </p:spPr>
          </p:sp>
          <p:sp>
            <p:nvSpPr>
              <p:cNvPr id="104" name="Freeform 104"/>
              <p:cNvSpPr/>
              <p:nvPr/>
            </p:nvSpPr>
            <p:spPr>
              <a:xfrm>
                <a:off x="8903493" y="1120775"/>
                <a:ext cx="61912" cy="9525"/>
              </a:xfrm>
              <a:custGeom>
                <a:avLst/>
                <a:gdLst/>
                <a:ahLst/>
                <a:cxnLst/>
                <a:rect l="l" t="t" r="r" b="b"/>
                <a:pathLst>
                  <a:path w="61912" h="9525">
                    <a:moveTo>
                      <a:pt x="0" y="0"/>
                    </a:moveTo>
                    <a:lnTo>
                      <a:pt x="61912" y="0"/>
                    </a:lnTo>
                  </a:path>
                </a:pathLst>
              </a:custGeom>
              <a:noFill/>
              <a:ln w="20637">
                <a:solidFill>
                  <a:srgbClr val="C83210"/>
                </a:solidFill>
              </a:ln>
            </p:spPr>
          </p:sp>
        </p:grpSp>
        <p:sp>
          <p:nvSpPr>
            <p:cNvPr id="106" name="TextBox 106"/>
            <p:cNvSpPr txBox="1"/>
            <p:nvPr/>
          </p:nvSpPr>
          <p:spPr>
            <a:xfrm>
              <a:off x="8808530" y="1474470"/>
              <a:ext cx="251841"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易懂</a:t>
              </a:r>
            </a:p>
          </p:txBody>
        </p:sp>
        <p:sp>
          <p:nvSpPr>
            <p:cNvPr id="107" name="TextBox 107"/>
            <p:cNvSpPr txBox="1"/>
            <p:nvPr/>
          </p:nvSpPr>
          <p:spPr>
            <a:xfrm>
              <a:off x="8655063" y="167020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用客户听得懂</a:t>
              </a:r>
            </a:p>
          </p:txBody>
        </p:sp>
        <p:sp>
          <p:nvSpPr>
            <p:cNvPr id="108" name="TextBox 108"/>
            <p:cNvSpPr txBox="1"/>
            <p:nvPr/>
          </p:nvSpPr>
          <p:spPr>
            <a:xfrm>
              <a:off x="8700834" y="1794034"/>
              <a:ext cx="467233"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的语言表达</a:t>
              </a:r>
            </a:p>
          </p:txBody>
        </p:sp>
        <p:sp>
          <p:nvSpPr>
            <p:cNvPr id="109" name="Ellipse 109"/>
            <p:cNvSpPr/>
            <p:nvPr/>
          </p:nvSpPr>
          <p:spPr>
            <a:xfrm>
              <a:off x="9525000" y="914400"/>
              <a:ext cx="495300" cy="495300"/>
            </a:xfrm>
            <a:prstGeom prst="ellipse">
              <a:avLst/>
            </a:prstGeom>
            <a:solidFill>
              <a:srgbClr val="FDEFF1"/>
            </a:solidFill>
            <a:ln>
              <a:noFill/>
            </a:ln>
          </p:spPr>
        </p:sp>
        <p:grpSp>
          <p:nvGrpSpPr>
            <p:cNvPr id="112" name="Group 112"/>
            <p:cNvGrpSpPr/>
            <p:nvPr/>
          </p:nvGrpSpPr>
          <p:grpSpPr>
            <a:xfrm>
              <a:off x="9679781" y="1069181"/>
              <a:ext cx="185737" cy="185737"/>
              <a:chOff x="9679781" y="1069181"/>
              <a:chExt cx="185737" cy="185737"/>
            </a:xfrm>
          </p:grpSpPr>
          <p:sp>
            <p:nvSpPr>
              <p:cNvPr id="110" name="Freeform 110"/>
              <p:cNvSpPr/>
              <p:nvPr/>
            </p:nvSpPr>
            <p:spPr>
              <a:xfrm>
                <a:off x="9679781" y="10691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83210"/>
                </a:solidFill>
              </a:ln>
            </p:spPr>
          </p:sp>
          <p:sp>
            <p:nvSpPr>
              <p:cNvPr id="111" name="Freeform 111"/>
              <p:cNvSpPr/>
              <p:nvPr/>
            </p:nvSpPr>
            <p:spPr>
              <a:xfrm>
                <a:off x="9772650" y="1110456"/>
                <a:ext cx="30956" cy="82550"/>
              </a:xfrm>
              <a:custGeom>
                <a:avLst/>
                <a:gdLst/>
                <a:ahLst/>
                <a:cxnLst/>
                <a:rect l="l" t="t" r="r" b="b"/>
                <a:pathLst>
                  <a:path w="30956" h="82550">
                    <a:moveTo>
                      <a:pt x="0" y="0"/>
                    </a:moveTo>
                    <a:lnTo>
                      <a:pt x="0" y="51594"/>
                    </a:lnTo>
                    <a:lnTo>
                      <a:pt x="30956" y="82550"/>
                    </a:lnTo>
                  </a:path>
                </a:pathLst>
              </a:custGeom>
              <a:noFill/>
              <a:ln w="20637">
                <a:solidFill>
                  <a:srgbClr val="C83210"/>
                </a:solidFill>
              </a:ln>
            </p:spPr>
          </p:sp>
        </p:grpSp>
        <p:sp>
          <p:nvSpPr>
            <p:cNvPr id="113" name="TextBox 113"/>
            <p:cNvSpPr txBox="1"/>
            <p:nvPr/>
          </p:nvSpPr>
          <p:spPr>
            <a:xfrm>
              <a:off x="9646730" y="1474470"/>
              <a:ext cx="251841"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适时</a:t>
              </a:r>
            </a:p>
          </p:txBody>
        </p:sp>
        <p:sp>
          <p:nvSpPr>
            <p:cNvPr id="114" name="TextBox 114"/>
            <p:cNvSpPr txBox="1"/>
            <p:nvPr/>
          </p:nvSpPr>
          <p:spPr>
            <a:xfrm>
              <a:off x="9493263" y="167020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匹配客户场景</a:t>
              </a:r>
            </a:p>
          </p:txBody>
        </p:sp>
        <p:sp>
          <p:nvSpPr>
            <p:cNvPr id="115" name="TextBox 115"/>
            <p:cNvSpPr txBox="1"/>
            <p:nvPr/>
          </p:nvSpPr>
          <p:spPr>
            <a:xfrm>
              <a:off x="9493263" y="1794034"/>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在合适的时间</a:t>
              </a:r>
            </a:p>
          </p:txBody>
        </p:sp>
        <p:sp>
          <p:nvSpPr>
            <p:cNvPr id="116" name="TextBox 116"/>
            <p:cNvSpPr txBox="1"/>
            <p:nvPr/>
          </p:nvSpPr>
          <p:spPr>
            <a:xfrm>
              <a:off x="9447492" y="1917859"/>
              <a:ext cx="650316"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推送合适的内容</a:t>
              </a:r>
            </a:p>
          </p:txBody>
        </p:sp>
        <p:sp>
          <p:nvSpPr>
            <p:cNvPr id="117" name="Ellipse 117"/>
            <p:cNvSpPr/>
            <p:nvPr/>
          </p:nvSpPr>
          <p:spPr>
            <a:xfrm>
              <a:off x="10363200" y="914400"/>
              <a:ext cx="495300" cy="495300"/>
            </a:xfrm>
            <a:prstGeom prst="ellipse">
              <a:avLst/>
            </a:prstGeom>
            <a:solidFill>
              <a:srgbClr val="FDEFF1"/>
            </a:solidFill>
            <a:ln>
              <a:noFill/>
            </a:ln>
          </p:spPr>
        </p:sp>
        <p:grpSp>
          <p:nvGrpSpPr>
            <p:cNvPr id="120" name="Group 120"/>
            <p:cNvGrpSpPr/>
            <p:nvPr/>
          </p:nvGrpSpPr>
          <p:grpSpPr>
            <a:xfrm>
              <a:off x="10504056" y="1069181"/>
              <a:ext cx="201506" cy="185737"/>
              <a:chOff x="10504056" y="1069181"/>
              <a:chExt cx="201506" cy="185737"/>
            </a:xfrm>
          </p:grpSpPr>
          <p:sp>
            <p:nvSpPr>
              <p:cNvPr id="118" name="Freeform 118"/>
              <p:cNvSpPr/>
              <p:nvPr/>
            </p:nvSpPr>
            <p:spPr>
              <a:xfrm>
                <a:off x="10504056" y="1069181"/>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C83210"/>
                </a:solidFill>
              </a:ln>
            </p:spPr>
          </p:sp>
          <p:sp>
            <p:nvSpPr>
              <p:cNvPr id="119" name="Freeform 119"/>
              <p:cNvSpPr/>
              <p:nvPr/>
            </p:nvSpPr>
            <p:spPr>
              <a:xfrm>
                <a:off x="10641806" y="1213643"/>
                <a:ext cx="61912" cy="41275"/>
              </a:xfrm>
              <a:custGeom>
                <a:avLst/>
                <a:gdLst/>
                <a:ahLst/>
                <a:cxnLst/>
                <a:rect l="l" t="t" r="r" b="b"/>
                <a:pathLst>
                  <a:path w="61912" h="41275">
                    <a:moveTo>
                      <a:pt x="0" y="20637"/>
                    </a:moveTo>
                    <a:lnTo>
                      <a:pt x="20637" y="41275"/>
                    </a:lnTo>
                    <a:lnTo>
                      <a:pt x="61912" y="0"/>
                    </a:lnTo>
                  </a:path>
                </a:pathLst>
              </a:custGeom>
              <a:noFill/>
              <a:ln w="20637">
                <a:solidFill>
                  <a:srgbClr val="C83210"/>
                </a:solidFill>
              </a:ln>
            </p:spPr>
          </p:sp>
        </p:grpSp>
        <p:sp>
          <p:nvSpPr>
            <p:cNvPr id="121" name="TextBox 121"/>
            <p:cNvSpPr txBox="1"/>
            <p:nvPr/>
          </p:nvSpPr>
          <p:spPr>
            <a:xfrm>
              <a:off x="10484930" y="1474470"/>
              <a:ext cx="251841"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可信</a:t>
              </a:r>
            </a:p>
          </p:txBody>
        </p:sp>
        <p:sp>
          <p:nvSpPr>
            <p:cNvPr id="122" name="TextBox 122"/>
            <p:cNvSpPr txBox="1"/>
            <p:nvPr/>
          </p:nvSpPr>
          <p:spPr>
            <a:xfrm>
              <a:off x="10331463" y="167020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基于专业知识</a:t>
              </a:r>
            </a:p>
          </p:txBody>
        </p:sp>
        <p:sp>
          <p:nvSpPr>
            <p:cNvPr id="123" name="TextBox 123"/>
            <p:cNvSpPr txBox="1"/>
            <p:nvPr/>
          </p:nvSpPr>
          <p:spPr>
            <a:xfrm>
              <a:off x="10377234" y="1794034"/>
              <a:ext cx="467233"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和权威信息</a:t>
              </a:r>
            </a:p>
          </p:txBody>
        </p:sp>
        <p:sp>
          <p:nvSpPr>
            <p:cNvPr id="124" name="TextBox 124"/>
            <p:cNvSpPr txBox="1"/>
            <p:nvPr/>
          </p:nvSpPr>
          <p:spPr>
            <a:xfrm>
              <a:off x="10423004" y="1917859"/>
              <a:ext cx="375691"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真实可靠</a:t>
              </a:r>
            </a:p>
          </p:txBody>
        </p:sp>
        <p:sp>
          <p:nvSpPr>
            <p:cNvPr id="125" name="Ellipse 125"/>
            <p:cNvSpPr/>
            <p:nvPr/>
          </p:nvSpPr>
          <p:spPr>
            <a:xfrm>
              <a:off x="11201400" y="914400"/>
              <a:ext cx="495300" cy="495300"/>
            </a:xfrm>
            <a:prstGeom prst="ellipse">
              <a:avLst/>
            </a:prstGeom>
            <a:solidFill>
              <a:srgbClr val="FDEFF1"/>
            </a:solidFill>
            <a:ln>
              <a:noFill/>
            </a:ln>
          </p:spPr>
        </p:sp>
        <p:grpSp>
          <p:nvGrpSpPr>
            <p:cNvPr id="130" name="Group 130"/>
            <p:cNvGrpSpPr/>
            <p:nvPr/>
          </p:nvGrpSpPr>
          <p:grpSpPr>
            <a:xfrm>
              <a:off x="11366500" y="1069181"/>
              <a:ext cx="144462" cy="185737"/>
              <a:chOff x="11366500" y="1069181"/>
              <a:chExt cx="144462" cy="185737"/>
            </a:xfrm>
          </p:grpSpPr>
          <p:sp>
            <p:nvSpPr>
              <p:cNvPr id="126" name="Freeform 126"/>
              <p:cNvSpPr/>
              <p:nvPr/>
            </p:nvSpPr>
            <p:spPr>
              <a:xfrm>
                <a:off x="11438803" y="106918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83210"/>
                </a:solidFill>
              </a:ln>
            </p:spPr>
          </p:sp>
          <p:sp>
            <p:nvSpPr>
              <p:cNvPr id="127" name="Freeform 127"/>
              <p:cNvSpPr/>
              <p:nvPr/>
            </p:nvSpPr>
            <p:spPr>
              <a:xfrm>
                <a:off x="11366500" y="1208484"/>
                <a:ext cx="59333" cy="15478"/>
              </a:xfrm>
              <a:custGeom>
                <a:avLst/>
                <a:gdLst/>
                <a:ahLst/>
                <a:cxnLst/>
                <a:rect l="l" t="t" r="r" b="b"/>
                <a:pathLst>
                  <a:path w="59333" h="15478">
                    <a:moveTo>
                      <a:pt x="0" y="5159"/>
                    </a:moveTo>
                    <a:lnTo>
                      <a:pt x="51594" y="15478"/>
                    </a:lnTo>
                    <a:lnTo>
                      <a:pt x="59333" y="0"/>
                    </a:lnTo>
                  </a:path>
                </a:pathLst>
              </a:custGeom>
              <a:noFill/>
              <a:ln w="20637">
                <a:solidFill>
                  <a:srgbClr val="C83210"/>
                </a:solidFill>
              </a:ln>
            </p:spPr>
          </p:sp>
          <p:sp>
            <p:nvSpPr>
              <p:cNvPr id="128" name="Freeform 128"/>
              <p:cNvSpPr/>
              <p:nvPr/>
            </p:nvSpPr>
            <p:spPr>
              <a:xfrm>
                <a:off x="11438731" y="1120775"/>
                <a:ext cx="41275" cy="134143"/>
              </a:xfrm>
              <a:custGeom>
                <a:avLst/>
                <a:gdLst/>
                <a:ahLst/>
                <a:cxnLst/>
                <a:rect l="l" t="t" r="r" b="b"/>
                <a:pathLst>
                  <a:path w="41275" h="134143">
                    <a:moveTo>
                      <a:pt x="41275" y="134143"/>
                    </a:moveTo>
                    <a:lnTo>
                      <a:pt x="41275" y="92868"/>
                    </a:lnTo>
                    <a:lnTo>
                      <a:pt x="0" y="61912"/>
                    </a:lnTo>
                    <a:lnTo>
                      <a:pt x="10319" y="0"/>
                    </a:lnTo>
                  </a:path>
                </a:pathLst>
              </a:custGeom>
              <a:noFill/>
              <a:ln w="20637">
                <a:solidFill>
                  <a:srgbClr val="C83210"/>
                </a:solidFill>
              </a:ln>
            </p:spPr>
          </p:sp>
          <p:sp>
            <p:nvSpPr>
              <p:cNvPr id="129" name="Freeform 129"/>
              <p:cNvSpPr/>
              <p:nvPr/>
            </p:nvSpPr>
            <p:spPr>
              <a:xfrm>
                <a:off x="11397456" y="1120775"/>
                <a:ext cx="113506" cy="41275"/>
              </a:xfrm>
              <a:custGeom>
                <a:avLst/>
                <a:gdLst/>
                <a:ahLst/>
                <a:cxnLst/>
                <a:rect l="l" t="t" r="r" b="b"/>
                <a:pathLst>
                  <a:path w="113506" h="41275">
                    <a:moveTo>
                      <a:pt x="0" y="41275"/>
                    </a:moveTo>
                    <a:lnTo>
                      <a:pt x="0" y="10319"/>
                    </a:lnTo>
                    <a:lnTo>
                      <a:pt x="51594" y="0"/>
                    </a:lnTo>
                    <a:lnTo>
                      <a:pt x="82550" y="30956"/>
                    </a:lnTo>
                    <a:lnTo>
                      <a:pt x="113506" y="41275"/>
                    </a:lnTo>
                  </a:path>
                </a:pathLst>
              </a:custGeom>
              <a:noFill/>
              <a:ln w="20637">
                <a:solidFill>
                  <a:srgbClr val="C83210"/>
                </a:solidFill>
              </a:ln>
            </p:spPr>
          </p:sp>
        </p:grpSp>
        <p:sp>
          <p:nvSpPr>
            <p:cNvPr id="131" name="TextBox 131"/>
            <p:cNvSpPr txBox="1"/>
            <p:nvPr/>
          </p:nvSpPr>
          <p:spPr>
            <a:xfrm>
              <a:off x="11262550" y="1474470"/>
              <a:ext cx="372999"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mn-lt"/>
                  <a:ea typeface="+mn-ea"/>
                  <a:cs typeface="+mn-cs"/>
                </a:rPr>
                <a:t>可行动</a:t>
              </a:r>
            </a:p>
          </p:txBody>
        </p:sp>
        <p:sp>
          <p:nvSpPr>
            <p:cNvPr id="132" name="TextBox 132"/>
            <p:cNvSpPr txBox="1"/>
            <p:nvPr/>
          </p:nvSpPr>
          <p:spPr>
            <a:xfrm>
              <a:off x="11169663" y="167020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给出明确建议</a:t>
              </a:r>
            </a:p>
          </p:txBody>
        </p:sp>
        <p:sp>
          <p:nvSpPr>
            <p:cNvPr id="133" name="TextBox 133"/>
            <p:cNvSpPr txBox="1"/>
            <p:nvPr/>
          </p:nvSpPr>
          <p:spPr>
            <a:xfrm>
              <a:off x="11169663" y="1794034"/>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和下一步指引</a:t>
              </a:r>
            </a:p>
          </p:txBody>
        </p:sp>
        <p:sp>
          <p:nvSpPr>
            <p:cNvPr id="134" name="TextBox 134"/>
            <p:cNvSpPr txBox="1"/>
            <p:nvPr/>
          </p:nvSpPr>
          <p:spPr>
            <a:xfrm>
              <a:off x="11169663" y="1917859"/>
              <a:ext cx="55877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mn-lt"/>
                  <a:ea typeface="+mn-ea"/>
                  <a:cs typeface="+mn-cs"/>
                </a:rPr>
                <a:t>降低行动门槛</a:t>
              </a:r>
            </a:p>
          </p:txBody>
        </p:sp>
      </p:grpSp>
      <p:grpSp>
        <p:nvGrpSpPr>
          <p:cNvPr id="181" name="trust-curve"/>
          <p:cNvGrpSpPr/>
          <p:nvPr/>
        </p:nvGrpSpPr>
        <p:grpSpPr>
          <a:xfrm>
            <a:off x="7715250" y="2419350"/>
            <a:ext cx="4320883" cy="2000488"/>
            <a:chOff x="7715250" y="2419350"/>
            <a:chExt cx="4320883" cy="2000488"/>
          </a:xfrm>
        </p:grpSpPr>
        <p:sp>
          <p:nvSpPr>
            <p:cNvPr id="136" name="Rectangle 136"/>
            <p:cNvSpPr/>
            <p:nvPr/>
          </p:nvSpPr>
          <p:spPr>
            <a:xfrm>
              <a:off x="7715250" y="2419350"/>
              <a:ext cx="38100" cy="152400"/>
            </a:xfrm>
            <a:prstGeom prst="rect">
              <a:avLst/>
            </a:prstGeom>
            <a:solidFill>
              <a:srgbClr val="C83210"/>
            </a:solidFill>
            <a:ln>
              <a:noFill/>
            </a:ln>
          </p:spPr>
        </p:sp>
        <p:sp>
          <p:nvSpPr>
            <p:cNvPr id="137" name="TextBox 137"/>
            <p:cNvSpPr txBox="1"/>
            <p:nvPr/>
          </p:nvSpPr>
          <p:spPr>
            <a:xfrm>
              <a:off x="7805547" y="2437924"/>
              <a:ext cx="1461110"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客户信任与互动变化曲线</a:t>
              </a:r>
            </a:p>
          </p:txBody>
        </p:sp>
        <p:sp>
          <p:nvSpPr>
            <p:cNvPr id="138" name="Line 138"/>
            <p:cNvSpPr/>
            <p:nvPr/>
          </p:nvSpPr>
          <p:spPr>
            <a:xfrm>
              <a:off x="9906000" y="2495550"/>
              <a:ext cx="228600" cy="9525"/>
            </a:xfrm>
            <a:custGeom>
              <a:avLst/>
              <a:gdLst/>
              <a:ahLst/>
              <a:cxnLst/>
              <a:rect l="l" t="t" r="r" b="b"/>
              <a:pathLst>
                <a:path w="228600" h="9525">
                  <a:moveTo>
                    <a:pt x="0" y="0"/>
                  </a:moveTo>
                  <a:lnTo>
                    <a:pt x="228600" y="0"/>
                  </a:lnTo>
                </a:path>
              </a:pathLst>
            </a:custGeom>
            <a:noFill/>
            <a:ln w="23812">
              <a:solidFill>
                <a:srgbClr val="C83210"/>
              </a:solidFill>
            </a:ln>
          </p:spPr>
        </p:sp>
        <p:sp>
          <p:nvSpPr>
            <p:cNvPr id="139" name="TextBox 139"/>
            <p:cNvSpPr txBox="1"/>
            <p:nvPr/>
          </p:nvSpPr>
          <p:spPr>
            <a:xfrm>
              <a:off x="10186988" y="2455307"/>
              <a:ext cx="1310493"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有价值的内容（知识/服务/权益）</a:t>
              </a:r>
            </a:p>
          </p:txBody>
        </p:sp>
        <p:sp>
          <p:nvSpPr>
            <p:cNvPr id="140" name="Line 140"/>
            <p:cNvSpPr/>
            <p:nvPr/>
          </p:nvSpPr>
          <p:spPr>
            <a:xfrm>
              <a:off x="9906000" y="2628900"/>
              <a:ext cx="228600" cy="9525"/>
            </a:xfrm>
            <a:custGeom>
              <a:avLst/>
              <a:gdLst/>
              <a:ahLst/>
              <a:cxnLst/>
              <a:rect l="l" t="t" r="r" b="b"/>
              <a:pathLst>
                <a:path w="228600" h="9525">
                  <a:moveTo>
                    <a:pt x="0" y="0"/>
                  </a:moveTo>
                  <a:lnTo>
                    <a:pt x="228600" y="0"/>
                  </a:lnTo>
                </a:path>
              </a:pathLst>
            </a:custGeom>
            <a:noFill/>
            <a:ln w="23812">
              <a:solidFill>
                <a:srgbClr val="F3B2A3"/>
              </a:solidFill>
            </a:ln>
          </p:spPr>
        </p:sp>
        <p:sp>
          <p:nvSpPr>
            <p:cNvPr id="141" name="TextBox 141"/>
            <p:cNvSpPr txBox="1"/>
            <p:nvPr/>
          </p:nvSpPr>
          <p:spPr>
            <a:xfrm>
              <a:off x="10186988" y="2588657"/>
              <a:ext cx="612623"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过度的产品广告</a:t>
              </a:r>
            </a:p>
          </p:txBody>
        </p:sp>
        <p:sp>
          <p:nvSpPr>
            <p:cNvPr id="142" name="TextBox 142"/>
            <p:cNvSpPr txBox="1"/>
            <p:nvPr/>
          </p:nvSpPr>
          <p:spPr>
            <a:xfrm>
              <a:off x="7862888" y="2742486"/>
              <a:ext cx="48742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客户互动度</a:t>
              </a:r>
            </a:p>
          </p:txBody>
        </p:sp>
        <p:sp>
          <p:nvSpPr>
            <p:cNvPr id="143" name="Line 143"/>
            <p:cNvSpPr/>
            <p:nvPr/>
          </p:nvSpPr>
          <p:spPr>
            <a:xfrm>
              <a:off x="8096250" y="2857500"/>
              <a:ext cx="9525" cy="1238250"/>
            </a:xfrm>
            <a:custGeom>
              <a:avLst/>
              <a:gdLst/>
              <a:ahLst/>
              <a:cxnLst/>
              <a:rect l="l" t="t" r="r" b="b"/>
              <a:pathLst>
                <a:path w="9525" h="1238250">
                  <a:moveTo>
                    <a:pt x="0" y="0"/>
                  </a:moveTo>
                  <a:lnTo>
                    <a:pt x="0" y="1238250"/>
                  </a:lnTo>
                </a:path>
              </a:pathLst>
            </a:custGeom>
            <a:noFill/>
            <a:ln w="9525">
              <a:solidFill>
                <a:srgbClr val="808080"/>
              </a:solidFill>
            </a:ln>
          </p:spPr>
        </p:sp>
        <p:sp>
          <p:nvSpPr>
            <p:cNvPr id="144" name="Line 144"/>
            <p:cNvSpPr/>
            <p:nvPr/>
          </p:nvSpPr>
          <p:spPr>
            <a:xfrm>
              <a:off x="8096250" y="4095750"/>
              <a:ext cx="3829050" cy="9525"/>
            </a:xfrm>
            <a:custGeom>
              <a:avLst/>
              <a:gdLst/>
              <a:ahLst/>
              <a:cxnLst/>
              <a:rect l="l" t="t" r="r" b="b"/>
              <a:pathLst>
                <a:path w="3829050" h="9525">
                  <a:moveTo>
                    <a:pt x="0" y="0"/>
                  </a:moveTo>
                  <a:lnTo>
                    <a:pt x="3829050" y="0"/>
                  </a:lnTo>
                </a:path>
              </a:pathLst>
            </a:custGeom>
            <a:noFill/>
            <a:ln w="9525">
              <a:solidFill>
                <a:srgbClr val="808080"/>
              </a:solidFill>
            </a:ln>
          </p:spPr>
        </p:sp>
        <p:sp>
          <p:nvSpPr>
            <p:cNvPr id="145" name="Line 145"/>
            <p:cNvSpPr/>
            <p:nvPr/>
          </p:nvSpPr>
          <p:spPr>
            <a:xfrm>
              <a:off x="8096250" y="3028950"/>
              <a:ext cx="3829050" cy="9525"/>
            </a:xfrm>
            <a:custGeom>
              <a:avLst/>
              <a:gdLst/>
              <a:ahLst/>
              <a:cxnLst/>
              <a:rect l="l" t="t" r="r" b="b"/>
              <a:pathLst>
                <a:path w="3829050" h="9525">
                  <a:moveTo>
                    <a:pt x="0" y="0"/>
                  </a:moveTo>
                  <a:lnTo>
                    <a:pt x="3829050" y="0"/>
                  </a:lnTo>
                </a:path>
              </a:pathLst>
            </a:custGeom>
            <a:noFill/>
            <a:ln w="9525">
              <a:solidFill>
                <a:srgbClr val="E8E8E8"/>
              </a:solidFill>
            </a:ln>
          </p:spPr>
        </p:sp>
        <p:sp>
          <p:nvSpPr>
            <p:cNvPr id="146" name="Line 146"/>
            <p:cNvSpPr/>
            <p:nvPr/>
          </p:nvSpPr>
          <p:spPr>
            <a:xfrm>
              <a:off x="8096250" y="3543300"/>
              <a:ext cx="3829050" cy="9525"/>
            </a:xfrm>
            <a:custGeom>
              <a:avLst/>
              <a:gdLst/>
              <a:ahLst/>
              <a:cxnLst/>
              <a:rect l="l" t="t" r="r" b="b"/>
              <a:pathLst>
                <a:path w="3829050" h="9525">
                  <a:moveTo>
                    <a:pt x="0" y="0"/>
                  </a:moveTo>
                  <a:lnTo>
                    <a:pt x="3829050" y="0"/>
                  </a:lnTo>
                </a:path>
              </a:pathLst>
            </a:custGeom>
            <a:noFill/>
            <a:ln w="9525">
              <a:solidFill>
                <a:srgbClr val="E8E8E8"/>
              </a:solidFill>
            </a:ln>
          </p:spPr>
        </p:sp>
        <p:sp>
          <p:nvSpPr>
            <p:cNvPr id="147" name="TextBox 147"/>
            <p:cNvSpPr txBox="1"/>
            <p:nvPr/>
          </p:nvSpPr>
          <p:spPr>
            <a:xfrm>
              <a:off x="7919707" y="2990136"/>
              <a:ext cx="105105" cy="140494"/>
            </a:xfrm>
            <a:prstGeom prst="rect">
              <a:avLst/>
            </a:prstGeom>
            <a:noFill/>
            <a:ln>
              <a:noFill/>
            </a:ln>
          </p:spPr>
          <p:txBody>
            <a:bodyPr wrap="none" lIns="0" tIns="0" rIns="0" bIns="0" anchor="t" anchorCtr="0">
              <a:spAutoFit/>
            </a:bodyPr>
            <a:lstStyle/>
            <a:p>
              <a:pPr algn="r"/>
              <a:r>
                <a:rPr lang="zh-CN" sz="710" b="1" dirty="0">
                  <a:solidFill>
                    <a:srgbClr val="222222"/>
                  </a:solidFill>
                  <a:latin typeface="+mn-lt"/>
                  <a:ea typeface="+mn-ea"/>
                  <a:cs typeface="+mn-cs"/>
                </a:rPr>
                <a:t>高</a:t>
              </a:r>
            </a:p>
          </p:txBody>
        </p:sp>
        <p:sp>
          <p:nvSpPr>
            <p:cNvPr id="148" name="TextBox 148"/>
            <p:cNvSpPr txBox="1"/>
            <p:nvPr/>
          </p:nvSpPr>
          <p:spPr>
            <a:xfrm>
              <a:off x="7919707" y="3504486"/>
              <a:ext cx="105105" cy="140494"/>
            </a:xfrm>
            <a:prstGeom prst="rect">
              <a:avLst/>
            </a:prstGeom>
            <a:noFill/>
            <a:ln>
              <a:noFill/>
            </a:ln>
          </p:spPr>
          <p:txBody>
            <a:bodyPr wrap="none" lIns="0" tIns="0" rIns="0" bIns="0" anchor="t" anchorCtr="0">
              <a:spAutoFit/>
            </a:bodyPr>
            <a:lstStyle/>
            <a:p>
              <a:pPr algn="r"/>
              <a:r>
                <a:rPr lang="zh-CN" sz="710" b="1" dirty="0">
                  <a:solidFill>
                    <a:srgbClr val="222222"/>
                  </a:solidFill>
                  <a:latin typeface="+mn-lt"/>
                  <a:ea typeface="+mn-ea"/>
                  <a:cs typeface="+mn-cs"/>
                </a:rPr>
                <a:t>中</a:t>
              </a:r>
            </a:p>
          </p:txBody>
        </p:sp>
        <p:sp>
          <p:nvSpPr>
            <p:cNvPr id="149" name="TextBox 149"/>
            <p:cNvSpPr txBox="1"/>
            <p:nvPr/>
          </p:nvSpPr>
          <p:spPr>
            <a:xfrm>
              <a:off x="7919707" y="4018836"/>
              <a:ext cx="105105" cy="140494"/>
            </a:xfrm>
            <a:prstGeom prst="rect">
              <a:avLst/>
            </a:prstGeom>
            <a:noFill/>
            <a:ln>
              <a:noFill/>
            </a:ln>
          </p:spPr>
          <p:txBody>
            <a:bodyPr wrap="none" lIns="0" tIns="0" rIns="0" bIns="0" anchor="t" anchorCtr="0">
              <a:spAutoFit/>
            </a:bodyPr>
            <a:lstStyle/>
            <a:p>
              <a:pPr algn="r"/>
              <a:r>
                <a:rPr lang="zh-CN" sz="710" b="1" dirty="0">
                  <a:solidFill>
                    <a:srgbClr val="222222"/>
                  </a:solidFill>
                  <a:latin typeface="+mn-lt"/>
                  <a:ea typeface="+mn-ea"/>
                  <a:cs typeface="+mn-cs"/>
                </a:rPr>
                <a:t>低</a:t>
              </a:r>
            </a:p>
          </p:txBody>
        </p:sp>
        <p:sp>
          <p:nvSpPr>
            <p:cNvPr id="150" name="Freeform 150"/>
            <p:cNvSpPr/>
            <p:nvPr/>
          </p:nvSpPr>
          <p:spPr>
            <a:xfrm>
              <a:off x="8286750" y="3543300"/>
              <a:ext cx="3524250" cy="533400"/>
            </a:xfrm>
            <a:custGeom>
              <a:avLst/>
              <a:gdLst/>
              <a:ahLst/>
              <a:cxnLst/>
              <a:rect l="l" t="t" r="r" b="b"/>
              <a:pathLst>
                <a:path w="3524250" h="533400">
                  <a:moveTo>
                    <a:pt x="0" y="0"/>
                  </a:moveTo>
                  <a:cubicBezTo>
                    <a:pt x="285750" y="190500"/>
                    <a:pt x="571500" y="285750"/>
                    <a:pt x="904875" y="228600"/>
                  </a:cubicBezTo>
                  <a:cubicBezTo>
                    <a:pt x="1238250" y="171450"/>
                    <a:pt x="1524000" y="533400"/>
                    <a:pt x="1809750" y="514350"/>
                  </a:cubicBezTo>
                  <a:cubicBezTo>
                    <a:pt x="2095500" y="495300"/>
                    <a:pt x="2381250" y="361950"/>
                    <a:pt x="2714625" y="247650"/>
                  </a:cubicBezTo>
                  <a:cubicBezTo>
                    <a:pt x="3000375" y="152400"/>
                    <a:pt x="3286125" y="57150"/>
                    <a:pt x="3524250" y="0"/>
                  </a:cubicBezTo>
                </a:path>
              </a:pathLst>
            </a:custGeom>
            <a:noFill/>
            <a:ln w="23812">
              <a:solidFill>
                <a:srgbClr val="F3B2A3"/>
              </a:solidFill>
            </a:ln>
          </p:spPr>
        </p:sp>
        <p:sp>
          <p:nvSpPr>
            <p:cNvPr id="151" name="Freeform 151"/>
            <p:cNvSpPr/>
            <p:nvPr/>
          </p:nvSpPr>
          <p:spPr>
            <a:xfrm>
              <a:off x="8286750" y="3028950"/>
              <a:ext cx="3524250" cy="1009650"/>
            </a:xfrm>
            <a:custGeom>
              <a:avLst/>
              <a:gdLst/>
              <a:ahLst/>
              <a:cxnLst/>
              <a:rect l="l" t="t" r="r" b="b"/>
              <a:pathLst>
                <a:path w="3524250" h="1009650">
                  <a:moveTo>
                    <a:pt x="0" y="495300"/>
                  </a:moveTo>
                  <a:cubicBezTo>
                    <a:pt x="142875" y="323850"/>
                    <a:pt x="333375" y="285750"/>
                    <a:pt x="476250" y="419100"/>
                  </a:cubicBezTo>
                  <a:cubicBezTo>
                    <a:pt x="666750" y="590550"/>
                    <a:pt x="762000" y="704850"/>
                    <a:pt x="904875" y="666750"/>
                  </a:cubicBezTo>
                  <a:cubicBezTo>
                    <a:pt x="1190625" y="590550"/>
                    <a:pt x="1524000" y="1009650"/>
                    <a:pt x="1809750" y="971550"/>
                  </a:cubicBezTo>
                  <a:cubicBezTo>
                    <a:pt x="2095500" y="933450"/>
                    <a:pt x="2428875" y="590550"/>
                    <a:pt x="2714625" y="419100"/>
                  </a:cubicBezTo>
                  <a:cubicBezTo>
                    <a:pt x="3000375" y="247650"/>
                    <a:pt x="3286125" y="95250"/>
                    <a:pt x="3524250" y="0"/>
                  </a:cubicBezTo>
                </a:path>
              </a:pathLst>
            </a:custGeom>
            <a:noFill/>
            <a:ln w="23812">
              <a:solidFill>
                <a:srgbClr val="C83210"/>
              </a:solidFill>
            </a:ln>
          </p:spPr>
        </p:sp>
        <p:sp>
          <p:nvSpPr>
            <p:cNvPr id="152" name="Ellipse 152"/>
            <p:cNvSpPr/>
            <p:nvPr/>
          </p:nvSpPr>
          <p:spPr>
            <a:xfrm>
              <a:off x="8258175" y="3495675"/>
              <a:ext cx="57150" cy="57150"/>
            </a:xfrm>
            <a:prstGeom prst="ellipse">
              <a:avLst/>
            </a:prstGeom>
            <a:solidFill>
              <a:srgbClr val="C83210"/>
            </a:solidFill>
            <a:ln>
              <a:noFill/>
            </a:ln>
          </p:spPr>
        </p:sp>
        <p:sp>
          <p:nvSpPr>
            <p:cNvPr id="153" name="Ellipse 153"/>
            <p:cNvSpPr/>
            <p:nvPr/>
          </p:nvSpPr>
          <p:spPr>
            <a:xfrm>
              <a:off x="9163050" y="3667125"/>
              <a:ext cx="57150" cy="57150"/>
            </a:xfrm>
            <a:prstGeom prst="ellipse">
              <a:avLst/>
            </a:prstGeom>
            <a:solidFill>
              <a:srgbClr val="C83210"/>
            </a:solidFill>
            <a:ln>
              <a:noFill/>
            </a:ln>
          </p:spPr>
        </p:sp>
        <p:sp>
          <p:nvSpPr>
            <p:cNvPr id="154" name="Ellipse 154"/>
            <p:cNvSpPr/>
            <p:nvPr/>
          </p:nvSpPr>
          <p:spPr>
            <a:xfrm>
              <a:off x="10067925" y="3971925"/>
              <a:ext cx="57150" cy="57150"/>
            </a:xfrm>
            <a:prstGeom prst="ellipse">
              <a:avLst/>
            </a:prstGeom>
            <a:solidFill>
              <a:srgbClr val="C83210"/>
            </a:solidFill>
            <a:ln>
              <a:noFill/>
            </a:ln>
          </p:spPr>
        </p:sp>
        <p:sp>
          <p:nvSpPr>
            <p:cNvPr id="155" name="Ellipse 155"/>
            <p:cNvSpPr/>
            <p:nvPr/>
          </p:nvSpPr>
          <p:spPr>
            <a:xfrm>
              <a:off x="10972800" y="3419475"/>
              <a:ext cx="57150" cy="57150"/>
            </a:xfrm>
            <a:prstGeom prst="ellipse">
              <a:avLst/>
            </a:prstGeom>
            <a:solidFill>
              <a:srgbClr val="C83210"/>
            </a:solidFill>
            <a:ln>
              <a:noFill/>
            </a:ln>
          </p:spPr>
        </p:sp>
        <p:sp>
          <p:nvSpPr>
            <p:cNvPr id="156" name="Ellipse 156"/>
            <p:cNvSpPr/>
            <p:nvPr/>
          </p:nvSpPr>
          <p:spPr>
            <a:xfrm>
              <a:off x="11782425" y="3000375"/>
              <a:ext cx="57150" cy="57150"/>
            </a:xfrm>
            <a:prstGeom prst="ellipse">
              <a:avLst/>
            </a:prstGeom>
            <a:solidFill>
              <a:srgbClr val="C83210"/>
            </a:solidFill>
            <a:ln>
              <a:noFill/>
            </a:ln>
          </p:spPr>
        </p:sp>
        <p:sp>
          <p:nvSpPr>
            <p:cNvPr id="157" name="Ellipse 157"/>
            <p:cNvSpPr/>
            <p:nvPr/>
          </p:nvSpPr>
          <p:spPr>
            <a:xfrm>
              <a:off x="9163050" y="3743325"/>
              <a:ext cx="57150" cy="57150"/>
            </a:xfrm>
            <a:prstGeom prst="ellipse">
              <a:avLst/>
            </a:prstGeom>
            <a:solidFill>
              <a:srgbClr val="F3B2A3"/>
            </a:solidFill>
            <a:ln>
              <a:noFill/>
            </a:ln>
          </p:spPr>
        </p:sp>
        <p:sp>
          <p:nvSpPr>
            <p:cNvPr id="158" name="Ellipse 158"/>
            <p:cNvSpPr/>
            <p:nvPr/>
          </p:nvSpPr>
          <p:spPr>
            <a:xfrm>
              <a:off x="10067925" y="4029075"/>
              <a:ext cx="57150" cy="57150"/>
            </a:xfrm>
            <a:prstGeom prst="ellipse">
              <a:avLst/>
            </a:prstGeom>
            <a:solidFill>
              <a:srgbClr val="F3B2A3"/>
            </a:solidFill>
            <a:ln>
              <a:noFill/>
            </a:ln>
          </p:spPr>
        </p:sp>
        <p:sp>
          <p:nvSpPr>
            <p:cNvPr id="159" name="Ellipse 159"/>
            <p:cNvSpPr/>
            <p:nvPr/>
          </p:nvSpPr>
          <p:spPr>
            <a:xfrm>
              <a:off x="10972800" y="3762375"/>
              <a:ext cx="57150" cy="57150"/>
            </a:xfrm>
            <a:prstGeom prst="ellipse">
              <a:avLst/>
            </a:prstGeom>
            <a:solidFill>
              <a:srgbClr val="F3B2A3"/>
            </a:solidFill>
            <a:ln>
              <a:noFill/>
            </a:ln>
          </p:spPr>
        </p:sp>
        <p:sp>
          <p:nvSpPr>
            <p:cNvPr id="160" name="Ellipse 160"/>
            <p:cNvSpPr/>
            <p:nvPr/>
          </p:nvSpPr>
          <p:spPr>
            <a:xfrm>
              <a:off x="11782425" y="3514725"/>
              <a:ext cx="57150" cy="57150"/>
            </a:xfrm>
            <a:prstGeom prst="ellipse">
              <a:avLst/>
            </a:prstGeom>
            <a:solidFill>
              <a:srgbClr val="F3B2A3"/>
            </a:solidFill>
            <a:ln>
              <a:noFill/>
            </a:ln>
          </p:spPr>
        </p:sp>
        <p:sp>
          <p:nvSpPr>
            <p:cNvPr id="161" name="Rectangle 161"/>
            <p:cNvSpPr/>
            <p:nvPr/>
          </p:nvSpPr>
          <p:spPr>
            <a:xfrm>
              <a:off x="9620250" y="3200400"/>
              <a:ext cx="952500" cy="285750"/>
            </a:xfrm>
            <a:prstGeom prst="roundRect">
              <a:avLst>
                <a:gd name="adj" fmla="val 20000"/>
              </a:avLst>
            </a:prstGeom>
            <a:solidFill>
              <a:srgbClr val="FBE3E6"/>
            </a:solidFill>
            <a:ln>
              <a:noFill/>
            </a:ln>
          </p:spPr>
        </p:sp>
        <p:sp>
          <p:nvSpPr>
            <p:cNvPr id="162" name="Polygon 162"/>
            <p:cNvSpPr/>
            <p:nvPr/>
          </p:nvSpPr>
          <p:spPr>
            <a:xfrm>
              <a:off x="10039350" y="3486150"/>
              <a:ext cx="114300" cy="95250"/>
            </a:xfrm>
            <a:custGeom>
              <a:avLst/>
              <a:gdLst/>
              <a:ahLst/>
              <a:cxnLst/>
              <a:rect l="l" t="t" r="r" b="b"/>
              <a:pathLst>
                <a:path w="114300" h="95250">
                  <a:moveTo>
                    <a:pt x="0" y="0"/>
                  </a:moveTo>
                  <a:lnTo>
                    <a:pt x="114300" y="0"/>
                  </a:lnTo>
                  <a:lnTo>
                    <a:pt x="57150" y="95250"/>
                  </a:lnTo>
                  <a:close/>
                </a:path>
              </a:pathLst>
            </a:custGeom>
            <a:solidFill>
              <a:srgbClr val="FBE3E6"/>
            </a:solidFill>
            <a:ln>
              <a:noFill/>
            </a:ln>
          </p:spPr>
        </p:sp>
        <p:sp>
          <p:nvSpPr>
            <p:cNvPr id="163" name="TextBox 163"/>
            <p:cNvSpPr txBox="1"/>
            <p:nvPr/>
          </p:nvSpPr>
          <p:spPr>
            <a:xfrm>
              <a:off x="9833267" y="3245882"/>
              <a:ext cx="5264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频繁广告导致</a:t>
              </a:r>
            </a:p>
          </p:txBody>
        </p:sp>
        <p:sp>
          <p:nvSpPr>
            <p:cNvPr id="164" name="TextBox 164"/>
            <p:cNvSpPr txBox="1"/>
            <p:nvPr/>
          </p:nvSpPr>
          <p:spPr>
            <a:xfrm>
              <a:off x="9894546" y="3360182"/>
              <a:ext cx="403908"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屏蔽/删除</a:t>
              </a:r>
            </a:p>
          </p:txBody>
        </p:sp>
        <p:sp>
          <p:nvSpPr>
            <p:cNvPr id="165" name="Line 165"/>
            <p:cNvSpPr/>
            <p:nvPr/>
          </p:nvSpPr>
          <p:spPr>
            <a:xfrm>
              <a:off x="10096500" y="3600450"/>
              <a:ext cx="9525" cy="304800"/>
            </a:xfrm>
            <a:custGeom>
              <a:avLst/>
              <a:gdLst/>
              <a:ahLst/>
              <a:cxnLst/>
              <a:rect l="l" t="t" r="r" b="b"/>
              <a:pathLst>
                <a:path w="9525" h="304800">
                  <a:moveTo>
                    <a:pt x="0" y="0"/>
                  </a:moveTo>
                  <a:lnTo>
                    <a:pt x="0" y="304800"/>
                  </a:lnTo>
                </a:path>
              </a:pathLst>
            </a:custGeom>
            <a:noFill/>
            <a:ln w="14288">
              <a:solidFill>
                <a:srgbClr val="C83210"/>
              </a:solidFill>
            </a:ln>
          </p:spPr>
        </p:sp>
        <p:sp>
          <p:nvSpPr>
            <p:cNvPr id="166" name="Polygon 166"/>
            <p:cNvSpPr/>
            <p:nvPr/>
          </p:nvSpPr>
          <p:spPr>
            <a:xfrm>
              <a:off x="10058400" y="3886200"/>
              <a:ext cx="76200" cy="76200"/>
            </a:xfrm>
            <a:custGeom>
              <a:avLst/>
              <a:gdLst/>
              <a:ahLst/>
              <a:cxnLst/>
              <a:rect l="l" t="t" r="r" b="b"/>
              <a:pathLst>
                <a:path w="76200" h="76200">
                  <a:moveTo>
                    <a:pt x="0" y="0"/>
                  </a:moveTo>
                  <a:lnTo>
                    <a:pt x="76200" y="0"/>
                  </a:lnTo>
                  <a:lnTo>
                    <a:pt x="38100" y="76200"/>
                  </a:lnTo>
                  <a:close/>
                </a:path>
              </a:pathLst>
            </a:custGeom>
            <a:solidFill>
              <a:srgbClr val="C83210"/>
            </a:solidFill>
            <a:ln>
              <a:noFill/>
            </a:ln>
          </p:spPr>
        </p:sp>
        <p:sp>
          <p:nvSpPr>
            <p:cNvPr id="167" name="Rectangle 167"/>
            <p:cNvSpPr/>
            <p:nvPr/>
          </p:nvSpPr>
          <p:spPr>
            <a:xfrm>
              <a:off x="10953750" y="2743200"/>
              <a:ext cx="990600" cy="285750"/>
            </a:xfrm>
            <a:prstGeom prst="roundRect">
              <a:avLst>
                <a:gd name="adj" fmla="val 20000"/>
              </a:avLst>
            </a:prstGeom>
            <a:solidFill>
              <a:srgbClr val="C83210"/>
            </a:solidFill>
            <a:ln>
              <a:noFill/>
            </a:ln>
          </p:spPr>
        </p:sp>
        <p:sp>
          <p:nvSpPr>
            <p:cNvPr id="168" name="Polygon 168"/>
            <p:cNvSpPr/>
            <p:nvPr/>
          </p:nvSpPr>
          <p:spPr>
            <a:xfrm>
              <a:off x="11391900" y="3028950"/>
              <a:ext cx="114300" cy="95250"/>
            </a:xfrm>
            <a:custGeom>
              <a:avLst/>
              <a:gdLst/>
              <a:ahLst/>
              <a:cxnLst/>
              <a:rect l="l" t="t" r="r" b="b"/>
              <a:pathLst>
                <a:path w="114300" h="95250">
                  <a:moveTo>
                    <a:pt x="0" y="0"/>
                  </a:moveTo>
                  <a:lnTo>
                    <a:pt x="114300" y="0"/>
                  </a:lnTo>
                  <a:lnTo>
                    <a:pt x="57150" y="95250"/>
                  </a:lnTo>
                  <a:close/>
                </a:path>
              </a:pathLst>
            </a:custGeom>
            <a:solidFill>
              <a:srgbClr val="C83210"/>
            </a:solidFill>
            <a:ln>
              <a:noFill/>
            </a:ln>
          </p:spPr>
        </p:sp>
        <p:sp>
          <p:nvSpPr>
            <p:cNvPr id="169" name="TextBox 169"/>
            <p:cNvSpPr txBox="1"/>
            <p:nvPr/>
          </p:nvSpPr>
          <p:spPr>
            <a:xfrm>
              <a:off x="11185817" y="2788682"/>
              <a:ext cx="526466"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持续提供帮助</a:t>
              </a:r>
            </a:p>
          </p:txBody>
        </p:sp>
        <p:sp>
          <p:nvSpPr>
            <p:cNvPr id="170" name="TextBox 170"/>
            <p:cNvSpPr txBox="1"/>
            <p:nvPr/>
          </p:nvSpPr>
          <p:spPr>
            <a:xfrm>
              <a:off x="11142739" y="2902982"/>
              <a:ext cx="61262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提升互动与信任</a:t>
              </a:r>
            </a:p>
          </p:txBody>
        </p:sp>
        <p:sp>
          <p:nvSpPr>
            <p:cNvPr id="171" name="TextBox 171"/>
            <p:cNvSpPr txBox="1"/>
            <p:nvPr/>
          </p:nvSpPr>
          <p:spPr>
            <a:xfrm>
              <a:off x="8195831" y="4179332"/>
              <a:ext cx="18183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初期</a:t>
              </a:r>
            </a:p>
          </p:txBody>
        </p:sp>
        <p:sp>
          <p:nvSpPr>
            <p:cNvPr id="172" name="TextBox 172"/>
            <p:cNvSpPr txBox="1"/>
            <p:nvPr/>
          </p:nvSpPr>
          <p:spPr>
            <a:xfrm>
              <a:off x="8023517" y="4293632"/>
              <a:ext cx="52646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（建立连接）</a:t>
              </a:r>
            </a:p>
          </p:txBody>
        </p:sp>
        <p:sp>
          <p:nvSpPr>
            <p:cNvPr id="173" name="TextBox 173"/>
            <p:cNvSpPr txBox="1"/>
            <p:nvPr/>
          </p:nvSpPr>
          <p:spPr>
            <a:xfrm>
              <a:off x="8842235" y="4179332"/>
              <a:ext cx="69877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持续推送产品广告</a:t>
              </a:r>
            </a:p>
          </p:txBody>
        </p:sp>
        <p:sp>
          <p:nvSpPr>
            <p:cNvPr id="174" name="TextBox 174"/>
            <p:cNvSpPr txBox="1"/>
            <p:nvPr/>
          </p:nvSpPr>
          <p:spPr>
            <a:xfrm>
              <a:off x="8928392" y="4293632"/>
              <a:ext cx="52646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（过度营销）</a:t>
              </a:r>
            </a:p>
          </p:txBody>
        </p:sp>
        <p:sp>
          <p:nvSpPr>
            <p:cNvPr id="175" name="TextBox 175"/>
            <p:cNvSpPr txBox="1"/>
            <p:nvPr/>
          </p:nvSpPr>
          <p:spPr>
            <a:xfrm>
              <a:off x="9833267" y="417933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客户产生反感</a:t>
              </a:r>
            </a:p>
          </p:txBody>
        </p:sp>
        <p:sp>
          <p:nvSpPr>
            <p:cNvPr id="176" name="TextBox 176"/>
            <p:cNvSpPr txBox="1"/>
            <p:nvPr/>
          </p:nvSpPr>
          <p:spPr>
            <a:xfrm>
              <a:off x="9809574" y="4293632"/>
              <a:ext cx="573852"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（屏蔽/删除）</a:t>
              </a:r>
            </a:p>
          </p:txBody>
        </p:sp>
        <p:sp>
          <p:nvSpPr>
            <p:cNvPr id="177" name="TextBox 177"/>
            <p:cNvSpPr txBox="1"/>
            <p:nvPr/>
          </p:nvSpPr>
          <p:spPr>
            <a:xfrm>
              <a:off x="10695064" y="4179332"/>
              <a:ext cx="61262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转向有价值内容</a:t>
              </a:r>
            </a:p>
          </p:txBody>
        </p:sp>
        <p:sp>
          <p:nvSpPr>
            <p:cNvPr id="178" name="TextBox 178"/>
            <p:cNvSpPr txBox="1"/>
            <p:nvPr/>
          </p:nvSpPr>
          <p:spPr>
            <a:xfrm>
              <a:off x="10738142" y="4293632"/>
              <a:ext cx="52646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（恢复信任）</a:t>
              </a:r>
            </a:p>
          </p:txBody>
        </p:sp>
        <p:sp>
          <p:nvSpPr>
            <p:cNvPr id="179" name="TextBox 179"/>
            <p:cNvSpPr txBox="1"/>
            <p:nvPr/>
          </p:nvSpPr>
          <p:spPr>
            <a:xfrm>
              <a:off x="11509667" y="417933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长期稳定互动</a:t>
              </a:r>
            </a:p>
          </p:txBody>
        </p:sp>
        <p:sp>
          <p:nvSpPr>
            <p:cNvPr id="180" name="TextBox 180"/>
            <p:cNvSpPr txBox="1"/>
            <p:nvPr/>
          </p:nvSpPr>
          <p:spPr>
            <a:xfrm>
              <a:off x="11509667" y="4293632"/>
              <a:ext cx="52646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（深度关系）</a:t>
              </a:r>
            </a:p>
          </p:txBody>
        </p:sp>
      </p:grpSp>
      <p:grpSp>
        <p:nvGrpSpPr>
          <p:cNvPr id="234" name="score-model"/>
          <p:cNvGrpSpPr/>
          <p:nvPr/>
        </p:nvGrpSpPr>
        <p:grpSpPr>
          <a:xfrm>
            <a:off x="228600" y="4648200"/>
            <a:ext cx="6019800" cy="2095500"/>
            <a:chOff x="228600" y="4648200"/>
            <a:chExt cx="6019800" cy="2095500"/>
          </a:xfrm>
        </p:grpSpPr>
        <p:sp>
          <p:nvSpPr>
            <p:cNvPr id="182" name="Rectangle 182"/>
            <p:cNvSpPr/>
            <p:nvPr/>
          </p:nvSpPr>
          <p:spPr>
            <a:xfrm>
              <a:off x="228600" y="4648200"/>
              <a:ext cx="38100" cy="152400"/>
            </a:xfrm>
            <a:prstGeom prst="rect">
              <a:avLst/>
            </a:prstGeom>
            <a:solidFill>
              <a:srgbClr val="C83210"/>
            </a:solidFill>
            <a:ln>
              <a:noFill/>
            </a:ln>
          </p:spPr>
        </p:sp>
        <p:sp>
          <p:nvSpPr>
            <p:cNvPr id="183" name="TextBox 183"/>
            <p:cNvSpPr txBox="1"/>
            <p:nvPr/>
          </p:nvSpPr>
          <p:spPr>
            <a:xfrm>
              <a:off x="318897" y="4666774"/>
              <a:ext cx="168967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内容质量评分模型（100分）</a:t>
              </a:r>
            </a:p>
          </p:txBody>
        </p:sp>
        <p:sp>
          <p:nvSpPr>
            <p:cNvPr id="184" name="TextBox 184"/>
            <p:cNvSpPr txBox="1"/>
            <p:nvPr/>
          </p:nvSpPr>
          <p:spPr>
            <a:xfrm>
              <a:off x="319088" y="4862512"/>
              <a:ext cx="2129790" cy="147638"/>
            </a:xfrm>
            <a:prstGeom prst="rect">
              <a:avLst/>
            </a:prstGeom>
            <a:noFill/>
            <a:ln>
              <a:noFill/>
            </a:ln>
          </p:spPr>
          <p:txBody>
            <a:bodyPr wrap="none" lIns="0" tIns="0" rIns="0" bIns="0" anchor="t" anchorCtr="0">
              <a:spAutoFit/>
            </a:bodyPr>
            <a:lstStyle/>
            <a:p>
              <a:pPr algn="l"/>
              <a:r>
                <a:rPr lang="zh-CN" sz="750" dirty="0">
                  <a:solidFill>
                    <a:srgbClr val="666666"/>
                  </a:solidFill>
                  <a:latin typeface="+mn-lt"/>
                  <a:ea typeface="+mn-ea"/>
                  <a:cs typeface="+mn-cs"/>
                </a:rPr>
                <a:t>从五个维度评估内容质量，指导内容生产与优化</a:t>
              </a:r>
            </a:p>
          </p:txBody>
        </p:sp>
        <p:sp>
          <p:nvSpPr>
            <p:cNvPr id="185" name="Rectangle 185"/>
            <p:cNvSpPr/>
            <p:nvPr/>
          </p:nvSpPr>
          <p:spPr>
            <a:xfrm>
              <a:off x="228600" y="5029200"/>
              <a:ext cx="1143000" cy="1714500"/>
            </a:xfrm>
            <a:prstGeom prst="roundRect">
              <a:avLst>
                <a:gd name="adj" fmla="val 5000"/>
              </a:avLst>
            </a:prstGeom>
            <a:solidFill>
              <a:srgbClr val="FDEFF1"/>
            </a:solidFill>
            <a:ln>
              <a:noFill/>
            </a:ln>
          </p:spPr>
        </p:sp>
        <p:grpSp>
          <p:nvGrpSpPr>
            <p:cNvPr id="189" name="Group 189"/>
            <p:cNvGrpSpPr/>
            <p:nvPr/>
          </p:nvGrpSpPr>
          <p:grpSpPr>
            <a:xfrm>
              <a:off x="352425" y="5191125"/>
              <a:ext cx="171450" cy="171450"/>
              <a:chOff x="352425" y="5191125"/>
              <a:chExt cx="171450" cy="171450"/>
            </a:xfrm>
          </p:grpSpPr>
          <p:sp>
            <p:nvSpPr>
              <p:cNvPr id="186" name="Freeform 186"/>
              <p:cNvSpPr/>
              <p:nvPr/>
            </p:nvSpPr>
            <p:spPr>
              <a:xfrm>
                <a:off x="428625" y="52673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C83210"/>
                </a:solidFill>
              </a:ln>
            </p:spPr>
          </p:sp>
          <p:sp>
            <p:nvSpPr>
              <p:cNvPr id="187" name="Freeform 187"/>
              <p:cNvSpPr/>
              <p:nvPr/>
            </p:nvSpPr>
            <p:spPr>
              <a:xfrm>
                <a:off x="390525" y="52292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C83210"/>
                </a:solidFill>
              </a:ln>
            </p:spPr>
          </p:sp>
          <p:sp>
            <p:nvSpPr>
              <p:cNvPr id="188" name="Freeform 188"/>
              <p:cNvSpPr/>
              <p:nvPr/>
            </p:nvSpPr>
            <p:spPr>
              <a:xfrm>
                <a:off x="352425" y="51911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83210"/>
                </a:solidFill>
              </a:ln>
            </p:spPr>
          </p:sp>
        </p:grpSp>
        <p:sp>
          <p:nvSpPr>
            <p:cNvPr id="190" name="TextBox 190"/>
            <p:cNvSpPr txBox="1"/>
            <p:nvPr/>
          </p:nvSpPr>
          <p:spPr>
            <a:xfrm>
              <a:off x="623888" y="5168741"/>
              <a:ext cx="340690"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相关性</a:t>
              </a:r>
            </a:p>
          </p:txBody>
        </p:sp>
        <p:sp>
          <p:nvSpPr>
            <p:cNvPr id="191" name="TextBox 191"/>
            <p:cNvSpPr txBox="1"/>
            <p:nvPr/>
          </p:nvSpPr>
          <p:spPr>
            <a:xfrm>
              <a:off x="622935" y="5326856"/>
              <a:ext cx="329926"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Arial"/>
                  <a:ea typeface="Microsoft YaHei"/>
                  <a:cs typeface="Arial"/>
                </a:rPr>
                <a:t>30分</a:t>
              </a:r>
            </a:p>
          </p:txBody>
        </p:sp>
        <p:sp>
          <p:nvSpPr>
            <p:cNvPr id="192" name="TextBox 192"/>
            <p:cNvSpPr txBox="1"/>
            <p:nvPr/>
          </p:nvSpPr>
          <p:spPr>
            <a:xfrm>
              <a:off x="319088" y="566280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是否匹配客户需求</a:t>
              </a:r>
            </a:p>
          </p:txBody>
        </p:sp>
        <p:sp>
          <p:nvSpPr>
            <p:cNvPr id="193" name="TextBox 193"/>
            <p:cNvSpPr txBox="1"/>
            <p:nvPr/>
          </p:nvSpPr>
          <p:spPr>
            <a:xfrm>
              <a:off x="319088" y="583425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是否贴近客户场景</a:t>
              </a:r>
            </a:p>
          </p:txBody>
        </p:sp>
        <p:sp>
          <p:nvSpPr>
            <p:cNvPr id="194" name="TextBox 194"/>
            <p:cNvSpPr txBox="1"/>
            <p:nvPr/>
          </p:nvSpPr>
          <p:spPr>
            <a:xfrm>
              <a:off x="319088" y="6005703"/>
              <a:ext cx="974217"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是否有明确的受众对象</a:t>
              </a:r>
            </a:p>
          </p:txBody>
        </p:sp>
        <p:sp>
          <p:nvSpPr>
            <p:cNvPr id="195" name="Rectangle 195"/>
            <p:cNvSpPr/>
            <p:nvPr/>
          </p:nvSpPr>
          <p:spPr>
            <a:xfrm>
              <a:off x="1447800" y="5029200"/>
              <a:ext cx="1143000" cy="1714500"/>
            </a:xfrm>
            <a:prstGeom prst="roundRect">
              <a:avLst>
                <a:gd name="adj" fmla="val 5000"/>
              </a:avLst>
            </a:prstGeom>
            <a:solidFill>
              <a:srgbClr val="FDEFF1"/>
            </a:solidFill>
            <a:ln>
              <a:noFill/>
            </a:ln>
          </p:spPr>
        </p:sp>
        <p:grpSp>
          <p:nvGrpSpPr>
            <p:cNvPr id="198" name="Group 198"/>
            <p:cNvGrpSpPr/>
            <p:nvPr/>
          </p:nvGrpSpPr>
          <p:grpSpPr>
            <a:xfrm>
              <a:off x="1571625" y="5210175"/>
              <a:ext cx="171450" cy="140114"/>
              <a:chOff x="1571625" y="5210175"/>
              <a:chExt cx="171450" cy="140114"/>
            </a:xfrm>
          </p:grpSpPr>
          <p:sp>
            <p:nvSpPr>
              <p:cNvPr id="196" name="Freeform 196"/>
              <p:cNvSpPr/>
              <p:nvPr/>
            </p:nvSpPr>
            <p:spPr>
              <a:xfrm>
                <a:off x="1571625" y="5210175"/>
                <a:ext cx="171450" cy="140114"/>
              </a:xfrm>
              <a:custGeom>
                <a:avLst/>
                <a:gdLst/>
                <a:ahLst/>
                <a:cxnLst/>
                <a:rect l="l" t="t" r="r" b="b"/>
                <a:pathLst>
                  <a:path w="171450" h="140114">
                    <a:moveTo>
                      <a:pt x="28575" y="0"/>
                    </a:moveTo>
                    <a:lnTo>
                      <a:pt x="142875" y="0"/>
                    </a:lnTo>
                    <a:lnTo>
                      <a:pt x="171450" y="47625"/>
                    </a:lnTo>
                    <a:lnTo>
                      <a:pt x="90488" y="138112"/>
                    </a:lnTo>
                    <a:cubicBezTo>
                      <a:pt x="89233" y="139392"/>
                      <a:pt x="87517" y="140114"/>
                      <a:pt x="85725" y="140114"/>
                    </a:cubicBezTo>
                    <a:cubicBezTo>
                      <a:pt x="83933" y="140114"/>
                      <a:pt x="82217" y="139392"/>
                      <a:pt x="80962" y="138112"/>
                    </a:cubicBezTo>
                    <a:lnTo>
                      <a:pt x="0" y="47625"/>
                    </a:lnTo>
                    <a:lnTo>
                      <a:pt x="28575" y="0"/>
                    </a:lnTo>
                  </a:path>
                </a:pathLst>
              </a:custGeom>
              <a:noFill/>
              <a:ln w="19050">
                <a:solidFill>
                  <a:srgbClr val="C83210"/>
                </a:solidFill>
              </a:ln>
            </p:spPr>
          </p:sp>
          <p:sp>
            <p:nvSpPr>
              <p:cNvPr id="197" name="Freeform 197"/>
              <p:cNvSpPr/>
              <p:nvPr/>
            </p:nvSpPr>
            <p:spPr>
              <a:xfrm>
                <a:off x="1619250" y="5246370"/>
                <a:ext cx="19050" cy="30480"/>
              </a:xfrm>
              <a:custGeom>
                <a:avLst/>
                <a:gdLst/>
                <a:ahLst/>
                <a:cxnLst/>
                <a:rect l="l" t="t" r="r" b="b"/>
                <a:pathLst>
                  <a:path w="19050" h="30480">
                    <a:moveTo>
                      <a:pt x="19050" y="30480"/>
                    </a:moveTo>
                    <a:lnTo>
                      <a:pt x="0" y="9525"/>
                    </a:lnTo>
                    <a:lnTo>
                      <a:pt x="5715" y="0"/>
                    </a:lnTo>
                  </a:path>
                </a:pathLst>
              </a:custGeom>
              <a:noFill/>
              <a:ln w="19050">
                <a:solidFill>
                  <a:srgbClr val="C83210"/>
                </a:solidFill>
              </a:ln>
            </p:spPr>
          </p:sp>
        </p:grpSp>
        <p:sp>
          <p:nvSpPr>
            <p:cNvPr id="199" name="TextBox 199"/>
            <p:cNvSpPr txBox="1"/>
            <p:nvPr/>
          </p:nvSpPr>
          <p:spPr>
            <a:xfrm>
              <a:off x="1843088" y="5168741"/>
              <a:ext cx="451079"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内容价值</a:t>
              </a:r>
            </a:p>
          </p:txBody>
        </p:sp>
        <p:sp>
          <p:nvSpPr>
            <p:cNvPr id="200" name="TextBox 200"/>
            <p:cNvSpPr txBox="1"/>
            <p:nvPr/>
          </p:nvSpPr>
          <p:spPr>
            <a:xfrm>
              <a:off x="1842135" y="5326856"/>
              <a:ext cx="329926"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Arial"/>
                  <a:ea typeface="Microsoft YaHei"/>
                  <a:cs typeface="Arial"/>
                </a:rPr>
                <a:t>25分</a:t>
              </a:r>
            </a:p>
          </p:txBody>
        </p:sp>
        <p:sp>
          <p:nvSpPr>
            <p:cNvPr id="201" name="TextBox 201"/>
            <p:cNvSpPr txBox="1"/>
            <p:nvPr/>
          </p:nvSpPr>
          <p:spPr>
            <a:xfrm>
              <a:off x="1538288" y="566280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是否提供实用信息</a:t>
              </a:r>
            </a:p>
          </p:txBody>
        </p:sp>
        <p:sp>
          <p:nvSpPr>
            <p:cNvPr id="202" name="TextBox 202"/>
            <p:cNvSpPr txBox="1"/>
            <p:nvPr/>
          </p:nvSpPr>
          <p:spPr>
            <a:xfrm>
              <a:off x="1538288" y="583425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是否解决客户问题</a:t>
              </a:r>
            </a:p>
          </p:txBody>
        </p:sp>
        <p:sp>
          <p:nvSpPr>
            <p:cNvPr id="203" name="TextBox 203"/>
            <p:cNvSpPr txBox="1"/>
            <p:nvPr/>
          </p:nvSpPr>
          <p:spPr>
            <a:xfrm>
              <a:off x="1538288" y="600570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是否带来实际帮助</a:t>
              </a:r>
            </a:p>
          </p:txBody>
        </p:sp>
        <p:sp>
          <p:nvSpPr>
            <p:cNvPr id="204" name="Rectangle 204"/>
            <p:cNvSpPr/>
            <p:nvPr/>
          </p:nvSpPr>
          <p:spPr>
            <a:xfrm>
              <a:off x="2667000" y="5029200"/>
              <a:ext cx="1143000" cy="1714500"/>
            </a:xfrm>
            <a:prstGeom prst="roundRect">
              <a:avLst>
                <a:gd name="adj" fmla="val 5000"/>
              </a:avLst>
            </a:prstGeom>
            <a:solidFill>
              <a:srgbClr val="FDEFF1"/>
            </a:solidFill>
            <a:ln>
              <a:noFill/>
            </a:ln>
          </p:spPr>
        </p:sp>
        <p:grpSp>
          <p:nvGrpSpPr>
            <p:cNvPr id="210" name="Group 210"/>
            <p:cNvGrpSpPr/>
            <p:nvPr/>
          </p:nvGrpSpPr>
          <p:grpSpPr>
            <a:xfrm>
              <a:off x="2809875" y="5191125"/>
              <a:ext cx="133350" cy="171450"/>
              <a:chOff x="2809875" y="5191125"/>
              <a:chExt cx="133350" cy="171450"/>
            </a:xfrm>
          </p:grpSpPr>
          <p:sp>
            <p:nvSpPr>
              <p:cNvPr id="205" name="Freeform 205"/>
              <p:cNvSpPr/>
              <p:nvPr/>
            </p:nvSpPr>
            <p:spPr>
              <a:xfrm>
                <a:off x="2895600" y="519112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C83210"/>
                </a:solidFill>
              </a:ln>
            </p:spPr>
          </p:sp>
          <p:sp>
            <p:nvSpPr>
              <p:cNvPr id="206" name="Freeform 206"/>
              <p:cNvSpPr/>
              <p:nvPr/>
            </p:nvSpPr>
            <p:spPr>
              <a:xfrm>
                <a:off x="2809875" y="519112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C83210"/>
                </a:solidFill>
              </a:ln>
            </p:spPr>
          </p:sp>
          <p:sp>
            <p:nvSpPr>
              <p:cNvPr id="207" name="Freeform 207"/>
              <p:cNvSpPr/>
              <p:nvPr/>
            </p:nvSpPr>
            <p:spPr>
              <a:xfrm>
                <a:off x="2847975" y="5248275"/>
                <a:ext cx="9525" cy="9525"/>
              </a:xfrm>
              <a:custGeom>
                <a:avLst/>
                <a:gdLst/>
                <a:ahLst/>
                <a:cxnLst/>
                <a:rect l="l" t="t" r="r" b="b"/>
                <a:pathLst>
                  <a:path w="9525" h="9525">
                    <a:moveTo>
                      <a:pt x="0" y="0"/>
                    </a:moveTo>
                    <a:lnTo>
                      <a:pt x="9525" y="0"/>
                    </a:lnTo>
                  </a:path>
                </a:pathLst>
              </a:custGeom>
              <a:noFill/>
              <a:ln w="19050">
                <a:solidFill>
                  <a:srgbClr val="C83210"/>
                </a:solidFill>
              </a:ln>
            </p:spPr>
          </p:sp>
          <p:sp>
            <p:nvSpPr>
              <p:cNvPr id="208" name="Freeform 208"/>
              <p:cNvSpPr/>
              <p:nvPr/>
            </p:nvSpPr>
            <p:spPr>
              <a:xfrm>
                <a:off x="2847975" y="5286375"/>
                <a:ext cx="57150" cy="9525"/>
              </a:xfrm>
              <a:custGeom>
                <a:avLst/>
                <a:gdLst/>
                <a:ahLst/>
                <a:cxnLst/>
                <a:rect l="l" t="t" r="r" b="b"/>
                <a:pathLst>
                  <a:path w="57150" h="9525">
                    <a:moveTo>
                      <a:pt x="0" y="0"/>
                    </a:moveTo>
                    <a:lnTo>
                      <a:pt x="57150" y="0"/>
                    </a:lnTo>
                  </a:path>
                </a:pathLst>
              </a:custGeom>
              <a:noFill/>
              <a:ln w="19050">
                <a:solidFill>
                  <a:srgbClr val="C83210"/>
                </a:solidFill>
              </a:ln>
            </p:spPr>
          </p:sp>
          <p:sp>
            <p:nvSpPr>
              <p:cNvPr id="209" name="Freeform 209"/>
              <p:cNvSpPr/>
              <p:nvPr/>
            </p:nvSpPr>
            <p:spPr>
              <a:xfrm>
                <a:off x="2847975" y="5324475"/>
                <a:ext cx="57150" cy="9525"/>
              </a:xfrm>
              <a:custGeom>
                <a:avLst/>
                <a:gdLst/>
                <a:ahLst/>
                <a:cxnLst/>
                <a:rect l="l" t="t" r="r" b="b"/>
                <a:pathLst>
                  <a:path w="57150" h="9525">
                    <a:moveTo>
                      <a:pt x="0" y="0"/>
                    </a:moveTo>
                    <a:lnTo>
                      <a:pt x="57150" y="0"/>
                    </a:lnTo>
                  </a:path>
                </a:pathLst>
              </a:custGeom>
              <a:noFill/>
              <a:ln w="19050">
                <a:solidFill>
                  <a:srgbClr val="C83210"/>
                </a:solidFill>
              </a:ln>
            </p:spPr>
          </p:sp>
        </p:grpSp>
        <p:sp>
          <p:nvSpPr>
            <p:cNvPr id="211" name="TextBox 211"/>
            <p:cNvSpPr txBox="1"/>
            <p:nvPr/>
          </p:nvSpPr>
          <p:spPr>
            <a:xfrm>
              <a:off x="3062288" y="5168741"/>
              <a:ext cx="340690"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可读性</a:t>
              </a:r>
            </a:p>
          </p:txBody>
        </p:sp>
        <p:sp>
          <p:nvSpPr>
            <p:cNvPr id="212" name="TextBox 212"/>
            <p:cNvSpPr txBox="1"/>
            <p:nvPr/>
          </p:nvSpPr>
          <p:spPr>
            <a:xfrm>
              <a:off x="3061335" y="5326856"/>
              <a:ext cx="329926"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Arial"/>
                  <a:ea typeface="Microsoft YaHei"/>
                  <a:cs typeface="Arial"/>
                </a:rPr>
                <a:t>15分</a:t>
              </a:r>
            </a:p>
          </p:txBody>
        </p:sp>
        <p:sp>
          <p:nvSpPr>
            <p:cNvPr id="213" name="TextBox 213"/>
            <p:cNvSpPr txBox="1"/>
            <p:nvPr/>
          </p:nvSpPr>
          <p:spPr>
            <a:xfrm>
              <a:off x="2757488" y="5662803"/>
              <a:ext cx="70766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标题是否吸引人</a:t>
              </a:r>
            </a:p>
          </p:txBody>
        </p:sp>
        <p:sp>
          <p:nvSpPr>
            <p:cNvPr id="214" name="TextBox 214"/>
            <p:cNvSpPr txBox="1"/>
            <p:nvPr/>
          </p:nvSpPr>
          <p:spPr>
            <a:xfrm>
              <a:off x="2757488" y="583425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语言是否简洁易懂</a:t>
              </a:r>
            </a:p>
          </p:txBody>
        </p:sp>
        <p:sp>
          <p:nvSpPr>
            <p:cNvPr id="215" name="TextBox 215"/>
            <p:cNvSpPr txBox="1"/>
            <p:nvPr/>
          </p:nvSpPr>
          <p:spPr>
            <a:xfrm>
              <a:off x="2757488" y="600570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图文是否清晰美观</a:t>
              </a:r>
            </a:p>
          </p:txBody>
        </p:sp>
        <p:sp>
          <p:nvSpPr>
            <p:cNvPr id="216" name="Rectangle 216"/>
            <p:cNvSpPr/>
            <p:nvPr/>
          </p:nvSpPr>
          <p:spPr>
            <a:xfrm>
              <a:off x="3886200" y="5029200"/>
              <a:ext cx="1143000" cy="1714500"/>
            </a:xfrm>
            <a:prstGeom prst="roundRect">
              <a:avLst>
                <a:gd name="adj" fmla="val 5000"/>
              </a:avLst>
            </a:prstGeom>
            <a:solidFill>
              <a:srgbClr val="FDEFF1"/>
            </a:solidFill>
            <a:ln>
              <a:noFill/>
            </a:ln>
          </p:spPr>
        </p:sp>
        <p:grpSp>
          <p:nvGrpSpPr>
            <p:cNvPr id="219" name="Group 219"/>
            <p:cNvGrpSpPr/>
            <p:nvPr/>
          </p:nvGrpSpPr>
          <p:grpSpPr>
            <a:xfrm>
              <a:off x="4010025" y="5191125"/>
              <a:ext cx="171450" cy="171450"/>
              <a:chOff x="4010025" y="5191125"/>
              <a:chExt cx="171450" cy="171450"/>
            </a:xfrm>
          </p:grpSpPr>
          <p:sp>
            <p:nvSpPr>
              <p:cNvPr id="217" name="Freeform 217"/>
              <p:cNvSpPr/>
              <p:nvPr/>
            </p:nvSpPr>
            <p:spPr>
              <a:xfrm>
                <a:off x="4010025" y="51911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83210"/>
                </a:solidFill>
              </a:ln>
            </p:spPr>
          </p:sp>
          <p:sp>
            <p:nvSpPr>
              <p:cNvPr id="218" name="Freeform 218"/>
              <p:cNvSpPr/>
              <p:nvPr/>
            </p:nvSpPr>
            <p:spPr>
              <a:xfrm>
                <a:off x="4095750" y="5229225"/>
                <a:ext cx="28575" cy="76200"/>
              </a:xfrm>
              <a:custGeom>
                <a:avLst/>
                <a:gdLst/>
                <a:ahLst/>
                <a:cxnLst/>
                <a:rect l="l" t="t" r="r" b="b"/>
                <a:pathLst>
                  <a:path w="28575" h="76200">
                    <a:moveTo>
                      <a:pt x="0" y="0"/>
                    </a:moveTo>
                    <a:lnTo>
                      <a:pt x="0" y="47625"/>
                    </a:lnTo>
                    <a:lnTo>
                      <a:pt x="28575" y="76200"/>
                    </a:lnTo>
                  </a:path>
                </a:pathLst>
              </a:custGeom>
              <a:noFill/>
              <a:ln w="19050">
                <a:solidFill>
                  <a:srgbClr val="C83210"/>
                </a:solidFill>
              </a:ln>
            </p:spPr>
          </p:sp>
        </p:grpSp>
        <p:sp>
          <p:nvSpPr>
            <p:cNvPr id="220" name="TextBox 220"/>
            <p:cNvSpPr txBox="1"/>
            <p:nvPr/>
          </p:nvSpPr>
          <p:spPr>
            <a:xfrm>
              <a:off x="4281488" y="5168741"/>
              <a:ext cx="340690"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时效性</a:t>
              </a:r>
            </a:p>
          </p:txBody>
        </p:sp>
        <p:sp>
          <p:nvSpPr>
            <p:cNvPr id="221" name="TextBox 221"/>
            <p:cNvSpPr txBox="1"/>
            <p:nvPr/>
          </p:nvSpPr>
          <p:spPr>
            <a:xfrm>
              <a:off x="4280535" y="5326856"/>
              <a:ext cx="329926"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Arial"/>
                  <a:ea typeface="Microsoft YaHei"/>
                  <a:cs typeface="Arial"/>
                </a:rPr>
                <a:t>15分</a:t>
              </a:r>
            </a:p>
          </p:txBody>
        </p:sp>
        <p:sp>
          <p:nvSpPr>
            <p:cNvPr id="222" name="TextBox 222"/>
            <p:cNvSpPr txBox="1"/>
            <p:nvPr/>
          </p:nvSpPr>
          <p:spPr>
            <a:xfrm>
              <a:off x="3976688" y="566280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是否结合当下热点</a:t>
              </a:r>
            </a:p>
          </p:txBody>
        </p:sp>
        <p:sp>
          <p:nvSpPr>
            <p:cNvPr id="223" name="TextBox 223"/>
            <p:cNvSpPr txBox="1"/>
            <p:nvPr/>
          </p:nvSpPr>
          <p:spPr>
            <a:xfrm>
              <a:off x="3976688" y="5834253"/>
              <a:ext cx="974217"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是否匹配客户生命周期</a:t>
              </a:r>
            </a:p>
          </p:txBody>
        </p:sp>
        <p:sp>
          <p:nvSpPr>
            <p:cNvPr id="224" name="TextBox 224"/>
            <p:cNvSpPr txBox="1"/>
            <p:nvPr/>
          </p:nvSpPr>
          <p:spPr>
            <a:xfrm>
              <a:off x="3976688" y="600570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信息是否及时有效</a:t>
              </a:r>
            </a:p>
          </p:txBody>
        </p:sp>
        <p:sp>
          <p:nvSpPr>
            <p:cNvPr id="225" name="Rectangle 225"/>
            <p:cNvSpPr/>
            <p:nvPr/>
          </p:nvSpPr>
          <p:spPr>
            <a:xfrm>
              <a:off x="5105400" y="5029200"/>
              <a:ext cx="1143000" cy="1714500"/>
            </a:xfrm>
            <a:prstGeom prst="roundRect">
              <a:avLst>
                <a:gd name="adj" fmla="val 5000"/>
              </a:avLst>
            </a:prstGeom>
            <a:solidFill>
              <a:srgbClr val="FDEFF1"/>
            </a:solidFill>
            <a:ln>
              <a:noFill/>
            </a:ln>
          </p:spPr>
        </p:sp>
        <p:grpSp>
          <p:nvGrpSpPr>
            <p:cNvPr id="228" name="Group 228"/>
            <p:cNvGrpSpPr/>
            <p:nvPr/>
          </p:nvGrpSpPr>
          <p:grpSpPr>
            <a:xfrm>
              <a:off x="5216371" y="5191125"/>
              <a:ext cx="186006" cy="171450"/>
              <a:chOff x="5216371" y="5191125"/>
              <a:chExt cx="186006" cy="171450"/>
            </a:xfrm>
          </p:grpSpPr>
          <p:sp>
            <p:nvSpPr>
              <p:cNvPr id="226" name="Freeform 226"/>
              <p:cNvSpPr/>
              <p:nvPr/>
            </p:nvSpPr>
            <p:spPr>
              <a:xfrm>
                <a:off x="5216371" y="51911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1"/>
                    </a:cubicBezTo>
                  </a:path>
                </a:pathLst>
              </a:custGeom>
              <a:noFill/>
              <a:ln w="19050">
                <a:solidFill>
                  <a:srgbClr val="C83210"/>
                </a:solidFill>
              </a:ln>
            </p:spPr>
          </p:sp>
          <p:sp>
            <p:nvSpPr>
              <p:cNvPr id="227" name="Freeform 227"/>
              <p:cNvSpPr/>
              <p:nvPr/>
            </p:nvSpPr>
            <p:spPr>
              <a:xfrm>
                <a:off x="5343525" y="5324475"/>
                <a:ext cx="57150" cy="38100"/>
              </a:xfrm>
              <a:custGeom>
                <a:avLst/>
                <a:gdLst/>
                <a:ahLst/>
                <a:cxnLst/>
                <a:rect l="l" t="t" r="r" b="b"/>
                <a:pathLst>
                  <a:path w="57150" h="38100">
                    <a:moveTo>
                      <a:pt x="0" y="19050"/>
                    </a:moveTo>
                    <a:lnTo>
                      <a:pt x="19050" y="38100"/>
                    </a:lnTo>
                    <a:lnTo>
                      <a:pt x="57150" y="0"/>
                    </a:lnTo>
                  </a:path>
                </a:pathLst>
              </a:custGeom>
              <a:noFill/>
              <a:ln w="19050">
                <a:solidFill>
                  <a:srgbClr val="C83210"/>
                </a:solidFill>
              </a:ln>
            </p:spPr>
          </p:sp>
        </p:grpSp>
        <p:sp>
          <p:nvSpPr>
            <p:cNvPr id="229" name="TextBox 229"/>
            <p:cNvSpPr txBox="1"/>
            <p:nvPr/>
          </p:nvSpPr>
          <p:spPr>
            <a:xfrm>
              <a:off x="5500688" y="5168741"/>
              <a:ext cx="340690"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合规性</a:t>
              </a:r>
            </a:p>
          </p:txBody>
        </p:sp>
        <p:sp>
          <p:nvSpPr>
            <p:cNvPr id="230" name="TextBox 230"/>
            <p:cNvSpPr txBox="1"/>
            <p:nvPr/>
          </p:nvSpPr>
          <p:spPr>
            <a:xfrm>
              <a:off x="5499735" y="5326856"/>
              <a:ext cx="329926" cy="220028"/>
            </a:xfrm>
            <a:prstGeom prst="rect">
              <a:avLst/>
            </a:prstGeom>
            <a:noFill/>
            <a:ln>
              <a:noFill/>
            </a:ln>
          </p:spPr>
          <p:txBody>
            <a:bodyPr wrap="none" lIns="0" tIns="0" rIns="0" bIns="0" anchor="t" anchorCtr="0">
              <a:spAutoFit/>
            </a:bodyPr>
            <a:lstStyle/>
            <a:p>
              <a:pPr algn="l"/>
              <a:r>
                <a:rPr lang="zh-CN" sz="1120" b="1" dirty="0">
                  <a:solidFill>
                    <a:srgbClr val="C83210"/>
                  </a:solidFill>
                  <a:latin typeface="Arial"/>
                  <a:ea typeface="Microsoft YaHei"/>
                  <a:cs typeface="Arial"/>
                </a:rPr>
                <a:t>15分</a:t>
              </a:r>
            </a:p>
          </p:txBody>
        </p:sp>
        <p:sp>
          <p:nvSpPr>
            <p:cNvPr id="231" name="TextBox 231"/>
            <p:cNvSpPr txBox="1"/>
            <p:nvPr/>
          </p:nvSpPr>
          <p:spPr>
            <a:xfrm>
              <a:off x="5195888" y="566280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是否符合监管要求</a:t>
              </a:r>
            </a:p>
          </p:txBody>
        </p:sp>
        <p:sp>
          <p:nvSpPr>
            <p:cNvPr id="232" name="TextBox 232"/>
            <p:cNvSpPr txBox="1"/>
            <p:nvPr/>
          </p:nvSpPr>
          <p:spPr>
            <a:xfrm>
              <a:off x="5195888" y="583425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是否表述真实准确</a:t>
              </a:r>
            </a:p>
          </p:txBody>
        </p:sp>
        <p:sp>
          <p:nvSpPr>
            <p:cNvPr id="233" name="TextBox 233"/>
            <p:cNvSpPr txBox="1"/>
            <p:nvPr/>
          </p:nvSpPr>
          <p:spPr>
            <a:xfrm>
              <a:off x="5195888" y="6005703"/>
              <a:ext cx="796519" cy="130493"/>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60" dirty="0">
                  <a:solidFill>
                    <a:srgbClr val="3D3D3D"/>
                  </a:solidFill>
                  <a:latin typeface="+mn-lt"/>
                  <a:ea typeface="+mn-ea"/>
                  <a:cs typeface="+mn-cs"/>
                </a:rPr>
                <a:t>是否避免过度营销</a:t>
              </a:r>
            </a:p>
          </p:txBody>
        </p:sp>
      </p:grpSp>
      <p:grpSp>
        <p:nvGrpSpPr>
          <p:cNvPr id="270" name="rewrite-table"/>
          <p:cNvGrpSpPr/>
          <p:nvPr/>
        </p:nvGrpSpPr>
        <p:grpSpPr>
          <a:xfrm>
            <a:off x="6438900" y="4648200"/>
            <a:ext cx="5524500" cy="1949530"/>
            <a:chOff x="6438900" y="4648200"/>
            <a:chExt cx="5524500" cy="1949530"/>
          </a:xfrm>
        </p:grpSpPr>
        <p:sp>
          <p:nvSpPr>
            <p:cNvPr id="235" name="Rectangle 235"/>
            <p:cNvSpPr/>
            <p:nvPr/>
          </p:nvSpPr>
          <p:spPr>
            <a:xfrm>
              <a:off x="6438900" y="4648200"/>
              <a:ext cx="38100" cy="152400"/>
            </a:xfrm>
            <a:prstGeom prst="rect">
              <a:avLst/>
            </a:prstGeom>
            <a:solidFill>
              <a:srgbClr val="C83210"/>
            </a:solidFill>
            <a:ln>
              <a:noFill/>
            </a:ln>
          </p:spPr>
        </p:sp>
        <p:sp>
          <p:nvSpPr>
            <p:cNvPr id="236" name="TextBox 236"/>
            <p:cNvSpPr txBox="1"/>
            <p:nvPr/>
          </p:nvSpPr>
          <p:spPr>
            <a:xfrm>
              <a:off x="6529197" y="4666774"/>
              <a:ext cx="1724965"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典型内容改写：从硬广到服务</a:t>
              </a:r>
            </a:p>
          </p:txBody>
        </p:sp>
        <p:sp>
          <p:nvSpPr>
            <p:cNvPr id="237" name="Rectangle 237"/>
            <p:cNvSpPr/>
            <p:nvPr/>
          </p:nvSpPr>
          <p:spPr>
            <a:xfrm>
              <a:off x="6438900" y="4857750"/>
              <a:ext cx="5524500" cy="209550"/>
            </a:xfrm>
            <a:prstGeom prst="roundRect">
              <a:avLst>
                <a:gd name="adj" fmla="val 18182"/>
              </a:avLst>
            </a:prstGeom>
            <a:solidFill>
              <a:srgbClr val="FBE3E6"/>
            </a:solidFill>
            <a:ln>
              <a:noFill/>
            </a:ln>
          </p:spPr>
        </p:sp>
        <p:sp>
          <p:nvSpPr>
            <p:cNvPr id="238" name="TextBox 238"/>
            <p:cNvSpPr txBox="1"/>
            <p:nvPr/>
          </p:nvSpPr>
          <p:spPr>
            <a:xfrm>
              <a:off x="7290435" y="4919662"/>
              <a:ext cx="71628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原始硬广式内容</a:t>
              </a:r>
            </a:p>
          </p:txBody>
        </p:sp>
        <p:sp>
          <p:nvSpPr>
            <p:cNvPr id="239" name="TextBox 239"/>
            <p:cNvSpPr txBox="1"/>
            <p:nvPr/>
          </p:nvSpPr>
          <p:spPr>
            <a:xfrm>
              <a:off x="9542145" y="4919662"/>
              <a:ext cx="91821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优化后的服务式内容</a:t>
              </a:r>
            </a:p>
          </p:txBody>
        </p:sp>
        <p:sp>
          <p:nvSpPr>
            <p:cNvPr id="240" name="TextBox 240"/>
            <p:cNvSpPr txBox="1"/>
            <p:nvPr/>
          </p:nvSpPr>
          <p:spPr>
            <a:xfrm>
              <a:off x="11299508" y="4919662"/>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核心转变</a:t>
              </a:r>
            </a:p>
          </p:txBody>
        </p:sp>
        <p:sp>
          <p:nvSpPr>
            <p:cNvPr id="241" name="Line 241"/>
            <p:cNvSpPr/>
            <p:nvPr/>
          </p:nvSpPr>
          <p:spPr>
            <a:xfrm>
              <a:off x="6438900" y="5619750"/>
              <a:ext cx="5524500" cy="9525"/>
            </a:xfrm>
            <a:custGeom>
              <a:avLst/>
              <a:gdLst/>
              <a:ahLst/>
              <a:cxnLst/>
              <a:rect l="l" t="t" r="r" b="b"/>
              <a:pathLst>
                <a:path w="5524500" h="9525">
                  <a:moveTo>
                    <a:pt x="0" y="0"/>
                  </a:moveTo>
                  <a:lnTo>
                    <a:pt x="5524500" y="0"/>
                  </a:lnTo>
                </a:path>
              </a:pathLst>
            </a:custGeom>
            <a:noFill/>
            <a:ln w="9525">
              <a:solidFill>
                <a:srgbClr val="F1C7CC"/>
              </a:solidFill>
            </a:ln>
          </p:spPr>
        </p:sp>
        <p:sp>
          <p:nvSpPr>
            <p:cNvPr id="242" name="Line 242"/>
            <p:cNvSpPr/>
            <p:nvPr/>
          </p:nvSpPr>
          <p:spPr>
            <a:xfrm>
              <a:off x="6438900" y="6172200"/>
              <a:ext cx="5524500" cy="9525"/>
            </a:xfrm>
            <a:custGeom>
              <a:avLst/>
              <a:gdLst/>
              <a:ahLst/>
              <a:cxnLst/>
              <a:rect l="l" t="t" r="r" b="b"/>
              <a:pathLst>
                <a:path w="5524500" h="9525">
                  <a:moveTo>
                    <a:pt x="0" y="0"/>
                  </a:moveTo>
                  <a:lnTo>
                    <a:pt x="5524500" y="0"/>
                  </a:lnTo>
                </a:path>
              </a:pathLst>
            </a:custGeom>
            <a:noFill/>
            <a:ln w="9525">
              <a:solidFill>
                <a:srgbClr val="F1C7CC"/>
              </a:solidFill>
            </a:ln>
          </p:spPr>
        </p:sp>
        <p:sp>
          <p:nvSpPr>
            <p:cNvPr id="243" name="Ellipse 243"/>
            <p:cNvSpPr/>
            <p:nvPr/>
          </p:nvSpPr>
          <p:spPr>
            <a:xfrm>
              <a:off x="6496050" y="5257800"/>
              <a:ext cx="171450" cy="171450"/>
            </a:xfrm>
            <a:prstGeom prst="ellipse">
              <a:avLst/>
            </a:prstGeom>
            <a:solidFill>
              <a:srgbClr val="FDEFF1"/>
            </a:solidFill>
            <a:ln>
              <a:noFill/>
            </a:ln>
          </p:spPr>
        </p:sp>
        <p:sp>
          <p:nvSpPr>
            <p:cNvPr id="244" name="TextBox 244"/>
            <p:cNvSpPr txBox="1"/>
            <p:nvPr/>
          </p:nvSpPr>
          <p:spPr>
            <a:xfrm>
              <a:off x="6550432" y="5304711"/>
              <a:ext cx="62687"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Arial"/>
                  <a:ea typeface="Arial"/>
                  <a:cs typeface="Arial"/>
                </a:rPr>
                <a:t>1</a:t>
              </a:r>
            </a:p>
          </p:txBody>
        </p:sp>
        <p:sp>
          <p:nvSpPr>
            <p:cNvPr id="245" name="TextBox 245"/>
            <p:cNvSpPr txBox="1"/>
            <p:nvPr/>
          </p:nvSpPr>
          <p:spPr>
            <a:xfrm>
              <a:off x="6777038" y="5218986"/>
              <a:ext cx="77416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我行新客专享理财</a:t>
              </a:r>
            </a:p>
          </p:txBody>
        </p:sp>
        <p:sp>
          <p:nvSpPr>
            <p:cNvPr id="246" name="TextBox 246"/>
            <p:cNvSpPr txBox="1"/>
            <p:nvPr/>
          </p:nvSpPr>
          <p:spPr>
            <a:xfrm>
              <a:off x="6777038" y="5352336"/>
              <a:ext cx="1290300"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 xml:space="preserve">收益高达4.5%，快来购买！　</a:t>
              </a:r>
            </a:p>
          </p:txBody>
        </p:sp>
        <p:sp>
          <p:nvSpPr>
            <p:cNvPr id="247" name="Freeform 247"/>
            <p:cNvSpPr/>
            <p:nvPr/>
          </p:nvSpPr>
          <p:spPr>
            <a:xfrm>
              <a:off x="8629650" y="5238750"/>
              <a:ext cx="285750" cy="190500"/>
            </a:xfrm>
            <a:prstGeom prst="rightArrow">
              <a:avLst>
                <a:gd name="adj1" fmla="val 60000"/>
                <a:gd name="adj2" fmla="val 55000"/>
              </a:avLst>
            </a:prstGeom>
            <a:solidFill>
              <a:srgbClr val="E9826B"/>
            </a:solidFill>
            <a:ln>
              <a:noFill/>
            </a:ln>
          </p:spPr>
        </p:sp>
        <p:sp>
          <p:nvSpPr>
            <p:cNvPr id="248" name="TextBox 248"/>
            <p:cNvSpPr txBox="1"/>
            <p:nvPr/>
          </p:nvSpPr>
          <p:spPr>
            <a:xfrm>
              <a:off x="9005888" y="5218986"/>
              <a:ext cx="115648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新手如何做好第一笔理财？</a:t>
              </a:r>
            </a:p>
          </p:txBody>
        </p:sp>
        <p:sp>
          <p:nvSpPr>
            <p:cNvPr id="249" name="TextBox 249"/>
            <p:cNvSpPr txBox="1"/>
            <p:nvPr/>
          </p:nvSpPr>
          <p:spPr>
            <a:xfrm>
              <a:off x="9005888" y="5352336"/>
              <a:ext cx="159137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 xml:space="preserve">3个稳健配置建议，附新客专享攻略　</a:t>
              </a:r>
            </a:p>
          </p:txBody>
        </p:sp>
        <p:sp>
          <p:nvSpPr>
            <p:cNvPr id="250" name="TextBox 250"/>
            <p:cNvSpPr txBox="1"/>
            <p:nvPr/>
          </p:nvSpPr>
          <p:spPr>
            <a:xfrm>
              <a:off x="11101388" y="5223034"/>
              <a:ext cx="467233" cy="133350"/>
            </a:xfrm>
            <a:prstGeom prst="rect">
              <a:avLst/>
            </a:prstGeom>
            <a:noFill/>
            <a:ln>
              <a:noFill/>
            </a:ln>
          </p:spPr>
          <p:txBody>
            <a:bodyPr wrap="none" lIns="0" tIns="0" rIns="0" bIns="0" anchor="t" anchorCtr="0">
              <a:spAutoFit/>
            </a:bodyPr>
            <a:lstStyle/>
            <a:p>
              <a:pPr algn="l"/>
              <a:r>
                <a:rPr lang="zh-CN" sz="680" dirty="0">
                  <a:solidFill>
                    <a:srgbClr val="808080"/>
                  </a:solidFill>
                  <a:latin typeface="+mn-lt"/>
                  <a:ea typeface="+mn-ea"/>
                  <a:cs typeface="+mn-cs"/>
                </a:rPr>
                <a:t>从推销产品</a:t>
              </a:r>
            </a:p>
          </p:txBody>
        </p:sp>
        <p:sp>
          <p:nvSpPr>
            <p:cNvPr id="251" name="TextBox 251"/>
            <p:cNvSpPr txBox="1"/>
            <p:nvPr/>
          </p:nvSpPr>
          <p:spPr>
            <a:xfrm>
              <a:off x="11101388" y="5356384"/>
              <a:ext cx="741858" cy="133350"/>
            </a:xfrm>
            <a:prstGeom prst="rect">
              <a:avLst/>
            </a:prstGeom>
            <a:noFill/>
            <a:ln>
              <a:noFill/>
            </a:ln>
          </p:spPr>
          <p:txBody>
            <a:bodyPr wrap="none" lIns="0" tIns="0" rIns="0" bIns="0" anchor="t" anchorCtr="0">
              <a:spAutoFit/>
            </a:bodyPr>
            <a:lstStyle/>
            <a:p>
              <a:pPr algn="l"/>
              <a:r>
                <a:rPr lang="zh-CN" sz="680" dirty="0">
                  <a:solidFill>
                    <a:srgbClr val="808080"/>
                  </a:solidFill>
                  <a:latin typeface="+mn-lt"/>
                  <a:ea typeface="+mn-ea"/>
                  <a:cs typeface="+mn-cs"/>
                </a:rPr>
                <a:t>到提供方法与攻略</a:t>
              </a:r>
            </a:p>
          </p:txBody>
        </p:sp>
        <p:sp>
          <p:nvSpPr>
            <p:cNvPr id="252" name="Ellipse 252"/>
            <p:cNvSpPr/>
            <p:nvPr/>
          </p:nvSpPr>
          <p:spPr>
            <a:xfrm>
              <a:off x="6496050" y="5810250"/>
              <a:ext cx="171450" cy="171450"/>
            </a:xfrm>
            <a:prstGeom prst="ellipse">
              <a:avLst/>
            </a:prstGeom>
            <a:solidFill>
              <a:srgbClr val="FDEFF1"/>
            </a:solidFill>
            <a:ln>
              <a:noFill/>
            </a:ln>
          </p:spPr>
        </p:sp>
        <p:sp>
          <p:nvSpPr>
            <p:cNvPr id="253" name="TextBox 253"/>
            <p:cNvSpPr txBox="1"/>
            <p:nvPr/>
          </p:nvSpPr>
          <p:spPr>
            <a:xfrm>
              <a:off x="6550432" y="5857161"/>
              <a:ext cx="62687"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Arial"/>
                  <a:ea typeface="Arial"/>
                  <a:cs typeface="Arial"/>
                </a:rPr>
                <a:t>2</a:t>
              </a:r>
            </a:p>
          </p:txBody>
        </p:sp>
        <p:sp>
          <p:nvSpPr>
            <p:cNvPr id="254" name="TextBox 254"/>
            <p:cNvSpPr txBox="1"/>
            <p:nvPr/>
          </p:nvSpPr>
          <p:spPr>
            <a:xfrm>
              <a:off x="6777038" y="5771436"/>
              <a:ext cx="77416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信用卡额度提升，</a:t>
              </a:r>
            </a:p>
          </p:txBody>
        </p:sp>
        <p:sp>
          <p:nvSpPr>
            <p:cNvPr id="255" name="TextBox 255"/>
            <p:cNvSpPr txBox="1"/>
            <p:nvPr/>
          </p:nvSpPr>
          <p:spPr>
            <a:xfrm>
              <a:off x="6777038" y="5904786"/>
              <a:ext cx="106090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现你申请，立享高额度！</a:t>
              </a:r>
            </a:p>
          </p:txBody>
        </p:sp>
        <p:sp>
          <p:nvSpPr>
            <p:cNvPr id="256" name="Freeform 256"/>
            <p:cNvSpPr/>
            <p:nvPr/>
          </p:nvSpPr>
          <p:spPr>
            <a:xfrm>
              <a:off x="8629650" y="5791200"/>
              <a:ext cx="285750" cy="190500"/>
            </a:xfrm>
            <a:prstGeom prst="rightArrow">
              <a:avLst>
                <a:gd name="adj1" fmla="val 60000"/>
                <a:gd name="adj2" fmla="val 55000"/>
              </a:avLst>
            </a:prstGeom>
            <a:solidFill>
              <a:srgbClr val="E9826B"/>
            </a:solidFill>
            <a:ln>
              <a:noFill/>
            </a:ln>
          </p:spPr>
        </p:sp>
        <p:sp>
          <p:nvSpPr>
            <p:cNvPr id="257" name="TextBox 257"/>
            <p:cNvSpPr txBox="1"/>
            <p:nvPr/>
          </p:nvSpPr>
          <p:spPr>
            <a:xfrm>
              <a:off x="9005888" y="5771436"/>
              <a:ext cx="115648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信用卡额度怎么用更划算？</a:t>
              </a:r>
            </a:p>
          </p:txBody>
        </p:sp>
        <p:sp>
          <p:nvSpPr>
            <p:cNvPr id="258" name="TextBox 258"/>
            <p:cNvSpPr txBox="1"/>
            <p:nvPr/>
          </p:nvSpPr>
          <p:spPr>
            <a:xfrm>
              <a:off x="9005888" y="5904786"/>
              <a:ext cx="1686958"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 xml:space="preserve">教你3个提额小技巧，合理规划更安心　</a:t>
              </a:r>
            </a:p>
          </p:txBody>
        </p:sp>
        <p:sp>
          <p:nvSpPr>
            <p:cNvPr id="259" name="TextBox 259"/>
            <p:cNvSpPr txBox="1"/>
            <p:nvPr/>
          </p:nvSpPr>
          <p:spPr>
            <a:xfrm>
              <a:off x="11101388" y="5775484"/>
              <a:ext cx="467233" cy="133350"/>
            </a:xfrm>
            <a:prstGeom prst="rect">
              <a:avLst/>
            </a:prstGeom>
            <a:noFill/>
            <a:ln>
              <a:noFill/>
            </a:ln>
          </p:spPr>
          <p:txBody>
            <a:bodyPr wrap="none" lIns="0" tIns="0" rIns="0" bIns="0" anchor="t" anchorCtr="0">
              <a:spAutoFit/>
            </a:bodyPr>
            <a:lstStyle/>
            <a:p>
              <a:pPr algn="l"/>
              <a:r>
                <a:rPr lang="zh-CN" sz="680" dirty="0">
                  <a:solidFill>
                    <a:srgbClr val="808080"/>
                  </a:solidFill>
                  <a:latin typeface="+mn-lt"/>
                  <a:ea typeface="+mn-ea"/>
                  <a:cs typeface="+mn-cs"/>
                </a:rPr>
                <a:t>从强调额度</a:t>
              </a:r>
            </a:p>
          </p:txBody>
        </p:sp>
        <p:sp>
          <p:nvSpPr>
            <p:cNvPr id="260" name="TextBox 260"/>
            <p:cNvSpPr txBox="1"/>
            <p:nvPr/>
          </p:nvSpPr>
          <p:spPr>
            <a:xfrm>
              <a:off x="11101388" y="5908834"/>
              <a:ext cx="650316" cy="133350"/>
            </a:xfrm>
            <a:prstGeom prst="rect">
              <a:avLst/>
            </a:prstGeom>
            <a:noFill/>
            <a:ln>
              <a:noFill/>
            </a:ln>
          </p:spPr>
          <p:txBody>
            <a:bodyPr wrap="none" lIns="0" tIns="0" rIns="0" bIns="0" anchor="t" anchorCtr="0">
              <a:spAutoFit/>
            </a:bodyPr>
            <a:lstStyle/>
            <a:p>
              <a:pPr algn="l"/>
              <a:r>
                <a:rPr lang="zh-CN" sz="680" dirty="0">
                  <a:solidFill>
                    <a:srgbClr val="808080"/>
                  </a:solidFill>
                  <a:latin typeface="+mn-lt"/>
                  <a:ea typeface="+mn-ea"/>
                  <a:cs typeface="+mn-cs"/>
                </a:rPr>
                <a:t>到解决使用问题</a:t>
              </a:r>
            </a:p>
          </p:txBody>
        </p:sp>
        <p:sp>
          <p:nvSpPr>
            <p:cNvPr id="261" name="Ellipse 261"/>
            <p:cNvSpPr/>
            <p:nvPr/>
          </p:nvSpPr>
          <p:spPr>
            <a:xfrm>
              <a:off x="6496050" y="6362700"/>
              <a:ext cx="171450" cy="171450"/>
            </a:xfrm>
            <a:prstGeom prst="ellipse">
              <a:avLst/>
            </a:prstGeom>
            <a:solidFill>
              <a:srgbClr val="FDEFF1"/>
            </a:solidFill>
            <a:ln>
              <a:noFill/>
            </a:ln>
          </p:spPr>
        </p:sp>
        <p:sp>
          <p:nvSpPr>
            <p:cNvPr id="262" name="TextBox 262"/>
            <p:cNvSpPr txBox="1"/>
            <p:nvPr/>
          </p:nvSpPr>
          <p:spPr>
            <a:xfrm>
              <a:off x="6550432" y="6409611"/>
              <a:ext cx="62687"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Arial"/>
                  <a:ea typeface="Arial"/>
                  <a:cs typeface="Arial"/>
                </a:rPr>
                <a:t>3</a:t>
              </a:r>
            </a:p>
          </p:txBody>
        </p:sp>
        <p:sp>
          <p:nvSpPr>
            <p:cNvPr id="263" name="TextBox 263"/>
            <p:cNvSpPr txBox="1"/>
            <p:nvPr/>
          </p:nvSpPr>
          <p:spPr>
            <a:xfrm>
              <a:off x="6777038" y="6323886"/>
              <a:ext cx="106090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贷款利率低，限时优惠，</a:t>
              </a:r>
            </a:p>
          </p:txBody>
        </p:sp>
        <p:sp>
          <p:nvSpPr>
            <p:cNvPr id="264" name="TextBox 264"/>
            <p:cNvSpPr txBox="1"/>
            <p:nvPr/>
          </p:nvSpPr>
          <p:spPr>
            <a:xfrm>
              <a:off x="6777038" y="6457236"/>
              <a:ext cx="48742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赶快办理！</a:t>
              </a:r>
            </a:p>
          </p:txBody>
        </p:sp>
        <p:sp>
          <p:nvSpPr>
            <p:cNvPr id="265" name="Freeform 265"/>
            <p:cNvSpPr/>
            <p:nvPr/>
          </p:nvSpPr>
          <p:spPr>
            <a:xfrm>
              <a:off x="8629650" y="6343650"/>
              <a:ext cx="285750" cy="190500"/>
            </a:xfrm>
            <a:prstGeom prst="rightArrow">
              <a:avLst>
                <a:gd name="adj1" fmla="val 60000"/>
                <a:gd name="adj2" fmla="val 55000"/>
              </a:avLst>
            </a:prstGeom>
            <a:solidFill>
              <a:srgbClr val="E9826B"/>
            </a:solidFill>
            <a:ln>
              <a:noFill/>
            </a:ln>
          </p:spPr>
        </p:sp>
        <p:sp>
          <p:nvSpPr>
            <p:cNvPr id="266" name="TextBox 266"/>
            <p:cNvSpPr txBox="1"/>
            <p:nvPr/>
          </p:nvSpPr>
          <p:spPr>
            <a:xfrm>
              <a:off x="9005888" y="6323886"/>
              <a:ext cx="1357206"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买房、装修、教育……不同场景下</a:t>
              </a:r>
            </a:p>
          </p:txBody>
        </p:sp>
        <p:sp>
          <p:nvSpPr>
            <p:cNvPr id="267" name="TextBox 267"/>
            <p:cNvSpPr txBox="1"/>
            <p:nvPr/>
          </p:nvSpPr>
          <p:spPr>
            <a:xfrm>
              <a:off x="9005888" y="6457236"/>
              <a:ext cx="1156487" cy="140494"/>
            </a:xfrm>
            <a:prstGeom prst="rect">
              <a:avLst/>
            </a:prstGeom>
            <a:noFill/>
            <a:ln>
              <a:noFill/>
            </a:ln>
          </p:spPr>
          <p:txBody>
            <a:bodyPr wrap="none" lIns="0" tIns="0" rIns="0" bIns="0" anchor="t" anchorCtr="0">
              <a:spAutoFit/>
            </a:bodyPr>
            <a:lstStyle/>
            <a:p>
              <a:pPr algn="l"/>
              <a:r>
                <a:rPr lang="zh-CN" sz="710" dirty="0">
                  <a:solidFill>
                    <a:srgbClr val="3D3D3D"/>
                  </a:solidFill>
                  <a:latin typeface="+mn-lt"/>
                  <a:ea typeface="+mn-ea"/>
                  <a:cs typeface="+mn-cs"/>
                </a:rPr>
                <a:t>如何选择合适的贷款方案？</a:t>
              </a:r>
            </a:p>
          </p:txBody>
        </p:sp>
        <p:sp>
          <p:nvSpPr>
            <p:cNvPr id="268" name="TextBox 268"/>
            <p:cNvSpPr txBox="1"/>
            <p:nvPr/>
          </p:nvSpPr>
          <p:spPr>
            <a:xfrm>
              <a:off x="11101388" y="6327934"/>
              <a:ext cx="558775" cy="133350"/>
            </a:xfrm>
            <a:prstGeom prst="rect">
              <a:avLst/>
            </a:prstGeom>
            <a:noFill/>
            <a:ln>
              <a:noFill/>
            </a:ln>
          </p:spPr>
          <p:txBody>
            <a:bodyPr wrap="none" lIns="0" tIns="0" rIns="0" bIns="0" anchor="t" anchorCtr="0">
              <a:spAutoFit/>
            </a:bodyPr>
            <a:lstStyle/>
            <a:p>
              <a:pPr algn="l"/>
              <a:r>
                <a:rPr lang="zh-CN" sz="680" dirty="0">
                  <a:solidFill>
                    <a:srgbClr val="808080"/>
                  </a:solidFill>
                  <a:latin typeface="+mn-lt"/>
                  <a:ea typeface="+mn-ea"/>
                  <a:cs typeface="+mn-cs"/>
                </a:rPr>
                <a:t>从制造紧迫感</a:t>
              </a:r>
            </a:p>
          </p:txBody>
        </p:sp>
        <p:sp>
          <p:nvSpPr>
            <p:cNvPr id="269" name="TextBox 269"/>
            <p:cNvSpPr txBox="1"/>
            <p:nvPr/>
          </p:nvSpPr>
          <p:spPr>
            <a:xfrm>
              <a:off x="11101388" y="6461284"/>
              <a:ext cx="650316" cy="133350"/>
            </a:xfrm>
            <a:prstGeom prst="rect">
              <a:avLst/>
            </a:prstGeom>
            <a:noFill/>
            <a:ln>
              <a:noFill/>
            </a:ln>
          </p:spPr>
          <p:txBody>
            <a:bodyPr wrap="none" lIns="0" tIns="0" rIns="0" bIns="0" anchor="t" anchorCtr="0">
              <a:spAutoFit/>
            </a:bodyPr>
            <a:lstStyle/>
            <a:p>
              <a:pPr algn="l"/>
              <a:r>
                <a:rPr lang="zh-CN" sz="680" dirty="0">
                  <a:solidFill>
                    <a:srgbClr val="808080"/>
                  </a:solidFill>
                  <a:latin typeface="+mn-lt"/>
                  <a:ea typeface="+mn-ea"/>
                  <a:cs typeface="+mn-cs"/>
                </a:rPr>
                <a:t>到提供决策参考</a:t>
              </a:r>
            </a:p>
          </p:txBody>
        </p:sp>
      </p:gr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08</a:t>
              </a:r>
            </a:p>
          </p:txBody>
        </p:sp>
        <p:sp>
          <p:nvSpPr>
            <p:cNvPr id="4" name="TextBox 4"/>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内容矩阵</a:t>
              </a:r>
              <a:r>
                <a:rPr lang="zh-CN" sz="1950" b="1" dirty="0">
                  <a:solidFill>
                    <a:srgbClr val="222222"/>
                  </a:solidFill>
                  <a:latin typeface="SimSun"/>
                  <a:ea typeface="SimSun"/>
                  <a:cs typeface="SimSun"/>
                </a:rPr>
                <a:t>｜六类客群需要六套长期内容栏目</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148" name="crowd-table"/>
          <p:cNvGrpSpPr/>
          <p:nvPr/>
        </p:nvGrpSpPr>
        <p:grpSpPr>
          <a:xfrm>
            <a:off x="133350" y="628650"/>
            <a:ext cx="5867400" cy="3143488"/>
            <a:chOff x="133350" y="628650"/>
            <a:chExt cx="5867400" cy="3143488"/>
          </a:xfrm>
        </p:grpSpPr>
        <p:sp>
          <p:nvSpPr>
            <p:cNvPr id="7" name="Rectangle 7"/>
            <p:cNvSpPr/>
            <p:nvPr/>
          </p:nvSpPr>
          <p:spPr>
            <a:xfrm>
              <a:off x="133350" y="628650"/>
              <a:ext cx="5867400" cy="266700"/>
            </a:xfrm>
            <a:prstGeom prst="rect">
              <a:avLst/>
            </a:prstGeom>
            <a:solidFill>
              <a:srgbClr val="C83210"/>
            </a:solidFill>
            <a:ln>
              <a:noFill/>
            </a:ln>
          </p:spPr>
        </p:sp>
        <p:sp>
          <p:nvSpPr>
            <p:cNvPr id="8" name="TextBox 8"/>
            <p:cNvSpPr txBox="1"/>
            <p:nvPr/>
          </p:nvSpPr>
          <p:spPr>
            <a:xfrm>
              <a:off x="223838" y="719138"/>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客群类型</a:t>
              </a:r>
            </a:p>
          </p:txBody>
        </p:sp>
        <p:sp>
          <p:nvSpPr>
            <p:cNvPr id="9" name="TextBox 9"/>
            <p:cNvSpPr txBox="1"/>
            <p:nvPr/>
          </p:nvSpPr>
          <p:spPr>
            <a:xfrm>
              <a:off x="1214438" y="719138"/>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核心需求</a:t>
              </a:r>
            </a:p>
          </p:txBody>
        </p:sp>
        <p:sp>
          <p:nvSpPr>
            <p:cNvPr id="10" name="TextBox 10"/>
            <p:cNvSpPr txBox="1"/>
            <p:nvPr/>
          </p:nvSpPr>
          <p:spPr>
            <a:xfrm>
              <a:off x="1785938" y="719138"/>
              <a:ext cx="81724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固定栏目（长期）</a:t>
              </a:r>
            </a:p>
          </p:txBody>
        </p:sp>
        <p:sp>
          <p:nvSpPr>
            <p:cNvPr id="11" name="TextBox 11"/>
            <p:cNvSpPr txBox="1"/>
            <p:nvPr/>
          </p:nvSpPr>
          <p:spPr>
            <a:xfrm>
              <a:off x="2776538" y="719138"/>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内容形式</a:t>
              </a:r>
            </a:p>
          </p:txBody>
        </p:sp>
        <p:sp>
          <p:nvSpPr>
            <p:cNvPr id="12" name="TextBox 12"/>
            <p:cNvSpPr txBox="1"/>
            <p:nvPr/>
          </p:nvSpPr>
          <p:spPr>
            <a:xfrm>
              <a:off x="3405188" y="719138"/>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推荐频率</a:t>
              </a:r>
            </a:p>
          </p:txBody>
        </p:sp>
        <p:sp>
          <p:nvSpPr>
            <p:cNvPr id="13" name="TextBox 13"/>
            <p:cNvSpPr txBox="1"/>
            <p:nvPr/>
          </p:nvSpPr>
          <p:spPr>
            <a:xfrm>
              <a:off x="3938588" y="719138"/>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适配产品</a:t>
              </a:r>
            </a:p>
          </p:txBody>
        </p:sp>
        <p:sp>
          <p:nvSpPr>
            <p:cNvPr id="14" name="TextBox 14"/>
            <p:cNvSpPr txBox="1"/>
            <p:nvPr/>
          </p:nvSpPr>
          <p:spPr>
            <a:xfrm>
              <a:off x="5005388" y="719138"/>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行为信号</a:t>
              </a:r>
            </a:p>
          </p:txBody>
        </p:sp>
        <p:sp>
          <p:nvSpPr>
            <p:cNvPr id="15" name="Rectangle 15"/>
            <p:cNvSpPr/>
            <p:nvPr/>
          </p:nvSpPr>
          <p:spPr>
            <a:xfrm>
              <a:off x="133350" y="1371600"/>
              <a:ext cx="5867400" cy="476250"/>
            </a:xfrm>
            <a:prstGeom prst="rect">
              <a:avLst/>
            </a:prstGeom>
            <a:solidFill>
              <a:srgbClr val="FDEFF1"/>
            </a:solidFill>
            <a:ln>
              <a:noFill/>
            </a:ln>
          </p:spPr>
        </p:sp>
        <p:sp>
          <p:nvSpPr>
            <p:cNvPr id="16" name="Rectangle 16"/>
            <p:cNvSpPr/>
            <p:nvPr/>
          </p:nvSpPr>
          <p:spPr>
            <a:xfrm>
              <a:off x="133350" y="2324100"/>
              <a:ext cx="5867400" cy="476250"/>
            </a:xfrm>
            <a:prstGeom prst="rect">
              <a:avLst/>
            </a:prstGeom>
            <a:solidFill>
              <a:srgbClr val="FDEFF1"/>
            </a:solidFill>
            <a:ln>
              <a:noFill/>
            </a:ln>
          </p:spPr>
        </p:sp>
        <p:sp>
          <p:nvSpPr>
            <p:cNvPr id="17" name="Rectangle 17"/>
            <p:cNvSpPr/>
            <p:nvPr/>
          </p:nvSpPr>
          <p:spPr>
            <a:xfrm>
              <a:off x="133350" y="3276600"/>
              <a:ext cx="5867400" cy="476250"/>
            </a:xfrm>
            <a:prstGeom prst="rect">
              <a:avLst/>
            </a:prstGeom>
            <a:solidFill>
              <a:srgbClr val="FDEFF1"/>
            </a:solidFill>
            <a:ln>
              <a:noFill/>
            </a:ln>
          </p:spPr>
        </p:sp>
        <p:grpSp>
          <p:nvGrpSpPr>
            <p:cNvPr id="22" name="Group 22"/>
            <p:cNvGrpSpPr/>
            <p:nvPr/>
          </p:nvGrpSpPr>
          <p:grpSpPr>
            <a:xfrm>
              <a:off x="271462" y="1052512"/>
              <a:ext cx="142875" cy="134937"/>
              <a:chOff x="271462" y="1052512"/>
              <a:chExt cx="142875" cy="134937"/>
            </a:xfrm>
          </p:grpSpPr>
          <p:sp>
            <p:nvSpPr>
              <p:cNvPr id="18" name="Freeform 18"/>
              <p:cNvSpPr/>
              <p:nvPr/>
            </p:nvSpPr>
            <p:spPr>
              <a:xfrm>
                <a:off x="271462" y="1084262"/>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C83210"/>
                </a:solidFill>
              </a:ln>
            </p:spPr>
          </p:sp>
          <p:sp>
            <p:nvSpPr>
              <p:cNvPr id="19" name="Freeform 19"/>
              <p:cNvSpPr/>
              <p:nvPr/>
            </p:nvSpPr>
            <p:spPr>
              <a:xfrm>
                <a:off x="311150" y="1052512"/>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C83210"/>
                </a:solidFill>
              </a:ln>
            </p:spPr>
          </p:sp>
          <p:sp>
            <p:nvSpPr>
              <p:cNvPr id="20" name="Freeform 20"/>
              <p:cNvSpPr/>
              <p:nvPr/>
            </p:nvSpPr>
            <p:spPr>
              <a:xfrm>
                <a:off x="342900" y="1123950"/>
                <a:ext cx="9525" cy="9525"/>
              </a:xfrm>
              <a:custGeom>
                <a:avLst/>
                <a:gdLst/>
                <a:ahLst/>
                <a:cxnLst/>
                <a:rect l="l" t="t" r="r" b="b"/>
                <a:pathLst>
                  <a:path w="9525" h="9525">
                    <a:moveTo>
                      <a:pt x="0" y="0"/>
                    </a:moveTo>
                    <a:lnTo>
                      <a:pt x="0" y="79"/>
                    </a:lnTo>
                  </a:path>
                </a:pathLst>
              </a:custGeom>
              <a:noFill/>
              <a:ln w="15875">
                <a:solidFill>
                  <a:srgbClr val="C83210"/>
                </a:solidFill>
              </a:ln>
            </p:spPr>
          </p:sp>
          <p:sp>
            <p:nvSpPr>
              <p:cNvPr id="21" name="Freeform 21"/>
              <p:cNvSpPr/>
              <p:nvPr/>
            </p:nvSpPr>
            <p:spPr>
              <a:xfrm>
                <a:off x="271462" y="1131887"/>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C83210"/>
                </a:solidFill>
              </a:ln>
            </p:spPr>
          </p:sp>
        </p:grpSp>
        <p:sp>
          <p:nvSpPr>
            <p:cNvPr id="23" name="TextBox 23"/>
            <p:cNvSpPr txBox="1"/>
            <p:nvPr/>
          </p:nvSpPr>
          <p:spPr>
            <a:xfrm>
              <a:off x="509588" y="1090612"/>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工资客群</a:t>
              </a:r>
            </a:p>
          </p:txBody>
        </p:sp>
        <p:sp>
          <p:nvSpPr>
            <p:cNvPr id="24" name="TextBox 24"/>
            <p:cNvSpPr txBox="1"/>
            <p:nvPr/>
          </p:nvSpPr>
          <p:spPr>
            <a:xfrm>
              <a:off x="1214438" y="10360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稳定收支</a:t>
              </a:r>
            </a:p>
          </p:txBody>
        </p:sp>
        <p:sp>
          <p:nvSpPr>
            <p:cNvPr id="25" name="TextBox 25"/>
            <p:cNvSpPr txBox="1"/>
            <p:nvPr/>
          </p:nvSpPr>
          <p:spPr>
            <a:xfrm>
              <a:off x="1214438" y="11884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便捷理财</a:t>
              </a:r>
            </a:p>
          </p:txBody>
        </p:sp>
        <p:sp>
          <p:nvSpPr>
            <p:cNvPr id="26" name="TextBox 26"/>
            <p:cNvSpPr txBox="1"/>
            <p:nvPr/>
          </p:nvSpPr>
          <p:spPr>
            <a:xfrm>
              <a:off x="1785938" y="9979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工资理财课</a:t>
              </a:r>
            </a:p>
          </p:txBody>
        </p:sp>
        <p:sp>
          <p:nvSpPr>
            <p:cNvPr id="27" name="TextBox 27"/>
            <p:cNvSpPr txBox="1"/>
            <p:nvPr/>
          </p:nvSpPr>
          <p:spPr>
            <a:xfrm>
              <a:off x="1785938" y="1131332"/>
              <a:ext cx="52646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月度账单解读</a:t>
              </a:r>
            </a:p>
          </p:txBody>
        </p:sp>
        <p:sp>
          <p:nvSpPr>
            <p:cNvPr id="28" name="TextBox 28"/>
            <p:cNvSpPr txBox="1"/>
            <p:nvPr/>
          </p:nvSpPr>
          <p:spPr>
            <a:xfrm>
              <a:off x="1785938" y="12646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福利权益站</a:t>
              </a:r>
            </a:p>
          </p:txBody>
        </p:sp>
        <p:sp>
          <p:nvSpPr>
            <p:cNvPr id="29" name="TextBox 29"/>
            <p:cNvSpPr txBox="1"/>
            <p:nvPr/>
          </p:nvSpPr>
          <p:spPr>
            <a:xfrm>
              <a:off x="2776538" y="1064657"/>
              <a:ext cx="5738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图文/短视频　</a:t>
              </a:r>
            </a:p>
          </p:txBody>
        </p:sp>
        <p:sp>
          <p:nvSpPr>
            <p:cNvPr id="30" name="TextBox 30"/>
            <p:cNvSpPr txBox="1"/>
            <p:nvPr/>
          </p:nvSpPr>
          <p:spPr>
            <a:xfrm>
              <a:off x="2776538" y="1198007"/>
              <a:ext cx="40153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海报/活动</a:t>
              </a:r>
            </a:p>
          </p:txBody>
        </p:sp>
        <p:sp>
          <p:nvSpPr>
            <p:cNvPr id="31" name="TextBox 31"/>
            <p:cNvSpPr txBox="1"/>
            <p:nvPr/>
          </p:nvSpPr>
          <p:spPr>
            <a:xfrm>
              <a:off x="3405188" y="1131332"/>
              <a:ext cx="457540"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3-4次/周　</a:t>
              </a:r>
            </a:p>
          </p:txBody>
        </p:sp>
        <p:sp>
          <p:nvSpPr>
            <p:cNvPr id="32" name="TextBox 32"/>
            <p:cNvSpPr txBox="1"/>
            <p:nvPr/>
          </p:nvSpPr>
          <p:spPr>
            <a:xfrm>
              <a:off x="3938588" y="9979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代发工资</a:t>
              </a:r>
            </a:p>
          </p:txBody>
        </p:sp>
        <p:sp>
          <p:nvSpPr>
            <p:cNvPr id="33" name="TextBox 33"/>
            <p:cNvSpPr txBox="1"/>
            <p:nvPr/>
          </p:nvSpPr>
          <p:spPr>
            <a:xfrm>
              <a:off x="3938588" y="1131332"/>
              <a:ext cx="62123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活期+/信用卡　</a:t>
              </a:r>
            </a:p>
          </p:txBody>
        </p:sp>
        <p:sp>
          <p:nvSpPr>
            <p:cNvPr id="34" name="TextBox 34"/>
            <p:cNvSpPr txBox="1"/>
            <p:nvPr/>
          </p:nvSpPr>
          <p:spPr>
            <a:xfrm>
              <a:off x="3938588" y="12646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消费分期</a:t>
              </a:r>
            </a:p>
          </p:txBody>
        </p:sp>
        <p:sp>
          <p:nvSpPr>
            <p:cNvPr id="35" name="TextBox 35"/>
            <p:cNvSpPr txBox="1"/>
            <p:nvPr/>
          </p:nvSpPr>
          <p:spPr>
            <a:xfrm>
              <a:off x="5005388" y="9979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工资入账</a:t>
              </a:r>
            </a:p>
          </p:txBody>
        </p:sp>
        <p:sp>
          <p:nvSpPr>
            <p:cNvPr id="36" name="TextBox 36"/>
            <p:cNvSpPr txBox="1"/>
            <p:nvPr/>
          </p:nvSpPr>
          <p:spPr>
            <a:xfrm>
              <a:off x="5005388" y="1131332"/>
              <a:ext cx="332044"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APP登录</a:t>
              </a:r>
            </a:p>
          </p:txBody>
        </p:sp>
        <p:sp>
          <p:nvSpPr>
            <p:cNvPr id="37" name="TextBox 37"/>
            <p:cNvSpPr txBox="1"/>
            <p:nvPr/>
          </p:nvSpPr>
          <p:spPr>
            <a:xfrm>
              <a:off x="5005388" y="12646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活用消费</a:t>
              </a:r>
            </a:p>
          </p:txBody>
        </p:sp>
        <p:grpSp>
          <p:nvGrpSpPr>
            <p:cNvPr id="40" name="Group 40"/>
            <p:cNvGrpSpPr/>
            <p:nvPr/>
          </p:nvGrpSpPr>
          <p:grpSpPr>
            <a:xfrm>
              <a:off x="263525" y="1544637"/>
              <a:ext cx="158750" cy="111125"/>
              <a:chOff x="263525" y="1544637"/>
              <a:chExt cx="158750" cy="111125"/>
            </a:xfrm>
          </p:grpSpPr>
          <p:sp>
            <p:nvSpPr>
              <p:cNvPr id="38" name="Freeform 38"/>
              <p:cNvSpPr/>
              <p:nvPr/>
            </p:nvSpPr>
            <p:spPr>
              <a:xfrm>
                <a:off x="263525" y="1544637"/>
                <a:ext cx="158750" cy="79375"/>
              </a:xfrm>
              <a:custGeom>
                <a:avLst/>
                <a:gdLst/>
                <a:ahLst/>
                <a:cxnLst/>
                <a:rect l="l" t="t" r="r" b="b"/>
                <a:pathLst>
                  <a:path w="158750" h="79375">
                    <a:moveTo>
                      <a:pt x="158750" y="31750"/>
                    </a:moveTo>
                    <a:lnTo>
                      <a:pt x="79375" y="0"/>
                    </a:lnTo>
                    <a:lnTo>
                      <a:pt x="0" y="31750"/>
                    </a:lnTo>
                    <a:lnTo>
                      <a:pt x="79375" y="63500"/>
                    </a:lnTo>
                    <a:lnTo>
                      <a:pt x="158750" y="31750"/>
                    </a:lnTo>
                    <a:lnTo>
                      <a:pt x="158750" y="79375"/>
                    </a:lnTo>
                  </a:path>
                </a:pathLst>
              </a:custGeom>
              <a:noFill/>
              <a:ln w="15875">
                <a:solidFill>
                  <a:srgbClr val="C83210"/>
                </a:solidFill>
              </a:ln>
            </p:spPr>
          </p:sp>
          <p:sp>
            <p:nvSpPr>
              <p:cNvPr id="39" name="Freeform 39"/>
              <p:cNvSpPr/>
              <p:nvPr/>
            </p:nvSpPr>
            <p:spPr>
              <a:xfrm>
                <a:off x="295275" y="1589087"/>
                <a:ext cx="95250" cy="66675"/>
              </a:xfrm>
              <a:custGeom>
                <a:avLst/>
                <a:gdLst/>
                <a:ahLst/>
                <a:cxnLst/>
                <a:rect l="l" t="t" r="r" b="b"/>
                <a:pathLst>
                  <a:path w="95250" h="66675">
                    <a:moveTo>
                      <a:pt x="0" y="0"/>
                    </a:moveTo>
                    <a:lnTo>
                      <a:pt x="0" y="42862"/>
                    </a:lnTo>
                    <a:cubicBezTo>
                      <a:pt x="0" y="56014"/>
                      <a:pt x="21322" y="66675"/>
                      <a:pt x="47625" y="66675"/>
                    </a:cubicBezTo>
                    <a:cubicBezTo>
                      <a:pt x="73928" y="66675"/>
                      <a:pt x="95250" y="56014"/>
                      <a:pt x="95250" y="42862"/>
                    </a:cubicBezTo>
                    <a:lnTo>
                      <a:pt x="95250" y="0"/>
                    </a:lnTo>
                  </a:path>
                </a:pathLst>
              </a:custGeom>
              <a:noFill/>
              <a:ln w="15875">
                <a:solidFill>
                  <a:srgbClr val="C83210"/>
                </a:solidFill>
              </a:ln>
            </p:spPr>
          </p:sp>
        </p:grpSp>
        <p:sp>
          <p:nvSpPr>
            <p:cNvPr id="41" name="TextBox 41"/>
            <p:cNvSpPr txBox="1"/>
            <p:nvPr/>
          </p:nvSpPr>
          <p:spPr>
            <a:xfrm>
              <a:off x="509588" y="1566862"/>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年轻客群</a:t>
              </a:r>
            </a:p>
          </p:txBody>
        </p:sp>
        <p:sp>
          <p:nvSpPr>
            <p:cNvPr id="42" name="TextBox 42"/>
            <p:cNvSpPr txBox="1"/>
            <p:nvPr/>
          </p:nvSpPr>
          <p:spPr>
            <a:xfrm>
              <a:off x="1214438" y="15123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品质生活</a:t>
              </a:r>
            </a:p>
          </p:txBody>
        </p:sp>
        <p:sp>
          <p:nvSpPr>
            <p:cNvPr id="43" name="TextBox 43"/>
            <p:cNvSpPr txBox="1"/>
            <p:nvPr/>
          </p:nvSpPr>
          <p:spPr>
            <a:xfrm>
              <a:off x="1214438" y="16647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自我提升</a:t>
              </a:r>
            </a:p>
          </p:txBody>
        </p:sp>
        <p:sp>
          <p:nvSpPr>
            <p:cNvPr id="44" name="TextBox 44"/>
            <p:cNvSpPr txBox="1"/>
            <p:nvPr/>
          </p:nvSpPr>
          <p:spPr>
            <a:xfrm>
              <a:off x="1785938" y="14742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青春理财社</a:t>
              </a:r>
            </a:p>
          </p:txBody>
        </p:sp>
        <p:sp>
          <p:nvSpPr>
            <p:cNvPr id="45" name="TextBox 45"/>
            <p:cNvSpPr txBox="1"/>
            <p:nvPr/>
          </p:nvSpPr>
          <p:spPr>
            <a:xfrm>
              <a:off x="1785938" y="16075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生活灵感站</a:t>
              </a:r>
            </a:p>
          </p:txBody>
        </p:sp>
        <p:sp>
          <p:nvSpPr>
            <p:cNvPr id="46" name="TextBox 46"/>
            <p:cNvSpPr txBox="1"/>
            <p:nvPr/>
          </p:nvSpPr>
          <p:spPr>
            <a:xfrm>
              <a:off x="1785938" y="17409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校园成长营</a:t>
              </a:r>
            </a:p>
          </p:txBody>
        </p:sp>
        <p:sp>
          <p:nvSpPr>
            <p:cNvPr id="47" name="TextBox 47"/>
            <p:cNvSpPr txBox="1"/>
            <p:nvPr/>
          </p:nvSpPr>
          <p:spPr>
            <a:xfrm>
              <a:off x="2776538" y="1540907"/>
              <a:ext cx="5738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短视频/图文　</a:t>
              </a:r>
            </a:p>
          </p:txBody>
        </p:sp>
        <p:sp>
          <p:nvSpPr>
            <p:cNvPr id="48" name="TextBox 48"/>
            <p:cNvSpPr txBox="1"/>
            <p:nvPr/>
          </p:nvSpPr>
          <p:spPr>
            <a:xfrm>
              <a:off x="2776538" y="1674257"/>
              <a:ext cx="40153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海报/直播</a:t>
              </a:r>
            </a:p>
          </p:txBody>
        </p:sp>
        <p:sp>
          <p:nvSpPr>
            <p:cNvPr id="49" name="TextBox 49"/>
            <p:cNvSpPr txBox="1"/>
            <p:nvPr/>
          </p:nvSpPr>
          <p:spPr>
            <a:xfrm>
              <a:off x="3405188" y="1607582"/>
              <a:ext cx="457540"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4-5次/周　</a:t>
              </a:r>
            </a:p>
          </p:txBody>
        </p:sp>
        <p:sp>
          <p:nvSpPr>
            <p:cNvPr id="50" name="TextBox 50"/>
            <p:cNvSpPr txBox="1"/>
            <p:nvPr/>
          </p:nvSpPr>
          <p:spPr>
            <a:xfrm>
              <a:off x="3938588" y="1474232"/>
              <a:ext cx="612623"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年轻人信用卡　</a:t>
              </a:r>
            </a:p>
          </p:txBody>
        </p:sp>
        <p:sp>
          <p:nvSpPr>
            <p:cNvPr id="51" name="TextBox 51"/>
            <p:cNvSpPr txBox="1"/>
            <p:nvPr/>
          </p:nvSpPr>
          <p:spPr>
            <a:xfrm>
              <a:off x="3938588" y="16075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消费分期</a:t>
              </a:r>
            </a:p>
          </p:txBody>
        </p:sp>
        <p:sp>
          <p:nvSpPr>
            <p:cNvPr id="52" name="TextBox 52"/>
            <p:cNvSpPr txBox="1"/>
            <p:nvPr/>
          </p:nvSpPr>
          <p:spPr>
            <a:xfrm>
              <a:off x="3938588" y="1740932"/>
              <a:ext cx="40153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活钱/基金</a:t>
              </a:r>
            </a:p>
          </p:txBody>
        </p:sp>
        <p:sp>
          <p:nvSpPr>
            <p:cNvPr id="53" name="TextBox 53"/>
            <p:cNvSpPr txBox="1"/>
            <p:nvPr/>
          </p:nvSpPr>
          <p:spPr>
            <a:xfrm>
              <a:off x="5005388" y="1474232"/>
              <a:ext cx="332044"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APP活跃</a:t>
              </a:r>
            </a:p>
          </p:txBody>
        </p:sp>
        <p:sp>
          <p:nvSpPr>
            <p:cNvPr id="54" name="TextBox 54"/>
            <p:cNvSpPr txBox="1"/>
            <p:nvPr/>
          </p:nvSpPr>
          <p:spPr>
            <a:xfrm>
              <a:off x="5005388" y="16075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信用卡申请</a:t>
              </a:r>
            </a:p>
          </p:txBody>
        </p:sp>
        <p:sp>
          <p:nvSpPr>
            <p:cNvPr id="55" name="TextBox 55"/>
            <p:cNvSpPr txBox="1"/>
            <p:nvPr/>
          </p:nvSpPr>
          <p:spPr>
            <a:xfrm>
              <a:off x="5005388" y="17409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活动报名</a:t>
              </a:r>
            </a:p>
          </p:txBody>
        </p:sp>
        <p:grpSp>
          <p:nvGrpSpPr>
            <p:cNvPr id="62" name="Group 62"/>
            <p:cNvGrpSpPr/>
            <p:nvPr/>
          </p:nvGrpSpPr>
          <p:grpSpPr>
            <a:xfrm>
              <a:off x="271462" y="2005012"/>
              <a:ext cx="142875" cy="142875"/>
              <a:chOff x="271462" y="2005012"/>
              <a:chExt cx="142875" cy="142875"/>
            </a:xfrm>
          </p:grpSpPr>
          <p:sp>
            <p:nvSpPr>
              <p:cNvPr id="56" name="Freeform 56"/>
              <p:cNvSpPr/>
              <p:nvPr/>
            </p:nvSpPr>
            <p:spPr>
              <a:xfrm>
                <a:off x="327025" y="20685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C83210"/>
                </a:solidFill>
              </a:ln>
            </p:spPr>
          </p:sp>
          <p:sp>
            <p:nvSpPr>
              <p:cNvPr id="57" name="Freeform 57"/>
              <p:cNvSpPr/>
              <p:nvPr/>
            </p:nvSpPr>
            <p:spPr>
              <a:xfrm>
                <a:off x="311150" y="212407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C83210"/>
                </a:solidFill>
              </a:ln>
            </p:spPr>
          </p:sp>
          <p:sp>
            <p:nvSpPr>
              <p:cNvPr id="58" name="Freeform 58"/>
              <p:cNvSpPr/>
              <p:nvPr/>
            </p:nvSpPr>
            <p:spPr>
              <a:xfrm>
                <a:off x="366712" y="20050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C83210"/>
                </a:solidFill>
              </a:ln>
            </p:spPr>
          </p:sp>
          <p:sp>
            <p:nvSpPr>
              <p:cNvPr id="59" name="Freeform 59"/>
              <p:cNvSpPr/>
              <p:nvPr/>
            </p:nvSpPr>
            <p:spPr>
              <a:xfrm>
                <a:off x="382587" y="206057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C83210"/>
                </a:solidFill>
              </a:ln>
            </p:spPr>
          </p:sp>
          <p:sp>
            <p:nvSpPr>
              <p:cNvPr id="60" name="Freeform 60"/>
              <p:cNvSpPr/>
              <p:nvPr/>
            </p:nvSpPr>
            <p:spPr>
              <a:xfrm>
                <a:off x="287337" y="20050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C83210"/>
                </a:solidFill>
              </a:ln>
            </p:spPr>
          </p:sp>
          <p:sp>
            <p:nvSpPr>
              <p:cNvPr id="61" name="Freeform 61"/>
              <p:cNvSpPr/>
              <p:nvPr/>
            </p:nvSpPr>
            <p:spPr>
              <a:xfrm>
                <a:off x="271462" y="206057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C83210"/>
                </a:solidFill>
              </a:ln>
            </p:spPr>
          </p:sp>
        </p:grpSp>
        <p:sp>
          <p:nvSpPr>
            <p:cNvPr id="63" name="TextBox 63"/>
            <p:cNvSpPr txBox="1"/>
            <p:nvPr/>
          </p:nvSpPr>
          <p:spPr>
            <a:xfrm>
              <a:off x="509588" y="2043112"/>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家庭客群</a:t>
              </a:r>
            </a:p>
          </p:txBody>
        </p:sp>
        <p:sp>
          <p:nvSpPr>
            <p:cNvPr id="64" name="TextBox 64"/>
            <p:cNvSpPr txBox="1"/>
            <p:nvPr/>
          </p:nvSpPr>
          <p:spPr>
            <a:xfrm>
              <a:off x="1214438" y="19885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家庭保障</a:t>
              </a:r>
            </a:p>
          </p:txBody>
        </p:sp>
        <p:sp>
          <p:nvSpPr>
            <p:cNvPr id="65" name="TextBox 65"/>
            <p:cNvSpPr txBox="1"/>
            <p:nvPr/>
          </p:nvSpPr>
          <p:spPr>
            <a:xfrm>
              <a:off x="1214438" y="21409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子女教育</a:t>
              </a:r>
            </a:p>
          </p:txBody>
        </p:sp>
        <p:sp>
          <p:nvSpPr>
            <p:cNvPr id="66" name="TextBox 66"/>
            <p:cNvSpPr txBox="1"/>
            <p:nvPr/>
          </p:nvSpPr>
          <p:spPr>
            <a:xfrm>
              <a:off x="1785938" y="19504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家庭理财会</a:t>
              </a:r>
            </a:p>
          </p:txBody>
        </p:sp>
        <p:sp>
          <p:nvSpPr>
            <p:cNvPr id="67" name="TextBox 67"/>
            <p:cNvSpPr txBox="1"/>
            <p:nvPr/>
          </p:nvSpPr>
          <p:spPr>
            <a:xfrm>
              <a:off x="1785938" y="20838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教育规划课</a:t>
              </a:r>
            </a:p>
          </p:txBody>
        </p:sp>
        <p:sp>
          <p:nvSpPr>
            <p:cNvPr id="68" name="TextBox 68"/>
            <p:cNvSpPr txBox="1"/>
            <p:nvPr/>
          </p:nvSpPr>
          <p:spPr>
            <a:xfrm>
              <a:off x="1785938" y="22171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品质生活家</a:t>
              </a:r>
            </a:p>
          </p:txBody>
        </p:sp>
        <p:sp>
          <p:nvSpPr>
            <p:cNvPr id="69" name="TextBox 69"/>
            <p:cNvSpPr txBox="1"/>
            <p:nvPr/>
          </p:nvSpPr>
          <p:spPr>
            <a:xfrm>
              <a:off x="2776538" y="2017157"/>
              <a:ext cx="5738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图文/短视频　</a:t>
              </a:r>
            </a:p>
          </p:txBody>
        </p:sp>
        <p:sp>
          <p:nvSpPr>
            <p:cNvPr id="70" name="TextBox 70"/>
            <p:cNvSpPr txBox="1"/>
            <p:nvPr/>
          </p:nvSpPr>
          <p:spPr>
            <a:xfrm>
              <a:off x="2776538" y="2150507"/>
              <a:ext cx="40153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海报/直播</a:t>
              </a:r>
            </a:p>
          </p:txBody>
        </p:sp>
        <p:sp>
          <p:nvSpPr>
            <p:cNvPr id="71" name="TextBox 71"/>
            <p:cNvSpPr txBox="1"/>
            <p:nvPr/>
          </p:nvSpPr>
          <p:spPr>
            <a:xfrm>
              <a:off x="3405188" y="2083832"/>
              <a:ext cx="457540"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3-4次/周　</a:t>
              </a:r>
            </a:p>
          </p:txBody>
        </p:sp>
        <p:sp>
          <p:nvSpPr>
            <p:cNvPr id="72" name="TextBox 72"/>
            <p:cNvSpPr txBox="1"/>
            <p:nvPr/>
          </p:nvSpPr>
          <p:spPr>
            <a:xfrm>
              <a:off x="3938588" y="1950482"/>
              <a:ext cx="5738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教育金/保险　</a:t>
              </a:r>
            </a:p>
          </p:txBody>
        </p:sp>
        <p:sp>
          <p:nvSpPr>
            <p:cNvPr id="73" name="TextBox 73"/>
            <p:cNvSpPr txBox="1"/>
            <p:nvPr/>
          </p:nvSpPr>
          <p:spPr>
            <a:xfrm>
              <a:off x="3938588" y="20838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家庭理财</a:t>
              </a:r>
            </a:p>
          </p:txBody>
        </p:sp>
        <p:sp>
          <p:nvSpPr>
            <p:cNvPr id="74" name="TextBox 74"/>
            <p:cNvSpPr txBox="1"/>
            <p:nvPr/>
          </p:nvSpPr>
          <p:spPr>
            <a:xfrm>
              <a:off x="3938588" y="22171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消费分期</a:t>
              </a:r>
            </a:p>
          </p:txBody>
        </p:sp>
        <p:sp>
          <p:nvSpPr>
            <p:cNvPr id="75" name="TextBox 75"/>
            <p:cNvSpPr txBox="1"/>
            <p:nvPr/>
          </p:nvSpPr>
          <p:spPr>
            <a:xfrm>
              <a:off x="5005388" y="1950482"/>
              <a:ext cx="52646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子女相关搜索</a:t>
              </a:r>
            </a:p>
          </p:txBody>
        </p:sp>
        <p:sp>
          <p:nvSpPr>
            <p:cNvPr id="76" name="TextBox 76"/>
            <p:cNvSpPr txBox="1"/>
            <p:nvPr/>
          </p:nvSpPr>
          <p:spPr>
            <a:xfrm>
              <a:off x="5005388" y="20838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保险浏览</a:t>
              </a:r>
            </a:p>
          </p:txBody>
        </p:sp>
        <p:sp>
          <p:nvSpPr>
            <p:cNvPr id="77" name="TextBox 77"/>
            <p:cNvSpPr txBox="1"/>
            <p:nvPr/>
          </p:nvSpPr>
          <p:spPr>
            <a:xfrm>
              <a:off x="5005388" y="22171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大额买入</a:t>
              </a:r>
            </a:p>
          </p:txBody>
        </p:sp>
        <p:grpSp>
          <p:nvGrpSpPr>
            <p:cNvPr id="80" name="Group 80"/>
            <p:cNvGrpSpPr/>
            <p:nvPr/>
          </p:nvGrpSpPr>
          <p:grpSpPr>
            <a:xfrm>
              <a:off x="295275" y="2481262"/>
              <a:ext cx="95250" cy="142875"/>
              <a:chOff x="295275" y="2481262"/>
              <a:chExt cx="95250" cy="142875"/>
            </a:xfrm>
          </p:grpSpPr>
          <p:sp>
            <p:nvSpPr>
              <p:cNvPr id="78" name="Freeform 78"/>
              <p:cNvSpPr/>
              <p:nvPr/>
            </p:nvSpPr>
            <p:spPr>
              <a:xfrm>
                <a:off x="311150" y="24812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C83210"/>
                </a:solidFill>
              </a:ln>
            </p:spPr>
          </p:sp>
          <p:sp>
            <p:nvSpPr>
              <p:cNvPr id="79" name="Freeform 79"/>
              <p:cNvSpPr/>
              <p:nvPr/>
            </p:nvSpPr>
            <p:spPr>
              <a:xfrm>
                <a:off x="295275" y="25765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C83210"/>
                </a:solidFill>
              </a:ln>
            </p:spPr>
          </p:sp>
        </p:grpSp>
        <p:sp>
          <p:nvSpPr>
            <p:cNvPr id="81" name="TextBox 81"/>
            <p:cNvSpPr txBox="1"/>
            <p:nvPr/>
          </p:nvSpPr>
          <p:spPr>
            <a:xfrm>
              <a:off x="509588" y="2519362"/>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银发客群</a:t>
              </a:r>
            </a:p>
          </p:txBody>
        </p:sp>
        <p:sp>
          <p:nvSpPr>
            <p:cNvPr id="82" name="TextBox 82"/>
            <p:cNvSpPr txBox="1"/>
            <p:nvPr/>
          </p:nvSpPr>
          <p:spPr>
            <a:xfrm>
              <a:off x="1214438" y="24648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安全稳健</a:t>
              </a:r>
            </a:p>
          </p:txBody>
        </p:sp>
        <p:sp>
          <p:nvSpPr>
            <p:cNvPr id="83" name="TextBox 83"/>
            <p:cNvSpPr txBox="1"/>
            <p:nvPr/>
          </p:nvSpPr>
          <p:spPr>
            <a:xfrm>
              <a:off x="1214438" y="26172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健康养老</a:t>
              </a:r>
            </a:p>
          </p:txBody>
        </p:sp>
        <p:sp>
          <p:nvSpPr>
            <p:cNvPr id="84" name="TextBox 84"/>
            <p:cNvSpPr txBox="1"/>
            <p:nvPr/>
          </p:nvSpPr>
          <p:spPr>
            <a:xfrm>
              <a:off x="1785938" y="24267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养老安心课</a:t>
              </a:r>
            </a:p>
          </p:txBody>
        </p:sp>
        <p:sp>
          <p:nvSpPr>
            <p:cNvPr id="85" name="TextBox 85"/>
            <p:cNvSpPr txBox="1"/>
            <p:nvPr/>
          </p:nvSpPr>
          <p:spPr>
            <a:xfrm>
              <a:off x="1785938" y="25600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健康生活营</a:t>
              </a:r>
            </a:p>
          </p:txBody>
        </p:sp>
        <p:sp>
          <p:nvSpPr>
            <p:cNvPr id="86" name="TextBox 86"/>
            <p:cNvSpPr txBox="1"/>
            <p:nvPr/>
          </p:nvSpPr>
          <p:spPr>
            <a:xfrm>
              <a:off x="1785938" y="26934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防诈小课堂</a:t>
              </a:r>
            </a:p>
          </p:txBody>
        </p:sp>
        <p:sp>
          <p:nvSpPr>
            <p:cNvPr id="87" name="TextBox 87"/>
            <p:cNvSpPr txBox="1"/>
            <p:nvPr/>
          </p:nvSpPr>
          <p:spPr>
            <a:xfrm>
              <a:off x="2776538" y="2493407"/>
              <a:ext cx="40153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图文/海报</a:t>
              </a:r>
            </a:p>
          </p:txBody>
        </p:sp>
        <p:sp>
          <p:nvSpPr>
            <p:cNvPr id="88" name="TextBox 88"/>
            <p:cNvSpPr txBox="1"/>
            <p:nvPr/>
          </p:nvSpPr>
          <p:spPr>
            <a:xfrm>
              <a:off x="2776538" y="2626757"/>
              <a:ext cx="5738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短视频/直播　</a:t>
              </a:r>
            </a:p>
          </p:txBody>
        </p:sp>
        <p:sp>
          <p:nvSpPr>
            <p:cNvPr id="89" name="TextBox 89"/>
            <p:cNvSpPr txBox="1"/>
            <p:nvPr/>
          </p:nvSpPr>
          <p:spPr>
            <a:xfrm>
              <a:off x="3405188" y="2560082"/>
              <a:ext cx="36276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3次/周　</a:t>
              </a:r>
            </a:p>
          </p:txBody>
        </p:sp>
        <p:sp>
          <p:nvSpPr>
            <p:cNvPr id="90" name="TextBox 90"/>
            <p:cNvSpPr txBox="1"/>
            <p:nvPr/>
          </p:nvSpPr>
          <p:spPr>
            <a:xfrm>
              <a:off x="3938588" y="24267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养老理财</a:t>
              </a:r>
            </a:p>
          </p:txBody>
        </p:sp>
        <p:sp>
          <p:nvSpPr>
            <p:cNvPr id="91" name="TextBox 91"/>
            <p:cNvSpPr txBox="1"/>
            <p:nvPr/>
          </p:nvSpPr>
          <p:spPr>
            <a:xfrm>
              <a:off x="3938588" y="25600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大额存单</a:t>
              </a:r>
            </a:p>
          </p:txBody>
        </p:sp>
        <p:sp>
          <p:nvSpPr>
            <p:cNvPr id="92" name="TextBox 92"/>
            <p:cNvSpPr txBox="1"/>
            <p:nvPr/>
          </p:nvSpPr>
          <p:spPr>
            <a:xfrm>
              <a:off x="3938588" y="26934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保险保障</a:t>
              </a:r>
            </a:p>
          </p:txBody>
        </p:sp>
        <p:sp>
          <p:nvSpPr>
            <p:cNvPr id="93" name="TextBox 93"/>
            <p:cNvSpPr txBox="1"/>
            <p:nvPr/>
          </p:nvSpPr>
          <p:spPr>
            <a:xfrm>
              <a:off x="5005388" y="24267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大额存入</a:t>
              </a:r>
            </a:p>
          </p:txBody>
        </p:sp>
        <p:sp>
          <p:nvSpPr>
            <p:cNvPr id="94" name="TextBox 94"/>
            <p:cNvSpPr txBox="1"/>
            <p:nvPr/>
          </p:nvSpPr>
          <p:spPr>
            <a:xfrm>
              <a:off x="5005388" y="25600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线下咨询</a:t>
              </a:r>
            </a:p>
          </p:txBody>
        </p:sp>
        <p:sp>
          <p:nvSpPr>
            <p:cNvPr id="95" name="TextBox 95"/>
            <p:cNvSpPr txBox="1"/>
            <p:nvPr/>
          </p:nvSpPr>
          <p:spPr>
            <a:xfrm>
              <a:off x="5005388" y="2693432"/>
              <a:ext cx="52646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防诈内容点击</a:t>
              </a:r>
            </a:p>
          </p:txBody>
        </p:sp>
        <p:grpSp>
          <p:nvGrpSpPr>
            <p:cNvPr id="98" name="Group 98"/>
            <p:cNvGrpSpPr/>
            <p:nvPr/>
          </p:nvGrpSpPr>
          <p:grpSpPr>
            <a:xfrm>
              <a:off x="279400" y="2981325"/>
              <a:ext cx="127000" cy="112712"/>
              <a:chOff x="279400" y="2981325"/>
              <a:chExt cx="127000" cy="112712"/>
            </a:xfrm>
          </p:grpSpPr>
          <p:sp>
            <p:nvSpPr>
              <p:cNvPr id="96" name="Freeform 96"/>
              <p:cNvSpPr/>
              <p:nvPr/>
            </p:nvSpPr>
            <p:spPr>
              <a:xfrm>
                <a:off x="279400" y="3084512"/>
                <a:ext cx="127000" cy="9525"/>
              </a:xfrm>
              <a:custGeom>
                <a:avLst/>
                <a:gdLst/>
                <a:ahLst/>
                <a:cxnLst/>
                <a:rect l="l" t="t" r="r" b="b"/>
                <a:pathLst>
                  <a:path w="127000" h="9525">
                    <a:moveTo>
                      <a:pt x="0" y="0"/>
                    </a:moveTo>
                    <a:lnTo>
                      <a:pt x="127000" y="0"/>
                    </a:lnTo>
                  </a:path>
                </a:pathLst>
              </a:custGeom>
              <a:noFill/>
              <a:ln w="15875">
                <a:solidFill>
                  <a:srgbClr val="C83210"/>
                </a:solidFill>
              </a:ln>
            </p:spPr>
          </p:sp>
          <p:sp>
            <p:nvSpPr>
              <p:cNvPr id="97" name="Freeform 97"/>
              <p:cNvSpPr/>
              <p:nvPr/>
            </p:nvSpPr>
            <p:spPr>
              <a:xfrm>
                <a:off x="279400" y="298132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C83210"/>
                </a:solidFill>
              </a:ln>
            </p:spPr>
          </p:sp>
        </p:grpSp>
        <p:sp>
          <p:nvSpPr>
            <p:cNvPr id="99" name="TextBox 99"/>
            <p:cNvSpPr txBox="1"/>
            <p:nvPr/>
          </p:nvSpPr>
          <p:spPr>
            <a:xfrm>
              <a:off x="509588" y="2995612"/>
              <a:ext cx="61531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财富成长客群</a:t>
              </a:r>
            </a:p>
          </p:txBody>
        </p:sp>
        <p:sp>
          <p:nvSpPr>
            <p:cNvPr id="100" name="TextBox 100"/>
            <p:cNvSpPr txBox="1"/>
            <p:nvPr/>
          </p:nvSpPr>
          <p:spPr>
            <a:xfrm>
              <a:off x="1214438" y="29410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资产增值</a:t>
              </a:r>
            </a:p>
          </p:txBody>
        </p:sp>
        <p:sp>
          <p:nvSpPr>
            <p:cNvPr id="101" name="TextBox 101"/>
            <p:cNvSpPr txBox="1"/>
            <p:nvPr/>
          </p:nvSpPr>
          <p:spPr>
            <a:xfrm>
              <a:off x="1214438" y="30934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专业顾问</a:t>
              </a:r>
            </a:p>
          </p:txBody>
        </p:sp>
        <p:sp>
          <p:nvSpPr>
            <p:cNvPr id="102" name="TextBox 102"/>
            <p:cNvSpPr txBox="1"/>
            <p:nvPr/>
          </p:nvSpPr>
          <p:spPr>
            <a:xfrm>
              <a:off x="1785938" y="29029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市场观点汇</a:t>
              </a:r>
            </a:p>
          </p:txBody>
        </p:sp>
        <p:sp>
          <p:nvSpPr>
            <p:cNvPr id="103" name="TextBox 103"/>
            <p:cNvSpPr txBox="1"/>
            <p:nvPr/>
          </p:nvSpPr>
          <p:spPr>
            <a:xfrm>
              <a:off x="1785938" y="30363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资产配置课</a:t>
              </a:r>
            </a:p>
          </p:txBody>
        </p:sp>
        <p:sp>
          <p:nvSpPr>
            <p:cNvPr id="104" name="TextBox 104"/>
            <p:cNvSpPr txBox="1"/>
            <p:nvPr/>
          </p:nvSpPr>
          <p:spPr>
            <a:xfrm>
              <a:off x="1785938" y="31696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精英会客厅</a:t>
              </a:r>
            </a:p>
          </p:txBody>
        </p:sp>
        <p:sp>
          <p:nvSpPr>
            <p:cNvPr id="105" name="TextBox 105"/>
            <p:cNvSpPr txBox="1"/>
            <p:nvPr/>
          </p:nvSpPr>
          <p:spPr>
            <a:xfrm>
              <a:off x="2776538" y="2969657"/>
              <a:ext cx="40153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图文/直播</a:t>
              </a:r>
            </a:p>
          </p:txBody>
        </p:sp>
        <p:sp>
          <p:nvSpPr>
            <p:cNvPr id="106" name="TextBox 106"/>
            <p:cNvSpPr txBox="1"/>
            <p:nvPr/>
          </p:nvSpPr>
          <p:spPr>
            <a:xfrm>
              <a:off x="2776538" y="3103007"/>
              <a:ext cx="5738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短视频/问答　</a:t>
              </a:r>
            </a:p>
          </p:txBody>
        </p:sp>
        <p:sp>
          <p:nvSpPr>
            <p:cNvPr id="107" name="TextBox 107"/>
            <p:cNvSpPr txBox="1"/>
            <p:nvPr/>
          </p:nvSpPr>
          <p:spPr>
            <a:xfrm>
              <a:off x="3405188" y="3036332"/>
              <a:ext cx="457540"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4-5次/周　</a:t>
              </a:r>
            </a:p>
          </p:txBody>
        </p:sp>
        <p:sp>
          <p:nvSpPr>
            <p:cNvPr id="108" name="TextBox 108"/>
            <p:cNvSpPr txBox="1"/>
            <p:nvPr/>
          </p:nvSpPr>
          <p:spPr>
            <a:xfrm>
              <a:off x="3938588" y="2902982"/>
              <a:ext cx="40153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理财/基金</a:t>
              </a:r>
            </a:p>
          </p:txBody>
        </p:sp>
        <p:sp>
          <p:nvSpPr>
            <p:cNvPr id="109" name="TextBox 109"/>
            <p:cNvSpPr txBox="1"/>
            <p:nvPr/>
          </p:nvSpPr>
          <p:spPr>
            <a:xfrm>
              <a:off x="3938588" y="3036332"/>
              <a:ext cx="6600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保险/家族信托　</a:t>
              </a:r>
            </a:p>
          </p:txBody>
        </p:sp>
        <p:sp>
          <p:nvSpPr>
            <p:cNvPr id="110" name="TextBox 110"/>
            <p:cNvSpPr txBox="1"/>
            <p:nvPr/>
          </p:nvSpPr>
          <p:spPr>
            <a:xfrm>
              <a:off x="3938588" y="31696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私行服务</a:t>
              </a:r>
            </a:p>
          </p:txBody>
        </p:sp>
        <p:sp>
          <p:nvSpPr>
            <p:cNvPr id="111" name="TextBox 111"/>
            <p:cNvSpPr txBox="1"/>
            <p:nvPr/>
          </p:nvSpPr>
          <p:spPr>
            <a:xfrm>
              <a:off x="5005388" y="2902982"/>
              <a:ext cx="52646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理财产品浏览</a:t>
              </a:r>
            </a:p>
          </p:txBody>
        </p:sp>
        <p:sp>
          <p:nvSpPr>
            <p:cNvPr id="112" name="TextBox 112"/>
            <p:cNvSpPr txBox="1"/>
            <p:nvPr/>
          </p:nvSpPr>
          <p:spPr>
            <a:xfrm>
              <a:off x="5005388" y="30363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高净值标识</a:t>
              </a:r>
            </a:p>
          </p:txBody>
        </p:sp>
        <p:sp>
          <p:nvSpPr>
            <p:cNvPr id="113" name="TextBox 113"/>
            <p:cNvSpPr txBox="1"/>
            <p:nvPr/>
          </p:nvSpPr>
          <p:spPr>
            <a:xfrm>
              <a:off x="5005388" y="31696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活动参与</a:t>
              </a:r>
            </a:p>
          </p:txBody>
        </p:sp>
        <p:grpSp>
          <p:nvGrpSpPr>
            <p:cNvPr id="119" name="Group 119"/>
            <p:cNvGrpSpPr/>
            <p:nvPr/>
          </p:nvGrpSpPr>
          <p:grpSpPr>
            <a:xfrm>
              <a:off x="271462" y="3433762"/>
              <a:ext cx="142875" cy="152400"/>
              <a:chOff x="271462" y="3433762"/>
              <a:chExt cx="142875" cy="152400"/>
            </a:xfrm>
          </p:grpSpPr>
          <p:sp>
            <p:nvSpPr>
              <p:cNvPr id="114" name="Freeform 114"/>
              <p:cNvSpPr/>
              <p:nvPr/>
            </p:nvSpPr>
            <p:spPr>
              <a:xfrm>
                <a:off x="271462" y="3576637"/>
                <a:ext cx="142875" cy="9525"/>
              </a:xfrm>
              <a:custGeom>
                <a:avLst/>
                <a:gdLst/>
                <a:ahLst/>
                <a:cxnLst/>
                <a:rect l="l" t="t" r="r" b="b"/>
                <a:pathLst>
                  <a:path w="142875" h="9525">
                    <a:moveTo>
                      <a:pt x="0" y="0"/>
                    </a:moveTo>
                    <a:lnTo>
                      <a:pt x="142875" y="0"/>
                    </a:lnTo>
                  </a:path>
                </a:pathLst>
              </a:custGeom>
              <a:noFill/>
              <a:ln w="15875">
                <a:solidFill>
                  <a:srgbClr val="C83210"/>
                </a:solidFill>
              </a:ln>
            </p:spPr>
          </p:sp>
          <p:sp>
            <p:nvSpPr>
              <p:cNvPr id="115" name="Freeform 115"/>
              <p:cNvSpPr/>
              <p:nvPr/>
            </p:nvSpPr>
            <p:spPr>
              <a:xfrm>
                <a:off x="271462" y="3433762"/>
                <a:ext cx="142875" cy="63500"/>
              </a:xfrm>
              <a:custGeom>
                <a:avLst/>
                <a:gdLst/>
                <a:ahLst/>
                <a:cxnLst/>
                <a:rect l="l" t="t" r="r" b="b"/>
                <a:pathLst>
                  <a:path w="142875" h="63500">
                    <a:moveTo>
                      <a:pt x="0" y="31750"/>
                    </a:moveTo>
                    <a:lnTo>
                      <a:pt x="0" y="39687"/>
                    </a:lnTo>
                    <a:cubicBezTo>
                      <a:pt x="0" y="52839"/>
                      <a:pt x="10661" y="63500"/>
                      <a:pt x="23812" y="63500"/>
                    </a:cubicBezTo>
                    <a:cubicBezTo>
                      <a:pt x="36964" y="63500"/>
                      <a:pt x="47625" y="52839"/>
                      <a:pt x="47625" y="39687"/>
                    </a:cubicBezTo>
                    <a:lnTo>
                      <a:pt x="47625" y="31750"/>
                    </a:lnTo>
                    <a:moveTo>
                      <a:pt x="47625" y="39687"/>
                    </a:moveTo>
                    <a:cubicBezTo>
                      <a:pt x="47625" y="52839"/>
                      <a:pt x="58286" y="63500"/>
                      <a:pt x="71437" y="63500"/>
                    </a:cubicBezTo>
                    <a:cubicBezTo>
                      <a:pt x="84589" y="63500"/>
                      <a:pt x="95250" y="52839"/>
                      <a:pt x="95250" y="39687"/>
                    </a:cubicBezTo>
                    <a:lnTo>
                      <a:pt x="95250" y="31750"/>
                    </a:lnTo>
                    <a:moveTo>
                      <a:pt x="95250" y="39687"/>
                    </a:moveTo>
                    <a:cubicBezTo>
                      <a:pt x="95250" y="52839"/>
                      <a:pt x="105911" y="63500"/>
                      <a:pt x="119062" y="63500"/>
                    </a:cubicBezTo>
                    <a:cubicBezTo>
                      <a:pt x="132214" y="63500"/>
                      <a:pt x="142875" y="52839"/>
                      <a:pt x="142875" y="39687"/>
                    </a:cubicBezTo>
                    <a:lnTo>
                      <a:pt x="142875" y="31750"/>
                    </a:lnTo>
                    <a:lnTo>
                      <a:pt x="0" y="31750"/>
                    </a:lnTo>
                    <a:lnTo>
                      <a:pt x="15875" y="0"/>
                    </a:lnTo>
                    <a:lnTo>
                      <a:pt x="127000" y="0"/>
                    </a:lnTo>
                    <a:lnTo>
                      <a:pt x="142875" y="31750"/>
                    </a:lnTo>
                  </a:path>
                </a:pathLst>
              </a:custGeom>
              <a:noFill/>
              <a:ln w="15875">
                <a:solidFill>
                  <a:srgbClr val="C83210"/>
                </a:solidFill>
              </a:ln>
            </p:spPr>
          </p:sp>
          <p:sp>
            <p:nvSpPr>
              <p:cNvPr id="116" name="Freeform 116"/>
              <p:cNvSpPr/>
              <p:nvPr/>
            </p:nvSpPr>
            <p:spPr>
              <a:xfrm>
                <a:off x="287337" y="3496072"/>
                <a:ext cx="9525" cy="80566"/>
              </a:xfrm>
              <a:custGeom>
                <a:avLst/>
                <a:gdLst/>
                <a:ahLst/>
                <a:cxnLst/>
                <a:rect l="l" t="t" r="r" b="b"/>
                <a:pathLst>
                  <a:path w="9525" h="80566">
                    <a:moveTo>
                      <a:pt x="0" y="80566"/>
                    </a:moveTo>
                    <a:lnTo>
                      <a:pt x="0" y="0"/>
                    </a:lnTo>
                  </a:path>
                </a:pathLst>
              </a:custGeom>
              <a:noFill/>
              <a:ln w="15875">
                <a:solidFill>
                  <a:srgbClr val="C83210"/>
                </a:solidFill>
              </a:ln>
            </p:spPr>
          </p:sp>
          <p:sp>
            <p:nvSpPr>
              <p:cNvPr id="117" name="Freeform 117"/>
              <p:cNvSpPr/>
              <p:nvPr/>
            </p:nvSpPr>
            <p:spPr>
              <a:xfrm>
                <a:off x="398462" y="3496072"/>
                <a:ext cx="9525" cy="80566"/>
              </a:xfrm>
              <a:custGeom>
                <a:avLst/>
                <a:gdLst/>
                <a:ahLst/>
                <a:cxnLst/>
                <a:rect l="l" t="t" r="r" b="b"/>
                <a:pathLst>
                  <a:path w="9525" h="80566">
                    <a:moveTo>
                      <a:pt x="0" y="80566"/>
                    </a:moveTo>
                    <a:lnTo>
                      <a:pt x="0" y="0"/>
                    </a:lnTo>
                  </a:path>
                </a:pathLst>
              </a:custGeom>
              <a:noFill/>
              <a:ln w="15875">
                <a:solidFill>
                  <a:srgbClr val="C83210"/>
                </a:solidFill>
              </a:ln>
            </p:spPr>
          </p:sp>
          <p:sp>
            <p:nvSpPr>
              <p:cNvPr id="118" name="Freeform 118"/>
              <p:cNvSpPr/>
              <p:nvPr/>
            </p:nvSpPr>
            <p:spPr>
              <a:xfrm>
                <a:off x="319087" y="3529012"/>
                <a:ext cx="47625" cy="47625"/>
              </a:xfrm>
              <a:custGeom>
                <a:avLst/>
                <a:gdLst/>
                <a:ahLst/>
                <a:cxnLst/>
                <a:rect l="l" t="t" r="r" b="b"/>
                <a:pathLst>
                  <a:path w="47625" h="47625">
                    <a:moveTo>
                      <a:pt x="0" y="47625"/>
                    </a:moveTo>
                    <a:lnTo>
                      <a:pt x="0" y="15875"/>
                    </a:lnTo>
                    <a:cubicBezTo>
                      <a:pt x="0" y="7107"/>
                      <a:pt x="7107" y="0"/>
                      <a:pt x="15875" y="0"/>
                    </a:cubicBezTo>
                    <a:lnTo>
                      <a:pt x="31750" y="0"/>
                    </a:lnTo>
                    <a:cubicBezTo>
                      <a:pt x="40518" y="0"/>
                      <a:pt x="47625" y="7107"/>
                      <a:pt x="47625" y="15875"/>
                    </a:cubicBezTo>
                    <a:lnTo>
                      <a:pt x="47625" y="47625"/>
                    </a:lnTo>
                  </a:path>
                </a:pathLst>
              </a:custGeom>
              <a:noFill/>
              <a:ln w="15875">
                <a:solidFill>
                  <a:srgbClr val="C83210"/>
                </a:solidFill>
              </a:ln>
            </p:spPr>
          </p:sp>
        </p:grpSp>
        <p:sp>
          <p:nvSpPr>
            <p:cNvPr id="120" name="TextBox 120"/>
            <p:cNvSpPr txBox="1"/>
            <p:nvPr/>
          </p:nvSpPr>
          <p:spPr>
            <a:xfrm>
              <a:off x="509588" y="3471862"/>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商户客群</a:t>
              </a:r>
            </a:p>
          </p:txBody>
        </p:sp>
        <p:sp>
          <p:nvSpPr>
            <p:cNvPr id="121" name="TextBox 121"/>
            <p:cNvSpPr txBox="1"/>
            <p:nvPr/>
          </p:nvSpPr>
          <p:spPr>
            <a:xfrm>
              <a:off x="1214438" y="34173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经营赋能</a:t>
              </a:r>
            </a:p>
          </p:txBody>
        </p:sp>
        <p:sp>
          <p:nvSpPr>
            <p:cNvPr id="122" name="TextBox 122"/>
            <p:cNvSpPr txBox="1"/>
            <p:nvPr/>
          </p:nvSpPr>
          <p:spPr>
            <a:xfrm>
              <a:off x="1214438" y="35697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资金周转</a:t>
              </a:r>
            </a:p>
          </p:txBody>
        </p:sp>
        <p:sp>
          <p:nvSpPr>
            <p:cNvPr id="123" name="TextBox 123"/>
            <p:cNvSpPr txBox="1"/>
            <p:nvPr/>
          </p:nvSpPr>
          <p:spPr>
            <a:xfrm>
              <a:off x="1785938" y="33792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经营加油站</a:t>
              </a:r>
            </a:p>
          </p:txBody>
        </p:sp>
        <p:sp>
          <p:nvSpPr>
            <p:cNvPr id="124" name="TextBox 124"/>
            <p:cNvSpPr txBox="1"/>
            <p:nvPr/>
          </p:nvSpPr>
          <p:spPr>
            <a:xfrm>
              <a:off x="1785938" y="35125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行业观察室</a:t>
              </a:r>
            </a:p>
          </p:txBody>
        </p:sp>
        <p:sp>
          <p:nvSpPr>
            <p:cNvPr id="125" name="TextBox 125"/>
            <p:cNvSpPr txBox="1"/>
            <p:nvPr/>
          </p:nvSpPr>
          <p:spPr>
            <a:xfrm>
              <a:off x="1785938" y="36459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商户权益荟</a:t>
              </a:r>
            </a:p>
          </p:txBody>
        </p:sp>
        <p:sp>
          <p:nvSpPr>
            <p:cNvPr id="126" name="TextBox 126"/>
            <p:cNvSpPr txBox="1"/>
            <p:nvPr/>
          </p:nvSpPr>
          <p:spPr>
            <a:xfrm>
              <a:off x="2776538" y="3445907"/>
              <a:ext cx="5738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图文/短视频　</a:t>
              </a:r>
            </a:p>
          </p:txBody>
        </p:sp>
        <p:sp>
          <p:nvSpPr>
            <p:cNvPr id="127" name="TextBox 127"/>
            <p:cNvSpPr txBox="1"/>
            <p:nvPr/>
          </p:nvSpPr>
          <p:spPr>
            <a:xfrm>
              <a:off x="2776538" y="3579257"/>
              <a:ext cx="40153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海报/活动</a:t>
              </a:r>
            </a:p>
          </p:txBody>
        </p:sp>
        <p:sp>
          <p:nvSpPr>
            <p:cNvPr id="128" name="TextBox 128"/>
            <p:cNvSpPr txBox="1"/>
            <p:nvPr/>
          </p:nvSpPr>
          <p:spPr>
            <a:xfrm>
              <a:off x="3405188" y="3512582"/>
              <a:ext cx="36276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4次/周　</a:t>
              </a:r>
            </a:p>
          </p:txBody>
        </p:sp>
        <p:sp>
          <p:nvSpPr>
            <p:cNvPr id="129" name="TextBox 129"/>
            <p:cNvSpPr txBox="1"/>
            <p:nvPr/>
          </p:nvSpPr>
          <p:spPr>
            <a:xfrm>
              <a:off x="3938588" y="337923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商户收单</a:t>
              </a:r>
            </a:p>
          </p:txBody>
        </p:sp>
        <p:sp>
          <p:nvSpPr>
            <p:cNvPr id="130" name="TextBox 130"/>
            <p:cNvSpPr txBox="1"/>
            <p:nvPr/>
          </p:nvSpPr>
          <p:spPr>
            <a:xfrm>
              <a:off x="3938588" y="35125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经营贷款</a:t>
              </a:r>
            </a:p>
          </p:txBody>
        </p:sp>
        <p:sp>
          <p:nvSpPr>
            <p:cNvPr id="131" name="TextBox 131"/>
            <p:cNvSpPr txBox="1"/>
            <p:nvPr/>
          </p:nvSpPr>
          <p:spPr>
            <a:xfrm>
              <a:off x="3938588" y="364593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供应链金融</a:t>
              </a:r>
            </a:p>
          </p:txBody>
        </p:sp>
        <p:sp>
          <p:nvSpPr>
            <p:cNvPr id="132" name="TextBox 132"/>
            <p:cNvSpPr txBox="1"/>
            <p:nvPr/>
          </p:nvSpPr>
          <p:spPr>
            <a:xfrm>
              <a:off x="5005388" y="3379232"/>
              <a:ext cx="52646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收单交易增长</a:t>
              </a:r>
            </a:p>
          </p:txBody>
        </p:sp>
        <p:sp>
          <p:nvSpPr>
            <p:cNvPr id="133" name="TextBox 133"/>
            <p:cNvSpPr txBox="1"/>
            <p:nvPr/>
          </p:nvSpPr>
          <p:spPr>
            <a:xfrm>
              <a:off x="5005388" y="35125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贷款咨询</a:t>
              </a:r>
            </a:p>
          </p:txBody>
        </p:sp>
        <p:sp>
          <p:nvSpPr>
            <p:cNvPr id="134" name="TextBox 134"/>
            <p:cNvSpPr txBox="1"/>
            <p:nvPr/>
          </p:nvSpPr>
          <p:spPr>
            <a:xfrm>
              <a:off x="5005388" y="3645932"/>
              <a:ext cx="52646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商户活动报名</a:t>
              </a:r>
            </a:p>
          </p:txBody>
        </p:sp>
        <p:sp>
          <p:nvSpPr>
            <p:cNvPr id="135" name="Line 135"/>
            <p:cNvSpPr/>
            <p:nvPr/>
          </p:nvSpPr>
          <p:spPr>
            <a:xfrm>
              <a:off x="1200150" y="628650"/>
              <a:ext cx="9525" cy="3124200"/>
            </a:xfrm>
            <a:custGeom>
              <a:avLst/>
              <a:gdLst/>
              <a:ahLst/>
              <a:cxnLst/>
              <a:rect l="l" t="t" r="r" b="b"/>
              <a:pathLst>
                <a:path w="9525" h="3124200">
                  <a:moveTo>
                    <a:pt x="0" y="0"/>
                  </a:moveTo>
                  <a:lnTo>
                    <a:pt x="0" y="3124200"/>
                  </a:lnTo>
                </a:path>
              </a:pathLst>
            </a:custGeom>
            <a:noFill/>
            <a:ln w="9525">
              <a:solidFill>
                <a:srgbClr val="F1C7CC"/>
              </a:solidFill>
            </a:ln>
          </p:spPr>
        </p:sp>
        <p:sp>
          <p:nvSpPr>
            <p:cNvPr id="136" name="Line 136"/>
            <p:cNvSpPr/>
            <p:nvPr/>
          </p:nvSpPr>
          <p:spPr>
            <a:xfrm>
              <a:off x="1733550" y="628650"/>
              <a:ext cx="9525" cy="3124200"/>
            </a:xfrm>
            <a:custGeom>
              <a:avLst/>
              <a:gdLst/>
              <a:ahLst/>
              <a:cxnLst/>
              <a:rect l="l" t="t" r="r" b="b"/>
              <a:pathLst>
                <a:path w="9525" h="3124200">
                  <a:moveTo>
                    <a:pt x="0" y="0"/>
                  </a:moveTo>
                  <a:lnTo>
                    <a:pt x="0" y="3124200"/>
                  </a:lnTo>
                </a:path>
              </a:pathLst>
            </a:custGeom>
            <a:noFill/>
            <a:ln w="9525">
              <a:solidFill>
                <a:srgbClr val="F1C7CC"/>
              </a:solidFill>
            </a:ln>
          </p:spPr>
        </p:sp>
        <p:sp>
          <p:nvSpPr>
            <p:cNvPr id="137" name="Line 137"/>
            <p:cNvSpPr/>
            <p:nvPr/>
          </p:nvSpPr>
          <p:spPr>
            <a:xfrm>
              <a:off x="2724150" y="628650"/>
              <a:ext cx="9525" cy="3124200"/>
            </a:xfrm>
            <a:custGeom>
              <a:avLst/>
              <a:gdLst/>
              <a:ahLst/>
              <a:cxnLst/>
              <a:rect l="l" t="t" r="r" b="b"/>
              <a:pathLst>
                <a:path w="9525" h="3124200">
                  <a:moveTo>
                    <a:pt x="0" y="0"/>
                  </a:moveTo>
                  <a:lnTo>
                    <a:pt x="0" y="3124200"/>
                  </a:lnTo>
                </a:path>
              </a:pathLst>
            </a:custGeom>
            <a:noFill/>
            <a:ln w="9525">
              <a:solidFill>
                <a:srgbClr val="F1C7CC"/>
              </a:solidFill>
            </a:ln>
          </p:spPr>
        </p:sp>
        <p:sp>
          <p:nvSpPr>
            <p:cNvPr id="138" name="Line 138"/>
            <p:cNvSpPr/>
            <p:nvPr/>
          </p:nvSpPr>
          <p:spPr>
            <a:xfrm>
              <a:off x="3352800" y="628650"/>
              <a:ext cx="9525" cy="3124200"/>
            </a:xfrm>
            <a:custGeom>
              <a:avLst/>
              <a:gdLst/>
              <a:ahLst/>
              <a:cxnLst/>
              <a:rect l="l" t="t" r="r" b="b"/>
              <a:pathLst>
                <a:path w="9525" h="3124200">
                  <a:moveTo>
                    <a:pt x="0" y="0"/>
                  </a:moveTo>
                  <a:lnTo>
                    <a:pt x="0" y="3124200"/>
                  </a:lnTo>
                </a:path>
              </a:pathLst>
            </a:custGeom>
            <a:noFill/>
            <a:ln w="9525">
              <a:solidFill>
                <a:srgbClr val="F1C7CC"/>
              </a:solidFill>
            </a:ln>
          </p:spPr>
        </p:sp>
        <p:sp>
          <p:nvSpPr>
            <p:cNvPr id="139" name="Line 139"/>
            <p:cNvSpPr/>
            <p:nvPr/>
          </p:nvSpPr>
          <p:spPr>
            <a:xfrm>
              <a:off x="3886200" y="628650"/>
              <a:ext cx="9525" cy="3124200"/>
            </a:xfrm>
            <a:custGeom>
              <a:avLst/>
              <a:gdLst/>
              <a:ahLst/>
              <a:cxnLst/>
              <a:rect l="l" t="t" r="r" b="b"/>
              <a:pathLst>
                <a:path w="9525" h="3124200">
                  <a:moveTo>
                    <a:pt x="0" y="0"/>
                  </a:moveTo>
                  <a:lnTo>
                    <a:pt x="0" y="3124200"/>
                  </a:lnTo>
                </a:path>
              </a:pathLst>
            </a:custGeom>
            <a:noFill/>
            <a:ln w="9525">
              <a:solidFill>
                <a:srgbClr val="F1C7CC"/>
              </a:solidFill>
            </a:ln>
          </p:spPr>
        </p:sp>
        <p:sp>
          <p:nvSpPr>
            <p:cNvPr id="140" name="Line 140"/>
            <p:cNvSpPr/>
            <p:nvPr/>
          </p:nvSpPr>
          <p:spPr>
            <a:xfrm>
              <a:off x="4953000" y="628650"/>
              <a:ext cx="9525" cy="3124200"/>
            </a:xfrm>
            <a:custGeom>
              <a:avLst/>
              <a:gdLst/>
              <a:ahLst/>
              <a:cxnLst/>
              <a:rect l="l" t="t" r="r" b="b"/>
              <a:pathLst>
                <a:path w="9525" h="3124200">
                  <a:moveTo>
                    <a:pt x="0" y="0"/>
                  </a:moveTo>
                  <a:lnTo>
                    <a:pt x="0" y="3124200"/>
                  </a:lnTo>
                </a:path>
              </a:pathLst>
            </a:custGeom>
            <a:noFill/>
            <a:ln w="9525">
              <a:solidFill>
                <a:srgbClr val="F1C7CC"/>
              </a:solidFill>
            </a:ln>
          </p:spPr>
        </p:sp>
        <p:sp>
          <p:nvSpPr>
            <p:cNvPr id="141" name="Line 141"/>
            <p:cNvSpPr/>
            <p:nvPr/>
          </p:nvSpPr>
          <p:spPr>
            <a:xfrm>
              <a:off x="133350" y="895350"/>
              <a:ext cx="5867400" cy="9525"/>
            </a:xfrm>
            <a:custGeom>
              <a:avLst/>
              <a:gdLst/>
              <a:ahLst/>
              <a:cxnLst/>
              <a:rect l="l" t="t" r="r" b="b"/>
              <a:pathLst>
                <a:path w="5867400" h="9525">
                  <a:moveTo>
                    <a:pt x="0" y="0"/>
                  </a:moveTo>
                  <a:lnTo>
                    <a:pt x="5867400" y="0"/>
                  </a:lnTo>
                </a:path>
              </a:pathLst>
            </a:custGeom>
            <a:noFill/>
            <a:ln w="9525">
              <a:solidFill>
                <a:srgbClr val="B32C0E"/>
              </a:solidFill>
            </a:ln>
          </p:spPr>
        </p:sp>
        <p:sp>
          <p:nvSpPr>
            <p:cNvPr id="142" name="Line 142"/>
            <p:cNvSpPr/>
            <p:nvPr/>
          </p:nvSpPr>
          <p:spPr>
            <a:xfrm>
              <a:off x="133350" y="1371600"/>
              <a:ext cx="5867400" cy="9525"/>
            </a:xfrm>
            <a:custGeom>
              <a:avLst/>
              <a:gdLst/>
              <a:ahLst/>
              <a:cxnLst/>
              <a:rect l="l" t="t" r="r" b="b"/>
              <a:pathLst>
                <a:path w="5867400" h="9525">
                  <a:moveTo>
                    <a:pt x="0" y="0"/>
                  </a:moveTo>
                  <a:lnTo>
                    <a:pt x="5867400" y="0"/>
                  </a:lnTo>
                </a:path>
              </a:pathLst>
            </a:custGeom>
            <a:noFill/>
            <a:ln w="9525">
              <a:solidFill>
                <a:srgbClr val="F1C7CC"/>
              </a:solidFill>
            </a:ln>
          </p:spPr>
        </p:sp>
        <p:sp>
          <p:nvSpPr>
            <p:cNvPr id="143" name="Line 143"/>
            <p:cNvSpPr/>
            <p:nvPr/>
          </p:nvSpPr>
          <p:spPr>
            <a:xfrm>
              <a:off x="133350" y="1847850"/>
              <a:ext cx="5867400" cy="9525"/>
            </a:xfrm>
            <a:custGeom>
              <a:avLst/>
              <a:gdLst/>
              <a:ahLst/>
              <a:cxnLst/>
              <a:rect l="l" t="t" r="r" b="b"/>
              <a:pathLst>
                <a:path w="5867400" h="9525">
                  <a:moveTo>
                    <a:pt x="0" y="0"/>
                  </a:moveTo>
                  <a:lnTo>
                    <a:pt x="5867400" y="0"/>
                  </a:lnTo>
                </a:path>
              </a:pathLst>
            </a:custGeom>
            <a:noFill/>
            <a:ln w="9525">
              <a:solidFill>
                <a:srgbClr val="F1C7CC"/>
              </a:solidFill>
            </a:ln>
          </p:spPr>
        </p:sp>
        <p:sp>
          <p:nvSpPr>
            <p:cNvPr id="144" name="Line 144"/>
            <p:cNvSpPr/>
            <p:nvPr/>
          </p:nvSpPr>
          <p:spPr>
            <a:xfrm>
              <a:off x="133350" y="2324100"/>
              <a:ext cx="5867400" cy="9525"/>
            </a:xfrm>
            <a:custGeom>
              <a:avLst/>
              <a:gdLst/>
              <a:ahLst/>
              <a:cxnLst/>
              <a:rect l="l" t="t" r="r" b="b"/>
              <a:pathLst>
                <a:path w="5867400" h="9525">
                  <a:moveTo>
                    <a:pt x="0" y="0"/>
                  </a:moveTo>
                  <a:lnTo>
                    <a:pt x="5867400" y="0"/>
                  </a:lnTo>
                </a:path>
              </a:pathLst>
            </a:custGeom>
            <a:noFill/>
            <a:ln w="9525">
              <a:solidFill>
                <a:srgbClr val="F1C7CC"/>
              </a:solidFill>
            </a:ln>
          </p:spPr>
        </p:sp>
        <p:sp>
          <p:nvSpPr>
            <p:cNvPr id="145" name="Line 145"/>
            <p:cNvSpPr/>
            <p:nvPr/>
          </p:nvSpPr>
          <p:spPr>
            <a:xfrm>
              <a:off x="133350" y="2800350"/>
              <a:ext cx="5867400" cy="9525"/>
            </a:xfrm>
            <a:custGeom>
              <a:avLst/>
              <a:gdLst/>
              <a:ahLst/>
              <a:cxnLst/>
              <a:rect l="l" t="t" r="r" b="b"/>
              <a:pathLst>
                <a:path w="5867400" h="9525">
                  <a:moveTo>
                    <a:pt x="0" y="0"/>
                  </a:moveTo>
                  <a:lnTo>
                    <a:pt x="5867400" y="0"/>
                  </a:lnTo>
                </a:path>
              </a:pathLst>
            </a:custGeom>
            <a:noFill/>
            <a:ln w="9525">
              <a:solidFill>
                <a:srgbClr val="F1C7CC"/>
              </a:solidFill>
            </a:ln>
          </p:spPr>
        </p:sp>
        <p:sp>
          <p:nvSpPr>
            <p:cNvPr id="146" name="Line 146"/>
            <p:cNvSpPr/>
            <p:nvPr/>
          </p:nvSpPr>
          <p:spPr>
            <a:xfrm>
              <a:off x="133350" y="3276600"/>
              <a:ext cx="5867400" cy="9525"/>
            </a:xfrm>
            <a:custGeom>
              <a:avLst/>
              <a:gdLst/>
              <a:ahLst/>
              <a:cxnLst/>
              <a:rect l="l" t="t" r="r" b="b"/>
              <a:pathLst>
                <a:path w="5867400" h="9525">
                  <a:moveTo>
                    <a:pt x="0" y="0"/>
                  </a:moveTo>
                  <a:lnTo>
                    <a:pt x="5867400" y="0"/>
                  </a:lnTo>
                </a:path>
              </a:pathLst>
            </a:custGeom>
            <a:noFill/>
            <a:ln w="9525">
              <a:solidFill>
                <a:srgbClr val="F1C7CC"/>
              </a:solidFill>
            </a:ln>
          </p:spPr>
        </p:sp>
        <p:sp>
          <p:nvSpPr>
            <p:cNvPr id="147" name="Line 147"/>
            <p:cNvSpPr/>
            <p:nvPr/>
          </p:nvSpPr>
          <p:spPr>
            <a:xfrm>
              <a:off x="133350" y="3752850"/>
              <a:ext cx="5867400" cy="9525"/>
            </a:xfrm>
            <a:custGeom>
              <a:avLst/>
              <a:gdLst/>
              <a:ahLst/>
              <a:cxnLst/>
              <a:rect l="l" t="t" r="r" b="b"/>
              <a:pathLst>
                <a:path w="5867400" h="9525">
                  <a:moveTo>
                    <a:pt x="0" y="0"/>
                  </a:moveTo>
                  <a:lnTo>
                    <a:pt x="5867400" y="0"/>
                  </a:lnTo>
                </a:path>
              </a:pathLst>
            </a:custGeom>
            <a:noFill/>
            <a:ln w="9525">
              <a:solidFill>
                <a:srgbClr val="F1C7CC"/>
              </a:solidFill>
            </a:ln>
          </p:spPr>
        </p:sp>
      </p:grpSp>
      <p:grpSp>
        <p:nvGrpSpPr>
          <p:cNvPr id="224" name="asset-band"/>
          <p:cNvGrpSpPr/>
          <p:nvPr/>
        </p:nvGrpSpPr>
        <p:grpSpPr>
          <a:xfrm>
            <a:off x="133350" y="3905250"/>
            <a:ext cx="5867400" cy="2781300"/>
            <a:chOff x="133350" y="3905250"/>
            <a:chExt cx="5867400" cy="2781300"/>
          </a:xfrm>
        </p:grpSpPr>
        <p:sp>
          <p:nvSpPr>
            <p:cNvPr id="149" name="Rectangle 149"/>
            <p:cNvSpPr/>
            <p:nvPr/>
          </p:nvSpPr>
          <p:spPr>
            <a:xfrm>
              <a:off x="171450" y="3905250"/>
              <a:ext cx="38100" cy="152400"/>
            </a:xfrm>
            <a:prstGeom prst="rect">
              <a:avLst/>
            </a:prstGeom>
            <a:solidFill>
              <a:srgbClr val="C83210"/>
            </a:solidFill>
            <a:ln>
              <a:noFill/>
            </a:ln>
          </p:spPr>
        </p:sp>
        <p:sp>
          <p:nvSpPr>
            <p:cNvPr id="150" name="TextBox 150"/>
            <p:cNvSpPr txBox="1"/>
            <p:nvPr/>
          </p:nvSpPr>
          <p:spPr>
            <a:xfrm>
              <a:off x="280797" y="3923824"/>
              <a:ext cx="2175942"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内容资产六大分类</a:t>
              </a:r>
              <a:r>
                <a:rPr lang="zh-CN" sz="750" b="1" dirty="0">
                  <a:solidFill>
                    <a:srgbClr val="808080"/>
                  </a:solidFill>
                  <a:latin typeface="+mn-lt"/>
                  <a:ea typeface="+mn-ea"/>
                  <a:cs typeface="+mn-cs"/>
                </a:rPr>
                <a:t>（统一管理，持续沉淀）</a:t>
              </a:r>
            </a:p>
          </p:txBody>
        </p:sp>
        <p:sp>
          <p:nvSpPr>
            <p:cNvPr id="151" name="Rectangle 151"/>
            <p:cNvSpPr/>
            <p:nvPr/>
          </p:nvSpPr>
          <p:spPr>
            <a:xfrm>
              <a:off x="133350" y="4152900"/>
              <a:ext cx="914400" cy="2533650"/>
            </a:xfrm>
            <a:prstGeom prst="roundRect">
              <a:avLst>
                <a:gd name="adj" fmla="val 6250"/>
              </a:avLst>
            </a:prstGeom>
            <a:solidFill>
              <a:srgbClr val="FDEFF1"/>
            </a:solidFill>
            <a:ln>
              <a:noFill/>
            </a:ln>
          </p:spPr>
        </p:sp>
        <p:grpSp>
          <p:nvGrpSpPr>
            <p:cNvPr id="155" name="Group 155"/>
            <p:cNvGrpSpPr/>
            <p:nvPr/>
          </p:nvGrpSpPr>
          <p:grpSpPr>
            <a:xfrm>
              <a:off x="527844" y="4346575"/>
              <a:ext cx="144462" cy="165099"/>
              <a:chOff x="527844" y="4346575"/>
              <a:chExt cx="144462" cy="165099"/>
            </a:xfrm>
          </p:grpSpPr>
          <p:sp>
            <p:nvSpPr>
              <p:cNvPr id="152" name="Freeform 152"/>
              <p:cNvSpPr/>
              <p:nvPr/>
            </p:nvSpPr>
            <p:spPr>
              <a:xfrm>
                <a:off x="527844" y="4346575"/>
                <a:ext cx="144462" cy="165099"/>
              </a:xfrm>
              <a:custGeom>
                <a:avLst/>
                <a:gdLst/>
                <a:ahLst/>
                <a:cxnLst/>
                <a:rect l="l" t="t" r="r" b="b"/>
                <a:pathLst>
                  <a:path w="144462" h="165099">
                    <a:moveTo>
                      <a:pt x="144462" y="0"/>
                    </a:moveTo>
                    <a:lnTo>
                      <a:pt x="144462" y="165099"/>
                    </a:lnTo>
                    <a:lnTo>
                      <a:pt x="20637" y="165099"/>
                    </a:lnTo>
                    <a:cubicBezTo>
                      <a:pt x="9240" y="165099"/>
                      <a:pt x="0" y="155860"/>
                      <a:pt x="0" y="144462"/>
                    </a:cubicBezTo>
                    <a:lnTo>
                      <a:pt x="0" y="20637"/>
                    </a:lnTo>
                    <a:cubicBezTo>
                      <a:pt x="0" y="9240"/>
                      <a:pt x="9240" y="0"/>
                      <a:pt x="20637" y="0"/>
                    </a:cubicBezTo>
                    <a:lnTo>
                      <a:pt x="144462" y="0"/>
                    </a:lnTo>
                  </a:path>
                </a:pathLst>
              </a:custGeom>
              <a:noFill/>
              <a:ln w="20637">
                <a:solidFill>
                  <a:srgbClr val="C83210"/>
                </a:solidFill>
              </a:ln>
            </p:spPr>
          </p:sp>
          <p:sp>
            <p:nvSpPr>
              <p:cNvPr id="153" name="Freeform 153"/>
              <p:cNvSpPr/>
              <p:nvPr/>
            </p:nvSpPr>
            <p:spPr>
              <a:xfrm>
                <a:off x="527844" y="4470399"/>
                <a:ext cx="144462" cy="20637"/>
              </a:xfrm>
              <a:custGeom>
                <a:avLst/>
                <a:gdLst/>
                <a:ahLst/>
                <a:cxnLst/>
                <a:rect l="l" t="t" r="r" b="b"/>
                <a:pathLst>
                  <a:path w="144462" h="20637">
                    <a:moveTo>
                      <a:pt x="144462" y="0"/>
                    </a:moveTo>
                    <a:lnTo>
                      <a:pt x="20637" y="0"/>
                    </a:lnTo>
                    <a:cubicBezTo>
                      <a:pt x="9240" y="0"/>
                      <a:pt x="0" y="9240"/>
                      <a:pt x="0" y="20637"/>
                    </a:cubicBezTo>
                  </a:path>
                </a:pathLst>
              </a:custGeom>
              <a:noFill/>
              <a:ln w="20637">
                <a:solidFill>
                  <a:srgbClr val="C83210"/>
                </a:solidFill>
              </a:ln>
            </p:spPr>
          </p:sp>
          <p:sp>
            <p:nvSpPr>
              <p:cNvPr id="154" name="Freeform 154"/>
              <p:cNvSpPr/>
              <p:nvPr/>
            </p:nvSpPr>
            <p:spPr>
              <a:xfrm>
                <a:off x="569118" y="4387850"/>
                <a:ext cx="61912" cy="9525"/>
              </a:xfrm>
              <a:custGeom>
                <a:avLst/>
                <a:gdLst/>
                <a:ahLst/>
                <a:cxnLst/>
                <a:rect l="l" t="t" r="r" b="b"/>
                <a:pathLst>
                  <a:path w="61912" h="9525">
                    <a:moveTo>
                      <a:pt x="0" y="0"/>
                    </a:moveTo>
                    <a:lnTo>
                      <a:pt x="61912" y="0"/>
                    </a:lnTo>
                  </a:path>
                </a:pathLst>
              </a:custGeom>
              <a:noFill/>
              <a:ln w="20637">
                <a:solidFill>
                  <a:srgbClr val="C83210"/>
                </a:solidFill>
              </a:ln>
            </p:spPr>
          </p:sp>
        </p:grpSp>
        <p:sp>
          <p:nvSpPr>
            <p:cNvPr id="156" name="TextBox 156"/>
            <p:cNvSpPr txBox="1"/>
            <p:nvPr/>
          </p:nvSpPr>
          <p:spPr>
            <a:xfrm>
              <a:off x="420205" y="4654391"/>
              <a:ext cx="340690"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mn-lt"/>
                  <a:ea typeface="+mn-ea"/>
                  <a:cs typeface="+mn-cs"/>
                </a:rPr>
                <a:t>知识库</a:t>
              </a:r>
            </a:p>
          </p:txBody>
        </p:sp>
        <p:sp>
          <p:nvSpPr>
            <p:cNvPr id="157" name="TextBox 157"/>
            <p:cNvSpPr txBox="1"/>
            <p:nvPr/>
          </p:nvSpPr>
          <p:spPr>
            <a:xfrm>
              <a:off x="418859" y="49247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金融科普</a:t>
              </a:r>
            </a:p>
          </p:txBody>
        </p:sp>
        <p:sp>
          <p:nvSpPr>
            <p:cNvPr id="158" name="TextBox 158"/>
            <p:cNvSpPr txBox="1"/>
            <p:nvPr/>
          </p:nvSpPr>
          <p:spPr>
            <a:xfrm>
              <a:off x="418859" y="50771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市场解读</a:t>
              </a:r>
            </a:p>
          </p:txBody>
        </p:sp>
        <p:sp>
          <p:nvSpPr>
            <p:cNvPr id="159" name="TextBox 159"/>
            <p:cNvSpPr txBox="1"/>
            <p:nvPr/>
          </p:nvSpPr>
          <p:spPr>
            <a:xfrm>
              <a:off x="418859" y="52295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生活常识</a:t>
              </a:r>
            </a:p>
          </p:txBody>
        </p:sp>
        <p:sp>
          <p:nvSpPr>
            <p:cNvPr id="160" name="TextBox 160"/>
            <p:cNvSpPr txBox="1"/>
            <p:nvPr/>
          </p:nvSpPr>
          <p:spPr>
            <a:xfrm>
              <a:off x="418859" y="53819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政策解读</a:t>
              </a:r>
            </a:p>
          </p:txBody>
        </p:sp>
        <p:sp>
          <p:nvSpPr>
            <p:cNvPr id="161" name="Rectangle 161"/>
            <p:cNvSpPr/>
            <p:nvPr/>
          </p:nvSpPr>
          <p:spPr>
            <a:xfrm>
              <a:off x="209550" y="6305550"/>
              <a:ext cx="762000" cy="228600"/>
            </a:xfrm>
            <a:prstGeom prst="roundRect">
              <a:avLst>
                <a:gd name="adj" fmla="val 50000"/>
              </a:avLst>
            </a:prstGeom>
            <a:solidFill>
              <a:srgbClr val="FFFFFF"/>
            </a:solidFill>
            <a:ln>
              <a:noFill/>
            </a:ln>
          </p:spPr>
        </p:sp>
        <p:sp>
          <p:nvSpPr>
            <p:cNvPr id="162" name="TextBox 162"/>
            <p:cNvSpPr txBox="1"/>
            <p:nvPr/>
          </p:nvSpPr>
          <p:spPr>
            <a:xfrm>
              <a:off x="368483" y="6372939"/>
              <a:ext cx="44413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Microsoft YaHei"/>
                  <a:cs typeface="Arial"/>
                </a:rPr>
                <a:t>1,200+篇</a:t>
              </a:r>
            </a:p>
          </p:txBody>
        </p:sp>
        <p:sp>
          <p:nvSpPr>
            <p:cNvPr id="163" name="Rectangle 163"/>
            <p:cNvSpPr/>
            <p:nvPr/>
          </p:nvSpPr>
          <p:spPr>
            <a:xfrm>
              <a:off x="1123950" y="4152900"/>
              <a:ext cx="914400" cy="2533650"/>
            </a:xfrm>
            <a:prstGeom prst="roundRect">
              <a:avLst>
                <a:gd name="adj" fmla="val 6250"/>
              </a:avLst>
            </a:prstGeom>
            <a:solidFill>
              <a:srgbClr val="FDEFF1"/>
            </a:solidFill>
            <a:ln>
              <a:noFill/>
            </a:ln>
          </p:spPr>
        </p:sp>
        <p:grpSp>
          <p:nvGrpSpPr>
            <p:cNvPr id="167" name="Group 167"/>
            <p:cNvGrpSpPr/>
            <p:nvPr/>
          </p:nvGrpSpPr>
          <p:grpSpPr>
            <a:xfrm>
              <a:off x="1508125" y="4346575"/>
              <a:ext cx="165099" cy="165099"/>
              <a:chOff x="1508125" y="4346575"/>
              <a:chExt cx="165099" cy="165099"/>
            </a:xfrm>
          </p:grpSpPr>
          <p:sp>
            <p:nvSpPr>
              <p:cNvPr id="164" name="Freeform 164"/>
              <p:cNvSpPr/>
              <p:nvPr/>
            </p:nvSpPr>
            <p:spPr>
              <a:xfrm>
                <a:off x="1508125" y="4346575"/>
                <a:ext cx="165099" cy="82550"/>
              </a:xfrm>
              <a:custGeom>
                <a:avLst/>
                <a:gdLst/>
                <a:ahLst/>
                <a:cxnLst/>
                <a:rect l="l" t="t" r="r" b="b"/>
                <a:pathLst>
                  <a:path w="165099" h="82550">
                    <a:moveTo>
                      <a:pt x="82550" y="0"/>
                    </a:moveTo>
                    <a:lnTo>
                      <a:pt x="0" y="41275"/>
                    </a:lnTo>
                    <a:lnTo>
                      <a:pt x="82550" y="82550"/>
                    </a:lnTo>
                    <a:lnTo>
                      <a:pt x="165099" y="41275"/>
                    </a:lnTo>
                    <a:lnTo>
                      <a:pt x="82550" y="0"/>
                    </a:lnTo>
                  </a:path>
                </a:pathLst>
              </a:custGeom>
              <a:noFill/>
              <a:ln w="20637">
                <a:solidFill>
                  <a:srgbClr val="C83210"/>
                </a:solidFill>
              </a:ln>
            </p:spPr>
          </p:sp>
          <p:sp>
            <p:nvSpPr>
              <p:cNvPr id="165" name="Freeform 165"/>
              <p:cNvSpPr/>
              <p:nvPr/>
            </p:nvSpPr>
            <p:spPr>
              <a:xfrm>
                <a:off x="1508125" y="4429125"/>
                <a:ext cx="165099" cy="41275"/>
              </a:xfrm>
              <a:custGeom>
                <a:avLst/>
                <a:gdLst/>
                <a:ahLst/>
                <a:cxnLst/>
                <a:rect l="l" t="t" r="r" b="b"/>
                <a:pathLst>
                  <a:path w="165099" h="41275">
                    <a:moveTo>
                      <a:pt x="0" y="0"/>
                    </a:moveTo>
                    <a:lnTo>
                      <a:pt x="82550" y="41275"/>
                    </a:lnTo>
                    <a:lnTo>
                      <a:pt x="165099" y="0"/>
                    </a:lnTo>
                  </a:path>
                </a:pathLst>
              </a:custGeom>
              <a:noFill/>
              <a:ln w="20637">
                <a:solidFill>
                  <a:srgbClr val="C83210"/>
                </a:solidFill>
              </a:ln>
            </p:spPr>
          </p:sp>
          <p:sp>
            <p:nvSpPr>
              <p:cNvPr id="166" name="Freeform 166"/>
              <p:cNvSpPr/>
              <p:nvPr/>
            </p:nvSpPr>
            <p:spPr>
              <a:xfrm>
                <a:off x="1508125" y="4470399"/>
                <a:ext cx="165099" cy="41275"/>
              </a:xfrm>
              <a:custGeom>
                <a:avLst/>
                <a:gdLst/>
                <a:ahLst/>
                <a:cxnLst/>
                <a:rect l="l" t="t" r="r" b="b"/>
                <a:pathLst>
                  <a:path w="165099" h="41275">
                    <a:moveTo>
                      <a:pt x="0" y="0"/>
                    </a:moveTo>
                    <a:lnTo>
                      <a:pt x="82550" y="41275"/>
                    </a:lnTo>
                    <a:lnTo>
                      <a:pt x="165099" y="0"/>
                    </a:lnTo>
                  </a:path>
                </a:pathLst>
              </a:custGeom>
              <a:noFill/>
              <a:ln w="20637">
                <a:solidFill>
                  <a:srgbClr val="C83210"/>
                </a:solidFill>
              </a:ln>
            </p:spPr>
          </p:sp>
        </p:grpSp>
        <p:sp>
          <p:nvSpPr>
            <p:cNvPr id="168" name="TextBox 168"/>
            <p:cNvSpPr txBox="1"/>
            <p:nvPr/>
          </p:nvSpPr>
          <p:spPr>
            <a:xfrm>
              <a:off x="1410805" y="4654391"/>
              <a:ext cx="340690"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mn-lt"/>
                  <a:ea typeface="+mn-ea"/>
                  <a:cs typeface="+mn-cs"/>
                </a:rPr>
                <a:t>产品库</a:t>
              </a:r>
            </a:p>
          </p:txBody>
        </p:sp>
        <p:sp>
          <p:nvSpPr>
            <p:cNvPr id="169" name="TextBox 169"/>
            <p:cNvSpPr txBox="1"/>
            <p:nvPr/>
          </p:nvSpPr>
          <p:spPr>
            <a:xfrm>
              <a:off x="1409459" y="49247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产品介绍</a:t>
              </a:r>
            </a:p>
          </p:txBody>
        </p:sp>
        <p:sp>
          <p:nvSpPr>
            <p:cNvPr id="170" name="TextBox 170"/>
            <p:cNvSpPr txBox="1"/>
            <p:nvPr/>
          </p:nvSpPr>
          <p:spPr>
            <a:xfrm>
              <a:off x="1409459" y="50771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功能演示</a:t>
              </a:r>
            </a:p>
          </p:txBody>
        </p:sp>
        <p:sp>
          <p:nvSpPr>
            <p:cNvPr id="171" name="TextBox 171"/>
            <p:cNvSpPr txBox="1"/>
            <p:nvPr/>
          </p:nvSpPr>
          <p:spPr>
            <a:xfrm>
              <a:off x="1409459" y="52295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对比测评</a:t>
              </a:r>
            </a:p>
          </p:txBody>
        </p:sp>
        <p:sp>
          <p:nvSpPr>
            <p:cNvPr id="172" name="TextBox 172"/>
            <p:cNvSpPr txBox="1"/>
            <p:nvPr/>
          </p:nvSpPr>
          <p:spPr>
            <a:xfrm>
              <a:off x="1409459" y="53819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适合人群</a:t>
              </a:r>
            </a:p>
          </p:txBody>
        </p:sp>
        <p:sp>
          <p:nvSpPr>
            <p:cNvPr id="173" name="Rectangle 173"/>
            <p:cNvSpPr/>
            <p:nvPr/>
          </p:nvSpPr>
          <p:spPr>
            <a:xfrm>
              <a:off x="1200150" y="6305550"/>
              <a:ext cx="762000" cy="228600"/>
            </a:xfrm>
            <a:prstGeom prst="roundRect">
              <a:avLst>
                <a:gd name="adj" fmla="val 50000"/>
              </a:avLst>
            </a:prstGeom>
            <a:solidFill>
              <a:srgbClr val="FFFFFF"/>
            </a:solidFill>
            <a:ln>
              <a:noFill/>
            </a:ln>
          </p:spPr>
        </p:sp>
        <p:sp>
          <p:nvSpPr>
            <p:cNvPr id="174" name="TextBox 174"/>
            <p:cNvSpPr txBox="1"/>
            <p:nvPr/>
          </p:nvSpPr>
          <p:spPr>
            <a:xfrm>
              <a:off x="1403431" y="6372939"/>
              <a:ext cx="355438"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Microsoft YaHei"/>
                  <a:cs typeface="Arial"/>
                </a:rPr>
                <a:t>800+篇</a:t>
              </a:r>
            </a:p>
          </p:txBody>
        </p:sp>
        <p:sp>
          <p:nvSpPr>
            <p:cNvPr id="175" name="Rectangle 175"/>
            <p:cNvSpPr/>
            <p:nvPr/>
          </p:nvSpPr>
          <p:spPr>
            <a:xfrm>
              <a:off x="2114550" y="4152900"/>
              <a:ext cx="914400" cy="2533650"/>
            </a:xfrm>
            <a:prstGeom prst="roundRect">
              <a:avLst>
                <a:gd name="adj" fmla="val 6250"/>
              </a:avLst>
            </a:prstGeom>
            <a:solidFill>
              <a:srgbClr val="FDEFF1"/>
            </a:solidFill>
            <a:ln>
              <a:noFill/>
            </a:ln>
          </p:spPr>
        </p:sp>
        <p:grpSp>
          <p:nvGrpSpPr>
            <p:cNvPr id="180" name="Group 180"/>
            <p:cNvGrpSpPr/>
            <p:nvPr/>
          </p:nvGrpSpPr>
          <p:grpSpPr>
            <a:xfrm>
              <a:off x="2488406" y="4335901"/>
              <a:ext cx="185737" cy="186092"/>
              <a:chOff x="2488406" y="4335901"/>
              <a:chExt cx="185737" cy="186092"/>
            </a:xfrm>
          </p:grpSpPr>
          <p:sp>
            <p:nvSpPr>
              <p:cNvPr id="176" name="Freeform 176"/>
              <p:cNvSpPr/>
              <p:nvPr/>
            </p:nvSpPr>
            <p:spPr>
              <a:xfrm>
                <a:off x="2488406" y="4387850"/>
                <a:ext cx="185737" cy="41275"/>
              </a:xfrm>
              <a:custGeom>
                <a:avLst/>
                <a:gdLst/>
                <a:ahLst/>
                <a:cxnLst/>
                <a:rect l="l" t="t" r="r" b="b"/>
                <a:pathLst>
                  <a:path w="185737" h="41275">
                    <a:moveTo>
                      <a:pt x="0" y="10319"/>
                    </a:moveTo>
                    <a:cubicBezTo>
                      <a:pt x="0" y="4620"/>
                      <a:pt x="4620" y="0"/>
                      <a:pt x="10319" y="0"/>
                    </a:cubicBezTo>
                    <a:lnTo>
                      <a:pt x="175418" y="0"/>
                    </a:lnTo>
                    <a:cubicBezTo>
                      <a:pt x="181117" y="0"/>
                      <a:pt x="185737" y="4620"/>
                      <a:pt x="185737" y="10319"/>
                    </a:cubicBezTo>
                    <a:lnTo>
                      <a:pt x="185737" y="30956"/>
                    </a:lnTo>
                    <a:cubicBezTo>
                      <a:pt x="185737" y="36655"/>
                      <a:pt x="181117" y="41275"/>
                      <a:pt x="175418" y="41275"/>
                    </a:cubicBezTo>
                    <a:lnTo>
                      <a:pt x="10319" y="41275"/>
                    </a:lnTo>
                    <a:cubicBezTo>
                      <a:pt x="4620" y="41275"/>
                      <a:pt x="0" y="36655"/>
                      <a:pt x="0" y="30956"/>
                    </a:cubicBezTo>
                    <a:lnTo>
                      <a:pt x="0" y="10319"/>
                    </a:lnTo>
                  </a:path>
                </a:pathLst>
              </a:custGeom>
              <a:noFill/>
              <a:ln w="20637">
                <a:solidFill>
                  <a:srgbClr val="C83210"/>
                </a:solidFill>
              </a:ln>
            </p:spPr>
          </p:sp>
          <p:sp>
            <p:nvSpPr>
              <p:cNvPr id="177" name="Freeform 177"/>
              <p:cNvSpPr/>
              <p:nvPr/>
            </p:nvSpPr>
            <p:spPr>
              <a:xfrm>
                <a:off x="2581275" y="4387850"/>
                <a:ext cx="9525" cy="134143"/>
              </a:xfrm>
              <a:custGeom>
                <a:avLst/>
                <a:gdLst/>
                <a:ahLst/>
                <a:cxnLst/>
                <a:rect l="l" t="t" r="r" b="b"/>
                <a:pathLst>
                  <a:path w="9525" h="134143">
                    <a:moveTo>
                      <a:pt x="0" y="0"/>
                    </a:moveTo>
                    <a:lnTo>
                      <a:pt x="0" y="134143"/>
                    </a:lnTo>
                  </a:path>
                </a:pathLst>
              </a:custGeom>
              <a:noFill/>
              <a:ln w="20637">
                <a:solidFill>
                  <a:srgbClr val="C83210"/>
                </a:solidFill>
              </a:ln>
            </p:spPr>
          </p:sp>
          <p:sp>
            <p:nvSpPr>
              <p:cNvPr id="178" name="Freeform 178"/>
              <p:cNvSpPr/>
              <p:nvPr/>
            </p:nvSpPr>
            <p:spPr>
              <a:xfrm>
                <a:off x="2509044" y="4429125"/>
                <a:ext cx="144462" cy="92868"/>
              </a:xfrm>
              <a:custGeom>
                <a:avLst/>
                <a:gdLst/>
                <a:ahLst/>
                <a:cxnLst/>
                <a:rect l="l" t="t" r="r" b="b"/>
                <a:pathLst>
                  <a:path w="144462" h="92868">
                    <a:moveTo>
                      <a:pt x="144462" y="0"/>
                    </a:moveTo>
                    <a:lnTo>
                      <a:pt x="144462" y="72231"/>
                    </a:lnTo>
                    <a:cubicBezTo>
                      <a:pt x="144462" y="83629"/>
                      <a:pt x="135222" y="92868"/>
                      <a:pt x="123825" y="92868"/>
                    </a:cubicBezTo>
                    <a:lnTo>
                      <a:pt x="20637" y="92868"/>
                    </a:lnTo>
                    <a:cubicBezTo>
                      <a:pt x="9240" y="92868"/>
                      <a:pt x="0" y="83629"/>
                      <a:pt x="0" y="72231"/>
                    </a:cubicBezTo>
                    <a:lnTo>
                      <a:pt x="0" y="0"/>
                    </a:lnTo>
                  </a:path>
                </a:pathLst>
              </a:custGeom>
              <a:noFill/>
              <a:ln w="20637">
                <a:solidFill>
                  <a:srgbClr val="C83210"/>
                </a:solidFill>
              </a:ln>
            </p:spPr>
          </p:sp>
          <p:sp>
            <p:nvSpPr>
              <p:cNvPr id="179" name="Freeform 179"/>
              <p:cNvSpPr/>
              <p:nvPr/>
            </p:nvSpPr>
            <p:spPr>
              <a:xfrm>
                <a:off x="2509044" y="4335901"/>
                <a:ext cx="144462" cy="51949"/>
              </a:xfrm>
              <a:custGeom>
                <a:avLst/>
                <a:gdLst/>
                <a:ahLst/>
                <a:cxnLst/>
                <a:rect l="l" t="t" r="r" b="b"/>
                <a:pathLst>
                  <a:path w="144462" h="51949">
                    <a:moveTo>
                      <a:pt x="25797" y="51949"/>
                    </a:moveTo>
                    <a:cubicBezTo>
                      <a:pt x="11550" y="51949"/>
                      <a:pt x="0" y="40399"/>
                      <a:pt x="0" y="26152"/>
                    </a:cubicBezTo>
                    <a:cubicBezTo>
                      <a:pt x="0" y="11905"/>
                      <a:pt x="11550" y="355"/>
                      <a:pt x="25797" y="355"/>
                    </a:cubicBezTo>
                    <a:cubicBezTo>
                      <a:pt x="46168" y="0"/>
                      <a:pt x="64592" y="20471"/>
                      <a:pt x="72231" y="51949"/>
                    </a:cubicBezTo>
                    <a:cubicBezTo>
                      <a:pt x="79870" y="20471"/>
                      <a:pt x="98294" y="0"/>
                      <a:pt x="118665" y="355"/>
                    </a:cubicBezTo>
                    <a:cubicBezTo>
                      <a:pt x="132912" y="355"/>
                      <a:pt x="144462" y="11905"/>
                      <a:pt x="144462" y="26152"/>
                    </a:cubicBezTo>
                    <a:cubicBezTo>
                      <a:pt x="144462" y="40399"/>
                      <a:pt x="132912" y="51949"/>
                      <a:pt x="118665" y="51949"/>
                    </a:cubicBezTo>
                  </a:path>
                </a:pathLst>
              </a:custGeom>
              <a:noFill/>
              <a:ln w="20637">
                <a:solidFill>
                  <a:srgbClr val="C83210"/>
                </a:solidFill>
              </a:ln>
            </p:spPr>
          </p:sp>
        </p:grpSp>
        <p:sp>
          <p:nvSpPr>
            <p:cNvPr id="181" name="TextBox 181"/>
            <p:cNvSpPr txBox="1"/>
            <p:nvPr/>
          </p:nvSpPr>
          <p:spPr>
            <a:xfrm>
              <a:off x="2401405" y="4654391"/>
              <a:ext cx="340690"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mn-lt"/>
                  <a:ea typeface="+mn-ea"/>
                  <a:cs typeface="+mn-cs"/>
                </a:rPr>
                <a:t>权益库</a:t>
              </a:r>
            </a:p>
          </p:txBody>
        </p:sp>
        <p:sp>
          <p:nvSpPr>
            <p:cNvPr id="182" name="TextBox 182"/>
            <p:cNvSpPr txBox="1"/>
            <p:nvPr/>
          </p:nvSpPr>
          <p:spPr>
            <a:xfrm>
              <a:off x="2400059" y="49247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卡片权益</a:t>
              </a:r>
            </a:p>
          </p:txBody>
        </p:sp>
        <p:sp>
          <p:nvSpPr>
            <p:cNvPr id="183" name="TextBox 183"/>
            <p:cNvSpPr txBox="1"/>
            <p:nvPr/>
          </p:nvSpPr>
          <p:spPr>
            <a:xfrm>
              <a:off x="2400059" y="50771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生活权益</a:t>
              </a:r>
            </a:p>
          </p:txBody>
        </p:sp>
        <p:sp>
          <p:nvSpPr>
            <p:cNvPr id="184" name="TextBox 184"/>
            <p:cNvSpPr txBox="1"/>
            <p:nvPr/>
          </p:nvSpPr>
          <p:spPr>
            <a:xfrm>
              <a:off x="2400059" y="52295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商户优惠</a:t>
              </a:r>
            </a:p>
          </p:txBody>
        </p:sp>
        <p:sp>
          <p:nvSpPr>
            <p:cNvPr id="185" name="TextBox 185"/>
            <p:cNvSpPr txBox="1"/>
            <p:nvPr/>
          </p:nvSpPr>
          <p:spPr>
            <a:xfrm>
              <a:off x="2400059" y="53819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专属礼遇</a:t>
              </a:r>
            </a:p>
          </p:txBody>
        </p:sp>
        <p:sp>
          <p:nvSpPr>
            <p:cNvPr id="186" name="Rectangle 186"/>
            <p:cNvSpPr/>
            <p:nvPr/>
          </p:nvSpPr>
          <p:spPr>
            <a:xfrm>
              <a:off x="2190750" y="6305550"/>
              <a:ext cx="762000" cy="228600"/>
            </a:xfrm>
            <a:prstGeom prst="roundRect">
              <a:avLst>
                <a:gd name="adj" fmla="val 50000"/>
              </a:avLst>
            </a:prstGeom>
            <a:solidFill>
              <a:srgbClr val="FFFFFF"/>
            </a:solidFill>
            <a:ln>
              <a:noFill/>
            </a:ln>
          </p:spPr>
        </p:sp>
        <p:sp>
          <p:nvSpPr>
            <p:cNvPr id="187" name="TextBox 187"/>
            <p:cNvSpPr txBox="1"/>
            <p:nvPr/>
          </p:nvSpPr>
          <p:spPr>
            <a:xfrm>
              <a:off x="2394031" y="6372939"/>
              <a:ext cx="355438"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Microsoft YaHei"/>
                  <a:cs typeface="Arial"/>
                </a:rPr>
                <a:t>600+篇</a:t>
              </a:r>
            </a:p>
          </p:txBody>
        </p:sp>
        <p:sp>
          <p:nvSpPr>
            <p:cNvPr id="188" name="Rectangle 188"/>
            <p:cNvSpPr/>
            <p:nvPr/>
          </p:nvSpPr>
          <p:spPr>
            <a:xfrm>
              <a:off x="3105150" y="4152900"/>
              <a:ext cx="914400" cy="2533650"/>
            </a:xfrm>
            <a:prstGeom prst="roundRect">
              <a:avLst>
                <a:gd name="adj" fmla="val 6250"/>
              </a:avLst>
            </a:prstGeom>
            <a:solidFill>
              <a:srgbClr val="FDEFF1"/>
            </a:solidFill>
            <a:ln>
              <a:noFill/>
            </a:ln>
          </p:spPr>
        </p:sp>
        <p:grpSp>
          <p:nvGrpSpPr>
            <p:cNvPr id="194" name="Group 194"/>
            <p:cNvGrpSpPr/>
            <p:nvPr/>
          </p:nvGrpSpPr>
          <p:grpSpPr>
            <a:xfrm>
              <a:off x="3489325" y="4336256"/>
              <a:ext cx="165099" cy="185737"/>
              <a:chOff x="3489325" y="4336256"/>
              <a:chExt cx="165099" cy="185737"/>
            </a:xfrm>
          </p:grpSpPr>
          <p:sp>
            <p:nvSpPr>
              <p:cNvPr id="189" name="Freeform 189"/>
              <p:cNvSpPr/>
              <p:nvPr/>
            </p:nvSpPr>
            <p:spPr>
              <a:xfrm>
                <a:off x="3489325" y="4356894"/>
                <a:ext cx="165099" cy="165099"/>
              </a:xfrm>
              <a:custGeom>
                <a:avLst/>
                <a:gdLst/>
                <a:ahLst/>
                <a:cxnLst/>
                <a:rect l="l" t="t" r="r" b="b"/>
                <a:pathLst>
                  <a:path w="165099" h="165099">
                    <a:moveTo>
                      <a:pt x="0" y="20637"/>
                    </a:moveTo>
                    <a:cubicBezTo>
                      <a:pt x="0" y="9240"/>
                      <a:pt x="9240" y="0"/>
                      <a:pt x="20637" y="0"/>
                    </a:cubicBezTo>
                    <a:lnTo>
                      <a:pt x="144462" y="0"/>
                    </a:lnTo>
                    <a:cubicBezTo>
                      <a:pt x="155860" y="0"/>
                      <a:pt x="165099" y="9240"/>
                      <a:pt x="165099" y="20637"/>
                    </a:cubicBezTo>
                    <a:lnTo>
                      <a:pt x="165099" y="144462"/>
                    </a:lnTo>
                    <a:cubicBezTo>
                      <a:pt x="165099" y="155860"/>
                      <a:pt x="155860" y="165099"/>
                      <a:pt x="144462" y="165099"/>
                    </a:cubicBezTo>
                    <a:lnTo>
                      <a:pt x="20637" y="165099"/>
                    </a:lnTo>
                    <a:cubicBezTo>
                      <a:pt x="9240" y="165099"/>
                      <a:pt x="0" y="155860"/>
                      <a:pt x="0" y="144462"/>
                    </a:cubicBezTo>
                    <a:lnTo>
                      <a:pt x="0" y="20637"/>
                    </a:lnTo>
                  </a:path>
                </a:pathLst>
              </a:custGeom>
              <a:noFill/>
              <a:ln w="20637">
                <a:solidFill>
                  <a:srgbClr val="C83210"/>
                </a:solidFill>
              </a:ln>
            </p:spPr>
          </p:sp>
          <p:sp>
            <p:nvSpPr>
              <p:cNvPr id="190" name="Freeform 190"/>
              <p:cNvSpPr/>
              <p:nvPr/>
            </p:nvSpPr>
            <p:spPr>
              <a:xfrm>
                <a:off x="3613149" y="4336256"/>
                <a:ext cx="9525" cy="41275"/>
              </a:xfrm>
              <a:custGeom>
                <a:avLst/>
                <a:gdLst/>
                <a:ahLst/>
                <a:cxnLst/>
                <a:rect l="l" t="t" r="r" b="b"/>
                <a:pathLst>
                  <a:path w="9525" h="41275">
                    <a:moveTo>
                      <a:pt x="0" y="0"/>
                    </a:moveTo>
                    <a:lnTo>
                      <a:pt x="0" y="41275"/>
                    </a:lnTo>
                  </a:path>
                </a:pathLst>
              </a:custGeom>
              <a:noFill/>
              <a:ln w="20637">
                <a:solidFill>
                  <a:srgbClr val="C83210"/>
                </a:solidFill>
              </a:ln>
            </p:spPr>
          </p:sp>
          <p:sp>
            <p:nvSpPr>
              <p:cNvPr id="191" name="Freeform 191"/>
              <p:cNvSpPr/>
              <p:nvPr/>
            </p:nvSpPr>
            <p:spPr>
              <a:xfrm>
                <a:off x="3530600" y="4336256"/>
                <a:ext cx="9525" cy="41275"/>
              </a:xfrm>
              <a:custGeom>
                <a:avLst/>
                <a:gdLst/>
                <a:ahLst/>
                <a:cxnLst/>
                <a:rect l="l" t="t" r="r" b="b"/>
                <a:pathLst>
                  <a:path w="9525" h="41275">
                    <a:moveTo>
                      <a:pt x="0" y="0"/>
                    </a:moveTo>
                    <a:lnTo>
                      <a:pt x="0" y="41275"/>
                    </a:lnTo>
                  </a:path>
                </a:pathLst>
              </a:custGeom>
              <a:noFill/>
              <a:ln w="20637">
                <a:solidFill>
                  <a:srgbClr val="C83210"/>
                </a:solidFill>
              </a:ln>
            </p:spPr>
          </p:sp>
          <p:sp>
            <p:nvSpPr>
              <p:cNvPr id="192" name="Freeform 192"/>
              <p:cNvSpPr/>
              <p:nvPr/>
            </p:nvSpPr>
            <p:spPr>
              <a:xfrm>
                <a:off x="3489325" y="4418806"/>
                <a:ext cx="165099" cy="9525"/>
              </a:xfrm>
              <a:custGeom>
                <a:avLst/>
                <a:gdLst/>
                <a:ahLst/>
                <a:cxnLst/>
                <a:rect l="l" t="t" r="r" b="b"/>
                <a:pathLst>
                  <a:path w="165099" h="9525">
                    <a:moveTo>
                      <a:pt x="0" y="0"/>
                    </a:moveTo>
                    <a:lnTo>
                      <a:pt x="165099" y="0"/>
                    </a:lnTo>
                  </a:path>
                </a:pathLst>
              </a:custGeom>
              <a:noFill/>
              <a:ln w="20637">
                <a:solidFill>
                  <a:srgbClr val="C83210"/>
                </a:solidFill>
              </a:ln>
            </p:spPr>
          </p:sp>
          <p:sp>
            <p:nvSpPr>
              <p:cNvPr id="193" name="Freeform 193"/>
              <p:cNvSpPr/>
              <p:nvPr/>
            </p:nvSpPr>
            <p:spPr>
              <a:xfrm>
                <a:off x="3530600" y="4460081"/>
                <a:ext cx="20637" cy="20637"/>
              </a:xfrm>
              <a:custGeom>
                <a:avLst/>
                <a:gdLst/>
                <a:ahLst/>
                <a:cxnLst/>
                <a:rect l="l" t="t" r="r" b="b"/>
                <a:pathLst>
                  <a:path w="20637" h="20637">
                    <a:moveTo>
                      <a:pt x="0" y="0"/>
                    </a:moveTo>
                    <a:lnTo>
                      <a:pt x="20637" y="0"/>
                    </a:lnTo>
                    <a:lnTo>
                      <a:pt x="20637" y="20637"/>
                    </a:lnTo>
                    <a:lnTo>
                      <a:pt x="0" y="20637"/>
                    </a:lnTo>
                    <a:lnTo>
                      <a:pt x="0" y="0"/>
                    </a:lnTo>
                  </a:path>
                </a:pathLst>
              </a:custGeom>
              <a:noFill/>
              <a:ln w="20637">
                <a:solidFill>
                  <a:srgbClr val="C83210"/>
                </a:solidFill>
              </a:ln>
            </p:spPr>
          </p:sp>
        </p:grpSp>
        <p:sp>
          <p:nvSpPr>
            <p:cNvPr id="195" name="TextBox 195"/>
            <p:cNvSpPr txBox="1"/>
            <p:nvPr/>
          </p:nvSpPr>
          <p:spPr>
            <a:xfrm>
              <a:off x="3392005" y="4654391"/>
              <a:ext cx="340690"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mn-lt"/>
                  <a:ea typeface="+mn-ea"/>
                  <a:cs typeface="+mn-cs"/>
                </a:rPr>
                <a:t>活动库</a:t>
              </a:r>
            </a:p>
          </p:txBody>
        </p:sp>
        <p:sp>
          <p:nvSpPr>
            <p:cNvPr id="196" name="TextBox 196"/>
            <p:cNvSpPr txBox="1"/>
            <p:nvPr/>
          </p:nvSpPr>
          <p:spPr>
            <a:xfrm>
              <a:off x="3390659" y="49247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线上活动</a:t>
              </a:r>
            </a:p>
          </p:txBody>
        </p:sp>
        <p:sp>
          <p:nvSpPr>
            <p:cNvPr id="197" name="TextBox 197"/>
            <p:cNvSpPr txBox="1"/>
            <p:nvPr/>
          </p:nvSpPr>
          <p:spPr>
            <a:xfrm>
              <a:off x="3390659" y="50771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线下沙龙</a:t>
              </a:r>
            </a:p>
          </p:txBody>
        </p:sp>
        <p:sp>
          <p:nvSpPr>
            <p:cNvPr id="198" name="TextBox 198"/>
            <p:cNvSpPr txBox="1"/>
            <p:nvPr/>
          </p:nvSpPr>
          <p:spPr>
            <a:xfrm>
              <a:off x="3390659" y="52295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节日营销</a:t>
              </a:r>
            </a:p>
          </p:txBody>
        </p:sp>
        <p:sp>
          <p:nvSpPr>
            <p:cNvPr id="199" name="TextBox 199"/>
            <p:cNvSpPr txBox="1"/>
            <p:nvPr/>
          </p:nvSpPr>
          <p:spPr>
            <a:xfrm>
              <a:off x="3390659" y="53819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社群活动</a:t>
              </a:r>
            </a:p>
          </p:txBody>
        </p:sp>
        <p:sp>
          <p:nvSpPr>
            <p:cNvPr id="200" name="Rectangle 200"/>
            <p:cNvSpPr/>
            <p:nvPr/>
          </p:nvSpPr>
          <p:spPr>
            <a:xfrm>
              <a:off x="3181350" y="6305550"/>
              <a:ext cx="762000" cy="228600"/>
            </a:xfrm>
            <a:prstGeom prst="roundRect">
              <a:avLst>
                <a:gd name="adj" fmla="val 50000"/>
              </a:avLst>
            </a:prstGeom>
            <a:solidFill>
              <a:srgbClr val="FFFFFF"/>
            </a:solidFill>
            <a:ln>
              <a:noFill/>
            </a:ln>
          </p:spPr>
        </p:sp>
        <p:sp>
          <p:nvSpPr>
            <p:cNvPr id="201" name="TextBox 201"/>
            <p:cNvSpPr txBox="1"/>
            <p:nvPr/>
          </p:nvSpPr>
          <p:spPr>
            <a:xfrm>
              <a:off x="3384631" y="6372939"/>
              <a:ext cx="355438"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Microsoft YaHei"/>
                  <a:cs typeface="Arial"/>
                </a:rPr>
                <a:t>500+篇</a:t>
              </a:r>
            </a:p>
          </p:txBody>
        </p:sp>
        <p:sp>
          <p:nvSpPr>
            <p:cNvPr id="202" name="Rectangle 202"/>
            <p:cNvSpPr/>
            <p:nvPr/>
          </p:nvSpPr>
          <p:spPr>
            <a:xfrm>
              <a:off x="4095750" y="4152900"/>
              <a:ext cx="914400" cy="2533650"/>
            </a:xfrm>
            <a:prstGeom prst="roundRect">
              <a:avLst>
                <a:gd name="adj" fmla="val 6250"/>
              </a:avLst>
            </a:prstGeom>
            <a:solidFill>
              <a:srgbClr val="FDEFF1"/>
            </a:solidFill>
            <a:ln>
              <a:noFill/>
            </a:ln>
          </p:spPr>
        </p:sp>
        <p:grpSp>
          <p:nvGrpSpPr>
            <p:cNvPr id="207" name="Group 207"/>
            <p:cNvGrpSpPr/>
            <p:nvPr/>
          </p:nvGrpSpPr>
          <p:grpSpPr>
            <a:xfrm>
              <a:off x="4490244" y="4336256"/>
              <a:ext cx="144462" cy="185737"/>
              <a:chOff x="4490244" y="4336256"/>
              <a:chExt cx="144462" cy="185737"/>
            </a:xfrm>
          </p:grpSpPr>
          <p:sp>
            <p:nvSpPr>
              <p:cNvPr id="203" name="Freeform 203"/>
              <p:cNvSpPr/>
              <p:nvPr/>
            </p:nvSpPr>
            <p:spPr>
              <a:xfrm>
                <a:off x="4490244" y="4336256"/>
                <a:ext cx="144462" cy="185737"/>
              </a:xfrm>
              <a:custGeom>
                <a:avLst/>
                <a:gdLst/>
                <a:ahLst/>
                <a:cxnLst/>
                <a:rect l="l" t="t" r="r" b="b"/>
                <a:pathLst>
                  <a:path w="144462" h="185737">
                    <a:moveTo>
                      <a:pt x="0" y="20637"/>
                    </a:moveTo>
                    <a:cubicBezTo>
                      <a:pt x="0" y="9240"/>
                      <a:pt x="9240" y="0"/>
                      <a:pt x="20637" y="0"/>
                    </a:cubicBezTo>
                    <a:lnTo>
                      <a:pt x="123825" y="0"/>
                    </a:lnTo>
                    <a:cubicBezTo>
                      <a:pt x="135222" y="0"/>
                      <a:pt x="144462" y="9240"/>
                      <a:pt x="144462" y="20637"/>
                    </a:cubicBezTo>
                    <a:lnTo>
                      <a:pt x="144462" y="165099"/>
                    </a:lnTo>
                    <a:cubicBezTo>
                      <a:pt x="144462" y="176497"/>
                      <a:pt x="135222" y="185737"/>
                      <a:pt x="123825" y="185737"/>
                    </a:cubicBezTo>
                    <a:lnTo>
                      <a:pt x="20637" y="185737"/>
                    </a:lnTo>
                    <a:cubicBezTo>
                      <a:pt x="9240" y="185737"/>
                      <a:pt x="0" y="176497"/>
                      <a:pt x="0" y="165099"/>
                    </a:cubicBezTo>
                    <a:lnTo>
                      <a:pt x="0" y="20637"/>
                    </a:lnTo>
                  </a:path>
                </a:pathLst>
              </a:custGeom>
              <a:noFill/>
              <a:ln w="20637">
                <a:solidFill>
                  <a:srgbClr val="C83210"/>
                </a:solidFill>
              </a:ln>
            </p:spPr>
          </p:sp>
          <p:sp>
            <p:nvSpPr>
              <p:cNvPr id="204" name="Freeform 204"/>
              <p:cNvSpPr/>
              <p:nvPr/>
            </p:nvSpPr>
            <p:spPr>
              <a:xfrm>
                <a:off x="4531518" y="4377531"/>
                <a:ext cx="61912" cy="9525"/>
              </a:xfrm>
              <a:custGeom>
                <a:avLst/>
                <a:gdLst/>
                <a:ahLst/>
                <a:cxnLst/>
                <a:rect l="l" t="t" r="r" b="b"/>
                <a:pathLst>
                  <a:path w="61912" h="9525">
                    <a:moveTo>
                      <a:pt x="0" y="0"/>
                    </a:moveTo>
                    <a:lnTo>
                      <a:pt x="61912" y="0"/>
                    </a:lnTo>
                  </a:path>
                </a:pathLst>
              </a:custGeom>
              <a:noFill/>
              <a:ln w="20637">
                <a:solidFill>
                  <a:srgbClr val="C83210"/>
                </a:solidFill>
              </a:ln>
            </p:spPr>
          </p:sp>
          <p:sp>
            <p:nvSpPr>
              <p:cNvPr id="205" name="Freeform 205"/>
              <p:cNvSpPr/>
              <p:nvPr/>
            </p:nvSpPr>
            <p:spPr>
              <a:xfrm>
                <a:off x="4531518" y="4418806"/>
                <a:ext cx="61912" cy="9525"/>
              </a:xfrm>
              <a:custGeom>
                <a:avLst/>
                <a:gdLst/>
                <a:ahLst/>
                <a:cxnLst/>
                <a:rect l="l" t="t" r="r" b="b"/>
                <a:pathLst>
                  <a:path w="61912" h="9525">
                    <a:moveTo>
                      <a:pt x="0" y="0"/>
                    </a:moveTo>
                    <a:lnTo>
                      <a:pt x="61912" y="0"/>
                    </a:lnTo>
                  </a:path>
                </a:pathLst>
              </a:custGeom>
              <a:noFill/>
              <a:ln w="20637">
                <a:solidFill>
                  <a:srgbClr val="C83210"/>
                </a:solidFill>
              </a:ln>
            </p:spPr>
          </p:sp>
          <p:sp>
            <p:nvSpPr>
              <p:cNvPr id="206" name="Freeform 206"/>
              <p:cNvSpPr/>
              <p:nvPr/>
            </p:nvSpPr>
            <p:spPr>
              <a:xfrm>
                <a:off x="4531518" y="4460081"/>
                <a:ext cx="41275" cy="9525"/>
              </a:xfrm>
              <a:custGeom>
                <a:avLst/>
                <a:gdLst/>
                <a:ahLst/>
                <a:cxnLst/>
                <a:rect l="l" t="t" r="r" b="b"/>
                <a:pathLst>
                  <a:path w="41275" h="9525">
                    <a:moveTo>
                      <a:pt x="0" y="0"/>
                    </a:moveTo>
                    <a:lnTo>
                      <a:pt x="41275" y="0"/>
                    </a:lnTo>
                  </a:path>
                </a:pathLst>
              </a:custGeom>
              <a:noFill/>
              <a:ln w="20637">
                <a:solidFill>
                  <a:srgbClr val="C83210"/>
                </a:solidFill>
              </a:ln>
            </p:spPr>
          </p:sp>
        </p:grpSp>
        <p:sp>
          <p:nvSpPr>
            <p:cNvPr id="208" name="TextBox 208"/>
            <p:cNvSpPr txBox="1"/>
            <p:nvPr/>
          </p:nvSpPr>
          <p:spPr>
            <a:xfrm>
              <a:off x="4382605" y="4654391"/>
              <a:ext cx="340690"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mn-lt"/>
                  <a:ea typeface="+mn-ea"/>
                  <a:cs typeface="+mn-cs"/>
                </a:rPr>
                <a:t>话术库</a:t>
              </a:r>
            </a:p>
          </p:txBody>
        </p:sp>
        <p:sp>
          <p:nvSpPr>
            <p:cNvPr id="209" name="TextBox 209"/>
            <p:cNvSpPr txBox="1"/>
            <p:nvPr/>
          </p:nvSpPr>
          <p:spPr>
            <a:xfrm>
              <a:off x="4381259" y="49247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客户沟通</a:t>
              </a:r>
            </a:p>
          </p:txBody>
        </p:sp>
        <p:sp>
          <p:nvSpPr>
            <p:cNvPr id="210" name="TextBox 210"/>
            <p:cNvSpPr txBox="1"/>
            <p:nvPr/>
          </p:nvSpPr>
          <p:spPr>
            <a:xfrm>
              <a:off x="4381259" y="50771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疑问处理</a:t>
              </a:r>
            </a:p>
          </p:txBody>
        </p:sp>
        <p:sp>
          <p:nvSpPr>
            <p:cNvPr id="211" name="TextBox 211"/>
            <p:cNvSpPr txBox="1"/>
            <p:nvPr/>
          </p:nvSpPr>
          <p:spPr>
            <a:xfrm>
              <a:off x="4381259" y="52295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场景话术</a:t>
              </a:r>
            </a:p>
          </p:txBody>
        </p:sp>
        <p:sp>
          <p:nvSpPr>
            <p:cNvPr id="212" name="TextBox 212"/>
            <p:cNvSpPr txBox="1"/>
            <p:nvPr/>
          </p:nvSpPr>
          <p:spPr>
            <a:xfrm>
              <a:off x="4381259" y="53819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营销话术</a:t>
              </a:r>
            </a:p>
          </p:txBody>
        </p:sp>
        <p:sp>
          <p:nvSpPr>
            <p:cNvPr id="213" name="Rectangle 213"/>
            <p:cNvSpPr/>
            <p:nvPr/>
          </p:nvSpPr>
          <p:spPr>
            <a:xfrm>
              <a:off x="4171950" y="6305550"/>
              <a:ext cx="762000" cy="228600"/>
            </a:xfrm>
            <a:prstGeom prst="roundRect">
              <a:avLst>
                <a:gd name="adj" fmla="val 50000"/>
              </a:avLst>
            </a:prstGeom>
            <a:solidFill>
              <a:srgbClr val="FFFFFF"/>
            </a:solidFill>
            <a:ln>
              <a:noFill/>
            </a:ln>
          </p:spPr>
        </p:sp>
        <p:sp>
          <p:nvSpPr>
            <p:cNvPr id="214" name="TextBox 214"/>
            <p:cNvSpPr txBox="1"/>
            <p:nvPr/>
          </p:nvSpPr>
          <p:spPr>
            <a:xfrm>
              <a:off x="4330883" y="6372939"/>
              <a:ext cx="44413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Microsoft YaHei"/>
                  <a:cs typeface="Arial"/>
                </a:rPr>
                <a:t>1,000+条</a:t>
              </a:r>
            </a:p>
          </p:txBody>
        </p:sp>
        <p:sp>
          <p:nvSpPr>
            <p:cNvPr id="215" name="Rectangle 215"/>
            <p:cNvSpPr/>
            <p:nvPr/>
          </p:nvSpPr>
          <p:spPr>
            <a:xfrm>
              <a:off x="5086350" y="4152900"/>
              <a:ext cx="914400" cy="2533650"/>
            </a:xfrm>
            <a:prstGeom prst="roundRect">
              <a:avLst>
                <a:gd name="adj" fmla="val 6250"/>
              </a:avLst>
            </a:prstGeom>
            <a:solidFill>
              <a:srgbClr val="FDEFF1"/>
            </a:solidFill>
            <a:ln>
              <a:noFill/>
            </a:ln>
          </p:spPr>
        </p:sp>
        <p:sp>
          <p:nvSpPr>
            <p:cNvPr id="216" name="Freeform 216"/>
            <p:cNvSpPr/>
            <p:nvPr/>
          </p:nvSpPr>
          <p:spPr>
            <a:xfrm>
              <a:off x="5460206" y="4346575"/>
              <a:ext cx="185737" cy="154781"/>
            </a:xfrm>
            <a:custGeom>
              <a:avLst/>
              <a:gdLst/>
              <a:ahLst/>
              <a:cxnLst/>
              <a:rect l="l" t="t" r="r" b="b"/>
              <a:pathLst>
                <a:path w="185737" h="154781">
                  <a:moveTo>
                    <a:pt x="20637" y="0"/>
                  </a:moveTo>
                  <a:lnTo>
                    <a:pt x="61912" y="0"/>
                  </a:lnTo>
                  <a:lnTo>
                    <a:pt x="92868" y="30956"/>
                  </a:lnTo>
                  <a:lnTo>
                    <a:pt x="165099" y="30956"/>
                  </a:lnTo>
                  <a:cubicBezTo>
                    <a:pt x="176497" y="30956"/>
                    <a:pt x="185737" y="40196"/>
                    <a:pt x="185737" y="51594"/>
                  </a:cubicBezTo>
                  <a:lnTo>
                    <a:pt x="185737" y="134143"/>
                  </a:lnTo>
                  <a:cubicBezTo>
                    <a:pt x="185737" y="145541"/>
                    <a:pt x="176497" y="154781"/>
                    <a:pt x="165099" y="154781"/>
                  </a:cubicBezTo>
                  <a:lnTo>
                    <a:pt x="20637" y="154781"/>
                  </a:lnTo>
                  <a:cubicBezTo>
                    <a:pt x="9240" y="154781"/>
                    <a:pt x="0" y="145541"/>
                    <a:pt x="0" y="134143"/>
                  </a:cubicBezTo>
                  <a:lnTo>
                    <a:pt x="0" y="20637"/>
                  </a:lnTo>
                  <a:cubicBezTo>
                    <a:pt x="0" y="9240"/>
                    <a:pt x="9240" y="0"/>
                    <a:pt x="20637" y="0"/>
                  </a:cubicBezTo>
                </a:path>
              </a:pathLst>
            </a:custGeom>
            <a:noFill/>
            <a:ln w="20637">
              <a:solidFill>
                <a:srgbClr val="C83210"/>
              </a:solidFill>
            </a:ln>
          </p:spPr>
        </p:sp>
        <p:sp>
          <p:nvSpPr>
            <p:cNvPr id="217" name="TextBox 217"/>
            <p:cNvSpPr txBox="1"/>
            <p:nvPr/>
          </p:nvSpPr>
          <p:spPr>
            <a:xfrm>
              <a:off x="5373205" y="4654391"/>
              <a:ext cx="340690"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mn-lt"/>
                  <a:ea typeface="+mn-ea"/>
                  <a:cs typeface="+mn-cs"/>
                </a:rPr>
                <a:t>案例库</a:t>
              </a:r>
            </a:p>
          </p:txBody>
        </p:sp>
        <p:sp>
          <p:nvSpPr>
            <p:cNvPr id="218" name="TextBox 218"/>
            <p:cNvSpPr txBox="1"/>
            <p:nvPr/>
          </p:nvSpPr>
          <p:spPr>
            <a:xfrm>
              <a:off x="5371859" y="49247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客户故事</a:t>
              </a:r>
            </a:p>
          </p:txBody>
        </p:sp>
        <p:sp>
          <p:nvSpPr>
            <p:cNvPr id="219" name="TextBox 219"/>
            <p:cNvSpPr txBox="1"/>
            <p:nvPr/>
          </p:nvSpPr>
          <p:spPr>
            <a:xfrm>
              <a:off x="5371859" y="50771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配置案例</a:t>
              </a:r>
            </a:p>
          </p:txBody>
        </p:sp>
        <p:sp>
          <p:nvSpPr>
            <p:cNvPr id="220" name="TextBox 220"/>
            <p:cNvSpPr txBox="1"/>
            <p:nvPr/>
          </p:nvSpPr>
          <p:spPr>
            <a:xfrm>
              <a:off x="5371859" y="52295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服务案例</a:t>
              </a:r>
            </a:p>
          </p:txBody>
        </p:sp>
        <p:sp>
          <p:nvSpPr>
            <p:cNvPr id="221" name="TextBox 221"/>
            <p:cNvSpPr txBox="1"/>
            <p:nvPr/>
          </p:nvSpPr>
          <p:spPr>
            <a:xfrm>
              <a:off x="5371859" y="538191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同业参考</a:t>
              </a:r>
            </a:p>
          </p:txBody>
        </p:sp>
        <p:sp>
          <p:nvSpPr>
            <p:cNvPr id="222" name="Rectangle 222"/>
            <p:cNvSpPr/>
            <p:nvPr/>
          </p:nvSpPr>
          <p:spPr>
            <a:xfrm>
              <a:off x="5162550" y="6305550"/>
              <a:ext cx="762000" cy="228600"/>
            </a:xfrm>
            <a:prstGeom prst="roundRect">
              <a:avLst>
                <a:gd name="adj" fmla="val 50000"/>
              </a:avLst>
            </a:prstGeom>
            <a:solidFill>
              <a:srgbClr val="FFFFFF"/>
            </a:solidFill>
            <a:ln>
              <a:noFill/>
            </a:ln>
          </p:spPr>
        </p:sp>
        <p:sp>
          <p:nvSpPr>
            <p:cNvPr id="223" name="TextBox 223"/>
            <p:cNvSpPr txBox="1"/>
            <p:nvPr/>
          </p:nvSpPr>
          <p:spPr>
            <a:xfrm>
              <a:off x="5365831" y="6372939"/>
              <a:ext cx="355438"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Arial"/>
                  <a:ea typeface="Microsoft YaHei"/>
                  <a:cs typeface="Arial"/>
                </a:rPr>
                <a:t>300+篇</a:t>
              </a:r>
            </a:p>
          </p:txBody>
        </p:sp>
      </p:grpSp>
      <p:grpSp>
        <p:nvGrpSpPr>
          <p:cNvPr id="307" name="week-calendar"/>
          <p:cNvGrpSpPr/>
          <p:nvPr/>
        </p:nvGrpSpPr>
        <p:grpSpPr>
          <a:xfrm>
            <a:off x="6134100" y="704850"/>
            <a:ext cx="5924550" cy="2847975"/>
            <a:chOff x="6134100" y="704850"/>
            <a:chExt cx="5924550" cy="2847975"/>
          </a:xfrm>
        </p:grpSpPr>
        <p:sp>
          <p:nvSpPr>
            <p:cNvPr id="225" name="Rectangle 225"/>
            <p:cNvSpPr/>
            <p:nvPr/>
          </p:nvSpPr>
          <p:spPr>
            <a:xfrm>
              <a:off x="6191250" y="704850"/>
              <a:ext cx="38100" cy="152400"/>
            </a:xfrm>
            <a:prstGeom prst="rect">
              <a:avLst/>
            </a:prstGeom>
            <a:solidFill>
              <a:srgbClr val="C83210"/>
            </a:solidFill>
            <a:ln>
              <a:noFill/>
            </a:ln>
          </p:spPr>
        </p:sp>
        <p:sp>
          <p:nvSpPr>
            <p:cNvPr id="226" name="TextBox 226"/>
            <p:cNvSpPr txBox="1"/>
            <p:nvPr/>
          </p:nvSpPr>
          <p:spPr>
            <a:xfrm>
              <a:off x="6300597" y="723424"/>
              <a:ext cx="1593037"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一周内容编辑日历（示例）</a:t>
              </a:r>
            </a:p>
          </p:txBody>
        </p:sp>
        <p:sp>
          <p:nvSpPr>
            <p:cNvPr id="227" name="TextBox 227"/>
            <p:cNvSpPr txBox="1"/>
            <p:nvPr/>
          </p:nvSpPr>
          <p:spPr>
            <a:xfrm>
              <a:off x="9939338" y="730091"/>
              <a:ext cx="1759077" cy="161925"/>
            </a:xfrm>
            <a:prstGeom prst="rect">
              <a:avLst/>
            </a:prstGeom>
            <a:noFill/>
            <a:ln>
              <a:noFill/>
            </a:ln>
          </p:spPr>
          <p:txBody>
            <a:bodyPr wrap="none" lIns="0" tIns="0" rIns="0" bIns="0" anchor="t" anchorCtr="0">
              <a:spAutoFit/>
            </a:bodyPr>
            <a:lstStyle/>
            <a:p>
              <a:pPr algn="l"/>
              <a:r>
                <a:rPr lang="zh-CN" sz="820" i="1" dirty="0">
                  <a:solidFill>
                    <a:srgbClr val="C83210"/>
                  </a:solidFill>
                  <a:latin typeface="KaiTi"/>
                  <a:ea typeface="KaiTi"/>
                  <a:cs typeface="KaiTi"/>
                </a:rPr>
                <a:t>让有价值的内容，触达每一位客户</a:t>
              </a:r>
            </a:p>
          </p:txBody>
        </p:sp>
        <p:sp>
          <p:nvSpPr>
            <p:cNvPr id="228" name="Rectangle 228"/>
            <p:cNvSpPr/>
            <p:nvPr/>
          </p:nvSpPr>
          <p:spPr>
            <a:xfrm>
              <a:off x="6134100" y="914400"/>
              <a:ext cx="5924550" cy="228600"/>
            </a:xfrm>
            <a:prstGeom prst="rect">
              <a:avLst/>
            </a:prstGeom>
            <a:solidFill>
              <a:srgbClr val="C83210"/>
            </a:solidFill>
            <a:ln>
              <a:noFill/>
            </a:ln>
          </p:spPr>
        </p:sp>
        <p:sp>
          <p:nvSpPr>
            <p:cNvPr id="229" name="TextBox 229"/>
            <p:cNvSpPr txBox="1"/>
            <p:nvPr/>
          </p:nvSpPr>
          <p:spPr>
            <a:xfrm>
              <a:off x="6333172" y="9858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时间</a:t>
              </a:r>
            </a:p>
          </p:txBody>
        </p:sp>
        <p:sp>
          <p:nvSpPr>
            <p:cNvPr id="230" name="TextBox 230"/>
            <p:cNvSpPr txBox="1"/>
            <p:nvPr/>
          </p:nvSpPr>
          <p:spPr>
            <a:xfrm>
              <a:off x="7018972" y="9858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周一</a:t>
              </a:r>
            </a:p>
          </p:txBody>
        </p:sp>
        <p:sp>
          <p:nvSpPr>
            <p:cNvPr id="231" name="TextBox 231"/>
            <p:cNvSpPr txBox="1"/>
            <p:nvPr/>
          </p:nvSpPr>
          <p:spPr>
            <a:xfrm>
              <a:off x="7780972" y="9858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周二</a:t>
              </a:r>
            </a:p>
          </p:txBody>
        </p:sp>
        <p:sp>
          <p:nvSpPr>
            <p:cNvPr id="232" name="TextBox 232"/>
            <p:cNvSpPr txBox="1"/>
            <p:nvPr/>
          </p:nvSpPr>
          <p:spPr>
            <a:xfrm>
              <a:off x="8542972" y="9858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周三</a:t>
              </a:r>
            </a:p>
          </p:txBody>
        </p:sp>
        <p:sp>
          <p:nvSpPr>
            <p:cNvPr id="233" name="TextBox 233"/>
            <p:cNvSpPr txBox="1"/>
            <p:nvPr/>
          </p:nvSpPr>
          <p:spPr>
            <a:xfrm>
              <a:off x="9304972" y="9858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周四</a:t>
              </a:r>
            </a:p>
          </p:txBody>
        </p:sp>
        <p:sp>
          <p:nvSpPr>
            <p:cNvPr id="234" name="TextBox 234"/>
            <p:cNvSpPr txBox="1"/>
            <p:nvPr/>
          </p:nvSpPr>
          <p:spPr>
            <a:xfrm>
              <a:off x="10066972" y="9858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周五</a:t>
              </a:r>
            </a:p>
          </p:txBody>
        </p:sp>
        <p:sp>
          <p:nvSpPr>
            <p:cNvPr id="235" name="TextBox 235"/>
            <p:cNvSpPr txBox="1"/>
            <p:nvPr/>
          </p:nvSpPr>
          <p:spPr>
            <a:xfrm>
              <a:off x="10828972" y="9858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周六</a:t>
              </a:r>
            </a:p>
          </p:txBody>
        </p:sp>
        <p:sp>
          <p:nvSpPr>
            <p:cNvPr id="236" name="TextBox 236"/>
            <p:cNvSpPr txBox="1"/>
            <p:nvPr/>
          </p:nvSpPr>
          <p:spPr>
            <a:xfrm>
              <a:off x="11590972" y="9858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周日</a:t>
              </a:r>
            </a:p>
          </p:txBody>
        </p:sp>
        <p:sp>
          <p:nvSpPr>
            <p:cNvPr id="237" name="Rectangle 237"/>
            <p:cNvSpPr/>
            <p:nvPr/>
          </p:nvSpPr>
          <p:spPr>
            <a:xfrm>
              <a:off x="6134100" y="1143000"/>
              <a:ext cx="590550" cy="2400300"/>
            </a:xfrm>
            <a:prstGeom prst="rect">
              <a:avLst/>
            </a:prstGeom>
            <a:solidFill>
              <a:srgbClr val="FBE3E6"/>
            </a:solidFill>
            <a:ln>
              <a:noFill/>
            </a:ln>
          </p:spPr>
        </p:sp>
        <p:grpSp>
          <p:nvGrpSpPr>
            <p:cNvPr id="240" name="Group 240"/>
            <p:cNvGrpSpPr/>
            <p:nvPr/>
          </p:nvGrpSpPr>
          <p:grpSpPr>
            <a:xfrm>
              <a:off x="6380559" y="1275159"/>
              <a:ext cx="107156" cy="107156"/>
              <a:chOff x="6380559" y="1275159"/>
              <a:chExt cx="107156" cy="107156"/>
            </a:xfrm>
          </p:grpSpPr>
          <p:sp>
            <p:nvSpPr>
              <p:cNvPr id="238" name="Freeform 238"/>
              <p:cNvSpPr/>
              <p:nvPr/>
            </p:nvSpPr>
            <p:spPr>
              <a:xfrm>
                <a:off x="6410325" y="1304925"/>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1906">
                <a:solidFill>
                  <a:srgbClr val="C83210"/>
                </a:solidFill>
              </a:ln>
            </p:spPr>
          </p:sp>
          <p:sp>
            <p:nvSpPr>
              <p:cNvPr id="239" name="Freeform 239"/>
              <p:cNvSpPr/>
              <p:nvPr/>
            </p:nvSpPr>
            <p:spPr>
              <a:xfrm>
                <a:off x="6380559" y="1275159"/>
                <a:ext cx="107156" cy="107156"/>
              </a:xfrm>
              <a:custGeom>
                <a:avLst/>
                <a:gdLst/>
                <a:ahLst/>
                <a:cxnLst/>
                <a:rect l="l" t="t" r="r" b="b"/>
                <a:pathLst>
                  <a:path w="107156" h="107156">
                    <a:moveTo>
                      <a:pt x="0" y="53578"/>
                    </a:moveTo>
                    <a:lnTo>
                      <a:pt x="5953" y="53578"/>
                    </a:lnTo>
                    <a:moveTo>
                      <a:pt x="53578" y="0"/>
                    </a:moveTo>
                    <a:lnTo>
                      <a:pt x="53578" y="5953"/>
                    </a:lnTo>
                    <a:moveTo>
                      <a:pt x="101203" y="53578"/>
                    </a:moveTo>
                    <a:lnTo>
                      <a:pt x="107156" y="53578"/>
                    </a:lnTo>
                    <a:moveTo>
                      <a:pt x="53578" y="101203"/>
                    </a:moveTo>
                    <a:lnTo>
                      <a:pt x="53578" y="107156"/>
                    </a:lnTo>
                    <a:moveTo>
                      <a:pt x="15478" y="15478"/>
                    </a:moveTo>
                    <a:lnTo>
                      <a:pt x="19645" y="19645"/>
                    </a:lnTo>
                    <a:moveTo>
                      <a:pt x="91678" y="15478"/>
                    </a:moveTo>
                    <a:lnTo>
                      <a:pt x="87511" y="19645"/>
                    </a:lnTo>
                    <a:moveTo>
                      <a:pt x="87511" y="87511"/>
                    </a:moveTo>
                    <a:lnTo>
                      <a:pt x="91678" y="91678"/>
                    </a:lnTo>
                    <a:moveTo>
                      <a:pt x="19645" y="87511"/>
                    </a:moveTo>
                    <a:lnTo>
                      <a:pt x="15478" y="91678"/>
                    </a:lnTo>
                  </a:path>
                </a:pathLst>
              </a:custGeom>
              <a:noFill/>
              <a:ln w="11906">
                <a:solidFill>
                  <a:srgbClr val="C83210"/>
                </a:solidFill>
              </a:ln>
            </p:spPr>
          </p:sp>
        </p:grpSp>
        <p:sp>
          <p:nvSpPr>
            <p:cNvPr id="241" name="TextBox 241"/>
            <p:cNvSpPr txBox="1"/>
            <p:nvPr/>
          </p:nvSpPr>
          <p:spPr>
            <a:xfrm>
              <a:off x="6318263" y="1458039"/>
              <a:ext cx="222225"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上午</a:t>
              </a:r>
            </a:p>
          </p:txBody>
        </p:sp>
        <p:sp>
          <p:nvSpPr>
            <p:cNvPr id="242" name="TextBox 242"/>
            <p:cNvSpPr txBox="1"/>
            <p:nvPr/>
          </p:nvSpPr>
          <p:spPr>
            <a:xfrm>
              <a:off x="6223397" y="1615678"/>
              <a:ext cx="411957"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Arial"/>
                  <a:ea typeface="Arial"/>
                  <a:cs typeface="Arial"/>
                </a:rPr>
                <a:t>08:00-10:00</a:t>
              </a:r>
            </a:p>
          </p:txBody>
        </p:sp>
        <p:grpSp>
          <p:nvGrpSpPr>
            <p:cNvPr id="245" name="Group 245"/>
            <p:cNvGrpSpPr/>
            <p:nvPr/>
          </p:nvGrpSpPr>
          <p:grpSpPr>
            <a:xfrm>
              <a:off x="6380559" y="2113359"/>
              <a:ext cx="107156" cy="107156"/>
              <a:chOff x="6380559" y="2113359"/>
              <a:chExt cx="107156" cy="107156"/>
            </a:xfrm>
          </p:grpSpPr>
          <p:sp>
            <p:nvSpPr>
              <p:cNvPr id="243" name="Freeform 243"/>
              <p:cNvSpPr/>
              <p:nvPr/>
            </p:nvSpPr>
            <p:spPr>
              <a:xfrm>
                <a:off x="6410325" y="2143125"/>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1906">
                <a:solidFill>
                  <a:srgbClr val="C83210"/>
                </a:solidFill>
              </a:ln>
            </p:spPr>
          </p:sp>
          <p:sp>
            <p:nvSpPr>
              <p:cNvPr id="244" name="Freeform 244"/>
              <p:cNvSpPr/>
              <p:nvPr/>
            </p:nvSpPr>
            <p:spPr>
              <a:xfrm>
                <a:off x="6380559" y="2113359"/>
                <a:ext cx="107156" cy="107156"/>
              </a:xfrm>
              <a:custGeom>
                <a:avLst/>
                <a:gdLst/>
                <a:ahLst/>
                <a:cxnLst/>
                <a:rect l="l" t="t" r="r" b="b"/>
                <a:pathLst>
                  <a:path w="107156" h="107156">
                    <a:moveTo>
                      <a:pt x="0" y="53578"/>
                    </a:moveTo>
                    <a:lnTo>
                      <a:pt x="5953" y="53578"/>
                    </a:lnTo>
                    <a:moveTo>
                      <a:pt x="53578" y="0"/>
                    </a:moveTo>
                    <a:lnTo>
                      <a:pt x="53578" y="5953"/>
                    </a:lnTo>
                    <a:moveTo>
                      <a:pt x="101203" y="53578"/>
                    </a:moveTo>
                    <a:lnTo>
                      <a:pt x="107156" y="53578"/>
                    </a:lnTo>
                    <a:moveTo>
                      <a:pt x="53578" y="101203"/>
                    </a:moveTo>
                    <a:lnTo>
                      <a:pt x="53578" y="107156"/>
                    </a:lnTo>
                    <a:moveTo>
                      <a:pt x="15478" y="15478"/>
                    </a:moveTo>
                    <a:lnTo>
                      <a:pt x="19645" y="19645"/>
                    </a:lnTo>
                    <a:moveTo>
                      <a:pt x="91678" y="15478"/>
                    </a:moveTo>
                    <a:lnTo>
                      <a:pt x="87511" y="19645"/>
                    </a:lnTo>
                    <a:moveTo>
                      <a:pt x="87511" y="87511"/>
                    </a:moveTo>
                    <a:lnTo>
                      <a:pt x="91678" y="91678"/>
                    </a:lnTo>
                    <a:moveTo>
                      <a:pt x="19645" y="87511"/>
                    </a:moveTo>
                    <a:lnTo>
                      <a:pt x="15478" y="91678"/>
                    </a:lnTo>
                  </a:path>
                </a:pathLst>
              </a:custGeom>
              <a:noFill/>
              <a:ln w="11906">
                <a:solidFill>
                  <a:srgbClr val="C83210"/>
                </a:solidFill>
              </a:ln>
            </p:spPr>
          </p:sp>
        </p:grpSp>
        <p:sp>
          <p:nvSpPr>
            <p:cNvPr id="246" name="TextBox 246"/>
            <p:cNvSpPr txBox="1"/>
            <p:nvPr/>
          </p:nvSpPr>
          <p:spPr>
            <a:xfrm>
              <a:off x="6318263" y="2296239"/>
              <a:ext cx="222225"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中午</a:t>
              </a:r>
            </a:p>
          </p:txBody>
        </p:sp>
        <p:sp>
          <p:nvSpPr>
            <p:cNvPr id="247" name="TextBox 247"/>
            <p:cNvSpPr txBox="1"/>
            <p:nvPr/>
          </p:nvSpPr>
          <p:spPr>
            <a:xfrm>
              <a:off x="6223397" y="2453878"/>
              <a:ext cx="411957"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Arial"/>
                  <a:ea typeface="Arial"/>
                  <a:cs typeface="Arial"/>
                </a:rPr>
                <a:t>12:00-14:00</a:t>
              </a:r>
            </a:p>
          </p:txBody>
        </p:sp>
        <p:grpSp>
          <p:nvGrpSpPr>
            <p:cNvPr id="251" name="Group 251"/>
            <p:cNvGrpSpPr/>
            <p:nvPr/>
          </p:nvGrpSpPr>
          <p:grpSpPr>
            <a:xfrm>
              <a:off x="6377518" y="2951512"/>
              <a:ext cx="110197" cy="112296"/>
              <a:chOff x="6377518" y="2951512"/>
              <a:chExt cx="110197" cy="112296"/>
            </a:xfrm>
          </p:grpSpPr>
          <p:sp>
            <p:nvSpPr>
              <p:cNvPr id="248" name="Freeform 248"/>
              <p:cNvSpPr/>
              <p:nvPr/>
            </p:nvSpPr>
            <p:spPr>
              <a:xfrm>
                <a:off x="6377518" y="2951512"/>
                <a:ext cx="106108" cy="112296"/>
              </a:xfrm>
              <a:custGeom>
                <a:avLst/>
                <a:gdLst/>
                <a:ahLst/>
                <a:cxnLst/>
                <a:rect l="l" t="t" r="r" b="b"/>
                <a:pathLst>
                  <a:path w="106108" h="112296">
                    <a:moveTo>
                      <a:pt x="56620" y="48"/>
                    </a:moveTo>
                    <a:cubicBezTo>
                      <a:pt x="57405" y="48"/>
                      <a:pt x="58185" y="48"/>
                      <a:pt x="58959" y="48"/>
                    </a:cubicBezTo>
                    <a:cubicBezTo>
                      <a:pt x="43178" y="14711"/>
                      <a:pt x="40118" y="38552"/>
                      <a:pt x="51683" y="56726"/>
                    </a:cubicBezTo>
                    <a:cubicBezTo>
                      <a:pt x="63248" y="74900"/>
                      <a:pt x="86141" y="82225"/>
                      <a:pt x="106108" y="74140"/>
                    </a:cubicBezTo>
                    <a:cubicBezTo>
                      <a:pt x="95793" y="98960"/>
                      <a:pt x="68686" y="112296"/>
                      <a:pt x="42729" y="105321"/>
                    </a:cubicBezTo>
                    <a:cubicBezTo>
                      <a:pt x="16772" y="98346"/>
                      <a:pt x="0" y="73219"/>
                      <a:pt x="3514" y="46572"/>
                    </a:cubicBezTo>
                    <a:cubicBezTo>
                      <a:pt x="7029" y="19926"/>
                      <a:pt x="29742" y="6"/>
                      <a:pt x="56620" y="0"/>
                    </a:cubicBezTo>
                    <a:lnTo>
                      <a:pt x="56620" y="48"/>
                    </a:lnTo>
                  </a:path>
                </a:pathLst>
              </a:custGeom>
              <a:noFill/>
              <a:ln w="11906">
                <a:solidFill>
                  <a:srgbClr val="C83210"/>
                </a:solidFill>
              </a:ln>
            </p:spPr>
          </p:sp>
          <p:sp>
            <p:nvSpPr>
              <p:cNvPr id="249" name="Freeform 249"/>
              <p:cNvSpPr/>
              <p:nvPr/>
            </p:nvSpPr>
            <p:spPr>
              <a:xfrm>
                <a:off x="6451997" y="2957512"/>
                <a:ext cx="23812" cy="23812"/>
              </a:xfrm>
              <a:custGeom>
                <a:avLst/>
                <a:gdLst/>
                <a:ahLst/>
                <a:cxnLst/>
                <a:rect l="l" t="t" r="r" b="b"/>
                <a:pathLst>
                  <a:path w="23812" h="23812">
                    <a:moveTo>
                      <a:pt x="11906" y="0"/>
                    </a:moveTo>
                    <a:cubicBezTo>
                      <a:pt x="11906" y="6576"/>
                      <a:pt x="17237" y="11906"/>
                      <a:pt x="23812" y="11906"/>
                    </a:cubicBezTo>
                    <a:cubicBezTo>
                      <a:pt x="17237" y="11906"/>
                      <a:pt x="11906" y="17237"/>
                      <a:pt x="11906" y="23812"/>
                    </a:cubicBezTo>
                    <a:cubicBezTo>
                      <a:pt x="11906" y="17237"/>
                      <a:pt x="6576" y="11906"/>
                      <a:pt x="0" y="11906"/>
                    </a:cubicBezTo>
                    <a:cubicBezTo>
                      <a:pt x="6576" y="11906"/>
                      <a:pt x="11906" y="6576"/>
                      <a:pt x="11906" y="0"/>
                    </a:cubicBezTo>
                  </a:path>
                </a:pathLst>
              </a:custGeom>
              <a:noFill/>
              <a:ln w="11906">
                <a:solidFill>
                  <a:srgbClr val="C83210"/>
                </a:solidFill>
              </a:ln>
            </p:spPr>
          </p:sp>
          <p:sp>
            <p:nvSpPr>
              <p:cNvPr id="250" name="Freeform 250"/>
              <p:cNvSpPr/>
              <p:nvPr/>
            </p:nvSpPr>
            <p:spPr>
              <a:xfrm>
                <a:off x="6475809" y="2993231"/>
                <a:ext cx="11906" cy="11906"/>
              </a:xfrm>
              <a:custGeom>
                <a:avLst/>
                <a:gdLst/>
                <a:ahLst/>
                <a:cxnLst/>
                <a:rect l="l" t="t" r="r" b="b"/>
                <a:pathLst>
                  <a:path w="11906" h="11906">
                    <a:moveTo>
                      <a:pt x="0" y="5953"/>
                    </a:moveTo>
                    <a:lnTo>
                      <a:pt x="11906" y="5953"/>
                    </a:lnTo>
                    <a:moveTo>
                      <a:pt x="5953" y="0"/>
                    </a:moveTo>
                    <a:lnTo>
                      <a:pt x="5953" y="11906"/>
                    </a:lnTo>
                  </a:path>
                </a:pathLst>
              </a:custGeom>
              <a:noFill/>
              <a:ln w="11906">
                <a:solidFill>
                  <a:srgbClr val="C83210"/>
                </a:solidFill>
              </a:ln>
            </p:spPr>
          </p:sp>
        </p:grpSp>
        <p:sp>
          <p:nvSpPr>
            <p:cNvPr id="252" name="TextBox 252"/>
            <p:cNvSpPr txBox="1"/>
            <p:nvPr/>
          </p:nvSpPr>
          <p:spPr>
            <a:xfrm>
              <a:off x="6318263" y="3134439"/>
              <a:ext cx="222225"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晚上</a:t>
              </a:r>
            </a:p>
          </p:txBody>
        </p:sp>
        <p:sp>
          <p:nvSpPr>
            <p:cNvPr id="253" name="TextBox 253"/>
            <p:cNvSpPr txBox="1"/>
            <p:nvPr/>
          </p:nvSpPr>
          <p:spPr>
            <a:xfrm>
              <a:off x="6223397" y="3292078"/>
              <a:ext cx="411957"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Arial"/>
                  <a:ea typeface="Arial"/>
                  <a:cs typeface="Arial"/>
                </a:rPr>
                <a:t>18:00-21:00</a:t>
              </a:r>
            </a:p>
          </p:txBody>
        </p:sp>
        <p:sp>
          <p:nvSpPr>
            <p:cNvPr id="254" name="TextBox 254"/>
            <p:cNvSpPr txBox="1"/>
            <p:nvPr/>
          </p:nvSpPr>
          <p:spPr>
            <a:xfrm>
              <a:off x="7033781" y="15694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图文</a:t>
              </a:r>
            </a:p>
          </p:txBody>
        </p:sp>
        <p:sp>
          <p:nvSpPr>
            <p:cNvPr id="255" name="TextBox 255"/>
            <p:cNvSpPr txBox="1"/>
            <p:nvPr/>
          </p:nvSpPr>
          <p:spPr>
            <a:xfrm>
              <a:off x="6885699" y="17084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一周财经早报</a:t>
              </a:r>
            </a:p>
          </p:txBody>
        </p:sp>
        <p:sp>
          <p:nvSpPr>
            <p:cNvPr id="256" name="TextBox 256"/>
            <p:cNvSpPr txBox="1"/>
            <p:nvPr/>
          </p:nvSpPr>
          <p:spPr>
            <a:xfrm>
              <a:off x="7752702" y="1569482"/>
              <a:ext cx="26799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短视频</a:t>
              </a:r>
            </a:p>
          </p:txBody>
        </p:sp>
        <p:sp>
          <p:nvSpPr>
            <p:cNvPr id="257" name="TextBox 257"/>
            <p:cNvSpPr txBox="1"/>
            <p:nvPr/>
          </p:nvSpPr>
          <p:spPr>
            <a:xfrm>
              <a:off x="7626227" y="1708499"/>
              <a:ext cx="520946"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 xml:space="preserve">3分钟理财课　</a:t>
              </a:r>
            </a:p>
          </p:txBody>
        </p:sp>
        <p:sp>
          <p:nvSpPr>
            <p:cNvPr id="258" name="TextBox 258"/>
            <p:cNvSpPr txBox="1"/>
            <p:nvPr/>
          </p:nvSpPr>
          <p:spPr>
            <a:xfrm>
              <a:off x="8557781" y="15694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海报</a:t>
              </a:r>
            </a:p>
          </p:txBody>
        </p:sp>
        <p:sp>
          <p:nvSpPr>
            <p:cNvPr id="259" name="TextBox 259"/>
            <p:cNvSpPr txBox="1"/>
            <p:nvPr/>
          </p:nvSpPr>
          <p:spPr>
            <a:xfrm>
              <a:off x="8409699" y="17084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今日财经日历</a:t>
              </a:r>
            </a:p>
          </p:txBody>
        </p:sp>
        <p:sp>
          <p:nvSpPr>
            <p:cNvPr id="260" name="TextBox 260"/>
            <p:cNvSpPr txBox="1"/>
            <p:nvPr/>
          </p:nvSpPr>
          <p:spPr>
            <a:xfrm>
              <a:off x="9319781" y="15694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图文</a:t>
              </a:r>
            </a:p>
          </p:txBody>
        </p:sp>
        <p:sp>
          <p:nvSpPr>
            <p:cNvPr id="261" name="TextBox 261"/>
            <p:cNvSpPr txBox="1"/>
            <p:nvPr/>
          </p:nvSpPr>
          <p:spPr>
            <a:xfrm>
              <a:off x="9171699" y="17084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市场热点解读</a:t>
              </a:r>
            </a:p>
          </p:txBody>
        </p:sp>
        <p:sp>
          <p:nvSpPr>
            <p:cNvPr id="262" name="TextBox 262"/>
            <p:cNvSpPr txBox="1"/>
            <p:nvPr/>
          </p:nvSpPr>
          <p:spPr>
            <a:xfrm>
              <a:off x="10038702" y="1569482"/>
              <a:ext cx="26799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短视频</a:t>
              </a:r>
            </a:p>
          </p:txBody>
        </p:sp>
        <p:sp>
          <p:nvSpPr>
            <p:cNvPr id="263" name="TextBox 263"/>
            <p:cNvSpPr txBox="1"/>
            <p:nvPr/>
          </p:nvSpPr>
          <p:spPr>
            <a:xfrm>
              <a:off x="9894659" y="1708499"/>
              <a:ext cx="556082"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产品功能小课堂</a:t>
              </a:r>
            </a:p>
          </p:txBody>
        </p:sp>
        <p:sp>
          <p:nvSpPr>
            <p:cNvPr id="264" name="TextBox 264"/>
            <p:cNvSpPr txBox="1"/>
            <p:nvPr/>
          </p:nvSpPr>
          <p:spPr>
            <a:xfrm>
              <a:off x="10843781" y="15694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海报</a:t>
              </a:r>
            </a:p>
          </p:txBody>
        </p:sp>
        <p:sp>
          <p:nvSpPr>
            <p:cNvPr id="265" name="TextBox 265"/>
            <p:cNvSpPr txBox="1"/>
            <p:nvPr/>
          </p:nvSpPr>
          <p:spPr>
            <a:xfrm>
              <a:off x="10695699" y="17084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周末生活灵感</a:t>
              </a:r>
            </a:p>
          </p:txBody>
        </p:sp>
        <p:sp>
          <p:nvSpPr>
            <p:cNvPr id="266" name="TextBox 266"/>
            <p:cNvSpPr txBox="1"/>
            <p:nvPr/>
          </p:nvSpPr>
          <p:spPr>
            <a:xfrm>
              <a:off x="11605781" y="15694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图文</a:t>
              </a:r>
            </a:p>
          </p:txBody>
        </p:sp>
        <p:sp>
          <p:nvSpPr>
            <p:cNvPr id="267" name="TextBox 267"/>
            <p:cNvSpPr txBox="1"/>
            <p:nvPr/>
          </p:nvSpPr>
          <p:spPr>
            <a:xfrm>
              <a:off x="11496738" y="1708499"/>
              <a:ext cx="39992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暖心小故事</a:t>
              </a:r>
            </a:p>
          </p:txBody>
        </p:sp>
        <p:sp>
          <p:nvSpPr>
            <p:cNvPr id="268" name="TextBox 268"/>
            <p:cNvSpPr txBox="1"/>
            <p:nvPr/>
          </p:nvSpPr>
          <p:spPr>
            <a:xfrm>
              <a:off x="7033781" y="24076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问答</a:t>
              </a:r>
            </a:p>
          </p:txBody>
        </p:sp>
        <p:sp>
          <p:nvSpPr>
            <p:cNvPr id="269" name="TextBox 269"/>
            <p:cNvSpPr txBox="1"/>
            <p:nvPr/>
          </p:nvSpPr>
          <p:spPr>
            <a:xfrm>
              <a:off x="6885699" y="25466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客户热点问题</a:t>
              </a:r>
            </a:p>
          </p:txBody>
        </p:sp>
        <p:sp>
          <p:nvSpPr>
            <p:cNvPr id="270" name="TextBox 270"/>
            <p:cNvSpPr txBox="1"/>
            <p:nvPr/>
          </p:nvSpPr>
          <p:spPr>
            <a:xfrm>
              <a:off x="7795781" y="24076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图文</a:t>
              </a:r>
            </a:p>
          </p:txBody>
        </p:sp>
        <p:sp>
          <p:nvSpPr>
            <p:cNvPr id="271" name="TextBox 271"/>
            <p:cNvSpPr txBox="1"/>
            <p:nvPr/>
          </p:nvSpPr>
          <p:spPr>
            <a:xfrm>
              <a:off x="7647699" y="25466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产品功能解读</a:t>
              </a:r>
            </a:p>
          </p:txBody>
        </p:sp>
        <p:sp>
          <p:nvSpPr>
            <p:cNvPr id="272" name="TextBox 272"/>
            <p:cNvSpPr txBox="1"/>
            <p:nvPr/>
          </p:nvSpPr>
          <p:spPr>
            <a:xfrm>
              <a:off x="8557781" y="24076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活动</a:t>
              </a:r>
            </a:p>
          </p:txBody>
        </p:sp>
        <p:sp>
          <p:nvSpPr>
            <p:cNvPr id="273" name="TextBox 273"/>
            <p:cNvSpPr txBox="1"/>
            <p:nvPr/>
          </p:nvSpPr>
          <p:spPr>
            <a:xfrm>
              <a:off x="8409699" y="25466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限时抽奖活动</a:t>
              </a:r>
            </a:p>
          </p:txBody>
        </p:sp>
        <p:sp>
          <p:nvSpPr>
            <p:cNvPr id="274" name="TextBox 274"/>
            <p:cNvSpPr txBox="1"/>
            <p:nvPr/>
          </p:nvSpPr>
          <p:spPr>
            <a:xfrm>
              <a:off x="9276702" y="2407682"/>
              <a:ext cx="26799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短视频</a:t>
              </a:r>
            </a:p>
          </p:txBody>
        </p:sp>
        <p:sp>
          <p:nvSpPr>
            <p:cNvPr id="275" name="TextBox 275"/>
            <p:cNvSpPr txBox="1"/>
            <p:nvPr/>
          </p:nvSpPr>
          <p:spPr>
            <a:xfrm>
              <a:off x="9171699" y="25466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客户案例故事</a:t>
              </a:r>
            </a:p>
          </p:txBody>
        </p:sp>
        <p:sp>
          <p:nvSpPr>
            <p:cNvPr id="276" name="TextBox 276"/>
            <p:cNvSpPr txBox="1"/>
            <p:nvPr/>
          </p:nvSpPr>
          <p:spPr>
            <a:xfrm>
              <a:off x="10081781" y="24076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图文</a:t>
              </a:r>
            </a:p>
          </p:txBody>
        </p:sp>
        <p:sp>
          <p:nvSpPr>
            <p:cNvPr id="277" name="TextBox 277"/>
            <p:cNvSpPr txBox="1"/>
            <p:nvPr/>
          </p:nvSpPr>
          <p:spPr>
            <a:xfrm>
              <a:off x="9933699" y="25466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财富观点速递</a:t>
              </a:r>
            </a:p>
          </p:txBody>
        </p:sp>
        <p:sp>
          <p:nvSpPr>
            <p:cNvPr id="278" name="TextBox 278"/>
            <p:cNvSpPr txBox="1"/>
            <p:nvPr/>
          </p:nvSpPr>
          <p:spPr>
            <a:xfrm>
              <a:off x="10843781" y="24076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直播</a:t>
              </a:r>
            </a:p>
          </p:txBody>
        </p:sp>
        <p:sp>
          <p:nvSpPr>
            <p:cNvPr id="279" name="TextBox 279"/>
            <p:cNvSpPr txBox="1"/>
            <p:nvPr/>
          </p:nvSpPr>
          <p:spPr>
            <a:xfrm>
              <a:off x="10695699" y="25466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专家在线答疑</a:t>
              </a:r>
            </a:p>
          </p:txBody>
        </p:sp>
        <p:sp>
          <p:nvSpPr>
            <p:cNvPr id="280" name="TextBox 280"/>
            <p:cNvSpPr txBox="1"/>
            <p:nvPr/>
          </p:nvSpPr>
          <p:spPr>
            <a:xfrm>
              <a:off x="11605781" y="24076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问答</a:t>
              </a:r>
            </a:p>
          </p:txBody>
        </p:sp>
        <p:sp>
          <p:nvSpPr>
            <p:cNvPr id="281" name="TextBox 281"/>
            <p:cNvSpPr txBox="1"/>
            <p:nvPr/>
          </p:nvSpPr>
          <p:spPr>
            <a:xfrm>
              <a:off x="11457699" y="25466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家庭生活财经</a:t>
              </a:r>
            </a:p>
          </p:txBody>
        </p:sp>
        <p:sp>
          <p:nvSpPr>
            <p:cNvPr id="282" name="TextBox 282"/>
            <p:cNvSpPr txBox="1"/>
            <p:nvPr/>
          </p:nvSpPr>
          <p:spPr>
            <a:xfrm>
              <a:off x="6990702" y="3245882"/>
              <a:ext cx="26799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短视频</a:t>
              </a:r>
            </a:p>
          </p:txBody>
        </p:sp>
        <p:sp>
          <p:nvSpPr>
            <p:cNvPr id="283" name="TextBox 283"/>
            <p:cNvSpPr txBox="1"/>
            <p:nvPr/>
          </p:nvSpPr>
          <p:spPr>
            <a:xfrm>
              <a:off x="6963778" y="3384899"/>
              <a:ext cx="32184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客户故事</a:t>
              </a:r>
            </a:p>
          </p:txBody>
        </p:sp>
        <p:sp>
          <p:nvSpPr>
            <p:cNvPr id="284" name="TextBox 284"/>
            <p:cNvSpPr txBox="1"/>
            <p:nvPr/>
          </p:nvSpPr>
          <p:spPr>
            <a:xfrm>
              <a:off x="7795781" y="32458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直播</a:t>
              </a:r>
            </a:p>
          </p:txBody>
        </p:sp>
        <p:sp>
          <p:nvSpPr>
            <p:cNvPr id="285" name="TextBox 285"/>
            <p:cNvSpPr txBox="1"/>
            <p:nvPr/>
          </p:nvSpPr>
          <p:spPr>
            <a:xfrm>
              <a:off x="7647699" y="33848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大咖理财分享</a:t>
              </a:r>
            </a:p>
          </p:txBody>
        </p:sp>
        <p:sp>
          <p:nvSpPr>
            <p:cNvPr id="286" name="TextBox 286"/>
            <p:cNvSpPr txBox="1"/>
            <p:nvPr/>
          </p:nvSpPr>
          <p:spPr>
            <a:xfrm>
              <a:off x="8557781" y="32458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图文</a:t>
              </a:r>
            </a:p>
          </p:txBody>
        </p:sp>
        <p:sp>
          <p:nvSpPr>
            <p:cNvPr id="287" name="TextBox 287"/>
            <p:cNvSpPr txBox="1"/>
            <p:nvPr/>
          </p:nvSpPr>
          <p:spPr>
            <a:xfrm>
              <a:off x="8409699" y="33848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社群知识科普</a:t>
              </a:r>
            </a:p>
          </p:txBody>
        </p:sp>
        <p:sp>
          <p:nvSpPr>
            <p:cNvPr id="288" name="TextBox 288"/>
            <p:cNvSpPr txBox="1"/>
            <p:nvPr/>
          </p:nvSpPr>
          <p:spPr>
            <a:xfrm>
              <a:off x="9319781" y="32458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活动</a:t>
              </a:r>
            </a:p>
          </p:txBody>
        </p:sp>
        <p:sp>
          <p:nvSpPr>
            <p:cNvPr id="289" name="TextBox 289"/>
            <p:cNvSpPr txBox="1"/>
            <p:nvPr/>
          </p:nvSpPr>
          <p:spPr>
            <a:xfrm>
              <a:off x="9171699" y="33848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社群专属福利</a:t>
              </a:r>
            </a:p>
          </p:txBody>
        </p:sp>
        <p:sp>
          <p:nvSpPr>
            <p:cNvPr id="290" name="TextBox 290"/>
            <p:cNvSpPr txBox="1"/>
            <p:nvPr/>
          </p:nvSpPr>
          <p:spPr>
            <a:xfrm>
              <a:off x="10081781" y="32458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问答</a:t>
              </a:r>
            </a:p>
          </p:txBody>
        </p:sp>
        <p:sp>
          <p:nvSpPr>
            <p:cNvPr id="291" name="TextBox 291"/>
            <p:cNvSpPr txBox="1"/>
            <p:nvPr/>
          </p:nvSpPr>
          <p:spPr>
            <a:xfrm>
              <a:off x="9933699" y="33848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一周精选答疑</a:t>
              </a:r>
            </a:p>
          </p:txBody>
        </p:sp>
        <p:sp>
          <p:nvSpPr>
            <p:cNvPr id="292" name="TextBox 292"/>
            <p:cNvSpPr txBox="1"/>
            <p:nvPr/>
          </p:nvSpPr>
          <p:spPr>
            <a:xfrm>
              <a:off x="10800702" y="3245882"/>
              <a:ext cx="26799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短视频</a:t>
              </a:r>
            </a:p>
          </p:txBody>
        </p:sp>
        <p:sp>
          <p:nvSpPr>
            <p:cNvPr id="293" name="TextBox 293"/>
            <p:cNvSpPr txBox="1"/>
            <p:nvPr/>
          </p:nvSpPr>
          <p:spPr>
            <a:xfrm>
              <a:off x="10657534" y="3384899"/>
              <a:ext cx="55433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 xml:space="preserve">周末理财Tips　</a:t>
              </a:r>
            </a:p>
          </p:txBody>
        </p:sp>
        <p:sp>
          <p:nvSpPr>
            <p:cNvPr id="294" name="TextBox 294"/>
            <p:cNvSpPr txBox="1"/>
            <p:nvPr/>
          </p:nvSpPr>
          <p:spPr>
            <a:xfrm>
              <a:off x="11605781" y="3245882"/>
              <a:ext cx="181839"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直播</a:t>
              </a:r>
            </a:p>
          </p:txBody>
        </p:sp>
        <p:sp>
          <p:nvSpPr>
            <p:cNvPr id="295" name="TextBox 295"/>
            <p:cNvSpPr txBox="1"/>
            <p:nvPr/>
          </p:nvSpPr>
          <p:spPr>
            <a:xfrm>
              <a:off x="11457699" y="33848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生活方式分享</a:t>
              </a:r>
            </a:p>
          </p:txBody>
        </p:sp>
        <p:sp>
          <p:nvSpPr>
            <p:cNvPr id="296" name="Line 296"/>
            <p:cNvSpPr/>
            <p:nvPr/>
          </p:nvSpPr>
          <p:spPr>
            <a:xfrm>
              <a:off x="6724650" y="1143000"/>
              <a:ext cx="9525" cy="2400300"/>
            </a:xfrm>
            <a:custGeom>
              <a:avLst/>
              <a:gdLst/>
              <a:ahLst/>
              <a:cxnLst/>
              <a:rect l="l" t="t" r="r" b="b"/>
              <a:pathLst>
                <a:path w="9525" h="2400300">
                  <a:moveTo>
                    <a:pt x="0" y="0"/>
                  </a:moveTo>
                  <a:lnTo>
                    <a:pt x="0" y="2400300"/>
                  </a:lnTo>
                </a:path>
              </a:pathLst>
            </a:custGeom>
            <a:noFill/>
            <a:ln w="9525">
              <a:solidFill>
                <a:srgbClr val="F1C7CC"/>
              </a:solidFill>
            </a:ln>
          </p:spPr>
        </p:sp>
        <p:sp>
          <p:nvSpPr>
            <p:cNvPr id="297" name="Line 297"/>
            <p:cNvSpPr/>
            <p:nvPr/>
          </p:nvSpPr>
          <p:spPr>
            <a:xfrm>
              <a:off x="7505700" y="1143000"/>
              <a:ext cx="9525" cy="2400300"/>
            </a:xfrm>
            <a:custGeom>
              <a:avLst/>
              <a:gdLst/>
              <a:ahLst/>
              <a:cxnLst/>
              <a:rect l="l" t="t" r="r" b="b"/>
              <a:pathLst>
                <a:path w="9525" h="2400300">
                  <a:moveTo>
                    <a:pt x="0" y="0"/>
                  </a:moveTo>
                  <a:lnTo>
                    <a:pt x="0" y="2400300"/>
                  </a:lnTo>
                </a:path>
              </a:pathLst>
            </a:custGeom>
            <a:noFill/>
            <a:ln w="9525">
              <a:solidFill>
                <a:srgbClr val="F1C7CC"/>
              </a:solidFill>
            </a:ln>
          </p:spPr>
        </p:sp>
        <p:sp>
          <p:nvSpPr>
            <p:cNvPr id="298" name="Line 298"/>
            <p:cNvSpPr/>
            <p:nvPr/>
          </p:nvSpPr>
          <p:spPr>
            <a:xfrm>
              <a:off x="8267700" y="1143000"/>
              <a:ext cx="9525" cy="2400300"/>
            </a:xfrm>
            <a:custGeom>
              <a:avLst/>
              <a:gdLst/>
              <a:ahLst/>
              <a:cxnLst/>
              <a:rect l="l" t="t" r="r" b="b"/>
              <a:pathLst>
                <a:path w="9525" h="2400300">
                  <a:moveTo>
                    <a:pt x="0" y="0"/>
                  </a:moveTo>
                  <a:lnTo>
                    <a:pt x="0" y="2400300"/>
                  </a:lnTo>
                </a:path>
              </a:pathLst>
            </a:custGeom>
            <a:noFill/>
            <a:ln w="9525">
              <a:solidFill>
                <a:srgbClr val="F1C7CC"/>
              </a:solidFill>
            </a:ln>
          </p:spPr>
        </p:sp>
        <p:sp>
          <p:nvSpPr>
            <p:cNvPr id="299" name="Line 299"/>
            <p:cNvSpPr/>
            <p:nvPr/>
          </p:nvSpPr>
          <p:spPr>
            <a:xfrm>
              <a:off x="9029700" y="1143000"/>
              <a:ext cx="9525" cy="2400300"/>
            </a:xfrm>
            <a:custGeom>
              <a:avLst/>
              <a:gdLst/>
              <a:ahLst/>
              <a:cxnLst/>
              <a:rect l="l" t="t" r="r" b="b"/>
              <a:pathLst>
                <a:path w="9525" h="2400300">
                  <a:moveTo>
                    <a:pt x="0" y="0"/>
                  </a:moveTo>
                  <a:lnTo>
                    <a:pt x="0" y="2400300"/>
                  </a:lnTo>
                </a:path>
              </a:pathLst>
            </a:custGeom>
            <a:noFill/>
            <a:ln w="9525">
              <a:solidFill>
                <a:srgbClr val="F1C7CC"/>
              </a:solidFill>
            </a:ln>
          </p:spPr>
        </p:sp>
        <p:sp>
          <p:nvSpPr>
            <p:cNvPr id="300" name="Line 300"/>
            <p:cNvSpPr/>
            <p:nvPr/>
          </p:nvSpPr>
          <p:spPr>
            <a:xfrm>
              <a:off x="9791700" y="1143000"/>
              <a:ext cx="9525" cy="2400300"/>
            </a:xfrm>
            <a:custGeom>
              <a:avLst/>
              <a:gdLst/>
              <a:ahLst/>
              <a:cxnLst/>
              <a:rect l="l" t="t" r="r" b="b"/>
              <a:pathLst>
                <a:path w="9525" h="2400300">
                  <a:moveTo>
                    <a:pt x="0" y="0"/>
                  </a:moveTo>
                  <a:lnTo>
                    <a:pt x="0" y="2400300"/>
                  </a:lnTo>
                </a:path>
              </a:pathLst>
            </a:custGeom>
            <a:noFill/>
            <a:ln w="9525">
              <a:solidFill>
                <a:srgbClr val="F1C7CC"/>
              </a:solidFill>
            </a:ln>
          </p:spPr>
        </p:sp>
        <p:sp>
          <p:nvSpPr>
            <p:cNvPr id="301" name="Line 301"/>
            <p:cNvSpPr/>
            <p:nvPr/>
          </p:nvSpPr>
          <p:spPr>
            <a:xfrm>
              <a:off x="10553700" y="1143000"/>
              <a:ext cx="9525" cy="2400300"/>
            </a:xfrm>
            <a:custGeom>
              <a:avLst/>
              <a:gdLst/>
              <a:ahLst/>
              <a:cxnLst/>
              <a:rect l="l" t="t" r="r" b="b"/>
              <a:pathLst>
                <a:path w="9525" h="2400300">
                  <a:moveTo>
                    <a:pt x="0" y="0"/>
                  </a:moveTo>
                  <a:lnTo>
                    <a:pt x="0" y="2400300"/>
                  </a:lnTo>
                </a:path>
              </a:pathLst>
            </a:custGeom>
            <a:noFill/>
            <a:ln w="9525">
              <a:solidFill>
                <a:srgbClr val="F1C7CC"/>
              </a:solidFill>
            </a:ln>
          </p:spPr>
        </p:sp>
        <p:sp>
          <p:nvSpPr>
            <p:cNvPr id="302" name="Line 302"/>
            <p:cNvSpPr/>
            <p:nvPr/>
          </p:nvSpPr>
          <p:spPr>
            <a:xfrm>
              <a:off x="11315700" y="1143000"/>
              <a:ext cx="9525" cy="2400300"/>
            </a:xfrm>
            <a:custGeom>
              <a:avLst/>
              <a:gdLst/>
              <a:ahLst/>
              <a:cxnLst/>
              <a:rect l="l" t="t" r="r" b="b"/>
              <a:pathLst>
                <a:path w="9525" h="2400300">
                  <a:moveTo>
                    <a:pt x="0" y="0"/>
                  </a:moveTo>
                  <a:lnTo>
                    <a:pt x="0" y="2400300"/>
                  </a:lnTo>
                </a:path>
              </a:pathLst>
            </a:custGeom>
            <a:noFill/>
            <a:ln w="9525">
              <a:solidFill>
                <a:srgbClr val="F1C7CC"/>
              </a:solidFill>
            </a:ln>
          </p:spPr>
        </p:sp>
        <p:sp>
          <p:nvSpPr>
            <p:cNvPr id="303" name="Line 303"/>
            <p:cNvSpPr/>
            <p:nvPr/>
          </p:nvSpPr>
          <p:spPr>
            <a:xfrm>
              <a:off x="6134100" y="1143000"/>
              <a:ext cx="5924550" cy="9525"/>
            </a:xfrm>
            <a:custGeom>
              <a:avLst/>
              <a:gdLst/>
              <a:ahLst/>
              <a:cxnLst/>
              <a:rect l="l" t="t" r="r" b="b"/>
              <a:pathLst>
                <a:path w="5924550" h="9525">
                  <a:moveTo>
                    <a:pt x="0" y="0"/>
                  </a:moveTo>
                  <a:lnTo>
                    <a:pt x="5924550" y="0"/>
                  </a:lnTo>
                </a:path>
              </a:pathLst>
            </a:custGeom>
            <a:noFill/>
            <a:ln w="9525">
              <a:solidFill>
                <a:srgbClr val="B32C0E"/>
              </a:solidFill>
            </a:ln>
          </p:spPr>
        </p:sp>
        <p:sp>
          <p:nvSpPr>
            <p:cNvPr id="304" name="Line 304"/>
            <p:cNvSpPr/>
            <p:nvPr/>
          </p:nvSpPr>
          <p:spPr>
            <a:xfrm>
              <a:off x="6134100" y="1943100"/>
              <a:ext cx="5924550" cy="9525"/>
            </a:xfrm>
            <a:custGeom>
              <a:avLst/>
              <a:gdLst/>
              <a:ahLst/>
              <a:cxnLst/>
              <a:rect l="l" t="t" r="r" b="b"/>
              <a:pathLst>
                <a:path w="5924550" h="9525">
                  <a:moveTo>
                    <a:pt x="0" y="0"/>
                  </a:moveTo>
                  <a:lnTo>
                    <a:pt x="5924550" y="0"/>
                  </a:lnTo>
                </a:path>
              </a:pathLst>
            </a:custGeom>
            <a:noFill/>
            <a:ln w="9525">
              <a:solidFill>
                <a:srgbClr val="F1C7CC"/>
              </a:solidFill>
            </a:ln>
          </p:spPr>
        </p:sp>
        <p:sp>
          <p:nvSpPr>
            <p:cNvPr id="305" name="Line 305"/>
            <p:cNvSpPr/>
            <p:nvPr/>
          </p:nvSpPr>
          <p:spPr>
            <a:xfrm>
              <a:off x="6134100" y="2781300"/>
              <a:ext cx="5924550" cy="9525"/>
            </a:xfrm>
            <a:custGeom>
              <a:avLst/>
              <a:gdLst/>
              <a:ahLst/>
              <a:cxnLst/>
              <a:rect l="l" t="t" r="r" b="b"/>
              <a:pathLst>
                <a:path w="5924550" h="9525">
                  <a:moveTo>
                    <a:pt x="0" y="0"/>
                  </a:moveTo>
                  <a:lnTo>
                    <a:pt x="5924550" y="0"/>
                  </a:lnTo>
                </a:path>
              </a:pathLst>
            </a:custGeom>
            <a:noFill/>
            <a:ln w="9525">
              <a:solidFill>
                <a:srgbClr val="F1C7CC"/>
              </a:solidFill>
            </a:ln>
          </p:spPr>
        </p:sp>
        <p:sp>
          <p:nvSpPr>
            <p:cNvPr id="306" name="Line 306"/>
            <p:cNvSpPr/>
            <p:nvPr/>
          </p:nvSpPr>
          <p:spPr>
            <a:xfrm>
              <a:off x="6134100" y="3543300"/>
              <a:ext cx="5924550" cy="9525"/>
            </a:xfrm>
            <a:custGeom>
              <a:avLst/>
              <a:gdLst/>
              <a:ahLst/>
              <a:cxnLst/>
              <a:rect l="l" t="t" r="r" b="b"/>
              <a:pathLst>
                <a:path w="5924550" h="9525">
                  <a:moveTo>
                    <a:pt x="0" y="0"/>
                  </a:moveTo>
                  <a:lnTo>
                    <a:pt x="5924550" y="0"/>
                  </a:lnTo>
                </a:path>
              </a:pathLst>
            </a:custGeom>
            <a:noFill/>
            <a:ln w="9525">
              <a:solidFill>
                <a:srgbClr val="F1C7CC"/>
              </a:solidFill>
            </a:ln>
          </p:spPr>
        </p:sp>
      </p:grpSp>
      <p:grpSp>
        <p:nvGrpSpPr>
          <p:cNvPr id="384" name="reuse-rules"/>
          <p:cNvGrpSpPr/>
          <p:nvPr/>
        </p:nvGrpSpPr>
        <p:grpSpPr>
          <a:xfrm>
            <a:off x="6191250" y="3733800"/>
            <a:ext cx="5867400" cy="2819400"/>
            <a:chOff x="6191250" y="3733800"/>
            <a:chExt cx="5867400" cy="2819400"/>
          </a:xfrm>
        </p:grpSpPr>
        <p:sp>
          <p:nvSpPr>
            <p:cNvPr id="308" name="Rectangle 308"/>
            <p:cNvSpPr/>
            <p:nvPr/>
          </p:nvSpPr>
          <p:spPr>
            <a:xfrm>
              <a:off x="6191250" y="3733800"/>
              <a:ext cx="38100" cy="152400"/>
            </a:xfrm>
            <a:prstGeom prst="rect">
              <a:avLst/>
            </a:prstGeom>
            <a:solidFill>
              <a:srgbClr val="C83210"/>
            </a:solidFill>
            <a:ln>
              <a:noFill/>
            </a:ln>
          </p:spPr>
        </p:sp>
        <p:sp>
          <p:nvSpPr>
            <p:cNvPr id="309" name="TextBox 309"/>
            <p:cNvSpPr txBox="1"/>
            <p:nvPr/>
          </p:nvSpPr>
          <p:spPr>
            <a:xfrm>
              <a:off x="6300597" y="3752374"/>
              <a:ext cx="2400757"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一个主题的多场景复用规则</a:t>
              </a:r>
              <a:r>
                <a:rPr lang="zh-CN" sz="750" b="1" dirty="0">
                  <a:solidFill>
                    <a:srgbClr val="808080"/>
                  </a:solidFill>
                  <a:latin typeface="+mn-lt"/>
                  <a:ea typeface="+mn-ea"/>
                  <a:cs typeface="+mn-cs"/>
                </a:rPr>
                <a:t>（提升内容效率）</a:t>
              </a:r>
            </a:p>
          </p:txBody>
        </p:sp>
        <p:sp>
          <p:nvSpPr>
            <p:cNvPr id="310" name="Rectangle 310"/>
            <p:cNvSpPr/>
            <p:nvPr/>
          </p:nvSpPr>
          <p:spPr>
            <a:xfrm>
              <a:off x="6229350" y="3981450"/>
              <a:ext cx="1905000" cy="2571750"/>
            </a:xfrm>
            <a:prstGeom prst="roundRect">
              <a:avLst>
                <a:gd name="adj" fmla="val 3000"/>
              </a:avLst>
            </a:prstGeom>
            <a:solidFill>
              <a:srgbClr val="FDEFF1"/>
            </a:solidFill>
            <a:ln>
              <a:noFill/>
            </a:ln>
          </p:spPr>
        </p:sp>
        <p:sp>
          <p:nvSpPr>
            <p:cNvPr id="311" name="Rectangle 311"/>
            <p:cNvSpPr/>
            <p:nvPr/>
          </p:nvSpPr>
          <p:spPr>
            <a:xfrm>
              <a:off x="6362700" y="4095750"/>
              <a:ext cx="533400" cy="171450"/>
            </a:xfrm>
            <a:prstGeom prst="roundRect">
              <a:avLst>
                <a:gd name="adj" fmla="val 50000"/>
              </a:avLst>
            </a:prstGeom>
            <a:solidFill>
              <a:srgbClr val="C83210"/>
            </a:solidFill>
            <a:ln>
              <a:noFill/>
            </a:ln>
          </p:spPr>
        </p:sp>
        <p:sp>
          <p:nvSpPr>
            <p:cNvPr id="312" name="TextBox 312"/>
            <p:cNvSpPr txBox="1"/>
            <p:nvPr/>
          </p:nvSpPr>
          <p:spPr>
            <a:xfrm>
              <a:off x="6441554" y="414670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主题示例</a:t>
              </a:r>
            </a:p>
          </p:txBody>
        </p:sp>
        <p:sp>
          <p:nvSpPr>
            <p:cNvPr id="313" name="TextBox 313"/>
            <p:cNvSpPr txBox="1"/>
            <p:nvPr/>
          </p:nvSpPr>
          <p:spPr>
            <a:xfrm>
              <a:off x="6933438" y="4366260"/>
              <a:ext cx="496824" cy="234696"/>
            </a:xfrm>
            <a:prstGeom prst="rect">
              <a:avLst/>
            </a:prstGeom>
            <a:noFill/>
            <a:ln>
              <a:noFill/>
            </a:ln>
          </p:spPr>
          <p:txBody>
            <a:bodyPr wrap="none" lIns="0" tIns="0" rIns="0" bIns="0" anchor="t" anchorCtr="0">
              <a:spAutoFit/>
            </a:bodyPr>
            <a:lstStyle/>
            <a:p>
              <a:pPr algn="ctr"/>
              <a:r>
                <a:rPr lang="zh-CN" sz="1200" b="1" dirty="0">
                  <a:solidFill>
                    <a:srgbClr val="222222"/>
                  </a:solidFill>
                  <a:latin typeface="+mn-lt"/>
                  <a:ea typeface="+mn-ea"/>
                  <a:cs typeface="+mn-cs"/>
                </a:rPr>
                <a:t>让闲钱</a:t>
              </a:r>
            </a:p>
          </p:txBody>
        </p:sp>
        <p:sp>
          <p:nvSpPr>
            <p:cNvPr id="314" name="TextBox 314"/>
            <p:cNvSpPr txBox="1"/>
            <p:nvPr/>
          </p:nvSpPr>
          <p:spPr>
            <a:xfrm>
              <a:off x="6771894" y="4575810"/>
              <a:ext cx="819912" cy="234696"/>
            </a:xfrm>
            <a:prstGeom prst="rect">
              <a:avLst/>
            </a:prstGeom>
            <a:noFill/>
            <a:ln>
              <a:noFill/>
            </a:ln>
          </p:spPr>
          <p:txBody>
            <a:bodyPr wrap="none" lIns="0" tIns="0" rIns="0" bIns="0" anchor="t" anchorCtr="0">
              <a:spAutoFit/>
            </a:bodyPr>
            <a:lstStyle/>
            <a:p>
              <a:pPr algn="ctr"/>
              <a:r>
                <a:rPr lang="zh-CN" sz="1200" b="1" dirty="0">
                  <a:solidFill>
                    <a:srgbClr val="222222"/>
                  </a:solidFill>
                  <a:latin typeface="+mn-lt"/>
                  <a:ea typeface="+mn-ea"/>
                  <a:cs typeface="+mn-cs"/>
                </a:rPr>
                <a:t>也有好收益</a:t>
              </a:r>
            </a:p>
          </p:txBody>
        </p:sp>
        <p:sp>
          <p:nvSpPr>
            <p:cNvPr id="315" name="Rectangle 315"/>
            <p:cNvSpPr/>
            <p:nvPr/>
          </p:nvSpPr>
          <p:spPr>
            <a:xfrm>
              <a:off x="6667500" y="4819650"/>
              <a:ext cx="1028700" cy="171450"/>
            </a:xfrm>
            <a:prstGeom prst="roundRect">
              <a:avLst>
                <a:gd name="adj" fmla="val 50000"/>
              </a:avLst>
            </a:prstGeom>
            <a:solidFill>
              <a:srgbClr val="FFFFFF"/>
            </a:solidFill>
            <a:ln>
              <a:noFill/>
            </a:ln>
          </p:spPr>
        </p:sp>
        <p:sp>
          <p:nvSpPr>
            <p:cNvPr id="316" name="TextBox 316"/>
            <p:cNvSpPr txBox="1"/>
            <p:nvPr/>
          </p:nvSpPr>
          <p:spPr>
            <a:xfrm>
              <a:off x="6994004" y="4870609"/>
              <a:ext cx="375691"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理财知识</a:t>
              </a:r>
            </a:p>
          </p:txBody>
        </p:sp>
        <p:sp>
          <p:nvSpPr>
            <p:cNvPr id="317" name="Rectangle 317"/>
            <p:cNvSpPr/>
            <p:nvPr/>
          </p:nvSpPr>
          <p:spPr>
            <a:xfrm>
              <a:off x="6381750" y="5086350"/>
              <a:ext cx="1600200" cy="247650"/>
            </a:xfrm>
            <a:prstGeom prst="roundRect">
              <a:avLst>
                <a:gd name="adj" fmla="val 23077"/>
              </a:avLst>
            </a:prstGeom>
            <a:solidFill>
              <a:srgbClr val="FFFFFF"/>
            </a:solidFill>
            <a:ln w="9525">
              <a:solidFill>
                <a:srgbClr val="F1C7CC"/>
              </a:solidFill>
            </a:ln>
          </p:spPr>
        </p:sp>
        <p:sp>
          <p:nvSpPr>
            <p:cNvPr id="318" name="TextBox 318"/>
            <p:cNvSpPr txBox="1"/>
            <p:nvPr/>
          </p:nvSpPr>
          <p:spPr>
            <a:xfrm>
              <a:off x="6746977" y="5171361"/>
              <a:ext cx="869747"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如何打理手头闲钱？</a:t>
              </a:r>
            </a:p>
          </p:txBody>
        </p:sp>
        <p:sp>
          <p:nvSpPr>
            <p:cNvPr id="319" name="Rectangle 319"/>
            <p:cNvSpPr/>
            <p:nvPr/>
          </p:nvSpPr>
          <p:spPr>
            <a:xfrm>
              <a:off x="6457950" y="5791200"/>
              <a:ext cx="133350" cy="438150"/>
            </a:xfrm>
            <a:prstGeom prst="rect">
              <a:avLst/>
            </a:prstGeom>
            <a:solidFill>
              <a:srgbClr val="F3B2A3"/>
            </a:solidFill>
            <a:ln>
              <a:noFill/>
            </a:ln>
          </p:spPr>
        </p:sp>
        <p:sp>
          <p:nvSpPr>
            <p:cNvPr id="320" name="Rectangle 320"/>
            <p:cNvSpPr/>
            <p:nvPr/>
          </p:nvSpPr>
          <p:spPr>
            <a:xfrm>
              <a:off x="6648450" y="5657850"/>
              <a:ext cx="133350" cy="571500"/>
            </a:xfrm>
            <a:prstGeom prst="rect">
              <a:avLst/>
            </a:prstGeom>
            <a:solidFill>
              <a:srgbClr val="E9826B"/>
            </a:solidFill>
            <a:ln>
              <a:noFill/>
            </a:ln>
          </p:spPr>
        </p:sp>
        <p:sp>
          <p:nvSpPr>
            <p:cNvPr id="321" name="Rectangle 321"/>
            <p:cNvSpPr/>
            <p:nvPr/>
          </p:nvSpPr>
          <p:spPr>
            <a:xfrm>
              <a:off x="6838950" y="5505450"/>
              <a:ext cx="133350" cy="723900"/>
            </a:xfrm>
            <a:prstGeom prst="rect">
              <a:avLst/>
            </a:prstGeom>
            <a:solidFill>
              <a:srgbClr val="D64F30"/>
            </a:solidFill>
            <a:ln>
              <a:noFill/>
            </a:ln>
          </p:spPr>
        </p:sp>
        <p:sp>
          <p:nvSpPr>
            <p:cNvPr id="322" name="Rectangle 322"/>
            <p:cNvSpPr/>
            <p:nvPr/>
          </p:nvSpPr>
          <p:spPr>
            <a:xfrm>
              <a:off x="7029450" y="5353050"/>
              <a:ext cx="133350" cy="876300"/>
            </a:xfrm>
            <a:prstGeom prst="rect">
              <a:avLst/>
            </a:prstGeom>
            <a:solidFill>
              <a:srgbClr val="C83210"/>
            </a:solidFill>
            <a:ln>
              <a:noFill/>
            </a:ln>
          </p:spPr>
        </p:sp>
        <p:sp>
          <p:nvSpPr>
            <p:cNvPr id="323" name="Polygon 323"/>
            <p:cNvSpPr/>
            <p:nvPr/>
          </p:nvSpPr>
          <p:spPr>
            <a:xfrm>
              <a:off x="6477000" y="5295900"/>
              <a:ext cx="647700" cy="514350"/>
            </a:xfrm>
            <a:custGeom>
              <a:avLst/>
              <a:gdLst/>
              <a:ahLst/>
              <a:cxnLst/>
              <a:rect l="l" t="t" r="r" b="b"/>
              <a:pathLst>
                <a:path w="647700" h="514350">
                  <a:moveTo>
                    <a:pt x="0" y="476250"/>
                  </a:moveTo>
                  <a:lnTo>
                    <a:pt x="647700" y="0"/>
                  </a:lnTo>
                  <a:lnTo>
                    <a:pt x="647700" y="76200"/>
                  </a:lnTo>
                  <a:lnTo>
                    <a:pt x="38100" y="514350"/>
                  </a:lnTo>
                  <a:close/>
                </a:path>
              </a:pathLst>
            </a:custGeom>
            <a:solidFill>
              <a:srgbClr val="8F230A"/>
            </a:solidFill>
            <a:ln>
              <a:noFill/>
            </a:ln>
          </p:spPr>
        </p:sp>
        <p:grpSp>
          <p:nvGrpSpPr>
            <p:cNvPr id="329" name="Group 329"/>
            <p:cNvGrpSpPr/>
            <p:nvPr/>
          </p:nvGrpSpPr>
          <p:grpSpPr>
            <a:xfrm>
              <a:off x="7260431" y="6039423"/>
              <a:ext cx="242888" cy="244696"/>
              <a:chOff x="7260431" y="6039423"/>
              <a:chExt cx="242888" cy="244696"/>
            </a:xfrm>
          </p:grpSpPr>
          <p:sp>
            <p:nvSpPr>
              <p:cNvPr id="324" name="Freeform 324"/>
              <p:cNvSpPr/>
              <p:nvPr/>
            </p:nvSpPr>
            <p:spPr>
              <a:xfrm>
                <a:off x="7341394" y="6149182"/>
                <a:ext cx="161925" cy="80963"/>
              </a:xfrm>
              <a:custGeom>
                <a:avLst/>
                <a:gdLst/>
                <a:ahLst/>
                <a:cxnLst/>
                <a:rect l="l" t="t" r="r" b="b"/>
                <a:pathLst>
                  <a:path w="161925" h="80963">
                    <a:moveTo>
                      <a:pt x="0" y="40481"/>
                    </a:moveTo>
                    <a:cubicBezTo>
                      <a:pt x="0" y="62841"/>
                      <a:pt x="36244" y="80963"/>
                      <a:pt x="80963" y="80963"/>
                    </a:cubicBezTo>
                    <a:cubicBezTo>
                      <a:pt x="125681" y="80963"/>
                      <a:pt x="161925" y="62841"/>
                      <a:pt x="161925" y="40481"/>
                    </a:cubicBezTo>
                    <a:cubicBezTo>
                      <a:pt x="161925" y="18122"/>
                      <a:pt x="125681" y="0"/>
                      <a:pt x="80963" y="0"/>
                    </a:cubicBezTo>
                    <a:cubicBezTo>
                      <a:pt x="36244" y="0"/>
                      <a:pt x="0" y="18122"/>
                      <a:pt x="0" y="40481"/>
                    </a:cubicBezTo>
                  </a:path>
                </a:pathLst>
              </a:custGeom>
              <a:noFill/>
              <a:ln w="26988">
                <a:solidFill>
                  <a:srgbClr val="E83A1C"/>
                </a:solidFill>
              </a:ln>
            </p:spPr>
          </p:sp>
          <p:sp>
            <p:nvSpPr>
              <p:cNvPr id="325" name="Freeform 325"/>
              <p:cNvSpPr/>
              <p:nvPr/>
            </p:nvSpPr>
            <p:spPr>
              <a:xfrm>
                <a:off x="7341394" y="6189663"/>
                <a:ext cx="161925" cy="94456"/>
              </a:xfrm>
              <a:custGeom>
                <a:avLst/>
                <a:gdLst/>
                <a:ahLst/>
                <a:cxnLst/>
                <a:rect l="l" t="t" r="r" b="b"/>
                <a:pathLst>
                  <a:path w="161925" h="94456">
                    <a:moveTo>
                      <a:pt x="0" y="0"/>
                    </a:moveTo>
                    <a:lnTo>
                      <a:pt x="0" y="53975"/>
                    </a:lnTo>
                    <a:cubicBezTo>
                      <a:pt x="0" y="76321"/>
                      <a:pt x="36244" y="94456"/>
                      <a:pt x="80963" y="94456"/>
                    </a:cubicBezTo>
                    <a:cubicBezTo>
                      <a:pt x="125681" y="94456"/>
                      <a:pt x="161925" y="76321"/>
                      <a:pt x="161925" y="53975"/>
                    </a:cubicBezTo>
                    <a:lnTo>
                      <a:pt x="161925" y="0"/>
                    </a:lnTo>
                  </a:path>
                </a:pathLst>
              </a:custGeom>
              <a:noFill/>
              <a:ln w="26988">
                <a:solidFill>
                  <a:srgbClr val="E83A1C"/>
                </a:solidFill>
              </a:ln>
            </p:spPr>
          </p:sp>
          <p:sp>
            <p:nvSpPr>
              <p:cNvPr id="326" name="Freeform 326"/>
              <p:cNvSpPr/>
              <p:nvPr/>
            </p:nvSpPr>
            <p:spPr>
              <a:xfrm>
                <a:off x="7260431" y="6039423"/>
                <a:ext cx="161925" cy="84579"/>
              </a:xfrm>
              <a:custGeom>
                <a:avLst/>
                <a:gdLst/>
                <a:ahLst/>
                <a:cxnLst/>
                <a:rect l="l" t="t" r="r" b="b"/>
                <a:pathLst>
                  <a:path w="161925" h="84579">
                    <a:moveTo>
                      <a:pt x="0" y="42290"/>
                    </a:moveTo>
                    <a:cubicBezTo>
                      <a:pt x="0" y="56755"/>
                      <a:pt x="15437" y="70114"/>
                      <a:pt x="40481" y="77346"/>
                    </a:cubicBezTo>
                    <a:cubicBezTo>
                      <a:pt x="65526" y="84579"/>
                      <a:pt x="96400" y="84579"/>
                      <a:pt x="121444" y="77346"/>
                    </a:cubicBezTo>
                    <a:cubicBezTo>
                      <a:pt x="146488" y="70114"/>
                      <a:pt x="161925" y="56755"/>
                      <a:pt x="161925" y="42290"/>
                    </a:cubicBezTo>
                    <a:cubicBezTo>
                      <a:pt x="161925" y="27824"/>
                      <a:pt x="146488" y="14465"/>
                      <a:pt x="121444" y="7233"/>
                    </a:cubicBezTo>
                    <a:cubicBezTo>
                      <a:pt x="96400" y="0"/>
                      <a:pt x="65526" y="0"/>
                      <a:pt x="40481" y="7233"/>
                    </a:cubicBezTo>
                    <a:cubicBezTo>
                      <a:pt x="15437" y="14465"/>
                      <a:pt x="0" y="27824"/>
                      <a:pt x="0" y="42290"/>
                    </a:cubicBezTo>
                  </a:path>
                </a:pathLst>
              </a:custGeom>
              <a:noFill/>
              <a:ln w="26988">
                <a:solidFill>
                  <a:srgbClr val="E83A1C"/>
                </a:solidFill>
              </a:ln>
            </p:spPr>
          </p:sp>
          <p:sp>
            <p:nvSpPr>
              <p:cNvPr id="327" name="Freeform 327"/>
              <p:cNvSpPr/>
              <p:nvPr/>
            </p:nvSpPr>
            <p:spPr>
              <a:xfrm>
                <a:off x="7260431" y="6081713"/>
                <a:ext cx="26988" cy="161925"/>
              </a:xfrm>
              <a:custGeom>
                <a:avLst/>
                <a:gdLst/>
                <a:ahLst/>
                <a:cxnLst/>
                <a:rect l="l" t="t" r="r" b="b"/>
                <a:pathLst>
                  <a:path w="26988" h="161925">
                    <a:moveTo>
                      <a:pt x="0" y="0"/>
                    </a:moveTo>
                    <a:lnTo>
                      <a:pt x="0" y="134938"/>
                    </a:lnTo>
                    <a:cubicBezTo>
                      <a:pt x="0" y="146920"/>
                      <a:pt x="10417" y="154504"/>
                      <a:pt x="26988" y="161925"/>
                    </a:cubicBezTo>
                  </a:path>
                </a:pathLst>
              </a:custGeom>
              <a:noFill/>
              <a:ln w="26988">
                <a:solidFill>
                  <a:srgbClr val="E83A1C"/>
                </a:solidFill>
              </a:ln>
            </p:spPr>
          </p:sp>
          <p:sp>
            <p:nvSpPr>
              <p:cNvPr id="328" name="Freeform 328"/>
              <p:cNvSpPr/>
              <p:nvPr/>
            </p:nvSpPr>
            <p:spPr>
              <a:xfrm>
                <a:off x="7260431" y="6149182"/>
                <a:ext cx="26988" cy="26988"/>
              </a:xfrm>
              <a:custGeom>
                <a:avLst/>
                <a:gdLst/>
                <a:ahLst/>
                <a:cxnLst/>
                <a:rect l="l" t="t" r="r" b="b"/>
                <a:pathLst>
                  <a:path w="26988" h="26988">
                    <a:moveTo>
                      <a:pt x="0" y="0"/>
                    </a:moveTo>
                    <a:cubicBezTo>
                      <a:pt x="0" y="11982"/>
                      <a:pt x="10417" y="19566"/>
                      <a:pt x="26988" y="26988"/>
                    </a:cubicBezTo>
                  </a:path>
                </a:pathLst>
              </a:custGeom>
              <a:noFill/>
              <a:ln w="26988">
                <a:solidFill>
                  <a:srgbClr val="E83A1C"/>
                </a:solidFill>
              </a:ln>
            </p:spPr>
          </p:sp>
        </p:grpSp>
        <p:sp>
          <p:nvSpPr>
            <p:cNvPr id="330" name="TextBox 330"/>
            <p:cNvSpPr txBox="1"/>
            <p:nvPr/>
          </p:nvSpPr>
          <p:spPr>
            <a:xfrm>
              <a:off x="7615238" y="6080284"/>
              <a:ext cx="375691" cy="133350"/>
            </a:xfrm>
            <a:prstGeom prst="rect">
              <a:avLst/>
            </a:prstGeom>
            <a:noFill/>
            <a:ln>
              <a:noFill/>
            </a:ln>
          </p:spPr>
          <p:txBody>
            <a:bodyPr wrap="none" lIns="0" tIns="0" rIns="0" bIns="0" anchor="t" anchorCtr="0">
              <a:spAutoFit/>
            </a:bodyPr>
            <a:lstStyle/>
            <a:p>
              <a:pPr algn="l"/>
              <a:r>
                <a:rPr lang="zh-CN" sz="680" b="1" dirty="0">
                  <a:solidFill>
                    <a:srgbClr val="C83210"/>
                  </a:solidFill>
                  <a:latin typeface="+mn-lt"/>
                  <a:ea typeface="+mn-ea"/>
                  <a:cs typeface="+mn-cs"/>
                </a:rPr>
                <a:t>闲钱增值</a:t>
              </a:r>
            </a:p>
          </p:txBody>
        </p:sp>
        <p:sp>
          <p:nvSpPr>
            <p:cNvPr id="331" name="TextBox 331"/>
            <p:cNvSpPr txBox="1"/>
            <p:nvPr/>
          </p:nvSpPr>
          <p:spPr>
            <a:xfrm>
              <a:off x="7615238" y="62176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收益看得见</a:t>
              </a:r>
            </a:p>
          </p:txBody>
        </p:sp>
        <p:sp>
          <p:nvSpPr>
            <p:cNvPr id="332" name="Rectangle 332"/>
            <p:cNvSpPr/>
            <p:nvPr/>
          </p:nvSpPr>
          <p:spPr>
            <a:xfrm>
              <a:off x="8382000" y="3981450"/>
              <a:ext cx="3676650" cy="209550"/>
            </a:xfrm>
            <a:prstGeom prst="rect">
              <a:avLst/>
            </a:prstGeom>
            <a:solidFill>
              <a:srgbClr val="C83210"/>
            </a:solidFill>
            <a:ln>
              <a:noFill/>
            </a:ln>
          </p:spPr>
        </p:sp>
        <p:sp>
          <p:nvSpPr>
            <p:cNvPr id="333" name="TextBox 333"/>
            <p:cNvSpPr txBox="1"/>
            <p:nvPr/>
          </p:nvSpPr>
          <p:spPr>
            <a:xfrm>
              <a:off x="8576437" y="4047411"/>
              <a:ext cx="48742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多场景改编</a:t>
              </a:r>
            </a:p>
          </p:txBody>
        </p:sp>
        <p:sp>
          <p:nvSpPr>
            <p:cNvPr id="334" name="TextBox 334"/>
            <p:cNvSpPr txBox="1"/>
            <p:nvPr/>
          </p:nvSpPr>
          <p:spPr>
            <a:xfrm>
              <a:off x="9900577" y="40474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内容示例</a:t>
              </a:r>
            </a:p>
          </p:txBody>
        </p:sp>
        <p:sp>
          <p:nvSpPr>
            <p:cNvPr id="335" name="TextBox 335"/>
            <p:cNvSpPr txBox="1"/>
            <p:nvPr/>
          </p:nvSpPr>
          <p:spPr>
            <a:xfrm>
              <a:off x="11291227" y="40474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触达价值</a:t>
              </a:r>
            </a:p>
          </p:txBody>
        </p:sp>
        <p:sp>
          <p:nvSpPr>
            <p:cNvPr id="336" name="Rectangle 336"/>
            <p:cNvSpPr/>
            <p:nvPr/>
          </p:nvSpPr>
          <p:spPr>
            <a:xfrm>
              <a:off x="8382000" y="4476750"/>
              <a:ext cx="3676650" cy="495300"/>
            </a:xfrm>
            <a:prstGeom prst="rect">
              <a:avLst/>
            </a:prstGeom>
            <a:solidFill>
              <a:srgbClr val="FDEFF1"/>
            </a:solidFill>
            <a:ln>
              <a:noFill/>
            </a:ln>
          </p:spPr>
        </p:sp>
        <p:sp>
          <p:nvSpPr>
            <p:cNvPr id="337" name="Rectangle 337"/>
            <p:cNvSpPr/>
            <p:nvPr/>
          </p:nvSpPr>
          <p:spPr>
            <a:xfrm>
              <a:off x="8382000" y="5467350"/>
              <a:ext cx="3676650" cy="495300"/>
            </a:xfrm>
            <a:prstGeom prst="rect">
              <a:avLst/>
            </a:prstGeom>
            <a:solidFill>
              <a:srgbClr val="FDEFF1"/>
            </a:solidFill>
            <a:ln>
              <a:noFill/>
            </a:ln>
          </p:spPr>
        </p:sp>
        <p:grpSp>
          <p:nvGrpSpPr>
            <p:cNvPr id="341" name="Group 341"/>
            <p:cNvGrpSpPr/>
            <p:nvPr/>
          </p:nvGrpSpPr>
          <p:grpSpPr>
            <a:xfrm>
              <a:off x="8512969" y="4631531"/>
              <a:ext cx="100012" cy="128588"/>
              <a:chOff x="8512969" y="4631531"/>
              <a:chExt cx="100012" cy="128588"/>
            </a:xfrm>
          </p:grpSpPr>
          <p:sp>
            <p:nvSpPr>
              <p:cNvPr id="338" name="Freeform 338"/>
              <p:cNvSpPr/>
              <p:nvPr/>
            </p:nvSpPr>
            <p:spPr>
              <a:xfrm>
                <a:off x="8512969" y="4674394"/>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C83210"/>
                </a:solidFill>
              </a:ln>
            </p:spPr>
          </p:sp>
          <p:sp>
            <p:nvSpPr>
              <p:cNvPr id="339" name="Freeform 339"/>
              <p:cNvSpPr/>
              <p:nvPr/>
            </p:nvSpPr>
            <p:spPr>
              <a:xfrm>
                <a:off x="8562975" y="4631531"/>
                <a:ext cx="9525" cy="78581"/>
              </a:xfrm>
              <a:custGeom>
                <a:avLst/>
                <a:gdLst/>
                <a:ahLst/>
                <a:cxnLst/>
                <a:rect l="l" t="t" r="r" b="b"/>
                <a:pathLst>
                  <a:path w="9525" h="78581">
                    <a:moveTo>
                      <a:pt x="0" y="78581"/>
                    </a:moveTo>
                    <a:lnTo>
                      <a:pt x="0" y="0"/>
                    </a:lnTo>
                  </a:path>
                </a:pathLst>
              </a:custGeom>
              <a:noFill/>
              <a:ln w="14288">
                <a:solidFill>
                  <a:srgbClr val="C83210"/>
                </a:solidFill>
              </a:ln>
            </p:spPr>
          </p:sp>
          <p:sp>
            <p:nvSpPr>
              <p:cNvPr id="340" name="Freeform 340"/>
              <p:cNvSpPr/>
              <p:nvPr/>
            </p:nvSpPr>
            <p:spPr>
              <a:xfrm>
                <a:off x="8541544" y="4631531"/>
                <a:ext cx="42862" cy="21431"/>
              </a:xfrm>
              <a:custGeom>
                <a:avLst/>
                <a:gdLst/>
                <a:ahLst/>
                <a:cxnLst/>
                <a:rect l="l" t="t" r="r" b="b"/>
                <a:pathLst>
                  <a:path w="42862" h="21431">
                    <a:moveTo>
                      <a:pt x="0" y="21431"/>
                    </a:moveTo>
                    <a:lnTo>
                      <a:pt x="21431" y="0"/>
                    </a:lnTo>
                    <a:lnTo>
                      <a:pt x="42862" y="21431"/>
                    </a:lnTo>
                  </a:path>
                </a:pathLst>
              </a:custGeom>
              <a:noFill/>
              <a:ln w="14288">
                <a:solidFill>
                  <a:srgbClr val="C83210"/>
                </a:solidFill>
              </a:ln>
            </p:spPr>
          </p:sp>
        </p:grpSp>
        <p:sp>
          <p:nvSpPr>
            <p:cNvPr id="342" name="TextBox 342"/>
            <p:cNvSpPr txBox="1"/>
            <p:nvPr/>
          </p:nvSpPr>
          <p:spPr>
            <a:xfrm>
              <a:off x="8701088" y="4666536"/>
              <a:ext cx="29626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朋友圈</a:t>
              </a:r>
            </a:p>
          </p:txBody>
        </p:sp>
        <p:sp>
          <p:nvSpPr>
            <p:cNvPr id="343" name="TextBox 343"/>
            <p:cNvSpPr txBox="1"/>
            <p:nvPr/>
          </p:nvSpPr>
          <p:spPr>
            <a:xfrm>
              <a:off x="9215438" y="4613434"/>
              <a:ext cx="51758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短图文·金币</a:t>
              </a:r>
            </a:p>
          </p:txBody>
        </p:sp>
        <p:sp>
          <p:nvSpPr>
            <p:cNvPr id="344" name="TextBox 344"/>
            <p:cNvSpPr txBox="1"/>
            <p:nvPr/>
          </p:nvSpPr>
          <p:spPr>
            <a:xfrm>
              <a:off x="9215438" y="4765834"/>
              <a:ext cx="984443"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 xml:space="preserve">"3个闲钱理财小技巧"　</a:t>
              </a:r>
            </a:p>
          </p:txBody>
        </p:sp>
        <p:sp>
          <p:nvSpPr>
            <p:cNvPr id="345" name="TextBox 345"/>
            <p:cNvSpPr txBox="1"/>
            <p:nvPr/>
          </p:nvSpPr>
          <p:spPr>
            <a:xfrm>
              <a:off x="11215688" y="4613434"/>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扩大传播</a:t>
              </a:r>
            </a:p>
          </p:txBody>
        </p:sp>
        <p:sp>
          <p:nvSpPr>
            <p:cNvPr id="346" name="TextBox 346"/>
            <p:cNvSpPr txBox="1"/>
            <p:nvPr/>
          </p:nvSpPr>
          <p:spPr>
            <a:xfrm>
              <a:off x="11215688" y="4765834"/>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引发兴趣</a:t>
              </a:r>
            </a:p>
          </p:txBody>
        </p:sp>
        <p:sp>
          <p:nvSpPr>
            <p:cNvPr id="347" name="Freeform 347"/>
            <p:cNvSpPr/>
            <p:nvPr/>
          </p:nvSpPr>
          <p:spPr>
            <a:xfrm>
              <a:off x="8491366" y="5128439"/>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C83210"/>
              </a:solidFill>
            </a:ln>
          </p:spPr>
        </p:sp>
        <p:sp>
          <p:nvSpPr>
            <p:cNvPr id="348" name="TextBox 348"/>
            <p:cNvSpPr txBox="1"/>
            <p:nvPr/>
          </p:nvSpPr>
          <p:spPr>
            <a:xfrm>
              <a:off x="8701088" y="5161836"/>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私聊</a:t>
              </a:r>
            </a:p>
          </p:txBody>
        </p:sp>
        <p:sp>
          <p:nvSpPr>
            <p:cNvPr id="349" name="TextBox 349"/>
            <p:cNvSpPr txBox="1"/>
            <p:nvPr/>
          </p:nvSpPr>
          <p:spPr>
            <a:xfrm>
              <a:off x="9215438" y="5108734"/>
              <a:ext cx="467233"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一对一话术</a:t>
              </a:r>
            </a:p>
          </p:txBody>
        </p:sp>
        <p:sp>
          <p:nvSpPr>
            <p:cNvPr id="350" name="TextBox 350"/>
            <p:cNvSpPr txBox="1"/>
            <p:nvPr/>
          </p:nvSpPr>
          <p:spPr>
            <a:xfrm>
              <a:off x="9215438" y="5261134"/>
              <a:ext cx="1259068"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 xml:space="preserve">"针对您的闲置情况，建议…"　</a:t>
              </a:r>
            </a:p>
          </p:txBody>
        </p:sp>
        <p:sp>
          <p:nvSpPr>
            <p:cNvPr id="351" name="TextBox 351"/>
            <p:cNvSpPr txBox="1"/>
            <p:nvPr/>
          </p:nvSpPr>
          <p:spPr>
            <a:xfrm>
              <a:off x="11215688" y="5108734"/>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精准沟通</a:t>
              </a:r>
            </a:p>
          </p:txBody>
        </p:sp>
        <p:sp>
          <p:nvSpPr>
            <p:cNvPr id="352" name="TextBox 352"/>
            <p:cNvSpPr txBox="1"/>
            <p:nvPr/>
          </p:nvSpPr>
          <p:spPr>
            <a:xfrm>
              <a:off x="11215688" y="5261134"/>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促进转化</a:t>
              </a:r>
            </a:p>
          </p:txBody>
        </p:sp>
        <p:grpSp>
          <p:nvGrpSpPr>
            <p:cNvPr id="359" name="Group 359"/>
            <p:cNvGrpSpPr/>
            <p:nvPr/>
          </p:nvGrpSpPr>
          <p:grpSpPr>
            <a:xfrm>
              <a:off x="8498681" y="5622131"/>
              <a:ext cx="128588" cy="128588"/>
              <a:chOff x="8498681" y="5622131"/>
              <a:chExt cx="128588" cy="128588"/>
            </a:xfrm>
          </p:grpSpPr>
          <p:sp>
            <p:nvSpPr>
              <p:cNvPr id="353" name="Freeform 353"/>
              <p:cNvSpPr/>
              <p:nvPr/>
            </p:nvSpPr>
            <p:spPr>
              <a:xfrm>
                <a:off x="8548688" y="56792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83210"/>
                </a:solidFill>
              </a:ln>
            </p:spPr>
          </p:sp>
          <p:sp>
            <p:nvSpPr>
              <p:cNvPr id="354" name="Freeform 354"/>
              <p:cNvSpPr/>
              <p:nvPr/>
            </p:nvSpPr>
            <p:spPr>
              <a:xfrm>
                <a:off x="8534400" y="572928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C83210"/>
                </a:solidFill>
              </a:ln>
            </p:spPr>
          </p:sp>
          <p:sp>
            <p:nvSpPr>
              <p:cNvPr id="355" name="Freeform 355"/>
              <p:cNvSpPr/>
              <p:nvPr/>
            </p:nvSpPr>
            <p:spPr>
              <a:xfrm>
                <a:off x="8584406" y="56221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83210"/>
                </a:solidFill>
              </a:ln>
            </p:spPr>
          </p:sp>
          <p:sp>
            <p:nvSpPr>
              <p:cNvPr id="356" name="Freeform 356"/>
              <p:cNvSpPr/>
              <p:nvPr/>
            </p:nvSpPr>
            <p:spPr>
              <a:xfrm>
                <a:off x="8598694" y="567213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C83210"/>
                </a:solidFill>
              </a:ln>
            </p:spPr>
          </p:sp>
          <p:sp>
            <p:nvSpPr>
              <p:cNvPr id="357" name="Freeform 357"/>
              <p:cNvSpPr/>
              <p:nvPr/>
            </p:nvSpPr>
            <p:spPr>
              <a:xfrm>
                <a:off x="8512969" y="56221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83210"/>
                </a:solidFill>
              </a:ln>
            </p:spPr>
          </p:sp>
          <p:sp>
            <p:nvSpPr>
              <p:cNvPr id="358" name="Freeform 358"/>
              <p:cNvSpPr/>
              <p:nvPr/>
            </p:nvSpPr>
            <p:spPr>
              <a:xfrm>
                <a:off x="8498681" y="567213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C83210"/>
                </a:solidFill>
              </a:ln>
            </p:spPr>
          </p:sp>
        </p:grpSp>
        <p:sp>
          <p:nvSpPr>
            <p:cNvPr id="360" name="TextBox 360"/>
            <p:cNvSpPr txBox="1"/>
            <p:nvPr/>
          </p:nvSpPr>
          <p:spPr>
            <a:xfrm>
              <a:off x="8701088" y="5657136"/>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社群</a:t>
              </a:r>
            </a:p>
          </p:txBody>
        </p:sp>
        <p:sp>
          <p:nvSpPr>
            <p:cNvPr id="361" name="TextBox 361"/>
            <p:cNvSpPr txBox="1"/>
            <p:nvPr/>
          </p:nvSpPr>
          <p:spPr>
            <a:xfrm>
              <a:off x="9215438" y="5604034"/>
              <a:ext cx="426039"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互动·问答</a:t>
              </a:r>
            </a:p>
          </p:txBody>
        </p:sp>
        <p:sp>
          <p:nvSpPr>
            <p:cNvPr id="362" name="TextBox 362"/>
            <p:cNvSpPr txBox="1"/>
            <p:nvPr/>
          </p:nvSpPr>
          <p:spPr>
            <a:xfrm>
              <a:off x="9215438" y="5756434"/>
              <a:ext cx="934095"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 xml:space="preserve">"闲钱理财快问快答"　</a:t>
              </a:r>
            </a:p>
          </p:txBody>
        </p:sp>
        <p:sp>
          <p:nvSpPr>
            <p:cNvPr id="363" name="TextBox 363"/>
            <p:cNvSpPr txBox="1"/>
            <p:nvPr/>
          </p:nvSpPr>
          <p:spPr>
            <a:xfrm>
              <a:off x="11215688" y="5604034"/>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互动答疑</a:t>
              </a:r>
            </a:p>
          </p:txBody>
        </p:sp>
        <p:sp>
          <p:nvSpPr>
            <p:cNvPr id="364" name="TextBox 364"/>
            <p:cNvSpPr txBox="1"/>
            <p:nvPr/>
          </p:nvSpPr>
          <p:spPr>
            <a:xfrm>
              <a:off x="11215688" y="5756434"/>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建立信任</a:t>
              </a:r>
            </a:p>
          </p:txBody>
        </p:sp>
        <p:grpSp>
          <p:nvGrpSpPr>
            <p:cNvPr id="367" name="Group 367"/>
            <p:cNvGrpSpPr/>
            <p:nvPr/>
          </p:nvGrpSpPr>
          <p:grpSpPr>
            <a:xfrm>
              <a:off x="8498681" y="6138862"/>
              <a:ext cx="128587" cy="85725"/>
              <a:chOff x="8498681" y="6138862"/>
              <a:chExt cx="128587" cy="85725"/>
            </a:xfrm>
          </p:grpSpPr>
          <p:sp>
            <p:nvSpPr>
              <p:cNvPr id="365" name="Freeform 365"/>
              <p:cNvSpPr/>
              <p:nvPr/>
            </p:nvSpPr>
            <p:spPr>
              <a:xfrm>
                <a:off x="8584406" y="6150072"/>
                <a:ext cx="42862" cy="63306"/>
              </a:xfrm>
              <a:custGeom>
                <a:avLst/>
                <a:gdLst/>
                <a:ahLst/>
                <a:cxnLst/>
                <a:rect l="l" t="t" r="r" b="b"/>
                <a:pathLst>
                  <a:path w="42862" h="63306">
                    <a:moveTo>
                      <a:pt x="0" y="17365"/>
                    </a:moveTo>
                    <a:lnTo>
                      <a:pt x="32525" y="1106"/>
                    </a:lnTo>
                    <a:cubicBezTo>
                      <a:pt x="34739" y="0"/>
                      <a:pt x="37368" y="118"/>
                      <a:pt x="39474" y="1419"/>
                    </a:cubicBezTo>
                    <a:cubicBezTo>
                      <a:pt x="41579" y="2720"/>
                      <a:pt x="42861" y="5018"/>
                      <a:pt x="42862" y="7493"/>
                    </a:cubicBezTo>
                    <a:lnTo>
                      <a:pt x="42862" y="55813"/>
                    </a:lnTo>
                    <a:cubicBezTo>
                      <a:pt x="42861" y="58288"/>
                      <a:pt x="41579" y="60586"/>
                      <a:pt x="39474" y="61887"/>
                    </a:cubicBezTo>
                    <a:cubicBezTo>
                      <a:pt x="37368" y="63187"/>
                      <a:pt x="34739" y="63306"/>
                      <a:pt x="32525" y="62200"/>
                    </a:cubicBezTo>
                    <a:lnTo>
                      <a:pt x="0" y="45940"/>
                    </a:lnTo>
                    <a:lnTo>
                      <a:pt x="0" y="17365"/>
                    </a:lnTo>
                  </a:path>
                </a:pathLst>
              </a:custGeom>
              <a:noFill/>
              <a:ln w="14288">
                <a:solidFill>
                  <a:srgbClr val="C83210"/>
                </a:solidFill>
              </a:ln>
            </p:spPr>
          </p:sp>
          <p:sp>
            <p:nvSpPr>
              <p:cNvPr id="366" name="Freeform 366"/>
              <p:cNvSpPr/>
              <p:nvPr/>
            </p:nvSpPr>
            <p:spPr>
              <a:xfrm>
                <a:off x="8498681" y="6138862"/>
                <a:ext cx="85725" cy="85725"/>
              </a:xfrm>
              <a:custGeom>
                <a:avLst/>
                <a:gdLst/>
                <a:ahLst/>
                <a:cxnLst/>
                <a:rect l="l" t="t" r="r" b="b"/>
                <a:pathLst>
                  <a:path w="85725" h="85725">
                    <a:moveTo>
                      <a:pt x="0" y="14288"/>
                    </a:moveTo>
                    <a:cubicBezTo>
                      <a:pt x="0" y="6397"/>
                      <a:pt x="6397" y="0"/>
                      <a:pt x="14288" y="0"/>
                    </a:cubicBezTo>
                    <a:lnTo>
                      <a:pt x="71438" y="0"/>
                    </a:lnTo>
                    <a:cubicBezTo>
                      <a:pt x="79328" y="0"/>
                      <a:pt x="85725" y="6397"/>
                      <a:pt x="85725" y="14288"/>
                    </a:cubicBezTo>
                    <a:lnTo>
                      <a:pt x="85725" y="71438"/>
                    </a:lnTo>
                    <a:cubicBezTo>
                      <a:pt x="85725" y="79328"/>
                      <a:pt x="79328" y="85725"/>
                      <a:pt x="71438" y="85725"/>
                    </a:cubicBezTo>
                    <a:lnTo>
                      <a:pt x="14288" y="85725"/>
                    </a:lnTo>
                    <a:cubicBezTo>
                      <a:pt x="6397" y="85725"/>
                      <a:pt x="0" y="79328"/>
                      <a:pt x="0" y="71438"/>
                    </a:cubicBezTo>
                    <a:lnTo>
                      <a:pt x="0" y="14288"/>
                    </a:lnTo>
                  </a:path>
                </a:pathLst>
              </a:custGeom>
              <a:noFill/>
              <a:ln w="14288">
                <a:solidFill>
                  <a:srgbClr val="C83210"/>
                </a:solidFill>
              </a:ln>
            </p:spPr>
          </p:sp>
        </p:grpSp>
        <p:sp>
          <p:nvSpPr>
            <p:cNvPr id="368" name="TextBox 368"/>
            <p:cNvSpPr txBox="1"/>
            <p:nvPr/>
          </p:nvSpPr>
          <p:spPr>
            <a:xfrm>
              <a:off x="8701088" y="6152436"/>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直播</a:t>
              </a:r>
            </a:p>
          </p:txBody>
        </p:sp>
        <p:sp>
          <p:nvSpPr>
            <p:cNvPr id="369" name="TextBox 369"/>
            <p:cNvSpPr txBox="1"/>
            <p:nvPr/>
          </p:nvSpPr>
          <p:spPr>
            <a:xfrm>
              <a:off x="9215438" y="6099334"/>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专题直播</a:t>
              </a:r>
            </a:p>
          </p:txBody>
        </p:sp>
        <p:sp>
          <p:nvSpPr>
            <p:cNvPr id="370" name="TextBox 370"/>
            <p:cNvSpPr txBox="1"/>
            <p:nvPr/>
          </p:nvSpPr>
          <p:spPr>
            <a:xfrm>
              <a:off x="9215438" y="6251734"/>
              <a:ext cx="1025637"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 xml:space="preserve">"闲钱理财的底层逻辑"　</a:t>
              </a:r>
            </a:p>
          </p:txBody>
        </p:sp>
        <p:sp>
          <p:nvSpPr>
            <p:cNvPr id="371" name="TextBox 371"/>
            <p:cNvSpPr txBox="1"/>
            <p:nvPr/>
          </p:nvSpPr>
          <p:spPr>
            <a:xfrm>
              <a:off x="11215688" y="6099334"/>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深度讲解</a:t>
              </a:r>
            </a:p>
          </p:txBody>
        </p:sp>
        <p:sp>
          <p:nvSpPr>
            <p:cNvPr id="372" name="TextBox 372"/>
            <p:cNvSpPr txBox="1"/>
            <p:nvPr/>
          </p:nvSpPr>
          <p:spPr>
            <a:xfrm>
              <a:off x="11215688" y="6251734"/>
              <a:ext cx="375691" cy="133350"/>
            </a:xfrm>
            <a:prstGeom prst="rect">
              <a:avLst/>
            </a:prstGeom>
            <a:noFill/>
            <a:ln>
              <a:noFill/>
            </a:ln>
          </p:spPr>
          <p:txBody>
            <a:bodyPr wrap="none" lIns="0" tIns="0" rIns="0" bIns="0" anchor="t" anchorCtr="0">
              <a:spAutoFit/>
            </a:bodyPr>
            <a:lstStyle/>
            <a:p>
              <a:pPr algn="l"/>
              <a:r>
                <a:rPr lang="zh-CN" sz="680" dirty="0">
                  <a:solidFill>
                    <a:srgbClr val="3D3D3D"/>
                  </a:solidFill>
                  <a:latin typeface="+mn-lt"/>
                  <a:ea typeface="+mn-ea"/>
                  <a:cs typeface="+mn-cs"/>
                </a:rPr>
                <a:t>推动成交</a:t>
              </a:r>
            </a:p>
          </p:txBody>
        </p:sp>
        <p:sp>
          <p:nvSpPr>
            <p:cNvPr id="373" name="Line 373"/>
            <p:cNvSpPr/>
            <p:nvPr/>
          </p:nvSpPr>
          <p:spPr>
            <a:xfrm>
              <a:off x="8382000" y="4476750"/>
              <a:ext cx="3676650" cy="9525"/>
            </a:xfrm>
            <a:custGeom>
              <a:avLst/>
              <a:gdLst/>
              <a:ahLst/>
              <a:cxnLst/>
              <a:rect l="l" t="t" r="r" b="b"/>
              <a:pathLst>
                <a:path w="3676650" h="9525">
                  <a:moveTo>
                    <a:pt x="0" y="0"/>
                  </a:moveTo>
                  <a:lnTo>
                    <a:pt x="3676650" y="0"/>
                  </a:lnTo>
                </a:path>
              </a:pathLst>
            </a:custGeom>
            <a:noFill/>
            <a:ln w="9525">
              <a:solidFill>
                <a:srgbClr val="F1C7CC"/>
              </a:solidFill>
            </a:ln>
          </p:spPr>
        </p:sp>
        <p:sp>
          <p:nvSpPr>
            <p:cNvPr id="374" name="Line 374"/>
            <p:cNvSpPr/>
            <p:nvPr/>
          </p:nvSpPr>
          <p:spPr>
            <a:xfrm>
              <a:off x="8382000" y="4972050"/>
              <a:ext cx="3676650" cy="9525"/>
            </a:xfrm>
            <a:custGeom>
              <a:avLst/>
              <a:gdLst/>
              <a:ahLst/>
              <a:cxnLst/>
              <a:rect l="l" t="t" r="r" b="b"/>
              <a:pathLst>
                <a:path w="3676650" h="9525">
                  <a:moveTo>
                    <a:pt x="0" y="0"/>
                  </a:moveTo>
                  <a:lnTo>
                    <a:pt x="3676650" y="0"/>
                  </a:lnTo>
                </a:path>
              </a:pathLst>
            </a:custGeom>
            <a:noFill/>
            <a:ln w="9525">
              <a:solidFill>
                <a:srgbClr val="F1C7CC"/>
              </a:solidFill>
            </a:ln>
          </p:spPr>
        </p:sp>
        <p:sp>
          <p:nvSpPr>
            <p:cNvPr id="375" name="Line 375"/>
            <p:cNvSpPr/>
            <p:nvPr/>
          </p:nvSpPr>
          <p:spPr>
            <a:xfrm>
              <a:off x="8382000" y="5467350"/>
              <a:ext cx="3676650" cy="9525"/>
            </a:xfrm>
            <a:custGeom>
              <a:avLst/>
              <a:gdLst/>
              <a:ahLst/>
              <a:cxnLst/>
              <a:rect l="l" t="t" r="r" b="b"/>
              <a:pathLst>
                <a:path w="3676650" h="9525">
                  <a:moveTo>
                    <a:pt x="0" y="0"/>
                  </a:moveTo>
                  <a:lnTo>
                    <a:pt x="3676650" y="0"/>
                  </a:lnTo>
                </a:path>
              </a:pathLst>
            </a:custGeom>
            <a:noFill/>
            <a:ln w="9525">
              <a:solidFill>
                <a:srgbClr val="F1C7CC"/>
              </a:solidFill>
            </a:ln>
          </p:spPr>
        </p:sp>
        <p:sp>
          <p:nvSpPr>
            <p:cNvPr id="376" name="Line 376"/>
            <p:cNvSpPr/>
            <p:nvPr/>
          </p:nvSpPr>
          <p:spPr>
            <a:xfrm>
              <a:off x="8382000" y="5962650"/>
              <a:ext cx="3676650" cy="9525"/>
            </a:xfrm>
            <a:custGeom>
              <a:avLst/>
              <a:gdLst/>
              <a:ahLst/>
              <a:cxnLst/>
              <a:rect l="l" t="t" r="r" b="b"/>
              <a:pathLst>
                <a:path w="3676650" h="9525">
                  <a:moveTo>
                    <a:pt x="0" y="0"/>
                  </a:moveTo>
                  <a:lnTo>
                    <a:pt x="3676650" y="0"/>
                  </a:lnTo>
                </a:path>
              </a:pathLst>
            </a:custGeom>
            <a:noFill/>
            <a:ln w="9525">
              <a:solidFill>
                <a:srgbClr val="F1C7CC"/>
              </a:solidFill>
            </a:ln>
          </p:spPr>
        </p:sp>
        <p:sp>
          <p:nvSpPr>
            <p:cNvPr id="377" name="Line 377"/>
            <p:cNvSpPr/>
            <p:nvPr/>
          </p:nvSpPr>
          <p:spPr>
            <a:xfrm>
              <a:off x="8382000" y="6457950"/>
              <a:ext cx="3676650" cy="9525"/>
            </a:xfrm>
            <a:custGeom>
              <a:avLst/>
              <a:gdLst/>
              <a:ahLst/>
              <a:cxnLst/>
              <a:rect l="l" t="t" r="r" b="b"/>
              <a:pathLst>
                <a:path w="3676650" h="9525">
                  <a:moveTo>
                    <a:pt x="0" y="0"/>
                  </a:moveTo>
                  <a:lnTo>
                    <a:pt x="3676650" y="0"/>
                  </a:lnTo>
                </a:path>
              </a:pathLst>
            </a:custGeom>
            <a:noFill/>
            <a:ln w="9525">
              <a:solidFill>
                <a:srgbClr val="F1C7CC"/>
              </a:solidFill>
            </a:ln>
          </p:spPr>
        </p:sp>
        <p:sp>
          <p:nvSpPr>
            <p:cNvPr id="378" name="Line 378"/>
            <p:cNvSpPr/>
            <p:nvPr/>
          </p:nvSpPr>
          <p:spPr>
            <a:xfrm>
              <a:off x="11010900" y="4191000"/>
              <a:ext cx="9525" cy="2266950"/>
            </a:xfrm>
            <a:custGeom>
              <a:avLst/>
              <a:gdLst/>
              <a:ahLst/>
              <a:cxnLst/>
              <a:rect l="l" t="t" r="r" b="b"/>
              <a:pathLst>
                <a:path w="9525" h="2266950">
                  <a:moveTo>
                    <a:pt x="0" y="0"/>
                  </a:moveTo>
                  <a:lnTo>
                    <a:pt x="0" y="2266950"/>
                  </a:lnTo>
                </a:path>
              </a:pathLst>
            </a:custGeom>
            <a:noFill/>
            <a:ln w="9525">
              <a:solidFill>
                <a:srgbClr val="F1C7CC"/>
              </a:solidFill>
            </a:ln>
          </p:spPr>
        </p:sp>
        <p:sp>
          <p:nvSpPr>
            <p:cNvPr id="379" name="Line 379"/>
            <p:cNvSpPr/>
            <p:nvPr/>
          </p:nvSpPr>
          <p:spPr>
            <a:xfrm>
              <a:off x="9124950" y="4191000"/>
              <a:ext cx="9525" cy="2266950"/>
            </a:xfrm>
            <a:custGeom>
              <a:avLst/>
              <a:gdLst/>
              <a:ahLst/>
              <a:cxnLst/>
              <a:rect l="l" t="t" r="r" b="b"/>
              <a:pathLst>
                <a:path w="9525" h="2266950">
                  <a:moveTo>
                    <a:pt x="0" y="0"/>
                  </a:moveTo>
                  <a:lnTo>
                    <a:pt x="0" y="2266950"/>
                  </a:lnTo>
                </a:path>
              </a:pathLst>
            </a:custGeom>
            <a:noFill/>
            <a:ln w="9525">
              <a:solidFill>
                <a:srgbClr val="F1C7CC"/>
              </a:solidFill>
            </a:ln>
          </p:spPr>
        </p:sp>
        <p:sp>
          <p:nvSpPr>
            <p:cNvPr id="380" name="Line 380"/>
            <p:cNvSpPr/>
            <p:nvPr/>
          </p:nvSpPr>
          <p:spPr>
            <a:xfrm>
              <a:off x="8134350" y="4476750"/>
              <a:ext cx="209550" cy="666750"/>
            </a:xfrm>
            <a:custGeom>
              <a:avLst/>
              <a:gdLst/>
              <a:ahLst/>
              <a:cxnLst/>
              <a:rect l="l" t="t" r="r" b="b"/>
              <a:pathLst>
                <a:path w="209550" h="666750">
                  <a:moveTo>
                    <a:pt x="0" y="666750"/>
                  </a:moveTo>
                  <a:lnTo>
                    <a:pt x="209550" y="0"/>
                  </a:lnTo>
                </a:path>
              </a:pathLst>
            </a:custGeom>
            <a:noFill/>
            <a:ln w="11430">
              <a:solidFill>
                <a:srgbClr val="F3B2A3"/>
              </a:solidFill>
            </a:ln>
          </p:spPr>
        </p:sp>
        <p:sp>
          <p:nvSpPr>
            <p:cNvPr id="381" name="Line 381"/>
            <p:cNvSpPr/>
            <p:nvPr/>
          </p:nvSpPr>
          <p:spPr>
            <a:xfrm>
              <a:off x="8134350" y="5219700"/>
              <a:ext cx="209550" cy="114300"/>
            </a:xfrm>
            <a:custGeom>
              <a:avLst/>
              <a:gdLst/>
              <a:ahLst/>
              <a:cxnLst/>
              <a:rect l="l" t="t" r="r" b="b"/>
              <a:pathLst>
                <a:path w="209550" h="114300">
                  <a:moveTo>
                    <a:pt x="0" y="114300"/>
                  </a:moveTo>
                  <a:lnTo>
                    <a:pt x="209550" y="0"/>
                  </a:lnTo>
                </a:path>
              </a:pathLst>
            </a:custGeom>
            <a:noFill/>
            <a:ln w="11430">
              <a:solidFill>
                <a:srgbClr val="F3B2A3"/>
              </a:solidFill>
            </a:ln>
          </p:spPr>
        </p:sp>
        <p:sp>
          <p:nvSpPr>
            <p:cNvPr id="382" name="Line 382"/>
            <p:cNvSpPr/>
            <p:nvPr/>
          </p:nvSpPr>
          <p:spPr>
            <a:xfrm>
              <a:off x="8134350" y="5524500"/>
              <a:ext cx="209550" cy="190500"/>
            </a:xfrm>
            <a:custGeom>
              <a:avLst/>
              <a:gdLst/>
              <a:ahLst/>
              <a:cxnLst/>
              <a:rect l="l" t="t" r="r" b="b"/>
              <a:pathLst>
                <a:path w="209550" h="190500">
                  <a:moveTo>
                    <a:pt x="0" y="0"/>
                  </a:moveTo>
                  <a:lnTo>
                    <a:pt x="209550" y="190500"/>
                  </a:lnTo>
                </a:path>
              </a:pathLst>
            </a:custGeom>
            <a:noFill/>
            <a:ln w="11430">
              <a:solidFill>
                <a:srgbClr val="F3B2A3"/>
              </a:solidFill>
            </a:ln>
          </p:spPr>
        </p:sp>
        <p:sp>
          <p:nvSpPr>
            <p:cNvPr id="383" name="Line 383"/>
            <p:cNvSpPr/>
            <p:nvPr/>
          </p:nvSpPr>
          <p:spPr>
            <a:xfrm>
              <a:off x="8134350" y="5715000"/>
              <a:ext cx="209550" cy="495300"/>
            </a:xfrm>
            <a:custGeom>
              <a:avLst/>
              <a:gdLst/>
              <a:ahLst/>
              <a:cxnLst/>
              <a:rect l="l" t="t" r="r" b="b"/>
              <a:pathLst>
                <a:path w="209550" h="495300">
                  <a:moveTo>
                    <a:pt x="0" y="0"/>
                  </a:moveTo>
                  <a:lnTo>
                    <a:pt x="209550" y="495300"/>
                  </a:lnTo>
                </a:path>
              </a:pathLst>
            </a:custGeom>
            <a:noFill/>
            <a:ln w="11430">
              <a:solidFill>
                <a:srgbClr val="F3B2A3"/>
              </a:solidFill>
            </a:ln>
          </p:spPr>
        </p:sp>
      </p:gr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09</a:t>
              </a:r>
            </a:p>
          </p:txBody>
        </p:sp>
        <p:sp>
          <p:nvSpPr>
            <p:cNvPr id="4" name="TextBox 4"/>
            <p:cNvSpPr txBox="1"/>
            <p:nvPr/>
          </p:nvSpPr>
          <p:spPr>
            <a:xfrm>
              <a:off x="942594" y="151448"/>
              <a:ext cx="6399276"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客户旅程</a:t>
              </a:r>
              <a:r>
                <a:rPr lang="zh-CN" sz="1950" b="1" dirty="0">
                  <a:solidFill>
                    <a:srgbClr val="222222"/>
                  </a:solidFill>
                  <a:latin typeface="SimSun"/>
                  <a:ea typeface="SimSun"/>
                  <a:cs typeface="SimSun"/>
                </a:rPr>
                <a:t>｜不同生命周期决定内容、时机和服务动作</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228" name="journey-table"/>
          <p:cNvGrpSpPr/>
          <p:nvPr/>
        </p:nvGrpSpPr>
        <p:grpSpPr>
          <a:xfrm>
            <a:off x="133350" y="628650"/>
            <a:ext cx="8629650" cy="3876675"/>
            <a:chOff x="133350" y="628650"/>
            <a:chExt cx="8629650" cy="3876675"/>
          </a:xfrm>
        </p:grpSpPr>
        <p:sp>
          <p:nvSpPr>
            <p:cNvPr id="7" name="Rectangle 7"/>
            <p:cNvSpPr/>
            <p:nvPr/>
          </p:nvSpPr>
          <p:spPr>
            <a:xfrm>
              <a:off x="133350" y="628650"/>
              <a:ext cx="742950" cy="3867150"/>
            </a:xfrm>
            <a:prstGeom prst="rect">
              <a:avLst/>
            </a:prstGeom>
            <a:solidFill>
              <a:srgbClr val="FBE3E6"/>
            </a:solidFill>
            <a:ln>
              <a:noFill/>
            </a:ln>
          </p:spPr>
        </p:sp>
        <p:sp>
          <p:nvSpPr>
            <p:cNvPr id="8" name="Rectangle 8"/>
            <p:cNvSpPr/>
            <p:nvPr/>
          </p:nvSpPr>
          <p:spPr>
            <a:xfrm>
              <a:off x="876300" y="628650"/>
              <a:ext cx="1314450" cy="457200"/>
            </a:xfrm>
            <a:prstGeom prst="rect">
              <a:avLst/>
            </a:prstGeom>
            <a:solidFill>
              <a:srgbClr val="E9826B"/>
            </a:solidFill>
            <a:ln>
              <a:noFill/>
            </a:ln>
          </p:spPr>
        </p:sp>
        <p:sp>
          <p:nvSpPr>
            <p:cNvPr id="9" name="Rectangle 9"/>
            <p:cNvSpPr/>
            <p:nvPr/>
          </p:nvSpPr>
          <p:spPr>
            <a:xfrm>
              <a:off x="2190750" y="628650"/>
              <a:ext cx="1314450" cy="457200"/>
            </a:xfrm>
            <a:prstGeom prst="rect">
              <a:avLst/>
            </a:prstGeom>
            <a:solidFill>
              <a:srgbClr val="D64F30"/>
            </a:solidFill>
            <a:ln>
              <a:noFill/>
            </a:ln>
          </p:spPr>
        </p:sp>
        <p:sp>
          <p:nvSpPr>
            <p:cNvPr id="10" name="Rectangle 10"/>
            <p:cNvSpPr/>
            <p:nvPr/>
          </p:nvSpPr>
          <p:spPr>
            <a:xfrm>
              <a:off x="3505200" y="628650"/>
              <a:ext cx="1314450" cy="457200"/>
            </a:xfrm>
            <a:prstGeom prst="rect">
              <a:avLst/>
            </a:prstGeom>
            <a:solidFill>
              <a:srgbClr val="C83210"/>
            </a:solidFill>
            <a:ln>
              <a:noFill/>
            </a:ln>
          </p:spPr>
        </p:sp>
        <p:sp>
          <p:nvSpPr>
            <p:cNvPr id="11" name="Rectangle 11"/>
            <p:cNvSpPr/>
            <p:nvPr/>
          </p:nvSpPr>
          <p:spPr>
            <a:xfrm>
              <a:off x="4819650" y="628650"/>
              <a:ext cx="1314450" cy="457200"/>
            </a:xfrm>
            <a:prstGeom prst="rect">
              <a:avLst/>
            </a:prstGeom>
            <a:solidFill>
              <a:srgbClr val="B32C0E"/>
            </a:solidFill>
            <a:ln>
              <a:noFill/>
            </a:ln>
          </p:spPr>
        </p:sp>
        <p:sp>
          <p:nvSpPr>
            <p:cNvPr id="12" name="Rectangle 12"/>
            <p:cNvSpPr/>
            <p:nvPr/>
          </p:nvSpPr>
          <p:spPr>
            <a:xfrm>
              <a:off x="6134100" y="628650"/>
              <a:ext cx="1314450" cy="457200"/>
            </a:xfrm>
            <a:prstGeom prst="rect">
              <a:avLst/>
            </a:prstGeom>
            <a:solidFill>
              <a:srgbClr val="A0270C"/>
            </a:solidFill>
            <a:ln>
              <a:noFill/>
            </a:ln>
          </p:spPr>
        </p:sp>
        <p:sp>
          <p:nvSpPr>
            <p:cNvPr id="13" name="Rectangle 13"/>
            <p:cNvSpPr/>
            <p:nvPr/>
          </p:nvSpPr>
          <p:spPr>
            <a:xfrm>
              <a:off x="7448550" y="628650"/>
              <a:ext cx="1314450" cy="457200"/>
            </a:xfrm>
            <a:prstGeom prst="rect">
              <a:avLst/>
            </a:prstGeom>
            <a:solidFill>
              <a:srgbClr val="8F230A"/>
            </a:solidFill>
            <a:ln>
              <a:noFill/>
            </a:ln>
          </p:spPr>
        </p:sp>
        <p:sp>
          <p:nvSpPr>
            <p:cNvPr id="14" name="TextBox 14"/>
            <p:cNvSpPr txBox="1"/>
            <p:nvPr/>
          </p:nvSpPr>
          <p:spPr>
            <a:xfrm>
              <a:off x="197168" y="833438"/>
              <a:ext cx="61531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生命周期阶段</a:t>
              </a:r>
            </a:p>
          </p:txBody>
        </p:sp>
        <p:grpSp>
          <p:nvGrpSpPr>
            <p:cNvPr id="19" name="Group 19"/>
            <p:cNvGrpSpPr/>
            <p:nvPr/>
          </p:nvGrpSpPr>
          <p:grpSpPr>
            <a:xfrm>
              <a:off x="1423987" y="683419"/>
              <a:ext cx="88900" cy="105568"/>
              <a:chOff x="1423987" y="683419"/>
              <a:chExt cx="88900" cy="105568"/>
            </a:xfrm>
          </p:grpSpPr>
          <p:sp>
            <p:nvSpPr>
              <p:cNvPr id="15" name="Freeform 15"/>
              <p:cNvSpPr/>
              <p:nvPr/>
            </p:nvSpPr>
            <p:spPr>
              <a:xfrm>
                <a:off x="1435100" y="6834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FFFFFF"/>
                </a:solidFill>
              </a:ln>
            </p:spPr>
          </p:sp>
          <p:sp>
            <p:nvSpPr>
              <p:cNvPr id="16" name="Freeform 16"/>
              <p:cNvSpPr/>
              <p:nvPr/>
            </p:nvSpPr>
            <p:spPr>
              <a:xfrm>
                <a:off x="1479550" y="772319"/>
                <a:ext cx="33337" cy="9525"/>
              </a:xfrm>
              <a:custGeom>
                <a:avLst/>
                <a:gdLst/>
                <a:ahLst/>
                <a:cxnLst/>
                <a:rect l="l" t="t" r="r" b="b"/>
                <a:pathLst>
                  <a:path w="33337" h="9525">
                    <a:moveTo>
                      <a:pt x="0" y="0"/>
                    </a:moveTo>
                    <a:lnTo>
                      <a:pt x="33337" y="0"/>
                    </a:lnTo>
                  </a:path>
                </a:pathLst>
              </a:custGeom>
              <a:noFill/>
              <a:ln w="11112">
                <a:solidFill>
                  <a:srgbClr val="FFFFFF"/>
                </a:solidFill>
              </a:ln>
            </p:spPr>
          </p:sp>
          <p:sp>
            <p:nvSpPr>
              <p:cNvPr id="17" name="Freeform 17"/>
              <p:cNvSpPr/>
              <p:nvPr/>
            </p:nvSpPr>
            <p:spPr>
              <a:xfrm>
                <a:off x="1496219" y="755650"/>
                <a:ext cx="9525" cy="33337"/>
              </a:xfrm>
              <a:custGeom>
                <a:avLst/>
                <a:gdLst/>
                <a:ahLst/>
                <a:cxnLst/>
                <a:rect l="l" t="t" r="r" b="b"/>
                <a:pathLst>
                  <a:path w="9525" h="33337">
                    <a:moveTo>
                      <a:pt x="0" y="0"/>
                    </a:moveTo>
                    <a:lnTo>
                      <a:pt x="0" y="33337"/>
                    </a:lnTo>
                  </a:path>
                </a:pathLst>
              </a:custGeom>
              <a:noFill/>
              <a:ln w="11112">
                <a:solidFill>
                  <a:srgbClr val="FFFFFF"/>
                </a:solidFill>
              </a:ln>
            </p:spPr>
          </p:sp>
          <p:sp>
            <p:nvSpPr>
              <p:cNvPr id="18" name="Freeform 18"/>
              <p:cNvSpPr/>
              <p:nvPr/>
            </p:nvSpPr>
            <p:spPr>
              <a:xfrm>
                <a:off x="1423987" y="75009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FFFFFF"/>
                </a:solidFill>
              </a:ln>
            </p:spPr>
          </p:sp>
        </p:grpSp>
        <p:sp>
          <p:nvSpPr>
            <p:cNvPr id="20" name="TextBox 20"/>
            <p:cNvSpPr txBox="1"/>
            <p:nvPr/>
          </p:nvSpPr>
          <p:spPr>
            <a:xfrm>
              <a:off x="1316063" y="85796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新增好友</a:t>
              </a:r>
            </a:p>
          </p:txBody>
        </p:sp>
        <p:sp>
          <p:nvSpPr>
            <p:cNvPr id="21" name="TextBox 21"/>
            <p:cNvSpPr txBox="1"/>
            <p:nvPr/>
          </p:nvSpPr>
          <p:spPr>
            <a:xfrm>
              <a:off x="1381354" y="992505"/>
              <a:ext cx="30434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 xml:space="preserve">0-1天　</a:t>
              </a:r>
            </a:p>
          </p:txBody>
        </p:sp>
        <p:grpSp>
          <p:nvGrpSpPr>
            <p:cNvPr id="25" name="Group 25"/>
            <p:cNvGrpSpPr/>
            <p:nvPr/>
          </p:nvGrpSpPr>
          <p:grpSpPr>
            <a:xfrm>
              <a:off x="2738437" y="683419"/>
              <a:ext cx="83344" cy="100012"/>
              <a:chOff x="2738437" y="683419"/>
              <a:chExt cx="83344" cy="100012"/>
            </a:xfrm>
          </p:grpSpPr>
          <p:sp>
            <p:nvSpPr>
              <p:cNvPr id="22" name="Freeform 22"/>
              <p:cNvSpPr/>
              <p:nvPr/>
            </p:nvSpPr>
            <p:spPr>
              <a:xfrm>
                <a:off x="2749550" y="6834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FFFFFF"/>
                </a:solidFill>
              </a:ln>
            </p:spPr>
          </p:sp>
          <p:sp>
            <p:nvSpPr>
              <p:cNvPr id="23" name="Freeform 23"/>
              <p:cNvSpPr/>
              <p:nvPr/>
            </p:nvSpPr>
            <p:spPr>
              <a:xfrm>
                <a:off x="2738437" y="75009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FFFFFF"/>
                </a:solidFill>
              </a:ln>
            </p:spPr>
          </p:sp>
          <p:sp>
            <p:nvSpPr>
              <p:cNvPr id="24" name="Freeform 24"/>
              <p:cNvSpPr/>
              <p:nvPr/>
            </p:nvSpPr>
            <p:spPr>
              <a:xfrm>
                <a:off x="2788444" y="761206"/>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26" name="TextBox 26"/>
            <p:cNvSpPr txBox="1"/>
            <p:nvPr/>
          </p:nvSpPr>
          <p:spPr>
            <a:xfrm>
              <a:off x="2630513" y="85796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完成认证</a:t>
              </a:r>
            </a:p>
          </p:txBody>
        </p:sp>
        <p:sp>
          <p:nvSpPr>
            <p:cNvPr id="27" name="TextBox 27"/>
            <p:cNvSpPr txBox="1"/>
            <p:nvPr/>
          </p:nvSpPr>
          <p:spPr>
            <a:xfrm>
              <a:off x="2695804" y="992505"/>
              <a:ext cx="30434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 xml:space="preserve">1-3天　</a:t>
              </a:r>
            </a:p>
          </p:txBody>
        </p:sp>
        <p:sp>
          <p:nvSpPr>
            <p:cNvPr id="28" name="Freeform 28"/>
            <p:cNvSpPr/>
            <p:nvPr/>
          </p:nvSpPr>
          <p:spPr>
            <a:xfrm>
              <a:off x="4030529" y="68466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FFFFFF"/>
              </a:solidFill>
            </a:ln>
          </p:spPr>
        </p:sp>
        <p:sp>
          <p:nvSpPr>
            <p:cNvPr id="29" name="TextBox 29"/>
            <p:cNvSpPr txBox="1"/>
            <p:nvPr/>
          </p:nvSpPr>
          <p:spPr>
            <a:xfrm>
              <a:off x="3944963" y="85796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首次互动</a:t>
              </a:r>
            </a:p>
          </p:txBody>
        </p:sp>
        <p:sp>
          <p:nvSpPr>
            <p:cNvPr id="30" name="TextBox 30"/>
            <p:cNvSpPr txBox="1"/>
            <p:nvPr/>
          </p:nvSpPr>
          <p:spPr>
            <a:xfrm>
              <a:off x="4010254" y="992505"/>
              <a:ext cx="30434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 xml:space="preserve">4-7天　</a:t>
              </a:r>
            </a:p>
          </p:txBody>
        </p:sp>
        <p:grpSp>
          <p:nvGrpSpPr>
            <p:cNvPr id="33" name="Group 33"/>
            <p:cNvGrpSpPr/>
            <p:nvPr/>
          </p:nvGrpSpPr>
          <p:grpSpPr>
            <a:xfrm>
              <a:off x="5350669" y="705644"/>
              <a:ext cx="100012" cy="55562"/>
              <a:chOff x="5350669" y="705644"/>
              <a:chExt cx="100012" cy="55562"/>
            </a:xfrm>
          </p:grpSpPr>
          <p:sp>
            <p:nvSpPr>
              <p:cNvPr id="31" name="Freeform 31"/>
              <p:cNvSpPr/>
              <p:nvPr/>
            </p:nvSpPr>
            <p:spPr>
              <a:xfrm>
                <a:off x="5350669" y="705644"/>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FFFFFF"/>
                </a:solidFill>
              </a:ln>
            </p:spPr>
          </p:sp>
          <p:sp>
            <p:nvSpPr>
              <p:cNvPr id="32" name="Freeform 32"/>
              <p:cNvSpPr/>
              <p:nvPr/>
            </p:nvSpPr>
            <p:spPr>
              <a:xfrm>
                <a:off x="5411787" y="705644"/>
                <a:ext cx="38894" cy="38894"/>
              </a:xfrm>
              <a:custGeom>
                <a:avLst/>
                <a:gdLst/>
                <a:ahLst/>
                <a:cxnLst/>
                <a:rect l="l" t="t" r="r" b="b"/>
                <a:pathLst>
                  <a:path w="38894" h="38894">
                    <a:moveTo>
                      <a:pt x="0" y="0"/>
                    </a:moveTo>
                    <a:lnTo>
                      <a:pt x="38894" y="0"/>
                    </a:lnTo>
                    <a:lnTo>
                      <a:pt x="38894" y="38894"/>
                    </a:lnTo>
                  </a:path>
                </a:pathLst>
              </a:custGeom>
              <a:noFill/>
              <a:ln w="11112">
                <a:solidFill>
                  <a:srgbClr val="FFFFFF"/>
                </a:solidFill>
              </a:ln>
            </p:spPr>
          </p:sp>
        </p:grpSp>
        <p:sp>
          <p:nvSpPr>
            <p:cNvPr id="34" name="TextBox 34"/>
            <p:cNvSpPr txBox="1"/>
            <p:nvPr/>
          </p:nvSpPr>
          <p:spPr>
            <a:xfrm>
              <a:off x="5259413" y="85796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持续培育</a:t>
              </a:r>
            </a:p>
          </p:txBody>
        </p:sp>
        <p:sp>
          <p:nvSpPr>
            <p:cNvPr id="35" name="TextBox 35"/>
            <p:cNvSpPr txBox="1"/>
            <p:nvPr/>
          </p:nvSpPr>
          <p:spPr>
            <a:xfrm>
              <a:off x="5302491" y="992505"/>
              <a:ext cx="348767"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 xml:space="preserve">8-30天　</a:t>
              </a:r>
            </a:p>
          </p:txBody>
        </p:sp>
        <p:grpSp>
          <p:nvGrpSpPr>
            <p:cNvPr id="40" name="Group 40"/>
            <p:cNvGrpSpPr/>
            <p:nvPr/>
          </p:nvGrpSpPr>
          <p:grpSpPr>
            <a:xfrm>
              <a:off x="6665119" y="694531"/>
              <a:ext cx="100012" cy="77787"/>
              <a:chOff x="6665119" y="694531"/>
              <a:chExt cx="100012" cy="77787"/>
            </a:xfrm>
          </p:grpSpPr>
          <p:sp>
            <p:nvSpPr>
              <p:cNvPr id="36" name="Freeform 36"/>
              <p:cNvSpPr/>
              <p:nvPr/>
            </p:nvSpPr>
            <p:spPr>
              <a:xfrm>
                <a:off x="6665119" y="694531"/>
                <a:ext cx="100012" cy="77787"/>
              </a:xfrm>
              <a:custGeom>
                <a:avLst/>
                <a:gdLst/>
                <a:ahLst/>
                <a:cxnLst/>
                <a:rect l="l" t="t" r="r" b="b"/>
                <a:pathLst>
                  <a:path w="100012" h="77787">
                    <a:moveTo>
                      <a:pt x="0" y="16669"/>
                    </a:moveTo>
                    <a:cubicBezTo>
                      <a:pt x="0" y="7463"/>
                      <a:pt x="7463" y="0"/>
                      <a:pt x="16669" y="0"/>
                    </a:cubicBezTo>
                    <a:lnTo>
                      <a:pt x="83344" y="0"/>
                    </a:lnTo>
                    <a:cubicBezTo>
                      <a:pt x="92550" y="0"/>
                      <a:pt x="100012" y="7463"/>
                      <a:pt x="100012" y="16669"/>
                    </a:cubicBezTo>
                    <a:lnTo>
                      <a:pt x="100012" y="61119"/>
                    </a:lnTo>
                    <a:cubicBezTo>
                      <a:pt x="100012" y="70325"/>
                      <a:pt x="92550" y="77787"/>
                      <a:pt x="83344" y="77787"/>
                    </a:cubicBezTo>
                    <a:lnTo>
                      <a:pt x="16669" y="77787"/>
                    </a:lnTo>
                    <a:cubicBezTo>
                      <a:pt x="7463" y="77787"/>
                      <a:pt x="0" y="70325"/>
                      <a:pt x="0" y="61119"/>
                    </a:cubicBezTo>
                    <a:lnTo>
                      <a:pt x="0" y="16669"/>
                    </a:lnTo>
                  </a:path>
                </a:pathLst>
              </a:custGeom>
              <a:noFill/>
              <a:ln w="11112">
                <a:solidFill>
                  <a:srgbClr val="FFFFFF"/>
                </a:solidFill>
              </a:ln>
            </p:spPr>
          </p:sp>
          <p:sp>
            <p:nvSpPr>
              <p:cNvPr id="37" name="Freeform 37"/>
              <p:cNvSpPr/>
              <p:nvPr/>
            </p:nvSpPr>
            <p:spPr>
              <a:xfrm>
                <a:off x="6665119" y="722312"/>
                <a:ext cx="100012" cy="9525"/>
              </a:xfrm>
              <a:custGeom>
                <a:avLst/>
                <a:gdLst/>
                <a:ahLst/>
                <a:cxnLst/>
                <a:rect l="l" t="t" r="r" b="b"/>
                <a:pathLst>
                  <a:path w="100012" h="9525">
                    <a:moveTo>
                      <a:pt x="0" y="0"/>
                    </a:moveTo>
                    <a:lnTo>
                      <a:pt x="100012" y="0"/>
                    </a:lnTo>
                  </a:path>
                </a:pathLst>
              </a:custGeom>
              <a:noFill/>
              <a:ln w="11112">
                <a:solidFill>
                  <a:srgbClr val="FFFFFF"/>
                </a:solidFill>
              </a:ln>
            </p:spPr>
          </p:sp>
          <p:sp>
            <p:nvSpPr>
              <p:cNvPr id="38" name="Freeform 38"/>
              <p:cNvSpPr/>
              <p:nvPr/>
            </p:nvSpPr>
            <p:spPr>
              <a:xfrm>
                <a:off x="6687344" y="750094"/>
                <a:ext cx="9525" cy="9525"/>
              </a:xfrm>
              <a:custGeom>
                <a:avLst/>
                <a:gdLst/>
                <a:ahLst/>
                <a:cxnLst/>
                <a:rect l="l" t="t" r="r" b="b"/>
                <a:pathLst>
                  <a:path w="9525" h="9525">
                    <a:moveTo>
                      <a:pt x="0" y="0"/>
                    </a:moveTo>
                    <a:lnTo>
                      <a:pt x="56" y="0"/>
                    </a:lnTo>
                  </a:path>
                </a:pathLst>
              </a:custGeom>
              <a:noFill/>
              <a:ln w="11112">
                <a:solidFill>
                  <a:srgbClr val="FFFFFF"/>
                </a:solidFill>
              </a:ln>
            </p:spPr>
          </p:sp>
          <p:sp>
            <p:nvSpPr>
              <p:cNvPr id="39" name="Freeform 39"/>
              <p:cNvSpPr/>
              <p:nvPr/>
            </p:nvSpPr>
            <p:spPr>
              <a:xfrm>
                <a:off x="6709569" y="750094"/>
                <a:ext cx="11112" cy="9525"/>
              </a:xfrm>
              <a:custGeom>
                <a:avLst/>
                <a:gdLst/>
                <a:ahLst/>
                <a:cxnLst/>
                <a:rect l="l" t="t" r="r" b="b"/>
                <a:pathLst>
                  <a:path w="11112" h="9525">
                    <a:moveTo>
                      <a:pt x="0" y="0"/>
                    </a:moveTo>
                    <a:lnTo>
                      <a:pt x="11112" y="0"/>
                    </a:lnTo>
                  </a:path>
                </a:pathLst>
              </a:custGeom>
              <a:noFill/>
              <a:ln w="11112">
                <a:solidFill>
                  <a:srgbClr val="FFFFFF"/>
                </a:solidFill>
              </a:ln>
            </p:spPr>
          </p:sp>
        </p:grpSp>
        <p:sp>
          <p:nvSpPr>
            <p:cNvPr id="41" name="TextBox 41"/>
            <p:cNvSpPr txBox="1"/>
            <p:nvPr/>
          </p:nvSpPr>
          <p:spPr>
            <a:xfrm>
              <a:off x="6573863" y="85796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产品持有</a:t>
              </a:r>
            </a:p>
          </p:txBody>
        </p:sp>
        <p:sp>
          <p:nvSpPr>
            <p:cNvPr id="42" name="TextBox 42"/>
            <p:cNvSpPr txBox="1"/>
            <p:nvPr/>
          </p:nvSpPr>
          <p:spPr>
            <a:xfrm>
              <a:off x="6594729" y="992505"/>
              <a:ext cx="393192"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 xml:space="preserve">31-90天　</a:t>
              </a:r>
            </a:p>
          </p:txBody>
        </p:sp>
        <p:grpSp>
          <p:nvGrpSpPr>
            <p:cNvPr id="45" name="Group 45"/>
            <p:cNvGrpSpPr/>
            <p:nvPr/>
          </p:nvGrpSpPr>
          <p:grpSpPr>
            <a:xfrm>
              <a:off x="7979569" y="683419"/>
              <a:ext cx="100012" cy="100012"/>
              <a:chOff x="7979569" y="683419"/>
              <a:chExt cx="100012" cy="100012"/>
            </a:xfrm>
          </p:grpSpPr>
          <p:sp>
            <p:nvSpPr>
              <p:cNvPr id="43" name="Freeform 43"/>
              <p:cNvSpPr/>
              <p:nvPr/>
            </p:nvSpPr>
            <p:spPr>
              <a:xfrm>
                <a:off x="7979569" y="6834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sp>
            <p:nvSpPr>
              <p:cNvPr id="44" name="Freeform 44"/>
              <p:cNvSpPr/>
              <p:nvPr/>
            </p:nvSpPr>
            <p:spPr>
              <a:xfrm>
                <a:off x="8029575" y="705644"/>
                <a:ext cx="16669" cy="44450"/>
              </a:xfrm>
              <a:custGeom>
                <a:avLst/>
                <a:gdLst/>
                <a:ahLst/>
                <a:cxnLst/>
                <a:rect l="l" t="t" r="r" b="b"/>
                <a:pathLst>
                  <a:path w="16669" h="44450">
                    <a:moveTo>
                      <a:pt x="0" y="0"/>
                    </a:moveTo>
                    <a:lnTo>
                      <a:pt x="0" y="27781"/>
                    </a:lnTo>
                    <a:lnTo>
                      <a:pt x="16669" y="44450"/>
                    </a:lnTo>
                  </a:path>
                </a:pathLst>
              </a:custGeom>
              <a:noFill/>
              <a:ln w="11112">
                <a:solidFill>
                  <a:srgbClr val="FFFFFF"/>
                </a:solidFill>
              </a:ln>
            </p:spPr>
          </p:sp>
        </p:grpSp>
        <p:sp>
          <p:nvSpPr>
            <p:cNvPr id="46" name="TextBox 46"/>
            <p:cNvSpPr txBox="1"/>
            <p:nvPr/>
          </p:nvSpPr>
          <p:spPr>
            <a:xfrm>
              <a:off x="7888313" y="85796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沉睡唤醒</a:t>
              </a:r>
            </a:p>
          </p:txBody>
        </p:sp>
        <p:sp>
          <p:nvSpPr>
            <p:cNvPr id="47" name="TextBox 47"/>
            <p:cNvSpPr txBox="1"/>
            <p:nvPr/>
          </p:nvSpPr>
          <p:spPr>
            <a:xfrm>
              <a:off x="7895044" y="992505"/>
              <a:ext cx="421462"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 xml:space="preserve">90天以上　</a:t>
              </a:r>
            </a:p>
          </p:txBody>
        </p:sp>
        <p:sp>
          <p:nvSpPr>
            <p:cNvPr id="48" name="TextBox 48"/>
            <p:cNvSpPr txBox="1"/>
            <p:nvPr/>
          </p:nvSpPr>
          <p:spPr>
            <a:xfrm>
              <a:off x="298132" y="129063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阶段目标</a:t>
              </a:r>
            </a:p>
          </p:txBody>
        </p:sp>
        <p:sp>
          <p:nvSpPr>
            <p:cNvPr id="49" name="TextBox 49"/>
            <p:cNvSpPr txBox="1"/>
            <p:nvPr/>
          </p:nvSpPr>
          <p:spPr>
            <a:xfrm>
              <a:off x="298132" y="188118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推荐内容</a:t>
              </a:r>
            </a:p>
          </p:txBody>
        </p:sp>
        <p:sp>
          <p:nvSpPr>
            <p:cNvPr id="50" name="TextBox 50"/>
            <p:cNvSpPr txBox="1"/>
            <p:nvPr/>
          </p:nvSpPr>
          <p:spPr>
            <a:xfrm>
              <a:off x="298132" y="2462212"/>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触达渠道</a:t>
              </a:r>
            </a:p>
          </p:txBody>
        </p:sp>
        <p:sp>
          <p:nvSpPr>
            <p:cNvPr id="51" name="TextBox 51"/>
            <p:cNvSpPr txBox="1"/>
            <p:nvPr/>
          </p:nvSpPr>
          <p:spPr>
            <a:xfrm>
              <a:off x="298132" y="304323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员工动作</a:t>
              </a:r>
            </a:p>
          </p:txBody>
        </p:sp>
        <p:sp>
          <p:nvSpPr>
            <p:cNvPr id="52" name="TextBox 52"/>
            <p:cNvSpPr txBox="1"/>
            <p:nvPr/>
          </p:nvSpPr>
          <p:spPr>
            <a:xfrm>
              <a:off x="270205" y="3652838"/>
              <a:ext cx="46924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 xml:space="preserve">核心KPI　</a:t>
              </a:r>
            </a:p>
          </p:txBody>
        </p:sp>
        <p:sp>
          <p:nvSpPr>
            <p:cNvPr id="53" name="TextBox 53"/>
            <p:cNvSpPr txBox="1"/>
            <p:nvPr/>
          </p:nvSpPr>
          <p:spPr>
            <a:xfrm>
              <a:off x="197168" y="4186238"/>
              <a:ext cx="61531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阶段退出条件</a:t>
              </a:r>
            </a:p>
          </p:txBody>
        </p:sp>
        <p:sp>
          <p:nvSpPr>
            <p:cNvPr id="54" name="TextBox 54"/>
            <p:cNvSpPr txBox="1"/>
            <p:nvPr/>
          </p:nvSpPr>
          <p:spPr>
            <a:xfrm>
              <a:off x="1345679" y="1222534"/>
              <a:ext cx="375691"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建立连接</a:t>
              </a:r>
            </a:p>
          </p:txBody>
        </p:sp>
        <p:sp>
          <p:nvSpPr>
            <p:cNvPr id="55" name="TextBox 55"/>
            <p:cNvSpPr txBox="1"/>
            <p:nvPr/>
          </p:nvSpPr>
          <p:spPr>
            <a:xfrm>
              <a:off x="1162596" y="1374934"/>
              <a:ext cx="741858"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传递专业可信形象</a:t>
              </a:r>
            </a:p>
          </p:txBody>
        </p:sp>
        <p:sp>
          <p:nvSpPr>
            <p:cNvPr id="56" name="TextBox 56"/>
            <p:cNvSpPr txBox="1"/>
            <p:nvPr/>
          </p:nvSpPr>
          <p:spPr>
            <a:xfrm>
              <a:off x="2568588" y="1222534"/>
              <a:ext cx="558775"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完成身份认证</a:t>
              </a:r>
            </a:p>
          </p:txBody>
        </p:sp>
        <p:sp>
          <p:nvSpPr>
            <p:cNvPr id="57" name="TextBox 57"/>
            <p:cNvSpPr txBox="1"/>
            <p:nvPr/>
          </p:nvSpPr>
          <p:spPr>
            <a:xfrm>
              <a:off x="2568588" y="1374934"/>
              <a:ext cx="558775"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完善客户画像</a:t>
              </a:r>
            </a:p>
          </p:txBody>
        </p:sp>
        <p:sp>
          <p:nvSpPr>
            <p:cNvPr id="58" name="TextBox 58"/>
            <p:cNvSpPr txBox="1"/>
            <p:nvPr/>
          </p:nvSpPr>
          <p:spPr>
            <a:xfrm>
              <a:off x="3745725" y="1222534"/>
              <a:ext cx="833399"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激发第一次有效互动</a:t>
              </a:r>
            </a:p>
          </p:txBody>
        </p:sp>
        <p:sp>
          <p:nvSpPr>
            <p:cNvPr id="59" name="TextBox 59"/>
            <p:cNvSpPr txBox="1"/>
            <p:nvPr/>
          </p:nvSpPr>
          <p:spPr>
            <a:xfrm>
              <a:off x="3883038" y="1374934"/>
              <a:ext cx="558775"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识别客户兴趣</a:t>
              </a:r>
            </a:p>
          </p:txBody>
        </p:sp>
        <p:sp>
          <p:nvSpPr>
            <p:cNvPr id="60" name="TextBox 60"/>
            <p:cNvSpPr txBox="1"/>
            <p:nvPr/>
          </p:nvSpPr>
          <p:spPr>
            <a:xfrm>
              <a:off x="5105946" y="1222534"/>
              <a:ext cx="741858"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持续提供价值内容</a:t>
              </a:r>
            </a:p>
          </p:txBody>
        </p:sp>
        <p:sp>
          <p:nvSpPr>
            <p:cNvPr id="61" name="TextBox 61"/>
            <p:cNvSpPr txBox="1"/>
            <p:nvPr/>
          </p:nvSpPr>
          <p:spPr>
            <a:xfrm>
              <a:off x="5197488" y="1374934"/>
              <a:ext cx="558775"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深度培育需求</a:t>
              </a:r>
            </a:p>
          </p:txBody>
        </p:sp>
        <p:sp>
          <p:nvSpPr>
            <p:cNvPr id="62" name="TextBox 62"/>
            <p:cNvSpPr txBox="1"/>
            <p:nvPr/>
          </p:nvSpPr>
          <p:spPr>
            <a:xfrm>
              <a:off x="6420396" y="1222534"/>
              <a:ext cx="741858"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提升产品使用深度</a:t>
              </a:r>
            </a:p>
          </p:txBody>
        </p:sp>
        <p:sp>
          <p:nvSpPr>
            <p:cNvPr id="63" name="TextBox 63"/>
            <p:cNvSpPr txBox="1"/>
            <p:nvPr/>
          </p:nvSpPr>
          <p:spPr>
            <a:xfrm>
              <a:off x="6603479" y="1374934"/>
              <a:ext cx="375691"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交叉销售</a:t>
              </a:r>
            </a:p>
          </p:txBody>
        </p:sp>
        <p:sp>
          <p:nvSpPr>
            <p:cNvPr id="64" name="TextBox 64"/>
            <p:cNvSpPr txBox="1"/>
            <p:nvPr/>
          </p:nvSpPr>
          <p:spPr>
            <a:xfrm>
              <a:off x="7826388" y="1222534"/>
              <a:ext cx="558775"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重新激活联系</a:t>
              </a:r>
            </a:p>
          </p:txBody>
        </p:sp>
        <p:sp>
          <p:nvSpPr>
            <p:cNvPr id="65" name="TextBox 65"/>
            <p:cNvSpPr txBox="1"/>
            <p:nvPr/>
          </p:nvSpPr>
          <p:spPr>
            <a:xfrm>
              <a:off x="7780617" y="1374934"/>
              <a:ext cx="650316"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唤回客户活跃度</a:t>
              </a:r>
            </a:p>
          </p:txBody>
        </p:sp>
        <p:sp>
          <p:nvSpPr>
            <p:cNvPr id="66" name="TextBox 66"/>
            <p:cNvSpPr txBox="1"/>
            <p:nvPr/>
          </p:nvSpPr>
          <p:spPr>
            <a:xfrm>
              <a:off x="1146035" y="1740932"/>
              <a:ext cx="774979"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欢迎语与服务介绍</a:t>
              </a:r>
            </a:p>
          </p:txBody>
        </p:sp>
        <p:sp>
          <p:nvSpPr>
            <p:cNvPr id="67" name="TextBox 67"/>
            <p:cNvSpPr txBox="1"/>
            <p:nvPr/>
          </p:nvSpPr>
          <p:spPr>
            <a:xfrm>
              <a:off x="1232192" y="1893332"/>
              <a:ext cx="60266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热门权益一览</a:t>
              </a:r>
            </a:p>
          </p:txBody>
        </p:sp>
        <p:sp>
          <p:nvSpPr>
            <p:cNvPr id="68" name="TextBox 68"/>
            <p:cNvSpPr txBox="1"/>
            <p:nvPr/>
          </p:nvSpPr>
          <p:spPr>
            <a:xfrm>
              <a:off x="1232192" y="2045732"/>
              <a:ext cx="60266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客户经理名片</a:t>
              </a:r>
            </a:p>
          </p:txBody>
        </p:sp>
        <p:sp>
          <p:nvSpPr>
            <p:cNvPr id="69" name="TextBox 69"/>
            <p:cNvSpPr txBox="1"/>
            <p:nvPr/>
          </p:nvSpPr>
          <p:spPr>
            <a:xfrm>
              <a:off x="2546642" y="1740932"/>
              <a:ext cx="60266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认证引导指引</a:t>
              </a:r>
            </a:p>
          </p:txBody>
        </p:sp>
        <p:sp>
          <p:nvSpPr>
            <p:cNvPr id="70" name="TextBox 70"/>
            <p:cNvSpPr txBox="1"/>
            <p:nvPr/>
          </p:nvSpPr>
          <p:spPr>
            <a:xfrm>
              <a:off x="2546642" y="1893332"/>
              <a:ext cx="60266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账户安全提示</a:t>
              </a:r>
            </a:p>
          </p:txBody>
        </p:sp>
        <p:sp>
          <p:nvSpPr>
            <p:cNvPr id="71" name="TextBox 71"/>
            <p:cNvSpPr txBox="1"/>
            <p:nvPr/>
          </p:nvSpPr>
          <p:spPr>
            <a:xfrm>
              <a:off x="2503564" y="2045732"/>
              <a:ext cx="688823"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个性化服务推荐</a:t>
              </a:r>
            </a:p>
          </p:txBody>
        </p:sp>
        <p:sp>
          <p:nvSpPr>
            <p:cNvPr id="72" name="TextBox 72"/>
            <p:cNvSpPr txBox="1"/>
            <p:nvPr/>
          </p:nvSpPr>
          <p:spPr>
            <a:xfrm>
              <a:off x="3861092" y="1740932"/>
              <a:ext cx="60266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热点市场解读</a:t>
              </a:r>
            </a:p>
          </p:txBody>
        </p:sp>
        <p:sp>
          <p:nvSpPr>
            <p:cNvPr id="73" name="TextBox 73"/>
            <p:cNvSpPr txBox="1"/>
            <p:nvPr/>
          </p:nvSpPr>
          <p:spPr>
            <a:xfrm>
              <a:off x="3774935" y="1893332"/>
              <a:ext cx="774979"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理财基金入门内容</a:t>
              </a:r>
            </a:p>
          </p:txBody>
        </p:sp>
        <p:sp>
          <p:nvSpPr>
            <p:cNvPr id="74" name="TextBox 74"/>
            <p:cNvSpPr txBox="1"/>
            <p:nvPr/>
          </p:nvSpPr>
          <p:spPr>
            <a:xfrm>
              <a:off x="3861092" y="2045732"/>
              <a:ext cx="60266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互动有奖活动</a:t>
              </a:r>
            </a:p>
          </p:txBody>
        </p:sp>
        <p:sp>
          <p:nvSpPr>
            <p:cNvPr id="75" name="TextBox 75"/>
            <p:cNvSpPr txBox="1"/>
            <p:nvPr/>
          </p:nvSpPr>
          <p:spPr>
            <a:xfrm>
              <a:off x="5132464" y="1740932"/>
              <a:ext cx="688823"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个性化产品推荐</a:t>
              </a:r>
            </a:p>
          </p:txBody>
        </p:sp>
        <p:sp>
          <p:nvSpPr>
            <p:cNvPr id="76" name="TextBox 76"/>
            <p:cNvSpPr txBox="1"/>
            <p:nvPr/>
          </p:nvSpPr>
          <p:spPr>
            <a:xfrm>
              <a:off x="5175542" y="1893332"/>
              <a:ext cx="60266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专业投教内容</a:t>
              </a:r>
            </a:p>
          </p:txBody>
        </p:sp>
        <p:sp>
          <p:nvSpPr>
            <p:cNvPr id="77" name="TextBox 77"/>
            <p:cNvSpPr txBox="1"/>
            <p:nvPr/>
          </p:nvSpPr>
          <p:spPr>
            <a:xfrm>
              <a:off x="5065692" y="2045732"/>
              <a:ext cx="82236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客户案例/直播活动</a:t>
              </a:r>
            </a:p>
          </p:txBody>
        </p:sp>
        <p:sp>
          <p:nvSpPr>
            <p:cNvPr id="78" name="TextBox 78"/>
            <p:cNvSpPr txBox="1"/>
            <p:nvPr/>
          </p:nvSpPr>
          <p:spPr>
            <a:xfrm>
              <a:off x="6360757" y="1740932"/>
              <a:ext cx="86113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持仓分析与运作建议</a:t>
              </a:r>
            </a:p>
          </p:txBody>
        </p:sp>
        <p:sp>
          <p:nvSpPr>
            <p:cNvPr id="79" name="TextBox 79"/>
            <p:cNvSpPr txBox="1"/>
            <p:nvPr/>
          </p:nvSpPr>
          <p:spPr>
            <a:xfrm>
              <a:off x="6360757" y="1893332"/>
              <a:ext cx="86113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专属权益与增值服务</a:t>
              </a:r>
            </a:p>
          </p:txBody>
        </p:sp>
        <p:sp>
          <p:nvSpPr>
            <p:cNvPr id="80" name="TextBox 80"/>
            <p:cNvSpPr txBox="1"/>
            <p:nvPr/>
          </p:nvSpPr>
          <p:spPr>
            <a:xfrm>
              <a:off x="6403835" y="2045732"/>
              <a:ext cx="774979"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家庭财富规划内容</a:t>
              </a:r>
            </a:p>
          </p:txBody>
        </p:sp>
        <p:sp>
          <p:nvSpPr>
            <p:cNvPr id="81" name="TextBox 81"/>
            <p:cNvSpPr txBox="1"/>
            <p:nvPr/>
          </p:nvSpPr>
          <p:spPr>
            <a:xfrm>
              <a:off x="7804442" y="1740932"/>
              <a:ext cx="602666"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专属回归礼遇</a:t>
              </a:r>
            </a:p>
          </p:txBody>
        </p:sp>
        <p:sp>
          <p:nvSpPr>
            <p:cNvPr id="82" name="TextBox 82"/>
            <p:cNvSpPr txBox="1"/>
            <p:nvPr/>
          </p:nvSpPr>
          <p:spPr>
            <a:xfrm>
              <a:off x="7651514" y="1893332"/>
              <a:ext cx="908522"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 xml:space="preserve">产品到期/新发提醒　</a:t>
              </a:r>
            </a:p>
          </p:txBody>
        </p:sp>
        <p:sp>
          <p:nvSpPr>
            <p:cNvPr id="83" name="TextBox 83"/>
            <p:cNvSpPr txBox="1"/>
            <p:nvPr/>
          </p:nvSpPr>
          <p:spPr>
            <a:xfrm>
              <a:off x="7761364" y="2045732"/>
              <a:ext cx="688823" cy="126206"/>
            </a:xfrm>
            <a:prstGeom prst="rect">
              <a:avLst/>
            </a:prstGeom>
            <a:noFill/>
            <a:ln>
              <a:noFill/>
            </a:ln>
          </p:spPr>
          <p:txBody>
            <a:bodyPr wrap="none" lIns="0" tIns="0" rIns="0" bIns="0" anchor="t" anchorCtr="0">
              <a:spAutoFit/>
            </a:bodyPr>
            <a:lstStyle/>
            <a:p>
              <a:pPr algn="ctr" marL="76200" indent="-76200">
                <a:buClr>
                  <a:srgbClr val="3D3D3D"/>
                </a:buClr>
                <a:buSzTx/>
                <a:buFontTx/>
                <a:buChar char="•"/>
              </a:pPr>
              <a:r>
                <a:rPr lang="zh-CN" sz="640" dirty="0">
                  <a:solidFill>
                    <a:srgbClr val="3D3D3D"/>
                  </a:solidFill>
                  <a:latin typeface="+mn-lt"/>
                  <a:ea typeface="+mn-ea"/>
                  <a:cs typeface="+mn-cs"/>
                </a:rPr>
                <a:t>关怀问候与调研</a:t>
              </a:r>
            </a:p>
          </p:txBody>
        </p:sp>
        <p:grpSp>
          <p:nvGrpSpPr>
            <p:cNvPr id="87" name="Group 87"/>
            <p:cNvGrpSpPr/>
            <p:nvPr/>
          </p:nvGrpSpPr>
          <p:grpSpPr>
            <a:xfrm>
              <a:off x="1318022" y="2417762"/>
              <a:ext cx="78581" cy="74216"/>
              <a:chOff x="1318022" y="2417762"/>
              <a:chExt cx="78581" cy="74216"/>
            </a:xfrm>
          </p:grpSpPr>
          <p:sp>
            <p:nvSpPr>
              <p:cNvPr id="84" name="Freeform 84"/>
              <p:cNvSpPr/>
              <p:nvPr/>
            </p:nvSpPr>
            <p:spPr>
              <a:xfrm>
                <a:off x="1339850" y="2439591"/>
                <a:ext cx="34925" cy="9525"/>
              </a:xfrm>
              <a:custGeom>
                <a:avLst/>
                <a:gdLst/>
                <a:ahLst/>
                <a:cxnLst/>
                <a:rect l="l" t="t" r="r" b="b"/>
                <a:pathLst>
                  <a:path w="34925" h="9525">
                    <a:moveTo>
                      <a:pt x="0" y="0"/>
                    </a:moveTo>
                    <a:lnTo>
                      <a:pt x="34925" y="0"/>
                    </a:lnTo>
                  </a:path>
                </a:pathLst>
              </a:custGeom>
              <a:noFill/>
              <a:ln w="8731">
                <a:solidFill>
                  <a:srgbClr val="C83210"/>
                </a:solidFill>
              </a:ln>
            </p:spPr>
          </p:sp>
          <p:sp>
            <p:nvSpPr>
              <p:cNvPr id="85" name="Freeform 85"/>
              <p:cNvSpPr/>
              <p:nvPr/>
            </p:nvSpPr>
            <p:spPr>
              <a:xfrm>
                <a:off x="1339850" y="2457053"/>
                <a:ext cx="26194" cy="9525"/>
              </a:xfrm>
              <a:custGeom>
                <a:avLst/>
                <a:gdLst/>
                <a:ahLst/>
                <a:cxnLst/>
                <a:rect l="l" t="t" r="r" b="b"/>
                <a:pathLst>
                  <a:path w="26194" h="9525">
                    <a:moveTo>
                      <a:pt x="0" y="0"/>
                    </a:moveTo>
                    <a:lnTo>
                      <a:pt x="26194" y="0"/>
                    </a:lnTo>
                  </a:path>
                </a:pathLst>
              </a:custGeom>
              <a:noFill/>
              <a:ln w="8731">
                <a:solidFill>
                  <a:srgbClr val="C83210"/>
                </a:solidFill>
              </a:ln>
            </p:spPr>
          </p:sp>
          <p:sp>
            <p:nvSpPr>
              <p:cNvPr id="86" name="Freeform 86"/>
              <p:cNvSpPr/>
              <p:nvPr/>
            </p:nvSpPr>
            <p:spPr>
              <a:xfrm>
                <a:off x="1318022" y="2417762"/>
                <a:ext cx="78581" cy="74216"/>
              </a:xfrm>
              <a:custGeom>
                <a:avLst/>
                <a:gdLst/>
                <a:ahLst/>
                <a:cxnLst/>
                <a:rect l="l" t="t" r="r" b="b"/>
                <a:pathLst>
                  <a:path w="78581" h="74216">
                    <a:moveTo>
                      <a:pt x="65484" y="0"/>
                    </a:moveTo>
                    <a:cubicBezTo>
                      <a:pt x="72718" y="0"/>
                      <a:pt x="78581" y="5864"/>
                      <a:pt x="78581" y="13097"/>
                    </a:cubicBezTo>
                    <a:lnTo>
                      <a:pt x="78581" y="48022"/>
                    </a:lnTo>
                    <a:cubicBezTo>
                      <a:pt x="78581" y="55255"/>
                      <a:pt x="72718" y="61119"/>
                      <a:pt x="65484" y="61119"/>
                    </a:cubicBezTo>
                    <a:lnTo>
                      <a:pt x="43656" y="61119"/>
                    </a:lnTo>
                    <a:lnTo>
                      <a:pt x="21828" y="74216"/>
                    </a:lnTo>
                    <a:lnTo>
                      <a:pt x="21828" y="61119"/>
                    </a:lnTo>
                    <a:lnTo>
                      <a:pt x="13097" y="61119"/>
                    </a:lnTo>
                    <a:cubicBezTo>
                      <a:pt x="5864" y="61119"/>
                      <a:pt x="0" y="55255"/>
                      <a:pt x="0" y="48022"/>
                    </a:cubicBezTo>
                    <a:lnTo>
                      <a:pt x="0" y="13097"/>
                    </a:lnTo>
                    <a:cubicBezTo>
                      <a:pt x="0" y="5864"/>
                      <a:pt x="5864" y="0"/>
                      <a:pt x="13097" y="0"/>
                    </a:cubicBezTo>
                    <a:lnTo>
                      <a:pt x="65484" y="0"/>
                    </a:lnTo>
                  </a:path>
                </a:pathLst>
              </a:custGeom>
              <a:noFill/>
              <a:ln w="8731">
                <a:solidFill>
                  <a:srgbClr val="C83210"/>
                </a:solidFill>
              </a:ln>
            </p:spPr>
          </p:sp>
        </p:grpSp>
        <p:sp>
          <p:nvSpPr>
            <p:cNvPr id="88" name="TextBox 88"/>
            <p:cNvSpPr txBox="1"/>
            <p:nvPr/>
          </p:nvSpPr>
          <p:spPr>
            <a:xfrm>
              <a:off x="1433512" y="2422874"/>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企微消息</a:t>
              </a:r>
            </a:p>
          </p:txBody>
        </p:sp>
        <p:grpSp>
          <p:nvGrpSpPr>
            <p:cNvPr id="92" name="Group 92"/>
            <p:cNvGrpSpPr/>
            <p:nvPr/>
          </p:nvGrpSpPr>
          <p:grpSpPr>
            <a:xfrm>
              <a:off x="1917303" y="2413397"/>
              <a:ext cx="61119" cy="78581"/>
              <a:chOff x="1917303" y="2413397"/>
              <a:chExt cx="61119" cy="78581"/>
            </a:xfrm>
          </p:grpSpPr>
          <p:sp>
            <p:nvSpPr>
              <p:cNvPr id="89" name="Freeform 89"/>
              <p:cNvSpPr/>
              <p:nvPr/>
            </p:nvSpPr>
            <p:spPr>
              <a:xfrm>
                <a:off x="1917303" y="2439591"/>
                <a:ext cx="61119" cy="52387"/>
              </a:xfrm>
              <a:custGeom>
                <a:avLst/>
                <a:gdLst/>
                <a:ahLst/>
                <a:cxnLst/>
                <a:rect l="l" t="t" r="r" b="b"/>
                <a:pathLst>
                  <a:path w="61119" h="52387">
                    <a:moveTo>
                      <a:pt x="13097" y="0"/>
                    </a:moveTo>
                    <a:lnTo>
                      <a:pt x="8731" y="0"/>
                    </a:lnTo>
                    <a:cubicBezTo>
                      <a:pt x="3909" y="0"/>
                      <a:pt x="0" y="3909"/>
                      <a:pt x="0" y="8731"/>
                    </a:cubicBezTo>
                    <a:lnTo>
                      <a:pt x="0" y="43656"/>
                    </a:lnTo>
                    <a:cubicBezTo>
                      <a:pt x="0" y="48478"/>
                      <a:pt x="3909" y="52387"/>
                      <a:pt x="8731" y="52387"/>
                    </a:cubicBezTo>
                    <a:lnTo>
                      <a:pt x="52387" y="52387"/>
                    </a:lnTo>
                    <a:cubicBezTo>
                      <a:pt x="57210" y="52387"/>
                      <a:pt x="61119" y="48478"/>
                      <a:pt x="61119" y="43656"/>
                    </a:cubicBezTo>
                    <a:lnTo>
                      <a:pt x="61119" y="8731"/>
                    </a:lnTo>
                    <a:cubicBezTo>
                      <a:pt x="61119" y="3909"/>
                      <a:pt x="57210" y="0"/>
                      <a:pt x="52387" y="0"/>
                    </a:cubicBezTo>
                    <a:lnTo>
                      <a:pt x="48022" y="0"/>
                    </a:lnTo>
                  </a:path>
                </a:pathLst>
              </a:custGeom>
              <a:noFill/>
              <a:ln w="8731">
                <a:solidFill>
                  <a:srgbClr val="C83210"/>
                </a:solidFill>
              </a:ln>
            </p:spPr>
          </p:sp>
          <p:sp>
            <p:nvSpPr>
              <p:cNvPr id="90" name="Freeform 90"/>
              <p:cNvSpPr/>
              <p:nvPr/>
            </p:nvSpPr>
            <p:spPr>
              <a:xfrm>
                <a:off x="1947862" y="2413397"/>
                <a:ext cx="9525" cy="48022"/>
              </a:xfrm>
              <a:custGeom>
                <a:avLst/>
                <a:gdLst/>
                <a:ahLst/>
                <a:cxnLst/>
                <a:rect l="l" t="t" r="r" b="b"/>
                <a:pathLst>
                  <a:path w="9525" h="48022">
                    <a:moveTo>
                      <a:pt x="0" y="48022"/>
                    </a:moveTo>
                    <a:lnTo>
                      <a:pt x="0" y="0"/>
                    </a:lnTo>
                  </a:path>
                </a:pathLst>
              </a:custGeom>
              <a:noFill/>
              <a:ln w="8731">
                <a:solidFill>
                  <a:srgbClr val="C83210"/>
                </a:solidFill>
              </a:ln>
            </p:spPr>
          </p:sp>
          <p:sp>
            <p:nvSpPr>
              <p:cNvPr id="91" name="Freeform 91"/>
              <p:cNvSpPr/>
              <p:nvPr/>
            </p:nvSpPr>
            <p:spPr>
              <a:xfrm>
                <a:off x="1934766" y="2413397"/>
                <a:ext cx="26194" cy="13097"/>
              </a:xfrm>
              <a:custGeom>
                <a:avLst/>
                <a:gdLst/>
                <a:ahLst/>
                <a:cxnLst/>
                <a:rect l="l" t="t" r="r" b="b"/>
                <a:pathLst>
                  <a:path w="26194" h="13097">
                    <a:moveTo>
                      <a:pt x="0" y="13097"/>
                    </a:moveTo>
                    <a:lnTo>
                      <a:pt x="13097" y="0"/>
                    </a:lnTo>
                    <a:lnTo>
                      <a:pt x="26194" y="13097"/>
                    </a:lnTo>
                  </a:path>
                </a:pathLst>
              </a:custGeom>
              <a:noFill/>
              <a:ln w="8731">
                <a:solidFill>
                  <a:srgbClr val="C83210"/>
                </a:solidFill>
              </a:ln>
            </p:spPr>
          </p:sp>
        </p:grpSp>
        <p:sp>
          <p:nvSpPr>
            <p:cNvPr id="93" name="TextBox 93"/>
            <p:cNvSpPr txBox="1"/>
            <p:nvPr/>
          </p:nvSpPr>
          <p:spPr>
            <a:xfrm>
              <a:off x="2024062" y="2422874"/>
              <a:ext cx="24376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朋友圈</a:t>
              </a:r>
            </a:p>
          </p:txBody>
        </p:sp>
        <p:grpSp>
          <p:nvGrpSpPr>
            <p:cNvPr id="100" name="Group 100"/>
            <p:cNvGrpSpPr/>
            <p:nvPr/>
          </p:nvGrpSpPr>
          <p:grpSpPr>
            <a:xfrm>
              <a:off x="1318022" y="2584847"/>
              <a:ext cx="78581" cy="78581"/>
              <a:chOff x="1318022" y="2584847"/>
              <a:chExt cx="78581" cy="78581"/>
            </a:xfrm>
          </p:grpSpPr>
          <p:sp>
            <p:nvSpPr>
              <p:cNvPr id="94" name="Freeform 94"/>
              <p:cNvSpPr/>
              <p:nvPr/>
            </p:nvSpPr>
            <p:spPr>
              <a:xfrm>
                <a:off x="1348581" y="2619772"/>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C83210"/>
                </a:solidFill>
              </a:ln>
            </p:spPr>
          </p:sp>
          <p:sp>
            <p:nvSpPr>
              <p:cNvPr id="95" name="Freeform 95"/>
              <p:cNvSpPr/>
              <p:nvPr/>
            </p:nvSpPr>
            <p:spPr>
              <a:xfrm>
                <a:off x="1339850" y="2650331"/>
                <a:ext cx="34925" cy="13097"/>
              </a:xfrm>
              <a:custGeom>
                <a:avLst/>
                <a:gdLst/>
                <a:ahLst/>
                <a:cxnLst/>
                <a:rect l="l" t="t" r="r" b="b"/>
                <a:pathLst>
                  <a:path w="34925" h="13097">
                    <a:moveTo>
                      <a:pt x="0" y="13097"/>
                    </a:moveTo>
                    <a:lnTo>
                      <a:pt x="0" y="8731"/>
                    </a:lnTo>
                    <a:cubicBezTo>
                      <a:pt x="0" y="3909"/>
                      <a:pt x="3909" y="0"/>
                      <a:pt x="8731" y="0"/>
                    </a:cubicBezTo>
                    <a:lnTo>
                      <a:pt x="26194" y="0"/>
                    </a:lnTo>
                    <a:cubicBezTo>
                      <a:pt x="31016" y="0"/>
                      <a:pt x="34925" y="3909"/>
                      <a:pt x="34925" y="8731"/>
                    </a:cubicBezTo>
                    <a:lnTo>
                      <a:pt x="34925" y="13097"/>
                    </a:lnTo>
                  </a:path>
                </a:pathLst>
              </a:custGeom>
              <a:noFill/>
              <a:ln w="8731">
                <a:solidFill>
                  <a:srgbClr val="C83210"/>
                </a:solidFill>
              </a:ln>
            </p:spPr>
          </p:sp>
          <p:sp>
            <p:nvSpPr>
              <p:cNvPr id="96" name="Freeform 96"/>
              <p:cNvSpPr/>
              <p:nvPr/>
            </p:nvSpPr>
            <p:spPr>
              <a:xfrm>
                <a:off x="1370409" y="2584847"/>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C83210"/>
                </a:solidFill>
              </a:ln>
            </p:spPr>
          </p:sp>
          <p:sp>
            <p:nvSpPr>
              <p:cNvPr id="97" name="Freeform 97"/>
              <p:cNvSpPr/>
              <p:nvPr/>
            </p:nvSpPr>
            <p:spPr>
              <a:xfrm>
                <a:off x="1379141" y="2615406"/>
                <a:ext cx="17462" cy="13097"/>
              </a:xfrm>
              <a:custGeom>
                <a:avLst/>
                <a:gdLst/>
                <a:ahLst/>
                <a:cxnLst/>
                <a:rect l="l" t="t" r="r" b="b"/>
                <a:pathLst>
                  <a:path w="17462" h="13097">
                    <a:moveTo>
                      <a:pt x="0" y="0"/>
                    </a:moveTo>
                    <a:lnTo>
                      <a:pt x="8731" y="0"/>
                    </a:lnTo>
                    <a:cubicBezTo>
                      <a:pt x="13553" y="0"/>
                      <a:pt x="17462" y="3909"/>
                      <a:pt x="17462" y="8731"/>
                    </a:cubicBezTo>
                    <a:lnTo>
                      <a:pt x="17462" y="13097"/>
                    </a:lnTo>
                  </a:path>
                </a:pathLst>
              </a:custGeom>
              <a:noFill/>
              <a:ln w="8731">
                <a:solidFill>
                  <a:srgbClr val="C83210"/>
                </a:solidFill>
              </a:ln>
            </p:spPr>
          </p:sp>
          <p:sp>
            <p:nvSpPr>
              <p:cNvPr id="98" name="Freeform 98"/>
              <p:cNvSpPr/>
              <p:nvPr/>
            </p:nvSpPr>
            <p:spPr>
              <a:xfrm>
                <a:off x="1326753" y="2584847"/>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C83210"/>
                </a:solidFill>
              </a:ln>
            </p:spPr>
          </p:sp>
          <p:sp>
            <p:nvSpPr>
              <p:cNvPr id="99" name="Freeform 99"/>
              <p:cNvSpPr/>
              <p:nvPr/>
            </p:nvSpPr>
            <p:spPr>
              <a:xfrm>
                <a:off x="1318022" y="2615406"/>
                <a:ext cx="17462" cy="13097"/>
              </a:xfrm>
              <a:custGeom>
                <a:avLst/>
                <a:gdLst/>
                <a:ahLst/>
                <a:cxnLst/>
                <a:rect l="l" t="t" r="r" b="b"/>
                <a:pathLst>
                  <a:path w="17462" h="13097">
                    <a:moveTo>
                      <a:pt x="0" y="13097"/>
                    </a:moveTo>
                    <a:lnTo>
                      <a:pt x="0" y="8731"/>
                    </a:lnTo>
                    <a:cubicBezTo>
                      <a:pt x="0" y="3909"/>
                      <a:pt x="3909" y="0"/>
                      <a:pt x="8731" y="0"/>
                    </a:cubicBezTo>
                    <a:lnTo>
                      <a:pt x="17462" y="0"/>
                    </a:lnTo>
                  </a:path>
                </a:pathLst>
              </a:custGeom>
              <a:noFill/>
              <a:ln w="8731">
                <a:solidFill>
                  <a:srgbClr val="C83210"/>
                </a:solidFill>
              </a:ln>
            </p:spPr>
          </p:sp>
        </p:grpSp>
        <p:sp>
          <p:nvSpPr>
            <p:cNvPr id="101" name="TextBox 101"/>
            <p:cNvSpPr txBox="1"/>
            <p:nvPr/>
          </p:nvSpPr>
          <p:spPr>
            <a:xfrm>
              <a:off x="1433512" y="2594324"/>
              <a:ext cx="16568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社群</a:t>
              </a:r>
            </a:p>
          </p:txBody>
        </p:sp>
        <p:grpSp>
          <p:nvGrpSpPr>
            <p:cNvPr id="105" name="Group 105"/>
            <p:cNvGrpSpPr/>
            <p:nvPr/>
          </p:nvGrpSpPr>
          <p:grpSpPr>
            <a:xfrm>
              <a:off x="2632472" y="2417762"/>
              <a:ext cx="78581" cy="74216"/>
              <a:chOff x="2632472" y="2417762"/>
              <a:chExt cx="78581" cy="74216"/>
            </a:xfrm>
          </p:grpSpPr>
          <p:sp>
            <p:nvSpPr>
              <p:cNvPr id="102" name="Freeform 102"/>
              <p:cNvSpPr/>
              <p:nvPr/>
            </p:nvSpPr>
            <p:spPr>
              <a:xfrm>
                <a:off x="2654300" y="2439591"/>
                <a:ext cx="34925" cy="9525"/>
              </a:xfrm>
              <a:custGeom>
                <a:avLst/>
                <a:gdLst/>
                <a:ahLst/>
                <a:cxnLst/>
                <a:rect l="l" t="t" r="r" b="b"/>
                <a:pathLst>
                  <a:path w="34925" h="9525">
                    <a:moveTo>
                      <a:pt x="0" y="0"/>
                    </a:moveTo>
                    <a:lnTo>
                      <a:pt x="34925" y="0"/>
                    </a:lnTo>
                  </a:path>
                </a:pathLst>
              </a:custGeom>
              <a:noFill/>
              <a:ln w="8731">
                <a:solidFill>
                  <a:srgbClr val="C83210"/>
                </a:solidFill>
              </a:ln>
            </p:spPr>
          </p:sp>
          <p:sp>
            <p:nvSpPr>
              <p:cNvPr id="103" name="Freeform 103"/>
              <p:cNvSpPr/>
              <p:nvPr/>
            </p:nvSpPr>
            <p:spPr>
              <a:xfrm>
                <a:off x="2654300" y="2457053"/>
                <a:ext cx="26194" cy="9525"/>
              </a:xfrm>
              <a:custGeom>
                <a:avLst/>
                <a:gdLst/>
                <a:ahLst/>
                <a:cxnLst/>
                <a:rect l="l" t="t" r="r" b="b"/>
                <a:pathLst>
                  <a:path w="26194" h="9525">
                    <a:moveTo>
                      <a:pt x="0" y="0"/>
                    </a:moveTo>
                    <a:lnTo>
                      <a:pt x="26194" y="0"/>
                    </a:lnTo>
                  </a:path>
                </a:pathLst>
              </a:custGeom>
              <a:noFill/>
              <a:ln w="8731">
                <a:solidFill>
                  <a:srgbClr val="C83210"/>
                </a:solidFill>
              </a:ln>
            </p:spPr>
          </p:sp>
          <p:sp>
            <p:nvSpPr>
              <p:cNvPr id="104" name="Freeform 104"/>
              <p:cNvSpPr/>
              <p:nvPr/>
            </p:nvSpPr>
            <p:spPr>
              <a:xfrm>
                <a:off x="2632472" y="2417762"/>
                <a:ext cx="78581" cy="74216"/>
              </a:xfrm>
              <a:custGeom>
                <a:avLst/>
                <a:gdLst/>
                <a:ahLst/>
                <a:cxnLst/>
                <a:rect l="l" t="t" r="r" b="b"/>
                <a:pathLst>
                  <a:path w="78581" h="74216">
                    <a:moveTo>
                      <a:pt x="65484" y="0"/>
                    </a:moveTo>
                    <a:cubicBezTo>
                      <a:pt x="72718" y="0"/>
                      <a:pt x="78581" y="5864"/>
                      <a:pt x="78581" y="13097"/>
                    </a:cubicBezTo>
                    <a:lnTo>
                      <a:pt x="78581" y="48022"/>
                    </a:lnTo>
                    <a:cubicBezTo>
                      <a:pt x="78581" y="55255"/>
                      <a:pt x="72718" y="61119"/>
                      <a:pt x="65484" y="61119"/>
                    </a:cubicBezTo>
                    <a:lnTo>
                      <a:pt x="43656" y="61119"/>
                    </a:lnTo>
                    <a:lnTo>
                      <a:pt x="21828" y="74216"/>
                    </a:lnTo>
                    <a:lnTo>
                      <a:pt x="21828" y="61119"/>
                    </a:lnTo>
                    <a:lnTo>
                      <a:pt x="13097" y="61119"/>
                    </a:lnTo>
                    <a:cubicBezTo>
                      <a:pt x="5864" y="61119"/>
                      <a:pt x="0" y="55255"/>
                      <a:pt x="0" y="48022"/>
                    </a:cubicBezTo>
                    <a:lnTo>
                      <a:pt x="0" y="13097"/>
                    </a:lnTo>
                    <a:cubicBezTo>
                      <a:pt x="0" y="5864"/>
                      <a:pt x="5864" y="0"/>
                      <a:pt x="13097" y="0"/>
                    </a:cubicBezTo>
                    <a:lnTo>
                      <a:pt x="65484" y="0"/>
                    </a:lnTo>
                  </a:path>
                </a:pathLst>
              </a:custGeom>
              <a:noFill/>
              <a:ln w="8731">
                <a:solidFill>
                  <a:srgbClr val="C83210"/>
                </a:solidFill>
              </a:ln>
            </p:spPr>
          </p:sp>
        </p:grpSp>
        <p:sp>
          <p:nvSpPr>
            <p:cNvPr id="106" name="TextBox 106"/>
            <p:cNvSpPr txBox="1"/>
            <p:nvPr/>
          </p:nvSpPr>
          <p:spPr>
            <a:xfrm>
              <a:off x="2747962" y="2422874"/>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企微消息</a:t>
              </a:r>
            </a:p>
          </p:txBody>
        </p:sp>
        <p:grpSp>
          <p:nvGrpSpPr>
            <p:cNvPr id="110" name="Group 110"/>
            <p:cNvGrpSpPr/>
            <p:nvPr/>
          </p:nvGrpSpPr>
          <p:grpSpPr>
            <a:xfrm>
              <a:off x="3231753" y="2413397"/>
              <a:ext cx="61119" cy="78581"/>
              <a:chOff x="3231753" y="2413397"/>
              <a:chExt cx="61119" cy="78581"/>
            </a:xfrm>
          </p:grpSpPr>
          <p:sp>
            <p:nvSpPr>
              <p:cNvPr id="107" name="Freeform 107"/>
              <p:cNvSpPr/>
              <p:nvPr/>
            </p:nvSpPr>
            <p:spPr>
              <a:xfrm>
                <a:off x="3231753" y="2439591"/>
                <a:ext cx="61119" cy="52387"/>
              </a:xfrm>
              <a:custGeom>
                <a:avLst/>
                <a:gdLst/>
                <a:ahLst/>
                <a:cxnLst/>
                <a:rect l="l" t="t" r="r" b="b"/>
                <a:pathLst>
                  <a:path w="61119" h="52387">
                    <a:moveTo>
                      <a:pt x="13097" y="0"/>
                    </a:moveTo>
                    <a:lnTo>
                      <a:pt x="8731" y="0"/>
                    </a:lnTo>
                    <a:cubicBezTo>
                      <a:pt x="3909" y="0"/>
                      <a:pt x="0" y="3909"/>
                      <a:pt x="0" y="8731"/>
                    </a:cubicBezTo>
                    <a:lnTo>
                      <a:pt x="0" y="43656"/>
                    </a:lnTo>
                    <a:cubicBezTo>
                      <a:pt x="0" y="48478"/>
                      <a:pt x="3909" y="52387"/>
                      <a:pt x="8731" y="52387"/>
                    </a:cubicBezTo>
                    <a:lnTo>
                      <a:pt x="52387" y="52387"/>
                    </a:lnTo>
                    <a:cubicBezTo>
                      <a:pt x="57210" y="52387"/>
                      <a:pt x="61119" y="48478"/>
                      <a:pt x="61119" y="43656"/>
                    </a:cubicBezTo>
                    <a:lnTo>
                      <a:pt x="61119" y="8731"/>
                    </a:lnTo>
                    <a:cubicBezTo>
                      <a:pt x="61119" y="3909"/>
                      <a:pt x="57210" y="0"/>
                      <a:pt x="52387" y="0"/>
                    </a:cubicBezTo>
                    <a:lnTo>
                      <a:pt x="48022" y="0"/>
                    </a:lnTo>
                  </a:path>
                </a:pathLst>
              </a:custGeom>
              <a:noFill/>
              <a:ln w="8731">
                <a:solidFill>
                  <a:srgbClr val="C83210"/>
                </a:solidFill>
              </a:ln>
            </p:spPr>
          </p:sp>
          <p:sp>
            <p:nvSpPr>
              <p:cNvPr id="108" name="Freeform 108"/>
              <p:cNvSpPr/>
              <p:nvPr/>
            </p:nvSpPr>
            <p:spPr>
              <a:xfrm>
                <a:off x="3262312" y="2413397"/>
                <a:ext cx="9525" cy="48022"/>
              </a:xfrm>
              <a:custGeom>
                <a:avLst/>
                <a:gdLst/>
                <a:ahLst/>
                <a:cxnLst/>
                <a:rect l="l" t="t" r="r" b="b"/>
                <a:pathLst>
                  <a:path w="9525" h="48022">
                    <a:moveTo>
                      <a:pt x="0" y="48022"/>
                    </a:moveTo>
                    <a:lnTo>
                      <a:pt x="0" y="0"/>
                    </a:lnTo>
                  </a:path>
                </a:pathLst>
              </a:custGeom>
              <a:noFill/>
              <a:ln w="8731">
                <a:solidFill>
                  <a:srgbClr val="C83210"/>
                </a:solidFill>
              </a:ln>
            </p:spPr>
          </p:sp>
          <p:sp>
            <p:nvSpPr>
              <p:cNvPr id="109" name="Freeform 109"/>
              <p:cNvSpPr/>
              <p:nvPr/>
            </p:nvSpPr>
            <p:spPr>
              <a:xfrm>
                <a:off x="3249216" y="2413397"/>
                <a:ext cx="26194" cy="13097"/>
              </a:xfrm>
              <a:custGeom>
                <a:avLst/>
                <a:gdLst/>
                <a:ahLst/>
                <a:cxnLst/>
                <a:rect l="l" t="t" r="r" b="b"/>
                <a:pathLst>
                  <a:path w="26194" h="13097">
                    <a:moveTo>
                      <a:pt x="0" y="13097"/>
                    </a:moveTo>
                    <a:lnTo>
                      <a:pt x="13097" y="0"/>
                    </a:lnTo>
                    <a:lnTo>
                      <a:pt x="26194" y="13097"/>
                    </a:lnTo>
                  </a:path>
                </a:pathLst>
              </a:custGeom>
              <a:noFill/>
              <a:ln w="8731">
                <a:solidFill>
                  <a:srgbClr val="C83210"/>
                </a:solidFill>
              </a:ln>
            </p:spPr>
          </p:sp>
        </p:grpSp>
        <p:sp>
          <p:nvSpPr>
            <p:cNvPr id="111" name="TextBox 111"/>
            <p:cNvSpPr txBox="1"/>
            <p:nvPr/>
          </p:nvSpPr>
          <p:spPr>
            <a:xfrm>
              <a:off x="3338512" y="2422874"/>
              <a:ext cx="24376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朋友圈</a:t>
              </a:r>
            </a:p>
          </p:txBody>
        </p:sp>
        <p:grpSp>
          <p:nvGrpSpPr>
            <p:cNvPr id="118" name="Group 118"/>
            <p:cNvGrpSpPr/>
            <p:nvPr/>
          </p:nvGrpSpPr>
          <p:grpSpPr>
            <a:xfrm>
              <a:off x="2632472" y="2584847"/>
              <a:ext cx="78581" cy="78581"/>
              <a:chOff x="2632472" y="2584847"/>
              <a:chExt cx="78581" cy="78581"/>
            </a:xfrm>
          </p:grpSpPr>
          <p:sp>
            <p:nvSpPr>
              <p:cNvPr id="112" name="Freeform 112"/>
              <p:cNvSpPr/>
              <p:nvPr/>
            </p:nvSpPr>
            <p:spPr>
              <a:xfrm>
                <a:off x="2663031" y="2619772"/>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C83210"/>
                </a:solidFill>
              </a:ln>
            </p:spPr>
          </p:sp>
          <p:sp>
            <p:nvSpPr>
              <p:cNvPr id="113" name="Freeform 113"/>
              <p:cNvSpPr/>
              <p:nvPr/>
            </p:nvSpPr>
            <p:spPr>
              <a:xfrm>
                <a:off x="2654300" y="2650331"/>
                <a:ext cx="34925" cy="13097"/>
              </a:xfrm>
              <a:custGeom>
                <a:avLst/>
                <a:gdLst/>
                <a:ahLst/>
                <a:cxnLst/>
                <a:rect l="l" t="t" r="r" b="b"/>
                <a:pathLst>
                  <a:path w="34925" h="13097">
                    <a:moveTo>
                      <a:pt x="0" y="13097"/>
                    </a:moveTo>
                    <a:lnTo>
                      <a:pt x="0" y="8731"/>
                    </a:lnTo>
                    <a:cubicBezTo>
                      <a:pt x="0" y="3909"/>
                      <a:pt x="3909" y="0"/>
                      <a:pt x="8731" y="0"/>
                    </a:cubicBezTo>
                    <a:lnTo>
                      <a:pt x="26194" y="0"/>
                    </a:lnTo>
                    <a:cubicBezTo>
                      <a:pt x="31016" y="0"/>
                      <a:pt x="34925" y="3909"/>
                      <a:pt x="34925" y="8731"/>
                    </a:cubicBezTo>
                    <a:lnTo>
                      <a:pt x="34925" y="13097"/>
                    </a:lnTo>
                  </a:path>
                </a:pathLst>
              </a:custGeom>
              <a:noFill/>
              <a:ln w="8731">
                <a:solidFill>
                  <a:srgbClr val="C83210"/>
                </a:solidFill>
              </a:ln>
            </p:spPr>
          </p:sp>
          <p:sp>
            <p:nvSpPr>
              <p:cNvPr id="114" name="Freeform 114"/>
              <p:cNvSpPr/>
              <p:nvPr/>
            </p:nvSpPr>
            <p:spPr>
              <a:xfrm>
                <a:off x="2684859" y="2584847"/>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C83210"/>
                </a:solidFill>
              </a:ln>
            </p:spPr>
          </p:sp>
          <p:sp>
            <p:nvSpPr>
              <p:cNvPr id="115" name="Freeform 115"/>
              <p:cNvSpPr/>
              <p:nvPr/>
            </p:nvSpPr>
            <p:spPr>
              <a:xfrm>
                <a:off x="2693591" y="2615406"/>
                <a:ext cx="17462" cy="13097"/>
              </a:xfrm>
              <a:custGeom>
                <a:avLst/>
                <a:gdLst/>
                <a:ahLst/>
                <a:cxnLst/>
                <a:rect l="l" t="t" r="r" b="b"/>
                <a:pathLst>
                  <a:path w="17462" h="13097">
                    <a:moveTo>
                      <a:pt x="0" y="0"/>
                    </a:moveTo>
                    <a:lnTo>
                      <a:pt x="8731" y="0"/>
                    </a:lnTo>
                    <a:cubicBezTo>
                      <a:pt x="13553" y="0"/>
                      <a:pt x="17462" y="3909"/>
                      <a:pt x="17462" y="8731"/>
                    </a:cubicBezTo>
                    <a:lnTo>
                      <a:pt x="17462" y="13097"/>
                    </a:lnTo>
                  </a:path>
                </a:pathLst>
              </a:custGeom>
              <a:noFill/>
              <a:ln w="8731">
                <a:solidFill>
                  <a:srgbClr val="C83210"/>
                </a:solidFill>
              </a:ln>
            </p:spPr>
          </p:sp>
          <p:sp>
            <p:nvSpPr>
              <p:cNvPr id="116" name="Freeform 116"/>
              <p:cNvSpPr/>
              <p:nvPr/>
            </p:nvSpPr>
            <p:spPr>
              <a:xfrm>
                <a:off x="2641203" y="2584847"/>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C83210"/>
                </a:solidFill>
              </a:ln>
            </p:spPr>
          </p:sp>
          <p:sp>
            <p:nvSpPr>
              <p:cNvPr id="117" name="Freeform 117"/>
              <p:cNvSpPr/>
              <p:nvPr/>
            </p:nvSpPr>
            <p:spPr>
              <a:xfrm>
                <a:off x="2632472" y="2615406"/>
                <a:ext cx="17462" cy="13097"/>
              </a:xfrm>
              <a:custGeom>
                <a:avLst/>
                <a:gdLst/>
                <a:ahLst/>
                <a:cxnLst/>
                <a:rect l="l" t="t" r="r" b="b"/>
                <a:pathLst>
                  <a:path w="17462" h="13097">
                    <a:moveTo>
                      <a:pt x="0" y="13097"/>
                    </a:moveTo>
                    <a:lnTo>
                      <a:pt x="0" y="8731"/>
                    </a:lnTo>
                    <a:cubicBezTo>
                      <a:pt x="0" y="3909"/>
                      <a:pt x="3909" y="0"/>
                      <a:pt x="8731" y="0"/>
                    </a:cubicBezTo>
                    <a:lnTo>
                      <a:pt x="17462" y="0"/>
                    </a:lnTo>
                  </a:path>
                </a:pathLst>
              </a:custGeom>
              <a:noFill/>
              <a:ln w="8731">
                <a:solidFill>
                  <a:srgbClr val="C83210"/>
                </a:solidFill>
              </a:ln>
            </p:spPr>
          </p:sp>
        </p:grpSp>
        <p:sp>
          <p:nvSpPr>
            <p:cNvPr id="119" name="TextBox 119"/>
            <p:cNvSpPr txBox="1"/>
            <p:nvPr/>
          </p:nvSpPr>
          <p:spPr>
            <a:xfrm>
              <a:off x="2747962" y="2594324"/>
              <a:ext cx="16568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社群</a:t>
              </a:r>
            </a:p>
          </p:txBody>
        </p:sp>
        <p:grpSp>
          <p:nvGrpSpPr>
            <p:cNvPr id="123" name="Group 123"/>
            <p:cNvGrpSpPr/>
            <p:nvPr/>
          </p:nvGrpSpPr>
          <p:grpSpPr>
            <a:xfrm>
              <a:off x="3946922" y="2417762"/>
              <a:ext cx="78581" cy="74216"/>
              <a:chOff x="3946922" y="2417762"/>
              <a:chExt cx="78581" cy="74216"/>
            </a:xfrm>
          </p:grpSpPr>
          <p:sp>
            <p:nvSpPr>
              <p:cNvPr id="120" name="Freeform 120"/>
              <p:cNvSpPr/>
              <p:nvPr/>
            </p:nvSpPr>
            <p:spPr>
              <a:xfrm>
                <a:off x="3968750" y="2439591"/>
                <a:ext cx="34925" cy="9525"/>
              </a:xfrm>
              <a:custGeom>
                <a:avLst/>
                <a:gdLst/>
                <a:ahLst/>
                <a:cxnLst/>
                <a:rect l="l" t="t" r="r" b="b"/>
                <a:pathLst>
                  <a:path w="34925" h="9525">
                    <a:moveTo>
                      <a:pt x="0" y="0"/>
                    </a:moveTo>
                    <a:lnTo>
                      <a:pt x="34925" y="0"/>
                    </a:lnTo>
                  </a:path>
                </a:pathLst>
              </a:custGeom>
              <a:noFill/>
              <a:ln w="8731">
                <a:solidFill>
                  <a:srgbClr val="C83210"/>
                </a:solidFill>
              </a:ln>
            </p:spPr>
          </p:sp>
          <p:sp>
            <p:nvSpPr>
              <p:cNvPr id="121" name="Freeform 121"/>
              <p:cNvSpPr/>
              <p:nvPr/>
            </p:nvSpPr>
            <p:spPr>
              <a:xfrm>
                <a:off x="3968750" y="2457053"/>
                <a:ext cx="26194" cy="9525"/>
              </a:xfrm>
              <a:custGeom>
                <a:avLst/>
                <a:gdLst/>
                <a:ahLst/>
                <a:cxnLst/>
                <a:rect l="l" t="t" r="r" b="b"/>
                <a:pathLst>
                  <a:path w="26194" h="9525">
                    <a:moveTo>
                      <a:pt x="0" y="0"/>
                    </a:moveTo>
                    <a:lnTo>
                      <a:pt x="26194" y="0"/>
                    </a:lnTo>
                  </a:path>
                </a:pathLst>
              </a:custGeom>
              <a:noFill/>
              <a:ln w="8731">
                <a:solidFill>
                  <a:srgbClr val="C83210"/>
                </a:solidFill>
              </a:ln>
            </p:spPr>
          </p:sp>
          <p:sp>
            <p:nvSpPr>
              <p:cNvPr id="122" name="Freeform 122"/>
              <p:cNvSpPr/>
              <p:nvPr/>
            </p:nvSpPr>
            <p:spPr>
              <a:xfrm>
                <a:off x="3946922" y="2417762"/>
                <a:ext cx="78581" cy="74216"/>
              </a:xfrm>
              <a:custGeom>
                <a:avLst/>
                <a:gdLst/>
                <a:ahLst/>
                <a:cxnLst/>
                <a:rect l="l" t="t" r="r" b="b"/>
                <a:pathLst>
                  <a:path w="78581" h="74216">
                    <a:moveTo>
                      <a:pt x="65484" y="0"/>
                    </a:moveTo>
                    <a:cubicBezTo>
                      <a:pt x="72718" y="0"/>
                      <a:pt x="78581" y="5864"/>
                      <a:pt x="78581" y="13097"/>
                    </a:cubicBezTo>
                    <a:lnTo>
                      <a:pt x="78581" y="48022"/>
                    </a:lnTo>
                    <a:cubicBezTo>
                      <a:pt x="78581" y="55255"/>
                      <a:pt x="72718" y="61119"/>
                      <a:pt x="65484" y="61119"/>
                    </a:cubicBezTo>
                    <a:lnTo>
                      <a:pt x="43656" y="61119"/>
                    </a:lnTo>
                    <a:lnTo>
                      <a:pt x="21828" y="74216"/>
                    </a:lnTo>
                    <a:lnTo>
                      <a:pt x="21828" y="61119"/>
                    </a:lnTo>
                    <a:lnTo>
                      <a:pt x="13097" y="61119"/>
                    </a:lnTo>
                    <a:cubicBezTo>
                      <a:pt x="5864" y="61119"/>
                      <a:pt x="0" y="55255"/>
                      <a:pt x="0" y="48022"/>
                    </a:cubicBezTo>
                    <a:lnTo>
                      <a:pt x="0" y="13097"/>
                    </a:lnTo>
                    <a:cubicBezTo>
                      <a:pt x="0" y="5864"/>
                      <a:pt x="5864" y="0"/>
                      <a:pt x="13097" y="0"/>
                    </a:cubicBezTo>
                    <a:lnTo>
                      <a:pt x="65484" y="0"/>
                    </a:lnTo>
                  </a:path>
                </a:pathLst>
              </a:custGeom>
              <a:noFill/>
              <a:ln w="8731">
                <a:solidFill>
                  <a:srgbClr val="C83210"/>
                </a:solidFill>
              </a:ln>
            </p:spPr>
          </p:sp>
        </p:grpSp>
        <p:sp>
          <p:nvSpPr>
            <p:cNvPr id="124" name="TextBox 124"/>
            <p:cNvSpPr txBox="1"/>
            <p:nvPr/>
          </p:nvSpPr>
          <p:spPr>
            <a:xfrm>
              <a:off x="4062412" y="2422874"/>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企微消息</a:t>
              </a:r>
            </a:p>
          </p:txBody>
        </p:sp>
        <p:grpSp>
          <p:nvGrpSpPr>
            <p:cNvPr id="128" name="Group 128"/>
            <p:cNvGrpSpPr/>
            <p:nvPr/>
          </p:nvGrpSpPr>
          <p:grpSpPr>
            <a:xfrm>
              <a:off x="4546203" y="2413397"/>
              <a:ext cx="61119" cy="78581"/>
              <a:chOff x="4546203" y="2413397"/>
              <a:chExt cx="61119" cy="78581"/>
            </a:xfrm>
          </p:grpSpPr>
          <p:sp>
            <p:nvSpPr>
              <p:cNvPr id="125" name="Freeform 125"/>
              <p:cNvSpPr/>
              <p:nvPr/>
            </p:nvSpPr>
            <p:spPr>
              <a:xfrm>
                <a:off x="4546203" y="2439591"/>
                <a:ext cx="61119" cy="52387"/>
              </a:xfrm>
              <a:custGeom>
                <a:avLst/>
                <a:gdLst/>
                <a:ahLst/>
                <a:cxnLst/>
                <a:rect l="l" t="t" r="r" b="b"/>
                <a:pathLst>
                  <a:path w="61119" h="52387">
                    <a:moveTo>
                      <a:pt x="13097" y="0"/>
                    </a:moveTo>
                    <a:lnTo>
                      <a:pt x="8731" y="0"/>
                    </a:lnTo>
                    <a:cubicBezTo>
                      <a:pt x="3909" y="0"/>
                      <a:pt x="0" y="3909"/>
                      <a:pt x="0" y="8731"/>
                    </a:cubicBezTo>
                    <a:lnTo>
                      <a:pt x="0" y="43656"/>
                    </a:lnTo>
                    <a:cubicBezTo>
                      <a:pt x="0" y="48478"/>
                      <a:pt x="3909" y="52387"/>
                      <a:pt x="8731" y="52387"/>
                    </a:cubicBezTo>
                    <a:lnTo>
                      <a:pt x="52387" y="52387"/>
                    </a:lnTo>
                    <a:cubicBezTo>
                      <a:pt x="57210" y="52387"/>
                      <a:pt x="61119" y="48478"/>
                      <a:pt x="61119" y="43656"/>
                    </a:cubicBezTo>
                    <a:lnTo>
                      <a:pt x="61119" y="8731"/>
                    </a:lnTo>
                    <a:cubicBezTo>
                      <a:pt x="61119" y="3909"/>
                      <a:pt x="57210" y="0"/>
                      <a:pt x="52387" y="0"/>
                    </a:cubicBezTo>
                    <a:lnTo>
                      <a:pt x="48022" y="0"/>
                    </a:lnTo>
                  </a:path>
                </a:pathLst>
              </a:custGeom>
              <a:noFill/>
              <a:ln w="8731">
                <a:solidFill>
                  <a:srgbClr val="C83210"/>
                </a:solidFill>
              </a:ln>
            </p:spPr>
          </p:sp>
          <p:sp>
            <p:nvSpPr>
              <p:cNvPr id="126" name="Freeform 126"/>
              <p:cNvSpPr/>
              <p:nvPr/>
            </p:nvSpPr>
            <p:spPr>
              <a:xfrm>
                <a:off x="4576762" y="2413397"/>
                <a:ext cx="9525" cy="48022"/>
              </a:xfrm>
              <a:custGeom>
                <a:avLst/>
                <a:gdLst/>
                <a:ahLst/>
                <a:cxnLst/>
                <a:rect l="l" t="t" r="r" b="b"/>
                <a:pathLst>
                  <a:path w="9525" h="48022">
                    <a:moveTo>
                      <a:pt x="0" y="48022"/>
                    </a:moveTo>
                    <a:lnTo>
                      <a:pt x="0" y="0"/>
                    </a:lnTo>
                  </a:path>
                </a:pathLst>
              </a:custGeom>
              <a:noFill/>
              <a:ln w="8731">
                <a:solidFill>
                  <a:srgbClr val="C83210"/>
                </a:solidFill>
              </a:ln>
            </p:spPr>
          </p:sp>
          <p:sp>
            <p:nvSpPr>
              <p:cNvPr id="127" name="Freeform 127"/>
              <p:cNvSpPr/>
              <p:nvPr/>
            </p:nvSpPr>
            <p:spPr>
              <a:xfrm>
                <a:off x="4563666" y="2413397"/>
                <a:ext cx="26194" cy="13097"/>
              </a:xfrm>
              <a:custGeom>
                <a:avLst/>
                <a:gdLst/>
                <a:ahLst/>
                <a:cxnLst/>
                <a:rect l="l" t="t" r="r" b="b"/>
                <a:pathLst>
                  <a:path w="26194" h="13097">
                    <a:moveTo>
                      <a:pt x="0" y="13097"/>
                    </a:moveTo>
                    <a:lnTo>
                      <a:pt x="13097" y="0"/>
                    </a:lnTo>
                    <a:lnTo>
                      <a:pt x="26194" y="13097"/>
                    </a:lnTo>
                  </a:path>
                </a:pathLst>
              </a:custGeom>
              <a:noFill/>
              <a:ln w="8731">
                <a:solidFill>
                  <a:srgbClr val="C83210"/>
                </a:solidFill>
              </a:ln>
            </p:spPr>
          </p:sp>
        </p:grpSp>
        <p:sp>
          <p:nvSpPr>
            <p:cNvPr id="129" name="TextBox 129"/>
            <p:cNvSpPr txBox="1"/>
            <p:nvPr/>
          </p:nvSpPr>
          <p:spPr>
            <a:xfrm>
              <a:off x="4652962" y="2422874"/>
              <a:ext cx="24376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朋友圈</a:t>
              </a:r>
            </a:p>
          </p:txBody>
        </p:sp>
        <p:grpSp>
          <p:nvGrpSpPr>
            <p:cNvPr id="132" name="Group 132"/>
            <p:cNvGrpSpPr/>
            <p:nvPr/>
          </p:nvGrpSpPr>
          <p:grpSpPr>
            <a:xfrm>
              <a:off x="3946922" y="2597944"/>
              <a:ext cx="78581" cy="52387"/>
              <a:chOff x="3946922" y="2597944"/>
              <a:chExt cx="78581" cy="52387"/>
            </a:xfrm>
          </p:grpSpPr>
          <p:sp>
            <p:nvSpPr>
              <p:cNvPr id="130" name="Freeform 130"/>
              <p:cNvSpPr/>
              <p:nvPr/>
            </p:nvSpPr>
            <p:spPr>
              <a:xfrm>
                <a:off x="3999309" y="2604794"/>
                <a:ext cx="26194" cy="38687"/>
              </a:xfrm>
              <a:custGeom>
                <a:avLst/>
                <a:gdLst/>
                <a:ahLst/>
                <a:cxnLst/>
                <a:rect l="l" t="t" r="r" b="b"/>
                <a:pathLst>
                  <a:path w="26194" h="38687">
                    <a:moveTo>
                      <a:pt x="0" y="10612"/>
                    </a:moveTo>
                    <a:lnTo>
                      <a:pt x="19877" y="676"/>
                    </a:lnTo>
                    <a:cubicBezTo>
                      <a:pt x="21230" y="0"/>
                      <a:pt x="22836" y="72"/>
                      <a:pt x="24123" y="867"/>
                    </a:cubicBezTo>
                    <a:cubicBezTo>
                      <a:pt x="25409" y="1662"/>
                      <a:pt x="26193" y="3066"/>
                      <a:pt x="26194" y="4579"/>
                    </a:cubicBezTo>
                    <a:lnTo>
                      <a:pt x="26194" y="34108"/>
                    </a:lnTo>
                    <a:cubicBezTo>
                      <a:pt x="26193" y="35620"/>
                      <a:pt x="25409" y="37025"/>
                      <a:pt x="24123" y="37820"/>
                    </a:cubicBezTo>
                    <a:cubicBezTo>
                      <a:pt x="22836" y="38615"/>
                      <a:pt x="21230" y="38687"/>
                      <a:pt x="19877" y="38011"/>
                    </a:cubicBezTo>
                    <a:lnTo>
                      <a:pt x="0" y="28075"/>
                    </a:lnTo>
                    <a:lnTo>
                      <a:pt x="0" y="10612"/>
                    </a:lnTo>
                  </a:path>
                </a:pathLst>
              </a:custGeom>
              <a:noFill/>
              <a:ln w="8731">
                <a:solidFill>
                  <a:srgbClr val="C83210"/>
                </a:solidFill>
              </a:ln>
            </p:spPr>
          </p:sp>
          <p:sp>
            <p:nvSpPr>
              <p:cNvPr id="131" name="Freeform 131"/>
              <p:cNvSpPr/>
              <p:nvPr/>
            </p:nvSpPr>
            <p:spPr>
              <a:xfrm>
                <a:off x="3946922" y="2597944"/>
                <a:ext cx="52387" cy="52387"/>
              </a:xfrm>
              <a:custGeom>
                <a:avLst/>
                <a:gdLst/>
                <a:ahLst/>
                <a:cxnLst/>
                <a:rect l="l" t="t" r="r" b="b"/>
                <a:pathLst>
                  <a:path w="52387" h="52387">
                    <a:moveTo>
                      <a:pt x="0" y="8731"/>
                    </a:moveTo>
                    <a:cubicBezTo>
                      <a:pt x="0" y="3909"/>
                      <a:pt x="3909" y="0"/>
                      <a:pt x="8731" y="0"/>
                    </a:cubicBezTo>
                    <a:lnTo>
                      <a:pt x="43656" y="0"/>
                    </a:lnTo>
                    <a:cubicBezTo>
                      <a:pt x="48478" y="0"/>
                      <a:pt x="52387" y="3909"/>
                      <a:pt x="52387" y="8731"/>
                    </a:cubicBezTo>
                    <a:lnTo>
                      <a:pt x="52387" y="43656"/>
                    </a:lnTo>
                    <a:cubicBezTo>
                      <a:pt x="52387" y="48478"/>
                      <a:pt x="48478" y="52387"/>
                      <a:pt x="43656" y="52387"/>
                    </a:cubicBezTo>
                    <a:lnTo>
                      <a:pt x="8731" y="52387"/>
                    </a:lnTo>
                    <a:cubicBezTo>
                      <a:pt x="3909" y="52387"/>
                      <a:pt x="0" y="48478"/>
                      <a:pt x="0" y="43656"/>
                    </a:cubicBezTo>
                    <a:lnTo>
                      <a:pt x="0" y="8731"/>
                    </a:lnTo>
                  </a:path>
                </a:pathLst>
              </a:custGeom>
              <a:noFill/>
              <a:ln w="8731">
                <a:solidFill>
                  <a:srgbClr val="C83210"/>
                </a:solidFill>
              </a:ln>
            </p:spPr>
          </p:sp>
        </p:grpSp>
        <p:sp>
          <p:nvSpPr>
            <p:cNvPr id="133" name="TextBox 133"/>
            <p:cNvSpPr txBox="1"/>
            <p:nvPr/>
          </p:nvSpPr>
          <p:spPr>
            <a:xfrm>
              <a:off x="4062412" y="2594324"/>
              <a:ext cx="16568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直播</a:t>
              </a:r>
            </a:p>
          </p:txBody>
        </p:sp>
        <p:grpSp>
          <p:nvGrpSpPr>
            <p:cNvPr id="137" name="Group 137"/>
            <p:cNvGrpSpPr/>
            <p:nvPr/>
          </p:nvGrpSpPr>
          <p:grpSpPr>
            <a:xfrm>
              <a:off x="5261372" y="2417762"/>
              <a:ext cx="78581" cy="74216"/>
              <a:chOff x="5261372" y="2417762"/>
              <a:chExt cx="78581" cy="74216"/>
            </a:xfrm>
          </p:grpSpPr>
          <p:sp>
            <p:nvSpPr>
              <p:cNvPr id="134" name="Freeform 134"/>
              <p:cNvSpPr/>
              <p:nvPr/>
            </p:nvSpPr>
            <p:spPr>
              <a:xfrm>
                <a:off x="5283200" y="2439591"/>
                <a:ext cx="34925" cy="9525"/>
              </a:xfrm>
              <a:custGeom>
                <a:avLst/>
                <a:gdLst/>
                <a:ahLst/>
                <a:cxnLst/>
                <a:rect l="l" t="t" r="r" b="b"/>
                <a:pathLst>
                  <a:path w="34925" h="9525">
                    <a:moveTo>
                      <a:pt x="0" y="0"/>
                    </a:moveTo>
                    <a:lnTo>
                      <a:pt x="34925" y="0"/>
                    </a:lnTo>
                  </a:path>
                </a:pathLst>
              </a:custGeom>
              <a:noFill/>
              <a:ln w="8731">
                <a:solidFill>
                  <a:srgbClr val="C83210"/>
                </a:solidFill>
              </a:ln>
            </p:spPr>
          </p:sp>
          <p:sp>
            <p:nvSpPr>
              <p:cNvPr id="135" name="Freeform 135"/>
              <p:cNvSpPr/>
              <p:nvPr/>
            </p:nvSpPr>
            <p:spPr>
              <a:xfrm>
                <a:off x="5283200" y="2457053"/>
                <a:ext cx="26194" cy="9525"/>
              </a:xfrm>
              <a:custGeom>
                <a:avLst/>
                <a:gdLst/>
                <a:ahLst/>
                <a:cxnLst/>
                <a:rect l="l" t="t" r="r" b="b"/>
                <a:pathLst>
                  <a:path w="26194" h="9525">
                    <a:moveTo>
                      <a:pt x="0" y="0"/>
                    </a:moveTo>
                    <a:lnTo>
                      <a:pt x="26194" y="0"/>
                    </a:lnTo>
                  </a:path>
                </a:pathLst>
              </a:custGeom>
              <a:noFill/>
              <a:ln w="8731">
                <a:solidFill>
                  <a:srgbClr val="C83210"/>
                </a:solidFill>
              </a:ln>
            </p:spPr>
          </p:sp>
          <p:sp>
            <p:nvSpPr>
              <p:cNvPr id="136" name="Freeform 136"/>
              <p:cNvSpPr/>
              <p:nvPr/>
            </p:nvSpPr>
            <p:spPr>
              <a:xfrm>
                <a:off x="5261372" y="2417762"/>
                <a:ext cx="78581" cy="74216"/>
              </a:xfrm>
              <a:custGeom>
                <a:avLst/>
                <a:gdLst/>
                <a:ahLst/>
                <a:cxnLst/>
                <a:rect l="l" t="t" r="r" b="b"/>
                <a:pathLst>
                  <a:path w="78581" h="74216">
                    <a:moveTo>
                      <a:pt x="65484" y="0"/>
                    </a:moveTo>
                    <a:cubicBezTo>
                      <a:pt x="72718" y="0"/>
                      <a:pt x="78581" y="5864"/>
                      <a:pt x="78581" y="13097"/>
                    </a:cubicBezTo>
                    <a:lnTo>
                      <a:pt x="78581" y="48022"/>
                    </a:lnTo>
                    <a:cubicBezTo>
                      <a:pt x="78581" y="55255"/>
                      <a:pt x="72718" y="61119"/>
                      <a:pt x="65484" y="61119"/>
                    </a:cubicBezTo>
                    <a:lnTo>
                      <a:pt x="43656" y="61119"/>
                    </a:lnTo>
                    <a:lnTo>
                      <a:pt x="21828" y="74216"/>
                    </a:lnTo>
                    <a:lnTo>
                      <a:pt x="21828" y="61119"/>
                    </a:lnTo>
                    <a:lnTo>
                      <a:pt x="13097" y="61119"/>
                    </a:lnTo>
                    <a:cubicBezTo>
                      <a:pt x="5864" y="61119"/>
                      <a:pt x="0" y="55255"/>
                      <a:pt x="0" y="48022"/>
                    </a:cubicBezTo>
                    <a:lnTo>
                      <a:pt x="0" y="13097"/>
                    </a:lnTo>
                    <a:cubicBezTo>
                      <a:pt x="0" y="5864"/>
                      <a:pt x="5864" y="0"/>
                      <a:pt x="13097" y="0"/>
                    </a:cubicBezTo>
                    <a:lnTo>
                      <a:pt x="65484" y="0"/>
                    </a:lnTo>
                  </a:path>
                </a:pathLst>
              </a:custGeom>
              <a:noFill/>
              <a:ln w="8731">
                <a:solidFill>
                  <a:srgbClr val="C83210"/>
                </a:solidFill>
              </a:ln>
            </p:spPr>
          </p:sp>
        </p:grpSp>
        <p:sp>
          <p:nvSpPr>
            <p:cNvPr id="138" name="TextBox 138"/>
            <p:cNvSpPr txBox="1"/>
            <p:nvPr/>
          </p:nvSpPr>
          <p:spPr>
            <a:xfrm>
              <a:off x="5376862" y="2422874"/>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企微消息</a:t>
              </a:r>
            </a:p>
          </p:txBody>
        </p:sp>
        <p:grpSp>
          <p:nvGrpSpPr>
            <p:cNvPr id="145" name="Group 145"/>
            <p:cNvGrpSpPr/>
            <p:nvPr/>
          </p:nvGrpSpPr>
          <p:grpSpPr>
            <a:xfrm>
              <a:off x="5851922" y="2413397"/>
              <a:ext cx="78581" cy="78581"/>
              <a:chOff x="5851922" y="2413397"/>
              <a:chExt cx="78581" cy="78581"/>
            </a:xfrm>
          </p:grpSpPr>
          <p:sp>
            <p:nvSpPr>
              <p:cNvPr id="139" name="Freeform 139"/>
              <p:cNvSpPr/>
              <p:nvPr/>
            </p:nvSpPr>
            <p:spPr>
              <a:xfrm>
                <a:off x="5882481" y="2448322"/>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C83210"/>
                </a:solidFill>
              </a:ln>
            </p:spPr>
          </p:sp>
          <p:sp>
            <p:nvSpPr>
              <p:cNvPr id="140" name="Freeform 140"/>
              <p:cNvSpPr/>
              <p:nvPr/>
            </p:nvSpPr>
            <p:spPr>
              <a:xfrm>
                <a:off x="5873750" y="2478881"/>
                <a:ext cx="34925" cy="13097"/>
              </a:xfrm>
              <a:custGeom>
                <a:avLst/>
                <a:gdLst/>
                <a:ahLst/>
                <a:cxnLst/>
                <a:rect l="l" t="t" r="r" b="b"/>
                <a:pathLst>
                  <a:path w="34925" h="13097">
                    <a:moveTo>
                      <a:pt x="0" y="13097"/>
                    </a:moveTo>
                    <a:lnTo>
                      <a:pt x="0" y="8731"/>
                    </a:lnTo>
                    <a:cubicBezTo>
                      <a:pt x="0" y="3909"/>
                      <a:pt x="3909" y="0"/>
                      <a:pt x="8731" y="0"/>
                    </a:cubicBezTo>
                    <a:lnTo>
                      <a:pt x="26194" y="0"/>
                    </a:lnTo>
                    <a:cubicBezTo>
                      <a:pt x="31016" y="0"/>
                      <a:pt x="34925" y="3909"/>
                      <a:pt x="34925" y="8731"/>
                    </a:cubicBezTo>
                    <a:lnTo>
                      <a:pt x="34925" y="13097"/>
                    </a:lnTo>
                  </a:path>
                </a:pathLst>
              </a:custGeom>
              <a:noFill/>
              <a:ln w="8731">
                <a:solidFill>
                  <a:srgbClr val="C83210"/>
                </a:solidFill>
              </a:ln>
            </p:spPr>
          </p:sp>
          <p:sp>
            <p:nvSpPr>
              <p:cNvPr id="141" name="Freeform 141"/>
              <p:cNvSpPr/>
              <p:nvPr/>
            </p:nvSpPr>
            <p:spPr>
              <a:xfrm>
                <a:off x="5904309" y="2413397"/>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C83210"/>
                </a:solidFill>
              </a:ln>
            </p:spPr>
          </p:sp>
          <p:sp>
            <p:nvSpPr>
              <p:cNvPr id="142" name="Freeform 142"/>
              <p:cNvSpPr/>
              <p:nvPr/>
            </p:nvSpPr>
            <p:spPr>
              <a:xfrm>
                <a:off x="5913041" y="2443956"/>
                <a:ext cx="17462" cy="13097"/>
              </a:xfrm>
              <a:custGeom>
                <a:avLst/>
                <a:gdLst/>
                <a:ahLst/>
                <a:cxnLst/>
                <a:rect l="l" t="t" r="r" b="b"/>
                <a:pathLst>
                  <a:path w="17462" h="13097">
                    <a:moveTo>
                      <a:pt x="0" y="0"/>
                    </a:moveTo>
                    <a:lnTo>
                      <a:pt x="8731" y="0"/>
                    </a:lnTo>
                    <a:cubicBezTo>
                      <a:pt x="13553" y="0"/>
                      <a:pt x="17462" y="3909"/>
                      <a:pt x="17462" y="8731"/>
                    </a:cubicBezTo>
                    <a:lnTo>
                      <a:pt x="17462" y="13097"/>
                    </a:lnTo>
                  </a:path>
                </a:pathLst>
              </a:custGeom>
              <a:noFill/>
              <a:ln w="8731">
                <a:solidFill>
                  <a:srgbClr val="C83210"/>
                </a:solidFill>
              </a:ln>
            </p:spPr>
          </p:sp>
          <p:sp>
            <p:nvSpPr>
              <p:cNvPr id="143" name="Freeform 143"/>
              <p:cNvSpPr/>
              <p:nvPr/>
            </p:nvSpPr>
            <p:spPr>
              <a:xfrm>
                <a:off x="5860653" y="2413397"/>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C83210"/>
                </a:solidFill>
              </a:ln>
            </p:spPr>
          </p:sp>
          <p:sp>
            <p:nvSpPr>
              <p:cNvPr id="144" name="Freeform 144"/>
              <p:cNvSpPr/>
              <p:nvPr/>
            </p:nvSpPr>
            <p:spPr>
              <a:xfrm>
                <a:off x="5851922" y="2443956"/>
                <a:ext cx="17462" cy="13097"/>
              </a:xfrm>
              <a:custGeom>
                <a:avLst/>
                <a:gdLst/>
                <a:ahLst/>
                <a:cxnLst/>
                <a:rect l="l" t="t" r="r" b="b"/>
                <a:pathLst>
                  <a:path w="17462" h="13097">
                    <a:moveTo>
                      <a:pt x="0" y="13097"/>
                    </a:moveTo>
                    <a:lnTo>
                      <a:pt x="0" y="8731"/>
                    </a:lnTo>
                    <a:cubicBezTo>
                      <a:pt x="0" y="3909"/>
                      <a:pt x="3909" y="0"/>
                      <a:pt x="8731" y="0"/>
                    </a:cubicBezTo>
                    <a:lnTo>
                      <a:pt x="17462" y="0"/>
                    </a:lnTo>
                  </a:path>
                </a:pathLst>
              </a:custGeom>
              <a:noFill/>
              <a:ln w="8731">
                <a:solidFill>
                  <a:srgbClr val="C83210"/>
                </a:solidFill>
              </a:ln>
            </p:spPr>
          </p:sp>
        </p:grpSp>
        <p:sp>
          <p:nvSpPr>
            <p:cNvPr id="146" name="TextBox 146"/>
            <p:cNvSpPr txBox="1"/>
            <p:nvPr/>
          </p:nvSpPr>
          <p:spPr>
            <a:xfrm>
              <a:off x="5967412" y="2422874"/>
              <a:ext cx="16568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社群</a:t>
              </a:r>
            </a:p>
          </p:txBody>
        </p:sp>
        <p:grpSp>
          <p:nvGrpSpPr>
            <p:cNvPr id="149" name="Group 149"/>
            <p:cNvGrpSpPr/>
            <p:nvPr/>
          </p:nvGrpSpPr>
          <p:grpSpPr>
            <a:xfrm>
              <a:off x="5261372" y="2597944"/>
              <a:ext cx="78581" cy="52387"/>
              <a:chOff x="5261372" y="2597944"/>
              <a:chExt cx="78581" cy="52387"/>
            </a:xfrm>
          </p:grpSpPr>
          <p:sp>
            <p:nvSpPr>
              <p:cNvPr id="147" name="Freeform 147"/>
              <p:cNvSpPr/>
              <p:nvPr/>
            </p:nvSpPr>
            <p:spPr>
              <a:xfrm>
                <a:off x="5313759" y="2604794"/>
                <a:ext cx="26194" cy="38687"/>
              </a:xfrm>
              <a:custGeom>
                <a:avLst/>
                <a:gdLst/>
                <a:ahLst/>
                <a:cxnLst/>
                <a:rect l="l" t="t" r="r" b="b"/>
                <a:pathLst>
                  <a:path w="26194" h="38687">
                    <a:moveTo>
                      <a:pt x="0" y="10612"/>
                    </a:moveTo>
                    <a:lnTo>
                      <a:pt x="19877" y="676"/>
                    </a:lnTo>
                    <a:cubicBezTo>
                      <a:pt x="21230" y="0"/>
                      <a:pt x="22836" y="72"/>
                      <a:pt x="24123" y="867"/>
                    </a:cubicBezTo>
                    <a:cubicBezTo>
                      <a:pt x="25409" y="1662"/>
                      <a:pt x="26193" y="3066"/>
                      <a:pt x="26194" y="4579"/>
                    </a:cubicBezTo>
                    <a:lnTo>
                      <a:pt x="26194" y="34108"/>
                    </a:lnTo>
                    <a:cubicBezTo>
                      <a:pt x="26193" y="35620"/>
                      <a:pt x="25409" y="37025"/>
                      <a:pt x="24123" y="37820"/>
                    </a:cubicBezTo>
                    <a:cubicBezTo>
                      <a:pt x="22836" y="38615"/>
                      <a:pt x="21230" y="38687"/>
                      <a:pt x="19877" y="38011"/>
                    </a:cubicBezTo>
                    <a:lnTo>
                      <a:pt x="0" y="28075"/>
                    </a:lnTo>
                    <a:lnTo>
                      <a:pt x="0" y="10612"/>
                    </a:lnTo>
                  </a:path>
                </a:pathLst>
              </a:custGeom>
              <a:noFill/>
              <a:ln w="8731">
                <a:solidFill>
                  <a:srgbClr val="C83210"/>
                </a:solidFill>
              </a:ln>
            </p:spPr>
          </p:sp>
          <p:sp>
            <p:nvSpPr>
              <p:cNvPr id="148" name="Freeform 148"/>
              <p:cNvSpPr/>
              <p:nvPr/>
            </p:nvSpPr>
            <p:spPr>
              <a:xfrm>
                <a:off x="5261372" y="2597944"/>
                <a:ext cx="52387" cy="52387"/>
              </a:xfrm>
              <a:custGeom>
                <a:avLst/>
                <a:gdLst/>
                <a:ahLst/>
                <a:cxnLst/>
                <a:rect l="l" t="t" r="r" b="b"/>
                <a:pathLst>
                  <a:path w="52387" h="52387">
                    <a:moveTo>
                      <a:pt x="0" y="8731"/>
                    </a:moveTo>
                    <a:cubicBezTo>
                      <a:pt x="0" y="3909"/>
                      <a:pt x="3909" y="0"/>
                      <a:pt x="8731" y="0"/>
                    </a:cubicBezTo>
                    <a:lnTo>
                      <a:pt x="43656" y="0"/>
                    </a:lnTo>
                    <a:cubicBezTo>
                      <a:pt x="48478" y="0"/>
                      <a:pt x="52387" y="3909"/>
                      <a:pt x="52387" y="8731"/>
                    </a:cubicBezTo>
                    <a:lnTo>
                      <a:pt x="52387" y="43656"/>
                    </a:lnTo>
                    <a:cubicBezTo>
                      <a:pt x="52387" y="48478"/>
                      <a:pt x="48478" y="52387"/>
                      <a:pt x="43656" y="52387"/>
                    </a:cubicBezTo>
                    <a:lnTo>
                      <a:pt x="8731" y="52387"/>
                    </a:lnTo>
                    <a:cubicBezTo>
                      <a:pt x="3909" y="52387"/>
                      <a:pt x="0" y="48478"/>
                      <a:pt x="0" y="43656"/>
                    </a:cubicBezTo>
                    <a:lnTo>
                      <a:pt x="0" y="8731"/>
                    </a:lnTo>
                  </a:path>
                </a:pathLst>
              </a:custGeom>
              <a:noFill/>
              <a:ln w="8731">
                <a:solidFill>
                  <a:srgbClr val="C83210"/>
                </a:solidFill>
              </a:ln>
            </p:spPr>
          </p:sp>
        </p:grpSp>
        <p:sp>
          <p:nvSpPr>
            <p:cNvPr id="150" name="TextBox 150"/>
            <p:cNvSpPr txBox="1"/>
            <p:nvPr/>
          </p:nvSpPr>
          <p:spPr>
            <a:xfrm>
              <a:off x="5376862" y="2594324"/>
              <a:ext cx="16568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直播</a:t>
              </a:r>
            </a:p>
          </p:txBody>
        </p:sp>
        <p:grpSp>
          <p:nvGrpSpPr>
            <p:cNvPr id="154" name="Group 154"/>
            <p:cNvGrpSpPr/>
            <p:nvPr/>
          </p:nvGrpSpPr>
          <p:grpSpPr>
            <a:xfrm>
              <a:off x="6575822" y="2417762"/>
              <a:ext cx="78581" cy="74216"/>
              <a:chOff x="6575822" y="2417762"/>
              <a:chExt cx="78581" cy="74216"/>
            </a:xfrm>
          </p:grpSpPr>
          <p:sp>
            <p:nvSpPr>
              <p:cNvPr id="151" name="Freeform 151"/>
              <p:cNvSpPr/>
              <p:nvPr/>
            </p:nvSpPr>
            <p:spPr>
              <a:xfrm>
                <a:off x="6597650" y="2439591"/>
                <a:ext cx="34925" cy="9525"/>
              </a:xfrm>
              <a:custGeom>
                <a:avLst/>
                <a:gdLst/>
                <a:ahLst/>
                <a:cxnLst/>
                <a:rect l="l" t="t" r="r" b="b"/>
                <a:pathLst>
                  <a:path w="34925" h="9525">
                    <a:moveTo>
                      <a:pt x="0" y="0"/>
                    </a:moveTo>
                    <a:lnTo>
                      <a:pt x="34925" y="0"/>
                    </a:lnTo>
                  </a:path>
                </a:pathLst>
              </a:custGeom>
              <a:noFill/>
              <a:ln w="8731">
                <a:solidFill>
                  <a:srgbClr val="C83210"/>
                </a:solidFill>
              </a:ln>
            </p:spPr>
          </p:sp>
          <p:sp>
            <p:nvSpPr>
              <p:cNvPr id="152" name="Freeform 152"/>
              <p:cNvSpPr/>
              <p:nvPr/>
            </p:nvSpPr>
            <p:spPr>
              <a:xfrm>
                <a:off x="6597650" y="2457053"/>
                <a:ext cx="26194" cy="9525"/>
              </a:xfrm>
              <a:custGeom>
                <a:avLst/>
                <a:gdLst/>
                <a:ahLst/>
                <a:cxnLst/>
                <a:rect l="l" t="t" r="r" b="b"/>
                <a:pathLst>
                  <a:path w="26194" h="9525">
                    <a:moveTo>
                      <a:pt x="0" y="0"/>
                    </a:moveTo>
                    <a:lnTo>
                      <a:pt x="26194" y="0"/>
                    </a:lnTo>
                  </a:path>
                </a:pathLst>
              </a:custGeom>
              <a:noFill/>
              <a:ln w="8731">
                <a:solidFill>
                  <a:srgbClr val="C83210"/>
                </a:solidFill>
              </a:ln>
            </p:spPr>
          </p:sp>
          <p:sp>
            <p:nvSpPr>
              <p:cNvPr id="153" name="Freeform 153"/>
              <p:cNvSpPr/>
              <p:nvPr/>
            </p:nvSpPr>
            <p:spPr>
              <a:xfrm>
                <a:off x="6575822" y="2417762"/>
                <a:ext cx="78581" cy="74216"/>
              </a:xfrm>
              <a:custGeom>
                <a:avLst/>
                <a:gdLst/>
                <a:ahLst/>
                <a:cxnLst/>
                <a:rect l="l" t="t" r="r" b="b"/>
                <a:pathLst>
                  <a:path w="78581" h="74216">
                    <a:moveTo>
                      <a:pt x="65484" y="0"/>
                    </a:moveTo>
                    <a:cubicBezTo>
                      <a:pt x="72718" y="0"/>
                      <a:pt x="78581" y="5864"/>
                      <a:pt x="78581" y="13097"/>
                    </a:cubicBezTo>
                    <a:lnTo>
                      <a:pt x="78581" y="48022"/>
                    </a:lnTo>
                    <a:cubicBezTo>
                      <a:pt x="78581" y="55255"/>
                      <a:pt x="72718" y="61119"/>
                      <a:pt x="65484" y="61119"/>
                    </a:cubicBezTo>
                    <a:lnTo>
                      <a:pt x="43656" y="61119"/>
                    </a:lnTo>
                    <a:lnTo>
                      <a:pt x="21828" y="74216"/>
                    </a:lnTo>
                    <a:lnTo>
                      <a:pt x="21828" y="61119"/>
                    </a:lnTo>
                    <a:lnTo>
                      <a:pt x="13097" y="61119"/>
                    </a:lnTo>
                    <a:cubicBezTo>
                      <a:pt x="5864" y="61119"/>
                      <a:pt x="0" y="55255"/>
                      <a:pt x="0" y="48022"/>
                    </a:cubicBezTo>
                    <a:lnTo>
                      <a:pt x="0" y="13097"/>
                    </a:lnTo>
                    <a:cubicBezTo>
                      <a:pt x="0" y="5864"/>
                      <a:pt x="5864" y="0"/>
                      <a:pt x="13097" y="0"/>
                    </a:cubicBezTo>
                    <a:lnTo>
                      <a:pt x="65484" y="0"/>
                    </a:lnTo>
                  </a:path>
                </a:pathLst>
              </a:custGeom>
              <a:noFill/>
              <a:ln w="8731">
                <a:solidFill>
                  <a:srgbClr val="C83210"/>
                </a:solidFill>
              </a:ln>
            </p:spPr>
          </p:sp>
        </p:grpSp>
        <p:sp>
          <p:nvSpPr>
            <p:cNvPr id="155" name="TextBox 155"/>
            <p:cNvSpPr txBox="1"/>
            <p:nvPr/>
          </p:nvSpPr>
          <p:spPr>
            <a:xfrm>
              <a:off x="6691312" y="2422874"/>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企微消息</a:t>
              </a:r>
            </a:p>
          </p:txBody>
        </p:sp>
        <p:grpSp>
          <p:nvGrpSpPr>
            <p:cNvPr id="159" name="Group 159"/>
            <p:cNvGrpSpPr/>
            <p:nvPr/>
          </p:nvGrpSpPr>
          <p:grpSpPr>
            <a:xfrm>
              <a:off x="7175103" y="2413397"/>
              <a:ext cx="61119" cy="78581"/>
              <a:chOff x="7175103" y="2413397"/>
              <a:chExt cx="61119" cy="78581"/>
            </a:xfrm>
          </p:grpSpPr>
          <p:sp>
            <p:nvSpPr>
              <p:cNvPr id="156" name="Freeform 156"/>
              <p:cNvSpPr/>
              <p:nvPr/>
            </p:nvSpPr>
            <p:spPr>
              <a:xfrm>
                <a:off x="7175103" y="2439591"/>
                <a:ext cx="61119" cy="52387"/>
              </a:xfrm>
              <a:custGeom>
                <a:avLst/>
                <a:gdLst/>
                <a:ahLst/>
                <a:cxnLst/>
                <a:rect l="l" t="t" r="r" b="b"/>
                <a:pathLst>
                  <a:path w="61119" h="52387">
                    <a:moveTo>
                      <a:pt x="13097" y="0"/>
                    </a:moveTo>
                    <a:lnTo>
                      <a:pt x="8731" y="0"/>
                    </a:lnTo>
                    <a:cubicBezTo>
                      <a:pt x="3909" y="0"/>
                      <a:pt x="0" y="3909"/>
                      <a:pt x="0" y="8731"/>
                    </a:cubicBezTo>
                    <a:lnTo>
                      <a:pt x="0" y="43656"/>
                    </a:lnTo>
                    <a:cubicBezTo>
                      <a:pt x="0" y="48478"/>
                      <a:pt x="3909" y="52387"/>
                      <a:pt x="8731" y="52387"/>
                    </a:cubicBezTo>
                    <a:lnTo>
                      <a:pt x="52387" y="52387"/>
                    </a:lnTo>
                    <a:cubicBezTo>
                      <a:pt x="57210" y="52387"/>
                      <a:pt x="61119" y="48478"/>
                      <a:pt x="61119" y="43656"/>
                    </a:cubicBezTo>
                    <a:lnTo>
                      <a:pt x="61119" y="8731"/>
                    </a:lnTo>
                    <a:cubicBezTo>
                      <a:pt x="61119" y="3909"/>
                      <a:pt x="57210" y="0"/>
                      <a:pt x="52387" y="0"/>
                    </a:cubicBezTo>
                    <a:lnTo>
                      <a:pt x="48022" y="0"/>
                    </a:lnTo>
                  </a:path>
                </a:pathLst>
              </a:custGeom>
              <a:noFill/>
              <a:ln w="8731">
                <a:solidFill>
                  <a:srgbClr val="C83210"/>
                </a:solidFill>
              </a:ln>
            </p:spPr>
          </p:sp>
          <p:sp>
            <p:nvSpPr>
              <p:cNvPr id="157" name="Freeform 157"/>
              <p:cNvSpPr/>
              <p:nvPr/>
            </p:nvSpPr>
            <p:spPr>
              <a:xfrm>
                <a:off x="7205662" y="2413397"/>
                <a:ext cx="9525" cy="48022"/>
              </a:xfrm>
              <a:custGeom>
                <a:avLst/>
                <a:gdLst/>
                <a:ahLst/>
                <a:cxnLst/>
                <a:rect l="l" t="t" r="r" b="b"/>
                <a:pathLst>
                  <a:path w="9525" h="48022">
                    <a:moveTo>
                      <a:pt x="0" y="48022"/>
                    </a:moveTo>
                    <a:lnTo>
                      <a:pt x="0" y="0"/>
                    </a:lnTo>
                  </a:path>
                </a:pathLst>
              </a:custGeom>
              <a:noFill/>
              <a:ln w="8731">
                <a:solidFill>
                  <a:srgbClr val="C83210"/>
                </a:solidFill>
              </a:ln>
            </p:spPr>
          </p:sp>
          <p:sp>
            <p:nvSpPr>
              <p:cNvPr id="158" name="Freeform 158"/>
              <p:cNvSpPr/>
              <p:nvPr/>
            </p:nvSpPr>
            <p:spPr>
              <a:xfrm>
                <a:off x="7192566" y="2413397"/>
                <a:ext cx="26194" cy="13097"/>
              </a:xfrm>
              <a:custGeom>
                <a:avLst/>
                <a:gdLst/>
                <a:ahLst/>
                <a:cxnLst/>
                <a:rect l="l" t="t" r="r" b="b"/>
                <a:pathLst>
                  <a:path w="26194" h="13097">
                    <a:moveTo>
                      <a:pt x="0" y="13097"/>
                    </a:moveTo>
                    <a:lnTo>
                      <a:pt x="13097" y="0"/>
                    </a:lnTo>
                    <a:lnTo>
                      <a:pt x="26194" y="13097"/>
                    </a:lnTo>
                  </a:path>
                </a:pathLst>
              </a:custGeom>
              <a:noFill/>
              <a:ln w="8731">
                <a:solidFill>
                  <a:srgbClr val="C83210"/>
                </a:solidFill>
              </a:ln>
            </p:spPr>
          </p:sp>
        </p:grpSp>
        <p:sp>
          <p:nvSpPr>
            <p:cNvPr id="160" name="TextBox 160"/>
            <p:cNvSpPr txBox="1"/>
            <p:nvPr/>
          </p:nvSpPr>
          <p:spPr>
            <a:xfrm>
              <a:off x="7281862" y="2422874"/>
              <a:ext cx="24376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朋友圈</a:t>
              </a:r>
            </a:p>
          </p:txBody>
        </p:sp>
        <p:grpSp>
          <p:nvGrpSpPr>
            <p:cNvPr id="163" name="Group 163"/>
            <p:cNvGrpSpPr/>
            <p:nvPr/>
          </p:nvGrpSpPr>
          <p:grpSpPr>
            <a:xfrm>
              <a:off x="6588919" y="2584847"/>
              <a:ext cx="52387" cy="78581"/>
              <a:chOff x="6588919" y="2584847"/>
              <a:chExt cx="52387" cy="78581"/>
            </a:xfrm>
          </p:grpSpPr>
          <p:sp>
            <p:nvSpPr>
              <p:cNvPr id="161" name="Freeform 161"/>
              <p:cNvSpPr/>
              <p:nvPr/>
            </p:nvSpPr>
            <p:spPr>
              <a:xfrm>
                <a:off x="6597650" y="2584847"/>
                <a:ext cx="34925" cy="34925"/>
              </a:xfrm>
              <a:custGeom>
                <a:avLst/>
                <a:gdLst/>
                <a:ahLst/>
                <a:cxnLst/>
                <a:rect l="l" t="t" r="r" b="b"/>
                <a:pathLst>
                  <a:path w="34925" h="34925">
                    <a:moveTo>
                      <a:pt x="0" y="17462"/>
                    </a:moveTo>
                    <a:cubicBezTo>
                      <a:pt x="0" y="27107"/>
                      <a:pt x="7818" y="34925"/>
                      <a:pt x="17462" y="34925"/>
                    </a:cubicBezTo>
                    <a:cubicBezTo>
                      <a:pt x="27107" y="34925"/>
                      <a:pt x="34925" y="27107"/>
                      <a:pt x="34925" y="17462"/>
                    </a:cubicBezTo>
                    <a:cubicBezTo>
                      <a:pt x="34925" y="7818"/>
                      <a:pt x="27107" y="0"/>
                      <a:pt x="17462" y="0"/>
                    </a:cubicBezTo>
                    <a:cubicBezTo>
                      <a:pt x="7818" y="0"/>
                      <a:pt x="0" y="7818"/>
                      <a:pt x="0" y="17462"/>
                    </a:cubicBezTo>
                  </a:path>
                </a:pathLst>
              </a:custGeom>
              <a:noFill/>
              <a:ln w="8731">
                <a:solidFill>
                  <a:srgbClr val="C83210"/>
                </a:solidFill>
              </a:ln>
            </p:spPr>
          </p:sp>
          <p:sp>
            <p:nvSpPr>
              <p:cNvPr id="162" name="Freeform 162"/>
              <p:cNvSpPr/>
              <p:nvPr/>
            </p:nvSpPr>
            <p:spPr>
              <a:xfrm>
                <a:off x="6588919" y="2637234"/>
                <a:ext cx="52387" cy="26194"/>
              </a:xfrm>
              <a:custGeom>
                <a:avLst/>
                <a:gdLst/>
                <a:ahLst/>
                <a:cxnLst/>
                <a:rect l="l" t="t" r="r" b="b"/>
                <a:pathLst>
                  <a:path w="52387" h="26194">
                    <a:moveTo>
                      <a:pt x="0" y="26194"/>
                    </a:moveTo>
                    <a:lnTo>
                      <a:pt x="0" y="17462"/>
                    </a:lnTo>
                    <a:cubicBezTo>
                      <a:pt x="0" y="7818"/>
                      <a:pt x="7818" y="0"/>
                      <a:pt x="17462" y="0"/>
                    </a:cubicBezTo>
                    <a:lnTo>
                      <a:pt x="34925" y="0"/>
                    </a:lnTo>
                    <a:cubicBezTo>
                      <a:pt x="44569" y="0"/>
                      <a:pt x="52387" y="7818"/>
                      <a:pt x="52387" y="17462"/>
                    </a:cubicBezTo>
                    <a:lnTo>
                      <a:pt x="52387" y="26194"/>
                    </a:lnTo>
                  </a:path>
                </a:pathLst>
              </a:custGeom>
              <a:noFill/>
              <a:ln w="8731">
                <a:solidFill>
                  <a:srgbClr val="C83210"/>
                </a:solidFill>
              </a:ln>
            </p:spPr>
          </p:sp>
        </p:grpSp>
        <p:sp>
          <p:nvSpPr>
            <p:cNvPr id="164" name="TextBox 164"/>
            <p:cNvSpPr txBox="1"/>
            <p:nvPr/>
          </p:nvSpPr>
          <p:spPr>
            <a:xfrm>
              <a:off x="6691312" y="2594324"/>
              <a:ext cx="379887"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1V1沟通　</a:t>
              </a:r>
            </a:p>
          </p:txBody>
        </p:sp>
        <p:grpSp>
          <p:nvGrpSpPr>
            <p:cNvPr id="168" name="Group 168"/>
            <p:cNvGrpSpPr/>
            <p:nvPr/>
          </p:nvGrpSpPr>
          <p:grpSpPr>
            <a:xfrm>
              <a:off x="7890272" y="2417762"/>
              <a:ext cx="78581" cy="74216"/>
              <a:chOff x="7890272" y="2417762"/>
              <a:chExt cx="78581" cy="74216"/>
            </a:xfrm>
          </p:grpSpPr>
          <p:sp>
            <p:nvSpPr>
              <p:cNvPr id="165" name="Freeform 165"/>
              <p:cNvSpPr/>
              <p:nvPr/>
            </p:nvSpPr>
            <p:spPr>
              <a:xfrm>
                <a:off x="7912100" y="2439591"/>
                <a:ext cx="34925" cy="9525"/>
              </a:xfrm>
              <a:custGeom>
                <a:avLst/>
                <a:gdLst/>
                <a:ahLst/>
                <a:cxnLst/>
                <a:rect l="l" t="t" r="r" b="b"/>
                <a:pathLst>
                  <a:path w="34925" h="9525">
                    <a:moveTo>
                      <a:pt x="0" y="0"/>
                    </a:moveTo>
                    <a:lnTo>
                      <a:pt x="34925" y="0"/>
                    </a:lnTo>
                  </a:path>
                </a:pathLst>
              </a:custGeom>
              <a:noFill/>
              <a:ln w="8731">
                <a:solidFill>
                  <a:srgbClr val="C83210"/>
                </a:solidFill>
              </a:ln>
            </p:spPr>
          </p:sp>
          <p:sp>
            <p:nvSpPr>
              <p:cNvPr id="166" name="Freeform 166"/>
              <p:cNvSpPr/>
              <p:nvPr/>
            </p:nvSpPr>
            <p:spPr>
              <a:xfrm>
                <a:off x="7912100" y="2457053"/>
                <a:ext cx="26194" cy="9525"/>
              </a:xfrm>
              <a:custGeom>
                <a:avLst/>
                <a:gdLst/>
                <a:ahLst/>
                <a:cxnLst/>
                <a:rect l="l" t="t" r="r" b="b"/>
                <a:pathLst>
                  <a:path w="26194" h="9525">
                    <a:moveTo>
                      <a:pt x="0" y="0"/>
                    </a:moveTo>
                    <a:lnTo>
                      <a:pt x="26194" y="0"/>
                    </a:lnTo>
                  </a:path>
                </a:pathLst>
              </a:custGeom>
              <a:noFill/>
              <a:ln w="8731">
                <a:solidFill>
                  <a:srgbClr val="C83210"/>
                </a:solidFill>
              </a:ln>
            </p:spPr>
          </p:sp>
          <p:sp>
            <p:nvSpPr>
              <p:cNvPr id="167" name="Freeform 167"/>
              <p:cNvSpPr/>
              <p:nvPr/>
            </p:nvSpPr>
            <p:spPr>
              <a:xfrm>
                <a:off x="7890272" y="2417762"/>
                <a:ext cx="78581" cy="74216"/>
              </a:xfrm>
              <a:custGeom>
                <a:avLst/>
                <a:gdLst/>
                <a:ahLst/>
                <a:cxnLst/>
                <a:rect l="l" t="t" r="r" b="b"/>
                <a:pathLst>
                  <a:path w="78581" h="74216">
                    <a:moveTo>
                      <a:pt x="65484" y="0"/>
                    </a:moveTo>
                    <a:cubicBezTo>
                      <a:pt x="72718" y="0"/>
                      <a:pt x="78581" y="5864"/>
                      <a:pt x="78581" y="13097"/>
                    </a:cubicBezTo>
                    <a:lnTo>
                      <a:pt x="78581" y="48022"/>
                    </a:lnTo>
                    <a:cubicBezTo>
                      <a:pt x="78581" y="55255"/>
                      <a:pt x="72718" y="61119"/>
                      <a:pt x="65484" y="61119"/>
                    </a:cubicBezTo>
                    <a:lnTo>
                      <a:pt x="43656" y="61119"/>
                    </a:lnTo>
                    <a:lnTo>
                      <a:pt x="21828" y="74216"/>
                    </a:lnTo>
                    <a:lnTo>
                      <a:pt x="21828" y="61119"/>
                    </a:lnTo>
                    <a:lnTo>
                      <a:pt x="13097" y="61119"/>
                    </a:lnTo>
                    <a:cubicBezTo>
                      <a:pt x="5864" y="61119"/>
                      <a:pt x="0" y="55255"/>
                      <a:pt x="0" y="48022"/>
                    </a:cubicBezTo>
                    <a:lnTo>
                      <a:pt x="0" y="13097"/>
                    </a:lnTo>
                    <a:cubicBezTo>
                      <a:pt x="0" y="5864"/>
                      <a:pt x="5864" y="0"/>
                      <a:pt x="13097" y="0"/>
                    </a:cubicBezTo>
                    <a:lnTo>
                      <a:pt x="65484" y="0"/>
                    </a:lnTo>
                  </a:path>
                </a:pathLst>
              </a:custGeom>
              <a:noFill/>
              <a:ln w="8731">
                <a:solidFill>
                  <a:srgbClr val="C83210"/>
                </a:solidFill>
              </a:ln>
            </p:spPr>
          </p:sp>
        </p:grpSp>
        <p:sp>
          <p:nvSpPr>
            <p:cNvPr id="169" name="TextBox 169"/>
            <p:cNvSpPr txBox="1"/>
            <p:nvPr/>
          </p:nvSpPr>
          <p:spPr>
            <a:xfrm>
              <a:off x="8005762" y="2422874"/>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企微消息</a:t>
              </a:r>
            </a:p>
          </p:txBody>
        </p:sp>
        <p:grpSp>
          <p:nvGrpSpPr>
            <p:cNvPr id="172" name="Group 172"/>
            <p:cNvGrpSpPr/>
            <p:nvPr/>
          </p:nvGrpSpPr>
          <p:grpSpPr>
            <a:xfrm>
              <a:off x="7903369" y="2584847"/>
              <a:ext cx="52387" cy="78581"/>
              <a:chOff x="7903369" y="2584847"/>
              <a:chExt cx="52387" cy="78581"/>
            </a:xfrm>
          </p:grpSpPr>
          <p:sp>
            <p:nvSpPr>
              <p:cNvPr id="170" name="Freeform 170"/>
              <p:cNvSpPr/>
              <p:nvPr/>
            </p:nvSpPr>
            <p:spPr>
              <a:xfrm>
                <a:off x="7912100" y="2584847"/>
                <a:ext cx="34925" cy="34925"/>
              </a:xfrm>
              <a:custGeom>
                <a:avLst/>
                <a:gdLst/>
                <a:ahLst/>
                <a:cxnLst/>
                <a:rect l="l" t="t" r="r" b="b"/>
                <a:pathLst>
                  <a:path w="34925" h="34925">
                    <a:moveTo>
                      <a:pt x="0" y="17462"/>
                    </a:moveTo>
                    <a:cubicBezTo>
                      <a:pt x="0" y="27107"/>
                      <a:pt x="7818" y="34925"/>
                      <a:pt x="17462" y="34925"/>
                    </a:cubicBezTo>
                    <a:cubicBezTo>
                      <a:pt x="27107" y="34925"/>
                      <a:pt x="34925" y="27107"/>
                      <a:pt x="34925" y="17462"/>
                    </a:cubicBezTo>
                    <a:cubicBezTo>
                      <a:pt x="34925" y="7818"/>
                      <a:pt x="27107" y="0"/>
                      <a:pt x="17462" y="0"/>
                    </a:cubicBezTo>
                    <a:cubicBezTo>
                      <a:pt x="7818" y="0"/>
                      <a:pt x="0" y="7818"/>
                      <a:pt x="0" y="17462"/>
                    </a:cubicBezTo>
                  </a:path>
                </a:pathLst>
              </a:custGeom>
              <a:noFill/>
              <a:ln w="8731">
                <a:solidFill>
                  <a:srgbClr val="C83210"/>
                </a:solidFill>
              </a:ln>
            </p:spPr>
          </p:sp>
          <p:sp>
            <p:nvSpPr>
              <p:cNvPr id="171" name="Freeform 171"/>
              <p:cNvSpPr/>
              <p:nvPr/>
            </p:nvSpPr>
            <p:spPr>
              <a:xfrm>
                <a:off x="7903369" y="2637234"/>
                <a:ext cx="52387" cy="26194"/>
              </a:xfrm>
              <a:custGeom>
                <a:avLst/>
                <a:gdLst/>
                <a:ahLst/>
                <a:cxnLst/>
                <a:rect l="l" t="t" r="r" b="b"/>
                <a:pathLst>
                  <a:path w="52387" h="26194">
                    <a:moveTo>
                      <a:pt x="0" y="26194"/>
                    </a:moveTo>
                    <a:lnTo>
                      <a:pt x="0" y="17462"/>
                    </a:lnTo>
                    <a:cubicBezTo>
                      <a:pt x="0" y="7818"/>
                      <a:pt x="7818" y="0"/>
                      <a:pt x="17462" y="0"/>
                    </a:cubicBezTo>
                    <a:lnTo>
                      <a:pt x="34925" y="0"/>
                    </a:lnTo>
                    <a:cubicBezTo>
                      <a:pt x="44569" y="0"/>
                      <a:pt x="52387" y="7818"/>
                      <a:pt x="52387" y="17462"/>
                    </a:cubicBezTo>
                    <a:lnTo>
                      <a:pt x="52387" y="26194"/>
                    </a:lnTo>
                  </a:path>
                </a:pathLst>
              </a:custGeom>
              <a:noFill/>
              <a:ln w="8731">
                <a:solidFill>
                  <a:srgbClr val="C83210"/>
                </a:solidFill>
              </a:ln>
            </p:spPr>
          </p:sp>
        </p:grpSp>
        <p:sp>
          <p:nvSpPr>
            <p:cNvPr id="173" name="TextBox 173"/>
            <p:cNvSpPr txBox="1"/>
            <p:nvPr/>
          </p:nvSpPr>
          <p:spPr>
            <a:xfrm>
              <a:off x="8005762" y="2594324"/>
              <a:ext cx="379887"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1V1沟通　</a:t>
              </a:r>
            </a:p>
          </p:txBody>
        </p:sp>
        <p:sp>
          <p:nvSpPr>
            <p:cNvPr id="174" name="TextBox 174"/>
            <p:cNvSpPr txBox="1"/>
            <p:nvPr/>
          </p:nvSpPr>
          <p:spPr>
            <a:xfrm>
              <a:off x="1313370" y="2902982"/>
              <a:ext cx="4403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发送欢迎语</a:t>
              </a:r>
            </a:p>
          </p:txBody>
        </p:sp>
        <p:sp>
          <p:nvSpPr>
            <p:cNvPr id="175" name="TextBox 175"/>
            <p:cNvSpPr txBox="1"/>
            <p:nvPr/>
          </p:nvSpPr>
          <p:spPr>
            <a:xfrm>
              <a:off x="1270292" y="3055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介绍服务内容</a:t>
              </a:r>
            </a:p>
          </p:txBody>
        </p:sp>
        <p:sp>
          <p:nvSpPr>
            <p:cNvPr id="176" name="TextBox 176"/>
            <p:cNvSpPr txBox="1"/>
            <p:nvPr/>
          </p:nvSpPr>
          <p:spPr>
            <a:xfrm>
              <a:off x="1270292" y="32077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递送完成认证</a:t>
              </a:r>
            </a:p>
          </p:txBody>
        </p:sp>
        <p:sp>
          <p:nvSpPr>
            <p:cNvPr id="177" name="TextBox 177"/>
            <p:cNvSpPr txBox="1"/>
            <p:nvPr/>
          </p:nvSpPr>
          <p:spPr>
            <a:xfrm>
              <a:off x="2584742" y="29029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跟进认证进度</a:t>
              </a:r>
            </a:p>
          </p:txBody>
        </p:sp>
        <p:sp>
          <p:nvSpPr>
            <p:cNvPr id="178" name="TextBox 178"/>
            <p:cNvSpPr txBox="1"/>
            <p:nvPr/>
          </p:nvSpPr>
          <p:spPr>
            <a:xfrm>
              <a:off x="2584742" y="3055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完善标签信息</a:t>
              </a:r>
            </a:p>
          </p:txBody>
        </p:sp>
        <p:sp>
          <p:nvSpPr>
            <p:cNvPr id="179" name="TextBox 179"/>
            <p:cNvSpPr txBox="1"/>
            <p:nvPr/>
          </p:nvSpPr>
          <p:spPr>
            <a:xfrm>
              <a:off x="2584742" y="32077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发送权益指南</a:t>
              </a:r>
            </a:p>
          </p:txBody>
        </p:sp>
        <p:sp>
          <p:nvSpPr>
            <p:cNvPr id="180" name="TextBox 180"/>
            <p:cNvSpPr txBox="1"/>
            <p:nvPr/>
          </p:nvSpPr>
          <p:spPr>
            <a:xfrm>
              <a:off x="3726878" y="2902982"/>
              <a:ext cx="87109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根据兴趣标签推荐内容</a:t>
              </a:r>
            </a:p>
          </p:txBody>
        </p:sp>
        <p:sp>
          <p:nvSpPr>
            <p:cNvPr id="181" name="TextBox 181"/>
            <p:cNvSpPr txBox="1"/>
            <p:nvPr/>
          </p:nvSpPr>
          <p:spPr>
            <a:xfrm>
              <a:off x="3899192" y="3055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引导参与活动</a:t>
              </a:r>
            </a:p>
          </p:txBody>
        </p:sp>
        <p:sp>
          <p:nvSpPr>
            <p:cNvPr id="182" name="TextBox 182"/>
            <p:cNvSpPr txBox="1"/>
            <p:nvPr/>
          </p:nvSpPr>
          <p:spPr>
            <a:xfrm>
              <a:off x="3899192" y="32077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及时回复互动</a:t>
              </a:r>
            </a:p>
          </p:txBody>
        </p:sp>
        <p:sp>
          <p:nvSpPr>
            <p:cNvPr id="183" name="TextBox 183"/>
            <p:cNvSpPr txBox="1"/>
            <p:nvPr/>
          </p:nvSpPr>
          <p:spPr>
            <a:xfrm>
              <a:off x="5213642" y="29029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定期推送内容</a:t>
              </a:r>
            </a:p>
          </p:txBody>
        </p:sp>
        <p:sp>
          <p:nvSpPr>
            <p:cNvPr id="184" name="TextBox 184"/>
            <p:cNvSpPr txBox="1"/>
            <p:nvPr/>
          </p:nvSpPr>
          <p:spPr>
            <a:xfrm>
              <a:off x="5189949" y="3055382"/>
              <a:ext cx="5738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邀约活动/直播</a:t>
              </a:r>
            </a:p>
          </p:txBody>
        </p:sp>
        <p:sp>
          <p:nvSpPr>
            <p:cNvPr id="185" name="TextBox 185"/>
            <p:cNvSpPr txBox="1"/>
            <p:nvPr/>
          </p:nvSpPr>
          <p:spPr>
            <a:xfrm>
              <a:off x="5170564" y="3207782"/>
              <a:ext cx="61262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跟进需求并记录</a:t>
              </a:r>
            </a:p>
          </p:txBody>
        </p:sp>
        <p:sp>
          <p:nvSpPr>
            <p:cNvPr id="186" name="TextBox 186"/>
            <p:cNvSpPr txBox="1"/>
            <p:nvPr/>
          </p:nvSpPr>
          <p:spPr>
            <a:xfrm>
              <a:off x="6528092" y="29029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提供持仓诊断</a:t>
              </a:r>
            </a:p>
          </p:txBody>
        </p:sp>
        <p:sp>
          <p:nvSpPr>
            <p:cNvPr id="187" name="TextBox 187"/>
            <p:cNvSpPr txBox="1"/>
            <p:nvPr/>
          </p:nvSpPr>
          <p:spPr>
            <a:xfrm>
              <a:off x="6528092" y="3055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推荐适配产品</a:t>
              </a:r>
            </a:p>
          </p:txBody>
        </p:sp>
        <p:sp>
          <p:nvSpPr>
            <p:cNvPr id="188" name="TextBox 188"/>
            <p:cNvSpPr txBox="1"/>
            <p:nvPr/>
          </p:nvSpPr>
          <p:spPr>
            <a:xfrm>
              <a:off x="6485014" y="3207782"/>
              <a:ext cx="61262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定期回访与关怀</a:t>
              </a:r>
            </a:p>
          </p:txBody>
        </p:sp>
        <p:sp>
          <p:nvSpPr>
            <p:cNvPr id="189" name="TextBox 189"/>
            <p:cNvSpPr txBox="1"/>
            <p:nvPr/>
          </p:nvSpPr>
          <p:spPr>
            <a:xfrm>
              <a:off x="7842542" y="29029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分析沉睡原因</a:t>
              </a:r>
            </a:p>
          </p:txBody>
        </p:sp>
        <p:sp>
          <p:nvSpPr>
            <p:cNvPr id="190" name="TextBox 190"/>
            <p:cNvSpPr txBox="1"/>
            <p:nvPr/>
          </p:nvSpPr>
          <p:spPr>
            <a:xfrm>
              <a:off x="7842542" y="3055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发送唤醒内容</a:t>
              </a:r>
            </a:p>
          </p:txBody>
        </p:sp>
        <p:sp>
          <p:nvSpPr>
            <p:cNvPr id="191" name="TextBox 191"/>
            <p:cNvSpPr txBox="1"/>
            <p:nvPr/>
          </p:nvSpPr>
          <p:spPr>
            <a:xfrm>
              <a:off x="7799464" y="3207782"/>
              <a:ext cx="61262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必要时电话跟进</a:t>
              </a:r>
            </a:p>
          </p:txBody>
        </p:sp>
        <p:sp>
          <p:nvSpPr>
            <p:cNvPr id="192" name="TextBox 192"/>
            <p:cNvSpPr txBox="1"/>
            <p:nvPr/>
          </p:nvSpPr>
          <p:spPr>
            <a:xfrm>
              <a:off x="1299908" y="3584734"/>
              <a:ext cx="467233" cy="133350"/>
            </a:xfrm>
            <a:prstGeom prst="rect">
              <a:avLst/>
            </a:prstGeom>
            <a:noFill/>
            <a:ln>
              <a:noFill/>
            </a:ln>
          </p:spPr>
          <p:txBody>
            <a:bodyPr wrap="none" lIns="0" tIns="0" rIns="0" bIns="0" anchor="t" anchorCtr="0">
              <a:spAutoFit/>
            </a:bodyPr>
            <a:lstStyle/>
            <a:p>
              <a:pPr algn="ctr"/>
              <a:r>
                <a:rPr lang="zh-CN" sz="680" b="1" dirty="0">
                  <a:solidFill>
                    <a:srgbClr val="808080"/>
                  </a:solidFill>
                  <a:latin typeface="+mn-lt"/>
                  <a:ea typeface="+mn-ea"/>
                  <a:cs typeface="+mn-cs"/>
                </a:rPr>
                <a:t>加友成功率</a:t>
              </a:r>
            </a:p>
          </p:txBody>
        </p:sp>
        <p:sp>
          <p:nvSpPr>
            <p:cNvPr id="193" name="TextBox 193"/>
            <p:cNvSpPr txBox="1"/>
            <p:nvPr/>
          </p:nvSpPr>
          <p:spPr>
            <a:xfrm>
              <a:off x="1374262" y="3750945"/>
              <a:ext cx="318526"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Arial"/>
                  <a:ea typeface="Arial"/>
                  <a:cs typeface="Arial"/>
                </a:rPr>
                <a:t>≥95%</a:t>
              </a:r>
            </a:p>
          </p:txBody>
        </p:sp>
        <p:sp>
          <p:nvSpPr>
            <p:cNvPr id="194" name="TextBox 194"/>
            <p:cNvSpPr txBox="1"/>
            <p:nvPr/>
          </p:nvSpPr>
          <p:spPr>
            <a:xfrm>
              <a:off x="2614358" y="3584734"/>
              <a:ext cx="467233" cy="133350"/>
            </a:xfrm>
            <a:prstGeom prst="rect">
              <a:avLst/>
            </a:prstGeom>
            <a:noFill/>
            <a:ln>
              <a:noFill/>
            </a:ln>
          </p:spPr>
          <p:txBody>
            <a:bodyPr wrap="none" lIns="0" tIns="0" rIns="0" bIns="0" anchor="t" anchorCtr="0">
              <a:spAutoFit/>
            </a:bodyPr>
            <a:lstStyle/>
            <a:p>
              <a:pPr algn="ctr"/>
              <a:r>
                <a:rPr lang="zh-CN" sz="680" b="1" dirty="0">
                  <a:solidFill>
                    <a:srgbClr val="808080"/>
                  </a:solidFill>
                  <a:latin typeface="+mn-lt"/>
                  <a:ea typeface="+mn-ea"/>
                  <a:cs typeface="+mn-cs"/>
                </a:rPr>
                <a:t>认证完成率</a:t>
              </a:r>
            </a:p>
          </p:txBody>
        </p:sp>
        <p:sp>
          <p:nvSpPr>
            <p:cNvPr id="195" name="TextBox 195"/>
            <p:cNvSpPr txBox="1"/>
            <p:nvPr/>
          </p:nvSpPr>
          <p:spPr>
            <a:xfrm>
              <a:off x="2688712" y="3750945"/>
              <a:ext cx="318526"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Arial"/>
                  <a:ea typeface="Arial"/>
                  <a:cs typeface="Arial"/>
                </a:rPr>
                <a:t>≥70%</a:t>
              </a:r>
            </a:p>
          </p:txBody>
        </p:sp>
        <p:sp>
          <p:nvSpPr>
            <p:cNvPr id="196" name="TextBox 196"/>
            <p:cNvSpPr txBox="1"/>
            <p:nvPr/>
          </p:nvSpPr>
          <p:spPr>
            <a:xfrm>
              <a:off x="3928808" y="3584734"/>
              <a:ext cx="467233" cy="133350"/>
            </a:xfrm>
            <a:prstGeom prst="rect">
              <a:avLst/>
            </a:prstGeom>
            <a:noFill/>
            <a:ln>
              <a:noFill/>
            </a:ln>
          </p:spPr>
          <p:txBody>
            <a:bodyPr wrap="none" lIns="0" tIns="0" rIns="0" bIns="0" anchor="t" anchorCtr="0">
              <a:spAutoFit/>
            </a:bodyPr>
            <a:lstStyle/>
            <a:p>
              <a:pPr algn="ctr"/>
              <a:r>
                <a:rPr lang="zh-CN" sz="680" b="1" dirty="0">
                  <a:solidFill>
                    <a:srgbClr val="808080"/>
                  </a:solidFill>
                  <a:latin typeface="+mn-lt"/>
                  <a:ea typeface="+mn-ea"/>
                  <a:cs typeface="+mn-cs"/>
                </a:rPr>
                <a:t>首次互动率</a:t>
              </a:r>
            </a:p>
          </p:txBody>
        </p:sp>
        <p:sp>
          <p:nvSpPr>
            <p:cNvPr id="197" name="TextBox 197"/>
            <p:cNvSpPr txBox="1"/>
            <p:nvPr/>
          </p:nvSpPr>
          <p:spPr>
            <a:xfrm>
              <a:off x="4003162" y="3750945"/>
              <a:ext cx="318526"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Arial"/>
                  <a:ea typeface="Arial"/>
                  <a:cs typeface="Arial"/>
                </a:rPr>
                <a:t>≥50%</a:t>
              </a:r>
            </a:p>
          </p:txBody>
        </p:sp>
        <p:sp>
          <p:nvSpPr>
            <p:cNvPr id="198" name="TextBox 198"/>
            <p:cNvSpPr txBox="1"/>
            <p:nvPr/>
          </p:nvSpPr>
          <p:spPr>
            <a:xfrm>
              <a:off x="5243258" y="3584734"/>
              <a:ext cx="467233" cy="133350"/>
            </a:xfrm>
            <a:prstGeom prst="rect">
              <a:avLst/>
            </a:prstGeom>
            <a:noFill/>
            <a:ln>
              <a:noFill/>
            </a:ln>
          </p:spPr>
          <p:txBody>
            <a:bodyPr wrap="none" lIns="0" tIns="0" rIns="0" bIns="0" anchor="t" anchorCtr="0">
              <a:spAutoFit/>
            </a:bodyPr>
            <a:lstStyle/>
            <a:p>
              <a:pPr algn="ctr"/>
              <a:r>
                <a:rPr lang="zh-CN" sz="680" b="1" dirty="0">
                  <a:solidFill>
                    <a:srgbClr val="808080"/>
                  </a:solidFill>
                  <a:latin typeface="+mn-lt"/>
                  <a:ea typeface="+mn-ea"/>
                  <a:cs typeface="+mn-cs"/>
                </a:rPr>
                <a:t>月度活跃率</a:t>
              </a:r>
            </a:p>
          </p:txBody>
        </p:sp>
        <p:sp>
          <p:nvSpPr>
            <p:cNvPr id="199" name="TextBox 199"/>
            <p:cNvSpPr txBox="1"/>
            <p:nvPr/>
          </p:nvSpPr>
          <p:spPr>
            <a:xfrm>
              <a:off x="5317612" y="3750945"/>
              <a:ext cx="318526"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Arial"/>
                  <a:ea typeface="Arial"/>
                  <a:cs typeface="Arial"/>
                </a:rPr>
                <a:t>≥40%</a:t>
              </a:r>
            </a:p>
          </p:txBody>
        </p:sp>
        <p:sp>
          <p:nvSpPr>
            <p:cNvPr id="200" name="TextBox 200"/>
            <p:cNvSpPr txBox="1"/>
            <p:nvPr/>
          </p:nvSpPr>
          <p:spPr>
            <a:xfrm>
              <a:off x="6466167" y="3584734"/>
              <a:ext cx="650316" cy="133350"/>
            </a:xfrm>
            <a:prstGeom prst="rect">
              <a:avLst/>
            </a:prstGeom>
            <a:noFill/>
            <a:ln>
              <a:noFill/>
            </a:ln>
          </p:spPr>
          <p:txBody>
            <a:bodyPr wrap="none" lIns="0" tIns="0" rIns="0" bIns="0" anchor="t" anchorCtr="0">
              <a:spAutoFit/>
            </a:bodyPr>
            <a:lstStyle/>
            <a:p>
              <a:pPr algn="ctr"/>
              <a:r>
                <a:rPr lang="zh-CN" sz="680" b="1" dirty="0">
                  <a:solidFill>
                    <a:srgbClr val="808080"/>
                  </a:solidFill>
                  <a:latin typeface="+mn-lt"/>
                  <a:ea typeface="+mn-ea"/>
                  <a:cs typeface="+mn-cs"/>
                </a:rPr>
                <a:t>交叉销售转化率</a:t>
              </a:r>
            </a:p>
          </p:txBody>
        </p:sp>
        <p:sp>
          <p:nvSpPr>
            <p:cNvPr id="201" name="TextBox 201"/>
            <p:cNvSpPr txBox="1"/>
            <p:nvPr/>
          </p:nvSpPr>
          <p:spPr>
            <a:xfrm>
              <a:off x="6632062" y="3750945"/>
              <a:ext cx="318526"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Arial"/>
                  <a:ea typeface="Arial"/>
                  <a:cs typeface="Arial"/>
                </a:rPr>
                <a:t>≥15%</a:t>
              </a:r>
            </a:p>
          </p:txBody>
        </p:sp>
        <p:sp>
          <p:nvSpPr>
            <p:cNvPr id="202" name="TextBox 202"/>
            <p:cNvSpPr txBox="1"/>
            <p:nvPr/>
          </p:nvSpPr>
          <p:spPr>
            <a:xfrm>
              <a:off x="7872158" y="3584734"/>
              <a:ext cx="467233" cy="133350"/>
            </a:xfrm>
            <a:prstGeom prst="rect">
              <a:avLst/>
            </a:prstGeom>
            <a:noFill/>
            <a:ln>
              <a:noFill/>
            </a:ln>
          </p:spPr>
          <p:txBody>
            <a:bodyPr wrap="none" lIns="0" tIns="0" rIns="0" bIns="0" anchor="t" anchorCtr="0">
              <a:spAutoFit/>
            </a:bodyPr>
            <a:lstStyle/>
            <a:p>
              <a:pPr algn="ctr"/>
              <a:r>
                <a:rPr lang="zh-CN" sz="680" b="1" dirty="0">
                  <a:solidFill>
                    <a:srgbClr val="808080"/>
                  </a:solidFill>
                  <a:latin typeface="+mn-lt"/>
                  <a:ea typeface="+mn-ea"/>
                  <a:cs typeface="+mn-cs"/>
                </a:rPr>
                <a:t>唤醒成功率</a:t>
              </a:r>
            </a:p>
          </p:txBody>
        </p:sp>
        <p:sp>
          <p:nvSpPr>
            <p:cNvPr id="203" name="TextBox 203"/>
            <p:cNvSpPr txBox="1"/>
            <p:nvPr/>
          </p:nvSpPr>
          <p:spPr>
            <a:xfrm>
              <a:off x="7946512" y="3750945"/>
              <a:ext cx="318526" cy="176212"/>
            </a:xfrm>
            <a:prstGeom prst="rect">
              <a:avLst/>
            </a:prstGeom>
            <a:noFill/>
            <a:ln>
              <a:noFill/>
            </a:ln>
          </p:spPr>
          <p:txBody>
            <a:bodyPr wrap="none" lIns="0" tIns="0" rIns="0" bIns="0" anchor="t" anchorCtr="0">
              <a:spAutoFit/>
            </a:bodyPr>
            <a:lstStyle/>
            <a:p>
              <a:pPr algn="ctr"/>
              <a:r>
                <a:rPr lang="zh-CN" sz="900" b="1" dirty="0">
                  <a:solidFill>
                    <a:srgbClr val="C83210"/>
                  </a:solidFill>
                  <a:latin typeface="Arial"/>
                  <a:ea typeface="Arial"/>
                  <a:cs typeface="Arial"/>
                </a:rPr>
                <a:t>≥20%</a:t>
              </a:r>
            </a:p>
          </p:txBody>
        </p:sp>
        <p:sp>
          <p:nvSpPr>
            <p:cNvPr id="204" name="TextBox 204"/>
            <p:cNvSpPr txBox="1"/>
            <p:nvPr/>
          </p:nvSpPr>
          <p:spPr>
            <a:xfrm>
              <a:off x="1124902" y="4145280"/>
              <a:ext cx="817245"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加友成功并发送欢迎语</a:t>
              </a:r>
            </a:p>
          </p:txBody>
        </p:sp>
        <p:sp>
          <p:nvSpPr>
            <p:cNvPr id="205" name="TextBox 205"/>
            <p:cNvSpPr txBox="1"/>
            <p:nvPr/>
          </p:nvSpPr>
          <p:spPr>
            <a:xfrm>
              <a:off x="2600896" y="414528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完成实名认证</a:t>
              </a:r>
            </a:p>
          </p:txBody>
        </p:sp>
        <p:sp>
          <p:nvSpPr>
            <p:cNvPr id="206" name="TextBox 206"/>
            <p:cNvSpPr txBox="1"/>
            <p:nvPr/>
          </p:nvSpPr>
          <p:spPr>
            <a:xfrm>
              <a:off x="2641282" y="4278630"/>
              <a:ext cx="413385"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且标签完善</a:t>
              </a:r>
            </a:p>
          </p:txBody>
        </p:sp>
        <p:sp>
          <p:nvSpPr>
            <p:cNvPr id="207" name="TextBox 207"/>
            <p:cNvSpPr txBox="1"/>
            <p:nvPr/>
          </p:nvSpPr>
          <p:spPr>
            <a:xfrm>
              <a:off x="3790150" y="4145280"/>
              <a:ext cx="744550"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 xml:space="preserve">发生≥1次有效互动　</a:t>
              </a:r>
            </a:p>
          </p:txBody>
        </p:sp>
        <p:sp>
          <p:nvSpPr>
            <p:cNvPr id="208" name="TextBox 208"/>
            <p:cNvSpPr txBox="1"/>
            <p:nvPr/>
          </p:nvSpPr>
          <p:spPr>
            <a:xfrm>
              <a:off x="3687166" y="4278630"/>
              <a:ext cx="950519"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（点击/回复/咨询/预约）</a:t>
              </a:r>
            </a:p>
          </p:txBody>
        </p:sp>
        <p:sp>
          <p:nvSpPr>
            <p:cNvPr id="209" name="TextBox 209"/>
            <p:cNvSpPr txBox="1"/>
            <p:nvPr/>
          </p:nvSpPr>
          <p:spPr>
            <a:xfrm>
              <a:off x="5185372" y="4145280"/>
              <a:ext cx="583006"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 xml:space="preserve">累计互动≥3次　</a:t>
              </a:r>
            </a:p>
          </p:txBody>
        </p:sp>
        <p:sp>
          <p:nvSpPr>
            <p:cNvPr id="210" name="TextBox 210"/>
            <p:cNvSpPr txBox="1"/>
            <p:nvPr/>
          </p:nvSpPr>
          <p:spPr>
            <a:xfrm>
              <a:off x="5189411" y="4278630"/>
              <a:ext cx="574929"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或产生明确需求</a:t>
              </a:r>
            </a:p>
          </p:txBody>
        </p:sp>
        <p:sp>
          <p:nvSpPr>
            <p:cNvPr id="211" name="TextBox 211"/>
            <p:cNvSpPr txBox="1"/>
            <p:nvPr/>
          </p:nvSpPr>
          <p:spPr>
            <a:xfrm>
              <a:off x="6463474" y="4145280"/>
              <a:ext cx="655701"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成功购买另一产品</a:t>
              </a:r>
            </a:p>
          </p:txBody>
        </p:sp>
        <p:sp>
          <p:nvSpPr>
            <p:cNvPr id="212" name="TextBox 212"/>
            <p:cNvSpPr txBox="1"/>
            <p:nvPr/>
          </p:nvSpPr>
          <p:spPr>
            <a:xfrm>
              <a:off x="6584632" y="4278630"/>
              <a:ext cx="413385"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且持续活跃</a:t>
              </a:r>
            </a:p>
          </p:txBody>
        </p:sp>
        <p:sp>
          <p:nvSpPr>
            <p:cNvPr id="213" name="TextBox 213"/>
            <p:cNvSpPr txBox="1"/>
            <p:nvPr/>
          </p:nvSpPr>
          <p:spPr>
            <a:xfrm>
              <a:off x="7814272" y="4145280"/>
              <a:ext cx="583006"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 xml:space="preserve">近30天有互动　</a:t>
              </a:r>
            </a:p>
          </p:txBody>
        </p:sp>
        <p:sp>
          <p:nvSpPr>
            <p:cNvPr id="214" name="TextBox 214"/>
            <p:cNvSpPr txBox="1"/>
            <p:nvPr/>
          </p:nvSpPr>
          <p:spPr>
            <a:xfrm>
              <a:off x="7737538" y="4278630"/>
              <a:ext cx="73647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或重新产生购买意向</a:t>
              </a:r>
            </a:p>
          </p:txBody>
        </p:sp>
        <p:sp>
          <p:nvSpPr>
            <p:cNvPr id="215" name="Line 215"/>
            <p:cNvSpPr/>
            <p:nvPr/>
          </p:nvSpPr>
          <p:spPr>
            <a:xfrm>
              <a:off x="876300" y="1085850"/>
              <a:ext cx="7886700" cy="9525"/>
            </a:xfrm>
            <a:custGeom>
              <a:avLst/>
              <a:gdLst/>
              <a:ahLst/>
              <a:cxnLst/>
              <a:rect l="l" t="t" r="r" b="b"/>
              <a:pathLst>
                <a:path w="7886700" h="9525">
                  <a:moveTo>
                    <a:pt x="0" y="0"/>
                  </a:moveTo>
                  <a:lnTo>
                    <a:pt x="7886700" y="0"/>
                  </a:lnTo>
                </a:path>
              </a:pathLst>
            </a:custGeom>
            <a:noFill/>
            <a:ln w="9525">
              <a:solidFill>
                <a:srgbClr val="B32C0E"/>
              </a:solidFill>
            </a:ln>
          </p:spPr>
        </p:sp>
        <p:sp>
          <p:nvSpPr>
            <p:cNvPr id="216" name="Line 216"/>
            <p:cNvSpPr/>
            <p:nvPr/>
          </p:nvSpPr>
          <p:spPr>
            <a:xfrm>
              <a:off x="876300" y="1581150"/>
              <a:ext cx="7886700" cy="9525"/>
            </a:xfrm>
            <a:custGeom>
              <a:avLst/>
              <a:gdLst/>
              <a:ahLst/>
              <a:cxnLst/>
              <a:rect l="l" t="t" r="r" b="b"/>
              <a:pathLst>
                <a:path w="7886700" h="9525">
                  <a:moveTo>
                    <a:pt x="0" y="0"/>
                  </a:moveTo>
                  <a:lnTo>
                    <a:pt x="7886700" y="0"/>
                  </a:lnTo>
                </a:path>
              </a:pathLst>
            </a:custGeom>
            <a:noFill/>
            <a:ln w="9525">
              <a:solidFill>
                <a:srgbClr val="F1C7CC"/>
              </a:solidFill>
            </a:ln>
          </p:spPr>
        </p:sp>
        <p:sp>
          <p:nvSpPr>
            <p:cNvPr id="217" name="Line 217"/>
            <p:cNvSpPr/>
            <p:nvPr/>
          </p:nvSpPr>
          <p:spPr>
            <a:xfrm>
              <a:off x="876300" y="2266950"/>
              <a:ext cx="7886700" cy="9525"/>
            </a:xfrm>
            <a:custGeom>
              <a:avLst/>
              <a:gdLst/>
              <a:ahLst/>
              <a:cxnLst/>
              <a:rect l="l" t="t" r="r" b="b"/>
              <a:pathLst>
                <a:path w="7886700" h="9525">
                  <a:moveTo>
                    <a:pt x="0" y="0"/>
                  </a:moveTo>
                  <a:lnTo>
                    <a:pt x="7886700" y="0"/>
                  </a:lnTo>
                </a:path>
              </a:pathLst>
            </a:custGeom>
            <a:noFill/>
            <a:ln w="9525">
              <a:solidFill>
                <a:srgbClr val="F1C7CC"/>
              </a:solidFill>
            </a:ln>
          </p:spPr>
        </p:sp>
        <p:sp>
          <p:nvSpPr>
            <p:cNvPr id="218" name="Line 218"/>
            <p:cNvSpPr/>
            <p:nvPr/>
          </p:nvSpPr>
          <p:spPr>
            <a:xfrm>
              <a:off x="876300" y="2743200"/>
              <a:ext cx="7886700" cy="9525"/>
            </a:xfrm>
            <a:custGeom>
              <a:avLst/>
              <a:gdLst/>
              <a:ahLst/>
              <a:cxnLst/>
              <a:rect l="l" t="t" r="r" b="b"/>
              <a:pathLst>
                <a:path w="7886700" h="9525">
                  <a:moveTo>
                    <a:pt x="0" y="0"/>
                  </a:moveTo>
                  <a:lnTo>
                    <a:pt x="7886700" y="0"/>
                  </a:lnTo>
                </a:path>
              </a:pathLst>
            </a:custGeom>
            <a:noFill/>
            <a:ln w="9525">
              <a:solidFill>
                <a:srgbClr val="F1C7CC"/>
              </a:solidFill>
            </a:ln>
          </p:spPr>
        </p:sp>
        <p:sp>
          <p:nvSpPr>
            <p:cNvPr id="219" name="Line 219"/>
            <p:cNvSpPr/>
            <p:nvPr/>
          </p:nvSpPr>
          <p:spPr>
            <a:xfrm>
              <a:off x="876300" y="3429000"/>
              <a:ext cx="7886700" cy="9525"/>
            </a:xfrm>
            <a:custGeom>
              <a:avLst/>
              <a:gdLst/>
              <a:ahLst/>
              <a:cxnLst/>
              <a:rect l="l" t="t" r="r" b="b"/>
              <a:pathLst>
                <a:path w="7886700" h="9525">
                  <a:moveTo>
                    <a:pt x="0" y="0"/>
                  </a:moveTo>
                  <a:lnTo>
                    <a:pt x="7886700" y="0"/>
                  </a:lnTo>
                </a:path>
              </a:pathLst>
            </a:custGeom>
            <a:noFill/>
            <a:ln w="9525">
              <a:solidFill>
                <a:srgbClr val="F1C7CC"/>
              </a:solidFill>
            </a:ln>
          </p:spPr>
        </p:sp>
        <p:sp>
          <p:nvSpPr>
            <p:cNvPr id="220" name="Line 220"/>
            <p:cNvSpPr/>
            <p:nvPr/>
          </p:nvSpPr>
          <p:spPr>
            <a:xfrm>
              <a:off x="876300" y="3962400"/>
              <a:ext cx="7886700" cy="9525"/>
            </a:xfrm>
            <a:custGeom>
              <a:avLst/>
              <a:gdLst/>
              <a:ahLst/>
              <a:cxnLst/>
              <a:rect l="l" t="t" r="r" b="b"/>
              <a:pathLst>
                <a:path w="7886700" h="9525">
                  <a:moveTo>
                    <a:pt x="0" y="0"/>
                  </a:moveTo>
                  <a:lnTo>
                    <a:pt x="7886700" y="0"/>
                  </a:lnTo>
                </a:path>
              </a:pathLst>
            </a:custGeom>
            <a:noFill/>
            <a:ln w="9525">
              <a:solidFill>
                <a:srgbClr val="F1C7CC"/>
              </a:solidFill>
            </a:ln>
          </p:spPr>
        </p:sp>
        <p:sp>
          <p:nvSpPr>
            <p:cNvPr id="221" name="Line 221"/>
            <p:cNvSpPr/>
            <p:nvPr/>
          </p:nvSpPr>
          <p:spPr>
            <a:xfrm>
              <a:off x="876300" y="4495800"/>
              <a:ext cx="7886700" cy="9525"/>
            </a:xfrm>
            <a:custGeom>
              <a:avLst/>
              <a:gdLst/>
              <a:ahLst/>
              <a:cxnLst/>
              <a:rect l="l" t="t" r="r" b="b"/>
              <a:pathLst>
                <a:path w="7886700" h="9525">
                  <a:moveTo>
                    <a:pt x="0" y="0"/>
                  </a:moveTo>
                  <a:lnTo>
                    <a:pt x="7886700" y="0"/>
                  </a:lnTo>
                </a:path>
              </a:pathLst>
            </a:custGeom>
            <a:noFill/>
            <a:ln w="9525">
              <a:solidFill>
                <a:srgbClr val="F1C7CC"/>
              </a:solidFill>
            </a:ln>
          </p:spPr>
        </p:sp>
        <p:sp>
          <p:nvSpPr>
            <p:cNvPr id="222" name="Line 222"/>
            <p:cNvSpPr/>
            <p:nvPr/>
          </p:nvSpPr>
          <p:spPr>
            <a:xfrm>
              <a:off x="876300" y="628650"/>
              <a:ext cx="9525" cy="3867150"/>
            </a:xfrm>
            <a:custGeom>
              <a:avLst/>
              <a:gdLst/>
              <a:ahLst/>
              <a:cxnLst/>
              <a:rect l="l" t="t" r="r" b="b"/>
              <a:pathLst>
                <a:path w="9525" h="3867150">
                  <a:moveTo>
                    <a:pt x="0" y="0"/>
                  </a:moveTo>
                  <a:lnTo>
                    <a:pt x="0" y="3867150"/>
                  </a:lnTo>
                </a:path>
              </a:pathLst>
            </a:custGeom>
            <a:noFill/>
            <a:ln w="9525">
              <a:solidFill>
                <a:srgbClr val="F1C7CC"/>
              </a:solidFill>
            </a:ln>
          </p:spPr>
        </p:sp>
        <p:sp>
          <p:nvSpPr>
            <p:cNvPr id="223" name="Line 223"/>
            <p:cNvSpPr/>
            <p:nvPr/>
          </p:nvSpPr>
          <p:spPr>
            <a:xfrm>
              <a:off x="2190750" y="628650"/>
              <a:ext cx="9525" cy="3867150"/>
            </a:xfrm>
            <a:custGeom>
              <a:avLst/>
              <a:gdLst/>
              <a:ahLst/>
              <a:cxnLst/>
              <a:rect l="l" t="t" r="r" b="b"/>
              <a:pathLst>
                <a:path w="9525" h="3867150">
                  <a:moveTo>
                    <a:pt x="0" y="0"/>
                  </a:moveTo>
                  <a:lnTo>
                    <a:pt x="0" y="3867150"/>
                  </a:lnTo>
                </a:path>
              </a:pathLst>
            </a:custGeom>
            <a:noFill/>
            <a:ln w="9525">
              <a:solidFill>
                <a:srgbClr val="F1C7CC"/>
              </a:solidFill>
            </a:ln>
          </p:spPr>
        </p:sp>
        <p:sp>
          <p:nvSpPr>
            <p:cNvPr id="224" name="Line 224"/>
            <p:cNvSpPr/>
            <p:nvPr/>
          </p:nvSpPr>
          <p:spPr>
            <a:xfrm>
              <a:off x="3505200" y="628650"/>
              <a:ext cx="9525" cy="3867150"/>
            </a:xfrm>
            <a:custGeom>
              <a:avLst/>
              <a:gdLst/>
              <a:ahLst/>
              <a:cxnLst/>
              <a:rect l="l" t="t" r="r" b="b"/>
              <a:pathLst>
                <a:path w="9525" h="3867150">
                  <a:moveTo>
                    <a:pt x="0" y="0"/>
                  </a:moveTo>
                  <a:lnTo>
                    <a:pt x="0" y="3867150"/>
                  </a:lnTo>
                </a:path>
              </a:pathLst>
            </a:custGeom>
            <a:noFill/>
            <a:ln w="9525">
              <a:solidFill>
                <a:srgbClr val="F1C7CC"/>
              </a:solidFill>
            </a:ln>
          </p:spPr>
        </p:sp>
        <p:sp>
          <p:nvSpPr>
            <p:cNvPr id="225" name="Line 225"/>
            <p:cNvSpPr/>
            <p:nvPr/>
          </p:nvSpPr>
          <p:spPr>
            <a:xfrm>
              <a:off x="4819650" y="628650"/>
              <a:ext cx="9525" cy="3867150"/>
            </a:xfrm>
            <a:custGeom>
              <a:avLst/>
              <a:gdLst/>
              <a:ahLst/>
              <a:cxnLst/>
              <a:rect l="l" t="t" r="r" b="b"/>
              <a:pathLst>
                <a:path w="9525" h="3867150">
                  <a:moveTo>
                    <a:pt x="0" y="0"/>
                  </a:moveTo>
                  <a:lnTo>
                    <a:pt x="0" y="3867150"/>
                  </a:lnTo>
                </a:path>
              </a:pathLst>
            </a:custGeom>
            <a:noFill/>
            <a:ln w="9525">
              <a:solidFill>
                <a:srgbClr val="F1C7CC"/>
              </a:solidFill>
            </a:ln>
          </p:spPr>
        </p:sp>
        <p:sp>
          <p:nvSpPr>
            <p:cNvPr id="226" name="Line 226"/>
            <p:cNvSpPr/>
            <p:nvPr/>
          </p:nvSpPr>
          <p:spPr>
            <a:xfrm>
              <a:off x="6134100" y="628650"/>
              <a:ext cx="9525" cy="3867150"/>
            </a:xfrm>
            <a:custGeom>
              <a:avLst/>
              <a:gdLst/>
              <a:ahLst/>
              <a:cxnLst/>
              <a:rect l="l" t="t" r="r" b="b"/>
              <a:pathLst>
                <a:path w="9525" h="3867150">
                  <a:moveTo>
                    <a:pt x="0" y="0"/>
                  </a:moveTo>
                  <a:lnTo>
                    <a:pt x="0" y="3867150"/>
                  </a:lnTo>
                </a:path>
              </a:pathLst>
            </a:custGeom>
            <a:noFill/>
            <a:ln w="9525">
              <a:solidFill>
                <a:srgbClr val="F1C7CC"/>
              </a:solidFill>
            </a:ln>
          </p:spPr>
        </p:sp>
        <p:sp>
          <p:nvSpPr>
            <p:cNvPr id="227" name="Line 227"/>
            <p:cNvSpPr/>
            <p:nvPr/>
          </p:nvSpPr>
          <p:spPr>
            <a:xfrm>
              <a:off x="7448550" y="628650"/>
              <a:ext cx="9525" cy="3867150"/>
            </a:xfrm>
            <a:custGeom>
              <a:avLst/>
              <a:gdLst/>
              <a:ahLst/>
              <a:cxnLst/>
              <a:rect l="l" t="t" r="r" b="b"/>
              <a:pathLst>
                <a:path w="9525" h="3867150">
                  <a:moveTo>
                    <a:pt x="0" y="0"/>
                  </a:moveTo>
                  <a:lnTo>
                    <a:pt x="0" y="3867150"/>
                  </a:lnTo>
                </a:path>
              </a:pathLst>
            </a:custGeom>
            <a:noFill/>
            <a:ln w="9525">
              <a:solidFill>
                <a:srgbClr val="F1C7CC"/>
              </a:solidFill>
            </a:ln>
          </p:spPr>
        </p:sp>
      </p:grpSp>
      <p:grpSp>
        <p:nvGrpSpPr>
          <p:cNvPr id="315" name="trigger-band"/>
          <p:cNvGrpSpPr/>
          <p:nvPr/>
        </p:nvGrpSpPr>
        <p:grpSpPr>
          <a:xfrm>
            <a:off x="171450" y="4648200"/>
            <a:ext cx="8467725" cy="2019300"/>
            <a:chOff x="171450" y="4648200"/>
            <a:chExt cx="8467725" cy="2019300"/>
          </a:xfrm>
        </p:grpSpPr>
        <p:sp>
          <p:nvSpPr>
            <p:cNvPr id="229" name="Rectangle 229"/>
            <p:cNvSpPr/>
            <p:nvPr/>
          </p:nvSpPr>
          <p:spPr>
            <a:xfrm>
              <a:off x="171450" y="4648200"/>
              <a:ext cx="38100" cy="152400"/>
            </a:xfrm>
            <a:prstGeom prst="rect">
              <a:avLst/>
            </a:prstGeom>
            <a:solidFill>
              <a:srgbClr val="C83210"/>
            </a:solidFill>
            <a:ln>
              <a:noFill/>
            </a:ln>
          </p:spPr>
        </p:sp>
        <p:sp>
          <p:nvSpPr>
            <p:cNvPr id="230" name="TextBox 230"/>
            <p:cNvSpPr txBox="1"/>
            <p:nvPr/>
          </p:nvSpPr>
          <p:spPr>
            <a:xfrm>
              <a:off x="280797" y="4666774"/>
              <a:ext cx="2071359"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客户行为触发</a:t>
              </a:r>
              <a:r>
                <a:rPr lang="zh-CN" sz="750" b="1" dirty="0">
                  <a:solidFill>
                    <a:srgbClr val="808080"/>
                  </a:solidFill>
                  <a:latin typeface="+mn-lt"/>
                  <a:ea typeface="+mn-ea"/>
                  <a:cs typeface="+mn-cs"/>
                </a:rPr>
                <a:t>（实时识别·动态调整旅程）</a:t>
              </a:r>
            </a:p>
          </p:txBody>
        </p:sp>
        <p:sp>
          <p:nvSpPr>
            <p:cNvPr id="231" name="Freeform 231"/>
            <p:cNvSpPr/>
            <p:nvPr/>
          </p:nvSpPr>
          <p:spPr>
            <a:xfrm>
              <a:off x="428625" y="4924425"/>
              <a:ext cx="114282" cy="114282"/>
            </a:xfrm>
            <a:custGeom>
              <a:avLst/>
              <a:gdLst/>
              <a:ahLst/>
              <a:cxnLst/>
              <a:rect l="l" t="t" r="r" b="b"/>
              <a:pathLst>
                <a:path w="114282" h="114282">
                  <a:moveTo>
                    <a:pt x="27889" y="96891"/>
                  </a:moveTo>
                  <a:cubicBezTo>
                    <a:pt x="28667" y="100386"/>
                    <a:pt x="31536" y="103029"/>
                    <a:pt x="35083" y="103520"/>
                  </a:cubicBezTo>
                  <a:cubicBezTo>
                    <a:pt x="38630" y="104010"/>
                    <a:pt x="42108" y="102244"/>
                    <a:pt x="43805" y="99091"/>
                  </a:cubicBezTo>
                  <a:lnTo>
                    <a:pt x="58736" y="76995"/>
                  </a:lnTo>
                  <a:lnTo>
                    <a:pt x="93790" y="112050"/>
                  </a:lnTo>
                  <a:cubicBezTo>
                    <a:pt x="95220" y="113479"/>
                    <a:pt x="97159" y="114282"/>
                    <a:pt x="99180" y="114282"/>
                  </a:cubicBezTo>
                  <a:cubicBezTo>
                    <a:pt x="101202" y="114282"/>
                    <a:pt x="103141" y="113479"/>
                    <a:pt x="104570" y="112050"/>
                  </a:cubicBezTo>
                  <a:lnTo>
                    <a:pt x="112050" y="104570"/>
                  </a:lnTo>
                  <a:cubicBezTo>
                    <a:pt x="113479" y="103141"/>
                    <a:pt x="114282" y="101202"/>
                    <a:pt x="114282" y="99180"/>
                  </a:cubicBezTo>
                  <a:cubicBezTo>
                    <a:pt x="114282" y="97159"/>
                    <a:pt x="113479" y="95220"/>
                    <a:pt x="112050" y="93790"/>
                  </a:cubicBezTo>
                  <a:lnTo>
                    <a:pt x="76995" y="58736"/>
                  </a:lnTo>
                  <a:lnTo>
                    <a:pt x="99234" y="43805"/>
                  </a:lnTo>
                  <a:cubicBezTo>
                    <a:pt x="102387" y="42107"/>
                    <a:pt x="104152" y="38628"/>
                    <a:pt x="103660" y="35080"/>
                  </a:cubicBezTo>
                  <a:cubicBezTo>
                    <a:pt x="103168" y="31533"/>
                    <a:pt x="100523" y="28665"/>
                    <a:pt x="97026" y="27889"/>
                  </a:cubicBezTo>
                  <a:lnTo>
                    <a:pt x="0" y="0"/>
                  </a:lnTo>
                  <a:lnTo>
                    <a:pt x="27889" y="96891"/>
                  </a:lnTo>
                </a:path>
              </a:pathLst>
            </a:custGeom>
            <a:noFill/>
            <a:ln w="14288">
              <a:solidFill>
                <a:srgbClr val="C83210"/>
              </a:solidFill>
            </a:ln>
          </p:spPr>
        </p:sp>
        <p:sp>
          <p:nvSpPr>
            <p:cNvPr id="232" name="TextBox 232"/>
            <p:cNvSpPr txBox="1"/>
            <p:nvPr/>
          </p:nvSpPr>
          <p:spPr>
            <a:xfrm>
              <a:off x="623888" y="4944189"/>
              <a:ext cx="222225"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点击</a:t>
              </a:r>
            </a:p>
          </p:txBody>
        </p:sp>
        <p:sp>
          <p:nvSpPr>
            <p:cNvPr id="233" name="TextBox 233"/>
            <p:cNvSpPr txBox="1"/>
            <p:nvPr/>
          </p:nvSpPr>
          <p:spPr>
            <a:xfrm>
              <a:off x="433273" y="5193030"/>
              <a:ext cx="619354"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 xml:space="preserve">点击图文/链接　</a:t>
              </a:r>
            </a:p>
          </p:txBody>
        </p:sp>
        <p:sp>
          <p:nvSpPr>
            <p:cNvPr id="234" name="TextBox 234"/>
            <p:cNvSpPr txBox="1"/>
            <p:nvPr/>
          </p:nvSpPr>
          <p:spPr>
            <a:xfrm>
              <a:off x="495872" y="532638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浏览产品页面</a:t>
              </a:r>
            </a:p>
          </p:txBody>
        </p:sp>
        <p:sp>
          <p:nvSpPr>
            <p:cNvPr id="235" name="TextBox 235"/>
            <p:cNvSpPr txBox="1"/>
            <p:nvPr/>
          </p:nvSpPr>
          <p:spPr>
            <a:xfrm>
              <a:off x="495872" y="545973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参与活动报名</a:t>
              </a:r>
            </a:p>
          </p:txBody>
        </p:sp>
        <p:sp>
          <p:nvSpPr>
            <p:cNvPr id="236" name="Freeform 236"/>
            <p:cNvSpPr/>
            <p:nvPr/>
          </p:nvSpPr>
          <p:spPr>
            <a:xfrm>
              <a:off x="1652416" y="4918889"/>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C83210"/>
              </a:solidFill>
            </a:ln>
          </p:spPr>
        </p:sp>
        <p:sp>
          <p:nvSpPr>
            <p:cNvPr id="237" name="TextBox 237"/>
            <p:cNvSpPr txBox="1"/>
            <p:nvPr/>
          </p:nvSpPr>
          <p:spPr>
            <a:xfrm>
              <a:off x="1862138" y="4944189"/>
              <a:ext cx="222225"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回复</a:t>
              </a:r>
            </a:p>
          </p:txBody>
        </p:sp>
        <p:sp>
          <p:nvSpPr>
            <p:cNvPr id="238" name="TextBox 238"/>
            <p:cNvSpPr txBox="1"/>
            <p:nvPr/>
          </p:nvSpPr>
          <p:spPr>
            <a:xfrm>
              <a:off x="1814894" y="519303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回复消息</a:t>
              </a:r>
            </a:p>
          </p:txBody>
        </p:sp>
        <p:sp>
          <p:nvSpPr>
            <p:cNvPr id="239" name="TextBox 239"/>
            <p:cNvSpPr txBox="1"/>
            <p:nvPr/>
          </p:nvSpPr>
          <p:spPr>
            <a:xfrm>
              <a:off x="1734122" y="532638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参与话题讨论</a:t>
              </a:r>
            </a:p>
          </p:txBody>
        </p:sp>
        <p:sp>
          <p:nvSpPr>
            <p:cNvPr id="240" name="TextBox 240"/>
            <p:cNvSpPr txBox="1"/>
            <p:nvPr/>
          </p:nvSpPr>
          <p:spPr>
            <a:xfrm>
              <a:off x="1734122" y="545973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表达明确意愿</a:t>
              </a:r>
            </a:p>
          </p:txBody>
        </p:sp>
        <p:grpSp>
          <p:nvGrpSpPr>
            <p:cNvPr id="245" name="Group 245"/>
            <p:cNvGrpSpPr/>
            <p:nvPr/>
          </p:nvGrpSpPr>
          <p:grpSpPr>
            <a:xfrm>
              <a:off x="2895600" y="4917281"/>
              <a:ext cx="114300" cy="135731"/>
              <a:chOff x="2895600" y="4917281"/>
              <a:chExt cx="114300" cy="135731"/>
            </a:xfrm>
          </p:grpSpPr>
          <p:sp>
            <p:nvSpPr>
              <p:cNvPr id="241" name="Freeform 241"/>
              <p:cNvSpPr/>
              <p:nvPr/>
            </p:nvSpPr>
            <p:spPr>
              <a:xfrm>
                <a:off x="2895600" y="4917281"/>
                <a:ext cx="114300" cy="78581"/>
              </a:xfrm>
              <a:custGeom>
                <a:avLst/>
                <a:gdLst/>
                <a:ahLst/>
                <a:cxnLst/>
                <a:rect l="l" t="t" r="r" b="b"/>
                <a:pathLst>
                  <a:path w="114300" h="78581">
                    <a:moveTo>
                      <a:pt x="0" y="78581"/>
                    </a:moveTo>
                    <a:lnTo>
                      <a:pt x="0" y="57150"/>
                    </a:lnTo>
                    <a:cubicBezTo>
                      <a:pt x="0" y="25587"/>
                      <a:pt x="25587" y="0"/>
                      <a:pt x="57150" y="0"/>
                    </a:cubicBezTo>
                    <a:cubicBezTo>
                      <a:pt x="88713" y="0"/>
                      <a:pt x="114300" y="25587"/>
                      <a:pt x="114300" y="57150"/>
                    </a:cubicBezTo>
                    <a:lnTo>
                      <a:pt x="114300" y="78581"/>
                    </a:lnTo>
                  </a:path>
                </a:pathLst>
              </a:custGeom>
              <a:noFill/>
              <a:ln w="14288">
                <a:solidFill>
                  <a:srgbClr val="C83210"/>
                </a:solidFill>
              </a:ln>
            </p:spPr>
          </p:sp>
          <p:sp>
            <p:nvSpPr>
              <p:cNvPr id="242" name="Freeform 242"/>
              <p:cNvSpPr/>
              <p:nvPr/>
            </p:nvSpPr>
            <p:spPr>
              <a:xfrm>
                <a:off x="2952750" y="5031581"/>
                <a:ext cx="42862" cy="21431"/>
              </a:xfrm>
              <a:custGeom>
                <a:avLst/>
                <a:gdLst/>
                <a:ahLst/>
                <a:cxnLst/>
                <a:rect l="l" t="t" r="r" b="b"/>
                <a:pathLst>
                  <a:path w="42862" h="21431">
                    <a:moveTo>
                      <a:pt x="42862" y="0"/>
                    </a:moveTo>
                    <a:cubicBezTo>
                      <a:pt x="42862" y="11837"/>
                      <a:pt x="23674" y="21431"/>
                      <a:pt x="0" y="21431"/>
                    </a:cubicBezTo>
                  </a:path>
                </a:pathLst>
              </a:custGeom>
              <a:noFill/>
              <a:ln w="14288">
                <a:solidFill>
                  <a:srgbClr val="C83210"/>
                </a:solidFill>
              </a:ln>
            </p:spPr>
          </p:sp>
          <p:sp>
            <p:nvSpPr>
              <p:cNvPr id="243" name="Freeform 243"/>
              <p:cNvSpPr/>
              <p:nvPr/>
            </p:nvSpPr>
            <p:spPr>
              <a:xfrm>
                <a:off x="2895600" y="4981575"/>
                <a:ext cx="35719" cy="50006"/>
              </a:xfrm>
              <a:custGeom>
                <a:avLst/>
                <a:gdLst/>
                <a:ahLst/>
                <a:cxnLst/>
                <a:rect l="l" t="t" r="r" b="b"/>
                <a:pathLst>
                  <a:path w="35719" h="50006">
                    <a:moveTo>
                      <a:pt x="0" y="14288"/>
                    </a:moveTo>
                    <a:cubicBezTo>
                      <a:pt x="0" y="6397"/>
                      <a:pt x="6397" y="0"/>
                      <a:pt x="14288" y="0"/>
                    </a:cubicBezTo>
                    <a:lnTo>
                      <a:pt x="21431" y="0"/>
                    </a:lnTo>
                    <a:cubicBezTo>
                      <a:pt x="29322" y="0"/>
                      <a:pt x="35719" y="6397"/>
                      <a:pt x="35719" y="14288"/>
                    </a:cubicBezTo>
                    <a:lnTo>
                      <a:pt x="35719" y="35719"/>
                    </a:lnTo>
                    <a:cubicBezTo>
                      <a:pt x="35719" y="43610"/>
                      <a:pt x="29322" y="50006"/>
                      <a:pt x="21431" y="50006"/>
                    </a:cubicBezTo>
                    <a:lnTo>
                      <a:pt x="14288" y="50006"/>
                    </a:lnTo>
                    <a:cubicBezTo>
                      <a:pt x="6397" y="50006"/>
                      <a:pt x="0" y="43610"/>
                      <a:pt x="0" y="35719"/>
                    </a:cubicBezTo>
                    <a:lnTo>
                      <a:pt x="0" y="14288"/>
                    </a:lnTo>
                  </a:path>
                </a:pathLst>
              </a:custGeom>
              <a:noFill/>
              <a:ln w="14288">
                <a:solidFill>
                  <a:srgbClr val="C83210"/>
                </a:solidFill>
              </a:ln>
            </p:spPr>
          </p:sp>
          <p:sp>
            <p:nvSpPr>
              <p:cNvPr id="244" name="Freeform 244"/>
              <p:cNvSpPr/>
              <p:nvPr/>
            </p:nvSpPr>
            <p:spPr>
              <a:xfrm>
                <a:off x="2974181" y="4981575"/>
                <a:ext cx="35719" cy="50006"/>
              </a:xfrm>
              <a:custGeom>
                <a:avLst/>
                <a:gdLst/>
                <a:ahLst/>
                <a:cxnLst/>
                <a:rect l="l" t="t" r="r" b="b"/>
                <a:pathLst>
                  <a:path w="35719" h="50006">
                    <a:moveTo>
                      <a:pt x="0" y="14288"/>
                    </a:moveTo>
                    <a:cubicBezTo>
                      <a:pt x="0" y="6397"/>
                      <a:pt x="6397" y="0"/>
                      <a:pt x="14288" y="0"/>
                    </a:cubicBezTo>
                    <a:lnTo>
                      <a:pt x="21431" y="0"/>
                    </a:lnTo>
                    <a:cubicBezTo>
                      <a:pt x="29322" y="0"/>
                      <a:pt x="35719" y="6397"/>
                      <a:pt x="35719" y="14288"/>
                    </a:cubicBezTo>
                    <a:lnTo>
                      <a:pt x="35719" y="35719"/>
                    </a:lnTo>
                    <a:cubicBezTo>
                      <a:pt x="35719" y="43610"/>
                      <a:pt x="29322" y="50006"/>
                      <a:pt x="21431" y="50006"/>
                    </a:cubicBezTo>
                    <a:lnTo>
                      <a:pt x="14288" y="50006"/>
                    </a:lnTo>
                    <a:cubicBezTo>
                      <a:pt x="6397" y="50006"/>
                      <a:pt x="0" y="43610"/>
                      <a:pt x="0" y="35719"/>
                    </a:cubicBezTo>
                    <a:lnTo>
                      <a:pt x="0" y="14288"/>
                    </a:lnTo>
                  </a:path>
                </a:pathLst>
              </a:custGeom>
              <a:noFill/>
              <a:ln w="14288">
                <a:solidFill>
                  <a:srgbClr val="C83210"/>
                </a:solidFill>
              </a:ln>
            </p:spPr>
          </p:sp>
        </p:grpSp>
        <p:sp>
          <p:nvSpPr>
            <p:cNvPr id="246" name="TextBox 246"/>
            <p:cNvSpPr txBox="1"/>
            <p:nvPr/>
          </p:nvSpPr>
          <p:spPr>
            <a:xfrm>
              <a:off x="3090862" y="4944189"/>
              <a:ext cx="222225"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咨询</a:t>
              </a:r>
            </a:p>
          </p:txBody>
        </p:sp>
        <p:sp>
          <p:nvSpPr>
            <p:cNvPr id="247" name="TextBox 247"/>
            <p:cNvSpPr txBox="1"/>
            <p:nvPr/>
          </p:nvSpPr>
          <p:spPr>
            <a:xfrm>
              <a:off x="2962846" y="519303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咨询产品信息</a:t>
              </a:r>
            </a:p>
          </p:txBody>
        </p:sp>
        <p:sp>
          <p:nvSpPr>
            <p:cNvPr id="248" name="TextBox 248"/>
            <p:cNvSpPr txBox="1"/>
            <p:nvPr/>
          </p:nvSpPr>
          <p:spPr>
            <a:xfrm>
              <a:off x="2962846" y="532638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询问办理流程</a:t>
              </a:r>
            </a:p>
          </p:txBody>
        </p:sp>
        <p:sp>
          <p:nvSpPr>
            <p:cNvPr id="249" name="TextBox 249"/>
            <p:cNvSpPr txBox="1"/>
            <p:nvPr/>
          </p:nvSpPr>
          <p:spPr>
            <a:xfrm>
              <a:off x="2922460" y="5459730"/>
              <a:ext cx="574929"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提出个性化问题</a:t>
              </a:r>
            </a:p>
          </p:txBody>
        </p:sp>
        <p:grpSp>
          <p:nvGrpSpPr>
            <p:cNvPr id="255" name="Group 255"/>
            <p:cNvGrpSpPr/>
            <p:nvPr/>
          </p:nvGrpSpPr>
          <p:grpSpPr>
            <a:xfrm>
              <a:off x="4124325" y="4917281"/>
              <a:ext cx="114300" cy="128588"/>
              <a:chOff x="4124325" y="4917281"/>
              <a:chExt cx="114300" cy="128588"/>
            </a:xfrm>
          </p:grpSpPr>
          <p:sp>
            <p:nvSpPr>
              <p:cNvPr id="250" name="Freeform 250"/>
              <p:cNvSpPr/>
              <p:nvPr/>
            </p:nvSpPr>
            <p:spPr>
              <a:xfrm>
                <a:off x="4124325" y="4931569"/>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C83210"/>
                </a:solidFill>
              </a:ln>
            </p:spPr>
          </p:sp>
          <p:sp>
            <p:nvSpPr>
              <p:cNvPr id="251" name="Freeform 251"/>
              <p:cNvSpPr/>
              <p:nvPr/>
            </p:nvSpPr>
            <p:spPr>
              <a:xfrm>
                <a:off x="4210050" y="4917281"/>
                <a:ext cx="9525" cy="28575"/>
              </a:xfrm>
              <a:custGeom>
                <a:avLst/>
                <a:gdLst/>
                <a:ahLst/>
                <a:cxnLst/>
                <a:rect l="l" t="t" r="r" b="b"/>
                <a:pathLst>
                  <a:path w="9525" h="28575">
                    <a:moveTo>
                      <a:pt x="0" y="0"/>
                    </a:moveTo>
                    <a:lnTo>
                      <a:pt x="0" y="28575"/>
                    </a:lnTo>
                  </a:path>
                </a:pathLst>
              </a:custGeom>
              <a:noFill/>
              <a:ln w="14288">
                <a:solidFill>
                  <a:srgbClr val="C83210"/>
                </a:solidFill>
              </a:ln>
            </p:spPr>
          </p:sp>
          <p:sp>
            <p:nvSpPr>
              <p:cNvPr id="252" name="Freeform 252"/>
              <p:cNvSpPr/>
              <p:nvPr/>
            </p:nvSpPr>
            <p:spPr>
              <a:xfrm>
                <a:off x="4152900" y="4917281"/>
                <a:ext cx="9525" cy="28575"/>
              </a:xfrm>
              <a:custGeom>
                <a:avLst/>
                <a:gdLst/>
                <a:ahLst/>
                <a:cxnLst/>
                <a:rect l="l" t="t" r="r" b="b"/>
                <a:pathLst>
                  <a:path w="9525" h="28575">
                    <a:moveTo>
                      <a:pt x="0" y="0"/>
                    </a:moveTo>
                    <a:lnTo>
                      <a:pt x="0" y="28575"/>
                    </a:lnTo>
                  </a:path>
                </a:pathLst>
              </a:custGeom>
              <a:noFill/>
              <a:ln w="14288">
                <a:solidFill>
                  <a:srgbClr val="C83210"/>
                </a:solidFill>
              </a:ln>
            </p:spPr>
          </p:sp>
          <p:sp>
            <p:nvSpPr>
              <p:cNvPr id="253" name="Freeform 253"/>
              <p:cNvSpPr/>
              <p:nvPr/>
            </p:nvSpPr>
            <p:spPr>
              <a:xfrm>
                <a:off x="4124325" y="4974431"/>
                <a:ext cx="114300" cy="9525"/>
              </a:xfrm>
              <a:custGeom>
                <a:avLst/>
                <a:gdLst/>
                <a:ahLst/>
                <a:cxnLst/>
                <a:rect l="l" t="t" r="r" b="b"/>
                <a:pathLst>
                  <a:path w="114300" h="9525">
                    <a:moveTo>
                      <a:pt x="0" y="0"/>
                    </a:moveTo>
                    <a:lnTo>
                      <a:pt x="114300" y="0"/>
                    </a:lnTo>
                  </a:path>
                </a:pathLst>
              </a:custGeom>
              <a:noFill/>
              <a:ln w="14288">
                <a:solidFill>
                  <a:srgbClr val="C83210"/>
                </a:solidFill>
              </a:ln>
            </p:spPr>
          </p:sp>
          <p:sp>
            <p:nvSpPr>
              <p:cNvPr id="254" name="Freeform 254"/>
              <p:cNvSpPr/>
              <p:nvPr/>
            </p:nvSpPr>
            <p:spPr>
              <a:xfrm>
                <a:off x="4152900" y="5003006"/>
                <a:ext cx="14288" cy="14288"/>
              </a:xfrm>
              <a:custGeom>
                <a:avLst/>
                <a:gdLst/>
                <a:ahLst/>
                <a:cxnLst/>
                <a:rect l="l" t="t" r="r" b="b"/>
                <a:pathLst>
                  <a:path w="14288" h="14288">
                    <a:moveTo>
                      <a:pt x="0" y="0"/>
                    </a:moveTo>
                    <a:lnTo>
                      <a:pt x="14288" y="0"/>
                    </a:lnTo>
                    <a:lnTo>
                      <a:pt x="14288" y="14288"/>
                    </a:lnTo>
                    <a:lnTo>
                      <a:pt x="0" y="14288"/>
                    </a:lnTo>
                    <a:lnTo>
                      <a:pt x="0" y="0"/>
                    </a:lnTo>
                  </a:path>
                </a:pathLst>
              </a:custGeom>
              <a:noFill/>
              <a:ln w="14288">
                <a:solidFill>
                  <a:srgbClr val="C83210"/>
                </a:solidFill>
              </a:ln>
            </p:spPr>
          </p:sp>
        </p:grpSp>
        <p:sp>
          <p:nvSpPr>
            <p:cNvPr id="256" name="TextBox 256"/>
            <p:cNvSpPr txBox="1"/>
            <p:nvPr/>
          </p:nvSpPr>
          <p:spPr>
            <a:xfrm>
              <a:off x="4319588" y="4944189"/>
              <a:ext cx="222225"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预约</a:t>
              </a:r>
            </a:p>
          </p:txBody>
        </p:sp>
        <p:sp>
          <p:nvSpPr>
            <p:cNvPr id="257" name="TextBox 257"/>
            <p:cNvSpPr txBox="1"/>
            <p:nvPr/>
          </p:nvSpPr>
          <p:spPr>
            <a:xfrm>
              <a:off x="4201096" y="519303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预约线下面谈</a:t>
              </a:r>
            </a:p>
          </p:txBody>
        </p:sp>
        <p:sp>
          <p:nvSpPr>
            <p:cNvPr id="258" name="TextBox 258"/>
            <p:cNvSpPr txBox="1"/>
            <p:nvPr/>
          </p:nvSpPr>
          <p:spPr>
            <a:xfrm>
              <a:off x="4201096" y="532638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预约电话沟通</a:t>
              </a:r>
            </a:p>
          </p:txBody>
        </p:sp>
        <p:sp>
          <p:nvSpPr>
            <p:cNvPr id="259" name="TextBox 259"/>
            <p:cNvSpPr txBox="1"/>
            <p:nvPr/>
          </p:nvSpPr>
          <p:spPr>
            <a:xfrm>
              <a:off x="4201096" y="545973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预约产品办理</a:t>
              </a:r>
            </a:p>
          </p:txBody>
        </p:sp>
        <p:grpSp>
          <p:nvGrpSpPr>
            <p:cNvPr id="264" name="Group 264"/>
            <p:cNvGrpSpPr/>
            <p:nvPr/>
          </p:nvGrpSpPr>
          <p:grpSpPr>
            <a:xfrm>
              <a:off x="5376862" y="4917281"/>
              <a:ext cx="85725" cy="128588"/>
              <a:chOff x="5376862" y="4917281"/>
              <a:chExt cx="85725" cy="128588"/>
            </a:xfrm>
          </p:grpSpPr>
          <p:sp>
            <p:nvSpPr>
              <p:cNvPr id="260" name="Freeform 260"/>
              <p:cNvSpPr/>
              <p:nvPr/>
            </p:nvSpPr>
            <p:spPr>
              <a:xfrm>
                <a:off x="5380434" y="4945856"/>
                <a:ext cx="78581" cy="9525"/>
              </a:xfrm>
              <a:custGeom>
                <a:avLst/>
                <a:gdLst/>
                <a:ahLst/>
                <a:cxnLst/>
                <a:rect l="l" t="t" r="r" b="b"/>
                <a:pathLst>
                  <a:path w="78581" h="9525">
                    <a:moveTo>
                      <a:pt x="0" y="0"/>
                    </a:moveTo>
                    <a:lnTo>
                      <a:pt x="78581" y="0"/>
                    </a:lnTo>
                  </a:path>
                </a:pathLst>
              </a:custGeom>
              <a:noFill/>
              <a:ln w="14288">
                <a:solidFill>
                  <a:srgbClr val="C83210"/>
                </a:solidFill>
              </a:ln>
            </p:spPr>
          </p:sp>
          <p:sp>
            <p:nvSpPr>
              <p:cNvPr id="261" name="Freeform 261"/>
              <p:cNvSpPr/>
              <p:nvPr/>
            </p:nvSpPr>
            <p:spPr>
              <a:xfrm>
                <a:off x="5380434" y="5017294"/>
                <a:ext cx="78581" cy="9525"/>
              </a:xfrm>
              <a:custGeom>
                <a:avLst/>
                <a:gdLst/>
                <a:ahLst/>
                <a:cxnLst/>
                <a:rect l="l" t="t" r="r" b="b"/>
                <a:pathLst>
                  <a:path w="78581" h="9525">
                    <a:moveTo>
                      <a:pt x="0" y="0"/>
                    </a:moveTo>
                    <a:lnTo>
                      <a:pt x="78581" y="0"/>
                    </a:lnTo>
                  </a:path>
                </a:pathLst>
              </a:custGeom>
              <a:noFill/>
              <a:ln w="14288">
                <a:solidFill>
                  <a:srgbClr val="C83210"/>
                </a:solidFill>
              </a:ln>
            </p:spPr>
          </p:sp>
          <p:sp>
            <p:nvSpPr>
              <p:cNvPr id="262" name="Freeform 262"/>
              <p:cNvSpPr/>
              <p:nvPr/>
            </p:nvSpPr>
            <p:spPr>
              <a:xfrm>
                <a:off x="5376862" y="4981575"/>
                <a:ext cx="85725" cy="64294"/>
              </a:xfrm>
              <a:custGeom>
                <a:avLst/>
                <a:gdLst/>
                <a:ahLst/>
                <a:cxnLst/>
                <a:rect l="l" t="t" r="r" b="b"/>
                <a:pathLst>
                  <a:path w="85725" h="64294">
                    <a:moveTo>
                      <a:pt x="0" y="57150"/>
                    </a:moveTo>
                    <a:lnTo>
                      <a:pt x="0" y="42862"/>
                    </a:lnTo>
                    <a:cubicBezTo>
                      <a:pt x="0" y="19190"/>
                      <a:pt x="19190" y="0"/>
                      <a:pt x="42862" y="0"/>
                    </a:cubicBezTo>
                    <a:cubicBezTo>
                      <a:pt x="66535" y="0"/>
                      <a:pt x="85725" y="19190"/>
                      <a:pt x="85725" y="42862"/>
                    </a:cubicBezTo>
                    <a:lnTo>
                      <a:pt x="85725" y="57150"/>
                    </a:lnTo>
                    <a:cubicBezTo>
                      <a:pt x="85725" y="61095"/>
                      <a:pt x="82527" y="64294"/>
                      <a:pt x="78581" y="64294"/>
                    </a:cubicBezTo>
                    <a:lnTo>
                      <a:pt x="7144" y="64294"/>
                    </a:lnTo>
                    <a:cubicBezTo>
                      <a:pt x="3198" y="64294"/>
                      <a:pt x="0" y="61095"/>
                      <a:pt x="0" y="57150"/>
                    </a:cubicBezTo>
                  </a:path>
                </a:pathLst>
              </a:custGeom>
              <a:noFill/>
              <a:ln w="14288">
                <a:solidFill>
                  <a:srgbClr val="C83210"/>
                </a:solidFill>
              </a:ln>
            </p:spPr>
          </p:sp>
          <p:sp>
            <p:nvSpPr>
              <p:cNvPr id="263" name="Freeform 263"/>
              <p:cNvSpPr/>
              <p:nvPr/>
            </p:nvSpPr>
            <p:spPr>
              <a:xfrm>
                <a:off x="5376862" y="4917281"/>
                <a:ext cx="85725" cy="64294"/>
              </a:xfrm>
              <a:custGeom>
                <a:avLst/>
                <a:gdLst/>
                <a:ahLst/>
                <a:cxnLst/>
                <a:rect l="l" t="t" r="r" b="b"/>
                <a:pathLst>
                  <a:path w="85725" h="64294">
                    <a:moveTo>
                      <a:pt x="0" y="7144"/>
                    </a:moveTo>
                    <a:lnTo>
                      <a:pt x="0" y="21431"/>
                    </a:lnTo>
                    <a:cubicBezTo>
                      <a:pt x="0" y="45104"/>
                      <a:pt x="19190" y="64294"/>
                      <a:pt x="42862" y="64294"/>
                    </a:cubicBezTo>
                    <a:cubicBezTo>
                      <a:pt x="66535" y="64294"/>
                      <a:pt x="85725" y="45104"/>
                      <a:pt x="85725" y="21431"/>
                    </a:cubicBezTo>
                    <a:lnTo>
                      <a:pt x="85725" y="7144"/>
                    </a:lnTo>
                    <a:cubicBezTo>
                      <a:pt x="85725" y="3198"/>
                      <a:pt x="82527" y="0"/>
                      <a:pt x="78581" y="0"/>
                    </a:cubicBezTo>
                    <a:lnTo>
                      <a:pt x="7144" y="0"/>
                    </a:lnTo>
                    <a:cubicBezTo>
                      <a:pt x="3198" y="0"/>
                      <a:pt x="0" y="3198"/>
                      <a:pt x="0" y="7144"/>
                    </a:cubicBezTo>
                  </a:path>
                </a:pathLst>
              </a:custGeom>
              <a:noFill/>
              <a:ln w="14288">
                <a:solidFill>
                  <a:srgbClr val="C83210"/>
                </a:solidFill>
              </a:ln>
            </p:spPr>
          </p:sp>
        </p:grpSp>
        <p:sp>
          <p:nvSpPr>
            <p:cNvPr id="265" name="TextBox 265"/>
            <p:cNvSpPr txBox="1"/>
            <p:nvPr/>
          </p:nvSpPr>
          <p:spPr>
            <a:xfrm>
              <a:off x="5557838" y="4944189"/>
              <a:ext cx="222225"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到期</a:t>
              </a:r>
            </a:p>
          </p:txBody>
        </p:sp>
        <p:sp>
          <p:nvSpPr>
            <p:cNvPr id="266" name="TextBox 266"/>
            <p:cNvSpPr txBox="1"/>
            <p:nvPr/>
          </p:nvSpPr>
          <p:spPr>
            <a:xfrm>
              <a:off x="5429821" y="519303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产品到期提醒</a:t>
              </a:r>
            </a:p>
          </p:txBody>
        </p:sp>
        <p:sp>
          <p:nvSpPr>
            <p:cNvPr id="267" name="TextBox 267"/>
            <p:cNvSpPr txBox="1"/>
            <p:nvPr/>
          </p:nvSpPr>
          <p:spPr>
            <a:xfrm>
              <a:off x="5429821" y="532638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优惠活动到期</a:t>
              </a:r>
            </a:p>
          </p:txBody>
        </p:sp>
        <p:sp>
          <p:nvSpPr>
            <p:cNvPr id="268" name="TextBox 268"/>
            <p:cNvSpPr txBox="1"/>
            <p:nvPr/>
          </p:nvSpPr>
          <p:spPr>
            <a:xfrm>
              <a:off x="5389436" y="5459730"/>
              <a:ext cx="574929"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证件有效期到期</a:t>
              </a:r>
            </a:p>
          </p:txBody>
        </p:sp>
        <p:grpSp>
          <p:nvGrpSpPr>
            <p:cNvPr id="274" name="Group 274"/>
            <p:cNvGrpSpPr/>
            <p:nvPr/>
          </p:nvGrpSpPr>
          <p:grpSpPr>
            <a:xfrm>
              <a:off x="6584156" y="4916324"/>
              <a:ext cx="128588" cy="129544"/>
              <a:chOff x="6584156" y="4916324"/>
              <a:chExt cx="128588" cy="129544"/>
            </a:xfrm>
          </p:grpSpPr>
          <p:sp>
            <p:nvSpPr>
              <p:cNvPr id="269" name="Freeform 269"/>
              <p:cNvSpPr/>
              <p:nvPr/>
            </p:nvSpPr>
            <p:spPr>
              <a:xfrm>
                <a:off x="6627019" y="497443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C83210"/>
                </a:solidFill>
              </a:ln>
            </p:spPr>
          </p:sp>
          <p:sp>
            <p:nvSpPr>
              <p:cNvPr id="270" name="Freeform 270"/>
              <p:cNvSpPr/>
              <p:nvPr/>
            </p:nvSpPr>
            <p:spPr>
              <a:xfrm>
                <a:off x="6627019" y="499586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C83210"/>
                </a:solidFill>
              </a:ln>
            </p:spPr>
          </p:sp>
          <p:sp>
            <p:nvSpPr>
              <p:cNvPr id="271" name="Freeform 271"/>
              <p:cNvSpPr/>
              <p:nvPr/>
            </p:nvSpPr>
            <p:spPr>
              <a:xfrm>
                <a:off x="6584156" y="491632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C83210"/>
                </a:solidFill>
              </a:ln>
            </p:spPr>
          </p:sp>
          <p:sp>
            <p:nvSpPr>
              <p:cNvPr id="272" name="Freeform 272"/>
              <p:cNvSpPr/>
              <p:nvPr/>
            </p:nvSpPr>
            <p:spPr>
              <a:xfrm>
                <a:off x="6584156" y="493871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C83210"/>
                </a:solidFill>
              </a:ln>
            </p:spPr>
          </p:sp>
          <p:sp>
            <p:nvSpPr>
              <p:cNvPr id="273" name="Freeform 273"/>
              <p:cNvSpPr/>
              <p:nvPr/>
            </p:nvSpPr>
            <p:spPr>
              <a:xfrm>
                <a:off x="6584156" y="497443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C83210"/>
                </a:solidFill>
              </a:ln>
            </p:spPr>
          </p:sp>
        </p:grpSp>
        <p:sp>
          <p:nvSpPr>
            <p:cNvPr id="275" name="TextBox 275"/>
            <p:cNvSpPr txBox="1"/>
            <p:nvPr/>
          </p:nvSpPr>
          <p:spPr>
            <a:xfrm>
              <a:off x="6786562" y="4944189"/>
              <a:ext cx="434924"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余额变化</a:t>
              </a:r>
            </a:p>
          </p:txBody>
        </p:sp>
        <p:sp>
          <p:nvSpPr>
            <p:cNvPr id="276" name="TextBox 276"/>
            <p:cNvSpPr txBox="1"/>
            <p:nvPr/>
          </p:nvSpPr>
          <p:spPr>
            <a:xfrm>
              <a:off x="6668071" y="519303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资金余额提升</a:t>
              </a:r>
            </a:p>
          </p:txBody>
        </p:sp>
        <p:sp>
          <p:nvSpPr>
            <p:cNvPr id="277" name="TextBox 277"/>
            <p:cNvSpPr txBox="1"/>
            <p:nvPr/>
          </p:nvSpPr>
          <p:spPr>
            <a:xfrm>
              <a:off x="6668071" y="5326380"/>
              <a:ext cx="49415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大额资金流入</a:t>
              </a:r>
            </a:p>
          </p:txBody>
        </p:sp>
        <p:sp>
          <p:nvSpPr>
            <p:cNvPr id="278" name="TextBox 278"/>
            <p:cNvSpPr txBox="1"/>
            <p:nvPr/>
          </p:nvSpPr>
          <p:spPr>
            <a:xfrm>
              <a:off x="6627686" y="5459730"/>
              <a:ext cx="574929"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资金长时间未动</a:t>
              </a:r>
            </a:p>
          </p:txBody>
        </p:sp>
        <p:grpSp>
          <p:nvGrpSpPr>
            <p:cNvPr id="283" name="Group 283"/>
            <p:cNvGrpSpPr/>
            <p:nvPr/>
          </p:nvGrpSpPr>
          <p:grpSpPr>
            <a:xfrm>
              <a:off x="7822406" y="4931569"/>
              <a:ext cx="128588" cy="100013"/>
              <a:chOff x="7822406" y="4931569"/>
              <a:chExt cx="128588" cy="100013"/>
            </a:xfrm>
          </p:grpSpPr>
          <p:sp>
            <p:nvSpPr>
              <p:cNvPr id="279" name="Freeform 279"/>
              <p:cNvSpPr/>
              <p:nvPr/>
            </p:nvSpPr>
            <p:spPr>
              <a:xfrm>
                <a:off x="7908131" y="4931569"/>
                <a:ext cx="9525" cy="14288"/>
              </a:xfrm>
              <a:custGeom>
                <a:avLst/>
                <a:gdLst/>
                <a:ahLst/>
                <a:cxnLst/>
                <a:rect l="l" t="t" r="r" b="b"/>
                <a:pathLst>
                  <a:path w="9525" h="14288">
                    <a:moveTo>
                      <a:pt x="0" y="0"/>
                    </a:moveTo>
                    <a:lnTo>
                      <a:pt x="0" y="14288"/>
                    </a:lnTo>
                  </a:path>
                </a:pathLst>
              </a:custGeom>
              <a:noFill/>
              <a:ln w="14288">
                <a:solidFill>
                  <a:srgbClr val="C83210"/>
                </a:solidFill>
              </a:ln>
            </p:spPr>
          </p:sp>
          <p:sp>
            <p:nvSpPr>
              <p:cNvPr id="280" name="Freeform 280"/>
              <p:cNvSpPr/>
              <p:nvPr/>
            </p:nvSpPr>
            <p:spPr>
              <a:xfrm>
                <a:off x="7908131" y="4974431"/>
                <a:ext cx="9525" cy="14288"/>
              </a:xfrm>
              <a:custGeom>
                <a:avLst/>
                <a:gdLst/>
                <a:ahLst/>
                <a:cxnLst/>
                <a:rect l="l" t="t" r="r" b="b"/>
                <a:pathLst>
                  <a:path w="9525" h="14288">
                    <a:moveTo>
                      <a:pt x="0" y="0"/>
                    </a:moveTo>
                    <a:lnTo>
                      <a:pt x="0" y="14288"/>
                    </a:lnTo>
                  </a:path>
                </a:pathLst>
              </a:custGeom>
              <a:noFill/>
              <a:ln w="14288">
                <a:solidFill>
                  <a:srgbClr val="C83210"/>
                </a:solidFill>
              </a:ln>
            </p:spPr>
          </p:sp>
          <p:sp>
            <p:nvSpPr>
              <p:cNvPr id="281" name="Freeform 281"/>
              <p:cNvSpPr/>
              <p:nvPr/>
            </p:nvSpPr>
            <p:spPr>
              <a:xfrm>
                <a:off x="7908131" y="5017294"/>
                <a:ext cx="9525" cy="14288"/>
              </a:xfrm>
              <a:custGeom>
                <a:avLst/>
                <a:gdLst/>
                <a:ahLst/>
                <a:cxnLst/>
                <a:rect l="l" t="t" r="r" b="b"/>
                <a:pathLst>
                  <a:path w="9525" h="14288">
                    <a:moveTo>
                      <a:pt x="0" y="0"/>
                    </a:moveTo>
                    <a:lnTo>
                      <a:pt x="0" y="14288"/>
                    </a:lnTo>
                  </a:path>
                </a:pathLst>
              </a:custGeom>
              <a:noFill/>
              <a:ln w="14288">
                <a:solidFill>
                  <a:srgbClr val="C83210"/>
                </a:solidFill>
              </a:ln>
            </p:spPr>
          </p:sp>
          <p:sp>
            <p:nvSpPr>
              <p:cNvPr id="282" name="Freeform 282"/>
              <p:cNvSpPr/>
              <p:nvPr/>
            </p:nvSpPr>
            <p:spPr>
              <a:xfrm>
                <a:off x="7822406" y="4931569"/>
                <a:ext cx="128588" cy="100012"/>
              </a:xfrm>
              <a:custGeom>
                <a:avLst/>
                <a:gdLst/>
                <a:ahLst/>
                <a:cxnLst/>
                <a:rect l="l" t="t" r="r" b="b"/>
                <a:pathLst>
                  <a:path w="128588" h="100012">
                    <a:moveTo>
                      <a:pt x="14288" y="0"/>
                    </a:moveTo>
                    <a:lnTo>
                      <a:pt x="114300" y="0"/>
                    </a:lnTo>
                    <a:cubicBezTo>
                      <a:pt x="122191" y="0"/>
                      <a:pt x="128588" y="6397"/>
                      <a:pt x="128588" y="14288"/>
                    </a:cubicBezTo>
                    <a:lnTo>
                      <a:pt x="128588" y="35719"/>
                    </a:lnTo>
                    <a:cubicBezTo>
                      <a:pt x="120697" y="35719"/>
                      <a:pt x="114300" y="42115"/>
                      <a:pt x="114300" y="50006"/>
                    </a:cubicBezTo>
                    <a:cubicBezTo>
                      <a:pt x="114300" y="57897"/>
                      <a:pt x="120697" y="64294"/>
                      <a:pt x="128588" y="64294"/>
                    </a:cubicBezTo>
                    <a:lnTo>
                      <a:pt x="128588" y="85725"/>
                    </a:lnTo>
                    <a:cubicBezTo>
                      <a:pt x="128588" y="93616"/>
                      <a:pt x="122191" y="100012"/>
                      <a:pt x="114300" y="100012"/>
                    </a:cubicBezTo>
                    <a:lnTo>
                      <a:pt x="14288" y="100012"/>
                    </a:lnTo>
                    <a:cubicBezTo>
                      <a:pt x="6397" y="100012"/>
                      <a:pt x="0" y="93616"/>
                      <a:pt x="0" y="85725"/>
                    </a:cubicBezTo>
                    <a:lnTo>
                      <a:pt x="0" y="64294"/>
                    </a:lnTo>
                    <a:cubicBezTo>
                      <a:pt x="7891" y="64294"/>
                      <a:pt x="14288" y="57897"/>
                      <a:pt x="14288" y="50006"/>
                    </a:cubicBezTo>
                    <a:cubicBezTo>
                      <a:pt x="14288" y="42115"/>
                      <a:pt x="7891" y="35719"/>
                      <a:pt x="0" y="35719"/>
                    </a:cubicBezTo>
                    <a:lnTo>
                      <a:pt x="0" y="14288"/>
                    </a:lnTo>
                    <a:cubicBezTo>
                      <a:pt x="0" y="6397"/>
                      <a:pt x="6397" y="0"/>
                      <a:pt x="14288" y="0"/>
                    </a:cubicBezTo>
                  </a:path>
                </a:pathLst>
              </a:custGeom>
              <a:noFill/>
              <a:ln w="14288">
                <a:solidFill>
                  <a:srgbClr val="C83210"/>
                </a:solidFill>
              </a:ln>
            </p:spPr>
          </p:sp>
        </p:grpSp>
        <p:sp>
          <p:nvSpPr>
            <p:cNvPr id="284" name="TextBox 284"/>
            <p:cNvSpPr txBox="1"/>
            <p:nvPr/>
          </p:nvSpPr>
          <p:spPr>
            <a:xfrm>
              <a:off x="8024812" y="4944189"/>
              <a:ext cx="434924" cy="154781"/>
            </a:xfrm>
            <a:prstGeom prst="rect">
              <a:avLst/>
            </a:prstGeom>
            <a:noFill/>
            <a:ln>
              <a:noFill/>
            </a:ln>
          </p:spPr>
          <p:txBody>
            <a:bodyPr wrap="none" lIns="0" tIns="0" rIns="0" bIns="0" anchor="t" anchorCtr="0">
              <a:spAutoFit/>
            </a:bodyPr>
            <a:lstStyle/>
            <a:p>
              <a:pPr algn="l"/>
              <a:r>
                <a:rPr lang="zh-CN" sz="790" b="1" dirty="0">
                  <a:solidFill>
                    <a:srgbClr val="222222"/>
                  </a:solidFill>
                  <a:latin typeface="+mn-lt"/>
                  <a:ea typeface="+mn-ea"/>
                  <a:cs typeface="+mn-cs"/>
                </a:rPr>
                <a:t>权益核销</a:t>
              </a:r>
            </a:p>
          </p:txBody>
        </p:sp>
        <p:sp>
          <p:nvSpPr>
            <p:cNvPr id="285" name="TextBox 285"/>
            <p:cNvSpPr txBox="1"/>
            <p:nvPr/>
          </p:nvSpPr>
          <p:spPr>
            <a:xfrm>
              <a:off x="7977568" y="519303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权益领取</a:t>
              </a:r>
            </a:p>
          </p:txBody>
        </p:sp>
        <p:sp>
          <p:nvSpPr>
            <p:cNvPr id="286" name="TextBox 286"/>
            <p:cNvSpPr txBox="1"/>
            <p:nvPr/>
          </p:nvSpPr>
          <p:spPr>
            <a:xfrm>
              <a:off x="7977568" y="532638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权益使用</a:t>
              </a:r>
            </a:p>
          </p:txBody>
        </p:sp>
        <p:sp>
          <p:nvSpPr>
            <p:cNvPr id="287" name="TextBox 287"/>
            <p:cNvSpPr txBox="1"/>
            <p:nvPr/>
          </p:nvSpPr>
          <p:spPr>
            <a:xfrm>
              <a:off x="7977568" y="545973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积分兑换</a:t>
              </a:r>
            </a:p>
          </p:txBody>
        </p:sp>
        <p:sp>
          <p:nvSpPr>
            <p:cNvPr id="288" name="Line 288"/>
            <p:cNvSpPr/>
            <p:nvPr/>
          </p:nvSpPr>
          <p:spPr>
            <a:xfrm>
              <a:off x="1362075" y="4838700"/>
              <a:ext cx="9525" cy="1828800"/>
            </a:xfrm>
            <a:custGeom>
              <a:avLst/>
              <a:gdLst/>
              <a:ahLst/>
              <a:cxnLst/>
              <a:rect l="l" t="t" r="r" b="b"/>
              <a:pathLst>
                <a:path w="9525" h="1828800">
                  <a:moveTo>
                    <a:pt x="0" y="0"/>
                  </a:moveTo>
                  <a:lnTo>
                    <a:pt x="0" y="1828800"/>
                  </a:lnTo>
                </a:path>
              </a:pathLst>
            </a:custGeom>
            <a:noFill/>
            <a:ln w="9525">
              <a:solidFill>
                <a:srgbClr val="F1C7CC"/>
              </a:solidFill>
            </a:ln>
          </p:spPr>
        </p:sp>
        <p:sp>
          <p:nvSpPr>
            <p:cNvPr id="289" name="Line 289"/>
            <p:cNvSpPr/>
            <p:nvPr/>
          </p:nvSpPr>
          <p:spPr>
            <a:xfrm>
              <a:off x="2600325" y="4838700"/>
              <a:ext cx="9525" cy="1828800"/>
            </a:xfrm>
            <a:custGeom>
              <a:avLst/>
              <a:gdLst/>
              <a:ahLst/>
              <a:cxnLst/>
              <a:rect l="l" t="t" r="r" b="b"/>
              <a:pathLst>
                <a:path w="9525" h="1828800">
                  <a:moveTo>
                    <a:pt x="0" y="0"/>
                  </a:moveTo>
                  <a:lnTo>
                    <a:pt x="0" y="1828800"/>
                  </a:lnTo>
                </a:path>
              </a:pathLst>
            </a:custGeom>
            <a:noFill/>
            <a:ln w="9525">
              <a:solidFill>
                <a:srgbClr val="F1C7CC"/>
              </a:solidFill>
            </a:ln>
          </p:spPr>
        </p:sp>
        <p:sp>
          <p:nvSpPr>
            <p:cNvPr id="290" name="Line 290"/>
            <p:cNvSpPr/>
            <p:nvPr/>
          </p:nvSpPr>
          <p:spPr>
            <a:xfrm>
              <a:off x="3829050" y="4838700"/>
              <a:ext cx="9525" cy="1828800"/>
            </a:xfrm>
            <a:custGeom>
              <a:avLst/>
              <a:gdLst/>
              <a:ahLst/>
              <a:cxnLst/>
              <a:rect l="l" t="t" r="r" b="b"/>
              <a:pathLst>
                <a:path w="9525" h="1828800">
                  <a:moveTo>
                    <a:pt x="0" y="0"/>
                  </a:moveTo>
                  <a:lnTo>
                    <a:pt x="0" y="1828800"/>
                  </a:lnTo>
                </a:path>
              </a:pathLst>
            </a:custGeom>
            <a:noFill/>
            <a:ln w="9525">
              <a:solidFill>
                <a:srgbClr val="F1C7CC"/>
              </a:solidFill>
            </a:ln>
          </p:spPr>
        </p:sp>
        <p:sp>
          <p:nvSpPr>
            <p:cNvPr id="291" name="Line 291"/>
            <p:cNvSpPr/>
            <p:nvPr/>
          </p:nvSpPr>
          <p:spPr>
            <a:xfrm>
              <a:off x="5057775" y="4838700"/>
              <a:ext cx="9525" cy="1828800"/>
            </a:xfrm>
            <a:custGeom>
              <a:avLst/>
              <a:gdLst/>
              <a:ahLst/>
              <a:cxnLst/>
              <a:rect l="l" t="t" r="r" b="b"/>
              <a:pathLst>
                <a:path w="9525" h="1828800">
                  <a:moveTo>
                    <a:pt x="0" y="0"/>
                  </a:moveTo>
                  <a:lnTo>
                    <a:pt x="0" y="1828800"/>
                  </a:lnTo>
                </a:path>
              </a:pathLst>
            </a:custGeom>
            <a:noFill/>
            <a:ln w="9525">
              <a:solidFill>
                <a:srgbClr val="F1C7CC"/>
              </a:solidFill>
            </a:ln>
          </p:spPr>
        </p:sp>
        <p:sp>
          <p:nvSpPr>
            <p:cNvPr id="292" name="Line 292"/>
            <p:cNvSpPr/>
            <p:nvPr/>
          </p:nvSpPr>
          <p:spPr>
            <a:xfrm>
              <a:off x="6296025" y="4838700"/>
              <a:ext cx="9525" cy="1828800"/>
            </a:xfrm>
            <a:custGeom>
              <a:avLst/>
              <a:gdLst/>
              <a:ahLst/>
              <a:cxnLst/>
              <a:rect l="l" t="t" r="r" b="b"/>
              <a:pathLst>
                <a:path w="9525" h="1828800">
                  <a:moveTo>
                    <a:pt x="0" y="0"/>
                  </a:moveTo>
                  <a:lnTo>
                    <a:pt x="0" y="1828800"/>
                  </a:lnTo>
                </a:path>
              </a:pathLst>
            </a:custGeom>
            <a:noFill/>
            <a:ln w="9525">
              <a:solidFill>
                <a:srgbClr val="F1C7CC"/>
              </a:solidFill>
            </a:ln>
          </p:spPr>
        </p:sp>
        <p:sp>
          <p:nvSpPr>
            <p:cNvPr id="293" name="Line 293"/>
            <p:cNvSpPr/>
            <p:nvPr/>
          </p:nvSpPr>
          <p:spPr>
            <a:xfrm>
              <a:off x="7524750" y="4838700"/>
              <a:ext cx="9525" cy="1828800"/>
            </a:xfrm>
            <a:custGeom>
              <a:avLst/>
              <a:gdLst/>
              <a:ahLst/>
              <a:cxnLst/>
              <a:rect l="l" t="t" r="r" b="b"/>
              <a:pathLst>
                <a:path w="9525" h="1828800">
                  <a:moveTo>
                    <a:pt x="0" y="0"/>
                  </a:moveTo>
                  <a:lnTo>
                    <a:pt x="0" y="1828800"/>
                  </a:lnTo>
                </a:path>
              </a:pathLst>
            </a:custGeom>
            <a:noFill/>
            <a:ln w="9525">
              <a:solidFill>
                <a:srgbClr val="F1C7CC"/>
              </a:solidFill>
            </a:ln>
          </p:spPr>
        </p:sp>
        <p:sp>
          <p:nvSpPr>
            <p:cNvPr id="294" name="Line 294"/>
            <p:cNvSpPr/>
            <p:nvPr/>
          </p:nvSpPr>
          <p:spPr>
            <a:xfrm>
              <a:off x="247650" y="6019800"/>
              <a:ext cx="990600" cy="9525"/>
            </a:xfrm>
            <a:custGeom>
              <a:avLst/>
              <a:gdLst/>
              <a:ahLst/>
              <a:cxnLst/>
              <a:rect l="l" t="t" r="r" b="b"/>
              <a:pathLst>
                <a:path w="990600" h="9525">
                  <a:moveTo>
                    <a:pt x="0" y="0"/>
                  </a:moveTo>
                  <a:lnTo>
                    <a:pt x="990600" y="0"/>
                  </a:lnTo>
                </a:path>
              </a:pathLst>
            </a:custGeom>
            <a:noFill/>
            <a:ln w="9525">
              <a:solidFill>
                <a:srgbClr val="F1C7CC"/>
              </a:solidFill>
            </a:ln>
          </p:spPr>
        </p:sp>
        <p:sp>
          <p:nvSpPr>
            <p:cNvPr id="295" name="Line 295"/>
            <p:cNvSpPr/>
            <p:nvPr/>
          </p:nvSpPr>
          <p:spPr>
            <a:xfrm>
              <a:off x="1485900" y="6019800"/>
              <a:ext cx="990600" cy="9525"/>
            </a:xfrm>
            <a:custGeom>
              <a:avLst/>
              <a:gdLst/>
              <a:ahLst/>
              <a:cxnLst/>
              <a:rect l="l" t="t" r="r" b="b"/>
              <a:pathLst>
                <a:path w="990600" h="9525">
                  <a:moveTo>
                    <a:pt x="0" y="0"/>
                  </a:moveTo>
                  <a:lnTo>
                    <a:pt x="990600" y="0"/>
                  </a:lnTo>
                </a:path>
              </a:pathLst>
            </a:custGeom>
            <a:noFill/>
            <a:ln w="9525">
              <a:solidFill>
                <a:srgbClr val="F1C7CC"/>
              </a:solidFill>
            </a:ln>
          </p:spPr>
        </p:sp>
        <p:sp>
          <p:nvSpPr>
            <p:cNvPr id="296" name="Line 296"/>
            <p:cNvSpPr/>
            <p:nvPr/>
          </p:nvSpPr>
          <p:spPr>
            <a:xfrm>
              <a:off x="2714625" y="6019800"/>
              <a:ext cx="990600" cy="9525"/>
            </a:xfrm>
            <a:custGeom>
              <a:avLst/>
              <a:gdLst/>
              <a:ahLst/>
              <a:cxnLst/>
              <a:rect l="l" t="t" r="r" b="b"/>
              <a:pathLst>
                <a:path w="990600" h="9525">
                  <a:moveTo>
                    <a:pt x="0" y="0"/>
                  </a:moveTo>
                  <a:lnTo>
                    <a:pt x="990600" y="0"/>
                  </a:lnTo>
                </a:path>
              </a:pathLst>
            </a:custGeom>
            <a:noFill/>
            <a:ln w="9525">
              <a:solidFill>
                <a:srgbClr val="F1C7CC"/>
              </a:solidFill>
            </a:ln>
          </p:spPr>
        </p:sp>
        <p:sp>
          <p:nvSpPr>
            <p:cNvPr id="297" name="Line 297"/>
            <p:cNvSpPr/>
            <p:nvPr/>
          </p:nvSpPr>
          <p:spPr>
            <a:xfrm>
              <a:off x="3952875" y="6019800"/>
              <a:ext cx="990600" cy="9525"/>
            </a:xfrm>
            <a:custGeom>
              <a:avLst/>
              <a:gdLst/>
              <a:ahLst/>
              <a:cxnLst/>
              <a:rect l="l" t="t" r="r" b="b"/>
              <a:pathLst>
                <a:path w="990600" h="9525">
                  <a:moveTo>
                    <a:pt x="0" y="0"/>
                  </a:moveTo>
                  <a:lnTo>
                    <a:pt x="990600" y="0"/>
                  </a:lnTo>
                </a:path>
              </a:pathLst>
            </a:custGeom>
            <a:noFill/>
            <a:ln w="9525">
              <a:solidFill>
                <a:srgbClr val="F1C7CC"/>
              </a:solidFill>
            </a:ln>
          </p:spPr>
        </p:sp>
        <p:sp>
          <p:nvSpPr>
            <p:cNvPr id="298" name="Line 298"/>
            <p:cNvSpPr/>
            <p:nvPr/>
          </p:nvSpPr>
          <p:spPr>
            <a:xfrm>
              <a:off x="5181600" y="6019800"/>
              <a:ext cx="990600" cy="9525"/>
            </a:xfrm>
            <a:custGeom>
              <a:avLst/>
              <a:gdLst/>
              <a:ahLst/>
              <a:cxnLst/>
              <a:rect l="l" t="t" r="r" b="b"/>
              <a:pathLst>
                <a:path w="990600" h="9525">
                  <a:moveTo>
                    <a:pt x="0" y="0"/>
                  </a:moveTo>
                  <a:lnTo>
                    <a:pt x="990600" y="0"/>
                  </a:lnTo>
                </a:path>
              </a:pathLst>
            </a:custGeom>
            <a:noFill/>
            <a:ln w="9525">
              <a:solidFill>
                <a:srgbClr val="F1C7CC"/>
              </a:solidFill>
            </a:ln>
          </p:spPr>
        </p:sp>
        <p:sp>
          <p:nvSpPr>
            <p:cNvPr id="299" name="Line 299"/>
            <p:cNvSpPr/>
            <p:nvPr/>
          </p:nvSpPr>
          <p:spPr>
            <a:xfrm>
              <a:off x="6419850" y="6019800"/>
              <a:ext cx="990600" cy="9525"/>
            </a:xfrm>
            <a:custGeom>
              <a:avLst/>
              <a:gdLst/>
              <a:ahLst/>
              <a:cxnLst/>
              <a:rect l="l" t="t" r="r" b="b"/>
              <a:pathLst>
                <a:path w="990600" h="9525">
                  <a:moveTo>
                    <a:pt x="0" y="0"/>
                  </a:moveTo>
                  <a:lnTo>
                    <a:pt x="990600" y="0"/>
                  </a:lnTo>
                </a:path>
              </a:pathLst>
            </a:custGeom>
            <a:noFill/>
            <a:ln w="9525">
              <a:solidFill>
                <a:srgbClr val="F1C7CC"/>
              </a:solidFill>
            </a:ln>
          </p:spPr>
        </p:sp>
        <p:sp>
          <p:nvSpPr>
            <p:cNvPr id="300" name="Line 300"/>
            <p:cNvSpPr/>
            <p:nvPr/>
          </p:nvSpPr>
          <p:spPr>
            <a:xfrm>
              <a:off x="7648575" y="6019800"/>
              <a:ext cx="990600" cy="9525"/>
            </a:xfrm>
            <a:custGeom>
              <a:avLst/>
              <a:gdLst/>
              <a:ahLst/>
              <a:cxnLst/>
              <a:rect l="l" t="t" r="r" b="b"/>
              <a:pathLst>
                <a:path w="990600" h="9525">
                  <a:moveTo>
                    <a:pt x="0" y="0"/>
                  </a:moveTo>
                  <a:lnTo>
                    <a:pt x="990600" y="0"/>
                  </a:lnTo>
                </a:path>
              </a:pathLst>
            </a:custGeom>
            <a:noFill/>
            <a:ln w="9525">
              <a:solidFill>
                <a:srgbClr val="F1C7CC"/>
              </a:solidFill>
            </a:ln>
          </p:spPr>
        </p:sp>
        <p:sp>
          <p:nvSpPr>
            <p:cNvPr id="301" name="TextBox 301"/>
            <p:cNvSpPr txBox="1"/>
            <p:nvPr/>
          </p:nvSpPr>
          <p:spPr>
            <a:xfrm>
              <a:off x="555104" y="6175534"/>
              <a:ext cx="375691"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识别兴趣</a:t>
              </a:r>
            </a:p>
          </p:txBody>
        </p:sp>
        <p:sp>
          <p:nvSpPr>
            <p:cNvPr id="302" name="TextBox 302"/>
            <p:cNvSpPr txBox="1"/>
            <p:nvPr/>
          </p:nvSpPr>
          <p:spPr>
            <a:xfrm>
              <a:off x="463563" y="6327934"/>
              <a:ext cx="55877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推送相关内容</a:t>
              </a:r>
            </a:p>
          </p:txBody>
        </p:sp>
        <p:sp>
          <p:nvSpPr>
            <p:cNvPr id="303" name="TextBox 303"/>
            <p:cNvSpPr txBox="1"/>
            <p:nvPr/>
          </p:nvSpPr>
          <p:spPr>
            <a:xfrm>
              <a:off x="1701813" y="6175534"/>
              <a:ext cx="55877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提升互动频次</a:t>
              </a:r>
            </a:p>
          </p:txBody>
        </p:sp>
        <p:sp>
          <p:nvSpPr>
            <p:cNvPr id="304" name="TextBox 304"/>
            <p:cNvSpPr txBox="1"/>
            <p:nvPr/>
          </p:nvSpPr>
          <p:spPr>
            <a:xfrm>
              <a:off x="1701813" y="6327934"/>
              <a:ext cx="55877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进入人工跟进</a:t>
              </a:r>
            </a:p>
          </p:txBody>
        </p:sp>
        <p:sp>
          <p:nvSpPr>
            <p:cNvPr id="305" name="TextBox 305"/>
            <p:cNvSpPr txBox="1"/>
            <p:nvPr/>
          </p:nvSpPr>
          <p:spPr>
            <a:xfrm>
              <a:off x="2976308" y="6175534"/>
              <a:ext cx="467233"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标记高意向</a:t>
              </a:r>
            </a:p>
          </p:txBody>
        </p:sp>
        <p:sp>
          <p:nvSpPr>
            <p:cNvPr id="306" name="TextBox 306"/>
            <p:cNvSpPr txBox="1"/>
            <p:nvPr/>
          </p:nvSpPr>
          <p:spPr>
            <a:xfrm>
              <a:off x="2930538" y="6327934"/>
              <a:ext cx="55877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及时专业解答</a:t>
              </a:r>
            </a:p>
          </p:txBody>
        </p:sp>
        <p:sp>
          <p:nvSpPr>
            <p:cNvPr id="307" name="TextBox 307"/>
            <p:cNvSpPr txBox="1"/>
            <p:nvPr/>
          </p:nvSpPr>
          <p:spPr>
            <a:xfrm>
              <a:off x="4123017" y="6175534"/>
              <a:ext cx="650316"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同步进员工工单</a:t>
              </a:r>
            </a:p>
          </p:txBody>
        </p:sp>
        <p:sp>
          <p:nvSpPr>
            <p:cNvPr id="308" name="TextBox 308"/>
            <p:cNvSpPr txBox="1"/>
            <p:nvPr/>
          </p:nvSpPr>
          <p:spPr>
            <a:xfrm>
              <a:off x="4260329" y="6327934"/>
              <a:ext cx="375691"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优先跟进</a:t>
              </a:r>
            </a:p>
          </p:txBody>
        </p:sp>
        <p:sp>
          <p:nvSpPr>
            <p:cNvPr id="309" name="TextBox 309"/>
            <p:cNvSpPr txBox="1"/>
            <p:nvPr/>
          </p:nvSpPr>
          <p:spPr>
            <a:xfrm>
              <a:off x="5397513" y="6175534"/>
              <a:ext cx="55877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自动触发提醒</a:t>
              </a:r>
            </a:p>
          </p:txBody>
        </p:sp>
        <p:sp>
          <p:nvSpPr>
            <p:cNvPr id="310" name="TextBox 310"/>
            <p:cNvSpPr txBox="1"/>
            <p:nvPr/>
          </p:nvSpPr>
          <p:spPr>
            <a:xfrm>
              <a:off x="5279538" y="6327934"/>
              <a:ext cx="794723"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推送续接/新发内容</a:t>
              </a:r>
            </a:p>
          </p:txBody>
        </p:sp>
        <p:sp>
          <p:nvSpPr>
            <p:cNvPr id="311" name="TextBox 311"/>
            <p:cNvSpPr txBox="1"/>
            <p:nvPr/>
          </p:nvSpPr>
          <p:spPr>
            <a:xfrm>
              <a:off x="6635763" y="6175534"/>
              <a:ext cx="55877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识别资金信号</a:t>
              </a:r>
            </a:p>
          </p:txBody>
        </p:sp>
        <p:sp>
          <p:nvSpPr>
            <p:cNvPr id="312" name="TextBox 312"/>
            <p:cNvSpPr txBox="1"/>
            <p:nvPr/>
          </p:nvSpPr>
          <p:spPr>
            <a:xfrm>
              <a:off x="6635763" y="6327934"/>
              <a:ext cx="55877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推荐适配产品</a:t>
              </a:r>
            </a:p>
          </p:txBody>
        </p:sp>
        <p:sp>
          <p:nvSpPr>
            <p:cNvPr id="313" name="TextBox 313"/>
            <p:cNvSpPr txBox="1"/>
            <p:nvPr/>
          </p:nvSpPr>
          <p:spPr>
            <a:xfrm>
              <a:off x="7864488" y="6175534"/>
              <a:ext cx="55877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识别消费偏好</a:t>
              </a:r>
            </a:p>
          </p:txBody>
        </p:sp>
        <p:sp>
          <p:nvSpPr>
            <p:cNvPr id="314" name="TextBox 314"/>
            <p:cNvSpPr txBox="1"/>
            <p:nvPr/>
          </p:nvSpPr>
          <p:spPr>
            <a:xfrm>
              <a:off x="7864488" y="6327934"/>
              <a:ext cx="55877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推荐相关权益</a:t>
              </a:r>
            </a:p>
          </p:txBody>
        </p:sp>
      </p:grpSp>
      <p:grpSp>
        <p:nvGrpSpPr>
          <p:cNvPr id="351" name="intent-card"/>
          <p:cNvGrpSpPr/>
          <p:nvPr/>
        </p:nvGrpSpPr>
        <p:grpSpPr>
          <a:xfrm>
            <a:off x="8896350" y="628650"/>
            <a:ext cx="3162300" cy="2570131"/>
            <a:chOff x="8896350" y="628650"/>
            <a:chExt cx="3162300" cy="2570131"/>
          </a:xfrm>
        </p:grpSpPr>
        <p:sp>
          <p:nvSpPr>
            <p:cNvPr id="316" name="Rectangle 316"/>
            <p:cNvSpPr/>
            <p:nvPr/>
          </p:nvSpPr>
          <p:spPr>
            <a:xfrm>
              <a:off x="8896350" y="628650"/>
              <a:ext cx="3162300" cy="228600"/>
            </a:xfrm>
            <a:prstGeom prst="rect">
              <a:avLst/>
            </a:prstGeom>
            <a:solidFill>
              <a:srgbClr val="C83210"/>
            </a:solidFill>
            <a:ln>
              <a:noFill/>
            </a:ln>
          </p:spPr>
        </p:sp>
        <p:sp>
          <p:nvSpPr>
            <p:cNvPr id="317" name="TextBox 317"/>
            <p:cNvSpPr txBox="1"/>
            <p:nvPr/>
          </p:nvSpPr>
          <p:spPr>
            <a:xfrm>
              <a:off x="9005888" y="691991"/>
              <a:ext cx="1223797"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客户意向分级与路径规则</a:t>
              </a:r>
            </a:p>
          </p:txBody>
        </p:sp>
        <p:sp>
          <p:nvSpPr>
            <p:cNvPr id="318" name="Ellipse 318"/>
            <p:cNvSpPr/>
            <p:nvPr/>
          </p:nvSpPr>
          <p:spPr>
            <a:xfrm>
              <a:off x="9010650" y="962025"/>
              <a:ext cx="228600" cy="228600"/>
            </a:xfrm>
            <a:prstGeom prst="ellipse">
              <a:avLst/>
            </a:prstGeom>
            <a:solidFill>
              <a:srgbClr val="FDEFF1"/>
            </a:solidFill>
            <a:ln>
              <a:noFill/>
            </a:ln>
          </p:spPr>
        </p:sp>
        <p:grpSp>
          <p:nvGrpSpPr>
            <p:cNvPr id="321" name="Group 321"/>
            <p:cNvGrpSpPr/>
            <p:nvPr/>
          </p:nvGrpSpPr>
          <p:grpSpPr>
            <a:xfrm>
              <a:off x="9086850" y="1019175"/>
              <a:ext cx="76200" cy="114300"/>
              <a:chOff x="9086850" y="1019175"/>
              <a:chExt cx="76200" cy="114300"/>
            </a:xfrm>
          </p:grpSpPr>
          <p:sp>
            <p:nvSpPr>
              <p:cNvPr id="319" name="Freeform 319"/>
              <p:cNvSpPr/>
              <p:nvPr/>
            </p:nvSpPr>
            <p:spPr>
              <a:xfrm>
                <a:off x="9099550" y="10191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320" name="Freeform 320"/>
              <p:cNvSpPr/>
              <p:nvPr/>
            </p:nvSpPr>
            <p:spPr>
              <a:xfrm>
                <a:off x="9086850" y="109537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C83210"/>
                </a:solidFill>
              </a:ln>
            </p:spPr>
          </p:sp>
        </p:grpSp>
        <p:sp>
          <p:nvSpPr>
            <p:cNvPr id="322" name="TextBox 322"/>
            <p:cNvSpPr txBox="1"/>
            <p:nvPr/>
          </p:nvSpPr>
          <p:spPr>
            <a:xfrm>
              <a:off x="9310688" y="981789"/>
              <a:ext cx="54127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低意向客户</a:t>
              </a:r>
            </a:p>
          </p:txBody>
        </p:sp>
        <p:sp>
          <p:nvSpPr>
            <p:cNvPr id="323" name="Rectangle 323"/>
            <p:cNvSpPr/>
            <p:nvPr/>
          </p:nvSpPr>
          <p:spPr>
            <a:xfrm>
              <a:off x="9982200" y="942975"/>
              <a:ext cx="438150" cy="152400"/>
            </a:xfrm>
            <a:prstGeom prst="roundRect">
              <a:avLst>
                <a:gd name="adj" fmla="val 50000"/>
              </a:avLst>
            </a:prstGeom>
            <a:solidFill>
              <a:srgbClr val="FDEFF1"/>
            </a:solidFill>
            <a:ln>
              <a:noFill/>
            </a:ln>
          </p:spPr>
        </p:sp>
        <p:sp>
          <p:nvSpPr>
            <p:cNvPr id="324" name="TextBox 324"/>
            <p:cNvSpPr txBox="1"/>
            <p:nvPr/>
          </p:nvSpPr>
          <p:spPr>
            <a:xfrm>
              <a:off x="10067277" y="988457"/>
              <a:ext cx="26799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自孵化</a:t>
              </a:r>
            </a:p>
          </p:txBody>
        </p:sp>
        <p:sp>
          <p:nvSpPr>
            <p:cNvPr id="325" name="TextBox 325"/>
            <p:cNvSpPr txBox="1"/>
            <p:nvPr/>
          </p:nvSpPr>
          <p:spPr>
            <a:xfrm>
              <a:off x="9310688" y="1171861"/>
              <a:ext cx="836905" cy="121920"/>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20" dirty="0">
                  <a:solidFill>
                    <a:srgbClr val="3D3D3D"/>
                  </a:solidFill>
                  <a:latin typeface="+mn-lt"/>
                  <a:ea typeface="+mn-ea"/>
                  <a:cs typeface="+mn-cs"/>
                </a:rPr>
                <a:t>行为少，未明确需求</a:t>
              </a:r>
            </a:p>
          </p:txBody>
        </p:sp>
        <p:sp>
          <p:nvSpPr>
            <p:cNvPr id="326" name="TextBox 326"/>
            <p:cNvSpPr txBox="1"/>
            <p:nvPr/>
          </p:nvSpPr>
          <p:spPr>
            <a:xfrm>
              <a:off x="9310688" y="1305211"/>
              <a:ext cx="1087298" cy="121920"/>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20" dirty="0">
                  <a:solidFill>
                    <a:srgbClr val="3D3D3D"/>
                  </a:solidFill>
                  <a:latin typeface="+mn-lt"/>
                  <a:ea typeface="+mn-ea"/>
                  <a:cs typeface="+mn-cs"/>
                </a:rPr>
                <a:t>以内容推送和活动运营为主</a:t>
              </a:r>
            </a:p>
          </p:txBody>
        </p:sp>
        <p:sp>
          <p:nvSpPr>
            <p:cNvPr id="327" name="TextBox 327"/>
            <p:cNvSpPr txBox="1"/>
            <p:nvPr/>
          </p:nvSpPr>
          <p:spPr>
            <a:xfrm>
              <a:off x="9310688" y="1438561"/>
              <a:ext cx="1003833" cy="121920"/>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20" dirty="0">
                  <a:solidFill>
                    <a:srgbClr val="3D3D3D"/>
                  </a:solidFill>
                  <a:latin typeface="+mn-lt"/>
                  <a:ea typeface="+mn-ea"/>
                  <a:cs typeface="+mn-cs"/>
                </a:rPr>
                <a:t>系统自动触达，定期评估</a:t>
              </a:r>
            </a:p>
          </p:txBody>
        </p:sp>
        <p:sp>
          <p:nvSpPr>
            <p:cNvPr id="328" name="Line 328"/>
            <p:cNvSpPr/>
            <p:nvPr/>
          </p:nvSpPr>
          <p:spPr>
            <a:xfrm>
              <a:off x="8896350" y="1619250"/>
              <a:ext cx="3162300" cy="9525"/>
            </a:xfrm>
            <a:custGeom>
              <a:avLst/>
              <a:gdLst/>
              <a:ahLst/>
              <a:cxnLst/>
              <a:rect l="l" t="t" r="r" b="b"/>
              <a:pathLst>
                <a:path w="3162300" h="9525">
                  <a:moveTo>
                    <a:pt x="0" y="0"/>
                  </a:moveTo>
                  <a:lnTo>
                    <a:pt x="3162300" y="0"/>
                  </a:lnTo>
                </a:path>
              </a:pathLst>
            </a:custGeom>
            <a:noFill/>
            <a:ln w="9525">
              <a:solidFill>
                <a:srgbClr val="F1C7CC"/>
              </a:solidFill>
            </a:ln>
          </p:spPr>
        </p:sp>
        <p:sp>
          <p:nvSpPr>
            <p:cNvPr id="329" name="Ellipse 329"/>
            <p:cNvSpPr/>
            <p:nvPr/>
          </p:nvSpPr>
          <p:spPr>
            <a:xfrm>
              <a:off x="9010650" y="1781175"/>
              <a:ext cx="228600" cy="228600"/>
            </a:xfrm>
            <a:prstGeom prst="ellipse">
              <a:avLst/>
            </a:prstGeom>
            <a:solidFill>
              <a:srgbClr val="FDEFF1"/>
            </a:solidFill>
            <a:ln>
              <a:noFill/>
            </a:ln>
          </p:spPr>
        </p:sp>
        <p:grpSp>
          <p:nvGrpSpPr>
            <p:cNvPr id="334" name="Group 334"/>
            <p:cNvGrpSpPr/>
            <p:nvPr/>
          </p:nvGrpSpPr>
          <p:grpSpPr>
            <a:xfrm>
              <a:off x="9086850" y="1838325"/>
              <a:ext cx="101600" cy="120650"/>
              <a:chOff x="9086850" y="1838325"/>
              <a:chExt cx="101600" cy="120650"/>
            </a:xfrm>
          </p:grpSpPr>
          <p:sp>
            <p:nvSpPr>
              <p:cNvPr id="330" name="Freeform 330"/>
              <p:cNvSpPr/>
              <p:nvPr/>
            </p:nvSpPr>
            <p:spPr>
              <a:xfrm>
                <a:off x="9099550" y="18383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331" name="Freeform 331"/>
              <p:cNvSpPr/>
              <p:nvPr/>
            </p:nvSpPr>
            <p:spPr>
              <a:xfrm>
                <a:off x="9086850" y="1914525"/>
                <a:ext cx="34925" cy="38100"/>
              </a:xfrm>
              <a:custGeom>
                <a:avLst/>
                <a:gdLst/>
                <a:ahLst/>
                <a:cxnLst/>
                <a:rect l="l" t="t" r="r" b="b"/>
                <a:pathLst>
                  <a:path w="34925" h="38100">
                    <a:moveTo>
                      <a:pt x="0" y="38100"/>
                    </a:moveTo>
                    <a:lnTo>
                      <a:pt x="0" y="25400"/>
                    </a:lnTo>
                    <a:cubicBezTo>
                      <a:pt x="0" y="11372"/>
                      <a:pt x="11372" y="0"/>
                      <a:pt x="25400" y="0"/>
                    </a:cubicBezTo>
                    <a:lnTo>
                      <a:pt x="34925" y="0"/>
                    </a:lnTo>
                  </a:path>
                </a:pathLst>
              </a:custGeom>
              <a:noFill/>
              <a:ln w="12700">
                <a:solidFill>
                  <a:srgbClr val="C83210"/>
                </a:solidFill>
              </a:ln>
            </p:spPr>
          </p:sp>
          <p:sp>
            <p:nvSpPr>
              <p:cNvPr id="332" name="Freeform 332"/>
              <p:cNvSpPr/>
              <p:nvPr/>
            </p:nvSpPr>
            <p:spPr>
              <a:xfrm>
                <a:off x="9144000" y="19145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C83210"/>
                </a:solidFill>
              </a:ln>
            </p:spPr>
          </p:sp>
          <p:sp>
            <p:nvSpPr>
              <p:cNvPr id="333" name="Freeform 333"/>
              <p:cNvSpPr/>
              <p:nvPr/>
            </p:nvSpPr>
            <p:spPr>
              <a:xfrm>
                <a:off x="9177020" y="1947545"/>
                <a:ext cx="11430" cy="11430"/>
              </a:xfrm>
              <a:custGeom>
                <a:avLst/>
                <a:gdLst/>
                <a:ahLst/>
                <a:cxnLst/>
                <a:rect l="l" t="t" r="r" b="b"/>
                <a:pathLst>
                  <a:path w="11430" h="11430">
                    <a:moveTo>
                      <a:pt x="0" y="0"/>
                    </a:moveTo>
                    <a:lnTo>
                      <a:pt x="11430" y="11430"/>
                    </a:lnTo>
                  </a:path>
                </a:pathLst>
              </a:custGeom>
              <a:noFill/>
              <a:ln w="12700">
                <a:solidFill>
                  <a:srgbClr val="C83210"/>
                </a:solidFill>
              </a:ln>
            </p:spPr>
          </p:sp>
        </p:grpSp>
        <p:sp>
          <p:nvSpPr>
            <p:cNvPr id="335" name="TextBox 335"/>
            <p:cNvSpPr txBox="1"/>
            <p:nvPr/>
          </p:nvSpPr>
          <p:spPr>
            <a:xfrm>
              <a:off x="9310688" y="1800939"/>
              <a:ext cx="54127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中意向客户</a:t>
              </a:r>
            </a:p>
          </p:txBody>
        </p:sp>
        <p:sp>
          <p:nvSpPr>
            <p:cNvPr id="336" name="TextBox 336"/>
            <p:cNvSpPr txBox="1"/>
            <p:nvPr/>
          </p:nvSpPr>
          <p:spPr>
            <a:xfrm>
              <a:off x="9310688" y="1991011"/>
              <a:ext cx="1012180" cy="121920"/>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20" dirty="0">
                  <a:solidFill>
                    <a:srgbClr val="3D3D3D"/>
                  </a:solidFill>
                  <a:latin typeface="+mn-lt"/>
                  <a:ea typeface="+mn-ea"/>
                  <a:cs typeface="+mn-cs"/>
                </a:rPr>
                <a:t>有点击/回复/咨询等行为</a:t>
              </a:r>
            </a:p>
          </p:txBody>
        </p:sp>
        <p:sp>
          <p:nvSpPr>
            <p:cNvPr id="337" name="TextBox 337"/>
            <p:cNvSpPr txBox="1"/>
            <p:nvPr/>
          </p:nvSpPr>
          <p:spPr>
            <a:xfrm>
              <a:off x="9310688" y="2124361"/>
              <a:ext cx="1065881" cy="121920"/>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20" dirty="0">
                  <a:solidFill>
                    <a:srgbClr val="3D3D3D"/>
                  </a:solidFill>
                  <a:latin typeface="+mn-lt"/>
                  <a:ea typeface="+mn-ea"/>
                  <a:cs typeface="+mn-cs"/>
                </a:rPr>
                <a:t xml:space="preserve">由网点客户经理1V1跟进　</a:t>
              </a:r>
            </a:p>
          </p:txBody>
        </p:sp>
        <p:sp>
          <p:nvSpPr>
            <p:cNvPr id="338" name="TextBox 338"/>
            <p:cNvSpPr txBox="1"/>
            <p:nvPr/>
          </p:nvSpPr>
          <p:spPr>
            <a:xfrm>
              <a:off x="9310688" y="2257711"/>
              <a:ext cx="1087298" cy="121920"/>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20" dirty="0">
                  <a:solidFill>
                    <a:srgbClr val="3D3D3D"/>
                  </a:solidFill>
                  <a:latin typeface="+mn-lt"/>
                  <a:ea typeface="+mn-ea"/>
                  <a:cs typeface="+mn-cs"/>
                </a:rPr>
                <a:t>结合客户画像制定跟进计划</a:t>
              </a:r>
            </a:p>
          </p:txBody>
        </p:sp>
        <p:sp>
          <p:nvSpPr>
            <p:cNvPr id="339" name="Line 339"/>
            <p:cNvSpPr/>
            <p:nvPr/>
          </p:nvSpPr>
          <p:spPr>
            <a:xfrm>
              <a:off x="8896350" y="2438400"/>
              <a:ext cx="3162300" cy="9525"/>
            </a:xfrm>
            <a:custGeom>
              <a:avLst/>
              <a:gdLst/>
              <a:ahLst/>
              <a:cxnLst/>
              <a:rect l="l" t="t" r="r" b="b"/>
              <a:pathLst>
                <a:path w="3162300" h="9525">
                  <a:moveTo>
                    <a:pt x="0" y="0"/>
                  </a:moveTo>
                  <a:lnTo>
                    <a:pt x="3162300" y="0"/>
                  </a:lnTo>
                </a:path>
              </a:pathLst>
            </a:custGeom>
            <a:noFill/>
            <a:ln w="9525">
              <a:solidFill>
                <a:srgbClr val="F1C7CC"/>
              </a:solidFill>
            </a:ln>
          </p:spPr>
        </p:sp>
        <p:sp>
          <p:nvSpPr>
            <p:cNvPr id="340" name="Ellipse 340"/>
            <p:cNvSpPr/>
            <p:nvPr/>
          </p:nvSpPr>
          <p:spPr>
            <a:xfrm>
              <a:off x="9010650" y="2600325"/>
              <a:ext cx="228600" cy="228600"/>
            </a:xfrm>
            <a:prstGeom prst="ellipse">
              <a:avLst/>
            </a:prstGeom>
            <a:solidFill>
              <a:srgbClr val="FDEFF1"/>
            </a:solidFill>
            <a:ln>
              <a:noFill/>
            </a:ln>
          </p:spPr>
        </p:sp>
        <p:grpSp>
          <p:nvGrpSpPr>
            <p:cNvPr id="344" name="Group 344"/>
            <p:cNvGrpSpPr/>
            <p:nvPr/>
          </p:nvGrpSpPr>
          <p:grpSpPr>
            <a:xfrm>
              <a:off x="9086850" y="2657475"/>
              <a:ext cx="101610" cy="120650"/>
              <a:chOff x="9086850" y="2657475"/>
              <a:chExt cx="101610" cy="120650"/>
            </a:xfrm>
          </p:grpSpPr>
          <p:sp>
            <p:nvSpPr>
              <p:cNvPr id="341" name="Freeform 341"/>
              <p:cNvSpPr/>
              <p:nvPr/>
            </p:nvSpPr>
            <p:spPr>
              <a:xfrm>
                <a:off x="9099550" y="26574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342" name="Freeform 342"/>
              <p:cNvSpPr/>
              <p:nvPr/>
            </p:nvSpPr>
            <p:spPr>
              <a:xfrm>
                <a:off x="9086850" y="2733675"/>
                <a:ext cx="28575" cy="38100"/>
              </a:xfrm>
              <a:custGeom>
                <a:avLst/>
                <a:gdLst/>
                <a:ahLst/>
                <a:cxnLst/>
                <a:rect l="l" t="t" r="r" b="b"/>
                <a:pathLst>
                  <a:path w="28575" h="38100">
                    <a:moveTo>
                      <a:pt x="0" y="38100"/>
                    </a:moveTo>
                    <a:lnTo>
                      <a:pt x="0" y="25400"/>
                    </a:lnTo>
                    <a:cubicBezTo>
                      <a:pt x="0" y="11372"/>
                      <a:pt x="11372" y="0"/>
                      <a:pt x="25400" y="0"/>
                    </a:cubicBezTo>
                    <a:lnTo>
                      <a:pt x="28575" y="0"/>
                    </a:lnTo>
                  </a:path>
                </a:pathLst>
              </a:custGeom>
              <a:noFill/>
              <a:ln w="12700">
                <a:solidFill>
                  <a:srgbClr val="C83210"/>
                </a:solidFill>
              </a:ln>
            </p:spPr>
          </p:sp>
          <p:sp>
            <p:nvSpPr>
              <p:cNvPr id="343" name="Freeform 343"/>
              <p:cNvSpPr/>
              <p:nvPr/>
            </p:nvSpPr>
            <p:spPr>
              <a:xfrm>
                <a:off x="9137642" y="2732324"/>
                <a:ext cx="50818" cy="45801"/>
              </a:xfrm>
              <a:custGeom>
                <a:avLst/>
                <a:gdLst/>
                <a:ahLst/>
                <a:cxnLst/>
                <a:rect l="l" t="t" r="r" b="b"/>
                <a:pathLst>
                  <a:path w="50818" h="45801">
                    <a:moveTo>
                      <a:pt x="25408" y="45801"/>
                    </a:moveTo>
                    <a:lnTo>
                      <a:pt x="46680" y="24948"/>
                    </a:lnTo>
                    <a:cubicBezTo>
                      <a:pt x="49316" y="22391"/>
                      <a:pt x="50806" y="18877"/>
                      <a:pt x="50812" y="15204"/>
                    </a:cubicBezTo>
                    <a:cubicBezTo>
                      <a:pt x="50818" y="11532"/>
                      <a:pt x="49339" y="8013"/>
                      <a:pt x="46712" y="5447"/>
                    </a:cubicBezTo>
                    <a:cubicBezTo>
                      <a:pt x="41194" y="51"/>
                      <a:pt x="32382" y="34"/>
                      <a:pt x="26843" y="5409"/>
                    </a:cubicBezTo>
                    <a:lnTo>
                      <a:pt x="25421" y="6806"/>
                    </a:lnTo>
                    <a:lnTo>
                      <a:pt x="24005" y="5409"/>
                    </a:lnTo>
                    <a:cubicBezTo>
                      <a:pt x="18487" y="17"/>
                      <a:pt x="9679" y="0"/>
                      <a:pt x="4142" y="5371"/>
                    </a:cubicBezTo>
                    <a:cubicBezTo>
                      <a:pt x="1505" y="7928"/>
                      <a:pt x="14" y="11441"/>
                      <a:pt x="7" y="15113"/>
                    </a:cubicBezTo>
                    <a:cubicBezTo>
                      <a:pt x="0" y="18786"/>
                      <a:pt x="1477" y="22305"/>
                      <a:pt x="4104" y="24872"/>
                    </a:cubicBezTo>
                    <a:lnTo>
                      <a:pt x="25408" y="45801"/>
                    </a:lnTo>
                  </a:path>
                </a:pathLst>
              </a:custGeom>
              <a:noFill/>
              <a:ln w="12700">
                <a:solidFill>
                  <a:srgbClr val="C83210"/>
                </a:solidFill>
              </a:ln>
            </p:spPr>
          </p:sp>
        </p:grpSp>
        <p:sp>
          <p:nvSpPr>
            <p:cNvPr id="345" name="TextBox 345"/>
            <p:cNvSpPr txBox="1"/>
            <p:nvPr/>
          </p:nvSpPr>
          <p:spPr>
            <a:xfrm>
              <a:off x="9310688" y="2620089"/>
              <a:ext cx="54127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高意向客户</a:t>
              </a:r>
            </a:p>
          </p:txBody>
        </p:sp>
        <p:sp>
          <p:nvSpPr>
            <p:cNvPr id="346" name="Rectangle 346"/>
            <p:cNvSpPr/>
            <p:nvPr/>
          </p:nvSpPr>
          <p:spPr>
            <a:xfrm>
              <a:off x="9982200" y="2581275"/>
              <a:ext cx="438150" cy="152400"/>
            </a:xfrm>
            <a:prstGeom prst="roundRect">
              <a:avLst>
                <a:gd name="adj" fmla="val 50000"/>
              </a:avLst>
            </a:prstGeom>
            <a:solidFill>
              <a:srgbClr val="C83210"/>
            </a:solidFill>
            <a:ln>
              <a:noFill/>
            </a:ln>
          </p:spPr>
        </p:sp>
        <p:sp>
          <p:nvSpPr>
            <p:cNvPr id="347" name="TextBox 347"/>
            <p:cNvSpPr txBox="1"/>
            <p:nvPr/>
          </p:nvSpPr>
          <p:spPr>
            <a:xfrm>
              <a:off x="10024199" y="26267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专员对接</a:t>
              </a:r>
            </a:p>
          </p:txBody>
        </p:sp>
        <p:sp>
          <p:nvSpPr>
            <p:cNvPr id="348" name="TextBox 348"/>
            <p:cNvSpPr txBox="1"/>
            <p:nvPr/>
          </p:nvSpPr>
          <p:spPr>
            <a:xfrm>
              <a:off x="9310688" y="2810161"/>
              <a:ext cx="753440" cy="121920"/>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20" dirty="0">
                  <a:solidFill>
                    <a:srgbClr val="3D3D3D"/>
                  </a:solidFill>
                  <a:latin typeface="+mn-lt"/>
                  <a:ea typeface="+mn-ea"/>
                  <a:cs typeface="+mn-cs"/>
                </a:rPr>
                <a:t>明确表达购买意向</a:t>
              </a:r>
            </a:p>
          </p:txBody>
        </p:sp>
        <p:sp>
          <p:nvSpPr>
            <p:cNvPr id="349" name="TextBox 349"/>
            <p:cNvSpPr txBox="1"/>
            <p:nvPr/>
          </p:nvSpPr>
          <p:spPr>
            <a:xfrm>
              <a:off x="9310688" y="2943511"/>
              <a:ext cx="1049739" cy="121920"/>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20" dirty="0">
                  <a:solidFill>
                    <a:srgbClr val="3D3D3D"/>
                  </a:solidFill>
                  <a:latin typeface="+mn-lt"/>
                  <a:ea typeface="+mn-ea"/>
                  <a:cs typeface="+mn-cs"/>
                </a:rPr>
                <a:t xml:space="preserve">转接产品专家/理财经理　</a:t>
              </a:r>
            </a:p>
          </p:txBody>
        </p:sp>
        <p:sp>
          <p:nvSpPr>
            <p:cNvPr id="350" name="TextBox 350"/>
            <p:cNvSpPr txBox="1"/>
            <p:nvPr/>
          </p:nvSpPr>
          <p:spPr>
            <a:xfrm>
              <a:off x="9310688" y="3076861"/>
              <a:ext cx="1003833" cy="121920"/>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20" dirty="0">
                  <a:solidFill>
                    <a:srgbClr val="3D3D3D"/>
                  </a:solidFill>
                  <a:latin typeface="+mn-lt"/>
                  <a:ea typeface="+mn-ea"/>
                  <a:cs typeface="+mn-cs"/>
                </a:rPr>
                <a:t>提供专业方案与快速响应</a:t>
              </a:r>
            </a:p>
          </p:txBody>
        </p:sp>
      </p:grpSp>
      <p:grpSp>
        <p:nvGrpSpPr>
          <p:cNvPr id="386" name="freq-card"/>
          <p:cNvGrpSpPr/>
          <p:nvPr/>
        </p:nvGrpSpPr>
        <p:grpSpPr>
          <a:xfrm>
            <a:off x="8896350" y="3276600"/>
            <a:ext cx="3162300" cy="1133476"/>
            <a:chOff x="8896350" y="3276600"/>
            <a:chExt cx="3162300" cy="1133476"/>
          </a:xfrm>
        </p:grpSpPr>
        <p:sp>
          <p:nvSpPr>
            <p:cNvPr id="352" name="Rectangle 352"/>
            <p:cNvSpPr/>
            <p:nvPr/>
          </p:nvSpPr>
          <p:spPr>
            <a:xfrm>
              <a:off x="8896350" y="3276600"/>
              <a:ext cx="3162300" cy="228600"/>
            </a:xfrm>
            <a:prstGeom prst="rect">
              <a:avLst/>
            </a:prstGeom>
            <a:solidFill>
              <a:srgbClr val="C83210"/>
            </a:solidFill>
            <a:ln>
              <a:noFill/>
            </a:ln>
          </p:spPr>
        </p:sp>
        <p:sp>
          <p:nvSpPr>
            <p:cNvPr id="353" name="TextBox 353"/>
            <p:cNvSpPr txBox="1"/>
            <p:nvPr/>
          </p:nvSpPr>
          <p:spPr>
            <a:xfrm>
              <a:off x="9005888" y="3339941"/>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触达频次控制</a:t>
              </a:r>
            </a:p>
          </p:txBody>
        </p:sp>
        <p:sp>
          <p:nvSpPr>
            <p:cNvPr id="354" name="Rectangle 354"/>
            <p:cNvSpPr/>
            <p:nvPr/>
          </p:nvSpPr>
          <p:spPr>
            <a:xfrm>
              <a:off x="8896350" y="3505200"/>
              <a:ext cx="3162300" cy="228600"/>
            </a:xfrm>
            <a:prstGeom prst="rect">
              <a:avLst/>
            </a:prstGeom>
            <a:solidFill>
              <a:srgbClr val="FDEFF1"/>
            </a:solidFill>
            <a:ln>
              <a:noFill/>
            </a:ln>
          </p:spPr>
        </p:sp>
        <p:sp>
          <p:nvSpPr>
            <p:cNvPr id="355" name="Rectangle 355"/>
            <p:cNvSpPr/>
            <p:nvPr/>
          </p:nvSpPr>
          <p:spPr>
            <a:xfrm>
              <a:off x="8896350" y="3962400"/>
              <a:ext cx="3162300" cy="228600"/>
            </a:xfrm>
            <a:prstGeom prst="rect">
              <a:avLst/>
            </a:prstGeom>
            <a:solidFill>
              <a:srgbClr val="FDEFF1"/>
            </a:solidFill>
            <a:ln>
              <a:noFill/>
            </a:ln>
          </p:spPr>
        </p:sp>
        <p:grpSp>
          <p:nvGrpSpPr>
            <p:cNvPr id="359" name="Group 359"/>
            <p:cNvGrpSpPr/>
            <p:nvPr/>
          </p:nvGrpSpPr>
          <p:grpSpPr>
            <a:xfrm>
              <a:off x="9027319" y="3575050"/>
              <a:ext cx="100012" cy="94456"/>
              <a:chOff x="9027319" y="3575050"/>
              <a:chExt cx="100012" cy="94456"/>
            </a:xfrm>
          </p:grpSpPr>
          <p:sp>
            <p:nvSpPr>
              <p:cNvPr id="356" name="Freeform 356"/>
              <p:cNvSpPr/>
              <p:nvPr/>
            </p:nvSpPr>
            <p:spPr>
              <a:xfrm>
                <a:off x="9055100" y="3602831"/>
                <a:ext cx="44450" cy="9525"/>
              </a:xfrm>
              <a:custGeom>
                <a:avLst/>
                <a:gdLst/>
                <a:ahLst/>
                <a:cxnLst/>
                <a:rect l="l" t="t" r="r" b="b"/>
                <a:pathLst>
                  <a:path w="44450" h="9525">
                    <a:moveTo>
                      <a:pt x="0" y="0"/>
                    </a:moveTo>
                    <a:lnTo>
                      <a:pt x="44450" y="0"/>
                    </a:lnTo>
                  </a:path>
                </a:pathLst>
              </a:custGeom>
              <a:noFill/>
              <a:ln w="11112">
                <a:solidFill>
                  <a:srgbClr val="C83210"/>
                </a:solidFill>
              </a:ln>
            </p:spPr>
          </p:sp>
          <p:sp>
            <p:nvSpPr>
              <p:cNvPr id="357" name="Freeform 357"/>
              <p:cNvSpPr/>
              <p:nvPr/>
            </p:nvSpPr>
            <p:spPr>
              <a:xfrm>
                <a:off x="9055100" y="3625056"/>
                <a:ext cx="33337" cy="9525"/>
              </a:xfrm>
              <a:custGeom>
                <a:avLst/>
                <a:gdLst/>
                <a:ahLst/>
                <a:cxnLst/>
                <a:rect l="l" t="t" r="r" b="b"/>
                <a:pathLst>
                  <a:path w="33337" h="9525">
                    <a:moveTo>
                      <a:pt x="0" y="0"/>
                    </a:moveTo>
                    <a:lnTo>
                      <a:pt x="33337" y="0"/>
                    </a:lnTo>
                  </a:path>
                </a:pathLst>
              </a:custGeom>
              <a:noFill/>
              <a:ln w="11112">
                <a:solidFill>
                  <a:srgbClr val="C83210"/>
                </a:solidFill>
              </a:ln>
            </p:spPr>
          </p:sp>
          <p:sp>
            <p:nvSpPr>
              <p:cNvPr id="358" name="Freeform 358"/>
              <p:cNvSpPr/>
              <p:nvPr/>
            </p:nvSpPr>
            <p:spPr>
              <a:xfrm>
                <a:off x="9027319" y="3575050"/>
                <a:ext cx="100012" cy="94456"/>
              </a:xfrm>
              <a:custGeom>
                <a:avLst/>
                <a:gdLst/>
                <a:ahLst/>
                <a:cxnLst/>
                <a:rect l="l" t="t" r="r" b="b"/>
                <a:pathLst>
                  <a:path w="100012" h="94456">
                    <a:moveTo>
                      <a:pt x="83344" y="0"/>
                    </a:moveTo>
                    <a:cubicBezTo>
                      <a:pt x="92550" y="0"/>
                      <a:pt x="100012" y="7463"/>
                      <a:pt x="100012" y="16669"/>
                    </a:cubicBezTo>
                    <a:lnTo>
                      <a:pt x="100012" y="61119"/>
                    </a:lnTo>
                    <a:cubicBezTo>
                      <a:pt x="100012" y="70325"/>
                      <a:pt x="92550" y="77787"/>
                      <a:pt x="83344" y="77787"/>
                    </a:cubicBezTo>
                    <a:lnTo>
                      <a:pt x="55562" y="77787"/>
                    </a:lnTo>
                    <a:lnTo>
                      <a:pt x="27781" y="94456"/>
                    </a:lnTo>
                    <a:lnTo>
                      <a:pt x="27781" y="77787"/>
                    </a:lnTo>
                    <a:lnTo>
                      <a:pt x="16669" y="77787"/>
                    </a:lnTo>
                    <a:cubicBezTo>
                      <a:pt x="7463" y="77787"/>
                      <a:pt x="0" y="70325"/>
                      <a:pt x="0" y="61119"/>
                    </a:cubicBezTo>
                    <a:lnTo>
                      <a:pt x="0" y="16669"/>
                    </a:lnTo>
                    <a:cubicBezTo>
                      <a:pt x="0" y="7463"/>
                      <a:pt x="7463" y="0"/>
                      <a:pt x="16669" y="0"/>
                    </a:cubicBezTo>
                    <a:lnTo>
                      <a:pt x="83344" y="0"/>
                    </a:lnTo>
                  </a:path>
                </a:pathLst>
              </a:custGeom>
              <a:noFill/>
              <a:ln w="11112">
                <a:solidFill>
                  <a:srgbClr val="C83210"/>
                </a:solidFill>
              </a:ln>
            </p:spPr>
          </p:sp>
        </p:grpSp>
        <p:sp>
          <p:nvSpPr>
            <p:cNvPr id="360" name="TextBox 360"/>
            <p:cNvSpPr txBox="1"/>
            <p:nvPr/>
          </p:nvSpPr>
          <p:spPr>
            <a:xfrm>
              <a:off x="9196388" y="3580686"/>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企微消息</a:t>
              </a:r>
            </a:p>
          </p:txBody>
        </p:sp>
        <p:sp>
          <p:nvSpPr>
            <p:cNvPr id="361" name="TextBox 361"/>
            <p:cNvSpPr txBox="1"/>
            <p:nvPr/>
          </p:nvSpPr>
          <p:spPr>
            <a:xfrm>
              <a:off x="10601728" y="3576638"/>
              <a:ext cx="452034" cy="147638"/>
            </a:xfrm>
            <a:prstGeom prst="rect">
              <a:avLst/>
            </a:prstGeom>
            <a:noFill/>
            <a:ln>
              <a:noFill/>
            </a:ln>
          </p:spPr>
          <p:txBody>
            <a:bodyPr wrap="none" lIns="0" tIns="0" rIns="0" bIns="0" anchor="t" anchorCtr="0">
              <a:spAutoFit/>
            </a:bodyPr>
            <a:lstStyle/>
            <a:p>
              <a:pPr algn="r"/>
              <a:r>
                <a:rPr lang="zh-CN" sz="750" b="1" dirty="0">
                  <a:solidFill>
                    <a:srgbClr val="C83210"/>
                  </a:solidFill>
                  <a:latin typeface="Arial"/>
                  <a:ea typeface="Microsoft YaHei"/>
                  <a:cs typeface="Arial"/>
                </a:rPr>
                <a:t xml:space="preserve">≤3次/天　</a:t>
              </a:r>
            </a:p>
          </p:txBody>
        </p:sp>
        <p:sp>
          <p:nvSpPr>
            <p:cNvPr id="362" name="TextBox 362"/>
            <p:cNvSpPr txBox="1"/>
            <p:nvPr/>
          </p:nvSpPr>
          <p:spPr>
            <a:xfrm>
              <a:off x="11560936" y="3576638"/>
              <a:ext cx="407226" cy="147638"/>
            </a:xfrm>
            <a:prstGeom prst="rect">
              <a:avLst/>
            </a:prstGeom>
            <a:noFill/>
            <a:ln>
              <a:noFill/>
            </a:ln>
          </p:spPr>
          <p:txBody>
            <a:bodyPr wrap="none" lIns="0" tIns="0" rIns="0" bIns="0" anchor="t" anchorCtr="0">
              <a:spAutoFit/>
            </a:bodyPr>
            <a:lstStyle/>
            <a:p>
              <a:pPr algn="r"/>
              <a:r>
                <a:rPr lang="zh-CN" sz="750" b="1" dirty="0">
                  <a:solidFill>
                    <a:srgbClr val="C83210"/>
                  </a:solidFill>
                  <a:latin typeface="Arial"/>
                  <a:ea typeface="Microsoft YaHei"/>
                  <a:cs typeface="Arial"/>
                </a:rPr>
                <a:t>≤10次/月</a:t>
              </a:r>
            </a:p>
          </p:txBody>
        </p:sp>
        <p:grpSp>
          <p:nvGrpSpPr>
            <p:cNvPr id="366" name="Group 366"/>
            <p:cNvGrpSpPr/>
            <p:nvPr/>
          </p:nvGrpSpPr>
          <p:grpSpPr>
            <a:xfrm>
              <a:off x="9038431" y="3798094"/>
              <a:ext cx="77787" cy="100012"/>
              <a:chOff x="9038431" y="3798094"/>
              <a:chExt cx="77787" cy="100012"/>
            </a:xfrm>
          </p:grpSpPr>
          <p:sp>
            <p:nvSpPr>
              <p:cNvPr id="363" name="Freeform 363"/>
              <p:cNvSpPr/>
              <p:nvPr/>
            </p:nvSpPr>
            <p:spPr>
              <a:xfrm>
                <a:off x="9038431" y="3831431"/>
                <a:ext cx="77787" cy="66675"/>
              </a:xfrm>
              <a:custGeom>
                <a:avLst/>
                <a:gdLst/>
                <a:ahLst/>
                <a:cxnLst/>
                <a:rect l="l" t="t" r="r" b="b"/>
                <a:pathLst>
                  <a:path w="77787" h="66675">
                    <a:moveTo>
                      <a:pt x="16669" y="0"/>
                    </a:moveTo>
                    <a:lnTo>
                      <a:pt x="11112" y="0"/>
                    </a:lnTo>
                    <a:cubicBezTo>
                      <a:pt x="4975" y="0"/>
                      <a:pt x="0" y="4975"/>
                      <a:pt x="0" y="11112"/>
                    </a:cubicBezTo>
                    <a:lnTo>
                      <a:pt x="0" y="55562"/>
                    </a:lnTo>
                    <a:cubicBezTo>
                      <a:pt x="0" y="61700"/>
                      <a:pt x="4975" y="66675"/>
                      <a:pt x="11112" y="66675"/>
                    </a:cubicBezTo>
                    <a:lnTo>
                      <a:pt x="66675" y="66675"/>
                    </a:lnTo>
                    <a:cubicBezTo>
                      <a:pt x="72812" y="66675"/>
                      <a:pt x="77787" y="61700"/>
                      <a:pt x="77787" y="55562"/>
                    </a:cubicBezTo>
                    <a:lnTo>
                      <a:pt x="77787" y="11112"/>
                    </a:lnTo>
                    <a:cubicBezTo>
                      <a:pt x="77787" y="4975"/>
                      <a:pt x="72812" y="0"/>
                      <a:pt x="66675" y="0"/>
                    </a:cubicBezTo>
                    <a:lnTo>
                      <a:pt x="61119" y="0"/>
                    </a:lnTo>
                  </a:path>
                </a:pathLst>
              </a:custGeom>
              <a:noFill/>
              <a:ln w="11112">
                <a:solidFill>
                  <a:srgbClr val="C83210"/>
                </a:solidFill>
              </a:ln>
            </p:spPr>
          </p:sp>
          <p:sp>
            <p:nvSpPr>
              <p:cNvPr id="364" name="Freeform 364"/>
              <p:cNvSpPr/>
              <p:nvPr/>
            </p:nvSpPr>
            <p:spPr>
              <a:xfrm>
                <a:off x="9077325" y="3798094"/>
                <a:ext cx="9525" cy="61119"/>
              </a:xfrm>
              <a:custGeom>
                <a:avLst/>
                <a:gdLst/>
                <a:ahLst/>
                <a:cxnLst/>
                <a:rect l="l" t="t" r="r" b="b"/>
                <a:pathLst>
                  <a:path w="9525" h="61119">
                    <a:moveTo>
                      <a:pt x="0" y="61119"/>
                    </a:moveTo>
                    <a:lnTo>
                      <a:pt x="0" y="0"/>
                    </a:lnTo>
                  </a:path>
                </a:pathLst>
              </a:custGeom>
              <a:noFill/>
              <a:ln w="11112">
                <a:solidFill>
                  <a:srgbClr val="C83210"/>
                </a:solidFill>
              </a:ln>
            </p:spPr>
          </p:sp>
          <p:sp>
            <p:nvSpPr>
              <p:cNvPr id="365" name="Freeform 365"/>
              <p:cNvSpPr/>
              <p:nvPr/>
            </p:nvSpPr>
            <p:spPr>
              <a:xfrm>
                <a:off x="9060656" y="3798094"/>
                <a:ext cx="33337" cy="16669"/>
              </a:xfrm>
              <a:custGeom>
                <a:avLst/>
                <a:gdLst/>
                <a:ahLst/>
                <a:cxnLst/>
                <a:rect l="l" t="t" r="r" b="b"/>
                <a:pathLst>
                  <a:path w="33337" h="16669">
                    <a:moveTo>
                      <a:pt x="0" y="16669"/>
                    </a:moveTo>
                    <a:lnTo>
                      <a:pt x="16669" y="0"/>
                    </a:lnTo>
                    <a:lnTo>
                      <a:pt x="33337" y="16669"/>
                    </a:lnTo>
                  </a:path>
                </a:pathLst>
              </a:custGeom>
              <a:noFill/>
              <a:ln w="11112">
                <a:solidFill>
                  <a:srgbClr val="C83210"/>
                </a:solidFill>
              </a:ln>
            </p:spPr>
          </p:sp>
        </p:grpSp>
        <p:sp>
          <p:nvSpPr>
            <p:cNvPr id="367" name="TextBox 367"/>
            <p:cNvSpPr txBox="1"/>
            <p:nvPr/>
          </p:nvSpPr>
          <p:spPr>
            <a:xfrm>
              <a:off x="9196388" y="3809286"/>
              <a:ext cx="29626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朋友圈</a:t>
              </a:r>
            </a:p>
          </p:txBody>
        </p:sp>
        <p:sp>
          <p:nvSpPr>
            <p:cNvPr id="368" name="TextBox 368"/>
            <p:cNvSpPr txBox="1"/>
            <p:nvPr/>
          </p:nvSpPr>
          <p:spPr>
            <a:xfrm>
              <a:off x="10601728" y="3805238"/>
              <a:ext cx="452034" cy="147638"/>
            </a:xfrm>
            <a:prstGeom prst="rect">
              <a:avLst/>
            </a:prstGeom>
            <a:noFill/>
            <a:ln>
              <a:noFill/>
            </a:ln>
          </p:spPr>
          <p:txBody>
            <a:bodyPr wrap="none" lIns="0" tIns="0" rIns="0" bIns="0" anchor="t" anchorCtr="0">
              <a:spAutoFit/>
            </a:bodyPr>
            <a:lstStyle/>
            <a:p>
              <a:pPr algn="r"/>
              <a:r>
                <a:rPr lang="zh-CN" sz="750" b="1" dirty="0">
                  <a:solidFill>
                    <a:srgbClr val="C83210"/>
                  </a:solidFill>
                  <a:latin typeface="Arial"/>
                  <a:ea typeface="Microsoft YaHei"/>
                  <a:cs typeface="Arial"/>
                </a:rPr>
                <a:t xml:space="preserve">≤1次/天　</a:t>
              </a:r>
            </a:p>
          </p:txBody>
        </p:sp>
        <p:sp>
          <p:nvSpPr>
            <p:cNvPr id="369" name="TextBox 369"/>
            <p:cNvSpPr txBox="1"/>
            <p:nvPr/>
          </p:nvSpPr>
          <p:spPr>
            <a:xfrm>
              <a:off x="11617093" y="3805238"/>
              <a:ext cx="351069" cy="147638"/>
            </a:xfrm>
            <a:prstGeom prst="rect">
              <a:avLst/>
            </a:prstGeom>
            <a:noFill/>
            <a:ln>
              <a:noFill/>
            </a:ln>
          </p:spPr>
          <p:txBody>
            <a:bodyPr wrap="none" lIns="0" tIns="0" rIns="0" bIns="0" anchor="t" anchorCtr="0">
              <a:spAutoFit/>
            </a:bodyPr>
            <a:lstStyle/>
            <a:p>
              <a:pPr algn="r"/>
              <a:r>
                <a:rPr lang="zh-CN" sz="750" b="1" dirty="0">
                  <a:solidFill>
                    <a:srgbClr val="C83210"/>
                  </a:solidFill>
                  <a:latin typeface="Arial"/>
                  <a:ea typeface="Microsoft YaHei"/>
                  <a:cs typeface="Arial"/>
                </a:rPr>
                <a:t>≤4次/月</a:t>
              </a:r>
            </a:p>
          </p:txBody>
        </p:sp>
        <p:grpSp>
          <p:nvGrpSpPr>
            <p:cNvPr id="376" name="Group 376"/>
            <p:cNvGrpSpPr/>
            <p:nvPr/>
          </p:nvGrpSpPr>
          <p:grpSpPr>
            <a:xfrm>
              <a:off x="9027319" y="4026694"/>
              <a:ext cx="100012" cy="100012"/>
              <a:chOff x="9027319" y="4026694"/>
              <a:chExt cx="100012" cy="100012"/>
            </a:xfrm>
          </p:grpSpPr>
          <p:sp>
            <p:nvSpPr>
              <p:cNvPr id="370" name="Freeform 370"/>
              <p:cNvSpPr/>
              <p:nvPr/>
            </p:nvSpPr>
            <p:spPr>
              <a:xfrm>
                <a:off x="9066212" y="407114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371" name="Freeform 371"/>
              <p:cNvSpPr/>
              <p:nvPr/>
            </p:nvSpPr>
            <p:spPr>
              <a:xfrm>
                <a:off x="9055100" y="4110037"/>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C83210"/>
                </a:solidFill>
              </a:ln>
            </p:spPr>
          </p:sp>
          <p:sp>
            <p:nvSpPr>
              <p:cNvPr id="372" name="Freeform 372"/>
              <p:cNvSpPr/>
              <p:nvPr/>
            </p:nvSpPr>
            <p:spPr>
              <a:xfrm>
                <a:off x="9093994" y="402669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373" name="Freeform 373"/>
              <p:cNvSpPr/>
              <p:nvPr/>
            </p:nvSpPr>
            <p:spPr>
              <a:xfrm>
                <a:off x="9105106" y="4065587"/>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C83210"/>
                </a:solidFill>
              </a:ln>
            </p:spPr>
          </p:sp>
          <p:sp>
            <p:nvSpPr>
              <p:cNvPr id="374" name="Freeform 374"/>
              <p:cNvSpPr/>
              <p:nvPr/>
            </p:nvSpPr>
            <p:spPr>
              <a:xfrm>
                <a:off x="9038431" y="402669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375" name="Freeform 375"/>
              <p:cNvSpPr/>
              <p:nvPr/>
            </p:nvSpPr>
            <p:spPr>
              <a:xfrm>
                <a:off x="9027319" y="4065587"/>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C83210"/>
                </a:solidFill>
              </a:ln>
            </p:spPr>
          </p:sp>
        </p:grpSp>
        <p:sp>
          <p:nvSpPr>
            <p:cNvPr id="377" name="TextBox 377"/>
            <p:cNvSpPr txBox="1"/>
            <p:nvPr/>
          </p:nvSpPr>
          <p:spPr>
            <a:xfrm>
              <a:off x="9196388" y="4037886"/>
              <a:ext cx="200685"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社群</a:t>
              </a:r>
            </a:p>
          </p:txBody>
        </p:sp>
        <p:sp>
          <p:nvSpPr>
            <p:cNvPr id="378" name="TextBox 378"/>
            <p:cNvSpPr txBox="1"/>
            <p:nvPr/>
          </p:nvSpPr>
          <p:spPr>
            <a:xfrm>
              <a:off x="10601728" y="4033838"/>
              <a:ext cx="452034" cy="147638"/>
            </a:xfrm>
            <a:prstGeom prst="rect">
              <a:avLst/>
            </a:prstGeom>
            <a:noFill/>
            <a:ln>
              <a:noFill/>
            </a:ln>
          </p:spPr>
          <p:txBody>
            <a:bodyPr wrap="none" lIns="0" tIns="0" rIns="0" bIns="0" anchor="t" anchorCtr="0">
              <a:spAutoFit/>
            </a:bodyPr>
            <a:lstStyle/>
            <a:p>
              <a:pPr algn="r"/>
              <a:r>
                <a:rPr lang="zh-CN" sz="750" b="1" dirty="0">
                  <a:solidFill>
                    <a:srgbClr val="C83210"/>
                  </a:solidFill>
                  <a:latin typeface="Arial"/>
                  <a:ea typeface="Microsoft YaHei"/>
                  <a:cs typeface="Arial"/>
                </a:rPr>
                <a:t xml:space="preserve">≤2次/周　</a:t>
              </a:r>
            </a:p>
          </p:txBody>
        </p:sp>
        <p:sp>
          <p:nvSpPr>
            <p:cNvPr id="379" name="TextBox 379"/>
            <p:cNvSpPr txBox="1"/>
            <p:nvPr/>
          </p:nvSpPr>
          <p:spPr>
            <a:xfrm>
              <a:off x="11617093" y="4033838"/>
              <a:ext cx="351069" cy="147638"/>
            </a:xfrm>
            <a:prstGeom prst="rect">
              <a:avLst/>
            </a:prstGeom>
            <a:noFill/>
            <a:ln>
              <a:noFill/>
            </a:ln>
          </p:spPr>
          <p:txBody>
            <a:bodyPr wrap="none" lIns="0" tIns="0" rIns="0" bIns="0" anchor="t" anchorCtr="0">
              <a:spAutoFit/>
            </a:bodyPr>
            <a:lstStyle/>
            <a:p>
              <a:pPr algn="r"/>
              <a:r>
                <a:rPr lang="zh-CN" sz="750" b="1" dirty="0">
                  <a:solidFill>
                    <a:srgbClr val="C83210"/>
                  </a:solidFill>
                  <a:latin typeface="Arial"/>
                  <a:ea typeface="Microsoft YaHei"/>
                  <a:cs typeface="Arial"/>
                </a:rPr>
                <a:t>≤8次/月</a:t>
              </a:r>
            </a:p>
          </p:txBody>
        </p:sp>
        <p:grpSp>
          <p:nvGrpSpPr>
            <p:cNvPr id="382" name="Group 382"/>
            <p:cNvGrpSpPr/>
            <p:nvPr/>
          </p:nvGrpSpPr>
          <p:grpSpPr>
            <a:xfrm>
              <a:off x="9027319" y="4271962"/>
              <a:ext cx="100012" cy="66675"/>
              <a:chOff x="9027319" y="4271962"/>
              <a:chExt cx="100012" cy="66675"/>
            </a:xfrm>
          </p:grpSpPr>
          <p:sp>
            <p:nvSpPr>
              <p:cNvPr id="380" name="Freeform 380"/>
              <p:cNvSpPr/>
              <p:nvPr/>
            </p:nvSpPr>
            <p:spPr>
              <a:xfrm>
                <a:off x="9093994" y="42806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C83210"/>
                </a:solidFill>
              </a:ln>
            </p:spPr>
          </p:sp>
          <p:sp>
            <p:nvSpPr>
              <p:cNvPr id="381" name="Freeform 381"/>
              <p:cNvSpPr/>
              <p:nvPr/>
            </p:nvSpPr>
            <p:spPr>
              <a:xfrm>
                <a:off x="9027319" y="42719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C83210"/>
                </a:solidFill>
              </a:ln>
            </p:spPr>
          </p:sp>
        </p:grpSp>
        <p:sp>
          <p:nvSpPr>
            <p:cNvPr id="383" name="TextBox 383"/>
            <p:cNvSpPr txBox="1"/>
            <p:nvPr/>
          </p:nvSpPr>
          <p:spPr>
            <a:xfrm>
              <a:off x="9196388" y="4266486"/>
              <a:ext cx="638204"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直播/活动邀请</a:t>
              </a:r>
            </a:p>
          </p:txBody>
        </p:sp>
        <p:sp>
          <p:nvSpPr>
            <p:cNvPr id="384" name="TextBox 384"/>
            <p:cNvSpPr txBox="1"/>
            <p:nvPr/>
          </p:nvSpPr>
          <p:spPr>
            <a:xfrm>
              <a:off x="10601728" y="4262438"/>
              <a:ext cx="452034" cy="147638"/>
            </a:xfrm>
            <a:prstGeom prst="rect">
              <a:avLst/>
            </a:prstGeom>
            <a:noFill/>
            <a:ln>
              <a:noFill/>
            </a:ln>
          </p:spPr>
          <p:txBody>
            <a:bodyPr wrap="none" lIns="0" tIns="0" rIns="0" bIns="0" anchor="t" anchorCtr="0">
              <a:spAutoFit/>
            </a:bodyPr>
            <a:lstStyle/>
            <a:p>
              <a:pPr algn="r"/>
              <a:r>
                <a:rPr lang="zh-CN" sz="750" b="1" dirty="0">
                  <a:solidFill>
                    <a:srgbClr val="C83210"/>
                  </a:solidFill>
                  <a:latin typeface="Arial"/>
                  <a:ea typeface="Microsoft YaHei"/>
                  <a:cs typeface="Arial"/>
                </a:rPr>
                <a:t xml:space="preserve">≤1次/周　</a:t>
              </a:r>
            </a:p>
          </p:txBody>
        </p:sp>
        <p:sp>
          <p:nvSpPr>
            <p:cNvPr id="385" name="TextBox 385"/>
            <p:cNvSpPr txBox="1"/>
            <p:nvPr/>
          </p:nvSpPr>
          <p:spPr>
            <a:xfrm>
              <a:off x="11617093" y="4262438"/>
              <a:ext cx="351069" cy="147638"/>
            </a:xfrm>
            <a:prstGeom prst="rect">
              <a:avLst/>
            </a:prstGeom>
            <a:noFill/>
            <a:ln>
              <a:noFill/>
            </a:ln>
          </p:spPr>
          <p:txBody>
            <a:bodyPr wrap="none" lIns="0" tIns="0" rIns="0" bIns="0" anchor="t" anchorCtr="0">
              <a:spAutoFit/>
            </a:bodyPr>
            <a:lstStyle/>
            <a:p>
              <a:pPr algn="r"/>
              <a:r>
                <a:rPr lang="zh-CN" sz="750" b="1" dirty="0">
                  <a:solidFill>
                    <a:srgbClr val="C83210"/>
                  </a:solidFill>
                  <a:latin typeface="Arial"/>
                  <a:ea typeface="Microsoft YaHei"/>
                  <a:cs typeface="Arial"/>
                </a:rPr>
                <a:t>≤4次/月</a:t>
              </a:r>
            </a:p>
          </p:txBody>
        </p:sp>
      </p:grpSp>
      <p:grpSp>
        <p:nvGrpSpPr>
          <p:cNvPr id="410" name="stop-card"/>
          <p:cNvGrpSpPr/>
          <p:nvPr/>
        </p:nvGrpSpPr>
        <p:grpSpPr>
          <a:xfrm>
            <a:off x="8896350" y="4552950"/>
            <a:ext cx="3162300" cy="1707071"/>
            <a:chOff x="8896350" y="4552950"/>
            <a:chExt cx="3162300" cy="1707071"/>
          </a:xfrm>
        </p:grpSpPr>
        <p:sp>
          <p:nvSpPr>
            <p:cNvPr id="387" name="Rectangle 387"/>
            <p:cNvSpPr/>
            <p:nvPr/>
          </p:nvSpPr>
          <p:spPr>
            <a:xfrm>
              <a:off x="8896350" y="4552950"/>
              <a:ext cx="3162300" cy="228600"/>
            </a:xfrm>
            <a:prstGeom prst="rect">
              <a:avLst/>
            </a:prstGeom>
            <a:solidFill>
              <a:srgbClr val="C83210"/>
            </a:solidFill>
            <a:ln>
              <a:noFill/>
            </a:ln>
          </p:spPr>
        </p:sp>
        <p:sp>
          <p:nvSpPr>
            <p:cNvPr id="388" name="TextBox 388"/>
            <p:cNvSpPr txBox="1"/>
            <p:nvPr/>
          </p:nvSpPr>
          <p:spPr>
            <a:xfrm>
              <a:off x="9005888" y="4616291"/>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停止触达条件</a:t>
              </a:r>
            </a:p>
          </p:txBody>
        </p:sp>
        <p:grpSp>
          <p:nvGrpSpPr>
            <p:cNvPr id="391" name="Group 391"/>
            <p:cNvGrpSpPr/>
            <p:nvPr/>
          </p:nvGrpSpPr>
          <p:grpSpPr>
            <a:xfrm>
              <a:off x="9028509" y="4875609"/>
              <a:ext cx="107156" cy="107156"/>
              <a:chOff x="9028509" y="4875609"/>
              <a:chExt cx="107156" cy="107156"/>
            </a:xfrm>
          </p:grpSpPr>
          <p:sp>
            <p:nvSpPr>
              <p:cNvPr id="389" name="Freeform 389"/>
              <p:cNvSpPr/>
              <p:nvPr/>
            </p:nvSpPr>
            <p:spPr>
              <a:xfrm>
                <a:off x="9028509" y="4875609"/>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11906">
                <a:solidFill>
                  <a:srgbClr val="C83210"/>
                </a:solidFill>
              </a:ln>
            </p:spPr>
          </p:sp>
          <p:sp>
            <p:nvSpPr>
              <p:cNvPr id="390" name="Freeform 390"/>
              <p:cNvSpPr/>
              <p:nvPr/>
            </p:nvSpPr>
            <p:spPr>
              <a:xfrm>
                <a:off x="9044583" y="4891683"/>
                <a:ext cx="75009" cy="75009"/>
              </a:xfrm>
              <a:custGeom>
                <a:avLst/>
                <a:gdLst/>
                <a:ahLst/>
                <a:cxnLst/>
                <a:rect l="l" t="t" r="r" b="b"/>
                <a:pathLst>
                  <a:path w="75009" h="75009">
                    <a:moveTo>
                      <a:pt x="0" y="0"/>
                    </a:moveTo>
                    <a:lnTo>
                      <a:pt x="75009" y="75009"/>
                    </a:lnTo>
                  </a:path>
                </a:pathLst>
              </a:custGeom>
              <a:noFill/>
              <a:ln w="11906">
                <a:solidFill>
                  <a:srgbClr val="C83210"/>
                </a:solidFill>
              </a:ln>
            </p:spPr>
          </p:sp>
        </p:grpSp>
        <p:sp>
          <p:nvSpPr>
            <p:cNvPr id="392" name="TextBox 392"/>
            <p:cNvSpPr txBox="1"/>
            <p:nvPr/>
          </p:nvSpPr>
          <p:spPr>
            <a:xfrm>
              <a:off x="9215438" y="4891278"/>
              <a:ext cx="986866"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客户明确表示无有效意向</a:t>
              </a:r>
            </a:p>
          </p:txBody>
        </p:sp>
        <p:sp>
          <p:nvSpPr>
            <p:cNvPr id="393" name="TextBox 393"/>
            <p:cNvSpPr txBox="1"/>
            <p:nvPr/>
          </p:nvSpPr>
          <p:spPr>
            <a:xfrm>
              <a:off x="9215438" y="5048536"/>
              <a:ext cx="935980" cy="121920"/>
            </a:xfrm>
            <a:prstGeom prst="rect">
              <a:avLst/>
            </a:prstGeom>
            <a:noFill/>
            <a:ln>
              <a:noFill/>
            </a:ln>
          </p:spPr>
          <p:txBody>
            <a:bodyPr wrap="none" lIns="0" tIns="0" rIns="0" bIns="0" anchor="t" anchorCtr="0">
              <a:spAutoFit/>
            </a:bodyPr>
            <a:lstStyle/>
            <a:p>
              <a:pPr algn="l"/>
              <a:r>
                <a:rPr lang="zh-CN" sz="620" dirty="0">
                  <a:solidFill>
                    <a:srgbClr val="808080"/>
                  </a:solidFill>
                  <a:latin typeface="+mn-lt"/>
                  <a:ea typeface="+mn-ea"/>
                  <a:cs typeface="+mn-cs"/>
                </a:rPr>
                <a:t>（例如回复"不再发送"）</a:t>
              </a:r>
            </a:p>
          </p:txBody>
        </p:sp>
        <p:grpSp>
          <p:nvGrpSpPr>
            <p:cNvPr id="396" name="Group 396"/>
            <p:cNvGrpSpPr/>
            <p:nvPr/>
          </p:nvGrpSpPr>
          <p:grpSpPr>
            <a:xfrm>
              <a:off x="9028509" y="5256609"/>
              <a:ext cx="107156" cy="107156"/>
              <a:chOff x="9028509" y="5256609"/>
              <a:chExt cx="107156" cy="107156"/>
            </a:xfrm>
          </p:grpSpPr>
          <p:sp>
            <p:nvSpPr>
              <p:cNvPr id="394" name="Freeform 394"/>
              <p:cNvSpPr/>
              <p:nvPr/>
            </p:nvSpPr>
            <p:spPr>
              <a:xfrm>
                <a:off x="9028509" y="5256609"/>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11906">
                <a:solidFill>
                  <a:srgbClr val="C83210"/>
                </a:solidFill>
              </a:ln>
            </p:spPr>
          </p:sp>
          <p:sp>
            <p:nvSpPr>
              <p:cNvPr id="395" name="Freeform 395"/>
              <p:cNvSpPr/>
              <p:nvPr/>
            </p:nvSpPr>
            <p:spPr>
              <a:xfrm>
                <a:off x="9044583" y="5272683"/>
                <a:ext cx="75009" cy="75009"/>
              </a:xfrm>
              <a:custGeom>
                <a:avLst/>
                <a:gdLst/>
                <a:ahLst/>
                <a:cxnLst/>
                <a:rect l="l" t="t" r="r" b="b"/>
                <a:pathLst>
                  <a:path w="75009" h="75009">
                    <a:moveTo>
                      <a:pt x="0" y="0"/>
                    </a:moveTo>
                    <a:lnTo>
                      <a:pt x="75009" y="75009"/>
                    </a:lnTo>
                  </a:path>
                </a:pathLst>
              </a:custGeom>
              <a:noFill/>
              <a:ln w="11906">
                <a:solidFill>
                  <a:srgbClr val="C83210"/>
                </a:solidFill>
              </a:ln>
            </p:spPr>
          </p:sp>
        </p:grpSp>
        <p:sp>
          <p:nvSpPr>
            <p:cNvPr id="397" name="TextBox 397"/>
            <p:cNvSpPr txBox="1"/>
            <p:nvPr/>
          </p:nvSpPr>
          <p:spPr>
            <a:xfrm>
              <a:off x="9215438" y="5272278"/>
              <a:ext cx="1084600"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 xml:space="preserve">连续30天无任何互动行为　</a:t>
              </a:r>
            </a:p>
          </p:txBody>
        </p:sp>
        <p:grpSp>
          <p:nvGrpSpPr>
            <p:cNvPr id="400" name="Group 400"/>
            <p:cNvGrpSpPr/>
            <p:nvPr/>
          </p:nvGrpSpPr>
          <p:grpSpPr>
            <a:xfrm>
              <a:off x="9028509" y="5542359"/>
              <a:ext cx="107156" cy="107156"/>
              <a:chOff x="9028509" y="5542359"/>
              <a:chExt cx="107156" cy="107156"/>
            </a:xfrm>
          </p:grpSpPr>
          <p:sp>
            <p:nvSpPr>
              <p:cNvPr id="398" name="Freeform 398"/>
              <p:cNvSpPr/>
              <p:nvPr/>
            </p:nvSpPr>
            <p:spPr>
              <a:xfrm>
                <a:off x="9028509" y="5542359"/>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11906">
                <a:solidFill>
                  <a:srgbClr val="C83210"/>
                </a:solidFill>
              </a:ln>
            </p:spPr>
          </p:sp>
          <p:sp>
            <p:nvSpPr>
              <p:cNvPr id="399" name="Freeform 399"/>
              <p:cNvSpPr/>
              <p:nvPr/>
            </p:nvSpPr>
            <p:spPr>
              <a:xfrm>
                <a:off x="9044583" y="5558433"/>
                <a:ext cx="75009" cy="75009"/>
              </a:xfrm>
              <a:custGeom>
                <a:avLst/>
                <a:gdLst/>
                <a:ahLst/>
                <a:cxnLst/>
                <a:rect l="l" t="t" r="r" b="b"/>
                <a:pathLst>
                  <a:path w="75009" h="75009">
                    <a:moveTo>
                      <a:pt x="0" y="0"/>
                    </a:moveTo>
                    <a:lnTo>
                      <a:pt x="75009" y="75009"/>
                    </a:lnTo>
                  </a:path>
                </a:pathLst>
              </a:custGeom>
              <a:noFill/>
              <a:ln w="11906">
                <a:solidFill>
                  <a:srgbClr val="C83210"/>
                </a:solidFill>
              </a:ln>
            </p:spPr>
          </p:sp>
        </p:grpSp>
        <p:sp>
          <p:nvSpPr>
            <p:cNvPr id="401" name="TextBox 401"/>
            <p:cNvSpPr txBox="1"/>
            <p:nvPr/>
          </p:nvSpPr>
          <p:spPr>
            <a:xfrm>
              <a:off x="9215438" y="5558028"/>
              <a:ext cx="1253414"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已办理注销或重新分配资金安排</a:t>
              </a:r>
            </a:p>
          </p:txBody>
        </p:sp>
        <p:grpSp>
          <p:nvGrpSpPr>
            <p:cNvPr id="404" name="Group 404"/>
            <p:cNvGrpSpPr/>
            <p:nvPr/>
          </p:nvGrpSpPr>
          <p:grpSpPr>
            <a:xfrm>
              <a:off x="9028509" y="5828109"/>
              <a:ext cx="107156" cy="107156"/>
              <a:chOff x="9028509" y="5828109"/>
              <a:chExt cx="107156" cy="107156"/>
            </a:xfrm>
          </p:grpSpPr>
          <p:sp>
            <p:nvSpPr>
              <p:cNvPr id="402" name="Freeform 402"/>
              <p:cNvSpPr/>
              <p:nvPr/>
            </p:nvSpPr>
            <p:spPr>
              <a:xfrm>
                <a:off x="9028509" y="5828109"/>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11906">
                <a:solidFill>
                  <a:srgbClr val="C83210"/>
                </a:solidFill>
              </a:ln>
            </p:spPr>
          </p:sp>
          <p:sp>
            <p:nvSpPr>
              <p:cNvPr id="403" name="Freeform 403"/>
              <p:cNvSpPr/>
              <p:nvPr/>
            </p:nvSpPr>
            <p:spPr>
              <a:xfrm>
                <a:off x="9044583" y="5844183"/>
                <a:ext cx="75009" cy="75009"/>
              </a:xfrm>
              <a:custGeom>
                <a:avLst/>
                <a:gdLst/>
                <a:ahLst/>
                <a:cxnLst/>
                <a:rect l="l" t="t" r="r" b="b"/>
                <a:pathLst>
                  <a:path w="75009" h="75009">
                    <a:moveTo>
                      <a:pt x="0" y="0"/>
                    </a:moveTo>
                    <a:lnTo>
                      <a:pt x="75009" y="75009"/>
                    </a:lnTo>
                  </a:path>
                </a:pathLst>
              </a:custGeom>
              <a:noFill/>
              <a:ln w="11906">
                <a:solidFill>
                  <a:srgbClr val="C83210"/>
                </a:solidFill>
              </a:ln>
            </p:spPr>
          </p:sp>
        </p:grpSp>
        <p:sp>
          <p:nvSpPr>
            <p:cNvPr id="405" name="TextBox 405"/>
            <p:cNvSpPr txBox="1"/>
            <p:nvPr/>
          </p:nvSpPr>
          <p:spPr>
            <a:xfrm>
              <a:off x="9215438" y="5843778"/>
              <a:ext cx="986866"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客户投诉或投诉风险升高</a:t>
              </a:r>
            </a:p>
          </p:txBody>
        </p:sp>
        <p:grpSp>
          <p:nvGrpSpPr>
            <p:cNvPr id="408" name="Group 408"/>
            <p:cNvGrpSpPr/>
            <p:nvPr/>
          </p:nvGrpSpPr>
          <p:grpSpPr>
            <a:xfrm>
              <a:off x="9028509" y="6113859"/>
              <a:ext cx="107156" cy="107156"/>
              <a:chOff x="9028509" y="6113859"/>
              <a:chExt cx="107156" cy="107156"/>
            </a:xfrm>
          </p:grpSpPr>
          <p:sp>
            <p:nvSpPr>
              <p:cNvPr id="406" name="Freeform 406"/>
              <p:cNvSpPr/>
              <p:nvPr/>
            </p:nvSpPr>
            <p:spPr>
              <a:xfrm>
                <a:off x="9028509" y="6113859"/>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11906">
                <a:solidFill>
                  <a:srgbClr val="C83210"/>
                </a:solidFill>
              </a:ln>
            </p:spPr>
          </p:sp>
          <p:sp>
            <p:nvSpPr>
              <p:cNvPr id="407" name="Freeform 407"/>
              <p:cNvSpPr/>
              <p:nvPr/>
            </p:nvSpPr>
            <p:spPr>
              <a:xfrm>
                <a:off x="9044583" y="6129933"/>
                <a:ext cx="75009" cy="75009"/>
              </a:xfrm>
              <a:custGeom>
                <a:avLst/>
                <a:gdLst/>
                <a:ahLst/>
                <a:cxnLst/>
                <a:rect l="l" t="t" r="r" b="b"/>
                <a:pathLst>
                  <a:path w="75009" h="75009">
                    <a:moveTo>
                      <a:pt x="0" y="0"/>
                    </a:moveTo>
                    <a:lnTo>
                      <a:pt x="75009" y="75009"/>
                    </a:lnTo>
                  </a:path>
                </a:pathLst>
              </a:custGeom>
              <a:noFill/>
              <a:ln w="11906">
                <a:solidFill>
                  <a:srgbClr val="C83210"/>
                </a:solidFill>
              </a:ln>
            </p:spPr>
          </p:sp>
        </p:grpSp>
        <p:sp>
          <p:nvSpPr>
            <p:cNvPr id="409" name="TextBox 409"/>
            <p:cNvSpPr txBox="1"/>
            <p:nvPr/>
          </p:nvSpPr>
          <p:spPr>
            <a:xfrm>
              <a:off x="9215438" y="6129528"/>
              <a:ext cx="1164565"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其他合规要求的停止触达情形</a:t>
              </a:r>
            </a:p>
          </p:txBody>
        </p:sp>
      </p:gr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10</a:t>
              </a:r>
            </a:p>
          </p:txBody>
        </p:sp>
        <p:sp>
          <p:nvSpPr>
            <p:cNvPr id="4" name="TextBox 4"/>
            <p:cNvSpPr txBox="1"/>
            <p:nvPr/>
          </p:nvSpPr>
          <p:spPr>
            <a:xfrm>
              <a:off x="942594" y="151448"/>
              <a:ext cx="6399276"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触达编排</a:t>
              </a:r>
              <a:r>
                <a:rPr lang="zh-CN" sz="1950" b="1" dirty="0">
                  <a:solidFill>
                    <a:srgbClr val="222222"/>
                  </a:solidFill>
                  <a:latin typeface="SimSun"/>
                  <a:ea typeface="SimSun"/>
                  <a:cs typeface="SimSun"/>
                </a:rPr>
                <a:t>｜朋友圈、私聊、社群和直播承担不同任务</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109" name="channel-table"/>
          <p:cNvGrpSpPr/>
          <p:nvPr/>
        </p:nvGrpSpPr>
        <p:grpSpPr>
          <a:xfrm>
            <a:off x="133350" y="628650"/>
            <a:ext cx="11925300" cy="1971675"/>
            <a:chOff x="133350" y="628650"/>
            <a:chExt cx="11925300" cy="1971675"/>
          </a:xfrm>
        </p:grpSpPr>
        <p:sp>
          <p:nvSpPr>
            <p:cNvPr id="7" name="Rectangle 7"/>
            <p:cNvSpPr/>
            <p:nvPr/>
          </p:nvSpPr>
          <p:spPr>
            <a:xfrm>
              <a:off x="133350" y="628650"/>
              <a:ext cx="781050" cy="1962150"/>
            </a:xfrm>
            <a:prstGeom prst="rect">
              <a:avLst/>
            </a:prstGeom>
            <a:solidFill>
              <a:srgbClr val="C83210"/>
            </a:solidFill>
            <a:ln>
              <a:noFill/>
            </a:ln>
          </p:spPr>
        </p:sp>
        <p:sp>
          <p:nvSpPr>
            <p:cNvPr id="8" name="TextBox 8"/>
            <p:cNvSpPr txBox="1"/>
            <p:nvPr/>
          </p:nvSpPr>
          <p:spPr>
            <a:xfrm>
              <a:off x="423532" y="7422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渠道</a:t>
              </a:r>
            </a:p>
          </p:txBody>
        </p:sp>
        <p:sp>
          <p:nvSpPr>
            <p:cNvPr id="9" name="TextBox 9"/>
            <p:cNvSpPr txBox="1"/>
            <p:nvPr/>
          </p:nvSpPr>
          <p:spPr>
            <a:xfrm>
              <a:off x="327952" y="10184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主要目标</a:t>
              </a:r>
            </a:p>
          </p:txBody>
        </p:sp>
        <p:sp>
          <p:nvSpPr>
            <p:cNvPr id="10" name="TextBox 10"/>
            <p:cNvSpPr txBox="1"/>
            <p:nvPr/>
          </p:nvSpPr>
          <p:spPr>
            <a:xfrm>
              <a:off x="327952" y="13042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适用内容</a:t>
              </a:r>
            </a:p>
          </p:txBody>
        </p:sp>
        <p:sp>
          <p:nvSpPr>
            <p:cNvPr id="11" name="TextBox 11"/>
            <p:cNvSpPr txBox="1"/>
            <p:nvPr/>
          </p:nvSpPr>
          <p:spPr>
            <a:xfrm>
              <a:off x="327952" y="15709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客群规模</a:t>
              </a:r>
            </a:p>
          </p:txBody>
        </p:sp>
        <p:sp>
          <p:nvSpPr>
            <p:cNvPr id="12" name="TextBox 12"/>
            <p:cNvSpPr txBox="1"/>
            <p:nvPr/>
          </p:nvSpPr>
          <p:spPr>
            <a:xfrm>
              <a:off x="327952" y="17995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互动深度</a:t>
              </a:r>
            </a:p>
          </p:txBody>
        </p:sp>
        <p:sp>
          <p:nvSpPr>
            <p:cNvPr id="13" name="TextBox 13"/>
            <p:cNvSpPr txBox="1"/>
            <p:nvPr/>
          </p:nvSpPr>
          <p:spPr>
            <a:xfrm>
              <a:off x="327952" y="20090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推荐频率</a:t>
              </a:r>
            </a:p>
          </p:txBody>
        </p:sp>
        <p:sp>
          <p:nvSpPr>
            <p:cNvPr id="14" name="TextBox 14"/>
            <p:cNvSpPr txBox="1"/>
            <p:nvPr/>
          </p:nvSpPr>
          <p:spPr>
            <a:xfrm>
              <a:off x="375742" y="221861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责任人</a:t>
              </a:r>
            </a:p>
          </p:txBody>
        </p:sp>
        <p:sp>
          <p:nvSpPr>
            <p:cNvPr id="15" name="TextBox 15"/>
            <p:cNvSpPr txBox="1"/>
            <p:nvPr/>
          </p:nvSpPr>
          <p:spPr>
            <a:xfrm>
              <a:off x="327952" y="24472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关键指标</a:t>
              </a:r>
            </a:p>
          </p:txBody>
        </p:sp>
        <p:sp>
          <p:nvSpPr>
            <p:cNvPr id="16" name="Rectangle 16"/>
            <p:cNvSpPr/>
            <p:nvPr/>
          </p:nvSpPr>
          <p:spPr>
            <a:xfrm>
              <a:off x="914400" y="628650"/>
              <a:ext cx="11144250" cy="304800"/>
            </a:xfrm>
            <a:prstGeom prst="rect">
              <a:avLst/>
            </a:prstGeom>
            <a:solidFill>
              <a:srgbClr val="FBE3E6"/>
            </a:solidFill>
            <a:ln>
              <a:noFill/>
            </a:ln>
          </p:spPr>
        </p:sp>
        <p:grpSp>
          <p:nvGrpSpPr>
            <p:cNvPr id="20" name="Group 20"/>
            <p:cNvGrpSpPr/>
            <p:nvPr/>
          </p:nvGrpSpPr>
          <p:grpSpPr>
            <a:xfrm>
              <a:off x="1670050" y="723900"/>
              <a:ext cx="88900" cy="114300"/>
              <a:chOff x="1670050" y="723900"/>
              <a:chExt cx="88900" cy="114300"/>
            </a:xfrm>
          </p:grpSpPr>
          <p:sp>
            <p:nvSpPr>
              <p:cNvPr id="17" name="Freeform 17"/>
              <p:cNvSpPr/>
              <p:nvPr/>
            </p:nvSpPr>
            <p:spPr>
              <a:xfrm>
                <a:off x="1670050" y="762000"/>
                <a:ext cx="88900" cy="76200"/>
              </a:xfrm>
              <a:custGeom>
                <a:avLst/>
                <a:gdLst/>
                <a:ahLst/>
                <a:cxnLst/>
                <a:rect l="l" t="t" r="r" b="b"/>
                <a:pathLst>
                  <a:path w="88900" h="76200">
                    <a:moveTo>
                      <a:pt x="19050" y="0"/>
                    </a:moveTo>
                    <a:lnTo>
                      <a:pt x="12700" y="0"/>
                    </a:lnTo>
                    <a:cubicBezTo>
                      <a:pt x="5686" y="0"/>
                      <a:pt x="0" y="5686"/>
                      <a:pt x="0" y="12700"/>
                    </a:cubicBezTo>
                    <a:lnTo>
                      <a:pt x="0" y="63500"/>
                    </a:lnTo>
                    <a:cubicBezTo>
                      <a:pt x="0" y="70514"/>
                      <a:pt x="5686" y="76200"/>
                      <a:pt x="12700" y="76200"/>
                    </a:cubicBezTo>
                    <a:lnTo>
                      <a:pt x="76200" y="76200"/>
                    </a:lnTo>
                    <a:cubicBezTo>
                      <a:pt x="83214" y="76200"/>
                      <a:pt x="88900" y="70514"/>
                      <a:pt x="88900" y="63500"/>
                    </a:cubicBezTo>
                    <a:lnTo>
                      <a:pt x="88900" y="12700"/>
                    </a:lnTo>
                    <a:cubicBezTo>
                      <a:pt x="88900" y="5686"/>
                      <a:pt x="83214" y="0"/>
                      <a:pt x="76200" y="0"/>
                    </a:cubicBezTo>
                    <a:lnTo>
                      <a:pt x="69850" y="0"/>
                    </a:lnTo>
                  </a:path>
                </a:pathLst>
              </a:custGeom>
              <a:noFill/>
              <a:ln w="12700">
                <a:solidFill>
                  <a:srgbClr val="C83210"/>
                </a:solidFill>
              </a:ln>
            </p:spPr>
          </p:sp>
          <p:sp>
            <p:nvSpPr>
              <p:cNvPr id="18" name="Freeform 18"/>
              <p:cNvSpPr/>
              <p:nvPr/>
            </p:nvSpPr>
            <p:spPr>
              <a:xfrm>
                <a:off x="1714500" y="723900"/>
                <a:ext cx="9525" cy="69850"/>
              </a:xfrm>
              <a:custGeom>
                <a:avLst/>
                <a:gdLst/>
                <a:ahLst/>
                <a:cxnLst/>
                <a:rect l="l" t="t" r="r" b="b"/>
                <a:pathLst>
                  <a:path w="9525" h="69850">
                    <a:moveTo>
                      <a:pt x="0" y="69850"/>
                    </a:moveTo>
                    <a:lnTo>
                      <a:pt x="0" y="0"/>
                    </a:lnTo>
                  </a:path>
                </a:pathLst>
              </a:custGeom>
              <a:noFill/>
              <a:ln w="12700">
                <a:solidFill>
                  <a:srgbClr val="C83210"/>
                </a:solidFill>
              </a:ln>
            </p:spPr>
          </p:sp>
          <p:sp>
            <p:nvSpPr>
              <p:cNvPr id="19" name="Freeform 19"/>
              <p:cNvSpPr/>
              <p:nvPr/>
            </p:nvSpPr>
            <p:spPr>
              <a:xfrm>
                <a:off x="1695450" y="723900"/>
                <a:ext cx="38100" cy="19050"/>
              </a:xfrm>
              <a:custGeom>
                <a:avLst/>
                <a:gdLst/>
                <a:ahLst/>
                <a:cxnLst/>
                <a:rect l="l" t="t" r="r" b="b"/>
                <a:pathLst>
                  <a:path w="38100" h="19050">
                    <a:moveTo>
                      <a:pt x="0" y="19050"/>
                    </a:moveTo>
                    <a:lnTo>
                      <a:pt x="19050" y="0"/>
                    </a:lnTo>
                    <a:lnTo>
                      <a:pt x="38100" y="19050"/>
                    </a:lnTo>
                  </a:path>
                </a:pathLst>
              </a:custGeom>
              <a:noFill/>
              <a:ln w="12700">
                <a:solidFill>
                  <a:srgbClr val="C83210"/>
                </a:solidFill>
              </a:ln>
            </p:spPr>
          </p:sp>
        </p:grpSp>
        <p:sp>
          <p:nvSpPr>
            <p:cNvPr id="21" name="TextBox 21"/>
            <p:cNvSpPr txBox="1"/>
            <p:nvPr/>
          </p:nvSpPr>
          <p:spPr>
            <a:xfrm>
              <a:off x="1893113" y="743664"/>
              <a:ext cx="32857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朋友圈</a:t>
              </a:r>
            </a:p>
          </p:txBody>
        </p:sp>
        <p:sp>
          <p:nvSpPr>
            <p:cNvPr id="22" name="Freeform 22"/>
            <p:cNvSpPr/>
            <p:nvPr/>
          </p:nvSpPr>
          <p:spPr>
            <a:xfrm>
              <a:off x="3403448" y="72532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C83210"/>
              </a:solidFill>
            </a:ln>
          </p:spPr>
        </p:sp>
        <p:sp>
          <p:nvSpPr>
            <p:cNvPr id="23" name="TextBox 23"/>
            <p:cNvSpPr txBox="1"/>
            <p:nvPr/>
          </p:nvSpPr>
          <p:spPr>
            <a:xfrm>
              <a:off x="3715848" y="743664"/>
              <a:ext cx="416905"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1V1私聊</a:t>
              </a:r>
            </a:p>
          </p:txBody>
        </p:sp>
        <p:grpSp>
          <p:nvGrpSpPr>
            <p:cNvPr id="30" name="Group 30"/>
            <p:cNvGrpSpPr/>
            <p:nvPr/>
          </p:nvGrpSpPr>
          <p:grpSpPr>
            <a:xfrm>
              <a:off x="5200650" y="723900"/>
              <a:ext cx="114300" cy="114300"/>
              <a:chOff x="5200650" y="723900"/>
              <a:chExt cx="114300" cy="114300"/>
            </a:xfrm>
          </p:grpSpPr>
          <p:sp>
            <p:nvSpPr>
              <p:cNvPr id="24" name="Freeform 24"/>
              <p:cNvSpPr/>
              <p:nvPr/>
            </p:nvSpPr>
            <p:spPr>
              <a:xfrm>
                <a:off x="5245100" y="7747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83210"/>
                </a:solidFill>
              </a:ln>
            </p:spPr>
          </p:sp>
          <p:sp>
            <p:nvSpPr>
              <p:cNvPr id="25" name="Freeform 25"/>
              <p:cNvSpPr/>
              <p:nvPr/>
            </p:nvSpPr>
            <p:spPr>
              <a:xfrm>
                <a:off x="5232400" y="8191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C83210"/>
                </a:solidFill>
              </a:ln>
            </p:spPr>
          </p:sp>
          <p:sp>
            <p:nvSpPr>
              <p:cNvPr id="26" name="Freeform 26"/>
              <p:cNvSpPr/>
              <p:nvPr/>
            </p:nvSpPr>
            <p:spPr>
              <a:xfrm>
                <a:off x="5276850" y="7239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83210"/>
                </a:solidFill>
              </a:ln>
            </p:spPr>
          </p:sp>
          <p:sp>
            <p:nvSpPr>
              <p:cNvPr id="27" name="Freeform 27"/>
              <p:cNvSpPr/>
              <p:nvPr/>
            </p:nvSpPr>
            <p:spPr>
              <a:xfrm>
                <a:off x="5289550" y="7683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C83210"/>
                </a:solidFill>
              </a:ln>
            </p:spPr>
          </p:sp>
          <p:sp>
            <p:nvSpPr>
              <p:cNvPr id="28" name="Freeform 28"/>
              <p:cNvSpPr/>
              <p:nvPr/>
            </p:nvSpPr>
            <p:spPr>
              <a:xfrm>
                <a:off x="5213350" y="7239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83210"/>
                </a:solidFill>
              </a:ln>
            </p:spPr>
          </p:sp>
          <p:sp>
            <p:nvSpPr>
              <p:cNvPr id="29" name="Freeform 29"/>
              <p:cNvSpPr/>
              <p:nvPr/>
            </p:nvSpPr>
            <p:spPr>
              <a:xfrm>
                <a:off x="5200650" y="7683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C83210"/>
                </a:solidFill>
              </a:ln>
            </p:spPr>
          </p:sp>
        </p:grpSp>
        <p:sp>
          <p:nvSpPr>
            <p:cNvPr id="31" name="TextBox 31"/>
            <p:cNvSpPr txBox="1"/>
            <p:nvPr/>
          </p:nvSpPr>
          <p:spPr>
            <a:xfrm>
              <a:off x="5617388" y="743664"/>
              <a:ext cx="32857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客户群</a:t>
              </a:r>
            </a:p>
          </p:txBody>
        </p:sp>
        <p:grpSp>
          <p:nvGrpSpPr>
            <p:cNvPr id="34" name="Group 34"/>
            <p:cNvGrpSpPr/>
            <p:nvPr/>
          </p:nvGrpSpPr>
          <p:grpSpPr>
            <a:xfrm>
              <a:off x="6953250" y="742950"/>
              <a:ext cx="114300" cy="76200"/>
              <a:chOff x="6953250" y="742950"/>
              <a:chExt cx="114300" cy="76200"/>
            </a:xfrm>
          </p:grpSpPr>
          <p:sp>
            <p:nvSpPr>
              <p:cNvPr id="32" name="Freeform 32"/>
              <p:cNvSpPr/>
              <p:nvPr/>
            </p:nvSpPr>
            <p:spPr>
              <a:xfrm>
                <a:off x="7029450" y="752914"/>
                <a:ext cx="38100" cy="56272"/>
              </a:xfrm>
              <a:custGeom>
                <a:avLst/>
                <a:gdLst/>
                <a:ahLst/>
                <a:cxnLst/>
                <a:rect l="l" t="t" r="r" b="b"/>
                <a:pathLst>
                  <a:path w="38100" h="56272">
                    <a:moveTo>
                      <a:pt x="0" y="15436"/>
                    </a:moveTo>
                    <a:lnTo>
                      <a:pt x="28912" y="983"/>
                    </a:lnTo>
                    <a:cubicBezTo>
                      <a:pt x="30879" y="0"/>
                      <a:pt x="33216" y="105"/>
                      <a:pt x="35088" y="1262"/>
                    </a:cubicBezTo>
                    <a:cubicBezTo>
                      <a:pt x="36959" y="2418"/>
                      <a:pt x="38099" y="4460"/>
                      <a:pt x="38100" y="6660"/>
                    </a:cubicBezTo>
                    <a:lnTo>
                      <a:pt x="38100" y="49612"/>
                    </a:lnTo>
                    <a:cubicBezTo>
                      <a:pt x="38099" y="51812"/>
                      <a:pt x="36959" y="53854"/>
                      <a:pt x="35088" y="55010"/>
                    </a:cubicBezTo>
                    <a:cubicBezTo>
                      <a:pt x="33216" y="56167"/>
                      <a:pt x="30879" y="56272"/>
                      <a:pt x="28912" y="55289"/>
                    </a:cubicBezTo>
                    <a:lnTo>
                      <a:pt x="0" y="40836"/>
                    </a:lnTo>
                    <a:lnTo>
                      <a:pt x="0" y="15436"/>
                    </a:lnTo>
                  </a:path>
                </a:pathLst>
              </a:custGeom>
              <a:noFill/>
              <a:ln w="12700">
                <a:solidFill>
                  <a:srgbClr val="C83210"/>
                </a:solidFill>
              </a:ln>
            </p:spPr>
          </p:sp>
          <p:sp>
            <p:nvSpPr>
              <p:cNvPr id="33" name="Freeform 33"/>
              <p:cNvSpPr/>
              <p:nvPr/>
            </p:nvSpPr>
            <p:spPr>
              <a:xfrm>
                <a:off x="6953250" y="742950"/>
                <a:ext cx="76200" cy="76200"/>
              </a:xfrm>
              <a:custGeom>
                <a:avLst/>
                <a:gdLst/>
                <a:ahLst/>
                <a:cxnLst/>
                <a:rect l="l" t="t" r="r" b="b"/>
                <a:pathLst>
                  <a:path w="76200" h="76200">
                    <a:moveTo>
                      <a:pt x="0" y="12700"/>
                    </a:moveTo>
                    <a:cubicBezTo>
                      <a:pt x="0" y="5686"/>
                      <a:pt x="5686" y="0"/>
                      <a:pt x="12700" y="0"/>
                    </a:cubicBezTo>
                    <a:lnTo>
                      <a:pt x="63500" y="0"/>
                    </a:lnTo>
                    <a:cubicBezTo>
                      <a:pt x="70514" y="0"/>
                      <a:pt x="76200" y="5686"/>
                      <a:pt x="76200" y="12700"/>
                    </a:cubicBezTo>
                    <a:lnTo>
                      <a:pt x="76200" y="63500"/>
                    </a:lnTo>
                    <a:cubicBezTo>
                      <a:pt x="76200" y="70514"/>
                      <a:pt x="70514" y="76200"/>
                      <a:pt x="63500" y="76200"/>
                    </a:cubicBezTo>
                    <a:lnTo>
                      <a:pt x="12700" y="76200"/>
                    </a:lnTo>
                    <a:cubicBezTo>
                      <a:pt x="5686" y="76200"/>
                      <a:pt x="0" y="70514"/>
                      <a:pt x="0" y="63500"/>
                    </a:cubicBezTo>
                    <a:lnTo>
                      <a:pt x="0" y="12700"/>
                    </a:lnTo>
                  </a:path>
                </a:pathLst>
              </a:custGeom>
              <a:noFill/>
              <a:ln w="12700">
                <a:solidFill>
                  <a:srgbClr val="C83210"/>
                </a:solidFill>
              </a:ln>
            </p:spPr>
          </p:sp>
        </p:grpSp>
        <p:sp>
          <p:nvSpPr>
            <p:cNvPr id="35" name="TextBox 35"/>
            <p:cNvSpPr txBox="1"/>
            <p:nvPr/>
          </p:nvSpPr>
          <p:spPr>
            <a:xfrm>
              <a:off x="7527938" y="743664"/>
              <a:ext cx="222225"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直播</a:t>
              </a:r>
            </a:p>
          </p:txBody>
        </p:sp>
        <p:grpSp>
          <p:nvGrpSpPr>
            <p:cNvPr id="39" name="Group 39"/>
            <p:cNvGrpSpPr/>
            <p:nvPr/>
          </p:nvGrpSpPr>
          <p:grpSpPr>
            <a:xfrm>
              <a:off x="8763000" y="723900"/>
              <a:ext cx="76200" cy="114300"/>
              <a:chOff x="8763000" y="723900"/>
              <a:chExt cx="76200" cy="114300"/>
            </a:xfrm>
          </p:grpSpPr>
          <p:sp>
            <p:nvSpPr>
              <p:cNvPr id="36" name="Freeform 36"/>
              <p:cNvSpPr/>
              <p:nvPr/>
            </p:nvSpPr>
            <p:spPr>
              <a:xfrm>
                <a:off x="8763000" y="72390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C83210"/>
                </a:solidFill>
              </a:ln>
            </p:spPr>
          </p:sp>
          <p:sp>
            <p:nvSpPr>
              <p:cNvPr id="37" name="Freeform 37"/>
              <p:cNvSpPr/>
              <p:nvPr/>
            </p:nvSpPr>
            <p:spPr>
              <a:xfrm>
                <a:off x="8794750" y="730250"/>
                <a:ext cx="12700" cy="9525"/>
              </a:xfrm>
              <a:custGeom>
                <a:avLst/>
                <a:gdLst/>
                <a:ahLst/>
                <a:cxnLst/>
                <a:rect l="l" t="t" r="r" b="b"/>
                <a:pathLst>
                  <a:path w="12700" h="9525">
                    <a:moveTo>
                      <a:pt x="0" y="0"/>
                    </a:moveTo>
                    <a:lnTo>
                      <a:pt x="12700" y="0"/>
                    </a:lnTo>
                  </a:path>
                </a:pathLst>
              </a:custGeom>
              <a:noFill/>
              <a:ln w="12700">
                <a:solidFill>
                  <a:srgbClr val="C83210"/>
                </a:solidFill>
              </a:ln>
            </p:spPr>
          </p:sp>
          <p:sp>
            <p:nvSpPr>
              <p:cNvPr id="38" name="Freeform 38"/>
              <p:cNvSpPr/>
              <p:nvPr/>
            </p:nvSpPr>
            <p:spPr>
              <a:xfrm>
                <a:off x="8801100" y="812800"/>
                <a:ext cx="9525" cy="9525"/>
              </a:xfrm>
              <a:custGeom>
                <a:avLst/>
                <a:gdLst/>
                <a:ahLst/>
                <a:cxnLst/>
                <a:rect l="l" t="t" r="r" b="b"/>
                <a:pathLst>
                  <a:path w="9525" h="9525">
                    <a:moveTo>
                      <a:pt x="0" y="0"/>
                    </a:moveTo>
                    <a:lnTo>
                      <a:pt x="0" y="64"/>
                    </a:lnTo>
                  </a:path>
                </a:pathLst>
              </a:custGeom>
              <a:noFill/>
              <a:ln w="12700">
                <a:solidFill>
                  <a:srgbClr val="C83210"/>
                </a:solidFill>
              </a:ln>
            </p:spPr>
          </p:sp>
        </p:grpSp>
        <p:sp>
          <p:nvSpPr>
            <p:cNvPr id="40" name="TextBox 40"/>
            <p:cNvSpPr txBox="1"/>
            <p:nvPr/>
          </p:nvSpPr>
          <p:spPr>
            <a:xfrm>
              <a:off x="9172613" y="743664"/>
              <a:ext cx="647624"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手机银行消息</a:t>
              </a:r>
            </a:p>
          </p:txBody>
        </p:sp>
        <p:grpSp>
          <p:nvGrpSpPr>
            <p:cNvPr id="43" name="Group 43"/>
            <p:cNvGrpSpPr/>
            <p:nvPr/>
          </p:nvGrpSpPr>
          <p:grpSpPr>
            <a:xfrm>
              <a:off x="10610850" y="736600"/>
              <a:ext cx="114300" cy="88900"/>
              <a:chOff x="10610850" y="736600"/>
              <a:chExt cx="114300" cy="88900"/>
            </a:xfrm>
          </p:grpSpPr>
          <p:sp>
            <p:nvSpPr>
              <p:cNvPr id="41" name="Freeform 41"/>
              <p:cNvSpPr/>
              <p:nvPr/>
            </p:nvSpPr>
            <p:spPr>
              <a:xfrm>
                <a:off x="10610850" y="736600"/>
                <a:ext cx="114300" cy="88900"/>
              </a:xfrm>
              <a:custGeom>
                <a:avLst/>
                <a:gdLst/>
                <a:ahLst/>
                <a:cxnLst/>
                <a:rect l="l" t="t" r="r" b="b"/>
                <a:pathLst>
                  <a:path w="114300" h="88900">
                    <a:moveTo>
                      <a:pt x="0" y="12700"/>
                    </a:moveTo>
                    <a:cubicBezTo>
                      <a:pt x="0" y="5686"/>
                      <a:pt x="5686" y="0"/>
                      <a:pt x="12700" y="0"/>
                    </a:cubicBezTo>
                    <a:lnTo>
                      <a:pt x="101600" y="0"/>
                    </a:lnTo>
                    <a:cubicBezTo>
                      <a:pt x="108614" y="0"/>
                      <a:pt x="114300" y="5686"/>
                      <a:pt x="114300" y="12700"/>
                    </a:cubicBezTo>
                    <a:lnTo>
                      <a:pt x="114300" y="76200"/>
                    </a:lnTo>
                    <a:cubicBezTo>
                      <a:pt x="114300" y="83214"/>
                      <a:pt x="108614" y="88900"/>
                      <a:pt x="101600" y="88900"/>
                    </a:cubicBezTo>
                    <a:lnTo>
                      <a:pt x="12700" y="88900"/>
                    </a:lnTo>
                    <a:cubicBezTo>
                      <a:pt x="5686" y="88900"/>
                      <a:pt x="0" y="83214"/>
                      <a:pt x="0" y="76200"/>
                    </a:cubicBezTo>
                    <a:lnTo>
                      <a:pt x="0" y="12700"/>
                    </a:lnTo>
                  </a:path>
                </a:pathLst>
              </a:custGeom>
              <a:noFill/>
              <a:ln w="12700">
                <a:solidFill>
                  <a:srgbClr val="C83210"/>
                </a:solidFill>
              </a:ln>
            </p:spPr>
          </p:sp>
          <p:sp>
            <p:nvSpPr>
              <p:cNvPr id="42" name="Freeform 42"/>
              <p:cNvSpPr/>
              <p:nvPr/>
            </p:nvSpPr>
            <p:spPr>
              <a:xfrm>
                <a:off x="10610850" y="749300"/>
                <a:ext cx="114300" cy="38100"/>
              </a:xfrm>
              <a:custGeom>
                <a:avLst/>
                <a:gdLst/>
                <a:ahLst/>
                <a:cxnLst/>
                <a:rect l="l" t="t" r="r" b="b"/>
                <a:pathLst>
                  <a:path w="114300" h="38100">
                    <a:moveTo>
                      <a:pt x="0" y="0"/>
                    </a:moveTo>
                    <a:lnTo>
                      <a:pt x="57150" y="38100"/>
                    </a:lnTo>
                    <a:lnTo>
                      <a:pt x="114300" y="0"/>
                    </a:lnTo>
                  </a:path>
                </a:pathLst>
              </a:custGeom>
              <a:noFill/>
              <a:ln w="12700">
                <a:solidFill>
                  <a:srgbClr val="C83210"/>
                </a:solidFill>
              </a:ln>
            </p:spPr>
          </p:sp>
        </p:grpSp>
        <p:sp>
          <p:nvSpPr>
            <p:cNvPr id="44" name="TextBox 44"/>
            <p:cNvSpPr txBox="1"/>
            <p:nvPr/>
          </p:nvSpPr>
          <p:spPr>
            <a:xfrm>
              <a:off x="11242688" y="743664"/>
              <a:ext cx="222225" cy="154781"/>
            </a:xfrm>
            <a:prstGeom prst="rect">
              <a:avLst/>
            </a:prstGeom>
            <a:noFill/>
            <a:ln>
              <a:noFill/>
            </a:ln>
          </p:spPr>
          <p:txBody>
            <a:bodyPr wrap="none" lIns="0" tIns="0" rIns="0" bIns="0" anchor="t" anchorCtr="0">
              <a:spAutoFit/>
            </a:bodyPr>
            <a:lstStyle/>
            <a:p>
              <a:pPr algn="ctr"/>
              <a:r>
                <a:rPr lang="zh-CN" sz="790" b="1" dirty="0">
                  <a:solidFill>
                    <a:srgbClr val="C83210"/>
                  </a:solidFill>
                  <a:latin typeface="+mn-lt"/>
                  <a:ea typeface="+mn-ea"/>
                  <a:cs typeface="+mn-cs"/>
                </a:rPr>
                <a:t>短信</a:t>
              </a:r>
            </a:p>
          </p:txBody>
        </p:sp>
        <p:sp>
          <p:nvSpPr>
            <p:cNvPr id="45" name="Rectangle 45"/>
            <p:cNvSpPr/>
            <p:nvPr/>
          </p:nvSpPr>
          <p:spPr>
            <a:xfrm>
              <a:off x="914400" y="1181100"/>
              <a:ext cx="11144250" cy="323850"/>
            </a:xfrm>
            <a:prstGeom prst="rect">
              <a:avLst/>
            </a:prstGeom>
            <a:solidFill>
              <a:srgbClr val="FDEFF1"/>
            </a:solidFill>
            <a:ln>
              <a:noFill/>
            </a:ln>
          </p:spPr>
        </p:sp>
        <p:sp>
          <p:nvSpPr>
            <p:cNvPr id="46" name="Rectangle 46"/>
            <p:cNvSpPr/>
            <p:nvPr/>
          </p:nvSpPr>
          <p:spPr>
            <a:xfrm>
              <a:off x="914400" y="1733550"/>
              <a:ext cx="11144250" cy="209550"/>
            </a:xfrm>
            <a:prstGeom prst="rect">
              <a:avLst/>
            </a:prstGeom>
            <a:solidFill>
              <a:srgbClr val="FDEFF1"/>
            </a:solidFill>
            <a:ln>
              <a:noFill/>
            </a:ln>
          </p:spPr>
        </p:sp>
        <p:sp>
          <p:nvSpPr>
            <p:cNvPr id="47" name="Rectangle 47"/>
            <p:cNvSpPr/>
            <p:nvPr/>
          </p:nvSpPr>
          <p:spPr>
            <a:xfrm>
              <a:off x="914400" y="2152650"/>
              <a:ext cx="11144250" cy="209550"/>
            </a:xfrm>
            <a:prstGeom prst="rect">
              <a:avLst/>
            </a:prstGeom>
            <a:solidFill>
              <a:srgbClr val="FDEFF1"/>
            </a:solidFill>
            <a:ln>
              <a:noFill/>
            </a:ln>
          </p:spPr>
        </p:sp>
        <p:sp>
          <p:nvSpPr>
            <p:cNvPr id="48" name="TextBox 48"/>
            <p:cNvSpPr txBox="1"/>
            <p:nvPr/>
          </p:nvSpPr>
          <p:spPr>
            <a:xfrm>
              <a:off x="1445857" y="10265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种草预热，建立认知</a:t>
              </a:r>
            </a:p>
          </p:txBody>
        </p:sp>
        <p:sp>
          <p:nvSpPr>
            <p:cNvPr id="49" name="TextBox 49"/>
            <p:cNvSpPr txBox="1"/>
            <p:nvPr/>
          </p:nvSpPr>
          <p:spPr>
            <a:xfrm>
              <a:off x="3260154" y="1026557"/>
              <a:ext cx="87109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定向邀约，个性化沟通</a:t>
              </a:r>
            </a:p>
          </p:txBody>
        </p:sp>
        <p:sp>
          <p:nvSpPr>
            <p:cNvPr id="50" name="TextBox 50"/>
            <p:cNvSpPr txBox="1"/>
            <p:nvPr/>
          </p:nvSpPr>
          <p:spPr>
            <a:xfrm>
              <a:off x="5160607" y="10265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系统教育，答疑互动</a:t>
              </a:r>
            </a:p>
          </p:txBody>
        </p:sp>
        <p:sp>
          <p:nvSpPr>
            <p:cNvPr id="51" name="TextBox 51"/>
            <p:cNvSpPr txBox="1"/>
            <p:nvPr/>
          </p:nvSpPr>
          <p:spPr>
            <a:xfrm>
              <a:off x="7017982" y="10265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集中转化，产品讲解</a:t>
              </a:r>
            </a:p>
          </p:txBody>
        </p:sp>
        <p:sp>
          <p:nvSpPr>
            <p:cNvPr id="52" name="TextBox 52"/>
            <p:cNvSpPr txBox="1"/>
            <p:nvPr/>
          </p:nvSpPr>
          <p:spPr>
            <a:xfrm>
              <a:off x="8875357" y="10265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官方触达，强化提醒</a:t>
              </a:r>
            </a:p>
          </p:txBody>
        </p:sp>
        <p:sp>
          <p:nvSpPr>
            <p:cNvPr id="53" name="TextBox 53"/>
            <p:cNvSpPr txBox="1"/>
            <p:nvPr/>
          </p:nvSpPr>
          <p:spPr>
            <a:xfrm>
              <a:off x="10775810" y="1026557"/>
              <a:ext cx="69877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广覆盖，关键通知</a:t>
              </a:r>
            </a:p>
          </p:txBody>
        </p:sp>
        <p:sp>
          <p:nvSpPr>
            <p:cNvPr id="54" name="TextBox 54"/>
            <p:cNvSpPr txBox="1"/>
            <p:nvPr/>
          </p:nvSpPr>
          <p:spPr>
            <a:xfrm>
              <a:off x="1445857" y="123610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热点观点，种草短帖</a:t>
              </a:r>
            </a:p>
          </p:txBody>
        </p:sp>
        <p:sp>
          <p:nvSpPr>
            <p:cNvPr id="55" name="TextBox 55"/>
            <p:cNvSpPr txBox="1"/>
            <p:nvPr/>
          </p:nvSpPr>
          <p:spPr>
            <a:xfrm>
              <a:off x="1445857" y="13694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活动预告，客户案例</a:t>
              </a:r>
            </a:p>
          </p:txBody>
        </p:sp>
        <p:sp>
          <p:nvSpPr>
            <p:cNvPr id="56" name="TextBox 56"/>
            <p:cNvSpPr txBox="1"/>
            <p:nvPr/>
          </p:nvSpPr>
          <p:spPr>
            <a:xfrm>
              <a:off x="3260154" y="1236107"/>
              <a:ext cx="87109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个性化邀约，资产诊断</a:t>
              </a:r>
            </a:p>
          </p:txBody>
        </p:sp>
        <p:sp>
          <p:nvSpPr>
            <p:cNvPr id="57" name="TextBox 57"/>
            <p:cNvSpPr txBox="1"/>
            <p:nvPr/>
          </p:nvSpPr>
          <p:spPr>
            <a:xfrm>
              <a:off x="3303232" y="13694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专属方案，温馨提醒</a:t>
              </a:r>
            </a:p>
          </p:txBody>
        </p:sp>
        <p:sp>
          <p:nvSpPr>
            <p:cNvPr id="58" name="TextBox 58"/>
            <p:cNvSpPr txBox="1"/>
            <p:nvPr/>
          </p:nvSpPr>
          <p:spPr>
            <a:xfrm>
              <a:off x="5160607" y="123610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投教知识，活动通知</a:t>
              </a:r>
            </a:p>
          </p:txBody>
        </p:sp>
        <p:sp>
          <p:nvSpPr>
            <p:cNvPr id="59" name="TextBox 59"/>
            <p:cNvSpPr txBox="1"/>
            <p:nvPr/>
          </p:nvSpPr>
          <p:spPr>
            <a:xfrm>
              <a:off x="5160607" y="13694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问答互动，资料分享</a:t>
              </a:r>
            </a:p>
          </p:txBody>
        </p:sp>
        <p:sp>
          <p:nvSpPr>
            <p:cNvPr id="60" name="TextBox 60"/>
            <p:cNvSpPr txBox="1"/>
            <p:nvPr/>
          </p:nvSpPr>
          <p:spPr>
            <a:xfrm>
              <a:off x="6931825" y="1236107"/>
              <a:ext cx="957250"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大类资产分析，产品解读</a:t>
              </a:r>
            </a:p>
          </p:txBody>
        </p:sp>
        <p:sp>
          <p:nvSpPr>
            <p:cNvPr id="61" name="TextBox 61"/>
            <p:cNvSpPr txBox="1"/>
            <p:nvPr/>
          </p:nvSpPr>
          <p:spPr>
            <a:xfrm>
              <a:off x="7017982" y="13694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专家答疑，限时权益</a:t>
              </a:r>
            </a:p>
          </p:txBody>
        </p:sp>
        <p:sp>
          <p:nvSpPr>
            <p:cNvPr id="62" name="TextBox 62"/>
            <p:cNvSpPr txBox="1"/>
            <p:nvPr/>
          </p:nvSpPr>
          <p:spPr>
            <a:xfrm>
              <a:off x="8875357" y="123610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活动提醒，直播入口</a:t>
              </a:r>
            </a:p>
          </p:txBody>
        </p:sp>
        <p:sp>
          <p:nvSpPr>
            <p:cNvPr id="63" name="TextBox 63"/>
            <p:cNvSpPr txBox="1"/>
            <p:nvPr/>
          </p:nvSpPr>
          <p:spPr>
            <a:xfrm>
              <a:off x="8875357" y="13694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产品上新，权益发放</a:t>
              </a:r>
            </a:p>
          </p:txBody>
        </p:sp>
        <p:sp>
          <p:nvSpPr>
            <p:cNvPr id="64" name="TextBox 64"/>
            <p:cNvSpPr txBox="1"/>
            <p:nvPr/>
          </p:nvSpPr>
          <p:spPr>
            <a:xfrm>
              <a:off x="10732732" y="123610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重要提醒，直播通知</a:t>
              </a:r>
            </a:p>
          </p:txBody>
        </p:sp>
        <p:sp>
          <p:nvSpPr>
            <p:cNvPr id="65" name="TextBox 65"/>
            <p:cNvSpPr txBox="1"/>
            <p:nvPr/>
          </p:nvSpPr>
          <p:spPr>
            <a:xfrm>
              <a:off x="10732732" y="1369457"/>
              <a:ext cx="78493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活动收盘，服务关怀</a:t>
              </a:r>
            </a:p>
          </p:txBody>
        </p:sp>
        <p:sp>
          <p:nvSpPr>
            <p:cNvPr id="66" name="TextBox 66"/>
            <p:cNvSpPr txBox="1"/>
            <p:nvPr/>
          </p:nvSpPr>
          <p:spPr>
            <a:xfrm>
              <a:off x="1508321" y="1569482"/>
              <a:ext cx="6600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大（数百-数万）</a:t>
              </a:r>
            </a:p>
          </p:txBody>
        </p:sp>
        <p:sp>
          <p:nvSpPr>
            <p:cNvPr id="67" name="TextBox 67"/>
            <p:cNvSpPr txBox="1"/>
            <p:nvPr/>
          </p:nvSpPr>
          <p:spPr>
            <a:xfrm>
              <a:off x="3471238" y="1569482"/>
              <a:ext cx="44892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小（1对1）</a:t>
              </a:r>
            </a:p>
          </p:txBody>
        </p:sp>
        <p:sp>
          <p:nvSpPr>
            <p:cNvPr id="68" name="TextBox 68"/>
            <p:cNvSpPr txBox="1"/>
            <p:nvPr/>
          </p:nvSpPr>
          <p:spPr>
            <a:xfrm>
              <a:off x="5276919" y="1569482"/>
              <a:ext cx="55231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中（50-500）</a:t>
              </a:r>
            </a:p>
          </p:txBody>
        </p:sp>
        <p:sp>
          <p:nvSpPr>
            <p:cNvPr id="69" name="TextBox 69"/>
            <p:cNvSpPr txBox="1"/>
            <p:nvPr/>
          </p:nvSpPr>
          <p:spPr>
            <a:xfrm>
              <a:off x="7080446" y="1569482"/>
              <a:ext cx="6600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大（数百-数万）</a:t>
              </a:r>
            </a:p>
          </p:txBody>
        </p:sp>
        <p:sp>
          <p:nvSpPr>
            <p:cNvPr id="70" name="TextBox 70"/>
            <p:cNvSpPr txBox="1"/>
            <p:nvPr/>
          </p:nvSpPr>
          <p:spPr>
            <a:xfrm>
              <a:off x="8894742" y="1569482"/>
              <a:ext cx="7461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大（数千-数十万）</a:t>
              </a:r>
            </a:p>
          </p:txBody>
        </p:sp>
        <p:sp>
          <p:nvSpPr>
            <p:cNvPr id="71" name="TextBox 71"/>
            <p:cNvSpPr txBox="1"/>
            <p:nvPr/>
          </p:nvSpPr>
          <p:spPr>
            <a:xfrm>
              <a:off x="10752117" y="1569482"/>
              <a:ext cx="7461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大（数千-数十万）</a:t>
              </a:r>
            </a:p>
          </p:txBody>
        </p:sp>
        <p:sp>
          <p:nvSpPr>
            <p:cNvPr id="72" name="TextBox 72"/>
            <p:cNvSpPr txBox="1"/>
            <p:nvPr/>
          </p:nvSpPr>
          <p:spPr>
            <a:xfrm>
              <a:off x="1508321" y="1807607"/>
              <a:ext cx="6600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低（点赞/评论）</a:t>
              </a:r>
            </a:p>
          </p:txBody>
        </p:sp>
        <p:sp>
          <p:nvSpPr>
            <p:cNvPr id="73" name="TextBox 73"/>
            <p:cNvSpPr txBox="1"/>
            <p:nvPr/>
          </p:nvSpPr>
          <p:spPr>
            <a:xfrm>
              <a:off x="3389389" y="1807607"/>
              <a:ext cx="61262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高（深度沟通）</a:t>
              </a:r>
            </a:p>
          </p:txBody>
        </p:sp>
        <p:sp>
          <p:nvSpPr>
            <p:cNvPr id="74" name="TextBox 74"/>
            <p:cNvSpPr txBox="1"/>
            <p:nvPr/>
          </p:nvSpPr>
          <p:spPr>
            <a:xfrm>
              <a:off x="5179992" y="1807607"/>
              <a:ext cx="7461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中高（提问/讨论）</a:t>
              </a:r>
            </a:p>
          </p:txBody>
        </p:sp>
        <p:sp>
          <p:nvSpPr>
            <p:cNvPr id="75" name="TextBox 75"/>
            <p:cNvSpPr txBox="1"/>
            <p:nvPr/>
          </p:nvSpPr>
          <p:spPr>
            <a:xfrm>
              <a:off x="6927517" y="1807607"/>
              <a:ext cx="96586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中高（提问/打赏/报名）</a:t>
              </a:r>
            </a:p>
          </p:txBody>
        </p:sp>
        <p:sp>
          <p:nvSpPr>
            <p:cNvPr id="76" name="TextBox 76"/>
            <p:cNvSpPr txBox="1"/>
            <p:nvPr/>
          </p:nvSpPr>
          <p:spPr>
            <a:xfrm>
              <a:off x="9047670" y="1807607"/>
              <a:ext cx="4403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低（点击）</a:t>
              </a:r>
            </a:p>
          </p:txBody>
        </p:sp>
        <p:sp>
          <p:nvSpPr>
            <p:cNvPr id="77" name="TextBox 77"/>
            <p:cNvSpPr txBox="1"/>
            <p:nvPr/>
          </p:nvSpPr>
          <p:spPr>
            <a:xfrm>
              <a:off x="10905046" y="1807607"/>
              <a:ext cx="4403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低（回复）</a:t>
              </a:r>
            </a:p>
          </p:txBody>
        </p:sp>
        <p:sp>
          <p:nvSpPr>
            <p:cNvPr id="78" name="TextBox 78"/>
            <p:cNvSpPr txBox="1"/>
            <p:nvPr/>
          </p:nvSpPr>
          <p:spPr>
            <a:xfrm>
              <a:off x="1590170" y="2017157"/>
              <a:ext cx="496311"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 xml:space="preserve">每周3-5次　</a:t>
              </a:r>
            </a:p>
          </p:txBody>
        </p:sp>
        <p:sp>
          <p:nvSpPr>
            <p:cNvPr id="79" name="TextBox 79"/>
            <p:cNvSpPr txBox="1"/>
            <p:nvPr/>
          </p:nvSpPr>
          <p:spPr>
            <a:xfrm>
              <a:off x="3232153" y="2017157"/>
              <a:ext cx="92709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 xml:space="preserve">按需，建议每周1-3次　</a:t>
              </a:r>
            </a:p>
          </p:txBody>
        </p:sp>
        <p:sp>
          <p:nvSpPr>
            <p:cNvPr id="80" name="TextBox 80"/>
            <p:cNvSpPr txBox="1"/>
            <p:nvPr/>
          </p:nvSpPr>
          <p:spPr>
            <a:xfrm>
              <a:off x="5304920" y="2017157"/>
              <a:ext cx="496311"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 xml:space="preserve">每周2-4次　</a:t>
              </a:r>
            </a:p>
          </p:txBody>
        </p:sp>
        <p:sp>
          <p:nvSpPr>
            <p:cNvPr id="81" name="TextBox 81"/>
            <p:cNvSpPr txBox="1"/>
            <p:nvPr/>
          </p:nvSpPr>
          <p:spPr>
            <a:xfrm>
              <a:off x="7162295" y="2017157"/>
              <a:ext cx="496311"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 xml:space="preserve">每月1-4场　</a:t>
              </a:r>
            </a:p>
          </p:txBody>
        </p:sp>
        <p:sp>
          <p:nvSpPr>
            <p:cNvPr id="82" name="TextBox 82"/>
            <p:cNvSpPr txBox="1"/>
            <p:nvPr/>
          </p:nvSpPr>
          <p:spPr>
            <a:xfrm>
              <a:off x="9019670" y="2017157"/>
              <a:ext cx="496311"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 xml:space="preserve">每周1-2次　</a:t>
              </a:r>
            </a:p>
          </p:txBody>
        </p:sp>
        <p:sp>
          <p:nvSpPr>
            <p:cNvPr id="83" name="TextBox 83"/>
            <p:cNvSpPr txBox="1"/>
            <p:nvPr/>
          </p:nvSpPr>
          <p:spPr>
            <a:xfrm>
              <a:off x="10877045" y="2017157"/>
              <a:ext cx="496311"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 xml:space="preserve">每月1-2次　</a:t>
              </a:r>
            </a:p>
          </p:txBody>
        </p:sp>
        <p:sp>
          <p:nvSpPr>
            <p:cNvPr id="84" name="TextBox 84"/>
            <p:cNvSpPr txBox="1"/>
            <p:nvPr/>
          </p:nvSpPr>
          <p:spPr>
            <a:xfrm>
              <a:off x="1661249" y="2226707"/>
              <a:ext cx="3541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客户经理</a:t>
              </a:r>
            </a:p>
          </p:txBody>
        </p:sp>
        <p:sp>
          <p:nvSpPr>
            <p:cNvPr id="85" name="TextBox 85"/>
            <p:cNvSpPr txBox="1"/>
            <p:nvPr/>
          </p:nvSpPr>
          <p:spPr>
            <a:xfrm>
              <a:off x="3518624" y="2226707"/>
              <a:ext cx="3541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客户经理</a:t>
              </a:r>
            </a:p>
          </p:txBody>
        </p:sp>
        <p:sp>
          <p:nvSpPr>
            <p:cNvPr id="86" name="TextBox 86"/>
            <p:cNvSpPr txBox="1"/>
            <p:nvPr/>
          </p:nvSpPr>
          <p:spPr>
            <a:xfrm>
              <a:off x="5179992" y="2226707"/>
              <a:ext cx="7461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客户经理/团队运营</a:t>
              </a:r>
            </a:p>
          </p:txBody>
        </p:sp>
        <p:sp>
          <p:nvSpPr>
            <p:cNvPr id="87" name="TextBox 87"/>
            <p:cNvSpPr txBox="1"/>
            <p:nvPr/>
          </p:nvSpPr>
          <p:spPr>
            <a:xfrm>
              <a:off x="7013674" y="2226707"/>
              <a:ext cx="7935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产品经理/投顾/分行</a:t>
              </a:r>
            </a:p>
          </p:txBody>
        </p:sp>
        <p:sp>
          <p:nvSpPr>
            <p:cNvPr id="88" name="TextBox 88"/>
            <p:cNvSpPr txBox="1"/>
            <p:nvPr/>
          </p:nvSpPr>
          <p:spPr>
            <a:xfrm>
              <a:off x="8980899" y="2226707"/>
              <a:ext cx="5738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运营/零售部门</a:t>
              </a:r>
            </a:p>
          </p:txBody>
        </p:sp>
        <p:sp>
          <p:nvSpPr>
            <p:cNvPr id="89" name="TextBox 89"/>
            <p:cNvSpPr txBox="1"/>
            <p:nvPr/>
          </p:nvSpPr>
          <p:spPr>
            <a:xfrm>
              <a:off x="10838274" y="2226707"/>
              <a:ext cx="5738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运营/零售部门</a:t>
              </a:r>
            </a:p>
          </p:txBody>
        </p:sp>
        <p:sp>
          <p:nvSpPr>
            <p:cNvPr id="90" name="TextBox 90"/>
            <p:cNvSpPr txBox="1"/>
            <p:nvPr/>
          </p:nvSpPr>
          <p:spPr>
            <a:xfrm>
              <a:off x="1532014" y="2455307"/>
              <a:ext cx="612623" cy="126206"/>
            </a:xfrm>
            <a:prstGeom prst="rect">
              <a:avLst/>
            </a:prstGeom>
            <a:noFill/>
            <a:ln>
              <a:noFill/>
            </a:ln>
          </p:spPr>
          <p:txBody>
            <a:bodyPr wrap="none" lIns="0" tIns="0" rIns="0" bIns="0" anchor="t" anchorCtr="0">
              <a:spAutoFit/>
            </a:bodyPr>
            <a:lstStyle/>
            <a:p>
              <a:pPr algn="ctr"/>
              <a:r>
                <a:rPr lang="zh-CN" sz="640" b="1" dirty="0">
                  <a:solidFill>
                    <a:srgbClr val="B32C0E"/>
                  </a:solidFill>
                  <a:latin typeface="+mn-lt"/>
                  <a:ea typeface="+mn-ea"/>
                  <a:cs typeface="+mn-cs"/>
                </a:rPr>
                <a:t>曝光量、互动率</a:t>
              </a:r>
            </a:p>
          </p:txBody>
        </p:sp>
        <p:sp>
          <p:nvSpPr>
            <p:cNvPr id="91" name="TextBox 91"/>
            <p:cNvSpPr txBox="1"/>
            <p:nvPr/>
          </p:nvSpPr>
          <p:spPr>
            <a:xfrm>
              <a:off x="3217075" y="2455307"/>
              <a:ext cx="957250" cy="126206"/>
            </a:xfrm>
            <a:prstGeom prst="rect">
              <a:avLst/>
            </a:prstGeom>
            <a:noFill/>
            <a:ln>
              <a:noFill/>
            </a:ln>
          </p:spPr>
          <p:txBody>
            <a:bodyPr wrap="none" lIns="0" tIns="0" rIns="0" bIns="0" anchor="t" anchorCtr="0">
              <a:spAutoFit/>
            </a:bodyPr>
            <a:lstStyle/>
            <a:p>
              <a:pPr algn="ctr"/>
              <a:r>
                <a:rPr lang="zh-CN" sz="640" b="1" dirty="0">
                  <a:solidFill>
                    <a:srgbClr val="B32C0E"/>
                  </a:solidFill>
                  <a:latin typeface="+mn-lt"/>
                  <a:ea typeface="+mn-ea"/>
                  <a:cs typeface="+mn-cs"/>
                </a:rPr>
                <a:t>有效邀约数、加深意向数</a:t>
              </a:r>
            </a:p>
          </p:txBody>
        </p:sp>
        <p:sp>
          <p:nvSpPr>
            <p:cNvPr id="92" name="TextBox 92"/>
            <p:cNvSpPr txBox="1"/>
            <p:nvPr/>
          </p:nvSpPr>
          <p:spPr>
            <a:xfrm>
              <a:off x="5117528" y="2455307"/>
              <a:ext cx="871093" cy="126206"/>
            </a:xfrm>
            <a:prstGeom prst="rect">
              <a:avLst/>
            </a:prstGeom>
            <a:noFill/>
            <a:ln>
              <a:noFill/>
            </a:ln>
          </p:spPr>
          <p:txBody>
            <a:bodyPr wrap="none" lIns="0" tIns="0" rIns="0" bIns="0" anchor="t" anchorCtr="0">
              <a:spAutoFit/>
            </a:bodyPr>
            <a:lstStyle/>
            <a:p>
              <a:pPr algn="ctr"/>
              <a:r>
                <a:rPr lang="zh-CN" sz="640" b="1" dirty="0">
                  <a:solidFill>
                    <a:srgbClr val="B32C0E"/>
                  </a:solidFill>
                  <a:latin typeface="+mn-lt"/>
                  <a:ea typeface="+mn-ea"/>
                  <a:cs typeface="+mn-cs"/>
                </a:rPr>
                <a:t>群活跃度、资料点击率</a:t>
              </a:r>
            </a:p>
          </p:txBody>
        </p:sp>
        <p:sp>
          <p:nvSpPr>
            <p:cNvPr id="93" name="TextBox 93"/>
            <p:cNvSpPr txBox="1"/>
            <p:nvPr/>
          </p:nvSpPr>
          <p:spPr>
            <a:xfrm>
              <a:off x="6888747" y="2455307"/>
              <a:ext cx="1043407" cy="126206"/>
            </a:xfrm>
            <a:prstGeom prst="rect">
              <a:avLst/>
            </a:prstGeom>
            <a:noFill/>
            <a:ln>
              <a:noFill/>
            </a:ln>
          </p:spPr>
          <p:txBody>
            <a:bodyPr wrap="none" lIns="0" tIns="0" rIns="0" bIns="0" anchor="t" anchorCtr="0">
              <a:spAutoFit/>
            </a:bodyPr>
            <a:lstStyle/>
            <a:p>
              <a:pPr algn="ctr"/>
              <a:r>
                <a:rPr lang="zh-CN" sz="640" b="1" dirty="0">
                  <a:solidFill>
                    <a:srgbClr val="B32C0E"/>
                  </a:solidFill>
                  <a:latin typeface="+mn-lt"/>
                  <a:ea typeface="+mn-ea"/>
                  <a:cs typeface="+mn-cs"/>
                </a:rPr>
                <a:t>观看人数、报名数、转化率</a:t>
              </a:r>
            </a:p>
          </p:txBody>
        </p:sp>
        <p:sp>
          <p:nvSpPr>
            <p:cNvPr id="94" name="TextBox 94"/>
            <p:cNvSpPr txBox="1"/>
            <p:nvPr/>
          </p:nvSpPr>
          <p:spPr>
            <a:xfrm>
              <a:off x="8875357" y="2455307"/>
              <a:ext cx="784936" cy="126206"/>
            </a:xfrm>
            <a:prstGeom prst="rect">
              <a:avLst/>
            </a:prstGeom>
            <a:noFill/>
            <a:ln>
              <a:noFill/>
            </a:ln>
          </p:spPr>
          <p:txBody>
            <a:bodyPr wrap="none" lIns="0" tIns="0" rIns="0" bIns="0" anchor="t" anchorCtr="0">
              <a:spAutoFit/>
            </a:bodyPr>
            <a:lstStyle/>
            <a:p>
              <a:pPr algn="ctr"/>
              <a:r>
                <a:rPr lang="zh-CN" sz="640" b="1" dirty="0">
                  <a:solidFill>
                    <a:srgbClr val="B32C0E"/>
                  </a:solidFill>
                  <a:latin typeface="+mn-lt"/>
                  <a:ea typeface="+mn-ea"/>
                  <a:cs typeface="+mn-cs"/>
                </a:rPr>
                <a:t>点击率、跳转转化率</a:t>
              </a:r>
            </a:p>
          </p:txBody>
        </p:sp>
        <p:sp>
          <p:nvSpPr>
            <p:cNvPr id="95" name="TextBox 95"/>
            <p:cNvSpPr txBox="1"/>
            <p:nvPr/>
          </p:nvSpPr>
          <p:spPr>
            <a:xfrm>
              <a:off x="10646575" y="2455307"/>
              <a:ext cx="957250" cy="126206"/>
            </a:xfrm>
            <a:prstGeom prst="rect">
              <a:avLst/>
            </a:prstGeom>
            <a:noFill/>
            <a:ln>
              <a:noFill/>
            </a:ln>
          </p:spPr>
          <p:txBody>
            <a:bodyPr wrap="none" lIns="0" tIns="0" rIns="0" bIns="0" anchor="t" anchorCtr="0">
              <a:spAutoFit/>
            </a:bodyPr>
            <a:lstStyle/>
            <a:p>
              <a:pPr algn="ctr"/>
              <a:r>
                <a:rPr lang="zh-CN" sz="640" b="1" dirty="0">
                  <a:solidFill>
                    <a:srgbClr val="B32C0E"/>
                  </a:solidFill>
                  <a:latin typeface="+mn-lt"/>
                  <a:ea typeface="+mn-ea"/>
                  <a:cs typeface="+mn-cs"/>
                </a:rPr>
                <a:t>送达率、回复率、转化率</a:t>
              </a:r>
            </a:p>
          </p:txBody>
        </p:sp>
        <p:sp>
          <p:nvSpPr>
            <p:cNvPr id="96" name="Line 96"/>
            <p:cNvSpPr/>
            <p:nvPr/>
          </p:nvSpPr>
          <p:spPr>
            <a:xfrm>
              <a:off x="2771775" y="628650"/>
              <a:ext cx="9525" cy="1962150"/>
            </a:xfrm>
            <a:custGeom>
              <a:avLst/>
              <a:gdLst/>
              <a:ahLst/>
              <a:cxnLst/>
              <a:rect l="l" t="t" r="r" b="b"/>
              <a:pathLst>
                <a:path w="9525" h="1962150">
                  <a:moveTo>
                    <a:pt x="0" y="0"/>
                  </a:moveTo>
                  <a:lnTo>
                    <a:pt x="0" y="1962150"/>
                  </a:lnTo>
                </a:path>
              </a:pathLst>
            </a:custGeom>
            <a:noFill/>
            <a:ln w="9525">
              <a:solidFill>
                <a:srgbClr val="F1C7CC"/>
              </a:solidFill>
            </a:ln>
          </p:spPr>
        </p:sp>
        <p:sp>
          <p:nvSpPr>
            <p:cNvPr id="97" name="Line 97"/>
            <p:cNvSpPr/>
            <p:nvPr/>
          </p:nvSpPr>
          <p:spPr>
            <a:xfrm>
              <a:off x="4629150" y="628650"/>
              <a:ext cx="9525" cy="1962150"/>
            </a:xfrm>
            <a:custGeom>
              <a:avLst/>
              <a:gdLst/>
              <a:ahLst/>
              <a:cxnLst/>
              <a:rect l="l" t="t" r="r" b="b"/>
              <a:pathLst>
                <a:path w="9525" h="1962150">
                  <a:moveTo>
                    <a:pt x="0" y="0"/>
                  </a:moveTo>
                  <a:lnTo>
                    <a:pt x="0" y="1962150"/>
                  </a:lnTo>
                </a:path>
              </a:pathLst>
            </a:custGeom>
            <a:noFill/>
            <a:ln w="9525">
              <a:solidFill>
                <a:srgbClr val="F1C7CC"/>
              </a:solidFill>
            </a:ln>
          </p:spPr>
        </p:sp>
        <p:sp>
          <p:nvSpPr>
            <p:cNvPr id="98" name="Line 98"/>
            <p:cNvSpPr/>
            <p:nvPr/>
          </p:nvSpPr>
          <p:spPr>
            <a:xfrm>
              <a:off x="6486525" y="628650"/>
              <a:ext cx="9525" cy="1962150"/>
            </a:xfrm>
            <a:custGeom>
              <a:avLst/>
              <a:gdLst/>
              <a:ahLst/>
              <a:cxnLst/>
              <a:rect l="l" t="t" r="r" b="b"/>
              <a:pathLst>
                <a:path w="9525" h="1962150">
                  <a:moveTo>
                    <a:pt x="0" y="0"/>
                  </a:moveTo>
                  <a:lnTo>
                    <a:pt x="0" y="1962150"/>
                  </a:lnTo>
                </a:path>
              </a:pathLst>
            </a:custGeom>
            <a:noFill/>
            <a:ln w="9525">
              <a:solidFill>
                <a:srgbClr val="F1C7CC"/>
              </a:solidFill>
            </a:ln>
          </p:spPr>
        </p:sp>
        <p:sp>
          <p:nvSpPr>
            <p:cNvPr id="99" name="Line 99"/>
            <p:cNvSpPr/>
            <p:nvPr/>
          </p:nvSpPr>
          <p:spPr>
            <a:xfrm>
              <a:off x="8343900" y="628650"/>
              <a:ext cx="9525" cy="1962150"/>
            </a:xfrm>
            <a:custGeom>
              <a:avLst/>
              <a:gdLst/>
              <a:ahLst/>
              <a:cxnLst/>
              <a:rect l="l" t="t" r="r" b="b"/>
              <a:pathLst>
                <a:path w="9525" h="1962150">
                  <a:moveTo>
                    <a:pt x="0" y="0"/>
                  </a:moveTo>
                  <a:lnTo>
                    <a:pt x="0" y="1962150"/>
                  </a:lnTo>
                </a:path>
              </a:pathLst>
            </a:custGeom>
            <a:noFill/>
            <a:ln w="9525">
              <a:solidFill>
                <a:srgbClr val="F1C7CC"/>
              </a:solidFill>
            </a:ln>
          </p:spPr>
        </p:sp>
        <p:sp>
          <p:nvSpPr>
            <p:cNvPr id="100" name="Line 100"/>
            <p:cNvSpPr/>
            <p:nvPr/>
          </p:nvSpPr>
          <p:spPr>
            <a:xfrm>
              <a:off x="10201275" y="628650"/>
              <a:ext cx="9525" cy="1962150"/>
            </a:xfrm>
            <a:custGeom>
              <a:avLst/>
              <a:gdLst/>
              <a:ahLst/>
              <a:cxnLst/>
              <a:rect l="l" t="t" r="r" b="b"/>
              <a:pathLst>
                <a:path w="9525" h="1962150">
                  <a:moveTo>
                    <a:pt x="0" y="0"/>
                  </a:moveTo>
                  <a:lnTo>
                    <a:pt x="0" y="1962150"/>
                  </a:lnTo>
                </a:path>
              </a:pathLst>
            </a:custGeom>
            <a:noFill/>
            <a:ln w="9525">
              <a:solidFill>
                <a:srgbClr val="F1C7CC"/>
              </a:solidFill>
            </a:ln>
          </p:spPr>
        </p:sp>
        <p:sp>
          <p:nvSpPr>
            <p:cNvPr id="101" name="Line 101"/>
            <p:cNvSpPr/>
            <p:nvPr/>
          </p:nvSpPr>
          <p:spPr>
            <a:xfrm>
              <a:off x="914400" y="933450"/>
              <a:ext cx="11144250" cy="9525"/>
            </a:xfrm>
            <a:custGeom>
              <a:avLst/>
              <a:gdLst/>
              <a:ahLst/>
              <a:cxnLst/>
              <a:rect l="l" t="t" r="r" b="b"/>
              <a:pathLst>
                <a:path w="11144250" h="9525">
                  <a:moveTo>
                    <a:pt x="0" y="0"/>
                  </a:moveTo>
                  <a:lnTo>
                    <a:pt x="11144250" y="0"/>
                  </a:lnTo>
                </a:path>
              </a:pathLst>
            </a:custGeom>
            <a:noFill/>
            <a:ln w="9525">
              <a:solidFill>
                <a:srgbClr val="B32C0E"/>
              </a:solidFill>
            </a:ln>
          </p:spPr>
        </p:sp>
        <p:sp>
          <p:nvSpPr>
            <p:cNvPr id="102" name="Line 102"/>
            <p:cNvSpPr/>
            <p:nvPr/>
          </p:nvSpPr>
          <p:spPr>
            <a:xfrm>
              <a:off x="914400" y="1181100"/>
              <a:ext cx="11144250" cy="9525"/>
            </a:xfrm>
            <a:custGeom>
              <a:avLst/>
              <a:gdLst/>
              <a:ahLst/>
              <a:cxnLst/>
              <a:rect l="l" t="t" r="r" b="b"/>
              <a:pathLst>
                <a:path w="11144250" h="9525">
                  <a:moveTo>
                    <a:pt x="0" y="0"/>
                  </a:moveTo>
                  <a:lnTo>
                    <a:pt x="11144250" y="0"/>
                  </a:lnTo>
                </a:path>
              </a:pathLst>
            </a:custGeom>
            <a:noFill/>
            <a:ln w="9525">
              <a:solidFill>
                <a:srgbClr val="F1C7CC"/>
              </a:solidFill>
            </a:ln>
          </p:spPr>
        </p:sp>
        <p:sp>
          <p:nvSpPr>
            <p:cNvPr id="103" name="Line 103"/>
            <p:cNvSpPr/>
            <p:nvPr/>
          </p:nvSpPr>
          <p:spPr>
            <a:xfrm>
              <a:off x="914400" y="1504950"/>
              <a:ext cx="11144250" cy="9525"/>
            </a:xfrm>
            <a:custGeom>
              <a:avLst/>
              <a:gdLst/>
              <a:ahLst/>
              <a:cxnLst/>
              <a:rect l="l" t="t" r="r" b="b"/>
              <a:pathLst>
                <a:path w="11144250" h="9525">
                  <a:moveTo>
                    <a:pt x="0" y="0"/>
                  </a:moveTo>
                  <a:lnTo>
                    <a:pt x="11144250" y="0"/>
                  </a:lnTo>
                </a:path>
              </a:pathLst>
            </a:custGeom>
            <a:noFill/>
            <a:ln w="9525">
              <a:solidFill>
                <a:srgbClr val="F1C7CC"/>
              </a:solidFill>
            </a:ln>
          </p:spPr>
        </p:sp>
        <p:sp>
          <p:nvSpPr>
            <p:cNvPr id="104" name="Line 104"/>
            <p:cNvSpPr/>
            <p:nvPr/>
          </p:nvSpPr>
          <p:spPr>
            <a:xfrm>
              <a:off x="914400" y="1714500"/>
              <a:ext cx="11144250" cy="9525"/>
            </a:xfrm>
            <a:custGeom>
              <a:avLst/>
              <a:gdLst/>
              <a:ahLst/>
              <a:cxnLst/>
              <a:rect l="l" t="t" r="r" b="b"/>
              <a:pathLst>
                <a:path w="11144250" h="9525">
                  <a:moveTo>
                    <a:pt x="0" y="0"/>
                  </a:moveTo>
                  <a:lnTo>
                    <a:pt x="11144250" y="0"/>
                  </a:lnTo>
                </a:path>
              </a:pathLst>
            </a:custGeom>
            <a:noFill/>
            <a:ln w="9525">
              <a:solidFill>
                <a:srgbClr val="F1C7CC"/>
              </a:solidFill>
            </a:ln>
          </p:spPr>
        </p:sp>
        <p:sp>
          <p:nvSpPr>
            <p:cNvPr id="105" name="Line 105"/>
            <p:cNvSpPr/>
            <p:nvPr/>
          </p:nvSpPr>
          <p:spPr>
            <a:xfrm>
              <a:off x="914400" y="1943100"/>
              <a:ext cx="11144250" cy="9525"/>
            </a:xfrm>
            <a:custGeom>
              <a:avLst/>
              <a:gdLst/>
              <a:ahLst/>
              <a:cxnLst/>
              <a:rect l="l" t="t" r="r" b="b"/>
              <a:pathLst>
                <a:path w="11144250" h="9525">
                  <a:moveTo>
                    <a:pt x="0" y="0"/>
                  </a:moveTo>
                  <a:lnTo>
                    <a:pt x="11144250" y="0"/>
                  </a:lnTo>
                </a:path>
              </a:pathLst>
            </a:custGeom>
            <a:noFill/>
            <a:ln w="9525">
              <a:solidFill>
                <a:srgbClr val="F1C7CC"/>
              </a:solidFill>
            </a:ln>
          </p:spPr>
        </p:sp>
        <p:sp>
          <p:nvSpPr>
            <p:cNvPr id="106" name="Line 106"/>
            <p:cNvSpPr/>
            <p:nvPr/>
          </p:nvSpPr>
          <p:spPr>
            <a:xfrm>
              <a:off x="914400" y="2152650"/>
              <a:ext cx="11144250" cy="9525"/>
            </a:xfrm>
            <a:custGeom>
              <a:avLst/>
              <a:gdLst/>
              <a:ahLst/>
              <a:cxnLst/>
              <a:rect l="l" t="t" r="r" b="b"/>
              <a:pathLst>
                <a:path w="11144250" h="9525">
                  <a:moveTo>
                    <a:pt x="0" y="0"/>
                  </a:moveTo>
                  <a:lnTo>
                    <a:pt x="11144250" y="0"/>
                  </a:lnTo>
                </a:path>
              </a:pathLst>
            </a:custGeom>
            <a:noFill/>
            <a:ln w="9525">
              <a:solidFill>
                <a:srgbClr val="F1C7CC"/>
              </a:solidFill>
            </a:ln>
          </p:spPr>
        </p:sp>
        <p:sp>
          <p:nvSpPr>
            <p:cNvPr id="107" name="Line 107"/>
            <p:cNvSpPr/>
            <p:nvPr/>
          </p:nvSpPr>
          <p:spPr>
            <a:xfrm>
              <a:off x="914400" y="2362200"/>
              <a:ext cx="11144250" cy="9525"/>
            </a:xfrm>
            <a:custGeom>
              <a:avLst/>
              <a:gdLst/>
              <a:ahLst/>
              <a:cxnLst/>
              <a:rect l="l" t="t" r="r" b="b"/>
              <a:pathLst>
                <a:path w="11144250" h="9525">
                  <a:moveTo>
                    <a:pt x="0" y="0"/>
                  </a:moveTo>
                  <a:lnTo>
                    <a:pt x="11144250" y="0"/>
                  </a:lnTo>
                </a:path>
              </a:pathLst>
            </a:custGeom>
            <a:noFill/>
            <a:ln w="9525">
              <a:solidFill>
                <a:srgbClr val="F1C7CC"/>
              </a:solidFill>
            </a:ln>
          </p:spPr>
        </p:sp>
        <p:sp>
          <p:nvSpPr>
            <p:cNvPr id="108" name="Line 108"/>
            <p:cNvSpPr/>
            <p:nvPr/>
          </p:nvSpPr>
          <p:spPr>
            <a:xfrm>
              <a:off x="914400" y="2590800"/>
              <a:ext cx="11144250" cy="9525"/>
            </a:xfrm>
            <a:custGeom>
              <a:avLst/>
              <a:gdLst/>
              <a:ahLst/>
              <a:cxnLst/>
              <a:rect l="l" t="t" r="r" b="b"/>
              <a:pathLst>
                <a:path w="11144250" h="9525">
                  <a:moveTo>
                    <a:pt x="0" y="0"/>
                  </a:moveTo>
                  <a:lnTo>
                    <a:pt x="11144250" y="0"/>
                  </a:lnTo>
                </a:path>
              </a:pathLst>
            </a:custGeom>
            <a:noFill/>
            <a:ln w="9525">
              <a:solidFill>
                <a:srgbClr val="F1C7CC"/>
              </a:solidFill>
            </a:ln>
          </p:spPr>
        </p:sp>
      </p:grpSp>
      <p:grpSp>
        <p:nvGrpSpPr>
          <p:cNvPr id="230" name="orchestration"/>
          <p:cNvGrpSpPr/>
          <p:nvPr/>
        </p:nvGrpSpPr>
        <p:grpSpPr>
          <a:xfrm>
            <a:off x="133350" y="2667000"/>
            <a:ext cx="8410575" cy="3257550"/>
            <a:chOff x="133350" y="2667000"/>
            <a:chExt cx="8410575" cy="3257550"/>
          </a:xfrm>
        </p:grpSpPr>
        <p:sp>
          <p:nvSpPr>
            <p:cNvPr id="110" name="Rectangle 110"/>
            <p:cNvSpPr/>
            <p:nvPr/>
          </p:nvSpPr>
          <p:spPr>
            <a:xfrm>
              <a:off x="133350" y="2667000"/>
              <a:ext cx="209550" cy="3257550"/>
            </a:xfrm>
            <a:prstGeom prst="rect">
              <a:avLst/>
            </a:prstGeom>
            <a:solidFill>
              <a:srgbClr val="C83210"/>
            </a:solidFill>
            <a:ln>
              <a:noFill/>
            </a:ln>
          </p:spPr>
        </p:sp>
        <p:sp>
          <p:nvSpPr>
            <p:cNvPr id="111" name="TextBox 111"/>
            <p:cNvSpPr txBox="1"/>
            <p:nvPr/>
          </p:nvSpPr>
          <p:spPr>
            <a:xfrm>
              <a:off x="178168" y="292084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一</a:t>
              </a:r>
            </a:p>
          </p:txBody>
        </p:sp>
        <p:sp>
          <p:nvSpPr>
            <p:cNvPr id="112" name="TextBox 112"/>
            <p:cNvSpPr txBox="1"/>
            <p:nvPr/>
          </p:nvSpPr>
          <p:spPr>
            <a:xfrm>
              <a:off x="178168" y="3063716"/>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次</a:t>
              </a:r>
            </a:p>
          </p:txBody>
        </p:sp>
        <p:sp>
          <p:nvSpPr>
            <p:cNvPr id="113" name="TextBox 113"/>
            <p:cNvSpPr txBox="1"/>
            <p:nvPr/>
          </p:nvSpPr>
          <p:spPr>
            <a:xfrm>
              <a:off x="178168" y="32065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活</a:t>
              </a:r>
            </a:p>
          </p:txBody>
        </p:sp>
        <p:sp>
          <p:nvSpPr>
            <p:cNvPr id="114" name="TextBox 114"/>
            <p:cNvSpPr txBox="1"/>
            <p:nvPr/>
          </p:nvSpPr>
          <p:spPr>
            <a:xfrm>
              <a:off x="178168" y="3349466"/>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动</a:t>
              </a:r>
            </a:p>
          </p:txBody>
        </p:sp>
        <p:sp>
          <p:nvSpPr>
            <p:cNvPr id="115" name="TextBox 115"/>
            <p:cNvSpPr txBox="1"/>
            <p:nvPr/>
          </p:nvSpPr>
          <p:spPr>
            <a:xfrm>
              <a:off x="178168" y="349234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的</a:t>
              </a:r>
            </a:p>
          </p:txBody>
        </p:sp>
        <p:sp>
          <p:nvSpPr>
            <p:cNvPr id="116" name="TextBox 116"/>
            <p:cNvSpPr txBox="1"/>
            <p:nvPr/>
          </p:nvSpPr>
          <p:spPr>
            <a:xfrm>
              <a:off x="178168" y="3635216"/>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全</a:t>
              </a:r>
            </a:p>
          </p:txBody>
        </p:sp>
        <p:sp>
          <p:nvSpPr>
            <p:cNvPr id="117" name="TextBox 117"/>
            <p:cNvSpPr txBox="1"/>
            <p:nvPr/>
          </p:nvSpPr>
          <p:spPr>
            <a:xfrm>
              <a:off x="178168" y="37780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链</a:t>
              </a:r>
            </a:p>
          </p:txBody>
        </p:sp>
        <p:sp>
          <p:nvSpPr>
            <p:cNvPr id="118" name="TextBox 118"/>
            <p:cNvSpPr txBox="1"/>
            <p:nvPr/>
          </p:nvSpPr>
          <p:spPr>
            <a:xfrm>
              <a:off x="178168" y="3920966"/>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路</a:t>
              </a:r>
            </a:p>
          </p:txBody>
        </p:sp>
        <p:sp>
          <p:nvSpPr>
            <p:cNvPr id="119" name="TextBox 119"/>
            <p:cNvSpPr txBox="1"/>
            <p:nvPr/>
          </p:nvSpPr>
          <p:spPr>
            <a:xfrm>
              <a:off x="178168" y="406384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触</a:t>
              </a:r>
            </a:p>
          </p:txBody>
        </p:sp>
        <p:sp>
          <p:nvSpPr>
            <p:cNvPr id="120" name="TextBox 120"/>
            <p:cNvSpPr txBox="1"/>
            <p:nvPr/>
          </p:nvSpPr>
          <p:spPr>
            <a:xfrm>
              <a:off x="178168" y="4206716"/>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达</a:t>
              </a:r>
            </a:p>
          </p:txBody>
        </p:sp>
        <p:sp>
          <p:nvSpPr>
            <p:cNvPr id="121" name="TextBox 121"/>
            <p:cNvSpPr txBox="1"/>
            <p:nvPr/>
          </p:nvSpPr>
          <p:spPr>
            <a:xfrm>
              <a:off x="178168" y="43495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编</a:t>
              </a:r>
            </a:p>
          </p:txBody>
        </p:sp>
        <p:sp>
          <p:nvSpPr>
            <p:cNvPr id="122" name="TextBox 122"/>
            <p:cNvSpPr txBox="1"/>
            <p:nvPr/>
          </p:nvSpPr>
          <p:spPr>
            <a:xfrm>
              <a:off x="178168" y="4492466"/>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排</a:t>
              </a:r>
            </a:p>
          </p:txBody>
        </p:sp>
        <p:sp>
          <p:nvSpPr>
            <p:cNvPr id="123" name="TextBox 123"/>
            <p:cNvSpPr txBox="1"/>
            <p:nvPr/>
          </p:nvSpPr>
          <p:spPr>
            <a:xfrm>
              <a:off x="192976" y="4716780"/>
              <a:ext cx="90297" cy="119062"/>
            </a:xfrm>
            <a:prstGeom prst="rect">
              <a:avLst/>
            </a:prstGeom>
            <a:noFill/>
            <a:ln>
              <a:noFill/>
            </a:ln>
          </p:spPr>
          <p:txBody>
            <a:bodyPr wrap="none" lIns="0" tIns="0" rIns="0" bIns="0" anchor="t" anchorCtr="0">
              <a:spAutoFit/>
            </a:bodyPr>
            <a:lstStyle/>
            <a:p>
              <a:pPr algn="ctr"/>
              <a:r>
                <a:rPr lang="zh-CN" sz="600" dirty="0">
                  <a:solidFill>
                    <a:srgbClr val="FBE3E6"/>
                  </a:solidFill>
                  <a:latin typeface="+mn-lt"/>
                  <a:ea typeface="+mn-ea"/>
                  <a:cs typeface="+mn-cs"/>
                </a:rPr>
                <a:t>以</a:t>
              </a:r>
            </a:p>
          </p:txBody>
        </p:sp>
        <p:sp>
          <p:nvSpPr>
            <p:cNvPr id="124" name="TextBox 124"/>
            <p:cNvSpPr txBox="1"/>
            <p:nvPr/>
          </p:nvSpPr>
          <p:spPr>
            <a:xfrm>
              <a:off x="192976" y="4831080"/>
              <a:ext cx="90297" cy="119062"/>
            </a:xfrm>
            <a:prstGeom prst="rect">
              <a:avLst/>
            </a:prstGeom>
            <a:noFill/>
            <a:ln>
              <a:noFill/>
            </a:ln>
          </p:spPr>
          <p:txBody>
            <a:bodyPr wrap="none" lIns="0" tIns="0" rIns="0" bIns="0" anchor="t" anchorCtr="0">
              <a:spAutoFit/>
            </a:bodyPr>
            <a:lstStyle/>
            <a:p>
              <a:pPr algn="ctr"/>
              <a:r>
                <a:rPr lang="zh-CN" sz="600" dirty="0">
                  <a:solidFill>
                    <a:srgbClr val="FBE3E6"/>
                  </a:solidFill>
                  <a:latin typeface="+mn-lt"/>
                  <a:ea typeface="+mn-ea"/>
                  <a:cs typeface="+mn-cs"/>
                </a:rPr>
                <a:t>财</a:t>
              </a:r>
            </a:p>
          </p:txBody>
        </p:sp>
        <p:sp>
          <p:nvSpPr>
            <p:cNvPr id="125" name="TextBox 125"/>
            <p:cNvSpPr txBox="1"/>
            <p:nvPr/>
          </p:nvSpPr>
          <p:spPr>
            <a:xfrm>
              <a:off x="192976" y="4945380"/>
              <a:ext cx="90297" cy="119062"/>
            </a:xfrm>
            <a:prstGeom prst="rect">
              <a:avLst/>
            </a:prstGeom>
            <a:noFill/>
            <a:ln>
              <a:noFill/>
            </a:ln>
          </p:spPr>
          <p:txBody>
            <a:bodyPr wrap="none" lIns="0" tIns="0" rIns="0" bIns="0" anchor="t" anchorCtr="0">
              <a:spAutoFit/>
            </a:bodyPr>
            <a:lstStyle/>
            <a:p>
              <a:pPr algn="ctr"/>
              <a:r>
                <a:rPr lang="zh-CN" sz="600" dirty="0">
                  <a:solidFill>
                    <a:srgbClr val="FBE3E6"/>
                  </a:solidFill>
                  <a:latin typeface="+mn-lt"/>
                  <a:ea typeface="+mn-ea"/>
                  <a:cs typeface="+mn-cs"/>
                </a:rPr>
                <a:t>商</a:t>
              </a:r>
            </a:p>
          </p:txBody>
        </p:sp>
        <p:sp>
          <p:nvSpPr>
            <p:cNvPr id="126" name="TextBox 126"/>
            <p:cNvSpPr txBox="1"/>
            <p:nvPr/>
          </p:nvSpPr>
          <p:spPr>
            <a:xfrm>
              <a:off x="192976" y="5059680"/>
              <a:ext cx="90297" cy="119062"/>
            </a:xfrm>
            <a:prstGeom prst="rect">
              <a:avLst/>
            </a:prstGeom>
            <a:noFill/>
            <a:ln>
              <a:noFill/>
            </a:ln>
          </p:spPr>
          <p:txBody>
            <a:bodyPr wrap="none" lIns="0" tIns="0" rIns="0" bIns="0" anchor="t" anchorCtr="0">
              <a:spAutoFit/>
            </a:bodyPr>
            <a:lstStyle/>
            <a:p>
              <a:pPr algn="ctr"/>
              <a:r>
                <a:rPr lang="zh-CN" sz="600" dirty="0">
                  <a:solidFill>
                    <a:srgbClr val="FBE3E6"/>
                  </a:solidFill>
                  <a:latin typeface="+mn-lt"/>
                  <a:ea typeface="+mn-ea"/>
                  <a:cs typeface="+mn-cs"/>
                </a:rPr>
                <a:t>教</a:t>
              </a:r>
            </a:p>
          </p:txBody>
        </p:sp>
        <p:sp>
          <p:nvSpPr>
            <p:cNvPr id="127" name="TextBox 127"/>
            <p:cNvSpPr txBox="1"/>
            <p:nvPr/>
          </p:nvSpPr>
          <p:spPr>
            <a:xfrm>
              <a:off x="192976" y="5173980"/>
              <a:ext cx="90297" cy="119062"/>
            </a:xfrm>
            <a:prstGeom prst="rect">
              <a:avLst/>
            </a:prstGeom>
            <a:noFill/>
            <a:ln>
              <a:noFill/>
            </a:ln>
          </p:spPr>
          <p:txBody>
            <a:bodyPr wrap="none" lIns="0" tIns="0" rIns="0" bIns="0" anchor="t" anchorCtr="0">
              <a:spAutoFit/>
            </a:bodyPr>
            <a:lstStyle/>
            <a:p>
              <a:pPr algn="ctr"/>
              <a:r>
                <a:rPr lang="zh-CN" sz="600" dirty="0">
                  <a:solidFill>
                    <a:srgbClr val="FBE3E6"/>
                  </a:solidFill>
                  <a:latin typeface="+mn-lt"/>
                  <a:ea typeface="+mn-ea"/>
                  <a:cs typeface="+mn-cs"/>
                </a:rPr>
                <a:t>育</a:t>
              </a:r>
            </a:p>
          </p:txBody>
        </p:sp>
        <p:sp>
          <p:nvSpPr>
            <p:cNvPr id="128" name="TextBox 128"/>
            <p:cNvSpPr txBox="1"/>
            <p:nvPr/>
          </p:nvSpPr>
          <p:spPr>
            <a:xfrm>
              <a:off x="192976" y="5288280"/>
              <a:ext cx="90297" cy="119062"/>
            </a:xfrm>
            <a:prstGeom prst="rect">
              <a:avLst/>
            </a:prstGeom>
            <a:noFill/>
            <a:ln>
              <a:noFill/>
            </a:ln>
          </p:spPr>
          <p:txBody>
            <a:bodyPr wrap="none" lIns="0" tIns="0" rIns="0" bIns="0" anchor="t" anchorCtr="0">
              <a:spAutoFit/>
            </a:bodyPr>
            <a:lstStyle/>
            <a:p>
              <a:pPr algn="ctr"/>
              <a:r>
                <a:rPr lang="zh-CN" sz="600" dirty="0">
                  <a:solidFill>
                    <a:srgbClr val="FBE3E6"/>
                  </a:solidFill>
                  <a:latin typeface="+mn-lt"/>
                  <a:ea typeface="+mn-ea"/>
                  <a:cs typeface="+mn-cs"/>
                </a:rPr>
                <a:t>直</a:t>
              </a:r>
            </a:p>
          </p:txBody>
        </p:sp>
        <p:sp>
          <p:nvSpPr>
            <p:cNvPr id="129" name="TextBox 129"/>
            <p:cNvSpPr txBox="1"/>
            <p:nvPr/>
          </p:nvSpPr>
          <p:spPr>
            <a:xfrm>
              <a:off x="192976" y="5402580"/>
              <a:ext cx="90297" cy="119062"/>
            </a:xfrm>
            <a:prstGeom prst="rect">
              <a:avLst/>
            </a:prstGeom>
            <a:noFill/>
            <a:ln>
              <a:noFill/>
            </a:ln>
          </p:spPr>
          <p:txBody>
            <a:bodyPr wrap="none" lIns="0" tIns="0" rIns="0" bIns="0" anchor="t" anchorCtr="0">
              <a:spAutoFit/>
            </a:bodyPr>
            <a:lstStyle/>
            <a:p>
              <a:pPr algn="ctr"/>
              <a:r>
                <a:rPr lang="zh-CN" sz="600" dirty="0">
                  <a:solidFill>
                    <a:srgbClr val="FBE3E6"/>
                  </a:solidFill>
                  <a:latin typeface="+mn-lt"/>
                  <a:ea typeface="+mn-ea"/>
                  <a:cs typeface="+mn-cs"/>
                </a:rPr>
                <a:t>播</a:t>
              </a:r>
            </a:p>
          </p:txBody>
        </p:sp>
        <p:sp>
          <p:nvSpPr>
            <p:cNvPr id="130" name="TextBox 130"/>
            <p:cNvSpPr txBox="1"/>
            <p:nvPr/>
          </p:nvSpPr>
          <p:spPr>
            <a:xfrm>
              <a:off x="192976" y="5516880"/>
              <a:ext cx="90297" cy="119062"/>
            </a:xfrm>
            <a:prstGeom prst="rect">
              <a:avLst/>
            </a:prstGeom>
            <a:noFill/>
            <a:ln>
              <a:noFill/>
            </a:ln>
          </p:spPr>
          <p:txBody>
            <a:bodyPr wrap="none" lIns="0" tIns="0" rIns="0" bIns="0" anchor="t" anchorCtr="0">
              <a:spAutoFit/>
            </a:bodyPr>
            <a:lstStyle/>
            <a:p>
              <a:pPr algn="ctr"/>
              <a:r>
                <a:rPr lang="zh-CN" sz="600" dirty="0">
                  <a:solidFill>
                    <a:srgbClr val="FBE3E6"/>
                  </a:solidFill>
                  <a:latin typeface="+mn-lt"/>
                  <a:ea typeface="+mn-ea"/>
                  <a:cs typeface="+mn-cs"/>
                </a:rPr>
                <a:t>为</a:t>
              </a:r>
            </a:p>
          </p:txBody>
        </p:sp>
        <p:sp>
          <p:nvSpPr>
            <p:cNvPr id="131" name="TextBox 131"/>
            <p:cNvSpPr txBox="1"/>
            <p:nvPr/>
          </p:nvSpPr>
          <p:spPr>
            <a:xfrm>
              <a:off x="192976" y="5631180"/>
              <a:ext cx="90297" cy="119062"/>
            </a:xfrm>
            <a:prstGeom prst="rect">
              <a:avLst/>
            </a:prstGeom>
            <a:noFill/>
            <a:ln>
              <a:noFill/>
            </a:ln>
          </p:spPr>
          <p:txBody>
            <a:bodyPr wrap="none" lIns="0" tIns="0" rIns="0" bIns="0" anchor="t" anchorCtr="0">
              <a:spAutoFit/>
            </a:bodyPr>
            <a:lstStyle/>
            <a:p>
              <a:pPr algn="ctr"/>
              <a:r>
                <a:rPr lang="zh-CN" sz="600" dirty="0">
                  <a:solidFill>
                    <a:srgbClr val="FBE3E6"/>
                  </a:solidFill>
                  <a:latin typeface="+mn-lt"/>
                  <a:ea typeface="+mn-ea"/>
                  <a:cs typeface="+mn-cs"/>
                </a:rPr>
                <a:t>例</a:t>
              </a:r>
            </a:p>
          </p:txBody>
        </p:sp>
        <p:sp>
          <p:nvSpPr>
            <p:cNvPr id="132" name="Ellipse 132"/>
            <p:cNvSpPr/>
            <p:nvPr/>
          </p:nvSpPr>
          <p:spPr>
            <a:xfrm>
              <a:off x="419100" y="2828925"/>
              <a:ext cx="171450" cy="171450"/>
            </a:xfrm>
            <a:prstGeom prst="ellipse">
              <a:avLst/>
            </a:prstGeom>
            <a:solidFill>
              <a:srgbClr val="C83210"/>
            </a:solidFill>
            <a:ln>
              <a:noFill/>
            </a:ln>
          </p:spPr>
        </p:sp>
        <p:sp>
          <p:nvSpPr>
            <p:cNvPr id="133" name="TextBox 133"/>
            <p:cNvSpPr txBox="1"/>
            <p:nvPr/>
          </p:nvSpPr>
          <p:spPr>
            <a:xfrm>
              <a:off x="471984" y="28717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34" name="TextBox 134"/>
            <p:cNvSpPr txBox="1"/>
            <p:nvPr/>
          </p:nvSpPr>
          <p:spPr>
            <a:xfrm>
              <a:off x="642938" y="2867739"/>
              <a:ext cx="54127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朋友圈预热</a:t>
              </a:r>
            </a:p>
          </p:txBody>
        </p:sp>
        <p:sp>
          <p:nvSpPr>
            <p:cNvPr id="135" name="TextBox 135"/>
            <p:cNvSpPr txBox="1"/>
            <p:nvPr/>
          </p:nvSpPr>
          <p:spPr>
            <a:xfrm>
              <a:off x="481012" y="3059430"/>
              <a:ext cx="829361"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价值观观点 + 直播预告</a:t>
              </a:r>
            </a:p>
          </p:txBody>
        </p:sp>
        <p:sp>
          <p:nvSpPr>
            <p:cNvPr id="136" name="TextBox 136"/>
            <p:cNvSpPr txBox="1"/>
            <p:nvPr/>
          </p:nvSpPr>
          <p:spPr>
            <a:xfrm>
              <a:off x="481012" y="3173730"/>
              <a:ext cx="332613"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吸引关注</a:t>
              </a:r>
            </a:p>
          </p:txBody>
        </p:sp>
        <p:sp>
          <p:nvSpPr>
            <p:cNvPr id="137" name="Rectangle 137"/>
            <p:cNvSpPr/>
            <p:nvPr/>
          </p:nvSpPr>
          <p:spPr>
            <a:xfrm>
              <a:off x="485775" y="3314700"/>
              <a:ext cx="1428750" cy="2400300"/>
            </a:xfrm>
            <a:prstGeom prst="roundRect">
              <a:avLst>
                <a:gd name="adj" fmla="val 4000"/>
              </a:avLst>
            </a:prstGeom>
            <a:solidFill>
              <a:srgbClr val="FFFFFF"/>
            </a:solidFill>
            <a:ln w="9525">
              <a:solidFill>
                <a:srgbClr val="F1C7CC"/>
              </a:solidFill>
            </a:ln>
          </p:spPr>
        </p:sp>
        <p:sp>
          <p:nvSpPr>
            <p:cNvPr id="138" name="Rectangle 138"/>
            <p:cNvSpPr/>
            <p:nvPr/>
          </p:nvSpPr>
          <p:spPr>
            <a:xfrm>
              <a:off x="552450" y="3390900"/>
              <a:ext cx="1295400" cy="723900"/>
            </a:xfrm>
            <a:prstGeom prst="rect">
              <a:avLst/>
            </a:prstGeom>
            <a:gradFill>
              <a:gsLst>
                <a:gs pos="0">
                  <a:srgbClr val="E9826B"/>
                </a:gs>
                <a:gs pos="100000">
                  <a:srgbClr val="B32C0E"/>
                </a:gs>
              </a:gsLst>
              <a:lin ang="5400000" scaled="1"/>
            </a:gradFill>
            <a:ln>
              <a:noFill/>
            </a:ln>
          </p:spPr>
        </p:sp>
        <p:sp>
          <p:nvSpPr>
            <p:cNvPr id="139" name="Polygon 139"/>
            <p:cNvSpPr/>
            <p:nvPr/>
          </p:nvSpPr>
          <p:spPr>
            <a:xfrm>
              <a:off x="552450" y="3771900"/>
              <a:ext cx="1295400" cy="342900"/>
            </a:xfrm>
            <a:custGeom>
              <a:avLst/>
              <a:gdLst/>
              <a:ahLst/>
              <a:cxnLst/>
              <a:rect l="l" t="t" r="r" b="b"/>
              <a:pathLst>
                <a:path w="1295400" h="342900">
                  <a:moveTo>
                    <a:pt x="0" y="342900"/>
                  </a:moveTo>
                  <a:lnTo>
                    <a:pt x="323850" y="0"/>
                  </a:lnTo>
                  <a:lnTo>
                    <a:pt x="552450" y="228600"/>
                  </a:lnTo>
                  <a:lnTo>
                    <a:pt x="723900" y="57150"/>
                  </a:lnTo>
                  <a:lnTo>
                    <a:pt x="1295400" y="342900"/>
                  </a:lnTo>
                  <a:close/>
                </a:path>
              </a:pathLst>
            </a:custGeom>
            <a:solidFill>
              <a:srgbClr val="FFFFFF">
                <a:alpha val="25000"/>
              </a:srgbClr>
            </a:solidFill>
            <a:ln>
              <a:noFill/>
            </a:ln>
          </p:spPr>
        </p:sp>
        <p:sp>
          <p:nvSpPr>
            <p:cNvPr id="140" name="Ellipse 140"/>
            <p:cNvSpPr/>
            <p:nvPr/>
          </p:nvSpPr>
          <p:spPr>
            <a:xfrm>
              <a:off x="1543050" y="3486150"/>
              <a:ext cx="152400" cy="152400"/>
            </a:xfrm>
            <a:prstGeom prst="ellipse">
              <a:avLst/>
            </a:prstGeom>
            <a:solidFill>
              <a:srgbClr val="FBE3E6">
                <a:alpha val="85000"/>
              </a:srgbClr>
            </a:solidFill>
            <a:ln>
              <a:noFill/>
            </a:ln>
          </p:spPr>
        </p:sp>
        <p:sp>
          <p:nvSpPr>
            <p:cNvPr id="141" name="TextBox 141"/>
            <p:cNvSpPr txBox="1"/>
            <p:nvPr/>
          </p:nvSpPr>
          <p:spPr>
            <a:xfrm>
              <a:off x="912685" y="3783330"/>
              <a:ext cx="574929"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把握市场新阶段</a:t>
              </a:r>
            </a:p>
          </p:txBody>
        </p:sp>
        <p:sp>
          <p:nvSpPr>
            <p:cNvPr id="142" name="TextBox 142"/>
            <p:cNvSpPr txBox="1"/>
            <p:nvPr/>
          </p:nvSpPr>
          <p:spPr>
            <a:xfrm>
              <a:off x="791528" y="3907155"/>
              <a:ext cx="817245"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定期审视家庭资产配置</a:t>
              </a:r>
            </a:p>
          </p:txBody>
        </p:sp>
        <p:sp>
          <p:nvSpPr>
            <p:cNvPr id="143" name="Rectangle 143"/>
            <p:cNvSpPr/>
            <p:nvPr/>
          </p:nvSpPr>
          <p:spPr>
            <a:xfrm>
              <a:off x="552450" y="4210050"/>
              <a:ext cx="1295400" cy="285750"/>
            </a:xfrm>
            <a:prstGeom prst="roundRect">
              <a:avLst>
                <a:gd name="adj" fmla="val 13333"/>
              </a:avLst>
            </a:prstGeom>
            <a:solidFill>
              <a:srgbClr val="C83210"/>
            </a:solidFill>
            <a:ln>
              <a:noFill/>
            </a:ln>
          </p:spPr>
        </p:sp>
        <p:sp>
          <p:nvSpPr>
            <p:cNvPr id="144" name="TextBox 144"/>
            <p:cNvSpPr txBox="1"/>
            <p:nvPr/>
          </p:nvSpPr>
          <p:spPr>
            <a:xfrm>
              <a:off x="872119" y="4265057"/>
              <a:ext cx="65606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Arial"/>
                  <a:ea typeface="Microsoft YaHei"/>
                  <a:cs typeface="Arial"/>
                </a:rPr>
                <a:t xml:space="preserve">3月15日 19:30　</a:t>
              </a:r>
            </a:p>
          </p:txBody>
        </p:sp>
        <p:sp>
          <p:nvSpPr>
            <p:cNvPr id="145" name="TextBox 145"/>
            <p:cNvSpPr txBox="1"/>
            <p:nvPr/>
          </p:nvSpPr>
          <p:spPr>
            <a:xfrm>
              <a:off x="835414" y="4387453"/>
              <a:ext cx="729473"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财富直播间·准时开讲</a:t>
              </a:r>
            </a:p>
          </p:txBody>
        </p:sp>
        <p:sp>
          <p:nvSpPr>
            <p:cNvPr id="146" name="Freeform 146"/>
            <p:cNvSpPr/>
            <p:nvPr/>
          </p:nvSpPr>
          <p:spPr>
            <a:xfrm>
              <a:off x="680442" y="4629414"/>
              <a:ext cx="96348" cy="83874"/>
            </a:xfrm>
            <a:custGeom>
              <a:avLst/>
              <a:gdLst/>
              <a:ahLst/>
              <a:cxnLst/>
              <a:rect l="l" t="t" r="r" b="b"/>
              <a:pathLst>
                <a:path w="96348" h="83874">
                  <a:moveTo>
                    <a:pt x="86916" y="45550"/>
                  </a:moveTo>
                  <a:lnTo>
                    <a:pt x="48221" y="83874"/>
                  </a:lnTo>
                  <a:lnTo>
                    <a:pt x="9526" y="45550"/>
                  </a:lnTo>
                  <a:cubicBezTo>
                    <a:pt x="2567" y="38779"/>
                    <a:pt x="0" y="28674"/>
                    <a:pt x="2883" y="19402"/>
                  </a:cubicBezTo>
                  <a:cubicBezTo>
                    <a:pt x="5766" y="10131"/>
                    <a:pt x="13610" y="3263"/>
                    <a:pt x="23181" y="1632"/>
                  </a:cubicBezTo>
                  <a:cubicBezTo>
                    <a:pt x="32752" y="0"/>
                    <a:pt x="42429" y="3881"/>
                    <a:pt x="48221" y="11673"/>
                  </a:cubicBezTo>
                  <a:cubicBezTo>
                    <a:pt x="54037" y="3938"/>
                    <a:pt x="63693" y="109"/>
                    <a:pt x="73230" y="1756"/>
                  </a:cubicBezTo>
                  <a:cubicBezTo>
                    <a:pt x="82766" y="3403"/>
                    <a:pt x="90579" y="10249"/>
                    <a:pt x="93463" y="19486"/>
                  </a:cubicBezTo>
                  <a:cubicBezTo>
                    <a:pt x="96348" y="28724"/>
                    <a:pt x="93821" y="38799"/>
                    <a:pt x="86916" y="45581"/>
                  </a:cubicBezTo>
                </a:path>
              </a:pathLst>
            </a:custGeom>
            <a:noFill/>
            <a:ln w="10319">
              <a:solidFill>
                <a:srgbClr val="C83210"/>
              </a:solidFill>
            </a:ln>
          </p:spPr>
        </p:sp>
        <p:sp>
          <p:nvSpPr>
            <p:cNvPr id="147" name="TextBox 147"/>
            <p:cNvSpPr txBox="1"/>
            <p:nvPr/>
          </p:nvSpPr>
          <p:spPr>
            <a:xfrm>
              <a:off x="833438" y="4646057"/>
              <a:ext cx="239443" cy="126206"/>
            </a:xfrm>
            <a:prstGeom prst="rect">
              <a:avLst/>
            </a:prstGeom>
            <a:noFill/>
            <a:ln>
              <a:noFill/>
            </a:ln>
          </p:spPr>
          <p:txBody>
            <a:bodyPr wrap="none" lIns="0" tIns="0" rIns="0" bIns="0" anchor="t" anchorCtr="0">
              <a:spAutoFit/>
            </a:bodyPr>
            <a:lstStyle/>
            <a:p>
              <a:pPr algn="l"/>
              <a:r>
                <a:rPr lang="zh-CN" sz="640" dirty="0">
                  <a:solidFill>
                    <a:srgbClr val="3D3D3D"/>
                  </a:solidFill>
                  <a:latin typeface="Arial"/>
                  <a:ea typeface="Microsoft YaHei"/>
                  <a:cs typeface="Arial"/>
                </a:rPr>
                <a:t xml:space="preserve">128　</a:t>
              </a:r>
            </a:p>
          </p:txBody>
        </p:sp>
        <p:grpSp>
          <p:nvGrpSpPr>
            <p:cNvPr id="151" name="Group 151"/>
            <p:cNvGrpSpPr/>
            <p:nvPr/>
          </p:nvGrpSpPr>
          <p:grpSpPr>
            <a:xfrm>
              <a:off x="1158478" y="4630738"/>
              <a:ext cx="92869" cy="87709"/>
              <a:chOff x="1158478" y="4630738"/>
              <a:chExt cx="92869" cy="87709"/>
            </a:xfrm>
          </p:grpSpPr>
          <p:sp>
            <p:nvSpPr>
              <p:cNvPr id="148" name="Freeform 148"/>
              <p:cNvSpPr/>
              <p:nvPr/>
            </p:nvSpPr>
            <p:spPr>
              <a:xfrm>
                <a:off x="1184275" y="4656534"/>
                <a:ext cx="41275" cy="9525"/>
              </a:xfrm>
              <a:custGeom>
                <a:avLst/>
                <a:gdLst/>
                <a:ahLst/>
                <a:cxnLst/>
                <a:rect l="l" t="t" r="r" b="b"/>
                <a:pathLst>
                  <a:path w="41275" h="9525">
                    <a:moveTo>
                      <a:pt x="0" y="0"/>
                    </a:moveTo>
                    <a:lnTo>
                      <a:pt x="41275" y="0"/>
                    </a:lnTo>
                  </a:path>
                </a:pathLst>
              </a:custGeom>
              <a:noFill/>
              <a:ln w="10319">
                <a:solidFill>
                  <a:srgbClr val="C83210"/>
                </a:solidFill>
              </a:ln>
            </p:spPr>
          </p:sp>
          <p:sp>
            <p:nvSpPr>
              <p:cNvPr id="149" name="Freeform 149"/>
              <p:cNvSpPr/>
              <p:nvPr/>
            </p:nvSpPr>
            <p:spPr>
              <a:xfrm>
                <a:off x="1184275" y="4677172"/>
                <a:ext cx="30956" cy="9525"/>
              </a:xfrm>
              <a:custGeom>
                <a:avLst/>
                <a:gdLst/>
                <a:ahLst/>
                <a:cxnLst/>
                <a:rect l="l" t="t" r="r" b="b"/>
                <a:pathLst>
                  <a:path w="30956" h="9525">
                    <a:moveTo>
                      <a:pt x="0" y="0"/>
                    </a:moveTo>
                    <a:lnTo>
                      <a:pt x="30956" y="0"/>
                    </a:lnTo>
                  </a:path>
                </a:pathLst>
              </a:custGeom>
              <a:noFill/>
              <a:ln w="10319">
                <a:solidFill>
                  <a:srgbClr val="C83210"/>
                </a:solidFill>
              </a:ln>
            </p:spPr>
          </p:sp>
          <p:sp>
            <p:nvSpPr>
              <p:cNvPr id="150" name="Freeform 150"/>
              <p:cNvSpPr/>
              <p:nvPr/>
            </p:nvSpPr>
            <p:spPr>
              <a:xfrm>
                <a:off x="1158478" y="4630738"/>
                <a:ext cx="92869" cy="87709"/>
              </a:xfrm>
              <a:custGeom>
                <a:avLst/>
                <a:gdLst/>
                <a:ahLst/>
                <a:cxnLst/>
                <a:rect l="l" t="t" r="r" b="b"/>
                <a:pathLst>
                  <a:path w="92869" h="87709">
                    <a:moveTo>
                      <a:pt x="77391" y="0"/>
                    </a:moveTo>
                    <a:cubicBezTo>
                      <a:pt x="85939" y="0"/>
                      <a:pt x="92869" y="6930"/>
                      <a:pt x="92869" y="15478"/>
                    </a:cubicBezTo>
                    <a:lnTo>
                      <a:pt x="92869" y="56753"/>
                    </a:lnTo>
                    <a:cubicBezTo>
                      <a:pt x="92869" y="65301"/>
                      <a:pt x="85939" y="72231"/>
                      <a:pt x="77391" y="72231"/>
                    </a:cubicBezTo>
                    <a:lnTo>
                      <a:pt x="51594" y="72231"/>
                    </a:lnTo>
                    <a:lnTo>
                      <a:pt x="25797" y="87709"/>
                    </a:lnTo>
                    <a:lnTo>
                      <a:pt x="25797" y="72231"/>
                    </a:lnTo>
                    <a:lnTo>
                      <a:pt x="15478" y="72231"/>
                    </a:lnTo>
                    <a:cubicBezTo>
                      <a:pt x="6930" y="72231"/>
                      <a:pt x="0" y="65301"/>
                      <a:pt x="0" y="56753"/>
                    </a:cubicBezTo>
                    <a:lnTo>
                      <a:pt x="0" y="15478"/>
                    </a:lnTo>
                    <a:cubicBezTo>
                      <a:pt x="0" y="6930"/>
                      <a:pt x="6930" y="0"/>
                      <a:pt x="15478" y="0"/>
                    </a:cubicBezTo>
                    <a:lnTo>
                      <a:pt x="77391" y="0"/>
                    </a:lnTo>
                  </a:path>
                </a:pathLst>
              </a:custGeom>
              <a:noFill/>
              <a:ln w="10319">
                <a:solidFill>
                  <a:srgbClr val="C83210"/>
                </a:solidFill>
              </a:ln>
            </p:spPr>
          </p:sp>
        </p:grpSp>
        <p:sp>
          <p:nvSpPr>
            <p:cNvPr id="152" name="TextBox 152"/>
            <p:cNvSpPr txBox="1"/>
            <p:nvPr/>
          </p:nvSpPr>
          <p:spPr>
            <a:xfrm>
              <a:off x="1309688" y="4646057"/>
              <a:ext cx="191523" cy="126206"/>
            </a:xfrm>
            <a:prstGeom prst="rect">
              <a:avLst/>
            </a:prstGeom>
            <a:noFill/>
            <a:ln>
              <a:noFill/>
            </a:ln>
          </p:spPr>
          <p:txBody>
            <a:bodyPr wrap="none" lIns="0" tIns="0" rIns="0" bIns="0" anchor="t" anchorCtr="0">
              <a:spAutoFit/>
            </a:bodyPr>
            <a:lstStyle/>
            <a:p>
              <a:pPr algn="l"/>
              <a:r>
                <a:rPr lang="zh-CN" sz="640" dirty="0">
                  <a:solidFill>
                    <a:srgbClr val="3D3D3D"/>
                  </a:solidFill>
                  <a:latin typeface="Arial"/>
                  <a:ea typeface="Microsoft YaHei"/>
                  <a:cs typeface="Arial"/>
                </a:rPr>
                <a:t xml:space="preserve">32　</a:t>
              </a:r>
            </a:p>
          </p:txBody>
        </p:sp>
        <p:sp>
          <p:nvSpPr>
            <p:cNvPr id="153" name="Ellipse 153"/>
            <p:cNvSpPr/>
            <p:nvPr/>
          </p:nvSpPr>
          <p:spPr>
            <a:xfrm>
              <a:off x="2076450" y="2828925"/>
              <a:ext cx="171450" cy="171450"/>
            </a:xfrm>
            <a:prstGeom prst="ellipse">
              <a:avLst/>
            </a:prstGeom>
            <a:solidFill>
              <a:srgbClr val="C83210"/>
            </a:solidFill>
            <a:ln>
              <a:noFill/>
            </a:ln>
          </p:spPr>
        </p:sp>
        <p:sp>
          <p:nvSpPr>
            <p:cNvPr id="154" name="TextBox 154"/>
            <p:cNvSpPr txBox="1"/>
            <p:nvPr/>
          </p:nvSpPr>
          <p:spPr>
            <a:xfrm>
              <a:off x="2129334" y="28717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55" name="TextBox 155"/>
            <p:cNvSpPr txBox="1"/>
            <p:nvPr/>
          </p:nvSpPr>
          <p:spPr>
            <a:xfrm>
              <a:off x="2300288" y="286773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私聊邀约</a:t>
              </a:r>
            </a:p>
          </p:txBody>
        </p:sp>
        <p:sp>
          <p:nvSpPr>
            <p:cNvPr id="156" name="TextBox 156"/>
            <p:cNvSpPr txBox="1"/>
            <p:nvPr/>
          </p:nvSpPr>
          <p:spPr>
            <a:xfrm>
              <a:off x="2138362" y="3059430"/>
              <a:ext cx="877291"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 xml:space="preserve">客户经理1V1发送邀约　</a:t>
              </a:r>
            </a:p>
          </p:txBody>
        </p:sp>
        <p:sp>
          <p:nvSpPr>
            <p:cNvPr id="157" name="TextBox 157"/>
            <p:cNvSpPr txBox="1"/>
            <p:nvPr/>
          </p:nvSpPr>
          <p:spPr>
            <a:xfrm>
              <a:off x="2138362" y="3173730"/>
              <a:ext cx="332613"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了解需求</a:t>
              </a:r>
            </a:p>
          </p:txBody>
        </p:sp>
        <p:sp>
          <p:nvSpPr>
            <p:cNvPr id="158" name="Rectangle 158"/>
            <p:cNvSpPr/>
            <p:nvPr/>
          </p:nvSpPr>
          <p:spPr>
            <a:xfrm>
              <a:off x="2143125" y="3314700"/>
              <a:ext cx="1428750" cy="2400300"/>
            </a:xfrm>
            <a:prstGeom prst="roundRect">
              <a:avLst>
                <a:gd name="adj" fmla="val 4000"/>
              </a:avLst>
            </a:prstGeom>
            <a:solidFill>
              <a:srgbClr val="F7F7F7"/>
            </a:solidFill>
            <a:ln w="9525">
              <a:solidFill>
                <a:srgbClr val="F1C7CC"/>
              </a:solidFill>
            </a:ln>
          </p:spPr>
        </p:sp>
        <p:sp>
          <p:nvSpPr>
            <p:cNvPr id="159" name="Ellipse 159"/>
            <p:cNvSpPr/>
            <p:nvPr/>
          </p:nvSpPr>
          <p:spPr>
            <a:xfrm>
              <a:off x="2200275" y="3400425"/>
              <a:ext cx="133350" cy="133350"/>
            </a:xfrm>
            <a:prstGeom prst="ellipse">
              <a:avLst/>
            </a:prstGeom>
            <a:solidFill>
              <a:srgbClr val="E9826B"/>
            </a:solidFill>
            <a:ln>
              <a:noFill/>
            </a:ln>
          </p:spPr>
        </p:sp>
        <p:sp>
          <p:nvSpPr>
            <p:cNvPr id="160" name="Rectangle 160"/>
            <p:cNvSpPr/>
            <p:nvPr/>
          </p:nvSpPr>
          <p:spPr>
            <a:xfrm>
              <a:off x="2381250" y="3390900"/>
              <a:ext cx="1066800" cy="457200"/>
            </a:xfrm>
            <a:prstGeom prst="roundRect">
              <a:avLst>
                <a:gd name="adj" fmla="val 10417"/>
              </a:avLst>
            </a:prstGeom>
            <a:solidFill>
              <a:srgbClr val="FFFFFF"/>
            </a:solidFill>
            <a:ln w="9525">
              <a:solidFill>
                <a:srgbClr val="E8E8E8"/>
              </a:solidFill>
            </a:ln>
          </p:spPr>
        </p:sp>
        <p:sp>
          <p:nvSpPr>
            <p:cNvPr id="161" name="TextBox 161"/>
            <p:cNvSpPr txBox="1"/>
            <p:nvPr/>
          </p:nvSpPr>
          <p:spPr>
            <a:xfrm>
              <a:off x="2433638" y="3463528"/>
              <a:ext cx="838784"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王女士，您好！我们下周</a:t>
              </a:r>
            </a:p>
          </p:txBody>
        </p:sp>
        <p:sp>
          <p:nvSpPr>
            <p:cNvPr id="162" name="TextBox 162"/>
            <p:cNvSpPr txBox="1"/>
            <p:nvPr/>
          </p:nvSpPr>
          <p:spPr>
            <a:xfrm>
              <a:off x="2433638" y="3577828"/>
              <a:ext cx="838784"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有一场家庭资产配置的直</a:t>
              </a:r>
            </a:p>
          </p:txBody>
        </p:sp>
        <p:sp>
          <p:nvSpPr>
            <p:cNvPr id="163" name="TextBox 163"/>
            <p:cNvSpPr txBox="1"/>
            <p:nvPr/>
          </p:nvSpPr>
          <p:spPr>
            <a:xfrm>
              <a:off x="2433638" y="3692128"/>
              <a:ext cx="688010"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播，想邀请您参加。</a:t>
              </a:r>
            </a:p>
          </p:txBody>
        </p:sp>
        <p:sp>
          <p:nvSpPr>
            <p:cNvPr id="164" name="Rectangle 164"/>
            <p:cNvSpPr/>
            <p:nvPr/>
          </p:nvSpPr>
          <p:spPr>
            <a:xfrm>
              <a:off x="2381250" y="3905250"/>
              <a:ext cx="1066800" cy="323850"/>
            </a:xfrm>
            <a:prstGeom prst="roundRect">
              <a:avLst>
                <a:gd name="adj" fmla="val 14706"/>
              </a:avLst>
            </a:prstGeom>
            <a:solidFill>
              <a:srgbClr val="FFFFFF"/>
            </a:solidFill>
            <a:ln w="9525">
              <a:solidFill>
                <a:srgbClr val="E8E8E8"/>
              </a:solidFill>
            </a:ln>
          </p:spPr>
        </p:sp>
        <p:sp>
          <p:nvSpPr>
            <p:cNvPr id="165" name="TextBox 165"/>
            <p:cNvSpPr txBox="1"/>
            <p:nvPr/>
          </p:nvSpPr>
          <p:spPr>
            <a:xfrm>
              <a:off x="2433638" y="3977878"/>
              <a:ext cx="838784"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提前为您准备资料，您看</a:t>
              </a:r>
            </a:p>
          </p:txBody>
        </p:sp>
        <p:sp>
          <p:nvSpPr>
            <p:cNvPr id="166" name="TextBox 166"/>
            <p:cNvSpPr txBox="1"/>
            <p:nvPr/>
          </p:nvSpPr>
          <p:spPr>
            <a:xfrm>
              <a:off x="2433638" y="4092178"/>
              <a:ext cx="612623"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下周三晚方便吗？</a:t>
              </a:r>
            </a:p>
          </p:txBody>
        </p:sp>
        <p:sp>
          <p:nvSpPr>
            <p:cNvPr id="167" name="Rectangle 167"/>
            <p:cNvSpPr/>
            <p:nvPr/>
          </p:nvSpPr>
          <p:spPr>
            <a:xfrm>
              <a:off x="2400300" y="4476750"/>
              <a:ext cx="1047750" cy="323850"/>
            </a:xfrm>
            <a:prstGeom prst="roundRect">
              <a:avLst>
                <a:gd name="adj" fmla="val 14706"/>
              </a:avLst>
            </a:prstGeom>
            <a:solidFill>
              <a:srgbClr val="C83210"/>
            </a:solidFill>
            <a:ln>
              <a:noFill/>
            </a:ln>
          </p:spPr>
        </p:sp>
        <p:sp>
          <p:nvSpPr>
            <p:cNvPr id="168" name="TextBox 168"/>
            <p:cNvSpPr txBox="1"/>
            <p:nvPr/>
          </p:nvSpPr>
          <p:spPr>
            <a:xfrm>
              <a:off x="2452688" y="4549378"/>
              <a:ext cx="612623"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好的，我想参加，</a:t>
              </a:r>
            </a:p>
          </p:txBody>
        </p:sp>
        <p:sp>
          <p:nvSpPr>
            <p:cNvPr id="169" name="TextBox 169"/>
            <p:cNvSpPr txBox="1"/>
            <p:nvPr/>
          </p:nvSpPr>
          <p:spPr>
            <a:xfrm>
              <a:off x="2452688" y="4663678"/>
              <a:ext cx="763397"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想再了解下直播内容。</a:t>
              </a:r>
            </a:p>
          </p:txBody>
        </p:sp>
        <p:sp>
          <p:nvSpPr>
            <p:cNvPr id="170" name="Ellipse 170"/>
            <p:cNvSpPr/>
            <p:nvPr/>
          </p:nvSpPr>
          <p:spPr>
            <a:xfrm>
              <a:off x="3381375" y="4848225"/>
              <a:ext cx="133350" cy="133350"/>
            </a:xfrm>
            <a:prstGeom prst="ellipse">
              <a:avLst/>
            </a:prstGeom>
            <a:solidFill>
              <a:srgbClr val="F3B2A3"/>
            </a:solidFill>
            <a:ln>
              <a:noFill/>
            </a:ln>
          </p:spPr>
        </p:sp>
        <p:sp>
          <p:nvSpPr>
            <p:cNvPr id="171" name="Ellipse 171"/>
            <p:cNvSpPr/>
            <p:nvPr/>
          </p:nvSpPr>
          <p:spPr>
            <a:xfrm>
              <a:off x="3733800" y="2828925"/>
              <a:ext cx="171450" cy="171450"/>
            </a:xfrm>
            <a:prstGeom prst="ellipse">
              <a:avLst/>
            </a:prstGeom>
            <a:solidFill>
              <a:srgbClr val="C83210"/>
            </a:solidFill>
            <a:ln>
              <a:noFill/>
            </a:ln>
          </p:spPr>
        </p:sp>
        <p:sp>
          <p:nvSpPr>
            <p:cNvPr id="172" name="TextBox 172"/>
            <p:cNvSpPr txBox="1"/>
            <p:nvPr/>
          </p:nvSpPr>
          <p:spPr>
            <a:xfrm>
              <a:off x="3786684" y="28717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173" name="TextBox 173"/>
            <p:cNvSpPr txBox="1"/>
            <p:nvPr/>
          </p:nvSpPr>
          <p:spPr>
            <a:xfrm>
              <a:off x="3957638" y="2867739"/>
              <a:ext cx="54127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客户群教育</a:t>
              </a:r>
            </a:p>
          </p:txBody>
        </p:sp>
        <p:sp>
          <p:nvSpPr>
            <p:cNvPr id="174" name="TextBox 174"/>
            <p:cNvSpPr txBox="1"/>
            <p:nvPr/>
          </p:nvSpPr>
          <p:spPr>
            <a:xfrm>
              <a:off x="3795712" y="3059430"/>
              <a:ext cx="910133"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发布投教内容 + 直播链接</a:t>
              </a:r>
            </a:p>
          </p:txBody>
        </p:sp>
        <p:sp>
          <p:nvSpPr>
            <p:cNvPr id="175" name="TextBox 175"/>
            <p:cNvSpPr txBox="1"/>
            <p:nvPr/>
          </p:nvSpPr>
          <p:spPr>
            <a:xfrm>
              <a:off x="3795712" y="3173730"/>
              <a:ext cx="332613"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集中答疑</a:t>
              </a:r>
            </a:p>
          </p:txBody>
        </p:sp>
        <p:sp>
          <p:nvSpPr>
            <p:cNvPr id="176" name="Rectangle 176"/>
            <p:cNvSpPr/>
            <p:nvPr/>
          </p:nvSpPr>
          <p:spPr>
            <a:xfrm>
              <a:off x="3800475" y="3314700"/>
              <a:ext cx="1428750" cy="2400300"/>
            </a:xfrm>
            <a:prstGeom prst="roundRect">
              <a:avLst>
                <a:gd name="adj" fmla="val 4000"/>
              </a:avLst>
            </a:prstGeom>
            <a:solidFill>
              <a:srgbClr val="F7F7F7"/>
            </a:solidFill>
            <a:ln w="9525">
              <a:solidFill>
                <a:srgbClr val="F1C7CC"/>
              </a:solidFill>
            </a:ln>
          </p:spPr>
        </p:sp>
        <p:sp>
          <p:nvSpPr>
            <p:cNvPr id="177" name="Rectangle 177"/>
            <p:cNvSpPr/>
            <p:nvPr/>
          </p:nvSpPr>
          <p:spPr>
            <a:xfrm>
              <a:off x="3800475" y="3314700"/>
              <a:ext cx="1428750" cy="228600"/>
            </a:xfrm>
            <a:prstGeom prst="roundRect">
              <a:avLst>
                <a:gd name="adj" fmla="val 25000"/>
              </a:avLst>
            </a:prstGeom>
            <a:solidFill>
              <a:srgbClr val="FBE3E6"/>
            </a:solidFill>
            <a:ln>
              <a:noFill/>
            </a:ln>
          </p:spPr>
        </p:sp>
        <p:sp>
          <p:nvSpPr>
            <p:cNvPr id="178" name="TextBox 178"/>
            <p:cNvSpPr txBox="1"/>
            <p:nvPr/>
          </p:nvSpPr>
          <p:spPr>
            <a:xfrm>
              <a:off x="3890962" y="3402330"/>
              <a:ext cx="71486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mn-lt"/>
                  <a:ea typeface="+mn-ea"/>
                  <a:cs typeface="+mn-cs"/>
                </a:rPr>
                <a:t>理财沙龙群（198）</a:t>
              </a:r>
            </a:p>
          </p:txBody>
        </p:sp>
        <p:sp>
          <p:nvSpPr>
            <p:cNvPr id="179" name="Ellipse 179"/>
            <p:cNvSpPr/>
            <p:nvPr/>
          </p:nvSpPr>
          <p:spPr>
            <a:xfrm>
              <a:off x="3857625" y="3629025"/>
              <a:ext cx="133350" cy="133350"/>
            </a:xfrm>
            <a:prstGeom prst="ellipse">
              <a:avLst/>
            </a:prstGeom>
            <a:solidFill>
              <a:srgbClr val="E9826B"/>
            </a:solidFill>
            <a:ln>
              <a:noFill/>
            </a:ln>
          </p:spPr>
        </p:sp>
        <p:sp>
          <p:nvSpPr>
            <p:cNvPr id="180" name="Rectangle 180"/>
            <p:cNvSpPr/>
            <p:nvPr/>
          </p:nvSpPr>
          <p:spPr>
            <a:xfrm>
              <a:off x="4038600" y="3619500"/>
              <a:ext cx="1066800" cy="419100"/>
            </a:xfrm>
            <a:prstGeom prst="roundRect">
              <a:avLst>
                <a:gd name="adj" fmla="val 11364"/>
              </a:avLst>
            </a:prstGeom>
            <a:solidFill>
              <a:srgbClr val="FFFFFF"/>
            </a:solidFill>
            <a:ln w="9525">
              <a:solidFill>
                <a:srgbClr val="E8E8E8"/>
              </a:solidFill>
            </a:ln>
          </p:spPr>
        </p:sp>
        <p:sp>
          <p:nvSpPr>
            <p:cNvPr id="181" name="TextBox 181"/>
            <p:cNvSpPr txBox="1"/>
            <p:nvPr/>
          </p:nvSpPr>
          <p:spPr>
            <a:xfrm>
              <a:off x="4090988" y="3692128"/>
              <a:ext cx="537235" cy="111919"/>
            </a:xfrm>
            <a:prstGeom prst="rect">
              <a:avLst/>
            </a:prstGeom>
            <a:noFill/>
            <a:ln>
              <a:noFill/>
            </a:ln>
          </p:spPr>
          <p:txBody>
            <a:bodyPr wrap="none" lIns="0" tIns="0" rIns="0" bIns="0" anchor="t" anchorCtr="0">
              <a:spAutoFit/>
            </a:bodyPr>
            <a:lstStyle/>
            <a:p>
              <a:pPr algn="l"/>
              <a:r>
                <a:rPr lang="zh-CN" sz="560" b="1" dirty="0">
                  <a:solidFill>
                    <a:srgbClr val="C83210"/>
                  </a:solidFill>
                  <a:latin typeface="+mn-lt"/>
                  <a:ea typeface="+mn-ea"/>
                  <a:cs typeface="+mn-cs"/>
                </a:rPr>
                <a:t xml:space="preserve">【直播预告】　</a:t>
              </a:r>
            </a:p>
          </p:txBody>
        </p:sp>
        <p:sp>
          <p:nvSpPr>
            <p:cNvPr id="182" name="TextBox 182"/>
            <p:cNvSpPr txBox="1"/>
            <p:nvPr/>
          </p:nvSpPr>
          <p:spPr>
            <a:xfrm>
              <a:off x="4090988" y="3806428"/>
              <a:ext cx="590006"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 xml:space="preserve">3月15日 19:30　</a:t>
              </a:r>
            </a:p>
          </p:txBody>
        </p:sp>
        <p:sp>
          <p:nvSpPr>
            <p:cNvPr id="183" name="TextBox 183"/>
            <p:cNvSpPr txBox="1"/>
            <p:nvPr/>
          </p:nvSpPr>
          <p:spPr>
            <a:xfrm>
              <a:off x="4090988" y="3920728"/>
              <a:ext cx="763397"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大类资产配置直播邀约</a:t>
              </a:r>
            </a:p>
          </p:txBody>
        </p:sp>
        <p:sp>
          <p:nvSpPr>
            <p:cNvPr id="184" name="Ellipse 184"/>
            <p:cNvSpPr/>
            <p:nvPr/>
          </p:nvSpPr>
          <p:spPr>
            <a:xfrm>
              <a:off x="3857625" y="4143375"/>
              <a:ext cx="133350" cy="133350"/>
            </a:xfrm>
            <a:prstGeom prst="ellipse">
              <a:avLst/>
            </a:prstGeom>
            <a:solidFill>
              <a:srgbClr val="E9826B"/>
            </a:solidFill>
            <a:ln>
              <a:noFill/>
            </a:ln>
          </p:spPr>
        </p:sp>
        <p:sp>
          <p:nvSpPr>
            <p:cNvPr id="185" name="Rectangle 185"/>
            <p:cNvSpPr/>
            <p:nvPr/>
          </p:nvSpPr>
          <p:spPr>
            <a:xfrm>
              <a:off x="4038600" y="4133850"/>
              <a:ext cx="1066800" cy="323850"/>
            </a:xfrm>
            <a:prstGeom prst="roundRect">
              <a:avLst>
                <a:gd name="adj" fmla="val 14706"/>
              </a:avLst>
            </a:prstGeom>
            <a:solidFill>
              <a:srgbClr val="FFFFFF"/>
            </a:solidFill>
            <a:ln w="9525">
              <a:solidFill>
                <a:srgbClr val="E8E8E8"/>
              </a:solidFill>
            </a:ln>
          </p:spPr>
        </p:sp>
        <p:sp>
          <p:nvSpPr>
            <p:cNvPr id="186" name="TextBox 186"/>
            <p:cNvSpPr txBox="1"/>
            <p:nvPr/>
          </p:nvSpPr>
          <p:spPr>
            <a:xfrm>
              <a:off x="4090988" y="4206478"/>
              <a:ext cx="688010"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大家有什么问题可以</a:t>
              </a:r>
            </a:p>
          </p:txBody>
        </p:sp>
        <p:sp>
          <p:nvSpPr>
            <p:cNvPr id="187" name="TextBox 187"/>
            <p:cNvSpPr txBox="1"/>
            <p:nvPr/>
          </p:nvSpPr>
          <p:spPr>
            <a:xfrm>
              <a:off x="4090988" y="4320778"/>
              <a:ext cx="688010"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在群内提前接龙提问</a:t>
              </a:r>
            </a:p>
          </p:txBody>
        </p:sp>
        <p:sp>
          <p:nvSpPr>
            <p:cNvPr id="188" name="TextBox 188"/>
            <p:cNvSpPr txBox="1"/>
            <p:nvPr/>
          </p:nvSpPr>
          <p:spPr>
            <a:xfrm>
              <a:off x="4090988" y="4621530"/>
              <a:ext cx="56624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mn-lt"/>
                  <a:ea typeface="+mn-ea"/>
                  <a:cs typeface="+mn-cs"/>
                </a:rPr>
                <a:t>点击预约直播 →</a:t>
              </a:r>
            </a:p>
          </p:txBody>
        </p:sp>
        <p:sp>
          <p:nvSpPr>
            <p:cNvPr id="189" name="Ellipse 189"/>
            <p:cNvSpPr/>
            <p:nvPr/>
          </p:nvSpPr>
          <p:spPr>
            <a:xfrm>
              <a:off x="500062" y="2909888"/>
              <a:ext cx="9525" cy="9525"/>
            </a:xfrm>
            <a:prstGeom prst="ellipse">
              <a:avLst/>
            </a:prstGeom>
            <a:noFill/>
            <a:ln>
              <a:noFill/>
            </a:ln>
          </p:spPr>
        </p:sp>
        <p:sp>
          <p:nvSpPr>
            <p:cNvPr id="190" name="Ellipse 190"/>
            <p:cNvSpPr/>
            <p:nvPr/>
          </p:nvSpPr>
          <p:spPr>
            <a:xfrm>
              <a:off x="5391150" y="2828925"/>
              <a:ext cx="171450" cy="171450"/>
            </a:xfrm>
            <a:prstGeom prst="ellipse">
              <a:avLst/>
            </a:prstGeom>
            <a:solidFill>
              <a:srgbClr val="C83210"/>
            </a:solidFill>
            <a:ln>
              <a:noFill/>
            </a:ln>
          </p:spPr>
        </p:sp>
        <p:sp>
          <p:nvSpPr>
            <p:cNvPr id="191" name="TextBox 191"/>
            <p:cNvSpPr txBox="1"/>
            <p:nvPr/>
          </p:nvSpPr>
          <p:spPr>
            <a:xfrm>
              <a:off x="5444034" y="28717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192" name="TextBox 192"/>
            <p:cNvSpPr txBox="1"/>
            <p:nvPr/>
          </p:nvSpPr>
          <p:spPr>
            <a:xfrm>
              <a:off x="5614988" y="2867739"/>
              <a:ext cx="43492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直播转化</a:t>
              </a:r>
            </a:p>
          </p:txBody>
        </p:sp>
        <p:sp>
          <p:nvSpPr>
            <p:cNvPr id="193" name="TextBox 193"/>
            <p:cNvSpPr txBox="1"/>
            <p:nvPr/>
          </p:nvSpPr>
          <p:spPr>
            <a:xfrm>
              <a:off x="5453062" y="3059430"/>
              <a:ext cx="748589"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专题讲解 + 实时互动</a:t>
              </a:r>
            </a:p>
          </p:txBody>
        </p:sp>
        <p:sp>
          <p:nvSpPr>
            <p:cNvPr id="194" name="TextBox 194"/>
            <p:cNvSpPr txBox="1"/>
            <p:nvPr/>
          </p:nvSpPr>
          <p:spPr>
            <a:xfrm>
              <a:off x="5453062" y="3173730"/>
              <a:ext cx="748589"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产品推荐 + 限时权益</a:t>
              </a:r>
            </a:p>
          </p:txBody>
        </p:sp>
        <p:sp>
          <p:nvSpPr>
            <p:cNvPr id="195" name="Rectangle 195"/>
            <p:cNvSpPr/>
            <p:nvPr/>
          </p:nvSpPr>
          <p:spPr>
            <a:xfrm>
              <a:off x="5457825" y="3314700"/>
              <a:ext cx="1428750" cy="2400300"/>
            </a:xfrm>
            <a:prstGeom prst="roundRect">
              <a:avLst>
                <a:gd name="adj" fmla="val 4000"/>
              </a:avLst>
            </a:prstGeom>
            <a:solidFill>
              <a:srgbClr val="FFFFFF"/>
            </a:solidFill>
            <a:ln w="9525">
              <a:solidFill>
                <a:srgbClr val="F1C7CC"/>
              </a:solidFill>
            </a:ln>
          </p:spPr>
        </p:sp>
        <p:sp>
          <p:nvSpPr>
            <p:cNvPr id="196" name="Rectangle 196"/>
            <p:cNvSpPr/>
            <p:nvPr/>
          </p:nvSpPr>
          <p:spPr>
            <a:xfrm>
              <a:off x="5524500" y="3390900"/>
              <a:ext cx="1295400" cy="1238250"/>
            </a:xfrm>
            <a:prstGeom prst="roundRect">
              <a:avLst>
                <a:gd name="adj" fmla="val 3077"/>
              </a:avLst>
            </a:prstGeom>
            <a:gradFill>
              <a:gsLst>
                <a:gs pos="0">
                  <a:srgbClr val="A0270C"/>
                </a:gs>
                <a:gs pos="100000">
                  <a:srgbClr val="5E1707"/>
                </a:gs>
              </a:gsLst>
              <a:lin ang="5400000" scaled="1"/>
            </a:gradFill>
            <a:ln>
              <a:noFill/>
            </a:ln>
          </p:spPr>
        </p:sp>
        <p:sp>
          <p:nvSpPr>
            <p:cNvPr id="197" name="Rectangle 197"/>
            <p:cNvSpPr/>
            <p:nvPr/>
          </p:nvSpPr>
          <p:spPr>
            <a:xfrm>
              <a:off x="5524500" y="3390900"/>
              <a:ext cx="438150" cy="152400"/>
            </a:xfrm>
            <a:prstGeom prst="roundRect">
              <a:avLst>
                <a:gd name="adj" fmla="val 12500"/>
              </a:avLst>
            </a:prstGeom>
            <a:solidFill>
              <a:srgbClr val="C83210"/>
            </a:solidFill>
            <a:ln>
              <a:noFill/>
            </a:ln>
          </p:spPr>
        </p:sp>
        <p:sp>
          <p:nvSpPr>
            <p:cNvPr id="198" name="TextBox 198"/>
            <p:cNvSpPr txBox="1"/>
            <p:nvPr/>
          </p:nvSpPr>
          <p:spPr>
            <a:xfrm>
              <a:off x="5576888" y="3444478"/>
              <a:ext cx="311074" cy="111919"/>
            </a:xfrm>
            <a:prstGeom prst="rect">
              <a:avLst/>
            </a:prstGeom>
            <a:noFill/>
            <a:ln>
              <a:noFill/>
            </a:ln>
          </p:spPr>
          <p:txBody>
            <a:bodyPr wrap="none" lIns="0" tIns="0" rIns="0" bIns="0" anchor="t" anchorCtr="0">
              <a:spAutoFit/>
            </a:bodyPr>
            <a:lstStyle/>
            <a:p>
              <a:pPr algn="l"/>
              <a:r>
                <a:rPr lang="zh-CN" sz="560" b="1" dirty="0">
                  <a:solidFill>
                    <a:srgbClr val="FFFFFF"/>
                  </a:solidFill>
                  <a:latin typeface="+mn-lt"/>
                  <a:ea typeface="+mn-ea"/>
                  <a:cs typeface="+mn-cs"/>
                </a:rPr>
                <a:t xml:space="preserve">直播中　</a:t>
              </a:r>
            </a:p>
          </p:txBody>
        </p:sp>
        <p:sp>
          <p:nvSpPr>
            <p:cNvPr id="199" name="TextBox 199"/>
            <p:cNvSpPr txBox="1"/>
            <p:nvPr/>
          </p:nvSpPr>
          <p:spPr>
            <a:xfrm>
              <a:off x="6476779" y="3444478"/>
              <a:ext cx="252634" cy="111919"/>
            </a:xfrm>
            <a:prstGeom prst="rect">
              <a:avLst/>
            </a:prstGeom>
            <a:noFill/>
            <a:ln>
              <a:noFill/>
            </a:ln>
          </p:spPr>
          <p:txBody>
            <a:bodyPr wrap="none" lIns="0" tIns="0" rIns="0" bIns="0" anchor="t" anchorCtr="0">
              <a:spAutoFit/>
            </a:bodyPr>
            <a:lstStyle/>
            <a:p>
              <a:pPr algn="r"/>
              <a:r>
                <a:rPr lang="zh-CN" sz="560" dirty="0">
                  <a:solidFill>
                    <a:srgbClr val="FFFFFF"/>
                  </a:solidFill>
                  <a:latin typeface="Arial"/>
                  <a:ea typeface="Microsoft YaHei"/>
                  <a:cs typeface="Arial"/>
                </a:rPr>
                <a:t xml:space="preserve">3268　</a:t>
              </a:r>
            </a:p>
          </p:txBody>
        </p:sp>
        <p:sp>
          <p:nvSpPr>
            <p:cNvPr id="200" name="TextBox 200"/>
            <p:cNvSpPr txBox="1"/>
            <p:nvPr/>
          </p:nvSpPr>
          <p:spPr>
            <a:xfrm>
              <a:off x="5680221" y="3741182"/>
              <a:ext cx="98395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2024年度资产配置新思路</a:t>
              </a:r>
            </a:p>
          </p:txBody>
        </p:sp>
        <p:sp>
          <p:nvSpPr>
            <p:cNvPr id="201" name="Rectangle 201"/>
            <p:cNvSpPr/>
            <p:nvPr/>
          </p:nvSpPr>
          <p:spPr>
            <a:xfrm>
              <a:off x="5600700" y="3943350"/>
              <a:ext cx="361950" cy="133350"/>
            </a:xfrm>
            <a:prstGeom prst="roundRect">
              <a:avLst>
                <a:gd name="adj" fmla="val 50000"/>
              </a:avLst>
            </a:prstGeom>
            <a:solidFill>
              <a:srgbClr val="FFFFFF">
                <a:alpha val="18000"/>
              </a:srgbClr>
            </a:solidFill>
            <a:ln>
              <a:noFill/>
            </a:ln>
          </p:spPr>
        </p:sp>
        <p:sp>
          <p:nvSpPr>
            <p:cNvPr id="202" name="TextBox 202"/>
            <p:cNvSpPr txBox="1"/>
            <p:nvPr/>
          </p:nvSpPr>
          <p:spPr>
            <a:xfrm>
              <a:off x="5636908" y="3981926"/>
              <a:ext cx="289535"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稳健理财</a:t>
              </a:r>
            </a:p>
          </p:txBody>
        </p:sp>
        <p:sp>
          <p:nvSpPr>
            <p:cNvPr id="203" name="Rectangle 203"/>
            <p:cNvSpPr/>
            <p:nvPr/>
          </p:nvSpPr>
          <p:spPr>
            <a:xfrm>
              <a:off x="6000750" y="3943350"/>
              <a:ext cx="361950" cy="133350"/>
            </a:xfrm>
            <a:prstGeom prst="roundRect">
              <a:avLst>
                <a:gd name="adj" fmla="val 50000"/>
              </a:avLst>
            </a:prstGeom>
            <a:solidFill>
              <a:srgbClr val="FFFFFF">
                <a:alpha val="18000"/>
              </a:srgbClr>
            </a:solidFill>
            <a:ln>
              <a:noFill/>
            </a:ln>
          </p:spPr>
        </p:sp>
        <p:sp>
          <p:nvSpPr>
            <p:cNvPr id="204" name="TextBox 204"/>
            <p:cNvSpPr txBox="1"/>
            <p:nvPr/>
          </p:nvSpPr>
          <p:spPr>
            <a:xfrm>
              <a:off x="6036958" y="3981926"/>
              <a:ext cx="289535"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资产配置</a:t>
              </a:r>
            </a:p>
          </p:txBody>
        </p:sp>
        <p:sp>
          <p:nvSpPr>
            <p:cNvPr id="205" name="Rectangle 205"/>
            <p:cNvSpPr/>
            <p:nvPr/>
          </p:nvSpPr>
          <p:spPr>
            <a:xfrm>
              <a:off x="6400800" y="3943350"/>
              <a:ext cx="361950" cy="133350"/>
            </a:xfrm>
            <a:prstGeom prst="roundRect">
              <a:avLst>
                <a:gd name="adj" fmla="val 50000"/>
              </a:avLst>
            </a:prstGeom>
            <a:solidFill>
              <a:srgbClr val="FFFFFF">
                <a:alpha val="18000"/>
              </a:srgbClr>
            </a:solidFill>
            <a:ln>
              <a:noFill/>
            </a:ln>
          </p:spPr>
        </p:sp>
        <p:sp>
          <p:nvSpPr>
            <p:cNvPr id="206" name="TextBox 206"/>
            <p:cNvSpPr txBox="1"/>
            <p:nvPr/>
          </p:nvSpPr>
          <p:spPr>
            <a:xfrm>
              <a:off x="6437008" y="3981926"/>
              <a:ext cx="289535"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养老规划</a:t>
              </a:r>
            </a:p>
          </p:txBody>
        </p:sp>
        <p:sp>
          <p:nvSpPr>
            <p:cNvPr id="207" name="Rectangle 207"/>
            <p:cNvSpPr/>
            <p:nvPr/>
          </p:nvSpPr>
          <p:spPr>
            <a:xfrm>
              <a:off x="5600700" y="4305300"/>
              <a:ext cx="1143000" cy="209550"/>
            </a:xfrm>
            <a:prstGeom prst="roundRect">
              <a:avLst>
                <a:gd name="adj" fmla="val 50000"/>
              </a:avLst>
            </a:prstGeom>
            <a:solidFill>
              <a:srgbClr val="FFFFFF">
                <a:alpha val="15000"/>
              </a:srgbClr>
            </a:solidFill>
            <a:ln>
              <a:noFill/>
            </a:ln>
          </p:spPr>
        </p:sp>
        <p:sp>
          <p:nvSpPr>
            <p:cNvPr id="208" name="TextBox 208"/>
            <p:cNvSpPr txBox="1"/>
            <p:nvPr/>
          </p:nvSpPr>
          <p:spPr>
            <a:xfrm>
              <a:off x="5710238" y="4387453"/>
              <a:ext cx="435463"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说点什么...</a:t>
              </a:r>
            </a:p>
          </p:txBody>
        </p:sp>
        <p:sp>
          <p:nvSpPr>
            <p:cNvPr id="209" name="Freeform 209"/>
            <p:cNvSpPr/>
            <p:nvPr/>
          </p:nvSpPr>
          <p:spPr>
            <a:xfrm>
              <a:off x="6548895" y="4364200"/>
              <a:ext cx="103760" cy="90325"/>
            </a:xfrm>
            <a:custGeom>
              <a:avLst/>
              <a:gdLst/>
              <a:ahLst/>
              <a:cxnLst/>
              <a:rect l="l" t="t" r="r" b="b"/>
              <a:pathLst>
                <a:path w="103760" h="90325">
                  <a:moveTo>
                    <a:pt x="93602" y="49054"/>
                  </a:moveTo>
                  <a:lnTo>
                    <a:pt x="51930" y="90325"/>
                  </a:lnTo>
                  <a:lnTo>
                    <a:pt x="10258" y="49054"/>
                  </a:lnTo>
                  <a:cubicBezTo>
                    <a:pt x="2765" y="41761"/>
                    <a:pt x="0" y="30879"/>
                    <a:pt x="3105" y="20895"/>
                  </a:cubicBezTo>
                  <a:cubicBezTo>
                    <a:pt x="6209" y="10910"/>
                    <a:pt x="14657" y="3514"/>
                    <a:pt x="24964" y="1757"/>
                  </a:cubicBezTo>
                  <a:cubicBezTo>
                    <a:pt x="35272" y="0"/>
                    <a:pt x="45693" y="4179"/>
                    <a:pt x="51930" y="12571"/>
                  </a:cubicBezTo>
                  <a:cubicBezTo>
                    <a:pt x="58194" y="4241"/>
                    <a:pt x="68592" y="118"/>
                    <a:pt x="78862" y="1891"/>
                  </a:cubicBezTo>
                  <a:cubicBezTo>
                    <a:pt x="89132" y="3665"/>
                    <a:pt x="97546" y="11037"/>
                    <a:pt x="100653" y="20985"/>
                  </a:cubicBezTo>
                  <a:cubicBezTo>
                    <a:pt x="103760" y="30934"/>
                    <a:pt x="101037" y="41784"/>
                    <a:pt x="93602" y="49087"/>
                  </a:cubicBezTo>
                </a:path>
              </a:pathLst>
            </a:custGeom>
            <a:noFill/>
            <a:ln w="11112">
              <a:solidFill>
                <a:srgbClr val="FFFFFF"/>
              </a:solidFill>
            </a:ln>
          </p:spPr>
        </p:sp>
        <p:sp>
          <p:nvSpPr>
            <p:cNvPr id="210" name="TextBox 210"/>
            <p:cNvSpPr txBox="1"/>
            <p:nvPr/>
          </p:nvSpPr>
          <p:spPr>
            <a:xfrm>
              <a:off x="5636362" y="4697730"/>
              <a:ext cx="1071677"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实时互动答疑 · 限时权益发放</a:t>
              </a:r>
            </a:p>
          </p:txBody>
        </p:sp>
        <p:sp>
          <p:nvSpPr>
            <p:cNvPr id="211" name="Ellipse 211"/>
            <p:cNvSpPr/>
            <p:nvPr/>
          </p:nvSpPr>
          <p:spPr>
            <a:xfrm>
              <a:off x="7048500" y="2828925"/>
              <a:ext cx="171450" cy="171450"/>
            </a:xfrm>
            <a:prstGeom prst="ellipse">
              <a:avLst/>
            </a:prstGeom>
            <a:solidFill>
              <a:srgbClr val="C83210"/>
            </a:solidFill>
            <a:ln>
              <a:noFill/>
            </a:ln>
          </p:spPr>
        </p:sp>
        <p:sp>
          <p:nvSpPr>
            <p:cNvPr id="212" name="TextBox 212"/>
            <p:cNvSpPr txBox="1"/>
            <p:nvPr/>
          </p:nvSpPr>
          <p:spPr>
            <a:xfrm>
              <a:off x="7101384" y="28717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5</a:t>
              </a:r>
            </a:p>
          </p:txBody>
        </p:sp>
        <p:sp>
          <p:nvSpPr>
            <p:cNvPr id="213" name="TextBox 213"/>
            <p:cNvSpPr txBox="1"/>
            <p:nvPr/>
          </p:nvSpPr>
          <p:spPr>
            <a:xfrm>
              <a:off x="7272338" y="2867739"/>
              <a:ext cx="416905"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1V1跟进</a:t>
              </a:r>
            </a:p>
          </p:txBody>
        </p:sp>
        <p:sp>
          <p:nvSpPr>
            <p:cNvPr id="214" name="TextBox 214"/>
            <p:cNvSpPr txBox="1"/>
            <p:nvPr/>
          </p:nvSpPr>
          <p:spPr>
            <a:xfrm>
              <a:off x="7110412" y="3059430"/>
              <a:ext cx="655701"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直播后个性化回访</a:t>
              </a:r>
            </a:p>
          </p:txBody>
        </p:sp>
        <p:sp>
          <p:nvSpPr>
            <p:cNvPr id="215" name="TextBox 215"/>
            <p:cNvSpPr txBox="1"/>
            <p:nvPr/>
          </p:nvSpPr>
          <p:spPr>
            <a:xfrm>
              <a:off x="7110412" y="3173730"/>
              <a:ext cx="332613"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推进转化</a:t>
              </a:r>
            </a:p>
          </p:txBody>
        </p:sp>
        <p:sp>
          <p:nvSpPr>
            <p:cNvPr id="216" name="Rectangle 216"/>
            <p:cNvSpPr/>
            <p:nvPr/>
          </p:nvSpPr>
          <p:spPr>
            <a:xfrm>
              <a:off x="7115175" y="3314700"/>
              <a:ext cx="1428750" cy="2400300"/>
            </a:xfrm>
            <a:prstGeom prst="roundRect">
              <a:avLst>
                <a:gd name="adj" fmla="val 4000"/>
              </a:avLst>
            </a:prstGeom>
            <a:solidFill>
              <a:srgbClr val="F7F7F7"/>
            </a:solidFill>
            <a:ln w="9525">
              <a:solidFill>
                <a:srgbClr val="F1C7CC"/>
              </a:solidFill>
            </a:ln>
          </p:spPr>
        </p:sp>
        <p:sp>
          <p:nvSpPr>
            <p:cNvPr id="217" name="Ellipse 217"/>
            <p:cNvSpPr/>
            <p:nvPr/>
          </p:nvSpPr>
          <p:spPr>
            <a:xfrm>
              <a:off x="7172325" y="3400425"/>
              <a:ext cx="133350" cy="133350"/>
            </a:xfrm>
            <a:prstGeom prst="ellipse">
              <a:avLst/>
            </a:prstGeom>
            <a:solidFill>
              <a:srgbClr val="E9826B"/>
            </a:solidFill>
            <a:ln>
              <a:noFill/>
            </a:ln>
          </p:spPr>
        </p:sp>
        <p:sp>
          <p:nvSpPr>
            <p:cNvPr id="218" name="Rectangle 218"/>
            <p:cNvSpPr/>
            <p:nvPr/>
          </p:nvSpPr>
          <p:spPr>
            <a:xfrm>
              <a:off x="7353300" y="3390900"/>
              <a:ext cx="1066800" cy="457200"/>
            </a:xfrm>
            <a:prstGeom prst="roundRect">
              <a:avLst>
                <a:gd name="adj" fmla="val 10417"/>
              </a:avLst>
            </a:prstGeom>
            <a:solidFill>
              <a:srgbClr val="FFFFFF"/>
            </a:solidFill>
            <a:ln w="9525">
              <a:solidFill>
                <a:srgbClr val="E8E8E8"/>
              </a:solidFill>
            </a:ln>
          </p:spPr>
        </p:sp>
        <p:sp>
          <p:nvSpPr>
            <p:cNvPr id="219" name="TextBox 219"/>
            <p:cNvSpPr txBox="1"/>
            <p:nvPr/>
          </p:nvSpPr>
          <p:spPr>
            <a:xfrm>
              <a:off x="7405688" y="3463528"/>
              <a:ext cx="838784"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王女士，感谢您观看昨晚</a:t>
              </a:r>
            </a:p>
          </p:txBody>
        </p:sp>
        <p:sp>
          <p:nvSpPr>
            <p:cNvPr id="220" name="TextBox 220"/>
            <p:cNvSpPr txBox="1"/>
            <p:nvPr/>
          </p:nvSpPr>
          <p:spPr>
            <a:xfrm>
              <a:off x="7405688" y="3577828"/>
              <a:ext cx="838784"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的直播！这里有专属的配</a:t>
              </a:r>
            </a:p>
          </p:txBody>
        </p:sp>
        <p:sp>
          <p:nvSpPr>
            <p:cNvPr id="221" name="TextBox 221"/>
            <p:cNvSpPr txBox="1"/>
            <p:nvPr/>
          </p:nvSpPr>
          <p:spPr>
            <a:xfrm>
              <a:off x="7405688" y="3692128"/>
              <a:ext cx="914171"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置建议，方便时为您讲解。</a:t>
              </a:r>
            </a:p>
          </p:txBody>
        </p:sp>
        <p:sp>
          <p:nvSpPr>
            <p:cNvPr id="222" name="Rectangle 222"/>
            <p:cNvSpPr/>
            <p:nvPr/>
          </p:nvSpPr>
          <p:spPr>
            <a:xfrm>
              <a:off x="7372350" y="3962400"/>
              <a:ext cx="1047750" cy="323850"/>
            </a:xfrm>
            <a:prstGeom prst="roundRect">
              <a:avLst>
                <a:gd name="adj" fmla="val 14706"/>
              </a:avLst>
            </a:prstGeom>
            <a:solidFill>
              <a:srgbClr val="C83210"/>
            </a:solidFill>
            <a:ln>
              <a:noFill/>
            </a:ln>
          </p:spPr>
        </p:sp>
        <p:sp>
          <p:nvSpPr>
            <p:cNvPr id="223" name="TextBox 223"/>
            <p:cNvSpPr txBox="1"/>
            <p:nvPr/>
          </p:nvSpPr>
          <p:spPr>
            <a:xfrm>
              <a:off x="7424738" y="4035028"/>
              <a:ext cx="763397"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好的，明天上午可以，</a:t>
              </a:r>
            </a:p>
          </p:txBody>
        </p:sp>
        <p:sp>
          <p:nvSpPr>
            <p:cNvPr id="224" name="TextBox 224"/>
            <p:cNvSpPr txBox="1"/>
            <p:nvPr/>
          </p:nvSpPr>
          <p:spPr>
            <a:xfrm>
              <a:off x="7424738" y="4149328"/>
              <a:ext cx="688010"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期待您的专业建议。</a:t>
              </a:r>
            </a:p>
          </p:txBody>
        </p:sp>
        <p:sp>
          <p:nvSpPr>
            <p:cNvPr id="225" name="Ellipse 225"/>
            <p:cNvSpPr/>
            <p:nvPr/>
          </p:nvSpPr>
          <p:spPr>
            <a:xfrm>
              <a:off x="8353425" y="4333875"/>
              <a:ext cx="133350" cy="133350"/>
            </a:xfrm>
            <a:prstGeom prst="ellipse">
              <a:avLst/>
            </a:prstGeom>
            <a:solidFill>
              <a:srgbClr val="F3B2A3"/>
            </a:solidFill>
            <a:ln>
              <a:noFill/>
            </a:ln>
          </p:spPr>
        </p:sp>
        <p:sp>
          <p:nvSpPr>
            <p:cNvPr id="226" name="Freeform 226"/>
            <p:cNvSpPr/>
            <p:nvPr/>
          </p:nvSpPr>
          <p:spPr>
            <a:xfrm>
              <a:off x="1962150" y="2838450"/>
              <a:ext cx="114300" cy="152400"/>
            </a:xfrm>
            <a:prstGeom prst="rightArrow">
              <a:avLst/>
            </a:prstGeom>
            <a:solidFill>
              <a:srgbClr val="E9826B"/>
            </a:solidFill>
            <a:ln>
              <a:noFill/>
            </a:ln>
          </p:spPr>
        </p:sp>
        <p:sp>
          <p:nvSpPr>
            <p:cNvPr id="227" name="Freeform 227"/>
            <p:cNvSpPr/>
            <p:nvPr/>
          </p:nvSpPr>
          <p:spPr>
            <a:xfrm>
              <a:off x="3619500" y="2838450"/>
              <a:ext cx="114300" cy="152400"/>
            </a:xfrm>
            <a:prstGeom prst="rightArrow">
              <a:avLst/>
            </a:prstGeom>
            <a:solidFill>
              <a:srgbClr val="E9826B"/>
            </a:solidFill>
            <a:ln>
              <a:noFill/>
            </a:ln>
          </p:spPr>
        </p:sp>
        <p:sp>
          <p:nvSpPr>
            <p:cNvPr id="228" name="Freeform 228"/>
            <p:cNvSpPr/>
            <p:nvPr/>
          </p:nvSpPr>
          <p:spPr>
            <a:xfrm>
              <a:off x="5276850" y="2838450"/>
              <a:ext cx="114300" cy="152400"/>
            </a:xfrm>
            <a:prstGeom prst="rightArrow">
              <a:avLst/>
            </a:prstGeom>
            <a:solidFill>
              <a:srgbClr val="E9826B"/>
            </a:solidFill>
            <a:ln>
              <a:noFill/>
            </a:ln>
          </p:spPr>
        </p:sp>
        <p:sp>
          <p:nvSpPr>
            <p:cNvPr id="229" name="Freeform 229"/>
            <p:cNvSpPr/>
            <p:nvPr/>
          </p:nvSpPr>
          <p:spPr>
            <a:xfrm>
              <a:off x="6934200" y="2838450"/>
              <a:ext cx="114300" cy="152400"/>
            </a:xfrm>
            <a:prstGeom prst="rightArrow">
              <a:avLst/>
            </a:prstGeom>
            <a:solidFill>
              <a:srgbClr val="E9826B"/>
            </a:solidFill>
            <a:ln>
              <a:noFill/>
            </a:ln>
          </p:spPr>
        </p:sp>
      </p:grpSp>
      <p:grpSp>
        <p:nvGrpSpPr>
          <p:cNvPr id="259" name="conflict-rules"/>
          <p:cNvGrpSpPr/>
          <p:nvPr/>
        </p:nvGrpSpPr>
        <p:grpSpPr>
          <a:xfrm>
            <a:off x="8896350" y="2743200"/>
            <a:ext cx="3162300" cy="3105150"/>
            <a:chOff x="8896350" y="2743200"/>
            <a:chExt cx="3162300" cy="3105150"/>
          </a:xfrm>
        </p:grpSpPr>
        <p:sp>
          <p:nvSpPr>
            <p:cNvPr id="231" name="Rectangle 231"/>
            <p:cNvSpPr/>
            <p:nvPr/>
          </p:nvSpPr>
          <p:spPr>
            <a:xfrm>
              <a:off x="8953500" y="2743200"/>
              <a:ext cx="38100" cy="152400"/>
            </a:xfrm>
            <a:prstGeom prst="rect">
              <a:avLst/>
            </a:prstGeom>
            <a:solidFill>
              <a:srgbClr val="C83210"/>
            </a:solidFill>
            <a:ln>
              <a:noFill/>
            </a:ln>
          </p:spPr>
        </p:sp>
        <p:sp>
          <p:nvSpPr>
            <p:cNvPr id="232" name="TextBox 232"/>
            <p:cNvSpPr txBox="1"/>
            <p:nvPr/>
          </p:nvSpPr>
          <p:spPr>
            <a:xfrm>
              <a:off x="9062847" y="2761774"/>
              <a:ext cx="1609192"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渠道冲突规则</a:t>
              </a:r>
              <a:r>
                <a:rPr lang="zh-CN" sz="750" b="1" dirty="0">
                  <a:solidFill>
                    <a:srgbClr val="808080"/>
                  </a:solidFill>
                  <a:latin typeface="+mn-lt"/>
                  <a:ea typeface="+mn-ea"/>
                  <a:cs typeface="+mn-cs"/>
                </a:rPr>
                <a:t>（避免重复打扰）</a:t>
              </a:r>
            </a:p>
          </p:txBody>
        </p:sp>
        <p:sp>
          <p:nvSpPr>
            <p:cNvPr id="233" name="Rectangle 233"/>
            <p:cNvSpPr/>
            <p:nvPr/>
          </p:nvSpPr>
          <p:spPr>
            <a:xfrm>
              <a:off x="8896350" y="2990850"/>
              <a:ext cx="3162300" cy="2857500"/>
            </a:xfrm>
            <a:prstGeom prst="roundRect">
              <a:avLst>
                <a:gd name="adj" fmla="val 2000"/>
              </a:avLst>
            </a:prstGeom>
            <a:solidFill>
              <a:srgbClr val="FDEFF1"/>
            </a:solidFill>
            <a:ln>
              <a:noFill/>
            </a:ln>
          </p:spPr>
        </p:sp>
        <p:sp>
          <p:nvSpPr>
            <p:cNvPr id="234" name="Ellipse 234"/>
            <p:cNvSpPr/>
            <p:nvPr/>
          </p:nvSpPr>
          <p:spPr>
            <a:xfrm>
              <a:off x="9020175" y="3152775"/>
              <a:ext cx="171450" cy="171450"/>
            </a:xfrm>
            <a:prstGeom prst="ellipse">
              <a:avLst/>
            </a:prstGeom>
            <a:solidFill>
              <a:srgbClr val="C83210"/>
            </a:solidFill>
            <a:ln>
              <a:noFill/>
            </a:ln>
          </p:spPr>
        </p:sp>
        <p:sp>
          <p:nvSpPr>
            <p:cNvPr id="235" name="TextBox 235"/>
            <p:cNvSpPr txBox="1"/>
            <p:nvPr/>
          </p:nvSpPr>
          <p:spPr>
            <a:xfrm>
              <a:off x="9073059" y="319563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236" name="TextBox 236"/>
            <p:cNvSpPr txBox="1"/>
            <p:nvPr/>
          </p:nvSpPr>
          <p:spPr>
            <a:xfrm>
              <a:off x="9253538" y="3129153"/>
              <a:ext cx="986866"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同一客户同一主题内容，</a:t>
              </a:r>
            </a:p>
          </p:txBody>
        </p:sp>
        <p:sp>
          <p:nvSpPr>
            <p:cNvPr id="237" name="TextBox 237"/>
            <p:cNvSpPr txBox="1"/>
            <p:nvPr/>
          </p:nvSpPr>
          <p:spPr>
            <a:xfrm>
              <a:off x="9253538" y="3262503"/>
              <a:ext cx="1084600"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 xml:space="preserve">7天内最多触达3个渠道。　</a:t>
              </a:r>
            </a:p>
          </p:txBody>
        </p:sp>
        <p:sp>
          <p:nvSpPr>
            <p:cNvPr id="238" name="Ellipse 238"/>
            <p:cNvSpPr/>
            <p:nvPr/>
          </p:nvSpPr>
          <p:spPr>
            <a:xfrm>
              <a:off x="9020175" y="3590925"/>
              <a:ext cx="171450" cy="171450"/>
            </a:xfrm>
            <a:prstGeom prst="ellipse">
              <a:avLst/>
            </a:prstGeom>
            <a:solidFill>
              <a:srgbClr val="C83210"/>
            </a:solidFill>
            <a:ln>
              <a:noFill/>
            </a:ln>
          </p:spPr>
        </p:sp>
        <p:sp>
          <p:nvSpPr>
            <p:cNvPr id="239" name="TextBox 239"/>
            <p:cNvSpPr txBox="1"/>
            <p:nvPr/>
          </p:nvSpPr>
          <p:spPr>
            <a:xfrm>
              <a:off x="9073059" y="36337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240" name="TextBox 240"/>
            <p:cNvSpPr txBox="1"/>
            <p:nvPr/>
          </p:nvSpPr>
          <p:spPr>
            <a:xfrm>
              <a:off x="9253538" y="3567303"/>
              <a:ext cx="986866"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已通过私聊触达的客户，</a:t>
              </a:r>
            </a:p>
          </p:txBody>
        </p:sp>
        <p:sp>
          <p:nvSpPr>
            <p:cNvPr id="241" name="TextBox 241"/>
            <p:cNvSpPr txBox="1"/>
            <p:nvPr/>
          </p:nvSpPr>
          <p:spPr>
            <a:xfrm>
              <a:off x="9253538" y="3700653"/>
              <a:ext cx="1075715"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不再发送相同内容的短信。</a:t>
              </a:r>
            </a:p>
          </p:txBody>
        </p:sp>
        <p:sp>
          <p:nvSpPr>
            <p:cNvPr id="242" name="Ellipse 242"/>
            <p:cNvSpPr/>
            <p:nvPr/>
          </p:nvSpPr>
          <p:spPr>
            <a:xfrm>
              <a:off x="9020175" y="4029075"/>
              <a:ext cx="171450" cy="171450"/>
            </a:xfrm>
            <a:prstGeom prst="ellipse">
              <a:avLst/>
            </a:prstGeom>
            <a:solidFill>
              <a:srgbClr val="C83210"/>
            </a:solidFill>
            <a:ln>
              <a:noFill/>
            </a:ln>
          </p:spPr>
        </p:sp>
        <p:sp>
          <p:nvSpPr>
            <p:cNvPr id="243" name="TextBox 243"/>
            <p:cNvSpPr txBox="1"/>
            <p:nvPr/>
          </p:nvSpPr>
          <p:spPr>
            <a:xfrm>
              <a:off x="9073059" y="407193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244" name="TextBox 244"/>
            <p:cNvSpPr txBox="1"/>
            <p:nvPr/>
          </p:nvSpPr>
          <p:spPr>
            <a:xfrm>
              <a:off x="9253538" y="4005453"/>
              <a:ext cx="809168"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已报名直播的客户，</a:t>
              </a:r>
            </a:p>
          </p:txBody>
        </p:sp>
        <p:sp>
          <p:nvSpPr>
            <p:cNvPr id="245" name="TextBox 245"/>
            <p:cNvSpPr txBox="1"/>
            <p:nvPr/>
          </p:nvSpPr>
          <p:spPr>
            <a:xfrm>
              <a:off x="9253538" y="4138803"/>
              <a:ext cx="1075715"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不再发送直播预约的消息。</a:t>
              </a:r>
            </a:p>
          </p:txBody>
        </p:sp>
        <p:sp>
          <p:nvSpPr>
            <p:cNvPr id="246" name="Ellipse 246"/>
            <p:cNvSpPr/>
            <p:nvPr/>
          </p:nvSpPr>
          <p:spPr>
            <a:xfrm>
              <a:off x="9020175" y="4467225"/>
              <a:ext cx="171450" cy="171450"/>
            </a:xfrm>
            <a:prstGeom prst="ellipse">
              <a:avLst/>
            </a:prstGeom>
            <a:solidFill>
              <a:srgbClr val="C83210"/>
            </a:solidFill>
            <a:ln>
              <a:noFill/>
            </a:ln>
          </p:spPr>
        </p:sp>
        <p:sp>
          <p:nvSpPr>
            <p:cNvPr id="247" name="TextBox 247"/>
            <p:cNvSpPr txBox="1"/>
            <p:nvPr/>
          </p:nvSpPr>
          <p:spPr>
            <a:xfrm>
              <a:off x="9073059" y="45100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248" name="TextBox 248"/>
            <p:cNvSpPr txBox="1"/>
            <p:nvPr/>
          </p:nvSpPr>
          <p:spPr>
            <a:xfrm>
              <a:off x="9253538" y="4443603"/>
              <a:ext cx="946884"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 xml:space="preserve">直播结束后2小时内，　</a:t>
              </a:r>
            </a:p>
          </p:txBody>
        </p:sp>
        <p:sp>
          <p:nvSpPr>
            <p:cNvPr id="249" name="TextBox 249"/>
            <p:cNvSpPr txBox="1"/>
            <p:nvPr/>
          </p:nvSpPr>
          <p:spPr>
            <a:xfrm>
              <a:off x="9253538" y="4576953"/>
              <a:ext cx="1075715"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不发送紧急类型销售内容。</a:t>
              </a:r>
            </a:p>
          </p:txBody>
        </p:sp>
        <p:sp>
          <p:nvSpPr>
            <p:cNvPr id="250" name="Ellipse 250"/>
            <p:cNvSpPr/>
            <p:nvPr/>
          </p:nvSpPr>
          <p:spPr>
            <a:xfrm>
              <a:off x="9020175" y="4905375"/>
              <a:ext cx="171450" cy="171450"/>
            </a:xfrm>
            <a:prstGeom prst="ellipse">
              <a:avLst/>
            </a:prstGeom>
            <a:solidFill>
              <a:srgbClr val="C83210"/>
            </a:solidFill>
            <a:ln>
              <a:noFill/>
            </a:ln>
          </p:spPr>
        </p:sp>
        <p:sp>
          <p:nvSpPr>
            <p:cNvPr id="251" name="TextBox 251"/>
            <p:cNvSpPr txBox="1"/>
            <p:nvPr/>
          </p:nvSpPr>
          <p:spPr>
            <a:xfrm>
              <a:off x="9073059" y="494823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5</a:t>
              </a:r>
            </a:p>
          </p:txBody>
        </p:sp>
        <p:sp>
          <p:nvSpPr>
            <p:cNvPr id="252" name="TextBox 252"/>
            <p:cNvSpPr txBox="1"/>
            <p:nvPr/>
          </p:nvSpPr>
          <p:spPr>
            <a:xfrm>
              <a:off x="9253538" y="4881753"/>
              <a:ext cx="1431112"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以客户最后行为状态为准，自动屏蔽</a:t>
              </a:r>
            </a:p>
          </p:txBody>
        </p:sp>
        <p:sp>
          <p:nvSpPr>
            <p:cNvPr id="253" name="TextBox 253"/>
            <p:cNvSpPr txBox="1"/>
            <p:nvPr/>
          </p:nvSpPr>
          <p:spPr>
            <a:xfrm>
              <a:off x="9253538" y="5015103"/>
              <a:ext cx="1431112"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后续同质触达（如已转化、已复投、</a:t>
              </a:r>
            </a:p>
          </p:txBody>
        </p:sp>
        <p:sp>
          <p:nvSpPr>
            <p:cNvPr id="254" name="TextBox 254"/>
            <p:cNvSpPr txBox="1"/>
            <p:nvPr/>
          </p:nvSpPr>
          <p:spPr>
            <a:xfrm>
              <a:off x="9253538" y="5148453"/>
              <a:ext cx="453771"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已点击）。</a:t>
              </a:r>
            </a:p>
          </p:txBody>
        </p:sp>
        <p:sp>
          <p:nvSpPr>
            <p:cNvPr id="255" name="Ellipse 255"/>
            <p:cNvSpPr/>
            <p:nvPr/>
          </p:nvSpPr>
          <p:spPr>
            <a:xfrm>
              <a:off x="9020175" y="5438775"/>
              <a:ext cx="171450" cy="171450"/>
            </a:xfrm>
            <a:prstGeom prst="ellipse">
              <a:avLst/>
            </a:prstGeom>
            <a:solidFill>
              <a:srgbClr val="C83210"/>
            </a:solidFill>
            <a:ln>
              <a:noFill/>
            </a:ln>
          </p:spPr>
        </p:sp>
        <p:sp>
          <p:nvSpPr>
            <p:cNvPr id="256" name="TextBox 256"/>
            <p:cNvSpPr txBox="1"/>
            <p:nvPr/>
          </p:nvSpPr>
          <p:spPr>
            <a:xfrm>
              <a:off x="9073059" y="548163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6</a:t>
              </a:r>
            </a:p>
          </p:txBody>
        </p:sp>
        <p:sp>
          <p:nvSpPr>
            <p:cNvPr id="257" name="TextBox 257"/>
            <p:cNvSpPr txBox="1"/>
            <p:nvPr/>
          </p:nvSpPr>
          <p:spPr>
            <a:xfrm>
              <a:off x="9253538" y="5415153"/>
              <a:ext cx="1253414"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重要通知（如变更、紧急提醒）</a:t>
              </a:r>
            </a:p>
          </p:txBody>
        </p:sp>
        <p:sp>
          <p:nvSpPr>
            <p:cNvPr id="258" name="TextBox 258"/>
            <p:cNvSpPr txBox="1"/>
            <p:nvPr/>
          </p:nvSpPr>
          <p:spPr>
            <a:xfrm>
              <a:off x="9253538" y="5548503"/>
              <a:ext cx="1253414" cy="130493"/>
            </a:xfrm>
            <a:prstGeom prst="rect">
              <a:avLst/>
            </a:prstGeom>
            <a:noFill/>
            <a:ln>
              <a:noFill/>
            </a:ln>
          </p:spPr>
          <p:txBody>
            <a:bodyPr wrap="none" lIns="0" tIns="0" rIns="0" bIns="0" anchor="t" anchorCtr="0">
              <a:spAutoFit/>
            </a:bodyPr>
            <a:lstStyle/>
            <a:p>
              <a:pPr algn="l"/>
              <a:r>
                <a:rPr lang="zh-CN" sz="660" dirty="0">
                  <a:solidFill>
                    <a:srgbClr val="3D3D3D"/>
                  </a:solidFill>
                  <a:latin typeface="+mn-lt"/>
                  <a:ea typeface="+mn-ea"/>
                  <a:cs typeface="+mn-cs"/>
                </a:rPr>
                <a:t>不受上述限制，但需控制频率。</a:t>
              </a:r>
            </a:p>
          </p:txBody>
        </p:sp>
      </p:grpSp>
      <p:grpSp>
        <p:nvGrpSpPr>
          <p:cNvPr id="328" name="d7-table"/>
          <p:cNvGrpSpPr/>
          <p:nvPr/>
        </p:nvGrpSpPr>
        <p:grpSpPr>
          <a:xfrm>
            <a:off x="133350" y="6000750"/>
            <a:ext cx="8382000" cy="757904"/>
            <a:chOff x="133350" y="6000750"/>
            <a:chExt cx="8382000" cy="757904"/>
          </a:xfrm>
        </p:grpSpPr>
        <p:sp>
          <p:nvSpPr>
            <p:cNvPr id="260" name="Rectangle 260"/>
            <p:cNvSpPr/>
            <p:nvPr/>
          </p:nvSpPr>
          <p:spPr>
            <a:xfrm>
              <a:off x="133350" y="6000750"/>
              <a:ext cx="781050" cy="723900"/>
            </a:xfrm>
            <a:prstGeom prst="rect">
              <a:avLst/>
            </a:prstGeom>
            <a:solidFill>
              <a:srgbClr val="C83210"/>
            </a:solidFill>
            <a:ln>
              <a:noFill/>
            </a:ln>
          </p:spPr>
        </p:sp>
        <p:sp>
          <p:nvSpPr>
            <p:cNvPr id="261" name="TextBox 261"/>
            <p:cNvSpPr txBox="1"/>
            <p:nvPr/>
          </p:nvSpPr>
          <p:spPr>
            <a:xfrm>
              <a:off x="355367" y="6156484"/>
              <a:ext cx="337015"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7天活动</a:t>
              </a:r>
            </a:p>
          </p:txBody>
        </p:sp>
        <p:sp>
          <p:nvSpPr>
            <p:cNvPr id="262" name="TextBox 262"/>
            <p:cNvSpPr txBox="1"/>
            <p:nvPr/>
          </p:nvSpPr>
          <p:spPr>
            <a:xfrm>
              <a:off x="336029" y="62898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触达示例</a:t>
              </a:r>
            </a:p>
          </p:txBody>
        </p:sp>
        <p:sp>
          <p:nvSpPr>
            <p:cNvPr id="263" name="TextBox 263"/>
            <p:cNvSpPr txBox="1"/>
            <p:nvPr/>
          </p:nvSpPr>
          <p:spPr>
            <a:xfrm>
              <a:off x="292951" y="6454378"/>
              <a:ext cx="461848" cy="111919"/>
            </a:xfrm>
            <a:prstGeom prst="rect">
              <a:avLst/>
            </a:prstGeom>
            <a:noFill/>
            <a:ln>
              <a:noFill/>
            </a:ln>
          </p:spPr>
          <p:txBody>
            <a:bodyPr wrap="none" lIns="0" tIns="0" rIns="0" bIns="0" anchor="t" anchorCtr="0">
              <a:spAutoFit/>
            </a:bodyPr>
            <a:lstStyle/>
            <a:p>
              <a:pPr algn="ctr"/>
              <a:r>
                <a:rPr lang="zh-CN" sz="560" dirty="0">
                  <a:solidFill>
                    <a:srgbClr val="FBE3E6"/>
                  </a:solidFill>
                  <a:latin typeface="+mn-lt"/>
                  <a:ea typeface="+mn-ea"/>
                  <a:cs typeface="+mn-cs"/>
                </a:rPr>
                <a:t>（财富教育）</a:t>
              </a:r>
            </a:p>
          </p:txBody>
        </p:sp>
        <p:sp>
          <p:nvSpPr>
            <p:cNvPr id="264" name="Rectangle 264"/>
            <p:cNvSpPr/>
            <p:nvPr/>
          </p:nvSpPr>
          <p:spPr>
            <a:xfrm>
              <a:off x="914400" y="6000750"/>
              <a:ext cx="1085850" cy="190500"/>
            </a:xfrm>
            <a:prstGeom prst="rect">
              <a:avLst/>
            </a:prstGeom>
            <a:solidFill>
              <a:srgbClr val="C83210"/>
            </a:solidFill>
            <a:ln>
              <a:noFill/>
            </a:ln>
          </p:spPr>
        </p:sp>
        <p:sp>
          <p:nvSpPr>
            <p:cNvPr id="265" name="Rectangle 265"/>
            <p:cNvSpPr/>
            <p:nvPr/>
          </p:nvSpPr>
          <p:spPr>
            <a:xfrm>
              <a:off x="2000250" y="6000750"/>
              <a:ext cx="1085850" cy="190500"/>
            </a:xfrm>
            <a:prstGeom prst="rect">
              <a:avLst/>
            </a:prstGeom>
            <a:solidFill>
              <a:srgbClr val="D64F30"/>
            </a:solidFill>
            <a:ln>
              <a:noFill/>
            </a:ln>
          </p:spPr>
        </p:sp>
        <p:sp>
          <p:nvSpPr>
            <p:cNvPr id="266" name="Rectangle 266"/>
            <p:cNvSpPr/>
            <p:nvPr/>
          </p:nvSpPr>
          <p:spPr>
            <a:xfrm>
              <a:off x="3086100" y="6000750"/>
              <a:ext cx="1085850" cy="190500"/>
            </a:xfrm>
            <a:prstGeom prst="rect">
              <a:avLst/>
            </a:prstGeom>
            <a:solidFill>
              <a:srgbClr val="C83210"/>
            </a:solidFill>
            <a:ln>
              <a:noFill/>
            </a:ln>
          </p:spPr>
        </p:sp>
        <p:sp>
          <p:nvSpPr>
            <p:cNvPr id="267" name="Rectangle 267"/>
            <p:cNvSpPr/>
            <p:nvPr/>
          </p:nvSpPr>
          <p:spPr>
            <a:xfrm>
              <a:off x="4171950" y="6000750"/>
              <a:ext cx="1085850" cy="190500"/>
            </a:xfrm>
            <a:prstGeom prst="rect">
              <a:avLst/>
            </a:prstGeom>
            <a:solidFill>
              <a:srgbClr val="D64F30"/>
            </a:solidFill>
            <a:ln>
              <a:noFill/>
            </a:ln>
          </p:spPr>
        </p:sp>
        <p:sp>
          <p:nvSpPr>
            <p:cNvPr id="268" name="Rectangle 268"/>
            <p:cNvSpPr/>
            <p:nvPr/>
          </p:nvSpPr>
          <p:spPr>
            <a:xfrm>
              <a:off x="5257800" y="6000750"/>
              <a:ext cx="1085850" cy="190500"/>
            </a:xfrm>
            <a:prstGeom prst="rect">
              <a:avLst/>
            </a:prstGeom>
            <a:solidFill>
              <a:srgbClr val="C83210"/>
            </a:solidFill>
            <a:ln>
              <a:noFill/>
            </a:ln>
          </p:spPr>
        </p:sp>
        <p:sp>
          <p:nvSpPr>
            <p:cNvPr id="269" name="Rectangle 269"/>
            <p:cNvSpPr/>
            <p:nvPr/>
          </p:nvSpPr>
          <p:spPr>
            <a:xfrm>
              <a:off x="6343650" y="6000750"/>
              <a:ext cx="1085850" cy="190500"/>
            </a:xfrm>
            <a:prstGeom prst="rect">
              <a:avLst/>
            </a:prstGeom>
            <a:solidFill>
              <a:srgbClr val="D64F30"/>
            </a:solidFill>
            <a:ln>
              <a:noFill/>
            </a:ln>
          </p:spPr>
        </p:sp>
        <p:sp>
          <p:nvSpPr>
            <p:cNvPr id="270" name="Rectangle 270"/>
            <p:cNvSpPr/>
            <p:nvPr/>
          </p:nvSpPr>
          <p:spPr>
            <a:xfrm>
              <a:off x="7429500" y="6000750"/>
              <a:ext cx="1085850" cy="190500"/>
            </a:xfrm>
            <a:prstGeom prst="rect">
              <a:avLst/>
            </a:prstGeom>
            <a:solidFill>
              <a:srgbClr val="C83210"/>
            </a:solidFill>
            <a:ln>
              <a:noFill/>
            </a:ln>
          </p:spPr>
        </p:sp>
        <p:sp>
          <p:nvSpPr>
            <p:cNvPr id="271" name="TextBox 271"/>
            <p:cNvSpPr txBox="1"/>
            <p:nvPr/>
          </p:nvSpPr>
          <p:spPr>
            <a:xfrm>
              <a:off x="1167851" y="6061234"/>
              <a:ext cx="57894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D1（周一）　</a:t>
              </a:r>
            </a:p>
          </p:txBody>
        </p:sp>
        <p:sp>
          <p:nvSpPr>
            <p:cNvPr id="272" name="TextBox 272"/>
            <p:cNvSpPr txBox="1"/>
            <p:nvPr/>
          </p:nvSpPr>
          <p:spPr>
            <a:xfrm>
              <a:off x="2253701" y="6061234"/>
              <a:ext cx="57894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D2（周二）　</a:t>
              </a:r>
            </a:p>
          </p:txBody>
        </p:sp>
        <p:sp>
          <p:nvSpPr>
            <p:cNvPr id="273" name="TextBox 273"/>
            <p:cNvSpPr txBox="1"/>
            <p:nvPr/>
          </p:nvSpPr>
          <p:spPr>
            <a:xfrm>
              <a:off x="3339551" y="6061234"/>
              <a:ext cx="57894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D3（周三）　</a:t>
              </a:r>
            </a:p>
          </p:txBody>
        </p:sp>
        <p:sp>
          <p:nvSpPr>
            <p:cNvPr id="274" name="TextBox 274"/>
            <p:cNvSpPr txBox="1"/>
            <p:nvPr/>
          </p:nvSpPr>
          <p:spPr>
            <a:xfrm>
              <a:off x="4425401" y="6061234"/>
              <a:ext cx="57894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D4（周四）　</a:t>
              </a:r>
            </a:p>
          </p:txBody>
        </p:sp>
        <p:sp>
          <p:nvSpPr>
            <p:cNvPr id="275" name="TextBox 275"/>
            <p:cNvSpPr txBox="1"/>
            <p:nvPr/>
          </p:nvSpPr>
          <p:spPr>
            <a:xfrm>
              <a:off x="5511251" y="6061234"/>
              <a:ext cx="57894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D5（周五）　</a:t>
              </a:r>
            </a:p>
          </p:txBody>
        </p:sp>
        <p:sp>
          <p:nvSpPr>
            <p:cNvPr id="276" name="TextBox 276"/>
            <p:cNvSpPr txBox="1"/>
            <p:nvPr/>
          </p:nvSpPr>
          <p:spPr>
            <a:xfrm>
              <a:off x="6597101" y="6061234"/>
              <a:ext cx="57894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D6（周六）　</a:t>
              </a:r>
            </a:p>
          </p:txBody>
        </p:sp>
        <p:sp>
          <p:nvSpPr>
            <p:cNvPr id="277" name="TextBox 277"/>
            <p:cNvSpPr txBox="1"/>
            <p:nvPr/>
          </p:nvSpPr>
          <p:spPr>
            <a:xfrm>
              <a:off x="7682951" y="6061234"/>
              <a:ext cx="57894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D7（周日）　</a:t>
              </a:r>
            </a:p>
          </p:txBody>
        </p:sp>
        <p:sp>
          <p:nvSpPr>
            <p:cNvPr id="278" name="Rectangle 278"/>
            <p:cNvSpPr/>
            <p:nvPr/>
          </p:nvSpPr>
          <p:spPr>
            <a:xfrm>
              <a:off x="914400" y="6191250"/>
              <a:ext cx="7600950" cy="266700"/>
            </a:xfrm>
            <a:prstGeom prst="rect">
              <a:avLst/>
            </a:prstGeom>
            <a:solidFill>
              <a:srgbClr val="FDEFF1"/>
            </a:solidFill>
            <a:ln>
              <a:noFill/>
            </a:ln>
          </p:spPr>
        </p:sp>
        <p:sp>
          <p:nvSpPr>
            <p:cNvPr id="279" name="TextBox 279"/>
            <p:cNvSpPr txBox="1"/>
            <p:nvPr/>
          </p:nvSpPr>
          <p:spPr>
            <a:xfrm>
              <a:off x="985838" y="6231255"/>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08:30　</a:t>
              </a:r>
            </a:p>
          </p:txBody>
        </p:sp>
        <p:sp>
          <p:nvSpPr>
            <p:cNvPr id="280" name="TextBox 280"/>
            <p:cNvSpPr txBox="1"/>
            <p:nvPr/>
          </p:nvSpPr>
          <p:spPr>
            <a:xfrm>
              <a:off x="1328738" y="6232874"/>
              <a:ext cx="39992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朋友圈发布</a:t>
              </a:r>
            </a:p>
          </p:txBody>
        </p:sp>
        <p:sp>
          <p:nvSpPr>
            <p:cNvPr id="281" name="TextBox 281"/>
            <p:cNvSpPr txBox="1"/>
            <p:nvPr/>
          </p:nvSpPr>
          <p:spPr>
            <a:xfrm>
              <a:off x="985838" y="6356699"/>
              <a:ext cx="442867"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预热帖+预告</a:t>
              </a:r>
            </a:p>
          </p:txBody>
        </p:sp>
        <p:sp>
          <p:nvSpPr>
            <p:cNvPr id="282" name="TextBox 282"/>
            <p:cNvSpPr txBox="1"/>
            <p:nvPr/>
          </p:nvSpPr>
          <p:spPr>
            <a:xfrm>
              <a:off x="2071688" y="6231255"/>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09:00　</a:t>
              </a:r>
            </a:p>
          </p:txBody>
        </p:sp>
        <p:sp>
          <p:nvSpPr>
            <p:cNvPr id="283" name="TextBox 283"/>
            <p:cNvSpPr txBox="1"/>
            <p:nvPr/>
          </p:nvSpPr>
          <p:spPr>
            <a:xfrm>
              <a:off x="2414588" y="6232874"/>
              <a:ext cx="39992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客户群发布</a:t>
              </a:r>
            </a:p>
          </p:txBody>
        </p:sp>
        <p:sp>
          <p:nvSpPr>
            <p:cNvPr id="284" name="TextBox 284"/>
            <p:cNvSpPr txBox="1"/>
            <p:nvPr/>
          </p:nvSpPr>
          <p:spPr>
            <a:xfrm>
              <a:off x="2071688" y="6356699"/>
              <a:ext cx="520946"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直播预告+议题</a:t>
              </a:r>
            </a:p>
          </p:txBody>
        </p:sp>
        <p:sp>
          <p:nvSpPr>
            <p:cNvPr id="285" name="TextBox 285"/>
            <p:cNvSpPr txBox="1"/>
            <p:nvPr/>
          </p:nvSpPr>
          <p:spPr>
            <a:xfrm>
              <a:off x="3157538" y="6231255"/>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08:30　</a:t>
              </a:r>
            </a:p>
          </p:txBody>
        </p:sp>
        <p:sp>
          <p:nvSpPr>
            <p:cNvPr id="286" name="TextBox 286"/>
            <p:cNvSpPr txBox="1"/>
            <p:nvPr/>
          </p:nvSpPr>
          <p:spPr>
            <a:xfrm>
              <a:off x="3500438" y="6232874"/>
              <a:ext cx="39992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朋友圈发布</a:t>
              </a:r>
            </a:p>
          </p:txBody>
        </p:sp>
        <p:sp>
          <p:nvSpPr>
            <p:cNvPr id="287" name="TextBox 287"/>
            <p:cNvSpPr txBox="1"/>
            <p:nvPr/>
          </p:nvSpPr>
          <p:spPr>
            <a:xfrm>
              <a:off x="3157538" y="6356699"/>
              <a:ext cx="478003"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客户评价海报</a:t>
              </a:r>
            </a:p>
          </p:txBody>
        </p:sp>
        <p:sp>
          <p:nvSpPr>
            <p:cNvPr id="288" name="TextBox 288"/>
            <p:cNvSpPr txBox="1"/>
            <p:nvPr/>
          </p:nvSpPr>
          <p:spPr>
            <a:xfrm>
              <a:off x="4243388" y="6231255"/>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09:00　</a:t>
              </a:r>
            </a:p>
          </p:txBody>
        </p:sp>
        <p:sp>
          <p:nvSpPr>
            <p:cNvPr id="289" name="TextBox 289"/>
            <p:cNvSpPr txBox="1"/>
            <p:nvPr/>
          </p:nvSpPr>
          <p:spPr>
            <a:xfrm>
              <a:off x="4586288" y="6232874"/>
              <a:ext cx="39992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客户群发布</a:t>
              </a:r>
            </a:p>
          </p:txBody>
        </p:sp>
        <p:sp>
          <p:nvSpPr>
            <p:cNvPr id="290" name="TextBox 290"/>
            <p:cNvSpPr txBox="1"/>
            <p:nvPr/>
          </p:nvSpPr>
          <p:spPr>
            <a:xfrm>
              <a:off x="4243388" y="6356699"/>
              <a:ext cx="399923"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预热短视频</a:t>
              </a:r>
            </a:p>
          </p:txBody>
        </p:sp>
        <p:sp>
          <p:nvSpPr>
            <p:cNvPr id="291" name="TextBox 291"/>
            <p:cNvSpPr txBox="1"/>
            <p:nvPr/>
          </p:nvSpPr>
          <p:spPr>
            <a:xfrm>
              <a:off x="5329238" y="6231255"/>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19:30　</a:t>
              </a:r>
            </a:p>
          </p:txBody>
        </p:sp>
        <p:sp>
          <p:nvSpPr>
            <p:cNvPr id="292" name="TextBox 292"/>
            <p:cNvSpPr txBox="1"/>
            <p:nvPr/>
          </p:nvSpPr>
          <p:spPr>
            <a:xfrm>
              <a:off x="5672138" y="6232874"/>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直播正式开始</a:t>
              </a:r>
            </a:p>
          </p:txBody>
        </p:sp>
        <p:sp>
          <p:nvSpPr>
            <p:cNvPr id="293" name="TextBox 293"/>
            <p:cNvSpPr txBox="1"/>
            <p:nvPr/>
          </p:nvSpPr>
          <p:spPr>
            <a:xfrm>
              <a:off x="5329238" y="6356699"/>
              <a:ext cx="520946"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 xml:space="preserve">（约1小时）　</a:t>
              </a:r>
            </a:p>
          </p:txBody>
        </p:sp>
        <p:sp>
          <p:nvSpPr>
            <p:cNvPr id="294" name="TextBox 294"/>
            <p:cNvSpPr txBox="1"/>
            <p:nvPr/>
          </p:nvSpPr>
          <p:spPr>
            <a:xfrm>
              <a:off x="6415088" y="6231255"/>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10:00　</a:t>
              </a:r>
            </a:p>
          </p:txBody>
        </p:sp>
        <p:sp>
          <p:nvSpPr>
            <p:cNvPr id="295" name="TextBox 295"/>
            <p:cNvSpPr txBox="1"/>
            <p:nvPr/>
          </p:nvSpPr>
          <p:spPr>
            <a:xfrm>
              <a:off x="6757988" y="6232874"/>
              <a:ext cx="301808"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1V1私聊</a:t>
              </a:r>
            </a:p>
          </p:txBody>
        </p:sp>
        <p:sp>
          <p:nvSpPr>
            <p:cNvPr id="296" name="TextBox 296"/>
            <p:cNvSpPr txBox="1"/>
            <p:nvPr/>
          </p:nvSpPr>
          <p:spPr>
            <a:xfrm>
              <a:off x="6415088" y="6356699"/>
              <a:ext cx="634162"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未看客户二次邀约</a:t>
              </a:r>
            </a:p>
          </p:txBody>
        </p:sp>
        <p:sp>
          <p:nvSpPr>
            <p:cNvPr id="297" name="TextBox 297"/>
            <p:cNvSpPr txBox="1"/>
            <p:nvPr/>
          </p:nvSpPr>
          <p:spPr>
            <a:xfrm>
              <a:off x="7500938" y="6231255"/>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10:00　</a:t>
              </a:r>
            </a:p>
          </p:txBody>
        </p:sp>
        <p:sp>
          <p:nvSpPr>
            <p:cNvPr id="298" name="TextBox 298"/>
            <p:cNvSpPr txBox="1"/>
            <p:nvPr/>
          </p:nvSpPr>
          <p:spPr>
            <a:xfrm>
              <a:off x="7843838" y="6232874"/>
              <a:ext cx="301808"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1V1私聊</a:t>
              </a:r>
            </a:p>
          </p:txBody>
        </p:sp>
        <p:sp>
          <p:nvSpPr>
            <p:cNvPr id="299" name="TextBox 299"/>
            <p:cNvSpPr txBox="1"/>
            <p:nvPr/>
          </p:nvSpPr>
          <p:spPr>
            <a:xfrm>
              <a:off x="7500938" y="6356699"/>
              <a:ext cx="478003"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重点客户咨询</a:t>
              </a:r>
            </a:p>
          </p:txBody>
        </p:sp>
        <p:sp>
          <p:nvSpPr>
            <p:cNvPr id="300" name="Line 300"/>
            <p:cNvSpPr/>
            <p:nvPr/>
          </p:nvSpPr>
          <p:spPr>
            <a:xfrm>
              <a:off x="914400" y="6457950"/>
              <a:ext cx="7600950" cy="9525"/>
            </a:xfrm>
            <a:custGeom>
              <a:avLst/>
              <a:gdLst/>
              <a:ahLst/>
              <a:cxnLst/>
              <a:rect l="l" t="t" r="r" b="b"/>
              <a:pathLst>
                <a:path w="7600950" h="9525">
                  <a:moveTo>
                    <a:pt x="0" y="0"/>
                  </a:moveTo>
                  <a:lnTo>
                    <a:pt x="7600950" y="0"/>
                  </a:lnTo>
                </a:path>
              </a:pathLst>
            </a:custGeom>
            <a:noFill/>
            <a:ln w="9525">
              <a:solidFill>
                <a:srgbClr val="F1C7CC"/>
              </a:solidFill>
            </a:ln>
          </p:spPr>
        </p:sp>
        <p:sp>
          <p:nvSpPr>
            <p:cNvPr id="301" name="TextBox 301"/>
            <p:cNvSpPr txBox="1"/>
            <p:nvPr/>
          </p:nvSpPr>
          <p:spPr>
            <a:xfrm>
              <a:off x="985838" y="6526530"/>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20:00　</a:t>
              </a:r>
            </a:p>
          </p:txBody>
        </p:sp>
        <p:sp>
          <p:nvSpPr>
            <p:cNvPr id="302" name="TextBox 302"/>
            <p:cNvSpPr txBox="1"/>
            <p:nvPr/>
          </p:nvSpPr>
          <p:spPr>
            <a:xfrm>
              <a:off x="1328738" y="6528149"/>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私聊核心客户</a:t>
              </a:r>
            </a:p>
          </p:txBody>
        </p:sp>
        <p:sp>
          <p:nvSpPr>
            <p:cNvPr id="303" name="TextBox 303"/>
            <p:cNvSpPr txBox="1"/>
            <p:nvPr/>
          </p:nvSpPr>
          <p:spPr>
            <a:xfrm>
              <a:off x="985838" y="6642449"/>
              <a:ext cx="321843"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定向邀约</a:t>
              </a:r>
            </a:p>
          </p:txBody>
        </p:sp>
        <p:sp>
          <p:nvSpPr>
            <p:cNvPr id="304" name="TextBox 304"/>
            <p:cNvSpPr txBox="1"/>
            <p:nvPr/>
          </p:nvSpPr>
          <p:spPr>
            <a:xfrm>
              <a:off x="2071688" y="6526530"/>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20:00　</a:t>
              </a:r>
            </a:p>
          </p:txBody>
        </p:sp>
        <p:sp>
          <p:nvSpPr>
            <p:cNvPr id="305" name="TextBox 305"/>
            <p:cNvSpPr txBox="1"/>
            <p:nvPr/>
          </p:nvSpPr>
          <p:spPr>
            <a:xfrm>
              <a:off x="2414588" y="6528149"/>
              <a:ext cx="55608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短信广域触达　</a:t>
              </a:r>
            </a:p>
          </p:txBody>
        </p:sp>
        <p:sp>
          <p:nvSpPr>
            <p:cNvPr id="306" name="TextBox 306"/>
            <p:cNvSpPr txBox="1"/>
            <p:nvPr/>
          </p:nvSpPr>
          <p:spPr>
            <a:xfrm>
              <a:off x="2071688" y="6642449"/>
              <a:ext cx="478003"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直播覆盖邀约</a:t>
              </a:r>
            </a:p>
          </p:txBody>
        </p:sp>
        <p:sp>
          <p:nvSpPr>
            <p:cNvPr id="307" name="TextBox 307"/>
            <p:cNvSpPr txBox="1"/>
            <p:nvPr/>
          </p:nvSpPr>
          <p:spPr>
            <a:xfrm>
              <a:off x="3157538" y="6526530"/>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15:00　</a:t>
              </a:r>
            </a:p>
          </p:txBody>
        </p:sp>
        <p:sp>
          <p:nvSpPr>
            <p:cNvPr id="308" name="TextBox 308"/>
            <p:cNvSpPr txBox="1"/>
            <p:nvPr/>
          </p:nvSpPr>
          <p:spPr>
            <a:xfrm>
              <a:off x="3500438" y="6528149"/>
              <a:ext cx="301808"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1V1私聊</a:t>
              </a:r>
            </a:p>
          </p:txBody>
        </p:sp>
        <p:sp>
          <p:nvSpPr>
            <p:cNvPr id="309" name="TextBox 309"/>
            <p:cNvSpPr txBox="1"/>
            <p:nvPr/>
          </p:nvSpPr>
          <p:spPr>
            <a:xfrm>
              <a:off x="3157538" y="6642449"/>
              <a:ext cx="411635"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答疑 + 邀约</a:t>
              </a:r>
            </a:p>
          </p:txBody>
        </p:sp>
        <p:sp>
          <p:nvSpPr>
            <p:cNvPr id="310" name="TextBox 310"/>
            <p:cNvSpPr txBox="1"/>
            <p:nvPr/>
          </p:nvSpPr>
          <p:spPr>
            <a:xfrm>
              <a:off x="4243388" y="6526530"/>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20:00　</a:t>
              </a:r>
            </a:p>
          </p:txBody>
        </p:sp>
        <p:sp>
          <p:nvSpPr>
            <p:cNvPr id="311" name="TextBox 311"/>
            <p:cNvSpPr txBox="1"/>
            <p:nvPr/>
          </p:nvSpPr>
          <p:spPr>
            <a:xfrm>
              <a:off x="4586288" y="6528149"/>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手机银行消息</a:t>
              </a:r>
            </a:p>
          </p:txBody>
        </p:sp>
        <p:sp>
          <p:nvSpPr>
            <p:cNvPr id="312" name="TextBox 312"/>
            <p:cNvSpPr txBox="1"/>
            <p:nvPr/>
          </p:nvSpPr>
          <p:spPr>
            <a:xfrm>
              <a:off x="4243388" y="6642449"/>
              <a:ext cx="321843"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直播提醒</a:t>
              </a:r>
            </a:p>
          </p:txBody>
        </p:sp>
        <p:sp>
          <p:nvSpPr>
            <p:cNvPr id="313" name="TextBox 313"/>
            <p:cNvSpPr txBox="1"/>
            <p:nvPr/>
          </p:nvSpPr>
          <p:spPr>
            <a:xfrm>
              <a:off x="5329238" y="6526530"/>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21:00　</a:t>
              </a:r>
            </a:p>
          </p:txBody>
        </p:sp>
        <p:sp>
          <p:nvSpPr>
            <p:cNvPr id="314" name="TextBox 314"/>
            <p:cNvSpPr txBox="1"/>
            <p:nvPr/>
          </p:nvSpPr>
          <p:spPr>
            <a:xfrm>
              <a:off x="5672138" y="6528149"/>
              <a:ext cx="39992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客户群回放</a:t>
              </a:r>
            </a:p>
          </p:txBody>
        </p:sp>
        <p:sp>
          <p:nvSpPr>
            <p:cNvPr id="315" name="TextBox 315"/>
            <p:cNvSpPr txBox="1"/>
            <p:nvPr/>
          </p:nvSpPr>
          <p:spPr>
            <a:xfrm>
              <a:off x="5329238" y="6642449"/>
              <a:ext cx="466291"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 xml:space="preserve">+ 资料领取　</a:t>
              </a:r>
            </a:p>
          </p:txBody>
        </p:sp>
        <p:sp>
          <p:nvSpPr>
            <p:cNvPr id="316" name="TextBox 316"/>
            <p:cNvSpPr txBox="1"/>
            <p:nvPr/>
          </p:nvSpPr>
          <p:spPr>
            <a:xfrm>
              <a:off x="6415088" y="6526530"/>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15:00　</a:t>
              </a:r>
            </a:p>
          </p:txBody>
        </p:sp>
        <p:sp>
          <p:nvSpPr>
            <p:cNvPr id="317" name="TextBox 317"/>
            <p:cNvSpPr txBox="1"/>
            <p:nvPr/>
          </p:nvSpPr>
          <p:spPr>
            <a:xfrm>
              <a:off x="6757988" y="6528149"/>
              <a:ext cx="16568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回访</a:t>
              </a:r>
            </a:p>
          </p:txBody>
        </p:sp>
        <p:sp>
          <p:nvSpPr>
            <p:cNvPr id="318" name="TextBox 318"/>
            <p:cNvSpPr txBox="1"/>
            <p:nvPr/>
          </p:nvSpPr>
          <p:spPr>
            <a:xfrm>
              <a:off x="6415088" y="6642449"/>
              <a:ext cx="677106"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意向梳理+福利提醒</a:t>
              </a:r>
            </a:p>
          </p:txBody>
        </p:sp>
        <p:sp>
          <p:nvSpPr>
            <p:cNvPr id="319" name="TextBox 319"/>
            <p:cNvSpPr txBox="1"/>
            <p:nvPr/>
          </p:nvSpPr>
          <p:spPr>
            <a:xfrm>
              <a:off x="7500938" y="6526530"/>
              <a:ext cx="296896" cy="119062"/>
            </a:xfrm>
            <a:prstGeom prst="rect">
              <a:avLst/>
            </a:prstGeom>
            <a:noFill/>
            <a:ln>
              <a:noFill/>
            </a:ln>
          </p:spPr>
          <p:txBody>
            <a:bodyPr wrap="none" lIns="0" tIns="0" rIns="0" bIns="0" anchor="t" anchorCtr="0">
              <a:spAutoFit/>
            </a:bodyPr>
            <a:lstStyle/>
            <a:p>
              <a:pPr algn="l"/>
              <a:r>
                <a:rPr lang="zh-CN" sz="600" b="1" dirty="0">
                  <a:solidFill>
                    <a:srgbClr val="C83210"/>
                  </a:solidFill>
                  <a:latin typeface="Arial"/>
                  <a:ea typeface="Microsoft YaHei"/>
                  <a:cs typeface="Arial"/>
                </a:rPr>
                <a:t xml:space="preserve">20:00　</a:t>
              </a:r>
            </a:p>
          </p:txBody>
        </p:sp>
        <p:sp>
          <p:nvSpPr>
            <p:cNvPr id="320" name="TextBox 320"/>
            <p:cNvSpPr txBox="1"/>
            <p:nvPr/>
          </p:nvSpPr>
          <p:spPr>
            <a:xfrm>
              <a:off x="7843838" y="6528149"/>
              <a:ext cx="24376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朋友圈</a:t>
              </a:r>
            </a:p>
          </p:txBody>
        </p:sp>
        <p:sp>
          <p:nvSpPr>
            <p:cNvPr id="321" name="TextBox 321"/>
            <p:cNvSpPr txBox="1"/>
            <p:nvPr/>
          </p:nvSpPr>
          <p:spPr>
            <a:xfrm>
              <a:off x="7500938" y="6642449"/>
              <a:ext cx="677106" cy="116205"/>
            </a:xfrm>
            <a:prstGeom prst="rect">
              <a:avLst/>
            </a:prstGeom>
            <a:noFill/>
            <a:ln>
              <a:noFill/>
            </a:ln>
          </p:spPr>
          <p:txBody>
            <a:bodyPr wrap="none" lIns="0" tIns="0" rIns="0" bIns="0" anchor="t" anchorCtr="0">
              <a:spAutoFit/>
            </a:bodyPr>
            <a:lstStyle/>
            <a:p>
              <a:pPr algn="l"/>
              <a:r>
                <a:rPr lang="zh-CN" sz="580" dirty="0">
                  <a:solidFill>
                    <a:srgbClr val="808080"/>
                  </a:solidFill>
                  <a:latin typeface="+mn-lt"/>
                  <a:ea typeface="+mn-ea"/>
                  <a:cs typeface="+mn-cs"/>
                </a:rPr>
                <a:t>活动收尾+持续陪伴</a:t>
              </a:r>
            </a:p>
          </p:txBody>
        </p:sp>
        <p:sp>
          <p:nvSpPr>
            <p:cNvPr id="322" name="Line 322"/>
            <p:cNvSpPr/>
            <p:nvPr/>
          </p:nvSpPr>
          <p:spPr>
            <a:xfrm>
              <a:off x="2000250" y="6191250"/>
              <a:ext cx="9525" cy="533400"/>
            </a:xfrm>
            <a:custGeom>
              <a:avLst/>
              <a:gdLst/>
              <a:ahLst/>
              <a:cxnLst/>
              <a:rect l="l" t="t" r="r" b="b"/>
              <a:pathLst>
                <a:path w="9525" h="533400">
                  <a:moveTo>
                    <a:pt x="0" y="0"/>
                  </a:moveTo>
                  <a:lnTo>
                    <a:pt x="0" y="533400"/>
                  </a:lnTo>
                </a:path>
              </a:pathLst>
            </a:custGeom>
            <a:noFill/>
            <a:ln w="9525">
              <a:solidFill>
                <a:srgbClr val="F1C7CC"/>
              </a:solidFill>
            </a:ln>
          </p:spPr>
        </p:sp>
        <p:sp>
          <p:nvSpPr>
            <p:cNvPr id="323" name="Line 323"/>
            <p:cNvSpPr/>
            <p:nvPr/>
          </p:nvSpPr>
          <p:spPr>
            <a:xfrm>
              <a:off x="3086100" y="6191250"/>
              <a:ext cx="9525" cy="533400"/>
            </a:xfrm>
            <a:custGeom>
              <a:avLst/>
              <a:gdLst/>
              <a:ahLst/>
              <a:cxnLst/>
              <a:rect l="l" t="t" r="r" b="b"/>
              <a:pathLst>
                <a:path w="9525" h="533400">
                  <a:moveTo>
                    <a:pt x="0" y="0"/>
                  </a:moveTo>
                  <a:lnTo>
                    <a:pt x="0" y="533400"/>
                  </a:lnTo>
                </a:path>
              </a:pathLst>
            </a:custGeom>
            <a:noFill/>
            <a:ln w="9525">
              <a:solidFill>
                <a:srgbClr val="F1C7CC"/>
              </a:solidFill>
            </a:ln>
          </p:spPr>
        </p:sp>
        <p:sp>
          <p:nvSpPr>
            <p:cNvPr id="324" name="Line 324"/>
            <p:cNvSpPr/>
            <p:nvPr/>
          </p:nvSpPr>
          <p:spPr>
            <a:xfrm>
              <a:off x="4171950" y="6191250"/>
              <a:ext cx="9525" cy="533400"/>
            </a:xfrm>
            <a:custGeom>
              <a:avLst/>
              <a:gdLst/>
              <a:ahLst/>
              <a:cxnLst/>
              <a:rect l="l" t="t" r="r" b="b"/>
              <a:pathLst>
                <a:path w="9525" h="533400">
                  <a:moveTo>
                    <a:pt x="0" y="0"/>
                  </a:moveTo>
                  <a:lnTo>
                    <a:pt x="0" y="533400"/>
                  </a:lnTo>
                </a:path>
              </a:pathLst>
            </a:custGeom>
            <a:noFill/>
            <a:ln w="9525">
              <a:solidFill>
                <a:srgbClr val="F1C7CC"/>
              </a:solidFill>
            </a:ln>
          </p:spPr>
        </p:sp>
        <p:sp>
          <p:nvSpPr>
            <p:cNvPr id="325" name="Line 325"/>
            <p:cNvSpPr/>
            <p:nvPr/>
          </p:nvSpPr>
          <p:spPr>
            <a:xfrm>
              <a:off x="5257800" y="6191250"/>
              <a:ext cx="9525" cy="533400"/>
            </a:xfrm>
            <a:custGeom>
              <a:avLst/>
              <a:gdLst/>
              <a:ahLst/>
              <a:cxnLst/>
              <a:rect l="l" t="t" r="r" b="b"/>
              <a:pathLst>
                <a:path w="9525" h="533400">
                  <a:moveTo>
                    <a:pt x="0" y="0"/>
                  </a:moveTo>
                  <a:lnTo>
                    <a:pt x="0" y="533400"/>
                  </a:lnTo>
                </a:path>
              </a:pathLst>
            </a:custGeom>
            <a:noFill/>
            <a:ln w="9525">
              <a:solidFill>
                <a:srgbClr val="F1C7CC"/>
              </a:solidFill>
            </a:ln>
          </p:spPr>
        </p:sp>
        <p:sp>
          <p:nvSpPr>
            <p:cNvPr id="326" name="Line 326"/>
            <p:cNvSpPr/>
            <p:nvPr/>
          </p:nvSpPr>
          <p:spPr>
            <a:xfrm>
              <a:off x="6343650" y="6191250"/>
              <a:ext cx="9525" cy="533400"/>
            </a:xfrm>
            <a:custGeom>
              <a:avLst/>
              <a:gdLst/>
              <a:ahLst/>
              <a:cxnLst/>
              <a:rect l="l" t="t" r="r" b="b"/>
              <a:pathLst>
                <a:path w="9525" h="533400">
                  <a:moveTo>
                    <a:pt x="0" y="0"/>
                  </a:moveTo>
                  <a:lnTo>
                    <a:pt x="0" y="533400"/>
                  </a:lnTo>
                </a:path>
              </a:pathLst>
            </a:custGeom>
            <a:noFill/>
            <a:ln w="9525">
              <a:solidFill>
                <a:srgbClr val="F1C7CC"/>
              </a:solidFill>
            </a:ln>
          </p:spPr>
        </p:sp>
        <p:sp>
          <p:nvSpPr>
            <p:cNvPr id="327" name="Line 327"/>
            <p:cNvSpPr/>
            <p:nvPr/>
          </p:nvSpPr>
          <p:spPr>
            <a:xfrm>
              <a:off x="7429500" y="6191250"/>
              <a:ext cx="9525" cy="533400"/>
            </a:xfrm>
            <a:custGeom>
              <a:avLst/>
              <a:gdLst/>
              <a:ahLst/>
              <a:cxnLst/>
              <a:rect l="l" t="t" r="r" b="b"/>
              <a:pathLst>
                <a:path w="9525" h="533400">
                  <a:moveTo>
                    <a:pt x="0" y="0"/>
                  </a:moveTo>
                  <a:lnTo>
                    <a:pt x="0" y="533400"/>
                  </a:lnTo>
                </a:path>
              </a:pathLst>
            </a:custGeom>
            <a:noFill/>
            <a:ln w="9525">
              <a:solidFill>
                <a:srgbClr val="F1C7CC"/>
              </a:solidFill>
            </a:ln>
          </p:spPr>
        </p:sp>
      </p:grpSp>
      <p:grpSp>
        <p:nvGrpSpPr>
          <p:cNvPr id="348" name="metrics"/>
          <p:cNvGrpSpPr/>
          <p:nvPr/>
        </p:nvGrpSpPr>
        <p:grpSpPr>
          <a:xfrm>
            <a:off x="8724900" y="6057900"/>
            <a:ext cx="3252407" cy="587692"/>
            <a:chOff x="8724900" y="6057900"/>
            <a:chExt cx="3252407" cy="587692"/>
          </a:xfrm>
        </p:grpSpPr>
        <p:sp>
          <p:nvSpPr>
            <p:cNvPr id="329" name="Rectangle 329"/>
            <p:cNvSpPr/>
            <p:nvPr/>
          </p:nvSpPr>
          <p:spPr>
            <a:xfrm>
              <a:off x="8724900" y="6057900"/>
              <a:ext cx="38100" cy="152400"/>
            </a:xfrm>
            <a:prstGeom prst="rect">
              <a:avLst/>
            </a:prstGeom>
            <a:solidFill>
              <a:srgbClr val="C83210"/>
            </a:solidFill>
            <a:ln>
              <a:noFill/>
            </a:ln>
          </p:spPr>
        </p:sp>
        <p:grpSp>
          <p:nvGrpSpPr>
            <p:cNvPr id="334" name="Group 334"/>
            <p:cNvGrpSpPr/>
            <p:nvPr/>
          </p:nvGrpSpPr>
          <p:grpSpPr>
            <a:xfrm>
              <a:off x="8855869" y="6089650"/>
              <a:ext cx="100012" cy="98425"/>
              <a:chOff x="8855869" y="6089650"/>
              <a:chExt cx="100012" cy="98425"/>
            </a:xfrm>
          </p:grpSpPr>
          <p:sp>
            <p:nvSpPr>
              <p:cNvPr id="330" name="Freeform 330"/>
              <p:cNvSpPr/>
              <p:nvPr/>
            </p:nvSpPr>
            <p:spPr>
              <a:xfrm>
                <a:off x="8855869" y="6134100"/>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C83210"/>
                </a:solidFill>
              </a:ln>
            </p:spPr>
          </p:sp>
          <p:sp>
            <p:nvSpPr>
              <p:cNvPr id="331" name="Freeform 331"/>
              <p:cNvSpPr/>
              <p:nvPr/>
            </p:nvSpPr>
            <p:spPr>
              <a:xfrm>
                <a:off x="8922544" y="6111875"/>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C83210"/>
                </a:solidFill>
              </a:ln>
            </p:spPr>
          </p:sp>
          <p:sp>
            <p:nvSpPr>
              <p:cNvPr id="332" name="Freeform 332"/>
              <p:cNvSpPr/>
              <p:nvPr/>
            </p:nvSpPr>
            <p:spPr>
              <a:xfrm>
                <a:off x="8889206" y="6089650"/>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C83210"/>
                </a:solidFill>
              </a:ln>
            </p:spPr>
          </p:sp>
          <p:sp>
            <p:nvSpPr>
              <p:cNvPr id="333" name="Freeform 333"/>
              <p:cNvSpPr/>
              <p:nvPr/>
            </p:nvSpPr>
            <p:spPr>
              <a:xfrm>
                <a:off x="8861425" y="6178550"/>
                <a:ext cx="77787" cy="9525"/>
              </a:xfrm>
              <a:custGeom>
                <a:avLst/>
                <a:gdLst/>
                <a:ahLst/>
                <a:cxnLst/>
                <a:rect l="l" t="t" r="r" b="b"/>
                <a:pathLst>
                  <a:path w="77787" h="9525">
                    <a:moveTo>
                      <a:pt x="0" y="0"/>
                    </a:moveTo>
                    <a:lnTo>
                      <a:pt x="77787" y="0"/>
                    </a:lnTo>
                  </a:path>
                </a:pathLst>
              </a:custGeom>
              <a:noFill/>
              <a:ln w="11112">
                <a:solidFill>
                  <a:srgbClr val="C83210"/>
                </a:solidFill>
              </a:ln>
            </p:spPr>
          </p:sp>
        </p:grpSp>
        <p:sp>
          <p:nvSpPr>
            <p:cNvPr id="335" name="TextBox 335"/>
            <p:cNvSpPr txBox="1"/>
            <p:nvPr/>
          </p:nvSpPr>
          <p:spPr>
            <a:xfrm>
              <a:off x="9024938" y="6084570"/>
              <a:ext cx="1102639"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活动复盘指标</a:t>
              </a:r>
              <a:r>
                <a:rPr lang="zh-CN" sz="680" b="1" dirty="0">
                  <a:solidFill>
                    <a:srgbClr val="808080"/>
                  </a:solidFill>
                  <a:latin typeface="+mn-lt"/>
                  <a:ea typeface="+mn-ea"/>
                  <a:cs typeface="+mn-cs"/>
                </a:rPr>
                <a:t>（示例）</a:t>
              </a:r>
            </a:p>
          </p:txBody>
        </p:sp>
        <p:sp>
          <p:nvSpPr>
            <p:cNvPr id="336" name="TextBox 336"/>
            <p:cNvSpPr txBox="1"/>
            <p:nvPr/>
          </p:nvSpPr>
          <p:spPr>
            <a:xfrm>
              <a:off x="8803504" y="6333649"/>
              <a:ext cx="490492"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12,000+</a:t>
              </a:r>
            </a:p>
          </p:txBody>
        </p:sp>
        <p:sp>
          <p:nvSpPr>
            <p:cNvPr id="337" name="TextBox 337"/>
            <p:cNvSpPr txBox="1"/>
            <p:nvPr/>
          </p:nvSpPr>
          <p:spPr>
            <a:xfrm>
              <a:off x="8842058" y="6526530"/>
              <a:ext cx="413385"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朋友圈曝光</a:t>
              </a:r>
            </a:p>
          </p:txBody>
        </p:sp>
        <p:sp>
          <p:nvSpPr>
            <p:cNvPr id="338" name="TextBox 338"/>
            <p:cNvSpPr txBox="1"/>
            <p:nvPr/>
          </p:nvSpPr>
          <p:spPr>
            <a:xfrm>
              <a:off x="9411693" y="6333649"/>
              <a:ext cx="417114"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3,200+</a:t>
              </a:r>
            </a:p>
          </p:txBody>
        </p:sp>
        <p:sp>
          <p:nvSpPr>
            <p:cNvPr id="339" name="TextBox 339"/>
            <p:cNvSpPr txBox="1"/>
            <p:nvPr/>
          </p:nvSpPr>
          <p:spPr>
            <a:xfrm>
              <a:off x="9453944" y="652653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直播观看</a:t>
              </a:r>
            </a:p>
          </p:txBody>
        </p:sp>
        <p:sp>
          <p:nvSpPr>
            <p:cNvPr id="340" name="TextBox 340"/>
            <p:cNvSpPr txBox="1"/>
            <p:nvPr/>
          </p:nvSpPr>
          <p:spPr>
            <a:xfrm>
              <a:off x="10057680" y="6333649"/>
              <a:ext cx="230040"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660</a:t>
              </a:r>
            </a:p>
          </p:txBody>
        </p:sp>
        <p:sp>
          <p:nvSpPr>
            <p:cNvPr id="341" name="TextBox 341"/>
            <p:cNvSpPr txBox="1"/>
            <p:nvPr/>
          </p:nvSpPr>
          <p:spPr>
            <a:xfrm>
              <a:off x="10006394" y="652653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加微报名</a:t>
              </a:r>
            </a:p>
          </p:txBody>
        </p:sp>
        <p:sp>
          <p:nvSpPr>
            <p:cNvPr id="342" name="TextBox 342"/>
            <p:cNvSpPr txBox="1"/>
            <p:nvPr/>
          </p:nvSpPr>
          <p:spPr>
            <a:xfrm>
              <a:off x="10591080" y="6333649"/>
              <a:ext cx="230040"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620</a:t>
              </a:r>
            </a:p>
          </p:txBody>
        </p:sp>
        <p:sp>
          <p:nvSpPr>
            <p:cNvPr id="343" name="TextBox 343"/>
            <p:cNvSpPr txBox="1"/>
            <p:nvPr/>
          </p:nvSpPr>
          <p:spPr>
            <a:xfrm>
              <a:off x="10539794" y="652653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到场人数</a:t>
              </a:r>
            </a:p>
          </p:txBody>
        </p:sp>
        <p:sp>
          <p:nvSpPr>
            <p:cNvPr id="344" name="TextBox 344"/>
            <p:cNvSpPr txBox="1"/>
            <p:nvPr/>
          </p:nvSpPr>
          <p:spPr>
            <a:xfrm>
              <a:off x="11143530" y="6333649"/>
              <a:ext cx="230040"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230</a:t>
              </a:r>
            </a:p>
          </p:txBody>
        </p:sp>
        <p:sp>
          <p:nvSpPr>
            <p:cNvPr id="345" name="TextBox 345"/>
            <p:cNvSpPr txBox="1"/>
            <p:nvPr/>
          </p:nvSpPr>
          <p:spPr>
            <a:xfrm>
              <a:off x="11092244" y="652653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有效咨询</a:t>
              </a:r>
            </a:p>
          </p:txBody>
        </p:sp>
        <p:sp>
          <p:nvSpPr>
            <p:cNvPr id="346" name="TextBox 346"/>
            <p:cNvSpPr txBox="1"/>
            <p:nvPr/>
          </p:nvSpPr>
          <p:spPr>
            <a:xfrm>
              <a:off x="11732669" y="6333649"/>
              <a:ext cx="156662" cy="190690"/>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96</a:t>
              </a:r>
            </a:p>
          </p:txBody>
        </p:sp>
        <p:sp>
          <p:nvSpPr>
            <p:cNvPr id="347" name="TextBox 347"/>
            <p:cNvSpPr txBox="1"/>
            <p:nvPr/>
          </p:nvSpPr>
          <p:spPr>
            <a:xfrm>
              <a:off x="11644694" y="652653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最终转化</a:t>
              </a:r>
            </a:p>
          </p:txBody>
        </p:sp>
      </p:gr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11</a:t>
              </a:r>
            </a:p>
          </p:txBody>
        </p:sp>
        <p:sp>
          <p:nvSpPr>
            <p:cNvPr id="4" name="TextBox 4"/>
            <p:cNvSpPr txBox="1"/>
            <p:nvPr/>
          </p:nvSpPr>
          <p:spPr>
            <a:xfrm>
              <a:off x="942594" y="151448"/>
              <a:ext cx="5844540"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营销活动</a:t>
              </a:r>
              <a:r>
                <a:rPr lang="zh-CN" sz="1950" b="1" dirty="0">
                  <a:solidFill>
                    <a:srgbClr val="222222"/>
                  </a:solidFill>
                  <a:latin typeface="SimSun"/>
                  <a:ea typeface="SimSun"/>
                  <a:cs typeface="SimSun"/>
                </a:rPr>
                <a:t>｜把内容互动转化为可跟进的客户线索</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90" name="factory-band"/>
          <p:cNvGrpSpPr/>
          <p:nvPr/>
        </p:nvGrpSpPr>
        <p:grpSpPr>
          <a:xfrm>
            <a:off x="133350" y="628650"/>
            <a:ext cx="11896725" cy="685800"/>
            <a:chOff x="133350" y="628650"/>
            <a:chExt cx="11896725" cy="685800"/>
          </a:xfrm>
        </p:grpSpPr>
        <p:sp>
          <p:nvSpPr>
            <p:cNvPr id="7" name="Rectangle 7"/>
            <p:cNvSpPr/>
            <p:nvPr/>
          </p:nvSpPr>
          <p:spPr>
            <a:xfrm>
              <a:off x="133350" y="628650"/>
              <a:ext cx="247650" cy="685800"/>
            </a:xfrm>
            <a:prstGeom prst="roundRect">
              <a:avLst>
                <a:gd name="adj" fmla="val 11538"/>
              </a:avLst>
            </a:prstGeom>
            <a:solidFill>
              <a:srgbClr val="C83210"/>
            </a:solidFill>
            <a:ln>
              <a:noFill/>
            </a:ln>
          </p:spPr>
        </p:sp>
        <p:sp>
          <p:nvSpPr>
            <p:cNvPr id="8" name="TextBox 8"/>
            <p:cNvSpPr txBox="1"/>
            <p:nvPr/>
          </p:nvSpPr>
          <p:spPr>
            <a:xfrm>
              <a:off x="197218" y="6919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活</a:t>
              </a:r>
            </a:p>
          </p:txBody>
        </p:sp>
        <p:sp>
          <p:nvSpPr>
            <p:cNvPr id="9" name="TextBox 9"/>
            <p:cNvSpPr txBox="1"/>
            <p:nvPr/>
          </p:nvSpPr>
          <p:spPr>
            <a:xfrm>
              <a:off x="197218" y="8443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动</a:t>
              </a:r>
            </a:p>
          </p:txBody>
        </p:sp>
        <p:sp>
          <p:nvSpPr>
            <p:cNvPr id="10" name="TextBox 10"/>
            <p:cNvSpPr txBox="1"/>
            <p:nvPr/>
          </p:nvSpPr>
          <p:spPr>
            <a:xfrm>
              <a:off x="197218" y="9967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工</a:t>
              </a:r>
            </a:p>
          </p:txBody>
        </p:sp>
        <p:sp>
          <p:nvSpPr>
            <p:cNvPr id="11" name="TextBox 11"/>
            <p:cNvSpPr txBox="1"/>
            <p:nvPr/>
          </p:nvSpPr>
          <p:spPr>
            <a:xfrm>
              <a:off x="197218" y="11491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厂</a:t>
              </a:r>
            </a:p>
          </p:txBody>
        </p:sp>
        <p:sp>
          <p:nvSpPr>
            <p:cNvPr id="12" name="Freeform 12"/>
            <p:cNvSpPr/>
            <p:nvPr/>
          </p:nvSpPr>
          <p:spPr>
            <a:xfrm>
              <a:off x="457200" y="647700"/>
              <a:ext cx="1266825" cy="285750"/>
            </a:xfrm>
            <a:prstGeom prst="chevron">
              <a:avLst>
                <a:gd name="adj" fmla="val 35000"/>
              </a:avLst>
            </a:prstGeom>
            <a:solidFill>
              <a:srgbClr val="FBE3E6"/>
            </a:solidFill>
            <a:ln>
              <a:noFill/>
            </a:ln>
          </p:spPr>
        </p:sp>
        <p:sp>
          <p:nvSpPr>
            <p:cNvPr id="13" name="Freeform 13"/>
            <p:cNvSpPr/>
            <p:nvPr/>
          </p:nvSpPr>
          <p:spPr>
            <a:xfrm>
              <a:off x="1743075" y="647700"/>
              <a:ext cx="1266825" cy="285750"/>
            </a:xfrm>
            <a:prstGeom prst="chevron">
              <a:avLst>
                <a:gd name="adj" fmla="val 35000"/>
              </a:avLst>
            </a:prstGeom>
            <a:solidFill>
              <a:srgbClr val="FBE3E6"/>
            </a:solidFill>
            <a:ln>
              <a:noFill/>
            </a:ln>
          </p:spPr>
        </p:sp>
        <p:sp>
          <p:nvSpPr>
            <p:cNvPr id="14" name="Freeform 14"/>
            <p:cNvSpPr/>
            <p:nvPr/>
          </p:nvSpPr>
          <p:spPr>
            <a:xfrm>
              <a:off x="3028950" y="647700"/>
              <a:ext cx="1266825" cy="285750"/>
            </a:xfrm>
            <a:prstGeom prst="chevron">
              <a:avLst>
                <a:gd name="adj" fmla="val 35000"/>
              </a:avLst>
            </a:prstGeom>
            <a:solidFill>
              <a:srgbClr val="FBE3E6"/>
            </a:solidFill>
            <a:ln>
              <a:noFill/>
            </a:ln>
          </p:spPr>
        </p:sp>
        <p:sp>
          <p:nvSpPr>
            <p:cNvPr id="15" name="Freeform 15"/>
            <p:cNvSpPr/>
            <p:nvPr/>
          </p:nvSpPr>
          <p:spPr>
            <a:xfrm>
              <a:off x="4324350" y="647700"/>
              <a:ext cx="1266825" cy="285750"/>
            </a:xfrm>
            <a:prstGeom prst="chevron">
              <a:avLst>
                <a:gd name="adj" fmla="val 35000"/>
              </a:avLst>
            </a:prstGeom>
            <a:solidFill>
              <a:srgbClr val="FBE3E6"/>
            </a:solidFill>
            <a:ln>
              <a:noFill/>
            </a:ln>
          </p:spPr>
        </p:sp>
        <p:sp>
          <p:nvSpPr>
            <p:cNvPr id="16" name="Freeform 16"/>
            <p:cNvSpPr/>
            <p:nvPr/>
          </p:nvSpPr>
          <p:spPr>
            <a:xfrm>
              <a:off x="5610225" y="647700"/>
              <a:ext cx="1266825" cy="285750"/>
            </a:xfrm>
            <a:prstGeom prst="chevron">
              <a:avLst>
                <a:gd name="adj" fmla="val 35000"/>
              </a:avLst>
            </a:prstGeom>
            <a:solidFill>
              <a:srgbClr val="FBE3E6"/>
            </a:solidFill>
            <a:ln>
              <a:noFill/>
            </a:ln>
          </p:spPr>
        </p:sp>
        <p:sp>
          <p:nvSpPr>
            <p:cNvPr id="17" name="Freeform 17"/>
            <p:cNvSpPr/>
            <p:nvPr/>
          </p:nvSpPr>
          <p:spPr>
            <a:xfrm>
              <a:off x="6896100" y="647700"/>
              <a:ext cx="1266825" cy="285750"/>
            </a:xfrm>
            <a:prstGeom prst="chevron">
              <a:avLst>
                <a:gd name="adj" fmla="val 35000"/>
              </a:avLst>
            </a:prstGeom>
            <a:solidFill>
              <a:srgbClr val="FBE3E6"/>
            </a:solidFill>
            <a:ln>
              <a:noFill/>
            </a:ln>
          </p:spPr>
        </p:sp>
        <p:sp>
          <p:nvSpPr>
            <p:cNvPr id="18" name="Freeform 18"/>
            <p:cNvSpPr/>
            <p:nvPr/>
          </p:nvSpPr>
          <p:spPr>
            <a:xfrm>
              <a:off x="8191500" y="647700"/>
              <a:ext cx="1266825" cy="285750"/>
            </a:xfrm>
            <a:prstGeom prst="chevron">
              <a:avLst>
                <a:gd name="adj" fmla="val 35000"/>
              </a:avLst>
            </a:prstGeom>
            <a:solidFill>
              <a:srgbClr val="FBE3E6"/>
            </a:solidFill>
            <a:ln>
              <a:noFill/>
            </a:ln>
          </p:spPr>
        </p:sp>
        <p:sp>
          <p:nvSpPr>
            <p:cNvPr id="19" name="Freeform 19"/>
            <p:cNvSpPr/>
            <p:nvPr/>
          </p:nvSpPr>
          <p:spPr>
            <a:xfrm>
              <a:off x="9477375" y="647700"/>
              <a:ext cx="1266825" cy="285750"/>
            </a:xfrm>
            <a:prstGeom prst="chevron">
              <a:avLst>
                <a:gd name="adj" fmla="val 35000"/>
              </a:avLst>
            </a:prstGeom>
            <a:solidFill>
              <a:srgbClr val="FBE3E6"/>
            </a:solidFill>
            <a:ln>
              <a:noFill/>
            </a:ln>
          </p:spPr>
        </p:sp>
        <p:sp>
          <p:nvSpPr>
            <p:cNvPr id="20" name="Freeform 20"/>
            <p:cNvSpPr/>
            <p:nvPr/>
          </p:nvSpPr>
          <p:spPr>
            <a:xfrm>
              <a:off x="10763250" y="647700"/>
              <a:ext cx="1266825" cy="285750"/>
            </a:xfrm>
            <a:prstGeom prst="chevron">
              <a:avLst>
                <a:gd name="adj" fmla="val 35000"/>
              </a:avLst>
            </a:prstGeom>
            <a:solidFill>
              <a:srgbClr val="FBE3E6"/>
            </a:solidFill>
            <a:ln>
              <a:noFill/>
            </a:ln>
          </p:spPr>
        </p:sp>
        <p:grpSp>
          <p:nvGrpSpPr>
            <p:cNvPr id="25" name="Group 25"/>
            <p:cNvGrpSpPr/>
            <p:nvPr/>
          </p:nvGrpSpPr>
          <p:grpSpPr>
            <a:xfrm>
              <a:off x="759619" y="740569"/>
              <a:ext cx="100012" cy="100012"/>
              <a:chOff x="759619" y="740569"/>
              <a:chExt cx="100012" cy="100012"/>
            </a:xfrm>
          </p:grpSpPr>
          <p:sp>
            <p:nvSpPr>
              <p:cNvPr id="21" name="Freeform 21"/>
              <p:cNvSpPr/>
              <p:nvPr/>
            </p:nvSpPr>
            <p:spPr>
              <a:xfrm>
                <a:off x="770731" y="7405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C83210"/>
                </a:solidFill>
              </a:ln>
            </p:spPr>
          </p:sp>
          <p:sp>
            <p:nvSpPr>
              <p:cNvPr id="22" name="Freeform 22"/>
              <p:cNvSpPr/>
              <p:nvPr/>
            </p:nvSpPr>
            <p:spPr>
              <a:xfrm>
                <a:off x="759619" y="8072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C83210"/>
                </a:solidFill>
              </a:ln>
            </p:spPr>
          </p:sp>
          <p:sp>
            <p:nvSpPr>
              <p:cNvPr id="23" name="Freeform 23"/>
              <p:cNvSpPr/>
              <p:nvPr/>
            </p:nvSpPr>
            <p:spPr>
              <a:xfrm>
                <a:off x="831850" y="7412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C83210"/>
                </a:solidFill>
              </a:ln>
            </p:spPr>
          </p:sp>
          <p:sp>
            <p:nvSpPr>
              <p:cNvPr id="24" name="Freeform 24"/>
              <p:cNvSpPr/>
              <p:nvPr/>
            </p:nvSpPr>
            <p:spPr>
              <a:xfrm>
                <a:off x="842962" y="8080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C83210"/>
                </a:solidFill>
              </a:ln>
            </p:spPr>
          </p:sp>
        </p:grpSp>
        <p:sp>
          <p:nvSpPr>
            <p:cNvPr id="26" name="TextBox 26"/>
            <p:cNvSpPr txBox="1"/>
            <p:nvPr/>
          </p:nvSpPr>
          <p:spPr>
            <a:xfrm>
              <a:off x="909638" y="757238"/>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客群筛选</a:t>
              </a:r>
            </a:p>
          </p:txBody>
        </p:sp>
        <p:sp>
          <p:nvSpPr>
            <p:cNvPr id="27" name="TextBox 27"/>
            <p:cNvSpPr txBox="1"/>
            <p:nvPr/>
          </p:nvSpPr>
          <p:spPr>
            <a:xfrm>
              <a:off x="822617" y="101703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明确目标人群</a:t>
              </a:r>
            </a:p>
          </p:txBody>
        </p:sp>
        <p:sp>
          <p:nvSpPr>
            <p:cNvPr id="28" name="TextBox 28"/>
            <p:cNvSpPr txBox="1"/>
            <p:nvPr/>
          </p:nvSpPr>
          <p:spPr>
            <a:xfrm>
              <a:off x="822617" y="1150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生成邀约名单</a:t>
              </a:r>
            </a:p>
          </p:txBody>
        </p:sp>
        <p:grpSp>
          <p:nvGrpSpPr>
            <p:cNvPr id="34" name="Group 34"/>
            <p:cNvGrpSpPr/>
            <p:nvPr/>
          </p:nvGrpSpPr>
          <p:grpSpPr>
            <a:xfrm>
              <a:off x="2056606" y="740569"/>
              <a:ext cx="77787" cy="100012"/>
              <a:chOff x="2056606" y="740569"/>
              <a:chExt cx="77787" cy="100012"/>
            </a:xfrm>
          </p:grpSpPr>
          <p:sp>
            <p:nvSpPr>
              <p:cNvPr id="29" name="Freeform 29"/>
              <p:cNvSpPr/>
              <p:nvPr/>
            </p:nvSpPr>
            <p:spPr>
              <a:xfrm>
                <a:off x="2106612" y="7405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C83210"/>
                </a:solidFill>
              </a:ln>
            </p:spPr>
          </p:sp>
          <p:sp>
            <p:nvSpPr>
              <p:cNvPr id="30" name="Freeform 30"/>
              <p:cNvSpPr/>
              <p:nvPr/>
            </p:nvSpPr>
            <p:spPr>
              <a:xfrm>
                <a:off x="2056606" y="7405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C83210"/>
                </a:solidFill>
              </a:ln>
            </p:spPr>
          </p:sp>
          <p:sp>
            <p:nvSpPr>
              <p:cNvPr id="31" name="Freeform 31"/>
              <p:cNvSpPr/>
              <p:nvPr/>
            </p:nvSpPr>
            <p:spPr>
              <a:xfrm>
                <a:off x="2078831" y="773906"/>
                <a:ext cx="9525" cy="9525"/>
              </a:xfrm>
              <a:custGeom>
                <a:avLst/>
                <a:gdLst/>
                <a:ahLst/>
                <a:cxnLst/>
                <a:rect l="l" t="t" r="r" b="b"/>
                <a:pathLst>
                  <a:path w="9525" h="9525">
                    <a:moveTo>
                      <a:pt x="0" y="0"/>
                    </a:moveTo>
                    <a:lnTo>
                      <a:pt x="5556" y="0"/>
                    </a:lnTo>
                  </a:path>
                </a:pathLst>
              </a:custGeom>
              <a:noFill/>
              <a:ln w="11112">
                <a:solidFill>
                  <a:srgbClr val="C83210"/>
                </a:solidFill>
              </a:ln>
            </p:spPr>
          </p:sp>
          <p:sp>
            <p:nvSpPr>
              <p:cNvPr id="32" name="Freeform 32"/>
              <p:cNvSpPr/>
              <p:nvPr/>
            </p:nvSpPr>
            <p:spPr>
              <a:xfrm>
                <a:off x="2078831" y="796131"/>
                <a:ext cx="33337" cy="9525"/>
              </a:xfrm>
              <a:custGeom>
                <a:avLst/>
                <a:gdLst/>
                <a:ahLst/>
                <a:cxnLst/>
                <a:rect l="l" t="t" r="r" b="b"/>
                <a:pathLst>
                  <a:path w="33337" h="9525">
                    <a:moveTo>
                      <a:pt x="0" y="0"/>
                    </a:moveTo>
                    <a:lnTo>
                      <a:pt x="33337" y="0"/>
                    </a:lnTo>
                  </a:path>
                </a:pathLst>
              </a:custGeom>
              <a:noFill/>
              <a:ln w="11112">
                <a:solidFill>
                  <a:srgbClr val="C83210"/>
                </a:solidFill>
              </a:ln>
            </p:spPr>
          </p:sp>
          <p:sp>
            <p:nvSpPr>
              <p:cNvPr id="33" name="Freeform 33"/>
              <p:cNvSpPr/>
              <p:nvPr/>
            </p:nvSpPr>
            <p:spPr>
              <a:xfrm>
                <a:off x="2078831" y="818356"/>
                <a:ext cx="33337" cy="9525"/>
              </a:xfrm>
              <a:custGeom>
                <a:avLst/>
                <a:gdLst/>
                <a:ahLst/>
                <a:cxnLst/>
                <a:rect l="l" t="t" r="r" b="b"/>
                <a:pathLst>
                  <a:path w="33337" h="9525">
                    <a:moveTo>
                      <a:pt x="0" y="0"/>
                    </a:moveTo>
                    <a:lnTo>
                      <a:pt x="33337" y="0"/>
                    </a:lnTo>
                  </a:path>
                </a:pathLst>
              </a:custGeom>
              <a:noFill/>
              <a:ln w="11112">
                <a:solidFill>
                  <a:srgbClr val="C83210"/>
                </a:solidFill>
              </a:ln>
            </p:spPr>
          </p:sp>
        </p:grpSp>
        <p:sp>
          <p:nvSpPr>
            <p:cNvPr id="35" name="TextBox 35"/>
            <p:cNvSpPr txBox="1"/>
            <p:nvPr/>
          </p:nvSpPr>
          <p:spPr>
            <a:xfrm>
              <a:off x="2195512" y="757238"/>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主题策划</a:t>
              </a:r>
            </a:p>
          </p:txBody>
        </p:sp>
        <p:sp>
          <p:nvSpPr>
            <p:cNvPr id="36" name="TextBox 36"/>
            <p:cNvSpPr txBox="1"/>
            <p:nvPr/>
          </p:nvSpPr>
          <p:spPr>
            <a:xfrm>
              <a:off x="2108492" y="101703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结合客群需求</a:t>
              </a:r>
            </a:p>
          </p:txBody>
        </p:sp>
        <p:sp>
          <p:nvSpPr>
            <p:cNvPr id="37" name="TextBox 37"/>
            <p:cNvSpPr txBox="1"/>
            <p:nvPr/>
          </p:nvSpPr>
          <p:spPr>
            <a:xfrm>
              <a:off x="2108492" y="1150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设计活动主题</a:t>
              </a:r>
            </a:p>
          </p:txBody>
        </p:sp>
        <p:grpSp>
          <p:nvGrpSpPr>
            <p:cNvPr id="41" name="Group 41"/>
            <p:cNvGrpSpPr/>
            <p:nvPr/>
          </p:nvGrpSpPr>
          <p:grpSpPr>
            <a:xfrm>
              <a:off x="3331369" y="745894"/>
              <a:ext cx="100012" cy="89131"/>
              <a:chOff x="3331369" y="745894"/>
              <a:chExt cx="100012" cy="89131"/>
            </a:xfrm>
          </p:grpSpPr>
          <p:sp>
            <p:nvSpPr>
              <p:cNvPr id="38" name="Freeform 38"/>
              <p:cNvSpPr/>
              <p:nvPr/>
            </p:nvSpPr>
            <p:spPr>
              <a:xfrm>
                <a:off x="3414712" y="768350"/>
                <a:ext cx="16669" cy="33337"/>
              </a:xfrm>
              <a:custGeom>
                <a:avLst/>
                <a:gdLst/>
                <a:ahLst/>
                <a:cxnLst/>
                <a:rect l="l" t="t" r="r" b="b"/>
                <a:pathLst>
                  <a:path w="16669" h="33337">
                    <a:moveTo>
                      <a:pt x="0" y="0"/>
                    </a:moveTo>
                    <a:cubicBezTo>
                      <a:pt x="9206" y="0"/>
                      <a:pt x="16669" y="7463"/>
                      <a:pt x="16669" y="16669"/>
                    </a:cubicBezTo>
                    <a:cubicBezTo>
                      <a:pt x="16669" y="25875"/>
                      <a:pt x="9206" y="33337"/>
                      <a:pt x="0" y="33337"/>
                    </a:cubicBezTo>
                  </a:path>
                </a:pathLst>
              </a:custGeom>
              <a:noFill/>
              <a:ln w="11112">
                <a:solidFill>
                  <a:srgbClr val="C83210"/>
                </a:solidFill>
              </a:ln>
            </p:spPr>
          </p:sp>
          <p:sp>
            <p:nvSpPr>
              <p:cNvPr id="39" name="Freeform 39"/>
              <p:cNvSpPr/>
              <p:nvPr/>
            </p:nvSpPr>
            <p:spPr>
              <a:xfrm>
                <a:off x="3353594" y="768350"/>
                <a:ext cx="16669" cy="66675"/>
              </a:xfrm>
              <a:custGeom>
                <a:avLst/>
                <a:gdLst/>
                <a:ahLst/>
                <a:cxnLst/>
                <a:rect l="l" t="t" r="r" b="b"/>
                <a:pathLst>
                  <a:path w="16669" h="66675">
                    <a:moveTo>
                      <a:pt x="16669" y="0"/>
                    </a:moveTo>
                    <a:lnTo>
                      <a:pt x="16669" y="61119"/>
                    </a:lnTo>
                    <a:cubicBezTo>
                      <a:pt x="16669" y="64187"/>
                      <a:pt x="14181" y="66675"/>
                      <a:pt x="11112" y="66675"/>
                    </a:cubicBezTo>
                    <a:lnTo>
                      <a:pt x="5556" y="66675"/>
                    </a:lnTo>
                    <a:cubicBezTo>
                      <a:pt x="2488" y="66675"/>
                      <a:pt x="0" y="64187"/>
                      <a:pt x="0" y="61119"/>
                    </a:cubicBezTo>
                    <a:lnTo>
                      <a:pt x="0" y="33337"/>
                    </a:lnTo>
                  </a:path>
                </a:pathLst>
              </a:custGeom>
              <a:noFill/>
              <a:ln w="11112">
                <a:solidFill>
                  <a:srgbClr val="C83210"/>
                </a:solidFill>
              </a:ln>
            </p:spPr>
          </p:sp>
          <p:sp>
            <p:nvSpPr>
              <p:cNvPr id="40" name="Freeform 40"/>
              <p:cNvSpPr/>
              <p:nvPr/>
            </p:nvSpPr>
            <p:spPr>
              <a:xfrm>
                <a:off x="3331369" y="745894"/>
                <a:ext cx="83345" cy="78250"/>
              </a:xfrm>
              <a:custGeom>
                <a:avLst/>
                <a:gdLst/>
                <a:ahLst/>
                <a:cxnLst/>
                <a:rect l="l" t="t" r="r" b="b"/>
                <a:pathLst>
                  <a:path w="83345" h="78250">
                    <a:moveTo>
                      <a:pt x="50006" y="22456"/>
                    </a:moveTo>
                    <a:lnTo>
                      <a:pt x="75143" y="1509"/>
                    </a:lnTo>
                    <a:cubicBezTo>
                      <a:pt x="76634" y="267"/>
                      <a:pt x="78709" y="0"/>
                      <a:pt x="80466" y="824"/>
                    </a:cubicBezTo>
                    <a:cubicBezTo>
                      <a:pt x="82223" y="1648"/>
                      <a:pt x="83345" y="3413"/>
                      <a:pt x="83344" y="5354"/>
                    </a:cubicBezTo>
                    <a:lnTo>
                      <a:pt x="83344" y="72896"/>
                    </a:lnTo>
                    <a:cubicBezTo>
                      <a:pt x="83345" y="74836"/>
                      <a:pt x="82223" y="76602"/>
                      <a:pt x="80466" y="77426"/>
                    </a:cubicBezTo>
                    <a:cubicBezTo>
                      <a:pt x="78709" y="78250"/>
                      <a:pt x="76634" y="77983"/>
                      <a:pt x="75143" y="76741"/>
                    </a:cubicBezTo>
                    <a:lnTo>
                      <a:pt x="50006" y="55794"/>
                    </a:lnTo>
                    <a:lnTo>
                      <a:pt x="5556" y="55794"/>
                    </a:lnTo>
                    <a:cubicBezTo>
                      <a:pt x="2488" y="55794"/>
                      <a:pt x="0" y="53306"/>
                      <a:pt x="0" y="50237"/>
                    </a:cubicBezTo>
                    <a:lnTo>
                      <a:pt x="0" y="28012"/>
                    </a:lnTo>
                    <a:cubicBezTo>
                      <a:pt x="0" y="24944"/>
                      <a:pt x="2488" y="22456"/>
                      <a:pt x="5556" y="22456"/>
                    </a:cubicBezTo>
                    <a:lnTo>
                      <a:pt x="50006" y="22456"/>
                    </a:lnTo>
                  </a:path>
                </a:pathLst>
              </a:custGeom>
              <a:noFill/>
              <a:ln w="11112">
                <a:solidFill>
                  <a:srgbClr val="C83210"/>
                </a:solidFill>
              </a:ln>
            </p:spPr>
          </p:sp>
        </p:grpSp>
        <p:sp>
          <p:nvSpPr>
            <p:cNvPr id="42" name="TextBox 42"/>
            <p:cNvSpPr txBox="1"/>
            <p:nvPr/>
          </p:nvSpPr>
          <p:spPr>
            <a:xfrm>
              <a:off x="3481388" y="757238"/>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内容预热</a:t>
              </a:r>
            </a:p>
          </p:txBody>
        </p:sp>
        <p:sp>
          <p:nvSpPr>
            <p:cNvPr id="43" name="TextBox 43"/>
            <p:cNvSpPr txBox="1"/>
            <p:nvPr/>
          </p:nvSpPr>
          <p:spPr>
            <a:xfrm>
              <a:off x="3437446" y="1017032"/>
              <a:ext cx="4403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多渠道触达</a:t>
              </a:r>
            </a:p>
          </p:txBody>
        </p:sp>
        <p:sp>
          <p:nvSpPr>
            <p:cNvPr id="44" name="TextBox 44"/>
            <p:cNvSpPr txBox="1"/>
            <p:nvPr/>
          </p:nvSpPr>
          <p:spPr>
            <a:xfrm>
              <a:off x="3394367" y="1150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引发参与兴趣</a:t>
              </a:r>
            </a:p>
          </p:txBody>
        </p:sp>
        <p:grpSp>
          <p:nvGrpSpPr>
            <p:cNvPr id="49" name="Group 49"/>
            <p:cNvGrpSpPr/>
            <p:nvPr/>
          </p:nvGrpSpPr>
          <p:grpSpPr>
            <a:xfrm>
              <a:off x="4637881" y="746125"/>
              <a:ext cx="83343" cy="94456"/>
              <a:chOff x="4637881" y="746125"/>
              <a:chExt cx="83343" cy="94456"/>
            </a:xfrm>
          </p:grpSpPr>
          <p:sp>
            <p:nvSpPr>
              <p:cNvPr id="45" name="Freeform 45"/>
              <p:cNvSpPr/>
              <p:nvPr/>
            </p:nvSpPr>
            <p:spPr>
              <a:xfrm>
                <a:off x="4637881" y="746125"/>
                <a:ext cx="66675" cy="88900"/>
              </a:xfrm>
              <a:custGeom>
                <a:avLst/>
                <a:gdLst/>
                <a:ahLst/>
                <a:cxnLst/>
                <a:rect l="l" t="t" r="r" b="b"/>
                <a:pathLst>
                  <a:path w="66675" h="88900">
                    <a:moveTo>
                      <a:pt x="25642" y="88900"/>
                    </a:moveTo>
                    <a:lnTo>
                      <a:pt x="11112" y="88900"/>
                    </a:lnTo>
                    <a:cubicBezTo>
                      <a:pt x="4975" y="88900"/>
                      <a:pt x="0" y="83925"/>
                      <a:pt x="0" y="77787"/>
                    </a:cubicBezTo>
                    <a:lnTo>
                      <a:pt x="0" y="11112"/>
                    </a:lnTo>
                    <a:cubicBezTo>
                      <a:pt x="0" y="4975"/>
                      <a:pt x="4975" y="0"/>
                      <a:pt x="11112" y="0"/>
                    </a:cubicBezTo>
                    <a:lnTo>
                      <a:pt x="55562" y="0"/>
                    </a:lnTo>
                    <a:cubicBezTo>
                      <a:pt x="61700" y="0"/>
                      <a:pt x="66675" y="4975"/>
                      <a:pt x="66675" y="11112"/>
                    </a:cubicBezTo>
                    <a:lnTo>
                      <a:pt x="66675" y="55562"/>
                    </a:lnTo>
                  </a:path>
                </a:pathLst>
              </a:custGeom>
              <a:noFill/>
              <a:ln w="11112">
                <a:solidFill>
                  <a:srgbClr val="C83210"/>
                </a:solidFill>
              </a:ln>
            </p:spPr>
          </p:sp>
          <p:sp>
            <p:nvSpPr>
              <p:cNvPr id="46" name="Freeform 46"/>
              <p:cNvSpPr/>
              <p:nvPr/>
            </p:nvSpPr>
            <p:spPr>
              <a:xfrm>
                <a:off x="4687887" y="818356"/>
                <a:ext cx="33337" cy="22225"/>
              </a:xfrm>
              <a:custGeom>
                <a:avLst/>
                <a:gdLst/>
                <a:ahLst/>
                <a:cxnLst/>
                <a:rect l="l" t="t" r="r" b="b"/>
                <a:pathLst>
                  <a:path w="33337" h="22225">
                    <a:moveTo>
                      <a:pt x="0" y="11112"/>
                    </a:moveTo>
                    <a:lnTo>
                      <a:pt x="11112" y="22225"/>
                    </a:lnTo>
                    <a:lnTo>
                      <a:pt x="33337" y="0"/>
                    </a:lnTo>
                  </a:path>
                </a:pathLst>
              </a:custGeom>
              <a:noFill/>
              <a:ln w="11112">
                <a:solidFill>
                  <a:srgbClr val="C83210"/>
                </a:solidFill>
              </a:ln>
            </p:spPr>
          </p:sp>
          <p:sp>
            <p:nvSpPr>
              <p:cNvPr id="47" name="Freeform 47"/>
              <p:cNvSpPr/>
              <p:nvPr/>
            </p:nvSpPr>
            <p:spPr>
              <a:xfrm>
                <a:off x="4660106" y="768350"/>
                <a:ext cx="22225" cy="9525"/>
              </a:xfrm>
              <a:custGeom>
                <a:avLst/>
                <a:gdLst/>
                <a:ahLst/>
                <a:cxnLst/>
                <a:rect l="l" t="t" r="r" b="b"/>
                <a:pathLst>
                  <a:path w="22225" h="9525">
                    <a:moveTo>
                      <a:pt x="0" y="0"/>
                    </a:moveTo>
                    <a:lnTo>
                      <a:pt x="22225" y="0"/>
                    </a:lnTo>
                  </a:path>
                </a:pathLst>
              </a:custGeom>
              <a:noFill/>
              <a:ln w="11112">
                <a:solidFill>
                  <a:srgbClr val="C83210"/>
                </a:solidFill>
              </a:ln>
            </p:spPr>
          </p:sp>
          <p:sp>
            <p:nvSpPr>
              <p:cNvPr id="48" name="Freeform 48"/>
              <p:cNvSpPr/>
              <p:nvPr/>
            </p:nvSpPr>
            <p:spPr>
              <a:xfrm>
                <a:off x="4660106" y="790575"/>
                <a:ext cx="11112" cy="9525"/>
              </a:xfrm>
              <a:custGeom>
                <a:avLst/>
                <a:gdLst/>
                <a:ahLst/>
                <a:cxnLst/>
                <a:rect l="l" t="t" r="r" b="b"/>
                <a:pathLst>
                  <a:path w="11112" h="9525">
                    <a:moveTo>
                      <a:pt x="0" y="0"/>
                    </a:moveTo>
                    <a:lnTo>
                      <a:pt x="11112" y="0"/>
                    </a:lnTo>
                  </a:path>
                </a:pathLst>
              </a:custGeom>
              <a:noFill/>
              <a:ln w="11112">
                <a:solidFill>
                  <a:srgbClr val="C83210"/>
                </a:solidFill>
              </a:ln>
            </p:spPr>
          </p:sp>
        </p:grpSp>
        <p:sp>
          <p:nvSpPr>
            <p:cNvPr id="50" name="TextBox 50"/>
            <p:cNvSpPr txBox="1"/>
            <p:nvPr/>
          </p:nvSpPr>
          <p:spPr>
            <a:xfrm>
              <a:off x="4776788" y="757238"/>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报名预约</a:t>
              </a:r>
            </a:p>
          </p:txBody>
        </p:sp>
        <p:sp>
          <p:nvSpPr>
            <p:cNvPr id="51" name="TextBox 51"/>
            <p:cNvSpPr txBox="1"/>
            <p:nvPr/>
          </p:nvSpPr>
          <p:spPr>
            <a:xfrm>
              <a:off x="4622996" y="1017032"/>
              <a:ext cx="6600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企微/小程序报名</a:t>
              </a:r>
            </a:p>
          </p:txBody>
        </p:sp>
        <p:sp>
          <p:nvSpPr>
            <p:cNvPr id="52" name="TextBox 52"/>
            <p:cNvSpPr txBox="1"/>
            <p:nvPr/>
          </p:nvSpPr>
          <p:spPr>
            <a:xfrm>
              <a:off x="4689767" y="1150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沉淀客户信息</a:t>
              </a:r>
            </a:p>
          </p:txBody>
        </p:sp>
        <p:sp>
          <p:nvSpPr>
            <p:cNvPr id="53" name="Freeform 53"/>
            <p:cNvSpPr/>
            <p:nvPr/>
          </p:nvSpPr>
          <p:spPr>
            <a:xfrm>
              <a:off x="5934869" y="746125"/>
              <a:ext cx="72231" cy="88900"/>
            </a:xfrm>
            <a:custGeom>
              <a:avLst/>
              <a:gdLst/>
              <a:ahLst/>
              <a:cxnLst/>
              <a:rect l="l" t="t" r="r" b="b"/>
              <a:pathLst>
                <a:path w="72231" h="88900">
                  <a:moveTo>
                    <a:pt x="0" y="0"/>
                  </a:moveTo>
                  <a:lnTo>
                    <a:pt x="0" y="88900"/>
                  </a:lnTo>
                  <a:lnTo>
                    <a:pt x="72231" y="44450"/>
                  </a:lnTo>
                  <a:lnTo>
                    <a:pt x="0" y="0"/>
                  </a:lnTo>
                </a:path>
              </a:pathLst>
            </a:custGeom>
            <a:noFill/>
            <a:ln w="11112">
              <a:solidFill>
                <a:srgbClr val="C83210"/>
              </a:solidFill>
            </a:ln>
          </p:spPr>
        </p:sp>
        <p:sp>
          <p:nvSpPr>
            <p:cNvPr id="54" name="TextBox 54"/>
            <p:cNvSpPr txBox="1"/>
            <p:nvPr/>
          </p:nvSpPr>
          <p:spPr>
            <a:xfrm>
              <a:off x="6062662" y="757238"/>
              <a:ext cx="471692"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直播/活动</a:t>
              </a:r>
            </a:p>
          </p:txBody>
        </p:sp>
        <p:sp>
          <p:nvSpPr>
            <p:cNvPr id="55" name="TextBox 55"/>
            <p:cNvSpPr txBox="1"/>
            <p:nvPr/>
          </p:nvSpPr>
          <p:spPr>
            <a:xfrm>
              <a:off x="5932564" y="1017032"/>
              <a:ext cx="61262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高质量内容呈现</a:t>
              </a:r>
            </a:p>
          </p:txBody>
        </p:sp>
        <p:sp>
          <p:nvSpPr>
            <p:cNvPr id="56" name="TextBox 56"/>
            <p:cNvSpPr txBox="1"/>
            <p:nvPr/>
          </p:nvSpPr>
          <p:spPr>
            <a:xfrm>
              <a:off x="5975642" y="1150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实时互动交流</a:t>
              </a:r>
            </a:p>
          </p:txBody>
        </p:sp>
        <p:grpSp>
          <p:nvGrpSpPr>
            <p:cNvPr id="61" name="Group 61"/>
            <p:cNvGrpSpPr/>
            <p:nvPr/>
          </p:nvGrpSpPr>
          <p:grpSpPr>
            <a:xfrm>
              <a:off x="7198519" y="746125"/>
              <a:ext cx="100012" cy="98425"/>
              <a:chOff x="7198519" y="746125"/>
              <a:chExt cx="100012" cy="98425"/>
            </a:xfrm>
          </p:grpSpPr>
          <p:sp>
            <p:nvSpPr>
              <p:cNvPr id="57" name="Freeform 57"/>
              <p:cNvSpPr/>
              <p:nvPr/>
            </p:nvSpPr>
            <p:spPr>
              <a:xfrm>
                <a:off x="7198519" y="790575"/>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C83210"/>
                </a:solidFill>
              </a:ln>
            </p:spPr>
          </p:sp>
          <p:sp>
            <p:nvSpPr>
              <p:cNvPr id="58" name="Freeform 58"/>
              <p:cNvSpPr/>
              <p:nvPr/>
            </p:nvSpPr>
            <p:spPr>
              <a:xfrm>
                <a:off x="7265194" y="768350"/>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C83210"/>
                </a:solidFill>
              </a:ln>
            </p:spPr>
          </p:sp>
          <p:sp>
            <p:nvSpPr>
              <p:cNvPr id="59" name="Freeform 59"/>
              <p:cNvSpPr/>
              <p:nvPr/>
            </p:nvSpPr>
            <p:spPr>
              <a:xfrm>
                <a:off x="7231856" y="746125"/>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C83210"/>
                </a:solidFill>
              </a:ln>
            </p:spPr>
          </p:sp>
          <p:sp>
            <p:nvSpPr>
              <p:cNvPr id="60" name="Freeform 60"/>
              <p:cNvSpPr/>
              <p:nvPr/>
            </p:nvSpPr>
            <p:spPr>
              <a:xfrm>
                <a:off x="7204075" y="835025"/>
                <a:ext cx="77787" cy="9525"/>
              </a:xfrm>
              <a:custGeom>
                <a:avLst/>
                <a:gdLst/>
                <a:ahLst/>
                <a:cxnLst/>
                <a:rect l="l" t="t" r="r" b="b"/>
                <a:pathLst>
                  <a:path w="77787" h="9525">
                    <a:moveTo>
                      <a:pt x="0" y="0"/>
                    </a:moveTo>
                    <a:lnTo>
                      <a:pt x="77787" y="0"/>
                    </a:lnTo>
                  </a:path>
                </a:pathLst>
              </a:custGeom>
              <a:noFill/>
              <a:ln w="11112">
                <a:solidFill>
                  <a:srgbClr val="C83210"/>
                </a:solidFill>
              </a:ln>
            </p:spPr>
          </p:sp>
        </p:grpSp>
        <p:sp>
          <p:nvSpPr>
            <p:cNvPr id="62" name="TextBox 62"/>
            <p:cNvSpPr txBox="1"/>
            <p:nvPr/>
          </p:nvSpPr>
          <p:spPr>
            <a:xfrm>
              <a:off x="7348538" y="757238"/>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行为评分</a:t>
              </a:r>
            </a:p>
          </p:txBody>
        </p:sp>
        <p:sp>
          <p:nvSpPr>
            <p:cNvPr id="63" name="TextBox 63"/>
            <p:cNvSpPr txBox="1"/>
            <p:nvPr/>
          </p:nvSpPr>
          <p:spPr>
            <a:xfrm>
              <a:off x="7261517" y="101703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多维行为数据</a:t>
              </a:r>
            </a:p>
          </p:txBody>
        </p:sp>
        <p:sp>
          <p:nvSpPr>
            <p:cNvPr id="64" name="TextBox 64"/>
            <p:cNvSpPr txBox="1"/>
            <p:nvPr/>
          </p:nvSpPr>
          <p:spPr>
            <a:xfrm>
              <a:off x="7261517" y="1150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自动计算评分</a:t>
              </a:r>
            </a:p>
          </p:txBody>
        </p:sp>
        <p:grpSp>
          <p:nvGrpSpPr>
            <p:cNvPr id="71" name="Group 71"/>
            <p:cNvGrpSpPr/>
            <p:nvPr/>
          </p:nvGrpSpPr>
          <p:grpSpPr>
            <a:xfrm>
              <a:off x="8493919" y="740569"/>
              <a:ext cx="100012" cy="100012"/>
              <a:chOff x="8493919" y="740569"/>
              <a:chExt cx="100012" cy="100012"/>
            </a:xfrm>
          </p:grpSpPr>
          <p:sp>
            <p:nvSpPr>
              <p:cNvPr id="65" name="Freeform 65"/>
              <p:cNvSpPr/>
              <p:nvPr/>
            </p:nvSpPr>
            <p:spPr>
              <a:xfrm>
                <a:off x="8532812" y="78501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66" name="Freeform 66"/>
              <p:cNvSpPr/>
              <p:nvPr/>
            </p:nvSpPr>
            <p:spPr>
              <a:xfrm>
                <a:off x="8521700" y="823912"/>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C83210"/>
                </a:solidFill>
              </a:ln>
            </p:spPr>
          </p:sp>
          <p:sp>
            <p:nvSpPr>
              <p:cNvPr id="67" name="Freeform 67"/>
              <p:cNvSpPr/>
              <p:nvPr/>
            </p:nvSpPr>
            <p:spPr>
              <a:xfrm>
                <a:off x="8560594" y="7405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68" name="Freeform 68"/>
              <p:cNvSpPr/>
              <p:nvPr/>
            </p:nvSpPr>
            <p:spPr>
              <a:xfrm>
                <a:off x="8571706" y="779462"/>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C83210"/>
                </a:solidFill>
              </a:ln>
            </p:spPr>
          </p:sp>
          <p:sp>
            <p:nvSpPr>
              <p:cNvPr id="69" name="Freeform 69"/>
              <p:cNvSpPr/>
              <p:nvPr/>
            </p:nvSpPr>
            <p:spPr>
              <a:xfrm>
                <a:off x="8505031" y="7405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70" name="Freeform 70"/>
              <p:cNvSpPr/>
              <p:nvPr/>
            </p:nvSpPr>
            <p:spPr>
              <a:xfrm>
                <a:off x="8493919" y="779462"/>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C83210"/>
                </a:solidFill>
              </a:ln>
            </p:spPr>
          </p:sp>
        </p:grpSp>
        <p:sp>
          <p:nvSpPr>
            <p:cNvPr id="72" name="TextBox 72"/>
            <p:cNvSpPr txBox="1"/>
            <p:nvPr/>
          </p:nvSpPr>
          <p:spPr>
            <a:xfrm>
              <a:off x="8643938" y="757238"/>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线索分配</a:t>
              </a:r>
            </a:p>
          </p:txBody>
        </p:sp>
        <p:sp>
          <p:nvSpPr>
            <p:cNvPr id="73" name="TextBox 73"/>
            <p:cNvSpPr txBox="1"/>
            <p:nvPr/>
          </p:nvSpPr>
          <p:spPr>
            <a:xfrm>
              <a:off x="8599996" y="1017032"/>
              <a:ext cx="4403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按评分规则</a:t>
              </a:r>
            </a:p>
          </p:txBody>
        </p:sp>
        <p:sp>
          <p:nvSpPr>
            <p:cNvPr id="74" name="TextBox 74"/>
            <p:cNvSpPr txBox="1"/>
            <p:nvPr/>
          </p:nvSpPr>
          <p:spPr>
            <a:xfrm>
              <a:off x="8403989" y="1150382"/>
              <a:ext cx="83232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分配至网点/客户经理</a:t>
              </a:r>
            </a:p>
          </p:txBody>
        </p:sp>
        <p:grpSp>
          <p:nvGrpSpPr>
            <p:cNvPr id="78" name="Group 78"/>
            <p:cNvGrpSpPr/>
            <p:nvPr/>
          </p:nvGrpSpPr>
          <p:grpSpPr>
            <a:xfrm>
              <a:off x="9796462" y="740569"/>
              <a:ext cx="83344" cy="100012"/>
              <a:chOff x="9796462" y="740569"/>
              <a:chExt cx="83344" cy="100012"/>
            </a:xfrm>
          </p:grpSpPr>
          <p:sp>
            <p:nvSpPr>
              <p:cNvPr id="75" name="Freeform 75"/>
              <p:cNvSpPr/>
              <p:nvPr/>
            </p:nvSpPr>
            <p:spPr>
              <a:xfrm>
                <a:off x="9807575" y="7405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C83210"/>
                </a:solidFill>
              </a:ln>
            </p:spPr>
          </p:sp>
          <p:sp>
            <p:nvSpPr>
              <p:cNvPr id="76" name="Freeform 76"/>
              <p:cNvSpPr/>
              <p:nvPr/>
            </p:nvSpPr>
            <p:spPr>
              <a:xfrm>
                <a:off x="9796462" y="80724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C83210"/>
                </a:solidFill>
              </a:ln>
            </p:spPr>
          </p:sp>
          <p:sp>
            <p:nvSpPr>
              <p:cNvPr id="77" name="Freeform 77"/>
              <p:cNvSpPr/>
              <p:nvPr/>
            </p:nvSpPr>
            <p:spPr>
              <a:xfrm>
                <a:off x="9846469" y="818356"/>
                <a:ext cx="33337" cy="22225"/>
              </a:xfrm>
              <a:custGeom>
                <a:avLst/>
                <a:gdLst/>
                <a:ahLst/>
                <a:cxnLst/>
                <a:rect l="l" t="t" r="r" b="b"/>
                <a:pathLst>
                  <a:path w="33337" h="22225">
                    <a:moveTo>
                      <a:pt x="0" y="11112"/>
                    </a:moveTo>
                    <a:lnTo>
                      <a:pt x="11112" y="22225"/>
                    </a:lnTo>
                    <a:lnTo>
                      <a:pt x="33337" y="0"/>
                    </a:lnTo>
                  </a:path>
                </a:pathLst>
              </a:custGeom>
              <a:noFill/>
              <a:ln w="11112">
                <a:solidFill>
                  <a:srgbClr val="C83210"/>
                </a:solidFill>
              </a:ln>
            </p:spPr>
          </p:sp>
        </p:grpSp>
        <p:sp>
          <p:nvSpPr>
            <p:cNvPr id="79" name="TextBox 79"/>
            <p:cNvSpPr txBox="1"/>
            <p:nvPr/>
          </p:nvSpPr>
          <p:spPr>
            <a:xfrm>
              <a:off x="9929812" y="757238"/>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跟进转化</a:t>
              </a:r>
            </a:p>
          </p:txBody>
        </p:sp>
        <p:sp>
          <p:nvSpPr>
            <p:cNvPr id="80" name="TextBox 80"/>
            <p:cNvSpPr txBox="1"/>
            <p:nvPr/>
          </p:nvSpPr>
          <p:spPr>
            <a:xfrm>
              <a:off x="9885871" y="1017032"/>
              <a:ext cx="4403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一对一跟进</a:t>
              </a:r>
            </a:p>
          </p:txBody>
        </p:sp>
        <p:sp>
          <p:nvSpPr>
            <p:cNvPr id="81" name="TextBox 81"/>
            <p:cNvSpPr txBox="1"/>
            <p:nvPr/>
          </p:nvSpPr>
          <p:spPr>
            <a:xfrm>
              <a:off x="9842792" y="1150382"/>
              <a:ext cx="5264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推动产品转化</a:t>
              </a:r>
            </a:p>
          </p:txBody>
        </p:sp>
        <p:grpSp>
          <p:nvGrpSpPr>
            <p:cNvPr id="86" name="Group 86"/>
            <p:cNvGrpSpPr/>
            <p:nvPr/>
          </p:nvGrpSpPr>
          <p:grpSpPr>
            <a:xfrm>
              <a:off x="11122819" y="740569"/>
              <a:ext cx="100012" cy="100012"/>
              <a:chOff x="11122819" y="740569"/>
              <a:chExt cx="100012" cy="100012"/>
            </a:xfrm>
          </p:grpSpPr>
          <p:sp>
            <p:nvSpPr>
              <p:cNvPr id="82" name="Freeform 82"/>
              <p:cNvSpPr/>
              <p:nvPr/>
            </p:nvSpPr>
            <p:spPr>
              <a:xfrm>
                <a:off x="11178381" y="796131"/>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C83210"/>
                </a:solidFill>
              </a:ln>
            </p:spPr>
          </p:sp>
          <p:sp>
            <p:nvSpPr>
              <p:cNvPr id="83" name="Freeform 83"/>
              <p:cNvSpPr/>
              <p:nvPr/>
            </p:nvSpPr>
            <p:spPr>
              <a:xfrm>
                <a:off x="11200606" y="796131"/>
                <a:ext cx="22225" cy="22225"/>
              </a:xfrm>
              <a:custGeom>
                <a:avLst/>
                <a:gdLst/>
                <a:ahLst/>
                <a:cxnLst/>
                <a:rect l="l" t="t" r="r" b="b"/>
                <a:pathLst>
                  <a:path w="22225" h="22225">
                    <a:moveTo>
                      <a:pt x="0" y="0"/>
                    </a:moveTo>
                    <a:lnTo>
                      <a:pt x="0" y="22225"/>
                    </a:lnTo>
                    <a:lnTo>
                      <a:pt x="22225" y="22225"/>
                    </a:lnTo>
                  </a:path>
                </a:pathLst>
              </a:custGeom>
              <a:noFill/>
              <a:ln w="11112">
                <a:solidFill>
                  <a:srgbClr val="C83210"/>
                </a:solidFill>
              </a:ln>
            </p:spPr>
          </p:sp>
          <p:sp>
            <p:nvSpPr>
              <p:cNvPr id="84" name="Freeform 84"/>
              <p:cNvSpPr/>
              <p:nvPr/>
            </p:nvSpPr>
            <p:spPr>
              <a:xfrm>
                <a:off x="11172825" y="7405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C83210"/>
                </a:solidFill>
              </a:ln>
            </p:spPr>
          </p:sp>
          <p:sp>
            <p:nvSpPr>
              <p:cNvPr id="85" name="Freeform 85"/>
              <p:cNvSpPr/>
              <p:nvPr/>
            </p:nvSpPr>
            <p:spPr>
              <a:xfrm>
                <a:off x="11122819" y="740569"/>
                <a:ext cx="77787" cy="100012"/>
              </a:xfrm>
              <a:custGeom>
                <a:avLst/>
                <a:gdLst/>
                <a:ahLst/>
                <a:cxnLst/>
                <a:rect l="l" t="t" r="r" b="b"/>
                <a:pathLst>
                  <a:path w="77787" h="100012">
                    <a:moveTo>
                      <a:pt x="47228"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38894"/>
                    </a:lnTo>
                    <a:moveTo>
                      <a:pt x="77787" y="55562"/>
                    </a:moveTo>
                    <a:lnTo>
                      <a:pt x="77787" y="77787"/>
                    </a:lnTo>
                  </a:path>
                </a:pathLst>
              </a:custGeom>
              <a:noFill/>
              <a:ln w="11112">
                <a:solidFill>
                  <a:srgbClr val="C83210"/>
                </a:solidFill>
              </a:ln>
            </p:spPr>
          </p:sp>
        </p:grpSp>
        <p:sp>
          <p:nvSpPr>
            <p:cNvPr id="87" name="TextBox 87"/>
            <p:cNvSpPr txBox="1"/>
            <p:nvPr/>
          </p:nvSpPr>
          <p:spPr>
            <a:xfrm>
              <a:off x="11272838" y="757238"/>
              <a:ext cx="21145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复盘</a:t>
              </a:r>
            </a:p>
          </p:txBody>
        </p:sp>
        <p:sp>
          <p:nvSpPr>
            <p:cNvPr id="88" name="TextBox 88"/>
            <p:cNvSpPr txBox="1"/>
            <p:nvPr/>
          </p:nvSpPr>
          <p:spPr>
            <a:xfrm>
              <a:off x="11214824" y="1017032"/>
              <a:ext cx="3541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效果分析</a:t>
              </a:r>
            </a:p>
          </p:txBody>
        </p:sp>
        <p:sp>
          <p:nvSpPr>
            <p:cNvPr id="89" name="TextBox 89"/>
            <p:cNvSpPr txBox="1"/>
            <p:nvPr/>
          </p:nvSpPr>
          <p:spPr>
            <a:xfrm>
              <a:off x="11214824" y="1150382"/>
              <a:ext cx="3541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优化迭代</a:t>
              </a:r>
            </a:p>
          </p:txBody>
        </p:sp>
      </p:grpSp>
      <p:grpSp>
        <p:nvGrpSpPr>
          <p:cNvPr id="180" name="scene-table"/>
          <p:cNvGrpSpPr/>
          <p:nvPr/>
        </p:nvGrpSpPr>
        <p:grpSpPr>
          <a:xfrm>
            <a:off x="133350" y="1447800"/>
            <a:ext cx="5867400" cy="3019425"/>
            <a:chOff x="133350" y="1447800"/>
            <a:chExt cx="5867400" cy="3019425"/>
          </a:xfrm>
        </p:grpSpPr>
        <p:sp>
          <p:nvSpPr>
            <p:cNvPr id="91" name="Rectangle 91"/>
            <p:cNvSpPr/>
            <p:nvPr/>
          </p:nvSpPr>
          <p:spPr>
            <a:xfrm>
              <a:off x="171450" y="1447800"/>
              <a:ext cx="38100" cy="152400"/>
            </a:xfrm>
            <a:prstGeom prst="rect">
              <a:avLst/>
            </a:prstGeom>
            <a:solidFill>
              <a:srgbClr val="C83210"/>
            </a:solidFill>
            <a:ln>
              <a:noFill/>
            </a:ln>
          </p:spPr>
        </p:sp>
        <p:sp>
          <p:nvSpPr>
            <p:cNvPr id="92" name="TextBox 92"/>
            <p:cNvSpPr txBox="1"/>
            <p:nvPr/>
          </p:nvSpPr>
          <p:spPr>
            <a:xfrm>
              <a:off x="280797" y="1466374"/>
              <a:ext cx="1065327"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四类活动场景设计</a:t>
              </a:r>
            </a:p>
          </p:txBody>
        </p:sp>
        <p:sp>
          <p:nvSpPr>
            <p:cNvPr id="93" name="Rectangle 93"/>
            <p:cNvSpPr/>
            <p:nvPr/>
          </p:nvSpPr>
          <p:spPr>
            <a:xfrm>
              <a:off x="133350" y="1638300"/>
              <a:ext cx="5867400" cy="228600"/>
            </a:xfrm>
            <a:prstGeom prst="rect">
              <a:avLst/>
            </a:prstGeom>
            <a:solidFill>
              <a:srgbClr val="C83210"/>
            </a:solidFill>
            <a:ln>
              <a:noFill/>
            </a:ln>
          </p:spPr>
        </p:sp>
        <p:sp>
          <p:nvSpPr>
            <p:cNvPr id="94" name="TextBox 94"/>
            <p:cNvSpPr txBox="1"/>
            <p:nvPr/>
          </p:nvSpPr>
          <p:spPr>
            <a:xfrm>
              <a:off x="270802" y="17137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活动类型</a:t>
              </a:r>
            </a:p>
          </p:txBody>
        </p:sp>
        <p:sp>
          <p:nvSpPr>
            <p:cNvPr id="95" name="TextBox 95"/>
            <p:cNvSpPr txBox="1"/>
            <p:nvPr/>
          </p:nvSpPr>
          <p:spPr>
            <a:xfrm>
              <a:off x="1032802" y="17137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目标客群</a:t>
              </a:r>
            </a:p>
          </p:txBody>
        </p:sp>
        <p:sp>
          <p:nvSpPr>
            <p:cNvPr id="96" name="TextBox 96"/>
            <p:cNvSpPr txBox="1"/>
            <p:nvPr/>
          </p:nvSpPr>
          <p:spPr>
            <a:xfrm>
              <a:off x="1918627" y="17137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主动钩子</a:t>
              </a:r>
            </a:p>
          </p:txBody>
        </p:sp>
        <p:sp>
          <p:nvSpPr>
            <p:cNvPr id="97" name="TextBox 97"/>
            <p:cNvSpPr txBox="1"/>
            <p:nvPr/>
          </p:nvSpPr>
          <p:spPr>
            <a:xfrm>
              <a:off x="2803792" y="1713786"/>
              <a:ext cx="77416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活动内容（示例）</a:t>
              </a:r>
            </a:p>
          </p:txBody>
        </p:sp>
        <p:sp>
          <p:nvSpPr>
            <p:cNvPr id="98" name="TextBox 98"/>
            <p:cNvSpPr txBox="1"/>
            <p:nvPr/>
          </p:nvSpPr>
          <p:spPr>
            <a:xfrm>
              <a:off x="4185742" y="1713786"/>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转化点</a:t>
              </a:r>
            </a:p>
          </p:txBody>
        </p:sp>
        <p:sp>
          <p:nvSpPr>
            <p:cNvPr id="99" name="TextBox 99"/>
            <p:cNvSpPr txBox="1"/>
            <p:nvPr/>
          </p:nvSpPr>
          <p:spPr>
            <a:xfrm>
              <a:off x="5254679" y="1713786"/>
              <a:ext cx="349141"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核心KPI</a:t>
              </a:r>
            </a:p>
          </p:txBody>
        </p:sp>
        <p:sp>
          <p:nvSpPr>
            <p:cNvPr id="100" name="Rectangle 100"/>
            <p:cNvSpPr/>
            <p:nvPr/>
          </p:nvSpPr>
          <p:spPr>
            <a:xfrm>
              <a:off x="133350" y="2514600"/>
              <a:ext cx="5867400" cy="647700"/>
            </a:xfrm>
            <a:prstGeom prst="rect">
              <a:avLst/>
            </a:prstGeom>
            <a:solidFill>
              <a:srgbClr val="FDEFF1"/>
            </a:solidFill>
            <a:ln>
              <a:noFill/>
            </a:ln>
          </p:spPr>
        </p:sp>
        <p:sp>
          <p:nvSpPr>
            <p:cNvPr id="101" name="Rectangle 101"/>
            <p:cNvSpPr/>
            <p:nvPr/>
          </p:nvSpPr>
          <p:spPr>
            <a:xfrm>
              <a:off x="133350" y="3810000"/>
              <a:ext cx="5867400" cy="647700"/>
            </a:xfrm>
            <a:prstGeom prst="rect">
              <a:avLst/>
            </a:prstGeom>
            <a:solidFill>
              <a:srgbClr val="FDEFF1"/>
            </a:solidFill>
            <a:ln>
              <a:noFill/>
            </a:ln>
          </p:spPr>
        </p:sp>
        <p:grpSp>
          <p:nvGrpSpPr>
            <p:cNvPr id="104" name="Group 104"/>
            <p:cNvGrpSpPr/>
            <p:nvPr/>
          </p:nvGrpSpPr>
          <p:grpSpPr>
            <a:xfrm>
              <a:off x="379413" y="2024856"/>
              <a:ext cx="174625" cy="122238"/>
              <a:chOff x="379413" y="2024856"/>
              <a:chExt cx="174625" cy="122238"/>
            </a:xfrm>
          </p:grpSpPr>
          <p:sp>
            <p:nvSpPr>
              <p:cNvPr id="102" name="Freeform 102"/>
              <p:cNvSpPr/>
              <p:nvPr/>
            </p:nvSpPr>
            <p:spPr>
              <a:xfrm>
                <a:off x="379413" y="2024856"/>
                <a:ext cx="174625" cy="87313"/>
              </a:xfrm>
              <a:custGeom>
                <a:avLst/>
                <a:gdLst/>
                <a:ahLst/>
                <a:cxnLst/>
                <a:rect l="l" t="t" r="r" b="b"/>
                <a:pathLst>
                  <a:path w="174625" h="87313">
                    <a:moveTo>
                      <a:pt x="174625" y="34925"/>
                    </a:moveTo>
                    <a:lnTo>
                      <a:pt x="87313" y="0"/>
                    </a:lnTo>
                    <a:lnTo>
                      <a:pt x="0" y="34925"/>
                    </a:lnTo>
                    <a:lnTo>
                      <a:pt x="87313" y="69850"/>
                    </a:lnTo>
                    <a:lnTo>
                      <a:pt x="174625" y="34925"/>
                    </a:lnTo>
                    <a:lnTo>
                      <a:pt x="174625" y="87313"/>
                    </a:lnTo>
                  </a:path>
                </a:pathLst>
              </a:custGeom>
              <a:noFill/>
              <a:ln w="17463">
                <a:solidFill>
                  <a:srgbClr val="C83210"/>
                </a:solidFill>
              </a:ln>
            </p:spPr>
          </p:sp>
          <p:sp>
            <p:nvSpPr>
              <p:cNvPr id="103" name="Freeform 103"/>
              <p:cNvSpPr/>
              <p:nvPr/>
            </p:nvSpPr>
            <p:spPr>
              <a:xfrm>
                <a:off x="414338" y="2073751"/>
                <a:ext cx="104775" cy="73343"/>
              </a:xfrm>
              <a:custGeom>
                <a:avLst/>
                <a:gdLst/>
                <a:ahLst/>
                <a:cxnLst/>
                <a:rect l="l" t="t" r="r" b="b"/>
                <a:pathLst>
                  <a:path w="104775" h="73343">
                    <a:moveTo>
                      <a:pt x="0" y="0"/>
                    </a:moveTo>
                    <a:lnTo>
                      <a:pt x="0" y="47149"/>
                    </a:lnTo>
                    <a:cubicBezTo>
                      <a:pt x="0" y="61615"/>
                      <a:pt x="23455" y="73343"/>
                      <a:pt x="52388" y="73343"/>
                    </a:cubicBezTo>
                    <a:cubicBezTo>
                      <a:pt x="81320" y="73343"/>
                      <a:pt x="104775" y="61615"/>
                      <a:pt x="104775" y="47149"/>
                    </a:cubicBezTo>
                    <a:lnTo>
                      <a:pt x="104775" y="0"/>
                    </a:lnTo>
                  </a:path>
                </a:pathLst>
              </a:custGeom>
              <a:noFill/>
              <a:ln w="17463">
                <a:solidFill>
                  <a:srgbClr val="C83210"/>
                </a:solidFill>
              </a:ln>
            </p:spPr>
          </p:sp>
        </p:grpSp>
        <p:sp>
          <p:nvSpPr>
            <p:cNvPr id="105" name="TextBox 105"/>
            <p:cNvSpPr txBox="1"/>
            <p:nvPr/>
          </p:nvSpPr>
          <p:spPr>
            <a:xfrm>
              <a:off x="260032" y="230028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金融课堂</a:t>
              </a:r>
            </a:p>
          </p:txBody>
        </p:sp>
        <p:sp>
          <p:nvSpPr>
            <p:cNvPr id="106" name="TextBox 106"/>
            <p:cNvSpPr txBox="1"/>
            <p:nvPr/>
          </p:nvSpPr>
          <p:spPr>
            <a:xfrm>
              <a:off x="852488" y="2064782"/>
              <a:ext cx="52646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新客、潜力客</a:t>
              </a:r>
            </a:p>
          </p:txBody>
        </p:sp>
        <p:sp>
          <p:nvSpPr>
            <p:cNvPr id="107" name="TextBox 107"/>
            <p:cNvSpPr txBox="1"/>
            <p:nvPr/>
          </p:nvSpPr>
          <p:spPr>
            <a:xfrm>
              <a:off x="852488" y="2217182"/>
              <a:ext cx="591083"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（25-40岁）　</a:t>
              </a:r>
            </a:p>
          </p:txBody>
        </p:sp>
        <p:sp>
          <p:nvSpPr>
            <p:cNvPr id="108" name="TextBox 108"/>
            <p:cNvSpPr txBox="1"/>
            <p:nvPr/>
          </p:nvSpPr>
          <p:spPr>
            <a:xfrm>
              <a:off x="1709738" y="2064782"/>
              <a:ext cx="553605"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学知识 送福利</a:t>
              </a:r>
            </a:p>
          </p:txBody>
        </p:sp>
        <p:sp>
          <p:nvSpPr>
            <p:cNvPr id="109" name="TextBox 109"/>
            <p:cNvSpPr txBox="1"/>
            <p:nvPr/>
          </p:nvSpPr>
          <p:spPr>
            <a:xfrm>
              <a:off x="1709738" y="2221230"/>
              <a:ext cx="494157"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提升理财能力</a:t>
              </a:r>
            </a:p>
          </p:txBody>
        </p:sp>
        <p:sp>
          <p:nvSpPr>
            <p:cNvPr id="110" name="TextBox 110"/>
            <p:cNvSpPr txBox="1"/>
            <p:nvPr/>
          </p:nvSpPr>
          <p:spPr>
            <a:xfrm>
              <a:off x="2624138" y="19885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经济趋势解读</a:t>
              </a:r>
            </a:p>
          </p:txBody>
        </p:sp>
        <p:sp>
          <p:nvSpPr>
            <p:cNvPr id="111" name="TextBox 111"/>
            <p:cNvSpPr txBox="1"/>
            <p:nvPr/>
          </p:nvSpPr>
          <p:spPr>
            <a:xfrm>
              <a:off x="2624138" y="21409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理财知识科普</a:t>
              </a:r>
            </a:p>
          </p:txBody>
        </p:sp>
        <p:sp>
          <p:nvSpPr>
            <p:cNvPr id="112" name="TextBox 112"/>
            <p:cNvSpPr txBox="1"/>
            <p:nvPr/>
          </p:nvSpPr>
          <p:spPr>
            <a:xfrm>
              <a:off x="2624138" y="22933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专家在线答疑</a:t>
              </a:r>
            </a:p>
          </p:txBody>
        </p:sp>
        <p:sp>
          <p:nvSpPr>
            <p:cNvPr id="113" name="TextBox 113"/>
            <p:cNvSpPr txBox="1"/>
            <p:nvPr/>
          </p:nvSpPr>
          <p:spPr>
            <a:xfrm>
              <a:off x="3862388" y="20647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预约理财解读</a:t>
              </a:r>
            </a:p>
          </p:txBody>
        </p:sp>
        <p:sp>
          <p:nvSpPr>
            <p:cNvPr id="114" name="TextBox 114"/>
            <p:cNvSpPr txBox="1"/>
            <p:nvPr/>
          </p:nvSpPr>
          <p:spPr>
            <a:xfrm>
              <a:off x="3862388" y="22171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开立理财账户</a:t>
              </a:r>
            </a:p>
          </p:txBody>
        </p:sp>
        <p:sp>
          <p:nvSpPr>
            <p:cNvPr id="115" name="TextBox 115"/>
            <p:cNvSpPr txBox="1"/>
            <p:nvPr/>
          </p:nvSpPr>
          <p:spPr>
            <a:xfrm>
              <a:off x="4910138" y="19885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报名人数</a:t>
              </a:r>
            </a:p>
          </p:txBody>
        </p:sp>
        <p:sp>
          <p:nvSpPr>
            <p:cNvPr id="116" name="TextBox 116"/>
            <p:cNvSpPr txBox="1"/>
            <p:nvPr/>
          </p:nvSpPr>
          <p:spPr>
            <a:xfrm>
              <a:off x="4910138" y="2140982"/>
              <a:ext cx="267995"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到场率</a:t>
              </a:r>
            </a:p>
          </p:txBody>
        </p:sp>
        <p:sp>
          <p:nvSpPr>
            <p:cNvPr id="117" name="TextBox 117"/>
            <p:cNvSpPr txBox="1"/>
            <p:nvPr/>
          </p:nvSpPr>
          <p:spPr>
            <a:xfrm>
              <a:off x="4910138" y="22933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咨询转化率</a:t>
              </a:r>
            </a:p>
          </p:txBody>
        </p:sp>
        <p:grpSp>
          <p:nvGrpSpPr>
            <p:cNvPr id="122" name="Group 122"/>
            <p:cNvGrpSpPr/>
            <p:nvPr/>
          </p:nvGrpSpPr>
          <p:grpSpPr>
            <a:xfrm>
              <a:off x="388144" y="2654793"/>
              <a:ext cx="157163" cy="157463"/>
              <a:chOff x="388144" y="2654793"/>
              <a:chExt cx="157163" cy="157463"/>
            </a:xfrm>
          </p:grpSpPr>
          <p:sp>
            <p:nvSpPr>
              <p:cNvPr id="118" name="Freeform 118"/>
              <p:cNvSpPr/>
              <p:nvPr/>
            </p:nvSpPr>
            <p:spPr>
              <a:xfrm>
                <a:off x="388144" y="2698750"/>
                <a:ext cx="157163" cy="34925"/>
              </a:xfrm>
              <a:custGeom>
                <a:avLst/>
                <a:gdLst/>
                <a:ahLst/>
                <a:cxnLst/>
                <a:rect l="l" t="t" r="r" b="b"/>
                <a:pathLst>
                  <a:path w="157163" h="34925">
                    <a:moveTo>
                      <a:pt x="0" y="8731"/>
                    </a:moveTo>
                    <a:cubicBezTo>
                      <a:pt x="0" y="3909"/>
                      <a:pt x="3909" y="0"/>
                      <a:pt x="8731" y="0"/>
                    </a:cubicBezTo>
                    <a:lnTo>
                      <a:pt x="148431" y="0"/>
                    </a:lnTo>
                    <a:cubicBezTo>
                      <a:pt x="153253" y="0"/>
                      <a:pt x="157163" y="3909"/>
                      <a:pt x="157163" y="8731"/>
                    </a:cubicBezTo>
                    <a:lnTo>
                      <a:pt x="157163" y="26194"/>
                    </a:lnTo>
                    <a:cubicBezTo>
                      <a:pt x="157163" y="31016"/>
                      <a:pt x="153253" y="34925"/>
                      <a:pt x="148431" y="34925"/>
                    </a:cubicBezTo>
                    <a:lnTo>
                      <a:pt x="8731" y="34925"/>
                    </a:lnTo>
                    <a:cubicBezTo>
                      <a:pt x="3909" y="34925"/>
                      <a:pt x="0" y="31016"/>
                      <a:pt x="0" y="26194"/>
                    </a:cubicBezTo>
                    <a:lnTo>
                      <a:pt x="0" y="8731"/>
                    </a:lnTo>
                  </a:path>
                </a:pathLst>
              </a:custGeom>
              <a:noFill/>
              <a:ln w="17463">
                <a:solidFill>
                  <a:srgbClr val="C83210"/>
                </a:solidFill>
              </a:ln>
            </p:spPr>
          </p:sp>
          <p:sp>
            <p:nvSpPr>
              <p:cNvPr id="119" name="Freeform 119"/>
              <p:cNvSpPr/>
              <p:nvPr/>
            </p:nvSpPr>
            <p:spPr>
              <a:xfrm>
                <a:off x="466725" y="2698750"/>
                <a:ext cx="9525" cy="113506"/>
              </a:xfrm>
              <a:custGeom>
                <a:avLst/>
                <a:gdLst/>
                <a:ahLst/>
                <a:cxnLst/>
                <a:rect l="l" t="t" r="r" b="b"/>
                <a:pathLst>
                  <a:path w="9525" h="113506">
                    <a:moveTo>
                      <a:pt x="0" y="0"/>
                    </a:moveTo>
                    <a:lnTo>
                      <a:pt x="0" y="113506"/>
                    </a:lnTo>
                  </a:path>
                </a:pathLst>
              </a:custGeom>
              <a:noFill/>
              <a:ln w="17463">
                <a:solidFill>
                  <a:srgbClr val="C83210"/>
                </a:solidFill>
              </a:ln>
            </p:spPr>
          </p:sp>
          <p:sp>
            <p:nvSpPr>
              <p:cNvPr id="120" name="Freeform 120"/>
              <p:cNvSpPr/>
              <p:nvPr/>
            </p:nvSpPr>
            <p:spPr>
              <a:xfrm>
                <a:off x="405606" y="2733675"/>
                <a:ext cx="122238" cy="78581"/>
              </a:xfrm>
              <a:custGeom>
                <a:avLst/>
                <a:gdLst/>
                <a:ahLst/>
                <a:cxnLst/>
                <a:rect l="l" t="t" r="r" b="b"/>
                <a:pathLst>
                  <a:path w="122238" h="78581">
                    <a:moveTo>
                      <a:pt x="122238" y="0"/>
                    </a:moveTo>
                    <a:lnTo>
                      <a:pt x="122238" y="61119"/>
                    </a:lnTo>
                    <a:cubicBezTo>
                      <a:pt x="122238" y="70763"/>
                      <a:pt x="114419" y="78581"/>
                      <a:pt x="104775" y="78581"/>
                    </a:cubicBezTo>
                    <a:lnTo>
                      <a:pt x="17463" y="78581"/>
                    </a:lnTo>
                    <a:cubicBezTo>
                      <a:pt x="7818" y="78581"/>
                      <a:pt x="0" y="70763"/>
                      <a:pt x="0" y="61119"/>
                    </a:cubicBezTo>
                    <a:lnTo>
                      <a:pt x="0" y="0"/>
                    </a:lnTo>
                  </a:path>
                </a:pathLst>
              </a:custGeom>
              <a:noFill/>
              <a:ln w="17463">
                <a:solidFill>
                  <a:srgbClr val="C83210"/>
                </a:solidFill>
              </a:ln>
            </p:spPr>
          </p:sp>
          <p:sp>
            <p:nvSpPr>
              <p:cNvPr id="121" name="Freeform 121"/>
              <p:cNvSpPr/>
              <p:nvPr/>
            </p:nvSpPr>
            <p:spPr>
              <a:xfrm>
                <a:off x="405606" y="2654793"/>
                <a:ext cx="122238" cy="43957"/>
              </a:xfrm>
              <a:custGeom>
                <a:avLst/>
                <a:gdLst/>
                <a:ahLst/>
                <a:cxnLst/>
                <a:rect l="l" t="t" r="r" b="b"/>
                <a:pathLst>
                  <a:path w="122238" h="43957">
                    <a:moveTo>
                      <a:pt x="21828" y="43957"/>
                    </a:moveTo>
                    <a:cubicBezTo>
                      <a:pt x="9773" y="43957"/>
                      <a:pt x="0" y="34184"/>
                      <a:pt x="0" y="22128"/>
                    </a:cubicBezTo>
                    <a:cubicBezTo>
                      <a:pt x="0" y="10073"/>
                      <a:pt x="9773" y="300"/>
                      <a:pt x="21828" y="300"/>
                    </a:cubicBezTo>
                    <a:cubicBezTo>
                      <a:pt x="39066" y="0"/>
                      <a:pt x="54655" y="17322"/>
                      <a:pt x="61119" y="43957"/>
                    </a:cubicBezTo>
                    <a:cubicBezTo>
                      <a:pt x="67582" y="17322"/>
                      <a:pt x="83172" y="0"/>
                      <a:pt x="100409" y="300"/>
                    </a:cubicBezTo>
                    <a:cubicBezTo>
                      <a:pt x="112465" y="300"/>
                      <a:pt x="122238" y="10073"/>
                      <a:pt x="122238" y="22128"/>
                    </a:cubicBezTo>
                    <a:cubicBezTo>
                      <a:pt x="122238" y="34184"/>
                      <a:pt x="112465" y="43957"/>
                      <a:pt x="100409" y="43957"/>
                    </a:cubicBezTo>
                  </a:path>
                </a:pathLst>
              </a:custGeom>
              <a:noFill/>
              <a:ln w="17463">
                <a:solidFill>
                  <a:srgbClr val="C83210"/>
                </a:solidFill>
              </a:ln>
            </p:spPr>
          </p:sp>
        </p:grpSp>
        <p:sp>
          <p:nvSpPr>
            <p:cNvPr id="123" name="TextBox 123"/>
            <p:cNvSpPr txBox="1"/>
            <p:nvPr/>
          </p:nvSpPr>
          <p:spPr>
            <a:xfrm>
              <a:off x="310515" y="2947988"/>
              <a:ext cx="31242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权益节</a:t>
              </a:r>
            </a:p>
          </p:txBody>
        </p:sp>
        <p:sp>
          <p:nvSpPr>
            <p:cNvPr id="124" name="TextBox 124"/>
            <p:cNvSpPr txBox="1"/>
            <p:nvPr/>
          </p:nvSpPr>
          <p:spPr>
            <a:xfrm>
              <a:off x="852488" y="27124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存量优质客</a:t>
              </a:r>
            </a:p>
          </p:txBody>
        </p:sp>
        <p:sp>
          <p:nvSpPr>
            <p:cNvPr id="125" name="TextBox 125"/>
            <p:cNvSpPr txBox="1"/>
            <p:nvPr/>
          </p:nvSpPr>
          <p:spPr>
            <a:xfrm>
              <a:off x="852488" y="2864882"/>
              <a:ext cx="668625"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（资产10万+）　</a:t>
              </a:r>
            </a:p>
          </p:txBody>
        </p:sp>
        <p:sp>
          <p:nvSpPr>
            <p:cNvPr id="126" name="TextBox 126"/>
            <p:cNvSpPr txBox="1"/>
            <p:nvPr/>
          </p:nvSpPr>
          <p:spPr>
            <a:xfrm>
              <a:off x="1709738" y="2712482"/>
              <a:ext cx="63976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专属权益 限时抢</a:t>
              </a:r>
            </a:p>
          </p:txBody>
        </p:sp>
        <p:sp>
          <p:nvSpPr>
            <p:cNvPr id="127" name="TextBox 127"/>
            <p:cNvSpPr txBox="1"/>
            <p:nvPr/>
          </p:nvSpPr>
          <p:spPr>
            <a:xfrm>
              <a:off x="1709738" y="2868930"/>
              <a:ext cx="494157"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升级尊贵生活</a:t>
              </a:r>
            </a:p>
          </p:txBody>
        </p:sp>
        <p:sp>
          <p:nvSpPr>
            <p:cNvPr id="128" name="TextBox 128"/>
            <p:cNvSpPr txBox="1"/>
            <p:nvPr/>
          </p:nvSpPr>
          <p:spPr>
            <a:xfrm>
              <a:off x="2624138" y="26362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权益体系发布</a:t>
              </a:r>
            </a:p>
          </p:txBody>
        </p:sp>
        <p:sp>
          <p:nvSpPr>
            <p:cNvPr id="129" name="TextBox 129"/>
            <p:cNvSpPr txBox="1"/>
            <p:nvPr/>
          </p:nvSpPr>
          <p:spPr>
            <a:xfrm>
              <a:off x="2624138" y="27886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热门权益推介</a:t>
              </a:r>
            </a:p>
          </p:txBody>
        </p:sp>
        <p:sp>
          <p:nvSpPr>
            <p:cNvPr id="130" name="TextBox 130"/>
            <p:cNvSpPr txBox="1"/>
            <p:nvPr/>
          </p:nvSpPr>
          <p:spPr>
            <a:xfrm>
              <a:off x="2624138" y="29410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现场抽奖互动</a:t>
              </a:r>
            </a:p>
          </p:txBody>
        </p:sp>
        <p:sp>
          <p:nvSpPr>
            <p:cNvPr id="131" name="TextBox 131"/>
            <p:cNvSpPr txBox="1"/>
            <p:nvPr/>
          </p:nvSpPr>
          <p:spPr>
            <a:xfrm>
              <a:off x="3862388" y="2636282"/>
              <a:ext cx="430352"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权益领取</a:t>
              </a:r>
            </a:p>
          </p:txBody>
        </p:sp>
        <p:sp>
          <p:nvSpPr>
            <p:cNvPr id="132" name="TextBox 132"/>
            <p:cNvSpPr txBox="1"/>
            <p:nvPr/>
          </p:nvSpPr>
          <p:spPr>
            <a:xfrm>
              <a:off x="3862388" y="2788682"/>
              <a:ext cx="430352"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资产提升</a:t>
              </a:r>
            </a:p>
          </p:txBody>
        </p:sp>
        <p:sp>
          <p:nvSpPr>
            <p:cNvPr id="133" name="TextBox 133"/>
            <p:cNvSpPr txBox="1"/>
            <p:nvPr/>
          </p:nvSpPr>
          <p:spPr>
            <a:xfrm>
              <a:off x="3862388" y="29410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办理增值服务</a:t>
              </a:r>
            </a:p>
          </p:txBody>
        </p:sp>
        <p:sp>
          <p:nvSpPr>
            <p:cNvPr id="134" name="TextBox 134"/>
            <p:cNvSpPr txBox="1"/>
            <p:nvPr/>
          </p:nvSpPr>
          <p:spPr>
            <a:xfrm>
              <a:off x="4910138" y="26362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参与人数</a:t>
              </a:r>
            </a:p>
          </p:txBody>
        </p:sp>
        <p:sp>
          <p:nvSpPr>
            <p:cNvPr id="135" name="TextBox 135"/>
            <p:cNvSpPr txBox="1"/>
            <p:nvPr/>
          </p:nvSpPr>
          <p:spPr>
            <a:xfrm>
              <a:off x="4910138" y="27886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权益领取率</a:t>
              </a:r>
            </a:p>
          </p:txBody>
        </p:sp>
        <p:sp>
          <p:nvSpPr>
            <p:cNvPr id="136" name="TextBox 136"/>
            <p:cNvSpPr txBox="1"/>
            <p:nvPr/>
          </p:nvSpPr>
          <p:spPr>
            <a:xfrm>
              <a:off x="4910138" y="2941082"/>
              <a:ext cx="522564"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AUM提升率　</a:t>
              </a:r>
            </a:p>
          </p:txBody>
        </p:sp>
        <p:grpSp>
          <p:nvGrpSpPr>
            <p:cNvPr id="140" name="Group 140"/>
            <p:cNvGrpSpPr/>
            <p:nvPr/>
          </p:nvGrpSpPr>
          <p:grpSpPr>
            <a:xfrm>
              <a:off x="396875" y="3311525"/>
              <a:ext cx="139700" cy="139700"/>
              <a:chOff x="396875" y="3311525"/>
              <a:chExt cx="139700" cy="139700"/>
            </a:xfrm>
          </p:grpSpPr>
          <p:sp>
            <p:nvSpPr>
              <p:cNvPr id="137" name="Freeform 137"/>
              <p:cNvSpPr/>
              <p:nvPr/>
            </p:nvSpPr>
            <p:spPr>
              <a:xfrm>
                <a:off x="396875" y="3311525"/>
                <a:ext cx="139700" cy="69850"/>
              </a:xfrm>
              <a:custGeom>
                <a:avLst/>
                <a:gdLst/>
                <a:ahLst/>
                <a:cxnLst/>
                <a:rect l="l" t="t" r="r" b="b"/>
                <a:pathLst>
                  <a:path w="139700" h="69850">
                    <a:moveTo>
                      <a:pt x="69850" y="0"/>
                    </a:moveTo>
                    <a:lnTo>
                      <a:pt x="0" y="34925"/>
                    </a:lnTo>
                    <a:lnTo>
                      <a:pt x="69850" y="69850"/>
                    </a:lnTo>
                    <a:lnTo>
                      <a:pt x="139700" y="34925"/>
                    </a:lnTo>
                    <a:lnTo>
                      <a:pt x="69850" y="0"/>
                    </a:lnTo>
                  </a:path>
                </a:pathLst>
              </a:custGeom>
              <a:noFill/>
              <a:ln w="17463">
                <a:solidFill>
                  <a:srgbClr val="C83210"/>
                </a:solidFill>
              </a:ln>
            </p:spPr>
          </p:sp>
          <p:sp>
            <p:nvSpPr>
              <p:cNvPr id="138" name="Freeform 138"/>
              <p:cNvSpPr/>
              <p:nvPr/>
            </p:nvSpPr>
            <p:spPr>
              <a:xfrm>
                <a:off x="396875" y="3381375"/>
                <a:ext cx="139700" cy="34925"/>
              </a:xfrm>
              <a:custGeom>
                <a:avLst/>
                <a:gdLst/>
                <a:ahLst/>
                <a:cxnLst/>
                <a:rect l="l" t="t" r="r" b="b"/>
                <a:pathLst>
                  <a:path w="139700" h="34925">
                    <a:moveTo>
                      <a:pt x="0" y="0"/>
                    </a:moveTo>
                    <a:lnTo>
                      <a:pt x="69850" y="34925"/>
                    </a:lnTo>
                    <a:lnTo>
                      <a:pt x="139700" y="0"/>
                    </a:lnTo>
                  </a:path>
                </a:pathLst>
              </a:custGeom>
              <a:noFill/>
              <a:ln w="17463">
                <a:solidFill>
                  <a:srgbClr val="C83210"/>
                </a:solidFill>
              </a:ln>
            </p:spPr>
          </p:sp>
          <p:sp>
            <p:nvSpPr>
              <p:cNvPr id="139" name="Freeform 139"/>
              <p:cNvSpPr/>
              <p:nvPr/>
            </p:nvSpPr>
            <p:spPr>
              <a:xfrm>
                <a:off x="396875" y="3416300"/>
                <a:ext cx="139700" cy="34925"/>
              </a:xfrm>
              <a:custGeom>
                <a:avLst/>
                <a:gdLst/>
                <a:ahLst/>
                <a:cxnLst/>
                <a:rect l="l" t="t" r="r" b="b"/>
                <a:pathLst>
                  <a:path w="139700" h="34925">
                    <a:moveTo>
                      <a:pt x="0" y="0"/>
                    </a:moveTo>
                    <a:lnTo>
                      <a:pt x="69850" y="34925"/>
                    </a:lnTo>
                    <a:lnTo>
                      <a:pt x="139700" y="0"/>
                    </a:lnTo>
                  </a:path>
                </a:pathLst>
              </a:custGeom>
              <a:noFill/>
              <a:ln w="17463">
                <a:solidFill>
                  <a:srgbClr val="C83210"/>
                </a:solidFill>
              </a:ln>
            </p:spPr>
          </p:sp>
        </p:grpSp>
        <p:sp>
          <p:nvSpPr>
            <p:cNvPr id="141" name="TextBox 141"/>
            <p:cNvSpPr txBox="1"/>
            <p:nvPr/>
          </p:nvSpPr>
          <p:spPr>
            <a:xfrm>
              <a:off x="260032" y="359568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产品体验</a:t>
              </a:r>
            </a:p>
          </p:txBody>
        </p:sp>
        <p:sp>
          <p:nvSpPr>
            <p:cNvPr id="142" name="TextBox 142"/>
            <p:cNvSpPr txBox="1"/>
            <p:nvPr/>
          </p:nvSpPr>
          <p:spPr>
            <a:xfrm>
              <a:off x="852488" y="33601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产品兴趣客</a:t>
              </a:r>
            </a:p>
          </p:txBody>
        </p:sp>
        <p:sp>
          <p:nvSpPr>
            <p:cNvPr id="143" name="TextBox 143"/>
            <p:cNvSpPr txBox="1"/>
            <p:nvPr/>
          </p:nvSpPr>
          <p:spPr>
            <a:xfrm>
              <a:off x="852488" y="3512582"/>
              <a:ext cx="612623"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（有明确需求）</a:t>
              </a:r>
            </a:p>
          </p:txBody>
        </p:sp>
        <p:sp>
          <p:nvSpPr>
            <p:cNvPr id="144" name="TextBox 144"/>
            <p:cNvSpPr txBox="1"/>
            <p:nvPr/>
          </p:nvSpPr>
          <p:spPr>
            <a:xfrm>
              <a:off x="1709738" y="3360182"/>
              <a:ext cx="553605"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先体验 再选择</a:t>
              </a:r>
            </a:p>
          </p:txBody>
        </p:sp>
        <p:sp>
          <p:nvSpPr>
            <p:cNvPr id="145" name="TextBox 145"/>
            <p:cNvSpPr txBox="1"/>
            <p:nvPr/>
          </p:nvSpPr>
          <p:spPr>
            <a:xfrm>
              <a:off x="1709738" y="3516630"/>
              <a:ext cx="538582"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 xml:space="preserve">0元体验机会　</a:t>
              </a:r>
            </a:p>
          </p:txBody>
        </p:sp>
        <p:sp>
          <p:nvSpPr>
            <p:cNvPr id="146" name="TextBox 146"/>
            <p:cNvSpPr txBox="1"/>
            <p:nvPr/>
          </p:nvSpPr>
          <p:spPr>
            <a:xfrm>
              <a:off x="2624138" y="32839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产品功能演示</a:t>
              </a:r>
            </a:p>
          </p:txBody>
        </p:sp>
        <p:sp>
          <p:nvSpPr>
            <p:cNvPr id="147" name="TextBox 147"/>
            <p:cNvSpPr txBox="1"/>
            <p:nvPr/>
          </p:nvSpPr>
          <p:spPr>
            <a:xfrm>
              <a:off x="2624138" y="34363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真实案例分享</a:t>
              </a:r>
            </a:p>
          </p:txBody>
        </p:sp>
        <p:sp>
          <p:nvSpPr>
            <p:cNvPr id="148" name="TextBox 148"/>
            <p:cNvSpPr txBox="1"/>
            <p:nvPr/>
          </p:nvSpPr>
          <p:spPr>
            <a:xfrm>
              <a:off x="2624138" y="35887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互动体验环节</a:t>
              </a:r>
            </a:p>
          </p:txBody>
        </p:sp>
        <p:sp>
          <p:nvSpPr>
            <p:cNvPr id="149" name="TextBox 149"/>
            <p:cNvSpPr txBox="1"/>
            <p:nvPr/>
          </p:nvSpPr>
          <p:spPr>
            <a:xfrm>
              <a:off x="3862388" y="3283982"/>
              <a:ext cx="430352"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预约办理</a:t>
              </a:r>
            </a:p>
          </p:txBody>
        </p:sp>
        <p:sp>
          <p:nvSpPr>
            <p:cNvPr id="150" name="TextBox 150"/>
            <p:cNvSpPr txBox="1"/>
            <p:nvPr/>
          </p:nvSpPr>
          <p:spPr>
            <a:xfrm>
              <a:off x="3862388" y="3436382"/>
              <a:ext cx="430352"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产品试用</a:t>
              </a:r>
            </a:p>
          </p:txBody>
        </p:sp>
        <p:sp>
          <p:nvSpPr>
            <p:cNvPr id="151" name="TextBox 151"/>
            <p:cNvSpPr txBox="1"/>
            <p:nvPr/>
          </p:nvSpPr>
          <p:spPr>
            <a:xfrm>
              <a:off x="3862388" y="3588782"/>
              <a:ext cx="430352"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正式购买</a:t>
              </a:r>
            </a:p>
          </p:txBody>
        </p:sp>
        <p:sp>
          <p:nvSpPr>
            <p:cNvPr id="152" name="TextBox 152"/>
            <p:cNvSpPr txBox="1"/>
            <p:nvPr/>
          </p:nvSpPr>
          <p:spPr>
            <a:xfrm>
              <a:off x="4910138" y="32839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预约办理率</a:t>
              </a:r>
            </a:p>
          </p:txBody>
        </p:sp>
        <p:sp>
          <p:nvSpPr>
            <p:cNvPr id="153" name="TextBox 153"/>
            <p:cNvSpPr txBox="1"/>
            <p:nvPr/>
          </p:nvSpPr>
          <p:spPr>
            <a:xfrm>
              <a:off x="4910138" y="34363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产品转化率</a:t>
              </a:r>
            </a:p>
          </p:txBody>
        </p:sp>
        <p:sp>
          <p:nvSpPr>
            <p:cNvPr id="154" name="TextBox 154"/>
            <p:cNvSpPr txBox="1"/>
            <p:nvPr/>
          </p:nvSpPr>
          <p:spPr>
            <a:xfrm>
              <a:off x="4910138" y="35887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单客价值</a:t>
              </a:r>
            </a:p>
          </p:txBody>
        </p:sp>
        <p:sp>
          <p:nvSpPr>
            <p:cNvPr id="155" name="Freeform 155"/>
            <p:cNvSpPr/>
            <p:nvPr/>
          </p:nvSpPr>
          <p:spPr>
            <a:xfrm>
              <a:off x="385120" y="3956985"/>
              <a:ext cx="163051" cy="141940"/>
            </a:xfrm>
            <a:custGeom>
              <a:avLst/>
              <a:gdLst/>
              <a:ahLst/>
              <a:cxnLst/>
              <a:rect l="l" t="t" r="r" b="b"/>
              <a:pathLst>
                <a:path w="163051" h="141940">
                  <a:moveTo>
                    <a:pt x="147089" y="77084"/>
                  </a:moveTo>
                  <a:lnTo>
                    <a:pt x="81605" y="141940"/>
                  </a:lnTo>
                  <a:lnTo>
                    <a:pt x="16120" y="77084"/>
                  </a:lnTo>
                  <a:cubicBezTo>
                    <a:pt x="4344" y="65625"/>
                    <a:pt x="0" y="48525"/>
                    <a:pt x="4879" y="32835"/>
                  </a:cubicBezTo>
                  <a:cubicBezTo>
                    <a:pt x="9757" y="17144"/>
                    <a:pt x="23032" y="5522"/>
                    <a:pt x="39230" y="2761"/>
                  </a:cubicBezTo>
                  <a:cubicBezTo>
                    <a:pt x="55427" y="0"/>
                    <a:pt x="71803" y="6567"/>
                    <a:pt x="81605" y="19755"/>
                  </a:cubicBezTo>
                  <a:cubicBezTo>
                    <a:pt x="91447" y="6665"/>
                    <a:pt x="107788" y="185"/>
                    <a:pt x="123927" y="2972"/>
                  </a:cubicBezTo>
                  <a:cubicBezTo>
                    <a:pt x="140065" y="5759"/>
                    <a:pt x="153287" y="17344"/>
                    <a:pt x="158169" y="32977"/>
                  </a:cubicBezTo>
                  <a:cubicBezTo>
                    <a:pt x="163051" y="48610"/>
                    <a:pt x="158773" y="65660"/>
                    <a:pt x="147089" y="77137"/>
                  </a:cubicBezTo>
                </a:path>
              </a:pathLst>
            </a:custGeom>
            <a:noFill/>
            <a:ln w="17463">
              <a:solidFill>
                <a:srgbClr val="C83210"/>
              </a:solidFill>
            </a:ln>
          </p:spPr>
        </p:sp>
        <p:sp>
          <p:nvSpPr>
            <p:cNvPr id="156" name="TextBox 156"/>
            <p:cNvSpPr txBox="1"/>
            <p:nvPr/>
          </p:nvSpPr>
          <p:spPr>
            <a:xfrm>
              <a:off x="260032" y="424338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客户关怀</a:t>
              </a:r>
            </a:p>
          </p:txBody>
        </p:sp>
        <p:sp>
          <p:nvSpPr>
            <p:cNvPr id="157" name="TextBox 157"/>
            <p:cNvSpPr txBox="1"/>
            <p:nvPr/>
          </p:nvSpPr>
          <p:spPr>
            <a:xfrm>
              <a:off x="852488" y="4007882"/>
              <a:ext cx="354152"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高净值客</a:t>
              </a:r>
            </a:p>
          </p:txBody>
        </p:sp>
        <p:sp>
          <p:nvSpPr>
            <p:cNvPr id="158" name="TextBox 158"/>
            <p:cNvSpPr txBox="1"/>
            <p:nvPr/>
          </p:nvSpPr>
          <p:spPr>
            <a:xfrm>
              <a:off x="852488" y="4160282"/>
              <a:ext cx="668625"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（资产50万+）　</a:t>
              </a:r>
            </a:p>
          </p:txBody>
        </p:sp>
        <p:sp>
          <p:nvSpPr>
            <p:cNvPr id="159" name="TextBox 159"/>
            <p:cNvSpPr txBox="1"/>
            <p:nvPr/>
          </p:nvSpPr>
          <p:spPr>
            <a:xfrm>
              <a:off x="1709738" y="4007882"/>
              <a:ext cx="725919"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专属关怀 深度陪伴</a:t>
              </a:r>
            </a:p>
          </p:txBody>
        </p:sp>
        <p:sp>
          <p:nvSpPr>
            <p:cNvPr id="160" name="TextBox 160"/>
            <p:cNvSpPr txBox="1"/>
            <p:nvPr/>
          </p:nvSpPr>
          <p:spPr>
            <a:xfrm>
              <a:off x="1709738" y="4164330"/>
              <a:ext cx="494157"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让财富更安心</a:t>
              </a:r>
            </a:p>
          </p:txBody>
        </p:sp>
        <p:sp>
          <p:nvSpPr>
            <p:cNvPr id="161" name="TextBox 161"/>
            <p:cNvSpPr txBox="1"/>
            <p:nvPr/>
          </p:nvSpPr>
          <p:spPr>
            <a:xfrm>
              <a:off x="2624138" y="3931682"/>
              <a:ext cx="869752"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健康/亲子/生活讲座</a:t>
              </a:r>
            </a:p>
          </p:txBody>
        </p:sp>
        <p:sp>
          <p:nvSpPr>
            <p:cNvPr id="162" name="TextBox 162"/>
            <p:cNvSpPr txBox="1"/>
            <p:nvPr/>
          </p:nvSpPr>
          <p:spPr>
            <a:xfrm>
              <a:off x="2624138" y="40840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私享沙龙交流</a:t>
              </a:r>
            </a:p>
          </p:txBody>
        </p:sp>
        <p:sp>
          <p:nvSpPr>
            <p:cNvPr id="163" name="TextBox 163"/>
            <p:cNvSpPr txBox="1"/>
            <p:nvPr/>
          </p:nvSpPr>
          <p:spPr>
            <a:xfrm>
              <a:off x="2624138" y="4236482"/>
              <a:ext cx="688823"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一对一专属服务</a:t>
              </a:r>
            </a:p>
          </p:txBody>
        </p:sp>
        <p:sp>
          <p:nvSpPr>
            <p:cNvPr id="164" name="TextBox 164"/>
            <p:cNvSpPr txBox="1"/>
            <p:nvPr/>
          </p:nvSpPr>
          <p:spPr>
            <a:xfrm>
              <a:off x="3862388" y="39316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预约财富规划</a:t>
              </a:r>
            </a:p>
          </p:txBody>
        </p:sp>
        <p:sp>
          <p:nvSpPr>
            <p:cNvPr id="165" name="TextBox 165"/>
            <p:cNvSpPr txBox="1"/>
            <p:nvPr/>
          </p:nvSpPr>
          <p:spPr>
            <a:xfrm>
              <a:off x="3862388" y="4084082"/>
              <a:ext cx="602666"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家庭综合服务</a:t>
              </a:r>
            </a:p>
          </p:txBody>
        </p:sp>
        <p:sp>
          <p:nvSpPr>
            <p:cNvPr id="166" name="TextBox 166"/>
            <p:cNvSpPr txBox="1"/>
            <p:nvPr/>
          </p:nvSpPr>
          <p:spPr>
            <a:xfrm>
              <a:off x="3862388" y="4236482"/>
              <a:ext cx="430352" cy="126206"/>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40" dirty="0">
                  <a:solidFill>
                    <a:srgbClr val="3D3D3D"/>
                  </a:solidFill>
                  <a:latin typeface="+mn-lt"/>
                  <a:ea typeface="+mn-ea"/>
                  <a:cs typeface="+mn-cs"/>
                </a:rPr>
                <a:t>转介推荐</a:t>
              </a:r>
            </a:p>
          </p:txBody>
        </p:sp>
        <p:sp>
          <p:nvSpPr>
            <p:cNvPr id="167" name="TextBox 167"/>
            <p:cNvSpPr txBox="1"/>
            <p:nvPr/>
          </p:nvSpPr>
          <p:spPr>
            <a:xfrm>
              <a:off x="4910138" y="39316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客户满意度</a:t>
              </a:r>
            </a:p>
          </p:txBody>
        </p:sp>
        <p:sp>
          <p:nvSpPr>
            <p:cNvPr id="168" name="TextBox 168"/>
            <p:cNvSpPr txBox="1"/>
            <p:nvPr/>
          </p:nvSpPr>
          <p:spPr>
            <a:xfrm>
              <a:off x="4910138" y="40840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深度互动率</a:t>
              </a:r>
            </a:p>
          </p:txBody>
        </p:sp>
        <p:sp>
          <p:nvSpPr>
            <p:cNvPr id="169" name="TextBox 169"/>
            <p:cNvSpPr txBox="1"/>
            <p:nvPr/>
          </p:nvSpPr>
          <p:spPr>
            <a:xfrm>
              <a:off x="4910138" y="4236482"/>
              <a:ext cx="44030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转介绍数量</a:t>
              </a:r>
            </a:p>
          </p:txBody>
        </p:sp>
        <p:sp>
          <p:nvSpPr>
            <p:cNvPr id="170" name="Line 170"/>
            <p:cNvSpPr/>
            <p:nvPr/>
          </p:nvSpPr>
          <p:spPr>
            <a:xfrm>
              <a:off x="800100" y="1638300"/>
              <a:ext cx="9525" cy="2819400"/>
            </a:xfrm>
            <a:custGeom>
              <a:avLst/>
              <a:gdLst/>
              <a:ahLst/>
              <a:cxnLst/>
              <a:rect l="l" t="t" r="r" b="b"/>
              <a:pathLst>
                <a:path w="9525" h="2819400">
                  <a:moveTo>
                    <a:pt x="0" y="0"/>
                  </a:moveTo>
                  <a:lnTo>
                    <a:pt x="0" y="2819400"/>
                  </a:lnTo>
                </a:path>
              </a:pathLst>
            </a:custGeom>
            <a:noFill/>
            <a:ln w="9525">
              <a:solidFill>
                <a:srgbClr val="F1C7CC"/>
              </a:solidFill>
            </a:ln>
          </p:spPr>
        </p:sp>
        <p:sp>
          <p:nvSpPr>
            <p:cNvPr id="171" name="Line 171"/>
            <p:cNvSpPr/>
            <p:nvPr/>
          </p:nvSpPr>
          <p:spPr>
            <a:xfrm>
              <a:off x="1657350" y="1638300"/>
              <a:ext cx="9525" cy="2819400"/>
            </a:xfrm>
            <a:custGeom>
              <a:avLst/>
              <a:gdLst/>
              <a:ahLst/>
              <a:cxnLst/>
              <a:rect l="l" t="t" r="r" b="b"/>
              <a:pathLst>
                <a:path w="9525" h="2819400">
                  <a:moveTo>
                    <a:pt x="0" y="0"/>
                  </a:moveTo>
                  <a:lnTo>
                    <a:pt x="0" y="2819400"/>
                  </a:lnTo>
                </a:path>
              </a:pathLst>
            </a:custGeom>
            <a:noFill/>
            <a:ln w="9525">
              <a:solidFill>
                <a:srgbClr val="F1C7CC"/>
              </a:solidFill>
            </a:ln>
          </p:spPr>
        </p:sp>
        <p:sp>
          <p:nvSpPr>
            <p:cNvPr id="172" name="Line 172"/>
            <p:cNvSpPr/>
            <p:nvPr/>
          </p:nvSpPr>
          <p:spPr>
            <a:xfrm>
              <a:off x="2571750" y="1638300"/>
              <a:ext cx="9525" cy="2819400"/>
            </a:xfrm>
            <a:custGeom>
              <a:avLst/>
              <a:gdLst/>
              <a:ahLst/>
              <a:cxnLst/>
              <a:rect l="l" t="t" r="r" b="b"/>
              <a:pathLst>
                <a:path w="9525" h="2819400">
                  <a:moveTo>
                    <a:pt x="0" y="0"/>
                  </a:moveTo>
                  <a:lnTo>
                    <a:pt x="0" y="2819400"/>
                  </a:lnTo>
                </a:path>
              </a:pathLst>
            </a:custGeom>
            <a:noFill/>
            <a:ln w="9525">
              <a:solidFill>
                <a:srgbClr val="F1C7CC"/>
              </a:solidFill>
            </a:ln>
          </p:spPr>
        </p:sp>
        <p:sp>
          <p:nvSpPr>
            <p:cNvPr id="173" name="Line 173"/>
            <p:cNvSpPr/>
            <p:nvPr/>
          </p:nvSpPr>
          <p:spPr>
            <a:xfrm>
              <a:off x="3810000" y="1638300"/>
              <a:ext cx="9525" cy="2819400"/>
            </a:xfrm>
            <a:custGeom>
              <a:avLst/>
              <a:gdLst/>
              <a:ahLst/>
              <a:cxnLst/>
              <a:rect l="l" t="t" r="r" b="b"/>
              <a:pathLst>
                <a:path w="9525" h="2819400">
                  <a:moveTo>
                    <a:pt x="0" y="0"/>
                  </a:moveTo>
                  <a:lnTo>
                    <a:pt x="0" y="2819400"/>
                  </a:lnTo>
                </a:path>
              </a:pathLst>
            </a:custGeom>
            <a:noFill/>
            <a:ln w="9525">
              <a:solidFill>
                <a:srgbClr val="F1C7CC"/>
              </a:solidFill>
            </a:ln>
          </p:spPr>
        </p:sp>
        <p:sp>
          <p:nvSpPr>
            <p:cNvPr id="174" name="Line 174"/>
            <p:cNvSpPr/>
            <p:nvPr/>
          </p:nvSpPr>
          <p:spPr>
            <a:xfrm>
              <a:off x="4857750" y="1638300"/>
              <a:ext cx="9525" cy="2819400"/>
            </a:xfrm>
            <a:custGeom>
              <a:avLst/>
              <a:gdLst/>
              <a:ahLst/>
              <a:cxnLst/>
              <a:rect l="l" t="t" r="r" b="b"/>
              <a:pathLst>
                <a:path w="9525" h="2819400">
                  <a:moveTo>
                    <a:pt x="0" y="0"/>
                  </a:moveTo>
                  <a:lnTo>
                    <a:pt x="0" y="2819400"/>
                  </a:lnTo>
                </a:path>
              </a:pathLst>
            </a:custGeom>
            <a:noFill/>
            <a:ln w="9525">
              <a:solidFill>
                <a:srgbClr val="F1C7CC"/>
              </a:solidFill>
            </a:ln>
          </p:spPr>
        </p:sp>
        <p:sp>
          <p:nvSpPr>
            <p:cNvPr id="175" name="Line 175"/>
            <p:cNvSpPr/>
            <p:nvPr/>
          </p:nvSpPr>
          <p:spPr>
            <a:xfrm>
              <a:off x="133350" y="1866900"/>
              <a:ext cx="5867400" cy="9525"/>
            </a:xfrm>
            <a:custGeom>
              <a:avLst/>
              <a:gdLst/>
              <a:ahLst/>
              <a:cxnLst/>
              <a:rect l="l" t="t" r="r" b="b"/>
              <a:pathLst>
                <a:path w="5867400" h="9525">
                  <a:moveTo>
                    <a:pt x="0" y="0"/>
                  </a:moveTo>
                  <a:lnTo>
                    <a:pt x="5867400" y="0"/>
                  </a:lnTo>
                </a:path>
              </a:pathLst>
            </a:custGeom>
            <a:noFill/>
            <a:ln w="9525">
              <a:solidFill>
                <a:srgbClr val="B32C0E"/>
              </a:solidFill>
            </a:ln>
          </p:spPr>
        </p:sp>
        <p:sp>
          <p:nvSpPr>
            <p:cNvPr id="176" name="Line 176"/>
            <p:cNvSpPr/>
            <p:nvPr/>
          </p:nvSpPr>
          <p:spPr>
            <a:xfrm>
              <a:off x="133350" y="2514600"/>
              <a:ext cx="5867400" cy="9525"/>
            </a:xfrm>
            <a:custGeom>
              <a:avLst/>
              <a:gdLst/>
              <a:ahLst/>
              <a:cxnLst/>
              <a:rect l="l" t="t" r="r" b="b"/>
              <a:pathLst>
                <a:path w="5867400" h="9525">
                  <a:moveTo>
                    <a:pt x="0" y="0"/>
                  </a:moveTo>
                  <a:lnTo>
                    <a:pt x="5867400" y="0"/>
                  </a:lnTo>
                </a:path>
              </a:pathLst>
            </a:custGeom>
            <a:noFill/>
            <a:ln w="9525">
              <a:solidFill>
                <a:srgbClr val="F1C7CC"/>
              </a:solidFill>
            </a:ln>
          </p:spPr>
        </p:sp>
        <p:sp>
          <p:nvSpPr>
            <p:cNvPr id="177" name="Line 177"/>
            <p:cNvSpPr/>
            <p:nvPr/>
          </p:nvSpPr>
          <p:spPr>
            <a:xfrm>
              <a:off x="133350" y="3162300"/>
              <a:ext cx="5867400" cy="9525"/>
            </a:xfrm>
            <a:custGeom>
              <a:avLst/>
              <a:gdLst/>
              <a:ahLst/>
              <a:cxnLst/>
              <a:rect l="l" t="t" r="r" b="b"/>
              <a:pathLst>
                <a:path w="5867400" h="9525">
                  <a:moveTo>
                    <a:pt x="0" y="0"/>
                  </a:moveTo>
                  <a:lnTo>
                    <a:pt x="5867400" y="0"/>
                  </a:lnTo>
                </a:path>
              </a:pathLst>
            </a:custGeom>
            <a:noFill/>
            <a:ln w="9525">
              <a:solidFill>
                <a:srgbClr val="F1C7CC"/>
              </a:solidFill>
            </a:ln>
          </p:spPr>
        </p:sp>
        <p:sp>
          <p:nvSpPr>
            <p:cNvPr id="178" name="Line 178"/>
            <p:cNvSpPr/>
            <p:nvPr/>
          </p:nvSpPr>
          <p:spPr>
            <a:xfrm>
              <a:off x="133350" y="3810000"/>
              <a:ext cx="5867400" cy="9525"/>
            </a:xfrm>
            <a:custGeom>
              <a:avLst/>
              <a:gdLst/>
              <a:ahLst/>
              <a:cxnLst/>
              <a:rect l="l" t="t" r="r" b="b"/>
              <a:pathLst>
                <a:path w="5867400" h="9525">
                  <a:moveTo>
                    <a:pt x="0" y="0"/>
                  </a:moveTo>
                  <a:lnTo>
                    <a:pt x="5867400" y="0"/>
                  </a:lnTo>
                </a:path>
              </a:pathLst>
            </a:custGeom>
            <a:noFill/>
            <a:ln w="9525">
              <a:solidFill>
                <a:srgbClr val="F1C7CC"/>
              </a:solidFill>
            </a:ln>
          </p:spPr>
        </p:sp>
        <p:sp>
          <p:nvSpPr>
            <p:cNvPr id="179" name="Line 179"/>
            <p:cNvSpPr/>
            <p:nvPr/>
          </p:nvSpPr>
          <p:spPr>
            <a:xfrm>
              <a:off x="133350" y="4457700"/>
              <a:ext cx="5867400" cy="9525"/>
            </a:xfrm>
            <a:custGeom>
              <a:avLst/>
              <a:gdLst/>
              <a:ahLst/>
              <a:cxnLst/>
              <a:rect l="l" t="t" r="r" b="b"/>
              <a:pathLst>
                <a:path w="5867400" h="9525">
                  <a:moveTo>
                    <a:pt x="0" y="0"/>
                  </a:moveTo>
                  <a:lnTo>
                    <a:pt x="5867400" y="0"/>
                  </a:lnTo>
                </a:path>
              </a:pathLst>
            </a:custGeom>
            <a:noFill/>
            <a:ln w="9525">
              <a:solidFill>
                <a:srgbClr val="F1C7CC"/>
              </a:solidFill>
            </a:ln>
          </p:spPr>
        </p:sp>
      </p:grpSp>
      <p:grpSp>
        <p:nvGrpSpPr>
          <p:cNvPr id="232" name="score-model"/>
          <p:cNvGrpSpPr/>
          <p:nvPr/>
        </p:nvGrpSpPr>
        <p:grpSpPr>
          <a:xfrm>
            <a:off x="6191250" y="1447800"/>
            <a:ext cx="5776912" cy="1228725"/>
            <a:chOff x="6191250" y="1447800"/>
            <a:chExt cx="5776912" cy="1228725"/>
          </a:xfrm>
        </p:grpSpPr>
        <p:sp>
          <p:nvSpPr>
            <p:cNvPr id="181" name="Rectangle 181"/>
            <p:cNvSpPr/>
            <p:nvPr/>
          </p:nvSpPr>
          <p:spPr>
            <a:xfrm>
              <a:off x="6191250" y="1447800"/>
              <a:ext cx="38100" cy="152400"/>
            </a:xfrm>
            <a:prstGeom prst="rect">
              <a:avLst/>
            </a:prstGeom>
            <a:solidFill>
              <a:srgbClr val="C83210"/>
            </a:solidFill>
            <a:ln>
              <a:noFill/>
            </a:ln>
          </p:spPr>
        </p:sp>
        <p:sp>
          <p:nvSpPr>
            <p:cNvPr id="182" name="TextBox 182"/>
            <p:cNvSpPr txBox="1"/>
            <p:nvPr/>
          </p:nvSpPr>
          <p:spPr>
            <a:xfrm>
              <a:off x="6300597" y="1466374"/>
              <a:ext cx="1065327"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客户行为评分模型</a:t>
              </a:r>
            </a:p>
          </p:txBody>
        </p:sp>
        <p:sp>
          <p:nvSpPr>
            <p:cNvPr id="183" name="TextBox 183"/>
            <p:cNvSpPr txBox="1"/>
            <p:nvPr/>
          </p:nvSpPr>
          <p:spPr>
            <a:xfrm>
              <a:off x="11323029" y="1494711"/>
              <a:ext cx="645133" cy="140494"/>
            </a:xfrm>
            <a:prstGeom prst="rect">
              <a:avLst/>
            </a:prstGeom>
            <a:noFill/>
            <a:ln>
              <a:noFill/>
            </a:ln>
          </p:spPr>
          <p:txBody>
            <a:bodyPr wrap="none" lIns="0" tIns="0" rIns="0" bIns="0" anchor="t" anchorCtr="0">
              <a:spAutoFit/>
            </a:bodyPr>
            <a:lstStyle/>
            <a:p>
              <a:pPr algn="r"/>
              <a:r>
                <a:rPr lang="zh-CN" sz="710" dirty="0">
                  <a:solidFill>
                    <a:srgbClr val="808080"/>
                  </a:solidFill>
                  <a:latin typeface="+mn-lt"/>
                  <a:ea typeface="+mn-ea"/>
                  <a:cs typeface="+mn-cs"/>
                </a:rPr>
                <a:t>（满分100分）</a:t>
              </a:r>
            </a:p>
          </p:txBody>
        </p:sp>
        <p:sp>
          <p:nvSpPr>
            <p:cNvPr id="184" name="Rectangle 184"/>
            <p:cNvSpPr/>
            <p:nvPr/>
          </p:nvSpPr>
          <p:spPr>
            <a:xfrm>
              <a:off x="6191250" y="2114550"/>
              <a:ext cx="723900" cy="533400"/>
            </a:xfrm>
            <a:prstGeom prst="roundRect">
              <a:avLst>
                <a:gd name="adj" fmla="val 10714"/>
              </a:avLst>
            </a:prstGeom>
            <a:solidFill>
              <a:srgbClr val="C83210"/>
            </a:solidFill>
            <a:ln>
              <a:noFill/>
            </a:ln>
          </p:spPr>
        </p:sp>
        <p:sp>
          <p:nvSpPr>
            <p:cNvPr id="185" name="TextBox 185"/>
            <p:cNvSpPr txBox="1"/>
            <p:nvPr/>
          </p:nvSpPr>
          <p:spPr>
            <a:xfrm>
              <a:off x="6442088" y="22581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客户</a:t>
              </a:r>
            </a:p>
          </p:txBody>
        </p:sp>
        <p:sp>
          <p:nvSpPr>
            <p:cNvPr id="186" name="TextBox 186"/>
            <p:cNvSpPr txBox="1"/>
            <p:nvPr/>
          </p:nvSpPr>
          <p:spPr>
            <a:xfrm>
              <a:off x="6335738" y="24295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行为得分</a:t>
              </a:r>
            </a:p>
          </p:txBody>
        </p:sp>
        <p:sp>
          <p:nvSpPr>
            <p:cNvPr id="187" name="TextBox 187"/>
            <p:cNvSpPr txBox="1"/>
            <p:nvPr/>
          </p:nvSpPr>
          <p:spPr>
            <a:xfrm>
              <a:off x="6988575" y="2311718"/>
              <a:ext cx="119850"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a:t>
              </a:r>
            </a:p>
          </p:txBody>
        </p:sp>
        <p:sp>
          <p:nvSpPr>
            <p:cNvPr id="188" name="Ellipse 188"/>
            <p:cNvSpPr/>
            <p:nvPr/>
          </p:nvSpPr>
          <p:spPr>
            <a:xfrm>
              <a:off x="7096125" y="2085975"/>
              <a:ext cx="590550" cy="590550"/>
            </a:xfrm>
            <a:prstGeom prst="ellipse">
              <a:avLst/>
            </a:prstGeom>
            <a:solidFill>
              <a:srgbClr val="FDEFF1"/>
            </a:solidFill>
            <a:ln>
              <a:noFill/>
            </a:ln>
          </p:spPr>
        </p:sp>
        <p:grpSp>
          <p:nvGrpSpPr>
            <p:cNvPr id="194" name="Group 194"/>
            <p:cNvGrpSpPr/>
            <p:nvPr/>
          </p:nvGrpSpPr>
          <p:grpSpPr>
            <a:xfrm>
              <a:off x="7346950" y="2171700"/>
              <a:ext cx="88900" cy="114300"/>
              <a:chOff x="7346950" y="2171700"/>
              <a:chExt cx="88900" cy="114300"/>
            </a:xfrm>
          </p:grpSpPr>
          <p:sp>
            <p:nvSpPr>
              <p:cNvPr id="189" name="Freeform 189"/>
              <p:cNvSpPr/>
              <p:nvPr/>
            </p:nvSpPr>
            <p:spPr>
              <a:xfrm>
                <a:off x="7404100" y="21717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C83210"/>
                </a:solidFill>
              </a:ln>
            </p:spPr>
          </p:sp>
          <p:sp>
            <p:nvSpPr>
              <p:cNvPr id="190" name="Freeform 190"/>
              <p:cNvSpPr/>
              <p:nvPr/>
            </p:nvSpPr>
            <p:spPr>
              <a:xfrm>
                <a:off x="7346950" y="21717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C83210"/>
                </a:solidFill>
              </a:ln>
            </p:spPr>
          </p:sp>
          <p:sp>
            <p:nvSpPr>
              <p:cNvPr id="191" name="Freeform 191"/>
              <p:cNvSpPr/>
              <p:nvPr/>
            </p:nvSpPr>
            <p:spPr>
              <a:xfrm>
                <a:off x="7372350" y="2209800"/>
                <a:ext cx="9525" cy="9525"/>
              </a:xfrm>
              <a:custGeom>
                <a:avLst/>
                <a:gdLst/>
                <a:ahLst/>
                <a:cxnLst/>
                <a:rect l="l" t="t" r="r" b="b"/>
                <a:pathLst>
                  <a:path w="9525" h="9525">
                    <a:moveTo>
                      <a:pt x="0" y="0"/>
                    </a:moveTo>
                    <a:lnTo>
                      <a:pt x="6350" y="0"/>
                    </a:lnTo>
                  </a:path>
                </a:pathLst>
              </a:custGeom>
              <a:noFill/>
              <a:ln w="12700">
                <a:solidFill>
                  <a:srgbClr val="C83210"/>
                </a:solidFill>
              </a:ln>
            </p:spPr>
          </p:sp>
          <p:sp>
            <p:nvSpPr>
              <p:cNvPr id="192" name="Freeform 192"/>
              <p:cNvSpPr/>
              <p:nvPr/>
            </p:nvSpPr>
            <p:spPr>
              <a:xfrm>
                <a:off x="7372350" y="2235200"/>
                <a:ext cx="38100" cy="9525"/>
              </a:xfrm>
              <a:custGeom>
                <a:avLst/>
                <a:gdLst/>
                <a:ahLst/>
                <a:cxnLst/>
                <a:rect l="l" t="t" r="r" b="b"/>
                <a:pathLst>
                  <a:path w="38100" h="9525">
                    <a:moveTo>
                      <a:pt x="0" y="0"/>
                    </a:moveTo>
                    <a:lnTo>
                      <a:pt x="38100" y="0"/>
                    </a:lnTo>
                  </a:path>
                </a:pathLst>
              </a:custGeom>
              <a:noFill/>
              <a:ln w="12700">
                <a:solidFill>
                  <a:srgbClr val="C83210"/>
                </a:solidFill>
              </a:ln>
            </p:spPr>
          </p:sp>
          <p:sp>
            <p:nvSpPr>
              <p:cNvPr id="193" name="Freeform 193"/>
              <p:cNvSpPr/>
              <p:nvPr/>
            </p:nvSpPr>
            <p:spPr>
              <a:xfrm>
                <a:off x="7372350" y="2260600"/>
                <a:ext cx="38100" cy="9525"/>
              </a:xfrm>
              <a:custGeom>
                <a:avLst/>
                <a:gdLst/>
                <a:ahLst/>
                <a:cxnLst/>
                <a:rect l="l" t="t" r="r" b="b"/>
                <a:pathLst>
                  <a:path w="38100" h="9525">
                    <a:moveTo>
                      <a:pt x="0" y="0"/>
                    </a:moveTo>
                    <a:lnTo>
                      <a:pt x="38100" y="0"/>
                    </a:lnTo>
                  </a:path>
                </a:pathLst>
              </a:custGeom>
              <a:noFill/>
              <a:ln w="12700">
                <a:solidFill>
                  <a:srgbClr val="C83210"/>
                </a:solidFill>
              </a:ln>
            </p:spPr>
          </p:sp>
        </p:grpSp>
        <p:sp>
          <p:nvSpPr>
            <p:cNvPr id="195" name="TextBox 195"/>
            <p:cNvSpPr txBox="1"/>
            <p:nvPr/>
          </p:nvSpPr>
          <p:spPr>
            <a:xfrm>
              <a:off x="7295096" y="2365534"/>
              <a:ext cx="192608"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报名</a:t>
              </a:r>
            </a:p>
          </p:txBody>
        </p:sp>
        <p:sp>
          <p:nvSpPr>
            <p:cNvPr id="196" name="TextBox 196"/>
            <p:cNvSpPr txBox="1"/>
            <p:nvPr/>
          </p:nvSpPr>
          <p:spPr>
            <a:xfrm>
              <a:off x="7270045" y="2492216"/>
              <a:ext cx="242709"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Microsoft YaHei"/>
                  <a:cs typeface="Arial"/>
                </a:rPr>
                <a:t>10分</a:t>
              </a:r>
            </a:p>
          </p:txBody>
        </p:sp>
        <p:sp>
          <p:nvSpPr>
            <p:cNvPr id="197" name="TextBox 197"/>
            <p:cNvSpPr txBox="1"/>
            <p:nvPr/>
          </p:nvSpPr>
          <p:spPr>
            <a:xfrm>
              <a:off x="7712475" y="2302192"/>
              <a:ext cx="119850"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a:t>
              </a:r>
            </a:p>
          </p:txBody>
        </p:sp>
        <p:sp>
          <p:nvSpPr>
            <p:cNvPr id="198" name="Ellipse 198"/>
            <p:cNvSpPr/>
            <p:nvPr/>
          </p:nvSpPr>
          <p:spPr>
            <a:xfrm>
              <a:off x="7858125" y="2085975"/>
              <a:ext cx="590550" cy="590550"/>
            </a:xfrm>
            <a:prstGeom prst="ellipse">
              <a:avLst/>
            </a:prstGeom>
            <a:solidFill>
              <a:srgbClr val="FDEFF1"/>
            </a:solidFill>
            <a:ln>
              <a:noFill/>
            </a:ln>
          </p:spPr>
        </p:sp>
        <p:grpSp>
          <p:nvGrpSpPr>
            <p:cNvPr id="202" name="Group 202"/>
            <p:cNvGrpSpPr/>
            <p:nvPr/>
          </p:nvGrpSpPr>
          <p:grpSpPr>
            <a:xfrm>
              <a:off x="8115300" y="2171700"/>
              <a:ext cx="95250" cy="114300"/>
              <a:chOff x="8115300" y="2171700"/>
              <a:chExt cx="95250" cy="114300"/>
            </a:xfrm>
          </p:grpSpPr>
          <p:sp>
            <p:nvSpPr>
              <p:cNvPr id="199" name="Freeform 199"/>
              <p:cNvSpPr/>
              <p:nvPr/>
            </p:nvSpPr>
            <p:spPr>
              <a:xfrm>
                <a:off x="8128000" y="21717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200" name="Freeform 200"/>
              <p:cNvSpPr/>
              <p:nvPr/>
            </p:nvSpPr>
            <p:spPr>
              <a:xfrm>
                <a:off x="8115300" y="22479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C83210"/>
                </a:solidFill>
              </a:ln>
            </p:spPr>
          </p:sp>
          <p:sp>
            <p:nvSpPr>
              <p:cNvPr id="201" name="Freeform 201"/>
              <p:cNvSpPr/>
              <p:nvPr/>
            </p:nvSpPr>
            <p:spPr>
              <a:xfrm>
                <a:off x="8172450" y="2260600"/>
                <a:ext cx="38100" cy="25400"/>
              </a:xfrm>
              <a:custGeom>
                <a:avLst/>
                <a:gdLst/>
                <a:ahLst/>
                <a:cxnLst/>
                <a:rect l="l" t="t" r="r" b="b"/>
                <a:pathLst>
                  <a:path w="38100" h="25400">
                    <a:moveTo>
                      <a:pt x="0" y="12700"/>
                    </a:moveTo>
                    <a:lnTo>
                      <a:pt x="12700" y="25400"/>
                    </a:lnTo>
                    <a:lnTo>
                      <a:pt x="38100" y="0"/>
                    </a:lnTo>
                  </a:path>
                </a:pathLst>
              </a:custGeom>
              <a:noFill/>
              <a:ln w="12700">
                <a:solidFill>
                  <a:srgbClr val="C83210"/>
                </a:solidFill>
              </a:ln>
            </p:spPr>
          </p:sp>
        </p:grpSp>
        <p:sp>
          <p:nvSpPr>
            <p:cNvPr id="203" name="TextBox 203"/>
            <p:cNvSpPr txBox="1"/>
            <p:nvPr/>
          </p:nvSpPr>
          <p:spPr>
            <a:xfrm>
              <a:off x="8057096" y="2365534"/>
              <a:ext cx="192608"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到场</a:t>
              </a:r>
            </a:p>
          </p:txBody>
        </p:sp>
        <p:sp>
          <p:nvSpPr>
            <p:cNvPr id="204" name="TextBox 204"/>
            <p:cNvSpPr txBox="1"/>
            <p:nvPr/>
          </p:nvSpPr>
          <p:spPr>
            <a:xfrm>
              <a:off x="8032045" y="2492216"/>
              <a:ext cx="242709"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Microsoft YaHei"/>
                  <a:cs typeface="Arial"/>
                </a:rPr>
                <a:t>15分</a:t>
              </a:r>
            </a:p>
          </p:txBody>
        </p:sp>
        <p:sp>
          <p:nvSpPr>
            <p:cNvPr id="205" name="TextBox 205"/>
            <p:cNvSpPr txBox="1"/>
            <p:nvPr/>
          </p:nvSpPr>
          <p:spPr>
            <a:xfrm>
              <a:off x="8474475" y="2302192"/>
              <a:ext cx="119850"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a:t>
              </a:r>
            </a:p>
          </p:txBody>
        </p:sp>
        <p:sp>
          <p:nvSpPr>
            <p:cNvPr id="206" name="Ellipse 206"/>
            <p:cNvSpPr/>
            <p:nvPr/>
          </p:nvSpPr>
          <p:spPr>
            <a:xfrm>
              <a:off x="8620125" y="2085975"/>
              <a:ext cx="590550" cy="590550"/>
            </a:xfrm>
            <a:prstGeom prst="ellipse">
              <a:avLst/>
            </a:prstGeom>
            <a:solidFill>
              <a:srgbClr val="FDEFF1"/>
            </a:solidFill>
            <a:ln>
              <a:noFill/>
            </a:ln>
          </p:spPr>
        </p:sp>
        <p:grpSp>
          <p:nvGrpSpPr>
            <p:cNvPr id="209" name="Group 209"/>
            <p:cNvGrpSpPr/>
            <p:nvPr/>
          </p:nvGrpSpPr>
          <p:grpSpPr>
            <a:xfrm>
              <a:off x="8858250" y="2171700"/>
              <a:ext cx="114300" cy="114300"/>
              <a:chOff x="8858250" y="2171700"/>
              <a:chExt cx="114300" cy="114300"/>
            </a:xfrm>
          </p:grpSpPr>
          <p:sp>
            <p:nvSpPr>
              <p:cNvPr id="207" name="Freeform 207"/>
              <p:cNvSpPr/>
              <p:nvPr/>
            </p:nvSpPr>
            <p:spPr>
              <a:xfrm>
                <a:off x="8858250" y="21717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83210"/>
                </a:solidFill>
              </a:ln>
            </p:spPr>
          </p:sp>
          <p:sp>
            <p:nvSpPr>
              <p:cNvPr id="208" name="Freeform 208"/>
              <p:cNvSpPr/>
              <p:nvPr/>
            </p:nvSpPr>
            <p:spPr>
              <a:xfrm>
                <a:off x="8915400" y="2197100"/>
                <a:ext cx="19050" cy="50800"/>
              </a:xfrm>
              <a:custGeom>
                <a:avLst/>
                <a:gdLst/>
                <a:ahLst/>
                <a:cxnLst/>
                <a:rect l="l" t="t" r="r" b="b"/>
                <a:pathLst>
                  <a:path w="19050" h="50800">
                    <a:moveTo>
                      <a:pt x="0" y="0"/>
                    </a:moveTo>
                    <a:lnTo>
                      <a:pt x="0" y="31750"/>
                    </a:lnTo>
                    <a:lnTo>
                      <a:pt x="19050" y="50800"/>
                    </a:lnTo>
                  </a:path>
                </a:pathLst>
              </a:custGeom>
              <a:noFill/>
              <a:ln w="12700">
                <a:solidFill>
                  <a:srgbClr val="C83210"/>
                </a:solidFill>
              </a:ln>
            </p:spPr>
          </p:sp>
        </p:grpSp>
        <p:sp>
          <p:nvSpPr>
            <p:cNvPr id="210" name="TextBox 210"/>
            <p:cNvSpPr txBox="1"/>
            <p:nvPr/>
          </p:nvSpPr>
          <p:spPr>
            <a:xfrm>
              <a:off x="8819096" y="2365534"/>
              <a:ext cx="192608"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停留</a:t>
              </a:r>
            </a:p>
          </p:txBody>
        </p:sp>
        <p:sp>
          <p:nvSpPr>
            <p:cNvPr id="211" name="TextBox 211"/>
            <p:cNvSpPr txBox="1"/>
            <p:nvPr/>
          </p:nvSpPr>
          <p:spPr>
            <a:xfrm>
              <a:off x="8794045" y="2492216"/>
              <a:ext cx="242709"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Microsoft YaHei"/>
                  <a:cs typeface="Arial"/>
                </a:rPr>
                <a:t>20分</a:t>
              </a:r>
            </a:p>
          </p:txBody>
        </p:sp>
        <p:sp>
          <p:nvSpPr>
            <p:cNvPr id="212" name="TextBox 212"/>
            <p:cNvSpPr txBox="1"/>
            <p:nvPr/>
          </p:nvSpPr>
          <p:spPr>
            <a:xfrm>
              <a:off x="9236475" y="2302192"/>
              <a:ext cx="119850"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a:t>
              </a:r>
            </a:p>
          </p:txBody>
        </p:sp>
        <p:sp>
          <p:nvSpPr>
            <p:cNvPr id="213" name="Ellipse 213"/>
            <p:cNvSpPr/>
            <p:nvPr/>
          </p:nvSpPr>
          <p:spPr>
            <a:xfrm>
              <a:off x="9382125" y="2085975"/>
              <a:ext cx="590550" cy="590550"/>
            </a:xfrm>
            <a:prstGeom prst="ellipse">
              <a:avLst/>
            </a:prstGeom>
            <a:solidFill>
              <a:srgbClr val="FDEFF1"/>
            </a:solidFill>
            <a:ln>
              <a:noFill/>
            </a:ln>
          </p:spPr>
        </p:sp>
        <p:sp>
          <p:nvSpPr>
            <p:cNvPr id="214" name="Freeform 214"/>
            <p:cNvSpPr/>
            <p:nvPr/>
          </p:nvSpPr>
          <p:spPr>
            <a:xfrm>
              <a:off x="9613748" y="217312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C83210"/>
              </a:solidFill>
            </a:ln>
          </p:spPr>
        </p:sp>
        <p:sp>
          <p:nvSpPr>
            <p:cNvPr id="215" name="TextBox 215"/>
            <p:cNvSpPr txBox="1"/>
            <p:nvPr/>
          </p:nvSpPr>
          <p:spPr>
            <a:xfrm>
              <a:off x="9581096" y="2365534"/>
              <a:ext cx="192608"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提问</a:t>
              </a:r>
            </a:p>
          </p:txBody>
        </p:sp>
        <p:sp>
          <p:nvSpPr>
            <p:cNvPr id="216" name="TextBox 216"/>
            <p:cNvSpPr txBox="1"/>
            <p:nvPr/>
          </p:nvSpPr>
          <p:spPr>
            <a:xfrm>
              <a:off x="9556045" y="2492216"/>
              <a:ext cx="242709"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Microsoft YaHei"/>
                  <a:cs typeface="Arial"/>
                </a:rPr>
                <a:t>20分</a:t>
              </a:r>
            </a:p>
          </p:txBody>
        </p:sp>
        <p:sp>
          <p:nvSpPr>
            <p:cNvPr id="217" name="TextBox 217"/>
            <p:cNvSpPr txBox="1"/>
            <p:nvPr/>
          </p:nvSpPr>
          <p:spPr>
            <a:xfrm>
              <a:off x="9998475" y="2302192"/>
              <a:ext cx="119850"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a:t>
              </a:r>
            </a:p>
          </p:txBody>
        </p:sp>
        <p:sp>
          <p:nvSpPr>
            <p:cNvPr id="218" name="Ellipse 218"/>
            <p:cNvSpPr/>
            <p:nvPr/>
          </p:nvSpPr>
          <p:spPr>
            <a:xfrm>
              <a:off x="10144125" y="2085975"/>
              <a:ext cx="590550" cy="590550"/>
            </a:xfrm>
            <a:prstGeom prst="ellipse">
              <a:avLst/>
            </a:prstGeom>
            <a:solidFill>
              <a:srgbClr val="FDEFF1"/>
            </a:solidFill>
            <a:ln>
              <a:noFill/>
            </a:ln>
          </p:spPr>
        </p:sp>
        <p:sp>
          <p:nvSpPr>
            <p:cNvPr id="219" name="Freeform 219"/>
            <p:cNvSpPr/>
            <p:nvPr/>
          </p:nvSpPr>
          <p:spPr>
            <a:xfrm>
              <a:off x="10388600" y="2178050"/>
              <a:ext cx="101584" cy="101584"/>
            </a:xfrm>
            <a:custGeom>
              <a:avLst/>
              <a:gdLst/>
              <a:ahLst/>
              <a:cxnLst/>
              <a:rect l="l" t="t" r="r" b="b"/>
              <a:pathLst>
                <a:path w="101584" h="101584">
                  <a:moveTo>
                    <a:pt x="24790" y="86125"/>
                  </a:moveTo>
                  <a:cubicBezTo>
                    <a:pt x="25482" y="89232"/>
                    <a:pt x="28032" y="91582"/>
                    <a:pt x="31185" y="92018"/>
                  </a:cubicBezTo>
                  <a:cubicBezTo>
                    <a:pt x="34338" y="92454"/>
                    <a:pt x="37430" y="90884"/>
                    <a:pt x="38938" y="88081"/>
                  </a:cubicBezTo>
                  <a:lnTo>
                    <a:pt x="52210" y="68440"/>
                  </a:lnTo>
                  <a:lnTo>
                    <a:pt x="83369" y="99600"/>
                  </a:lnTo>
                  <a:cubicBezTo>
                    <a:pt x="84640" y="100871"/>
                    <a:pt x="86363" y="101584"/>
                    <a:pt x="88160" y="101584"/>
                  </a:cubicBezTo>
                  <a:cubicBezTo>
                    <a:pt x="89957" y="101584"/>
                    <a:pt x="91681" y="100871"/>
                    <a:pt x="92951" y="99600"/>
                  </a:cubicBezTo>
                  <a:lnTo>
                    <a:pt x="99600" y="92951"/>
                  </a:lnTo>
                  <a:cubicBezTo>
                    <a:pt x="100871" y="91681"/>
                    <a:pt x="101584" y="89957"/>
                    <a:pt x="101584" y="88160"/>
                  </a:cubicBezTo>
                  <a:cubicBezTo>
                    <a:pt x="101584" y="86363"/>
                    <a:pt x="100871" y="84640"/>
                    <a:pt x="99600" y="83369"/>
                  </a:cubicBezTo>
                  <a:lnTo>
                    <a:pt x="68440" y="52210"/>
                  </a:lnTo>
                  <a:lnTo>
                    <a:pt x="88208" y="38938"/>
                  </a:lnTo>
                  <a:cubicBezTo>
                    <a:pt x="91011" y="37429"/>
                    <a:pt x="92580" y="34336"/>
                    <a:pt x="92142" y="31183"/>
                  </a:cubicBezTo>
                  <a:cubicBezTo>
                    <a:pt x="91705" y="28029"/>
                    <a:pt x="89354" y="25480"/>
                    <a:pt x="86246" y="24790"/>
                  </a:cubicBezTo>
                  <a:lnTo>
                    <a:pt x="0" y="0"/>
                  </a:lnTo>
                  <a:lnTo>
                    <a:pt x="24790" y="86125"/>
                  </a:lnTo>
                </a:path>
              </a:pathLst>
            </a:custGeom>
            <a:noFill/>
            <a:ln w="12700">
              <a:solidFill>
                <a:srgbClr val="C83210"/>
              </a:solidFill>
            </a:ln>
          </p:spPr>
        </p:sp>
        <p:sp>
          <p:nvSpPr>
            <p:cNvPr id="220" name="TextBox 220"/>
            <p:cNvSpPr txBox="1"/>
            <p:nvPr/>
          </p:nvSpPr>
          <p:spPr>
            <a:xfrm>
              <a:off x="10251554" y="2365534"/>
              <a:ext cx="375691"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点击产品</a:t>
              </a:r>
            </a:p>
          </p:txBody>
        </p:sp>
        <p:sp>
          <p:nvSpPr>
            <p:cNvPr id="221" name="TextBox 221"/>
            <p:cNvSpPr txBox="1"/>
            <p:nvPr/>
          </p:nvSpPr>
          <p:spPr>
            <a:xfrm>
              <a:off x="10318045" y="2492216"/>
              <a:ext cx="242709"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Microsoft YaHei"/>
                  <a:cs typeface="Arial"/>
                </a:rPr>
                <a:t>15分</a:t>
              </a:r>
            </a:p>
          </p:txBody>
        </p:sp>
        <p:sp>
          <p:nvSpPr>
            <p:cNvPr id="222" name="TextBox 222"/>
            <p:cNvSpPr txBox="1"/>
            <p:nvPr/>
          </p:nvSpPr>
          <p:spPr>
            <a:xfrm>
              <a:off x="10760475" y="2302192"/>
              <a:ext cx="119850"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a:t>
              </a:r>
            </a:p>
          </p:txBody>
        </p:sp>
        <p:sp>
          <p:nvSpPr>
            <p:cNvPr id="223" name="Ellipse 223"/>
            <p:cNvSpPr/>
            <p:nvPr/>
          </p:nvSpPr>
          <p:spPr>
            <a:xfrm>
              <a:off x="10906125" y="2085975"/>
              <a:ext cx="590550" cy="590550"/>
            </a:xfrm>
            <a:prstGeom prst="ellipse">
              <a:avLst/>
            </a:prstGeom>
            <a:solidFill>
              <a:srgbClr val="FDEFF1"/>
            </a:solidFill>
            <a:ln>
              <a:noFill/>
            </a:ln>
          </p:spPr>
        </p:sp>
        <p:grpSp>
          <p:nvGrpSpPr>
            <p:cNvPr id="229" name="Group 229"/>
            <p:cNvGrpSpPr/>
            <p:nvPr/>
          </p:nvGrpSpPr>
          <p:grpSpPr>
            <a:xfrm>
              <a:off x="11150600" y="2171700"/>
              <a:ext cx="101600" cy="114300"/>
              <a:chOff x="11150600" y="2171700"/>
              <a:chExt cx="101600" cy="114300"/>
            </a:xfrm>
          </p:grpSpPr>
          <p:sp>
            <p:nvSpPr>
              <p:cNvPr id="224" name="Freeform 224"/>
              <p:cNvSpPr/>
              <p:nvPr/>
            </p:nvSpPr>
            <p:spPr>
              <a:xfrm>
                <a:off x="11150600" y="2184400"/>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C83210"/>
                </a:solidFill>
              </a:ln>
            </p:spPr>
          </p:sp>
          <p:sp>
            <p:nvSpPr>
              <p:cNvPr id="225" name="Freeform 225"/>
              <p:cNvSpPr/>
              <p:nvPr/>
            </p:nvSpPr>
            <p:spPr>
              <a:xfrm>
                <a:off x="11226800" y="2171700"/>
                <a:ext cx="9525" cy="25400"/>
              </a:xfrm>
              <a:custGeom>
                <a:avLst/>
                <a:gdLst/>
                <a:ahLst/>
                <a:cxnLst/>
                <a:rect l="l" t="t" r="r" b="b"/>
                <a:pathLst>
                  <a:path w="9525" h="25400">
                    <a:moveTo>
                      <a:pt x="0" y="0"/>
                    </a:moveTo>
                    <a:lnTo>
                      <a:pt x="0" y="25400"/>
                    </a:lnTo>
                  </a:path>
                </a:pathLst>
              </a:custGeom>
              <a:noFill/>
              <a:ln w="12700">
                <a:solidFill>
                  <a:srgbClr val="C83210"/>
                </a:solidFill>
              </a:ln>
            </p:spPr>
          </p:sp>
          <p:sp>
            <p:nvSpPr>
              <p:cNvPr id="226" name="Freeform 226"/>
              <p:cNvSpPr/>
              <p:nvPr/>
            </p:nvSpPr>
            <p:spPr>
              <a:xfrm>
                <a:off x="11176000" y="2171700"/>
                <a:ext cx="9525" cy="25400"/>
              </a:xfrm>
              <a:custGeom>
                <a:avLst/>
                <a:gdLst/>
                <a:ahLst/>
                <a:cxnLst/>
                <a:rect l="l" t="t" r="r" b="b"/>
                <a:pathLst>
                  <a:path w="9525" h="25400">
                    <a:moveTo>
                      <a:pt x="0" y="0"/>
                    </a:moveTo>
                    <a:lnTo>
                      <a:pt x="0" y="25400"/>
                    </a:lnTo>
                  </a:path>
                </a:pathLst>
              </a:custGeom>
              <a:noFill/>
              <a:ln w="12700">
                <a:solidFill>
                  <a:srgbClr val="C83210"/>
                </a:solidFill>
              </a:ln>
            </p:spPr>
          </p:sp>
          <p:sp>
            <p:nvSpPr>
              <p:cNvPr id="227" name="Freeform 227"/>
              <p:cNvSpPr/>
              <p:nvPr/>
            </p:nvSpPr>
            <p:spPr>
              <a:xfrm>
                <a:off x="11150600" y="2222500"/>
                <a:ext cx="101600" cy="9525"/>
              </a:xfrm>
              <a:custGeom>
                <a:avLst/>
                <a:gdLst/>
                <a:ahLst/>
                <a:cxnLst/>
                <a:rect l="l" t="t" r="r" b="b"/>
                <a:pathLst>
                  <a:path w="101600" h="9525">
                    <a:moveTo>
                      <a:pt x="0" y="0"/>
                    </a:moveTo>
                    <a:lnTo>
                      <a:pt x="101600" y="0"/>
                    </a:lnTo>
                  </a:path>
                </a:pathLst>
              </a:custGeom>
              <a:noFill/>
              <a:ln w="12700">
                <a:solidFill>
                  <a:srgbClr val="C83210"/>
                </a:solidFill>
              </a:ln>
            </p:spPr>
          </p:sp>
          <p:sp>
            <p:nvSpPr>
              <p:cNvPr id="228" name="Freeform 228"/>
              <p:cNvSpPr/>
              <p:nvPr/>
            </p:nvSpPr>
            <p:spPr>
              <a:xfrm>
                <a:off x="11176000" y="2247900"/>
                <a:ext cx="12700" cy="12700"/>
              </a:xfrm>
              <a:custGeom>
                <a:avLst/>
                <a:gdLst/>
                <a:ahLst/>
                <a:cxnLst/>
                <a:rect l="l" t="t" r="r" b="b"/>
                <a:pathLst>
                  <a:path w="12700" h="12700">
                    <a:moveTo>
                      <a:pt x="0" y="0"/>
                    </a:moveTo>
                    <a:lnTo>
                      <a:pt x="12700" y="0"/>
                    </a:lnTo>
                    <a:lnTo>
                      <a:pt x="12700" y="12700"/>
                    </a:lnTo>
                    <a:lnTo>
                      <a:pt x="0" y="12700"/>
                    </a:lnTo>
                    <a:lnTo>
                      <a:pt x="0" y="0"/>
                    </a:lnTo>
                  </a:path>
                </a:pathLst>
              </a:custGeom>
              <a:noFill/>
              <a:ln w="12700">
                <a:solidFill>
                  <a:srgbClr val="C83210"/>
                </a:solidFill>
              </a:ln>
            </p:spPr>
          </p:sp>
        </p:grpSp>
        <p:sp>
          <p:nvSpPr>
            <p:cNvPr id="230" name="TextBox 230"/>
            <p:cNvSpPr txBox="1"/>
            <p:nvPr/>
          </p:nvSpPr>
          <p:spPr>
            <a:xfrm>
              <a:off x="11105096" y="2365534"/>
              <a:ext cx="192608" cy="133350"/>
            </a:xfrm>
            <a:prstGeom prst="rect">
              <a:avLst/>
            </a:prstGeom>
            <a:noFill/>
            <a:ln>
              <a:noFill/>
            </a:ln>
          </p:spPr>
          <p:txBody>
            <a:bodyPr wrap="none" lIns="0" tIns="0" rIns="0" bIns="0" anchor="t" anchorCtr="0">
              <a:spAutoFit/>
            </a:bodyPr>
            <a:lstStyle/>
            <a:p>
              <a:pPr algn="ctr"/>
              <a:r>
                <a:rPr lang="zh-CN" sz="680" b="1" dirty="0">
                  <a:solidFill>
                    <a:srgbClr val="222222"/>
                  </a:solidFill>
                  <a:latin typeface="+mn-lt"/>
                  <a:ea typeface="+mn-ea"/>
                  <a:cs typeface="+mn-cs"/>
                </a:rPr>
                <a:t>预约</a:t>
              </a:r>
            </a:p>
          </p:txBody>
        </p:sp>
        <p:sp>
          <p:nvSpPr>
            <p:cNvPr id="231" name="TextBox 231"/>
            <p:cNvSpPr txBox="1"/>
            <p:nvPr/>
          </p:nvSpPr>
          <p:spPr>
            <a:xfrm>
              <a:off x="11080045" y="2492216"/>
              <a:ext cx="242709"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Microsoft YaHei"/>
                  <a:cs typeface="Arial"/>
                </a:rPr>
                <a:t>20分</a:t>
              </a:r>
            </a:p>
          </p:txBody>
        </p:sp>
      </p:grpSp>
      <p:grpSp>
        <p:nvGrpSpPr>
          <p:cNvPr id="285" name="sla-table"/>
          <p:cNvGrpSpPr/>
          <p:nvPr/>
        </p:nvGrpSpPr>
        <p:grpSpPr>
          <a:xfrm>
            <a:off x="6134100" y="3067050"/>
            <a:ext cx="5924550" cy="1419225"/>
            <a:chOff x="6134100" y="3067050"/>
            <a:chExt cx="5924550" cy="1419225"/>
          </a:xfrm>
        </p:grpSpPr>
        <p:sp>
          <p:nvSpPr>
            <p:cNvPr id="233" name="Rectangle 233"/>
            <p:cNvSpPr/>
            <p:nvPr/>
          </p:nvSpPr>
          <p:spPr>
            <a:xfrm>
              <a:off x="6191250" y="3067050"/>
              <a:ext cx="38100" cy="152400"/>
            </a:xfrm>
            <a:prstGeom prst="rect">
              <a:avLst/>
            </a:prstGeom>
            <a:solidFill>
              <a:srgbClr val="C83210"/>
            </a:solidFill>
            <a:ln>
              <a:noFill/>
            </a:ln>
          </p:spPr>
        </p:sp>
        <p:sp>
          <p:nvSpPr>
            <p:cNvPr id="234" name="TextBox 234"/>
            <p:cNvSpPr txBox="1"/>
            <p:nvPr/>
          </p:nvSpPr>
          <p:spPr>
            <a:xfrm>
              <a:off x="6300597" y="3085624"/>
              <a:ext cx="1306829"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 xml:space="preserve">线索分配与跟进SLA　</a:t>
              </a:r>
            </a:p>
          </p:txBody>
        </p:sp>
        <p:sp>
          <p:nvSpPr>
            <p:cNvPr id="235" name="Rectangle 235"/>
            <p:cNvSpPr/>
            <p:nvPr/>
          </p:nvSpPr>
          <p:spPr>
            <a:xfrm>
              <a:off x="6134100" y="3257550"/>
              <a:ext cx="5924550" cy="190500"/>
            </a:xfrm>
            <a:prstGeom prst="rect">
              <a:avLst/>
            </a:prstGeom>
            <a:solidFill>
              <a:srgbClr val="C83210"/>
            </a:solidFill>
            <a:ln>
              <a:noFill/>
            </a:ln>
          </p:spPr>
        </p:sp>
        <p:sp>
          <p:nvSpPr>
            <p:cNvPr id="236" name="TextBox 236"/>
            <p:cNvSpPr txBox="1"/>
            <p:nvPr/>
          </p:nvSpPr>
          <p:spPr>
            <a:xfrm>
              <a:off x="6327254" y="33180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客户等级</a:t>
              </a:r>
            </a:p>
          </p:txBody>
        </p:sp>
        <p:sp>
          <p:nvSpPr>
            <p:cNvPr id="237" name="TextBox 237"/>
            <p:cNvSpPr txBox="1"/>
            <p:nvPr/>
          </p:nvSpPr>
          <p:spPr>
            <a:xfrm>
              <a:off x="7022579" y="33180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评分区间</a:t>
              </a:r>
            </a:p>
          </p:txBody>
        </p:sp>
        <p:sp>
          <p:nvSpPr>
            <p:cNvPr id="238" name="TextBox 238"/>
            <p:cNvSpPr txBox="1"/>
            <p:nvPr/>
          </p:nvSpPr>
          <p:spPr>
            <a:xfrm>
              <a:off x="7860779" y="33180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客户特征</a:t>
              </a:r>
            </a:p>
          </p:txBody>
        </p:sp>
        <p:sp>
          <p:nvSpPr>
            <p:cNvPr id="239" name="TextBox 239"/>
            <p:cNvSpPr txBox="1"/>
            <p:nvPr/>
          </p:nvSpPr>
          <p:spPr>
            <a:xfrm>
              <a:off x="9003779" y="33180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分配规则</a:t>
              </a:r>
            </a:p>
          </p:txBody>
        </p:sp>
        <p:sp>
          <p:nvSpPr>
            <p:cNvPr id="240" name="TextBox 240"/>
            <p:cNvSpPr txBox="1"/>
            <p:nvPr/>
          </p:nvSpPr>
          <p:spPr>
            <a:xfrm>
              <a:off x="9959988" y="3318034"/>
              <a:ext cx="558775"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网点跟进时效</a:t>
              </a:r>
            </a:p>
          </p:txBody>
        </p:sp>
        <p:sp>
          <p:nvSpPr>
            <p:cNvPr id="241" name="TextBox 241"/>
            <p:cNvSpPr txBox="1"/>
            <p:nvPr/>
          </p:nvSpPr>
          <p:spPr>
            <a:xfrm>
              <a:off x="11175479" y="33180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跟进要求</a:t>
              </a:r>
            </a:p>
          </p:txBody>
        </p:sp>
        <p:sp>
          <p:nvSpPr>
            <p:cNvPr id="242" name="Rectangle 242"/>
            <p:cNvSpPr/>
            <p:nvPr/>
          </p:nvSpPr>
          <p:spPr>
            <a:xfrm>
              <a:off x="6134100" y="3705225"/>
              <a:ext cx="5924550" cy="257175"/>
            </a:xfrm>
            <a:prstGeom prst="rect">
              <a:avLst/>
            </a:prstGeom>
            <a:solidFill>
              <a:srgbClr val="FDEFF1"/>
            </a:solidFill>
            <a:ln>
              <a:noFill/>
            </a:ln>
          </p:spPr>
        </p:sp>
        <p:sp>
          <p:nvSpPr>
            <p:cNvPr id="243" name="Rectangle 243"/>
            <p:cNvSpPr/>
            <p:nvPr/>
          </p:nvSpPr>
          <p:spPr>
            <a:xfrm>
              <a:off x="6134100" y="4219575"/>
              <a:ext cx="5924550" cy="257175"/>
            </a:xfrm>
            <a:prstGeom prst="rect">
              <a:avLst/>
            </a:prstGeom>
            <a:solidFill>
              <a:srgbClr val="FDEFF1"/>
            </a:solidFill>
            <a:ln>
              <a:noFill/>
            </a:ln>
          </p:spPr>
        </p:sp>
        <p:sp>
          <p:nvSpPr>
            <p:cNvPr id="244" name="TextBox 244"/>
            <p:cNvSpPr txBox="1"/>
            <p:nvPr/>
          </p:nvSpPr>
          <p:spPr>
            <a:xfrm>
              <a:off x="6186488" y="3541157"/>
              <a:ext cx="579038"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 xml:space="preserve">A（高意向）　</a:t>
              </a:r>
            </a:p>
          </p:txBody>
        </p:sp>
        <p:sp>
          <p:nvSpPr>
            <p:cNvPr id="245" name="TextBox 245"/>
            <p:cNvSpPr txBox="1"/>
            <p:nvPr/>
          </p:nvSpPr>
          <p:spPr>
            <a:xfrm>
              <a:off x="6948488" y="3545205"/>
              <a:ext cx="42259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 xml:space="preserve">80-100分　</a:t>
              </a:r>
            </a:p>
          </p:txBody>
        </p:sp>
        <p:sp>
          <p:nvSpPr>
            <p:cNvPr id="246" name="TextBox 246"/>
            <p:cNvSpPr txBox="1"/>
            <p:nvPr/>
          </p:nvSpPr>
          <p:spPr>
            <a:xfrm>
              <a:off x="7577138" y="3489674"/>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明确需求，近期有</a:t>
              </a:r>
            </a:p>
          </p:txBody>
        </p:sp>
        <p:sp>
          <p:nvSpPr>
            <p:cNvPr id="247" name="TextBox 247"/>
            <p:cNvSpPr txBox="1"/>
            <p:nvPr/>
          </p:nvSpPr>
          <p:spPr>
            <a:xfrm>
              <a:off x="7577138" y="3594449"/>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强烈购买意向</a:t>
              </a:r>
            </a:p>
          </p:txBody>
        </p:sp>
        <p:sp>
          <p:nvSpPr>
            <p:cNvPr id="248" name="TextBox 248"/>
            <p:cNvSpPr txBox="1"/>
            <p:nvPr/>
          </p:nvSpPr>
          <p:spPr>
            <a:xfrm>
              <a:off x="8624888" y="3489674"/>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优先分配给客户经理</a:t>
              </a:r>
            </a:p>
          </p:txBody>
        </p:sp>
        <p:sp>
          <p:nvSpPr>
            <p:cNvPr id="249" name="TextBox 249"/>
            <p:cNvSpPr txBox="1"/>
            <p:nvPr/>
          </p:nvSpPr>
          <p:spPr>
            <a:xfrm>
              <a:off x="8624888" y="3594449"/>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（高价值客户池）</a:t>
              </a:r>
            </a:p>
          </p:txBody>
        </p:sp>
        <p:sp>
          <p:nvSpPr>
            <p:cNvPr id="250" name="TextBox 250"/>
            <p:cNvSpPr txBox="1"/>
            <p:nvPr/>
          </p:nvSpPr>
          <p:spPr>
            <a:xfrm>
              <a:off x="10070867" y="3546634"/>
              <a:ext cx="337015"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2小时内</a:t>
              </a:r>
            </a:p>
          </p:txBody>
        </p:sp>
        <p:sp>
          <p:nvSpPr>
            <p:cNvPr id="251" name="TextBox 251"/>
            <p:cNvSpPr txBox="1"/>
            <p:nvPr/>
          </p:nvSpPr>
          <p:spPr>
            <a:xfrm>
              <a:off x="10720388" y="3489674"/>
              <a:ext cx="599026"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电话+企微双触达</a:t>
              </a:r>
            </a:p>
          </p:txBody>
        </p:sp>
        <p:sp>
          <p:nvSpPr>
            <p:cNvPr id="252" name="TextBox 252"/>
            <p:cNvSpPr txBox="1"/>
            <p:nvPr/>
          </p:nvSpPr>
          <p:spPr>
            <a:xfrm>
              <a:off x="10720388" y="3594449"/>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定期跟进直至转化</a:t>
              </a:r>
            </a:p>
          </p:txBody>
        </p:sp>
        <p:sp>
          <p:nvSpPr>
            <p:cNvPr id="253" name="TextBox 253"/>
            <p:cNvSpPr txBox="1"/>
            <p:nvPr/>
          </p:nvSpPr>
          <p:spPr>
            <a:xfrm>
              <a:off x="6186488" y="3798332"/>
              <a:ext cx="665195"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 xml:space="preserve">B（较高意向）　</a:t>
              </a:r>
            </a:p>
          </p:txBody>
        </p:sp>
        <p:sp>
          <p:nvSpPr>
            <p:cNvPr id="254" name="TextBox 254"/>
            <p:cNvSpPr txBox="1"/>
            <p:nvPr/>
          </p:nvSpPr>
          <p:spPr>
            <a:xfrm>
              <a:off x="6948488" y="3802380"/>
              <a:ext cx="377668"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 xml:space="preserve">60-79分　</a:t>
              </a:r>
            </a:p>
          </p:txBody>
        </p:sp>
        <p:sp>
          <p:nvSpPr>
            <p:cNvPr id="255" name="TextBox 255"/>
            <p:cNvSpPr txBox="1"/>
            <p:nvPr/>
          </p:nvSpPr>
          <p:spPr>
            <a:xfrm>
              <a:off x="7577138" y="3803999"/>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有兴趣，正在考虑</a:t>
              </a:r>
            </a:p>
          </p:txBody>
        </p:sp>
        <p:sp>
          <p:nvSpPr>
            <p:cNvPr id="256" name="TextBox 256"/>
            <p:cNvSpPr txBox="1"/>
            <p:nvPr/>
          </p:nvSpPr>
          <p:spPr>
            <a:xfrm>
              <a:off x="8624888" y="3803999"/>
              <a:ext cx="55608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分配至对应网点</a:t>
              </a:r>
            </a:p>
          </p:txBody>
        </p:sp>
        <p:sp>
          <p:nvSpPr>
            <p:cNvPr id="257" name="TextBox 257"/>
            <p:cNvSpPr txBox="1"/>
            <p:nvPr/>
          </p:nvSpPr>
          <p:spPr>
            <a:xfrm>
              <a:off x="10097300" y="3803809"/>
              <a:ext cx="284150"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当日内</a:t>
              </a:r>
            </a:p>
          </p:txBody>
        </p:sp>
        <p:sp>
          <p:nvSpPr>
            <p:cNvPr id="258" name="TextBox 258"/>
            <p:cNvSpPr txBox="1"/>
            <p:nvPr/>
          </p:nvSpPr>
          <p:spPr>
            <a:xfrm>
              <a:off x="10720388" y="3746849"/>
              <a:ext cx="55608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电话或企微联系</a:t>
              </a:r>
            </a:p>
          </p:txBody>
        </p:sp>
        <p:sp>
          <p:nvSpPr>
            <p:cNvPr id="259" name="TextBox 259"/>
            <p:cNvSpPr txBox="1"/>
            <p:nvPr/>
          </p:nvSpPr>
          <p:spPr>
            <a:xfrm>
              <a:off x="10720388" y="3851624"/>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发送产品资料</a:t>
              </a:r>
            </a:p>
          </p:txBody>
        </p:sp>
        <p:sp>
          <p:nvSpPr>
            <p:cNvPr id="260" name="TextBox 260"/>
            <p:cNvSpPr txBox="1"/>
            <p:nvPr/>
          </p:nvSpPr>
          <p:spPr>
            <a:xfrm>
              <a:off x="6186488" y="4055507"/>
              <a:ext cx="665195"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 xml:space="preserve">C（一般意向）　</a:t>
              </a:r>
            </a:p>
          </p:txBody>
        </p:sp>
        <p:sp>
          <p:nvSpPr>
            <p:cNvPr id="261" name="TextBox 261"/>
            <p:cNvSpPr txBox="1"/>
            <p:nvPr/>
          </p:nvSpPr>
          <p:spPr>
            <a:xfrm>
              <a:off x="6948488" y="4059555"/>
              <a:ext cx="377668"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 xml:space="preserve">30-59分　</a:t>
              </a:r>
            </a:p>
          </p:txBody>
        </p:sp>
        <p:sp>
          <p:nvSpPr>
            <p:cNvPr id="262" name="TextBox 262"/>
            <p:cNvSpPr txBox="1"/>
            <p:nvPr/>
          </p:nvSpPr>
          <p:spPr>
            <a:xfrm>
              <a:off x="7577138" y="4061174"/>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初步了解，需培育</a:t>
              </a:r>
            </a:p>
          </p:txBody>
        </p:sp>
        <p:sp>
          <p:nvSpPr>
            <p:cNvPr id="263" name="TextBox 263"/>
            <p:cNvSpPr txBox="1"/>
            <p:nvPr/>
          </p:nvSpPr>
          <p:spPr>
            <a:xfrm>
              <a:off x="8624888" y="4004024"/>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分配至网点，由客服</a:t>
              </a:r>
            </a:p>
          </p:txBody>
        </p:sp>
        <p:sp>
          <p:nvSpPr>
            <p:cNvPr id="264" name="TextBox 264"/>
            <p:cNvSpPr txBox="1"/>
            <p:nvPr/>
          </p:nvSpPr>
          <p:spPr>
            <a:xfrm>
              <a:off x="8624888" y="4108799"/>
              <a:ext cx="55608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或客户经理跟进</a:t>
              </a:r>
            </a:p>
          </p:txBody>
        </p:sp>
        <p:sp>
          <p:nvSpPr>
            <p:cNvPr id="265" name="TextBox 265"/>
            <p:cNvSpPr txBox="1"/>
            <p:nvPr/>
          </p:nvSpPr>
          <p:spPr>
            <a:xfrm>
              <a:off x="10116638" y="4060984"/>
              <a:ext cx="245473"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3日内</a:t>
              </a:r>
            </a:p>
          </p:txBody>
        </p:sp>
        <p:sp>
          <p:nvSpPr>
            <p:cNvPr id="266" name="TextBox 266"/>
            <p:cNvSpPr txBox="1"/>
            <p:nvPr/>
          </p:nvSpPr>
          <p:spPr>
            <a:xfrm>
              <a:off x="10720388" y="4004024"/>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企微触达</a:t>
              </a:r>
            </a:p>
          </p:txBody>
        </p:sp>
        <p:sp>
          <p:nvSpPr>
            <p:cNvPr id="267" name="TextBox 267"/>
            <p:cNvSpPr txBox="1"/>
            <p:nvPr/>
          </p:nvSpPr>
          <p:spPr>
            <a:xfrm>
              <a:off x="10720388" y="4108799"/>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持续内容培育</a:t>
              </a:r>
            </a:p>
          </p:txBody>
        </p:sp>
        <p:sp>
          <p:nvSpPr>
            <p:cNvPr id="268" name="TextBox 268"/>
            <p:cNvSpPr txBox="1"/>
            <p:nvPr/>
          </p:nvSpPr>
          <p:spPr>
            <a:xfrm>
              <a:off x="6186488" y="4312682"/>
              <a:ext cx="579038"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 xml:space="preserve">D（低意向）　</a:t>
              </a:r>
            </a:p>
          </p:txBody>
        </p:sp>
        <p:sp>
          <p:nvSpPr>
            <p:cNvPr id="269" name="TextBox 269"/>
            <p:cNvSpPr txBox="1"/>
            <p:nvPr/>
          </p:nvSpPr>
          <p:spPr>
            <a:xfrm>
              <a:off x="6948488" y="4316730"/>
              <a:ext cx="332742" cy="119062"/>
            </a:xfrm>
            <a:prstGeom prst="rect">
              <a:avLst/>
            </a:prstGeom>
            <a:noFill/>
            <a:ln>
              <a:noFill/>
            </a:ln>
          </p:spPr>
          <p:txBody>
            <a:bodyPr wrap="none" lIns="0" tIns="0" rIns="0" bIns="0" anchor="t" anchorCtr="0">
              <a:spAutoFit/>
            </a:bodyPr>
            <a:lstStyle/>
            <a:p>
              <a:pPr algn="l"/>
              <a:r>
                <a:rPr lang="zh-CN" sz="600" dirty="0">
                  <a:solidFill>
                    <a:srgbClr val="3D3D3D"/>
                  </a:solidFill>
                  <a:latin typeface="Arial"/>
                  <a:ea typeface="Microsoft YaHei"/>
                  <a:cs typeface="Arial"/>
                </a:rPr>
                <a:t xml:space="preserve">0-29分　</a:t>
              </a:r>
            </a:p>
          </p:txBody>
        </p:sp>
        <p:sp>
          <p:nvSpPr>
            <p:cNvPr id="270" name="TextBox 270"/>
            <p:cNvSpPr txBox="1"/>
            <p:nvPr/>
          </p:nvSpPr>
          <p:spPr>
            <a:xfrm>
              <a:off x="7577138" y="4318349"/>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关注度低，暂不考虑</a:t>
              </a:r>
            </a:p>
          </p:txBody>
        </p:sp>
        <p:sp>
          <p:nvSpPr>
            <p:cNvPr id="271" name="TextBox 271"/>
            <p:cNvSpPr txBox="1"/>
            <p:nvPr/>
          </p:nvSpPr>
          <p:spPr>
            <a:xfrm>
              <a:off x="8624888" y="4318349"/>
              <a:ext cx="55608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进入长期培育池</a:t>
              </a:r>
            </a:p>
          </p:txBody>
        </p:sp>
        <p:sp>
          <p:nvSpPr>
            <p:cNvPr id="272" name="TextBox 272"/>
            <p:cNvSpPr txBox="1"/>
            <p:nvPr/>
          </p:nvSpPr>
          <p:spPr>
            <a:xfrm>
              <a:off x="10116638" y="4318159"/>
              <a:ext cx="245473"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7日内</a:t>
              </a:r>
            </a:p>
          </p:txBody>
        </p:sp>
        <p:sp>
          <p:nvSpPr>
            <p:cNvPr id="273" name="TextBox 273"/>
            <p:cNvSpPr txBox="1"/>
            <p:nvPr/>
          </p:nvSpPr>
          <p:spPr>
            <a:xfrm>
              <a:off x="10720388" y="4261199"/>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定期推送内容</a:t>
              </a:r>
            </a:p>
          </p:txBody>
        </p:sp>
        <p:sp>
          <p:nvSpPr>
            <p:cNvPr id="274" name="TextBox 274"/>
            <p:cNvSpPr txBox="1"/>
            <p:nvPr/>
          </p:nvSpPr>
          <p:spPr>
            <a:xfrm>
              <a:off x="10720388" y="4365974"/>
              <a:ext cx="55608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重要活动再邀约</a:t>
              </a:r>
            </a:p>
          </p:txBody>
        </p:sp>
        <p:sp>
          <p:nvSpPr>
            <p:cNvPr id="275" name="Line 275"/>
            <p:cNvSpPr/>
            <p:nvPr/>
          </p:nvSpPr>
          <p:spPr>
            <a:xfrm>
              <a:off x="6896100" y="3257550"/>
              <a:ext cx="9525" cy="1219200"/>
            </a:xfrm>
            <a:custGeom>
              <a:avLst/>
              <a:gdLst/>
              <a:ahLst/>
              <a:cxnLst/>
              <a:rect l="l" t="t" r="r" b="b"/>
              <a:pathLst>
                <a:path w="9525" h="1219200">
                  <a:moveTo>
                    <a:pt x="0" y="0"/>
                  </a:moveTo>
                  <a:lnTo>
                    <a:pt x="0" y="1219200"/>
                  </a:lnTo>
                </a:path>
              </a:pathLst>
            </a:custGeom>
            <a:noFill/>
            <a:ln w="9525">
              <a:solidFill>
                <a:srgbClr val="F1C7CC"/>
              </a:solidFill>
            </a:ln>
          </p:spPr>
        </p:sp>
        <p:sp>
          <p:nvSpPr>
            <p:cNvPr id="276" name="Line 276"/>
            <p:cNvSpPr/>
            <p:nvPr/>
          </p:nvSpPr>
          <p:spPr>
            <a:xfrm>
              <a:off x="7524750" y="3257550"/>
              <a:ext cx="9525" cy="1219200"/>
            </a:xfrm>
            <a:custGeom>
              <a:avLst/>
              <a:gdLst/>
              <a:ahLst/>
              <a:cxnLst/>
              <a:rect l="l" t="t" r="r" b="b"/>
              <a:pathLst>
                <a:path w="9525" h="1219200">
                  <a:moveTo>
                    <a:pt x="0" y="0"/>
                  </a:moveTo>
                  <a:lnTo>
                    <a:pt x="0" y="1219200"/>
                  </a:lnTo>
                </a:path>
              </a:pathLst>
            </a:custGeom>
            <a:noFill/>
            <a:ln w="9525">
              <a:solidFill>
                <a:srgbClr val="F1C7CC"/>
              </a:solidFill>
            </a:ln>
          </p:spPr>
        </p:sp>
        <p:sp>
          <p:nvSpPr>
            <p:cNvPr id="277" name="Line 277"/>
            <p:cNvSpPr/>
            <p:nvPr/>
          </p:nvSpPr>
          <p:spPr>
            <a:xfrm>
              <a:off x="8572500" y="3257550"/>
              <a:ext cx="9525" cy="1219200"/>
            </a:xfrm>
            <a:custGeom>
              <a:avLst/>
              <a:gdLst/>
              <a:ahLst/>
              <a:cxnLst/>
              <a:rect l="l" t="t" r="r" b="b"/>
              <a:pathLst>
                <a:path w="9525" h="1219200">
                  <a:moveTo>
                    <a:pt x="0" y="0"/>
                  </a:moveTo>
                  <a:lnTo>
                    <a:pt x="0" y="1219200"/>
                  </a:lnTo>
                </a:path>
              </a:pathLst>
            </a:custGeom>
            <a:noFill/>
            <a:ln w="9525">
              <a:solidFill>
                <a:srgbClr val="F1C7CC"/>
              </a:solidFill>
            </a:ln>
          </p:spPr>
        </p:sp>
        <p:sp>
          <p:nvSpPr>
            <p:cNvPr id="278" name="Line 278"/>
            <p:cNvSpPr/>
            <p:nvPr/>
          </p:nvSpPr>
          <p:spPr>
            <a:xfrm>
              <a:off x="9810750" y="3257550"/>
              <a:ext cx="9525" cy="1219200"/>
            </a:xfrm>
            <a:custGeom>
              <a:avLst/>
              <a:gdLst/>
              <a:ahLst/>
              <a:cxnLst/>
              <a:rect l="l" t="t" r="r" b="b"/>
              <a:pathLst>
                <a:path w="9525" h="1219200">
                  <a:moveTo>
                    <a:pt x="0" y="0"/>
                  </a:moveTo>
                  <a:lnTo>
                    <a:pt x="0" y="1219200"/>
                  </a:lnTo>
                </a:path>
              </a:pathLst>
            </a:custGeom>
            <a:noFill/>
            <a:ln w="9525">
              <a:solidFill>
                <a:srgbClr val="F1C7CC"/>
              </a:solidFill>
            </a:ln>
          </p:spPr>
        </p:sp>
        <p:sp>
          <p:nvSpPr>
            <p:cNvPr id="279" name="Line 279"/>
            <p:cNvSpPr/>
            <p:nvPr/>
          </p:nvSpPr>
          <p:spPr>
            <a:xfrm>
              <a:off x="10668000" y="3257550"/>
              <a:ext cx="9525" cy="1219200"/>
            </a:xfrm>
            <a:custGeom>
              <a:avLst/>
              <a:gdLst/>
              <a:ahLst/>
              <a:cxnLst/>
              <a:rect l="l" t="t" r="r" b="b"/>
              <a:pathLst>
                <a:path w="9525" h="1219200">
                  <a:moveTo>
                    <a:pt x="0" y="0"/>
                  </a:moveTo>
                  <a:lnTo>
                    <a:pt x="0" y="1219200"/>
                  </a:lnTo>
                </a:path>
              </a:pathLst>
            </a:custGeom>
            <a:noFill/>
            <a:ln w="9525">
              <a:solidFill>
                <a:srgbClr val="F1C7CC"/>
              </a:solidFill>
            </a:ln>
          </p:spPr>
        </p:sp>
        <p:sp>
          <p:nvSpPr>
            <p:cNvPr id="280" name="Line 280"/>
            <p:cNvSpPr/>
            <p:nvPr/>
          </p:nvSpPr>
          <p:spPr>
            <a:xfrm>
              <a:off x="6134100" y="3448050"/>
              <a:ext cx="5924550" cy="9525"/>
            </a:xfrm>
            <a:custGeom>
              <a:avLst/>
              <a:gdLst/>
              <a:ahLst/>
              <a:cxnLst/>
              <a:rect l="l" t="t" r="r" b="b"/>
              <a:pathLst>
                <a:path w="5924550" h="9525">
                  <a:moveTo>
                    <a:pt x="0" y="0"/>
                  </a:moveTo>
                  <a:lnTo>
                    <a:pt x="5924550" y="0"/>
                  </a:lnTo>
                </a:path>
              </a:pathLst>
            </a:custGeom>
            <a:noFill/>
            <a:ln w="9525">
              <a:solidFill>
                <a:srgbClr val="B32C0E"/>
              </a:solidFill>
            </a:ln>
          </p:spPr>
        </p:sp>
        <p:sp>
          <p:nvSpPr>
            <p:cNvPr id="281" name="Line 281"/>
            <p:cNvSpPr/>
            <p:nvPr/>
          </p:nvSpPr>
          <p:spPr>
            <a:xfrm>
              <a:off x="6134100" y="3705225"/>
              <a:ext cx="5924550" cy="9525"/>
            </a:xfrm>
            <a:custGeom>
              <a:avLst/>
              <a:gdLst/>
              <a:ahLst/>
              <a:cxnLst/>
              <a:rect l="l" t="t" r="r" b="b"/>
              <a:pathLst>
                <a:path w="5924550" h="9525">
                  <a:moveTo>
                    <a:pt x="0" y="0"/>
                  </a:moveTo>
                  <a:lnTo>
                    <a:pt x="5924550" y="0"/>
                  </a:lnTo>
                </a:path>
              </a:pathLst>
            </a:custGeom>
            <a:noFill/>
            <a:ln w="9525">
              <a:solidFill>
                <a:srgbClr val="F1C7CC"/>
              </a:solidFill>
            </a:ln>
          </p:spPr>
        </p:sp>
        <p:sp>
          <p:nvSpPr>
            <p:cNvPr id="282" name="Line 282"/>
            <p:cNvSpPr/>
            <p:nvPr/>
          </p:nvSpPr>
          <p:spPr>
            <a:xfrm>
              <a:off x="6134100" y="3962400"/>
              <a:ext cx="5924550" cy="9525"/>
            </a:xfrm>
            <a:custGeom>
              <a:avLst/>
              <a:gdLst/>
              <a:ahLst/>
              <a:cxnLst/>
              <a:rect l="l" t="t" r="r" b="b"/>
              <a:pathLst>
                <a:path w="5924550" h="9525">
                  <a:moveTo>
                    <a:pt x="0" y="0"/>
                  </a:moveTo>
                  <a:lnTo>
                    <a:pt x="5924550" y="0"/>
                  </a:lnTo>
                </a:path>
              </a:pathLst>
            </a:custGeom>
            <a:noFill/>
            <a:ln w="9525">
              <a:solidFill>
                <a:srgbClr val="F1C7CC"/>
              </a:solidFill>
            </a:ln>
          </p:spPr>
        </p:sp>
        <p:sp>
          <p:nvSpPr>
            <p:cNvPr id="283" name="Line 283"/>
            <p:cNvSpPr/>
            <p:nvPr/>
          </p:nvSpPr>
          <p:spPr>
            <a:xfrm>
              <a:off x="6134100" y="4219575"/>
              <a:ext cx="5924550" cy="9525"/>
            </a:xfrm>
            <a:custGeom>
              <a:avLst/>
              <a:gdLst/>
              <a:ahLst/>
              <a:cxnLst/>
              <a:rect l="l" t="t" r="r" b="b"/>
              <a:pathLst>
                <a:path w="5924550" h="9525">
                  <a:moveTo>
                    <a:pt x="0" y="0"/>
                  </a:moveTo>
                  <a:lnTo>
                    <a:pt x="5924550" y="0"/>
                  </a:lnTo>
                </a:path>
              </a:pathLst>
            </a:custGeom>
            <a:noFill/>
            <a:ln w="9525">
              <a:solidFill>
                <a:srgbClr val="F1C7CC"/>
              </a:solidFill>
            </a:ln>
          </p:spPr>
        </p:sp>
        <p:sp>
          <p:nvSpPr>
            <p:cNvPr id="284" name="Line 284"/>
            <p:cNvSpPr/>
            <p:nvPr/>
          </p:nvSpPr>
          <p:spPr>
            <a:xfrm>
              <a:off x="6134100" y="4476750"/>
              <a:ext cx="5924550" cy="9525"/>
            </a:xfrm>
            <a:custGeom>
              <a:avLst/>
              <a:gdLst/>
              <a:ahLst/>
              <a:cxnLst/>
              <a:rect l="l" t="t" r="r" b="b"/>
              <a:pathLst>
                <a:path w="5924550" h="9525">
                  <a:moveTo>
                    <a:pt x="0" y="0"/>
                  </a:moveTo>
                  <a:lnTo>
                    <a:pt x="5924550" y="0"/>
                  </a:lnTo>
                </a:path>
              </a:pathLst>
            </a:custGeom>
            <a:noFill/>
            <a:ln w="9525">
              <a:solidFill>
                <a:srgbClr val="F1C7CC"/>
              </a:solidFill>
            </a:ln>
          </p:spPr>
        </p:sp>
      </p:grpSp>
      <p:grpSp>
        <p:nvGrpSpPr>
          <p:cNvPr id="343" name="funnel"/>
          <p:cNvGrpSpPr/>
          <p:nvPr/>
        </p:nvGrpSpPr>
        <p:grpSpPr>
          <a:xfrm>
            <a:off x="133350" y="4648200"/>
            <a:ext cx="7086600" cy="1444466"/>
            <a:chOff x="133350" y="4648200"/>
            <a:chExt cx="7086600" cy="1444466"/>
          </a:xfrm>
        </p:grpSpPr>
        <p:sp>
          <p:nvSpPr>
            <p:cNvPr id="286" name="Rectangle 286"/>
            <p:cNvSpPr/>
            <p:nvPr/>
          </p:nvSpPr>
          <p:spPr>
            <a:xfrm>
              <a:off x="171450" y="4648200"/>
              <a:ext cx="38100" cy="152400"/>
            </a:xfrm>
            <a:prstGeom prst="rect">
              <a:avLst/>
            </a:prstGeom>
            <a:solidFill>
              <a:srgbClr val="C83210"/>
            </a:solidFill>
            <a:ln>
              <a:noFill/>
            </a:ln>
          </p:spPr>
        </p:sp>
        <p:sp>
          <p:nvSpPr>
            <p:cNvPr id="287" name="TextBox 287"/>
            <p:cNvSpPr txBox="1"/>
            <p:nvPr/>
          </p:nvSpPr>
          <p:spPr>
            <a:xfrm>
              <a:off x="280797" y="4666774"/>
              <a:ext cx="2214982"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活动转化漏斗</a:t>
              </a:r>
              <a:r>
                <a:rPr lang="zh-CN" sz="750" b="1" dirty="0">
                  <a:solidFill>
                    <a:srgbClr val="808080"/>
                  </a:solidFill>
                  <a:latin typeface="+mn-lt"/>
                  <a:ea typeface="+mn-ea"/>
                  <a:cs typeface="+mn-cs"/>
                </a:rPr>
                <a:t>（示例：某理财主题直播活动）</a:t>
              </a:r>
            </a:p>
          </p:txBody>
        </p:sp>
        <p:sp>
          <p:nvSpPr>
            <p:cNvPr id="288" name="Freeform 288"/>
            <p:cNvSpPr/>
            <p:nvPr/>
          </p:nvSpPr>
          <p:spPr>
            <a:xfrm>
              <a:off x="133350" y="4895850"/>
              <a:ext cx="1181100" cy="609600"/>
            </a:xfrm>
            <a:prstGeom prst="chevron">
              <a:avLst>
                <a:gd name="adj" fmla="val 30000"/>
              </a:avLst>
            </a:prstGeom>
            <a:solidFill>
              <a:srgbClr val="FBE3E6"/>
            </a:solidFill>
            <a:ln>
              <a:noFill/>
            </a:ln>
          </p:spPr>
        </p:sp>
        <p:sp>
          <p:nvSpPr>
            <p:cNvPr id="289" name="Freeform 289"/>
            <p:cNvSpPr/>
            <p:nvPr/>
          </p:nvSpPr>
          <p:spPr>
            <a:xfrm>
              <a:off x="1314450" y="4895850"/>
              <a:ext cx="1181100" cy="609600"/>
            </a:xfrm>
            <a:prstGeom prst="chevron">
              <a:avLst>
                <a:gd name="adj" fmla="val 30000"/>
              </a:avLst>
            </a:prstGeom>
            <a:solidFill>
              <a:srgbClr val="F8D2C9"/>
            </a:solidFill>
            <a:ln>
              <a:noFill/>
            </a:ln>
          </p:spPr>
        </p:sp>
        <p:sp>
          <p:nvSpPr>
            <p:cNvPr id="290" name="Freeform 290"/>
            <p:cNvSpPr/>
            <p:nvPr/>
          </p:nvSpPr>
          <p:spPr>
            <a:xfrm>
              <a:off x="2495550" y="4895850"/>
              <a:ext cx="1181100" cy="609600"/>
            </a:xfrm>
            <a:prstGeom prst="chevron">
              <a:avLst>
                <a:gd name="adj" fmla="val 30000"/>
              </a:avLst>
            </a:prstGeom>
            <a:solidFill>
              <a:srgbClr val="F3B2A3"/>
            </a:solidFill>
            <a:ln>
              <a:noFill/>
            </a:ln>
          </p:spPr>
        </p:sp>
        <p:sp>
          <p:nvSpPr>
            <p:cNvPr id="291" name="Freeform 291"/>
            <p:cNvSpPr/>
            <p:nvPr/>
          </p:nvSpPr>
          <p:spPr>
            <a:xfrm>
              <a:off x="3676650" y="4895850"/>
              <a:ext cx="1181100" cy="609600"/>
            </a:xfrm>
            <a:prstGeom prst="chevron">
              <a:avLst>
                <a:gd name="adj" fmla="val 30000"/>
              </a:avLst>
            </a:prstGeom>
            <a:solidFill>
              <a:srgbClr val="E9826B"/>
            </a:solidFill>
            <a:ln>
              <a:noFill/>
            </a:ln>
          </p:spPr>
        </p:sp>
        <p:sp>
          <p:nvSpPr>
            <p:cNvPr id="292" name="Freeform 292"/>
            <p:cNvSpPr/>
            <p:nvPr/>
          </p:nvSpPr>
          <p:spPr>
            <a:xfrm>
              <a:off x="4857750" y="4895850"/>
              <a:ext cx="1181100" cy="609600"/>
            </a:xfrm>
            <a:prstGeom prst="chevron">
              <a:avLst>
                <a:gd name="adj" fmla="val 30000"/>
              </a:avLst>
            </a:prstGeom>
            <a:solidFill>
              <a:srgbClr val="D64F30"/>
            </a:solidFill>
            <a:ln>
              <a:noFill/>
            </a:ln>
          </p:spPr>
        </p:sp>
        <p:sp>
          <p:nvSpPr>
            <p:cNvPr id="293" name="Freeform 293"/>
            <p:cNvSpPr/>
            <p:nvPr/>
          </p:nvSpPr>
          <p:spPr>
            <a:xfrm>
              <a:off x="6038850" y="4895850"/>
              <a:ext cx="1181100" cy="609600"/>
            </a:xfrm>
            <a:prstGeom prst="chevron">
              <a:avLst>
                <a:gd name="adj" fmla="val 30000"/>
              </a:avLst>
            </a:prstGeom>
            <a:solidFill>
              <a:srgbClr val="C83210"/>
            </a:solidFill>
            <a:ln>
              <a:noFill/>
            </a:ln>
          </p:spPr>
        </p:sp>
        <p:grpSp>
          <p:nvGrpSpPr>
            <p:cNvPr id="298" name="Group 298"/>
            <p:cNvGrpSpPr/>
            <p:nvPr/>
          </p:nvGrpSpPr>
          <p:grpSpPr>
            <a:xfrm>
              <a:off x="364331" y="5069681"/>
              <a:ext cx="128588" cy="128588"/>
              <a:chOff x="364331" y="5069681"/>
              <a:chExt cx="128588" cy="128588"/>
            </a:xfrm>
          </p:grpSpPr>
          <p:sp>
            <p:nvSpPr>
              <p:cNvPr id="294" name="Freeform 294"/>
              <p:cNvSpPr/>
              <p:nvPr/>
            </p:nvSpPr>
            <p:spPr>
              <a:xfrm>
                <a:off x="378619" y="50696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C83210"/>
                </a:solidFill>
              </a:ln>
            </p:spPr>
          </p:sp>
          <p:sp>
            <p:nvSpPr>
              <p:cNvPr id="295" name="Freeform 295"/>
              <p:cNvSpPr/>
              <p:nvPr/>
            </p:nvSpPr>
            <p:spPr>
              <a:xfrm>
                <a:off x="364331" y="51554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C83210"/>
                </a:solidFill>
              </a:ln>
            </p:spPr>
          </p:sp>
          <p:sp>
            <p:nvSpPr>
              <p:cNvPr id="296" name="Freeform 296"/>
              <p:cNvSpPr/>
              <p:nvPr/>
            </p:nvSpPr>
            <p:spPr>
              <a:xfrm>
                <a:off x="457200" y="50706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C83210"/>
                </a:solidFill>
              </a:ln>
            </p:spPr>
          </p:sp>
          <p:sp>
            <p:nvSpPr>
              <p:cNvPr id="297" name="Freeform 297"/>
              <p:cNvSpPr/>
              <p:nvPr/>
            </p:nvSpPr>
            <p:spPr>
              <a:xfrm>
                <a:off x="471488" y="515647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C83210"/>
                </a:solidFill>
              </a:ln>
            </p:spPr>
          </p:sp>
        </p:grpSp>
        <p:sp>
          <p:nvSpPr>
            <p:cNvPr id="299" name="TextBox 299"/>
            <p:cNvSpPr txBox="1"/>
            <p:nvPr/>
          </p:nvSpPr>
          <p:spPr>
            <a:xfrm>
              <a:off x="566738" y="5081588"/>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活动曝光</a:t>
              </a:r>
            </a:p>
          </p:txBody>
        </p:sp>
        <p:sp>
          <p:nvSpPr>
            <p:cNvPr id="300" name="TextBox 300"/>
            <p:cNvSpPr txBox="1"/>
            <p:nvPr/>
          </p:nvSpPr>
          <p:spPr>
            <a:xfrm>
              <a:off x="566738" y="5255895"/>
              <a:ext cx="501281"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Arial"/>
                  <a:ea typeface="Microsoft YaHei"/>
                  <a:cs typeface="Arial"/>
                </a:rPr>
                <a:t>50,000人</a:t>
              </a:r>
            </a:p>
          </p:txBody>
        </p:sp>
        <p:grpSp>
          <p:nvGrpSpPr>
            <p:cNvPr id="306" name="Group 306"/>
            <p:cNvGrpSpPr/>
            <p:nvPr/>
          </p:nvGrpSpPr>
          <p:grpSpPr>
            <a:xfrm>
              <a:off x="1597819" y="5069681"/>
              <a:ext cx="100012" cy="128588"/>
              <a:chOff x="1597819" y="5069681"/>
              <a:chExt cx="100012" cy="128588"/>
            </a:xfrm>
          </p:grpSpPr>
          <p:sp>
            <p:nvSpPr>
              <p:cNvPr id="301" name="Freeform 301"/>
              <p:cNvSpPr/>
              <p:nvPr/>
            </p:nvSpPr>
            <p:spPr>
              <a:xfrm>
                <a:off x="1662112" y="50696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C83210"/>
                </a:solidFill>
              </a:ln>
            </p:spPr>
          </p:sp>
          <p:sp>
            <p:nvSpPr>
              <p:cNvPr id="302" name="Freeform 302"/>
              <p:cNvSpPr/>
              <p:nvPr/>
            </p:nvSpPr>
            <p:spPr>
              <a:xfrm>
                <a:off x="1597819" y="50696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C83210"/>
                </a:solidFill>
              </a:ln>
            </p:spPr>
          </p:sp>
          <p:sp>
            <p:nvSpPr>
              <p:cNvPr id="303" name="Freeform 303"/>
              <p:cNvSpPr/>
              <p:nvPr/>
            </p:nvSpPr>
            <p:spPr>
              <a:xfrm>
                <a:off x="1626394" y="5112544"/>
                <a:ext cx="9525" cy="9525"/>
              </a:xfrm>
              <a:custGeom>
                <a:avLst/>
                <a:gdLst/>
                <a:ahLst/>
                <a:cxnLst/>
                <a:rect l="l" t="t" r="r" b="b"/>
                <a:pathLst>
                  <a:path w="9525" h="9525">
                    <a:moveTo>
                      <a:pt x="0" y="0"/>
                    </a:moveTo>
                    <a:lnTo>
                      <a:pt x="7144" y="0"/>
                    </a:lnTo>
                  </a:path>
                </a:pathLst>
              </a:custGeom>
              <a:noFill/>
              <a:ln w="14288">
                <a:solidFill>
                  <a:srgbClr val="C83210"/>
                </a:solidFill>
              </a:ln>
            </p:spPr>
          </p:sp>
          <p:sp>
            <p:nvSpPr>
              <p:cNvPr id="304" name="Freeform 304"/>
              <p:cNvSpPr/>
              <p:nvPr/>
            </p:nvSpPr>
            <p:spPr>
              <a:xfrm>
                <a:off x="1626394" y="5141119"/>
                <a:ext cx="42862" cy="9525"/>
              </a:xfrm>
              <a:custGeom>
                <a:avLst/>
                <a:gdLst/>
                <a:ahLst/>
                <a:cxnLst/>
                <a:rect l="l" t="t" r="r" b="b"/>
                <a:pathLst>
                  <a:path w="42862" h="9525">
                    <a:moveTo>
                      <a:pt x="0" y="0"/>
                    </a:moveTo>
                    <a:lnTo>
                      <a:pt x="42862" y="0"/>
                    </a:lnTo>
                  </a:path>
                </a:pathLst>
              </a:custGeom>
              <a:noFill/>
              <a:ln w="14288">
                <a:solidFill>
                  <a:srgbClr val="C83210"/>
                </a:solidFill>
              </a:ln>
            </p:spPr>
          </p:sp>
          <p:sp>
            <p:nvSpPr>
              <p:cNvPr id="305" name="Freeform 305"/>
              <p:cNvSpPr/>
              <p:nvPr/>
            </p:nvSpPr>
            <p:spPr>
              <a:xfrm>
                <a:off x="1626394" y="5169694"/>
                <a:ext cx="42862" cy="9525"/>
              </a:xfrm>
              <a:custGeom>
                <a:avLst/>
                <a:gdLst/>
                <a:ahLst/>
                <a:cxnLst/>
                <a:rect l="l" t="t" r="r" b="b"/>
                <a:pathLst>
                  <a:path w="42862" h="9525">
                    <a:moveTo>
                      <a:pt x="0" y="0"/>
                    </a:moveTo>
                    <a:lnTo>
                      <a:pt x="42862" y="0"/>
                    </a:lnTo>
                  </a:path>
                </a:pathLst>
              </a:custGeom>
              <a:noFill/>
              <a:ln w="14288">
                <a:solidFill>
                  <a:srgbClr val="C83210"/>
                </a:solidFill>
              </a:ln>
            </p:spPr>
          </p:sp>
        </p:grpSp>
        <p:sp>
          <p:nvSpPr>
            <p:cNvPr id="307" name="TextBox 307"/>
            <p:cNvSpPr txBox="1"/>
            <p:nvPr/>
          </p:nvSpPr>
          <p:spPr>
            <a:xfrm>
              <a:off x="1785938" y="5081588"/>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报名预约</a:t>
              </a:r>
            </a:p>
          </p:txBody>
        </p:sp>
        <p:sp>
          <p:nvSpPr>
            <p:cNvPr id="308" name="TextBox 308"/>
            <p:cNvSpPr txBox="1"/>
            <p:nvPr/>
          </p:nvSpPr>
          <p:spPr>
            <a:xfrm>
              <a:off x="1785938" y="5255895"/>
              <a:ext cx="501281"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Arial"/>
                  <a:ea typeface="Microsoft YaHei"/>
                  <a:cs typeface="Arial"/>
                </a:rPr>
                <a:t>10,000人</a:t>
              </a:r>
            </a:p>
          </p:txBody>
        </p:sp>
        <p:grpSp>
          <p:nvGrpSpPr>
            <p:cNvPr id="312" name="Group 312"/>
            <p:cNvGrpSpPr/>
            <p:nvPr/>
          </p:nvGrpSpPr>
          <p:grpSpPr>
            <a:xfrm>
              <a:off x="2786062" y="5069681"/>
              <a:ext cx="107156" cy="128588"/>
              <a:chOff x="2786062" y="5069681"/>
              <a:chExt cx="107156" cy="128588"/>
            </a:xfrm>
          </p:grpSpPr>
          <p:sp>
            <p:nvSpPr>
              <p:cNvPr id="309" name="Freeform 309"/>
              <p:cNvSpPr/>
              <p:nvPr/>
            </p:nvSpPr>
            <p:spPr>
              <a:xfrm>
                <a:off x="2800350" y="50696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C83210"/>
                </a:solidFill>
              </a:ln>
            </p:spPr>
          </p:sp>
          <p:sp>
            <p:nvSpPr>
              <p:cNvPr id="310" name="Freeform 310"/>
              <p:cNvSpPr/>
              <p:nvPr/>
            </p:nvSpPr>
            <p:spPr>
              <a:xfrm>
                <a:off x="2786062" y="515540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C83210"/>
                </a:solidFill>
              </a:ln>
            </p:spPr>
          </p:sp>
          <p:sp>
            <p:nvSpPr>
              <p:cNvPr id="311" name="Freeform 311"/>
              <p:cNvSpPr/>
              <p:nvPr/>
            </p:nvSpPr>
            <p:spPr>
              <a:xfrm>
                <a:off x="2850356" y="5169694"/>
                <a:ext cx="42862" cy="28575"/>
              </a:xfrm>
              <a:custGeom>
                <a:avLst/>
                <a:gdLst/>
                <a:ahLst/>
                <a:cxnLst/>
                <a:rect l="l" t="t" r="r" b="b"/>
                <a:pathLst>
                  <a:path w="42862" h="28575">
                    <a:moveTo>
                      <a:pt x="0" y="14288"/>
                    </a:moveTo>
                    <a:lnTo>
                      <a:pt x="14288" y="28575"/>
                    </a:lnTo>
                    <a:lnTo>
                      <a:pt x="42862" y="0"/>
                    </a:lnTo>
                  </a:path>
                </a:pathLst>
              </a:custGeom>
              <a:noFill/>
              <a:ln w="14288">
                <a:solidFill>
                  <a:srgbClr val="C83210"/>
                </a:solidFill>
              </a:ln>
            </p:spPr>
          </p:sp>
        </p:grpSp>
        <p:sp>
          <p:nvSpPr>
            <p:cNvPr id="313" name="TextBox 313"/>
            <p:cNvSpPr txBox="1"/>
            <p:nvPr/>
          </p:nvSpPr>
          <p:spPr>
            <a:xfrm>
              <a:off x="2967038" y="5081588"/>
              <a:ext cx="413385" cy="147638"/>
            </a:xfrm>
            <a:prstGeom prst="rect">
              <a:avLst/>
            </a:prstGeom>
            <a:noFill/>
            <a:ln>
              <a:noFill/>
            </a:ln>
          </p:spPr>
          <p:txBody>
            <a:bodyPr wrap="none" lIns="0" tIns="0" rIns="0" bIns="0" anchor="t" anchorCtr="0">
              <a:spAutoFit/>
            </a:bodyPr>
            <a:lstStyle/>
            <a:p>
              <a:pPr algn="l"/>
              <a:r>
                <a:rPr lang="zh-CN" sz="750" b="1" dirty="0">
                  <a:solidFill>
                    <a:srgbClr val="222222"/>
                  </a:solidFill>
                  <a:latin typeface="+mn-lt"/>
                  <a:ea typeface="+mn-ea"/>
                  <a:cs typeface="+mn-cs"/>
                </a:rPr>
                <a:t>实际到场</a:t>
              </a:r>
            </a:p>
          </p:txBody>
        </p:sp>
        <p:sp>
          <p:nvSpPr>
            <p:cNvPr id="314" name="TextBox 314"/>
            <p:cNvSpPr txBox="1"/>
            <p:nvPr/>
          </p:nvSpPr>
          <p:spPr>
            <a:xfrm>
              <a:off x="2967038" y="5255895"/>
              <a:ext cx="433893"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Arial"/>
                  <a:ea typeface="Microsoft YaHei"/>
                  <a:cs typeface="Arial"/>
                </a:rPr>
                <a:t>7,000人</a:t>
              </a:r>
            </a:p>
          </p:txBody>
        </p:sp>
        <p:sp>
          <p:nvSpPr>
            <p:cNvPr id="315" name="Freeform 315"/>
            <p:cNvSpPr/>
            <p:nvPr/>
          </p:nvSpPr>
          <p:spPr>
            <a:xfrm>
              <a:off x="3933825" y="5076825"/>
              <a:ext cx="114282" cy="114282"/>
            </a:xfrm>
            <a:custGeom>
              <a:avLst/>
              <a:gdLst/>
              <a:ahLst/>
              <a:cxnLst/>
              <a:rect l="l" t="t" r="r" b="b"/>
              <a:pathLst>
                <a:path w="114282" h="114282">
                  <a:moveTo>
                    <a:pt x="27889" y="96891"/>
                  </a:moveTo>
                  <a:cubicBezTo>
                    <a:pt x="28667" y="100386"/>
                    <a:pt x="31536" y="103029"/>
                    <a:pt x="35083" y="103520"/>
                  </a:cubicBezTo>
                  <a:cubicBezTo>
                    <a:pt x="38630" y="104010"/>
                    <a:pt x="42108" y="102244"/>
                    <a:pt x="43805" y="99091"/>
                  </a:cubicBezTo>
                  <a:lnTo>
                    <a:pt x="58736" y="76995"/>
                  </a:lnTo>
                  <a:lnTo>
                    <a:pt x="93790" y="112050"/>
                  </a:lnTo>
                  <a:cubicBezTo>
                    <a:pt x="95220" y="113479"/>
                    <a:pt x="97159" y="114282"/>
                    <a:pt x="99180" y="114282"/>
                  </a:cubicBezTo>
                  <a:cubicBezTo>
                    <a:pt x="101202" y="114282"/>
                    <a:pt x="103141" y="113479"/>
                    <a:pt x="104570" y="112050"/>
                  </a:cubicBezTo>
                  <a:lnTo>
                    <a:pt x="112050" y="104570"/>
                  </a:lnTo>
                  <a:cubicBezTo>
                    <a:pt x="113479" y="103141"/>
                    <a:pt x="114282" y="101202"/>
                    <a:pt x="114282" y="99180"/>
                  </a:cubicBezTo>
                  <a:cubicBezTo>
                    <a:pt x="114282" y="97159"/>
                    <a:pt x="113479" y="95220"/>
                    <a:pt x="112050" y="93790"/>
                  </a:cubicBezTo>
                  <a:lnTo>
                    <a:pt x="76995" y="58736"/>
                  </a:lnTo>
                  <a:lnTo>
                    <a:pt x="99234" y="43805"/>
                  </a:lnTo>
                  <a:cubicBezTo>
                    <a:pt x="102387" y="42107"/>
                    <a:pt x="104152" y="38628"/>
                    <a:pt x="103660" y="35080"/>
                  </a:cubicBezTo>
                  <a:cubicBezTo>
                    <a:pt x="103168" y="31533"/>
                    <a:pt x="100523" y="28665"/>
                    <a:pt x="97026" y="27889"/>
                  </a:cubicBezTo>
                  <a:lnTo>
                    <a:pt x="0" y="0"/>
                  </a:lnTo>
                  <a:lnTo>
                    <a:pt x="27889" y="96891"/>
                  </a:lnTo>
                </a:path>
              </a:pathLst>
            </a:custGeom>
            <a:noFill/>
            <a:ln w="14288">
              <a:solidFill>
                <a:srgbClr val="FFFFFF"/>
              </a:solidFill>
            </a:ln>
          </p:spPr>
        </p:sp>
        <p:sp>
          <p:nvSpPr>
            <p:cNvPr id="316" name="TextBox 316"/>
            <p:cNvSpPr txBox="1"/>
            <p:nvPr/>
          </p:nvSpPr>
          <p:spPr>
            <a:xfrm>
              <a:off x="4129088" y="5043488"/>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深度互动</a:t>
              </a:r>
            </a:p>
          </p:txBody>
        </p:sp>
        <p:sp>
          <p:nvSpPr>
            <p:cNvPr id="317" name="TextBox 317"/>
            <p:cNvSpPr txBox="1"/>
            <p:nvPr/>
          </p:nvSpPr>
          <p:spPr>
            <a:xfrm>
              <a:off x="4129088" y="5172551"/>
              <a:ext cx="646547" cy="104775"/>
            </a:xfrm>
            <a:prstGeom prst="rect">
              <a:avLst/>
            </a:prstGeom>
            <a:noFill/>
            <a:ln>
              <a:noFill/>
            </a:ln>
          </p:spPr>
          <p:txBody>
            <a:bodyPr wrap="none" lIns="0" tIns="0" rIns="0" bIns="0" anchor="t" anchorCtr="0">
              <a:spAutoFit/>
            </a:bodyPr>
            <a:lstStyle/>
            <a:p>
              <a:pPr algn="l"/>
              <a:r>
                <a:rPr lang="zh-CN" sz="520" dirty="0">
                  <a:solidFill>
                    <a:srgbClr val="FFFFFF"/>
                  </a:solidFill>
                  <a:latin typeface="+mn-lt"/>
                  <a:ea typeface="+mn-ea"/>
                  <a:cs typeface="+mn-cs"/>
                </a:rPr>
                <a:t>（停留/提问/点击）</a:t>
              </a:r>
            </a:p>
          </p:txBody>
        </p:sp>
        <p:sp>
          <p:nvSpPr>
            <p:cNvPr id="318" name="TextBox 318"/>
            <p:cNvSpPr txBox="1"/>
            <p:nvPr/>
          </p:nvSpPr>
          <p:spPr>
            <a:xfrm>
              <a:off x="4129088" y="5293995"/>
              <a:ext cx="433893"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3,500人</a:t>
              </a:r>
            </a:p>
          </p:txBody>
        </p:sp>
        <p:grpSp>
          <p:nvGrpSpPr>
            <p:cNvPr id="323" name="Group 323"/>
            <p:cNvGrpSpPr/>
            <p:nvPr/>
          </p:nvGrpSpPr>
          <p:grpSpPr>
            <a:xfrm>
              <a:off x="5129212" y="5069681"/>
              <a:ext cx="114301" cy="135732"/>
              <a:chOff x="5129212" y="5069681"/>
              <a:chExt cx="114301" cy="135732"/>
            </a:xfrm>
          </p:grpSpPr>
          <p:sp>
            <p:nvSpPr>
              <p:cNvPr id="319" name="Freeform 319"/>
              <p:cNvSpPr/>
              <p:nvPr/>
            </p:nvSpPr>
            <p:spPr>
              <a:xfrm>
                <a:off x="5143500" y="50696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320" name="Freeform 320"/>
              <p:cNvSpPr/>
              <p:nvPr/>
            </p:nvSpPr>
            <p:spPr>
              <a:xfrm>
                <a:off x="5129212" y="5155406"/>
                <a:ext cx="39291" cy="42862"/>
              </a:xfrm>
              <a:custGeom>
                <a:avLst/>
                <a:gdLst/>
                <a:ahLst/>
                <a:cxnLst/>
                <a:rect l="l" t="t" r="r" b="b"/>
                <a:pathLst>
                  <a:path w="39291" h="42862">
                    <a:moveTo>
                      <a:pt x="0" y="42862"/>
                    </a:moveTo>
                    <a:lnTo>
                      <a:pt x="0" y="28575"/>
                    </a:lnTo>
                    <a:cubicBezTo>
                      <a:pt x="0" y="12793"/>
                      <a:pt x="12793" y="0"/>
                      <a:pt x="28575" y="0"/>
                    </a:cubicBezTo>
                    <a:lnTo>
                      <a:pt x="39291" y="0"/>
                    </a:lnTo>
                  </a:path>
                </a:pathLst>
              </a:custGeom>
              <a:noFill/>
              <a:ln w="14288">
                <a:solidFill>
                  <a:srgbClr val="FFFFFF"/>
                </a:solidFill>
              </a:ln>
            </p:spPr>
          </p:sp>
          <p:sp>
            <p:nvSpPr>
              <p:cNvPr id="321" name="Freeform 321"/>
              <p:cNvSpPr/>
              <p:nvPr/>
            </p:nvSpPr>
            <p:spPr>
              <a:xfrm>
                <a:off x="5193506" y="5155406"/>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FFFFFF"/>
                </a:solidFill>
              </a:ln>
            </p:spPr>
          </p:sp>
          <p:sp>
            <p:nvSpPr>
              <p:cNvPr id="322" name="Freeform 322"/>
              <p:cNvSpPr/>
              <p:nvPr/>
            </p:nvSpPr>
            <p:spPr>
              <a:xfrm>
                <a:off x="5230654" y="5192554"/>
                <a:ext cx="12859" cy="12859"/>
              </a:xfrm>
              <a:custGeom>
                <a:avLst/>
                <a:gdLst/>
                <a:ahLst/>
                <a:cxnLst/>
                <a:rect l="l" t="t" r="r" b="b"/>
                <a:pathLst>
                  <a:path w="12859" h="12859">
                    <a:moveTo>
                      <a:pt x="0" y="0"/>
                    </a:moveTo>
                    <a:lnTo>
                      <a:pt x="12859" y="12859"/>
                    </a:lnTo>
                  </a:path>
                </a:pathLst>
              </a:custGeom>
              <a:noFill/>
              <a:ln w="14288">
                <a:solidFill>
                  <a:srgbClr val="FFFFFF"/>
                </a:solidFill>
              </a:ln>
            </p:spPr>
          </p:sp>
        </p:grpSp>
        <p:sp>
          <p:nvSpPr>
            <p:cNvPr id="324" name="TextBox 324"/>
            <p:cNvSpPr txBox="1"/>
            <p:nvPr/>
          </p:nvSpPr>
          <p:spPr>
            <a:xfrm>
              <a:off x="5310188" y="5043488"/>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生成线索</a:t>
              </a:r>
            </a:p>
          </p:txBody>
        </p:sp>
        <p:sp>
          <p:nvSpPr>
            <p:cNvPr id="325" name="TextBox 325"/>
            <p:cNvSpPr txBox="1"/>
            <p:nvPr/>
          </p:nvSpPr>
          <p:spPr>
            <a:xfrm>
              <a:off x="5310188" y="5172551"/>
              <a:ext cx="335036" cy="104775"/>
            </a:xfrm>
            <a:prstGeom prst="rect">
              <a:avLst/>
            </a:prstGeom>
            <a:noFill/>
            <a:ln>
              <a:noFill/>
            </a:ln>
          </p:spPr>
          <p:txBody>
            <a:bodyPr wrap="none" lIns="0" tIns="0" rIns="0" bIns="0" anchor="t" anchorCtr="0">
              <a:spAutoFit/>
            </a:bodyPr>
            <a:lstStyle/>
            <a:p>
              <a:pPr algn="l"/>
              <a:r>
                <a:rPr lang="zh-CN" sz="520" dirty="0">
                  <a:solidFill>
                    <a:srgbClr val="FFFFFF"/>
                  </a:solidFill>
                  <a:latin typeface="+mn-lt"/>
                  <a:ea typeface="+mn-ea"/>
                  <a:cs typeface="+mn-cs"/>
                </a:rPr>
                <a:t>（≥30分）</a:t>
              </a:r>
            </a:p>
          </p:txBody>
        </p:sp>
        <p:sp>
          <p:nvSpPr>
            <p:cNvPr id="326" name="TextBox 326"/>
            <p:cNvSpPr txBox="1"/>
            <p:nvPr/>
          </p:nvSpPr>
          <p:spPr>
            <a:xfrm>
              <a:off x="5310188" y="5293995"/>
              <a:ext cx="433893"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1,050人</a:t>
              </a:r>
            </a:p>
          </p:txBody>
        </p:sp>
        <p:grpSp>
          <p:nvGrpSpPr>
            <p:cNvPr id="329" name="Group 329"/>
            <p:cNvGrpSpPr/>
            <p:nvPr/>
          </p:nvGrpSpPr>
          <p:grpSpPr>
            <a:xfrm>
              <a:off x="6288881" y="5098256"/>
              <a:ext cx="128588" cy="71438"/>
              <a:chOff x="6288881" y="5098256"/>
              <a:chExt cx="128588" cy="71438"/>
            </a:xfrm>
          </p:grpSpPr>
          <p:sp>
            <p:nvSpPr>
              <p:cNvPr id="327" name="Freeform 327"/>
              <p:cNvSpPr/>
              <p:nvPr/>
            </p:nvSpPr>
            <p:spPr>
              <a:xfrm>
                <a:off x="6288881" y="50982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FFFFFF"/>
                </a:solidFill>
              </a:ln>
            </p:spPr>
          </p:sp>
          <p:sp>
            <p:nvSpPr>
              <p:cNvPr id="328" name="Freeform 328"/>
              <p:cNvSpPr/>
              <p:nvPr/>
            </p:nvSpPr>
            <p:spPr>
              <a:xfrm>
                <a:off x="6367462" y="5098256"/>
                <a:ext cx="50006" cy="50006"/>
              </a:xfrm>
              <a:custGeom>
                <a:avLst/>
                <a:gdLst/>
                <a:ahLst/>
                <a:cxnLst/>
                <a:rect l="l" t="t" r="r" b="b"/>
                <a:pathLst>
                  <a:path w="50006" h="50006">
                    <a:moveTo>
                      <a:pt x="0" y="0"/>
                    </a:moveTo>
                    <a:lnTo>
                      <a:pt x="50006" y="0"/>
                    </a:lnTo>
                    <a:lnTo>
                      <a:pt x="50006" y="50006"/>
                    </a:lnTo>
                  </a:path>
                </a:pathLst>
              </a:custGeom>
              <a:noFill/>
              <a:ln w="14288">
                <a:solidFill>
                  <a:srgbClr val="FFFFFF"/>
                </a:solidFill>
              </a:ln>
            </p:spPr>
          </p:sp>
        </p:grpSp>
        <p:sp>
          <p:nvSpPr>
            <p:cNvPr id="330" name="TextBox 330"/>
            <p:cNvSpPr txBox="1"/>
            <p:nvPr/>
          </p:nvSpPr>
          <p:spPr>
            <a:xfrm>
              <a:off x="6491288" y="5043488"/>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成功转化</a:t>
              </a:r>
            </a:p>
          </p:txBody>
        </p:sp>
        <p:sp>
          <p:nvSpPr>
            <p:cNvPr id="331" name="TextBox 331"/>
            <p:cNvSpPr txBox="1"/>
            <p:nvPr/>
          </p:nvSpPr>
          <p:spPr>
            <a:xfrm>
              <a:off x="6491288" y="5172551"/>
              <a:ext cx="646547" cy="104775"/>
            </a:xfrm>
            <a:prstGeom prst="rect">
              <a:avLst/>
            </a:prstGeom>
            <a:noFill/>
            <a:ln>
              <a:noFill/>
            </a:ln>
          </p:spPr>
          <p:txBody>
            <a:bodyPr wrap="none" lIns="0" tIns="0" rIns="0" bIns="0" anchor="t" anchorCtr="0">
              <a:spAutoFit/>
            </a:bodyPr>
            <a:lstStyle/>
            <a:p>
              <a:pPr algn="l"/>
              <a:r>
                <a:rPr lang="zh-CN" sz="520" dirty="0">
                  <a:solidFill>
                    <a:srgbClr val="FFFFFF"/>
                  </a:solidFill>
                  <a:latin typeface="+mn-lt"/>
                  <a:ea typeface="+mn-ea"/>
                  <a:cs typeface="+mn-cs"/>
                </a:rPr>
                <a:t>（购买/开户/预约）</a:t>
              </a:r>
            </a:p>
          </p:txBody>
        </p:sp>
        <p:sp>
          <p:nvSpPr>
            <p:cNvPr id="332" name="TextBox 332"/>
            <p:cNvSpPr txBox="1"/>
            <p:nvPr/>
          </p:nvSpPr>
          <p:spPr>
            <a:xfrm>
              <a:off x="6491288" y="5293995"/>
              <a:ext cx="33284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420人</a:t>
              </a:r>
            </a:p>
          </p:txBody>
        </p:sp>
        <p:sp>
          <p:nvSpPr>
            <p:cNvPr id="333" name="Freeform 333"/>
            <p:cNvSpPr/>
            <p:nvPr/>
          </p:nvSpPr>
          <p:spPr>
            <a:xfrm>
              <a:off x="1162050" y="5676900"/>
              <a:ext cx="304800" cy="152400"/>
            </a:xfrm>
            <a:prstGeom prst="rightArrow">
              <a:avLst/>
            </a:prstGeom>
            <a:solidFill>
              <a:srgbClr val="E9826B"/>
            </a:solidFill>
            <a:ln>
              <a:noFill/>
            </a:ln>
          </p:spPr>
        </p:sp>
        <p:sp>
          <p:nvSpPr>
            <p:cNvPr id="334" name="Freeform 334"/>
            <p:cNvSpPr/>
            <p:nvPr/>
          </p:nvSpPr>
          <p:spPr>
            <a:xfrm>
              <a:off x="2343150" y="5676900"/>
              <a:ext cx="304800" cy="152400"/>
            </a:xfrm>
            <a:prstGeom prst="rightArrow">
              <a:avLst/>
            </a:prstGeom>
            <a:solidFill>
              <a:srgbClr val="E9826B"/>
            </a:solidFill>
            <a:ln>
              <a:noFill/>
            </a:ln>
          </p:spPr>
        </p:sp>
        <p:sp>
          <p:nvSpPr>
            <p:cNvPr id="335" name="Freeform 335"/>
            <p:cNvSpPr/>
            <p:nvPr/>
          </p:nvSpPr>
          <p:spPr>
            <a:xfrm>
              <a:off x="3524250" y="5676900"/>
              <a:ext cx="304800" cy="152400"/>
            </a:xfrm>
            <a:prstGeom prst="rightArrow">
              <a:avLst/>
            </a:prstGeom>
            <a:solidFill>
              <a:srgbClr val="E9826B"/>
            </a:solidFill>
            <a:ln>
              <a:noFill/>
            </a:ln>
          </p:spPr>
        </p:sp>
        <p:sp>
          <p:nvSpPr>
            <p:cNvPr id="336" name="Freeform 336"/>
            <p:cNvSpPr/>
            <p:nvPr/>
          </p:nvSpPr>
          <p:spPr>
            <a:xfrm>
              <a:off x="4705350" y="5676900"/>
              <a:ext cx="304800" cy="152400"/>
            </a:xfrm>
            <a:prstGeom prst="rightArrow">
              <a:avLst/>
            </a:prstGeom>
            <a:solidFill>
              <a:srgbClr val="E9826B"/>
            </a:solidFill>
            <a:ln>
              <a:noFill/>
            </a:ln>
          </p:spPr>
        </p:sp>
        <p:sp>
          <p:nvSpPr>
            <p:cNvPr id="337" name="Freeform 337"/>
            <p:cNvSpPr/>
            <p:nvPr/>
          </p:nvSpPr>
          <p:spPr>
            <a:xfrm>
              <a:off x="5886450" y="5676900"/>
              <a:ext cx="304800" cy="152400"/>
            </a:xfrm>
            <a:prstGeom prst="rightArrow">
              <a:avLst/>
            </a:prstGeom>
            <a:solidFill>
              <a:srgbClr val="E9826B"/>
            </a:solidFill>
            <a:ln>
              <a:noFill/>
            </a:ln>
          </p:spPr>
        </p:sp>
        <p:sp>
          <p:nvSpPr>
            <p:cNvPr id="338" name="TextBox 338"/>
            <p:cNvSpPr txBox="1"/>
            <p:nvPr/>
          </p:nvSpPr>
          <p:spPr>
            <a:xfrm>
              <a:off x="1199211" y="5930741"/>
              <a:ext cx="230478"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Arial"/>
                  <a:cs typeface="Arial"/>
                </a:rPr>
                <a:t>20%</a:t>
              </a:r>
            </a:p>
          </p:txBody>
        </p:sp>
        <p:sp>
          <p:nvSpPr>
            <p:cNvPr id="339" name="TextBox 339"/>
            <p:cNvSpPr txBox="1"/>
            <p:nvPr/>
          </p:nvSpPr>
          <p:spPr>
            <a:xfrm>
              <a:off x="2380311" y="5930741"/>
              <a:ext cx="230478"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Arial"/>
                  <a:cs typeface="Arial"/>
                </a:rPr>
                <a:t>70%</a:t>
              </a:r>
            </a:p>
          </p:txBody>
        </p:sp>
        <p:sp>
          <p:nvSpPr>
            <p:cNvPr id="340" name="TextBox 340"/>
            <p:cNvSpPr txBox="1"/>
            <p:nvPr/>
          </p:nvSpPr>
          <p:spPr>
            <a:xfrm>
              <a:off x="3561411" y="5930741"/>
              <a:ext cx="230478"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Arial"/>
                  <a:cs typeface="Arial"/>
                </a:rPr>
                <a:t>50%</a:t>
              </a:r>
            </a:p>
          </p:txBody>
        </p:sp>
        <p:sp>
          <p:nvSpPr>
            <p:cNvPr id="341" name="TextBox 341"/>
            <p:cNvSpPr txBox="1"/>
            <p:nvPr/>
          </p:nvSpPr>
          <p:spPr>
            <a:xfrm>
              <a:off x="4742511" y="5930741"/>
              <a:ext cx="230478"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Arial"/>
                  <a:cs typeface="Arial"/>
                </a:rPr>
                <a:t>30%</a:t>
              </a:r>
            </a:p>
          </p:txBody>
        </p:sp>
        <p:sp>
          <p:nvSpPr>
            <p:cNvPr id="342" name="TextBox 342"/>
            <p:cNvSpPr txBox="1"/>
            <p:nvPr/>
          </p:nvSpPr>
          <p:spPr>
            <a:xfrm>
              <a:off x="5923611" y="5930741"/>
              <a:ext cx="230478"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Arial"/>
                  <a:cs typeface="Arial"/>
                </a:rPr>
                <a:t>40%</a:t>
              </a:r>
            </a:p>
          </p:txBody>
        </p:sp>
      </p:grpSp>
      <p:grpSp>
        <p:nvGrpSpPr>
          <p:cNvPr id="377" name="kpi-cards"/>
          <p:cNvGrpSpPr/>
          <p:nvPr/>
        </p:nvGrpSpPr>
        <p:grpSpPr>
          <a:xfrm>
            <a:off x="7353300" y="4648200"/>
            <a:ext cx="4695825" cy="1581150"/>
            <a:chOff x="7353300" y="4648200"/>
            <a:chExt cx="4695825" cy="1581150"/>
          </a:xfrm>
        </p:grpSpPr>
        <p:sp>
          <p:nvSpPr>
            <p:cNvPr id="344" name="Rectangle 344"/>
            <p:cNvSpPr/>
            <p:nvPr/>
          </p:nvSpPr>
          <p:spPr>
            <a:xfrm>
              <a:off x="7410450" y="4648200"/>
              <a:ext cx="38100" cy="152400"/>
            </a:xfrm>
            <a:prstGeom prst="rect">
              <a:avLst/>
            </a:prstGeom>
            <a:solidFill>
              <a:srgbClr val="C83210"/>
            </a:solidFill>
            <a:ln>
              <a:noFill/>
            </a:ln>
          </p:spPr>
        </p:sp>
        <p:sp>
          <p:nvSpPr>
            <p:cNvPr id="345" name="TextBox 345"/>
            <p:cNvSpPr txBox="1"/>
            <p:nvPr/>
          </p:nvSpPr>
          <p:spPr>
            <a:xfrm>
              <a:off x="7519797" y="4666774"/>
              <a:ext cx="801472"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关键转化指标</a:t>
              </a:r>
            </a:p>
          </p:txBody>
        </p:sp>
        <p:sp>
          <p:nvSpPr>
            <p:cNvPr id="346" name="Rectangle 346"/>
            <p:cNvSpPr/>
            <p:nvPr/>
          </p:nvSpPr>
          <p:spPr>
            <a:xfrm>
              <a:off x="7353300" y="4895850"/>
              <a:ext cx="1123950" cy="1333500"/>
            </a:xfrm>
            <a:prstGeom prst="roundRect">
              <a:avLst>
                <a:gd name="adj" fmla="val 5085"/>
              </a:avLst>
            </a:prstGeom>
            <a:solidFill>
              <a:srgbClr val="FDEFF1"/>
            </a:solidFill>
            <a:ln>
              <a:noFill/>
            </a:ln>
          </p:spPr>
        </p:sp>
        <p:grpSp>
          <p:nvGrpSpPr>
            <p:cNvPr id="352" name="Group 352"/>
            <p:cNvGrpSpPr/>
            <p:nvPr/>
          </p:nvGrpSpPr>
          <p:grpSpPr>
            <a:xfrm>
              <a:off x="7848600" y="5076825"/>
              <a:ext cx="133350" cy="171450"/>
              <a:chOff x="7848600" y="5076825"/>
              <a:chExt cx="133350" cy="171450"/>
            </a:xfrm>
          </p:grpSpPr>
          <p:sp>
            <p:nvSpPr>
              <p:cNvPr id="347" name="Freeform 347"/>
              <p:cNvSpPr/>
              <p:nvPr/>
            </p:nvSpPr>
            <p:spPr>
              <a:xfrm>
                <a:off x="7934325" y="507682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C83210"/>
                </a:solidFill>
              </a:ln>
            </p:spPr>
          </p:sp>
          <p:sp>
            <p:nvSpPr>
              <p:cNvPr id="348" name="Freeform 348"/>
              <p:cNvSpPr/>
              <p:nvPr/>
            </p:nvSpPr>
            <p:spPr>
              <a:xfrm>
                <a:off x="7848600" y="507682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C83210"/>
                </a:solidFill>
              </a:ln>
            </p:spPr>
          </p:sp>
          <p:sp>
            <p:nvSpPr>
              <p:cNvPr id="349" name="Freeform 349"/>
              <p:cNvSpPr/>
              <p:nvPr/>
            </p:nvSpPr>
            <p:spPr>
              <a:xfrm>
                <a:off x="7886700" y="5133975"/>
                <a:ext cx="9525" cy="9525"/>
              </a:xfrm>
              <a:custGeom>
                <a:avLst/>
                <a:gdLst/>
                <a:ahLst/>
                <a:cxnLst/>
                <a:rect l="l" t="t" r="r" b="b"/>
                <a:pathLst>
                  <a:path w="9525" h="9525">
                    <a:moveTo>
                      <a:pt x="0" y="0"/>
                    </a:moveTo>
                    <a:lnTo>
                      <a:pt x="9525" y="0"/>
                    </a:lnTo>
                  </a:path>
                </a:pathLst>
              </a:custGeom>
              <a:noFill/>
              <a:ln w="19050">
                <a:solidFill>
                  <a:srgbClr val="C83210"/>
                </a:solidFill>
              </a:ln>
            </p:spPr>
          </p:sp>
          <p:sp>
            <p:nvSpPr>
              <p:cNvPr id="350" name="Freeform 350"/>
              <p:cNvSpPr/>
              <p:nvPr/>
            </p:nvSpPr>
            <p:spPr>
              <a:xfrm>
                <a:off x="7886700" y="5172075"/>
                <a:ext cx="57150" cy="9525"/>
              </a:xfrm>
              <a:custGeom>
                <a:avLst/>
                <a:gdLst/>
                <a:ahLst/>
                <a:cxnLst/>
                <a:rect l="l" t="t" r="r" b="b"/>
                <a:pathLst>
                  <a:path w="57150" h="9525">
                    <a:moveTo>
                      <a:pt x="0" y="0"/>
                    </a:moveTo>
                    <a:lnTo>
                      <a:pt x="57150" y="0"/>
                    </a:lnTo>
                  </a:path>
                </a:pathLst>
              </a:custGeom>
              <a:noFill/>
              <a:ln w="19050">
                <a:solidFill>
                  <a:srgbClr val="C83210"/>
                </a:solidFill>
              </a:ln>
            </p:spPr>
          </p:sp>
          <p:sp>
            <p:nvSpPr>
              <p:cNvPr id="351" name="Freeform 351"/>
              <p:cNvSpPr/>
              <p:nvPr/>
            </p:nvSpPr>
            <p:spPr>
              <a:xfrm>
                <a:off x="7886700" y="5210175"/>
                <a:ext cx="57150" cy="9525"/>
              </a:xfrm>
              <a:custGeom>
                <a:avLst/>
                <a:gdLst/>
                <a:ahLst/>
                <a:cxnLst/>
                <a:rect l="l" t="t" r="r" b="b"/>
                <a:pathLst>
                  <a:path w="57150" h="9525">
                    <a:moveTo>
                      <a:pt x="0" y="0"/>
                    </a:moveTo>
                    <a:lnTo>
                      <a:pt x="57150" y="0"/>
                    </a:lnTo>
                  </a:path>
                </a:pathLst>
              </a:custGeom>
              <a:noFill/>
              <a:ln w="19050">
                <a:solidFill>
                  <a:srgbClr val="C83210"/>
                </a:solidFill>
              </a:ln>
            </p:spPr>
          </p:sp>
        </p:grpSp>
        <p:sp>
          <p:nvSpPr>
            <p:cNvPr id="353" name="TextBox 353"/>
            <p:cNvSpPr txBox="1"/>
            <p:nvPr/>
          </p:nvSpPr>
          <p:spPr>
            <a:xfrm>
              <a:off x="7671562" y="5428536"/>
              <a:ext cx="48742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报名转化率</a:t>
              </a:r>
            </a:p>
          </p:txBody>
        </p:sp>
        <p:sp>
          <p:nvSpPr>
            <p:cNvPr id="354" name="TextBox 354"/>
            <p:cNvSpPr txBox="1"/>
            <p:nvPr/>
          </p:nvSpPr>
          <p:spPr>
            <a:xfrm>
              <a:off x="7663621" y="5711190"/>
              <a:ext cx="503308" cy="352044"/>
            </a:xfrm>
            <a:prstGeom prst="rect">
              <a:avLst/>
            </a:prstGeom>
            <a:noFill/>
            <a:ln>
              <a:noFill/>
            </a:ln>
          </p:spPr>
          <p:txBody>
            <a:bodyPr wrap="none" lIns="0" tIns="0" rIns="0" bIns="0" anchor="t" anchorCtr="0">
              <a:spAutoFit/>
            </a:bodyPr>
            <a:lstStyle/>
            <a:p>
              <a:pPr algn="ctr"/>
              <a:r>
                <a:rPr lang="zh-CN" sz="1800" b="1" dirty="0">
                  <a:solidFill>
                    <a:srgbClr val="C83210"/>
                  </a:solidFill>
                  <a:latin typeface="Arial"/>
                  <a:ea typeface="Arial"/>
                  <a:cs typeface="Arial"/>
                </a:rPr>
                <a:t>20%</a:t>
              </a:r>
            </a:p>
          </p:txBody>
        </p:sp>
        <p:sp>
          <p:nvSpPr>
            <p:cNvPr id="355" name="Rectangle 355"/>
            <p:cNvSpPr/>
            <p:nvPr/>
          </p:nvSpPr>
          <p:spPr>
            <a:xfrm>
              <a:off x="8543925" y="4895850"/>
              <a:ext cx="1123950" cy="1333500"/>
            </a:xfrm>
            <a:prstGeom prst="roundRect">
              <a:avLst>
                <a:gd name="adj" fmla="val 5085"/>
              </a:avLst>
            </a:prstGeom>
            <a:solidFill>
              <a:srgbClr val="FDEFF1"/>
            </a:solidFill>
            <a:ln>
              <a:noFill/>
            </a:ln>
          </p:spPr>
        </p:sp>
        <p:grpSp>
          <p:nvGrpSpPr>
            <p:cNvPr id="359" name="Group 359"/>
            <p:cNvGrpSpPr/>
            <p:nvPr/>
          </p:nvGrpSpPr>
          <p:grpSpPr>
            <a:xfrm>
              <a:off x="9048750" y="5076825"/>
              <a:ext cx="142875" cy="171450"/>
              <a:chOff x="9048750" y="5076825"/>
              <a:chExt cx="142875" cy="171450"/>
            </a:xfrm>
          </p:grpSpPr>
          <p:sp>
            <p:nvSpPr>
              <p:cNvPr id="356" name="Freeform 356"/>
              <p:cNvSpPr/>
              <p:nvPr/>
            </p:nvSpPr>
            <p:spPr>
              <a:xfrm>
                <a:off x="9067800" y="50768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83210"/>
                </a:solidFill>
              </a:ln>
            </p:spPr>
          </p:sp>
          <p:sp>
            <p:nvSpPr>
              <p:cNvPr id="357" name="Freeform 357"/>
              <p:cNvSpPr/>
              <p:nvPr/>
            </p:nvSpPr>
            <p:spPr>
              <a:xfrm>
                <a:off x="9048750" y="519112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C83210"/>
                </a:solidFill>
              </a:ln>
            </p:spPr>
          </p:sp>
          <p:sp>
            <p:nvSpPr>
              <p:cNvPr id="358" name="Freeform 358"/>
              <p:cNvSpPr/>
              <p:nvPr/>
            </p:nvSpPr>
            <p:spPr>
              <a:xfrm>
                <a:off x="9134475" y="5210175"/>
                <a:ext cx="57150" cy="38100"/>
              </a:xfrm>
              <a:custGeom>
                <a:avLst/>
                <a:gdLst/>
                <a:ahLst/>
                <a:cxnLst/>
                <a:rect l="l" t="t" r="r" b="b"/>
                <a:pathLst>
                  <a:path w="57150" h="38100">
                    <a:moveTo>
                      <a:pt x="0" y="19050"/>
                    </a:moveTo>
                    <a:lnTo>
                      <a:pt x="19050" y="38100"/>
                    </a:lnTo>
                    <a:lnTo>
                      <a:pt x="57150" y="0"/>
                    </a:lnTo>
                  </a:path>
                </a:pathLst>
              </a:custGeom>
              <a:noFill/>
              <a:ln w="19050">
                <a:solidFill>
                  <a:srgbClr val="C83210"/>
                </a:solidFill>
              </a:ln>
            </p:spPr>
          </p:sp>
        </p:grpSp>
        <p:sp>
          <p:nvSpPr>
            <p:cNvPr id="360" name="TextBox 360"/>
            <p:cNvSpPr txBox="1"/>
            <p:nvPr/>
          </p:nvSpPr>
          <p:spPr>
            <a:xfrm>
              <a:off x="8957767" y="5428536"/>
              <a:ext cx="29626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到场率</a:t>
              </a:r>
            </a:p>
          </p:txBody>
        </p:sp>
        <p:sp>
          <p:nvSpPr>
            <p:cNvPr id="361" name="TextBox 361"/>
            <p:cNvSpPr txBox="1"/>
            <p:nvPr/>
          </p:nvSpPr>
          <p:spPr>
            <a:xfrm>
              <a:off x="8854246" y="5711190"/>
              <a:ext cx="503308" cy="352044"/>
            </a:xfrm>
            <a:prstGeom prst="rect">
              <a:avLst/>
            </a:prstGeom>
            <a:noFill/>
            <a:ln>
              <a:noFill/>
            </a:ln>
          </p:spPr>
          <p:txBody>
            <a:bodyPr wrap="none" lIns="0" tIns="0" rIns="0" bIns="0" anchor="t" anchorCtr="0">
              <a:spAutoFit/>
            </a:bodyPr>
            <a:lstStyle/>
            <a:p>
              <a:pPr algn="ctr"/>
              <a:r>
                <a:rPr lang="zh-CN" sz="1800" b="1" dirty="0">
                  <a:solidFill>
                    <a:srgbClr val="C83210"/>
                  </a:solidFill>
                  <a:latin typeface="Arial"/>
                  <a:ea typeface="Arial"/>
                  <a:cs typeface="Arial"/>
                </a:rPr>
                <a:t>70%</a:t>
              </a:r>
            </a:p>
          </p:txBody>
        </p:sp>
        <p:sp>
          <p:nvSpPr>
            <p:cNvPr id="362" name="Rectangle 362"/>
            <p:cNvSpPr/>
            <p:nvPr/>
          </p:nvSpPr>
          <p:spPr>
            <a:xfrm>
              <a:off x="9734550" y="4895850"/>
              <a:ext cx="1123950" cy="1333500"/>
            </a:xfrm>
            <a:prstGeom prst="roundRect">
              <a:avLst>
                <a:gd name="adj" fmla="val 5085"/>
              </a:avLst>
            </a:prstGeom>
            <a:solidFill>
              <a:srgbClr val="FDEFF1"/>
            </a:solidFill>
            <a:ln>
              <a:noFill/>
            </a:ln>
          </p:spPr>
        </p:sp>
        <p:grpSp>
          <p:nvGrpSpPr>
            <p:cNvPr id="366" name="Group 366"/>
            <p:cNvGrpSpPr/>
            <p:nvPr/>
          </p:nvGrpSpPr>
          <p:grpSpPr>
            <a:xfrm>
              <a:off x="10210800" y="5076825"/>
              <a:ext cx="171450" cy="171450"/>
              <a:chOff x="10210800" y="5076825"/>
              <a:chExt cx="171450" cy="171450"/>
            </a:xfrm>
          </p:grpSpPr>
          <p:sp>
            <p:nvSpPr>
              <p:cNvPr id="363" name="Freeform 363"/>
              <p:cNvSpPr/>
              <p:nvPr/>
            </p:nvSpPr>
            <p:spPr>
              <a:xfrm>
                <a:off x="10287000" y="51530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C83210"/>
                </a:solidFill>
              </a:ln>
            </p:spPr>
          </p:sp>
          <p:sp>
            <p:nvSpPr>
              <p:cNvPr id="364" name="Freeform 364"/>
              <p:cNvSpPr/>
              <p:nvPr/>
            </p:nvSpPr>
            <p:spPr>
              <a:xfrm>
                <a:off x="10248900" y="51149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C83210"/>
                </a:solidFill>
              </a:ln>
            </p:spPr>
          </p:sp>
          <p:sp>
            <p:nvSpPr>
              <p:cNvPr id="365" name="Freeform 365"/>
              <p:cNvSpPr/>
              <p:nvPr/>
            </p:nvSpPr>
            <p:spPr>
              <a:xfrm>
                <a:off x="10210800" y="50768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83210"/>
                </a:solidFill>
              </a:ln>
            </p:spPr>
          </p:sp>
        </p:grpSp>
        <p:sp>
          <p:nvSpPr>
            <p:cNvPr id="367" name="TextBox 367"/>
            <p:cNvSpPr txBox="1"/>
            <p:nvPr/>
          </p:nvSpPr>
          <p:spPr>
            <a:xfrm>
              <a:off x="10052812" y="5428536"/>
              <a:ext cx="48742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线索生成率</a:t>
              </a:r>
            </a:p>
          </p:txBody>
        </p:sp>
        <p:sp>
          <p:nvSpPr>
            <p:cNvPr id="368" name="TextBox 368"/>
            <p:cNvSpPr txBox="1"/>
            <p:nvPr/>
          </p:nvSpPr>
          <p:spPr>
            <a:xfrm>
              <a:off x="10044871" y="5711190"/>
              <a:ext cx="503308" cy="352044"/>
            </a:xfrm>
            <a:prstGeom prst="rect">
              <a:avLst/>
            </a:prstGeom>
            <a:noFill/>
            <a:ln>
              <a:noFill/>
            </a:ln>
          </p:spPr>
          <p:txBody>
            <a:bodyPr wrap="none" lIns="0" tIns="0" rIns="0" bIns="0" anchor="t" anchorCtr="0">
              <a:spAutoFit/>
            </a:bodyPr>
            <a:lstStyle/>
            <a:p>
              <a:pPr algn="ctr"/>
              <a:r>
                <a:rPr lang="zh-CN" sz="1800" b="1" dirty="0">
                  <a:solidFill>
                    <a:srgbClr val="C83210"/>
                  </a:solidFill>
                  <a:latin typeface="Arial"/>
                  <a:ea typeface="Arial"/>
                  <a:cs typeface="Arial"/>
                </a:rPr>
                <a:t>15%</a:t>
              </a:r>
            </a:p>
          </p:txBody>
        </p:sp>
        <p:sp>
          <p:nvSpPr>
            <p:cNvPr id="369" name="Rectangle 369"/>
            <p:cNvSpPr/>
            <p:nvPr/>
          </p:nvSpPr>
          <p:spPr>
            <a:xfrm>
              <a:off x="10925175" y="4895850"/>
              <a:ext cx="1123950" cy="1333500"/>
            </a:xfrm>
            <a:prstGeom prst="roundRect">
              <a:avLst>
                <a:gd name="adj" fmla="val 5085"/>
              </a:avLst>
            </a:prstGeom>
            <a:solidFill>
              <a:srgbClr val="FDEFF1"/>
            </a:solidFill>
            <a:ln>
              <a:noFill/>
            </a:ln>
          </p:spPr>
        </p:sp>
        <p:grpSp>
          <p:nvGrpSpPr>
            <p:cNvPr id="374" name="Group 374"/>
            <p:cNvGrpSpPr/>
            <p:nvPr/>
          </p:nvGrpSpPr>
          <p:grpSpPr>
            <a:xfrm>
              <a:off x="11401425" y="5086350"/>
              <a:ext cx="171450" cy="161925"/>
              <a:chOff x="11401425" y="5086350"/>
              <a:chExt cx="171450" cy="161925"/>
            </a:xfrm>
          </p:grpSpPr>
          <p:sp>
            <p:nvSpPr>
              <p:cNvPr id="370" name="Freeform 370"/>
              <p:cNvSpPr/>
              <p:nvPr/>
            </p:nvSpPr>
            <p:spPr>
              <a:xfrm>
                <a:off x="11401425" y="51625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C83210"/>
                </a:solidFill>
              </a:ln>
            </p:spPr>
          </p:sp>
          <p:sp>
            <p:nvSpPr>
              <p:cNvPr id="371" name="Freeform 371"/>
              <p:cNvSpPr/>
              <p:nvPr/>
            </p:nvSpPr>
            <p:spPr>
              <a:xfrm>
                <a:off x="11515725" y="51244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C83210"/>
                </a:solidFill>
              </a:ln>
            </p:spPr>
          </p:sp>
          <p:sp>
            <p:nvSpPr>
              <p:cNvPr id="372" name="Freeform 372"/>
              <p:cNvSpPr/>
              <p:nvPr/>
            </p:nvSpPr>
            <p:spPr>
              <a:xfrm>
                <a:off x="11458575" y="50863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C83210"/>
                </a:solidFill>
              </a:ln>
            </p:spPr>
          </p:sp>
          <p:sp>
            <p:nvSpPr>
              <p:cNvPr id="373" name="Freeform 373"/>
              <p:cNvSpPr/>
              <p:nvPr/>
            </p:nvSpPr>
            <p:spPr>
              <a:xfrm>
                <a:off x="11410950" y="5238750"/>
                <a:ext cx="133350" cy="9525"/>
              </a:xfrm>
              <a:custGeom>
                <a:avLst/>
                <a:gdLst/>
                <a:ahLst/>
                <a:cxnLst/>
                <a:rect l="l" t="t" r="r" b="b"/>
                <a:pathLst>
                  <a:path w="133350" h="9525">
                    <a:moveTo>
                      <a:pt x="0" y="0"/>
                    </a:moveTo>
                    <a:lnTo>
                      <a:pt x="133350" y="0"/>
                    </a:lnTo>
                  </a:path>
                </a:pathLst>
              </a:custGeom>
              <a:noFill/>
              <a:ln w="19050">
                <a:solidFill>
                  <a:srgbClr val="C83210"/>
                </a:solidFill>
              </a:ln>
            </p:spPr>
          </p:sp>
        </p:grpSp>
        <p:sp>
          <p:nvSpPr>
            <p:cNvPr id="375" name="TextBox 375"/>
            <p:cNvSpPr txBox="1"/>
            <p:nvPr/>
          </p:nvSpPr>
          <p:spPr>
            <a:xfrm>
              <a:off x="11243437" y="5428536"/>
              <a:ext cx="48742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最终转化率</a:t>
              </a:r>
            </a:p>
          </p:txBody>
        </p:sp>
        <p:sp>
          <p:nvSpPr>
            <p:cNvPr id="376" name="TextBox 376"/>
            <p:cNvSpPr txBox="1"/>
            <p:nvPr/>
          </p:nvSpPr>
          <p:spPr>
            <a:xfrm>
              <a:off x="11302884" y="5711190"/>
              <a:ext cx="368532" cy="352044"/>
            </a:xfrm>
            <a:prstGeom prst="rect">
              <a:avLst/>
            </a:prstGeom>
            <a:noFill/>
            <a:ln>
              <a:noFill/>
            </a:ln>
          </p:spPr>
          <p:txBody>
            <a:bodyPr wrap="none" lIns="0" tIns="0" rIns="0" bIns="0" anchor="t" anchorCtr="0">
              <a:spAutoFit/>
            </a:bodyPr>
            <a:lstStyle/>
            <a:p>
              <a:pPr algn="ctr"/>
              <a:r>
                <a:rPr lang="zh-CN" sz="1800" b="1" dirty="0">
                  <a:solidFill>
                    <a:srgbClr val="C83210"/>
                  </a:solidFill>
                  <a:latin typeface="Arial"/>
                  <a:ea typeface="Arial"/>
                  <a:cs typeface="Arial"/>
                </a:rPr>
                <a:t>6%</a:t>
              </a:r>
            </a:p>
          </p:txBody>
        </p:sp>
      </p:gr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12</a:t>
              </a:r>
            </a:p>
          </p:txBody>
        </p:sp>
        <p:sp>
          <p:nvSpPr>
            <p:cNvPr id="4" name="TextBox 4"/>
            <p:cNvSpPr txBox="1"/>
            <p:nvPr/>
          </p:nvSpPr>
          <p:spPr>
            <a:xfrm>
              <a:off x="942594" y="151448"/>
              <a:ext cx="5844540"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智能运营</a:t>
              </a:r>
              <a:r>
                <a:rPr lang="zh-CN" sz="1950" b="1" dirty="0">
                  <a:solidFill>
                    <a:srgbClr val="222222"/>
                  </a:solidFill>
                  <a:latin typeface="SimSun"/>
                  <a:ea typeface="SimSun"/>
                  <a:cs typeface="SimSun"/>
                </a:rPr>
                <a:t>｜规则引擎让一线员工专注高意向客户</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152" name="arch-band"/>
          <p:cNvGrpSpPr/>
          <p:nvPr/>
        </p:nvGrpSpPr>
        <p:grpSpPr>
          <a:xfrm>
            <a:off x="133350" y="704850"/>
            <a:ext cx="6438900" cy="1971675"/>
            <a:chOff x="133350" y="704850"/>
            <a:chExt cx="6438900" cy="1971675"/>
          </a:xfrm>
        </p:grpSpPr>
        <p:sp>
          <p:nvSpPr>
            <p:cNvPr id="7" name="Rectangle 7"/>
            <p:cNvSpPr/>
            <p:nvPr/>
          </p:nvSpPr>
          <p:spPr>
            <a:xfrm>
              <a:off x="171450" y="704850"/>
              <a:ext cx="38100" cy="152400"/>
            </a:xfrm>
            <a:prstGeom prst="rect">
              <a:avLst/>
            </a:prstGeom>
            <a:solidFill>
              <a:srgbClr val="C83210"/>
            </a:solidFill>
            <a:ln>
              <a:noFill/>
            </a:ln>
          </p:spPr>
        </p:sp>
        <p:sp>
          <p:nvSpPr>
            <p:cNvPr id="8" name="TextBox 8"/>
            <p:cNvSpPr txBox="1"/>
            <p:nvPr/>
          </p:nvSpPr>
          <p:spPr>
            <a:xfrm>
              <a:off x="280797" y="723424"/>
              <a:ext cx="1461110"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企微智能运营自动化架构</a:t>
              </a:r>
            </a:p>
          </p:txBody>
        </p:sp>
        <p:sp>
          <p:nvSpPr>
            <p:cNvPr id="9" name="Rectangle 9"/>
            <p:cNvSpPr/>
            <p:nvPr/>
          </p:nvSpPr>
          <p:spPr>
            <a:xfrm>
              <a:off x="133350" y="914400"/>
              <a:ext cx="838200" cy="190500"/>
            </a:xfrm>
            <a:prstGeom prst="roundRect">
              <a:avLst>
                <a:gd name="adj" fmla="val 20000"/>
              </a:avLst>
            </a:prstGeom>
            <a:solidFill>
              <a:srgbClr val="FBE3E6"/>
            </a:solidFill>
            <a:ln>
              <a:noFill/>
            </a:ln>
          </p:spPr>
        </p:sp>
        <p:grpSp>
          <p:nvGrpSpPr>
            <p:cNvPr id="13" name="Group 13"/>
            <p:cNvGrpSpPr/>
            <p:nvPr/>
          </p:nvGrpSpPr>
          <p:grpSpPr>
            <a:xfrm>
              <a:off x="190500" y="966788"/>
              <a:ext cx="76200" cy="85724"/>
              <a:chOff x="190500" y="966788"/>
              <a:chExt cx="76200" cy="85724"/>
            </a:xfrm>
          </p:grpSpPr>
          <p:sp>
            <p:nvSpPr>
              <p:cNvPr id="10" name="Freeform 10"/>
              <p:cNvSpPr/>
              <p:nvPr/>
            </p:nvSpPr>
            <p:spPr>
              <a:xfrm>
                <a:off x="190500" y="966788"/>
                <a:ext cx="76200" cy="28575"/>
              </a:xfrm>
              <a:custGeom>
                <a:avLst/>
                <a:gdLst/>
                <a:ahLst/>
                <a:cxnLst/>
                <a:rect l="l" t="t" r="r" b="b"/>
                <a:pathLst>
                  <a:path w="76200" h="28575">
                    <a:moveTo>
                      <a:pt x="0" y="14288"/>
                    </a:moveTo>
                    <a:cubicBezTo>
                      <a:pt x="0" y="22178"/>
                      <a:pt x="17058" y="28575"/>
                      <a:pt x="38100" y="28575"/>
                    </a:cubicBezTo>
                    <a:cubicBezTo>
                      <a:pt x="59142" y="28575"/>
                      <a:pt x="76200" y="22178"/>
                      <a:pt x="76200" y="14288"/>
                    </a:cubicBezTo>
                    <a:cubicBezTo>
                      <a:pt x="76200" y="6397"/>
                      <a:pt x="59142" y="0"/>
                      <a:pt x="38100" y="0"/>
                    </a:cubicBezTo>
                    <a:cubicBezTo>
                      <a:pt x="17058" y="0"/>
                      <a:pt x="0" y="6397"/>
                      <a:pt x="0" y="14288"/>
                    </a:cubicBezTo>
                  </a:path>
                </a:pathLst>
              </a:custGeom>
              <a:noFill/>
              <a:ln w="9525">
                <a:solidFill>
                  <a:srgbClr val="C83210"/>
                </a:solidFill>
              </a:ln>
            </p:spPr>
          </p:sp>
          <p:sp>
            <p:nvSpPr>
              <p:cNvPr id="11" name="Freeform 11"/>
              <p:cNvSpPr/>
              <p:nvPr/>
            </p:nvSpPr>
            <p:spPr>
              <a:xfrm>
                <a:off x="190500" y="981075"/>
                <a:ext cx="76200" cy="42862"/>
              </a:xfrm>
              <a:custGeom>
                <a:avLst/>
                <a:gdLst/>
                <a:ahLst/>
                <a:cxnLst/>
                <a:rect l="l" t="t" r="r" b="b"/>
                <a:pathLst>
                  <a:path w="76200" h="42862">
                    <a:moveTo>
                      <a:pt x="0" y="0"/>
                    </a:moveTo>
                    <a:lnTo>
                      <a:pt x="0" y="28575"/>
                    </a:lnTo>
                    <a:cubicBezTo>
                      <a:pt x="0" y="36466"/>
                      <a:pt x="17058" y="42862"/>
                      <a:pt x="38100" y="42862"/>
                    </a:cubicBezTo>
                    <a:cubicBezTo>
                      <a:pt x="59142" y="42862"/>
                      <a:pt x="76200" y="36466"/>
                      <a:pt x="76200" y="28575"/>
                    </a:cubicBezTo>
                    <a:lnTo>
                      <a:pt x="76200" y="0"/>
                    </a:lnTo>
                  </a:path>
                </a:pathLst>
              </a:custGeom>
              <a:noFill/>
              <a:ln w="9525">
                <a:solidFill>
                  <a:srgbClr val="C83210"/>
                </a:solidFill>
              </a:ln>
            </p:spPr>
          </p:sp>
          <p:sp>
            <p:nvSpPr>
              <p:cNvPr id="12" name="Freeform 12"/>
              <p:cNvSpPr/>
              <p:nvPr/>
            </p:nvSpPr>
            <p:spPr>
              <a:xfrm>
                <a:off x="190500" y="1009650"/>
                <a:ext cx="76200" cy="42862"/>
              </a:xfrm>
              <a:custGeom>
                <a:avLst/>
                <a:gdLst/>
                <a:ahLst/>
                <a:cxnLst/>
                <a:rect l="l" t="t" r="r" b="b"/>
                <a:pathLst>
                  <a:path w="76200" h="42862">
                    <a:moveTo>
                      <a:pt x="0" y="0"/>
                    </a:moveTo>
                    <a:lnTo>
                      <a:pt x="0" y="28575"/>
                    </a:lnTo>
                    <a:cubicBezTo>
                      <a:pt x="0" y="36466"/>
                      <a:pt x="17058" y="42862"/>
                      <a:pt x="38100" y="42862"/>
                    </a:cubicBezTo>
                    <a:cubicBezTo>
                      <a:pt x="59142" y="42862"/>
                      <a:pt x="76200" y="36466"/>
                      <a:pt x="76200" y="28575"/>
                    </a:cubicBezTo>
                    <a:lnTo>
                      <a:pt x="76200" y="0"/>
                    </a:lnTo>
                  </a:path>
                </a:pathLst>
              </a:custGeom>
              <a:noFill/>
              <a:ln w="9525">
                <a:solidFill>
                  <a:srgbClr val="C83210"/>
                </a:solidFill>
              </a:ln>
            </p:spPr>
          </p:sp>
        </p:grpSp>
        <p:sp>
          <p:nvSpPr>
            <p:cNvPr id="14" name="TextBox 14"/>
            <p:cNvSpPr txBox="1"/>
            <p:nvPr/>
          </p:nvSpPr>
          <p:spPr>
            <a:xfrm>
              <a:off x="309562" y="978932"/>
              <a:ext cx="612623"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客户数据与标签</a:t>
              </a:r>
            </a:p>
          </p:txBody>
        </p:sp>
        <p:sp>
          <p:nvSpPr>
            <p:cNvPr id="15" name="Rectangle 15"/>
            <p:cNvSpPr/>
            <p:nvPr/>
          </p:nvSpPr>
          <p:spPr>
            <a:xfrm>
              <a:off x="133350" y="1162050"/>
              <a:ext cx="838200" cy="342900"/>
            </a:xfrm>
            <a:prstGeom prst="roundRect">
              <a:avLst>
                <a:gd name="adj" fmla="val 8333"/>
              </a:avLst>
            </a:prstGeom>
            <a:solidFill>
              <a:srgbClr val="FDEFF1"/>
            </a:solidFill>
            <a:ln>
              <a:noFill/>
            </a:ln>
          </p:spPr>
        </p:sp>
        <p:grpSp>
          <p:nvGrpSpPr>
            <p:cNvPr id="19" name="Group 19"/>
            <p:cNvGrpSpPr/>
            <p:nvPr/>
          </p:nvGrpSpPr>
          <p:grpSpPr>
            <a:xfrm>
              <a:off x="200025" y="1233488"/>
              <a:ext cx="76200" cy="85724"/>
              <a:chOff x="200025" y="1233488"/>
              <a:chExt cx="76200" cy="85724"/>
            </a:xfrm>
          </p:grpSpPr>
          <p:sp>
            <p:nvSpPr>
              <p:cNvPr id="16" name="Freeform 16"/>
              <p:cNvSpPr/>
              <p:nvPr/>
            </p:nvSpPr>
            <p:spPr>
              <a:xfrm>
                <a:off x="200025" y="1233488"/>
                <a:ext cx="76200" cy="28575"/>
              </a:xfrm>
              <a:custGeom>
                <a:avLst/>
                <a:gdLst/>
                <a:ahLst/>
                <a:cxnLst/>
                <a:rect l="l" t="t" r="r" b="b"/>
                <a:pathLst>
                  <a:path w="76200" h="28575">
                    <a:moveTo>
                      <a:pt x="0" y="14288"/>
                    </a:moveTo>
                    <a:cubicBezTo>
                      <a:pt x="0" y="22178"/>
                      <a:pt x="17058" y="28575"/>
                      <a:pt x="38100" y="28575"/>
                    </a:cubicBezTo>
                    <a:cubicBezTo>
                      <a:pt x="59142" y="28575"/>
                      <a:pt x="76200" y="22178"/>
                      <a:pt x="76200" y="14288"/>
                    </a:cubicBezTo>
                    <a:cubicBezTo>
                      <a:pt x="76200" y="6397"/>
                      <a:pt x="59142" y="0"/>
                      <a:pt x="38100" y="0"/>
                    </a:cubicBezTo>
                    <a:cubicBezTo>
                      <a:pt x="17058" y="0"/>
                      <a:pt x="0" y="6397"/>
                      <a:pt x="0" y="14288"/>
                    </a:cubicBezTo>
                  </a:path>
                </a:pathLst>
              </a:custGeom>
              <a:noFill/>
              <a:ln w="9525">
                <a:solidFill>
                  <a:srgbClr val="C83210"/>
                </a:solidFill>
              </a:ln>
            </p:spPr>
          </p:sp>
          <p:sp>
            <p:nvSpPr>
              <p:cNvPr id="17" name="Freeform 17"/>
              <p:cNvSpPr/>
              <p:nvPr/>
            </p:nvSpPr>
            <p:spPr>
              <a:xfrm>
                <a:off x="200025" y="1247775"/>
                <a:ext cx="76200" cy="42862"/>
              </a:xfrm>
              <a:custGeom>
                <a:avLst/>
                <a:gdLst/>
                <a:ahLst/>
                <a:cxnLst/>
                <a:rect l="l" t="t" r="r" b="b"/>
                <a:pathLst>
                  <a:path w="76200" h="42862">
                    <a:moveTo>
                      <a:pt x="0" y="0"/>
                    </a:moveTo>
                    <a:lnTo>
                      <a:pt x="0" y="28575"/>
                    </a:lnTo>
                    <a:cubicBezTo>
                      <a:pt x="0" y="36466"/>
                      <a:pt x="17058" y="42862"/>
                      <a:pt x="38100" y="42862"/>
                    </a:cubicBezTo>
                    <a:cubicBezTo>
                      <a:pt x="59142" y="42862"/>
                      <a:pt x="76200" y="36466"/>
                      <a:pt x="76200" y="28575"/>
                    </a:cubicBezTo>
                    <a:lnTo>
                      <a:pt x="76200" y="0"/>
                    </a:lnTo>
                  </a:path>
                </a:pathLst>
              </a:custGeom>
              <a:noFill/>
              <a:ln w="9525">
                <a:solidFill>
                  <a:srgbClr val="C83210"/>
                </a:solidFill>
              </a:ln>
            </p:spPr>
          </p:sp>
          <p:sp>
            <p:nvSpPr>
              <p:cNvPr id="18" name="Freeform 18"/>
              <p:cNvSpPr/>
              <p:nvPr/>
            </p:nvSpPr>
            <p:spPr>
              <a:xfrm>
                <a:off x="200025" y="1276350"/>
                <a:ext cx="76200" cy="42862"/>
              </a:xfrm>
              <a:custGeom>
                <a:avLst/>
                <a:gdLst/>
                <a:ahLst/>
                <a:cxnLst/>
                <a:rect l="l" t="t" r="r" b="b"/>
                <a:pathLst>
                  <a:path w="76200" h="42862">
                    <a:moveTo>
                      <a:pt x="0" y="0"/>
                    </a:moveTo>
                    <a:lnTo>
                      <a:pt x="0" y="28575"/>
                    </a:lnTo>
                    <a:cubicBezTo>
                      <a:pt x="0" y="36466"/>
                      <a:pt x="17058" y="42862"/>
                      <a:pt x="38100" y="42862"/>
                    </a:cubicBezTo>
                    <a:cubicBezTo>
                      <a:pt x="59142" y="42862"/>
                      <a:pt x="76200" y="36466"/>
                      <a:pt x="76200" y="28575"/>
                    </a:cubicBezTo>
                    <a:lnTo>
                      <a:pt x="76200" y="0"/>
                    </a:lnTo>
                  </a:path>
                </a:pathLst>
              </a:custGeom>
              <a:noFill/>
              <a:ln w="9525">
                <a:solidFill>
                  <a:srgbClr val="C83210"/>
                </a:solidFill>
              </a:ln>
            </p:spPr>
          </p:sp>
        </p:grpSp>
        <p:sp>
          <p:nvSpPr>
            <p:cNvPr id="20" name="TextBox 20"/>
            <p:cNvSpPr txBox="1"/>
            <p:nvPr/>
          </p:nvSpPr>
          <p:spPr>
            <a:xfrm>
              <a:off x="328612" y="1230630"/>
              <a:ext cx="494157" cy="119062"/>
            </a:xfrm>
            <a:prstGeom prst="rect">
              <a:avLst/>
            </a:prstGeom>
            <a:noFill/>
            <a:ln>
              <a:noFill/>
            </a:ln>
          </p:spPr>
          <p:txBody>
            <a:bodyPr wrap="none" lIns="0" tIns="0" rIns="0" bIns="0" anchor="t" anchorCtr="0">
              <a:spAutoFit/>
            </a:bodyPr>
            <a:lstStyle/>
            <a:p>
              <a:pPr algn="l"/>
              <a:r>
                <a:rPr lang="zh-CN" sz="600" b="1" dirty="0">
                  <a:solidFill>
                    <a:srgbClr val="222222"/>
                  </a:solidFill>
                  <a:latin typeface="+mn-lt"/>
                  <a:ea typeface="+mn-ea"/>
                  <a:cs typeface="+mn-cs"/>
                </a:rPr>
                <a:t>核心业务数据</a:t>
              </a:r>
            </a:p>
          </p:txBody>
        </p:sp>
        <p:sp>
          <p:nvSpPr>
            <p:cNvPr id="21" name="TextBox 21"/>
            <p:cNvSpPr txBox="1"/>
            <p:nvPr/>
          </p:nvSpPr>
          <p:spPr>
            <a:xfrm>
              <a:off x="328612" y="1381601"/>
              <a:ext cx="702549" cy="104775"/>
            </a:xfrm>
            <a:prstGeom prst="rect">
              <a:avLst/>
            </a:prstGeom>
            <a:noFill/>
            <a:ln>
              <a:noFill/>
            </a:ln>
          </p:spPr>
          <p:txBody>
            <a:bodyPr wrap="none" lIns="0" tIns="0" rIns="0" bIns="0" anchor="t" anchorCtr="0">
              <a:spAutoFit/>
            </a:bodyPr>
            <a:lstStyle/>
            <a:p>
              <a:pPr algn="l"/>
              <a:r>
                <a:rPr lang="zh-CN" sz="520" dirty="0">
                  <a:solidFill>
                    <a:srgbClr val="808080"/>
                  </a:solidFill>
                  <a:latin typeface="+mn-lt"/>
                  <a:ea typeface="+mn-ea"/>
                  <a:cs typeface="+mn-cs"/>
                </a:rPr>
                <a:t>存款 理财 贷款 信用卡</a:t>
              </a:r>
            </a:p>
          </p:txBody>
        </p:sp>
        <p:sp>
          <p:nvSpPr>
            <p:cNvPr id="22" name="Rectangle 22"/>
            <p:cNvSpPr/>
            <p:nvPr/>
          </p:nvSpPr>
          <p:spPr>
            <a:xfrm>
              <a:off x="133350" y="1552575"/>
              <a:ext cx="838200" cy="342900"/>
            </a:xfrm>
            <a:prstGeom prst="roundRect">
              <a:avLst>
                <a:gd name="adj" fmla="val 8333"/>
              </a:avLst>
            </a:prstGeom>
            <a:solidFill>
              <a:srgbClr val="FDEFF1"/>
            </a:solidFill>
            <a:ln>
              <a:noFill/>
            </a:ln>
          </p:spPr>
        </p:sp>
        <p:grpSp>
          <p:nvGrpSpPr>
            <p:cNvPr id="31" name="Group 31"/>
            <p:cNvGrpSpPr/>
            <p:nvPr/>
          </p:nvGrpSpPr>
          <p:grpSpPr>
            <a:xfrm>
              <a:off x="195262" y="1619250"/>
              <a:ext cx="80963" cy="95252"/>
              <a:chOff x="195262" y="1619250"/>
              <a:chExt cx="80963" cy="95252"/>
            </a:xfrm>
          </p:grpSpPr>
          <p:sp>
            <p:nvSpPr>
              <p:cNvPr id="23" name="Freeform 23"/>
              <p:cNvSpPr/>
              <p:nvPr/>
            </p:nvSpPr>
            <p:spPr>
              <a:xfrm>
                <a:off x="219075" y="1624012"/>
                <a:ext cx="14288" cy="47625"/>
              </a:xfrm>
              <a:custGeom>
                <a:avLst/>
                <a:gdLst/>
                <a:ahLst/>
                <a:cxnLst/>
                <a:rect l="l" t="t" r="r" b="b"/>
                <a:pathLst>
                  <a:path w="14288" h="47625">
                    <a:moveTo>
                      <a:pt x="0" y="47625"/>
                    </a:moveTo>
                    <a:lnTo>
                      <a:pt x="0" y="7144"/>
                    </a:lnTo>
                    <a:cubicBezTo>
                      <a:pt x="0" y="3198"/>
                      <a:pt x="3198" y="0"/>
                      <a:pt x="7144" y="0"/>
                    </a:cubicBezTo>
                    <a:cubicBezTo>
                      <a:pt x="11089" y="0"/>
                      <a:pt x="14288" y="3198"/>
                      <a:pt x="14288" y="7144"/>
                    </a:cubicBezTo>
                    <a:lnTo>
                      <a:pt x="14288" y="42862"/>
                    </a:lnTo>
                  </a:path>
                </a:pathLst>
              </a:custGeom>
              <a:noFill/>
              <a:ln w="9525">
                <a:solidFill>
                  <a:srgbClr val="C83210"/>
                </a:solidFill>
              </a:ln>
            </p:spPr>
          </p:sp>
          <p:sp>
            <p:nvSpPr>
              <p:cNvPr id="24" name="Freeform 24"/>
              <p:cNvSpPr/>
              <p:nvPr/>
            </p:nvSpPr>
            <p:spPr>
              <a:xfrm>
                <a:off x="233362" y="1647825"/>
                <a:ext cx="14288" cy="19050"/>
              </a:xfrm>
              <a:custGeom>
                <a:avLst/>
                <a:gdLst/>
                <a:ahLst/>
                <a:cxnLst/>
                <a:rect l="l" t="t" r="r" b="b"/>
                <a:pathLst>
                  <a:path w="14288" h="19050">
                    <a:moveTo>
                      <a:pt x="0" y="16669"/>
                    </a:moveTo>
                    <a:lnTo>
                      <a:pt x="0" y="7144"/>
                    </a:lnTo>
                    <a:cubicBezTo>
                      <a:pt x="0" y="3198"/>
                      <a:pt x="3198" y="0"/>
                      <a:pt x="7144" y="0"/>
                    </a:cubicBezTo>
                    <a:cubicBezTo>
                      <a:pt x="11089" y="0"/>
                      <a:pt x="14288" y="3198"/>
                      <a:pt x="14288" y="7144"/>
                    </a:cubicBezTo>
                    <a:lnTo>
                      <a:pt x="14288" y="19050"/>
                    </a:lnTo>
                  </a:path>
                </a:pathLst>
              </a:custGeom>
              <a:noFill/>
              <a:ln w="9525">
                <a:solidFill>
                  <a:srgbClr val="C83210"/>
                </a:solidFill>
              </a:ln>
            </p:spPr>
          </p:sp>
          <p:sp>
            <p:nvSpPr>
              <p:cNvPr id="25" name="Freeform 25"/>
              <p:cNvSpPr/>
              <p:nvPr/>
            </p:nvSpPr>
            <p:spPr>
              <a:xfrm>
                <a:off x="247650" y="1652588"/>
                <a:ext cx="14288" cy="14288"/>
              </a:xfrm>
              <a:custGeom>
                <a:avLst/>
                <a:gdLst/>
                <a:ahLst/>
                <a:cxnLst/>
                <a:rect l="l" t="t" r="r" b="b"/>
                <a:pathLst>
                  <a:path w="14288" h="14288">
                    <a:moveTo>
                      <a:pt x="0" y="7144"/>
                    </a:moveTo>
                    <a:cubicBezTo>
                      <a:pt x="0" y="3198"/>
                      <a:pt x="3198" y="0"/>
                      <a:pt x="7144" y="0"/>
                    </a:cubicBezTo>
                    <a:cubicBezTo>
                      <a:pt x="11089" y="0"/>
                      <a:pt x="14288" y="3198"/>
                      <a:pt x="14288" y="7144"/>
                    </a:cubicBezTo>
                    <a:lnTo>
                      <a:pt x="14288" y="14288"/>
                    </a:lnTo>
                  </a:path>
                </a:pathLst>
              </a:custGeom>
              <a:noFill/>
              <a:ln w="9525">
                <a:solidFill>
                  <a:srgbClr val="C83210"/>
                </a:solidFill>
              </a:ln>
            </p:spPr>
          </p:sp>
          <p:sp>
            <p:nvSpPr>
              <p:cNvPr id="26" name="Freeform 26"/>
              <p:cNvSpPr/>
              <p:nvPr/>
            </p:nvSpPr>
            <p:spPr>
              <a:xfrm>
                <a:off x="196766" y="1657350"/>
                <a:ext cx="79459" cy="57152"/>
              </a:xfrm>
              <a:custGeom>
                <a:avLst/>
                <a:gdLst/>
                <a:ahLst/>
                <a:cxnLst/>
                <a:rect l="l" t="t" r="r" b="b"/>
                <a:pathLst>
                  <a:path w="79459" h="57152">
                    <a:moveTo>
                      <a:pt x="65171" y="7144"/>
                    </a:moveTo>
                    <a:cubicBezTo>
                      <a:pt x="65171" y="3198"/>
                      <a:pt x="68370" y="0"/>
                      <a:pt x="72315" y="0"/>
                    </a:cubicBezTo>
                    <a:cubicBezTo>
                      <a:pt x="76261" y="0"/>
                      <a:pt x="79459" y="3198"/>
                      <a:pt x="79459" y="7144"/>
                    </a:cubicBezTo>
                    <a:lnTo>
                      <a:pt x="79459" y="28575"/>
                    </a:lnTo>
                    <a:cubicBezTo>
                      <a:pt x="79459" y="44357"/>
                      <a:pt x="66665" y="57150"/>
                      <a:pt x="50884" y="57150"/>
                    </a:cubicBezTo>
                    <a:lnTo>
                      <a:pt x="41359" y="57150"/>
                    </a:lnTo>
                    <a:lnTo>
                      <a:pt x="42350" y="57150"/>
                    </a:lnTo>
                    <a:cubicBezTo>
                      <a:pt x="32737" y="57152"/>
                      <a:pt x="23767" y="52320"/>
                      <a:pt x="18480" y="44291"/>
                    </a:cubicBezTo>
                    <a:lnTo>
                      <a:pt x="17546" y="42862"/>
                    </a:lnTo>
                    <a:cubicBezTo>
                      <a:pt x="16061" y="40581"/>
                      <a:pt x="10846" y="31490"/>
                      <a:pt x="1897" y="15583"/>
                    </a:cubicBezTo>
                    <a:cubicBezTo>
                      <a:pt x="0" y="12211"/>
                      <a:pt x="1132" y="7942"/>
                      <a:pt x="4450" y="5953"/>
                    </a:cubicBezTo>
                    <a:cubicBezTo>
                      <a:pt x="7947" y="3855"/>
                      <a:pt x="12423" y="4405"/>
                      <a:pt x="15308" y="7287"/>
                    </a:cubicBezTo>
                    <a:lnTo>
                      <a:pt x="22309" y="14288"/>
                    </a:lnTo>
                  </a:path>
                </a:pathLst>
              </a:custGeom>
              <a:noFill/>
              <a:ln w="9525">
                <a:solidFill>
                  <a:srgbClr val="C83210"/>
                </a:solidFill>
              </a:ln>
            </p:spPr>
          </p:sp>
          <p:sp>
            <p:nvSpPr>
              <p:cNvPr id="27" name="Freeform 27"/>
              <p:cNvSpPr/>
              <p:nvPr/>
            </p:nvSpPr>
            <p:spPr>
              <a:xfrm>
                <a:off x="200025" y="1619250"/>
                <a:ext cx="9525" cy="9525"/>
              </a:xfrm>
              <a:custGeom>
                <a:avLst/>
                <a:gdLst/>
                <a:ahLst/>
                <a:cxnLst/>
                <a:rect l="l" t="t" r="r" b="b"/>
                <a:pathLst>
                  <a:path w="9525" h="9525">
                    <a:moveTo>
                      <a:pt x="4762" y="4762"/>
                    </a:moveTo>
                    <a:lnTo>
                      <a:pt x="0" y="0"/>
                    </a:lnTo>
                  </a:path>
                </a:pathLst>
              </a:custGeom>
              <a:noFill/>
              <a:ln w="9525">
                <a:solidFill>
                  <a:srgbClr val="C83210"/>
                </a:solidFill>
              </a:ln>
            </p:spPr>
          </p:sp>
          <p:sp>
            <p:nvSpPr>
              <p:cNvPr id="28" name="Freeform 28"/>
              <p:cNvSpPr/>
              <p:nvPr/>
            </p:nvSpPr>
            <p:spPr>
              <a:xfrm>
                <a:off x="195262" y="1643062"/>
                <a:ext cx="9525" cy="9525"/>
              </a:xfrm>
              <a:custGeom>
                <a:avLst/>
                <a:gdLst/>
                <a:ahLst/>
                <a:cxnLst/>
                <a:rect l="l" t="t" r="r" b="b"/>
                <a:pathLst>
                  <a:path w="9525" h="9525">
                    <a:moveTo>
                      <a:pt x="4762" y="0"/>
                    </a:moveTo>
                    <a:lnTo>
                      <a:pt x="0" y="0"/>
                    </a:lnTo>
                  </a:path>
                </a:pathLst>
              </a:custGeom>
              <a:noFill/>
              <a:ln w="9525">
                <a:solidFill>
                  <a:srgbClr val="C83210"/>
                </a:solidFill>
              </a:ln>
            </p:spPr>
          </p:sp>
          <p:sp>
            <p:nvSpPr>
              <p:cNvPr id="29" name="Freeform 29"/>
              <p:cNvSpPr/>
              <p:nvPr/>
            </p:nvSpPr>
            <p:spPr>
              <a:xfrm>
                <a:off x="247650" y="1619250"/>
                <a:ext cx="9525" cy="9525"/>
              </a:xfrm>
              <a:custGeom>
                <a:avLst/>
                <a:gdLst/>
                <a:ahLst/>
                <a:cxnLst/>
                <a:rect l="l" t="t" r="r" b="b"/>
                <a:pathLst>
                  <a:path w="9525" h="9525">
                    <a:moveTo>
                      <a:pt x="0" y="4762"/>
                    </a:moveTo>
                    <a:lnTo>
                      <a:pt x="4762" y="0"/>
                    </a:lnTo>
                  </a:path>
                </a:pathLst>
              </a:custGeom>
              <a:noFill/>
              <a:ln w="9525">
                <a:solidFill>
                  <a:srgbClr val="C83210"/>
                </a:solidFill>
              </a:ln>
            </p:spPr>
          </p:sp>
          <p:sp>
            <p:nvSpPr>
              <p:cNvPr id="30" name="Freeform 30"/>
              <p:cNvSpPr/>
              <p:nvPr/>
            </p:nvSpPr>
            <p:spPr>
              <a:xfrm>
                <a:off x="252412" y="1638300"/>
                <a:ext cx="9525" cy="9525"/>
              </a:xfrm>
              <a:custGeom>
                <a:avLst/>
                <a:gdLst/>
                <a:ahLst/>
                <a:cxnLst/>
                <a:rect l="l" t="t" r="r" b="b"/>
                <a:pathLst>
                  <a:path w="9525" h="9525">
                    <a:moveTo>
                      <a:pt x="0" y="0"/>
                    </a:moveTo>
                    <a:lnTo>
                      <a:pt x="4762" y="0"/>
                    </a:lnTo>
                  </a:path>
                </a:pathLst>
              </a:custGeom>
              <a:noFill/>
              <a:ln w="9525">
                <a:solidFill>
                  <a:srgbClr val="C83210"/>
                </a:solidFill>
              </a:ln>
            </p:spPr>
          </p:sp>
        </p:grpSp>
        <p:sp>
          <p:nvSpPr>
            <p:cNvPr id="32" name="TextBox 32"/>
            <p:cNvSpPr txBox="1"/>
            <p:nvPr/>
          </p:nvSpPr>
          <p:spPr>
            <a:xfrm>
              <a:off x="328612" y="1621155"/>
              <a:ext cx="332613" cy="119062"/>
            </a:xfrm>
            <a:prstGeom prst="rect">
              <a:avLst/>
            </a:prstGeom>
            <a:noFill/>
            <a:ln>
              <a:noFill/>
            </a:ln>
          </p:spPr>
          <p:txBody>
            <a:bodyPr wrap="none" lIns="0" tIns="0" rIns="0" bIns="0" anchor="t" anchorCtr="0">
              <a:spAutoFit/>
            </a:bodyPr>
            <a:lstStyle/>
            <a:p>
              <a:pPr algn="l"/>
              <a:r>
                <a:rPr lang="zh-CN" sz="600" b="1" dirty="0">
                  <a:solidFill>
                    <a:srgbClr val="222222"/>
                  </a:solidFill>
                  <a:latin typeface="+mn-lt"/>
                  <a:ea typeface="+mn-ea"/>
                  <a:cs typeface="+mn-cs"/>
                </a:rPr>
                <a:t>行为数据</a:t>
              </a:r>
            </a:p>
          </p:txBody>
        </p:sp>
        <p:sp>
          <p:nvSpPr>
            <p:cNvPr id="33" name="TextBox 33"/>
            <p:cNvSpPr txBox="1"/>
            <p:nvPr/>
          </p:nvSpPr>
          <p:spPr>
            <a:xfrm>
              <a:off x="328612" y="1772126"/>
              <a:ext cx="632546" cy="104775"/>
            </a:xfrm>
            <a:prstGeom prst="rect">
              <a:avLst/>
            </a:prstGeom>
            <a:noFill/>
            <a:ln>
              <a:noFill/>
            </a:ln>
          </p:spPr>
          <p:txBody>
            <a:bodyPr wrap="none" lIns="0" tIns="0" rIns="0" bIns="0" anchor="t" anchorCtr="0">
              <a:spAutoFit/>
            </a:bodyPr>
            <a:lstStyle/>
            <a:p>
              <a:pPr algn="l"/>
              <a:r>
                <a:rPr lang="zh-CN" sz="520" dirty="0">
                  <a:solidFill>
                    <a:srgbClr val="808080"/>
                  </a:solidFill>
                  <a:latin typeface="+mn-lt"/>
                  <a:ea typeface="+mn-ea"/>
                  <a:cs typeface="+mn-cs"/>
                </a:rPr>
                <a:t>浏览 点击 参与 互动</a:t>
              </a:r>
            </a:p>
          </p:txBody>
        </p:sp>
        <p:sp>
          <p:nvSpPr>
            <p:cNvPr id="34" name="Rectangle 34"/>
            <p:cNvSpPr/>
            <p:nvPr/>
          </p:nvSpPr>
          <p:spPr>
            <a:xfrm>
              <a:off x="133350" y="1943100"/>
              <a:ext cx="838200" cy="342900"/>
            </a:xfrm>
            <a:prstGeom prst="roundRect">
              <a:avLst>
                <a:gd name="adj" fmla="val 8333"/>
              </a:avLst>
            </a:prstGeom>
            <a:solidFill>
              <a:srgbClr val="FDEFF1"/>
            </a:solidFill>
            <a:ln>
              <a:noFill/>
            </a:ln>
          </p:spPr>
        </p:sp>
        <p:grpSp>
          <p:nvGrpSpPr>
            <p:cNvPr id="38" name="Group 38"/>
            <p:cNvGrpSpPr/>
            <p:nvPr/>
          </p:nvGrpSpPr>
          <p:grpSpPr>
            <a:xfrm>
              <a:off x="195262" y="2028825"/>
              <a:ext cx="87982" cy="67804"/>
              <a:chOff x="195262" y="2028825"/>
              <a:chExt cx="87982" cy="67804"/>
            </a:xfrm>
          </p:grpSpPr>
          <p:sp>
            <p:nvSpPr>
              <p:cNvPr id="35" name="Freeform 35"/>
              <p:cNvSpPr/>
              <p:nvPr/>
            </p:nvSpPr>
            <p:spPr>
              <a:xfrm>
                <a:off x="195262" y="2028825"/>
                <a:ext cx="67804" cy="67804"/>
              </a:xfrm>
              <a:custGeom>
                <a:avLst/>
                <a:gdLst/>
                <a:ahLst/>
                <a:cxnLst/>
                <a:rect l="l" t="t" r="r" b="b"/>
                <a:pathLst>
                  <a:path w="67804" h="67804">
                    <a:moveTo>
                      <a:pt x="0" y="9525"/>
                    </a:moveTo>
                    <a:lnTo>
                      <a:pt x="0" y="29394"/>
                    </a:lnTo>
                    <a:cubicBezTo>
                      <a:pt x="1" y="31920"/>
                      <a:pt x="1004" y="34342"/>
                      <a:pt x="2791" y="36128"/>
                    </a:cubicBezTo>
                    <a:lnTo>
                      <a:pt x="29985" y="63322"/>
                    </a:lnTo>
                    <a:cubicBezTo>
                      <a:pt x="34467" y="67804"/>
                      <a:pt x="41733" y="67804"/>
                      <a:pt x="46215" y="63322"/>
                    </a:cubicBezTo>
                    <a:lnTo>
                      <a:pt x="63322" y="46215"/>
                    </a:lnTo>
                    <a:cubicBezTo>
                      <a:pt x="67804" y="41733"/>
                      <a:pt x="67804" y="34467"/>
                      <a:pt x="63322" y="29985"/>
                    </a:cubicBezTo>
                    <a:lnTo>
                      <a:pt x="36128" y="2791"/>
                    </a:lnTo>
                    <a:cubicBezTo>
                      <a:pt x="34342" y="1004"/>
                      <a:pt x="31920" y="1"/>
                      <a:pt x="29394" y="0"/>
                    </a:cubicBezTo>
                    <a:lnTo>
                      <a:pt x="9525" y="0"/>
                    </a:lnTo>
                    <a:cubicBezTo>
                      <a:pt x="4264" y="0"/>
                      <a:pt x="0" y="4264"/>
                      <a:pt x="0" y="9525"/>
                    </a:cubicBezTo>
                  </a:path>
                </a:pathLst>
              </a:custGeom>
              <a:noFill/>
              <a:ln w="9525">
                <a:solidFill>
                  <a:srgbClr val="C83210"/>
                </a:solidFill>
              </a:ln>
            </p:spPr>
          </p:sp>
          <p:sp>
            <p:nvSpPr>
              <p:cNvPr id="36" name="Freeform 36"/>
              <p:cNvSpPr/>
              <p:nvPr/>
            </p:nvSpPr>
            <p:spPr>
              <a:xfrm>
                <a:off x="252412" y="2028825"/>
                <a:ext cx="30832" cy="61912"/>
              </a:xfrm>
              <a:custGeom>
                <a:avLst/>
                <a:gdLst/>
                <a:ahLst/>
                <a:cxnLst/>
                <a:rect l="l" t="t" r="r" b="b"/>
                <a:pathLst>
                  <a:path w="30832" h="61912">
                    <a:moveTo>
                      <a:pt x="14288" y="61912"/>
                    </a:moveTo>
                    <a:lnTo>
                      <a:pt x="21869" y="54331"/>
                    </a:lnTo>
                    <a:cubicBezTo>
                      <a:pt x="30832" y="45366"/>
                      <a:pt x="30832" y="30834"/>
                      <a:pt x="21869" y="21869"/>
                    </a:cubicBezTo>
                    <a:lnTo>
                      <a:pt x="0" y="0"/>
                    </a:lnTo>
                  </a:path>
                </a:pathLst>
              </a:custGeom>
              <a:noFill/>
              <a:ln w="9525">
                <a:solidFill>
                  <a:srgbClr val="C83210"/>
                </a:solidFill>
              </a:ln>
            </p:spPr>
          </p:sp>
          <p:sp>
            <p:nvSpPr>
              <p:cNvPr id="37" name="Freeform 37"/>
              <p:cNvSpPr/>
              <p:nvPr/>
            </p:nvSpPr>
            <p:spPr>
              <a:xfrm>
                <a:off x="214265" y="2047875"/>
                <a:ext cx="9525" cy="9525"/>
              </a:xfrm>
              <a:custGeom>
                <a:avLst/>
                <a:gdLst/>
                <a:ahLst/>
                <a:cxnLst/>
                <a:rect l="l" t="t" r="r" b="b"/>
                <a:pathLst>
                  <a:path w="9525" h="9525">
                    <a:moveTo>
                      <a:pt x="48" y="0"/>
                    </a:moveTo>
                    <a:lnTo>
                      <a:pt x="0" y="0"/>
                    </a:lnTo>
                  </a:path>
                </a:pathLst>
              </a:custGeom>
              <a:noFill/>
              <a:ln w="9525">
                <a:solidFill>
                  <a:srgbClr val="C83210"/>
                </a:solidFill>
              </a:ln>
            </p:spPr>
          </p:sp>
        </p:grpSp>
        <p:sp>
          <p:nvSpPr>
            <p:cNvPr id="39" name="TextBox 39"/>
            <p:cNvSpPr txBox="1"/>
            <p:nvPr/>
          </p:nvSpPr>
          <p:spPr>
            <a:xfrm>
              <a:off x="328612" y="2011680"/>
              <a:ext cx="332613" cy="119062"/>
            </a:xfrm>
            <a:prstGeom prst="rect">
              <a:avLst/>
            </a:prstGeom>
            <a:noFill/>
            <a:ln>
              <a:noFill/>
            </a:ln>
          </p:spPr>
          <p:txBody>
            <a:bodyPr wrap="none" lIns="0" tIns="0" rIns="0" bIns="0" anchor="t" anchorCtr="0">
              <a:spAutoFit/>
            </a:bodyPr>
            <a:lstStyle/>
            <a:p>
              <a:pPr algn="l"/>
              <a:r>
                <a:rPr lang="zh-CN" sz="600" b="1" dirty="0">
                  <a:solidFill>
                    <a:srgbClr val="222222"/>
                  </a:solidFill>
                  <a:latin typeface="+mn-lt"/>
                  <a:ea typeface="+mn-ea"/>
                  <a:cs typeface="+mn-cs"/>
                </a:rPr>
                <a:t>客户标签</a:t>
              </a:r>
            </a:p>
          </p:txBody>
        </p:sp>
        <p:sp>
          <p:nvSpPr>
            <p:cNvPr id="40" name="TextBox 40"/>
            <p:cNvSpPr txBox="1"/>
            <p:nvPr/>
          </p:nvSpPr>
          <p:spPr>
            <a:xfrm>
              <a:off x="328612" y="2162651"/>
              <a:ext cx="772551" cy="104775"/>
            </a:xfrm>
            <a:prstGeom prst="rect">
              <a:avLst/>
            </a:prstGeom>
            <a:noFill/>
            <a:ln>
              <a:noFill/>
            </a:ln>
          </p:spPr>
          <p:txBody>
            <a:bodyPr wrap="none" lIns="0" tIns="0" rIns="0" bIns="0" anchor="t" anchorCtr="0">
              <a:spAutoFit/>
            </a:bodyPr>
            <a:lstStyle/>
            <a:p>
              <a:pPr algn="l"/>
              <a:r>
                <a:rPr lang="zh-CN" sz="520" dirty="0">
                  <a:solidFill>
                    <a:srgbClr val="808080"/>
                  </a:solidFill>
                  <a:latin typeface="+mn-lt"/>
                  <a:ea typeface="+mn-ea"/>
                  <a:cs typeface="+mn-cs"/>
                </a:rPr>
                <a:t>客群 生命周期 偏好 风险</a:t>
              </a:r>
            </a:p>
          </p:txBody>
        </p:sp>
        <p:sp>
          <p:nvSpPr>
            <p:cNvPr id="41" name="Rectangle 41"/>
            <p:cNvSpPr/>
            <p:nvPr/>
          </p:nvSpPr>
          <p:spPr>
            <a:xfrm>
              <a:off x="133350" y="2333625"/>
              <a:ext cx="838200" cy="342900"/>
            </a:xfrm>
            <a:prstGeom prst="roundRect">
              <a:avLst>
                <a:gd name="adj" fmla="val 8333"/>
              </a:avLst>
            </a:prstGeom>
            <a:solidFill>
              <a:srgbClr val="FDEFF1"/>
            </a:solidFill>
            <a:ln>
              <a:noFill/>
            </a:ln>
          </p:spPr>
        </p:sp>
        <p:grpSp>
          <p:nvGrpSpPr>
            <p:cNvPr id="47" name="Group 47"/>
            <p:cNvGrpSpPr/>
            <p:nvPr/>
          </p:nvGrpSpPr>
          <p:grpSpPr>
            <a:xfrm>
              <a:off x="195262" y="2405062"/>
              <a:ext cx="85725" cy="85725"/>
              <a:chOff x="195262" y="2405062"/>
              <a:chExt cx="85725" cy="85725"/>
            </a:xfrm>
          </p:grpSpPr>
          <p:sp>
            <p:nvSpPr>
              <p:cNvPr id="42" name="Freeform 42"/>
              <p:cNvSpPr/>
              <p:nvPr/>
            </p:nvSpPr>
            <p:spPr>
              <a:xfrm>
                <a:off x="195262" y="2405062"/>
                <a:ext cx="85725" cy="85725"/>
              </a:xfrm>
              <a:custGeom>
                <a:avLst/>
                <a:gdLst/>
                <a:ahLst/>
                <a:cxnLst/>
                <a:rect l="l" t="t" r="r" b="b"/>
                <a:pathLst>
                  <a:path w="85725" h="85725">
                    <a:moveTo>
                      <a:pt x="23812" y="28575"/>
                    </a:moveTo>
                    <a:lnTo>
                      <a:pt x="47625" y="52388"/>
                    </a:lnTo>
                    <a:lnTo>
                      <a:pt x="47625" y="85725"/>
                    </a:lnTo>
                    <a:lnTo>
                      <a:pt x="23812" y="85725"/>
                    </a:lnTo>
                    <a:lnTo>
                      <a:pt x="23812" y="66675"/>
                    </a:lnTo>
                    <a:moveTo>
                      <a:pt x="23812" y="85725"/>
                    </a:moveTo>
                    <a:lnTo>
                      <a:pt x="0" y="85725"/>
                    </a:lnTo>
                    <a:lnTo>
                      <a:pt x="0" y="52388"/>
                    </a:lnTo>
                    <a:lnTo>
                      <a:pt x="23812" y="28575"/>
                    </a:lnTo>
                    <a:moveTo>
                      <a:pt x="28575" y="33338"/>
                    </a:moveTo>
                    <a:lnTo>
                      <a:pt x="28575" y="4762"/>
                    </a:lnTo>
                    <a:cubicBezTo>
                      <a:pt x="28575" y="2132"/>
                      <a:pt x="30707" y="0"/>
                      <a:pt x="33338" y="0"/>
                    </a:cubicBezTo>
                    <a:lnTo>
                      <a:pt x="80962" y="0"/>
                    </a:lnTo>
                    <a:cubicBezTo>
                      <a:pt x="83593" y="0"/>
                      <a:pt x="85725" y="2132"/>
                      <a:pt x="85725" y="4762"/>
                    </a:cubicBezTo>
                    <a:lnTo>
                      <a:pt x="85725" y="85725"/>
                    </a:lnTo>
                    <a:lnTo>
                      <a:pt x="47625" y="85725"/>
                    </a:lnTo>
                  </a:path>
                </a:pathLst>
              </a:custGeom>
              <a:noFill/>
              <a:ln w="9525">
                <a:solidFill>
                  <a:srgbClr val="C83210"/>
                </a:solidFill>
              </a:ln>
            </p:spPr>
          </p:sp>
          <p:sp>
            <p:nvSpPr>
              <p:cNvPr id="43" name="Freeform 43"/>
              <p:cNvSpPr/>
              <p:nvPr/>
            </p:nvSpPr>
            <p:spPr>
              <a:xfrm>
                <a:off x="242888" y="2424112"/>
                <a:ext cx="9525" cy="9525"/>
              </a:xfrm>
              <a:custGeom>
                <a:avLst/>
                <a:gdLst/>
                <a:ahLst/>
                <a:cxnLst/>
                <a:rect l="l" t="t" r="r" b="b"/>
                <a:pathLst>
                  <a:path w="9525" h="9525">
                    <a:moveTo>
                      <a:pt x="0" y="0"/>
                    </a:moveTo>
                    <a:lnTo>
                      <a:pt x="0" y="48"/>
                    </a:lnTo>
                  </a:path>
                </a:pathLst>
              </a:custGeom>
              <a:noFill/>
              <a:ln w="9525">
                <a:solidFill>
                  <a:srgbClr val="C83210"/>
                </a:solidFill>
              </a:ln>
            </p:spPr>
          </p:sp>
          <p:sp>
            <p:nvSpPr>
              <p:cNvPr id="44" name="Freeform 44"/>
              <p:cNvSpPr/>
              <p:nvPr/>
            </p:nvSpPr>
            <p:spPr>
              <a:xfrm>
                <a:off x="261938" y="2424112"/>
                <a:ext cx="9525" cy="9525"/>
              </a:xfrm>
              <a:custGeom>
                <a:avLst/>
                <a:gdLst/>
                <a:ahLst/>
                <a:cxnLst/>
                <a:rect l="l" t="t" r="r" b="b"/>
                <a:pathLst>
                  <a:path w="9525" h="9525">
                    <a:moveTo>
                      <a:pt x="0" y="0"/>
                    </a:moveTo>
                    <a:lnTo>
                      <a:pt x="0" y="48"/>
                    </a:lnTo>
                  </a:path>
                </a:pathLst>
              </a:custGeom>
              <a:noFill/>
              <a:ln w="9525">
                <a:solidFill>
                  <a:srgbClr val="C83210"/>
                </a:solidFill>
              </a:ln>
            </p:spPr>
          </p:sp>
          <p:sp>
            <p:nvSpPr>
              <p:cNvPr id="45" name="Freeform 45"/>
              <p:cNvSpPr/>
              <p:nvPr/>
            </p:nvSpPr>
            <p:spPr>
              <a:xfrm>
                <a:off x="261938" y="2443162"/>
                <a:ext cx="9525" cy="9525"/>
              </a:xfrm>
              <a:custGeom>
                <a:avLst/>
                <a:gdLst/>
                <a:ahLst/>
                <a:cxnLst/>
                <a:rect l="l" t="t" r="r" b="b"/>
                <a:pathLst>
                  <a:path w="9525" h="9525">
                    <a:moveTo>
                      <a:pt x="0" y="0"/>
                    </a:moveTo>
                    <a:lnTo>
                      <a:pt x="0" y="48"/>
                    </a:lnTo>
                  </a:path>
                </a:pathLst>
              </a:custGeom>
              <a:noFill/>
              <a:ln w="9525">
                <a:solidFill>
                  <a:srgbClr val="C83210"/>
                </a:solidFill>
              </a:ln>
            </p:spPr>
          </p:sp>
          <p:sp>
            <p:nvSpPr>
              <p:cNvPr id="46" name="Freeform 46"/>
              <p:cNvSpPr/>
              <p:nvPr/>
            </p:nvSpPr>
            <p:spPr>
              <a:xfrm>
                <a:off x="261938" y="2462212"/>
                <a:ext cx="9525" cy="9525"/>
              </a:xfrm>
              <a:custGeom>
                <a:avLst/>
                <a:gdLst/>
                <a:ahLst/>
                <a:cxnLst/>
                <a:rect l="l" t="t" r="r" b="b"/>
                <a:pathLst>
                  <a:path w="9525" h="9525">
                    <a:moveTo>
                      <a:pt x="0" y="0"/>
                    </a:moveTo>
                    <a:lnTo>
                      <a:pt x="0" y="48"/>
                    </a:lnTo>
                  </a:path>
                </a:pathLst>
              </a:custGeom>
              <a:noFill/>
              <a:ln w="9525">
                <a:solidFill>
                  <a:srgbClr val="C83210"/>
                </a:solidFill>
              </a:ln>
            </p:spPr>
          </p:sp>
        </p:grpSp>
        <p:sp>
          <p:nvSpPr>
            <p:cNvPr id="48" name="TextBox 48"/>
            <p:cNvSpPr txBox="1"/>
            <p:nvPr/>
          </p:nvSpPr>
          <p:spPr>
            <a:xfrm>
              <a:off x="328612" y="2402205"/>
              <a:ext cx="332613" cy="119062"/>
            </a:xfrm>
            <a:prstGeom prst="rect">
              <a:avLst/>
            </a:prstGeom>
            <a:noFill/>
            <a:ln>
              <a:noFill/>
            </a:ln>
          </p:spPr>
          <p:txBody>
            <a:bodyPr wrap="none" lIns="0" tIns="0" rIns="0" bIns="0" anchor="t" anchorCtr="0">
              <a:spAutoFit/>
            </a:bodyPr>
            <a:lstStyle/>
            <a:p>
              <a:pPr algn="l"/>
              <a:r>
                <a:rPr lang="zh-CN" sz="600" b="1" dirty="0">
                  <a:solidFill>
                    <a:srgbClr val="222222"/>
                  </a:solidFill>
                  <a:latin typeface="+mn-lt"/>
                  <a:ea typeface="+mn-ea"/>
                  <a:cs typeface="+mn-cs"/>
                </a:rPr>
                <a:t>外部数据</a:t>
              </a:r>
            </a:p>
          </p:txBody>
        </p:sp>
        <p:sp>
          <p:nvSpPr>
            <p:cNvPr id="49" name="TextBox 49"/>
            <p:cNvSpPr txBox="1"/>
            <p:nvPr/>
          </p:nvSpPr>
          <p:spPr>
            <a:xfrm>
              <a:off x="328612" y="2553176"/>
              <a:ext cx="611546" cy="104775"/>
            </a:xfrm>
            <a:prstGeom prst="rect">
              <a:avLst/>
            </a:prstGeom>
            <a:noFill/>
            <a:ln>
              <a:noFill/>
            </a:ln>
          </p:spPr>
          <p:txBody>
            <a:bodyPr wrap="none" lIns="0" tIns="0" rIns="0" bIns="0" anchor="t" anchorCtr="0">
              <a:spAutoFit/>
            </a:bodyPr>
            <a:lstStyle/>
            <a:p>
              <a:pPr algn="l"/>
              <a:r>
                <a:rPr lang="zh-CN" sz="520" dirty="0">
                  <a:solidFill>
                    <a:srgbClr val="808080"/>
                  </a:solidFill>
                  <a:latin typeface="+mn-lt"/>
                  <a:ea typeface="+mn-ea"/>
                  <a:cs typeface="+mn-cs"/>
                </a:rPr>
                <a:t>节日 区域 宏观事件</a:t>
              </a:r>
            </a:p>
          </p:txBody>
        </p:sp>
        <p:sp>
          <p:nvSpPr>
            <p:cNvPr id="50" name="Rectangle 50"/>
            <p:cNvSpPr/>
            <p:nvPr/>
          </p:nvSpPr>
          <p:spPr>
            <a:xfrm>
              <a:off x="1066800" y="914400"/>
              <a:ext cx="838200" cy="190500"/>
            </a:xfrm>
            <a:prstGeom prst="roundRect">
              <a:avLst>
                <a:gd name="adj" fmla="val 20000"/>
              </a:avLst>
            </a:prstGeom>
            <a:solidFill>
              <a:srgbClr val="FBE3E6"/>
            </a:solidFill>
            <a:ln>
              <a:noFill/>
            </a:ln>
          </p:spPr>
        </p:sp>
        <p:sp>
          <p:nvSpPr>
            <p:cNvPr id="51" name="Freeform 51"/>
            <p:cNvSpPr/>
            <p:nvPr/>
          </p:nvSpPr>
          <p:spPr>
            <a:xfrm>
              <a:off x="1147762" y="966788"/>
              <a:ext cx="66675" cy="85725"/>
            </a:xfrm>
            <a:custGeom>
              <a:avLst/>
              <a:gdLst/>
              <a:ahLst/>
              <a:cxnLst/>
              <a:rect l="l" t="t" r="r" b="b"/>
              <a:pathLst>
                <a:path w="66675" h="85725">
                  <a:moveTo>
                    <a:pt x="38100" y="0"/>
                  </a:moveTo>
                  <a:lnTo>
                    <a:pt x="38100" y="33338"/>
                  </a:lnTo>
                  <a:lnTo>
                    <a:pt x="66675" y="33338"/>
                  </a:lnTo>
                  <a:lnTo>
                    <a:pt x="28575" y="85725"/>
                  </a:lnTo>
                  <a:lnTo>
                    <a:pt x="28575" y="52388"/>
                  </a:lnTo>
                  <a:lnTo>
                    <a:pt x="0" y="52388"/>
                  </a:lnTo>
                  <a:lnTo>
                    <a:pt x="38100" y="0"/>
                  </a:lnTo>
                </a:path>
              </a:pathLst>
            </a:custGeom>
            <a:noFill/>
            <a:ln w="9525">
              <a:solidFill>
                <a:srgbClr val="C83210"/>
              </a:solidFill>
            </a:ln>
          </p:spPr>
        </p:sp>
        <p:sp>
          <p:nvSpPr>
            <p:cNvPr id="52" name="TextBox 52"/>
            <p:cNvSpPr txBox="1"/>
            <p:nvPr/>
          </p:nvSpPr>
          <p:spPr>
            <a:xfrm>
              <a:off x="1271588" y="978932"/>
              <a:ext cx="526466"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触发规则引擎</a:t>
              </a:r>
            </a:p>
          </p:txBody>
        </p:sp>
        <p:sp>
          <p:nvSpPr>
            <p:cNvPr id="53" name="Rectangle 53"/>
            <p:cNvSpPr/>
            <p:nvPr/>
          </p:nvSpPr>
          <p:spPr>
            <a:xfrm>
              <a:off x="1066800" y="1181100"/>
              <a:ext cx="838200" cy="228600"/>
            </a:xfrm>
            <a:prstGeom prst="roundRect">
              <a:avLst>
                <a:gd name="adj" fmla="val 12500"/>
              </a:avLst>
            </a:prstGeom>
            <a:solidFill>
              <a:srgbClr val="FDEFF1"/>
            </a:solidFill>
            <a:ln>
              <a:noFill/>
            </a:ln>
          </p:spPr>
        </p:sp>
        <p:sp>
          <p:nvSpPr>
            <p:cNvPr id="54" name="TextBox 54"/>
            <p:cNvSpPr txBox="1"/>
            <p:nvPr/>
          </p:nvSpPr>
          <p:spPr>
            <a:xfrm>
              <a:off x="1319594" y="1268730"/>
              <a:ext cx="33261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事件触发</a:t>
              </a:r>
            </a:p>
          </p:txBody>
        </p:sp>
        <p:sp>
          <p:nvSpPr>
            <p:cNvPr id="55" name="Rectangle 55"/>
            <p:cNvSpPr/>
            <p:nvPr/>
          </p:nvSpPr>
          <p:spPr>
            <a:xfrm>
              <a:off x="1066800" y="1457325"/>
              <a:ext cx="838200" cy="228600"/>
            </a:xfrm>
            <a:prstGeom prst="roundRect">
              <a:avLst>
                <a:gd name="adj" fmla="val 12500"/>
              </a:avLst>
            </a:prstGeom>
            <a:solidFill>
              <a:srgbClr val="FDEFF1"/>
            </a:solidFill>
            <a:ln>
              <a:noFill/>
            </a:ln>
          </p:spPr>
        </p:sp>
        <p:sp>
          <p:nvSpPr>
            <p:cNvPr id="56" name="TextBox 56"/>
            <p:cNvSpPr txBox="1"/>
            <p:nvPr/>
          </p:nvSpPr>
          <p:spPr>
            <a:xfrm>
              <a:off x="1319594" y="1544955"/>
              <a:ext cx="33261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状态变化</a:t>
              </a:r>
            </a:p>
          </p:txBody>
        </p:sp>
        <p:sp>
          <p:nvSpPr>
            <p:cNvPr id="57" name="Rectangle 57"/>
            <p:cNvSpPr/>
            <p:nvPr/>
          </p:nvSpPr>
          <p:spPr>
            <a:xfrm>
              <a:off x="1066800" y="1733550"/>
              <a:ext cx="838200" cy="228600"/>
            </a:xfrm>
            <a:prstGeom prst="roundRect">
              <a:avLst>
                <a:gd name="adj" fmla="val 12500"/>
              </a:avLst>
            </a:prstGeom>
            <a:solidFill>
              <a:srgbClr val="FDEFF1"/>
            </a:solidFill>
            <a:ln>
              <a:noFill/>
            </a:ln>
          </p:spPr>
        </p:sp>
        <p:sp>
          <p:nvSpPr>
            <p:cNvPr id="58" name="TextBox 58"/>
            <p:cNvSpPr txBox="1"/>
            <p:nvPr/>
          </p:nvSpPr>
          <p:spPr>
            <a:xfrm>
              <a:off x="1319594" y="1821180"/>
              <a:ext cx="33261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行为阈值</a:t>
              </a:r>
            </a:p>
          </p:txBody>
        </p:sp>
        <p:sp>
          <p:nvSpPr>
            <p:cNvPr id="59" name="Rectangle 59"/>
            <p:cNvSpPr/>
            <p:nvPr/>
          </p:nvSpPr>
          <p:spPr>
            <a:xfrm>
              <a:off x="1066800" y="2009775"/>
              <a:ext cx="838200" cy="228600"/>
            </a:xfrm>
            <a:prstGeom prst="roundRect">
              <a:avLst>
                <a:gd name="adj" fmla="val 12500"/>
              </a:avLst>
            </a:prstGeom>
            <a:solidFill>
              <a:srgbClr val="FDEFF1"/>
            </a:solidFill>
            <a:ln>
              <a:noFill/>
            </a:ln>
          </p:spPr>
        </p:sp>
        <p:sp>
          <p:nvSpPr>
            <p:cNvPr id="60" name="TextBox 60"/>
            <p:cNvSpPr txBox="1"/>
            <p:nvPr/>
          </p:nvSpPr>
          <p:spPr>
            <a:xfrm>
              <a:off x="1319594" y="2097405"/>
              <a:ext cx="33261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时间规则</a:t>
              </a:r>
            </a:p>
          </p:txBody>
        </p:sp>
        <p:sp>
          <p:nvSpPr>
            <p:cNvPr id="61" name="Rectangle 61"/>
            <p:cNvSpPr/>
            <p:nvPr/>
          </p:nvSpPr>
          <p:spPr>
            <a:xfrm>
              <a:off x="1066800" y="2286000"/>
              <a:ext cx="838200" cy="228600"/>
            </a:xfrm>
            <a:prstGeom prst="roundRect">
              <a:avLst>
                <a:gd name="adj" fmla="val 12500"/>
              </a:avLst>
            </a:prstGeom>
            <a:solidFill>
              <a:srgbClr val="FDEFF1"/>
            </a:solidFill>
            <a:ln>
              <a:noFill/>
            </a:ln>
          </p:spPr>
        </p:sp>
        <p:sp>
          <p:nvSpPr>
            <p:cNvPr id="62" name="TextBox 62"/>
            <p:cNvSpPr txBox="1"/>
            <p:nvPr/>
          </p:nvSpPr>
          <p:spPr>
            <a:xfrm>
              <a:off x="1319594" y="2373630"/>
              <a:ext cx="33261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组合规则</a:t>
              </a:r>
            </a:p>
          </p:txBody>
        </p:sp>
        <p:sp>
          <p:nvSpPr>
            <p:cNvPr id="63" name="Rectangle 63"/>
            <p:cNvSpPr/>
            <p:nvPr/>
          </p:nvSpPr>
          <p:spPr>
            <a:xfrm>
              <a:off x="2000250" y="914400"/>
              <a:ext cx="838200" cy="190500"/>
            </a:xfrm>
            <a:prstGeom prst="roundRect">
              <a:avLst>
                <a:gd name="adj" fmla="val 20000"/>
              </a:avLst>
            </a:prstGeom>
            <a:solidFill>
              <a:srgbClr val="FBE3E6"/>
            </a:solidFill>
            <a:ln>
              <a:noFill/>
            </a:ln>
          </p:spPr>
        </p:sp>
        <p:grpSp>
          <p:nvGrpSpPr>
            <p:cNvPr id="69" name="Group 69"/>
            <p:cNvGrpSpPr/>
            <p:nvPr/>
          </p:nvGrpSpPr>
          <p:grpSpPr>
            <a:xfrm>
              <a:off x="2081212" y="966788"/>
              <a:ext cx="66675" cy="85725"/>
              <a:chOff x="2081212" y="966788"/>
              <a:chExt cx="66675" cy="85725"/>
            </a:xfrm>
          </p:grpSpPr>
          <p:sp>
            <p:nvSpPr>
              <p:cNvPr id="64" name="Freeform 64"/>
              <p:cNvSpPr/>
              <p:nvPr/>
            </p:nvSpPr>
            <p:spPr>
              <a:xfrm>
                <a:off x="2124075" y="966788"/>
                <a:ext cx="23812" cy="23812"/>
              </a:xfrm>
              <a:custGeom>
                <a:avLst/>
                <a:gdLst/>
                <a:ahLst/>
                <a:cxnLst/>
                <a:rect l="l" t="t" r="r" b="b"/>
                <a:pathLst>
                  <a:path w="23812" h="23812">
                    <a:moveTo>
                      <a:pt x="0" y="0"/>
                    </a:moveTo>
                    <a:lnTo>
                      <a:pt x="0" y="19050"/>
                    </a:lnTo>
                    <a:cubicBezTo>
                      <a:pt x="0" y="21680"/>
                      <a:pt x="2132" y="23812"/>
                      <a:pt x="4762" y="23812"/>
                    </a:cubicBezTo>
                    <a:lnTo>
                      <a:pt x="23812" y="23812"/>
                    </a:lnTo>
                  </a:path>
                </a:pathLst>
              </a:custGeom>
              <a:noFill/>
              <a:ln w="9525">
                <a:solidFill>
                  <a:srgbClr val="C83210"/>
                </a:solidFill>
              </a:ln>
            </p:spPr>
          </p:sp>
          <p:sp>
            <p:nvSpPr>
              <p:cNvPr id="65" name="Freeform 65"/>
              <p:cNvSpPr/>
              <p:nvPr/>
            </p:nvSpPr>
            <p:spPr>
              <a:xfrm>
                <a:off x="2081212" y="966788"/>
                <a:ext cx="66675" cy="85725"/>
              </a:xfrm>
              <a:custGeom>
                <a:avLst/>
                <a:gdLst/>
                <a:ahLst/>
                <a:cxnLst/>
                <a:rect l="l" t="t" r="r" b="b"/>
                <a:pathLst>
                  <a:path w="66675" h="85725">
                    <a:moveTo>
                      <a:pt x="57150" y="85725"/>
                    </a:moveTo>
                    <a:lnTo>
                      <a:pt x="9525" y="85725"/>
                    </a:lnTo>
                    <a:cubicBezTo>
                      <a:pt x="4264" y="85725"/>
                      <a:pt x="0" y="81461"/>
                      <a:pt x="0" y="76200"/>
                    </a:cubicBezTo>
                    <a:lnTo>
                      <a:pt x="0" y="9525"/>
                    </a:lnTo>
                    <a:cubicBezTo>
                      <a:pt x="0" y="4264"/>
                      <a:pt x="4264" y="0"/>
                      <a:pt x="9525" y="0"/>
                    </a:cubicBezTo>
                    <a:lnTo>
                      <a:pt x="42862" y="0"/>
                    </a:lnTo>
                    <a:lnTo>
                      <a:pt x="66675" y="23812"/>
                    </a:lnTo>
                    <a:lnTo>
                      <a:pt x="66675" y="76200"/>
                    </a:lnTo>
                    <a:cubicBezTo>
                      <a:pt x="66675" y="81461"/>
                      <a:pt x="62411" y="85725"/>
                      <a:pt x="57150" y="85725"/>
                    </a:cubicBezTo>
                  </a:path>
                </a:pathLst>
              </a:custGeom>
              <a:noFill/>
              <a:ln w="9525">
                <a:solidFill>
                  <a:srgbClr val="C83210"/>
                </a:solidFill>
              </a:ln>
            </p:spPr>
          </p:sp>
          <p:sp>
            <p:nvSpPr>
              <p:cNvPr id="66" name="Freeform 66"/>
              <p:cNvSpPr/>
              <p:nvPr/>
            </p:nvSpPr>
            <p:spPr>
              <a:xfrm>
                <a:off x="2100262" y="995362"/>
                <a:ext cx="9525" cy="9525"/>
              </a:xfrm>
              <a:custGeom>
                <a:avLst/>
                <a:gdLst/>
                <a:ahLst/>
                <a:cxnLst/>
                <a:rect l="l" t="t" r="r" b="b"/>
                <a:pathLst>
                  <a:path w="9525" h="9525">
                    <a:moveTo>
                      <a:pt x="0" y="0"/>
                    </a:moveTo>
                    <a:lnTo>
                      <a:pt x="4762" y="0"/>
                    </a:lnTo>
                  </a:path>
                </a:pathLst>
              </a:custGeom>
              <a:noFill/>
              <a:ln w="9525">
                <a:solidFill>
                  <a:srgbClr val="C83210"/>
                </a:solidFill>
              </a:ln>
            </p:spPr>
          </p:sp>
          <p:sp>
            <p:nvSpPr>
              <p:cNvPr id="67" name="Freeform 67"/>
              <p:cNvSpPr/>
              <p:nvPr/>
            </p:nvSpPr>
            <p:spPr>
              <a:xfrm>
                <a:off x="2100262" y="1014412"/>
                <a:ext cx="28575" cy="9525"/>
              </a:xfrm>
              <a:custGeom>
                <a:avLst/>
                <a:gdLst/>
                <a:ahLst/>
                <a:cxnLst/>
                <a:rect l="l" t="t" r="r" b="b"/>
                <a:pathLst>
                  <a:path w="28575" h="9525">
                    <a:moveTo>
                      <a:pt x="0" y="0"/>
                    </a:moveTo>
                    <a:lnTo>
                      <a:pt x="28575" y="0"/>
                    </a:lnTo>
                  </a:path>
                </a:pathLst>
              </a:custGeom>
              <a:noFill/>
              <a:ln w="9525">
                <a:solidFill>
                  <a:srgbClr val="C83210"/>
                </a:solidFill>
              </a:ln>
            </p:spPr>
          </p:sp>
          <p:sp>
            <p:nvSpPr>
              <p:cNvPr id="68" name="Freeform 68"/>
              <p:cNvSpPr/>
              <p:nvPr/>
            </p:nvSpPr>
            <p:spPr>
              <a:xfrm>
                <a:off x="2100262" y="1033462"/>
                <a:ext cx="28575" cy="9525"/>
              </a:xfrm>
              <a:custGeom>
                <a:avLst/>
                <a:gdLst/>
                <a:ahLst/>
                <a:cxnLst/>
                <a:rect l="l" t="t" r="r" b="b"/>
                <a:pathLst>
                  <a:path w="28575" h="9525">
                    <a:moveTo>
                      <a:pt x="0" y="0"/>
                    </a:moveTo>
                    <a:lnTo>
                      <a:pt x="28575" y="0"/>
                    </a:lnTo>
                  </a:path>
                </a:pathLst>
              </a:custGeom>
              <a:noFill/>
              <a:ln w="9525">
                <a:solidFill>
                  <a:srgbClr val="C83210"/>
                </a:solidFill>
              </a:ln>
            </p:spPr>
          </p:sp>
        </p:grpSp>
        <p:sp>
          <p:nvSpPr>
            <p:cNvPr id="70" name="TextBox 70"/>
            <p:cNvSpPr txBox="1"/>
            <p:nvPr/>
          </p:nvSpPr>
          <p:spPr>
            <a:xfrm>
              <a:off x="2205038" y="978932"/>
              <a:ext cx="526466"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内容智能匹配</a:t>
              </a:r>
            </a:p>
          </p:txBody>
        </p:sp>
        <p:sp>
          <p:nvSpPr>
            <p:cNvPr id="71" name="Rectangle 71"/>
            <p:cNvSpPr/>
            <p:nvPr/>
          </p:nvSpPr>
          <p:spPr>
            <a:xfrm>
              <a:off x="2000250" y="1181100"/>
              <a:ext cx="838200" cy="228600"/>
            </a:xfrm>
            <a:prstGeom prst="roundRect">
              <a:avLst>
                <a:gd name="adj" fmla="val 12500"/>
              </a:avLst>
            </a:prstGeom>
            <a:solidFill>
              <a:srgbClr val="FDEFF1"/>
            </a:solidFill>
            <a:ln>
              <a:noFill/>
            </a:ln>
          </p:spPr>
        </p:sp>
        <p:sp>
          <p:nvSpPr>
            <p:cNvPr id="72" name="TextBox 72"/>
            <p:cNvSpPr txBox="1"/>
            <p:nvPr/>
          </p:nvSpPr>
          <p:spPr>
            <a:xfrm>
              <a:off x="2212658" y="1268730"/>
              <a:ext cx="413385"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产品内容库</a:t>
              </a:r>
            </a:p>
          </p:txBody>
        </p:sp>
        <p:sp>
          <p:nvSpPr>
            <p:cNvPr id="73" name="Rectangle 73"/>
            <p:cNvSpPr/>
            <p:nvPr/>
          </p:nvSpPr>
          <p:spPr>
            <a:xfrm>
              <a:off x="2000250" y="1457325"/>
              <a:ext cx="838200" cy="228600"/>
            </a:xfrm>
            <a:prstGeom prst="roundRect">
              <a:avLst>
                <a:gd name="adj" fmla="val 12500"/>
              </a:avLst>
            </a:prstGeom>
            <a:solidFill>
              <a:srgbClr val="FDEFF1"/>
            </a:solidFill>
            <a:ln>
              <a:noFill/>
            </a:ln>
          </p:spPr>
        </p:sp>
        <p:sp>
          <p:nvSpPr>
            <p:cNvPr id="74" name="TextBox 74"/>
            <p:cNvSpPr txBox="1"/>
            <p:nvPr/>
          </p:nvSpPr>
          <p:spPr>
            <a:xfrm>
              <a:off x="2212658" y="1544955"/>
              <a:ext cx="413385"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场景话术库</a:t>
              </a:r>
            </a:p>
          </p:txBody>
        </p:sp>
        <p:sp>
          <p:nvSpPr>
            <p:cNvPr id="75" name="Rectangle 75"/>
            <p:cNvSpPr/>
            <p:nvPr/>
          </p:nvSpPr>
          <p:spPr>
            <a:xfrm>
              <a:off x="2000250" y="1733550"/>
              <a:ext cx="838200" cy="228600"/>
            </a:xfrm>
            <a:prstGeom prst="roundRect">
              <a:avLst>
                <a:gd name="adj" fmla="val 12500"/>
              </a:avLst>
            </a:prstGeom>
            <a:solidFill>
              <a:srgbClr val="FDEFF1"/>
            </a:solidFill>
            <a:ln>
              <a:noFill/>
            </a:ln>
          </p:spPr>
        </p:sp>
        <p:sp>
          <p:nvSpPr>
            <p:cNvPr id="76" name="TextBox 76"/>
            <p:cNvSpPr txBox="1"/>
            <p:nvPr/>
          </p:nvSpPr>
          <p:spPr>
            <a:xfrm>
              <a:off x="2172272" y="182118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客户分层匹配</a:t>
              </a:r>
            </a:p>
          </p:txBody>
        </p:sp>
        <p:sp>
          <p:nvSpPr>
            <p:cNvPr id="77" name="Rectangle 77"/>
            <p:cNvSpPr/>
            <p:nvPr/>
          </p:nvSpPr>
          <p:spPr>
            <a:xfrm>
              <a:off x="2000250" y="2009775"/>
              <a:ext cx="838200" cy="228600"/>
            </a:xfrm>
            <a:prstGeom prst="roundRect">
              <a:avLst>
                <a:gd name="adj" fmla="val 12500"/>
              </a:avLst>
            </a:prstGeom>
            <a:solidFill>
              <a:srgbClr val="FDEFF1"/>
            </a:solidFill>
            <a:ln>
              <a:noFill/>
            </a:ln>
          </p:spPr>
        </p:sp>
        <p:sp>
          <p:nvSpPr>
            <p:cNvPr id="78" name="TextBox 78"/>
            <p:cNvSpPr txBox="1"/>
            <p:nvPr/>
          </p:nvSpPr>
          <p:spPr>
            <a:xfrm>
              <a:off x="2182635" y="2097405"/>
              <a:ext cx="473431"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A/B测试优化</a:t>
              </a:r>
            </a:p>
          </p:txBody>
        </p:sp>
        <p:sp>
          <p:nvSpPr>
            <p:cNvPr id="79" name="Rectangle 79"/>
            <p:cNvSpPr/>
            <p:nvPr/>
          </p:nvSpPr>
          <p:spPr>
            <a:xfrm>
              <a:off x="2000250" y="2286000"/>
              <a:ext cx="838200" cy="228600"/>
            </a:xfrm>
            <a:prstGeom prst="roundRect">
              <a:avLst>
                <a:gd name="adj" fmla="val 12500"/>
              </a:avLst>
            </a:prstGeom>
            <a:solidFill>
              <a:srgbClr val="FDEFF1"/>
            </a:solidFill>
            <a:ln>
              <a:noFill/>
            </a:ln>
          </p:spPr>
        </p:sp>
        <p:sp>
          <p:nvSpPr>
            <p:cNvPr id="80" name="TextBox 80"/>
            <p:cNvSpPr txBox="1"/>
            <p:nvPr/>
          </p:nvSpPr>
          <p:spPr>
            <a:xfrm>
              <a:off x="2253044" y="2373630"/>
              <a:ext cx="33261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合规校验</a:t>
              </a:r>
            </a:p>
          </p:txBody>
        </p:sp>
        <p:sp>
          <p:nvSpPr>
            <p:cNvPr id="81" name="Rectangle 81"/>
            <p:cNvSpPr/>
            <p:nvPr/>
          </p:nvSpPr>
          <p:spPr>
            <a:xfrm>
              <a:off x="2933700" y="914400"/>
              <a:ext cx="838200" cy="190500"/>
            </a:xfrm>
            <a:prstGeom prst="roundRect">
              <a:avLst>
                <a:gd name="adj" fmla="val 20000"/>
              </a:avLst>
            </a:prstGeom>
            <a:solidFill>
              <a:srgbClr val="FBE3E6"/>
            </a:solidFill>
            <a:ln>
              <a:noFill/>
            </a:ln>
          </p:spPr>
        </p:sp>
        <p:grpSp>
          <p:nvGrpSpPr>
            <p:cNvPr id="85" name="Group 85"/>
            <p:cNvGrpSpPr/>
            <p:nvPr/>
          </p:nvGrpSpPr>
          <p:grpSpPr>
            <a:xfrm>
              <a:off x="3090862" y="966788"/>
              <a:ext cx="66675" cy="85724"/>
              <a:chOff x="3090862" y="966788"/>
              <a:chExt cx="66675" cy="85724"/>
            </a:xfrm>
          </p:grpSpPr>
          <p:sp>
            <p:nvSpPr>
              <p:cNvPr id="82" name="Freeform 82"/>
              <p:cNvSpPr/>
              <p:nvPr/>
            </p:nvSpPr>
            <p:spPr>
              <a:xfrm>
                <a:off x="3090862" y="995362"/>
                <a:ext cx="66675" cy="57150"/>
              </a:xfrm>
              <a:custGeom>
                <a:avLst/>
                <a:gdLst/>
                <a:ahLst/>
                <a:cxnLst/>
                <a:rect l="l" t="t" r="r" b="b"/>
                <a:pathLst>
                  <a:path w="66675" h="57150">
                    <a:moveTo>
                      <a:pt x="14288" y="0"/>
                    </a:moveTo>
                    <a:lnTo>
                      <a:pt x="9525" y="0"/>
                    </a:lnTo>
                    <a:cubicBezTo>
                      <a:pt x="4264" y="0"/>
                      <a:pt x="0" y="4264"/>
                      <a:pt x="0" y="9525"/>
                    </a:cubicBezTo>
                    <a:lnTo>
                      <a:pt x="0" y="47625"/>
                    </a:lnTo>
                    <a:cubicBezTo>
                      <a:pt x="0" y="52886"/>
                      <a:pt x="4264" y="57150"/>
                      <a:pt x="9525" y="57150"/>
                    </a:cubicBezTo>
                    <a:lnTo>
                      <a:pt x="57150" y="57150"/>
                    </a:lnTo>
                    <a:cubicBezTo>
                      <a:pt x="62411" y="57150"/>
                      <a:pt x="66675" y="52886"/>
                      <a:pt x="66675" y="47625"/>
                    </a:cubicBezTo>
                    <a:lnTo>
                      <a:pt x="66675" y="9525"/>
                    </a:lnTo>
                    <a:cubicBezTo>
                      <a:pt x="66675" y="4264"/>
                      <a:pt x="62411" y="0"/>
                      <a:pt x="57150" y="0"/>
                    </a:cubicBezTo>
                    <a:lnTo>
                      <a:pt x="52388" y="0"/>
                    </a:lnTo>
                  </a:path>
                </a:pathLst>
              </a:custGeom>
              <a:noFill/>
              <a:ln w="9525">
                <a:solidFill>
                  <a:srgbClr val="C83210"/>
                </a:solidFill>
              </a:ln>
            </p:spPr>
          </p:sp>
          <p:sp>
            <p:nvSpPr>
              <p:cNvPr id="83" name="Freeform 83"/>
              <p:cNvSpPr/>
              <p:nvPr/>
            </p:nvSpPr>
            <p:spPr>
              <a:xfrm>
                <a:off x="3124200" y="966788"/>
                <a:ext cx="9525" cy="52388"/>
              </a:xfrm>
              <a:custGeom>
                <a:avLst/>
                <a:gdLst/>
                <a:ahLst/>
                <a:cxnLst/>
                <a:rect l="l" t="t" r="r" b="b"/>
                <a:pathLst>
                  <a:path w="9525" h="52388">
                    <a:moveTo>
                      <a:pt x="0" y="52388"/>
                    </a:moveTo>
                    <a:lnTo>
                      <a:pt x="0" y="0"/>
                    </a:lnTo>
                  </a:path>
                </a:pathLst>
              </a:custGeom>
              <a:noFill/>
              <a:ln w="9525">
                <a:solidFill>
                  <a:srgbClr val="C83210"/>
                </a:solidFill>
              </a:ln>
            </p:spPr>
          </p:sp>
          <p:sp>
            <p:nvSpPr>
              <p:cNvPr id="84" name="Freeform 84"/>
              <p:cNvSpPr/>
              <p:nvPr/>
            </p:nvSpPr>
            <p:spPr>
              <a:xfrm>
                <a:off x="3109912" y="966788"/>
                <a:ext cx="28575" cy="14288"/>
              </a:xfrm>
              <a:custGeom>
                <a:avLst/>
                <a:gdLst/>
                <a:ahLst/>
                <a:cxnLst/>
                <a:rect l="l" t="t" r="r" b="b"/>
                <a:pathLst>
                  <a:path w="28575" h="14288">
                    <a:moveTo>
                      <a:pt x="0" y="14288"/>
                    </a:moveTo>
                    <a:lnTo>
                      <a:pt x="14288" y="0"/>
                    </a:lnTo>
                    <a:lnTo>
                      <a:pt x="28575" y="14288"/>
                    </a:lnTo>
                  </a:path>
                </a:pathLst>
              </a:custGeom>
              <a:noFill/>
              <a:ln w="9525">
                <a:solidFill>
                  <a:srgbClr val="C83210"/>
                </a:solidFill>
              </a:ln>
            </p:spPr>
          </p:sp>
        </p:grpSp>
        <p:sp>
          <p:nvSpPr>
            <p:cNvPr id="86" name="TextBox 86"/>
            <p:cNvSpPr txBox="1"/>
            <p:nvPr/>
          </p:nvSpPr>
          <p:spPr>
            <a:xfrm>
              <a:off x="3214688" y="978932"/>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渠道选择</a:t>
              </a:r>
            </a:p>
          </p:txBody>
        </p:sp>
        <p:sp>
          <p:nvSpPr>
            <p:cNvPr id="87" name="Rectangle 87"/>
            <p:cNvSpPr/>
            <p:nvPr/>
          </p:nvSpPr>
          <p:spPr>
            <a:xfrm>
              <a:off x="2933700" y="1181100"/>
              <a:ext cx="838200" cy="228600"/>
            </a:xfrm>
            <a:prstGeom prst="roundRect">
              <a:avLst>
                <a:gd name="adj" fmla="val 12500"/>
              </a:avLst>
            </a:prstGeom>
            <a:solidFill>
              <a:srgbClr val="FDEFF1"/>
            </a:solidFill>
            <a:ln>
              <a:noFill/>
            </a:ln>
          </p:spPr>
        </p:sp>
        <p:sp>
          <p:nvSpPr>
            <p:cNvPr id="88" name="TextBox 88"/>
            <p:cNvSpPr txBox="1"/>
            <p:nvPr/>
          </p:nvSpPr>
          <p:spPr>
            <a:xfrm>
              <a:off x="3186494" y="1268730"/>
              <a:ext cx="33261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企微私聊</a:t>
              </a:r>
            </a:p>
          </p:txBody>
        </p:sp>
        <p:sp>
          <p:nvSpPr>
            <p:cNvPr id="89" name="Rectangle 89"/>
            <p:cNvSpPr/>
            <p:nvPr/>
          </p:nvSpPr>
          <p:spPr>
            <a:xfrm>
              <a:off x="2933700" y="1457325"/>
              <a:ext cx="838200" cy="228600"/>
            </a:xfrm>
            <a:prstGeom prst="roundRect">
              <a:avLst>
                <a:gd name="adj" fmla="val 12500"/>
              </a:avLst>
            </a:prstGeom>
            <a:solidFill>
              <a:srgbClr val="FDEFF1"/>
            </a:solidFill>
            <a:ln>
              <a:noFill/>
            </a:ln>
          </p:spPr>
        </p:sp>
        <p:sp>
          <p:nvSpPr>
            <p:cNvPr id="90" name="TextBox 90"/>
            <p:cNvSpPr txBox="1"/>
            <p:nvPr/>
          </p:nvSpPr>
          <p:spPr>
            <a:xfrm>
              <a:off x="3186494" y="1544955"/>
              <a:ext cx="33261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企微群发</a:t>
              </a:r>
            </a:p>
          </p:txBody>
        </p:sp>
        <p:sp>
          <p:nvSpPr>
            <p:cNvPr id="91" name="Rectangle 91"/>
            <p:cNvSpPr/>
            <p:nvPr/>
          </p:nvSpPr>
          <p:spPr>
            <a:xfrm>
              <a:off x="2933700" y="1733550"/>
              <a:ext cx="838200" cy="228600"/>
            </a:xfrm>
            <a:prstGeom prst="roundRect">
              <a:avLst>
                <a:gd name="adj" fmla="val 12500"/>
              </a:avLst>
            </a:prstGeom>
            <a:solidFill>
              <a:srgbClr val="FDEFF1"/>
            </a:solidFill>
            <a:ln>
              <a:noFill/>
            </a:ln>
          </p:spPr>
        </p:sp>
        <p:sp>
          <p:nvSpPr>
            <p:cNvPr id="92" name="TextBox 92"/>
            <p:cNvSpPr txBox="1"/>
            <p:nvPr/>
          </p:nvSpPr>
          <p:spPr>
            <a:xfrm>
              <a:off x="3146108" y="1821180"/>
              <a:ext cx="413385"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客户朋友圈</a:t>
              </a:r>
            </a:p>
          </p:txBody>
        </p:sp>
        <p:sp>
          <p:nvSpPr>
            <p:cNvPr id="93" name="Rectangle 93"/>
            <p:cNvSpPr/>
            <p:nvPr/>
          </p:nvSpPr>
          <p:spPr>
            <a:xfrm>
              <a:off x="2933700" y="2009775"/>
              <a:ext cx="838200" cy="228600"/>
            </a:xfrm>
            <a:prstGeom prst="roundRect">
              <a:avLst>
                <a:gd name="adj" fmla="val 12500"/>
              </a:avLst>
            </a:prstGeom>
            <a:solidFill>
              <a:srgbClr val="FDEFF1"/>
            </a:solidFill>
            <a:ln>
              <a:noFill/>
            </a:ln>
          </p:spPr>
        </p:sp>
        <p:sp>
          <p:nvSpPr>
            <p:cNvPr id="94" name="TextBox 94"/>
            <p:cNvSpPr txBox="1"/>
            <p:nvPr/>
          </p:nvSpPr>
          <p:spPr>
            <a:xfrm>
              <a:off x="3267266" y="2097405"/>
              <a:ext cx="171069"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社群</a:t>
              </a:r>
            </a:p>
          </p:txBody>
        </p:sp>
        <p:sp>
          <p:nvSpPr>
            <p:cNvPr id="95" name="Rectangle 95"/>
            <p:cNvSpPr/>
            <p:nvPr/>
          </p:nvSpPr>
          <p:spPr>
            <a:xfrm>
              <a:off x="2933700" y="2286000"/>
              <a:ext cx="838200" cy="228600"/>
            </a:xfrm>
            <a:prstGeom prst="roundRect">
              <a:avLst>
                <a:gd name="adj" fmla="val 12500"/>
              </a:avLst>
            </a:prstGeom>
            <a:solidFill>
              <a:srgbClr val="FDEFF1"/>
            </a:solidFill>
            <a:ln>
              <a:noFill/>
            </a:ln>
          </p:spPr>
        </p:sp>
        <p:sp>
          <p:nvSpPr>
            <p:cNvPr id="96" name="TextBox 96"/>
            <p:cNvSpPr txBox="1"/>
            <p:nvPr/>
          </p:nvSpPr>
          <p:spPr>
            <a:xfrm>
              <a:off x="3105722" y="237363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线下触达提醒</a:t>
              </a:r>
            </a:p>
          </p:txBody>
        </p:sp>
        <p:sp>
          <p:nvSpPr>
            <p:cNvPr id="97" name="Rectangle 97"/>
            <p:cNvSpPr/>
            <p:nvPr/>
          </p:nvSpPr>
          <p:spPr>
            <a:xfrm>
              <a:off x="3867150" y="914400"/>
              <a:ext cx="838200" cy="190500"/>
            </a:xfrm>
            <a:prstGeom prst="roundRect">
              <a:avLst>
                <a:gd name="adj" fmla="val 20000"/>
              </a:avLst>
            </a:prstGeom>
            <a:solidFill>
              <a:srgbClr val="FBE3E6"/>
            </a:solidFill>
            <a:ln>
              <a:noFill/>
            </a:ln>
          </p:spPr>
        </p:sp>
        <p:grpSp>
          <p:nvGrpSpPr>
            <p:cNvPr id="102" name="Group 102"/>
            <p:cNvGrpSpPr/>
            <p:nvPr/>
          </p:nvGrpSpPr>
          <p:grpSpPr>
            <a:xfrm>
              <a:off x="4014788" y="966788"/>
              <a:ext cx="85725" cy="85725"/>
              <a:chOff x="4014788" y="966788"/>
              <a:chExt cx="85725" cy="85725"/>
            </a:xfrm>
          </p:grpSpPr>
          <p:sp>
            <p:nvSpPr>
              <p:cNvPr id="98" name="Freeform 98"/>
              <p:cNvSpPr/>
              <p:nvPr/>
            </p:nvSpPr>
            <p:spPr>
              <a:xfrm>
                <a:off x="4014788" y="9667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99" name="Freeform 99"/>
              <p:cNvSpPr/>
              <p:nvPr/>
            </p:nvSpPr>
            <p:spPr>
              <a:xfrm>
                <a:off x="4052888" y="100488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C83210"/>
                </a:solidFill>
              </a:ln>
            </p:spPr>
          </p:sp>
          <p:sp>
            <p:nvSpPr>
              <p:cNvPr id="100" name="Freeform 100"/>
              <p:cNvSpPr/>
              <p:nvPr/>
            </p:nvSpPr>
            <p:spPr>
              <a:xfrm>
                <a:off x="4064365" y="990600"/>
                <a:ext cx="12335" cy="12335"/>
              </a:xfrm>
              <a:custGeom>
                <a:avLst/>
                <a:gdLst/>
                <a:ahLst/>
                <a:cxnLst/>
                <a:rect l="l" t="t" r="r" b="b"/>
                <a:pathLst>
                  <a:path w="12335" h="12335">
                    <a:moveTo>
                      <a:pt x="0" y="12335"/>
                    </a:moveTo>
                    <a:lnTo>
                      <a:pt x="12335" y="0"/>
                    </a:lnTo>
                  </a:path>
                </a:pathLst>
              </a:custGeom>
              <a:noFill/>
              <a:ln w="9525">
                <a:solidFill>
                  <a:srgbClr val="C83210"/>
                </a:solidFill>
              </a:ln>
            </p:spPr>
          </p:sp>
          <p:sp>
            <p:nvSpPr>
              <p:cNvPr id="101" name="Freeform 101"/>
              <p:cNvSpPr/>
              <p:nvPr/>
            </p:nvSpPr>
            <p:spPr>
              <a:xfrm>
                <a:off x="4033838" y="985838"/>
                <a:ext cx="23812" cy="23812"/>
              </a:xfrm>
              <a:custGeom>
                <a:avLst/>
                <a:gdLst/>
                <a:ahLst/>
                <a:cxnLst/>
                <a:rect l="l" t="t" r="r" b="b"/>
                <a:pathLst>
                  <a:path w="23812" h="23812">
                    <a:moveTo>
                      <a:pt x="0" y="23812"/>
                    </a:moveTo>
                    <a:cubicBezTo>
                      <a:pt x="0" y="10661"/>
                      <a:pt x="10661" y="0"/>
                      <a:pt x="23812" y="0"/>
                    </a:cubicBezTo>
                  </a:path>
                </a:pathLst>
              </a:custGeom>
              <a:noFill/>
              <a:ln w="9525">
                <a:solidFill>
                  <a:srgbClr val="C83210"/>
                </a:solidFill>
              </a:ln>
            </p:spPr>
          </p:sp>
        </p:grpSp>
        <p:sp>
          <p:nvSpPr>
            <p:cNvPr id="103" name="TextBox 103"/>
            <p:cNvSpPr txBox="1"/>
            <p:nvPr/>
          </p:nvSpPr>
          <p:spPr>
            <a:xfrm>
              <a:off x="4148138" y="978932"/>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频次控制</a:t>
              </a:r>
            </a:p>
          </p:txBody>
        </p:sp>
        <p:sp>
          <p:nvSpPr>
            <p:cNvPr id="104" name="Rectangle 104"/>
            <p:cNvSpPr/>
            <p:nvPr/>
          </p:nvSpPr>
          <p:spPr>
            <a:xfrm>
              <a:off x="3867150" y="1181100"/>
              <a:ext cx="838200" cy="228600"/>
            </a:xfrm>
            <a:prstGeom prst="roundRect">
              <a:avLst>
                <a:gd name="adj" fmla="val 12500"/>
              </a:avLst>
            </a:prstGeom>
            <a:solidFill>
              <a:srgbClr val="FDEFF1"/>
            </a:solidFill>
            <a:ln>
              <a:noFill/>
            </a:ln>
          </p:spPr>
        </p:sp>
        <p:sp>
          <p:nvSpPr>
            <p:cNvPr id="105" name="TextBox 105"/>
            <p:cNvSpPr txBox="1"/>
            <p:nvPr/>
          </p:nvSpPr>
          <p:spPr>
            <a:xfrm>
              <a:off x="4039172" y="126873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客户频次上限</a:t>
              </a:r>
            </a:p>
          </p:txBody>
        </p:sp>
        <p:sp>
          <p:nvSpPr>
            <p:cNvPr id="106" name="Rectangle 106"/>
            <p:cNvSpPr/>
            <p:nvPr/>
          </p:nvSpPr>
          <p:spPr>
            <a:xfrm>
              <a:off x="3867150" y="1457325"/>
              <a:ext cx="838200" cy="228600"/>
            </a:xfrm>
            <a:prstGeom prst="roundRect">
              <a:avLst>
                <a:gd name="adj" fmla="val 12500"/>
              </a:avLst>
            </a:prstGeom>
            <a:solidFill>
              <a:srgbClr val="FDEFF1"/>
            </a:solidFill>
            <a:ln>
              <a:noFill/>
            </a:ln>
          </p:spPr>
        </p:sp>
        <p:sp>
          <p:nvSpPr>
            <p:cNvPr id="107" name="TextBox 107"/>
            <p:cNvSpPr txBox="1"/>
            <p:nvPr/>
          </p:nvSpPr>
          <p:spPr>
            <a:xfrm>
              <a:off x="4039172" y="1544955"/>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同主题冷却期</a:t>
              </a:r>
            </a:p>
          </p:txBody>
        </p:sp>
        <p:sp>
          <p:nvSpPr>
            <p:cNvPr id="108" name="Rectangle 108"/>
            <p:cNvSpPr/>
            <p:nvPr/>
          </p:nvSpPr>
          <p:spPr>
            <a:xfrm>
              <a:off x="3867150" y="1733550"/>
              <a:ext cx="838200" cy="228600"/>
            </a:xfrm>
            <a:prstGeom prst="roundRect">
              <a:avLst>
                <a:gd name="adj" fmla="val 12500"/>
              </a:avLst>
            </a:prstGeom>
            <a:solidFill>
              <a:srgbClr val="FDEFF1"/>
            </a:solidFill>
            <a:ln>
              <a:noFill/>
            </a:ln>
          </p:spPr>
        </p:sp>
        <p:sp>
          <p:nvSpPr>
            <p:cNvPr id="109" name="TextBox 109"/>
            <p:cNvSpPr txBox="1"/>
            <p:nvPr/>
          </p:nvSpPr>
          <p:spPr>
            <a:xfrm>
              <a:off x="4039172" y="182118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时段智能选择</a:t>
              </a:r>
            </a:p>
          </p:txBody>
        </p:sp>
        <p:sp>
          <p:nvSpPr>
            <p:cNvPr id="110" name="Rectangle 110"/>
            <p:cNvSpPr/>
            <p:nvPr/>
          </p:nvSpPr>
          <p:spPr>
            <a:xfrm>
              <a:off x="3867150" y="2009775"/>
              <a:ext cx="838200" cy="228600"/>
            </a:xfrm>
            <a:prstGeom prst="roundRect">
              <a:avLst>
                <a:gd name="adj" fmla="val 12500"/>
              </a:avLst>
            </a:prstGeom>
            <a:solidFill>
              <a:srgbClr val="FDEFF1"/>
            </a:solidFill>
            <a:ln>
              <a:noFill/>
            </a:ln>
          </p:spPr>
        </p:sp>
        <p:sp>
          <p:nvSpPr>
            <p:cNvPr id="111" name="TextBox 111"/>
            <p:cNvSpPr txBox="1"/>
            <p:nvPr/>
          </p:nvSpPr>
          <p:spPr>
            <a:xfrm>
              <a:off x="4039172" y="2097405"/>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客户偏好控制</a:t>
              </a:r>
            </a:p>
          </p:txBody>
        </p:sp>
        <p:sp>
          <p:nvSpPr>
            <p:cNvPr id="112" name="Rectangle 112"/>
            <p:cNvSpPr/>
            <p:nvPr/>
          </p:nvSpPr>
          <p:spPr>
            <a:xfrm>
              <a:off x="3867150" y="2286000"/>
              <a:ext cx="838200" cy="228600"/>
            </a:xfrm>
            <a:prstGeom prst="roundRect">
              <a:avLst>
                <a:gd name="adj" fmla="val 12500"/>
              </a:avLst>
            </a:prstGeom>
            <a:solidFill>
              <a:srgbClr val="FDEFF1"/>
            </a:solidFill>
            <a:ln>
              <a:noFill/>
            </a:ln>
          </p:spPr>
        </p:sp>
        <p:sp>
          <p:nvSpPr>
            <p:cNvPr id="113" name="TextBox 113"/>
            <p:cNvSpPr txBox="1"/>
            <p:nvPr/>
          </p:nvSpPr>
          <p:spPr>
            <a:xfrm>
              <a:off x="4119944" y="2373630"/>
              <a:ext cx="33261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避免打扰</a:t>
              </a:r>
            </a:p>
          </p:txBody>
        </p:sp>
        <p:sp>
          <p:nvSpPr>
            <p:cNvPr id="114" name="Rectangle 114"/>
            <p:cNvSpPr/>
            <p:nvPr/>
          </p:nvSpPr>
          <p:spPr>
            <a:xfrm>
              <a:off x="4800600" y="914400"/>
              <a:ext cx="838200" cy="190500"/>
            </a:xfrm>
            <a:prstGeom prst="roundRect">
              <a:avLst>
                <a:gd name="adj" fmla="val 20000"/>
              </a:avLst>
            </a:prstGeom>
            <a:solidFill>
              <a:srgbClr val="FBE3E6"/>
            </a:solidFill>
            <a:ln>
              <a:noFill/>
            </a:ln>
          </p:spPr>
        </p:sp>
        <p:grpSp>
          <p:nvGrpSpPr>
            <p:cNvPr id="119" name="Group 119"/>
            <p:cNvGrpSpPr/>
            <p:nvPr/>
          </p:nvGrpSpPr>
          <p:grpSpPr>
            <a:xfrm>
              <a:off x="4957762" y="971550"/>
              <a:ext cx="71438" cy="80962"/>
              <a:chOff x="4957762" y="971550"/>
              <a:chExt cx="71438" cy="80962"/>
            </a:xfrm>
          </p:grpSpPr>
          <p:sp>
            <p:nvSpPr>
              <p:cNvPr id="115" name="Freeform 115"/>
              <p:cNvSpPr/>
              <p:nvPr/>
            </p:nvSpPr>
            <p:spPr>
              <a:xfrm>
                <a:off x="4957762" y="971550"/>
                <a:ext cx="57150" cy="76200"/>
              </a:xfrm>
              <a:custGeom>
                <a:avLst/>
                <a:gdLst/>
                <a:ahLst/>
                <a:cxnLst/>
                <a:rect l="l" t="t" r="r" b="b"/>
                <a:pathLst>
                  <a:path w="57150" h="76200">
                    <a:moveTo>
                      <a:pt x="21979" y="76200"/>
                    </a:moveTo>
                    <a:lnTo>
                      <a:pt x="9525" y="76200"/>
                    </a:lnTo>
                    <a:cubicBezTo>
                      <a:pt x="4264" y="76200"/>
                      <a:pt x="0" y="71936"/>
                      <a:pt x="0" y="66675"/>
                    </a:cubicBezTo>
                    <a:lnTo>
                      <a:pt x="0" y="9525"/>
                    </a:lnTo>
                    <a:cubicBezTo>
                      <a:pt x="0" y="4264"/>
                      <a:pt x="4264" y="0"/>
                      <a:pt x="9525" y="0"/>
                    </a:cubicBezTo>
                    <a:lnTo>
                      <a:pt x="47625" y="0"/>
                    </a:lnTo>
                    <a:cubicBezTo>
                      <a:pt x="52886" y="0"/>
                      <a:pt x="57150" y="4264"/>
                      <a:pt x="57150" y="9525"/>
                    </a:cubicBezTo>
                    <a:lnTo>
                      <a:pt x="57150" y="47625"/>
                    </a:lnTo>
                  </a:path>
                </a:pathLst>
              </a:custGeom>
              <a:noFill/>
              <a:ln w="9525">
                <a:solidFill>
                  <a:srgbClr val="C83210"/>
                </a:solidFill>
              </a:ln>
            </p:spPr>
          </p:sp>
          <p:sp>
            <p:nvSpPr>
              <p:cNvPr id="116" name="Freeform 116"/>
              <p:cNvSpPr/>
              <p:nvPr/>
            </p:nvSpPr>
            <p:spPr>
              <a:xfrm>
                <a:off x="5000625" y="1033462"/>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sp>
            <p:nvSpPr>
              <p:cNvPr id="117" name="Freeform 117"/>
              <p:cNvSpPr/>
              <p:nvPr/>
            </p:nvSpPr>
            <p:spPr>
              <a:xfrm>
                <a:off x="4976812" y="990600"/>
                <a:ext cx="19050" cy="9525"/>
              </a:xfrm>
              <a:custGeom>
                <a:avLst/>
                <a:gdLst/>
                <a:ahLst/>
                <a:cxnLst/>
                <a:rect l="l" t="t" r="r" b="b"/>
                <a:pathLst>
                  <a:path w="19050" h="9525">
                    <a:moveTo>
                      <a:pt x="0" y="0"/>
                    </a:moveTo>
                    <a:lnTo>
                      <a:pt x="19050" y="0"/>
                    </a:lnTo>
                  </a:path>
                </a:pathLst>
              </a:custGeom>
              <a:noFill/>
              <a:ln w="9525">
                <a:solidFill>
                  <a:srgbClr val="C83210"/>
                </a:solidFill>
              </a:ln>
            </p:spPr>
          </p:sp>
          <p:sp>
            <p:nvSpPr>
              <p:cNvPr id="118" name="Freeform 118"/>
              <p:cNvSpPr/>
              <p:nvPr/>
            </p:nvSpPr>
            <p:spPr>
              <a:xfrm>
                <a:off x="4976812" y="1009650"/>
                <a:ext cx="9525" cy="9525"/>
              </a:xfrm>
              <a:custGeom>
                <a:avLst/>
                <a:gdLst/>
                <a:ahLst/>
                <a:cxnLst/>
                <a:rect l="l" t="t" r="r" b="b"/>
                <a:pathLst>
                  <a:path w="9525" h="9525">
                    <a:moveTo>
                      <a:pt x="0" y="0"/>
                    </a:moveTo>
                    <a:lnTo>
                      <a:pt x="9525" y="0"/>
                    </a:lnTo>
                  </a:path>
                </a:pathLst>
              </a:custGeom>
              <a:noFill/>
              <a:ln w="9525">
                <a:solidFill>
                  <a:srgbClr val="C83210"/>
                </a:solidFill>
              </a:ln>
            </p:spPr>
          </p:sp>
        </p:grpSp>
        <p:sp>
          <p:nvSpPr>
            <p:cNvPr id="120" name="TextBox 120"/>
            <p:cNvSpPr txBox="1"/>
            <p:nvPr/>
          </p:nvSpPr>
          <p:spPr>
            <a:xfrm>
              <a:off x="5081588" y="978932"/>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任务创建</a:t>
              </a:r>
            </a:p>
          </p:txBody>
        </p:sp>
        <p:sp>
          <p:nvSpPr>
            <p:cNvPr id="121" name="Rectangle 121"/>
            <p:cNvSpPr/>
            <p:nvPr/>
          </p:nvSpPr>
          <p:spPr>
            <a:xfrm>
              <a:off x="4800600" y="1181100"/>
              <a:ext cx="838200" cy="228600"/>
            </a:xfrm>
            <a:prstGeom prst="roundRect">
              <a:avLst>
                <a:gd name="adj" fmla="val 12500"/>
              </a:avLst>
            </a:prstGeom>
            <a:solidFill>
              <a:srgbClr val="FDEFF1"/>
            </a:solidFill>
            <a:ln>
              <a:noFill/>
            </a:ln>
          </p:spPr>
        </p:sp>
        <p:sp>
          <p:nvSpPr>
            <p:cNvPr id="122" name="TextBox 122"/>
            <p:cNvSpPr txBox="1"/>
            <p:nvPr/>
          </p:nvSpPr>
          <p:spPr>
            <a:xfrm>
              <a:off x="4972621" y="126873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自动发送内容</a:t>
              </a:r>
            </a:p>
          </p:txBody>
        </p:sp>
        <p:sp>
          <p:nvSpPr>
            <p:cNvPr id="123" name="Rectangle 123"/>
            <p:cNvSpPr/>
            <p:nvPr/>
          </p:nvSpPr>
          <p:spPr>
            <a:xfrm>
              <a:off x="4800600" y="1457325"/>
              <a:ext cx="838200" cy="228600"/>
            </a:xfrm>
            <a:prstGeom prst="roundRect">
              <a:avLst>
                <a:gd name="adj" fmla="val 12500"/>
              </a:avLst>
            </a:prstGeom>
            <a:solidFill>
              <a:srgbClr val="FDEFF1"/>
            </a:solidFill>
            <a:ln>
              <a:noFill/>
            </a:ln>
          </p:spPr>
        </p:sp>
        <p:sp>
          <p:nvSpPr>
            <p:cNvPr id="124" name="TextBox 124"/>
            <p:cNvSpPr txBox="1"/>
            <p:nvPr/>
          </p:nvSpPr>
          <p:spPr>
            <a:xfrm>
              <a:off x="4972621" y="1544955"/>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生成员工任务</a:t>
              </a:r>
            </a:p>
          </p:txBody>
        </p:sp>
        <p:sp>
          <p:nvSpPr>
            <p:cNvPr id="125" name="Rectangle 125"/>
            <p:cNvSpPr/>
            <p:nvPr/>
          </p:nvSpPr>
          <p:spPr>
            <a:xfrm>
              <a:off x="4800600" y="1733550"/>
              <a:ext cx="838200" cy="228600"/>
            </a:xfrm>
            <a:prstGeom prst="roundRect">
              <a:avLst>
                <a:gd name="adj" fmla="val 12500"/>
              </a:avLst>
            </a:prstGeom>
            <a:solidFill>
              <a:srgbClr val="FDEFF1"/>
            </a:solidFill>
            <a:ln>
              <a:noFill/>
            </a:ln>
          </p:spPr>
        </p:sp>
        <p:sp>
          <p:nvSpPr>
            <p:cNvPr id="126" name="TextBox 126"/>
            <p:cNvSpPr txBox="1"/>
            <p:nvPr/>
          </p:nvSpPr>
          <p:spPr>
            <a:xfrm>
              <a:off x="4972621" y="182118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标注客户意图</a:t>
              </a:r>
            </a:p>
          </p:txBody>
        </p:sp>
        <p:sp>
          <p:nvSpPr>
            <p:cNvPr id="127" name="Rectangle 127"/>
            <p:cNvSpPr/>
            <p:nvPr/>
          </p:nvSpPr>
          <p:spPr>
            <a:xfrm>
              <a:off x="4800600" y="2009775"/>
              <a:ext cx="838200" cy="228600"/>
            </a:xfrm>
            <a:prstGeom prst="roundRect">
              <a:avLst>
                <a:gd name="adj" fmla="val 12500"/>
              </a:avLst>
            </a:prstGeom>
            <a:solidFill>
              <a:srgbClr val="FDEFF1"/>
            </a:solidFill>
            <a:ln>
              <a:noFill/>
            </a:ln>
          </p:spPr>
        </p:sp>
        <p:sp>
          <p:nvSpPr>
            <p:cNvPr id="128" name="TextBox 128"/>
            <p:cNvSpPr txBox="1"/>
            <p:nvPr/>
          </p:nvSpPr>
          <p:spPr>
            <a:xfrm>
              <a:off x="4972621" y="2097405"/>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设置跟进规则</a:t>
              </a:r>
            </a:p>
          </p:txBody>
        </p:sp>
        <p:sp>
          <p:nvSpPr>
            <p:cNvPr id="129" name="Rectangle 129"/>
            <p:cNvSpPr/>
            <p:nvPr/>
          </p:nvSpPr>
          <p:spPr>
            <a:xfrm>
              <a:off x="4800600" y="2286000"/>
              <a:ext cx="838200" cy="228600"/>
            </a:xfrm>
            <a:prstGeom prst="roundRect">
              <a:avLst>
                <a:gd name="adj" fmla="val 12500"/>
              </a:avLst>
            </a:prstGeom>
            <a:solidFill>
              <a:srgbClr val="FDEFF1"/>
            </a:solidFill>
            <a:ln>
              <a:noFill/>
            </a:ln>
          </p:spPr>
        </p:sp>
        <p:sp>
          <p:nvSpPr>
            <p:cNvPr id="130" name="TextBox 130"/>
            <p:cNvSpPr txBox="1"/>
            <p:nvPr/>
          </p:nvSpPr>
          <p:spPr>
            <a:xfrm>
              <a:off x="4972621" y="237363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同步至工作台</a:t>
              </a:r>
            </a:p>
          </p:txBody>
        </p:sp>
        <p:sp>
          <p:nvSpPr>
            <p:cNvPr id="131" name="Rectangle 131"/>
            <p:cNvSpPr/>
            <p:nvPr/>
          </p:nvSpPr>
          <p:spPr>
            <a:xfrm>
              <a:off x="5734050" y="914400"/>
              <a:ext cx="838200" cy="190500"/>
            </a:xfrm>
            <a:prstGeom prst="roundRect">
              <a:avLst>
                <a:gd name="adj" fmla="val 20000"/>
              </a:avLst>
            </a:prstGeom>
            <a:solidFill>
              <a:srgbClr val="FBE3E6"/>
            </a:solidFill>
            <a:ln>
              <a:noFill/>
            </a:ln>
          </p:spPr>
        </p:sp>
        <p:grpSp>
          <p:nvGrpSpPr>
            <p:cNvPr id="134" name="Group 134"/>
            <p:cNvGrpSpPr/>
            <p:nvPr/>
          </p:nvGrpSpPr>
          <p:grpSpPr>
            <a:xfrm>
              <a:off x="5772150" y="969712"/>
              <a:ext cx="76200" cy="79875"/>
              <a:chOff x="5772150" y="969712"/>
              <a:chExt cx="76200" cy="79875"/>
            </a:xfrm>
          </p:grpSpPr>
          <p:sp>
            <p:nvSpPr>
              <p:cNvPr id="132" name="Freeform 132"/>
              <p:cNvSpPr/>
              <p:nvPr/>
            </p:nvSpPr>
            <p:spPr>
              <a:xfrm>
                <a:off x="5772150" y="969712"/>
                <a:ext cx="76200" cy="35175"/>
              </a:xfrm>
              <a:custGeom>
                <a:avLst/>
                <a:gdLst/>
                <a:ahLst/>
                <a:cxnLst/>
                <a:rect l="l" t="t" r="r" b="b"/>
                <a:pathLst>
                  <a:path w="76200" h="35175">
                    <a:moveTo>
                      <a:pt x="76200" y="35175"/>
                    </a:moveTo>
                    <a:cubicBezTo>
                      <a:pt x="73806" y="17947"/>
                      <a:pt x="60178" y="4452"/>
                      <a:pt x="42928" y="2226"/>
                    </a:cubicBezTo>
                    <a:cubicBezTo>
                      <a:pt x="25677" y="0"/>
                      <a:pt x="9070" y="9594"/>
                      <a:pt x="2381" y="25650"/>
                    </a:cubicBezTo>
                    <a:moveTo>
                      <a:pt x="0" y="6600"/>
                    </a:moveTo>
                    <a:lnTo>
                      <a:pt x="0" y="25650"/>
                    </a:lnTo>
                    <a:lnTo>
                      <a:pt x="19050" y="25650"/>
                    </a:lnTo>
                  </a:path>
                </a:pathLst>
              </a:custGeom>
              <a:noFill/>
              <a:ln w="9525">
                <a:solidFill>
                  <a:srgbClr val="C83210"/>
                </a:solidFill>
              </a:ln>
            </p:spPr>
          </p:sp>
          <p:sp>
            <p:nvSpPr>
              <p:cNvPr id="133" name="Freeform 133"/>
              <p:cNvSpPr/>
              <p:nvPr/>
            </p:nvSpPr>
            <p:spPr>
              <a:xfrm>
                <a:off x="5772150" y="1014412"/>
                <a:ext cx="76200" cy="35175"/>
              </a:xfrm>
              <a:custGeom>
                <a:avLst/>
                <a:gdLst/>
                <a:ahLst/>
                <a:cxnLst/>
                <a:rect l="l" t="t" r="r" b="b"/>
                <a:pathLst>
                  <a:path w="76200" h="35175">
                    <a:moveTo>
                      <a:pt x="0" y="0"/>
                    </a:moveTo>
                    <a:cubicBezTo>
                      <a:pt x="2394" y="17228"/>
                      <a:pt x="16022" y="30723"/>
                      <a:pt x="33272" y="32949"/>
                    </a:cubicBezTo>
                    <a:cubicBezTo>
                      <a:pt x="50523" y="35175"/>
                      <a:pt x="67130" y="25581"/>
                      <a:pt x="73819" y="9525"/>
                    </a:cubicBezTo>
                    <a:moveTo>
                      <a:pt x="76200" y="28575"/>
                    </a:moveTo>
                    <a:lnTo>
                      <a:pt x="76200" y="9525"/>
                    </a:lnTo>
                    <a:lnTo>
                      <a:pt x="57150" y="9525"/>
                    </a:lnTo>
                  </a:path>
                </a:pathLst>
              </a:custGeom>
              <a:noFill/>
              <a:ln w="9525">
                <a:solidFill>
                  <a:srgbClr val="C83210"/>
                </a:solidFill>
              </a:ln>
            </p:spPr>
          </p:sp>
        </p:grpSp>
        <p:sp>
          <p:nvSpPr>
            <p:cNvPr id="135" name="TextBox 135"/>
            <p:cNvSpPr txBox="1"/>
            <p:nvPr/>
          </p:nvSpPr>
          <p:spPr>
            <a:xfrm>
              <a:off x="5881688" y="978932"/>
              <a:ext cx="612623"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结果反馈与优化</a:t>
              </a:r>
            </a:p>
          </p:txBody>
        </p:sp>
        <p:sp>
          <p:nvSpPr>
            <p:cNvPr id="136" name="Rectangle 136"/>
            <p:cNvSpPr/>
            <p:nvPr/>
          </p:nvSpPr>
          <p:spPr>
            <a:xfrm>
              <a:off x="5734050" y="1181100"/>
              <a:ext cx="838200" cy="228600"/>
            </a:xfrm>
            <a:prstGeom prst="roundRect">
              <a:avLst>
                <a:gd name="adj" fmla="val 12500"/>
              </a:avLst>
            </a:prstGeom>
            <a:solidFill>
              <a:srgbClr val="FDEFF1"/>
            </a:solidFill>
            <a:ln>
              <a:noFill/>
            </a:ln>
          </p:spPr>
        </p:sp>
        <p:sp>
          <p:nvSpPr>
            <p:cNvPr id="137" name="TextBox 137"/>
            <p:cNvSpPr txBox="1"/>
            <p:nvPr/>
          </p:nvSpPr>
          <p:spPr>
            <a:xfrm>
              <a:off x="5861647" y="1268730"/>
              <a:ext cx="583006"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送达/阅读/互动</a:t>
              </a:r>
            </a:p>
          </p:txBody>
        </p:sp>
        <p:sp>
          <p:nvSpPr>
            <p:cNvPr id="138" name="Rectangle 138"/>
            <p:cNvSpPr/>
            <p:nvPr/>
          </p:nvSpPr>
          <p:spPr>
            <a:xfrm>
              <a:off x="5734050" y="1457325"/>
              <a:ext cx="838200" cy="228600"/>
            </a:xfrm>
            <a:prstGeom prst="roundRect">
              <a:avLst>
                <a:gd name="adj" fmla="val 12500"/>
              </a:avLst>
            </a:prstGeom>
            <a:solidFill>
              <a:srgbClr val="FDEFF1"/>
            </a:solidFill>
            <a:ln>
              <a:noFill/>
            </a:ln>
          </p:spPr>
        </p:sp>
        <p:sp>
          <p:nvSpPr>
            <p:cNvPr id="139" name="TextBox 139"/>
            <p:cNvSpPr txBox="1"/>
            <p:nvPr/>
          </p:nvSpPr>
          <p:spPr>
            <a:xfrm>
              <a:off x="5906071" y="1544955"/>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客户行为变化</a:t>
              </a:r>
            </a:p>
          </p:txBody>
        </p:sp>
        <p:sp>
          <p:nvSpPr>
            <p:cNvPr id="140" name="Rectangle 140"/>
            <p:cNvSpPr/>
            <p:nvPr/>
          </p:nvSpPr>
          <p:spPr>
            <a:xfrm>
              <a:off x="5734050" y="1733550"/>
              <a:ext cx="838200" cy="228600"/>
            </a:xfrm>
            <a:prstGeom prst="roundRect">
              <a:avLst>
                <a:gd name="adj" fmla="val 12500"/>
              </a:avLst>
            </a:prstGeom>
            <a:solidFill>
              <a:srgbClr val="FDEFF1"/>
            </a:solidFill>
            <a:ln>
              <a:noFill/>
            </a:ln>
          </p:spPr>
        </p:sp>
        <p:sp>
          <p:nvSpPr>
            <p:cNvPr id="141" name="TextBox 141"/>
            <p:cNvSpPr txBox="1"/>
            <p:nvPr/>
          </p:nvSpPr>
          <p:spPr>
            <a:xfrm>
              <a:off x="5906071" y="182118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转化效果分析</a:t>
              </a:r>
            </a:p>
          </p:txBody>
        </p:sp>
        <p:sp>
          <p:nvSpPr>
            <p:cNvPr id="142" name="Rectangle 142"/>
            <p:cNvSpPr/>
            <p:nvPr/>
          </p:nvSpPr>
          <p:spPr>
            <a:xfrm>
              <a:off x="5734050" y="2009775"/>
              <a:ext cx="838200" cy="228600"/>
            </a:xfrm>
            <a:prstGeom prst="roundRect">
              <a:avLst>
                <a:gd name="adj" fmla="val 12500"/>
              </a:avLst>
            </a:prstGeom>
            <a:solidFill>
              <a:srgbClr val="FDEFF1"/>
            </a:solidFill>
            <a:ln>
              <a:noFill/>
            </a:ln>
          </p:spPr>
        </p:sp>
        <p:sp>
          <p:nvSpPr>
            <p:cNvPr id="143" name="TextBox 143"/>
            <p:cNvSpPr txBox="1"/>
            <p:nvPr/>
          </p:nvSpPr>
          <p:spPr>
            <a:xfrm>
              <a:off x="5906071" y="2097405"/>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规则迭代优化</a:t>
              </a:r>
            </a:p>
          </p:txBody>
        </p:sp>
        <p:sp>
          <p:nvSpPr>
            <p:cNvPr id="144" name="Rectangle 144"/>
            <p:cNvSpPr/>
            <p:nvPr/>
          </p:nvSpPr>
          <p:spPr>
            <a:xfrm>
              <a:off x="5734050" y="2286000"/>
              <a:ext cx="838200" cy="228600"/>
            </a:xfrm>
            <a:prstGeom prst="roundRect">
              <a:avLst>
                <a:gd name="adj" fmla="val 12500"/>
              </a:avLst>
            </a:prstGeom>
            <a:solidFill>
              <a:srgbClr val="FDEFF1"/>
            </a:solidFill>
            <a:ln>
              <a:noFill/>
            </a:ln>
          </p:spPr>
        </p:sp>
        <p:sp>
          <p:nvSpPr>
            <p:cNvPr id="145" name="TextBox 145"/>
            <p:cNvSpPr txBox="1"/>
            <p:nvPr/>
          </p:nvSpPr>
          <p:spPr>
            <a:xfrm>
              <a:off x="5906071" y="2373630"/>
              <a:ext cx="494157"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mn-lt"/>
                  <a:ea typeface="+mn-ea"/>
                  <a:cs typeface="+mn-cs"/>
                </a:rPr>
                <a:t>沉淀最佳实践</a:t>
              </a:r>
            </a:p>
          </p:txBody>
        </p:sp>
        <p:sp>
          <p:nvSpPr>
            <p:cNvPr id="146" name="Freeform 146"/>
            <p:cNvSpPr/>
            <p:nvPr/>
          </p:nvSpPr>
          <p:spPr>
            <a:xfrm>
              <a:off x="971550" y="1714500"/>
              <a:ext cx="95250" cy="133350"/>
            </a:xfrm>
            <a:prstGeom prst="rightArrow">
              <a:avLst/>
            </a:prstGeom>
            <a:solidFill>
              <a:srgbClr val="E9826B"/>
            </a:solidFill>
            <a:ln>
              <a:noFill/>
            </a:ln>
          </p:spPr>
        </p:sp>
        <p:sp>
          <p:nvSpPr>
            <p:cNvPr id="147" name="Freeform 147"/>
            <p:cNvSpPr/>
            <p:nvPr/>
          </p:nvSpPr>
          <p:spPr>
            <a:xfrm>
              <a:off x="1905000" y="1714500"/>
              <a:ext cx="95250" cy="133350"/>
            </a:xfrm>
            <a:prstGeom prst="rightArrow">
              <a:avLst/>
            </a:prstGeom>
            <a:solidFill>
              <a:srgbClr val="E9826B"/>
            </a:solidFill>
            <a:ln>
              <a:noFill/>
            </a:ln>
          </p:spPr>
        </p:sp>
        <p:sp>
          <p:nvSpPr>
            <p:cNvPr id="148" name="Freeform 148"/>
            <p:cNvSpPr/>
            <p:nvPr/>
          </p:nvSpPr>
          <p:spPr>
            <a:xfrm>
              <a:off x="2838450" y="1714500"/>
              <a:ext cx="95250" cy="133350"/>
            </a:xfrm>
            <a:prstGeom prst="rightArrow">
              <a:avLst/>
            </a:prstGeom>
            <a:solidFill>
              <a:srgbClr val="E9826B"/>
            </a:solidFill>
            <a:ln>
              <a:noFill/>
            </a:ln>
          </p:spPr>
        </p:sp>
        <p:sp>
          <p:nvSpPr>
            <p:cNvPr id="149" name="Freeform 149"/>
            <p:cNvSpPr/>
            <p:nvPr/>
          </p:nvSpPr>
          <p:spPr>
            <a:xfrm>
              <a:off x="3771900" y="1714500"/>
              <a:ext cx="95250" cy="133350"/>
            </a:xfrm>
            <a:prstGeom prst="rightArrow">
              <a:avLst/>
            </a:prstGeom>
            <a:solidFill>
              <a:srgbClr val="E9826B"/>
            </a:solidFill>
            <a:ln>
              <a:noFill/>
            </a:ln>
          </p:spPr>
        </p:sp>
        <p:sp>
          <p:nvSpPr>
            <p:cNvPr id="150" name="Freeform 150"/>
            <p:cNvSpPr/>
            <p:nvPr/>
          </p:nvSpPr>
          <p:spPr>
            <a:xfrm>
              <a:off x="4705350" y="1714500"/>
              <a:ext cx="95250" cy="133350"/>
            </a:xfrm>
            <a:prstGeom prst="rightArrow">
              <a:avLst/>
            </a:prstGeom>
            <a:solidFill>
              <a:srgbClr val="E9826B"/>
            </a:solidFill>
            <a:ln>
              <a:noFill/>
            </a:ln>
          </p:spPr>
        </p:sp>
        <p:sp>
          <p:nvSpPr>
            <p:cNvPr id="151" name="Freeform 151"/>
            <p:cNvSpPr/>
            <p:nvPr/>
          </p:nvSpPr>
          <p:spPr>
            <a:xfrm>
              <a:off x="5638800" y="1714500"/>
              <a:ext cx="95250" cy="133350"/>
            </a:xfrm>
            <a:prstGeom prst="rightArrow">
              <a:avLst/>
            </a:prstGeom>
            <a:solidFill>
              <a:srgbClr val="E9826B"/>
            </a:solidFill>
            <a:ln>
              <a:noFill/>
            </a:ln>
          </p:spPr>
        </p:sp>
      </p:grpSp>
      <p:grpSp>
        <p:nvGrpSpPr>
          <p:cNvPr id="223" name="human-machine"/>
          <p:cNvGrpSpPr/>
          <p:nvPr/>
        </p:nvGrpSpPr>
        <p:grpSpPr>
          <a:xfrm>
            <a:off x="6800850" y="704850"/>
            <a:ext cx="5257800" cy="2076450"/>
            <a:chOff x="6800850" y="704850"/>
            <a:chExt cx="5257800" cy="2076450"/>
          </a:xfrm>
        </p:grpSpPr>
        <p:sp>
          <p:nvSpPr>
            <p:cNvPr id="153" name="Rectangle 153"/>
            <p:cNvSpPr/>
            <p:nvPr/>
          </p:nvSpPr>
          <p:spPr>
            <a:xfrm>
              <a:off x="6858000" y="704850"/>
              <a:ext cx="38100" cy="152400"/>
            </a:xfrm>
            <a:prstGeom prst="rect">
              <a:avLst/>
            </a:prstGeom>
            <a:solidFill>
              <a:srgbClr val="C83210"/>
            </a:solidFill>
            <a:ln>
              <a:noFill/>
            </a:ln>
          </p:spPr>
        </p:sp>
        <p:sp>
          <p:nvSpPr>
            <p:cNvPr id="154" name="TextBox 154"/>
            <p:cNvSpPr txBox="1"/>
            <p:nvPr/>
          </p:nvSpPr>
          <p:spPr>
            <a:xfrm>
              <a:off x="6967347" y="723424"/>
              <a:ext cx="801472"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人机分工协同</a:t>
              </a:r>
            </a:p>
          </p:txBody>
        </p:sp>
        <p:sp>
          <p:nvSpPr>
            <p:cNvPr id="155" name="Rectangle 155"/>
            <p:cNvSpPr/>
            <p:nvPr/>
          </p:nvSpPr>
          <p:spPr>
            <a:xfrm>
              <a:off x="6800850" y="914400"/>
              <a:ext cx="2390775" cy="1866900"/>
            </a:xfrm>
            <a:prstGeom prst="roundRect">
              <a:avLst>
                <a:gd name="adj" fmla="val 3061"/>
              </a:avLst>
            </a:prstGeom>
            <a:solidFill>
              <a:srgbClr val="FDEFF1"/>
            </a:solidFill>
            <a:ln>
              <a:noFill/>
            </a:ln>
          </p:spPr>
        </p:sp>
        <p:grpSp>
          <p:nvGrpSpPr>
            <p:cNvPr id="165" name="Group 165"/>
            <p:cNvGrpSpPr/>
            <p:nvPr/>
          </p:nvGrpSpPr>
          <p:grpSpPr>
            <a:xfrm>
              <a:off x="6970713" y="1031875"/>
              <a:ext cx="155575" cy="211138"/>
              <a:chOff x="6970713" y="1031875"/>
              <a:chExt cx="155575" cy="211138"/>
            </a:xfrm>
          </p:grpSpPr>
          <p:sp>
            <p:nvSpPr>
              <p:cNvPr id="156" name="Freeform 156"/>
              <p:cNvSpPr/>
              <p:nvPr/>
            </p:nvSpPr>
            <p:spPr>
              <a:xfrm>
                <a:off x="6981825" y="1054100"/>
                <a:ext cx="133350" cy="88900"/>
              </a:xfrm>
              <a:custGeom>
                <a:avLst/>
                <a:gdLst/>
                <a:ahLst/>
                <a:cxnLst/>
                <a:rect l="l" t="t" r="r" b="b"/>
                <a:pathLst>
                  <a:path w="133350" h="88900">
                    <a:moveTo>
                      <a:pt x="0" y="22225"/>
                    </a:moveTo>
                    <a:cubicBezTo>
                      <a:pt x="0" y="9950"/>
                      <a:pt x="9950" y="0"/>
                      <a:pt x="22225" y="0"/>
                    </a:cubicBezTo>
                    <a:lnTo>
                      <a:pt x="111125" y="0"/>
                    </a:lnTo>
                    <a:cubicBezTo>
                      <a:pt x="123400" y="0"/>
                      <a:pt x="133350" y="9950"/>
                      <a:pt x="133350" y="22225"/>
                    </a:cubicBezTo>
                    <a:lnTo>
                      <a:pt x="133350" y="66675"/>
                    </a:lnTo>
                    <a:cubicBezTo>
                      <a:pt x="133350" y="78950"/>
                      <a:pt x="123400" y="88900"/>
                      <a:pt x="111125" y="88900"/>
                    </a:cubicBezTo>
                    <a:lnTo>
                      <a:pt x="22225" y="88900"/>
                    </a:lnTo>
                    <a:cubicBezTo>
                      <a:pt x="9950" y="88900"/>
                      <a:pt x="0" y="78950"/>
                      <a:pt x="0" y="66675"/>
                    </a:cubicBezTo>
                    <a:lnTo>
                      <a:pt x="0" y="22225"/>
                    </a:lnTo>
                  </a:path>
                </a:pathLst>
              </a:custGeom>
              <a:noFill/>
              <a:ln w="22225">
                <a:solidFill>
                  <a:srgbClr val="C83210"/>
                </a:solidFill>
              </a:ln>
            </p:spPr>
          </p:sp>
          <p:sp>
            <p:nvSpPr>
              <p:cNvPr id="157" name="Freeform 157"/>
              <p:cNvSpPr/>
              <p:nvPr/>
            </p:nvSpPr>
            <p:spPr>
              <a:xfrm>
                <a:off x="7048500" y="1031875"/>
                <a:ext cx="9525" cy="22225"/>
              </a:xfrm>
              <a:custGeom>
                <a:avLst/>
                <a:gdLst/>
                <a:ahLst/>
                <a:cxnLst/>
                <a:rect l="l" t="t" r="r" b="b"/>
                <a:pathLst>
                  <a:path w="9525" h="22225">
                    <a:moveTo>
                      <a:pt x="0" y="0"/>
                    </a:moveTo>
                    <a:lnTo>
                      <a:pt x="0" y="22225"/>
                    </a:lnTo>
                  </a:path>
                </a:pathLst>
              </a:custGeom>
              <a:noFill/>
              <a:ln w="22225">
                <a:solidFill>
                  <a:srgbClr val="C83210"/>
                </a:solidFill>
              </a:ln>
            </p:spPr>
          </p:sp>
          <p:sp>
            <p:nvSpPr>
              <p:cNvPr id="158" name="Freeform 158"/>
              <p:cNvSpPr/>
              <p:nvPr/>
            </p:nvSpPr>
            <p:spPr>
              <a:xfrm>
                <a:off x="7015163" y="1143000"/>
                <a:ext cx="9525" cy="100013"/>
              </a:xfrm>
              <a:custGeom>
                <a:avLst/>
                <a:gdLst/>
                <a:ahLst/>
                <a:cxnLst/>
                <a:rect l="l" t="t" r="r" b="b"/>
                <a:pathLst>
                  <a:path w="9525" h="100013">
                    <a:moveTo>
                      <a:pt x="0" y="0"/>
                    </a:moveTo>
                    <a:lnTo>
                      <a:pt x="0" y="100013"/>
                    </a:lnTo>
                  </a:path>
                </a:pathLst>
              </a:custGeom>
              <a:noFill/>
              <a:ln w="22225">
                <a:solidFill>
                  <a:srgbClr val="C83210"/>
                </a:solidFill>
              </a:ln>
            </p:spPr>
          </p:sp>
          <p:sp>
            <p:nvSpPr>
              <p:cNvPr id="159" name="Freeform 159"/>
              <p:cNvSpPr/>
              <p:nvPr/>
            </p:nvSpPr>
            <p:spPr>
              <a:xfrm>
                <a:off x="7081838" y="1143000"/>
                <a:ext cx="9525" cy="100013"/>
              </a:xfrm>
              <a:custGeom>
                <a:avLst/>
                <a:gdLst/>
                <a:ahLst/>
                <a:cxnLst/>
                <a:rect l="l" t="t" r="r" b="b"/>
                <a:pathLst>
                  <a:path w="9525" h="100013">
                    <a:moveTo>
                      <a:pt x="0" y="0"/>
                    </a:moveTo>
                    <a:lnTo>
                      <a:pt x="0" y="100013"/>
                    </a:lnTo>
                  </a:path>
                </a:pathLst>
              </a:custGeom>
              <a:noFill/>
              <a:ln w="22225">
                <a:solidFill>
                  <a:srgbClr val="C83210"/>
                </a:solidFill>
              </a:ln>
            </p:spPr>
          </p:sp>
          <p:sp>
            <p:nvSpPr>
              <p:cNvPr id="160" name="Freeform 160"/>
              <p:cNvSpPr/>
              <p:nvPr/>
            </p:nvSpPr>
            <p:spPr>
              <a:xfrm>
                <a:off x="6970713" y="1165225"/>
                <a:ext cx="44450" cy="22225"/>
              </a:xfrm>
              <a:custGeom>
                <a:avLst/>
                <a:gdLst/>
                <a:ahLst/>
                <a:cxnLst/>
                <a:rect l="l" t="t" r="r" b="b"/>
                <a:pathLst>
                  <a:path w="44450" h="22225">
                    <a:moveTo>
                      <a:pt x="0" y="22225"/>
                    </a:moveTo>
                    <a:lnTo>
                      <a:pt x="44450" y="0"/>
                    </a:lnTo>
                  </a:path>
                </a:pathLst>
              </a:custGeom>
              <a:noFill/>
              <a:ln w="22225">
                <a:solidFill>
                  <a:srgbClr val="C83210"/>
                </a:solidFill>
              </a:ln>
            </p:spPr>
          </p:sp>
          <p:sp>
            <p:nvSpPr>
              <p:cNvPr id="161" name="Freeform 161"/>
              <p:cNvSpPr/>
              <p:nvPr/>
            </p:nvSpPr>
            <p:spPr>
              <a:xfrm>
                <a:off x="7081838" y="1165225"/>
                <a:ext cx="44450" cy="22225"/>
              </a:xfrm>
              <a:custGeom>
                <a:avLst/>
                <a:gdLst/>
                <a:ahLst/>
                <a:cxnLst/>
                <a:rect l="l" t="t" r="r" b="b"/>
                <a:pathLst>
                  <a:path w="44450" h="22225">
                    <a:moveTo>
                      <a:pt x="0" y="0"/>
                    </a:moveTo>
                    <a:lnTo>
                      <a:pt x="44450" y="22225"/>
                    </a:lnTo>
                  </a:path>
                </a:pathLst>
              </a:custGeom>
              <a:noFill/>
              <a:ln w="22225">
                <a:solidFill>
                  <a:srgbClr val="C83210"/>
                </a:solidFill>
              </a:ln>
            </p:spPr>
          </p:sp>
          <p:sp>
            <p:nvSpPr>
              <p:cNvPr id="162" name="Freeform 162"/>
              <p:cNvSpPr/>
              <p:nvPr/>
            </p:nvSpPr>
            <p:spPr>
              <a:xfrm>
                <a:off x="7015163" y="1209676"/>
                <a:ext cx="66675" cy="9525"/>
              </a:xfrm>
              <a:custGeom>
                <a:avLst/>
                <a:gdLst/>
                <a:ahLst/>
                <a:cxnLst/>
                <a:rect l="l" t="t" r="r" b="b"/>
                <a:pathLst>
                  <a:path w="66675" h="9525">
                    <a:moveTo>
                      <a:pt x="0" y="0"/>
                    </a:moveTo>
                    <a:lnTo>
                      <a:pt x="66675" y="0"/>
                    </a:lnTo>
                  </a:path>
                </a:pathLst>
              </a:custGeom>
              <a:noFill/>
              <a:ln w="22225">
                <a:solidFill>
                  <a:srgbClr val="C83210"/>
                </a:solidFill>
              </a:ln>
            </p:spPr>
          </p:sp>
          <p:sp>
            <p:nvSpPr>
              <p:cNvPr id="163" name="Freeform 163"/>
              <p:cNvSpPr/>
              <p:nvPr/>
            </p:nvSpPr>
            <p:spPr>
              <a:xfrm>
                <a:off x="7026275" y="1098550"/>
                <a:ext cx="9525" cy="9525"/>
              </a:xfrm>
              <a:custGeom>
                <a:avLst/>
                <a:gdLst/>
                <a:ahLst/>
                <a:cxnLst/>
                <a:rect l="l" t="t" r="r" b="b"/>
                <a:pathLst>
                  <a:path w="9525" h="9525">
                    <a:moveTo>
                      <a:pt x="0" y="0"/>
                    </a:moveTo>
                    <a:lnTo>
                      <a:pt x="0" y="111"/>
                    </a:lnTo>
                  </a:path>
                </a:pathLst>
              </a:custGeom>
              <a:noFill/>
              <a:ln w="22225">
                <a:solidFill>
                  <a:srgbClr val="C83210"/>
                </a:solidFill>
              </a:ln>
            </p:spPr>
          </p:sp>
          <p:sp>
            <p:nvSpPr>
              <p:cNvPr id="164" name="Freeform 164"/>
              <p:cNvSpPr/>
              <p:nvPr/>
            </p:nvSpPr>
            <p:spPr>
              <a:xfrm>
                <a:off x="7070725" y="1098550"/>
                <a:ext cx="9525" cy="9525"/>
              </a:xfrm>
              <a:custGeom>
                <a:avLst/>
                <a:gdLst/>
                <a:ahLst/>
                <a:cxnLst/>
                <a:rect l="l" t="t" r="r" b="b"/>
                <a:pathLst>
                  <a:path w="9525" h="9525">
                    <a:moveTo>
                      <a:pt x="0" y="0"/>
                    </a:moveTo>
                    <a:lnTo>
                      <a:pt x="0" y="111"/>
                    </a:lnTo>
                  </a:path>
                </a:pathLst>
              </a:custGeom>
              <a:noFill/>
              <a:ln w="22225">
                <a:solidFill>
                  <a:srgbClr val="C83210"/>
                </a:solidFill>
              </a:ln>
            </p:spPr>
          </p:sp>
        </p:grpSp>
        <p:sp>
          <p:nvSpPr>
            <p:cNvPr id="166" name="TextBox 166"/>
            <p:cNvSpPr txBox="1"/>
            <p:nvPr/>
          </p:nvSpPr>
          <p:spPr>
            <a:xfrm>
              <a:off x="7272338" y="1057989"/>
              <a:ext cx="753974"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系统自动化运营</a:t>
              </a:r>
            </a:p>
          </p:txBody>
        </p:sp>
        <p:sp>
          <p:nvSpPr>
            <p:cNvPr id="167" name="TextBox 167"/>
            <p:cNvSpPr txBox="1"/>
            <p:nvPr/>
          </p:nvSpPr>
          <p:spPr>
            <a:xfrm>
              <a:off x="7272338" y="1230630"/>
              <a:ext cx="736473"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处理长尾客户的批量</a:t>
              </a:r>
            </a:p>
          </p:txBody>
        </p:sp>
        <p:sp>
          <p:nvSpPr>
            <p:cNvPr id="168" name="TextBox 168"/>
            <p:cNvSpPr txBox="1"/>
            <p:nvPr/>
          </p:nvSpPr>
          <p:spPr>
            <a:xfrm>
              <a:off x="7272338" y="1344930"/>
              <a:ext cx="574929"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触达与持续培育</a:t>
              </a:r>
            </a:p>
          </p:txBody>
        </p:sp>
        <p:grpSp>
          <p:nvGrpSpPr>
            <p:cNvPr id="171" name="Group 171"/>
            <p:cNvGrpSpPr/>
            <p:nvPr/>
          </p:nvGrpSpPr>
          <p:grpSpPr>
            <a:xfrm>
              <a:off x="6948488" y="1576388"/>
              <a:ext cx="85725" cy="85725"/>
              <a:chOff x="6948488" y="1576388"/>
              <a:chExt cx="85725" cy="85725"/>
            </a:xfrm>
          </p:grpSpPr>
          <p:sp>
            <p:nvSpPr>
              <p:cNvPr id="169" name="Freeform 169"/>
              <p:cNvSpPr/>
              <p:nvPr/>
            </p:nvSpPr>
            <p:spPr>
              <a:xfrm>
                <a:off x="6948488" y="15763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170" name="Freeform 170"/>
              <p:cNvSpPr/>
              <p:nvPr/>
            </p:nvSpPr>
            <p:spPr>
              <a:xfrm>
                <a:off x="6977062" y="160972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172" name="TextBox 172"/>
            <p:cNvSpPr txBox="1"/>
            <p:nvPr/>
          </p:nvSpPr>
          <p:spPr>
            <a:xfrm>
              <a:off x="7100888" y="1588532"/>
              <a:ext cx="78493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基于规则的自动触达</a:t>
              </a:r>
            </a:p>
          </p:txBody>
        </p:sp>
        <p:grpSp>
          <p:nvGrpSpPr>
            <p:cNvPr id="175" name="Group 175"/>
            <p:cNvGrpSpPr/>
            <p:nvPr/>
          </p:nvGrpSpPr>
          <p:grpSpPr>
            <a:xfrm>
              <a:off x="6948488" y="1785938"/>
              <a:ext cx="85725" cy="85725"/>
              <a:chOff x="6948488" y="1785938"/>
              <a:chExt cx="85725" cy="85725"/>
            </a:xfrm>
          </p:grpSpPr>
          <p:sp>
            <p:nvSpPr>
              <p:cNvPr id="173" name="Freeform 173"/>
              <p:cNvSpPr/>
              <p:nvPr/>
            </p:nvSpPr>
            <p:spPr>
              <a:xfrm>
                <a:off x="6948488" y="17859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174" name="Freeform 174"/>
              <p:cNvSpPr/>
              <p:nvPr/>
            </p:nvSpPr>
            <p:spPr>
              <a:xfrm>
                <a:off x="6977062" y="181927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176" name="TextBox 176"/>
            <p:cNvSpPr txBox="1"/>
            <p:nvPr/>
          </p:nvSpPr>
          <p:spPr>
            <a:xfrm>
              <a:off x="7100888" y="1798082"/>
              <a:ext cx="78493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标准化内容精准推送</a:t>
              </a:r>
            </a:p>
          </p:txBody>
        </p:sp>
        <p:grpSp>
          <p:nvGrpSpPr>
            <p:cNvPr id="179" name="Group 179"/>
            <p:cNvGrpSpPr/>
            <p:nvPr/>
          </p:nvGrpSpPr>
          <p:grpSpPr>
            <a:xfrm>
              <a:off x="6948488" y="1995488"/>
              <a:ext cx="85725" cy="85725"/>
              <a:chOff x="6948488" y="1995488"/>
              <a:chExt cx="85725" cy="85725"/>
            </a:xfrm>
          </p:grpSpPr>
          <p:sp>
            <p:nvSpPr>
              <p:cNvPr id="177" name="Freeform 177"/>
              <p:cNvSpPr/>
              <p:nvPr/>
            </p:nvSpPr>
            <p:spPr>
              <a:xfrm>
                <a:off x="6948488" y="19954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178" name="Freeform 178"/>
              <p:cNvSpPr/>
              <p:nvPr/>
            </p:nvSpPr>
            <p:spPr>
              <a:xfrm>
                <a:off x="6977062" y="202882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180" name="TextBox 180"/>
            <p:cNvSpPr txBox="1"/>
            <p:nvPr/>
          </p:nvSpPr>
          <p:spPr>
            <a:xfrm>
              <a:off x="7100888" y="2007632"/>
              <a:ext cx="78493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低意向客户持续培育</a:t>
              </a:r>
            </a:p>
          </p:txBody>
        </p:sp>
        <p:grpSp>
          <p:nvGrpSpPr>
            <p:cNvPr id="183" name="Group 183"/>
            <p:cNvGrpSpPr/>
            <p:nvPr/>
          </p:nvGrpSpPr>
          <p:grpSpPr>
            <a:xfrm>
              <a:off x="6948488" y="2205038"/>
              <a:ext cx="85725" cy="85725"/>
              <a:chOff x="6948488" y="2205038"/>
              <a:chExt cx="85725" cy="85725"/>
            </a:xfrm>
          </p:grpSpPr>
          <p:sp>
            <p:nvSpPr>
              <p:cNvPr id="181" name="Freeform 181"/>
              <p:cNvSpPr/>
              <p:nvPr/>
            </p:nvSpPr>
            <p:spPr>
              <a:xfrm>
                <a:off x="6948488" y="2205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182" name="Freeform 182"/>
              <p:cNvSpPr/>
              <p:nvPr/>
            </p:nvSpPr>
            <p:spPr>
              <a:xfrm>
                <a:off x="6977062" y="223837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184" name="TextBox 184"/>
            <p:cNvSpPr txBox="1"/>
            <p:nvPr/>
          </p:nvSpPr>
          <p:spPr>
            <a:xfrm>
              <a:off x="7100888" y="2217182"/>
              <a:ext cx="78493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数据监测与效果优化</a:t>
              </a:r>
            </a:p>
          </p:txBody>
        </p:sp>
        <p:grpSp>
          <p:nvGrpSpPr>
            <p:cNvPr id="187" name="Group 187"/>
            <p:cNvGrpSpPr/>
            <p:nvPr/>
          </p:nvGrpSpPr>
          <p:grpSpPr>
            <a:xfrm>
              <a:off x="6948488" y="2414588"/>
              <a:ext cx="85725" cy="85725"/>
              <a:chOff x="6948488" y="2414588"/>
              <a:chExt cx="85725" cy="85725"/>
            </a:xfrm>
          </p:grpSpPr>
          <p:sp>
            <p:nvSpPr>
              <p:cNvPr id="185" name="Freeform 185"/>
              <p:cNvSpPr/>
              <p:nvPr/>
            </p:nvSpPr>
            <p:spPr>
              <a:xfrm>
                <a:off x="6948488" y="2414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186" name="Freeform 186"/>
              <p:cNvSpPr/>
              <p:nvPr/>
            </p:nvSpPr>
            <p:spPr>
              <a:xfrm>
                <a:off x="6977062" y="244792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188" name="TextBox 188"/>
            <p:cNvSpPr txBox="1"/>
            <p:nvPr/>
          </p:nvSpPr>
          <p:spPr>
            <a:xfrm>
              <a:off x="7100888" y="2426732"/>
              <a:ext cx="69877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释放一线人力精力</a:t>
              </a:r>
            </a:p>
          </p:txBody>
        </p:sp>
        <p:grpSp>
          <p:nvGrpSpPr>
            <p:cNvPr id="193" name="Group 193"/>
            <p:cNvGrpSpPr/>
            <p:nvPr/>
          </p:nvGrpSpPr>
          <p:grpSpPr>
            <a:xfrm>
              <a:off x="9329738" y="1606550"/>
              <a:ext cx="200026" cy="177800"/>
              <a:chOff x="9329738" y="1606550"/>
              <a:chExt cx="200026" cy="177800"/>
            </a:xfrm>
          </p:grpSpPr>
          <p:sp>
            <p:nvSpPr>
              <p:cNvPr id="189" name="Freeform 189"/>
              <p:cNvSpPr/>
              <p:nvPr/>
            </p:nvSpPr>
            <p:spPr>
              <a:xfrm>
                <a:off x="9329738" y="1639888"/>
                <a:ext cx="200026" cy="9525"/>
              </a:xfrm>
              <a:custGeom>
                <a:avLst/>
                <a:gdLst/>
                <a:ahLst/>
                <a:cxnLst/>
                <a:rect l="l" t="t" r="r" b="b"/>
                <a:pathLst>
                  <a:path w="200026" h="9525">
                    <a:moveTo>
                      <a:pt x="200026" y="0"/>
                    </a:moveTo>
                    <a:lnTo>
                      <a:pt x="0" y="0"/>
                    </a:lnTo>
                  </a:path>
                </a:pathLst>
              </a:custGeom>
              <a:noFill/>
              <a:ln w="22225">
                <a:solidFill>
                  <a:srgbClr val="C83210"/>
                </a:solidFill>
              </a:ln>
            </p:spPr>
          </p:sp>
          <p:sp>
            <p:nvSpPr>
              <p:cNvPr id="190" name="Freeform 190"/>
              <p:cNvSpPr/>
              <p:nvPr/>
            </p:nvSpPr>
            <p:spPr>
              <a:xfrm>
                <a:off x="9496426" y="1606550"/>
                <a:ext cx="33338" cy="66675"/>
              </a:xfrm>
              <a:custGeom>
                <a:avLst/>
                <a:gdLst/>
                <a:ahLst/>
                <a:cxnLst/>
                <a:rect l="l" t="t" r="r" b="b"/>
                <a:pathLst>
                  <a:path w="33338" h="66675">
                    <a:moveTo>
                      <a:pt x="0" y="66675"/>
                    </a:moveTo>
                    <a:lnTo>
                      <a:pt x="33338" y="33338"/>
                    </a:lnTo>
                    <a:lnTo>
                      <a:pt x="0" y="0"/>
                    </a:lnTo>
                  </a:path>
                </a:pathLst>
              </a:custGeom>
              <a:noFill/>
              <a:ln w="22225">
                <a:solidFill>
                  <a:srgbClr val="C83210"/>
                </a:solidFill>
              </a:ln>
            </p:spPr>
          </p:sp>
          <p:sp>
            <p:nvSpPr>
              <p:cNvPr id="191" name="Freeform 191"/>
              <p:cNvSpPr/>
              <p:nvPr/>
            </p:nvSpPr>
            <p:spPr>
              <a:xfrm>
                <a:off x="9329738" y="1717675"/>
                <a:ext cx="33338" cy="66675"/>
              </a:xfrm>
              <a:custGeom>
                <a:avLst/>
                <a:gdLst/>
                <a:ahLst/>
                <a:cxnLst/>
                <a:rect l="l" t="t" r="r" b="b"/>
                <a:pathLst>
                  <a:path w="33338" h="66675">
                    <a:moveTo>
                      <a:pt x="33338" y="66675"/>
                    </a:moveTo>
                    <a:lnTo>
                      <a:pt x="0" y="33338"/>
                    </a:lnTo>
                    <a:lnTo>
                      <a:pt x="33338" y="0"/>
                    </a:lnTo>
                  </a:path>
                </a:pathLst>
              </a:custGeom>
              <a:noFill/>
              <a:ln w="22225">
                <a:solidFill>
                  <a:srgbClr val="C83210"/>
                </a:solidFill>
              </a:ln>
            </p:spPr>
          </p:sp>
          <p:sp>
            <p:nvSpPr>
              <p:cNvPr id="192" name="Freeform 192"/>
              <p:cNvSpPr/>
              <p:nvPr/>
            </p:nvSpPr>
            <p:spPr>
              <a:xfrm>
                <a:off x="9329738" y="1751013"/>
                <a:ext cx="200026" cy="9525"/>
              </a:xfrm>
              <a:custGeom>
                <a:avLst/>
                <a:gdLst/>
                <a:ahLst/>
                <a:cxnLst/>
                <a:rect l="l" t="t" r="r" b="b"/>
                <a:pathLst>
                  <a:path w="200026" h="9525">
                    <a:moveTo>
                      <a:pt x="0" y="0"/>
                    </a:moveTo>
                    <a:lnTo>
                      <a:pt x="200026" y="0"/>
                    </a:lnTo>
                  </a:path>
                </a:pathLst>
              </a:custGeom>
              <a:noFill/>
              <a:ln w="22225">
                <a:solidFill>
                  <a:srgbClr val="C83210"/>
                </a:solidFill>
              </a:ln>
            </p:spPr>
          </p:sp>
        </p:grpSp>
        <p:sp>
          <p:nvSpPr>
            <p:cNvPr id="194" name="TextBox 194"/>
            <p:cNvSpPr txBox="1"/>
            <p:nvPr/>
          </p:nvSpPr>
          <p:spPr>
            <a:xfrm>
              <a:off x="9241904" y="1927384"/>
              <a:ext cx="375691"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人机协同</a:t>
              </a:r>
            </a:p>
          </p:txBody>
        </p:sp>
        <p:sp>
          <p:nvSpPr>
            <p:cNvPr id="195" name="TextBox 195"/>
            <p:cNvSpPr txBox="1"/>
            <p:nvPr/>
          </p:nvSpPr>
          <p:spPr>
            <a:xfrm>
              <a:off x="9241904" y="2060734"/>
              <a:ext cx="375691"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优势互补</a:t>
              </a:r>
            </a:p>
          </p:txBody>
        </p:sp>
        <p:sp>
          <p:nvSpPr>
            <p:cNvPr id="196" name="Rectangle 196"/>
            <p:cNvSpPr/>
            <p:nvPr/>
          </p:nvSpPr>
          <p:spPr>
            <a:xfrm>
              <a:off x="9667875" y="914400"/>
              <a:ext cx="2390775" cy="1866900"/>
            </a:xfrm>
            <a:prstGeom prst="roundRect">
              <a:avLst>
                <a:gd name="adj" fmla="val 3061"/>
              </a:avLst>
            </a:prstGeom>
            <a:solidFill>
              <a:srgbClr val="FDEFF1"/>
            </a:solidFill>
            <a:ln>
              <a:noFill/>
            </a:ln>
          </p:spPr>
        </p:sp>
        <p:grpSp>
          <p:nvGrpSpPr>
            <p:cNvPr id="199" name="Group 199"/>
            <p:cNvGrpSpPr/>
            <p:nvPr/>
          </p:nvGrpSpPr>
          <p:grpSpPr>
            <a:xfrm>
              <a:off x="9848850" y="1042988"/>
              <a:ext cx="133350" cy="200025"/>
              <a:chOff x="9848850" y="1042988"/>
              <a:chExt cx="133350" cy="200025"/>
            </a:xfrm>
          </p:grpSpPr>
          <p:sp>
            <p:nvSpPr>
              <p:cNvPr id="197" name="Freeform 197"/>
              <p:cNvSpPr/>
              <p:nvPr/>
            </p:nvSpPr>
            <p:spPr>
              <a:xfrm>
                <a:off x="9871075" y="10429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C83210"/>
                </a:solidFill>
              </a:ln>
            </p:spPr>
          </p:sp>
          <p:sp>
            <p:nvSpPr>
              <p:cNvPr id="198" name="Freeform 198"/>
              <p:cNvSpPr/>
              <p:nvPr/>
            </p:nvSpPr>
            <p:spPr>
              <a:xfrm>
                <a:off x="9848850" y="11763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C83210"/>
                </a:solidFill>
              </a:ln>
            </p:spPr>
          </p:sp>
        </p:grpSp>
        <p:sp>
          <p:nvSpPr>
            <p:cNvPr id="200" name="TextBox 200"/>
            <p:cNvSpPr txBox="1"/>
            <p:nvPr/>
          </p:nvSpPr>
          <p:spPr>
            <a:xfrm>
              <a:off x="10139362" y="1057989"/>
              <a:ext cx="860323" cy="154781"/>
            </a:xfrm>
            <a:prstGeom prst="rect">
              <a:avLst/>
            </a:prstGeom>
            <a:noFill/>
            <a:ln>
              <a:noFill/>
            </a:ln>
          </p:spPr>
          <p:txBody>
            <a:bodyPr wrap="none" lIns="0" tIns="0" rIns="0" bIns="0" anchor="t" anchorCtr="0">
              <a:spAutoFit/>
            </a:bodyPr>
            <a:lstStyle/>
            <a:p>
              <a:pPr algn="l"/>
              <a:r>
                <a:rPr lang="zh-CN" sz="790" b="1" dirty="0">
                  <a:solidFill>
                    <a:srgbClr val="C83210"/>
                  </a:solidFill>
                  <a:latin typeface="+mn-lt"/>
                  <a:ea typeface="+mn-ea"/>
                  <a:cs typeface="+mn-cs"/>
                </a:rPr>
                <a:t>网点员工重点跟进</a:t>
              </a:r>
            </a:p>
          </p:txBody>
        </p:sp>
        <p:sp>
          <p:nvSpPr>
            <p:cNvPr id="201" name="TextBox 201"/>
            <p:cNvSpPr txBox="1"/>
            <p:nvPr/>
          </p:nvSpPr>
          <p:spPr>
            <a:xfrm>
              <a:off x="10139362" y="1230630"/>
              <a:ext cx="817245"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聚焦高意向客户与复杂</a:t>
              </a:r>
            </a:p>
          </p:txBody>
        </p:sp>
        <p:sp>
          <p:nvSpPr>
            <p:cNvPr id="202" name="TextBox 202"/>
            <p:cNvSpPr txBox="1"/>
            <p:nvPr/>
          </p:nvSpPr>
          <p:spPr>
            <a:xfrm>
              <a:off x="10139362" y="1344930"/>
              <a:ext cx="574929" cy="119062"/>
            </a:xfrm>
            <a:prstGeom prst="rect">
              <a:avLst/>
            </a:prstGeom>
            <a:noFill/>
            <a:ln>
              <a:noFill/>
            </a:ln>
          </p:spPr>
          <p:txBody>
            <a:bodyPr wrap="none" lIns="0" tIns="0" rIns="0" bIns="0" anchor="t" anchorCtr="0">
              <a:spAutoFit/>
            </a:bodyPr>
            <a:lstStyle/>
            <a:p>
              <a:pPr algn="l"/>
              <a:r>
                <a:rPr lang="zh-CN" sz="600" dirty="0">
                  <a:solidFill>
                    <a:srgbClr val="808080"/>
                  </a:solidFill>
                  <a:latin typeface="+mn-lt"/>
                  <a:ea typeface="+mn-ea"/>
                  <a:cs typeface="+mn-cs"/>
                </a:rPr>
                <a:t>需求的深度服务</a:t>
              </a:r>
            </a:p>
          </p:txBody>
        </p:sp>
        <p:grpSp>
          <p:nvGrpSpPr>
            <p:cNvPr id="205" name="Group 205"/>
            <p:cNvGrpSpPr/>
            <p:nvPr/>
          </p:nvGrpSpPr>
          <p:grpSpPr>
            <a:xfrm>
              <a:off x="9815512" y="1576388"/>
              <a:ext cx="85725" cy="85725"/>
              <a:chOff x="9815512" y="1576388"/>
              <a:chExt cx="85725" cy="85725"/>
            </a:xfrm>
          </p:grpSpPr>
          <p:sp>
            <p:nvSpPr>
              <p:cNvPr id="203" name="Freeform 203"/>
              <p:cNvSpPr/>
              <p:nvPr/>
            </p:nvSpPr>
            <p:spPr>
              <a:xfrm>
                <a:off x="9815512" y="15763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204" name="Freeform 204"/>
              <p:cNvSpPr/>
              <p:nvPr/>
            </p:nvSpPr>
            <p:spPr>
              <a:xfrm>
                <a:off x="9844088" y="160972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206" name="TextBox 206"/>
            <p:cNvSpPr txBox="1"/>
            <p:nvPr/>
          </p:nvSpPr>
          <p:spPr>
            <a:xfrm>
              <a:off x="9967912" y="1588532"/>
              <a:ext cx="78493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高意向客户及时跟进</a:t>
              </a:r>
            </a:p>
          </p:txBody>
        </p:sp>
        <p:grpSp>
          <p:nvGrpSpPr>
            <p:cNvPr id="209" name="Group 209"/>
            <p:cNvGrpSpPr/>
            <p:nvPr/>
          </p:nvGrpSpPr>
          <p:grpSpPr>
            <a:xfrm>
              <a:off x="9815512" y="1785938"/>
              <a:ext cx="85725" cy="85725"/>
              <a:chOff x="9815512" y="1785938"/>
              <a:chExt cx="85725" cy="85725"/>
            </a:xfrm>
          </p:grpSpPr>
          <p:sp>
            <p:nvSpPr>
              <p:cNvPr id="207" name="Freeform 207"/>
              <p:cNvSpPr/>
              <p:nvPr/>
            </p:nvSpPr>
            <p:spPr>
              <a:xfrm>
                <a:off x="9815512" y="17859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208" name="Freeform 208"/>
              <p:cNvSpPr/>
              <p:nvPr/>
            </p:nvSpPr>
            <p:spPr>
              <a:xfrm>
                <a:off x="9844088" y="181927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210" name="TextBox 210"/>
            <p:cNvSpPr txBox="1"/>
            <p:nvPr/>
          </p:nvSpPr>
          <p:spPr>
            <a:xfrm>
              <a:off x="9967912" y="1798082"/>
              <a:ext cx="78493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复杂需求一对一沟通</a:t>
              </a:r>
            </a:p>
          </p:txBody>
        </p:sp>
        <p:grpSp>
          <p:nvGrpSpPr>
            <p:cNvPr id="213" name="Group 213"/>
            <p:cNvGrpSpPr/>
            <p:nvPr/>
          </p:nvGrpSpPr>
          <p:grpSpPr>
            <a:xfrm>
              <a:off x="9815512" y="1995488"/>
              <a:ext cx="85725" cy="85725"/>
              <a:chOff x="9815512" y="1995488"/>
              <a:chExt cx="85725" cy="85725"/>
            </a:xfrm>
          </p:grpSpPr>
          <p:sp>
            <p:nvSpPr>
              <p:cNvPr id="211" name="Freeform 211"/>
              <p:cNvSpPr/>
              <p:nvPr/>
            </p:nvSpPr>
            <p:spPr>
              <a:xfrm>
                <a:off x="9815512" y="19954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212" name="Freeform 212"/>
              <p:cNvSpPr/>
              <p:nvPr/>
            </p:nvSpPr>
            <p:spPr>
              <a:xfrm>
                <a:off x="9844088" y="202882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214" name="TextBox 214"/>
            <p:cNvSpPr txBox="1"/>
            <p:nvPr/>
          </p:nvSpPr>
          <p:spPr>
            <a:xfrm>
              <a:off x="9967912" y="2007632"/>
              <a:ext cx="78493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方案定制与面谈沟通</a:t>
              </a:r>
            </a:p>
          </p:txBody>
        </p:sp>
        <p:grpSp>
          <p:nvGrpSpPr>
            <p:cNvPr id="217" name="Group 217"/>
            <p:cNvGrpSpPr/>
            <p:nvPr/>
          </p:nvGrpSpPr>
          <p:grpSpPr>
            <a:xfrm>
              <a:off x="9815512" y="2205038"/>
              <a:ext cx="85725" cy="85725"/>
              <a:chOff x="9815512" y="2205038"/>
              <a:chExt cx="85725" cy="85725"/>
            </a:xfrm>
          </p:grpSpPr>
          <p:sp>
            <p:nvSpPr>
              <p:cNvPr id="215" name="Freeform 215"/>
              <p:cNvSpPr/>
              <p:nvPr/>
            </p:nvSpPr>
            <p:spPr>
              <a:xfrm>
                <a:off x="9815512" y="2205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216" name="Freeform 216"/>
              <p:cNvSpPr/>
              <p:nvPr/>
            </p:nvSpPr>
            <p:spPr>
              <a:xfrm>
                <a:off x="9844088" y="223837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218" name="TextBox 218"/>
            <p:cNvSpPr txBox="1"/>
            <p:nvPr/>
          </p:nvSpPr>
          <p:spPr>
            <a:xfrm>
              <a:off x="9967912" y="2217182"/>
              <a:ext cx="69877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关键时点主动关怀</a:t>
              </a:r>
            </a:p>
          </p:txBody>
        </p:sp>
        <p:grpSp>
          <p:nvGrpSpPr>
            <p:cNvPr id="221" name="Group 221"/>
            <p:cNvGrpSpPr/>
            <p:nvPr/>
          </p:nvGrpSpPr>
          <p:grpSpPr>
            <a:xfrm>
              <a:off x="9815512" y="2414588"/>
              <a:ext cx="85725" cy="85725"/>
              <a:chOff x="9815512" y="2414588"/>
              <a:chExt cx="85725" cy="85725"/>
            </a:xfrm>
          </p:grpSpPr>
          <p:sp>
            <p:nvSpPr>
              <p:cNvPr id="219" name="Freeform 219"/>
              <p:cNvSpPr/>
              <p:nvPr/>
            </p:nvSpPr>
            <p:spPr>
              <a:xfrm>
                <a:off x="9815512" y="2414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220" name="Freeform 220"/>
              <p:cNvSpPr/>
              <p:nvPr/>
            </p:nvSpPr>
            <p:spPr>
              <a:xfrm>
                <a:off x="9844088" y="2447925"/>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222" name="TextBox 222"/>
            <p:cNvSpPr txBox="1"/>
            <p:nvPr/>
          </p:nvSpPr>
          <p:spPr>
            <a:xfrm>
              <a:off x="9967912" y="2426732"/>
              <a:ext cx="78493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促成转化与长期维护</a:t>
              </a:r>
            </a:p>
          </p:txBody>
        </p:sp>
      </p:grpSp>
      <p:grpSp>
        <p:nvGrpSpPr>
          <p:cNvPr id="332" name="rules-table"/>
          <p:cNvGrpSpPr/>
          <p:nvPr/>
        </p:nvGrpSpPr>
        <p:grpSpPr>
          <a:xfrm>
            <a:off x="133350" y="2933700"/>
            <a:ext cx="6534150" cy="3762375"/>
            <a:chOff x="133350" y="2933700"/>
            <a:chExt cx="6534150" cy="3762375"/>
          </a:xfrm>
        </p:grpSpPr>
        <p:sp>
          <p:nvSpPr>
            <p:cNvPr id="224" name="Rectangle 224"/>
            <p:cNvSpPr/>
            <p:nvPr/>
          </p:nvSpPr>
          <p:spPr>
            <a:xfrm>
              <a:off x="171450" y="2933700"/>
              <a:ext cx="38100" cy="152400"/>
            </a:xfrm>
            <a:prstGeom prst="rect">
              <a:avLst/>
            </a:prstGeom>
            <a:solidFill>
              <a:srgbClr val="C83210"/>
            </a:solidFill>
            <a:ln>
              <a:noFill/>
            </a:ln>
          </p:spPr>
        </p:sp>
        <p:sp>
          <p:nvSpPr>
            <p:cNvPr id="225" name="TextBox 225"/>
            <p:cNvSpPr txBox="1"/>
            <p:nvPr/>
          </p:nvSpPr>
          <p:spPr>
            <a:xfrm>
              <a:off x="280797" y="2952274"/>
              <a:ext cx="227312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 xml:space="preserve">12类客户触发规则与自动化运营策略　</a:t>
              </a:r>
            </a:p>
          </p:txBody>
        </p:sp>
        <p:sp>
          <p:nvSpPr>
            <p:cNvPr id="226" name="Rectangle 226"/>
            <p:cNvSpPr/>
            <p:nvPr/>
          </p:nvSpPr>
          <p:spPr>
            <a:xfrm>
              <a:off x="133350" y="3105150"/>
              <a:ext cx="6534150" cy="209550"/>
            </a:xfrm>
            <a:prstGeom prst="rect">
              <a:avLst/>
            </a:prstGeom>
            <a:solidFill>
              <a:srgbClr val="C83210"/>
            </a:solidFill>
            <a:ln>
              <a:noFill/>
            </a:ln>
          </p:spPr>
        </p:sp>
        <p:sp>
          <p:nvSpPr>
            <p:cNvPr id="227" name="TextBox 227"/>
            <p:cNvSpPr txBox="1"/>
            <p:nvPr/>
          </p:nvSpPr>
          <p:spPr>
            <a:xfrm>
              <a:off x="160871" y="3175159"/>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序号</a:t>
              </a:r>
            </a:p>
          </p:txBody>
        </p:sp>
        <p:sp>
          <p:nvSpPr>
            <p:cNvPr id="228" name="TextBox 228"/>
            <p:cNvSpPr txBox="1"/>
            <p:nvPr/>
          </p:nvSpPr>
          <p:spPr>
            <a:xfrm>
              <a:off x="526529" y="31751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触发规则</a:t>
              </a:r>
            </a:p>
          </p:txBody>
        </p:sp>
        <p:sp>
          <p:nvSpPr>
            <p:cNvPr id="229" name="TextBox 229"/>
            <p:cNvSpPr txBox="1"/>
            <p:nvPr/>
          </p:nvSpPr>
          <p:spPr>
            <a:xfrm>
              <a:off x="1435113" y="3175159"/>
              <a:ext cx="558775"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触发条件示例</a:t>
              </a:r>
            </a:p>
          </p:txBody>
        </p:sp>
        <p:sp>
          <p:nvSpPr>
            <p:cNvPr id="230" name="TextBox 230"/>
            <p:cNvSpPr txBox="1"/>
            <p:nvPr/>
          </p:nvSpPr>
          <p:spPr>
            <a:xfrm>
              <a:off x="2720988" y="3175159"/>
              <a:ext cx="558775"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推送内容示例</a:t>
              </a:r>
            </a:p>
          </p:txBody>
        </p:sp>
        <p:sp>
          <p:nvSpPr>
            <p:cNvPr id="231" name="TextBox 231"/>
            <p:cNvSpPr txBox="1"/>
            <p:nvPr/>
          </p:nvSpPr>
          <p:spPr>
            <a:xfrm>
              <a:off x="4005008" y="3175159"/>
              <a:ext cx="46723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自动化动作</a:t>
              </a:r>
            </a:p>
          </p:txBody>
        </p:sp>
        <p:sp>
          <p:nvSpPr>
            <p:cNvPr id="232" name="TextBox 232"/>
            <p:cNvSpPr txBox="1"/>
            <p:nvPr/>
          </p:nvSpPr>
          <p:spPr>
            <a:xfrm>
              <a:off x="5289029" y="317515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员工任务</a:t>
              </a:r>
            </a:p>
          </p:txBody>
        </p:sp>
        <p:sp>
          <p:nvSpPr>
            <p:cNvPr id="233" name="TextBox 233"/>
            <p:cNvSpPr txBox="1"/>
            <p:nvPr/>
          </p:nvSpPr>
          <p:spPr>
            <a:xfrm>
              <a:off x="6293201" y="3175159"/>
              <a:ext cx="177098"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SLA</a:t>
              </a:r>
            </a:p>
          </p:txBody>
        </p:sp>
        <p:sp>
          <p:nvSpPr>
            <p:cNvPr id="234" name="Rectangle 234"/>
            <p:cNvSpPr/>
            <p:nvPr/>
          </p:nvSpPr>
          <p:spPr>
            <a:xfrm>
              <a:off x="133350" y="3595688"/>
              <a:ext cx="6534150" cy="280988"/>
            </a:xfrm>
            <a:prstGeom prst="rect">
              <a:avLst/>
            </a:prstGeom>
            <a:solidFill>
              <a:srgbClr val="FDEFF1"/>
            </a:solidFill>
            <a:ln>
              <a:noFill/>
            </a:ln>
          </p:spPr>
        </p:sp>
        <p:sp>
          <p:nvSpPr>
            <p:cNvPr id="235" name="Rectangle 235"/>
            <p:cNvSpPr/>
            <p:nvPr/>
          </p:nvSpPr>
          <p:spPr>
            <a:xfrm>
              <a:off x="133350" y="4157662"/>
              <a:ext cx="6534150" cy="280988"/>
            </a:xfrm>
            <a:prstGeom prst="rect">
              <a:avLst/>
            </a:prstGeom>
            <a:solidFill>
              <a:srgbClr val="FDEFF1"/>
            </a:solidFill>
            <a:ln>
              <a:noFill/>
            </a:ln>
          </p:spPr>
        </p:sp>
        <p:sp>
          <p:nvSpPr>
            <p:cNvPr id="236" name="Rectangle 236"/>
            <p:cNvSpPr/>
            <p:nvPr/>
          </p:nvSpPr>
          <p:spPr>
            <a:xfrm>
              <a:off x="133350" y="4719638"/>
              <a:ext cx="6534150" cy="280988"/>
            </a:xfrm>
            <a:prstGeom prst="rect">
              <a:avLst/>
            </a:prstGeom>
            <a:solidFill>
              <a:srgbClr val="FDEFF1"/>
            </a:solidFill>
            <a:ln>
              <a:noFill/>
            </a:ln>
          </p:spPr>
        </p:sp>
        <p:sp>
          <p:nvSpPr>
            <p:cNvPr id="237" name="Rectangle 237"/>
            <p:cNvSpPr/>
            <p:nvPr/>
          </p:nvSpPr>
          <p:spPr>
            <a:xfrm>
              <a:off x="133350" y="5281612"/>
              <a:ext cx="6534150" cy="280988"/>
            </a:xfrm>
            <a:prstGeom prst="rect">
              <a:avLst/>
            </a:prstGeom>
            <a:solidFill>
              <a:srgbClr val="FDEFF1"/>
            </a:solidFill>
            <a:ln>
              <a:noFill/>
            </a:ln>
          </p:spPr>
        </p:sp>
        <p:sp>
          <p:nvSpPr>
            <p:cNvPr id="238" name="Rectangle 238"/>
            <p:cNvSpPr/>
            <p:nvPr/>
          </p:nvSpPr>
          <p:spPr>
            <a:xfrm>
              <a:off x="133350" y="5843588"/>
              <a:ext cx="6534150" cy="280988"/>
            </a:xfrm>
            <a:prstGeom prst="rect">
              <a:avLst/>
            </a:prstGeom>
            <a:solidFill>
              <a:srgbClr val="FDEFF1"/>
            </a:solidFill>
            <a:ln>
              <a:noFill/>
            </a:ln>
          </p:spPr>
        </p:sp>
        <p:sp>
          <p:nvSpPr>
            <p:cNvPr id="239" name="Rectangle 239"/>
            <p:cNvSpPr/>
            <p:nvPr/>
          </p:nvSpPr>
          <p:spPr>
            <a:xfrm>
              <a:off x="133350" y="6405562"/>
              <a:ext cx="6534150" cy="280988"/>
            </a:xfrm>
            <a:prstGeom prst="rect">
              <a:avLst/>
            </a:prstGeom>
            <a:solidFill>
              <a:srgbClr val="FDEFF1"/>
            </a:solidFill>
            <a:ln>
              <a:noFill/>
            </a:ln>
          </p:spPr>
        </p:sp>
        <p:sp>
          <p:nvSpPr>
            <p:cNvPr id="240" name="TextBox 240"/>
            <p:cNvSpPr txBox="1"/>
            <p:nvPr/>
          </p:nvSpPr>
          <p:spPr>
            <a:xfrm>
              <a:off x="228452" y="3426857"/>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1</a:t>
              </a:r>
            </a:p>
          </p:txBody>
        </p:sp>
        <p:sp>
          <p:nvSpPr>
            <p:cNvPr id="241" name="TextBox 241"/>
            <p:cNvSpPr txBox="1"/>
            <p:nvPr/>
          </p:nvSpPr>
          <p:spPr>
            <a:xfrm>
              <a:off x="414338" y="3426857"/>
              <a:ext cx="440309"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新增未认证</a:t>
              </a:r>
            </a:p>
          </p:txBody>
        </p:sp>
        <p:sp>
          <p:nvSpPr>
            <p:cNvPr id="242" name="TextBox 242"/>
            <p:cNvSpPr txBox="1"/>
            <p:nvPr/>
          </p:nvSpPr>
          <p:spPr>
            <a:xfrm>
              <a:off x="1081088" y="3432524"/>
              <a:ext cx="106750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新客户7天内未完成企微认证　</a:t>
              </a:r>
            </a:p>
          </p:txBody>
        </p:sp>
        <p:sp>
          <p:nvSpPr>
            <p:cNvPr id="243" name="TextBox 243"/>
            <p:cNvSpPr txBox="1"/>
            <p:nvPr/>
          </p:nvSpPr>
          <p:spPr>
            <a:xfrm>
              <a:off x="2414588" y="3432524"/>
              <a:ext cx="755185"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欢迎语+认证权益指引</a:t>
              </a:r>
            </a:p>
          </p:txBody>
        </p:sp>
        <p:sp>
          <p:nvSpPr>
            <p:cNvPr id="244" name="TextBox 244"/>
            <p:cNvSpPr txBox="1"/>
            <p:nvPr/>
          </p:nvSpPr>
          <p:spPr>
            <a:xfrm>
              <a:off x="3652838" y="3432524"/>
              <a:ext cx="79032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自动发送企微欢迎消息</a:t>
              </a:r>
            </a:p>
          </p:txBody>
        </p:sp>
        <p:sp>
          <p:nvSpPr>
            <p:cNvPr id="245" name="TextBox 245"/>
            <p:cNvSpPr txBox="1"/>
            <p:nvPr/>
          </p:nvSpPr>
          <p:spPr>
            <a:xfrm>
              <a:off x="4891088" y="3432524"/>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确认认证状态并补充介绍</a:t>
              </a:r>
            </a:p>
          </p:txBody>
        </p:sp>
        <p:sp>
          <p:nvSpPr>
            <p:cNvPr id="246" name="TextBox 246"/>
            <p:cNvSpPr txBox="1"/>
            <p:nvPr/>
          </p:nvSpPr>
          <p:spPr>
            <a:xfrm>
              <a:off x="6249570" y="3430905"/>
              <a:ext cx="264361"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24小时</a:t>
              </a:r>
            </a:p>
          </p:txBody>
        </p:sp>
        <p:sp>
          <p:nvSpPr>
            <p:cNvPr id="247" name="TextBox 247"/>
            <p:cNvSpPr txBox="1"/>
            <p:nvPr/>
          </p:nvSpPr>
          <p:spPr>
            <a:xfrm>
              <a:off x="228452" y="3707844"/>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2</a:t>
              </a:r>
            </a:p>
          </p:txBody>
        </p:sp>
        <p:sp>
          <p:nvSpPr>
            <p:cNvPr id="248" name="TextBox 248"/>
            <p:cNvSpPr txBox="1"/>
            <p:nvPr/>
          </p:nvSpPr>
          <p:spPr>
            <a:xfrm>
              <a:off x="414338" y="3707844"/>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工资到账</a:t>
              </a:r>
            </a:p>
          </p:txBody>
        </p:sp>
        <p:sp>
          <p:nvSpPr>
            <p:cNvPr id="249" name="TextBox 249"/>
            <p:cNvSpPr txBox="1"/>
            <p:nvPr/>
          </p:nvSpPr>
          <p:spPr>
            <a:xfrm>
              <a:off x="1081088" y="3713512"/>
              <a:ext cx="55608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检测到工资入账</a:t>
              </a:r>
            </a:p>
          </p:txBody>
        </p:sp>
        <p:sp>
          <p:nvSpPr>
            <p:cNvPr id="250" name="TextBox 250"/>
            <p:cNvSpPr txBox="1"/>
            <p:nvPr/>
          </p:nvSpPr>
          <p:spPr>
            <a:xfrm>
              <a:off x="2414588" y="3713512"/>
              <a:ext cx="833265"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工资理财/储蓄增值建议</a:t>
              </a:r>
            </a:p>
          </p:txBody>
        </p:sp>
        <p:sp>
          <p:nvSpPr>
            <p:cNvPr id="251" name="TextBox 251"/>
            <p:cNvSpPr txBox="1"/>
            <p:nvPr/>
          </p:nvSpPr>
          <p:spPr>
            <a:xfrm>
              <a:off x="3652838" y="3713512"/>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自动发送个性化内容</a:t>
              </a:r>
            </a:p>
          </p:txBody>
        </p:sp>
        <p:sp>
          <p:nvSpPr>
            <p:cNvPr id="252" name="TextBox 252"/>
            <p:cNvSpPr txBox="1"/>
            <p:nvPr/>
          </p:nvSpPr>
          <p:spPr>
            <a:xfrm>
              <a:off x="4891088" y="3713512"/>
              <a:ext cx="91134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高净值客户电话/面谈跟进</a:t>
              </a:r>
            </a:p>
          </p:txBody>
        </p:sp>
        <p:sp>
          <p:nvSpPr>
            <p:cNvPr id="253" name="TextBox 253"/>
            <p:cNvSpPr txBox="1"/>
            <p:nvPr/>
          </p:nvSpPr>
          <p:spPr>
            <a:xfrm>
              <a:off x="6249570" y="3711892"/>
              <a:ext cx="264361"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24小时</a:t>
              </a:r>
            </a:p>
          </p:txBody>
        </p:sp>
        <p:sp>
          <p:nvSpPr>
            <p:cNvPr id="254" name="TextBox 254"/>
            <p:cNvSpPr txBox="1"/>
            <p:nvPr/>
          </p:nvSpPr>
          <p:spPr>
            <a:xfrm>
              <a:off x="228452" y="3988832"/>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3</a:t>
              </a:r>
            </a:p>
          </p:txBody>
        </p:sp>
        <p:sp>
          <p:nvSpPr>
            <p:cNvPr id="255" name="TextBox 255"/>
            <p:cNvSpPr txBox="1"/>
            <p:nvPr/>
          </p:nvSpPr>
          <p:spPr>
            <a:xfrm>
              <a:off x="414338" y="3988832"/>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理财到期</a:t>
              </a:r>
            </a:p>
          </p:txBody>
        </p:sp>
        <p:sp>
          <p:nvSpPr>
            <p:cNvPr id="256" name="TextBox 256"/>
            <p:cNvSpPr txBox="1"/>
            <p:nvPr/>
          </p:nvSpPr>
          <p:spPr>
            <a:xfrm>
              <a:off x="1081088" y="3994499"/>
              <a:ext cx="122366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持有理财产品即将到期（前7天）　</a:t>
              </a:r>
            </a:p>
          </p:txBody>
        </p:sp>
        <p:sp>
          <p:nvSpPr>
            <p:cNvPr id="257" name="TextBox 257"/>
            <p:cNvSpPr txBox="1"/>
            <p:nvPr/>
          </p:nvSpPr>
          <p:spPr>
            <a:xfrm>
              <a:off x="2414588" y="3994499"/>
              <a:ext cx="954288"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到期提醒+续投/新产品推荐</a:t>
              </a:r>
            </a:p>
          </p:txBody>
        </p:sp>
        <p:sp>
          <p:nvSpPr>
            <p:cNvPr id="258" name="TextBox 258"/>
            <p:cNvSpPr txBox="1"/>
            <p:nvPr/>
          </p:nvSpPr>
          <p:spPr>
            <a:xfrm>
              <a:off x="3652838" y="3994499"/>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自动发送提醒与产品卡片</a:t>
              </a:r>
            </a:p>
          </p:txBody>
        </p:sp>
        <p:sp>
          <p:nvSpPr>
            <p:cNvPr id="259" name="TextBox 259"/>
            <p:cNvSpPr txBox="1"/>
            <p:nvPr/>
          </p:nvSpPr>
          <p:spPr>
            <a:xfrm>
              <a:off x="4891088" y="3994499"/>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联系确认到期安排</a:t>
              </a:r>
            </a:p>
          </p:txBody>
        </p:sp>
        <p:sp>
          <p:nvSpPr>
            <p:cNvPr id="260" name="TextBox 260"/>
            <p:cNvSpPr txBox="1"/>
            <p:nvPr/>
          </p:nvSpPr>
          <p:spPr>
            <a:xfrm>
              <a:off x="6192121" y="3992880"/>
              <a:ext cx="379259"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1个工作日</a:t>
              </a:r>
            </a:p>
          </p:txBody>
        </p:sp>
        <p:sp>
          <p:nvSpPr>
            <p:cNvPr id="261" name="TextBox 261"/>
            <p:cNvSpPr txBox="1"/>
            <p:nvPr/>
          </p:nvSpPr>
          <p:spPr>
            <a:xfrm>
              <a:off x="228452" y="4269819"/>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4</a:t>
              </a:r>
            </a:p>
          </p:txBody>
        </p:sp>
        <p:sp>
          <p:nvSpPr>
            <p:cNvPr id="262" name="TextBox 262"/>
            <p:cNvSpPr txBox="1"/>
            <p:nvPr/>
          </p:nvSpPr>
          <p:spPr>
            <a:xfrm>
              <a:off x="414338" y="4269819"/>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余额增长</a:t>
              </a:r>
            </a:p>
          </p:txBody>
        </p:sp>
        <p:sp>
          <p:nvSpPr>
            <p:cNvPr id="263" name="TextBox 263"/>
            <p:cNvSpPr txBox="1"/>
            <p:nvPr/>
          </p:nvSpPr>
          <p:spPr>
            <a:xfrm>
              <a:off x="1081088" y="4275487"/>
              <a:ext cx="954288"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近30天账户余额显著增长　</a:t>
              </a:r>
            </a:p>
          </p:txBody>
        </p:sp>
        <p:sp>
          <p:nvSpPr>
            <p:cNvPr id="264" name="TextBox 264"/>
            <p:cNvSpPr txBox="1"/>
            <p:nvPr/>
          </p:nvSpPr>
          <p:spPr>
            <a:xfrm>
              <a:off x="2414588" y="4275487"/>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资产配置建议</a:t>
              </a:r>
            </a:p>
          </p:txBody>
        </p:sp>
        <p:sp>
          <p:nvSpPr>
            <p:cNvPr id="265" name="TextBox 265"/>
            <p:cNvSpPr txBox="1"/>
            <p:nvPr/>
          </p:nvSpPr>
          <p:spPr>
            <a:xfrm>
              <a:off x="3652838" y="4275487"/>
              <a:ext cx="102456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自动发送市场观点与配置建议</a:t>
              </a:r>
            </a:p>
          </p:txBody>
        </p:sp>
        <p:sp>
          <p:nvSpPr>
            <p:cNvPr id="266" name="TextBox 266"/>
            <p:cNvSpPr txBox="1"/>
            <p:nvPr/>
          </p:nvSpPr>
          <p:spPr>
            <a:xfrm>
              <a:off x="4891088" y="4275487"/>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评估客户需求并主动沟通</a:t>
              </a:r>
            </a:p>
          </p:txBody>
        </p:sp>
        <p:sp>
          <p:nvSpPr>
            <p:cNvPr id="267" name="TextBox 267"/>
            <p:cNvSpPr txBox="1"/>
            <p:nvPr/>
          </p:nvSpPr>
          <p:spPr>
            <a:xfrm>
              <a:off x="6192121" y="4273868"/>
              <a:ext cx="379259"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1个工作日</a:t>
              </a:r>
            </a:p>
          </p:txBody>
        </p:sp>
        <p:sp>
          <p:nvSpPr>
            <p:cNvPr id="268" name="TextBox 268"/>
            <p:cNvSpPr txBox="1"/>
            <p:nvPr/>
          </p:nvSpPr>
          <p:spPr>
            <a:xfrm>
              <a:off x="228452" y="4550807"/>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5</a:t>
              </a:r>
            </a:p>
          </p:txBody>
        </p:sp>
        <p:sp>
          <p:nvSpPr>
            <p:cNvPr id="269" name="TextBox 269"/>
            <p:cNvSpPr txBox="1"/>
            <p:nvPr/>
          </p:nvSpPr>
          <p:spPr>
            <a:xfrm>
              <a:off x="414338" y="4550807"/>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产品浏览</a:t>
              </a:r>
            </a:p>
          </p:txBody>
        </p:sp>
        <p:sp>
          <p:nvSpPr>
            <p:cNvPr id="270" name="TextBox 270"/>
            <p:cNvSpPr txBox="1"/>
            <p:nvPr/>
          </p:nvSpPr>
          <p:spPr>
            <a:xfrm>
              <a:off x="1081088" y="4556474"/>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在手机银行浏览特定产品</a:t>
              </a:r>
            </a:p>
          </p:txBody>
        </p:sp>
        <p:sp>
          <p:nvSpPr>
            <p:cNvPr id="271" name="TextBox 271"/>
            <p:cNvSpPr txBox="1"/>
            <p:nvPr/>
          </p:nvSpPr>
          <p:spPr>
            <a:xfrm>
              <a:off x="2414588" y="4556474"/>
              <a:ext cx="677106"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产品解读+客户案例</a:t>
              </a:r>
            </a:p>
          </p:txBody>
        </p:sp>
        <p:sp>
          <p:nvSpPr>
            <p:cNvPr id="272" name="TextBox 272"/>
            <p:cNvSpPr txBox="1"/>
            <p:nvPr/>
          </p:nvSpPr>
          <p:spPr>
            <a:xfrm>
              <a:off x="3652838" y="4556474"/>
              <a:ext cx="79032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自动发送相关产品介绍</a:t>
              </a:r>
            </a:p>
          </p:txBody>
        </p:sp>
        <p:sp>
          <p:nvSpPr>
            <p:cNvPr id="273" name="TextBox 273"/>
            <p:cNvSpPr txBox="1"/>
            <p:nvPr/>
          </p:nvSpPr>
          <p:spPr>
            <a:xfrm>
              <a:off x="4891088" y="4556474"/>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了解意向并提供专业解答</a:t>
              </a:r>
            </a:p>
          </p:txBody>
        </p:sp>
        <p:sp>
          <p:nvSpPr>
            <p:cNvPr id="274" name="TextBox 274"/>
            <p:cNvSpPr txBox="1"/>
            <p:nvPr/>
          </p:nvSpPr>
          <p:spPr>
            <a:xfrm>
              <a:off x="6249570" y="4554855"/>
              <a:ext cx="264361"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24小时</a:t>
              </a:r>
            </a:p>
          </p:txBody>
        </p:sp>
        <p:sp>
          <p:nvSpPr>
            <p:cNvPr id="275" name="TextBox 275"/>
            <p:cNvSpPr txBox="1"/>
            <p:nvPr/>
          </p:nvSpPr>
          <p:spPr>
            <a:xfrm>
              <a:off x="228452" y="4831794"/>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6</a:t>
              </a:r>
            </a:p>
          </p:txBody>
        </p:sp>
        <p:sp>
          <p:nvSpPr>
            <p:cNvPr id="276" name="TextBox 276"/>
            <p:cNvSpPr txBox="1"/>
            <p:nvPr/>
          </p:nvSpPr>
          <p:spPr>
            <a:xfrm>
              <a:off x="414338" y="4831794"/>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活动报名</a:t>
              </a:r>
            </a:p>
          </p:txBody>
        </p:sp>
        <p:sp>
          <p:nvSpPr>
            <p:cNvPr id="277" name="TextBox 277"/>
            <p:cNvSpPr txBox="1"/>
            <p:nvPr/>
          </p:nvSpPr>
          <p:spPr>
            <a:xfrm>
              <a:off x="1081088" y="4837462"/>
              <a:ext cx="833265"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报名参加线上/线下活动</a:t>
              </a:r>
            </a:p>
          </p:txBody>
        </p:sp>
        <p:sp>
          <p:nvSpPr>
            <p:cNvPr id="278" name="TextBox 278"/>
            <p:cNvSpPr txBox="1"/>
            <p:nvPr/>
          </p:nvSpPr>
          <p:spPr>
            <a:xfrm>
              <a:off x="2414588" y="4837462"/>
              <a:ext cx="677106"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活动提醒+参与指南</a:t>
              </a:r>
            </a:p>
          </p:txBody>
        </p:sp>
        <p:sp>
          <p:nvSpPr>
            <p:cNvPr id="279" name="TextBox 279"/>
            <p:cNvSpPr txBox="1"/>
            <p:nvPr/>
          </p:nvSpPr>
          <p:spPr>
            <a:xfrm>
              <a:off x="3652838" y="4837462"/>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自动发送活动确认与详情</a:t>
              </a:r>
            </a:p>
          </p:txBody>
        </p:sp>
        <p:sp>
          <p:nvSpPr>
            <p:cNvPr id="280" name="TextBox 280"/>
            <p:cNvSpPr txBox="1"/>
            <p:nvPr/>
          </p:nvSpPr>
          <p:spPr>
            <a:xfrm>
              <a:off x="4891088" y="4837462"/>
              <a:ext cx="755185"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活动前1天再次提醒　</a:t>
              </a:r>
            </a:p>
          </p:txBody>
        </p:sp>
        <p:sp>
          <p:nvSpPr>
            <p:cNvPr id="281" name="TextBox 281"/>
            <p:cNvSpPr txBox="1"/>
            <p:nvPr/>
          </p:nvSpPr>
          <p:spPr>
            <a:xfrm>
              <a:off x="6192121" y="4835842"/>
              <a:ext cx="379259"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1个工作日</a:t>
              </a:r>
            </a:p>
          </p:txBody>
        </p:sp>
        <p:sp>
          <p:nvSpPr>
            <p:cNvPr id="282" name="TextBox 282"/>
            <p:cNvSpPr txBox="1"/>
            <p:nvPr/>
          </p:nvSpPr>
          <p:spPr>
            <a:xfrm>
              <a:off x="228452" y="5112782"/>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7</a:t>
              </a:r>
            </a:p>
          </p:txBody>
        </p:sp>
        <p:sp>
          <p:nvSpPr>
            <p:cNvPr id="283" name="TextBox 283"/>
            <p:cNvSpPr txBox="1"/>
            <p:nvPr/>
          </p:nvSpPr>
          <p:spPr>
            <a:xfrm>
              <a:off x="414338" y="5112782"/>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连续未读</a:t>
              </a:r>
            </a:p>
          </p:txBody>
        </p:sp>
        <p:sp>
          <p:nvSpPr>
            <p:cNvPr id="284" name="TextBox 284"/>
            <p:cNvSpPr txBox="1"/>
            <p:nvPr/>
          </p:nvSpPr>
          <p:spPr>
            <a:xfrm>
              <a:off x="1081088" y="5118449"/>
              <a:ext cx="755185"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连续3条内容未阅读　</a:t>
              </a:r>
            </a:p>
          </p:txBody>
        </p:sp>
        <p:sp>
          <p:nvSpPr>
            <p:cNvPr id="285" name="TextBox 285"/>
            <p:cNvSpPr txBox="1"/>
            <p:nvPr/>
          </p:nvSpPr>
          <p:spPr>
            <a:xfrm>
              <a:off x="2414588" y="5118449"/>
              <a:ext cx="677106"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关怀提醒+内容推荐</a:t>
              </a:r>
            </a:p>
          </p:txBody>
        </p:sp>
        <p:sp>
          <p:nvSpPr>
            <p:cNvPr id="286" name="TextBox 286"/>
            <p:cNvSpPr txBox="1"/>
            <p:nvPr/>
          </p:nvSpPr>
          <p:spPr>
            <a:xfrm>
              <a:off x="3652838" y="5118449"/>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自动发送关怀消息</a:t>
              </a:r>
            </a:p>
          </p:txBody>
        </p:sp>
        <p:sp>
          <p:nvSpPr>
            <p:cNvPr id="287" name="TextBox 287"/>
            <p:cNvSpPr txBox="1"/>
            <p:nvPr/>
          </p:nvSpPr>
          <p:spPr>
            <a:xfrm>
              <a:off x="4891088" y="5118449"/>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判断原因并切换触达方式</a:t>
              </a:r>
            </a:p>
          </p:txBody>
        </p:sp>
        <p:sp>
          <p:nvSpPr>
            <p:cNvPr id="288" name="TextBox 288"/>
            <p:cNvSpPr txBox="1"/>
            <p:nvPr/>
          </p:nvSpPr>
          <p:spPr>
            <a:xfrm>
              <a:off x="6192121" y="5116830"/>
              <a:ext cx="379259"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2个工作日</a:t>
              </a:r>
            </a:p>
          </p:txBody>
        </p:sp>
        <p:sp>
          <p:nvSpPr>
            <p:cNvPr id="289" name="TextBox 289"/>
            <p:cNvSpPr txBox="1"/>
            <p:nvPr/>
          </p:nvSpPr>
          <p:spPr>
            <a:xfrm>
              <a:off x="228452" y="5393769"/>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8</a:t>
              </a:r>
            </a:p>
          </p:txBody>
        </p:sp>
        <p:sp>
          <p:nvSpPr>
            <p:cNvPr id="290" name="TextBox 290"/>
            <p:cNvSpPr txBox="1"/>
            <p:nvPr/>
          </p:nvSpPr>
          <p:spPr>
            <a:xfrm>
              <a:off x="414338" y="5393769"/>
              <a:ext cx="181839"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生日</a:t>
              </a:r>
            </a:p>
          </p:txBody>
        </p:sp>
        <p:sp>
          <p:nvSpPr>
            <p:cNvPr id="291" name="TextBox 291"/>
            <p:cNvSpPr txBox="1"/>
            <p:nvPr/>
          </p:nvSpPr>
          <p:spPr>
            <a:xfrm>
              <a:off x="1081088" y="5399437"/>
              <a:ext cx="833265"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客户生日（提前3天）　</a:t>
              </a:r>
            </a:p>
          </p:txBody>
        </p:sp>
        <p:sp>
          <p:nvSpPr>
            <p:cNvPr id="292" name="TextBox 292"/>
            <p:cNvSpPr txBox="1"/>
            <p:nvPr/>
          </p:nvSpPr>
          <p:spPr>
            <a:xfrm>
              <a:off x="2414588" y="5399437"/>
              <a:ext cx="677106"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生日祝福+专属权益</a:t>
              </a:r>
            </a:p>
          </p:txBody>
        </p:sp>
        <p:sp>
          <p:nvSpPr>
            <p:cNvPr id="293" name="TextBox 293"/>
            <p:cNvSpPr txBox="1"/>
            <p:nvPr/>
          </p:nvSpPr>
          <p:spPr>
            <a:xfrm>
              <a:off x="3652838" y="5399437"/>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自动发送祝福与权益卡片</a:t>
              </a:r>
            </a:p>
          </p:txBody>
        </p:sp>
        <p:sp>
          <p:nvSpPr>
            <p:cNvPr id="294" name="TextBox 294"/>
            <p:cNvSpPr txBox="1"/>
            <p:nvPr/>
          </p:nvSpPr>
          <p:spPr>
            <a:xfrm>
              <a:off x="4891088" y="5399437"/>
              <a:ext cx="94648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个性化祝福并推荐适配产品</a:t>
              </a:r>
            </a:p>
          </p:txBody>
        </p:sp>
        <p:sp>
          <p:nvSpPr>
            <p:cNvPr id="295" name="TextBox 295"/>
            <p:cNvSpPr txBox="1"/>
            <p:nvPr/>
          </p:nvSpPr>
          <p:spPr>
            <a:xfrm>
              <a:off x="6249570" y="5397818"/>
              <a:ext cx="264361"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24小时</a:t>
              </a:r>
            </a:p>
          </p:txBody>
        </p:sp>
        <p:sp>
          <p:nvSpPr>
            <p:cNvPr id="296" name="TextBox 296"/>
            <p:cNvSpPr txBox="1"/>
            <p:nvPr/>
          </p:nvSpPr>
          <p:spPr>
            <a:xfrm>
              <a:off x="228452" y="5674757"/>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9</a:t>
              </a:r>
            </a:p>
          </p:txBody>
        </p:sp>
        <p:sp>
          <p:nvSpPr>
            <p:cNvPr id="297" name="TextBox 297"/>
            <p:cNvSpPr txBox="1"/>
            <p:nvPr/>
          </p:nvSpPr>
          <p:spPr>
            <a:xfrm>
              <a:off x="414338" y="5674757"/>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权益到期</a:t>
              </a:r>
            </a:p>
          </p:txBody>
        </p:sp>
        <p:sp>
          <p:nvSpPr>
            <p:cNvPr id="298" name="TextBox 298"/>
            <p:cNvSpPr txBox="1"/>
            <p:nvPr/>
          </p:nvSpPr>
          <p:spPr>
            <a:xfrm>
              <a:off x="1081088" y="5680424"/>
              <a:ext cx="1032368"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会员/卡片/活动权益即将到期</a:t>
              </a:r>
            </a:p>
          </p:txBody>
        </p:sp>
        <p:sp>
          <p:nvSpPr>
            <p:cNvPr id="299" name="TextBox 299"/>
            <p:cNvSpPr txBox="1"/>
            <p:nvPr/>
          </p:nvSpPr>
          <p:spPr>
            <a:xfrm>
              <a:off x="2414588" y="5680424"/>
              <a:ext cx="833265"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权益到期提醒+续享指引</a:t>
              </a:r>
            </a:p>
          </p:txBody>
        </p:sp>
        <p:sp>
          <p:nvSpPr>
            <p:cNvPr id="300" name="TextBox 300"/>
            <p:cNvSpPr txBox="1"/>
            <p:nvPr/>
          </p:nvSpPr>
          <p:spPr>
            <a:xfrm>
              <a:off x="3652838" y="5680424"/>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自动发送提醒与续享指引</a:t>
              </a:r>
            </a:p>
          </p:txBody>
        </p:sp>
        <p:sp>
          <p:nvSpPr>
            <p:cNvPr id="301" name="TextBox 301"/>
            <p:cNvSpPr txBox="1"/>
            <p:nvPr/>
          </p:nvSpPr>
          <p:spPr>
            <a:xfrm>
              <a:off x="4891088" y="5680424"/>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引导使用并推荐升级权益</a:t>
              </a:r>
            </a:p>
          </p:txBody>
        </p:sp>
        <p:sp>
          <p:nvSpPr>
            <p:cNvPr id="302" name="TextBox 302"/>
            <p:cNvSpPr txBox="1"/>
            <p:nvPr/>
          </p:nvSpPr>
          <p:spPr>
            <a:xfrm>
              <a:off x="6192121" y="5678805"/>
              <a:ext cx="379259"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1个工作日</a:t>
              </a:r>
            </a:p>
          </p:txBody>
        </p:sp>
        <p:sp>
          <p:nvSpPr>
            <p:cNvPr id="303" name="TextBox 303"/>
            <p:cNvSpPr txBox="1"/>
            <p:nvPr/>
          </p:nvSpPr>
          <p:spPr>
            <a:xfrm>
              <a:off x="204492" y="5955744"/>
              <a:ext cx="1053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10</a:t>
              </a:r>
            </a:p>
          </p:txBody>
        </p:sp>
        <p:sp>
          <p:nvSpPr>
            <p:cNvPr id="304" name="TextBox 304"/>
            <p:cNvSpPr txBox="1"/>
            <p:nvPr/>
          </p:nvSpPr>
          <p:spPr>
            <a:xfrm>
              <a:off x="414338" y="5955744"/>
              <a:ext cx="526466"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风险偏好变化</a:t>
              </a:r>
            </a:p>
          </p:txBody>
        </p:sp>
        <p:sp>
          <p:nvSpPr>
            <p:cNvPr id="305" name="TextBox 305"/>
            <p:cNvSpPr txBox="1"/>
            <p:nvPr/>
          </p:nvSpPr>
          <p:spPr>
            <a:xfrm>
              <a:off x="1081088" y="5961412"/>
              <a:ext cx="79032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风险评估结果发生变化</a:t>
              </a:r>
            </a:p>
          </p:txBody>
        </p:sp>
        <p:sp>
          <p:nvSpPr>
            <p:cNvPr id="306" name="TextBox 306"/>
            <p:cNvSpPr txBox="1"/>
            <p:nvPr/>
          </p:nvSpPr>
          <p:spPr>
            <a:xfrm>
              <a:off x="2414588" y="5961412"/>
              <a:ext cx="98942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最新评估结果解读+产品建议</a:t>
              </a:r>
            </a:p>
          </p:txBody>
        </p:sp>
        <p:sp>
          <p:nvSpPr>
            <p:cNvPr id="307" name="TextBox 307"/>
            <p:cNvSpPr txBox="1"/>
            <p:nvPr/>
          </p:nvSpPr>
          <p:spPr>
            <a:xfrm>
              <a:off x="3652838" y="5961412"/>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自动发送解读内容</a:t>
              </a:r>
            </a:p>
          </p:txBody>
        </p:sp>
        <p:sp>
          <p:nvSpPr>
            <p:cNvPr id="308" name="TextBox 308"/>
            <p:cNvSpPr txBox="1"/>
            <p:nvPr/>
          </p:nvSpPr>
          <p:spPr>
            <a:xfrm>
              <a:off x="4891088" y="5961412"/>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联系确认并调整配置方案</a:t>
              </a:r>
            </a:p>
          </p:txBody>
        </p:sp>
        <p:sp>
          <p:nvSpPr>
            <p:cNvPr id="309" name="TextBox 309"/>
            <p:cNvSpPr txBox="1"/>
            <p:nvPr/>
          </p:nvSpPr>
          <p:spPr>
            <a:xfrm>
              <a:off x="6192121" y="5959792"/>
              <a:ext cx="379259"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1个工作日</a:t>
              </a:r>
            </a:p>
          </p:txBody>
        </p:sp>
        <p:sp>
          <p:nvSpPr>
            <p:cNvPr id="310" name="TextBox 310"/>
            <p:cNvSpPr txBox="1"/>
            <p:nvPr/>
          </p:nvSpPr>
          <p:spPr>
            <a:xfrm>
              <a:off x="204492" y="6236732"/>
              <a:ext cx="1053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11</a:t>
              </a:r>
            </a:p>
          </p:txBody>
        </p:sp>
        <p:sp>
          <p:nvSpPr>
            <p:cNvPr id="311" name="TextBox 311"/>
            <p:cNvSpPr txBox="1"/>
            <p:nvPr/>
          </p:nvSpPr>
          <p:spPr>
            <a:xfrm>
              <a:off x="414338" y="6236732"/>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投诉恢复</a:t>
              </a:r>
            </a:p>
          </p:txBody>
        </p:sp>
        <p:sp>
          <p:nvSpPr>
            <p:cNvPr id="312" name="TextBox 312"/>
            <p:cNvSpPr txBox="1"/>
            <p:nvPr/>
          </p:nvSpPr>
          <p:spPr>
            <a:xfrm>
              <a:off x="1081088" y="6242399"/>
              <a:ext cx="1180719"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投诉处理完成（状态变更为解决）</a:t>
              </a:r>
            </a:p>
          </p:txBody>
        </p:sp>
        <p:sp>
          <p:nvSpPr>
            <p:cNvPr id="313" name="TextBox 313"/>
            <p:cNvSpPr txBox="1"/>
            <p:nvPr/>
          </p:nvSpPr>
          <p:spPr>
            <a:xfrm>
              <a:off x="2414588" y="6242399"/>
              <a:ext cx="755185"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感谢信+服务改进说明</a:t>
              </a:r>
            </a:p>
          </p:txBody>
        </p:sp>
        <p:sp>
          <p:nvSpPr>
            <p:cNvPr id="314" name="TextBox 314"/>
            <p:cNvSpPr txBox="1"/>
            <p:nvPr/>
          </p:nvSpPr>
          <p:spPr>
            <a:xfrm>
              <a:off x="3652838" y="6242399"/>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自动发送致谢与回访</a:t>
              </a:r>
            </a:p>
          </p:txBody>
        </p:sp>
        <p:sp>
          <p:nvSpPr>
            <p:cNvPr id="315" name="TextBox 315"/>
            <p:cNvSpPr txBox="1"/>
            <p:nvPr/>
          </p:nvSpPr>
          <p:spPr>
            <a:xfrm>
              <a:off x="4891088" y="6242399"/>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电话回访确认满意度</a:t>
              </a:r>
            </a:p>
          </p:txBody>
        </p:sp>
        <p:sp>
          <p:nvSpPr>
            <p:cNvPr id="316" name="TextBox 316"/>
            <p:cNvSpPr txBox="1"/>
            <p:nvPr/>
          </p:nvSpPr>
          <p:spPr>
            <a:xfrm>
              <a:off x="6249570" y="6240780"/>
              <a:ext cx="264361"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24小时</a:t>
              </a:r>
            </a:p>
          </p:txBody>
        </p:sp>
        <p:sp>
          <p:nvSpPr>
            <p:cNvPr id="317" name="TextBox 317"/>
            <p:cNvSpPr txBox="1"/>
            <p:nvPr/>
          </p:nvSpPr>
          <p:spPr>
            <a:xfrm>
              <a:off x="204492" y="6517719"/>
              <a:ext cx="1053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12</a:t>
              </a:r>
            </a:p>
          </p:txBody>
        </p:sp>
        <p:sp>
          <p:nvSpPr>
            <p:cNvPr id="318" name="TextBox 318"/>
            <p:cNvSpPr txBox="1"/>
            <p:nvPr/>
          </p:nvSpPr>
          <p:spPr>
            <a:xfrm>
              <a:off x="414338" y="6517719"/>
              <a:ext cx="367507"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沉睡90天</a:t>
              </a:r>
            </a:p>
          </p:txBody>
        </p:sp>
        <p:sp>
          <p:nvSpPr>
            <p:cNvPr id="319" name="TextBox 319"/>
            <p:cNvSpPr txBox="1"/>
            <p:nvPr/>
          </p:nvSpPr>
          <p:spPr>
            <a:xfrm>
              <a:off x="1081088" y="6523387"/>
              <a:ext cx="954288"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90天以上未发生任何互动　</a:t>
              </a:r>
            </a:p>
          </p:txBody>
        </p:sp>
        <p:sp>
          <p:nvSpPr>
            <p:cNvPr id="320" name="TextBox 320"/>
            <p:cNvSpPr txBox="1"/>
            <p:nvPr/>
          </p:nvSpPr>
          <p:spPr>
            <a:xfrm>
              <a:off x="2414588" y="6523387"/>
              <a:ext cx="91134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专属回归礼+热门产品资讯</a:t>
              </a:r>
            </a:p>
          </p:txBody>
        </p:sp>
        <p:sp>
          <p:nvSpPr>
            <p:cNvPr id="321" name="TextBox 321"/>
            <p:cNvSpPr txBox="1"/>
            <p:nvPr/>
          </p:nvSpPr>
          <p:spPr>
            <a:xfrm>
              <a:off x="3652838" y="6523387"/>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自动发送唤醒内容</a:t>
              </a:r>
            </a:p>
          </p:txBody>
        </p:sp>
        <p:sp>
          <p:nvSpPr>
            <p:cNvPr id="322" name="TextBox 322"/>
            <p:cNvSpPr txBox="1"/>
            <p:nvPr/>
          </p:nvSpPr>
          <p:spPr>
            <a:xfrm>
              <a:off x="4891088" y="6523387"/>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主动联系了解需求</a:t>
              </a:r>
            </a:p>
          </p:txBody>
        </p:sp>
        <p:sp>
          <p:nvSpPr>
            <p:cNvPr id="323" name="TextBox 323"/>
            <p:cNvSpPr txBox="1"/>
            <p:nvPr/>
          </p:nvSpPr>
          <p:spPr>
            <a:xfrm>
              <a:off x="6192121" y="6521768"/>
              <a:ext cx="379259"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2个工作日</a:t>
              </a:r>
            </a:p>
          </p:txBody>
        </p:sp>
        <p:sp>
          <p:nvSpPr>
            <p:cNvPr id="324" name="Line 324"/>
            <p:cNvSpPr/>
            <p:nvPr/>
          </p:nvSpPr>
          <p:spPr>
            <a:xfrm>
              <a:off x="381000" y="3105150"/>
              <a:ext cx="9525" cy="3581400"/>
            </a:xfrm>
            <a:custGeom>
              <a:avLst/>
              <a:gdLst/>
              <a:ahLst/>
              <a:cxnLst/>
              <a:rect l="l" t="t" r="r" b="b"/>
              <a:pathLst>
                <a:path w="9525" h="3581400">
                  <a:moveTo>
                    <a:pt x="0" y="0"/>
                  </a:moveTo>
                  <a:lnTo>
                    <a:pt x="0" y="3581400"/>
                  </a:lnTo>
                </a:path>
              </a:pathLst>
            </a:custGeom>
            <a:noFill/>
            <a:ln w="9525">
              <a:solidFill>
                <a:srgbClr val="F1C7CC"/>
              </a:solidFill>
            </a:ln>
          </p:spPr>
        </p:sp>
        <p:sp>
          <p:nvSpPr>
            <p:cNvPr id="325" name="Line 325"/>
            <p:cNvSpPr/>
            <p:nvPr/>
          </p:nvSpPr>
          <p:spPr>
            <a:xfrm>
              <a:off x="1047750" y="3105150"/>
              <a:ext cx="9525" cy="3581400"/>
            </a:xfrm>
            <a:custGeom>
              <a:avLst/>
              <a:gdLst/>
              <a:ahLst/>
              <a:cxnLst/>
              <a:rect l="l" t="t" r="r" b="b"/>
              <a:pathLst>
                <a:path w="9525" h="3581400">
                  <a:moveTo>
                    <a:pt x="0" y="0"/>
                  </a:moveTo>
                  <a:lnTo>
                    <a:pt x="0" y="3581400"/>
                  </a:lnTo>
                </a:path>
              </a:pathLst>
            </a:custGeom>
            <a:noFill/>
            <a:ln w="9525">
              <a:solidFill>
                <a:srgbClr val="F1C7CC"/>
              </a:solidFill>
            </a:ln>
          </p:spPr>
        </p:sp>
        <p:sp>
          <p:nvSpPr>
            <p:cNvPr id="326" name="Line 326"/>
            <p:cNvSpPr/>
            <p:nvPr/>
          </p:nvSpPr>
          <p:spPr>
            <a:xfrm>
              <a:off x="2381250" y="3105150"/>
              <a:ext cx="9525" cy="3581400"/>
            </a:xfrm>
            <a:custGeom>
              <a:avLst/>
              <a:gdLst/>
              <a:ahLst/>
              <a:cxnLst/>
              <a:rect l="l" t="t" r="r" b="b"/>
              <a:pathLst>
                <a:path w="9525" h="3581400">
                  <a:moveTo>
                    <a:pt x="0" y="0"/>
                  </a:moveTo>
                  <a:lnTo>
                    <a:pt x="0" y="3581400"/>
                  </a:lnTo>
                </a:path>
              </a:pathLst>
            </a:custGeom>
            <a:noFill/>
            <a:ln w="9525">
              <a:solidFill>
                <a:srgbClr val="F1C7CC"/>
              </a:solidFill>
            </a:ln>
          </p:spPr>
        </p:sp>
        <p:sp>
          <p:nvSpPr>
            <p:cNvPr id="327" name="Line 327"/>
            <p:cNvSpPr/>
            <p:nvPr/>
          </p:nvSpPr>
          <p:spPr>
            <a:xfrm>
              <a:off x="3619500" y="3105150"/>
              <a:ext cx="9525" cy="3581400"/>
            </a:xfrm>
            <a:custGeom>
              <a:avLst/>
              <a:gdLst/>
              <a:ahLst/>
              <a:cxnLst/>
              <a:rect l="l" t="t" r="r" b="b"/>
              <a:pathLst>
                <a:path w="9525" h="3581400">
                  <a:moveTo>
                    <a:pt x="0" y="0"/>
                  </a:moveTo>
                  <a:lnTo>
                    <a:pt x="0" y="3581400"/>
                  </a:lnTo>
                </a:path>
              </a:pathLst>
            </a:custGeom>
            <a:noFill/>
            <a:ln w="9525">
              <a:solidFill>
                <a:srgbClr val="F1C7CC"/>
              </a:solidFill>
            </a:ln>
          </p:spPr>
        </p:sp>
        <p:sp>
          <p:nvSpPr>
            <p:cNvPr id="328" name="Line 328"/>
            <p:cNvSpPr/>
            <p:nvPr/>
          </p:nvSpPr>
          <p:spPr>
            <a:xfrm>
              <a:off x="4857750" y="3105150"/>
              <a:ext cx="9525" cy="3581400"/>
            </a:xfrm>
            <a:custGeom>
              <a:avLst/>
              <a:gdLst/>
              <a:ahLst/>
              <a:cxnLst/>
              <a:rect l="l" t="t" r="r" b="b"/>
              <a:pathLst>
                <a:path w="9525" h="3581400">
                  <a:moveTo>
                    <a:pt x="0" y="0"/>
                  </a:moveTo>
                  <a:lnTo>
                    <a:pt x="0" y="3581400"/>
                  </a:lnTo>
                </a:path>
              </a:pathLst>
            </a:custGeom>
            <a:noFill/>
            <a:ln w="9525">
              <a:solidFill>
                <a:srgbClr val="F1C7CC"/>
              </a:solidFill>
            </a:ln>
          </p:spPr>
        </p:sp>
        <p:sp>
          <p:nvSpPr>
            <p:cNvPr id="329" name="Line 329"/>
            <p:cNvSpPr/>
            <p:nvPr/>
          </p:nvSpPr>
          <p:spPr>
            <a:xfrm>
              <a:off x="6096000" y="3105150"/>
              <a:ext cx="9525" cy="3581400"/>
            </a:xfrm>
            <a:custGeom>
              <a:avLst/>
              <a:gdLst/>
              <a:ahLst/>
              <a:cxnLst/>
              <a:rect l="l" t="t" r="r" b="b"/>
              <a:pathLst>
                <a:path w="9525" h="3581400">
                  <a:moveTo>
                    <a:pt x="0" y="0"/>
                  </a:moveTo>
                  <a:lnTo>
                    <a:pt x="0" y="3581400"/>
                  </a:lnTo>
                </a:path>
              </a:pathLst>
            </a:custGeom>
            <a:noFill/>
            <a:ln w="9525">
              <a:solidFill>
                <a:srgbClr val="F1C7CC"/>
              </a:solidFill>
            </a:ln>
          </p:spPr>
        </p:sp>
        <p:sp>
          <p:nvSpPr>
            <p:cNvPr id="330" name="Line 330"/>
            <p:cNvSpPr/>
            <p:nvPr/>
          </p:nvSpPr>
          <p:spPr>
            <a:xfrm>
              <a:off x="133350" y="3314700"/>
              <a:ext cx="6534150" cy="9525"/>
            </a:xfrm>
            <a:custGeom>
              <a:avLst/>
              <a:gdLst/>
              <a:ahLst/>
              <a:cxnLst/>
              <a:rect l="l" t="t" r="r" b="b"/>
              <a:pathLst>
                <a:path w="6534150" h="9525">
                  <a:moveTo>
                    <a:pt x="0" y="0"/>
                  </a:moveTo>
                  <a:lnTo>
                    <a:pt x="6534150" y="0"/>
                  </a:lnTo>
                </a:path>
              </a:pathLst>
            </a:custGeom>
            <a:noFill/>
            <a:ln w="9525">
              <a:solidFill>
                <a:srgbClr val="B32C0E"/>
              </a:solidFill>
            </a:ln>
          </p:spPr>
        </p:sp>
        <p:sp>
          <p:nvSpPr>
            <p:cNvPr id="331" name="Line 331"/>
            <p:cNvSpPr/>
            <p:nvPr/>
          </p:nvSpPr>
          <p:spPr>
            <a:xfrm>
              <a:off x="133350" y="6686550"/>
              <a:ext cx="6534150" cy="9525"/>
            </a:xfrm>
            <a:custGeom>
              <a:avLst/>
              <a:gdLst/>
              <a:ahLst/>
              <a:cxnLst/>
              <a:rect l="l" t="t" r="r" b="b"/>
              <a:pathLst>
                <a:path w="6534150" h="9525">
                  <a:moveTo>
                    <a:pt x="0" y="0"/>
                  </a:moveTo>
                  <a:lnTo>
                    <a:pt x="6534150" y="0"/>
                  </a:lnTo>
                </a:path>
              </a:pathLst>
            </a:custGeom>
            <a:noFill/>
            <a:ln w="9525">
              <a:solidFill>
                <a:srgbClr val="F1C7CC"/>
              </a:solidFill>
            </a:ln>
          </p:spPr>
        </p:sp>
      </p:grpSp>
      <p:grpSp>
        <p:nvGrpSpPr>
          <p:cNvPr id="383" name="ai-flow"/>
          <p:cNvGrpSpPr/>
          <p:nvPr/>
        </p:nvGrpSpPr>
        <p:grpSpPr>
          <a:xfrm>
            <a:off x="6800850" y="2933700"/>
            <a:ext cx="5257800" cy="1771650"/>
            <a:chOff x="6800850" y="2933700"/>
            <a:chExt cx="5257800" cy="1771650"/>
          </a:xfrm>
        </p:grpSpPr>
        <p:sp>
          <p:nvSpPr>
            <p:cNvPr id="333" name="Rectangle 333"/>
            <p:cNvSpPr/>
            <p:nvPr/>
          </p:nvSpPr>
          <p:spPr>
            <a:xfrm>
              <a:off x="6858000" y="2933700"/>
              <a:ext cx="38100" cy="152400"/>
            </a:xfrm>
            <a:prstGeom prst="rect">
              <a:avLst/>
            </a:prstGeom>
            <a:solidFill>
              <a:srgbClr val="C83210"/>
            </a:solidFill>
            <a:ln>
              <a:noFill/>
            </a:ln>
          </p:spPr>
        </p:sp>
        <p:sp>
          <p:nvSpPr>
            <p:cNvPr id="334" name="TextBox 334"/>
            <p:cNvSpPr txBox="1"/>
            <p:nvPr/>
          </p:nvSpPr>
          <p:spPr>
            <a:xfrm>
              <a:off x="6967347" y="2952274"/>
              <a:ext cx="196649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AI辅助内容生成</a:t>
              </a:r>
              <a:r>
                <a:rPr lang="zh-CN" sz="750" b="1" dirty="0">
                  <a:solidFill>
                    <a:srgbClr val="808080"/>
                  </a:solidFill>
                  <a:latin typeface="+mn-lt"/>
                  <a:ea typeface="+mn-ea"/>
                  <a:cs typeface="+mn-cs"/>
                </a:rPr>
                <a:t>（必须经合规审核）</a:t>
              </a:r>
              <a:r>
                <a:rPr lang="zh-CN" sz="980" b="1" dirty="0">
                  <a:solidFill>
                    <a:srgbClr val="C83210"/>
                  </a:solidFill>
                  <a:latin typeface="+mn-lt"/>
                  <a:ea typeface="+mn-ea"/>
                  <a:cs typeface="+mn-cs"/>
                </a:rPr>
                <a:t xml:space="preserve">　</a:t>
              </a:r>
            </a:p>
          </p:txBody>
        </p:sp>
        <p:sp>
          <p:nvSpPr>
            <p:cNvPr id="335" name="Rectangle 335"/>
            <p:cNvSpPr/>
            <p:nvPr/>
          </p:nvSpPr>
          <p:spPr>
            <a:xfrm>
              <a:off x="6800850" y="3162300"/>
              <a:ext cx="1181100" cy="1200150"/>
            </a:xfrm>
            <a:prstGeom prst="roundRect">
              <a:avLst>
                <a:gd name="adj" fmla="val 4839"/>
              </a:avLst>
            </a:prstGeom>
            <a:solidFill>
              <a:srgbClr val="FDEFF1"/>
            </a:solidFill>
            <a:ln>
              <a:noFill/>
            </a:ln>
          </p:spPr>
        </p:sp>
        <p:sp>
          <p:nvSpPr>
            <p:cNvPr id="336" name="Ellipse 336"/>
            <p:cNvSpPr/>
            <p:nvPr/>
          </p:nvSpPr>
          <p:spPr>
            <a:xfrm>
              <a:off x="7219950" y="3219450"/>
              <a:ext cx="342900" cy="342900"/>
            </a:xfrm>
            <a:prstGeom prst="ellipse">
              <a:avLst/>
            </a:prstGeom>
            <a:solidFill>
              <a:srgbClr val="FFFFFF"/>
            </a:solidFill>
            <a:ln>
              <a:noFill/>
            </a:ln>
          </p:spPr>
        </p:sp>
        <p:grpSp>
          <p:nvGrpSpPr>
            <p:cNvPr id="340" name="Group 340"/>
            <p:cNvGrpSpPr/>
            <p:nvPr/>
          </p:nvGrpSpPr>
          <p:grpSpPr>
            <a:xfrm>
              <a:off x="7319962" y="3319462"/>
              <a:ext cx="134938" cy="127000"/>
              <a:chOff x="7319962" y="3319462"/>
              <a:chExt cx="134938" cy="127000"/>
            </a:xfrm>
          </p:grpSpPr>
          <p:sp>
            <p:nvSpPr>
              <p:cNvPr id="337" name="Freeform 337"/>
              <p:cNvSpPr/>
              <p:nvPr/>
            </p:nvSpPr>
            <p:spPr>
              <a:xfrm>
                <a:off x="7423150" y="3319462"/>
                <a:ext cx="31750" cy="127000"/>
              </a:xfrm>
              <a:custGeom>
                <a:avLst/>
                <a:gdLst/>
                <a:ahLst/>
                <a:cxnLst/>
                <a:rect l="l" t="t" r="r" b="b"/>
                <a:pathLst>
                  <a:path w="31750" h="127000">
                    <a:moveTo>
                      <a:pt x="31750" y="111125"/>
                    </a:moveTo>
                    <a:lnTo>
                      <a:pt x="31750" y="15875"/>
                    </a:lnTo>
                    <a:cubicBezTo>
                      <a:pt x="31750" y="6977"/>
                      <a:pt x="24773" y="0"/>
                      <a:pt x="15875" y="0"/>
                    </a:cubicBezTo>
                    <a:cubicBezTo>
                      <a:pt x="6977" y="0"/>
                      <a:pt x="0" y="6977"/>
                      <a:pt x="0" y="15875"/>
                    </a:cubicBezTo>
                    <a:lnTo>
                      <a:pt x="0" y="111125"/>
                    </a:lnTo>
                    <a:lnTo>
                      <a:pt x="15875" y="127000"/>
                    </a:lnTo>
                    <a:lnTo>
                      <a:pt x="31750" y="111125"/>
                    </a:lnTo>
                  </a:path>
                </a:pathLst>
              </a:custGeom>
              <a:noFill/>
              <a:ln w="15875">
                <a:solidFill>
                  <a:srgbClr val="C83210"/>
                </a:solidFill>
              </a:ln>
            </p:spPr>
          </p:sp>
          <p:sp>
            <p:nvSpPr>
              <p:cNvPr id="338" name="Freeform 338"/>
              <p:cNvSpPr/>
              <p:nvPr/>
            </p:nvSpPr>
            <p:spPr>
              <a:xfrm>
                <a:off x="7423150" y="3351212"/>
                <a:ext cx="31750" cy="9525"/>
              </a:xfrm>
              <a:custGeom>
                <a:avLst/>
                <a:gdLst/>
                <a:ahLst/>
                <a:cxnLst/>
                <a:rect l="l" t="t" r="r" b="b"/>
                <a:pathLst>
                  <a:path w="31750" h="9525">
                    <a:moveTo>
                      <a:pt x="0" y="0"/>
                    </a:moveTo>
                    <a:lnTo>
                      <a:pt x="31750" y="0"/>
                    </a:lnTo>
                  </a:path>
                </a:pathLst>
              </a:custGeom>
              <a:noFill/>
              <a:ln w="15875">
                <a:solidFill>
                  <a:srgbClr val="C83210"/>
                </a:solidFill>
              </a:ln>
            </p:spPr>
          </p:sp>
          <p:sp>
            <p:nvSpPr>
              <p:cNvPr id="339" name="Freeform 339"/>
              <p:cNvSpPr/>
              <p:nvPr/>
            </p:nvSpPr>
            <p:spPr>
              <a:xfrm>
                <a:off x="7319962" y="3382962"/>
                <a:ext cx="119062" cy="63500"/>
              </a:xfrm>
              <a:custGeom>
                <a:avLst/>
                <a:gdLst/>
                <a:ahLst/>
                <a:cxnLst/>
                <a:rect l="l" t="t" r="r" b="b"/>
                <a:pathLst>
                  <a:path w="119062" h="63500">
                    <a:moveTo>
                      <a:pt x="119062" y="63500"/>
                    </a:moveTo>
                    <a:lnTo>
                      <a:pt x="15875" y="63500"/>
                    </a:lnTo>
                    <a:cubicBezTo>
                      <a:pt x="7107" y="63500"/>
                      <a:pt x="0" y="56392"/>
                      <a:pt x="0" y="47625"/>
                    </a:cubicBezTo>
                    <a:cubicBezTo>
                      <a:pt x="0" y="38857"/>
                      <a:pt x="7107" y="31750"/>
                      <a:pt x="15875" y="31750"/>
                    </a:cubicBezTo>
                    <a:lnTo>
                      <a:pt x="47625" y="31750"/>
                    </a:lnTo>
                    <a:cubicBezTo>
                      <a:pt x="56392" y="31750"/>
                      <a:pt x="63500" y="24643"/>
                      <a:pt x="63500" y="15875"/>
                    </a:cubicBezTo>
                    <a:cubicBezTo>
                      <a:pt x="63500" y="7107"/>
                      <a:pt x="56392" y="0"/>
                      <a:pt x="47625" y="0"/>
                    </a:cubicBezTo>
                    <a:lnTo>
                      <a:pt x="23812" y="0"/>
                    </a:lnTo>
                  </a:path>
                </a:pathLst>
              </a:custGeom>
              <a:noFill/>
              <a:ln w="15875">
                <a:solidFill>
                  <a:srgbClr val="C83210"/>
                </a:solidFill>
              </a:ln>
            </p:spPr>
          </p:sp>
        </p:grpSp>
        <p:sp>
          <p:nvSpPr>
            <p:cNvPr id="341" name="TextBox 341"/>
            <p:cNvSpPr txBox="1"/>
            <p:nvPr/>
          </p:nvSpPr>
          <p:spPr>
            <a:xfrm>
              <a:off x="7083742" y="3633788"/>
              <a:ext cx="61531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输入关键信息</a:t>
              </a:r>
            </a:p>
          </p:txBody>
        </p:sp>
        <p:sp>
          <p:nvSpPr>
            <p:cNvPr id="342" name="TextBox 342"/>
            <p:cNvSpPr txBox="1"/>
            <p:nvPr/>
          </p:nvSpPr>
          <p:spPr>
            <a:xfrm>
              <a:off x="6929438" y="3821430"/>
              <a:ext cx="408813"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客户标签</a:t>
              </a:r>
            </a:p>
          </p:txBody>
        </p:sp>
        <p:sp>
          <p:nvSpPr>
            <p:cNvPr id="343" name="TextBox 343"/>
            <p:cNvSpPr txBox="1"/>
            <p:nvPr/>
          </p:nvSpPr>
          <p:spPr>
            <a:xfrm>
              <a:off x="6929438" y="3954780"/>
              <a:ext cx="408813"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触达场景</a:t>
              </a:r>
            </a:p>
          </p:txBody>
        </p:sp>
        <p:sp>
          <p:nvSpPr>
            <p:cNvPr id="344" name="TextBox 344"/>
            <p:cNvSpPr txBox="1"/>
            <p:nvPr/>
          </p:nvSpPr>
          <p:spPr>
            <a:xfrm>
              <a:off x="6929438" y="4088130"/>
              <a:ext cx="614782"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产品/活动信息</a:t>
              </a:r>
            </a:p>
          </p:txBody>
        </p:sp>
        <p:sp>
          <p:nvSpPr>
            <p:cNvPr id="345" name="TextBox 345"/>
            <p:cNvSpPr txBox="1"/>
            <p:nvPr/>
          </p:nvSpPr>
          <p:spPr>
            <a:xfrm>
              <a:off x="6929438" y="4221480"/>
              <a:ext cx="570357"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语气风格要求</a:t>
              </a:r>
            </a:p>
          </p:txBody>
        </p:sp>
        <p:sp>
          <p:nvSpPr>
            <p:cNvPr id="346" name="Rectangle 346"/>
            <p:cNvSpPr/>
            <p:nvPr/>
          </p:nvSpPr>
          <p:spPr>
            <a:xfrm>
              <a:off x="8153400" y="3162300"/>
              <a:ext cx="1181100" cy="1200150"/>
            </a:xfrm>
            <a:prstGeom prst="roundRect">
              <a:avLst>
                <a:gd name="adj" fmla="val 4839"/>
              </a:avLst>
            </a:prstGeom>
            <a:solidFill>
              <a:srgbClr val="FDEFF1"/>
            </a:solidFill>
            <a:ln>
              <a:noFill/>
            </a:ln>
          </p:spPr>
        </p:sp>
        <p:sp>
          <p:nvSpPr>
            <p:cNvPr id="347" name="Ellipse 347"/>
            <p:cNvSpPr/>
            <p:nvPr/>
          </p:nvSpPr>
          <p:spPr>
            <a:xfrm>
              <a:off x="8572500" y="3219450"/>
              <a:ext cx="342900" cy="342900"/>
            </a:xfrm>
            <a:prstGeom prst="ellipse">
              <a:avLst/>
            </a:prstGeom>
            <a:solidFill>
              <a:srgbClr val="FFFFFF"/>
            </a:solidFill>
            <a:ln>
              <a:noFill/>
            </a:ln>
          </p:spPr>
        </p:sp>
        <p:sp>
          <p:nvSpPr>
            <p:cNvPr id="348" name="Freeform 348"/>
            <p:cNvSpPr/>
            <p:nvPr/>
          </p:nvSpPr>
          <p:spPr>
            <a:xfrm>
              <a:off x="8672512" y="3327400"/>
              <a:ext cx="134937" cy="127000"/>
            </a:xfrm>
            <a:custGeom>
              <a:avLst/>
              <a:gdLst/>
              <a:ahLst/>
              <a:cxnLst/>
              <a:rect l="l" t="t" r="r" b="b"/>
              <a:pathLst>
                <a:path w="134937" h="127000">
                  <a:moveTo>
                    <a:pt x="103187" y="111125"/>
                  </a:moveTo>
                  <a:cubicBezTo>
                    <a:pt x="111955" y="111125"/>
                    <a:pt x="119062" y="118232"/>
                    <a:pt x="119062" y="127000"/>
                  </a:cubicBezTo>
                  <a:cubicBezTo>
                    <a:pt x="119062" y="118232"/>
                    <a:pt x="126170" y="111125"/>
                    <a:pt x="134937" y="111125"/>
                  </a:cubicBezTo>
                  <a:cubicBezTo>
                    <a:pt x="126170" y="111125"/>
                    <a:pt x="119062" y="104017"/>
                    <a:pt x="119062" y="95250"/>
                  </a:cubicBezTo>
                  <a:cubicBezTo>
                    <a:pt x="119062" y="104017"/>
                    <a:pt x="111955" y="111125"/>
                    <a:pt x="103187" y="111125"/>
                  </a:cubicBezTo>
                  <a:moveTo>
                    <a:pt x="103187" y="15875"/>
                  </a:moveTo>
                  <a:cubicBezTo>
                    <a:pt x="111955" y="15875"/>
                    <a:pt x="119062" y="22982"/>
                    <a:pt x="119062" y="31750"/>
                  </a:cubicBezTo>
                  <a:cubicBezTo>
                    <a:pt x="119062" y="22982"/>
                    <a:pt x="126170" y="15875"/>
                    <a:pt x="134937" y="15875"/>
                  </a:cubicBezTo>
                  <a:cubicBezTo>
                    <a:pt x="126170" y="15875"/>
                    <a:pt x="119062" y="8768"/>
                    <a:pt x="119062" y="0"/>
                  </a:cubicBezTo>
                  <a:cubicBezTo>
                    <a:pt x="119062" y="8768"/>
                    <a:pt x="111955" y="15875"/>
                    <a:pt x="103187" y="15875"/>
                  </a:cubicBezTo>
                  <a:moveTo>
                    <a:pt x="47625" y="111125"/>
                  </a:moveTo>
                  <a:cubicBezTo>
                    <a:pt x="47625" y="84822"/>
                    <a:pt x="68947" y="63500"/>
                    <a:pt x="95250" y="63500"/>
                  </a:cubicBezTo>
                  <a:cubicBezTo>
                    <a:pt x="68947" y="63500"/>
                    <a:pt x="47625" y="42178"/>
                    <a:pt x="47625" y="15875"/>
                  </a:cubicBezTo>
                  <a:cubicBezTo>
                    <a:pt x="47625" y="42178"/>
                    <a:pt x="26303" y="63500"/>
                    <a:pt x="0" y="63500"/>
                  </a:cubicBezTo>
                  <a:cubicBezTo>
                    <a:pt x="26303" y="63500"/>
                    <a:pt x="47625" y="84822"/>
                    <a:pt x="47625" y="111125"/>
                  </a:cubicBezTo>
                </a:path>
              </a:pathLst>
            </a:custGeom>
            <a:noFill/>
            <a:ln w="15875">
              <a:solidFill>
                <a:srgbClr val="C83210"/>
              </a:solidFill>
            </a:ln>
          </p:spPr>
        </p:sp>
        <p:sp>
          <p:nvSpPr>
            <p:cNvPr id="349" name="TextBox 349"/>
            <p:cNvSpPr txBox="1"/>
            <p:nvPr/>
          </p:nvSpPr>
          <p:spPr>
            <a:xfrm>
              <a:off x="8489652" y="3633788"/>
              <a:ext cx="508597"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AI生成初稿</a:t>
              </a:r>
            </a:p>
          </p:txBody>
        </p:sp>
        <p:sp>
          <p:nvSpPr>
            <p:cNvPr id="350" name="TextBox 350"/>
            <p:cNvSpPr txBox="1"/>
            <p:nvPr/>
          </p:nvSpPr>
          <p:spPr>
            <a:xfrm>
              <a:off x="8281988" y="3821430"/>
              <a:ext cx="489585"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多版本文案</a:t>
              </a:r>
            </a:p>
          </p:txBody>
        </p:sp>
        <p:sp>
          <p:nvSpPr>
            <p:cNvPr id="351" name="TextBox 351"/>
            <p:cNvSpPr txBox="1"/>
            <p:nvPr/>
          </p:nvSpPr>
          <p:spPr>
            <a:xfrm>
              <a:off x="8281988" y="3954780"/>
              <a:ext cx="489585"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个性化表达</a:t>
              </a:r>
            </a:p>
          </p:txBody>
        </p:sp>
        <p:sp>
          <p:nvSpPr>
            <p:cNvPr id="352" name="TextBox 352"/>
            <p:cNvSpPr txBox="1"/>
            <p:nvPr/>
          </p:nvSpPr>
          <p:spPr>
            <a:xfrm>
              <a:off x="8281988" y="4088130"/>
              <a:ext cx="489585"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合规四配套</a:t>
              </a:r>
            </a:p>
          </p:txBody>
        </p:sp>
        <p:sp>
          <p:nvSpPr>
            <p:cNvPr id="353" name="TextBox 353"/>
            <p:cNvSpPr txBox="1"/>
            <p:nvPr/>
          </p:nvSpPr>
          <p:spPr>
            <a:xfrm>
              <a:off x="8281988" y="4221480"/>
              <a:ext cx="570357"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标注适用范围</a:t>
              </a:r>
            </a:p>
          </p:txBody>
        </p:sp>
        <p:sp>
          <p:nvSpPr>
            <p:cNvPr id="354" name="Rectangle 354"/>
            <p:cNvSpPr/>
            <p:nvPr/>
          </p:nvSpPr>
          <p:spPr>
            <a:xfrm>
              <a:off x="9505950" y="3162300"/>
              <a:ext cx="1181100" cy="1200150"/>
            </a:xfrm>
            <a:prstGeom prst="roundRect">
              <a:avLst>
                <a:gd name="adj" fmla="val 4839"/>
              </a:avLst>
            </a:prstGeom>
            <a:solidFill>
              <a:srgbClr val="FDEFF1"/>
            </a:solidFill>
            <a:ln>
              <a:noFill/>
            </a:ln>
          </p:spPr>
        </p:sp>
        <p:sp>
          <p:nvSpPr>
            <p:cNvPr id="355" name="Ellipse 355"/>
            <p:cNvSpPr/>
            <p:nvPr/>
          </p:nvSpPr>
          <p:spPr>
            <a:xfrm>
              <a:off x="9925050" y="3219450"/>
              <a:ext cx="342900" cy="342900"/>
            </a:xfrm>
            <a:prstGeom prst="ellipse">
              <a:avLst/>
            </a:prstGeom>
            <a:solidFill>
              <a:srgbClr val="FFFFFF"/>
            </a:solidFill>
            <a:ln>
              <a:noFill/>
            </a:ln>
          </p:spPr>
        </p:sp>
        <p:grpSp>
          <p:nvGrpSpPr>
            <p:cNvPr id="358" name="Group 358"/>
            <p:cNvGrpSpPr/>
            <p:nvPr/>
          </p:nvGrpSpPr>
          <p:grpSpPr>
            <a:xfrm>
              <a:off x="10014350" y="3319462"/>
              <a:ext cx="155005" cy="142875"/>
              <a:chOff x="10014350" y="3319462"/>
              <a:chExt cx="155005" cy="142875"/>
            </a:xfrm>
          </p:grpSpPr>
          <p:sp>
            <p:nvSpPr>
              <p:cNvPr id="356" name="Freeform 356"/>
              <p:cNvSpPr/>
              <p:nvPr/>
            </p:nvSpPr>
            <p:spPr>
              <a:xfrm>
                <a:off x="10014350" y="331946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C83210"/>
                </a:solidFill>
              </a:ln>
            </p:spPr>
          </p:sp>
          <p:sp>
            <p:nvSpPr>
              <p:cNvPr id="357" name="Freeform 357"/>
              <p:cNvSpPr/>
              <p:nvPr/>
            </p:nvSpPr>
            <p:spPr>
              <a:xfrm>
                <a:off x="10120312" y="3430587"/>
                <a:ext cx="47625" cy="31750"/>
              </a:xfrm>
              <a:custGeom>
                <a:avLst/>
                <a:gdLst/>
                <a:ahLst/>
                <a:cxnLst/>
                <a:rect l="l" t="t" r="r" b="b"/>
                <a:pathLst>
                  <a:path w="47625" h="31750">
                    <a:moveTo>
                      <a:pt x="0" y="15875"/>
                    </a:moveTo>
                    <a:lnTo>
                      <a:pt x="15875" y="31750"/>
                    </a:lnTo>
                    <a:lnTo>
                      <a:pt x="47625" y="0"/>
                    </a:lnTo>
                  </a:path>
                </a:pathLst>
              </a:custGeom>
              <a:noFill/>
              <a:ln w="15875">
                <a:solidFill>
                  <a:srgbClr val="C83210"/>
                </a:solidFill>
              </a:ln>
            </p:spPr>
          </p:sp>
        </p:grpSp>
        <p:sp>
          <p:nvSpPr>
            <p:cNvPr id="359" name="TextBox 359"/>
            <p:cNvSpPr txBox="1"/>
            <p:nvPr/>
          </p:nvSpPr>
          <p:spPr>
            <a:xfrm>
              <a:off x="9889808" y="363378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合规审核</a:t>
              </a:r>
            </a:p>
          </p:txBody>
        </p:sp>
        <p:sp>
          <p:nvSpPr>
            <p:cNvPr id="360" name="TextBox 360"/>
            <p:cNvSpPr txBox="1"/>
            <p:nvPr/>
          </p:nvSpPr>
          <p:spPr>
            <a:xfrm>
              <a:off x="9634538" y="3821430"/>
              <a:ext cx="489585"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敏感词检测</a:t>
              </a:r>
            </a:p>
          </p:txBody>
        </p:sp>
        <p:sp>
          <p:nvSpPr>
            <p:cNvPr id="361" name="TextBox 361"/>
            <p:cNvSpPr txBox="1"/>
            <p:nvPr/>
          </p:nvSpPr>
          <p:spPr>
            <a:xfrm>
              <a:off x="9634538" y="3954780"/>
              <a:ext cx="570357"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营销合规审核</a:t>
              </a:r>
            </a:p>
          </p:txBody>
        </p:sp>
        <p:sp>
          <p:nvSpPr>
            <p:cNvPr id="362" name="TextBox 362"/>
            <p:cNvSpPr txBox="1"/>
            <p:nvPr/>
          </p:nvSpPr>
          <p:spPr>
            <a:xfrm>
              <a:off x="9634538" y="4088130"/>
              <a:ext cx="570357"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风险提示补全</a:t>
              </a:r>
            </a:p>
          </p:txBody>
        </p:sp>
        <p:sp>
          <p:nvSpPr>
            <p:cNvPr id="363" name="TextBox 363"/>
            <p:cNvSpPr txBox="1"/>
            <p:nvPr/>
          </p:nvSpPr>
          <p:spPr>
            <a:xfrm>
              <a:off x="9634538" y="4221480"/>
              <a:ext cx="570357"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人工确认发布</a:t>
              </a:r>
            </a:p>
          </p:txBody>
        </p:sp>
        <p:sp>
          <p:nvSpPr>
            <p:cNvPr id="364" name="Rectangle 364"/>
            <p:cNvSpPr/>
            <p:nvPr/>
          </p:nvSpPr>
          <p:spPr>
            <a:xfrm>
              <a:off x="10858500" y="3162300"/>
              <a:ext cx="1181100" cy="1200150"/>
            </a:xfrm>
            <a:prstGeom prst="roundRect">
              <a:avLst>
                <a:gd name="adj" fmla="val 4839"/>
              </a:avLst>
            </a:prstGeom>
            <a:solidFill>
              <a:srgbClr val="FDEFF1"/>
            </a:solidFill>
            <a:ln>
              <a:noFill/>
            </a:ln>
          </p:spPr>
        </p:sp>
        <p:sp>
          <p:nvSpPr>
            <p:cNvPr id="365" name="Ellipse 365"/>
            <p:cNvSpPr/>
            <p:nvPr/>
          </p:nvSpPr>
          <p:spPr>
            <a:xfrm>
              <a:off x="11277600" y="3219450"/>
              <a:ext cx="342900" cy="342900"/>
            </a:xfrm>
            <a:prstGeom prst="ellipse">
              <a:avLst/>
            </a:prstGeom>
            <a:solidFill>
              <a:srgbClr val="FFFFFF"/>
            </a:solidFill>
            <a:ln>
              <a:noFill/>
            </a:ln>
          </p:spPr>
        </p:sp>
        <p:grpSp>
          <p:nvGrpSpPr>
            <p:cNvPr id="369" name="Group 369"/>
            <p:cNvGrpSpPr/>
            <p:nvPr/>
          </p:nvGrpSpPr>
          <p:grpSpPr>
            <a:xfrm>
              <a:off x="11401425" y="3319462"/>
              <a:ext cx="119062" cy="142875"/>
              <a:chOff x="11401425" y="3319462"/>
              <a:chExt cx="119062" cy="142875"/>
            </a:xfrm>
          </p:grpSpPr>
          <p:sp>
            <p:nvSpPr>
              <p:cNvPr id="366" name="Freeform 366"/>
              <p:cNvSpPr/>
              <p:nvPr/>
            </p:nvSpPr>
            <p:spPr>
              <a:xfrm>
                <a:off x="11417300" y="33194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C83210"/>
                </a:solidFill>
              </a:ln>
            </p:spPr>
          </p:sp>
          <p:sp>
            <p:nvSpPr>
              <p:cNvPr id="367" name="Freeform 367"/>
              <p:cNvSpPr/>
              <p:nvPr/>
            </p:nvSpPr>
            <p:spPr>
              <a:xfrm>
                <a:off x="11401425" y="341471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C83210"/>
                </a:solidFill>
              </a:ln>
            </p:spPr>
          </p:sp>
          <p:sp>
            <p:nvSpPr>
              <p:cNvPr id="368" name="Freeform 368"/>
              <p:cNvSpPr/>
              <p:nvPr/>
            </p:nvSpPr>
            <p:spPr>
              <a:xfrm>
                <a:off x="11472862" y="3430587"/>
                <a:ext cx="47625" cy="31750"/>
              </a:xfrm>
              <a:custGeom>
                <a:avLst/>
                <a:gdLst/>
                <a:ahLst/>
                <a:cxnLst/>
                <a:rect l="l" t="t" r="r" b="b"/>
                <a:pathLst>
                  <a:path w="47625" h="31750">
                    <a:moveTo>
                      <a:pt x="0" y="15875"/>
                    </a:moveTo>
                    <a:lnTo>
                      <a:pt x="15875" y="31750"/>
                    </a:lnTo>
                    <a:lnTo>
                      <a:pt x="47625" y="0"/>
                    </a:lnTo>
                  </a:path>
                </a:pathLst>
              </a:custGeom>
              <a:noFill/>
              <a:ln w="15875">
                <a:solidFill>
                  <a:srgbClr val="C83210"/>
                </a:solidFill>
              </a:ln>
            </p:spPr>
          </p:sp>
        </p:grpSp>
        <p:sp>
          <p:nvSpPr>
            <p:cNvPr id="370" name="TextBox 370"/>
            <p:cNvSpPr txBox="1"/>
            <p:nvPr/>
          </p:nvSpPr>
          <p:spPr>
            <a:xfrm>
              <a:off x="11242358" y="363378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员工使用</a:t>
              </a:r>
            </a:p>
          </p:txBody>
        </p:sp>
        <p:sp>
          <p:nvSpPr>
            <p:cNvPr id="371" name="TextBox 371"/>
            <p:cNvSpPr txBox="1"/>
            <p:nvPr/>
          </p:nvSpPr>
          <p:spPr>
            <a:xfrm>
              <a:off x="10987088" y="3821430"/>
              <a:ext cx="408813"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一键发送</a:t>
              </a:r>
            </a:p>
          </p:txBody>
        </p:sp>
        <p:sp>
          <p:nvSpPr>
            <p:cNvPr id="372" name="TextBox 372"/>
            <p:cNvSpPr txBox="1"/>
            <p:nvPr/>
          </p:nvSpPr>
          <p:spPr>
            <a:xfrm>
              <a:off x="10987088" y="3954780"/>
              <a:ext cx="651129"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支持个性化修改</a:t>
              </a:r>
            </a:p>
          </p:txBody>
        </p:sp>
        <p:sp>
          <p:nvSpPr>
            <p:cNvPr id="373" name="TextBox 373"/>
            <p:cNvSpPr txBox="1"/>
            <p:nvPr/>
          </p:nvSpPr>
          <p:spPr>
            <a:xfrm>
              <a:off x="10987088" y="4088130"/>
              <a:ext cx="570357" cy="119062"/>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600" dirty="0">
                  <a:solidFill>
                    <a:srgbClr val="3D3D3D"/>
                  </a:solidFill>
                  <a:latin typeface="+mn-lt"/>
                  <a:ea typeface="+mn-ea"/>
                  <a:cs typeface="+mn-cs"/>
                </a:rPr>
                <a:t>沉淀优质模板</a:t>
              </a:r>
            </a:p>
          </p:txBody>
        </p:sp>
        <p:sp>
          <p:nvSpPr>
            <p:cNvPr id="374" name="Freeform 374"/>
            <p:cNvSpPr/>
            <p:nvPr/>
          </p:nvSpPr>
          <p:spPr>
            <a:xfrm>
              <a:off x="8001000" y="3352800"/>
              <a:ext cx="133350" cy="133350"/>
            </a:xfrm>
            <a:prstGeom prst="rightArrow">
              <a:avLst/>
            </a:prstGeom>
            <a:solidFill>
              <a:srgbClr val="E9826B"/>
            </a:solidFill>
            <a:ln>
              <a:noFill/>
            </a:ln>
          </p:spPr>
        </p:sp>
        <p:sp>
          <p:nvSpPr>
            <p:cNvPr id="375" name="Freeform 375"/>
            <p:cNvSpPr/>
            <p:nvPr/>
          </p:nvSpPr>
          <p:spPr>
            <a:xfrm>
              <a:off x="9353550" y="3352800"/>
              <a:ext cx="133350" cy="133350"/>
            </a:xfrm>
            <a:prstGeom prst="rightArrow">
              <a:avLst/>
            </a:prstGeom>
            <a:solidFill>
              <a:srgbClr val="E9826B"/>
            </a:solidFill>
            <a:ln>
              <a:noFill/>
            </a:ln>
          </p:spPr>
        </p:sp>
        <p:sp>
          <p:nvSpPr>
            <p:cNvPr id="376" name="Freeform 376"/>
            <p:cNvSpPr/>
            <p:nvPr/>
          </p:nvSpPr>
          <p:spPr>
            <a:xfrm>
              <a:off x="10706100" y="3352800"/>
              <a:ext cx="133350" cy="133350"/>
            </a:xfrm>
            <a:prstGeom prst="rightArrow">
              <a:avLst/>
            </a:prstGeom>
            <a:solidFill>
              <a:srgbClr val="E9826B"/>
            </a:solidFill>
            <a:ln>
              <a:noFill/>
            </a:ln>
          </p:spPr>
        </p:sp>
        <p:sp>
          <p:nvSpPr>
            <p:cNvPr id="377" name="Rectangle 377"/>
            <p:cNvSpPr/>
            <p:nvPr/>
          </p:nvSpPr>
          <p:spPr>
            <a:xfrm>
              <a:off x="6800850" y="4457700"/>
              <a:ext cx="5257800" cy="247650"/>
            </a:xfrm>
            <a:prstGeom prst="roundRect">
              <a:avLst>
                <a:gd name="adj" fmla="val 15385"/>
              </a:avLst>
            </a:prstGeom>
            <a:solidFill>
              <a:srgbClr val="C83210"/>
            </a:solidFill>
            <a:ln>
              <a:noFill/>
            </a:ln>
          </p:spPr>
        </p:sp>
        <p:grpSp>
          <p:nvGrpSpPr>
            <p:cNvPr id="381" name="Group 381"/>
            <p:cNvGrpSpPr/>
            <p:nvPr/>
          </p:nvGrpSpPr>
          <p:grpSpPr>
            <a:xfrm>
              <a:off x="6906740" y="4529673"/>
              <a:ext cx="112066" cy="96280"/>
              <a:chOff x="6906740" y="4529673"/>
              <a:chExt cx="112066" cy="96280"/>
            </a:xfrm>
          </p:grpSpPr>
          <p:sp>
            <p:nvSpPr>
              <p:cNvPr id="378" name="Freeform 378"/>
              <p:cNvSpPr/>
              <p:nvPr/>
            </p:nvSpPr>
            <p:spPr>
              <a:xfrm>
                <a:off x="6962775" y="4564856"/>
                <a:ext cx="9525" cy="22225"/>
              </a:xfrm>
              <a:custGeom>
                <a:avLst/>
                <a:gdLst/>
                <a:ahLst/>
                <a:cxnLst/>
                <a:rect l="l" t="t" r="r" b="b"/>
                <a:pathLst>
                  <a:path w="9525" h="22225">
                    <a:moveTo>
                      <a:pt x="0" y="0"/>
                    </a:moveTo>
                    <a:lnTo>
                      <a:pt x="0" y="22225"/>
                    </a:lnTo>
                  </a:path>
                </a:pathLst>
              </a:custGeom>
              <a:noFill/>
              <a:ln w="11112">
                <a:solidFill>
                  <a:srgbClr val="FFFFFF"/>
                </a:solidFill>
              </a:ln>
            </p:spPr>
          </p:sp>
          <p:sp>
            <p:nvSpPr>
              <p:cNvPr id="379" name="Freeform 379"/>
              <p:cNvSpPr/>
              <p:nvPr/>
            </p:nvSpPr>
            <p:spPr>
              <a:xfrm>
                <a:off x="6906740" y="4529673"/>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FFFFFF"/>
                </a:solidFill>
              </a:ln>
            </p:spPr>
          </p:sp>
          <p:sp>
            <p:nvSpPr>
              <p:cNvPr id="380" name="Freeform 380"/>
              <p:cNvSpPr/>
              <p:nvPr/>
            </p:nvSpPr>
            <p:spPr>
              <a:xfrm>
                <a:off x="6962775" y="4603750"/>
                <a:ext cx="9525" cy="9525"/>
              </a:xfrm>
              <a:custGeom>
                <a:avLst/>
                <a:gdLst/>
                <a:ahLst/>
                <a:cxnLst/>
                <a:rect l="l" t="t" r="r" b="b"/>
                <a:pathLst>
                  <a:path w="9525" h="9525">
                    <a:moveTo>
                      <a:pt x="0" y="0"/>
                    </a:moveTo>
                    <a:lnTo>
                      <a:pt x="56" y="0"/>
                    </a:lnTo>
                  </a:path>
                </a:pathLst>
              </a:custGeom>
              <a:noFill/>
              <a:ln w="11112">
                <a:solidFill>
                  <a:srgbClr val="FFFFFF"/>
                </a:solidFill>
              </a:ln>
            </p:spPr>
          </p:sp>
        </p:grpSp>
        <p:sp>
          <p:nvSpPr>
            <p:cNvPr id="382" name="TextBox 382"/>
            <p:cNvSpPr txBox="1"/>
            <p:nvPr/>
          </p:nvSpPr>
          <p:spPr>
            <a:xfrm>
              <a:off x="7081838" y="4548378"/>
              <a:ext cx="3291883" cy="130493"/>
            </a:xfrm>
            <a:prstGeom prst="rect">
              <a:avLst/>
            </a:prstGeom>
            <a:noFill/>
            <a:ln>
              <a:noFill/>
            </a:ln>
          </p:spPr>
          <p:txBody>
            <a:bodyPr wrap="none" lIns="0" tIns="0" rIns="0" bIns="0" anchor="t" anchorCtr="0">
              <a:spAutoFit/>
            </a:bodyPr>
            <a:lstStyle/>
            <a:p>
              <a:pPr algn="l"/>
              <a:r>
                <a:rPr lang="zh-CN" sz="660" b="1" dirty="0">
                  <a:solidFill>
                    <a:srgbClr val="FFFFFF"/>
                  </a:solidFill>
                  <a:latin typeface="+mn-lt"/>
                  <a:ea typeface="+mn-ea"/>
                  <a:cs typeface="+mn-cs"/>
                </a:rPr>
                <a:t xml:space="preserve">AI仅用于协助生成营销内容，不提供、也不替代任何形式的投资建议或金融决策。　</a:t>
              </a:r>
            </a:p>
          </p:txBody>
        </p:sp>
      </p:grpSp>
      <p:grpSp>
        <p:nvGrpSpPr>
          <p:cNvPr id="414" name="value-cards"/>
          <p:cNvGrpSpPr/>
          <p:nvPr/>
        </p:nvGrpSpPr>
        <p:grpSpPr>
          <a:xfrm>
            <a:off x="6800850" y="5200650"/>
            <a:ext cx="5257800" cy="1466850"/>
            <a:chOff x="6800850" y="5200650"/>
            <a:chExt cx="5257800" cy="1466850"/>
          </a:xfrm>
        </p:grpSpPr>
        <p:sp>
          <p:nvSpPr>
            <p:cNvPr id="384" name="Rectangle 384"/>
            <p:cNvSpPr/>
            <p:nvPr/>
          </p:nvSpPr>
          <p:spPr>
            <a:xfrm>
              <a:off x="6858000" y="5200650"/>
              <a:ext cx="38100" cy="152400"/>
            </a:xfrm>
            <a:prstGeom prst="rect">
              <a:avLst/>
            </a:prstGeom>
            <a:solidFill>
              <a:srgbClr val="C83210"/>
            </a:solidFill>
            <a:ln>
              <a:noFill/>
            </a:ln>
          </p:spPr>
        </p:sp>
        <p:sp>
          <p:nvSpPr>
            <p:cNvPr id="385" name="TextBox 385"/>
            <p:cNvSpPr txBox="1"/>
            <p:nvPr/>
          </p:nvSpPr>
          <p:spPr>
            <a:xfrm>
              <a:off x="6967347" y="5219224"/>
              <a:ext cx="537616"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预期价值</a:t>
              </a:r>
            </a:p>
          </p:txBody>
        </p:sp>
        <p:sp>
          <p:nvSpPr>
            <p:cNvPr id="386" name="Rectangle 386"/>
            <p:cNvSpPr/>
            <p:nvPr/>
          </p:nvSpPr>
          <p:spPr>
            <a:xfrm>
              <a:off x="6800850" y="5429250"/>
              <a:ext cx="1238250" cy="1238250"/>
            </a:xfrm>
            <a:prstGeom prst="roundRect">
              <a:avLst>
                <a:gd name="adj" fmla="val 4615"/>
              </a:avLst>
            </a:prstGeom>
            <a:solidFill>
              <a:srgbClr val="FDEFF1"/>
            </a:solidFill>
            <a:ln>
              <a:noFill/>
            </a:ln>
          </p:spPr>
        </p:sp>
        <p:grpSp>
          <p:nvGrpSpPr>
            <p:cNvPr id="390" name="Group 390"/>
            <p:cNvGrpSpPr/>
            <p:nvPr/>
          </p:nvGrpSpPr>
          <p:grpSpPr>
            <a:xfrm>
              <a:off x="6915150" y="5543550"/>
              <a:ext cx="114300" cy="114300"/>
              <a:chOff x="6915150" y="5543550"/>
              <a:chExt cx="114300" cy="114300"/>
            </a:xfrm>
          </p:grpSpPr>
          <p:sp>
            <p:nvSpPr>
              <p:cNvPr id="387" name="Freeform 387"/>
              <p:cNvSpPr/>
              <p:nvPr/>
            </p:nvSpPr>
            <p:spPr>
              <a:xfrm>
                <a:off x="6965950" y="55943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C83210"/>
                </a:solidFill>
              </a:ln>
            </p:spPr>
          </p:sp>
          <p:sp>
            <p:nvSpPr>
              <p:cNvPr id="388" name="Freeform 388"/>
              <p:cNvSpPr/>
              <p:nvPr/>
            </p:nvSpPr>
            <p:spPr>
              <a:xfrm>
                <a:off x="6940550" y="55689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C83210"/>
                </a:solidFill>
              </a:ln>
            </p:spPr>
          </p:sp>
          <p:sp>
            <p:nvSpPr>
              <p:cNvPr id="389" name="Freeform 389"/>
              <p:cNvSpPr/>
              <p:nvPr/>
            </p:nvSpPr>
            <p:spPr>
              <a:xfrm>
                <a:off x="6915150" y="55435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83210"/>
                </a:solidFill>
              </a:ln>
            </p:spPr>
          </p:sp>
        </p:grpSp>
        <p:sp>
          <p:nvSpPr>
            <p:cNvPr id="391" name="TextBox 391"/>
            <p:cNvSpPr txBox="1"/>
            <p:nvPr/>
          </p:nvSpPr>
          <p:spPr>
            <a:xfrm>
              <a:off x="7100888" y="5579507"/>
              <a:ext cx="69877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一线员工精力聚焦</a:t>
              </a:r>
            </a:p>
          </p:txBody>
        </p:sp>
        <p:sp>
          <p:nvSpPr>
            <p:cNvPr id="392" name="TextBox 392"/>
            <p:cNvSpPr txBox="1"/>
            <p:nvPr/>
          </p:nvSpPr>
          <p:spPr>
            <a:xfrm>
              <a:off x="7107742" y="5901690"/>
              <a:ext cx="624466" cy="352044"/>
            </a:xfrm>
            <a:prstGeom prst="rect">
              <a:avLst/>
            </a:prstGeom>
            <a:noFill/>
            <a:ln>
              <a:noFill/>
            </a:ln>
          </p:spPr>
          <p:txBody>
            <a:bodyPr wrap="none" lIns="0" tIns="0" rIns="0" bIns="0" anchor="t" anchorCtr="0">
              <a:spAutoFit/>
            </a:bodyPr>
            <a:lstStyle/>
            <a:p>
              <a:pPr algn="ctr"/>
              <a:r>
                <a:rPr lang="zh-CN" sz="1800" b="1" dirty="0">
                  <a:solidFill>
                    <a:srgbClr val="C83210"/>
                  </a:solidFill>
                  <a:latin typeface="Arial"/>
                  <a:ea typeface="Arial"/>
                  <a:cs typeface="Arial"/>
                </a:rPr>
                <a:t>60%↑</a:t>
              </a:r>
            </a:p>
          </p:txBody>
        </p:sp>
        <p:sp>
          <p:nvSpPr>
            <p:cNvPr id="393" name="TextBox 393"/>
            <p:cNvSpPr txBox="1"/>
            <p:nvPr/>
          </p:nvSpPr>
          <p:spPr>
            <a:xfrm>
              <a:off x="7027507" y="6370082"/>
              <a:ext cx="78493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减少低意向客户干扰</a:t>
              </a:r>
            </a:p>
          </p:txBody>
        </p:sp>
        <p:sp>
          <p:nvSpPr>
            <p:cNvPr id="394" name="Rectangle 394"/>
            <p:cNvSpPr/>
            <p:nvPr/>
          </p:nvSpPr>
          <p:spPr>
            <a:xfrm>
              <a:off x="8143875" y="5429250"/>
              <a:ext cx="1238250" cy="1238250"/>
            </a:xfrm>
            <a:prstGeom prst="roundRect">
              <a:avLst>
                <a:gd name="adj" fmla="val 4615"/>
              </a:avLst>
            </a:prstGeom>
            <a:solidFill>
              <a:srgbClr val="FDEFF1"/>
            </a:solidFill>
            <a:ln>
              <a:noFill/>
            </a:ln>
          </p:spPr>
        </p:sp>
        <p:grpSp>
          <p:nvGrpSpPr>
            <p:cNvPr id="398" name="Group 398"/>
            <p:cNvGrpSpPr/>
            <p:nvPr/>
          </p:nvGrpSpPr>
          <p:grpSpPr>
            <a:xfrm>
              <a:off x="8262519" y="5549900"/>
              <a:ext cx="103606" cy="103606"/>
              <a:chOff x="8262519" y="5549900"/>
              <a:chExt cx="103606" cy="103606"/>
            </a:xfrm>
          </p:grpSpPr>
          <p:sp>
            <p:nvSpPr>
              <p:cNvPr id="395" name="Freeform 395"/>
              <p:cNvSpPr/>
              <p:nvPr/>
            </p:nvSpPr>
            <p:spPr>
              <a:xfrm>
                <a:off x="8264525" y="5549900"/>
                <a:ext cx="101600" cy="101600"/>
              </a:xfrm>
              <a:custGeom>
                <a:avLst/>
                <a:gdLst/>
                <a:ahLst/>
                <a:cxnLst/>
                <a:rect l="l" t="t" r="r" b="b"/>
                <a:pathLst>
                  <a:path w="101600" h="101600">
                    <a:moveTo>
                      <a:pt x="0" y="57150"/>
                    </a:moveTo>
                    <a:cubicBezTo>
                      <a:pt x="23306" y="59920"/>
                      <a:pt x="41680" y="78294"/>
                      <a:pt x="44450" y="101600"/>
                    </a:cubicBezTo>
                    <a:cubicBezTo>
                      <a:pt x="55861" y="95021"/>
                      <a:pt x="63065" y="83015"/>
                      <a:pt x="63500" y="69850"/>
                    </a:cubicBezTo>
                    <a:cubicBezTo>
                      <a:pt x="85304" y="62180"/>
                      <a:pt x="100342" y="42130"/>
                      <a:pt x="101600" y="19050"/>
                    </a:cubicBezTo>
                    <a:cubicBezTo>
                      <a:pt x="101600" y="8529"/>
                      <a:pt x="93071" y="0"/>
                      <a:pt x="82550" y="0"/>
                    </a:cubicBezTo>
                    <a:cubicBezTo>
                      <a:pt x="59470" y="1258"/>
                      <a:pt x="39420" y="16296"/>
                      <a:pt x="31750" y="38100"/>
                    </a:cubicBezTo>
                    <a:cubicBezTo>
                      <a:pt x="18585" y="38535"/>
                      <a:pt x="6579" y="45739"/>
                      <a:pt x="0" y="57150"/>
                    </a:cubicBezTo>
                  </a:path>
                </a:pathLst>
              </a:custGeom>
              <a:noFill/>
              <a:ln w="12700">
                <a:solidFill>
                  <a:srgbClr val="C83210"/>
                </a:solidFill>
              </a:ln>
            </p:spPr>
          </p:sp>
          <p:sp>
            <p:nvSpPr>
              <p:cNvPr id="396" name="Freeform 396"/>
              <p:cNvSpPr/>
              <p:nvPr/>
            </p:nvSpPr>
            <p:spPr>
              <a:xfrm>
                <a:off x="8262519" y="5613400"/>
                <a:ext cx="40106" cy="40106"/>
              </a:xfrm>
              <a:custGeom>
                <a:avLst/>
                <a:gdLst/>
                <a:ahLst/>
                <a:cxnLst/>
                <a:rect l="l" t="t" r="r" b="b"/>
                <a:pathLst>
                  <a:path w="40106" h="40106">
                    <a:moveTo>
                      <a:pt x="21056" y="0"/>
                    </a:moveTo>
                    <a:cubicBezTo>
                      <a:pt x="7536" y="7633"/>
                      <a:pt x="0" y="22705"/>
                      <a:pt x="2006" y="38100"/>
                    </a:cubicBezTo>
                    <a:cubicBezTo>
                      <a:pt x="17401" y="40106"/>
                      <a:pt x="32473" y="32570"/>
                      <a:pt x="40106" y="19050"/>
                    </a:cubicBezTo>
                  </a:path>
                </a:pathLst>
              </a:custGeom>
              <a:noFill/>
              <a:ln w="12700">
                <a:solidFill>
                  <a:srgbClr val="C83210"/>
                </a:solidFill>
              </a:ln>
            </p:spPr>
          </p:sp>
          <p:sp>
            <p:nvSpPr>
              <p:cNvPr id="397" name="Freeform 397"/>
              <p:cNvSpPr/>
              <p:nvPr/>
            </p:nvSpPr>
            <p:spPr>
              <a:xfrm>
                <a:off x="8328025" y="55753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C83210"/>
                </a:solidFill>
              </a:ln>
            </p:spPr>
          </p:sp>
        </p:grpSp>
        <p:sp>
          <p:nvSpPr>
            <p:cNvPr id="399" name="TextBox 399"/>
            <p:cNvSpPr txBox="1"/>
            <p:nvPr/>
          </p:nvSpPr>
          <p:spPr>
            <a:xfrm>
              <a:off x="8443912" y="5579507"/>
              <a:ext cx="69877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客户触达效率提升</a:t>
              </a:r>
            </a:p>
          </p:txBody>
        </p:sp>
        <p:sp>
          <p:nvSpPr>
            <p:cNvPr id="400" name="TextBox 400"/>
            <p:cNvSpPr txBox="1"/>
            <p:nvPr/>
          </p:nvSpPr>
          <p:spPr>
            <a:xfrm>
              <a:off x="8504731" y="5901690"/>
              <a:ext cx="516538" cy="352044"/>
            </a:xfrm>
            <a:prstGeom prst="rect">
              <a:avLst/>
            </a:prstGeom>
            <a:noFill/>
            <a:ln>
              <a:noFill/>
            </a:ln>
          </p:spPr>
          <p:txBody>
            <a:bodyPr wrap="none" lIns="0" tIns="0" rIns="0" bIns="0" anchor="t" anchorCtr="0">
              <a:spAutoFit/>
            </a:bodyPr>
            <a:lstStyle/>
            <a:p>
              <a:pPr algn="ctr"/>
              <a:r>
                <a:rPr lang="zh-CN" sz="1800" b="1" dirty="0">
                  <a:solidFill>
                    <a:srgbClr val="C83210"/>
                  </a:solidFill>
                  <a:latin typeface="Arial"/>
                  <a:ea typeface="Microsoft YaHei"/>
                  <a:cs typeface="Arial"/>
                </a:rPr>
                <a:t>3倍↑</a:t>
              </a:r>
            </a:p>
          </p:txBody>
        </p:sp>
        <p:sp>
          <p:nvSpPr>
            <p:cNvPr id="401" name="TextBox 401"/>
            <p:cNvSpPr txBox="1"/>
            <p:nvPr/>
          </p:nvSpPr>
          <p:spPr>
            <a:xfrm>
              <a:off x="8413610" y="6370082"/>
              <a:ext cx="698779"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标准化自动化运营</a:t>
              </a:r>
            </a:p>
          </p:txBody>
        </p:sp>
        <p:sp>
          <p:nvSpPr>
            <p:cNvPr id="402" name="Rectangle 402"/>
            <p:cNvSpPr/>
            <p:nvPr/>
          </p:nvSpPr>
          <p:spPr>
            <a:xfrm>
              <a:off x="9486900" y="5429250"/>
              <a:ext cx="1238250" cy="1238250"/>
            </a:xfrm>
            <a:prstGeom prst="roundRect">
              <a:avLst>
                <a:gd name="adj" fmla="val 4615"/>
              </a:avLst>
            </a:prstGeom>
            <a:solidFill>
              <a:srgbClr val="FDEFF1"/>
            </a:solidFill>
            <a:ln>
              <a:noFill/>
            </a:ln>
          </p:spPr>
        </p:sp>
        <p:sp>
          <p:nvSpPr>
            <p:cNvPr id="403" name="Freeform 403"/>
            <p:cNvSpPr/>
            <p:nvPr/>
          </p:nvSpPr>
          <p:spPr>
            <a:xfrm>
              <a:off x="9599001" y="5548271"/>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C83210"/>
              </a:solidFill>
            </a:ln>
          </p:spPr>
        </p:sp>
        <p:sp>
          <p:nvSpPr>
            <p:cNvPr id="404" name="TextBox 404"/>
            <p:cNvSpPr txBox="1"/>
            <p:nvPr/>
          </p:nvSpPr>
          <p:spPr>
            <a:xfrm>
              <a:off x="9786938" y="5579507"/>
              <a:ext cx="78493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高意向客户转化提升</a:t>
              </a:r>
            </a:p>
          </p:txBody>
        </p:sp>
        <p:sp>
          <p:nvSpPr>
            <p:cNvPr id="405" name="TextBox 405"/>
            <p:cNvSpPr txBox="1"/>
            <p:nvPr/>
          </p:nvSpPr>
          <p:spPr>
            <a:xfrm>
              <a:off x="9793792" y="5901690"/>
              <a:ext cx="624466" cy="352044"/>
            </a:xfrm>
            <a:prstGeom prst="rect">
              <a:avLst/>
            </a:prstGeom>
            <a:noFill/>
            <a:ln>
              <a:noFill/>
            </a:ln>
          </p:spPr>
          <p:txBody>
            <a:bodyPr wrap="none" lIns="0" tIns="0" rIns="0" bIns="0" anchor="t" anchorCtr="0">
              <a:spAutoFit/>
            </a:bodyPr>
            <a:lstStyle/>
            <a:p>
              <a:pPr algn="ctr"/>
              <a:r>
                <a:rPr lang="zh-CN" sz="1800" b="1" dirty="0">
                  <a:solidFill>
                    <a:srgbClr val="C83210"/>
                  </a:solidFill>
                  <a:latin typeface="Arial"/>
                  <a:ea typeface="Arial"/>
                  <a:cs typeface="Arial"/>
                </a:rPr>
                <a:t>30%↑</a:t>
              </a:r>
            </a:p>
          </p:txBody>
        </p:sp>
        <p:sp>
          <p:nvSpPr>
            <p:cNvPr id="406" name="TextBox 406"/>
            <p:cNvSpPr txBox="1"/>
            <p:nvPr/>
          </p:nvSpPr>
          <p:spPr>
            <a:xfrm>
              <a:off x="9756635" y="6370082"/>
              <a:ext cx="698779"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更及时的精准跟进</a:t>
              </a:r>
            </a:p>
          </p:txBody>
        </p:sp>
        <p:sp>
          <p:nvSpPr>
            <p:cNvPr id="407" name="Rectangle 407"/>
            <p:cNvSpPr/>
            <p:nvPr/>
          </p:nvSpPr>
          <p:spPr>
            <a:xfrm>
              <a:off x="10829925" y="5429250"/>
              <a:ext cx="1228725" cy="1238250"/>
            </a:xfrm>
            <a:prstGeom prst="roundRect">
              <a:avLst>
                <a:gd name="adj" fmla="val 4651"/>
              </a:avLst>
            </a:prstGeom>
            <a:solidFill>
              <a:srgbClr val="FDEFF1"/>
            </a:solidFill>
            <a:ln>
              <a:noFill/>
            </a:ln>
          </p:spPr>
        </p:sp>
        <p:grpSp>
          <p:nvGrpSpPr>
            <p:cNvPr id="410" name="Group 410"/>
            <p:cNvGrpSpPr/>
            <p:nvPr/>
          </p:nvGrpSpPr>
          <p:grpSpPr>
            <a:xfrm>
              <a:off x="10944225" y="5543550"/>
              <a:ext cx="114300" cy="114300"/>
              <a:chOff x="10944225" y="5543550"/>
              <a:chExt cx="114300" cy="114300"/>
            </a:xfrm>
          </p:grpSpPr>
          <p:sp>
            <p:nvSpPr>
              <p:cNvPr id="408" name="Freeform 408"/>
              <p:cNvSpPr/>
              <p:nvPr/>
            </p:nvSpPr>
            <p:spPr>
              <a:xfrm>
                <a:off x="10944225" y="55435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83210"/>
                </a:solidFill>
              </a:ln>
            </p:spPr>
          </p:sp>
          <p:sp>
            <p:nvSpPr>
              <p:cNvPr id="409" name="Freeform 409"/>
              <p:cNvSpPr/>
              <p:nvPr/>
            </p:nvSpPr>
            <p:spPr>
              <a:xfrm>
                <a:off x="11001375" y="5568950"/>
                <a:ext cx="19050" cy="50800"/>
              </a:xfrm>
              <a:custGeom>
                <a:avLst/>
                <a:gdLst/>
                <a:ahLst/>
                <a:cxnLst/>
                <a:rect l="l" t="t" r="r" b="b"/>
                <a:pathLst>
                  <a:path w="19050" h="50800">
                    <a:moveTo>
                      <a:pt x="0" y="0"/>
                    </a:moveTo>
                    <a:lnTo>
                      <a:pt x="0" y="31750"/>
                    </a:lnTo>
                    <a:lnTo>
                      <a:pt x="19050" y="50800"/>
                    </a:lnTo>
                  </a:path>
                </a:pathLst>
              </a:custGeom>
              <a:noFill/>
              <a:ln w="12700">
                <a:solidFill>
                  <a:srgbClr val="C83210"/>
                </a:solidFill>
              </a:ln>
            </p:spPr>
          </p:sp>
        </p:grpSp>
        <p:sp>
          <p:nvSpPr>
            <p:cNvPr id="411" name="TextBox 411"/>
            <p:cNvSpPr txBox="1"/>
            <p:nvPr/>
          </p:nvSpPr>
          <p:spPr>
            <a:xfrm>
              <a:off x="11129962" y="5579507"/>
              <a:ext cx="526466"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客户响应时效</a:t>
              </a:r>
            </a:p>
          </p:txBody>
        </p:sp>
        <p:sp>
          <p:nvSpPr>
            <p:cNvPr id="412" name="TextBox 412"/>
            <p:cNvSpPr txBox="1"/>
            <p:nvPr/>
          </p:nvSpPr>
          <p:spPr>
            <a:xfrm>
              <a:off x="11127292" y="5901690"/>
              <a:ext cx="624466" cy="352044"/>
            </a:xfrm>
            <a:prstGeom prst="rect">
              <a:avLst/>
            </a:prstGeom>
            <a:noFill/>
            <a:ln>
              <a:noFill/>
            </a:ln>
          </p:spPr>
          <p:txBody>
            <a:bodyPr wrap="none" lIns="0" tIns="0" rIns="0" bIns="0" anchor="t" anchorCtr="0">
              <a:spAutoFit/>
            </a:bodyPr>
            <a:lstStyle/>
            <a:p>
              <a:pPr algn="ctr"/>
              <a:r>
                <a:rPr lang="zh-CN" sz="1800" b="1" dirty="0">
                  <a:solidFill>
                    <a:srgbClr val="C83210"/>
                  </a:solidFill>
                  <a:latin typeface="Arial"/>
                  <a:ea typeface="Arial"/>
                  <a:cs typeface="Arial"/>
                </a:rPr>
                <a:t>50%↓</a:t>
              </a:r>
            </a:p>
          </p:txBody>
        </p:sp>
        <p:sp>
          <p:nvSpPr>
            <p:cNvPr id="413" name="TextBox 413"/>
            <p:cNvSpPr txBox="1"/>
            <p:nvPr/>
          </p:nvSpPr>
          <p:spPr>
            <a:xfrm>
              <a:off x="11133214" y="6370082"/>
              <a:ext cx="612623"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mn-lt"/>
                  <a:ea typeface="+mn-ea"/>
                  <a:cs typeface="+mn-cs"/>
                </a:rPr>
                <a:t>从天级到小时级</a:t>
              </a:r>
            </a:p>
          </p:txBody>
        </p:sp>
      </p:gr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13</a:t>
              </a:r>
            </a:p>
          </p:txBody>
        </p:sp>
        <p:sp>
          <p:nvSpPr>
            <p:cNvPr id="4" name="TextBox 4"/>
            <p:cNvSpPr txBox="1"/>
            <p:nvPr/>
          </p:nvSpPr>
          <p:spPr>
            <a:xfrm>
              <a:off x="942594" y="151448"/>
              <a:ext cx="6954012"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支行执行</a:t>
              </a:r>
              <a:r>
                <a:rPr lang="zh-CN" sz="1950" b="1" dirty="0">
                  <a:solidFill>
                    <a:srgbClr val="222222"/>
                  </a:solidFill>
                  <a:latin typeface="SimSun"/>
                  <a:ea typeface="SimSun"/>
                  <a:cs typeface="SimSun"/>
                </a:rPr>
                <a:t>｜零售部统一供给，支行全员完成客户经营任务</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57" name="org-flow"/>
          <p:cNvGrpSpPr/>
          <p:nvPr/>
        </p:nvGrpSpPr>
        <p:grpSpPr>
          <a:xfrm>
            <a:off x="133350" y="628650"/>
            <a:ext cx="11925300" cy="914400"/>
            <a:chOff x="133350" y="628650"/>
            <a:chExt cx="11925300" cy="914400"/>
          </a:xfrm>
        </p:grpSpPr>
        <p:sp>
          <p:nvSpPr>
            <p:cNvPr id="7" name="Rectangle 7"/>
            <p:cNvSpPr/>
            <p:nvPr/>
          </p:nvSpPr>
          <p:spPr>
            <a:xfrm>
              <a:off x="133350" y="628650"/>
              <a:ext cx="3810000" cy="914400"/>
            </a:xfrm>
            <a:prstGeom prst="roundRect">
              <a:avLst>
                <a:gd name="adj" fmla="val 6250"/>
              </a:avLst>
            </a:prstGeom>
            <a:solidFill>
              <a:srgbClr val="FDEFF1"/>
            </a:solidFill>
            <a:ln>
              <a:noFill/>
            </a:ln>
          </p:spPr>
        </p:sp>
        <p:sp>
          <p:nvSpPr>
            <p:cNvPr id="8" name="Rectangle 8"/>
            <p:cNvSpPr/>
            <p:nvPr/>
          </p:nvSpPr>
          <p:spPr>
            <a:xfrm>
              <a:off x="133350" y="628650"/>
              <a:ext cx="1143000" cy="914400"/>
            </a:xfrm>
            <a:prstGeom prst="roundRect">
              <a:avLst>
                <a:gd name="adj" fmla="val 6250"/>
              </a:avLst>
            </a:prstGeom>
            <a:solidFill>
              <a:srgbClr val="8F230A"/>
            </a:solidFill>
            <a:ln>
              <a:noFill/>
            </a:ln>
          </p:spPr>
        </p:sp>
        <p:grpSp>
          <p:nvGrpSpPr>
            <p:cNvPr id="17" name="Group 17"/>
            <p:cNvGrpSpPr/>
            <p:nvPr/>
          </p:nvGrpSpPr>
          <p:grpSpPr>
            <a:xfrm>
              <a:off x="619125" y="733425"/>
              <a:ext cx="171450" cy="180975"/>
              <a:chOff x="619125" y="733425"/>
              <a:chExt cx="171450" cy="180975"/>
            </a:xfrm>
          </p:grpSpPr>
          <p:sp>
            <p:nvSpPr>
              <p:cNvPr id="9" name="Freeform 9"/>
              <p:cNvSpPr/>
              <p:nvPr/>
            </p:nvSpPr>
            <p:spPr>
              <a:xfrm>
                <a:off x="619125" y="90487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0" name="Freeform 10"/>
              <p:cNvSpPr/>
              <p:nvPr/>
            </p:nvSpPr>
            <p:spPr>
              <a:xfrm>
                <a:off x="619125" y="800100"/>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1" name="Freeform 11"/>
              <p:cNvSpPr/>
              <p:nvPr/>
            </p:nvSpPr>
            <p:spPr>
              <a:xfrm>
                <a:off x="638175" y="733425"/>
                <a:ext cx="133350" cy="28575"/>
              </a:xfrm>
              <a:custGeom>
                <a:avLst/>
                <a:gdLst/>
                <a:ahLst/>
                <a:cxnLst/>
                <a:rect l="l" t="t" r="r" b="b"/>
                <a:pathLst>
                  <a:path w="133350" h="28575">
                    <a:moveTo>
                      <a:pt x="0" y="28575"/>
                    </a:moveTo>
                    <a:lnTo>
                      <a:pt x="66675" y="0"/>
                    </a:lnTo>
                    <a:lnTo>
                      <a:pt x="133350" y="28575"/>
                    </a:lnTo>
                  </a:path>
                </a:pathLst>
              </a:custGeom>
              <a:noFill/>
              <a:ln w="19050">
                <a:solidFill>
                  <a:srgbClr val="FFFFFF"/>
                </a:solidFill>
              </a:ln>
            </p:spPr>
          </p:sp>
          <p:sp>
            <p:nvSpPr>
              <p:cNvPr id="12" name="Freeform 12"/>
              <p:cNvSpPr/>
              <p:nvPr/>
            </p:nvSpPr>
            <p:spPr>
              <a:xfrm>
                <a:off x="628650" y="8001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3" name="Freeform 13"/>
              <p:cNvSpPr/>
              <p:nvPr/>
            </p:nvSpPr>
            <p:spPr>
              <a:xfrm>
                <a:off x="781050" y="8001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4" name="Freeform 14"/>
              <p:cNvSpPr/>
              <p:nvPr/>
            </p:nvSpPr>
            <p:spPr>
              <a:xfrm>
                <a:off x="666750" y="8382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5" name="Freeform 15"/>
              <p:cNvSpPr/>
              <p:nvPr/>
            </p:nvSpPr>
            <p:spPr>
              <a:xfrm>
                <a:off x="704850" y="8382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6" name="Freeform 16"/>
              <p:cNvSpPr/>
              <p:nvPr/>
            </p:nvSpPr>
            <p:spPr>
              <a:xfrm>
                <a:off x="742950" y="838200"/>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18" name="TextBox 18"/>
            <p:cNvSpPr txBox="1"/>
            <p:nvPr/>
          </p:nvSpPr>
          <p:spPr>
            <a:xfrm>
              <a:off x="567969" y="9996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总行</a:t>
              </a:r>
            </a:p>
          </p:txBody>
        </p:sp>
        <p:sp>
          <p:nvSpPr>
            <p:cNvPr id="19" name="TextBox 19"/>
            <p:cNvSpPr txBox="1"/>
            <p:nvPr/>
          </p:nvSpPr>
          <p:spPr>
            <a:xfrm>
              <a:off x="502630" y="1168241"/>
              <a:ext cx="40444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/零售部</a:t>
              </a:r>
            </a:p>
          </p:txBody>
        </p:sp>
        <p:sp>
          <p:nvSpPr>
            <p:cNvPr id="20" name="TextBox 20"/>
            <p:cNvSpPr txBox="1"/>
            <p:nvPr/>
          </p:nvSpPr>
          <p:spPr>
            <a:xfrm>
              <a:off x="222321" y="1391126"/>
              <a:ext cx="965058" cy="104775"/>
            </a:xfrm>
            <a:prstGeom prst="rect">
              <a:avLst/>
            </a:prstGeom>
            <a:noFill/>
            <a:ln>
              <a:noFill/>
            </a:ln>
          </p:spPr>
          <p:txBody>
            <a:bodyPr wrap="none" lIns="0" tIns="0" rIns="0" bIns="0" anchor="t" anchorCtr="0">
              <a:spAutoFit/>
            </a:bodyPr>
            <a:lstStyle/>
            <a:p>
              <a:pPr algn="ctr"/>
              <a:r>
                <a:rPr lang="zh-CN" sz="520" dirty="0">
                  <a:solidFill>
                    <a:srgbClr val="FBE3E6"/>
                  </a:solidFill>
                  <a:latin typeface="+mn-lt"/>
                  <a:ea typeface="+mn-ea"/>
                  <a:cs typeface="+mn-cs"/>
                </a:rPr>
                <a:t>定战略·建内容·立规则·搭平台</a:t>
              </a:r>
            </a:p>
          </p:txBody>
        </p:sp>
        <p:sp>
          <p:nvSpPr>
            <p:cNvPr id="21" name="TextBox 21"/>
            <p:cNvSpPr txBox="1"/>
            <p:nvPr/>
          </p:nvSpPr>
          <p:spPr>
            <a:xfrm>
              <a:off x="1385888" y="788432"/>
              <a:ext cx="1378077"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制定企微客户经营战略与年度目标</a:t>
              </a:r>
            </a:p>
          </p:txBody>
        </p:sp>
        <p:sp>
          <p:nvSpPr>
            <p:cNvPr id="22" name="TextBox 22"/>
            <p:cNvSpPr txBox="1"/>
            <p:nvPr/>
          </p:nvSpPr>
          <p:spPr>
            <a:xfrm>
              <a:off x="1385888" y="950357"/>
              <a:ext cx="1033450"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统一内容供给与活动资源</a:t>
              </a:r>
            </a:p>
          </p:txBody>
        </p:sp>
        <p:sp>
          <p:nvSpPr>
            <p:cNvPr id="23" name="TextBox 23"/>
            <p:cNvSpPr txBox="1"/>
            <p:nvPr/>
          </p:nvSpPr>
          <p:spPr>
            <a:xfrm>
              <a:off x="1385888" y="1112282"/>
              <a:ext cx="1464234"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制定客户分层、运营规则与考核机制</a:t>
              </a:r>
            </a:p>
          </p:txBody>
        </p:sp>
        <p:sp>
          <p:nvSpPr>
            <p:cNvPr id="24" name="TextBox 24"/>
            <p:cNvSpPr txBox="1"/>
            <p:nvPr/>
          </p:nvSpPr>
          <p:spPr>
            <a:xfrm>
              <a:off x="1385888" y="1274207"/>
              <a:ext cx="1205763"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建设企微运营平台与数据底座</a:t>
              </a:r>
            </a:p>
          </p:txBody>
        </p:sp>
        <p:sp>
          <p:nvSpPr>
            <p:cNvPr id="25" name="Freeform 25"/>
            <p:cNvSpPr/>
            <p:nvPr/>
          </p:nvSpPr>
          <p:spPr>
            <a:xfrm>
              <a:off x="3962400" y="971550"/>
              <a:ext cx="209550" cy="228600"/>
            </a:xfrm>
            <a:prstGeom prst="rightArrow">
              <a:avLst/>
            </a:prstGeom>
            <a:solidFill>
              <a:srgbClr val="E9826B"/>
            </a:solidFill>
            <a:ln>
              <a:noFill/>
            </a:ln>
          </p:spPr>
        </p:sp>
        <p:sp>
          <p:nvSpPr>
            <p:cNvPr id="26" name="Rectangle 26"/>
            <p:cNvSpPr/>
            <p:nvPr/>
          </p:nvSpPr>
          <p:spPr>
            <a:xfrm>
              <a:off x="4191000" y="628650"/>
              <a:ext cx="3810000" cy="914400"/>
            </a:xfrm>
            <a:prstGeom prst="roundRect">
              <a:avLst>
                <a:gd name="adj" fmla="val 6250"/>
              </a:avLst>
            </a:prstGeom>
            <a:solidFill>
              <a:srgbClr val="FDEFF1"/>
            </a:solidFill>
            <a:ln>
              <a:noFill/>
            </a:ln>
          </p:spPr>
        </p:sp>
        <p:sp>
          <p:nvSpPr>
            <p:cNvPr id="27" name="Rectangle 27"/>
            <p:cNvSpPr/>
            <p:nvPr/>
          </p:nvSpPr>
          <p:spPr>
            <a:xfrm>
              <a:off x="4191000" y="628650"/>
              <a:ext cx="1143000" cy="914400"/>
            </a:xfrm>
            <a:prstGeom prst="roundRect">
              <a:avLst>
                <a:gd name="adj" fmla="val 6250"/>
              </a:avLst>
            </a:prstGeom>
            <a:solidFill>
              <a:srgbClr val="B32C0E"/>
            </a:solidFill>
            <a:ln>
              <a:noFill/>
            </a:ln>
          </p:spPr>
        </p:sp>
        <p:grpSp>
          <p:nvGrpSpPr>
            <p:cNvPr id="33" name="Group 33"/>
            <p:cNvGrpSpPr/>
            <p:nvPr/>
          </p:nvGrpSpPr>
          <p:grpSpPr>
            <a:xfrm>
              <a:off x="4676775" y="733425"/>
              <a:ext cx="171450" cy="171450"/>
              <a:chOff x="4676775" y="733425"/>
              <a:chExt cx="171450" cy="171450"/>
            </a:xfrm>
          </p:grpSpPr>
          <p:sp>
            <p:nvSpPr>
              <p:cNvPr id="28" name="Freeform 28"/>
              <p:cNvSpPr/>
              <p:nvPr/>
            </p:nvSpPr>
            <p:spPr>
              <a:xfrm>
                <a:off x="4676775" y="733425"/>
                <a:ext cx="171450" cy="171450"/>
              </a:xfrm>
              <a:custGeom>
                <a:avLst/>
                <a:gdLst/>
                <a:ahLst/>
                <a:cxnLst/>
                <a:rect l="l" t="t" r="r" b="b"/>
                <a:pathLst>
                  <a:path w="171450" h="171450">
                    <a:moveTo>
                      <a:pt x="47625" y="57150"/>
                    </a:moveTo>
                    <a:lnTo>
                      <a:pt x="95250" y="104775"/>
                    </a:lnTo>
                    <a:lnTo>
                      <a:pt x="95250" y="171450"/>
                    </a:lnTo>
                    <a:lnTo>
                      <a:pt x="47625" y="171450"/>
                    </a:lnTo>
                    <a:lnTo>
                      <a:pt x="47625" y="133350"/>
                    </a:lnTo>
                    <a:moveTo>
                      <a:pt x="47625" y="171450"/>
                    </a:moveTo>
                    <a:lnTo>
                      <a:pt x="0" y="171450"/>
                    </a:lnTo>
                    <a:lnTo>
                      <a:pt x="0" y="104775"/>
                    </a:lnTo>
                    <a:lnTo>
                      <a:pt x="47625" y="57150"/>
                    </a:lnTo>
                    <a:moveTo>
                      <a:pt x="57150" y="66675"/>
                    </a:moveTo>
                    <a:lnTo>
                      <a:pt x="57150" y="9525"/>
                    </a:lnTo>
                    <a:cubicBezTo>
                      <a:pt x="57150" y="4264"/>
                      <a:pt x="61414" y="0"/>
                      <a:pt x="66675" y="0"/>
                    </a:cubicBezTo>
                    <a:lnTo>
                      <a:pt x="161925" y="0"/>
                    </a:lnTo>
                    <a:cubicBezTo>
                      <a:pt x="167186" y="0"/>
                      <a:pt x="171450" y="4264"/>
                      <a:pt x="171450" y="9525"/>
                    </a:cubicBezTo>
                    <a:lnTo>
                      <a:pt x="171450" y="171450"/>
                    </a:lnTo>
                    <a:lnTo>
                      <a:pt x="95250" y="171450"/>
                    </a:lnTo>
                  </a:path>
                </a:pathLst>
              </a:custGeom>
              <a:noFill/>
              <a:ln w="19050">
                <a:solidFill>
                  <a:srgbClr val="FFFFFF"/>
                </a:solidFill>
              </a:ln>
            </p:spPr>
          </p:sp>
          <p:sp>
            <p:nvSpPr>
              <p:cNvPr id="29" name="Freeform 29"/>
              <p:cNvSpPr/>
              <p:nvPr/>
            </p:nvSpPr>
            <p:spPr>
              <a:xfrm>
                <a:off x="4772025" y="771525"/>
                <a:ext cx="9525" cy="9525"/>
              </a:xfrm>
              <a:custGeom>
                <a:avLst/>
                <a:gdLst/>
                <a:ahLst/>
                <a:cxnLst/>
                <a:rect l="l" t="t" r="r" b="b"/>
                <a:pathLst>
                  <a:path w="9525" h="9525">
                    <a:moveTo>
                      <a:pt x="0" y="0"/>
                    </a:moveTo>
                    <a:lnTo>
                      <a:pt x="0" y="95"/>
                    </a:lnTo>
                  </a:path>
                </a:pathLst>
              </a:custGeom>
              <a:noFill/>
              <a:ln w="19050">
                <a:solidFill>
                  <a:srgbClr val="FFFFFF"/>
                </a:solidFill>
              </a:ln>
            </p:spPr>
          </p:sp>
          <p:sp>
            <p:nvSpPr>
              <p:cNvPr id="30" name="Freeform 30"/>
              <p:cNvSpPr/>
              <p:nvPr/>
            </p:nvSpPr>
            <p:spPr>
              <a:xfrm>
                <a:off x="4810125" y="771525"/>
                <a:ext cx="9525" cy="9525"/>
              </a:xfrm>
              <a:custGeom>
                <a:avLst/>
                <a:gdLst/>
                <a:ahLst/>
                <a:cxnLst/>
                <a:rect l="l" t="t" r="r" b="b"/>
                <a:pathLst>
                  <a:path w="9525" h="9525">
                    <a:moveTo>
                      <a:pt x="0" y="0"/>
                    </a:moveTo>
                    <a:lnTo>
                      <a:pt x="0" y="95"/>
                    </a:lnTo>
                  </a:path>
                </a:pathLst>
              </a:custGeom>
              <a:noFill/>
              <a:ln w="19050">
                <a:solidFill>
                  <a:srgbClr val="FFFFFF"/>
                </a:solidFill>
              </a:ln>
            </p:spPr>
          </p:sp>
          <p:sp>
            <p:nvSpPr>
              <p:cNvPr id="31" name="Freeform 31"/>
              <p:cNvSpPr/>
              <p:nvPr/>
            </p:nvSpPr>
            <p:spPr>
              <a:xfrm>
                <a:off x="4810125" y="809625"/>
                <a:ext cx="9525" cy="9525"/>
              </a:xfrm>
              <a:custGeom>
                <a:avLst/>
                <a:gdLst/>
                <a:ahLst/>
                <a:cxnLst/>
                <a:rect l="l" t="t" r="r" b="b"/>
                <a:pathLst>
                  <a:path w="9525" h="9525">
                    <a:moveTo>
                      <a:pt x="0" y="0"/>
                    </a:moveTo>
                    <a:lnTo>
                      <a:pt x="0" y="95"/>
                    </a:lnTo>
                  </a:path>
                </a:pathLst>
              </a:custGeom>
              <a:noFill/>
              <a:ln w="19050">
                <a:solidFill>
                  <a:srgbClr val="FFFFFF"/>
                </a:solidFill>
              </a:ln>
            </p:spPr>
          </p:sp>
          <p:sp>
            <p:nvSpPr>
              <p:cNvPr id="32" name="Freeform 32"/>
              <p:cNvSpPr/>
              <p:nvPr/>
            </p:nvSpPr>
            <p:spPr>
              <a:xfrm>
                <a:off x="4810125" y="847725"/>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34" name="TextBox 34"/>
            <p:cNvSpPr txBox="1"/>
            <p:nvPr/>
          </p:nvSpPr>
          <p:spPr>
            <a:xfrm>
              <a:off x="4615815" y="104870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分行</a:t>
              </a:r>
            </a:p>
          </p:txBody>
        </p:sp>
        <p:sp>
          <p:nvSpPr>
            <p:cNvPr id="35" name="TextBox 35"/>
            <p:cNvSpPr txBox="1"/>
            <p:nvPr/>
          </p:nvSpPr>
          <p:spPr>
            <a:xfrm>
              <a:off x="4279971" y="1391126"/>
              <a:ext cx="965058" cy="104775"/>
            </a:xfrm>
            <a:prstGeom prst="rect">
              <a:avLst/>
            </a:prstGeom>
            <a:noFill/>
            <a:ln>
              <a:noFill/>
            </a:ln>
          </p:spPr>
          <p:txBody>
            <a:bodyPr wrap="none" lIns="0" tIns="0" rIns="0" bIns="0" anchor="t" anchorCtr="0">
              <a:spAutoFit/>
            </a:bodyPr>
            <a:lstStyle/>
            <a:p>
              <a:pPr algn="ctr"/>
              <a:r>
                <a:rPr lang="zh-CN" sz="520" dirty="0">
                  <a:solidFill>
                    <a:srgbClr val="FBE3E6"/>
                  </a:solidFill>
                  <a:latin typeface="+mn-lt"/>
                  <a:ea typeface="+mn-ea"/>
                  <a:cs typeface="+mn-cs"/>
                </a:rPr>
                <a:t>承策略·配资源·强督导·看效果</a:t>
              </a:r>
            </a:p>
          </p:txBody>
        </p:sp>
        <p:sp>
          <p:nvSpPr>
            <p:cNvPr id="36" name="TextBox 36"/>
            <p:cNvSpPr txBox="1"/>
            <p:nvPr/>
          </p:nvSpPr>
          <p:spPr>
            <a:xfrm>
              <a:off x="5443538" y="712232"/>
              <a:ext cx="1378077"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承接总行策略，制定分行实施细则</a:t>
              </a:r>
            </a:p>
          </p:txBody>
        </p:sp>
        <p:sp>
          <p:nvSpPr>
            <p:cNvPr id="37" name="TextBox 37"/>
            <p:cNvSpPr txBox="1"/>
            <p:nvPr/>
          </p:nvSpPr>
          <p:spPr>
            <a:xfrm>
              <a:off x="5443538" y="864632"/>
              <a:ext cx="1205763"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协调本地营销活动与资源配置</a:t>
              </a:r>
            </a:p>
          </p:txBody>
        </p:sp>
        <p:sp>
          <p:nvSpPr>
            <p:cNvPr id="38" name="TextBox 38"/>
            <p:cNvSpPr txBox="1"/>
            <p:nvPr/>
          </p:nvSpPr>
          <p:spPr>
            <a:xfrm>
              <a:off x="5443538" y="1017032"/>
              <a:ext cx="1205763"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分解客户经营目标并推进执行</a:t>
              </a:r>
            </a:p>
          </p:txBody>
        </p:sp>
        <p:sp>
          <p:nvSpPr>
            <p:cNvPr id="39" name="TextBox 39"/>
            <p:cNvSpPr txBox="1"/>
            <p:nvPr/>
          </p:nvSpPr>
          <p:spPr>
            <a:xfrm>
              <a:off x="5443538" y="1169432"/>
              <a:ext cx="1033450"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开展培训辅导与过程管控</a:t>
              </a:r>
            </a:p>
          </p:txBody>
        </p:sp>
        <p:sp>
          <p:nvSpPr>
            <p:cNvPr id="40" name="TextBox 40"/>
            <p:cNvSpPr txBox="1"/>
            <p:nvPr/>
          </p:nvSpPr>
          <p:spPr>
            <a:xfrm>
              <a:off x="5443538" y="1321832"/>
              <a:ext cx="1033450"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定期复盘，输出优秀案例</a:t>
              </a:r>
            </a:p>
          </p:txBody>
        </p:sp>
        <p:sp>
          <p:nvSpPr>
            <p:cNvPr id="41" name="Freeform 41"/>
            <p:cNvSpPr/>
            <p:nvPr/>
          </p:nvSpPr>
          <p:spPr>
            <a:xfrm>
              <a:off x="8020050" y="971550"/>
              <a:ext cx="209550" cy="228600"/>
            </a:xfrm>
            <a:prstGeom prst="rightArrow">
              <a:avLst/>
            </a:prstGeom>
            <a:solidFill>
              <a:srgbClr val="E9826B"/>
            </a:solidFill>
            <a:ln>
              <a:noFill/>
            </a:ln>
          </p:spPr>
        </p:sp>
        <p:sp>
          <p:nvSpPr>
            <p:cNvPr id="42" name="Rectangle 42"/>
            <p:cNvSpPr/>
            <p:nvPr/>
          </p:nvSpPr>
          <p:spPr>
            <a:xfrm>
              <a:off x="8248650" y="628650"/>
              <a:ext cx="3810000" cy="914400"/>
            </a:xfrm>
            <a:prstGeom prst="roundRect">
              <a:avLst>
                <a:gd name="adj" fmla="val 6250"/>
              </a:avLst>
            </a:prstGeom>
            <a:solidFill>
              <a:srgbClr val="FDEFF1"/>
            </a:solidFill>
            <a:ln>
              <a:noFill/>
            </a:ln>
          </p:spPr>
        </p:sp>
        <p:sp>
          <p:nvSpPr>
            <p:cNvPr id="43" name="Rectangle 43"/>
            <p:cNvSpPr/>
            <p:nvPr/>
          </p:nvSpPr>
          <p:spPr>
            <a:xfrm>
              <a:off x="8248650" y="628650"/>
              <a:ext cx="1143000" cy="914400"/>
            </a:xfrm>
            <a:prstGeom prst="roundRect">
              <a:avLst>
                <a:gd name="adj" fmla="val 6250"/>
              </a:avLst>
            </a:prstGeom>
            <a:solidFill>
              <a:srgbClr val="C83210"/>
            </a:solidFill>
            <a:ln>
              <a:noFill/>
            </a:ln>
          </p:spPr>
        </p:sp>
        <p:grpSp>
          <p:nvGrpSpPr>
            <p:cNvPr id="49" name="Group 49"/>
            <p:cNvGrpSpPr/>
            <p:nvPr/>
          </p:nvGrpSpPr>
          <p:grpSpPr>
            <a:xfrm>
              <a:off x="8734425" y="733425"/>
              <a:ext cx="171450" cy="180975"/>
              <a:chOff x="8734425" y="733425"/>
              <a:chExt cx="171450" cy="180975"/>
            </a:xfrm>
          </p:grpSpPr>
          <p:sp>
            <p:nvSpPr>
              <p:cNvPr id="44" name="Freeform 44"/>
              <p:cNvSpPr/>
              <p:nvPr/>
            </p:nvSpPr>
            <p:spPr>
              <a:xfrm>
                <a:off x="8734425" y="90487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45" name="Freeform 45"/>
              <p:cNvSpPr/>
              <p:nvPr/>
            </p:nvSpPr>
            <p:spPr>
              <a:xfrm>
                <a:off x="8734425" y="733425"/>
                <a:ext cx="171450" cy="76200"/>
              </a:xfrm>
              <a:custGeom>
                <a:avLst/>
                <a:gdLst/>
                <a:ahLst/>
                <a:cxnLst/>
                <a:rect l="l" t="t" r="r" b="b"/>
                <a:pathLst>
                  <a:path w="171450" h="76200">
                    <a:moveTo>
                      <a:pt x="0" y="38100"/>
                    </a:moveTo>
                    <a:lnTo>
                      <a:pt x="0" y="47625"/>
                    </a:lnTo>
                    <a:cubicBezTo>
                      <a:pt x="0" y="63407"/>
                      <a:pt x="12793" y="76200"/>
                      <a:pt x="28575" y="76200"/>
                    </a:cubicBezTo>
                    <a:cubicBezTo>
                      <a:pt x="44357" y="76200"/>
                      <a:pt x="57150" y="63407"/>
                      <a:pt x="57150" y="47625"/>
                    </a:cubicBezTo>
                    <a:lnTo>
                      <a:pt x="57150" y="38100"/>
                    </a:lnTo>
                    <a:moveTo>
                      <a:pt x="57150" y="47625"/>
                    </a:moveTo>
                    <a:cubicBezTo>
                      <a:pt x="57150" y="63407"/>
                      <a:pt x="69943" y="76200"/>
                      <a:pt x="85725" y="76200"/>
                    </a:cubicBezTo>
                    <a:cubicBezTo>
                      <a:pt x="101507" y="76200"/>
                      <a:pt x="114300" y="63407"/>
                      <a:pt x="114300" y="47625"/>
                    </a:cubicBezTo>
                    <a:lnTo>
                      <a:pt x="114300" y="38100"/>
                    </a:lnTo>
                    <a:moveTo>
                      <a:pt x="114300" y="47625"/>
                    </a:moveTo>
                    <a:cubicBezTo>
                      <a:pt x="114300" y="63407"/>
                      <a:pt x="127093" y="76200"/>
                      <a:pt x="142875" y="76200"/>
                    </a:cubicBezTo>
                    <a:cubicBezTo>
                      <a:pt x="158657" y="76200"/>
                      <a:pt x="171450" y="63407"/>
                      <a:pt x="171450" y="47625"/>
                    </a:cubicBezTo>
                    <a:lnTo>
                      <a:pt x="171450" y="38100"/>
                    </a:lnTo>
                    <a:lnTo>
                      <a:pt x="0" y="38100"/>
                    </a:lnTo>
                    <a:lnTo>
                      <a:pt x="19050" y="0"/>
                    </a:lnTo>
                    <a:lnTo>
                      <a:pt x="152400" y="0"/>
                    </a:lnTo>
                    <a:lnTo>
                      <a:pt x="171450" y="38100"/>
                    </a:lnTo>
                  </a:path>
                </a:pathLst>
              </a:custGeom>
              <a:noFill/>
              <a:ln w="19050">
                <a:solidFill>
                  <a:srgbClr val="FFFFFF"/>
                </a:solidFill>
              </a:ln>
            </p:spPr>
          </p:sp>
          <p:sp>
            <p:nvSpPr>
              <p:cNvPr id="46" name="Freeform 46"/>
              <p:cNvSpPr/>
              <p:nvPr/>
            </p:nvSpPr>
            <p:spPr>
              <a:xfrm>
                <a:off x="8753475" y="808196"/>
                <a:ext cx="9525" cy="96679"/>
              </a:xfrm>
              <a:custGeom>
                <a:avLst/>
                <a:gdLst/>
                <a:ahLst/>
                <a:cxnLst/>
                <a:rect l="l" t="t" r="r" b="b"/>
                <a:pathLst>
                  <a:path w="9525" h="96679">
                    <a:moveTo>
                      <a:pt x="0" y="96679"/>
                    </a:moveTo>
                    <a:lnTo>
                      <a:pt x="0" y="0"/>
                    </a:lnTo>
                  </a:path>
                </a:pathLst>
              </a:custGeom>
              <a:noFill/>
              <a:ln w="19050">
                <a:solidFill>
                  <a:srgbClr val="FFFFFF"/>
                </a:solidFill>
              </a:ln>
            </p:spPr>
          </p:sp>
          <p:sp>
            <p:nvSpPr>
              <p:cNvPr id="47" name="Freeform 47"/>
              <p:cNvSpPr/>
              <p:nvPr/>
            </p:nvSpPr>
            <p:spPr>
              <a:xfrm>
                <a:off x="8886825" y="808196"/>
                <a:ext cx="9525" cy="96679"/>
              </a:xfrm>
              <a:custGeom>
                <a:avLst/>
                <a:gdLst/>
                <a:ahLst/>
                <a:cxnLst/>
                <a:rect l="l" t="t" r="r" b="b"/>
                <a:pathLst>
                  <a:path w="9525" h="96679">
                    <a:moveTo>
                      <a:pt x="0" y="96679"/>
                    </a:moveTo>
                    <a:lnTo>
                      <a:pt x="0" y="0"/>
                    </a:lnTo>
                  </a:path>
                </a:pathLst>
              </a:custGeom>
              <a:noFill/>
              <a:ln w="19050">
                <a:solidFill>
                  <a:srgbClr val="FFFFFF"/>
                </a:solidFill>
              </a:ln>
            </p:spPr>
          </p:sp>
          <p:sp>
            <p:nvSpPr>
              <p:cNvPr id="48" name="Freeform 48"/>
              <p:cNvSpPr/>
              <p:nvPr/>
            </p:nvSpPr>
            <p:spPr>
              <a:xfrm>
                <a:off x="8791575" y="847725"/>
                <a:ext cx="57150" cy="57150"/>
              </a:xfrm>
              <a:custGeom>
                <a:avLst/>
                <a:gdLst/>
                <a:ahLst/>
                <a:cxnLst/>
                <a:rect l="l" t="t" r="r" b="b"/>
                <a:pathLst>
                  <a:path w="57150" h="57150">
                    <a:moveTo>
                      <a:pt x="0" y="57150"/>
                    </a:moveTo>
                    <a:lnTo>
                      <a:pt x="0" y="19050"/>
                    </a:lnTo>
                    <a:cubicBezTo>
                      <a:pt x="0" y="8529"/>
                      <a:pt x="8529" y="0"/>
                      <a:pt x="19050" y="0"/>
                    </a:cubicBezTo>
                    <a:lnTo>
                      <a:pt x="38100" y="0"/>
                    </a:lnTo>
                    <a:cubicBezTo>
                      <a:pt x="48621" y="0"/>
                      <a:pt x="57150" y="8529"/>
                      <a:pt x="57150" y="19050"/>
                    </a:cubicBezTo>
                    <a:lnTo>
                      <a:pt x="57150" y="57150"/>
                    </a:lnTo>
                  </a:path>
                </a:pathLst>
              </a:custGeom>
              <a:noFill/>
              <a:ln w="19050">
                <a:solidFill>
                  <a:srgbClr val="FFFFFF"/>
                </a:solidFill>
              </a:ln>
            </p:spPr>
          </p:sp>
        </p:grpSp>
        <p:sp>
          <p:nvSpPr>
            <p:cNvPr id="50" name="TextBox 50"/>
            <p:cNvSpPr txBox="1"/>
            <p:nvPr/>
          </p:nvSpPr>
          <p:spPr>
            <a:xfrm>
              <a:off x="8673465" y="104870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支行</a:t>
              </a:r>
            </a:p>
          </p:txBody>
        </p:sp>
        <p:sp>
          <p:nvSpPr>
            <p:cNvPr id="51" name="TextBox 51"/>
            <p:cNvSpPr txBox="1"/>
            <p:nvPr/>
          </p:nvSpPr>
          <p:spPr>
            <a:xfrm>
              <a:off x="8461875" y="1391126"/>
              <a:ext cx="716549" cy="104775"/>
            </a:xfrm>
            <a:prstGeom prst="rect">
              <a:avLst/>
            </a:prstGeom>
            <a:noFill/>
            <a:ln>
              <a:noFill/>
            </a:ln>
          </p:spPr>
          <p:txBody>
            <a:bodyPr wrap="none" lIns="0" tIns="0" rIns="0" bIns="0" anchor="t" anchorCtr="0">
              <a:spAutoFit/>
            </a:bodyPr>
            <a:lstStyle/>
            <a:p>
              <a:pPr algn="ctr"/>
              <a:r>
                <a:rPr lang="zh-CN" sz="520" dirty="0">
                  <a:solidFill>
                    <a:srgbClr val="FBE3E6"/>
                  </a:solidFill>
                  <a:latin typeface="+mn-lt"/>
                  <a:ea typeface="+mn-ea"/>
                  <a:cs typeface="+mn-cs"/>
                </a:rPr>
                <a:t>重执行·勤触达·促转化</a:t>
              </a:r>
            </a:p>
          </p:txBody>
        </p:sp>
        <p:sp>
          <p:nvSpPr>
            <p:cNvPr id="52" name="TextBox 52"/>
            <p:cNvSpPr txBox="1"/>
            <p:nvPr/>
          </p:nvSpPr>
          <p:spPr>
            <a:xfrm>
              <a:off x="9501188" y="712232"/>
              <a:ext cx="1205763"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全员添加客户并完成企微认证</a:t>
              </a:r>
            </a:p>
          </p:txBody>
        </p:sp>
        <p:sp>
          <p:nvSpPr>
            <p:cNvPr id="53" name="TextBox 53"/>
            <p:cNvSpPr txBox="1"/>
            <p:nvPr/>
          </p:nvSpPr>
          <p:spPr>
            <a:xfrm>
              <a:off x="9501188" y="864632"/>
              <a:ext cx="1119607"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按客户分层开展个性化触达</a:t>
              </a:r>
            </a:p>
          </p:txBody>
        </p:sp>
        <p:sp>
          <p:nvSpPr>
            <p:cNvPr id="54" name="TextBox 54"/>
            <p:cNvSpPr txBox="1"/>
            <p:nvPr/>
          </p:nvSpPr>
          <p:spPr>
            <a:xfrm>
              <a:off x="9501188" y="1017032"/>
              <a:ext cx="1119607"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把握营销机会推动产品转化</a:t>
              </a:r>
            </a:p>
          </p:txBody>
        </p:sp>
        <p:sp>
          <p:nvSpPr>
            <p:cNvPr id="55" name="TextBox 55"/>
            <p:cNvSpPr txBox="1"/>
            <p:nvPr/>
          </p:nvSpPr>
          <p:spPr>
            <a:xfrm>
              <a:off x="9501188" y="1169432"/>
              <a:ext cx="1033450"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做好客户服务与关系维护</a:t>
              </a:r>
            </a:p>
          </p:txBody>
        </p:sp>
        <p:sp>
          <p:nvSpPr>
            <p:cNvPr id="56" name="TextBox 56"/>
            <p:cNvSpPr txBox="1"/>
            <p:nvPr/>
          </p:nvSpPr>
          <p:spPr>
            <a:xfrm>
              <a:off x="9501188" y="1321832"/>
              <a:ext cx="1033450" cy="126206"/>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40" dirty="0">
                  <a:solidFill>
                    <a:srgbClr val="3D3D3D"/>
                  </a:solidFill>
                  <a:latin typeface="+mn-lt"/>
                  <a:ea typeface="+mn-ea"/>
                  <a:cs typeface="+mn-cs"/>
                </a:rPr>
                <a:t>完成数据回收与结果上报</a:t>
              </a:r>
            </a:p>
          </p:txBody>
        </p:sp>
      </p:grpSp>
      <p:grpSp>
        <p:nvGrpSpPr>
          <p:cNvPr id="170" name="role-matrix"/>
          <p:cNvGrpSpPr/>
          <p:nvPr/>
        </p:nvGrpSpPr>
        <p:grpSpPr>
          <a:xfrm>
            <a:off x="133350" y="1695450"/>
            <a:ext cx="11925300" cy="2112931"/>
            <a:chOff x="133350" y="1695450"/>
            <a:chExt cx="11925300" cy="2112931"/>
          </a:xfrm>
        </p:grpSpPr>
        <p:sp>
          <p:nvSpPr>
            <p:cNvPr id="58" name="Rectangle 58"/>
            <p:cNvSpPr/>
            <p:nvPr/>
          </p:nvSpPr>
          <p:spPr>
            <a:xfrm>
              <a:off x="171450" y="1695450"/>
              <a:ext cx="38100" cy="152400"/>
            </a:xfrm>
            <a:prstGeom prst="rect">
              <a:avLst/>
            </a:prstGeom>
            <a:solidFill>
              <a:srgbClr val="C83210"/>
            </a:solidFill>
            <a:ln>
              <a:noFill/>
            </a:ln>
          </p:spPr>
        </p:sp>
        <p:sp>
          <p:nvSpPr>
            <p:cNvPr id="59" name="TextBox 59"/>
            <p:cNvSpPr txBox="1"/>
            <p:nvPr/>
          </p:nvSpPr>
          <p:spPr>
            <a:xfrm>
              <a:off x="280797" y="1714024"/>
              <a:ext cx="1988820"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支行全员角色分工与客户经营场景</a:t>
              </a:r>
            </a:p>
          </p:txBody>
        </p:sp>
        <p:sp>
          <p:nvSpPr>
            <p:cNvPr id="60" name="Rectangle 60"/>
            <p:cNvSpPr/>
            <p:nvPr/>
          </p:nvSpPr>
          <p:spPr>
            <a:xfrm>
              <a:off x="133350" y="1885950"/>
              <a:ext cx="628650" cy="1905000"/>
            </a:xfrm>
            <a:prstGeom prst="rect">
              <a:avLst/>
            </a:prstGeom>
            <a:solidFill>
              <a:srgbClr val="C83210"/>
            </a:solidFill>
            <a:ln>
              <a:noFill/>
            </a:ln>
          </p:spPr>
        </p:sp>
        <p:sp>
          <p:nvSpPr>
            <p:cNvPr id="61" name="TextBox 61"/>
            <p:cNvSpPr txBox="1"/>
            <p:nvPr/>
          </p:nvSpPr>
          <p:spPr>
            <a:xfrm>
              <a:off x="351371" y="1994059"/>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角色</a:t>
              </a:r>
            </a:p>
          </p:txBody>
        </p:sp>
        <p:sp>
          <p:nvSpPr>
            <p:cNvPr id="62" name="TextBox 62"/>
            <p:cNvSpPr txBox="1"/>
            <p:nvPr/>
          </p:nvSpPr>
          <p:spPr>
            <a:xfrm>
              <a:off x="259829" y="23083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客户获取</a:t>
              </a:r>
            </a:p>
          </p:txBody>
        </p:sp>
        <p:sp>
          <p:nvSpPr>
            <p:cNvPr id="63" name="TextBox 63"/>
            <p:cNvSpPr txBox="1"/>
            <p:nvPr/>
          </p:nvSpPr>
          <p:spPr>
            <a:xfrm>
              <a:off x="351371" y="2441734"/>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场景</a:t>
              </a:r>
            </a:p>
          </p:txBody>
        </p:sp>
        <p:sp>
          <p:nvSpPr>
            <p:cNvPr id="64" name="TextBox 64"/>
            <p:cNvSpPr txBox="1"/>
            <p:nvPr/>
          </p:nvSpPr>
          <p:spPr>
            <a:xfrm>
              <a:off x="259829" y="29370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主要任务</a:t>
              </a:r>
            </a:p>
          </p:txBody>
        </p:sp>
        <p:sp>
          <p:nvSpPr>
            <p:cNvPr id="65" name="TextBox 65"/>
            <p:cNvSpPr txBox="1"/>
            <p:nvPr/>
          </p:nvSpPr>
          <p:spPr>
            <a:xfrm>
              <a:off x="214059" y="3499009"/>
              <a:ext cx="46723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衔接与配合</a:t>
              </a:r>
            </a:p>
          </p:txBody>
        </p:sp>
        <p:sp>
          <p:nvSpPr>
            <p:cNvPr id="66" name="Rectangle 66"/>
            <p:cNvSpPr/>
            <p:nvPr/>
          </p:nvSpPr>
          <p:spPr>
            <a:xfrm>
              <a:off x="762000" y="1885950"/>
              <a:ext cx="11296650" cy="285750"/>
            </a:xfrm>
            <a:prstGeom prst="rect">
              <a:avLst/>
            </a:prstGeom>
            <a:solidFill>
              <a:srgbClr val="FBE3E6"/>
            </a:solidFill>
            <a:ln>
              <a:noFill/>
            </a:ln>
          </p:spPr>
        </p:sp>
        <p:sp>
          <p:nvSpPr>
            <p:cNvPr id="67" name="Rectangle 67"/>
            <p:cNvSpPr/>
            <p:nvPr/>
          </p:nvSpPr>
          <p:spPr>
            <a:xfrm>
              <a:off x="762000" y="2667000"/>
              <a:ext cx="11296650" cy="609600"/>
            </a:xfrm>
            <a:prstGeom prst="rect">
              <a:avLst/>
            </a:prstGeom>
            <a:solidFill>
              <a:srgbClr val="FDEFF1"/>
            </a:solidFill>
            <a:ln>
              <a:noFill/>
            </a:ln>
          </p:spPr>
        </p:sp>
        <p:sp>
          <p:nvSpPr>
            <p:cNvPr id="68" name="Freeform 68"/>
            <p:cNvSpPr/>
            <p:nvPr/>
          </p:nvSpPr>
          <p:spPr>
            <a:xfrm>
              <a:off x="1238250" y="1990725"/>
              <a:ext cx="114300" cy="76200"/>
            </a:xfrm>
            <a:custGeom>
              <a:avLst/>
              <a:gdLst/>
              <a:ahLst/>
              <a:cxnLst/>
              <a:rect l="l" t="t" r="r" b="b"/>
              <a:pathLst>
                <a:path w="114300" h="76200">
                  <a:moveTo>
                    <a:pt x="57150" y="0"/>
                  </a:moveTo>
                  <a:lnTo>
                    <a:pt x="82550" y="38100"/>
                  </a:lnTo>
                  <a:lnTo>
                    <a:pt x="114300" y="12700"/>
                  </a:lnTo>
                  <a:lnTo>
                    <a:pt x="101600" y="76200"/>
                  </a:lnTo>
                  <a:lnTo>
                    <a:pt x="12700" y="76200"/>
                  </a:lnTo>
                  <a:lnTo>
                    <a:pt x="0" y="12700"/>
                  </a:lnTo>
                  <a:lnTo>
                    <a:pt x="31750" y="38100"/>
                  </a:lnTo>
                  <a:lnTo>
                    <a:pt x="57150" y="0"/>
                  </a:lnTo>
                </a:path>
              </a:pathLst>
            </a:custGeom>
            <a:noFill/>
            <a:ln w="12700">
              <a:solidFill>
                <a:srgbClr val="C83210"/>
              </a:solidFill>
            </a:ln>
          </p:spPr>
        </p:sp>
        <p:sp>
          <p:nvSpPr>
            <p:cNvPr id="69" name="TextBox 69"/>
            <p:cNvSpPr txBox="1"/>
            <p:nvPr/>
          </p:nvSpPr>
          <p:spPr>
            <a:xfrm>
              <a:off x="1423988" y="1985962"/>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支行行长</a:t>
              </a:r>
            </a:p>
          </p:txBody>
        </p:sp>
        <p:grpSp>
          <p:nvGrpSpPr>
            <p:cNvPr id="74" name="Group 74"/>
            <p:cNvGrpSpPr/>
            <p:nvPr/>
          </p:nvGrpSpPr>
          <p:grpSpPr>
            <a:xfrm>
              <a:off x="2857500" y="1971675"/>
              <a:ext cx="114300" cy="114301"/>
              <a:chOff x="2857500" y="1971675"/>
              <a:chExt cx="114300" cy="114301"/>
            </a:xfrm>
          </p:grpSpPr>
          <p:sp>
            <p:nvSpPr>
              <p:cNvPr id="70" name="Freeform 70"/>
              <p:cNvSpPr/>
              <p:nvPr/>
            </p:nvSpPr>
            <p:spPr>
              <a:xfrm>
                <a:off x="2870200" y="19716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71" name="Freeform 71"/>
              <p:cNvSpPr/>
              <p:nvPr/>
            </p:nvSpPr>
            <p:spPr>
              <a:xfrm>
                <a:off x="2857500" y="204787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C83210"/>
                </a:solidFill>
              </a:ln>
            </p:spPr>
          </p:sp>
          <p:sp>
            <p:nvSpPr>
              <p:cNvPr id="72" name="Freeform 72"/>
              <p:cNvSpPr/>
              <p:nvPr/>
            </p:nvSpPr>
            <p:spPr>
              <a:xfrm>
                <a:off x="2940050" y="1972501"/>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C83210"/>
                </a:solidFill>
              </a:ln>
            </p:spPr>
          </p:sp>
          <p:sp>
            <p:nvSpPr>
              <p:cNvPr id="73" name="Freeform 73"/>
              <p:cNvSpPr/>
              <p:nvPr/>
            </p:nvSpPr>
            <p:spPr>
              <a:xfrm>
                <a:off x="2952750" y="2048828"/>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C83210"/>
                </a:solidFill>
              </a:ln>
            </p:spPr>
          </p:sp>
        </p:grpSp>
        <p:sp>
          <p:nvSpPr>
            <p:cNvPr id="75" name="TextBox 75"/>
            <p:cNvSpPr txBox="1"/>
            <p:nvPr/>
          </p:nvSpPr>
          <p:spPr>
            <a:xfrm>
              <a:off x="3043238" y="1985962"/>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大堂经理</a:t>
              </a:r>
            </a:p>
          </p:txBody>
        </p:sp>
        <p:grpSp>
          <p:nvGrpSpPr>
            <p:cNvPr id="81" name="Group 81"/>
            <p:cNvGrpSpPr/>
            <p:nvPr/>
          </p:nvGrpSpPr>
          <p:grpSpPr>
            <a:xfrm>
              <a:off x="4581525" y="1978025"/>
              <a:ext cx="114300" cy="101600"/>
              <a:chOff x="4581525" y="1978025"/>
              <a:chExt cx="114300" cy="101600"/>
            </a:xfrm>
          </p:grpSpPr>
          <p:sp>
            <p:nvSpPr>
              <p:cNvPr id="76" name="Freeform 76"/>
              <p:cNvSpPr/>
              <p:nvPr/>
            </p:nvSpPr>
            <p:spPr>
              <a:xfrm>
                <a:off x="4581525" y="1978025"/>
                <a:ext cx="114300" cy="101600"/>
              </a:xfrm>
              <a:custGeom>
                <a:avLst/>
                <a:gdLst/>
                <a:ahLst/>
                <a:cxnLst/>
                <a:rect l="l" t="t" r="r" b="b"/>
                <a:pathLst>
                  <a:path w="114300" h="101600">
                    <a:moveTo>
                      <a:pt x="0" y="19050"/>
                    </a:moveTo>
                    <a:cubicBezTo>
                      <a:pt x="0" y="8529"/>
                      <a:pt x="8529" y="0"/>
                      <a:pt x="19050" y="0"/>
                    </a:cubicBezTo>
                    <a:lnTo>
                      <a:pt x="95250" y="0"/>
                    </a:lnTo>
                    <a:cubicBezTo>
                      <a:pt x="105771" y="0"/>
                      <a:pt x="114300" y="8529"/>
                      <a:pt x="114300" y="19050"/>
                    </a:cubicBezTo>
                    <a:lnTo>
                      <a:pt x="114300" y="82550"/>
                    </a:lnTo>
                    <a:cubicBezTo>
                      <a:pt x="114300" y="93071"/>
                      <a:pt x="105771" y="101600"/>
                      <a:pt x="95250" y="101600"/>
                    </a:cubicBezTo>
                    <a:lnTo>
                      <a:pt x="19050" y="101600"/>
                    </a:lnTo>
                    <a:cubicBezTo>
                      <a:pt x="8529" y="101600"/>
                      <a:pt x="0" y="93071"/>
                      <a:pt x="0" y="82550"/>
                    </a:cubicBezTo>
                    <a:lnTo>
                      <a:pt x="0" y="19050"/>
                    </a:lnTo>
                  </a:path>
                </a:pathLst>
              </a:custGeom>
              <a:noFill/>
              <a:ln w="12700">
                <a:solidFill>
                  <a:srgbClr val="C83210"/>
                </a:solidFill>
              </a:ln>
            </p:spPr>
          </p:sp>
          <p:sp>
            <p:nvSpPr>
              <p:cNvPr id="77" name="Freeform 77"/>
              <p:cNvSpPr/>
              <p:nvPr/>
            </p:nvSpPr>
            <p:spPr>
              <a:xfrm>
                <a:off x="4606925" y="20034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83210"/>
                </a:solidFill>
              </a:ln>
            </p:spPr>
          </p:sp>
          <p:sp>
            <p:nvSpPr>
              <p:cNvPr id="78" name="Freeform 78"/>
              <p:cNvSpPr/>
              <p:nvPr/>
            </p:nvSpPr>
            <p:spPr>
              <a:xfrm>
                <a:off x="4657725" y="2003425"/>
                <a:ext cx="12700" cy="9525"/>
              </a:xfrm>
              <a:custGeom>
                <a:avLst/>
                <a:gdLst/>
                <a:ahLst/>
                <a:cxnLst/>
                <a:rect l="l" t="t" r="r" b="b"/>
                <a:pathLst>
                  <a:path w="12700" h="9525">
                    <a:moveTo>
                      <a:pt x="0" y="0"/>
                    </a:moveTo>
                    <a:lnTo>
                      <a:pt x="12700" y="0"/>
                    </a:lnTo>
                  </a:path>
                </a:pathLst>
              </a:custGeom>
              <a:noFill/>
              <a:ln w="12700">
                <a:solidFill>
                  <a:srgbClr val="C83210"/>
                </a:solidFill>
              </a:ln>
            </p:spPr>
          </p:sp>
          <p:sp>
            <p:nvSpPr>
              <p:cNvPr id="79" name="Freeform 79"/>
              <p:cNvSpPr/>
              <p:nvPr/>
            </p:nvSpPr>
            <p:spPr>
              <a:xfrm>
                <a:off x="4657725" y="2028825"/>
                <a:ext cx="12700" cy="9525"/>
              </a:xfrm>
              <a:custGeom>
                <a:avLst/>
                <a:gdLst/>
                <a:ahLst/>
                <a:cxnLst/>
                <a:rect l="l" t="t" r="r" b="b"/>
                <a:pathLst>
                  <a:path w="12700" h="9525">
                    <a:moveTo>
                      <a:pt x="0" y="0"/>
                    </a:moveTo>
                    <a:lnTo>
                      <a:pt x="12700" y="0"/>
                    </a:lnTo>
                  </a:path>
                </a:pathLst>
              </a:custGeom>
              <a:noFill/>
              <a:ln w="12700">
                <a:solidFill>
                  <a:srgbClr val="C83210"/>
                </a:solidFill>
              </a:ln>
            </p:spPr>
          </p:sp>
          <p:sp>
            <p:nvSpPr>
              <p:cNvPr id="80" name="Freeform 80"/>
              <p:cNvSpPr/>
              <p:nvPr/>
            </p:nvSpPr>
            <p:spPr>
              <a:xfrm>
                <a:off x="4606925" y="2054225"/>
                <a:ext cx="63500" cy="9525"/>
              </a:xfrm>
              <a:custGeom>
                <a:avLst/>
                <a:gdLst/>
                <a:ahLst/>
                <a:cxnLst/>
                <a:rect l="l" t="t" r="r" b="b"/>
                <a:pathLst>
                  <a:path w="63500" h="9525">
                    <a:moveTo>
                      <a:pt x="0" y="0"/>
                    </a:moveTo>
                    <a:lnTo>
                      <a:pt x="63500" y="0"/>
                    </a:lnTo>
                  </a:path>
                </a:pathLst>
              </a:custGeom>
              <a:noFill/>
              <a:ln w="12700">
                <a:solidFill>
                  <a:srgbClr val="C83210"/>
                </a:solidFill>
              </a:ln>
            </p:spPr>
          </p:sp>
        </p:grpSp>
        <p:sp>
          <p:nvSpPr>
            <p:cNvPr id="82" name="TextBox 82"/>
            <p:cNvSpPr txBox="1"/>
            <p:nvPr/>
          </p:nvSpPr>
          <p:spPr>
            <a:xfrm>
              <a:off x="4767262" y="1985962"/>
              <a:ext cx="21145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柜员</a:t>
              </a:r>
            </a:p>
          </p:txBody>
        </p:sp>
        <p:grpSp>
          <p:nvGrpSpPr>
            <p:cNvPr id="86" name="Group 86"/>
            <p:cNvGrpSpPr/>
            <p:nvPr/>
          </p:nvGrpSpPr>
          <p:grpSpPr>
            <a:xfrm>
              <a:off x="6010275" y="1971675"/>
              <a:ext cx="101610" cy="120650"/>
              <a:chOff x="6010275" y="1971675"/>
              <a:chExt cx="101610" cy="120650"/>
            </a:xfrm>
          </p:grpSpPr>
          <p:sp>
            <p:nvSpPr>
              <p:cNvPr id="83" name="Freeform 83"/>
              <p:cNvSpPr/>
              <p:nvPr/>
            </p:nvSpPr>
            <p:spPr>
              <a:xfrm>
                <a:off x="6022975" y="19716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84" name="Freeform 84"/>
              <p:cNvSpPr/>
              <p:nvPr/>
            </p:nvSpPr>
            <p:spPr>
              <a:xfrm>
                <a:off x="6010275" y="2047875"/>
                <a:ext cx="28575" cy="38100"/>
              </a:xfrm>
              <a:custGeom>
                <a:avLst/>
                <a:gdLst/>
                <a:ahLst/>
                <a:cxnLst/>
                <a:rect l="l" t="t" r="r" b="b"/>
                <a:pathLst>
                  <a:path w="28575" h="38100">
                    <a:moveTo>
                      <a:pt x="0" y="38100"/>
                    </a:moveTo>
                    <a:lnTo>
                      <a:pt x="0" y="25400"/>
                    </a:lnTo>
                    <a:cubicBezTo>
                      <a:pt x="0" y="11372"/>
                      <a:pt x="11372" y="0"/>
                      <a:pt x="25400" y="0"/>
                    </a:cubicBezTo>
                    <a:lnTo>
                      <a:pt x="28575" y="0"/>
                    </a:lnTo>
                  </a:path>
                </a:pathLst>
              </a:custGeom>
              <a:noFill/>
              <a:ln w="12700">
                <a:solidFill>
                  <a:srgbClr val="C83210"/>
                </a:solidFill>
              </a:ln>
            </p:spPr>
          </p:sp>
          <p:sp>
            <p:nvSpPr>
              <p:cNvPr id="85" name="Freeform 85"/>
              <p:cNvSpPr/>
              <p:nvPr/>
            </p:nvSpPr>
            <p:spPr>
              <a:xfrm>
                <a:off x="6061067" y="2046524"/>
                <a:ext cx="50818" cy="45801"/>
              </a:xfrm>
              <a:custGeom>
                <a:avLst/>
                <a:gdLst/>
                <a:ahLst/>
                <a:cxnLst/>
                <a:rect l="l" t="t" r="r" b="b"/>
                <a:pathLst>
                  <a:path w="50818" h="45801">
                    <a:moveTo>
                      <a:pt x="25408" y="45801"/>
                    </a:moveTo>
                    <a:lnTo>
                      <a:pt x="46680" y="24948"/>
                    </a:lnTo>
                    <a:cubicBezTo>
                      <a:pt x="49316" y="22391"/>
                      <a:pt x="50806" y="18877"/>
                      <a:pt x="50812" y="15204"/>
                    </a:cubicBezTo>
                    <a:cubicBezTo>
                      <a:pt x="50818" y="11532"/>
                      <a:pt x="49339" y="8013"/>
                      <a:pt x="46712" y="5447"/>
                    </a:cubicBezTo>
                    <a:cubicBezTo>
                      <a:pt x="41194" y="51"/>
                      <a:pt x="32382" y="34"/>
                      <a:pt x="26843" y="5409"/>
                    </a:cubicBezTo>
                    <a:lnTo>
                      <a:pt x="25421" y="6806"/>
                    </a:lnTo>
                    <a:lnTo>
                      <a:pt x="24005" y="5409"/>
                    </a:lnTo>
                    <a:cubicBezTo>
                      <a:pt x="18487" y="17"/>
                      <a:pt x="9679" y="0"/>
                      <a:pt x="4142" y="5371"/>
                    </a:cubicBezTo>
                    <a:cubicBezTo>
                      <a:pt x="1505" y="7928"/>
                      <a:pt x="14" y="11441"/>
                      <a:pt x="7" y="15113"/>
                    </a:cubicBezTo>
                    <a:cubicBezTo>
                      <a:pt x="0" y="18786"/>
                      <a:pt x="1477" y="22305"/>
                      <a:pt x="4104" y="24872"/>
                    </a:cubicBezTo>
                    <a:lnTo>
                      <a:pt x="25408" y="45801"/>
                    </a:lnTo>
                  </a:path>
                </a:pathLst>
              </a:custGeom>
              <a:noFill/>
              <a:ln w="12700">
                <a:solidFill>
                  <a:srgbClr val="C83210"/>
                </a:solidFill>
              </a:ln>
            </p:spPr>
          </p:sp>
        </p:grpSp>
        <p:sp>
          <p:nvSpPr>
            <p:cNvPr id="87" name="TextBox 87"/>
            <p:cNvSpPr txBox="1"/>
            <p:nvPr/>
          </p:nvSpPr>
          <p:spPr>
            <a:xfrm>
              <a:off x="6176962" y="1985962"/>
              <a:ext cx="61531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零售客户经理</a:t>
              </a:r>
            </a:p>
          </p:txBody>
        </p:sp>
        <p:grpSp>
          <p:nvGrpSpPr>
            <p:cNvPr id="92" name="Group 92"/>
            <p:cNvGrpSpPr/>
            <p:nvPr/>
          </p:nvGrpSpPr>
          <p:grpSpPr>
            <a:xfrm>
              <a:off x="7600950" y="1971675"/>
              <a:ext cx="114300" cy="107950"/>
              <a:chOff x="7600950" y="1971675"/>
              <a:chExt cx="114300" cy="107950"/>
            </a:xfrm>
          </p:grpSpPr>
          <p:sp>
            <p:nvSpPr>
              <p:cNvPr id="88" name="Freeform 88"/>
              <p:cNvSpPr/>
              <p:nvPr/>
            </p:nvSpPr>
            <p:spPr>
              <a:xfrm>
                <a:off x="7600950" y="1997075"/>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C83210"/>
                </a:solidFill>
              </a:ln>
            </p:spPr>
          </p:sp>
          <p:sp>
            <p:nvSpPr>
              <p:cNvPr id="89" name="Freeform 89"/>
              <p:cNvSpPr/>
              <p:nvPr/>
            </p:nvSpPr>
            <p:spPr>
              <a:xfrm>
                <a:off x="7632700" y="1971675"/>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C83210"/>
                </a:solidFill>
              </a:ln>
            </p:spPr>
          </p:sp>
          <p:sp>
            <p:nvSpPr>
              <p:cNvPr id="90" name="Freeform 90"/>
              <p:cNvSpPr/>
              <p:nvPr/>
            </p:nvSpPr>
            <p:spPr>
              <a:xfrm>
                <a:off x="7658100" y="2028825"/>
                <a:ext cx="9525" cy="9525"/>
              </a:xfrm>
              <a:custGeom>
                <a:avLst/>
                <a:gdLst/>
                <a:ahLst/>
                <a:cxnLst/>
                <a:rect l="l" t="t" r="r" b="b"/>
                <a:pathLst>
                  <a:path w="9525" h="9525">
                    <a:moveTo>
                      <a:pt x="0" y="0"/>
                    </a:moveTo>
                    <a:lnTo>
                      <a:pt x="0" y="64"/>
                    </a:lnTo>
                  </a:path>
                </a:pathLst>
              </a:custGeom>
              <a:noFill/>
              <a:ln w="12700">
                <a:solidFill>
                  <a:srgbClr val="C83210"/>
                </a:solidFill>
              </a:ln>
            </p:spPr>
          </p:sp>
          <p:sp>
            <p:nvSpPr>
              <p:cNvPr id="91" name="Freeform 91"/>
              <p:cNvSpPr/>
              <p:nvPr/>
            </p:nvSpPr>
            <p:spPr>
              <a:xfrm>
                <a:off x="7600950" y="2035175"/>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C83210"/>
                </a:solidFill>
              </a:ln>
            </p:spPr>
          </p:sp>
        </p:grpSp>
        <p:sp>
          <p:nvSpPr>
            <p:cNvPr id="93" name="TextBox 93"/>
            <p:cNvSpPr txBox="1"/>
            <p:nvPr/>
          </p:nvSpPr>
          <p:spPr>
            <a:xfrm>
              <a:off x="7786688" y="1985962"/>
              <a:ext cx="61531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对公客户经理</a:t>
              </a:r>
            </a:p>
          </p:txBody>
        </p:sp>
        <p:grpSp>
          <p:nvGrpSpPr>
            <p:cNvPr id="96" name="Group 96"/>
            <p:cNvGrpSpPr/>
            <p:nvPr/>
          </p:nvGrpSpPr>
          <p:grpSpPr>
            <a:xfrm>
              <a:off x="9321800" y="1990725"/>
              <a:ext cx="101600" cy="92075"/>
              <a:chOff x="9321800" y="1990725"/>
              <a:chExt cx="101600" cy="92075"/>
            </a:xfrm>
          </p:grpSpPr>
          <p:sp>
            <p:nvSpPr>
              <p:cNvPr id="94" name="Freeform 94"/>
              <p:cNvSpPr/>
              <p:nvPr/>
            </p:nvSpPr>
            <p:spPr>
              <a:xfrm>
                <a:off x="9321800" y="2073275"/>
                <a:ext cx="101600" cy="9525"/>
              </a:xfrm>
              <a:custGeom>
                <a:avLst/>
                <a:gdLst/>
                <a:ahLst/>
                <a:cxnLst/>
                <a:rect l="l" t="t" r="r" b="b"/>
                <a:pathLst>
                  <a:path w="101600" h="9525">
                    <a:moveTo>
                      <a:pt x="0" y="0"/>
                    </a:moveTo>
                    <a:lnTo>
                      <a:pt x="101600" y="0"/>
                    </a:lnTo>
                  </a:path>
                </a:pathLst>
              </a:custGeom>
              <a:noFill/>
              <a:ln w="12700">
                <a:solidFill>
                  <a:srgbClr val="C83210"/>
                </a:solidFill>
              </a:ln>
            </p:spPr>
          </p:sp>
          <p:sp>
            <p:nvSpPr>
              <p:cNvPr id="95" name="Freeform 95"/>
              <p:cNvSpPr/>
              <p:nvPr/>
            </p:nvSpPr>
            <p:spPr>
              <a:xfrm>
                <a:off x="9321800" y="1990725"/>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C83210"/>
                </a:solidFill>
              </a:ln>
            </p:spPr>
          </p:sp>
        </p:grpSp>
        <p:sp>
          <p:nvSpPr>
            <p:cNvPr id="97" name="TextBox 97"/>
            <p:cNvSpPr txBox="1"/>
            <p:nvPr/>
          </p:nvSpPr>
          <p:spPr>
            <a:xfrm>
              <a:off x="9501188" y="1985962"/>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理财顾问</a:t>
              </a:r>
            </a:p>
          </p:txBody>
        </p:sp>
        <p:grpSp>
          <p:nvGrpSpPr>
            <p:cNvPr id="102" name="Group 102"/>
            <p:cNvGrpSpPr/>
            <p:nvPr/>
          </p:nvGrpSpPr>
          <p:grpSpPr>
            <a:xfrm>
              <a:off x="10925175" y="1990725"/>
              <a:ext cx="114300" cy="76200"/>
              <a:chOff x="10925175" y="1990725"/>
              <a:chExt cx="114300" cy="76200"/>
            </a:xfrm>
          </p:grpSpPr>
          <p:sp>
            <p:nvSpPr>
              <p:cNvPr id="98" name="Freeform 98"/>
              <p:cNvSpPr/>
              <p:nvPr/>
            </p:nvSpPr>
            <p:spPr>
              <a:xfrm>
                <a:off x="10963275" y="20097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C83210"/>
                </a:solidFill>
              </a:ln>
            </p:spPr>
          </p:sp>
          <p:sp>
            <p:nvSpPr>
              <p:cNvPr id="99" name="Freeform 99"/>
              <p:cNvSpPr/>
              <p:nvPr/>
            </p:nvSpPr>
            <p:spPr>
              <a:xfrm>
                <a:off x="10925175" y="1990725"/>
                <a:ext cx="114300" cy="76200"/>
              </a:xfrm>
              <a:custGeom>
                <a:avLst/>
                <a:gdLst/>
                <a:ahLst/>
                <a:cxnLst/>
                <a:rect l="l" t="t" r="r" b="b"/>
                <a:pathLst>
                  <a:path w="114300" h="76200">
                    <a:moveTo>
                      <a:pt x="0" y="12700"/>
                    </a:moveTo>
                    <a:cubicBezTo>
                      <a:pt x="0" y="5686"/>
                      <a:pt x="5686" y="0"/>
                      <a:pt x="12700" y="0"/>
                    </a:cubicBezTo>
                    <a:lnTo>
                      <a:pt x="101600" y="0"/>
                    </a:lnTo>
                    <a:cubicBezTo>
                      <a:pt x="108614" y="0"/>
                      <a:pt x="114300" y="5686"/>
                      <a:pt x="114300" y="12700"/>
                    </a:cubicBezTo>
                    <a:lnTo>
                      <a:pt x="114300" y="63500"/>
                    </a:lnTo>
                    <a:cubicBezTo>
                      <a:pt x="114300" y="70514"/>
                      <a:pt x="108614" y="76200"/>
                      <a:pt x="101600" y="76200"/>
                    </a:cubicBezTo>
                    <a:lnTo>
                      <a:pt x="12700" y="76200"/>
                    </a:lnTo>
                    <a:cubicBezTo>
                      <a:pt x="5686" y="76200"/>
                      <a:pt x="0" y="70514"/>
                      <a:pt x="0" y="63500"/>
                    </a:cubicBezTo>
                    <a:lnTo>
                      <a:pt x="0" y="12700"/>
                    </a:lnTo>
                  </a:path>
                </a:pathLst>
              </a:custGeom>
              <a:noFill/>
              <a:ln w="12700">
                <a:solidFill>
                  <a:srgbClr val="C83210"/>
                </a:solidFill>
              </a:ln>
            </p:spPr>
          </p:sp>
          <p:sp>
            <p:nvSpPr>
              <p:cNvPr id="100" name="Freeform 100"/>
              <p:cNvSpPr/>
              <p:nvPr/>
            </p:nvSpPr>
            <p:spPr>
              <a:xfrm>
                <a:off x="11020425" y="2028825"/>
                <a:ext cx="9525" cy="9525"/>
              </a:xfrm>
              <a:custGeom>
                <a:avLst/>
                <a:gdLst/>
                <a:ahLst/>
                <a:cxnLst/>
                <a:rect l="l" t="t" r="r" b="b"/>
                <a:pathLst>
                  <a:path w="9525" h="9525">
                    <a:moveTo>
                      <a:pt x="0" y="0"/>
                    </a:moveTo>
                    <a:lnTo>
                      <a:pt x="64" y="0"/>
                    </a:lnTo>
                  </a:path>
                </a:pathLst>
              </a:custGeom>
              <a:noFill/>
              <a:ln w="12700">
                <a:solidFill>
                  <a:srgbClr val="C83210"/>
                </a:solidFill>
              </a:ln>
            </p:spPr>
          </p:sp>
          <p:sp>
            <p:nvSpPr>
              <p:cNvPr id="101" name="Freeform 101"/>
              <p:cNvSpPr/>
              <p:nvPr/>
            </p:nvSpPr>
            <p:spPr>
              <a:xfrm>
                <a:off x="10944225" y="2028825"/>
                <a:ext cx="9525" cy="9525"/>
              </a:xfrm>
              <a:custGeom>
                <a:avLst/>
                <a:gdLst/>
                <a:ahLst/>
                <a:cxnLst/>
                <a:rect l="l" t="t" r="r" b="b"/>
                <a:pathLst>
                  <a:path w="9525" h="9525">
                    <a:moveTo>
                      <a:pt x="0" y="0"/>
                    </a:moveTo>
                    <a:lnTo>
                      <a:pt x="64" y="0"/>
                    </a:lnTo>
                  </a:path>
                </a:pathLst>
              </a:custGeom>
              <a:noFill/>
              <a:ln w="12700">
                <a:solidFill>
                  <a:srgbClr val="C83210"/>
                </a:solidFill>
              </a:ln>
            </p:spPr>
          </p:sp>
        </p:grpSp>
        <p:sp>
          <p:nvSpPr>
            <p:cNvPr id="103" name="TextBox 103"/>
            <p:cNvSpPr txBox="1"/>
            <p:nvPr/>
          </p:nvSpPr>
          <p:spPr>
            <a:xfrm>
              <a:off x="11110912" y="1985962"/>
              <a:ext cx="413385"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信贷专员</a:t>
              </a:r>
            </a:p>
          </p:txBody>
        </p:sp>
        <p:sp>
          <p:nvSpPr>
            <p:cNvPr id="104" name="TextBox 104"/>
            <p:cNvSpPr txBox="1"/>
            <p:nvPr/>
          </p:nvSpPr>
          <p:spPr>
            <a:xfrm>
              <a:off x="1265212" y="2305336"/>
              <a:ext cx="593776"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高净值客户到访</a:t>
              </a:r>
            </a:p>
          </p:txBody>
        </p:sp>
        <p:sp>
          <p:nvSpPr>
            <p:cNvPr id="105" name="TextBox 105"/>
            <p:cNvSpPr txBox="1"/>
            <p:nvPr/>
          </p:nvSpPr>
          <p:spPr>
            <a:xfrm>
              <a:off x="1223480" y="2457736"/>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重点客户关系维护</a:t>
              </a:r>
            </a:p>
          </p:txBody>
        </p:sp>
        <p:sp>
          <p:nvSpPr>
            <p:cNvPr id="106" name="TextBox 106"/>
            <p:cNvSpPr txBox="1"/>
            <p:nvPr/>
          </p:nvSpPr>
          <p:spPr>
            <a:xfrm>
              <a:off x="2926194" y="2305336"/>
              <a:ext cx="510311"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厅堂到访客户</a:t>
              </a:r>
            </a:p>
          </p:txBody>
        </p:sp>
        <p:sp>
          <p:nvSpPr>
            <p:cNvPr id="107" name="TextBox 107"/>
            <p:cNvSpPr txBox="1"/>
            <p:nvPr/>
          </p:nvSpPr>
          <p:spPr>
            <a:xfrm>
              <a:off x="2926194" y="2457736"/>
              <a:ext cx="510311"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活动参与客户</a:t>
              </a:r>
            </a:p>
          </p:txBody>
        </p:sp>
        <p:sp>
          <p:nvSpPr>
            <p:cNvPr id="108" name="TextBox 108"/>
            <p:cNvSpPr txBox="1"/>
            <p:nvPr/>
          </p:nvSpPr>
          <p:spPr>
            <a:xfrm>
              <a:off x="4452455" y="2305336"/>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柜面办理业务客户</a:t>
              </a:r>
            </a:p>
          </p:txBody>
        </p:sp>
        <p:sp>
          <p:nvSpPr>
            <p:cNvPr id="109" name="TextBox 109"/>
            <p:cNvSpPr txBox="1"/>
            <p:nvPr/>
          </p:nvSpPr>
          <p:spPr>
            <a:xfrm>
              <a:off x="4410723" y="2457736"/>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存取款、转账等客户</a:t>
              </a:r>
            </a:p>
          </p:txBody>
        </p:sp>
        <p:sp>
          <p:nvSpPr>
            <p:cNvPr id="110" name="TextBox 110"/>
            <p:cNvSpPr txBox="1"/>
            <p:nvPr/>
          </p:nvSpPr>
          <p:spPr>
            <a:xfrm>
              <a:off x="6029973" y="2305336"/>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代发客户、储蓄客户</a:t>
              </a:r>
            </a:p>
          </p:txBody>
        </p:sp>
        <p:sp>
          <p:nvSpPr>
            <p:cNvPr id="111" name="TextBox 111"/>
            <p:cNvSpPr txBox="1"/>
            <p:nvPr/>
          </p:nvSpPr>
          <p:spPr>
            <a:xfrm>
              <a:off x="5988240" y="2457736"/>
              <a:ext cx="844169"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信用卡客户、存量客户</a:t>
              </a:r>
            </a:p>
          </p:txBody>
        </p:sp>
        <p:sp>
          <p:nvSpPr>
            <p:cNvPr id="112" name="TextBox 112"/>
            <p:cNvSpPr txBox="1"/>
            <p:nvPr/>
          </p:nvSpPr>
          <p:spPr>
            <a:xfrm>
              <a:off x="7764894" y="2305336"/>
              <a:ext cx="510311"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对公开户客户</a:t>
              </a:r>
            </a:p>
          </p:txBody>
        </p:sp>
        <p:sp>
          <p:nvSpPr>
            <p:cNvPr id="113" name="TextBox 113"/>
            <p:cNvSpPr txBox="1"/>
            <p:nvPr/>
          </p:nvSpPr>
          <p:spPr>
            <a:xfrm>
              <a:off x="7681430" y="2457736"/>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企业主、企业员工</a:t>
              </a:r>
            </a:p>
          </p:txBody>
        </p:sp>
        <p:sp>
          <p:nvSpPr>
            <p:cNvPr id="114" name="TextBox 114"/>
            <p:cNvSpPr txBox="1"/>
            <p:nvPr/>
          </p:nvSpPr>
          <p:spPr>
            <a:xfrm>
              <a:off x="9416352" y="2305336"/>
              <a:ext cx="426847"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高净值客户</a:t>
              </a:r>
            </a:p>
          </p:txBody>
        </p:sp>
        <p:sp>
          <p:nvSpPr>
            <p:cNvPr id="115" name="TextBox 115"/>
            <p:cNvSpPr txBox="1"/>
            <p:nvPr/>
          </p:nvSpPr>
          <p:spPr>
            <a:xfrm>
              <a:off x="9374619" y="2457736"/>
              <a:ext cx="510311"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理财到期客户</a:t>
              </a:r>
            </a:p>
          </p:txBody>
        </p:sp>
        <p:sp>
          <p:nvSpPr>
            <p:cNvPr id="116" name="TextBox 116"/>
            <p:cNvSpPr txBox="1"/>
            <p:nvPr/>
          </p:nvSpPr>
          <p:spPr>
            <a:xfrm>
              <a:off x="10952137" y="2305336"/>
              <a:ext cx="593776"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有融资需求客户</a:t>
              </a:r>
            </a:p>
          </p:txBody>
        </p:sp>
        <p:sp>
          <p:nvSpPr>
            <p:cNvPr id="117" name="TextBox 117"/>
            <p:cNvSpPr txBox="1"/>
            <p:nvPr/>
          </p:nvSpPr>
          <p:spPr>
            <a:xfrm>
              <a:off x="10868673" y="2457736"/>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经营贷、消费贷客户</a:t>
              </a:r>
            </a:p>
          </p:txBody>
        </p:sp>
        <p:sp>
          <p:nvSpPr>
            <p:cNvPr id="118" name="TextBox 118"/>
            <p:cNvSpPr txBox="1"/>
            <p:nvPr/>
          </p:nvSpPr>
          <p:spPr>
            <a:xfrm>
              <a:off x="1098283" y="2791111"/>
              <a:ext cx="92763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统筹目标分解与过程管理</a:t>
              </a:r>
            </a:p>
          </p:txBody>
        </p:sp>
        <p:sp>
          <p:nvSpPr>
            <p:cNvPr id="119" name="TextBox 119"/>
            <p:cNvSpPr txBox="1"/>
            <p:nvPr/>
          </p:nvSpPr>
          <p:spPr>
            <a:xfrm>
              <a:off x="1223480" y="2943511"/>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带头经营重点客户</a:t>
              </a:r>
            </a:p>
          </p:txBody>
        </p:sp>
        <p:sp>
          <p:nvSpPr>
            <p:cNvPr id="120" name="TextBox 120"/>
            <p:cNvSpPr txBox="1"/>
            <p:nvPr/>
          </p:nvSpPr>
          <p:spPr>
            <a:xfrm>
              <a:off x="1223480" y="3095911"/>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协调资源解决难点</a:t>
              </a:r>
            </a:p>
          </p:txBody>
        </p:sp>
        <p:sp>
          <p:nvSpPr>
            <p:cNvPr id="121" name="TextBox 121"/>
            <p:cNvSpPr txBox="1"/>
            <p:nvPr/>
          </p:nvSpPr>
          <p:spPr>
            <a:xfrm>
              <a:off x="2842730" y="2791111"/>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主动引导添加企微</a:t>
              </a:r>
            </a:p>
          </p:txBody>
        </p:sp>
        <p:sp>
          <p:nvSpPr>
            <p:cNvPr id="122" name="TextBox 122"/>
            <p:cNvSpPr txBox="1"/>
            <p:nvPr/>
          </p:nvSpPr>
          <p:spPr>
            <a:xfrm>
              <a:off x="2842730" y="2943511"/>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完成客户身份认证</a:t>
              </a:r>
            </a:p>
          </p:txBody>
        </p:sp>
        <p:sp>
          <p:nvSpPr>
            <p:cNvPr id="123" name="TextBox 123"/>
            <p:cNvSpPr txBox="1"/>
            <p:nvPr/>
          </p:nvSpPr>
          <p:spPr>
            <a:xfrm>
              <a:off x="2759266" y="3095911"/>
              <a:ext cx="844169"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按标签分配至相应岗位</a:t>
              </a:r>
            </a:p>
          </p:txBody>
        </p:sp>
        <p:sp>
          <p:nvSpPr>
            <p:cNvPr id="124" name="TextBox 124"/>
            <p:cNvSpPr txBox="1"/>
            <p:nvPr/>
          </p:nvSpPr>
          <p:spPr>
            <a:xfrm>
              <a:off x="4452455" y="2791111"/>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主动推荐添加企微</a:t>
              </a:r>
            </a:p>
          </p:txBody>
        </p:sp>
        <p:sp>
          <p:nvSpPr>
            <p:cNvPr id="125" name="TextBox 125"/>
            <p:cNvSpPr txBox="1"/>
            <p:nvPr/>
          </p:nvSpPr>
          <p:spPr>
            <a:xfrm>
              <a:off x="4410723" y="2943511"/>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协助完成认证与标签</a:t>
              </a:r>
            </a:p>
          </p:txBody>
        </p:sp>
        <p:sp>
          <p:nvSpPr>
            <p:cNvPr id="126" name="TextBox 126"/>
            <p:cNvSpPr txBox="1"/>
            <p:nvPr/>
          </p:nvSpPr>
          <p:spPr>
            <a:xfrm>
              <a:off x="4410723" y="3095911"/>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识别潜在客户并记录</a:t>
              </a:r>
            </a:p>
          </p:txBody>
        </p:sp>
        <p:sp>
          <p:nvSpPr>
            <p:cNvPr id="127" name="TextBox 127"/>
            <p:cNvSpPr txBox="1"/>
            <p:nvPr/>
          </p:nvSpPr>
          <p:spPr>
            <a:xfrm>
              <a:off x="6029973" y="2791111"/>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开展个性化内容触达</a:t>
              </a:r>
            </a:p>
          </p:txBody>
        </p:sp>
        <p:sp>
          <p:nvSpPr>
            <p:cNvPr id="128" name="TextBox 128"/>
            <p:cNvSpPr txBox="1"/>
            <p:nvPr/>
          </p:nvSpPr>
          <p:spPr>
            <a:xfrm>
              <a:off x="5946508" y="2943511"/>
              <a:ext cx="92763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挖掘需求并推动产品转化</a:t>
              </a:r>
            </a:p>
          </p:txBody>
        </p:sp>
        <p:sp>
          <p:nvSpPr>
            <p:cNvPr id="129" name="TextBox 129"/>
            <p:cNvSpPr txBox="1"/>
            <p:nvPr/>
          </p:nvSpPr>
          <p:spPr>
            <a:xfrm>
              <a:off x="6071705" y="3095911"/>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持续客户关系维护</a:t>
              </a:r>
            </a:p>
          </p:txBody>
        </p:sp>
        <p:sp>
          <p:nvSpPr>
            <p:cNvPr id="130" name="TextBox 130"/>
            <p:cNvSpPr txBox="1"/>
            <p:nvPr/>
          </p:nvSpPr>
          <p:spPr>
            <a:xfrm>
              <a:off x="7597965" y="2791111"/>
              <a:ext cx="844169"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添加企业客户及关键人</a:t>
              </a:r>
            </a:p>
          </p:txBody>
        </p:sp>
        <p:sp>
          <p:nvSpPr>
            <p:cNvPr id="131" name="TextBox 131"/>
            <p:cNvSpPr txBox="1"/>
            <p:nvPr/>
          </p:nvSpPr>
          <p:spPr>
            <a:xfrm>
              <a:off x="7681430" y="2943511"/>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推进企业金融内容</a:t>
              </a:r>
            </a:p>
          </p:txBody>
        </p:sp>
        <p:sp>
          <p:nvSpPr>
            <p:cNvPr id="132" name="TextBox 132"/>
            <p:cNvSpPr txBox="1"/>
            <p:nvPr/>
          </p:nvSpPr>
          <p:spPr>
            <a:xfrm>
              <a:off x="7639698" y="3095911"/>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挖掘上下游个人需求</a:t>
              </a:r>
            </a:p>
          </p:txBody>
        </p:sp>
        <p:sp>
          <p:nvSpPr>
            <p:cNvPr id="133" name="TextBox 133"/>
            <p:cNvSpPr txBox="1"/>
            <p:nvPr/>
          </p:nvSpPr>
          <p:spPr>
            <a:xfrm>
              <a:off x="9165958" y="2791111"/>
              <a:ext cx="92763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提供专业内容与市场观点</a:t>
              </a:r>
            </a:p>
          </p:txBody>
        </p:sp>
        <p:sp>
          <p:nvSpPr>
            <p:cNvPr id="134" name="TextBox 134"/>
            <p:cNvSpPr txBox="1"/>
            <p:nvPr/>
          </p:nvSpPr>
          <p:spPr>
            <a:xfrm>
              <a:off x="9249423" y="2943511"/>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开展一对一深度沟通</a:t>
              </a:r>
            </a:p>
          </p:txBody>
        </p:sp>
        <p:sp>
          <p:nvSpPr>
            <p:cNvPr id="135" name="TextBox 135"/>
            <p:cNvSpPr txBox="1"/>
            <p:nvPr/>
          </p:nvSpPr>
          <p:spPr>
            <a:xfrm>
              <a:off x="9124226" y="3095911"/>
              <a:ext cx="1011098"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推动理财、保险等产品配置</a:t>
              </a:r>
            </a:p>
          </p:txBody>
        </p:sp>
        <p:sp>
          <p:nvSpPr>
            <p:cNvPr id="136" name="TextBox 136"/>
            <p:cNvSpPr txBox="1"/>
            <p:nvPr/>
          </p:nvSpPr>
          <p:spPr>
            <a:xfrm>
              <a:off x="10785208" y="2791111"/>
              <a:ext cx="92763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推进信贷产品与政策解读</a:t>
              </a:r>
            </a:p>
          </p:txBody>
        </p:sp>
        <p:sp>
          <p:nvSpPr>
            <p:cNvPr id="137" name="TextBox 137"/>
            <p:cNvSpPr txBox="1"/>
            <p:nvPr/>
          </p:nvSpPr>
          <p:spPr>
            <a:xfrm>
              <a:off x="10910405" y="2943511"/>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开展意向客户跟进</a:t>
              </a:r>
            </a:p>
          </p:txBody>
        </p:sp>
        <p:sp>
          <p:nvSpPr>
            <p:cNvPr id="138" name="TextBox 138"/>
            <p:cNvSpPr txBox="1"/>
            <p:nvPr/>
          </p:nvSpPr>
          <p:spPr>
            <a:xfrm>
              <a:off x="10868673" y="3095911"/>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推动授信与放款转化</a:t>
              </a:r>
            </a:p>
          </p:txBody>
        </p:sp>
        <p:sp>
          <p:nvSpPr>
            <p:cNvPr id="139" name="TextBox 139"/>
            <p:cNvSpPr txBox="1"/>
            <p:nvPr/>
          </p:nvSpPr>
          <p:spPr>
            <a:xfrm>
              <a:off x="1158795" y="3381661"/>
              <a:ext cx="80661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向零售/对公条线提供</a:t>
              </a:r>
            </a:p>
          </p:txBody>
        </p:sp>
        <p:sp>
          <p:nvSpPr>
            <p:cNvPr id="140" name="TextBox 140"/>
            <p:cNvSpPr txBox="1"/>
            <p:nvPr/>
          </p:nvSpPr>
          <p:spPr>
            <a:xfrm>
              <a:off x="1098283" y="3534061"/>
              <a:ext cx="92763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重点客户资源、协调跨岗</a:t>
              </a:r>
            </a:p>
          </p:txBody>
        </p:sp>
        <p:sp>
          <p:nvSpPr>
            <p:cNvPr id="141" name="TextBox 141"/>
            <p:cNvSpPr txBox="1"/>
            <p:nvPr/>
          </p:nvSpPr>
          <p:spPr>
            <a:xfrm>
              <a:off x="1390409" y="368646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协同服务</a:t>
              </a:r>
            </a:p>
          </p:txBody>
        </p:sp>
        <p:sp>
          <p:nvSpPr>
            <p:cNvPr id="142" name="TextBox 142"/>
            <p:cNvSpPr txBox="1"/>
            <p:nvPr/>
          </p:nvSpPr>
          <p:spPr>
            <a:xfrm>
              <a:off x="2759266" y="3381661"/>
              <a:ext cx="844169"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将客户线索及时分配给</a:t>
              </a:r>
            </a:p>
          </p:txBody>
        </p:sp>
        <p:sp>
          <p:nvSpPr>
            <p:cNvPr id="143" name="TextBox 143"/>
            <p:cNvSpPr txBox="1"/>
            <p:nvPr/>
          </p:nvSpPr>
          <p:spPr>
            <a:xfrm>
              <a:off x="2694581" y="3534061"/>
              <a:ext cx="973539"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柜员、零售/对公客户经理</a:t>
              </a:r>
            </a:p>
          </p:txBody>
        </p:sp>
        <p:sp>
          <p:nvSpPr>
            <p:cNvPr id="144" name="TextBox 144"/>
            <p:cNvSpPr txBox="1"/>
            <p:nvPr/>
          </p:nvSpPr>
          <p:spPr>
            <a:xfrm>
              <a:off x="2884462" y="3686461"/>
              <a:ext cx="593776"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并跟进添加结果</a:t>
              </a:r>
            </a:p>
          </p:txBody>
        </p:sp>
        <p:sp>
          <p:nvSpPr>
            <p:cNvPr id="145" name="TextBox 145"/>
            <p:cNvSpPr txBox="1"/>
            <p:nvPr/>
          </p:nvSpPr>
          <p:spPr>
            <a:xfrm>
              <a:off x="4368990" y="3381661"/>
              <a:ext cx="844169"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将有需求的客户转介给</a:t>
              </a:r>
            </a:p>
          </p:txBody>
        </p:sp>
        <p:sp>
          <p:nvSpPr>
            <p:cNvPr id="146" name="TextBox 146"/>
            <p:cNvSpPr txBox="1"/>
            <p:nvPr/>
          </p:nvSpPr>
          <p:spPr>
            <a:xfrm>
              <a:off x="4327258" y="3534061"/>
              <a:ext cx="92763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零售客户经理或理财顾问</a:t>
              </a:r>
            </a:p>
          </p:txBody>
        </p:sp>
        <p:sp>
          <p:nvSpPr>
            <p:cNvPr id="147" name="TextBox 147"/>
            <p:cNvSpPr txBox="1"/>
            <p:nvPr/>
          </p:nvSpPr>
          <p:spPr>
            <a:xfrm>
              <a:off x="4494187" y="3686461"/>
              <a:ext cx="593776"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并备注客户需求</a:t>
              </a:r>
            </a:p>
          </p:txBody>
        </p:sp>
        <p:sp>
          <p:nvSpPr>
            <p:cNvPr id="148" name="TextBox 148"/>
            <p:cNvSpPr txBox="1"/>
            <p:nvPr/>
          </p:nvSpPr>
          <p:spPr>
            <a:xfrm>
              <a:off x="5988240" y="3381661"/>
              <a:ext cx="844169"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与理财顾问、信贷专员</a:t>
              </a:r>
            </a:p>
          </p:txBody>
        </p:sp>
        <p:sp>
          <p:nvSpPr>
            <p:cNvPr id="149" name="TextBox 149"/>
            <p:cNvSpPr txBox="1"/>
            <p:nvPr/>
          </p:nvSpPr>
          <p:spPr>
            <a:xfrm>
              <a:off x="6029973" y="3534061"/>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协同转介，复杂需求</a:t>
              </a:r>
            </a:p>
          </p:txBody>
        </p:sp>
        <p:sp>
          <p:nvSpPr>
            <p:cNvPr id="150" name="TextBox 150"/>
            <p:cNvSpPr txBox="1"/>
            <p:nvPr/>
          </p:nvSpPr>
          <p:spPr>
            <a:xfrm>
              <a:off x="6238634" y="3686461"/>
              <a:ext cx="34338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共同服务</a:t>
              </a:r>
            </a:p>
          </p:txBody>
        </p:sp>
        <p:sp>
          <p:nvSpPr>
            <p:cNvPr id="151" name="TextBox 151"/>
            <p:cNvSpPr txBox="1"/>
            <p:nvPr/>
          </p:nvSpPr>
          <p:spPr>
            <a:xfrm>
              <a:off x="7556233" y="3381661"/>
              <a:ext cx="92763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将企业主及员工个人需求</a:t>
              </a:r>
            </a:p>
          </p:txBody>
        </p:sp>
        <p:sp>
          <p:nvSpPr>
            <p:cNvPr id="152" name="TextBox 152"/>
            <p:cNvSpPr txBox="1"/>
            <p:nvPr/>
          </p:nvSpPr>
          <p:spPr>
            <a:xfrm>
              <a:off x="7639698" y="3534061"/>
              <a:ext cx="760705"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转介给零售客户经理</a:t>
              </a:r>
            </a:p>
          </p:txBody>
        </p:sp>
        <p:sp>
          <p:nvSpPr>
            <p:cNvPr id="153" name="TextBox 153"/>
            <p:cNvSpPr txBox="1"/>
            <p:nvPr/>
          </p:nvSpPr>
          <p:spPr>
            <a:xfrm>
              <a:off x="7764894" y="3686461"/>
              <a:ext cx="510311"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实现公私联动</a:t>
              </a:r>
            </a:p>
          </p:txBody>
        </p:sp>
        <p:sp>
          <p:nvSpPr>
            <p:cNvPr id="154" name="TextBox 154"/>
            <p:cNvSpPr txBox="1"/>
            <p:nvPr/>
          </p:nvSpPr>
          <p:spPr>
            <a:xfrm>
              <a:off x="9124226" y="3381661"/>
              <a:ext cx="1011098"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与零售客户经理、信贷专员</a:t>
              </a:r>
            </a:p>
          </p:txBody>
        </p:sp>
        <p:sp>
          <p:nvSpPr>
            <p:cNvPr id="155" name="TextBox 155"/>
            <p:cNvSpPr txBox="1"/>
            <p:nvPr/>
          </p:nvSpPr>
          <p:spPr>
            <a:xfrm>
              <a:off x="9165958" y="3534061"/>
              <a:ext cx="927633"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共享客户信息，联合服务</a:t>
              </a:r>
            </a:p>
          </p:txBody>
        </p:sp>
        <p:sp>
          <p:nvSpPr>
            <p:cNvPr id="156" name="TextBox 156"/>
            <p:cNvSpPr txBox="1"/>
            <p:nvPr/>
          </p:nvSpPr>
          <p:spPr>
            <a:xfrm>
              <a:off x="9291155" y="3686461"/>
              <a:ext cx="677240"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推进客户综合贡献</a:t>
              </a:r>
            </a:p>
          </p:txBody>
        </p:sp>
        <p:sp>
          <p:nvSpPr>
            <p:cNvPr id="157" name="TextBox 157"/>
            <p:cNvSpPr txBox="1"/>
            <p:nvPr/>
          </p:nvSpPr>
          <p:spPr>
            <a:xfrm>
              <a:off x="10826940" y="3381661"/>
              <a:ext cx="844169"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从柜员、零售客户经理</a:t>
              </a:r>
            </a:p>
          </p:txBody>
        </p:sp>
        <p:sp>
          <p:nvSpPr>
            <p:cNvPr id="158" name="TextBox 158"/>
            <p:cNvSpPr txBox="1"/>
            <p:nvPr/>
          </p:nvSpPr>
          <p:spPr>
            <a:xfrm>
              <a:off x="10826940" y="3534061"/>
              <a:ext cx="844169"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获取贷款意向客户线索</a:t>
              </a:r>
            </a:p>
          </p:txBody>
        </p:sp>
        <p:sp>
          <p:nvSpPr>
            <p:cNvPr id="159" name="TextBox 159"/>
            <p:cNvSpPr txBox="1"/>
            <p:nvPr/>
          </p:nvSpPr>
          <p:spPr>
            <a:xfrm>
              <a:off x="10952137" y="3686461"/>
              <a:ext cx="593776"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mn-lt"/>
                  <a:ea typeface="+mn-ea"/>
                  <a:cs typeface="+mn-cs"/>
                </a:rPr>
                <a:t>并反馈办理结果</a:t>
              </a:r>
            </a:p>
          </p:txBody>
        </p:sp>
        <p:sp>
          <p:nvSpPr>
            <p:cNvPr id="160" name="Line 160"/>
            <p:cNvSpPr/>
            <p:nvPr/>
          </p:nvSpPr>
          <p:spPr>
            <a:xfrm>
              <a:off x="2371725" y="1885950"/>
              <a:ext cx="9525" cy="1905000"/>
            </a:xfrm>
            <a:custGeom>
              <a:avLst/>
              <a:gdLst/>
              <a:ahLst/>
              <a:cxnLst/>
              <a:rect l="l" t="t" r="r" b="b"/>
              <a:pathLst>
                <a:path w="9525" h="1905000">
                  <a:moveTo>
                    <a:pt x="0" y="0"/>
                  </a:moveTo>
                  <a:lnTo>
                    <a:pt x="0" y="1905000"/>
                  </a:lnTo>
                </a:path>
              </a:pathLst>
            </a:custGeom>
            <a:noFill/>
            <a:ln w="9525">
              <a:solidFill>
                <a:srgbClr val="F1C7CC"/>
              </a:solidFill>
            </a:ln>
          </p:spPr>
        </p:sp>
        <p:sp>
          <p:nvSpPr>
            <p:cNvPr id="161" name="Line 161"/>
            <p:cNvSpPr/>
            <p:nvPr/>
          </p:nvSpPr>
          <p:spPr>
            <a:xfrm>
              <a:off x="3990975" y="1885950"/>
              <a:ext cx="9525" cy="1905000"/>
            </a:xfrm>
            <a:custGeom>
              <a:avLst/>
              <a:gdLst/>
              <a:ahLst/>
              <a:cxnLst/>
              <a:rect l="l" t="t" r="r" b="b"/>
              <a:pathLst>
                <a:path w="9525" h="1905000">
                  <a:moveTo>
                    <a:pt x="0" y="0"/>
                  </a:moveTo>
                  <a:lnTo>
                    <a:pt x="0" y="1905000"/>
                  </a:lnTo>
                </a:path>
              </a:pathLst>
            </a:custGeom>
            <a:noFill/>
            <a:ln w="9525">
              <a:solidFill>
                <a:srgbClr val="F1C7CC"/>
              </a:solidFill>
            </a:ln>
          </p:spPr>
        </p:sp>
        <p:sp>
          <p:nvSpPr>
            <p:cNvPr id="162" name="Line 162"/>
            <p:cNvSpPr/>
            <p:nvPr/>
          </p:nvSpPr>
          <p:spPr>
            <a:xfrm>
              <a:off x="5600700" y="1885950"/>
              <a:ext cx="9525" cy="1905000"/>
            </a:xfrm>
            <a:custGeom>
              <a:avLst/>
              <a:gdLst/>
              <a:ahLst/>
              <a:cxnLst/>
              <a:rect l="l" t="t" r="r" b="b"/>
              <a:pathLst>
                <a:path w="9525" h="1905000">
                  <a:moveTo>
                    <a:pt x="0" y="0"/>
                  </a:moveTo>
                  <a:lnTo>
                    <a:pt x="0" y="1905000"/>
                  </a:lnTo>
                </a:path>
              </a:pathLst>
            </a:custGeom>
            <a:noFill/>
            <a:ln w="9525">
              <a:solidFill>
                <a:srgbClr val="F1C7CC"/>
              </a:solidFill>
            </a:ln>
          </p:spPr>
        </p:sp>
        <p:sp>
          <p:nvSpPr>
            <p:cNvPr id="163" name="Line 163"/>
            <p:cNvSpPr/>
            <p:nvPr/>
          </p:nvSpPr>
          <p:spPr>
            <a:xfrm>
              <a:off x="7219950" y="1885950"/>
              <a:ext cx="9525" cy="1905000"/>
            </a:xfrm>
            <a:custGeom>
              <a:avLst/>
              <a:gdLst/>
              <a:ahLst/>
              <a:cxnLst/>
              <a:rect l="l" t="t" r="r" b="b"/>
              <a:pathLst>
                <a:path w="9525" h="1905000">
                  <a:moveTo>
                    <a:pt x="0" y="0"/>
                  </a:moveTo>
                  <a:lnTo>
                    <a:pt x="0" y="1905000"/>
                  </a:lnTo>
                </a:path>
              </a:pathLst>
            </a:custGeom>
            <a:noFill/>
            <a:ln w="9525">
              <a:solidFill>
                <a:srgbClr val="F1C7CC"/>
              </a:solidFill>
            </a:ln>
          </p:spPr>
        </p:sp>
        <p:sp>
          <p:nvSpPr>
            <p:cNvPr id="164" name="Line 164"/>
            <p:cNvSpPr/>
            <p:nvPr/>
          </p:nvSpPr>
          <p:spPr>
            <a:xfrm>
              <a:off x="8829675" y="1885950"/>
              <a:ext cx="9525" cy="1905000"/>
            </a:xfrm>
            <a:custGeom>
              <a:avLst/>
              <a:gdLst/>
              <a:ahLst/>
              <a:cxnLst/>
              <a:rect l="l" t="t" r="r" b="b"/>
              <a:pathLst>
                <a:path w="9525" h="1905000">
                  <a:moveTo>
                    <a:pt x="0" y="0"/>
                  </a:moveTo>
                  <a:lnTo>
                    <a:pt x="0" y="1905000"/>
                  </a:lnTo>
                </a:path>
              </a:pathLst>
            </a:custGeom>
            <a:noFill/>
            <a:ln w="9525">
              <a:solidFill>
                <a:srgbClr val="F1C7CC"/>
              </a:solidFill>
            </a:ln>
          </p:spPr>
        </p:sp>
        <p:sp>
          <p:nvSpPr>
            <p:cNvPr id="165" name="Line 165"/>
            <p:cNvSpPr/>
            <p:nvPr/>
          </p:nvSpPr>
          <p:spPr>
            <a:xfrm>
              <a:off x="10439400" y="1885950"/>
              <a:ext cx="9525" cy="1905000"/>
            </a:xfrm>
            <a:custGeom>
              <a:avLst/>
              <a:gdLst/>
              <a:ahLst/>
              <a:cxnLst/>
              <a:rect l="l" t="t" r="r" b="b"/>
              <a:pathLst>
                <a:path w="9525" h="1905000">
                  <a:moveTo>
                    <a:pt x="0" y="0"/>
                  </a:moveTo>
                  <a:lnTo>
                    <a:pt x="0" y="1905000"/>
                  </a:lnTo>
                </a:path>
              </a:pathLst>
            </a:custGeom>
            <a:noFill/>
            <a:ln w="9525">
              <a:solidFill>
                <a:srgbClr val="F1C7CC"/>
              </a:solidFill>
            </a:ln>
          </p:spPr>
        </p:sp>
        <p:sp>
          <p:nvSpPr>
            <p:cNvPr id="166" name="Line 166"/>
            <p:cNvSpPr/>
            <p:nvPr/>
          </p:nvSpPr>
          <p:spPr>
            <a:xfrm>
              <a:off x="762000" y="2171700"/>
              <a:ext cx="11296650" cy="9525"/>
            </a:xfrm>
            <a:custGeom>
              <a:avLst/>
              <a:gdLst/>
              <a:ahLst/>
              <a:cxnLst/>
              <a:rect l="l" t="t" r="r" b="b"/>
              <a:pathLst>
                <a:path w="11296650" h="9525">
                  <a:moveTo>
                    <a:pt x="0" y="0"/>
                  </a:moveTo>
                  <a:lnTo>
                    <a:pt x="11296650" y="0"/>
                  </a:lnTo>
                </a:path>
              </a:pathLst>
            </a:custGeom>
            <a:noFill/>
            <a:ln w="9525">
              <a:solidFill>
                <a:srgbClr val="B32C0E"/>
              </a:solidFill>
            </a:ln>
          </p:spPr>
        </p:sp>
        <p:sp>
          <p:nvSpPr>
            <p:cNvPr id="167" name="Line 167"/>
            <p:cNvSpPr/>
            <p:nvPr/>
          </p:nvSpPr>
          <p:spPr>
            <a:xfrm>
              <a:off x="762000" y="2667000"/>
              <a:ext cx="11296650" cy="9525"/>
            </a:xfrm>
            <a:custGeom>
              <a:avLst/>
              <a:gdLst/>
              <a:ahLst/>
              <a:cxnLst/>
              <a:rect l="l" t="t" r="r" b="b"/>
              <a:pathLst>
                <a:path w="11296650" h="9525">
                  <a:moveTo>
                    <a:pt x="0" y="0"/>
                  </a:moveTo>
                  <a:lnTo>
                    <a:pt x="11296650" y="0"/>
                  </a:lnTo>
                </a:path>
              </a:pathLst>
            </a:custGeom>
            <a:noFill/>
            <a:ln w="9525">
              <a:solidFill>
                <a:srgbClr val="F1C7CC"/>
              </a:solidFill>
            </a:ln>
          </p:spPr>
        </p:sp>
        <p:sp>
          <p:nvSpPr>
            <p:cNvPr id="168" name="Line 168"/>
            <p:cNvSpPr/>
            <p:nvPr/>
          </p:nvSpPr>
          <p:spPr>
            <a:xfrm>
              <a:off x="762000" y="3276600"/>
              <a:ext cx="11296650" cy="9525"/>
            </a:xfrm>
            <a:custGeom>
              <a:avLst/>
              <a:gdLst/>
              <a:ahLst/>
              <a:cxnLst/>
              <a:rect l="l" t="t" r="r" b="b"/>
              <a:pathLst>
                <a:path w="11296650" h="9525">
                  <a:moveTo>
                    <a:pt x="0" y="0"/>
                  </a:moveTo>
                  <a:lnTo>
                    <a:pt x="11296650" y="0"/>
                  </a:lnTo>
                </a:path>
              </a:pathLst>
            </a:custGeom>
            <a:noFill/>
            <a:ln w="9525">
              <a:solidFill>
                <a:srgbClr val="F1C7CC"/>
              </a:solidFill>
            </a:ln>
          </p:spPr>
        </p:sp>
        <p:sp>
          <p:nvSpPr>
            <p:cNvPr id="169" name="Line 169"/>
            <p:cNvSpPr/>
            <p:nvPr/>
          </p:nvSpPr>
          <p:spPr>
            <a:xfrm>
              <a:off x="762000" y="3790950"/>
              <a:ext cx="11296650" cy="9525"/>
            </a:xfrm>
            <a:custGeom>
              <a:avLst/>
              <a:gdLst/>
              <a:ahLst/>
              <a:cxnLst/>
              <a:rect l="l" t="t" r="r" b="b"/>
              <a:pathLst>
                <a:path w="11296650" h="9525">
                  <a:moveTo>
                    <a:pt x="0" y="0"/>
                  </a:moveTo>
                  <a:lnTo>
                    <a:pt x="11296650" y="0"/>
                  </a:lnTo>
                </a:path>
              </a:pathLst>
            </a:custGeom>
            <a:noFill/>
            <a:ln w="9525">
              <a:solidFill>
                <a:srgbClr val="F1C7CC"/>
              </a:solidFill>
            </a:ln>
          </p:spPr>
        </p:sp>
      </p:grpSp>
      <p:grpSp>
        <p:nvGrpSpPr>
          <p:cNvPr id="240" name="sop-band"/>
          <p:cNvGrpSpPr/>
          <p:nvPr/>
        </p:nvGrpSpPr>
        <p:grpSpPr>
          <a:xfrm>
            <a:off x="133350" y="3943350"/>
            <a:ext cx="6505575" cy="1578292"/>
            <a:chOff x="133350" y="3943350"/>
            <a:chExt cx="6505575" cy="1578292"/>
          </a:xfrm>
        </p:grpSpPr>
        <p:sp>
          <p:nvSpPr>
            <p:cNvPr id="171" name="Rectangle 171"/>
            <p:cNvSpPr/>
            <p:nvPr/>
          </p:nvSpPr>
          <p:spPr>
            <a:xfrm>
              <a:off x="171450" y="3943350"/>
              <a:ext cx="38100" cy="152400"/>
            </a:xfrm>
            <a:prstGeom prst="rect">
              <a:avLst/>
            </a:prstGeom>
            <a:solidFill>
              <a:srgbClr val="C83210"/>
            </a:solidFill>
            <a:ln>
              <a:noFill/>
            </a:ln>
          </p:spPr>
        </p:sp>
        <p:sp>
          <p:nvSpPr>
            <p:cNvPr id="172" name="TextBox 172"/>
            <p:cNvSpPr txBox="1"/>
            <p:nvPr/>
          </p:nvSpPr>
          <p:spPr>
            <a:xfrm>
              <a:off x="280797" y="3961924"/>
              <a:ext cx="120417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 xml:space="preserve">支行每日执行SOP　</a:t>
              </a:r>
            </a:p>
          </p:txBody>
        </p:sp>
        <p:sp>
          <p:nvSpPr>
            <p:cNvPr id="173" name="Freeform 173"/>
            <p:cNvSpPr/>
            <p:nvPr/>
          </p:nvSpPr>
          <p:spPr>
            <a:xfrm>
              <a:off x="133350" y="4152900"/>
              <a:ext cx="1276350" cy="285750"/>
            </a:xfrm>
            <a:prstGeom prst="chevron">
              <a:avLst>
                <a:gd name="adj" fmla="val 35000"/>
              </a:avLst>
            </a:prstGeom>
            <a:solidFill>
              <a:srgbClr val="FBE3E6"/>
            </a:solidFill>
            <a:ln>
              <a:noFill/>
            </a:ln>
          </p:spPr>
        </p:sp>
        <p:sp>
          <p:nvSpPr>
            <p:cNvPr id="174" name="Freeform 174"/>
            <p:cNvSpPr/>
            <p:nvPr/>
          </p:nvSpPr>
          <p:spPr>
            <a:xfrm>
              <a:off x="1438275" y="4152900"/>
              <a:ext cx="1276350" cy="285750"/>
            </a:xfrm>
            <a:prstGeom prst="chevron">
              <a:avLst>
                <a:gd name="adj" fmla="val 35000"/>
              </a:avLst>
            </a:prstGeom>
            <a:solidFill>
              <a:srgbClr val="FBE3E6"/>
            </a:solidFill>
            <a:ln>
              <a:noFill/>
            </a:ln>
          </p:spPr>
        </p:sp>
        <p:sp>
          <p:nvSpPr>
            <p:cNvPr id="175" name="Freeform 175"/>
            <p:cNvSpPr/>
            <p:nvPr/>
          </p:nvSpPr>
          <p:spPr>
            <a:xfrm>
              <a:off x="2743200" y="4152900"/>
              <a:ext cx="1276350" cy="285750"/>
            </a:xfrm>
            <a:prstGeom prst="chevron">
              <a:avLst>
                <a:gd name="adj" fmla="val 35000"/>
              </a:avLst>
            </a:prstGeom>
            <a:solidFill>
              <a:srgbClr val="FBE3E6"/>
            </a:solidFill>
            <a:ln>
              <a:noFill/>
            </a:ln>
          </p:spPr>
        </p:sp>
        <p:sp>
          <p:nvSpPr>
            <p:cNvPr id="176" name="Freeform 176"/>
            <p:cNvSpPr/>
            <p:nvPr/>
          </p:nvSpPr>
          <p:spPr>
            <a:xfrm>
              <a:off x="4057650" y="4152900"/>
              <a:ext cx="1276350" cy="285750"/>
            </a:xfrm>
            <a:prstGeom prst="chevron">
              <a:avLst>
                <a:gd name="adj" fmla="val 35000"/>
              </a:avLst>
            </a:prstGeom>
            <a:solidFill>
              <a:srgbClr val="FBE3E6"/>
            </a:solidFill>
            <a:ln>
              <a:noFill/>
            </a:ln>
          </p:spPr>
        </p:sp>
        <p:sp>
          <p:nvSpPr>
            <p:cNvPr id="177" name="Freeform 177"/>
            <p:cNvSpPr/>
            <p:nvPr/>
          </p:nvSpPr>
          <p:spPr>
            <a:xfrm>
              <a:off x="5362575" y="4152900"/>
              <a:ext cx="1276350" cy="285750"/>
            </a:xfrm>
            <a:prstGeom prst="chevron">
              <a:avLst>
                <a:gd name="adj" fmla="val 35000"/>
              </a:avLst>
            </a:prstGeom>
            <a:solidFill>
              <a:srgbClr val="FBE3E6"/>
            </a:solidFill>
            <a:ln>
              <a:noFill/>
            </a:ln>
          </p:spPr>
        </p:sp>
        <p:sp>
          <p:nvSpPr>
            <p:cNvPr id="178" name="Ellipse 178"/>
            <p:cNvSpPr/>
            <p:nvPr/>
          </p:nvSpPr>
          <p:spPr>
            <a:xfrm>
              <a:off x="314325" y="4210050"/>
              <a:ext cx="171450" cy="171450"/>
            </a:xfrm>
            <a:prstGeom prst="ellipse">
              <a:avLst/>
            </a:prstGeom>
            <a:solidFill>
              <a:srgbClr val="C83210"/>
            </a:solidFill>
            <a:ln>
              <a:noFill/>
            </a:ln>
          </p:spPr>
        </p:sp>
        <p:sp>
          <p:nvSpPr>
            <p:cNvPr id="179" name="TextBox 179"/>
            <p:cNvSpPr txBox="1"/>
            <p:nvPr/>
          </p:nvSpPr>
          <p:spPr>
            <a:xfrm>
              <a:off x="350362" y="4259580"/>
              <a:ext cx="99376"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Arial"/>
                  <a:cs typeface="Arial"/>
                </a:rPr>
                <a:t>01</a:t>
              </a:r>
            </a:p>
          </p:txBody>
        </p:sp>
        <p:grpSp>
          <p:nvGrpSpPr>
            <p:cNvPr id="184" name="Group 184"/>
            <p:cNvGrpSpPr/>
            <p:nvPr/>
          </p:nvGrpSpPr>
          <p:grpSpPr>
            <a:xfrm>
              <a:off x="857250" y="4238625"/>
              <a:ext cx="114300" cy="114301"/>
              <a:chOff x="857250" y="4238625"/>
              <a:chExt cx="114300" cy="114301"/>
            </a:xfrm>
          </p:grpSpPr>
          <p:sp>
            <p:nvSpPr>
              <p:cNvPr id="180" name="Freeform 180"/>
              <p:cNvSpPr/>
              <p:nvPr/>
            </p:nvSpPr>
            <p:spPr>
              <a:xfrm>
                <a:off x="869950" y="42386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181" name="Freeform 181"/>
              <p:cNvSpPr/>
              <p:nvPr/>
            </p:nvSpPr>
            <p:spPr>
              <a:xfrm>
                <a:off x="857250" y="431482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C83210"/>
                </a:solidFill>
              </a:ln>
            </p:spPr>
          </p:sp>
          <p:sp>
            <p:nvSpPr>
              <p:cNvPr id="182" name="Freeform 182"/>
              <p:cNvSpPr/>
              <p:nvPr/>
            </p:nvSpPr>
            <p:spPr>
              <a:xfrm>
                <a:off x="939800" y="4239451"/>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C83210"/>
                </a:solidFill>
              </a:ln>
            </p:spPr>
          </p:sp>
          <p:sp>
            <p:nvSpPr>
              <p:cNvPr id="183" name="Freeform 183"/>
              <p:cNvSpPr/>
              <p:nvPr/>
            </p:nvSpPr>
            <p:spPr>
              <a:xfrm>
                <a:off x="952500" y="4315778"/>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C83210"/>
                </a:solidFill>
              </a:ln>
            </p:spPr>
          </p:sp>
        </p:grpSp>
        <p:sp>
          <p:nvSpPr>
            <p:cNvPr id="185" name="TextBox 185"/>
            <p:cNvSpPr txBox="1"/>
            <p:nvPr/>
          </p:nvSpPr>
          <p:spPr>
            <a:xfrm>
              <a:off x="514350" y="4586288"/>
              <a:ext cx="51435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晨会领任务</a:t>
              </a:r>
            </a:p>
          </p:txBody>
        </p:sp>
        <p:sp>
          <p:nvSpPr>
            <p:cNvPr id="186" name="TextBox 186"/>
            <p:cNvSpPr txBox="1"/>
            <p:nvPr/>
          </p:nvSpPr>
          <p:spPr>
            <a:xfrm>
              <a:off x="512867" y="4731782"/>
              <a:ext cx="51731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Arial"/>
                  <a:ea typeface="Arial"/>
                  <a:cs typeface="Arial"/>
                </a:rPr>
                <a:t>08:30 - 09:00</a:t>
              </a:r>
            </a:p>
          </p:txBody>
        </p:sp>
        <p:sp>
          <p:nvSpPr>
            <p:cNvPr id="187" name="TextBox 187"/>
            <p:cNvSpPr txBox="1"/>
            <p:nvPr/>
          </p:nvSpPr>
          <p:spPr>
            <a:xfrm>
              <a:off x="166688" y="4945380"/>
              <a:ext cx="1054989"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支行长传达目标与重点客户</a:t>
              </a:r>
            </a:p>
          </p:txBody>
        </p:sp>
        <p:sp>
          <p:nvSpPr>
            <p:cNvPr id="188" name="TextBox 188"/>
            <p:cNvSpPr txBox="1"/>
            <p:nvPr/>
          </p:nvSpPr>
          <p:spPr>
            <a:xfrm>
              <a:off x="166688" y="5097780"/>
              <a:ext cx="974217"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明确当日添加与内容重点</a:t>
              </a:r>
            </a:p>
          </p:txBody>
        </p:sp>
        <p:sp>
          <p:nvSpPr>
            <p:cNvPr id="189" name="TextBox 189"/>
            <p:cNvSpPr txBox="1"/>
            <p:nvPr/>
          </p:nvSpPr>
          <p:spPr>
            <a:xfrm>
              <a:off x="166688" y="5250180"/>
              <a:ext cx="1054989"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各岗位领取客户名单与任务</a:t>
              </a:r>
            </a:p>
          </p:txBody>
        </p:sp>
        <p:sp>
          <p:nvSpPr>
            <p:cNvPr id="190" name="TextBox 190"/>
            <p:cNvSpPr txBox="1"/>
            <p:nvPr/>
          </p:nvSpPr>
          <p:spPr>
            <a:xfrm>
              <a:off x="166688" y="5402580"/>
              <a:ext cx="812673"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检查系统与话术准备</a:t>
              </a:r>
            </a:p>
          </p:txBody>
        </p:sp>
        <p:sp>
          <p:nvSpPr>
            <p:cNvPr id="191" name="Ellipse 191"/>
            <p:cNvSpPr/>
            <p:nvPr/>
          </p:nvSpPr>
          <p:spPr>
            <a:xfrm>
              <a:off x="1619250" y="4210050"/>
              <a:ext cx="171450" cy="171450"/>
            </a:xfrm>
            <a:prstGeom prst="ellipse">
              <a:avLst/>
            </a:prstGeom>
            <a:solidFill>
              <a:srgbClr val="C83210"/>
            </a:solidFill>
            <a:ln>
              <a:noFill/>
            </a:ln>
          </p:spPr>
        </p:sp>
        <p:sp>
          <p:nvSpPr>
            <p:cNvPr id="192" name="TextBox 192"/>
            <p:cNvSpPr txBox="1"/>
            <p:nvPr/>
          </p:nvSpPr>
          <p:spPr>
            <a:xfrm>
              <a:off x="1655287" y="4259580"/>
              <a:ext cx="99376"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Arial"/>
                  <a:cs typeface="Arial"/>
                </a:rPr>
                <a:t>02</a:t>
              </a:r>
            </a:p>
          </p:txBody>
        </p:sp>
        <p:grpSp>
          <p:nvGrpSpPr>
            <p:cNvPr id="197" name="Group 197"/>
            <p:cNvGrpSpPr/>
            <p:nvPr/>
          </p:nvGrpSpPr>
          <p:grpSpPr>
            <a:xfrm>
              <a:off x="2181225" y="4238625"/>
              <a:ext cx="101600" cy="120650"/>
              <a:chOff x="2181225" y="4238625"/>
              <a:chExt cx="101600" cy="120650"/>
            </a:xfrm>
          </p:grpSpPr>
          <p:sp>
            <p:nvSpPr>
              <p:cNvPr id="193" name="Freeform 193"/>
              <p:cNvSpPr/>
              <p:nvPr/>
            </p:nvSpPr>
            <p:spPr>
              <a:xfrm>
                <a:off x="2193925" y="42386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194" name="Freeform 194"/>
              <p:cNvSpPr/>
              <p:nvPr/>
            </p:nvSpPr>
            <p:spPr>
              <a:xfrm>
                <a:off x="2244725" y="4340225"/>
                <a:ext cx="38100" cy="9525"/>
              </a:xfrm>
              <a:custGeom>
                <a:avLst/>
                <a:gdLst/>
                <a:ahLst/>
                <a:cxnLst/>
                <a:rect l="l" t="t" r="r" b="b"/>
                <a:pathLst>
                  <a:path w="38100" h="9525">
                    <a:moveTo>
                      <a:pt x="0" y="0"/>
                    </a:moveTo>
                    <a:lnTo>
                      <a:pt x="38100" y="0"/>
                    </a:lnTo>
                  </a:path>
                </a:pathLst>
              </a:custGeom>
              <a:noFill/>
              <a:ln w="12700">
                <a:solidFill>
                  <a:srgbClr val="C83210"/>
                </a:solidFill>
              </a:ln>
            </p:spPr>
          </p:sp>
          <p:sp>
            <p:nvSpPr>
              <p:cNvPr id="195" name="Freeform 195"/>
              <p:cNvSpPr/>
              <p:nvPr/>
            </p:nvSpPr>
            <p:spPr>
              <a:xfrm>
                <a:off x="2263775" y="4321175"/>
                <a:ext cx="9525" cy="38100"/>
              </a:xfrm>
              <a:custGeom>
                <a:avLst/>
                <a:gdLst/>
                <a:ahLst/>
                <a:cxnLst/>
                <a:rect l="l" t="t" r="r" b="b"/>
                <a:pathLst>
                  <a:path w="9525" h="38100">
                    <a:moveTo>
                      <a:pt x="0" y="0"/>
                    </a:moveTo>
                    <a:lnTo>
                      <a:pt x="0" y="38100"/>
                    </a:lnTo>
                  </a:path>
                </a:pathLst>
              </a:custGeom>
              <a:noFill/>
              <a:ln w="12700">
                <a:solidFill>
                  <a:srgbClr val="C83210"/>
                </a:solidFill>
              </a:ln>
            </p:spPr>
          </p:sp>
          <p:sp>
            <p:nvSpPr>
              <p:cNvPr id="196" name="Freeform 196"/>
              <p:cNvSpPr/>
              <p:nvPr/>
            </p:nvSpPr>
            <p:spPr>
              <a:xfrm>
                <a:off x="2181225" y="4314825"/>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C83210"/>
                </a:solidFill>
              </a:ln>
            </p:spPr>
          </p:sp>
        </p:grpSp>
        <p:sp>
          <p:nvSpPr>
            <p:cNvPr id="198" name="TextBox 198"/>
            <p:cNvSpPr txBox="1"/>
            <p:nvPr/>
          </p:nvSpPr>
          <p:spPr>
            <a:xfrm>
              <a:off x="1718310" y="4586288"/>
              <a:ext cx="71628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营业中添加认证</a:t>
              </a:r>
            </a:p>
          </p:txBody>
        </p:sp>
        <p:sp>
          <p:nvSpPr>
            <p:cNvPr id="199" name="TextBox 199"/>
            <p:cNvSpPr txBox="1"/>
            <p:nvPr/>
          </p:nvSpPr>
          <p:spPr>
            <a:xfrm>
              <a:off x="1817792" y="4731782"/>
              <a:ext cx="51731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Arial"/>
                  <a:ea typeface="Arial"/>
                  <a:cs typeface="Arial"/>
                </a:rPr>
                <a:t>09:00 - 12:00</a:t>
              </a:r>
            </a:p>
          </p:txBody>
        </p:sp>
        <p:sp>
          <p:nvSpPr>
            <p:cNvPr id="200" name="TextBox 200"/>
            <p:cNvSpPr txBox="1"/>
            <p:nvPr/>
          </p:nvSpPr>
          <p:spPr>
            <a:xfrm>
              <a:off x="1471612" y="4945380"/>
              <a:ext cx="1054989"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厅堂主动引导客户添加企微</a:t>
              </a:r>
            </a:p>
          </p:txBody>
        </p:sp>
        <p:sp>
          <p:nvSpPr>
            <p:cNvPr id="201" name="TextBox 201"/>
            <p:cNvSpPr txBox="1"/>
            <p:nvPr/>
          </p:nvSpPr>
          <p:spPr>
            <a:xfrm>
              <a:off x="1471612" y="5097780"/>
              <a:ext cx="1054989"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柜面办理时完成认证与标签</a:t>
              </a:r>
            </a:p>
          </p:txBody>
        </p:sp>
        <p:sp>
          <p:nvSpPr>
            <p:cNvPr id="202" name="TextBox 202"/>
            <p:cNvSpPr txBox="1"/>
            <p:nvPr/>
          </p:nvSpPr>
          <p:spPr>
            <a:xfrm>
              <a:off x="1471612" y="5250180"/>
              <a:ext cx="893445"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按岗位分配线索并跟进</a:t>
              </a:r>
            </a:p>
          </p:txBody>
        </p:sp>
        <p:sp>
          <p:nvSpPr>
            <p:cNvPr id="203" name="TextBox 203"/>
            <p:cNvSpPr txBox="1"/>
            <p:nvPr/>
          </p:nvSpPr>
          <p:spPr>
            <a:xfrm>
              <a:off x="1471612" y="5402580"/>
              <a:ext cx="731901"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实时记录添加结果</a:t>
              </a:r>
            </a:p>
          </p:txBody>
        </p:sp>
        <p:sp>
          <p:nvSpPr>
            <p:cNvPr id="204" name="Ellipse 204"/>
            <p:cNvSpPr/>
            <p:nvPr/>
          </p:nvSpPr>
          <p:spPr>
            <a:xfrm>
              <a:off x="2924175" y="4210050"/>
              <a:ext cx="171450" cy="171450"/>
            </a:xfrm>
            <a:prstGeom prst="ellipse">
              <a:avLst/>
            </a:prstGeom>
            <a:solidFill>
              <a:srgbClr val="C83210"/>
            </a:solidFill>
            <a:ln>
              <a:noFill/>
            </a:ln>
          </p:spPr>
        </p:sp>
        <p:sp>
          <p:nvSpPr>
            <p:cNvPr id="205" name="TextBox 205"/>
            <p:cNvSpPr txBox="1"/>
            <p:nvPr/>
          </p:nvSpPr>
          <p:spPr>
            <a:xfrm>
              <a:off x="2960212" y="4259580"/>
              <a:ext cx="99376"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Arial"/>
                  <a:cs typeface="Arial"/>
                </a:rPr>
                <a:t>03</a:t>
              </a:r>
            </a:p>
          </p:txBody>
        </p:sp>
        <p:grpSp>
          <p:nvGrpSpPr>
            <p:cNvPr id="208" name="Group 208"/>
            <p:cNvGrpSpPr/>
            <p:nvPr/>
          </p:nvGrpSpPr>
          <p:grpSpPr>
            <a:xfrm>
              <a:off x="3465062" y="4238625"/>
              <a:ext cx="116338" cy="116338"/>
              <a:chOff x="3465062" y="4238625"/>
              <a:chExt cx="116338" cy="116338"/>
            </a:xfrm>
          </p:grpSpPr>
          <p:sp>
            <p:nvSpPr>
              <p:cNvPr id="206" name="Freeform 206"/>
              <p:cNvSpPr/>
              <p:nvPr/>
            </p:nvSpPr>
            <p:spPr>
              <a:xfrm>
                <a:off x="3511550" y="4238625"/>
                <a:ext cx="69850" cy="69850"/>
              </a:xfrm>
              <a:custGeom>
                <a:avLst/>
                <a:gdLst/>
                <a:ahLst/>
                <a:cxnLst/>
                <a:rect l="l" t="t" r="r" b="b"/>
                <a:pathLst>
                  <a:path w="69850" h="69850">
                    <a:moveTo>
                      <a:pt x="0" y="69850"/>
                    </a:moveTo>
                    <a:lnTo>
                      <a:pt x="69850" y="0"/>
                    </a:lnTo>
                  </a:path>
                </a:pathLst>
              </a:custGeom>
              <a:noFill/>
              <a:ln w="12700">
                <a:solidFill>
                  <a:srgbClr val="C83210"/>
                </a:solidFill>
              </a:ln>
            </p:spPr>
          </p:sp>
          <p:sp>
            <p:nvSpPr>
              <p:cNvPr id="207" name="Freeform 207"/>
              <p:cNvSpPr/>
              <p:nvPr/>
            </p:nvSpPr>
            <p:spPr>
              <a:xfrm>
                <a:off x="3465062" y="4238625"/>
                <a:ext cx="116338" cy="116338"/>
              </a:xfrm>
              <a:custGeom>
                <a:avLst/>
                <a:gdLst/>
                <a:ahLst/>
                <a:cxnLst/>
                <a:rect l="l" t="t" r="r" b="b"/>
                <a:pathLst>
                  <a:path w="116338" h="116338">
                    <a:moveTo>
                      <a:pt x="116338" y="0"/>
                    </a:moveTo>
                    <a:lnTo>
                      <a:pt x="75063" y="114300"/>
                    </a:lnTo>
                    <a:cubicBezTo>
                      <a:pt x="74494" y="115542"/>
                      <a:pt x="73253" y="116338"/>
                      <a:pt x="71888" y="116338"/>
                    </a:cubicBezTo>
                    <a:cubicBezTo>
                      <a:pt x="70522" y="116338"/>
                      <a:pt x="69282" y="115542"/>
                      <a:pt x="68713" y="114300"/>
                    </a:cubicBezTo>
                    <a:lnTo>
                      <a:pt x="46488" y="69850"/>
                    </a:lnTo>
                    <a:lnTo>
                      <a:pt x="2038" y="47625"/>
                    </a:lnTo>
                    <a:cubicBezTo>
                      <a:pt x="796" y="47056"/>
                      <a:pt x="0" y="45816"/>
                      <a:pt x="0" y="44450"/>
                    </a:cubicBezTo>
                    <a:cubicBezTo>
                      <a:pt x="0" y="43084"/>
                      <a:pt x="796" y="41844"/>
                      <a:pt x="2038" y="41275"/>
                    </a:cubicBezTo>
                    <a:lnTo>
                      <a:pt x="116338" y="0"/>
                    </a:lnTo>
                  </a:path>
                </a:pathLst>
              </a:custGeom>
              <a:noFill/>
              <a:ln w="12700">
                <a:solidFill>
                  <a:srgbClr val="C83210"/>
                </a:solidFill>
              </a:ln>
            </p:spPr>
          </p:sp>
        </p:grpSp>
        <p:sp>
          <p:nvSpPr>
            <p:cNvPr id="209" name="TextBox 209"/>
            <p:cNvSpPr txBox="1"/>
            <p:nvPr/>
          </p:nvSpPr>
          <p:spPr>
            <a:xfrm>
              <a:off x="3073718" y="4586288"/>
              <a:ext cx="61531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午间内容触达</a:t>
              </a:r>
            </a:p>
          </p:txBody>
        </p:sp>
        <p:sp>
          <p:nvSpPr>
            <p:cNvPr id="210" name="TextBox 210"/>
            <p:cNvSpPr txBox="1"/>
            <p:nvPr/>
          </p:nvSpPr>
          <p:spPr>
            <a:xfrm>
              <a:off x="3122717" y="4731782"/>
              <a:ext cx="51731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Arial"/>
                  <a:ea typeface="Arial"/>
                  <a:cs typeface="Arial"/>
                </a:rPr>
                <a:t>12:00 - 14:00</a:t>
              </a:r>
            </a:p>
          </p:txBody>
        </p:sp>
        <p:sp>
          <p:nvSpPr>
            <p:cNvPr id="211" name="TextBox 211"/>
            <p:cNvSpPr txBox="1"/>
            <p:nvPr/>
          </p:nvSpPr>
          <p:spPr>
            <a:xfrm>
              <a:off x="2776538" y="4945380"/>
              <a:ext cx="893445"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统一推送午间精选内容</a:t>
              </a:r>
            </a:p>
          </p:txBody>
        </p:sp>
        <p:sp>
          <p:nvSpPr>
            <p:cNvPr id="212" name="TextBox 212"/>
            <p:cNvSpPr txBox="1"/>
            <p:nvPr/>
          </p:nvSpPr>
          <p:spPr>
            <a:xfrm>
              <a:off x="2776538" y="5097780"/>
              <a:ext cx="974217"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结合客户标签个性化推送</a:t>
              </a:r>
            </a:p>
          </p:txBody>
        </p:sp>
        <p:sp>
          <p:nvSpPr>
            <p:cNvPr id="213" name="TextBox 213"/>
            <p:cNvSpPr txBox="1"/>
            <p:nvPr/>
          </p:nvSpPr>
          <p:spPr>
            <a:xfrm>
              <a:off x="2776538" y="5250180"/>
              <a:ext cx="937870"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邀约参与线上/线下活动</a:t>
              </a:r>
            </a:p>
          </p:txBody>
        </p:sp>
        <p:sp>
          <p:nvSpPr>
            <p:cNvPr id="214" name="TextBox 214"/>
            <p:cNvSpPr txBox="1"/>
            <p:nvPr/>
          </p:nvSpPr>
          <p:spPr>
            <a:xfrm>
              <a:off x="2776538" y="5402580"/>
              <a:ext cx="974217"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关注客户阅读与互动情况</a:t>
              </a:r>
            </a:p>
          </p:txBody>
        </p:sp>
        <p:sp>
          <p:nvSpPr>
            <p:cNvPr id="215" name="Ellipse 215"/>
            <p:cNvSpPr/>
            <p:nvPr/>
          </p:nvSpPr>
          <p:spPr>
            <a:xfrm>
              <a:off x="4238625" y="4210050"/>
              <a:ext cx="171450" cy="171450"/>
            </a:xfrm>
            <a:prstGeom prst="ellipse">
              <a:avLst/>
            </a:prstGeom>
            <a:solidFill>
              <a:srgbClr val="C83210"/>
            </a:solidFill>
            <a:ln>
              <a:noFill/>
            </a:ln>
          </p:spPr>
        </p:sp>
        <p:sp>
          <p:nvSpPr>
            <p:cNvPr id="216" name="TextBox 216"/>
            <p:cNvSpPr txBox="1"/>
            <p:nvPr/>
          </p:nvSpPr>
          <p:spPr>
            <a:xfrm>
              <a:off x="4274662" y="4259580"/>
              <a:ext cx="99376"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Arial"/>
                  <a:cs typeface="Arial"/>
                </a:rPr>
                <a:t>04</a:t>
              </a:r>
            </a:p>
          </p:txBody>
        </p:sp>
        <p:grpSp>
          <p:nvGrpSpPr>
            <p:cNvPr id="221" name="Group 221"/>
            <p:cNvGrpSpPr/>
            <p:nvPr/>
          </p:nvGrpSpPr>
          <p:grpSpPr>
            <a:xfrm>
              <a:off x="4781550" y="4244975"/>
              <a:ext cx="114300" cy="111125"/>
              <a:chOff x="4781550" y="4244975"/>
              <a:chExt cx="114300" cy="111125"/>
            </a:xfrm>
          </p:grpSpPr>
          <p:sp>
            <p:nvSpPr>
              <p:cNvPr id="217" name="Freeform 217"/>
              <p:cNvSpPr/>
              <p:nvPr/>
            </p:nvSpPr>
            <p:spPr>
              <a:xfrm>
                <a:off x="4781550" y="4295775"/>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C83210"/>
                </a:solidFill>
              </a:ln>
            </p:spPr>
          </p:sp>
          <p:sp>
            <p:nvSpPr>
              <p:cNvPr id="218" name="Freeform 218"/>
              <p:cNvSpPr/>
              <p:nvPr/>
            </p:nvSpPr>
            <p:spPr>
              <a:xfrm>
                <a:off x="4857750" y="4270375"/>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C83210"/>
                </a:solidFill>
              </a:ln>
            </p:spPr>
          </p:sp>
          <p:sp>
            <p:nvSpPr>
              <p:cNvPr id="219" name="Freeform 219"/>
              <p:cNvSpPr/>
              <p:nvPr/>
            </p:nvSpPr>
            <p:spPr>
              <a:xfrm>
                <a:off x="4819650" y="4244975"/>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C83210"/>
                </a:solidFill>
              </a:ln>
            </p:spPr>
          </p:sp>
          <p:sp>
            <p:nvSpPr>
              <p:cNvPr id="220" name="Freeform 220"/>
              <p:cNvSpPr/>
              <p:nvPr/>
            </p:nvSpPr>
            <p:spPr>
              <a:xfrm>
                <a:off x="4787900" y="4346575"/>
                <a:ext cx="88900" cy="9525"/>
              </a:xfrm>
              <a:custGeom>
                <a:avLst/>
                <a:gdLst/>
                <a:ahLst/>
                <a:cxnLst/>
                <a:rect l="l" t="t" r="r" b="b"/>
                <a:pathLst>
                  <a:path w="88900" h="9525">
                    <a:moveTo>
                      <a:pt x="0" y="0"/>
                    </a:moveTo>
                    <a:lnTo>
                      <a:pt x="88900" y="0"/>
                    </a:lnTo>
                  </a:path>
                </a:pathLst>
              </a:custGeom>
              <a:noFill/>
              <a:ln w="12700">
                <a:solidFill>
                  <a:srgbClr val="C83210"/>
                </a:solidFill>
              </a:ln>
            </p:spPr>
          </p:sp>
        </p:grpSp>
        <p:sp>
          <p:nvSpPr>
            <p:cNvPr id="222" name="TextBox 222"/>
            <p:cNvSpPr txBox="1"/>
            <p:nvPr/>
          </p:nvSpPr>
          <p:spPr>
            <a:xfrm>
              <a:off x="4337685" y="4586288"/>
              <a:ext cx="71628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下午高意向跟进</a:t>
              </a:r>
            </a:p>
          </p:txBody>
        </p:sp>
        <p:sp>
          <p:nvSpPr>
            <p:cNvPr id="223" name="TextBox 223"/>
            <p:cNvSpPr txBox="1"/>
            <p:nvPr/>
          </p:nvSpPr>
          <p:spPr>
            <a:xfrm>
              <a:off x="4437167" y="4731782"/>
              <a:ext cx="51731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Arial"/>
                  <a:ea typeface="Arial"/>
                  <a:cs typeface="Arial"/>
                </a:rPr>
                <a:t>14:00 - 17:00</a:t>
              </a:r>
            </a:p>
          </p:txBody>
        </p:sp>
        <p:sp>
          <p:nvSpPr>
            <p:cNvPr id="224" name="TextBox 224"/>
            <p:cNvSpPr txBox="1"/>
            <p:nvPr/>
          </p:nvSpPr>
          <p:spPr>
            <a:xfrm>
              <a:off x="4090988" y="4945380"/>
              <a:ext cx="812673"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筛选高意向客户清单</a:t>
              </a:r>
            </a:p>
          </p:txBody>
        </p:sp>
        <p:sp>
          <p:nvSpPr>
            <p:cNvPr id="225" name="TextBox 225"/>
            <p:cNvSpPr txBox="1"/>
            <p:nvPr/>
          </p:nvSpPr>
          <p:spPr>
            <a:xfrm>
              <a:off x="4090988" y="5097780"/>
              <a:ext cx="893445"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一对一沟通与需求挖掘</a:t>
              </a:r>
            </a:p>
          </p:txBody>
        </p:sp>
        <p:sp>
          <p:nvSpPr>
            <p:cNvPr id="226" name="TextBox 226"/>
            <p:cNvSpPr txBox="1"/>
            <p:nvPr/>
          </p:nvSpPr>
          <p:spPr>
            <a:xfrm>
              <a:off x="4090988" y="5250180"/>
              <a:ext cx="974217"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转介至专业岗位协同服务</a:t>
              </a:r>
            </a:p>
          </p:txBody>
        </p:sp>
        <p:sp>
          <p:nvSpPr>
            <p:cNvPr id="227" name="TextBox 227"/>
            <p:cNvSpPr txBox="1"/>
            <p:nvPr/>
          </p:nvSpPr>
          <p:spPr>
            <a:xfrm>
              <a:off x="4090988" y="5402580"/>
              <a:ext cx="1054989"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记录跟进过程与下一步计划</a:t>
              </a:r>
            </a:p>
          </p:txBody>
        </p:sp>
        <p:sp>
          <p:nvSpPr>
            <p:cNvPr id="228" name="Ellipse 228"/>
            <p:cNvSpPr/>
            <p:nvPr/>
          </p:nvSpPr>
          <p:spPr>
            <a:xfrm>
              <a:off x="5543550" y="4210050"/>
              <a:ext cx="171450" cy="171450"/>
            </a:xfrm>
            <a:prstGeom prst="ellipse">
              <a:avLst/>
            </a:prstGeom>
            <a:solidFill>
              <a:srgbClr val="C83210"/>
            </a:solidFill>
            <a:ln>
              <a:noFill/>
            </a:ln>
          </p:spPr>
        </p:sp>
        <p:sp>
          <p:nvSpPr>
            <p:cNvPr id="229" name="TextBox 229"/>
            <p:cNvSpPr txBox="1"/>
            <p:nvPr/>
          </p:nvSpPr>
          <p:spPr>
            <a:xfrm>
              <a:off x="5579587" y="4259580"/>
              <a:ext cx="99376"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Arial"/>
                  <a:cs typeface="Arial"/>
                </a:rPr>
                <a:t>05</a:t>
              </a:r>
            </a:p>
          </p:txBody>
        </p:sp>
        <p:grpSp>
          <p:nvGrpSpPr>
            <p:cNvPr id="233" name="Group 233"/>
            <p:cNvGrpSpPr/>
            <p:nvPr/>
          </p:nvGrpSpPr>
          <p:grpSpPr>
            <a:xfrm>
              <a:off x="6092825" y="4238625"/>
              <a:ext cx="101600" cy="114300"/>
              <a:chOff x="6092825" y="4238625"/>
              <a:chExt cx="101600" cy="114300"/>
            </a:xfrm>
          </p:grpSpPr>
          <p:sp>
            <p:nvSpPr>
              <p:cNvPr id="230" name="Freeform 230"/>
              <p:cNvSpPr/>
              <p:nvPr/>
            </p:nvSpPr>
            <p:spPr>
              <a:xfrm>
                <a:off x="6092825" y="4238625"/>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C83210"/>
                </a:solidFill>
              </a:ln>
            </p:spPr>
          </p:sp>
          <p:sp>
            <p:nvSpPr>
              <p:cNvPr id="231" name="Freeform 231"/>
              <p:cNvSpPr/>
              <p:nvPr/>
            </p:nvSpPr>
            <p:spPr>
              <a:xfrm>
                <a:off x="6092825" y="425767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83210"/>
                </a:solidFill>
              </a:ln>
            </p:spPr>
          </p:sp>
          <p:sp>
            <p:nvSpPr>
              <p:cNvPr id="232" name="Freeform 232"/>
              <p:cNvSpPr/>
              <p:nvPr/>
            </p:nvSpPr>
            <p:spPr>
              <a:xfrm>
                <a:off x="6092825" y="429577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83210"/>
                </a:solidFill>
              </a:ln>
            </p:spPr>
          </p:sp>
        </p:grpSp>
        <p:sp>
          <p:nvSpPr>
            <p:cNvPr id="234" name="TextBox 234"/>
            <p:cNvSpPr txBox="1"/>
            <p:nvPr/>
          </p:nvSpPr>
          <p:spPr>
            <a:xfrm>
              <a:off x="5693092" y="4586288"/>
              <a:ext cx="61531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闭店数据回收</a:t>
              </a:r>
            </a:p>
          </p:txBody>
        </p:sp>
        <p:sp>
          <p:nvSpPr>
            <p:cNvPr id="235" name="TextBox 235"/>
            <p:cNvSpPr txBox="1"/>
            <p:nvPr/>
          </p:nvSpPr>
          <p:spPr>
            <a:xfrm>
              <a:off x="5742092" y="4731782"/>
              <a:ext cx="517316" cy="126206"/>
            </a:xfrm>
            <a:prstGeom prst="rect">
              <a:avLst/>
            </a:prstGeom>
            <a:noFill/>
            <a:ln>
              <a:noFill/>
            </a:ln>
          </p:spPr>
          <p:txBody>
            <a:bodyPr wrap="none" lIns="0" tIns="0" rIns="0" bIns="0" anchor="t" anchorCtr="0">
              <a:spAutoFit/>
            </a:bodyPr>
            <a:lstStyle/>
            <a:p>
              <a:pPr algn="ctr"/>
              <a:r>
                <a:rPr lang="zh-CN" sz="640" dirty="0">
                  <a:solidFill>
                    <a:srgbClr val="808080"/>
                  </a:solidFill>
                  <a:latin typeface="Arial"/>
                  <a:ea typeface="Arial"/>
                  <a:cs typeface="Arial"/>
                </a:rPr>
                <a:t>17:00 - 18:00</a:t>
              </a:r>
            </a:p>
          </p:txBody>
        </p:sp>
        <p:sp>
          <p:nvSpPr>
            <p:cNvPr id="236" name="TextBox 236"/>
            <p:cNvSpPr txBox="1"/>
            <p:nvPr/>
          </p:nvSpPr>
          <p:spPr>
            <a:xfrm>
              <a:off x="5395912" y="4945380"/>
              <a:ext cx="1216533"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回收当日添加、触达、转化数据</a:t>
              </a:r>
            </a:p>
          </p:txBody>
        </p:sp>
        <p:sp>
          <p:nvSpPr>
            <p:cNvPr id="237" name="TextBox 237"/>
            <p:cNvSpPr txBox="1"/>
            <p:nvPr/>
          </p:nvSpPr>
          <p:spPr>
            <a:xfrm>
              <a:off x="5395912" y="5097780"/>
              <a:ext cx="974217"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更新客户状态与跟进记录</a:t>
              </a:r>
            </a:p>
          </p:txBody>
        </p:sp>
        <p:sp>
          <p:nvSpPr>
            <p:cNvPr id="238" name="TextBox 238"/>
            <p:cNvSpPr txBox="1"/>
            <p:nvPr/>
          </p:nvSpPr>
          <p:spPr>
            <a:xfrm>
              <a:off x="5395912" y="5250180"/>
              <a:ext cx="1135761"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检查待办事项并安排次日计划</a:t>
              </a:r>
            </a:p>
          </p:txBody>
        </p:sp>
        <p:sp>
          <p:nvSpPr>
            <p:cNvPr id="239" name="TextBox 239"/>
            <p:cNvSpPr txBox="1"/>
            <p:nvPr/>
          </p:nvSpPr>
          <p:spPr>
            <a:xfrm>
              <a:off x="5395912" y="5402580"/>
              <a:ext cx="1054989" cy="119062"/>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00" dirty="0">
                  <a:solidFill>
                    <a:srgbClr val="3D3D3D"/>
                  </a:solidFill>
                  <a:latin typeface="+mn-lt"/>
                  <a:ea typeface="+mn-ea"/>
                  <a:cs typeface="+mn-cs"/>
                </a:rPr>
                <a:t>支行长检查完成情况并通报</a:t>
              </a:r>
            </a:p>
          </p:txBody>
        </p:sp>
      </p:grpSp>
      <p:grpSp>
        <p:nvGrpSpPr>
          <p:cNvPr id="289" name="referral-rules"/>
          <p:cNvGrpSpPr/>
          <p:nvPr/>
        </p:nvGrpSpPr>
        <p:grpSpPr>
          <a:xfrm>
            <a:off x="6800850" y="3943350"/>
            <a:ext cx="3637166" cy="2705100"/>
            <a:chOff x="6800850" y="3943350"/>
            <a:chExt cx="3637166" cy="2705100"/>
          </a:xfrm>
        </p:grpSpPr>
        <p:sp>
          <p:nvSpPr>
            <p:cNvPr id="241" name="Rectangle 241"/>
            <p:cNvSpPr/>
            <p:nvPr/>
          </p:nvSpPr>
          <p:spPr>
            <a:xfrm>
              <a:off x="6858000" y="3943350"/>
              <a:ext cx="38100" cy="152400"/>
            </a:xfrm>
            <a:prstGeom prst="rect">
              <a:avLst/>
            </a:prstGeom>
            <a:solidFill>
              <a:srgbClr val="C83210"/>
            </a:solidFill>
            <a:ln>
              <a:noFill/>
            </a:ln>
          </p:spPr>
        </p:sp>
        <p:sp>
          <p:nvSpPr>
            <p:cNvPr id="242" name="TextBox 242"/>
            <p:cNvSpPr txBox="1"/>
            <p:nvPr/>
          </p:nvSpPr>
          <p:spPr>
            <a:xfrm>
              <a:off x="6967347" y="3961924"/>
              <a:ext cx="1609192"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协同转介规则</a:t>
              </a:r>
              <a:r>
                <a:rPr lang="zh-CN" sz="750" b="1" dirty="0">
                  <a:solidFill>
                    <a:srgbClr val="808080"/>
                  </a:solidFill>
                  <a:latin typeface="+mn-lt"/>
                  <a:ea typeface="+mn-ea"/>
                  <a:cs typeface="+mn-cs"/>
                </a:rPr>
                <a:t>（防止客户冲突）</a:t>
              </a:r>
            </a:p>
          </p:txBody>
        </p:sp>
        <p:sp>
          <p:nvSpPr>
            <p:cNvPr id="243" name="Rectangle 243"/>
            <p:cNvSpPr/>
            <p:nvPr/>
          </p:nvSpPr>
          <p:spPr>
            <a:xfrm>
              <a:off x="6800850" y="4152900"/>
              <a:ext cx="1200150" cy="438150"/>
            </a:xfrm>
            <a:prstGeom prst="roundRect">
              <a:avLst>
                <a:gd name="adj" fmla="val 13043"/>
              </a:avLst>
            </a:prstGeom>
            <a:solidFill>
              <a:srgbClr val="FDEFF1"/>
            </a:solidFill>
            <a:ln>
              <a:noFill/>
            </a:ln>
          </p:spPr>
        </p:sp>
        <p:grpSp>
          <p:nvGrpSpPr>
            <p:cNvPr id="247" name="Group 247"/>
            <p:cNvGrpSpPr/>
            <p:nvPr/>
          </p:nvGrpSpPr>
          <p:grpSpPr>
            <a:xfrm>
              <a:off x="6934200" y="4314825"/>
              <a:ext cx="95250" cy="114300"/>
              <a:chOff x="6934200" y="4314825"/>
              <a:chExt cx="95250" cy="114300"/>
            </a:xfrm>
          </p:grpSpPr>
          <p:sp>
            <p:nvSpPr>
              <p:cNvPr id="244" name="Freeform 244"/>
              <p:cNvSpPr/>
              <p:nvPr/>
            </p:nvSpPr>
            <p:spPr>
              <a:xfrm>
                <a:off x="6946900" y="43148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245" name="Freeform 245"/>
              <p:cNvSpPr/>
              <p:nvPr/>
            </p:nvSpPr>
            <p:spPr>
              <a:xfrm>
                <a:off x="6934200" y="4391025"/>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C83210"/>
                </a:solidFill>
              </a:ln>
            </p:spPr>
          </p:sp>
          <p:sp>
            <p:nvSpPr>
              <p:cNvPr id="246" name="Freeform 246"/>
              <p:cNvSpPr/>
              <p:nvPr/>
            </p:nvSpPr>
            <p:spPr>
              <a:xfrm>
                <a:off x="6991350" y="4403725"/>
                <a:ext cx="38100" cy="25400"/>
              </a:xfrm>
              <a:custGeom>
                <a:avLst/>
                <a:gdLst/>
                <a:ahLst/>
                <a:cxnLst/>
                <a:rect l="l" t="t" r="r" b="b"/>
                <a:pathLst>
                  <a:path w="38100" h="25400">
                    <a:moveTo>
                      <a:pt x="0" y="12700"/>
                    </a:moveTo>
                    <a:lnTo>
                      <a:pt x="12700" y="25400"/>
                    </a:lnTo>
                    <a:lnTo>
                      <a:pt x="38100" y="0"/>
                    </a:lnTo>
                  </a:path>
                </a:pathLst>
              </a:custGeom>
              <a:noFill/>
              <a:ln w="12700">
                <a:solidFill>
                  <a:srgbClr val="C83210"/>
                </a:solidFill>
              </a:ln>
            </p:spPr>
          </p:sp>
        </p:grpSp>
        <p:sp>
          <p:nvSpPr>
            <p:cNvPr id="248" name="TextBox 248"/>
            <p:cNvSpPr txBox="1"/>
            <p:nvPr/>
          </p:nvSpPr>
          <p:spPr>
            <a:xfrm>
              <a:off x="7100888" y="4342686"/>
              <a:ext cx="583006"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mn-lt"/>
                  <a:ea typeface="+mn-ea"/>
                  <a:cs typeface="+mn-cs"/>
                </a:rPr>
                <a:t>客户唯一原则</a:t>
              </a:r>
            </a:p>
          </p:txBody>
        </p:sp>
        <p:sp>
          <p:nvSpPr>
            <p:cNvPr id="249" name="TextBox 249"/>
            <p:cNvSpPr txBox="1"/>
            <p:nvPr/>
          </p:nvSpPr>
          <p:spPr>
            <a:xfrm>
              <a:off x="8091488" y="4267486"/>
              <a:ext cx="167881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一个客户在同一时间由一个主责人负责经营；</a:t>
              </a:r>
            </a:p>
          </p:txBody>
        </p:sp>
        <p:sp>
          <p:nvSpPr>
            <p:cNvPr id="250" name="TextBox 250"/>
            <p:cNvSpPr txBox="1"/>
            <p:nvPr/>
          </p:nvSpPr>
          <p:spPr>
            <a:xfrm>
              <a:off x="8091488" y="4419886"/>
              <a:ext cx="1511884"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系统标记主责人，其他人不得重复推进。</a:t>
              </a:r>
            </a:p>
          </p:txBody>
        </p:sp>
        <p:sp>
          <p:nvSpPr>
            <p:cNvPr id="251" name="Rectangle 251"/>
            <p:cNvSpPr/>
            <p:nvPr/>
          </p:nvSpPr>
          <p:spPr>
            <a:xfrm>
              <a:off x="6800850" y="4667250"/>
              <a:ext cx="1200150" cy="438150"/>
            </a:xfrm>
            <a:prstGeom prst="roundRect">
              <a:avLst>
                <a:gd name="adj" fmla="val 13043"/>
              </a:avLst>
            </a:prstGeom>
            <a:solidFill>
              <a:srgbClr val="FDEFF1"/>
            </a:solidFill>
            <a:ln>
              <a:noFill/>
            </a:ln>
          </p:spPr>
        </p:sp>
        <p:grpSp>
          <p:nvGrpSpPr>
            <p:cNvPr id="257" name="Group 257"/>
            <p:cNvGrpSpPr/>
            <p:nvPr/>
          </p:nvGrpSpPr>
          <p:grpSpPr>
            <a:xfrm>
              <a:off x="6915150" y="4829175"/>
              <a:ext cx="114300" cy="114300"/>
              <a:chOff x="6915150" y="4829175"/>
              <a:chExt cx="114300" cy="114300"/>
            </a:xfrm>
          </p:grpSpPr>
          <p:sp>
            <p:nvSpPr>
              <p:cNvPr id="252" name="Freeform 252"/>
              <p:cNvSpPr/>
              <p:nvPr/>
            </p:nvSpPr>
            <p:spPr>
              <a:xfrm>
                <a:off x="6915150" y="49053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C83210"/>
                </a:solidFill>
              </a:ln>
            </p:spPr>
          </p:sp>
          <p:sp>
            <p:nvSpPr>
              <p:cNvPr id="253" name="Freeform 253"/>
              <p:cNvSpPr/>
              <p:nvPr/>
            </p:nvSpPr>
            <p:spPr>
              <a:xfrm>
                <a:off x="6991350" y="49053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C83210"/>
                </a:solidFill>
              </a:ln>
            </p:spPr>
          </p:sp>
          <p:sp>
            <p:nvSpPr>
              <p:cNvPr id="254" name="Freeform 254"/>
              <p:cNvSpPr/>
              <p:nvPr/>
            </p:nvSpPr>
            <p:spPr>
              <a:xfrm>
                <a:off x="6953250" y="48291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C83210"/>
                </a:solidFill>
              </a:ln>
            </p:spPr>
          </p:sp>
          <p:sp>
            <p:nvSpPr>
              <p:cNvPr id="255" name="Freeform 255"/>
              <p:cNvSpPr/>
              <p:nvPr/>
            </p:nvSpPr>
            <p:spPr>
              <a:xfrm>
                <a:off x="6934200" y="4886325"/>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C83210"/>
                </a:solidFill>
              </a:ln>
            </p:spPr>
          </p:sp>
          <p:sp>
            <p:nvSpPr>
              <p:cNvPr id="256" name="Freeform 256"/>
              <p:cNvSpPr/>
              <p:nvPr/>
            </p:nvSpPr>
            <p:spPr>
              <a:xfrm>
                <a:off x="6972300" y="4867275"/>
                <a:ext cx="9525" cy="19050"/>
              </a:xfrm>
              <a:custGeom>
                <a:avLst/>
                <a:gdLst/>
                <a:ahLst/>
                <a:cxnLst/>
                <a:rect l="l" t="t" r="r" b="b"/>
                <a:pathLst>
                  <a:path w="9525" h="19050">
                    <a:moveTo>
                      <a:pt x="0" y="0"/>
                    </a:moveTo>
                    <a:lnTo>
                      <a:pt x="0" y="19050"/>
                    </a:lnTo>
                  </a:path>
                </a:pathLst>
              </a:custGeom>
              <a:noFill/>
              <a:ln w="12700">
                <a:solidFill>
                  <a:srgbClr val="C83210"/>
                </a:solidFill>
              </a:ln>
            </p:spPr>
          </p:sp>
        </p:grpSp>
        <p:sp>
          <p:nvSpPr>
            <p:cNvPr id="258" name="TextBox 258"/>
            <p:cNvSpPr txBox="1"/>
            <p:nvPr/>
          </p:nvSpPr>
          <p:spPr>
            <a:xfrm>
              <a:off x="7100888" y="4857036"/>
              <a:ext cx="583006"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mn-lt"/>
                  <a:ea typeface="+mn-ea"/>
                  <a:cs typeface="+mn-cs"/>
                </a:rPr>
                <a:t>线索分配原则</a:t>
              </a:r>
            </a:p>
          </p:txBody>
        </p:sp>
        <p:sp>
          <p:nvSpPr>
            <p:cNvPr id="259" name="TextBox 259"/>
            <p:cNvSpPr txBox="1"/>
            <p:nvPr/>
          </p:nvSpPr>
          <p:spPr>
            <a:xfrm>
              <a:off x="8091488" y="4781836"/>
              <a:ext cx="2225505"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按客户类型、标签和岗位专长分配，遵循"先接待、先录入、</a:t>
              </a:r>
            </a:p>
          </p:txBody>
        </p:sp>
        <p:sp>
          <p:nvSpPr>
            <p:cNvPr id="260" name="TextBox 260"/>
            <p:cNvSpPr txBox="1"/>
            <p:nvPr/>
          </p:nvSpPr>
          <p:spPr>
            <a:xfrm>
              <a:off x="8091488" y="4934236"/>
              <a:ext cx="1641254"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先分配"原则；相关联客户按就近原则进行。</a:t>
              </a:r>
            </a:p>
          </p:txBody>
        </p:sp>
        <p:sp>
          <p:nvSpPr>
            <p:cNvPr id="261" name="Rectangle 261"/>
            <p:cNvSpPr/>
            <p:nvPr/>
          </p:nvSpPr>
          <p:spPr>
            <a:xfrm>
              <a:off x="6800850" y="5181600"/>
              <a:ext cx="1200150" cy="438150"/>
            </a:xfrm>
            <a:prstGeom prst="roundRect">
              <a:avLst>
                <a:gd name="adj" fmla="val 13043"/>
              </a:avLst>
            </a:prstGeom>
            <a:solidFill>
              <a:srgbClr val="FDEFF1"/>
            </a:solidFill>
            <a:ln>
              <a:noFill/>
            </a:ln>
          </p:spPr>
        </p:sp>
        <p:grpSp>
          <p:nvGrpSpPr>
            <p:cNvPr id="266" name="Group 266"/>
            <p:cNvGrpSpPr/>
            <p:nvPr/>
          </p:nvGrpSpPr>
          <p:grpSpPr>
            <a:xfrm>
              <a:off x="6915150" y="5349875"/>
              <a:ext cx="114300" cy="101600"/>
              <a:chOff x="6915150" y="5349875"/>
              <a:chExt cx="114300" cy="101600"/>
            </a:xfrm>
          </p:grpSpPr>
          <p:sp>
            <p:nvSpPr>
              <p:cNvPr id="262" name="Freeform 262"/>
              <p:cNvSpPr/>
              <p:nvPr/>
            </p:nvSpPr>
            <p:spPr>
              <a:xfrm>
                <a:off x="6915150" y="5368925"/>
                <a:ext cx="114300" cy="9525"/>
              </a:xfrm>
              <a:custGeom>
                <a:avLst/>
                <a:gdLst/>
                <a:ahLst/>
                <a:cxnLst/>
                <a:rect l="l" t="t" r="r" b="b"/>
                <a:pathLst>
                  <a:path w="114300" h="9525">
                    <a:moveTo>
                      <a:pt x="114300" y="0"/>
                    </a:moveTo>
                    <a:lnTo>
                      <a:pt x="0" y="0"/>
                    </a:lnTo>
                  </a:path>
                </a:pathLst>
              </a:custGeom>
              <a:noFill/>
              <a:ln w="12700">
                <a:solidFill>
                  <a:srgbClr val="C83210"/>
                </a:solidFill>
              </a:ln>
            </p:spPr>
          </p:sp>
          <p:sp>
            <p:nvSpPr>
              <p:cNvPr id="263" name="Freeform 263"/>
              <p:cNvSpPr/>
              <p:nvPr/>
            </p:nvSpPr>
            <p:spPr>
              <a:xfrm>
                <a:off x="7010400" y="5349875"/>
                <a:ext cx="19050" cy="38100"/>
              </a:xfrm>
              <a:custGeom>
                <a:avLst/>
                <a:gdLst/>
                <a:ahLst/>
                <a:cxnLst/>
                <a:rect l="l" t="t" r="r" b="b"/>
                <a:pathLst>
                  <a:path w="19050" h="38100">
                    <a:moveTo>
                      <a:pt x="0" y="38100"/>
                    </a:moveTo>
                    <a:lnTo>
                      <a:pt x="19050" y="19050"/>
                    </a:lnTo>
                    <a:lnTo>
                      <a:pt x="0" y="0"/>
                    </a:lnTo>
                  </a:path>
                </a:pathLst>
              </a:custGeom>
              <a:noFill/>
              <a:ln w="12700">
                <a:solidFill>
                  <a:srgbClr val="C83210"/>
                </a:solidFill>
              </a:ln>
            </p:spPr>
          </p:sp>
          <p:sp>
            <p:nvSpPr>
              <p:cNvPr id="264" name="Freeform 264"/>
              <p:cNvSpPr/>
              <p:nvPr/>
            </p:nvSpPr>
            <p:spPr>
              <a:xfrm>
                <a:off x="6915150" y="5413375"/>
                <a:ext cx="19050" cy="38100"/>
              </a:xfrm>
              <a:custGeom>
                <a:avLst/>
                <a:gdLst/>
                <a:ahLst/>
                <a:cxnLst/>
                <a:rect l="l" t="t" r="r" b="b"/>
                <a:pathLst>
                  <a:path w="19050" h="38100">
                    <a:moveTo>
                      <a:pt x="19050" y="38100"/>
                    </a:moveTo>
                    <a:lnTo>
                      <a:pt x="0" y="19050"/>
                    </a:lnTo>
                    <a:lnTo>
                      <a:pt x="19050" y="0"/>
                    </a:lnTo>
                  </a:path>
                </a:pathLst>
              </a:custGeom>
              <a:noFill/>
              <a:ln w="12700">
                <a:solidFill>
                  <a:srgbClr val="C83210"/>
                </a:solidFill>
              </a:ln>
            </p:spPr>
          </p:sp>
          <p:sp>
            <p:nvSpPr>
              <p:cNvPr id="265" name="Freeform 265"/>
              <p:cNvSpPr/>
              <p:nvPr/>
            </p:nvSpPr>
            <p:spPr>
              <a:xfrm>
                <a:off x="6915150" y="5432425"/>
                <a:ext cx="114300" cy="9525"/>
              </a:xfrm>
              <a:custGeom>
                <a:avLst/>
                <a:gdLst/>
                <a:ahLst/>
                <a:cxnLst/>
                <a:rect l="l" t="t" r="r" b="b"/>
                <a:pathLst>
                  <a:path w="114300" h="9525">
                    <a:moveTo>
                      <a:pt x="0" y="0"/>
                    </a:moveTo>
                    <a:lnTo>
                      <a:pt x="114300" y="0"/>
                    </a:lnTo>
                  </a:path>
                </a:pathLst>
              </a:custGeom>
              <a:noFill/>
              <a:ln w="12700">
                <a:solidFill>
                  <a:srgbClr val="C83210"/>
                </a:solidFill>
              </a:ln>
            </p:spPr>
          </p:sp>
        </p:grpSp>
        <p:sp>
          <p:nvSpPr>
            <p:cNvPr id="267" name="TextBox 267"/>
            <p:cNvSpPr txBox="1"/>
            <p:nvPr/>
          </p:nvSpPr>
          <p:spPr>
            <a:xfrm>
              <a:off x="7100888" y="5371386"/>
              <a:ext cx="583006"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mn-lt"/>
                  <a:ea typeface="+mn-ea"/>
                  <a:cs typeface="+mn-cs"/>
                </a:rPr>
                <a:t>转介协同规则</a:t>
              </a:r>
            </a:p>
          </p:txBody>
        </p:sp>
        <p:sp>
          <p:nvSpPr>
            <p:cNvPr id="268" name="TextBox 268"/>
            <p:cNvSpPr txBox="1"/>
            <p:nvPr/>
          </p:nvSpPr>
          <p:spPr>
            <a:xfrm>
              <a:off x="8091488" y="5296186"/>
              <a:ext cx="1929206"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跨岗位转介需在系统中登记，注明转介原因与需求；</a:t>
              </a:r>
            </a:p>
          </p:txBody>
        </p:sp>
        <p:sp>
          <p:nvSpPr>
            <p:cNvPr id="269" name="TextBox 269"/>
            <p:cNvSpPr txBox="1"/>
            <p:nvPr/>
          </p:nvSpPr>
          <p:spPr>
            <a:xfrm>
              <a:off x="8091488" y="5448586"/>
              <a:ext cx="1436766"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 xml:space="preserve">接收人需在24小时内完成跟进反馈。　</a:t>
              </a:r>
            </a:p>
          </p:txBody>
        </p:sp>
        <p:sp>
          <p:nvSpPr>
            <p:cNvPr id="270" name="Rectangle 270"/>
            <p:cNvSpPr/>
            <p:nvPr/>
          </p:nvSpPr>
          <p:spPr>
            <a:xfrm>
              <a:off x="6800850" y="5695950"/>
              <a:ext cx="1200150" cy="438150"/>
            </a:xfrm>
            <a:prstGeom prst="roundRect">
              <a:avLst>
                <a:gd name="adj" fmla="val 13043"/>
              </a:avLst>
            </a:prstGeom>
            <a:solidFill>
              <a:srgbClr val="FDEFF1"/>
            </a:solidFill>
            <a:ln>
              <a:noFill/>
            </a:ln>
          </p:spPr>
        </p:sp>
        <p:grpSp>
          <p:nvGrpSpPr>
            <p:cNvPr id="275" name="Group 275"/>
            <p:cNvGrpSpPr/>
            <p:nvPr/>
          </p:nvGrpSpPr>
          <p:grpSpPr>
            <a:xfrm>
              <a:off x="6912951" y="5862596"/>
              <a:ext cx="118583" cy="103229"/>
              <a:chOff x="6912951" y="5862596"/>
              <a:chExt cx="118583" cy="103229"/>
            </a:xfrm>
          </p:grpSpPr>
          <p:sp>
            <p:nvSpPr>
              <p:cNvPr id="271" name="Freeform 271"/>
              <p:cNvSpPr/>
              <p:nvPr/>
            </p:nvSpPr>
            <p:spPr>
              <a:xfrm>
                <a:off x="6912951" y="5862596"/>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C83210"/>
                </a:solidFill>
              </a:ln>
            </p:spPr>
          </p:sp>
          <p:sp>
            <p:nvSpPr>
              <p:cNvPr id="272" name="Freeform 272"/>
              <p:cNvSpPr/>
              <p:nvPr/>
            </p:nvSpPr>
            <p:spPr>
              <a:xfrm>
                <a:off x="6948911" y="5876925"/>
                <a:ext cx="71015" cy="41275"/>
              </a:xfrm>
              <a:custGeom>
                <a:avLst/>
                <a:gdLst/>
                <a:ahLst/>
                <a:cxnLst/>
                <a:rect l="l" t="t" r="r" b="b"/>
                <a:pathLst>
                  <a:path w="71015" h="41275">
                    <a:moveTo>
                      <a:pt x="23389" y="0"/>
                    </a:moveTo>
                    <a:lnTo>
                      <a:pt x="2479" y="20911"/>
                    </a:lnTo>
                    <a:cubicBezTo>
                      <a:pt x="0" y="23390"/>
                      <a:pt x="0" y="27410"/>
                      <a:pt x="2479" y="29889"/>
                    </a:cubicBezTo>
                    <a:lnTo>
                      <a:pt x="5927" y="33338"/>
                    </a:lnTo>
                    <a:cubicBezTo>
                      <a:pt x="10308" y="37719"/>
                      <a:pt x="17420" y="37719"/>
                      <a:pt x="21802" y="33338"/>
                    </a:cubicBezTo>
                    <a:lnTo>
                      <a:pt x="28152" y="26988"/>
                    </a:lnTo>
                    <a:cubicBezTo>
                      <a:pt x="36043" y="19097"/>
                      <a:pt x="48836" y="19097"/>
                      <a:pt x="56727" y="26988"/>
                    </a:cubicBezTo>
                    <a:lnTo>
                      <a:pt x="71015" y="41275"/>
                    </a:lnTo>
                  </a:path>
                </a:pathLst>
              </a:custGeom>
              <a:noFill/>
              <a:ln w="12700">
                <a:solidFill>
                  <a:srgbClr val="C83210"/>
                </a:solidFill>
              </a:ln>
            </p:spPr>
          </p:sp>
          <p:sp>
            <p:nvSpPr>
              <p:cNvPr id="273" name="Freeform 273"/>
              <p:cNvSpPr/>
              <p:nvPr/>
            </p:nvSpPr>
            <p:spPr>
              <a:xfrm>
                <a:off x="6975475" y="5937250"/>
                <a:ext cx="12700" cy="12700"/>
              </a:xfrm>
              <a:custGeom>
                <a:avLst/>
                <a:gdLst/>
                <a:ahLst/>
                <a:cxnLst/>
                <a:rect l="l" t="t" r="r" b="b"/>
                <a:pathLst>
                  <a:path w="12700" h="12700">
                    <a:moveTo>
                      <a:pt x="0" y="0"/>
                    </a:moveTo>
                    <a:lnTo>
                      <a:pt x="12700" y="12700"/>
                    </a:lnTo>
                  </a:path>
                </a:pathLst>
              </a:custGeom>
              <a:noFill/>
              <a:ln w="12700">
                <a:solidFill>
                  <a:srgbClr val="C83210"/>
                </a:solidFill>
              </a:ln>
            </p:spPr>
          </p:sp>
          <p:sp>
            <p:nvSpPr>
              <p:cNvPr id="274" name="Freeform 274"/>
              <p:cNvSpPr/>
              <p:nvPr/>
            </p:nvSpPr>
            <p:spPr>
              <a:xfrm>
                <a:off x="6991350" y="5921375"/>
                <a:ext cx="12700" cy="12700"/>
              </a:xfrm>
              <a:custGeom>
                <a:avLst/>
                <a:gdLst/>
                <a:ahLst/>
                <a:cxnLst/>
                <a:rect l="l" t="t" r="r" b="b"/>
                <a:pathLst>
                  <a:path w="12700" h="12700">
                    <a:moveTo>
                      <a:pt x="0" y="0"/>
                    </a:moveTo>
                    <a:lnTo>
                      <a:pt x="12700" y="12700"/>
                    </a:lnTo>
                  </a:path>
                </a:pathLst>
              </a:custGeom>
              <a:noFill/>
              <a:ln w="12700">
                <a:solidFill>
                  <a:srgbClr val="C83210"/>
                </a:solidFill>
              </a:ln>
            </p:spPr>
          </p:sp>
        </p:grpSp>
        <p:sp>
          <p:nvSpPr>
            <p:cNvPr id="276" name="TextBox 276"/>
            <p:cNvSpPr txBox="1"/>
            <p:nvPr/>
          </p:nvSpPr>
          <p:spPr>
            <a:xfrm>
              <a:off x="7100888" y="5885736"/>
              <a:ext cx="583006"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mn-lt"/>
                  <a:ea typeface="+mn-ea"/>
                  <a:cs typeface="+mn-cs"/>
                </a:rPr>
                <a:t>客户服务规则</a:t>
              </a:r>
            </a:p>
          </p:txBody>
        </p:sp>
        <p:sp>
          <p:nvSpPr>
            <p:cNvPr id="277" name="TextBox 277"/>
            <p:cNvSpPr txBox="1"/>
            <p:nvPr/>
          </p:nvSpPr>
          <p:spPr>
            <a:xfrm>
              <a:off x="8091488" y="5810536"/>
              <a:ext cx="2346528"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涉及综合金融需求的客户，由主责人牵头，相关岗位协同服务；</a:t>
              </a:r>
            </a:p>
          </p:txBody>
        </p:sp>
        <p:sp>
          <p:nvSpPr>
            <p:cNvPr id="278" name="TextBox 278"/>
            <p:cNvSpPr txBox="1"/>
            <p:nvPr/>
          </p:nvSpPr>
          <p:spPr>
            <a:xfrm>
              <a:off x="8091488" y="5962936"/>
              <a:ext cx="1261491"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对客户的反馈需及时记录、共享。</a:t>
              </a:r>
            </a:p>
          </p:txBody>
        </p:sp>
        <p:sp>
          <p:nvSpPr>
            <p:cNvPr id="279" name="Rectangle 279"/>
            <p:cNvSpPr/>
            <p:nvPr/>
          </p:nvSpPr>
          <p:spPr>
            <a:xfrm>
              <a:off x="6800850" y="6210300"/>
              <a:ext cx="1200150" cy="438150"/>
            </a:xfrm>
            <a:prstGeom prst="roundRect">
              <a:avLst>
                <a:gd name="adj" fmla="val 13043"/>
              </a:avLst>
            </a:prstGeom>
            <a:solidFill>
              <a:srgbClr val="FDEFF1"/>
            </a:solidFill>
            <a:ln>
              <a:noFill/>
            </a:ln>
          </p:spPr>
        </p:sp>
        <p:grpSp>
          <p:nvGrpSpPr>
            <p:cNvPr id="285" name="Group 285"/>
            <p:cNvGrpSpPr/>
            <p:nvPr/>
          </p:nvGrpSpPr>
          <p:grpSpPr>
            <a:xfrm>
              <a:off x="6913986" y="6371061"/>
              <a:ext cx="116772" cy="124989"/>
              <a:chOff x="6913986" y="6371061"/>
              <a:chExt cx="116772" cy="124989"/>
            </a:xfrm>
          </p:grpSpPr>
          <p:sp>
            <p:nvSpPr>
              <p:cNvPr id="280" name="Freeform 280"/>
              <p:cNvSpPr/>
              <p:nvPr/>
            </p:nvSpPr>
            <p:spPr>
              <a:xfrm>
                <a:off x="6959600" y="6416675"/>
                <a:ext cx="71158" cy="71143"/>
              </a:xfrm>
              <a:custGeom>
                <a:avLst/>
                <a:gdLst/>
                <a:ahLst/>
                <a:cxnLst/>
                <a:rect l="l" t="t" r="r" b="b"/>
                <a:pathLst>
                  <a:path w="71158" h="71143">
                    <a:moveTo>
                      <a:pt x="19050" y="0"/>
                    </a:moveTo>
                    <a:lnTo>
                      <a:pt x="65932" y="47104"/>
                    </a:lnTo>
                    <a:cubicBezTo>
                      <a:pt x="71158" y="52311"/>
                      <a:pt x="71158" y="60744"/>
                      <a:pt x="65932" y="65945"/>
                    </a:cubicBezTo>
                    <a:cubicBezTo>
                      <a:pt x="60705" y="71143"/>
                      <a:pt x="52261" y="71143"/>
                      <a:pt x="47034" y="65945"/>
                    </a:cubicBezTo>
                    <a:lnTo>
                      <a:pt x="0" y="19050"/>
                    </a:lnTo>
                  </a:path>
                </a:pathLst>
              </a:custGeom>
              <a:noFill/>
              <a:ln w="12700">
                <a:solidFill>
                  <a:srgbClr val="C83210"/>
                </a:solidFill>
              </a:ln>
            </p:spPr>
          </p:sp>
          <p:sp>
            <p:nvSpPr>
              <p:cNvPr id="281" name="Freeform 281"/>
              <p:cNvSpPr/>
              <p:nvPr/>
            </p:nvSpPr>
            <p:spPr>
              <a:xfrm>
                <a:off x="6934200" y="6410325"/>
                <a:ext cx="25400" cy="25400"/>
              </a:xfrm>
              <a:custGeom>
                <a:avLst/>
                <a:gdLst/>
                <a:ahLst/>
                <a:cxnLst/>
                <a:rect l="l" t="t" r="r" b="b"/>
                <a:pathLst>
                  <a:path w="25400" h="25400">
                    <a:moveTo>
                      <a:pt x="0" y="0"/>
                    </a:moveTo>
                    <a:lnTo>
                      <a:pt x="25400" y="25400"/>
                    </a:lnTo>
                  </a:path>
                </a:pathLst>
              </a:custGeom>
              <a:noFill/>
              <a:ln w="12700">
                <a:solidFill>
                  <a:srgbClr val="C83210"/>
                </a:solidFill>
              </a:ln>
            </p:spPr>
          </p:sp>
          <p:sp>
            <p:nvSpPr>
              <p:cNvPr id="282" name="Freeform 282"/>
              <p:cNvSpPr/>
              <p:nvPr/>
            </p:nvSpPr>
            <p:spPr>
              <a:xfrm>
                <a:off x="6953250" y="6391275"/>
                <a:ext cx="25400" cy="25400"/>
              </a:xfrm>
              <a:custGeom>
                <a:avLst/>
                <a:gdLst/>
                <a:ahLst/>
                <a:cxnLst/>
                <a:rect l="l" t="t" r="r" b="b"/>
                <a:pathLst>
                  <a:path w="25400" h="25400">
                    <a:moveTo>
                      <a:pt x="25400" y="25400"/>
                    </a:moveTo>
                    <a:lnTo>
                      <a:pt x="0" y="0"/>
                    </a:lnTo>
                  </a:path>
                </a:pathLst>
              </a:custGeom>
              <a:noFill/>
              <a:ln w="12700">
                <a:solidFill>
                  <a:srgbClr val="C83210"/>
                </a:solidFill>
              </a:ln>
            </p:spPr>
          </p:sp>
          <p:sp>
            <p:nvSpPr>
              <p:cNvPr id="283" name="Freeform 283"/>
              <p:cNvSpPr/>
              <p:nvPr/>
            </p:nvSpPr>
            <p:spPr>
              <a:xfrm>
                <a:off x="6915150" y="6486525"/>
                <a:ext cx="44450" cy="9525"/>
              </a:xfrm>
              <a:custGeom>
                <a:avLst/>
                <a:gdLst/>
                <a:ahLst/>
                <a:cxnLst/>
                <a:rect l="l" t="t" r="r" b="b"/>
                <a:pathLst>
                  <a:path w="44450" h="9525">
                    <a:moveTo>
                      <a:pt x="0" y="0"/>
                    </a:moveTo>
                    <a:lnTo>
                      <a:pt x="44450" y="0"/>
                    </a:lnTo>
                  </a:path>
                </a:pathLst>
              </a:custGeom>
              <a:noFill/>
              <a:ln w="12700">
                <a:solidFill>
                  <a:srgbClr val="C83210"/>
                </a:solidFill>
              </a:ln>
            </p:spPr>
          </p:sp>
          <p:sp>
            <p:nvSpPr>
              <p:cNvPr id="284" name="Freeform 284"/>
              <p:cNvSpPr/>
              <p:nvPr/>
            </p:nvSpPr>
            <p:spPr>
              <a:xfrm>
                <a:off x="6913986" y="6371061"/>
                <a:ext cx="84879" cy="84879"/>
              </a:xfrm>
              <a:custGeom>
                <a:avLst/>
                <a:gdLst/>
                <a:ahLst/>
                <a:cxnLst/>
                <a:rect l="l" t="t" r="r" b="b"/>
                <a:pathLst>
                  <a:path w="84879" h="84879">
                    <a:moveTo>
                      <a:pt x="25250" y="82400"/>
                    </a:moveTo>
                    <a:lnTo>
                      <a:pt x="2479" y="59629"/>
                    </a:lnTo>
                    <a:cubicBezTo>
                      <a:pt x="0" y="57149"/>
                      <a:pt x="0" y="53130"/>
                      <a:pt x="2479" y="50650"/>
                    </a:cubicBezTo>
                    <a:lnTo>
                      <a:pt x="17039" y="36089"/>
                    </a:lnTo>
                    <a:lnTo>
                      <a:pt x="20214" y="39264"/>
                    </a:lnTo>
                    <a:lnTo>
                      <a:pt x="39264" y="20214"/>
                    </a:lnTo>
                    <a:lnTo>
                      <a:pt x="36089" y="17039"/>
                    </a:lnTo>
                    <a:lnTo>
                      <a:pt x="50650" y="2479"/>
                    </a:lnTo>
                    <a:cubicBezTo>
                      <a:pt x="53130" y="0"/>
                      <a:pt x="57149" y="0"/>
                      <a:pt x="59629" y="2479"/>
                    </a:cubicBezTo>
                    <a:lnTo>
                      <a:pt x="82400" y="25250"/>
                    </a:lnTo>
                    <a:cubicBezTo>
                      <a:pt x="84879" y="27730"/>
                      <a:pt x="84879" y="31749"/>
                      <a:pt x="82400" y="34229"/>
                    </a:cubicBezTo>
                    <a:lnTo>
                      <a:pt x="67840" y="48789"/>
                    </a:lnTo>
                    <a:lnTo>
                      <a:pt x="64665" y="45614"/>
                    </a:lnTo>
                    <a:lnTo>
                      <a:pt x="45614" y="64665"/>
                    </a:lnTo>
                    <a:lnTo>
                      <a:pt x="48789" y="67840"/>
                    </a:lnTo>
                    <a:lnTo>
                      <a:pt x="34229" y="82400"/>
                    </a:lnTo>
                    <a:cubicBezTo>
                      <a:pt x="31749" y="84879"/>
                      <a:pt x="27730" y="84879"/>
                      <a:pt x="25250" y="82400"/>
                    </a:cubicBezTo>
                  </a:path>
                </a:pathLst>
              </a:custGeom>
              <a:noFill/>
              <a:ln w="12700">
                <a:solidFill>
                  <a:srgbClr val="C83210"/>
                </a:solidFill>
              </a:ln>
            </p:spPr>
          </p:sp>
        </p:grpSp>
        <p:sp>
          <p:nvSpPr>
            <p:cNvPr id="286" name="TextBox 286"/>
            <p:cNvSpPr txBox="1"/>
            <p:nvPr/>
          </p:nvSpPr>
          <p:spPr>
            <a:xfrm>
              <a:off x="7100888" y="6400086"/>
              <a:ext cx="583006"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mn-lt"/>
                  <a:ea typeface="+mn-ea"/>
                  <a:cs typeface="+mn-cs"/>
                </a:rPr>
                <a:t>争议处理机制</a:t>
              </a:r>
            </a:p>
          </p:txBody>
        </p:sp>
        <p:sp>
          <p:nvSpPr>
            <p:cNvPr id="287" name="TextBox 287"/>
            <p:cNvSpPr txBox="1"/>
            <p:nvPr/>
          </p:nvSpPr>
          <p:spPr>
            <a:xfrm>
              <a:off x="8091488" y="6324886"/>
              <a:ext cx="2346528"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如出现客户重复跟进或归属争议，由支行行长协调确定主责人；</a:t>
              </a:r>
            </a:p>
          </p:txBody>
        </p:sp>
        <p:sp>
          <p:nvSpPr>
            <p:cNvPr id="288" name="TextBox 288"/>
            <p:cNvSpPr txBox="1"/>
            <p:nvPr/>
          </p:nvSpPr>
          <p:spPr>
            <a:xfrm>
              <a:off x="8091488" y="6477286"/>
              <a:ext cx="1511884"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以客户体验和经营效果为准绳进行裁定。</a:t>
              </a:r>
            </a:p>
          </p:txBody>
        </p:sp>
      </p:gr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14</a:t>
              </a:r>
            </a:p>
          </p:txBody>
        </p:sp>
        <p:sp>
          <p:nvSpPr>
            <p:cNvPr id="4" name="TextBox 4"/>
            <p:cNvSpPr txBox="1"/>
            <p:nvPr/>
          </p:nvSpPr>
          <p:spPr>
            <a:xfrm>
              <a:off x="942594" y="151448"/>
              <a:ext cx="6676644"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任务机制</a:t>
              </a:r>
              <a:r>
                <a:rPr lang="zh-CN" sz="1950" b="1" dirty="0">
                  <a:solidFill>
                    <a:srgbClr val="222222"/>
                  </a:solidFill>
                  <a:latin typeface="SimSun"/>
                  <a:ea typeface="SimSun"/>
                  <a:cs typeface="SimSun"/>
                </a:rPr>
                <a:t>｜把笼统指标拆成每位员工每天可完成的动作</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40" name="split-chain"/>
          <p:cNvGrpSpPr/>
          <p:nvPr/>
        </p:nvGrpSpPr>
        <p:grpSpPr>
          <a:xfrm>
            <a:off x="133350" y="676275"/>
            <a:ext cx="5010150" cy="1857375"/>
            <a:chOff x="133350" y="676275"/>
            <a:chExt cx="5010150" cy="1857375"/>
          </a:xfrm>
        </p:grpSpPr>
        <p:sp>
          <p:nvSpPr>
            <p:cNvPr id="7" name="Ellipse 7"/>
            <p:cNvSpPr/>
            <p:nvPr/>
          </p:nvSpPr>
          <p:spPr>
            <a:xfrm>
              <a:off x="142875" y="676275"/>
              <a:ext cx="171450" cy="171450"/>
            </a:xfrm>
            <a:prstGeom prst="ellipse">
              <a:avLst/>
            </a:prstGeom>
            <a:solidFill>
              <a:srgbClr val="C83210"/>
            </a:solidFill>
            <a:ln>
              <a:noFill/>
            </a:ln>
          </p:spPr>
        </p:sp>
        <p:sp>
          <p:nvSpPr>
            <p:cNvPr id="8" name="TextBox 8"/>
            <p:cNvSpPr txBox="1"/>
            <p:nvPr/>
          </p:nvSpPr>
          <p:spPr>
            <a:xfrm>
              <a:off x="195759" y="71913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9" name="TextBox 9"/>
            <p:cNvSpPr txBox="1"/>
            <p:nvPr/>
          </p:nvSpPr>
          <p:spPr>
            <a:xfrm>
              <a:off x="376047" y="704374"/>
              <a:ext cx="2516530"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从分行月度目标到员工每日任务的拆解逻辑</a:t>
              </a:r>
            </a:p>
          </p:txBody>
        </p:sp>
        <p:sp>
          <p:nvSpPr>
            <p:cNvPr id="10" name="Rectangle 10"/>
            <p:cNvSpPr/>
            <p:nvPr/>
          </p:nvSpPr>
          <p:spPr>
            <a:xfrm>
              <a:off x="133350" y="914400"/>
              <a:ext cx="1123950" cy="1619250"/>
            </a:xfrm>
            <a:prstGeom prst="roundRect">
              <a:avLst>
                <a:gd name="adj" fmla="val 5085"/>
              </a:avLst>
            </a:prstGeom>
            <a:solidFill>
              <a:srgbClr val="FDEFF1"/>
            </a:solidFill>
            <a:ln>
              <a:noFill/>
            </a:ln>
          </p:spPr>
        </p:sp>
        <p:sp>
          <p:nvSpPr>
            <p:cNvPr id="11" name="Rectangle 11"/>
            <p:cNvSpPr/>
            <p:nvPr/>
          </p:nvSpPr>
          <p:spPr>
            <a:xfrm>
              <a:off x="133350" y="914400"/>
              <a:ext cx="1123950" cy="285750"/>
            </a:xfrm>
            <a:prstGeom prst="roundRect">
              <a:avLst>
                <a:gd name="adj" fmla="val 20000"/>
              </a:avLst>
            </a:prstGeom>
            <a:solidFill>
              <a:srgbClr val="C83210"/>
            </a:solidFill>
            <a:ln>
              <a:noFill/>
            </a:ln>
          </p:spPr>
        </p:sp>
        <p:sp>
          <p:nvSpPr>
            <p:cNvPr id="12" name="TextBox 12"/>
            <p:cNvSpPr txBox="1"/>
            <p:nvPr/>
          </p:nvSpPr>
          <p:spPr>
            <a:xfrm>
              <a:off x="371513" y="1019889"/>
              <a:ext cx="6476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分行月度目标</a:t>
              </a:r>
            </a:p>
          </p:txBody>
        </p:sp>
        <p:sp>
          <p:nvSpPr>
            <p:cNvPr id="13" name="TextBox 13"/>
            <p:cNvSpPr txBox="1"/>
            <p:nvPr/>
          </p:nvSpPr>
          <p:spPr>
            <a:xfrm>
              <a:off x="403822" y="1447086"/>
              <a:ext cx="583006"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mn-lt"/>
                  <a:ea typeface="+mn-ea"/>
                  <a:cs typeface="+mn-cs"/>
                </a:rPr>
                <a:t>企微认证新增</a:t>
              </a:r>
            </a:p>
          </p:txBody>
        </p:sp>
        <p:sp>
          <p:nvSpPr>
            <p:cNvPr id="14" name="TextBox 14"/>
            <p:cNvSpPr txBox="1"/>
            <p:nvPr/>
          </p:nvSpPr>
          <p:spPr>
            <a:xfrm>
              <a:off x="461059" y="1797368"/>
              <a:ext cx="468531"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1,200</a:t>
              </a:r>
            </a:p>
          </p:txBody>
        </p:sp>
        <p:sp>
          <p:nvSpPr>
            <p:cNvPr id="15" name="TextBox 15"/>
            <p:cNvSpPr txBox="1"/>
            <p:nvPr/>
          </p:nvSpPr>
          <p:spPr>
            <a:xfrm>
              <a:off x="560444" y="2052638"/>
              <a:ext cx="269762" cy="147638"/>
            </a:xfrm>
            <a:prstGeom prst="rect">
              <a:avLst/>
            </a:prstGeom>
            <a:noFill/>
            <a:ln>
              <a:noFill/>
            </a:ln>
          </p:spPr>
          <p:txBody>
            <a:bodyPr wrap="none" lIns="0" tIns="0" rIns="0" bIns="0" anchor="t" anchorCtr="0">
              <a:spAutoFit/>
            </a:bodyPr>
            <a:lstStyle/>
            <a:p>
              <a:pPr algn="ctr"/>
              <a:r>
                <a:rPr lang="zh-CN" sz="750" b="1" dirty="0">
                  <a:solidFill>
                    <a:srgbClr val="222222"/>
                  </a:solidFill>
                  <a:latin typeface="+mn-lt"/>
                  <a:ea typeface="+mn-ea"/>
                  <a:cs typeface="+mn-cs"/>
                </a:rPr>
                <a:t>人/月</a:t>
              </a:r>
            </a:p>
          </p:txBody>
        </p:sp>
        <p:sp>
          <p:nvSpPr>
            <p:cNvPr id="16" name="Freeform 16"/>
            <p:cNvSpPr/>
            <p:nvPr/>
          </p:nvSpPr>
          <p:spPr>
            <a:xfrm>
              <a:off x="1276350" y="1638300"/>
              <a:ext cx="133350" cy="190500"/>
            </a:xfrm>
            <a:prstGeom prst="rightArrow">
              <a:avLst/>
            </a:prstGeom>
            <a:solidFill>
              <a:srgbClr val="E9826B"/>
            </a:solidFill>
            <a:ln>
              <a:noFill/>
            </a:ln>
          </p:spPr>
        </p:sp>
        <p:sp>
          <p:nvSpPr>
            <p:cNvPr id="17" name="Rectangle 17"/>
            <p:cNvSpPr/>
            <p:nvPr/>
          </p:nvSpPr>
          <p:spPr>
            <a:xfrm>
              <a:off x="1428750" y="914400"/>
              <a:ext cx="1123950" cy="1619250"/>
            </a:xfrm>
            <a:prstGeom prst="roundRect">
              <a:avLst>
                <a:gd name="adj" fmla="val 5085"/>
              </a:avLst>
            </a:prstGeom>
            <a:solidFill>
              <a:srgbClr val="FDEFF1"/>
            </a:solidFill>
            <a:ln>
              <a:noFill/>
            </a:ln>
          </p:spPr>
        </p:sp>
        <p:sp>
          <p:nvSpPr>
            <p:cNvPr id="18" name="Rectangle 18"/>
            <p:cNvSpPr/>
            <p:nvPr/>
          </p:nvSpPr>
          <p:spPr>
            <a:xfrm>
              <a:off x="1428750" y="914400"/>
              <a:ext cx="1123950" cy="285750"/>
            </a:xfrm>
            <a:prstGeom prst="roundRect">
              <a:avLst>
                <a:gd name="adj" fmla="val 20000"/>
              </a:avLst>
            </a:prstGeom>
            <a:solidFill>
              <a:srgbClr val="C83210"/>
            </a:solidFill>
            <a:ln>
              <a:noFill/>
            </a:ln>
          </p:spPr>
        </p:sp>
        <p:sp>
          <p:nvSpPr>
            <p:cNvPr id="19" name="TextBox 19"/>
            <p:cNvSpPr txBox="1"/>
            <p:nvPr/>
          </p:nvSpPr>
          <p:spPr>
            <a:xfrm>
              <a:off x="1773263" y="10198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团队目标</a:t>
              </a:r>
            </a:p>
          </p:txBody>
        </p:sp>
        <p:sp>
          <p:nvSpPr>
            <p:cNvPr id="20" name="TextBox 20"/>
            <p:cNvSpPr txBox="1"/>
            <p:nvPr/>
          </p:nvSpPr>
          <p:spPr>
            <a:xfrm>
              <a:off x="1745992" y="1347788"/>
              <a:ext cx="489466" cy="147638"/>
            </a:xfrm>
            <a:prstGeom prst="rect">
              <a:avLst/>
            </a:prstGeom>
            <a:noFill/>
            <a:ln>
              <a:noFill/>
            </a:ln>
          </p:spPr>
          <p:txBody>
            <a:bodyPr wrap="none" lIns="0" tIns="0" rIns="0" bIns="0" anchor="t" anchorCtr="0">
              <a:spAutoFit/>
            </a:bodyPr>
            <a:lstStyle/>
            <a:p>
              <a:pPr algn="ctr"/>
              <a:r>
                <a:rPr lang="zh-CN" sz="980" b="1" dirty="0">
                  <a:solidFill>
                    <a:srgbClr val="C83210"/>
                  </a:solidFill>
                  <a:latin typeface="Arial"/>
                  <a:ea typeface="Arial"/>
                  <a:cs typeface="Arial"/>
                </a:rPr>
                <a:t>30</a:t>
              </a:r>
              <a:r>
                <a:rPr lang="zh-CN" sz="750" dirty="0">
                  <a:solidFill>
                    <a:srgbClr val="3D3D3D"/>
                  </a:solidFill>
                  <a:latin typeface="+mn-lt"/>
                  <a:ea typeface="+mn-ea"/>
                  <a:cs typeface="+mn-cs"/>
                </a:rPr>
                <a:t xml:space="preserve"> 名员工</a:t>
              </a:r>
            </a:p>
          </p:txBody>
        </p:sp>
        <p:sp>
          <p:nvSpPr>
            <p:cNvPr id="21" name="TextBox 21"/>
            <p:cNvSpPr txBox="1"/>
            <p:nvPr/>
          </p:nvSpPr>
          <p:spPr>
            <a:xfrm>
              <a:off x="1719236" y="1599486"/>
              <a:ext cx="542977"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Arial"/>
                  <a:ea typeface="Arial"/>
                  <a:cs typeface="Arial"/>
                </a:rPr>
                <a:t>1,200 ÷ 30 =</a:t>
              </a:r>
            </a:p>
          </p:txBody>
        </p:sp>
        <p:sp>
          <p:nvSpPr>
            <p:cNvPr id="22" name="TextBox 22"/>
            <p:cNvSpPr txBox="1"/>
            <p:nvPr/>
          </p:nvSpPr>
          <p:spPr>
            <a:xfrm>
              <a:off x="1882785" y="1797368"/>
              <a:ext cx="215880"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40</a:t>
              </a:r>
            </a:p>
          </p:txBody>
        </p:sp>
        <p:sp>
          <p:nvSpPr>
            <p:cNvPr id="23" name="TextBox 23"/>
            <p:cNvSpPr txBox="1"/>
            <p:nvPr/>
          </p:nvSpPr>
          <p:spPr>
            <a:xfrm>
              <a:off x="1776208" y="2052638"/>
              <a:ext cx="429035" cy="147638"/>
            </a:xfrm>
            <a:prstGeom prst="rect">
              <a:avLst/>
            </a:prstGeom>
            <a:noFill/>
            <a:ln>
              <a:noFill/>
            </a:ln>
          </p:spPr>
          <p:txBody>
            <a:bodyPr wrap="none" lIns="0" tIns="0" rIns="0" bIns="0" anchor="t" anchorCtr="0">
              <a:spAutoFit/>
            </a:bodyPr>
            <a:lstStyle/>
            <a:p>
              <a:pPr algn="ctr"/>
              <a:r>
                <a:rPr lang="zh-CN" sz="750" b="1" dirty="0">
                  <a:solidFill>
                    <a:srgbClr val="222222"/>
                  </a:solidFill>
                  <a:latin typeface="+mn-lt"/>
                  <a:ea typeface="+mn-ea"/>
                  <a:cs typeface="+mn-cs"/>
                </a:rPr>
                <a:t>人/人/月</a:t>
              </a:r>
            </a:p>
          </p:txBody>
        </p:sp>
        <p:sp>
          <p:nvSpPr>
            <p:cNvPr id="24" name="Freeform 24"/>
            <p:cNvSpPr/>
            <p:nvPr/>
          </p:nvSpPr>
          <p:spPr>
            <a:xfrm>
              <a:off x="2571750" y="1638300"/>
              <a:ext cx="133350" cy="190500"/>
            </a:xfrm>
            <a:prstGeom prst="rightArrow">
              <a:avLst/>
            </a:prstGeom>
            <a:solidFill>
              <a:srgbClr val="E9826B"/>
            </a:solidFill>
            <a:ln>
              <a:noFill/>
            </a:ln>
          </p:spPr>
        </p:sp>
        <p:sp>
          <p:nvSpPr>
            <p:cNvPr id="25" name="Rectangle 25"/>
            <p:cNvSpPr/>
            <p:nvPr/>
          </p:nvSpPr>
          <p:spPr>
            <a:xfrm>
              <a:off x="2724150" y="914400"/>
              <a:ext cx="1123950" cy="1619250"/>
            </a:xfrm>
            <a:prstGeom prst="roundRect">
              <a:avLst>
                <a:gd name="adj" fmla="val 5085"/>
              </a:avLst>
            </a:prstGeom>
            <a:solidFill>
              <a:srgbClr val="FDEFF1"/>
            </a:solidFill>
            <a:ln>
              <a:noFill/>
            </a:ln>
          </p:spPr>
        </p:sp>
        <p:sp>
          <p:nvSpPr>
            <p:cNvPr id="26" name="Rectangle 26"/>
            <p:cNvSpPr/>
            <p:nvPr/>
          </p:nvSpPr>
          <p:spPr>
            <a:xfrm>
              <a:off x="2724150" y="914400"/>
              <a:ext cx="1123950" cy="285750"/>
            </a:xfrm>
            <a:prstGeom prst="roundRect">
              <a:avLst>
                <a:gd name="adj" fmla="val 20000"/>
              </a:avLst>
            </a:prstGeom>
            <a:solidFill>
              <a:srgbClr val="C83210"/>
            </a:solidFill>
            <a:ln>
              <a:noFill/>
            </a:ln>
          </p:spPr>
        </p:sp>
        <p:sp>
          <p:nvSpPr>
            <p:cNvPr id="27" name="TextBox 27"/>
            <p:cNvSpPr txBox="1"/>
            <p:nvPr/>
          </p:nvSpPr>
          <p:spPr>
            <a:xfrm>
              <a:off x="3068663" y="10198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每周目标</a:t>
              </a:r>
            </a:p>
          </p:txBody>
        </p:sp>
        <p:sp>
          <p:nvSpPr>
            <p:cNvPr id="28" name="TextBox 28"/>
            <p:cNvSpPr txBox="1"/>
            <p:nvPr/>
          </p:nvSpPr>
          <p:spPr>
            <a:xfrm>
              <a:off x="3113419" y="1347788"/>
              <a:ext cx="345412"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mn-lt"/>
                  <a:ea typeface="+mn-ea"/>
                  <a:cs typeface="+mn-cs"/>
                </a:rPr>
                <a:t xml:space="preserve">按 </a:t>
              </a:r>
              <a:r>
                <a:rPr lang="zh-CN" sz="980" b="1" dirty="0">
                  <a:solidFill>
                    <a:srgbClr val="C83210"/>
                  </a:solidFill>
                  <a:latin typeface="Arial"/>
                  <a:ea typeface="Arial"/>
                  <a:cs typeface="Arial"/>
                </a:rPr>
                <a:t>4</a:t>
              </a:r>
              <a:r>
                <a:rPr lang="zh-CN" sz="750" dirty="0">
                  <a:solidFill>
                    <a:srgbClr val="3D3D3D"/>
                  </a:solidFill>
                  <a:latin typeface="+mn-lt"/>
                  <a:ea typeface="+mn-ea"/>
                  <a:cs typeface="+mn-cs"/>
                </a:rPr>
                <a:t xml:space="preserve"> 周</a:t>
              </a:r>
            </a:p>
          </p:txBody>
        </p:sp>
        <p:sp>
          <p:nvSpPr>
            <p:cNvPr id="29" name="TextBox 29"/>
            <p:cNvSpPr txBox="1"/>
            <p:nvPr/>
          </p:nvSpPr>
          <p:spPr>
            <a:xfrm>
              <a:off x="3107655" y="1599486"/>
              <a:ext cx="356940"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Arial"/>
                  <a:ea typeface="Arial"/>
                  <a:cs typeface="Arial"/>
                </a:rPr>
                <a:t>40 ÷ 4 =</a:t>
              </a:r>
            </a:p>
          </p:txBody>
        </p:sp>
        <p:sp>
          <p:nvSpPr>
            <p:cNvPr id="30" name="TextBox 30"/>
            <p:cNvSpPr txBox="1"/>
            <p:nvPr/>
          </p:nvSpPr>
          <p:spPr>
            <a:xfrm>
              <a:off x="3178185" y="1797368"/>
              <a:ext cx="215880"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10</a:t>
              </a:r>
            </a:p>
          </p:txBody>
        </p:sp>
        <p:sp>
          <p:nvSpPr>
            <p:cNvPr id="31" name="TextBox 31"/>
            <p:cNvSpPr txBox="1"/>
            <p:nvPr/>
          </p:nvSpPr>
          <p:spPr>
            <a:xfrm>
              <a:off x="3071608" y="2052638"/>
              <a:ext cx="429035" cy="147638"/>
            </a:xfrm>
            <a:prstGeom prst="rect">
              <a:avLst/>
            </a:prstGeom>
            <a:noFill/>
            <a:ln>
              <a:noFill/>
            </a:ln>
          </p:spPr>
          <p:txBody>
            <a:bodyPr wrap="none" lIns="0" tIns="0" rIns="0" bIns="0" anchor="t" anchorCtr="0">
              <a:spAutoFit/>
            </a:bodyPr>
            <a:lstStyle/>
            <a:p>
              <a:pPr algn="ctr"/>
              <a:r>
                <a:rPr lang="zh-CN" sz="750" b="1" dirty="0">
                  <a:solidFill>
                    <a:srgbClr val="222222"/>
                  </a:solidFill>
                  <a:latin typeface="+mn-lt"/>
                  <a:ea typeface="+mn-ea"/>
                  <a:cs typeface="+mn-cs"/>
                </a:rPr>
                <a:t>人/人/周</a:t>
              </a:r>
            </a:p>
          </p:txBody>
        </p:sp>
        <p:sp>
          <p:nvSpPr>
            <p:cNvPr id="32" name="Freeform 32"/>
            <p:cNvSpPr/>
            <p:nvPr/>
          </p:nvSpPr>
          <p:spPr>
            <a:xfrm>
              <a:off x="3867150" y="1638300"/>
              <a:ext cx="133350" cy="190500"/>
            </a:xfrm>
            <a:prstGeom prst="rightArrow">
              <a:avLst/>
            </a:prstGeom>
            <a:solidFill>
              <a:srgbClr val="E9826B"/>
            </a:solidFill>
            <a:ln>
              <a:noFill/>
            </a:ln>
          </p:spPr>
        </p:sp>
        <p:sp>
          <p:nvSpPr>
            <p:cNvPr id="33" name="Rectangle 33"/>
            <p:cNvSpPr/>
            <p:nvPr/>
          </p:nvSpPr>
          <p:spPr>
            <a:xfrm>
              <a:off x="4019550" y="914400"/>
              <a:ext cx="1123950" cy="1619250"/>
            </a:xfrm>
            <a:prstGeom prst="roundRect">
              <a:avLst>
                <a:gd name="adj" fmla="val 5085"/>
              </a:avLst>
            </a:prstGeom>
            <a:solidFill>
              <a:srgbClr val="FDEFF1"/>
            </a:solidFill>
            <a:ln>
              <a:noFill/>
            </a:ln>
          </p:spPr>
        </p:sp>
        <p:sp>
          <p:nvSpPr>
            <p:cNvPr id="34" name="Rectangle 34"/>
            <p:cNvSpPr/>
            <p:nvPr/>
          </p:nvSpPr>
          <p:spPr>
            <a:xfrm>
              <a:off x="4019550" y="914400"/>
              <a:ext cx="1123950" cy="285750"/>
            </a:xfrm>
            <a:prstGeom prst="roundRect">
              <a:avLst>
                <a:gd name="adj" fmla="val 20000"/>
              </a:avLst>
            </a:prstGeom>
            <a:solidFill>
              <a:srgbClr val="C83210"/>
            </a:solidFill>
            <a:ln>
              <a:noFill/>
            </a:ln>
          </p:spPr>
        </p:sp>
        <p:sp>
          <p:nvSpPr>
            <p:cNvPr id="35" name="TextBox 35"/>
            <p:cNvSpPr txBox="1"/>
            <p:nvPr/>
          </p:nvSpPr>
          <p:spPr>
            <a:xfrm>
              <a:off x="4364063" y="10198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每日目标</a:t>
              </a:r>
            </a:p>
          </p:txBody>
        </p:sp>
        <p:sp>
          <p:nvSpPr>
            <p:cNvPr id="36" name="TextBox 36"/>
            <p:cNvSpPr txBox="1"/>
            <p:nvPr/>
          </p:nvSpPr>
          <p:spPr>
            <a:xfrm>
              <a:off x="4220682" y="1347788"/>
              <a:ext cx="721685" cy="147638"/>
            </a:xfrm>
            <a:prstGeom prst="rect">
              <a:avLst/>
            </a:prstGeom>
            <a:noFill/>
            <a:ln>
              <a:noFill/>
            </a:ln>
          </p:spPr>
          <p:txBody>
            <a:bodyPr wrap="none" lIns="0" tIns="0" rIns="0" bIns="0" anchor="t" anchorCtr="0">
              <a:spAutoFit/>
            </a:bodyPr>
            <a:lstStyle/>
            <a:p>
              <a:pPr algn="ctr"/>
              <a:r>
                <a:rPr lang="zh-CN" sz="750" dirty="0">
                  <a:solidFill>
                    <a:srgbClr val="3D3D3D"/>
                  </a:solidFill>
                  <a:latin typeface="+mn-lt"/>
                  <a:ea typeface="+mn-ea"/>
                  <a:cs typeface="+mn-cs"/>
                </a:rPr>
                <a:t xml:space="preserve">按 </a:t>
              </a:r>
              <a:r>
                <a:rPr lang="zh-CN" sz="980" b="1" dirty="0">
                  <a:solidFill>
                    <a:srgbClr val="C83210"/>
                  </a:solidFill>
                  <a:latin typeface="Arial"/>
                  <a:ea typeface="Arial"/>
                  <a:cs typeface="Arial"/>
                </a:rPr>
                <a:t>20</a:t>
              </a:r>
              <a:r>
                <a:rPr lang="zh-CN" sz="750" dirty="0">
                  <a:solidFill>
                    <a:srgbClr val="3D3D3D"/>
                  </a:solidFill>
                  <a:latin typeface="+mn-lt"/>
                  <a:ea typeface="+mn-ea"/>
                  <a:cs typeface="+mn-cs"/>
                </a:rPr>
                <a:t xml:space="preserve"> 个工作日</a:t>
              </a:r>
            </a:p>
          </p:txBody>
        </p:sp>
        <p:sp>
          <p:nvSpPr>
            <p:cNvPr id="37" name="TextBox 37"/>
            <p:cNvSpPr txBox="1"/>
            <p:nvPr/>
          </p:nvSpPr>
          <p:spPr>
            <a:xfrm>
              <a:off x="4376474" y="1599486"/>
              <a:ext cx="410102" cy="140494"/>
            </a:xfrm>
            <a:prstGeom prst="rect">
              <a:avLst/>
            </a:prstGeom>
            <a:noFill/>
            <a:ln>
              <a:noFill/>
            </a:ln>
          </p:spPr>
          <p:txBody>
            <a:bodyPr wrap="none" lIns="0" tIns="0" rIns="0" bIns="0" anchor="t" anchorCtr="0">
              <a:spAutoFit/>
            </a:bodyPr>
            <a:lstStyle/>
            <a:p>
              <a:pPr algn="ctr"/>
              <a:r>
                <a:rPr lang="zh-CN" sz="710" dirty="0">
                  <a:solidFill>
                    <a:srgbClr val="3D3D3D"/>
                  </a:solidFill>
                  <a:latin typeface="Arial"/>
                  <a:ea typeface="Arial"/>
                  <a:cs typeface="Arial"/>
                </a:rPr>
                <a:t>40 ÷ 20 =</a:t>
              </a:r>
            </a:p>
          </p:txBody>
        </p:sp>
        <p:sp>
          <p:nvSpPr>
            <p:cNvPr id="38" name="TextBox 38"/>
            <p:cNvSpPr txBox="1"/>
            <p:nvPr/>
          </p:nvSpPr>
          <p:spPr>
            <a:xfrm>
              <a:off x="4524126" y="1797368"/>
              <a:ext cx="114798" cy="264033"/>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2</a:t>
              </a:r>
            </a:p>
          </p:txBody>
        </p:sp>
        <p:sp>
          <p:nvSpPr>
            <p:cNvPr id="39" name="TextBox 39"/>
            <p:cNvSpPr txBox="1"/>
            <p:nvPr/>
          </p:nvSpPr>
          <p:spPr>
            <a:xfrm>
              <a:off x="4367008" y="2052638"/>
              <a:ext cx="429035" cy="147638"/>
            </a:xfrm>
            <a:prstGeom prst="rect">
              <a:avLst/>
            </a:prstGeom>
            <a:noFill/>
            <a:ln>
              <a:noFill/>
            </a:ln>
          </p:spPr>
          <p:txBody>
            <a:bodyPr wrap="none" lIns="0" tIns="0" rIns="0" bIns="0" anchor="t" anchorCtr="0">
              <a:spAutoFit/>
            </a:bodyPr>
            <a:lstStyle/>
            <a:p>
              <a:pPr algn="ctr"/>
              <a:r>
                <a:rPr lang="zh-CN" sz="750" b="1" dirty="0">
                  <a:solidFill>
                    <a:srgbClr val="222222"/>
                  </a:solidFill>
                  <a:latin typeface="+mn-lt"/>
                  <a:ea typeface="+mn-ea"/>
                  <a:cs typeface="+mn-cs"/>
                </a:rPr>
                <a:t>人/人/天</a:t>
              </a:r>
            </a:p>
          </p:txBody>
        </p:sp>
      </p:grpSp>
      <p:grpSp>
        <p:nvGrpSpPr>
          <p:cNvPr id="99" name="task-types"/>
          <p:cNvGrpSpPr/>
          <p:nvPr/>
        </p:nvGrpSpPr>
        <p:grpSpPr>
          <a:xfrm>
            <a:off x="5257800" y="676275"/>
            <a:ext cx="3314700" cy="1876425"/>
            <a:chOff x="5257800" y="676275"/>
            <a:chExt cx="3314700" cy="1876425"/>
          </a:xfrm>
        </p:grpSpPr>
        <p:sp>
          <p:nvSpPr>
            <p:cNvPr id="41" name="Ellipse 41"/>
            <p:cNvSpPr/>
            <p:nvPr/>
          </p:nvSpPr>
          <p:spPr>
            <a:xfrm>
              <a:off x="5267325" y="676275"/>
              <a:ext cx="171450" cy="171450"/>
            </a:xfrm>
            <a:prstGeom prst="ellipse">
              <a:avLst/>
            </a:prstGeom>
            <a:solidFill>
              <a:srgbClr val="C83210"/>
            </a:solidFill>
            <a:ln>
              <a:noFill/>
            </a:ln>
          </p:spPr>
        </p:sp>
        <p:sp>
          <p:nvSpPr>
            <p:cNvPr id="42" name="TextBox 42"/>
            <p:cNvSpPr txBox="1"/>
            <p:nvPr/>
          </p:nvSpPr>
          <p:spPr>
            <a:xfrm>
              <a:off x="5320209" y="71913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43" name="TextBox 43"/>
            <p:cNvSpPr txBox="1"/>
            <p:nvPr/>
          </p:nvSpPr>
          <p:spPr>
            <a:xfrm>
              <a:off x="5500497" y="704374"/>
              <a:ext cx="1996897"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关键任务类型与每日建议量</a:t>
              </a:r>
              <a:r>
                <a:rPr lang="zh-CN" sz="750" b="1" dirty="0">
                  <a:solidFill>
                    <a:srgbClr val="808080"/>
                  </a:solidFill>
                  <a:latin typeface="+mn-lt"/>
                  <a:ea typeface="+mn-ea"/>
                  <a:cs typeface="+mn-cs"/>
                </a:rPr>
                <a:t>（示例）</a:t>
              </a:r>
            </a:p>
          </p:txBody>
        </p:sp>
        <p:sp>
          <p:nvSpPr>
            <p:cNvPr id="44" name="Rectangle 44"/>
            <p:cNvSpPr/>
            <p:nvPr/>
          </p:nvSpPr>
          <p:spPr>
            <a:xfrm>
              <a:off x="5257800" y="914400"/>
              <a:ext cx="3314700" cy="228600"/>
            </a:xfrm>
            <a:prstGeom prst="rect">
              <a:avLst/>
            </a:prstGeom>
            <a:solidFill>
              <a:srgbClr val="C83210"/>
            </a:solidFill>
            <a:ln>
              <a:noFill/>
            </a:ln>
          </p:spPr>
        </p:sp>
        <p:sp>
          <p:nvSpPr>
            <p:cNvPr id="45" name="TextBox 45"/>
            <p:cNvSpPr txBox="1"/>
            <p:nvPr/>
          </p:nvSpPr>
          <p:spPr>
            <a:xfrm>
              <a:off x="5499824" y="9979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任务类型</a:t>
              </a:r>
            </a:p>
          </p:txBody>
        </p:sp>
        <p:sp>
          <p:nvSpPr>
            <p:cNvPr id="46" name="TextBox 46"/>
            <p:cNvSpPr txBox="1"/>
            <p:nvPr/>
          </p:nvSpPr>
          <p:spPr>
            <a:xfrm>
              <a:off x="6871424" y="9979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动作说明</a:t>
              </a:r>
            </a:p>
          </p:txBody>
        </p:sp>
        <p:sp>
          <p:nvSpPr>
            <p:cNvPr id="47" name="TextBox 47"/>
            <p:cNvSpPr txBox="1"/>
            <p:nvPr/>
          </p:nvSpPr>
          <p:spPr>
            <a:xfrm>
              <a:off x="8160830" y="954405"/>
              <a:ext cx="25184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建议量</a:t>
              </a:r>
            </a:p>
          </p:txBody>
        </p:sp>
        <p:sp>
          <p:nvSpPr>
            <p:cNvPr id="48" name="TextBox 48"/>
            <p:cNvSpPr txBox="1"/>
            <p:nvPr/>
          </p:nvSpPr>
          <p:spPr>
            <a:xfrm>
              <a:off x="8087731" y="1057751"/>
              <a:ext cx="398038"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（人次/天）</a:t>
              </a:r>
            </a:p>
          </p:txBody>
        </p:sp>
        <p:sp>
          <p:nvSpPr>
            <p:cNvPr id="49" name="Rectangle 49"/>
            <p:cNvSpPr/>
            <p:nvPr/>
          </p:nvSpPr>
          <p:spPr>
            <a:xfrm>
              <a:off x="5257800" y="1343025"/>
              <a:ext cx="3314700" cy="200025"/>
            </a:xfrm>
            <a:prstGeom prst="rect">
              <a:avLst/>
            </a:prstGeom>
            <a:solidFill>
              <a:srgbClr val="FDEFF1"/>
            </a:solidFill>
            <a:ln>
              <a:noFill/>
            </a:ln>
          </p:spPr>
        </p:sp>
        <p:sp>
          <p:nvSpPr>
            <p:cNvPr id="50" name="Rectangle 50"/>
            <p:cNvSpPr/>
            <p:nvPr/>
          </p:nvSpPr>
          <p:spPr>
            <a:xfrm>
              <a:off x="5257800" y="1743075"/>
              <a:ext cx="3314700" cy="200025"/>
            </a:xfrm>
            <a:prstGeom prst="rect">
              <a:avLst/>
            </a:prstGeom>
            <a:solidFill>
              <a:srgbClr val="FDEFF1"/>
            </a:solidFill>
            <a:ln>
              <a:noFill/>
            </a:ln>
          </p:spPr>
        </p:sp>
        <p:sp>
          <p:nvSpPr>
            <p:cNvPr id="51" name="Rectangle 51"/>
            <p:cNvSpPr/>
            <p:nvPr/>
          </p:nvSpPr>
          <p:spPr>
            <a:xfrm>
              <a:off x="5257800" y="2143125"/>
              <a:ext cx="3314700" cy="200025"/>
            </a:xfrm>
            <a:prstGeom prst="rect">
              <a:avLst/>
            </a:prstGeom>
            <a:solidFill>
              <a:srgbClr val="FDEFF1"/>
            </a:solidFill>
            <a:ln>
              <a:noFill/>
            </a:ln>
          </p:spPr>
        </p:sp>
        <p:grpSp>
          <p:nvGrpSpPr>
            <p:cNvPr id="56" name="Group 56"/>
            <p:cNvGrpSpPr/>
            <p:nvPr/>
          </p:nvGrpSpPr>
          <p:grpSpPr>
            <a:xfrm>
              <a:off x="5343525" y="1195388"/>
              <a:ext cx="76200" cy="90487"/>
              <a:chOff x="5343525" y="1195388"/>
              <a:chExt cx="76200" cy="90487"/>
            </a:xfrm>
          </p:grpSpPr>
          <p:sp>
            <p:nvSpPr>
              <p:cNvPr id="52" name="Freeform 52"/>
              <p:cNvSpPr/>
              <p:nvPr/>
            </p:nvSpPr>
            <p:spPr>
              <a:xfrm>
                <a:off x="5353050" y="11953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C83210"/>
                </a:solidFill>
              </a:ln>
            </p:spPr>
          </p:sp>
          <p:sp>
            <p:nvSpPr>
              <p:cNvPr id="53" name="Freeform 53"/>
              <p:cNvSpPr/>
              <p:nvPr/>
            </p:nvSpPr>
            <p:spPr>
              <a:xfrm>
                <a:off x="5391150" y="1271588"/>
                <a:ext cx="28575" cy="9525"/>
              </a:xfrm>
              <a:custGeom>
                <a:avLst/>
                <a:gdLst/>
                <a:ahLst/>
                <a:cxnLst/>
                <a:rect l="l" t="t" r="r" b="b"/>
                <a:pathLst>
                  <a:path w="28575" h="9525">
                    <a:moveTo>
                      <a:pt x="0" y="0"/>
                    </a:moveTo>
                    <a:lnTo>
                      <a:pt x="28575" y="0"/>
                    </a:lnTo>
                  </a:path>
                </a:pathLst>
              </a:custGeom>
              <a:noFill/>
              <a:ln w="9525">
                <a:solidFill>
                  <a:srgbClr val="C83210"/>
                </a:solidFill>
              </a:ln>
            </p:spPr>
          </p:sp>
          <p:sp>
            <p:nvSpPr>
              <p:cNvPr id="54" name="Freeform 54"/>
              <p:cNvSpPr/>
              <p:nvPr/>
            </p:nvSpPr>
            <p:spPr>
              <a:xfrm>
                <a:off x="5405438" y="1257300"/>
                <a:ext cx="9525" cy="28575"/>
              </a:xfrm>
              <a:custGeom>
                <a:avLst/>
                <a:gdLst/>
                <a:ahLst/>
                <a:cxnLst/>
                <a:rect l="l" t="t" r="r" b="b"/>
                <a:pathLst>
                  <a:path w="9525" h="28575">
                    <a:moveTo>
                      <a:pt x="0" y="0"/>
                    </a:moveTo>
                    <a:lnTo>
                      <a:pt x="0" y="28575"/>
                    </a:lnTo>
                  </a:path>
                </a:pathLst>
              </a:custGeom>
              <a:noFill/>
              <a:ln w="9525">
                <a:solidFill>
                  <a:srgbClr val="C83210"/>
                </a:solidFill>
              </a:ln>
            </p:spPr>
          </p:sp>
          <p:sp>
            <p:nvSpPr>
              <p:cNvPr id="55" name="Freeform 55"/>
              <p:cNvSpPr/>
              <p:nvPr/>
            </p:nvSpPr>
            <p:spPr>
              <a:xfrm>
                <a:off x="5343525" y="1252538"/>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C83210"/>
                </a:solidFill>
              </a:ln>
            </p:spPr>
          </p:sp>
        </p:grpSp>
        <p:sp>
          <p:nvSpPr>
            <p:cNvPr id="57" name="TextBox 57"/>
            <p:cNvSpPr txBox="1"/>
            <p:nvPr/>
          </p:nvSpPr>
          <p:spPr>
            <a:xfrm>
              <a:off x="5462588" y="1214723"/>
              <a:ext cx="176454"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添加</a:t>
              </a:r>
            </a:p>
          </p:txBody>
        </p:sp>
        <p:sp>
          <p:nvSpPr>
            <p:cNvPr id="58" name="TextBox 58"/>
            <p:cNvSpPr txBox="1"/>
            <p:nvPr/>
          </p:nvSpPr>
          <p:spPr>
            <a:xfrm>
              <a:off x="6148388" y="1217962"/>
              <a:ext cx="1414958"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通过活动、存量客户、转介绍等添加企微</a:t>
              </a:r>
            </a:p>
          </p:txBody>
        </p:sp>
        <p:sp>
          <p:nvSpPr>
            <p:cNvPr id="59" name="TextBox 59"/>
            <p:cNvSpPr txBox="1"/>
            <p:nvPr/>
          </p:nvSpPr>
          <p:spPr>
            <a:xfrm>
              <a:off x="8256530" y="1213009"/>
              <a:ext cx="60440"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Arial"/>
                  <a:ea typeface="Arial"/>
                  <a:cs typeface="Arial"/>
                </a:rPr>
                <a:t>5</a:t>
              </a:r>
            </a:p>
          </p:txBody>
        </p:sp>
        <p:grpSp>
          <p:nvGrpSpPr>
            <p:cNvPr id="62" name="Group 62"/>
            <p:cNvGrpSpPr/>
            <p:nvPr/>
          </p:nvGrpSpPr>
          <p:grpSpPr>
            <a:xfrm>
              <a:off x="5329238" y="1395412"/>
              <a:ext cx="85725" cy="85725"/>
              <a:chOff x="5329238" y="1395412"/>
              <a:chExt cx="85725" cy="85725"/>
            </a:xfrm>
          </p:grpSpPr>
          <p:sp>
            <p:nvSpPr>
              <p:cNvPr id="60" name="Freeform 60"/>
              <p:cNvSpPr/>
              <p:nvPr/>
            </p:nvSpPr>
            <p:spPr>
              <a:xfrm>
                <a:off x="5329238" y="1395412"/>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61" name="Freeform 61"/>
              <p:cNvSpPr/>
              <p:nvPr/>
            </p:nvSpPr>
            <p:spPr>
              <a:xfrm>
                <a:off x="5357812" y="1428750"/>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63" name="TextBox 63"/>
            <p:cNvSpPr txBox="1"/>
            <p:nvPr/>
          </p:nvSpPr>
          <p:spPr>
            <a:xfrm>
              <a:off x="5462588" y="1414748"/>
              <a:ext cx="176454"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认证</a:t>
              </a:r>
            </a:p>
          </p:txBody>
        </p:sp>
        <p:sp>
          <p:nvSpPr>
            <p:cNvPr id="64" name="TextBox 64"/>
            <p:cNvSpPr txBox="1"/>
            <p:nvPr/>
          </p:nvSpPr>
          <p:spPr>
            <a:xfrm>
              <a:off x="6148388" y="1417987"/>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完成企微好友认证</a:t>
              </a:r>
            </a:p>
          </p:txBody>
        </p:sp>
        <p:sp>
          <p:nvSpPr>
            <p:cNvPr id="65" name="TextBox 65"/>
            <p:cNvSpPr txBox="1"/>
            <p:nvPr/>
          </p:nvSpPr>
          <p:spPr>
            <a:xfrm>
              <a:off x="8256530" y="1413034"/>
              <a:ext cx="60440"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Arial"/>
                  <a:ea typeface="Arial"/>
                  <a:cs typeface="Arial"/>
                </a:rPr>
                <a:t>2</a:t>
              </a:r>
            </a:p>
          </p:txBody>
        </p:sp>
        <p:grpSp>
          <p:nvGrpSpPr>
            <p:cNvPr id="69" name="Group 69"/>
            <p:cNvGrpSpPr/>
            <p:nvPr/>
          </p:nvGrpSpPr>
          <p:grpSpPr>
            <a:xfrm>
              <a:off x="5329238" y="1609725"/>
              <a:ext cx="87982" cy="67804"/>
              <a:chOff x="5329238" y="1609725"/>
              <a:chExt cx="87982" cy="67804"/>
            </a:xfrm>
          </p:grpSpPr>
          <p:sp>
            <p:nvSpPr>
              <p:cNvPr id="66" name="Freeform 66"/>
              <p:cNvSpPr/>
              <p:nvPr/>
            </p:nvSpPr>
            <p:spPr>
              <a:xfrm>
                <a:off x="5329238" y="1609725"/>
                <a:ext cx="67804" cy="67804"/>
              </a:xfrm>
              <a:custGeom>
                <a:avLst/>
                <a:gdLst/>
                <a:ahLst/>
                <a:cxnLst/>
                <a:rect l="l" t="t" r="r" b="b"/>
                <a:pathLst>
                  <a:path w="67804" h="67804">
                    <a:moveTo>
                      <a:pt x="0" y="9525"/>
                    </a:moveTo>
                    <a:lnTo>
                      <a:pt x="0" y="29394"/>
                    </a:lnTo>
                    <a:cubicBezTo>
                      <a:pt x="1" y="31920"/>
                      <a:pt x="1004" y="34342"/>
                      <a:pt x="2791" y="36128"/>
                    </a:cubicBezTo>
                    <a:lnTo>
                      <a:pt x="29985" y="63322"/>
                    </a:lnTo>
                    <a:cubicBezTo>
                      <a:pt x="34467" y="67804"/>
                      <a:pt x="41733" y="67804"/>
                      <a:pt x="46215" y="63322"/>
                    </a:cubicBezTo>
                    <a:lnTo>
                      <a:pt x="63322" y="46215"/>
                    </a:lnTo>
                    <a:cubicBezTo>
                      <a:pt x="67804" y="41733"/>
                      <a:pt x="67804" y="34467"/>
                      <a:pt x="63322" y="29985"/>
                    </a:cubicBezTo>
                    <a:lnTo>
                      <a:pt x="36128" y="2791"/>
                    </a:lnTo>
                    <a:cubicBezTo>
                      <a:pt x="34342" y="1004"/>
                      <a:pt x="31920" y="1"/>
                      <a:pt x="29394" y="0"/>
                    </a:cubicBezTo>
                    <a:lnTo>
                      <a:pt x="9525" y="0"/>
                    </a:lnTo>
                    <a:cubicBezTo>
                      <a:pt x="4264" y="0"/>
                      <a:pt x="0" y="4264"/>
                      <a:pt x="0" y="9525"/>
                    </a:cubicBezTo>
                  </a:path>
                </a:pathLst>
              </a:custGeom>
              <a:noFill/>
              <a:ln w="9525">
                <a:solidFill>
                  <a:srgbClr val="C83210"/>
                </a:solidFill>
              </a:ln>
            </p:spPr>
          </p:sp>
          <p:sp>
            <p:nvSpPr>
              <p:cNvPr id="67" name="Freeform 67"/>
              <p:cNvSpPr/>
              <p:nvPr/>
            </p:nvSpPr>
            <p:spPr>
              <a:xfrm>
                <a:off x="5386388" y="1609725"/>
                <a:ext cx="30832" cy="61912"/>
              </a:xfrm>
              <a:custGeom>
                <a:avLst/>
                <a:gdLst/>
                <a:ahLst/>
                <a:cxnLst/>
                <a:rect l="l" t="t" r="r" b="b"/>
                <a:pathLst>
                  <a:path w="30832" h="61912">
                    <a:moveTo>
                      <a:pt x="14288" y="61912"/>
                    </a:moveTo>
                    <a:lnTo>
                      <a:pt x="21869" y="54331"/>
                    </a:lnTo>
                    <a:cubicBezTo>
                      <a:pt x="30832" y="45366"/>
                      <a:pt x="30832" y="30834"/>
                      <a:pt x="21869" y="21869"/>
                    </a:cubicBezTo>
                    <a:lnTo>
                      <a:pt x="0" y="0"/>
                    </a:lnTo>
                  </a:path>
                </a:pathLst>
              </a:custGeom>
              <a:noFill/>
              <a:ln w="9525">
                <a:solidFill>
                  <a:srgbClr val="C83210"/>
                </a:solidFill>
              </a:ln>
            </p:spPr>
          </p:sp>
          <p:sp>
            <p:nvSpPr>
              <p:cNvPr id="68" name="Freeform 68"/>
              <p:cNvSpPr/>
              <p:nvPr/>
            </p:nvSpPr>
            <p:spPr>
              <a:xfrm>
                <a:off x="5348240" y="1628775"/>
                <a:ext cx="9525" cy="9525"/>
              </a:xfrm>
              <a:custGeom>
                <a:avLst/>
                <a:gdLst/>
                <a:ahLst/>
                <a:cxnLst/>
                <a:rect l="l" t="t" r="r" b="b"/>
                <a:pathLst>
                  <a:path w="9525" h="9525">
                    <a:moveTo>
                      <a:pt x="48" y="0"/>
                    </a:moveTo>
                    <a:lnTo>
                      <a:pt x="0" y="0"/>
                    </a:lnTo>
                  </a:path>
                </a:pathLst>
              </a:custGeom>
              <a:noFill/>
              <a:ln w="9525">
                <a:solidFill>
                  <a:srgbClr val="C83210"/>
                </a:solidFill>
              </a:ln>
            </p:spPr>
          </p:sp>
        </p:grpSp>
        <p:sp>
          <p:nvSpPr>
            <p:cNvPr id="70" name="TextBox 70"/>
            <p:cNvSpPr txBox="1"/>
            <p:nvPr/>
          </p:nvSpPr>
          <p:spPr>
            <a:xfrm>
              <a:off x="5462588" y="1614773"/>
              <a:ext cx="259918"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补标签</a:t>
              </a:r>
            </a:p>
          </p:txBody>
        </p:sp>
        <p:sp>
          <p:nvSpPr>
            <p:cNvPr id="71" name="TextBox 71"/>
            <p:cNvSpPr txBox="1"/>
            <p:nvPr/>
          </p:nvSpPr>
          <p:spPr>
            <a:xfrm>
              <a:off x="6148388" y="1618012"/>
              <a:ext cx="102456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完善客户标签，丰富客户画像</a:t>
              </a:r>
            </a:p>
          </p:txBody>
        </p:sp>
        <p:sp>
          <p:nvSpPr>
            <p:cNvPr id="72" name="TextBox 72"/>
            <p:cNvSpPr txBox="1"/>
            <p:nvPr/>
          </p:nvSpPr>
          <p:spPr>
            <a:xfrm>
              <a:off x="8256530" y="1613059"/>
              <a:ext cx="60440"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Arial"/>
                  <a:ea typeface="Arial"/>
                  <a:cs typeface="Arial"/>
                </a:rPr>
                <a:t>8</a:t>
              </a:r>
            </a:p>
          </p:txBody>
        </p:sp>
        <p:grpSp>
          <p:nvGrpSpPr>
            <p:cNvPr id="75" name="Group 75"/>
            <p:cNvGrpSpPr/>
            <p:nvPr/>
          </p:nvGrpSpPr>
          <p:grpSpPr>
            <a:xfrm>
              <a:off x="5327709" y="1795462"/>
              <a:ext cx="87254" cy="87253"/>
              <a:chOff x="5327709" y="1795462"/>
              <a:chExt cx="87254" cy="87253"/>
            </a:xfrm>
          </p:grpSpPr>
          <p:sp>
            <p:nvSpPr>
              <p:cNvPr id="73" name="Freeform 73"/>
              <p:cNvSpPr/>
              <p:nvPr/>
            </p:nvSpPr>
            <p:spPr>
              <a:xfrm>
                <a:off x="5362575" y="1795462"/>
                <a:ext cx="52388" cy="52388"/>
              </a:xfrm>
              <a:custGeom>
                <a:avLst/>
                <a:gdLst/>
                <a:ahLst/>
                <a:cxnLst/>
                <a:rect l="l" t="t" r="r" b="b"/>
                <a:pathLst>
                  <a:path w="52388" h="52388">
                    <a:moveTo>
                      <a:pt x="0" y="52388"/>
                    </a:moveTo>
                    <a:lnTo>
                      <a:pt x="52388" y="0"/>
                    </a:lnTo>
                  </a:path>
                </a:pathLst>
              </a:custGeom>
              <a:noFill/>
              <a:ln w="9525">
                <a:solidFill>
                  <a:srgbClr val="C83210"/>
                </a:solidFill>
              </a:ln>
            </p:spPr>
          </p:sp>
          <p:sp>
            <p:nvSpPr>
              <p:cNvPr id="74" name="Freeform 74"/>
              <p:cNvSpPr/>
              <p:nvPr/>
            </p:nvSpPr>
            <p:spPr>
              <a:xfrm>
                <a:off x="5327709" y="1795462"/>
                <a:ext cx="87253" cy="87253"/>
              </a:xfrm>
              <a:custGeom>
                <a:avLst/>
                <a:gdLst/>
                <a:ahLst/>
                <a:cxnLst/>
                <a:rect l="l" t="t" r="r" b="b"/>
                <a:pathLst>
                  <a:path w="87253" h="87253">
                    <a:moveTo>
                      <a:pt x="87253" y="0"/>
                    </a:moveTo>
                    <a:lnTo>
                      <a:pt x="56297" y="85725"/>
                    </a:lnTo>
                    <a:cubicBezTo>
                      <a:pt x="55870" y="86656"/>
                      <a:pt x="54940" y="87253"/>
                      <a:pt x="53916" y="87253"/>
                    </a:cubicBezTo>
                    <a:cubicBezTo>
                      <a:pt x="52891" y="87253"/>
                      <a:pt x="51961" y="86656"/>
                      <a:pt x="51534" y="85725"/>
                    </a:cubicBezTo>
                    <a:lnTo>
                      <a:pt x="34866" y="52388"/>
                    </a:lnTo>
                    <a:lnTo>
                      <a:pt x="1528" y="35719"/>
                    </a:lnTo>
                    <a:cubicBezTo>
                      <a:pt x="597" y="35292"/>
                      <a:pt x="0" y="34362"/>
                      <a:pt x="0" y="33338"/>
                    </a:cubicBezTo>
                    <a:cubicBezTo>
                      <a:pt x="0" y="32313"/>
                      <a:pt x="597" y="31383"/>
                      <a:pt x="1528" y="30956"/>
                    </a:cubicBezTo>
                    <a:lnTo>
                      <a:pt x="87253" y="0"/>
                    </a:lnTo>
                  </a:path>
                </a:pathLst>
              </a:custGeom>
              <a:noFill/>
              <a:ln w="9525">
                <a:solidFill>
                  <a:srgbClr val="C83210"/>
                </a:solidFill>
              </a:ln>
            </p:spPr>
          </p:sp>
        </p:grpSp>
        <p:sp>
          <p:nvSpPr>
            <p:cNvPr id="76" name="TextBox 76"/>
            <p:cNvSpPr txBox="1"/>
            <p:nvPr/>
          </p:nvSpPr>
          <p:spPr>
            <a:xfrm>
              <a:off x="5462588" y="1814798"/>
              <a:ext cx="343383"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有效触达</a:t>
              </a:r>
            </a:p>
          </p:txBody>
        </p:sp>
        <p:sp>
          <p:nvSpPr>
            <p:cNvPr id="77" name="TextBox 77"/>
            <p:cNvSpPr txBox="1"/>
            <p:nvPr/>
          </p:nvSpPr>
          <p:spPr>
            <a:xfrm>
              <a:off x="6148388" y="1818037"/>
              <a:ext cx="107531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发送有价值内容，1v1或群发　</a:t>
              </a:r>
            </a:p>
          </p:txBody>
        </p:sp>
        <p:sp>
          <p:nvSpPr>
            <p:cNvPr id="78" name="TextBox 78"/>
            <p:cNvSpPr txBox="1"/>
            <p:nvPr/>
          </p:nvSpPr>
          <p:spPr>
            <a:xfrm>
              <a:off x="8231072" y="1813084"/>
              <a:ext cx="111356"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Arial"/>
                  <a:ea typeface="Arial"/>
                  <a:cs typeface="Arial"/>
                </a:rPr>
                <a:t>10</a:t>
              </a:r>
            </a:p>
          </p:txBody>
        </p:sp>
        <p:sp>
          <p:nvSpPr>
            <p:cNvPr id="79" name="Freeform 79"/>
            <p:cNvSpPr/>
            <p:nvPr/>
          </p:nvSpPr>
          <p:spPr>
            <a:xfrm>
              <a:off x="5324361" y="1996559"/>
              <a:ext cx="95079" cy="84282"/>
            </a:xfrm>
            <a:custGeom>
              <a:avLst/>
              <a:gdLst/>
              <a:ahLst/>
              <a:cxnLst/>
              <a:rect l="l" t="t" r="r" b="b"/>
              <a:pathLst>
                <a:path w="95079" h="84282">
                  <a:moveTo>
                    <a:pt x="4877" y="79891"/>
                  </a:moveTo>
                  <a:lnTo>
                    <a:pt x="11068" y="61317"/>
                  </a:lnTo>
                  <a:cubicBezTo>
                    <a:pt x="0" y="44948"/>
                    <a:pt x="4277" y="23827"/>
                    <a:pt x="21069" y="11911"/>
                  </a:cubicBezTo>
                  <a:cubicBezTo>
                    <a:pt x="37862" y="0"/>
                    <a:pt x="61979" y="976"/>
                    <a:pt x="77481" y="14197"/>
                  </a:cubicBezTo>
                  <a:cubicBezTo>
                    <a:pt x="92983" y="27422"/>
                    <a:pt x="95079" y="48801"/>
                    <a:pt x="82382" y="64208"/>
                  </a:cubicBezTo>
                  <a:cubicBezTo>
                    <a:pt x="69685" y="79615"/>
                    <a:pt x="46115" y="84282"/>
                    <a:pt x="27261" y="75128"/>
                  </a:cubicBezTo>
                  <a:lnTo>
                    <a:pt x="4877" y="79891"/>
                  </a:lnTo>
                </a:path>
              </a:pathLst>
            </a:custGeom>
            <a:noFill/>
            <a:ln w="9525">
              <a:solidFill>
                <a:srgbClr val="C83210"/>
              </a:solidFill>
            </a:ln>
          </p:spPr>
        </p:sp>
        <p:sp>
          <p:nvSpPr>
            <p:cNvPr id="80" name="TextBox 80"/>
            <p:cNvSpPr txBox="1"/>
            <p:nvPr/>
          </p:nvSpPr>
          <p:spPr>
            <a:xfrm>
              <a:off x="5462588" y="2014823"/>
              <a:ext cx="343383"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互动回复</a:t>
              </a:r>
            </a:p>
          </p:txBody>
        </p:sp>
        <p:sp>
          <p:nvSpPr>
            <p:cNvPr id="81" name="TextBox 81"/>
            <p:cNvSpPr txBox="1"/>
            <p:nvPr/>
          </p:nvSpPr>
          <p:spPr>
            <a:xfrm>
              <a:off x="6148388" y="2018062"/>
              <a:ext cx="94648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回复客户咨询，提升互动率</a:t>
              </a:r>
            </a:p>
          </p:txBody>
        </p:sp>
        <p:sp>
          <p:nvSpPr>
            <p:cNvPr id="82" name="TextBox 82"/>
            <p:cNvSpPr txBox="1"/>
            <p:nvPr/>
          </p:nvSpPr>
          <p:spPr>
            <a:xfrm>
              <a:off x="8231072" y="2013109"/>
              <a:ext cx="111356"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Arial"/>
                  <a:ea typeface="Arial"/>
                  <a:cs typeface="Arial"/>
                </a:rPr>
                <a:t>10</a:t>
              </a:r>
            </a:p>
          </p:txBody>
        </p:sp>
        <p:grpSp>
          <p:nvGrpSpPr>
            <p:cNvPr id="88" name="Group 88"/>
            <p:cNvGrpSpPr/>
            <p:nvPr/>
          </p:nvGrpSpPr>
          <p:grpSpPr>
            <a:xfrm>
              <a:off x="5334000" y="2195512"/>
              <a:ext cx="76200" cy="85726"/>
              <a:chOff x="5334000" y="2195512"/>
              <a:chExt cx="76200" cy="85726"/>
            </a:xfrm>
          </p:grpSpPr>
          <p:sp>
            <p:nvSpPr>
              <p:cNvPr id="83" name="Freeform 83"/>
              <p:cNvSpPr/>
              <p:nvPr/>
            </p:nvSpPr>
            <p:spPr>
              <a:xfrm>
                <a:off x="5334000" y="2205038"/>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C83210"/>
                </a:solidFill>
              </a:ln>
            </p:spPr>
          </p:sp>
          <p:sp>
            <p:nvSpPr>
              <p:cNvPr id="84" name="Freeform 84"/>
              <p:cNvSpPr/>
              <p:nvPr/>
            </p:nvSpPr>
            <p:spPr>
              <a:xfrm>
                <a:off x="5391150" y="2195512"/>
                <a:ext cx="9525" cy="19050"/>
              </a:xfrm>
              <a:custGeom>
                <a:avLst/>
                <a:gdLst/>
                <a:ahLst/>
                <a:cxnLst/>
                <a:rect l="l" t="t" r="r" b="b"/>
                <a:pathLst>
                  <a:path w="9525" h="19050">
                    <a:moveTo>
                      <a:pt x="0" y="0"/>
                    </a:moveTo>
                    <a:lnTo>
                      <a:pt x="0" y="19050"/>
                    </a:lnTo>
                  </a:path>
                </a:pathLst>
              </a:custGeom>
              <a:noFill/>
              <a:ln w="9525">
                <a:solidFill>
                  <a:srgbClr val="C83210"/>
                </a:solidFill>
              </a:ln>
            </p:spPr>
          </p:sp>
          <p:sp>
            <p:nvSpPr>
              <p:cNvPr id="85" name="Freeform 85"/>
              <p:cNvSpPr/>
              <p:nvPr/>
            </p:nvSpPr>
            <p:spPr>
              <a:xfrm>
                <a:off x="5353050" y="2195512"/>
                <a:ext cx="9525" cy="19050"/>
              </a:xfrm>
              <a:custGeom>
                <a:avLst/>
                <a:gdLst/>
                <a:ahLst/>
                <a:cxnLst/>
                <a:rect l="l" t="t" r="r" b="b"/>
                <a:pathLst>
                  <a:path w="9525" h="19050">
                    <a:moveTo>
                      <a:pt x="0" y="0"/>
                    </a:moveTo>
                    <a:lnTo>
                      <a:pt x="0" y="19050"/>
                    </a:lnTo>
                  </a:path>
                </a:pathLst>
              </a:custGeom>
              <a:noFill/>
              <a:ln w="9525">
                <a:solidFill>
                  <a:srgbClr val="C83210"/>
                </a:solidFill>
              </a:ln>
            </p:spPr>
          </p:sp>
          <p:sp>
            <p:nvSpPr>
              <p:cNvPr id="86" name="Freeform 86"/>
              <p:cNvSpPr/>
              <p:nvPr/>
            </p:nvSpPr>
            <p:spPr>
              <a:xfrm>
                <a:off x="5334000" y="2233612"/>
                <a:ext cx="76200" cy="9525"/>
              </a:xfrm>
              <a:custGeom>
                <a:avLst/>
                <a:gdLst/>
                <a:ahLst/>
                <a:cxnLst/>
                <a:rect l="l" t="t" r="r" b="b"/>
                <a:pathLst>
                  <a:path w="76200" h="9525">
                    <a:moveTo>
                      <a:pt x="0" y="0"/>
                    </a:moveTo>
                    <a:lnTo>
                      <a:pt x="76200" y="0"/>
                    </a:lnTo>
                  </a:path>
                </a:pathLst>
              </a:custGeom>
              <a:noFill/>
              <a:ln w="9525">
                <a:solidFill>
                  <a:srgbClr val="C83210"/>
                </a:solidFill>
              </a:ln>
            </p:spPr>
          </p:sp>
          <p:sp>
            <p:nvSpPr>
              <p:cNvPr id="87" name="Freeform 87"/>
              <p:cNvSpPr/>
              <p:nvPr/>
            </p:nvSpPr>
            <p:spPr>
              <a:xfrm>
                <a:off x="5353050" y="2252662"/>
                <a:ext cx="9525" cy="9525"/>
              </a:xfrm>
              <a:custGeom>
                <a:avLst/>
                <a:gdLst/>
                <a:ahLst/>
                <a:cxnLst/>
                <a:rect l="l" t="t" r="r" b="b"/>
                <a:pathLst>
                  <a:path w="9525" h="9525">
                    <a:moveTo>
                      <a:pt x="0" y="0"/>
                    </a:moveTo>
                    <a:lnTo>
                      <a:pt x="9525" y="0"/>
                    </a:lnTo>
                    <a:lnTo>
                      <a:pt x="9525" y="9525"/>
                    </a:lnTo>
                    <a:lnTo>
                      <a:pt x="0" y="9525"/>
                    </a:lnTo>
                    <a:lnTo>
                      <a:pt x="0" y="0"/>
                    </a:lnTo>
                  </a:path>
                </a:pathLst>
              </a:custGeom>
              <a:noFill/>
              <a:ln w="9525">
                <a:solidFill>
                  <a:srgbClr val="C83210"/>
                </a:solidFill>
              </a:ln>
            </p:spPr>
          </p:sp>
        </p:grpSp>
        <p:sp>
          <p:nvSpPr>
            <p:cNvPr id="89" name="TextBox 89"/>
            <p:cNvSpPr txBox="1"/>
            <p:nvPr/>
          </p:nvSpPr>
          <p:spPr>
            <a:xfrm>
              <a:off x="5462588" y="2214848"/>
              <a:ext cx="343383"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活动邀约</a:t>
              </a:r>
            </a:p>
          </p:txBody>
        </p:sp>
        <p:sp>
          <p:nvSpPr>
            <p:cNvPr id="90" name="TextBox 90"/>
            <p:cNvSpPr txBox="1"/>
            <p:nvPr/>
          </p:nvSpPr>
          <p:spPr>
            <a:xfrm>
              <a:off x="6148388" y="2218087"/>
              <a:ext cx="98942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邀约客户参与线上/线下活动</a:t>
              </a:r>
            </a:p>
          </p:txBody>
        </p:sp>
        <p:sp>
          <p:nvSpPr>
            <p:cNvPr id="91" name="TextBox 91"/>
            <p:cNvSpPr txBox="1"/>
            <p:nvPr/>
          </p:nvSpPr>
          <p:spPr>
            <a:xfrm>
              <a:off x="8256530" y="2213134"/>
              <a:ext cx="60440"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Arial"/>
                  <a:ea typeface="Arial"/>
                  <a:cs typeface="Arial"/>
                </a:rPr>
                <a:t>3</a:t>
              </a:r>
            </a:p>
          </p:txBody>
        </p:sp>
        <p:sp>
          <p:nvSpPr>
            <p:cNvPr id="92" name="Freeform 92"/>
            <p:cNvSpPr/>
            <p:nvPr/>
          </p:nvSpPr>
          <p:spPr>
            <a:xfrm>
              <a:off x="5324508" y="2390785"/>
              <a:ext cx="95117" cy="90454"/>
            </a:xfrm>
            <a:custGeom>
              <a:avLst/>
              <a:gdLst/>
              <a:ahLst/>
              <a:cxnLst/>
              <a:rect l="l" t="t" r="r" b="b"/>
              <a:pathLst>
                <a:path w="95117" h="90454">
                  <a:moveTo>
                    <a:pt x="47592" y="75000"/>
                  </a:moveTo>
                  <a:lnTo>
                    <a:pt x="18198" y="90454"/>
                  </a:lnTo>
                  <a:lnTo>
                    <a:pt x="23812" y="57721"/>
                  </a:lnTo>
                  <a:lnTo>
                    <a:pt x="0" y="34542"/>
                  </a:lnTo>
                  <a:lnTo>
                    <a:pt x="32861" y="29780"/>
                  </a:lnTo>
                  <a:lnTo>
                    <a:pt x="47558" y="0"/>
                  </a:lnTo>
                  <a:lnTo>
                    <a:pt x="62255" y="29780"/>
                  </a:lnTo>
                  <a:lnTo>
                    <a:pt x="95117" y="34542"/>
                  </a:lnTo>
                  <a:lnTo>
                    <a:pt x="71304" y="57721"/>
                  </a:lnTo>
                  <a:lnTo>
                    <a:pt x="76919" y="90454"/>
                  </a:lnTo>
                  <a:lnTo>
                    <a:pt x="47592" y="75000"/>
                  </a:lnTo>
                </a:path>
              </a:pathLst>
            </a:custGeom>
            <a:noFill/>
            <a:ln w="9525">
              <a:solidFill>
                <a:srgbClr val="C83210"/>
              </a:solidFill>
            </a:ln>
          </p:spPr>
        </p:sp>
        <p:sp>
          <p:nvSpPr>
            <p:cNvPr id="93" name="TextBox 93"/>
            <p:cNvSpPr txBox="1"/>
            <p:nvPr/>
          </p:nvSpPr>
          <p:spPr>
            <a:xfrm>
              <a:off x="5462588" y="2414873"/>
              <a:ext cx="426847"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高意向跟进</a:t>
              </a:r>
            </a:p>
          </p:txBody>
        </p:sp>
        <p:sp>
          <p:nvSpPr>
            <p:cNvPr id="94" name="TextBox 94"/>
            <p:cNvSpPr txBox="1"/>
            <p:nvPr/>
          </p:nvSpPr>
          <p:spPr>
            <a:xfrm>
              <a:off x="6148388" y="2418112"/>
              <a:ext cx="102456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对高意向客户深度沟通与推进</a:t>
              </a:r>
            </a:p>
          </p:txBody>
        </p:sp>
        <p:sp>
          <p:nvSpPr>
            <p:cNvPr id="95" name="TextBox 95"/>
            <p:cNvSpPr txBox="1"/>
            <p:nvPr/>
          </p:nvSpPr>
          <p:spPr>
            <a:xfrm>
              <a:off x="8256530" y="2413159"/>
              <a:ext cx="60440"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Arial"/>
                  <a:ea typeface="Arial"/>
                  <a:cs typeface="Arial"/>
                </a:rPr>
                <a:t>1</a:t>
              </a:r>
            </a:p>
          </p:txBody>
        </p:sp>
        <p:sp>
          <p:nvSpPr>
            <p:cNvPr id="96" name="Line 96"/>
            <p:cNvSpPr/>
            <p:nvPr/>
          </p:nvSpPr>
          <p:spPr>
            <a:xfrm>
              <a:off x="6096000" y="914400"/>
              <a:ext cx="9525" cy="1628775"/>
            </a:xfrm>
            <a:custGeom>
              <a:avLst/>
              <a:gdLst/>
              <a:ahLst/>
              <a:cxnLst/>
              <a:rect l="l" t="t" r="r" b="b"/>
              <a:pathLst>
                <a:path w="9525" h="1628775">
                  <a:moveTo>
                    <a:pt x="0" y="0"/>
                  </a:moveTo>
                  <a:lnTo>
                    <a:pt x="0" y="1628775"/>
                  </a:lnTo>
                </a:path>
              </a:pathLst>
            </a:custGeom>
            <a:noFill/>
            <a:ln w="9525">
              <a:solidFill>
                <a:srgbClr val="F1C7CC"/>
              </a:solidFill>
            </a:ln>
          </p:spPr>
        </p:sp>
        <p:sp>
          <p:nvSpPr>
            <p:cNvPr id="97" name="Line 97"/>
            <p:cNvSpPr/>
            <p:nvPr/>
          </p:nvSpPr>
          <p:spPr>
            <a:xfrm>
              <a:off x="8001000" y="914400"/>
              <a:ext cx="9525" cy="1628775"/>
            </a:xfrm>
            <a:custGeom>
              <a:avLst/>
              <a:gdLst/>
              <a:ahLst/>
              <a:cxnLst/>
              <a:rect l="l" t="t" r="r" b="b"/>
              <a:pathLst>
                <a:path w="9525" h="1628775">
                  <a:moveTo>
                    <a:pt x="0" y="0"/>
                  </a:moveTo>
                  <a:lnTo>
                    <a:pt x="0" y="1628775"/>
                  </a:lnTo>
                </a:path>
              </a:pathLst>
            </a:custGeom>
            <a:noFill/>
            <a:ln w="9525">
              <a:solidFill>
                <a:srgbClr val="F1C7CC"/>
              </a:solidFill>
            </a:ln>
          </p:spPr>
        </p:sp>
        <p:sp>
          <p:nvSpPr>
            <p:cNvPr id="98" name="Line 98"/>
            <p:cNvSpPr/>
            <p:nvPr/>
          </p:nvSpPr>
          <p:spPr>
            <a:xfrm>
              <a:off x="5257800" y="2543175"/>
              <a:ext cx="3314700" cy="9525"/>
            </a:xfrm>
            <a:custGeom>
              <a:avLst/>
              <a:gdLst/>
              <a:ahLst/>
              <a:cxnLst/>
              <a:rect l="l" t="t" r="r" b="b"/>
              <a:pathLst>
                <a:path w="3314700" h="9525">
                  <a:moveTo>
                    <a:pt x="0" y="0"/>
                  </a:moveTo>
                  <a:lnTo>
                    <a:pt x="3314700" y="0"/>
                  </a:lnTo>
                </a:path>
              </a:pathLst>
            </a:custGeom>
            <a:noFill/>
            <a:ln w="9525">
              <a:solidFill>
                <a:srgbClr val="F1C7CC"/>
              </a:solidFill>
            </a:ln>
          </p:spPr>
        </p:sp>
      </p:grpSp>
      <p:grpSp>
        <p:nvGrpSpPr>
          <p:cNvPr id="191" name="task-board"/>
          <p:cNvGrpSpPr/>
          <p:nvPr/>
        </p:nvGrpSpPr>
        <p:grpSpPr>
          <a:xfrm>
            <a:off x="8686800" y="676275"/>
            <a:ext cx="3371850" cy="1876425"/>
            <a:chOff x="8686800" y="676275"/>
            <a:chExt cx="3371850" cy="1876425"/>
          </a:xfrm>
        </p:grpSpPr>
        <p:sp>
          <p:nvSpPr>
            <p:cNvPr id="100" name="Ellipse 100"/>
            <p:cNvSpPr/>
            <p:nvPr/>
          </p:nvSpPr>
          <p:spPr>
            <a:xfrm>
              <a:off x="8696325" y="676275"/>
              <a:ext cx="171450" cy="171450"/>
            </a:xfrm>
            <a:prstGeom prst="ellipse">
              <a:avLst/>
            </a:prstGeom>
            <a:solidFill>
              <a:srgbClr val="C83210"/>
            </a:solidFill>
            <a:ln>
              <a:noFill/>
            </a:ln>
          </p:spPr>
        </p:sp>
        <p:sp>
          <p:nvSpPr>
            <p:cNvPr id="101" name="TextBox 101"/>
            <p:cNvSpPr txBox="1"/>
            <p:nvPr/>
          </p:nvSpPr>
          <p:spPr>
            <a:xfrm>
              <a:off x="8749209" y="71913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102" name="TextBox 102"/>
            <p:cNvSpPr txBox="1"/>
            <p:nvPr/>
          </p:nvSpPr>
          <p:spPr>
            <a:xfrm>
              <a:off x="8929497" y="704374"/>
              <a:ext cx="120171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任务看板</a:t>
              </a:r>
              <a:r>
                <a:rPr lang="zh-CN" sz="750" b="1" dirty="0">
                  <a:solidFill>
                    <a:srgbClr val="808080"/>
                  </a:solidFill>
                  <a:latin typeface="+mn-lt"/>
                  <a:ea typeface="+mn-ea"/>
                  <a:cs typeface="+mn-cs"/>
                </a:rPr>
                <a:t>（个人/团队）</a:t>
              </a:r>
            </a:p>
          </p:txBody>
        </p:sp>
        <p:sp>
          <p:nvSpPr>
            <p:cNvPr id="103" name="Rectangle 103"/>
            <p:cNvSpPr/>
            <p:nvPr/>
          </p:nvSpPr>
          <p:spPr>
            <a:xfrm>
              <a:off x="8686800" y="914400"/>
              <a:ext cx="3371850" cy="228600"/>
            </a:xfrm>
            <a:prstGeom prst="rect">
              <a:avLst/>
            </a:prstGeom>
            <a:solidFill>
              <a:srgbClr val="C83210"/>
            </a:solidFill>
            <a:ln>
              <a:noFill/>
            </a:ln>
          </p:spPr>
        </p:sp>
        <p:sp>
          <p:nvSpPr>
            <p:cNvPr id="104" name="TextBox 104"/>
            <p:cNvSpPr txBox="1"/>
            <p:nvPr/>
          </p:nvSpPr>
          <p:spPr>
            <a:xfrm>
              <a:off x="9014981" y="9979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任务</a:t>
              </a:r>
            </a:p>
          </p:txBody>
        </p:sp>
        <p:sp>
          <p:nvSpPr>
            <p:cNvPr id="105" name="TextBox 105"/>
            <p:cNvSpPr txBox="1"/>
            <p:nvPr/>
          </p:nvSpPr>
          <p:spPr>
            <a:xfrm>
              <a:off x="9629127" y="997982"/>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待处理</a:t>
              </a:r>
            </a:p>
          </p:txBody>
        </p:sp>
        <p:sp>
          <p:nvSpPr>
            <p:cNvPr id="106" name="TextBox 106"/>
            <p:cNvSpPr txBox="1"/>
            <p:nvPr/>
          </p:nvSpPr>
          <p:spPr>
            <a:xfrm>
              <a:off x="10105377" y="997982"/>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进行中</a:t>
              </a:r>
            </a:p>
          </p:txBody>
        </p:sp>
        <p:sp>
          <p:nvSpPr>
            <p:cNvPr id="107" name="TextBox 107"/>
            <p:cNvSpPr txBox="1"/>
            <p:nvPr/>
          </p:nvSpPr>
          <p:spPr>
            <a:xfrm>
              <a:off x="10581627" y="997982"/>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已完成</a:t>
              </a:r>
            </a:p>
          </p:txBody>
        </p:sp>
        <p:sp>
          <p:nvSpPr>
            <p:cNvPr id="108" name="TextBox 108"/>
            <p:cNvSpPr txBox="1"/>
            <p:nvPr/>
          </p:nvSpPr>
          <p:spPr>
            <a:xfrm>
              <a:off x="11081906" y="9979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延期</a:t>
              </a:r>
            </a:p>
          </p:txBody>
        </p:sp>
        <p:sp>
          <p:nvSpPr>
            <p:cNvPr id="109" name="TextBox 109"/>
            <p:cNvSpPr txBox="1"/>
            <p:nvPr/>
          </p:nvSpPr>
          <p:spPr>
            <a:xfrm>
              <a:off x="11591277" y="997982"/>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优先级</a:t>
              </a:r>
            </a:p>
          </p:txBody>
        </p:sp>
        <p:sp>
          <p:nvSpPr>
            <p:cNvPr id="110" name="Rectangle 110"/>
            <p:cNvSpPr/>
            <p:nvPr/>
          </p:nvSpPr>
          <p:spPr>
            <a:xfrm>
              <a:off x="8686800" y="1343025"/>
              <a:ext cx="3371850" cy="200025"/>
            </a:xfrm>
            <a:prstGeom prst="rect">
              <a:avLst/>
            </a:prstGeom>
            <a:solidFill>
              <a:srgbClr val="FDEFF1"/>
            </a:solidFill>
            <a:ln>
              <a:noFill/>
            </a:ln>
          </p:spPr>
        </p:sp>
        <p:sp>
          <p:nvSpPr>
            <p:cNvPr id="111" name="Rectangle 111"/>
            <p:cNvSpPr/>
            <p:nvPr/>
          </p:nvSpPr>
          <p:spPr>
            <a:xfrm>
              <a:off x="8686800" y="1743075"/>
              <a:ext cx="3371850" cy="200025"/>
            </a:xfrm>
            <a:prstGeom prst="rect">
              <a:avLst/>
            </a:prstGeom>
            <a:solidFill>
              <a:srgbClr val="FDEFF1"/>
            </a:solidFill>
            <a:ln>
              <a:noFill/>
            </a:ln>
          </p:spPr>
        </p:sp>
        <p:sp>
          <p:nvSpPr>
            <p:cNvPr id="112" name="Rectangle 112"/>
            <p:cNvSpPr/>
            <p:nvPr/>
          </p:nvSpPr>
          <p:spPr>
            <a:xfrm>
              <a:off x="8686800" y="2143125"/>
              <a:ext cx="3371850" cy="200025"/>
            </a:xfrm>
            <a:prstGeom prst="rect">
              <a:avLst/>
            </a:prstGeom>
            <a:solidFill>
              <a:srgbClr val="FDEFF1"/>
            </a:solidFill>
            <a:ln>
              <a:noFill/>
            </a:ln>
          </p:spPr>
        </p:sp>
        <p:grpSp>
          <p:nvGrpSpPr>
            <p:cNvPr id="117" name="Group 117"/>
            <p:cNvGrpSpPr/>
            <p:nvPr/>
          </p:nvGrpSpPr>
          <p:grpSpPr>
            <a:xfrm>
              <a:off x="8772525" y="1195388"/>
              <a:ext cx="76200" cy="90487"/>
              <a:chOff x="8772525" y="1195388"/>
              <a:chExt cx="76200" cy="90487"/>
            </a:xfrm>
          </p:grpSpPr>
          <p:sp>
            <p:nvSpPr>
              <p:cNvPr id="113" name="Freeform 113"/>
              <p:cNvSpPr/>
              <p:nvPr/>
            </p:nvSpPr>
            <p:spPr>
              <a:xfrm>
                <a:off x="8782050" y="11953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C83210"/>
                </a:solidFill>
              </a:ln>
            </p:spPr>
          </p:sp>
          <p:sp>
            <p:nvSpPr>
              <p:cNvPr id="114" name="Freeform 114"/>
              <p:cNvSpPr/>
              <p:nvPr/>
            </p:nvSpPr>
            <p:spPr>
              <a:xfrm>
                <a:off x="8820150" y="1271588"/>
                <a:ext cx="28575" cy="9525"/>
              </a:xfrm>
              <a:custGeom>
                <a:avLst/>
                <a:gdLst/>
                <a:ahLst/>
                <a:cxnLst/>
                <a:rect l="l" t="t" r="r" b="b"/>
                <a:pathLst>
                  <a:path w="28575" h="9525">
                    <a:moveTo>
                      <a:pt x="0" y="0"/>
                    </a:moveTo>
                    <a:lnTo>
                      <a:pt x="28575" y="0"/>
                    </a:lnTo>
                  </a:path>
                </a:pathLst>
              </a:custGeom>
              <a:noFill/>
              <a:ln w="9525">
                <a:solidFill>
                  <a:srgbClr val="C83210"/>
                </a:solidFill>
              </a:ln>
            </p:spPr>
          </p:sp>
          <p:sp>
            <p:nvSpPr>
              <p:cNvPr id="115" name="Freeform 115"/>
              <p:cNvSpPr/>
              <p:nvPr/>
            </p:nvSpPr>
            <p:spPr>
              <a:xfrm>
                <a:off x="8834438" y="1257300"/>
                <a:ext cx="9525" cy="28575"/>
              </a:xfrm>
              <a:custGeom>
                <a:avLst/>
                <a:gdLst/>
                <a:ahLst/>
                <a:cxnLst/>
                <a:rect l="l" t="t" r="r" b="b"/>
                <a:pathLst>
                  <a:path w="9525" h="28575">
                    <a:moveTo>
                      <a:pt x="0" y="0"/>
                    </a:moveTo>
                    <a:lnTo>
                      <a:pt x="0" y="28575"/>
                    </a:lnTo>
                  </a:path>
                </a:pathLst>
              </a:custGeom>
              <a:noFill/>
              <a:ln w="9525">
                <a:solidFill>
                  <a:srgbClr val="C83210"/>
                </a:solidFill>
              </a:ln>
            </p:spPr>
          </p:sp>
          <p:sp>
            <p:nvSpPr>
              <p:cNvPr id="116" name="Freeform 116"/>
              <p:cNvSpPr/>
              <p:nvPr/>
            </p:nvSpPr>
            <p:spPr>
              <a:xfrm>
                <a:off x="8772525" y="1252538"/>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C83210"/>
                </a:solidFill>
              </a:ln>
            </p:spPr>
          </p:sp>
        </p:grpSp>
        <p:sp>
          <p:nvSpPr>
            <p:cNvPr id="118" name="TextBox 118"/>
            <p:cNvSpPr txBox="1"/>
            <p:nvPr/>
          </p:nvSpPr>
          <p:spPr>
            <a:xfrm>
              <a:off x="8891588" y="1214723"/>
              <a:ext cx="176454"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添加</a:t>
              </a:r>
            </a:p>
          </p:txBody>
        </p:sp>
        <p:sp>
          <p:nvSpPr>
            <p:cNvPr id="119" name="TextBox 119"/>
            <p:cNvSpPr txBox="1"/>
            <p:nvPr/>
          </p:nvSpPr>
          <p:spPr>
            <a:xfrm>
              <a:off x="9710442" y="1212294"/>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12</a:t>
              </a:r>
            </a:p>
          </p:txBody>
        </p:sp>
        <p:sp>
          <p:nvSpPr>
            <p:cNvPr id="120" name="TextBox 120"/>
            <p:cNvSpPr txBox="1"/>
            <p:nvPr/>
          </p:nvSpPr>
          <p:spPr>
            <a:xfrm>
              <a:off x="10210652" y="121229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a:t>
              </a:r>
            </a:p>
          </p:txBody>
        </p:sp>
        <p:sp>
          <p:nvSpPr>
            <p:cNvPr id="121" name="TextBox 121"/>
            <p:cNvSpPr txBox="1"/>
            <p:nvPr/>
          </p:nvSpPr>
          <p:spPr>
            <a:xfrm>
              <a:off x="10662942" y="1212294"/>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25</a:t>
              </a:r>
            </a:p>
          </p:txBody>
        </p:sp>
        <p:sp>
          <p:nvSpPr>
            <p:cNvPr id="122" name="TextBox 122"/>
            <p:cNvSpPr txBox="1"/>
            <p:nvPr/>
          </p:nvSpPr>
          <p:spPr>
            <a:xfrm>
              <a:off x="11144102" y="121229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2</a:t>
              </a:r>
            </a:p>
          </p:txBody>
        </p:sp>
        <p:sp>
          <p:nvSpPr>
            <p:cNvPr id="123" name="Rectangle 123"/>
            <p:cNvSpPr/>
            <p:nvPr/>
          </p:nvSpPr>
          <p:spPr>
            <a:xfrm>
              <a:off x="11610975" y="1181100"/>
              <a:ext cx="228600" cy="123825"/>
            </a:xfrm>
            <a:prstGeom prst="roundRect">
              <a:avLst>
                <a:gd name="adj" fmla="val 23077"/>
              </a:avLst>
            </a:prstGeom>
            <a:solidFill>
              <a:srgbClr val="C83210"/>
            </a:solidFill>
            <a:ln>
              <a:noFill/>
            </a:ln>
          </p:spPr>
        </p:sp>
        <p:sp>
          <p:nvSpPr>
            <p:cNvPr id="124" name="TextBox 124"/>
            <p:cNvSpPr txBox="1"/>
            <p:nvPr/>
          </p:nvSpPr>
          <p:spPr>
            <a:xfrm>
              <a:off x="11680126" y="1211580"/>
              <a:ext cx="9029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a:t>
              </a:r>
            </a:p>
          </p:txBody>
        </p:sp>
        <p:grpSp>
          <p:nvGrpSpPr>
            <p:cNvPr id="127" name="Group 127"/>
            <p:cNvGrpSpPr/>
            <p:nvPr/>
          </p:nvGrpSpPr>
          <p:grpSpPr>
            <a:xfrm>
              <a:off x="8758238" y="1395412"/>
              <a:ext cx="85725" cy="85725"/>
              <a:chOff x="8758238" y="1395412"/>
              <a:chExt cx="85725" cy="85725"/>
            </a:xfrm>
          </p:grpSpPr>
          <p:sp>
            <p:nvSpPr>
              <p:cNvPr id="125" name="Freeform 125"/>
              <p:cNvSpPr/>
              <p:nvPr/>
            </p:nvSpPr>
            <p:spPr>
              <a:xfrm>
                <a:off x="8758238" y="1395412"/>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C83210"/>
                </a:solidFill>
              </a:ln>
            </p:spPr>
          </p:sp>
          <p:sp>
            <p:nvSpPr>
              <p:cNvPr id="126" name="Freeform 126"/>
              <p:cNvSpPr/>
              <p:nvPr/>
            </p:nvSpPr>
            <p:spPr>
              <a:xfrm>
                <a:off x="8786812" y="1428750"/>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128" name="TextBox 128"/>
            <p:cNvSpPr txBox="1"/>
            <p:nvPr/>
          </p:nvSpPr>
          <p:spPr>
            <a:xfrm>
              <a:off x="8891588" y="1414748"/>
              <a:ext cx="176454"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认证</a:t>
              </a:r>
            </a:p>
          </p:txBody>
        </p:sp>
        <p:sp>
          <p:nvSpPr>
            <p:cNvPr id="129" name="TextBox 129"/>
            <p:cNvSpPr txBox="1"/>
            <p:nvPr/>
          </p:nvSpPr>
          <p:spPr>
            <a:xfrm>
              <a:off x="9734402" y="1412319"/>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8</a:t>
              </a:r>
            </a:p>
          </p:txBody>
        </p:sp>
        <p:sp>
          <p:nvSpPr>
            <p:cNvPr id="130" name="TextBox 130"/>
            <p:cNvSpPr txBox="1"/>
            <p:nvPr/>
          </p:nvSpPr>
          <p:spPr>
            <a:xfrm>
              <a:off x="10210652" y="1412319"/>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2</a:t>
              </a:r>
            </a:p>
          </p:txBody>
        </p:sp>
        <p:sp>
          <p:nvSpPr>
            <p:cNvPr id="131" name="TextBox 131"/>
            <p:cNvSpPr txBox="1"/>
            <p:nvPr/>
          </p:nvSpPr>
          <p:spPr>
            <a:xfrm>
              <a:off x="10662942" y="1412319"/>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10</a:t>
              </a:r>
            </a:p>
          </p:txBody>
        </p:sp>
        <p:sp>
          <p:nvSpPr>
            <p:cNvPr id="132" name="TextBox 132"/>
            <p:cNvSpPr txBox="1"/>
            <p:nvPr/>
          </p:nvSpPr>
          <p:spPr>
            <a:xfrm>
              <a:off x="11144102" y="1412319"/>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a:t>
              </a:r>
            </a:p>
          </p:txBody>
        </p:sp>
        <p:sp>
          <p:nvSpPr>
            <p:cNvPr id="133" name="Rectangle 133"/>
            <p:cNvSpPr/>
            <p:nvPr/>
          </p:nvSpPr>
          <p:spPr>
            <a:xfrm>
              <a:off x="11610975" y="1381125"/>
              <a:ext cx="228600" cy="123825"/>
            </a:xfrm>
            <a:prstGeom prst="roundRect">
              <a:avLst>
                <a:gd name="adj" fmla="val 23077"/>
              </a:avLst>
            </a:prstGeom>
            <a:solidFill>
              <a:srgbClr val="C83210"/>
            </a:solidFill>
            <a:ln>
              <a:noFill/>
            </a:ln>
          </p:spPr>
        </p:sp>
        <p:sp>
          <p:nvSpPr>
            <p:cNvPr id="134" name="TextBox 134"/>
            <p:cNvSpPr txBox="1"/>
            <p:nvPr/>
          </p:nvSpPr>
          <p:spPr>
            <a:xfrm>
              <a:off x="11680126" y="1411605"/>
              <a:ext cx="9029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a:t>
              </a:r>
            </a:p>
          </p:txBody>
        </p:sp>
        <p:grpSp>
          <p:nvGrpSpPr>
            <p:cNvPr id="138" name="Group 138"/>
            <p:cNvGrpSpPr/>
            <p:nvPr/>
          </p:nvGrpSpPr>
          <p:grpSpPr>
            <a:xfrm>
              <a:off x="8758238" y="1609725"/>
              <a:ext cx="87982" cy="67804"/>
              <a:chOff x="8758238" y="1609725"/>
              <a:chExt cx="87982" cy="67804"/>
            </a:xfrm>
          </p:grpSpPr>
          <p:sp>
            <p:nvSpPr>
              <p:cNvPr id="135" name="Freeform 135"/>
              <p:cNvSpPr/>
              <p:nvPr/>
            </p:nvSpPr>
            <p:spPr>
              <a:xfrm>
                <a:off x="8758238" y="1609725"/>
                <a:ext cx="67804" cy="67804"/>
              </a:xfrm>
              <a:custGeom>
                <a:avLst/>
                <a:gdLst/>
                <a:ahLst/>
                <a:cxnLst/>
                <a:rect l="l" t="t" r="r" b="b"/>
                <a:pathLst>
                  <a:path w="67804" h="67804">
                    <a:moveTo>
                      <a:pt x="0" y="9525"/>
                    </a:moveTo>
                    <a:lnTo>
                      <a:pt x="0" y="29394"/>
                    </a:lnTo>
                    <a:cubicBezTo>
                      <a:pt x="1" y="31920"/>
                      <a:pt x="1004" y="34342"/>
                      <a:pt x="2791" y="36128"/>
                    </a:cubicBezTo>
                    <a:lnTo>
                      <a:pt x="29985" y="63322"/>
                    </a:lnTo>
                    <a:cubicBezTo>
                      <a:pt x="34467" y="67804"/>
                      <a:pt x="41733" y="67804"/>
                      <a:pt x="46215" y="63322"/>
                    </a:cubicBezTo>
                    <a:lnTo>
                      <a:pt x="63322" y="46215"/>
                    </a:lnTo>
                    <a:cubicBezTo>
                      <a:pt x="67804" y="41733"/>
                      <a:pt x="67804" y="34467"/>
                      <a:pt x="63322" y="29985"/>
                    </a:cubicBezTo>
                    <a:lnTo>
                      <a:pt x="36128" y="2791"/>
                    </a:lnTo>
                    <a:cubicBezTo>
                      <a:pt x="34342" y="1004"/>
                      <a:pt x="31920" y="1"/>
                      <a:pt x="29394" y="0"/>
                    </a:cubicBezTo>
                    <a:lnTo>
                      <a:pt x="9525" y="0"/>
                    </a:lnTo>
                    <a:cubicBezTo>
                      <a:pt x="4264" y="0"/>
                      <a:pt x="0" y="4264"/>
                      <a:pt x="0" y="9525"/>
                    </a:cubicBezTo>
                  </a:path>
                </a:pathLst>
              </a:custGeom>
              <a:noFill/>
              <a:ln w="9525">
                <a:solidFill>
                  <a:srgbClr val="C83210"/>
                </a:solidFill>
              </a:ln>
            </p:spPr>
          </p:sp>
          <p:sp>
            <p:nvSpPr>
              <p:cNvPr id="136" name="Freeform 136"/>
              <p:cNvSpPr/>
              <p:nvPr/>
            </p:nvSpPr>
            <p:spPr>
              <a:xfrm>
                <a:off x="8815388" y="1609725"/>
                <a:ext cx="30832" cy="61912"/>
              </a:xfrm>
              <a:custGeom>
                <a:avLst/>
                <a:gdLst/>
                <a:ahLst/>
                <a:cxnLst/>
                <a:rect l="l" t="t" r="r" b="b"/>
                <a:pathLst>
                  <a:path w="30832" h="61912">
                    <a:moveTo>
                      <a:pt x="14288" y="61912"/>
                    </a:moveTo>
                    <a:lnTo>
                      <a:pt x="21869" y="54331"/>
                    </a:lnTo>
                    <a:cubicBezTo>
                      <a:pt x="30832" y="45366"/>
                      <a:pt x="30832" y="30834"/>
                      <a:pt x="21869" y="21869"/>
                    </a:cubicBezTo>
                    <a:lnTo>
                      <a:pt x="0" y="0"/>
                    </a:lnTo>
                  </a:path>
                </a:pathLst>
              </a:custGeom>
              <a:noFill/>
              <a:ln w="9525">
                <a:solidFill>
                  <a:srgbClr val="C83210"/>
                </a:solidFill>
              </a:ln>
            </p:spPr>
          </p:sp>
          <p:sp>
            <p:nvSpPr>
              <p:cNvPr id="137" name="Freeform 137"/>
              <p:cNvSpPr/>
              <p:nvPr/>
            </p:nvSpPr>
            <p:spPr>
              <a:xfrm>
                <a:off x="8777240" y="1628775"/>
                <a:ext cx="9525" cy="9525"/>
              </a:xfrm>
              <a:custGeom>
                <a:avLst/>
                <a:gdLst/>
                <a:ahLst/>
                <a:cxnLst/>
                <a:rect l="l" t="t" r="r" b="b"/>
                <a:pathLst>
                  <a:path w="9525" h="9525">
                    <a:moveTo>
                      <a:pt x="48" y="0"/>
                    </a:moveTo>
                    <a:lnTo>
                      <a:pt x="0" y="0"/>
                    </a:lnTo>
                  </a:path>
                </a:pathLst>
              </a:custGeom>
              <a:noFill/>
              <a:ln w="9525">
                <a:solidFill>
                  <a:srgbClr val="C83210"/>
                </a:solidFill>
              </a:ln>
            </p:spPr>
          </p:sp>
        </p:grpSp>
        <p:sp>
          <p:nvSpPr>
            <p:cNvPr id="139" name="TextBox 139"/>
            <p:cNvSpPr txBox="1"/>
            <p:nvPr/>
          </p:nvSpPr>
          <p:spPr>
            <a:xfrm>
              <a:off x="8891588" y="1614773"/>
              <a:ext cx="259918"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补标签</a:t>
              </a:r>
            </a:p>
          </p:txBody>
        </p:sp>
        <p:sp>
          <p:nvSpPr>
            <p:cNvPr id="140" name="TextBox 140"/>
            <p:cNvSpPr txBox="1"/>
            <p:nvPr/>
          </p:nvSpPr>
          <p:spPr>
            <a:xfrm>
              <a:off x="9710442" y="1612344"/>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20</a:t>
              </a:r>
            </a:p>
          </p:txBody>
        </p:sp>
        <p:sp>
          <p:nvSpPr>
            <p:cNvPr id="141" name="TextBox 141"/>
            <p:cNvSpPr txBox="1"/>
            <p:nvPr/>
          </p:nvSpPr>
          <p:spPr>
            <a:xfrm>
              <a:off x="10210652" y="161234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5</a:t>
              </a:r>
            </a:p>
          </p:txBody>
        </p:sp>
        <p:sp>
          <p:nvSpPr>
            <p:cNvPr id="142" name="TextBox 142"/>
            <p:cNvSpPr txBox="1"/>
            <p:nvPr/>
          </p:nvSpPr>
          <p:spPr>
            <a:xfrm>
              <a:off x="10662942" y="1612344"/>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18</a:t>
              </a:r>
            </a:p>
          </p:txBody>
        </p:sp>
        <p:sp>
          <p:nvSpPr>
            <p:cNvPr id="143" name="TextBox 143"/>
            <p:cNvSpPr txBox="1"/>
            <p:nvPr/>
          </p:nvSpPr>
          <p:spPr>
            <a:xfrm>
              <a:off x="11144102" y="161234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4</a:t>
              </a:r>
            </a:p>
          </p:txBody>
        </p:sp>
        <p:sp>
          <p:nvSpPr>
            <p:cNvPr id="144" name="Rectangle 144"/>
            <p:cNvSpPr/>
            <p:nvPr/>
          </p:nvSpPr>
          <p:spPr>
            <a:xfrm>
              <a:off x="11610975" y="1581150"/>
              <a:ext cx="228600" cy="123825"/>
            </a:xfrm>
            <a:prstGeom prst="roundRect">
              <a:avLst>
                <a:gd name="adj" fmla="val 23077"/>
              </a:avLst>
            </a:prstGeom>
            <a:solidFill>
              <a:srgbClr val="FBE3E6"/>
            </a:solidFill>
            <a:ln>
              <a:noFill/>
            </a:ln>
          </p:spPr>
        </p:sp>
        <p:sp>
          <p:nvSpPr>
            <p:cNvPr id="145" name="TextBox 145"/>
            <p:cNvSpPr txBox="1"/>
            <p:nvPr/>
          </p:nvSpPr>
          <p:spPr>
            <a:xfrm>
              <a:off x="11680126" y="1611630"/>
              <a:ext cx="90297"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中</a:t>
              </a:r>
            </a:p>
          </p:txBody>
        </p:sp>
        <p:grpSp>
          <p:nvGrpSpPr>
            <p:cNvPr id="148" name="Group 148"/>
            <p:cNvGrpSpPr/>
            <p:nvPr/>
          </p:nvGrpSpPr>
          <p:grpSpPr>
            <a:xfrm>
              <a:off x="8756709" y="1795462"/>
              <a:ext cx="87254" cy="87253"/>
              <a:chOff x="8756709" y="1795462"/>
              <a:chExt cx="87254" cy="87253"/>
            </a:xfrm>
          </p:grpSpPr>
          <p:sp>
            <p:nvSpPr>
              <p:cNvPr id="146" name="Freeform 146"/>
              <p:cNvSpPr/>
              <p:nvPr/>
            </p:nvSpPr>
            <p:spPr>
              <a:xfrm>
                <a:off x="8791575" y="1795462"/>
                <a:ext cx="52388" cy="52388"/>
              </a:xfrm>
              <a:custGeom>
                <a:avLst/>
                <a:gdLst/>
                <a:ahLst/>
                <a:cxnLst/>
                <a:rect l="l" t="t" r="r" b="b"/>
                <a:pathLst>
                  <a:path w="52388" h="52388">
                    <a:moveTo>
                      <a:pt x="0" y="52388"/>
                    </a:moveTo>
                    <a:lnTo>
                      <a:pt x="52388" y="0"/>
                    </a:lnTo>
                  </a:path>
                </a:pathLst>
              </a:custGeom>
              <a:noFill/>
              <a:ln w="9525">
                <a:solidFill>
                  <a:srgbClr val="C83210"/>
                </a:solidFill>
              </a:ln>
            </p:spPr>
          </p:sp>
          <p:sp>
            <p:nvSpPr>
              <p:cNvPr id="147" name="Freeform 147"/>
              <p:cNvSpPr/>
              <p:nvPr/>
            </p:nvSpPr>
            <p:spPr>
              <a:xfrm>
                <a:off x="8756709" y="1795462"/>
                <a:ext cx="87253" cy="87253"/>
              </a:xfrm>
              <a:custGeom>
                <a:avLst/>
                <a:gdLst/>
                <a:ahLst/>
                <a:cxnLst/>
                <a:rect l="l" t="t" r="r" b="b"/>
                <a:pathLst>
                  <a:path w="87253" h="87253">
                    <a:moveTo>
                      <a:pt x="87253" y="0"/>
                    </a:moveTo>
                    <a:lnTo>
                      <a:pt x="56297" y="85725"/>
                    </a:lnTo>
                    <a:cubicBezTo>
                      <a:pt x="55870" y="86656"/>
                      <a:pt x="54940" y="87253"/>
                      <a:pt x="53916" y="87253"/>
                    </a:cubicBezTo>
                    <a:cubicBezTo>
                      <a:pt x="52891" y="87253"/>
                      <a:pt x="51961" y="86656"/>
                      <a:pt x="51534" y="85725"/>
                    </a:cubicBezTo>
                    <a:lnTo>
                      <a:pt x="34866" y="52388"/>
                    </a:lnTo>
                    <a:lnTo>
                      <a:pt x="1528" y="35719"/>
                    </a:lnTo>
                    <a:cubicBezTo>
                      <a:pt x="597" y="35292"/>
                      <a:pt x="0" y="34362"/>
                      <a:pt x="0" y="33338"/>
                    </a:cubicBezTo>
                    <a:cubicBezTo>
                      <a:pt x="0" y="32313"/>
                      <a:pt x="597" y="31383"/>
                      <a:pt x="1528" y="30956"/>
                    </a:cubicBezTo>
                    <a:lnTo>
                      <a:pt x="87253" y="0"/>
                    </a:lnTo>
                  </a:path>
                </a:pathLst>
              </a:custGeom>
              <a:noFill/>
              <a:ln w="9525">
                <a:solidFill>
                  <a:srgbClr val="C83210"/>
                </a:solidFill>
              </a:ln>
            </p:spPr>
          </p:sp>
        </p:grpSp>
        <p:sp>
          <p:nvSpPr>
            <p:cNvPr id="149" name="TextBox 149"/>
            <p:cNvSpPr txBox="1"/>
            <p:nvPr/>
          </p:nvSpPr>
          <p:spPr>
            <a:xfrm>
              <a:off x="8891588" y="1814798"/>
              <a:ext cx="343383"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有效触达</a:t>
              </a:r>
            </a:p>
          </p:txBody>
        </p:sp>
        <p:sp>
          <p:nvSpPr>
            <p:cNvPr id="150" name="TextBox 150"/>
            <p:cNvSpPr txBox="1"/>
            <p:nvPr/>
          </p:nvSpPr>
          <p:spPr>
            <a:xfrm>
              <a:off x="9710442" y="1812369"/>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15</a:t>
              </a:r>
            </a:p>
          </p:txBody>
        </p:sp>
        <p:sp>
          <p:nvSpPr>
            <p:cNvPr id="151" name="TextBox 151"/>
            <p:cNvSpPr txBox="1"/>
            <p:nvPr/>
          </p:nvSpPr>
          <p:spPr>
            <a:xfrm>
              <a:off x="10210652" y="1812369"/>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4</a:t>
              </a:r>
            </a:p>
          </p:txBody>
        </p:sp>
        <p:sp>
          <p:nvSpPr>
            <p:cNvPr id="152" name="TextBox 152"/>
            <p:cNvSpPr txBox="1"/>
            <p:nvPr/>
          </p:nvSpPr>
          <p:spPr>
            <a:xfrm>
              <a:off x="10662942" y="1812369"/>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30</a:t>
              </a:r>
            </a:p>
          </p:txBody>
        </p:sp>
        <p:sp>
          <p:nvSpPr>
            <p:cNvPr id="153" name="TextBox 153"/>
            <p:cNvSpPr txBox="1"/>
            <p:nvPr/>
          </p:nvSpPr>
          <p:spPr>
            <a:xfrm>
              <a:off x="11144102" y="1812369"/>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a:t>
              </a:r>
            </a:p>
          </p:txBody>
        </p:sp>
        <p:sp>
          <p:nvSpPr>
            <p:cNvPr id="154" name="Rectangle 154"/>
            <p:cNvSpPr/>
            <p:nvPr/>
          </p:nvSpPr>
          <p:spPr>
            <a:xfrm>
              <a:off x="11610975" y="1781175"/>
              <a:ext cx="228600" cy="123825"/>
            </a:xfrm>
            <a:prstGeom prst="roundRect">
              <a:avLst>
                <a:gd name="adj" fmla="val 23077"/>
              </a:avLst>
            </a:prstGeom>
            <a:solidFill>
              <a:srgbClr val="C83210"/>
            </a:solidFill>
            <a:ln>
              <a:noFill/>
            </a:ln>
          </p:spPr>
        </p:sp>
        <p:sp>
          <p:nvSpPr>
            <p:cNvPr id="155" name="TextBox 155"/>
            <p:cNvSpPr txBox="1"/>
            <p:nvPr/>
          </p:nvSpPr>
          <p:spPr>
            <a:xfrm>
              <a:off x="11680126" y="1811655"/>
              <a:ext cx="9029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a:t>
              </a:r>
            </a:p>
          </p:txBody>
        </p:sp>
        <p:sp>
          <p:nvSpPr>
            <p:cNvPr id="156" name="Freeform 156"/>
            <p:cNvSpPr/>
            <p:nvPr/>
          </p:nvSpPr>
          <p:spPr>
            <a:xfrm>
              <a:off x="8753361" y="1996559"/>
              <a:ext cx="95079" cy="84282"/>
            </a:xfrm>
            <a:custGeom>
              <a:avLst/>
              <a:gdLst/>
              <a:ahLst/>
              <a:cxnLst/>
              <a:rect l="l" t="t" r="r" b="b"/>
              <a:pathLst>
                <a:path w="95079" h="84282">
                  <a:moveTo>
                    <a:pt x="4877" y="79891"/>
                  </a:moveTo>
                  <a:lnTo>
                    <a:pt x="11068" y="61317"/>
                  </a:lnTo>
                  <a:cubicBezTo>
                    <a:pt x="0" y="44948"/>
                    <a:pt x="4277" y="23827"/>
                    <a:pt x="21069" y="11911"/>
                  </a:cubicBezTo>
                  <a:cubicBezTo>
                    <a:pt x="37862" y="0"/>
                    <a:pt x="61979" y="976"/>
                    <a:pt x="77481" y="14197"/>
                  </a:cubicBezTo>
                  <a:cubicBezTo>
                    <a:pt x="92983" y="27422"/>
                    <a:pt x="95079" y="48801"/>
                    <a:pt x="82382" y="64208"/>
                  </a:cubicBezTo>
                  <a:cubicBezTo>
                    <a:pt x="69685" y="79615"/>
                    <a:pt x="46115" y="84282"/>
                    <a:pt x="27261" y="75128"/>
                  </a:cubicBezTo>
                  <a:lnTo>
                    <a:pt x="4877" y="79891"/>
                  </a:lnTo>
                </a:path>
              </a:pathLst>
            </a:custGeom>
            <a:noFill/>
            <a:ln w="9525">
              <a:solidFill>
                <a:srgbClr val="C83210"/>
              </a:solidFill>
            </a:ln>
          </p:spPr>
        </p:sp>
        <p:sp>
          <p:nvSpPr>
            <p:cNvPr id="157" name="TextBox 157"/>
            <p:cNvSpPr txBox="1"/>
            <p:nvPr/>
          </p:nvSpPr>
          <p:spPr>
            <a:xfrm>
              <a:off x="8891588" y="2014823"/>
              <a:ext cx="343383"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互动回复</a:t>
              </a:r>
            </a:p>
          </p:txBody>
        </p:sp>
        <p:sp>
          <p:nvSpPr>
            <p:cNvPr id="158" name="TextBox 158"/>
            <p:cNvSpPr txBox="1"/>
            <p:nvPr/>
          </p:nvSpPr>
          <p:spPr>
            <a:xfrm>
              <a:off x="9734402" y="201239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6</a:t>
              </a:r>
            </a:p>
          </p:txBody>
        </p:sp>
        <p:sp>
          <p:nvSpPr>
            <p:cNvPr id="159" name="TextBox 159"/>
            <p:cNvSpPr txBox="1"/>
            <p:nvPr/>
          </p:nvSpPr>
          <p:spPr>
            <a:xfrm>
              <a:off x="10210652" y="201239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a:t>
              </a:r>
            </a:p>
          </p:txBody>
        </p:sp>
        <p:sp>
          <p:nvSpPr>
            <p:cNvPr id="160" name="TextBox 160"/>
            <p:cNvSpPr txBox="1"/>
            <p:nvPr/>
          </p:nvSpPr>
          <p:spPr>
            <a:xfrm>
              <a:off x="10662942" y="2012394"/>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28</a:t>
              </a:r>
            </a:p>
          </p:txBody>
        </p:sp>
        <p:sp>
          <p:nvSpPr>
            <p:cNvPr id="161" name="TextBox 161"/>
            <p:cNvSpPr txBox="1"/>
            <p:nvPr/>
          </p:nvSpPr>
          <p:spPr>
            <a:xfrm>
              <a:off x="11144102" y="201239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a:t>
              </a:r>
            </a:p>
          </p:txBody>
        </p:sp>
        <p:sp>
          <p:nvSpPr>
            <p:cNvPr id="162" name="Rectangle 162"/>
            <p:cNvSpPr/>
            <p:nvPr/>
          </p:nvSpPr>
          <p:spPr>
            <a:xfrm>
              <a:off x="11610975" y="1981200"/>
              <a:ext cx="228600" cy="123825"/>
            </a:xfrm>
            <a:prstGeom prst="roundRect">
              <a:avLst>
                <a:gd name="adj" fmla="val 23077"/>
              </a:avLst>
            </a:prstGeom>
            <a:solidFill>
              <a:srgbClr val="FBE3E6"/>
            </a:solidFill>
            <a:ln>
              <a:noFill/>
            </a:ln>
          </p:spPr>
        </p:sp>
        <p:sp>
          <p:nvSpPr>
            <p:cNvPr id="163" name="TextBox 163"/>
            <p:cNvSpPr txBox="1"/>
            <p:nvPr/>
          </p:nvSpPr>
          <p:spPr>
            <a:xfrm>
              <a:off x="11680126" y="2011680"/>
              <a:ext cx="90297"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中</a:t>
              </a:r>
            </a:p>
          </p:txBody>
        </p:sp>
        <p:grpSp>
          <p:nvGrpSpPr>
            <p:cNvPr id="169" name="Group 169"/>
            <p:cNvGrpSpPr/>
            <p:nvPr/>
          </p:nvGrpSpPr>
          <p:grpSpPr>
            <a:xfrm>
              <a:off x="8763000" y="2195512"/>
              <a:ext cx="76200" cy="85726"/>
              <a:chOff x="8763000" y="2195512"/>
              <a:chExt cx="76200" cy="85726"/>
            </a:xfrm>
          </p:grpSpPr>
          <p:sp>
            <p:nvSpPr>
              <p:cNvPr id="164" name="Freeform 164"/>
              <p:cNvSpPr/>
              <p:nvPr/>
            </p:nvSpPr>
            <p:spPr>
              <a:xfrm>
                <a:off x="8763000" y="2205038"/>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C83210"/>
                </a:solidFill>
              </a:ln>
            </p:spPr>
          </p:sp>
          <p:sp>
            <p:nvSpPr>
              <p:cNvPr id="165" name="Freeform 165"/>
              <p:cNvSpPr/>
              <p:nvPr/>
            </p:nvSpPr>
            <p:spPr>
              <a:xfrm>
                <a:off x="8820150" y="2195512"/>
                <a:ext cx="9525" cy="19050"/>
              </a:xfrm>
              <a:custGeom>
                <a:avLst/>
                <a:gdLst/>
                <a:ahLst/>
                <a:cxnLst/>
                <a:rect l="l" t="t" r="r" b="b"/>
                <a:pathLst>
                  <a:path w="9525" h="19050">
                    <a:moveTo>
                      <a:pt x="0" y="0"/>
                    </a:moveTo>
                    <a:lnTo>
                      <a:pt x="0" y="19050"/>
                    </a:lnTo>
                  </a:path>
                </a:pathLst>
              </a:custGeom>
              <a:noFill/>
              <a:ln w="9525">
                <a:solidFill>
                  <a:srgbClr val="C83210"/>
                </a:solidFill>
              </a:ln>
            </p:spPr>
          </p:sp>
          <p:sp>
            <p:nvSpPr>
              <p:cNvPr id="166" name="Freeform 166"/>
              <p:cNvSpPr/>
              <p:nvPr/>
            </p:nvSpPr>
            <p:spPr>
              <a:xfrm>
                <a:off x="8782050" y="2195512"/>
                <a:ext cx="9525" cy="19050"/>
              </a:xfrm>
              <a:custGeom>
                <a:avLst/>
                <a:gdLst/>
                <a:ahLst/>
                <a:cxnLst/>
                <a:rect l="l" t="t" r="r" b="b"/>
                <a:pathLst>
                  <a:path w="9525" h="19050">
                    <a:moveTo>
                      <a:pt x="0" y="0"/>
                    </a:moveTo>
                    <a:lnTo>
                      <a:pt x="0" y="19050"/>
                    </a:lnTo>
                  </a:path>
                </a:pathLst>
              </a:custGeom>
              <a:noFill/>
              <a:ln w="9525">
                <a:solidFill>
                  <a:srgbClr val="C83210"/>
                </a:solidFill>
              </a:ln>
            </p:spPr>
          </p:sp>
          <p:sp>
            <p:nvSpPr>
              <p:cNvPr id="167" name="Freeform 167"/>
              <p:cNvSpPr/>
              <p:nvPr/>
            </p:nvSpPr>
            <p:spPr>
              <a:xfrm>
                <a:off x="8763000" y="2233612"/>
                <a:ext cx="76200" cy="9525"/>
              </a:xfrm>
              <a:custGeom>
                <a:avLst/>
                <a:gdLst/>
                <a:ahLst/>
                <a:cxnLst/>
                <a:rect l="l" t="t" r="r" b="b"/>
                <a:pathLst>
                  <a:path w="76200" h="9525">
                    <a:moveTo>
                      <a:pt x="0" y="0"/>
                    </a:moveTo>
                    <a:lnTo>
                      <a:pt x="76200" y="0"/>
                    </a:lnTo>
                  </a:path>
                </a:pathLst>
              </a:custGeom>
              <a:noFill/>
              <a:ln w="9525">
                <a:solidFill>
                  <a:srgbClr val="C83210"/>
                </a:solidFill>
              </a:ln>
            </p:spPr>
          </p:sp>
          <p:sp>
            <p:nvSpPr>
              <p:cNvPr id="168" name="Freeform 168"/>
              <p:cNvSpPr/>
              <p:nvPr/>
            </p:nvSpPr>
            <p:spPr>
              <a:xfrm>
                <a:off x="8782050" y="2252662"/>
                <a:ext cx="9525" cy="9525"/>
              </a:xfrm>
              <a:custGeom>
                <a:avLst/>
                <a:gdLst/>
                <a:ahLst/>
                <a:cxnLst/>
                <a:rect l="l" t="t" r="r" b="b"/>
                <a:pathLst>
                  <a:path w="9525" h="9525">
                    <a:moveTo>
                      <a:pt x="0" y="0"/>
                    </a:moveTo>
                    <a:lnTo>
                      <a:pt x="9525" y="0"/>
                    </a:lnTo>
                    <a:lnTo>
                      <a:pt x="9525" y="9525"/>
                    </a:lnTo>
                    <a:lnTo>
                      <a:pt x="0" y="9525"/>
                    </a:lnTo>
                    <a:lnTo>
                      <a:pt x="0" y="0"/>
                    </a:lnTo>
                  </a:path>
                </a:pathLst>
              </a:custGeom>
              <a:noFill/>
              <a:ln w="9525">
                <a:solidFill>
                  <a:srgbClr val="C83210"/>
                </a:solidFill>
              </a:ln>
            </p:spPr>
          </p:sp>
        </p:grpSp>
        <p:sp>
          <p:nvSpPr>
            <p:cNvPr id="170" name="TextBox 170"/>
            <p:cNvSpPr txBox="1"/>
            <p:nvPr/>
          </p:nvSpPr>
          <p:spPr>
            <a:xfrm>
              <a:off x="8891588" y="2214848"/>
              <a:ext cx="343383"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活动邀约</a:t>
              </a:r>
            </a:p>
          </p:txBody>
        </p:sp>
        <p:sp>
          <p:nvSpPr>
            <p:cNvPr id="171" name="TextBox 171"/>
            <p:cNvSpPr txBox="1"/>
            <p:nvPr/>
          </p:nvSpPr>
          <p:spPr>
            <a:xfrm>
              <a:off x="9710442" y="2212419"/>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10</a:t>
              </a:r>
            </a:p>
          </p:txBody>
        </p:sp>
        <p:sp>
          <p:nvSpPr>
            <p:cNvPr id="172" name="TextBox 172"/>
            <p:cNvSpPr txBox="1"/>
            <p:nvPr/>
          </p:nvSpPr>
          <p:spPr>
            <a:xfrm>
              <a:off x="10210652" y="2212419"/>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2</a:t>
              </a:r>
            </a:p>
          </p:txBody>
        </p:sp>
        <p:sp>
          <p:nvSpPr>
            <p:cNvPr id="173" name="TextBox 173"/>
            <p:cNvSpPr txBox="1"/>
            <p:nvPr/>
          </p:nvSpPr>
          <p:spPr>
            <a:xfrm>
              <a:off x="10662942" y="2212419"/>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12</a:t>
              </a:r>
            </a:p>
          </p:txBody>
        </p:sp>
        <p:sp>
          <p:nvSpPr>
            <p:cNvPr id="174" name="TextBox 174"/>
            <p:cNvSpPr txBox="1"/>
            <p:nvPr/>
          </p:nvSpPr>
          <p:spPr>
            <a:xfrm>
              <a:off x="11144102" y="2212419"/>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2</a:t>
              </a:r>
            </a:p>
          </p:txBody>
        </p:sp>
        <p:sp>
          <p:nvSpPr>
            <p:cNvPr id="175" name="Rectangle 175"/>
            <p:cNvSpPr/>
            <p:nvPr/>
          </p:nvSpPr>
          <p:spPr>
            <a:xfrm>
              <a:off x="11610975" y="2181225"/>
              <a:ext cx="228600" cy="123825"/>
            </a:xfrm>
            <a:prstGeom prst="roundRect">
              <a:avLst>
                <a:gd name="adj" fmla="val 23077"/>
              </a:avLst>
            </a:prstGeom>
            <a:solidFill>
              <a:srgbClr val="FBE3E6"/>
            </a:solidFill>
            <a:ln>
              <a:noFill/>
            </a:ln>
          </p:spPr>
        </p:sp>
        <p:sp>
          <p:nvSpPr>
            <p:cNvPr id="176" name="TextBox 176"/>
            <p:cNvSpPr txBox="1"/>
            <p:nvPr/>
          </p:nvSpPr>
          <p:spPr>
            <a:xfrm>
              <a:off x="11680126" y="2211705"/>
              <a:ext cx="90297"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mn-lt"/>
                  <a:ea typeface="+mn-ea"/>
                  <a:cs typeface="+mn-cs"/>
                </a:rPr>
                <a:t>中</a:t>
              </a:r>
            </a:p>
          </p:txBody>
        </p:sp>
        <p:sp>
          <p:nvSpPr>
            <p:cNvPr id="177" name="Freeform 177"/>
            <p:cNvSpPr/>
            <p:nvPr/>
          </p:nvSpPr>
          <p:spPr>
            <a:xfrm>
              <a:off x="8753508" y="2390785"/>
              <a:ext cx="95117" cy="90454"/>
            </a:xfrm>
            <a:custGeom>
              <a:avLst/>
              <a:gdLst/>
              <a:ahLst/>
              <a:cxnLst/>
              <a:rect l="l" t="t" r="r" b="b"/>
              <a:pathLst>
                <a:path w="95117" h="90454">
                  <a:moveTo>
                    <a:pt x="47592" y="75000"/>
                  </a:moveTo>
                  <a:lnTo>
                    <a:pt x="18198" y="90454"/>
                  </a:lnTo>
                  <a:lnTo>
                    <a:pt x="23812" y="57721"/>
                  </a:lnTo>
                  <a:lnTo>
                    <a:pt x="0" y="34542"/>
                  </a:lnTo>
                  <a:lnTo>
                    <a:pt x="32861" y="29780"/>
                  </a:lnTo>
                  <a:lnTo>
                    <a:pt x="47558" y="0"/>
                  </a:lnTo>
                  <a:lnTo>
                    <a:pt x="62255" y="29780"/>
                  </a:lnTo>
                  <a:lnTo>
                    <a:pt x="95117" y="34542"/>
                  </a:lnTo>
                  <a:lnTo>
                    <a:pt x="71304" y="57721"/>
                  </a:lnTo>
                  <a:lnTo>
                    <a:pt x="76919" y="90454"/>
                  </a:lnTo>
                  <a:lnTo>
                    <a:pt x="47592" y="75000"/>
                  </a:lnTo>
                </a:path>
              </a:pathLst>
            </a:custGeom>
            <a:noFill/>
            <a:ln w="9525">
              <a:solidFill>
                <a:srgbClr val="C83210"/>
              </a:solidFill>
            </a:ln>
          </p:spPr>
        </p:sp>
        <p:sp>
          <p:nvSpPr>
            <p:cNvPr id="178" name="TextBox 178"/>
            <p:cNvSpPr txBox="1"/>
            <p:nvPr/>
          </p:nvSpPr>
          <p:spPr>
            <a:xfrm>
              <a:off x="8891588" y="2414873"/>
              <a:ext cx="426847" cy="121920"/>
            </a:xfrm>
            <a:prstGeom prst="rect">
              <a:avLst/>
            </a:prstGeom>
            <a:noFill/>
            <a:ln>
              <a:noFill/>
            </a:ln>
          </p:spPr>
          <p:txBody>
            <a:bodyPr wrap="none" lIns="0" tIns="0" rIns="0" bIns="0" anchor="t" anchorCtr="0">
              <a:spAutoFit/>
            </a:bodyPr>
            <a:lstStyle/>
            <a:p>
              <a:pPr algn="l"/>
              <a:r>
                <a:rPr lang="zh-CN" sz="620" b="1" dirty="0">
                  <a:solidFill>
                    <a:srgbClr val="222222"/>
                  </a:solidFill>
                  <a:latin typeface="+mn-lt"/>
                  <a:ea typeface="+mn-ea"/>
                  <a:cs typeface="+mn-cs"/>
                </a:rPr>
                <a:t>高意向跟进</a:t>
              </a:r>
            </a:p>
          </p:txBody>
        </p:sp>
        <p:sp>
          <p:nvSpPr>
            <p:cNvPr id="179" name="TextBox 179"/>
            <p:cNvSpPr txBox="1"/>
            <p:nvPr/>
          </p:nvSpPr>
          <p:spPr>
            <a:xfrm>
              <a:off x="9734402" y="241244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5</a:t>
              </a:r>
            </a:p>
          </p:txBody>
        </p:sp>
        <p:sp>
          <p:nvSpPr>
            <p:cNvPr id="180" name="TextBox 180"/>
            <p:cNvSpPr txBox="1"/>
            <p:nvPr/>
          </p:nvSpPr>
          <p:spPr>
            <a:xfrm>
              <a:off x="10210652" y="241244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a:t>
              </a:r>
            </a:p>
          </p:txBody>
        </p:sp>
        <p:sp>
          <p:nvSpPr>
            <p:cNvPr id="181" name="TextBox 181"/>
            <p:cNvSpPr txBox="1"/>
            <p:nvPr/>
          </p:nvSpPr>
          <p:spPr>
            <a:xfrm>
              <a:off x="10686902" y="241244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8</a:t>
              </a:r>
            </a:p>
          </p:txBody>
        </p:sp>
        <p:sp>
          <p:nvSpPr>
            <p:cNvPr id="182" name="TextBox 182"/>
            <p:cNvSpPr txBox="1"/>
            <p:nvPr/>
          </p:nvSpPr>
          <p:spPr>
            <a:xfrm>
              <a:off x="11144102" y="2412444"/>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a:t>
              </a:r>
            </a:p>
          </p:txBody>
        </p:sp>
        <p:sp>
          <p:nvSpPr>
            <p:cNvPr id="183" name="Rectangle 183"/>
            <p:cNvSpPr/>
            <p:nvPr/>
          </p:nvSpPr>
          <p:spPr>
            <a:xfrm>
              <a:off x="11610975" y="2381250"/>
              <a:ext cx="228600" cy="123825"/>
            </a:xfrm>
            <a:prstGeom prst="roundRect">
              <a:avLst>
                <a:gd name="adj" fmla="val 23077"/>
              </a:avLst>
            </a:prstGeom>
            <a:solidFill>
              <a:srgbClr val="C83210"/>
            </a:solidFill>
            <a:ln>
              <a:noFill/>
            </a:ln>
          </p:spPr>
        </p:sp>
        <p:sp>
          <p:nvSpPr>
            <p:cNvPr id="184" name="TextBox 184"/>
            <p:cNvSpPr txBox="1"/>
            <p:nvPr/>
          </p:nvSpPr>
          <p:spPr>
            <a:xfrm>
              <a:off x="11680126" y="2411730"/>
              <a:ext cx="9029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a:t>
              </a:r>
            </a:p>
          </p:txBody>
        </p:sp>
        <p:sp>
          <p:nvSpPr>
            <p:cNvPr id="185" name="Line 185"/>
            <p:cNvSpPr/>
            <p:nvPr/>
          </p:nvSpPr>
          <p:spPr>
            <a:xfrm>
              <a:off x="9525000" y="914400"/>
              <a:ext cx="9525" cy="1628775"/>
            </a:xfrm>
            <a:custGeom>
              <a:avLst/>
              <a:gdLst/>
              <a:ahLst/>
              <a:cxnLst/>
              <a:rect l="l" t="t" r="r" b="b"/>
              <a:pathLst>
                <a:path w="9525" h="1628775">
                  <a:moveTo>
                    <a:pt x="0" y="0"/>
                  </a:moveTo>
                  <a:lnTo>
                    <a:pt x="0" y="1628775"/>
                  </a:lnTo>
                </a:path>
              </a:pathLst>
            </a:custGeom>
            <a:noFill/>
            <a:ln w="9525">
              <a:solidFill>
                <a:srgbClr val="F1C7CC"/>
              </a:solidFill>
            </a:ln>
          </p:spPr>
        </p:sp>
        <p:sp>
          <p:nvSpPr>
            <p:cNvPr id="186" name="Line 186"/>
            <p:cNvSpPr/>
            <p:nvPr/>
          </p:nvSpPr>
          <p:spPr>
            <a:xfrm>
              <a:off x="10001250" y="914400"/>
              <a:ext cx="9525" cy="1628775"/>
            </a:xfrm>
            <a:custGeom>
              <a:avLst/>
              <a:gdLst/>
              <a:ahLst/>
              <a:cxnLst/>
              <a:rect l="l" t="t" r="r" b="b"/>
              <a:pathLst>
                <a:path w="9525" h="1628775">
                  <a:moveTo>
                    <a:pt x="0" y="0"/>
                  </a:moveTo>
                  <a:lnTo>
                    <a:pt x="0" y="1628775"/>
                  </a:lnTo>
                </a:path>
              </a:pathLst>
            </a:custGeom>
            <a:noFill/>
            <a:ln w="9525">
              <a:solidFill>
                <a:srgbClr val="F1C7CC"/>
              </a:solidFill>
            </a:ln>
          </p:spPr>
        </p:sp>
        <p:sp>
          <p:nvSpPr>
            <p:cNvPr id="187" name="Line 187"/>
            <p:cNvSpPr/>
            <p:nvPr/>
          </p:nvSpPr>
          <p:spPr>
            <a:xfrm>
              <a:off x="10477500" y="914400"/>
              <a:ext cx="9525" cy="1628775"/>
            </a:xfrm>
            <a:custGeom>
              <a:avLst/>
              <a:gdLst/>
              <a:ahLst/>
              <a:cxnLst/>
              <a:rect l="l" t="t" r="r" b="b"/>
              <a:pathLst>
                <a:path w="9525" h="1628775">
                  <a:moveTo>
                    <a:pt x="0" y="0"/>
                  </a:moveTo>
                  <a:lnTo>
                    <a:pt x="0" y="1628775"/>
                  </a:lnTo>
                </a:path>
              </a:pathLst>
            </a:custGeom>
            <a:noFill/>
            <a:ln w="9525">
              <a:solidFill>
                <a:srgbClr val="F1C7CC"/>
              </a:solidFill>
            </a:ln>
          </p:spPr>
        </p:sp>
        <p:sp>
          <p:nvSpPr>
            <p:cNvPr id="188" name="Line 188"/>
            <p:cNvSpPr/>
            <p:nvPr/>
          </p:nvSpPr>
          <p:spPr>
            <a:xfrm>
              <a:off x="10953750" y="914400"/>
              <a:ext cx="9525" cy="1628775"/>
            </a:xfrm>
            <a:custGeom>
              <a:avLst/>
              <a:gdLst/>
              <a:ahLst/>
              <a:cxnLst/>
              <a:rect l="l" t="t" r="r" b="b"/>
              <a:pathLst>
                <a:path w="9525" h="1628775">
                  <a:moveTo>
                    <a:pt x="0" y="0"/>
                  </a:moveTo>
                  <a:lnTo>
                    <a:pt x="0" y="1628775"/>
                  </a:lnTo>
                </a:path>
              </a:pathLst>
            </a:custGeom>
            <a:noFill/>
            <a:ln w="9525">
              <a:solidFill>
                <a:srgbClr val="F1C7CC"/>
              </a:solidFill>
            </a:ln>
          </p:spPr>
        </p:sp>
        <p:sp>
          <p:nvSpPr>
            <p:cNvPr id="189" name="Line 189"/>
            <p:cNvSpPr/>
            <p:nvPr/>
          </p:nvSpPr>
          <p:spPr>
            <a:xfrm>
              <a:off x="11391900" y="914400"/>
              <a:ext cx="9525" cy="1628775"/>
            </a:xfrm>
            <a:custGeom>
              <a:avLst/>
              <a:gdLst/>
              <a:ahLst/>
              <a:cxnLst/>
              <a:rect l="l" t="t" r="r" b="b"/>
              <a:pathLst>
                <a:path w="9525" h="1628775">
                  <a:moveTo>
                    <a:pt x="0" y="0"/>
                  </a:moveTo>
                  <a:lnTo>
                    <a:pt x="0" y="1628775"/>
                  </a:lnTo>
                </a:path>
              </a:pathLst>
            </a:custGeom>
            <a:noFill/>
            <a:ln w="9525">
              <a:solidFill>
                <a:srgbClr val="F1C7CC"/>
              </a:solidFill>
            </a:ln>
          </p:spPr>
        </p:sp>
        <p:sp>
          <p:nvSpPr>
            <p:cNvPr id="190" name="Line 190"/>
            <p:cNvSpPr/>
            <p:nvPr/>
          </p:nvSpPr>
          <p:spPr>
            <a:xfrm>
              <a:off x="8686800" y="2543175"/>
              <a:ext cx="3371850" cy="9525"/>
            </a:xfrm>
            <a:custGeom>
              <a:avLst/>
              <a:gdLst/>
              <a:ahLst/>
              <a:cxnLst/>
              <a:rect l="l" t="t" r="r" b="b"/>
              <a:pathLst>
                <a:path w="3371850" h="9525">
                  <a:moveTo>
                    <a:pt x="0" y="0"/>
                  </a:moveTo>
                  <a:lnTo>
                    <a:pt x="3371850" y="0"/>
                  </a:lnTo>
                </a:path>
              </a:pathLst>
            </a:custGeom>
            <a:noFill/>
            <a:ln w="9525">
              <a:solidFill>
                <a:srgbClr val="F1C7CC"/>
              </a:solidFill>
            </a:ln>
          </p:spPr>
        </p:sp>
      </p:grpSp>
      <p:grpSp>
        <p:nvGrpSpPr>
          <p:cNvPr id="289" name="point-rules"/>
          <p:cNvGrpSpPr/>
          <p:nvPr/>
        </p:nvGrpSpPr>
        <p:grpSpPr>
          <a:xfrm>
            <a:off x="133350" y="2695575"/>
            <a:ext cx="6534150" cy="1657350"/>
            <a:chOff x="133350" y="2695575"/>
            <a:chExt cx="6534150" cy="1657350"/>
          </a:xfrm>
        </p:grpSpPr>
        <p:sp>
          <p:nvSpPr>
            <p:cNvPr id="192" name="Ellipse 192"/>
            <p:cNvSpPr/>
            <p:nvPr/>
          </p:nvSpPr>
          <p:spPr>
            <a:xfrm>
              <a:off x="142875" y="2695575"/>
              <a:ext cx="171450" cy="171450"/>
            </a:xfrm>
            <a:prstGeom prst="ellipse">
              <a:avLst/>
            </a:prstGeom>
            <a:solidFill>
              <a:srgbClr val="C83210"/>
            </a:solidFill>
            <a:ln>
              <a:noFill/>
            </a:ln>
          </p:spPr>
        </p:sp>
        <p:sp>
          <p:nvSpPr>
            <p:cNvPr id="193" name="TextBox 193"/>
            <p:cNvSpPr txBox="1"/>
            <p:nvPr/>
          </p:nvSpPr>
          <p:spPr>
            <a:xfrm>
              <a:off x="195759" y="273843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194" name="TextBox 194"/>
            <p:cNvSpPr txBox="1"/>
            <p:nvPr/>
          </p:nvSpPr>
          <p:spPr>
            <a:xfrm>
              <a:off x="376047" y="2723674"/>
              <a:ext cx="1345336"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积分规则</a:t>
              </a:r>
              <a:r>
                <a:rPr lang="zh-CN" sz="750" b="1" dirty="0">
                  <a:solidFill>
                    <a:srgbClr val="808080"/>
                  </a:solidFill>
                  <a:latin typeface="+mn-lt"/>
                  <a:ea typeface="+mn-ea"/>
                  <a:cs typeface="+mn-cs"/>
                </a:rPr>
                <a:t>（以质量为导向）</a:t>
              </a:r>
            </a:p>
          </p:txBody>
        </p:sp>
        <p:sp>
          <p:nvSpPr>
            <p:cNvPr id="195" name="Rectangle 195"/>
            <p:cNvSpPr/>
            <p:nvPr/>
          </p:nvSpPr>
          <p:spPr>
            <a:xfrm>
              <a:off x="133350" y="2914650"/>
              <a:ext cx="3200400" cy="190500"/>
            </a:xfrm>
            <a:prstGeom prst="rect">
              <a:avLst/>
            </a:prstGeom>
            <a:solidFill>
              <a:srgbClr val="FBE3E6"/>
            </a:solidFill>
            <a:ln>
              <a:noFill/>
            </a:ln>
          </p:spPr>
        </p:sp>
        <p:sp>
          <p:nvSpPr>
            <p:cNvPr id="196" name="TextBox 196"/>
            <p:cNvSpPr txBox="1"/>
            <p:nvPr/>
          </p:nvSpPr>
          <p:spPr>
            <a:xfrm>
              <a:off x="204788" y="2971086"/>
              <a:ext cx="1118794"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mn-lt"/>
                  <a:ea typeface="+mn-ea"/>
                  <a:cs typeface="+mn-cs"/>
                </a:rPr>
                <a:t>正向积分</a:t>
              </a:r>
              <a:r>
                <a:rPr lang="zh-CN" sz="600" b="1" dirty="0">
                  <a:solidFill>
                    <a:srgbClr val="808080"/>
                  </a:solidFill>
                  <a:latin typeface="+mn-lt"/>
                  <a:ea typeface="+mn-ea"/>
                  <a:cs typeface="+mn-cs"/>
                </a:rPr>
                <a:t>（鼓励高质量动作）</a:t>
              </a:r>
            </a:p>
          </p:txBody>
        </p:sp>
        <p:sp>
          <p:nvSpPr>
            <p:cNvPr id="197" name="Rectangle 197"/>
            <p:cNvSpPr/>
            <p:nvPr/>
          </p:nvSpPr>
          <p:spPr>
            <a:xfrm>
              <a:off x="133350" y="3105150"/>
              <a:ext cx="3200400" cy="190500"/>
            </a:xfrm>
            <a:prstGeom prst="rect">
              <a:avLst/>
            </a:prstGeom>
            <a:solidFill>
              <a:srgbClr val="FDEFF1"/>
            </a:solidFill>
            <a:ln>
              <a:noFill/>
            </a:ln>
          </p:spPr>
        </p:sp>
        <p:sp>
          <p:nvSpPr>
            <p:cNvPr id="198" name="TextBox 198"/>
            <p:cNvSpPr txBox="1"/>
            <p:nvPr/>
          </p:nvSpPr>
          <p:spPr>
            <a:xfrm>
              <a:off x="413474" y="3169682"/>
              <a:ext cx="35415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任务类型</a:t>
              </a:r>
            </a:p>
          </p:txBody>
        </p:sp>
        <p:sp>
          <p:nvSpPr>
            <p:cNvPr id="199" name="TextBox 199"/>
            <p:cNvSpPr txBox="1"/>
            <p:nvPr/>
          </p:nvSpPr>
          <p:spPr>
            <a:xfrm>
              <a:off x="1199502" y="3169682"/>
              <a:ext cx="267995"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积分值</a:t>
              </a:r>
            </a:p>
          </p:txBody>
        </p:sp>
        <p:sp>
          <p:nvSpPr>
            <p:cNvPr id="200" name="TextBox 200"/>
            <p:cNvSpPr txBox="1"/>
            <p:nvPr/>
          </p:nvSpPr>
          <p:spPr>
            <a:xfrm>
              <a:off x="2299424" y="3169682"/>
              <a:ext cx="35415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质量要求</a:t>
              </a:r>
            </a:p>
          </p:txBody>
        </p:sp>
        <p:grpSp>
          <p:nvGrpSpPr>
            <p:cNvPr id="204" name="Group 204"/>
            <p:cNvGrpSpPr/>
            <p:nvPr/>
          </p:nvGrpSpPr>
          <p:grpSpPr>
            <a:xfrm>
              <a:off x="219075" y="3367088"/>
              <a:ext cx="71438" cy="85725"/>
              <a:chOff x="219075" y="3367088"/>
              <a:chExt cx="71438" cy="85725"/>
            </a:xfrm>
          </p:grpSpPr>
          <p:sp>
            <p:nvSpPr>
              <p:cNvPr id="201" name="Freeform 201"/>
              <p:cNvSpPr/>
              <p:nvPr/>
            </p:nvSpPr>
            <p:spPr>
              <a:xfrm>
                <a:off x="228600" y="33670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C83210"/>
                </a:solidFill>
              </a:ln>
            </p:spPr>
          </p:sp>
          <p:sp>
            <p:nvSpPr>
              <p:cNvPr id="202" name="Freeform 202"/>
              <p:cNvSpPr/>
              <p:nvPr/>
            </p:nvSpPr>
            <p:spPr>
              <a:xfrm>
                <a:off x="219075" y="3424238"/>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C83210"/>
                </a:solidFill>
              </a:ln>
            </p:spPr>
          </p:sp>
          <p:sp>
            <p:nvSpPr>
              <p:cNvPr id="203" name="Freeform 203"/>
              <p:cNvSpPr/>
              <p:nvPr/>
            </p:nvSpPr>
            <p:spPr>
              <a:xfrm>
                <a:off x="261938" y="3433762"/>
                <a:ext cx="28575" cy="19050"/>
              </a:xfrm>
              <a:custGeom>
                <a:avLst/>
                <a:gdLst/>
                <a:ahLst/>
                <a:cxnLst/>
                <a:rect l="l" t="t" r="r" b="b"/>
                <a:pathLst>
                  <a:path w="28575" h="19050">
                    <a:moveTo>
                      <a:pt x="0" y="9525"/>
                    </a:moveTo>
                    <a:lnTo>
                      <a:pt x="9525" y="19050"/>
                    </a:lnTo>
                    <a:lnTo>
                      <a:pt x="28575" y="0"/>
                    </a:lnTo>
                  </a:path>
                </a:pathLst>
              </a:custGeom>
              <a:noFill/>
              <a:ln w="9525">
                <a:solidFill>
                  <a:srgbClr val="C83210"/>
                </a:solidFill>
              </a:ln>
            </p:spPr>
          </p:sp>
        </p:grpSp>
        <p:sp>
          <p:nvSpPr>
            <p:cNvPr id="205" name="TextBox 205"/>
            <p:cNvSpPr txBox="1"/>
            <p:nvPr/>
          </p:nvSpPr>
          <p:spPr>
            <a:xfrm>
              <a:off x="338138" y="3381661"/>
              <a:ext cx="34338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客户认证</a:t>
              </a:r>
            </a:p>
          </p:txBody>
        </p:sp>
        <p:sp>
          <p:nvSpPr>
            <p:cNvPr id="206" name="TextBox 206"/>
            <p:cNvSpPr txBox="1"/>
            <p:nvPr/>
          </p:nvSpPr>
          <p:spPr>
            <a:xfrm>
              <a:off x="1167947" y="3379232"/>
              <a:ext cx="33110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30分/人</a:t>
              </a:r>
            </a:p>
          </p:txBody>
        </p:sp>
        <p:sp>
          <p:nvSpPr>
            <p:cNvPr id="207" name="TextBox 207"/>
            <p:cNvSpPr txBox="1"/>
            <p:nvPr/>
          </p:nvSpPr>
          <p:spPr>
            <a:xfrm>
              <a:off x="1671638" y="3384899"/>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完成实名认证且标签完整</a:t>
              </a:r>
            </a:p>
          </p:txBody>
        </p:sp>
        <p:grpSp>
          <p:nvGrpSpPr>
            <p:cNvPr id="211" name="Group 211"/>
            <p:cNvGrpSpPr/>
            <p:nvPr/>
          </p:nvGrpSpPr>
          <p:grpSpPr>
            <a:xfrm>
              <a:off x="204788" y="3590925"/>
              <a:ext cx="87982" cy="67804"/>
              <a:chOff x="204788" y="3590925"/>
              <a:chExt cx="87982" cy="67804"/>
            </a:xfrm>
          </p:grpSpPr>
          <p:sp>
            <p:nvSpPr>
              <p:cNvPr id="208" name="Freeform 208"/>
              <p:cNvSpPr/>
              <p:nvPr/>
            </p:nvSpPr>
            <p:spPr>
              <a:xfrm>
                <a:off x="204788" y="3590925"/>
                <a:ext cx="67804" cy="67804"/>
              </a:xfrm>
              <a:custGeom>
                <a:avLst/>
                <a:gdLst/>
                <a:ahLst/>
                <a:cxnLst/>
                <a:rect l="l" t="t" r="r" b="b"/>
                <a:pathLst>
                  <a:path w="67804" h="67804">
                    <a:moveTo>
                      <a:pt x="0" y="9525"/>
                    </a:moveTo>
                    <a:lnTo>
                      <a:pt x="0" y="29394"/>
                    </a:lnTo>
                    <a:cubicBezTo>
                      <a:pt x="1" y="31920"/>
                      <a:pt x="1004" y="34342"/>
                      <a:pt x="2791" y="36128"/>
                    </a:cubicBezTo>
                    <a:lnTo>
                      <a:pt x="29985" y="63322"/>
                    </a:lnTo>
                    <a:cubicBezTo>
                      <a:pt x="34467" y="67804"/>
                      <a:pt x="41733" y="67804"/>
                      <a:pt x="46215" y="63322"/>
                    </a:cubicBezTo>
                    <a:lnTo>
                      <a:pt x="63322" y="46215"/>
                    </a:lnTo>
                    <a:cubicBezTo>
                      <a:pt x="67804" y="41733"/>
                      <a:pt x="67804" y="34467"/>
                      <a:pt x="63322" y="29985"/>
                    </a:cubicBezTo>
                    <a:lnTo>
                      <a:pt x="36128" y="2791"/>
                    </a:lnTo>
                    <a:cubicBezTo>
                      <a:pt x="34342" y="1004"/>
                      <a:pt x="31920" y="1"/>
                      <a:pt x="29394" y="0"/>
                    </a:cubicBezTo>
                    <a:lnTo>
                      <a:pt x="9525" y="0"/>
                    </a:lnTo>
                    <a:cubicBezTo>
                      <a:pt x="4264" y="0"/>
                      <a:pt x="0" y="4264"/>
                      <a:pt x="0" y="9525"/>
                    </a:cubicBezTo>
                  </a:path>
                </a:pathLst>
              </a:custGeom>
              <a:noFill/>
              <a:ln w="9525">
                <a:solidFill>
                  <a:srgbClr val="C83210"/>
                </a:solidFill>
              </a:ln>
            </p:spPr>
          </p:sp>
          <p:sp>
            <p:nvSpPr>
              <p:cNvPr id="209" name="Freeform 209"/>
              <p:cNvSpPr/>
              <p:nvPr/>
            </p:nvSpPr>
            <p:spPr>
              <a:xfrm>
                <a:off x="261938" y="3590925"/>
                <a:ext cx="30832" cy="61912"/>
              </a:xfrm>
              <a:custGeom>
                <a:avLst/>
                <a:gdLst/>
                <a:ahLst/>
                <a:cxnLst/>
                <a:rect l="l" t="t" r="r" b="b"/>
                <a:pathLst>
                  <a:path w="30832" h="61912">
                    <a:moveTo>
                      <a:pt x="14288" y="61912"/>
                    </a:moveTo>
                    <a:lnTo>
                      <a:pt x="21869" y="54331"/>
                    </a:lnTo>
                    <a:cubicBezTo>
                      <a:pt x="30832" y="45366"/>
                      <a:pt x="30832" y="30834"/>
                      <a:pt x="21869" y="21869"/>
                    </a:cubicBezTo>
                    <a:lnTo>
                      <a:pt x="0" y="0"/>
                    </a:lnTo>
                  </a:path>
                </a:pathLst>
              </a:custGeom>
              <a:noFill/>
              <a:ln w="9525">
                <a:solidFill>
                  <a:srgbClr val="C83210"/>
                </a:solidFill>
              </a:ln>
            </p:spPr>
          </p:sp>
          <p:sp>
            <p:nvSpPr>
              <p:cNvPr id="210" name="Freeform 210"/>
              <p:cNvSpPr/>
              <p:nvPr/>
            </p:nvSpPr>
            <p:spPr>
              <a:xfrm>
                <a:off x="223790" y="3609975"/>
                <a:ext cx="9525" cy="9525"/>
              </a:xfrm>
              <a:custGeom>
                <a:avLst/>
                <a:gdLst/>
                <a:ahLst/>
                <a:cxnLst/>
                <a:rect l="l" t="t" r="r" b="b"/>
                <a:pathLst>
                  <a:path w="9525" h="9525">
                    <a:moveTo>
                      <a:pt x="48" y="0"/>
                    </a:moveTo>
                    <a:lnTo>
                      <a:pt x="0" y="0"/>
                    </a:lnTo>
                  </a:path>
                </a:pathLst>
              </a:custGeom>
              <a:noFill/>
              <a:ln w="9525">
                <a:solidFill>
                  <a:srgbClr val="C83210"/>
                </a:solidFill>
              </a:ln>
            </p:spPr>
          </p:sp>
        </p:grpSp>
        <p:sp>
          <p:nvSpPr>
            <p:cNvPr id="212" name="TextBox 212"/>
            <p:cNvSpPr txBox="1"/>
            <p:nvPr/>
          </p:nvSpPr>
          <p:spPr>
            <a:xfrm>
              <a:off x="338138" y="3591211"/>
              <a:ext cx="34338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标签补全</a:t>
              </a:r>
            </a:p>
          </p:txBody>
        </p:sp>
        <p:sp>
          <p:nvSpPr>
            <p:cNvPr id="213" name="TextBox 213"/>
            <p:cNvSpPr txBox="1"/>
            <p:nvPr/>
          </p:nvSpPr>
          <p:spPr>
            <a:xfrm>
              <a:off x="1167947" y="3588782"/>
              <a:ext cx="33110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10分/人</a:t>
              </a:r>
            </a:p>
          </p:txBody>
        </p:sp>
        <p:sp>
          <p:nvSpPr>
            <p:cNvPr id="214" name="TextBox 214"/>
            <p:cNvSpPr txBox="1"/>
            <p:nvPr/>
          </p:nvSpPr>
          <p:spPr>
            <a:xfrm>
              <a:off x="1671638" y="3594449"/>
              <a:ext cx="720049"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补充≥3个有效标签　</a:t>
              </a:r>
            </a:p>
          </p:txBody>
        </p:sp>
        <p:sp>
          <p:nvSpPr>
            <p:cNvPr id="215" name="Freeform 215"/>
            <p:cNvSpPr/>
            <p:nvPr/>
          </p:nvSpPr>
          <p:spPr>
            <a:xfrm>
              <a:off x="199911" y="3787259"/>
              <a:ext cx="95079" cy="84282"/>
            </a:xfrm>
            <a:custGeom>
              <a:avLst/>
              <a:gdLst/>
              <a:ahLst/>
              <a:cxnLst/>
              <a:rect l="l" t="t" r="r" b="b"/>
              <a:pathLst>
                <a:path w="95079" h="84282">
                  <a:moveTo>
                    <a:pt x="4877" y="79891"/>
                  </a:moveTo>
                  <a:lnTo>
                    <a:pt x="11068" y="61317"/>
                  </a:lnTo>
                  <a:cubicBezTo>
                    <a:pt x="0" y="44948"/>
                    <a:pt x="4277" y="23827"/>
                    <a:pt x="21069" y="11911"/>
                  </a:cubicBezTo>
                  <a:cubicBezTo>
                    <a:pt x="37862" y="0"/>
                    <a:pt x="61979" y="976"/>
                    <a:pt x="77481" y="14197"/>
                  </a:cubicBezTo>
                  <a:cubicBezTo>
                    <a:pt x="92983" y="27422"/>
                    <a:pt x="95079" y="48801"/>
                    <a:pt x="82382" y="64208"/>
                  </a:cubicBezTo>
                  <a:cubicBezTo>
                    <a:pt x="69685" y="79615"/>
                    <a:pt x="46115" y="84282"/>
                    <a:pt x="27261" y="75128"/>
                  </a:cubicBezTo>
                  <a:lnTo>
                    <a:pt x="4877" y="79891"/>
                  </a:lnTo>
                </a:path>
              </a:pathLst>
            </a:custGeom>
            <a:noFill/>
            <a:ln w="9525">
              <a:solidFill>
                <a:srgbClr val="C83210"/>
              </a:solidFill>
            </a:ln>
          </p:spPr>
        </p:sp>
        <p:sp>
          <p:nvSpPr>
            <p:cNvPr id="216" name="TextBox 216"/>
            <p:cNvSpPr txBox="1"/>
            <p:nvPr/>
          </p:nvSpPr>
          <p:spPr>
            <a:xfrm>
              <a:off x="338138" y="3800761"/>
              <a:ext cx="34338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有效互动</a:t>
              </a:r>
            </a:p>
          </p:txBody>
        </p:sp>
        <p:sp>
          <p:nvSpPr>
            <p:cNvPr id="217" name="TextBox 217"/>
            <p:cNvSpPr txBox="1"/>
            <p:nvPr/>
          </p:nvSpPr>
          <p:spPr>
            <a:xfrm>
              <a:off x="1167947" y="3798332"/>
              <a:ext cx="33110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20分/人</a:t>
              </a:r>
            </a:p>
          </p:txBody>
        </p:sp>
        <p:sp>
          <p:nvSpPr>
            <p:cNvPr id="218" name="TextBox 218"/>
            <p:cNvSpPr txBox="1"/>
            <p:nvPr/>
          </p:nvSpPr>
          <p:spPr>
            <a:xfrm>
              <a:off x="1671638" y="3803999"/>
              <a:ext cx="94648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客户有回复且产生有效沟通</a:t>
              </a:r>
            </a:p>
          </p:txBody>
        </p:sp>
        <p:grpSp>
          <p:nvGrpSpPr>
            <p:cNvPr id="224" name="Group 224"/>
            <p:cNvGrpSpPr/>
            <p:nvPr/>
          </p:nvGrpSpPr>
          <p:grpSpPr>
            <a:xfrm>
              <a:off x="209550" y="3995738"/>
              <a:ext cx="76200" cy="85724"/>
              <a:chOff x="209550" y="3995738"/>
              <a:chExt cx="76200" cy="85724"/>
            </a:xfrm>
          </p:grpSpPr>
          <p:sp>
            <p:nvSpPr>
              <p:cNvPr id="219" name="Freeform 219"/>
              <p:cNvSpPr/>
              <p:nvPr/>
            </p:nvSpPr>
            <p:spPr>
              <a:xfrm>
                <a:off x="209550" y="4005262"/>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C83210"/>
                </a:solidFill>
              </a:ln>
            </p:spPr>
          </p:sp>
          <p:sp>
            <p:nvSpPr>
              <p:cNvPr id="220" name="Freeform 220"/>
              <p:cNvSpPr/>
              <p:nvPr/>
            </p:nvSpPr>
            <p:spPr>
              <a:xfrm>
                <a:off x="266700" y="3995738"/>
                <a:ext cx="9525" cy="19050"/>
              </a:xfrm>
              <a:custGeom>
                <a:avLst/>
                <a:gdLst/>
                <a:ahLst/>
                <a:cxnLst/>
                <a:rect l="l" t="t" r="r" b="b"/>
                <a:pathLst>
                  <a:path w="9525" h="19050">
                    <a:moveTo>
                      <a:pt x="0" y="0"/>
                    </a:moveTo>
                    <a:lnTo>
                      <a:pt x="0" y="19050"/>
                    </a:lnTo>
                  </a:path>
                </a:pathLst>
              </a:custGeom>
              <a:noFill/>
              <a:ln w="9525">
                <a:solidFill>
                  <a:srgbClr val="C83210"/>
                </a:solidFill>
              </a:ln>
            </p:spPr>
          </p:sp>
          <p:sp>
            <p:nvSpPr>
              <p:cNvPr id="221" name="Freeform 221"/>
              <p:cNvSpPr/>
              <p:nvPr/>
            </p:nvSpPr>
            <p:spPr>
              <a:xfrm>
                <a:off x="228600" y="3995738"/>
                <a:ext cx="9525" cy="19050"/>
              </a:xfrm>
              <a:custGeom>
                <a:avLst/>
                <a:gdLst/>
                <a:ahLst/>
                <a:cxnLst/>
                <a:rect l="l" t="t" r="r" b="b"/>
                <a:pathLst>
                  <a:path w="9525" h="19050">
                    <a:moveTo>
                      <a:pt x="0" y="0"/>
                    </a:moveTo>
                    <a:lnTo>
                      <a:pt x="0" y="19050"/>
                    </a:lnTo>
                  </a:path>
                </a:pathLst>
              </a:custGeom>
              <a:noFill/>
              <a:ln w="9525">
                <a:solidFill>
                  <a:srgbClr val="C83210"/>
                </a:solidFill>
              </a:ln>
            </p:spPr>
          </p:sp>
          <p:sp>
            <p:nvSpPr>
              <p:cNvPr id="222" name="Freeform 222"/>
              <p:cNvSpPr/>
              <p:nvPr/>
            </p:nvSpPr>
            <p:spPr>
              <a:xfrm>
                <a:off x="209550" y="4033838"/>
                <a:ext cx="76200" cy="9525"/>
              </a:xfrm>
              <a:custGeom>
                <a:avLst/>
                <a:gdLst/>
                <a:ahLst/>
                <a:cxnLst/>
                <a:rect l="l" t="t" r="r" b="b"/>
                <a:pathLst>
                  <a:path w="76200" h="9525">
                    <a:moveTo>
                      <a:pt x="0" y="0"/>
                    </a:moveTo>
                    <a:lnTo>
                      <a:pt x="76200" y="0"/>
                    </a:lnTo>
                  </a:path>
                </a:pathLst>
              </a:custGeom>
              <a:noFill/>
              <a:ln w="9525">
                <a:solidFill>
                  <a:srgbClr val="C83210"/>
                </a:solidFill>
              </a:ln>
            </p:spPr>
          </p:sp>
          <p:sp>
            <p:nvSpPr>
              <p:cNvPr id="223" name="Freeform 223"/>
              <p:cNvSpPr/>
              <p:nvPr/>
            </p:nvSpPr>
            <p:spPr>
              <a:xfrm>
                <a:off x="228600" y="4052888"/>
                <a:ext cx="9525" cy="9525"/>
              </a:xfrm>
              <a:custGeom>
                <a:avLst/>
                <a:gdLst/>
                <a:ahLst/>
                <a:cxnLst/>
                <a:rect l="l" t="t" r="r" b="b"/>
                <a:pathLst>
                  <a:path w="9525" h="9525">
                    <a:moveTo>
                      <a:pt x="0" y="0"/>
                    </a:moveTo>
                    <a:lnTo>
                      <a:pt x="9525" y="0"/>
                    </a:lnTo>
                    <a:lnTo>
                      <a:pt x="9525" y="9525"/>
                    </a:lnTo>
                    <a:lnTo>
                      <a:pt x="0" y="9525"/>
                    </a:lnTo>
                    <a:lnTo>
                      <a:pt x="0" y="0"/>
                    </a:lnTo>
                  </a:path>
                </a:pathLst>
              </a:custGeom>
              <a:noFill/>
              <a:ln w="9525">
                <a:solidFill>
                  <a:srgbClr val="C83210"/>
                </a:solidFill>
              </a:ln>
            </p:spPr>
          </p:sp>
        </p:grpSp>
        <p:sp>
          <p:nvSpPr>
            <p:cNvPr id="225" name="TextBox 225"/>
            <p:cNvSpPr txBox="1"/>
            <p:nvPr/>
          </p:nvSpPr>
          <p:spPr>
            <a:xfrm>
              <a:off x="338138" y="4010311"/>
              <a:ext cx="34338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活动邀约</a:t>
              </a:r>
            </a:p>
          </p:txBody>
        </p:sp>
        <p:sp>
          <p:nvSpPr>
            <p:cNvPr id="226" name="TextBox 226"/>
            <p:cNvSpPr txBox="1"/>
            <p:nvPr/>
          </p:nvSpPr>
          <p:spPr>
            <a:xfrm>
              <a:off x="1167947" y="4007882"/>
              <a:ext cx="33110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25分/人</a:t>
              </a:r>
            </a:p>
          </p:txBody>
        </p:sp>
        <p:sp>
          <p:nvSpPr>
            <p:cNvPr id="227" name="TextBox 227"/>
            <p:cNvSpPr txBox="1"/>
            <p:nvPr/>
          </p:nvSpPr>
          <p:spPr>
            <a:xfrm>
              <a:off x="1671638" y="4013549"/>
              <a:ext cx="677106"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客户成功报名/到场</a:t>
              </a:r>
            </a:p>
          </p:txBody>
        </p:sp>
        <p:grpSp>
          <p:nvGrpSpPr>
            <p:cNvPr id="230" name="Group 230"/>
            <p:cNvGrpSpPr/>
            <p:nvPr/>
          </p:nvGrpSpPr>
          <p:grpSpPr>
            <a:xfrm>
              <a:off x="204788" y="4224338"/>
              <a:ext cx="85725" cy="47625"/>
              <a:chOff x="204788" y="4224338"/>
              <a:chExt cx="85725" cy="47625"/>
            </a:xfrm>
          </p:grpSpPr>
          <p:sp>
            <p:nvSpPr>
              <p:cNvPr id="228" name="Freeform 228"/>
              <p:cNvSpPr/>
              <p:nvPr/>
            </p:nvSpPr>
            <p:spPr>
              <a:xfrm>
                <a:off x="204788" y="4224338"/>
                <a:ext cx="85725" cy="47625"/>
              </a:xfrm>
              <a:custGeom>
                <a:avLst/>
                <a:gdLst/>
                <a:ahLst/>
                <a:cxnLst/>
                <a:rect l="l" t="t" r="r" b="b"/>
                <a:pathLst>
                  <a:path w="85725" h="47625">
                    <a:moveTo>
                      <a:pt x="0" y="47625"/>
                    </a:moveTo>
                    <a:lnTo>
                      <a:pt x="28575" y="19050"/>
                    </a:lnTo>
                    <a:lnTo>
                      <a:pt x="47625" y="38100"/>
                    </a:lnTo>
                    <a:lnTo>
                      <a:pt x="85725" y="0"/>
                    </a:lnTo>
                  </a:path>
                </a:pathLst>
              </a:custGeom>
              <a:noFill/>
              <a:ln w="9525">
                <a:solidFill>
                  <a:srgbClr val="C83210"/>
                </a:solidFill>
              </a:ln>
            </p:spPr>
          </p:sp>
          <p:sp>
            <p:nvSpPr>
              <p:cNvPr id="229" name="Freeform 229"/>
              <p:cNvSpPr/>
              <p:nvPr/>
            </p:nvSpPr>
            <p:spPr>
              <a:xfrm>
                <a:off x="257175" y="4224338"/>
                <a:ext cx="33338" cy="33338"/>
              </a:xfrm>
              <a:custGeom>
                <a:avLst/>
                <a:gdLst/>
                <a:ahLst/>
                <a:cxnLst/>
                <a:rect l="l" t="t" r="r" b="b"/>
                <a:pathLst>
                  <a:path w="33338" h="33338">
                    <a:moveTo>
                      <a:pt x="0" y="0"/>
                    </a:moveTo>
                    <a:lnTo>
                      <a:pt x="33338" y="0"/>
                    </a:lnTo>
                    <a:lnTo>
                      <a:pt x="33338" y="33338"/>
                    </a:lnTo>
                  </a:path>
                </a:pathLst>
              </a:custGeom>
              <a:noFill/>
              <a:ln w="9525">
                <a:solidFill>
                  <a:srgbClr val="C83210"/>
                </a:solidFill>
              </a:ln>
            </p:spPr>
          </p:sp>
        </p:grpSp>
        <p:sp>
          <p:nvSpPr>
            <p:cNvPr id="231" name="TextBox 231"/>
            <p:cNvSpPr txBox="1"/>
            <p:nvPr/>
          </p:nvSpPr>
          <p:spPr>
            <a:xfrm>
              <a:off x="338138" y="4219861"/>
              <a:ext cx="34338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客户转化</a:t>
              </a:r>
            </a:p>
          </p:txBody>
        </p:sp>
        <p:sp>
          <p:nvSpPr>
            <p:cNvPr id="232" name="TextBox 232"/>
            <p:cNvSpPr txBox="1"/>
            <p:nvPr/>
          </p:nvSpPr>
          <p:spPr>
            <a:xfrm>
              <a:off x="1167947" y="4217432"/>
              <a:ext cx="33110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50分/户</a:t>
              </a:r>
            </a:p>
          </p:txBody>
        </p:sp>
        <p:sp>
          <p:nvSpPr>
            <p:cNvPr id="233" name="TextBox 233"/>
            <p:cNvSpPr txBox="1"/>
            <p:nvPr/>
          </p:nvSpPr>
          <p:spPr>
            <a:xfrm>
              <a:off x="1671638" y="4223099"/>
              <a:ext cx="833265"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完成产品签约/客户提升</a:t>
              </a:r>
            </a:p>
          </p:txBody>
        </p:sp>
        <p:sp>
          <p:nvSpPr>
            <p:cNvPr id="234" name="Line 234"/>
            <p:cNvSpPr/>
            <p:nvPr/>
          </p:nvSpPr>
          <p:spPr>
            <a:xfrm>
              <a:off x="133350" y="3505200"/>
              <a:ext cx="3200400" cy="9525"/>
            </a:xfrm>
            <a:custGeom>
              <a:avLst/>
              <a:gdLst/>
              <a:ahLst/>
              <a:cxnLst/>
              <a:rect l="l" t="t" r="r" b="b"/>
              <a:pathLst>
                <a:path w="3200400" h="9525">
                  <a:moveTo>
                    <a:pt x="0" y="0"/>
                  </a:moveTo>
                  <a:lnTo>
                    <a:pt x="3200400" y="0"/>
                  </a:lnTo>
                </a:path>
              </a:pathLst>
            </a:custGeom>
            <a:noFill/>
            <a:ln w="9525">
              <a:solidFill>
                <a:srgbClr val="F1C7CC"/>
              </a:solidFill>
            </a:ln>
          </p:spPr>
        </p:sp>
        <p:sp>
          <p:nvSpPr>
            <p:cNvPr id="235" name="Line 235"/>
            <p:cNvSpPr/>
            <p:nvPr/>
          </p:nvSpPr>
          <p:spPr>
            <a:xfrm>
              <a:off x="133350" y="3714750"/>
              <a:ext cx="3200400" cy="9525"/>
            </a:xfrm>
            <a:custGeom>
              <a:avLst/>
              <a:gdLst/>
              <a:ahLst/>
              <a:cxnLst/>
              <a:rect l="l" t="t" r="r" b="b"/>
              <a:pathLst>
                <a:path w="3200400" h="9525">
                  <a:moveTo>
                    <a:pt x="0" y="0"/>
                  </a:moveTo>
                  <a:lnTo>
                    <a:pt x="3200400" y="0"/>
                  </a:lnTo>
                </a:path>
              </a:pathLst>
            </a:custGeom>
            <a:noFill/>
            <a:ln w="9525">
              <a:solidFill>
                <a:srgbClr val="F1C7CC"/>
              </a:solidFill>
            </a:ln>
          </p:spPr>
        </p:sp>
        <p:sp>
          <p:nvSpPr>
            <p:cNvPr id="236" name="Line 236"/>
            <p:cNvSpPr/>
            <p:nvPr/>
          </p:nvSpPr>
          <p:spPr>
            <a:xfrm>
              <a:off x="133350" y="3924300"/>
              <a:ext cx="3200400" cy="9525"/>
            </a:xfrm>
            <a:custGeom>
              <a:avLst/>
              <a:gdLst/>
              <a:ahLst/>
              <a:cxnLst/>
              <a:rect l="l" t="t" r="r" b="b"/>
              <a:pathLst>
                <a:path w="3200400" h="9525">
                  <a:moveTo>
                    <a:pt x="0" y="0"/>
                  </a:moveTo>
                  <a:lnTo>
                    <a:pt x="3200400" y="0"/>
                  </a:lnTo>
                </a:path>
              </a:pathLst>
            </a:custGeom>
            <a:noFill/>
            <a:ln w="9525">
              <a:solidFill>
                <a:srgbClr val="F1C7CC"/>
              </a:solidFill>
            </a:ln>
          </p:spPr>
        </p:sp>
        <p:sp>
          <p:nvSpPr>
            <p:cNvPr id="237" name="Line 237"/>
            <p:cNvSpPr/>
            <p:nvPr/>
          </p:nvSpPr>
          <p:spPr>
            <a:xfrm>
              <a:off x="133350" y="4133850"/>
              <a:ext cx="3200400" cy="9525"/>
            </a:xfrm>
            <a:custGeom>
              <a:avLst/>
              <a:gdLst/>
              <a:ahLst/>
              <a:cxnLst/>
              <a:rect l="l" t="t" r="r" b="b"/>
              <a:pathLst>
                <a:path w="3200400" h="9525">
                  <a:moveTo>
                    <a:pt x="0" y="0"/>
                  </a:moveTo>
                  <a:lnTo>
                    <a:pt x="3200400" y="0"/>
                  </a:lnTo>
                </a:path>
              </a:pathLst>
            </a:custGeom>
            <a:noFill/>
            <a:ln w="9525">
              <a:solidFill>
                <a:srgbClr val="F1C7CC"/>
              </a:solidFill>
            </a:ln>
          </p:spPr>
        </p:sp>
        <p:sp>
          <p:nvSpPr>
            <p:cNvPr id="238" name="Line 238"/>
            <p:cNvSpPr/>
            <p:nvPr/>
          </p:nvSpPr>
          <p:spPr>
            <a:xfrm>
              <a:off x="133350" y="4343400"/>
              <a:ext cx="3200400" cy="9525"/>
            </a:xfrm>
            <a:custGeom>
              <a:avLst/>
              <a:gdLst/>
              <a:ahLst/>
              <a:cxnLst/>
              <a:rect l="l" t="t" r="r" b="b"/>
              <a:pathLst>
                <a:path w="3200400" h="9525">
                  <a:moveTo>
                    <a:pt x="0" y="0"/>
                  </a:moveTo>
                  <a:lnTo>
                    <a:pt x="3200400" y="0"/>
                  </a:lnTo>
                </a:path>
              </a:pathLst>
            </a:custGeom>
            <a:noFill/>
            <a:ln w="9525">
              <a:solidFill>
                <a:srgbClr val="F1C7CC"/>
              </a:solidFill>
            </a:ln>
          </p:spPr>
        </p:sp>
        <p:sp>
          <p:nvSpPr>
            <p:cNvPr id="239" name="Rectangle 239"/>
            <p:cNvSpPr/>
            <p:nvPr/>
          </p:nvSpPr>
          <p:spPr>
            <a:xfrm>
              <a:off x="3448050" y="2914650"/>
              <a:ext cx="3219450" cy="190500"/>
            </a:xfrm>
            <a:prstGeom prst="rect">
              <a:avLst/>
            </a:prstGeom>
            <a:solidFill>
              <a:srgbClr val="FBE3E6"/>
            </a:solidFill>
            <a:ln>
              <a:noFill/>
            </a:ln>
          </p:spPr>
        </p:sp>
        <p:sp>
          <p:nvSpPr>
            <p:cNvPr id="240" name="TextBox 240"/>
            <p:cNvSpPr txBox="1"/>
            <p:nvPr/>
          </p:nvSpPr>
          <p:spPr>
            <a:xfrm>
              <a:off x="3519488" y="2971086"/>
              <a:ext cx="1038022"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mn-lt"/>
                  <a:ea typeface="+mn-ea"/>
                  <a:cs typeface="+mn-cs"/>
                </a:rPr>
                <a:t>负向积分</a:t>
              </a:r>
              <a:r>
                <a:rPr lang="zh-CN" sz="600" b="1" dirty="0">
                  <a:solidFill>
                    <a:srgbClr val="808080"/>
                  </a:solidFill>
                  <a:latin typeface="+mn-lt"/>
                  <a:ea typeface="+mn-ea"/>
                  <a:cs typeface="+mn-cs"/>
                </a:rPr>
                <a:t>（防范行为风险）</a:t>
              </a:r>
            </a:p>
          </p:txBody>
        </p:sp>
        <p:sp>
          <p:nvSpPr>
            <p:cNvPr id="241" name="Rectangle 241"/>
            <p:cNvSpPr/>
            <p:nvPr/>
          </p:nvSpPr>
          <p:spPr>
            <a:xfrm>
              <a:off x="3448050" y="3105150"/>
              <a:ext cx="3219450" cy="190500"/>
            </a:xfrm>
            <a:prstGeom prst="rect">
              <a:avLst/>
            </a:prstGeom>
            <a:solidFill>
              <a:srgbClr val="FDEFF1"/>
            </a:solidFill>
            <a:ln>
              <a:noFill/>
            </a:ln>
          </p:spPr>
        </p:sp>
        <p:sp>
          <p:nvSpPr>
            <p:cNvPr id="242" name="TextBox 242"/>
            <p:cNvSpPr txBox="1"/>
            <p:nvPr/>
          </p:nvSpPr>
          <p:spPr>
            <a:xfrm>
              <a:off x="3728174" y="3169682"/>
              <a:ext cx="35415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违规行为</a:t>
              </a:r>
            </a:p>
          </p:txBody>
        </p:sp>
        <p:sp>
          <p:nvSpPr>
            <p:cNvPr id="243" name="TextBox 243"/>
            <p:cNvSpPr txBox="1"/>
            <p:nvPr/>
          </p:nvSpPr>
          <p:spPr>
            <a:xfrm>
              <a:off x="4514202" y="3169682"/>
              <a:ext cx="267995"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扣分值</a:t>
              </a:r>
            </a:p>
          </p:txBody>
        </p:sp>
        <p:sp>
          <p:nvSpPr>
            <p:cNvPr id="244" name="TextBox 244"/>
            <p:cNvSpPr txBox="1"/>
            <p:nvPr/>
          </p:nvSpPr>
          <p:spPr>
            <a:xfrm>
              <a:off x="5709806" y="316968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说明</a:t>
              </a:r>
            </a:p>
          </p:txBody>
        </p:sp>
        <p:grpSp>
          <p:nvGrpSpPr>
            <p:cNvPr id="248" name="Group 248"/>
            <p:cNvGrpSpPr/>
            <p:nvPr/>
          </p:nvGrpSpPr>
          <p:grpSpPr>
            <a:xfrm>
              <a:off x="3514320" y="3365505"/>
              <a:ext cx="96057" cy="82526"/>
              <a:chOff x="3514320" y="3365505"/>
              <a:chExt cx="96057" cy="82526"/>
            </a:xfrm>
          </p:grpSpPr>
          <p:sp>
            <p:nvSpPr>
              <p:cNvPr id="245" name="Freeform 245"/>
              <p:cNvSpPr/>
              <p:nvPr/>
            </p:nvSpPr>
            <p:spPr>
              <a:xfrm>
                <a:off x="3562350" y="3395662"/>
                <a:ext cx="9525" cy="19050"/>
              </a:xfrm>
              <a:custGeom>
                <a:avLst/>
                <a:gdLst/>
                <a:ahLst/>
                <a:cxnLst/>
                <a:rect l="l" t="t" r="r" b="b"/>
                <a:pathLst>
                  <a:path w="9525" h="19050">
                    <a:moveTo>
                      <a:pt x="0" y="0"/>
                    </a:moveTo>
                    <a:lnTo>
                      <a:pt x="0" y="19050"/>
                    </a:lnTo>
                  </a:path>
                </a:pathLst>
              </a:custGeom>
              <a:noFill/>
              <a:ln w="9525">
                <a:solidFill>
                  <a:srgbClr val="C83210"/>
                </a:solidFill>
              </a:ln>
            </p:spPr>
          </p:sp>
          <p:sp>
            <p:nvSpPr>
              <p:cNvPr id="246" name="Freeform 246"/>
              <p:cNvSpPr/>
              <p:nvPr/>
            </p:nvSpPr>
            <p:spPr>
              <a:xfrm>
                <a:off x="3514320" y="3365505"/>
                <a:ext cx="96057" cy="82526"/>
              </a:xfrm>
              <a:custGeom>
                <a:avLst/>
                <a:gdLst/>
                <a:ahLst/>
                <a:cxnLst/>
                <a:rect l="l" t="t" r="r" b="b"/>
                <a:pathLst>
                  <a:path w="96057" h="82526">
                    <a:moveTo>
                      <a:pt x="40234" y="4397"/>
                    </a:moveTo>
                    <a:lnTo>
                      <a:pt x="1629" y="68853"/>
                    </a:lnTo>
                    <a:cubicBezTo>
                      <a:pt x="10" y="71657"/>
                      <a:pt x="0" y="75110"/>
                      <a:pt x="1603" y="77924"/>
                    </a:cubicBezTo>
                    <a:cubicBezTo>
                      <a:pt x="3207" y="80738"/>
                      <a:pt x="6183" y="82489"/>
                      <a:pt x="9421" y="82526"/>
                    </a:cubicBezTo>
                    <a:lnTo>
                      <a:pt x="86640" y="82526"/>
                    </a:lnTo>
                    <a:cubicBezTo>
                      <a:pt x="89877" y="82488"/>
                      <a:pt x="92851" y="80737"/>
                      <a:pt x="94454" y="77925"/>
                    </a:cubicBezTo>
                    <a:cubicBezTo>
                      <a:pt x="96057" y="75113"/>
                      <a:pt x="96048" y="71661"/>
                      <a:pt x="94431" y="68857"/>
                    </a:cubicBezTo>
                    <a:lnTo>
                      <a:pt x="55827" y="4392"/>
                    </a:lnTo>
                    <a:cubicBezTo>
                      <a:pt x="54175" y="1665"/>
                      <a:pt x="51218" y="0"/>
                      <a:pt x="48030" y="0"/>
                    </a:cubicBezTo>
                    <a:cubicBezTo>
                      <a:pt x="44842" y="0"/>
                      <a:pt x="41886" y="1665"/>
                      <a:pt x="40234" y="4392"/>
                    </a:cubicBezTo>
                  </a:path>
                </a:pathLst>
              </a:custGeom>
              <a:noFill/>
              <a:ln w="9525">
                <a:solidFill>
                  <a:srgbClr val="C83210"/>
                </a:solidFill>
              </a:ln>
            </p:spPr>
          </p:sp>
          <p:sp>
            <p:nvSpPr>
              <p:cNvPr id="247" name="Freeform 247"/>
              <p:cNvSpPr/>
              <p:nvPr/>
            </p:nvSpPr>
            <p:spPr>
              <a:xfrm>
                <a:off x="3562350" y="3429000"/>
                <a:ext cx="9525" cy="9525"/>
              </a:xfrm>
              <a:custGeom>
                <a:avLst/>
                <a:gdLst/>
                <a:ahLst/>
                <a:cxnLst/>
                <a:rect l="l" t="t" r="r" b="b"/>
                <a:pathLst>
                  <a:path w="9525" h="9525">
                    <a:moveTo>
                      <a:pt x="0" y="0"/>
                    </a:moveTo>
                    <a:lnTo>
                      <a:pt x="48" y="0"/>
                    </a:lnTo>
                  </a:path>
                </a:pathLst>
              </a:custGeom>
              <a:noFill/>
              <a:ln w="9525">
                <a:solidFill>
                  <a:srgbClr val="C83210"/>
                </a:solidFill>
              </a:ln>
            </p:spPr>
          </p:sp>
        </p:grpSp>
        <p:sp>
          <p:nvSpPr>
            <p:cNvPr id="249" name="TextBox 249"/>
            <p:cNvSpPr txBox="1"/>
            <p:nvPr/>
          </p:nvSpPr>
          <p:spPr>
            <a:xfrm>
              <a:off x="3652838" y="3381661"/>
              <a:ext cx="34338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客户投诉</a:t>
              </a:r>
            </a:p>
          </p:txBody>
        </p:sp>
        <p:sp>
          <p:nvSpPr>
            <p:cNvPr id="250" name="TextBox 250"/>
            <p:cNvSpPr txBox="1"/>
            <p:nvPr/>
          </p:nvSpPr>
          <p:spPr>
            <a:xfrm>
              <a:off x="4457770" y="3379232"/>
              <a:ext cx="380861"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-50分/次</a:t>
              </a:r>
            </a:p>
          </p:txBody>
        </p:sp>
        <p:sp>
          <p:nvSpPr>
            <p:cNvPr id="251" name="TextBox 251"/>
            <p:cNvSpPr txBox="1"/>
            <p:nvPr/>
          </p:nvSpPr>
          <p:spPr>
            <a:xfrm>
              <a:off x="4986338" y="3384899"/>
              <a:ext cx="634162"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引发客户负面投诉</a:t>
              </a:r>
            </a:p>
          </p:txBody>
        </p:sp>
        <p:grpSp>
          <p:nvGrpSpPr>
            <p:cNvPr id="257" name="Group 257"/>
            <p:cNvGrpSpPr/>
            <p:nvPr/>
          </p:nvGrpSpPr>
          <p:grpSpPr>
            <a:xfrm>
              <a:off x="3519488" y="3576638"/>
              <a:ext cx="90487" cy="90487"/>
              <a:chOff x="3519488" y="3576638"/>
              <a:chExt cx="90487" cy="90487"/>
            </a:xfrm>
          </p:grpSpPr>
          <p:sp>
            <p:nvSpPr>
              <p:cNvPr id="252" name="Freeform 252"/>
              <p:cNvSpPr/>
              <p:nvPr/>
            </p:nvSpPr>
            <p:spPr>
              <a:xfrm>
                <a:off x="3529012" y="35766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C83210"/>
                </a:solidFill>
              </a:ln>
            </p:spPr>
          </p:sp>
          <p:sp>
            <p:nvSpPr>
              <p:cNvPr id="253" name="Freeform 253"/>
              <p:cNvSpPr/>
              <p:nvPr/>
            </p:nvSpPr>
            <p:spPr>
              <a:xfrm>
                <a:off x="3519488" y="3633788"/>
                <a:ext cx="50149" cy="28575"/>
              </a:xfrm>
              <a:custGeom>
                <a:avLst/>
                <a:gdLst/>
                <a:ahLst/>
                <a:cxnLst/>
                <a:rect l="l" t="t" r="r" b="b"/>
                <a:pathLst>
                  <a:path w="50149" h="28575">
                    <a:moveTo>
                      <a:pt x="0" y="28575"/>
                    </a:moveTo>
                    <a:lnTo>
                      <a:pt x="0" y="19050"/>
                    </a:lnTo>
                    <a:cubicBezTo>
                      <a:pt x="0" y="8529"/>
                      <a:pt x="8529" y="0"/>
                      <a:pt x="19050" y="0"/>
                    </a:cubicBezTo>
                    <a:lnTo>
                      <a:pt x="38100" y="0"/>
                    </a:lnTo>
                    <a:cubicBezTo>
                      <a:pt x="42672" y="0"/>
                      <a:pt x="46863" y="1610"/>
                      <a:pt x="50149" y="4291"/>
                    </a:cubicBezTo>
                  </a:path>
                </a:pathLst>
              </a:custGeom>
              <a:noFill/>
              <a:ln w="9525">
                <a:solidFill>
                  <a:srgbClr val="C83210"/>
                </a:solidFill>
              </a:ln>
            </p:spPr>
          </p:sp>
          <p:sp>
            <p:nvSpPr>
              <p:cNvPr id="254" name="Freeform 254"/>
              <p:cNvSpPr/>
              <p:nvPr/>
            </p:nvSpPr>
            <p:spPr>
              <a:xfrm>
                <a:off x="3581400" y="357725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C83210"/>
                </a:solidFill>
              </a:ln>
            </p:spPr>
          </p:sp>
          <p:sp>
            <p:nvSpPr>
              <p:cNvPr id="255" name="Freeform 255"/>
              <p:cNvSpPr/>
              <p:nvPr/>
            </p:nvSpPr>
            <p:spPr>
              <a:xfrm>
                <a:off x="3581400" y="3652838"/>
                <a:ext cx="28575" cy="9525"/>
              </a:xfrm>
              <a:custGeom>
                <a:avLst/>
                <a:gdLst/>
                <a:ahLst/>
                <a:cxnLst/>
                <a:rect l="l" t="t" r="r" b="b"/>
                <a:pathLst>
                  <a:path w="28575" h="9525">
                    <a:moveTo>
                      <a:pt x="0" y="0"/>
                    </a:moveTo>
                    <a:lnTo>
                      <a:pt x="28575" y="0"/>
                    </a:lnTo>
                  </a:path>
                </a:pathLst>
              </a:custGeom>
              <a:noFill/>
              <a:ln w="9525">
                <a:solidFill>
                  <a:srgbClr val="C83210"/>
                </a:solidFill>
              </a:ln>
            </p:spPr>
          </p:sp>
          <p:sp>
            <p:nvSpPr>
              <p:cNvPr id="256" name="Freeform 256"/>
              <p:cNvSpPr/>
              <p:nvPr/>
            </p:nvSpPr>
            <p:spPr>
              <a:xfrm>
                <a:off x="3595688" y="3638550"/>
                <a:ext cx="9525" cy="28575"/>
              </a:xfrm>
              <a:custGeom>
                <a:avLst/>
                <a:gdLst/>
                <a:ahLst/>
                <a:cxnLst/>
                <a:rect l="l" t="t" r="r" b="b"/>
                <a:pathLst>
                  <a:path w="9525" h="28575">
                    <a:moveTo>
                      <a:pt x="0" y="0"/>
                    </a:moveTo>
                    <a:lnTo>
                      <a:pt x="0" y="28575"/>
                    </a:lnTo>
                  </a:path>
                </a:pathLst>
              </a:custGeom>
              <a:noFill/>
              <a:ln w="9525">
                <a:solidFill>
                  <a:srgbClr val="C83210"/>
                </a:solidFill>
              </a:ln>
            </p:spPr>
          </p:sp>
        </p:grpSp>
        <p:sp>
          <p:nvSpPr>
            <p:cNvPr id="258" name="TextBox 258"/>
            <p:cNvSpPr txBox="1"/>
            <p:nvPr/>
          </p:nvSpPr>
          <p:spPr>
            <a:xfrm>
              <a:off x="3652838" y="3591211"/>
              <a:ext cx="34338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重复加微</a:t>
              </a:r>
            </a:p>
          </p:txBody>
        </p:sp>
        <p:sp>
          <p:nvSpPr>
            <p:cNvPr id="259" name="TextBox 259"/>
            <p:cNvSpPr txBox="1"/>
            <p:nvPr/>
          </p:nvSpPr>
          <p:spPr>
            <a:xfrm>
              <a:off x="4457770" y="3588782"/>
              <a:ext cx="380861"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-20分/次</a:t>
              </a:r>
            </a:p>
          </p:txBody>
        </p:sp>
        <p:sp>
          <p:nvSpPr>
            <p:cNvPr id="260" name="TextBox 260"/>
            <p:cNvSpPr txBox="1"/>
            <p:nvPr/>
          </p:nvSpPr>
          <p:spPr>
            <a:xfrm>
              <a:off x="4986338" y="3594449"/>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对同一客户重复添加</a:t>
              </a:r>
            </a:p>
          </p:txBody>
        </p:sp>
        <p:grpSp>
          <p:nvGrpSpPr>
            <p:cNvPr id="264" name="Group 264"/>
            <p:cNvGrpSpPr/>
            <p:nvPr/>
          </p:nvGrpSpPr>
          <p:grpSpPr>
            <a:xfrm>
              <a:off x="3519488" y="3790752"/>
              <a:ext cx="85725" cy="76398"/>
              <a:chOff x="3519488" y="3790752"/>
              <a:chExt cx="85725" cy="76398"/>
            </a:xfrm>
          </p:grpSpPr>
          <p:sp>
            <p:nvSpPr>
              <p:cNvPr id="261" name="Freeform 261"/>
              <p:cNvSpPr/>
              <p:nvPr/>
            </p:nvSpPr>
            <p:spPr>
              <a:xfrm>
                <a:off x="3590925" y="3810000"/>
                <a:ext cx="14288" cy="28575"/>
              </a:xfrm>
              <a:custGeom>
                <a:avLst/>
                <a:gdLst/>
                <a:ahLst/>
                <a:cxnLst/>
                <a:rect l="l" t="t" r="r" b="b"/>
                <a:pathLst>
                  <a:path w="14288" h="28575">
                    <a:moveTo>
                      <a:pt x="0" y="0"/>
                    </a:moveTo>
                    <a:cubicBezTo>
                      <a:pt x="7891" y="0"/>
                      <a:pt x="14288" y="6397"/>
                      <a:pt x="14288" y="14288"/>
                    </a:cubicBezTo>
                    <a:cubicBezTo>
                      <a:pt x="14288" y="22178"/>
                      <a:pt x="7891" y="28575"/>
                      <a:pt x="0" y="28575"/>
                    </a:cubicBezTo>
                  </a:path>
                </a:pathLst>
              </a:custGeom>
              <a:noFill/>
              <a:ln w="9525">
                <a:solidFill>
                  <a:srgbClr val="C83210"/>
                </a:solidFill>
              </a:ln>
            </p:spPr>
          </p:sp>
          <p:sp>
            <p:nvSpPr>
              <p:cNvPr id="262" name="Freeform 262"/>
              <p:cNvSpPr/>
              <p:nvPr/>
            </p:nvSpPr>
            <p:spPr>
              <a:xfrm>
                <a:off x="3538538" y="3810000"/>
                <a:ext cx="14288" cy="57150"/>
              </a:xfrm>
              <a:custGeom>
                <a:avLst/>
                <a:gdLst/>
                <a:ahLst/>
                <a:cxnLst/>
                <a:rect l="l" t="t" r="r" b="b"/>
                <a:pathLst>
                  <a:path w="14288" h="57150">
                    <a:moveTo>
                      <a:pt x="14288" y="0"/>
                    </a:moveTo>
                    <a:lnTo>
                      <a:pt x="14288" y="52388"/>
                    </a:lnTo>
                    <a:cubicBezTo>
                      <a:pt x="14288" y="55018"/>
                      <a:pt x="12155" y="57150"/>
                      <a:pt x="9525" y="57150"/>
                    </a:cubicBezTo>
                    <a:lnTo>
                      <a:pt x="4762" y="57150"/>
                    </a:lnTo>
                    <a:cubicBezTo>
                      <a:pt x="2132" y="57150"/>
                      <a:pt x="0" y="55018"/>
                      <a:pt x="0" y="52388"/>
                    </a:cubicBezTo>
                    <a:lnTo>
                      <a:pt x="0" y="28575"/>
                    </a:lnTo>
                  </a:path>
                </a:pathLst>
              </a:custGeom>
              <a:noFill/>
              <a:ln w="9525">
                <a:solidFill>
                  <a:srgbClr val="C83210"/>
                </a:solidFill>
              </a:ln>
            </p:spPr>
          </p:sp>
          <p:sp>
            <p:nvSpPr>
              <p:cNvPr id="263" name="Freeform 263"/>
              <p:cNvSpPr/>
              <p:nvPr/>
            </p:nvSpPr>
            <p:spPr>
              <a:xfrm>
                <a:off x="3519488" y="3790752"/>
                <a:ext cx="71438" cy="67071"/>
              </a:xfrm>
              <a:custGeom>
                <a:avLst/>
                <a:gdLst/>
                <a:ahLst/>
                <a:cxnLst/>
                <a:rect l="l" t="t" r="r" b="b"/>
                <a:pathLst>
                  <a:path w="71438" h="67071">
                    <a:moveTo>
                      <a:pt x="42862" y="19248"/>
                    </a:moveTo>
                    <a:lnTo>
                      <a:pt x="64408" y="1294"/>
                    </a:lnTo>
                    <a:cubicBezTo>
                      <a:pt x="65686" y="229"/>
                      <a:pt x="67465" y="0"/>
                      <a:pt x="68971" y="706"/>
                    </a:cubicBezTo>
                    <a:cubicBezTo>
                      <a:pt x="70477" y="1412"/>
                      <a:pt x="71438" y="2926"/>
                      <a:pt x="71438" y="4589"/>
                    </a:cubicBezTo>
                    <a:lnTo>
                      <a:pt x="71438" y="62482"/>
                    </a:lnTo>
                    <a:cubicBezTo>
                      <a:pt x="71438" y="64145"/>
                      <a:pt x="70477" y="65659"/>
                      <a:pt x="68971" y="66365"/>
                    </a:cubicBezTo>
                    <a:cubicBezTo>
                      <a:pt x="67465" y="67071"/>
                      <a:pt x="65686" y="66842"/>
                      <a:pt x="64408" y="65778"/>
                    </a:cubicBezTo>
                    <a:lnTo>
                      <a:pt x="42862" y="47823"/>
                    </a:lnTo>
                    <a:lnTo>
                      <a:pt x="4762" y="47823"/>
                    </a:lnTo>
                    <a:cubicBezTo>
                      <a:pt x="2132" y="47823"/>
                      <a:pt x="0" y="45691"/>
                      <a:pt x="0" y="43061"/>
                    </a:cubicBezTo>
                    <a:lnTo>
                      <a:pt x="0" y="24011"/>
                    </a:lnTo>
                    <a:cubicBezTo>
                      <a:pt x="0" y="21380"/>
                      <a:pt x="2132" y="19248"/>
                      <a:pt x="4762" y="19248"/>
                    </a:cubicBezTo>
                    <a:lnTo>
                      <a:pt x="42862" y="19248"/>
                    </a:lnTo>
                  </a:path>
                </a:pathLst>
              </a:custGeom>
              <a:noFill/>
              <a:ln w="9525">
                <a:solidFill>
                  <a:srgbClr val="C83210"/>
                </a:solidFill>
              </a:ln>
            </p:spPr>
          </p:sp>
        </p:grpSp>
        <p:sp>
          <p:nvSpPr>
            <p:cNvPr id="265" name="TextBox 265"/>
            <p:cNvSpPr txBox="1"/>
            <p:nvPr/>
          </p:nvSpPr>
          <p:spPr>
            <a:xfrm>
              <a:off x="3652838" y="3800761"/>
              <a:ext cx="34338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过度营销</a:t>
              </a:r>
            </a:p>
          </p:txBody>
        </p:sp>
        <p:sp>
          <p:nvSpPr>
            <p:cNvPr id="266" name="TextBox 266"/>
            <p:cNvSpPr txBox="1"/>
            <p:nvPr/>
          </p:nvSpPr>
          <p:spPr>
            <a:xfrm>
              <a:off x="4457770" y="3798332"/>
              <a:ext cx="380861"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-30分/次</a:t>
              </a:r>
            </a:p>
          </p:txBody>
        </p:sp>
        <p:sp>
          <p:nvSpPr>
            <p:cNvPr id="267" name="TextBox 267"/>
            <p:cNvSpPr txBox="1"/>
            <p:nvPr/>
          </p:nvSpPr>
          <p:spPr>
            <a:xfrm>
              <a:off x="4986338" y="3803999"/>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发送频繁广告或无关内容</a:t>
              </a:r>
            </a:p>
          </p:txBody>
        </p:sp>
        <p:grpSp>
          <p:nvGrpSpPr>
            <p:cNvPr id="272" name="Group 272"/>
            <p:cNvGrpSpPr/>
            <p:nvPr/>
          </p:nvGrpSpPr>
          <p:grpSpPr>
            <a:xfrm>
              <a:off x="3519488" y="3995738"/>
              <a:ext cx="85724" cy="85725"/>
              <a:chOff x="3519488" y="3995738"/>
              <a:chExt cx="85724" cy="85725"/>
            </a:xfrm>
          </p:grpSpPr>
          <p:sp>
            <p:nvSpPr>
              <p:cNvPr id="268" name="Freeform 268"/>
              <p:cNvSpPr/>
              <p:nvPr/>
            </p:nvSpPr>
            <p:spPr>
              <a:xfrm>
                <a:off x="3567112" y="4043362"/>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C83210"/>
                </a:solidFill>
              </a:ln>
            </p:spPr>
          </p:sp>
          <p:sp>
            <p:nvSpPr>
              <p:cNvPr id="269" name="Freeform 269"/>
              <p:cNvSpPr/>
              <p:nvPr/>
            </p:nvSpPr>
            <p:spPr>
              <a:xfrm>
                <a:off x="3586162" y="4043362"/>
                <a:ext cx="19050" cy="19050"/>
              </a:xfrm>
              <a:custGeom>
                <a:avLst/>
                <a:gdLst/>
                <a:ahLst/>
                <a:cxnLst/>
                <a:rect l="l" t="t" r="r" b="b"/>
                <a:pathLst>
                  <a:path w="19050" h="19050">
                    <a:moveTo>
                      <a:pt x="0" y="0"/>
                    </a:moveTo>
                    <a:lnTo>
                      <a:pt x="0" y="19050"/>
                    </a:lnTo>
                    <a:lnTo>
                      <a:pt x="19050" y="19050"/>
                    </a:lnTo>
                  </a:path>
                </a:pathLst>
              </a:custGeom>
              <a:noFill/>
              <a:ln w="9525">
                <a:solidFill>
                  <a:srgbClr val="C83210"/>
                </a:solidFill>
              </a:ln>
            </p:spPr>
          </p:sp>
          <p:sp>
            <p:nvSpPr>
              <p:cNvPr id="270" name="Freeform 270"/>
              <p:cNvSpPr/>
              <p:nvPr/>
            </p:nvSpPr>
            <p:spPr>
              <a:xfrm>
                <a:off x="3562350" y="3995738"/>
                <a:ext cx="23812" cy="23812"/>
              </a:xfrm>
              <a:custGeom>
                <a:avLst/>
                <a:gdLst/>
                <a:ahLst/>
                <a:cxnLst/>
                <a:rect l="l" t="t" r="r" b="b"/>
                <a:pathLst>
                  <a:path w="23812" h="23812">
                    <a:moveTo>
                      <a:pt x="0" y="0"/>
                    </a:moveTo>
                    <a:lnTo>
                      <a:pt x="0" y="19050"/>
                    </a:lnTo>
                    <a:cubicBezTo>
                      <a:pt x="0" y="21680"/>
                      <a:pt x="2132" y="23812"/>
                      <a:pt x="4762" y="23812"/>
                    </a:cubicBezTo>
                    <a:lnTo>
                      <a:pt x="23812" y="23812"/>
                    </a:lnTo>
                  </a:path>
                </a:pathLst>
              </a:custGeom>
              <a:noFill/>
              <a:ln w="9525">
                <a:solidFill>
                  <a:srgbClr val="C83210"/>
                </a:solidFill>
              </a:ln>
            </p:spPr>
          </p:sp>
          <p:sp>
            <p:nvSpPr>
              <p:cNvPr id="271" name="Freeform 271"/>
              <p:cNvSpPr/>
              <p:nvPr/>
            </p:nvSpPr>
            <p:spPr>
              <a:xfrm>
                <a:off x="3519488" y="3995738"/>
                <a:ext cx="66675" cy="85725"/>
              </a:xfrm>
              <a:custGeom>
                <a:avLst/>
                <a:gdLst/>
                <a:ahLst/>
                <a:cxnLst/>
                <a:rect l="l" t="t" r="r" b="b"/>
                <a:pathLst>
                  <a:path w="66675" h="85725">
                    <a:moveTo>
                      <a:pt x="40481" y="85725"/>
                    </a:moveTo>
                    <a:lnTo>
                      <a:pt x="9525" y="85725"/>
                    </a:lnTo>
                    <a:cubicBezTo>
                      <a:pt x="4264" y="85725"/>
                      <a:pt x="0" y="81461"/>
                      <a:pt x="0" y="76200"/>
                    </a:cubicBezTo>
                    <a:lnTo>
                      <a:pt x="0" y="9525"/>
                    </a:lnTo>
                    <a:cubicBezTo>
                      <a:pt x="0" y="4264"/>
                      <a:pt x="4264" y="0"/>
                      <a:pt x="9525" y="0"/>
                    </a:cubicBezTo>
                    <a:lnTo>
                      <a:pt x="42862" y="0"/>
                    </a:lnTo>
                    <a:lnTo>
                      <a:pt x="66675" y="23812"/>
                    </a:lnTo>
                    <a:lnTo>
                      <a:pt x="66675" y="33338"/>
                    </a:lnTo>
                    <a:moveTo>
                      <a:pt x="66675" y="47625"/>
                    </a:moveTo>
                    <a:lnTo>
                      <a:pt x="66675" y="66675"/>
                    </a:lnTo>
                  </a:path>
                </a:pathLst>
              </a:custGeom>
              <a:noFill/>
              <a:ln w="9525">
                <a:solidFill>
                  <a:srgbClr val="C83210"/>
                </a:solidFill>
              </a:ln>
            </p:spPr>
          </p:sp>
        </p:grpSp>
        <p:sp>
          <p:nvSpPr>
            <p:cNvPr id="273" name="TextBox 273"/>
            <p:cNvSpPr txBox="1"/>
            <p:nvPr/>
          </p:nvSpPr>
          <p:spPr>
            <a:xfrm>
              <a:off x="3652838" y="4010311"/>
              <a:ext cx="343383"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虚假记录</a:t>
              </a:r>
            </a:p>
          </p:txBody>
        </p:sp>
        <p:sp>
          <p:nvSpPr>
            <p:cNvPr id="274" name="TextBox 274"/>
            <p:cNvSpPr txBox="1"/>
            <p:nvPr/>
          </p:nvSpPr>
          <p:spPr>
            <a:xfrm>
              <a:off x="4457770" y="4007882"/>
              <a:ext cx="380861"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-50分/次</a:t>
              </a:r>
            </a:p>
          </p:txBody>
        </p:sp>
        <p:sp>
          <p:nvSpPr>
            <p:cNvPr id="275" name="TextBox 275"/>
            <p:cNvSpPr txBox="1"/>
            <p:nvPr/>
          </p:nvSpPr>
          <p:spPr>
            <a:xfrm>
              <a:off x="4986338" y="4013549"/>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弄虚作假、刷量行为</a:t>
              </a:r>
            </a:p>
          </p:txBody>
        </p:sp>
        <p:grpSp>
          <p:nvGrpSpPr>
            <p:cNvPr id="280" name="Group 280"/>
            <p:cNvGrpSpPr/>
            <p:nvPr/>
          </p:nvGrpSpPr>
          <p:grpSpPr>
            <a:xfrm>
              <a:off x="3533775" y="4205288"/>
              <a:ext cx="76199" cy="90486"/>
              <a:chOff x="3533775" y="4205288"/>
              <a:chExt cx="76199" cy="90486"/>
            </a:xfrm>
          </p:grpSpPr>
          <p:sp>
            <p:nvSpPr>
              <p:cNvPr id="276" name="Freeform 276"/>
              <p:cNvSpPr/>
              <p:nvPr/>
            </p:nvSpPr>
            <p:spPr>
              <a:xfrm>
                <a:off x="3543300" y="42052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C83210"/>
                </a:solidFill>
              </a:ln>
            </p:spPr>
          </p:sp>
          <p:sp>
            <p:nvSpPr>
              <p:cNvPr id="277" name="Freeform 277"/>
              <p:cNvSpPr/>
              <p:nvPr/>
            </p:nvSpPr>
            <p:spPr>
              <a:xfrm>
                <a:off x="3533775" y="4262438"/>
                <a:ext cx="35719" cy="28575"/>
              </a:xfrm>
              <a:custGeom>
                <a:avLst/>
                <a:gdLst/>
                <a:ahLst/>
                <a:cxnLst/>
                <a:rect l="l" t="t" r="r" b="b"/>
                <a:pathLst>
                  <a:path w="35719" h="28575">
                    <a:moveTo>
                      <a:pt x="0" y="28575"/>
                    </a:moveTo>
                    <a:lnTo>
                      <a:pt x="0" y="19050"/>
                    </a:lnTo>
                    <a:cubicBezTo>
                      <a:pt x="0" y="8529"/>
                      <a:pt x="8529" y="0"/>
                      <a:pt x="19050" y="0"/>
                    </a:cubicBezTo>
                    <a:lnTo>
                      <a:pt x="35719" y="0"/>
                    </a:lnTo>
                  </a:path>
                </a:pathLst>
              </a:custGeom>
              <a:noFill/>
              <a:ln w="9525">
                <a:solidFill>
                  <a:srgbClr val="C83210"/>
                </a:solidFill>
              </a:ln>
            </p:spPr>
          </p:sp>
          <p:sp>
            <p:nvSpPr>
              <p:cNvPr id="278" name="Freeform 278"/>
              <p:cNvSpPr/>
              <p:nvPr/>
            </p:nvSpPr>
            <p:spPr>
              <a:xfrm>
                <a:off x="3586162" y="4271962"/>
                <a:ext cx="23812" cy="23812"/>
              </a:xfrm>
              <a:custGeom>
                <a:avLst/>
                <a:gdLst/>
                <a:ahLst/>
                <a:cxnLst/>
                <a:rect l="l" t="t" r="r" b="b"/>
                <a:pathLst>
                  <a:path w="23812" h="23812">
                    <a:moveTo>
                      <a:pt x="23812" y="23812"/>
                    </a:moveTo>
                    <a:lnTo>
                      <a:pt x="0" y="0"/>
                    </a:lnTo>
                  </a:path>
                </a:pathLst>
              </a:custGeom>
              <a:noFill/>
              <a:ln w="9525">
                <a:solidFill>
                  <a:srgbClr val="C83210"/>
                </a:solidFill>
              </a:ln>
            </p:spPr>
          </p:sp>
          <p:sp>
            <p:nvSpPr>
              <p:cNvPr id="279" name="Freeform 279"/>
              <p:cNvSpPr/>
              <p:nvPr/>
            </p:nvSpPr>
            <p:spPr>
              <a:xfrm>
                <a:off x="3586162" y="4271962"/>
                <a:ext cx="23812" cy="23812"/>
              </a:xfrm>
              <a:custGeom>
                <a:avLst/>
                <a:gdLst/>
                <a:ahLst/>
                <a:cxnLst/>
                <a:rect l="l" t="t" r="r" b="b"/>
                <a:pathLst>
                  <a:path w="23812" h="23812">
                    <a:moveTo>
                      <a:pt x="0" y="23812"/>
                    </a:moveTo>
                    <a:lnTo>
                      <a:pt x="23812" y="0"/>
                    </a:lnTo>
                  </a:path>
                </a:pathLst>
              </a:custGeom>
              <a:noFill/>
              <a:ln w="9525">
                <a:solidFill>
                  <a:srgbClr val="C83210"/>
                </a:solidFill>
              </a:ln>
            </p:spPr>
          </p:sp>
        </p:grpSp>
        <p:sp>
          <p:nvSpPr>
            <p:cNvPr id="281" name="TextBox 281"/>
            <p:cNvSpPr txBox="1"/>
            <p:nvPr/>
          </p:nvSpPr>
          <p:spPr>
            <a:xfrm>
              <a:off x="3652838" y="4219861"/>
              <a:ext cx="426847"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被客户删除</a:t>
              </a:r>
            </a:p>
          </p:txBody>
        </p:sp>
        <p:sp>
          <p:nvSpPr>
            <p:cNvPr id="282" name="TextBox 282"/>
            <p:cNvSpPr txBox="1"/>
            <p:nvPr/>
          </p:nvSpPr>
          <p:spPr>
            <a:xfrm>
              <a:off x="4457770" y="4217432"/>
              <a:ext cx="380861"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-10分/次</a:t>
              </a:r>
            </a:p>
          </p:txBody>
        </p:sp>
        <p:sp>
          <p:nvSpPr>
            <p:cNvPr id="283" name="TextBox 283"/>
            <p:cNvSpPr txBox="1"/>
            <p:nvPr/>
          </p:nvSpPr>
          <p:spPr>
            <a:xfrm>
              <a:off x="4986338" y="4223099"/>
              <a:ext cx="79032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因不当行为被客户删除</a:t>
              </a:r>
            </a:p>
          </p:txBody>
        </p:sp>
        <p:sp>
          <p:nvSpPr>
            <p:cNvPr id="284" name="Line 284"/>
            <p:cNvSpPr/>
            <p:nvPr/>
          </p:nvSpPr>
          <p:spPr>
            <a:xfrm>
              <a:off x="3448050" y="3505200"/>
              <a:ext cx="3219450" cy="9525"/>
            </a:xfrm>
            <a:custGeom>
              <a:avLst/>
              <a:gdLst/>
              <a:ahLst/>
              <a:cxnLst/>
              <a:rect l="l" t="t" r="r" b="b"/>
              <a:pathLst>
                <a:path w="3219450" h="9525">
                  <a:moveTo>
                    <a:pt x="0" y="0"/>
                  </a:moveTo>
                  <a:lnTo>
                    <a:pt x="3219450" y="0"/>
                  </a:lnTo>
                </a:path>
              </a:pathLst>
            </a:custGeom>
            <a:noFill/>
            <a:ln w="9525">
              <a:solidFill>
                <a:srgbClr val="F1C7CC"/>
              </a:solidFill>
            </a:ln>
          </p:spPr>
        </p:sp>
        <p:sp>
          <p:nvSpPr>
            <p:cNvPr id="285" name="Line 285"/>
            <p:cNvSpPr/>
            <p:nvPr/>
          </p:nvSpPr>
          <p:spPr>
            <a:xfrm>
              <a:off x="3448050" y="3714750"/>
              <a:ext cx="3219450" cy="9525"/>
            </a:xfrm>
            <a:custGeom>
              <a:avLst/>
              <a:gdLst/>
              <a:ahLst/>
              <a:cxnLst/>
              <a:rect l="l" t="t" r="r" b="b"/>
              <a:pathLst>
                <a:path w="3219450" h="9525">
                  <a:moveTo>
                    <a:pt x="0" y="0"/>
                  </a:moveTo>
                  <a:lnTo>
                    <a:pt x="3219450" y="0"/>
                  </a:lnTo>
                </a:path>
              </a:pathLst>
            </a:custGeom>
            <a:noFill/>
            <a:ln w="9525">
              <a:solidFill>
                <a:srgbClr val="F1C7CC"/>
              </a:solidFill>
            </a:ln>
          </p:spPr>
        </p:sp>
        <p:sp>
          <p:nvSpPr>
            <p:cNvPr id="286" name="Line 286"/>
            <p:cNvSpPr/>
            <p:nvPr/>
          </p:nvSpPr>
          <p:spPr>
            <a:xfrm>
              <a:off x="3448050" y="3924300"/>
              <a:ext cx="3219450" cy="9525"/>
            </a:xfrm>
            <a:custGeom>
              <a:avLst/>
              <a:gdLst/>
              <a:ahLst/>
              <a:cxnLst/>
              <a:rect l="l" t="t" r="r" b="b"/>
              <a:pathLst>
                <a:path w="3219450" h="9525">
                  <a:moveTo>
                    <a:pt x="0" y="0"/>
                  </a:moveTo>
                  <a:lnTo>
                    <a:pt x="3219450" y="0"/>
                  </a:lnTo>
                </a:path>
              </a:pathLst>
            </a:custGeom>
            <a:noFill/>
            <a:ln w="9525">
              <a:solidFill>
                <a:srgbClr val="F1C7CC"/>
              </a:solidFill>
            </a:ln>
          </p:spPr>
        </p:sp>
        <p:sp>
          <p:nvSpPr>
            <p:cNvPr id="287" name="Line 287"/>
            <p:cNvSpPr/>
            <p:nvPr/>
          </p:nvSpPr>
          <p:spPr>
            <a:xfrm>
              <a:off x="3448050" y="4133850"/>
              <a:ext cx="3219450" cy="9525"/>
            </a:xfrm>
            <a:custGeom>
              <a:avLst/>
              <a:gdLst/>
              <a:ahLst/>
              <a:cxnLst/>
              <a:rect l="l" t="t" r="r" b="b"/>
              <a:pathLst>
                <a:path w="3219450" h="9525">
                  <a:moveTo>
                    <a:pt x="0" y="0"/>
                  </a:moveTo>
                  <a:lnTo>
                    <a:pt x="3219450" y="0"/>
                  </a:lnTo>
                </a:path>
              </a:pathLst>
            </a:custGeom>
            <a:noFill/>
            <a:ln w="9525">
              <a:solidFill>
                <a:srgbClr val="F1C7CC"/>
              </a:solidFill>
            </a:ln>
          </p:spPr>
        </p:sp>
        <p:sp>
          <p:nvSpPr>
            <p:cNvPr id="288" name="Line 288"/>
            <p:cNvSpPr/>
            <p:nvPr/>
          </p:nvSpPr>
          <p:spPr>
            <a:xfrm>
              <a:off x="3448050" y="4343400"/>
              <a:ext cx="3219450" cy="9525"/>
            </a:xfrm>
            <a:custGeom>
              <a:avLst/>
              <a:gdLst/>
              <a:ahLst/>
              <a:cxnLst/>
              <a:rect l="l" t="t" r="r" b="b"/>
              <a:pathLst>
                <a:path w="3219450" h="9525">
                  <a:moveTo>
                    <a:pt x="0" y="0"/>
                  </a:moveTo>
                  <a:lnTo>
                    <a:pt x="3219450" y="0"/>
                  </a:lnTo>
                </a:path>
              </a:pathLst>
            </a:custGeom>
            <a:noFill/>
            <a:ln w="9525">
              <a:solidFill>
                <a:srgbClr val="F1C7CC"/>
              </a:solidFill>
            </a:ln>
          </p:spPr>
        </p:sp>
      </p:grpSp>
      <p:grpSp>
        <p:nvGrpSpPr>
          <p:cNvPr id="333" name="review-cards"/>
          <p:cNvGrpSpPr/>
          <p:nvPr/>
        </p:nvGrpSpPr>
        <p:grpSpPr>
          <a:xfrm>
            <a:off x="6781800" y="2695575"/>
            <a:ext cx="5276850" cy="1647825"/>
            <a:chOff x="6781800" y="2695575"/>
            <a:chExt cx="5276850" cy="1647825"/>
          </a:xfrm>
        </p:grpSpPr>
        <p:sp>
          <p:nvSpPr>
            <p:cNvPr id="290" name="Ellipse 290"/>
            <p:cNvSpPr/>
            <p:nvPr/>
          </p:nvSpPr>
          <p:spPr>
            <a:xfrm>
              <a:off x="6791325" y="2695575"/>
              <a:ext cx="171450" cy="171450"/>
            </a:xfrm>
            <a:prstGeom prst="ellipse">
              <a:avLst/>
            </a:prstGeom>
            <a:solidFill>
              <a:srgbClr val="C83210"/>
            </a:solidFill>
            <a:ln>
              <a:noFill/>
            </a:ln>
          </p:spPr>
        </p:sp>
        <p:sp>
          <p:nvSpPr>
            <p:cNvPr id="291" name="TextBox 291"/>
            <p:cNvSpPr txBox="1"/>
            <p:nvPr/>
          </p:nvSpPr>
          <p:spPr>
            <a:xfrm>
              <a:off x="6844209" y="273843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5</a:t>
              </a:r>
            </a:p>
          </p:txBody>
        </p:sp>
        <p:sp>
          <p:nvSpPr>
            <p:cNvPr id="292" name="TextBox 292"/>
            <p:cNvSpPr txBox="1"/>
            <p:nvPr/>
          </p:nvSpPr>
          <p:spPr>
            <a:xfrm>
              <a:off x="7024497" y="2723674"/>
              <a:ext cx="933399"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检视与跟进机制</a:t>
              </a:r>
            </a:p>
          </p:txBody>
        </p:sp>
        <p:sp>
          <p:nvSpPr>
            <p:cNvPr id="293" name="Rectangle 293"/>
            <p:cNvSpPr/>
            <p:nvPr/>
          </p:nvSpPr>
          <p:spPr>
            <a:xfrm>
              <a:off x="6781800" y="2914650"/>
              <a:ext cx="1695450" cy="1428750"/>
            </a:xfrm>
            <a:prstGeom prst="roundRect">
              <a:avLst>
                <a:gd name="adj" fmla="val 4000"/>
              </a:avLst>
            </a:prstGeom>
            <a:solidFill>
              <a:srgbClr val="FDEFF1"/>
            </a:solidFill>
            <a:ln>
              <a:noFill/>
            </a:ln>
          </p:spPr>
        </p:sp>
        <p:grpSp>
          <p:nvGrpSpPr>
            <p:cNvPr id="298" name="Group 298"/>
            <p:cNvGrpSpPr/>
            <p:nvPr/>
          </p:nvGrpSpPr>
          <p:grpSpPr>
            <a:xfrm>
              <a:off x="6934200" y="3038475"/>
              <a:ext cx="152400" cy="180975"/>
              <a:chOff x="6934200" y="3038475"/>
              <a:chExt cx="152400" cy="180975"/>
            </a:xfrm>
          </p:grpSpPr>
          <p:sp>
            <p:nvSpPr>
              <p:cNvPr id="294" name="Freeform 294"/>
              <p:cNvSpPr/>
              <p:nvPr/>
            </p:nvSpPr>
            <p:spPr>
              <a:xfrm>
                <a:off x="6953250" y="30384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83210"/>
                </a:solidFill>
              </a:ln>
            </p:spPr>
          </p:sp>
          <p:sp>
            <p:nvSpPr>
              <p:cNvPr id="295" name="Freeform 295"/>
              <p:cNvSpPr/>
              <p:nvPr/>
            </p:nvSpPr>
            <p:spPr>
              <a:xfrm>
                <a:off x="6934200" y="3152775"/>
                <a:ext cx="52388" cy="57150"/>
              </a:xfrm>
              <a:custGeom>
                <a:avLst/>
                <a:gdLst/>
                <a:ahLst/>
                <a:cxnLst/>
                <a:rect l="l" t="t" r="r" b="b"/>
                <a:pathLst>
                  <a:path w="52388" h="57150">
                    <a:moveTo>
                      <a:pt x="0" y="57150"/>
                    </a:moveTo>
                    <a:lnTo>
                      <a:pt x="0" y="38100"/>
                    </a:lnTo>
                    <a:cubicBezTo>
                      <a:pt x="0" y="17058"/>
                      <a:pt x="17058" y="0"/>
                      <a:pt x="38100" y="0"/>
                    </a:cubicBezTo>
                    <a:lnTo>
                      <a:pt x="52388" y="0"/>
                    </a:lnTo>
                  </a:path>
                </a:pathLst>
              </a:custGeom>
              <a:noFill/>
              <a:ln w="19050">
                <a:solidFill>
                  <a:srgbClr val="C83210"/>
                </a:solidFill>
              </a:ln>
            </p:spPr>
          </p:sp>
          <p:sp>
            <p:nvSpPr>
              <p:cNvPr id="296" name="Freeform 296"/>
              <p:cNvSpPr/>
              <p:nvPr/>
            </p:nvSpPr>
            <p:spPr>
              <a:xfrm>
                <a:off x="7019925" y="315277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C83210"/>
                </a:solidFill>
              </a:ln>
            </p:spPr>
          </p:sp>
          <p:sp>
            <p:nvSpPr>
              <p:cNvPr id="297" name="Freeform 297"/>
              <p:cNvSpPr/>
              <p:nvPr/>
            </p:nvSpPr>
            <p:spPr>
              <a:xfrm>
                <a:off x="7069455" y="3202305"/>
                <a:ext cx="17145" cy="17145"/>
              </a:xfrm>
              <a:custGeom>
                <a:avLst/>
                <a:gdLst/>
                <a:ahLst/>
                <a:cxnLst/>
                <a:rect l="l" t="t" r="r" b="b"/>
                <a:pathLst>
                  <a:path w="17145" h="17145">
                    <a:moveTo>
                      <a:pt x="0" y="0"/>
                    </a:moveTo>
                    <a:lnTo>
                      <a:pt x="17145" y="17145"/>
                    </a:lnTo>
                  </a:path>
                </a:pathLst>
              </a:custGeom>
              <a:noFill/>
              <a:ln w="19050">
                <a:solidFill>
                  <a:srgbClr val="C83210"/>
                </a:solidFill>
              </a:ln>
            </p:spPr>
          </p:sp>
        </p:grpSp>
        <p:sp>
          <p:nvSpPr>
            <p:cNvPr id="299" name="TextBox 299"/>
            <p:cNvSpPr txBox="1"/>
            <p:nvPr/>
          </p:nvSpPr>
          <p:spPr>
            <a:xfrm>
              <a:off x="7177088" y="3090862"/>
              <a:ext cx="673622"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每日·自我检视</a:t>
              </a:r>
            </a:p>
          </p:txBody>
        </p:sp>
        <p:sp>
          <p:nvSpPr>
            <p:cNvPr id="300" name="TextBox 300"/>
            <p:cNvSpPr txBox="1"/>
            <p:nvPr/>
          </p:nvSpPr>
          <p:spPr>
            <a:xfrm>
              <a:off x="6872288" y="3381661"/>
              <a:ext cx="1003833" cy="121920"/>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20" dirty="0">
                  <a:solidFill>
                    <a:srgbClr val="3D3D3D"/>
                  </a:solidFill>
                  <a:latin typeface="+mn-lt"/>
                  <a:ea typeface="+mn-ea"/>
                  <a:cs typeface="+mn-cs"/>
                </a:rPr>
                <a:t>下班前查看任务完成情况</a:t>
              </a:r>
            </a:p>
          </p:txBody>
        </p:sp>
        <p:sp>
          <p:nvSpPr>
            <p:cNvPr id="301" name="TextBox 301"/>
            <p:cNvSpPr txBox="1"/>
            <p:nvPr/>
          </p:nvSpPr>
          <p:spPr>
            <a:xfrm>
              <a:off x="6872288" y="3553111"/>
              <a:ext cx="1087298" cy="121920"/>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20" dirty="0">
                  <a:solidFill>
                    <a:srgbClr val="3D3D3D"/>
                  </a:solidFill>
                  <a:latin typeface="+mn-lt"/>
                  <a:ea typeface="+mn-ea"/>
                  <a:cs typeface="+mn-cs"/>
                </a:rPr>
                <a:t>对未完成任务制定补救计划</a:t>
              </a:r>
            </a:p>
          </p:txBody>
        </p:sp>
        <p:sp>
          <p:nvSpPr>
            <p:cNvPr id="302" name="TextBox 302"/>
            <p:cNvSpPr txBox="1"/>
            <p:nvPr/>
          </p:nvSpPr>
          <p:spPr>
            <a:xfrm>
              <a:off x="6872288" y="3724561"/>
              <a:ext cx="920369" cy="121920"/>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20" dirty="0">
                  <a:solidFill>
                    <a:srgbClr val="3D3D3D"/>
                  </a:solidFill>
                  <a:latin typeface="+mn-lt"/>
                  <a:ea typeface="+mn-ea"/>
                  <a:cs typeface="+mn-cs"/>
                </a:rPr>
                <a:t>记录重点客户跟进进展</a:t>
              </a:r>
            </a:p>
          </p:txBody>
        </p:sp>
        <p:sp>
          <p:nvSpPr>
            <p:cNvPr id="303" name="Rectangle 303"/>
            <p:cNvSpPr/>
            <p:nvPr/>
          </p:nvSpPr>
          <p:spPr>
            <a:xfrm>
              <a:off x="6781800" y="4038600"/>
              <a:ext cx="1695450" cy="228600"/>
            </a:xfrm>
            <a:prstGeom prst="rect">
              <a:avLst/>
            </a:prstGeom>
            <a:solidFill>
              <a:srgbClr val="FBE3E6"/>
            </a:solidFill>
            <a:ln>
              <a:noFill/>
            </a:ln>
          </p:spPr>
        </p:sp>
        <p:sp>
          <p:nvSpPr>
            <p:cNvPr id="304" name="TextBox 304"/>
            <p:cNvSpPr txBox="1"/>
            <p:nvPr/>
          </p:nvSpPr>
          <p:spPr>
            <a:xfrm>
              <a:off x="7237057" y="4122182"/>
              <a:ext cx="78493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工具：个人任务看板</a:t>
              </a:r>
            </a:p>
          </p:txBody>
        </p:sp>
        <p:sp>
          <p:nvSpPr>
            <p:cNvPr id="305" name="Freeform 305"/>
            <p:cNvSpPr/>
            <p:nvPr/>
          </p:nvSpPr>
          <p:spPr>
            <a:xfrm>
              <a:off x="8477250" y="3543300"/>
              <a:ext cx="95250" cy="133350"/>
            </a:xfrm>
            <a:prstGeom prst="rightArrow">
              <a:avLst/>
            </a:prstGeom>
            <a:solidFill>
              <a:srgbClr val="E9826B"/>
            </a:solidFill>
            <a:ln>
              <a:noFill/>
            </a:ln>
          </p:spPr>
        </p:sp>
        <p:sp>
          <p:nvSpPr>
            <p:cNvPr id="306" name="Rectangle 306"/>
            <p:cNvSpPr/>
            <p:nvPr/>
          </p:nvSpPr>
          <p:spPr>
            <a:xfrm>
              <a:off x="8572500" y="2914650"/>
              <a:ext cx="1695450" cy="1428750"/>
            </a:xfrm>
            <a:prstGeom prst="roundRect">
              <a:avLst>
                <a:gd name="adj" fmla="val 4000"/>
              </a:avLst>
            </a:prstGeom>
            <a:solidFill>
              <a:srgbClr val="FDEFF1"/>
            </a:solidFill>
            <a:ln>
              <a:noFill/>
            </a:ln>
          </p:spPr>
        </p:sp>
        <p:grpSp>
          <p:nvGrpSpPr>
            <p:cNvPr id="313" name="Group 313"/>
            <p:cNvGrpSpPr/>
            <p:nvPr/>
          </p:nvGrpSpPr>
          <p:grpSpPr>
            <a:xfrm>
              <a:off x="8696325" y="3038475"/>
              <a:ext cx="171450" cy="171450"/>
              <a:chOff x="8696325" y="3038475"/>
              <a:chExt cx="171450" cy="171450"/>
            </a:xfrm>
          </p:grpSpPr>
          <p:sp>
            <p:nvSpPr>
              <p:cNvPr id="307" name="Freeform 307"/>
              <p:cNvSpPr/>
              <p:nvPr/>
            </p:nvSpPr>
            <p:spPr>
              <a:xfrm>
                <a:off x="8763000" y="3114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C83210"/>
                </a:solidFill>
              </a:ln>
            </p:spPr>
          </p:sp>
          <p:sp>
            <p:nvSpPr>
              <p:cNvPr id="308" name="Freeform 308"/>
              <p:cNvSpPr/>
              <p:nvPr/>
            </p:nvSpPr>
            <p:spPr>
              <a:xfrm>
                <a:off x="8743950" y="31813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C83210"/>
                </a:solidFill>
              </a:ln>
            </p:spPr>
          </p:sp>
          <p:sp>
            <p:nvSpPr>
              <p:cNvPr id="309" name="Freeform 309"/>
              <p:cNvSpPr/>
              <p:nvPr/>
            </p:nvSpPr>
            <p:spPr>
              <a:xfrm>
                <a:off x="8810625" y="3038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C83210"/>
                </a:solidFill>
              </a:ln>
            </p:spPr>
          </p:sp>
          <p:sp>
            <p:nvSpPr>
              <p:cNvPr id="310" name="Freeform 310"/>
              <p:cNvSpPr/>
              <p:nvPr/>
            </p:nvSpPr>
            <p:spPr>
              <a:xfrm>
                <a:off x="8829675" y="31051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C83210"/>
                </a:solidFill>
              </a:ln>
            </p:spPr>
          </p:sp>
          <p:sp>
            <p:nvSpPr>
              <p:cNvPr id="311" name="Freeform 311"/>
              <p:cNvSpPr/>
              <p:nvPr/>
            </p:nvSpPr>
            <p:spPr>
              <a:xfrm>
                <a:off x="8715375" y="3038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C83210"/>
                </a:solidFill>
              </a:ln>
            </p:spPr>
          </p:sp>
          <p:sp>
            <p:nvSpPr>
              <p:cNvPr id="312" name="Freeform 312"/>
              <p:cNvSpPr/>
              <p:nvPr/>
            </p:nvSpPr>
            <p:spPr>
              <a:xfrm>
                <a:off x="8696325" y="31051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C83210"/>
                </a:solidFill>
              </a:ln>
            </p:spPr>
          </p:sp>
        </p:grpSp>
        <p:sp>
          <p:nvSpPr>
            <p:cNvPr id="314" name="TextBox 314"/>
            <p:cNvSpPr txBox="1"/>
            <p:nvPr/>
          </p:nvSpPr>
          <p:spPr>
            <a:xfrm>
              <a:off x="8967788" y="3090862"/>
              <a:ext cx="673622"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每周·团队复盘</a:t>
              </a:r>
            </a:p>
          </p:txBody>
        </p:sp>
        <p:sp>
          <p:nvSpPr>
            <p:cNvPr id="315" name="TextBox 315"/>
            <p:cNvSpPr txBox="1"/>
            <p:nvPr/>
          </p:nvSpPr>
          <p:spPr>
            <a:xfrm>
              <a:off x="8662988" y="3381661"/>
              <a:ext cx="1087298" cy="121920"/>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20" dirty="0">
                  <a:solidFill>
                    <a:srgbClr val="3D3D3D"/>
                  </a:solidFill>
                  <a:latin typeface="+mn-lt"/>
                  <a:ea typeface="+mn-ea"/>
                  <a:cs typeface="+mn-cs"/>
                </a:rPr>
                <a:t>汇总团队任务完成率与积分</a:t>
              </a:r>
            </a:p>
          </p:txBody>
        </p:sp>
        <p:sp>
          <p:nvSpPr>
            <p:cNvPr id="316" name="TextBox 316"/>
            <p:cNvSpPr txBox="1"/>
            <p:nvPr/>
          </p:nvSpPr>
          <p:spPr>
            <a:xfrm>
              <a:off x="8662988" y="3553111"/>
              <a:ext cx="836905" cy="121920"/>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20" dirty="0">
                  <a:solidFill>
                    <a:srgbClr val="3D3D3D"/>
                  </a:solidFill>
                  <a:latin typeface="+mn-lt"/>
                  <a:ea typeface="+mn-ea"/>
                  <a:cs typeface="+mn-cs"/>
                </a:rPr>
                <a:t>分析问题与优秀案例</a:t>
              </a:r>
            </a:p>
          </p:txBody>
        </p:sp>
        <p:sp>
          <p:nvSpPr>
            <p:cNvPr id="317" name="TextBox 317"/>
            <p:cNvSpPr txBox="1"/>
            <p:nvPr/>
          </p:nvSpPr>
          <p:spPr>
            <a:xfrm>
              <a:off x="8662988" y="3724561"/>
              <a:ext cx="1170762" cy="121920"/>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20" dirty="0">
                  <a:solidFill>
                    <a:srgbClr val="3D3D3D"/>
                  </a:solidFill>
                  <a:latin typeface="+mn-lt"/>
                  <a:ea typeface="+mn-ea"/>
                  <a:cs typeface="+mn-cs"/>
                </a:rPr>
                <a:t>调整下周重点客户与活动计划</a:t>
              </a:r>
            </a:p>
          </p:txBody>
        </p:sp>
        <p:sp>
          <p:nvSpPr>
            <p:cNvPr id="318" name="Rectangle 318"/>
            <p:cNvSpPr/>
            <p:nvPr/>
          </p:nvSpPr>
          <p:spPr>
            <a:xfrm>
              <a:off x="8572500" y="4038600"/>
              <a:ext cx="1695450" cy="228600"/>
            </a:xfrm>
            <a:prstGeom prst="rect">
              <a:avLst/>
            </a:prstGeom>
            <a:solidFill>
              <a:srgbClr val="FBE3E6"/>
            </a:solidFill>
            <a:ln>
              <a:noFill/>
            </a:ln>
          </p:spPr>
        </p:sp>
        <p:sp>
          <p:nvSpPr>
            <p:cNvPr id="319" name="TextBox 319"/>
            <p:cNvSpPr txBox="1"/>
            <p:nvPr/>
          </p:nvSpPr>
          <p:spPr>
            <a:xfrm>
              <a:off x="8898522" y="4122182"/>
              <a:ext cx="1043407"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工具：团队周报、例会复盘</a:t>
              </a:r>
            </a:p>
          </p:txBody>
        </p:sp>
        <p:sp>
          <p:nvSpPr>
            <p:cNvPr id="320" name="Freeform 320"/>
            <p:cNvSpPr/>
            <p:nvPr/>
          </p:nvSpPr>
          <p:spPr>
            <a:xfrm>
              <a:off x="10267950" y="3543300"/>
              <a:ext cx="95250" cy="133350"/>
            </a:xfrm>
            <a:prstGeom prst="rightArrow">
              <a:avLst/>
            </a:prstGeom>
            <a:solidFill>
              <a:srgbClr val="E9826B"/>
            </a:solidFill>
            <a:ln>
              <a:noFill/>
            </a:ln>
          </p:spPr>
        </p:sp>
        <p:sp>
          <p:nvSpPr>
            <p:cNvPr id="321" name="Rectangle 321"/>
            <p:cNvSpPr/>
            <p:nvPr/>
          </p:nvSpPr>
          <p:spPr>
            <a:xfrm>
              <a:off x="10363200" y="2914650"/>
              <a:ext cx="1695450" cy="1428750"/>
            </a:xfrm>
            <a:prstGeom prst="roundRect">
              <a:avLst>
                <a:gd name="adj" fmla="val 4000"/>
              </a:avLst>
            </a:prstGeom>
            <a:solidFill>
              <a:srgbClr val="FDEFF1"/>
            </a:solidFill>
            <a:ln>
              <a:noFill/>
            </a:ln>
          </p:spPr>
        </p:sp>
        <p:grpSp>
          <p:nvGrpSpPr>
            <p:cNvPr id="326" name="Group 326"/>
            <p:cNvGrpSpPr/>
            <p:nvPr/>
          </p:nvGrpSpPr>
          <p:grpSpPr>
            <a:xfrm>
              <a:off x="10487025" y="3048000"/>
              <a:ext cx="171450" cy="161925"/>
              <a:chOff x="10487025" y="3048000"/>
              <a:chExt cx="171450" cy="161925"/>
            </a:xfrm>
          </p:grpSpPr>
          <p:sp>
            <p:nvSpPr>
              <p:cNvPr id="322" name="Freeform 322"/>
              <p:cNvSpPr/>
              <p:nvPr/>
            </p:nvSpPr>
            <p:spPr>
              <a:xfrm>
                <a:off x="10487025" y="31242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C83210"/>
                </a:solidFill>
              </a:ln>
            </p:spPr>
          </p:sp>
          <p:sp>
            <p:nvSpPr>
              <p:cNvPr id="323" name="Freeform 323"/>
              <p:cNvSpPr/>
              <p:nvPr/>
            </p:nvSpPr>
            <p:spPr>
              <a:xfrm>
                <a:off x="10601325" y="30861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C83210"/>
                </a:solidFill>
              </a:ln>
            </p:spPr>
          </p:sp>
          <p:sp>
            <p:nvSpPr>
              <p:cNvPr id="324" name="Freeform 324"/>
              <p:cNvSpPr/>
              <p:nvPr/>
            </p:nvSpPr>
            <p:spPr>
              <a:xfrm>
                <a:off x="10544175" y="30480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C83210"/>
                </a:solidFill>
              </a:ln>
            </p:spPr>
          </p:sp>
          <p:sp>
            <p:nvSpPr>
              <p:cNvPr id="325" name="Freeform 325"/>
              <p:cNvSpPr/>
              <p:nvPr/>
            </p:nvSpPr>
            <p:spPr>
              <a:xfrm>
                <a:off x="10496550" y="3200400"/>
                <a:ext cx="133350" cy="9525"/>
              </a:xfrm>
              <a:custGeom>
                <a:avLst/>
                <a:gdLst/>
                <a:ahLst/>
                <a:cxnLst/>
                <a:rect l="l" t="t" r="r" b="b"/>
                <a:pathLst>
                  <a:path w="133350" h="9525">
                    <a:moveTo>
                      <a:pt x="0" y="0"/>
                    </a:moveTo>
                    <a:lnTo>
                      <a:pt x="133350" y="0"/>
                    </a:lnTo>
                  </a:path>
                </a:pathLst>
              </a:custGeom>
              <a:noFill/>
              <a:ln w="19050">
                <a:solidFill>
                  <a:srgbClr val="C83210"/>
                </a:solidFill>
              </a:ln>
            </p:spPr>
          </p:sp>
        </p:grpSp>
        <p:sp>
          <p:nvSpPr>
            <p:cNvPr id="327" name="TextBox 327"/>
            <p:cNvSpPr txBox="1"/>
            <p:nvPr/>
          </p:nvSpPr>
          <p:spPr>
            <a:xfrm>
              <a:off x="10758488" y="3090862"/>
              <a:ext cx="673622"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每月·经营评估</a:t>
              </a:r>
            </a:p>
          </p:txBody>
        </p:sp>
        <p:sp>
          <p:nvSpPr>
            <p:cNvPr id="328" name="TextBox 328"/>
            <p:cNvSpPr txBox="1"/>
            <p:nvPr/>
          </p:nvSpPr>
          <p:spPr>
            <a:xfrm>
              <a:off x="10453688" y="3381661"/>
              <a:ext cx="1087298" cy="121920"/>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20" dirty="0">
                  <a:solidFill>
                    <a:srgbClr val="3D3D3D"/>
                  </a:solidFill>
                  <a:latin typeface="+mn-lt"/>
                  <a:ea typeface="+mn-ea"/>
                  <a:cs typeface="+mn-cs"/>
                </a:rPr>
                <a:t>对比分行月度目标完成情况</a:t>
              </a:r>
            </a:p>
          </p:txBody>
        </p:sp>
        <p:sp>
          <p:nvSpPr>
            <p:cNvPr id="329" name="TextBox 329"/>
            <p:cNvSpPr txBox="1"/>
            <p:nvPr/>
          </p:nvSpPr>
          <p:spPr>
            <a:xfrm>
              <a:off x="10453688" y="3553111"/>
              <a:ext cx="836905" cy="121920"/>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20" dirty="0">
                  <a:solidFill>
                    <a:srgbClr val="3D3D3D"/>
                  </a:solidFill>
                  <a:latin typeface="+mn-lt"/>
                  <a:ea typeface="+mn-ea"/>
                  <a:cs typeface="+mn-cs"/>
                </a:rPr>
                <a:t>评选优秀个人与团队</a:t>
              </a:r>
            </a:p>
          </p:txBody>
        </p:sp>
        <p:sp>
          <p:nvSpPr>
            <p:cNvPr id="330" name="TextBox 330"/>
            <p:cNvSpPr txBox="1"/>
            <p:nvPr/>
          </p:nvSpPr>
          <p:spPr>
            <a:xfrm>
              <a:off x="10453688" y="3724561"/>
              <a:ext cx="1003833" cy="121920"/>
            </a:xfrm>
            <a:prstGeom prst="rect">
              <a:avLst/>
            </a:prstGeom>
            <a:noFill/>
            <a:ln>
              <a:noFill/>
            </a:ln>
          </p:spPr>
          <p:txBody>
            <a:bodyPr wrap="none" lIns="0" tIns="0" rIns="0" bIns="0" anchor="t" anchorCtr="0">
              <a:spAutoFit/>
            </a:bodyPr>
            <a:lstStyle/>
            <a:p>
              <a:pPr algn="l" marL="76200" indent="-76200">
                <a:buClr>
                  <a:srgbClr val="C83210"/>
                </a:buClr>
                <a:buSzTx/>
                <a:buFontTx/>
                <a:buChar char="•"/>
              </a:pPr>
              <a:r>
                <a:rPr lang="zh-CN" sz="620" dirty="0">
                  <a:solidFill>
                    <a:srgbClr val="3D3D3D"/>
                  </a:solidFill>
                  <a:latin typeface="+mn-lt"/>
                  <a:ea typeface="+mn-ea"/>
                  <a:cs typeface="+mn-cs"/>
                </a:rPr>
                <a:t>优化运营策略与资源支持</a:t>
              </a:r>
            </a:p>
          </p:txBody>
        </p:sp>
        <p:sp>
          <p:nvSpPr>
            <p:cNvPr id="331" name="Rectangle 331"/>
            <p:cNvSpPr/>
            <p:nvPr/>
          </p:nvSpPr>
          <p:spPr>
            <a:xfrm>
              <a:off x="10363200" y="4038600"/>
              <a:ext cx="1695450" cy="228600"/>
            </a:xfrm>
            <a:prstGeom prst="rect">
              <a:avLst/>
            </a:prstGeom>
            <a:solidFill>
              <a:srgbClr val="FBE3E6"/>
            </a:solidFill>
            <a:ln>
              <a:noFill/>
            </a:ln>
          </p:spPr>
        </p:sp>
        <p:sp>
          <p:nvSpPr>
            <p:cNvPr id="332" name="TextBox 332"/>
            <p:cNvSpPr txBox="1"/>
            <p:nvPr/>
          </p:nvSpPr>
          <p:spPr>
            <a:xfrm>
              <a:off x="10775378" y="4122182"/>
              <a:ext cx="871093"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工具：月度经营分析会</a:t>
              </a:r>
            </a:p>
          </p:txBody>
        </p:sp>
      </p:grpSp>
      <p:grpSp>
        <p:nvGrpSpPr>
          <p:cNvPr id="400" name="weekly-table"/>
          <p:cNvGrpSpPr/>
          <p:nvPr/>
        </p:nvGrpSpPr>
        <p:grpSpPr>
          <a:xfrm>
            <a:off x="133350" y="4505325"/>
            <a:ext cx="4819650" cy="1371600"/>
            <a:chOff x="133350" y="4505325"/>
            <a:chExt cx="4819650" cy="1371600"/>
          </a:xfrm>
        </p:grpSpPr>
        <p:sp>
          <p:nvSpPr>
            <p:cNvPr id="334" name="Ellipse 334"/>
            <p:cNvSpPr/>
            <p:nvPr/>
          </p:nvSpPr>
          <p:spPr>
            <a:xfrm>
              <a:off x="142875" y="4505325"/>
              <a:ext cx="171450" cy="171450"/>
            </a:xfrm>
            <a:prstGeom prst="ellipse">
              <a:avLst/>
            </a:prstGeom>
            <a:solidFill>
              <a:srgbClr val="C83210"/>
            </a:solidFill>
            <a:ln>
              <a:noFill/>
            </a:ln>
          </p:spPr>
        </p:sp>
        <p:sp>
          <p:nvSpPr>
            <p:cNvPr id="335" name="TextBox 335"/>
            <p:cNvSpPr txBox="1"/>
            <p:nvPr/>
          </p:nvSpPr>
          <p:spPr>
            <a:xfrm>
              <a:off x="195759" y="45481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6</a:t>
              </a:r>
            </a:p>
          </p:txBody>
        </p:sp>
        <p:sp>
          <p:nvSpPr>
            <p:cNvPr id="336" name="TextBox 336"/>
            <p:cNvSpPr txBox="1"/>
            <p:nvPr/>
          </p:nvSpPr>
          <p:spPr>
            <a:xfrm>
              <a:off x="376047" y="4533424"/>
              <a:ext cx="1469187"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员工任务达成示例</a:t>
              </a:r>
              <a:r>
                <a:rPr lang="zh-CN" sz="750" b="1" dirty="0">
                  <a:solidFill>
                    <a:srgbClr val="808080"/>
                  </a:solidFill>
                  <a:latin typeface="+mn-lt"/>
                  <a:ea typeface="+mn-ea"/>
                  <a:cs typeface="+mn-cs"/>
                </a:rPr>
                <a:t>（周度）</a:t>
              </a:r>
            </a:p>
          </p:txBody>
        </p:sp>
        <p:sp>
          <p:nvSpPr>
            <p:cNvPr id="337" name="Rectangle 337"/>
            <p:cNvSpPr/>
            <p:nvPr/>
          </p:nvSpPr>
          <p:spPr>
            <a:xfrm>
              <a:off x="133350" y="4743450"/>
              <a:ext cx="4819650" cy="209550"/>
            </a:xfrm>
            <a:prstGeom prst="rect">
              <a:avLst/>
            </a:prstGeom>
            <a:solidFill>
              <a:srgbClr val="C83210"/>
            </a:solidFill>
            <a:ln>
              <a:noFill/>
            </a:ln>
          </p:spPr>
        </p:sp>
        <p:sp>
          <p:nvSpPr>
            <p:cNvPr id="338" name="TextBox 338"/>
            <p:cNvSpPr txBox="1"/>
            <p:nvPr/>
          </p:nvSpPr>
          <p:spPr>
            <a:xfrm>
              <a:off x="266890" y="4821555"/>
              <a:ext cx="171069"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员工</a:t>
              </a:r>
            </a:p>
          </p:txBody>
        </p:sp>
        <p:sp>
          <p:nvSpPr>
            <p:cNvPr id="339" name="TextBox 339"/>
            <p:cNvSpPr txBox="1"/>
            <p:nvPr/>
          </p:nvSpPr>
          <p:spPr>
            <a:xfrm>
              <a:off x="705040" y="4821555"/>
              <a:ext cx="171069"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添加</a:t>
              </a:r>
            </a:p>
          </p:txBody>
        </p:sp>
        <p:sp>
          <p:nvSpPr>
            <p:cNvPr id="340" name="TextBox 340"/>
            <p:cNvSpPr txBox="1"/>
            <p:nvPr/>
          </p:nvSpPr>
          <p:spPr>
            <a:xfrm>
              <a:off x="1143190" y="4821555"/>
              <a:ext cx="171069"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认证</a:t>
              </a:r>
            </a:p>
          </p:txBody>
        </p:sp>
        <p:sp>
          <p:nvSpPr>
            <p:cNvPr id="341" name="TextBox 341"/>
            <p:cNvSpPr txBox="1"/>
            <p:nvPr/>
          </p:nvSpPr>
          <p:spPr>
            <a:xfrm>
              <a:off x="1560004" y="4821555"/>
              <a:ext cx="25184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补标签</a:t>
              </a:r>
            </a:p>
          </p:txBody>
        </p:sp>
        <p:sp>
          <p:nvSpPr>
            <p:cNvPr id="342" name="TextBox 342"/>
            <p:cNvSpPr txBox="1"/>
            <p:nvPr/>
          </p:nvSpPr>
          <p:spPr>
            <a:xfrm>
              <a:off x="2024444" y="4821555"/>
              <a:ext cx="33261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有效触达</a:t>
              </a:r>
            </a:p>
          </p:txBody>
        </p:sp>
        <p:sp>
          <p:nvSpPr>
            <p:cNvPr id="343" name="TextBox 343"/>
            <p:cNvSpPr txBox="1"/>
            <p:nvPr/>
          </p:nvSpPr>
          <p:spPr>
            <a:xfrm>
              <a:off x="2557844" y="4821555"/>
              <a:ext cx="33261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互动回复</a:t>
              </a:r>
            </a:p>
          </p:txBody>
        </p:sp>
        <p:sp>
          <p:nvSpPr>
            <p:cNvPr id="344" name="TextBox 344"/>
            <p:cNvSpPr txBox="1"/>
            <p:nvPr/>
          </p:nvSpPr>
          <p:spPr>
            <a:xfrm>
              <a:off x="3091244" y="4821555"/>
              <a:ext cx="33261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活动邀约</a:t>
              </a:r>
            </a:p>
          </p:txBody>
        </p:sp>
        <p:sp>
          <p:nvSpPr>
            <p:cNvPr id="345" name="TextBox 345"/>
            <p:cNvSpPr txBox="1"/>
            <p:nvPr/>
          </p:nvSpPr>
          <p:spPr>
            <a:xfrm>
              <a:off x="3631882" y="4821555"/>
              <a:ext cx="413385"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高意向跟进</a:t>
              </a:r>
            </a:p>
          </p:txBody>
        </p:sp>
        <p:sp>
          <p:nvSpPr>
            <p:cNvPr id="346" name="TextBox 346"/>
            <p:cNvSpPr txBox="1"/>
            <p:nvPr/>
          </p:nvSpPr>
          <p:spPr>
            <a:xfrm>
              <a:off x="4236530" y="4821555"/>
              <a:ext cx="25184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总积分</a:t>
              </a:r>
            </a:p>
          </p:txBody>
        </p:sp>
        <p:sp>
          <p:nvSpPr>
            <p:cNvPr id="347" name="TextBox 347"/>
            <p:cNvSpPr txBox="1"/>
            <p:nvPr/>
          </p:nvSpPr>
          <p:spPr>
            <a:xfrm>
              <a:off x="4636580" y="4821555"/>
              <a:ext cx="25184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完成率</a:t>
              </a:r>
            </a:p>
          </p:txBody>
        </p:sp>
        <p:sp>
          <p:nvSpPr>
            <p:cNvPr id="348" name="Rectangle 348"/>
            <p:cNvSpPr/>
            <p:nvPr/>
          </p:nvSpPr>
          <p:spPr>
            <a:xfrm>
              <a:off x="133350" y="5181600"/>
              <a:ext cx="4819650" cy="228600"/>
            </a:xfrm>
            <a:prstGeom prst="rect">
              <a:avLst/>
            </a:prstGeom>
            <a:solidFill>
              <a:srgbClr val="FDEFF1"/>
            </a:solidFill>
            <a:ln>
              <a:noFill/>
            </a:ln>
          </p:spPr>
        </p:sp>
        <p:sp>
          <p:nvSpPr>
            <p:cNvPr id="349" name="Rectangle 349"/>
            <p:cNvSpPr/>
            <p:nvPr/>
          </p:nvSpPr>
          <p:spPr>
            <a:xfrm>
              <a:off x="133350" y="5638800"/>
              <a:ext cx="4819650" cy="228600"/>
            </a:xfrm>
            <a:prstGeom prst="rect">
              <a:avLst/>
            </a:prstGeom>
            <a:solidFill>
              <a:srgbClr val="FBE3E6"/>
            </a:solidFill>
            <a:ln>
              <a:noFill/>
            </a:ln>
          </p:spPr>
        </p:sp>
        <p:sp>
          <p:nvSpPr>
            <p:cNvPr id="350" name="TextBox 350"/>
            <p:cNvSpPr txBox="1"/>
            <p:nvPr/>
          </p:nvSpPr>
          <p:spPr>
            <a:xfrm>
              <a:off x="261506" y="503658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张三</a:t>
              </a:r>
            </a:p>
          </p:txBody>
        </p:sp>
        <p:sp>
          <p:nvSpPr>
            <p:cNvPr id="351" name="TextBox 351"/>
            <p:cNvSpPr txBox="1"/>
            <p:nvPr/>
          </p:nvSpPr>
          <p:spPr>
            <a:xfrm>
              <a:off x="737892" y="50365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28</a:t>
              </a:r>
            </a:p>
          </p:txBody>
        </p:sp>
        <p:sp>
          <p:nvSpPr>
            <p:cNvPr id="352" name="TextBox 352"/>
            <p:cNvSpPr txBox="1"/>
            <p:nvPr/>
          </p:nvSpPr>
          <p:spPr>
            <a:xfrm>
              <a:off x="1176042" y="50365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12</a:t>
              </a:r>
            </a:p>
          </p:txBody>
        </p:sp>
        <p:sp>
          <p:nvSpPr>
            <p:cNvPr id="353" name="TextBox 353"/>
            <p:cNvSpPr txBox="1"/>
            <p:nvPr/>
          </p:nvSpPr>
          <p:spPr>
            <a:xfrm>
              <a:off x="1633242" y="50365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35</a:t>
              </a:r>
            </a:p>
          </p:txBody>
        </p:sp>
        <p:sp>
          <p:nvSpPr>
            <p:cNvPr id="354" name="TextBox 354"/>
            <p:cNvSpPr txBox="1"/>
            <p:nvPr/>
          </p:nvSpPr>
          <p:spPr>
            <a:xfrm>
              <a:off x="2138067" y="50365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50</a:t>
              </a:r>
            </a:p>
          </p:txBody>
        </p:sp>
        <p:sp>
          <p:nvSpPr>
            <p:cNvPr id="355" name="TextBox 355"/>
            <p:cNvSpPr txBox="1"/>
            <p:nvPr/>
          </p:nvSpPr>
          <p:spPr>
            <a:xfrm>
              <a:off x="2671467" y="50365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40</a:t>
              </a:r>
            </a:p>
          </p:txBody>
        </p:sp>
        <p:sp>
          <p:nvSpPr>
            <p:cNvPr id="356" name="TextBox 356"/>
            <p:cNvSpPr txBox="1"/>
            <p:nvPr/>
          </p:nvSpPr>
          <p:spPr>
            <a:xfrm>
              <a:off x="3204867" y="50365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10</a:t>
              </a:r>
            </a:p>
          </p:txBody>
        </p:sp>
        <p:sp>
          <p:nvSpPr>
            <p:cNvPr id="357" name="TextBox 357"/>
            <p:cNvSpPr txBox="1"/>
            <p:nvPr/>
          </p:nvSpPr>
          <p:spPr>
            <a:xfrm>
              <a:off x="3809852" y="5036582"/>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5</a:t>
              </a:r>
            </a:p>
          </p:txBody>
        </p:sp>
        <p:sp>
          <p:nvSpPr>
            <p:cNvPr id="358" name="TextBox 358"/>
            <p:cNvSpPr txBox="1"/>
            <p:nvPr/>
          </p:nvSpPr>
          <p:spPr>
            <a:xfrm>
              <a:off x="4249879" y="5036582"/>
              <a:ext cx="225141"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1,020</a:t>
              </a:r>
            </a:p>
          </p:txBody>
        </p:sp>
        <p:sp>
          <p:nvSpPr>
            <p:cNvPr id="359" name="TextBox 359"/>
            <p:cNvSpPr txBox="1"/>
            <p:nvPr/>
          </p:nvSpPr>
          <p:spPr>
            <a:xfrm>
              <a:off x="4647552" y="5036582"/>
              <a:ext cx="229897"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125%</a:t>
              </a:r>
            </a:p>
          </p:txBody>
        </p:sp>
        <p:sp>
          <p:nvSpPr>
            <p:cNvPr id="360" name="TextBox 360"/>
            <p:cNvSpPr txBox="1"/>
            <p:nvPr/>
          </p:nvSpPr>
          <p:spPr>
            <a:xfrm>
              <a:off x="261506" y="526518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李四</a:t>
              </a:r>
            </a:p>
          </p:txBody>
        </p:sp>
        <p:sp>
          <p:nvSpPr>
            <p:cNvPr id="361" name="TextBox 361"/>
            <p:cNvSpPr txBox="1"/>
            <p:nvPr/>
          </p:nvSpPr>
          <p:spPr>
            <a:xfrm>
              <a:off x="737892" y="52651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20</a:t>
              </a:r>
            </a:p>
          </p:txBody>
        </p:sp>
        <p:sp>
          <p:nvSpPr>
            <p:cNvPr id="362" name="TextBox 362"/>
            <p:cNvSpPr txBox="1"/>
            <p:nvPr/>
          </p:nvSpPr>
          <p:spPr>
            <a:xfrm>
              <a:off x="1200002" y="5265182"/>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8</a:t>
              </a:r>
            </a:p>
          </p:txBody>
        </p:sp>
        <p:sp>
          <p:nvSpPr>
            <p:cNvPr id="363" name="TextBox 363"/>
            <p:cNvSpPr txBox="1"/>
            <p:nvPr/>
          </p:nvSpPr>
          <p:spPr>
            <a:xfrm>
              <a:off x="1633242" y="52651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30</a:t>
              </a:r>
            </a:p>
          </p:txBody>
        </p:sp>
        <p:sp>
          <p:nvSpPr>
            <p:cNvPr id="364" name="TextBox 364"/>
            <p:cNvSpPr txBox="1"/>
            <p:nvPr/>
          </p:nvSpPr>
          <p:spPr>
            <a:xfrm>
              <a:off x="2138067" y="52651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45</a:t>
              </a:r>
            </a:p>
          </p:txBody>
        </p:sp>
        <p:sp>
          <p:nvSpPr>
            <p:cNvPr id="365" name="TextBox 365"/>
            <p:cNvSpPr txBox="1"/>
            <p:nvPr/>
          </p:nvSpPr>
          <p:spPr>
            <a:xfrm>
              <a:off x="2671467" y="52651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38</a:t>
              </a:r>
            </a:p>
          </p:txBody>
        </p:sp>
        <p:sp>
          <p:nvSpPr>
            <p:cNvPr id="366" name="TextBox 366"/>
            <p:cNvSpPr txBox="1"/>
            <p:nvPr/>
          </p:nvSpPr>
          <p:spPr>
            <a:xfrm>
              <a:off x="3228827" y="5265182"/>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8</a:t>
              </a:r>
            </a:p>
          </p:txBody>
        </p:sp>
        <p:sp>
          <p:nvSpPr>
            <p:cNvPr id="367" name="TextBox 367"/>
            <p:cNvSpPr txBox="1"/>
            <p:nvPr/>
          </p:nvSpPr>
          <p:spPr>
            <a:xfrm>
              <a:off x="3809852" y="5265182"/>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4</a:t>
              </a:r>
            </a:p>
          </p:txBody>
        </p:sp>
        <p:sp>
          <p:nvSpPr>
            <p:cNvPr id="368" name="TextBox 368"/>
            <p:cNvSpPr txBox="1"/>
            <p:nvPr/>
          </p:nvSpPr>
          <p:spPr>
            <a:xfrm>
              <a:off x="4285807" y="5265182"/>
              <a:ext cx="15328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860</a:t>
              </a:r>
            </a:p>
          </p:txBody>
        </p:sp>
        <p:sp>
          <p:nvSpPr>
            <p:cNvPr id="369" name="TextBox 369"/>
            <p:cNvSpPr txBox="1"/>
            <p:nvPr/>
          </p:nvSpPr>
          <p:spPr>
            <a:xfrm>
              <a:off x="4671512" y="5265182"/>
              <a:ext cx="18197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98%</a:t>
              </a:r>
            </a:p>
          </p:txBody>
        </p:sp>
        <p:sp>
          <p:nvSpPr>
            <p:cNvPr id="370" name="TextBox 370"/>
            <p:cNvSpPr txBox="1"/>
            <p:nvPr/>
          </p:nvSpPr>
          <p:spPr>
            <a:xfrm>
              <a:off x="261506" y="549378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王五</a:t>
              </a:r>
            </a:p>
          </p:txBody>
        </p:sp>
        <p:sp>
          <p:nvSpPr>
            <p:cNvPr id="371" name="TextBox 371"/>
            <p:cNvSpPr txBox="1"/>
            <p:nvPr/>
          </p:nvSpPr>
          <p:spPr>
            <a:xfrm>
              <a:off x="737892" y="54937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18</a:t>
              </a:r>
            </a:p>
          </p:txBody>
        </p:sp>
        <p:sp>
          <p:nvSpPr>
            <p:cNvPr id="372" name="TextBox 372"/>
            <p:cNvSpPr txBox="1"/>
            <p:nvPr/>
          </p:nvSpPr>
          <p:spPr>
            <a:xfrm>
              <a:off x="1176042" y="54937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10</a:t>
              </a:r>
            </a:p>
          </p:txBody>
        </p:sp>
        <p:sp>
          <p:nvSpPr>
            <p:cNvPr id="373" name="TextBox 373"/>
            <p:cNvSpPr txBox="1"/>
            <p:nvPr/>
          </p:nvSpPr>
          <p:spPr>
            <a:xfrm>
              <a:off x="1633242" y="54937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30</a:t>
              </a:r>
            </a:p>
          </p:txBody>
        </p:sp>
        <p:sp>
          <p:nvSpPr>
            <p:cNvPr id="374" name="TextBox 374"/>
            <p:cNvSpPr txBox="1"/>
            <p:nvPr/>
          </p:nvSpPr>
          <p:spPr>
            <a:xfrm>
              <a:off x="2138067" y="54937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40</a:t>
              </a:r>
            </a:p>
          </p:txBody>
        </p:sp>
        <p:sp>
          <p:nvSpPr>
            <p:cNvPr id="375" name="TextBox 375"/>
            <p:cNvSpPr txBox="1"/>
            <p:nvPr/>
          </p:nvSpPr>
          <p:spPr>
            <a:xfrm>
              <a:off x="2671467" y="5493782"/>
              <a:ext cx="10536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35</a:t>
              </a:r>
            </a:p>
          </p:txBody>
        </p:sp>
        <p:sp>
          <p:nvSpPr>
            <p:cNvPr id="376" name="TextBox 376"/>
            <p:cNvSpPr txBox="1"/>
            <p:nvPr/>
          </p:nvSpPr>
          <p:spPr>
            <a:xfrm>
              <a:off x="3228827" y="5493782"/>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6</a:t>
              </a:r>
            </a:p>
          </p:txBody>
        </p:sp>
        <p:sp>
          <p:nvSpPr>
            <p:cNvPr id="377" name="TextBox 377"/>
            <p:cNvSpPr txBox="1"/>
            <p:nvPr/>
          </p:nvSpPr>
          <p:spPr>
            <a:xfrm>
              <a:off x="3809852" y="5493782"/>
              <a:ext cx="5744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3</a:t>
              </a:r>
            </a:p>
          </p:txBody>
        </p:sp>
        <p:sp>
          <p:nvSpPr>
            <p:cNvPr id="378" name="TextBox 378"/>
            <p:cNvSpPr txBox="1"/>
            <p:nvPr/>
          </p:nvSpPr>
          <p:spPr>
            <a:xfrm>
              <a:off x="4285807" y="5493782"/>
              <a:ext cx="15328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780</a:t>
              </a:r>
            </a:p>
          </p:txBody>
        </p:sp>
        <p:sp>
          <p:nvSpPr>
            <p:cNvPr id="379" name="TextBox 379"/>
            <p:cNvSpPr txBox="1"/>
            <p:nvPr/>
          </p:nvSpPr>
          <p:spPr>
            <a:xfrm>
              <a:off x="4671512" y="5493782"/>
              <a:ext cx="18197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89%</a:t>
              </a:r>
            </a:p>
          </p:txBody>
        </p:sp>
        <p:sp>
          <p:nvSpPr>
            <p:cNvPr id="380" name="TextBox 380"/>
            <p:cNvSpPr txBox="1"/>
            <p:nvPr/>
          </p:nvSpPr>
          <p:spPr>
            <a:xfrm>
              <a:off x="218427" y="5722382"/>
              <a:ext cx="26799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目标值</a:t>
              </a:r>
            </a:p>
          </p:txBody>
        </p:sp>
        <p:sp>
          <p:nvSpPr>
            <p:cNvPr id="381" name="TextBox 381"/>
            <p:cNvSpPr txBox="1"/>
            <p:nvPr/>
          </p:nvSpPr>
          <p:spPr>
            <a:xfrm>
              <a:off x="737892" y="5722382"/>
              <a:ext cx="1053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25</a:t>
              </a:r>
            </a:p>
          </p:txBody>
        </p:sp>
        <p:sp>
          <p:nvSpPr>
            <p:cNvPr id="382" name="TextBox 382"/>
            <p:cNvSpPr txBox="1"/>
            <p:nvPr/>
          </p:nvSpPr>
          <p:spPr>
            <a:xfrm>
              <a:off x="1176042" y="5722382"/>
              <a:ext cx="1053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10</a:t>
              </a:r>
            </a:p>
          </p:txBody>
        </p:sp>
        <p:sp>
          <p:nvSpPr>
            <p:cNvPr id="383" name="TextBox 383"/>
            <p:cNvSpPr txBox="1"/>
            <p:nvPr/>
          </p:nvSpPr>
          <p:spPr>
            <a:xfrm>
              <a:off x="1633242" y="5722382"/>
              <a:ext cx="1053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30</a:t>
              </a:r>
            </a:p>
          </p:txBody>
        </p:sp>
        <p:sp>
          <p:nvSpPr>
            <p:cNvPr id="384" name="TextBox 384"/>
            <p:cNvSpPr txBox="1"/>
            <p:nvPr/>
          </p:nvSpPr>
          <p:spPr>
            <a:xfrm>
              <a:off x="2138067" y="5722382"/>
              <a:ext cx="1053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40</a:t>
              </a:r>
            </a:p>
          </p:txBody>
        </p:sp>
        <p:sp>
          <p:nvSpPr>
            <p:cNvPr id="385" name="TextBox 385"/>
            <p:cNvSpPr txBox="1"/>
            <p:nvPr/>
          </p:nvSpPr>
          <p:spPr>
            <a:xfrm>
              <a:off x="2671467" y="5722382"/>
              <a:ext cx="1053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40</a:t>
              </a:r>
            </a:p>
          </p:txBody>
        </p:sp>
        <p:sp>
          <p:nvSpPr>
            <p:cNvPr id="386" name="TextBox 386"/>
            <p:cNvSpPr txBox="1"/>
            <p:nvPr/>
          </p:nvSpPr>
          <p:spPr>
            <a:xfrm>
              <a:off x="3204867" y="5722382"/>
              <a:ext cx="10536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10</a:t>
              </a:r>
            </a:p>
          </p:txBody>
        </p:sp>
        <p:sp>
          <p:nvSpPr>
            <p:cNvPr id="387" name="TextBox 387"/>
            <p:cNvSpPr txBox="1"/>
            <p:nvPr/>
          </p:nvSpPr>
          <p:spPr>
            <a:xfrm>
              <a:off x="3809852" y="5722382"/>
              <a:ext cx="5744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5</a:t>
              </a:r>
            </a:p>
          </p:txBody>
        </p:sp>
        <p:sp>
          <p:nvSpPr>
            <p:cNvPr id="388" name="TextBox 388"/>
            <p:cNvSpPr txBox="1"/>
            <p:nvPr/>
          </p:nvSpPr>
          <p:spPr>
            <a:xfrm>
              <a:off x="4343342" y="5722382"/>
              <a:ext cx="3821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a:t>
              </a:r>
            </a:p>
          </p:txBody>
        </p:sp>
        <p:sp>
          <p:nvSpPr>
            <p:cNvPr id="389" name="TextBox 389"/>
            <p:cNvSpPr txBox="1"/>
            <p:nvPr/>
          </p:nvSpPr>
          <p:spPr>
            <a:xfrm>
              <a:off x="4743392" y="5722382"/>
              <a:ext cx="38215"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Arial"/>
                  <a:ea typeface="Arial"/>
                  <a:cs typeface="Arial"/>
                </a:rPr>
                <a:t>-</a:t>
              </a:r>
            </a:p>
          </p:txBody>
        </p:sp>
        <p:sp>
          <p:nvSpPr>
            <p:cNvPr id="390" name="Line 390"/>
            <p:cNvSpPr/>
            <p:nvPr/>
          </p:nvSpPr>
          <p:spPr>
            <a:xfrm>
              <a:off x="571500" y="4743450"/>
              <a:ext cx="9525" cy="1123950"/>
            </a:xfrm>
            <a:custGeom>
              <a:avLst/>
              <a:gdLst/>
              <a:ahLst/>
              <a:cxnLst/>
              <a:rect l="l" t="t" r="r" b="b"/>
              <a:pathLst>
                <a:path w="9525" h="1123950">
                  <a:moveTo>
                    <a:pt x="0" y="0"/>
                  </a:moveTo>
                  <a:lnTo>
                    <a:pt x="0" y="1123950"/>
                  </a:lnTo>
                </a:path>
              </a:pathLst>
            </a:custGeom>
            <a:noFill/>
            <a:ln w="9525">
              <a:solidFill>
                <a:srgbClr val="F1C7CC"/>
              </a:solidFill>
            </a:ln>
          </p:spPr>
        </p:sp>
        <p:sp>
          <p:nvSpPr>
            <p:cNvPr id="391" name="Line 391"/>
            <p:cNvSpPr/>
            <p:nvPr/>
          </p:nvSpPr>
          <p:spPr>
            <a:xfrm>
              <a:off x="1009650" y="4743450"/>
              <a:ext cx="9525" cy="1123950"/>
            </a:xfrm>
            <a:custGeom>
              <a:avLst/>
              <a:gdLst/>
              <a:ahLst/>
              <a:cxnLst/>
              <a:rect l="l" t="t" r="r" b="b"/>
              <a:pathLst>
                <a:path w="9525" h="1123950">
                  <a:moveTo>
                    <a:pt x="0" y="0"/>
                  </a:moveTo>
                  <a:lnTo>
                    <a:pt x="0" y="1123950"/>
                  </a:lnTo>
                </a:path>
              </a:pathLst>
            </a:custGeom>
            <a:noFill/>
            <a:ln w="9525">
              <a:solidFill>
                <a:srgbClr val="F1C7CC"/>
              </a:solidFill>
            </a:ln>
          </p:spPr>
        </p:sp>
        <p:sp>
          <p:nvSpPr>
            <p:cNvPr id="392" name="Line 392"/>
            <p:cNvSpPr/>
            <p:nvPr/>
          </p:nvSpPr>
          <p:spPr>
            <a:xfrm>
              <a:off x="1447800" y="4743450"/>
              <a:ext cx="9525" cy="1123950"/>
            </a:xfrm>
            <a:custGeom>
              <a:avLst/>
              <a:gdLst/>
              <a:ahLst/>
              <a:cxnLst/>
              <a:rect l="l" t="t" r="r" b="b"/>
              <a:pathLst>
                <a:path w="9525" h="1123950">
                  <a:moveTo>
                    <a:pt x="0" y="0"/>
                  </a:moveTo>
                  <a:lnTo>
                    <a:pt x="0" y="1123950"/>
                  </a:lnTo>
                </a:path>
              </a:pathLst>
            </a:custGeom>
            <a:noFill/>
            <a:ln w="9525">
              <a:solidFill>
                <a:srgbClr val="F1C7CC"/>
              </a:solidFill>
            </a:ln>
          </p:spPr>
        </p:sp>
        <p:sp>
          <p:nvSpPr>
            <p:cNvPr id="393" name="Line 393"/>
            <p:cNvSpPr/>
            <p:nvPr/>
          </p:nvSpPr>
          <p:spPr>
            <a:xfrm>
              <a:off x="1924050" y="4743450"/>
              <a:ext cx="9525" cy="1123950"/>
            </a:xfrm>
            <a:custGeom>
              <a:avLst/>
              <a:gdLst/>
              <a:ahLst/>
              <a:cxnLst/>
              <a:rect l="l" t="t" r="r" b="b"/>
              <a:pathLst>
                <a:path w="9525" h="1123950">
                  <a:moveTo>
                    <a:pt x="0" y="0"/>
                  </a:moveTo>
                  <a:lnTo>
                    <a:pt x="0" y="1123950"/>
                  </a:lnTo>
                </a:path>
              </a:pathLst>
            </a:custGeom>
            <a:noFill/>
            <a:ln w="9525">
              <a:solidFill>
                <a:srgbClr val="F1C7CC"/>
              </a:solidFill>
            </a:ln>
          </p:spPr>
        </p:sp>
        <p:sp>
          <p:nvSpPr>
            <p:cNvPr id="394" name="Line 394"/>
            <p:cNvSpPr/>
            <p:nvPr/>
          </p:nvSpPr>
          <p:spPr>
            <a:xfrm>
              <a:off x="2457450" y="4743450"/>
              <a:ext cx="9525" cy="1123950"/>
            </a:xfrm>
            <a:custGeom>
              <a:avLst/>
              <a:gdLst/>
              <a:ahLst/>
              <a:cxnLst/>
              <a:rect l="l" t="t" r="r" b="b"/>
              <a:pathLst>
                <a:path w="9525" h="1123950">
                  <a:moveTo>
                    <a:pt x="0" y="0"/>
                  </a:moveTo>
                  <a:lnTo>
                    <a:pt x="0" y="1123950"/>
                  </a:lnTo>
                </a:path>
              </a:pathLst>
            </a:custGeom>
            <a:noFill/>
            <a:ln w="9525">
              <a:solidFill>
                <a:srgbClr val="F1C7CC"/>
              </a:solidFill>
            </a:ln>
          </p:spPr>
        </p:sp>
        <p:sp>
          <p:nvSpPr>
            <p:cNvPr id="395" name="Line 395"/>
            <p:cNvSpPr/>
            <p:nvPr/>
          </p:nvSpPr>
          <p:spPr>
            <a:xfrm>
              <a:off x="2990850" y="4743450"/>
              <a:ext cx="9525" cy="1123950"/>
            </a:xfrm>
            <a:custGeom>
              <a:avLst/>
              <a:gdLst/>
              <a:ahLst/>
              <a:cxnLst/>
              <a:rect l="l" t="t" r="r" b="b"/>
              <a:pathLst>
                <a:path w="9525" h="1123950">
                  <a:moveTo>
                    <a:pt x="0" y="0"/>
                  </a:moveTo>
                  <a:lnTo>
                    <a:pt x="0" y="1123950"/>
                  </a:lnTo>
                </a:path>
              </a:pathLst>
            </a:custGeom>
            <a:noFill/>
            <a:ln w="9525">
              <a:solidFill>
                <a:srgbClr val="F1C7CC"/>
              </a:solidFill>
            </a:ln>
          </p:spPr>
        </p:sp>
        <p:sp>
          <p:nvSpPr>
            <p:cNvPr id="396" name="Line 396"/>
            <p:cNvSpPr/>
            <p:nvPr/>
          </p:nvSpPr>
          <p:spPr>
            <a:xfrm>
              <a:off x="3524250" y="4743450"/>
              <a:ext cx="9525" cy="1123950"/>
            </a:xfrm>
            <a:custGeom>
              <a:avLst/>
              <a:gdLst/>
              <a:ahLst/>
              <a:cxnLst/>
              <a:rect l="l" t="t" r="r" b="b"/>
              <a:pathLst>
                <a:path w="9525" h="1123950">
                  <a:moveTo>
                    <a:pt x="0" y="0"/>
                  </a:moveTo>
                  <a:lnTo>
                    <a:pt x="0" y="1123950"/>
                  </a:lnTo>
                </a:path>
              </a:pathLst>
            </a:custGeom>
            <a:noFill/>
            <a:ln w="9525">
              <a:solidFill>
                <a:srgbClr val="F1C7CC"/>
              </a:solidFill>
            </a:ln>
          </p:spPr>
        </p:sp>
        <p:sp>
          <p:nvSpPr>
            <p:cNvPr id="397" name="Line 397"/>
            <p:cNvSpPr/>
            <p:nvPr/>
          </p:nvSpPr>
          <p:spPr>
            <a:xfrm>
              <a:off x="4152900" y="4743450"/>
              <a:ext cx="9525" cy="1123950"/>
            </a:xfrm>
            <a:custGeom>
              <a:avLst/>
              <a:gdLst/>
              <a:ahLst/>
              <a:cxnLst/>
              <a:rect l="l" t="t" r="r" b="b"/>
              <a:pathLst>
                <a:path w="9525" h="1123950">
                  <a:moveTo>
                    <a:pt x="0" y="0"/>
                  </a:moveTo>
                  <a:lnTo>
                    <a:pt x="0" y="1123950"/>
                  </a:lnTo>
                </a:path>
              </a:pathLst>
            </a:custGeom>
            <a:noFill/>
            <a:ln w="9525">
              <a:solidFill>
                <a:srgbClr val="F1C7CC"/>
              </a:solidFill>
            </a:ln>
          </p:spPr>
        </p:sp>
        <p:sp>
          <p:nvSpPr>
            <p:cNvPr id="398" name="Line 398"/>
            <p:cNvSpPr/>
            <p:nvPr/>
          </p:nvSpPr>
          <p:spPr>
            <a:xfrm>
              <a:off x="4572000" y="4743450"/>
              <a:ext cx="9525" cy="1123950"/>
            </a:xfrm>
            <a:custGeom>
              <a:avLst/>
              <a:gdLst/>
              <a:ahLst/>
              <a:cxnLst/>
              <a:rect l="l" t="t" r="r" b="b"/>
              <a:pathLst>
                <a:path w="9525" h="1123950">
                  <a:moveTo>
                    <a:pt x="0" y="0"/>
                  </a:moveTo>
                  <a:lnTo>
                    <a:pt x="0" y="1123950"/>
                  </a:lnTo>
                </a:path>
              </a:pathLst>
            </a:custGeom>
            <a:noFill/>
            <a:ln w="9525">
              <a:solidFill>
                <a:srgbClr val="F1C7CC"/>
              </a:solidFill>
            </a:ln>
          </p:spPr>
        </p:sp>
        <p:sp>
          <p:nvSpPr>
            <p:cNvPr id="399" name="Line 399"/>
            <p:cNvSpPr/>
            <p:nvPr/>
          </p:nvSpPr>
          <p:spPr>
            <a:xfrm>
              <a:off x="133350" y="5867400"/>
              <a:ext cx="4819650" cy="9525"/>
            </a:xfrm>
            <a:custGeom>
              <a:avLst/>
              <a:gdLst/>
              <a:ahLst/>
              <a:cxnLst/>
              <a:rect l="l" t="t" r="r" b="b"/>
              <a:pathLst>
                <a:path w="4819650" h="9525">
                  <a:moveTo>
                    <a:pt x="0" y="0"/>
                  </a:moveTo>
                  <a:lnTo>
                    <a:pt x="4819650" y="0"/>
                  </a:lnTo>
                </a:path>
              </a:pathLst>
            </a:custGeom>
            <a:noFill/>
            <a:ln w="9525">
              <a:solidFill>
                <a:srgbClr val="F1C7CC"/>
              </a:solidFill>
            </a:ln>
          </p:spPr>
        </p:sp>
      </p:grpSp>
      <p:grpSp>
        <p:nvGrpSpPr>
          <p:cNvPr id="423" name="level-pyramid"/>
          <p:cNvGrpSpPr/>
          <p:nvPr/>
        </p:nvGrpSpPr>
        <p:grpSpPr>
          <a:xfrm>
            <a:off x="5067300" y="4505325"/>
            <a:ext cx="2690740" cy="2232422"/>
            <a:chOff x="5067300" y="4505325"/>
            <a:chExt cx="2690740" cy="2232422"/>
          </a:xfrm>
        </p:grpSpPr>
        <p:sp>
          <p:nvSpPr>
            <p:cNvPr id="401" name="Ellipse 401"/>
            <p:cNvSpPr/>
            <p:nvPr/>
          </p:nvSpPr>
          <p:spPr>
            <a:xfrm>
              <a:off x="5076825" y="4505325"/>
              <a:ext cx="171450" cy="171450"/>
            </a:xfrm>
            <a:prstGeom prst="ellipse">
              <a:avLst/>
            </a:prstGeom>
            <a:solidFill>
              <a:srgbClr val="C83210"/>
            </a:solidFill>
            <a:ln>
              <a:noFill/>
            </a:ln>
          </p:spPr>
        </p:sp>
        <p:sp>
          <p:nvSpPr>
            <p:cNvPr id="402" name="TextBox 402"/>
            <p:cNvSpPr txBox="1"/>
            <p:nvPr/>
          </p:nvSpPr>
          <p:spPr>
            <a:xfrm>
              <a:off x="5129709" y="45481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7</a:t>
              </a:r>
            </a:p>
          </p:txBody>
        </p:sp>
        <p:sp>
          <p:nvSpPr>
            <p:cNvPr id="403" name="TextBox 403"/>
            <p:cNvSpPr txBox="1"/>
            <p:nvPr/>
          </p:nvSpPr>
          <p:spPr>
            <a:xfrm>
              <a:off x="5309997" y="4533424"/>
              <a:ext cx="1337259"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积分等级与激励</a:t>
              </a:r>
              <a:r>
                <a:rPr lang="zh-CN" sz="750" b="1" dirty="0">
                  <a:solidFill>
                    <a:srgbClr val="808080"/>
                  </a:solidFill>
                  <a:latin typeface="+mn-lt"/>
                  <a:ea typeface="+mn-ea"/>
                  <a:cs typeface="+mn-cs"/>
                </a:rPr>
                <a:t>（示例）</a:t>
              </a:r>
            </a:p>
          </p:txBody>
        </p:sp>
        <p:sp>
          <p:nvSpPr>
            <p:cNvPr id="404" name="Polygon 404"/>
            <p:cNvSpPr/>
            <p:nvPr/>
          </p:nvSpPr>
          <p:spPr>
            <a:xfrm>
              <a:off x="5714524" y="4762500"/>
              <a:ext cx="420052" cy="466725"/>
            </a:xfrm>
            <a:custGeom>
              <a:avLst/>
              <a:gdLst/>
              <a:ahLst/>
              <a:cxnLst/>
              <a:rect l="l" t="t" r="r" b="b"/>
              <a:pathLst>
                <a:path w="420052" h="466725">
                  <a:moveTo>
                    <a:pt x="210026" y="0"/>
                  </a:moveTo>
                  <a:lnTo>
                    <a:pt x="420052" y="466725"/>
                  </a:lnTo>
                  <a:lnTo>
                    <a:pt x="0" y="466725"/>
                  </a:lnTo>
                  <a:close/>
                </a:path>
              </a:pathLst>
            </a:custGeom>
            <a:solidFill>
              <a:srgbClr val="8F230A"/>
            </a:solidFill>
            <a:ln>
              <a:noFill/>
            </a:ln>
          </p:spPr>
        </p:sp>
        <p:sp>
          <p:nvSpPr>
            <p:cNvPr id="405" name="Polygon 405"/>
            <p:cNvSpPr/>
            <p:nvPr/>
          </p:nvSpPr>
          <p:spPr>
            <a:xfrm>
              <a:off x="5487352" y="5267325"/>
              <a:ext cx="874395" cy="466725"/>
            </a:xfrm>
            <a:custGeom>
              <a:avLst/>
              <a:gdLst/>
              <a:ahLst/>
              <a:cxnLst/>
              <a:rect l="l" t="t" r="r" b="b"/>
              <a:pathLst>
                <a:path w="874395" h="466725">
                  <a:moveTo>
                    <a:pt x="210026" y="0"/>
                  </a:moveTo>
                  <a:lnTo>
                    <a:pt x="664369" y="0"/>
                  </a:lnTo>
                  <a:lnTo>
                    <a:pt x="874395" y="466725"/>
                  </a:lnTo>
                  <a:lnTo>
                    <a:pt x="0" y="466725"/>
                  </a:lnTo>
                  <a:close/>
                </a:path>
              </a:pathLst>
            </a:custGeom>
            <a:solidFill>
              <a:srgbClr val="C83210"/>
            </a:solidFill>
            <a:ln>
              <a:noFill/>
            </a:ln>
          </p:spPr>
        </p:sp>
        <p:sp>
          <p:nvSpPr>
            <p:cNvPr id="406" name="Polygon 406"/>
            <p:cNvSpPr/>
            <p:nvPr/>
          </p:nvSpPr>
          <p:spPr>
            <a:xfrm>
              <a:off x="5260181" y="5772150"/>
              <a:ext cx="1328738" cy="466725"/>
            </a:xfrm>
            <a:custGeom>
              <a:avLst/>
              <a:gdLst/>
              <a:ahLst/>
              <a:cxnLst/>
              <a:rect l="l" t="t" r="r" b="b"/>
              <a:pathLst>
                <a:path w="1328738" h="466725">
                  <a:moveTo>
                    <a:pt x="210026" y="0"/>
                  </a:moveTo>
                  <a:lnTo>
                    <a:pt x="1118711" y="0"/>
                  </a:lnTo>
                  <a:lnTo>
                    <a:pt x="1328738" y="466725"/>
                  </a:lnTo>
                  <a:lnTo>
                    <a:pt x="0" y="466725"/>
                  </a:lnTo>
                  <a:close/>
                </a:path>
              </a:pathLst>
            </a:custGeom>
            <a:solidFill>
              <a:srgbClr val="E9826B"/>
            </a:solidFill>
            <a:ln>
              <a:noFill/>
            </a:ln>
          </p:spPr>
        </p:sp>
        <p:sp>
          <p:nvSpPr>
            <p:cNvPr id="407" name="Polygon 407"/>
            <p:cNvSpPr/>
            <p:nvPr/>
          </p:nvSpPr>
          <p:spPr>
            <a:xfrm>
              <a:off x="5067300" y="6276975"/>
              <a:ext cx="1714500" cy="390525"/>
            </a:xfrm>
            <a:custGeom>
              <a:avLst/>
              <a:gdLst/>
              <a:ahLst/>
              <a:cxnLst/>
              <a:rect l="l" t="t" r="r" b="b"/>
              <a:pathLst>
                <a:path w="1714500" h="390525">
                  <a:moveTo>
                    <a:pt x="175736" y="0"/>
                  </a:moveTo>
                  <a:lnTo>
                    <a:pt x="1538764" y="0"/>
                  </a:lnTo>
                  <a:lnTo>
                    <a:pt x="1714500" y="390525"/>
                  </a:lnTo>
                  <a:lnTo>
                    <a:pt x="0" y="390525"/>
                  </a:lnTo>
                  <a:close/>
                </a:path>
              </a:pathLst>
            </a:custGeom>
            <a:solidFill>
              <a:srgbClr val="F3B2A3"/>
            </a:solidFill>
            <a:ln>
              <a:noFill/>
            </a:ln>
          </p:spPr>
        </p:sp>
        <p:sp>
          <p:nvSpPr>
            <p:cNvPr id="408" name="TextBox 408"/>
            <p:cNvSpPr txBox="1"/>
            <p:nvPr/>
          </p:nvSpPr>
          <p:spPr>
            <a:xfrm>
              <a:off x="5789850" y="5478780"/>
              <a:ext cx="26940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Microsoft YaHei"/>
                  <a:cs typeface="Arial"/>
                </a:rPr>
                <a:t>≥900分</a:t>
              </a:r>
            </a:p>
          </p:txBody>
        </p:sp>
        <p:sp>
          <p:nvSpPr>
            <p:cNvPr id="409" name="TextBox 409"/>
            <p:cNvSpPr txBox="1"/>
            <p:nvPr/>
          </p:nvSpPr>
          <p:spPr>
            <a:xfrm>
              <a:off x="5789850" y="5974080"/>
              <a:ext cx="26940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Arial"/>
                  <a:ea typeface="Microsoft YaHei"/>
                  <a:cs typeface="Arial"/>
                </a:rPr>
                <a:t>≥600分</a:t>
              </a:r>
            </a:p>
          </p:txBody>
        </p:sp>
        <p:sp>
          <p:nvSpPr>
            <p:cNvPr id="410" name="TextBox 410"/>
            <p:cNvSpPr txBox="1"/>
            <p:nvPr/>
          </p:nvSpPr>
          <p:spPr>
            <a:xfrm>
              <a:off x="5788428" y="6450330"/>
              <a:ext cx="272244" cy="119062"/>
            </a:xfrm>
            <a:prstGeom prst="rect">
              <a:avLst/>
            </a:prstGeom>
            <a:noFill/>
            <a:ln>
              <a:noFill/>
            </a:ln>
          </p:spPr>
          <p:txBody>
            <a:bodyPr wrap="none" lIns="0" tIns="0" rIns="0" bIns="0" anchor="t" anchorCtr="0">
              <a:spAutoFit/>
            </a:bodyPr>
            <a:lstStyle/>
            <a:p>
              <a:pPr algn="ctr"/>
              <a:r>
                <a:rPr lang="zh-CN" sz="600" b="1" dirty="0">
                  <a:solidFill>
                    <a:srgbClr val="8F230A"/>
                  </a:solidFill>
                  <a:latin typeface="Arial"/>
                  <a:ea typeface="Microsoft YaHei"/>
                  <a:cs typeface="Arial"/>
                </a:rPr>
                <a:t>&lt;600分</a:t>
              </a:r>
            </a:p>
          </p:txBody>
        </p:sp>
        <p:sp>
          <p:nvSpPr>
            <p:cNvPr id="411" name="TextBox 411"/>
            <p:cNvSpPr txBox="1"/>
            <p:nvPr/>
          </p:nvSpPr>
          <p:spPr>
            <a:xfrm>
              <a:off x="6853238" y="4851559"/>
              <a:ext cx="904802" cy="133350"/>
            </a:xfrm>
            <a:prstGeom prst="rect">
              <a:avLst/>
            </a:prstGeom>
            <a:noFill/>
            <a:ln>
              <a:noFill/>
            </a:ln>
          </p:spPr>
          <p:txBody>
            <a:bodyPr wrap="none" lIns="0" tIns="0" rIns="0" bIns="0" anchor="t" anchorCtr="0">
              <a:spAutoFit/>
            </a:bodyPr>
            <a:lstStyle/>
            <a:p>
              <a:pPr algn="l"/>
              <a:r>
                <a:rPr lang="zh-CN" sz="680" b="1" dirty="0">
                  <a:solidFill>
                    <a:srgbClr val="C83210"/>
                  </a:solidFill>
                  <a:latin typeface="+mn-lt"/>
                  <a:ea typeface="+mn-ea"/>
                  <a:cs typeface="+mn-cs"/>
                </a:rPr>
                <a:t xml:space="preserve">卓越之星 ≥1,200分　</a:t>
              </a:r>
            </a:p>
          </p:txBody>
        </p:sp>
        <p:sp>
          <p:nvSpPr>
            <p:cNvPr id="412" name="TextBox 412"/>
            <p:cNvSpPr txBox="1"/>
            <p:nvPr/>
          </p:nvSpPr>
          <p:spPr>
            <a:xfrm>
              <a:off x="6853238" y="4997053"/>
              <a:ext cx="688010"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荣誉表彰、专项奖励</a:t>
              </a:r>
            </a:p>
          </p:txBody>
        </p:sp>
        <p:sp>
          <p:nvSpPr>
            <p:cNvPr id="413" name="TextBox 413"/>
            <p:cNvSpPr txBox="1"/>
            <p:nvPr/>
          </p:nvSpPr>
          <p:spPr>
            <a:xfrm>
              <a:off x="6853238" y="5120878"/>
              <a:ext cx="461848"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优先晋升机会</a:t>
              </a:r>
            </a:p>
          </p:txBody>
        </p:sp>
        <p:sp>
          <p:nvSpPr>
            <p:cNvPr id="414" name="TextBox 414"/>
            <p:cNvSpPr txBox="1"/>
            <p:nvPr/>
          </p:nvSpPr>
          <p:spPr>
            <a:xfrm>
              <a:off x="6853238" y="5356384"/>
              <a:ext cx="707530" cy="133350"/>
            </a:xfrm>
            <a:prstGeom prst="rect">
              <a:avLst/>
            </a:prstGeom>
            <a:noFill/>
            <a:ln>
              <a:noFill/>
            </a:ln>
          </p:spPr>
          <p:txBody>
            <a:bodyPr wrap="none" lIns="0" tIns="0" rIns="0" bIns="0" anchor="t" anchorCtr="0">
              <a:spAutoFit/>
            </a:bodyPr>
            <a:lstStyle/>
            <a:p>
              <a:pPr algn="l"/>
              <a:r>
                <a:rPr lang="zh-CN" sz="680" b="1" dirty="0">
                  <a:solidFill>
                    <a:srgbClr val="C83210"/>
                  </a:solidFill>
                  <a:latin typeface="+mn-lt"/>
                  <a:ea typeface="+mn-ea"/>
                  <a:cs typeface="+mn-cs"/>
                </a:rPr>
                <a:t xml:space="preserve">高绩效 ≥900分　</a:t>
              </a:r>
            </a:p>
          </p:txBody>
        </p:sp>
        <p:sp>
          <p:nvSpPr>
            <p:cNvPr id="415" name="TextBox 415"/>
            <p:cNvSpPr txBox="1"/>
            <p:nvPr/>
          </p:nvSpPr>
          <p:spPr>
            <a:xfrm>
              <a:off x="6853238" y="5501878"/>
              <a:ext cx="311074"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绩效加分</a:t>
              </a:r>
            </a:p>
          </p:txBody>
        </p:sp>
        <p:sp>
          <p:nvSpPr>
            <p:cNvPr id="416" name="TextBox 416"/>
            <p:cNvSpPr txBox="1"/>
            <p:nvPr/>
          </p:nvSpPr>
          <p:spPr>
            <a:xfrm>
              <a:off x="6853238" y="5625703"/>
              <a:ext cx="461848"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培训资源倾斜</a:t>
              </a:r>
            </a:p>
          </p:txBody>
        </p:sp>
        <p:sp>
          <p:nvSpPr>
            <p:cNvPr id="417" name="TextBox 417"/>
            <p:cNvSpPr txBox="1"/>
            <p:nvPr/>
          </p:nvSpPr>
          <p:spPr>
            <a:xfrm>
              <a:off x="6853238" y="5861209"/>
              <a:ext cx="615988" cy="133350"/>
            </a:xfrm>
            <a:prstGeom prst="rect">
              <a:avLst/>
            </a:prstGeom>
            <a:noFill/>
            <a:ln>
              <a:noFill/>
            </a:ln>
          </p:spPr>
          <p:txBody>
            <a:bodyPr wrap="none" lIns="0" tIns="0" rIns="0" bIns="0" anchor="t" anchorCtr="0">
              <a:spAutoFit/>
            </a:bodyPr>
            <a:lstStyle/>
            <a:p>
              <a:pPr algn="l"/>
              <a:r>
                <a:rPr lang="zh-CN" sz="680" b="1" dirty="0">
                  <a:solidFill>
                    <a:srgbClr val="C83210"/>
                  </a:solidFill>
                  <a:latin typeface="+mn-lt"/>
                  <a:ea typeface="+mn-ea"/>
                  <a:cs typeface="+mn-cs"/>
                </a:rPr>
                <a:t xml:space="preserve">达标 ≥600分　</a:t>
              </a:r>
            </a:p>
          </p:txBody>
        </p:sp>
        <p:sp>
          <p:nvSpPr>
            <p:cNvPr id="418" name="TextBox 418"/>
            <p:cNvSpPr txBox="1"/>
            <p:nvPr/>
          </p:nvSpPr>
          <p:spPr>
            <a:xfrm>
              <a:off x="6853238" y="6006703"/>
              <a:ext cx="311074"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基本激励</a:t>
              </a:r>
            </a:p>
          </p:txBody>
        </p:sp>
        <p:sp>
          <p:nvSpPr>
            <p:cNvPr id="419" name="TextBox 419"/>
            <p:cNvSpPr txBox="1"/>
            <p:nvPr/>
          </p:nvSpPr>
          <p:spPr>
            <a:xfrm>
              <a:off x="6853238" y="6130528"/>
              <a:ext cx="311074"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评优资格</a:t>
              </a:r>
            </a:p>
          </p:txBody>
        </p:sp>
        <p:sp>
          <p:nvSpPr>
            <p:cNvPr id="420" name="TextBox 420"/>
            <p:cNvSpPr txBox="1"/>
            <p:nvPr/>
          </p:nvSpPr>
          <p:spPr>
            <a:xfrm>
              <a:off x="6853238" y="6366034"/>
              <a:ext cx="707530" cy="133350"/>
            </a:xfrm>
            <a:prstGeom prst="rect">
              <a:avLst/>
            </a:prstGeom>
            <a:noFill/>
            <a:ln>
              <a:noFill/>
            </a:ln>
          </p:spPr>
          <p:txBody>
            <a:bodyPr wrap="none" lIns="0" tIns="0" rIns="0" bIns="0" anchor="t" anchorCtr="0">
              <a:spAutoFit/>
            </a:bodyPr>
            <a:lstStyle/>
            <a:p>
              <a:pPr algn="l"/>
              <a:r>
                <a:rPr lang="zh-CN" sz="680" b="1" dirty="0">
                  <a:solidFill>
                    <a:srgbClr val="C83210"/>
                  </a:solidFill>
                  <a:latin typeface="+mn-lt"/>
                  <a:ea typeface="+mn-ea"/>
                  <a:cs typeface="+mn-cs"/>
                </a:rPr>
                <a:t xml:space="preserve">待提升 &lt;600分　</a:t>
              </a:r>
            </a:p>
          </p:txBody>
        </p:sp>
        <p:sp>
          <p:nvSpPr>
            <p:cNvPr id="421" name="TextBox 421"/>
            <p:cNvSpPr txBox="1"/>
            <p:nvPr/>
          </p:nvSpPr>
          <p:spPr>
            <a:xfrm>
              <a:off x="6853238" y="6511528"/>
              <a:ext cx="311074"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重点辅导</a:t>
              </a:r>
            </a:p>
          </p:txBody>
        </p:sp>
        <p:sp>
          <p:nvSpPr>
            <p:cNvPr id="422" name="TextBox 422"/>
            <p:cNvSpPr txBox="1"/>
            <p:nvPr/>
          </p:nvSpPr>
          <p:spPr>
            <a:xfrm>
              <a:off x="6853238" y="6625828"/>
              <a:ext cx="461848"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制定提升计划</a:t>
              </a:r>
            </a:p>
          </p:txBody>
        </p:sp>
      </p:grpSp>
      <p:grpSp>
        <p:nvGrpSpPr>
          <p:cNvPr id="462" name="support-cards"/>
          <p:cNvGrpSpPr/>
          <p:nvPr/>
        </p:nvGrpSpPr>
        <p:grpSpPr>
          <a:xfrm>
            <a:off x="8305800" y="4505325"/>
            <a:ext cx="3752850" cy="2162175"/>
            <a:chOff x="8305800" y="4505325"/>
            <a:chExt cx="3752850" cy="2162175"/>
          </a:xfrm>
        </p:grpSpPr>
        <p:sp>
          <p:nvSpPr>
            <p:cNvPr id="424" name="Ellipse 424"/>
            <p:cNvSpPr/>
            <p:nvPr/>
          </p:nvSpPr>
          <p:spPr>
            <a:xfrm>
              <a:off x="8315325" y="4505325"/>
              <a:ext cx="171450" cy="171450"/>
            </a:xfrm>
            <a:prstGeom prst="ellipse">
              <a:avLst/>
            </a:prstGeom>
            <a:solidFill>
              <a:srgbClr val="C83210"/>
            </a:solidFill>
            <a:ln>
              <a:noFill/>
            </a:ln>
          </p:spPr>
        </p:sp>
        <p:sp>
          <p:nvSpPr>
            <p:cNvPr id="425" name="TextBox 425"/>
            <p:cNvSpPr txBox="1"/>
            <p:nvPr/>
          </p:nvSpPr>
          <p:spPr>
            <a:xfrm>
              <a:off x="8368209" y="4548188"/>
              <a:ext cx="6568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8</a:t>
              </a:r>
            </a:p>
          </p:txBody>
        </p:sp>
        <p:sp>
          <p:nvSpPr>
            <p:cNvPr id="426" name="TextBox 426"/>
            <p:cNvSpPr txBox="1"/>
            <p:nvPr/>
          </p:nvSpPr>
          <p:spPr>
            <a:xfrm>
              <a:off x="8548497" y="4533424"/>
              <a:ext cx="119725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任务落地的支持保障</a:t>
              </a:r>
            </a:p>
          </p:txBody>
        </p:sp>
        <p:sp>
          <p:nvSpPr>
            <p:cNvPr id="427" name="Rectangle 427"/>
            <p:cNvSpPr/>
            <p:nvPr/>
          </p:nvSpPr>
          <p:spPr>
            <a:xfrm>
              <a:off x="8305800" y="4743450"/>
              <a:ext cx="885825" cy="1924050"/>
            </a:xfrm>
            <a:prstGeom prst="roundRect">
              <a:avLst>
                <a:gd name="adj" fmla="val 6452"/>
              </a:avLst>
            </a:prstGeom>
            <a:solidFill>
              <a:srgbClr val="FDEFF1"/>
            </a:solidFill>
            <a:ln>
              <a:noFill/>
            </a:ln>
          </p:spPr>
        </p:sp>
        <p:grpSp>
          <p:nvGrpSpPr>
            <p:cNvPr id="433" name="Group 433"/>
            <p:cNvGrpSpPr/>
            <p:nvPr/>
          </p:nvGrpSpPr>
          <p:grpSpPr>
            <a:xfrm>
              <a:off x="8681244" y="4907756"/>
              <a:ext cx="144462" cy="185737"/>
              <a:chOff x="8681244" y="4907756"/>
              <a:chExt cx="144462" cy="185737"/>
            </a:xfrm>
          </p:grpSpPr>
          <p:sp>
            <p:nvSpPr>
              <p:cNvPr id="428" name="Freeform 428"/>
              <p:cNvSpPr/>
              <p:nvPr/>
            </p:nvSpPr>
            <p:spPr>
              <a:xfrm>
                <a:off x="8774112" y="490775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C83210"/>
                </a:solidFill>
              </a:ln>
            </p:spPr>
          </p:sp>
          <p:sp>
            <p:nvSpPr>
              <p:cNvPr id="429" name="Freeform 429"/>
              <p:cNvSpPr/>
              <p:nvPr/>
            </p:nvSpPr>
            <p:spPr>
              <a:xfrm>
                <a:off x="8681244" y="4907756"/>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C83210"/>
                </a:solidFill>
              </a:ln>
            </p:spPr>
          </p:sp>
          <p:sp>
            <p:nvSpPr>
              <p:cNvPr id="430" name="Freeform 430"/>
              <p:cNvSpPr/>
              <p:nvPr/>
            </p:nvSpPr>
            <p:spPr>
              <a:xfrm>
                <a:off x="8722518" y="4969668"/>
                <a:ext cx="10319" cy="9525"/>
              </a:xfrm>
              <a:custGeom>
                <a:avLst/>
                <a:gdLst/>
                <a:ahLst/>
                <a:cxnLst/>
                <a:rect l="l" t="t" r="r" b="b"/>
                <a:pathLst>
                  <a:path w="10319" h="9525">
                    <a:moveTo>
                      <a:pt x="0" y="0"/>
                    </a:moveTo>
                    <a:lnTo>
                      <a:pt x="10319" y="0"/>
                    </a:lnTo>
                  </a:path>
                </a:pathLst>
              </a:custGeom>
              <a:noFill/>
              <a:ln w="20637">
                <a:solidFill>
                  <a:srgbClr val="C83210"/>
                </a:solidFill>
              </a:ln>
            </p:spPr>
          </p:sp>
          <p:sp>
            <p:nvSpPr>
              <p:cNvPr id="431" name="Freeform 431"/>
              <p:cNvSpPr/>
              <p:nvPr/>
            </p:nvSpPr>
            <p:spPr>
              <a:xfrm>
                <a:off x="8722518" y="5010943"/>
                <a:ext cx="61912" cy="9525"/>
              </a:xfrm>
              <a:custGeom>
                <a:avLst/>
                <a:gdLst/>
                <a:ahLst/>
                <a:cxnLst/>
                <a:rect l="l" t="t" r="r" b="b"/>
                <a:pathLst>
                  <a:path w="61912" h="9525">
                    <a:moveTo>
                      <a:pt x="0" y="0"/>
                    </a:moveTo>
                    <a:lnTo>
                      <a:pt x="61912" y="0"/>
                    </a:lnTo>
                  </a:path>
                </a:pathLst>
              </a:custGeom>
              <a:noFill/>
              <a:ln w="20637">
                <a:solidFill>
                  <a:srgbClr val="C83210"/>
                </a:solidFill>
              </a:ln>
            </p:spPr>
          </p:sp>
          <p:sp>
            <p:nvSpPr>
              <p:cNvPr id="432" name="Freeform 432"/>
              <p:cNvSpPr/>
              <p:nvPr/>
            </p:nvSpPr>
            <p:spPr>
              <a:xfrm>
                <a:off x="8722518" y="5052218"/>
                <a:ext cx="61912" cy="9525"/>
              </a:xfrm>
              <a:custGeom>
                <a:avLst/>
                <a:gdLst/>
                <a:ahLst/>
                <a:cxnLst/>
                <a:rect l="l" t="t" r="r" b="b"/>
                <a:pathLst>
                  <a:path w="61912" h="9525">
                    <a:moveTo>
                      <a:pt x="0" y="0"/>
                    </a:moveTo>
                    <a:lnTo>
                      <a:pt x="61912" y="0"/>
                    </a:lnTo>
                  </a:path>
                </a:pathLst>
              </a:custGeom>
              <a:noFill/>
              <a:ln w="20637">
                <a:solidFill>
                  <a:srgbClr val="C83210"/>
                </a:solidFill>
              </a:ln>
            </p:spPr>
          </p:sp>
        </p:grpSp>
        <p:sp>
          <p:nvSpPr>
            <p:cNvPr id="434" name="TextBox 434"/>
            <p:cNvSpPr txBox="1"/>
            <p:nvPr/>
          </p:nvSpPr>
          <p:spPr>
            <a:xfrm>
              <a:off x="8537258" y="525303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内容支持</a:t>
              </a:r>
            </a:p>
          </p:txBody>
        </p:sp>
        <p:sp>
          <p:nvSpPr>
            <p:cNvPr id="435" name="TextBox 435"/>
            <p:cNvSpPr txBox="1"/>
            <p:nvPr/>
          </p:nvSpPr>
          <p:spPr>
            <a:xfrm>
              <a:off x="8475332" y="5501878"/>
              <a:ext cx="537235"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提供标准化内容</a:t>
              </a:r>
            </a:p>
          </p:txBody>
        </p:sp>
        <p:sp>
          <p:nvSpPr>
            <p:cNvPr id="436" name="TextBox 436"/>
            <p:cNvSpPr txBox="1"/>
            <p:nvPr/>
          </p:nvSpPr>
          <p:spPr>
            <a:xfrm>
              <a:off x="8437639" y="5635228"/>
              <a:ext cx="612623"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节日、产品、活动</a:t>
              </a:r>
            </a:p>
          </p:txBody>
        </p:sp>
        <p:sp>
          <p:nvSpPr>
            <p:cNvPr id="437" name="TextBox 437"/>
            <p:cNvSpPr txBox="1"/>
            <p:nvPr/>
          </p:nvSpPr>
          <p:spPr>
            <a:xfrm>
              <a:off x="8588413" y="5768578"/>
              <a:ext cx="311074"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一键转发</a:t>
              </a:r>
            </a:p>
          </p:txBody>
        </p:sp>
        <p:sp>
          <p:nvSpPr>
            <p:cNvPr id="438" name="Rectangle 438"/>
            <p:cNvSpPr/>
            <p:nvPr/>
          </p:nvSpPr>
          <p:spPr>
            <a:xfrm>
              <a:off x="9258300" y="4743450"/>
              <a:ext cx="885825" cy="1924050"/>
            </a:xfrm>
            <a:prstGeom prst="roundRect">
              <a:avLst>
                <a:gd name="adj" fmla="val 6452"/>
              </a:avLst>
            </a:prstGeom>
            <a:solidFill>
              <a:srgbClr val="FDEFF1"/>
            </a:solidFill>
            <a:ln>
              <a:noFill/>
            </a:ln>
          </p:spPr>
        </p:sp>
        <p:sp>
          <p:nvSpPr>
            <p:cNvPr id="439" name="Freeform 439"/>
            <p:cNvSpPr/>
            <p:nvPr/>
          </p:nvSpPr>
          <p:spPr>
            <a:xfrm>
              <a:off x="9606958" y="4901608"/>
              <a:ext cx="195274" cy="195274"/>
            </a:xfrm>
            <a:custGeom>
              <a:avLst/>
              <a:gdLst/>
              <a:ahLst/>
              <a:cxnLst/>
              <a:rect l="l" t="t" r="r" b="b"/>
              <a:pathLst>
                <a:path w="195274" h="195274">
                  <a:moveTo>
                    <a:pt x="47423" y="78379"/>
                  </a:moveTo>
                  <a:lnTo>
                    <a:pt x="78379" y="78379"/>
                  </a:lnTo>
                  <a:lnTo>
                    <a:pt x="78379" y="47423"/>
                  </a:lnTo>
                  <a:lnTo>
                    <a:pt x="42264" y="11307"/>
                  </a:lnTo>
                  <a:cubicBezTo>
                    <a:pt x="65939" y="0"/>
                    <a:pt x="94172" y="4844"/>
                    <a:pt x="112724" y="23397"/>
                  </a:cubicBezTo>
                  <a:cubicBezTo>
                    <a:pt x="131277" y="41949"/>
                    <a:pt x="136121" y="70181"/>
                    <a:pt x="124813" y="93857"/>
                  </a:cubicBezTo>
                  <a:lnTo>
                    <a:pt x="186726" y="155769"/>
                  </a:lnTo>
                  <a:cubicBezTo>
                    <a:pt x="195274" y="164318"/>
                    <a:pt x="195274" y="178177"/>
                    <a:pt x="186726" y="186726"/>
                  </a:cubicBezTo>
                  <a:cubicBezTo>
                    <a:pt x="178177" y="195274"/>
                    <a:pt x="164318" y="195274"/>
                    <a:pt x="155769" y="186726"/>
                  </a:cubicBezTo>
                  <a:lnTo>
                    <a:pt x="93857" y="124813"/>
                  </a:lnTo>
                  <a:cubicBezTo>
                    <a:pt x="70181" y="136121"/>
                    <a:pt x="41949" y="131277"/>
                    <a:pt x="23397" y="112724"/>
                  </a:cubicBezTo>
                  <a:cubicBezTo>
                    <a:pt x="4844" y="94172"/>
                    <a:pt x="0" y="65939"/>
                    <a:pt x="11307" y="42264"/>
                  </a:cubicBezTo>
                  <a:lnTo>
                    <a:pt x="47423" y="78379"/>
                  </a:lnTo>
                </a:path>
              </a:pathLst>
            </a:custGeom>
            <a:noFill/>
            <a:ln w="20637">
              <a:solidFill>
                <a:srgbClr val="C83210"/>
              </a:solidFill>
            </a:ln>
          </p:spPr>
        </p:sp>
        <p:sp>
          <p:nvSpPr>
            <p:cNvPr id="440" name="TextBox 440"/>
            <p:cNvSpPr txBox="1"/>
            <p:nvPr/>
          </p:nvSpPr>
          <p:spPr>
            <a:xfrm>
              <a:off x="9489758" y="525303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工具支持</a:t>
              </a:r>
            </a:p>
          </p:txBody>
        </p:sp>
        <p:sp>
          <p:nvSpPr>
            <p:cNvPr id="441" name="TextBox 441"/>
            <p:cNvSpPr txBox="1"/>
            <p:nvPr/>
          </p:nvSpPr>
          <p:spPr>
            <a:xfrm>
              <a:off x="9352445" y="5501878"/>
              <a:ext cx="688010"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任务看板、客户标签</a:t>
              </a:r>
            </a:p>
          </p:txBody>
        </p:sp>
        <p:sp>
          <p:nvSpPr>
            <p:cNvPr id="442" name="TextBox 442"/>
            <p:cNvSpPr txBox="1"/>
            <p:nvPr/>
          </p:nvSpPr>
          <p:spPr>
            <a:xfrm>
              <a:off x="9352445" y="5635228"/>
              <a:ext cx="688010"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互动素材、数据统计</a:t>
              </a:r>
            </a:p>
          </p:txBody>
        </p:sp>
        <p:sp>
          <p:nvSpPr>
            <p:cNvPr id="443" name="TextBox 443"/>
            <p:cNvSpPr txBox="1"/>
            <p:nvPr/>
          </p:nvSpPr>
          <p:spPr>
            <a:xfrm>
              <a:off x="9465526" y="5768578"/>
              <a:ext cx="461848"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提升执行效率</a:t>
              </a:r>
            </a:p>
          </p:txBody>
        </p:sp>
        <p:sp>
          <p:nvSpPr>
            <p:cNvPr id="444" name="Rectangle 444"/>
            <p:cNvSpPr/>
            <p:nvPr/>
          </p:nvSpPr>
          <p:spPr>
            <a:xfrm>
              <a:off x="10210800" y="4743450"/>
              <a:ext cx="885825" cy="1924050"/>
            </a:xfrm>
            <a:prstGeom prst="roundRect">
              <a:avLst>
                <a:gd name="adj" fmla="val 6452"/>
              </a:avLst>
            </a:prstGeom>
            <a:solidFill>
              <a:srgbClr val="FDEFF1"/>
            </a:solidFill>
            <a:ln>
              <a:noFill/>
            </a:ln>
          </p:spPr>
        </p:sp>
        <p:grpSp>
          <p:nvGrpSpPr>
            <p:cNvPr id="447" name="Group 447"/>
            <p:cNvGrpSpPr/>
            <p:nvPr/>
          </p:nvGrpSpPr>
          <p:grpSpPr>
            <a:xfrm>
              <a:off x="10555287" y="4928394"/>
              <a:ext cx="206374" cy="144461"/>
              <a:chOff x="10555287" y="4928394"/>
              <a:chExt cx="206374" cy="144461"/>
            </a:xfrm>
          </p:grpSpPr>
          <p:sp>
            <p:nvSpPr>
              <p:cNvPr id="445" name="Freeform 445"/>
              <p:cNvSpPr/>
              <p:nvPr/>
            </p:nvSpPr>
            <p:spPr>
              <a:xfrm>
                <a:off x="10555287" y="4928394"/>
                <a:ext cx="206374" cy="103187"/>
              </a:xfrm>
              <a:custGeom>
                <a:avLst/>
                <a:gdLst/>
                <a:ahLst/>
                <a:cxnLst/>
                <a:rect l="l" t="t" r="r" b="b"/>
                <a:pathLst>
                  <a:path w="206374" h="103187">
                    <a:moveTo>
                      <a:pt x="206374" y="41275"/>
                    </a:moveTo>
                    <a:lnTo>
                      <a:pt x="103187" y="0"/>
                    </a:lnTo>
                    <a:lnTo>
                      <a:pt x="0" y="41275"/>
                    </a:lnTo>
                    <a:lnTo>
                      <a:pt x="103187" y="82550"/>
                    </a:lnTo>
                    <a:lnTo>
                      <a:pt x="206374" y="41275"/>
                    </a:lnTo>
                    <a:lnTo>
                      <a:pt x="206374" y="103187"/>
                    </a:lnTo>
                  </a:path>
                </a:pathLst>
              </a:custGeom>
              <a:noFill/>
              <a:ln w="20637">
                <a:solidFill>
                  <a:srgbClr val="C83210"/>
                </a:solidFill>
              </a:ln>
            </p:spPr>
          </p:sp>
          <p:sp>
            <p:nvSpPr>
              <p:cNvPr id="446" name="Freeform 446"/>
              <p:cNvSpPr/>
              <p:nvPr/>
            </p:nvSpPr>
            <p:spPr>
              <a:xfrm>
                <a:off x="10596562" y="4986178"/>
                <a:ext cx="123825" cy="86677"/>
              </a:xfrm>
              <a:custGeom>
                <a:avLst/>
                <a:gdLst/>
                <a:ahLst/>
                <a:cxnLst/>
                <a:rect l="l" t="t" r="r" b="b"/>
                <a:pathLst>
                  <a:path w="123825" h="86677">
                    <a:moveTo>
                      <a:pt x="0" y="0"/>
                    </a:moveTo>
                    <a:lnTo>
                      <a:pt x="0" y="55721"/>
                    </a:lnTo>
                    <a:cubicBezTo>
                      <a:pt x="0" y="72818"/>
                      <a:pt x="27719" y="86677"/>
                      <a:pt x="61912" y="86677"/>
                    </a:cubicBezTo>
                    <a:cubicBezTo>
                      <a:pt x="96106" y="86677"/>
                      <a:pt x="123825" y="72818"/>
                      <a:pt x="123825" y="55721"/>
                    </a:cubicBezTo>
                    <a:lnTo>
                      <a:pt x="123825" y="0"/>
                    </a:lnTo>
                  </a:path>
                </a:pathLst>
              </a:custGeom>
              <a:noFill/>
              <a:ln w="20637">
                <a:solidFill>
                  <a:srgbClr val="C83210"/>
                </a:solidFill>
              </a:ln>
            </p:spPr>
          </p:sp>
        </p:grpSp>
        <p:sp>
          <p:nvSpPr>
            <p:cNvPr id="448" name="TextBox 448"/>
            <p:cNvSpPr txBox="1"/>
            <p:nvPr/>
          </p:nvSpPr>
          <p:spPr>
            <a:xfrm>
              <a:off x="10442258" y="525303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培训辅导</a:t>
              </a:r>
            </a:p>
          </p:txBody>
        </p:sp>
        <p:sp>
          <p:nvSpPr>
            <p:cNvPr id="449" name="TextBox 449"/>
            <p:cNvSpPr txBox="1"/>
            <p:nvPr/>
          </p:nvSpPr>
          <p:spPr>
            <a:xfrm>
              <a:off x="10380332" y="5501878"/>
              <a:ext cx="537235"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定期开展话术、</a:t>
              </a:r>
            </a:p>
          </p:txBody>
        </p:sp>
        <p:sp>
          <p:nvSpPr>
            <p:cNvPr id="450" name="TextBox 450"/>
            <p:cNvSpPr txBox="1"/>
            <p:nvPr/>
          </p:nvSpPr>
          <p:spPr>
            <a:xfrm>
              <a:off x="10304945" y="5635228"/>
              <a:ext cx="688010"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营销技巧、合规培训</a:t>
              </a:r>
            </a:p>
          </p:txBody>
        </p:sp>
        <p:sp>
          <p:nvSpPr>
            <p:cNvPr id="451" name="TextBox 451"/>
            <p:cNvSpPr txBox="1"/>
            <p:nvPr/>
          </p:nvSpPr>
          <p:spPr>
            <a:xfrm>
              <a:off x="10493413" y="5768578"/>
              <a:ext cx="311074"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进行辅导</a:t>
              </a:r>
            </a:p>
          </p:txBody>
        </p:sp>
        <p:sp>
          <p:nvSpPr>
            <p:cNvPr id="452" name="Rectangle 452"/>
            <p:cNvSpPr/>
            <p:nvPr/>
          </p:nvSpPr>
          <p:spPr>
            <a:xfrm>
              <a:off x="11163300" y="4743450"/>
              <a:ext cx="895350" cy="1924050"/>
            </a:xfrm>
            <a:prstGeom prst="roundRect">
              <a:avLst>
                <a:gd name="adj" fmla="val 6383"/>
              </a:avLst>
            </a:prstGeom>
            <a:solidFill>
              <a:srgbClr val="FDEFF1"/>
            </a:solidFill>
            <a:ln>
              <a:noFill/>
            </a:ln>
          </p:spPr>
        </p:sp>
        <p:grpSp>
          <p:nvGrpSpPr>
            <p:cNvPr id="457" name="Group 457"/>
            <p:cNvGrpSpPr/>
            <p:nvPr/>
          </p:nvGrpSpPr>
          <p:grpSpPr>
            <a:xfrm>
              <a:off x="11518106" y="4907401"/>
              <a:ext cx="185737" cy="186092"/>
              <a:chOff x="11518106" y="4907401"/>
              <a:chExt cx="185737" cy="186092"/>
            </a:xfrm>
          </p:grpSpPr>
          <p:sp>
            <p:nvSpPr>
              <p:cNvPr id="453" name="Freeform 453"/>
              <p:cNvSpPr/>
              <p:nvPr/>
            </p:nvSpPr>
            <p:spPr>
              <a:xfrm>
                <a:off x="11518106" y="4959350"/>
                <a:ext cx="185737" cy="41275"/>
              </a:xfrm>
              <a:custGeom>
                <a:avLst/>
                <a:gdLst/>
                <a:ahLst/>
                <a:cxnLst/>
                <a:rect l="l" t="t" r="r" b="b"/>
                <a:pathLst>
                  <a:path w="185737" h="41275">
                    <a:moveTo>
                      <a:pt x="0" y="10319"/>
                    </a:moveTo>
                    <a:cubicBezTo>
                      <a:pt x="0" y="4620"/>
                      <a:pt x="4620" y="0"/>
                      <a:pt x="10319" y="0"/>
                    </a:cubicBezTo>
                    <a:lnTo>
                      <a:pt x="175418" y="0"/>
                    </a:lnTo>
                    <a:cubicBezTo>
                      <a:pt x="181117" y="0"/>
                      <a:pt x="185737" y="4620"/>
                      <a:pt x="185737" y="10319"/>
                    </a:cubicBezTo>
                    <a:lnTo>
                      <a:pt x="185737" y="30956"/>
                    </a:lnTo>
                    <a:cubicBezTo>
                      <a:pt x="185737" y="36655"/>
                      <a:pt x="181117" y="41275"/>
                      <a:pt x="175418" y="41275"/>
                    </a:cubicBezTo>
                    <a:lnTo>
                      <a:pt x="10319" y="41275"/>
                    </a:lnTo>
                    <a:cubicBezTo>
                      <a:pt x="4620" y="41275"/>
                      <a:pt x="0" y="36655"/>
                      <a:pt x="0" y="30956"/>
                    </a:cubicBezTo>
                    <a:lnTo>
                      <a:pt x="0" y="10319"/>
                    </a:lnTo>
                  </a:path>
                </a:pathLst>
              </a:custGeom>
              <a:noFill/>
              <a:ln w="20637">
                <a:solidFill>
                  <a:srgbClr val="C83210"/>
                </a:solidFill>
              </a:ln>
            </p:spPr>
          </p:sp>
          <p:sp>
            <p:nvSpPr>
              <p:cNvPr id="454" name="Freeform 454"/>
              <p:cNvSpPr/>
              <p:nvPr/>
            </p:nvSpPr>
            <p:spPr>
              <a:xfrm>
                <a:off x="11610975" y="4959350"/>
                <a:ext cx="9525" cy="134143"/>
              </a:xfrm>
              <a:custGeom>
                <a:avLst/>
                <a:gdLst/>
                <a:ahLst/>
                <a:cxnLst/>
                <a:rect l="l" t="t" r="r" b="b"/>
                <a:pathLst>
                  <a:path w="9525" h="134143">
                    <a:moveTo>
                      <a:pt x="0" y="0"/>
                    </a:moveTo>
                    <a:lnTo>
                      <a:pt x="0" y="134143"/>
                    </a:lnTo>
                  </a:path>
                </a:pathLst>
              </a:custGeom>
              <a:noFill/>
              <a:ln w="20637">
                <a:solidFill>
                  <a:srgbClr val="C83210"/>
                </a:solidFill>
              </a:ln>
            </p:spPr>
          </p:sp>
          <p:sp>
            <p:nvSpPr>
              <p:cNvPr id="455" name="Freeform 455"/>
              <p:cNvSpPr/>
              <p:nvPr/>
            </p:nvSpPr>
            <p:spPr>
              <a:xfrm>
                <a:off x="11538744" y="5000625"/>
                <a:ext cx="144462" cy="92868"/>
              </a:xfrm>
              <a:custGeom>
                <a:avLst/>
                <a:gdLst/>
                <a:ahLst/>
                <a:cxnLst/>
                <a:rect l="l" t="t" r="r" b="b"/>
                <a:pathLst>
                  <a:path w="144462" h="92868">
                    <a:moveTo>
                      <a:pt x="144462" y="0"/>
                    </a:moveTo>
                    <a:lnTo>
                      <a:pt x="144462" y="72231"/>
                    </a:lnTo>
                    <a:cubicBezTo>
                      <a:pt x="144462" y="83629"/>
                      <a:pt x="135222" y="92868"/>
                      <a:pt x="123825" y="92868"/>
                    </a:cubicBezTo>
                    <a:lnTo>
                      <a:pt x="20637" y="92868"/>
                    </a:lnTo>
                    <a:cubicBezTo>
                      <a:pt x="9240" y="92868"/>
                      <a:pt x="0" y="83629"/>
                      <a:pt x="0" y="72231"/>
                    </a:cubicBezTo>
                    <a:lnTo>
                      <a:pt x="0" y="0"/>
                    </a:lnTo>
                  </a:path>
                </a:pathLst>
              </a:custGeom>
              <a:noFill/>
              <a:ln w="20637">
                <a:solidFill>
                  <a:srgbClr val="C83210"/>
                </a:solidFill>
              </a:ln>
            </p:spPr>
          </p:sp>
          <p:sp>
            <p:nvSpPr>
              <p:cNvPr id="456" name="Freeform 456"/>
              <p:cNvSpPr/>
              <p:nvPr/>
            </p:nvSpPr>
            <p:spPr>
              <a:xfrm>
                <a:off x="11538744" y="4907401"/>
                <a:ext cx="144462" cy="51949"/>
              </a:xfrm>
              <a:custGeom>
                <a:avLst/>
                <a:gdLst/>
                <a:ahLst/>
                <a:cxnLst/>
                <a:rect l="l" t="t" r="r" b="b"/>
                <a:pathLst>
                  <a:path w="144462" h="51949">
                    <a:moveTo>
                      <a:pt x="25797" y="51949"/>
                    </a:moveTo>
                    <a:cubicBezTo>
                      <a:pt x="11550" y="51949"/>
                      <a:pt x="0" y="40399"/>
                      <a:pt x="0" y="26152"/>
                    </a:cubicBezTo>
                    <a:cubicBezTo>
                      <a:pt x="0" y="11905"/>
                      <a:pt x="11550" y="355"/>
                      <a:pt x="25797" y="355"/>
                    </a:cubicBezTo>
                    <a:cubicBezTo>
                      <a:pt x="46168" y="0"/>
                      <a:pt x="64592" y="20471"/>
                      <a:pt x="72231" y="51949"/>
                    </a:cubicBezTo>
                    <a:cubicBezTo>
                      <a:pt x="79870" y="20471"/>
                      <a:pt x="98294" y="0"/>
                      <a:pt x="118665" y="355"/>
                    </a:cubicBezTo>
                    <a:cubicBezTo>
                      <a:pt x="132912" y="355"/>
                      <a:pt x="144462" y="11905"/>
                      <a:pt x="144462" y="26152"/>
                    </a:cubicBezTo>
                    <a:cubicBezTo>
                      <a:pt x="144462" y="40399"/>
                      <a:pt x="132912" y="51949"/>
                      <a:pt x="118665" y="51949"/>
                    </a:cubicBezTo>
                  </a:path>
                </a:pathLst>
              </a:custGeom>
              <a:noFill/>
              <a:ln w="20637">
                <a:solidFill>
                  <a:srgbClr val="C83210"/>
                </a:solidFill>
              </a:ln>
            </p:spPr>
          </p:sp>
        </p:grpSp>
        <p:sp>
          <p:nvSpPr>
            <p:cNvPr id="458" name="TextBox 458"/>
            <p:cNvSpPr txBox="1"/>
            <p:nvPr/>
          </p:nvSpPr>
          <p:spPr>
            <a:xfrm>
              <a:off x="11404282" y="525303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激励机制</a:t>
              </a:r>
            </a:p>
          </p:txBody>
        </p:sp>
        <p:sp>
          <p:nvSpPr>
            <p:cNvPr id="459" name="TextBox 459"/>
            <p:cNvSpPr txBox="1"/>
            <p:nvPr/>
          </p:nvSpPr>
          <p:spPr>
            <a:xfrm>
              <a:off x="11266970" y="5501878"/>
              <a:ext cx="688010"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积分兑换、荣誉表彰</a:t>
              </a:r>
            </a:p>
          </p:txBody>
        </p:sp>
        <p:sp>
          <p:nvSpPr>
            <p:cNvPr id="460" name="TextBox 460"/>
            <p:cNvSpPr txBox="1"/>
            <p:nvPr/>
          </p:nvSpPr>
          <p:spPr>
            <a:xfrm>
              <a:off x="11266970" y="5635228"/>
              <a:ext cx="688010"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物质与精神激励结合</a:t>
              </a:r>
            </a:p>
          </p:txBody>
        </p:sp>
        <p:sp>
          <p:nvSpPr>
            <p:cNvPr id="461" name="TextBox 461"/>
            <p:cNvSpPr txBox="1"/>
            <p:nvPr/>
          </p:nvSpPr>
          <p:spPr>
            <a:xfrm>
              <a:off x="11304664" y="5768578"/>
              <a:ext cx="612623" cy="111919"/>
            </a:xfrm>
            <a:prstGeom prst="rect">
              <a:avLst/>
            </a:prstGeom>
            <a:noFill/>
            <a:ln>
              <a:noFill/>
            </a:ln>
          </p:spPr>
          <p:txBody>
            <a:bodyPr wrap="none" lIns="0" tIns="0" rIns="0" bIns="0" anchor="t" anchorCtr="0">
              <a:spAutoFit/>
            </a:bodyPr>
            <a:lstStyle/>
            <a:p>
              <a:pPr algn="ctr"/>
              <a:r>
                <a:rPr lang="zh-CN" sz="560" dirty="0">
                  <a:solidFill>
                    <a:srgbClr val="3D3D3D"/>
                  </a:solidFill>
                  <a:latin typeface="+mn-lt"/>
                  <a:ea typeface="+mn-ea"/>
                  <a:cs typeface="+mn-cs"/>
                </a:rPr>
                <a:t>营造比学赶超氛围</a:t>
              </a:r>
            </a:p>
          </p:txBody>
        </p:sp>
      </p:gr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15</a:t>
              </a:r>
            </a:p>
          </p:txBody>
        </p:sp>
        <p:sp>
          <p:nvSpPr>
            <p:cNvPr id="4" name="TextBox 4"/>
            <p:cNvSpPr txBox="1"/>
            <p:nvPr/>
          </p:nvSpPr>
          <p:spPr>
            <a:xfrm>
              <a:off x="942594" y="151448"/>
              <a:ext cx="7508748"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考核评价</a:t>
              </a:r>
              <a:r>
                <a:rPr lang="zh-CN" sz="1950" b="1" dirty="0">
                  <a:solidFill>
                    <a:srgbClr val="222222"/>
                  </a:solidFill>
                  <a:latin typeface="SimSun"/>
                  <a:ea typeface="SimSun"/>
                  <a:cs typeface="SimSun"/>
                </a:rPr>
                <a:t>｜认证率是入口指标，客户活跃与转化才是经营结果</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36" name="assess-card-1"/>
          <p:cNvGrpSpPr/>
          <p:nvPr/>
        </p:nvGrpSpPr>
        <p:grpSpPr>
          <a:xfrm>
            <a:off x="133350" y="628650"/>
            <a:ext cx="2924175" cy="1714500"/>
            <a:chOff x="133350" y="628650"/>
            <a:chExt cx="2924175" cy="1714500"/>
          </a:xfrm>
        </p:grpSpPr>
        <p:sp>
          <p:nvSpPr>
            <p:cNvPr id="7" name="Rectangle 7"/>
            <p:cNvSpPr/>
            <p:nvPr/>
          </p:nvSpPr>
          <p:spPr>
            <a:xfrm>
              <a:off x="133350" y="628650"/>
              <a:ext cx="2924175" cy="1714500"/>
            </a:xfrm>
            <a:prstGeom prst="roundRect">
              <a:avLst>
                <a:gd name="adj" fmla="val 3333"/>
              </a:avLst>
            </a:prstGeom>
            <a:solidFill>
              <a:srgbClr val="FDEFF1"/>
            </a:solidFill>
            <a:ln>
              <a:noFill/>
            </a:ln>
          </p:spPr>
        </p:sp>
        <p:sp>
          <p:nvSpPr>
            <p:cNvPr id="8" name="Ellipse 8"/>
            <p:cNvSpPr/>
            <p:nvPr/>
          </p:nvSpPr>
          <p:spPr>
            <a:xfrm>
              <a:off x="228600" y="742950"/>
              <a:ext cx="228600" cy="228600"/>
            </a:xfrm>
            <a:prstGeom prst="ellipse">
              <a:avLst/>
            </a:prstGeom>
            <a:solidFill>
              <a:srgbClr val="C83210"/>
            </a:solidFill>
            <a:ln>
              <a:noFill/>
            </a:ln>
          </p:spPr>
        </p:sp>
        <p:sp>
          <p:nvSpPr>
            <p:cNvPr id="9" name="TextBox 9"/>
            <p:cNvSpPr txBox="1"/>
            <p:nvPr/>
          </p:nvSpPr>
          <p:spPr>
            <a:xfrm>
              <a:off x="304443" y="807720"/>
              <a:ext cx="7691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Arial"/>
                  <a:cs typeface="Arial"/>
                </a:rPr>
                <a:t>1</a:t>
              </a:r>
            </a:p>
          </p:txBody>
        </p:sp>
        <p:sp>
          <p:nvSpPr>
            <p:cNvPr id="10" name="TextBox 10"/>
            <p:cNvSpPr txBox="1"/>
            <p:nvPr/>
          </p:nvSpPr>
          <p:spPr>
            <a:xfrm>
              <a:off x="509588" y="741045"/>
              <a:ext cx="1100141"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基础规模</a:t>
              </a:r>
              <a:r>
                <a:rPr lang="zh-CN" sz="900" b="1" dirty="0">
                  <a:solidFill>
                    <a:srgbClr val="C83210"/>
                  </a:solidFill>
                  <a:latin typeface="Arial"/>
                  <a:ea typeface="Microsoft YaHei"/>
                  <a:cs typeface="Arial"/>
                </a:rPr>
                <a:t>（20%）</a:t>
              </a:r>
              <a:r>
                <a:rPr lang="zh-CN" sz="900" b="1" dirty="0">
                  <a:solidFill>
                    <a:srgbClr val="C83210"/>
                  </a:solidFill>
                  <a:latin typeface="+mn-lt"/>
                  <a:ea typeface="+mn-ea"/>
                  <a:cs typeface="+mn-cs"/>
                </a:rPr>
                <a:t xml:space="preserve">　</a:t>
              </a:r>
            </a:p>
          </p:txBody>
        </p:sp>
        <p:sp>
          <p:nvSpPr>
            <p:cNvPr id="11" name="TextBox 11"/>
            <p:cNvSpPr txBox="1"/>
            <p:nvPr/>
          </p:nvSpPr>
          <p:spPr>
            <a:xfrm>
              <a:off x="509588" y="921782"/>
              <a:ext cx="784936" cy="126206"/>
            </a:xfrm>
            <a:prstGeom prst="rect">
              <a:avLst/>
            </a:prstGeom>
            <a:noFill/>
            <a:ln>
              <a:noFill/>
            </a:ln>
          </p:spPr>
          <p:txBody>
            <a:bodyPr wrap="none" lIns="0" tIns="0" rIns="0" bIns="0" anchor="t" anchorCtr="0">
              <a:spAutoFit/>
            </a:bodyPr>
            <a:lstStyle/>
            <a:p>
              <a:pPr algn="l"/>
              <a:r>
                <a:rPr lang="zh-CN" sz="640" dirty="0">
                  <a:solidFill>
                    <a:srgbClr val="808080"/>
                  </a:solidFill>
                  <a:latin typeface="+mn-lt"/>
                  <a:ea typeface="+mn-ea"/>
                  <a:cs typeface="+mn-cs"/>
                </a:rPr>
                <a:t>做大可触达的客户池</a:t>
              </a:r>
            </a:p>
          </p:txBody>
        </p:sp>
        <p:grpSp>
          <p:nvGrpSpPr>
            <p:cNvPr id="16" name="Group 16"/>
            <p:cNvGrpSpPr/>
            <p:nvPr/>
          </p:nvGrpSpPr>
          <p:grpSpPr>
            <a:xfrm>
              <a:off x="2733675" y="742950"/>
              <a:ext cx="171450" cy="161925"/>
              <a:chOff x="2733675" y="742950"/>
              <a:chExt cx="171450" cy="161925"/>
            </a:xfrm>
          </p:grpSpPr>
          <p:sp>
            <p:nvSpPr>
              <p:cNvPr id="12" name="Freeform 12"/>
              <p:cNvSpPr/>
              <p:nvPr/>
            </p:nvSpPr>
            <p:spPr>
              <a:xfrm>
                <a:off x="2733675" y="8191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C83210"/>
                </a:solidFill>
              </a:ln>
            </p:spPr>
          </p:sp>
          <p:sp>
            <p:nvSpPr>
              <p:cNvPr id="13" name="Freeform 13"/>
              <p:cNvSpPr/>
              <p:nvPr/>
            </p:nvSpPr>
            <p:spPr>
              <a:xfrm>
                <a:off x="2847975" y="7810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C83210"/>
                </a:solidFill>
              </a:ln>
            </p:spPr>
          </p:sp>
          <p:sp>
            <p:nvSpPr>
              <p:cNvPr id="14" name="Freeform 14"/>
              <p:cNvSpPr/>
              <p:nvPr/>
            </p:nvSpPr>
            <p:spPr>
              <a:xfrm>
                <a:off x="2790825" y="7429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C83210"/>
                </a:solidFill>
              </a:ln>
            </p:spPr>
          </p:sp>
          <p:sp>
            <p:nvSpPr>
              <p:cNvPr id="15" name="Freeform 15"/>
              <p:cNvSpPr/>
              <p:nvPr/>
            </p:nvSpPr>
            <p:spPr>
              <a:xfrm>
                <a:off x="2743200" y="895350"/>
                <a:ext cx="133350" cy="9525"/>
              </a:xfrm>
              <a:custGeom>
                <a:avLst/>
                <a:gdLst/>
                <a:ahLst/>
                <a:cxnLst/>
                <a:rect l="l" t="t" r="r" b="b"/>
                <a:pathLst>
                  <a:path w="133350" h="9525">
                    <a:moveTo>
                      <a:pt x="0" y="0"/>
                    </a:moveTo>
                    <a:lnTo>
                      <a:pt x="133350" y="0"/>
                    </a:lnTo>
                  </a:path>
                </a:pathLst>
              </a:custGeom>
              <a:noFill/>
              <a:ln w="19050">
                <a:solidFill>
                  <a:srgbClr val="C83210"/>
                </a:solidFill>
              </a:ln>
            </p:spPr>
          </p:sp>
        </p:grpSp>
        <p:sp>
          <p:nvSpPr>
            <p:cNvPr id="17" name="Rectangle 17"/>
            <p:cNvSpPr/>
            <p:nvPr/>
          </p:nvSpPr>
          <p:spPr>
            <a:xfrm>
              <a:off x="133350" y="1104900"/>
              <a:ext cx="2924175" cy="190500"/>
            </a:xfrm>
            <a:prstGeom prst="rect">
              <a:avLst/>
            </a:prstGeom>
            <a:solidFill>
              <a:srgbClr val="FBE3E6"/>
            </a:solidFill>
            <a:ln>
              <a:noFill/>
            </a:ln>
          </p:spPr>
        </p:sp>
        <p:sp>
          <p:nvSpPr>
            <p:cNvPr id="18" name="TextBox 18"/>
            <p:cNvSpPr txBox="1"/>
            <p:nvPr/>
          </p:nvSpPr>
          <p:spPr>
            <a:xfrm>
              <a:off x="375806" y="116943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指标</a:t>
              </a:r>
            </a:p>
          </p:txBody>
        </p:sp>
        <p:sp>
          <p:nvSpPr>
            <p:cNvPr id="19" name="TextBox 19"/>
            <p:cNvSpPr txBox="1"/>
            <p:nvPr/>
          </p:nvSpPr>
          <p:spPr>
            <a:xfrm>
              <a:off x="1242149" y="1169432"/>
              <a:ext cx="35415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计算公式</a:t>
              </a:r>
            </a:p>
          </p:txBody>
        </p:sp>
        <p:sp>
          <p:nvSpPr>
            <p:cNvPr id="20" name="TextBox 20"/>
            <p:cNvSpPr txBox="1"/>
            <p:nvPr/>
          </p:nvSpPr>
          <p:spPr>
            <a:xfrm>
              <a:off x="2190102" y="1169432"/>
              <a:ext cx="267995"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目标值</a:t>
              </a:r>
            </a:p>
          </p:txBody>
        </p:sp>
        <p:sp>
          <p:nvSpPr>
            <p:cNvPr id="21" name="TextBox 21"/>
            <p:cNvSpPr txBox="1"/>
            <p:nvPr/>
          </p:nvSpPr>
          <p:spPr>
            <a:xfrm>
              <a:off x="2738006" y="116943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权重</a:t>
              </a:r>
            </a:p>
          </p:txBody>
        </p:sp>
        <p:sp>
          <p:nvSpPr>
            <p:cNvPr id="22" name="TextBox 22"/>
            <p:cNvSpPr txBox="1"/>
            <p:nvPr/>
          </p:nvSpPr>
          <p:spPr>
            <a:xfrm>
              <a:off x="246570" y="1512332"/>
              <a:ext cx="44030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净加好友数</a:t>
              </a:r>
            </a:p>
          </p:txBody>
        </p:sp>
        <p:sp>
          <p:nvSpPr>
            <p:cNvPr id="23" name="TextBox 23"/>
            <p:cNvSpPr txBox="1"/>
            <p:nvPr/>
          </p:nvSpPr>
          <p:spPr>
            <a:xfrm>
              <a:off x="833438" y="1441799"/>
              <a:ext cx="54437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当期新增好友 −</a:t>
              </a:r>
            </a:p>
          </p:txBody>
        </p:sp>
        <p:sp>
          <p:nvSpPr>
            <p:cNvPr id="24" name="TextBox 24"/>
            <p:cNvSpPr txBox="1"/>
            <p:nvPr/>
          </p:nvSpPr>
          <p:spPr>
            <a:xfrm>
              <a:off x="833438" y="1575149"/>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当期删除好友</a:t>
              </a:r>
            </a:p>
          </p:txBody>
        </p:sp>
        <p:sp>
          <p:nvSpPr>
            <p:cNvPr id="25" name="TextBox 25"/>
            <p:cNvSpPr txBox="1"/>
            <p:nvPr/>
          </p:nvSpPr>
          <p:spPr>
            <a:xfrm>
              <a:off x="2108792" y="1512332"/>
              <a:ext cx="430616"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≥300人/月</a:t>
              </a:r>
            </a:p>
          </p:txBody>
        </p:sp>
        <p:sp>
          <p:nvSpPr>
            <p:cNvPr id="26" name="TextBox 26"/>
            <p:cNvSpPr txBox="1"/>
            <p:nvPr/>
          </p:nvSpPr>
          <p:spPr>
            <a:xfrm>
              <a:off x="2737937" y="1512332"/>
              <a:ext cx="18197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12%</a:t>
              </a:r>
            </a:p>
          </p:txBody>
        </p:sp>
        <p:sp>
          <p:nvSpPr>
            <p:cNvPr id="27" name="TextBox 27"/>
            <p:cNvSpPr txBox="1"/>
            <p:nvPr/>
          </p:nvSpPr>
          <p:spPr>
            <a:xfrm>
              <a:off x="332727" y="2007632"/>
              <a:ext cx="267995"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认证率</a:t>
              </a:r>
            </a:p>
          </p:txBody>
        </p:sp>
        <p:sp>
          <p:nvSpPr>
            <p:cNvPr id="28" name="TextBox 28"/>
            <p:cNvSpPr txBox="1"/>
            <p:nvPr/>
          </p:nvSpPr>
          <p:spPr>
            <a:xfrm>
              <a:off x="833438" y="1937099"/>
              <a:ext cx="54437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已认证客户数 /</a:t>
              </a:r>
            </a:p>
          </p:txBody>
        </p:sp>
        <p:sp>
          <p:nvSpPr>
            <p:cNvPr id="29" name="TextBox 29"/>
            <p:cNvSpPr txBox="1"/>
            <p:nvPr/>
          </p:nvSpPr>
          <p:spPr>
            <a:xfrm>
              <a:off x="833438" y="2070449"/>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好友总数</a:t>
              </a:r>
            </a:p>
          </p:txBody>
        </p:sp>
        <p:sp>
          <p:nvSpPr>
            <p:cNvPr id="30" name="TextBox 30"/>
            <p:cNvSpPr txBox="1"/>
            <p:nvPr/>
          </p:nvSpPr>
          <p:spPr>
            <a:xfrm>
              <a:off x="2210780" y="2007632"/>
              <a:ext cx="226640"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≥85%</a:t>
              </a:r>
            </a:p>
          </p:txBody>
        </p:sp>
        <p:sp>
          <p:nvSpPr>
            <p:cNvPr id="31" name="TextBox 31"/>
            <p:cNvSpPr txBox="1"/>
            <p:nvPr/>
          </p:nvSpPr>
          <p:spPr>
            <a:xfrm>
              <a:off x="2761897" y="2007632"/>
              <a:ext cx="13405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8%</a:t>
              </a:r>
            </a:p>
          </p:txBody>
        </p:sp>
        <p:sp>
          <p:nvSpPr>
            <p:cNvPr id="32" name="Line 32"/>
            <p:cNvSpPr/>
            <p:nvPr/>
          </p:nvSpPr>
          <p:spPr>
            <a:xfrm>
              <a:off x="133350" y="1790700"/>
              <a:ext cx="2924175" cy="9525"/>
            </a:xfrm>
            <a:custGeom>
              <a:avLst/>
              <a:gdLst/>
              <a:ahLst/>
              <a:cxnLst/>
              <a:rect l="l" t="t" r="r" b="b"/>
              <a:pathLst>
                <a:path w="2924175" h="9525">
                  <a:moveTo>
                    <a:pt x="0" y="0"/>
                  </a:moveTo>
                  <a:lnTo>
                    <a:pt x="2924175" y="0"/>
                  </a:lnTo>
                </a:path>
              </a:pathLst>
            </a:custGeom>
            <a:noFill/>
            <a:ln w="9525">
              <a:solidFill>
                <a:srgbClr val="F1C7CC"/>
              </a:solidFill>
            </a:ln>
          </p:spPr>
        </p:sp>
        <p:sp>
          <p:nvSpPr>
            <p:cNvPr id="33" name="Line 33"/>
            <p:cNvSpPr/>
            <p:nvPr/>
          </p:nvSpPr>
          <p:spPr>
            <a:xfrm>
              <a:off x="800100" y="1104900"/>
              <a:ext cx="9525" cy="1181100"/>
            </a:xfrm>
            <a:custGeom>
              <a:avLst/>
              <a:gdLst/>
              <a:ahLst/>
              <a:cxnLst/>
              <a:rect l="l" t="t" r="r" b="b"/>
              <a:pathLst>
                <a:path w="9525" h="1181100">
                  <a:moveTo>
                    <a:pt x="0" y="0"/>
                  </a:moveTo>
                  <a:lnTo>
                    <a:pt x="0" y="1181100"/>
                  </a:lnTo>
                </a:path>
              </a:pathLst>
            </a:custGeom>
            <a:noFill/>
            <a:ln w="9525">
              <a:solidFill>
                <a:srgbClr val="F1C7CC"/>
              </a:solidFill>
            </a:ln>
          </p:spPr>
        </p:sp>
        <p:sp>
          <p:nvSpPr>
            <p:cNvPr id="34" name="Line 34"/>
            <p:cNvSpPr/>
            <p:nvPr/>
          </p:nvSpPr>
          <p:spPr>
            <a:xfrm>
              <a:off x="2038350" y="1104900"/>
              <a:ext cx="9525" cy="1181100"/>
            </a:xfrm>
            <a:custGeom>
              <a:avLst/>
              <a:gdLst/>
              <a:ahLst/>
              <a:cxnLst/>
              <a:rect l="l" t="t" r="r" b="b"/>
              <a:pathLst>
                <a:path w="9525" h="1181100">
                  <a:moveTo>
                    <a:pt x="0" y="0"/>
                  </a:moveTo>
                  <a:lnTo>
                    <a:pt x="0" y="1181100"/>
                  </a:lnTo>
                </a:path>
              </a:pathLst>
            </a:custGeom>
            <a:noFill/>
            <a:ln w="9525">
              <a:solidFill>
                <a:srgbClr val="F1C7CC"/>
              </a:solidFill>
            </a:ln>
          </p:spPr>
        </p:sp>
        <p:sp>
          <p:nvSpPr>
            <p:cNvPr id="35" name="Line 35"/>
            <p:cNvSpPr/>
            <p:nvPr/>
          </p:nvSpPr>
          <p:spPr>
            <a:xfrm>
              <a:off x="2609850" y="1104900"/>
              <a:ext cx="9525" cy="1181100"/>
            </a:xfrm>
            <a:custGeom>
              <a:avLst/>
              <a:gdLst/>
              <a:ahLst/>
              <a:cxnLst/>
              <a:rect l="l" t="t" r="r" b="b"/>
              <a:pathLst>
                <a:path w="9525" h="1181100">
                  <a:moveTo>
                    <a:pt x="0" y="0"/>
                  </a:moveTo>
                  <a:lnTo>
                    <a:pt x="0" y="1181100"/>
                  </a:lnTo>
                </a:path>
              </a:pathLst>
            </a:custGeom>
            <a:noFill/>
            <a:ln w="9525">
              <a:solidFill>
                <a:srgbClr val="F1C7CC"/>
              </a:solidFill>
            </a:ln>
          </p:spPr>
        </p:sp>
      </p:grpSp>
      <p:grpSp>
        <p:nvGrpSpPr>
          <p:cNvPr id="64" name="assess-card-2"/>
          <p:cNvGrpSpPr/>
          <p:nvPr/>
        </p:nvGrpSpPr>
        <p:grpSpPr>
          <a:xfrm>
            <a:off x="3133725" y="628650"/>
            <a:ext cx="2924175" cy="1714500"/>
            <a:chOff x="3133725" y="628650"/>
            <a:chExt cx="2924175" cy="1714500"/>
          </a:xfrm>
        </p:grpSpPr>
        <p:sp>
          <p:nvSpPr>
            <p:cNvPr id="37" name="Rectangle 37"/>
            <p:cNvSpPr/>
            <p:nvPr/>
          </p:nvSpPr>
          <p:spPr>
            <a:xfrm>
              <a:off x="3133725" y="628650"/>
              <a:ext cx="2924175" cy="1714500"/>
            </a:xfrm>
            <a:prstGeom prst="roundRect">
              <a:avLst>
                <a:gd name="adj" fmla="val 3333"/>
              </a:avLst>
            </a:prstGeom>
            <a:solidFill>
              <a:srgbClr val="FDEFF1"/>
            </a:solidFill>
            <a:ln>
              <a:noFill/>
            </a:ln>
          </p:spPr>
        </p:sp>
        <p:sp>
          <p:nvSpPr>
            <p:cNvPr id="38" name="Ellipse 38"/>
            <p:cNvSpPr/>
            <p:nvPr/>
          </p:nvSpPr>
          <p:spPr>
            <a:xfrm>
              <a:off x="3228975" y="742950"/>
              <a:ext cx="228600" cy="228600"/>
            </a:xfrm>
            <a:prstGeom prst="ellipse">
              <a:avLst/>
            </a:prstGeom>
            <a:solidFill>
              <a:srgbClr val="C83210"/>
            </a:solidFill>
            <a:ln>
              <a:noFill/>
            </a:ln>
          </p:spPr>
        </p:sp>
        <p:sp>
          <p:nvSpPr>
            <p:cNvPr id="39" name="TextBox 39"/>
            <p:cNvSpPr txBox="1"/>
            <p:nvPr/>
          </p:nvSpPr>
          <p:spPr>
            <a:xfrm>
              <a:off x="3304818" y="807720"/>
              <a:ext cx="7691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Arial"/>
                  <a:cs typeface="Arial"/>
                </a:rPr>
                <a:t>2</a:t>
              </a:r>
            </a:p>
          </p:txBody>
        </p:sp>
        <p:sp>
          <p:nvSpPr>
            <p:cNvPr id="40" name="TextBox 40"/>
            <p:cNvSpPr txBox="1"/>
            <p:nvPr/>
          </p:nvSpPr>
          <p:spPr>
            <a:xfrm>
              <a:off x="3509962" y="741045"/>
              <a:ext cx="1100141"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客户质量</a:t>
              </a:r>
              <a:r>
                <a:rPr lang="zh-CN" sz="900" b="1" dirty="0">
                  <a:solidFill>
                    <a:srgbClr val="C83210"/>
                  </a:solidFill>
                  <a:latin typeface="Arial"/>
                  <a:ea typeface="Microsoft YaHei"/>
                  <a:cs typeface="Arial"/>
                </a:rPr>
                <a:t>（30%）</a:t>
              </a:r>
              <a:r>
                <a:rPr lang="zh-CN" sz="900" b="1" dirty="0">
                  <a:solidFill>
                    <a:srgbClr val="C83210"/>
                  </a:solidFill>
                  <a:latin typeface="+mn-lt"/>
                  <a:ea typeface="+mn-ea"/>
                  <a:cs typeface="+mn-cs"/>
                </a:rPr>
                <a:t xml:space="preserve">　</a:t>
              </a:r>
            </a:p>
          </p:txBody>
        </p:sp>
        <p:sp>
          <p:nvSpPr>
            <p:cNvPr id="41" name="TextBox 41"/>
            <p:cNvSpPr txBox="1"/>
            <p:nvPr/>
          </p:nvSpPr>
          <p:spPr>
            <a:xfrm>
              <a:off x="3509962" y="921782"/>
              <a:ext cx="1215720" cy="126206"/>
            </a:xfrm>
            <a:prstGeom prst="rect">
              <a:avLst/>
            </a:prstGeom>
            <a:noFill/>
            <a:ln>
              <a:noFill/>
            </a:ln>
          </p:spPr>
          <p:txBody>
            <a:bodyPr wrap="none" lIns="0" tIns="0" rIns="0" bIns="0" anchor="t" anchorCtr="0">
              <a:spAutoFit/>
            </a:bodyPr>
            <a:lstStyle/>
            <a:p>
              <a:pPr algn="l"/>
              <a:r>
                <a:rPr lang="zh-CN" sz="640" dirty="0">
                  <a:solidFill>
                    <a:srgbClr val="808080"/>
                  </a:solidFill>
                  <a:latin typeface="+mn-lt"/>
                  <a:ea typeface="+mn-ea"/>
                  <a:cs typeface="+mn-cs"/>
                </a:rPr>
                <a:t>提升客户信息完整度与可触达性</a:t>
              </a:r>
            </a:p>
          </p:txBody>
        </p:sp>
        <p:grpSp>
          <p:nvGrpSpPr>
            <p:cNvPr id="44" name="Group 44"/>
            <p:cNvGrpSpPr/>
            <p:nvPr/>
          </p:nvGrpSpPr>
          <p:grpSpPr>
            <a:xfrm>
              <a:off x="5762625" y="733425"/>
              <a:ext cx="114300" cy="171450"/>
              <a:chOff x="5762625" y="733425"/>
              <a:chExt cx="114300" cy="171450"/>
            </a:xfrm>
          </p:grpSpPr>
          <p:sp>
            <p:nvSpPr>
              <p:cNvPr id="42" name="Freeform 42"/>
              <p:cNvSpPr/>
              <p:nvPr/>
            </p:nvSpPr>
            <p:spPr>
              <a:xfrm>
                <a:off x="5781675" y="7334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83210"/>
                </a:solidFill>
              </a:ln>
            </p:spPr>
          </p:sp>
          <p:sp>
            <p:nvSpPr>
              <p:cNvPr id="43" name="Freeform 43"/>
              <p:cNvSpPr/>
              <p:nvPr/>
            </p:nvSpPr>
            <p:spPr>
              <a:xfrm>
                <a:off x="5762625" y="8477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83210"/>
                </a:solidFill>
              </a:ln>
            </p:spPr>
          </p:sp>
        </p:grpSp>
        <p:sp>
          <p:nvSpPr>
            <p:cNvPr id="45" name="Rectangle 45"/>
            <p:cNvSpPr/>
            <p:nvPr/>
          </p:nvSpPr>
          <p:spPr>
            <a:xfrm>
              <a:off x="3133725" y="1104900"/>
              <a:ext cx="2924175" cy="190500"/>
            </a:xfrm>
            <a:prstGeom prst="rect">
              <a:avLst/>
            </a:prstGeom>
            <a:solidFill>
              <a:srgbClr val="FBE3E6"/>
            </a:solidFill>
            <a:ln>
              <a:noFill/>
            </a:ln>
          </p:spPr>
        </p:sp>
        <p:sp>
          <p:nvSpPr>
            <p:cNvPr id="46" name="TextBox 46"/>
            <p:cNvSpPr txBox="1"/>
            <p:nvPr/>
          </p:nvSpPr>
          <p:spPr>
            <a:xfrm>
              <a:off x="3376181" y="116943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指标</a:t>
              </a:r>
            </a:p>
          </p:txBody>
        </p:sp>
        <p:sp>
          <p:nvSpPr>
            <p:cNvPr id="47" name="TextBox 47"/>
            <p:cNvSpPr txBox="1"/>
            <p:nvPr/>
          </p:nvSpPr>
          <p:spPr>
            <a:xfrm>
              <a:off x="4242524" y="1169432"/>
              <a:ext cx="35415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计算公式</a:t>
              </a:r>
            </a:p>
          </p:txBody>
        </p:sp>
        <p:sp>
          <p:nvSpPr>
            <p:cNvPr id="48" name="TextBox 48"/>
            <p:cNvSpPr txBox="1"/>
            <p:nvPr/>
          </p:nvSpPr>
          <p:spPr>
            <a:xfrm>
              <a:off x="5190477" y="1169432"/>
              <a:ext cx="267995"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目标值</a:t>
              </a:r>
            </a:p>
          </p:txBody>
        </p:sp>
        <p:sp>
          <p:nvSpPr>
            <p:cNvPr id="49" name="TextBox 49"/>
            <p:cNvSpPr txBox="1"/>
            <p:nvPr/>
          </p:nvSpPr>
          <p:spPr>
            <a:xfrm>
              <a:off x="5738381" y="116943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权重</a:t>
              </a:r>
            </a:p>
          </p:txBody>
        </p:sp>
        <p:sp>
          <p:nvSpPr>
            <p:cNvPr id="50" name="TextBox 50"/>
            <p:cNvSpPr txBox="1"/>
            <p:nvPr/>
          </p:nvSpPr>
          <p:spPr>
            <a:xfrm>
              <a:off x="3246946" y="1512332"/>
              <a:ext cx="44030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标签完成率</a:t>
              </a:r>
            </a:p>
          </p:txBody>
        </p:sp>
        <p:sp>
          <p:nvSpPr>
            <p:cNvPr id="51" name="TextBox 51"/>
            <p:cNvSpPr txBox="1"/>
            <p:nvPr/>
          </p:nvSpPr>
          <p:spPr>
            <a:xfrm>
              <a:off x="3833812" y="1441799"/>
              <a:ext cx="62245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已打标签客户数 /</a:t>
              </a:r>
            </a:p>
          </p:txBody>
        </p:sp>
        <p:sp>
          <p:nvSpPr>
            <p:cNvPr id="52" name="TextBox 52"/>
            <p:cNvSpPr txBox="1"/>
            <p:nvPr/>
          </p:nvSpPr>
          <p:spPr>
            <a:xfrm>
              <a:off x="3833812" y="1575149"/>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好友总数</a:t>
              </a:r>
            </a:p>
          </p:txBody>
        </p:sp>
        <p:sp>
          <p:nvSpPr>
            <p:cNvPr id="53" name="TextBox 53"/>
            <p:cNvSpPr txBox="1"/>
            <p:nvPr/>
          </p:nvSpPr>
          <p:spPr>
            <a:xfrm>
              <a:off x="5211155" y="1512332"/>
              <a:ext cx="226640"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≥80%</a:t>
              </a:r>
            </a:p>
          </p:txBody>
        </p:sp>
        <p:sp>
          <p:nvSpPr>
            <p:cNvPr id="54" name="TextBox 54"/>
            <p:cNvSpPr txBox="1"/>
            <p:nvPr/>
          </p:nvSpPr>
          <p:spPr>
            <a:xfrm>
              <a:off x="5738312" y="1512332"/>
              <a:ext cx="18197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15%</a:t>
              </a:r>
            </a:p>
          </p:txBody>
        </p:sp>
        <p:sp>
          <p:nvSpPr>
            <p:cNvPr id="55" name="TextBox 55"/>
            <p:cNvSpPr txBox="1"/>
            <p:nvPr/>
          </p:nvSpPr>
          <p:spPr>
            <a:xfrm>
              <a:off x="3290024" y="2007632"/>
              <a:ext cx="35415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可触达率</a:t>
              </a:r>
            </a:p>
          </p:txBody>
        </p:sp>
        <p:sp>
          <p:nvSpPr>
            <p:cNvPr id="56" name="TextBox 56"/>
            <p:cNvSpPr txBox="1"/>
            <p:nvPr/>
          </p:nvSpPr>
          <p:spPr>
            <a:xfrm>
              <a:off x="3833812" y="1937099"/>
              <a:ext cx="720049"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 xml:space="preserve">近30天可正常触达　</a:t>
              </a:r>
            </a:p>
          </p:txBody>
        </p:sp>
        <p:sp>
          <p:nvSpPr>
            <p:cNvPr id="57" name="TextBox 57"/>
            <p:cNvSpPr txBox="1"/>
            <p:nvPr/>
          </p:nvSpPr>
          <p:spPr>
            <a:xfrm>
              <a:off x="3833812" y="2070449"/>
              <a:ext cx="645874"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客户数 / 好友总数</a:t>
              </a:r>
            </a:p>
          </p:txBody>
        </p:sp>
        <p:sp>
          <p:nvSpPr>
            <p:cNvPr id="58" name="TextBox 58"/>
            <p:cNvSpPr txBox="1"/>
            <p:nvPr/>
          </p:nvSpPr>
          <p:spPr>
            <a:xfrm>
              <a:off x="5211155" y="2007632"/>
              <a:ext cx="226640"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≥90%</a:t>
              </a:r>
            </a:p>
          </p:txBody>
        </p:sp>
        <p:sp>
          <p:nvSpPr>
            <p:cNvPr id="59" name="TextBox 59"/>
            <p:cNvSpPr txBox="1"/>
            <p:nvPr/>
          </p:nvSpPr>
          <p:spPr>
            <a:xfrm>
              <a:off x="5738312" y="2007632"/>
              <a:ext cx="18197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15%</a:t>
              </a:r>
            </a:p>
          </p:txBody>
        </p:sp>
        <p:sp>
          <p:nvSpPr>
            <p:cNvPr id="60" name="Line 60"/>
            <p:cNvSpPr/>
            <p:nvPr/>
          </p:nvSpPr>
          <p:spPr>
            <a:xfrm>
              <a:off x="3133725" y="1790700"/>
              <a:ext cx="2924175" cy="9525"/>
            </a:xfrm>
            <a:custGeom>
              <a:avLst/>
              <a:gdLst/>
              <a:ahLst/>
              <a:cxnLst/>
              <a:rect l="l" t="t" r="r" b="b"/>
              <a:pathLst>
                <a:path w="2924175" h="9525">
                  <a:moveTo>
                    <a:pt x="0" y="0"/>
                  </a:moveTo>
                  <a:lnTo>
                    <a:pt x="2924175" y="0"/>
                  </a:lnTo>
                </a:path>
              </a:pathLst>
            </a:custGeom>
            <a:noFill/>
            <a:ln w="9525">
              <a:solidFill>
                <a:srgbClr val="F1C7CC"/>
              </a:solidFill>
            </a:ln>
          </p:spPr>
        </p:sp>
        <p:sp>
          <p:nvSpPr>
            <p:cNvPr id="61" name="Line 61"/>
            <p:cNvSpPr/>
            <p:nvPr/>
          </p:nvSpPr>
          <p:spPr>
            <a:xfrm>
              <a:off x="3800475" y="1104900"/>
              <a:ext cx="9525" cy="1181100"/>
            </a:xfrm>
            <a:custGeom>
              <a:avLst/>
              <a:gdLst/>
              <a:ahLst/>
              <a:cxnLst/>
              <a:rect l="l" t="t" r="r" b="b"/>
              <a:pathLst>
                <a:path w="9525" h="1181100">
                  <a:moveTo>
                    <a:pt x="0" y="0"/>
                  </a:moveTo>
                  <a:lnTo>
                    <a:pt x="0" y="1181100"/>
                  </a:lnTo>
                </a:path>
              </a:pathLst>
            </a:custGeom>
            <a:noFill/>
            <a:ln w="9525">
              <a:solidFill>
                <a:srgbClr val="F1C7CC"/>
              </a:solidFill>
            </a:ln>
          </p:spPr>
        </p:sp>
        <p:sp>
          <p:nvSpPr>
            <p:cNvPr id="62" name="Line 62"/>
            <p:cNvSpPr/>
            <p:nvPr/>
          </p:nvSpPr>
          <p:spPr>
            <a:xfrm>
              <a:off x="5038725" y="1104900"/>
              <a:ext cx="9525" cy="1181100"/>
            </a:xfrm>
            <a:custGeom>
              <a:avLst/>
              <a:gdLst/>
              <a:ahLst/>
              <a:cxnLst/>
              <a:rect l="l" t="t" r="r" b="b"/>
              <a:pathLst>
                <a:path w="9525" h="1181100">
                  <a:moveTo>
                    <a:pt x="0" y="0"/>
                  </a:moveTo>
                  <a:lnTo>
                    <a:pt x="0" y="1181100"/>
                  </a:lnTo>
                </a:path>
              </a:pathLst>
            </a:custGeom>
            <a:noFill/>
            <a:ln w="9525">
              <a:solidFill>
                <a:srgbClr val="F1C7CC"/>
              </a:solidFill>
            </a:ln>
          </p:spPr>
        </p:sp>
        <p:sp>
          <p:nvSpPr>
            <p:cNvPr id="63" name="Line 63"/>
            <p:cNvSpPr/>
            <p:nvPr/>
          </p:nvSpPr>
          <p:spPr>
            <a:xfrm>
              <a:off x="5610225" y="1104900"/>
              <a:ext cx="9525" cy="1181100"/>
            </a:xfrm>
            <a:custGeom>
              <a:avLst/>
              <a:gdLst/>
              <a:ahLst/>
              <a:cxnLst/>
              <a:rect l="l" t="t" r="r" b="b"/>
              <a:pathLst>
                <a:path w="9525" h="1181100">
                  <a:moveTo>
                    <a:pt x="0" y="0"/>
                  </a:moveTo>
                  <a:lnTo>
                    <a:pt x="0" y="1181100"/>
                  </a:lnTo>
                </a:path>
              </a:pathLst>
            </a:custGeom>
            <a:noFill/>
            <a:ln w="9525">
              <a:solidFill>
                <a:srgbClr val="F1C7CC"/>
              </a:solidFill>
            </a:ln>
          </p:spPr>
        </p:sp>
      </p:grpSp>
      <p:grpSp>
        <p:nvGrpSpPr>
          <p:cNvPr id="95" name="assess-card-3"/>
          <p:cNvGrpSpPr/>
          <p:nvPr/>
        </p:nvGrpSpPr>
        <p:grpSpPr>
          <a:xfrm>
            <a:off x="6134100" y="628650"/>
            <a:ext cx="2924175" cy="1714500"/>
            <a:chOff x="6134100" y="628650"/>
            <a:chExt cx="2924175" cy="1714500"/>
          </a:xfrm>
        </p:grpSpPr>
        <p:sp>
          <p:nvSpPr>
            <p:cNvPr id="65" name="Rectangle 65"/>
            <p:cNvSpPr/>
            <p:nvPr/>
          </p:nvSpPr>
          <p:spPr>
            <a:xfrm>
              <a:off x="6134100" y="628650"/>
              <a:ext cx="2924175" cy="1714500"/>
            </a:xfrm>
            <a:prstGeom prst="roundRect">
              <a:avLst>
                <a:gd name="adj" fmla="val 3333"/>
              </a:avLst>
            </a:prstGeom>
            <a:solidFill>
              <a:srgbClr val="FDEFF1"/>
            </a:solidFill>
            <a:ln>
              <a:noFill/>
            </a:ln>
          </p:spPr>
        </p:sp>
        <p:sp>
          <p:nvSpPr>
            <p:cNvPr id="66" name="Ellipse 66"/>
            <p:cNvSpPr/>
            <p:nvPr/>
          </p:nvSpPr>
          <p:spPr>
            <a:xfrm>
              <a:off x="6229350" y="742950"/>
              <a:ext cx="228600" cy="228600"/>
            </a:xfrm>
            <a:prstGeom prst="ellipse">
              <a:avLst/>
            </a:prstGeom>
            <a:solidFill>
              <a:srgbClr val="C83210"/>
            </a:solidFill>
            <a:ln>
              <a:noFill/>
            </a:ln>
          </p:spPr>
        </p:sp>
        <p:sp>
          <p:nvSpPr>
            <p:cNvPr id="67" name="TextBox 67"/>
            <p:cNvSpPr txBox="1"/>
            <p:nvPr/>
          </p:nvSpPr>
          <p:spPr>
            <a:xfrm>
              <a:off x="6305193" y="807720"/>
              <a:ext cx="7691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Arial"/>
                  <a:cs typeface="Arial"/>
                </a:rPr>
                <a:t>3</a:t>
              </a:r>
            </a:p>
          </p:txBody>
        </p:sp>
        <p:sp>
          <p:nvSpPr>
            <p:cNvPr id="68" name="TextBox 68"/>
            <p:cNvSpPr txBox="1"/>
            <p:nvPr/>
          </p:nvSpPr>
          <p:spPr>
            <a:xfrm>
              <a:off x="6510338" y="741045"/>
              <a:ext cx="1100141"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运营过程</a:t>
              </a:r>
              <a:r>
                <a:rPr lang="zh-CN" sz="900" b="1" dirty="0">
                  <a:solidFill>
                    <a:srgbClr val="C83210"/>
                  </a:solidFill>
                  <a:latin typeface="Arial"/>
                  <a:ea typeface="Microsoft YaHei"/>
                  <a:cs typeface="Arial"/>
                </a:rPr>
                <a:t>（25%）</a:t>
              </a:r>
              <a:r>
                <a:rPr lang="zh-CN" sz="900" b="1" dirty="0">
                  <a:solidFill>
                    <a:srgbClr val="C83210"/>
                  </a:solidFill>
                  <a:latin typeface="+mn-lt"/>
                  <a:ea typeface="+mn-ea"/>
                  <a:cs typeface="+mn-cs"/>
                </a:rPr>
                <a:t xml:space="preserve">　</a:t>
              </a:r>
            </a:p>
          </p:txBody>
        </p:sp>
        <p:sp>
          <p:nvSpPr>
            <p:cNvPr id="69" name="TextBox 69"/>
            <p:cNvSpPr txBox="1"/>
            <p:nvPr/>
          </p:nvSpPr>
          <p:spPr>
            <a:xfrm>
              <a:off x="6510338" y="921782"/>
              <a:ext cx="1129563" cy="126206"/>
            </a:xfrm>
            <a:prstGeom prst="rect">
              <a:avLst/>
            </a:prstGeom>
            <a:noFill/>
            <a:ln>
              <a:noFill/>
            </a:ln>
          </p:spPr>
          <p:txBody>
            <a:bodyPr wrap="none" lIns="0" tIns="0" rIns="0" bIns="0" anchor="t" anchorCtr="0">
              <a:spAutoFit/>
            </a:bodyPr>
            <a:lstStyle/>
            <a:p>
              <a:pPr algn="l"/>
              <a:r>
                <a:rPr lang="zh-CN" sz="640" dirty="0">
                  <a:solidFill>
                    <a:srgbClr val="808080"/>
                  </a:solidFill>
                  <a:latin typeface="+mn-lt"/>
                  <a:ea typeface="+mn-ea"/>
                  <a:cs typeface="+mn-cs"/>
                </a:rPr>
                <a:t>持续输出有价值的内容与互动</a:t>
              </a:r>
            </a:p>
          </p:txBody>
        </p:sp>
        <p:grpSp>
          <p:nvGrpSpPr>
            <p:cNvPr id="75" name="Group 75"/>
            <p:cNvGrpSpPr/>
            <p:nvPr/>
          </p:nvGrpSpPr>
          <p:grpSpPr>
            <a:xfrm>
              <a:off x="8753475" y="733425"/>
              <a:ext cx="133350" cy="171450"/>
              <a:chOff x="8753475" y="733425"/>
              <a:chExt cx="133350" cy="171450"/>
            </a:xfrm>
          </p:grpSpPr>
          <p:sp>
            <p:nvSpPr>
              <p:cNvPr id="70" name="Freeform 70"/>
              <p:cNvSpPr/>
              <p:nvPr/>
            </p:nvSpPr>
            <p:spPr>
              <a:xfrm>
                <a:off x="8839200" y="73342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C83210"/>
                </a:solidFill>
              </a:ln>
            </p:spPr>
          </p:sp>
          <p:sp>
            <p:nvSpPr>
              <p:cNvPr id="71" name="Freeform 71"/>
              <p:cNvSpPr/>
              <p:nvPr/>
            </p:nvSpPr>
            <p:spPr>
              <a:xfrm>
                <a:off x="8753475" y="73342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C83210"/>
                </a:solidFill>
              </a:ln>
            </p:spPr>
          </p:sp>
          <p:sp>
            <p:nvSpPr>
              <p:cNvPr id="72" name="Freeform 72"/>
              <p:cNvSpPr/>
              <p:nvPr/>
            </p:nvSpPr>
            <p:spPr>
              <a:xfrm>
                <a:off x="8791575" y="790575"/>
                <a:ext cx="9525" cy="9525"/>
              </a:xfrm>
              <a:custGeom>
                <a:avLst/>
                <a:gdLst/>
                <a:ahLst/>
                <a:cxnLst/>
                <a:rect l="l" t="t" r="r" b="b"/>
                <a:pathLst>
                  <a:path w="9525" h="9525">
                    <a:moveTo>
                      <a:pt x="0" y="0"/>
                    </a:moveTo>
                    <a:lnTo>
                      <a:pt x="9525" y="0"/>
                    </a:lnTo>
                  </a:path>
                </a:pathLst>
              </a:custGeom>
              <a:noFill/>
              <a:ln w="19050">
                <a:solidFill>
                  <a:srgbClr val="C83210"/>
                </a:solidFill>
              </a:ln>
            </p:spPr>
          </p:sp>
          <p:sp>
            <p:nvSpPr>
              <p:cNvPr id="73" name="Freeform 73"/>
              <p:cNvSpPr/>
              <p:nvPr/>
            </p:nvSpPr>
            <p:spPr>
              <a:xfrm>
                <a:off x="8791575" y="828675"/>
                <a:ext cx="57150" cy="9525"/>
              </a:xfrm>
              <a:custGeom>
                <a:avLst/>
                <a:gdLst/>
                <a:ahLst/>
                <a:cxnLst/>
                <a:rect l="l" t="t" r="r" b="b"/>
                <a:pathLst>
                  <a:path w="57150" h="9525">
                    <a:moveTo>
                      <a:pt x="0" y="0"/>
                    </a:moveTo>
                    <a:lnTo>
                      <a:pt x="57150" y="0"/>
                    </a:lnTo>
                  </a:path>
                </a:pathLst>
              </a:custGeom>
              <a:noFill/>
              <a:ln w="19050">
                <a:solidFill>
                  <a:srgbClr val="C83210"/>
                </a:solidFill>
              </a:ln>
            </p:spPr>
          </p:sp>
          <p:sp>
            <p:nvSpPr>
              <p:cNvPr id="74" name="Freeform 74"/>
              <p:cNvSpPr/>
              <p:nvPr/>
            </p:nvSpPr>
            <p:spPr>
              <a:xfrm>
                <a:off x="8791575" y="866775"/>
                <a:ext cx="57150" cy="9525"/>
              </a:xfrm>
              <a:custGeom>
                <a:avLst/>
                <a:gdLst/>
                <a:ahLst/>
                <a:cxnLst/>
                <a:rect l="l" t="t" r="r" b="b"/>
                <a:pathLst>
                  <a:path w="57150" h="9525">
                    <a:moveTo>
                      <a:pt x="0" y="0"/>
                    </a:moveTo>
                    <a:lnTo>
                      <a:pt x="57150" y="0"/>
                    </a:lnTo>
                  </a:path>
                </a:pathLst>
              </a:custGeom>
              <a:noFill/>
              <a:ln w="19050">
                <a:solidFill>
                  <a:srgbClr val="C83210"/>
                </a:solidFill>
              </a:ln>
            </p:spPr>
          </p:sp>
        </p:grpSp>
        <p:sp>
          <p:nvSpPr>
            <p:cNvPr id="76" name="Rectangle 76"/>
            <p:cNvSpPr/>
            <p:nvPr/>
          </p:nvSpPr>
          <p:spPr>
            <a:xfrm>
              <a:off x="6134100" y="1104900"/>
              <a:ext cx="2924175" cy="190500"/>
            </a:xfrm>
            <a:prstGeom prst="rect">
              <a:avLst/>
            </a:prstGeom>
            <a:solidFill>
              <a:srgbClr val="FBE3E6"/>
            </a:solidFill>
            <a:ln>
              <a:noFill/>
            </a:ln>
          </p:spPr>
        </p:sp>
        <p:sp>
          <p:nvSpPr>
            <p:cNvPr id="77" name="TextBox 77"/>
            <p:cNvSpPr txBox="1"/>
            <p:nvPr/>
          </p:nvSpPr>
          <p:spPr>
            <a:xfrm>
              <a:off x="6376556" y="116943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指标</a:t>
              </a:r>
            </a:p>
          </p:txBody>
        </p:sp>
        <p:sp>
          <p:nvSpPr>
            <p:cNvPr id="78" name="TextBox 78"/>
            <p:cNvSpPr txBox="1"/>
            <p:nvPr/>
          </p:nvSpPr>
          <p:spPr>
            <a:xfrm>
              <a:off x="7242899" y="1169432"/>
              <a:ext cx="35415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计算公式</a:t>
              </a:r>
            </a:p>
          </p:txBody>
        </p:sp>
        <p:sp>
          <p:nvSpPr>
            <p:cNvPr id="79" name="TextBox 79"/>
            <p:cNvSpPr txBox="1"/>
            <p:nvPr/>
          </p:nvSpPr>
          <p:spPr>
            <a:xfrm>
              <a:off x="8190852" y="1169432"/>
              <a:ext cx="267995"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目标值</a:t>
              </a:r>
            </a:p>
          </p:txBody>
        </p:sp>
        <p:sp>
          <p:nvSpPr>
            <p:cNvPr id="80" name="TextBox 80"/>
            <p:cNvSpPr txBox="1"/>
            <p:nvPr/>
          </p:nvSpPr>
          <p:spPr>
            <a:xfrm>
              <a:off x="8738756" y="116943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权重</a:t>
              </a:r>
            </a:p>
          </p:txBody>
        </p:sp>
        <p:sp>
          <p:nvSpPr>
            <p:cNvPr id="81" name="TextBox 81"/>
            <p:cNvSpPr txBox="1"/>
            <p:nvPr/>
          </p:nvSpPr>
          <p:spPr>
            <a:xfrm>
              <a:off x="6204242" y="1512332"/>
              <a:ext cx="526466"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有意义互动率</a:t>
              </a:r>
            </a:p>
          </p:txBody>
        </p:sp>
        <p:sp>
          <p:nvSpPr>
            <p:cNvPr id="82" name="TextBox 82"/>
            <p:cNvSpPr txBox="1"/>
            <p:nvPr/>
          </p:nvSpPr>
          <p:spPr>
            <a:xfrm>
              <a:off x="6834188" y="1441799"/>
              <a:ext cx="700529"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有意义互动客户数 /</a:t>
              </a:r>
            </a:p>
          </p:txBody>
        </p:sp>
        <p:sp>
          <p:nvSpPr>
            <p:cNvPr id="83" name="TextBox 83"/>
            <p:cNvSpPr txBox="1"/>
            <p:nvPr/>
          </p:nvSpPr>
          <p:spPr>
            <a:xfrm>
              <a:off x="6834188" y="1575149"/>
              <a:ext cx="32184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好友总数</a:t>
              </a:r>
            </a:p>
          </p:txBody>
        </p:sp>
        <p:sp>
          <p:nvSpPr>
            <p:cNvPr id="84" name="TextBox 84"/>
            <p:cNvSpPr txBox="1"/>
            <p:nvPr/>
          </p:nvSpPr>
          <p:spPr>
            <a:xfrm>
              <a:off x="8211530" y="1512332"/>
              <a:ext cx="226640"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≥30%</a:t>
              </a:r>
            </a:p>
          </p:txBody>
        </p:sp>
        <p:sp>
          <p:nvSpPr>
            <p:cNvPr id="85" name="TextBox 85"/>
            <p:cNvSpPr txBox="1"/>
            <p:nvPr/>
          </p:nvSpPr>
          <p:spPr>
            <a:xfrm>
              <a:off x="8738687" y="1512332"/>
              <a:ext cx="18197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12%</a:t>
              </a:r>
            </a:p>
          </p:txBody>
        </p:sp>
        <p:sp>
          <p:nvSpPr>
            <p:cNvPr id="86" name="TextBox 86"/>
            <p:cNvSpPr txBox="1"/>
            <p:nvPr/>
          </p:nvSpPr>
          <p:spPr>
            <a:xfrm>
              <a:off x="6247320" y="2007632"/>
              <a:ext cx="44030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内容执行率</a:t>
              </a:r>
            </a:p>
          </p:txBody>
        </p:sp>
        <p:sp>
          <p:nvSpPr>
            <p:cNvPr id="87" name="TextBox 87"/>
            <p:cNvSpPr txBox="1"/>
            <p:nvPr/>
          </p:nvSpPr>
          <p:spPr>
            <a:xfrm>
              <a:off x="6834188" y="1937099"/>
              <a:ext cx="544370"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实际发布次数 /</a:t>
              </a:r>
            </a:p>
          </p:txBody>
        </p:sp>
        <p:sp>
          <p:nvSpPr>
            <p:cNvPr id="88" name="TextBox 88"/>
            <p:cNvSpPr txBox="1"/>
            <p:nvPr/>
          </p:nvSpPr>
          <p:spPr>
            <a:xfrm>
              <a:off x="6834188" y="2070449"/>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计划发布次数</a:t>
              </a:r>
            </a:p>
          </p:txBody>
        </p:sp>
        <p:sp>
          <p:nvSpPr>
            <p:cNvPr id="89" name="TextBox 89"/>
            <p:cNvSpPr txBox="1"/>
            <p:nvPr/>
          </p:nvSpPr>
          <p:spPr>
            <a:xfrm>
              <a:off x="8211530" y="2007632"/>
              <a:ext cx="226640"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≥90%</a:t>
              </a:r>
            </a:p>
          </p:txBody>
        </p:sp>
        <p:sp>
          <p:nvSpPr>
            <p:cNvPr id="90" name="TextBox 90"/>
            <p:cNvSpPr txBox="1"/>
            <p:nvPr/>
          </p:nvSpPr>
          <p:spPr>
            <a:xfrm>
              <a:off x="8738687" y="2007632"/>
              <a:ext cx="181976"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Arial"/>
                  <a:ea typeface="Arial"/>
                  <a:cs typeface="Arial"/>
                </a:rPr>
                <a:t>13%</a:t>
              </a:r>
            </a:p>
          </p:txBody>
        </p:sp>
        <p:sp>
          <p:nvSpPr>
            <p:cNvPr id="91" name="Line 91"/>
            <p:cNvSpPr/>
            <p:nvPr/>
          </p:nvSpPr>
          <p:spPr>
            <a:xfrm>
              <a:off x="6134100" y="1790700"/>
              <a:ext cx="2924175" cy="9525"/>
            </a:xfrm>
            <a:custGeom>
              <a:avLst/>
              <a:gdLst/>
              <a:ahLst/>
              <a:cxnLst/>
              <a:rect l="l" t="t" r="r" b="b"/>
              <a:pathLst>
                <a:path w="2924175" h="9525">
                  <a:moveTo>
                    <a:pt x="0" y="0"/>
                  </a:moveTo>
                  <a:lnTo>
                    <a:pt x="2924175" y="0"/>
                  </a:lnTo>
                </a:path>
              </a:pathLst>
            </a:custGeom>
            <a:noFill/>
            <a:ln w="9525">
              <a:solidFill>
                <a:srgbClr val="F1C7CC"/>
              </a:solidFill>
            </a:ln>
          </p:spPr>
        </p:sp>
        <p:sp>
          <p:nvSpPr>
            <p:cNvPr id="92" name="Line 92"/>
            <p:cNvSpPr/>
            <p:nvPr/>
          </p:nvSpPr>
          <p:spPr>
            <a:xfrm>
              <a:off x="6800850" y="1104900"/>
              <a:ext cx="9525" cy="1181100"/>
            </a:xfrm>
            <a:custGeom>
              <a:avLst/>
              <a:gdLst/>
              <a:ahLst/>
              <a:cxnLst/>
              <a:rect l="l" t="t" r="r" b="b"/>
              <a:pathLst>
                <a:path w="9525" h="1181100">
                  <a:moveTo>
                    <a:pt x="0" y="0"/>
                  </a:moveTo>
                  <a:lnTo>
                    <a:pt x="0" y="1181100"/>
                  </a:lnTo>
                </a:path>
              </a:pathLst>
            </a:custGeom>
            <a:noFill/>
            <a:ln w="9525">
              <a:solidFill>
                <a:srgbClr val="F1C7CC"/>
              </a:solidFill>
            </a:ln>
          </p:spPr>
        </p:sp>
        <p:sp>
          <p:nvSpPr>
            <p:cNvPr id="93" name="Line 93"/>
            <p:cNvSpPr/>
            <p:nvPr/>
          </p:nvSpPr>
          <p:spPr>
            <a:xfrm>
              <a:off x="8039100" y="1104900"/>
              <a:ext cx="9525" cy="1181100"/>
            </a:xfrm>
            <a:custGeom>
              <a:avLst/>
              <a:gdLst/>
              <a:ahLst/>
              <a:cxnLst/>
              <a:rect l="l" t="t" r="r" b="b"/>
              <a:pathLst>
                <a:path w="9525" h="1181100">
                  <a:moveTo>
                    <a:pt x="0" y="0"/>
                  </a:moveTo>
                  <a:lnTo>
                    <a:pt x="0" y="1181100"/>
                  </a:lnTo>
                </a:path>
              </a:pathLst>
            </a:custGeom>
            <a:noFill/>
            <a:ln w="9525">
              <a:solidFill>
                <a:srgbClr val="F1C7CC"/>
              </a:solidFill>
            </a:ln>
          </p:spPr>
        </p:sp>
        <p:sp>
          <p:nvSpPr>
            <p:cNvPr id="94" name="Line 94"/>
            <p:cNvSpPr/>
            <p:nvPr/>
          </p:nvSpPr>
          <p:spPr>
            <a:xfrm>
              <a:off x="8610600" y="1104900"/>
              <a:ext cx="9525" cy="1181100"/>
            </a:xfrm>
            <a:custGeom>
              <a:avLst/>
              <a:gdLst/>
              <a:ahLst/>
              <a:cxnLst/>
              <a:rect l="l" t="t" r="r" b="b"/>
              <a:pathLst>
                <a:path w="9525" h="1181100">
                  <a:moveTo>
                    <a:pt x="0" y="0"/>
                  </a:moveTo>
                  <a:lnTo>
                    <a:pt x="0" y="1181100"/>
                  </a:lnTo>
                </a:path>
              </a:pathLst>
            </a:custGeom>
            <a:noFill/>
            <a:ln w="9525">
              <a:solidFill>
                <a:srgbClr val="F1C7CC"/>
              </a:solidFill>
            </a:ln>
          </p:spPr>
        </p:sp>
      </p:grpSp>
      <p:grpSp>
        <p:nvGrpSpPr>
          <p:cNvPr id="132" name="assess-card-4"/>
          <p:cNvGrpSpPr/>
          <p:nvPr/>
        </p:nvGrpSpPr>
        <p:grpSpPr>
          <a:xfrm>
            <a:off x="9134475" y="628650"/>
            <a:ext cx="2924175" cy="1714500"/>
            <a:chOff x="9134475" y="628650"/>
            <a:chExt cx="2924175" cy="1714500"/>
          </a:xfrm>
        </p:grpSpPr>
        <p:sp>
          <p:nvSpPr>
            <p:cNvPr id="96" name="Rectangle 96"/>
            <p:cNvSpPr/>
            <p:nvPr/>
          </p:nvSpPr>
          <p:spPr>
            <a:xfrm>
              <a:off x="9134475" y="628650"/>
              <a:ext cx="2924175" cy="1714500"/>
            </a:xfrm>
            <a:prstGeom prst="roundRect">
              <a:avLst>
                <a:gd name="adj" fmla="val 3333"/>
              </a:avLst>
            </a:prstGeom>
            <a:solidFill>
              <a:srgbClr val="FDEFF1"/>
            </a:solidFill>
            <a:ln>
              <a:noFill/>
            </a:ln>
          </p:spPr>
        </p:sp>
        <p:sp>
          <p:nvSpPr>
            <p:cNvPr id="97" name="Ellipse 97"/>
            <p:cNvSpPr/>
            <p:nvPr/>
          </p:nvSpPr>
          <p:spPr>
            <a:xfrm>
              <a:off x="9229725" y="742950"/>
              <a:ext cx="228600" cy="228600"/>
            </a:xfrm>
            <a:prstGeom prst="ellipse">
              <a:avLst/>
            </a:prstGeom>
            <a:solidFill>
              <a:srgbClr val="C83210"/>
            </a:solidFill>
            <a:ln>
              <a:noFill/>
            </a:ln>
          </p:spPr>
        </p:sp>
        <p:sp>
          <p:nvSpPr>
            <p:cNvPr id="98" name="TextBox 98"/>
            <p:cNvSpPr txBox="1"/>
            <p:nvPr/>
          </p:nvSpPr>
          <p:spPr>
            <a:xfrm>
              <a:off x="9305568" y="807720"/>
              <a:ext cx="7691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Arial"/>
                  <a:cs typeface="Arial"/>
                </a:rPr>
                <a:t>4</a:t>
              </a:r>
            </a:p>
          </p:txBody>
        </p:sp>
        <p:sp>
          <p:nvSpPr>
            <p:cNvPr id="99" name="TextBox 99"/>
            <p:cNvSpPr txBox="1"/>
            <p:nvPr/>
          </p:nvSpPr>
          <p:spPr>
            <a:xfrm>
              <a:off x="9510712" y="741045"/>
              <a:ext cx="1100141"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经营结果</a:t>
              </a:r>
              <a:r>
                <a:rPr lang="zh-CN" sz="900" b="1" dirty="0">
                  <a:solidFill>
                    <a:srgbClr val="C83210"/>
                  </a:solidFill>
                  <a:latin typeface="Arial"/>
                  <a:ea typeface="Microsoft YaHei"/>
                  <a:cs typeface="Arial"/>
                </a:rPr>
                <a:t>（25%）</a:t>
              </a:r>
              <a:r>
                <a:rPr lang="zh-CN" sz="900" b="1" dirty="0">
                  <a:solidFill>
                    <a:srgbClr val="C83210"/>
                  </a:solidFill>
                  <a:latin typeface="+mn-lt"/>
                  <a:ea typeface="+mn-ea"/>
                  <a:cs typeface="+mn-cs"/>
                </a:rPr>
                <a:t xml:space="preserve">　</a:t>
              </a:r>
            </a:p>
          </p:txBody>
        </p:sp>
        <p:sp>
          <p:nvSpPr>
            <p:cNvPr id="100" name="TextBox 100"/>
            <p:cNvSpPr txBox="1"/>
            <p:nvPr/>
          </p:nvSpPr>
          <p:spPr>
            <a:xfrm>
              <a:off x="9510712" y="921782"/>
              <a:ext cx="1129563" cy="126206"/>
            </a:xfrm>
            <a:prstGeom prst="rect">
              <a:avLst/>
            </a:prstGeom>
            <a:noFill/>
            <a:ln>
              <a:noFill/>
            </a:ln>
          </p:spPr>
          <p:txBody>
            <a:bodyPr wrap="none" lIns="0" tIns="0" rIns="0" bIns="0" anchor="t" anchorCtr="0">
              <a:spAutoFit/>
            </a:bodyPr>
            <a:lstStyle/>
            <a:p>
              <a:pPr algn="l"/>
              <a:r>
                <a:rPr lang="zh-CN" sz="640" dirty="0">
                  <a:solidFill>
                    <a:srgbClr val="808080"/>
                  </a:solidFill>
                  <a:latin typeface="+mn-lt"/>
                  <a:ea typeface="+mn-ea"/>
                  <a:cs typeface="+mn-cs"/>
                </a:rPr>
                <a:t>从互动到转化，创造业务价值</a:t>
              </a:r>
            </a:p>
          </p:txBody>
        </p:sp>
        <p:grpSp>
          <p:nvGrpSpPr>
            <p:cNvPr id="103" name="Group 103"/>
            <p:cNvGrpSpPr/>
            <p:nvPr/>
          </p:nvGrpSpPr>
          <p:grpSpPr>
            <a:xfrm>
              <a:off x="11734800" y="771525"/>
              <a:ext cx="171450" cy="95250"/>
              <a:chOff x="11734800" y="771525"/>
              <a:chExt cx="171450" cy="95250"/>
            </a:xfrm>
          </p:grpSpPr>
          <p:sp>
            <p:nvSpPr>
              <p:cNvPr id="101" name="Freeform 101"/>
              <p:cNvSpPr/>
              <p:nvPr/>
            </p:nvSpPr>
            <p:spPr>
              <a:xfrm>
                <a:off x="11734800" y="77152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C83210"/>
                </a:solidFill>
              </a:ln>
            </p:spPr>
          </p:sp>
          <p:sp>
            <p:nvSpPr>
              <p:cNvPr id="102" name="Freeform 102"/>
              <p:cNvSpPr/>
              <p:nvPr/>
            </p:nvSpPr>
            <p:spPr>
              <a:xfrm>
                <a:off x="11839575" y="771525"/>
                <a:ext cx="66675" cy="66675"/>
              </a:xfrm>
              <a:custGeom>
                <a:avLst/>
                <a:gdLst/>
                <a:ahLst/>
                <a:cxnLst/>
                <a:rect l="l" t="t" r="r" b="b"/>
                <a:pathLst>
                  <a:path w="66675" h="66675">
                    <a:moveTo>
                      <a:pt x="0" y="0"/>
                    </a:moveTo>
                    <a:lnTo>
                      <a:pt x="66675" y="0"/>
                    </a:lnTo>
                    <a:lnTo>
                      <a:pt x="66675" y="66675"/>
                    </a:lnTo>
                  </a:path>
                </a:pathLst>
              </a:custGeom>
              <a:noFill/>
              <a:ln w="19050">
                <a:solidFill>
                  <a:srgbClr val="C83210"/>
                </a:solidFill>
              </a:ln>
            </p:spPr>
          </p:sp>
        </p:grpSp>
        <p:sp>
          <p:nvSpPr>
            <p:cNvPr id="104" name="Rectangle 104"/>
            <p:cNvSpPr/>
            <p:nvPr/>
          </p:nvSpPr>
          <p:spPr>
            <a:xfrm>
              <a:off x="9134475" y="1104900"/>
              <a:ext cx="2924175" cy="190500"/>
            </a:xfrm>
            <a:prstGeom prst="rect">
              <a:avLst/>
            </a:prstGeom>
            <a:solidFill>
              <a:srgbClr val="FBE3E6"/>
            </a:solidFill>
            <a:ln>
              <a:noFill/>
            </a:ln>
          </p:spPr>
        </p:sp>
        <p:sp>
          <p:nvSpPr>
            <p:cNvPr id="105" name="TextBox 105"/>
            <p:cNvSpPr txBox="1"/>
            <p:nvPr/>
          </p:nvSpPr>
          <p:spPr>
            <a:xfrm>
              <a:off x="9376931" y="116943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指标</a:t>
              </a:r>
            </a:p>
          </p:txBody>
        </p:sp>
        <p:sp>
          <p:nvSpPr>
            <p:cNvPr id="106" name="TextBox 106"/>
            <p:cNvSpPr txBox="1"/>
            <p:nvPr/>
          </p:nvSpPr>
          <p:spPr>
            <a:xfrm>
              <a:off x="10243274" y="1169432"/>
              <a:ext cx="35415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计算公式</a:t>
              </a:r>
            </a:p>
          </p:txBody>
        </p:sp>
        <p:sp>
          <p:nvSpPr>
            <p:cNvPr id="107" name="TextBox 107"/>
            <p:cNvSpPr txBox="1"/>
            <p:nvPr/>
          </p:nvSpPr>
          <p:spPr>
            <a:xfrm>
              <a:off x="11191227" y="1169432"/>
              <a:ext cx="267995"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目标值</a:t>
              </a:r>
            </a:p>
          </p:txBody>
        </p:sp>
        <p:sp>
          <p:nvSpPr>
            <p:cNvPr id="108" name="TextBox 108"/>
            <p:cNvSpPr txBox="1"/>
            <p:nvPr/>
          </p:nvSpPr>
          <p:spPr>
            <a:xfrm>
              <a:off x="11739131" y="116943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权重</a:t>
              </a:r>
            </a:p>
          </p:txBody>
        </p:sp>
        <p:sp>
          <p:nvSpPr>
            <p:cNvPr id="109" name="TextBox 109"/>
            <p:cNvSpPr txBox="1"/>
            <p:nvPr/>
          </p:nvSpPr>
          <p:spPr>
            <a:xfrm>
              <a:off x="9254426" y="1390936"/>
              <a:ext cx="426847" cy="121920"/>
            </a:xfrm>
            <a:prstGeom prst="rect">
              <a:avLst/>
            </a:prstGeom>
            <a:noFill/>
            <a:ln>
              <a:noFill/>
            </a:ln>
          </p:spPr>
          <p:txBody>
            <a:bodyPr wrap="none" lIns="0" tIns="0" rIns="0" bIns="0" anchor="t" anchorCtr="0">
              <a:spAutoFit/>
            </a:bodyPr>
            <a:lstStyle/>
            <a:p>
              <a:pPr algn="ctr"/>
              <a:r>
                <a:rPr lang="zh-CN" sz="620" b="1" dirty="0">
                  <a:solidFill>
                    <a:srgbClr val="222222"/>
                  </a:solidFill>
                  <a:latin typeface="+mn-lt"/>
                  <a:ea typeface="+mn-ea"/>
                  <a:cs typeface="+mn-cs"/>
                </a:rPr>
                <a:t>预约线索数</a:t>
              </a:r>
            </a:p>
          </p:txBody>
        </p:sp>
        <p:sp>
          <p:nvSpPr>
            <p:cNvPr id="110" name="TextBox 110"/>
            <p:cNvSpPr txBox="1"/>
            <p:nvPr/>
          </p:nvSpPr>
          <p:spPr>
            <a:xfrm>
              <a:off x="9834562" y="1396603"/>
              <a:ext cx="612623"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产生预约的客户数</a:t>
              </a:r>
            </a:p>
          </p:txBody>
        </p:sp>
        <p:sp>
          <p:nvSpPr>
            <p:cNvPr id="111" name="TextBox 111"/>
            <p:cNvSpPr txBox="1"/>
            <p:nvPr/>
          </p:nvSpPr>
          <p:spPr>
            <a:xfrm>
              <a:off x="11140597" y="1390936"/>
              <a:ext cx="369257" cy="121920"/>
            </a:xfrm>
            <a:prstGeom prst="rect">
              <a:avLst/>
            </a:prstGeom>
            <a:noFill/>
            <a:ln>
              <a:noFill/>
            </a:ln>
          </p:spPr>
          <p:txBody>
            <a:bodyPr wrap="none" lIns="0" tIns="0" rIns="0" bIns="0" anchor="t" anchorCtr="0">
              <a:spAutoFit/>
            </a:bodyPr>
            <a:lstStyle/>
            <a:p>
              <a:pPr algn="ctr"/>
              <a:r>
                <a:rPr lang="zh-CN" sz="620" b="1" dirty="0">
                  <a:solidFill>
                    <a:srgbClr val="C83210"/>
                  </a:solidFill>
                  <a:latin typeface="+mn-lt"/>
                  <a:ea typeface="+mn-ea"/>
                  <a:cs typeface="+mn-cs"/>
                </a:rPr>
                <a:t>≥20人/月</a:t>
              </a:r>
            </a:p>
          </p:txBody>
        </p:sp>
        <p:sp>
          <p:nvSpPr>
            <p:cNvPr id="112" name="TextBox 112"/>
            <p:cNvSpPr txBox="1"/>
            <p:nvPr/>
          </p:nvSpPr>
          <p:spPr>
            <a:xfrm>
              <a:off x="11764968" y="1390936"/>
              <a:ext cx="130164"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Arial"/>
                  <a:ea typeface="Arial"/>
                  <a:cs typeface="Arial"/>
                </a:rPr>
                <a:t>8%</a:t>
              </a:r>
            </a:p>
          </p:txBody>
        </p:sp>
        <p:sp>
          <p:nvSpPr>
            <p:cNvPr id="113" name="TextBox 113"/>
            <p:cNvSpPr txBox="1"/>
            <p:nvPr/>
          </p:nvSpPr>
          <p:spPr>
            <a:xfrm>
              <a:off x="9254426" y="1638586"/>
              <a:ext cx="426847" cy="121920"/>
            </a:xfrm>
            <a:prstGeom prst="rect">
              <a:avLst/>
            </a:prstGeom>
            <a:noFill/>
            <a:ln>
              <a:noFill/>
            </a:ln>
          </p:spPr>
          <p:txBody>
            <a:bodyPr wrap="none" lIns="0" tIns="0" rIns="0" bIns="0" anchor="t" anchorCtr="0">
              <a:spAutoFit/>
            </a:bodyPr>
            <a:lstStyle/>
            <a:p>
              <a:pPr algn="ctr"/>
              <a:r>
                <a:rPr lang="zh-CN" sz="620" b="1" dirty="0">
                  <a:solidFill>
                    <a:srgbClr val="222222"/>
                  </a:solidFill>
                  <a:latin typeface="+mn-lt"/>
                  <a:ea typeface="+mn-ea"/>
                  <a:cs typeface="+mn-cs"/>
                </a:rPr>
                <a:t>产品转化率</a:t>
              </a:r>
            </a:p>
          </p:txBody>
        </p:sp>
        <p:sp>
          <p:nvSpPr>
            <p:cNvPr id="114" name="TextBox 114"/>
            <p:cNvSpPr txBox="1"/>
            <p:nvPr/>
          </p:nvSpPr>
          <p:spPr>
            <a:xfrm>
              <a:off x="9834562" y="1644253"/>
              <a:ext cx="850092"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成交客户数 / 预约客户数</a:t>
              </a:r>
            </a:p>
          </p:txBody>
        </p:sp>
        <p:sp>
          <p:nvSpPr>
            <p:cNvPr id="115" name="TextBox 115"/>
            <p:cNvSpPr txBox="1"/>
            <p:nvPr/>
          </p:nvSpPr>
          <p:spPr>
            <a:xfrm>
              <a:off x="11215297" y="1638586"/>
              <a:ext cx="219855" cy="121920"/>
            </a:xfrm>
            <a:prstGeom prst="rect">
              <a:avLst/>
            </a:prstGeom>
            <a:noFill/>
            <a:ln>
              <a:noFill/>
            </a:ln>
          </p:spPr>
          <p:txBody>
            <a:bodyPr wrap="none" lIns="0" tIns="0" rIns="0" bIns="0" anchor="t" anchorCtr="0">
              <a:spAutoFit/>
            </a:bodyPr>
            <a:lstStyle/>
            <a:p>
              <a:pPr algn="ctr"/>
              <a:r>
                <a:rPr lang="zh-CN" sz="620" b="1" dirty="0">
                  <a:solidFill>
                    <a:srgbClr val="C83210"/>
                  </a:solidFill>
                  <a:latin typeface="+mn-lt"/>
                  <a:ea typeface="+mn-ea"/>
                  <a:cs typeface="+mn-cs"/>
                </a:rPr>
                <a:t>≥25%</a:t>
              </a:r>
            </a:p>
          </p:txBody>
        </p:sp>
        <p:sp>
          <p:nvSpPr>
            <p:cNvPr id="116" name="TextBox 116"/>
            <p:cNvSpPr txBox="1"/>
            <p:nvPr/>
          </p:nvSpPr>
          <p:spPr>
            <a:xfrm>
              <a:off x="11741756" y="1638586"/>
              <a:ext cx="176587"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Arial"/>
                  <a:ea typeface="Arial"/>
                  <a:cs typeface="Arial"/>
                </a:rPr>
                <a:t>10%</a:t>
              </a:r>
            </a:p>
          </p:txBody>
        </p:sp>
        <p:sp>
          <p:nvSpPr>
            <p:cNvPr id="117" name="TextBox 117"/>
            <p:cNvSpPr txBox="1"/>
            <p:nvPr/>
          </p:nvSpPr>
          <p:spPr>
            <a:xfrm>
              <a:off x="9254426" y="1886236"/>
              <a:ext cx="426847" cy="121920"/>
            </a:xfrm>
            <a:prstGeom prst="rect">
              <a:avLst/>
            </a:prstGeom>
            <a:noFill/>
            <a:ln>
              <a:noFill/>
            </a:ln>
          </p:spPr>
          <p:txBody>
            <a:bodyPr wrap="none" lIns="0" tIns="0" rIns="0" bIns="0" anchor="t" anchorCtr="0">
              <a:spAutoFit/>
            </a:bodyPr>
            <a:lstStyle/>
            <a:p>
              <a:pPr algn="ctr"/>
              <a:r>
                <a:rPr lang="zh-CN" sz="620" b="1" dirty="0">
                  <a:solidFill>
                    <a:srgbClr val="222222"/>
                  </a:solidFill>
                  <a:latin typeface="+mn-lt"/>
                  <a:ea typeface="+mn-ea"/>
                  <a:cs typeface="+mn-cs"/>
                </a:rPr>
                <a:t>客户留存率</a:t>
              </a:r>
            </a:p>
          </p:txBody>
        </p:sp>
        <p:sp>
          <p:nvSpPr>
            <p:cNvPr id="118" name="TextBox 118"/>
            <p:cNvSpPr txBox="1"/>
            <p:nvPr/>
          </p:nvSpPr>
          <p:spPr>
            <a:xfrm>
              <a:off x="9834562" y="1848326"/>
              <a:ext cx="769051" cy="104775"/>
            </a:xfrm>
            <a:prstGeom prst="rect">
              <a:avLst/>
            </a:prstGeom>
            <a:noFill/>
            <a:ln>
              <a:noFill/>
            </a:ln>
          </p:spPr>
          <p:txBody>
            <a:bodyPr wrap="none" lIns="0" tIns="0" rIns="0" bIns="0" anchor="t" anchorCtr="0">
              <a:spAutoFit/>
            </a:bodyPr>
            <a:lstStyle/>
            <a:p>
              <a:pPr algn="l"/>
              <a:r>
                <a:rPr lang="zh-CN" sz="520" dirty="0">
                  <a:solidFill>
                    <a:srgbClr val="3D3D3D"/>
                  </a:solidFill>
                  <a:latin typeface="+mn-lt"/>
                  <a:ea typeface="+mn-ea"/>
                  <a:cs typeface="+mn-cs"/>
                </a:rPr>
                <a:t>期末仍为好友的客户数 /</a:t>
              </a:r>
            </a:p>
          </p:txBody>
        </p:sp>
        <p:sp>
          <p:nvSpPr>
            <p:cNvPr id="119" name="TextBox 119"/>
            <p:cNvSpPr txBox="1"/>
            <p:nvPr/>
          </p:nvSpPr>
          <p:spPr>
            <a:xfrm>
              <a:off x="9834562" y="1943576"/>
              <a:ext cx="359537" cy="104775"/>
            </a:xfrm>
            <a:prstGeom prst="rect">
              <a:avLst/>
            </a:prstGeom>
            <a:noFill/>
            <a:ln>
              <a:noFill/>
            </a:ln>
          </p:spPr>
          <p:txBody>
            <a:bodyPr wrap="none" lIns="0" tIns="0" rIns="0" bIns="0" anchor="t" anchorCtr="0">
              <a:spAutoFit/>
            </a:bodyPr>
            <a:lstStyle/>
            <a:p>
              <a:pPr algn="l"/>
              <a:r>
                <a:rPr lang="zh-CN" sz="520" dirty="0">
                  <a:solidFill>
                    <a:srgbClr val="3D3D3D"/>
                  </a:solidFill>
                  <a:latin typeface="+mn-lt"/>
                  <a:ea typeface="+mn-ea"/>
                  <a:cs typeface="+mn-cs"/>
                </a:rPr>
                <a:t>期初好友数</a:t>
              </a:r>
            </a:p>
          </p:txBody>
        </p:sp>
        <p:sp>
          <p:nvSpPr>
            <p:cNvPr id="120" name="TextBox 120"/>
            <p:cNvSpPr txBox="1"/>
            <p:nvPr/>
          </p:nvSpPr>
          <p:spPr>
            <a:xfrm>
              <a:off x="11215297" y="1886236"/>
              <a:ext cx="219855" cy="121920"/>
            </a:xfrm>
            <a:prstGeom prst="rect">
              <a:avLst/>
            </a:prstGeom>
            <a:noFill/>
            <a:ln>
              <a:noFill/>
            </a:ln>
          </p:spPr>
          <p:txBody>
            <a:bodyPr wrap="none" lIns="0" tIns="0" rIns="0" bIns="0" anchor="t" anchorCtr="0">
              <a:spAutoFit/>
            </a:bodyPr>
            <a:lstStyle/>
            <a:p>
              <a:pPr algn="ctr"/>
              <a:r>
                <a:rPr lang="zh-CN" sz="620" b="1" dirty="0">
                  <a:solidFill>
                    <a:srgbClr val="C83210"/>
                  </a:solidFill>
                  <a:latin typeface="+mn-lt"/>
                  <a:ea typeface="+mn-ea"/>
                  <a:cs typeface="+mn-cs"/>
                </a:rPr>
                <a:t>≥90%</a:t>
              </a:r>
            </a:p>
          </p:txBody>
        </p:sp>
        <p:sp>
          <p:nvSpPr>
            <p:cNvPr id="121" name="TextBox 121"/>
            <p:cNvSpPr txBox="1"/>
            <p:nvPr/>
          </p:nvSpPr>
          <p:spPr>
            <a:xfrm>
              <a:off x="11764968" y="1886236"/>
              <a:ext cx="130164"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Arial"/>
                  <a:ea typeface="Arial"/>
                  <a:cs typeface="Arial"/>
                </a:rPr>
                <a:t>5%</a:t>
              </a:r>
            </a:p>
          </p:txBody>
        </p:sp>
        <p:sp>
          <p:nvSpPr>
            <p:cNvPr id="122" name="TextBox 122"/>
            <p:cNvSpPr txBox="1"/>
            <p:nvPr/>
          </p:nvSpPr>
          <p:spPr>
            <a:xfrm>
              <a:off x="9337891" y="2133886"/>
              <a:ext cx="259918" cy="121920"/>
            </a:xfrm>
            <a:prstGeom prst="rect">
              <a:avLst/>
            </a:prstGeom>
            <a:noFill/>
            <a:ln>
              <a:noFill/>
            </a:ln>
          </p:spPr>
          <p:txBody>
            <a:bodyPr wrap="none" lIns="0" tIns="0" rIns="0" bIns="0" anchor="t" anchorCtr="0">
              <a:spAutoFit/>
            </a:bodyPr>
            <a:lstStyle/>
            <a:p>
              <a:pPr algn="ctr"/>
              <a:r>
                <a:rPr lang="zh-CN" sz="620" b="1" dirty="0">
                  <a:solidFill>
                    <a:srgbClr val="222222"/>
                  </a:solidFill>
                  <a:latin typeface="+mn-lt"/>
                  <a:ea typeface="+mn-ea"/>
                  <a:cs typeface="+mn-cs"/>
                </a:rPr>
                <a:t>投诉率</a:t>
              </a:r>
            </a:p>
          </p:txBody>
        </p:sp>
        <p:sp>
          <p:nvSpPr>
            <p:cNvPr id="123" name="TextBox 123"/>
            <p:cNvSpPr txBox="1"/>
            <p:nvPr/>
          </p:nvSpPr>
          <p:spPr>
            <a:xfrm>
              <a:off x="9834562" y="2139553"/>
              <a:ext cx="774705"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投诉客户数 / 客户总数</a:t>
              </a:r>
            </a:p>
          </p:txBody>
        </p:sp>
        <p:sp>
          <p:nvSpPr>
            <p:cNvPr id="124" name="TextBox 124"/>
            <p:cNvSpPr txBox="1"/>
            <p:nvPr/>
          </p:nvSpPr>
          <p:spPr>
            <a:xfrm>
              <a:off x="11191197" y="2133886"/>
              <a:ext cx="268056" cy="121920"/>
            </a:xfrm>
            <a:prstGeom prst="rect">
              <a:avLst/>
            </a:prstGeom>
            <a:noFill/>
            <a:ln>
              <a:noFill/>
            </a:ln>
          </p:spPr>
          <p:txBody>
            <a:bodyPr wrap="none" lIns="0" tIns="0" rIns="0" bIns="0" anchor="t" anchorCtr="0">
              <a:spAutoFit/>
            </a:bodyPr>
            <a:lstStyle/>
            <a:p>
              <a:pPr algn="ctr"/>
              <a:r>
                <a:rPr lang="zh-CN" sz="620" b="1" dirty="0">
                  <a:solidFill>
                    <a:srgbClr val="C83210"/>
                  </a:solidFill>
                  <a:latin typeface="+mn-lt"/>
                  <a:ea typeface="+mn-ea"/>
                  <a:cs typeface="+mn-cs"/>
                </a:rPr>
                <a:t>≤0.3%</a:t>
              </a:r>
            </a:p>
          </p:txBody>
        </p:sp>
        <p:sp>
          <p:nvSpPr>
            <p:cNvPr id="125" name="TextBox 125"/>
            <p:cNvSpPr txBox="1"/>
            <p:nvPr/>
          </p:nvSpPr>
          <p:spPr>
            <a:xfrm>
              <a:off x="11764968" y="2133886"/>
              <a:ext cx="130164" cy="121920"/>
            </a:xfrm>
            <a:prstGeom prst="rect">
              <a:avLst/>
            </a:prstGeom>
            <a:noFill/>
            <a:ln>
              <a:noFill/>
            </a:ln>
          </p:spPr>
          <p:txBody>
            <a:bodyPr wrap="none" lIns="0" tIns="0" rIns="0" bIns="0" anchor="t" anchorCtr="0">
              <a:spAutoFit/>
            </a:bodyPr>
            <a:lstStyle/>
            <a:p>
              <a:pPr algn="ctr"/>
              <a:r>
                <a:rPr lang="zh-CN" sz="620" dirty="0">
                  <a:solidFill>
                    <a:srgbClr val="3D3D3D"/>
                  </a:solidFill>
                  <a:latin typeface="Arial"/>
                  <a:ea typeface="Arial"/>
                  <a:cs typeface="Arial"/>
                </a:rPr>
                <a:t>2%</a:t>
              </a:r>
            </a:p>
          </p:txBody>
        </p:sp>
        <p:sp>
          <p:nvSpPr>
            <p:cNvPr id="126" name="Line 126"/>
            <p:cNvSpPr/>
            <p:nvPr/>
          </p:nvSpPr>
          <p:spPr>
            <a:xfrm>
              <a:off x="9134475" y="1543050"/>
              <a:ext cx="2924175" cy="9525"/>
            </a:xfrm>
            <a:custGeom>
              <a:avLst/>
              <a:gdLst/>
              <a:ahLst/>
              <a:cxnLst/>
              <a:rect l="l" t="t" r="r" b="b"/>
              <a:pathLst>
                <a:path w="2924175" h="9525">
                  <a:moveTo>
                    <a:pt x="0" y="0"/>
                  </a:moveTo>
                  <a:lnTo>
                    <a:pt x="2924175" y="0"/>
                  </a:lnTo>
                </a:path>
              </a:pathLst>
            </a:custGeom>
            <a:noFill/>
            <a:ln w="9525">
              <a:solidFill>
                <a:srgbClr val="F1C7CC"/>
              </a:solidFill>
            </a:ln>
          </p:spPr>
        </p:sp>
        <p:sp>
          <p:nvSpPr>
            <p:cNvPr id="127" name="Line 127"/>
            <p:cNvSpPr/>
            <p:nvPr/>
          </p:nvSpPr>
          <p:spPr>
            <a:xfrm>
              <a:off x="9134475" y="1790700"/>
              <a:ext cx="2924175" cy="9525"/>
            </a:xfrm>
            <a:custGeom>
              <a:avLst/>
              <a:gdLst/>
              <a:ahLst/>
              <a:cxnLst/>
              <a:rect l="l" t="t" r="r" b="b"/>
              <a:pathLst>
                <a:path w="2924175" h="9525">
                  <a:moveTo>
                    <a:pt x="0" y="0"/>
                  </a:moveTo>
                  <a:lnTo>
                    <a:pt x="2924175" y="0"/>
                  </a:lnTo>
                </a:path>
              </a:pathLst>
            </a:custGeom>
            <a:noFill/>
            <a:ln w="9525">
              <a:solidFill>
                <a:srgbClr val="F1C7CC"/>
              </a:solidFill>
            </a:ln>
          </p:spPr>
        </p:sp>
        <p:sp>
          <p:nvSpPr>
            <p:cNvPr id="128" name="Line 128"/>
            <p:cNvSpPr/>
            <p:nvPr/>
          </p:nvSpPr>
          <p:spPr>
            <a:xfrm>
              <a:off x="9134475" y="2038350"/>
              <a:ext cx="2924175" cy="9525"/>
            </a:xfrm>
            <a:custGeom>
              <a:avLst/>
              <a:gdLst/>
              <a:ahLst/>
              <a:cxnLst/>
              <a:rect l="l" t="t" r="r" b="b"/>
              <a:pathLst>
                <a:path w="2924175" h="9525">
                  <a:moveTo>
                    <a:pt x="0" y="0"/>
                  </a:moveTo>
                  <a:lnTo>
                    <a:pt x="2924175" y="0"/>
                  </a:lnTo>
                </a:path>
              </a:pathLst>
            </a:custGeom>
            <a:noFill/>
            <a:ln w="9525">
              <a:solidFill>
                <a:srgbClr val="F1C7CC"/>
              </a:solidFill>
            </a:ln>
          </p:spPr>
        </p:sp>
        <p:sp>
          <p:nvSpPr>
            <p:cNvPr id="129" name="Line 129"/>
            <p:cNvSpPr/>
            <p:nvPr/>
          </p:nvSpPr>
          <p:spPr>
            <a:xfrm>
              <a:off x="9801225" y="1104900"/>
              <a:ext cx="9525" cy="1181100"/>
            </a:xfrm>
            <a:custGeom>
              <a:avLst/>
              <a:gdLst/>
              <a:ahLst/>
              <a:cxnLst/>
              <a:rect l="l" t="t" r="r" b="b"/>
              <a:pathLst>
                <a:path w="9525" h="1181100">
                  <a:moveTo>
                    <a:pt x="0" y="0"/>
                  </a:moveTo>
                  <a:lnTo>
                    <a:pt x="0" y="1181100"/>
                  </a:lnTo>
                </a:path>
              </a:pathLst>
            </a:custGeom>
            <a:noFill/>
            <a:ln w="9525">
              <a:solidFill>
                <a:srgbClr val="F1C7CC"/>
              </a:solidFill>
            </a:ln>
          </p:spPr>
        </p:sp>
        <p:sp>
          <p:nvSpPr>
            <p:cNvPr id="130" name="Line 130"/>
            <p:cNvSpPr/>
            <p:nvPr/>
          </p:nvSpPr>
          <p:spPr>
            <a:xfrm>
              <a:off x="11039475" y="1104900"/>
              <a:ext cx="9525" cy="1181100"/>
            </a:xfrm>
            <a:custGeom>
              <a:avLst/>
              <a:gdLst/>
              <a:ahLst/>
              <a:cxnLst/>
              <a:rect l="l" t="t" r="r" b="b"/>
              <a:pathLst>
                <a:path w="9525" h="1181100">
                  <a:moveTo>
                    <a:pt x="0" y="0"/>
                  </a:moveTo>
                  <a:lnTo>
                    <a:pt x="0" y="1181100"/>
                  </a:lnTo>
                </a:path>
              </a:pathLst>
            </a:custGeom>
            <a:noFill/>
            <a:ln w="9525">
              <a:solidFill>
                <a:srgbClr val="F1C7CC"/>
              </a:solidFill>
            </a:ln>
          </p:spPr>
        </p:sp>
        <p:sp>
          <p:nvSpPr>
            <p:cNvPr id="131" name="Line 131"/>
            <p:cNvSpPr/>
            <p:nvPr/>
          </p:nvSpPr>
          <p:spPr>
            <a:xfrm>
              <a:off x="11610975" y="1104900"/>
              <a:ext cx="9525" cy="1181100"/>
            </a:xfrm>
            <a:custGeom>
              <a:avLst/>
              <a:gdLst/>
              <a:ahLst/>
              <a:cxnLst/>
              <a:rect l="l" t="t" r="r" b="b"/>
              <a:pathLst>
                <a:path w="9525" h="1181100">
                  <a:moveTo>
                    <a:pt x="0" y="0"/>
                  </a:moveTo>
                  <a:lnTo>
                    <a:pt x="0" y="1181100"/>
                  </a:lnTo>
                </a:path>
              </a:pathLst>
            </a:custGeom>
            <a:noFill/>
            <a:ln w="9525">
              <a:solidFill>
                <a:srgbClr val="F1C7CC"/>
              </a:solidFill>
            </a:ln>
          </p:spPr>
        </p:sp>
      </p:grpSp>
      <p:grpSp>
        <p:nvGrpSpPr>
          <p:cNvPr id="219" name="quadrant"/>
          <p:cNvGrpSpPr/>
          <p:nvPr/>
        </p:nvGrpSpPr>
        <p:grpSpPr>
          <a:xfrm>
            <a:off x="171450" y="2495550"/>
            <a:ext cx="5937797" cy="2171938"/>
            <a:chOff x="171450" y="2495550"/>
            <a:chExt cx="5937797" cy="2171938"/>
          </a:xfrm>
        </p:grpSpPr>
        <p:sp>
          <p:nvSpPr>
            <p:cNvPr id="133" name="Rectangle 133"/>
            <p:cNvSpPr/>
            <p:nvPr/>
          </p:nvSpPr>
          <p:spPr>
            <a:xfrm>
              <a:off x="171450" y="2495550"/>
              <a:ext cx="38100" cy="152400"/>
            </a:xfrm>
            <a:prstGeom prst="rect">
              <a:avLst/>
            </a:prstGeom>
            <a:solidFill>
              <a:srgbClr val="C83210"/>
            </a:solidFill>
            <a:ln>
              <a:noFill/>
            </a:ln>
          </p:spPr>
        </p:sp>
        <p:grpSp>
          <p:nvGrpSpPr>
            <p:cNvPr id="140" name="Group 140"/>
            <p:cNvGrpSpPr/>
            <p:nvPr/>
          </p:nvGrpSpPr>
          <p:grpSpPr>
            <a:xfrm>
              <a:off x="302419" y="2521744"/>
              <a:ext cx="100012" cy="100012"/>
              <a:chOff x="302419" y="2521744"/>
              <a:chExt cx="100012" cy="100012"/>
            </a:xfrm>
          </p:grpSpPr>
          <p:sp>
            <p:nvSpPr>
              <p:cNvPr id="134" name="Freeform 134"/>
              <p:cNvSpPr/>
              <p:nvPr/>
            </p:nvSpPr>
            <p:spPr>
              <a:xfrm>
                <a:off x="302419" y="2521744"/>
                <a:ext cx="100012" cy="100012"/>
              </a:xfrm>
              <a:custGeom>
                <a:avLst/>
                <a:gdLst/>
                <a:ahLst/>
                <a:cxnLst/>
                <a:rect l="l" t="t" r="r" b="b"/>
                <a:pathLst>
                  <a:path w="100012" h="100012">
                    <a:moveTo>
                      <a:pt x="0" y="0"/>
                    </a:moveTo>
                    <a:lnTo>
                      <a:pt x="0" y="100012"/>
                    </a:lnTo>
                    <a:lnTo>
                      <a:pt x="100012" y="100012"/>
                    </a:lnTo>
                  </a:path>
                </a:pathLst>
              </a:custGeom>
              <a:noFill/>
              <a:ln w="11112">
                <a:solidFill>
                  <a:srgbClr val="C83210"/>
                </a:solidFill>
              </a:ln>
            </p:spPr>
          </p:sp>
          <p:sp>
            <p:nvSpPr>
              <p:cNvPr id="135" name="Freeform 135"/>
              <p:cNvSpPr/>
              <p:nvPr/>
            </p:nvSpPr>
            <p:spPr>
              <a:xfrm>
                <a:off x="324644" y="25439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136" name="Freeform 136"/>
              <p:cNvSpPr/>
              <p:nvPr/>
            </p:nvSpPr>
            <p:spPr>
              <a:xfrm>
                <a:off x="380206" y="2532856"/>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137" name="Freeform 137"/>
              <p:cNvSpPr/>
              <p:nvPr/>
            </p:nvSpPr>
            <p:spPr>
              <a:xfrm>
                <a:off x="352425" y="2577306"/>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138" name="Freeform 138"/>
              <p:cNvSpPr/>
              <p:nvPr/>
            </p:nvSpPr>
            <p:spPr>
              <a:xfrm>
                <a:off x="342201" y="2564082"/>
                <a:ext cx="13002" cy="16002"/>
              </a:xfrm>
              <a:custGeom>
                <a:avLst/>
                <a:gdLst/>
                <a:ahLst/>
                <a:cxnLst/>
                <a:rect l="l" t="t" r="r" b="b"/>
                <a:pathLst>
                  <a:path w="13002" h="16002">
                    <a:moveTo>
                      <a:pt x="0" y="0"/>
                    </a:moveTo>
                    <a:lnTo>
                      <a:pt x="13002" y="16002"/>
                    </a:lnTo>
                  </a:path>
                </a:pathLst>
              </a:custGeom>
              <a:noFill/>
              <a:ln w="11112">
                <a:solidFill>
                  <a:srgbClr val="C83210"/>
                </a:solidFill>
              </a:ln>
            </p:spPr>
          </p:sp>
          <p:sp>
            <p:nvSpPr>
              <p:cNvPr id="139" name="Freeform 139"/>
              <p:cNvSpPr/>
              <p:nvPr/>
            </p:nvSpPr>
            <p:spPr>
              <a:xfrm>
                <a:off x="369583" y="2553648"/>
                <a:ext cx="15763" cy="25481"/>
              </a:xfrm>
              <a:custGeom>
                <a:avLst/>
                <a:gdLst/>
                <a:ahLst/>
                <a:cxnLst/>
                <a:rect l="l" t="t" r="r" b="b"/>
                <a:pathLst>
                  <a:path w="15763" h="25481">
                    <a:moveTo>
                      <a:pt x="0" y="25481"/>
                    </a:moveTo>
                    <a:lnTo>
                      <a:pt x="15763" y="0"/>
                    </a:lnTo>
                  </a:path>
                </a:pathLst>
              </a:custGeom>
              <a:noFill/>
              <a:ln w="11112">
                <a:solidFill>
                  <a:srgbClr val="C83210"/>
                </a:solidFill>
              </a:ln>
            </p:spPr>
          </p:sp>
        </p:grpSp>
        <p:sp>
          <p:nvSpPr>
            <p:cNvPr id="141" name="TextBox 141"/>
            <p:cNvSpPr txBox="1"/>
            <p:nvPr/>
          </p:nvSpPr>
          <p:spPr>
            <a:xfrm>
              <a:off x="471297" y="2514124"/>
              <a:ext cx="3432387"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员工质量-效率四象限</a:t>
              </a:r>
              <a:r>
                <a:rPr lang="zh-CN" sz="710" b="1" dirty="0">
                  <a:solidFill>
                    <a:srgbClr val="808080"/>
                  </a:solidFill>
                  <a:latin typeface="+mn-lt"/>
                  <a:ea typeface="+mn-ea"/>
                  <a:cs typeface="+mn-cs"/>
                </a:rPr>
                <a:t>（示例：基于人均月净加好友数 × 产品转化率）</a:t>
              </a:r>
              <a:r>
                <a:rPr lang="zh-CN" sz="980" b="1" dirty="0">
                  <a:solidFill>
                    <a:srgbClr val="C83210"/>
                  </a:solidFill>
                  <a:latin typeface="+mn-lt"/>
                  <a:ea typeface="+mn-ea"/>
                  <a:cs typeface="+mn-cs"/>
                </a:rPr>
                <a:t xml:space="preserve">　</a:t>
              </a:r>
            </a:p>
          </p:txBody>
        </p:sp>
        <p:sp>
          <p:nvSpPr>
            <p:cNvPr id="142" name="Rectangle 142"/>
            <p:cNvSpPr/>
            <p:nvPr/>
          </p:nvSpPr>
          <p:spPr>
            <a:xfrm>
              <a:off x="800100" y="2781300"/>
              <a:ext cx="2124075" cy="628650"/>
            </a:xfrm>
            <a:prstGeom prst="rect">
              <a:avLst/>
            </a:prstGeom>
            <a:solidFill>
              <a:srgbClr val="FBE3E6"/>
            </a:solidFill>
            <a:ln>
              <a:noFill/>
            </a:ln>
          </p:spPr>
        </p:sp>
        <p:sp>
          <p:nvSpPr>
            <p:cNvPr id="143" name="Rectangle 143"/>
            <p:cNvSpPr/>
            <p:nvPr/>
          </p:nvSpPr>
          <p:spPr>
            <a:xfrm>
              <a:off x="2924175" y="2781300"/>
              <a:ext cx="1838325" cy="628650"/>
            </a:xfrm>
            <a:prstGeom prst="rect">
              <a:avLst/>
            </a:prstGeom>
            <a:solidFill>
              <a:srgbClr val="C83210"/>
            </a:solidFill>
            <a:ln>
              <a:noFill/>
            </a:ln>
          </p:spPr>
        </p:sp>
        <p:sp>
          <p:nvSpPr>
            <p:cNvPr id="144" name="Rectangle 144"/>
            <p:cNvSpPr/>
            <p:nvPr/>
          </p:nvSpPr>
          <p:spPr>
            <a:xfrm>
              <a:off x="800100" y="3409950"/>
              <a:ext cx="2124075" cy="933450"/>
            </a:xfrm>
            <a:prstGeom prst="rect">
              <a:avLst/>
            </a:prstGeom>
            <a:solidFill>
              <a:srgbClr val="FDEFF1"/>
            </a:solidFill>
            <a:ln>
              <a:noFill/>
            </a:ln>
          </p:spPr>
        </p:sp>
        <p:sp>
          <p:nvSpPr>
            <p:cNvPr id="145" name="Rectangle 145"/>
            <p:cNvSpPr/>
            <p:nvPr/>
          </p:nvSpPr>
          <p:spPr>
            <a:xfrm>
              <a:off x="2924175" y="3409950"/>
              <a:ext cx="1838325" cy="933450"/>
            </a:xfrm>
            <a:prstGeom prst="rect">
              <a:avLst/>
            </a:prstGeom>
            <a:solidFill>
              <a:srgbClr val="F3B2A3"/>
            </a:solidFill>
            <a:ln>
              <a:noFill/>
            </a:ln>
          </p:spPr>
        </p:sp>
        <p:sp>
          <p:nvSpPr>
            <p:cNvPr id="146" name="Line 146"/>
            <p:cNvSpPr/>
            <p:nvPr/>
          </p:nvSpPr>
          <p:spPr>
            <a:xfrm>
              <a:off x="800100" y="2781300"/>
              <a:ext cx="9525" cy="1562100"/>
            </a:xfrm>
            <a:custGeom>
              <a:avLst/>
              <a:gdLst/>
              <a:ahLst/>
              <a:cxnLst/>
              <a:rect l="l" t="t" r="r" b="b"/>
              <a:pathLst>
                <a:path w="9525" h="1562100">
                  <a:moveTo>
                    <a:pt x="0" y="0"/>
                  </a:moveTo>
                  <a:lnTo>
                    <a:pt x="0" y="1562100"/>
                  </a:lnTo>
                </a:path>
              </a:pathLst>
            </a:custGeom>
            <a:noFill/>
            <a:ln w="9525">
              <a:solidFill>
                <a:srgbClr val="808080"/>
              </a:solidFill>
            </a:ln>
          </p:spPr>
        </p:sp>
        <p:sp>
          <p:nvSpPr>
            <p:cNvPr id="147" name="Line 147"/>
            <p:cNvSpPr/>
            <p:nvPr/>
          </p:nvSpPr>
          <p:spPr>
            <a:xfrm>
              <a:off x="800100" y="4343400"/>
              <a:ext cx="3962400" cy="9525"/>
            </a:xfrm>
            <a:custGeom>
              <a:avLst/>
              <a:gdLst/>
              <a:ahLst/>
              <a:cxnLst/>
              <a:rect l="l" t="t" r="r" b="b"/>
              <a:pathLst>
                <a:path w="3962400" h="9525">
                  <a:moveTo>
                    <a:pt x="0" y="0"/>
                  </a:moveTo>
                  <a:lnTo>
                    <a:pt x="3962400" y="0"/>
                  </a:lnTo>
                </a:path>
              </a:pathLst>
            </a:custGeom>
            <a:noFill/>
            <a:ln w="9525">
              <a:solidFill>
                <a:srgbClr val="808080"/>
              </a:solidFill>
            </a:ln>
          </p:spPr>
        </p:sp>
        <p:sp>
          <p:nvSpPr>
            <p:cNvPr id="148" name="Line 148"/>
            <p:cNvSpPr/>
            <p:nvPr/>
          </p:nvSpPr>
          <p:spPr>
            <a:xfrm>
              <a:off x="2924175" y="2781300"/>
              <a:ext cx="9525" cy="1562100"/>
            </a:xfrm>
            <a:custGeom>
              <a:avLst/>
              <a:gdLst/>
              <a:ahLst/>
              <a:cxnLst/>
              <a:rect l="l" t="t" r="r" b="b"/>
              <a:pathLst>
                <a:path w="9525" h="1562100">
                  <a:moveTo>
                    <a:pt x="0" y="0"/>
                  </a:moveTo>
                  <a:lnTo>
                    <a:pt x="0" y="1562100"/>
                  </a:lnTo>
                </a:path>
              </a:pathLst>
            </a:custGeom>
            <a:noFill/>
            <a:ln w="9525">
              <a:solidFill>
                <a:srgbClr val="FFFFFF"/>
              </a:solidFill>
              <a:custDash>
                <a:ds d="400000" sp="300000"/>
              </a:custDash>
            </a:ln>
          </p:spPr>
        </p:sp>
        <p:sp>
          <p:nvSpPr>
            <p:cNvPr id="149" name="Line 149"/>
            <p:cNvSpPr/>
            <p:nvPr/>
          </p:nvSpPr>
          <p:spPr>
            <a:xfrm>
              <a:off x="800100" y="3409950"/>
              <a:ext cx="3962400" cy="9525"/>
            </a:xfrm>
            <a:custGeom>
              <a:avLst/>
              <a:gdLst/>
              <a:ahLst/>
              <a:cxnLst/>
              <a:rect l="l" t="t" r="r" b="b"/>
              <a:pathLst>
                <a:path w="3962400" h="9525">
                  <a:moveTo>
                    <a:pt x="0" y="0"/>
                  </a:moveTo>
                  <a:lnTo>
                    <a:pt x="3962400" y="0"/>
                  </a:lnTo>
                </a:path>
              </a:pathLst>
            </a:custGeom>
            <a:noFill/>
            <a:ln w="9525">
              <a:solidFill>
                <a:srgbClr val="FFFFFF"/>
              </a:solidFill>
              <a:custDash>
                <a:ds d="400000" sp="300000"/>
              </a:custDash>
            </a:ln>
          </p:spPr>
        </p:sp>
        <p:sp>
          <p:nvSpPr>
            <p:cNvPr id="150" name="TextBox 150"/>
            <p:cNvSpPr txBox="1"/>
            <p:nvPr/>
          </p:nvSpPr>
          <p:spPr>
            <a:xfrm>
              <a:off x="1171575" y="2909888"/>
              <a:ext cx="51435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精耕优质型</a:t>
              </a:r>
            </a:p>
          </p:txBody>
        </p:sp>
        <p:sp>
          <p:nvSpPr>
            <p:cNvPr id="151" name="TextBox 151"/>
            <p:cNvSpPr txBox="1"/>
            <p:nvPr/>
          </p:nvSpPr>
          <p:spPr>
            <a:xfrm>
              <a:off x="1222058" y="3049905"/>
              <a:ext cx="413385" cy="119062"/>
            </a:xfrm>
            <a:prstGeom prst="rect">
              <a:avLst/>
            </a:prstGeom>
            <a:noFill/>
            <a:ln>
              <a:noFill/>
            </a:ln>
          </p:spPr>
          <p:txBody>
            <a:bodyPr wrap="none" lIns="0" tIns="0" rIns="0" bIns="0" anchor="t" anchorCtr="0">
              <a:spAutoFit/>
            </a:bodyPr>
            <a:lstStyle/>
            <a:p>
              <a:pPr algn="ctr"/>
              <a:r>
                <a:rPr lang="zh-CN" sz="600" dirty="0">
                  <a:solidFill>
                    <a:srgbClr val="C83210"/>
                  </a:solidFill>
                  <a:latin typeface="+mn-lt"/>
                  <a:ea typeface="+mn-ea"/>
                  <a:cs typeface="+mn-cs"/>
                </a:rPr>
                <a:t>（小而美）</a:t>
              </a:r>
            </a:p>
          </p:txBody>
        </p:sp>
        <p:sp>
          <p:nvSpPr>
            <p:cNvPr id="152" name="TextBox 152"/>
            <p:cNvSpPr txBox="1"/>
            <p:nvPr/>
          </p:nvSpPr>
          <p:spPr>
            <a:xfrm>
              <a:off x="3788092" y="290988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高质可复制型</a:t>
              </a:r>
            </a:p>
          </p:txBody>
        </p:sp>
        <p:sp>
          <p:nvSpPr>
            <p:cNvPr id="153" name="TextBox 153"/>
            <p:cNvSpPr txBox="1"/>
            <p:nvPr/>
          </p:nvSpPr>
          <p:spPr>
            <a:xfrm>
              <a:off x="3848672" y="3049905"/>
              <a:ext cx="494157"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（重点培养）</a:t>
              </a:r>
            </a:p>
          </p:txBody>
        </p:sp>
        <p:sp>
          <p:nvSpPr>
            <p:cNvPr id="154" name="TextBox 154"/>
            <p:cNvSpPr txBox="1"/>
            <p:nvPr/>
          </p:nvSpPr>
          <p:spPr>
            <a:xfrm>
              <a:off x="1222058" y="3900488"/>
              <a:ext cx="413385"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待提升型</a:t>
              </a:r>
            </a:p>
          </p:txBody>
        </p:sp>
        <p:sp>
          <p:nvSpPr>
            <p:cNvPr id="155" name="TextBox 155"/>
            <p:cNvSpPr txBox="1"/>
            <p:nvPr/>
          </p:nvSpPr>
          <p:spPr>
            <a:xfrm>
              <a:off x="1222058" y="4040505"/>
              <a:ext cx="413385" cy="119062"/>
            </a:xfrm>
            <a:prstGeom prst="rect">
              <a:avLst/>
            </a:prstGeom>
            <a:noFill/>
            <a:ln>
              <a:noFill/>
            </a:ln>
          </p:spPr>
          <p:txBody>
            <a:bodyPr wrap="none" lIns="0" tIns="0" rIns="0" bIns="0" anchor="t" anchorCtr="0">
              <a:spAutoFit/>
            </a:bodyPr>
            <a:lstStyle/>
            <a:p>
              <a:pPr algn="ctr"/>
              <a:r>
                <a:rPr lang="zh-CN" sz="600" dirty="0">
                  <a:solidFill>
                    <a:srgbClr val="C83210"/>
                  </a:solidFill>
                  <a:latin typeface="+mn-lt"/>
                  <a:ea typeface="+mn-ea"/>
                  <a:cs typeface="+mn-cs"/>
                </a:rPr>
                <a:t>（需辅导）</a:t>
              </a:r>
            </a:p>
          </p:txBody>
        </p:sp>
        <p:sp>
          <p:nvSpPr>
            <p:cNvPr id="156" name="TextBox 156"/>
            <p:cNvSpPr txBox="1"/>
            <p:nvPr/>
          </p:nvSpPr>
          <p:spPr>
            <a:xfrm>
              <a:off x="3838575" y="3900488"/>
              <a:ext cx="514350" cy="147638"/>
            </a:xfrm>
            <a:prstGeom prst="rect">
              <a:avLst/>
            </a:prstGeom>
            <a:noFill/>
            <a:ln>
              <a:noFill/>
            </a:ln>
          </p:spPr>
          <p:txBody>
            <a:bodyPr wrap="none" lIns="0" tIns="0" rIns="0" bIns="0" anchor="t" anchorCtr="0">
              <a:spAutoFit/>
            </a:bodyPr>
            <a:lstStyle/>
            <a:p>
              <a:pPr algn="ctr"/>
              <a:r>
                <a:rPr lang="zh-CN" sz="750" b="1" dirty="0">
                  <a:solidFill>
                    <a:srgbClr val="8F230A"/>
                  </a:solidFill>
                  <a:latin typeface="+mn-lt"/>
                  <a:ea typeface="+mn-ea"/>
                  <a:cs typeface="+mn-cs"/>
                </a:rPr>
                <a:t>高量低质型</a:t>
              </a:r>
            </a:p>
          </p:txBody>
        </p:sp>
        <p:sp>
          <p:nvSpPr>
            <p:cNvPr id="157" name="TextBox 157"/>
            <p:cNvSpPr txBox="1"/>
            <p:nvPr/>
          </p:nvSpPr>
          <p:spPr>
            <a:xfrm>
              <a:off x="3889058" y="4040505"/>
              <a:ext cx="413385" cy="119062"/>
            </a:xfrm>
            <a:prstGeom prst="rect">
              <a:avLst/>
            </a:prstGeom>
            <a:noFill/>
            <a:ln>
              <a:noFill/>
            </a:ln>
          </p:spPr>
          <p:txBody>
            <a:bodyPr wrap="none" lIns="0" tIns="0" rIns="0" bIns="0" anchor="t" anchorCtr="0">
              <a:spAutoFit/>
            </a:bodyPr>
            <a:lstStyle/>
            <a:p>
              <a:pPr algn="ctr"/>
              <a:r>
                <a:rPr lang="zh-CN" sz="600" dirty="0">
                  <a:solidFill>
                    <a:srgbClr val="8F230A"/>
                  </a:solidFill>
                  <a:latin typeface="+mn-lt"/>
                  <a:ea typeface="+mn-ea"/>
                  <a:cs typeface="+mn-cs"/>
                </a:rPr>
                <a:t>（需优化）</a:t>
              </a:r>
            </a:p>
          </p:txBody>
        </p:sp>
        <p:sp>
          <p:nvSpPr>
            <p:cNvPr id="158" name="Ellipse 158"/>
            <p:cNvSpPr/>
            <p:nvPr/>
          </p:nvSpPr>
          <p:spPr>
            <a:xfrm>
              <a:off x="1619250" y="3124200"/>
              <a:ext cx="57150" cy="57150"/>
            </a:xfrm>
            <a:prstGeom prst="ellipse">
              <a:avLst/>
            </a:prstGeom>
            <a:solidFill>
              <a:srgbClr val="C83210"/>
            </a:solidFill>
            <a:ln>
              <a:noFill/>
            </a:ln>
          </p:spPr>
        </p:sp>
        <p:sp>
          <p:nvSpPr>
            <p:cNvPr id="159" name="Ellipse 159"/>
            <p:cNvSpPr/>
            <p:nvPr/>
          </p:nvSpPr>
          <p:spPr>
            <a:xfrm>
              <a:off x="2047875" y="3000375"/>
              <a:ext cx="57150" cy="57150"/>
            </a:xfrm>
            <a:prstGeom prst="ellipse">
              <a:avLst/>
            </a:prstGeom>
            <a:solidFill>
              <a:srgbClr val="C83210"/>
            </a:solidFill>
            <a:ln>
              <a:noFill/>
            </a:ln>
          </p:spPr>
        </p:sp>
        <p:sp>
          <p:nvSpPr>
            <p:cNvPr id="160" name="Ellipse 160"/>
            <p:cNvSpPr/>
            <p:nvPr/>
          </p:nvSpPr>
          <p:spPr>
            <a:xfrm>
              <a:off x="2400300" y="3219450"/>
              <a:ext cx="57150" cy="57150"/>
            </a:xfrm>
            <a:prstGeom prst="ellipse">
              <a:avLst/>
            </a:prstGeom>
            <a:solidFill>
              <a:srgbClr val="C83210"/>
            </a:solidFill>
            <a:ln>
              <a:noFill/>
            </a:ln>
          </p:spPr>
        </p:sp>
        <p:sp>
          <p:nvSpPr>
            <p:cNvPr id="161" name="Ellipse 161"/>
            <p:cNvSpPr/>
            <p:nvPr/>
          </p:nvSpPr>
          <p:spPr>
            <a:xfrm>
              <a:off x="1409700" y="3286125"/>
              <a:ext cx="57150" cy="57150"/>
            </a:xfrm>
            <a:prstGeom prst="ellipse">
              <a:avLst/>
            </a:prstGeom>
            <a:solidFill>
              <a:srgbClr val="C83210"/>
            </a:solidFill>
            <a:ln>
              <a:noFill/>
            </a:ln>
          </p:spPr>
        </p:sp>
        <p:sp>
          <p:nvSpPr>
            <p:cNvPr id="162" name="Ellipse 162"/>
            <p:cNvSpPr/>
            <p:nvPr/>
          </p:nvSpPr>
          <p:spPr>
            <a:xfrm>
              <a:off x="3248025" y="3067050"/>
              <a:ext cx="57150" cy="57150"/>
            </a:xfrm>
            <a:prstGeom prst="ellipse">
              <a:avLst/>
            </a:prstGeom>
            <a:solidFill>
              <a:srgbClr val="FFFFFF"/>
            </a:solidFill>
            <a:ln>
              <a:noFill/>
            </a:ln>
          </p:spPr>
        </p:sp>
        <p:sp>
          <p:nvSpPr>
            <p:cNvPr id="163" name="Ellipse 163"/>
            <p:cNvSpPr/>
            <p:nvPr/>
          </p:nvSpPr>
          <p:spPr>
            <a:xfrm>
              <a:off x="3743325" y="2943225"/>
              <a:ext cx="57150" cy="57150"/>
            </a:xfrm>
            <a:prstGeom prst="ellipse">
              <a:avLst/>
            </a:prstGeom>
            <a:solidFill>
              <a:srgbClr val="FFFFFF"/>
            </a:solidFill>
            <a:ln>
              <a:noFill/>
            </a:ln>
          </p:spPr>
        </p:sp>
        <p:sp>
          <p:nvSpPr>
            <p:cNvPr id="164" name="Ellipse 164"/>
            <p:cNvSpPr/>
            <p:nvPr/>
          </p:nvSpPr>
          <p:spPr>
            <a:xfrm>
              <a:off x="4095750" y="3124200"/>
              <a:ext cx="57150" cy="57150"/>
            </a:xfrm>
            <a:prstGeom prst="ellipse">
              <a:avLst/>
            </a:prstGeom>
            <a:solidFill>
              <a:srgbClr val="FFFFFF"/>
            </a:solidFill>
            <a:ln>
              <a:noFill/>
            </a:ln>
          </p:spPr>
        </p:sp>
        <p:sp>
          <p:nvSpPr>
            <p:cNvPr id="165" name="Ellipse 165"/>
            <p:cNvSpPr/>
            <p:nvPr/>
          </p:nvSpPr>
          <p:spPr>
            <a:xfrm>
              <a:off x="3600450" y="3219450"/>
              <a:ext cx="57150" cy="57150"/>
            </a:xfrm>
            <a:prstGeom prst="ellipse">
              <a:avLst/>
            </a:prstGeom>
            <a:solidFill>
              <a:srgbClr val="FFFFFF"/>
            </a:solidFill>
            <a:ln>
              <a:noFill/>
            </a:ln>
          </p:spPr>
        </p:sp>
        <p:sp>
          <p:nvSpPr>
            <p:cNvPr id="166" name="Ellipse 166"/>
            <p:cNvSpPr/>
            <p:nvPr/>
          </p:nvSpPr>
          <p:spPr>
            <a:xfrm>
              <a:off x="3952875" y="2847975"/>
              <a:ext cx="57150" cy="57150"/>
            </a:xfrm>
            <a:prstGeom prst="ellipse">
              <a:avLst/>
            </a:prstGeom>
            <a:solidFill>
              <a:srgbClr val="FFFFFF"/>
            </a:solidFill>
            <a:ln>
              <a:noFill/>
            </a:ln>
          </p:spPr>
        </p:sp>
        <p:sp>
          <p:nvSpPr>
            <p:cNvPr id="167" name="Ellipse 167"/>
            <p:cNvSpPr/>
            <p:nvPr/>
          </p:nvSpPr>
          <p:spPr>
            <a:xfrm>
              <a:off x="1200150" y="3848100"/>
              <a:ext cx="57150" cy="57150"/>
            </a:xfrm>
            <a:prstGeom prst="ellipse">
              <a:avLst/>
            </a:prstGeom>
            <a:solidFill>
              <a:srgbClr val="C83210"/>
            </a:solidFill>
            <a:ln>
              <a:noFill/>
            </a:ln>
          </p:spPr>
        </p:sp>
        <p:sp>
          <p:nvSpPr>
            <p:cNvPr id="168" name="Ellipse 168"/>
            <p:cNvSpPr/>
            <p:nvPr/>
          </p:nvSpPr>
          <p:spPr>
            <a:xfrm>
              <a:off x="1762125" y="3686175"/>
              <a:ext cx="57150" cy="57150"/>
            </a:xfrm>
            <a:prstGeom prst="ellipse">
              <a:avLst/>
            </a:prstGeom>
            <a:solidFill>
              <a:srgbClr val="C83210"/>
            </a:solidFill>
            <a:ln>
              <a:noFill/>
            </a:ln>
          </p:spPr>
        </p:sp>
        <p:sp>
          <p:nvSpPr>
            <p:cNvPr id="169" name="Ellipse 169"/>
            <p:cNvSpPr/>
            <p:nvPr/>
          </p:nvSpPr>
          <p:spPr>
            <a:xfrm>
              <a:off x="2190750" y="3943350"/>
              <a:ext cx="57150" cy="57150"/>
            </a:xfrm>
            <a:prstGeom prst="ellipse">
              <a:avLst/>
            </a:prstGeom>
            <a:solidFill>
              <a:srgbClr val="C83210"/>
            </a:solidFill>
            <a:ln>
              <a:noFill/>
            </a:ln>
          </p:spPr>
        </p:sp>
        <p:sp>
          <p:nvSpPr>
            <p:cNvPr id="170" name="Ellipse 170"/>
            <p:cNvSpPr/>
            <p:nvPr/>
          </p:nvSpPr>
          <p:spPr>
            <a:xfrm>
              <a:off x="2543175" y="3629025"/>
              <a:ext cx="57150" cy="57150"/>
            </a:xfrm>
            <a:prstGeom prst="ellipse">
              <a:avLst/>
            </a:prstGeom>
            <a:solidFill>
              <a:srgbClr val="C83210"/>
            </a:solidFill>
            <a:ln>
              <a:noFill/>
            </a:ln>
          </p:spPr>
        </p:sp>
        <p:sp>
          <p:nvSpPr>
            <p:cNvPr id="171" name="Ellipse 171"/>
            <p:cNvSpPr/>
            <p:nvPr/>
          </p:nvSpPr>
          <p:spPr>
            <a:xfrm>
              <a:off x="1552575" y="3533775"/>
              <a:ext cx="57150" cy="57150"/>
            </a:xfrm>
            <a:prstGeom prst="ellipse">
              <a:avLst/>
            </a:prstGeom>
            <a:solidFill>
              <a:srgbClr val="C83210"/>
            </a:solidFill>
            <a:ln>
              <a:noFill/>
            </a:ln>
          </p:spPr>
        </p:sp>
        <p:sp>
          <p:nvSpPr>
            <p:cNvPr id="172" name="Ellipse 172"/>
            <p:cNvSpPr/>
            <p:nvPr/>
          </p:nvSpPr>
          <p:spPr>
            <a:xfrm>
              <a:off x="3105150" y="3752850"/>
              <a:ext cx="57150" cy="57150"/>
            </a:xfrm>
            <a:prstGeom prst="ellipse">
              <a:avLst/>
            </a:prstGeom>
            <a:solidFill>
              <a:srgbClr val="C83210"/>
            </a:solidFill>
            <a:ln>
              <a:noFill/>
            </a:ln>
          </p:spPr>
        </p:sp>
        <p:sp>
          <p:nvSpPr>
            <p:cNvPr id="173" name="Ellipse 173"/>
            <p:cNvSpPr/>
            <p:nvPr/>
          </p:nvSpPr>
          <p:spPr>
            <a:xfrm>
              <a:off x="3600450" y="3876675"/>
              <a:ext cx="57150" cy="57150"/>
            </a:xfrm>
            <a:prstGeom prst="ellipse">
              <a:avLst/>
            </a:prstGeom>
            <a:solidFill>
              <a:srgbClr val="C83210"/>
            </a:solidFill>
            <a:ln>
              <a:noFill/>
            </a:ln>
          </p:spPr>
        </p:sp>
        <p:sp>
          <p:nvSpPr>
            <p:cNvPr id="174" name="Ellipse 174"/>
            <p:cNvSpPr/>
            <p:nvPr/>
          </p:nvSpPr>
          <p:spPr>
            <a:xfrm>
              <a:off x="4171950" y="3686175"/>
              <a:ext cx="57150" cy="57150"/>
            </a:xfrm>
            <a:prstGeom prst="ellipse">
              <a:avLst/>
            </a:prstGeom>
            <a:solidFill>
              <a:srgbClr val="C83210"/>
            </a:solidFill>
            <a:ln>
              <a:noFill/>
            </a:ln>
          </p:spPr>
        </p:sp>
        <p:sp>
          <p:nvSpPr>
            <p:cNvPr id="175" name="Ellipse 175"/>
            <p:cNvSpPr/>
            <p:nvPr/>
          </p:nvSpPr>
          <p:spPr>
            <a:xfrm>
              <a:off x="3810000" y="3533775"/>
              <a:ext cx="57150" cy="57150"/>
            </a:xfrm>
            <a:prstGeom prst="ellipse">
              <a:avLst/>
            </a:prstGeom>
            <a:solidFill>
              <a:srgbClr val="C83210"/>
            </a:solidFill>
            <a:ln>
              <a:noFill/>
            </a:ln>
          </p:spPr>
        </p:sp>
        <p:sp>
          <p:nvSpPr>
            <p:cNvPr id="176" name="Ellipse 176"/>
            <p:cNvSpPr/>
            <p:nvPr/>
          </p:nvSpPr>
          <p:spPr>
            <a:xfrm>
              <a:off x="4448175" y="3819525"/>
              <a:ext cx="57150" cy="57150"/>
            </a:xfrm>
            <a:prstGeom prst="ellipse">
              <a:avLst/>
            </a:prstGeom>
            <a:solidFill>
              <a:srgbClr val="C83210"/>
            </a:solidFill>
            <a:ln>
              <a:noFill/>
            </a:ln>
          </p:spPr>
        </p:sp>
        <p:sp>
          <p:nvSpPr>
            <p:cNvPr id="177" name="TextBox 177"/>
            <p:cNvSpPr txBox="1"/>
            <p:nvPr/>
          </p:nvSpPr>
          <p:spPr>
            <a:xfrm>
              <a:off x="576514" y="2754630"/>
              <a:ext cx="171198" cy="119062"/>
            </a:xfrm>
            <a:prstGeom prst="rect">
              <a:avLst/>
            </a:prstGeom>
            <a:noFill/>
            <a:ln>
              <a:noFill/>
            </a:ln>
          </p:spPr>
          <p:txBody>
            <a:bodyPr wrap="none" lIns="0" tIns="0" rIns="0" bIns="0" anchor="t" anchorCtr="0">
              <a:spAutoFit/>
            </a:bodyPr>
            <a:lstStyle/>
            <a:p>
              <a:pPr algn="r"/>
              <a:r>
                <a:rPr lang="zh-CN" sz="600" dirty="0">
                  <a:solidFill>
                    <a:srgbClr val="808080"/>
                  </a:solidFill>
                  <a:latin typeface="Arial"/>
                  <a:ea typeface="Arial"/>
                  <a:cs typeface="Arial"/>
                </a:rPr>
                <a:t>50%</a:t>
              </a:r>
            </a:p>
          </p:txBody>
        </p:sp>
        <p:sp>
          <p:nvSpPr>
            <p:cNvPr id="178" name="TextBox 178"/>
            <p:cNvSpPr txBox="1"/>
            <p:nvPr/>
          </p:nvSpPr>
          <p:spPr>
            <a:xfrm>
              <a:off x="576514" y="3373755"/>
              <a:ext cx="171198" cy="119062"/>
            </a:xfrm>
            <a:prstGeom prst="rect">
              <a:avLst/>
            </a:prstGeom>
            <a:noFill/>
            <a:ln>
              <a:noFill/>
            </a:ln>
          </p:spPr>
          <p:txBody>
            <a:bodyPr wrap="none" lIns="0" tIns="0" rIns="0" bIns="0" anchor="t" anchorCtr="0">
              <a:spAutoFit/>
            </a:bodyPr>
            <a:lstStyle/>
            <a:p>
              <a:pPr algn="r"/>
              <a:r>
                <a:rPr lang="zh-CN" sz="600" dirty="0">
                  <a:solidFill>
                    <a:srgbClr val="808080"/>
                  </a:solidFill>
                  <a:latin typeface="Arial"/>
                  <a:ea typeface="Arial"/>
                  <a:cs typeface="Arial"/>
                </a:rPr>
                <a:t>30%</a:t>
              </a:r>
            </a:p>
          </p:txBody>
        </p:sp>
        <p:sp>
          <p:nvSpPr>
            <p:cNvPr id="179" name="TextBox 179"/>
            <p:cNvSpPr txBox="1"/>
            <p:nvPr/>
          </p:nvSpPr>
          <p:spPr>
            <a:xfrm>
              <a:off x="576514" y="3992880"/>
              <a:ext cx="171198" cy="119062"/>
            </a:xfrm>
            <a:prstGeom prst="rect">
              <a:avLst/>
            </a:prstGeom>
            <a:noFill/>
            <a:ln>
              <a:noFill/>
            </a:ln>
          </p:spPr>
          <p:txBody>
            <a:bodyPr wrap="none" lIns="0" tIns="0" rIns="0" bIns="0" anchor="t" anchorCtr="0">
              <a:spAutoFit/>
            </a:bodyPr>
            <a:lstStyle/>
            <a:p>
              <a:pPr algn="r"/>
              <a:r>
                <a:rPr lang="zh-CN" sz="600" dirty="0">
                  <a:solidFill>
                    <a:srgbClr val="808080"/>
                  </a:solidFill>
                  <a:latin typeface="Arial"/>
                  <a:ea typeface="Arial"/>
                  <a:cs typeface="Arial"/>
                </a:rPr>
                <a:t>10%</a:t>
              </a:r>
            </a:p>
          </p:txBody>
        </p:sp>
        <p:sp>
          <p:nvSpPr>
            <p:cNvPr id="180" name="TextBox 180"/>
            <p:cNvSpPr txBox="1"/>
            <p:nvPr/>
          </p:nvSpPr>
          <p:spPr>
            <a:xfrm>
              <a:off x="621440" y="4307205"/>
              <a:ext cx="126273" cy="119062"/>
            </a:xfrm>
            <a:prstGeom prst="rect">
              <a:avLst/>
            </a:prstGeom>
            <a:noFill/>
            <a:ln>
              <a:noFill/>
            </a:ln>
          </p:spPr>
          <p:txBody>
            <a:bodyPr wrap="none" lIns="0" tIns="0" rIns="0" bIns="0" anchor="t" anchorCtr="0">
              <a:spAutoFit/>
            </a:bodyPr>
            <a:lstStyle/>
            <a:p>
              <a:pPr algn="r"/>
              <a:r>
                <a:rPr lang="zh-CN" sz="600" dirty="0">
                  <a:solidFill>
                    <a:srgbClr val="808080"/>
                  </a:solidFill>
                  <a:latin typeface="Arial"/>
                  <a:ea typeface="Arial"/>
                  <a:cs typeface="Arial"/>
                </a:rPr>
                <a:t>0%</a:t>
              </a:r>
            </a:p>
          </p:txBody>
        </p:sp>
        <p:sp>
          <p:nvSpPr>
            <p:cNvPr id="181" name="TextBox 181"/>
            <p:cNvSpPr txBox="1"/>
            <p:nvPr/>
          </p:nvSpPr>
          <p:spPr>
            <a:xfrm>
              <a:off x="772875" y="4411980"/>
              <a:ext cx="54450"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Arial"/>
                  <a:ea typeface="Arial"/>
                  <a:cs typeface="Arial"/>
                </a:rPr>
                <a:t>0</a:t>
              </a:r>
            </a:p>
          </p:txBody>
        </p:sp>
        <p:sp>
          <p:nvSpPr>
            <p:cNvPr id="182" name="TextBox 182"/>
            <p:cNvSpPr txBox="1"/>
            <p:nvPr/>
          </p:nvSpPr>
          <p:spPr>
            <a:xfrm>
              <a:off x="1432799" y="4411980"/>
              <a:ext cx="144301"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Arial"/>
                  <a:ea typeface="Arial"/>
                  <a:cs typeface="Arial"/>
                </a:rPr>
                <a:t>100</a:t>
              </a:r>
            </a:p>
          </p:txBody>
        </p:sp>
        <p:sp>
          <p:nvSpPr>
            <p:cNvPr id="183" name="TextBox 183"/>
            <p:cNvSpPr txBox="1"/>
            <p:nvPr/>
          </p:nvSpPr>
          <p:spPr>
            <a:xfrm>
              <a:off x="2852024" y="4411980"/>
              <a:ext cx="144301"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Arial"/>
                  <a:ea typeface="Arial"/>
                  <a:cs typeface="Arial"/>
                </a:rPr>
                <a:t>300</a:t>
              </a:r>
            </a:p>
          </p:txBody>
        </p:sp>
        <p:sp>
          <p:nvSpPr>
            <p:cNvPr id="184" name="TextBox 184"/>
            <p:cNvSpPr txBox="1"/>
            <p:nvPr/>
          </p:nvSpPr>
          <p:spPr>
            <a:xfrm>
              <a:off x="4261724" y="4411980"/>
              <a:ext cx="144301"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Arial"/>
                  <a:ea typeface="Arial"/>
                  <a:cs typeface="Arial"/>
                </a:rPr>
                <a:t>500</a:t>
              </a:r>
            </a:p>
          </p:txBody>
        </p:sp>
        <p:sp>
          <p:nvSpPr>
            <p:cNvPr id="185" name="TextBox 185"/>
            <p:cNvSpPr txBox="1"/>
            <p:nvPr/>
          </p:nvSpPr>
          <p:spPr>
            <a:xfrm>
              <a:off x="2431910" y="4541282"/>
              <a:ext cx="69877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人均月净加好友数</a:t>
              </a:r>
            </a:p>
          </p:txBody>
        </p:sp>
        <p:sp>
          <p:nvSpPr>
            <p:cNvPr id="186" name="TextBox 186"/>
            <p:cNvSpPr txBox="1"/>
            <p:nvPr/>
          </p:nvSpPr>
          <p:spPr>
            <a:xfrm>
              <a:off x="256959" y="3226832"/>
              <a:ext cx="9568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产</a:t>
              </a:r>
            </a:p>
          </p:txBody>
        </p:sp>
        <p:sp>
          <p:nvSpPr>
            <p:cNvPr id="187" name="TextBox 187"/>
            <p:cNvSpPr txBox="1"/>
            <p:nvPr/>
          </p:nvSpPr>
          <p:spPr>
            <a:xfrm>
              <a:off x="256959" y="3350657"/>
              <a:ext cx="9568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品</a:t>
              </a:r>
            </a:p>
          </p:txBody>
        </p:sp>
        <p:sp>
          <p:nvSpPr>
            <p:cNvPr id="188" name="TextBox 188"/>
            <p:cNvSpPr txBox="1"/>
            <p:nvPr/>
          </p:nvSpPr>
          <p:spPr>
            <a:xfrm>
              <a:off x="256959" y="3474482"/>
              <a:ext cx="9568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转</a:t>
              </a:r>
            </a:p>
          </p:txBody>
        </p:sp>
        <p:sp>
          <p:nvSpPr>
            <p:cNvPr id="189" name="TextBox 189"/>
            <p:cNvSpPr txBox="1"/>
            <p:nvPr/>
          </p:nvSpPr>
          <p:spPr>
            <a:xfrm>
              <a:off x="256959" y="3598307"/>
              <a:ext cx="9568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化</a:t>
              </a:r>
            </a:p>
          </p:txBody>
        </p:sp>
        <p:sp>
          <p:nvSpPr>
            <p:cNvPr id="190" name="TextBox 190"/>
            <p:cNvSpPr txBox="1"/>
            <p:nvPr/>
          </p:nvSpPr>
          <p:spPr>
            <a:xfrm>
              <a:off x="256959" y="3722132"/>
              <a:ext cx="9568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率</a:t>
              </a:r>
            </a:p>
          </p:txBody>
        </p:sp>
        <p:grpSp>
          <p:nvGrpSpPr>
            <p:cNvPr id="196" name="Group 196"/>
            <p:cNvGrpSpPr/>
            <p:nvPr/>
          </p:nvGrpSpPr>
          <p:grpSpPr>
            <a:xfrm>
              <a:off x="4950619" y="2855119"/>
              <a:ext cx="105568" cy="105568"/>
              <a:chOff x="4950619" y="2855119"/>
              <a:chExt cx="105568" cy="105568"/>
            </a:xfrm>
          </p:grpSpPr>
          <p:sp>
            <p:nvSpPr>
              <p:cNvPr id="191" name="Freeform 191"/>
              <p:cNvSpPr/>
              <p:nvPr/>
            </p:nvSpPr>
            <p:spPr>
              <a:xfrm>
                <a:off x="4961731" y="28551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C83210"/>
                </a:solidFill>
              </a:ln>
            </p:spPr>
          </p:sp>
          <p:sp>
            <p:nvSpPr>
              <p:cNvPr id="192" name="Freeform 192"/>
              <p:cNvSpPr/>
              <p:nvPr/>
            </p:nvSpPr>
            <p:spPr>
              <a:xfrm>
                <a:off x="4950619" y="2921794"/>
                <a:ext cx="58507" cy="33337"/>
              </a:xfrm>
              <a:custGeom>
                <a:avLst/>
                <a:gdLst/>
                <a:ahLst/>
                <a:cxnLst/>
                <a:rect l="l" t="t" r="r" b="b"/>
                <a:pathLst>
                  <a:path w="58507" h="33337">
                    <a:moveTo>
                      <a:pt x="0" y="33337"/>
                    </a:moveTo>
                    <a:lnTo>
                      <a:pt x="0" y="22225"/>
                    </a:lnTo>
                    <a:cubicBezTo>
                      <a:pt x="0" y="9950"/>
                      <a:pt x="9950" y="0"/>
                      <a:pt x="22225" y="0"/>
                    </a:cubicBezTo>
                    <a:lnTo>
                      <a:pt x="44450" y="0"/>
                    </a:lnTo>
                    <a:cubicBezTo>
                      <a:pt x="49784" y="0"/>
                      <a:pt x="54673" y="1878"/>
                      <a:pt x="58507" y="5006"/>
                    </a:cubicBezTo>
                  </a:path>
                </a:pathLst>
              </a:custGeom>
              <a:noFill/>
              <a:ln w="11112">
                <a:solidFill>
                  <a:srgbClr val="C83210"/>
                </a:solidFill>
              </a:ln>
            </p:spPr>
          </p:sp>
          <p:sp>
            <p:nvSpPr>
              <p:cNvPr id="193" name="Freeform 193"/>
              <p:cNvSpPr/>
              <p:nvPr/>
            </p:nvSpPr>
            <p:spPr>
              <a:xfrm>
                <a:off x="5022850" y="285584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C83210"/>
                </a:solidFill>
              </a:ln>
            </p:spPr>
          </p:sp>
          <p:sp>
            <p:nvSpPr>
              <p:cNvPr id="194" name="Freeform 194"/>
              <p:cNvSpPr/>
              <p:nvPr/>
            </p:nvSpPr>
            <p:spPr>
              <a:xfrm>
                <a:off x="5022850" y="2944019"/>
                <a:ext cx="33337" cy="9525"/>
              </a:xfrm>
              <a:custGeom>
                <a:avLst/>
                <a:gdLst/>
                <a:ahLst/>
                <a:cxnLst/>
                <a:rect l="l" t="t" r="r" b="b"/>
                <a:pathLst>
                  <a:path w="33337" h="9525">
                    <a:moveTo>
                      <a:pt x="0" y="0"/>
                    </a:moveTo>
                    <a:lnTo>
                      <a:pt x="33337" y="0"/>
                    </a:lnTo>
                  </a:path>
                </a:pathLst>
              </a:custGeom>
              <a:noFill/>
              <a:ln w="11112">
                <a:solidFill>
                  <a:srgbClr val="C83210"/>
                </a:solidFill>
              </a:ln>
            </p:spPr>
          </p:sp>
          <p:sp>
            <p:nvSpPr>
              <p:cNvPr id="195" name="Freeform 195"/>
              <p:cNvSpPr/>
              <p:nvPr/>
            </p:nvSpPr>
            <p:spPr>
              <a:xfrm>
                <a:off x="5039519" y="2927350"/>
                <a:ext cx="9525" cy="33337"/>
              </a:xfrm>
              <a:custGeom>
                <a:avLst/>
                <a:gdLst/>
                <a:ahLst/>
                <a:cxnLst/>
                <a:rect l="l" t="t" r="r" b="b"/>
                <a:pathLst>
                  <a:path w="9525" h="33337">
                    <a:moveTo>
                      <a:pt x="0" y="0"/>
                    </a:moveTo>
                    <a:lnTo>
                      <a:pt x="0" y="33337"/>
                    </a:lnTo>
                  </a:path>
                </a:pathLst>
              </a:custGeom>
              <a:noFill/>
              <a:ln w="11112">
                <a:solidFill>
                  <a:srgbClr val="C83210"/>
                </a:solidFill>
              </a:ln>
            </p:spPr>
          </p:sp>
        </p:grpSp>
        <p:sp>
          <p:nvSpPr>
            <p:cNvPr id="197" name="TextBox 197"/>
            <p:cNvSpPr txBox="1"/>
            <p:nvPr/>
          </p:nvSpPr>
          <p:spPr>
            <a:xfrm>
              <a:off x="5119688" y="2874407"/>
              <a:ext cx="526466"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高质可复制型</a:t>
              </a:r>
            </a:p>
          </p:txBody>
        </p:sp>
        <p:sp>
          <p:nvSpPr>
            <p:cNvPr id="198" name="TextBox 198"/>
            <p:cNvSpPr txBox="1"/>
            <p:nvPr/>
          </p:nvSpPr>
          <p:spPr>
            <a:xfrm>
              <a:off x="5119688" y="2996803"/>
              <a:ext cx="537235"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加大资源倾斜，</a:t>
              </a:r>
            </a:p>
          </p:txBody>
        </p:sp>
        <p:sp>
          <p:nvSpPr>
            <p:cNvPr id="199" name="TextBox 199"/>
            <p:cNvSpPr txBox="1"/>
            <p:nvPr/>
          </p:nvSpPr>
          <p:spPr>
            <a:xfrm>
              <a:off x="5119688" y="3101578"/>
              <a:ext cx="537235"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沉淀经验并推广</a:t>
              </a:r>
            </a:p>
          </p:txBody>
        </p:sp>
        <p:grpSp>
          <p:nvGrpSpPr>
            <p:cNvPr id="203" name="Group 203"/>
            <p:cNvGrpSpPr/>
            <p:nvPr/>
          </p:nvGrpSpPr>
          <p:grpSpPr>
            <a:xfrm>
              <a:off x="4967287" y="3236119"/>
              <a:ext cx="88910" cy="105568"/>
              <a:chOff x="4967287" y="3236119"/>
              <a:chExt cx="88910" cy="105568"/>
            </a:xfrm>
          </p:grpSpPr>
          <p:sp>
            <p:nvSpPr>
              <p:cNvPr id="200" name="Freeform 200"/>
              <p:cNvSpPr/>
              <p:nvPr/>
            </p:nvSpPr>
            <p:spPr>
              <a:xfrm>
                <a:off x="4978400" y="32361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C83210"/>
                </a:solidFill>
              </a:ln>
            </p:spPr>
          </p:sp>
          <p:sp>
            <p:nvSpPr>
              <p:cNvPr id="201" name="Freeform 201"/>
              <p:cNvSpPr/>
              <p:nvPr/>
            </p:nvSpPr>
            <p:spPr>
              <a:xfrm>
                <a:off x="4967287" y="3302794"/>
                <a:ext cx="25003" cy="33337"/>
              </a:xfrm>
              <a:custGeom>
                <a:avLst/>
                <a:gdLst/>
                <a:ahLst/>
                <a:cxnLst/>
                <a:rect l="l" t="t" r="r" b="b"/>
                <a:pathLst>
                  <a:path w="25003" h="33337">
                    <a:moveTo>
                      <a:pt x="0" y="33337"/>
                    </a:moveTo>
                    <a:lnTo>
                      <a:pt x="0" y="22225"/>
                    </a:lnTo>
                    <a:cubicBezTo>
                      <a:pt x="0" y="9950"/>
                      <a:pt x="9950" y="0"/>
                      <a:pt x="22225" y="0"/>
                    </a:cubicBezTo>
                    <a:lnTo>
                      <a:pt x="25003" y="0"/>
                    </a:lnTo>
                  </a:path>
                </a:pathLst>
              </a:custGeom>
              <a:noFill/>
              <a:ln w="11112">
                <a:solidFill>
                  <a:srgbClr val="C83210"/>
                </a:solidFill>
              </a:ln>
            </p:spPr>
          </p:sp>
          <p:sp>
            <p:nvSpPr>
              <p:cNvPr id="202" name="Freeform 202"/>
              <p:cNvSpPr/>
              <p:nvPr/>
            </p:nvSpPr>
            <p:spPr>
              <a:xfrm>
                <a:off x="5011731" y="3301611"/>
                <a:ext cx="44466" cy="40076"/>
              </a:xfrm>
              <a:custGeom>
                <a:avLst/>
                <a:gdLst/>
                <a:ahLst/>
                <a:cxnLst/>
                <a:rect l="l" t="t" r="r" b="b"/>
                <a:pathLst>
                  <a:path w="44466" h="40076">
                    <a:moveTo>
                      <a:pt x="22232" y="40076"/>
                    </a:moveTo>
                    <a:lnTo>
                      <a:pt x="40845" y="21830"/>
                    </a:lnTo>
                    <a:cubicBezTo>
                      <a:pt x="43151" y="19592"/>
                      <a:pt x="44455" y="16517"/>
                      <a:pt x="44460" y="13304"/>
                    </a:cubicBezTo>
                    <a:cubicBezTo>
                      <a:pt x="44466" y="10090"/>
                      <a:pt x="43172" y="7011"/>
                      <a:pt x="40873" y="4766"/>
                    </a:cubicBezTo>
                    <a:cubicBezTo>
                      <a:pt x="36045" y="45"/>
                      <a:pt x="28334" y="30"/>
                      <a:pt x="23488" y="4733"/>
                    </a:cubicBezTo>
                    <a:lnTo>
                      <a:pt x="22243" y="5955"/>
                    </a:lnTo>
                    <a:lnTo>
                      <a:pt x="21004" y="4733"/>
                    </a:lnTo>
                    <a:cubicBezTo>
                      <a:pt x="16177" y="15"/>
                      <a:pt x="8470" y="0"/>
                      <a:pt x="3624" y="4700"/>
                    </a:cubicBezTo>
                    <a:cubicBezTo>
                      <a:pt x="1317" y="6937"/>
                      <a:pt x="13" y="10011"/>
                      <a:pt x="6" y="13224"/>
                    </a:cubicBezTo>
                    <a:cubicBezTo>
                      <a:pt x="0" y="16437"/>
                      <a:pt x="1293" y="19517"/>
                      <a:pt x="3591" y="21763"/>
                    </a:cubicBezTo>
                    <a:lnTo>
                      <a:pt x="22232" y="40076"/>
                    </a:lnTo>
                  </a:path>
                </a:pathLst>
              </a:custGeom>
              <a:noFill/>
              <a:ln w="11112">
                <a:solidFill>
                  <a:srgbClr val="C83210"/>
                </a:solidFill>
              </a:ln>
            </p:spPr>
          </p:sp>
        </p:grpSp>
        <p:sp>
          <p:nvSpPr>
            <p:cNvPr id="204" name="TextBox 204"/>
            <p:cNvSpPr txBox="1"/>
            <p:nvPr/>
          </p:nvSpPr>
          <p:spPr>
            <a:xfrm>
              <a:off x="5119688" y="3255407"/>
              <a:ext cx="440309"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精耕优质型</a:t>
              </a:r>
            </a:p>
          </p:txBody>
        </p:sp>
        <p:sp>
          <p:nvSpPr>
            <p:cNvPr id="205" name="TextBox 205"/>
            <p:cNvSpPr txBox="1"/>
            <p:nvPr/>
          </p:nvSpPr>
          <p:spPr>
            <a:xfrm>
              <a:off x="5119688" y="3387328"/>
              <a:ext cx="989559"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保持服务深度，适度提升规模</a:t>
              </a:r>
            </a:p>
          </p:txBody>
        </p:sp>
        <p:grpSp>
          <p:nvGrpSpPr>
            <p:cNvPr id="210" name="Group 210"/>
            <p:cNvGrpSpPr/>
            <p:nvPr/>
          </p:nvGrpSpPr>
          <p:grpSpPr>
            <a:xfrm>
              <a:off x="4967287" y="3617119"/>
              <a:ext cx="88900" cy="105568"/>
              <a:chOff x="4967287" y="3617119"/>
              <a:chExt cx="88900" cy="105568"/>
            </a:xfrm>
          </p:grpSpPr>
          <p:sp>
            <p:nvSpPr>
              <p:cNvPr id="206" name="Freeform 206"/>
              <p:cNvSpPr/>
              <p:nvPr/>
            </p:nvSpPr>
            <p:spPr>
              <a:xfrm>
                <a:off x="4978400" y="36171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C83210"/>
                </a:solidFill>
              </a:ln>
            </p:spPr>
          </p:sp>
          <p:sp>
            <p:nvSpPr>
              <p:cNvPr id="207" name="Freeform 207"/>
              <p:cNvSpPr/>
              <p:nvPr/>
            </p:nvSpPr>
            <p:spPr>
              <a:xfrm>
                <a:off x="4967287" y="3683794"/>
                <a:ext cx="30559" cy="33337"/>
              </a:xfrm>
              <a:custGeom>
                <a:avLst/>
                <a:gdLst/>
                <a:ahLst/>
                <a:cxnLst/>
                <a:rect l="l" t="t" r="r" b="b"/>
                <a:pathLst>
                  <a:path w="30559" h="33337">
                    <a:moveTo>
                      <a:pt x="0" y="33337"/>
                    </a:moveTo>
                    <a:lnTo>
                      <a:pt x="0" y="22225"/>
                    </a:lnTo>
                    <a:cubicBezTo>
                      <a:pt x="0" y="9950"/>
                      <a:pt x="9950" y="0"/>
                      <a:pt x="22225" y="0"/>
                    </a:cubicBezTo>
                    <a:lnTo>
                      <a:pt x="30559" y="0"/>
                    </a:lnTo>
                  </a:path>
                </a:pathLst>
              </a:custGeom>
              <a:noFill/>
              <a:ln w="11112">
                <a:solidFill>
                  <a:srgbClr val="C83210"/>
                </a:solidFill>
              </a:ln>
            </p:spPr>
          </p:sp>
          <p:sp>
            <p:nvSpPr>
              <p:cNvPr id="208" name="Freeform 208"/>
              <p:cNvSpPr/>
              <p:nvPr/>
            </p:nvSpPr>
            <p:spPr>
              <a:xfrm>
                <a:off x="5017294" y="3683794"/>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C83210"/>
                </a:solidFill>
              </a:ln>
            </p:spPr>
          </p:sp>
          <p:sp>
            <p:nvSpPr>
              <p:cNvPr id="209" name="Freeform 209"/>
              <p:cNvSpPr/>
              <p:nvPr/>
            </p:nvSpPr>
            <p:spPr>
              <a:xfrm>
                <a:off x="5046186" y="3712686"/>
                <a:ext cx="10001" cy="10001"/>
              </a:xfrm>
              <a:custGeom>
                <a:avLst/>
                <a:gdLst/>
                <a:ahLst/>
                <a:cxnLst/>
                <a:rect l="l" t="t" r="r" b="b"/>
                <a:pathLst>
                  <a:path w="10001" h="10001">
                    <a:moveTo>
                      <a:pt x="0" y="0"/>
                    </a:moveTo>
                    <a:lnTo>
                      <a:pt x="10001" y="10001"/>
                    </a:lnTo>
                  </a:path>
                </a:pathLst>
              </a:custGeom>
              <a:noFill/>
              <a:ln w="11112">
                <a:solidFill>
                  <a:srgbClr val="C83210"/>
                </a:solidFill>
              </a:ln>
            </p:spPr>
          </p:sp>
        </p:grpSp>
        <p:sp>
          <p:nvSpPr>
            <p:cNvPr id="211" name="TextBox 211"/>
            <p:cNvSpPr txBox="1"/>
            <p:nvPr/>
          </p:nvSpPr>
          <p:spPr>
            <a:xfrm>
              <a:off x="5119688" y="3636407"/>
              <a:ext cx="440309"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高量低质型</a:t>
              </a:r>
            </a:p>
          </p:txBody>
        </p:sp>
        <p:sp>
          <p:nvSpPr>
            <p:cNvPr id="212" name="TextBox 212"/>
            <p:cNvSpPr txBox="1"/>
            <p:nvPr/>
          </p:nvSpPr>
          <p:spPr>
            <a:xfrm>
              <a:off x="5119688" y="3768328"/>
              <a:ext cx="838784"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优化客户筛选与内容策略</a:t>
              </a:r>
            </a:p>
          </p:txBody>
        </p:sp>
        <p:sp>
          <p:nvSpPr>
            <p:cNvPr id="213" name="TextBox 213"/>
            <p:cNvSpPr txBox="1"/>
            <p:nvPr/>
          </p:nvSpPr>
          <p:spPr>
            <a:xfrm>
              <a:off x="5119688" y="3882628"/>
              <a:ext cx="461848"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提升转化效率</a:t>
              </a:r>
            </a:p>
          </p:txBody>
        </p:sp>
        <p:grpSp>
          <p:nvGrpSpPr>
            <p:cNvPr id="216" name="Group 216"/>
            <p:cNvGrpSpPr/>
            <p:nvPr/>
          </p:nvGrpSpPr>
          <p:grpSpPr>
            <a:xfrm>
              <a:off x="4945062" y="4123531"/>
              <a:ext cx="111125" cy="77787"/>
              <a:chOff x="4945062" y="4123531"/>
              <a:chExt cx="111125" cy="77787"/>
            </a:xfrm>
          </p:grpSpPr>
          <p:sp>
            <p:nvSpPr>
              <p:cNvPr id="214" name="Freeform 214"/>
              <p:cNvSpPr/>
              <p:nvPr/>
            </p:nvSpPr>
            <p:spPr>
              <a:xfrm>
                <a:off x="4945062" y="4123531"/>
                <a:ext cx="111125" cy="55562"/>
              </a:xfrm>
              <a:custGeom>
                <a:avLst/>
                <a:gdLst/>
                <a:ahLst/>
                <a:cxnLst/>
                <a:rect l="l" t="t" r="r" b="b"/>
                <a:pathLst>
                  <a:path w="111125" h="55562">
                    <a:moveTo>
                      <a:pt x="111125" y="22225"/>
                    </a:moveTo>
                    <a:lnTo>
                      <a:pt x="55562" y="0"/>
                    </a:lnTo>
                    <a:lnTo>
                      <a:pt x="0" y="22225"/>
                    </a:lnTo>
                    <a:lnTo>
                      <a:pt x="55562" y="44450"/>
                    </a:lnTo>
                    <a:lnTo>
                      <a:pt x="111125" y="22225"/>
                    </a:lnTo>
                    <a:lnTo>
                      <a:pt x="111125" y="55562"/>
                    </a:lnTo>
                  </a:path>
                </a:pathLst>
              </a:custGeom>
              <a:noFill/>
              <a:ln w="11112">
                <a:solidFill>
                  <a:srgbClr val="C83210"/>
                </a:solidFill>
              </a:ln>
            </p:spPr>
          </p:sp>
          <p:sp>
            <p:nvSpPr>
              <p:cNvPr id="215" name="Freeform 215"/>
              <p:cNvSpPr/>
              <p:nvPr/>
            </p:nvSpPr>
            <p:spPr>
              <a:xfrm>
                <a:off x="4967287" y="4154646"/>
                <a:ext cx="66675" cy="46672"/>
              </a:xfrm>
              <a:custGeom>
                <a:avLst/>
                <a:gdLst/>
                <a:ahLst/>
                <a:cxnLst/>
                <a:rect l="l" t="t" r="r" b="b"/>
                <a:pathLst>
                  <a:path w="66675" h="46672">
                    <a:moveTo>
                      <a:pt x="0" y="0"/>
                    </a:moveTo>
                    <a:lnTo>
                      <a:pt x="0" y="30004"/>
                    </a:lnTo>
                    <a:cubicBezTo>
                      <a:pt x="0" y="39210"/>
                      <a:pt x="14926" y="46672"/>
                      <a:pt x="33337" y="46672"/>
                    </a:cubicBezTo>
                    <a:cubicBezTo>
                      <a:pt x="51749" y="46672"/>
                      <a:pt x="66675" y="39210"/>
                      <a:pt x="66675" y="30004"/>
                    </a:cubicBezTo>
                    <a:lnTo>
                      <a:pt x="66675" y="0"/>
                    </a:lnTo>
                  </a:path>
                </a:pathLst>
              </a:custGeom>
              <a:noFill/>
              <a:ln w="11112">
                <a:solidFill>
                  <a:srgbClr val="C83210"/>
                </a:solidFill>
              </a:ln>
            </p:spPr>
          </p:sp>
        </p:grpSp>
        <p:sp>
          <p:nvSpPr>
            <p:cNvPr id="217" name="TextBox 217"/>
            <p:cNvSpPr txBox="1"/>
            <p:nvPr/>
          </p:nvSpPr>
          <p:spPr>
            <a:xfrm>
              <a:off x="5119688" y="4131707"/>
              <a:ext cx="354152"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待提升型</a:t>
              </a:r>
            </a:p>
          </p:txBody>
        </p:sp>
        <p:sp>
          <p:nvSpPr>
            <p:cNvPr id="218" name="TextBox 218"/>
            <p:cNvSpPr txBox="1"/>
            <p:nvPr/>
          </p:nvSpPr>
          <p:spPr>
            <a:xfrm>
              <a:off x="5119688" y="4263628"/>
              <a:ext cx="688010"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加强培训与过程管理</a:t>
              </a:r>
            </a:p>
          </p:txBody>
        </p:sp>
      </p:grpSp>
      <p:grpSp>
        <p:nvGrpSpPr>
          <p:cNvPr id="287" name="ranking"/>
          <p:cNvGrpSpPr/>
          <p:nvPr/>
        </p:nvGrpSpPr>
        <p:grpSpPr>
          <a:xfrm>
            <a:off x="6210300" y="2495550"/>
            <a:ext cx="5848350" cy="2152650"/>
            <a:chOff x="6210300" y="2495550"/>
            <a:chExt cx="5848350" cy="2152650"/>
          </a:xfrm>
        </p:grpSpPr>
        <p:sp>
          <p:nvSpPr>
            <p:cNvPr id="220" name="Rectangle 220"/>
            <p:cNvSpPr/>
            <p:nvPr/>
          </p:nvSpPr>
          <p:spPr>
            <a:xfrm>
              <a:off x="6248400" y="2495550"/>
              <a:ext cx="38100" cy="152400"/>
            </a:xfrm>
            <a:prstGeom prst="rect">
              <a:avLst/>
            </a:prstGeom>
            <a:solidFill>
              <a:srgbClr val="C83210"/>
            </a:solidFill>
            <a:ln>
              <a:noFill/>
            </a:ln>
          </p:spPr>
        </p:sp>
        <p:grpSp>
          <p:nvGrpSpPr>
            <p:cNvPr id="227" name="Group 227"/>
            <p:cNvGrpSpPr/>
            <p:nvPr/>
          </p:nvGrpSpPr>
          <p:grpSpPr>
            <a:xfrm>
              <a:off x="6379369" y="2527300"/>
              <a:ext cx="100012" cy="103981"/>
              <a:chOff x="6379369" y="2527300"/>
              <a:chExt cx="100012" cy="103981"/>
            </a:xfrm>
          </p:grpSpPr>
          <p:sp>
            <p:nvSpPr>
              <p:cNvPr id="221" name="Freeform 221"/>
              <p:cNvSpPr/>
              <p:nvPr/>
            </p:nvSpPr>
            <p:spPr>
              <a:xfrm>
                <a:off x="6407150" y="2621756"/>
                <a:ext cx="44450" cy="9525"/>
              </a:xfrm>
              <a:custGeom>
                <a:avLst/>
                <a:gdLst/>
                <a:ahLst/>
                <a:cxnLst/>
                <a:rect l="l" t="t" r="r" b="b"/>
                <a:pathLst>
                  <a:path w="44450" h="9525">
                    <a:moveTo>
                      <a:pt x="0" y="0"/>
                    </a:moveTo>
                    <a:lnTo>
                      <a:pt x="44450" y="0"/>
                    </a:lnTo>
                  </a:path>
                </a:pathLst>
              </a:custGeom>
              <a:noFill/>
              <a:ln w="11112">
                <a:solidFill>
                  <a:srgbClr val="C83210"/>
                </a:solidFill>
              </a:ln>
            </p:spPr>
          </p:sp>
          <p:sp>
            <p:nvSpPr>
              <p:cNvPr id="222" name="Freeform 222"/>
              <p:cNvSpPr/>
              <p:nvPr/>
            </p:nvSpPr>
            <p:spPr>
              <a:xfrm>
                <a:off x="6429375" y="2599531"/>
                <a:ext cx="9525" cy="22225"/>
              </a:xfrm>
              <a:custGeom>
                <a:avLst/>
                <a:gdLst/>
                <a:ahLst/>
                <a:cxnLst/>
                <a:rect l="l" t="t" r="r" b="b"/>
                <a:pathLst>
                  <a:path w="9525" h="22225">
                    <a:moveTo>
                      <a:pt x="0" y="0"/>
                    </a:moveTo>
                    <a:lnTo>
                      <a:pt x="0" y="22225"/>
                    </a:lnTo>
                  </a:path>
                </a:pathLst>
              </a:custGeom>
              <a:noFill/>
              <a:ln w="11112">
                <a:solidFill>
                  <a:srgbClr val="C83210"/>
                </a:solidFill>
              </a:ln>
            </p:spPr>
          </p:sp>
          <p:sp>
            <p:nvSpPr>
              <p:cNvPr id="223" name="Freeform 223"/>
              <p:cNvSpPr/>
              <p:nvPr/>
            </p:nvSpPr>
            <p:spPr>
              <a:xfrm>
                <a:off x="6401594" y="2527300"/>
                <a:ext cx="55562" cy="9525"/>
              </a:xfrm>
              <a:custGeom>
                <a:avLst/>
                <a:gdLst/>
                <a:ahLst/>
                <a:cxnLst/>
                <a:rect l="l" t="t" r="r" b="b"/>
                <a:pathLst>
                  <a:path w="55562" h="9525">
                    <a:moveTo>
                      <a:pt x="0" y="0"/>
                    </a:moveTo>
                    <a:lnTo>
                      <a:pt x="55562" y="0"/>
                    </a:lnTo>
                  </a:path>
                </a:pathLst>
              </a:custGeom>
              <a:noFill/>
              <a:ln w="11112">
                <a:solidFill>
                  <a:srgbClr val="C83210"/>
                </a:solidFill>
              </a:ln>
            </p:spPr>
          </p:sp>
          <p:sp>
            <p:nvSpPr>
              <p:cNvPr id="224" name="Freeform 224"/>
              <p:cNvSpPr/>
              <p:nvPr/>
            </p:nvSpPr>
            <p:spPr>
              <a:xfrm>
                <a:off x="6401594" y="2527300"/>
                <a:ext cx="55562" cy="72231"/>
              </a:xfrm>
              <a:custGeom>
                <a:avLst/>
                <a:gdLst/>
                <a:ahLst/>
                <a:cxnLst/>
                <a:rect l="l" t="t" r="r" b="b"/>
                <a:pathLst>
                  <a:path w="55562" h="72231">
                    <a:moveTo>
                      <a:pt x="55562" y="0"/>
                    </a:moveTo>
                    <a:lnTo>
                      <a:pt x="55562" y="44450"/>
                    </a:lnTo>
                    <a:cubicBezTo>
                      <a:pt x="55562" y="59793"/>
                      <a:pt x="43124" y="72231"/>
                      <a:pt x="27781" y="72231"/>
                    </a:cubicBezTo>
                    <a:cubicBezTo>
                      <a:pt x="12438" y="72231"/>
                      <a:pt x="0" y="59793"/>
                      <a:pt x="0" y="44450"/>
                    </a:cubicBezTo>
                    <a:lnTo>
                      <a:pt x="0" y="0"/>
                    </a:lnTo>
                  </a:path>
                </a:pathLst>
              </a:custGeom>
              <a:noFill/>
              <a:ln w="11112">
                <a:solidFill>
                  <a:srgbClr val="C83210"/>
                </a:solidFill>
              </a:ln>
            </p:spPr>
          </p:sp>
          <p:sp>
            <p:nvSpPr>
              <p:cNvPr id="225" name="Freeform 225"/>
              <p:cNvSpPr/>
              <p:nvPr/>
            </p:nvSpPr>
            <p:spPr>
              <a:xfrm>
                <a:off x="6379369" y="25439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sp>
            <p:nvSpPr>
              <p:cNvPr id="226" name="Freeform 226"/>
              <p:cNvSpPr/>
              <p:nvPr/>
            </p:nvSpPr>
            <p:spPr>
              <a:xfrm>
                <a:off x="6457156" y="25439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C83210"/>
                </a:solidFill>
              </a:ln>
            </p:spPr>
          </p:sp>
        </p:grpSp>
        <p:sp>
          <p:nvSpPr>
            <p:cNvPr id="228" name="TextBox 228"/>
            <p:cNvSpPr txBox="1"/>
            <p:nvPr/>
          </p:nvSpPr>
          <p:spPr>
            <a:xfrm>
              <a:off x="6548247" y="2514124"/>
              <a:ext cx="1801718"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网点排行榜</a:t>
              </a:r>
              <a:r>
                <a:rPr lang="zh-CN" sz="710" b="1" dirty="0">
                  <a:solidFill>
                    <a:srgbClr val="808080"/>
                  </a:solidFill>
                  <a:latin typeface="+mn-lt"/>
                  <a:ea typeface="+mn-ea"/>
                  <a:cs typeface="+mn-cs"/>
                </a:rPr>
                <a:t>（示例：2024年10月）</a:t>
              </a:r>
              <a:r>
                <a:rPr lang="zh-CN" sz="980" b="1" dirty="0">
                  <a:solidFill>
                    <a:srgbClr val="C83210"/>
                  </a:solidFill>
                  <a:latin typeface="+mn-lt"/>
                  <a:ea typeface="+mn-ea"/>
                  <a:cs typeface="+mn-cs"/>
                </a:rPr>
                <a:t xml:space="preserve">　</a:t>
              </a:r>
            </a:p>
          </p:txBody>
        </p:sp>
        <p:sp>
          <p:nvSpPr>
            <p:cNvPr id="229" name="Rectangle 229"/>
            <p:cNvSpPr/>
            <p:nvPr/>
          </p:nvSpPr>
          <p:spPr>
            <a:xfrm>
              <a:off x="6210300" y="2705100"/>
              <a:ext cx="5848350" cy="228600"/>
            </a:xfrm>
            <a:prstGeom prst="rect">
              <a:avLst/>
            </a:prstGeom>
            <a:solidFill>
              <a:srgbClr val="FBE3E6"/>
            </a:solidFill>
            <a:ln>
              <a:noFill/>
            </a:ln>
          </p:spPr>
        </p:sp>
        <p:sp>
          <p:nvSpPr>
            <p:cNvPr id="230" name="TextBox 230"/>
            <p:cNvSpPr txBox="1"/>
            <p:nvPr/>
          </p:nvSpPr>
          <p:spPr>
            <a:xfrm>
              <a:off x="6347981" y="2788682"/>
              <a:ext cx="18183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排名</a:t>
              </a:r>
            </a:p>
          </p:txBody>
        </p:sp>
        <p:sp>
          <p:nvSpPr>
            <p:cNvPr id="231" name="TextBox 231"/>
            <p:cNvSpPr txBox="1"/>
            <p:nvPr/>
          </p:nvSpPr>
          <p:spPr>
            <a:xfrm>
              <a:off x="6966674" y="2788682"/>
              <a:ext cx="35415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网点名称</a:t>
              </a:r>
            </a:p>
          </p:txBody>
        </p:sp>
        <p:sp>
          <p:nvSpPr>
            <p:cNvPr id="232" name="TextBox 232"/>
            <p:cNvSpPr txBox="1"/>
            <p:nvPr/>
          </p:nvSpPr>
          <p:spPr>
            <a:xfrm>
              <a:off x="7780846" y="2788682"/>
              <a:ext cx="44030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净加好友数</a:t>
              </a:r>
            </a:p>
          </p:txBody>
        </p:sp>
        <p:sp>
          <p:nvSpPr>
            <p:cNvPr id="233" name="TextBox 233"/>
            <p:cNvSpPr txBox="1"/>
            <p:nvPr/>
          </p:nvSpPr>
          <p:spPr>
            <a:xfrm>
              <a:off x="8581377" y="2788682"/>
              <a:ext cx="267995"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认证率</a:t>
              </a:r>
            </a:p>
          </p:txBody>
        </p:sp>
        <p:sp>
          <p:nvSpPr>
            <p:cNvPr id="234" name="TextBox 234"/>
            <p:cNvSpPr txBox="1"/>
            <p:nvPr/>
          </p:nvSpPr>
          <p:spPr>
            <a:xfrm>
              <a:off x="9214142" y="2788682"/>
              <a:ext cx="526466"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有意义互动率</a:t>
              </a:r>
            </a:p>
          </p:txBody>
        </p:sp>
        <p:sp>
          <p:nvSpPr>
            <p:cNvPr id="235" name="TextBox 235"/>
            <p:cNvSpPr txBox="1"/>
            <p:nvPr/>
          </p:nvSpPr>
          <p:spPr>
            <a:xfrm>
              <a:off x="10066846" y="2788682"/>
              <a:ext cx="44030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产品转化率</a:t>
              </a:r>
            </a:p>
          </p:txBody>
        </p:sp>
        <p:sp>
          <p:nvSpPr>
            <p:cNvPr id="236" name="TextBox 236"/>
            <p:cNvSpPr txBox="1"/>
            <p:nvPr/>
          </p:nvSpPr>
          <p:spPr>
            <a:xfrm>
              <a:off x="10828846" y="2788682"/>
              <a:ext cx="440309"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客户留存率</a:t>
              </a:r>
            </a:p>
          </p:txBody>
        </p:sp>
        <p:sp>
          <p:nvSpPr>
            <p:cNvPr id="237" name="TextBox 237"/>
            <p:cNvSpPr txBox="1"/>
            <p:nvPr/>
          </p:nvSpPr>
          <p:spPr>
            <a:xfrm>
              <a:off x="11567249" y="2788682"/>
              <a:ext cx="354152"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综合得分</a:t>
              </a:r>
            </a:p>
          </p:txBody>
        </p:sp>
        <p:sp>
          <p:nvSpPr>
            <p:cNvPr id="238" name="Rectangle 238"/>
            <p:cNvSpPr/>
            <p:nvPr/>
          </p:nvSpPr>
          <p:spPr>
            <a:xfrm>
              <a:off x="6210300" y="2933700"/>
              <a:ext cx="5848350" cy="342900"/>
            </a:xfrm>
            <a:prstGeom prst="rect">
              <a:avLst/>
            </a:prstGeom>
            <a:solidFill>
              <a:srgbClr val="C83210"/>
            </a:solidFill>
            <a:ln>
              <a:noFill/>
            </a:ln>
          </p:spPr>
        </p:sp>
        <p:sp>
          <p:nvSpPr>
            <p:cNvPr id="239" name="Rectangle 239"/>
            <p:cNvSpPr/>
            <p:nvPr/>
          </p:nvSpPr>
          <p:spPr>
            <a:xfrm>
              <a:off x="6210300" y="3276600"/>
              <a:ext cx="5848350" cy="342900"/>
            </a:xfrm>
            <a:prstGeom prst="rect">
              <a:avLst/>
            </a:prstGeom>
            <a:solidFill>
              <a:srgbClr val="D64F30"/>
            </a:solidFill>
            <a:ln>
              <a:noFill/>
            </a:ln>
          </p:spPr>
        </p:sp>
        <p:sp>
          <p:nvSpPr>
            <p:cNvPr id="240" name="Rectangle 240"/>
            <p:cNvSpPr/>
            <p:nvPr/>
          </p:nvSpPr>
          <p:spPr>
            <a:xfrm>
              <a:off x="6210300" y="3619500"/>
              <a:ext cx="5848350" cy="342900"/>
            </a:xfrm>
            <a:prstGeom prst="rect">
              <a:avLst/>
            </a:prstGeom>
            <a:solidFill>
              <a:srgbClr val="E9826B"/>
            </a:solidFill>
            <a:ln>
              <a:noFill/>
            </a:ln>
          </p:spPr>
        </p:sp>
        <p:sp>
          <p:nvSpPr>
            <p:cNvPr id="241" name="Rectangle 241"/>
            <p:cNvSpPr/>
            <p:nvPr/>
          </p:nvSpPr>
          <p:spPr>
            <a:xfrm>
              <a:off x="6210300" y="3962400"/>
              <a:ext cx="5848350" cy="342900"/>
            </a:xfrm>
            <a:prstGeom prst="rect">
              <a:avLst/>
            </a:prstGeom>
            <a:solidFill>
              <a:srgbClr val="FDEFF1"/>
            </a:solidFill>
            <a:ln>
              <a:noFill/>
            </a:ln>
          </p:spPr>
        </p:sp>
        <p:sp>
          <p:nvSpPr>
            <p:cNvPr id="242" name="Rectangle 242"/>
            <p:cNvSpPr/>
            <p:nvPr/>
          </p:nvSpPr>
          <p:spPr>
            <a:xfrm>
              <a:off x="6210300" y="4305300"/>
              <a:ext cx="5848350" cy="342900"/>
            </a:xfrm>
            <a:prstGeom prst="rect">
              <a:avLst/>
            </a:prstGeom>
            <a:solidFill>
              <a:srgbClr val="FBE3E6"/>
            </a:solidFill>
            <a:ln>
              <a:noFill/>
            </a:ln>
          </p:spPr>
        </p:sp>
        <p:sp>
          <p:nvSpPr>
            <p:cNvPr id="243" name="Ellipse 243"/>
            <p:cNvSpPr/>
            <p:nvPr/>
          </p:nvSpPr>
          <p:spPr>
            <a:xfrm>
              <a:off x="6353175" y="3019425"/>
              <a:ext cx="171450" cy="171450"/>
            </a:xfrm>
            <a:prstGeom prst="ellipse">
              <a:avLst/>
            </a:prstGeom>
            <a:solidFill>
              <a:srgbClr val="E83617"/>
            </a:solidFill>
            <a:ln>
              <a:noFill/>
            </a:ln>
          </p:spPr>
        </p:sp>
        <p:sp>
          <p:nvSpPr>
            <p:cNvPr id="244" name="TextBox 244"/>
            <p:cNvSpPr txBox="1"/>
            <p:nvPr/>
          </p:nvSpPr>
          <p:spPr>
            <a:xfrm>
              <a:off x="6408680" y="3070384"/>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1</a:t>
              </a:r>
            </a:p>
          </p:txBody>
        </p:sp>
        <p:sp>
          <p:nvSpPr>
            <p:cNvPr id="245" name="TextBox 245"/>
            <p:cNvSpPr txBox="1"/>
            <p:nvPr/>
          </p:nvSpPr>
          <p:spPr>
            <a:xfrm>
              <a:off x="6947827" y="30663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朝阳支行</a:t>
              </a:r>
            </a:p>
          </p:txBody>
        </p:sp>
        <p:sp>
          <p:nvSpPr>
            <p:cNvPr id="246" name="TextBox 246"/>
            <p:cNvSpPr txBox="1"/>
            <p:nvPr/>
          </p:nvSpPr>
          <p:spPr>
            <a:xfrm>
              <a:off x="7919864" y="3070384"/>
              <a:ext cx="16227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520</a:t>
              </a:r>
            </a:p>
          </p:txBody>
        </p:sp>
        <p:sp>
          <p:nvSpPr>
            <p:cNvPr id="247" name="TextBox 247"/>
            <p:cNvSpPr txBox="1"/>
            <p:nvPr/>
          </p:nvSpPr>
          <p:spPr>
            <a:xfrm>
              <a:off x="8618998" y="30703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92%</a:t>
              </a:r>
            </a:p>
          </p:txBody>
        </p:sp>
        <p:sp>
          <p:nvSpPr>
            <p:cNvPr id="248" name="TextBox 248"/>
            <p:cNvSpPr txBox="1"/>
            <p:nvPr/>
          </p:nvSpPr>
          <p:spPr>
            <a:xfrm>
              <a:off x="9380998" y="30703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36%</a:t>
              </a:r>
            </a:p>
          </p:txBody>
        </p:sp>
        <p:sp>
          <p:nvSpPr>
            <p:cNvPr id="249" name="TextBox 249"/>
            <p:cNvSpPr txBox="1"/>
            <p:nvPr/>
          </p:nvSpPr>
          <p:spPr>
            <a:xfrm>
              <a:off x="10190623" y="30703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28%</a:t>
              </a:r>
            </a:p>
          </p:txBody>
        </p:sp>
        <p:sp>
          <p:nvSpPr>
            <p:cNvPr id="250" name="TextBox 250"/>
            <p:cNvSpPr txBox="1"/>
            <p:nvPr/>
          </p:nvSpPr>
          <p:spPr>
            <a:xfrm>
              <a:off x="10952623" y="30703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94%</a:t>
              </a:r>
            </a:p>
          </p:txBody>
        </p:sp>
        <p:sp>
          <p:nvSpPr>
            <p:cNvPr id="251" name="TextBox 251"/>
            <p:cNvSpPr txBox="1"/>
            <p:nvPr/>
          </p:nvSpPr>
          <p:spPr>
            <a:xfrm>
              <a:off x="11632133" y="3063716"/>
              <a:ext cx="22438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Arial"/>
                  <a:ea typeface="Arial"/>
                  <a:cs typeface="Arial"/>
                </a:rPr>
                <a:t>92.5</a:t>
              </a:r>
            </a:p>
          </p:txBody>
        </p:sp>
        <p:sp>
          <p:nvSpPr>
            <p:cNvPr id="252" name="Ellipse 252"/>
            <p:cNvSpPr/>
            <p:nvPr/>
          </p:nvSpPr>
          <p:spPr>
            <a:xfrm>
              <a:off x="6353175" y="3362325"/>
              <a:ext cx="171450" cy="171450"/>
            </a:xfrm>
            <a:prstGeom prst="ellipse">
              <a:avLst/>
            </a:prstGeom>
            <a:solidFill>
              <a:srgbClr val="A8A8A8"/>
            </a:solidFill>
            <a:ln>
              <a:noFill/>
            </a:ln>
          </p:spPr>
        </p:sp>
        <p:sp>
          <p:nvSpPr>
            <p:cNvPr id="253" name="TextBox 253"/>
            <p:cNvSpPr txBox="1"/>
            <p:nvPr/>
          </p:nvSpPr>
          <p:spPr>
            <a:xfrm>
              <a:off x="6408680" y="3413284"/>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2</a:t>
              </a:r>
            </a:p>
          </p:txBody>
        </p:sp>
        <p:sp>
          <p:nvSpPr>
            <p:cNvPr id="254" name="TextBox 254"/>
            <p:cNvSpPr txBox="1"/>
            <p:nvPr/>
          </p:nvSpPr>
          <p:spPr>
            <a:xfrm>
              <a:off x="6947827" y="34092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滨江支行</a:t>
              </a:r>
            </a:p>
          </p:txBody>
        </p:sp>
        <p:sp>
          <p:nvSpPr>
            <p:cNvPr id="255" name="TextBox 255"/>
            <p:cNvSpPr txBox="1"/>
            <p:nvPr/>
          </p:nvSpPr>
          <p:spPr>
            <a:xfrm>
              <a:off x="7919864" y="3413284"/>
              <a:ext cx="16227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460</a:t>
              </a:r>
            </a:p>
          </p:txBody>
        </p:sp>
        <p:sp>
          <p:nvSpPr>
            <p:cNvPr id="256" name="TextBox 256"/>
            <p:cNvSpPr txBox="1"/>
            <p:nvPr/>
          </p:nvSpPr>
          <p:spPr>
            <a:xfrm>
              <a:off x="8618998" y="34132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88%</a:t>
              </a:r>
            </a:p>
          </p:txBody>
        </p:sp>
        <p:sp>
          <p:nvSpPr>
            <p:cNvPr id="257" name="TextBox 257"/>
            <p:cNvSpPr txBox="1"/>
            <p:nvPr/>
          </p:nvSpPr>
          <p:spPr>
            <a:xfrm>
              <a:off x="9380998" y="34132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33%</a:t>
              </a:r>
            </a:p>
          </p:txBody>
        </p:sp>
        <p:sp>
          <p:nvSpPr>
            <p:cNvPr id="258" name="TextBox 258"/>
            <p:cNvSpPr txBox="1"/>
            <p:nvPr/>
          </p:nvSpPr>
          <p:spPr>
            <a:xfrm>
              <a:off x="10190623" y="34132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25%</a:t>
              </a:r>
            </a:p>
          </p:txBody>
        </p:sp>
        <p:sp>
          <p:nvSpPr>
            <p:cNvPr id="259" name="TextBox 259"/>
            <p:cNvSpPr txBox="1"/>
            <p:nvPr/>
          </p:nvSpPr>
          <p:spPr>
            <a:xfrm>
              <a:off x="10952623" y="34132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92%</a:t>
              </a:r>
            </a:p>
          </p:txBody>
        </p:sp>
        <p:sp>
          <p:nvSpPr>
            <p:cNvPr id="260" name="TextBox 260"/>
            <p:cNvSpPr txBox="1"/>
            <p:nvPr/>
          </p:nvSpPr>
          <p:spPr>
            <a:xfrm>
              <a:off x="11632133" y="3406616"/>
              <a:ext cx="22438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Arial"/>
                  <a:ea typeface="Arial"/>
                  <a:cs typeface="Arial"/>
                </a:rPr>
                <a:t>88.1</a:t>
              </a:r>
            </a:p>
          </p:txBody>
        </p:sp>
        <p:sp>
          <p:nvSpPr>
            <p:cNvPr id="261" name="Ellipse 261"/>
            <p:cNvSpPr/>
            <p:nvPr/>
          </p:nvSpPr>
          <p:spPr>
            <a:xfrm>
              <a:off x="6353175" y="3705225"/>
              <a:ext cx="171450" cy="171450"/>
            </a:xfrm>
            <a:prstGeom prst="ellipse">
              <a:avLst/>
            </a:prstGeom>
            <a:solidFill>
              <a:srgbClr val="B84733"/>
            </a:solidFill>
            <a:ln>
              <a:noFill/>
            </a:ln>
          </p:spPr>
        </p:sp>
        <p:sp>
          <p:nvSpPr>
            <p:cNvPr id="262" name="TextBox 262"/>
            <p:cNvSpPr txBox="1"/>
            <p:nvPr/>
          </p:nvSpPr>
          <p:spPr>
            <a:xfrm>
              <a:off x="6408680" y="3756184"/>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3</a:t>
              </a:r>
            </a:p>
          </p:txBody>
        </p:sp>
        <p:sp>
          <p:nvSpPr>
            <p:cNvPr id="263" name="TextBox 263"/>
            <p:cNvSpPr txBox="1"/>
            <p:nvPr/>
          </p:nvSpPr>
          <p:spPr>
            <a:xfrm>
              <a:off x="6900037" y="3752136"/>
              <a:ext cx="48742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人民路支行</a:t>
              </a:r>
            </a:p>
          </p:txBody>
        </p:sp>
        <p:sp>
          <p:nvSpPr>
            <p:cNvPr id="264" name="TextBox 264"/>
            <p:cNvSpPr txBox="1"/>
            <p:nvPr/>
          </p:nvSpPr>
          <p:spPr>
            <a:xfrm>
              <a:off x="7919864" y="3756184"/>
              <a:ext cx="16227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380</a:t>
              </a:r>
            </a:p>
          </p:txBody>
        </p:sp>
        <p:sp>
          <p:nvSpPr>
            <p:cNvPr id="265" name="TextBox 265"/>
            <p:cNvSpPr txBox="1"/>
            <p:nvPr/>
          </p:nvSpPr>
          <p:spPr>
            <a:xfrm>
              <a:off x="8618998" y="37561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86%</a:t>
              </a:r>
            </a:p>
          </p:txBody>
        </p:sp>
        <p:sp>
          <p:nvSpPr>
            <p:cNvPr id="266" name="TextBox 266"/>
            <p:cNvSpPr txBox="1"/>
            <p:nvPr/>
          </p:nvSpPr>
          <p:spPr>
            <a:xfrm>
              <a:off x="9380998" y="37561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31%</a:t>
              </a:r>
            </a:p>
          </p:txBody>
        </p:sp>
        <p:sp>
          <p:nvSpPr>
            <p:cNvPr id="267" name="TextBox 267"/>
            <p:cNvSpPr txBox="1"/>
            <p:nvPr/>
          </p:nvSpPr>
          <p:spPr>
            <a:xfrm>
              <a:off x="10190623" y="37561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22%</a:t>
              </a:r>
            </a:p>
          </p:txBody>
        </p:sp>
        <p:sp>
          <p:nvSpPr>
            <p:cNvPr id="268" name="TextBox 268"/>
            <p:cNvSpPr txBox="1"/>
            <p:nvPr/>
          </p:nvSpPr>
          <p:spPr>
            <a:xfrm>
              <a:off x="10952623" y="3756184"/>
              <a:ext cx="19275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Arial"/>
                  <a:ea typeface="Arial"/>
                  <a:cs typeface="Arial"/>
                </a:rPr>
                <a:t>90%</a:t>
              </a:r>
            </a:p>
          </p:txBody>
        </p:sp>
        <p:sp>
          <p:nvSpPr>
            <p:cNvPr id="269" name="TextBox 269"/>
            <p:cNvSpPr txBox="1"/>
            <p:nvPr/>
          </p:nvSpPr>
          <p:spPr>
            <a:xfrm>
              <a:off x="11632133" y="3749516"/>
              <a:ext cx="22438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Arial"/>
                  <a:ea typeface="Arial"/>
                  <a:cs typeface="Arial"/>
                </a:rPr>
                <a:t>81.4</a:t>
              </a:r>
            </a:p>
          </p:txBody>
        </p:sp>
        <p:sp>
          <p:nvSpPr>
            <p:cNvPr id="270" name="TextBox 270"/>
            <p:cNvSpPr txBox="1"/>
            <p:nvPr/>
          </p:nvSpPr>
          <p:spPr>
            <a:xfrm>
              <a:off x="6407557" y="4095036"/>
              <a:ext cx="62687"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Arial"/>
                  <a:ea typeface="Arial"/>
                  <a:cs typeface="Arial"/>
                </a:rPr>
                <a:t>4</a:t>
              </a:r>
            </a:p>
          </p:txBody>
        </p:sp>
        <p:sp>
          <p:nvSpPr>
            <p:cNvPr id="271" name="TextBox 271"/>
            <p:cNvSpPr txBox="1"/>
            <p:nvPr/>
          </p:nvSpPr>
          <p:spPr>
            <a:xfrm>
              <a:off x="6947827" y="4095036"/>
              <a:ext cx="391846"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高新支行</a:t>
              </a:r>
            </a:p>
          </p:txBody>
        </p:sp>
        <p:sp>
          <p:nvSpPr>
            <p:cNvPr id="272" name="TextBox 272"/>
            <p:cNvSpPr txBox="1"/>
            <p:nvPr/>
          </p:nvSpPr>
          <p:spPr>
            <a:xfrm>
              <a:off x="7919864" y="4099084"/>
              <a:ext cx="162271"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290</a:t>
              </a:r>
            </a:p>
          </p:txBody>
        </p:sp>
        <p:sp>
          <p:nvSpPr>
            <p:cNvPr id="273" name="TextBox 273"/>
            <p:cNvSpPr txBox="1"/>
            <p:nvPr/>
          </p:nvSpPr>
          <p:spPr>
            <a:xfrm>
              <a:off x="8618998" y="4099084"/>
              <a:ext cx="19275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83%</a:t>
              </a:r>
            </a:p>
          </p:txBody>
        </p:sp>
        <p:sp>
          <p:nvSpPr>
            <p:cNvPr id="274" name="TextBox 274"/>
            <p:cNvSpPr txBox="1"/>
            <p:nvPr/>
          </p:nvSpPr>
          <p:spPr>
            <a:xfrm>
              <a:off x="9380998" y="4099084"/>
              <a:ext cx="19275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28%</a:t>
              </a:r>
            </a:p>
          </p:txBody>
        </p:sp>
        <p:sp>
          <p:nvSpPr>
            <p:cNvPr id="275" name="TextBox 275"/>
            <p:cNvSpPr txBox="1"/>
            <p:nvPr/>
          </p:nvSpPr>
          <p:spPr>
            <a:xfrm>
              <a:off x="10190623" y="4099084"/>
              <a:ext cx="19275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18%</a:t>
              </a:r>
            </a:p>
          </p:txBody>
        </p:sp>
        <p:sp>
          <p:nvSpPr>
            <p:cNvPr id="276" name="TextBox 276"/>
            <p:cNvSpPr txBox="1"/>
            <p:nvPr/>
          </p:nvSpPr>
          <p:spPr>
            <a:xfrm>
              <a:off x="10952623" y="4099084"/>
              <a:ext cx="19275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89%</a:t>
              </a:r>
            </a:p>
          </p:txBody>
        </p:sp>
        <p:sp>
          <p:nvSpPr>
            <p:cNvPr id="277" name="TextBox 277"/>
            <p:cNvSpPr txBox="1"/>
            <p:nvPr/>
          </p:nvSpPr>
          <p:spPr>
            <a:xfrm>
              <a:off x="11632133" y="4092416"/>
              <a:ext cx="224385"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Arial"/>
                  <a:cs typeface="Arial"/>
                </a:rPr>
                <a:t>76.2</a:t>
              </a:r>
            </a:p>
          </p:txBody>
        </p:sp>
        <p:sp>
          <p:nvSpPr>
            <p:cNvPr id="278" name="TextBox 278"/>
            <p:cNvSpPr txBox="1"/>
            <p:nvPr/>
          </p:nvSpPr>
          <p:spPr>
            <a:xfrm>
              <a:off x="6407557" y="4437936"/>
              <a:ext cx="62687"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Arial"/>
                  <a:ea typeface="Arial"/>
                  <a:cs typeface="Arial"/>
                </a:rPr>
                <a:t>5</a:t>
              </a:r>
            </a:p>
          </p:txBody>
        </p:sp>
        <p:sp>
          <p:nvSpPr>
            <p:cNvPr id="279" name="TextBox 279"/>
            <p:cNvSpPr txBox="1"/>
            <p:nvPr/>
          </p:nvSpPr>
          <p:spPr>
            <a:xfrm>
              <a:off x="6947827" y="4437936"/>
              <a:ext cx="391846"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城西支行</a:t>
              </a:r>
            </a:p>
          </p:txBody>
        </p:sp>
        <p:sp>
          <p:nvSpPr>
            <p:cNvPr id="280" name="TextBox 280"/>
            <p:cNvSpPr txBox="1"/>
            <p:nvPr/>
          </p:nvSpPr>
          <p:spPr>
            <a:xfrm>
              <a:off x="7919864" y="4441984"/>
              <a:ext cx="162271"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260</a:t>
              </a:r>
            </a:p>
          </p:txBody>
        </p:sp>
        <p:sp>
          <p:nvSpPr>
            <p:cNvPr id="281" name="TextBox 281"/>
            <p:cNvSpPr txBox="1"/>
            <p:nvPr/>
          </p:nvSpPr>
          <p:spPr>
            <a:xfrm>
              <a:off x="8618998" y="4441984"/>
              <a:ext cx="19275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80%</a:t>
              </a:r>
            </a:p>
          </p:txBody>
        </p:sp>
        <p:sp>
          <p:nvSpPr>
            <p:cNvPr id="282" name="TextBox 282"/>
            <p:cNvSpPr txBox="1"/>
            <p:nvPr/>
          </p:nvSpPr>
          <p:spPr>
            <a:xfrm>
              <a:off x="9380998" y="4441984"/>
              <a:ext cx="19275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24%</a:t>
              </a:r>
            </a:p>
          </p:txBody>
        </p:sp>
        <p:sp>
          <p:nvSpPr>
            <p:cNvPr id="283" name="TextBox 283"/>
            <p:cNvSpPr txBox="1"/>
            <p:nvPr/>
          </p:nvSpPr>
          <p:spPr>
            <a:xfrm>
              <a:off x="10190623" y="4441984"/>
              <a:ext cx="19275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15%</a:t>
              </a:r>
            </a:p>
          </p:txBody>
        </p:sp>
        <p:sp>
          <p:nvSpPr>
            <p:cNvPr id="284" name="TextBox 284"/>
            <p:cNvSpPr txBox="1"/>
            <p:nvPr/>
          </p:nvSpPr>
          <p:spPr>
            <a:xfrm>
              <a:off x="10952623" y="4441984"/>
              <a:ext cx="192755" cy="133350"/>
            </a:xfrm>
            <a:prstGeom prst="rect">
              <a:avLst/>
            </a:prstGeom>
            <a:noFill/>
            <a:ln>
              <a:noFill/>
            </a:ln>
          </p:spPr>
          <p:txBody>
            <a:bodyPr wrap="none" lIns="0" tIns="0" rIns="0" bIns="0" anchor="t" anchorCtr="0">
              <a:spAutoFit/>
            </a:bodyPr>
            <a:lstStyle/>
            <a:p>
              <a:pPr algn="ctr"/>
              <a:r>
                <a:rPr lang="zh-CN" sz="680" dirty="0">
                  <a:solidFill>
                    <a:srgbClr val="3D3D3D"/>
                  </a:solidFill>
                  <a:latin typeface="Arial"/>
                  <a:ea typeface="Arial"/>
                  <a:cs typeface="Arial"/>
                </a:rPr>
                <a:t>87%</a:t>
              </a:r>
            </a:p>
          </p:txBody>
        </p:sp>
        <p:sp>
          <p:nvSpPr>
            <p:cNvPr id="285" name="TextBox 285"/>
            <p:cNvSpPr txBox="1"/>
            <p:nvPr/>
          </p:nvSpPr>
          <p:spPr>
            <a:xfrm>
              <a:off x="11632133" y="4435316"/>
              <a:ext cx="224385"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Arial"/>
                  <a:ea typeface="Arial"/>
                  <a:cs typeface="Arial"/>
                </a:rPr>
                <a:t>69.8</a:t>
              </a:r>
            </a:p>
          </p:txBody>
        </p:sp>
        <p:sp>
          <p:nvSpPr>
            <p:cNvPr id="286" name="Line 286"/>
            <p:cNvSpPr/>
            <p:nvPr/>
          </p:nvSpPr>
          <p:spPr>
            <a:xfrm>
              <a:off x="11430000" y="2705100"/>
              <a:ext cx="9525" cy="1943100"/>
            </a:xfrm>
            <a:custGeom>
              <a:avLst/>
              <a:gdLst/>
              <a:ahLst/>
              <a:cxnLst/>
              <a:rect l="l" t="t" r="r" b="b"/>
              <a:pathLst>
                <a:path w="9525" h="1943100">
                  <a:moveTo>
                    <a:pt x="0" y="0"/>
                  </a:moveTo>
                  <a:lnTo>
                    <a:pt x="0" y="1943100"/>
                  </a:lnTo>
                </a:path>
              </a:pathLst>
            </a:custGeom>
            <a:noFill/>
            <a:ln w="9525">
              <a:solidFill>
                <a:srgbClr val="FFFFFF">
                  <a:alpha val="50000"/>
                </a:srgbClr>
              </a:solidFill>
            </a:ln>
          </p:spPr>
        </p:sp>
      </p:grpSp>
      <p:grpSp>
        <p:nvGrpSpPr>
          <p:cNvPr id="332" name="anti-fraud"/>
          <p:cNvGrpSpPr/>
          <p:nvPr/>
        </p:nvGrpSpPr>
        <p:grpSpPr>
          <a:xfrm>
            <a:off x="133350" y="4724400"/>
            <a:ext cx="11925300" cy="1200150"/>
            <a:chOff x="133350" y="4724400"/>
            <a:chExt cx="11925300" cy="1200150"/>
          </a:xfrm>
        </p:grpSpPr>
        <p:sp>
          <p:nvSpPr>
            <p:cNvPr id="288" name="Rectangle 288"/>
            <p:cNvSpPr/>
            <p:nvPr/>
          </p:nvSpPr>
          <p:spPr>
            <a:xfrm>
              <a:off x="133350" y="4724400"/>
              <a:ext cx="11925300" cy="1200150"/>
            </a:xfrm>
            <a:prstGeom prst="roundRect">
              <a:avLst>
                <a:gd name="adj" fmla="val 4762"/>
              </a:avLst>
            </a:prstGeom>
            <a:solidFill>
              <a:srgbClr val="FDEFF1"/>
            </a:solidFill>
            <a:ln>
              <a:noFill/>
            </a:ln>
          </p:spPr>
        </p:sp>
        <p:grpSp>
          <p:nvGrpSpPr>
            <p:cNvPr id="291" name="Group 291"/>
            <p:cNvGrpSpPr/>
            <p:nvPr/>
          </p:nvGrpSpPr>
          <p:grpSpPr>
            <a:xfrm>
              <a:off x="241700" y="4843462"/>
              <a:ext cx="155005" cy="142875"/>
              <a:chOff x="241700" y="4843462"/>
              <a:chExt cx="155005" cy="142875"/>
            </a:xfrm>
          </p:grpSpPr>
          <p:sp>
            <p:nvSpPr>
              <p:cNvPr id="289" name="Freeform 289"/>
              <p:cNvSpPr/>
              <p:nvPr/>
            </p:nvSpPr>
            <p:spPr>
              <a:xfrm>
                <a:off x="241700" y="484346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C83210"/>
                </a:solidFill>
              </a:ln>
            </p:spPr>
          </p:sp>
          <p:sp>
            <p:nvSpPr>
              <p:cNvPr id="290" name="Freeform 290"/>
              <p:cNvSpPr/>
              <p:nvPr/>
            </p:nvSpPr>
            <p:spPr>
              <a:xfrm>
                <a:off x="347662" y="4954587"/>
                <a:ext cx="47625" cy="31750"/>
              </a:xfrm>
              <a:custGeom>
                <a:avLst/>
                <a:gdLst/>
                <a:ahLst/>
                <a:cxnLst/>
                <a:rect l="l" t="t" r="r" b="b"/>
                <a:pathLst>
                  <a:path w="47625" h="31750">
                    <a:moveTo>
                      <a:pt x="0" y="15875"/>
                    </a:moveTo>
                    <a:lnTo>
                      <a:pt x="15875" y="31750"/>
                    </a:lnTo>
                    <a:lnTo>
                      <a:pt x="47625" y="0"/>
                    </a:lnTo>
                  </a:path>
                </a:pathLst>
              </a:custGeom>
              <a:noFill/>
              <a:ln w="15875">
                <a:solidFill>
                  <a:srgbClr val="C83210"/>
                </a:solidFill>
              </a:ln>
            </p:spPr>
          </p:sp>
        </p:grpSp>
        <p:sp>
          <p:nvSpPr>
            <p:cNvPr id="292" name="TextBox 292"/>
            <p:cNvSpPr txBox="1"/>
            <p:nvPr/>
          </p:nvSpPr>
          <p:spPr>
            <a:xfrm>
              <a:off x="490347" y="4857274"/>
              <a:ext cx="119725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防刷量与反作弊规则</a:t>
              </a:r>
            </a:p>
          </p:txBody>
        </p:sp>
        <p:grpSp>
          <p:nvGrpSpPr>
            <p:cNvPr id="295" name="Group 295"/>
            <p:cNvGrpSpPr/>
            <p:nvPr/>
          </p:nvGrpSpPr>
          <p:grpSpPr>
            <a:xfrm>
              <a:off x="254794" y="5207794"/>
              <a:ext cx="157163" cy="157163"/>
              <a:chOff x="254794" y="5207794"/>
              <a:chExt cx="157163" cy="157163"/>
            </a:xfrm>
          </p:grpSpPr>
          <p:sp>
            <p:nvSpPr>
              <p:cNvPr id="293" name="Freeform 293"/>
              <p:cNvSpPr/>
              <p:nvPr/>
            </p:nvSpPr>
            <p:spPr>
              <a:xfrm>
                <a:off x="254794" y="520779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C83210"/>
                </a:solidFill>
              </a:ln>
            </p:spPr>
          </p:sp>
          <p:sp>
            <p:nvSpPr>
              <p:cNvPr id="294" name="Freeform 294"/>
              <p:cNvSpPr/>
              <p:nvPr/>
            </p:nvSpPr>
            <p:spPr>
              <a:xfrm>
                <a:off x="359569" y="5312569"/>
                <a:ext cx="52388" cy="52388"/>
              </a:xfrm>
              <a:custGeom>
                <a:avLst/>
                <a:gdLst/>
                <a:ahLst/>
                <a:cxnLst/>
                <a:rect l="l" t="t" r="r" b="b"/>
                <a:pathLst>
                  <a:path w="52388" h="52388">
                    <a:moveTo>
                      <a:pt x="52388" y="52388"/>
                    </a:moveTo>
                    <a:lnTo>
                      <a:pt x="0" y="0"/>
                    </a:lnTo>
                  </a:path>
                </a:pathLst>
              </a:custGeom>
              <a:noFill/>
              <a:ln w="17463">
                <a:solidFill>
                  <a:srgbClr val="C83210"/>
                </a:solidFill>
              </a:ln>
            </p:spPr>
          </p:sp>
        </p:grpSp>
        <p:sp>
          <p:nvSpPr>
            <p:cNvPr id="296" name="TextBox 296"/>
            <p:cNvSpPr txBox="1"/>
            <p:nvPr/>
          </p:nvSpPr>
          <p:spPr>
            <a:xfrm>
              <a:off x="509588" y="5253038"/>
              <a:ext cx="864699"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 xml:space="preserve">1. 异常数据识别　</a:t>
              </a:r>
            </a:p>
          </p:txBody>
        </p:sp>
        <p:sp>
          <p:nvSpPr>
            <p:cNvPr id="297" name="TextBox 297"/>
            <p:cNvSpPr txBox="1"/>
            <p:nvPr/>
          </p:nvSpPr>
          <p:spPr>
            <a:xfrm>
              <a:off x="223838" y="5515261"/>
              <a:ext cx="1011098"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对短期内好友数异常增长、</a:t>
              </a:r>
            </a:p>
          </p:txBody>
        </p:sp>
        <p:sp>
          <p:nvSpPr>
            <p:cNvPr id="298" name="TextBox 298"/>
            <p:cNvSpPr txBox="1"/>
            <p:nvPr/>
          </p:nvSpPr>
          <p:spPr>
            <a:xfrm>
              <a:off x="223838" y="5667661"/>
              <a:ext cx="1344955"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批量添加等行为进行系统识别与预警</a:t>
              </a:r>
            </a:p>
          </p:txBody>
        </p:sp>
        <p:grpSp>
          <p:nvGrpSpPr>
            <p:cNvPr id="303" name="Group 303"/>
            <p:cNvGrpSpPr/>
            <p:nvPr/>
          </p:nvGrpSpPr>
          <p:grpSpPr>
            <a:xfrm>
              <a:off x="2662238" y="5207794"/>
              <a:ext cx="139699" cy="165893"/>
              <a:chOff x="2662238" y="5207794"/>
              <a:chExt cx="139699" cy="165893"/>
            </a:xfrm>
          </p:grpSpPr>
          <p:sp>
            <p:nvSpPr>
              <p:cNvPr id="299" name="Freeform 299"/>
              <p:cNvSpPr/>
              <p:nvPr/>
            </p:nvSpPr>
            <p:spPr>
              <a:xfrm>
                <a:off x="2679700" y="52077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C83210"/>
                </a:solidFill>
              </a:ln>
            </p:spPr>
          </p:sp>
          <p:sp>
            <p:nvSpPr>
              <p:cNvPr id="300" name="Freeform 300"/>
              <p:cNvSpPr/>
              <p:nvPr/>
            </p:nvSpPr>
            <p:spPr>
              <a:xfrm>
                <a:off x="2662238" y="5312569"/>
                <a:ext cx="65484" cy="52388"/>
              </a:xfrm>
              <a:custGeom>
                <a:avLst/>
                <a:gdLst/>
                <a:ahLst/>
                <a:cxnLst/>
                <a:rect l="l" t="t" r="r" b="b"/>
                <a:pathLst>
                  <a:path w="65484" h="52388">
                    <a:moveTo>
                      <a:pt x="0" y="52388"/>
                    </a:moveTo>
                    <a:lnTo>
                      <a:pt x="0" y="34925"/>
                    </a:lnTo>
                    <a:cubicBezTo>
                      <a:pt x="0" y="15636"/>
                      <a:pt x="15636" y="0"/>
                      <a:pt x="34925" y="0"/>
                    </a:cubicBezTo>
                    <a:lnTo>
                      <a:pt x="65484" y="0"/>
                    </a:lnTo>
                  </a:path>
                </a:pathLst>
              </a:custGeom>
              <a:noFill/>
              <a:ln w="17463">
                <a:solidFill>
                  <a:srgbClr val="C83210"/>
                </a:solidFill>
              </a:ln>
            </p:spPr>
          </p:sp>
          <p:sp>
            <p:nvSpPr>
              <p:cNvPr id="301" name="Freeform 301"/>
              <p:cNvSpPr/>
              <p:nvPr/>
            </p:nvSpPr>
            <p:spPr>
              <a:xfrm>
                <a:off x="2758281" y="5330031"/>
                <a:ext cx="43656" cy="43656"/>
              </a:xfrm>
              <a:custGeom>
                <a:avLst/>
                <a:gdLst/>
                <a:ahLst/>
                <a:cxnLst/>
                <a:rect l="l" t="t" r="r" b="b"/>
                <a:pathLst>
                  <a:path w="43656" h="43656">
                    <a:moveTo>
                      <a:pt x="43656" y="43656"/>
                    </a:moveTo>
                    <a:lnTo>
                      <a:pt x="0" y="0"/>
                    </a:lnTo>
                  </a:path>
                </a:pathLst>
              </a:custGeom>
              <a:noFill/>
              <a:ln w="17463">
                <a:solidFill>
                  <a:srgbClr val="C83210"/>
                </a:solidFill>
              </a:ln>
            </p:spPr>
          </p:sp>
          <p:sp>
            <p:nvSpPr>
              <p:cNvPr id="302" name="Freeform 302"/>
              <p:cNvSpPr/>
              <p:nvPr/>
            </p:nvSpPr>
            <p:spPr>
              <a:xfrm>
                <a:off x="2758281" y="5330031"/>
                <a:ext cx="43656" cy="43656"/>
              </a:xfrm>
              <a:custGeom>
                <a:avLst/>
                <a:gdLst/>
                <a:ahLst/>
                <a:cxnLst/>
                <a:rect l="l" t="t" r="r" b="b"/>
                <a:pathLst>
                  <a:path w="43656" h="43656">
                    <a:moveTo>
                      <a:pt x="0" y="43656"/>
                    </a:moveTo>
                    <a:lnTo>
                      <a:pt x="43656" y="0"/>
                    </a:lnTo>
                  </a:path>
                </a:pathLst>
              </a:custGeom>
              <a:noFill/>
              <a:ln w="17463">
                <a:solidFill>
                  <a:srgbClr val="C83210"/>
                </a:solidFill>
              </a:ln>
            </p:spPr>
          </p:sp>
        </p:grpSp>
        <p:sp>
          <p:nvSpPr>
            <p:cNvPr id="304" name="TextBox 304"/>
            <p:cNvSpPr txBox="1"/>
            <p:nvPr/>
          </p:nvSpPr>
          <p:spPr>
            <a:xfrm>
              <a:off x="2890838" y="5253038"/>
              <a:ext cx="864699"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 xml:space="preserve">2. 剔除无效客户　</a:t>
              </a:r>
            </a:p>
          </p:txBody>
        </p:sp>
        <p:sp>
          <p:nvSpPr>
            <p:cNvPr id="305" name="TextBox 305"/>
            <p:cNvSpPr txBox="1"/>
            <p:nvPr/>
          </p:nvSpPr>
          <p:spPr>
            <a:xfrm>
              <a:off x="2605088" y="5515261"/>
              <a:ext cx="1011098"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删除明显的营销号、同业、</a:t>
              </a:r>
            </a:p>
          </p:txBody>
        </p:sp>
        <p:sp>
          <p:nvSpPr>
            <p:cNvPr id="306" name="TextBox 306"/>
            <p:cNvSpPr txBox="1"/>
            <p:nvPr/>
          </p:nvSpPr>
          <p:spPr>
            <a:xfrm>
              <a:off x="2605088" y="5667661"/>
              <a:ext cx="1261491"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员工好友及长期无互动的无效客户</a:t>
              </a:r>
            </a:p>
          </p:txBody>
        </p:sp>
        <p:grpSp>
          <p:nvGrpSpPr>
            <p:cNvPr id="310" name="Group 310"/>
            <p:cNvGrpSpPr/>
            <p:nvPr/>
          </p:nvGrpSpPr>
          <p:grpSpPr>
            <a:xfrm>
              <a:off x="5044281" y="5207794"/>
              <a:ext cx="122238" cy="157163"/>
              <a:chOff x="5044281" y="5207794"/>
              <a:chExt cx="122238" cy="157163"/>
            </a:xfrm>
          </p:grpSpPr>
          <p:sp>
            <p:nvSpPr>
              <p:cNvPr id="307" name="Freeform 307"/>
              <p:cNvSpPr/>
              <p:nvPr/>
            </p:nvSpPr>
            <p:spPr>
              <a:xfrm>
                <a:off x="5122863" y="520779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C83210"/>
                </a:solidFill>
              </a:ln>
            </p:spPr>
          </p:sp>
          <p:sp>
            <p:nvSpPr>
              <p:cNvPr id="308" name="Freeform 308"/>
              <p:cNvSpPr/>
              <p:nvPr/>
            </p:nvSpPr>
            <p:spPr>
              <a:xfrm>
                <a:off x="5044281" y="520779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C83210"/>
                </a:solidFill>
              </a:ln>
            </p:spPr>
          </p:sp>
          <p:sp>
            <p:nvSpPr>
              <p:cNvPr id="309" name="Freeform 309"/>
              <p:cNvSpPr/>
              <p:nvPr/>
            </p:nvSpPr>
            <p:spPr>
              <a:xfrm>
                <a:off x="5079206" y="5295106"/>
                <a:ext cx="52388" cy="34925"/>
              </a:xfrm>
              <a:custGeom>
                <a:avLst/>
                <a:gdLst/>
                <a:ahLst/>
                <a:cxnLst/>
                <a:rect l="l" t="t" r="r" b="b"/>
                <a:pathLst>
                  <a:path w="52388" h="34925">
                    <a:moveTo>
                      <a:pt x="0" y="17463"/>
                    </a:moveTo>
                    <a:lnTo>
                      <a:pt x="17463" y="34925"/>
                    </a:lnTo>
                    <a:lnTo>
                      <a:pt x="52388" y="0"/>
                    </a:lnTo>
                  </a:path>
                </a:pathLst>
              </a:custGeom>
              <a:noFill/>
              <a:ln w="17463">
                <a:solidFill>
                  <a:srgbClr val="C83210"/>
                </a:solidFill>
              </a:ln>
            </p:spPr>
          </p:sp>
        </p:grpSp>
        <p:sp>
          <p:nvSpPr>
            <p:cNvPr id="311" name="TextBox 311"/>
            <p:cNvSpPr txBox="1"/>
            <p:nvPr/>
          </p:nvSpPr>
          <p:spPr>
            <a:xfrm>
              <a:off x="5281612" y="5253038"/>
              <a:ext cx="864699"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 xml:space="preserve">3. 互动内容校验　</a:t>
              </a:r>
            </a:p>
          </p:txBody>
        </p:sp>
        <p:sp>
          <p:nvSpPr>
            <p:cNvPr id="312" name="TextBox 312"/>
            <p:cNvSpPr txBox="1"/>
            <p:nvPr/>
          </p:nvSpPr>
          <p:spPr>
            <a:xfrm>
              <a:off x="4995862" y="5515261"/>
              <a:ext cx="1094562"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对低质、重复、纯广告类内容</a:t>
              </a:r>
            </a:p>
          </p:txBody>
        </p:sp>
        <p:sp>
          <p:nvSpPr>
            <p:cNvPr id="313" name="TextBox 313"/>
            <p:cNvSpPr txBox="1"/>
            <p:nvPr/>
          </p:nvSpPr>
          <p:spPr>
            <a:xfrm>
              <a:off x="4995862" y="5667661"/>
              <a:ext cx="1094562"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不计入有效互动与内容执行量</a:t>
              </a:r>
            </a:p>
          </p:txBody>
        </p:sp>
        <p:grpSp>
          <p:nvGrpSpPr>
            <p:cNvPr id="317" name="Group 317"/>
            <p:cNvGrpSpPr/>
            <p:nvPr/>
          </p:nvGrpSpPr>
          <p:grpSpPr>
            <a:xfrm>
              <a:off x="7408069" y="5207794"/>
              <a:ext cx="157163" cy="157163"/>
              <a:chOff x="7408069" y="5207794"/>
              <a:chExt cx="157163" cy="157163"/>
            </a:xfrm>
          </p:grpSpPr>
          <p:sp>
            <p:nvSpPr>
              <p:cNvPr id="314" name="Freeform 314"/>
              <p:cNvSpPr/>
              <p:nvPr/>
            </p:nvSpPr>
            <p:spPr>
              <a:xfrm>
                <a:off x="7408069" y="520779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C83210"/>
                </a:solidFill>
              </a:ln>
            </p:spPr>
          </p:sp>
          <p:sp>
            <p:nvSpPr>
              <p:cNvPr id="315" name="Freeform 315"/>
              <p:cNvSpPr/>
              <p:nvPr/>
            </p:nvSpPr>
            <p:spPr>
              <a:xfrm>
                <a:off x="7512844" y="5312569"/>
                <a:ext cx="52388" cy="52388"/>
              </a:xfrm>
              <a:custGeom>
                <a:avLst/>
                <a:gdLst/>
                <a:ahLst/>
                <a:cxnLst/>
                <a:rect l="l" t="t" r="r" b="b"/>
                <a:pathLst>
                  <a:path w="52388" h="52388">
                    <a:moveTo>
                      <a:pt x="52388" y="52388"/>
                    </a:moveTo>
                    <a:lnTo>
                      <a:pt x="0" y="0"/>
                    </a:lnTo>
                  </a:path>
                </a:pathLst>
              </a:custGeom>
              <a:noFill/>
              <a:ln w="17463">
                <a:solidFill>
                  <a:srgbClr val="C83210"/>
                </a:solidFill>
              </a:ln>
            </p:spPr>
          </p:sp>
          <p:sp>
            <p:nvSpPr>
              <p:cNvPr id="316" name="Freeform 316"/>
              <p:cNvSpPr/>
              <p:nvPr/>
            </p:nvSpPr>
            <p:spPr>
              <a:xfrm>
                <a:off x="7442994" y="5251450"/>
                <a:ext cx="52388" cy="34925"/>
              </a:xfrm>
              <a:custGeom>
                <a:avLst/>
                <a:gdLst/>
                <a:ahLst/>
                <a:cxnLst/>
                <a:rect l="l" t="t" r="r" b="b"/>
                <a:pathLst>
                  <a:path w="52388" h="34925">
                    <a:moveTo>
                      <a:pt x="0" y="17463"/>
                    </a:moveTo>
                    <a:lnTo>
                      <a:pt x="17463" y="34925"/>
                    </a:lnTo>
                    <a:lnTo>
                      <a:pt x="52388" y="0"/>
                    </a:lnTo>
                  </a:path>
                </a:pathLst>
              </a:custGeom>
              <a:noFill/>
              <a:ln w="17463">
                <a:solidFill>
                  <a:srgbClr val="C83210"/>
                </a:solidFill>
              </a:ln>
            </p:spPr>
          </p:sp>
        </p:grpSp>
        <p:sp>
          <p:nvSpPr>
            <p:cNvPr id="318" name="TextBox 318"/>
            <p:cNvSpPr txBox="1"/>
            <p:nvPr/>
          </p:nvSpPr>
          <p:spPr>
            <a:xfrm>
              <a:off x="7662862" y="5253038"/>
              <a:ext cx="965664"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 xml:space="preserve">4. 业务真实性核查　</a:t>
              </a:r>
            </a:p>
          </p:txBody>
        </p:sp>
        <p:sp>
          <p:nvSpPr>
            <p:cNvPr id="319" name="TextBox 319"/>
            <p:cNvSpPr txBox="1"/>
            <p:nvPr/>
          </p:nvSpPr>
          <p:spPr>
            <a:xfrm>
              <a:off x="7377112" y="5515261"/>
              <a:ext cx="1011098"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预约线索与成交需可追溯，</a:t>
              </a:r>
            </a:p>
          </p:txBody>
        </p:sp>
        <p:sp>
          <p:nvSpPr>
            <p:cNvPr id="320" name="TextBox 320"/>
            <p:cNvSpPr txBox="1"/>
            <p:nvPr/>
          </p:nvSpPr>
          <p:spPr>
            <a:xfrm>
              <a:off x="7377112" y="5667661"/>
              <a:ext cx="1261491"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定期抽检，发现造假即清零并追责</a:t>
              </a:r>
            </a:p>
          </p:txBody>
        </p:sp>
        <p:grpSp>
          <p:nvGrpSpPr>
            <p:cNvPr id="324" name="Group 324"/>
            <p:cNvGrpSpPr/>
            <p:nvPr/>
          </p:nvGrpSpPr>
          <p:grpSpPr>
            <a:xfrm>
              <a:off x="9789369" y="5204893"/>
              <a:ext cx="176105" cy="151297"/>
              <a:chOff x="9789369" y="5204893"/>
              <a:chExt cx="176105" cy="151297"/>
            </a:xfrm>
          </p:grpSpPr>
          <p:sp>
            <p:nvSpPr>
              <p:cNvPr id="321" name="Freeform 321"/>
              <p:cNvSpPr/>
              <p:nvPr/>
            </p:nvSpPr>
            <p:spPr>
              <a:xfrm>
                <a:off x="9877425" y="5260181"/>
                <a:ext cx="9525" cy="34925"/>
              </a:xfrm>
              <a:custGeom>
                <a:avLst/>
                <a:gdLst/>
                <a:ahLst/>
                <a:cxnLst/>
                <a:rect l="l" t="t" r="r" b="b"/>
                <a:pathLst>
                  <a:path w="9525" h="34925">
                    <a:moveTo>
                      <a:pt x="0" y="0"/>
                    </a:moveTo>
                    <a:lnTo>
                      <a:pt x="0" y="34925"/>
                    </a:lnTo>
                  </a:path>
                </a:pathLst>
              </a:custGeom>
              <a:noFill/>
              <a:ln w="17463">
                <a:solidFill>
                  <a:srgbClr val="C83210"/>
                </a:solidFill>
              </a:ln>
            </p:spPr>
          </p:sp>
          <p:sp>
            <p:nvSpPr>
              <p:cNvPr id="322" name="Freeform 322"/>
              <p:cNvSpPr/>
              <p:nvPr/>
            </p:nvSpPr>
            <p:spPr>
              <a:xfrm>
                <a:off x="9789369" y="52048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83210"/>
                </a:solidFill>
              </a:ln>
            </p:spPr>
          </p:sp>
          <p:sp>
            <p:nvSpPr>
              <p:cNvPr id="323" name="Freeform 323"/>
              <p:cNvSpPr/>
              <p:nvPr/>
            </p:nvSpPr>
            <p:spPr>
              <a:xfrm>
                <a:off x="9877425" y="5321300"/>
                <a:ext cx="9525" cy="9525"/>
              </a:xfrm>
              <a:custGeom>
                <a:avLst/>
                <a:gdLst/>
                <a:ahLst/>
                <a:cxnLst/>
                <a:rect l="l" t="t" r="r" b="b"/>
                <a:pathLst>
                  <a:path w="9525" h="9525">
                    <a:moveTo>
                      <a:pt x="0" y="0"/>
                    </a:moveTo>
                    <a:lnTo>
                      <a:pt x="87" y="0"/>
                    </a:lnTo>
                  </a:path>
                </a:pathLst>
              </a:custGeom>
              <a:noFill/>
              <a:ln w="17463">
                <a:solidFill>
                  <a:srgbClr val="C83210"/>
                </a:solidFill>
              </a:ln>
            </p:spPr>
          </p:sp>
        </p:grpSp>
        <p:sp>
          <p:nvSpPr>
            <p:cNvPr id="325" name="TextBox 325"/>
            <p:cNvSpPr txBox="1"/>
            <p:nvPr/>
          </p:nvSpPr>
          <p:spPr>
            <a:xfrm>
              <a:off x="10053638" y="5253038"/>
              <a:ext cx="1066629" cy="147638"/>
            </a:xfrm>
            <a:prstGeom prst="rect">
              <a:avLst/>
            </a:prstGeom>
            <a:noFill/>
            <a:ln>
              <a:noFill/>
            </a:ln>
          </p:spPr>
          <p:txBody>
            <a:bodyPr wrap="none" lIns="0" tIns="0" rIns="0" bIns="0" anchor="t" anchorCtr="0">
              <a:spAutoFit/>
            </a:bodyPr>
            <a:lstStyle/>
            <a:p>
              <a:pPr algn="l"/>
              <a:r>
                <a:rPr lang="zh-CN" sz="750" b="1" dirty="0">
                  <a:solidFill>
                    <a:srgbClr val="C83210"/>
                  </a:solidFill>
                  <a:latin typeface="+mn-lt"/>
                  <a:ea typeface="+mn-ea"/>
                  <a:cs typeface="+mn-cs"/>
                </a:rPr>
                <a:t xml:space="preserve">5. 客户投诉一票否决　</a:t>
              </a:r>
            </a:p>
          </p:txBody>
        </p:sp>
        <p:sp>
          <p:nvSpPr>
            <p:cNvPr id="326" name="TextBox 326"/>
            <p:cNvSpPr txBox="1"/>
            <p:nvPr/>
          </p:nvSpPr>
          <p:spPr>
            <a:xfrm>
              <a:off x="9767888" y="5515261"/>
              <a:ext cx="1094562"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如因不当营销引发客户投诉，</a:t>
              </a:r>
            </a:p>
          </p:txBody>
        </p:sp>
        <p:sp>
          <p:nvSpPr>
            <p:cNvPr id="327" name="TextBox 327"/>
            <p:cNvSpPr txBox="1"/>
            <p:nvPr/>
          </p:nvSpPr>
          <p:spPr>
            <a:xfrm>
              <a:off x="9767888" y="5667661"/>
              <a:ext cx="1474325"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 xml:space="preserve">该月相关指标记0分并视情节予以通报　</a:t>
              </a:r>
            </a:p>
          </p:txBody>
        </p:sp>
        <p:sp>
          <p:nvSpPr>
            <p:cNvPr id="328" name="Line 328"/>
            <p:cNvSpPr/>
            <p:nvPr/>
          </p:nvSpPr>
          <p:spPr>
            <a:xfrm>
              <a:off x="2514600" y="5143500"/>
              <a:ext cx="9525" cy="685800"/>
            </a:xfrm>
            <a:custGeom>
              <a:avLst/>
              <a:gdLst/>
              <a:ahLst/>
              <a:cxnLst/>
              <a:rect l="l" t="t" r="r" b="b"/>
              <a:pathLst>
                <a:path w="9525" h="685800">
                  <a:moveTo>
                    <a:pt x="0" y="0"/>
                  </a:moveTo>
                  <a:lnTo>
                    <a:pt x="0" y="685800"/>
                  </a:lnTo>
                </a:path>
              </a:pathLst>
            </a:custGeom>
            <a:noFill/>
            <a:ln w="9525">
              <a:solidFill>
                <a:srgbClr val="F1C7CC"/>
              </a:solidFill>
            </a:ln>
          </p:spPr>
        </p:sp>
        <p:sp>
          <p:nvSpPr>
            <p:cNvPr id="329" name="Line 329"/>
            <p:cNvSpPr/>
            <p:nvPr/>
          </p:nvSpPr>
          <p:spPr>
            <a:xfrm>
              <a:off x="4905375" y="5143500"/>
              <a:ext cx="9525" cy="685800"/>
            </a:xfrm>
            <a:custGeom>
              <a:avLst/>
              <a:gdLst/>
              <a:ahLst/>
              <a:cxnLst/>
              <a:rect l="l" t="t" r="r" b="b"/>
              <a:pathLst>
                <a:path w="9525" h="685800">
                  <a:moveTo>
                    <a:pt x="0" y="0"/>
                  </a:moveTo>
                  <a:lnTo>
                    <a:pt x="0" y="685800"/>
                  </a:lnTo>
                </a:path>
              </a:pathLst>
            </a:custGeom>
            <a:noFill/>
            <a:ln w="9525">
              <a:solidFill>
                <a:srgbClr val="F1C7CC"/>
              </a:solidFill>
            </a:ln>
          </p:spPr>
        </p:sp>
        <p:sp>
          <p:nvSpPr>
            <p:cNvPr id="330" name="Line 330"/>
            <p:cNvSpPr/>
            <p:nvPr/>
          </p:nvSpPr>
          <p:spPr>
            <a:xfrm>
              <a:off x="7286625" y="5143500"/>
              <a:ext cx="9525" cy="685800"/>
            </a:xfrm>
            <a:custGeom>
              <a:avLst/>
              <a:gdLst/>
              <a:ahLst/>
              <a:cxnLst/>
              <a:rect l="l" t="t" r="r" b="b"/>
              <a:pathLst>
                <a:path w="9525" h="685800">
                  <a:moveTo>
                    <a:pt x="0" y="0"/>
                  </a:moveTo>
                  <a:lnTo>
                    <a:pt x="0" y="685800"/>
                  </a:lnTo>
                </a:path>
              </a:pathLst>
            </a:custGeom>
            <a:noFill/>
            <a:ln w="9525">
              <a:solidFill>
                <a:srgbClr val="F1C7CC"/>
              </a:solidFill>
            </a:ln>
          </p:spPr>
        </p:sp>
        <p:sp>
          <p:nvSpPr>
            <p:cNvPr id="331" name="Line 331"/>
            <p:cNvSpPr/>
            <p:nvPr/>
          </p:nvSpPr>
          <p:spPr>
            <a:xfrm>
              <a:off x="9677400" y="5143500"/>
              <a:ext cx="9525" cy="685800"/>
            </a:xfrm>
            <a:custGeom>
              <a:avLst/>
              <a:gdLst/>
              <a:ahLst/>
              <a:cxnLst/>
              <a:rect l="l" t="t" r="r" b="b"/>
              <a:pathLst>
                <a:path w="9525" h="685800">
                  <a:moveTo>
                    <a:pt x="0" y="0"/>
                  </a:moveTo>
                  <a:lnTo>
                    <a:pt x="0" y="685800"/>
                  </a:lnTo>
                </a:path>
              </a:pathLst>
            </a:custGeom>
            <a:noFill/>
            <a:ln w="9525">
              <a:solidFill>
                <a:srgbClr val="F1C7CC"/>
              </a:solidFill>
            </a:ln>
          </p:spPr>
        </p:sp>
      </p:gr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16</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合规管理</a:t>
              </a:r>
              <a:r>
                <a:rPr lang="zh-CN" sz="1950" b="1" dirty="0">
                  <a:solidFill>
                    <a:srgbClr val="222222"/>
                  </a:solidFill>
                  <a:latin typeface="SimSun"/>
                  <a:ea typeface="SimSun"/>
                  <a:cs typeface="SimSun"/>
                </a:rPr>
                <a:t>｜企微营销需要建立内容、适当性和信息保护三道防线</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22" name="defense-1"/>
          <p:cNvGrpSpPr/>
          <p:nvPr/>
        </p:nvGrpSpPr>
        <p:grpSpPr>
          <a:xfrm>
            <a:off x="133350" y="628650"/>
            <a:ext cx="3905250" cy="1047750"/>
            <a:chOff x="133350" y="628650"/>
            <a:chExt cx="3905250" cy="1047750"/>
          </a:xfrm>
        </p:grpSpPr>
        <p:sp>
          <p:nvSpPr>
            <p:cNvPr id="7" name="Rectangle 7"/>
            <p:cNvSpPr/>
            <p:nvPr/>
          </p:nvSpPr>
          <p:spPr>
            <a:xfrm>
              <a:off x="133350" y="628650"/>
              <a:ext cx="3905250" cy="1047750"/>
            </a:xfrm>
            <a:prstGeom prst="roundRect">
              <a:avLst>
                <a:gd name="adj" fmla="val 5455"/>
              </a:avLst>
            </a:prstGeom>
            <a:solidFill>
              <a:srgbClr val="FDEFF1"/>
            </a:solidFill>
            <a:ln>
              <a:noFill/>
            </a:ln>
          </p:spPr>
        </p:sp>
        <p:sp>
          <p:nvSpPr>
            <p:cNvPr id="8" name="Rectangle 8"/>
            <p:cNvSpPr/>
            <p:nvPr/>
          </p:nvSpPr>
          <p:spPr>
            <a:xfrm>
              <a:off x="133350" y="628650"/>
              <a:ext cx="3905250" cy="381000"/>
            </a:xfrm>
            <a:prstGeom prst="roundRect">
              <a:avLst>
                <a:gd name="adj" fmla="val 15000"/>
              </a:avLst>
            </a:prstGeom>
            <a:solidFill>
              <a:srgbClr val="FBE3E6"/>
            </a:solidFill>
            <a:ln>
              <a:noFill/>
            </a:ln>
          </p:spPr>
        </p:sp>
        <p:sp>
          <p:nvSpPr>
            <p:cNvPr id="9" name="Rectangle 9"/>
            <p:cNvSpPr/>
            <p:nvPr/>
          </p:nvSpPr>
          <p:spPr>
            <a:xfrm>
              <a:off x="133350" y="628650"/>
              <a:ext cx="419100" cy="381000"/>
            </a:xfrm>
            <a:prstGeom prst="roundRect">
              <a:avLst>
                <a:gd name="adj" fmla="val 15000"/>
              </a:avLst>
            </a:prstGeom>
            <a:solidFill>
              <a:srgbClr val="C83210"/>
            </a:solidFill>
            <a:ln>
              <a:noFill/>
            </a:ln>
          </p:spPr>
        </p:sp>
        <p:sp>
          <p:nvSpPr>
            <p:cNvPr id="10" name="TextBox 10"/>
            <p:cNvSpPr txBox="1"/>
            <p:nvPr/>
          </p:nvSpPr>
          <p:spPr>
            <a:xfrm>
              <a:off x="272746" y="726758"/>
              <a:ext cx="140309"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Arial"/>
                  <a:ea typeface="Arial"/>
                  <a:cs typeface="Arial"/>
                </a:rPr>
                <a:t>1</a:t>
              </a:r>
            </a:p>
          </p:txBody>
        </p:sp>
        <p:sp>
          <p:nvSpPr>
            <p:cNvPr id="11" name="TextBox 11"/>
            <p:cNvSpPr txBox="1"/>
            <p:nvPr/>
          </p:nvSpPr>
          <p:spPr>
            <a:xfrm>
              <a:off x="642938" y="779145"/>
              <a:ext cx="736473"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内容合规防线</a:t>
              </a:r>
            </a:p>
          </p:txBody>
        </p:sp>
        <p:sp>
          <p:nvSpPr>
            <p:cNvPr id="12" name="TextBox 12"/>
            <p:cNvSpPr txBox="1"/>
            <p:nvPr/>
          </p:nvSpPr>
          <p:spPr>
            <a:xfrm>
              <a:off x="1862138" y="739378"/>
              <a:ext cx="537235"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把好内容出口关</a:t>
              </a:r>
            </a:p>
          </p:txBody>
        </p:sp>
        <p:sp>
          <p:nvSpPr>
            <p:cNvPr id="13" name="TextBox 13"/>
            <p:cNvSpPr txBox="1"/>
            <p:nvPr/>
          </p:nvSpPr>
          <p:spPr>
            <a:xfrm>
              <a:off x="1862138" y="863203"/>
              <a:ext cx="763397"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确保真实、准确、审慎</a:t>
              </a:r>
            </a:p>
          </p:txBody>
        </p:sp>
        <p:grpSp>
          <p:nvGrpSpPr>
            <p:cNvPr id="19" name="Group 19"/>
            <p:cNvGrpSpPr/>
            <p:nvPr/>
          </p:nvGrpSpPr>
          <p:grpSpPr>
            <a:xfrm>
              <a:off x="318294" y="1193006"/>
              <a:ext cx="144462" cy="185737"/>
              <a:chOff x="318294" y="1193006"/>
              <a:chExt cx="144462" cy="185737"/>
            </a:xfrm>
          </p:grpSpPr>
          <p:sp>
            <p:nvSpPr>
              <p:cNvPr id="14" name="Freeform 14"/>
              <p:cNvSpPr/>
              <p:nvPr/>
            </p:nvSpPr>
            <p:spPr>
              <a:xfrm>
                <a:off x="411162" y="119300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C83210"/>
                </a:solidFill>
              </a:ln>
            </p:spPr>
          </p:sp>
          <p:sp>
            <p:nvSpPr>
              <p:cNvPr id="15" name="Freeform 15"/>
              <p:cNvSpPr/>
              <p:nvPr/>
            </p:nvSpPr>
            <p:spPr>
              <a:xfrm>
                <a:off x="318294" y="1193006"/>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C83210"/>
                </a:solidFill>
              </a:ln>
            </p:spPr>
          </p:sp>
          <p:sp>
            <p:nvSpPr>
              <p:cNvPr id="16" name="Freeform 16"/>
              <p:cNvSpPr/>
              <p:nvPr/>
            </p:nvSpPr>
            <p:spPr>
              <a:xfrm>
                <a:off x="359568" y="1254918"/>
                <a:ext cx="10319" cy="9525"/>
              </a:xfrm>
              <a:custGeom>
                <a:avLst/>
                <a:gdLst/>
                <a:ahLst/>
                <a:cxnLst/>
                <a:rect l="l" t="t" r="r" b="b"/>
                <a:pathLst>
                  <a:path w="10319" h="9525">
                    <a:moveTo>
                      <a:pt x="0" y="0"/>
                    </a:moveTo>
                    <a:lnTo>
                      <a:pt x="10319" y="0"/>
                    </a:lnTo>
                  </a:path>
                </a:pathLst>
              </a:custGeom>
              <a:noFill/>
              <a:ln w="20637">
                <a:solidFill>
                  <a:srgbClr val="C83210"/>
                </a:solidFill>
              </a:ln>
            </p:spPr>
          </p:sp>
          <p:sp>
            <p:nvSpPr>
              <p:cNvPr id="17" name="Freeform 17"/>
              <p:cNvSpPr/>
              <p:nvPr/>
            </p:nvSpPr>
            <p:spPr>
              <a:xfrm>
                <a:off x="359568" y="1296193"/>
                <a:ext cx="61912" cy="9525"/>
              </a:xfrm>
              <a:custGeom>
                <a:avLst/>
                <a:gdLst/>
                <a:ahLst/>
                <a:cxnLst/>
                <a:rect l="l" t="t" r="r" b="b"/>
                <a:pathLst>
                  <a:path w="61912" h="9525">
                    <a:moveTo>
                      <a:pt x="0" y="0"/>
                    </a:moveTo>
                    <a:lnTo>
                      <a:pt x="61912" y="0"/>
                    </a:lnTo>
                  </a:path>
                </a:pathLst>
              </a:custGeom>
              <a:noFill/>
              <a:ln w="20637">
                <a:solidFill>
                  <a:srgbClr val="C83210"/>
                </a:solidFill>
              </a:ln>
            </p:spPr>
          </p:sp>
          <p:sp>
            <p:nvSpPr>
              <p:cNvPr id="18" name="Freeform 18"/>
              <p:cNvSpPr/>
              <p:nvPr/>
            </p:nvSpPr>
            <p:spPr>
              <a:xfrm>
                <a:off x="359568" y="1337468"/>
                <a:ext cx="61912" cy="9525"/>
              </a:xfrm>
              <a:custGeom>
                <a:avLst/>
                <a:gdLst/>
                <a:ahLst/>
                <a:cxnLst/>
                <a:rect l="l" t="t" r="r" b="b"/>
                <a:pathLst>
                  <a:path w="61912" h="9525">
                    <a:moveTo>
                      <a:pt x="0" y="0"/>
                    </a:moveTo>
                    <a:lnTo>
                      <a:pt x="61912" y="0"/>
                    </a:lnTo>
                  </a:path>
                </a:pathLst>
              </a:custGeom>
              <a:noFill/>
              <a:ln w="20637">
                <a:solidFill>
                  <a:srgbClr val="C83210"/>
                </a:solidFill>
              </a:ln>
            </p:spPr>
          </p:sp>
        </p:grpSp>
        <p:sp>
          <p:nvSpPr>
            <p:cNvPr id="20" name="TextBox 20"/>
            <p:cNvSpPr txBox="1"/>
            <p:nvPr/>
          </p:nvSpPr>
          <p:spPr>
            <a:xfrm>
              <a:off x="623888" y="1207532"/>
              <a:ext cx="1129563"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所有对外发布的企微营销内容</a:t>
              </a:r>
            </a:p>
          </p:txBody>
        </p:sp>
        <p:sp>
          <p:nvSpPr>
            <p:cNvPr id="21" name="TextBox 21"/>
            <p:cNvSpPr txBox="1"/>
            <p:nvPr/>
          </p:nvSpPr>
          <p:spPr>
            <a:xfrm>
              <a:off x="623888" y="1359932"/>
              <a:ext cx="1904975"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必须经过合规审核，符合监管要求和银行内部规范</a:t>
              </a:r>
            </a:p>
          </p:txBody>
        </p:sp>
      </p:grpSp>
      <p:grpSp>
        <p:nvGrpSpPr>
          <p:cNvPr id="39" name="defense-2"/>
          <p:cNvGrpSpPr/>
          <p:nvPr/>
        </p:nvGrpSpPr>
        <p:grpSpPr>
          <a:xfrm>
            <a:off x="4143375" y="628650"/>
            <a:ext cx="3905250" cy="1047750"/>
            <a:chOff x="4143375" y="628650"/>
            <a:chExt cx="3905250" cy="1047750"/>
          </a:xfrm>
        </p:grpSpPr>
        <p:sp>
          <p:nvSpPr>
            <p:cNvPr id="23" name="Rectangle 23"/>
            <p:cNvSpPr/>
            <p:nvPr/>
          </p:nvSpPr>
          <p:spPr>
            <a:xfrm>
              <a:off x="4143375" y="628650"/>
              <a:ext cx="3905250" cy="1047750"/>
            </a:xfrm>
            <a:prstGeom prst="roundRect">
              <a:avLst>
                <a:gd name="adj" fmla="val 5455"/>
              </a:avLst>
            </a:prstGeom>
            <a:solidFill>
              <a:srgbClr val="FDEFF1"/>
            </a:solidFill>
            <a:ln>
              <a:noFill/>
            </a:ln>
          </p:spPr>
        </p:sp>
        <p:sp>
          <p:nvSpPr>
            <p:cNvPr id="24" name="Rectangle 24"/>
            <p:cNvSpPr/>
            <p:nvPr/>
          </p:nvSpPr>
          <p:spPr>
            <a:xfrm>
              <a:off x="4143375" y="628650"/>
              <a:ext cx="3905250" cy="381000"/>
            </a:xfrm>
            <a:prstGeom prst="roundRect">
              <a:avLst>
                <a:gd name="adj" fmla="val 15000"/>
              </a:avLst>
            </a:prstGeom>
            <a:solidFill>
              <a:srgbClr val="FBE3E6"/>
            </a:solidFill>
            <a:ln>
              <a:noFill/>
            </a:ln>
          </p:spPr>
        </p:sp>
        <p:sp>
          <p:nvSpPr>
            <p:cNvPr id="25" name="Rectangle 25"/>
            <p:cNvSpPr/>
            <p:nvPr/>
          </p:nvSpPr>
          <p:spPr>
            <a:xfrm>
              <a:off x="4143375" y="628650"/>
              <a:ext cx="419100" cy="381000"/>
            </a:xfrm>
            <a:prstGeom prst="roundRect">
              <a:avLst>
                <a:gd name="adj" fmla="val 15000"/>
              </a:avLst>
            </a:prstGeom>
            <a:solidFill>
              <a:srgbClr val="C83210"/>
            </a:solidFill>
            <a:ln>
              <a:noFill/>
            </a:ln>
          </p:spPr>
        </p:sp>
        <p:sp>
          <p:nvSpPr>
            <p:cNvPr id="26" name="TextBox 26"/>
            <p:cNvSpPr txBox="1"/>
            <p:nvPr/>
          </p:nvSpPr>
          <p:spPr>
            <a:xfrm>
              <a:off x="4282771" y="726758"/>
              <a:ext cx="140309"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Arial"/>
                  <a:ea typeface="Arial"/>
                  <a:cs typeface="Arial"/>
                </a:rPr>
                <a:t>2</a:t>
              </a:r>
            </a:p>
          </p:txBody>
        </p:sp>
        <p:sp>
          <p:nvSpPr>
            <p:cNvPr id="27" name="TextBox 27"/>
            <p:cNvSpPr txBox="1"/>
            <p:nvPr/>
          </p:nvSpPr>
          <p:spPr>
            <a:xfrm>
              <a:off x="4652962" y="779145"/>
              <a:ext cx="1342263"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适当性与消费者保护防线</a:t>
              </a:r>
            </a:p>
          </p:txBody>
        </p:sp>
        <p:sp>
          <p:nvSpPr>
            <p:cNvPr id="28" name="TextBox 28"/>
            <p:cNvSpPr txBox="1"/>
            <p:nvPr/>
          </p:nvSpPr>
          <p:spPr>
            <a:xfrm>
              <a:off x="6224588" y="739378"/>
              <a:ext cx="537235"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把好客户匹配关</a:t>
              </a:r>
            </a:p>
          </p:txBody>
        </p:sp>
        <p:sp>
          <p:nvSpPr>
            <p:cNvPr id="29" name="TextBox 29"/>
            <p:cNvSpPr txBox="1"/>
            <p:nvPr/>
          </p:nvSpPr>
          <p:spPr>
            <a:xfrm>
              <a:off x="6224588" y="863203"/>
              <a:ext cx="989559"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确保合适的产品给合适的客户</a:t>
              </a:r>
            </a:p>
          </p:txBody>
        </p:sp>
        <p:grpSp>
          <p:nvGrpSpPr>
            <p:cNvPr id="36" name="Group 36"/>
            <p:cNvGrpSpPr/>
            <p:nvPr/>
          </p:nvGrpSpPr>
          <p:grpSpPr>
            <a:xfrm>
              <a:off x="4307681" y="1193006"/>
              <a:ext cx="185737" cy="185737"/>
              <a:chOff x="4307681" y="1193006"/>
              <a:chExt cx="185737" cy="185737"/>
            </a:xfrm>
          </p:grpSpPr>
          <p:sp>
            <p:nvSpPr>
              <p:cNvPr id="30" name="Freeform 30"/>
              <p:cNvSpPr/>
              <p:nvPr/>
            </p:nvSpPr>
            <p:spPr>
              <a:xfrm>
                <a:off x="4379912" y="12755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83210"/>
                </a:solidFill>
              </a:ln>
            </p:spPr>
          </p:sp>
          <p:sp>
            <p:nvSpPr>
              <p:cNvPr id="31" name="Freeform 31"/>
              <p:cNvSpPr/>
              <p:nvPr/>
            </p:nvSpPr>
            <p:spPr>
              <a:xfrm>
                <a:off x="4359275" y="134778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C83210"/>
                </a:solidFill>
              </a:ln>
            </p:spPr>
          </p:sp>
          <p:sp>
            <p:nvSpPr>
              <p:cNvPr id="32" name="Freeform 32"/>
              <p:cNvSpPr/>
              <p:nvPr/>
            </p:nvSpPr>
            <p:spPr>
              <a:xfrm>
                <a:off x="4431506" y="11930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83210"/>
                </a:solidFill>
              </a:ln>
            </p:spPr>
          </p:sp>
          <p:sp>
            <p:nvSpPr>
              <p:cNvPr id="33" name="Freeform 33"/>
              <p:cNvSpPr/>
              <p:nvPr/>
            </p:nvSpPr>
            <p:spPr>
              <a:xfrm>
                <a:off x="4452143" y="126523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C83210"/>
                </a:solidFill>
              </a:ln>
            </p:spPr>
          </p:sp>
          <p:sp>
            <p:nvSpPr>
              <p:cNvPr id="34" name="Freeform 34"/>
              <p:cNvSpPr/>
              <p:nvPr/>
            </p:nvSpPr>
            <p:spPr>
              <a:xfrm>
                <a:off x="4328319" y="11930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C83210"/>
                </a:solidFill>
              </a:ln>
            </p:spPr>
          </p:sp>
          <p:sp>
            <p:nvSpPr>
              <p:cNvPr id="35" name="Freeform 35"/>
              <p:cNvSpPr/>
              <p:nvPr/>
            </p:nvSpPr>
            <p:spPr>
              <a:xfrm>
                <a:off x="4307681" y="126523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C83210"/>
                </a:solidFill>
              </a:ln>
            </p:spPr>
          </p:sp>
        </p:grpSp>
        <p:sp>
          <p:nvSpPr>
            <p:cNvPr id="37" name="TextBox 37"/>
            <p:cNvSpPr txBox="1"/>
            <p:nvPr/>
          </p:nvSpPr>
          <p:spPr>
            <a:xfrm>
              <a:off x="4633912" y="1207532"/>
              <a:ext cx="1818818"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基于客户画像和风险承受能力，开展适当性管理</a:t>
              </a:r>
            </a:p>
          </p:txBody>
        </p:sp>
        <p:sp>
          <p:nvSpPr>
            <p:cNvPr id="38" name="TextBox 38"/>
            <p:cNvSpPr txBox="1"/>
            <p:nvPr/>
          </p:nvSpPr>
          <p:spPr>
            <a:xfrm>
              <a:off x="4633912" y="1359932"/>
              <a:ext cx="1646504"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充分揭示风险，保障消费者知情权和选择权</a:t>
              </a:r>
            </a:p>
          </p:txBody>
        </p:sp>
      </p:grpSp>
      <p:grpSp>
        <p:nvGrpSpPr>
          <p:cNvPr id="53" name="defense-3"/>
          <p:cNvGrpSpPr/>
          <p:nvPr/>
        </p:nvGrpSpPr>
        <p:grpSpPr>
          <a:xfrm>
            <a:off x="8153400" y="628650"/>
            <a:ext cx="3905250" cy="1047750"/>
            <a:chOff x="8153400" y="628650"/>
            <a:chExt cx="3905250" cy="1047750"/>
          </a:xfrm>
        </p:grpSpPr>
        <p:sp>
          <p:nvSpPr>
            <p:cNvPr id="40" name="Rectangle 40"/>
            <p:cNvSpPr/>
            <p:nvPr/>
          </p:nvSpPr>
          <p:spPr>
            <a:xfrm>
              <a:off x="8153400" y="628650"/>
              <a:ext cx="3905250" cy="1047750"/>
            </a:xfrm>
            <a:prstGeom prst="roundRect">
              <a:avLst>
                <a:gd name="adj" fmla="val 5455"/>
              </a:avLst>
            </a:prstGeom>
            <a:solidFill>
              <a:srgbClr val="FDEFF1"/>
            </a:solidFill>
            <a:ln>
              <a:noFill/>
            </a:ln>
          </p:spPr>
        </p:sp>
        <p:sp>
          <p:nvSpPr>
            <p:cNvPr id="41" name="Rectangle 41"/>
            <p:cNvSpPr/>
            <p:nvPr/>
          </p:nvSpPr>
          <p:spPr>
            <a:xfrm>
              <a:off x="8153400" y="628650"/>
              <a:ext cx="3905250" cy="381000"/>
            </a:xfrm>
            <a:prstGeom prst="roundRect">
              <a:avLst>
                <a:gd name="adj" fmla="val 15000"/>
              </a:avLst>
            </a:prstGeom>
            <a:solidFill>
              <a:srgbClr val="FBE3E6"/>
            </a:solidFill>
            <a:ln>
              <a:noFill/>
            </a:ln>
          </p:spPr>
        </p:sp>
        <p:sp>
          <p:nvSpPr>
            <p:cNvPr id="42" name="Rectangle 42"/>
            <p:cNvSpPr/>
            <p:nvPr/>
          </p:nvSpPr>
          <p:spPr>
            <a:xfrm>
              <a:off x="8153400" y="628650"/>
              <a:ext cx="419100" cy="381000"/>
            </a:xfrm>
            <a:prstGeom prst="roundRect">
              <a:avLst>
                <a:gd name="adj" fmla="val 15000"/>
              </a:avLst>
            </a:prstGeom>
            <a:solidFill>
              <a:srgbClr val="C83210"/>
            </a:solidFill>
            <a:ln>
              <a:noFill/>
            </a:ln>
          </p:spPr>
        </p:sp>
        <p:sp>
          <p:nvSpPr>
            <p:cNvPr id="43" name="TextBox 43"/>
            <p:cNvSpPr txBox="1"/>
            <p:nvPr/>
          </p:nvSpPr>
          <p:spPr>
            <a:xfrm>
              <a:off x="8292796" y="726758"/>
              <a:ext cx="140309"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Arial"/>
                  <a:ea typeface="Arial"/>
                  <a:cs typeface="Arial"/>
                </a:rPr>
                <a:t>3</a:t>
              </a:r>
            </a:p>
          </p:txBody>
        </p:sp>
        <p:sp>
          <p:nvSpPr>
            <p:cNvPr id="44" name="TextBox 44"/>
            <p:cNvSpPr txBox="1"/>
            <p:nvPr/>
          </p:nvSpPr>
          <p:spPr>
            <a:xfrm>
              <a:off x="8662988" y="779145"/>
              <a:ext cx="978789"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个人信息保护防线</a:t>
              </a:r>
            </a:p>
          </p:txBody>
        </p:sp>
        <p:sp>
          <p:nvSpPr>
            <p:cNvPr id="45" name="TextBox 45"/>
            <p:cNvSpPr txBox="1"/>
            <p:nvPr/>
          </p:nvSpPr>
          <p:spPr>
            <a:xfrm>
              <a:off x="9996488" y="739378"/>
              <a:ext cx="537235"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把好数据安全关</a:t>
              </a:r>
            </a:p>
          </p:txBody>
        </p:sp>
        <p:sp>
          <p:nvSpPr>
            <p:cNvPr id="46" name="TextBox 46"/>
            <p:cNvSpPr txBox="1"/>
            <p:nvPr/>
          </p:nvSpPr>
          <p:spPr>
            <a:xfrm>
              <a:off x="9996488" y="863203"/>
              <a:ext cx="989559"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确保合法、正当、必要、最小</a:t>
              </a:r>
            </a:p>
          </p:txBody>
        </p:sp>
        <p:grpSp>
          <p:nvGrpSpPr>
            <p:cNvPr id="50" name="Group 50"/>
            <p:cNvGrpSpPr/>
            <p:nvPr/>
          </p:nvGrpSpPr>
          <p:grpSpPr>
            <a:xfrm>
              <a:off x="8313409" y="1193006"/>
              <a:ext cx="194331" cy="185737"/>
              <a:chOff x="8313409" y="1193006"/>
              <a:chExt cx="194331" cy="185737"/>
            </a:xfrm>
          </p:grpSpPr>
          <p:sp>
            <p:nvSpPr>
              <p:cNvPr id="47" name="Freeform 47"/>
              <p:cNvSpPr/>
              <p:nvPr/>
            </p:nvSpPr>
            <p:spPr>
              <a:xfrm>
                <a:off x="8313409" y="1193006"/>
                <a:ext cx="194331" cy="185737"/>
              </a:xfrm>
              <a:custGeom>
                <a:avLst/>
                <a:gdLst/>
                <a:ahLst/>
                <a:cxnLst/>
                <a:rect l="l" t="t" r="r" b="b"/>
                <a:pathLst>
                  <a:path w="194331" h="185737">
                    <a:moveTo>
                      <a:pt x="97166" y="0"/>
                    </a:moveTo>
                    <a:cubicBezTo>
                      <a:pt x="121268" y="21324"/>
                      <a:pt x="152726" y="32427"/>
                      <a:pt x="184875" y="30956"/>
                    </a:cubicBezTo>
                    <a:cubicBezTo>
                      <a:pt x="194331" y="63125"/>
                      <a:pt x="190338" y="97754"/>
                      <a:pt x="173807" y="126926"/>
                    </a:cubicBezTo>
                    <a:cubicBezTo>
                      <a:pt x="157276" y="156098"/>
                      <a:pt x="129622" y="177318"/>
                      <a:pt x="97166" y="185737"/>
                    </a:cubicBezTo>
                    <a:cubicBezTo>
                      <a:pt x="64710" y="177318"/>
                      <a:pt x="37055" y="156098"/>
                      <a:pt x="20524" y="126926"/>
                    </a:cubicBezTo>
                    <a:cubicBezTo>
                      <a:pt x="3994" y="97754"/>
                      <a:pt x="0" y="63125"/>
                      <a:pt x="9457" y="30956"/>
                    </a:cubicBezTo>
                    <a:cubicBezTo>
                      <a:pt x="41605" y="32427"/>
                      <a:pt x="73063" y="21324"/>
                      <a:pt x="97166" y="0"/>
                    </a:cubicBezTo>
                  </a:path>
                </a:pathLst>
              </a:custGeom>
              <a:noFill/>
              <a:ln w="20637">
                <a:solidFill>
                  <a:srgbClr val="C83210"/>
                </a:solidFill>
              </a:ln>
            </p:spPr>
          </p:sp>
          <p:sp>
            <p:nvSpPr>
              <p:cNvPr id="48" name="Freeform 48"/>
              <p:cNvSpPr/>
              <p:nvPr/>
            </p:nvSpPr>
            <p:spPr>
              <a:xfrm>
                <a:off x="8400256" y="1265237"/>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C83210"/>
                </a:solidFill>
              </a:ln>
            </p:spPr>
          </p:sp>
          <p:sp>
            <p:nvSpPr>
              <p:cNvPr id="49" name="Freeform 49"/>
              <p:cNvSpPr/>
              <p:nvPr/>
            </p:nvSpPr>
            <p:spPr>
              <a:xfrm>
                <a:off x="8410575" y="1285875"/>
                <a:ext cx="9525" cy="25797"/>
              </a:xfrm>
              <a:custGeom>
                <a:avLst/>
                <a:gdLst/>
                <a:ahLst/>
                <a:cxnLst/>
                <a:rect l="l" t="t" r="r" b="b"/>
                <a:pathLst>
                  <a:path w="9525" h="25797">
                    <a:moveTo>
                      <a:pt x="0" y="0"/>
                    </a:moveTo>
                    <a:lnTo>
                      <a:pt x="0" y="25797"/>
                    </a:lnTo>
                  </a:path>
                </a:pathLst>
              </a:custGeom>
              <a:noFill/>
              <a:ln w="20637">
                <a:solidFill>
                  <a:srgbClr val="C83210"/>
                </a:solidFill>
              </a:ln>
            </p:spPr>
          </p:sp>
        </p:grpSp>
        <p:sp>
          <p:nvSpPr>
            <p:cNvPr id="51" name="TextBox 51"/>
            <p:cNvSpPr txBox="1"/>
            <p:nvPr/>
          </p:nvSpPr>
          <p:spPr>
            <a:xfrm>
              <a:off x="8643938" y="1207532"/>
              <a:ext cx="1388034"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严格遵守个人信息保护相关法律法规</a:t>
              </a:r>
            </a:p>
          </p:txBody>
        </p:sp>
        <p:sp>
          <p:nvSpPr>
            <p:cNvPr id="52" name="TextBox 52"/>
            <p:cNvSpPr txBox="1"/>
            <p:nvPr/>
          </p:nvSpPr>
          <p:spPr>
            <a:xfrm>
              <a:off x="8643938" y="1359932"/>
              <a:ext cx="957250"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全流程保护客户信息安全</a:t>
              </a:r>
            </a:p>
          </p:txBody>
        </p:sp>
      </p:grpSp>
      <p:grpSp>
        <p:nvGrpSpPr>
          <p:cNvPr id="84" name="table-1"/>
          <p:cNvGrpSpPr/>
          <p:nvPr/>
        </p:nvGrpSpPr>
        <p:grpSpPr>
          <a:xfrm>
            <a:off x="133350" y="1809750"/>
            <a:ext cx="3905250" cy="1971675"/>
            <a:chOff x="133350" y="1809750"/>
            <a:chExt cx="3905250" cy="1971675"/>
          </a:xfrm>
        </p:grpSpPr>
        <p:sp>
          <p:nvSpPr>
            <p:cNvPr id="54" name="Rectangle 54"/>
            <p:cNvSpPr/>
            <p:nvPr/>
          </p:nvSpPr>
          <p:spPr>
            <a:xfrm>
              <a:off x="171450" y="1809750"/>
              <a:ext cx="38100" cy="133350"/>
            </a:xfrm>
            <a:prstGeom prst="rect">
              <a:avLst/>
            </a:prstGeom>
            <a:solidFill>
              <a:srgbClr val="C83210"/>
            </a:solidFill>
            <a:ln>
              <a:noFill/>
            </a:ln>
          </p:spPr>
        </p:sp>
        <p:sp>
          <p:nvSpPr>
            <p:cNvPr id="55" name="TextBox 55"/>
            <p:cNvSpPr txBox="1"/>
            <p:nvPr/>
          </p:nvSpPr>
          <p:spPr>
            <a:xfrm>
              <a:off x="261938" y="1821418"/>
              <a:ext cx="1832280"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mn-lt"/>
                  <a:ea typeface="+mn-ea"/>
                  <a:cs typeface="+mn-cs"/>
                </a:rPr>
                <a:t>企微营销全流程管控要点</a:t>
              </a:r>
              <a:r>
                <a:rPr lang="zh-CN" sz="680" b="1" dirty="0">
                  <a:solidFill>
                    <a:srgbClr val="808080"/>
                  </a:solidFill>
                  <a:latin typeface="+mn-lt"/>
                  <a:ea typeface="+mn-ea"/>
                  <a:cs typeface="+mn-cs"/>
                </a:rPr>
                <a:t>（内容合规）</a:t>
              </a:r>
            </a:p>
          </p:txBody>
        </p:sp>
        <p:sp>
          <p:nvSpPr>
            <p:cNvPr id="56" name="Rectangle 56"/>
            <p:cNvSpPr/>
            <p:nvPr/>
          </p:nvSpPr>
          <p:spPr>
            <a:xfrm>
              <a:off x="133350" y="1981200"/>
              <a:ext cx="3905250" cy="190500"/>
            </a:xfrm>
            <a:prstGeom prst="rect">
              <a:avLst/>
            </a:prstGeom>
            <a:solidFill>
              <a:srgbClr val="C83210"/>
            </a:solidFill>
            <a:ln>
              <a:noFill/>
            </a:ln>
          </p:spPr>
        </p:sp>
        <p:sp>
          <p:nvSpPr>
            <p:cNvPr id="57" name="TextBox 57"/>
            <p:cNvSpPr txBox="1"/>
            <p:nvPr/>
          </p:nvSpPr>
          <p:spPr>
            <a:xfrm>
              <a:off x="232931" y="204573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阶段</a:t>
              </a:r>
            </a:p>
          </p:txBody>
        </p:sp>
        <p:sp>
          <p:nvSpPr>
            <p:cNvPr id="58" name="TextBox 58"/>
            <p:cNvSpPr txBox="1"/>
            <p:nvPr/>
          </p:nvSpPr>
          <p:spPr>
            <a:xfrm>
              <a:off x="632549" y="20457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关键动作</a:t>
              </a:r>
            </a:p>
          </p:txBody>
        </p:sp>
        <p:sp>
          <p:nvSpPr>
            <p:cNvPr id="59" name="TextBox 59"/>
            <p:cNvSpPr txBox="1"/>
            <p:nvPr/>
          </p:nvSpPr>
          <p:spPr>
            <a:xfrm>
              <a:off x="2461349" y="20457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管控要点</a:t>
              </a:r>
            </a:p>
          </p:txBody>
        </p:sp>
        <p:sp>
          <p:nvSpPr>
            <p:cNvPr id="60" name="Rectangle 60"/>
            <p:cNvSpPr/>
            <p:nvPr/>
          </p:nvSpPr>
          <p:spPr>
            <a:xfrm>
              <a:off x="133350" y="2171700"/>
              <a:ext cx="381000" cy="1600200"/>
            </a:xfrm>
            <a:prstGeom prst="rect">
              <a:avLst/>
            </a:prstGeom>
            <a:solidFill>
              <a:srgbClr val="FBE3E6"/>
            </a:solidFill>
            <a:ln>
              <a:noFill/>
            </a:ln>
          </p:spPr>
        </p:sp>
        <p:sp>
          <p:nvSpPr>
            <p:cNvPr id="61" name="TextBox 61"/>
            <p:cNvSpPr txBox="1"/>
            <p:nvPr/>
          </p:nvSpPr>
          <p:spPr>
            <a:xfrm>
              <a:off x="223507" y="2399586"/>
              <a:ext cx="200685"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事前</a:t>
              </a:r>
            </a:p>
          </p:txBody>
        </p:sp>
        <p:sp>
          <p:nvSpPr>
            <p:cNvPr id="62" name="TextBox 62"/>
            <p:cNvSpPr txBox="1"/>
            <p:nvPr/>
          </p:nvSpPr>
          <p:spPr>
            <a:xfrm>
              <a:off x="223507" y="2932986"/>
              <a:ext cx="200685"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事中</a:t>
              </a:r>
            </a:p>
          </p:txBody>
        </p:sp>
        <p:sp>
          <p:nvSpPr>
            <p:cNvPr id="63" name="TextBox 63"/>
            <p:cNvSpPr txBox="1"/>
            <p:nvPr/>
          </p:nvSpPr>
          <p:spPr>
            <a:xfrm>
              <a:off x="223507" y="3466386"/>
              <a:ext cx="200685"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事后</a:t>
              </a:r>
            </a:p>
          </p:txBody>
        </p:sp>
        <p:sp>
          <p:nvSpPr>
            <p:cNvPr id="64" name="TextBox 64"/>
            <p:cNvSpPr txBox="1"/>
            <p:nvPr/>
          </p:nvSpPr>
          <p:spPr>
            <a:xfrm>
              <a:off x="566738" y="2279999"/>
              <a:ext cx="556082"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内容策划与撰写</a:t>
              </a:r>
            </a:p>
          </p:txBody>
        </p:sp>
        <p:sp>
          <p:nvSpPr>
            <p:cNvPr id="65" name="TextBox 65"/>
            <p:cNvSpPr txBox="1"/>
            <p:nvPr/>
          </p:nvSpPr>
          <p:spPr>
            <a:xfrm>
              <a:off x="1290638" y="2282428"/>
              <a:ext cx="1366495"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确保真实、准确、完整，不夸大、不误导</a:t>
              </a:r>
            </a:p>
          </p:txBody>
        </p:sp>
        <p:sp>
          <p:nvSpPr>
            <p:cNvPr id="66" name="TextBox 66"/>
            <p:cNvSpPr txBox="1"/>
            <p:nvPr/>
          </p:nvSpPr>
          <p:spPr>
            <a:xfrm>
              <a:off x="566738" y="2546699"/>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合规审核</a:t>
              </a:r>
            </a:p>
          </p:txBody>
        </p:sp>
        <p:sp>
          <p:nvSpPr>
            <p:cNvPr id="67" name="TextBox 67"/>
            <p:cNvSpPr txBox="1"/>
            <p:nvPr/>
          </p:nvSpPr>
          <p:spPr>
            <a:xfrm>
              <a:off x="1290638" y="2549128"/>
              <a:ext cx="1558732"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业务部门初审，合规/消保复核，留存审核记录</a:t>
              </a:r>
            </a:p>
          </p:txBody>
        </p:sp>
        <p:sp>
          <p:nvSpPr>
            <p:cNvPr id="68" name="TextBox 68"/>
            <p:cNvSpPr txBox="1"/>
            <p:nvPr/>
          </p:nvSpPr>
          <p:spPr>
            <a:xfrm>
              <a:off x="566738" y="2813399"/>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发布执行</a:t>
              </a:r>
            </a:p>
          </p:txBody>
        </p:sp>
        <p:sp>
          <p:nvSpPr>
            <p:cNvPr id="69" name="TextBox 69"/>
            <p:cNvSpPr txBox="1"/>
            <p:nvPr/>
          </p:nvSpPr>
          <p:spPr>
            <a:xfrm>
              <a:off x="1290638" y="2815828"/>
              <a:ext cx="1366495"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仅发布已审核内容，使用统一话术和模板</a:t>
              </a:r>
            </a:p>
          </p:txBody>
        </p:sp>
        <p:sp>
          <p:nvSpPr>
            <p:cNvPr id="70" name="TextBox 70"/>
            <p:cNvSpPr txBox="1"/>
            <p:nvPr/>
          </p:nvSpPr>
          <p:spPr>
            <a:xfrm>
              <a:off x="566738" y="3080099"/>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互动应答</a:t>
              </a:r>
            </a:p>
          </p:txBody>
        </p:sp>
        <p:sp>
          <p:nvSpPr>
            <p:cNvPr id="71" name="TextBox 71"/>
            <p:cNvSpPr txBox="1"/>
            <p:nvPr/>
          </p:nvSpPr>
          <p:spPr>
            <a:xfrm>
              <a:off x="1290638" y="3082528"/>
              <a:ext cx="1215720"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按审核口径回复，禁止个人随意承诺</a:t>
              </a:r>
            </a:p>
          </p:txBody>
        </p:sp>
        <p:sp>
          <p:nvSpPr>
            <p:cNvPr id="72" name="TextBox 72"/>
            <p:cNvSpPr txBox="1"/>
            <p:nvPr/>
          </p:nvSpPr>
          <p:spPr>
            <a:xfrm>
              <a:off x="566738" y="3346799"/>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内容存档</a:t>
              </a:r>
            </a:p>
          </p:txBody>
        </p:sp>
        <p:sp>
          <p:nvSpPr>
            <p:cNvPr id="73" name="TextBox 73"/>
            <p:cNvSpPr txBox="1"/>
            <p:nvPr/>
          </p:nvSpPr>
          <p:spPr>
            <a:xfrm>
              <a:off x="1290638" y="3349228"/>
              <a:ext cx="1291107"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保存内容版本、审核记录、发布时间等</a:t>
              </a:r>
            </a:p>
          </p:txBody>
        </p:sp>
        <p:sp>
          <p:nvSpPr>
            <p:cNvPr id="74" name="TextBox 74"/>
            <p:cNvSpPr txBox="1"/>
            <p:nvPr/>
          </p:nvSpPr>
          <p:spPr>
            <a:xfrm>
              <a:off x="566738" y="3613499"/>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效果监测</a:t>
              </a:r>
            </a:p>
          </p:txBody>
        </p:sp>
        <p:sp>
          <p:nvSpPr>
            <p:cNvPr id="75" name="TextBox 75"/>
            <p:cNvSpPr txBox="1"/>
            <p:nvPr/>
          </p:nvSpPr>
          <p:spPr>
            <a:xfrm>
              <a:off x="1290638" y="3615928"/>
              <a:ext cx="1215720"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定期抽查，发现问题及时处置并整改</a:t>
              </a:r>
            </a:p>
          </p:txBody>
        </p:sp>
        <p:sp>
          <p:nvSpPr>
            <p:cNvPr id="76" name="Line 76"/>
            <p:cNvSpPr/>
            <p:nvPr/>
          </p:nvSpPr>
          <p:spPr>
            <a:xfrm>
              <a:off x="514350" y="2171700"/>
              <a:ext cx="9525" cy="1600200"/>
            </a:xfrm>
            <a:custGeom>
              <a:avLst/>
              <a:gdLst/>
              <a:ahLst/>
              <a:cxnLst/>
              <a:rect l="l" t="t" r="r" b="b"/>
              <a:pathLst>
                <a:path w="9525" h="1600200">
                  <a:moveTo>
                    <a:pt x="0" y="0"/>
                  </a:moveTo>
                  <a:lnTo>
                    <a:pt x="0" y="1600200"/>
                  </a:lnTo>
                </a:path>
              </a:pathLst>
            </a:custGeom>
            <a:noFill/>
            <a:ln w="9525">
              <a:solidFill>
                <a:srgbClr val="F1C7CC"/>
              </a:solidFill>
            </a:ln>
          </p:spPr>
        </p:sp>
        <p:sp>
          <p:nvSpPr>
            <p:cNvPr id="77" name="Line 77"/>
            <p:cNvSpPr/>
            <p:nvPr/>
          </p:nvSpPr>
          <p:spPr>
            <a:xfrm>
              <a:off x="1238250" y="2171700"/>
              <a:ext cx="9525" cy="1600200"/>
            </a:xfrm>
            <a:custGeom>
              <a:avLst/>
              <a:gdLst/>
              <a:ahLst/>
              <a:cxnLst/>
              <a:rect l="l" t="t" r="r" b="b"/>
              <a:pathLst>
                <a:path w="9525" h="1600200">
                  <a:moveTo>
                    <a:pt x="0" y="0"/>
                  </a:moveTo>
                  <a:lnTo>
                    <a:pt x="0" y="1600200"/>
                  </a:lnTo>
                </a:path>
              </a:pathLst>
            </a:custGeom>
            <a:noFill/>
            <a:ln w="9525">
              <a:solidFill>
                <a:srgbClr val="F1C7CC"/>
              </a:solidFill>
            </a:ln>
          </p:spPr>
        </p:sp>
        <p:sp>
          <p:nvSpPr>
            <p:cNvPr id="78" name="Line 78"/>
            <p:cNvSpPr/>
            <p:nvPr/>
          </p:nvSpPr>
          <p:spPr>
            <a:xfrm>
              <a:off x="514350" y="24384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79" name="Line 79"/>
            <p:cNvSpPr/>
            <p:nvPr/>
          </p:nvSpPr>
          <p:spPr>
            <a:xfrm>
              <a:off x="133350" y="2705100"/>
              <a:ext cx="3905250" cy="9525"/>
            </a:xfrm>
            <a:custGeom>
              <a:avLst/>
              <a:gdLst/>
              <a:ahLst/>
              <a:cxnLst/>
              <a:rect l="l" t="t" r="r" b="b"/>
              <a:pathLst>
                <a:path w="3905250" h="9525">
                  <a:moveTo>
                    <a:pt x="0" y="0"/>
                  </a:moveTo>
                  <a:lnTo>
                    <a:pt x="3905250" y="0"/>
                  </a:lnTo>
                </a:path>
              </a:pathLst>
            </a:custGeom>
            <a:noFill/>
            <a:ln w="9525">
              <a:solidFill>
                <a:srgbClr val="E9826B"/>
              </a:solidFill>
            </a:ln>
          </p:spPr>
        </p:sp>
        <p:sp>
          <p:nvSpPr>
            <p:cNvPr id="80" name="Line 80"/>
            <p:cNvSpPr/>
            <p:nvPr/>
          </p:nvSpPr>
          <p:spPr>
            <a:xfrm>
              <a:off x="514350" y="29718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81" name="Line 81"/>
            <p:cNvSpPr/>
            <p:nvPr/>
          </p:nvSpPr>
          <p:spPr>
            <a:xfrm>
              <a:off x="133350" y="3238500"/>
              <a:ext cx="3905250" cy="9525"/>
            </a:xfrm>
            <a:custGeom>
              <a:avLst/>
              <a:gdLst/>
              <a:ahLst/>
              <a:cxnLst/>
              <a:rect l="l" t="t" r="r" b="b"/>
              <a:pathLst>
                <a:path w="3905250" h="9525">
                  <a:moveTo>
                    <a:pt x="0" y="0"/>
                  </a:moveTo>
                  <a:lnTo>
                    <a:pt x="3905250" y="0"/>
                  </a:lnTo>
                </a:path>
              </a:pathLst>
            </a:custGeom>
            <a:noFill/>
            <a:ln w="9525">
              <a:solidFill>
                <a:srgbClr val="E9826B"/>
              </a:solidFill>
            </a:ln>
          </p:spPr>
        </p:sp>
        <p:sp>
          <p:nvSpPr>
            <p:cNvPr id="82" name="Line 82"/>
            <p:cNvSpPr/>
            <p:nvPr/>
          </p:nvSpPr>
          <p:spPr>
            <a:xfrm>
              <a:off x="514350" y="35052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83" name="Line 83"/>
            <p:cNvSpPr/>
            <p:nvPr/>
          </p:nvSpPr>
          <p:spPr>
            <a:xfrm>
              <a:off x="133350" y="3771900"/>
              <a:ext cx="3905250" cy="9525"/>
            </a:xfrm>
            <a:custGeom>
              <a:avLst/>
              <a:gdLst/>
              <a:ahLst/>
              <a:cxnLst/>
              <a:rect l="l" t="t" r="r" b="b"/>
              <a:pathLst>
                <a:path w="3905250" h="9525">
                  <a:moveTo>
                    <a:pt x="0" y="0"/>
                  </a:moveTo>
                  <a:lnTo>
                    <a:pt x="3905250" y="0"/>
                  </a:lnTo>
                </a:path>
              </a:pathLst>
            </a:custGeom>
            <a:noFill/>
            <a:ln w="9525">
              <a:solidFill>
                <a:srgbClr val="F1C7CC"/>
              </a:solidFill>
            </a:ln>
          </p:spPr>
        </p:sp>
      </p:grpSp>
      <p:grpSp>
        <p:nvGrpSpPr>
          <p:cNvPr id="118" name="table-2"/>
          <p:cNvGrpSpPr/>
          <p:nvPr/>
        </p:nvGrpSpPr>
        <p:grpSpPr>
          <a:xfrm>
            <a:off x="4143375" y="1809750"/>
            <a:ext cx="3905250" cy="1971675"/>
            <a:chOff x="4143375" y="1809750"/>
            <a:chExt cx="3905250" cy="1971675"/>
          </a:xfrm>
        </p:grpSpPr>
        <p:sp>
          <p:nvSpPr>
            <p:cNvPr id="85" name="Rectangle 85"/>
            <p:cNvSpPr/>
            <p:nvPr/>
          </p:nvSpPr>
          <p:spPr>
            <a:xfrm>
              <a:off x="4181475" y="1809750"/>
              <a:ext cx="38100" cy="133350"/>
            </a:xfrm>
            <a:prstGeom prst="rect">
              <a:avLst/>
            </a:prstGeom>
            <a:solidFill>
              <a:srgbClr val="C83210"/>
            </a:solidFill>
            <a:ln>
              <a:noFill/>
            </a:ln>
          </p:spPr>
        </p:sp>
        <p:sp>
          <p:nvSpPr>
            <p:cNvPr id="86" name="TextBox 86"/>
            <p:cNvSpPr txBox="1"/>
            <p:nvPr/>
          </p:nvSpPr>
          <p:spPr>
            <a:xfrm>
              <a:off x="4271962" y="1821418"/>
              <a:ext cx="1746123"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mn-lt"/>
                  <a:ea typeface="+mn-ea"/>
                  <a:cs typeface="+mn-cs"/>
                </a:rPr>
                <a:t>客户适当性管理与消费者保护要点</a:t>
              </a:r>
            </a:p>
          </p:txBody>
        </p:sp>
        <p:sp>
          <p:nvSpPr>
            <p:cNvPr id="87" name="Rectangle 87"/>
            <p:cNvSpPr/>
            <p:nvPr/>
          </p:nvSpPr>
          <p:spPr>
            <a:xfrm>
              <a:off x="4143375" y="1981200"/>
              <a:ext cx="3905250" cy="190500"/>
            </a:xfrm>
            <a:prstGeom prst="rect">
              <a:avLst/>
            </a:prstGeom>
            <a:solidFill>
              <a:srgbClr val="C83210"/>
            </a:solidFill>
            <a:ln>
              <a:noFill/>
            </a:ln>
          </p:spPr>
        </p:sp>
        <p:sp>
          <p:nvSpPr>
            <p:cNvPr id="88" name="TextBox 88"/>
            <p:cNvSpPr txBox="1"/>
            <p:nvPr/>
          </p:nvSpPr>
          <p:spPr>
            <a:xfrm>
              <a:off x="4242956" y="204573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阶段</a:t>
              </a:r>
            </a:p>
          </p:txBody>
        </p:sp>
        <p:sp>
          <p:nvSpPr>
            <p:cNvPr id="89" name="TextBox 89"/>
            <p:cNvSpPr txBox="1"/>
            <p:nvPr/>
          </p:nvSpPr>
          <p:spPr>
            <a:xfrm>
              <a:off x="4642574" y="20457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关键动作</a:t>
              </a:r>
            </a:p>
          </p:txBody>
        </p:sp>
        <p:sp>
          <p:nvSpPr>
            <p:cNvPr id="90" name="TextBox 90"/>
            <p:cNvSpPr txBox="1"/>
            <p:nvPr/>
          </p:nvSpPr>
          <p:spPr>
            <a:xfrm>
              <a:off x="6471374" y="20457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管控要点</a:t>
              </a:r>
            </a:p>
          </p:txBody>
        </p:sp>
        <p:sp>
          <p:nvSpPr>
            <p:cNvPr id="91" name="Rectangle 91"/>
            <p:cNvSpPr/>
            <p:nvPr/>
          </p:nvSpPr>
          <p:spPr>
            <a:xfrm>
              <a:off x="4143375" y="2171700"/>
              <a:ext cx="381000" cy="1600200"/>
            </a:xfrm>
            <a:prstGeom prst="rect">
              <a:avLst/>
            </a:prstGeom>
            <a:solidFill>
              <a:srgbClr val="FBE3E6"/>
            </a:solidFill>
            <a:ln>
              <a:noFill/>
            </a:ln>
          </p:spPr>
        </p:sp>
        <p:sp>
          <p:nvSpPr>
            <p:cNvPr id="92" name="TextBox 92"/>
            <p:cNvSpPr txBox="1"/>
            <p:nvPr/>
          </p:nvSpPr>
          <p:spPr>
            <a:xfrm>
              <a:off x="4233532" y="2466261"/>
              <a:ext cx="200685"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事前</a:t>
              </a:r>
            </a:p>
          </p:txBody>
        </p:sp>
        <p:sp>
          <p:nvSpPr>
            <p:cNvPr id="93" name="TextBox 93"/>
            <p:cNvSpPr txBox="1"/>
            <p:nvPr/>
          </p:nvSpPr>
          <p:spPr>
            <a:xfrm>
              <a:off x="4233532" y="3037761"/>
              <a:ext cx="200685"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事中</a:t>
              </a:r>
            </a:p>
          </p:txBody>
        </p:sp>
        <p:sp>
          <p:nvSpPr>
            <p:cNvPr id="94" name="TextBox 94"/>
            <p:cNvSpPr txBox="1"/>
            <p:nvPr/>
          </p:nvSpPr>
          <p:spPr>
            <a:xfrm>
              <a:off x="4233532" y="3494961"/>
              <a:ext cx="200685"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事后</a:t>
              </a:r>
            </a:p>
          </p:txBody>
        </p:sp>
        <p:sp>
          <p:nvSpPr>
            <p:cNvPr id="95" name="TextBox 95"/>
            <p:cNvSpPr txBox="1"/>
            <p:nvPr/>
          </p:nvSpPr>
          <p:spPr>
            <a:xfrm>
              <a:off x="4576762" y="2256187"/>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客户评估</a:t>
              </a:r>
            </a:p>
          </p:txBody>
        </p:sp>
        <p:sp>
          <p:nvSpPr>
            <p:cNvPr id="96" name="TextBox 96"/>
            <p:cNvSpPr txBox="1"/>
            <p:nvPr/>
          </p:nvSpPr>
          <p:spPr>
            <a:xfrm>
              <a:off x="5300662" y="2258616"/>
              <a:ext cx="1140333"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完善客户信息，评估风险承受能力</a:t>
              </a:r>
            </a:p>
          </p:txBody>
        </p:sp>
        <p:sp>
          <p:nvSpPr>
            <p:cNvPr id="97" name="TextBox 97"/>
            <p:cNvSpPr txBox="1"/>
            <p:nvPr/>
          </p:nvSpPr>
          <p:spPr>
            <a:xfrm>
              <a:off x="4576762" y="2484787"/>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产品匹配</a:t>
              </a:r>
            </a:p>
          </p:txBody>
        </p:sp>
        <p:sp>
          <p:nvSpPr>
            <p:cNvPr id="98" name="TextBox 98"/>
            <p:cNvSpPr txBox="1"/>
            <p:nvPr/>
          </p:nvSpPr>
          <p:spPr>
            <a:xfrm>
              <a:off x="5300662" y="2487216"/>
              <a:ext cx="1140333"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仅向风险等级匹配的客户推送产品</a:t>
              </a:r>
            </a:p>
          </p:txBody>
        </p:sp>
        <p:sp>
          <p:nvSpPr>
            <p:cNvPr id="99" name="TextBox 99"/>
            <p:cNvSpPr txBox="1"/>
            <p:nvPr/>
          </p:nvSpPr>
          <p:spPr>
            <a:xfrm>
              <a:off x="4576762" y="2713387"/>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风险揭示</a:t>
              </a:r>
            </a:p>
          </p:txBody>
        </p:sp>
        <p:sp>
          <p:nvSpPr>
            <p:cNvPr id="100" name="TextBox 100"/>
            <p:cNvSpPr txBox="1"/>
            <p:nvPr/>
          </p:nvSpPr>
          <p:spPr>
            <a:xfrm>
              <a:off x="5300662" y="2715816"/>
              <a:ext cx="1215720"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清晰揭示产品风险、费用及重要信息</a:t>
              </a:r>
            </a:p>
          </p:txBody>
        </p:sp>
        <p:sp>
          <p:nvSpPr>
            <p:cNvPr id="101" name="TextBox 101"/>
            <p:cNvSpPr txBox="1"/>
            <p:nvPr/>
          </p:nvSpPr>
          <p:spPr>
            <a:xfrm>
              <a:off x="4576762" y="2941987"/>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持续管理</a:t>
              </a:r>
            </a:p>
          </p:txBody>
        </p:sp>
        <p:sp>
          <p:nvSpPr>
            <p:cNvPr id="102" name="TextBox 102"/>
            <p:cNvSpPr txBox="1"/>
            <p:nvPr/>
          </p:nvSpPr>
          <p:spPr>
            <a:xfrm>
              <a:off x="5300662" y="2944416"/>
              <a:ext cx="1291107"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关注客户风险承受能力变化，适时调整</a:t>
              </a:r>
            </a:p>
          </p:txBody>
        </p:sp>
        <p:sp>
          <p:nvSpPr>
            <p:cNvPr id="103" name="TextBox 103"/>
            <p:cNvSpPr txBox="1"/>
            <p:nvPr/>
          </p:nvSpPr>
          <p:spPr>
            <a:xfrm>
              <a:off x="4576762" y="3170587"/>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客户沟通</a:t>
              </a:r>
            </a:p>
          </p:txBody>
        </p:sp>
        <p:sp>
          <p:nvSpPr>
            <p:cNvPr id="104" name="TextBox 104"/>
            <p:cNvSpPr txBox="1"/>
            <p:nvPr/>
          </p:nvSpPr>
          <p:spPr>
            <a:xfrm>
              <a:off x="5300662" y="3173016"/>
              <a:ext cx="1517269"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解答客户疑问，引导理性投资，不得承诺收益</a:t>
              </a:r>
            </a:p>
          </p:txBody>
        </p:sp>
        <p:sp>
          <p:nvSpPr>
            <p:cNvPr id="105" name="TextBox 105"/>
            <p:cNvSpPr txBox="1"/>
            <p:nvPr/>
          </p:nvSpPr>
          <p:spPr>
            <a:xfrm>
              <a:off x="4576762" y="3399187"/>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投诉处理</a:t>
              </a:r>
            </a:p>
          </p:txBody>
        </p:sp>
        <p:sp>
          <p:nvSpPr>
            <p:cNvPr id="106" name="TextBox 106"/>
            <p:cNvSpPr txBox="1"/>
            <p:nvPr/>
          </p:nvSpPr>
          <p:spPr>
            <a:xfrm>
              <a:off x="5300662" y="3401616"/>
              <a:ext cx="1291107"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建立快速响应机制，妥善处理客户投诉</a:t>
              </a:r>
            </a:p>
          </p:txBody>
        </p:sp>
        <p:sp>
          <p:nvSpPr>
            <p:cNvPr id="107" name="TextBox 107"/>
            <p:cNvSpPr txBox="1"/>
            <p:nvPr/>
          </p:nvSpPr>
          <p:spPr>
            <a:xfrm>
              <a:off x="4576762" y="3627787"/>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回溯检查</a:t>
              </a:r>
            </a:p>
          </p:txBody>
        </p:sp>
        <p:sp>
          <p:nvSpPr>
            <p:cNvPr id="108" name="TextBox 108"/>
            <p:cNvSpPr txBox="1"/>
            <p:nvPr/>
          </p:nvSpPr>
          <p:spPr>
            <a:xfrm>
              <a:off x="5300662" y="3630216"/>
              <a:ext cx="989559"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定期开展适当性执行情况抽查</a:t>
              </a:r>
            </a:p>
          </p:txBody>
        </p:sp>
        <p:sp>
          <p:nvSpPr>
            <p:cNvPr id="109" name="Line 109"/>
            <p:cNvSpPr/>
            <p:nvPr/>
          </p:nvSpPr>
          <p:spPr>
            <a:xfrm>
              <a:off x="4524375" y="2171700"/>
              <a:ext cx="9525" cy="1600200"/>
            </a:xfrm>
            <a:custGeom>
              <a:avLst/>
              <a:gdLst/>
              <a:ahLst/>
              <a:cxnLst/>
              <a:rect l="l" t="t" r="r" b="b"/>
              <a:pathLst>
                <a:path w="9525" h="1600200">
                  <a:moveTo>
                    <a:pt x="0" y="0"/>
                  </a:moveTo>
                  <a:lnTo>
                    <a:pt x="0" y="1600200"/>
                  </a:lnTo>
                </a:path>
              </a:pathLst>
            </a:custGeom>
            <a:noFill/>
            <a:ln w="9525">
              <a:solidFill>
                <a:srgbClr val="F1C7CC"/>
              </a:solidFill>
            </a:ln>
          </p:spPr>
        </p:sp>
        <p:sp>
          <p:nvSpPr>
            <p:cNvPr id="110" name="Line 110"/>
            <p:cNvSpPr/>
            <p:nvPr/>
          </p:nvSpPr>
          <p:spPr>
            <a:xfrm>
              <a:off x="5248275" y="2171700"/>
              <a:ext cx="9525" cy="1600200"/>
            </a:xfrm>
            <a:custGeom>
              <a:avLst/>
              <a:gdLst/>
              <a:ahLst/>
              <a:cxnLst/>
              <a:rect l="l" t="t" r="r" b="b"/>
              <a:pathLst>
                <a:path w="9525" h="1600200">
                  <a:moveTo>
                    <a:pt x="0" y="0"/>
                  </a:moveTo>
                  <a:lnTo>
                    <a:pt x="0" y="1600200"/>
                  </a:lnTo>
                </a:path>
              </a:pathLst>
            </a:custGeom>
            <a:noFill/>
            <a:ln w="9525">
              <a:solidFill>
                <a:srgbClr val="F1C7CC"/>
              </a:solidFill>
            </a:ln>
          </p:spPr>
        </p:sp>
        <p:sp>
          <p:nvSpPr>
            <p:cNvPr id="111" name="Line 111"/>
            <p:cNvSpPr/>
            <p:nvPr/>
          </p:nvSpPr>
          <p:spPr>
            <a:xfrm>
              <a:off x="4524375" y="24003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112" name="Line 112"/>
            <p:cNvSpPr/>
            <p:nvPr/>
          </p:nvSpPr>
          <p:spPr>
            <a:xfrm>
              <a:off x="4524375" y="26289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113" name="Line 113"/>
            <p:cNvSpPr/>
            <p:nvPr/>
          </p:nvSpPr>
          <p:spPr>
            <a:xfrm>
              <a:off x="4143375" y="2857500"/>
              <a:ext cx="3905250" cy="9525"/>
            </a:xfrm>
            <a:custGeom>
              <a:avLst/>
              <a:gdLst/>
              <a:ahLst/>
              <a:cxnLst/>
              <a:rect l="l" t="t" r="r" b="b"/>
              <a:pathLst>
                <a:path w="3905250" h="9525">
                  <a:moveTo>
                    <a:pt x="0" y="0"/>
                  </a:moveTo>
                  <a:lnTo>
                    <a:pt x="3905250" y="0"/>
                  </a:lnTo>
                </a:path>
              </a:pathLst>
            </a:custGeom>
            <a:noFill/>
            <a:ln w="9525">
              <a:solidFill>
                <a:srgbClr val="E9826B"/>
              </a:solidFill>
            </a:ln>
          </p:spPr>
        </p:sp>
        <p:sp>
          <p:nvSpPr>
            <p:cNvPr id="114" name="Line 114"/>
            <p:cNvSpPr/>
            <p:nvPr/>
          </p:nvSpPr>
          <p:spPr>
            <a:xfrm>
              <a:off x="4524375" y="30861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115" name="Line 115"/>
            <p:cNvSpPr/>
            <p:nvPr/>
          </p:nvSpPr>
          <p:spPr>
            <a:xfrm>
              <a:off x="4143375" y="3314700"/>
              <a:ext cx="3905250" cy="9525"/>
            </a:xfrm>
            <a:custGeom>
              <a:avLst/>
              <a:gdLst/>
              <a:ahLst/>
              <a:cxnLst/>
              <a:rect l="l" t="t" r="r" b="b"/>
              <a:pathLst>
                <a:path w="3905250" h="9525">
                  <a:moveTo>
                    <a:pt x="0" y="0"/>
                  </a:moveTo>
                  <a:lnTo>
                    <a:pt x="3905250" y="0"/>
                  </a:lnTo>
                </a:path>
              </a:pathLst>
            </a:custGeom>
            <a:noFill/>
            <a:ln w="9525">
              <a:solidFill>
                <a:srgbClr val="E9826B"/>
              </a:solidFill>
            </a:ln>
          </p:spPr>
        </p:sp>
        <p:sp>
          <p:nvSpPr>
            <p:cNvPr id="116" name="Line 116"/>
            <p:cNvSpPr/>
            <p:nvPr/>
          </p:nvSpPr>
          <p:spPr>
            <a:xfrm>
              <a:off x="4524375" y="35433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117" name="Line 117"/>
            <p:cNvSpPr/>
            <p:nvPr/>
          </p:nvSpPr>
          <p:spPr>
            <a:xfrm>
              <a:off x="4143375" y="3771900"/>
              <a:ext cx="3905250" cy="9525"/>
            </a:xfrm>
            <a:custGeom>
              <a:avLst/>
              <a:gdLst/>
              <a:ahLst/>
              <a:cxnLst/>
              <a:rect l="l" t="t" r="r" b="b"/>
              <a:pathLst>
                <a:path w="3905250" h="9525">
                  <a:moveTo>
                    <a:pt x="0" y="0"/>
                  </a:moveTo>
                  <a:lnTo>
                    <a:pt x="3905250" y="0"/>
                  </a:lnTo>
                </a:path>
              </a:pathLst>
            </a:custGeom>
            <a:noFill/>
            <a:ln w="9525">
              <a:solidFill>
                <a:srgbClr val="F1C7CC"/>
              </a:solidFill>
            </a:ln>
          </p:spPr>
        </p:sp>
      </p:grpSp>
      <p:grpSp>
        <p:nvGrpSpPr>
          <p:cNvPr id="152" name="table-3"/>
          <p:cNvGrpSpPr/>
          <p:nvPr/>
        </p:nvGrpSpPr>
        <p:grpSpPr>
          <a:xfrm>
            <a:off x="8153400" y="1809750"/>
            <a:ext cx="3905250" cy="1971675"/>
            <a:chOff x="8153400" y="1809750"/>
            <a:chExt cx="3905250" cy="1971675"/>
          </a:xfrm>
        </p:grpSpPr>
        <p:sp>
          <p:nvSpPr>
            <p:cNvPr id="119" name="Rectangle 119"/>
            <p:cNvSpPr/>
            <p:nvPr/>
          </p:nvSpPr>
          <p:spPr>
            <a:xfrm>
              <a:off x="8191500" y="1809750"/>
              <a:ext cx="38100" cy="133350"/>
            </a:xfrm>
            <a:prstGeom prst="rect">
              <a:avLst/>
            </a:prstGeom>
            <a:solidFill>
              <a:srgbClr val="C83210"/>
            </a:solidFill>
            <a:ln>
              <a:noFill/>
            </a:ln>
          </p:spPr>
        </p:sp>
        <p:sp>
          <p:nvSpPr>
            <p:cNvPr id="120" name="TextBox 120"/>
            <p:cNvSpPr txBox="1"/>
            <p:nvPr/>
          </p:nvSpPr>
          <p:spPr>
            <a:xfrm>
              <a:off x="8281988" y="1821418"/>
              <a:ext cx="1167257"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mn-lt"/>
                  <a:ea typeface="+mn-ea"/>
                  <a:cs typeface="+mn-cs"/>
                </a:rPr>
                <a:t>个人信息保护管理要点</a:t>
              </a:r>
            </a:p>
          </p:txBody>
        </p:sp>
        <p:sp>
          <p:nvSpPr>
            <p:cNvPr id="121" name="Rectangle 121"/>
            <p:cNvSpPr/>
            <p:nvPr/>
          </p:nvSpPr>
          <p:spPr>
            <a:xfrm>
              <a:off x="8153400" y="1981200"/>
              <a:ext cx="3905250" cy="190500"/>
            </a:xfrm>
            <a:prstGeom prst="rect">
              <a:avLst/>
            </a:prstGeom>
            <a:solidFill>
              <a:srgbClr val="C83210"/>
            </a:solidFill>
            <a:ln>
              <a:noFill/>
            </a:ln>
          </p:spPr>
        </p:sp>
        <p:sp>
          <p:nvSpPr>
            <p:cNvPr id="122" name="TextBox 122"/>
            <p:cNvSpPr txBox="1"/>
            <p:nvPr/>
          </p:nvSpPr>
          <p:spPr>
            <a:xfrm>
              <a:off x="8252981" y="204573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阶段</a:t>
              </a:r>
            </a:p>
          </p:txBody>
        </p:sp>
        <p:sp>
          <p:nvSpPr>
            <p:cNvPr id="123" name="TextBox 123"/>
            <p:cNvSpPr txBox="1"/>
            <p:nvPr/>
          </p:nvSpPr>
          <p:spPr>
            <a:xfrm>
              <a:off x="8652599" y="20457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关键动作</a:t>
              </a:r>
            </a:p>
          </p:txBody>
        </p:sp>
        <p:sp>
          <p:nvSpPr>
            <p:cNvPr id="124" name="TextBox 124"/>
            <p:cNvSpPr txBox="1"/>
            <p:nvPr/>
          </p:nvSpPr>
          <p:spPr>
            <a:xfrm>
              <a:off x="10481399" y="20457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管控要点</a:t>
              </a:r>
            </a:p>
          </p:txBody>
        </p:sp>
        <p:sp>
          <p:nvSpPr>
            <p:cNvPr id="125" name="Rectangle 125"/>
            <p:cNvSpPr/>
            <p:nvPr/>
          </p:nvSpPr>
          <p:spPr>
            <a:xfrm>
              <a:off x="8153400" y="2171700"/>
              <a:ext cx="381000" cy="1600200"/>
            </a:xfrm>
            <a:prstGeom prst="rect">
              <a:avLst/>
            </a:prstGeom>
            <a:solidFill>
              <a:srgbClr val="FBE3E6"/>
            </a:solidFill>
            <a:ln>
              <a:noFill/>
            </a:ln>
          </p:spPr>
        </p:sp>
        <p:sp>
          <p:nvSpPr>
            <p:cNvPr id="126" name="TextBox 126"/>
            <p:cNvSpPr txBox="1"/>
            <p:nvPr/>
          </p:nvSpPr>
          <p:spPr>
            <a:xfrm>
              <a:off x="8243557" y="2466261"/>
              <a:ext cx="200685"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事前</a:t>
              </a:r>
            </a:p>
          </p:txBody>
        </p:sp>
        <p:sp>
          <p:nvSpPr>
            <p:cNvPr id="127" name="TextBox 127"/>
            <p:cNvSpPr txBox="1"/>
            <p:nvPr/>
          </p:nvSpPr>
          <p:spPr>
            <a:xfrm>
              <a:off x="8243557" y="3037761"/>
              <a:ext cx="200685"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事中</a:t>
              </a:r>
            </a:p>
          </p:txBody>
        </p:sp>
        <p:sp>
          <p:nvSpPr>
            <p:cNvPr id="128" name="TextBox 128"/>
            <p:cNvSpPr txBox="1"/>
            <p:nvPr/>
          </p:nvSpPr>
          <p:spPr>
            <a:xfrm>
              <a:off x="8243557" y="3494961"/>
              <a:ext cx="200685" cy="140494"/>
            </a:xfrm>
            <a:prstGeom prst="rect">
              <a:avLst/>
            </a:prstGeom>
            <a:noFill/>
            <a:ln>
              <a:noFill/>
            </a:ln>
          </p:spPr>
          <p:txBody>
            <a:bodyPr wrap="none" lIns="0" tIns="0" rIns="0" bIns="0" anchor="t" anchorCtr="0">
              <a:spAutoFit/>
            </a:bodyPr>
            <a:lstStyle/>
            <a:p>
              <a:pPr algn="ctr"/>
              <a:r>
                <a:rPr lang="zh-CN" sz="710" b="1" dirty="0">
                  <a:solidFill>
                    <a:srgbClr val="C83210"/>
                  </a:solidFill>
                  <a:latin typeface="+mn-lt"/>
                  <a:ea typeface="+mn-ea"/>
                  <a:cs typeface="+mn-cs"/>
                </a:rPr>
                <a:t>事后</a:t>
              </a:r>
            </a:p>
          </p:txBody>
        </p:sp>
        <p:sp>
          <p:nvSpPr>
            <p:cNvPr id="129" name="TextBox 129"/>
            <p:cNvSpPr txBox="1"/>
            <p:nvPr/>
          </p:nvSpPr>
          <p:spPr>
            <a:xfrm>
              <a:off x="8586788" y="2256187"/>
              <a:ext cx="47800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客户授权同意</a:t>
              </a:r>
            </a:p>
          </p:txBody>
        </p:sp>
        <p:sp>
          <p:nvSpPr>
            <p:cNvPr id="130" name="TextBox 130"/>
            <p:cNvSpPr txBox="1"/>
            <p:nvPr/>
          </p:nvSpPr>
          <p:spPr>
            <a:xfrm>
              <a:off x="9310688" y="2258616"/>
              <a:ext cx="1291107"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明确信息收集目的，获取客户明示同意</a:t>
              </a:r>
            </a:p>
          </p:txBody>
        </p:sp>
        <p:sp>
          <p:nvSpPr>
            <p:cNvPr id="131" name="TextBox 131"/>
            <p:cNvSpPr txBox="1"/>
            <p:nvPr/>
          </p:nvSpPr>
          <p:spPr>
            <a:xfrm>
              <a:off x="8586788" y="2484787"/>
              <a:ext cx="47800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最小必要原则</a:t>
              </a:r>
            </a:p>
          </p:txBody>
        </p:sp>
        <p:sp>
          <p:nvSpPr>
            <p:cNvPr id="132" name="TextBox 132"/>
            <p:cNvSpPr txBox="1"/>
            <p:nvPr/>
          </p:nvSpPr>
          <p:spPr>
            <a:xfrm>
              <a:off x="9310688" y="2487216"/>
              <a:ext cx="1140333"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仅收集开展业务所必需的最少信息</a:t>
              </a:r>
            </a:p>
          </p:txBody>
        </p:sp>
        <p:sp>
          <p:nvSpPr>
            <p:cNvPr id="133" name="TextBox 133"/>
            <p:cNvSpPr txBox="1"/>
            <p:nvPr/>
          </p:nvSpPr>
          <p:spPr>
            <a:xfrm>
              <a:off x="8586788" y="2713387"/>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权限管理</a:t>
              </a:r>
            </a:p>
          </p:txBody>
        </p:sp>
        <p:sp>
          <p:nvSpPr>
            <p:cNvPr id="134" name="TextBox 134"/>
            <p:cNvSpPr txBox="1"/>
            <p:nvPr/>
          </p:nvSpPr>
          <p:spPr>
            <a:xfrm>
              <a:off x="9310688" y="2715816"/>
              <a:ext cx="1064946"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按岗位授权，严格控制访问范围</a:t>
              </a:r>
            </a:p>
          </p:txBody>
        </p:sp>
        <p:sp>
          <p:nvSpPr>
            <p:cNvPr id="135" name="TextBox 135"/>
            <p:cNvSpPr txBox="1"/>
            <p:nvPr/>
          </p:nvSpPr>
          <p:spPr>
            <a:xfrm>
              <a:off x="8586788" y="2941987"/>
              <a:ext cx="39992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使用与传输</a:t>
              </a:r>
            </a:p>
          </p:txBody>
        </p:sp>
        <p:sp>
          <p:nvSpPr>
            <p:cNvPr id="136" name="TextBox 136"/>
            <p:cNvSpPr txBox="1"/>
            <p:nvPr/>
          </p:nvSpPr>
          <p:spPr>
            <a:xfrm>
              <a:off x="9310688" y="2944416"/>
              <a:ext cx="1441882"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仅用于已告知的目的，采取加密等安全措施</a:t>
              </a:r>
            </a:p>
          </p:txBody>
        </p:sp>
        <p:sp>
          <p:nvSpPr>
            <p:cNvPr id="137" name="TextBox 137"/>
            <p:cNvSpPr txBox="1"/>
            <p:nvPr/>
          </p:nvSpPr>
          <p:spPr>
            <a:xfrm>
              <a:off x="8586788" y="3170587"/>
              <a:ext cx="47800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聊天内容管理</a:t>
              </a:r>
            </a:p>
          </p:txBody>
        </p:sp>
        <p:sp>
          <p:nvSpPr>
            <p:cNvPr id="138" name="TextBox 138"/>
            <p:cNvSpPr txBox="1"/>
            <p:nvPr/>
          </p:nvSpPr>
          <p:spPr>
            <a:xfrm>
              <a:off x="9310688" y="3173016"/>
              <a:ext cx="1215720"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禁止在企微聊天中传输敏感个人信息</a:t>
              </a:r>
            </a:p>
          </p:txBody>
        </p:sp>
        <p:sp>
          <p:nvSpPr>
            <p:cNvPr id="139" name="TextBox 139"/>
            <p:cNvSpPr txBox="1"/>
            <p:nvPr/>
          </p:nvSpPr>
          <p:spPr>
            <a:xfrm>
              <a:off x="8586788" y="3399187"/>
              <a:ext cx="39992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保存与删除</a:t>
              </a:r>
            </a:p>
          </p:txBody>
        </p:sp>
        <p:sp>
          <p:nvSpPr>
            <p:cNvPr id="140" name="TextBox 140"/>
            <p:cNvSpPr txBox="1"/>
            <p:nvPr/>
          </p:nvSpPr>
          <p:spPr>
            <a:xfrm>
              <a:off x="9310688" y="3401616"/>
              <a:ext cx="1441882"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按照规定期限保存，超期及时删除或匿名化</a:t>
              </a:r>
            </a:p>
          </p:txBody>
        </p:sp>
        <p:sp>
          <p:nvSpPr>
            <p:cNvPr id="141" name="TextBox 141"/>
            <p:cNvSpPr txBox="1"/>
            <p:nvPr/>
          </p:nvSpPr>
          <p:spPr>
            <a:xfrm>
              <a:off x="8586788" y="3627787"/>
              <a:ext cx="321843" cy="116205"/>
            </a:xfrm>
            <a:prstGeom prst="rect">
              <a:avLst/>
            </a:prstGeom>
            <a:noFill/>
            <a:ln>
              <a:noFill/>
            </a:ln>
          </p:spPr>
          <p:txBody>
            <a:bodyPr wrap="none" lIns="0" tIns="0" rIns="0" bIns="0" anchor="t" anchorCtr="0">
              <a:spAutoFit/>
            </a:bodyPr>
            <a:lstStyle/>
            <a:p>
              <a:pPr algn="l"/>
              <a:r>
                <a:rPr lang="zh-CN" sz="580" b="1" dirty="0">
                  <a:solidFill>
                    <a:srgbClr val="222222"/>
                  </a:solidFill>
                  <a:latin typeface="+mn-lt"/>
                  <a:ea typeface="+mn-ea"/>
                  <a:cs typeface="+mn-cs"/>
                </a:rPr>
                <a:t>安全审计</a:t>
              </a:r>
            </a:p>
          </p:txBody>
        </p:sp>
        <p:sp>
          <p:nvSpPr>
            <p:cNvPr id="142" name="TextBox 142"/>
            <p:cNvSpPr txBox="1"/>
            <p:nvPr/>
          </p:nvSpPr>
          <p:spPr>
            <a:xfrm>
              <a:off x="9310688" y="3630216"/>
              <a:ext cx="1291107" cy="111919"/>
            </a:xfrm>
            <a:prstGeom prst="rect">
              <a:avLst/>
            </a:prstGeom>
            <a:noFill/>
            <a:ln>
              <a:noFill/>
            </a:ln>
          </p:spPr>
          <p:txBody>
            <a:bodyPr wrap="none" lIns="0" tIns="0" rIns="0" bIns="0" anchor="t" anchorCtr="0">
              <a:spAutoFit/>
            </a:bodyPr>
            <a:lstStyle/>
            <a:p>
              <a:pPr algn="l"/>
              <a:r>
                <a:rPr lang="zh-CN" sz="560" dirty="0">
                  <a:solidFill>
                    <a:srgbClr val="3D3D3D"/>
                  </a:solidFill>
                  <a:latin typeface="+mn-lt"/>
                  <a:ea typeface="+mn-ea"/>
                  <a:cs typeface="+mn-cs"/>
                </a:rPr>
                <a:t>定期开展数据安全检查，及时处置风险</a:t>
              </a:r>
            </a:p>
          </p:txBody>
        </p:sp>
        <p:sp>
          <p:nvSpPr>
            <p:cNvPr id="143" name="Line 143"/>
            <p:cNvSpPr/>
            <p:nvPr/>
          </p:nvSpPr>
          <p:spPr>
            <a:xfrm>
              <a:off x="8534400" y="2171700"/>
              <a:ext cx="9525" cy="1600200"/>
            </a:xfrm>
            <a:custGeom>
              <a:avLst/>
              <a:gdLst/>
              <a:ahLst/>
              <a:cxnLst/>
              <a:rect l="l" t="t" r="r" b="b"/>
              <a:pathLst>
                <a:path w="9525" h="1600200">
                  <a:moveTo>
                    <a:pt x="0" y="0"/>
                  </a:moveTo>
                  <a:lnTo>
                    <a:pt x="0" y="1600200"/>
                  </a:lnTo>
                </a:path>
              </a:pathLst>
            </a:custGeom>
            <a:noFill/>
            <a:ln w="9525">
              <a:solidFill>
                <a:srgbClr val="F1C7CC"/>
              </a:solidFill>
            </a:ln>
          </p:spPr>
        </p:sp>
        <p:sp>
          <p:nvSpPr>
            <p:cNvPr id="144" name="Line 144"/>
            <p:cNvSpPr/>
            <p:nvPr/>
          </p:nvSpPr>
          <p:spPr>
            <a:xfrm>
              <a:off x="9258300" y="2171700"/>
              <a:ext cx="9525" cy="1600200"/>
            </a:xfrm>
            <a:custGeom>
              <a:avLst/>
              <a:gdLst/>
              <a:ahLst/>
              <a:cxnLst/>
              <a:rect l="l" t="t" r="r" b="b"/>
              <a:pathLst>
                <a:path w="9525" h="1600200">
                  <a:moveTo>
                    <a:pt x="0" y="0"/>
                  </a:moveTo>
                  <a:lnTo>
                    <a:pt x="0" y="1600200"/>
                  </a:lnTo>
                </a:path>
              </a:pathLst>
            </a:custGeom>
            <a:noFill/>
            <a:ln w="9525">
              <a:solidFill>
                <a:srgbClr val="F1C7CC"/>
              </a:solidFill>
            </a:ln>
          </p:spPr>
        </p:sp>
        <p:sp>
          <p:nvSpPr>
            <p:cNvPr id="145" name="Line 145"/>
            <p:cNvSpPr/>
            <p:nvPr/>
          </p:nvSpPr>
          <p:spPr>
            <a:xfrm>
              <a:off x="8534400" y="24003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146" name="Line 146"/>
            <p:cNvSpPr/>
            <p:nvPr/>
          </p:nvSpPr>
          <p:spPr>
            <a:xfrm>
              <a:off x="8534400" y="26289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147" name="Line 147"/>
            <p:cNvSpPr/>
            <p:nvPr/>
          </p:nvSpPr>
          <p:spPr>
            <a:xfrm>
              <a:off x="8153400" y="2857500"/>
              <a:ext cx="3905250" cy="9525"/>
            </a:xfrm>
            <a:custGeom>
              <a:avLst/>
              <a:gdLst/>
              <a:ahLst/>
              <a:cxnLst/>
              <a:rect l="l" t="t" r="r" b="b"/>
              <a:pathLst>
                <a:path w="3905250" h="9525">
                  <a:moveTo>
                    <a:pt x="0" y="0"/>
                  </a:moveTo>
                  <a:lnTo>
                    <a:pt x="3905250" y="0"/>
                  </a:lnTo>
                </a:path>
              </a:pathLst>
            </a:custGeom>
            <a:noFill/>
            <a:ln w="9525">
              <a:solidFill>
                <a:srgbClr val="E9826B"/>
              </a:solidFill>
            </a:ln>
          </p:spPr>
        </p:sp>
        <p:sp>
          <p:nvSpPr>
            <p:cNvPr id="148" name="Line 148"/>
            <p:cNvSpPr/>
            <p:nvPr/>
          </p:nvSpPr>
          <p:spPr>
            <a:xfrm>
              <a:off x="8534400" y="30861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149" name="Line 149"/>
            <p:cNvSpPr/>
            <p:nvPr/>
          </p:nvSpPr>
          <p:spPr>
            <a:xfrm>
              <a:off x="8153400" y="3314700"/>
              <a:ext cx="3905250" cy="9525"/>
            </a:xfrm>
            <a:custGeom>
              <a:avLst/>
              <a:gdLst/>
              <a:ahLst/>
              <a:cxnLst/>
              <a:rect l="l" t="t" r="r" b="b"/>
              <a:pathLst>
                <a:path w="3905250" h="9525">
                  <a:moveTo>
                    <a:pt x="0" y="0"/>
                  </a:moveTo>
                  <a:lnTo>
                    <a:pt x="3905250" y="0"/>
                  </a:lnTo>
                </a:path>
              </a:pathLst>
            </a:custGeom>
            <a:noFill/>
            <a:ln w="9525">
              <a:solidFill>
                <a:srgbClr val="E9826B"/>
              </a:solidFill>
            </a:ln>
          </p:spPr>
        </p:sp>
        <p:sp>
          <p:nvSpPr>
            <p:cNvPr id="150" name="Line 150"/>
            <p:cNvSpPr/>
            <p:nvPr/>
          </p:nvSpPr>
          <p:spPr>
            <a:xfrm>
              <a:off x="8534400" y="3543300"/>
              <a:ext cx="3524250" cy="9525"/>
            </a:xfrm>
            <a:custGeom>
              <a:avLst/>
              <a:gdLst/>
              <a:ahLst/>
              <a:cxnLst/>
              <a:rect l="l" t="t" r="r" b="b"/>
              <a:pathLst>
                <a:path w="3524250" h="9525">
                  <a:moveTo>
                    <a:pt x="0" y="0"/>
                  </a:moveTo>
                  <a:lnTo>
                    <a:pt x="3524250" y="0"/>
                  </a:lnTo>
                </a:path>
              </a:pathLst>
            </a:custGeom>
            <a:noFill/>
            <a:ln w="9525">
              <a:solidFill>
                <a:srgbClr val="F1C7CC"/>
              </a:solidFill>
            </a:ln>
          </p:spPr>
        </p:sp>
        <p:sp>
          <p:nvSpPr>
            <p:cNvPr id="151" name="Line 151"/>
            <p:cNvSpPr/>
            <p:nvPr/>
          </p:nvSpPr>
          <p:spPr>
            <a:xfrm>
              <a:off x="8153400" y="3771900"/>
              <a:ext cx="3905250" cy="9525"/>
            </a:xfrm>
            <a:custGeom>
              <a:avLst/>
              <a:gdLst/>
              <a:ahLst/>
              <a:cxnLst/>
              <a:rect l="l" t="t" r="r" b="b"/>
              <a:pathLst>
                <a:path w="3905250" h="9525">
                  <a:moveTo>
                    <a:pt x="0" y="0"/>
                  </a:moveTo>
                  <a:lnTo>
                    <a:pt x="3905250" y="0"/>
                  </a:lnTo>
                </a:path>
              </a:pathLst>
            </a:custGeom>
            <a:noFill/>
            <a:ln w="9525">
              <a:solidFill>
                <a:srgbClr val="F1C7CC"/>
              </a:solidFill>
            </a:ln>
          </p:spPr>
        </p:sp>
      </p:grpSp>
      <p:grpSp>
        <p:nvGrpSpPr>
          <p:cNvPr id="203" name="audit-flow"/>
          <p:cNvGrpSpPr/>
          <p:nvPr/>
        </p:nvGrpSpPr>
        <p:grpSpPr>
          <a:xfrm>
            <a:off x="133350" y="3886200"/>
            <a:ext cx="3905250" cy="1828800"/>
            <a:chOff x="133350" y="3886200"/>
            <a:chExt cx="3905250" cy="1828800"/>
          </a:xfrm>
        </p:grpSpPr>
        <p:sp>
          <p:nvSpPr>
            <p:cNvPr id="153" name="Rectangle 153"/>
            <p:cNvSpPr/>
            <p:nvPr/>
          </p:nvSpPr>
          <p:spPr>
            <a:xfrm>
              <a:off x="133350" y="3886200"/>
              <a:ext cx="3905250" cy="1828800"/>
            </a:xfrm>
            <a:prstGeom prst="roundRect">
              <a:avLst>
                <a:gd name="adj" fmla="val 3125"/>
              </a:avLst>
            </a:prstGeom>
            <a:solidFill>
              <a:srgbClr val="FDEFF1"/>
            </a:solidFill>
            <a:ln>
              <a:noFill/>
            </a:ln>
          </p:spPr>
        </p:sp>
        <p:sp>
          <p:nvSpPr>
            <p:cNvPr id="154" name="Rectangle 154"/>
            <p:cNvSpPr/>
            <p:nvPr/>
          </p:nvSpPr>
          <p:spPr>
            <a:xfrm>
              <a:off x="209550" y="3962400"/>
              <a:ext cx="38100" cy="133350"/>
            </a:xfrm>
            <a:prstGeom prst="rect">
              <a:avLst/>
            </a:prstGeom>
            <a:solidFill>
              <a:srgbClr val="C83210"/>
            </a:solidFill>
            <a:ln>
              <a:noFill/>
            </a:ln>
          </p:spPr>
        </p:sp>
        <p:sp>
          <p:nvSpPr>
            <p:cNvPr id="155" name="TextBox 155"/>
            <p:cNvSpPr txBox="1"/>
            <p:nvPr/>
          </p:nvSpPr>
          <p:spPr>
            <a:xfrm>
              <a:off x="300038" y="3974068"/>
              <a:ext cx="935711"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mn-lt"/>
                  <a:ea typeface="+mn-ea"/>
                  <a:cs typeface="+mn-cs"/>
                </a:rPr>
                <a:t>内容审核发布流程</a:t>
              </a:r>
            </a:p>
          </p:txBody>
        </p:sp>
        <p:sp>
          <p:nvSpPr>
            <p:cNvPr id="156" name="Ellipse 156"/>
            <p:cNvSpPr/>
            <p:nvPr/>
          </p:nvSpPr>
          <p:spPr>
            <a:xfrm>
              <a:off x="285750" y="4305300"/>
              <a:ext cx="342900" cy="342900"/>
            </a:xfrm>
            <a:prstGeom prst="ellipse">
              <a:avLst/>
            </a:prstGeom>
            <a:solidFill>
              <a:srgbClr val="FFFFFF"/>
            </a:solidFill>
            <a:ln>
              <a:noFill/>
            </a:ln>
          </p:spPr>
        </p:sp>
        <p:grpSp>
          <p:nvGrpSpPr>
            <p:cNvPr id="162" name="Group 162"/>
            <p:cNvGrpSpPr/>
            <p:nvPr/>
          </p:nvGrpSpPr>
          <p:grpSpPr>
            <a:xfrm>
              <a:off x="401637" y="4405312"/>
              <a:ext cx="111125" cy="142875"/>
              <a:chOff x="401637" y="4405312"/>
              <a:chExt cx="111125" cy="142875"/>
            </a:xfrm>
          </p:grpSpPr>
          <p:sp>
            <p:nvSpPr>
              <p:cNvPr id="157" name="Freeform 157"/>
              <p:cNvSpPr/>
              <p:nvPr/>
            </p:nvSpPr>
            <p:spPr>
              <a:xfrm>
                <a:off x="473075" y="44053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C83210"/>
                </a:solidFill>
              </a:ln>
            </p:spPr>
          </p:sp>
          <p:sp>
            <p:nvSpPr>
              <p:cNvPr id="158" name="Freeform 158"/>
              <p:cNvSpPr/>
              <p:nvPr/>
            </p:nvSpPr>
            <p:spPr>
              <a:xfrm>
                <a:off x="401637" y="44053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C83210"/>
                </a:solidFill>
              </a:ln>
            </p:spPr>
          </p:sp>
          <p:sp>
            <p:nvSpPr>
              <p:cNvPr id="159" name="Freeform 159"/>
              <p:cNvSpPr/>
              <p:nvPr/>
            </p:nvSpPr>
            <p:spPr>
              <a:xfrm>
                <a:off x="433387" y="4452937"/>
                <a:ext cx="9525" cy="9525"/>
              </a:xfrm>
              <a:custGeom>
                <a:avLst/>
                <a:gdLst/>
                <a:ahLst/>
                <a:cxnLst/>
                <a:rect l="l" t="t" r="r" b="b"/>
                <a:pathLst>
                  <a:path w="9525" h="9525">
                    <a:moveTo>
                      <a:pt x="0" y="0"/>
                    </a:moveTo>
                    <a:lnTo>
                      <a:pt x="7937" y="0"/>
                    </a:lnTo>
                  </a:path>
                </a:pathLst>
              </a:custGeom>
              <a:noFill/>
              <a:ln w="15875">
                <a:solidFill>
                  <a:srgbClr val="C83210"/>
                </a:solidFill>
              </a:ln>
            </p:spPr>
          </p:sp>
          <p:sp>
            <p:nvSpPr>
              <p:cNvPr id="160" name="Freeform 160"/>
              <p:cNvSpPr/>
              <p:nvPr/>
            </p:nvSpPr>
            <p:spPr>
              <a:xfrm>
                <a:off x="433387" y="4484687"/>
                <a:ext cx="47625" cy="9525"/>
              </a:xfrm>
              <a:custGeom>
                <a:avLst/>
                <a:gdLst/>
                <a:ahLst/>
                <a:cxnLst/>
                <a:rect l="l" t="t" r="r" b="b"/>
                <a:pathLst>
                  <a:path w="47625" h="9525">
                    <a:moveTo>
                      <a:pt x="0" y="0"/>
                    </a:moveTo>
                    <a:lnTo>
                      <a:pt x="47625" y="0"/>
                    </a:lnTo>
                  </a:path>
                </a:pathLst>
              </a:custGeom>
              <a:noFill/>
              <a:ln w="15875">
                <a:solidFill>
                  <a:srgbClr val="C83210"/>
                </a:solidFill>
              </a:ln>
            </p:spPr>
          </p:sp>
          <p:sp>
            <p:nvSpPr>
              <p:cNvPr id="161" name="Freeform 161"/>
              <p:cNvSpPr/>
              <p:nvPr/>
            </p:nvSpPr>
            <p:spPr>
              <a:xfrm>
                <a:off x="433387" y="4516437"/>
                <a:ext cx="47625" cy="9525"/>
              </a:xfrm>
              <a:custGeom>
                <a:avLst/>
                <a:gdLst/>
                <a:ahLst/>
                <a:cxnLst/>
                <a:rect l="l" t="t" r="r" b="b"/>
                <a:pathLst>
                  <a:path w="47625" h="9525">
                    <a:moveTo>
                      <a:pt x="0" y="0"/>
                    </a:moveTo>
                    <a:lnTo>
                      <a:pt x="47625" y="0"/>
                    </a:lnTo>
                  </a:path>
                </a:pathLst>
              </a:custGeom>
              <a:noFill/>
              <a:ln w="15875">
                <a:solidFill>
                  <a:srgbClr val="C83210"/>
                </a:solidFill>
              </a:ln>
            </p:spPr>
          </p:sp>
        </p:grpSp>
        <p:sp>
          <p:nvSpPr>
            <p:cNvPr id="163" name="TextBox 163"/>
            <p:cNvSpPr txBox="1"/>
            <p:nvPr/>
          </p:nvSpPr>
          <p:spPr>
            <a:xfrm>
              <a:off x="216799" y="4769882"/>
              <a:ext cx="480803"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1. 内容草案</a:t>
              </a:r>
            </a:p>
          </p:txBody>
        </p:sp>
        <p:sp>
          <p:nvSpPr>
            <p:cNvPr id="164" name="TextBox 164"/>
            <p:cNvSpPr txBox="1"/>
            <p:nvPr/>
          </p:nvSpPr>
          <p:spPr>
            <a:xfrm>
              <a:off x="242430" y="4915376"/>
              <a:ext cx="429539" cy="104775"/>
            </a:xfrm>
            <a:prstGeom prst="rect">
              <a:avLst/>
            </a:prstGeom>
            <a:noFill/>
            <a:ln>
              <a:noFill/>
            </a:ln>
          </p:spPr>
          <p:txBody>
            <a:bodyPr wrap="none" lIns="0" tIns="0" rIns="0" bIns="0" anchor="t" anchorCtr="0">
              <a:spAutoFit/>
            </a:bodyPr>
            <a:lstStyle/>
            <a:p>
              <a:pPr algn="ctr"/>
              <a:r>
                <a:rPr lang="zh-CN" sz="520" dirty="0">
                  <a:solidFill>
                    <a:srgbClr val="808080"/>
                  </a:solidFill>
                  <a:latin typeface="+mn-lt"/>
                  <a:ea typeface="+mn-ea"/>
                  <a:cs typeface="+mn-cs"/>
                </a:rPr>
                <a:t>业务人员撰写</a:t>
              </a:r>
            </a:p>
          </p:txBody>
        </p:sp>
        <p:sp>
          <p:nvSpPr>
            <p:cNvPr id="165" name="Ellipse 165"/>
            <p:cNvSpPr/>
            <p:nvPr/>
          </p:nvSpPr>
          <p:spPr>
            <a:xfrm>
              <a:off x="933450" y="4305300"/>
              <a:ext cx="342900" cy="342900"/>
            </a:xfrm>
            <a:prstGeom prst="ellipse">
              <a:avLst/>
            </a:prstGeom>
            <a:solidFill>
              <a:srgbClr val="FFFFFF"/>
            </a:solidFill>
            <a:ln>
              <a:noFill/>
            </a:ln>
          </p:spPr>
        </p:sp>
        <p:grpSp>
          <p:nvGrpSpPr>
            <p:cNvPr id="168" name="Group 168"/>
            <p:cNvGrpSpPr/>
            <p:nvPr/>
          </p:nvGrpSpPr>
          <p:grpSpPr>
            <a:xfrm>
              <a:off x="1033462" y="4405312"/>
              <a:ext cx="142875" cy="142875"/>
              <a:chOff x="1033462" y="4405312"/>
              <a:chExt cx="142875" cy="142875"/>
            </a:xfrm>
          </p:grpSpPr>
          <p:sp>
            <p:nvSpPr>
              <p:cNvPr id="166" name="Freeform 166"/>
              <p:cNvSpPr/>
              <p:nvPr/>
            </p:nvSpPr>
            <p:spPr>
              <a:xfrm>
                <a:off x="1033462" y="44053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C83210"/>
                </a:solidFill>
              </a:ln>
            </p:spPr>
          </p:sp>
          <p:sp>
            <p:nvSpPr>
              <p:cNvPr id="167" name="Freeform 167"/>
              <p:cNvSpPr/>
              <p:nvPr/>
            </p:nvSpPr>
            <p:spPr>
              <a:xfrm>
                <a:off x="1128712" y="4500562"/>
                <a:ext cx="47625" cy="47625"/>
              </a:xfrm>
              <a:custGeom>
                <a:avLst/>
                <a:gdLst/>
                <a:ahLst/>
                <a:cxnLst/>
                <a:rect l="l" t="t" r="r" b="b"/>
                <a:pathLst>
                  <a:path w="47625" h="47625">
                    <a:moveTo>
                      <a:pt x="47625" y="47625"/>
                    </a:moveTo>
                    <a:lnTo>
                      <a:pt x="0" y="0"/>
                    </a:lnTo>
                  </a:path>
                </a:pathLst>
              </a:custGeom>
              <a:noFill/>
              <a:ln w="15875">
                <a:solidFill>
                  <a:srgbClr val="C83210"/>
                </a:solidFill>
              </a:ln>
            </p:spPr>
          </p:sp>
        </p:grpSp>
        <p:sp>
          <p:nvSpPr>
            <p:cNvPr id="169" name="TextBox 169"/>
            <p:cNvSpPr txBox="1"/>
            <p:nvPr/>
          </p:nvSpPr>
          <p:spPr>
            <a:xfrm>
              <a:off x="864499" y="4769882"/>
              <a:ext cx="480803"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2. 业务审核</a:t>
              </a:r>
            </a:p>
          </p:txBody>
        </p:sp>
        <p:sp>
          <p:nvSpPr>
            <p:cNvPr id="170" name="TextBox 170"/>
            <p:cNvSpPr txBox="1"/>
            <p:nvPr/>
          </p:nvSpPr>
          <p:spPr>
            <a:xfrm>
              <a:off x="855129" y="4915376"/>
              <a:ext cx="499542" cy="104775"/>
            </a:xfrm>
            <a:prstGeom prst="rect">
              <a:avLst/>
            </a:prstGeom>
            <a:noFill/>
            <a:ln>
              <a:noFill/>
            </a:ln>
          </p:spPr>
          <p:txBody>
            <a:bodyPr wrap="none" lIns="0" tIns="0" rIns="0" bIns="0" anchor="t" anchorCtr="0">
              <a:spAutoFit/>
            </a:bodyPr>
            <a:lstStyle/>
            <a:p>
              <a:pPr algn="ctr"/>
              <a:r>
                <a:rPr lang="zh-CN" sz="520" dirty="0">
                  <a:solidFill>
                    <a:srgbClr val="808080"/>
                  </a:solidFill>
                  <a:latin typeface="+mn-lt"/>
                  <a:ea typeface="+mn-ea"/>
                  <a:cs typeface="+mn-cs"/>
                </a:rPr>
                <a:t>部门负责人审核</a:t>
              </a:r>
            </a:p>
          </p:txBody>
        </p:sp>
        <p:sp>
          <p:nvSpPr>
            <p:cNvPr id="171" name="Ellipse 171"/>
            <p:cNvSpPr/>
            <p:nvPr/>
          </p:nvSpPr>
          <p:spPr>
            <a:xfrm>
              <a:off x="1590675" y="4305300"/>
              <a:ext cx="342900" cy="342900"/>
            </a:xfrm>
            <a:prstGeom prst="ellipse">
              <a:avLst/>
            </a:prstGeom>
            <a:solidFill>
              <a:srgbClr val="FFFFFF"/>
            </a:solidFill>
            <a:ln>
              <a:noFill/>
            </a:ln>
          </p:spPr>
        </p:sp>
        <p:grpSp>
          <p:nvGrpSpPr>
            <p:cNvPr id="174" name="Group 174"/>
            <p:cNvGrpSpPr/>
            <p:nvPr/>
          </p:nvGrpSpPr>
          <p:grpSpPr>
            <a:xfrm>
              <a:off x="1679975" y="4405312"/>
              <a:ext cx="155005" cy="142875"/>
              <a:chOff x="1679975" y="4405312"/>
              <a:chExt cx="155005" cy="142875"/>
            </a:xfrm>
          </p:grpSpPr>
          <p:sp>
            <p:nvSpPr>
              <p:cNvPr id="172" name="Freeform 172"/>
              <p:cNvSpPr/>
              <p:nvPr/>
            </p:nvSpPr>
            <p:spPr>
              <a:xfrm>
                <a:off x="1679975" y="44053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C83210"/>
                </a:solidFill>
              </a:ln>
            </p:spPr>
          </p:sp>
          <p:sp>
            <p:nvSpPr>
              <p:cNvPr id="173" name="Freeform 173"/>
              <p:cNvSpPr/>
              <p:nvPr/>
            </p:nvSpPr>
            <p:spPr>
              <a:xfrm>
                <a:off x="1785937" y="4516437"/>
                <a:ext cx="47625" cy="31750"/>
              </a:xfrm>
              <a:custGeom>
                <a:avLst/>
                <a:gdLst/>
                <a:ahLst/>
                <a:cxnLst/>
                <a:rect l="l" t="t" r="r" b="b"/>
                <a:pathLst>
                  <a:path w="47625" h="31750">
                    <a:moveTo>
                      <a:pt x="0" y="15875"/>
                    </a:moveTo>
                    <a:lnTo>
                      <a:pt x="15875" y="31750"/>
                    </a:lnTo>
                    <a:lnTo>
                      <a:pt x="47625" y="0"/>
                    </a:lnTo>
                  </a:path>
                </a:pathLst>
              </a:custGeom>
              <a:noFill/>
              <a:ln w="15875">
                <a:solidFill>
                  <a:srgbClr val="C83210"/>
                </a:solidFill>
              </a:ln>
            </p:spPr>
          </p:sp>
        </p:grpSp>
        <p:sp>
          <p:nvSpPr>
            <p:cNvPr id="175" name="TextBox 175"/>
            <p:cNvSpPr txBox="1"/>
            <p:nvPr/>
          </p:nvSpPr>
          <p:spPr>
            <a:xfrm>
              <a:off x="1410689" y="4769882"/>
              <a:ext cx="702872"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3. 合规/消保审核</a:t>
              </a:r>
            </a:p>
          </p:txBody>
        </p:sp>
        <p:sp>
          <p:nvSpPr>
            <p:cNvPr id="176" name="TextBox 176"/>
            <p:cNvSpPr txBox="1"/>
            <p:nvPr/>
          </p:nvSpPr>
          <p:spPr>
            <a:xfrm>
              <a:off x="1512354" y="4915376"/>
              <a:ext cx="499542" cy="104775"/>
            </a:xfrm>
            <a:prstGeom prst="rect">
              <a:avLst/>
            </a:prstGeom>
            <a:noFill/>
            <a:ln>
              <a:noFill/>
            </a:ln>
          </p:spPr>
          <p:txBody>
            <a:bodyPr wrap="none" lIns="0" tIns="0" rIns="0" bIns="0" anchor="t" anchorCtr="0">
              <a:spAutoFit/>
            </a:bodyPr>
            <a:lstStyle/>
            <a:p>
              <a:pPr algn="ctr"/>
              <a:r>
                <a:rPr lang="zh-CN" sz="520" dirty="0">
                  <a:solidFill>
                    <a:srgbClr val="808080"/>
                  </a:solidFill>
                  <a:latin typeface="+mn-lt"/>
                  <a:ea typeface="+mn-ea"/>
                  <a:cs typeface="+mn-cs"/>
                </a:rPr>
                <a:t>合规与消保复核</a:t>
              </a:r>
            </a:p>
          </p:txBody>
        </p:sp>
        <p:sp>
          <p:nvSpPr>
            <p:cNvPr id="177" name="Ellipse 177"/>
            <p:cNvSpPr/>
            <p:nvPr/>
          </p:nvSpPr>
          <p:spPr>
            <a:xfrm>
              <a:off x="2238375" y="4305300"/>
              <a:ext cx="342900" cy="342900"/>
            </a:xfrm>
            <a:prstGeom prst="ellipse">
              <a:avLst/>
            </a:prstGeom>
            <a:solidFill>
              <a:srgbClr val="FFFFFF"/>
            </a:solidFill>
            <a:ln>
              <a:noFill/>
            </a:ln>
          </p:spPr>
        </p:sp>
        <p:grpSp>
          <p:nvGrpSpPr>
            <p:cNvPr id="180" name="Group 180"/>
            <p:cNvGrpSpPr/>
            <p:nvPr/>
          </p:nvGrpSpPr>
          <p:grpSpPr>
            <a:xfrm>
              <a:off x="2335841" y="4405312"/>
              <a:ext cx="145422" cy="145422"/>
              <a:chOff x="2335841" y="4405312"/>
              <a:chExt cx="145422" cy="145422"/>
            </a:xfrm>
          </p:grpSpPr>
          <p:sp>
            <p:nvSpPr>
              <p:cNvPr id="178" name="Freeform 178"/>
              <p:cNvSpPr/>
              <p:nvPr/>
            </p:nvSpPr>
            <p:spPr>
              <a:xfrm>
                <a:off x="2393950" y="4405312"/>
                <a:ext cx="87312" cy="87312"/>
              </a:xfrm>
              <a:custGeom>
                <a:avLst/>
                <a:gdLst/>
                <a:ahLst/>
                <a:cxnLst/>
                <a:rect l="l" t="t" r="r" b="b"/>
                <a:pathLst>
                  <a:path w="87312" h="87312">
                    <a:moveTo>
                      <a:pt x="0" y="87312"/>
                    </a:moveTo>
                    <a:lnTo>
                      <a:pt x="87312" y="0"/>
                    </a:lnTo>
                  </a:path>
                </a:pathLst>
              </a:custGeom>
              <a:noFill/>
              <a:ln w="15875">
                <a:solidFill>
                  <a:srgbClr val="C83210"/>
                </a:solidFill>
              </a:ln>
            </p:spPr>
          </p:sp>
          <p:sp>
            <p:nvSpPr>
              <p:cNvPr id="179" name="Freeform 179"/>
              <p:cNvSpPr/>
              <p:nvPr/>
            </p:nvSpPr>
            <p:spPr>
              <a:xfrm>
                <a:off x="2335841" y="4405312"/>
                <a:ext cx="145422" cy="145422"/>
              </a:xfrm>
              <a:custGeom>
                <a:avLst/>
                <a:gdLst/>
                <a:ahLst/>
                <a:cxnLst/>
                <a:rect l="l" t="t" r="r" b="b"/>
                <a:pathLst>
                  <a:path w="145422" h="145422">
                    <a:moveTo>
                      <a:pt x="145422" y="0"/>
                    </a:moveTo>
                    <a:lnTo>
                      <a:pt x="93828" y="142875"/>
                    </a:lnTo>
                    <a:cubicBezTo>
                      <a:pt x="93117" y="144427"/>
                      <a:pt x="91566" y="145422"/>
                      <a:pt x="89859" y="145422"/>
                    </a:cubicBezTo>
                    <a:cubicBezTo>
                      <a:pt x="88152" y="145422"/>
                      <a:pt x="86602" y="144427"/>
                      <a:pt x="85891" y="142875"/>
                    </a:cubicBezTo>
                    <a:lnTo>
                      <a:pt x="58109" y="87312"/>
                    </a:lnTo>
                    <a:lnTo>
                      <a:pt x="2547" y="59531"/>
                    </a:lnTo>
                    <a:cubicBezTo>
                      <a:pt x="995" y="58820"/>
                      <a:pt x="0" y="57270"/>
                      <a:pt x="0" y="55562"/>
                    </a:cubicBezTo>
                    <a:cubicBezTo>
                      <a:pt x="0" y="53855"/>
                      <a:pt x="995" y="52305"/>
                      <a:pt x="2547" y="51594"/>
                    </a:cubicBezTo>
                    <a:lnTo>
                      <a:pt x="145422" y="0"/>
                    </a:lnTo>
                  </a:path>
                </a:pathLst>
              </a:custGeom>
              <a:noFill/>
              <a:ln w="15875">
                <a:solidFill>
                  <a:srgbClr val="C83210"/>
                </a:solidFill>
              </a:ln>
            </p:spPr>
          </p:sp>
        </p:grpSp>
        <p:sp>
          <p:nvSpPr>
            <p:cNvPr id="181" name="TextBox 181"/>
            <p:cNvSpPr txBox="1"/>
            <p:nvPr/>
          </p:nvSpPr>
          <p:spPr>
            <a:xfrm>
              <a:off x="2169424" y="4769882"/>
              <a:ext cx="480803"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4. 正式发布</a:t>
              </a:r>
            </a:p>
          </p:txBody>
        </p:sp>
        <p:sp>
          <p:nvSpPr>
            <p:cNvPr id="182" name="TextBox 182"/>
            <p:cNvSpPr txBox="1"/>
            <p:nvPr/>
          </p:nvSpPr>
          <p:spPr>
            <a:xfrm>
              <a:off x="2125053" y="4915376"/>
              <a:ext cx="569544" cy="104775"/>
            </a:xfrm>
            <a:prstGeom prst="rect">
              <a:avLst/>
            </a:prstGeom>
            <a:noFill/>
            <a:ln>
              <a:noFill/>
            </a:ln>
          </p:spPr>
          <p:txBody>
            <a:bodyPr wrap="none" lIns="0" tIns="0" rIns="0" bIns="0" anchor="t" anchorCtr="0">
              <a:spAutoFit/>
            </a:bodyPr>
            <a:lstStyle/>
            <a:p>
              <a:pPr algn="ctr"/>
              <a:r>
                <a:rPr lang="zh-CN" sz="520" dirty="0">
                  <a:solidFill>
                    <a:srgbClr val="808080"/>
                  </a:solidFill>
                  <a:latin typeface="+mn-lt"/>
                  <a:ea typeface="+mn-ea"/>
                  <a:cs typeface="+mn-cs"/>
                </a:rPr>
                <a:t>仅发布已通过内容</a:t>
              </a:r>
            </a:p>
          </p:txBody>
        </p:sp>
        <p:sp>
          <p:nvSpPr>
            <p:cNvPr id="183" name="Ellipse 183"/>
            <p:cNvSpPr/>
            <p:nvPr/>
          </p:nvSpPr>
          <p:spPr>
            <a:xfrm>
              <a:off x="2886075" y="4305300"/>
              <a:ext cx="342900" cy="342900"/>
            </a:xfrm>
            <a:prstGeom prst="ellipse">
              <a:avLst/>
            </a:prstGeom>
            <a:solidFill>
              <a:srgbClr val="FFFFFF"/>
            </a:solidFill>
            <a:ln>
              <a:noFill/>
            </a:ln>
          </p:spPr>
        </p:sp>
        <p:grpSp>
          <p:nvGrpSpPr>
            <p:cNvPr id="187" name="Group 187"/>
            <p:cNvGrpSpPr/>
            <p:nvPr/>
          </p:nvGrpSpPr>
          <p:grpSpPr>
            <a:xfrm>
              <a:off x="2986087" y="4413250"/>
              <a:ext cx="142875" cy="127000"/>
              <a:chOff x="2986087" y="4413250"/>
              <a:chExt cx="142875" cy="127000"/>
            </a:xfrm>
          </p:grpSpPr>
          <p:sp>
            <p:nvSpPr>
              <p:cNvPr id="184" name="Freeform 184"/>
              <p:cNvSpPr/>
              <p:nvPr/>
            </p:nvSpPr>
            <p:spPr>
              <a:xfrm>
                <a:off x="2986087" y="4413250"/>
                <a:ext cx="142875" cy="31750"/>
              </a:xfrm>
              <a:custGeom>
                <a:avLst/>
                <a:gdLst/>
                <a:ahLst/>
                <a:cxnLst/>
                <a:rect l="l" t="t" r="r" b="b"/>
                <a:pathLst>
                  <a:path w="142875" h="31750">
                    <a:moveTo>
                      <a:pt x="0" y="15875"/>
                    </a:moveTo>
                    <a:cubicBezTo>
                      <a:pt x="0" y="7107"/>
                      <a:pt x="7107" y="0"/>
                      <a:pt x="15875" y="0"/>
                    </a:cubicBezTo>
                    <a:lnTo>
                      <a:pt x="127000" y="0"/>
                    </a:lnTo>
                    <a:cubicBezTo>
                      <a:pt x="135767" y="0"/>
                      <a:pt x="142875" y="7107"/>
                      <a:pt x="142875" y="15875"/>
                    </a:cubicBezTo>
                    <a:cubicBezTo>
                      <a:pt x="142875" y="24643"/>
                      <a:pt x="135767" y="31750"/>
                      <a:pt x="127000" y="31750"/>
                    </a:cubicBezTo>
                    <a:lnTo>
                      <a:pt x="15875" y="31750"/>
                    </a:lnTo>
                    <a:cubicBezTo>
                      <a:pt x="7107" y="31750"/>
                      <a:pt x="0" y="24643"/>
                      <a:pt x="0" y="15875"/>
                    </a:cubicBezTo>
                  </a:path>
                </a:pathLst>
              </a:custGeom>
              <a:noFill/>
              <a:ln w="15875">
                <a:solidFill>
                  <a:srgbClr val="C83210"/>
                </a:solidFill>
              </a:ln>
            </p:spPr>
          </p:sp>
          <p:sp>
            <p:nvSpPr>
              <p:cNvPr id="185" name="Freeform 185"/>
              <p:cNvSpPr/>
              <p:nvPr/>
            </p:nvSpPr>
            <p:spPr>
              <a:xfrm>
                <a:off x="3001962" y="4445000"/>
                <a:ext cx="111125" cy="95250"/>
              </a:xfrm>
              <a:custGeom>
                <a:avLst/>
                <a:gdLst/>
                <a:ahLst/>
                <a:cxnLst/>
                <a:rect l="l" t="t" r="r" b="b"/>
                <a:pathLst>
                  <a:path w="111125" h="95250">
                    <a:moveTo>
                      <a:pt x="0" y="0"/>
                    </a:moveTo>
                    <a:lnTo>
                      <a:pt x="0" y="79375"/>
                    </a:lnTo>
                    <a:cubicBezTo>
                      <a:pt x="0" y="88142"/>
                      <a:pt x="7107" y="95250"/>
                      <a:pt x="15875" y="95250"/>
                    </a:cubicBezTo>
                    <a:lnTo>
                      <a:pt x="95250" y="95250"/>
                    </a:lnTo>
                    <a:cubicBezTo>
                      <a:pt x="104017" y="95250"/>
                      <a:pt x="111125" y="88142"/>
                      <a:pt x="111125" y="79375"/>
                    </a:cubicBezTo>
                    <a:lnTo>
                      <a:pt x="111125" y="0"/>
                    </a:lnTo>
                  </a:path>
                </a:pathLst>
              </a:custGeom>
              <a:noFill/>
              <a:ln w="15875">
                <a:solidFill>
                  <a:srgbClr val="C83210"/>
                </a:solidFill>
              </a:ln>
            </p:spPr>
          </p:sp>
          <p:sp>
            <p:nvSpPr>
              <p:cNvPr id="186" name="Freeform 186"/>
              <p:cNvSpPr/>
              <p:nvPr/>
            </p:nvSpPr>
            <p:spPr>
              <a:xfrm>
                <a:off x="3041650" y="4476750"/>
                <a:ext cx="31750" cy="9525"/>
              </a:xfrm>
              <a:custGeom>
                <a:avLst/>
                <a:gdLst/>
                <a:ahLst/>
                <a:cxnLst/>
                <a:rect l="l" t="t" r="r" b="b"/>
                <a:pathLst>
                  <a:path w="31750" h="9525">
                    <a:moveTo>
                      <a:pt x="0" y="0"/>
                    </a:moveTo>
                    <a:lnTo>
                      <a:pt x="31750" y="0"/>
                    </a:lnTo>
                  </a:path>
                </a:pathLst>
              </a:custGeom>
              <a:noFill/>
              <a:ln w="15875">
                <a:solidFill>
                  <a:srgbClr val="C83210"/>
                </a:solidFill>
              </a:ln>
            </p:spPr>
          </p:sp>
        </p:grpSp>
        <p:sp>
          <p:nvSpPr>
            <p:cNvPr id="188" name="TextBox 188"/>
            <p:cNvSpPr txBox="1"/>
            <p:nvPr/>
          </p:nvSpPr>
          <p:spPr>
            <a:xfrm>
              <a:off x="2817124" y="4769882"/>
              <a:ext cx="480803"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5. 归档留痕</a:t>
              </a:r>
            </a:p>
          </p:txBody>
        </p:sp>
        <p:sp>
          <p:nvSpPr>
            <p:cNvPr id="189" name="TextBox 189"/>
            <p:cNvSpPr txBox="1"/>
            <p:nvPr/>
          </p:nvSpPr>
          <p:spPr>
            <a:xfrm>
              <a:off x="2842755" y="4915376"/>
              <a:ext cx="429539" cy="104775"/>
            </a:xfrm>
            <a:prstGeom prst="rect">
              <a:avLst/>
            </a:prstGeom>
            <a:noFill/>
            <a:ln>
              <a:noFill/>
            </a:ln>
          </p:spPr>
          <p:txBody>
            <a:bodyPr wrap="none" lIns="0" tIns="0" rIns="0" bIns="0" anchor="t" anchorCtr="0">
              <a:spAutoFit/>
            </a:bodyPr>
            <a:lstStyle/>
            <a:p>
              <a:pPr algn="ctr"/>
              <a:r>
                <a:rPr lang="zh-CN" sz="520" dirty="0">
                  <a:solidFill>
                    <a:srgbClr val="808080"/>
                  </a:solidFill>
                  <a:latin typeface="+mn-lt"/>
                  <a:ea typeface="+mn-ea"/>
                  <a:cs typeface="+mn-cs"/>
                </a:rPr>
                <a:t>保存全套记录</a:t>
              </a:r>
            </a:p>
          </p:txBody>
        </p:sp>
        <p:sp>
          <p:nvSpPr>
            <p:cNvPr id="190" name="Ellipse 190"/>
            <p:cNvSpPr/>
            <p:nvPr/>
          </p:nvSpPr>
          <p:spPr>
            <a:xfrm>
              <a:off x="3543300" y="4305300"/>
              <a:ext cx="342900" cy="342900"/>
            </a:xfrm>
            <a:prstGeom prst="ellipse">
              <a:avLst/>
            </a:prstGeom>
            <a:solidFill>
              <a:srgbClr val="FFFFFF"/>
            </a:solidFill>
            <a:ln>
              <a:noFill/>
            </a:ln>
          </p:spPr>
        </p:sp>
        <p:grpSp>
          <p:nvGrpSpPr>
            <p:cNvPr id="195" name="Group 195"/>
            <p:cNvGrpSpPr/>
            <p:nvPr/>
          </p:nvGrpSpPr>
          <p:grpSpPr>
            <a:xfrm>
              <a:off x="3643312" y="4413250"/>
              <a:ext cx="142875" cy="136525"/>
              <a:chOff x="3643312" y="4413250"/>
              <a:chExt cx="142875" cy="136525"/>
            </a:xfrm>
          </p:grpSpPr>
          <p:sp>
            <p:nvSpPr>
              <p:cNvPr id="191" name="Freeform 191"/>
              <p:cNvSpPr/>
              <p:nvPr/>
            </p:nvSpPr>
            <p:spPr>
              <a:xfrm>
                <a:off x="3643312" y="44767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C83210"/>
                </a:solidFill>
              </a:ln>
            </p:spPr>
          </p:sp>
          <p:sp>
            <p:nvSpPr>
              <p:cNvPr id="192" name="Freeform 192"/>
              <p:cNvSpPr/>
              <p:nvPr/>
            </p:nvSpPr>
            <p:spPr>
              <a:xfrm>
                <a:off x="3738562" y="44450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C83210"/>
                </a:solidFill>
              </a:ln>
            </p:spPr>
          </p:sp>
          <p:sp>
            <p:nvSpPr>
              <p:cNvPr id="193" name="Freeform 193"/>
              <p:cNvSpPr/>
              <p:nvPr/>
            </p:nvSpPr>
            <p:spPr>
              <a:xfrm>
                <a:off x="3690937" y="44132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C83210"/>
                </a:solidFill>
              </a:ln>
            </p:spPr>
          </p:sp>
          <p:sp>
            <p:nvSpPr>
              <p:cNvPr id="194" name="Freeform 194"/>
              <p:cNvSpPr/>
              <p:nvPr/>
            </p:nvSpPr>
            <p:spPr>
              <a:xfrm>
                <a:off x="3651250" y="4540250"/>
                <a:ext cx="111125" cy="9525"/>
              </a:xfrm>
              <a:custGeom>
                <a:avLst/>
                <a:gdLst/>
                <a:ahLst/>
                <a:cxnLst/>
                <a:rect l="l" t="t" r="r" b="b"/>
                <a:pathLst>
                  <a:path w="111125" h="9525">
                    <a:moveTo>
                      <a:pt x="0" y="0"/>
                    </a:moveTo>
                    <a:lnTo>
                      <a:pt x="111125" y="0"/>
                    </a:lnTo>
                  </a:path>
                </a:pathLst>
              </a:custGeom>
              <a:noFill/>
              <a:ln w="15875">
                <a:solidFill>
                  <a:srgbClr val="C83210"/>
                </a:solidFill>
              </a:ln>
            </p:spPr>
          </p:sp>
        </p:grpSp>
        <p:sp>
          <p:nvSpPr>
            <p:cNvPr id="196" name="TextBox 196"/>
            <p:cNvSpPr txBox="1"/>
            <p:nvPr/>
          </p:nvSpPr>
          <p:spPr>
            <a:xfrm>
              <a:off x="3474349" y="4769882"/>
              <a:ext cx="480803" cy="126206"/>
            </a:xfrm>
            <a:prstGeom prst="rect">
              <a:avLst/>
            </a:prstGeom>
            <a:noFill/>
            <a:ln>
              <a:noFill/>
            </a:ln>
          </p:spPr>
          <p:txBody>
            <a:bodyPr wrap="none" lIns="0" tIns="0" rIns="0" bIns="0" anchor="t" anchorCtr="0">
              <a:spAutoFit/>
            </a:bodyPr>
            <a:lstStyle/>
            <a:p>
              <a:pPr algn="ctr"/>
              <a:r>
                <a:rPr lang="zh-CN" sz="640" b="1" dirty="0">
                  <a:solidFill>
                    <a:srgbClr val="222222"/>
                  </a:solidFill>
                  <a:latin typeface="+mn-lt"/>
                  <a:ea typeface="+mn-ea"/>
                  <a:cs typeface="+mn-cs"/>
                </a:rPr>
                <a:t>6. 监测评估</a:t>
              </a:r>
            </a:p>
          </p:txBody>
        </p:sp>
        <p:sp>
          <p:nvSpPr>
            <p:cNvPr id="197" name="TextBox 197"/>
            <p:cNvSpPr txBox="1"/>
            <p:nvPr/>
          </p:nvSpPr>
          <p:spPr>
            <a:xfrm>
              <a:off x="3464979" y="4915376"/>
              <a:ext cx="499542" cy="104775"/>
            </a:xfrm>
            <a:prstGeom prst="rect">
              <a:avLst/>
            </a:prstGeom>
            <a:noFill/>
            <a:ln>
              <a:noFill/>
            </a:ln>
          </p:spPr>
          <p:txBody>
            <a:bodyPr wrap="none" lIns="0" tIns="0" rIns="0" bIns="0" anchor="t" anchorCtr="0">
              <a:spAutoFit/>
            </a:bodyPr>
            <a:lstStyle/>
            <a:p>
              <a:pPr algn="ctr"/>
              <a:r>
                <a:rPr lang="zh-CN" sz="520" dirty="0">
                  <a:solidFill>
                    <a:srgbClr val="808080"/>
                  </a:solidFill>
                  <a:latin typeface="+mn-lt"/>
                  <a:ea typeface="+mn-ea"/>
                  <a:cs typeface="+mn-cs"/>
                </a:rPr>
                <a:t>定期抽查与优化</a:t>
              </a:r>
            </a:p>
          </p:txBody>
        </p:sp>
        <p:sp>
          <p:nvSpPr>
            <p:cNvPr id="198" name="Freeform 198"/>
            <p:cNvSpPr/>
            <p:nvPr/>
          </p:nvSpPr>
          <p:spPr>
            <a:xfrm>
              <a:off x="733425" y="4429125"/>
              <a:ext cx="95250" cy="95250"/>
            </a:xfrm>
            <a:prstGeom prst="rightArrow">
              <a:avLst/>
            </a:prstGeom>
            <a:solidFill>
              <a:srgbClr val="E9826B"/>
            </a:solidFill>
            <a:ln>
              <a:noFill/>
            </a:ln>
          </p:spPr>
        </p:sp>
        <p:sp>
          <p:nvSpPr>
            <p:cNvPr id="199" name="Freeform 199"/>
            <p:cNvSpPr/>
            <p:nvPr/>
          </p:nvSpPr>
          <p:spPr>
            <a:xfrm>
              <a:off x="1381125" y="4429125"/>
              <a:ext cx="95250" cy="95250"/>
            </a:xfrm>
            <a:prstGeom prst="rightArrow">
              <a:avLst/>
            </a:prstGeom>
            <a:solidFill>
              <a:srgbClr val="E9826B"/>
            </a:solidFill>
            <a:ln>
              <a:noFill/>
            </a:ln>
          </p:spPr>
        </p:sp>
        <p:sp>
          <p:nvSpPr>
            <p:cNvPr id="200" name="Freeform 200"/>
            <p:cNvSpPr/>
            <p:nvPr/>
          </p:nvSpPr>
          <p:spPr>
            <a:xfrm>
              <a:off x="2038350" y="4429125"/>
              <a:ext cx="95250" cy="95250"/>
            </a:xfrm>
            <a:prstGeom prst="rightArrow">
              <a:avLst/>
            </a:prstGeom>
            <a:solidFill>
              <a:srgbClr val="E9826B"/>
            </a:solidFill>
            <a:ln>
              <a:noFill/>
            </a:ln>
          </p:spPr>
        </p:sp>
        <p:sp>
          <p:nvSpPr>
            <p:cNvPr id="201" name="Freeform 201"/>
            <p:cNvSpPr/>
            <p:nvPr/>
          </p:nvSpPr>
          <p:spPr>
            <a:xfrm>
              <a:off x="2686050" y="4429125"/>
              <a:ext cx="95250" cy="95250"/>
            </a:xfrm>
            <a:prstGeom prst="rightArrow">
              <a:avLst/>
            </a:prstGeom>
            <a:solidFill>
              <a:srgbClr val="E9826B"/>
            </a:solidFill>
            <a:ln>
              <a:noFill/>
            </a:ln>
          </p:spPr>
        </p:sp>
        <p:sp>
          <p:nvSpPr>
            <p:cNvPr id="202" name="Freeform 202"/>
            <p:cNvSpPr/>
            <p:nvPr/>
          </p:nvSpPr>
          <p:spPr>
            <a:xfrm>
              <a:off x="3333750" y="4429125"/>
              <a:ext cx="95250" cy="95250"/>
            </a:xfrm>
            <a:prstGeom prst="rightArrow">
              <a:avLst/>
            </a:prstGeom>
            <a:solidFill>
              <a:srgbClr val="E9826B"/>
            </a:solidFill>
            <a:ln>
              <a:noFill/>
            </a:ln>
          </p:spPr>
        </p:sp>
      </p:grpSp>
      <p:grpSp>
        <p:nvGrpSpPr>
          <p:cNvPr id="249" name="consent"/>
          <p:cNvGrpSpPr/>
          <p:nvPr/>
        </p:nvGrpSpPr>
        <p:grpSpPr>
          <a:xfrm>
            <a:off x="4143375" y="3886200"/>
            <a:ext cx="3905250" cy="1828800"/>
            <a:chOff x="4143375" y="3886200"/>
            <a:chExt cx="3905250" cy="1828800"/>
          </a:xfrm>
        </p:grpSpPr>
        <p:sp>
          <p:nvSpPr>
            <p:cNvPr id="204" name="Rectangle 204"/>
            <p:cNvSpPr/>
            <p:nvPr/>
          </p:nvSpPr>
          <p:spPr>
            <a:xfrm>
              <a:off x="4143375" y="3886200"/>
              <a:ext cx="3905250" cy="1828800"/>
            </a:xfrm>
            <a:prstGeom prst="roundRect">
              <a:avLst>
                <a:gd name="adj" fmla="val 3125"/>
              </a:avLst>
            </a:prstGeom>
            <a:solidFill>
              <a:srgbClr val="FDEFF1"/>
            </a:solidFill>
            <a:ln>
              <a:noFill/>
            </a:ln>
          </p:spPr>
        </p:sp>
        <p:sp>
          <p:nvSpPr>
            <p:cNvPr id="205" name="Rectangle 205"/>
            <p:cNvSpPr/>
            <p:nvPr/>
          </p:nvSpPr>
          <p:spPr>
            <a:xfrm>
              <a:off x="4219575" y="3962400"/>
              <a:ext cx="38100" cy="133350"/>
            </a:xfrm>
            <a:prstGeom prst="rect">
              <a:avLst/>
            </a:prstGeom>
            <a:solidFill>
              <a:srgbClr val="C83210"/>
            </a:solidFill>
            <a:ln>
              <a:noFill/>
            </a:ln>
          </p:spPr>
        </p:sp>
        <p:sp>
          <p:nvSpPr>
            <p:cNvPr id="206" name="TextBox 206"/>
            <p:cNvSpPr txBox="1"/>
            <p:nvPr/>
          </p:nvSpPr>
          <p:spPr>
            <a:xfrm>
              <a:off x="4310062" y="3974068"/>
              <a:ext cx="1051484"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mn-lt"/>
                  <a:ea typeface="+mn-ea"/>
                  <a:cs typeface="+mn-cs"/>
                </a:rPr>
                <a:t>客户同意与退出机制</a:t>
              </a:r>
            </a:p>
          </p:txBody>
        </p:sp>
        <p:grpSp>
          <p:nvGrpSpPr>
            <p:cNvPr id="210" name="Group 210"/>
            <p:cNvGrpSpPr/>
            <p:nvPr/>
          </p:nvGrpSpPr>
          <p:grpSpPr>
            <a:xfrm>
              <a:off x="4319588" y="4212431"/>
              <a:ext cx="107155" cy="128588"/>
              <a:chOff x="4319588" y="4212431"/>
              <a:chExt cx="107155" cy="128588"/>
            </a:xfrm>
          </p:grpSpPr>
          <p:sp>
            <p:nvSpPr>
              <p:cNvPr id="207" name="Freeform 207"/>
              <p:cNvSpPr/>
              <p:nvPr/>
            </p:nvSpPr>
            <p:spPr>
              <a:xfrm>
                <a:off x="4333875" y="42124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C83210"/>
                </a:solidFill>
              </a:ln>
            </p:spPr>
          </p:sp>
          <p:sp>
            <p:nvSpPr>
              <p:cNvPr id="208" name="Freeform 208"/>
              <p:cNvSpPr/>
              <p:nvPr/>
            </p:nvSpPr>
            <p:spPr>
              <a:xfrm>
                <a:off x="4319588" y="429815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C83210"/>
                </a:solidFill>
              </a:ln>
            </p:spPr>
          </p:sp>
          <p:sp>
            <p:nvSpPr>
              <p:cNvPr id="209" name="Freeform 209"/>
              <p:cNvSpPr/>
              <p:nvPr/>
            </p:nvSpPr>
            <p:spPr>
              <a:xfrm>
                <a:off x="4383881" y="4312444"/>
                <a:ext cx="42862" cy="28575"/>
              </a:xfrm>
              <a:custGeom>
                <a:avLst/>
                <a:gdLst/>
                <a:ahLst/>
                <a:cxnLst/>
                <a:rect l="l" t="t" r="r" b="b"/>
                <a:pathLst>
                  <a:path w="42862" h="28575">
                    <a:moveTo>
                      <a:pt x="0" y="14288"/>
                    </a:moveTo>
                    <a:lnTo>
                      <a:pt x="14288" y="28575"/>
                    </a:lnTo>
                    <a:lnTo>
                      <a:pt x="42862" y="0"/>
                    </a:lnTo>
                  </a:path>
                </a:pathLst>
              </a:custGeom>
              <a:noFill/>
              <a:ln w="14288">
                <a:solidFill>
                  <a:srgbClr val="C83210"/>
                </a:solidFill>
              </a:ln>
            </p:spPr>
          </p:sp>
        </p:grpSp>
        <p:sp>
          <p:nvSpPr>
            <p:cNvPr id="211" name="TextBox 211"/>
            <p:cNvSpPr txBox="1"/>
            <p:nvPr/>
          </p:nvSpPr>
          <p:spPr>
            <a:xfrm>
              <a:off x="4500562" y="4247436"/>
              <a:ext cx="583006"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mn-lt"/>
                  <a:ea typeface="+mn-ea"/>
                  <a:cs typeface="+mn-cs"/>
                </a:rPr>
                <a:t>获取客户同意</a:t>
              </a:r>
            </a:p>
          </p:txBody>
        </p:sp>
        <p:grpSp>
          <p:nvGrpSpPr>
            <p:cNvPr id="214" name="Group 214"/>
            <p:cNvGrpSpPr/>
            <p:nvPr/>
          </p:nvGrpSpPr>
          <p:grpSpPr>
            <a:xfrm>
              <a:off x="4308872" y="4470797"/>
              <a:ext cx="78581" cy="78581"/>
              <a:chOff x="4308872" y="4470797"/>
              <a:chExt cx="78581" cy="78581"/>
            </a:xfrm>
          </p:grpSpPr>
          <p:sp>
            <p:nvSpPr>
              <p:cNvPr id="212" name="Freeform 212"/>
              <p:cNvSpPr/>
              <p:nvPr/>
            </p:nvSpPr>
            <p:spPr>
              <a:xfrm>
                <a:off x="4308872" y="44707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13" name="Freeform 213"/>
              <p:cNvSpPr/>
              <p:nvPr/>
            </p:nvSpPr>
            <p:spPr>
              <a:xfrm>
                <a:off x="4335066" y="4501356"/>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15" name="TextBox 215"/>
            <p:cNvSpPr txBox="1"/>
            <p:nvPr/>
          </p:nvSpPr>
          <p:spPr>
            <a:xfrm>
              <a:off x="4443412" y="4480274"/>
              <a:ext cx="79032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明示告知信息使用目的</a:t>
              </a:r>
            </a:p>
          </p:txBody>
        </p:sp>
        <p:grpSp>
          <p:nvGrpSpPr>
            <p:cNvPr id="218" name="Group 218"/>
            <p:cNvGrpSpPr/>
            <p:nvPr/>
          </p:nvGrpSpPr>
          <p:grpSpPr>
            <a:xfrm>
              <a:off x="4308872" y="4642247"/>
              <a:ext cx="78581" cy="78581"/>
              <a:chOff x="4308872" y="4642247"/>
              <a:chExt cx="78581" cy="78581"/>
            </a:xfrm>
          </p:grpSpPr>
          <p:sp>
            <p:nvSpPr>
              <p:cNvPr id="216" name="Freeform 216"/>
              <p:cNvSpPr/>
              <p:nvPr/>
            </p:nvSpPr>
            <p:spPr>
              <a:xfrm>
                <a:off x="4308872" y="46422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17" name="Freeform 217"/>
              <p:cNvSpPr/>
              <p:nvPr/>
            </p:nvSpPr>
            <p:spPr>
              <a:xfrm>
                <a:off x="4335066" y="4672806"/>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19" name="TextBox 219"/>
            <p:cNvSpPr txBox="1"/>
            <p:nvPr/>
          </p:nvSpPr>
          <p:spPr>
            <a:xfrm>
              <a:off x="4443412" y="4651724"/>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列明收集的信息范围</a:t>
              </a:r>
            </a:p>
          </p:txBody>
        </p:sp>
        <p:grpSp>
          <p:nvGrpSpPr>
            <p:cNvPr id="222" name="Group 222"/>
            <p:cNvGrpSpPr/>
            <p:nvPr/>
          </p:nvGrpSpPr>
          <p:grpSpPr>
            <a:xfrm>
              <a:off x="4308872" y="4813697"/>
              <a:ext cx="78581" cy="78581"/>
              <a:chOff x="4308872" y="4813697"/>
              <a:chExt cx="78581" cy="78581"/>
            </a:xfrm>
          </p:grpSpPr>
          <p:sp>
            <p:nvSpPr>
              <p:cNvPr id="220" name="Freeform 220"/>
              <p:cNvSpPr/>
              <p:nvPr/>
            </p:nvSpPr>
            <p:spPr>
              <a:xfrm>
                <a:off x="4308872" y="48136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21" name="Freeform 221"/>
              <p:cNvSpPr/>
              <p:nvPr/>
            </p:nvSpPr>
            <p:spPr>
              <a:xfrm>
                <a:off x="4335066" y="4844256"/>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23" name="TextBox 223"/>
            <p:cNvSpPr txBox="1"/>
            <p:nvPr/>
          </p:nvSpPr>
          <p:spPr>
            <a:xfrm>
              <a:off x="4443412" y="4823174"/>
              <a:ext cx="79032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通过企微确认客户同意</a:t>
              </a:r>
            </a:p>
          </p:txBody>
        </p:sp>
        <p:grpSp>
          <p:nvGrpSpPr>
            <p:cNvPr id="226" name="Group 226"/>
            <p:cNvGrpSpPr/>
            <p:nvPr/>
          </p:nvGrpSpPr>
          <p:grpSpPr>
            <a:xfrm>
              <a:off x="4308872" y="4985147"/>
              <a:ext cx="78581" cy="78581"/>
              <a:chOff x="4308872" y="4985147"/>
              <a:chExt cx="78581" cy="78581"/>
            </a:xfrm>
          </p:grpSpPr>
          <p:sp>
            <p:nvSpPr>
              <p:cNvPr id="224" name="Freeform 224"/>
              <p:cNvSpPr/>
              <p:nvPr/>
            </p:nvSpPr>
            <p:spPr>
              <a:xfrm>
                <a:off x="4308872" y="49851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25" name="Freeform 225"/>
              <p:cNvSpPr/>
              <p:nvPr/>
            </p:nvSpPr>
            <p:spPr>
              <a:xfrm>
                <a:off x="4335066" y="5015706"/>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27" name="TextBox 227"/>
            <p:cNvSpPr txBox="1"/>
            <p:nvPr/>
          </p:nvSpPr>
          <p:spPr>
            <a:xfrm>
              <a:off x="4443412" y="4994624"/>
              <a:ext cx="478003"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留存同意记录</a:t>
              </a:r>
            </a:p>
          </p:txBody>
        </p:sp>
        <p:sp>
          <p:nvSpPr>
            <p:cNvPr id="228" name="Line 228"/>
            <p:cNvSpPr/>
            <p:nvPr/>
          </p:nvSpPr>
          <p:spPr>
            <a:xfrm>
              <a:off x="6096000" y="4191000"/>
              <a:ext cx="9525" cy="952500"/>
            </a:xfrm>
            <a:custGeom>
              <a:avLst/>
              <a:gdLst/>
              <a:ahLst/>
              <a:cxnLst/>
              <a:rect l="l" t="t" r="r" b="b"/>
              <a:pathLst>
                <a:path w="9525" h="952500">
                  <a:moveTo>
                    <a:pt x="0" y="0"/>
                  </a:moveTo>
                  <a:lnTo>
                    <a:pt x="0" y="952500"/>
                  </a:lnTo>
                </a:path>
              </a:pathLst>
            </a:custGeom>
            <a:noFill/>
            <a:ln w="9525">
              <a:solidFill>
                <a:srgbClr val="F1C7CC"/>
              </a:solidFill>
            </a:ln>
          </p:spPr>
        </p:sp>
        <p:grpSp>
          <p:nvGrpSpPr>
            <p:cNvPr id="231" name="Group 231"/>
            <p:cNvGrpSpPr/>
            <p:nvPr/>
          </p:nvGrpSpPr>
          <p:grpSpPr>
            <a:xfrm>
              <a:off x="6265069" y="4233862"/>
              <a:ext cx="107156" cy="85726"/>
              <a:chOff x="6265069" y="4233862"/>
              <a:chExt cx="107156" cy="85726"/>
            </a:xfrm>
          </p:grpSpPr>
          <p:sp>
            <p:nvSpPr>
              <p:cNvPr id="229" name="Freeform 229"/>
              <p:cNvSpPr/>
              <p:nvPr/>
            </p:nvSpPr>
            <p:spPr>
              <a:xfrm>
                <a:off x="6265069" y="4233862"/>
                <a:ext cx="28575" cy="57150"/>
              </a:xfrm>
              <a:custGeom>
                <a:avLst/>
                <a:gdLst/>
                <a:ahLst/>
                <a:cxnLst/>
                <a:rect l="l" t="t" r="r" b="b"/>
                <a:pathLst>
                  <a:path w="28575" h="57150">
                    <a:moveTo>
                      <a:pt x="28575" y="57150"/>
                    </a:moveTo>
                    <a:lnTo>
                      <a:pt x="0" y="28575"/>
                    </a:lnTo>
                    <a:lnTo>
                      <a:pt x="28575" y="0"/>
                    </a:lnTo>
                  </a:path>
                </a:pathLst>
              </a:custGeom>
              <a:noFill/>
              <a:ln w="14288">
                <a:solidFill>
                  <a:srgbClr val="C83210"/>
                </a:solidFill>
              </a:ln>
            </p:spPr>
          </p:sp>
          <p:sp>
            <p:nvSpPr>
              <p:cNvPr id="230" name="Freeform 230"/>
              <p:cNvSpPr/>
              <p:nvPr/>
            </p:nvSpPr>
            <p:spPr>
              <a:xfrm>
                <a:off x="6265069" y="4262438"/>
                <a:ext cx="107156" cy="57150"/>
              </a:xfrm>
              <a:custGeom>
                <a:avLst/>
                <a:gdLst/>
                <a:ahLst/>
                <a:cxnLst/>
                <a:rect l="l" t="t" r="r" b="b"/>
                <a:pathLst>
                  <a:path w="107156" h="57150">
                    <a:moveTo>
                      <a:pt x="0" y="0"/>
                    </a:moveTo>
                    <a:lnTo>
                      <a:pt x="78581" y="0"/>
                    </a:lnTo>
                    <a:cubicBezTo>
                      <a:pt x="94363" y="0"/>
                      <a:pt x="107156" y="12793"/>
                      <a:pt x="107156" y="28575"/>
                    </a:cubicBezTo>
                    <a:cubicBezTo>
                      <a:pt x="107156" y="44357"/>
                      <a:pt x="94363" y="57150"/>
                      <a:pt x="78581" y="57150"/>
                    </a:cubicBezTo>
                    <a:lnTo>
                      <a:pt x="71438" y="57150"/>
                    </a:lnTo>
                  </a:path>
                </a:pathLst>
              </a:custGeom>
              <a:noFill/>
              <a:ln w="14288">
                <a:solidFill>
                  <a:srgbClr val="C83210"/>
                </a:solidFill>
              </a:ln>
            </p:spPr>
          </p:sp>
        </p:grpSp>
        <p:sp>
          <p:nvSpPr>
            <p:cNvPr id="232" name="TextBox 232"/>
            <p:cNvSpPr txBox="1"/>
            <p:nvPr/>
          </p:nvSpPr>
          <p:spPr>
            <a:xfrm>
              <a:off x="6453188" y="4247436"/>
              <a:ext cx="583006"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mn-lt"/>
                  <a:ea typeface="+mn-ea"/>
                  <a:cs typeface="+mn-cs"/>
                </a:rPr>
                <a:t>便捷退出机制</a:t>
              </a:r>
            </a:p>
          </p:txBody>
        </p:sp>
        <p:grpSp>
          <p:nvGrpSpPr>
            <p:cNvPr id="235" name="Group 235"/>
            <p:cNvGrpSpPr/>
            <p:nvPr/>
          </p:nvGrpSpPr>
          <p:grpSpPr>
            <a:xfrm>
              <a:off x="6261497" y="4470797"/>
              <a:ext cx="78581" cy="78581"/>
              <a:chOff x="6261497" y="4470797"/>
              <a:chExt cx="78581" cy="78581"/>
            </a:xfrm>
          </p:grpSpPr>
          <p:sp>
            <p:nvSpPr>
              <p:cNvPr id="233" name="Freeform 233"/>
              <p:cNvSpPr/>
              <p:nvPr/>
            </p:nvSpPr>
            <p:spPr>
              <a:xfrm>
                <a:off x="6261497" y="44707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34" name="Freeform 234"/>
              <p:cNvSpPr/>
              <p:nvPr/>
            </p:nvSpPr>
            <p:spPr>
              <a:xfrm>
                <a:off x="6287691" y="4501356"/>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36" name="TextBox 236"/>
            <p:cNvSpPr txBox="1"/>
            <p:nvPr/>
          </p:nvSpPr>
          <p:spPr>
            <a:xfrm>
              <a:off x="6396038" y="4480274"/>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提供清晰的退订方式</a:t>
              </a:r>
            </a:p>
          </p:txBody>
        </p:sp>
        <p:grpSp>
          <p:nvGrpSpPr>
            <p:cNvPr id="239" name="Group 239"/>
            <p:cNvGrpSpPr/>
            <p:nvPr/>
          </p:nvGrpSpPr>
          <p:grpSpPr>
            <a:xfrm>
              <a:off x="6261497" y="4642247"/>
              <a:ext cx="78581" cy="78581"/>
              <a:chOff x="6261497" y="4642247"/>
              <a:chExt cx="78581" cy="78581"/>
            </a:xfrm>
          </p:grpSpPr>
          <p:sp>
            <p:nvSpPr>
              <p:cNvPr id="237" name="Freeform 237"/>
              <p:cNvSpPr/>
              <p:nvPr/>
            </p:nvSpPr>
            <p:spPr>
              <a:xfrm>
                <a:off x="6261497" y="46422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38" name="Freeform 238"/>
              <p:cNvSpPr/>
              <p:nvPr/>
            </p:nvSpPr>
            <p:spPr>
              <a:xfrm>
                <a:off x="6287691" y="4672806"/>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40" name="TextBox 240"/>
            <p:cNvSpPr txBox="1"/>
            <p:nvPr/>
          </p:nvSpPr>
          <p:spPr>
            <a:xfrm>
              <a:off x="6396038" y="4651724"/>
              <a:ext cx="71224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客户可随时取消关注</a:t>
              </a:r>
            </a:p>
          </p:txBody>
        </p:sp>
        <p:grpSp>
          <p:nvGrpSpPr>
            <p:cNvPr id="243" name="Group 243"/>
            <p:cNvGrpSpPr/>
            <p:nvPr/>
          </p:nvGrpSpPr>
          <p:grpSpPr>
            <a:xfrm>
              <a:off x="6261497" y="4813697"/>
              <a:ext cx="78581" cy="78581"/>
              <a:chOff x="6261497" y="4813697"/>
              <a:chExt cx="78581" cy="78581"/>
            </a:xfrm>
          </p:grpSpPr>
          <p:sp>
            <p:nvSpPr>
              <p:cNvPr id="241" name="Freeform 241"/>
              <p:cNvSpPr/>
              <p:nvPr/>
            </p:nvSpPr>
            <p:spPr>
              <a:xfrm>
                <a:off x="6261497" y="48136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42" name="Freeform 242"/>
              <p:cNvSpPr/>
              <p:nvPr/>
            </p:nvSpPr>
            <p:spPr>
              <a:xfrm>
                <a:off x="6287691" y="4844256"/>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44" name="TextBox 244"/>
            <p:cNvSpPr txBox="1"/>
            <p:nvPr/>
          </p:nvSpPr>
          <p:spPr>
            <a:xfrm>
              <a:off x="6396038" y="4823174"/>
              <a:ext cx="79032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及时停止相关营销推送</a:t>
              </a:r>
            </a:p>
          </p:txBody>
        </p:sp>
        <p:grpSp>
          <p:nvGrpSpPr>
            <p:cNvPr id="247" name="Group 247"/>
            <p:cNvGrpSpPr/>
            <p:nvPr/>
          </p:nvGrpSpPr>
          <p:grpSpPr>
            <a:xfrm>
              <a:off x="6261497" y="4985147"/>
              <a:ext cx="78581" cy="78581"/>
              <a:chOff x="6261497" y="4985147"/>
              <a:chExt cx="78581" cy="78581"/>
            </a:xfrm>
          </p:grpSpPr>
          <p:sp>
            <p:nvSpPr>
              <p:cNvPr id="245" name="Freeform 245"/>
              <p:cNvSpPr/>
              <p:nvPr/>
            </p:nvSpPr>
            <p:spPr>
              <a:xfrm>
                <a:off x="6261497" y="49851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83210"/>
                </a:solidFill>
              </a:ln>
            </p:spPr>
          </p:sp>
          <p:sp>
            <p:nvSpPr>
              <p:cNvPr id="246" name="Freeform 246"/>
              <p:cNvSpPr/>
              <p:nvPr/>
            </p:nvSpPr>
            <p:spPr>
              <a:xfrm>
                <a:off x="6287691" y="5015706"/>
                <a:ext cx="26194" cy="17462"/>
              </a:xfrm>
              <a:custGeom>
                <a:avLst/>
                <a:gdLst/>
                <a:ahLst/>
                <a:cxnLst/>
                <a:rect l="l" t="t" r="r" b="b"/>
                <a:pathLst>
                  <a:path w="26194" h="17462">
                    <a:moveTo>
                      <a:pt x="0" y="8731"/>
                    </a:moveTo>
                    <a:lnTo>
                      <a:pt x="8731" y="17462"/>
                    </a:lnTo>
                    <a:lnTo>
                      <a:pt x="26194" y="0"/>
                    </a:lnTo>
                  </a:path>
                </a:pathLst>
              </a:custGeom>
              <a:noFill/>
              <a:ln w="8731">
                <a:solidFill>
                  <a:srgbClr val="C83210"/>
                </a:solidFill>
              </a:ln>
            </p:spPr>
          </p:sp>
        </p:grpSp>
        <p:sp>
          <p:nvSpPr>
            <p:cNvPr id="248" name="TextBox 248"/>
            <p:cNvSpPr txBox="1"/>
            <p:nvPr/>
          </p:nvSpPr>
          <p:spPr>
            <a:xfrm>
              <a:off x="6396038" y="4994624"/>
              <a:ext cx="868401"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留存退订记录并确认执行</a:t>
              </a:r>
            </a:p>
          </p:txBody>
        </p:sp>
      </p:grpSp>
      <p:grpSp>
        <p:nvGrpSpPr>
          <p:cNvPr id="294" name="redlines"/>
          <p:cNvGrpSpPr/>
          <p:nvPr/>
        </p:nvGrpSpPr>
        <p:grpSpPr>
          <a:xfrm>
            <a:off x="8153400" y="3886200"/>
            <a:ext cx="3905250" cy="1828800"/>
            <a:chOff x="8153400" y="3886200"/>
            <a:chExt cx="3905250" cy="1828800"/>
          </a:xfrm>
        </p:grpSpPr>
        <p:sp>
          <p:nvSpPr>
            <p:cNvPr id="250" name="Rectangle 250"/>
            <p:cNvSpPr/>
            <p:nvPr/>
          </p:nvSpPr>
          <p:spPr>
            <a:xfrm>
              <a:off x="8153400" y="3886200"/>
              <a:ext cx="3905250" cy="1828800"/>
            </a:xfrm>
            <a:prstGeom prst="roundRect">
              <a:avLst>
                <a:gd name="adj" fmla="val 3125"/>
              </a:avLst>
            </a:prstGeom>
            <a:solidFill>
              <a:srgbClr val="FDEFF1"/>
            </a:solidFill>
            <a:ln>
              <a:noFill/>
            </a:ln>
          </p:spPr>
        </p:sp>
        <p:sp>
          <p:nvSpPr>
            <p:cNvPr id="251" name="Rectangle 251"/>
            <p:cNvSpPr/>
            <p:nvPr/>
          </p:nvSpPr>
          <p:spPr>
            <a:xfrm>
              <a:off x="8229600" y="3962400"/>
              <a:ext cx="38100" cy="133350"/>
            </a:xfrm>
            <a:prstGeom prst="rect">
              <a:avLst/>
            </a:prstGeom>
            <a:solidFill>
              <a:srgbClr val="C83210"/>
            </a:solidFill>
            <a:ln>
              <a:noFill/>
            </a:ln>
          </p:spPr>
        </p:sp>
        <p:sp>
          <p:nvSpPr>
            <p:cNvPr id="252" name="TextBox 252"/>
            <p:cNvSpPr txBox="1"/>
            <p:nvPr/>
          </p:nvSpPr>
          <p:spPr>
            <a:xfrm>
              <a:off x="8320088" y="3974068"/>
              <a:ext cx="1369187" cy="169069"/>
            </a:xfrm>
            <a:prstGeom prst="rect">
              <a:avLst/>
            </a:prstGeom>
            <a:noFill/>
            <a:ln>
              <a:noFill/>
            </a:ln>
          </p:spPr>
          <p:txBody>
            <a:bodyPr wrap="none" lIns="0" tIns="0" rIns="0" bIns="0" anchor="t" anchorCtr="0">
              <a:spAutoFit/>
            </a:bodyPr>
            <a:lstStyle/>
            <a:p>
              <a:pPr algn="l"/>
              <a:r>
                <a:rPr lang="zh-CN" sz="860" b="1" dirty="0">
                  <a:solidFill>
                    <a:srgbClr val="C83210"/>
                  </a:solidFill>
                  <a:latin typeface="+mn-lt"/>
                  <a:ea typeface="+mn-ea"/>
                  <a:cs typeface="+mn-cs"/>
                </a:rPr>
                <a:t>禁止的营销行为</a:t>
              </a:r>
              <a:r>
                <a:rPr lang="zh-CN" sz="680" b="1" dirty="0">
                  <a:solidFill>
                    <a:srgbClr val="808080"/>
                  </a:solidFill>
                  <a:latin typeface="+mn-lt"/>
                  <a:ea typeface="+mn-ea"/>
                  <a:cs typeface="+mn-cs"/>
                </a:rPr>
                <a:t>（重点红线）</a:t>
              </a:r>
            </a:p>
          </p:txBody>
        </p:sp>
        <p:sp>
          <p:nvSpPr>
            <p:cNvPr id="253" name="Rectangle 253"/>
            <p:cNvSpPr/>
            <p:nvPr/>
          </p:nvSpPr>
          <p:spPr>
            <a:xfrm>
              <a:off x="8210550" y="4152900"/>
              <a:ext cx="1238250" cy="685800"/>
            </a:xfrm>
            <a:prstGeom prst="roundRect">
              <a:avLst>
                <a:gd name="adj" fmla="val 5556"/>
              </a:avLst>
            </a:prstGeom>
            <a:solidFill>
              <a:srgbClr val="FFFFFF"/>
            </a:solidFill>
            <a:ln>
              <a:noFill/>
            </a:ln>
          </p:spPr>
        </p:sp>
        <p:grpSp>
          <p:nvGrpSpPr>
            <p:cNvPr id="256" name="Group 256"/>
            <p:cNvGrpSpPr/>
            <p:nvPr/>
          </p:nvGrpSpPr>
          <p:grpSpPr>
            <a:xfrm>
              <a:off x="8765381" y="4279106"/>
              <a:ext cx="128588" cy="71438"/>
              <a:chOff x="8765381" y="4279106"/>
              <a:chExt cx="128588" cy="71438"/>
            </a:xfrm>
          </p:grpSpPr>
          <p:sp>
            <p:nvSpPr>
              <p:cNvPr id="254" name="Freeform 254"/>
              <p:cNvSpPr/>
              <p:nvPr/>
            </p:nvSpPr>
            <p:spPr>
              <a:xfrm>
                <a:off x="8765381" y="427910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C83210"/>
                </a:solidFill>
              </a:ln>
            </p:spPr>
          </p:sp>
          <p:sp>
            <p:nvSpPr>
              <p:cNvPr id="255" name="Freeform 255"/>
              <p:cNvSpPr/>
              <p:nvPr/>
            </p:nvSpPr>
            <p:spPr>
              <a:xfrm>
                <a:off x="8843962" y="4279106"/>
                <a:ext cx="50006" cy="50006"/>
              </a:xfrm>
              <a:custGeom>
                <a:avLst/>
                <a:gdLst/>
                <a:ahLst/>
                <a:cxnLst/>
                <a:rect l="l" t="t" r="r" b="b"/>
                <a:pathLst>
                  <a:path w="50006" h="50006">
                    <a:moveTo>
                      <a:pt x="0" y="0"/>
                    </a:moveTo>
                    <a:lnTo>
                      <a:pt x="50006" y="0"/>
                    </a:lnTo>
                    <a:lnTo>
                      <a:pt x="50006" y="50006"/>
                    </a:lnTo>
                  </a:path>
                </a:pathLst>
              </a:custGeom>
              <a:noFill/>
              <a:ln w="14288">
                <a:solidFill>
                  <a:srgbClr val="C83210"/>
                </a:solidFill>
              </a:ln>
            </p:spPr>
          </p:sp>
        </p:grpSp>
        <p:sp>
          <p:nvSpPr>
            <p:cNvPr id="257" name="TextBox 257"/>
            <p:cNvSpPr txBox="1"/>
            <p:nvPr/>
          </p:nvSpPr>
          <p:spPr>
            <a:xfrm>
              <a:off x="8590674" y="450884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夸大或误导性</a:t>
              </a:r>
            </a:p>
          </p:txBody>
        </p:sp>
        <p:sp>
          <p:nvSpPr>
            <p:cNvPr id="258" name="TextBox 258"/>
            <p:cNvSpPr txBox="1"/>
            <p:nvPr/>
          </p:nvSpPr>
          <p:spPr>
            <a:xfrm>
              <a:off x="8668753" y="4642199"/>
              <a:ext cx="32184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收益承诺</a:t>
              </a:r>
            </a:p>
          </p:txBody>
        </p:sp>
        <p:sp>
          <p:nvSpPr>
            <p:cNvPr id="259" name="Rectangle 259"/>
            <p:cNvSpPr/>
            <p:nvPr/>
          </p:nvSpPr>
          <p:spPr>
            <a:xfrm>
              <a:off x="9486900" y="4152900"/>
              <a:ext cx="1238250" cy="685800"/>
            </a:xfrm>
            <a:prstGeom prst="roundRect">
              <a:avLst>
                <a:gd name="adj" fmla="val 5556"/>
              </a:avLst>
            </a:prstGeom>
            <a:solidFill>
              <a:srgbClr val="FFFFFF"/>
            </a:solidFill>
            <a:ln>
              <a:noFill/>
            </a:ln>
          </p:spPr>
        </p:sp>
        <p:grpSp>
          <p:nvGrpSpPr>
            <p:cNvPr id="263" name="Group 263"/>
            <p:cNvGrpSpPr/>
            <p:nvPr/>
          </p:nvGrpSpPr>
          <p:grpSpPr>
            <a:xfrm>
              <a:off x="10033979" y="4248158"/>
              <a:ext cx="144086" cy="123788"/>
              <a:chOff x="10033979" y="4248158"/>
              <a:chExt cx="144086" cy="123788"/>
            </a:xfrm>
          </p:grpSpPr>
          <p:sp>
            <p:nvSpPr>
              <p:cNvPr id="260" name="Freeform 260"/>
              <p:cNvSpPr/>
              <p:nvPr/>
            </p:nvSpPr>
            <p:spPr>
              <a:xfrm>
                <a:off x="10106025" y="4293394"/>
                <a:ext cx="9525" cy="28575"/>
              </a:xfrm>
              <a:custGeom>
                <a:avLst/>
                <a:gdLst/>
                <a:ahLst/>
                <a:cxnLst/>
                <a:rect l="l" t="t" r="r" b="b"/>
                <a:pathLst>
                  <a:path w="9525" h="28575">
                    <a:moveTo>
                      <a:pt x="0" y="0"/>
                    </a:moveTo>
                    <a:lnTo>
                      <a:pt x="0" y="28575"/>
                    </a:lnTo>
                  </a:path>
                </a:pathLst>
              </a:custGeom>
              <a:noFill/>
              <a:ln w="14288">
                <a:solidFill>
                  <a:srgbClr val="C83210"/>
                </a:solidFill>
              </a:ln>
            </p:spPr>
          </p:sp>
          <p:sp>
            <p:nvSpPr>
              <p:cNvPr id="261" name="Freeform 261"/>
              <p:cNvSpPr/>
              <p:nvPr/>
            </p:nvSpPr>
            <p:spPr>
              <a:xfrm>
                <a:off x="10033979" y="4248158"/>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C83210"/>
                </a:solidFill>
              </a:ln>
            </p:spPr>
          </p:sp>
          <p:sp>
            <p:nvSpPr>
              <p:cNvPr id="262" name="Freeform 262"/>
              <p:cNvSpPr/>
              <p:nvPr/>
            </p:nvSpPr>
            <p:spPr>
              <a:xfrm>
                <a:off x="10106025" y="4343400"/>
                <a:ext cx="9525" cy="9525"/>
              </a:xfrm>
              <a:custGeom>
                <a:avLst/>
                <a:gdLst/>
                <a:ahLst/>
                <a:cxnLst/>
                <a:rect l="l" t="t" r="r" b="b"/>
                <a:pathLst>
                  <a:path w="9525" h="9525">
                    <a:moveTo>
                      <a:pt x="0" y="0"/>
                    </a:moveTo>
                    <a:lnTo>
                      <a:pt x="71" y="0"/>
                    </a:lnTo>
                  </a:path>
                </a:pathLst>
              </a:custGeom>
              <a:noFill/>
              <a:ln w="14288">
                <a:solidFill>
                  <a:srgbClr val="C83210"/>
                </a:solidFill>
              </a:ln>
            </p:spPr>
          </p:sp>
        </p:grpSp>
        <p:sp>
          <p:nvSpPr>
            <p:cNvPr id="264" name="TextBox 264"/>
            <p:cNvSpPr txBox="1"/>
            <p:nvPr/>
          </p:nvSpPr>
          <p:spPr>
            <a:xfrm>
              <a:off x="9867024" y="450884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不披露或弱化</a:t>
              </a:r>
            </a:p>
          </p:txBody>
        </p:sp>
        <p:sp>
          <p:nvSpPr>
            <p:cNvPr id="265" name="TextBox 265"/>
            <p:cNvSpPr txBox="1"/>
            <p:nvPr/>
          </p:nvSpPr>
          <p:spPr>
            <a:xfrm>
              <a:off x="9945103" y="4642199"/>
              <a:ext cx="32184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产品风险</a:t>
              </a:r>
            </a:p>
          </p:txBody>
        </p:sp>
        <p:sp>
          <p:nvSpPr>
            <p:cNvPr id="266" name="Rectangle 266"/>
            <p:cNvSpPr/>
            <p:nvPr/>
          </p:nvSpPr>
          <p:spPr>
            <a:xfrm>
              <a:off x="10763250" y="4152900"/>
              <a:ext cx="1238250" cy="685800"/>
            </a:xfrm>
            <a:prstGeom prst="roundRect">
              <a:avLst>
                <a:gd name="adj" fmla="val 5556"/>
              </a:avLst>
            </a:prstGeom>
            <a:solidFill>
              <a:srgbClr val="FFFFFF"/>
            </a:solidFill>
            <a:ln>
              <a:noFill/>
            </a:ln>
          </p:spPr>
        </p:sp>
        <p:grpSp>
          <p:nvGrpSpPr>
            <p:cNvPr id="273" name="Group 273"/>
            <p:cNvGrpSpPr/>
            <p:nvPr/>
          </p:nvGrpSpPr>
          <p:grpSpPr>
            <a:xfrm>
              <a:off x="11318081" y="4250531"/>
              <a:ext cx="128588" cy="128588"/>
              <a:chOff x="11318081" y="4250531"/>
              <a:chExt cx="128588" cy="128588"/>
            </a:xfrm>
          </p:grpSpPr>
          <p:sp>
            <p:nvSpPr>
              <p:cNvPr id="267" name="Freeform 267"/>
              <p:cNvSpPr/>
              <p:nvPr/>
            </p:nvSpPr>
            <p:spPr>
              <a:xfrm>
                <a:off x="11368088" y="43076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83210"/>
                </a:solidFill>
              </a:ln>
            </p:spPr>
          </p:sp>
          <p:sp>
            <p:nvSpPr>
              <p:cNvPr id="268" name="Freeform 268"/>
              <p:cNvSpPr/>
              <p:nvPr/>
            </p:nvSpPr>
            <p:spPr>
              <a:xfrm>
                <a:off x="11353800" y="435768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C83210"/>
                </a:solidFill>
              </a:ln>
            </p:spPr>
          </p:sp>
          <p:sp>
            <p:nvSpPr>
              <p:cNvPr id="269" name="Freeform 269"/>
              <p:cNvSpPr/>
              <p:nvPr/>
            </p:nvSpPr>
            <p:spPr>
              <a:xfrm>
                <a:off x="11403806" y="42505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83210"/>
                </a:solidFill>
              </a:ln>
            </p:spPr>
          </p:sp>
          <p:sp>
            <p:nvSpPr>
              <p:cNvPr id="270" name="Freeform 270"/>
              <p:cNvSpPr/>
              <p:nvPr/>
            </p:nvSpPr>
            <p:spPr>
              <a:xfrm>
                <a:off x="11418094" y="430053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C83210"/>
                </a:solidFill>
              </a:ln>
            </p:spPr>
          </p:sp>
          <p:sp>
            <p:nvSpPr>
              <p:cNvPr id="271" name="Freeform 271"/>
              <p:cNvSpPr/>
              <p:nvPr/>
            </p:nvSpPr>
            <p:spPr>
              <a:xfrm>
                <a:off x="11332369" y="42505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83210"/>
                </a:solidFill>
              </a:ln>
            </p:spPr>
          </p:sp>
          <p:sp>
            <p:nvSpPr>
              <p:cNvPr id="272" name="Freeform 272"/>
              <p:cNvSpPr/>
              <p:nvPr/>
            </p:nvSpPr>
            <p:spPr>
              <a:xfrm>
                <a:off x="11318081" y="430053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C83210"/>
                </a:solidFill>
              </a:ln>
            </p:spPr>
          </p:sp>
        </p:grpSp>
        <p:sp>
          <p:nvSpPr>
            <p:cNvPr id="274" name="TextBox 274"/>
            <p:cNvSpPr txBox="1"/>
            <p:nvPr/>
          </p:nvSpPr>
          <p:spPr>
            <a:xfrm>
              <a:off x="11260493" y="4508849"/>
              <a:ext cx="243764"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无差别</a:t>
              </a:r>
            </a:p>
          </p:txBody>
        </p:sp>
        <p:sp>
          <p:nvSpPr>
            <p:cNvPr id="275" name="TextBox 275"/>
            <p:cNvSpPr txBox="1"/>
            <p:nvPr/>
          </p:nvSpPr>
          <p:spPr>
            <a:xfrm>
              <a:off x="11221453" y="4642199"/>
              <a:ext cx="32184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群发营销</a:t>
              </a:r>
            </a:p>
          </p:txBody>
        </p:sp>
        <p:sp>
          <p:nvSpPr>
            <p:cNvPr id="276" name="Rectangle 276"/>
            <p:cNvSpPr/>
            <p:nvPr/>
          </p:nvSpPr>
          <p:spPr>
            <a:xfrm>
              <a:off x="8210550" y="4914900"/>
              <a:ext cx="1238250" cy="685800"/>
            </a:xfrm>
            <a:prstGeom prst="roundRect">
              <a:avLst>
                <a:gd name="adj" fmla="val 5556"/>
              </a:avLst>
            </a:prstGeom>
            <a:solidFill>
              <a:srgbClr val="FFFFFF"/>
            </a:solidFill>
            <a:ln>
              <a:noFill/>
            </a:ln>
          </p:spPr>
        </p:sp>
        <p:grpSp>
          <p:nvGrpSpPr>
            <p:cNvPr id="281" name="Group 281"/>
            <p:cNvGrpSpPr/>
            <p:nvPr/>
          </p:nvGrpSpPr>
          <p:grpSpPr>
            <a:xfrm>
              <a:off x="8779669" y="5012531"/>
              <a:ext cx="114299" cy="135731"/>
              <a:chOff x="8779669" y="5012531"/>
              <a:chExt cx="114299" cy="135731"/>
            </a:xfrm>
          </p:grpSpPr>
          <p:sp>
            <p:nvSpPr>
              <p:cNvPr id="277" name="Freeform 277"/>
              <p:cNvSpPr/>
              <p:nvPr/>
            </p:nvSpPr>
            <p:spPr>
              <a:xfrm>
                <a:off x="8843962" y="501253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C83210"/>
                </a:solidFill>
              </a:ln>
            </p:spPr>
          </p:sp>
          <p:sp>
            <p:nvSpPr>
              <p:cNvPr id="278" name="Freeform 278"/>
              <p:cNvSpPr/>
              <p:nvPr/>
            </p:nvSpPr>
            <p:spPr>
              <a:xfrm>
                <a:off x="8779669" y="5012531"/>
                <a:ext cx="100012" cy="128588"/>
              </a:xfrm>
              <a:custGeom>
                <a:avLst/>
                <a:gdLst/>
                <a:ahLst/>
                <a:cxnLst/>
                <a:rect l="l" t="t" r="r" b="b"/>
                <a:pathLst>
                  <a:path w="100012" h="128588">
                    <a:moveTo>
                      <a:pt x="50006"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67866"/>
                    </a:lnTo>
                  </a:path>
                </a:pathLst>
              </a:custGeom>
              <a:noFill/>
              <a:ln w="14288">
                <a:solidFill>
                  <a:srgbClr val="C83210"/>
                </a:solidFill>
              </a:ln>
            </p:spPr>
          </p:sp>
          <p:sp>
            <p:nvSpPr>
              <p:cNvPr id="279" name="Freeform 279"/>
              <p:cNvSpPr/>
              <p:nvPr/>
            </p:nvSpPr>
            <p:spPr>
              <a:xfrm>
                <a:off x="8843962" y="5098256"/>
                <a:ext cx="35719" cy="35719"/>
              </a:xfrm>
              <a:custGeom>
                <a:avLst/>
                <a:gdLst/>
                <a:ahLst/>
                <a:cxnLst/>
                <a:rect l="l" t="t" r="r" b="b"/>
                <a:pathLst>
                  <a:path w="35719" h="35719">
                    <a:moveTo>
                      <a:pt x="0" y="17859"/>
                    </a:moveTo>
                    <a:cubicBezTo>
                      <a:pt x="0" y="27723"/>
                      <a:pt x="7996" y="35719"/>
                      <a:pt x="17859" y="35719"/>
                    </a:cubicBezTo>
                    <a:cubicBezTo>
                      <a:pt x="27723" y="35719"/>
                      <a:pt x="35719" y="27723"/>
                      <a:pt x="35719" y="17859"/>
                    </a:cubicBezTo>
                    <a:cubicBezTo>
                      <a:pt x="35719" y="7996"/>
                      <a:pt x="27723" y="0"/>
                      <a:pt x="17859" y="0"/>
                    </a:cubicBezTo>
                    <a:cubicBezTo>
                      <a:pt x="7996" y="0"/>
                      <a:pt x="0" y="7996"/>
                      <a:pt x="0" y="17859"/>
                    </a:cubicBezTo>
                  </a:path>
                </a:pathLst>
              </a:custGeom>
              <a:noFill/>
              <a:ln w="14288">
                <a:solidFill>
                  <a:srgbClr val="C83210"/>
                </a:solidFill>
              </a:ln>
            </p:spPr>
          </p:sp>
          <p:sp>
            <p:nvSpPr>
              <p:cNvPr id="280" name="Freeform 280"/>
              <p:cNvSpPr/>
              <p:nvPr/>
            </p:nvSpPr>
            <p:spPr>
              <a:xfrm>
                <a:off x="8876109" y="5130403"/>
                <a:ext cx="17859" cy="17859"/>
              </a:xfrm>
              <a:custGeom>
                <a:avLst/>
                <a:gdLst/>
                <a:ahLst/>
                <a:cxnLst/>
                <a:rect l="l" t="t" r="r" b="b"/>
                <a:pathLst>
                  <a:path w="17859" h="17859">
                    <a:moveTo>
                      <a:pt x="0" y="0"/>
                    </a:moveTo>
                    <a:lnTo>
                      <a:pt x="17859" y="17859"/>
                    </a:lnTo>
                  </a:path>
                </a:pathLst>
              </a:custGeom>
              <a:noFill/>
              <a:ln w="14288">
                <a:solidFill>
                  <a:srgbClr val="C83210"/>
                </a:solidFill>
              </a:ln>
            </p:spPr>
          </p:sp>
        </p:grpSp>
        <p:sp>
          <p:nvSpPr>
            <p:cNvPr id="282" name="TextBox 282"/>
            <p:cNvSpPr txBox="1"/>
            <p:nvPr/>
          </p:nvSpPr>
          <p:spPr>
            <a:xfrm>
              <a:off x="8668753" y="5270849"/>
              <a:ext cx="32184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未经授权</a:t>
              </a:r>
            </a:p>
          </p:txBody>
        </p:sp>
        <p:sp>
          <p:nvSpPr>
            <p:cNvPr id="283" name="TextBox 283"/>
            <p:cNvSpPr txBox="1"/>
            <p:nvPr/>
          </p:nvSpPr>
          <p:spPr>
            <a:xfrm>
              <a:off x="8590674" y="54041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收集客户信息</a:t>
              </a:r>
            </a:p>
          </p:txBody>
        </p:sp>
        <p:sp>
          <p:nvSpPr>
            <p:cNvPr id="284" name="Rectangle 284"/>
            <p:cNvSpPr/>
            <p:nvPr/>
          </p:nvSpPr>
          <p:spPr>
            <a:xfrm>
              <a:off x="9486900" y="4914900"/>
              <a:ext cx="1238250" cy="685800"/>
            </a:xfrm>
            <a:prstGeom prst="roundRect">
              <a:avLst>
                <a:gd name="adj" fmla="val 5556"/>
              </a:avLst>
            </a:prstGeom>
            <a:solidFill>
              <a:srgbClr val="FFFFFF"/>
            </a:solidFill>
            <a:ln>
              <a:noFill/>
            </a:ln>
          </p:spPr>
        </p:sp>
        <p:sp>
          <p:nvSpPr>
            <p:cNvPr id="285" name="Freeform 285"/>
            <p:cNvSpPr/>
            <p:nvPr/>
          </p:nvSpPr>
          <p:spPr>
            <a:xfrm>
              <a:off x="10034416" y="5014139"/>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C83210"/>
              </a:solidFill>
            </a:ln>
          </p:spPr>
        </p:sp>
        <p:sp>
          <p:nvSpPr>
            <p:cNvPr id="286" name="TextBox 286"/>
            <p:cNvSpPr txBox="1"/>
            <p:nvPr/>
          </p:nvSpPr>
          <p:spPr>
            <a:xfrm>
              <a:off x="9867024" y="527084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在聊天中传输</a:t>
              </a:r>
            </a:p>
          </p:txBody>
        </p:sp>
        <p:sp>
          <p:nvSpPr>
            <p:cNvPr id="287" name="TextBox 287"/>
            <p:cNvSpPr txBox="1"/>
            <p:nvPr/>
          </p:nvSpPr>
          <p:spPr>
            <a:xfrm>
              <a:off x="9867024" y="5404199"/>
              <a:ext cx="478003"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敏感个人信息</a:t>
              </a:r>
            </a:p>
          </p:txBody>
        </p:sp>
        <p:sp>
          <p:nvSpPr>
            <p:cNvPr id="288" name="Rectangle 288"/>
            <p:cNvSpPr/>
            <p:nvPr/>
          </p:nvSpPr>
          <p:spPr>
            <a:xfrm>
              <a:off x="10763250" y="4914900"/>
              <a:ext cx="1238250" cy="685800"/>
            </a:xfrm>
            <a:prstGeom prst="roundRect">
              <a:avLst>
                <a:gd name="adj" fmla="val 5556"/>
              </a:avLst>
            </a:prstGeom>
            <a:solidFill>
              <a:srgbClr val="FFFFFF"/>
            </a:solidFill>
            <a:ln>
              <a:noFill/>
            </a:ln>
          </p:spPr>
        </p:sp>
        <p:grpSp>
          <p:nvGrpSpPr>
            <p:cNvPr id="291" name="Group 291"/>
            <p:cNvGrpSpPr/>
            <p:nvPr/>
          </p:nvGrpSpPr>
          <p:grpSpPr>
            <a:xfrm>
              <a:off x="11318081" y="5012531"/>
              <a:ext cx="128588" cy="128588"/>
              <a:chOff x="11318081" y="5012531"/>
              <a:chExt cx="128588" cy="128588"/>
            </a:xfrm>
          </p:grpSpPr>
          <p:sp>
            <p:nvSpPr>
              <p:cNvPr id="289" name="Freeform 289"/>
              <p:cNvSpPr/>
              <p:nvPr/>
            </p:nvSpPr>
            <p:spPr>
              <a:xfrm>
                <a:off x="11318081" y="50125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C83210"/>
                </a:solidFill>
              </a:ln>
            </p:spPr>
          </p:sp>
          <p:sp>
            <p:nvSpPr>
              <p:cNvPr id="290" name="Freeform 290"/>
              <p:cNvSpPr/>
              <p:nvPr/>
            </p:nvSpPr>
            <p:spPr>
              <a:xfrm>
                <a:off x="11337369" y="5031819"/>
                <a:ext cx="90011" cy="90011"/>
              </a:xfrm>
              <a:custGeom>
                <a:avLst/>
                <a:gdLst/>
                <a:ahLst/>
                <a:cxnLst/>
                <a:rect l="l" t="t" r="r" b="b"/>
                <a:pathLst>
                  <a:path w="90011" h="90011">
                    <a:moveTo>
                      <a:pt x="0" y="0"/>
                    </a:moveTo>
                    <a:lnTo>
                      <a:pt x="90011" y="90011"/>
                    </a:lnTo>
                  </a:path>
                </a:pathLst>
              </a:custGeom>
              <a:noFill/>
              <a:ln w="14288">
                <a:solidFill>
                  <a:srgbClr val="C83210"/>
                </a:solidFill>
              </a:ln>
            </p:spPr>
          </p:sp>
        </p:grpSp>
        <p:sp>
          <p:nvSpPr>
            <p:cNvPr id="292" name="TextBox 292"/>
            <p:cNvSpPr txBox="1"/>
            <p:nvPr/>
          </p:nvSpPr>
          <p:spPr>
            <a:xfrm>
              <a:off x="11104334" y="5270849"/>
              <a:ext cx="556082"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客户明确退出后</a:t>
              </a:r>
            </a:p>
          </p:txBody>
        </p:sp>
        <p:sp>
          <p:nvSpPr>
            <p:cNvPr id="293" name="TextBox 293"/>
            <p:cNvSpPr txBox="1"/>
            <p:nvPr/>
          </p:nvSpPr>
          <p:spPr>
            <a:xfrm>
              <a:off x="11104334" y="5404199"/>
              <a:ext cx="556082" cy="116205"/>
            </a:xfrm>
            <a:prstGeom prst="rect">
              <a:avLst/>
            </a:prstGeom>
            <a:noFill/>
            <a:ln>
              <a:noFill/>
            </a:ln>
          </p:spPr>
          <p:txBody>
            <a:bodyPr wrap="none" lIns="0" tIns="0" rIns="0" bIns="0" anchor="t" anchorCtr="0">
              <a:spAutoFit/>
            </a:bodyPr>
            <a:lstStyle/>
            <a:p>
              <a:pPr algn="ctr"/>
              <a:r>
                <a:rPr lang="zh-CN" sz="580" dirty="0">
                  <a:solidFill>
                    <a:srgbClr val="3D3D3D"/>
                  </a:solidFill>
                  <a:latin typeface="+mn-lt"/>
                  <a:ea typeface="+mn-ea"/>
                  <a:cs typeface="+mn-cs"/>
                </a:rPr>
                <a:t>仍进行强制营销</a:t>
              </a:r>
            </a:p>
          </p:txBody>
        </p:sp>
      </p:grpSp>
      <p:grpSp>
        <p:nvGrpSpPr>
          <p:cNvPr id="319" name="newreg-band"/>
          <p:cNvGrpSpPr/>
          <p:nvPr/>
        </p:nvGrpSpPr>
        <p:grpSpPr>
          <a:xfrm>
            <a:off x="133350" y="5791200"/>
            <a:ext cx="11925300" cy="933450"/>
            <a:chOff x="133350" y="5791200"/>
            <a:chExt cx="11925300" cy="933450"/>
          </a:xfrm>
        </p:grpSpPr>
        <p:sp>
          <p:nvSpPr>
            <p:cNvPr id="295" name="Rectangle 295"/>
            <p:cNvSpPr/>
            <p:nvPr/>
          </p:nvSpPr>
          <p:spPr>
            <a:xfrm>
              <a:off x="133350" y="5791200"/>
              <a:ext cx="11925300" cy="933450"/>
            </a:xfrm>
            <a:prstGeom prst="roundRect">
              <a:avLst>
                <a:gd name="adj" fmla="val 6122"/>
              </a:avLst>
            </a:prstGeom>
            <a:solidFill>
              <a:srgbClr val="FDEFF1"/>
            </a:solidFill>
            <a:ln>
              <a:noFill/>
            </a:ln>
          </p:spPr>
        </p:sp>
        <p:grpSp>
          <p:nvGrpSpPr>
            <p:cNvPr id="300" name="Group 300"/>
            <p:cNvGrpSpPr/>
            <p:nvPr/>
          </p:nvGrpSpPr>
          <p:grpSpPr>
            <a:xfrm>
              <a:off x="283369" y="5979319"/>
              <a:ext cx="190500" cy="226218"/>
              <a:chOff x="283369" y="5979319"/>
              <a:chExt cx="190500" cy="226218"/>
            </a:xfrm>
          </p:grpSpPr>
          <p:sp>
            <p:nvSpPr>
              <p:cNvPr id="296" name="Freeform 296"/>
              <p:cNvSpPr/>
              <p:nvPr/>
            </p:nvSpPr>
            <p:spPr>
              <a:xfrm>
                <a:off x="414338" y="5979319"/>
                <a:ext cx="59531" cy="59531"/>
              </a:xfrm>
              <a:custGeom>
                <a:avLst/>
                <a:gdLst/>
                <a:ahLst/>
                <a:cxnLst/>
                <a:rect l="l" t="t" r="r" b="b"/>
                <a:pathLst>
                  <a:path w="59531" h="59531">
                    <a:moveTo>
                      <a:pt x="0" y="0"/>
                    </a:moveTo>
                    <a:lnTo>
                      <a:pt x="0" y="47625"/>
                    </a:lnTo>
                    <a:cubicBezTo>
                      <a:pt x="0" y="54201"/>
                      <a:pt x="5331" y="59531"/>
                      <a:pt x="11906" y="59531"/>
                    </a:cubicBezTo>
                    <a:lnTo>
                      <a:pt x="59531" y="59531"/>
                    </a:lnTo>
                  </a:path>
                </a:pathLst>
              </a:custGeom>
              <a:noFill/>
              <a:ln w="23812">
                <a:solidFill>
                  <a:srgbClr val="C83210"/>
                </a:solidFill>
              </a:ln>
            </p:spPr>
          </p:sp>
          <p:sp>
            <p:nvSpPr>
              <p:cNvPr id="297" name="Freeform 297"/>
              <p:cNvSpPr/>
              <p:nvPr/>
            </p:nvSpPr>
            <p:spPr>
              <a:xfrm>
                <a:off x="307181" y="5979319"/>
                <a:ext cx="166688" cy="214312"/>
              </a:xfrm>
              <a:custGeom>
                <a:avLst/>
                <a:gdLst/>
                <a:ahLst/>
                <a:cxnLst/>
                <a:rect l="l" t="t" r="r" b="b"/>
                <a:pathLst>
                  <a:path w="166688" h="214312">
                    <a:moveTo>
                      <a:pt x="0" y="59531"/>
                    </a:moveTo>
                    <a:lnTo>
                      <a:pt x="0" y="23812"/>
                    </a:lnTo>
                    <a:cubicBezTo>
                      <a:pt x="0" y="10661"/>
                      <a:pt x="10661" y="0"/>
                      <a:pt x="23812" y="0"/>
                    </a:cubicBezTo>
                    <a:lnTo>
                      <a:pt x="107156" y="0"/>
                    </a:lnTo>
                    <a:lnTo>
                      <a:pt x="166688" y="59531"/>
                    </a:lnTo>
                    <a:lnTo>
                      <a:pt x="166688" y="190500"/>
                    </a:lnTo>
                    <a:cubicBezTo>
                      <a:pt x="166688" y="203651"/>
                      <a:pt x="156026" y="214312"/>
                      <a:pt x="142875" y="214312"/>
                    </a:cubicBezTo>
                    <a:lnTo>
                      <a:pt x="83344" y="214312"/>
                    </a:lnTo>
                  </a:path>
                </a:pathLst>
              </a:custGeom>
              <a:noFill/>
              <a:ln w="23812">
                <a:solidFill>
                  <a:srgbClr val="C83210"/>
                </a:solidFill>
              </a:ln>
            </p:spPr>
          </p:sp>
          <p:sp>
            <p:nvSpPr>
              <p:cNvPr id="298" name="Freeform 298"/>
              <p:cNvSpPr/>
              <p:nvPr/>
            </p:nvSpPr>
            <p:spPr>
              <a:xfrm>
                <a:off x="283369" y="6074569"/>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23812">
                <a:solidFill>
                  <a:srgbClr val="C83210"/>
                </a:solidFill>
              </a:ln>
            </p:spPr>
          </p:sp>
          <p:sp>
            <p:nvSpPr>
              <p:cNvPr id="299" name="Freeform 299"/>
              <p:cNvSpPr/>
              <p:nvPr/>
            </p:nvSpPr>
            <p:spPr>
              <a:xfrm>
                <a:off x="283369" y="6146006"/>
                <a:ext cx="71438" cy="59531"/>
              </a:xfrm>
              <a:custGeom>
                <a:avLst/>
                <a:gdLst/>
                <a:ahLst/>
                <a:cxnLst/>
                <a:rect l="l" t="t" r="r" b="b"/>
                <a:pathLst>
                  <a:path w="71438" h="59531">
                    <a:moveTo>
                      <a:pt x="17859" y="0"/>
                    </a:moveTo>
                    <a:lnTo>
                      <a:pt x="0" y="59531"/>
                    </a:lnTo>
                    <a:lnTo>
                      <a:pt x="35719" y="41672"/>
                    </a:lnTo>
                    <a:lnTo>
                      <a:pt x="71438" y="59531"/>
                    </a:lnTo>
                    <a:lnTo>
                      <a:pt x="53578" y="0"/>
                    </a:lnTo>
                  </a:path>
                </a:pathLst>
              </a:custGeom>
              <a:noFill/>
              <a:ln w="23812">
                <a:solidFill>
                  <a:srgbClr val="C83210"/>
                </a:solidFill>
              </a:ln>
            </p:spPr>
          </p:sp>
        </p:grpSp>
        <p:sp>
          <p:nvSpPr>
            <p:cNvPr id="301" name="TextBox 301"/>
            <p:cNvSpPr txBox="1"/>
            <p:nvPr/>
          </p:nvSpPr>
          <p:spPr>
            <a:xfrm>
              <a:off x="623888" y="5941695"/>
              <a:ext cx="2559093" cy="176212"/>
            </a:xfrm>
            <a:prstGeom prst="rect">
              <a:avLst/>
            </a:prstGeom>
            <a:noFill/>
            <a:ln>
              <a:noFill/>
            </a:ln>
          </p:spPr>
          <p:txBody>
            <a:bodyPr wrap="none" lIns="0" tIns="0" rIns="0" bIns="0" anchor="t" anchorCtr="0">
              <a:spAutoFit/>
            </a:bodyPr>
            <a:lstStyle/>
            <a:p>
              <a:pPr algn="l"/>
              <a:r>
                <a:rPr lang="zh-CN" sz="900" b="1" dirty="0">
                  <a:solidFill>
                    <a:srgbClr val="C83210"/>
                  </a:solidFill>
                  <a:latin typeface="+mn-lt"/>
                  <a:ea typeface="+mn-ea"/>
                  <a:cs typeface="+mn-cs"/>
                </a:rPr>
                <a:t>2026年金融产品网络营销管理新规</a:t>
              </a:r>
              <a:r>
                <a:rPr lang="zh-CN" sz="710" b="1" dirty="0">
                  <a:solidFill>
                    <a:srgbClr val="808080"/>
                  </a:solidFill>
                  <a:latin typeface="+mn-lt"/>
                  <a:ea typeface="+mn-ea"/>
                  <a:cs typeface="+mn-cs"/>
                </a:rPr>
                <a:t>（即将实施）</a:t>
              </a:r>
              <a:r>
                <a:rPr lang="zh-CN" sz="900" b="1" dirty="0">
                  <a:solidFill>
                    <a:srgbClr val="C83210"/>
                  </a:solidFill>
                  <a:latin typeface="+mn-lt"/>
                  <a:ea typeface="+mn-ea"/>
                  <a:cs typeface="+mn-cs"/>
                </a:rPr>
                <a:t xml:space="preserve">　</a:t>
              </a:r>
            </a:p>
          </p:txBody>
        </p:sp>
        <p:sp>
          <p:nvSpPr>
            <p:cNvPr id="302" name="TextBox 302"/>
            <p:cNvSpPr txBox="1"/>
            <p:nvPr/>
          </p:nvSpPr>
          <p:spPr>
            <a:xfrm>
              <a:off x="623888" y="6182011"/>
              <a:ext cx="3615187"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 xml:space="preserve">监管部门将于2026年起施行金融产品网络营销相关管理规定，对金融机构线上营销的内容管理、　</a:t>
              </a:r>
            </a:p>
          </p:txBody>
        </p:sp>
        <p:sp>
          <p:nvSpPr>
            <p:cNvPr id="303" name="TextBox 303"/>
            <p:cNvSpPr txBox="1"/>
            <p:nvPr/>
          </p:nvSpPr>
          <p:spPr>
            <a:xfrm>
              <a:off x="623888" y="6324886"/>
              <a:ext cx="2012671"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适当性管理、消费者保护和信息披露等提出更高要求。</a:t>
              </a:r>
            </a:p>
          </p:txBody>
        </p:sp>
        <p:sp>
          <p:nvSpPr>
            <p:cNvPr id="304" name="TextBox 304"/>
            <p:cNvSpPr txBox="1"/>
            <p:nvPr/>
          </p:nvSpPr>
          <p:spPr>
            <a:xfrm>
              <a:off x="623888" y="6467761"/>
              <a:ext cx="2847315" cy="121920"/>
            </a:xfrm>
            <a:prstGeom prst="rect">
              <a:avLst/>
            </a:prstGeom>
            <a:noFill/>
            <a:ln>
              <a:noFill/>
            </a:ln>
          </p:spPr>
          <p:txBody>
            <a:bodyPr wrap="none" lIns="0" tIns="0" rIns="0" bIns="0" anchor="t" anchorCtr="0">
              <a:spAutoFit/>
            </a:bodyPr>
            <a:lstStyle/>
            <a:p>
              <a:pPr algn="l"/>
              <a:r>
                <a:rPr lang="zh-CN" sz="620" dirty="0">
                  <a:solidFill>
                    <a:srgbClr val="3D3D3D"/>
                  </a:solidFill>
                  <a:latin typeface="+mn-lt"/>
                  <a:ea typeface="+mn-ea"/>
                  <a:cs typeface="+mn-cs"/>
                </a:rPr>
                <a:t>各分支机构应提前做好制度对接、流程优化和系统适应，确保合规平稳达标。</a:t>
              </a:r>
            </a:p>
          </p:txBody>
        </p:sp>
        <p:sp>
          <p:nvSpPr>
            <p:cNvPr id="305" name="Line 305"/>
            <p:cNvSpPr/>
            <p:nvPr/>
          </p:nvSpPr>
          <p:spPr>
            <a:xfrm>
              <a:off x="6667500" y="5924550"/>
              <a:ext cx="9525" cy="666750"/>
            </a:xfrm>
            <a:custGeom>
              <a:avLst/>
              <a:gdLst/>
              <a:ahLst/>
              <a:cxnLst/>
              <a:rect l="l" t="t" r="r" b="b"/>
              <a:pathLst>
                <a:path w="9525" h="666750">
                  <a:moveTo>
                    <a:pt x="0" y="0"/>
                  </a:moveTo>
                  <a:lnTo>
                    <a:pt x="0" y="666750"/>
                  </a:lnTo>
                </a:path>
              </a:pathLst>
            </a:custGeom>
            <a:noFill/>
            <a:ln w="9525">
              <a:solidFill>
                <a:srgbClr val="F1C7CC"/>
              </a:solidFill>
            </a:ln>
          </p:spPr>
        </p:sp>
        <p:sp>
          <p:nvSpPr>
            <p:cNvPr id="306" name="TextBox 306"/>
            <p:cNvSpPr txBox="1"/>
            <p:nvPr/>
          </p:nvSpPr>
          <p:spPr>
            <a:xfrm>
              <a:off x="6853238" y="5949791"/>
              <a:ext cx="892632" cy="161925"/>
            </a:xfrm>
            <a:prstGeom prst="rect">
              <a:avLst/>
            </a:prstGeom>
            <a:noFill/>
            <a:ln>
              <a:noFill/>
            </a:ln>
          </p:spPr>
          <p:txBody>
            <a:bodyPr wrap="none" lIns="0" tIns="0" rIns="0" bIns="0" anchor="t" anchorCtr="0">
              <a:spAutoFit/>
            </a:bodyPr>
            <a:lstStyle/>
            <a:p>
              <a:pPr algn="l"/>
              <a:r>
                <a:rPr lang="zh-CN" sz="820" b="1" dirty="0">
                  <a:solidFill>
                    <a:srgbClr val="C83210"/>
                  </a:solidFill>
                  <a:latin typeface="+mn-lt"/>
                  <a:ea typeface="+mn-ea"/>
                  <a:cs typeface="+mn-cs"/>
                </a:rPr>
                <a:t>分支机构行动要点</a:t>
              </a:r>
            </a:p>
          </p:txBody>
        </p:sp>
        <p:sp>
          <p:nvSpPr>
            <p:cNvPr id="307" name="Ellipse 307"/>
            <p:cNvSpPr/>
            <p:nvPr/>
          </p:nvSpPr>
          <p:spPr>
            <a:xfrm>
              <a:off x="6867525" y="6315075"/>
              <a:ext cx="171450" cy="171450"/>
            </a:xfrm>
            <a:prstGeom prst="ellipse">
              <a:avLst/>
            </a:prstGeom>
            <a:solidFill>
              <a:srgbClr val="C83210"/>
            </a:solidFill>
            <a:ln>
              <a:noFill/>
            </a:ln>
          </p:spPr>
        </p:sp>
        <p:sp>
          <p:nvSpPr>
            <p:cNvPr id="308" name="TextBox 308"/>
            <p:cNvSpPr txBox="1"/>
            <p:nvPr/>
          </p:nvSpPr>
          <p:spPr>
            <a:xfrm>
              <a:off x="6923030" y="6366034"/>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1</a:t>
              </a:r>
            </a:p>
          </p:txBody>
        </p:sp>
        <p:sp>
          <p:nvSpPr>
            <p:cNvPr id="309" name="TextBox 309"/>
            <p:cNvSpPr txBox="1"/>
            <p:nvPr/>
          </p:nvSpPr>
          <p:spPr>
            <a:xfrm>
              <a:off x="7100888" y="6361986"/>
              <a:ext cx="678586" cy="140494"/>
            </a:xfrm>
            <a:prstGeom prst="rect">
              <a:avLst/>
            </a:prstGeom>
            <a:noFill/>
            <a:ln>
              <a:noFill/>
            </a:ln>
          </p:spPr>
          <p:txBody>
            <a:bodyPr wrap="none" lIns="0" tIns="0" rIns="0" bIns="0" anchor="t" anchorCtr="0">
              <a:spAutoFit/>
            </a:bodyPr>
            <a:lstStyle/>
            <a:p>
              <a:pPr algn="l"/>
              <a:r>
                <a:rPr lang="zh-CN" sz="710" dirty="0">
                  <a:solidFill>
                    <a:srgbClr val="222222"/>
                  </a:solidFill>
                  <a:latin typeface="+mn-lt"/>
                  <a:ea typeface="+mn-ea"/>
                  <a:cs typeface="+mn-cs"/>
                </a:rPr>
                <a:t>完善制度与流程</a:t>
              </a:r>
            </a:p>
          </p:txBody>
        </p:sp>
        <p:sp>
          <p:nvSpPr>
            <p:cNvPr id="310" name="Ellipse 310"/>
            <p:cNvSpPr/>
            <p:nvPr/>
          </p:nvSpPr>
          <p:spPr>
            <a:xfrm>
              <a:off x="8153400" y="6315075"/>
              <a:ext cx="171450" cy="171450"/>
            </a:xfrm>
            <a:prstGeom prst="ellipse">
              <a:avLst/>
            </a:prstGeom>
            <a:solidFill>
              <a:srgbClr val="C83210"/>
            </a:solidFill>
            <a:ln>
              <a:noFill/>
            </a:ln>
          </p:spPr>
        </p:sp>
        <p:sp>
          <p:nvSpPr>
            <p:cNvPr id="311" name="TextBox 311"/>
            <p:cNvSpPr txBox="1"/>
            <p:nvPr/>
          </p:nvSpPr>
          <p:spPr>
            <a:xfrm>
              <a:off x="8208905" y="6366034"/>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2</a:t>
              </a:r>
            </a:p>
          </p:txBody>
        </p:sp>
        <p:sp>
          <p:nvSpPr>
            <p:cNvPr id="312" name="TextBox 312"/>
            <p:cNvSpPr txBox="1"/>
            <p:nvPr/>
          </p:nvSpPr>
          <p:spPr>
            <a:xfrm>
              <a:off x="8386762" y="6361986"/>
              <a:ext cx="583006" cy="140494"/>
            </a:xfrm>
            <a:prstGeom prst="rect">
              <a:avLst/>
            </a:prstGeom>
            <a:noFill/>
            <a:ln>
              <a:noFill/>
            </a:ln>
          </p:spPr>
          <p:txBody>
            <a:bodyPr wrap="none" lIns="0" tIns="0" rIns="0" bIns="0" anchor="t" anchorCtr="0">
              <a:spAutoFit/>
            </a:bodyPr>
            <a:lstStyle/>
            <a:p>
              <a:pPr algn="l"/>
              <a:r>
                <a:rPr lang="zh-CN" sz="710" dirty="0">
                  <a:solidFill>
                    <a:srgbClr val="222222"/>
                  </a:solidFill>
                  <a:latin typeface="+mn-lt"/>
                  <a:ea typeface="+mn-ea"/>
                  <a:cs typeface="+mn-cs"/>
                </a:rPr>
                <a:t>开展全员培训</a:t>
              </a:r>
            </a:p>
          </p:txBody>
        </p:sp>
        <p:sp>
          <p:nvSpPr>
            <p:cNvPr id="313" name="Ellipse 313"/>
            <p:cNvSpPr/>
            <p:nvPr/>
          </p:nvSpPr>
          <p:spPr>
            <a:xfrm>
              <a:off x="9439275" y="6315075"/>
              <a:ext cx="171450" cy="171450"/>
            </a:xfrm>
            <a:prstGeom prst="ellipse">
              <a:avLst/>
            </a:prstGeom>
            <a:solidFill>
              <a:srgbClr val="C83210"/>
            </a:solidFill>
            <a:ln>
              <a:noFill/>
            </a:ln>
          </p:spPr>
        </p:sp>
        <p:sp>
          <p:nvSpPr>
            <p:cNvPr id="314" name="TextBox 314"/>
            <p:cNvSpPr txBox="1"/>
            <p:nvPr/>
          </p:nvSpPr>
          <p:spPr>
            <a:xfrm>
              <a:off x="9494780" y="6366034"/>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3</a:t>
              </a:r>
            </a:p>
          </p:txBody>
        </p:sp>
        <p:sp>
          <p:nvSpPr>
            <p:cNvPr id="315" name="TextBox 315"/>
            <p:cNvSpPr txBox="1"/>
            <p:nvPr/>
          </p:nvSpPr>
          <p:spPr>
            <a:xfrm>
              <a:off x="9672638" y="6361986"/>
              <a:ext cx="583006" cy="140494"/>
            </a:xfrm>
            <a:prstGeom prst="rect">
              <a:avLst/>
            </a:prstGeom>
            <a:noFill/>
            <a:ln>
              <a:noFill/>
            </a:ln>
          </p:spPr>
          <p:txBody>
            <a:bodyPr wrap="none" lIns="0" tIns="0" rIns="0" bIns="0" anchor="t" anchorCtr="0">
              <a:spAutoFit/>
            </a:bodyPr>
            <a:lstStyle/>
            <a:p>
              <a:pPr algn="l"/>
              <a:r>
                <a:rPr lang="zh-CN" sz="710" dirty="0">
                  <a:solidFill>
                    <a:srgbClr val="222222"/>
                  </a:solidFill>
                  <a:latin typeface="+mn-lt"/>
                  <a:ea typeface="+mn-ea"/>
                  <a:cs typeface="+mn-cs"/>
                </a:rPr>
                <a:t>自查整改落地</a:t>
              </a:r>
            </a:p>
          </p:txBody>
        </p:sp>
        <p:sp>
          <p:nvSpPr>
            <p:cNvPr id="316" name="Ellipse 316"/>
            <p:cNvSpPr/>
            <p:nvPr/>
          </p:nvSpPr>
          <p:spPr>
            <a:xfrm>
              <a:off x="10725150" y="6315075"/>
              <a:ext cx="171450" cy="171450"/>
            </a:xfrm>
            <a:prstGeom prst="ellipse">
              <a:avLst/>
            </a:prstGeom>
            <a:solidFill>
              <a:srgbClr val="C83210"/>
            </a:solidFill>
            <a:ln>
              <a:noFill/>
            </a:ln>
          </p:spPr>
        </p:sp>
        <p:sp>
          <p:nvSpPr>
            <p:cNvPr id="317" name="TextBox 317"/>
            <p:cNvSpPr txBox="1"/>
            <p:nvPr/>
          </p:nvSpPr>
          <p:spPr>
            <a:xfrm>
              <a:off x="10780655" y="6366034"/>
              <a:ext cx="604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Arial"/>
                  <a:ea typeface="Arial"/>
                  <a:cs typeface="Arial"/>
                </a:rPr>
                <a:t>4</a:t>
              </a:r>
            </a:p>
          </p:txBody>
        </p:sp>
        <p:sp>
          <p:nvSpPr>
            <p:cNvPr id="318" name="TextBox 318"/>
            <p:cNvSpPr txBox="1"/>
            <p:nvPr/>
          </p:nvSpPr>
          <p:spPr>
            <a:xfrm>
              <a:off x="10958512" y="6361986"/>
              <a:ext cx="583006" cy="140494"/>
            </a:xfrm>
            <a:prstGeom prst="rect">
              <a:avLst/>
            </a:prstGeom>
            <a:noFill/>
            <a:ln>
              <a:noFill/>
            </a:ln>
          </p:spPr>
          <p:txBody>
            <a:bodyPr wrap="none" lIns="0" tIns="0" rIns="0" bIns="0" anchor="t" anchorCtr="0">
              <a:spAutoFit/>
            </a:bodyPr>
            <a:lstStyle/>
            <a:p>
              <a:pPr algn="l"/>
              <a:r>
                <a:rPr lang="zh-CN" sz="710" dirty="0">
                  <a:solidFill>
                    <a:srgbClr val="222222"/>
                  </a:solidFill>
                  <a:latin typeface="+mn-lt"/>
                  <a:ea typeface="+mn-ea"/>
                  <a:cs typeface="+mn-cs"/>
                </a:rPr>
                <a:t>持续监测优化</a:t>
              </a:r>
            </a:p>
          </p:txBody>
        </p:sp>
      </p:gr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17</a:t>
              </a:r>
            </a:p>
          </p:txBody>
        </p:sp>
        <p:sp>
          <p:nvSpPr>
            <p:cNvPr id="4" name="TextBox 4"/>
            <p:cNvSpPr txBox="1"/>
            <p:nvPr/>
          </p:nvSpPr>
          <p:spPr>
            <a:xfrm>
              <a:off x="942594" y="151448"/>
              <a:ext cx="6442268"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试点推进</a:t>
              </a:r>
              <a:r>
                <a:rPr lang="zh-CN" sz="1950" b="1" dirty="0">
                  <a:solidFill>
                    <a:srgbClr val="222222"/>
                  </a:solidFill>
                  <a:latin typeface="SimSun"/>
                  <a:ea typeface="SimSun"/>
                  <a:cs typeface="SimSun"/>
                </a:rPr>
                <a:t xml:space="preserve">｜90天跑通认证、内容、触达和转化闭环　</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51" name="scope"/>
          <p:cNvGrpSpPr/>
          <p:nvPr/>
        </p:nvGrpSpPr>
        <p:grpSpPr>
          <a:xfrm>
            <a:off x="133350" y="628650"/>
            <a:ext cx="5581650" cy="1038701"/>
            <a:chOff x="133350" y="628650"/>
            <a:chExt cx="5581650" cy="1038701"/>
          </a:xfrm>
        </p:grpSpPr>
        <p:sp>
          <p:nvSpPr>
            <p:cNvPr id="7" name="Rectangle 7"/>
            <p:cNvSpPr/>
            <p:nvPr/>
          </p:nvSpPr>
          <p:spPr>
            <a:xfrm>
              <a:off x="133350" y="628650"/>
              <a:ext cx="5581650" cy="1028700"/>
            </a:xfrm>
            <a:prstGeom prst="roundRect">
              <a:avLst>
                <a:gd name="adj" fmla="val 5556"/>
              </a:avLst>
            </a:prstGeom>
            <a:solidFill>
              <a:srgbClr val="FDEFF1"/>
            </a:solidFill>
            <a:ln>
              <a:noFill/>
            </a:ln>
          </p:spPr>
        </p:sp>
        <p:sp>
          <p:nvSpPr>
            <p:cNvPr id="8" name="Rectangle 8"/>
            <p:cNvSpPr/>
            <p:nvPr/>
          </p:nvSpPr>
          <p:spPr>
            <a:xfrm>
              <a:off x="209550" y="704850"/>
              <a:ext cx="38100" cy="152400"/>
            </a:xfrm>
            <a:prstGeom prst="rect">
              <a:avLst/>
            </a:prstGeom>
            <a:solidFill>
              <a:srgbClr val="C83210"/>
            </a:solidFill>
            <a:ln>
              <a:noFill/>
            </a:ln>
          </p:spPr>
        </p:sp>
        <p:sp>
          <p:nvSpPr>
            <p:cNvPr id="9" name="TextBox 9"/>
            <p:cNvSpPr txBox="1"/>
            <p:nvPr/>
          </p:nvSpPr>
          <p:spPr>
            <a:xfrm>
              <a:off x="318897" y="723424"/>
              <a:ext cx="1749196"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试点范围</a:t>
              </a:r>
              <a:r>
                <a:rPr lang="zh-CN" sz="750" b="1" dirty="0">
                  <a:solidFill>
                    <a:srgbClr val="808080"/>
                  </a:solidFill>
                  <a:latin typeface="+mn-lt"/>
                  <a:ea typeface="+mn-ea"/>
                  <a:cs typeface="+mn-cs"/>
                </a:rPr>
                <a:t>（小步快跑，验证可复制）</a:t>
              </a:r>
            </a:p>
          </p:txBody>
        </p:sp>
        <p:grpSp>
          <p:nvGrpSpPr>
            <p:cNvPr id="18" name="Group 18"/>
            <p:cNvGrpSpPr/>
            <p:nvPr/>
          </p:nvGrpSpPr>
          <p:grpSpPr>
            <a:xfrm>
              <a:off x="742950" y="962025"/>
              <a:ext cx="171450" cy="180975"/>
              <a:chOff x="742950" y="962025"/>
              <a:chExt cx="171450" cy="180975"/>
            </a:xfrm>
          </p:grpSpPr>
          <p:sp>
            <p:nvSpPr>
              <p:cNvPr id="10" name="Freeform 10"/>
              <p:cNvSpPr/>
              <p:nvPr/>
            </p:nvSpPr>
            <p:spPr>
              <a:xfrm>
                <a:off x="742950" y="1133475"/>
                <a:ext cx="171450" cy="9525"/>
              </a:xfrm>
              <a:custGeom>
                <a:avLst/>
                <a:gdLst/>
                <a:ahLst/>
                <a:cxnLst/>
                <a:rect l="l" t="t" r="r" b="b"/>
                <a:pathLst>
                  <a:path w="171450" h="9525">
                    <a:moveTo>
                      <a:pt x="0" y="0"/>
                    </a:moveTo>
                    <a:lnTo>
                      <a:pt x="171450" y="0"/>
                    </a:lnTo>
                  </a:path>
                </a:pathLst>
              </a:custGeom>
              <a:noFill/>
              <a:ln w="19050">
                <a:solidFill>
                  <a:srgbClr val="C83210"/>
                </a:solidFill>
              </a:ln>
            </p:spPr>
          </p:sp>
          <p:sp>
            <p:nvSpPr>
              <p:cNvPr id="11" name="Freeform 11"/>
              <p:cNvSpPr/>
              <p:nvPr/>
            </p:nvSpPr>
            <p:spPr>
              <a:xfrm>
                <a:off x="742950" y="1028700"/>
                <a:ext cx="171450" cy="9525"/>
              </a:xfrm>
              <a:custGeom>
                <a:avLst/>
                <a:gdLst/>
                <a:ahLst/>
                <a:cxnLst/>
                <a:rect l="l" t="t" r="r" b="b"/>
                <a:pathLst>
                  <a:path w="171450" h="9525">
                    <a:moveTo>
                      <a:pt x="0" y="0"/>
                    </a:moveTo>
                    <a:lnTo>
                      <a:pt x="171450" y="0"/>
                    </a:lnTo>
                  </a:path>
                </a:pathLst>
              </a:custGeom>
              <a:noFill/>
              <a:ln w="19050">
                <a:solidFill>
                  <a:srgbClr val="C83210"/>
                </a:solidFill>
              </a:ln>
            </p:spPr>
          </p:sp>
          <p:sp>
            <p:nvSpPr>
              <p:cNvPr id="12" name="Freeform 12"/>
              <p:cNvSpPr/>
              <p:nvPr/>
            </p:nvSpPr>
            <p:spPr>
              <a:xfrm>
                <a:off x="762000" y="962025"/>
                <a:ext cx="133350" cy="28575"/>
              </a:xfrm>
              <a:custGeom>
                <a:avLst/>
                <a:gdLst/>
                <a:ahLst/>
                <a:cxnLst/>
                <a:rect l="l" t="t" r="r" b="b"/>
                <a:pathLst>
                  <a:path w="133350" h="28575">
                    <a:moveTo>
                      <a:pt x="0" y="28575"/>
                    </a:moveTo>
                    <a:lnTo>
                      <a:pt x="66675" y="0"/>
                    </a:lnTo>
                    <a:lnTo>
                      <a:pt x="133350" y="28575"/>
                    </a:lnTo>
                  </a:path>
                </a:pathLst>
              </a:custGeom>
              <a:noFill/>
              <a:ln w="19050">
                <a:solidFill>
                  <a:srgbClr val="C83210"/>
                </a:solidFill>
              </a:ln>
            </p:spPr>
          </p:sp>
          <p:sp>
            <p:nvSpPr>
              <p:cNvPr id="13" name="Freeform 13"/>
              <p:cNvSpPr/>
              <p:nvPr/>
            </p:nvSpPr>
            <p:spPr>
              <a:xfrm>
                <a:off x="752475" y="1028700"/>
                <a:ext cx="9525" cy="104775"/>
              </a:xfrm>
              <a:custGeom>
                <a:avLst/>
                <a:gdLst/>
                <a:ahLst/>
                <a:cxnLst/>
                <a:rect l="l" t="t" r="r" b="b"/>
                <a:pathLst>
                  <a:path w="9525" h="104775">
                    <a:moveTo>
                      <a:pt x="0" y="0"/>
                    </a:moveTo>
                    <a:lnTo>
                      <a:pt x="0" y="104775"/>
                    </a:lnTo>
                  </a:path>
                </a:pathLst>
              </a:custGeom>
              <a:noFill/>
              <a:ln w="19050">
                <a:solidFill>
                  <a:srgbClr val="C83210"/>
                </a:solidFill>
              </a:ln>
            </p:spPr>
          </p:sp>
          <p:sp>
            <p:nvSpPr>
              <p:cNvPr id="14" name="Freeform 14"/>
              <p:cNvSpPr/>
              <p:nvPr/>
            </p:nvSpPr>
            <p:spPr>
              <a:xfrm>
                <a:off x="904875" y="1028700"/>
                <a:ext cx="9525" cy="104775"/>
              </a:xfrm>
              <a:custGeom>
                <a:avLst/>
                <a:gdLst/>
                <a:ahLst/>
                <a:cxnLst/>
                <a:rect l="l" t="t" r="r" b="b"/>
                <a:pathLst>
                  <a:path w="9525" h="104775">
                    <a:moveTo>
                      <a:pt x="0" y="0"/>
                    </a:moveTo>
                    <a:lnTo>
                      <a:pt x="0" y="104775"/>
                    </a:lnTo>
                  </a:path>
                </a:pathLst>
              </a:custGeom>
              <a:noFill/>
              <a:ln w="19050">
                <a:solidFill>
                  <a:srgbClr val="C83210"/>
                </a:solidFill>
              </a:ln>
            </p:spPr>
          </p:sp>
          <p:sp>
            <p:nvSpPr>
              <p:cNvPr id="15" name="Freeform 15"/>
              <p:cNvSpPr/>
              <p:nvPr/>
            </p:nvSpPr>
            <p:spPr>
              <a:xfrm>
                <a:off x="790575" y="1066800"/>
                <a:ext cx="9525" cy="28575"/>
              </a:xfrm>
              <a:custGeom>
                <a:avLst/>
                <a:gdLst/>
                <a:ahLst/>
                <a:cxnLst/>
                <a:rect l="l" t="t" r="r" b="b"/>
                <a:pathLst>
                  <a:path w="9525" h="28575">
                    <a:moveTo>
                      <a:pt x="0" y="0"/>
                    </a:moveTo>
                    <a:lnTo>
                      <a:pt x="0" y="28575"/>
                    </a:lnTo>
                  </a:path>
                </a:pathLst>
              </a:custGeom>
              <a:noFill/>
              <a:ln w="19050">
                <a:solidFill>
                  <a:srgbClr val="C83210"/>
                </a:solidFill>
              </a:ln>
            </p:spPr>
          </p:sp>
          <p:sp>
            <p:nvSpPr>
              <p:cNvPr id="16" name="Freeform 16"/>
              <p:cNvSpPr/>
              <p:nvPr/>
            </p:nvSpPr>
            <p:spPr>
              <a:xfrm>
                <a:off x="828675" y="1066800"/>
                <a:ext cx="9525" cy="28575"/>
              </a:xfrm>
              <a:custGeom>
                <a:avLst/>
                <a:gdLst/>
                <a:ahLst/>
                <a:cxnLst/>
                <a:rect l="l" t="t" r="r" b="b"/>
                <a:pathLst>
                  <a:path w="9525" h="28575">
                    <a:moveTo>
                      <a:pt x="0" y="0"/>
                    </a:moveTo>
                    <a:lnTo>
                      <a:pt x="0" y="28575"/>
                    </a:lnTo>
                  </a:path>
                </a:pathLst>
              </a:custGeom>
              <a:noFill/>
              <a:ln w="19050">
                <a:solidFill>
                  <a:srgbClr val="C83210"/>
                </a:solidFill>
              </a:ln>
            </p:spPr>
          </p:sp>
          <p:sp>
            <p:nvSpPr>
              <p:cNvPr id="17" name="Freeform 17"/>
              <p:cNvSpPr/>
              <p:nvPr/>
            </p:nvSpPr>
            <p:spPr>
              <a:xfrm>
                <a:off x="866775" y="1066800"/>
                <a:ext cx="9525" cy="28575"/>
              </a:xfrm>
              <a:custGeom>
                <a:avLst/>
                <a:gdLst/>
                <a:ahLst/>
                <a:cxnLst/>
                <a:rect l="l" t="t" r="r" b="b"/>
                <a:pathLst>
                  <a:path w="9525" h="28575">
                    <a:moveTo>
                      <a:pt x="0" y="0"/>
                    </a:moveTo>
                    <a:lnTo>
                      <a:pt x="0" y="28575"/>
                    </a:lnTo>
                  </a:path>
                </a:pathLst>
              </a:custGeom>
              <a:noFill/>
              <a:ln w="19050">
                <a:solidFill>
                  <a:srgbClr val="C83210"/>
                </a:solidFill>
              </a:ln>
            </p:spPr>
          </p:sp>
        </p:grpSp>
        <p:sp>
          <p:nvSpPr>
            <p:cNvPr id="19" name="TextBox 19"/>
            <p:cNvSpPr txBox="1"/>
            <p:nvPr/>
          </p:nvSpPr>
          <p:spPr>
            <a:xfrm>
              <a:off x="707744" y="1290638"/>
              <a:ext cx="241862" cy="147638"/>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2</a:t>
              </a:r>
              <a:r>
                <a:rPr lang="zh-CN" sz="750" dirty="0">
                  <a:solidFill>
                    <a:srgbClr val="3D3D3D"/>
                  </a:solidFill>
                  <a:latin typeface="+mn-lt"/>
                  <a:ea typeface="+mn-ea"/>
                  <a:cs typeface="+mn-cs"/>
                </a:rPr>
                <a:t xml:space="preserve"> 家</a:t>
              </a:r>
            </a:p>
          </p:txBody>
        </p:sp>
        <p:sp>
          <p:nvSpPr>
            <p:cNvPr id="20" name="TextBox 20"/>
            <p:cNvSpPr txBox="1"/>
            <p:nvPr/>
          </p:nvSpPr>
          <p:spPr>
            <a:xfrm>
              <a:off x="651599" y="1455182"/>
              <a:ext cx="3541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试点分行</a:t>
              </a:r>
            </a:p>
          </p:txBody>
        </p:sp>
        <p:grpSp>
          <p:nvGrpSpPr>
            <p:cNvPr id="26" name="Group 26"/>
            <p:cNvGrpSpPr/>
            <p:nvPr/>
          </p:nvGrpSpPr>
          <p:grpSpPr>
            <a:xfrm>
              <a:off x="2133600" y="962025"/>
              <a:ext cx="171450" cy="180975"/>
              <a:chOff x="2133600" y="962025"/>
              <a:chExt cx="171450" cy="180975"/>
            </a:xfrm>
          </p:grpSpPr>
          <p:sp>
            <p:nvSpPr>
              <p:cNvPr id="21" name="Freeform 21"/>
              <p:cNvSpPr/>
              <p:nvPr/>
            </p:nvSpPr>
            <p:spPr>
              <a:xfrm>
                <a:off x="2133600" y="1133475"/>
                <a:ext cx="171450" cy="9525"/>
              </a:xfrm>
              <a:custGeom>
                <a:avLst/>
                <a:gdLst/>
                <a:ahLst/>
                <a:cxnLst/>
                <a:rect l="l" t="t" r="r" b="b"/>
                <a:pathLst>
                  <a:path w="171450" h="9525">
                    <a:moveTo>
                      <a:pt x="0" y="0"/>
                    </a:moveTo>
                    <a:lnTo>
                      <a:pt x="171450" y="0"/>
                    </a:lnTo>
                  </a:path>
                </a:pathLst>
              </a:custGeom>
              <a:noFill/>
              <a:ln w="19050">
                <a:solidFill>
                  <a:srgbClr val="C83210"/>
                </a:solidFill>
              </a:ln>
            </p:spPr>
          </p:sp>
          <p:sp>
            <p:nvSpPr>
              <p:cNvPr id="22" name="Freeform 22"/>
              <p:cNvSpPr/>
              <p:nvPr/>
            </p:nvSpPr>
            <p:spPr>
              <a:xfrm>
                <a:off x="2133600" y="962025"/>
                <a:ext cx="171450" cy="76200"/>
              </a:xfrm>
              <a:custGeom>
                <a:avLst/>
                <a:gdLst/>
                <a:ahLst/>
                <a:cxnLst/>
                <a:rect l="l" t="t" r="r" b="b"/>
                <a:pathLst>
                  <a:path w="171450" h="76200">
                    <a:moveTo>
                      <a:pt x="0" y="38100"/>
                    </a:moveTo>
                    <a:lnTo>
                      <a:pt x="0" y="47625"/>
                    </a:lnTo>
                    <a:cubicBezTo>
                      <a:pt x="0" y="63407"/>
                      <a:pt x="12793" y="76200"/>
                      <a:pt x="28575" y="76200"/>
                    </a:cubicBezTo>
                    <a:cubicBezTo>
                      <a:pt x="44357" y="76200"/>
                      <a:pt x="57150" y="63407"/>
                      <a:pt x="57150" y="47625"/>
                    </a:cubicBezTo>
                    <a:lnTo>
                      <a:pt x="57150" y="38100"/>
                    </a:lnTo>
                    <a:moveTo>
                      <a:pt x="57150" y="47625"/>
                    </a:moveTo>
                    <a:cubicBezTo>
                      <a:pt x="57150" y="63407"/>
                      <a:pt x="69943" y="76200"/>
                      <a:pt x="85725" y="76200"/>
                    </a:cubicBezTo>
                    <a:cubicBezTo>
                      <a:pt x="101507" y="76200"/>
                      <a:pt x="114300" y="63407"/>
                      <a:pt x="114300" y="47625"/>
                    </a:cubicBezTo>
                    <a:lnTo>
                      <a:pt x="114300" y="38100"/>
                    </a:lnTo>
                    <a:moveTo>
                      <a:pt x="114300" y="47625"/>
                    </a:moveTo>
                    <a:cubicBezTo>
                      <a:pt x="114300" y="63407"/>
                      <a:pt x="127093" y="76200"/>
                      <a:pt x="142875" y="76200"/>
                    </a:cubicBezTo>
                    <a:cubicBezTo>
                      <a:pt x="158657" y="76200"/>
                      <a:pt x="171450" y="63407"/>
                      <a:pt x="171450" y="47625"/>
                    </a:cubicBezTo>
                    <a:lnTo>
                      <a:pt x="171450" y="38100"/>
                    </a:lnTo>
                    <a:lnTo>
                      <a:pt x="0" y="38100"/>
                    </a:lnTo>
                    <a:lnTo>
                      <a:pt x="19050" y="0"/>
                    </a:lnTo>
                    <a:lnTo>
                      <a:pt x="152400" y="0"/>
                    </a:lnTo>
                    <a:lnTo>
                      <a:pt x="171450" y="38100"/>
                    </a:lnTo>
                  </a:path>
                </a:pathLst>
              </a:custGeom>
              <a:noFill/>
              <a:ln w="19050">
                <a:solidFill>
                  <a:srgbClr val="C83210"/>
                </a:solidFill>
              </a:ln>
            </p:spPr>
          </p:sp>
          <p:sp>
            <p:nvSpPr>
              <p:cNvPr id="23" name="Freeform 23"/>
              <p:cNvSpPr/>
              <p:nvPr/>
            </p:nvSpPr>
            <p:spPr>
              <a:xfrm>
                <a:off x="2152650" y="1036796"/>
                <a:ext cx="9525" cy="96679"/>
              </a:xfrm>
              <a:custGeom>
                <a:avLst/>
                <a:gdLst/>
                <a:ahLst/>
                <a:cxnLst/>
                <a:rect l="l" t="t" r="r" b="b"/>
                <a:pathLst>
                  <a:path w="9525" h="96679">
                    <a:moveTo>
                      <a:pt x="0" y="96679"/>
                    </a:moveTo>
                    <a:lnTo>
                      <a:pt x="0" y="0"/>
                    </a:lnTo>
                  </a:path>
                </a:pathLst>
              </a:custGeom>
              <a:noFill/>
              <a:ln w="19050">
                <a:solidFill>
                  <a:srgbClr val="C83210"/>
                </a:solidFill>
              </a:ln>
            </p:spPr>
          </p:sp>
          <p:sp>
            <p:nvSpPr>
              <p:cNvPr id="24" name="Freeform 24"/>
              <p:cNvSpPr/>
              <p:nvPr/>
            </p:nvSpPr>
            <p:spPr>
              <a:xfrm>
                <a:off x="2286000" y="1036796"/>
                <a:ext cx="9525" cy="96679"/>
              </a:xfrm>
              <a:custGeom>
                <a:avLst/>
                <a:gdLst/>
                <a:ahLst/>
                <a:cxnLst/>
                <a:rect l="l" t="t" r="r" b="b"/>
                <a:pathLst>
                  <a:path w="9525" h="96679">
                    <a:moveTo>
                      <a:pt x="0" y="96679"/>
                    </a:moveTo>
                    <a:lnTo>
                      <a:pt x="0" y="0"/>
                    </a:lnTo>
                  </a:path>
                </a:pathLst>
              </a:custGeom>
              <a:noFill/>
              <a:ln w="19050">
                <a:solidFill>
                  <a:srgbClr val="C83210"/>
                </a:solidFill>
              </a:ln>
            </p:spPr>
          </p:sp>
          <p:sp>
            <p:nvSpPr>
              <p:cNvPr id="25" name="Freeform 25"/>
              <p:cNvSpPr/>
              <p:nvPr/>
            </p:nvSpPr>
            <p:spPr>
              <a:xfrm>
                <a:off x="2190750" y="1076325"/>
                <a:ext cx="57150" cy="57150"/>
              </a:xfrm>
              <a:custGeom>
                <a:avLst/>
                <a:gdLst/>
                <a:ahLst/>
                <a:cxnLst/>
                <a:rect l="l" t="t" r="r" b="b"/>
                <a:pathLst>
                  <a:path w="57150" h="57150">
                    <a:moveTo>
                      <a:pt x="0" y="57150"/>
                    </a:moveTo>
                    <a:lnTo>
                      <a:pt x="0" y="19050"/>
                    </a:lnTo>
                    <a:cubicBezTo>
                      <a:pt x="0" y="8529"/>
                      <a:pt x="8529" y="0"/>
                      <a:pt x="19050" y="0"/>
                    </a:cubicBezTo>
                    <a:lnTo>
                      <a:pt x="38100" y="0"/>
                    </a:lnTo>
                    <a:cubicBezTo>
                      <a:pt x="48621" y="0"/>
                      <a:pt x="57150" y="8529"/>
                      <a:pt x="57150" y="19050"/>
                    </a:cubicBezTo>
                    <a:lnTo>
                      <a:pt x="57150" y="57150"/>
                    </a:lnTo>
                  </a:path>
                </a:pathLst>
              </a:custGeom>
              <a:noFill/>
              <a:ln w="19050">
                <a:solidFill>
                  <a:srgbClr val="C83210"/>
                </a:solidFill>
              </a:ln>
            </p:spPr>
          </p:sp>
        </p:grpSp>
        <p:sp>
          <p:nvSpPr>
            <p:cNvPr id="27" name="TextBox 27"/>
            <p:cNvSpPr txBox="1"/>
            <p:nvPr/>
          </p:nvSpPr>
          <p:spPr>
            <a:xfrm>
              <a:off x="2098394" y="1290638"/>
              <a:ext cx="241862" cy="147638"/>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6</a:t>
              </a:r>
              <a:r>
                <a:rPr lang="zh-CN" sz="750" dirty="0">
                  <a:solidFill>
                    <a:srgbClr val="3D3D3D"/>
                  </a:solidFill>
                  <a:latin typeface="+mn-lt"/>
                  <a:ea typeface="+mn-ea"/>
                  <a:cs typeface="+mn-cs"/>
                </a:rPr>
                <a:t xml:space="preserve"> 个</a:t>
              </a:r>
            </a:p>
          </p:txBody>
        </p:sp>
        <p:sp>
          <p:nvSpPr>
            <p:cNvPr id="28" name="TextBox 28"/>
            <p:cNvSpPr txBox="1"/>
            <p:nvPr/>
          </p:nvSpPr>
          <p:spPr>
            <a:xfrm>
              <a:off x="2042249" y="1455182"/>
              <a:ext cx="3541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试点网点</a:t>
              </a:r>
            </a:p>
          </p:txBody>
        </p:sp>
        <p:grpSp>
          <p:nvGrpSpPr>
            <p:cNvPr id="35" name="Group 35"/>
            <p:cNvGrpSpPr/>
            <p:nvPr/>
          </p:nvGrpSpPr>
          <p:grpSpPr>
            <a:xfrm>
              <a:off x="3524250" y="962025"/>
              <a:ext cx="171450" cy="171450"/>
              <a:chOff x="3524250" y="962025"/>
              <a:chExt cx="171450" cy="171450"/>
            </a:xfrm>
          </p:grpSpPr>
          <p:sp>
            <p:nvSpPr>
              <p:cNvPr id="29" name="Freeform 29"/>
              <p:cNvSpPr/>
              <p:nvPr/>
            </p:nvSpPr>
            <p:spPr>
              <a:xfrm>
                <a:off x="3590925" y="10382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C83210"/>
                </a:solidFill>
              </a:ln>
            </p:spPr>
          </p:sp>
          <p:sp>
            <p:nvSpPr>
              <p:cNvPr id="30" name="Freeform 30"/>
              <p:cNvSpPr/>
              <p:nvPr/>
            </p:nvSpPr>
            <p:spPr>
              <a:xfrm>
                <a:off x="3571875" y="110490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C83210"/>
                </a:solidFill>
              </a:ln>
            </p:spPr>
          </p:sp>
          <p:sp>
            <p:nvSpPr>
              <p:cNvPr id="31" name="Freeform 31"/>
              <p:cNvSpPr/>
              <p:nvPr/>
            </p:nvSpPr>
            <p:spPr>
              <a:xfrm>
                <a:off x="3638550" y="9620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C83210"/>
                </a:solidFill>
              </a:ln>
            </p:spPr>
          </p:sp>
          <p:sp>
            <p:nvSpPr>
              <p:cNvPr id="32" name="Freeform 32"/>
              <p:cNvSpPr/>
              <p:nvPr/>
            </p:nvSpPr>
            <p:spPr>
              <a:xfrm>
                <a:off x="3657600" y="102870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C83210"/>
                </a:solidFill>
              </a:ln>
            </p:spPr>
          </p:sp>
          <p:sp>
            <p:nvSpPr>
              <p:cNvPr id="33" name="Freeform 33"/>
              <p:cNvSpPr/>
              <p:nvPr/>
            </p:nvSpPr>
            <p:spPr>
              <a:xfrm>
                <a:off x="3543300" y="9620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C83210"/>
                </a:solidFill>
              </a:ln>
            </p:spPr>
          </p:sp>
          <p:sp>
            <p:nvSpPr>
              <p:cNvPr id="34" name="Freeform 34"/>
              <p:cNvSpPr/>
              <p:nvPr/>
            </p:nvSpPr>
            <p:spPr>
              <a:xfrm>
                <a:off x="3524250" y="102870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C83210"/>
                </a:solidFill>
              </a:ln>
            </p:spPr>
          </p:sp>
        </p:grpSp>
        <p:sp>
          <p:nvSpPr>
            <p:cNvPr id="36" name="TextBox 36"/>
            <p:cNvSpPr txBox="1"/>
            <p:nvPr/>
          </p:nvSpPr>
          <p:spPr>
            <a:xfrm>
              <a:off x="3489044" y="1290638"/>
              <a:ext cx="241862" cy="147638"/>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3</a:t>
              </a:r>
              <a:r>
                <a:rPr lang="zh-CN" sz="750" dirty="0">
                  <a:solidFill>
                    <a:srgbClr val="3D3D3D"/>
                  </a:solidFill>
                  <a:latin typeface="+mn-lt"/>
                  <a:ea typeface="+mn-ea"/>
                  <a:cs typeface="+mn-cs"/>
                </a:rPr>
                <a:t xml:space="preserve"> 类</a:t>
              </a:r>
            </a:p>
          </p:txBody>
        </p:sp>
        <p:sp>
          <p:nvSpPr>
            <p:cNvPr id="37" name="TextBox 37"/>
            <p:cNvSpPr txBox="1"/>
            <p:nvPr/>
          </p:nvSpPr>
          <p:spPr>
            <a:xfrm>
              <a:off x="3432899" y="1436132"/>
              <a:ext cx="3541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客户客群</a:t>
              </a:r>
            </a:p>
          </p:txBody>
        </p:sp>
        <p:sp>
          <p:nvSpPr>
            <p:cNvPr id="38" name="TextBox 38"/>
            <p:cNvSpPr txBox="1"/>
            <p:nvPr/>
          </p:nvSpPr>
          <p:spPr>
            <a:xfrm>
              <a:off x="3255200" y="1562576"/>
              <a:ext cx="709549" cy="104775"/>
            </a:xfrm>
            <a:prstGeom prst="rect">
              <a:avLst/>
            </a:prstGeom>
            <a:noFill/>
            <a:ln>
              <a:noFill/>
            </a:ln>
          </p:spPr>
          <p:txBody>
            <a:bodyPr wrap="none" lIns="0" tIns="0" rIns="0" bIns="0" anchor="t" anchorCtr="0">
              <a:spAutoFit/>
            </a:bodyPr>
            <a:lstStyle/>
            <a:p>
              <a:pPr algn="ctr"/>
              <a:r>
                <a:rPr lang="zh-CN" sz="520" dirty="0">
                  <a:solidFill>
                    <a:srgbClr val="808080"/>
                  </a:solidFill>
                  <a:latin typeface="+mn-lt"/>
                  <a:ea typeface="+mn-ea"/>
                  <a:cs typeface="+mn-cs"/>
                </a:rPr>
                <a:t>（大众、财富、经营）</a:t>
              </a:r>
            </a:p>
          </p:txBody>
        </p:sp>
        <p:grpSp>
          <p:nvGrpSpPr>
            <p:cNvPr id="44" name="Group 44"/>
            <p:cNvGrpSpPr/>
            <p:nvPr/>
          </p:nvGrpSpPr>
          <p:grpSpPr>
            <a:xfrm>
              <a:off x="4933950" y="962025"/>
              <a:ext cx="133350" cy="171450"/>
              <a:chOff x="4933950" y="962025"/>
              <a:chExt cx="133350" cy="171450"/>
            </a:xfrm>
          </p:grpSpPr>
          <p:sp>
            <p:nvSpPr>
              <p:cNvPr id="39" name="Freeform 39"/>
              <p:cNvSpPr/>
              <p:nvPr/>
            </p:nvSpPr>
            <p:spPr>
              <a:xfrm>
                <a:off x="5019675" y="96202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C83210"/>
                </a:solidFill>
              </a:ln>
            </p:spPr>
          </p:sp>
          <p:sp>
            <p:nvSpPr>
              <p:cNvPr id="40" name="Freeform 40"/>
              <p:cNvSpPr/>
              <p:nvPr/>
            </p:nvSpPr>
            <p:spPr>
              <a:xfrm>
                <a:off x="4933950" y="96202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C83210"/>
                </a:solidFill>
              </a:ln>
            </p:spPr>
          </p:sp>
          <p:sp>
            <p:nvSpPr>
              <p:cNvPr id="41" name="Freeform 41"/>
              <p:cNvSpPr/>
              <p:nvPr/>
            </p:nvSpPr>
            <p:spPr>
              <a:xfrm>
                <a:off x="4972050" y="1019175"/>
                <a:ext cx="9525" cy="9525"/>
              </a:xfrm>
              <a:custGeom>
                <a:avLst/>
                <a:gdLst/>
                <a:ahLst/>
                <a:cxnLst/>
                <a:rect l="l" t="t" r="r" b="b"/>
                <a:pathLst>
                  <a:path w="9525" h="9525">
                    <a:moveTo>
                      <a:pt x="0" y="0"/>
                    </a:moveTo>
                    <a:lnTo>
                      <a:pt x="9525" y="0"/>
                    </a:lnTo>
                  </a:path>
                </a:pathLst>
              </a:custGeom>
              <a:noFill/>
              <a:ln w="19050">
                <a:solidFill>
                  <a:srgbClr val="C83210"/>
                </a:solidFill>
              </a:ln>
            </p:spPr>
          </p:sp>
          <p:sp>
            <p:nvSpPr>
              <p:cNvPr id="42" name="Freeform 42"/>
              <p:cNvSpPr/>
              <p:nvPr/>
            </p:nvSpPr>
            <p:spPr>
              <a:xfrm>
                <a:off x="4972050" y="1057275"/>
                <a:ext cx="57150" cy="9525"/>
              </a:xfrm>
              <a:custGeom>
                <a:avLst/>
                <a:gdLst/>
                <a:ahLst/>
                <a:cxnLst/>
                <a:rect l="l" t="t" r="r" b="b"/>
                <a:pathLst>
                  <a:path w="57150" h="9525">
                    <a:moveTo>
                      <a:pt x="0" y="0"/>
                    </a:moveTo>
                    <a:lnTo>
                      <a:pt x="57150" y="0"/>
                    </a:lnTo>
                  </a:path>
                </a:pathLst>
              </a:custGeom>
              <a:noFill/>
              <a:ln w="19050">
                <a:solidFill>
                  <a:srgbClr val="C83210"/>
                </a:solidFill>
              </a:ln>
            </p:spPr>
          </p:sp>
          <p:sp>
            <p:nvSpPr>
              <p:cNvPr id="43" name="Freeform 43"/>
              <p:cNvSpPr/>
              <p:nvPr/>
            </p:nvSpPr>
            <p:spPr>
              <a:xfrm>
                <a:off x="4972050" y="1095375"/>
                <a:ext cx="57150" cy="9525"/>
              </a:xfrm>
              <a:custGeom>
                <a:avLst/>
                <a:gdLst/>
                <a:ahLst/>
                <a:cxnLst/>
                <a:rect l="l" t="t" r="r" b="b"/>
                <a:pathLst>
                  <a:path w="57150" h="9525">
                    <a:moveTo>
                      <a:pt x="0" y="0"/>
                    </a:moveTo>
                    <a:lnTo>
                      <a:pt x="57150" y="0"/>
                    </a:lnTo>
                  </a:path>
                </a:pathLst>
              </a:custGeom>
              <a:noFill/>
              <a:ln w="19050">
                <a:solidFill>
                  <a:srgbClr val="C83210"/>
                </a:solidFill>
              </a:ln>
            </p:spPr>
          </p:sp>
        </p:grpSp>
        <p:sp>
          <p:nvSpPr>
            <p:cNvPr id="45" name="TextBox 45"/>
            <p:cNvSpPr txBox="1"/>
            <p:nvPr/>
          </p:nvSpPr>
          <p:spPr>
            <a:xfrm>
              <a:off x="4829153" y="1290638"/>
              <a:ext cx="342944" cy="147638"/>
            </a:xfrm>
            <a:prstGeom prst="rect">
              <a:avLst/>
            </a:prstGeom>
            <a:noFill/>
            <a:ln>
              <a:noFill/>
            </a:ln>
          </p:spPr>
          <p:txBody>
            <a:bodyPr wrap="none" lIns="0" tIns="0" rIns="0" bIns="0" anchor="t" anchorCtr="0">
              <a:spAutoFit/>
            </a:bodyPr>
            <a:lstStyle/>
            <a:p>
              <a:pPr algn="ctr"/>
              <a:r>
                <a:rPr lang="zh-CN" sz="1350" b="1" dirty="0">
                  <a:solidFill>
                    <a:srgbClr val="C83210"/>
                  </a:solidFill>
                  <a:latin typeface="Arial"/>
                  <a:ea typeface="Arial"/>
                  <a:cs typeface="Arial"/>
                </a:rPr>
                <a:t>20</a:t>
              </a:r>
              <a:r>
                <a:rPr lang="zh-CN" sz="750" dirty="0">
                  <a:solidFill>
                    <a:srgbClr val="3D3D3D"/>
                  </a:solidFill>
                  <a:latin typeface="+mn-lt"/>
                  <a:ea typeface="+mn-ea"/>
                  <a:cs typeface="+mn-cs"/>
                </a:rPr>
                <a:t xml:space="preserve"> 个</a:t>
              </a:r>
            </a:p>
          </p:txBody>
        </p:sp>
        <p:sp>
          <p:nvSpPr>
            <p:cNvPr id="46" name="TextBox 46"/>
            <p:cNvSpPr txBox="1"/>
            <p:nvPr/>
          </p:nvSpPr>
          <p:spPr>
            <a:xfrm>
              <a:off x="4823549" y="1436132"/>
              <a:ext cx="354152"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内容主题</a:t>
              </a:r>
            </a:p>
          </p:txBody>
        </p:sp>
        <p:sp>
          <p:nvSpPr>
            <p:cNvPr id="47" name="TextBox 47"/>
            <p:cNvSpPr txBox="1"/>
            <p:nvPr/>
          </p:nvSpPr>
          <p:spPr>
            <a:xfrm>
              <a:off x="4505846" y="1562576"/>
              <a:ext cx="989559" cy="104775"/>
            </a:xfrm>
            <a:prstGeom prst="rect">
              <a:avLst/>
            </a:prstGeom>
            <a:noFill/>
            <a:ln>
              <a:noFill/>
            </a:ln>
          </p:spPr>
          <p:txBody>
            <a:bodyPr wrap="none" lIns="0" tIns="0" rIns="0" bIns="0" anchor="t" anchorCtr="0">
              <a:spAutoFit/>
            </a:bodyPr>
            <a:lstStyle/>
            <a:p>
              <a:pPr algn="ctr"/>
              <a:r>
                <a:rPr lang="zh-CN" sz="520" dirty="0">
                  <a:solidFill>
                    <a:srgbClr val="808080"/>
                  </a:solidFill>
                  <a:latin typeface="+mn-lt"/>
                  <a:ea typeface="+mn-ea"/>
                  <a:cs typeface="+mn-cs"/>
                </a:rPr>
                <a:t>（产品、权益、投教、活动等）</a:t>
              </a:r>
            </a:p>
          </p:txBody>
        </p:sp>
        <p:sp>
          <p:nvSpPr>
            <p:cNvPr id="48" name="Line 48"/>
            <p:cNvSpPr/>
            <p:nvPr/>
          </p:nvSpPr>
          <p:spPr>
            <a:xfrm>
              <a:off x="1524000" y="952500"/>
              <a:ext cx="9525" cy="628650"/>
            </a:xfrm>
            <a:custGeom>
              <a:avLst/>
              <a:gdLst/>
              <a:ahLst/>
              <a:cxnLst/>
              <a:rect l="l" t="t" r="r" b="b"/>
              <a:pathLst>
                <a:path w="9525" h="628650">
                  <a:moveTo>
                    <a:pt x="0" y="0"/>
                  </a:moveTo>
                  <a:lnTo>
                    <a:pt x="0" y="628650"/>
                  </a:lnTo>
                </a:path>
              </a:pathLst>
            </a:custGeom>
            <a:noFill/>
            <a:ln w="9525">
              <a:solidFill>
                <a:srgbClr val="F1C7CC"/>
              </a:solidFill>
            </a:ln>
          </p:spPr>
        </p:sp>
        <p:sp>
          <p:nvSpPr>
            <p:cNvPr id="49" name="Line 49"/>
            <p:cNvSpPr/>
            <p:nvPr/>
          </p:nvSpPr>
          <p:spPr>
            <a:xfrm>
              <a:off x="2914650" y="952500"/>
              <a:ext cx="9525" cy="628650"/>
            </a:xfrm>
            <a:custGeom>
              <a:avLst/>
              <a:gdLst/>
              <a:ahLst/>
              <a:cxnLst/>
              <a:rect l="l" t="t" r="r" b="b"/>
              <a:pathLst>
                <a:path w="9525" h="628650">
                  <a:moveTo>
                    <a:pt x="0" y="0"/>
                  </a:moveTo>
                  <a:lnTo>
                    <a:pt x="0" y="628650"/>
                  </a:lnTo>
                </a:path>
              </a:pathLst>
            </a:custGeom>
            <a:noFill/>
            <a:ln w="9525">
              <a:solidFill>
                <a:srgbClr val="F1C7CC"/>
              </a:solidFill>
            </a:ln>
          </p:spPr>
        </p:sp>
        <p:sp>
          <p:nvSpPr>
            <p:cNvPr id="50" name="Line 50"/>
            <p:cNvSpPr/>
            <p:nvPr/>
          </p:nvSpPr>
          <p:spPr>
            <a:xfrm>
              <a:off x="4305300" y="952500"/>
              <a:ext cx="9525" cy="628650"/>
            </a:xfrm>
            <a:custGeom>
              <a:avLst/>
              <a:gdLst/>
              <a:ahLst/>
              <a:cxnLst/>
              <a:rect l="l" t="t" r="r" b="b"/>
              <a:pathLst>
                <a:path w="9525" h="628650">
                  <a:moveTo>
                    <a:pt x="0" y="0"/>
                  </a:moveTo>
                  <a:lnTo>
                    <a:pt x="0" y="628650"/>
                  </a:lnTo>
                </a:path>
              </a:pathLst>
            </a:custGeom>
            <a:noFill/>
            <a:ln w="9525">
              <a:solidFill>
                <a:srgbClr val="F1C7CC"/>
              </a:solidFill>
            </a:ln>
          </p:spPr>
        </p:sp>
      </p:grpSp>
      <p:grpSp>
        <p:nvGrpSpPr>
          <p:cNvPr id="87" name="targets"/>
          <p:cNvGrpSpPr/>
          <p:nvPr/>
        </p:nvGrpSpPr>
        <p:grpSpPr>
          <a:xfrm>
            <a:off x="5829300" y="628650"/>
            <a:ext cx="6229350" cy="1028700"/>
            <a:chOff x="5829300" y="628650"/>
            <a:chExt cx="6229350" cy="1028700"/>
          </a:xfrm>
        </p:grpSpPr>
        <p:sp>
          <p:nvSpPr>
            <p:cNvPr id="52" name="Rectangle 52"/>
            <p:cNvSpPr/>
            <p:nvPr/>
          </p:nvSpPr>
          <p:spPr>
            <a:xfrm>
              <a:off x="5829300" y="628650"/>
              <a:ext cx="6229350" cy="1028700"/>
            </a:xfrm>
            <a:prstGeom prst="roundRect">
              <a:avLst>
                <a:gd name="adj" fmla="val 5556"/>
              </a:avLst>
            </a:prstGeom>
            <a:solidFill>
              <a:srgbClr val="FDEFF1"/>
            </a:solidFill>
            <a:ln>
              <a:noFill/>
            </a:ln>
          </p:spPr>
        </p:sp>
        <p:sp>
          <p:nvSpPr>
            <p:cNvPr id="53" name="Rectangle 53"/>
            <p:cNvSpPr/>
            <p:nvPr/>
          </p:nvSpPr>
          <p:spPr>
            <a:xfrm>
              <a:off x="5905500" y="704850"/>
              <a:ext cx="38100" cy="152400"/>
            </a:xfrm>
            <a:prstGeom prst="rect">
              <a:avLst/>
            </a:prstGeom>
            <a:solidFill>
              <a:srgbClr val="C83210"/>
            </a:solidFill>
            <a:ln>
              <a:noFill/>
            </a:ln>
          </p:spPr>
        </p:sp>
        <p:sp>
          <p:nvSpPr>
            <p:cNvPr id="54" name="TextBox 54"/>
            <p:cNvSpPr txBox="1"/>
            <p:nvPr/>
          </p:nvSpPr>
          <p:spPr>
            <a:xfrm>
              <a:off x="6014847" y="723424"/>
              <a:ext cx="1951126"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试点目标</a:t>
              </a:r>
              <a:r>
                <a:rPr lang="zh-CN" sz="750" b="1" dirty="0">
                  <a:solidFill>
                    <a:srgbClr val="808080"/>
                  </a:solidFill>
                  <a:latin typeface="+mn-lt"/>
                  <a:ea typeface="+mn-ea"/>
                  <a:cs typeface="+mn-cs"/>
                </a:rPr>
                <a:t>（以试点前为基线，对比提升）</a:t>
              </a:r>
            </a:p>
          </p:txBody>
        </p:sp>
        <p:grpSp>
          <p:nvGrpSpPr>
            <p:cNvPr id="58" name="Group 58"/>
            <p:cNvGrpSpPr/>
            <p:nvPr/>
          </p:nvGrpSpPr>
          <p:grpSpPr>
            <a:xfrm>
              <a:off x="5995987" y="969169"/>
              <a:ext cx="83344" cy="100012"/>
              <a:chOff x="5995987" y="969169"/>
              <a:chExt cx="83344" cy="100012"/>
            </a:xfrm>
          </p:grpSpPr>
          <p:sp>
            <p:nvSpPr>
              <p:cNvPr id="55" name="Freeform 55"/>
              <p:cNvSpPr/>
              <p:nvPr/>
            </p:nvSpPr>
            <p:spPr>
              <a:xfrm>
                <a:off x="6007100" y="9691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C83210"/>
                </a:solidFill>
              </a:ln>
            </p:spPr>
          </p:sp>
          <p:sp>
            <p:nvSpPr>
              <p:cNvPr id="56" name="Freeform 56"/>
              <p:cNvSpPr/>
              <p:nvPr/>
            </p:nvSpPr>
            <p:spPr>
              <a:xfrm>
                <a:off x="5995987" y="103584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C83210"/>
                </a:solidFill>
              </a:ln>
            </p:spPr>
          </p:sp>
          <p:sp>
            <p:nvSpPr>
              <p:cNvPr id="57" name="Freeform 57"/>
              <p:cNvSpPr/>
              <p:nvPr/>
            </p:nvSpPr>
            <p:spPr>
              <a:xfrm>
                <a:off x="6045994" y="1046956"/>
                <a:ext cx="33337" cy="22225"/>
              </a:xfrm>
              <a:custGeom>
                <a:avLst/>
                <a:gdLst/>
                <a:ahLst/>
                <a:cxnLst/>
                <a:rect l="l" t="t" r="r" b="b"/>
                <a:pathLst>
                  <a:path w="33337" h="22225">
                    <a:moveTo>
                      <a:pt x="0" y="11112"/>
                    </a:moveTo>
                    <a:lnTo>
                      <a:pt x="11112" y="22225"/>
                    </a:lnTo>
                    <a:lnTo>
                      <a:pt x="33337" y="0"/>
                    </a:lnTo>
                  </a:path>
                </a:pathLst>
              </a:custGeom>
              <a:noFill/>
              <a:ln w="11112">
                <a:solidFill>
                  <a:srgbClr val="C83210"/>
                </a:solidFill>
              </a:ln>
            </p:spPr>
          </p:sp>
        </p:grpSp>
        <p:sp>
          <p:nvSpPr>
            <p:cNvPr id="59" name="TextBox 59"/>
            <p:cNvSpPr txBox="1"/>
            <p:nvPr/>
          </p:nvSpPr>
          <p:spPr>
            <a:xfrm>
              <a:off x="6138862" y="988457"/>
              <a:ext cx="440309" cy="126206"/>
            </a:xfrm>
            <a:prstGeom prst="rect">
              <a:avLst/>
            </a:prstGeom>
            <a:noFill/>
            <a:ln>
              <a:noFill/>
            </a:ln>
          </p:spPr>
          <p:txBody>
            <a:bodyPr wrap="none" lIns="0" tIns="0" rIns="0" bIns="0" anchor="t" anchorCtr="0">
              <a:spAutoFit/>
            </a:bodyPr>
            <a:lstStyle/>
            <a:p>
              <a:pPr algn="l"/>
              <a:r>
                <a:rPr lang="zh-CN" sz="640" b="1" dirty="0">
                  <a:solidFill>
                    <a:srgbClr val="222222"/>
                  </a:solidFill>
                  <a:latin typeface="+mn-lt"/>
                  <a:ea typeface="+mn-ea"/>
                  <a:cs typeface="+mn-cs"/>
                </a:rPr>
                <a:t>企微认证率</a:t>
              </a:r>
            </a:p>
          </p:txBody>
        </p:sp>
        <p:sp>
          <p:nvSpPr>
            <p:cNvPr id="60" name="TextBox 60"/>
            <p:cNvSpPr txBox="1"/>
            <p:nvPr/>
          </p:nvSpPr>
          <p:spPr>
            <a:xfrm>
              <a:off x="6232588" y="1212532"/>
              <a:ext cx="393573" cy="322707"/>
            </a:xfrm>
            <a:prstGeom prst="rect">
              <a:avLst/>
            </a:prstGeom>
            <a:noFill/>
            <a:ln>
              <a:noFill/>
            </a:ln>
          </p:spPr>
          <p:txBody>
            <a:bodyPr wrap="none" lIns="0" tIns="0" rIns="0" bIns="0" anchor="t" anchorCtr="0">
              <a:spAutoFit/>
            </a:bodyPr>
            <a:lstStyle/>
            <a:p>
              <a:pPr algn="ctr"/>
              <a:r>
                <a:rPr lang="zh-CN" sz="1650" b="1" dirty="0">
                  <a:solidFill>
                    <a:srgbClr val="C83210"/>
                  </a:solidFill>
                  <a:latin typeface="Arial"/>
                  <a:ea typeface="Arial"/>
                  <a:cs typeface="Arial"/>
                </a:rPr>
                <a:t>+20</a:t>
              </a:r>
            </a:p>
          </p:txBody>
        </p:sp>
        <p:sp>
          <p:nvSpPr>
            <p:cNvPr id="61" name="TextBox 61"/>
            <p:cNvSpPr txBox="1"/>
            <p:nvPr/>
          </p:nvSpPr>
          <p:spPr>
            <a:xfrm>
              <a:off x="6263068" y="1478280"/>
              <a:ext cx="332613" cy="119062"/>
            </a:xfrm>
            <a:prstGeom prst="rect">
              <a:avLst/>
            </a:prstGeom>
            <a:noFill/>
            <a:ln>
              <a:noFill/>
            </a:ln>
          </p:spPr>
          <p:txBody>
            <a:bodyPr wrap="none" lIns="0" tIns="0" rIns="0" bIns="0" anchor="t" anchorCtr="0">
              <a:spAutoFit/>
            </a:bodyPr>
            <a:lstStyle/>
            <a:p>
              <a:pPr algn="ctr"/>
              <a:r>
                <a:rPr lang="zh-CN" sz="600" dirty="0">
                  <a:solidFill>
                    <a:srgbClr val="808080"/>
                  </a:solidFill>
                  <a:latin typeface="+mn-lt"/>
                  <a:ea typeface="+mn-ea"/>
                  <a:cs typeface="+mn-cs"/>
                </a:rPr>
                <a:t>个百分点</a:t>
              </a:r>
            </a:p>
          </p:txBody>
        </p:sp>
        <p:grpSp>
          <p:nvGrpSpPr>
            <p:cNvPr id="65" name="Group 65"/>
            <p:cNvGrpSpPr/>
            <p:nvPr/>
          </p:nvGrpSpPr>
          <p:grpSpPr>
            <a:xfrm>
              <a:off x="7236619" y="985837"/>
              <a:ext cx="102646" cy="79104"/>
              <a:chOff x="7236619" y="985837"/>
              <a:chExt cx="102646" cy="79104"/>
            </a:xfrm>
          </p:grpSpPr>
          <p:sp>
            <p:nvSpPr>
              <p:cNvPr id="62" name="Freeform 62"/>
              <p:cNvSpPr/>
              <p:nvPr/>
            </p:nvSpPr>
            <p:spPr>
              <a:xfrm>
                <a:off x="7236619" y="985837"/>
                <a:ext cx="79104" cy="79104"/>
              </a:xfrm>
              <a:custGeom>
                <a:avLst/>
                <a:gdLst/>
                <a:ahLst/>
                <a:cxnLst/>
                <a:rect l="l" t="t" r="r" b="b"/>
                <a:pathLst>
                  <a:path w="79104" h="79104">
                    <a:moveTo>
                      <a:pt x="0" y="11112"/>
                    </a:moveTo>
                    <a:lnTo>
                      <a:pt x="0" y="34293"/>
                    </a:lnTo>
                    <a:cubicBezTo>
                      <a:pt x="1" y="37240"/>
                      <a:pt x="1172" y="40066"/>
                      <a:pt x="3256" y="42150"/>
                    </a:cubicBezTo>
                    <a:lnTo>
                      <a:pt x="34982" y="73876"/>
                    </a:lnTo>
                    <a:cubicBezTo>
                      <a:pt x="40211" y="79104"/>
                      <a:pt x="48689" y="79104"/>
                      <a:pt x="53918" y="73876"/>
                    </a:cubicBezTo>
                    <a:lnTo>
                      <a:pt x="73876" y="53918"/>
                    </a:lnTo>
                    <a:cubicBezTo>
                      <a:pt x="79104" y="48689"/>
                      <a:pt x="79104" y="40211"/>
                      <a:pt x="73876" y="34982"/>
                    </a:cubicBezTo>
                    <a:lnTo>
                      <a:pt x="42150" y="3256"/>
                    </a:lnTo>
                    <a:cubicBezTo>
                      <a:pt x="40066" y="1172"/>
                      <a:pt x="37240" y="1"/>
                      <a:pt x="34293" y="0"/>
                    </a:cubicBezTo>
                    <a:lnTo>
                      <a:pt x="11112" y="0"/>
                    </a:lnTo>
                    <a:cubicBezTo>
                      <a:pt x="4975" y="0"/>
                      <a:pt x="0" y="4975"/>
                      <a:pt x="0" y="11112"/>
                    </a:cubicBezTo>
                  </a:path>
                </a:pathLst>
              </a:custGeom>
              <a:noFill/>
              <a:ln w="11112">
                <a:solidFill>
                  <a:srgbClr val="C83210"/>
                </a:solidFill>
              </a:ln>
            </p:spPr>
          </p:sp>
          <p:sp>
            <p:nvSpPr>
              <p:cNvPr id="63" name="Freeform 63"/>
              <p:cNvSpPr/>
              <p:nvPr/>
            </p:nvSpPr>
            <p:spPr>
              <a:xfrm>
                <a:off x="7303294" y="985837"/>
                <a:ext cx="35971" cy="72231"/>
              </a:xfrm>
              <a:custGeom>
                <a:avLst/>
                <a:gdLst/>
                <a:ahLst/>
                <a:cxnLst/>
                <a:rect l="l" t="t" r="r" b="b"/>
                <a:pathLst>
                  <a:path w="35971" h="72231">
                    <a:moveTo>
                      <a:pt x="16669" y="72231"/>
                    </a:moveTo>
                    <a:lnTo>
                      <a:pt x="25514" y="63386"/>
                    </a:lnTo>
                    <a:cubicBezTo>
                      <a:pt x="35971" y="52927"/>
                      <a:pt x="35971" y="35973"/>
                      <a:pt x="25514" y="25514"/>
                    </a:cubicBezTo>
                    <a:lnTo>
                      <a:pt x="0" y="0"/>
                    </a:lnTo>
                  </a:path>
                </a:pathLst>
              </a:custGeom>
              <a:noFill/>
              <a:ln w="11112">
                <a:solidFill>
                  <a:srgbClr val="C83210"/>
                </a:solidFill>
              </a:ln>
            </p:spPr>
          </p:sp>
          <p:sp>
            <p:nvSpPr>
              <p:cNvPr id="64" name="Freeform 64"/>
              <p:cNvSpPr/>
              <p:nvPr/>
            </p:nvSpPr>
            <p:spPr>
              <a:xfrm>
                <a:off x="7258788" y="1008062"/>
                <a:ext cx="9525" cy="9525"/>
              </a:xfrm>
              <a:custGeom>
                <a:avLst/>
                <a:gdLst/>
                <a:ahLst/>
                <a:cxnLst/>
                <a:rect l="l" t="t" r="r" b="b"/>
                <a:pathLst>
                  <a:path w="9525" h="9525">
                    <a:moveTo>
                      <a:pt x="56" y="0"/>
                    </a:moveTo>
                    <a:lnTo>
                      <a:pt x="0" y="0"/>
                    </a:lnTo>
                  </a:path>
                </a:pathLst>
              </a:custGeom>
              <a:noFill/>
              <a:ln w="11112">
                <a:solidFill>
                  <a:srgbClr val="C83210"/>
                </a:solidFill>
              </a:ln>
            </p:spPr>
          </p:sp>
        </p:grpSp>
        <p:sp>
          <p:nvSpPr>
            <p:cNvPr id="66" name="TextBox 66"/>
            <p:cNvSpPr txBox="1"/>
            <p:nvPr/>
          </p:nvSpPr>
          <p:spPr>
            <a:xfrm>
              <a:off x="7396162" y="988457"/>
              <a:ext cx="440309" cy="126206"/>
            </a:xfrm>
            <a:prstGeom prst="rect">
              <a:avLst/>
            </a:prstGeom>
            <a:noFill/>
            <a:ln>
              <a:noFill/>
            </a:ln>
          </p:spPr>
          <p:txBody>
            <a:bodyPr wrap="none" lIns="0" tIns="0" rIns="0" bIns="0" anchor="t" anchorCtr="0">
              <a:spAutoFit/>
            </a:bodyPr>
            <a:lstStyle/>
            <a:p>
              <a:pPr algn="l"/>
              <a:r>
                <a:rPr lang="zh-CN" sz="640" b="1" dirty="0">
                  <a:solidFill>
                    <a:srgbClr val="222222"/>
                  </a:solidFill>
                  <a:latin typeface="+mn-lt"/>
                  <a:ea typeface="+mn-ea"/>
                  <a:cs typeface="+mn-cs"/>
                </a:rPr>
                <a:t>标签完整率</a:t>
              </a:r>
            </a:p>
          </p:txBody>
        </p:sp>
        <p:sp>
          <p:nvSpPr>
            <p:cNvPr id="67" name="TextBox 67"/>
            <p:cNvSpPr txBox="1"/>
            <p:nvPr/>
          </p:nvSpPr>
          <p:spPr>
            <a:xfrm>
              <a:off x="7455992" y="1250632"/>
              <a:ext cx="461365" cy="322707"/>
            </a:xfrm>
            <a:prstGeom prst="rect">
              <a:avLst/>
            </a:prstGeom>
            <a:noFill/>
            <a:ln>
              <a:noFill/>
            </a:ln>
          </p:spPr>
          <p:txBody>
            <a:bodyPr wrap="none" lIns="0" tIns="0" rIns="0" bIns="0" anchor="t" anchorCtr="0">
              <a:spAutoFit/>
            </a:bodyPr>
            <a:lstStyle/>
            <a:p>
              <a:pPr algn="ctr"/>
              <a:r>
                <a:rPr lang="zh-CN" sz="1650" b="1" dirty="0">
                  <a:solidFill>
                    <a:srgbClr val="C83210"/>
                  </a:solidFill>
                  <a:latin typeface="Arial"/>
                  <a:ea typeface="Arial"/>
                  <a:cs typeface="Arial"/>
                </a:rPr>
                <a:t>80%</a:t>
              </a:r>
            </a:p>
          </p:txBody>
        </p:sp>
        <p:sp>
          <p:nvSpPr>
            <p:cNvPr id="68" name="Freeform 68"/>
            <p:cNvSpPr/>
            <p:nvPr/>
          </p:nvSpPr>
          <p:spPr>
            <a:xfrm>
              <a:off x="8488229" y="9704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C83210"/>
              </a:solidFill>
            </a:ln>
          </p:spPr>
        </p:sp>
        <p:sp>
          <p:nvSpPr>
            <p:cNvPr id="69" name="TextBox 69"/>
            <p:cNvSpPr txBox="1"/>
            <p:nvPr/>
          </p:nvSpPr>
          <p:spPr>
            <a:xfrm>
              <a:off x="8653462" y="988457"/>
              <a:ext cx="440309" cy="126206"/>
            </a:xfrm>
            <a:prstGeom prst="rect">
              <a:avLst/>
            </a:prstGeom>
            <a:noFill/>
            <a:ln>
              <a:noFill/>
            </a:ln>
          </p:spPr>
          <p:txBody>
            <a:bodyPr wrap="none" lIns="0" tIns="0" rIns="0" bIns="0" anchor="t" anchorCtr="0">
              <a:spAutoFit/>
            </a:bodyPr>
            <a:lstStyle/>
            <a:p>
              <a:pPr algn="l"/>
              <a:r>
                <a:rPr lang="zh-CN" sz="640" b="1" dirty="0">
                  <a:solidFill>
                    <a:srgbClr val="222222"/>
                  </a:solidFill>
                  <a:latin typeface="+mn-lt"/>
                  <a:ea typeface="+mn-ea"/>
                  <a:cs typeface="+mn-cs"/>
                </a:rPr>
                <a:t>有效互动率</a:t>
              </a:r>
            </a:p>
          </p:txBody>
        </p:sp>
        <p:sp>
          <p:nvSpPr>
            <p:cNvPr id="70" name="TextBox 70"/>
            <p:cNvSpPr txBox="1"/>
            <p:nvPr/>
          </p:nvSpPr>
          <p:spPr>
            <a:xfrm>
              <a:off x="8713292" y="1250632"/>
              <a:ext cx="461365" cy="322707"/>
            </a:xfrm>
            <a:prstGeom prst="rect">
              <a:avLst/>
            </a:prstGeom>
            <a:noFill/>
            <a:ln>
              <a:noFill/>
            </a:ln>
          </p:spPr>
          <p:txBody>
            <a:bodyPr wrap="none" lIns="0" tIns="0" rIns="0" bIns="0" anchor="t" anchorCtr="0">
              <a:spAutoFit/>
            </a:bodyPr>
            <a:lstStyle/>
            <a:p>
              <a:pPr algn="ctr"/>
              <a:r>
                <a:rPr lang="zh-CN" sz="1650" b="1" dirty="0">
                  <a:solidFill>
                    <a:srgbClr val="C83210"/>
                  </a:solidFill>
                  <a:latin typeface="Arial"/>
                  <a:ea typeface="Arial"/>
                  <a:cs typeface="Arial"/>
                </a:rPr>
                <a:t>35%</a:t>
              </a:r>
            </a:p>
          </p:txBody>
        </p:sp>
        <p:grpSp>
          <p:nvGrpSpPr>
            <p:cNvPr id="75" name="Group 75"/>
            <p:cNvGrpSpPr/>
            <p:nvPr/>
          </p:nvGrpSpPr>
          <p:grpSpPr>
            <a:xfrm>
              <a:off x="9751219" y="974725"/>
              <a:ext cx="100012" cy="98425"/>
              <a:chOff x="9751219" y="974725"/>
              <a:chExt cx="100012" cy="98425"/>
            </a:xfrm>
          </p:grpSpPr>
          <p:sp>
            <p:nvSpPr>
              <p:cNvPr id="71" name="Freeform 71"/>
              <p:cNvSpPr/>
              <p:nvPr/>
            </p:nvSpPr>
            <p:spPr>
              <a:xfrm>
                <a:off x="9751219" y="1019175"/>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C83210"/>
                </a:solidFill>
              </a:ln>
            </p:spPr>
          </p:sp>
          <p:sp>
            <p:nvSpPr>
              <p:cNvPr id="72" name="Freeform 72"/>
              <p:cNvSpPr/>
              <p:nvPr/>
            </p:nvSpPr>
            <p:spPr>
              <a:xfrm>
                <a:off x="9817894" y="996950"/>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C83210"/>
                </a:solidFill>
              </a:ln>
            </p:spPr>
          </p:sp>
          <p:sp>
            <p:nvSpPr>
              <p:cNvPr id="73" name="Freeform 73"/>
              <p:cNvSpPr/>
              <p:nvPr/>
            </p:nvSpPr>
            <p:spPr>
              <a:xfrm>
                <a:off x="9784556" y="974725"/>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C83210"/>
                </a:solidFill>
              </a:ln>
            </p:spPr>
          </p:sp>
          <p:sp>
            <p:nvSpPr>
              <p:cNvPr id="74" name="Freeform 74"/>
              <p:cNvSpPr/>
              <p:nvPr/>
            </p:nvSpPr>
            <p:spPr>
              <a:xfrm>
                <a:off x="9756775" y="1063625"/>
                <a:ext cx="77787" cy="9525"/>
              </a:xfrm>
              <a:custGeom>
                <a:avLst/>
                <a:gdLst/>
                <a:ahLst/>
                <a:cxnLst/>
                <a:rect l="l" t="t" r="r" b="b"/>
                <a:pathLst>
                  <a:path w="77787" h="9525">
                    <a:moveTo>
                      <a:pt x="0" y="0"/>
                    </a:moveTo>
                    <a:lnTo>
                      <a:pt x="77787" y="0"/>
                    </a:lnTo>
                  </a:path>
                </a:pathLst>
              </a:custGeom>
              <a:noFill/>
              <a:ln w="11112">
                <a:solidFill>
                  <a:srgbClr val="C83210"/>
                </a:solidFill>
              </a:ln>
            </p:spPr>
          </p:sp>
        </p:grpSp>
        <p:sp>
          <p:nvSpPr>
            <p:cNvPr id="76" name="TextBox 76"/>
            <p:cNvSpPr txBox="1"/>
            <p:nvPr/>
          </p:nvSpPr>
          <p:spPr>
            <a:xfrm>
              <a:off x="9910762" y="988457"/>
              <a:ext cx="612623" cy="126206"/>
            </a:xfrm>
            <a:prstGeom prst="rect">
              <a:avLst/>
            </a:prstGeom>
            <a:noFill/>
            <a:ln>
              <a:noFill/>
            </a:ln>
          </p:spPr>
          <p:txBody>
            <a:bodyPr wrap="none" lIns="0" tIns="0" rIns="0" bIns="0" anchor="t" anchorCtr="0">
              <a:spAutoFit/>
            </a:bodyPr>
            <a:lstStyle/>
            <a:p>
              <a:pPr algn="l"/>
              <a:r>
                <a:rPr lang="zh-CN" sz="640" b="1" dirty="0">
                  <a:solidFill>
                    <a:srgbClr val="222222"/>
                  </a:solidFill>
                  <a:latin typeface="+mn-lt"/>
                  <a:ea typeface="+mn-ea"/>
                  <a:cs typeface="+mn-cs"/>
                </a:rPr>
                <a:t>长尾客户激活率</a:t>
              </a:r>
            </a:p>
          </p:txBody>
        </p:sp>
        <p:sp>
          <p:nvSpPr>
            <p:cNvPr id="77" name="TextBox 77"/>
            <p:cNvSpPr txBox="1"/>
            <p:nvPr/>
          </p:nvSpPr>
          <p:spPr>
            <a:xfrm>
              <a:off x="9970592" y="1250632"/>
              <a:ext cx="461365" cy="322707"/>
            </a:xfrm>
            <a:prstGeom prst="rect">
              <a:avLst/>
            </a:prstGeom>
            <a:noFill/>
            <a:ln>
              <a:noFill/>
            </a:ln>
          </p:spPr>
          <p:txBody>
            <a:bodyPr wrap="none" lIns="0" tIns="0" rIns="0" bIns="0" anchor="t" anchorCtr="0">
              <a:spAutoFit/>
            </a:bodyPr>
            <a:lstStyle/>
            <a:p>
              <a:pPr algn="ctr"/>
              <a:r>
                <a:rPr lang="zh-CN" sz="1650" b="1" dirty="0">
                  <a:solidFill>
                    <a:srgbClr val="C83210"/>
                  </a:solidFill>
                  <a:latin typeface="Arial"/>
                  <a:ea typeface="Arial"/>
                  <a:cs typeface="Arial"/>
                </a:rPr>
                <a:t>25%</a:t>
              </a:r>
            </a:p>
          </p:txBody>
        </p:sp>
        <p:grpSp>
          <p:nvGrpSpPr>
            <p:cNvPr id="80" name="Group 80"/>
            <p:cNvGrpSpPr/>
            <p:nvPr/>
          </p:nvGrpSpPr>
          <p:grpSpPr>
            <a:xfrm>
              <a:off x="11001020" y="969169"/>
              <a:ext cx="108504" cy="100012"/>
              <a:chOff x="11001020" y="969169"/>
              <a:chExt cx="108504" cy="100012"/>
            </a:xfrm>
          </p:grpSpPr>
          <p:sp>
            <p:nvSpPr>
              <p:cNvPr id="78" name="Freeform 78"/>
              <p:cNvSpPr/>
              <p:nvPr/>
            </p:nvSpPr>
            <p:spPr>
              <a:xfrm>
                <a:off x="11001020" y="96916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C83210"/>
                </a:solidFill>
              </a:ln>
            </p:spPr>
          </p:sp>
          <p:sp>
            <p:nvSpPr>
              <p:cNvPr id="79" name="Freeform 79"/>
              <p:cNvSpPr/>
              <p:nvPr/>
            </p:nvSpPr>
            <p:spPr>
              <a:xfrm>
                <a:off x="11075194" y="1046956"/>
                <a:ext cx="33337" cy="22225"/>
              </a:xfrm>
              <a:custGeom>
                <a:avLst/>
                <a:gdLst/>
                <a:ahLst/>
                <a:cxnLst/>
                <a:rect l="l" t="t" r="r" b="b"/>
                <a:pathLst>
                  <a:path w="33337" h="22225">
                    <a:moveTo>
                      <a:pt x="0" y="11112"/>
                    </a:moveTo>
                    <a:lnTo>
                      <a:pt x="11112" y="22225"/>
                    </a:lnTo>
                    <a:lnTo>
                      <a:pt x="33337" y="0"/>
                    </a:lnTo>
                  </a:path>
                </a:pathLst>
              </a:custGeom>
              <a:noFill/>
              <a:ln w="11112">
                <a:solidFill>
                  <a:srgbClr val="C83210"/>
                </a:solidFill>
              </a:ln>
            </p:spPr>
          </p:sp>
        </p:grpSp>
        <p:sp>
          <p:nvSpPr>
            <p:cNvPr id="81" name="TextBox 81"/>
            <p:cNvSpPr txBox="1"/>
            <p:nvPr/>
          </p:nvSpPr>
          <p:spPr>
            <a:xfrm>
              <a:off x="11168062" y="988457"/>
              <a:ext cx="267995" cy="126206"/>
            </a:xfrm>
            <a:prstGeom prst="rect">
              <a:avLst/>
            </a:prstGeom>
            <a:noFill/>
            <a:ln>
              <a:noFill/>
            </a:ln>
          </p:spPr>
          <p:txBody>
            <a:bodyPr wrap="none" lIns="0" tIns="0" rIns="0" bIns="0" anchor="t" anchorCtr="0">
              <a:spAutoFit/>
            </a:bodyPr>
            <a:lstStyle/>
            <a:p>
              <a:pPr algn="l"/>
              <a:r>
                <a:rPr lang="zh-CN" sz="640" b="1" dirty="0">
                  <a:solidFill>
                    <a:srgbClr val="222222"/>
                  </a:solidFill>
                  <a:latin typeface="+mn-lt"/>
                  <a:ea typeface="+mn-ea"/>
                  <a:cs typeface="+mn-cs"/>
                </a:rPr>
                <a:t>客诉率</a:t>
              </a:r>
            </a:p>
          </p:txBody>
        </p:sp>
        <p:sp>
          <p:nvSpPr>
            <p:cNvPr id="82" name="TextBox 82"/>
            <p:cNvSpPr txBox="1"/>
            <p:nvPr/>
          </p:nvSpPr>
          <p:spPr>
            <a:xfrm>
              <a:off x="11070407" y="1250632"/>
              <a:ext cx="776336" cy="322707"/>
            </a:xfrm>
            <a:prstGeom prst="rect">
              <a:avLst/>
            </a:prstGeom>
            <a:noFill/>
            <a:ln>
              <a:noFill/>
            </a:ln>
          </p:spPr>
          <p:txBody>
            <a:bodyPr wrap="none" lIns="0" tIns="0" rIns="0" bIns="0" anchor="t" anchorCtr="0">
              <a:spAutoFit/>
            </a:bodyPr>
            <a:lstStyle/>
            <a:p>
              <a:pPr algn="ctr"/>
              <a:r>
                <a:rPr lang="zh-CN" sz="1650" b="1" dirty="0">
                  <a:solidFill>
                    <a:srgbClr val="C83210"/>
                  </a:solidFill>
                  <a:latin typeface="Arial"/>
                  <a:ea typeface="Arial"/>
                  <a:cs typeface="Arial"/>
                </a:rPr>
                <a:t>&lt;0.05%</a:t>
              </a:r>
            </a:p>
          </p:txBody>
        </p:sp>
        <p:sp>
          <p:nvSpPr>
            <p:cNvPr id="83" name="Line 83"/>
            <p:cNvSpPr/>
            <p:nvPr/>
          </p:nvSpPr>
          <p:spPr>
            <a:xfrm>
              <a:off x="7086600" y="952500"/>
              <a:ext cx="9525" cy="628650"/>
            </a:xfrm>
            <a:custGeom>
              <a:avLst/>
              <a:gdLst/>
              <a:ahLst/>
              <a:cxnLst/>
              <a:rect l="l" t="t" r="r" b="b"/>
              <a:pathLst>
                <a:path w="9525" h="628650">
                  <a:moveTo>
                    <a:pt x="0" y="0"/>
                  </a:moveTo>
                  <a:lnTo>
                    <a:pt x="0" y="628650"/>
                  </a:lnTo>
                </a:path>
              </a:pathLst>
            </a:custGeom>
            <a:noFill/>
            <a:ln w="9525">
              <a:solidFill>
                <a:srgbClr val="F1C7CC"/>
              </a:solidFill>
            </a:ln>
          </p:spPr>
        </p:sp>
        <p:sp>
          <p:nvSpPr>
            <p:cNvPr id="84" name="Line 84"/>
            <p:cNvSpPr/>
            <p:nvPr/>
          </p:nvSpPr>
          <p:spPr>
            <a:xfrm>
              <a:off x="8343900" y="952500"/>
              <a:ext cx="9525" cy="628650"/>
            </a:xfrm>
            <a:custGeom>
              <a:avLst/>
              <a:gdLst/>
              <a:ahLst/>
              <a:cxnLst/>
              <a:rect l="l" t="t" r="r" b="b"/>
              <a:pathLst>
                <a:path w="9525" h="628650">
                  <a:moveTo>
                    <a:pt x="0" y="0"/>
                  </a:moveTo>
                  <a:lnTo>
                    <a:pt x="0" y="628650"/>
                  </a:lnTo>
                </a:path>
              </a:pathLst>
            </a:custGeom>
            <a:noFill/>
            <a:ln w="9525">
              <a:solidFill>
                <a:srgbClr val="F1C7CC"/>
              </a:solidFill>
            </a:ln>
          </p:spPr>
        </p:sp>
        <p:sp>
          <p:nvSpPr>
            <p:cNvPr id="85" name="Line 85"/>
            <p:cNvSpPr/>
            <p:nvPr/>
          </p:nvSpPr>
          <p:spPr>
            <a:xfrm>
              <a:off x="9601200" y="952500"/>
              <a:ext cx="9525" cy="628650"/>
            </a:xfrm>
            <a:custGeom>
              <a:avLst/>
              <a:gdLst/>
              <a:ahLst/>
              <a:cxnLst/>
              <a:rect l="l" t="t" r="r" b="b"/>
              <a:pathLst>
                <a:path w="9525" h="628650">
                  <a:moveTo>
                    <a:pt x="0" y="0"/>
                  </a:moveTo>
                  <a:lnTo>
                    <a:pt x="0" y="628650"/>
                  </a:lnTo>
                </a:path>
              </a:pathLst>
            </a:custGeom>
            <a:noFill/>
            <a:ln w="9525">
              <a:solidFill>
                <a:srgbClr val="F1C7CC"/>
              </a:solidFill>
            </a:ln>
          </p:spPr>
        </p:sp>
        <p:sp>
          <p:nvSpPr>
            <p:cNvPr id="86" name="Line 86"/>
            <p:cNvSpPr/>
            <p:nvPr/>
          </p:nvSpPr>
          <p:spPr>
            <a:xfrm>
              <a:off x="10858500" y="952500"/>
              <a:ext cx="9525" cy="628650"/>
            </a:xfrm>
            <a:custGeom>
              <a:avLst/>
              <a:gdLst/>
              <a:ahLst/>
              <a:cxnLst/>
              <a:rect l="l" t="t" r="r" b="b"/>
              <a:pathLst>
                <a:path w="9525" h="628650">
                  <a:moveTo>
                    <a:pt x="0" y="0"/>
                  </a:moveTo>
                  <a:lnTo>
                    <a:pt x="0" y="628650"/>
                  </a:lnTo>
                </a:path>
              </a:pathLst>
            </a:custGeom>
            <a:noFill/>
            <a:ln w="9525">
              <a:solidFill>
                <a:srgbClr val="F1C7CC"/>
              </a:solidFill>
            </a:ln>
          </p:spPr>
        </p:sp>
      </p:grpSp>
      <p:grpSp>
        <p:nvGrpSpPr>
          <p:cNvPr id="192" name="roadmap"/>
          <p:cNvGrpSpPr/>
          <p:nvPr/>
        </p:nvGrpSpPr>
        <p:grpSpPr>
          <a:xfrm>
            <a:off x="133350" y="1809750"/>
            <a:ext cx="11925300" cy="2676525"/>
            <a:chOff x="133350" y="1809750"/>
            <a:chExt cx="11925300" cy="2676525"/>
          </a:xfrm>
        </p:grpSpPr>
        <p:sp>
          <p:nvSpPr>
            <p:cNvPr id="88" name="Rectangle 88"/>
            <p:cNvSpPr/>
            <p:nvPr/>
          </p:nvSpPr>
          <p:spPr>
            <a:xfrm>
              <a:off x="171450" y="1809750"/>
              <a:ext cx="38100" cy="152400"/>
            </a:xfrm>
            <a:prstGeom prst="rect">
              <a:avLst/>
            </a:prstGeom>
            <a:solidFill>
              <a:srgbClr val="C83210"/>
            </a:solidFill>
            <a:ln>
              <a:noFill/>
            </a:ln>
          </p:spPr>
        </p:sp>
        <p:sp>
          <p:nvSpPr>
            <p:cNvPr id="89" name="TextBox 89"/>
            <p:cNvSpPr txBox="1"/>
            <p:nvPr/>
          </p:nvSpPr>
          <p:spPr>
            <a:xfrm>
              <a:off x="280797" y="1828324"/>
              <a:ext cx="1745414"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 xml:space="preserve">90天推进路线图与工作安排　</a:t>
              </a:r>
            </a:p>
          </p:txBody>
        </p:sp>
        <p:sp>
          <p:nvSpPr>
            <p:cNvPr id="90" name="Freeform 90"/>
            <p:cNvSpPr/>
            <p:nvPr/>
          </p:nvSpPr>
          <p:spPr>
            <a:xfrm>
              <a:off x="800100" y="2000250"/>
              <a:ext cx="2219325" cy="342900"/>
            </a:xfrm>
            <a:prstGeom prst="chevron">
              <a:avLst>
                <a:gd name="adj" fmla="val 40000"/>
              </a:avLst>
            </a:prstGeom>
            <a:solidFill>
              <a:srgbClr val="E9826B"/>
            </a:solidFill>
            <a:ln>
              <a:noFill/>
            </a:ln>
          </p:spPr>
        </p:sp>
        <p:sp>
          <p:nvSpPr>
            <p:cNvPr id="91" name="Freeform 91"/>
            <p:cNvSpPr/>
            <p:nvPr/>
          </p:nvSpPr>
          <p:spPr>
            <a:xfrm>
              <a:off x="3048000" y="2000250"/>
              <a:ext cx="2219325" cy="342900"/>
            </a:xfrm>
            <a:prstGeom prst="chevron">
              <a:avLst>
                <a:gd name="adj" fmla="val 40000"/>
              </a:avLst>
            </a:prstGeom>
            <a:solidFill>
              <a:srgbClr val="D64F30"/>
            </a:solidFill>
            <a:ln>
              <a:noFill/>
            </a:ln>
          </p:spPr>
        </p:sp>
        <p:sp>
          <p:nvSpPr>
            <p:cNvPr id="92" name="Freeform 92"/>
            <p:cNvSpPr/>
            <p:nvPr/>
          </p:nvSpPr>
          <p:spPr>
            <a:xfrm>
              <a:off x="5305425" y="2000250"/>
              <a:ext cx="2219325" cy="342900"/>
            </a:xfrm>
            <a:prstGeom prst="chevron">
              <a:avLst>
                <a:gd name="adj" fmla="val 40000"/>
              </a:avLst>
            </a:prstGeom>
            <a:solidFill>
              <a:srgbClr val="C83210"/>
            </a:solidFill>
            <a:ln>
              <a:noFill/>
            </a:ln>
          </p:spPr>
        </p:sp>
        <p:sp>
          <p:nvSpPr>
            <p:cNvPr id="93" name="Freeform 93"/>
            <p:cNvSpPr/>
            <p:nvPr/>
          </p:nvSpPr>
          <p:spPr>
            <a:xfrm>
              <a:off x="7553325" y="2000250"/>
              <a:ext cx="2219325" cy="342900"/>
            </a:xfrm>
            <a:prstGeom prst="chevron">
              <a:avLst>
                <a:gd name="adj" fmla="val 40000"/>
              </a:avLst>
            </a:prstGeom>
            <a:solidFill>
              <a:srgbClr val="B32C0E"/>
            </a:solidFill>
            <a:ln>
              <a:noFill/>
            </a:ln>
          </p:spPr>
        </p:sp>
        <p:sp>
          <p:nvSpPr>
            <p:cNvPr id="94" name="Freeform 94"/>
            <p:cNvSpPr/>
            <p:nvPr/>
          </p:nvSpPr>
          <p:spPr>
            <a:xfrm>
              <a:off x="9810750" y="2000250"/>
              <a:ext cx="2219325" cy="342900"/>
            </a:xfrm>
            <a:prstGeom prst="chevron">
              <a:avLst>
                <a:gd name="adj" fmla="val 40000"/>
              </a:avLst>
            </a:prstGeom>
            <a:solidFill>
              <a:srgbClr val="8F230A"/>
            </a:solidFill>
            <a:ln>
              <a:noFill/>
            </a:ln>
          </p:spPr>
        </p:sp>
        <p:sp>
          <p:nvSpPr>
            <p:cNvPr id="95" name="TextBox 95"/>
            <p:cNvSpPr txBox="1"/>
            <p:nvPr/>
          </p:nvSpPr>
          <p:spPr>
            <a:xfrm>
              <a:off x="1834782" y="2034778"/>
              <a:ext cx="235687"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阶段一</a:t>
              </a:r>
            </a:p>
          </p:txBody>
        </p:sp>
        <p:sp>
          <p:nvSpPr>
            <p:cNvPr id="96" name="TextBox 96"/>
            <p:cNvSpPr txBox="1"/>
            <p:nvPr/>
          </p:nvSpPr>
          <p:spPr>
            <a:xfrm>
              <a:off x="1493520" y="2128838"/>
              <a:ext cx="91821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基础梳理与标准制定</a:t>
              </a:r>
            </a:p>
          </p:txBody>
        </p:sp>
        <p:sp>
          <p:nvSpPr>
            <p:cNvPr id="97" name="TextBox 97"/>
            <p:cNvSpPr txBox="1"/>
            <p:nvPr/>
          </p:nvSpPr>
          <p:spPr>
            <a:xfrm>
              <a:off x="1730855" y="2257901"/>
              <a:ext cx="443540"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（第0-15天）</a:t>
              </a:r>
            </a:p>
          </p:txBody>
        </p:sp>
        <p:sp>
          <p:nvSpPr>
            <p:cNvPr id="98" name="TextBox 98"/>
            <p:cNvSpPr txBox="1"/>
            <p:nvPr/>
          </p:nvSpPr>
          <p:spPr>
            <a:xfrm>
              <a:off x="4082682" y="2034778"/>
              <a:ext cx="235687"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阶段二</a:t>
              </a:r>
            </a:p>
          </p:txBody>
        </p:sp>
        <p:sp>
          <p:nvSpPr>
            <p:cNvPr id="99" name="TextBox 99"/>
            <p:cNvSpPr txBox="1"/>
            <p:nvPr/>
          </p:nvSpPr>
          <p:spPr>
            <a:xfrm>
              <a:off x="3842385" y="2128838"/>
              <a:ext cx="71628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试点搭建与准备</a:t>
              </a:r>
            </a:p>
          </p:txBody>
        </p:sp>
        <p:sp>
          <p:nvSpPr>
            <p:cNvPr id="100" name="TextBox 100"/>
            <p:cNvSpPr txBox="1"/>
            <p:nvPr/>
          </p:nvSpPr>
          <p:spPr>
            <a:xfrm>
              <a:off x="3959504" y="2257901"/>
              <a:ext cx="482041"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（第16-30天）</a:t>
              </a:r>
            </a:p>
          </p:txBody>
        </p:sp>
        <p:sp>
          <p:nvSpPr>
            <p:cNvPr id="101" name="TextBox 101"/>
            <p:cNvSpPr txBox="1"/>
            <p:nvPr/>
          </p:nvSpPr>
          <p:spPr>
            <a:xfrm>
              <a:off x="6340107" y="2034778"/>
              <a:ext cx="235687"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阶段三</a:t>
              </a:r>
            </a:p>
          </p:txBody>
        </p:sp>
        <p:sp>
          <p:nvSpPr>
            <p:cNvPr id="102" name="TextBox 102"/>
            <p:cNvSpPr txBox="1"/>
            <p:nvPr/>
          </p:nvSpPr>
          <p:spPr>
            <a:xfrm>
              <a:off x="6007398" y="2128838"/>
              <a:ext cx="90110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运营执行与A/B测试</a:t>
              </a:r>
            </a:p>
          </p:txBody>
        </p:sp>
        <p:sp>
          <p:nvSpPr>
            <p:cNvPr id="103" name="TextBox 103"/>
            <p:cNvSpPr txBox="1"/>
            <p:nvPr/>
          </p:nvSpPr>
          <p:spPr>
            <a:xfrm>
              <a:off x="6216929" y="2257901"/>
              <a:ext cx="482041"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（第31-60天）</a:t>
              </a:r>
            </a:p>
          </p:txBody>
        </p:sp>
        <p:sp>
          <p:nvSpPr>
            <p:cNvPr id="104" name="TextBox 104"/>
            <p:cNvSpPr txBox="1"/>
            <p:nvPr/>
          </p:nvSpPr>
          <p:spPr>
            <a:xfrm>
              <a:off x="8588007" y="2034778"/>
              <a:ext cx="235687"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阶段四</a:t>
              </a:r>
            </a:p>
          </p:txBody>
        </p:sp>
        <p:sp>
          <p:nvSpPr>
            <p:cNvPr id="105" name="TextBox 105"/>
            <p:cNvSpPr txBox="1"/>
            <p:nvPr/>
          </p:nvSpPr>
          <p:spPr>
            <a:xfrm>
              <a:off x="8246745" y="2128838"/>
              <a:ext cx="91821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优化迭代与扩面准备</a:t>
              </a:r>
            </a:p>
          </p:txBody>
        </p:sp>
        <p:sp>
          <p:nvSpPr>
            <p:cNvPr id="106" name="TextBox 106"/>
            <p:cNvSpPr txBox="1"/>
            <p:nvPr/>
          </p:nvSpPr>
          <p:spPr>
            <a:xfrm>
              <a:off x="8464829" y="2257901"/>
              <a:ext cx="482041"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（第61-75天）</a:t>
              </a:r>
            </a:p>
          </p:txBody>
        </p:sp>
        <p:sp>
          <p:nvSpPr>
            <p:cNvPr id="107" name="TextBox 107"/>
            <p:cNvSpPr txBox="1"/>
            <p:nvPr/>
          </p:nvSpPr>
          <p:spPr>
            <a:xfrm>
              <a:off x="10845432" y="2034778"/>
              <a:ext cx="235687"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阶段五</a:t>
              </a:r>
            </a:p>
          </p:txBody>
        </p:sp>
        <p:sp>
          <p:nvSpPr>
            <p:cNvPr id="108" name="TextBox 108"/>
            <p:cNvSpPr txBox="1"/>
            <p:nvPr/>
          </p:nvSpPr>
          <p:spPr>
            <a:xfrm>
              <a:off x="10504170" y="2128838"/>
              <a:ext cx="91821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评估复盘与机制固化</a:t>
              </a:r>
            </a:p>
          </p:txBody>
        </p:sp>
        <p:sp>
          <p:nvSpPr>
            <p:cNvPr id="109" name="TextBox 109"/>
            <p:cNvSpPr txBox="1"/>
            <p:nvPr/>
          </p:nvSpPr>
          <p:spPr>
            <a:xfrm>
              <a:off x="10722254" y="2257901"/>
              <a:ext cx="482041"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（第76-90天）</a:t>
              </a:r>
            </a:p>
          </p:txBody>
        </p:sp>
        <p:sp>
          <p:nvSpPr>
            <p:cNvPr id="110" name="Rectangle 110"/>
            <p:cNvSpPr/>
            <p:nvPr/>
          </p:nvSpPr>
          <p:spPr>
            <a:xfrm>
              <a:off x="133350" y="2343150"/>
              <a:ext cx="666750" cy="2133600"/>
            </a:xfrm>
            <a:prstGeom prst="rect">
              <a:avLst/>
            </a:prstGeom>
            <a:solidFill>
              <a:srgbClr val="FBE3E6"/>
            </a:solidFill>
            <a:ln>
              <a:noFill/>
            </a:ln>
          </p:spPr>
        </p:sp>
        <p:sp>
          <p:nvSpPr>
            <p:cNvPr id="111" name="Rectangle 111"/>
            <p:cNvSpPr/>
            <p:nvPr/>
          </p:nvSpPr>
          <p:spPr>
            <a:xfrm>
              <a:off x="800100" y="2914650"/>
              <a:ext cx="11258550" cy="190500"/>
            </a:xfrm>
            <a:prstGeom prst="rect">
              <a:avLst/>
            </a:prstGeom>
            <a:solidFill>
              <a:srgbClr val="FDEFF1"/>
            </a:solidFill>
            <a:ln>
              <a:noFill/>
            </a:ln>
          </p:spPr>
        </p:sp>
        <p:sp>
          <p:nvSpPr>
            <p:cNvPr id="112" name="Rectangle 112"/>
            <p:cNvSpPr/>
            <p:nvPr/>
          </p:nvSpPr>
          <p:spPr>
            <a:xfrm>
              <a:off x="800100" y="3695700"/>
              <a:ext cx="11258550" cy="190500"/>
            </a:xfrm>
            <a:prstGeom prst="rect">
              <a:avLst/>
            </a:prstGeom>
            <a:solidFill>
              <a:srgbClr val="FDEFF1"/>
            </a:solidFill>
            <a:ln>
              <a:noFill/>
            </a:ln>
          </p:spPr>
        </p:sp>
        <p:sp>
          <p:nvSpPr>
            <p:cNvPr id="113" name="TextBox 113"/>
            <p:cNvSpPr txBox="1"/>
            <p:nvPr/>
          </p:nvSpPr>
          <p:spPr>
            <a:xfrm>
              <a:off x="324650" y="2594134"/>
              <a:ext cx="284150"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工作包</a:t>
              </a:r>
            </a:p>
          </p:txBody>
        </p:sp>
        <p:sp>
          <p:nvSpPr>
            <p:cNvPr id="114" name="TextBox 114"/>
            <p:cNvSpPr txBox="1"/>
            <p:nvPr/>
          </p:nvSpPr>
          <p:spPr>
            <a:xfrm>
              <a:off x="324650" y="2975134"/>
              <a:ext cx="284150"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负责人</a:t>
              </a:r>
            </a:p>
          </p:txBody>
        </p:sp>
        <p:sp>
          <p:nvSpPr>
            <p:cNvPr id="115" name="TextBox 115"/>
            <p:cNvSpPr txBox="1"/>
            <p:nvPr/>
          </p:nvSpPr>
          <p:spPr>
            <a:xfrm>
              <a:off x="233109" y="3365659"/>
              <a:ext cx="467233"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关键交付物</a:t>
              </a:r>
            </a:p>
          </p:txBody>
        </p:sp>
        <p:sp>
          <p:nvSpPr>
            <p:cNvPr id="116" name="TextBox 116"/>
            <p:cNvSpPr txBox="1"/>
            <p:nvPr/>
          </p:nvSpPr>
          <p:spPr>
            <a:xfrm>
              <a:off x="324650" y="3756184"/>
              <a:ext cx="284150"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里程碑</a:t>
              </a:r>
            </a:p>
          </p:txBody>
        </p:sp>
        <p:sp>
          <p:nvSpPr>
            <p:cNvPr id="117" name="TextBox 117"/>
            <p:cNvSpPr txBox="1"/>
            <p:nvPr/>
          </p:nvSpPr>
          <p:spPr>
            <a:xfrm>
              <a:off x="278879" y="4146709"/>
              <a:ext cx="375691" cy="133350"/>
            </a:xfrm>
            <a:prstGeom prst="rect">
              <a:avLst/>
            </a:prstGeom>
            <a:noFill/>
            <a:ln>
              <a:noFill/>
            </a:ln>
          </p:spPr>
          <p:txBody>
            <a:bodyPr wrap="none" lIns="0" tIns="0" rIns="0" bIns="0" anchor="t" anchorCtr="0">
              <a:spAutoFit/>
            </a:bodyPr>
            <a:lstStyle/>
            <a:p>
              <a:pPr algn="ctr"/>
              <a:r>
                <a:rPr lang="zh-CN" sz="680" b="1" dirty="0">
                  <a:solidFill>
                    <a:srgbClr val="C83210"/>
                  </a:solidFill>
                  <a:latin typeface="+mn-lt"/>
                  <a:ea typeface="+mn-ea"/>
                  <a:cs typeface="+mn-cs"/>
                </a:rPr>
                <a:t>验收标准</a:t>
              </a:r>
            </a:p>
          </p:txBody>
        </p:sp>
        <p:sp>
          <p:nvSpPr>
            <p:cNvPr id="118" name="TextBox 118"/>
            <p:cNvSpPr txBox="1"/>
            <p:nvPr/>
          </p:nvSpPr>
          <p:spPr>
            <a:xfrm>
              <a:off x="871538" y="240382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现状调研与基线数据梳理</a:t>
              </a:r>
            </a:p>
          </p:txBody>
        </p:sp>
        <p:sp>
          <p:nvSpPr>
            <p:cNvPr id="119" name="TextBox 119"/>
            <p:cNvSpPr txBox="1"/>
            <p:nvPr/>
          </p:nvSpPr>
          <p:spPr>
            <a:xfrm>
              <a:off x="871538" y="253717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客户分层与标签体系设计</a:t>
              </a:r>
            </a:p>
          </p:txBody>
        </p:sp>
        <p:sp>
          <p:nvSpPr>
            <p:cNvPr id="120" name="TextBox 120"/>
            <p:cNvSpPr txBox="1"/>
            <p:nvPr/>
          </p:nvSpPr>
          <p:spPr>
            <a:xfrm>
              <a:off x="871538" y="267052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内容框架与审核标准制定</a:t>
              </a:r>
            </a:p>
          </p:txBody>
        </p:sp>
        <p:sp>
          <p:nvSpPr>
            <p:cNvPr id="121" name="TextBox 121"/>
            <p:cNvSpPr txBox="1"/>
            <p:nvPr/>
          </p:nvSpPr>
          <p:spPr>
            <a:xfrm>
              <a:off x="871538" y="280387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触达规则与合规要求明确</a:t>
              </a:r>
            </a:p>
          </p:txBody>
        </p:sp>
        <p:sp>
          <p:nvSpPr>
            <p:cNvPr id="122" name="TextBox 122"/>
            <p:cNvSpPr txBox="1"/>
            <p:nvPr/>
          </p:nvSpPr>
          <p:spPr>
            <a:xfrm>
              <a:off x="3119438" y="2403824"/>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企微认证与账号搭建</a:t>
              </a:r>
            </a:p>
          </p:txBody>
        </p:sp>
        <p:sp>
          <p:nvSpPr>
            <p:cNvPr id="123" name="TextBox 123"/>
            <p:cNvSpPr txBox="1"/>
            <p:nvPr/>
          </p:nvSpPr>
          <p:spPr>
            <a:xfrm>
              <a:off x="3119438" y="253717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网点团队培训与实操演练</a:t>
              </a:r>
            </a:p>
          </p:txBody>
        </p:sp>
        <p:sp>
          <p:nvSpPr>
            <p:cNvPr id="124" name="TextBox 124"/>
            <p:cNvSpPr txBox="1"/>
            <p:nvPr/>
          </p:nvSpPr>
          <p:spPr>
            <a:xfrm>
              <a:off x="3119438" y="2670524"/>
              <a:ext cx="86652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内容生产与素材库搭建</a:t>
              </a:r>
            </a:p>
          </p:txBody>
        </p:sp>
        <p:sp>
          <p:nvSpPr>
            <p:cNvPr id="125" name="TextBox 125"/>
            <p:cNvSpPr txBox="1"/>
            <p:nvPr/>
          </p:nvSpPr>
          <p:spPr>
            <a:xfrm>
              <a:off x="3119438" y="2803874"/>
              <a:ext cx="86652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客户导入与标签初始化</a:t>
              </a:r>
            </a:p>
          </p:txBody>
        </p:sp>
        <p:sp>
          <p:nvSpPr>
            <p:cNvPr id="126" name="TextBox 126"/>
            <p:cNvSpPr txBox="1"/>
            <p:nvPr/>
          </p:nvSpPr>
          <p:spPr>
            <a:xfrm>
              <a:off x="5376862" y="2403824"/>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按主题开展内容运营</a:t>
              </a:r>
            </a:p>
          </p:txBody>
        </p:sp>
        <p:sp>
          <p:nvSpPr>
            <p:cNvPr id="127" name="TextBox 127"/>
            <p:cNvSpPr txBox="1"/>
            <p:nvPr/>
          </p:nvSpPr>
          <p:spPr>
            <a:xfrm>
              <a:off x="5376862" y="2537174"/>
              <a:ext cx="1557010"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多策略配比A/B测试（内容/时间/人群）　</a:t>
              </a:r>
            </a:p>
          </p:txBody>
        </p:sp>
        <p:sp>
          <p:nvSpPr>
            <p:cNvPr id="128" name="TextBox 128"/>
            <p:cNvSpPr txBox="1"/>
            <p:nvPr/>
          </p:nvSpPr>
          <p:spPr>
            <a:xfrm>
              <a:off x="5376862" y="2670524"/>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客户互动与意向跟进</a:t>
              </a:r>
            </a:p>
          </p:txBody>
        </p:sp>
        <p:sp>
          <p:nvSpPr>
            <p:cNvPr id="129" name="TextBox 129"/>
            <p:cNvSpPr txBox="1"/>
            <p:nvPr/>
          </p:nvSpPr>
          <p:spPr>
            <a:xfrm>
              <a:off x="5376862" y="2803874"/>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数据监测与周度复盘</a:t>
              </a:r>
            </a:p>
          </p:txBody>
        </p:sp>
        <p:sp>
          <p:nvSpPr>
            <p:cNvPr id="130" name="TextBox 130"/>
            <p:cNvSpPr txBox="1"/>
            <p:nvPr/>
          </p:nvSpPr>
          <p:spPr>
            <a:xfrm>
              <a:off x="7624762" y="2403824"/>
              <a:ext cx="1100760"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基于数据优化内容与人群策略</a:t>
              </a:r>
            </a:p>
          </p:txBody>
        </p:sp>
        <p:sp>
          <p:nvSpPr>
            <p:cNvPr id="131" name="TextBox 131"/>
            <p:cNvSpPr txBox="1"/>
            <p:nvPr/>
          </p:nvSpPr>
          <p:spPr>
            <a:xfrm>
              <a:off x="7624762" y="2537174"/>
              <a:ext cx="1097224"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完善SOP并推广至更多网点　</a:t>
              </a:r>
            </a:p>
          </p:txBody>
        </p:sp>
        <p:sp>
          <p:nvSpPr>
            <p:cNvPr id="132" name="TextBox 132"/>
            <p:cNvSpPr txBox="1"/>
            <p:nvPr/>
          </p:nvSpPr>
          <p:spPr>
            <a:xfrm>
              <a:off x="7624762" y="2670524"/>
              <a:ext cx="86652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强化长尾客户激活策略</a:t>
              </a:r>
            </a:p>
          </p:txBody>
        </p:sp>
        <p:sp>
          <p:nvSpPr>
            <p:cNvPr id="133" name="TextBox 133"/>
            <p:cNvSpPr txBox="1"/>
            <p:nvPr/>
          </p:nvSpPr>
          <p:spPr>
            <a:xfrm>
              <a:off x="7624762" y="280387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风险合规检查与体系优化</a:t>
              </a:r>
            </a:p>
          </p:txBody>
        </p:sp>
        <p:sp>
          <p:nvSpPr>
            <p:cNvPr id="134" name="TextBox 134"/>
            <p:cNvSpPr txBox="1"/>
            <p:nvPr/>
          </p:nvSpPr>
          <p:spPr>
            <a:xfrm>
              <a:off x="9882188" y="240382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试点效果评估与对标分析</a:t>
              </a:r>
            </a:p>
          </p:txBody>
        </p:sp>
        <p:sp>
          <p:nvSpPr>
            <p:cNvPr id="135" name="TextBox 135"/>
            <p:cNvSpPr txBox="1"/>
            <p:nvPr/>
          </p:nvSpPr>
          <p:spPr>
            <a:xfrm>
              <a:off x="9882188" y="2537174"/>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完善制度与激励机制</a:t>
              </a:r>
            </a:p>
          </p:txBody>
        </p:sp>
        <p:sp>
          <p:nvSpPr>
            <p:cNvPr id="136" name="TextBox 136"/>
            <p:cNvSpPr txBox="1"/>
            <p:nvPr/>
          </p:nvSpPr>
          <p:spPr>
            <a:xfrm>
              <a:off x="9882188" y="2670524"/>
              <a:ext cx="86652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输出可复制的推广方案</a:t>
              </a:r>
            </a:p>
          </p:txBody>
        </p:sp>
        <p:sp>
          <p:nvSpPr>
            <p:cNvPr id="137" name="TextBox 137"/>
            <p:cNvSpPr txBox="1"/>
            <p:nvPr/>
          </p:nvSpPr>
          <p:spPr>
            <a:xfrm>
              <a:off x="9882188" y="280387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制定全行推广的阶段规划</a:t>
              </a:r>
            </a:p>
          </p:txBody>
        </p:sp>
        <p:sp>
          <p:nvSpPr>
            <p:cNvPr id="138" name="TextBox 138"/>
            <p:cNvSpPr txBox="1"/>
            <p:nvPr/>
          </p:nvSpPr>
          <p:spPr>
            <a:xfrm>
              <a:off x="871538" y="2984849"/>
              <a:ext cx="1102639"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总行零售部（牵头）、试点分行</a:t>
              </a:r>
            </a:p>
          </p:txBody>
        </p:sp>
        <p:sp>
          <p:nvSpPr>
            <p:cNvPr id="139" name="TextBox 139"/>
            <p:cNvSpPr txBox="1"/>
            <p:nvPr/>
          </p:nvSpPr>
          <p:spPr>
            <a:xfrm>
              <a:off x="3119438" y="2984849"/>
              <a:ext cx="1102639"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试点分行（牵头）、网点负责人</a:t>
              </a:r>
            </a:p>
          </p:txBody>
        </p:sp>
        <p:sp>
          <p:nvSpPr>
            <p:cNvPr id="140" name="TextBox 140"/>
            <p:cNvSpPr txBox="1"/>
            <p:nvPr/>
          </p:nvSpPr>
          <p:spPr>
            <a:xfrm>
              <a:off x="5376862" y="2984849"/>
              <a:ext cx="1102639"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试点网点（牵头）、总行零售部</a:t>
              </a:r>
            </a:p>
          </p:txBody>
        </p:sp>
        <p:sp>
          <p:nvSpPr>
            <p:cNvPr id="141" name="TextBox 141"/>
            <p:cNvSpPr txBox="1"/>
            <p:nvPr/>
          </p:nvSpPr>
          <p:spPr>
            <a:xfrm>
              <a:off x="7624762" y="2984849"/>
              <a:ext cx="1102639"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试点分行（牵头）、风险合规部</a:t>
              </a:r>
            </a:p>
          </p:txBody>
        </p:sp>
        <p:sp>
          <p:nvSpPr>
            <p:cNvPr id="142" name="TextBox 142"/>
            <p:cNvSpPr txBox="1"/>
            <p:nvPr/>
          </p:nvSpPr>
          <p:spPr>
            <a:xfrm>
              <a:off x="9882188" y="2984849"/>
              <a:ext cx="1102639" cy="116205"/>
            </a:xfrm>
            <a:prstGeom prst="rect">
              <a:avLst/>
            </a:prstGeom>
            <a:noFill/>
            <a:ln>
              <a:noFill/>
            </a:ln>
          </p:spPr>
          <p:txBody>
            <a:bodyPr wrap="none" lIns="0" tIns="0" rIns="0" bIns="0" anchor="t" anchorCtr="0">
              <a:spAutoFit/>
            </a:bodyPr>
            <a:lstStyle/>
            <a:p>
              <a:pPr algn="l"/>
              <a:r>
                <a:rPr lang="zh-CN" sz="580" dirty="0">
                  <a:solidFill>
                    <a:srgbClr val="3D3D3D"/>
                  </a:solidFill>
                  <a:latin typeface="+mn-lt"/>
                  <a:ea typeface="+mn-ea"/>
                  <a:cs typeface="+mn-cs"/>
                </a:rPr>
                <a:t>总行零售部（牵头）、试点分行</a:t>
              </a:r>
            </a:p>
          </p:txBody>
        </p:sp>
        <p:sp>
          <p:nvSpPr>
            <p:cNvPr id="143" name="TextBox 143"/>
            <p:cNvSpPr txBox="1"/>
            <p:nvPr/>
          </p:nvSpPr>
          <p:spPr>
            <a:xfrm>
              <a:off x="871538" y="3184874"/>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《现状诊断报告》</a:t>
              </a:r>
            </a:p>
          </p:txBody>
        </p:sp>
        <p:sp>
          <p:nvSpPr>
            <p:cNvPr id="144" name="TextBox 144"/>
            <p:cNvSpPr txBox="1"/>
            <p:nvPr/>
          </p:nvSpPr>
          <p:spPr>
            <a:xfrm>
              <a:off x="871538" y="3318224"/>
              <a:ext cx="86652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《企微运营标准手册》</a:t>
              </a:r>
            </a:p>
          </p:txBody>
        </p:sp>
        <p:sp>
          <p:nvSpPr>
            <p:cNvPr id="145" name="TextBox 145"/>
            <p:cNvSpPr txBox="1"/>
            <p:nvPr/>
          </p:nvSpPr>
          <p:spPr>
            <a:xfrm>
              <a:off x="871538" y="3451574"/>
              <a:ext cx="1108568"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《内容主题清单（20个）》　</a:t>
              </a:r>
            </a:p>
          </p:txBody>
        </p:sp>
        <p:sp>
          <p:nvSpPr>
            <p:cNvPr id="146" name="TextBox 146"/>
            <p:cNvSpPr txBox="1"/>
            <p:nvPr/>
          </p:nvSpPr>
          <p:spPr>
            <a:xfrm>
              <a:off x="3119438" y="3184874"/>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试点账号完成认证</a:t>
              </a:r>
            </a:p>
          </p:txBody>
        </p:sp>
        <p:sp>
          <p:nvSpPr>
            <p:cNvPr id="147" name="TextBox 147"/>
            <p:cNvSpPr txBox="1"/>
            <p:nvPr/>
          </p:nvSpPr>
          <p:spPr>
            <a:xfrm>
              <a:off x="3119438" y="331822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《培训材料与实操结果》</a:t>
              </a:r>
            </a:p>
          </p:txBody>
        </p:sp>
        <p:sp>
          <p:nvSpPr>
            <p:cNvPr id="148" name="TextBox 148"/>
            <p:cNvSpPr txBox="1"/>
            <p:nvPr/>
          </p:nvSpPr>
          <p:spPr>
            <a:xfrm>
              <a:off x="3119438" y="3451574"/>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《内容素材库（首批）》</a:t>
              </a:r>
            </a:p>
          </p:txBody>
        </p:sp>
        <p:sp>
          <p:nvSpPr>
            <p:cNvPr id="149" name="TextBox 149"/>
            <p:cNvSpPr txBox="1"/>
            <p:nvPr/>
          </p:nvSpPr>
          <p:spPr>
            <a:xfrm>
              <a:off x="3119438" y="3584924"/>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客户标签导入清单</a:t>
              </a:r>
            </a:p>
          </p:txBody>
        </p:sp>
        <p:sp>
          <p:nvSpPr>
            <p:cNvPr id="150" name="TextBox 150"/>
            <p:cNvSpPr txBox="1"/>
            <p:nvPr/>
          </p:nvSpPr>
          <p:spPr>
            <a:xfrm>
              <a:off x="5376862" y="3184874"/>
              <a:ext cx="1002645"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《A/B测试方案与结果》　</a:t>
              </a:r>
            </a:p>
          </p:txBody>
        </p:sp>
        <p:sp>
          <p:nvSpPr>
            <p:cNvPr id="151" name="TextBox 151"/>
            <p:cNvSpPr txBox="1"/>
            <p:nvPr/>
          </p:nvSpPr>
          <p:spPr>
            <a:xfrm>
              <a:off x="5376862" y="3318224"/>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《运营数据周报》</a:t>
              </a:r>
            </a:p>
          </p:txBody>
        </p:sp>
        <p:sp>
          <p:nvSpPr>
            <p:cNvPr id="152" name="TextBox 152"/>
            <p:cNvSpPr txBox="1"/>
            <p:nvPr/>
          </p:nvSpPr>
          <p:spPr>
            <a:xfrm>
              <a:off x="5376862" y="3451574"/>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《高转化内容清单》</a:t>
              </a:r>
            </a:p>
          </p:txBody>
        </p:sp>
        <p:sp>
          <p:nvSpPr>
            <p:cNvPr id="153" name="TextBox 153"/>
            <p:cNvSpPr txBox="1"/>
            <p:nvPr/>
          </p:nvSpPr>
          <p:spPr>
            <a:xfrm>
              <a:off x="5376862" y="3584924"/>
              <a:ext cx="1100760"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《客户互动与转化跟进记录》</a:t>
              </a:r>
            </a:p>
          </p:txBody>
        </p:sp>
        <p:sp>
          <p:nvSpPr>
            <p:cNvPr id="154" name="TextBox 154"/>
            <p:cNvSpPr txBox="1"/>
            <p:nvPr/>
          </p:nvSpPr>
          <p:spPr>
            <a:xfrm>
              <a:off x="7624762" y="3184874"/>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《优化策略清单》</a:t>
              </a:r>
            </a:p>
          </p:txBody>
        </p:sp>
        <p:sp>
          <p:nvSpPr>
            <p:cNvPr id="155" name="TextBox 155"/>
            <p:cNvSpPr txBox="1"/>
            <p:nvPr/>
          </p:nvSpPr>
          <p:spPr>
            <a:xfrm>
              <a:off x="7624762" y="3318224"/>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《网点推广计划》</a:t>
              </a:r>
            </a:p>
          </p:txBody>
        </p:sp>
        <p:sp>
          <p:nvSpPr>
            <p:cNvPr id="156" name="TextBox 156"/>
            <p:cNvSpPr txBox="1"/>
            <p:nvPr/>
          </p:nvSpPr>
          <p:spPr>
            <a:xfrm>
              <a:off x="7624762" y="3451574"/>
              <a:ext cx="86652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《长尾客户激活方案》</a:t>
              </a:r>
            </a:p>
          </p:txBody>
        </p:sp>
        <p:sp>
          <p:nvSpPr>
            <p:cNvPr id="157" name="TextBox 157"/>
            <p:cNvSpPr txBox="1"/>
            <p:nvPr/>
          </p:nvSpPr>
          <p:spPr>
            <a:xfrm>
              <a:off x="7624762" y="3584924"/>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《合规检查报告》</a:t>
              </a:r>
            </a:p>
          </p:txBody>
        </p:sp>
        <p:sp>
          <p:nvSpPr>
            <p:cNvPr id="158" name="TextBox 158"/>
            <p:cNvSpPr txBox="1"/>
            <p:nvPr/>
          </p:nvSpPr>
          <p:spPr>
            <a:xfrm>
              <a:off x="9882188" y="3184874"/>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《试点评估报告》</a:t>
              </a:r>
            </a:p>
          </p:txBody>
        </p:sp>
        <p:sp>
          <p:nvSpPr>
            <p:cNvPr id="159" name="TextBox 159"/>
            <p:cNvSpPr txBox="1"/>
            <p:nvPr/>
          </p:nvSpPr>
          <p:spPr>
            <a:xfrm>
              <a:off x="9882188" y="3318224"/>
              <a:ext cx="1022680"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《运营管理制度（试行）》</a:t>
              </a:r>
            </a:p>
          </p:txBody>
        </p:sp>
        <p:sp>
          <p:nvSpPr>
            <p:cNvPr id="160" name="TextBox 160"/>
            <p:cNvSpPr txBox="1"/>
            <p:nvPr/>
          </p:nvSpPr>
          <p:spPr>
            <a:xfrm>
              <a:off x="9882188" y="3451574"/>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《全行推广方案》</a:t>
              </a:r>
            </a:p>
          </p:txBody>
        </p:sp>
        <p:sp>
          <p:nvSpPr>
            <p:cNvPr id="161" name="TextBox 161"/>
            <p:cNvSpPr txBox="1"/>
            <p:nvPr/>
          </p:nvSpPr>
          <p:spPr>
            <a:xfrm>
              <a:off x="9882188" y="3584924"/>
              <a:ext cx="86652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《下一阶段实施计划》</a:t>
              </a:r>
            </a:p>
          </p:txBody>
        </p:sp>
        <p:sp>
          <p:nvSpPr>
            <p:cNvPr id="162" name="TextBox 162"/>
            <p:cNvSpPr txBox="1"/>
            <p:nvPr/>
          </p:nvSpPr>
          <p:spPr>
            <a:xfrm>
              <a:off x="871538" y="3760232"/>
              <a:ext cx="798291"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 xml:space="preserve">第15天｜标准发布　</a:t>
              </a:r>
            </a:p>
          </p:txBody>
        </p:sp>
        <p:sp>
          <p:nvSpPr>
            <p:cNvPr id="163" name="TextBox 163"/>
            <p:cNvSpPr txBox="1"/>
            <p:nvPr/>
          </p:nvSpPr>
          <p:spPr>
            <a:xfrm>
              <a:off x="3119438" y="3760232"/>
              <a:ext cx="798291"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 xml:space="preserve">第30天｜试点上线　</a:t>
              </a:r>
            </a:p>
          </p:txBody>
        </p:sp>
        <p:sp>
          <p:nvSpPr>
            <p:cNvPr id="164" name="TextBox 164"/>
            <p:cNvSpPr txBox="1"/>
            <p:nvPr/>
          </p:nvSpPr>
          <p:spPr>
            <a:xfrm>
              <a:off x="5376862" y="3760232"/>
              <a:ext cx="798291"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 xml:space="preserve">第60天｜跑通闭环　</a:t>
              </a:r>
            </a:p>
          </p:txBody>
        </p:sp>
        <p:sp>
          <p:nvSpPr>
            <p:cNvPr id="165" name="TextBox 165"/>
            <p:cNvSpPr txBox="1"/>
            <p:nvPr/>
          </p:nvSpPr>
          <p:spPr>
            <a:xfrm>
              <a:off x="7624762" y="3760232"/>
              <a:ext cx="798291"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 xml:space="preserve">第75天｜效果放大　</a:t>
              </a:r>
            </a:p>
          </p:txBody>
        </p:sp>
        <p:sp>
          <p:nvSpPr>
            <p:cNvPr id="166" name="TextBox 166"/>
            <p:cNvSpPr txBox="1"/>
            <p:nvPr/>
          </p:nvSpPr>
          <p:spPr>
            <a:xfrm>
              <a:off x="9882188" y="3760232"/>
              <a:ext cx="798291" cy="126206"/>
            </a:xfrm>
            <a:prstGeom prst="rect">
              <a:avLst/>
            </a:prstGeom>
            <a:noFill/>
            <a:ln>
              <a:noFill/>
            </a:ln>
          </p:spPr>
          <p:txBody>
            <a:bodyPr wrap="none" lIns="0" tIns="0" rIns="0" bIns="0" anchor="t" anchorCtr="0">
              <a:spAutoFit/>
            </a:bodyPr>
            <a:lstStyle/>
            <a:p>
              <a:pPr algn="l"/>
              <a:r>
                <a:rPr lang="zh-CN" sz="640" b="1" dirty="0">
                  <a:solidFill>
                    <a:srgbClr val="C83210"/>
                  </a:solidFill>
                  <a:latin typeface="+mn-lt"/>
                  <a:ea typeface="+mn-ea"/>
                  <a:cs typeface="+mn-cs"/>
                </a:rPr>
                <a:t xml:space="preserve">第90天｜评估固化　</a:t>
              </a:r>
            </a:p>
          </p:txBody>
        </p:sp>
        <p:sp>
          <p:nvSpPr>
            <p:cNvPr id="167" name="TextBox 167"/>
            <p:cNvSpPr txBox="1"/>
            <p:nvPr/>
          </p:nvSpPr>
          <p:spPr>
            <a:xfrm>
              <a:off x="871538" y="3975449"/>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完成基线数据与客户分层</a:t>
              </a:r>
            </a:p>
          </p:txBody>
        </p:sp>
        <p:sp>
          <p:nvSpPr>
            <p:cNvPr id="168" name="TextBox 168"/>
            <p:cNvSpPr txBox="1"/>
            <p:nvPr/>
          </p:nvSpPr>
          <p:spPr>
            <a:xfrm>
              <a:off x="871538" y="4127849"/>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标准经相关部门评审通过</a:t>
              </a:r>
            </a:p>
          </p:txBody>
        </p:sp>
        <p:sp>
          <p:nvSpPr>
            <p:cNvPr id="169" name="TextBox 169"/>
            <p:cNvSpPr txBox="1"/>
            <p:nvPr/>
          </p:nvSpPr>
          <p:spPr>
            <a:xfrm>
              <a:off x="871538" y="4280249"/>
              <a:ext cx="952409"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20个内容主题完成设计　</a:t>
              </a:r>
            </a:p>
          </p:txBody>
        </p:sp>
        <p:sp>
          <p:nvSpPr>
            <p:cNvPr id="170" name="TextBox 170"/>
            <p:cNvSpPr txBox="1"/>
            <p:nvPr/>
          </p:nvSpPr>
          <p:spPr>
            <a:xfrm>
              <a:off x="3119438" y="3975449"/>
              <a:ext cx="1030488"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2家分行6个网点完成部署　</a:t>
              </a:r>
            </a:p>
          </p:txBody>
        </p:sp>
        <p:sp>
          <p:nvSpPr>
            <p:cNvPr id="171" name="TextBox 171"/>
            <p:cNvSpPr txBox="1"/>
            <p:nvPr/>
          </p:nvSpPr>
          <p:spPr>
            <a:xfrm>
              <a:off x="3119438" y="4127849"/>
              <a:ext cx="97583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一线人员100%完成培训　</a:t>
              </a:r>
            </a:p>
          </p:txBody>
        </p:sp>
        <p:sp>
          <p:nvSpPr>
            <p:cNvPr id="172" name="TextBox 172"/>
            <p:cNvSpPr txBox="1"/>
            <p:nvPr/>
          </p:nvSpPr>
          <p:spPr>
            <a:xfrm>
              <a:off x="3119438" y="4280249"/>
              <a:ext cx="1022680"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完成首批客户导入并打标签</a:t>
              </a:r>
            </a:p>
          </p:txBody>
        </p:sp>
        <p:sp>
          <p:nvSpPr>
            <p:cNvPr id="173" name="TextBox 173"/>
            <p:cNvSpPr txBox="1"/>
            <p:nvPr/>
          </p:nvSpPr>
          <p:spPr>
            <a:xfrm>
              <a:off x="5376862" y="3975449"/>
              <a:ext cx="121007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有效互动率≥35%（试点口径）　</a:t>
              </a:r>
            </a:p>
          </p:txBody>
        </p:sp>
        <p:sp>
          <p:nvSpPr>
            <p:cNvPr id="174" name="TextBox 174"/>
            <p:cNvSpPr txBox="1"/>
            <p:nvPr/>
          </p:nvSpPr>
          <p:spPr>
            <a:xfrm>
              <a:off x="5376862" y="4127849"/>
              <a:ext cx="1030488"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形成≥3个高转化内容方法　</a:t>
              </a:r>
            </a:p>
          </p:txBody>
        </p:sp>
        <p:sp>
          <p:nvSpPr>
            <p:cNvPr id="175" name="TextBox 175"/>
            <p:cNvSpPr txBox="1"/>
            <p:nvPr/>
          </p:nvSpPr>
          <p:spPr>
            <a:xfrm>
              <a:off x="5376862" y="4280249"/>
              <a:ext cx="1100760"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完成从触达到转化的闭环流程</a:t>
              </a:r>
            </a:p>
          </p:txBody>
        </p:sp>
        <p:sp>
          <p:nvSpPr>
            <p:cNvPr id="176" name="TextBox 176"/>
            <p:cNvSpPr txBox="1"/>
            <p:nvPr/>
          </p:nvSpPr>
          <p:spPr>
            <a:xfrm>
              <a:off x="7624762" y="3975449"/>
              <a:ext cx="897753"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长尾客户激活率≥25%　</a:t>
              </a:r>
            </a:p>
          </p:txBody>
        </p:sp>
        <p:sp>
          <p:nvSpPr>
            <p:cNvPr id="177" name="TextBox 177"/>
            <p:cNvSpPr txBox="1"/>
            <p:nvPr/>
          </p:nvSpPr>
          <p:spPr>
            <a:xfrm>
              <a:off x="7624762" y="4127849"/>
              <a:ext cx="128815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 xml:space="preserve">内容点击与互动较前期提升≥30%　</a:t>
              </a:r>
            </a:p>
          </p:txBody>
        </p:sp>
        <p:sp>
          <p:nvSpPr>
            <p:cNvPr id="178" name="TextBox 178"/>
            <p:cNvSpPr txBox="1"/>
            <p:nvPr/>
          </p:nvSpPr>
          <p:spPr>
            <a:xfrm>
              <a:off x="7624762" y="4280249"/>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合规检查无重大问题</a:t>
              </a:r>
            </a:p>
          </p:txBody>
        </p:sp>
        <p:sp>
          <p:nvSpPr>
            <p:cNvPr id="179" name="TextBox 179"/>
            <p:cNvSpPr txBox="1"/>
            <p:nvPr/>
          </p:nvSpPr>
          <p:spPr>
            <a:xfrm>
              <a:off x="9882188" y="3975449"/>
              <a:ext cx="94460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各项目标达成（见上方）</a:t>
              </a:r>
            </a:p>
          </p:txBody>
        </p:sp>
        <p:sp>
          <p:nvSpPr>
            <p:cNvPr id="180" name="TextBox 180"/>
            <p:cNvSpPr txBox="1"/>
            <p:nvPr/>
          </p:nvSpPr>
          <p:spPr>
            <a:xfrm>
              <a:off x="9882188" y="4127849"/>
              <a:ext cx="63228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形成制度并发布</a:t>
              </a:r>
            </a:p>
          </p:txBody>
        </p:sp>
        <p:sp>
          <p:nvSpPr>
            <p:cNvPr id="181" name="TextBox 181"/>
            <p:cNvSpPr txBox="1"/>
            <p:nvPr/>
          </p:nvSpPr>
          <p:spPr>
            <a:xfrm>
              <a:off x="9882188" y="4280249"/>
              <a:ext cx="1178839"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管理层评审通过，启动全行推广</a:t>
              </a:r>
            </a:p>
          </p:txBody>
        </p:sp>
        <p:sp>
          <p:nvSpPr>
            <p:cNvPr id="182" name="Line 182"/>
            <p:cNvSpPr/>
            <p:nvPr/>
          </p:nvSpPr>
          <p:spPr>
            <a:xfrm>
              <a:off x="800100" y="2343150"/>
              <a:ext cx="9525" cy="2133600"/>
            </a:xfrm>
            <a:custGeom>
              <a:avLst/>
              <a:gdLst/>
              <a:ahLst/>
              <a:cxnLst/>
              <a:rect l="l" t="t" r="r" b="b"/>
              <a:pathLst>
                <a:path w="9525" h="2133600">
                  <a:moveTo>
                    <a:pt x="0" y="0"/>
                  </a:moveTo>
                  <a:lnTo>
                    <a:pt x="0" y="2133600"/>
                  </a:lnTo>
                </a:path>
              </a:pathLst>
            </a:custGeom>
            <a:noFill/>
            <a:ln w="9525">
              <a:solidFill>
                <a:srgbClr val="F1C7CC"/>
              </a:solidFill>
            </a:ln>
          </p:spPr>
        </p:sp>
        <p:sp>
          <p:nvSpPr>
            <p:cNvPr id="183" name="Line 183"/>
            <p:cNvSpPr/>
            <p:nvPr/>
          </p:nvSpPr>
          <p:spPr>
            <a:xfrm>
              <a:off x="3048000" y="2343150"/>
              <a:ext cx="9525" cy="2133600"/>
            </a:xfrm>
            <a:custGeom>
              <a:avLst/>
              <a:gdLst/>
              <a:ahLst/>
              <a:cxnLst/>
              <a:rect l="l" t="t" r="r" b="b"/>
              <a:pathLst>
                <a:path w="9525" h="2133600">
                  <a:moveTo>
                    <a:pt x="0" y="0"/>
                  </a:moveTo>
                  <a:lnTo>
                    <a:pt x="0" y="2133600"/>
                  </a:lnTo>
                </a:path>
              </a:pathLst>
            </a:custGeom>
            <a:noFill/>
            <a:ln w="9525">
              <a:solidFill>
                <a:srgbClr val="F1C7CC"/>
              </a:solidFill>
            </a:ln>
          </p:spPr>
        </p:sp>
        <p:sp>
          <p:nvSpPr>
            <p:cNvPr id="184" name="Line 184"/>
            <p:cNvSpPr/>
            <p:nvPr/>
          </p:nvSpPr>
          <p:spPr>
            <a:xfrm>
              <a:off x="5305425" y="2343150"/>
              <a:ext cx="9525" cy="2133600"/>
            </a:xfrm>
            <a:custGeom>
              <a:avLst/>
              <a:gdLst/>
              <a:ahLst/>
              <a:cxnLst/>
              <a:rect l="l" t="t" r="r" b="b"/>
              <a:pathLst>
                <a:path w="9525" h="2133600">
                  <a:moveTo>
                    <a:pt x="0" y="0"/>
                  </a:moveTo>
                  <a:lnTo>
                    <a:pt x="0" y="2133600"/>
                  </a:lnTo>
                </a:path>
              </a:pathLst>
            </a:custGeom>
            <a:noFill/>
            <a:ln w="9525">
              <a:solidFill>
                <a:srgbClr val="F1C7CC"/>
              </a:solidFill>
            </a:ln>
          </p:spPr>
        </p:sp>
        <p:sp>
          <p:nvSpPr>
            <p:cNvPr id="185" name="Line 185"/>
            <p:cNvSpPr/>
            <p:nvPr/>
          </p:nvSpPr>
          <p:spPr>
            <a:xfrm>
              <a:off x="7553325" y="2343150"/>
              <a:ext cx="9525" cy="2133600"/>
            </a:xfrm>
            <a:custGeom>
              <a:avLst/>
              <a:gdLst/>
              <a:ahLst/>
              <a:cxnLst/>
              <a:rect l="l" t="t" r="r" b="b"/>
              <a:pathLst>
                <a:path w="9525" h="2133600">
                  <a:moveTo>
                    <a:pt x="0" y="0"/>
                  </a:moveTo>
                  <a:lnTo>
                    <a:pt x="0" y="2133600"/>
                  </a:lnTo>
                </a:path>
              </a:pathLst>
            </a:custGeom>
            <a:noFill/>
            <a:ln w="9525">
              <a:solidFill>
                <a:srgbClr val="F1C7CC"/>
              </a:solidFill>
            </a:ln>
          </p:spPr>
        </p:sp>
        <p:sp>
          <p:nvSpPr>
            <p:cNvPr id="186" name="Line 186"/>
            <p:cNvSpPr/>
            <p:nvPr/>
          </p:nvSpPr>
          <p:spPr>
            <a:xfrm>
              <a:off x="9810750" y="2343150"/>
              <a:ext cx="9525" cy="2133600"/>
            </a:xfrm>
            <a:custGeom>
              <a:avLst/>
              <a:gdLst/>
              <a:ahLst/>
              <a:cxnLst/>
              <a:rect l="l" t="t" r="r" b="b"/>
              <a:pathLst>
                <a:path w="9525" h="2133600">
                  <a:moveTo>
                    <a:pt x="0" y="0"/>
                  </a:moveTo>
                  <a:lnTo>
                    <a:pt x="0" y="2133600"/>
                  </a:lnTo>
                </a:path>
              </a:pathLst>
            </a:custGeom>
            <a:noFill/>
            <a:ln w="9525">
              <a:solidFill>
                <a:srgbClr val="F1C7CC"/>
              </a:solidFill>
            </a:ln>
          </p:spPr>
        </p:sp>
        <p:sp>
          <p:nvSpPr>
            <p:cNvPr id="187" name="Line 187"/>
            <p:cNvSpPr/>
            <p:nvPr/>
          </p:nvSpPr>
          <p:spPr>
            <a:xfrm>
              <a:off x="133350" y="2914650"/>
              <a:ext cx="11925300" cy="9525"/>
            </a:xfrm>
            <a:custGeom>
              <a:avLst/>
              <a:gdLst/>
              <a:ahLst/>
              <a:cxnLst/>
              <a:rect l="l" t="t" r="r" b="b"/>
              <a:pathLst>
                <a:path w="11925300" h="9525">
                  <a:moveTo>
                    <a:pt x="0" y="0"/>
                  </a:moveTo>
                  <a:lnTo>
                    <a:pt x="11925300" y="0"/>
                  </a:lnTo>
                </a:path>
              </a:pathLst>
            </a:custGeom>
            <a:noFill/>
            <a:ln w="9525">
              <a:solidFill>
                <a:srgbClr val="F1C7CC"/>
              </a:solidFill>
            </a:ln>
          </p:spPr>
        </p:sp>
        <p:sp>
          <p:nvSpPr>
            <p:cNvPr id="188" name="Line 188"/>
            <p:cNvSpPr/>
            <p:nvPr/>
          </p:nvSpPr>
          <p:spPr>
            <a:xfrm>
              <a:off x="133350" y="3105150"/>
              <a:ext cx="11925300" cy="9525"/>
            </a:xfrm>
            <a:custGeom>
              <a:avLst/>
              <a:gdLst/>
              <a:ahLst/>
              <a:cxnLst/>
              <a:rect l="l" t="t" r="r" b="b"/>
              <a:pathLst>
                <a:path w="11925300" h="9525">
                  <a:moveTo>
                    <a:pt x="0" y="0"/>
                  </a:moveTo>
                  <a:lnTo>
                    <a:pt x="11925300" y="0"/>
                  </a:lnTo>
                </a:path>
              </a:pathLst>
            </a:custGeom>
            <a:noFill/>
            <a:ln w="9525">
              <a:solidFill>
                <a:srgbClr val="F1C7CC"/>
              </a:solidFill>
            </a:ln>
          </p:spPr>
        </p:sp>
        <p:sp>
          <p:nvSpPr>
            <p:cNvPr id="189" name="Line 189"/>
            <p:cNvSpPr/>
            <p:nvPr/>
          </p:nvSpPr>
          <p:spPr>
            <a:xfrm>
              <a:off x="133350" y="3695700"/>
              <a:ext cx="11925300" cy="9525"/>
            </a:xfrm>
            <a:custGeom>
              <a:avLst/>
              <a:gdLst/>
              <a:ahLst/>
              <a:cxnLst/>
              <a:rect l="l" t="t" r="r" b="b"/>
              <a:pathLst>
                <a:path w="11925300" h="9525">
                  <a:moveTo>
                    <a:pt x="0" y="0"/>
                  </a:moveTo>
                  <a:lnTo>
                    <a:pt x="11925300" y="0"/>
                  </a:lnTo>
                </a:path>
              </a:pathLst>
            </a:custGeom>
            <a:noFill/>
            <a:ln w="9525">
              <a:solidFill>
                <a:srgbClr val="F1C7CC"/>
              </a:solidFill>
            </a:ln>
          </p:spPr>
        </p:sp>
        <p:sp>
          <p:nvSpPr>
            <p:cNvPr id="190" name="Line 190"/>
            <p:cNvSpPr/>
            <p:nvPr/>
          </p:nvSpPr>
          <p:spPr>
            <a:xfrm>
              <a:off x="133350" y="3886200"/>
              <a:ext cx="11925300" cy="9525"/>
            </a:xfrm>
            <a:custGeom>
              <a:avLst/>
              <a:gdLst/>
              <a:ahLst/>
              <a:cxnLst/>
              <a:rect l="l" t="t" r="r" b="b"/>
              <a:pathLst>
                <a:path w="11925300" h="9525">
                  <a:moveTo>
                    <a:pt x="0" y="0"/>
                  </a:moveTo>
                  <a:lnTo>
                    <a:pt x="11925300" y="0"/>
                  </a:lnTo>
                </a:path>
              </a:pathLst>
            </a:custGeom>
            <a:noFill/>
            <a:ln w="9525">
              <a:solidFill>
                <a:srgbClr val="F1C7CC"/>
              </a:solidFill>
            </a:ln>
          </p:spPr>
        </p:sp>
        <p:sp>
          <p:nvSpPr>
            <p:cNvPr id="191" name="Line 191"/>
            <p:cNvSpPr/>
            <p:nvPr/>
          </p:nvSpPr>
          <p:spPr>
            <a:xfrm>
              <a:off x="133350" y="4476750"/>
              <a:ext cx="11925300" cy="9525"/>
            </a:xfrm>
            <a:custGeom>
              <a:avLst/>
              <a:gdLst/>
              <a:ahLst/>
              <a:cxnLst/>
              <a:rect l="l" t="t" r="r" b="b"/>
              <a:pathLst>
                <a:path w="11925300" h="9525">
                  <a:moveTo>
                    <a:pt x="0" y="0"/>
                  </a:moveTo>
                  <a:lnTo>
                    <a:pt x="11925300" y="0"/>
                  </a:lnTo>
                </a:path>
              </a:pathLst>
            </a:custGeom>
            <a:noFill/>
            <a:ln w="9525">
              <a:solidFill>
                <a:srgbClr val="F1C7CC"/>
              </a:solidFill>
            </a:ln>
          </p:spPr>
        </p:sp>
      </p:grpSp>
      <p:grpSp>
        <p:nvGrpSpPr>
          <p:cNvPr id="247" name="weekly"/>
          <p:cNvGrpSpPr/>
          <p:nvPr/>
        </p:nvGrpSpPr>
        <p:grpSpPr>
          <a:xfrm>
            <a:off x="133350" y="4629150"/>
            <a:ext cx="5962650" cy="2076450"/>
            <a:chOff x="133350" y="4629150"/>
            <a:chExt cx="5962650" cy="2076450"/>
          </a:xfrm>
        </p:grpSpPr>
        <p:sp>
          <p:nvSpPr>
            <p:cNvPr id="193" name="Rectangle 193"/>
            <p:cNvSpPr/>
            <p:nvPr/>
          </p:nvSpPr>
          <p:spPr>
            <a:xfrm>
              <a:off x="171450" y="4629150"/>
              <a:ext cx="38100" cy="152400"/>
            </a:xfrm>
            <a:prstGeom prst="rect">
              <a:avLst/>
            </a:prstGeom>
            <a:solidFill>
              <a:srgbClr val="C83210"/>
            </a:solidFill>
            <a:ln>
              <a:noFill/>
            </a:ln>
          </p:spPr>
        </p:sp>
        <p:sp>
          <p:nvSpPr>
            <p:cNvPr id="194" name="TextBox 194"/>
            <p:cNvSpPr txBox="1"/>
            <p:nvPr/>
          </p:nvSpPr>
          <p:spPr>
            <a:xfrm>
              <a:off x="280797" y="4647724"/>
              <a:ext cx="1989661"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周度推进会看板</a:t>
              </a:r>
              <a:r>
                <a:rPr lang="zh-CN" sz="750" b="1" dirty="0">
                  <a:solidFill>
                    <a:srgbClr val="808080"/>
                  </a:solidFill>
                  <a:latin typeface="+mn-lt"/>
                  <a:ea typeface="+mn-ea"/>
                  <a:cs typeface="+mn-cs"/>
                </a:rPr>
                <a:t>（每周一，30分钟）</a:t>
              </a:r>
              <a:r>
                <a:rPr lang="zh-CN" sz="980" b="1" dirty="0">
                  <a:solidFill>
                    <a:srgbClr val="C83210"/>
                  </a:solidFill>
                  <a:latin typeface="+mn-lt"/>
                  <a:ea typeface="+mn-ea"/>
                  <a:cs typeface="+mn-cs"/>
                </a:rPr>
                <a:t xml:space="preserve">　</a:t>
              </a:r>
            </a:p>
          </p:txBody>
        </p:sp>
        <p:sp>
          <p:nvSpPr>
            <p:cNvPr id="195" name="Rectangle 195"/>
            <p:cNvSpPr/>
            <p:nvPr/>
          </p:nvSpPr>
          <p:spPr>
            <a:xfrm>
              <a:off x="133350" y="4819650"/>
              <a:ext cx="5962650" cy="209550"/>
            </a:xfrm>
            <a:prstGeom prst="rect">
              <a:avLst/>
            </a:prstGeom>
            <a:solidFill>
              <a:srgbClr val="C83210"/>
            </a:solidFill>
            <a:ln>
              <a:noFill/>
            </a:ln>
          </p:spPr>
        </p:sp>
        <p:sp>
          <p:nvSpPr>
            <p:cNvPr id="196" name="TextBox 196"/>
            <p:cNvSpPr txBox="1"/>
            <p:nvPr/>
          </p:nvSpPr>
          <p:spPr>
            <a:xfrm>
              <a:off x="328181" y="4893707"/>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周次</a:t>
              </a:r>
            </a:p>
          </p:txBody>
        </p:sp>
        <p:sp>
          <p:nvSpPr>
            <p:cNvPr id="197" name="TextBox 197"/>
            <p:cNvSpPr txBox="1"/>
            <p:nvPr/>
          </p:nvSpPr>
          <p:spPr>
            <a:xfrm>
              <a:off x="1099274" y="489370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核心议题</a:t>
              </a:r>
            </a:p>
          </p:txBody>
        </p:sp>
        <p:sp>
          <p:nvSpPr>
            <p:cNvPr id="198" name="TextBox 198"/>
            <p:cNvSpPr txBox="1"/>
            <p:nvPr/>
          </p:nvSpPr>
          <p:spPr>
            <a:xfrm>
              <a:off x="2289899" y="489370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关键数据</a:t>
              </a:r>
            </a:p>
          </p:txBody>
        </p:sp>
        <p:sp>
          <p:nvSpPr>
            <p:cNvPr id="199" name="TextBox 199"/>
            <p:cNvSpPr txBox="1"/>
            <p:nvPr/>
          </p:nvSpPr>
          <p:spPr>
            <a:xfrm>
              <a:off x="3437446" y="4893707"/>
              <a:ext cx="44030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问题与风险</a:t>
              </a:r>
            </a:p>
          </p:txBody>
        </p:sp>
        <p:sp>
          <p:nvSpPr>
            <p:cNvPr id="200" name="TextBox 200"/>
            <p:cNvSpPr txBox="1"/>
            <p:nvPr/>
          </p:nvSpPr>
          <p:spPr>
            <a:xfrm>
              <a:off x="4413974" y="489370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决策事项</a:t>
              </a:r>
            </a:p>
          </p:txBody>
        </p:sp>
        <p:sp>
          <p:nvSpPr>
            <p:cNvPr id="201" name="TextBox 201"/>
            <p:cNvSpPr txBox="1"/>
            <p:nvPr/>
          </p:nvSpPr>
          <p:spPr>
            <a:xfrm>
              <a:off x="5152377" y="4893707"/>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责任人</a:t>
              </a:r>
            </a:p>
          </p:txBody>
        </p:sp>
        <p:sp>
          <p:nvSpPr>
            <p:cNvPr id="202" name="TextBox 202"/>
            <p:cNvSpPr txBox="1"/>
            <p:nvPr/>
          </p:nvSpPr>
          <p:spPr>
            <a:xfrm>
              <a:off x="5680799" y="489370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完成时限</a:t>
              </a:r>
            </a:p>
          </p:txBody>
        </p:sp>
        <p:sp>
          <p:nvSpPr>
            <p:cNvPr id="203" name="Rectangle 203"/>
            <p:cNvSpPr/>
            <p:nvPr/>
          </p:nvSpPr>
          <p:spPr>
            <a:xfrm>
              <a:off x="133350" y="5362575"/>
              <a:ext cx="5962650" cy="333375"/>
            </a:xfrm>
            <a:prstGeom prst="rect">
              <a:avLst/>
            </a:prstGeom>
            <a:solidFill>
              <a:srgbClr val="FDEFF1"/>
            </a:solidFill>
            <a:ln>
              <a:noFill/>
            </a:ln>
          </p:spPr>
        </p:sp>
        <p:sp>
          <p:nvSpPr>
            <p:cNvPr id="204" name="Rectangle 204"/>
            <p:cNvSpPr/>
            <p:nvPr/>
          </p:nvSpPr>
          <p:spPr>
            <a:xfrm>
              <a:off x="133350" y="6029325"/>
              <a:ext cx="5962650" cy="333375"/>
            </a:xfrm>
            <a:prstGeom prst="rect">
              <a:avLst/>
            </a:prstGeom>
            <a:solidFill>
              <a:srgbClr val="FDEFF1"/>
            </a:solidFill>
            <a:ln>
              <a:noFill/>
            </a:ln>
          </p:spPr>
        </p:sp>
        <p:sp>
          <p:nvSpPr>
            <p:cNvPr id="205" name="TextBox 205"/>
            <p:cNvSpPr txBox="1"/>
            <p:nvPr/>
          </p:nvSpPr>
          <p:spPr>
            <a:xfrm>
              <a:off x="346062" y="5169932"/>
              <a:ext cx="146075"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W1</a:t>
              </a:r>
            </a:p>
          </p:txBody>
        </p:sp>
        <p:sp>
          <p:nvSpPr>
            <p:cNvPr id="206" name="TextBox 206"/>
            <p:cNvSpPr txBox="1"/>
            <p:nvPr/>
          </p:nvSpPr>
          <p:spPr>
            <a:xfrm>
              <a:off x="757238" y="5173980"/>
              <a:ext cx="494157"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试点上线准备</a:t>
              </a:r>
            </a:p>
          </p:txBody>
        </p:sp>
        <p:sp>
          <p:nvSpPr>
            <p:cNvPr id="207" name="TextBox 207"/>
            <p:cNvSpPr txBox="1"/>
            <p:nvPr/>
          </p:nvSpPr>
          <p:spPr>
            <a:xfrm>
              <a:off x="1900238" y="5173980"/>
              <a:ext cx="817245"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认证进度、账号完成率</a:t>
              </a:r>
            </a:p>
          </p:txBody>
        </p:sp>
        <p:sp>
          <p:nvSpPr>
            <p:cNvPr id="208" name="TextBox 208"/>
            <p:cNvSpPr txBox="1"/>
            <p:nvPr/>
          </p:nvSpPr>
          <p:spPr>
            <a:xfrm>
              <a:off x="3138488" y="5173980"/>
              <a:ext cx="494157"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账号开通问题</a:t>
              </a:r>
            </a:p>
          </p:txBody>
        </p:sp>
        <p:sp>
          <p:nvSpPr>
            <p:cNvPr id="209" name="TextBox 209"/>
            <p:cNvSpPr txBox="1"/>
            <p:nvPr/>
          </p:nvSpPr>
          <p:spPr>
            <a:xfrm>
              <a:off x="4281488" y="5173980"/>
              <a:ext cx="33261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上线确认</a:t>
              </a:r>
            </a:p>
          </p:txBody>
        </p:sp>
        <p:sp>
          <p:nvSpPr>
            <p:cNvPr id="210" name="TextBox 210"/>
            <p:cNvSpPr txBox="1"/>
            <p:nvPr/>
          </p:nvSpPr>
          <p:spPr>
            <a:xfrm>
              <a:off x="5005388" y="5173980"/>
              <a:ext cx="33261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试点分行</a:t>
              </a:r>
            </a:p>
          </p:txBody>
        </p:sp>
        <p:sp>
          <p:nvSpPr>
            <p:cNvPr id="211" name="TextBox 211"/>
            <p:cNvSpPr txBox="1"/>
            <p:nvPr/>
          </p:nvSpPr>
          <p:spPr>
            <a:xfrm>
              <a:off x="5789104" y="5173980"/>
              <a:ext cx="137541" cy="119062"/>
            </a:xfrm>
            <a:prstGeom prst="rect">
              <a:avLst/>
            </a:prstGeom>
            <a:noFill/>
            <a:ln>
              <a:noFill/>
            </a:ln>
          </p:spPr>
          <p:txBody>
            <a:bodyPr wrap="none" lIns="0" tIns="0" rIns="0" bIns="0" anchor="t" anchorCtr="0">
              <a:spAutoFit/>
            </a:bodyPr>
            <a:lstStyle/>
            <a:p>
              <a:pPr algn="ctr"/>
              <a:r>
                <a:rPr lang="en-US" sz="600" dirty="0">
                  <a:solidFill>
                    <a:srgbClr val="3D3D3D"/>
                  </a:solidFill>
                  <a:latin typeface="Arial"/>
                  <a:ea typeface="Arial"/>
                  <a:cs typeface="Arial"/>
                </a:rPr>
                <a:t>W1</a:t>
              </a:r>
            </a:p>
          </p:txBody>
        </p:sp>
        <p:sp>
          <p:nvSpPr>
            <p:cNvPr id="212" name="TextBox 212"/>
            <p:cNvSpPr txBox="1"/>
            <p:nvPr/>
          </p:nvSpPr>
          <p:spPr>
            <a:xfrm>
              <a:off x="262630" y="5503307"/>
              <a:ext cx="312940"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W2-W4</a:t>
              </a:r>
            </a:p>
          </p:txBody>
        </p:sp>
        <p:sp>
          <p:nvSpPr>
            <p:cNvPr id="213" name="TextBox 213"/>
            <p:cNvSpPr txBox="1"/>
            <p:nvPr/>
          </p:nvSpPr>
          <p:spPr>
            <a:xfrm>
              <a:off x="757238" y="5507355"/>
              <a:ext cx="574929"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内容与触达执行</a:t>
              </a:r>
            </a:p>
          </p:txBody>
        </p:sp>
        <p:sp>
          <p:nvSpPr>
            <p:cNvPr id="214" name="TextBox 214"/>
            <p:cNvSpPr txBox="1"/>
            <p:nvPr/>
          </p:nvSpPr>
          <p:spPr>
            <a:xfrm>
              <a:off x="1900238" y="5507355"/>
              <a:ext cx="73647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内容发布量、互动率</a:t>
              </a:r>
            </a:p>
          </p:txBody>
        </p:sp>
        <p:sp>
          <p:nvSpPr>
            <p:cNvPr id="215" name="TextBox 215"/>
            <p:cNvSpPr txBox="1"/>
            <p:nvPr/>
          </p:nvSpPr>
          <p:spPr>
            <a:xfrm>
              <a:off x="3138488" y="5507355"/>
              <a:ext cx="655701"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内容效果不达预期</a:t>
              </a:r>
            </a:p>
          </p:txBody>
        </p:sp>
        <p:sp>
          <p:nvSpPr>
            <p:cNvPr id="216" name="TextBox 216"/>
            <p:cNvSpPr txBox="1"/>
            <p:nvPr/>
          </p:nvSpPr>
          <p:spPr>
            <a:xfrm>
              <a:off x="4281488" y="5507355"/>
              <a:ext cx="33261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优化方向</a:t>
              </a:r>
            </a:p>
          </p:txBody>
        </p:sp>
        <p:sp>
          <p:nvSpPr>
            <p:cNvPr id="217" name="TextBox 217"/>
            <p:cNvSpPr txBox="1"/>
            <p:nvPr/>
          </p:nvSpPr>
          <p:spPr>
            <a:xfrm>
              <a:off x="5005388" y="5507355"/>
              <a:ext cx="33261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试点网点</a:t>
              </a:r>
            </a:p>
          </p:txBody>
        </p:sp>
        <p:sp>
          <p:nvSpPr>
            <p:cNvPr id="218" name="TextBox 218"/>
            <p:cNvSpPr txBox="1"/>
            <p:nvPr/>
          </p:nvSpPr>
          <p:spPr>
            <a:xfrm>
              <a:off x="5789104" y="5507355"/>
              <a:ext cx="137541" cy="119062"/>
            </a:xfrm>
            <a:prstGeom prst="rect">
              <a:avLst/>
            </a:prstGeom>
            <a:noFill/>
            <a:ln>
              <a:noFill/>
            </a:ln>
          </p:spPr>
          <p:txBody>
            <a:bodyPr wrap="none" lIns="0" tIns="0" rIns="0" bIns="0" anchor="t" anchorCtr="0">
              <a:spAutoFit/>
            </a:bodyPr>
            <a:lstStyle/>
            <a:p>
              <a:pPr algn="ctr"/>
              <a:r>
                <a:rPr lang="en-US" sz="600" dirty="0">
                  <a:solidFill>
                    <a:srgbClr val="3D3D3D"/>
                  </a:solidFill>
                  <a:latin typeface="Arial"/>
                  <a:ea typeface="Arial"/>
                  <a:cs typeface="Arial"/>
                </a:rPr>
                <a:t>W4</a:t>
              </a:r>
            </a:p>
          </p:txBody>
        </p:sp>
        <p:sp>
          <p:nvSpPr>
            <p:cNvPr id="219" name="TextBox 219"/>
            <p:cNvSpPr txBox="1"/>
            <p:nvPr/>
          </p:nvSpPr>
          <p:spPr>
            <a:xfrm>
              <a:off x="262630" y="5836682"/>
              <a:ext cx="312940"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W5-W8</a:t>
              </a:r>
            </a:p>
          </p:txBody>
        </p:sp>
        <p:sp>
          <p:nvSpPr>
            <p:cNvPr id="220" name="TextBox 220"/>
            <p:cNvSpPr txBox="1"/>
            <p:nvPr/>
          </p:nvSpPr>
          <p:spPr>
            <a:xfrm>
              <a:off x="757238" y="5840730"/>
              <a:ext cx="634975"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 xml:space="preserve">A/B测试与转化　</a:t>
              </a:r>
            </a:p>
          </p:txBody>
        </p:sp>
        <p:sp>
          <p:nvSpPr>
            <p:cNvPr id="221" name="TextBox 221"/>
            <p:cNvSpPr txBox="1"/>
            <p:nvPr/>
          </p:nvSpPr>
          <p:spPr>
            <a:xfrm>
              <a:off x="1900238" y="5840730"/>
              <a:ext cx="574929"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转化率、线索数</a:t>
              </a:r>
            </a:p>
          </p:txBody>
        </p:sp>
        <p:sp>
          <p:nvSpPr>
            <p:cNvPr id="222" name="TextBox 222"/>
            <p:cNvSpPr txBox="1"/>
            <p:nvPr/>
          </p:nvSpPr>
          <p:spPr>
            <a:xfrm>
              <a:off x="3138488" y="5840730"/>
              <a:ext cx="73647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高意向客户跟进不足</a:t>
              </a:r>
            </a:p>
          </p:txBody>
        </p:sp>
        <p:sp>
          <p:nvSpPr>
            <p:cNvPr id="223" name="TextBox 223"/>
            <p:cNvSpPr txBox="1"/>
            <p:nvPr/>
          </p:nvSpPr>
          <p:spPr>
            <a:xfrm>
              <a:off x="4281488" y="5840730"/>
              <a:ext cx="33261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资源支持</a:t>
              </a:r>
            </a:p>
          </p:txBody>
        </p:sp>
        <p:sp>
          <p:nvSpPr>
            <p:cNvPr id="224" name="TextBox 224"/>
            <p:cNvSpPr txBox="1"/>
            <p:nvPr/>
          </p:nvSpPr>
          <p:spPr>
            <a:xfrm>
              <a:off x="5005388" y="5840730"/>
              <a:ext cx="413385"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总行零售部</a:t>
              </a:r>
            </a:p>
          </p:txBody>
        </p:sp>
        <p:sp>
          <p:nvSpPr>
            <p:cNvPr id="225" name="TextBox 225"/>
            <p:cNvSpPr txBox="1"/>
            <p:nvPr/>
          </p:nvSpPr>
          <p:spPr>
            <a:xfrm>
              <a:off x="5789104" y="5840730"/>
              <a:ext cx="137541" cy="119062"/>
            </a:xfrm>
            <a:prstGeom prst="rect">
              <a:avLst/>
            </a:prstGeom>
            <a:noFill/>
            <a:ln>
              <a:noFill/>
            </a:ln>
          </p:spPr>
          <p:txBody>
            <a:bodyPr wrap="none" lIns="0" tIns="0" rIns="0" bIns="0" anchor="t" anchorCtr="0">
              <a:spAutoFit/>
            </a:bodyPr>
            <a:lstStyle/>
            <a:p>
              <a:pPr algn="ctr"/>
              <a:r>
                <a:rPr lang="en-US" sz="600" dirty="0">
                  <a:solidFill>
                    <a:srgbClr val="3D3D3D"/>
                  </a:solidFill>
                  <a:latin typeface="Arial"/>
                  <a:ea typeface="Arial"/>
                  <a:cs typeface="Arial"/>
                </a:rPr>
                <a:t>W8</a:t>
              </a:r>
            </a:p>
          </p:txBody>
        </p:sp>
        <p:sp>
          <p:nvSpPr>
            <p:cNvPr id="226" name="TextBox 226"/>
            <p:cNvSpPr txBox="1"/>
            <p:nvPr/>
          </p:nvSpPr>
          <p:spPr>
            <a:xfrm>
              <a:off x="237314" y="6170057"/>
              <a:ext cx="363573"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W9-W11</a:t>
              </a:r>
            </a:p>
          </p:txBody>
        </p:sp>
        <p:sp>
          <p:nvSpPr>
            <p:cNvPr id="227" name="TextBox 227"/>
            <p:cNvSpPr txBox="1"/>
            <p:nvPr/>
          </p:nvSpPr>
          <p:spPr>
            <a:xfrm>
              <a:off x="757238" y="6174105"/>
              <a:ext cx="413385"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优化与扩面</a:t>
              </a:r>
            </a:p>
          </p:txBody>
        </p:sp>
        <p:sp>
          <p:nvSpPr>
            <p:cNvPr id="228" name="TextBox 228"/>
            <p:cNvSpPr txBox="1"/>
            <p:nvPr/>
          </p:nvSpPr>
          <p:spPr>
            <a:xfrm>
              <a:off x="1900238" y="6174105"/>
              <a:ext cx="73647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长尾激活率、客诉率</a:t>
              </a:r>
            </a:p>
          </p:txBody>
        </p:sp>
        <p:sp>
          <p:nvSpPr>
            <p:cNvPr id="229" name="TextBox 229"/>
            <p:cNvSpPr txBox="1"/>
            <p:nvPr/>
          </p:nvSpPr>
          <p:spPr>
            <a:xfrm>
              <a:off x="3138488" y="6174105"/>
              <a:ext cx="574929"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合规与体验问题</a:t>
              </a:r>
            </a:p>
          </p:txBody>
        </p:sp>
        <p:sp>
          <p:nvSpPr>
            <p:cNvPr id="230" name="TextBox 230"/>
            <p:cNvSpPr txBox="1"/>
            <p:nvPr/>
          </p:nvSpPr>
          <p:spPr>
            <a:xfrm>
              <a:off x="4281488" y="6174105"/>
              <a:ext cx="33261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扩面范围</a:t>
              </a:r>
            </a:p>
          </p:txBody>
        </p:sp>
        <p:sp>
          <p:nvSpPr>
            <p:cNvPr id="231" name="TextBox 231"/>
            <p:cNvSpPr txBox="1"/>
            <p:nvPr/>
          </p:nvSpPr>
          <p:spPr>
            <a:xfrm>
              <a:off x="5005388" y="6174105"/>
              <a:ext cx="33261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试点分行</a:t>
              </a:r>
            </a:p>
          </p:txBody>
        </p:sp>
        <p:sp>
          <p:nvSpPr>
            <p:cNvPr id="232" name="TextBox 232"/>
            <p:cNvSpPr txBox="1"/>
            <p:nvPr/>
          </p:nvSpPr>
          <p:spPr>
            <a:xfrm>
              <a:off x="5765370" y="6174105"/>
              <a:ext cx="185009" cy="119062"/>
            </a:xfrm>
            <a:prstGeom prst="rect">
              <a:avLst/>
            </a:prstGeom>
            <a:noFill/>
            <a:ln>
              <a:noFill/>
            </a:ln>
          </p:spPr>
          <p:txBody>
            <a:bodyPr wrap="none" lIns="0" tIns="0" rIns="0" bIns="0" anchor="t" anchorCtr="0">
              <a:spAutoFit/>
            </a:bodyPr>
            <a:lstStyle/>
            <a:p>
              <a:pPr algn="ctr"/>
              <a:r>
                <a:rPr lang="en-US" sz="600" dirty="0">
                  <a:solidFill>
                    <a:srgbClr val="3D3D3D"/>
                  </a:solidFill>
                  <a:latin typeface="Arial"/>
                  <a:ea typeface="Arial"/>
                  <a:cs typeface="Arial"/>
                </a:rPr>
                <a:t>W11</a:t>
              </a:r>
            </a:p>
          </p:txBody>
        </p:sp>
        <p:sp>
          <p:nvSpPr>
            <p:cNvPr id="233" name="TextBox 233"/>
            <p:cNvSpPr txBox="1"/>
            <p:nvPr/>
          </p:nvSpPr>
          <p:spPr>
            <a:xfrm>
              <a:off x="320746" y="6503432"/>
              <a:ext cx="196708"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W12</a:t>
              </a:r>
            </a:p>
          </p:txBody>
        </p:sp>
        <p:sp>
          <p:nvSpPr>
            <p:cNvPr id="234" name="TextBox 234"/>
            <p:cNvSpPr txBox="1"/>
            <p:nvPr/>
          </p:nvSpPr>
          <p:spPr>
            <a:xfrm>
              <a:off x="757238" y="6507480"/>
              <a:ext cx="413385"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评估与固化</a:t>
              </a:r>
            </a:p>
          </p:txBody>
        </p:sp>
        <p:sp>
          <p:nvSpPr>
            <p:cNvPr id="235" name="TextBox 235"/>
            <p:cNvSpPr txBox="1"/>
            <p:nvPr/>
          </p:nvSpPr>
          <p:spPr>
            <a:xfrm>
              <a:off x="1900238" y="6507480"/>
              <a:ext cx="574929"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全指标达成情况</a:t>
              </a:r>
            </a:p>
          </p:txBody>
        </p:sp>
        <p:sp>
          <p:nvSpPr>
            <p:cNvPr id="236" name="TextBox 236"/>
            <p:cNvSpPr txBox="1"/>
            <p:nvPr/>
          </p:nvSpPr>
          <p:spPr>
            <a:xfrm>
              <a:off x="3138488" y="6507480"/>
              <a:ext cx="494157"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制度落地细节</a:t>
              </a:r>
            </a:p>
          </p:txBody>
        </p:sp>
        <p:sp>
          <p:nvSpPr>
            <p:cNvPr id="237" name="TextBox 237"/>
            <p:cNvSpPr txBox="1"/>
            <p:nvPr/>
          </p:nvSpPr>
          <p:spPr>
            <a:xfrm>
              <a:off x="4281488" y="6507480"/>
              <a:ext cx="332613"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制度发布</a:t>
              </a:r>
            </a:p>
          </p:txBody>
        </p:sp>
        <p:sp>
          <p:nvSpPr>
            <p:cNvPr id="238" name="TextBox 238"/>
            <p:cNvSpPr txBox="1"/>
            <p:nvPr/>
          </p:nvSpPr>
          <p:spPr>
            <a:xfrm>
              <a:off x="5005388" y="6507480"/>
              <a:ext cx="413385" cy="119062"/>
            </a:xfrm>
            <a:prstGeom prst="rect">
              <a:avLst/>
            </a:prstGeom>
            <a:noFill/>
            <a:ln>
              <a:noFill/>
            </a:ln>
          </p:spPr>
          <p:txBody>
            <a:bodyPr wrap="none" lIns="0" tIns="0" rIns="0" bIns="0" anchor="t" anchorCtr="0">
              <a:spAutoFit/>
            </a:bodyPr>
            <a:lstStyle/>
            <a:p>
              <a:pPr algn="l"/>
              <a:r>
                <a:rPr lang="zh-CN" sz="600" dirty="0">
                  <a:solidFill>
                    <a:srgbClr val="3D3D3D"/>
                  </a:solidFill>
                  <a:latin typeface="+mn-lt"/>
                  <a:ea typeface="+mn-ea"/>
                  <a:cs typeface="+mn-cs"/>
                </a:rPr>
                <a:t>总行零售部</a:t>
              </a:r>
            </a:p>
          </p:txBody>
        </p:sp>
        <p:sp>
          <p:nvSpPr>
            <p:cNvPr id="239" name="TextBox 239"/>
            <p:cNvSpPr txBox="1"/>
            <p:nvPr/>
          </p:nvSpPr>
          <p:spPr>
            <a:xfrm>
              <a:off x="5765370" y="6507480"/>
              <a:ext cx="185009" cy="119062"/>
            </a:xfrm>
            <a:prstGeom prst="rect">
              <a:avLst/>
            </a:prstGeom>
            <a:noFill/>
            <a:ln>
              <a:noFill/>
            </a:ln>
          </p:spPr>
          <p:txBody>
            <a:bodyPr wrap="none" lIns="0" tIns="0" rIns="0" bIns="0" anchor="t" anchorCtr="0">
              <a:spAutoFit/>
            </a:bodyPr>
            <a:lstStyle/>
            <a:p>
              <a:pPr algn="ctr"/>
              <a:r>
                <a:rPr lang="en-US" sz="600" dirty="0">
                  <a:solidFill>
                    <a:srgbClr val="3D3D3D"/>
                  </a:solidFill>
                  <a:latin typeface="Arial"/>
                  <a:ea typeface="Arial"/>
                  <a:cs typeface="Arial"/>
                </a:rPr>
                <a:t>W12</a:t>
              </a:r>
            </a:p>
          </p:txBody>
        </p:sp>
        <p:sp>
          <p:nvSpPr>
            <p:cNvPr id="240" name="Line 240"/>
            <p:cNvSpPr/>
            <p:nvPr/>
          </p:nvSpPr>
          <p:spPr>
            <a:xfrm>
              <a:off x="704850" y="4819650"/>
              <a:ext cx="9525" cy="1876425"/>
            </a:xfrm>
            <a:custGeom>
              <a:avLst/>
              <a:gdLst/>
              <a:ahLst/>
              <a:cxnLst/>
              <a:rect l="l" t="t" r="r" b="b"/>
              <a:pathLst>
                <a:path w="9525" h="1876425">
                  <a:moveTo>
                    <a:pt x="0" y="0"/>
                  </a:moveTo>
                  <a:lnTo>
                    <a:pt x="0" y="1876425"/>
                  </a:lnTo>
                </a:path>
              </a:pathLst>
            </a:custGeom>
            <a:noFill/>
            <a:ln w="9525">
              <a:solidFill>
                <a:srgbClr val="F1C7CC"/>
              </a:solidFill>
            </a:ln>
          </p:spPr>
        </p:sp>
        <p:sp>
          <p:nvSpPr>
            <p:cNvPr id="241" name="Line 241"/>
            <p:cNvSpPr/>
            <p:nvPr/>
          </p:nvSpPr>
          <p:spPr>
            <a:xfrm>
              <a:off x="1847850" y="4819650"/>
              <a:ext cx="9525" cy="1876425"/>
            </a:xfrm>
            <a:custGeom>
              <a:avLst/>
              <a:gdLst/>
              <a:ahLst/>
              <a:cxnLst/>
              <a:rect l="l" t="t" r="r" b="b"/>
              <a:pathLst>
                <a:path w="9525" h="1876425">
                  <a:moveTo>
                    <a:pt x="0" y="0"/>
                  </a:moveTo>
                  <a:lnTo>
                    <a:pt x="0" y="1876425"/>
                  </a:lnTo>
                </a:path>
              </a:pathLst>
            </a:custGeom>
            <a:noFill/>
            <a:ln w="9525">
              <a:solidFill>
                <a:srgbClr val="F1C7CC"/>
              </a:solidFill>
            </a:ln>
          </p:spPr>
        </p:sp>
        <p:sp>
          <p:nvSpPr>
            <p:cNvPr id="242" name="Line 242"/>
            <p:cNvSpPr/>
            <p:nvPr/>
          </p:nvSpPr>
          <p:spPr>
            <a:xfrm>
              <a:off x="3086100" y="4819650"/>
              <a:ext cx="9525" cy="1876425"/>
            </a:xfrm>
            <a:custGeom>
              <a:avLst/>
              <a:gdLst/>
              <a:ahLst/>
              <a:cxnLst/>
              <a:rect l="l" t="t" r="r" b="b"/>
              <a:pathLst>
                <a:path w="9525" h="1876425">
                  <a:moveTo>
                    <a:pt x="0" y="0"/>
                  </a:moveTo>
                  <a:lnTo>
                    <a:pt x="0" y="1876425"/>
                  </a:lnTo>
                </a:path>
              </a:pathLst>
            </a:custGeom>
            <a:noFill/>
            <a:ln w="9525">
              <a:solidFill>
                <a:srgbClr val="F1C7CC"/>
              </a:solidFill>
            </a:ln>
          </p:spPr>
        </p:sp>
        <p:sp>
          <p:nvSpPr>
            <p:cNvPr id="243" name="Line 243"/>
            <p:cNvSpPr/>
            <p:nvPr/>
          </p:nvSpPr>
          <p:spPr>
            <a:xfrm>
              <a:off x="4229100" y="4819650"/>
              <a:ext cx="9525" cy="1876425"/>
            </a:xfrm>
            <a:custGeom>
              <a:avLst/>
              <a:gdLst/>
              <a:ahLst/>
              <a:cxnLst/>
              <a:rect l="l" t="t" r="r" b="b"/>
              <a:pathLst>
                <a:path w="9525" h="1876425">
                  <a:moveTo>
                    <a:pt x="0" y="0"/>
                  </a:moveTo>
                  <a:lnTo>
                    <a:pt x="0" y="1876425"/>
                  </a:lnTo>
                </a:path>
              </a:pathLst>
            </a:custGeom>
            <a:noFill/>
            <a:ln w="9525">
              <a:solidFill>
                <a:srgbClr val="F1C7CC"/>
              </a:solidFill>
            </a:ln>
          </p:spPr>
        </p:sp>
        <p:sp>
          <p:nvSpPr>
            <p:cNvPr id="244" name="Line 244"/>
            <p:cNvSpPr/>
            <p:nvPr/>
          </p:nvSpPr>
          <p:spPr>
            <a:xfrm>
              <a:off x="4953000" y="4819650"/>
              <a:ext cx="9525" cy="1876425"/>
            </a:xfrm>
            <a:custGeom>
              <a:avLst/>
              <a:gdLst/>
              <a:ahLst/>
              <a:cxnLst/>
              <a:rect l="l" t="t" r="r" b="b"/>
              <a:pathLst>
                <a:path w="9525" h="1876425">
                  <a:moveTo>
                    <a:pt x="0" y="0"/>
                  </a:moveTo>
                  <a:lnTo>
                    <a:pt x="0" y="1876425"/>
                  </a:lnTo>
                </a:path>
              </a:pathLst>
            </a:custGeom>
            <a:noFill/>
            <a:ln w="9525">
              <a:solidFill>
                <a:srgbClr val="F1C7CC"/>
              </a:solidFill>
            </a:ln>
          </p:spPr>
        </p:sp>
        <p:sp>
          <p:nvSpPr>
            <p:cNvPr id="245" name="Line 245"/>
            <p:cNvSpPr/>
            <p:nvPr/>
          </p:nvSpPr>
          <p:spPr>
            <a:xfrm>
              <a:off x="5619750" y="4819650"/>
              <a:ext cx="9525" cy="1876425"/>
            </a:xfrm>
            <a:custGeom>
              <a:avLst/>
              <a:gdLst/>
              <a:ahLst/>
              <a:cxnLst/>
              <a:rect l="l" t="t" r="r" b="b"/>
              <a:pathLst>
                <a:path w="9525" h="1876425">
                  <a:moveTo>
                    <a:pt x="0" y="0"/>
                  </a:moveTo>
                  <a:lnTo>
                    <a:pt x="0" y="1876425"/>
                  </a:lnTo>
                </a:path>
              </a:pathLst>
            </a:custGeom>
            <a:noFill/>
            <a:ln w="9525">
              <a:solidFill>
                <a:srgbClr val="F1C7CC"/>
              </a:solidFill>
            </a:ln>
          </p:spPr>
        </p:sp>
        <p:sp>
          <p:nvSpPr>
            <p:cNvPr id="246" name="Line 246"/>
            <p:cNvSpPr/>
            <p:nvPr/>
          </p:nvSpPr>
          <p:spPr>
            <a:xfrm>
              <a:off x="133350" y="6696075"/>
              <a:ext cx="5962650" cy="9525"/>
            </a:xfrm>
            <a:custGeom>
              <a:avLst/>
              <a:gdLst/>
              <a:ahLst/>
              <a:cxnLst/>
              <a:rect l="l" t="t" r="r" b="b"/>
              <a:pathLst>
                <a:path w="5962650" h="9525">
                  <a:moveTo>
                    <a:pt x="0" y="0"/>
                  </a:moveTo>
                  <a:lnTo>
                    <a:pt x="5962650" y="0"/>
                  </a:lnTo>
                </a:path>
              </a:pathLst>
            </a:custGeom>
            <a:noFill/>
            <a:ln w="9525">
              <a:solidFill>
                <a:srgbClr val="F1C7CC"/>
              </a:solidFill>
            </a:ln>
          </p:spPr>
        </p:sp>
      </p:grpSp>
      <p:grpSp>
        <p:nvGrpSpPr>
          <p:cNvPr id="285" name="trend"/>
          <p:cNvGrpSpPr/>
          <p:nvPr/>
        </p:nvGrpSpPr>
        <p:grpSpPr>
          <a:xfrm>
            <a:off x="6248400" y="4629150"/>
            <a:ext cx="5753100" cy="2076688"/>
            <a:chOff x="6248400" y="4629150"/>
            <a:chExt cx="5753100" cy="2076688"/>
          </a:xfrm>
        </p:grpSpPr>
        <p:sp>
          <p:nvSpPr>
            <p:cNvPr id="248" name="Rectangle 248"/>
            <p:cNvSpPr/>
            <p:nvPr/>
          </p:nvSpPr>
          <p:spPr>
            <a:xfrm>
              <a:off x="6248400" y="4629150"/>
              <a:ext cx="38100" cy="152400"/>
            </a:xfrm>
            <a:prstGeom prst="rect">
              <a:avLst/>
            </a:prstGeom>
            <a:solidFill>
              <a:srgbClr val="C83210"/>
            </a:solidFill>
            <a:ln>
              <a:noFill/>
            </a:ln>
          </p:spPr>
        </p:sp>
        <p:sp>
          <p:nvSpPr>
            <p:cNvPr id="249" name="TextBox 249"/>
            <p:cNvSpPr txBox="1"/>
            <p:nvPr/>
          </p:nvSpPr>
          <p:spPr>
            <a:xfrm>
              <a:off x="6357747" y="4647724"/>
              <a:ext cx="1407262" cy="190690"/>
            </a:xfrm>
            <a:prstGeom prst="rect">
              <a:avLst/>
            </a:prstGeom>
            <a:noFill/>
            <a:ln>
              <a:noFill/>
            </a:ln>
          </p:spPr>
          <p:txBody>
            <a:bodyPr wrap="none" lIns="0" tIns="0" rIns="0" bIns="0" anchor="t" anchorCtr="0">
              <a:spAutoFit/>
            </a:bodyPr>
            <a:lstStyle/>
            <a:p>
              <a:pPr algn="l"/>
              <a:r>
                <a:rPr lang="zh-CN" sz="980" b="1" dirty="0">
                  <a:solidFill>
                    <a:srgbClr val="C83210"/>
                  </a:solidFill>
                  <a:latin typeface="+mn-lt"/>
                  <a:ea typeface="+mn-ea"/>
                  <a:cs typeface="+mn-cs"/>
                </a:rPr>
                <a:t>试点效果趋势</a:t>
              </a:r>
              <a:r>
                <a:rPr lang="zh-CN" sz="750" b="1" dirty="0">
                  <a:solidFill>
                    <a:srgbClr val="808080"/>
                  </a:solidFill>
                  <a:latin typeface="+mn-lt"/>
                  <a:ea typeface="+mn-ea"/>
                  <a:cs typeface="+mn-cs"/>
                </a:rPr>
                <a:t>（关键指标）</a:t>
              </a:r>
            </a:p>
          </p:txBody>
        </p:sp>
        <p:sp>
          <p:nvSpPr>
            <p:cNvPr id="250" name="Rectangle 250"/>
            <p:cNvSpPr/>
            <p:nvPr/>
          </p:nvSpPr>
          <p:spPr>
            <a:xfrm>
              <a:off x="10763250" y="4667250"/>
              <a:ext cx="133350" cy="95250"/>
            </a:xfrm>
            <a:prstGeom prst="rect">
              <a:avLst/>
            </a:prstGeom>
            <a:solidFill>
              <a:srgbClr val="F3B2A3"/>
            </a:solidFill>
            <a:ln>
              <a:noFill/>
            </a:ln>
          </p:spPr>
        </p:sp>
        <p:sp>
          <p:nvSpPr>
            <p:cNvPr id="251" name="TextBox 251"/>
            <p:cNvSpPr txBox="1"/>
            <p:nvPr/>
          </p:nvSpPr>
          <p:spPr>
            <a:xfrm>
              <a:off x="10929938" y="4684157"/>
              <a:ext cx="181839"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基线</a:t>
              </a:r>
            </a:p>
          </p:txBody>
        </p:sp>
        <p:sp>
          <p:nvSpPr>
            <p:cNvPr id="252" name="Rectangle 252"/>
            <p:cNvSpPr/>
            <p:nvPr/>
          </p:nvSpPr>
          <p:spPr>
            <a:xfrm>
              <a:off x="11296650" y="4667250"/>
              <a:ext cx="133350" cy="95250"/>
            </a:xfrm>
            <a:prstGeom prst="rect">
              <a:avLst/>
            </a:prstGeom>
            <a:solidFill>
              <a:srgbClr val="C83210"/>
            </a:solidFill>
            <a:ln>
              <a:noFill/>
            </a:ln>
          </p:spPr>
        </p:sp>
        <p:sp>
          <p:nvSpPr>
            <p:cNvPr id="253" name="TextBox 253"/>
            <p:cNvSpPr txBox="1"/>
            <p:nvPr/>
          </p:nvSpPr>
          <p:spPr>
            <a:xfrm>
              <a:off x="11463338" y="4684157"/>
              <a:ext cx="448925" cy="126206"/>
            </a:xfrm>
            <a:prstGeom prst="rect">
              <a:avLst/>
            </a:prstGeom>
            <a:noFill/>
            <a:ln>
              <a:noFill/>
            </a:ln>
          </p:spPr>
          <p:txBody>
            <a:bodyPr wrap="none" lIns="0" tIns="0" rIns="0" bIns="0" anchor="t" anchorCtr="0">
              <a:spAutoFit/>
            </a:bodyPr>
            <a:lstStyle/>
            <a:p>
              <a:pPr algn="l"/>
              <a:r>
                <a:rPr lang="zh-CN" sz="640" dirty="0">
                  <a:solidFill>
                    <a:srgbClr val="3D3D3D"/>
                  </a:solidFill>
                  <a:latin typeface="+mn-lt"/>
                  <a:ea typeface="+mn-ea"/>
                  <a:cs typeface="+mn-cs"/>
                </a:rPr>
                <a:t xml:space="preserve">90天目标　</a:t>
              </a:r>
            </a:p>
          </p:txBody>
        </p:sp>
        <p:sp>
          <p:nvSpPr>
            <p:cNvPr id="254" name="Line 254"/>
            <p:cNvSpPr/>
            <p:nvPr/>
          </p:nvSpPr>
          <p:spPr>
            <a:xfrm>
              <a:off x="6286500" y="6477000"/>
              <a:ext cx="5715000" cy="9525"/>
            </a:xfrm>
            <a:custGeom>
              <a:avLst/>
              <a:gdLst/>
              <a:ahLst/>
              <a:cxnLst/>
              <a:rect l="l" t="t" r="r" b="b"/>
              <a:pathLst>
                <a:path w="5715000" h="9525">
                  <a:moveTo>
                    <a:pt x="0" y="0"/>
                  </a:moveTo>
                  <a:lnTo>
                    <a:pt x="5715000" y="0"/>
                  </a:lnTo>
                </a:path>
              </a:pathLst>
            </a:custGeom>
            <a:noFill/>
            <a:ln w="9525">
              <a:solidFill>
                <a:srgbClr val="808080"/>
              </a:solidFill>
            </a:ln>
          </p:spPr>
        </p:sp>
        <p:sp>
          <p:nvSpPr>
            <p:cNvPr id="255" name="Rectangle 255"/>
            <p:cNvSpPr/>
            <p:nvPr/>
          </p:nvSpPr>
          <p:spPr>
            <a:xfrm>
              <a:off x="6600825" y="5943600"/>
              <a:ext cx="323850" cy="533400"/>
            </a:xfrm>
            <a:prstGeom prst="rect">
              <a:avLst/>
            </a:prstGeom>
            <a:solidFill>
              <a:srgbClr val="F3B2A3"/>
            </a:solidFill>
            <a:ln>
              <a:noFill/>
            </a:ln>
          </p:spPr>
        </p:sp>
        <p:sp>
          <p:nvSpPr>
            <p:cNvPr id="256" name="Rectangle 256"/>
            <p:cNvSpPr/>
            <p:nvPr/>
          </p:nvSpPr>
          <p:spPr>
            <a:xfrm>
              <a:off x="6981825" y="5581650"/>
              <a:ext cx="323850" cy="895350"/>
            </a:xfrm>
            <a:prstGeom prst="rect">
              <a:avLst/>
            </a:prstGeom>
            <a:solidFill>
              <a:srgbClr val="C83210"/>
            </a:solidFill>
            <a:ln>
              <a:noFill/>
            </a:ln>
          </p:spPr>
        </p:sp>
        <p:sp>
          <p:nvSpPr>
            <p:cNvPr id="257" name="TextBox 257"/>
            <p:cNvSpPr txBox="1"/>
            <p:nvPr/>
          </p:nvSpPr>
          <p:spPr>
            <a:xfrm>
              <a:off x="6677151" y="5831205"/>
              <a:ext cx="171198"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Arial"/>
                  <a:ea typeface="Arial"/>
                  <a:cs typeface="Arial"/>
                </a:rPr>
                <a:t>30%</a:t>
              </a:r>
            </a:p>
          </p:txBody>
        </p:sp>
        <p:sp>
          <p:nvSpPr>
            <p:cNvPr id="258" name="TextBox 258"/>
            <p:cNvSpPr txBox="1"/>
            <p:nvPr/>
          </p:nvSpPr>
          <p:spPr>
            <a:xfrm>
              <a:off x="7058151" y="5469255"/>
              <a:ext cx="171198"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Arial"/>
                  <a:ea typeface="Arial"/>
                  <a:cs typeface="Arial"/>
                </a:rPr>
                <a:t>50%</a:t>
              </a:r>
            </a:p>
          </p:txBody>
        </p:sp>
        <p:sp>
          <p:nvSpPr>
            <p:cNvPr id="259" name="TextBox 259"/>
            <p:cNvSpPr txBox="1"/>
            <p:nvPr/>
          </p:nvSpPr>
          <p:spPr>
            <a:xfrm>
              <a:off x="6822785" y="5284232"/>
              <a:ext cx="260931"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+20pp</a:t>
              </a:r>
            </a:p>
          </p:txBody>
        </p:sp>
        <p:sp>
          <p:nvSpPr>
            <p:cNvPr id="260" name="TextBox 260"/>
            <p:cNvSpPr txBox="1"/>
            <p:nvPr/>
          </p:nvSpPr>
          <p:spPr>
            <a:xfrm>
              <a:off x="6733096" y="6579632"/>
              <a:ext cx="4403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企微认证率</a:t>
              </a:r>
            </a:p>
          </p:txBody>
        </p:sp>
        <p:sp>
          <p:nvSpPr>
            <p:cNvPr id="261" name="Rectangle 261"/>
            <p:cNvSpPr/>
            <p:nvPr/>
          </p:nvSpPr>
          <p:spPr>
            <a:xfrm>
              <a:off x="7772400" y="5581650"/>
              <a:ext cx="323850" cy="895350"/>
            </a:xfrm>
            <a:prstGeom prst="rect">
              <a:avLst/>
            </a:prstGeom>
            <a:solidFill>
              <a:srgbClr val="F3B2A3"/>
            </a:solidFill>
            <a:ln>
              <a:noFill/>
            </a:ln>
          </p:spPr>
        </p:sp>
        <p:sp>
          <p:nvSpPr>
            <p:cNvPr id="262" name="Rectangle 262"/>
            <p:cNvSpPr/>
            <p:nvPr/>
          </p:nvSpPr>
          <p:spPr>
            <a:xfrm>
              <a:off x="8153400" y="5048250"/>
              <a:ext cx="323850" cy="1428750"/>
            </a:xfrm>
            <a:prstGeom prst="rect">
              <a:avLst/>
            </a:prstGeom>
            <a:solidFill>
              <a:srgbClr val="C83210"/>
            </a:solidFill>
            <a:ln>
              <a:noFill/>
            </a:ln>
          </p:spPr>
        </p:sp>
        <p:sp>
          <p:nvSpPr>
            <p:cNvPr id="263" name="TextBox 263"/>
            <p:cNvSpPr txBox="1"/>
            <p:nvPr/>
          </p:nvSpPr>
          <p:spPr>
            <a:xfrm>
              <a:off x="7848726" y="5469255"/>
              <a:ext cx="171198"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Arial"/>
                  <a:ea typeface="Arial"/>
                  <a:cs typeface="Arial"/>
                </a:rPr>
                <a:t>50%</a:t>
              </a:r>
            </a:p>
          </p:txBody>
        </p:sp>
        <p:sp>
          <p:nvSpPr>
            <p:cNvPr id="264" name="TextBox 264"/>
            <p:cNvSpPr txBox="1"/>
            <p:nvPr/>
          </p:nvSpPr>
          <p:spPr>
            <a:xfrm>
              <a:off x="8229726" y="4935855"/>
              <a:ext cx="171198"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Arial"/>
                  <a:ea typeface="Arial"/>
                  <a:cs typeface="Arial"/>
                </a:rPr>
                <a:t>80%</a:t>
              </a:r>
            </a:p>
          </p:txBody>
        </p:sp>
        <p:sp>
          <p:nvSpPr>
            <p:cNvPr id="265" name="TextBox 265"/>
            <p:cNvSpPr txBox="1"/>
            <p:nvPr/>
          </p:nvSpPr>
          <p:spPr>
            <a:xfrm>
              <a:off x="7994360" y="4798457"/>
              <a:ext cx="260931"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+30pp</a:t>
              </a:r>
            </a:p>
          </p:txBody>
        </p:sp>
        <p:sp>
          <p:nvSpPr>
            <p:cNvPr id="266" name="TextBox 266"/>
            <p:cNvSpPr txBox="1"/>
            <p:nvPr/>
          </p:nvSpPr>
          <p:spPr>
            <a:xfrm>
              <a:off x="7904670" y="6579632"/>
              <a:ext cx="4403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标签完整率</a:t>
              </a:r>
            </a:p>
          </p:txBody>
        </p:sp>
        <p:sp>
          <p:nvSpPr>
            <p:cNvPr id="267" name="Rectangle 267"/>
            <p:cNvSpPr/>
            <p:nvPr/>
          </p:nvSpPr>
          <p:spPr>
            <a:xfrm>
              <a:off x="8943975" y="6210300"/>
              <a:ext cx="323850" cy="266700"/>
            </a:xfrm>
            <a:prstGeom prst="rect">
              <a:avLst/>
            </a:prstGeom>
            <a:solidFill>
              <a:srgbClr val="F3B2A3"/>
            </a:solidFill>
            <a:ln>
              <a:noFill/>
            </a:ln>
          </p:spPr>
        </p:sp>
        <p:sp>
          <p:nvSpPr>
            <p:cNvPr id="268" name="Rectangle 268"/>
            <p:cNvSpPr/>
            <p:nvPr/>
          </p:nvSpPr>
          <p:spPr>
            <a:xfrm>
              <a:off x="9324975" y="5848350"/>
              <a:ext cx="323850" cy="628650"/>
            </a:xfrm>
            <a:prstGeom prst="rect">
              <a:avLst/>
            </a:prstGeom>
            <a:solidFill>
              <a:srgbClr val="C83210"/>
            </a:solidFill>
            <a:ln>
              <a:noFill/>
            </a:ln>
          </p:spPr>
        </p:sp>
        <p:sp>
          <p:nvSpPr>
            <p:cNvPr id="269" name="TextBox 269"/>
            <p:cNvSpPr txBox="1"/>
            <p:nvPr/>
          </p:nvSpPr>
          <p:spPr>
            <a:xfrm>
              <a:off x="9020301" y="6097905"/>
              <a:ext cx="171198"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Arial"/>
                  <a:ea typeface="Arial"/>
                  <a:cs typeface="Arial"/>
                </a:rPr>
                <a:t>15%</a:t>
              </a:r>
            </a:p>
          </p:txBody>
        </p:sp>
        <p:sp>
          <p:nvSpPr>
            <p:cNvPr id="270" name="TextBox 270"/>
            <p:cNvSpPr txBox="1"/>
            <p:nvPr/>
          </p:nvSpPr>
          <p:spPr>
            <a:xfrm>
              <a:off x="9401301" y="5735955"/>
              <a:ext cx="171198"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Arial"/>
                  <a:ea typeface="Arial"/>
                  <a:cs typeface="Arial"/>
                </a:rPr>
                <a:t>35%</a:t>
              </a:r>
            </a:p>
          </p:txBody>
        </p:sp>
        <p:sp>
          <p:nvSpPr>
            <p:cNvPr id="271" name="TextBox 271"/>
            <p:cNvSpPr txBox="1"/>
            <p:nvPr/>
          </p:nvSpPr>
          <p:spPr>
            <a:xfrm>
              <a:off x="9165935" y="5569982"/>
              <a:ext cx="260931"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+20pp</a:t>
              </a:r>
            </a:p>
          </p:txBody>
        </p:sp>
        <p:sp>
          <p:nvSpPr>
            <p:cNvPr id="272" name="TextBox 272"/>
            <p:cNvSpPr txBox="1"/>
            <p:nvPr/>
          </p:nvSpPr>
          <p:spPr>
            <a:xfrm>
              <a:off x="9076246" y="6579632"/>
              <a:ext cx="440309"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有效互动率</a:t>
              </a:r>
            </a:p>
          </p:txBody>
        </p:sp>
        <p:sp>
          <p:nvSpPr>
            <p:cNvPr id="273" name="Rectangle 273"/>
            <p:cNvSpPr/>
            <p:nvPr/>
          </p:nvSpPr>
          <p:spPr>
            <a:xfrm>
              <a:off x="10115550" y="6334125"/>
              <a:ext cx="323850" cy="142875"/>
            </a:xfrm>
            <a:prstGeom prst="rect">
              <a:avLst/>
            </a:prstGeom>
            <a:solidFill>
              <a:srgbClr val="F3B2A3"/>
            </a:solidFill>
            <a:ln>
              <a:noFill/>
            </a:ln>
          </p:spPr>
        </p:sp>
        <p:sp>
          <p:nvSpPr>
            <p:cNvPr id="274" name="Rectangle 274"/>
            <p:cNvSpPr/>
            <p:nvPr/>
          </p:nvSpPr>
          <p:spPr>
            <a:xfrm>
              <a:off x="10496550" y="6029325"/>
              <a:ext cx="323850" cy="447675"/>
            </a:xfrm>
            <a:prstGeom prst="rect">
              <a:avLst/>
            </a:prstGeom>
            <a:solidFill>
              <a:srgbClr val="C83210"/>
            </a:solidFill>
            <a:ln>
              <a:noFill/>
            </a:ln>
          </p:spPr>
        </p:sp>
        <p:sp>
          <p:nvSpPr>
            <p:cNvPr id="275" name="TextBox 275"/>
            <p:cNvSpPr txBox="1"/>
            <p:nvPr/>
          </p:nvSpPr>
          <p:spPr>
            <a:xfrm>
              <a:off x="10214339" y="6221730"/>
              <a:ext cx="126273"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Arial"/>
                  <a:ea typeface="Arial"/>
                  <a:cs typeface="Arial"/>
                </a:rPr>
                <a:t>8%</a:t>
              </a:r>
            </a:p>
          </p:txBody>
        </p:sp>
        <p:sp>
          <p:nvSpPr>
            <p:cNvPr id="276" name="TextBox 276"/>
            <p:cNvSpPr txBox="1"/>
            <p:nvPr/>
          </p:nvSpPr>
          <p:spPr>
            <a:xfrm>
              <a:off x="10572876" y="5916930"/>
              <a:ext cx="171198"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Arial"/>
                  <a:ea typeface="Arial"/>
                  <a:cs typeface="Arial"/>
                </a:rPr>
                <a:t>25%</a:t>
              </a:r>
            </a:p>
          </p:txBody>
        </p:sp>
        <p:sp>
          <p:nvSpPr>
            <p:cNvPr id="277" name="TextBox 277"/>
            <p:cNvSpPr txBox="1"/>
            <p:nvPr/>
          </p:nvSpPr>
          <p:spPr>
            <a:xfrm>
              <a:off x="10337510" y="5760482"/>
              <a:ext cx="260931"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+17pp</a:t>
              </a:r>
            </a:p>
          </p:txBody>
        </p:sp>
        <p:sp>
          <p:nvSpPr>
            <p:cNvPr id="278" name="TextBox 278"/>
            <p:cNvSpPr txBox="1"/>
            <p:nvPr/>
          </p:nvSpPr>
          <p:spPr>
            <a:xfrm>
              <a:off x="10161664" y="6579632"/>
              <a:ext cx="612623"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长尾客户激活率</a:t>
              </a:r>
            </a:p>
          </p:txBody>
        </p:sp>
        <p:sp>
          <p:nvSpPr>
            <p:cNvPr id="279" name="Rectangle 279"/>
            <p:cNvSpPr/>
            <p:nvPr/>
          </p:nvSpPr>
          <p:spPr>
            <a:xfrm>
              <a:off x="11287125" y="6400800"/>
              <a:ext cx="323850" cy="76200"/>
            </a:xfrm>
            <a:prstGeom prst="rect">
              <a:avLst/>
            </a:prstGeom>
            <a:solidFill>
              <a:srgbClr val="F3B2A3"/>
            </a:solidFill>
            <a:ln>
              <a:noFill/>
            </a:ln>
          </p:spPr>
        </p:sp>
        <p:sp>
          <p:nvSpPr>
            <p:cNvPr id="280" name="Rectangle 280"/>
            <p:cNvSpPr/>
            <p:nvPr/>
          </p:nvSpPr>
          <p:spPr>
            <a:xfrm>
              <a:off x="11668125" y="6438900"/>
              <a:ext cx="323850" cy="38100"/>
            </a:xfrm>
            <a:prstGeom prst="rect">
              <a:avLst/>
            </a:prstGeom>
            <a:solidFill>
              <a:srgbClr val="C83210"/>
            </a:solidFill>
            <a:ln>
              <a:noFill/>
            </a:ln>
          </p:spPr>
        </p:sp>
        <p:sp>
          <p:nvSpPr>
            <p:cNvPr id="281" name="TextBox 281"/>
            <p:cNvSpPr txBox="1"/>
            <p:nvPr/>
          </p:nvSpPr>
          <p:spPr>
            <a:xfrm>
              <a:off x="11329769" y="6288405"/>
              <a:ext cx="238562" cy="119062"/>
            </a:xfrm>
            <a:prstGeom prst="rect">
              <a:avLst/>
            </a:prstGeom>
            <a:noFill/>
            <a:ln>
              <a:noFill/>
            </a:ln>
          </p:spPr>
          <p:txBody>
            <a:bodyPr wrap="none" lIns="0" tIns="0" rIns="0" bIns="0" anchor="t" anchorCtr="0">
              <a:spAutoFit/>
            </a:bodyPr>
            <a:lstStyle/>
            <a:p>
              <a:pPr algn="ctr"/>
              <a:r>
                <a:rPr lang="zh-CN" sz="600" dirty="0">
                  <a:solidFill>
                    <a:srgbClr val="3D3D3D"/>
                  </a:solidFill>
                  <a:latin typeface="Arial"/>
                  <a:ea typeface="Arial"/>
                  <a:cs typeface="Arial"/>
                </a:rPr>
                <a:t>0.10%</a:t>
              </a:r>
            </a:p>
          </p:txBody>
        </p:sp>
        <p:sp>
          <p:nvSpPr>
            <p:cNvPr id="282" name="TextBox 282"/>
            <p:cNvSpPr txBox="1"/>
            <p:nvPr/>
          </p:nvSpPr>
          <p:spPr>
            <a:xfrm>
              <a:off x="11687184" y="6288405"/>
              <a:ext cx="285733" cy="119062"/>
            </a:xfrm>
            <a:prstGeom prst="rect">
              <a:avLst/>
            </a:prstGeom>
            <a:noFill/>
            <a:ln>
              <a:noFill/>
            </a:ln>
          </p:spPr>
          <p:txBody>
            <a:bodyPr wrap="none" lIns="0" tIns="0" rIns="0" bIns="0" anchor="t" anchorCtr="0">
              <a:spAutoFit/>
            </a:bodyPr>
            <a:lstStyle/>
            <a:p>
              <a:pPr algn="ctr"/>
              <a:r>
                <a:rPr lang="zh-CN" sz="600" b="1" dirty="0">
                  <a:solidFill>
                    <a:srgbClr val="C83210"/>
                  </a:solidFill>
                  <a:latin typeface="Arial"/>
                  <a:ea typeface="Arial"/>
                  <a:cs typeface="Arial"/>
                </a:rPr>
                <a:t>&lt;0.05%</a:t>
              </a:r>
            </a:p>
          </p:txBody>
        </p:sp>
        <p:sp>
          <p:nvSpPr>
            <p:cNvPr id="283" name="TextBox 283"/>
            <p:cNvSpPr txBox="1"/>
            <p:nvPr/>
          </p:nvSpPr>
          <p:spPr>
            <a:xfrm>
              <a:off x="11483970" y="6103382"/>
              <a:ext cx="311160" cy="126206"/>
            </a:xfrm>
            <a:prstGeom prst="rect">
              <a:avLst/>
            </a:prstGeom>
            <a:noFill/>
            <a:ln>
              <a:noFill/>
            </a:ln>
          </p:spPr>
          <p:txBody>
            <a:bodyPr wrap="none" lIns="0" tIns="0" rIns="0" bIns="0" anchor="t" anchorCtr="0">
              <a:spAutoFit/>
            </a:bodyPr>
            <a:lstStyle/>
            <a:p>
              <a:pPr algn="ctr"/>
              <a:r>
                <a:rPr lang="en-US" sz="640" b="1" dirty="0">
                  <a:solidFill>
                    <a:srgbClr val="C83210"/>
                  </a:solidFill>
                  <a:latin typeface="Arial"/>
                  <a:ea typeface="Arial"/>
                  <a:cs typeface="Arial"/>
                </a:rPr>
                <a:t>-0.05pp</a:t>
              </a:r>
            </a:p>
          </p:txBody>
        </p:sp>
        <p:sp>
          <p:nvSpPr>
            <p:cNvPr id="284" name="TextBox 284"/>
            <p:cNvSpPr txBox="1"/>
            <p:nvPr/>
          </p:nvSpPr>
          <p:spPr>
            <a:xfrm>
              <a:off x="11505552" y="6579632"/>
              <a:ext cx="267995" cy="126206"/>
            </a:xfrm>
            <a:prstGeom prst="rect">
              <a:avLst/>
            </a:prstGeom>
            <a:noFill/>
            <a:ln>
              <a:noFill/>
            </a:ln>
          </p:spPr>
          <p:txBody>
            <a:bodyPr wrap="none" lIns="0" tIns="0" rIns="0" bIns="0" anchor="t" anchorCtr="0">
              <a:spAutoFit/>
            </a:bodyPr>
            <a:lstStyle/>
            <a:p>
              <a:pPr algn="ctr"/>
              <a:r>
                <a:rPr lang="zh-CN" sz="640" dirty="0">
                  <a:solidFill>
                    <a:srgbClr val="3D3D3D"/>
                  </a:solidFill>
                  <a:latin typeface="+mn-lt"/>
                  <a:ea typeface="+mn-ea"/>
                  <a:cs typeface="+mn-cs"/>
                </a:rPr>
                <a:t>客诉率</a:t>
              </a:r>
            </a:p>
          </p:txBody>
        </p:sp>
      </p:gr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8321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18</a:t>
              </a:r>
            </a:p>
          </p:txBody>
        </p:sp>
        <p:sp>
          <p:nvSpPr>
            <p:cNvPr id="4" name="TextBox 4"/>
            <p:cNvSpPr txBox="1"/>
            <p:nvPr/>
          </p:nvSpPr>
          <p:spPr>
            <a:xfrm>
              <a:off x="942594" y="151448"/>
              <a:ext cx="5844540" cy="381381"/>
            </a:xfrm>
            <a:prstGeom prst="rect">
              <a:avLst/>
            </a:prstGeom>
            <a:noFill/>
            <a:ln>
              <a:noFill/>
            </a:ln>
          </p:spPr>
          <p:txBody>
            <a:bodyPr wrap="none" lIns="0" tIns="0" rIns="0" bIns="0" anchor="t" anchorCtr="0">
              <a:spAutoFit/>
            </a:bodyPr>
            <a:lstStyle/>
            <a:p>
              <a:pPr algn="l"/>
              <a:r>
                <a:rPr lang="zh-CN" sz="1950" b="1" dirty="0">
                  <a:solidFill>
                    <a:srgbClr val="C83210"/>
                  </a:solidFill>
                  <a:latin typeface="SimSun"/>
                  <a:ea typeface="SimSun"/>
                  <a:cs typeface="SimSun"/>
                </a:rPr>
                <a:t>落地蓝图</a:t>
              </a:r>
              <a:r>
                <a:rPr lang="zh-CN" sz="1950" b="1" dirty="0">
                  <a:solidFill>
                    <a:srgbClr val="222222"/>
                  </a:solidFill>
                  <a:latin typeface="SimSun"/>
                  <a:ea typeface="SimSun"/>
                  <a:cs typeface="SimSun"/>
                </a:rPr>
                <a:t>｜形成可复制的企微客户经营操作系统</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83210"/>
              </a:solidFill>
            </a:ln>
          </p:spPr>
        </p:sp>
      </p:grpSp>
      <p:grpSp>
        <p:nvGrpSpPr>
          <p:cNvPr id="47" name="sources"/>
          <p:cNvGrpSpPr/>
          <p:nvPr/>
        </p:nvGrpSpPr>
        <p:grpSpPr>
          <a:xfrm>
            <a:off x="133350" y="628650"/>
            <a:ext cx="1485900" cy="3295650"/>
            <a:chOff x="133350" y="628650"/>
            <a:chExt cx="1485900" cy="3295650"/>
          </a:xfrm>
        </p:grpSpPr>
        <p:sp>
          <p:nvSpPr>
            <p:cNvPr id="7" name="Rectangle 7"/>
            <p:cNvSpPr/>
            <p:nvPr/>
          </p:nvSpPr>
          <p:spPr>
            <a:xfrm>
              <a:off x="133350" y="628650"/>
              <a:ext cx="1485900" cy="3295650"/>
            </a:xfrm>
            <a:prstGeom prst="roundRect">
              <a:avLst>
                <a:gd name="adj" fmla="val 3846"/>
              </a:avLst>
            </a:prstGeom>
            <a:solidFill>
              <a:srgbClr val="FDEFF1"/>
            </a:solidFill>
            <a:ln>
              <a:noFill/>
            </a:ln>
          </p:spPr>
        </p:sp>
        <p:sp>
          <p:nvSpPr>
            <p:cNvPr id="8" name="Rectangle 8"/>
            <p:cNvSpPr/>
            <p:nvPr/>
          </p:nvSpPr>
          <p:spPr>
            <a:xfrm>
              <a:off x="133350" y="628650"/>
              <a:ext cx="1485900" cy="228600"/>
            </a:xfrm>
            <a:prstGeom prst="roundRect">
              <a:avLst>
                <a:gd name="adj" fmla="val 25000"/>
              </a:avLst>
            </a:prstGeom>
            <a:solidFill>
              <a:srgbClr val="C83210"/>
            </a:solidFill>
            <a:ln>
              <a:noFill/>
            </a:ln>
          </p:spPr>
        </p:sp>
        <p:sp>
          <p:nvSpPr>
            <p:cNvPr id="9" name="TextBox 9"/>
            <p:cNvSpPr txBox="1"/>
            <p:nvPr/>
          </p:nvSpPr>
          <p:spPr>
            <a:xfrm>
              <a:off x="242888" y="6919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客户来源</a:t>
              </a:r>
            </a:p>
          </p:txBody>
        </p:sp>
        <p:sp>
          <p:nvSpPr>
            <p:cNvPr id="10" name="Ellipse 10"/>
            <p:cNvSpPr/>
            <p:nvPr/>
          </p:nvSpPr>
          <p:spPr>
            <a:xfrm>
              <a:off x="219075" y="1000125"/>
              <a:ext cx="247650" cy="247650"/>
            </a:xfrm>
            <a:prstGeom prst="ellipse">
              <a:avLst/>
            </a:prstGeom>
            <a:solidFill>
              <a:srgbClr val="FFFFFF"/>
            </a:solidFill>
            <a:ln>
              <a:noFill/>
            </a:ln>
          </p:spPr>
        </p:sp>
        <p:grpSp>
          <p:nvGrpSpPr>
            <p:cNvPr id="14" name="Group 14"/>
            <p:cNvGrpSpPr/>
            <p:nvPr/>
          </p:nvGrpSpPr>
          <p:grpSpPr>
            <a:xfrm>
              <a:off x="285750" y="1066800"/>
              <a:ext cx="114300" cy="114300"/>
              <a:chOff x="285750" y="1066800"/>
              <a:chExt cx="114300" cy="114300"/>
            </a:xfrm>
          </p:grpSpPr>
          <p:sp>
            <p:nvSpPr>
              <p:cNvPr id="11" name="Freeform 11"/>
              <p:cNvSpPr/>
              <p:nvPr/>
            </p:nvSpPr>
            <p:spPr>
              <a:xfrm>
                <a:off x="285750" y="1066800"/>
                <a:ext cx="114300" cy="57150"/>
              </a:xfrm>
              <a:custGeom>
                <a:avLst/>
                <a:gdLst/>
                <a:ahLst/>
                <a:cxnLst/>
                <a:rect l="l" t="t" r="r" b="b"/>
                <a:pathLst>
                  <a:path w="114300" h="57150">
                    <a:moveTo>
                      <a:pt x="12700" y="57150"/>
                    </a:moveTo>
                    <a:lnTo>
                      <a:pt x="0" y="57150"/>
                    </a:lnTo>
                    <a:lnTo>
                      <a:pt x="57150" y="0"/>
                    </a:lnTo>
                    <a:lnTo>
                      <a:pt x="114300" y="57150"/>
                    </a:lnTo>
                    <a:lnTo>
                      <a:pt x="101600" y="57150"/>
                    </a:lnTo>
                  </a:path>
                </a:pathLst>
              </a:custGeom>
              <a:noFill/>
              <a:ln w="12700">
                <a:solidFill>
                  <a:srgbClr val="C83210"/>
                </a:solidFill>
              </a:ln>
            </p:spPr>
          </p:sp>
          <p:sp>
            <p:nvSpPr>
              <p:cNvPr id="12" name="Freeform 12"/>
              <p:cNvSpPr/>
              <p:nvPr/>
            </p:nvSpPr>
            <p:spPr>
              <a:xfrm>
                <a:off x="298450" y="1123950"/>
                <a:ext cx="88900" cy="57150"/>
              </a:xfrm>
              <a:custGeom>
                <a:avLst/>
                <a:gdLst/>
                <a:ahLst/>
                <a:cxnLst/>
                <a:rect l="l" t="t" r="r" b="b"/>
                <a:pathLst>
                  <a:path w="88900" h="57150">
                    <a:moveTo>
                      <a:pt x="0" y="0"/>
                    </a:moveTo>
                    <a:lnTo>
                      <a:pt x="0" y="44450"/>
                    </a:lnTo>
                    <a:cubicBezTo>
                      <a:pt x="0" y="51464"/>
                      <a:pt x="5686" y="57150"/>
                      <a:pt x="12700" y="57150"/>
                    </a:cubicBezTo>
                    <a:lnTo>
                      <a:pt x="76200" y="57150"/>
                    </a:lnTo>
                    <a:cubicBezTo>
                      <a:pt x="83214" y="57150"/>
                      <a:pt x="88900" y="51464"/>
                      <a:pt x="88900" y="44450"/>
                    </a:cubicBezTo>
                    <a:lnTo>
                      <a:pt x="88900" y="0"/>
                    </a:lnTo>
                  </a:path>
                </a:pathLst>
              </a:custGeom>
              <a:noFill/>
              <a:ln w="12700">
                <a:solidFill>
                  <a:srgbClr val="C83210"/>
                </a:solidFill>
              </a:ln>
            </p:spPr>
          </p:sp>
          <p:sp>
            <p:nvSpPr>
              <p:cNvPr id="13" name="Freeform 13"/>
              <p:cNvSpPr/>
              <p:nvPr/>
            </p:nvSpPr>
            <p:spPr>
              <a:xfrm>
                <a:off x="323850" y="1130300"/>
                <a:ext cx="38100" cy="50800"/>
              </a:xfrm>
              <a:custGeom>
                <a:avLst/>
                <a:gdLst/>
                <a:ahLst/>
                <a:cxnLst/>
                <a:rect l="l" t="t" r="r" b="b"/>
                <a:pathLst>
                  <a:path w="38100" h="50800">
                    <a:moveTo>
                      <a:pt x="0" y="50800"/>
                    </a:moveTo>
                    <a:lnTo>
                      <a:pt x="0" y="12700"/>
                    </a:lnTo>
                    <a:cubicBezTo>
                      <a:pt x="0" y="5686"/>
                      <a:pt x="5686" y="0"/>
                      <a:pt x="12700" y="0"/>
                    </a:cubicBezTo>
                    <a:lnTo>
                      <a:pt x="25400" y="0"/>
                    </a:lnTo>
                    <a:cubicBezTo>
                      <a:pt x="32414" y="0"/>
                      <a:pt x="38100" y="5686"/>
                      <a:pt x="38100" y="12700"/>
                    </a:cubicBezTo>
                    <a:lnTo>
                      <a:pt x="38100" y="50800"/>
                    </a:lnTo>
                  </a:path>
                </a:pathLst>
              </a:custGeom>
              <a:noFill/>
              <a:ln w="12700">
                <a:solidFill>
                  <a:srgbClr val="C83210"/>
                </a:solidFill>
              </a:ln>
            </p:spPr>
          </p:sp>
        </p:grpSp>
        <p:sp>
          <p:nvSpPr>
            <p:cNvPr id="15" name="TextBox 15"/>
            <p:cNvSpPr txBox="1"/>
            <p:nvPr/>
          </p:nvSpPr>
          <p:spPr>
            <a:xfrm>
              <a:off x="528638" y="1027986"/>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网点到店</a:t>
              </a:r>
            </a:p>
          </p:txBody>
        </p:sp>
        <p:sp>
          <p:nvSpPr>
            <p:cNvPr id="16" name="TextBox 16"/>
            <p:cNvSpPr txBox="1"/>
            <p:nvPr/>
          </p:nvSpPr>
          <p:spPr>
            <a:xfrm>
              <a:off x="528638" y="1177528"/>
              <a:ext cx="635239"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厅堂 / 柜面 / 活动</a:t>
              </a:r>
            </a:p>
          </p:txBody>
        </p:sp>
        <p:sp>
          <p:nvSpPr>
            <p:cNvPr id="17" name="Ellipse 17"/>
            <p:cNvSpPr/>
            <p:nvPr/>
          </p:nvSpPr>
          <p:spPr>
            <a:xfrm>
              <a:off x="219075" y="1590675"/>
              <a:ext cx="247650" cy="247650"/>
            </a:xfrm>
            <a:prstGeom prst="ellipse">
              <a:avLst/>
            </a:prstGeom>
            <a:solidFill>
              <a:srgbClr val="FFFFFF"/>
            </a:solidFill>
            <a:ln>
              <a:noFill/>
            </a:ln>
          </p:spPr>
        </p:sp>
        <p:grpSp>
          <p:nvGrpSpPr>
            <p:cNvPr id="21" name="Group 21"/>
            <p:cNvGrpSpPr/>
            <p:nvPr/>
          </p:nvGrpSpPr>
          <p:grpSpPr>
            <a:xfrm>
              <a:off x="304800" y="1657350"/>
              <a:ext cx="76200" cy="114300"/>
              <a:chOff x="304800" y="1657350"/>
              <a:chExt cx="76200" cy="114300"/>
            </a:xfrm>
          </p:grpSpPr>
          <p:sp>
            <p:nvSpPr>
              <p:cNvPr id="18" name="Freeform 18"/>
              <p:cNvSpPr/>
              <p:nvPr/>
            </p:nvSpPr>
            <p:spPr>
              <a:xfrm>
                <a:off x="304800" y="165735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C83210"/>
                </a:solidFill>
              </a:ln>
            </p:spPr>
          </p:sp>
          <p:sp>
            <p:nvSpPr>
              <p:cNvPr id="19" name="Freeform 19"/>
              <p:cNvSpPr/>
              <p:nvPr/>
            </p:nvSpPr>
            <p:spPr>
              <a:xfrm>
                <a:off x="336550" y="1663700"/>
                <a:ext cx="12700" cy="9525"/>
              </a:xfrm>
              <a:custGeom>
                <a:avLst/>
                <a:gdLst/>
                <a:ahLst/>
                <a:cxnLst/>
                <a:rect l="l" t="t" r="r" b="b"/>
                <a:pathLst>
                  <a:path w="12700" h="9525">
                    <a:moveTo>
                      <a:pt x="0" y="0"/>
                    </a:moveTo>
                    <a:lnTo>
                      <a:pt x="12700" y="0"/>
                    </a:lnTo>
                  </a:path>
                </a:pathLst>
              </a:custGeom>
              <a:noFill/>
              <a:ln w="12700">
                <a:solidFill>
                  <a:srgbClr val="C83210"/>
                </a:solidFill>
              </a:ln>
            </p:spPr>
          </p:sp>
          <p:sp>
            <p:nvSpPr>
              <p:cNvPr id="20" name="Freeform 20"/>
              <p:cNvSpPr/>
              <p:nvPr/>
            </p:nvSpPr>
            <p:spPr>
              <a:xfrm>
                <a:off x="342900" y="1746250"/>
                <a:ext cx="9525" cy="9525"/>
              </a:xfrm>
              <a:custGeom>
                <a:avLst/>
                <a:gdLst/>
                <a:ahLst/>
                <a:cxnLst/>
                <a:rect l="l" t="t" r="r" b="b"/>
                <a:pathLst>
                  <a:path w="9525" h="9525">
                    <a:moveTo>
                      <a:pt x="0" y="0"/>
                    </a:moveTo>
                    <a:lnTo>
                      <a:pt x="0" y="64"/>
                    </a:lnTo>
                  </a:path>
                </a:pathLst>
              </a:custGeom>
              <a:noFill/>
              <a:ln w="12700">
                <a:solidFill>
                  <a:srgbClr val="C83210"/>
                </a:solidFill>
              </a:ln>
            </p:spPr>
          </p:sp>
        </p:grpSp>
        <p:sp>
          <p:nvSpPr>
            <p:cNvPr id="22" name="TextBox 22"/>
            <p:cNvSpPr txBox="1"/>
            <p:nvPr/>
          </p:nvSpPr>
          <p:spPr>
            <a:xfrm>
              <a:off x="528638" y="1618536"/>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线上渠道</a:t>
              </a:r>
            </a:p>
          </p:txBody>
        </p:sp>
        <p:sp>
          <p:nvSpPr>
            <p:cNvPr id="23" name="TextBox 23"/>
            <p:cNvSpPr txBox="1"/>
            <p:nvPr/>
          </p:nvSpPr>
          <p:spPr>
            <a:xfrm>
              <a:off x="528638" y="1768078"/>
              <a:ext cx="861400"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手机银行 / 官网 / 公众号</a:t>
              </a:r>
            </a:p>
          </p:txBody>
        </p:sp>
        <p:sp>
          <p:nvSpPr>
            <p:cNvPr id="24" name="Ellipse 24"/>
            <p:cNvSpPr/>
            <p:nvPr/>
          </p:nvSpPr>
          <p:spPr>
            <a:xfrm>
              <a:off x="219075" y="2181225"/>
              <a:ext cx="247650" cy="247650"/>
            </a:xfrm>
            <a:prstGeom prst="ellipse">
              <a:avLst/>
            </a:prstGeom>
            <a:solidFill>
              <a:srgbClr val="FFFFFF"/>
            </a:solidFill>
            <a:ln>
              <a:noFill/>
            </a:ln>
          </p:spPr>
        </p:sp>
        <p:grpSp>
          <p:nvGrpSpPr>
            <p:cNvPr id="29" name="Group 29"/>
            <p:cNvGrpSpPr/>
            <p:nvPr/>
          </p:nvGrpSpPr>
          <p:grpSpPr>
            <a:xfrm>
              <a:off x="285750" y="2247900"/>
              <a:ext cx="114300" cy="114301"/>
              <a:chOff x="285750" y="2247900"/>
              <a:chExt cx="114300" cy="114301"/>
            </a:xfrm>
          </p:grpSpPr>
          <p:sp>
            <p:nvSpPr>
              <p:cNvPr id="25" name="Freeform 25"/>
              <p:cNvSpPr/>
              <p:nvPr/>
            </p:nvSpPr>
            <p:spPr>
              <a:xfrm>
                <a:off x="298450" y="22479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83210"/>
                </a:solidFill>
              </a:ln>
            </p:spPr>
          </p:sp>
          <p:sp>
            <p:nvSpPr>
              <p:cNvPr id="26" name="Freeform 26"/>
              <p:cNvSpPr/>
              <p:nvPr/>
            </p:nvSpPr>
            <p:spPr>
              <a:xfrm>
                <a:off x="285750" y="23241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C83210"/>
                </a:solidFill>
              </a:ln>
            </p:spPr>
          </p:sp>
          <p:sp>
            <p:nvSpPr>
              <p:cNvPr id="27" name="Freeform 27"/>
              <p:cNvSpPr/>
              <p:nvPr/>
            </p:nvSpPr>
            <p:spPr>
              <a:xfrm>
                <a:off x="368300" y="22487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C83210"/>
                </a:solidFill>
              </a:ln>
            </p:spPr>
          </p:sp>
          <p:sp>
            <p:nvSpPr>
              <p:cNvPr id="28" name="Freeform 28"/>
              <p:cNvSpPr/>
              <p:nvPr/>
            </p:nvSpPr>
            <p:spPr>
              <a:xfrm>
                <a:off x="381000" y="23250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C83210"/>
                </a:solidFill>
              </a:ln>
            </p:spPr>
          </p:sp>
        </p:grpSp>
        <p:sp>
          <p:nvSpPr>
            <p:cNvPr id="30" name="TextBox 30"/>
            <p:cNvSpPr txBox="1"/>
            <p:nvPr/>
          </p:nvSpPr>
          <p:spPr>
            <a:xfrm>
              <a:off x="528638" y="2209086"/>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存量客户</a:t>
              </a:r>
            </a:p>
          </p:txBody>
        </p:sp>
        <p:sp>
          <p:nvSpPr>
            <p:cNvPr id="31" name="TextBox 31"/>
            <p:cNvSpPr txBox="1"/>
            <p:nvPr/>
          </p:nvSpPr>
          <p:spPr>
            <a:xfrm>
              <a:off x="528638" y="2358628"/>
              <a:ext cx="712119"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 xml:space="preserve">AUM / 持仓 / 贷款　</a:t>
              </a:r>
            </a:p>
          </p:txBody>
        </p:sp>
        <p:sp>
          <p:nvSpPr>
            <p:cNvPr id="32" name="Ellipse 32"/>
            <p:cNvSpPr/>
            <p:nvPr/>
          </p:nvSpPr>
          <p:spPr>
            <a:xfrm>
              <a:off x="219075" y="2771775"/>
              <a:ext cx="247650" cy="247650"/>
            </a:xfrm>
            <a:prstGeom prst="ellipse">
              <a:avLst/>
            </a:prstGeom>
            <a:solidFill>
              <a:srgbClr val="FFFFFF"/>
            </a:solidFill>
            <a:ln>
              <a:noFill/>
            </a:ln>
          </p:spPr>
        </p:sp>
        <p:grpSp>
          <p:nvGrpSpPr>
            <p:cNvPr id="36" name="Group 36"/>
            <p:cNvGrpSpPr/>
            <p:nvPr/>
          </p:nvGrpSpPr>
          <p:grpSpPr>
            <a:xfrm>
              <a:off x="285750" y="2844536"/>
              <a:ext cx="114300" cy="101864"/>
              <a:chOff x="285750" y="2844536"/>
              <a:chExt cx="114300" cy="101864"/>
            </a:xfrm>
          </p:grpSpPr>
          <p:sp>
            <p:nvSpPr>
              <p:cNvPr id="33" name="Freeform 33"/>
              <p:cNvSpPr/>
              <p:nvPr/>
            </p:nvSpPr>
            <p:spPr>
              <a:xfrm>
                <a:off x="381000" y="2870200"/>
                <a:ext cx="19050" cy="38100"/>
              </a:xfrm>
              <a:custGeom>
                <a:avLst/>
                <a:gdLst/>
                <a:ahLst/>
                <a:cxnLst/>
                <a:rect l="l" t="t" r="r" b="b"/>
                <a:pathLst>
                  <a:path w="19050" h="38100">
                    <a:moveTo>
                      <a:pt x="0" y="0"/>
                    </a:moveTo>
                    <a:cubicBezTo>
                      <a:pt x="10521" y="0"/>
                      <a:pt x="19050" y="8529"/>
                      <a:pt x="19050" y="19050"/>
                    </a:cubicBezTo>
                    <a:cubicBezTo>
                      <a:pt x="19050" y="29571"/>
                      <a:pt x="10521" y="38100"/>
                      <a:pt x="0" y="38100"/>
                    </a:cubicBezTo>
                  </a:path>
                </a:pathLst>
              </a:custGeom>
              <a:noFill/>
              <a:ln w="12700">
                <a:solidFill>
                  <a:srgbClr val="C83210"/>
                </a:solidFill>
              </a:ln>
            </p:spPr>
          </p:sp>
          <p:sp>
            <p:nvSpPr>
              <p:cNvPr id="34" name="Freeform 34"/>
              <p:cNvSpPr/>
              <p:nvPr/>
            </p:nvSpPr>
            <p:spPr>
              <a:xfrm>
                <a:off x="311150" y="2870200"/>
                <a:ext cx="19050" cy="76200"/>
              </a:xfrm>
              <a:custGeom>
                <a:avLst/>
                <a:gdLst/>
                <a:ahLst/>
                <a:cxnLst/>
                <a:rect l="l" t="t" r="r" b="b"/>
                <a:pathLst>
                  <a:path w="19050" h="76200">
                    <a:moveTo>
                      <a:pt x="19050" y="0"/>
                    </a:moveTo>
                    <a:lnTo>
                      <a:pt x="19050" y="69850"/>
                    </a:lnTo>
                    <a:cubicBezTo>
                      <a:pt x="19050" y="73357"/>
                      <a:pt x="16207" y="76200"/>
                      <a:pt x="12700" y="76200"/>
                    </a:cubicBezTo>
                    <a:lnTo>
                      <a:pt x="6350" y="76200"/>
                    </a:lnTo>
                    <a:cubicBezTo>
                      <a:pt x="2843" y="76200"/>
                      <a:pt x="0" y="73357"/>
                      <a:pt x="0" y="69850"/>
                    </a:cubicBezTo>
                    <a:lnTo>
                      <a:pt x="0" y="38100"/>
                    </a:lnTo>
                  </a:path>
                </a:pathLst>
              </a:custGeom>
              <a:noFill/>
              <a:ln w="12700">
                <a:solidFill>
                  <a:srgbClr val="C83210"/>
                </a:solidFill>
              </a:ln>
            </p:spPr>
          </p:sp>
          <p:sp>
            <p:nvSpPr>
              <p:cNvPr id="35" name="Freeform 35"/>
              <p:cNvSpPr/>
              <p:nvPr/>
            </p:nvSpPr>
            <p:spPr>
              <a:xfrm>
                <a:off x="285750" y="2844536"/>
                <a:ext cx="95251" cy="89428"/>
              </a:xfrm>
              <a:custGeom>
                <a:avLst/>
                <a:gdLst/>
                <a:ahLst/>
                <a:cxnLst/>
                <a:rect l="l" t="t" r="r" b="b"/>
                <a:pathLst>
                  <a:path w="95251" h="89428">
                    <a:moveTo>
                      <a:pt x="57150" y="25664"/>
                    </a:moveTo>
                    <a:lnTo>
                      <a:pt x="85877" y="1725"/>
                    </a:lnTo>
                    <a:cubicBezTo>
                      <a:pt x="87582" y="305"/>
                      <a:pt x="89953" y="0"/>
                      <a:pt x="91961" y="941"/>
                    </a:cubicBezTo>
                    <a:cubicBezTo>
                      <a:pt x="93969" y="1883"/>
                      <a:pt x="95251" y="3901"/>
                      <a:pt x="95250" y="6119"/>
                    </a:cubicBezTo>
                    <a:lnTo>
                      <a:pt x="95250" y="83310"/>
                    </a:lnTo>
                    <a:cubicBezTo>
                      <a:pt x="95251" y="85527"/>
                      <a:pt x="93969" y="87546"/>
                      <a:pt x="91961" y="88487"/>
                    </a:cubicBezTo>
                    <a:cubicBezTo>
                      <a:pt x="89953" y="89428"/>
                      <a:pt x="87582" y="89123"/>
                      <a:pt x="85877" y="87704"/>
                    </a:cubicBezTo>
                    <a:lnTo>
                      <a:pt x="57150" y="63764"/>
                    </a:lnTo>
                    <a:lnTo>
                      <a:pt x="6350" y="63764"/>
                    </a:lnTo>
                    <a:cubicBezTo>
                      <a:pt x="2843" y="63764"/>
                      <a:pt x="0" y="60921"/>
                      <a:pt x="0" y="57414"/>
                    </a:cubicBezTo>
                    <a:lnTo>
                      <a:pt x="0" y="32014"/>
                    </a:lnTo>
                    <a:cubicBezTo>
                      <a:pt x="0" y="28507"/>
                      <a:pt x="2843" y="25664"/>
                      <a:pt x="6350" y="25664"/>
                    </a:cubicBezTo>
                    <a:lnTo>
                      <a:pt x="57150" y="25664"/>
                    </a:lnTo>
                  </a:path>
                </a:pathLst>
              </a:custGeom>
              <a:noFill/>
              <a:ln w="12700">
                <a:solidFill>
                  <a:srgbClr val="C83210"/>
                </a:solidFill>
              </a:ln>
            </p:spPr>
          </p:sp>
        </p:grpSp>
        <p:sp>
          <p:nvSpPr>
            <p:cNvPr id="37" name="TextBox 37"/>
            <p:cNvSpPr txBox="1"/>
            <p:nvPr/>
          </p:nvSpPr>
          <p:spPr>
            <a:xfrm>
              <a:off x="528638" y="2799636"/>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市场活动</a:t>
              </a:r>
            </a:p>
          </p:txBody>
        </p:sp>
        <p:sp>
          <p:nvSpPr>
            <p:cNvPr id="38" name="TextBox 38"/>
            <p:cNvSpPr txBox="1"/>
            <p:nvPr/>
          </p:nvSpPr>
          <p:spPr>
            <a:xfrm>
              <a:off x="528638" y="2949178"/>
              <a:ext cx="635239"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沙龙 / 讲座 / 社区</a:t>
              </a:r>
            </a:p>
          </p:txBody>
        </p:sp>
        <p:sp>
          <p:nvSpPr>
            <p:cNvPr id="39" name="Ellipse 39"/>
            <p:cNvSpPr/>
            <p:nvPr/>
          </p:nvSpPr>
          <p:spPr>
            <a:xfrm>
              <a:off x="219075" y="3362325"/>
              <a:ext cx="247650" cy="247650"/>
            </a:xfrm>
            <a:prstGeom prst="ellipse">
              <a:avLst/>
            </a:prstGeom>
            <a:solidFill>
              <a:srgbClr val="FFFFFF"/>
            </a:solidFill>
            <a:ln>
              <a:noFill/>
            </a:ln>
          </p:spPr>
        </p:sp>
        <p:grpSp>
          <p:nvGrpSpPr>
            <p:cNvPr id="44" name="Group 44"/>
            <p:cNvGrpSpPr/>
            <p:nvPr/>
          </p:nvGrpSpPr>
          <p:grpSpPr>
            <a:xfrm>
              <a:off x="283551" y="3433721"/>
              <a:ext cx="118583" cy="103229"/>
              <a:chOff x="283551" y="3433721"/>
              <a:chExt cx="118583" cy="103229"/>
            </a:xfrm>
          </p:grpSpPr>
          <p:sp>
            <p:nvSpPr>
              <p:cNvPr id="40" name="Freeform 40"/>
              <p:cNvSpPr/>
              <p:nvPr/>
            </p:nvSpPr>
            <p:spPr>
              <a:xfrm>
                <a:off x="283551" y="3433721"/>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C83210"/>
                </a:solidFill>
              </a:ln>
            </p:spPr>
          </p:sp>
          <p:sp>
            <p:nvSpPr>
              <p:cNvPr id="41" name="Freeform 41"/>
              <p:cNvSpPr/>
              <p:nvPr/>
            </p:nvSpPr>
            <p:spPr>
              <a:xfrm>
                <a:off x="319511" y="3448050"/>
                <a:ext cx="71015" cy="41275"/>
              </a:xfrm>
              <a:custGeom>
                <a:avLst/>
                <a:gdLst/>
                <a:ahLst/>
                <a:cxnLst/>
                <a:rect l="l" t="t" r="r" b="b"/>
                <a:pathLst>
                  <a:path w="71015" h="41275">
                    <a:moveTo>
                      <a:pt x="23389" y="0"/>
                    </a:moveTo>
                    <a:lnTo>
                      <a:pt x="2479" y="20911"/>
                    </a:lnTo>
                    <a:cubicBezTo>
                      <a:pt x="0" y="23390"/>
                      <a:pt x="0" y="27410"/>
                      <a:pt x="2479" y="29889"/>
                    </a:cubicBezTo>
                    <a:lnTo>
                      <a:pt x="5927" y="33338"/>
                    </a:lnTo>
                    <a:cubicBezTo>
                      <a:pt x="10308" y="37719"/>
                      <a:pt x="17420" y="37719"/>
                      <a:pt x="21802" y="33338"/>
                    </a:cubicBezTo>
                    <a:lnTo>
                      <a:pt x="28152" y="26988"/>
                    </a:lnTo>
                    <a:cubicBezTo>
                      <a:pt x="36043" y="19097"/>
                      <a:pt x="48836" y="19097"/>
                      <a:pt x="56727" y="26988"/>
                    </a:cubicBezTo>
                    <a:lnTo>
                      <a:pt x="71015" y="41275"/>
                    </a:lnTo>
                  </a:path>
                </a:pathLst>
              </a:custGeom>
              <a:noFill/>
              <a:ln w="12700">
                <a:solidFill>
                  <a:srgbClr val="C83210"/>
                </a:solidFill>
              </a:ln>
            </p:spPr>
          </p:sp>
          <p:sp>
            <p:nvSpPr>
              <p:cNvPr id="42" name="Freeform 42"/>
              <p:cNvSpPr/>
              <p:nvPr/>
            </p:nvSpPr>
            <p:spPr>
              <a:xfrm>
                <a:off x="346075" y="3508375"/>
                <a:ext cx="12700" cy="12700"/>
              </a:xfrm>
              <a:custGeom>
                <a:avLst/>
                <a:gdLst/>
                <a:ahLst/>
                <a:cxnLst/>
                <a:rect l="l" t="t" r="r" b="b"/>
                <a:pathLst>
                  <a:path w="12700" h="12700">
                    <a:moveTo>
                      <a:pt x="0" y="0"/>
                    </a:moveTo>
                    <a:lnTo>
                      <a:pt x="12700" y="12700"/>
                    </a:lnTo>
                  </a:path>
                </a:pathLst>
              </a:custGeom>
              <a:noFill/>
              <a:ln w="12700">
                <a:solidFill>
                  <a:srgbClr val="C83210"/>
                </a:solidFill>
              </a:ln>
            </p:spPr>
          </p:sp>
          <p:sp>
            <p:nvSpPr>
              <p:cNvPr id="43" name="Freeform 43"/>
              <p:cNvSpPr/>
              <p:nvPr/>
            </p:nvSpPr>
            <p:spPr>
              <a:xfrm>
                <a:off x="361950" y="3492500"/>
                <a:ext cx="12700" cy="12700"/>
              </a:xfrm>
              <a:custGeom>
                <a:avLst/>
                <a:gdLst/>
                <a:ahLst/>
                <a:cxnLst/>
                <a:rect l="l" t="t" r="r" b="b"/>
                <a:pathLst>
                  <a:path w="12700" h="12700">
                    <a:moveTo>
                      <a:pt x="0" y="0"/>
                    </a:moveTo>
                    <a:lnTo>
                      <a:pt x="12700" y="12700"/>
                    </a:lnTo>
                  </a:path>
                </a:pathLst>
              </a:custGeom>
              <a:noFill/>
              <a:ln w="12700">
                <a:solidFill>
                  <a:srgbClr val="C83210"/>
                </a:solidFill>
              </a:ln>
            </p:spPr>
          </p:sp>
        </p:grpSp>
        <p:sp>
          <p:nvSpPr>
            <p:cNvPr id="45" name="TextBox 45"/>
            <p:cNvSpPr txBox="1"/>
            <p:nvPr/>
          </p:nvSpPr>
          <p:spPr>
            <a:xfrm>
              <a:off x="528638" y="3390186"/>
              <a:ext cx="39184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外部合作</a:t>
              </a:r>
            </a:p>
          </p:txBody>
        </p:sp>
        <p:sp>
          <p:nvSpPr>
            <p:cNvPr id="46" name="TextBox 46"/>
            <p:cNvSpPr txBox="1"/>
            <p:nvPr/>
          </p:nvSpPr>
          <p:spPr>
            <a:xfrm>
              <a:off x="528638" y="3539728"/>
              <a:ext cx="635239"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异业 / 企业 / 场景</a:t>
              </a:r>
            </a:p>
          </p:txBody>
        </p:sp>
      </p:grpSp>
      <p:grpSp>
        <p:nvGrpSpPr>
          <p:cNvPr id="125" name="platform"/>
          <p:cNvGrpSpPr/>
          <p:nvPr/>
        </p:nvGrpSpPr>
        <p:grpSpPr>
          <a:xfrm>
            <a:off x="1657350" y="691991"/>
            <a:ext cx="8629650" cy="1797368"/>
            <a:chOff x="1657350" y="691991"/>
            <a:chExt cx="8629650" cy="1797368"/>
          </a:xfrm>
        </p:grpSpPr>
        <p:sp>
          <p:nvSpPr>
            <p:cNvPr id="48" name="Freeform 48"/>
            <p:cNvSpPr/>
            <p:nvPr/>
          </p:nvSpPr>
          <p:spPr>
            <a:xfrm>
              <a:off x="1657350" y="2057400"/>
              <a:ext cx="209550" cy="266700"/>
            </a:xfrm>
            <a:prstGeom prst="rightArrow">
              <a:avLst/>
            </a:prstGeom>
            <a:solidFill>
              <a:srgbClr val="F3B2A3"/>
            </a:solidFill>
            <a:ln>
              <a:noFill/>
            </a:ln>
          </p:spPr>
        </p:sp>
        <p:sp>
          <p:nvSpPr>
            <p:cNvPr id="49" name="Freeform 49"/>
            <p:cNvSpPr/>
            <p:nvPr/>
          </p:nvSpPr>
          <p:spPr>
            <a:xfrm>
              <a:off x="10077450" y="2057400"/>
              <a:ext cx="209550" cy="266700"/>
            </a:xfrm>
            <a:prstGeom prst="rightArrow">
              <a:avLst/>
            </a:prstGeom>
            <a:solidFill>
              <a:srgbClr val="F3B2A3"/>
            </a:solidFill>
            <a:ln>
              <a:noFill/>
            </a:ln>
          </p:spPr>
        </p:sp>
        <p:sp>
          <p:nvSpPr>
            <p:cNvPr id="50" name="TextBox 50"/>
            <p:cNvSpPr txBox="1"/>
            <p:nvPr/>
          </p:nvSpPr>
          <p:spPr>
            <a:xfrm>
              <a:off x="5415470" y="691991"/>
              <a:ext cx="1113409" cy="161925"/>
            </a:xfrm>
            <a:prstGeom prst="rect">
              <a:avLst/>
            </a:prstGeom>
            <a:noFill/>
            <a:ln>
              <a:noFill/>
            </a:ln>
          </p:spPr>
          <p:txBody>
            <a:bodyPr wrap="none" lIns="0" tIns="0" rIns="0" bIns="0" anchor="t" anchorCtr="0">
              <a:spAutoFit/>
            </a:bodyPr>
            <a:lstStyle/>
            <a:p>
              <a:pPr algn="ctr"/>
              <a:r>
                <a:rPr lang="zh-CN" sz="820" b="1" dirty="0">
                  <a:solidFill>
                    <a:srgbClr val="C83210"/>
                  </a:solidFill>
                  <a:latin typeface="+mn-lt"/>
                  <a:ea typeface="+mn-ea"/>
                  <a:cs typeface="+mn-cs"/>
                </a:rPr>
                <a:t>六大可复用的核心资产</a:t>
              </a:r>
            </a:p>
          </p:txBody>
        </p:sp>
        <p:sp>
          <p:nvSpPr>
            <p:cNvPr id="51" name="Rectangle 51"/>
            <p:cNvSpPr/>
            <p:nvPr/>
          </p:nvSpPr>
          <p:spPr>
            <a:xfrm>
              <a:off x="2628900" y="971550"/>
              <a:ext cx="495300" cy="342900"/>
            </a:xfrm>
            <a:prstGeom prst="rect">
              <a:avLst/>
            </a:prstGeom>
            <a:gradFill>
              <a:gsLst>
                <a:gs pos="0">
                  <a:srgbClr val="E9826B"/>
                </a:gs>
                <a:gs pos="45000">
                  <a:srgbClr val="A0270C"/>
                </a:gs>
                <a:gs pos="100000">
                  <a:srgbClr val="E9826B"/>
                </a:gs>
              </a:gsLst>
              <a:lin ang="0" scaled="1"/>
            </a:gradFill>
            <a:ln>
              <a:noFill/>
            </a:ln>
          </p:spPr>
        </p:sp>
        <p:sp>
          <p:nvSpPr>
            <p:cNvPr id="52" name="Ellipse 52"/>
            <p:cNvSpPr/>
            <p:nvPr/>
          </p:nvSpPr>
          <p:spPr>
            <a:xfrm>
              <a:off x="2628900" y="1247775"/>
              <a:ext cx="495300" cy="133350"/>
            </a:xfrm>
            <a:prstGeom prst="ellipse">
              <a:avLst/>
            </a:prstGeom>
            <a:solidFill>
              <a:srgbClr val="8F230A"/>
            </a:solidFill>
            <a:ln>
              <a:noFill/>
            </a:ln>
          </p:spPr>
        </p:sp>
        <p:sp>
          <p:nvSpPr>
            <p:cNvPr id="53" name="Ellipse 53"/>
            <p:cNvSpPr/>
            <p:nvPr/>
          </p:nvSpPr>
          <p:spPr>
            <a:xfrm>
              <a:off x="2628900" y="904875"/>
              <a:ext cx="495300" cy="133350"/>
            </a:xfrm>
            <a:prstGeom prst="ellipse">
              <a:avLst/>
            </a:prstGeom>
            <a:solidFill>
              <a:srgbClr val="F3B2A3"/>
            </a:solidFill>
            <a:ln>
              <a:noFill/>
            </a:ln>
          </p:spPr>
        </p:sp>
        <p:grpSp>
          <p:nvGrpSpPr>
            <p:cNvPr id="57" name="Group 57"/>
            <p:cNvGrpSpPr/>
            <p:nvPr/>
          </p:nvGrpSpPr>
          <p:grpSpPr>
            <a:xfrm>
              <a:off x="2812256" y="1078706"/>
              <a:ext cx="128588" cy="128588"/>
              <a:chOff x="2812256" y="1078706"/>
              <a:chExt cx="128588" cy="128588"/>
            </a:xfrm>
          </p:grpSpPr>
          <p:sp>
            <p:nvSpPr>
              <p:cNvPr id="54" name="Freeform 54"/>
              <p:cNvSpPr/>
              <p:nvPr/>
            </p:nvSpPr>
            <p:spPr>
              <a:xfrm>
                <a:off x="2812256" y="10787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sp>
            <p:nvSpPr>
              <p:cNvPr id="55" name="Freeform 55"/>
              <p:cNvSpPr/>
              <p:nvPr/>
            </p:nvSpPr>
            <p:spPr>
              <a:xfrm>
                <a:off x="2855119" y="1107281"/>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FFFFFF"/>
                </a:solidFill>
              </a:ln>
            </p:spPr>
          </p:sp>
          <p:sp>
            <p:nvSpPr>
              <p:cNvPr id="56" name="Freeform 56"/>
              <p:cNvSpPr/>
              <p:nvPr/>
            </p:nvSpPr>
            <p:spPr>
              <a:xfrm>
                <a:off x="2834888" y="1171571"/>
                <a:ext cx="83339" cy="20400"/>
              </a:xfrm>
              <a:custGeom>
                <a:avLst/>
                <a:gdLst/>
                <a:ahLst/>
                <a:cxnLst/>
                <a:rect l="l" t="t" r="r" b="b"/>
                <a:pathLst>
                  <a:path w="83339" h="20400">
                    <a:moveTo>
                      <a:pt x="0" y="20357"/>
                    </a:moveTo>
                    <a:cubicBezTo>
                      <a:pt x="3631" y="8273"/>
                      <a:pt x="14757" y="1"/>
                      <a:pt x="27375" y="4"/>
                    </a:cubicBezTo>
                    <a:lnTo>
                      <a:pt x="55950" y="4"/>
                    </a:lnTo>
                    <a:cubicBezTo>
                      <a:pt x="68585" y="0"/>
                      <a:pt x="79722" y="8294"/>
                      <a:pt x="83339" y="20400"/>
                    </a:cubicBezTo>
                  </a:path>
                </a:pathLst>
              </a:custGeom>
              <a:noFill/>
              <a:ln w="14288">
                <a:solidFill>
                  <a:srgbClr val="FFFFFF"/>
                </a:solidFill>
              </a:ln>
            </p:spPr>
          </p:sp>
        </p:grpSp>
        <p:sp>
          <p:nvSpPr>
            <p:cNvPr id="58" name="TextBox 58"/>
            <p:cNvSpPr txBox="1"/>
            <p:nvPr/>
          </p:nvSpPr>
          <p:spPr>
            <a:xfrm>
              <a:off x="2632837" y="1485186"/>
              <a:ext cx="487426"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客户账户库</a:t>
              </a:r>
            </a:p>
          </p:txBody>
        </p:sp>
        <p:sp>
          <p:nvSpPr>
            <p:cNvPr id="59" name="TextBox 59"/>
            <p:cNvSpPr txBox="1"/>
            <p:nvPr/>
          </p:nvSpPr>
          <p:spPr>
            <a:xfrm>
              <a:off x="2645626" y="1634728"/>
              <a:ext cx="461848"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客户信息统一</a:t>
              </a:r>
            </a:p>
          </p:txBody>
        </p:sp>
        <p:sp>
          <p:nvSpPr>
            <p:cNvPr id="60" name="TextBox 60"/>
            <p:cNvSpPr txBox="1"/>
            <p:nvPr/>
          </p:nvSpPr>
          <p:spPr>
            <a:xfrm>
              <a:off x="2607932" y="1749028"/>
              <a:ext cx="537235"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全生命周期视图</a:t>
              </a:r>
            </a:p>
          </p:txBody>
        </p:sp>
        <p:sp>
          <p:nvSpPr>
            <p:cNvPr id="61" name="Rectangle 61"/>
            <p:cNvSpPr/>
            <p:nvPr/>
          </p:nvSpPr>
          <p:spPr>
            <a:xfrm>
              <a:off x="3867150" y="971550"/>
              <a:ext cx="495300" cy="342900"/>
            </a:xfrm>
            <a:prstGeom prst="rect">
              <a:avLst/>
            </a:prstGeom>
            <a:gradFill>
              <a:gsLst>
                <a:gs pos="0">
                  <a:srgbClr val="E9826B"/>
                </a:gs>
                <a:gs pos="45000">
                  <a:srgbClr val="A0270C"/>
                </a:gs>
                <a:gs pos="100000">
                  <a:srgbClr val="E9826B"/>
                </a:gs>
              </a:gsLst>
              <a:lin ang="0" scaled="1"/>
            </a:gradFill>
            <a:ln>
              <a:noFill/>
            </a:ln>
          </p:spPr>
        </p:sp>
        <p:sp>
          <p:nvSpPr>
            <p:cNvPr id="62" name="Ellipse 62"/>
            <p:cNvSpPr/>
            <p:nvPr/>
          </p:nvSpPr>
          <p:spPr>
            <a:xfrm>
              <a:off x="3867150" y="1247775"/>
              <a:ext cx="495300" cy="133350"/>
            </a:xfrm>
            <a:prstGeom prst="ellipse">
              <a:avLst/>
            </a:prstGeom>
            <a:solidFill>
              <a:srgbClr val="8F230A"/>
            </a:solidFill>
            <a:ln>
              <a:noFill/>
            </a:ln>
          </p:spPr>
        </p:sp>
        <p:sp>
          <p:nvSpPr>
            <p:cNvPr id="63" name="Ellipse 63"/>
            <p:cNvSpPr/>
            <p:nvPr/>
          </p:nvSpPr>
          <p:spPr>
            <a:xfrm>
              <a:off x="3867150" y="904875"/>
              <a:ext cx="495300" cy="133350"/>
            </a:xfrm>
            <a:prstGeom prst="ellipse">
              <a:avLst/>
            </a:prstGeom>
            <a:solidFill>
              <a:srgbClr val="F3B2A3"/>
            </a:solidFill>
            <a:ln>
              <a:noFill/>
            </a:ln>
          </p:spPr>
        </p:sp>
        <p:grpSp>
          <p:nvGrpSpPr>
            <p:cNvPr id="67" name="Group 67"/>
            <p:cNvGrpSpPr/>
            <p:nvPr/>
          </p:nvGrpSpPr>
          <p:grpSpPr>
            <a:xfrm>
              <a:off x="4050506" y="1100138"/>
              <a:ext cx="131974" cy="101706"/>
              <a:chOff x="4050506" y="1100138"/>
              <a:chExt cx="131974" cy="101706"/>
            </a:xfrm>
          </p:grpSpPr>
          <p:sp>
            <p:nvSpPr>
              <p:cNvPr id="64" name="Freeform 64"/>
              <p:cNvSpPr/>
              <p:nvPr/>
            </p:nvSpPr>
            <p:spPr>
              <a:xfrm>
                <a:off x="4050506" y="1100138"/>
                <a:ext cx="101706" cy="101706"/>
              </a:xfrm>
              <a:custGeom>
                <a:avLst/>
                <a:gdLst/>
                <a:ahLst/>
                <a:cxnLst/>
                <a:rect l="l" t="t" r="r" b="b"/>
                <a:pathLst>
                  <a:path w="101706" h="101706">
                    <a:moveTo>
                      <a:pt x="0" y="14288"/>
                    </a:moveTo>
                    <a:lnTo>
                      <a:pt x="0" y="44091"/>
                    </a:lnTo>
                    <a:cubicBezTo>
                      <a:pt x="1" y="47880"/>
                      <a:pt x="1507" y="51514"/>
                      <a:pt x="4186" y="54192"/>
                    </a:cubicBezTo>
                    <a:lnTo>
                      <a:pt x="44977" y="94983"/>
                    </a:lnTo>
                    <a:cubicBezTo>
                      <a:pt x="51700" y="101706"/>
                      <a:pt x="62600" y="101706"/>
                      <a:pt x="69323" y="94983"/>
                    </a:cubicBezTo>
                    <a:lnTo>
                      <a:pt x="94983" y="69323"/>
                    </a:lnTo>
                    <a:cubicBezTo>
                      <a:pt x="101706" y="62600"/>
                      <a:pt x="101706" y="51700"/>
                      <a:pt x="94983" y="44977"/>
                    </a:cubicBezTo>
                    <a:lnTo>
                      <a:pt x="54192" y="4186"/>
                    </a:lnTo>
                    <a:cubicBezTo>
                      <a:pt x="51514" y="1507"/>
                      <a:pt x="47880" y="1"/>
                      <a:pt x="44091" y="0"/>
                    </a:cubicBezTo>
                    <a:lnTo>
                      <a:pt x="14288" y="0"/>
                    </a:lnTo>
                    <a:cubicBezTo>
                      <a:pt x="6397" y="0"/>
                      <a:pt x="0" y="6397"/>
                      <a:pt x="0" y="14288"/>
                    </a:cubicBezTo>
                  </a:path>
                </a:pathLst>
              </a:custGeom>
              <a:noFill/>
              <a:ln w="14288">
                <a:solidFill>
                  <a:srgbClr val="FFFFFF"/>
                </a:solidFill>
              </a:ln>
            </p:spPr>
          </p:sp>
          <p:sp>
            <p:nvSpPr>
              <p:cNvPr id="65" name="Freeform 65"/>
              <p:cNvSpPr/>
              <p:nvPr/>
            </p:nvSpPr>
            <p:spPr>
              <a:xfrm>
                <a:off x="4136231" y="1100138"/>
                <a:ext cx="46249" cy="92869"/>
              </a:xfrm>
              <a:custGeom>
                <a:avLst/>
                <a:gdLst/>
                <a:ahLst/>
                <a:cxnLst/>
                <a:rect l="l" t="t" r="r" b="b"/>
                <a:pathLst>
                  <a:path w="46249" h="92869">
                    <a:moveTo>
                      <a:pt x="21431" y="92869"/>
                    </a:moveTo>
                    <a:lnTo>
                      <a:pt x="32804" y="81496"/>
                    </a:lnTo>
                    <a:cubicBezTo>
                      <a:pt x="46249" y="68049"/>
                      <a:pt x="46249" y="46251"/>
                      <a:pt x="32804" y="32804"/>
                    </a:cubicBezTo>
                    <a:lnTo>
                      <a:pt x="0" y="0"/>
                    </a:lnTo>
                  </a:path>
                </a:pathLst>
              </a:custGeom>
              <a:noFill/>
              <a:ln w="14288">
                <a:solidFill>
                  <a:srgbClr val="FFFFFF"/>
                </a:solidFill>
              </a:ln>
            </p:spPr>
          </p:sp>
          <p:sp>
            <p:nvSpPr>
              <p:cNvPr id="66" name="Freeform 66"/>
              <p:cNvSpPr/>
              <p:nvPr/>
            </p:nvSpPr>
            <p:spPr>
              <a:xfrm>
                <a:off x="4079010" y="1128712"/>
                <a:ext cx="9525" cy="9525"/>
              </a:xfrm>
              <a:custGeom>
                <a:avLst/>
                <a:gdLst/>
                <a:ahLst/>
                <a:cxnLst/>
                <a:rect l="l" t="t" r="r" b="b"/>
                <a:pathLst>
                  <a:path w="9525" h="9525">
                    <a:moveTo>
                      <a:pt x="71" y="0"/>
                    </a:moveTo>
                    <a:lnTo>
                      <a:pt x="0" y="0"/>
                    </a:lnTo>
                  </a:path>
                </a:pathLst>
              </a:custGeom>
              <a:noFill/>
              <a:ln w="14288">
                <a:solidFill>
                  <a:srgbClr val="FFFFFF"/>
                </a:solidFill>
              </a:ln>
            </p:spPr>
          </p:sp>
        </p:grpSp>
        <p:sp>
          <p:nvSpPr>
            <p:cNvPr id="68" name="TextBox 68"/>
            <p:cNvSpPr txBox="1"/>
            <p:nvPr/>
          </p:nvSpPr>
          <p:spPr>
            <a:xfrm>
              <a:off x="3871087" y="1485186"/>
              <a:ext cx="487426"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标签规则库</a:t>
              </a:r>
            </a:p>
          </p:txBody>
        </p:sp>
        <p:sp>
          <p:nvSpPr>
            <p:cNvPr id="69" name="TextBox 69"/>
            <p:cNvSpPr txBox="1"/>
            <p:nvPr/>
          </p:nvSpPr>
          <p:spPr>
            <a:xfrm>
              <a:off x="3846182" y="1634728"/>
              <a:ext cx="537235"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标签体系标准化</a:t>
              </a:r>
            </a:p>
          </p:txBody>
        </p:sp>
        <p:sp>
          <p:nvSpPr>
            <p:cNvPr id="70" name="TextBox 70"/>
            <p:cNvSpPr txBox="1"/>
            <p:nvPr/>
          </p:nvSpPr>
          <p:spPr>
            <a:xfrm>
              <a:off x="3959263" y="17490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动态更新</a:t>
              </a:r>
            </a:p>
          </p:txBody>
        </p:sp>
        <p:sp>
          <p:nvSpPr>
            <p:cNvPr id="71" name="Rectangle 71"/>
            <p:cNvSpPr/>
            <p:nvPr/>
          </p:nvSpPr>
          <p:spPr>
            <a:xfrm>
              <a:off x="5105400" y="971550"/>
              <a:ext cx="495300" cy="342900"/>
            </a:xfrm>
            <a:prstGeom prst="rect">
              <a:avLst/>
            </a:prstGeom>
            <a:gradFill>
              <a:gsLst>
                <a:gs pos="0">
                  <a:srgbClr val="E9826B"/>
                </a:gs>
                <a:gs pos="45000">
                  <a:srgbClr val="A0270C"/>
                </a:gs>
                <a:gs pos="100000">
                  <a:srgbClr val="E9826B"/>
                </a:gs>
              </a:gsLst>
              <a:lin ang="0" scaled="1"/>
            </a:gradFill>
            <a:ln>
              <a:noFill/>
            </a:ln>
          </p:spPr>
        </p:sp>
        <p:sp>
          <p:nvSpPr>
            <p:cNvPr id="72" name="Ellipse 72"/>
            <p:cNvSpPr/>
            <p:nvPr/>
          </p:nvSpPr>
          <p:spPr>
            <a:xfrm>
              <a:off x="5105400" y="1247775"/>
              <a:ext cx="495300" cy="133350"/>
            </a:xfrm>
            <a:prstGeom prst="ellipse">
              <a:avLst/>
            </a:prstGeom>
            <a:solidFill>
              <a:srgbClr val="8F230A"/>
            </a:solidFill>
            <a:ln>
              <a:noFill/>
            </a:ln>
          </p:spPr>
        </p:sp>
        <p:sp>
          <p:nvSpPr>
            <p:cNvPr id="73" name="Ellipse 73"/>
            <p:cNvSpPr/>
            <p:nvPr/>
          </p:nvSpPr>
          <p:spPr>
            <a:xfrm>
              <a:off x="5105400" y="904875"/>
              <a:ext cx="495300" cy="133350"/>
            </a:xfrm>
            <a:prstGeom prst="ellipse">
              <a:avLst/>
            </a:prstGeom>
            <a:solidFill>
              <a:srgbClr val="F3B2A3"/>
            </a:solidFill>
            <a:ln>
              <a:noFill/>
            </a:ln>
          </p:spPr>
        </p:sp>
        <p:grpSp>
          <p:nvGrpSpPr>
            <p:cNvPr id="79" name="Group 79"/>
            <p:cNvGrpSpPr/>
            <p:nvPr/>
          </p:nvGrpSpPr>
          <p:grpSpPr>
            <a:xfrm>
              <a:off x="5303044" y="1078706"/>
              <a:ext cx="100013" cy="128588"/>
              <a:chOff x="5303044" y="1078706"/>
              <a:chExt cx="100013" cy="128588"/>
            </a:xfrm>
          </p:grpSpPr>
          <p:sp>
            <p:nvSpPr>
              <p:cNvPr id="74" name="Freeform 74"/>
              <p:cNvSpPr/>
              <p:nvPr/>
            </p:nvSpPr>
            <p:spPr>
              <a:xfrm>
                <a:off x="5367338" y="107870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75" name="Freeform 75"/>
              <p:cNvSpPr/>
              <p:nvPr/>
            </p:nvSpPr>
            <p:spPr>
              <a:xfrm>
                <a:off x="5303044" y="107870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76" name="Freeform 76"/>
              <p:cNvSpPr/>
              <p:nvPr/>
            </p:nvSpPr>
            <p:spPr>
              <a:xfrm>
                <a:off x="5331619" y="1121569"/>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77" name="Freeform 77"/>
              <p:cNvSpPr/>
              <p:nvPr/>
            </p:nvSpPr>
            <p:spPr>
              <a:xfrm>
                <a:off x="5331619" y="1150144"/>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78" name="Freeform 78"/>
              <p:cNvSpPr/>
              <p:nvPr/>
            </p:nvSpPr>
            <p:spPr>
              <a:xfrm>
                <a:off x="5331619" y="1178719"/>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80" name="TextBox 80"/>
            <p:cNvSpPr txBox="1"/>
            <p:nvPr/>
          </p:nvSpPr>
          <p:spPr>
            <a:xfrm>
              <a:off x="5109337" y="1485186"/>
              <a:ext cx="487426"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内容素材库</a:t>
              </a:r>
            </a:p>
          </p:txBody>
        </p:sp>
        <p:sp>
          <p:nvSpPr>
            <p:cNvPr id="81" name="TextBox 81"/>
            <p:cNvSpPr txBox="1"/>
            <p:nvPr/>
          </p:nvSpPr>
          <p:spPr>
            <a:xfrm>
              <a:off x="5035431" y="1634728"/>
              <a:ext cx="635239"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产品 × 场景 × 客群</a:t>
              </a:r>
            </a:p>
          </p:txBody>
        </p:sp>
        <p:sp>
          <p:nvSpPr>
            <p:cNvPr id="82" name="TextBox 82"/>
            <p:cNvSpPr txBox="1"/>
            <p:nvPr/>
          </p:nvSpPr>
          <p:spPr>
            <a:xfrm>
              <a:off x="5159820" y="1749028"/>
              <a:ext cx="386461"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多形式素材</a:t>
              </a:r>
            </a:p>
          </p:txBody>
        </p:sp>
        <p:sp>
          <p:nvSpPr>
            <p:cNvPr id="83" name="Rectangle 83"/>
            <p:cNvSpPr/>
            <p:nvPr/>
          </p:nvSpPr>
          <p:spPr>
            <a:xfrm>
              <a:off x="6343650" y="971550"/>
              <a:ext cx="495300" cy="342900"/>
            </a:xfrm>
            <a:prstGeom prst="rect">
              <a:avLst/>
            </a:prstGeom>
            <a:gradFill>
              <a:gsLst>
                <a:gs pos="0">
                  <a:srgbClr val="E9826B"/>
                </a:gs>
                <a:gs pos="45000">
                  <a:srgbClr val="A0270C"/>
                </a:gs>
                <a:gs pos="100000">
                  <a:srgbClr val="E9826B"/>
                </a:gs>
              </a:gsLst>
              <a:lin ang="0" scaled="1"/>
            </a:gradFill>
            <a:ln>
              <a:noFill/>
            </a:ln>
          </p:spPr>
        </p:sp>
        <p:sp>
          <p:nvSpPr>
            <p:cNvPr id="84" name="Ellipse 84"/>
            <p:cNvSpPr/>
            <p:nvPr/>
          </p:nvSpPr>
          <p:spPr>
            <a:xfrm>
              <a:off x="6343650" y="1247775"/>
              <a:ext cx="495300" cy="133350"/>
            </a:xfrm>
            <a:prstGeom prst="ellipse">
              <a:avLst/>
            </a:prstGeom>
            <a:solidFill>
              <a:srgbClr val="8F230A"/>
            </a:solidFill>
            <a:ln>
              <a:noFill/>
            </a:ln>
          </p:spPr>
        </p:sp>
        <p:sp>
          <p:nvSpPr>
            <p:cNvPr id="85" name="Ellipse 85"/>
            <p:cNvSpPr/>
            <p:nvPr/>
          </p:nvSpPr>
          <p:spPr>
            <a:xfrm>
              <a:off x="6343650" y="904875"/>
              <a:ext cx="495300" cy="133350"/>
            </a:xfrm>
            <a:prstGeom prst="ellipse">
              <a:avLst/>
            </a:prstGeom>
            <a:solidFill>
              <a:srgbClr val="F3B2A3"/>
            </a:solidFill>
            <a:ln>
              <a:noFill/>
            </a:ln>
          </p:spPr>
        </p:sp>
        <p:grpSp>
          <p:nvGrpSpPr>
            <p:cNvPr id="89" name="Group 89"/>
            <p:cNvGrpSpPr/>
            <p:nvPr/>
          </p:nvGrpSpPr>
          <p:grpSpPr>
            <a:xfrm>
              <a:off x="6527006" y="1078706"/>
              <a:ext cx="128588" cy="128588"/>
              <a:chOff x="6527006" y="1078706"/>
              <a:chExt cx="128588" cy="128588"/>
            </a:xfrm>
          </p:grpSpPr>
          <p:sp>
            <p:nvSpPr>
              <p:cNvPr id="86" name="Freeform 86"/>
              <p:cNvSpPr/>
              <p:nvPr/>
            </p:nvSpPr>
            <p:spPr>
              <a:xfrm>
                <a:off x="6527006" y="117871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87" name="Freeform 87"/>
              <p:cNvSpPr/>
              <p:nvPr/>
            </p:nvSpPr>
            <p:spPr>
              <a:xfrm>
                <a:off x="6627019" y="1078706"/>
                <a:ext cx="28575" cy="28575"/>
              </a:xfrm>
              <a:custGeom>
                <a:avLst/>
                <a:gdLst/>
                <a:ahLst/>
                <a:cxnLst/>
                <a:rect l="l" t="t" r="r" b="b"/>
                <a:pathLst>
                  <a:path w="28575" h="28575">
                    <a:moveTo>
                      <a:pt x="14288" y="28575"/>
                    </a:moveTo>
                    <a:cubicBezTo>
                      <a:pt x="22178" y="28575"/>
                      <a:pt x="28575" y="22178"/>
                      <a:pt x="28575" y="14288"/>
                    </a:cubicBezTo>
                    <a:cubicBezTo>
                      <a:pt x="28575" y="6397"/>
                      <a:pt x="22178" y="0"/>
                      <a:pt x="14288" y="0"/>
                    </a:cubicBezTo>
                    <a:cubicBezTo>
                      <a:pt x="6397" y="0"/>
                      <a:pt x="0" y="6397"/>
                      <a:pt x="0" y="14288"/>
                    </a:cubicBezTo>
                    <a:cubicBezTo>
                      <a:pt x="0" y="22178"/>
                      <a:pt x="6397" y="28575"/>
                      <a:pt x="14288" y="28575"/>
                    </a:cubicBezTo>
                  </a:path>
                </a:pathLst>
              </a:custGeom>
              <a:noFill/>
              <a:ln w="14288">
                <a:solidFill>
                  <a:srgbClr val="FFFFFF"/>
                </a:solidFill>
              </a:ln>
            </p:spPr>
          </p:sp>
          <p:sp>
            <p:nvSpPr>
              <p:cNvPr id="88" name="Freeform 88"/>
              <p:cNvSpPr/>
              <p:nvPr/>
            </p:nvSpPr>
            <p:spPr>
              <a:xfrm>
                <a:off x="6541294" y="1092994"/>
                <a:ext cx="107156" cy="100012"/>
              </a:xfrm>
              <a:custGeom>
                <a:avLst/>
                <a:gdLst/>
                <a:ahLst/>
                <a:cxnLst/>
                <a:rect l="l" t="t" r="r" b="b"/>
                <a:pathLst>
                  <a:path w="107156" h="100012">
                    <a:moveTo>
                      <a:pt x="42862" y="100012"/>
                    </a:moveTo>
                    <a:lnTo>
                      <a:pt x="82153" y="100012"/>
                    </a:lnTo>
                    <a:cubicBezTo>
                      <a:pt x="95962" y="100012"/>
                      <a:pt x="107156" y="88818"/>
                      <a:pt x="107156" y="75009"/>
                    </a:cubicBezTo>
                    <a:cubicBezTo>
                      <a:pt x="107156" y="61201"/>
                      <a:pt x="95962" y="50006"/>
                      <a:pt x="82153" y="50006"/>
                    </a:cubicBezTo>
                    <a:lnTo>
                      <a:pt x="25003" y="50006"/>
                    </a:lnTo>
                    <a:cubicBezTo>
                      <a:pt x="11194" y="50006"/>
                      <a:pt x="0" y="38812"/>
                      <a:pt x="0" y="25003"/>
                    </a:cubicBezTo>
                    <a:cubicBezTo>
                      <a:pt x="0" y="11194"/>
                      <a:pt x="11194" y="0"/>
                      <a:pt x="25003" y="0"/>
                    </a:cubicBezTo>
                    <a:lnTo>
                      <a:pt x="57150" y="0"/>
                    </a:lnTo>
                  </a:path>
                </a:pathLst>
              </a:custGeom>
              <a:noFill/>
              <a:ln w="14288">
                <a:solidFill>
                  <a:srgbClr val="FFFFFF"/>
                </a:solidFill>
              </a:ln>
            </p:spPr>
          </p:sp>
        </p:grpSp>
        <p:sp>
          <p:nvSpPr>
            <p:cNvPr id="90" name="TextBox 90"/>
            <p:cNvSpPr txBox="1"/>
            <p:nvPr/>
          </p:nvSpPr>
          <p:spPr>
            <a:xfrm>
              <a:off x="6347587" y="1485186"/>
              <a:ext cx="487426"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触达旅程库</a:t>
              </a:r>
            </a:p>
          </p:txBody>
        </p:sp>
        <p:sp>
          <p:nvSpPr>
            <p:cNvPr id="91" name="TextBox 91"/>
            <p:cNvSpPr txBox="1"/>
            <p:nvPr/>
          </p:nvSpPr>
          <p:spPr>
            <a:xfrm>
              <a:off x="6322682" y="1634728"/>
              <a:ext cx="537235"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标准化旅程模板</a:t>
              </a:r>
            </a:p>
          </p:txBody>
        </p:sp>
        <p:sp>
          <p:nvSpPr>
            <p:cNvPr id="92" name="TextBox 92"/>
            <p:cNvSpPr txBox="1"/>
            <p:nvPr/>
          </p:nvSpPr>
          <p:spPr>
            <a:xfrm>
              <a:off x="6360376" y="1749028"/>
              <a:ext cx="461848"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可配置可复用</a:t>
              </a:r>
            </a:p>
          </p:txBody>
        </p:sp>
        <p:sp>
          <p:nvSpPr>
            <p:cNvPr id="93" name="Rectangle 93"/>
            <p:cNvSpPr/>
            <p:nvPr/>
          </p:nvSpPr>
          <p:spPr>
            <a:xfrm>
              <a:off x="7581900" y="971550"/>
              <a:ext cx="495300" cy="342900"/>
            </a:xfrm>
            <a:prstGeom prst="rect">
              <a:avLst/>
            </a:prstGeom>
            <a:gradFill>
              <a:gsLst>
                <a:gs pos="0">
                  <a:srgbClr val="E9826B"/>
                </a:gs>
                <a:gs pos="45000">
                  <a:srgbClr val="A0270C"/>
                </a:gs>
                <a:gs pos="100000">
                  <a:srgbClr val="E9826B"/>
                </a:gs>
              </a:gsLst>
              <a:lin ang="0" scaled="1"/>
            </a:gradFill>
            <a:ln>
              <a:noFill/>
            </a:ln>
          </p:spPr>
        </p:sp>
        <p:sp>
          <p:nvSpPr>
            <p:cNvPr id="94" name="Ellipse 94"/>
            <p:cNvSpPr/>
            <p:nvPr/>
          </p:nvSpPr>
          <p:spPr>
            <a:xfrm>
              <a:off x="7581900" y="1247775"/>
              <a:ext cx="495300" cy="133350"/>
            </a:xfrm>
            <a:prstGeom prst="ellipse">
              <a:avLst/>
            </a:prstGeom>
            <a:solidFill>
              <a:srgbClr val="8F230A"/>
            </a:solidFill>
            <a:ln>
              <a:noFill/>
            </a:ln>
          </p:spPr>
        </p:sp>
        <p:sp>
          <p:nvSpPr>
            <p:cNvPr id="95" name="Ellipse 95"/>
            <p:cNvSpPr/>
            <p:nvPr/>
          </p:nvSpPr>
          <p:spPr>
            <a:xfrm>
              <a:off x="7581900" y="904875"/>
              <a:ext cx="495300" cy="133350"/>
            </a:xfrm>
            <a:prstGeom prst="ellipse">
              <a:avLst/>
            </a:prstGeom>
            <a:solidFill>
              <a:srgbClr val="F3B2A3"/>
            </a:solidFill>
            <a:ln>
              <a:noFill/>
            </a:ln>
          </p:spPr>
        </p:sp>
        <p:grpSp>
          <p:nvGrpSpPr>
            <p:cNvPr id="100" name="Group 100"/>
            <p:cNvGrpSpPr/>
            <p:nvPr/>
          </p:nvGrpSpPr>
          <p:grpSpPr>
            <a:xfrm>
              <a:off x="7779544" y="1085850"/>
              <a:ext cx="107156" cy="121444"/>
              <a:chOff x="7779544" y="1085850"/>
              <a:chExt cx="107156" cy="121444"/>
            </a:xfrm>
          </p:grpSpPr>
          <p:sp>
            <p:nvSpPr>
              <p:cNvPr id="96" name="Freeform 96"/>
              <p:cNvSpPr/>
              <p:nvPr/>
            </p:nvSpPr>
            <p:spPr>
              <a:xfrm>
                <a:off x="7779544" y="1085850"/>
                <a:ext cx="85725" cy="114300"/>
              </a:xfrm>
              <a:custGeom>
                <a:avLst/>
                <a:gdLst/>
                <a:ahLst/>
                <a:cxnLst/>
                <a:rect l="l" t="t" r="r" b="b"/>
                <a:pathLst>
                  <a:path w="85725" h="114300">
                    <a:moveTo>
                      <a:pt x="32968" y="114300"/>
                    </a:moveTo>
                    <a:lnTo>
                      <a:pt x="14288" y="114300"/>
                    </a:lnTo>
                    <a:cubicBezTo>
                      <a:pt x="6397" y="114300"/>
                      <a:pt x="0" y="107903"/>
                      <a:pt x="0" y="100012"/>
                    </a:cubicBezTo>
                    <a:lnTo>
                      <a:pt x="0" y="14288"/>
                    </a:lnTo>
                    <a:cubicBezTo>
                      <a:pt x="0" y="6397"/>
                      <a:pt x="6397" y="0"/>
                      <a:pt x="14288" y="0"/>
                    </a:cubicBezTo>
                    <a:lnTo>
                      <a:pt x="71438" y="0"/>
                    </a:lnTo>
                    <a:cubicBezTo>
                      <a:pt x="79328" y="0"/>
                      <a:pt x="85725" y="6397"/>
                      <a:pt x="85725" y="14288"/>
                    </a:cubicBezTo>
                    <a:lnTo>
                      <a:pt x="85725" y="71438"/>
                    </a:lnTo>
                  </a:path>
                </a:pathLst>
              </a:custGeom>
              <a:noFill/>
              <a:ln w="14288">
                <a:solidFill>
                  <a:srgbClr val="FFFFFF"/>
                </a:solidFill>
              </a:ln>
            </p:spPr>
          </p:sp>
          <p:sp>
            <p:nvSpPr>
              <p:cNvPr id="97" name="Freeform 97"/>
              <p:cNvSpPr/>
              <p:nvPr/>
            </p:nvSpPr>
            <p:spPr>
              <a:xfrm>
                <a:off x="7843838" y="117871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sp>
            <p:nvSpPr>
              <p:cNvPr id="98" name="Freeform 98"/>
              <p:cNvSpPr/>
              <p:nvPr/>
            </p:nvSpPr>
            <p:spPr>
              <a:xfrm>
                <a:off x="7808119" y="1114425"/>
                <a:ext cx="28575" cy="9525"/>
              </a:xfrm>
              <a:custGeom>
                <a:avLst/>
                <a:gdLst/>
                <a:ahLst/>
                <a:cxnLst/>
                <a:rect l="l" t="t" r="r" b="b"/>
                <a:pathLst>
                  <a:path w="28575" h="9525">
                    <a:moveTo>
                      <a:pt x="0" y="0"/>
                    </a:moveTo>
                    <a:lnTo>
                      <a:pt x="28575" y="0"/>
                    </a:lnTo>
                  </a:path>
                </a:pathLst>
              </a:custGeom>
              <a:noFill/>
              <a:ln w="14288">
                <a:solidFill>
                  <a:srgbClr val="FFFFFF"/>
                </a:solidFill>
              </a:ln>
            </p:spPr>
          </p:sp>
          <p:sp>
            <p:nvSpPr>
              <p:cNvPr id="99" name="Freeform 99"/>
              <p:cNvSpPr/>
              <p:nvPr/>
            </p:nvSpPr>
            <p:spPr>
              <a:xfrm>
                <a:off x="7808119" y="1143000"/>
                <a:ext cx="14288" cy="9525"/>
              </a:xfrm>
              <a:custGeom>
                <a:avLst/>
                <a:gdLst/>
                <a:ahLst/>
                <a:cxnLst/>
                <a:rect l="l" t="t" r="r" b="b"/>
                <a:pathLst>
                  <a:path w="14288" h="9525">
                    <a:moveTo>
                      <a:pt x="0" y="0"/>
                    </a:moveTo>
                    <a:lnTo>
                      <a:pt x="14288" y="0"/>
                    </a:lnTo>
                  </a:path>
                </a:pathLst>
              </a:custGeom>
              <a:noFill/>
              <a:ln w="14288">
                <a:solidFill>
                  <a:srgbClr val="FFFFFF"/>
                </a:solidFill>
              </a:ln>
            </p:spPr>
          </p:sp>
        </p:grpSp>
        <p:sp>
          <p:nvSpPr>
            <p:cNvPr id="101" name="TextBox 101"/>
            <p:cNvSpPr txBox="1"/>
            <p:nvPr/>
          </p:nvSpPr>
          <p:spPr>
            <a:xfrm>
              <a:off x="7585837" y="1485186"/>
              <a:ext cx="487426"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员工任务库</a:t>
              </a:r>
            </a:p>
          </p:txBody>
        </p:sp>
        <p:sp>
          <p:nvSpPr>
            <p:cNvPr id="102" name="TextBox 102"/>
            <p:cNvSpPr txBox="1"/>
            <p:nvPr/>
          </p:nvSpPr>
          <p:spPr>
            <a:xfrm>
              <a:off x="7560932" y="1634728"/>
              <a:ext cx="537235"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任务下发与提醒</a:t>
              </a:r>
            </a:p>
          </p:txBody>
        </p:sp>
        <p:sp>
          <p:nvSpPr>
            <p:cNvPr id="103" name="TextBox 103"/>
            <p:cNvSpPr txBox="1"/>
            <p:nvPr/>
          </p:nvSpPr>
          <p:spPr>
            <a:xfrm>
              <a:off x="7674013" y="17490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过程监控</a:t>
              </a:r>
            </a:p>
          </p:txBody>
        </p:sp>
        <p:sp>
          <p:nvSpPr>
            <p:cNvPr id="104" name="Rectangle 104"/>
            <p:cNvSpPr/>
            <p:nvPr/>
          </p:nvSpPr>
          <p:spPr>
            <a:xfrm>
              <a:off x="8820150" y="971550"/>
              <a:ext cx="495300" cy="342900"/>
            </a:xfrm>
            <a:prstGeom prst="rect">
              <a:avLst/>
            </a:prstGeom>
            <a:gradFill>
              <a:gsLst>
                <a:gs pos="0">
                  <a:srgbClr val="E9826B"/>
                </a:gs>
                <a:gs pos="45000">
                  <a:srgbClr val="A0270C"/>
                </a:gs>
                <a:gs pos="100000">
                  <a:srgbClr val="E9826B"/>
                </a:gs>
              </a:gsLst>
              <a:lin ang="0" scaled="1"/>
            </a:gradFill>
            <a:ln>
              <a:noFill/>
            </a:ln>
          </p:spPr>
        </p:sp>
        <p:sp>
          <p:nvSpPr>
            <p:cNvPr id="105" name="Ellipse 105"/>
            <p:cNvSpPr/>
            <p:nvPr/>
          </p:nvSpPr>
          <p:spPr>
            <a:xfrm>
              <a:off x="8820150" y="1247775"/>
              <a:ext cx="495300" cy="133350"/>
            </a:xfrm>
            <a:prstGeom prst="ellipse">
              <a:avLst/>
            </a:prstGeom>
            <a:solidFill>
              <a:srgbClr val="8F230A"/>
            </a:solidFill>
            <a:ln>
              <a:noFill/>
            </a:ln>
          </p:spPr>
        </p:sp>
        <p:sp>
          <p:nvSpPr>
            <p:cNvPr id="106" name="Ellipse 106"/>
            <p:cNvSpPr/>
            <p:nvPr/>
          </p:nvSpPr>
          <p:spPr>
            <a:xfrm>
              <a:off x="8820150" y="904875"/>
              <a:ext cx="495300" cy="133350"/>
            </a:xfrm>
            <a:prstGeom prst="ellipse">
              <a:avLst/>
            </a:prstGeom>
            <a:solidFill>
              <a:srgbClr val="F3B2A3"/>
            </a:solidFill>
            <a:ln>
              <a:noFill/>
            </a:ln>
          </p:spPr>
        </p:sp>
        <p:grpSp>
          <p:nvGrpSpPr>
            <p:cNvPr id="111" name="Group 111"/>
            <p:cNvGrpSpPr/>
            <p:nvPr/>
          </p:nvGrpSpPr>
          <p:grpSpPr>
            <a:xfrm>
              <a:off x="9003506" y="1085850"/>
              <a:ext cx="128587" cy="123825"/>
              <a:chOff x="9003506" y="1085850"/>
              <a:chExt cx="128587" cy="123825"/>
            </a:xfrm>
          </p:grpSpPr>
          <p:sp>
            <p:nvSpPr>
              <p:cNvPr id="107" name="Freeform 107"/>
              <p:cNvSpPr/>
              <p:nvPr/>
            </p:nvSpPr>
            <p:spPr>
              <a:xfrm>
                <a:off x="9003506" y="114300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FFFFFF"/>
                </a:solidFill>
              </a:ln>
            </p:spPr>
          </p:sp>
          <p:sp>
            <p:nvSpPr>
              <p:cNvPr id="108" name="Freeform 108"/>
              <p:cNvSpPr/>
              <p:nvPr/>
            </p:nvSpPr>
            <p:spPr>
              <a:xfrm>
                <a:off x="9089231" y="111442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FFFFFF"/>
                </a:solidFill>
              </a:ln>
            </p:spPr>
          </p:sp>
          <p:sp>
            <p:nvSpPr>
              <p:cNvPr id="109" name="Freeform 109"/>
              <p:cNvSpPr/>
              <p:nvPr/>
            </p:nvSpPr>
            <p:spPr>
              <a:xfrm>
                <a:off x="9046369" y="108585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FFFFFF"/>
                </a:solidFill>
              </a:ln>
            </p:spPr>
          </p:sp>
          <p:sp>
            <p:nvSpPr>
              <p:cNvPr id="110" name="Freeform 110"/>
              <p:cNvSpPr/>
              <p:nvPr/>
            </p:nvSpPr>
            <p:spPr>
              <a:xfrm>
                <a:off x="9010650" y="1200150"/>
                <a:ext cx="100012" cy="9525"/>
              </a:xfrm>
              <a:custGeom>
                <a:avLst/>
                <a:gdLst/>
                <a:ahLst/>
                <a:cxnLst/>
                <a:rect l="l" t="t" r="r" b="b"/>
                <a:pathLst>
                  <a:path w="100012" h="9525">
                    <a:moveTo>
                      <a:pt x="0" y="0"/>
                    </a:moveTo>
                    <a:lnTo>
                      <a:pt x="100012" y="0"/>
                    </a:lnTo>
                  </a:path>
                </a:pathLst>
              </a:custGeom>
              <a:noFill/>
              <a:ln w="14288">
                <a:solidFill>
                  <a:srgbClr val="FFFFFF"/>
                </a:solidFill>
              </a:ln>
            </p:spPr>
          </p:sp>
        </p:grpSp>
        <p:sp>
          <p:nvSpPr>
            <p:cNvPr id="112" name="TextBox 112"/>
            <p:cNvSpPr txBox="1"/>
            <p:nvPr/>
          </p:nvSpPr>
          <p:spPr>
            <a:xfrm>
              <a:off x="8824087" y="1485186"/>
              <a:ext cx="487426"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指标评价库</a:t>
              </a:r>
            </a:p>
          </p:txBody>
        </p:sp>
        <p:sp>
          <p:nvSpPr>
            <p:cNvPr id="113" name="TextBox 113"/>
            <p:cNvSpPr txBox="1"/>
            <p:nvPr/>
          </p:nvSpPr>
          <p:spPr>
            <a:xfrm>
              <a:off x="8836876" y="1634728"/>
              <a:ext cx="461848"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多维指标体系</a:t>
              </a:r>
            </a:p>
          </p:txBody>
        </p:sp>
        <p:sp>
          <p:nvSpPr>
            <p:cNvPr id="114" name="TextBox 114"/>
            <p:cNvSpPr txBox="1"/>
            <p:nvPr/>
          </p:nvSpPr>
          <p:spPr>
            <a:xfrm>
              <a:off x="8836876" y="1749028"/>
              <a:ext cx="461848"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数据看板闭环</a:t>
              </a:r>
            </a:p>
          </p:txBody>
        </p:sp>
        <p:sp>
          <p:nvSpPr>
            <p:cNvPr id="115" name="Rectangle 115"/>
            <p:cNvSpPr/>
            <p:nvPr/>
          </p:nvSpPr>
          <p:spPr>
            <a:xfrm>
              <a:off x="2286000" y="1943100"/>
              <a:ext cx="7372350" cy="381000"/>
            </a:xfrm>
            <a:prstGeom prst="roundRect">
              <a:avLst>
                <a:gd name="adj" fmla="val 50000"/>
              </a:avLst>
            </a:prstGeom>
            <a:gradFill>
              <a:gsLst>
                <a:gs pos="0">
                  <a:srgbClr val="D64F30"/>
                </a:gs>
                <a:gs pos="100000">
                  <a:srgbClr val="8F230A"/>
                </a:gs>
              </a:gsLst>
              <a:lin ang="5400000" scaled="1"/>
            </a:gradFill>
            <a:ln>
              <a:noFill/>
            </a:ln>
          </p:spPr>
        </p:sp>
        <p:sp>
          <p:nvSpPr>
            <p:cNvPr id="116" name="TextBox 116"/>
            <p:cNvSpPr txBox="1"/>
            <p:nvPr/>
          </p:nvSpPr>
          <p:spPr>
            <a:xfrm>
              <a:off x="5319903" y="2070735"/>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企微客户经营中台</a:t>
              </a:r>
            </a:p>
          </p:txBody>
        </p:sp>
        <p:sp>
          <p:nvSpPr>
            <p:cNvPr id="117" name="Freeform 117"/>
            <p:cNvSpPr/>
            <p:nvPr/>
          </p:nvSpPr>
          <p:spPr>
            <a:xfrm>
              <a:off x="4429125" y="2324100"/>
              <a:ext cx="95250" cy="114300"/>
            </a:xfrm>
            <a:prstGeom prst="upArrow">
              <a:avLst/>
            </a:prstGeom>
            <a:solidFill>
              <a:srgbClr val="E9826B"/>
            </a:solidFill>
            <a:ln>
              <a:noFill/>
            </a:ln>
          </p:spPr>
        </p:sp>
        <p:sp>
          <p:nvSpPr>
            <p:cNvPr id="118" name="Freeform 118"/>
            <p:cNvSpPr/>
            <p:nvPr/>
          </p:nvSpPr>
          <p:spPr>
            <a:xfrm>
              <a:off x="5191125" y="2324100"/>
              <a:ext cx="95250" cy="114300"/>
            </a:xfrm>
            <a:prstGeom prst="upArrow">
              <a:avLst/>
            </a:prstGeom>
            <a:solidFill>
              <a:srgbClr val="E9826B"/>
            </a:solidFill>
            <a:ln>
              <a:noFill/>
            </a:ln>
          </p:spPr>
        </p:sp>
        <p:sp>
          <p:nvSpPr>
            <p:cNvPr id="119" name="Freeform 119"/>
            <p:cNvSpPr/>
            <p:nvPr/>
          </p:nvSpPr>
          <p:spPr>
            <a:xfrm>
              <a:off x="5953125" y="2324100"/>
              <a:ext cx="95250" cy="114300"/>
            </a:xfrm>
            <a:prstGeom prst="upArrow">
              <a:avLst/>
            </a:prstGeom>
            <a:solidFill>
              <a:srgbClr val="E9826B"/>
            </a:solidFill>
            <a:ln>
              <a:noFill/>
            </a:ln>
          </p:spPr>
        </p:sp>
        <p:sp>
          <p:nvSpPr>
            <p:cNvPr id="120" name="Freeform 120"/>
            <p:cNvSpPr/>
            <p:nvPr/>
          </p:nvSpPr>
          <p:spPr>
            <a:xfrm>
              <a:off x="6715125" y="2324100"/>
              <a:ext cx="95250" cy="114300"/>
            </a:xfrm>
            <a:prstGeom prst="upArrow">
              <a:avLst/>
            </a:prstGeom>
            <a:solidFill>
              <a:srgbClr val="E9826B"/>
            </a:solidFill>
            <a:ln>
              <a:noFill/>
            </a:ln>
          </p:spPr>
        </p:sp>
        <p:sp>
          <p:nvSpPr>
            <p:cNvPr id="121" name="TextBox 121"/>
            <p:cNvSpPr txBox="1"/>
            <p:nvPr/>
          </p:nvSpPr>
          <p:spPr>
            <a:xfrm>
              <a:off x="4576762" y="2356009"/>
              <a:ext cx="375691" cy="133350"/>
            </a:xfrm>
            <a:prstGeom prst="rect">
              <a:avLst/>
            </a:prstGeom>
            <a:noFill/>
            <a:ln>
              <a:noFill/>
            </a:ln>
          </p:spPr>
          <p:txBody>
            <a:bodyPr wrap="none" lIns="0" tIns="0" rIns="0" bIns="0" anchor="t" anchorCtr="0">
              <a:spAutoFit/>
            </a:bodyPr>
            <a:lstStyle/>
            <a:p>
              <a:pPr algn="l"/>
              <a:r>
                <a:rPr lang="zh-CN" sz="680" b="1" dirty="0">
                  <a:solidFill>
                    <a:srgbClr val="C83210"/>
                  </a:solidFill>
                  <a:latin typeface="+mn-lt"/>
                  <a:ea typeface="+mn-ea"/>
                  <a:cs typeface="+mn-cs"/>
                </a:rPr>
                <a:t>数据驱动</a:t>
              </a:r>
            </a:p>
          </p:txBody>
        </p:sp>
        <p:sp>
          <p:nvSpPr>
            <p:cNvPr id="122" name="TextBox 122"/>
            <p:cNvSpPr txBox="1"/>
            <p:nvPr/>
          </p:nvSpPr>
          <p:spPr>
            <a:xfrm>
              <a:off x="5338762" y="2356009"/>
              <a:ext cx="375691" cy="133350"/>
            </a:xfrm>
            <a:prstGeom prst="rect">
              <a:avLst/>
            </a:prstGeom>
            <a:noFill/>
            <a:ln>
              <a:noFill/>
            </a:ln>
          </p:spPr>
          <p:txBody>
            <a:bodyPr wrap="none" lIns="0" tIns="0" rIns="0" bIns="0" anchor="t" anchorCtr="0">
              <a:spAutoFit/>
            </a:bodyPr>
            <a:lstStyle/>
            <a:p>
              <a:pPr algn="l"/>
              <a:r>
                <a:rPr lang="zh-CN" sz="680" b="1" dirty="0">
                  <a:solidFill>
                    <a:srgbClr val="C83210"/>
                  </a:solidFill>
                  <a:latin typeface="+mn-lt"/>
                  <a:ea typeface="+mn-ea"/>
                  <a:cs typeface="+mn-cs"/>
                </a:rPr>
                <a:t>规则引擎</a:t>
              </a:r>
            </a:p>
          </p:txBody>
        </p:sp>
        <p:sp>
          <p:nvSpPr>
            <p:cNvPr id="123" name="TextBox 123"/>
            <p:cNvSpPr txBox="1"/>
            <p:nvPr/>
          </p:nvSpPr>
          <p:spPr>
            <a:xfrm>
              <a:off x="6100762" y="2356009"/>
              <a:ext cx="375691" cy="133350"/>
            </a:xfrm>
            <a:prstGeom prst="rect">
              <a:avLst/>
            </a:prstGeom>
            <a:noFill/>
            <a:ln>
              <a:noFill/>
            </a:ln>
          </p:spPr>
          <p:txBody>
            <a:bodyPr wrap="none" lIns="0" tIns="0" rIns="0" bIns="0" anchor="t" anchorCtr="0">
              <a:spAutoFit/>
            </a:bodyPr>
            <a:lstStyle/>
            <a:p>
              <a:pPr algn="l"/>
              <a:r>
                <a:rPr lang="zh-CN" sz="680" b="1" dirty="0">
                  <a:solidFill>
                    <a:srgbClr val="C83210"/>
                  </a:solidFill>
                  <a:latin typeface="+mn-lt"/>
                  <a:ea typeface="+mn-ea"/>
                  <a:cs typeface="+mn-cs"/>
                </a:rPr>
                <a:t>智能运营</a:t>
              </a:r>
            </a:p>
          </p:txBody>
        </p:sp>
        <p:sp>
          <p:nvSpPr>
            <p:cNvPr id="124" name="TextBox 124"/>
            <p:cNvSpPr txBox="1"/>
            <p:nvPr/>
          </p:nvSpPr>
          <p:spPr>
            <a:xfrm>
              <a:off x="6862762" y="2356009"/>
              <a:ext cx="375691" cy="133350"/>
            </a:xfrm>
            <a:prstGeom prst="rect">
              <a:avLst/>
            </a:prstGeom>
            <a:noFill/>
            <a:ln>
              <a:noFill/>
            </a:ln>
          </p:spPr>
          <p:txBody>
            <a:bodyPr wrap="none" lIns="0" tIns="0" rIns="0" bIns="0" anchor="t" anchorCtr="0">
              <a:spAutoFit/>
            </a:bodyPr>
            <a:lstStyle/>
            <a:p>
              <a:pPr algn="l"/>
              <a:r>
                <a:rPr lang="zh-CN" sz="680" b="1" dirty="0">
                  <a:solidFill>
                    <a:srgbClr val="C83210"/>
                  </a:solidFill>
                  <a:latin typeface="+mn-lt"/>
                  <a:ea typeface="+mn-ea"/>
                  <a:cs typeface="+mn-cs"/>
                </a:rPr>
                <a:t>安全合规</a:t>
              </a:r>
            </a:p>
          </p:txBody>
        </p:sp>
      </p:grpSp>
      <p:grpSp>
        <p:nvGrpSpPr>
          <p:cNvPr id="217" name="loop"/>
          <p:cNvGrpSpPr/>
          <p:nvPr/>
        </p:nvGrpSpPr>
        <p:grpSpPr>
          <a:xfrm>
            <a:off x="1905000" y="2571750"/>
            <a:ext cx="8010525" cy="1305163"/>
            <a:chOff x="1905000" y="2571750"/>
            <a:chExt cx="8010525" cy="1305163"/>
          </a:xfrm>
        </p:grpSpPr>
        <p:sp>
          <p:nvSpPr>
            <p:cNvPr id="126" name="Rectangle 126"/>
            <p:cNvSpPr/>
            <p:nvPr/>
          </p:nvSpPr>
          <p:spPr>
            <a:xfrm>
              <a:off x="1905000" y="2571750"/>
              <a:ext cx="209550" cy="1276350"/>
            </a:xfrm>
            <a:prstGeom prst="roundRect">
              <a:avLst>
                <a:gd name="adj" fmla="val 13636"/>
              </a:avLst>
            </a:prstGeom>
            <a:solidFill>
              <a:srgbClr val="FBE3E6"/>
            </a:solidFill>
            <a:ln>
              <a:noFill/>
            </a:ln>
          </p:spPr>
        </p:sp>
        <p:sp>
          <p:nvSpPr>
            <p:cNvPr id="127" name="TextBox 127"/>
            <p:cNvSpPr txBox="1"/>
            <p:nvPr/>
          </p:nvSpPr>
          <p:spPr>
            <a:xfrm>
              <a:off x="1954530" y="2700338"/>
              <a:ext cx="11049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客</a:t>
              </a:r>
            </a:p>
          </p:txBody>
        </p:sp>
        <p:sp>
          <p:nvSpPr>
            <p:cNvPr id="128" name="TextBox 128"/>
            <p:cNvSpPr txBox="1"/>
            <p:nvPr/>
          </p:nvSpPr>
          <p:spPr>
            <a:xfrm>
              <a:off x="1954530" y="2852738"/>
              <a:ext cx="11049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户</a:t>
              </a:r>
            </a:p>
          </p:txBody>
        </p:sp>
        <p:sp>
          <p:nvSpPr>
            <p:cNvPr id="129" name="TextBox 129"/>
            <p:cNvSpPr txBox="1"/>
            <p:nvPr/>
          </p:nvSpPr>
          <p:spPr>
            <a:xfrm>
              <a:off x="1954530" y="3005138"/>
              <a:ext cx="11049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经</a:t>
              </a:r>
            </a:p>
          </p:txBody>
        </p:sp>
        <p:sp>
          <p:nvSpPr>
            <p:cNvPr id="130" name="TextBox 130"/>
            <p:cNvSpPr txBox="1"/>
            <p:nvPr/>
          </p:nvSpPr>
          <p:spPr>
            <a:xfrm>
              <a:off x="1954530" y="3157538"/>
              <a:ext cx="11049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营</a:t>
              </a:r>
            </a:p>
          </p:txBody>
        </p:sp>
        <p:sp>
          <p:nvSpPr>
            <p:cNvPr id="131" name="TextBox 131"/>
            <p:cNvSpPr txBox="1"/>
            <p:nvPr/>
          </p:nvSpPr>
          <p:spPr>
            <a:xfrm>
              <a:off x="1954530" y="3309938"/>
              <a:ext cx="11049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闭</a:t>
              </a:r>
            </a:p>
          </p:txBody>
        </p:sp>
        <p:sp>
          <p:nvSpPr>
            <p:cNvPr id="132" name="TextBox 132"/>
            <p:cNvSpPr txBox="1"/>
            <p:nvPr/>
          </p:nvSpPr>
          <p:spPr>
            <a:xfrm>
              <a:off x="1954530" y="3462338"/>
              <a:ext cx="110490" cy="147638"/>
            </a:xfrm>
            <a:prstGeom prst="rect">
              <a:avLst/>
            </a:prstGeom>
            <a:noFill/>
            <a:ln>
              <a:noFill/>
            </a:ln>
          </p:spPr>
          <p:txBody>
            <a:bodyPr wrap="none" lIns="0" tIns="0" rIns="0" bIns="0" anchor="t" anchorCtr="0">
              <a:spAutoFit/>
            </a:bodyPr>
            <a:lstStyle/>
            <a:p>
              <a:pPr algn="ctr"/>
              <a:r>
                <a:rPr lang="zh-CN" sz="750" b="1" dirty="0">
                  <a:solidFill>
                    <a:srgbClr val="C83210"/>
                  </a:solidFill>
                  <a:latin typeface="+mn-lt"/>
                  <a:ea typeface="+mn-ea"/>
                  <a:cs typeface="+mn-cs"/>
                </a:rPr>
                <a:t>环</a:t>
              </a:r>
            </a:p>
          </p:txBody>
        </p:sp>
        <p:sp>
          <p:nvSpPr>
            <p:cNvPr id="133" name="Ellipse 133"/>
            <p:cNvSpPr/>
            <p:nvPr/>
          </p:nvSpPr>
          <p:spPr>
            <a:xfrm>
              <a:off x="2438400" y="2819400"/>
              <a:ext cx="419100" cy="419100"/>
            </a:xfrm>
            <a:prstGeom prst="ellipse">
              <a:avLst/>
            </a:prstGeom>
            <a:gradFill>
              <a:gsLst>
                <a:gs pos="0">
                  <a:srgbClr val="D64F30"/>
                </a:gs>
                <a:gs pos="100000">
                  <a:srgbClr val="8F230A"/>
                </a:gs>
              </a:gsLst>
              <a:lin ang="5400000" scaled="1"/>
            </a:gradFill>
            <a:ln>
              <a:noFill/>
            </a:ln>
          </p:spPr>
        </p:sp>
        <p:grpSp>
          <p:nvGrpSpPr>
            <p:cNvPr id="138" name="Group 138"/>
            <p:cNvGrpSpPr/>
            <p:nvPr/>
          </p:nvGrpSpPr>
          <p:grpSpPr>
            <a:xfrm>
              <a:off x="2576512" y="2957512"/>
              <a:ext cx="142875" cy="142875"/>
              <a:chOff x="2576512" y="2957512"/>
              <a:chExt cx="142875" cy="142875"/>
            </a:xfrm>
          </p:grpSpPr>
          <p:sp>
            <p:nvSpPr>
              <p:cNvPr id="134" name="Freeform 134"/>
              <p:cNvSpPr/>
              <p:nvPr/>
            </p:nvSpPr>
            <p:spPr>
              <a:xfrm>
                <a:off x="2592387" y="29575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135" name="Freeform 135"/>
              <p:cNvSpPr/>
              <p:nvPr/>
            </p:nvSpPr>
            <p:spPr>
              <a:xfrm>
                <a:off x="2576512" y="30527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136" name="Freeform 136"/>
              <p:cNvSpPr/>
              <p:nvPr/>
            </p:nvSpPr>
            <p:spPr>
              <a:xfrm>
                <a:off x="2679700" y="29585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137" name="Freeform 137"/>
              <p:cNvSpPr/>
              <p:nvPr/>
            </p:nvSpPr>
            <p:spPr>
              <a:xfrm>
                <a:off x="2695575" y="30539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139" name="TextBox 139"/>
            <p:cNvSpPr txBox="1"/>
            <p:nvPr/>
          </p:nvSpPr>
          <p:spPr>
            <a:xfrm>
              <a:off x="2547607" y="3313986"/>
              <a:ext cx="200685"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获客</a:t>
              </a:r>
            </a:p>
          </p:txBody>
        </p:sp>
        <p:sp>
          <p:nvSpPr>
            <p:cNvPr id="140" name="TextBox 140"/>
            <p:cNvSpPr txBox="1"/>
            <p:nvPr/>
          </p:nvSpPr>
          <p:spPr>
            <a:xfrm>
              <a:off x="2454720" y="3463528"/>
              <a:ext cx="386461"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多渠道引流</a:t>
              </a:r>
            </a:p>
          </p:txBody>
        </p:sp>
        <p:sp>
          <p:nvSpPr>
            <p:cNvPr id="141" name="TextBox 141"/>
            <p:cNvSpPr txBox="1"/>
            <p:nvPr/>
          </p:nvSpPr>
          <p:spPr>
            <a:xfrm>
              <a:off x="2492413" y="35778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客户添加</a:t>
              </a:r>
            </a:p>
          </p:txBody>
        </p:sp>
        <p:sp>
          <p:nvSpPr>
            <p:cNvPr id="142" name="Ellipse 142"/>
            <p:cNvSpPr/>
            <p:nvPr/>
          </p:nvSpPr>
          <p:spPr>
            <a:xfrm>
              <a:off x="3305175" y="2819400"/>
              <a:ext cx="419100" cy="419100"/>
            </a:xfrm>
            <a:prstGeom prst="ellipse">
              <a:avLst/>
            </a:prstGeom>
            <a:gradFill>
              <a:gsLst>
                <a:gs pos="0">
                  <a:srgbClr val="D64F30"/>
                </a:gs>
                <a:gs pos="100000">
                  <a:srgbClr val="8F230A"/>
                </a:gs>
              </a:gsLst>
              <a:lin ang="5400000" scaled="1"/>
            </a:gradFill>
            <a:ln>
              <a:noFill/>
            </a:ln>
          </p:spPr>
        </p:sp>
        <p:grpSp>
          <p:nvGrpSpPr>
            <p:cNvPr id="145" name="Group 145"/>
            <p:cNvGrpSpPr/>
            <p:nvPr/>
          </p:nvGrpSpPr>
          <p:grpSpPr>
            <a:xfrm>
              <a:off x="3432575" y="2957512"/>
              <a:ext cx="155005" cy="142875"/>
              <a:chOff x="3432575" y="2957512"/>
              <a:chExt cx="155005" cy="142875"/>
            </a:xfrm>
          </p:grpSpPr>
          <p:sp>
            <p:nvSpPr>
              <p:cNvPr id="143" name="Freeform 143"/>
              <p:cNvSpPr/>
              <p:nvPr/>
            </p:nvSpPr>
            <p:spPr>
              <a:xfrm>
                <a:off x="3432575" y="29575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144" name="Freeform 144"/>
              <p:cNvSpPr/>
              <p:nvPr/>
            </p:nvSpPr>
            <p:spPr>
              <a:xfrm>
                <a:off x="3538537" y="306863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146" name="TextBox 146"/>
            <p:cNvSpPr txBox="1"/>
            <p:nvPr/>
          </p:nvSpPr>
          <p:spPr>
            <a:xfrm>
              <a:off x="3414382" y="3313986"/>
              <a:ext cx="200685"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认证</a:t>
              </a:r>
            </a:p>
          </p:txBody>
        </p:sp>
        <p:sp>
          <p:nvSpPr>
            <p:cNvPr id="147" name="TextBox 147"/>
            <p:cNvSpPr txBox="1"/>
            <p:nvPr/>
          </p:nvSpPr>
          <p:spPr>
            <a:xfrm>
              <a:off x="3283801" y="3463528"/>
              <a:ext cx="461848"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企微身份认证</a:t>
              </a:r>
            </a:p>
          </p:txBody>
        </p:sp>
        <p:sp>
          <p:nvSpPr>
            <p:cNvPr id="148" name="TextBox 148"/>
            <p:cNvSpPr txBox="1"/>
            <p:nvPr/>
          </p:nvSpPr>
          <p:spPr>
            <a:xfrm>
              <a:off x="3359188" y="35778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建立信任</a:t>
              </a:r>
            </a:p>
          </p:txBody>
        </p:sp>
        <p:sp>
          <p:nvSpPr>
            <p:cNvPr id="149" name="Ellipse 149"/>
            <p:cNvSpPr/>
            <p:nvPr/>
          </p:nvSpPr>
          <p:spPr>
            <a:xfrm>
              <a:off x="4171950" y="2819400"/>
              <a:ext cx="419100" cy="419100"/>
            </a:xfrm>
            <a:prstGeom prst="ellipse">
              <a:avLst/>
            </a:prstGeom>
            <a:gradFill>
              <a:gsLst>
                <a:gs pos="0">
                  <a:srgbClr val="D64F30"/>
                </a:gs>
                <a:gs pos="100000">
                  <a:srgbClr val="8F230A"/>
                </a:gs>
              </a:gsLst>
              <a:lin ang="5400000" scaled="1"/>
            </a:gradFill>
            <a:ln>
              <a:noFill/>
            </a:ln>
          </p:spPr>
        </p:sp>
        <p:grpSp>
          <p:nvGrpSpPr>
            <p:cNvPr id="153" name="Group 153"/>
            <p:cNvGrpSpPr/>
            <p:nvPr/>
          </p:nvGrpSpPr>
          <p:grpSpPr>
            <a:xfrm>
              <a:off x="4318000" y="2965450"/>
              <a:ext cx="127000" cy="127000"/>
              <a:chOff x="4318000" y="2965450"/>
              <a:chExt cx="127000" cy="127000"/>
            </a:xfrm>
          </p:grpSpPr>
          <p:sp>
            <p:nvSpPr>
              <p:cNvPr id="150" name="Freeform 150"/>
              <p:cNvSpPr/>
              <p:nvPr/>
            </p:nvSpPr>
            <p:spPr>
              <a:xfrm>
                <a:off x="4318000" y="2965450"/>
                <a:ext cx="127000" cy="63500"/>
              </a:xfrm>
              <a:custGeom>
                <a:avLst/>
                <a:gdLst/>
                <a:ahLst/>
                <a:cxnLst/>
                <a:rect l="l" t="t" r="r" b="b"/>
                <a:pathLst>
                  <a:path w="127000" h="63500">
                    <a:moveTo>
                      <a:pt x="63500" y="0"/>
                    </a:moveTo>
                    <a:lnTo>
                      <a:pt x="0" y="31750"/>
                    </a:lnTo>
                    <a:lnTo>
                      <a:pt x="63500" y="63500"/>
                    </a:lnTo>
                    <a:lnTo>
                      <a:pt x="127000" y="31750"/>
                    </a:lnTo>
                    <a:lnTo>
                      <a:pt x="63500" y="0"/>
                    </a:lnTo>
                  </a:path>
                </a:pathLst>
              </a:custGeom>
              <a:noFill/>
              <a:ln w="15875">
                <a:solidFill>
                  <a:srgbClr val="FFFFFF"/>
                </a:solidFill>
              </a:ln>
            </p:spPr>
          </p:sp>
          <p:sp>
            <p:nvSpPr>
              <p:cNvPr id="151" name="Freeform 151"/>
              <p:cNvSpPr/>
              <p:nvPr/>
            </p:nvSpPr>
            <p:spPr>
              <a:xfrm>
                <a:off x="4318000" y="3028950"/>
                <a:ext cx="127000" cy="31750"/>
              </a:xfrm>
              <a:custGeom>
                <a:avLst/>
                <a:gdLst/>
                <a:ahLst/>
                <a:cxnLst/>
                <a:rect l="l" t="t" r="r" b="b"/>
                <a:pathLst>
                  <a:path w="127000" h="31750">
                    <a:moveTo>
                      <a:pt x="0" y="0"/>
                    </a:moveTo>
                    <a:lnTo>
                      <a:pt x="63500" y="31750"/>
                    </a:lnTo>
                    <a:lnTo>
                      <a:pt x="127000" y="0"/>
                    </a:lnTo>
                  </a:path>
                </a:pathLst>
              </a:custGeom>
              <a:noFill/>
              <a:ln w="15875">
                <a:solidFill>
                  <a:srgbClr val="FFFFFF"/>
                </a:solidFill>
              </a:ln>
            </p:spPr>
          </p:sp>
          <p:sp>
            <p:nvSpPr>
              <p:cNvPr id="152" name="Freeform 152"/>
              <p:cNvSpPr/>
              <p:nvPr/>
            </p:nvSpPr>
            <p:spPr>
              <a:xfrm>
                <a:off x="4318000" y="3060700"/>
                <a:ext cx="127000" cy="31750"/>
              </a:xfrm>
              <a:custGeom>
                <a:avLst/>
                <a:gdLst/>
                <a:ahLst/>
                <a:cxnLst/>
                <a:rect l="l" t="t" r="r" b="b"/>
                <a:pathLst>
                  <a:path w="127000" h="31750">
                    <a:moveTo>
                      <a:pt x="0" y="0"/>
                    </a:moveTo>
                    <a:lnTo>
                      <a:pt x="63500" y="31750"/>
                    </a:lnTo>
                    <a:lnTo>
                      <a:pt x="127000" y="0"/>
                    </a:lnTo>
                  </a:path>
                </a:pathLst>
              </a:custGeom>
              <a:noFill/>
              <a:ln w="15875">
                <a:solidFill>
                  <a:srgbClr val="FFFFFF"/>
                </a:solidFill>
              </a:ln>
            </p:spPr>
          </p:sp>
        </p:grpSp>
        <p:sp>
          <p:nvSpPr>
            <p:cNvPr id="154" name="TextBox 154"/>
            <p:cNvSpPr txBox="1"/>
            <p:nvPr/>
          </p:nvSpPr>
          <p:spPr>
            <a:xfrm>
              <a:off x="4281157" y="3313986"/>
              <a:ext cx="200685"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分层</a:t>
              </a:r>
            </a:p>
          </p:txBody>
        </p:sp>
        <p:sp>
          <p:nvSpPr>
            <p:cNvPr id="155" name="TextBox 155"/>
            <p:cNvSpPr txBox="1"/>
            <p:nvPr/>
          </p:nvSpPr>
          <p:spPr>
            <a:xfrm>
              <a:off x="4225963" y="34635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标签识别</a:t>
              </a:r>
            </a:p>
          </p:txBody>
        </p:sp>
        <p:sp>
          <p:nvSpPr>
            <p:cNvPr id="156" name="TextBox 156"/>
            <p:cNvSpPr txBox="1"/>
            <p:nvPr/>
          </p:nvSpPr>
          <p:spPr>
            <a:xfrm>
              <a:off x="4225963" y="35778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客户分层</a:t>
              </a:r>
            </a:p>
          </p:txBody>
        </p:sp>
        <p:sp>
          <p:nvSpPr>
            <p:cNvPr id="157" name="Ellipse 157"/>
            <p:cNvSpPr/>
            <p:nvPr/>
          </p:nvSpPr>
          <p:spPr>
            <a:xfrm>
              <a:off x="5048250" y="2819400"/>
              <a:ext cx="419100" cy="419100"/>
            </a:xfrm>
            <a:prstGeom prst="ellipse">
              <a:avLst/>
            </a:prstGeom>
            <a:gradFill>
              <a:gsLst>
                <a:gs pos="0">
                  <a:srgbClr val="D64F30"/>
                </a:gs>
                <a:gs pos="100000">
                  <a:srgbClr val="8F230A"/>
                </a:gs>
              </a:gsLst>
              <a:lin ang="5400000" scaled="1"/>
            </a:gradFill>
            <a:ln>
              <a:noFill/>
            </a:ln>
          </p:spPr>
        </p:sp>
        <p:grpSp>
          <p:nvGrpSpPr>
            <p:cNvPr id="163" name="Group 163"/>
            <p:cNvGrpSpPr/>
            <p:nvPr/>
          </p:nvGrpSpPr>
          <p:grpSpPr>
            <a:xfrm>
              <a:off x="5202237" y="2957512"/>
              <a:ext cx="111125" cy="142875"/>
              <a:chOff x="5202237" y="2957512"/>
              <a:chExt cx="111125" cy="142875"/>
            </a:xfrm>
          </p:grpSpPr>
          <p:sp>
            <p:nvSpPr>
              <p:cNvPr id="158" name="Freeform 158"/>
              <p:cNvSpPr/>
              <p:nvPr/>
            </p:nvSpPr>
            <p:spPr>
              <a:xfrm>
                <a:off x="5273675" y="29575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159" name="Freeform 159"/>
              <p:cNvSpPr/>
              <p:nvPr/>
            </p:nvSpPr>
            <p:spPr>
              <a:xfrm>
                <a:off x="5202237" y="29575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160" name="Freeform 160"/>
              <p:cNvSpPr/>
              <p:nvPr/>
            </p:nvSpPr>
            <p:spPr>
              <a:xfrm>
                <a:off x="5233987" y="300513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61" name="Freeform 161"/>
              <p:cNvSpPr/>
              <p:nvPr/>
            </p:nvSpPr>
            <p:spPr>
              <a:xfrm>
                <a:off x="5233987" y="303688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162" name="Freeform 162"/>
              <p:cNvSpPr/>
              <p:nvPr/>
            </p:nvSpPr>
            <p:spPr>
              <a:xfrm>
                <a:off x="5233987" y="306863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164" name="TextBox 164"/>
            <p:cNvSpPr txBox="1"/>
            <p:nvPr/>
          </p:nvSpPr>
          <p:spPr>
            <a:xfrm>
              <a:off x="5157457" y="3313986"/>
              <a:ext cx="200685"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内容</a:t>
              </a:r>
            </a:p>
          </p:txBody>
        </p:sp>
        <p:sp>
          <p:nvSpPr>
            <p:cNvPr id="165" name="TextBox 165"/>
            <p:cNvSpPr txBox="1"/>
            <p:nvPr/>
          </p:nvSpPr>
          <p:spPr>
            <a:xfrm>
              <a:off x="5026876" y="3463528"/>
              <a:ext cx="461848"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精准内容匹配</a:t>
              </a:r>
            </a:p>
          </p:txBody>
        </p:sp>
        <p:sp>
          <p:nvSpPr>
            <p:cNvPr id="166" name="TextBox 166"/>
            <p:cNvSpPr txBox="1"/>
            <p:nvPr/>
          </p:nvSpPr>
          <p:spPr>
            <a:xfrm>
              <a:off x="5064570" y="3577828"/>
              <a:ext cx="386461"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个性化推送</a:t>
              </a:r>
            </a:p>
          </p:txBody>
        </p:sp>
        <p:sp>
          <p:nvSpPr>
            <p:cNvPr id="167" name="Ellipse 167"/>
            <p:cNvSpPr/>
            <p:nvPr/>
          </p:nvSpPr>
          <p:spPr>
            <a:xfrm>
              <a:off x="5915025" y="2819400"/>
              <a:ext cx="419100" cy="419100"/>
            </a:xfrm>
            <a:prstGeom prst="ellipse">
              <a:avLst/>
            </a:prstGeom>
            <a:gradFill>
              <a:gsLst>
                <a:gs pos="0">
                  <a:srgbClr val="D64F30"/>
                </a:gs>
                <a:gs pos="100000">
                  <a:srgbClr val="8F230A"/>
                </a:gs>
              </a:gsLst>
              <a:lin ang="5400000" scaled="1"/>
            </a:gradFill>
            <a:ln>
              <a:noFill/>
            </a:ln>
          </p:spPr>
        </p:sp>
        <p:grpSp>
          <p:nvGrpSpPr>
            <p:cNvPr id="170" name="Group 170"/>
            <p:cNvGrpSpPr/>
            <p:nvPr/>
          </p:nvGrpSpPr>
          <p:grpSpPr>
            <a:xfrm>
              <a:off x="6050591" y="2957512"/>
              <a:ext cx="145422" cy="145422"/>
              <a:chOff x="6050591" y="2957512"/>
              <a:chExt cx="145422" cy="145422"/>
            </a:xfrm>
          </p:grpSpPr>
          <p:sp>
            <p:nvSpPr>
              <p:cNvPr id="168" name="Freeform 168"/>
              <p:cNvSpPr/>
              <p:nvPr/>
            </p:nvSpPr>
            <p:spPr>
              <a:xfrm>
                <a:off x="6108700" y="2957512"/>
                <a:ext cx="87312" cy="87312"/>
              </a:xfrm>
              <a:custGeom>
                <a:avLst/>
                <a:gdLst/>
                <a:ahLst/>
                <a:cxnLst/>
                <a:rect l="l" t="t" r="r" b="b"/>
                <a:pathLst>
                  <a:path w="87312" h="87312">
                    <a:moveTo>
                      <a:pt x="0" y="87312"/>
                    </a:moveTo>
                    <a:lnTo>
                      <a:pt x="87312" y="0"/>
                    </a:lnTo>
                  </a:path>
                </a:pathLst>
              </a:custGeom>
              <a:noFill/>
              <a:ln w="15875">
                <a:solidFill>
                  <a:srgbClr val="FFFFFF"/>
                </a:solidFill>
              </a:ln>
            </p:spPr>
          </p:sp>
          <p:sp>
            <p:nvSpPr>
              <p:cNvPr id="169" name="Freeform 169"/>
              <p:cNvSpPr/>
              <p:nvPr/>
            </p:nvSpPr>
            <p:spPr>
              <a:xfrm>
                <a:off x="6050591" y="2957512"/>
                <a:ext cx="145422" cy="145422"/>
              </a:xfrm>
              <a:custGeom>
                <a:avLst/>
                <a:gdLst/>
                <a:ahLst/>
                <a:cxnLst/>
                <a:rect l="l" t="t" r="r" b="b"/>
                <a:pathLst>
                  <a:path w="145422" h="145422">
                    <a:moveTo>
                      <a:pt x="145422" y="0"/>
                    </a:moveTo>
                    <a:lnTo>
                      <a:pt x="93828" y="142875"/>
                    </a:lnTo>
                    <a:cubicBezTo>
                      <a:pt x="93117" y="144427"/>
                      <a:pt x="91566" y="145422"/>
                      <a:pt x="89859" y="145422"/>
                    </a:cubicBezTo>
                    <a:cubicBezTo>
                      <a:pt x="88152" y="145422"/>
                      <a:pt x="86602" y="144427"/>
                      <a:pt x="85891" y="142875"/>
                    </a:cubicBezTo>
                    <a:lnTo>
                      <a:pt x="58109" y="87312"/>
                    </a:lnTo>
                    <a:lnTo>
                      <a:pt x="2547" y="59531"/>
                    </a:lnTo>
                    <a:cubicBezTo>
                      <a:pt x="995" y="58820"/>
                      <a:pt x="0" y="57270"/>
                      <a:pt x="0" y="55562"/>
                    </a:cubicBezTo>
                    <a:cubicBezTo>
                      <a:pt x="0" y="53855"/>
                      <a:pt x="995" y="52305"/>
                      <a:pt x="2547" y="51594"/>
                    </a:cubicBezTo>
                    <a:lnTo>
                      <a:pt x="145422" y="0"/>
                    </a:lnTo>
                  </a:path>
                </a:pathLst>
              </a:custGeom>
              <a:noFill/>
              <a:ln w="15875">
                <a:solidFill>
                  <a:srgbClr val="FFFFFF"/>
                </a:solidFill>
              </a:ln>
            </p:spPr>
          </p:sp>
        </p:grpSp>
        <p:sp>
          <p:nvSpPr>
            <p:cNvPr id="171" name="TextBox 171"/>
            <p:cNvSpPr txBox="1"/>
            <p:nvPr/>
          </p:nvSpPr>
          <p:spPr>
            <a:xfrm>
              <a:off x="6024232" y="3313986"/>
              <a:ext cx="200685"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触达</a:t>
              </a:r>
            </a:p>
          </p:txBody>
        </p:sp>
        <p:sp>
          <p:nvSpPr>
            <p:cNvPr id="172" name="TextBox 172"/>
            <p:cNvSpPr txBox="1"/>
            <p:nvPr/>
          </p:nvSpPr>
          <p:spPr>
            <a:xfrm>
              <a:off x="5931344" y="3463528"/>
              <a:ext cx="386461"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多触点触达</a:t>
              </a:r>
            </a:p>
          </p:txBody>
        </p:sp>
        <p:sp>
          <p:nvSpPr>
            <p:cNvPr id="173" name="TextBox 173"/>
            <p:cNvSpPr txBox="1"/>
            <p:nvPr/>
          </p:nvSpPr>
          <p:spPr>
            <a:xfrm>
              <a:off x="5931344" y="3577828"/>
              <a:ext cx="386461"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自动化执行</a:t>
              </a:r>
            </a:p>
          </p:txBody>
        </p:sp>
        <p:sp>
          <p:nvSpPr>
            <p:cNvPr id="174" name="Ellipse 174"/>
            <p:cNvSpPr/>
            <p:nvPr/>
          </p:nvSpPr>
          <p:spPr>
            <a:xfrm>
              <a:off x="6781800" y="2819400"/>
              <a:ext cx="419100" cy="419100"/>
            </a:xfrm>
            <a:prstGeom prst="ellipse">
              <a:avLst/>
            </a:prstGeom>
            <a:gradFill>
              <a:gsLst>
                <a:gs pos="0">
                  <a:srgbClr val="D64F30"/>
                </a:gs>
                <a:gs pos="100000">
                  <a:srgbClr val="8F230A"/>
                </a:gs>
              </a:gsLst>
              <a:lin ang="5400000" scaled="1"/>
            </a:gradFill>
            <a:ln>
              <a:noFill/>
            </a:ln>
          </p:spPr>
        </p:sp>
        <p:sp>
          <p:nvSpPr>
            <p:cNvPr id="175" name="Freeform 175"/>
            <p:cNvSpPr/>
            <p:nvPr/>
          </p:nvSpPr>
          <p:spPr>
            <a:xfrm>
              <a:off x="6911784" y="295929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FFFFFF"/>
              </a:solidFill>
            </a:ln>
          </p:spPr>
        </p:sp>
        <p:sp>
          <p:nvSpPr>
            <p:cNvPr id="176" name="TextBox 176"/>
            <p:cNvSpPr txBox="1"/>
            <p:nvPr/>
          </p:nvSpPr>
          <p:spPr>
            <a:xfrm>
              <a:off x="6891007" y="3313986"/>
              <a:ext cx="200685"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互动</a:t>
              </a:r>
            </a:p>
          </p:txBody>
        </p:sp>
        <p:sp>
          <p:nvSpPr>
            <p:cNvPr id="177" name="TextBox 177"/>
            <p:cNvSpPr txBox="1"/>
            <p:nvPr/>
          </p:nvSpPr>
          <p:spPr>
            <a:xfrm>
              <a:off x="6760426" y="3463528"/>
              <a:ext cx="461848"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客户反馈互动</a:t>
              </a:r>
            </a:p>
          </p:txBody>
        </p:sp>
        <p:sp>
          <p:nvSpPr>
            <p:cNvPr id="178" name="TextBox 178"/>
            <p:cNvSpPr txBox="1"/>
            <p:nvPr/>
          </p:nvSpPr>
          <p:spPr>
            <a:xfrm>
              <a:off x="6835813" y="35778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需求捕捉</a:t>
              </a:r>
            </a:p>
          </p:txBody>
        </p:sp>
        <p:sp>
          <p:nvSpPr>
            <p:cNvPr id="179" name="Ellipse 179"/>
            <p:cNvSpPr/>
            <p:nvPr/>
          </p:nvSpPr>
          <p:spPr>
            <a:xfrm>
              <a:off x="7658100" y="2819400"/>
              <a:ext cx="419100" cy="419100"/>
            </a:xfrm>
            <a:prstGeom prst="ellipse">
              <a:avLst/>
            </a:prstGeom>
            <a:gradFill>
              <a:gsLst>
                <a:gs pos="0">
                  <a:srgbClr val="D64F30"/>
                </a:gs>
                <a:gs pos="100000">
                  <a:srgbClr val="8F230A"/>
                </a:gs>
              </a:gsLst>
              <a:lin ang="5400000" scaled="1"/>
            </a:gradFill>
            <a:ln>
              <a:noFill/>
            </a:ln>
          </p:spPr>
        </p:sp>
        <p:grpSp>
          <p:nvGrpSpPr>
            <p:cNvPr id="184" name="Group 184"/>
            <p:cNvGrpSpPr/>
            <p:nvPr/>
          </p:nvGrpSpPr>
          <p:grpSpPr>
            <a:xfrm>
              <a:off x="7820025" y="2957512"/>
              <a:ext cx="126999" cy="150812"/>
              <a:chOff x="7820025" y="2957512"/>
              <a:chExt cx="126999" cy="150812"/>
            </a:xfrm>
          </p:grpSpPr>
          <p:sp>
            <p:nvSpPr>
              <p:cNvPr id="180" name="Freeform 180"/>
              <p:cNvSpPr/>
              <p:nvPr/>
            </p:nvSpPr>
            <p:spPr>
              <a:xfrm>
                <a:off x="7835900" y="29575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181" name="Freeform 181"/>
              <p:cNvSpPr/>
              <p:nvPr/>
            </p:nvSpPr>
            <p:spPr>
              <a:xfrm>
                <a:off x="7820025" y="3052762"/>
                <a:ext cx="43656" cy="47625"/>
              </a:xfrm>
              <a:custGeom>
                <a:avLst/>
                <a:gdLst/>
                <a:ahLst/>
                <a:cxnLst/>
                <a:rect l="l" t="t" r="r" b="b"/>
                <a:pathLst>
                  <a:path w="43656" h="47625">
                    <a:moveTo>
                      <a:pt x="0" y="47625"/>
                    </a:moveTo>
                    <a:lnTo>
                      <a:pt x="0" y="31750"/>
                    </a:lnTo>
                    <a:cubicBezTo>
                      <a:pt x="0" y="14215"/>
                      <a:pt x="14215" y="0"/>
                      <a:pt x="31750" y="0"/>
                    </a:cubicBezTo>
                    <a:lnTo>
                      <a:pt x="43656" y="0"/>
                    </a:lnTo>
                  </a:path>
                </a:pathLst>
              </a:custGeom>
              <a:noFill/>
              <a:ln w="15875">
                <a:solidFill>
                  <a:srgbClr val="FFFFFF"/>
                </a:solidFill>
              </a:ln>
            </p:spPr>
          </p:sp>
          <p:sp>
            <p:nvSpPr>
              <p:cNvPr id="182" name="Freeform 182"/>
              <p:cNvSpPr/>
              <p:nvPr/>
            </p:nvSpPr>
            <p:spPr>
              <a:xfrm>
                <a:off x="7891462" y="30527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sp>
            <p:nvSpPr>
              <p:cNvPr id="183" name="Freeform 183"/>
              <p:cNvSpPr/>
              <p:nvPr/>
            </p:nvSpPr>
            <p:spPr>
              <a:xfrm>
                <a:off x="7932737" y="3094037"/>
                <a:ext cx="14287" cy="14287"/>
              </a:xfrm>
              <a:custGeom>
                <a:avLst/>
                <a:gdLst/>
                <a:ahLst/>
                <a:cxnLst/>
                <a:rect l="l" t="t" r="r" b="b"/>
                <a:pathLst>
                  <a:path w="14287" h="14287">
                    <a:moveTo>
                      <a:pt x="0" y="0"/>
                    </a:moveTo>
                    <a:lnTo>
                      <a:pt x="14287" y="14287"/>
                    </a:lnTo>
                  </a:path>
                </a:pathLst>
              </a:custGeom>
              <a:noFill/>
              <a:ln w="15875">
                <a:solidFill>
                  <a:srgbClr val="FFFFFF"/>
                </a:solidFill>
              </a:ln>
            </p:spPr>
          </p:sp>
        </p:grpSp>
        <p:sp>
          <p:nvSpPr>
            <p:cNvPr id="185" name="TextBox 185"/>
            <p:cNvSpPr txBox="1"/>
            <p:nvPr/>
          </p:nvSpPr>
          <p:spPr>
            <a:xfrm>
              <a:off x="7767307" y="3313986"/>
              <a:ext cx="200685"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线索</a:t>
              </a:r>
            </a:p>
          </p:txBody>
        </p:sp>
        <p:sp>
          <p:nvSpPr>
            <p:cNvPr id="186" name="TextBox 186"/>
            <p:cNvSpPr txBox="1"/>
            <p:nvPr/>
          </p:nvSpPr>
          <p:spPr>
            <a:xfrm>
              <a:off x="7712113" y="34635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意向识别</a:t>
              </a:r>
            </a:p>
          </p:txBody>
        </p:sp>
        <p:sp>
          <p:nvSpPr>
            <p:cNvPr id="187" name="TextBox 187"/>
            <p:cNvSpPr txBox="1"/>
            <p:nvPr/>
          </p:nvSpPr>
          <p:spPr>
            <a:xfrm>
              <a:off x="7636726" y="3577828"/>
              <a:ext cx="461848"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生成销售线索</a:t>
              </a:r>
            </a:p>
          </p:txBody>
        </p:sp>
        <p:sp>
          <p:nvSpPr>
            <p:cNvPr id="188" name="Ellipse 188"/>
            <p:cNvSpPr/>
            <p:nvPr/>
          </p:nvSpPr>
          <p:spPr>
            <a:xfrm>
              <a:off x="8524875" y="2819400"/>
              <a:ext cx="419100" cy="419100"/>
            </a:xfrm>
            <a:prstGeom prst="ellipse">
              <a:avLst/>
            </a:prstGeom>
            <a:gradFill>
              <a:gsLst>
                <a:gs pos="0">
                  <a:srgbClr val="D64F30"/>
                </a:gs>
                <a:gs pos="100000">
                  <a:srgbClr val="8F230A"/>
                </a:gs>
              </a:gsLst>
              <a:lin ang="5400000" scaled="1"/>
            </a:gradFill>
            <a:ln>
              <a:noFill/>
            </a:ln>
          </p:spPr>
        </p:sp>
        <p:grpSp>
          <p:nvGrpSpPr>
            <p:cNvPr id="191" name="Group 191"/>
            <p:cNvGrpSpPr/>
            <p:nvPr/>
          </p:nvGrpSpPr>
          <p:grpSpPr>
            <a:xfrm>
              <a:off x="8662987" y="2989262"/>
              <a:ext cx="142875" cy="79375"/>
              <a:chOff x="8662987" y="2989262"/>
              <a:chExt cx="142875" cy="79375"/>
            </a:xfrm>
          </p:grpSpPr>
          <p:sp>
            <p:nvSpPr>
              <p:cNvPr id="189" name="Freeform 189"/>
              <p:cNvSpPr/>
              <p:nvPr/>
            </p:nvSpPr>
            <p:spPr>
              <a:xfrm>
                <a:off x="8662987" y="298926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190" name="Freeform 190"/>
              <p:cNvSpPr/>
              <p:nvPr/>
            </p:nvSpPr>
            <p:spPr>
              <a:xfrm>
                <a:off x="8750300" y="2989262"/>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192" name="TextBox 192"/>
            <p:cNvSpPr txBox="1"/>
            <p:nvPr/>
          </p:nvSpPr>
          <p:spPr>
            <a:xfrm>
              <a:off x="8634082" y="3313986"/>
              <a:ext cx="200685"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转化</a:t>
              </a:r>
            </a:p>
          </p:txBody>
        </p:sp>
        <p:sp>
          <p:nvSpPr>
            <p:cNvPr id="193" name="TextBox 193"/>
            <p:cNvSpPr txBox="1"/>
            <p:nvPr/>
          </p:nvSpPr>
          <p:spPr>
            <a:xfrm>
              <a:off x="8578888" y="34635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产品推荐</a:t>
              </a:r>
            </a:p>
          </p:txBody>
        </p:sp>
        <p:sp>
          <p:nvSpPr>
            <p:cNvPr id="194" name="TextBox 194"/>
            <p:cNvSpPr txBox="1"/>
            <p:nvPr/>
          </p:nvSpPr>
          <p:spPr>
            <a:xfrm>
              <a:off x="8578888" y="35778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成交转化</a:t>
              </a:r>
            </a:p>
          </p:txBody>
        </p:sp>
        <p:sp>
          <p:nvSpPr>
            <p:cNvPr id="195" name="Ellipse 195"/>
            <p:cNvSpPr/>
            <p:nvPr/>
          </p:nvSpPr>
          <p:spPr>
            <a:xfrm>
              <a:off x="9391650" y="2819400"/>
              <a:ext cx="419100" cy="419100"/>
            </a:xfrm>
            <a:prstGeom prst="ellipse">
              <a:avLst/>
            </a:prstGeom>
            <a:gradFill>
              <a:gsLst>
                <a:gs pos="0">
                  <a:srgbClr val="D64F30"/>
                </a:gs>
                <a:gs pos="100000">
                  <a:srgbClr val="8F230A"/>
                </a:gs>
              </a:gsLst>
              <a:lin ang="5400000" scaled="1"/>
            </a:gradFill>
            <a:ln>
              <a:noFill/>
            </a:ln>
          </p:spPr>
        </p:sp>
        <p:grpSp>
          <p:nvGrpSpPr>
            <p:cNvPr id="198" name="Group 198"/>
            <p:cNvGrpSpPr/>
            <p:nvPr/>
          </p:nvGrpSpPr>
          <p:grpSpPr>
            <a:xfrm>
              <a:off x="9537700" y="2962387"/>
              <a:ext cx="127000" cy="133125"/>
              <a:chOff x="9537700" y="2962387"/>
              <a:chExt cx="127000" cy="133125"/>
            </a:xfrm>
          </p:grpSpPr>
          <p:sp>
            <p:nvSpPr>
              <p:cNvPr id="196" name="Freeform 196"/>
              <p:cNvSpPr/>
              <p:nvPr/>
            </p:nvSpPr>
            <p:spPr>
              <a:xfrm>
                <a:off x="9537700" y="296238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FFFFFF"/>
                </a:solidFill>
              </a:ln>
            </p:spPr>
          </p:sp>
          <p:sp>
            <p:nvSpPr>
              <p:cNvPr id="197" name="Freeform 197"/>
              <p:cNvSpPr/>
              <p:nvPr/>
            </p:nvSpPr>
            <p:spPr>
              <a:xfrm>
                <a:off x="9537700" y="303688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FFFFFF"/>
                </a:solidFill>
              </a:ln>
            </p:spPr>
          </p:sp>
        </p:grpSp>
        <p:sp>
          <p:nvSpPr>
            <p:cNvPr id="199" name="TextBox 199"/>
            <p:cNvSpPr txBox="1"/>
            <p:nvPr/>
          </p:nvSpPr>
          <p:spPr>
            <a:xfrm>
              <a:off x="9500857" y="3313986"/>
              <a:ext cx="200685" cy="140494"/>
            </a:xfrm>
            <a:prstGeom prst="rect">
              <a:avLst/>
            </a:prstGeom>
            <a:noFill/>
            <a:ln>
              <a:noFill/>
            </a:ln>
          </p:spPr>
          <p:txBody>
            <a:bodyPr wrap="none" lIns="0" tIns="0" rIns="0" bIns="0" anchor="t" anchorCtr="0">
              <a:spAutoFit/>
            </a:bodyPr>
            <a:lstStyle/>
            <a:p>
              <a:pPr algn="ctr"/>
              <a:r>
                <a:rPr lang="zh-CN" sz="710" b="1" dirty="0">
                  <a:solidFill>
                    <a:srgbClr val="222222"/>
                  </a:solidFill>
                  <a:latin typeface="+mn-lt"/>
                  <a:ea typeface="+mn-ea"/>
                  <a:cs typeface="+mn-cs"/>
                </a:rPr>
                <a:t>复盘</a:t>
              </a:r>
            </a:p>
          </p:txBody>
        </p:sp>
        <p:sp>
          <p:nvSpPr>
            <p:cNvPr id="200" name="TextBox 200"/>
            <p:cNvSpPr txBox="1"/>
            <p:nvPr/>
          </p:nvSpPr>
          <p:spPr>
            <a:xfrm>
              <a:off x="9445663" y="34635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数据分析</a:t>
              </a:r>
            </a:p>
          </p:txBody>
        </p:sp>
        <p:sp>
          <p:nvSpPr>
            <p:cNvPr id="201" name="TextBox 201"/>
            <p:cNvSpPr txBox="1"/>
            <p:nvPr/>
          </p:nvSpPr>
          <p:spPr>
            <a:xfrm>
              <a:off x="9445663" y="3577828"/>
              <a:ext cx="311074" cy="111919"/>
            </a:xfrm>
            <a:prstGeom prst="rect">
              <a:avLst/>
            </a:prstGeom>
            <a:noFill/>
            <a:ln>
              <a:noFill/>
            </a:ln>
          </p:spPr>
          <p:txBody>
            <a:bodyPr wrap="none" lIns="0" tIns="0" rIns="0" bIns="0" anchor="t" anchorCtr="0">
              <a:spAutoFit/>
            </a:bodyPr>
            <a:lstStyle/>
            <a:p>
              <a:pPr algn="ctr"/>
              <a:r>
                <a:rPr lang="zh-CN" sz="560" dirty="0">
                  <a:solidFill>
                    <a:srgbClr val="808080"/>
                  </a:solidFill>
                  <a:latin typeface="+mn-lt"/>
                  <a:ea typeface="+mn-ea"/>
                  <a:cs typeface="+mn-cs"/>
                </a:rPr>
                <a:t>优化迭代</a:t>
              </a:r>
            </a:p>
          </p:txBody>
        </p:sp>
        <p:sp>
          <p:nvSpPr>
            <p:cNvPr id="202" name="Freeform 202"/>
            <p:cNvSpPr/>
            <p:nvPr/>
          </p:nvSpPr>
          <p:spPr>
            <a:xfrm>
              <a:off x="3024188" y="2971800"/>
              <a:ext cx="114300" cy="114300"/>
            </a:xfrm>
            <a:prstGeom prst="rightArrow">
              <a:avLst/>
            </a:prstGeom>
            <a:solidFill>
              <a:srgbClr val="E9826B"/>
            </a:solidFill>
            <a:ln>
              <a:noFill/>
            </a:ln>
          </p:spPr>
        </p:sp>
        <p:sp>
          <p:nvSpPr>
            <p:cNvPr id="203" name="Freeform 203"/>
            <p:cNvSpPr/>
            <p:nvPr/>
          </p:nvSpPr>
          <p:spPr>
            <a:xfrm>
              <a:off x="3890962" y="2971800"/>
              <a:ext cx="114300" cy="114300"/>
            </a:xfrm>
            <a:prstGeom prst="rightArrow">
              <a:avLst/>
            </a:prstGeom>
            <a:solidFill>
              <a:srgbClr val="E9826B"/>
            </a:solidFill>
            <a:ln>
              <a:noFill/>
            </a:ln>
          </p:spPr>
        </p:sp>
        <p:sp>
          <p:nvSpPr>
            <p:cNvPr id="204" name="Freeform 204"/>
            <p:cNvSpPr/>
            <p:nvPr/>
          </p:nvSpPr>
          <p:spPr>
            <a:xfrm>
              <a:off x="4762500" y="2971800"/>
              <a:ext cx="114300" cy="114300"/>
            </a:xfrm>
            <a:prstGeom prst="rightArrow">
              <a:avLst/>
            </a:prstGeom>
            <a:solidFill>
              <a:srgbClr val="E9826B"/>
            </a:solidFill>
            <a:ln>
              <a:noFill/>
            </a:ln>
          </p:spPr>
        </p:sp>
        <p:sp>
          <p:nvSpPr>
            <p:cNvPr id="205" name="Freeform 205"/>
            <p:cNvSpPr/>
            <p:nvPr/>
          </p:nvSpPr>
          <p:spPr>
            <a:xfrm>
              <a:off x="5634038" y="2971800"/>
              <a:ext cx="114300" cy="114300"/>
            </a:xfrm>
            <a:prstGeom prst="rightArrow">
              <a:avLst/>
            </a:prstGeom>
            <a:solidFill>
              <a:srgbClr val="E9826B"/>
            </a:solidFill>
            <a:ln>
              <a:noFill/>
            </a:ln>
          </p:spPr>
        </p:sp>
        <p:sp>
          <p:nvSpPr>
            <p:cNvPr id="206" name="Freeform 206"/>
            <p:cNvSpPr/>
            <p:nvPr/>
          </p:nvSpPr>
          <p:spPr>
            <a:xfrm>
              <a:off x="6500812" y="2971800"/>
              <a:ext cx="114300" cy="114300"/>
            </a:xfrm>
            <a:prstGeom prst="rightArrow">
              <a:avLst/>
            </a:prstGeom>
            <a:solidFill>
              <a:srgbClr val="E9826B"/>
            </a:solidFill>
            <a:ln>
              <a:noFill/>
            </a:ln>
          </p:spPr>
        </p:sp>
        <p:sp>
          <p:nvSpPr>
            <p:cNvPr id="207" name="Freeform 207"/>
            <p:cNvSpPr/>
            <p:nvPr/>
          </p:nvSpPr>
          <p:spPr>
            <a:xfrm>
              <a:off x="7372350" y="2971800"/>
              <a:ext cx="114300" cy="114300"/>
            </a:xfrm>
            <a:prstGeom prst="rightArrow">
              <a:avLst/>
            </a:prstGeom>
            <a:solidFill>
              <a:srgbClr val="E9826B"/>
            </a:solidFill>
            <a:ln>
              <a:noFill/>
            </a:ln>
          </p:spPr>
        </p:sp>
        <p:sp>
          <p:nvSpPr>
            <p:cNvPr id="208" name="Freeform 208"/>
            <p:cNvSpPr/>
            <p:nvPr/>
          </p:nvSpPr>
          <p:spPr>
            <a:xfrm>
              <a:off x="8243888" y="2971800"/>
              <a:ext cx="114300" cy="114300"/>
            </a:xfrm>
            <a:prstGeom prst="rightArrow">
              <a:avLst/>
            </a:prstGeom>
            <a:solidFill>
              <a:srgbClr val="E9826B"/>
            </a:solidFill>
            <a:ln>
              <a:noFill/>
            </a:ln>
          </p:spPr>
        </p:sp>
        <p:sp>
          <p:nvSpPr>
            <p:cNvPr id="209" name="Freeform 209"/>
            <p:cNvSpPr/>
            <p:nvPr/>
          </p:nvSpPr>
          <p:spPr>
            <a:xfrm>
              <a:off x="9110662" y="2971800"/>
              <a:ext cx="114300" cy="114300"/>
            </a:xfrm>
            <a:prstGeom prst="rightArrow">
              <a:avLst/>
            </a:prstGeom>
            <a:solidFill>
              <a:srgbClr val="E9826B"/>
            </a:solidFill>
            <a:ln>
              <a:noFill/>
            </a:ln>
          </p:spPr>
        </p:sp>
        <p:sp>
          <p:nvSpPr>
            <p:cNvPr id="210" name="Line 210"/>
            <p:cNvSpPr/>
            <p:nvPr/>
          </p:nvSpPr>
          <p:spPr>
            <a:xfrm>
              <a:off x="9906000" y="3028950"/>
              <a:ext cx="9525" cy="762000"/>
            </a:xfrm>
            <a:custGeom>
              <a:avLst/>
              <a:gdLst/>
              <a:ahLst/>
              <a:cxnLst/>
              <a:rect l="l" t="t" r="r" b="b"/>
              <a:pathLst>
                <a:path w="9525" h="762000">
                  <a:moveTo>
                    <a:pt x="0" y="0"/>
                  </a:moveTo>
                  <a:lnTo>
                    <a:pt x="0" y="762000"/>
                  </a:lnTo>
                </a:path>
              </a:pathLst>
            </a:custGeom>
            <a:noFill/>
            <a:ln w="11430">
              <a:solidFill>
                <a:srgbClr val="F3B2A3"/>
              </a:solidFill>
              <a:custDash>
                <a:ds d="333333" sp="250000"/>
              </a:custDash>
            </a:ln>
          </p:spPr>
        </p:sp>
        <p:sp>
          <p:nvSpPr>
            <p:cNvPr id="211" name="Line 211"/>
            <p:cNvSpPr/>
            <p:nvPr/>
          </p:nvSpPr>
          <p:spPr>
            <a:xfrm>
              <a:off x="2457450" y="3790950"/>
              <a:ext cx="7448550" cy="9525"/>
            </a:xfrm>
            <a:custGeom>
              <a:avLst/>
              <a:gdLst/>
              <a:ahLst/>
              <a:cxnLst/>
              <a:rect l="l" t="t" r="r" b="b"/>
              <a:pathLst>
                <a:path w="7448550" h="9525">
                  <a:moveTo>
                    <a:pt x="7448550" y="0"/>
                  </a:moveTo>
                  <a:lnTo>
                    <a:pt x="0" y="0"/>
                  </a:lnTo>
                </a:path>
              </a:pathLst>
            </a:custGeom>
            <a:noFill/>
            <a:ln w="11430">
              <a:solidFill>
                <a:srgbClr val="F3B2A3"/>
              </a:solidFill>
              <a:custDash>
                <a:ds d="333333" sp="250000"/>
              </a:custDash>
            </a:ln>
          </p:spPr>
        </p:sp>
        <p:sp>
          <p:nvSpPr>
            <p:cNvPr id="212" name="Freeform 212"/>
            <p:cNvSpPr/>
            <p:nvPr/>
          </p:nvSpPr>
          <p:spPr>
            <a:xfrm>
              <a:off x="2247900" y="3733800"/>
              <a:ext cx="209550" cy="114300"/>
            </a:xfrm>
            <a:prstGeom prst="leftArrow">
              <a:avLst/>
            </a:prstGeom>
            <a:solidFill>
              <a:srgbClr val="E9826B"/>
            </a:solidFill>
            <a:ln>
              <a:noFill/>
            </a:ln>
          </p:spPr>
        </p:sp>
        <p:sp>
          <p:nvSpPr>
            <p:cNvPr id="213" name="Line 213"/>
            <p:cNvSpPr/>
            <p:nvPr/>
          </p:nvSpPr>
          <p:spPr>
            <a:xfrm>
              <a:off x="2352675" y="3028950"/>
              <a:ext cx="9525" cy="704850"/>
            </a:xfrm>
            <a:custGeom>
              <a:avLst/>
              <a:gdLst/>
              <a:ahLst/>
              <a:cxnLst/>
              <a:rect l="l" t="t" r="r" b="b"/>
              <a:pathLst>
                <a:path w="9525" h="704850">
                  <a:moveTo>
                    <a:pt x="0" y="704850"/>
                  </a:moveTo>
                  <a:lnTo>
                    <a:pt x="0" y="0"/>
                  </a:lnTo>
                </a:path>
              </a:pathLst>
            </a:custGeom>
            <a:noFill/>
            <a:ln w="11430">
              <a:solidFill>
                <a:srgbClr val="F3B2A3"/>
              </a:solidFill>
              <a:custDash>
                <a:ds d="333333" sp="250000"/>
              </a:custDash>
            </a:ln>
          </p:spPr>
        </p:sp>
        <p:sp>
          <p:nvSpPr>
            <p:cNvPr id="214" name="Line 214"/>
            <p:cNvSpPr/>
            <p:nvPr/>
          </p:nvSpPr>
          <p:spPr>
            <a:xfrm>
              <a:off x="2352675" y="3028950"/>
              <a:ext cx="85725" cy="9525"/>
            </a:xfrm>
            <a:custGeom>
              <a:avLst/>
              <a:gdLst/>
              <a:ahLst/>
              <a:cxnLst/>
              <a:rect l="l" t="t" r="r" b="b"/>
              <a:pathLst>
                <a:path w="85725" h="9525">
                  <a:moveTo>
                    <a:pt x="0" y="0"/>
                  </a:moveTo>
                  <a:lnTo>
                    <a:pt x="85725" y="0"/>
                  </a:lnTo>
                </a:path>
              </a:pathLst>
            </a:custGeom>
            <a:noFill/>
            <a:ln w="11430">
              <a:solidFill>
                <a:srgbClr val="F3B2A3"/>
              </a:solidFill>
              <a:custDash>
                <a:ds d="333333" sp="250000"/>
              </a:custDash>
            </a:ln>
          </p:spPr>
        </p:sp>
        <p:sp>
          <p:nvSpPr>
            <p:cNvPr id="215" name="Rectangle 215"/>
            <p:cNvSpPr/>
            <p:nvPr/>
          </p:nvSpPr>
          <p:spPr>
            <a:xfrm>
              <a:off x="5334000" y="3695700"/>
              <a:ext cx="1676400" cy="171450"/>
            </a:xfrm>
            <a:prstGeom prst="roundRect">
              <a:avLst>
                <a:gd name="adj" fmla="val 50000"/>
              </a:avLst>
            </a:prstGeom>
            <a:solidFill>
              <a:srgbClr val="FFFFFF"/>
            </a:solidFill>
            <a:ln>
              <a:noFill/>
            </a:ln>
          </p:spPr>
        </p:sp>
        <p:sp>
          <p:nvSpPr>
            <p:cNvPr id="216" name="TextBox 216"/>
            <p:cNvSpPr txBox="1"/>
            <p:nvPr/>
          </p:nvSpPr>
          <p:spPr>
            <a:xfrm>
              <a:off x="5555401" y="3750707"/>
              <a:ext cx="1233598" cy="126206"/>
            </a:xfrm>
            <a:prstGeom prst="rect">
              <a:avLst/>
            </a:prstGeom>
            <a:noFill/>
            <a:ln>
              <a:noFill/>
            </a:ln>
          </p:spPr>
          <p:txBody>
            <a:bodyPr wrap="none" lIns="0" tIns="0" rIns="0" bIns="0" anchor="t" anchorCtr="0">
              <a:spAutoFit/>
            </a:bodyPr>
            <a:lstStyle/>
            <a:p>
              <a:pPr algn="ctr"/>
              <a:r>
                <a:rPr lang="zh-CN" sz="640" b="1" dirty="0">
                  <a:solidFill>
                    <a:srgbClr val="C83210"/>
                  </a:solidFill>
                  <a:latin typeface="+mn-lt"/>
                  <a:ea typeface="+mn-ea"/>
                  <a:cs typeface="+mn-cs"/>
                </a:rPr>
                <a:t>全流程数据沉淀 · 持续优化迭代</a:t>
              </a:r>
            </a:p>
          </p:txBody>
        </p:sp>
      </p:grpSp>
      <p:grpSp>
        <p:nvGrpSpPr>
          <p:cNvPr id="253" name="values"/>
          <p:cNvGrpSpPr/>
          <p:nvPr/>
        </p:nvGrpSpPr>
        <p:grpSpPr>
          <a:xfrm>
            <a:off x="10325100" y="628650"/>
            <a:ext cx="1733550" cy="3295650"/>
            <a:chOff x="10325100" y="628650"/>
            <a:chExt cx="1733550" cy="3295650"/>
          </a:xfrm>
        </p:grpSpPr>
        <p:sp>
          <p:nvSpPr>
            <p:cNvPr id="218" name="Rectangle 218"/>
            <p:cNvSpPr/>
            <p:nvPr/>
          </p:nvSpPr>
          <p:spPr>
            <a:xfrm>
              <a:off x="10325100" y="628650"/>
              <a:ext cx="1733550" cy="3295650"/>
            </a:xfrm>
            <a:prstGeom prst="roundRect">
              <a:avLst>
                <a:gd name="adj" fmla="val 3297"/>
              </a:avLst>
            </a:prstGeom>
            <a:solidFill>
              <a:srgbClr val="FDEFF1"/>
            </a:solidFill>
            <a:ln>
              <a:noFill/>
            </a:ln>
          </p:spPr>
        </p:sp>
        <p:sp>
          <p:nvSpPr>
            <p:cNvPr id="219" name="Rectangle 219"/>
            <p:cNvSpPr/>
            <p:nvPr/>
          </p:nvSpPr>
          <p:spPr>
            <a:xfrm>
              <a:off x="10325100" y="628650"/>
              <a:ext cx="1733550" cy="228600"/>
            </a:xfrm>
            <a:prstGeom prst="roundRect">
              <a:avLst>
                <a:gd name="adj" fmla="val 25000"/>
              </a:avLst>
            </a:prstGeom>
            <a:solidFill>
              <a:srgbClr val="C83210"/>
            </a:solidFill>
            <a:ln>
              <a:noFill/>
            </a:ln>
          </p:spPr>
        </p:sp>
        <p:sp>
          <p:nvSpPr>
            <p:cNvPr id="220" name="TextBox 220"/>
            <p:cNvSpPr txBox="1"/>
            <p:nvPr/>
          </p:nvSpPr>
          <p:spPr>
            <a:xfrm>
              <a:off x="10434638" y="691991"/>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客户价值提升</a:t>
              </a:r>
            </a:p>
          </p:txBody>
        </p:sp>
        <p:sp>
          <p:nvSpPr>
            <p:cNvPr id="221" name="Ellipse 221"/>
            <p:cNvSpPr/>
            <p:nvPr/>
          </p:nvSpPr>
          <p:spPr>
            <a:xfrm>
              <a:off x="10410825" y="1000125"/>
              <a:ext cx="247650" cy="247650"/>
            </a:xfrm>
            <a:prstGeom prst="ellipse">
              <a:avLst/>
            </a:prstGeom>
            <a:solidFill>
              <a:srgbClr val="FFFFFF"/>
            </a:solidFill>
            <a:ln>
              <a:noFill/>
            </a:ln>
          </p:spPr>
        </p:sp>
        <p:sp>
          <p:nvSpPr>
            <p:cNvPr id="222" name="Freeform 222"/>
            <p:cNvSpPr/>
            <p:nvPr/>
          </p:nvSpPr>
          <p:spPr>
            <a:xfrm>
              <a:off x="10475301" y="1071521"/>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C83210"/>
              </a:solidFill>
            </a:ln>
          </p:spPr>
        </p:sp>
        <p:sp>
          <p:nvSpPr>
            <p:cNvPr id="223" name="TextBox 223"/>
            <p:cNvSpPr txBox="1"/>
            <p:nvPr/>
          </p:nvSpPr>
          <p:spPr>
            <a:xfrm>
              <a:off x="10720388" y="1027986"/>
              <a:ext cx="58300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客户体验提升</a:t>
              </a:r>
            </a:p>
          </p:txBody>
        </p:sp>
        <p:sp>
          <p:nvSpPr>
            <p:cNvPr id="224" name="TextBox 224"/>
            <p:cNvSpPr txBox="1"/>
            <p:nvPr/>
          </p:nvSpPr>
          <p:spPr>
            <a:xfrm>
              <a:off x="10720388" y="1177528"/>
              <a:ext cx="484464"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更专业 更贴心</a:t>
              </a:r>
            </a:p>
          </p:txBody>
        </p:sp>
        <p:sp>
          <p:nvSpPr>
            <p:cNvPr id="225" name="Ellipse 225"/>
            <p:cNvSpPr/>
            <p:nvPr/>
          </p:nvSpPr>
          <p:spPr>
            <a:xfrm>
              <a:off x="10410825" y="1590675"/>
              <a:ext cx="247650" cy="247650"/>
            </a:xfrm>
            <a:prstGeom prst="ellipse">
              <a:avLst/>
            </a:prstGeom>
            <a:solidFill>
              <a:srgbClr val="FFFFFF"/>
            </a:solidFill>
            <a:ln>
              <a:noFill/>
            </a:ln>
          </p:spPr>
        </p:sp>
        <p:grpSp>
          <p:nvGrpSpPr>
            <p:cNvPr id="230" name="Group 230"/>
            <p:cNvGrpSpPr/>
            <p:nvPr/>
          </p:nvGrpSpPr>
          <p:grpSpPr>
            <a:xfrm>
              <a:off x="10477500" y="1663700"/>
              <a:ext cx="114300" cy="111125"/>
              <a:chOff x="10477500" y="1663700"/>
              <a:chExt cx="114300" cy="111125"/>
            </a:xfrm>
          </p:grpSpPr>
          <p:sp>
            <p:nvSpPr>
              <p:cNvPr id="226" name="Freeform 226"/>
              <p:cNvSpPr/>
              <p:nvPr/>
            </p:nvSpPr>
            <p:spPr>
              <a:xfrm>
                <a:off x="10477500" y="17145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C83210"/>
                </a:solidFill>
              </a:ln>
            </p:spPr>
          </p:sp>
          <p:sp>
            <p:nvSpPr>
              <p:cNvPr id="227" name="Freeform 227"/>
              <p:cNvSpPr/>
              <p:nvPr/>
            </p:nvSpPr>
            <p:spPr>
              <a:xfrm>
                <a:off x="10553700" y="16891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C83210"/>
                </a:solidFill>
              </a:ln>
            </p:spPr>
          </p:sp>
          <p:sp>
            <p:nvSpPr>
              <p:cNvPr id="228" name="Freeform 228"/>
              <p:cNvSpPr/>
              <p:nvPr/>
            </p:nvSpPr>
            <p:spPr>
              <a:xfrm>
                <a:off x="10515600" y="16637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C83210"/>
                </a:solidFill>
              </a:ln>
            </p:spPr>
          </p:sp>
          <p:sp>
            <p:nvSpPr>
              <p:cNvPr id="229" name="Freeform 229"/>
              <p:cNvSpPr/>
              <p:nvPr/>
            </p:nvSpPr>
            <p:spPr>
              <a:xfrm>
                <a:off x="10483850" y="1765300"/>
                <a:ext cx="88900" cy="9525"/>
              </a:xfrm>
              <a:custGeom>
                <a:avLst/>
                <a:gdLst/>
                <a:ahLst/>
                <a:cxnLst/>
                <a:rect l="l" t="t" r="r" b="b"/>
                <a:pathLst>
                  <a:path w="88900" h="9525">
                    <a:moveTo>
                      <a:pt x="0" y="0"/>
                    </a:moveTo>
                    <a:lnTo>
                      <a:pt x="88900" y="0"/>
                    </a:lnTo>
                  </a:path>
                </a:pathLst>
              </a:custGeom>
              <a:noFill/>
              <a:ln w="12700">
                <a:solidFill>
                  <a:srgbClr val="C83210"/>
                </a:solidFill>
              </a:ln>
            </p:spPr>
          </p:sp>
        </p:grpSp>
        <p:sp>
          <p:nvSpPr>
            <p:cNvPr id="231" name="TextBox 231"/>
            <p:cNvSpPr txBox="1"/>
            <p:nvPr/>
          </p:nvSpPr>
          <p:spPr>
            <a:xfrm>
              <a:off x="10720388" y="1618536"/>
              <a:ext cx="58300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客户贡献提升</a:t>
              </a:r>
            </a:p>
          </p:txBody>
        </p:sp>
        <p:sp>
          <p:nvSpPr>
            <p:cNvPr id="232" name="TextBox 232"/>
            <p:cNvSpPr txBox="1"/>
            <p:nvPr/>
          </p:nvSpPr>
          <p:spPr>
            <a:xfrm>
              <a:off x="10720388" y="1768078"/>
              <a:ext cx="949589"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 xml:space="preserve">AUM / 存款 / 贷款 / 中收　</a:t>
              </a:r>
            </a:p>
          </p:txBody>
        </p:sp>
        <p:sp>
          <p:nvSpPr>
            <p:cNvPr id="233" name="Ellipse 233"/>
            <p:cNvSpPr/>
            <p:nvPr/>
          </p:nvSpPr>
          <p:spPr>
            <a:xfrm>
              <a:off x="10410825" y="2181225"/>
              <a:ext cx="247650" cy="247650"/>
            </a:xfrm>
            <a:prstGeom prst="ellipse">
              <a:avLst/>
            </a:prstGeom>
            <a:solidFill>
              <a:srgbClr val="FFFFFF"/>
            </a:solidFill>
            <a:ln>
              <a:noFill/>
            </a:ln>
          </p:spPr>
        </p:sp>
        <p:grpSp>
          <p:nvGrpSpPr>
            <p:cNvPr id="240" name="Group 240"/>
            <p:cNvGrpSpPr/>
            <p:nvPr/>
          </p:nvGrpSpPr>
          <p:grpSpPr>
            <a:xfrm>
              <a:off x="10477500" y="2247900"/>
              <a:ext cx="114300" cy="114300"/>
              <a:chOff x="10477500" y="2247900"/>
              <a:chExt cx="114300" cy="114300"/>
            </a:xfrm>
          </p:grpSpPr>
          <p:sp>
            <p:nvSpPr>
              <p:cNvPr id="234" name="Freeform 234"/>
              <p:cNvSpPr/>
              <p:nvPr/>
            </p:nvSpPr>
            <p:spPr>
              <a:xfrm>
                <a:off x="10521950" y="22987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83210"/>
                </a:solidFill>
              </a:ln>
            </p:spPr>
          </p:sp>
          <p:sp>
            <p:nvSpPr>
              <p:cNvPr id="235" name="Freeform 235"/>
              <p:cNvSpPr/>
              <p:nvPr/>
            </p:nvSpPr>
            <p:spPr>
              <a:xfrm>
                <a:off x="10509250" y="23431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C83210"/>
                </a:solidFill>
              </a:ln>
            </p:spPr>
          </p:sp>
          <p:sp>
            <p:nvSpPr>
              <p:cNvPr id="236" name="Freeform 236"/>
              <p:cNvSpPr/>
              <p:nvPr/>
            </p:nvSpPr>
            <p:spPr>
              <a:xfrm>
                <a:off x="10553700" y="22479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83210"/>
                </a:solidFill>
              </a:ln>
            </p:spPr>
          </p:sp>
          <p:sp>
            <p:nvSpPr>
              <p:cNvPr id="237" name="Freeform 237"/>
              <p:cNvSpPr/>
              <p:nvPr/>
            </p:nvSpPr>
            <p:spPr>
              <a:xfrm>
                <a:off x="10566400" y="22923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C83210"/>
                </a:solidFill>
              </a:ln>
            </p:spPr>
          </p:sp>
          <p:sp>
            <p:nvSpPr>
              <p:cNvPr id="238" name="Freeform 238"/>
              <p:cNvSpPr/>
              <p:nvPr/>
            </p:nvSpPr>
            <p:spPr>
              <a:xfrm>
                <a:off x="10490200" y="22479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83210"/>
                </a:solidFill>
              </a:ln>
            </p:spPr>
          </p:sp>
          <p:sp>
            <p:nvSpPr>
              <p:cNvPr id="239" name="Freeform 239"/>
              <p:cNvSpPr/>
              <p:nvPr/>
            </p:nvSpPr>
            <p:spPr>
              <a:xfrm>
                <a:off x="10477500" y="22923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C83210"/>
                </a:solidFill>
              </a:ln>
            </p:spPr>
          </p:sp>
        </p:grpSp>
        <p:sp>
          <p:nvSpPr>
            <p:cNvPr id="241" name="TextBox 241"/>
            <p:cNvSpPr txBox="1"/>
            <p:nvPr/>
          </p:nvSpPr>
          <p:spPr>
            <a:xfrm>
              <a:off x="10720388" y="2209086"/>
              <a:ext cx="58300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客户规模增长</a:t>
              </a:r>
            </a:p>
          </p:txBody>
        </p:sp>
        <p:sp>
          <p:nvSpPr>
            <p:cNvPr id="242" name="TextBox 242"/>
            <p:cNvSpPr txBox="1"/>
            <p:nvPr/>
          </p:nvSpPr>
          <p:spPr>
            <a:xfrm>
              <a:off x="10720388" y="2358628"/>
              <a:ext cx="699318"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新增客户 / 活跃客户</a:t>
              </a:r>
            </a:p>
          </p:txBody>
        </p:sp>
        <p:sp>
          <p:nvSpPr>
            <p:cNvPr id="243" name="Ellipse 243"/>
            <p:cNvSpPr/>
            <p:nvPr/>
          </p:nvSpPr>
          <p:spPr>
            <a:xfrm>
              <a:off x="10410825" y="2771775"/>
              <a:ext cx="247650" cy="247650"/>
            </a:xfrm>
            <a:prstGeom prst="ellipse">
              <a:avLst/>
            </a:prstGeom>
            <a:solidFill>
              <a:srgbClr val="FFFFFF"/>
            </a:solidFill>
            <a:ln>
              <a:noFill/>
            </a:ln>
          </p:spPr>
        </p:sp>
        <p:grpSp>
          <p:nvGrpSpPr>
            <p:cNvPr id="246" name="Group 246"/>
            <p:cNvGrpSpPr/>
            <p:nvPr/>
          </p:nvGrpSpPr>
          <p:grpSpPr>
            <a:xfrm>
              <a:off x="10477500" y="2851150"/>
              <a:ext cx="114300" cy="93409"/>
              <a:chOff x="10477500" y="2851150"/>
              <a:chExt cx="114300" cy="93409"/>
            </a:xfrm>
          </p:grpSpPr>
          <p:sp>
            <p:nvSpPr>
              <p:cNvPr id="244" name="Freeform 244"/>
              <p:cNvSpPr/>
              <p:nvPr/>
            </p:nvSpPr>
            <p:spPr>
              <a:xfrm>
                <a:off x="10477500" y="2851150"/>
                <a:ext cx="114300" cy="93409"/>
              </a:xfrm>
              <a:custGeom>
                <a:avLst/>
                <a:gdLst/>
                <a:ahLst/>
                <a:cxnLst/>
                <a:rect l="l" t="t" r="r" b="b"/>
                <a:pathLst>
                  <a:path w="114300" h="93409">
                    <a:moveTo>
                      <a:pt x="19050" y="0"/>
                    </a:moveTo>
                    <a:lnTo>
                      <a:pt x="95250" y="0"/>
                    </a:lnTo>
                    <a:lnTo>
                      <a:pt x="114300" y="31750"/>
                    </a:lnTo>
                    <a:lnTo>
                      <a:pt x="60325" y="92075"/>
                    </a:lnTo>
                    <a:cubicBezTo>
                      <a:pt x="59489" y="92928"/>
                      <a:pt x="58345" y="93409"/>
                      <a:pt x="57150" y="93409"/>
                    </a:cubicBezTo>
                    <a:cubicBezTo>
                      <a:pt x="55955" y="93409"/>
                      <a:pt x="54811" y="92928"/>
                      <a:pt x="53975" y="92075"/>
                    </a:cubicBezTo>
                    <a:lnTo>
                      <a:pt x="0" y="31750"/>
                    </a:lnTo>
                    <a:lnTo>
                      <a:pt x="19050" y="0"/>
                    </a:lnTo>
                  </a:path>
                </a:pathLst>
              </a:custGeom>
              <a:noFill/>
              <a:ln w="12700">
                <a:solidFill>
                  <a:srgbClr val="C83210"/>
                </a:solidFill>
              </a:ln>
            </p:spPr>
          </p:sp>
          <p:sp>
            <p:nvSpPr>
              <p:cNvPr id="245" name="Freeform 245"/>
              <p:cNvSpPr/>
              <p:nvPr/>
            </p:nvSpPr>
            <p:spPr>
              <a:xfrm>
                <a:off x="10509250" y="2875280"/>
                <a:ext cx="12700" cy="20320"/>
              </a:xfrm>
              <a:custGeom>
                <a:avLst/>
                <a:gdLst/>
                <a:ahLst/>
                <a:cxnLst/>
                <a:rect l="l" t="t" r="r" b="b"/>
                <a:pathLst>
                  <a:path w="12700" h="20320">
                    <a:moveTo>
                      <a:pt x="12700" y="20320"/>
                    </a:moveTo>
                    <a:lnTo>
                      <a:pt x="0" y="6350"/>
                    </a:lnTo>
                    <a:lnTo>
                      <a:pt x="3810" y="0"/>
                    </a:lnTo>
                  </a:path>
                </a:pathLst>
              </a:custGeom>
              <a:noFill/>
              <a:ln w="12700">
                <a:solidFill>
                  <a:srgbClr val="C83210"/>
                </a:solidFill>
              </a:ln>
            </p:spPr>
          </p:sp>
        </p:grpSp>
        <p:sp>
          <p:nvSpPr>
            <p:cNvPr id="247" name="TextBox 247"/>
            <p:cNvSpPr txBox="1"/>
            <p:nvPr/>
          </p:nvSpPr>
          <p:spPr>
            <a:xfrm>
              <a:off x="10720388" y="2799636"/>
              <a:ext cx="58300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客户结构优化</a:t>
              </a:r>
            </a:p>
          </p:txBody>
        </p:sp>
        <p:sp>
          <p:nvSpPr>
            <p:cNvPr id="248" name="TextBox 248"/>
            <p:cNvSpPr txBox="1"/>
            <p:nvPr/>
          </p:nvSpPr>
          <p:spPr>
            <a:xfrm>
              <a:off x="10720388" y="2949178"/>
              <a:ext cx="688010"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高价值客户占比提升</a:t>
              </a:r>
            </a:p>
          </p:txBody>
        </p:sp>
        <p:sp>
          <p:nvSpPr>
            <p:cNvPr id="249" name="Ellipse 249"/>
            <p:cNvSpPr/>
            <p:nvPr/>
          </p:nvSpPr>
          <p:spPr>
            <a:xfrm>
              <a:off x="10410825" y="3362325"/>
              <a:ext cx="247650" cy="247650"/>
            </a:xfrm>
            <a:prstGeom prst="ellipse">
              <a:avLst/>
            </a:prstGeom>
            <a:solidFill>
              <a:srgbClr val="FFFFFF"/>
            </a:solidFill>
            <a:ln>
              <a:noFill/>
            </a:ln>
          </p:spPr>
        </p:sp>
        <p:sp>
          <p:nvSpPr>
            <p:cNvPr id="250" name="Freeform 250"/>
            <p:cNvSpPr/>
            <p:nvPr/>
          </p:nvSpPr>
          <p:spPr>
            <a:xfrm>
              <a:off x="10471194" y="3422663"/>
              <a:ext cx="126822" cy="120606"/>
            </a:xfrm>
            <a:custGeom>
              <a:avLst/>
              <a:gdLst/>
              <a:ahLst/>
              <a:cxnLst/>
              <a:rect l="l" t="t" r="r" b="b"/>
              <a:pathLst>
                <a:path w="126822" h="120606">
                  <a:moveTo>
                    <a:pt x="63456" y="100000"/>
                  </a:moveTo>
                  <a:lnTo>
                    <a:pt x="24263" y="120606"/>
                  </a:lnTo>
                  <a:lnTo>
                    <a:pt x="31750" y="76962"/>
                  </a:lnTo>
                  <a:lnTo>
                    <a:pt x="0" y="46057"/>
                  </a:lnTo>
                  <a:lnTo>
                    <a:pt x="43815" y="39707"/>
                  </a:lnTo>
                  <a:lnTo>
                    <a:pt x="63411" y="0"/>
                  </a:lnTo>
                  <a:lnTo>
                    <a:pt x="83007" y="39707"/>
                  </a:lnTo>
                  <a:lnTo>
                    <a:pt x="126822" y="46057"/>
                  </a:lnTo>
                  <a:lnTo>
                    <a:pt x="95072" y="76962"/>
                  </a:lnTo>
                  <a:lnTo>
                    <a:pt x="102559" y="120606"/>
                  </a:lnTo>
                  <a:lnTo>
                    <a:pt x="63456" y="100000"/>
                  </a:lnTo>
                </a:path>
              </a:pathLst>
            </a:custGeom>
            <a:noFill/>
            <a:ln w="12700">
              <a:solidFill>
                <a:srgbClr val="C83210"/>
              </a:solidFill>
            </a:ln>
          </p:spPr>
        </p:sp>
        <p:sp>
          <p:nvSpPr>
            <p:cNvPr id="251" name="TextBox 251"/>
            <p:cNvSpPr txBox="1"/>
            <p:nvPr/>
          </p:nvSpPr>
          <p:spPr>
            <a:xfrm>
              <a:off x="10720388" y="3390186"/>
              <a:ext cx="583006" cy="140494"/>
            </a:xfrm>
            <a:prstGeom prst="rect">
              <a:avLst/>
            </a:prstGeom>
            <a:noFill/>
            <a:ln>
              <a:noFill/>
            </a:ln>
          </p:spPr>
          <p:txBody>
            <a:bodyPr wrap="none" lIns="0" tIns="0" rIns="0" bIns="0" anchor="t" anchorCtr="0">
              <a:spAutoFit/>
            </a:bodyPr>
            <a:lstStyle/>
            <a:p>
              <a:pPr algn="l"/>
              <a:r>
                <a:rPr lang="zh-CN" sz="710" b="1" dirty="0">
                  <a:solidFill>
                    <a:srgbClr val="222222"/>
                  </a:solidFill>
                  <a:latin typeface="+mn-lt"/>
                  <a:ea typeface="+mn-ea"/>
                  <a:cs typeface="+mn-cs"/>
                </a:rPr>
                <a:t>品牌口碑增强</a:t>
              </a:r>
            </a:p>
          </p:txBody>
        </p:sp>
        <p:sp>
          <p:nvSpPr>
            <p:cNvPr id="252" name="TextBox 252"/>
            <p:cNvSpPr txBox="1"/>
            <p:nvPr/>
          </p:nvSpPr>
          <p:spPr>
            <a:xfrm>
              <a:off x="10720388" y="3539728"/>
              <a:ext cx="582468" cy="111919"/>
            </a:xfrm>
            <a:prstGeom prst="rect">
              <a:avLst/>
            </a:prstGeom>
            <a:noFill/>
            <a:ln>
              <a:noFill/>
            </a:ln>
          </p:spPr>
          <p:txBody>
            <a:bodyPr wrap="none" lIns="0" tIns="0" rIns="0" bIns="0" anchor="t" anchorCtr="0">
              <a:spAutoFit/>
            </a:bodyPr>
            <a:lstStyle/>
            <a:p>
              <a:pPr algn="l"/>
              <a:r>
                <a:rPr lang="zh-CN" sz="560" dirty="0">
                  <a:solidFill>
                    <a:srgbClr val="808080"/>
                  </a:solidFill>
                  <a:latin typeface="+mn-lt"/>
                  <a:ea typeface="+mn-ea"/>
                  <a:cs typeface="+mn-cs"/>
                </a:rPr>
                <a:t>专业 可靠 有温度</a:t>
              </a:r>
            </a:p>
          </p:txBody>
        </p:sp>
      </p:grpSp>
      <p:grpSp>
        <p:nvGrpSpPr>
          <p:cNvPr id="296" name="roadmap"/>
          <p:cNvGrpSpPr/>
          <p:nvPr/>
        </p:nvGrpSpPr>
        <p:grpSpPr>
          <a:xfrm>
            <a:off x="133350" y="4038600"/>
            <a:ext cx="4819650" cy="1196054"/>
            <a:chOff x="133350" y="4038600"/>
            <a:chExt cx="4819650" cy="1196054"/>
          </a:xfrm>
        </p:grpSpPr>
        <p:sp>
          <p:nvSpPr>
            <p:cNvPr id="254" name="Rectangle 254"/>
            <p:cNvSpPr/>
            <p:nvPr/>
          </p:nvSpPr>
          <p:spPr>
            <a:xfrm>
              <a:off x="133350" y="4038600"/>
              <a:ext cx="4819650" cy="228600"/>
            </a:xfrm>
            <a:prstGeom prst="roundRect">
              <a:avLst>
                <a:gd name="adj" fmla="val 16667"/>
              </a:avLst>
            </a:prstGeom>
            <a:solidFill>
              <a:srgbClr val="C83210"/>
            </a:solidFill>
            <a:ln>
              <a:noFill/>
            </a:ln>
          </p:spPr>
        </p:sp>
        <p:sp>
          <p:nvSpPr>
            <p:cNvPr id="255" name="TextBox 255"/>
            <p:cNvSpPr txBox="1"/>
            <p:nvPr/>
          </p:nvSpPr>
          <p:spPr>
            <a:xfrm>
              <a:off x="242888" y="4101941"/>
              <a:ext cx="1351296"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 xml:space="preserve">12个月成熟度推进路线图　</a:t>
              </a:r>
            </a:p>
          </p:txBody>
        </p:sp>
        <p:sp>
          <p:nvSpPr>
            <p:cNvPr id="256" name="Freeform 256"/>
            <p:cNvSpPr/>
            <p:nvPr/>
          </p:nvSpPr>
          <p:spPr>
            <a:xfrm>
              <a:off x="133350" y="4343400"/>
              <a:ext cx="1181100" cy="342900"/>
            </a:xfrm>
            <a:prstGeom prst="chevron">
              <a:avLst>
                <a:gd name="adj" fmla="val 40000"/>
              </a:avLst>
            </a:prstGeom>
            <a:solidFill>
              <a:srgbClr val="E9826B"/>
            </a:solidFill>
            <a:ln>
              <a:noFill/>
            </a:ln>
          </p:spPr>
        </p:sp>
        <p:sp>
          <p:nvSpPr>
            <p:cNvPr id="257" name="Freeform 257"/>
            <p:cNvSpPr/>
            <p:nvPr/>
          </p:nvSpPr>
          <p:spPr>
            <a:xfrm>
              <a:off x="1343025" y="4343400"/>
              <a:ext cx="1181100" cy="342900"/>
            </a:xfrm>
            <a:prstGeom prst="chevron">
              <a:avLst>
                <a:gd name="adj" fmla="val 40000"/>
              </a:avLst>
            </a:prstGeom>
            <a:solidFill>
              <a:srgbClr val="D64F30"/>
            </a:solidFill>
            <a:ln>
              <a:noFill/>
            </a:ln>
          </p:spPr>
        </p:sp>
        <p:sp>
          <p:nvSpPr>
            <p:cNvPr id="258" name="Freeform 258"/>
            <p:cNvSpPr/>
            <p:nvPr/>
          </p:nvSpPr>
          <p:spPr>
            <a:xfrm>
              <a:off x="2552700" y="4343400"/>
              <a:ext cx="1181100" cy="342900"/>
            </a:xfrm>
            <a:prstGeom prst="chevron">
              <a:avLst>
                <a:gd name="adj" fmla="val 40000"/>
              </a:avLst>
            </a:prstGeom>
            <a:solidFill>
              <a:srgbClr val="C83210"/>
            </a:solidFill>
            <a:ln>
              <a:noFill/>
            </a:ln>
          </p:spPr>
        </p:sp>
        <p:sp>
          <p:nvSpPr>
            <p:cNvPr id="259" name="Freeform 259"/>
            <p:cNvSpPr/>
            <p:nvPr/>
          </p:nvSpPr>
          <p:spPr>
            <a:xfrm>
              <a:off x="3762375" y="4343400"/>
              <a:ext cx="1181100" cy="342900"/>
            </a:xfrm>
            <a:prstGeom prst="chevron">
              <a:avLst>
                <a:gd name="adj" fmla="val 40000"/>
              </a:avLst>
            </a:prstGeom>
            <a:solidFill>
              <a:srgbClr val="8F230A"/>
            </a:solidFill>
            <a:ln>
              <a:noFill/>
            </a:ln>
          </p:spPr>
        </p:sp>
        <p:grpSp>
          <p:nvGrpSpPr>
            <p:cNvPr id="262" name="Group 262"/>
            <p:cNvGrpSpPr/>
            <p:nvPr/>
          </p:nvGrpSpPr>
          <p:grpSpPr>
            <a:xfrm>
              <a:off x="393700" y="4458299"/>
              <a:ext cx="88900" cy="113701"/>
              <a:chOff x="393700" y="4458299"/>
              <a:chExt cx="88900" cy="113701"/>
            </a:xfrm>
          </p:grpSpPr>
          <p:sp>
            <p:nvSpPr>
              <p:cNvPr id="260" name="Freeform 260"/>
              <p:cNvSpPr/>
              <p:nvPr/>
            </p:nvSpPr>
            <p:spPr>
              <a:xfrm>
                <a:off x="393700" y="4458299"/>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FFFFFF"/>
                </a:solidFill>
              </a:ln>
            </p:spPr>
          </p:sp>
          <p:sp>
            <p:nvSpPr>
              <p:cNvPr id="261" name="Freeform 261"/>
              <p:cNvSpPr/>
              <p:nvPr/>
            </p:nvSpPr>
            <p:spPr>
              <a:xfrm>
                <a:off x="393700" y="4527550"/>
                <a:ext cx="9525" cy="44450"/>
              </a:xfrm>
              <a:custGeom>
                <a:avLst/>
                <a:gdLst/>
                <a:ahLst/>
                <a:cxnLst/>
                <a:rect l="l" t="t" r="r" b="b"/>
                <a:pathLst>
                  <a:path w="9525" h="44450">
                    <a:moveTo>
                      <a:pt x="0" y="44450"/>
                    </a:moveTo>
                    <a:lnTo>
                      <a:pt x="0" y="0"/>
                    </a:lnTo>
                  </a:path>
                </a:pathLst>
              </a:custGeom>
              <a:noFill/>
              <a:ln w="12700">
                <a:solidFill>
                  <a:srgbClr val="FFFFFF"/>
                </a:solidFill>
              </a:ln>
            </p:spPr>
          </p:sp>
        </p:grpSp>
        <p:sp>
          <p:nvSpPr>
            <p:cNvPr id="263" name="TextBox 263"/>
            <p:cNvSpPr txBox="1"/>
            <p:nvPr/>
          </p:nvSpPr>
          <p:spPr>
            <a:xfrm>
              <a:off x="566738" y="4416028"/>
              <a:ext cx="284688"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 xml:space="preserve">1-3月　</a:t>
              </a:r>
            </a:p>
          </p:txBody>
        </p:sp>
        <p:sp>
          <p:nvSpPr>
            <p:cNvPr id="264" name="TextBox 264"/>
            <p:cNvSpPr txBox="1"/>
            <p:nvPr/>
          </p:nvSpPr>
          <p:spPr>
            <a:xfrm>
              <a:off x="566738" y="4533186"/>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统一标准</a:t>
              </a:r>
            </a:p>
          </p:txBody>
        </p:sp>
        <p:sp>
          <p:nvSpPr>
            <p:cNvPr id="265" name="TextBox 265"/>
            <p:cNvSpPr txBox="1"/>
            <p:nvPr/>
          </p:nvSpPr>
          <p:spPr>
            <a:xfrm>
              <a:off x="166688" y="4813649"/>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顶层设计与制度规范</a:t>
              </a:r>
            </a:p>
          </p:txBody>
        </p:sp>
        <p:sp>
          <p:nvSpPr>
            <p:cNvPr id="266" name="TextBox 266"/>
            <p:cNvSpPr txBox="1"/>
            <p:nvPr/>
          </p:nvSpPr>
          <p:spPr>
            <a:xfrm>
              <a:off x="166688" y="4966049"/>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核心资产模板建设</a:t>
              </a:r>
            </a:p>
          </p:txBody>
        </p:sp>
        <p:sp>
          <p:nvSpPr>
            <p:cNvPr id="267" name="TextBox 267"/>
            <p:cNvSpPr txBox="1"/>
            <p:nvPr/>
          </p:nvSpPr>
          <p:spPr>
            <a:xfrm>
              <a:off x="166688" y="5118449"/>
              <a:ext cx="63228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数据与权限规划</a:t>
              </a:r>
            </a:p>
          </p:txBody>
        </p:sp>
        <p:grpSp>
          <p:nvGrpSpPr>
            <p:cNvPr id="271" name="Group 271"/>
            <p:cNvGrpSpPr/>
            <p:nvPr/>
          </p:nvGrpSpPr>
          <p:grpSpPr>
            <a:xfrm>
              <a:off x="1609104" y="4457700"/>
              <a:ext cx="77442" cy="114300"/>
              <a:chOff x="1609104" y="4457700"/>
              <a:chExt cx="77442" cy="114300"/>
            </a:xfrm>
          </p:grpSpPr>
          <p:sp>
            <p:nvSpPr>
              <p:cNvPr id="268" name="Freeform 268"/>
              <p:cNvSpPr/>
              <p:nvPr/>
            </p:nvSpPr>
            <p:spPr>
              <a:xfrm>
                <a:off x="1628775" y="4457700"/>
                <a:ext cx="38100" cy="9525"/>
              </a:xfrm>
              <a:custGeom>
                <a:avLst/>
                <a:gdLst/>
                <a:ahLst/>
                <a:cxnLst/>
                <a:rect l="l" t="t" r="r" b="b"/>
                <a:pathLst>
                  <a:path w="38100" h="9525">
                    <a:moveTo>
                      <a:pt x="0" y="0"/>
                    </a:moveTo>
                    <a:lnTo>
                      <a:pt x="38100" y="0"/>
                    </a:lnTo>
                  </a:path>
                </a:pathLst>
              </a:custGeom>
              <a:noFill/>
              <a:ln w="12700">
                <a:solidFill>
                  <a:srgbClr val="FFFFFF"/>
                </a:solidFill>
              </a:ln>
            </p:spPr>
          </p:sp>
          <p:sp>
            <p:nvSpPr>
              <p:cNvPr id="269" name="Freeform 269"/>
              <p:cNvSpPr/>
              <p:nvPr/>
            </p:nvSpPr>
            <p:spPr>
              <a:xfrm>
                <a:off x="1635125" y="4495800"/>
                <a:ext cx="25400" cy="9525"/>
              </a:xfrm>
              <a:custGeom>
                <a:avLst/>
                <a:gdLst/>
                <a:ahLst/>
                <a:cxnLst/>
                <a:rect l="l" t="t" r="r" b="b"/>
                <a:pathLst>
                  <a:path w="25400" h="9525">
                    <a:moveTo>
                      <a:pt x="0" y="0"/>
                    </a:moveTo>
                    <a:lnTo>
                      <a:pt x="25400" y="0"/>
                    </a:lnTo>
                  </a:path>
                </a:pathLst>
              </a:custGeom>
              <a:noFill/>
              <a:ln w="12700">
                <a:solidFill>
                  <a:srgbClr val="FFFFFF"/>
                </a:solidFill>
              </a:ln>
            </p:spPr>
          </p:sp>
          <p:sp>
            <p:nvSpPr>
              <p:cNvPr id="270" name="Freeform 270"/>
              <p:cNvSpPr/>
              <p:nvPr/>
            </p:nvSpPr>
            <p:spPr>
              <a:xfrm>
                <a:off x="1609104" y="4457700"/>
                <a:ext cx="77442" cy="114300"/>
              </a:xfrm>
              <a:custGeom>
                <a:avLst/>
                <a:gdLst/>
                <a:ahLst/>
                <a:cxnLst/>
                <a:rect l="l" t="t" r="r" b="b"/>
                <a:pathLst>
                  <a:path w="77442" h="114300">
                    <a:moveTo>
                      <a:pt x="26021" y="0"/>
                    </a:moveTo>
                    <a:lnTo>
                      <a:pt x="26021" y="38100"/>
                    </a:lnTo>
                    <a:lnTo>
                      <a:pt x="621" y="107950"/>
                    </a:lnTo>
                    <a:cubicBezTo>
                      <a:pt x="0" y="109200"/>
                      <a:pt x="2" y="110668"/>
                      <a:pt x="626" y="111916"/>
                    </a:cubicBezTo>
                    <a:cubicBezTo>
                      <a:pt x="1250" y="113165"/>
                      <a:pt x="2424" y="114047"/>
                      <a:pt x="3796" y="114300"/>
                    </a:cubicBezTo>
                    <a:lnTo>
                      <a:pt x="73646" y="114300"/>
                    </a:lnTo>
                    <a:cubicBezTo>
                      <a:pt x="75019" y="114047"/>
                      <a:pt x="76192" y="113165"/>
                      <a:pt x="76817" y="111916"/>
                    </a:cubicBezTo>
                    <a:cubicBezTo>
                      <a:pt x="77441" y="110668"/>
                      <a:pt x="77442" y="109200"/>
                      <a:pt x="76821" y="107950"/>
                    </a:cubicBezTo>
                    <a:lnTo>
                      <a:pt x="51421" y="38100"/>
                    </a:lnTo>
                    <a:lnTo>
                      <a:pt x="51421" y="0"/>
                    </a:lnTo>
                  </a:path>
                </a:pathLst>
              </a:custGeom>
              <a:noFill/>
              <a:ln w="12700">
                <a:solidFill>
                  <a:srgbClr val="FFFFFF"/>
                </a:solidFill>
              </a:ln>
            </p:spPr>
          </p:sp>
        </p:grpSp>
        <p:sp>
          <p:nvSpPr>
            <p:cNvPr id="272" name="TextBox 272"/>
            <p:cNvSpPr txBox="1"/>
            <p:nvPr/>
          </p:nvSpPr>
          <p:spPr>
            <a:xfrm>
              <a:off x="1776412" y="4416028"/>
              <a:ext cx="284688"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 xml:space="preserve">4-6月　</a:t>
              </a:r>
            </a:p>
          </p:txBody>
        </p:sp>
        <p:sp>
          <p:nvSpPr>
            <p:cNvPr id="273" name="TextBox 273"/>
            <p:cNvSpPr txBox="1"/>
            <p:nvPr/>
          </p:nvSpPr>
          <p:spPr>
            <a:xfrm>
              <a:off x="1776412" y="4533186"/>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试点验证</a:t>
              </a:r>
            </a:p>
          </p:txBody>
        </p:sp>
        <p:sp>
          <p:nvSpPr>
            <p:cNvPr id="274" name="TextBox 274"/>
            <p:cNvSpPr txBox="1"/>
            <p:nvPr/>
          </p:nvSpPr>
          <p:spPr>
            <a:xfrm>
              <a:off x="1376362" y="4813649"/>
              <a:ext cx="909465"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选取重点分行/网点试点</a:t>
              </a:r>
            </a:p>
          </p:txBody>
        </p:sp>
        <p:sp>
          <p:nvSpPr>
            <p:cNvPr id="275" name="TextBox 275"/>
            <p:cNvSpPr txBox="1"/>
            <p:nvPr/>
          </p:nvSpPr>
          <p:spPr>
            <a:xfrm>
              <a:off x="1376362" y="4966049"/>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验证内容与旅程效果</a:t>
              </a:r>
            </a:p>
          </p:txBody>
        </p:sp>
        <p:sp>
          <p:nvSpPr>
            <p:cNvPr id="276" name="TextBox 276"/>
            <p:cNvSpPr txBox="1"/>
            <p:nvPr/>
          </p:nvSpPr>
          <p:spPr>
            <a:xfrm>
              <a:off x="1376362" y="5118449"/>
              <a:ext cx="78844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优化流程与指标体系</a:t>
              </a:r>
            </a:p>
          </p:txBody>
        </p:sp>
        <p:grpSp>
          <p:nvGrpSpPr>
            <p:cNvPr id="281" name="Group 281"/>
            <p:cNvGrpSpPr/>
            <p:nvPr/>
          </p:nvGrpSpPr>
          <p:grpSpPr>
            <a:xfrm>
              <a:off x="2800350" y="4464050"/>
              <a:ext cx="114300" cy="111125"/>
              <a:chOff x="2800350" y="4464050"/>
              <a:chExt cx="114300" cy="111125"/>
            </a:xfrm>
          </p:grpSpPr>
          <p:sp>
            <p:nvSpPr>
              <p:cNvPr id="277" name="Freeform 277"/>
              <p:cNvSpPr/>
              <p:nvPr/>
            </p:nvSpPr>
            <p:spPr>
              <a:xfrm>
                <a:off x="2800350" y="45148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FFFFFF"/>
                </a:solidFill>
              </a:ln>
            </p:spPr>
          </p:sp>
          <p:sp>
            <p:nvSpPr>
              <p:cNvPr id="278" name="Freeform 278"/>
              <p:cNvSpPr/>
              <p:nvPr/>
            </p:nvSpPr>
            <p:spPr>
              <a:xfrm>
                <a:off x="2876550" y="44894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FFFFFF"/>
                </a:solidFill>
              </a:ln>
            </p:spPr>
          </p:sp>
          <p:sp>
            <p:nvSpPr>
              <p:cNvPr id="279" name="Freeform 279"/>
              <p:cNvSpPr/>
              <p:nvPr/>
            </p:nvSpPr>
            <p:spPr>
              <a:xfrm>
                <a:off x="2838450" y="44640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FFFFFF"/>
                </a:solidFill>
              </a:ln>
            </p:spPr>
          </p:sp>
          <p:sp>
            <p:nvSpPr>
              <p:cNvPr id="280" name="Freeform 280"/>
              <p:cNvSpPr/>
              <p:nvPr/>
            </p:nvSpPr>
            <p:spPr>
              <a:xfrm>
                <a:off x="2806700" y="4565650"/>
                <a:ext cx="88900" cy="9525"/>
              </a:xfrm>
              <a:custGeom>
                <a:avLst/>
                <a:gdLst/>
                <a:ahLst/>
                <a:cxnLst/>
                <a:rect l="l" t="t" r="r" b="b"/>
                <a:pathLst>
                  <a:path w="88900" h="9525">
                    <a:moveTo>
                      <a:pt x="0" y="0"/>
                    </a:moveTo>
                    <a:lnTo>
                      <a:pt x="88900" y="0"/>
                    </a:lnTo>
                  </a:path>
                </a:pathLst>
              </a:custGeom>
              <a:noFill/>
              <a:ln w="12700">
                <a:solidFill>
                  <a:srgbClr val="FFFFFF"/>
                </a:solidFill>
              </a:ln>
            </p:spPr>
          </p:sp>
        </p:grpSp>
        <p:sp>
          <p:nvSpPr>
            <p:cNvPr id="282" name="TextBox 282"/>
            <p:cNvSpPr txBox="1"/>
            <p:nvPr/>
          </p:nvSpPr>
          <p:spPr>
            <a:xfrm>
              <a:off x="2986088" y="4416028"/>
              <a:ext cx="284688"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 xml:space="preserve">7-9月　</a:t>
              </a:r>
            </a:p>
          </p:txBody>
        </p:sp>
        <p:sp>
          <p:nvSpPr>
            <p:cNvPr id="283" name="TextBox 283"/>
            <p:cNvSpPr txBox="1"/>
            <p:nvPr/>
          </p:nvSpPr>
          <p:spPr>
            <a:xfrm>
              <a:off x="2986088" y="4533186"/>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规模复制</a:t>
              </a:r>
            </a:p>
          </p:txBody>
        </p:sp>
        <p:sp>
          <p:nvSpPr>
            <p:cNvPr id="284" name="TextBox 284"/>
            <p:cNvSpPr txBox="1"/>
            <p:nvPr/>
          </p:nvSpPr>
          <p:spPr>
            <a:xfrm>
              <a:off x="2586038" y="4813649"/>
              <a:ext cx="554203"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全行推广复制</a:t>
              </a:r>
            </a:p>
          </p:txBody>
        </p:sp>
        <p:sp>
          <p:nvSpPr>
            <p:cNvPr id="285" name="TextBox 285"/>
            <p:cNvSpPr txBox="1"/>
            <p:nvPr/>
          </p:nvSpPr>
          <p:spPr>
            <a:xfrm>
              <a:off x="2586038" y="4966049"/>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完善运营支撑体系</a:t>
              </a:r>
            </a:p>
          </p:txBody>
        </p:sp>
        <p:sp>
          <p:nvSpPr>
            <p:cNvPr id="286" name="TextBox 286"/>
            <p:cNvSpPr txBox="1"/>
            <p:nvPr/>
          </p:nvSpPr>
          <p:spPr>
            <a:xfrm>
              <a:off x="2586038" y="5118449"/>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形成标准化工具包</a:t>
              </a:r>
            </a:p>
          </p:txBody>
        </p:sp>
        <p:grpSp>
          <p:nvGrpSpPr>
            <p:cNvPr id="290" name="Group 290"/>
            <p:cNvGrpSpPr/>
            <p:nvPr/>
          </p:nvGrpSpPr>
          <p:grpSpPr>
            <a:xfrm>
              <a:off x="4014369" y="4464050"/>
              <a:ext cx="103606" cy="103606"/>
              <a:chOff x="4014369" y="4464050"/>
              <a:chExt cx="103606" cy="103606"/>
            </a:xfrm>
          </p:grpSpPr>
          <p:sp>
            <p:nvSpPr>
              <p:cNvPr id="287" name="Freeform 287"/>
              <p:cNvSpPr/>
              <p:nvPr/>
            </p:nvSpPr>
            <p:spPr>
              <a:xfrm>
                <a:off x="4016375" y="4464050"/>
                <a:ext cx="101600" cy="101600"/>
              </a:xfrm>
              <a:custGeom>
                <a:avLst/>
                <a:gdLst/>
                <a:ahLst/>
                <a:cxnLst/>
                <a:rect l="l" t="t" r="r" b="b"/>
                <a:pathLst>
                  <a:path w="101600" h="101600">
                    <a:moveTo>
                      <a:pt x="0" y="57150"/>
                    </a:moveTo>
                    <a:cubicBezTo>
                      <a:pt x="23306" y="59920"/>
                      <a:pt x="41680" y="78294"/>
                      <a:pt x="44450" y="101600"/>
                    </a:cubicBezTo>
                    <a:cubicBezTo>
                      <a:pt x="55861" y="95021"/>
                      <a:pt x="63065" y="83015"/>
                      <a:pt x="63500" y="69850"/>
                    </a:cubicBezTo>
                    <a:cubicBezTo>
                      <a:pt x="85304" y="62180"/>
                      <a:pt x="100342" y="42130"/>
                      <a:pt x="101600" y="19050"/>
                    </a:cubicBezTo>
                    <a:cubicBezTo>
                      <a:pt x="101600" y="8529"/>
                      <a:pt x="93071" y="0"/>
                      <a:pt x="82550" y="0"/>
                    </a:cubicBezTo>
                    <a:cubicBezTo>
                      <a:pt x="59470" y="1258"/>
                      <a:pt x="39420" y="16296"/>
                      <a:pt x="31750" y="38100"/>
                    </a:cubicBezTo>
                    <a:cubicBezTo>
                      <a:pt x="18585" y="38535"/>
                      <a:pt x="6579" y="45739"/>
                      <a:pt x="0" y="57150"/>
                    </a:cubicBezTo>
                  </a:path>
                </a:pathLst>
              </a:custGeom>
              <a:noFill/>
              <a:ln w="12700">
                <a:solidFill>
                  <a:srgbClr val="FFFFFF"/>
                </a:solidFill>
              </a:ln>
            </p:spPr>
          </p:sp>
          <p:sp>
            <p:nvSpPr>
              <p:cNvPr id="288" name="Freeform 288"/>
              <p:cNvSpPr/>
              <p:nvPr/>
            </p:nvSpPr>
            <p:spPr>
              <a:xfrm>
                <a:off x="4014369" y="4527550"/>
                <a:ext cx="40106" cy="40106"/>
              </a:xfrm>
              <a:custGeom>
                <a:avLst/>
                <a:gdLst/>
                <a:ahLst/>
                <a:cxnLst/>
                <a:rect l="l" t="t" r="r" b="b"/>
                <a:pathLst>
                  <a:path w="40106" h="40106">
                    <a:moveTo>
                      <a:pt x="21056" y="0"/>
                    </a:moveTo>
                    <a:cubicBezTo>
                      <a:pt x="7536" y="7633"/>
                      <a:pt x="0" y="22705"/>
                      <a:pt x="2006" y="38100"/>
                    </a:cubicBezTo>
                    <a:cubicBezTo>
                      <a:pt x="17401" y="40106"/>
                      <a:pt x="32473" y="32570"/>
                      <a:pt x="40106" y="19050"/>
                    </a:cubicBezTo>
                  </a:path>
                </a:pathLst>
              </a:custGeom>
              <a:noFill/>
              <a:ln w="12700">
                <a:solidFill>
                  <a:srgbClr val="FFFFFF"/>
                </a:solidFill>
              </a:ln>
            </p:spPr>
          </p:sp>
          <p:sp>
            <p:nvSpPr>
              <p:cNvPr id="289" name="Freeform 289"/>
              <p:cNvSpPr/>
              <p:nvPr/>
            </p:nvSpPr>
            <p:spPr>
              <a:xfrm>
                <a:off x="4079875" y="44894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grpSp>
        <p:sp>
          <p:nvSpPr>
            <p:cNvPr id="291" name="TextBox 291"/>
            <p:cNvSpPr txBox="1"/>
            <p:nvPr/>
          </p:nvSpPr>
          <p:spPr>
            <a:xfrm>
              <a:off x="4195762" y="4416028"/>
              <a:ext cx="367614"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 xml:space="preserve">10-12月　</a:t>
              </a:r>
            </a:p>
          </p:txBody>
        </p:sp>
        <p:sp>
          <p:nvSpPr>
            <p:cNvPr id="292" name="TextBox 292"/>
            <p:cNvSpPr txBox="1"/>
            <p:nvPr/>
          </p:nvSpPr>
          <p:spPr>
            <a:xfrm>
              <a:off x="4195762" y="4533186"/>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智能优化</a:t>
              </a:r>
            </a:p>
          </p:txBody>
        </p:sp>
        <p:sp>
          <p:nvSpPr>
            <p:cNvPr id="293" name="TextBox 293"/>
            <p:cNvSpPr txBox="1"/>
            <p:nvPr/>
          </p:nvSpPr>
          <p:spPr>
            <a:xfrm>
              <a:off x="3795712" y="4813649"/>
              <a:ext cx="866521"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引入智能推荐与自动化</a:t>
              </a:r>
            </a:p>
          </p:txBody>
        </p:sp>
        <p:sp>
          <p:nvSpPr>
            <p:cNvPr id="294" name="TextBox 294"/>
            <p:cNvSpPr txBox="1"/>
            <p:nvPr/>
          </p:nvSpPr>
          <p:spPr>
            <a:xfrm>
              <a:off x="3795712" y="4966049"/>
              <a:ext cx="71036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深化数据分析应用</a:t>
              </a:r>
            </a:p>
          </p:txBody>
        </p:sp>
        <p:sp>
          <p:nvSpPr>
            <p:cNvPr id="295" name="TextBox 295"/>
            <p:cNvSpPr txBox="1"/>
            <p:nvPr/>
          </p:nvSpPr>
          <p:spPr>
            <a:xfrm>
              <a:off x="3795712" y="5118449"/>
              <a:ext cx="632282" cy="116205"/>
            </a:xfrm>
            <a:prstGeom prst="rect">
              <a:avLst/>
            </a:prstGeom>
            <a:noFill/>
            <a:ln>
              <a:noFill/>
            </a:ln>
          </p:spPr>
          <p:txBody>
            <a:bodyPr wrap="none" lIns="0" tIns="0" rIns="0" bIns="0" anchor="t" anchorCtr="0">
              <a:spAutoFit/>
            </a:bodyPr>
            <a:lstStyle/>
            <a:p>
              <a:pPr algn="l" marL="76200" indent="-76200">
                <a:buClr>
                  <a:srgbClr val="3D3D3D"/>
                </a:buClr>
                <a:buSzTx/>
                <a:buFontTx/>
                <a:buChar char="•"/>
              </a:pPr>
              <a:r>
                <a:rPr lang="zh-CN" sz="580" dirty="0">
                  <a:solidFill>
                    <a:srgbClr val="3D3D3D"/>
                  </a:solidFill>
                  <a:latin typeface="+mn-lt"/>
                  <a:ea typeface="+mn-ea"/>
                  <a:cs typeface="+mn-cs"/>
                </a:rPr>
                <a:t>实现精细化运营</a:t>
              </a:r>
            </a:p>
          </p:txBody>
        </p:sp>
      </p:grpSp>
      <p:grpSp>
        <p:nvGrpSpPr>
          <p:cNvPr id="366" name="deliverables"/>
          <p:cNvGrpSpPr/>
          <p:nvPr/>
        </p:nvGrpSpPr>
        <p:grpSpPr>
          <a:xfrm>
            <a:off x="5067300" y="4038600"/>
            <a:ext cx="6991350" cy="1524000"/>
            <a:chOff x="5067300" y="4038600"/>
            <a:chExt cx="6991350" cy="1524000"/>
          </a:xfrm>
        </p:grpSpPr>
        <p:sp>
          <p:nvSpPr>
            <p:cNvPr id="297" name="Rectangle 297"/>
            <p:cNvSpPr/>
            <p:nvPr/>
          </p:nvSpPr>
          <p:spPr>
            <a:xfrm>
              <a:off x="5067300" y="4038600"/>
              <a:ext cx="6991350" cy="228600"/>
            </a:xfrm>
            <a:prstGeom prst="roundRect">
              <a:avLst>
                <a:gd name="adj" fmla="val 16667"/>
              </a:avLst>
            </a:prstGeom>
            <a:solidFill>
              <a:srgbClr val="C83210"/>
            </a:solidFill>
            <a:ln>
              <a:noFill/>
            </a:ln>
          </p:spPr>
        </p:sp>
        <p:sp>
          <p:nvSpPr>
            <p:cNvPr id="298" name="TextBox 298"/>
            <p:cNvSpPr txBox="1"/>
            <p:nvPr/>
          </p:nvSpPr>
          <p:spPr>
            <a:xfrm>
              <a:off x="5176838" y="4101941"/>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最终交付成果</a:t>
              </a:r>
            </a:p>
          </p:txBody>
        </p:sp>
        <p:sp>
          <p:nvSpPr>
            <p:cNvPr id="299" name="Rectangle 299"/>
            <p:cNvSpPr/>
            <p:nvPr/>
          </p:nvSpPr>
          <p:spPr>
            <a:xfrm>
              <a:off x="5067300" y="4343400"/>
              <a:ext cx="1695450" cy="571500"/>
            </a:xfrm>
            <a:prstGeom prst="roundRect">
              <a:avLst>
                <a:gd name="adj" fmla="val 8333"/>
              </a:avLst>
            </a:prstGeom>
            <a:solidFill>
              <a:srgbClr val="FDEFF1"/>
            </a:solidFill>
            <a:ln>
              <a:noFill/>
            </a:ln>
          </p:spPr>
        </p:sp>
        <p:grpSp>
          <p:nvGrpSpPr>
            <p:cNvPr id="303" name="Group 303"/>
            <p:cNvGrpSpPr/>
            <p:nvPr/>
          </p:nvGrpSpPr>
          <p:grpSpPr>
            <a:xfrm>
              <a:off x="5198269" y="4572000"/>
              <a:ext cx="100012" cy="114300"/>
              <a:chOff x="5198269" y="4572000"/>
              <a:chExt cx="100012" cy="114300"/>
            </a:xfrm>
          </p:grpSpPr>
          <p:sp>
            <p:nvSpPr>
              <p:cNvPr id="300" name="Freeform 300"/>
              <p:cNvSpPr/>
              <p:nvPr/>
            </p:nvSpPr>
            <p:spPr>
              <a:xfrm>
                <a:off x="5198269" y="4572000"/>
                <a:ext cx="100012" cy="114300"/>
              </a:xfrm>
              <a:custGeom>
                <a:avLst/>
                <a:gdLst/>
                <a:ahLst/>
                <a:cxnLst/>
                <a:rect l="l" t="t" r="r" b="b"/>
                <a:pathLst>
                  <a:path w="100012" h="114300">
                    <a:moveTo>
                      <a:pt x="100012" y="0"/>
                    </a:moveTo>
                    <a:lnTo>
                      <a:pt x="100012" y="114300"/>
                    </a:lnTo>
                    <a:lnTo>
                      <a:pt x="14288" y="114300"/>
                    </a:lnTo>
                    <a:cubicBezTo>
                      <a:pt x="6397" y="114300"/>
                      <a:pt x="0" y="107903"/>
                      <a:pt x="0" y="100012"/>
                    </a:cubicBezTo>
                    <a:lnTo>
                      <a:pt x="0" y="14288"/>
                    </a:lnTo>
                    <a:cubicBezTo>
                      <a:pt x="0" y="6397"/>
                      <a:pt x="6397" y="0"/>
                      <a:pt x="14288" y="0"/>
                    </a:cubicBezTo>
                    <a:lnTo>
                      <a:pt x="100012" y="0"/>
                    </a:lnTo>
                  </a:path>
                </a:pathLst>
              </a:custGeom>
              <a:noFill/>
              <a:ln w="14288">
                <a:solidFill>
                  <a:srgbClr val="C83210"/>
                </a:solidFill>
              </a:ln>
            </p:spPr>
          </p:sp>
          <p:sp>
            <p:nvSpPr>
              <p:cNvPr id="301" name="Freeform 301"/>
              <p:cNvSpPr/>
              <p:nvPr/>
            </p:nvSpPr>
            <p:spPr>
              <a:xfrm>
                <a:off x="5198269" y="4657725"/>
                <a:ext cx="100012" cy="14288"/>
              </a:xfrm>
              <a:custGeom>
                <a:avLst/>
                <a:gdLst/>
                <a:ahLst/>
                <a:cxnLst/>
                <a:rect l="l" t="t" r="r" b="b"/>
                <a:pathLst>
                  <a:path w="100012" h="14288">
                    <a:moveTo>
                      <a:pt x="100012" y="0"/>
                    </a:moveTo>
                    <a:lnTo>
                      <a:pt x="14288" y="0"/>
                    </a:lnTo>
                    <a:cubicBezTo>
                      <a:pt x="6397" y="0"/>
                      <a:pt x="0" y="6397"/>
                      <a:pt x="0" y="14288"/>
                    </a:cubicBezTo>
                  </a:path>
                </a:pathLst>
              </a:custGeom>
              <a:noFill/>
              <a:ln w="14288">
                <a:solidFill>
                  <a:srgbClr val="C83210"/>
                </a:solidFill>
              </a:ln>
            </p:spPr>
          </p:sp>
          <p:sp>
            <p:nvSpPr>
              <p:cNvPr id="302" name="Freeform 302"/>
              <p:cNvSpPr/>
              <p:nvPr/>
            </p:nvSpPr>
            <p:spPr>
              <a:xfrm>
                <a:off x="5226844" y="4600575"/>
                <a:ext cx="42862" cy="9525"/>
              </a:xfrm>
              <a:custGeom>
                <a:avLst/>
                <a:gdLst/>
                <a:ahLst/>
                <a:cxnLst/>
                <a:rect l="l" t="t" r="r" b="b"/>
                <a:pathLst>
                  <a:path w="42862" h="9525">
                    <a:moveTo>
                      <a:pt x="0" y="0"/>
                    </a:moveTo>
                    <a:lnTo>
                      <a:pt x="42862" y="0"/>
                    </a:lnTo>
                  </a:path>
                </a:pathLst>
              </a:custGeom>
              <a:noFill/>
              <a:ln w="14288">
                <a:solidFill>
                  <a:srgbClr val="C83210"/>
                </a:solidFill>
              </a:ln>
            </p:spPr>
          </p:sp>
        </p:grpSp>
        <p:sp>
          <p:nvSpPr>
            <p:cNvPr id="304" name="TextBox 304"/>
            <p:cNvSpPr txBox="1"/>
            <p:nvPr/>
          </p:nvSpPr>
          <p:spPr>
            <a:xfrm>
              <a:off x="5386388" y="4523661"/>
              <a:ext cx="115848"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Arial"/>
                  <a:ea typeface="Arial"/>
                  <a:cs typeface="Arial"/>
                </a:rPr>
                <a:t>01</a:t>
              </a:r>
            </a:p>
          </p:txBody>
        </p:sp>
        <p:sp>
          <p:nvSpPr>
            <p:cNvPr id="305" name="TextBox 305"/>
            <p:cNvSpPr txBox="1"/>
            <p:nvPr/>
          </p:nvSpPr>
          <p:spPr>
            <a:xfrm>
              <a:off x="5576888" y="4531757"/>
              <a:ext cx="526466"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企微客户经营</a:t>
              </a:r>
            </a:p>
          </p:txBody>
        </p:sp>
        <p:sp>
          <p:nvSpPr>
            <p:cNvPr id="306" name="TextBox 306"/>
            <p:cNvSpPr txBox="1"/>
            <p:nvPr/>
          </p:nvSpPr>
          <p:spPr>
            <a:xfrm>
              <a:off x="5576888" y="4674632"/>
              <a:ext cx="354152"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治理手册</a:t>
              </a:r>
            </a:p>
          </p:txBody>
        </p:sp>
        <p:sp>
          <p:nvSpPr>
            <p:cNvPr id="307" name="Rectangle 307"/>
            <p:cNvSpPr/>
            <p:nvPr/>
          </p:nvSpPr>
          <p:spPr>
            <a:xfrm>
              <a:off x="6819900" y="4343400"/>
              <a:ext cx="1695450" cy="571500"/>
            </a:xfrm>
            <a:prstGeom prst="roundRect">
              <a:avLst>
                <a:gd name="adj" fmla="val 8333"/>
              </a:avLst>
            </a:prstGeom>
            <a:solidFill>
              <a:srgbClr val="FDEFF1"/>
            </a:solidFill>
            <a:ln>
              <a:noFill/>
            </a:ln>
          </p:spPr>
        </p:sp>
        <p:grpSp>
          <p:nvGrpSpPr>
            <p:cNvPr id="314" name="Group 314"/>
            <p:cNvGrpSpPr/>
            <p:nvPr/>
          </p:nvGrpSpPr>
          <p:grpSpPr>
            <a:xfrm>
              <a:off x="6943725" y="4564856"/>
              <a:ext cx="114300" cy="128588"/>
              <a:chOff x="6943725" y="4564856"/>
              <a:chExt cx="114300" cy="128588"/>
            </a:xfrm>
          </p:grpSpPr>
          <p:sp>
            <p:nvSpPr>
              <p:cNvPr id="308" name="Freeform 308"/>
              <p:cNvSpPr/>
              <p:nvPr/>
            </p:nvSpPr>
            <p:spPr>
              <a:xfrm>
                <a:off x="6943725" y="4579144"/>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C83210"/>
                </a:solidFill>
              </a:ln>
            </p:spPr>
          </p:sp>
          <p:sp>
            <p:nvSpPr>
              <p:cNvPr id="309" name="Freeform 309"/>
              <p:cNvSpPr/>
              <p:nvPr/>
            </p:nvSpPr>
            <p:spPr>
              <a:xfrm>
                <a:off x="7029450" y="4564856"/>
                <a:ext cx="9525" cy="28575"/>
              </a:xfrm>
              <a:custGeom>
                <a:avLst/>
                <a:gdLst/>
                <a:ahLst/>
                <a:cxnLst/>
                <a:rect l="l" t="t" r="r" b="b"/>
                <a:pathLst>
                  <a:path w="9525" h="28575">
                    <a:moveTo>
                      <a:pt x="0" y="0"/>
                    </a:moveTo>
                    <a:lnTo>
                      <a:pt x="0" y="28575"/>
                    </a:lnTo>
                  </a:path>
                </a:pathLst>
              </a:custGeom>
              <a:noFill/>
              <a:ln w="14288">
                <a:solidFill>
                  <a:srgbClr val="C83210"/>
                </a:solidFill>
              </a:ln>
            </p:spPr>
          </p:sp>
          <p:sp>
            <p:nvSpPr>
              <p:cNvPr id="310" name="Freeform 310"/>
              <p:cNvSpPr/>
              <p:nvPr/>
            </p:nvSpPr>
            <p:spPr>
              <a:xfrm>
                <a:off x="6972300" y="4564856"/>
                <a:ext cx="9525" cy="28575"/>
              </a:xfrm>
              <a:custGeom>
                <a:avLst/>
                <a:gdLst/>
                <a:ahLst/>
                <a:cxnLst/>
                <a:rect l="l" t="t" r="r" b="b"/>
                <a:pathLst>
                  <a:path w="9525" h="28575">
                    <a:moveTo>
                      <a:pt x="0" y="0"/>
                    </a:moveTo>
                    <a:lnTo>
                      <a:pt x="0" y="28575"/>
                    </a:lnTo>
                  </a:path>
                </a:pathLst>
              </a:custGeom>
              <a:noFill/>
              <a:ln w="14288">
                <a:solidFill>
                  <a:srgbClr val="C83210"/>
                </a:solidFill>
              </a:ln>
            </p:spPr>
          </p:sp>
          <p:sp>
            <p:nvSpPr>
              <p:cNvPr id="311" name="Freeform 311"/>
              <p:cNvSpPr/>
              <p:nvPr/>
            </p:nvSpPr>
            <p:spPr>
              <a:xfrm>
                <a:off x="6943725" y="4622006"/>
                <a:ext cx="114300" cy="9525"/>
              </a:xfrm>
              <a:custGeom>
                <a:avLst/>
                <a:gdLst/>
                <a:ahLst/>
                <a:cxnLst/>
                <a:rect l="l" t="t" r="r" b="b"/>
                <a:pathLst>
                  <a:path w="114300" h="9525">
                    <a:moveTo>
                      <a:pt x="0" y="0"/>
                    </a:moveTo>
                    <a:lnTo>
                      <a:pt x="114300" y="0"/>
                    </a:lnTo>
                  </a:path>
                </a:pathLst>
              </a:custGeom>
              <a:noFill/>
              <a:ln w="14288">
                <a:solidFill>
                  <a:srgbClr val="C83210"/>
                </a:solidFill>
              </a:ln>
            </p:spPr>
          </p:sp>
          <p:sp>
            <p:nvSpPr>
              <p:cNvPr id="312" name="Freeform 312"/>
              <p:cNvSpPr/>
              <p:nvPr/>
            </p:nvSpPr>
            <p:spPr>
              <a:xfrm>
                <a:off x="6993731" y="4650581"/>
                <a:ext cx="9525" cy="9525"/>
              </a:xfrm>
              <a:custGeom>
                <a:avLst/>
                <a:gdLst/>
                <a:ahLst/>
                <a:cxnLst/>
                <a:rect l="l" t="t" r="r" b="b"/>
                <a:pathLst>
                  <a:path w="9525" h="9525">
                    <a:moveTo>
                      <a:pt x="0" y="0"/>
                    </a:moveTo>
                    <a:lnTo>
                      <a:pt x="7144" y="0"/>
                    </a:lnTo>
                  </a:path>
                </a:pathLst>
              </a:custGeom>
              <a:noFill/>
              <a:ln w="14288">
                <a:solidFill>
                  <a:srgbClr val="C83210"/>
                </a:solidFill>
              </a:ln>
            </p:spPr>
          </p:sp>
          <p:sp>
            <p:nvSpPr>
              <p:cNvPr id="313" name="Freeform 313"/>
              <p:cNvSpPr/>
              <p:nvPr/>
            </p:nvSpPr>
            <p:spPr>
              <a:xfrm>
                <a:off x="7000875" y="4650581"/>
                <a:ext cx="9525" cy="21431"/>
              </a:xfrm>
              <a:custGeom>
                <a:avLst/>
                <a:gdLst/>
                <a:ahLst/>
                <a:cxnLst/>
                <a:rect l="l" t="t" r="r" b="b"/>
                <a:pathLst>
                  <a:path w="9525" h="21431">
                    <a:moveTo>
                      <a:pt x="0" y="0"/>
                    </a:moveTo>
                    <a:lnTo>
                      <a:pt x="0" y="21431"/>
                    </a:lnTo>
                  </a:path>
                </a:pathLst>
              </a:custGeom>
              <a:noFill/>
              <a:ln w="14288">
                <a:solidFill>
                  <a:srgbClr val="C83210"/>
                </a:solidFill>
              </a:ln>
            </p:spPr>
          </p:sp>
        </p:grpSp>
        <p:sp>
          <p:nvSpPr>
            <p:cNvPr id="315" name="TextBox 315"/>
            <p:cNvSpPr txBox="1"/>
            <p:nvPr/>
          </p:nvSpPr>
          <p:spPr>
            <a:xfrm>
              <a:off x="7138988" y="4523661"/>
              <a:ext cx="115848"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Arial"/>
                  <a:ea typeface="Arial"/>
                  <a:cs typeface="Arial"/>
                </a:rPr>
                <a:t>02</a:t>
              </a:r>
            </a:p>
          </p:txBody>
        </p:sp>
        <p:sp>
          <p:nvSpPr>
            <p:cNvPr id="316" name="TextBox 316"/>
            <p:cNvSpPr txBox="1"/>
            <p:nvPr/>
          </p:nvSpPr>
          <p:spPr>
            <a:xfrm>
              <a:off x="7329488" y="4531757"/>
              <a:ext cx="354152"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内容运营</a:t>
              </a:r>
            </a:p>
          </p:txBody>
        </p:sp>
        <p:sp>
          <p:nvSpPr>
            <p:cNvPr id="317" name="TextBox 317"/>
            <p:cNvSpPr txBox="1"/>
            <p:nvPr/>
          </p:nvSpPr>
          <p:spPr>
            <a:xfrm>
              <a:off x="7329488" y="4674632"/>
              <a:ext cx="267995"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日历表</a:t>
              </a:r>
            </a:p>
          </p:txBody>
        </p:sp>
        <p:sp>
          <p:nvSpPr>
            <p:cNvPr id="318" name="Rectangle 318"/>
            <p:cNvSpPr/>
            <p:nvPr/>
          </p:nvSpPr>
          <p:spPr>
            <a:xfrm>
              <a:off x="8572500" y="4343400"/>
              <a:ext cx="1695450" cy="571500"/>
            </a:xfrm>
            <a:prstGeom prst="roundRect">
              <a:avLst>
                <a:gd name="adj" fmla="val 8333"/>
              </a:avLst>
            </a:prstGeom>
            <a:solidFill>
              <a:srgbClr val="FDEFF1"/>
            </a:solidFill>
            <a:ln>
              <a:noFill/>
            </a:ln>
          </p:spPr>
        </p:sp>
        <p:grpSp>
          <p:nvGrpSpPr>
            <p:cNvPr id="322" name="Group 322"/>
            <p:cNvGrpSpPr/>
            <p:nvPr/>
          </p:nvGrpSpPr>
          <p:grpSpPr>
            <a:xfrm>
              <a:off x="8689181" y="4564856"/>
              <a:ext cx="128588" cy="128588"/>
              <a:chOff x="8689181" y="4564856"/>
              <a:chExt cx="128588" cy="128588"/>
            </a:xfrm>
          </p:grpSpPr>
          <p:sp>
            <p:nvSpPr>
              <p:cNvPr id="319" name="Freeform 319"/>
              <p:cNvSpPr/>
              <p:nvPr/>
            </p:nvSpPr>
            <p:spPr>
              <a:xfrm>
                <a:off x="8689181" y="46648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83210"/>
                </a:solidFill>
              </a:ln>
            </p:spPr>
          </p:sp>
          <p:sp>
            <p:nvSpPr>
              <p:cNvPr id="320" name="Freeform 320"/>
              <p:cNvSpPr/>
              <p:nvPr/>
            </p:nvSpPr>
            <p:spPr>
              <a:xfrm>
                <a:off x="8789194" y="4564856"/>
                <a:ext cx="28575" cy="28575"/>
              </a:xfrm>
              <a:custGeom>
                <a:avLst/>
                <a:gdLst/>
                <a:ahLst/>
                <a:cxnLst/>
                <a:rect l="l" t="t" r="r" b="b"/>
                <a:pathLst>
                  <a:path w="28575" h="28575">
                    <a:moveTo>
                      <a:pt x="14288" y="28575"/>
                    </a:moveTo>
                    <a:cubicBezTo>
                      <a:pt x="22178" y="28575"/>
                      <a:pt x="28575" y="22178"/>
                      <a:pt x="28575" y="14288"/>
                    </a:cubicBezTo>
                    <a:cubicBezTo>
                      <a:pt x="28575" y="6397"/>
                      <a:pt x="22178" y="0"/>
                      <a:pt x="14288" y="0"/>
                    </a:cubicBezTo>
                    <a:cubicBezTo>
                      <a:pt x="6397" y="0"/>
                      <a:pt x="0" y="6397"/>
                      <a:pt x="0" y="14288"/>
                    </a:cubicBezTo>
                    <a:cubicBezTo>
                      <a:pt x="0" y="22178"/>
                      <a:pt x="6397" y="28575"/>
                      <a:pt x="14288" y="28575"/>
                    </a:cubicBezTo>
                  </a:path>
                </a:pathLst>
              </a:custGeom>
              <a:noFill/>
              <a:ln w="14288">
                <a:solidFill>
                  <a:srgbClr val="C83210"/>
                </a:solidFill>
              </a:ln>
            </p:spPr>
          </p:sp>
          <p:sp>
            <p:nvSpPr>
              <p:cNvPr id="321" name="Freeform 321"/>
              <p:cNvSpPr/>
              <p:nvPr/>
            </p:nvSpPr>
            <p:spPr>
              <a:xfrm>
                <a:off x="8703469" y="4579144"/>
                <a:ext cx="107156" cy="100012"/>
              </a:xfrm>
              <a:custGeom>
                <a:avLst/>
                <a:gdLst/>
                <a:ahLst/>
                <a:cxnLst/>
                <a:rect l="l" t="t" r="r" b="b"/>
                <a:pathLst>
                  <a:path w="107156" h="100012">
                    <a:moveTo>
                      <a:pt x="42862" y="100012"/>
                    </a:moveTo>
                    <a:lnTo>
                      <a:pt x="82153" y="100012"/>
                    </a:lnTo>
                    <a:cubicBezTo>
                      <a:pt x="95962" y="100012"/>
                      <a:pt x="107156" y="88818"/>
                      <a:pt x="107156" y="75009"/>
                    </a:cubicBezTo>
                    <a:cubicBezTo>
                      <a:pt x="107156" y="61201"/>
                      <a:pt x="95962" y="50006"/>
                      <a:pt x="82153" y="50006"/>
                    </a:cubicBezTo>
                    <a:lnTo>
                      <a:pt x="25003" y="50006"/>
                    </a:lnTo>
                    <a:cubicBezTo>
                      <a:pt x="11194" y="50006"/>
                      <a:pt x="0" y="38812"/>
                      <a:pt x="0" y="25003"/>
                    </a:cubicBezTo>
                    <a:cubicBezTo>
                      <a:pt x="0" y="11194"/>
                      <a:pt x="11194" y="0"/>
                      <a:pt x="25003" y="0"/>
                    </a:cubicBezTo>
                    <a:lnTo>
                      <a:pt x="57150" y="0"/>
                    </a:lnTo>
                  </a:path>
                </a:pathLst>
              </a:custGeom>
              <a:noFill/>
              <a:ln w="14288">
                <a:solidFill>
                  <a:srgbClr val="C83210"/>
                </a:solidFill>
              </a:ln>
            </p:spPr>
          </p:sp>
        </p:grpSp>
        <p:sp>
          <p:nvSpPr>
            <p:cNvPr id="323" name="TextBox 323"/>
            <p:cNvSpPr txBox="1"/>
            <p:nvPr/>
          </p:nvSpPr>
          <p:spPr>
            <a:xfrm>
              <a:off x="8891588" y="4523661"/>
              <a:ext cx="115848"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Arial"/>
                  <a:ea typeface="Arial"/>
                  <a:cs typeface="Arial"/>
                </a:rPr>
                <a:t>03</a:t>
              </a:r>
            </a:p>
          </p:txBody>
        </p:sp>
        <p:sp>
          <p:nvSpPr>
            <p:cNvPr id="324" name="TextBox 324"/>
            <p:cNvSpPr txBox="1"/>
            <p:nvPr/>
          </p:nvSpPr>
          <p:spPr>
            <a:xfrm>
              <a:off x="9082088" y="4531757"/>
              <a:ext cx="354152"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客户触达</a:t>
              </a:r>
            </a:p>
          </p:txBody>
        </p:sp>
        <p:sp>
          <p:nvSpPr>
            <p:cNvPr id="325" name="TextBox 325"/>
            <p:cNvSpPr txBox="1"/>
            <p:nvPr/>
          </p:nvSpPr>
          <p:spPr>
            <a:xfrm>
              <a:off x="9082088" y="4674632"/>
              <a:ext cx="354152"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旅程模板</a:t>
              </a:r>
            </a:p>
          </p:txBody>
        </p:sp>
        <p:sp>
          <p:nvSpPr>
            <p:cNvPr id="326" name="Rectangle 326"/>
            <p:cNvSpPr/>
            <p:nvPr/>
          </p:nvSpPr>
          <p:spPr>
            <a:xfrm>
              <a:off x="10325100" y="4343400"/>
              <a:ext cx="1695450" cy="571500"/>
            </a:xfrm>
            <a:prstGeom prst="roundRect">
              <a:avLst>
                <a:gd name="adj" fmla="val 8333"/>
              </a:avLst>
            </a:prstGeom>
            <a:solidFill>
              <a:srgbClr val="FDEFF1"/>
            </a:solidFill>
            <a:ln>
              <a:noFill/>
            </a:ln>
          </p:spPr>
        </p:sp>
        <p:grpSp>
          <p:nvGrpSpPr>
            <p:cNvPr id="330" name="Group 330"/>
            <p:cNvGrpSpPr/>
            <p:nvPr/>
          </p:nvGrpSpPr>
          <p:grpSpPr>
            <a:xfrm>
              <a:off x="10441781" y="4572000"/>
              <a:ext cx="128588" cy="121444"/>
              <a:chOff x="10441781" y="4572000"/>
              <a:chExt cx="128588" cy="121444"/>
            </a:xfrm>
          </p:grpSpPr>
          <p:sp>
            <p:nvSpPr>
              <p:cNvPr id="327" name="Freeform 327"/>
              <p:cNvSpPr/>
              <p:nvPr/>
            </p:nvSpPr>
            <p:spPr>
              <a:xfrm>
                <a:off x="10477500" y="4607719"/>
                <a:ext cx="57150" cy="9525"/>
              </a:xfrm>
              <a:custGeom>
                <a:avLst/>
                <a:gdLst/>
                <a:ahLst/>
                <a:cxnLst/>
                <a:rect l="l" t="t" r="r" b="b"/>
                <a:pathLst>
                  <a:path w="57150" h="9525">
                    <a:moveTo>
                      <a:pt x="0" y="0"/>
                    </a:moveTo>
                    <a:lnTo>
                      <a:pt x="57150" y="0"/>
                    </a:lnTo>
                  </a:path>
                </a:pathLst>
              </a:custGeom>
              <a:noFill/>
              <a:ln w="14288">
                <a:solidFill>
                  <a:srgbClr val="C83210"/>
                </a:solidFill>
              </a:ln>
            </p:spPr>
          </p:sp>
          <p:sp>
            <p:nvSpPr>
              <p:cNvPr id="328" name="Freeform 328"/>
              <p:cNvSpPr/>
              <p:nvPr/>
            </p:nvSpPr>
            <p:spPr>
              <a:xfrm>
                <a:off x="10477500" y="4636294"/>
                <a:ext cx="42862" cy="9525"/>
              </a:xfrm>
              <a:custGeom>
                <a:avLst/>
                <a:gdLst/>
                <a:ahLst/>
                <a:cxnLst/>
                <a:rect l="l" t="t" r="r" b="b"/>
                <a:pathLst>
                  <a:path w="42862" h="9525">
                    <a:moveTo>
                      <a:pt x="0" y="0"/>
                    </a:moveTo>
                    <a:lnTo>
                      <a:pt x="42862" y="0"/>
                    </a:lnTo>
                  </a:path>
                </a:pathLst>
              </a:custGeom>
              <a:noFill/>
              <a:ln w="14288">
                <a:solidFill>
                  <a:srgbClr val="C83210"/>
                </a:solidFill>
              </a:ln>
            </p:spPr>
          </p:sp>
          <p:sp>
            <p:nvSpPr>
              <p:cNvPr id="329" name="Freeform 329"/>
              <p:cNvSpPr/>
              <p:nvPr/>
            </p:nvSpPr>
            <p:spPr>
              <a:xfrm>
                <a:off x="10441781" y="4572000"/>
                <a:ext cx="128588" cy="121444"/>
              </a:xfrm>
              <a:custGeom>
                <a:avLst/>
                <a:gdLst/>
                <a:ahLst/>
                <a:cxnLst/>
                <a:rect l="l" t="t" r="r" b="b"/>
                <a:pathLst>
                  <a:path w="128588" h="121444">
                    <a:moveTo>
                      <a:pt x="42862" y="100012"/>
                    </a:moveTo>
                    <a:lnTo>
                      <a:pt x="21431" y="100012"/>
                    </a:lnTo>
                    <a:cubicBezTo>
                      <a:pt x="9595" y="100012"/>
                      <a:pt x="0" y="90417"/>
                      <a:pt x="0" y="78581"/>
                    </a:cubicBezTo>
                    <a:lnTo>
                      <a:pt x="0" y="21431"/>
                    </a:lnTo>
                    <a:cubicBezTo>
                      <a:pt x="0" y="9595"/>
                      <a:pt x="9595" y="0"/>
                      <a:pt x="21431" y="0"/>
                    </a:cubicBezTo>
                    <a:lnTo>
                      <a:pt x="107156" y="0"/>
                    </a:lnTo>
                    <a:cubicBezTo>
                      <a:pt x="118992" y="0"/>
                      <a:pt x="128588" y="9595"/>
                      <a:pt x="128588" y="21431"/>
                    </a:cubicBezTo>
                    <a:lnTo>
                      <a:pt x="128588" y="78581"/>
                    </a:lnTo>
                    <a:cubicBezTo>
                      <a:pt x="128588" y="90417"/>
                      <a:pt x="118992" y="100012"/>
                      <a:pt x="107156" y="100012"/>
                    </a:cubicBezTo>
                    <a:lnTo>
                      <a:pt x="85725" y="100012"/>
                    </a:lnTo>
                    <a:lnTo>
                      <a:pt x="64294" y="121444"/>
                    </a:lnTo>
                    <a:lnTo>
                      <a:pt x="42862" y="100012"/>
                    </a:lnTo>
                  </a:path>
                </a:pathLst>
              </a:custGeom>
              <a:noFill/>
              <a:ln w="14288">
                <a:solidFill>
                  <a:srgbClr val="C83210"/>
                </a:solidFill>
              </a:ln>
            </p:spPr>
          </p:sp>
        </p:grpSp>
        <p:sp>
          <p:nvSpPr>
            <p:cNvPr id="331" name="TextBox 331"/>
            <p:cNvSpPr txBox="1"/>
            <p:nvPr/>
          </p:nvSpPr>
          <p:spPr>
            <a:xfrm>
              <a:off x="10644188" y="4523661"/>
              <a:ext cx="115848"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Arial"/>
                  <a:ea typeface="Arial"/>
                  <a:cs typeface="Arial"/>
                </a:rPr>
                <a:t>04</a:t>
              </a:r>
            </a:p>
          </p:txBody>
        </p:sp>
        <p:sp>
          <p:nvSpPr>
            <p:cNvPr id="332" name="TextBox 332"/>
            <p:cNvSpPr txBox="1"/>
            <p:nvPr/>
          </p:nvSpPr>
          <p:spPr>
            <a:xfrm>
              <a:off x="10834688" y="4531757"/>
              <a:ext cx="354152"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销售话术</a:t>
              </a:r>
            </a:p>
          </p:txBody>
        </p:sp>
        <p:sp>
          <p:nvSpPr>
            <p:cNvPr id="333" name="TextBox 333"/>
            <p:cNvSpPr txBox="1"/>
            <p:nvPr/>
          </p:nvSpPr>
          <p:spPr>
            <a:xfrm>
              <a:off x="10834688" y="4674632"/>
              <a:ext cx="267995"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标准库</a:t>
              </a:r>
            </a:p>
          </p:txBody>
        </p:sp>
        <p:sp>
          <p:nvSpPr>
            <p:cNvPr id="334" name="Rectangle 334"/>
            <p:cNvSpPr/>
            <p:nvPr/>
          </p:nvSpPr>
          <p:spPr>
            <a:xfrm>
              <a:off x="5067300" y="4991100"/>
              <a:ext cx="1695450" cy="571500"/>
            </a:xfrm>
            <a:prstGeom prst="roundRect">
              <a:avLst>
                <a:gd name="adj" fmla="val 8333"/>
              </a:avLst>
            </a:prstGeom>
            <a:solidFill>
              <a:srgbClr val="FDEFF1"/>
            </a:solidFill>
            <a:ln>
              <a:noFill/>
            </a:ln>
          </p:spPr>
        </p:sp>
        <p:grpSp>
          <p:nvGrpSpPr>
            <p:cNvPr id="340" name="Group 340"/>
            <p:cNvGrpSpPr/>
            <p:nvPr/>
          </p:nvGrpSpPr>
          <p:grpSpPr>
            <a:xfrm>
              <a:off x="5198269" y="5212556"/>
              <a:ext cx="100012" cy="128588"/>
              <a:chOff x="5198269" y="5212556"/>
              <a:chExt cx="100012" cy="128588"/>
            </a:xfrm>
          </p:grpSpPr>
          <p:sp>
            <p:nvSpPr>
              <p:cNvPr id="335" name="Freeform 335"/>
              <p:cNvSpPr/>
              <p:nvPr/>
            </p:nvSpPr>
            <p:spPr>
              <a:xfrm>
                <a:off x="5262562" y="521255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C83210"/>
                </a:solidFill>
              </a:ln>
            </p:spPr>
          </p:sp>
          <p:sp>
            <p:nvSpPr>
              <p:cNvPr id="336" name="Freeform 336"/>
              <p:cNvSpPr/>
              <p:nvPr/>
            </p:nvSpPr>
            <p:spPr>
              <a:xfrm>
                <a:off x="5198269" y="521255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C83210"/>
                </a:solidFill>
              </a:ln>
            </p:spPr>
          </p:sp>
          <p:sp>
            <p:nvSpPr>
              <p:cNvPr id="337" name="Freeform 337"/>
              <p:cNvSpPr/>
              <p:nvPr/>
            </p:nvSpPr>
            <p:spPr>
              <a:xfrm>
                <a:off x="5226844" y="5255419"/>
                <a:ext cx="9525" cy="9525"/>
              </a:xfrm>
              <a:custGeom>
                <a:avLst/>
                <a:gdLst/>
                <a:ahLst/>
                <a:cxnLst/>
                <a:rect l="l" t="t" r="r" b="b"/>
                <a:pathLst>
                  <a:path w="9525" h="9525">
                    <a:moveTo>
                      <a:pt x="0" y="0"/>
                    </a:moveTo>
                    <a:lnTo>
                      <a:pt x="7144" y="0"/>
                    </a:lnTo>
                  </a:path>
                </a:pathLst>
              </a:custGeom>
              <a:noFill/>
              <a:ln w="14288">
                <a:solidFill>
                  <a:srgbClr val="C83210"/>
                </a:solidFill>
              </a:ln>
            </p:spPr>
          </p:sp>
          <p:sp>
            <p:nvSpPr>
              <p:cNvPr id="338" name="Freeform 338"/>
              <p:cNvSpPr/>
              <p:nvPr/>
            </p:nvSpPr>
            <p:spPr>
              <a:xfrm>
                <a:off x="5226844" y="5283994"/>
                <a:ext cx="42862" cy="9525"/>
              </a:xfrm>
              <a:custGeom>
                <a:avLst/>
                <a:gdLst/>
                <a:ahLst/>
                <a:cxnLst/>
                <a:rect l="l" t="t" r="r" b="b"/>
                <a:pathLst>
                  <a:path w="42862" h="9525">
                    <a:moveTo>
                      <a:pt x="0" y="0"/>
                    </a:moveTo>
                    <a:lnTo>
                      <a:pt x="42862" y="0"/>
                    </a:lnTo>
                  </a:path>
                </a:pathLst>
              </a:custGeom>
              <a:noFill/>
              <a:ln w="14288">
                <a:solidFill>
                  <a:srgbClr val="C83210"/>
                </a:solidFill>
              </a:ln>
            </p:spPr>
          </p:sp>
          <p:sp>
            <p:nvSpPr>
              <p:cNvPr id="339" name="Freeform 339"/>
              <p:cNvSpPr/>
              <p:nvPr/>
            </p:nvSpPr>
            <p:spPr>
              <a:xfrm>
                <a:off x="5226844" y="5312569"/>
                <a:ext cx="42862" cy="9525"/>
              </a:xfrm>
              <a:custGeom>
                <a:avLst/>
                <a:gdLst/>
                <a:ahLst/>
                <a:cxnLst/>
                <a:rect l="l" t="t" r="r" b="b"/>
                <a:pathLst>
                  <a:path w="42862" h="9525">
                    <a:moveTo>
                      <a:pt x="0" y="0"/>
                    </a:moveTo>
                    <a:lnTo>
                      <a:pt x="42862" y="0"/>
                    </a:lnTo>
                  </a:path>
                </a:pathLst>
              </a:custGeom>
              <a:noFill/>
              <a:ln w="14288">
                <a:solidFill>
                  <a:srgbClr val="C83210"/>
                </a:solidFill>
              </a:ln>
            </p:spPr>
          </p:sp>
        </p:grpSp>
        <p:sp>
          <p:nvSpPr>
            <p:cNvPr id="341" name="TextBox 341"/>
            <p:cNvSpPr txBox="1"/>
            <p:nvPr/>
          </p:nvSpPr>
          <p:spPr>
            <a:xfrm>
              <a:off x="5386388" y="5171361"/>
              <a:ext cx="115848"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Arial"/>
                  <a:ea typeface="Arial"/>
                  <a:cs typeface="Arial"/>
                </a:rPr>
                <a:t>05</a:t>
              </a:r>
            </a:p>
          </p:txBody>
        </p:sp>
        <p:sp>
          <p:nvSpPr>
            <p:cNvPr id="342" name="TextBox 342"/>
            <p:cNvSpPr txBox="1"/>
            <p:nvPr/>
          </p:nvSpPr>
          <p:spPr>
            <a:xfrm>
              <a:off x="5576888" y="5179457"/>
              <a:ext cx="354152"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网点落地</a:t>
              </a:r>
            </a:p>
          </p:txBody>
        </p:sp>
        <p:sp>
          <p:nvSpPr>
            <p:cNvPr id="343" name="TextBox 343"/>
            <p:cNvSpPr txBox="1"/>
            <p:nvPr/>
          </p:nvSpPr>
          <p:spPr>
            <a:xfrm>
              <a:off x="5576888" y="5322332"/>
              <a:ext cx="436408"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 xml:space="preserve">SOP手册　</a:t>
              </a:r>
            </a:p>
          </p:txBody>
        </p:sp>
        <p:sp>
          <p:nvSpPr>
            <p:cNvPr id="344" name="Rectangle 344"/>
            <p:cNvSpPr/>
            <p:nvPr/>
          </p:nvSpPr>
          <p:spPr>
            <a:xfrm>
              <a:off x="6819900" y="4991100"/>
              <a:ext cx="1695450" cy="571500"/>
            </a:xfrm>
            <a:prstGeom prst="roundRect">
              <a:avLst>
                <a:gd name="adj" fmla="val 8333"/>
              </a:avLst>
            </a:prstGeom>
            <a:solidFill>
              <a:srgbClr val="FDEFF1"/>
            </a:solidFill>
            <a:ln>
              <a:noFill/>
            </a:ln>
          </p:spPr>
        </p:sp>
        <p:grpSp>
          <p:nvGrpSpPr>
            <p:cNvPr id="348" name="Group 348"/>
            <p:cNvGrpSpPr/>
            <p:nvPr/>
          </p:nvGrpSpPr>
          <p:grpSpPr>
            <a:xfrm>
              <a:off x="6931162" y="5219374"/>
              <a:ext cx="139425" cy="114626"/>
              <a:chOff x="6931162" y="5219374"/>
              <a:chExt cx="139425" cy="114626"/>
            </a:xfrm>
          </p:grpSpPr>
          <p:sp>
            <p:nvSpPr>
              <p:cNvPr id="345" name="Freeform 345"/>
              <p:cNvSpPr/>
              <p:nvPr/>
            </p:nvSpPr>
            <p:spPr>
              <a:xfrm>
                <a:off x="6986588" y="52697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83210"/>
                </a:solidFill>
              </a:ln>
            </p:spPr>
          </p:sp>
          <p:sp>
            <p:nvSpPr>
              <p:cNvPr id="346" name="Freeform 346"/>
              <p:cNvSpPr/>
              <p:nvPr/>
            </p:nvSpPr>
            <p:spPr>
              <a:xfrm>
                <a:off x="7011233" y="5258991"/>
                <a:ext cx="14645" cy="14645"/>
              </a:xfrm>
              <a:custGeom>
                <a:avLst/>
                <a:gdLst/>
                <a:ahLst/>
                <a:cxnLst/>
                <a:rect l="l" t="t" r="r" b="b"/>
                <a:pathLst>
                  <a:path w="14645" h="14645">
                    <a:moveTo>
                      <a:pt x="0" y="14645"/>
                    </a:moveTo>
                    <a:lnTo>
                      <a:pt x="14645" y="0"/>
                    </a:lnTo>
                  </a:path>
                </a:pathLst>
              </a:custGeom>
              <a:noFill/>
              <a:ln w="14288">
                <a:solidFill>
                  <a:srgbClr val="C83210"/>
                </a:solidFill>
              </a:ln>
            </p:spPr>
          </p:sp>
          <p:sp>
            <p:nvSpPr>
              <p:cNvPr id="347" name="Freeform 347"/>
              <p:cNvSpPr/>
              <p:nvPr/>
            </p:nvSpPr>
            <p:spPr>
              <a:xfrm>
                <a:off x="6931162" y="5219374"/>
                <a:ext cx="139425" cy="114626"/>
              </a:xfrm>
              <a:custGeom>
                <a:avLst/>
                <a:gdLst/>
                <a:ahLst/>
                <a:cxnLst/>
                <a:rect l="l" t="t" r="r" b="b"/>
                <a:pathLst>
                  <a:path w="139425" h="114626">
                    <a:moveTo>
                      <a:pt x="29708" y="114626"/>
                    </a:moveTo>
                    <a:cubicBezTo>
                      <a:pt x="8303" y="97613"/>
                      <a:pt x="0" y="68923"/>
                      <a:pt x="9010" y="43108"/>
                    </a:cubicBezTo>
                    <a:cubicBezTo>
                      <a:pt x="18019" y="17293"/>
                      <a:pt x="42370" y="0"/>
                      <a:pt x="69713" y="0"/>
                    </a:cubicBezTo>
                    <a:cubicBezTo>
                      <a:pt x="97055" y="0"/>
                      <a:pt x="121406" y="17293"/>
                      <a:pt x="130416" y="43108"/>
                    </a:cubicBezTo>
                    <a:cubicBezTo>
                      <a:pt x="139425" y="68923"/>
                      <a:pt x="131122" y="97613"/>
                      <a:pt x="109718" y="114626"/>
                    </a:cubicBezTo>
                    <a:lnTo>
                      <a:pt x="29708" y="114626"/>
                    </a:lnTo>
                  </a:path>
                </a:pathLst>
              </a:custGeom>
              <a:noFill/>
              <a:ln w="14288">
                <a:solidFill>
                  <a:srgbClr val="C83210"/>
                </a:solidFill>
              </a:ln>
            </p:spPr>
          </p:sp>
        </p:grpSp>
        <p:sp>
          <p:nvSpPr>
            <p:cNvPr id="349" name="TextBox 349"/>
            <p:cNvSpPr txBox="1"/>
            <p:nvPr/>
          </p:nvSpPr>
          <p:spPr>
            <a:xfrm>
              <a:off x="7138988" y="5171361"/>
              <a:ext cx="115848"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Arial"/>
                  <a:ea typeface="Arial"/>
                  <a:cs typeface="Arial"/>
                </a:rPr>
                <a:t>06</a:t>
              </a:r>
            </a:p>
          </p:txBody>
        </p:sp>
        <p:sp>
          <p:nvSpPr>
            <p:cNvPr id="350" name="TextBox 350"/>
            <p:cNvSpPr txBox="1"/>
            <p:nvPr/>
          </p:nvSpPr>
          <p:spPr>
            <a:xfrm>
              <a:off x="7329488" y="5179457"/>
              <a:ext cx="354152"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运营数据</a:t>
              </a:r>
            </a:p>
          </p:txBody>
        </p:sp>
        <p:sp>
          <p:nvSpPr>
            <p:cNvPr id="351" name="TextBox 351"/>
            <p:cNvSpPr txBox="1"/>
            <p:nvPr/>
          </p:nvSpPr>
          <p:spPr>
            <a:xfrm>
              <a:off x="7329488" y="5322332"/>
              <a:ext cx="267995"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仪表盘</a:t>
              </a:r>
            </a:p>
          </p:txBody>
        </p:sp>
        <p:sp>
          <p:nvSpPr>
            <p:cNvPr id="352" name="Rectangle 352"/>
            <p:cNvSpPr/>
            <p:nvPr/>
          </p:nvSpPr>
          <p:spPr>
            <a:xfrm>
              <a:off x="8572500" y="4991100"/>
              <a:ext cx="1695450" cy="571500"/>
            </a:xfrm>
            <a:prstGeom prst="roundRect">
              <a:avLst>
                <a:gd name="adj" fmla="val 8333"/>
              </a:avLst>
            </a:prstGeom>
            <a:solidFill>
              <a:srgbClr val="FDEFF1"/>
            </a:solidFill>
            <a:ln>
              <a:noFill/>
            </a:ln>
          </p:spPr>
        </p:sp>
        <p:grpSp>
          <p:nvGrpSpPr>
            <p:cNvPr id="355" name="Group 355"/>
            <p:cNvGrpSpPr/>
            <p:nvPr/>
          </p:nvGrpSpPr>
          <p:grpSpPr>
            <a:xfrm>
              <a:off x="8682038" y="5226844"/>
              <a:ext cx="142875" cy="100012"/>
              <a:chOff x="8682038" y="5226844"/>
              <a:chExt cx="142875" cy="100012"/>
            </a:xfrm>
          </p:grpSpPr>
          <p:sp>
            <p:nvSpPr>
              <p:cNvPr id="353" name="Freeform 353"/>
              <p:cNvSpPr/>
              <p:nvPr/>
            </p:nvSpPr>
            <p:spPr>
              <a:xfrm>
                <a:off x="8682038" y="5226844"/>
                <a:ext cx="142875" cy="71438"/>
              </a:xfrm>
              <a:custGeom>
                <a:avLst/>
                <a:gdLst/>
                <a:ahLst/>
                <a:cxnLst/>
                <a:rect l="l" t="t" r="r" b="b"/>
                <a:pathLst>
                  <a:path w="142875" h="71438">
                    <a:moveTo>
                      <a:pt x="142875" y="28575"/>
                    </a:moveTo>
                    <a:lnTo>
                      <a:pt x="71438" y="0"/>
                    </a:lnTo>
                    <a:lnTo>
                      <a:pt x="0" y="28575"/>
                    </a:lnTo>
                    <a:lnTo>
                      <a:pt x="71438" y="57150"/>
                    </a:lnTo>
                    <a:lnTo>
                      <a:pt x="142875" y="28575"/>
                    </a:lnTo>
                    <a:lnTo>
                      <a:pt x="142875" y="71438"/>
                    </a:lnTo>
                  </a:path>
                </a:pathLst>
              </a:custGeom>
              <a:noFill/>
              <a:ln w="14288">
                <a:solidFill>
                  <a:srgbClr val="C83210"/>
                </a:solidFill>
              </a:ln>
            </p:spPr>
          </p:sp>
          <p:sp>
            <p:nvSpPr>
              <p:cNvPr id="354" name="Freeform 354"/>
              <p:cNvSpPr/>
              <p:nvPr/>
            </p:nvSpPr>
            <p:spPr>
              <a:xfrm>
                <a:off x="8710612" y="5266849"/>
                <a:ext cx="85725" cy="60007"/>
              </a:xfrm>
              <a:custGeom>
                <a:avLst/>
                <a:gdLst/>
                <a:ahLst/>
                <a:cxnLst/>
                <a:rect l="l" t="t" r="r" b="b"/>
                <a:pathLst>
                  <a:path w="85725" h="60007">
                    <a:moveTo>
                      <a:pt x="0" y="0"/>
                    </a:moveTo>
                    <a:lnTo>
                      <a:pt x="0" y="38576"/>
                    </a:lnTo>
                    <a:cubicBezTo>
                      <a:pt x="0" y="50412"/>
                      <a:pt x="19190" y="60007"/>
                      <a:pt x="42862" y="60007"/>
                    </a:cubicBezTo>
                    <a:cubicBezTo>
                      <a:pt x="66535" y="60007"/>
                      <a:pt x="85725" y="50412"/>
                      <a:pt x="85725" y="38576"/>
                    </a:cubicBezTo>
                    <a:lnTo>
                      <a:pt x="85725" y="0"/>
                    </a:lnTo>
                  </a:path>
                </a:pathLst>
              </a:custGeom>
              <a:noFill/>
              <a:ln w="14288">
                <a:solidFill>
                  <a:srgbClr val="C83210"/>
                </a:solidFill>
              </a:ln>
            </p:spPr>
          </p:sp>
        </p:grpSp>
        <p:sp>
          <p:nvSpPr>
            <p:cNvPr id="356" name="TextBox 356"/>
            <p:cNvSpPr txBox="1"/>
            <p:nvPr/>
          </p:nvSpPr>
          <p:spPr>
            <a:xfrm>
              <a:off x="8891588" y="5171361"/>
              <a:ext cx="115848"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Arial"/>
                  <a:ea typeface="Arial"/>
                  <a:cs typeface="Arial"/>
                </a:rPr>
                <a:t>07</a:t>
              </a:r>
            </a:p>
          </p:txBody>
        </p:sp>
        <p:sp>
          <p:nvSpPr>
            <p:cNvPr id="357" name="TextBox 357"/>
            <p:cNvSpPr txBox="1"/>
            <p:nvPr/>
          </p:nvSpPr>
          <p:spPr>
            <a:xfrm>
              <a:off x="9082088" y="5179457"/>
              <a:ext cx="354152"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员工培训</a:t>
              </a:r>
            </a:p>
          </p:txBody>
        </p:sp>
        <p:sp>
          <p:nvSpPr>
            <p:cNvPr id="358" name="TextBox 358"/>
            <p:cNvSpPr txBox="1"/>
            <p:nvPr/>
          </p:nvSpPr>
          <p:spPr>
            <a:xfrm>
              <a:off x="9082088" y="5322332"/>
              <a:ext cx="440309"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课件与考试</a:t>
              </a:r>
            </a:p>
          </p:txBody>
        </p:sp>
        <p:sp>
          <p:nvSpPr>
            <p:cNvPr id="359" name="Rectangle 359"/>
            <p:cNvSpPr/>
            <p:nvPr/>
          </p:nvSpPr>
          <p:spPr>
            <a:xfrm>
              <a:off x="10325100" y="4991100"/>
              <a:ext cx="1695450" cy="571500"/>
            </a:xfrm>
            <a:prstGeom prst="roundRect">
              <a:avLst>
                <a:gd name="adj" fmla="val 8333"/>
              </a:avLst>
            </a:prstGeom>
            <a:solidFill>
              <a:srgbClr val="FDEFF1"/>
            </a:solidFill>
            <a:ln>
              <a:noFill/>
            </a:ln>
          </p:spPr>
        </p:sp>
        <p:grpSp>
          <p:nvGrpSpPr>
            <p:cNvPr id="362" name="Group 362"/>
            <p:cNvGrpSpPr/>
            <p:nvPr/>
          </p:nvGrpSpPr>
          <p:grpSpPr>
            <a:xfrm>
              <a:off x="10432140" y="5212556"/>
              <a:ext cx="139505" cy="128588"/>
              <a:chOff x="10432140" y="5212556"/>
              <a:chExt cx="139505" cy="128588"/>
            </a:xfrm>
          </p:grpSpPr>
          <p:sp>
            <p:nvSpPr>
              <p:cNvPr id="360" name="Freeform 360"/>
              <p:cNvSpPr/>
              <p:nvPr/>
            </p:nvSpPr>
            <p:spPr>
              <a:xfrm>
                <a:off x="10432140" y="521255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C83210"/>
                </a:solidFill>
              </a:ln>
            </p:spPr>
          </p:sp>
          <p:sp>
            <p:nvSpPr>
              <p:cNvPr id="361" name="Freeform 361"/>
              <p:cNvSpPr/>
              <p:nvPr/>
            </p:nvSpPr>
            <p:spPr>
              <a:xfrm>
                <a:off x="10527506" y="5312569"/>
                <a:ext cx="42862" cy="28575"/>
              </a:xfrm>
              <a:custGeom>
                <a:avLst/>
                <a:gdLst/>
                <a:ahLst/>
                <a:cxnLst/>
                <a:rect l="l" t="t" r="r" b="b"/>
                <a:pathLst>
                  <a:path w="42862" h="28575">
                    <a:moveTo>
                      <a:pt x="0" y="14288"/>
                    </a:moveTo>
                    <a:lnTo>
                      <a:pt x="14288" y="28575"/>
                    </a:lnTo>
                    <a:lnTo>
                      <a:pt x="42862" y="0"/>
                    </a:lnTo>
                  </a:path>
                </a:pathLst>
              </a:custGeom>
              <a:noFill/>
              <a:ln w="14288">
                <a:solidFill>
                  <a:srgbClr val="C83210"/>
                </a:solidFill>
              </a:ln>
            </p:spPr>
          </p:sp>
        </p:grpSp>
        <p:sp>
          <p:nvSpPr>
            <p:cNvPr id="363" name="TextBox 363"/>
            <p:cNvSpPr txBox="1"/>
            <p:nvPr/>
          </p:nvSpPr>
          <p:spPr>
            <a:xfrm>
              <a:off x="10644188" y="5171361"/>
              <a:ext cx="115848" cy="140494"/>
            </a:xfrm>
            <a:prstGeom prst="rect">
              <a:avLst/>
            </a:prstGeom>
            <a:noFill/>
            <a:ln>
              <a:noFill/>
            </a:ln>
          </p:spPr>
          <p:txBody>
            <a:bodyPr wrap="none" lIns="0" tIns="0" rIns="0" bIns="0" anchor="t" anchorCtr="0">
              <a:spAutoFit/>
            </a:bodyPr>
            <a:lstStyle/>
            <a:p>
              <a:pPr algn="l"/>
              <a:r>
                <a:rPr lang="zh-CN" sz="710" b="1" dirty="0">
                  <a:solidFill>
                    <a:srgbClr val="C83210"/>
                  </a:solidFill>
                  <a:latin typeface="Arial"/>
                  <a:ea typeface="Arial"/>
                  <a:cs typeface="Arial"/>
                </a:rPr>
                <a:t>08</a:t>
              </a:r>
            </a:p>
          </p:txBody>
        </p:sp>
        <p:sp>
          <p:nvSpPr>
            <p:cNvPr id="364" name="TextBox 364"/>
            <p:cNvSpPr txBox="1"/>
            <p:nvPr/>
          </p:nvSpPr>
          <p:spPr>
            <a:xfrm>
              <a:off x="10834688" y="5179457"/>
              <a:ext cx="440309"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合规与风控</a:t>
              </a:r>
            </a:p>
          </p:txBody>
        </p:sp>
        <p:sp>
          <p:nvSpPr>
            <p:cNvPr id="365" name="TextBox 365"/>
            <p:cNvSpPr txBox="1"/>
            <p:nvPr/>
          </p:nvSpPr>
          <p:spPr>
            <a:xfrm>
              <a:off x="10834688" y="5322332"/>
              <a:ext cx="354152" cy="126206"/>
            </a:xfrm>
            <a:prstGeom prst="rect">
              <a:avLst/>
            </a:prstGeom>
            <a:noFill/>
            <a:ln>
              <a:noFill/>
            </a:ln>
          </p:spPr>
          <p:txBody>
            <a:bodyPr wrap="none" lIns="0" tIns="0" rIns="0" bIns="0" anchor="t" anchorCtr="0">
              <a:spAutoFit/>
            </a:bodyPr>
            <a:lstStyle/>
            <a:p>
              <a:pPr algn="l"/>
              <a:r>
                <a:rPr lang="zh-CN" sz="640" dirty="0">
                  <a:solidFill>
                    <a:srgbClr val="222222"/>
                  </a:solidFill>
                  <a:latin typeface="+mn-lt"/>
                  <a:ea typeface="+mn-ea"/>
                  <a:cs typeface="+mn-cs"/>
                </a:rPr>
                <a:t>检查清单</a:t>
              </a:r>
            </a:p>
          </p:txBody>
        </p:sp>
      </p:grpSp>
      <p:grpSp>
        <p:nvGrpSpPr>
          <p:cNvPr id="370" name="banner"/>
          <p:cNvGrpSpPr/>
          <p:nvPr/>
        </p:nvGrpSpPr>
        <p:grpSpPr>
          <a:xfrm>
            <a:off x="133350" y="6305550"/>
            <a:ext cx="11925300" cy="293370"/>
            <a:chOff x="133350" y="6305550"/>
            <a:chExt cx="11925300" cy="293370"/>
          </a:xfrm>
        </p:grpSpPr>
        <p:sp>
          <p:nvSpPr>
            <p:cNvPr id="367" name="Line 367"/>
            <p:cNvSpPr/>
            <p:nvPr/>
          </p:nvSpPr>
          <p:spPr>
            <a:xfrm>
              <a:off x="133350" y="6400800"/>
              <a:ext cx="3295650" cy="9525"/>
            </a:xfrm>
            <a:custGeom>
              <a:avLst/>
              <a:gdLst/>
              <a:ahLst/>
              <a:cxnLst/>
              <a:rect l="l" t="t" r="r" b="b"/>
              <a:pathLst>
                <a:path w="3295650" h="9525">
                  <a:moveTo>
                    <a:pt x="0" y="0"/>
                  </a:moveTo>
                  <a:lnTo>
                    <a:pt x="3295650" y="0"/>
                  </a:lnTo>
                </a:path>
              </a:pathLst>
            </a:custGeom>
            <a:noFill/>
            <a:ln w="14288">
              <a:solidFill>
                <a:srgbClr val="F1C7CC"/>
              </a:solidFill>
            </a:ln>
          </p:spPr>
        </p:sp>
        <p:sp>
          <p:nvSpPr>
            <p:cNvPr id="368" name="Line 368"/>
            <p:cNvSpPr/>
            <p:nvPr/>
          </p:nvSpPr>
          <p:spPr>
            <a:xfrm>
              <a:off x="8763000" y="6400800"/>
              <a:ext cx="3295650" cy="9525"/>
            </a:xfrm>
            <a:custGeom>
              <a:avLst/>
              <a:gdLst/>
              <a:ahLst/>
              <a:cxnLst/>
              <a:rect l="l" t="t" r="r" b="b"/>
              <a:pathLst>
                <a:path w="3295650" h="9525">
                  <a:moveTo>
                    <a:pt x="0" y="0"/>
                  </a:moveTo>
                  <a:lnTo>
                    <a:pt x="3295650" y="0"/>
                  </a:lnTo>
                </a:path>
              </a:pathLst>
            </a:custGeom>
            <a:noFill/>
            <a:ln w="14288">
              <a:solidFill>
                <a:srgbClr val="F1C7CC"/>
              </a:solidFill>
            </a:ln>
          </p:spPr>
        </p:sp>
        <p:sp>
          <p:nvSpPr>
            <p:cNvPr id="369" name="TextBox 369"/>
            <p:cNvSpPr txBox="1"/>
            <p:nvPr/>
          </p:nvSpPr>
          <p:spPr>
            <a:xfrm>
              <a:off x="3421380" y="6305550"/>
              <a:ext cx="5349240" cy="293370"/>
            </a:xfrm>
            <a:prstGeom prst="rect">
              <a:avLst/>
            </a:prstGeom>
            <a:noFill/>
            <a:ln>
              <a:noFill/>
            </a:ln>
          </p:spPr>
          <p:txBody>
            <a:bodyPr wrap="none" lIns="0" tIns="0" rIns="0" bIns="0" anchor="t" anchorCtr="0">
              <a:spAutoFit/>
            </a:bodyPr>
            <a:lstStyle/>
            <a:p>
              <a:pPr algn="ctr"/>
              <a:r>
                <a:rPr lang="zh-CN" sz="1500" b="1" dirty="0">
                  <a:solidFill>
                    <a:srgbClr val="C83210"/>
                  </a:solidFill>
                  <a:latin typeface="KaiTi"/>
                  <a:ea typeface="KaiTi"/>
                  <a:cs typeface="KaiTi"/>
                </a:rPr>
                <a:t>让每一次客户添加都有身份，让每一次内容触达都有价值</a:t>
              </a:r>
            </a:p>
          </p:txBody>
        </p:sp>
      </p:gr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ky"/>
          <p:cNvSpPr/>
          <p:nvPr/>
        </p:nvSpPr>
        <p:spPr>
          <a:xfrm>
            <a:off x="0" y="2190750"/>
            <a:ext cx="12192000" cy="2381250"/>
          </a:xfrm>
          <a:prstGeom prst="rect">
            <a:avLst/>
          </a:prstGeom>
          <a:gradFill>
            <a:gsLst>
              <a:gs pos="0">
                <a:srgbClr val="FFFFFF"/>
              </a:gs>
              <a:gs pos="100000">
                <a:srgbClr val="E4EEF9"/>
              </a:gs>
            </a:gsLst>
            <a:lin ang="5400000" scaled="1"/>
          </a:gradFill>
          <a:ln>
            <a:noFill/>
          </a:ln>
        </p:spPr>
      </p:sp>
      <p:sp>
        <p:nvSpPr>
          <p:cNvPr id="3" name="water"/>
          <p:cNvSpPr/>
          <p:nvPr/>
        </p:nvSpPr>
        <p:spPr>
          <a:xfrm>
            <a:off x="0" y="4476750"/>
            <a:ext cx="12192000" cy="2228850"/>
          </a:xfrm>
          <a:prstGeom prst="rect">
            <a:avLst/>
          </a:prstGeom>
          <a:gradFill>
            <a:gsLst>
              <a:gs pos="0">
                <a:srgbClr val="D5E4F6"/>
              </a:gs>
              <a:gs pos="100000">
                <a:srgbClr val="DC9C8F"/>
              </a:gs>
            </a:gsLst>
            <a:lin ang="5400000" scaled="1"/>
          </a:gradFill>
          <a:ln>
            <a:noFill/>
          </a:ln>
        </p:spPr>
      </p:sp>
      <p:sp>
        <p:nvSpPr>
          <p:cNvPr id="4" name="mountains-far"/>
          <p:cNvSpPr/>
          <p:nvPr/>
        </p:nvSpPr>
        <p:spPr>
          <a:xfrm>
            <a:off x="0" y="3200400"/>
            <a:ext cx="12192000" cy="1295400"/>
          </a:xfrm>
          <a:custGeom>
            <a:avLst/>
            <a:gdLst/>
            <a:ahLst/>
            <a:cxnLst/>
            <a:rect l="l" t="t" r="r" b="b"/>
            <a:pathLst>
              <a:path w="12192000" h="1295400">
                <a:moveTo>
                  <a:pt x="0" y="895350"/>
                </a:moveTo>
                <a:lnTo>
                  <a:pt x="1143000" y="342900"/>
                </a:lnTo>
                <a:lnTo>
                  <a:pt x="2095500" y="609600"/>
                </a:lnTo>
                <a:lnTo>
                  <a:pt x="3143250" y="133350"/>
                </a:lnTo>
                <a:lnTo>
                  <a:pt x="4095750" y="533400"/>
                </a:lnTo>
                <a:lnTo>
                  <a:pt x="4953000" y="190500"/>
                </a:lnTo>
                <a:lnTo>
                  <a:pt x="5905500" y="628650"/>
                </a:lnTo>
                <a:lnTo>
                  <a:pt x="6667500" y="285750"/>
                </a:lnTo>
                <a:lnTo>
                  <a:pt x="7239000" y="590550"/>
                </a:lnTo>
                <a:lnTo>
                  <a:pt x="8191500" y="0"/>
                </a:lnTo>
                <a:lnTo>
                  <a:pt x="9144000" y="457200"/>
                </a:lnTo>
                <a:lnTo>
                  <a:pt x="9906000" y="95250"/>
                </a:lnTo>
                <a:lnTo>
                  <a:pt x="10763250" y="590550"/>
                </a:lnTo>
                <a:lnTo>
                  <a:pt x="11430000" y="190500"/>
                </a:lnTo>
                <a:lnTo>
                  <a:pt x="12192000" y="438150"/>
                </a:lnTo>
                <a:lnTo>
                  <a:pt x="12192000" y="1295400"/>
                </a:lnTo>
                <a:lnTo>
                  <a:pt x="0" y="1295400"/>
                </a:lnTo>
                <a:close/>
              </a:path>
            </a:pathLst>
          </a:custGeom>
          <a:solidFill>
            <a:srgbClr val="CBDAED"/>
          </a:solidFill>
          <a:ln>
            <a:noFill/>
          </a:ln>
        </p:spPr>
      </p:sp>
      <p:sp>
        <p:nvSpPr>
          <p:cNvPr id="5" name="mountains-near"/>
          <p:cNvSpPr/>
          <p:nvPr/>
        </p:nvSpPr>
        <p:spPr>
          <a:xfrm>
            <a:off x="5334000" y="3924300"/>
            <a:ext cx="6858000" cy="838200"/>
          </a:xfrm>
          <a:custGeom>
            <a:avLst/>
            <a:gdLst/>
            <a:ahLst/>
            <a:cxnLst/>
            <a:rect l="l" t="t" r="r" b="b"/>
            <a:pathLst>
              <a:path w="6858000" h="838200">
                <a:moveTo>
                  <a:pt x="0" y="571500"/>
                </a:moveTo>
                <a:lnTo>
                  <a:pt x="1333500" y="190500"/>
                </a:lnTo>
                <a:lnTo>
                  <a:pt x="2095500" y="419100"/>
                </a:lnTo>
                <a:lnTo>
                  <a:pt x="2857500" y="57150"/>
                </a:lnTo>
                <a:lnTo>
                  <a:pt x="3619500" y="381000"/>
                </a:lnTo>
                <a:lnTo>
                  <a:pt x="4381500" y="0"/>
                </a:lnTo>
                <a:lnTo>
                  <a:pt x="5334000" y="381000"/>
                </a:lnTo>
                <a:lnTo>
                  <a:pt x="6096000" y="114300"/>
                </a:lnTo>
                <a:lnTo>
                  <a:pt x="6858000" y="285750"/>
                </a:lnTo>
                <a:lnTo>
                  <a:pt x="6858000" y="838200"/>
                </a:lnTo>
                <a:lnTo>
                  <a:pt x="0" y="838200"/>
                </a:lnTo>
                <a:close/>
              </a:path>
            </a:pathLst>
          </a:custGeom>
          <a:solidFill>
            <a:srgbClr val="E8BCB3"/>
          </a:solidFill>
          <a:ln>
            <a:noFill/>
          </a:ln>
        </p:spPr>
      </p:sp>
      <p:sp>
        <p:nvSpPr>
          <p:cNvPr id="6" name="city-silhouette"/>
          <p:cNvSpPr/>
          <p:nvPr/>
        </p:nvSpPr>
        <p:spPr>
          <a:xfrm>
            <a:off x="5715000" y="3390900"/>
            <a:ext cx="2571750" cy="1104900"/>
          </a:xfrm>
          <a:custGeom>
            <a:avLst/>
            <a:gdLst/>
            <a:ahLst/>
            <a:cxnLst/>
            <a:rect l="l" t="t" r="r" b="b"/>
            <a:pathLst>
              <a:path w="2571750" h="1104900">
                <a:moveTo>
                  <a:pt x="0" y="1104900"/>
                </a:moveTo>
                <a:lnTo>
                  <a:pt x="0" y="457200"/>
                </a:lnTo>
                <a:lnTo>
                  <a:pt x="190500" y="457200"/>
                </a:lnTo>
                <a:lnTo>
                  <a:pt x="190500" y="1104900"/>
                </a:lnTo>
                <a:close/>
                <a:moveTo>
                  <a:pt x="266700" y="1104900"/>
                </a:moveTo>
                <a:lnTo>
                  <a:pt x="266700" y="152400"/>
                </a:lnTo>
                <a:lnTo>
                  <a:pt x="438150" y="152400"/>
                </a:lnTo>
                <a:lnTo>
                  <a:pt x="438150" y="1104900"/>
                </a:lnTo>
                <a:close/>
                <a:moveTo>
                  <a:pt x="514350" y="1104900"/>
                </a:moveTo>
                <a:lnTo>
                  <a:pt x="514350" y="552450"/>
                </a:lnTo>
                <a:lnTo>
                  <a:pt x="742950" y="552450"/>
                </a:lnTo>
                <a:lnTo>
                  <a:pt x="742950" y="1104900"/>
                </a:lnTo>
                <a:close/>
                <a:moveTo>
                  <a:pt x="819150" y="1104900"/>
                </a:moveTo>
                <a:lnTo>
                  <a:pt x="819150" y="0"/>
                </a:lnTo>
                <a:lnTo>
                  <a:pt x="1009650" y="0"/>
                </a:lnTo>
                <a:lnTo>
                  <a:pt x="1009650" y="1104900"/>
                </a:lnTo>
                <a:close/>
                <a:moveTo>
                  <a:pt x="1085850" y="1104900"/>
                </a:moveTo>
                <a:lnTo>
                  <a:pt x="1085850" y="381000"/>
                </a:lnTo>
                <a:lnTo>
                  <a:pt x="1371600" y="381000"/>
                </a:lnTo>
                <a:lnTo>
                  <a:pt x="1371600" y="1104900"/>
                </a:lnTo>
                <a:close/>
                <a:moveTo>
                  <a:pt x="1447800" y="1104900"/>
                </a:moveTo>
                <a:lnTo>
                  <a:pt x="1447800" y="647700"/>
                </a:lnTo>
                <a:lnTo>
                  <a:pt x="1638300" y="647700"/>
                </a:lnTo>
                <a:lnTo>
                  <a:pt x="1638300" y="1104900"/>
                </a:lnTo>
                <a:close/>
                <a:moveTo>
                  <a:pt x="1714500" y="1104900"/>
                </a:moveTo>
                <a:lnTo>
                  <a:pt x="1714500" y="247650"/>
                </a:lnTo>
                <a:lnTo>
                  <a:pt x="1924050" y="247650"/>
                </a:lnTo>
                <a:lnTo>
                  <a:pt x="1924050" y="1104900"/>
                </a:lnTo>
                <a:close/>
                <a:moveTo>
                  <a:pt x="2000250" y="1104900"/>
                </a:moveTo>
                <a:lnTo>
                  <a:pt x="2000250" y="495300"/>
                </a:lnTo>
                <a:lnTo>
                  <a:pt x="2286000" y="495300"/>
                </a:lnTo>
                <a:lnTo>
                  <a:pt x="2286000" y="1104900"/>
                </a:lnTo>
                <a:close/>
                <a:moveTo>
                  <a:pt x="2362200" y="1104900"/>
                </a:moveTo>
                <a:lnTo>
                  <a:pt x="2362200" y="742950"/>
                </a:lnTo>
                <a:lnTo>
                  <a:pt x="2571750" y="742950"/>
                </a:lnTo>
                <a:lnTo>
                  <a:pt x="2571750" y="1104900"/>
                </a:lnTo>
                <a:close/>
              </a:path>
            </a:pathLst>
          </a:custGeom>
          <a:solidFill>
            <a:srgbClr val="B86A5A">
              <a:alpha val="75000"/>
            </a:srgbClr>
          </a:solidFill>
          <a:ln>
            <a:noFill/>
          </a:ln>
        </p:spPr>
      </p:sp>
      <p:sp>
        <p:nvSpPr>
          <p:cNvPr id="7" name="dam-wall"/>
          <p:cNvSpPr/>
          <p:nvPr/>
        </p:nvSpPr>
        <p:spPr>
          <a:xfrm>
            <a:off x="914400" y="4514850"/>
            <a:ext cx="2400300" cy="857250"/>
          </a:xfrm>
          <a:custGeom>
            <a:avLst/>
            <a:gdLst/>
            <a:ahLst/>
            <a:cxnLst/>
            <a:rect l="l" t="t" r="r" b="b"/>
            <a:pathLst>
              <a:path w="2400300" h="857250">
                <a:moveTo>
                  <a:pt x="0" y="857250"/>
                </a:moveTo>
                <a:lnTo>
                  <a:pt x="209550" y="0"/>
                </a:lnTo>
                <a:lnTo>
                  <a:pt x="2286000" y="0"/>
                </a:lnTo>
                <a:lnTo>
                  <a:pt x="2400300" y="857250"/>
                </a:lnTo>
                <a:close/>
              </a:path>
            </a:pathLst>
          </a:custGeom>
          <a:solidFill>
            <a:srgbClr val="AA796F"/>
          </a:solidFill>
          <a:ln>
            <a:noFill/>
          </a:ln>
        </p:spPr>
      </p:sp>
      <p:sp>
        <p:nvSpPr>
          <p:cNvPr id="8" name="dam-crest"/>
          <p:cNvSpPr/>
          <p:nvPr/>
        </p:nvSpPr>
        <p:spPr>
          <a:xfrm>
            <a:off x="1066800" y="4438650"/>
            <a:ext cx="2190750" cy="95250"/>
          </a:xfrm>
          <a:prstGeom prst="rect">
            <a:avLst/>
          </a:prstGeom>
          <a:solidFill>
            <a:srgbClr val="C2978E"/>
          </a:solidFill>
          <a:ln>
            <a:noFill/>
          </a:ln>
        </p:spPr>
      </p:sp>
      <p:sp>
        <p:nvSpPr>
          <p:cNvPr id="9" name="dam-gates"/>
          <p:cNvSpPr/>
          <p:nvPr/>
        </p:nvSpPr>
        <p:spPr>
          <a:xfrm>
            <a:off x="1333500" y="4667250"/>
            <a:ext cx="1714500" cy="666750"/>
          </a:xfrm>
          <a:custGeom>
            <a:avLst/>
            <a:gdLst/>
            <a:ahLst/>
            <a:cxnLst/>
            <a:rect l="l" t="t" r="r" b="b"/>
            <a:pathLst>
              <a:path w="1714500" h="666750">
                <a:moveTo>
                  <a:pt x="0" y="0"/>
                </a:moveTo>
                <a:lnTo>
                  <a:pt x="0" y="666750"/>
                </a:lnTo>
                <a:moveTo>
                  <a:pt x="285750" y="0"/>
                </a:moveTo>
                <a:lnTo>
                  <a:pt x="285750" y="666750"/>
                </a:lnTo>
                <a:moveTo>
                  <a:pt x="571500" y="0"/>
                </a:moveTo>
                <a:lnTo>
                  <a:pt x="571500" y="666750"/>
                </a:lnTo>
                <a:moveTo>
                  <a:pt x="857250" y="0"/>
                </a:moveTo>
                <a:lnTo>
                  <a:pt x="857250" y="666750"/>
                </a:lnTo>
                <a:moveTo>
                  <a:pt x="1143000" y="0"/>
                </a:moveTo>
                <a:lnTo>
                  <a:pt x="1143000" y="666750"/>
                </a:lnTo>
                <a:moveTo>
                  <a:pt x="1428750" y="0"/>
                </a:moveTo>
                <a:lnTo>
                  <a:pt x="1428750" y="666750"/>
                </a:lnTo>
                <a:moveTo>
                  <a:pt x="1714500" y="0"/>
                </a:moveTo>
                <a:lnTo>
                  <a:pt x="1714500" y="666750"/>
                </a:lnTo>
              </a:path>
            </a:pathLst>
          </a:custGeom>
          <a:noFill/>
          <a:ln w="57150">
            <a:solidFill>
              <a:srgbClr val="DCE9F8"/>
            </a:solidFill>
          </a:ln>
        </p:spPr>
      </p:sp>
      <p:sp>
        <p:nvSpPr>
          <p:cNvPr id="10" name="power-towers"/>
          <p:cNvSpPr/>
          <p:nvPr/>
        </p:nvSpPr>
        <p:spPr>
          <a:xfrm>
            <a:off x="1562100" y="3676650"/>
            <a:ext cx="1066800" cy="838200"/>
          </a:xfrm>
          <a:custGeom>
            <a:avLst/>
            <a:gdLst/>
            <a:ahLst/>
            <a:cxnLst/>
            <a:rect l="l" t="t" r="r" b="b"/>
            <a:pathLst>
              <a:path w="1066800" h="838200">
                <a:moveTo>
                  <a:pt x="38100" y="838200"/>
                </a:moveTo>
                <a:lnTo>
                  <a:pt x="171450" y="0"/>
                </a:lnTo>
                <a:lnTo>
                  <a:pt x="304800" y="838200"/>
                </a:lnTo>
                <a:moveTo>
                  <a:pt x="0" y="438150"/>
                </a:moveTo>
                <a:lnTo>
                  <a:pt x="342900" y="438150"/>
                </a:lnTo>
                <a:moveTo>
                  <a:pt x="38100" y="247650"/>
                </a:moveTo>
                <a:lnTo>
                  <a:pt x="304800" y="247650"/>
                </a:lnTo>
                <a:moveTo>
                  <a:pt x="762000" y="838200"/>
                </a:moveTo>
                <a:lnTo>
                  <a:pt x="895350" y="114300"/>
                </a:lnTo>
                <a:lnTo>
                  <a:pt x="1028700" y="838200"/>
                </a:lnTo>
                <a:moveTo>
                  <a:pt x="723900" y="514350"/>
                </a:moveTo>
                <a:lnTo>
                  <a:pt x="1066800" y="514350"/>
                </a:lnTo>
                <a:moveTo>
                  <a:pt x="762000" y="323850"/>
                </a:moveTo>
                <a:lnTo>
                  <a:pt x="1028700" y="323850"/>
                </a:lnTo>
                <a:moveTo>
                  <a:pt x="304800" y="133350"/>
                </a:moveTo>
                <a:cubicBezTo>
                  <a:pt x="488950" y="260350"/>
                  <a:pt x="685800" y="266700"/>
                  <a:pt x="895350" y="152400"/>
                </a:cubicBezTo>
              </a:path>
            </a:pathLst>
          </a:custGeom>
          <a:noFill/>
          <a:ln w="19050">
            <a:solidFill>
              <a:srgbClr val="935A4E"/>
            </a:solidFill>
          </a:ln>
        </p:spPr>
      </p:sp>
      <p:sp>
        <p:nvSpPr>
          <p:cNvPr id="11" name="steel-plant"/>
          <p:cNvSpPr/>
          <p:nvPr/>
        </p:nvSpPr>
        <p:spPr>
          <a:xfrm>
            <a:off x="3390900" y="4476750"/>
            <a:ext cx="1581150" cy="1085850"/>
          </a:xfrm>
          <a:custGeom>
            <a:avLst/>
            <a:gdLst/>
            <a:ahLst/>
            <a:cxnLst/>
            <a:rect l="l" t="t" r="r" b="b"/>
            <a:pathLst>
              <a:path w="1581150" h="1085850">
                <a:moveTo>
                  <a:pt x="0" y="495300"/>
                </a:moveTo>
                <a:lnTo>
                  <a:pt x="1581150" y="495300"/>
                </a:lnTo>
                <a:lnTo>
                  <a:pt x="1581150" y="1085850"/>
                </a:lnTo>
                <a:lnTo>
                  <a:pt x="0" y="1085850"/>
                </a:lnTo>
                <a:close/>
                <a:moveTo>
                  <a:pt x="152400" y="0"/>
                </a:moveTo>
                <a:lnTo>
                  <a:pt x="304800" y="0"/>
                </a:lnTo>
                <a:lnTo>
                  <a:pt x="304800" y="514350"/>
                </a:lnTo>
                <a:lnTo>
                  <a:pt x="152400" y="514350"/>
                </a:lnTo>
                <a:close/>
                <a:moveTo>
                  <a:pt x="514350" y="95250"/>
                </a:moveTo>
                <a:lnTo>
                  <a:pt x="647700" y="95250"/>
                </a:lnTo>
                <a:lnTo>
                  <a:pt x="647700" y="514350"/>
                </a:lnTo>
                <a:lnTo>
                  <a:pt x="514350" y="514350"/>
                </a:lnTo>
                <a:close/>
                <a:moveTo>
                  <a:pt x="895350" y="285750"/>
                </a:moveTo>
                <a:lnTo>
                  <a:pt x="1085850" y="285750"/>
                </a:lnTo>
                <a:lnTo>
                  <a:pt x="1085850" y="514350"/>
                </a:lnTo>
                <a:lnTo>
                  <a:pt x="895350" y="514350"/>
                </a:lnTo>
                <a:close/>
              </a:path>
            </a:pathLst>
          </a:custGeom>
          <a:solidFill>
            <a:srgbClr val="9B766E"/>
          </a:solidFill>
          <a:ln>
            <a:noFill/>
          </a:ln>
        </p:spPr>
      </p:sp>
      <p:sp>
        <p:nvSpPr>
          <p:cNvPr id="12" name="steel-furnace"/>
          <p:cNvSpPr/>
          <p:nvPr/>
        </p:nvSpPr>
        <p:spPr>
          <a:xfrm>
            <a:off x="3543300" y="5143500"/>
            <a:ext cx="1333500" cy="419100"/>
          </a:xfrm>
          <a:custGeom>
            <a:avLst/>
            <a:gdLst/>
            <a:ahLst/>
            <a:cxnLst/>
            <a:rect l="l" t="t" r="r" b="b"/>
            <a:pathLst>
              <a:path w="1333500" h="419100">
                <a:moveTo>
                  <a:pt x="1028700" y="0"/>
                </a:moveTo>
                <a:lnTo>
                  <a:pt x="1333500" y="0"/>
                </a:lnTo>
                <a:lnTo>
                  <a:pt x="1333500" y="419100"/>
                </a:lnTo>
                <a:lnTo>
                  <a:pt x="1028700" y="419100"/>
                </a:lnTo>
                <a:close/>
                <a:moveTo>
                  <a:pt x="0" y="0"/>
                </a:moveTo>
                <a:lnTo>
                  <a:pt x="266700" y="0"/>
                </a:lnTo>
                <a:lnTo>
                  <a:pt x="266700" y="247650"/>
                </a:lnTo>
                <a:lnTo>
                  <a:pt x="0" y="247650"/>
                </a:lnTo>
                <a:close/>
              </a:path>
            </a:pathLst>
          </a:custGeom>
          <a:solidFill>
            <a:srgbClr val="A8594B"/>
          </a:solidFill>
          <a:ln>
            <a:noFill/>
          </a:ln>
        </p:spPr>
      </p:sp>
      <p:sp>
        <p:nvSpPr>
          <p:cNvPr id="13" name="ship-hull"/>
          <p:cNvSpPr/>
          <p:nvPr/>
        </p:nvSpPr>
        <p:spPr>
          <a:xfrm>
            <a:off x="5067300" y="5353050"/>
            <a:ext cx="1866900" cy="323850"/>
          </a:xfrm>
          <a:custGeom>
            <a:avLst/>
            <a:gdLst/>
            <a:ahLst/>
            <a:cxnLst/>
            <a:rect l="l" t="t" r="r" b="b"/>
            <a:pathLst>
              <a:path w="1866900" h="323850">
                <a:moveTo>
                  <a:pt x="0" y="0"/>
                </a:moveTo>
                <a:lnTo>
                  <a:pt x="152400" y="323850"/>
                </a:lnTo>
                <a:lnTo>
                  <a:pt x="1657350" y="323850"/>
                </a:lnTo>
                <a:lnTo>
                  <a:pt x="1866900" y="0"/>
                </a:lnTo>
                <a:close/>
              </a:path>
            </a:pathLst>
          </a:custGeom>
          <a:solidFill>
            <a:srgbClr val="662A1E"/>
          </a:solidFill>
          <a:ln>
            <a:noFill/>
          </a:ln>
        </p:spPr>
      </p:sp>
      <p:sp>
        <p:nvSpPr>
          <p:cNvPr id="14" name="ship-bridge"/>
          <p:cNvSpPr/>
          <p:nvPr/>
        </p:nvSpPr>
        <p:spPr>
          <a:xfrm>
            <a:off x="5219700" y="4895850"/>
            <a:ext cx="1447800" cy="457200"/>
          </a:xfrm>
          <a:custGeom>
            <a:avLst/>
            <a:gdLst/>
            <a:ahLst/>
            <a:cxnLst/>
            <a:rect l="l" t="t" r="r" b="b"/>
            <a:pathLst>
              <a:path w="1447800" h="457200">
                <a:moveTo>
                  <a:pt x="1066800" y="152400"/>
                </a:moveTo>
                <a:lnTo>
                  <a:pt x="1447800" y="152400"/>
                </a:lnTo>
                <a:lnTo>
                  <a:pt x="1447800" y="457200"/>
                </a:lnTo>
                <a:lnTo>
                  <a:pt x="1066800" y="457200"/>
                </a:lnTo>
                <a:close/>
                <a:moveTo>
                  <a:pt x="1181100" y="0"/>
                </a:moveTo>
                <a:lnTo>
                  <a:pt x="1352550" y="0"/>
                </a:lnTo>
                <a:lnTo>
                  <a:pt x="1352550" y="152400"/>
                </a:lnTo>
                <a:lnTo>
                  <a:pt x="1181100" y="152400"/>
                </a:lnTo>
                <a:close/>
                <a:moveTo>
                  <a:pt x="0" y="361950"/>
                </a:moveTo>
                <a:lnTo>
                  <a:pt x="114300" y="361950"/>
                </a:lnTo>
                <a:lnTo>
                  <a:pt x="114300" y="457200"/>
                </a:lnTo>
                <a:lnTo>
                  <a:pt x="0" y="457200"/>
                </a:lnTo>
                <a:close/>
              </a:path>
            </a:pathLst>
          </a:custGeom>
          <a:solidFill>
            <a:srgbClr val="E8EEF5"/>
          </a:solidFill>
          <a:ln>
            <a:noFill/>
          </a:ln>
        </p:spPr>
      </p:sp>
      <p:sp>
        <p:nvSpPr>
          <p:cNvPr id="15" name="train-body"/>
          <p:cNvSpPr/>
          <p:nvPr/>
        </p:nvSpPr>
        <p:spPr>
          <a:xfrm>
            <a:off x="6705600" y="4152900"/>
            <a:ext cx="2857500" cy="304800"/>
          </a:xfrm>
          <a:custGeom>
            <a:avLst/>
            <a:gdLst/>
            <a:ahLst/>
            <a:cxnLst/>
            <a:rect l="l" t="t" r="r" b="b"/>
            <a:pathLst>
              <a:path w="2857500" h="304800">
                <a:moveTo>
                  <a:pt x="0" y="0"/>
                </a:moveTo>
                <a:lnTo>
                  <a:pt x="2343150" y="0"/>
                </a:lnTo>
                <a:lnTo>
                  <a:pt x="2857500" y="152400"/>
                </a:lnTo>
                <a:lnTo>
                  <a:pt x="2343150" y="304800"/>
                </a:lnTo>
                <a:lnTo>
                  <a:pt x="0" y="304800"/>
                </a:lnTo>
                <a:close/>
              </a:path>
            </a:pathLst>
          </a:custGeom>
          <a:solidFill>
            <a:srgbClr val="F3F6FB"/>
          </a:solidFill>
          <a:ln>
            <a:noFill/>
          </a:ln>
        </p:spPr>
      </p:sp>
      <p:sp>
        <p:nvSpPr>
          <p:cNvPr id="16" name="train-stripe"/>
          <p:cNvSpPr/>
          <p:nvPr/>
        </p:nvSpPr>
        <p:spPr>
          <a:xfrm>
            <a:off x="6743700" y="4229100"/>
            <a:ext cx="2590800" cy="76200"/>
          </a:xfrm>
          <a:custGeom>
            <a:avLst/>
            <a:gdLst/>
            <a:ahLst/>
            <a:cxnLst/>
            <a:rect l="l" t="t" r="r" b="b"/>
            <a:pathLst>
              <a:path w="2590800" h="76200">
                <a:moveTo>
                  <a:pt x="0" y="76200"/>
                </a:moveTo>
                <a:lnTo>
                  <a:pt x="2590800" y="76200"/>
                </a:lnTo>
                <a:moveTo>
                  <a:pt x="114300" y="0"/>
                </a:moveTo>
                <a:lnTo>
                  <a:pt x="495300" y="0"/>
                </a:lnTo>
                <a:moveTo>
                  <a:pt x="590550" y="0"/>
                </a:moveTo>
                <a:lnTo>
                  <a:pt x="971550" y="0"/>
                </a:lnTo>
                <a:moveTo>
                  <a:pt x="1066800" y="0"/>
                </a:moveTo>
                <a:lnTo>
                  <a:pt x="1447800" y="0"/>
                </a:lnTo>
                <a:moveTo>
                  <a:pt x="1543050" y="0"/>
                </a:moveTo>
                <a:lnTo>
                  <a:pt x="1924050" y="0"/>
                </a:lnTo>
              </a:path>
            </a:pathLst>
          </a:custGeom>
          <a:noFill/>
          <a:ln w="28575">
            <a:solidFill>
              <a:srgbClr val="D64A2E"/>
            </a:solidFill>
          </a:ln>
        </p:spPr>
      </p:sp>
      <p:sp>
        <p:nvSpPr>
          <p:cNvPr id="17" name="data-center"/>
          <p:cNvSpPr/>
          <p:nvPr/>
        </p:nvSpPr>
        <p:spPr>
          <a:xfrm>
            <a:off x="7962900" y="3619500"/>
            <a:ext cx="1676400" cy="857250"/>
          </a:xfrm>
          <a:custGeom>
            <a:avLst/>
            <a:gdLst/>
            <a:ahLst/>
            <a:cxnLst/>
            <a:rect l="l" t="t" r="r" b="b"/>
            <a:pathLst>
              <a:path w="1676400" h="857250">
                <a:moveTo>
                  <a:pt x="0" y="38100"/>
                </a:moveTo>
                <a:lnTo>
                  <a:pt x="381000" y="38100"/>
                </a:lnTo>
                <a:lnTo>
                  <a:pt x="381000" y="857250"/>
                </a:lnTo>
                <a:lnTo>
                  <a:pt x="0" y="857250"/>
                </a:lnTo>
                <a:close/>
                <a:moveTo>
                  <a:pt x="457200" y="152400"/>
                </a:moveTo>
                <a:lnTo>
                  <a:pt x="838200" y="152400"/>
                </a:lnTo>
                <a:lnTo>
                  <a:pt x="838200" y="857250"/>
                </a:lnTo>
                <a:lnTo>
                  <a:pt x="457200" y="857250"/>
                </a:lnTo>
                <a:close/>
                <a:moveTo>
                  <a:pt x="914400" y="0"/>
                </a:moveTo>
                <a:lnTo>
                  <a:pt x="1295400" y="0"/>
                </a:lnTo>
                <a:lnTo>
                  <a:pt x="1295400" y="857250"/>
                </a:lnTo>
                <a:lnTo>
                  <a:pt x="914400" y="857250"/>
                </a:lnTo>
                <a:close/>
                <a:moveTo>
                  <a:pt x="1371600" y="209550"/>
                </a:moveTo>
                <a:lnTo>
                  <a:pt x="1676400" y="209550"/>
                </a:lnTo>
                <a:lnTo>
                  <a:pt x="1676400" y="857250"/>
                </a:lnTo>
                <a:lnTo>
                  <a:pt x="1371600" y="857250"/>
                </a:lnTo>
                <a:close/>
              </a:path>
            </a:pathLst>
          </a:custGeom>
          <a:solidFill>
            <a:srgbClr val="9E4C3B"/>
          </a:solidFill>
          <a:ln>
            <a:noFill/>
          </a:ln>
        </p:spPr>
      </p:sp>
      <p:sp>
        <p:nvSpPr>
          <p:cNvPr id="18" name="data-center-lights"/>
          <p:cNvSpPr/>
          <p:nvPr/>
        </p:nvSpPr>
        <p:spPr>
          <a:xfrm>
            <a:off x="8039100" y="3733800"/>
            <a:ext cx="1524000" cy="476250"/>
          </a:xfrm>
          <a:custGeom>
            <a:avLst/>
            <a:gdLst/>
            <a:ahLst/>
            <a:cxnLst/>
            <a:rect l="l" t="t" r="r" b="b"/>
            <a:pathLst>
              <a:path w="1524000" h="476250">
                <a:moveTo>
                  <a:pt x="0" y="38100"/>
                </a:moveTo>
                <a:lnTo>
                  <a:pt x="228600" y="38100"/>
                </a:lnTo>
                <a:moveTo>
                  <a:pt x="0" y="171450"/>
                </a:moveTo>
                <a:lnTo>
                  <a:pt x="228600" y="171450"/>
                </a:lnTo>
                <a:moveTo>
                  <a:pt x="0" y="304800"/>
                </a:moveTo>
                <a:lnTo>
                  <a:pt x="228600" y="304800"/>
                </a:lnTo>
                <a:moveTo>
                  <a:pt x="0" y="438150"/>
                </a:moveTo>
                <a:lnTo>
                  <a:pt x="228600" y="438150"/>
                </a:lnTo>
                <a:moveTo>
                  <a:pt x="457200" y="152400"/>
                </a:moveTo>
                <a:lnTo>
                  <a:pt x="685800" y="152400"/>
                </a:lnTo>
                <a:moveTo>
                  <a:pt x="457200" y="285750"/>
                </a:moveTo>
                <a:lnTo>
                  <a:pt x="685800" y="285750"/>
                </a:lnTo>
                <a:moveTo>
                  <a:pt x="457200" y="419100"/>
                </a:moveTo>
                <a:lnTo>
                  <a:pt x="685800" y="419100"/>
                </a:lnTo>
                <a:moveTo>
                  <a:pt x="914400" y="0"/>
                </a:moveTo>
                <a:lnTo>
                  <a:pt x="1143000" y="0"/>
                </a:lnTo>
                <a:moveTo>
                  <a:pt x="914400" y="133350"/>
                </a:moveTo>
                <a:lnTo>
                  <a:pt x="1143000" y="133350"/>
                </a:lnTo>
                <a:moveTo>
                  <a:pt x="914400" y="266700"/>
                </a:moveTo>
                <a:lnTo>
                  <a:pt x="1143000" y="266700"/>
                </a:lnTo>
                <a:moveTo>
                  <a:pt x="914400" y="400050"/>
                </a:moveTo>
                <a:lnTo>
                  <a:pt x="1143000" y="400050"/>
                </a:lnTo>
                <a:moveTo>
                  <a:pt x="1371600" y="209550"/>
                </a:moveTo>
                <a:lnTo>
                  <a:pt x="1524000" y="209550"/>
                </a:lnTo>
                <a:moveTo>
                  <a:pt x="1371600" y="342900"/>
                </a:moveTo>
                <a:lnTo>
                  <a:pt x="1524000" y="342900"/>
                </a:lnTo>
                <a:moveTo>
                  <a:pt x="1371600" y="476250"/>
                </a:moveTo>
                <a:lnTo>
                  <a:pt x="1524000" y="476250"/>
                </a:lnTo>
              </a:path>
            </a:pathLst>
          </a:custGeom>
          <a:noFill/>
          <a:ln w="19050">
            <a:solidFill>
              <a:srgbClr val="FF957F"/>
            </a:solidFill>
          </a:ln>
        </p:spPr>
      </p:sp>
      <p:sp>
        <p:nvSpPr>
          <p:cNvPr id="19" name="hospital"/>
          <p:cNvSpPr/>
          <p:nvPr/>
        </p:nvSpPr>
        <p:spPr>
          <a:xfrm>
            <a:off x="9906000" y="3333750"/>
            <a:ext cx="1866900" cy="1143000"/>
          </a:xfrm>
          <a:custGeom>
            <a:avLst/>
            <a:gdLst/>
            <a:ahLst/>
            <a:cxnLst/>
            <a:rect l="l" t="t" r="r" b="b"/>
            <a:pathLst>
              <a:path w="1866900" h="1143000">
                <a:moveTo>
                  <a:pt x="0" y="0"/>
                </a:moveTo>
                <a:lnTo>
                  <a:pt x="1866900" y="0"/>
                </a:lnTo>
                <a:lnTo>
                  <a:pt x="1866900" y="1143000"/>
                </a:lnTo>
                <a:lnTo>
                  <a:pt x="0" y="1143000"/>
                </a:lnTo>
                <a:close/>
              </a:path>
            </a:pathLst>
          </a:custGeom>
          <a:solidFill>
            <a:srgbClr val="E6EDF7"/>
          </a:solidFill>
          <a:ln>
            <a:noFill/>
          </a:ln>
        </p:spPr>
      </p:sp>
      <p:sp>
        <p:nvSpPr>
          <p:cNvPr id="20" name="hospital-detail"/>
          <p:cNvSpPr/>
          <p:nvPr/>
        </p:nvSpPr>
        <p:spPr>
          <a:xfrm>
            <a:off x="10096500" y="3543300"/>
            <a:ext cx="1428750" cy="742950"/>
          </a:xfrm>
          <a:custGeom>
            <a:avLst/>
            <a:gdLst/>
            <a:ahLst/>
            <a:cxnLst/>
            <a:rect l="l" t="t" r="r" b="b"/>
            <a:pathLst>
              <a:path w="1428750" h="742950">
                <a:moveTo>
                  <a:pt x="571500" y="0"/>
                </a:moveTo>
                <a:lnTo>
                  <a:pt x="914400" y="0"/>
                </a:lnTo>
                <a:lnTo>
                  <a:pt x="914400" y="342900"/>
                </a:lnTo>
                <a:lnTo>
                  <a:pt x="571500" y="342900"/>
                </a:lnTo>
                <a:close/>
                <a:moveTo>
                  <a:pt x="685800" y="76200"/>
                </a:moveTo>
                <a:lnTo>
                  <a:pt x="685800" y="266700"/>
                </a:lnTo>
                <a:moveTo>
                  <a:pt x="647700" y="171450"/>
                </a:moveTo>
                <a:lnTo>
                  <a:pt x="838200" y="171450"/>
                </a:lnTo>
                <a:moveTo>
                  <a:pt x="0" y="457200"/>
                </a:moveTo>
                <a:lnTo>
                  <a:pt x="285750" y="457200"/>
                </a:lnTo>
                <a:lnTo>
                  <a:pt x="285750" y="742950"/>
                </a:lnTo>
                <a:lnTo>
                  <a:pt x="0" y="742950"/>
                </a:lnTo>
                <a:close/>
                <a:moveTo>
                  <a:pt x="1143000" y="457200"/>
                </a:moveTo>
                <a:lnTo>
                  <a:pt x="1428750" y="457200"/>
                </a:lnTo>
                <a:lnTo>
                  <a:pt x="1428750" y="742950"/>
                </a:lnTo>
                <a:lnTo>
                  <a:pt x="1143000" y="742950"/>
                </a:lnTo>
                <a:close/>
              </a:path>
            </a:pathLst>
          </a:custGeom>
          <a:noFill/>
          <a:ln w="28575">
            <a:solidFill>
              <a:srgbClr val="D64A2E"/>
            </a:solidFill>
          </a:ln>
        </p:spPr>
      </p:sp>
      <p:sp>
        <p:nvSpPr>
          <p:cNvPr id="21" name="light-ribbon-glow"/>
          <p:cNvSpPr/>
          <p:nvPr/>
        </p:nvSpPr>
        <p:spPr>
          <a:xfrm>
            <a:off x="571500" y="2628900"/>
            <a:ext cx="11620500" cy="2343150"/>
          </a:xfrm>
          <a:custGeom>
            <a:avLst/>
            <a:gdLst/>
            <a:ahLst/>
            <a:cxnLst/>
            <a:rect l="l" t="t" r="r" b="b"/>
            <a:pathLst>
              <a:path w="11620500" h="2343150">
                <a:moveTo>
                  <a:pt x="0" y="2133600"/>
                </a:moveTo>
                <a:cubicBezTo>
                  <a:pt x="1809750" y="2343150"/>
                  <a:pt x="3524250" y="1847850"/>
                  <a:pt x="4857750" y="2000250"/>
                </a:cubicBezTo>
                <a:cubicBezTo>
                  <a:pt x="6096000" y="2133600"/>
                  <a:pt x="6667500" y="952500"/>
                  <a:pt x="8001000" y="876300"/>
                </a:cubicBezTo>
                <a:cubicBezTo>
                  <a:pt x="9048750" y="819150"/>
                  <a:pt x="9810750" y="247650"/>
                  <a:pt x="11620500" y="0"/>
                </a:cubicBezTo>
              </a:path>
            </a:pathLst>
          </a:custGeom>
          <a:noFill/>
          <a:ln w="266700" cap="rnd">
            <a:solidFill>
              <a:srgbClr val="FF7A5F">
                <a:alpha val="28000"/>
              </a:srgbClr>
            </a:solidFill>
          </a:ln>
        </p:spPr>
      </p:sp>
      <p:sp>
        <p:nvSpPr>
          <p:cNvPr id="22" name="light-ribbon-core"/>
          <p:cNvSpPr/>
          <p:nvPr/>
        </p:nvSpPr>
        <p:spPr>
          <a:xfrm>
            <a:off x="571500" y="2628900"/>
            <a:ext cx="11620500" cy="2343150"/>
          </a:xfrm>
          <a:custGeom>
            <a:avLst/>
            <a:gdLst/>
            <a:ahLst/>
            <a:cxnLst/>
            <a:rect l="l" t="t" r="r" b="b"/>
            <a:pathLst>
              <a:path w="11620500" h="2343150">
                <a:moveTo>
                  <a:pt x="0" y="2133600"/>
                </a:moveTo>
                <a:cubicBezTo>
                  <a:pt x="1809750" y="2343150"/>
                  <a:pt x="3524250" y="1847850"/>
                  <a:pt x="4857750" y="2000250"/>
                </a:cubicBezTo>
                <a:cubicBezTo>
                  <a:pt x="6096000" y="2133600"/>
                  <a:pt x="6667500" y="952500"/>
                  <a:pt x="8001000" y="876300"/>
                </a:cubicBezTo>
                <a:cubicBezTo>
                  <a:pt x="9048750" y="819150"/>
                  <a:pt x="9810750" y="247650"/>
                  <a:pt x="11620500" y="0"/>
                </a:cubicBezTo>
              </a:path>
            </a:pathLst>
          </a:custGeom>
          <a:noFill/>
          <a:ln w="76200" cap="rnd">
            <a:solidFill>
              <a:srgbClr val="FF5E3D">
                <a:alpha val="90000"/>
              </a:srgbClr>
            </a:solidFill>
          </a:ln>
        </p:spPr>
      </p:sp>
      <p:sp>
        <p:nvSpPr>
          <p:cNvPr id="23" name="light-ribbon-highlight"/>
          <p:cNvSpPr/>
          <p:nvPr/>
        </p:nvSpPr>
        <p:spPr>
          <a:xfrm>
            <a:off x="571500" y="2628900"/>
            <a:ext cx="11620500" cy="2343150"/>
          </a:xfrm>
          <a:custGeom>
            <a:avLst/>
            <a:gdLst/>
            <a:ahLst/>
            <a:cxnLst/>
            <a:rect l="l" t="t" r="r" b="b"/>
            <a:pathLst>
              <a:path w="11620500" h="2343150">
                <a:moveTo>
                  <a:pt x="0" y="2133600"/>
                </a:moveTo>
                <a:cubicBezTo>
                  <a:pt x="1809750" y="2343150"/>
                  <a:pt x="3524250" y="1847850"/>
                  <a:pt x="4857750" y="2000250"/>
                </a:cubicBezTo>
                <a:cubicBezTo>
                  <a:pt x="6096000" y="2133600"/>
                  <a:pt x="6667500" y="952500"/>
                  <a:pt x="8001000" y="876300"/>
                </a:cubicBezTo>
                <a:cubicBezTo>
                  <a:pt x="9048750" y="819150"/>
                  <a:pt x="9810750" y="247650"/>
                  <a:pt x="11620500" y="0"/>
                </a:cubicBezTo>
              </a:path>
            </a:pathLst>
          </a:custGeom>
          <a:noFill/>
          <a:ln w="19050" cap="rnd">
            <a:solidFill>
              <a:srgbClr val="FFFFFF">
                <a:alpha val="75000"/>
              </a:srgbClr>
            </a:solidFill>
          </a:ln>
        </p:spPr>
      </p:sp>
      <p:grpSp>
        <p:nvGrpSpPr>
          <p:cNvPr id="27" name="slogan-left"/>
          <p:cNvGrpSpPr/>
          <p:nvPr/>
        </p:nvGrpSpPr>
        <p:grpSpPr>
          <a:xfrm>
            <a:off x="381000" y="133350"/>
            <a:ext cx="1694117" cy="368380"/>
            <a:chOff x="381000" y="133350"/>
            <a:chExt cx="1694117" cy="368380"/>
          </a:xfrm>
        </p:grpSpPr>
        <p:sp>
          <p:nvSpPr>
            <p:cNvPr id="24" name="Rectangle 24"/>
            <p:cNvSpPr/>
            <p:nvPr/>
          </p:nvSpPr>
          <p:spPr>
            <a:xfrm>
              <a:off x="381000" y="133350"/>
              <a:ext cx="28575" cy="304800"/>
            </a:xfrm>
            <a:prstGeom prst="rect">
              <a:avLst/>
            </a:prstGeom>
            <a:solidFill>
              <a:srgbClr val="9C331E"/>
            </a:solidFill>
            <a:ln>
              <a:noFill/>
            </a:ln>
          </p:spPr>
        </p:sp>
        <p:sp>
          <p:nvSpPr>
            <p:cNvPr id="25" name="TextBox 25"/>
            <p:cNvSpPr txBox="1"/>
            <p:nvPr/>
          </p:nvSpPr>
          <p:spPr>
            <a:xfrm>
              <a:off x="490538" y="169545"/>
              <a:ext cx="1584579"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服务国家战略　创造更大价值</a:t>
              </a:r>
            </a:p>
          </p:txBody>
        </p:sp>
        <p:sp>
          <p:nvSpPr>
            <p:cNvPr id="26" name="TextBox 26"/>
            <p:cNvSpPr txBox="1"/>
            <p:nvPr/>
          </p:nvSpPr>
          <p:spPr>
            <a:xfrm>
              <a:off x="490538" y="361236"/>
              <a:ext cx="869747"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国之大者　行稳致远</a:t>
              </a:r>
            </a:p>
          </p:txBody>
        </p:sp>
      </p:grpSp>
      <p:grpSp>
        <p:nvGrpSpPr>
          <p:cNvPr id="31" name="slogan-right"/>
          <p:cNvGrpSpPr/>
          <p:nvPr/>
        </p:nvGrpSpPr>
        <p:grpSpPr>
          <a:xfrm>
            <a:off x="9632252" y="133350"/>
            <a:ext cx="2178748" cy="368380"/>
            <a:chOff x="9632252" y="133350"/>
            <a:chExt cx="2178748" cy="368380"/>
          </a:xfrm>
        </p:grpSpPr>
        <p:sp>
          <p:nvSpPr>
            <p:cNvPr id="28" name="Rectangle 28"/>
            <p:cNvSpPr/>
            <p:nvPr/>
          </p:nvSpPr>
          <p:spPr>
            <a:xfrm>
              <a:off x="11782425" y="133350"/>
              <a:ext cx="28575" cy="304800"/>
            </a:xfrm>
            <a:prstGeom prst="rect">
              <a:avLst/>
            </a:prstGeom>
            <a:solidFill>
              <a:srgbClr val="9C331E"/>
            </a:solidFill>
            <a:ln>
              <a:noFill/>
            </a:ln>
          </p:spPr>
        </p:sp>
        <p:sp>
          <p:nvSpPr>
            <p:cNvPr id="29" name="TextBox 29"/>
            <p:cNvSpPr txBox="1"/>
            <p:nvPr/>
          </p:nvSpPr>
          <p:spPr>
            <a:xfrm>
              <a:off x="9632252" y="169545"/>
              <a:ext cx="2069211" cy="176212"/>
            </a:xfrm>
            <a:prstGeom prst="rect">
              <a:avLst/>
            </a:prstGeom>
            <a:noFill/>
            <a:ln>
              <a:noFill/>
            </a:ln>
          </p:spPr>
          <p:txBody>
            <a:bodyPr wrap="none" lIns="0" tIns="0" rIns="0" bIns="0" anchor="t" anchorCtr="0">
              <a:spAutoFit/>
            </a:bodyPr>
            <a:lstStyle/>
            <a:p>
              <a:pPr algn="r"/>
              <a:r>
                <a:rPr lang="zh-CN" sz="900" b="1" dirty="0">
                  <a:solidFill>
                    <a:srgbClr val="5E2114"/>
                  </a:solidFill>
                  <a:latin typeface="+mn-lt"/>
                  <a:ea typeface="+mn-ea"/>
                  <a:cs typeface="+mn-cs"/>
                </a:rPr>
                <a:t>发展新质生产力　共建现代化产业体系</a:t>
              </a:r>
            </a:p>
          </p:txBody>
        </p:sp>
        <p:sp>
          <p:nvSpPr>
            <p:cNvPr id="30" name="TextBox 30"/>
            <p:cNvSpPr txBox="1"/>
            <p:nvPr/>
          </p:nvSpPr>
          <p:spPr>
            <a:xfrm>
              <a:off x="10831716" y="361236"/>
              <a:ext cx="869747"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实业报国　科技强国</a:t>
              </a:r>
            </a:p>
          </p:txBody>
        </p:sp>
      </p:grpSp>
      <p:grpSp>
        <p:nvGrpSpPr>
          <p:cNvPr id="35" name="title-block"/>
          <p:cNvGrpSpPr/>
          <p:nvPr/>
        </p:nvGrpSpPr>
        <p:grpSpPr>
          <a:xfrm>
            <a:off x="438150" y="947738"/>
            <a:ext cx="7671054" cy="1590580"/>
            <a:chOff x="438150" y="947738"/>
            <a:chExt cx="7671054" cy="1590580"/>
          </a:xfrm>
        </p:grpSpPr>
        <p:sp>
          <p:nvSpPr>
            <p:cNvPr id="32" name="TextBox 32"/>
            <p:cNvSpPr txBox="1"/>
            <p:nvPr/>
          </p:nvSpPr>
          <p:spPr>
            <a:xfrm>
              <a:off x="438150" y="947738"/>
              <a:ext cx="7671054" cy="733425"/>
            </a:xfrm>
            <a:prstGeom prst="rect">
              <a:avLst/>
            </a:prstGeom>
            <a:noFill/>
            <a:ln>
              <a:noFill/>
            </a:ln>
          </p:spPr>
          <p:txBody>
            <a:bodyPr wrap="none" lIns="0" tIns="0" rIns="0" bIns="0" anchor="t" anchorCtr="0">
              <a:spAutoFit/>
            </a:bodyPr>
            <a:lstStyle/>
            <a:p>
              <a:pPr algn="l"/>
              <a:r>
                <a:rPr lang="zh-CN" sz="3750" b="1" dirty="0">
                  <a:solidFill>
                    <a:srgbClr val="5E2114"/>
                  </a:solidFill>
                  <a:latin typeface="+mj-lt"/>
                  <a:ea typeface="+mj-ea"/>
                  <a:cs typeface="+mj-cs"/>
                </a:rPr>
                <a:t>国资委100个场景落地一个月：​</a:t>
              </a:r>
            </a:p>
          </p:txBody>
        </p:sp>
        <p:sp>
          <p:nvSpPr>
            <p:cNvPr id="33" name="TextBox 33"/>
            <p:cNvSpPr txBox="1"/>
            <p:nvPr/>
          </p:nvSpPr>
          <p:spPr>
            <a:xfrm>
              <a:off x="438150" y="1538288"/>
              <a:ext cx="3771900" cy="733425"/>
            </a:xfrm>
            <a:prstGeom prst="rect">
              <a:avLst/>
            </a:prstGeom>
            <a:noFill/>
            <a:ln>
              <a:noFill/>
            </a:ln>
          </p:spPr>
          <p:txBody>
            <a:bodyPr wrap="none" lIns="0" tIns="0" rIns="0" bIns="0" anchor="t" anchorCtr="0">
              <a:spAutoFit/>
            </a:bodyPr>
            <a:lstStyle/>
            <a:p>
              <a:pPr algn="l"/>
              <a:r>
                <a:rPr lang="zh-CN" sz="3750" b="1" dirty="0">
                  <a:solidFill>
                    <a:srgbClr val="5E2114"/>
                  </a:solidFill>
                  <a:latin typeface="+mj-lt"/>
                  <a:ea typeface="+mj-ea"/>
                  <a:cs typeface="+mj-cs"/>
                </a:rPr>
                <a:t>哪些真的跑通了</a:t>
              </a:r>
            </a:p>
          </p:txBody>
        </p:sp>
        <p:sp>
          <p:nvSpPr>
            <p:cNvPr id="34" name="TextBox 34"/>
            <p:cNvSpPr txBox="1"/>
            <p:nvPr/>
          </p:nvSpPr>
          <p:spPr>
            <a:xfrm>
              <a:off x="449199" y="2230279"/>
              <a:ext cx="5567462" cy="308039"/>
            </a:xfrm>
            <a:prstGeom prst="rect">
              <a:avLst/>
            </a:prstGeom>
            <a:noFill/>
            <a:ln>
              <a:noFill/>
            </a:ln>
          </p:spPr>
          <p:txBody>
            <a:bodyPr wrap="none" lIns="0" tIns="0" rIns="0" bIns="0" anchor="t" anchorCtr="0">
              <a:spAutoFit/>
            </a:bodyPr>
            <a:lstStyle/>
            <a:p>
              <a:pPr algn="l"/>
              <a:r>
                <a:rPr lang="zh-CN" sz="1580" dirty="0">
                  <a:solidFill>
                    <a:srgbClr val="9C331E"/>
                  </a:solidFill>
                  <a:latin typeface="+mn-lt"/>
                  <a:ea typeface="+mn-ea"/>
                  <a:cs typeface="+mn-cs"/>
                </a:rPr>
                <a:t>从入选名单到生产价值——基于公开证据的央企场景进展复盘</a:t>
              </a:r>
            </a:p>
          </p:txBody>
        </p:sp>
      </p:grpSp>
      <p:grpSp>
        <p:nvGrpSpPr>
          <p:cNvPr id="38" name="formula-pill"/>
          <p:cNvGrpSpPr/>
          <p:nvPr/>
        </p:nvGrpSpPr>
        <p:grpSpPr>
          <a:xfrm>
            <a:off x="457200" y="2686050"/>
            <a:ext cx="4495800" cy="400050"/>
            <a:chOff x="457200" y="2686050"/>
            <a:chExt cx="4495800" cy="400050"/>
          </a:xfrm>
        </p:grpSpPr>
        <p:sp>
          <p:nvSpPr>
            <p:cNvPr id="36" name="Rectangle 36"/>
            <p:cNvSpPr/>
            <p:nvPr/>
          </p:nvSpPr>
          <p:spPr>
            <a:xfrm>
              <a:off x="457200" y="2686050"/>
              <a:ext cx="4495800" cy="400050"/>
            </a:xfrm>
            <a:prstGeom prst="roundRect">
              <a:avLst>
                <a:gd name="adj" fmla="val 19048"/>
              </a:avLst>
            </a:prstGeom>
            <a:gradFill>
              <a:gsLst>
                <a:gs pos="0">
                  <a:srgbClr val="6F2516"/>
                </a:gs>
                <a:gs pos="100000">
                  <a:srgbClr val="D64A2E"/>
                </a:gs>
              </a:gsLst>
              <a:lin ang="0" scaled="1"/>
            </a:gradFill>
            <a:ln>
              <a:noFill/>
            </a:ln>
          </p:spPr>
        </p:sp>
        <p:sp>
          <p:nvSpPr>
            <p:cNvPr id="37" name="TextBox 37"/>
            <p:cNvSpPr txBox="1"/>
            <p:nvPr/>
          </p:nvSpPr>
          <p:spPr>
            <a:xfrm>
              <a:off x="603123" y="2834164"/>
              <a:ext cx="4340095" cy="249364"/>
            </a:xfrm>
            <a:prstGeom prst="rect">
              <a:avLst/>
            </a:prstGeom>
            <a:noFill/>
            <a:ln>
              <a:noFill/>
            </a:ln>
          </p:spPr>
          <p:txBody>
            <a:bodyPr wrap="none" lIns="0" tIns="0" rIns="0" bIns="0" anchor="t" anchorCtr="0">
              <a:spAutoFit/>
            </a:bodyPr>
            <a:lstStyle/>
            <a:p>
              <a:pPr algn="l"/>
              <a:r>
                <a:rPr lang="zh-CN" sz="1950" b="1" dirty="0">
                  <a:solidFill>
                    <a:srgbClr val="FFFFFF"/>
                  </a:solidFill>
                  <a:latin typeface="+mn-lt"/>
                  <a:ea typeface="+mn-ea"/>
                  <a:cs typeface="+mn-cs"/>
                </a:rPr>
                <a:t>40</a:t>
              </a:r>
              <a:r>
                <a:rPr lang="zh-CN" sz="1280" dirty="0">
                  <a:solidFill>
                    <a:srgbClr val="FFFFFF"/>
                  </a:solidFill>
                  <a:latin typeface="+mn-lt"/>
                  <a:ea typeface="+mn-ea"/>
                  <a:cs typeface="+mn-cs"/>
                </a:rPr>
                <a:t xml:space="preserve">项首批 </a:t>
              </a:r>
              <a:r>
                <a:rPr lang="zh-CN" sz="1500" b="1" dirty="0">
                  <a:solidFill>
                    <a:srgbClr val="FFFFFF"/>
                  </a:solidFill>
                  <a:latin typeface="+mn-lt"/>
                  <a:ea typeface="+mn-ea"/>
                  <a:cs typeface="+mn-cs"/>
                </a:rPr>
                <a:t>+</a:t>
              </a:r>
              <a:r>
                <a:rPr lang="zh-CN" sz="1280" dirty="0">
                  <a:solidFill>
                    <a:srgbClr val="FFFFFF"/>
                  </a:solidFill>
                  <a:latin typeface="+mn-lt"/>
                  <a:ea typeface="+mn-ea"/>
                  <a:cs typeface="+mn-cs"/>
                </a:rPr>
                <a:t xml:space="preserve"> </a:t>
              </a:r>
              <a:r>
                <a:rPr lang="zh-CN" sz="1950" b="1" dirty="0">
                  <a:solidFill>
                    <a:srgbClr val="FFFFFF"/>
                  </a:solidFill>
                  <a:latin typeface="+mn-lt"/>
                  <a:ea typeface="+mn-ea"/>
                  <a:cs typeface="+mn-cs"/>
                </a:rPr>
                <a:t>60</a:t>
              </a:r>
              <a:r>
                <a:rPr lang="zh-CN" sz="1280" dirty="0">
                  <a:solidFill>
                    <a:srgbClr val="FFFFFF"/>
                  </a:solidFill>
                  <a:latin typeface="+mn-lt"/>
                  <a:ea typeface="+mn-ea"/>
                  <a:cs typeface="+mn-cs"/>
                </a:rPr>
                <a:t xml:space="preserve">项第二批 </a:t>
              </a:r>
              <a:r>
                <a:rPr lang="zh-CN" sz="1500" b="1" dirty="0">
                  <a:solidFill>
                    <a:srgbClr val="FFFFFF"/>
                  </a:solidFill>
                  <a:latin typeface="+mn-lt"/>
                  <a:ea typeface="+mn-ea"/>
                  <a:cs typeface="+mn-cs"/>
                </a:rPr>
                <a:t>=</a:t>
              </a:r>
              <a:r>
                <a:rPr lang="zh-CN" sz="1280" dirty="0">
                  <a:solidFill>
                    <a:srgbClr val="FFFFFF"/>
                  </a:solidFill>
                  <a:latin typeface="+mn-lt"/>
                  <a:ea typeface="+mn-ea"/>
                  <a:cs typeface="+mn-cs"/>
                </a:rPr>
                <a:t xml:space="preserve"> </a:t>
              </a:r>
              <a:r>
                <a:rPr lang="zh-CN" sz="1950" b="1" dirty="0">
                  <a:solidFill>
                    <a:srgbClr val="FFFFFF"/>
                  </a:solidFill>
                  <a:latin typeface="+mn-lt"/>
                  <a:ea typeface="+mn-ea"/>
                  <a:cs typeface="+mn-cs"/>
                </a:rPr>
                <a:t>100</a:t>
              </a:r>
              <a:r>
                <a:rPr lang="zh-CN" sz="1280" dirty="0">
                  <a:solidFill>
                    <a:srgbClr val="FFFFFF"/>
                  </a:solidFill>
                  <a:latin typeface="+mn-lt"/>
                  <a:ea typeface="+mn-ea"/>
                  <a:cs typeface="+mn-cs"/>
                </a:rPr>
                <a:t>项“百业智景”​​​​​​</a:t>
              </a:r>
            </a:p>
          </p:txBody>
        </p:sp>
      </p:grpSp>
      <p:grpSp>
        <p:nvGrpSpPr>
          <p:cNvPr id="40" name="keywords-row"/>
          <p:cNvGrpSpPr/>
          <p:nvPr/>
        </p:nvGrpSpPr>
        <p:grpSpPr>
          <a:xfrm>
            <a:off x="452056" y="3262551"/>
            <a:ext cx="3123913" cy="198025"/>
            <a:chOff x="452056" y="3262551"/>
            <a:chExt cx="3123913" cy="198025"/>
          </a:xfrm>
        </p:grpSpPr>
        <p:sp>
          <p:nvSpPr>
            <p:cNvPr id="39" name="TextBox 39"/>
            <p:cNvSpPr txBox="1"/>
            <p:nvPr/>
          </p:nvSpPr>
          <p:spPr>
            <a:xfrm>
              <a:off x="452056" y="3262551"/>
              <a:ext cx="3123913" cy="198025"/>
            </a:xfrm>
            <a:prstGeom prst="rect">
              <a:avLst/>
            </a:prstGeom>
            <a:noFill/>
            <a:ln>
              <a:noFill/>
            </a:ln>
          </p:spPr>
          <p:txBody>
            <a:bodyPr wrap="none" lIns="0" tIns="0" rIns="0" bIns="0" anchor="t" anchorCtr="0">
              <a:spAutoFit/>
            </a:bodyPr>
            <a:lstStyle/>
            <a:p>
              <a:pPr algn="l"/>
              <a:r>
                <a:rPr lang="zh-CN" sz="1010" dirty="0">
                  <a:solidFill>
                    <a:srgbClr val="573F3A"/>
                  </a:solidFill>
                  <a:latin typeface="+mn-lt"/>
                  <a:ea typeface="+mn-ea"/>
                  <a:cs typeface="+mn-cs"/>
                </a:rPr>
                <a:t>场景牵引</a:t>
              </a:r>
              <a:r>
                <a:rPr lang="zh-CN" sz="1010" dirty="0">
                  <a:solidFill>
                    <a:srgbClr val="ECB3A8"/>
                  </a:solidFill>
                  <a:latin typeface="+mn-lt"/>
                  <a:ea typeface="+mn-ea"/>
                  <a:cs typeface="+mn-cs"/>
                </a:rPr>
                <a:t xml:space="preserve">　|　</a:t>
              </a:r>
              <a:r>
                <a:rPr lang="zh-CN" sz="1010" dirty="0">
                  <a:solidFill>
                    <a:srgbClr val="573F3A"/>
                  </a:solidFill>
                  <a:latin typeface="+mn-lt"/>
                  <a:ea typeface="+mn-ea"/>
                  <a:cs typeface="+mn-cs"/>
                </a:rPr>
                <a:t>数据贯通</a:t>
              </a:r>
              <a:r>
                <a:rPr lang="zh-CN" sz="1010" dirty="0">
                  <a:solidFill>
                    <a:srgbClr val="ECB3A8"/>
                  </a:solidFill>
                  <a:latin typeface="+mn-lt"/>
                  <a:ea typeface="+mn-ea"/>
                  <a:cs typeface="+mn-cs"/>
                </a:rPr>
                <a:t xml:space="preserve">　|　</a:t>
              </a:r>
              <a:r>
                <a:rPr lang="zh-CN" sz="1010" dirty="0">
                  <a:solidFill>
                    <a:srgbClr val="573F3A"/>
                  </a:solidFill>
                  <a:latin typeface="+mn-lt"/>
                  <a:ea typeface="+mn-ea"/>
                  <a:cs typeface="+mn-cs"/>
                </a:rPr>
                <a:t>产业协同</a:t>
              </a:r>
              <a:r>
                <a:rPr lang="zh-CN" sz="1010" dirty="0">
                  <a:solidFill>
                    <a:srgbClr val="ECB3A8"/>
                  </a:solidFill>
                  <a:latin typeface="+mn-lt"/>
                  <a:ea typeface="+mn-ea"/>
                  <a:cs typeface="+mn-cs"/>
                </a:rPr>
                <a:t xml:space="preserve">　|　</a:t>
              </a:r>
              <a:r>
                <a:rPr lang="zh-CN" sz="1010" dirty="0">
                  <a:solidFill>
                    <a:srgbClr val="573F3A"/>
                  </a:solidFill>
                  <a:latin typeface="+mn-lt"/>
                  <a:ea typeface="+mn-ea"/>
                  <a:cs typeface="+mn-cs"/>
                </a:rPr>
                <a:t>价值落地</a:t>
              </a:r>
            </a:p>
          </p:txBody>
        </p:sp>
      </p:grpSp>
      <p:grpSp>
        <p:nvGrpSpPr>
          <p:cNvPr id="48" name="right-quote"/>
          <p:cNvGrpSpPr/>
          <p:nvPr/>
        </p:nvGrpSpPr>
        <p:grpSpPr>
          <a:xfrm>
            <a:off x="9144000" y="994410"/>
            <a:ext cx="2535111" cy="1094660"/>
            <a:chOff x="9144000" y="994410"/>
            <a:chExt cx="2535111" cy="1094660"/>
          </a:xfrm>
        </p:grpSpPr>
        <p:sp>
          <p:nvSpPr>
            <p:cNvPr id="41" name="TextBox 41"/>
            <p:cNvSpPr txBox="1"/>
            <p:nvPr/>
          </p:nvSpPr>
          <p:spPr>
            <a:xfrm>
              <a:off x="10198608" y="994410"/>
              <a:ext cx="1466088" cy="234696"/>
            </a:xfrm>
            <a:prstGeom prst="rect">
              <a:avLst/>
            </a:prstGeom>
            <a:noFill/>
            <a:ln>
              <a:noFill/>
            </a:ln>
          </p:spPr>
          <p:txBody>
            <a:bodyPr wrap="none" lIns="0" tIns="0" rIns="0" bIns="0" anchor="t" anchorCtr="0">
              <a:spAutoFit/>
            </a:bodyPr>
            <a:lstStyle/>
            <a:p>
              <a:pPr algn="r"/>
              <a:r>
                <a:rPr lang="zh-CN" sz="1200" i="1" dirty="0">
                  <a:solidFill>
                    <a:srgbClr val="5E2114"/>
                  </a:solidFill>
                  <a:latin typeface="+mn-lt"/>
                  <a:ea typeface="+mn-ea"/>
                  <a:cs typeface="+mn-cs"/>
                </a:rPr>
                <a:t>在真实的产业场景中</a:t>
              </a:r>
            </a:p>
          </p:txBody>
        </p:sp>
        <p:sp>
          <p:nvSpPr>
            <p:cNvPr id="42" name="TextBox 42"/>
            <p:cNvSpPr txBox="1"/>
            <p:nvPr/>
          </p:nvSpPr>
          <p:spPr>
            <a:xfrm>
              <a:off x="9713976" y="1223010"/>
              <a:ext cx="1950720" cy="234696"/>
            </a:xfrm>
            <a:prstGeom prst="rect">
              <a:avLst/>
            </a:prstGeom>
            <a:noFill/>
            <a:ln>
              <a:noFill/>
            </a:ln>
          </p:spPr>
          <p:txBody>
            <a:bodyPr wrap="none" lIns="0" tIns="0" rIns="0" bIns="0" anchor="t" anchorCtr="0">
              <a:spAutoFit/>
            </a:bodyPr>
            <a:lstStyle/>
            <a:p>
              <a:pPr algn="r"/>
              <a:r>
                <a:rPr lang="zh-CN" sz="1200" i="1" dirty="0">
                  <a:solidFill>
                    <a:srgbClr val="5E2114"/>
                  </a:solidFill>
                  <a:latin typeface="+mn-lt"/>
                  <a:ea typeface="+mn-ea"/>
                  <a:cs typeface="+mn-cs"/>
                </a:rPr>
                <a:t>让创新产生看得见的生产力</a:t>
              </a:r>
            </a:p>
          </p:txBody>
        </p:sp>
        <p:sp>
          <p:nvSpPr>
            <p:cNvPr id="43" name="Line 43"/>
            <p:cNvSpPr/>
            <p:nvPr/>
          </p:nvSpPr>
          <p:spPr>
            <a:xfrm>
              <a:off x="9144000" y="1504950"/>
              <a:ext cx="285750" cy="9525"/>
            </a:xfrm>
            <a:custGeom>
              <a:avLst/>
              <a:gdLst/>
              <a:ahLst/>
              <a:cxnLst/>
              <a:rect l="l" t="t" r="r" b="b"/>
              <a:pathLst>
                <a:path w="285750" h="9525">
                  <a:moveTo>
                    <a:pt x="0" y="0"/>
                  </a:moveTo>
                  <a:lnTo>
                    <a:pt x="285750" y="0"/>
                  </a:lnTo>
                </a:path>
              </a:pathLst>
            </a:custGeom>
            <a:noFill/>
            <a:ln w="11430">
              <a:solidFill>
                <a:srgbClr val="9C331E"/>
              </a:solidFill>
            </a:ln>
          </p:spPr>
        </p:sp>
        <p:sp>
          <p:nvSpPr>
            <p:cNvPr id="44" name="TextBox 44"/>
            <p:cNvSpPr txBox="1"/>
            <p:nvPr/>
          </p:nvSpPr>
          <p:spPr>
            <a:xfrm>
              <a:off x="10377640" y="1458039"/>
              <a:ext cx="1285723" cy="154781"/>
            </a:xfrm>
            <a:prstGeom prst="rect">
              <a:avLst/>
            </a:prstGeom>
            <a:noFill/>
            <a:ln>
              <a:noFill/>
            </a:ln>
          </p:spPr>
          <p:txBody>
            <a:bodyPr wrap="none" lIns="0" tIns="0" rIns="0" bIns="0" anchor="t" anchorCtr="0">
              <a:spAutoFit/>
            </a:bodyPr>
            <a:lstStyle/>
            <a:p>
              <a:pPr algn="r"/>
              <a:r>
                <a:rPr lang="zh-CN" sz="790" dirty="0">
                  <a:solidFill>
                    <a:srgbClr val="573F3A"/>
                  </a:solidFill>
                  <a:latin typeface="+mn-lt"/>
                  <a:ea typeface="+mn-ea"/>
                  <a:cs typeface="+mn-cs"/>
                </a:rPr>
                <a:t>以国资之力　共建美好未来</a:t>
              </a:r>
            </a:p>
          </p:txBody>
        </p:sp>
        <p:sp>
          <p:nvSpPr>
            <p:cNvPr id="45" name="Line 45"/>
            <p:cNvSpPr/>
            <p:nvPr/>
          </p:nvSpPr>
          <p:spPr>
            <a:xfrm>
              <a:off x="10515600" y="1676400"/>
              <a:ext cx="9525" cy="400050"/>
            </a:xfrm>
            <a:custGeom>
              <a:avLst/>
              <a:gdLst/>
              <a:ahLst/>
              <a:cxnLst/>
              <a:rect l="l" t="t" r="r" b="b"/>
              <a:pathLst>
                <a:path w="9525" h="400050">
                  <a:moveTo>
                    <a:pt x="0" y="0"/>
                  </a:moveTo>
                  <a:lnTo>
                    <a:pt x="0" y="400050"/>
                  </a:lnTo>
                </a:path>
              </a:pathLst>
            </a:custGeom>
            <a:noFill/>
            <a:ln w="11430">
              <a:solidFill>
                <a:srgbClr val="9C331E"/>
              </a:solidFill>
            </a:ln>
          </p:spPr>
        </p:sp>
        <p:sp>
          <p:nvSpPr>
            <p:cNvPr id="46" name="TextBox 46"/>
            <p:cNvSpPr txBox="1"/>
            <p:nvPr/>
          </p:nvSpPr>
          <p:spPr>
            <a:xfrm>
              <a:off x="10606088" y="1754743"/>
              <a:ext cx="472618"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国资央企</a:t>
              </a:r>
            </a:p>
          </p:txBody>
        </p:sp>
        <p:sp>
          <p:nvSpPr>
            <p:cNvPr id="47" name="TextBox 47"/>
            <p:cNvSpPr txBox="1"/>
            <p:nvPr/>
          </p:nvSpPr>
          <p:spPr>
            <a:xfrm>
              <a:off x="10606088" y="1934289"/>
              <a:ext cx="1073023" cy="154781"/>
            </a:xfrm>
            <a:prstGeom prst="rect">
              <a:avLst/>
            </a:prstGeom>
            <a:noFill/>
            <a:ln>
              <a:noFill/>
            </a:ln>
          </p:spPr>
          <p:txBody>
            <a:bodyPr wrap="none" lIns="0" tIns="0" rIns="0" bIns="0" anchor="t" anchorCtr="0">
              <a:spAutoFit/>
            </a:bodyPr>
            <a:lstStyle/>
            <a:p>
              <a:pPr algn="l"/>
              <a:r>
                <a:rPr lang="zh-CN" sz="790" dirty="0">
                  <a:solidFill>
                    <a:srgbClr val="573F3A"/>
                  </a:solidFill>
                  <a:latin typeface="+mn-lt"/>
                  <a:ea typeface="+mn-ea"/>
                  <a:cs typeface="+mn-cs"/>
                </a:rPr>
                <a:t>加快建设世界一流企业</a:t>
              </a:r>
            </a:p>
          </p:txBody>
        </p:sp>
      </p:grpSp>
      <p:grpSp>
        <p:nvGrpSpPr>
          <p:cNvPr id="62" name="scene-labels"/>
          <p:cNvGrpSpPr/>
          <p:nvPr/>
        </p:nvGrpSpPr>
        <p:grpSpPr>
          <a:xfrm>
            <a:off x="2109788" y="4337447"/>
            <a:ext cx="9670517" cy="1515571"/>
            <a:chOff x="2109788" y="4337447"/>
            <a:chExt cx="9670517" cy="1515571"/>
          </a:xfrm>
        </p:grpSpPr>
        <p:sp>
          <p:nvSpPr>
            <p:cNvPr id="49" name="TextBox 49"/>
            <p:cNvSpPr txBox="1"/>
            <p:nvPr/>
          </p:nvSpPr>
          <p:spPr>
            <a:xfrm>
              <a:off x="2109788" y="548044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电力电网</a:t>
              </a:r>
            </a:p>
          </p:txBody>
        </p:sp>
        <p:sp>
          <p:nvSpPr>
            <p:cNvPr id="50" name="TextBox 50"/>
            <p:cNvSpPr txBox="1"/>
            <p:nvPr/>
          </p:nvSpPr>
          <p:spPr>
            <a:xfrm>
              <a:off x="2109788" y="5657136"/>
              <a:ext cx="58300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点亮美好生活</a:t>
              </a:r>
            </a:p>
          </p:txBody>
        </p:sp>
        <p:sp>
          <p:nvSpPr>
            <p:cNvPr id="51" name="TextBox 51"/>
            <p:cNvSpPr txBox="1"/>
            <p:nvPr/>
          </p:nvSpPr>
          <p:spPr>
            <a:xfrm>
              <a:off x="4090988" y="548044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钢铁冶金</a:t>
              </a:r>
            </a:p>
          </p:txBody>
        </p:sp>
        <p:sp>
          <p:nvSpPr>
            <p:cNvPr id="52" name="TextBox 52"/>
            <p:cNvSpPr txBox="1"/>
            <p:nvPr/>
          </p:nvSpPr>
          <p:spPr>
            <a:xfrm>
              <a:off x="4090988" y="5657136"/>
              <a:ext cx="58300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铸造强国基石</a:t>
              </a:r>
            </a:p>
          </p:txBody>
        </p:sp>
        <p:sp>
          <p:nvSpPr>
            <p:cNvPr id="53" name="TextBox 53"/>
            <p:cNvSpPr txBox="1"/>
            <p:nvPr/>
          </p:nvSpPr>
          <p:spPr>
            <a:xfrm>
              <a:off x="7043738" y="509944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船舶海工</a:t>
              </a:r>
            </a:p>
          </p:txBody>
        </p:sp>
        <p:sp>
          <p:nvSpPr>
            <p:cNvPr id="54" name="TextBox 54"/>
            <p:cNvSpPr txBox="1"/>
            <p:nvPr/>
          </p:nvSpPr>
          <p:spPr>
            <a:xfrm>
              <a:off x="7043738" y="5276136"/>
              <a:ext cx="58300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驶向深蓝世界</a:t>
              </a:r>
            </a:p>
          </p:txBody>
        </p:sp>
        <p:sp>
          <p:nvSpPr>
            <p:cNvPr id="55" name="TextBox 55"/>
            <p:cNvSpPr txBox="1"/>
            <p:nvPr/>
          </p:nvSpPr>
          <p:spPr>
            <a:xfrm>
              <a:off x="8224838" y="500419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轨道交通</a:t>
              </a:r>
            </a:p>
          </p:txBody>
        </p:sp>
        <p:sp>
          <p:nvSpPr>
            <p:cNvPr id="56" name="TextBox 56"/>
            <p:cNvSpPr txBox="1"/>
            <p:nvPr/>
          </p:nvSpPr>
          <p:spPr>
            <a:xfrm>
              <a:off x="8224838" y="5180886"/>
              <a:ext cx="58300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连接美好未来</a:t>
              </a:r>
            </a:p>
          </p:txBody>
        </p:sp>
        <p:sp>
          <p:nvSpPr>
            <p:cNvPr id="57" name="TextBox 57"/>
            <p:cNvSpPr txBox="1"/>
            <p:nvPr/>
          </p:nvSpPr>
          <p:spPr>
            <a:xfrm>
              <a:off x="9386888" y="469939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数据中心</a:t>
              </a:r>
            </a:p>
          </p:txBody>
        </p:sp>
        <p:sp>
          <p:nvSpPr>
            <p:cNvPr id="58" name="TextBox 58"/>
            <p:cNvSpPr txBox="1"/>
            <p:nvPr/>
          </p:nvSpPr>
          <p:spPr>
            <a:xfrm>
              <a:off x="9386888" y="4876086"/>
              <a:ext cx="58300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夯实数字底座</a:t>
              </a:r>
            </a:p>
          </p:txBody>
        </p:sp>
        <p:sp>
          <p:nvSpPr>
            <p:cNvPr id="59" name="TextBox 59"/>
            <p:cNvSpPr txBox="1"/>
            <p:nvPr/>
          </p:nvSpPr>
          <p:spPr>
            <a:xfrm>
              <a:off x="11006138" y="433744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医疗健康</a:t>
              </a:r>
            </a:p>
          </p:txBody>
        </p:sp>
        <p:sp>
          <p:nvSpPr>
            <p:cNvPr id="60" name="TextBox 60"/>
            <p:cNvSpPr txBox="1"/>
            <p:nvPr/>
          </p:nvSpPr>
          <p:spPr>
            <a:xfrm>
              <a:off x="11006138" y="4514136"/>
              <a:ext cx="77416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守护人民生命健康</a:t>
              </a:r>
            </a:p>
          </p:txBody>
        </p:sp>
        <p:sp>
          <p:nvSpPr>
            <p:cNvPr id="61" name="TextBox 61"/>
            <p:cNvSpPr txBox="1"/>
            <p:nvPr/>
          </p:nvSpPr>
          <p:spPr>
            <a:xfrm>
              <a:off x="9646996" y="5544979"/>
              <a:ext cx="2038655" cy="308039"/>
            </a:xfrm>
            <a:prstGeom prst="rect">
              <a:avLst/>
            </a:prstGeom>
            <a:noFill/>
            <a:ln>
              <a:noFill/>
            </a:ln>
          </p:spPr>
          <p:txBody>
            <a:bodyPr wrap="none" lIns="0" tIns="0" rIns="0" bIns="0" anchor="t" anchorCtr="0">
              <a:spAutoFit/>
            </a:bodyPr>
            <a:lstStyle/>
            <a:p>
              <a:pPr algn="r"/>
              <a:r>
                <a:rPr lang="zh-CN" sz="1580" b="1" i="1" dirty="0">
                  <a:solidFill>
                    <a:srgbClr val="5E2114"/>
                  </a:solidFill>
                  <a:latin typeface="+mj-lt"/>
                  <a:ea typeface="+mj-ea"/>
                  <a:cs typeface="+mj-cs"/>
                </a:rPr>
                <a:t>产业向实　智启未来</a:t>
              </a:r>
            </a:p>
          </p:txBody>
        </p:sp>
      </p:grpSp>
      <p:grpSp>
        <p:nvGrpSpPr>
          <p:cNvPr id="91" name="bottom-icon-band"/>
          <p:cNvGrpSpPr/>
          <p:nvPr/>
        </p:nvGrpSpPr>
        <p:grpSpPr>
          <a:xfrm>
            <a:off x="507206" y="5943600"/>
            <a:ext cx="4382739" cy="327184"/>
            <a:chOff x="507206" y="5943600"/>
            <a:chExt cx="4382739" cy="327184"/>
          </a:xfrm>
        </p:grpSpPr>
        <p:grpSp>
          <p:nvGrpSpPr>
            <p:cNvPr id="66" name="Group 66"/>
            <p:cNvGrpSpPr/>
            <p:nvPr/>
          </p:nvGrpSpPr>
          <p:grpSpPr>
            <a:xfrm>
              <a:off x="507206" y="6003925"/>
              <a:ext cx="185737" cy="165099"/>
              <a:chOff x="507206" y="6003925"/>
              <a:chExt cx="185737" cy="165099"/>
            </a:xfrm>
          </p:grpSpPr>
          <p:sp>
            <p:nvSpPr>
              <p:cNvPr id="63" name="Freeform 63"/>
              <p:cNvSpPr/>
              <p:nvPr/>
            </p:nvSpPr>
            <p:spPr>
              <a:xfrm>
                <a:off x="507206" y="6003925"/>
                <a:ext cx="92868" cy="82550"/>
              </a:xfrm>
              <a:custGeom>
                <a:avLst/>
                <a:gdLst/>
                <a:ahLst/>
                <a:cxnLst/>
                <a:rect l="l" t="t" r="r" b="b"/>
                <a:pathLst>
                  <a:path w="92868" h="82550">
                    <a:moveTo>
                      <a:pt x="92868" y="61912"/>
                    </a:moveTo>
                    <a:cubicBezTo>
                      <a:pt x="92868" y="27719"/>
                      <a:pt x="65149" y="0"/>
                      <a:pt x="30956" y="0"/>
                    </a:cubicBezTo>
                    <a:lnTo>
                      <a:pt x="0" y="0"/>
                    </a:lnTo>
                    <a:lnTo>
                      <a:pt x="0" y="20637"/>
                    </a:lnTo>
                    <a:cubicBezTo>
                      <a:pt x="0" y="54831"/>
                      <a:pt x="27719" y="82550"/>
                      <a:pt x="61912" y="82550"/>
                    </a:cubicBezTo>
                    <a:lnTo>
                      <a:pt x="92868" y="82550"/>
                    </a:lnTo>
                  </a:path>
                </a:pathLst>
              </a:custGeom>
              <a:noFill/>
              <a:ln w="20637">
                <a:solidFill>
                  <a:srgbClr val="9C331E"/>
                </a:solidFill>
              </a:ln>
            </p:spPr>
          </p:sp>
          <p:sp>
            <p:nvSpPr>
              <p:cNvPr id="64" name="Freeform 64"/>
              <p:cNvSpPr/>
              <p:nvPr/>
            </p:nvSpPr>
            <p:spPr>
              <a:xfrm>
                <a:off x="600075" y="6045200"/>
                <a:ext cx="92868" cy="72231"/>
              </a:xfrm>
              <a:custGeom>
                <a:avLst/>
                <a:gdLst/>
                <a:ahLst/>
                <a:cxnLst/>
                <a:rect l="l" t="t" r="r" b="b"/>
                <a:pathLst>
                  <a:path w="92868" h="72231">
                    <a:moveTo>
                      <a:pt x="0" y="61912"/>
                    </a:moveTo>
                    <a:cubicBezTo>
                      <a:pt x="0" y="27719"/>
                      <a:pt x="27719" y="0"/>
                      <a:pt x="61912" y="0"/>
                    </a:cubicBezTo>
                    <a:lnTo>
                      <a:pt x="92868" y="0"/>
                    </a:lnTo>
                    <a:lnTo>
                      <a:pt x="92868" y="10319"/>
                    </a:lnTo>
                    <a:cubicBezTo>
                      <a:pt x="92868" y="44512"/>
                      <a:pt x="65149" y="72231"/>
                      <a:pt x="30956" y="72231"/>
                    </a:cubicBezTo>
                    <a:lnTo>
                      <a:pt x="0" y="72231"/>
                    </a:lnTo>
                  </a:path>
                </a:pathLst>
              </a:custGeom>
              <a:noFill/>
              <a:ln w="20637">
                <a:solidFill>
                  <a:srgbClr val="9C331E"/>
                </a:solidFill>
              </a:ln>
            </p:spPr>
          </p:sp>
          <p:sp>
            <p:nvSpPr>
              <p:cNvPr id="65" name="Freeform 65"/>
              <p:cNvSpPr/>
              <p:nvPr/>
            </p:nvSpPr>
            <p:spPr>
              <a:xfrm>
                <a:off x="600075" y="6065837"/>
                <a:ext cx="9525" cy="103187"/>
              </a:xfrm>
              <a:custGeom>
                <a:avLst/>
                <a:gdLst/>
                <a:ahLst/>
                <a:cxnLst/>
                <a:rect l="l" t="t" r="r" b="b"/>
                <a:pathLst>
                  <a:path w="9525" h="103187">
                    <a:moveTo>
                      <a:pt x="0" y="103187"/>
                    </a:moveTo>
                    <a:lnTo>
                      <a:pt x="0" y="0"/>
                    </a:lnTo>
                  </a:path>
                </a:pathLst>
              </a:custGeom>
              <a:noFill/>
              <a:ln w="20637">
                <a:solidFill>
                  <a:srgbClr val="9C331E"/>
                </a:solidFill>
              </a:ln>
            </p:spPr>
          </p:sp>
        </p:grpSp>
        <p:sp>
          <p:nvSpPr>
            <p:cNvPr id="67" name="TextBox 67"/>
            <p:cNvSpPr txBox="1"/>
            <p:nvPr/>
          </p:nvSpPr>
          <p:spPr>
            <a:xfrm>
              <a:off x="795338" y="59607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更高效率</a:t>
              </a:r>
            </a:p>
          </p:txBody>
        </p:sp>
        <p:sp>
          <p:nvSpPr>
            <p:cNvPr id="68" name="TextBox 68"/>
            <p:cNvSpPr txBox="1"/>
            <p:nvPr/>
          </p:nvSpPr>
          <p:spPr>
            <a:xfrm>
              <a:off x="795338" y="6137434"/>
              <a:ext cx="403486" cy="133350"/>
            </a:xfrm>
            <a:prstGeom prst="rect">
              <a:avLst/>
            </a:prstGeom>
            <a:noFill/>
            <a:ln>
              <a:noFill/>
            </a:ln>
          </p:spPr>
          <p:txBody>
            <a:bodyPr wrap="none" lIns="0" tIns="0" rIns="0" bIns="0" anchor="t" anchorCtr="0">
              <a:spAutoFit/>
            </a:bodyPr>
            <a:lstStyle/>
            <a:p>
              <a:pPr algn="l"/>
              <a:r>
                <a:rPr lang="en-US" sz="680" dirty="0">
                  <a:solidFill>
                    <a:srgbClr val="9B807A"/>
                  </a:solidFill>
                  <a:latin typeface="Arial"/>
                  <a:ea typeface="Arial"/>
                  <a:cs typeface="Arial"/>
                </a:rPr>
                <a:t>Efficiency</a:t>
              </a:r>
            </a:p>
          </p:txBody>
        </p:sp>
        <p:sp>
          <p:nvSpPr>
            <p:cNvPr id="69" name="Line 69"/>
            <p:cNvSpPr/>
            <p:nvPr/>
          </p:nvSpPr>
          <p:spPr>
            <a:xfrm>
              <a:off x="1562100" y="5943600"/>
              <a:ext cx="9525" cy="304800"/>
            </a:xfrm>
            <a:custGeom>
              <a:avLst/>
              <a:gdLst/>
              <a:ahLst/>
              <a:cxnLst/>
              <a:rect l="l" t="t" r="r" b="b"/>
              <a:pathLst>
                <a:path w="9525" h="304800">
                  <a:moveTo>
                    <a:pt x="0" y="0"/>
                  </a:moveTo>
                  <a:lnTo>
                    <a:pt x="0" y="304800"/>
                  </a:lnTo>
                </a:path>
              </a:pathLst>
            </a:custGeom>
            <a:noFill/>
            <a:ln w="9525">
              <a:solidFill>
                <a:srgbClr val="C7D9F0"/>
              </a:solidFill>
            </a:ln>
          </p:spPr>
        </p:sp>
        <p:grpSp>
          <p:nvGrpSpPr>
            <p:cNvPr id="72" name="Group 72"/>
            <p:cNvGrpSpPr/>
            <p:nvPr/>
          </p:nvGrpSpPr>
          <p:grpSpPr>
            <a:xfrm>
              <a:off x="1702826" y="5989076"/>
              <a:ext cx="194797" cy="194797"/>
              <a:chOff x="1702826" y="5989076"/>
              <a:chExt cx="194797" cy="194797"/>
            </a:xfrm>
          </p:grpSpPr>
          <p:sp>
            <p:nvSpPr>
              <p:cNvPr id="70" name="Freeform 70"/>
              <p:cNvSpPr/>
              <p:nvPr/>
            </p:nvSpPr>
            <p:spPr>
              <a:xfrm>
                <a:off x="1702826" y="5989076"/>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9C331E"/>
                </a:solidFill>
              </a:ln>
            </p:spPr>
          </p:sp>
          <p:sp>
            <p:nvSpPr>
              <p:cNvPr id="71" name="Freeform 71"/>
              <p:cNvSpPr/>
              <p:nvPr/>
            </p:nvSpPr>
            <p:spPr>
              <a:xfrm>
                <a:off x="1769268" y="6055518"/>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9C331E"/>
                </a:solidFill>
              </a:ln>
            </p:spPr>
          </p:sp>
        </p:grpSp>
        <p:sp>
          <p:nvSpPr>
            <p:cNvPr id="73" name="TextBox 73"/>
            <p:cNvSpPr txBox="1"/>
            <p:nvPr/>
          </p:nvSpPr>
          <p:spPr>
            <a:xfrm>
              <a:off x="1995488" y="59607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更优质量</a:t>
              </a:r>
            </a:p>
          </p:txBody>
        </p:sp>
        <p:sp>
          <p:nvSpPr>
            <p:cNvPr id="74" name="TextBox 74"/>
            <p:cNvSpPr txBox="1"/>
            <p:nvPr/>
          </p:nvSpPr>
          <p:spPr>
            <a:xfrm>
              <a:off x="1995488" y="6137434"/>
              <a:ext cx="296743" cy="133350"/>
            </a:xfrm>
            <a:prstGeom prst="rect">
              <a:avLst/>
            </a:prstGeom>
            <a:noFill/>
            <a:ln>
              <a:noFill/>
            </a:ln>
          </p:spPr>
          <p:txBody>
            <a:bodyPr wrap="none" lIns="0" tIns="0" rIns="0" bIns="0" anchor="t" anchorCtr="0">
              <a:spAutoFit/>
            </a:bodyPr>
            <a:lstStyle/>
            <a:p>
              <a:pPr algn="l"/>
              <a:r>
                <a:rPr lang="en-US" sz="680" dirty="0">
                  <a:solidFill>
                    <a:srgbClr val="9B807A"/>
                  </a:solidFill>
                  <a:latin typeface="Arial"/>
                  <a:ea typeface="Arial"/>
                  <a:cs typeface="Arial"/>
                </a:rPr>
                <a:t>Quality</a:t>
              </a:r>
            </a:p>
          </p:txBody>
        </p:sp>
        <p:sp>
          <p:nvSpPr>
            <p:cNvPr id="75" name="Line 75"/>
            <p:cNvSpPr/>
            <p:nvPr/>
          </p:nvSpPr>
          <p:spPr>
            <a:xfrm>
              <a:off x="2762250" y="5943600"/>
              <a:ext cx="9525" cy="304800"/>
            </a:xfrm>
            <a:custGeom>
              <a:avLst/>
              <a:gdLst/>
              <a:ahLst/>
              <a:cxnLst/>
              <a:rect l="l" t="t" r="r" b="b"/>
              <a:pathLst>
                <a:path w="9525" h="304800">
                  <a:moveTo>
                    <a:pt x="0" y="0"/>
                  </a:moveTo>
                  <a:lnTo>
                    <a:pt x="0" y="304800"/>
                  </a:lnTo>
                </a:path>
              </a:pathLst>
            </a:custGeom>
            <a:noFill/>
            <a:ln w="9525">
              <a:solidFill>
                <a:srgbClr val="C7D9F0"/>
              </a:solidFill>
            </a:ln>
          </p:spPr>
        </p:sp>
        <p:grpSp>
          <p:nvGrpSpPr>
            <p:cNvPr id="80" name="Group 80"/>
            <p:cNvGrpSpPr/>
            <p:nvPr/>
          </p:nvGrpSpPr>
          <p:grpSpPr>
            <a:xfrm>
              <a:off x="2907506" y="6003925"/>
              <a:ext cx="185737" cy="174624"/>
              <a:chOff x="2907506" y="6003925"/>
              <a:chExt cx="185737" cy="174624"/>
            </a:xfrm>
          </p:grpSpPr>
          <p:sp>
            <p:nvSpPr>
              <p:cNvPr id="76" name="Freeform 76"/>
              <p:cNvSpPr/>
              <p:nvPr/>
            </p:nvSpPr>
            <p:spPr>
              <a:xfrm>
                <a:off x="2907506" y="608647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9C331E"/>
                </a:solidFill>
              </a:ln>
            </p:spPr>
          </p:sp>
          <p:sp>
            <p:nvSpPr>
              <p:cNvPr id="77" name="Freeform 77"/>
              <p:cNvSpPr/>
              <p:nvPr/>
            </p:nvSpPr>
            <p:spPr>
              <a:xfrm>
                <a:off x="3031331" y="604520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9C331E"/>
                </a:solidFill>
              </a:ln>
            </p:spPr>
          </p:sp>
          <p:sp>
            <p:nvSpPr>
              <p:cNvPr id="78" name="Freeform 78"/>
              <p:cNvSpPr/>
              <p:nvPr/>
            </p:nvSpPr>
            <p:spPr>
              <a:xfrm>
                <a:off x="2969418" y="600392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9C331E"/>
                </a:solidFill>
              </a:ln>
            </p:spPr>
          </p:sp>
          <p:sp>
            <p:nvSpPr>
              <p:cNvPr id="79" name="Freeform 79"/>
              <p:cNvSpPr/>
              <p:nvPr/>
            </p:nvSpPr>
            <p:spPr>
              <a:xfrm>
                <a:off x="2917825" y="6169024"/>
                <a:ext cx="144462" cy="9525"/>
              </a:xfrm>
              <a:custGeom>
                <a:avLst/>
                <a:gdLst/>
                <a:ahLst/>
                <a:cxnLst/>
                <a:rect l="l" t="t" r="r" b="b"/>
                <a:pathLst>
                  <a:path w="144462" h="9525">
                    <a:moveTo>
                      <a:pt x="0" y="0"/>
                    </a:moveTo>
                    <a:lnTo>
                      <a:pt x="144462" y="0"/>
                    </a:lnTo>
                  </a:path>
                </a:pathLst>
              </a:custGeom>
              <a:noFill/>
              <a:ln w="20637">
                <a:solidFill>
                  <a:srgbClr val="9C331E"/>
                </a:solidFill>
              </a:ln>
            </p:spPr>
          </p:sp>
        </p:grpSp>
        <p:sp>
          <p:nvSpPr>
            <p:cNvPr id="81" name="TextBox 81"/>
            <p:cNvSpPr txBox="1"/>
            <p:nvPr/>
          </p:nvSpPr>
          <p:spPr>
            <a:xfrm>
              <a:off x="3195638" y="59607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更强韧性</a:t>
              </a:r>
            </a:p>
          </p:txBody>
        </p:sp>
        <p:sp>
          <p:nvSpPr>
            <p:cNvPr id="82" name="TextBox 82"/>
            <p:cNvSpPr txBox="1"/>
            <p:nvPr/>
          </p:nvSpPr>
          <p:spPr>
            <a:xfrm>
              <a:off x="3195638" y="6137434"/>
              <a:ext cx="434252" cy="133350"/>
            </a:xfrm>
            <a:prstGeom prst="rect">
              <a:avLst/>
            </a:prstGeom>
            <a:noFill/>
            <a:ln>
              <a:noFill/>
            </a:ln>
          </p:spPr>
          <p:txBody>
            <a:bodyPr wrap="none" lIns="0" tIns="0" rIns="0" bIns="0" anchor="t" anchorCtr="0">
              <a:spAutoFit/>
            </a:bodyPr>
            <a:lstStyle/>
            <a:p>
              <a:pPr algn="l"/>
              <a:r>
                <a:rPr lang="en-US" sz="680" dirty="0">
                  <a:solidFill>
                    <a:srgbClr val="9B807A"/>
                  </a:solidFill>
                  <a:latin typeface="Arial"/>
                  <a:ea typeface="Arial"/>
                  <a:cs typeface="Arial"/>
                </a:rPr>
                <a:t>Resilience</a:t>
              </a:r>
            </a:p>
          </p:txBody>
        </p:sp>
        <p:sp>
          <p:nvSpPr>
            <p:cNvPr id="83" name="Line 83"/>
            <p:cNvSpPr/>
            <p:nvPr/>
          </p:nvSpPr>
          <p:spPr>
            <a:xfrm>
              <a:off x="3962400" y="5943600"/>
              <a:ext cx="9525" cy="304800"/>
            </a:xfrm>
            <a:custGeom>
              <a:avLst/>
              <a:gdLst/>
              <a:ahLst/>
              <a:cxnLst/>
              <a:rect l="l" t="t" r="r" b="b"/>
              <a:pathLst>
                <a:path w="9525" h="304800">
                  <a:moveTo>
                    <a:pt x="0" y="0"/>
                  </a:moveTo>
                  <a:lnTo>
                    <a:pt x="0" y="304800"/>
                  </a:lnTo>
                </a:path>
              </a:pathLst>
            </a:custGeom>
            <a:noFill/>
            <a:ln w="9525">
              <a:solidFill>
                <a:srgbClr val="C7D9F0"/>
              </a:solidFill>
            </a:ln>
          </p:spPr>
        </p:sp>
        <p:grpSp>
          <p:nvGrpSpPr>
            <p:cNvPr id="88" name="Group 88"/>
            <p:cNvGrpSpPr/>
            <p:nvPr/>
          </p:nvGrpSpPr>
          <p:grpSpPr>
            <a:xfrm>
              <a:off x="4107656" y="5993606"/>
              <a:ext cx="185737" cy="185738"/>
              <a:chOff x="4107656" y="5993606"/>
              <a:chExt cx="185737" cy="185738"/>
            </a:xfrm>
          </p:grpSpPr>
          <p:sp>
            <p:nvSpPr>
              <p:cNvPr id="84" name="Freeform 84"/>
              <p:cNvSpPr/>
              <p:nvPr/>
            </p:nvSpPr>
            <p:spPr>
              <a:xfrm>
                <a:off x="4128294" y="59936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C331E"/>
                </a:solidFill>
              </a:ln>
            </p:spPr>
          </p:sp>
          <p:sp>
            <p:nvSpPr>
              <p:cNvPr id="85" name="Freeform 85"/>
              <p:cNvSpPr/>
              <p:nvPr/>
            </p:nvSpPr>
            <p:spPr>
              <a:xfrm>
                <a:off x="4107656" y="611743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9C331E"/>
                </a:solidFill>
              </a:ln>
            </p:spPr>
          </p:sp>
          <p:sp>
            <p:nvSpPr>
              <p:cNvPr id="86" name="Freeform 86"/>
              <p:cNvSpPr/>
              <p:nvPr/>
            </p:nvSpPr>
            <p:spPr>
              <a:xfrm>
                <a:off x="4241799" y="599494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9C331E"/>
                </a:solidFill>
              </a:ln>
            </p:spPr>
          </p:sp>
          <p:sp>
            <p:nvSpPr>
              <p:cNvPr id="87" name="Freeform 87"/>
              <p:cNvSpPr/>
              <p:nvPr/>
            </p:nvSpPr>
            <p:spPr>
              <a:xfrm>
                <a:off x="4262437" y="611897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9C331E"/>
                </a:solidFill>
              </a:ln>
            </p:spPr>
          </p:sp>
        </p:grpSp>
        <p:sp>
          <p:nvSpPr>
            <p:cNvPr id="89" name="TextBox 89"/>
            <p:cNvSpPr txBox="1"/>
            <p:nvPr/>
          </p:nvSpPr>
          <p:spPr>
            <a:xfrm>
              <a:off x="4395788" y="59607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更好民生</a:t>
              </a:r>
            </a:p>
          </p:txBody>
        </p:sp>
        <p:sp>
          <p:nvSpPr>
            <p:cNvPr id="90" name="TextBox 90"/>
            <p:cNvSpPr txBox="1"/>
            <p:nvPr/>
          </p:nvSpPr>
          <p:spPr>
            <a:xfrm>
              <a:off x="4395788" y="6137434"/>
              <a:ext cx="297275" cy="133350"/>
            </a:xfrm>
            <a:prstGeom prst="rect">
              <a:avLst/>
            </a:prstGeom>
            <a:noFill/>
            <a:ln>
              <a:noFill/>
            </a:ln>
          </p:spPr>
          <p:txBody>
            <a:bodyPr wrap="none" lIns="0" tIns="0" rIns="0" bIns="0" anchor="t" anchorCtr="0">
              <a:spAutoFit/>
            </a:bodyPr>
            <a:lstStyle/>
            <a:p>
              <a:pPr algn="l"/>
              <a:r>
                <a:rPr lang="en-US" sz="680" dirty="0">
                  <a:solidFill>
                    <a:srgbClr val="9B807A"/>
                  </a:solidFill>
                  <a:latin typeface="Arial"/>
                  <a:ea typeface="Arial"/>
                  <a:cs typeface="Arial"/>
                </a:rPr>
                <a:t>People</a:t>
              </a:r>
            </a:p>
          </p:txBody>
        </p:sp>
      </p:grpSp>
      <p:grpSp>
        <p:nvGrpSpPr>
          <p:cNvPr id="95" name="footer"/>
          <p:cNvGrpSpPr/>
          <p:nvPr/>
        </p:nvGrpSpPr>
        <p:grpSpPr>
          <a:xfrm>
            <a:off x="0" y="6705600"/>
            <a:ext cx="12192000" cy="173117"/>
            <a:chOff x="0" y="6705600"/>
            <a:chExt cx="12192000" cy="173117"/>
          </a:xfrm>
        </p:grpSpPr>
        <p:sp>
          <p:nvSpPr>
            <p:cNvPr id="92" name="Rectangle 92"/>
            <p:cNvSpPr/>
            <p:nvPr/>
          </p:nvSpPr>
          <p:spPr>
            <a:xfrm>
              <a:off x="0" y="6705600"/>
              <a:ext cx="12192000" cy="152400"/>
            </a:xfrm>
            <a:prstGeom prst="rect">
              <a:avLst/>
            </a:prstGeom>
            <a:solidFill>
              <a:srgbClr val="632012"/>
            </a:solidFill>
            <a:ln>
              <a:noFill/>
            </a:ln>
          </p:spPr>
        </p:sp>
        <p:sp>
          <p:nvSpPr>
            <p:cNvPr id="93" name="TextBox 93"/>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94" name="TextBox 94"/>
            <p:cNvSpPr txBox="1"/>
            <p:nvPr/>
          </p:nvSpPr>
          <p:spPr>
            <a:xfrm>
              <a:off x="11567038" y="6738223"/>
              <a:ext cx="248724" cy="140494"/>
            </a:xfrm>
            <a:prstGeom prst="rect">
              <a:avLst/>
            </a:prstGeom>
            <a:noFill/>
            <a:ln>
              <a:noFill/>
            </a:ln>
          </p:spPr>
          <p:txBody>
            <a:bodyPr wrap="none" lIns="0" tIns="0" rIns="0" bIns="0" anchor="t" anchorCtr="0">
              <a:spAutoFit/>
            </a:bodyPr>
            <a:lstStyle/>
            <a:p>
              <a:pPr algn="r"/>
              <a:r>
                <a:rPr lang="zh-CN" sz="710" dirty="0">
                  <a:solidFill>
                    <a:srgbClr val="FFFFFF"/>
                  </a:solidFill>
                  <a:latin typeface="Arial"/>
                  <a:ea typeface="Arial"/>
                  <a:cs typeface="Arial"/>
                </a:rPr>
                <a:t>01/20</a:t>
              </a:r>
            </a:p>
          </p:txBody>
        </p:sp>
      </p:gr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mountains"/>
          <p:cNvSpPr/>
          <p:nvPr/>
        </p:nvSpPr>
        <p:spPr>
          <a:xfrm>
            <a:off x="0" y="5848350"/>
            <a:ext cx="12192000" cy="857250"/>
          </a:xfrm>
          <a:custGeom>
            <a:avLst/>
            <a:gdLst/>
            <a:ahLst/>
            <a:cxnLst/>
            <a:rect l="l" t="t" r="r" b="b"/>
            <a:pathLst>
              <a:path w="12192000" h="857250">
                <a:moveTo>
                  <a:pt x="0" y="438150"/>
                </a:moveTo>
                <a:lnTo>
                  <a:pt x="1524000" y="76200"/>
                </a:lnTo>
                <a:lnTo>
                  <a:pt x="2857500" y="323850"/>
                </a:lnTo>
                <a:lnTo>
                  <a:pt x="4191000" y="0"/>
                </a:lnTo>
                <a:lnTo>
                  <a:pt x="5715000" y="342900"/>
                </a:lnTo>
                <a:lnTo>
                  <a:pt x="7239000" y="57150"/>
                </a:lnTo>
                <a:lnTo>
                  <a:pt x="8572500" y="304800"/>
                </a:lnTo>
                <a:lnTo>
                  <a:pt x="9906000" y="19050"/>
                </a:lnTo>
                <a:lnTo>
                  <a:pt x="11239500" y="285750"/>
                </a:lnTo>
                <a:lnTo>
                  <a:pt x="12192000" y="114300"/>
                </a:lnTo>
                <a:lnTo>
                  <a:pt x="12192000" y="857250"/>
                </a:lnTo>
                <a:lnTo>
                  <a:pt x="0" y="857250"/>
                </a:lnTo>
                <a:close/>
              </a:path>
            </a:pathLst>
          </a:custGeom>
          <a:solidFill>
            <a:srgbClr val="DCE9F8"/>
          </a:solidFill>
          <a:ln>
            <a:noFill/>
          </a:ln>
        </p:spPr>
      </p:sp>
      <p:sp>
        <p:nvSpPr>
          <p:cNvPr id="3" name="deco-mountains-2"/>
          <p:cNvSpPr/>
          <p:nvPr/>
        </p:nvSpPr>
        <p:spPr>
          <a:xfrm>
            <a:off x="0" y="6134100"/>
            <a:ext cx="12192000" cy="571500"/>
          </a:xfrm>
          <a:custGeom>
            <a:avLst/>
            <a:gdLst/>
            <a:ahLst/>
            <a:cxnLst/>
            <a:rect l="l" t="t" r="r" b="b"/>
            <a:pathLst>
              <a:path w="12192000" h="571500">
                <a:moveTo>
                  <a:pt x="0" y="342900"/>
                </a:moveTo>
                <a:lnTo>
                  <a:pt x="1905000" y="76200"/>
                </a:lnTo>
                <a:lnTo>
                  <a:pt x="3619500" y="266700"/>
                </a:lnTo>
                <a:lnTo>
                  <a:pt x="5334000" y="0"/>
                </a:lnTo>
                <a:lnTo>
                  <a:pt x="6858000" y="247650"/>
                </a:lnTo>
                <a:lnTo>
                  <a:pt x="8572500" y="57150"/>
                </a:lnTo>
                <a:lnTo>
                  <a:pt x="10287000" y="266700"/>
                </a:lnTo>
                <a:lnTo>
                  <a:pt x="12192000" y="114300"/>
                </a:lnTo>
                <a:lnTo>
                  <a:pt x="12192000" y="571500"/>
                </a:lnTo>
                <a:lnTo>
                  <a:pt x="0" y="571500"/>
                </a:lnTo>
                <a:close/>
              </a:path>
            </a:pathLst>
          </a:custGeom>
          <a:solidFill>
            <a:srgbClr val="C7D9F0"/>
          </a:solidFill>
          <a:ln>
            <a:noFill/>
          </a:ln>
        </p:spPr>
      </p:sp>
      <p:grpSp>
        <p:nvGrpSpPr>
          <p:cNvPr id="11" name="header"/>
          <p:cNvGrpSpPr/>
          <p:nvPr/>
        </p:nvGrpSpPr>
        <p:grpSpPr>
          <a:xfrm>
            <a:off x="0" y="0"/>
            <a:ext cx="11739562" cy="542925"/>
            <a:chOff x="0" y="0"/>
            <a:chExt cx="11739562" cy="542925"/>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5" name="TextBox 5"/>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02</a:t>
              </a:r>
            </a:p>
          </p:txBody>
        </p:sp>
        <p:sp>
          <p:nvSpPr>
            <p:cNvPr id="6" name="TextBox 6"/>
            <p:cNvSpPr txBox="1"/>
            <p:nvPr/>
          </p:nvSpPr>
          <p:spPr>
            <a:xfrm>
              <a:off x="942594" y="151448"/>
              <a:ext cx="5012436"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事件全景</a:t>
              </a:r>
              <a:r>
                <a:rPr lang="zh-CN" sz="1950" b="1" dirty="0">
                  <a:solidFill>
                    <a:srgbClr val="5E2114"/>
                  </a:solidFill>
                  <a:latin typeface="+mj-lt"/>
                  <a:ea typeface="+mj-ea"/>
                  <a:cs typeface="+mj-cs"/>
                </a:rPr>
                <a:t>｜百项场景进入体系化推进阶段</a:t>
              </a:r>
            </a:p>
          </p:txBody>
        </p:sp>
        <p:sp>
          <p:nvSpPr>
            <p:cNvPr id="7" name="Line 7"/>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8" name="TextBox 8"/>
            <p:cNvSpPr txBox="1"/>
            <p:nvPr/>
          </p:nvSpPr>
          <p:spPr>
            <a:xfrm>
              <a:off x="11156556" y="113586"/>
              <a:ext cx="583006"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以实干创价值</a:t>
              </a:r>
            </a:p>
          </p:txBody>
        </p:sp>
        <p:sp>
          <p:nvSpPr>
            <p:cNvPr id="9" name="TextBox 9"/>
            <p:cNvSpPr txBox="1"/>
            <p:nvPr/>
          </p:nvSpPr>
          <p:spPr>
            <a:xfrm>
              <a:off x="11156556" y="246936"/>
              <a:ext cx="583006"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以协同促发展</a:t>
              </a:r>
            </a:p>
          </p:txBody>
        </p:sp>
        <p:sp>
          <p:nvSpPr>
            <p:cNvPr id="10" name="TextBox 10"/>
            <p:cNvSpPr txBox="1"/>
            <p:nvPr/>
          </p:nvSpPr>
          <p:spPr>
            <a:xfrm>
              <a:off x="11156556" y="380286"/>
              <a:ext cx="583006"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以场景赢未来</a:t>
              </a:r>
            </a:p>
          </p:txBody>
        </p:sp>
      </p:grpSp>
      <p:grpSp>
        <p:nvGrpSpPr>
          <p:cNvPr id="13" name="subtitle"/>
          <p:cNvGrpSpPr/>
          <p:nvPr/>
        </p:nvGrpSpPr>
        <p:grpSpPr>
          <a:xfrm>
            <a:off x="985266" y="667702"/>
            <a:ext cx="5806059" cy="205359"/>
            <a:chOff x="985266" y="667702"/>
            <a:chExt cx="5806059" cy="205359"/>
          </a:xfrm>
        </p:grpSpPr>
        <p:sp>
          <p:nvSpPr>
            <p:cNvPr id="12" name="TextBox 12"/>
            <p:cNvSpPr txBox="1"/>
            <p:nvPr/>
          </p:nvSpPr>
          <p:spPr>
            <a:xfrm>
              <a:off x="985266" y="667702"/>
              <a:ext cx="5806059" cy="205359"/>
            </a:xfrm>
            <a:prstGeom prst="rect">
              <a:avLst/>
            </a:prstGeom>
            <a:noFill/>
            <a:ln>
              <a:noFill/>
            </a:ln>
          </p:spPr>
          <p:txBody>
            <a:bodyPr wrap="none" lIns="0" tIns="0" rIns="0" bIns="0" anchor="t" anchorCtr="0">
              <a:spAutoFit/>
            </a:bodyPr>
            <a:lstStyle/>
            <a:p>
              <a:pPr algn="l"/>
              <a:r>
                <a:rPr lang="zh-CN" sz="1050" dirty="0">
                  <a:solidFill>
                    <a:srgbClr val="9C331E"/>
                  </a:solidFill>
                  <a:latin typeface="+mn-lt"/>
                  <a:ea typeface="+mn-ea"/>
                  <a:cs typeface="+mn-cs"/>
                </a:rPr>
                <a:t>以场景为牵引、以数据为基座、以生态为支撑，推动关键能力融入主业、服务实体、创造价值</a:t>
              </a:r>
            </a:p>
          </p:txBody>
        </p:sp>
      </p:grpSp>
      <p:grpSp>
        <p:nvGrpSpPr>
          <p:cNvPr id="49" name="left-progress"/>
          <p:cNvGrpSpPr/>
          <p:nvPr/>
        </p:nvGrpSpPr>
        <p:grpSpPr>
          <a:xfrm>
            <a:off x="381000" y="952500"/>
            <a:ext cx="3619500" cy="2781300"/>
            <a:chOff x="381000" y="952500"/>
            <a:chExt cx="3619500" cy="2781300"/>
          </a:xfrm>
        </p:grpSpPr>
        <p:sp>
          <p:nvSpPr>
            <p:cNvPr id="14" name="Rectangle 14"/>
            <p:cNvSpPr/>
            <p:nvPr/>
          </p:nvSpPr>
          <p:spPr>
            <a:xfrm>
              <a:off x="381000" y="952500"/>
              <a:ext cx="3619500" cy="247650"/>
            </a:xfrm>
            <a:prstGeom prst="roundRect">
              <a:avLst>
                <a:gd name="adj" fmla="val 15385"/>
              </a:avLst>
            </a:prstGeom>
            <a:gradFill>
              <a:gsLst>
                <a:gs pos="0">
                  <a:srgbClr val="6F2516"/>
                </a:gs>
                <a:gs pos="100000">
                  <a:srgbClr val="D64A2E"/>
                </a:gs>
              </a:gsLst>
              <a:lin ang="0" scaled="1"/>
            </a:gradFill>
            <a:ln>
              <a:noFill/>
            </a:ln>
          </p:spPr>
        </p:sp>
        <p:sp>
          <p:nvSpPr>
            <p:cNvPr id="15" name="TextBox 15"/>
            <p:cNvSpPr txBox="1"/>
            <p:nvPr/>
          </p:nvSpPr>
          <p:spPr>
            <a:xfrm>
              <a:off x="489966" y="101060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关键进展</a:t>
              </a:r>
            </a:p>
          </p:txBody>
        </p:sp>
        <p:sp>
          <p:nvSpPr>
            <p:cNvPr id="16" name="Line 16"/>
            <p:cNvSpPr/>
            <p:nvPr/>
          </p:nvSpPr>
          <p:spPr>
            <a:xfrm>
              <a:off x="609600" y="1333500"/>
              <a:ext cx="9525" cy="2400300"/>
            </a:xfrm>
            <a:custGeom>
              <a:avLst/>
              <a:gdLst/>
              <a:ahLst/>
              <a:cxnLst/>
              <a:rect l="l" t="t" r="r" b="b"/>
              <a:pathLst>
                <a:path w="9525" h="2400300">
                  <a:moveTo>
                    <a:pt x="0" y="0"/>
                  </a:moveTo>
                  <a:lnTo>
                    <a:pt x="0" y="2400300"/>
                  </a:lnTo>
                </a:path>
              </a:pathLst>
            </a:custGeom>
            <a:noFill/>
            <a:ln w="19050">
              <a:solidFill>
                <a:srgbClr val="ECB3A8"/>
              </a:solidFill>
            </a:ln>
          </p:spPr>
        </p:sp>
        <p:sp>
          <p:nvSpPr>
            <p:cNvPr id="17" name="Ellipse 17"/>
            <p:cNvSpPr/>
            <p:nvPr/>
          </p:nvSpPr>
          <p:spPr>
            <a:xfrm>
              <a:off x="457200" y="1409700"/>
              <a:ext cx="304800" cy="304800"/>
            </a:xfrm>
            <a:prstGeom prst="ellipse">
              <a:avLst/>
            </a:prstGeom>
            <a:solidFill>
              <a:srgbClr val="9C331E"/>
            </a:solidFill>
            <a:ln>
              <a:noFill/>
            </a:ln>
          </p:spPr>
        </p:sp>
        <p:grpSp>
          <p:nvGrpSpPr>
            <p:cNvPr id="23" name="Group 23"/>
            <p:cNvGrpSpPr/>
            <p:nvPr/>
          </p:nvGrpSpPr>
          <p:grpSpPr>
            <a:xfrm>
              <a:off x="559594" y="1497806"/>
              <a:ext cx="100013" cy="128588"/>
              <a:chOff x="559594" y="1497806"/>
              <a:chExt cx="100013" cy="128588"/>
            </a:xfrm>
          </p:grpSpPr>
          <p:sp>
            <p:nvSpPr>
              <p:cNvPr id="18" name="Freeform 18"/>
              <p:cNvSpPr/>
              <p:nvPr/>
            </p:nvSpPr>
            <p:spPr>
              <a:xfrm>
                <a:off x="623888" y="149780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19" name="Freeform 19"/>
              <p:cNvSpPr/>
              <p:nvPr/>
            </p:nvSpPr>
            <p:spPr>
              <a:xfrm>
                <a:off x="559594" y="149780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20" name="Freeform 20"/>
              <p:cNvSpPr/>
              <p:nvPr/>
            </p:nvSpPr>
            <p:spPr>
              <a:xfrm>
                <a:off x="588169" y="1540669"/>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21" name="Freeform 21"/>
              <p:cNvSpPr/>
              <p:nvPr/>
            </p:nvSpPr>
            <p:spPr>
              <a:xfrm>
                <a:off x="588169" y="1569244"/>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22" name="Freeform 22"/>
              <p:cNvSpPr/>
              <p:nvPr/>
            </p:nvSpPr>
            <p:spPr>
              <a:xfrm>
                <a:off x="588169" y="1597819"/>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24" name="TextBox 24"/>
            <p:cNvSpPr txBox="1"/>
            <p:nvPr/>
          </p:nvSpPr>
          <p:spPr>
            <a:xfrm>
              <a:off x="871156" y="1433751"/>
              <a:ext cx="1454248"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2025年7月：首批40项​</a:t>
              </a:r>
            </a:p>
          </p:txBody>
        </p:sp>
        <p:sp>
          <p:nvSpPr>
            <p:cNvPr id="25" name="TextBox 25"/>
            <p:cNvSpPr txBox="1"/>
            <p:nvPr/>
          </p:nvSpPr>
          <p:spPr>
            <a:xfrm>
              <a:off x="871538" y="1629489"/>
              <a:ext cx="1179373" cy="154781"/>
            </a:xfrm>
            <a:prstGeom prst="rect">
              <a:avLst/>
            </a:prstGeom>
            <a:noFill/>
            <a:ln>
              <a:noFill/>
            </a:ln>
          </p:spPr>
          <p:txBody>
            <a:bodyPr wrap="none" lIns="0" tIns="0" rIns="0" bIns="0" anchor="t" anchorCtr="0">
              <a:spAutoFit/>
            </a:bodyPr>
            <a:lstStyle/>
            <a:p>
              <a:pPr algn="l"/>
              <a:r>
                <a:rPr lang="zh-CN" sz="790" dirty="0">
                  <a:solidFill>
                    <a:srgbClr val="573F3A"/>
                  </a:solidFill>
                  <a:latin typeface="+mn-lt"/>
                  <a:ea typeface="+mn-ea"/>
                  <a:cs typeface="+mn-cs"/>
                </a:rPr>
                <a:t>聚焦重点领域，先行先试</a:t>
              </a:r>
            </a:p>
          </p:txBody>
        </p:sp>
        <p:sp>
          <p:nvSpPr>
            <p:cNvPr id="26" name="Ellipse 26"/>
            <p:cNvSpPr/>
            <p:nvPr/>
          </p:nvSpPr>
          <p:spPr>
            <a:xfrm>
              <a:off x="457200" y="2038350"/>
              <a:ext cx="304800" cy="304800"/>
            </a:xfrm>
            <a:prstGeom prst="ellipse">
              <a:avLst/>
            </a:prstGeom>
            <a:solidFill>
              <a:srgbClr val="9C331E"/>
            </a:solidFill>
            <a:ln>
              <a:noFill/>
            </a:ln>
          </p:spPr>
        </p:sp>
        <p:grpSp>
          <p:nvGrpSpPr>
            <p:cNvPr id="32" name="Group 32"/>
            <p:cNvGrpSpPr/>
            <p:nvPr/>
          </p:nvGrpSpPr>
          <p:grpSpPr>
            <a:xfrm>
              <a:off x="559594" y="2126456"/>
              <a:ext cx="100013" cy="128588"/>
              <a:chOff x="559594" y="2126456"/>
              <a:chExt cx="100013" cy="128588"/>
            </a:xfrm>
          </p:grpSpPr>
          <p:sp>
            <p:nvSpPr>
              <p:cNvPr id="27" name="Freeform 27"/>
              <p:cNvSpPr/>
              <p:nvPr/>
            </p:nvSpPr>
            <p:spPr>
              <a:xfrm>
                <a:off x="623888" y="212645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28" name="Freeform 28"/>
              <p:cNvSpPr/>
              <p:nvPr/>
            </p:nvSpPr>
            <p:spPr>
              <a:xfrm>
                <a:off x="559594" y="212645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29" name="Freeform 29"/>
              <p:cNvSpPr/>
              <p:nvPr/>
            </p:nvSpPr>
            <p:spPr>
              <a:xfrm>
                <a:off x="588169" y="2169319"/>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30" name="Freeform 30"/>
              <p:cNvSpPr/>
              <p:nvPr/>
            </p:nvSpPr>
            <p:spPr>
              <a:xfrm>
                <a:off x="588169" y="2197894"/>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31" name="Freeform 31"/>
              <p:cNvSpPr/>
              <p:nvPr/>
            </p:nvSpPr>
            <p:spPr>
              <a:xfrm>
                <a:off x="588169" y="2226469"/>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33" name="TextBox 33"/>
            <p:cNvSpPr txBox="1"/>
            <p:nvPr/>
          </p:nvSpPr>
          <p:spPr>
            <a:xfrm>
              <a:off x="871156" y="2062401"/>
              <a:ext cx="1590214"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2026年7月：第二批60项​</a:t>
              </a:r>
            </a:p>
          </p:txBody>
        </p:sp>
        <p:sp>
          <p:nvSpPr>
            <p:cNvPr id="34" name="TextBox 34"/>
            <p:cNvSpPr txBox="1"/>
            <p:nvPr/>
          </p:nvSpPr>
          <p:spPr>
            <a:xfrm>
              <a:off x="871538" y="2258139"/>
              <a:ext cx="1392072" cy="154781"/>
            </a:xfrm>
            <a:prstGeom prst="rect">
              <a:avLst/>
            </a:prstGeom>
            <a:noFill/>
            <a:ln>
              <a:noFill/>
            </a:ln>
          </p:spPr>
          <p:txBody>
            <a:bodyPr wrap="none" lIns="0" tIns="0" rIns="0" bIns="0" anchor="t" anchorCtr="0">
              <a:spAutoFit/>
            </a:bodyPr>
            <a:lstStyle/>
            <a:p>
              <a:pPr algn="l"/>
              <a:r>
                <a:rPr lang="zh-CN" sz="790" dirty="0">
                  <a:solidFill>
                    <a:srgbClr val="573F3A"/>
                  </a:solidFill>
                  <a:latin typeface="+mn-lt"/>
                  <a:ea typeface="+mn-ea"/>
                  <a:cs typeface="+mn-cs"/>
                </a:rPr>
                <a:t>拓展应用范围，深化融合落地</a:t>
              </a:r>
            </a:p>
          </p:txBody>
        </p:sp>
        <p:sp>
          <p:nvSpPr>
            <p:cNvPr id="35" name="Ellipse 35"/>
            <p:cNvSpPr/>
            <p:nvPr/>
          </p:nvSpPr>
          <p:spPr>
            <a:xfrm>
              <a:off x="457200" y="2667000"/>
              <a:ext cx="304800" cy="304800"/>
            </a:xfrm>
            <a:prstGeom prst="ellipse">
              <a:avLst/>
            </a:prstGeom>
            <a:solidFill>
              <a:srgbClr val="9C331E"/>
            </a:solidFill>
            <a:ln>
              <a:noFill/>
            </a:ln>
          </p:spPr>
        </p:sp>
        <p:grpSp>
          <p:nvGrpSpPr>
            <p:cNvPr id="39" name="Group 39"/>
            <p:cNvGrpSpPr/>
            <p:nvPr/>
          </p:nvGrpSpPr>
          <p:grpSpPr>
            <a:xfrm>
              <a:off x="552450" y="2762250"/>
              <a:ext cx="114300" cy="114300"/>
              <a:chOff x="552450" y="2762250"/>
              <a:chExt cx="114300" cy="114300"/>
            </a:xfrm>
          </p:grpSpPr>
          <p:sp>
            <p:nvSpPr>
              <p:cNvPr id="36" name="Freeform 36"/>
              <p:cNvSpPr/>
              <p:nvPr/>
            </p:nvSpPr>
            <p:spPr>
              <a:xfrm>
                <a:off x="552450" y="2762250"/>
                <a:ext cx="114300" cy="57150"/>
              </a:xfrm>
              <a:custGeom>
                <a:avLst/>
                <a:gdLst/>
                <a:ahLst/>
                <a:cxnLst/>
                <a:rect l="l" t="t" r="r" b="b"/>
                <a:pathLst>
                  <a:path w="114300" h="57150">
                    <a:moveTo>
                      <a:pt x="57150" y="0"/>
                    </a:moveTo>
                    <a:lnTo>
                      <a:pt x="0" y="28575"/>
                    </a:lnTo>
                    <a:lnTo>
                      <a:pt x="57150" y="57150"/>
                    </a:lnTo>
                    <a:lnTo>
                      <a:pt x="114300" y="28575"/>
                    </a:lnTo>
                    <a:lnTo>
                      <a:pt x="57150" y="0"/>
                    </a:lnTo>
                  </a:path>
                </a:pathLst>
              </a:custGeom>
              <a:noFill/>
              <a:ln w="14288">
                <a:solidFill>
                  <a:srgbClr val="FFFFFF"/>
                </a:solidFill>
              </a:ln>
            </p:spPr>
          </p:sp>
          <p:sp>
            <p:nvSpPr>
              <p:cNvPr id="37" name="Freeform 37"/>
              <p:cNvSpPr/>
              <p:nvPr/>
            </p:nvSpPr>
            <p:spPr>
              <a:xfrm>
                <a:off x="552450" y="2819400"/>
                <a:ext cx="114300" cy="28575"/>
              </a:xfrm>
              <a:custGeom>
                <a:avLst/>
                <a:gdLst/>
                <a:ahLst/>
                <a:cxnLst/>
                <a:rect l="l" t="t" r="r" b="b"/>
                <a:pathLst>
                  <a:path w="114300" h="28575">
                    <a:moveTo>
                      <a:pt x="0" y="0"/>
                    </a:moveTo>
                    <a:lnTo>
                      <a:pt x="57150" y="28575"/>
                    </a:lnTo>
                    <a:lnTo>
                      <a:pt x="114300" y="0"/>
                    </a:lnTo>
                  </a:path>
                </a:pathLst>
              </a:custGeom>
              <a:noFill/>
              <a:ln w="14288">
                <a:solidFill>
                  <a:srgbClr val="FFFFFF"/>
                </a:solidFill>
              </a:ln>
            </p:spPr>
          </p:sp>
          <p:sp>
            <p:nvSpPr>
              <p:cNvPr id="38" name="Freeform 38"/>
              <p:cNvSpPr/>
              <p:nvPr/>
            </p:nvSpPr>
            <p:spPr>
              <a:xfrm>
                <a:off x="552450" y="2847975"/>
                <a:ext cx="114300" cy="28575"/>
              </a:xfrm>
              <a:custGeom>
                <a:avLst/>
                <a:gdLst/>
                <a:ahLst/>
                <a:cxnLst/>
                <a:rect l="l" t="t" r="r" b="b"/>
                <a:pathLst>
                  <a:path w="114300" h="28575">
                    <a:moveTo>
                      <a:pt x="0" y="0"/>
                    </a:moveTo>
                    <a:lnTo>
                      <a:pt x="57150" y="28575"/>
                    </a:lnTo>
                    <a:lnTo>
                      <a:pt x="114300" y="0"/>
                    </a:lnTo>
                  </a:path>
                </a:pathLst>
              </a:custGeom>
              <a:noFill/>
              <a:ln w="14288">
                <a:solidFill>
                  <a:srgbClr val="FFFFFF"/>
                </a:solidFill>
              </a:ln>
            </p:spPr>
          </p:sp>
        </p:grpSp>
        <p:sp>
          <p:nvSpPr>
            <p:cNvPr id="40" name="TextBox 40"/>
            <p:cNvSpPr txBox="1"/>
            <p:nvPr/>
          </p:nvSpPr>
          <p:spPr>
            <a:xfrm>
              <a:off x="871156" y="2691051"/>
              <a:ext cx="1433173"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累计100项“百业智景”​</a:t>
              </a:r>
            </a:p>
          </p:txBody>
        </p:sp>
        <p:sp>
          <p:nvSpPr>
            <p:cNvPr id="41" name="TextBox 41"/>
            <p:cNvSpPr txBox="1"/>
            <p:nvPr/>
          </p:nvSpPr>
          <p:spPr>
            <a:xfrm>
              <a:off x="871538" y="2886789"/>
              <a:ext cx="1073023" cy="154781"/>
            </a:xfrm>
            <a:prstGeom prst="rect">
              <a:avLst/>
            </a:prstGeom>
            <a:noFill/>
            <a:ln>
              <a:noFill/>
            </a:ln>
          </p:spPr>
          <p:txBody>
            <a:bodyPr wrap="none" lIns="0" tIns="0" rIns="0" bIns="0" anchor="t" anchorCtr="0">
              <a:spAutoFit/>
            </a:bodyPr>
            <a:lstStyle/>
            <a:p>
              <a:pPr algn="l"/>
              <a:r>
                <a:rPr lang="zh-CN" sz="790" dirty="0">
                  <a:solidFill>
                    <a:srgbClr val="573F3A"/>
                  </a:solidFill>
                  <a:latin typeface="+mn-lt"/>
                  <a:ea typeface="+mn-ea"/>
                  <a:cs typeface="+mn-cs"/>
                </a:rPr>
                <a:t>多行业多场景协同推进</a:t>
              </a:r>
            </a:p>
          </p:txBody>
        </p:sp>
        <p:sp>
          <p:nvSpPr>
            <p:cNvPr id="42" name="Ellipse 42"/>
            <p:cNvSpPr/>
            <p:nvPr/>
          </p:nvSpPr>
          <p:spPr>
            <a:xfrm>
              <a:off x="457200" y="3295650"/>
              <a:ext cx="304800" cy="304800"/>
            </a:xfrm>
            <a:prstGeom prst="ellipse">
              <a:avLst/>
            </a:prstGeom>
            <a:solidFill>
              <a:srgbClr val="9C331E"/>
            </a:solidFill>
            <a:ln>
              <a:noFill/>
            </a:ln>
          </p:spPr>
        </p:sp>
        <p:grpSp>
          <p:nvGrpSpPr>
            <p:cNvPr id="46" name="Group 46"/>
            <p:cNvGrpSpPr/>
            <p:nvPr/>
          </p:nvGrpSpPr>
          <p:grpSpPr>
            <a:xfrm>
              <a:off x="552450" y="3383756"/>
              <a:ext cx="114300" cy="128588"/>
              <a:chOff x="552450" y="3383756"/>
              <a:chExt cx="114300" cy="128588"/>
            </a:xfrm>
          </p:grpSpPr>
          <p:sp>
            <p:nvSpPr>
              <p:cNvPr id="43" name="Freeform 43"/>
              <p:cNvSpPr/>
              <p:nvPr/>
            </p:nvSpPr>
            <p:spPr>
              <a:xfrm>
                <a:off x="552450" y="338375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44" name="Freeform 44"/>
              <p:cNvSpPr/>
              <p:nvPr/>
            </p:nvSpPr>
            <p:spPr>
              <a:xfrm>
                <a:off x="552450" y="340518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45" name="Freeform 45"/>
              <p:cNvSpPr/>
              <p:nvPr/>
            </p:nvSpPr>
            <p:spPr>
              <a:xfrm>
                <a:off x="552450" y="344805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sp>
          <p:nvSpPr>
            <p:cNvPr id="47" name="TextBox 47"/>
            <p:cNvSpPr txBox="1"/>
            <p:nvPr/>
          </p:nvSpPr>
          <p:spPr>
            <a:xfrm>
              <a:off x="871156" y="3319701"/>
              <a:ext cx="2013409"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同期发布70项行业高质量数据集​</a:t>
              </a:r>
            </a:p>
          </p:txBody>
        </p:sp>
        <p:sp>
          <p:nvSpPr>
            <p:cNvPr id="48" name="TextBox 48"/>
            <p:cNvSpPr txBox="1"/>
            <p:nvPr/>
          </p:nvSpPr>
          <p:spPr>
            <a:xfrm>
              <a:off x="871538" y="3515439"/>
              <a:ext cx="1392072" cy="154781"/>
            </a:xfrm>
            <a:prstGeom prst="rect">
              <a:avLst/>
            </a:prstGeom>
            <a:noFill/>
            <a:ln>
              <a:noFill/>
            </a:ln>
          </p:spPr>
          <p:txBody>
            <a:bodyPr wrap="none" lIns="0" tIns="0" rIns="0" bIns="0" anchor="t" anchorCtr="0">
              <a:spAutoFit/>
            </a:bodyPr>
            <a:lstStyle/>
            <a:p>
              <a:pPr algn="l"/>
              <a:r>
                <a:rPr lang="zh-CN" sz="790" dirty="0">
                  <a:solidFill>
                    <a:srgbClr val="573F3A"/>
                  </a:solidFill>
                  <a:latin typeface="+mn-lt"/>
                  <a:ea typeface="+mn-ea"/>
                  <a:cs typeface="+mn-cs"/>
                </a:rPr>
                <a:t>夯实数据底座，支撑场景创新</a:t>
              </a:r>
            </a:p>
          </p:txBody>
        </p:sp>
      </p:grpSp>
      <p:grpSp>
        <p:nvGrpSpPr>
          <p:cNvPr id="58" name="center-circle"/>
          <p:cNvGrpSpPr/>
          <p:nvPr/>
        </p:nvGrpSpPr>
        <p:grpSpPr>
          <a:xfrm>
            <a:off x="4543425" y="1200150"/>
            <a:ext cx="2762250" cy="2705100"/>
            <a:chOff x="4543425" y="1200150"/>
            <a:chExt cx="2762250" cy="2705100"/>
          </a:xfrm>
        </p:grpSpPr>
        <p:sp>
          <p:nvSpPr>
            <p:cNvPr id="50" name="Ellipse 50"/>
            <p:cNvSpPr/>
            <p:nvPr/>
          </p:nvSpPr>
          <p:spPr>
            <a:xfrm>
              <a:off x="4572000" y="1200150"/>
              <a:ext cx="2705100" cy="2705100"/>
            </a:xfrm>
            <a:prstGeom prst="ellipse">
              <a:avLst/>
            </a:prstGeom>
            <a:noFill/>
            <a:ln w="14288">
              <a:solidFill>
                <a:srgbClr val="ECB3A8"/>
              </a:solidFill>
              <a:prstDash val="dash"/>
            </a:ln>
          </p:spPr>
        </p:sp>
        <p:sp>
          <p:nvSpPr>
            <p:cNvPr id="51" name="Ellipse 51"/>
            <p:cNvSpPr/>
            <p:nvPr/>
          </p:nvSpPr>
          <p:spPr>
            <a:xfrm>
              <a:off x="4705350" y="1333500"/>
              <a:ext cx="2438400" cy="2438400"/>
            </a:xfrm>
            <a:prstGeom prst="ellipse">
              <a:avLst/>
            </a:prstGeom>
            <a:gradFill>
              <a:gsLst>
                <a:gs pos="0">
                  <a:srgbClr val="D64A2E"/>
                </a:gs>
                <a:gs pos="100000">
                  <a:srgbClr val="6F2516"/>
                </a:gs>
              </a:gsLst>
              <a:lin ang="5400000" scaled="1"/>
            </a:gradFill>
            <a:ln>
              <a:noFill/>
            </a:ln>
          </p:spPr>
        </p:sp>
        <p:sp>
          <p:nvSpPr>
            <p:cNvPr id="52" name="Freeform 52"/>
            <p:cNvSpPr/>
            <p:nvPr/>
          </p:nvSpPr>
          <p:spPr>
            <a:xfrm>
              <a:off x="4819650" y="2571750"/>
              <a:ext cx="2209800" cy="1199093"/>
            </a:xfrm>
            <a:custGeom>
              <a:avLst/>
              <a:gdLst/>
              <a:ahLst/>
              <a:cxnLst/>
              <a:rect l="l" t="t" r="r" b="b"/>
              <a:pathLst>
                <a:path w="2209800" h="1199093">
                  <a:moveTo>
                    <a:pt x="0" y="495300"/>
                  </a:moveTo>
                  <a:lnTo>
                    <a:pt x="133350" y="495300"/>
                  </a:lnTo>
                  <a:lnTo>
                    <a:pt x="133350" y="285750"/>
                  </a:lnTo>
                  <a:lnTo>
                    <a:pt x="285750" y="285750"/>
                  </a:lnTo>
                  <a:lnTo>
                    <a:pt x="285750" y="495300"/>
                  </a:lnTo>
                  <a:lnTo>
                    <a:pt x="438150" y="495300"/>
                  </a:lnTo>
                  <a:lnTo>
                    <a:pt x="438150" y="152400"/>
                  </a:lnTo>
                  <a:lnTo>
                    <a:pt x="571500" y="152400"/>
                  </a:lnTo>
                  <a:lnTo>
                    <a:pt x="571500" y="495300"/>
                  </a:lnTo>
                  <a:lnTo>
                    <a:pt x="723900" y="495300"/>
                  </a:lnTo>
                  <a:lnTo>
                    <a:pt x="723900" y="0"/>
                  </a:lnTo>
                  <a:lnTo>
                    <a:pt x="876300" y="0"/>
                  </a:lnTo>
                  <a:lnTo>
                    <a:pt x="876300" y="495300"/>
                  </a:lnTo>
                  <a:lnTo>
                    <a:pt x="1028700" y="495300"/>
                  </a:lnTo>
                  <a:lnTo>
                    <a:pt x="1028700" y="209550"/>
                  </a:lnTo>
                  <a:lnTo>
                    <a:pt x="1181100" y="209550"/>
                  </a:lnTo>
                  <a:lnTo>
                    <a:pt x="1181100" y="495300"/>
                  </a:lnTo>
                  <a:lnTo>
                    <a:pt x="1333500" y="495300"/>
                  </a:lnTo>
                  <a:lnTo>
                    <a:pt x="1333500" y="57150"/>
                  </a:lnTo>
                  <a:lnTo>
                    <a:pt x="1504950" y="57150"/>
                  </a:lnTo>
                  <a:lnTo>
                    <a:pt x="1504950" y="495300"/>
                  </a:lnTo>
                  <a:lnTo>
                    <a:pt x="1657350" y="495300"/>
                  </a:lnTo>
                  <a:lnTo>
                    <a:pt x="1657350" y="266700"/>
                  </a:lnTo>
                  <a:lnTo>
                    <a:pt x="1809750" y="266700"/>
                  </a:lnTo>
                  <a:lnTo>
                    <a:pt x="1809750" y="495300"/>
                  </a:lnTo>
                  <a:lnTo>
                    <a:pt x="1962150" y="495300"/>
                  </a:lnTo>
                  <a:lnTo>
                    <a:pt x="1962150" y="361950"/>
                  </a:lnTo>
                  <a:lnTo>
                    <a:pt x="2114550" y="361950"/>
                  </a:lnTo>
                  <a:lnTo>
                    <a:pt x="2114550" y="495300"/>
                  </a:lnTo>
                  <a:lnTo>
                    <a:pt x="2209800" y="495300"/>
                  </a:lnTo>
                  <a:cubicBezTo>
                    <a:pt x="2009522" y="924644"/>
                    <a:pt x="1578659" y="1199093"/>
                    <a:pt x="1104900" y="1199093"/>
                  </a:cubicBezTo>
                  <a:cubicBezTo>
                    <a:pt x="631141" y="1199093"/>
                    <a:pt x="200278" y="924644"/>
                    <a:pt x="0" y="495300"/>
                  </a:cubicBezTo>
                  <a:close/>
                </a:path>
              </a:pathLst>
            </a:custGeom>
            <a:solidFill>
              <a:srgbClr val="FFFFFF">
                <a:alpha val="22000"/>
              </a:srgbClr>
            </a:solidFill>
            <a:ln>
              <a:noFill/>
            </a:ln>
          </p:spPr>
        </p:sp>
        <p:sp>
          <p:nvSpPr>
            <p:cNvPr id="53" name="Ellipse 53"/>
            <p:cNvSpPr/>
            <p:nvPr/>
          </p:nvSpPr>
          <p:spPr>
            <a:xfrm>
              <a:off x="4543425" y="2505075"/>
              <a:ext cx="95250" cy="95250"/>
            </a:xfrm>
            <a:prstGeom prst="ellipse">
              <a:avLst/>
            </a:prstGeom>
            <a:solidFill>
              <a:srgbClr val="D64A2E"/>
            </a:solidFill>
            <a:ln>
              <a:noFill/>
            </a:ln>
          </p:spPr>
        </p:sp>
        <p:sp>
          <p:nvSpPr>
            <p:cNvPr id="54" name="Ellipse 54"/>
            <p:cNvSpPr/>
            <p:nvPr/>
          </p:nvSpPr>
          <p:spPr>
            <a:xfrm>
              <a:off x="7210425" y="2505075"/>
              <a:ext cx="95250" cy="95250"/>
            </a:xfrm>
            <a:prstGeom prst="ellipse">
              <a:avLst/>
            </a:prstGeom>
            <a:solidFill>
              <a:srgbClr val="D64A2E"/>
            </a:solidFill>
            <a:ln>
              <a:noFill/>
            </a:ln>
          </p:spPr>
        </p:sp>
        <p:sp>
          <p:nvSpPr>
            <p:cNvPr id="55" name="TextBox 55"/>
            <p:cNvSpPr txBox="1"/>
            <p:nvPr/>
          </p:nvSpPr>
          <p:spPr>
            <a:xfrm>
              <a:off x="5554218" y="2045018"/>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场景驱动</a:t>
              </a:r>
            </a:p>
          </p:txBody>
        </p:sp>
        <p:sp>
          <p:nvSpPr>
            <p:cNvPr id="56" name="TextBox 56"/>
            <p:cNvSpPr txBox="1"/>
            <p:nvPr/>
          </p:nvSpPr>
          <p:spPr>
            <a:xfrm>
              <a:off x="5554218" y="2311718"/>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产业焕新</a:t>
              </a:r>
            </a:p>
          </p:txBody>
        </p:sp>
        <p:sp>
          <p:nvSpPr>
            <p:cNvPr id="57" name="TextBox 57"/>
            <p:cNvSpPr txBox="1"/>
            <p:nvPr/>
          </p:nvSpPr>
          <p:spPr>
            <a:xfrm>
              <a:off x="5212461" y="2629852"/>
              <a:ext cx="142417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共建高质量发展新图景</a:t>
              </a:r>
            </a:p>
          </p:txBody>
        </p:sp>
      </p:grpSp>
      <p:grpSp>
        <p:nvGrpSpPr>
          <p:cNvPr id="82" name="right-eco"/>
          <p:cNvGrpSpPr/>
          <p:nvPr/>
        </p:nvGrpSpPr>
        <p:grpSpPr>
          <a:xfrm>
            <a:off x="7905750" y="952500"/>
            <a:ext cx="3905250" cy="2933700"/>
            <a:chOff x="7905750" y="952500"/>
            <a:chExt cx="3905250" cy="2933700"/>
          </a:xfrm>
        </p:grpSpPr>
        <p:sp>
          <p:nvSpPr>
            <p:cNvPr id="59" name="Rectangle 59"/>
            <p:cNvSpPr/>
            <p:nvPr/>
          </p:nvSpPr>
          <p:spPr>
            <a:xfrm>
              <a:off x="7905750" y="952500"/>
              <a:ext cx="3905250" cy="247650"/>
            </a:xfrm>
            <a:prstGeom prst="roundRect">
              <a:avLst>
                <a:gd name="adj" fmla="val 15385"/>
              </a:avLst>
            </a:prstGeom>
            <a:gradFill>
              <a:gsLst>
                <a:gs pos="0">
                  <a:srgbClr val="6F2516"/>
                </a:gs>
                <a:gs pos="100000">
                  <a:srgbClr val="D64A2E"/>
                </a:gs>
              </a:gsLst>
              <a:lin ang="0" scaled="1"/>
            </a:gradFill>
            <a:ln>
              <a:noFill/>
            </a:ln>
          </p:spPr>
        </p:sp>
        <p:sp>
          <p:nvSpPr>
            <p:cNvPr id="60" name="TextBox 60"/>
            <p:cNvSpPr txBox="1"/>
            <p:nvPr/>
          </p:nvSpPr>
          <p:spPr>
            <a:xfrm>
              <a:off x="8014716" y="1010602"/>
              <a:ext cx="1000125"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生态与基础设施</a:t>
              </a:r>
            </a:p>
          </p:txBody>
        </p:sp>
        <p:sp>
          <p:nvSpPr>
            <p:cNvPr id="61" name="Rectangle 61"/>
            <p:cNvSpPr/>
            <p:nvPr/>
          </p:nvSpPr>
          <p:spPr>
            <a:xfrm>
              <a:off x="7905750" y="1314450"/>
              <a:ext cx="3905250" cy="1219200"/>
            </a:xfrm>
            <a:prstGeom prst="roundRect">
              <a:avLst>
                <a:gd name="adj" fmla="val 6250"/>
              </a:avLst>
            </a:prstGeom>
            <a:solidFill>
              <a:srgbClr val="EFF5FC"/>
            </a:solidFill>
            <a:ln w="9525">
              <a:solidFill>
                <a:srgbClr val="C7D9F0"/>
              </a:solidFill>
            </a:ln>
          </p:spPr>
        </p:sp>
        <p:sp>
          <p:nvSpPr>
            <p:cNvPr id="62" name="Ellipse 62"/>
            <p:cNvSpPr/>
            <p:nvPr/>
          </p:nvSpPr>
          <p:spPr>
            <a:xfrm>
              <a:off x="8039100" y="1676400"/>
              <a:ext cx="495300" cy="495300"/>
            </a:xfrm>
            <a:prstGeom prst="ellipse">
              <a:avLst/>
            </a:prstGeom>
            <a:solidFill>
              <a:srgbClr val="9C331E"/>
            </a:solidFill>
            <a:ln>
              <a:noFill/>
            </a:ln>
          </p:spPr>
        </p:sp>
        <p:grpSp>
          <p:nvGrpSpPr>
            <p:cNvPr id="69" name="Group 69"/>
            <p:cNvGrpSpPr/>
            <p:nvPr/>
          </p:nvGrpSpPr>
          <p:grpSpPr>
            <a:xfrm>
              <a:off x="8186738" y="1824038"/>
              <a:ext cx="200025" cy="200026"/>
              <a:chOff x="8186738" y="1824038"/>
              <a:chExt cx="200025" cy="200026"/>
            </a:xfrm>
          </p:grpSpPr>
          <p:sp>
            <p:nvSpPr>
              <p:cNvPr id="63" name="Freeform 63"/>
              <p:cNvSpPr/>
              <p:nvPr/>
            </p:nvSpPr>
            <p:spPr>
              <a:xfrm>
                <a:off x="8264525" y="19129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64" name="Freeform 64"/>
              <p:cNvSpPr/>
              <p:nvPr/>
            </p:nvSpPr>
            <p:spPr>
              <a:xfrm>
                <a:off x="8242300" y="199072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FFFFFF"/>
                </a:solidFill>
              </a:ln>
            </p:spPr>
          </p:sp>
          <p:sp>
            <p:nvSpPr>
              <p:cNvPr id="65" name="Freeform 65"/>
              <p:cNvSpPr/>
              <p:nvPr/>
            </p:nvSpPr>
            <p:spPr>
              <a:xfrm>
                <a:off x="8320088" y="18240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66" name="Freeform 66"/>
              <p:cNvSpPr/>
              <p:nvPr/>
            </p:nvSpPr>
            <p:spPr>
              <a:xfrm>
                <a:off x="8342313" y="190182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FFFFFF"/>
                </a:solidFill>
              </a:ln>
            </p:spPr>
          </p:sp>
          <p:sp>
            <p:nvSpPr>
              <p:cNvPr id="67" name="Freeform 67"/>
              <p:cNvSpPr/>
              <p:nvPr/>
            </p:nvSpPr>
            <p:spPr>
              <a:xfrm>
                <a:off x="8208963" y="18240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68" name="Freeform 68"/>
              <p:cNvSpPr/>
              <p:nvPr/>
            </p:nvSpPr>
            <p:spPr>
              <a:xfrm>
                <a:off x="8186738" y="190182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FFFFFF"/>
                </a:solidFill>
              </a:ln>
            </p:spPr>
          </p:sp>
        </p:grpSp>
        <p:sp>
          <p:nvSpPr>
            <p:cNvPr id="70" name="TextBox 70"/>
            <p:cNvSpPr txBox="1"/>
            <p:nvPr/>
          </p:nvSpPr>
          <p:spPr>
            <a:xfrm>
              <a:off x="8662606" y="1738551"/>
              <a:ext cx="1569139"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开源“焕新社区”2.0上线​</a:t>
              </a:r>
            </a:p>
          </p:txBody>
        </p:sp>
        <p:sp>
          <p:nvSpPr>
            <p:cNvPr id="71" name="TextBox 71"/>
            <p:cNvSpPr txBox="1"/>
            <p:nvPr/>
          </p:nvSpPr>
          <p:spPr>
            <a:xfrm>
              <a:off x="8662988" y="1972389"/>
              <a:ext cx="141414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573F3A"/>
                  </a:solidFill>
                  <a:latin typeface="+mn-lt"/>
                  <a:ea typeface="+mn-ea"/>
                  <a:cs typeface="+mn-cs"/>
                </a:rPr>
                <a:t>汇聚产业力量，促进开放协同</a:t>
              </a:r>
              <a:br/>
              <a:r>
                <a:rPr lang="zh-CN" sz="790" dirty="0">
                  <a:solidFill>
                    <a:srgbClr val="573F3A"/>
                  </a:solidFill>
                  <a:latin typeface="+mn-lt"/>
                  <a:ea typeface="+mn-ea"/>
                  <a:cs typeface="+mn-cs"/>
                </a:rPr>
                <a:t>共建共享、持续迭代、繁荣生态</a:t>
              </a:r>
            </a:p>
          </p:txBody>
        </p:sp>
        <p:sp>
          <p:nvSpPr>
            <p:cNvPr id="72" name="Rectangle 72"/>
            <p:cNvSpPr/>
            <p:nvPr/>
          </p:nvSpPr>
          <p:spPr>
            <a:xfrm>
              <a:off x="7905750" y="2667000"/>
              <a:ext cx="3905250" cy="1219200"/>
            </a:xfrm>
            <a:prstGeom prst="roundRect">
              <a:avLst>
                <a:gd name="adj" fmla="val 6250"/>
              </a:avLst>
            </a:prstGeom>
            <a:solidFill>
              <a:srgbClr val="EFF5FC"/>
            </a:solidFill>
            <a:ln w="9525">
              <a:solidFill>
                <a:srgbClr val="C7D9F0"/>
              </a:solidFill>
            </a:ln>
          </p:spPr>
        </p:sp>
        <p:sp>
          <p:nvSpPr>
            <p:cNvPr id="73" name="Ellipse 73"/>
            <p:cNvSpPr/>
            <p:nvPr/>
          </p:nvSpPr>
          <p:spPr>
            <a:xfrm>
              <a:off x="8039100" y="3028950"/>
              <a:ext cx="495300" cy="495300"/>
            </a:xfrm>
            <a:prstGeom prst="ellipse">
              <a:avLst/>
            </a:prstGeom>
            <a:solidFill>
              <a:srgbClr val="9C331E"/>
            </a:solidFill>
            <a:ln>
              <a:noFill/>
            </a:ln>
          </p:spPr>
        </p:sp>
        <p:grpSp>
          <p:nvGrpSpPr>
            <p:cNvPr id="76" name="Group 76"/>
            <p:cNvGrpSpPr/>
            <p:nvPr/>
          </p:nvGrpSpPr>
          <p:grpSpPr>
            <a:xfrm>
              <a:off x="8181859" y="3171709"/>
              <a:ext cx="209782" cy="209782"/>
              <a:chOff x="8181859" y="3171709"/>
              <a:chExt cx="209782" cy="209782"/>
            </a:xfrm>
          </p:grpSpPr>
          <p:sp>
            <p:nvSpPr>
              <p:cNvPr id="74" name="Freeform 74"/>
              <p:cNvSpPr/>
              <p:nvPr/>
            </p:nvSpPr>
            <p:spPr>
              <a:xfrm>
                <a:off x="8181859" y="3171709"/>
                <a:ext cx="209782" cy="209782"/>
              </a:xfrm>
              <a:custGeom>
                <a:avLst/>
                <a:gdLst/>
                <a:ahLst/>
                <a:cxnLst/>
                <a:rect l="l" t="t" r="r" b="b"/>
                <a:pathLst>
                  <a:path w="209782" h="209782">
                    <a:moveTo>
                      <a:pt x="86278" y="19514"/>
                    </a:moveTo>
                    <a:cubicBezTo>
                      <a:pt x="91012" y="0"/>
                      <a:pt x="118771" y="0"/>
                      <a:pt x="123505" y="19514"/>
                    </a:cubicBezTo>
                    <a:cubicBezTo>
                      <a:pt x="124945" y="25459"/>
                      <a:pt x="129139" y="30360"/>
                      <a:pt x="134791" y="32701"/>
                    </a:cubicBezTo>
                    <a:cubicBezTo>
                      <a:pt x="140443" y="35043"/>
                      <a:pt x="146874" y="34544"/>
                      <a:pt x="152097" y="31360"/>
                    </a:cubicBezTo>
                    <a:cubicBezTo>
                      <a:pt x="169244" y="20914"/>
                      <a:pt x="188880" y="40539"/>
                      <a:pt x="178434" y="57696"/>
                    </a:cubicBezTo>
                    <a:cubicBezTo>
                      <a:pt x="175254" y="62918"/>
                      <a:pt x="174756" y="69343"/>
                      <a:pt x="177095" y="74992"/>
                    </a:cubicBezTo>
                    <a:cubicBezTo>
                      <a:pt x="179434" y="80640"/>
                      <a:pt x="184328" y="84833"/>
                      <a:pt x="190269" y="86278"/>
                    </a:cubicBezTo>
                    <a:cubicBezTo>
                      <a:pt x="209782" y="91012"/>
                      <a:pt x="209782" y="118771"/>
                      <a:pt x="190269" y="123505"/>
                    </a:cubicBezTo>
                    <a:cubicBezTo>
                      <a:pt x="184323" y="124945"/>
                      <a:pt x="179423" y="129139"/>
                      <a:pt x="177081" y="134791"/>
                    </a:cubicBezTo>
                    <a:cubicBezTo>
                      <a:pt x="174739" y="140443"/>
                      <a:pt x="175238" y="146874"/>
                      <a:pt x="178423" y="152097"/>
                    </a:cubicBezTo>
                    <a:cubicBezTo>
                      <a:pt x="188869" y="169244"/>
                      <a:pt x="169244" y="188880"/>
                      <a:pt x="152086" y="178434"/>
                    </a:cubicBezTo>
                    <a:cubicBezTo>
                      <a:pt x="146865" y="175254"/>
                      <a:pt x="140439" y="174756"/>
                      <a:pt x="134791" y="177095"/>
                    </a:cubicBezTo>
                    <a:cubicBezTo>
                      <a:pt x="129142" y="179434"/>
                      <a:pt x="124949" y="184328"/>
                      <a:pt x="123505" y="190269"/>
                    </a:cubicBezTo>
                    <a:cubicBezTo>
                      <a:pt x="118771" y="209782"/>
                      <a:pt x="91012" y="209782"/>
                      <a:pt x="86278" y="190269"/>
                    </a:cubicBezTo>
                    <a:cubicBezTo>
                      <a:pt x="84837" y="184323"/>
                      <a:pt x="80643" y="179423"/>
                      <a:pt x="74991" y="177081"/>
                    </a:cubicBezTo>
                    <a:cubicBezTo>
                      <a:pt x="69339" y="174739"/>
                      <a:pt x="62909" y="175238"/>
                      <a:pt x="57685" y="178423"/>
                    </a:cubicBezTo>
                    <a:cubicBezTo>
                      <a:pt x="40539" y="188869"/>
                      <a:pt x="20903" y="169244"/>
                      <a:pt x="31348" y="152086"/>
                    </a:cubicBezTo>
                    <a:cubicBezTo>
                      <a:pt x="34529" y="146865"/>
                      <a:pt x="35026" y="140439"/>
                      <a:pt x="32687" y="134791"/>
                    </a:cubicBezTo>
                    <a:cubicBezTo>
                      <a:pt x="30348" y="129142"/>
                      <a:pt x="25454" y="124949"/>
                      <a:pt x="19514" y="123505"/>
                    </a:cubicBezTo>
                    <a:cubicBezTo>
                      <a:pt x="0" y="118771"/>
                      <a:pt x="0" y="91012"/>
                      <a:pt x="19514" y="86278"/>
                    </a:cubicBezTo>
                    <a:cubicBezTo>
                      <a:pt x="25459" y="84837"/>
                      <a:pt x="30360" y="80643"/>
                      <a:pt x="32701" y="74991"/>
                    </a:cubicBezTo>
                    <a:cubicBezTo>
                      <a:pt x="35043" y="69339"/>
                      <a:pt x="34544" y="62909"/>
                      <a:pt x="31360" y="57685"/>
                    </a:cubicBezTo>
                    <a:cubicBezTo>
                      <a:pt x="20914" y="40539"/>
                      <a:pt x="40539" y="20903"/>
                      <a:pt x="57696" y="31348"/>
                    </a:cubicBezTo>
                    <a:cubicBezTo>
                      <a:pt x="68809" y="38105"/>
                      <a:pt x="83211" y="32126"/>
                      <a:pt x="86278" y="19514"/>
                    </a:cubicBezTo>
                  </a:path>
                </a:pathLst>
              </a:custGeom>
              <a:noFill/>
              <a:ln w="22225">
                <a:solidFill>
                  <a:srgbClr val="FFFFFF"/>
                </a:solidFill>
              </a:ln>
            </p:spPr>
          </p:sp>
          <p:sp>
            <p:nvSpPr>
              <p:cNvPr id="75" name="Freeform 75"/>
              <p:cNvSpPr/>
              <p:nvPr/>
            </p:nvSpPr>
            <p:spPr>
              <a:xfrm>
                <a:off x="8253413" y="3243263"/>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22225">
                <a:solidFill>
                  <a:srgbClr val="FFFFFF"/>
                </a:solidFill>
              </a:ln>
            </p:spPr>
          </p:sp>
        </p:grpSp>
        <p:sp>
          <p:nvSpPr>
            <p:cNvPr id="77" name="TextBox 77"/>
            <p:cNvSpPr txBox="1"/>
            <p:nvPr/>
          </p:nvSpPr>
          <p:spPr>
            <a:xfrm>
              <a:off x="8662606" y="3091101"/>
              <a:ext cx="1913814"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智能软件工厂联合奠基工程启动</a:t>
              </a:r>
            </a:p>
          </p:txBody>
        </p:sp>
        <p:sp>
          <p:nvSpPr>
            <p:cNvPr id="78" name="TextBox 78"/>
            <p:cNvSpPr txBox="1"/>
            <p:nvPr/>
          </p:nvSpPr>
          <p:spPr>
            <a:xfrm>
              <a:off x="8662988" y="3324939"/>
              <a:ext cx="141414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573F3A"/>
                  </a:solidFill>
                  <a:latin typeface="+mn-lt"/>
                  <a:ea typeface="+mn-ea"/>
                  <a:cs typeface="+mn-cs"/>
                </a:rPr>
                <a:t>打通工具链、数据链与应用链</a:t>
              </a:r>
              <a:br/>
              <a:r>
                <a:rPr lang="zh-CN" sz="790" dirty="0">
                  <a:solidFill>
                    <a:srgbClr val="573F3A"/>
                  </a:solidFill>
                  <a:latin typeface="+mn-lt"/>
                  <a:ea typeface="+mn-ea"/>
                  <a:cs typeface="+mn-cs"/>
                </a:rPr>
                <a:t>共建基础能力，提升工程化水平</a:t>
              </a:r>
            </a:p>
          </p:txBody>
        </p:sp>
        <p:sp>
          <p:nvSpPr>
            <p:cNvPr id="79" name="TextBox 79"/>
            <p:cNvSpPr txBox="1"/>
            <p:nvPr/>
          </p:nvSpPr>
          <p:spPr>
            <a:xfrm>
              <a:off x="11481727" y="2818686"/>
              <a:ext cx="200685" cy="140494"/>
            </a:xfrm>
            <a:prstGeom prst="rect">
              <a:avLst/>
            </a:prstGeom>
            <a:noFill/>
            <a:ln>
              <a:noFill/>
            </a:ln>
          </p:spPr>
          <p:txBody>
            <a:bodyPr wrap="none" lIns="0" tIns="0" rIns="0" bIns="0" anchor="t" anchorCtr="0">
              <a:spAutoFit/>
            </a:bodyPr>
            <a:lstStyle/>
            <a:p>
              <a:pPr algn="r"/>
              <a:r>
                <a:rPr lang="zh-CN" sz="710" b="1" dirty="0">
                  <a:solidFill>
                    <a:srgbClr val="9C331E"/>
                  </a:solidFill>
                  <a:latin typeface="+mn-lt"/>
                  <a:ea typeface="+mn-ea"/>
                  <a:cs typeface="+mn-cs"/>
                </a:rPr>
                <a:t>共建</a:t>
              </a:r>
            </a:p>
          </p:txBody>
        </p:sp>
        <p:sp>
          <p:nvSpPr>
            <p:cNvPr id="80" name="TextBox 80"/>
            <p:cNvSpPr txBox="1"/>
            <p:nvPr/>
          </p:nvSpPr>
          <p:spPr>
            <a:xfrm>
              <a:off x="11481727" y="2952036"/>
              <a:ext cx="200685" cy="140494"/>
            </a:xfrm>
            <a:prstGeom prst="rect">
              <a:avLst/>
            </a:prstGeom>
            <a:noFill/>
            <a:ln>
              <a:noFill/>
            </a:ln>
          </p:spPr>
          <p:txBody>
            <a:bodyPr wrap="none" lIns="0" tIns="0" rIns="0" bIns="0" anchor="t" anchorCtr="0">
              <a:spAutoFit/>
            </a:bodyPr>
            <a:lstStyle/>
            <a:p>
              <a:pPr algn="r"/>
              <a:r>
                <a:rPr lang="zh-CN" sz="710" b="1" dirty="0">
                  <a:solidFill>
                    <a:srgbClr val="9C331E"/>
                  </a:solidFill>
                  <a:latin typeface="+mn-lt"/>
                  <a:ea typeface="+mn-ea"/>
                  <a:cs typeface="+mn-cs"/>
                </a:rPr>
                <a:t>共创</a:t>
              </a:r>
            </a:p>
          </p:txBody>
        </p:sp>
        <p:sp>
          <p:nvSpPr>
            <p:cNvPr id="81" name="TextBox 81"/>
            <p:cNvSpPr txBox="1"/>
            <p:nvPr/>
          </p:nvSpPr>
          <p:spPr>
            <a:xfrm>
              <a:off x="11481727" y="3085386"/>
              <a:ext cx="200685" cy="140494"/>
            </a:xfrm>
            <a:prstGeom prst="rect">
              <a:avLst/>
            </a:prstGeom>
            <a:noFill/>
            <a:ln>
              <a:noFill/>
            </a:ln>
          </p:spPr>
          <p:txBody>
            <a:bodyPr wrap="none" lIns="0" tIns="0" rIns="0" bIns="0" anchor="t" anchorCtr="0">
              <a:spAutoFit/>
            </a:bodyPr>
            <a:lstStyle/>
            <a:p>
              <a:pPr algn="r"/>
              <a:r>
                <a:rPr lang="zh-CN" sz="710" b="1" dirty="0">
                  <a:solidFill>
                    <a:srgbClr val="9C331E"/>
                  </a:solidFill>
                  <a:latin typeface="+mn-lt"/>
                  <a:ea typeface="+mn-ea"/>
                  <a:cs typeface="+mn-cs"/>
                </a:rPr>
                <a:t>共赢</a:t>
              </a:r>
            </a:p>
          </p:txBody>
        </p:sp>
      </p:grpSp>
      <p:grpSp>
        <p:nvGrpSpPr>
          <p:cNvPr id="85" name="shift-band-head"/>
          <p:cNvGrpSpPr/>
          <p:nvPr/>
        </p:nvGrpSpPr>
        <p:grpSpPr>
          <a:xfrm>
            <a:off x="381000" y="4248150"/>
            <a:ext cx="11430000" cy="263461"/>
            <a:chOff x="381000" y="4248150"/>
            <a:chExt cx="11430000" cy="263461"/>
          </a:xfrm>
        </p:grpSpPr>
        <p:sp>
          <p:nvSpPr>
            <p:cNvPr id="83" name="Rectangle 83"/>
            <p:cNvSpPr/>
            <p:nvPr/>
          </p:nvSpPr>
          <p:spPr>
            <a:xfrm>
              <a:off x="381000" y="4248150"/>
              <a:ext cx="11430000" cy="247650"/>
            </a:xfrm>
            <a:prstGeom prst="roundRect">
              <a:avLst>
                <a:gd name="adj" fmla="val 15385"/>
              </a:avLst>
            </a:prstGeom>
            <a:gradFill>
              <a:gsLst>
                <a:gs pos="0">
                  <a:srgbClr val="6F2516"/>
                </a:gs>
                <a:gs pos="100000">
                  <a:srgbClr val="D64A2E"/>
                </a:gs>
              </a:gsLst>
              <a:lin ang="0" scaled="1"/>
            </a:gradFill>
            <a:ln>
              <a:noFill/>
            </a:ln>
          </p:spPr>
        </p:sp>
        <p:sp>
          <p:nvSpPr>
            <p:cNvPr id="84" name="TextBox 84"/>
            <p:cNvSpPr txBox="1"/>
            <p:nvPr/>
          </p:nvSpPr>
          <p:spPr>
            <a:xfrm>
              <a:off x="489966" y="430625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三大转变</a:t>
              </a:r>
            </a:p>
          </p:txBody>
        </p:sp>
      </p:grpSp>
      <p:grpSp>
        <p:nvGrpSpPr>
          <p:cNvPr id="94" name="shift-1"/>
          <p:cNvGrpSpPr/>
          <p:nvPr/>
        </p:nvGrpSpPr>
        <p:grpSpPr>
          <a:xfrm>
            <a:off x="419100" y="4610100"/>
            <a:ext cx="3733800" cy="685800"/>
            <a:chOff x="419100" y="4610100"/>
            <a:chExt cx="3733800" cy="685800"/>
          </a:xfrm>
        </p:grpSpPr>
        <p:sp>
          <p:nvSpPr>
            <p:cNvPr id="86" name="Freeform 86"/>
            <p:cNvSpPr/>
            <p:nvPr/>
          </p:nvSpPr>
          <p:spPr>
            <a:xfrm>
              <a:off x="419100" y="4610100"/>
              <a:ext cx="3733800" cy="685800"/>
            </a:xfrm>
            <a:prstGeom prst="chevron">
              <a:avLst/>
            </a:prstGeom>
            <a:solidFill>
              <a:srgbClr val="DCE9F8"/>
            </a:solidFill>
            <a:ln>
              <a:noFill/>
            </a:ln>
          </p:spPr>
        </p:sp>
        <p:sp>
          <p:nvSpPr>
            <p:cNvPr id="87" name="Ellipse 87"/>
            <p:cNvSpPr/>
            <p:nvPr/>
          </p:nvSpPr>
          <p:spPr>
            <a:xfrm>
              <a:off x="819150" y="4743450"/>
              <a:ext cx="419100" cy="419100"/>
            </a:xfrm>
            <a:prstGeom prst="ellipse">
              <a:avLst/>
            </a:prstGeom>
            <a:solidFill>
              <a:srgbClr val="FFFFFF"/>
            </a:solidFill>
            <a:ln w="9525">
              <a:solidFill>
                <a:srgbClr val="ECB3A8"/>
              </a:solidFill>
            </a:ln>
          </p:spPr>
        </p:sp>
        <p:grpSp>
          <p:nvGrpSpPr>
            <p:cNvPr id="91" name="Group 91"/>
            <p:cNvGrpSpPr/>
            <p:nvPr/>
          </p:nvGrpSpPr>
          <p:grpSpPr>
            <a:xfrm>
              <a:off x="942975" y="4867275"/>
              <a:ext cx="171450" cy="171450"/>
              <a:chOff x="942975" y="4867275"/>
              <a:chExt cx="171450" cy="171450"/>
            </a:xfrm>
          </p:grpSpPr>
          <p:sp>
            <p:nvSpPr>
              <p:cNvPr id="88" name="Freeform 88"/>
              <p:cNvSpPr/>
              <p:nvPr/>
            </p:nvSpPr>
            <p:spPr>
              <a:xfrm>
                <a:off x="1019175" y="49434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9C331E"/>
                </a:solidFill>
              </a:ln>
            </p:spPr>
          </p:sp>
          <p:sp>
            <p:nvSpPr>
              <p:cNvPr id="89" name="Freeform 89"/>
              <p:cNvSpPr/>
              <p:nvPr/>
            </p:nvSpPr>
            <p:spPr>
              <a:xfrm>
                <a:off x="981075" y="490537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9C331E"/>
                </a:solidFill>
              </a:ln>
            </p:spPr>
          </p:sp>
          <p:sp>
            <p:nvSpPr>
              <p:cNvPr id="90" name="Freeform 90"/>
              <p:cNvSpPr/>
              <p:nvPr/>
            </p:nvSpPr>
            <p:spPr>
              <a:xfrm>
                <a:off x="942975" y="48672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9C331E"/>
                </a:solidFill>
              </a:ln>
            </p:spPr>
          </p:sp>
        </p:grpSp>
        <p:sp>
          <p:nvSpPr>
            <p:cNvPr id="92" name="TextBox 92"/>
            <p:cNvSpPr txBox="1"/>
            <p:nvPr/>
          </p:nvSpPr>
          <p:spPr>
            <a:xfrm>
              <a:off x="1327404" y="4766310"/>
              <a:ext cx="1397836"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单点试验→体系推进</a:t>
              </a:r>
            </a:p>
          </p:txBody>
        </p:sp>
        <p:sp>
          <p:nvSpPr>
            <p:cNvPr id="93" name="TextBox 93"/>
            <p:cNvSpPr txBox="1"/>
            <p:nvPr/>
          </p:nvSpPr>
          <p:spPr>
            <a:xfrm>
              <a:off x="1328738" y="4991814"/>
              <a:ext cx="111315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73F3A"/>
                  </a:solidFill>
                  <a:latin typeface="+mn-lt"/>
                  <a:ea typeface="+mn-ea"/>
                  <a:cs typeface="+mn-cs"/>
                </a:rPr>
                <a:t>从局部探索走向整体布局</a:t>
              </a:r>
              <a:br/>
              <a:r>
                <a:rPr lang="zh-CN" sz="790" dirty="0">
                  <a:solidFill>
                    <a:srgbClr val="573F3A"/>
                  </a:solidFill>
                  <a:latin typeface="+mn-lt"/>
                  <a:ea typeface="+mn-ea"/>
                  <a:cs typeface="+mn-cs"/>
                </a:rPr>
                <a:t>由分散尝试走向协同联动</a:t>
              </a:r>
            </a:p>
          </p:txBody>
        </p:sp>
      </p:grpSp>
      <p:grpSp>
        <p:nvGrpSpPr>
          <p:cNvPr id="105" name="shift-2"/>
          <p:cNvGrpSpPr/>
          <p:nvPr/>
        </p:nvGrpSpPr>
        <p:grpSpPr>
          <a:xfrm>
            <a:off x="4248150" y="4610100"/>
            <a:ext cx="3733800" cy="685800"/>
            <a:chOff x="4248150" y="4610100"/>
            <a:chExt cx="3733800" cy="685800"/>
          </a:xfrm>
        </p:grpSpPr>
        <p:sp>
          <p:nvSpPr>
            <p:cNvPr id="95" name="Freeform 95"/>
            <p:cNvSpPr/>
            <p:nvPr/>
          </p:nvSpPr>
          <p:spPr>
            <a:xfrm>
              <a:off x="4248150" y="4610100"/>
              <a:ext cx="3733800" cy="685800"/>
            </a:xfrm>
            <a:prstGeom prst="chevron">
              <a:avLst/>
            </a:prstGeom>
            <a:solidFill>
              <a:srgbClr val="DCE9F8"/>
            </a:solidFill>
            <a:ln>
              <a:noFill/>
            </a:ln>
          </p:spPr>
        </p:sp>
        <p:sp>
          <p:nvSpPr>
            <p:cNvPr id="96" name="Ellipse 96"/>
            <p:cNvSpPr/>
            <p:nvPr/>
          </p:nvSpPr>
          <p:spPr>
            <a:xfrm>
              <a:off x="4648200" y="4743450"/>
              <a:ext cx="419100" cy="419100"/>
            </a:xfrm>
            <a:prstGeom prst="ellipse">
              <a:avLst/>
            </a:prstGeom>
            <a:solidFill>
              <a:srgbClr val="FFFFFF"/>
            </a:solidFill>
            <a:ln w="9525">
              <a:solidFill>
                <a:srgbClr val="ECB3A8"/>
              </a:solidFill>
            </a:ln>
          </p:spPr>
        </p:sp>
        <p:grpSp>
          <p:nvGrpSpPr>
            <p:cNvPr id="102" name="Group 102"/>
            <p:cNvGrpSpPr/>
            <p:nvPr/>
          </p:nvGrpSpPr>
          <p:grpSpPr>
            <a:xfrm>
              <a:off x="4772025" y="4867275"/>
              <a:ext cx="171450" cy="171450"/>
              <a:chOff x="4772025" y="4867275"/>
              <a:chExt cx="171450" cy="171450"/>
            </a:xfrm>
          </p:grpSpPr>
          <p:sp>
            <p:nvSpPr>
              <p:cNvPr id="97" name="Freeform 97"/>
              <p:cNvSpPr/>
              <p:nvPr/>
            </p:nvSpPr>
            <p:spPr>
              <a:xfrm>
                <a:off x="4838700" y="48672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C331E"/>
                </a:solidFill>
              </a:ln>
            </p:spPr>
          </p:sp>
          <p:sp>
            <p:nvSpPr>
              <p:cNvPr id="98" name="Freeform 98"/>
              <p:cNvSpPr/>
              <p:nvPr/>
            </p:nvSpPr>
            <p:spPr>
              <a:xfrm>
                <a:off x="4772025" y="5000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C331E"/>
                </a:solidFill>
              </a:ln>
            </p:spPr>
          </p:sp>
          <p:sp>
            <p:nvSpPr>
              <p:cNvPr id="99" name="Freeform 99"/>
              <p:cNvSpPr/>
              <p:nvPr/>
            </p:nvSpPr>
            <p:spPr>
              <a:xfrm>
                <a:off x="4905375" y="5000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C331E"/>
                </a:solidFill>
              </a:ln>
            </p:spPr>
          </p:sp>
          <p:sp>
            <p:nvSpPr>
              <p:cNvPr id="100" name="Freeform 100"/>
              <p:cNvSpPr/>
              <p:nvPr/>
            </p:nvSpPr>
            <p:spPr>
              <a:xfrm>
                <a:off x="4805362" y="4962525"/>
                <a:ext cx="104775" cy="42862"/>
              </a:xfrm>
              <a:custGeom>
                <a:avLst/>
                <a:gdLst/>
                <a:ahLst/>
                <a:cxnLst/>
                <a:rect l="l" t="t" r="r" b="b"/>
                <a:pathLst>
                  <a:path w="104775" h="42862">
                    <a:moveTo>
                      <a:pt x="0" y="42862"/>
                    </a:moveTo>
                    <a:lnTo>
                      <a:pt x="52388" y="0"/>
                    </a:lnTo>
                    <a:lnTo>
                      <a:pt x="104775" y="42862"/>
                    </a:lnTo>
                  </a:path>
                </a:pathLst>
              </a:custGeom>
              <a:noFill/>
              <a:ln w="19050">
                <a:solidFill>
                  <a:srgbClr val="9C331E"/>
                </a:solidFill>
              </a:ln>
            </p:spPr>
          </p:sp>
          <p:sp>
            <p:nvSpPr>
              <p:cNvPr id="101" name="Freeform 101"/>
              <p:cNvSpPr/>
              <p:nvPr/>
            </p:nvSpPr>
            <p:spPr>
              <a:xfrm>
                <a:off x="4857750" y="4905375"/>
                <a:ext cx="9525" cy="57150"/>
              </a:xfrm>
              <a:custGeom>
                <a:avLst/>
                <a:gdLst/>
                <a:ahLst/>
                <a:cxnLst/>
                <a:rect l="l" t="t" r="r" b="b"/>
                <a:pathLst>
                  <a:path w="9525" h="57150">
                    <a:moveTo>
                      <a:pt x="0" y="0"/>
                    </a:moveTo>
                    <a:lnTo>
                      <a:pt x="0" y="57150"/>
                    </a:lnTo>
                  </a:path>
                </a:pathLst>
              </a:custGeom>
              <a:noFill/>
              <a:ln w="19050">
                <a:solidFill>
                  <a:srgbClr val="9C331E"/>
                </a:solidFill>
              </a:ln>
            </p:spPr>
          </p:sp>
        </p:grpSp>
        <p:sp>
          <p:nvSpPr>
            <p:cNvPr id="103" name="TextBox 103"/>
            <p:cNvSpPr txBox="1"/>
            <p:nvPr/>
          </p:nvSpPr>
          <p:spPr>
            <a:xfrm>
              <a:off x="5156454" y="4766310"/>
              <a:ext cx="1397836"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通用辅助→主业核心</a:t>
              </a:r>
            </a:p>
          </p:txBody>
        </p:sp>
        <p:sp>
          <p:nvSpPr>
            <p:cNvPr id="104" name="TextBox 104"/>
            <p:cNvSpPr txBox="1"/>
            <p:nvPr/>
          </p:nvSpPr>
          <p:spPr>
            <a:xfrm>
              <a:off x="5157788" y="4991814"/>
              <a:ext cx="111315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73F3A"/>
                  </a:solidFill>
                  <a:latin typeface="+mn-lt"/>
                  <a:ea typeface="+mn-ea"/>
                  <a:cs typeface="+mn-cs"/>
                </a:rPr>
                <a:t>从通用工具走向核心业务</a:t>
              </a:r>
              <a:br/>
              <a:r>
                <a:rPr lang="zh-CN" sz="790" dirty="0">
                  <a:solidFill>
                    <a:srgbClr val="573F3A"/>
                  </a:solidFill>
                  <a:latin typeface="+mn-lt"/>
                  <a:ea typeface="+mn-ea"/>
                  <a:cs typeface="+mn-cs"/>
                </a:rPr>
                <a:t>从边缘应用走向价值创造</a:t>
              </a:r>
            </a:p>
          </p:txBody>
        </p:sp>
      </p:grpSp>
      <p:grpSp>
        <p:nvGrpSpPr>
          <p:cNvPr id="115" name="shift-3"/>
          <p:cNvGrpSpPr/>
          <p:nvPr/>
        </p:nvGrpSpPr>
        <p:grpSpPr>
          <a:xfrm>
            <a:off x="8077200" y="4610100"/>
            <a:ext cx="3733800" cy="685800"/>
            <a:chOff x="8077200" y="4610100"/>
            <a:chExt cx="3733800" cy="685800"/>
          </a:xfrm>
        </p:grpSpPr>
        <p:sp>
          <p:nvSpPr>
            <p:cNvPr id="106" name="Freeform 106"/>
            <p:cNvSpPr/>
            <p:nvPr/>
          </p:nvSpPr>
          <p:spPr>
            <a:xfrm>
              <a:off x="8077200" y="4610100"/>
              <a:ext cx="3733800" cy="685800"/>
            </a:xfrm>
            <a:prstGeom prst="chevron">
              <a:avLst/>
            </a:prstGeom>
            <a:solidFill>
              <a:srgbClr val="DCE9F8"/>
            </a:solidFill>
            <a:ln>
              <a:noFill/>
            </a:ln>
          </p:spPr>
        </p:sp>
        <p:sp>
          <p:nvSpPr>
            <p:cNvPr id="107" name="Ellipse 107"/>
            <p:cNvSpPr/>
            <p:nvPr/>
          </p:nvSpPr>
          <p:spPr>
            <a:xfrm>
              <a:off x="8477250" y="4743450"/>
              <a:ext cx="419100" cy="419100"/>
            </a:xfrm>
            <a:prstGeom prst="ellipse">
              <a:avLst/>
            </a:prstGeom>
            <a:solidFill>
              <a:srgbClr val="FFFFFF"/>
            </a:solidFill>
            <a:ln w="9525">
              <a:solidFill>
                <a:srgbClr val="ECB3A8"/>
              </a:solidFill>
            </a:ln>
          </p:spPr>
        </p:sp>
        <p:grpSp>
          <p:nvGrpSpPr>
            <p:cNvPr id="112" name="Group 112"/>
            <p:cNvGrpSpPr/>
            <p:nvPr/>
          </p:nvGrpSpPr>
          <p:grpSpPr>
            <a:xfrm>
              <a:off x="8601075" y="4876800"/>
              <a:ext cx="171450" cy="161925"/>
              <a:chOff x="8601075" y="4876800"/>
              <a:chExt cx="171450" cy="161925"/>
            </a:xfrm>
          </p:grpSpPr>
          <p:sp>
            <p:nvSpPr>
              <p:cNvPr id="108" name="Freeform 108"/>
              <p:cNvSpPr/>
              <p:nvPr/>
            </p:nvSpPr>
            <p:spPr>
              <a:xfrm>
                <a:off x="8601075" y="49530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9C331E"/>
                </a:solidFill>
              </a:ln>
            </p:spPr>
          </p:sp>
          <p:sp>
            <p:nvSpPr>
              <p:cNvPr id="109" name="Freeform 109"/>
              <p:cNvSpPr/>
              <p:nvPr/>
            </p:nvSpPr>
            <p:spPr>
              <a:xfrm>
                <a:off x="8715375" y="49149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9C331E"/>
                </a:solidFill>
              </a:ln>
            </p:spPr>
          </p:sp>
          <p:sp>
            <p:nvSpPr>
              <p:cNvPr id="110" name="Freeform 110"/>
              <p:cNvSpPr/>
              <p:nvPr/>
            </p:nvSpPr>
            <p:spPr>
              <a:xfrm>
                <a:off x="8658225" y="48768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9C331E"/>
                </a:solidFill>
              </a:ln>
            </p:spPr>
          </p:sp>
          <p:sp>
            <p:nvSpPr>
              <p:cNvPr id="111" name="Freeform 111"/>
              <p:cNvSpPr/>
              <p:nvPr/>
            </p:nvSpPr>
            <p:spPr>
              <a:xfrm>
                <a:off x="8610600" y="5029200"/>
                <a:ext cx="133350" cy="9525"/>
              </a:xfrm>
              <a:custGeom>
                <a:avLst/>
                <a:gdLst/>
                <a:ahLst/>
                <a:cxnLst/>
                <a:rect l="l" t="t" r="r" b="b"/>
                <a:pathLst>
                  <a:path w="133350" h="9525">
                    <a:moveTo>
                      <a:pt x="0" y="0"/>
                    </a:moveTo>
                    <a:lnTo>
                      <a:pt x="133350" y="0"/>
                    </a:lnTo>
                  </a:path>
                </a:pathLst>
              </a:custGeom>
              <a:noFill/>
              <a:ln w="19050">
                <a:solidFill>
                  <a:srgbClr val="9C331E"/>
                </a:solidFill>
              </a:ln>
            </p:spPr>
          </p:sp>
        </p:grpSp>
        <p:sp>
          <p:nvSpPr>
            <p:cNvPr id="113" name="TextBox 113"/>
            <p:cNvSpPr txBox="1"/>
            <p:nvPr/>
          </p:nvSpPr>
          <p:spPr>
            <a:xfrm>
              <a:off x="8985504" y="4766310"/>
              <a:ext cx="1397836"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模型展示→生产价值</a:t>
              </a:r>
            </a:p>
          </p:txBody>
        </p:sp>
        <p:sp>
          <p:nvSpPr>
            <p:cNvPr id="114" name="TextBox 114"/>
            <p:cNvSpPr txBox="1"/>
            <p:nvPr/>
          </p:nvSpPr>
          <p:spPr>
            <a:xfrm>
              <a:off x="8986838" y="4991814"/>
              <a:ext cx="111315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73F3A"/>
                  </a:solidFill>
                  <a:latin typeface="+mn-lt"/>
                  <a:ea typeface="+mn-ea"/>
                  <a:cs typeface="+mn-cs"/>
                </a:rPr>
                <a:t>从演示验证走向规模应用</a:t>
              </a:r>
              <a:br/>
              <a:r>
                <a:rPr lang="zh-CN" sz="790" dirty="0">
                  <a:solidFill>
                    <a:srgbClr val="573F3A"/>
                  </a:solidFill>
                  <a:latin typeface="+mn-lt"/>
                  <a:ea typeface="+mn-ea"/>
                  <a:cs typeface="+mn-cs"/>
                </a:rPr>
                <a:t>从技术呈现走向实际成效</a:t>
              </a:r>
            </a:p>
          </p:txBody>
        </p:sp>
      </p:grpSp>
      <p:grpSp>
        <p:nvGrpSpPr>
          <p:cNvPr id="117" name="bottom-slogan"/>
          <p:cNvGrpSpPr/>
          <p:nvPr/>
        </p:nvGrpSpPr>
        <p:grpSpPr>
          <a:xfrm>
            <a:off x="4627194" y="5583079"/>
            <a:ext cx="2937612" cy="308039"/>
            <a:chOff x="4627194" y="5583079"/>
            <a:chExt cx="2937612" cy="308039"/>
          </a:xfrm>
        </p:grpSpPr>
        <p:sp>
          <p:nvSpPr>
            <p:cNvPr id="116" name="TextBox 116"/>
            <p:cNvSpPr txBox="1"/>
            <p:nvPr/>
          </p:nvSpPr>
          <p:spPr>
            <a:xfrm>
              <a:off x="4627194" y="5583079"/>
              <a:ext cx="2937612" cy="308039"/>
            </a:xfrm>
            <a:prstGeom prst="rect">
              <a:avLst/>
            </a:prstGeom>
            <a:noFill/>
            <a:ln>
              <a:noFill/>
            </a:ln>
          </p:spPr>
          <p:txBody>
            <a:bodyPr wrap="none" lIns="0" tIns="0" rIns="0" bIns="0" anchor="t" anchorCtr="0">
              <a:spAutoFit/>
            </a:bodyPr>
            <a:lstStyle/>
            <a:p>
              <a:pPr algn="ctr"/>
              <a:r>
                <a:rPr lang="zh-CN" sz="1580" b="1" i="1" dirty="0">
                  <a:solidFill>
                    <a:srgbClr val="5E2114"/>
                  </a:solidFill>
                  <a:latin typeface="+mj-lt"/>
                  <a:ea typeface="+mj-ea"/>
                  <a:cs typeface="+mj-cs"/>
                </a:rPr>
                <a:t>立足实体经济　共创美好未来</a:t>
              </a:r>
            </a:p>
          </p:txBody>
        </p:sp>
      </p:grpSp>
      <p:grpSp>
        <p:nvGrpSpPr>
          <p:cNvPr id="119" name="disclaimer"/>
          <p:cNvGrpSpPr/>
          <p:nvPr/>
        </p:nvGrpSpPr>
        <p:grpSpPr>
          <a:xfrm>
            <a:off x="8308134" y="6514386"/>
            <a:ext cx="3469528" cy="140494"/>
            <a:chOff x="8308134" y="6514386"/>
            <a:chExt cx="3469528" cy="140494"/>
          </a:xfrm>
        </p:grpSpPr>
        <p:sp>
          <p:nvSpPr>
            <p:cNvPr id="118" name="TextBox 118"/>
            <p:cNvSpPr txBox="1"/>
            <p:nvPr/>
          </p:nvSpPr>
          <p:spPr>
            <a:xfrm>
              <a:off x="8308134" y="6514386"/>
              <a:ext cx="3469528" cy="140494"/>
            </a:xfrm>
            <a:prstGeom prst="rect">
              <a:avLst/>
            </a:prstGeom>
            <a:noFill/>
            <a:ln>
              <a:noFill/>
            </a:ln>
          </p:spPr>
          <p:txBody>
            <a:bodyPr wrap="none" lIns="0" tIns="0" rIns="0" bIns="0" anchor="t" anchorCtr="0">
              <a:spAutoFit/>
            </a:bodyPr>
            <a:lstStyle/>
            <a:p>
              <a:pPr algn="r"/>
              <a:r>
                <a:rPr lang="zh-CN" sz="710" dirty="0">
                  <a:solidFill>
                    <a:srgbClr val="573F3A"/>
                  </a:solidFill>
                  <a:latin typeface="+mn-lt"/>
                  <a:ea typeface="+mn-ea"/>
                  <a:cs typeface="+mn-cs"/>
                </a:rPr>
                <a:t>100项包含已有成果、在运行项目与开放共建场景，不能统一视为新开工或已验收​</a:t>
              </a:r>
            </a:p>
          </p:txBody>
        </p:sp>
      </p:grpSp>
      <p:grpSp>
        <p:nvGrpSpPr>
          <p:cNvPr id="123" name="footer"/>
          <p:cNvGrpSpPr/>
          <p:nvPr/>
        </p:nvGrpSpPr>
        <p:grpSpPr>
          <a:xfrm>
            <a:off x="0" y="6705600"/>
            <a:ext cx="12192000" cy="173117"/>
            <a:chOff x="0" y="6705600"/>
            <a:chExt cx="12192000" cy="173117"/>
          </a:xfrm>
        </p:grpSpPr>
        <p:sp>
          <p:nvSpPr>
            <p:cNvPr id="120" name="Rectangle 120"/>
            <p:cNvSpPr/>
            <p:nvPr/>
          </p:nvSpPr>
          <p:spPr>
            <a:xfrm>
              <a:off x="0" y="6705600"/>
              <a:ext cx="12192000" cy="152400"/>
            </a:xfrm>
            <a:prstGeom prst="rect">
              <a:avLst/>
            </a:prstGeom>
            <a:solidFill>
              <a:srgbClr val="632012"/>
            </a:solidFill>
            <a:ln>
              <a:noFill/>
            </a:ln>
          </p:spPr>
        </p:sp>
        <p:sp>
          <p:nvSpPr>
            <p:cNvPr id="121" name="TextBox 121"/>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22" name="TextBox 122"/>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02/20</a:t>
              </a:r>
            </a:p>
          </p:txBody>
        </p:sp>
      </p:gr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skyline"/>
          <p:cNvSpPr/>
          <p:nvPr/>
        </p:nvSpPr>
        <p:spPr>
          <a:xfrm>
            <a:off x="0" y="5695950"/>
            <a:ext cx="12192000" cy="1009650"/>
          </a:xfrm>
          <a:custGeom>
            <a:avLst/>
            <a:gdLst/>
            <a:ahLst/>
            <a:cxnLst/>
            <a:rect l="l" t="t" r="r" b="b"/>
            <a:pathLst>
              <a:path w="12192000" h="1009650">
                <a:moveTo>
                  <a:pt x="0" y="1009650"/>
                </a:moveTo>
                <a:lnTo>
                  <a:pt x="0" y="590550"/>
                </a:lnTo>
                <a:lnTo>
                  <a:pt x="571500" y="590550"/>
                </a:lnTo>
                <a:lnTo>
                  <a:pt x="571500" y="400050"/>
                </a:lnTo>
                <a:lnTo>
                  <a:pt x="857250" y="400050"/>
                </a:lnTo>
                <a:lnTo>
                  <a:pt x="857250" y="590550"/>
                </a:lnTo>
                <a:lnTo>
                  <a:pt x="1238250" y="590550"/>
                </a:lnTo>
                <a:lnTo>
                  <a:pt x="1238250" y="209550"/>
                </a:lnTo>
                <a:lnTo>
                  <a:pt x="1524000" y="209550"/>
                </a:lnTo>
                <a:lnTo>
                  <a:pt x="1524000" y="590550"/>
                </a:lnTo>
                <a:lnTo>
                  <a:pt x="2095500" y="590550"/>
                </a:lnTo>
                <a:lnTo>
                  <a:pt x="2095500" y="476250"/>
                </a:lnTo>
                <a:lnTo>
                  <a:pt x="2476500" y="476250"/>
                </a:lnTo>
                <a:lnTo>
                  <a:pt x="2476500" y="590550"/>
                </a:lnTo>
                <a:lnTo>
                  <a:pt x="3048000" y="590550"/>
                </a:lnTo>
                <a:lnTo>
                  <a:pt x="3048000" y="304800"/>
                </a:lnTo>
                <a:lnTo>
                  <a:pt x="3333750" y="304800"/>
                </a:lnTo>
                <a:lnTo>
                  <a:pt x="3333750" y="590550"/>
                </a:lnTo>
                <a:lnTo>
                  <a:pt x="4000500" y="590550"/>
                </a:lnTo>
                <a:lnTo>
                  <a:pt x="4000500" y="95250"/>
                </a:lnTo>
                <a:lnTo>
                  <a:pt x="4286250" y="95250"/>
                </a:lnTo>
                <a:lnTo>
                  <a:pt x="4286250" y="590550"/>
                </a:lnTo>
                <a:lnTo>
                  <a:pt x="4953000" y="590550"/>
                </a:lnTo>
                <a:lnTo>
                  <a:pt x="4953000" y="361950"/>
                </a:lnTo>
                <a:lnTo>
                  <a:pt x="5334000" y="361950"/>
                </a:lnTo>
                <a:lnTo>
                  <a:pt x="5334000" y="590550"/>
                </a:lnTo>
                <a:lnTo>
                  <a:pt x="6096000" y="590550"/>
                </a:lnTo>
                <a:lnTo>
                  <a:pt x="6096000" y="0"/>
                </a:lnTo>
                <a:lnTo>
                  <a:pt x="6381750" y="0"/>
                </a:lnTo>
                <a:lnTo>
                  <a:pt x="6381750" y="590550"/>
                </a:lnTo>
                <a:lnTo>
                  <a:pt x="7048500" y="590550"/>
                </a:lnTo>
                <a:lnTo>
                  <a:pt x="7048500" y="266700"/>
                </a:lnTo>
                <a:lnTo>
                  <a:pt x="7429500" y="266700"/>
                </a:lnTo>
                <a:lnTo>
                  <a:pt x="7429500" y="590550"/>
                </a:lnTo>
                <a:lnTo>
                  <a:pt x="8191500" y="590550"/>
                </a:lnTo>
                <a:lnTo>
                  <a:pt x="8191500" y="133350"/>
                </a:lnTo>
                <a:lnTo>
                  <a:pt x="8477250" y="133350"/>
                </a:lnTo>
                <a:lnTo>
                  <a:pt x="8477250" y="590550"/>
                </a:lnTo>
                <a:lnTo>
                  <a:pt x="9144000" y="590550"/>
                </a:lnTo>
                <a:lnTo>
                  <a:pt x="9144000" y="400050"/>
                </a:lnTo>
                <a:lnTo>
                  <a:pt x="9620250" y="400050"/>
                </a:lnTo>
                <a:lnTo>
                  <a:pt x="9620250" y="590550"/>
                </a:lnTo>
                <a:lnTo>
                  <a:pt x="10287000" y="590550"/>
                </a:lnTo>
                <a:lnTo>
                  <a:pt x="10287000" y="19050"/>
                </a:lnTo>
                <a:lnTo>
                  <a:pt x="10572750" y="19050"/>
                </a:lnTo>
                <a:lnTo>
                  <a:pt x="10572750" y="590550"/>
                </a:lnTo>
                <a:lnTo>
                  <a:pt x="11239500" y="590550"/>
                </a:lnTo>
                <a:lnTo>
                  <a:pt x="11239500" y="323850"/>
                </a:lnTo>
                <a:lnTo>
                  <a:pt x="11620500" y="323850"/>
                </a:lnTo>
                <a:lnTo>
                  <a:pt x="11620500" y="590550"/>
                </a:lnTo>
                <a:lnTo>
                  <a:pt x="12192000" y="590550"/>
                </a:lnTo>
                <a:lnTo>
                  <a:pt x="12192000" y="1009650"/>
                </a:lnTo>
                <a:close/>
              </a:path>
            </a:pathLst>
          </a:custGeom>
          <a:solidFill>
            <a:srgbClr val="DCE9F8"/>
          </a:solidFill>
          <a:ln>
            <a:noFill/>
          </a:ln>
        </p:spPr>
      </p:sp>
      <p:sp>
        <p:nvSpPr>
          <p:cNvPr id="3" name="deco-ground"/>
          <p:cNvSpPr/>
          <p:nvPr/>
        </p:nvSpPr>
        <p:spPr>
          <a:xfrm>
            <a:off x="0" y="6305550"/>
            <a:ext cx="12192000" cy="400050"/>
          </a:xfrm>
          <a:prstGeom prst="rect">
            <a:avLst/>
          </a:prstGeom>
          <a:solidFill>
            <a:srgbClr val="C7D9F0"/>
          </a:solidFill>
          <a:ln>
            <a:noFill/>
          </a:ln>
        </p:spPr>
      </p:sp>
      <p:grpSp>
        <p:nvGrpSpPr>
          <p:cNvPr id="10" name="header"/>
          <p:cNvGrpSpPr/>
          <p:nvPr/>
        </p:nvGrpSpPr>
        <p:grpSpPr>
          <a:xfrm>
            <a:off x="0" y="0"/>
            <a:ext cx="11739563" cy="542925"/>
            <a:chOff x="0" y="0"/>
            <a:chExt cx="11739563" cy="542925"/>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5" name="TextBox 5"/>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03</a:t>
              </a:r>
            </a:p>
          </p:txBody>
        </p:sp>
        <p:sp>
          <p:nvSpPr>
            <p:cNvPr id="6" name="TextBox 6"/>
            <p:cNvSpPr txBox="1"/>
            <p:nvPr/>
          </p:nvSpPr>
          <p:spPr>
            <a:xfrm>
              <a:off x="942594" y="151448"/>
              <a:ext cx="6121908"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复盘口径</a:t>
              </a:r>
              <a:r>
                <a:rPr lang="zh-CN" sz="1950" b="1" dirty="0">
                  <a:solidFill>
                    <a:srgbClr val="5E2114"/>
                  </a:solidFill>
                  <a:latin typeface="+mj-lt"/>
                  <a:ea typeface="+mj-ea"/>
                  <a:cs typeface="+mj-cs"/>
                </a:rPr>
                <a:t>｜入选不等于上线，上线不等于创造价值</a:t>
              </a:r>
            </a:p>
          </p:txBody>
        </p:sp>
        <p:sp>
          <p:nvSpPr>
            <p:cNvPr id="7" name="Line 7"/>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8" name="TextBox 8"/>
            <p:cNvSpPr txBox="1"/>
            <p:nvPr/>
          </p:nvSpPr>
          <p:spPr>
            <a:xfrm>
              <a:off x="10051306" y="139541"/>
              <a:ext cx="1688257" cy="161925"/>
            </a:xfrm>
            <a:prstGeom prst="rect">
              <a:avLst/>
            </a:prstGeom>
            <a:noFill/>
            <a:ln>
              <a:noFill/>
            </a:ln>
          </p:spPr>
          <p:txBody>
            <a:bodyPr wrap="none" lIns="0" tIns="0" rIns="0" bIns="0" anchor="t" anchorCtr="0">
              <a:spAutoFit/>
            </a:bodyPr>
            <a:lstStyle/>
            <a:p>
              <a:pPr algn="r"/>
              <a:r>
                <a:rPr lang="zh-CN" sz="820" b="1" dirty="0">
                  <a:solidFill>
                    <a:srgbClr val="5E2114"/>
                  </a:solidFill>
                  <a:latin typeface="+mn-lt"/>
                  <a:ea typeface="+mn-ea"/>
                  <a:cs typeface="+mn-cs"/>
                </a:rPr>
                <a:t>从公开信息出发 · 以事实证据说话</a:t>
              </a:r>
            </a:p>
          </p:txBody>
        </p:sp>
        <p:sp>
          <p:nvSpPr>
            <p:cNvPr id="9" name="TextBox 9"/>
            <p:cNvSpPr txBox="1"/>
            <p:nvPr/>
          </p:nvSpPr>
          <p:spPr>
            <a:xfrm>
              <a:off x="10678655" y="342186"/>
              <a:ext cx="1060907"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客观　专业　审慎　务实</a:t>
              </a:r>
            </a:p>
          </p:txBody>
        </p:sp>
      </p:grpSp>
      <p:grpSp>
        <p:nvGrpSpPr>
          <p:cNvPr id="12" name="intro"/>
          <p:cNvGrpSpPr/>
          <p:nvPr/>
        </p:nvGrpSpPr>
        <p:grpSpPr>
          <a:xfrm>
            <a:off x="3546348" y="667702"/>
            <a:ext cx="5099304" cy="205359"/>
            <a:chOff x="3546348" y="667702"/>
            <a:chExt cx="5099304" cy="205359"/>
          </a:xfrm>
        </p:grpSpPr>
        <p:sp>
          <p:nvSpPr>
            <p:cNvPr id="11" name="TextBox 11"/>
            <p:cNvSpPr txBox="1"/>
            <p:nvPr/>
          </p:nvSpPr>
          <p:spPr>
            <a:xfrm>
              <a:off x="3546348" y="667702"/>
              <a:ext cx="5099304" cy="205359"/>
            </a:xfrm>
            <a:prstGeom prst="rect">
              <a:avLst/>
            </a:prstGeom>
            <a:noFill/>
            <a:ln>
              <a:noFill/>
            </a:ln>
          </p:spPr>
          <p:txBody>
            <a:bodyPr wrap="none" lIns="0" tIns="0" rIns="0" bIns="0" anchor="t" anchorCtr="0">
              <a:spAutoFit/>
            </a:bodyPr>
            <a:lstStyle/>
            <a:p>
              <a:pPr algn="ctr"/>
              <a:r>
                <a:rPr lang="zh-CN" sz="1050" dirty="0">
                  <a:solidFill>
                    <a:srgbClr val="9C331E"/>
                  </a:solidFill>
                  <a:latin typeface="+mn-lt"/>
                  <a:ea typeface="+mn-ea"/>
                  <a:cs typeface="+mn-cs"/>
                </a:rPr>
                <a:t>围绕价值创造，聚焦四个关键问题，构建公开证据链，形成审慎、客观的复盘判断</a:t>
              </a:r>
            </a:p>
          </p:txBody>
        </p:sp>
      </p:grpSp>
      <p:grpSp>
        <p:nvGrpSpPr>
          <p:cNvPr id="22" name="card-q1"/>
          <p:cNvGrpSpPr/>
          <p:nvPr/>
        </p:nvGrpSpPr>
        <p:grpSpPr>
          <a:xfrm>
            <a:off x="381000" y="952500"/>
            <a:ext cx="2743200" cy="1447800"/>
            <a:chOff x="381000" y="952500"/>
            <a:chExt cx="2743200" cy="1447800"/>
          </a:xfrm>
        </p:grpSpPr>
        <p:sp>
          <p:nvSpPr>
            <p:cNvPr id="13" name="Rectangle 13"/>
            <p:cNvSpPr/>
            <p:nvPr/>
          </p:nvSpPr>
          <p:spPr>
            <a:xfrm>
              <a:off x="381000" y="952500"/>
              <a:ext cx="2743200" cy="1447800"/>
            </a:xfrm>
            <a:prstGeom prst="roundRect">
              <a:avLst>
                <a:gd name="adj" fmla="val 5263"/>
              </a:avLst>
            </a:prstGeom>
            <a:solidFill>
              <a:srgbClr val="FFFFFF"/>
            </a:solidFill>
            <a:ln w="9525">
              <a:solidFill>
                <a:srgbClr val="C7D9F0"/>
              </a:solidFill>
            </a:ln>
          </p:spPr>
        </p:sp>
        <p:sp>
          <p:nvSpPr>
            <p:cNvPr id="14" name="Ellipse 14"/>
            <p:cNvSpPr/>
            <p:nvPr/>
          </p:nvSpPr>
          <p:spPr>
            <a:xfrm>
              <a:off x="533400" y="1123950"/>
              <a:ext cx="419100" cy="419100"/>
            </a:xfrm>
            <a:prstGeom prst="ellipse">
              <a:avLst/>
            </a:prstGeom>
            <a:solidFill>
              <a:srgbClr val="9C331E"/>
            </a:solidFill>
            <a:ln>
              <a:noFill/>
            </a:ln>
          </p:spPr>
        </p:sp>
        <p:grpSp>
          <p:nvGrpSpPr>
            <p:cNvPr id="17" name="Group 17"/>
            <p:cNvGrpSpPr/>
            <p:nvPr/>
          </p:nvGrpSpPr>
          <p:grpSpPr>
            <a:xfrm>
              <a:off x="653044" y="1243594"/>
              <a:ext cx="179813" cy="179813"/>
              <a:chOff x="653044" y="1243594"/>
              <a:chExt cx="179813" cy="179813"/>
            </a:xfrm>
          </p:grpSpPr>
          <p:sp>
            <p:nvSpPr>
              <p:cNvPr id="15" name="Freeform 15"/>
              <p:cNvSpPr/>
              <p:nvPr/>
            </p:nvSpPr>
            <p:spPr>
              <a:xfrm>
                <a:off x="653044" y="124359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FFFFFF"/>
                </a:solidFill>
              </a:ln>
            </p:spPr>
          </p:sp>
          <p:sp>
            <p:nvSpPr>
              <p:cNvPr id="16" name="Freeform 16"/>
              <p:cNvSpPr/>
              <p:nvPr/>
            </p:nvSpPr>
            <p:spPr>
              <a:xfrm>
                <a:off x="714375" y="13049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FFFFFF"/>
                </a:solidFill>
              </a:ln>
            </p:spPr>
          </p:sp>
        </p:grpSp>
        <p:sp>
          <p:nvSpPr>
            <p:cNvPr id="18" name="TextBox 18"/>
            <p:cNvSpPr txBox="1"/>
            <p:nvPr/>
          </p:nvSpPr>
          <p:spPr>
            <a:xfrm>
              <a:off x="1061085" y="1135856"/>
              <a:ext cx="614528"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是否进入</a:t>
              </a:r>
            </a:p>
          </p:txBody>
        </p:sp>
        <p:sp>
          <p:nvSpPr>
            <p:cNvPr id="19" name="TextBox 19"/>
            <p:cNvSpPr txBox="1"/>
            <p:nvPr/>
          </p:nvSpPr>
          <p:spPr>
            <a:xfrm>
              <a:off x="1061085" y="1345406"/>
              <a:ext cx="1066851"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真实生产流程？</a:t>
              </a:r>
            </a:p>
          </p:txBody>
        </p:sp>
        <p:sp>
          <p:nvSpPr>
            <p:cNvPr id="20" name="TextBox 20"/>
            <p:cNvSpPr txBox="1"/>
            <p:nvPr/>
          </p:nvSpPr>
          <p:spPr>
            <a:xfrm>
              <a:off x="1056564" y="1877139"/>
              <a:ext cx="1392072" cy="154781"/>
            </a:xfrm>
            <a:prstGeom prst="rect">
              <a:avLst/>
            </a:prstGeom>
            <a:noFill/>
            <a:ln>
              <a:noFill/>
            </a:ln>
          </p:spPr>
          <p:txBody>
            <a:bodyPr wrap="none" lIns="0" tIns="0" rIns="0" bIns="0" anchor="t" anchorCtr="0">
              <a:spAutoFit/>
            </a:bodyPr>
            <a:lstStyle/>
            <a:p>
              <a:pPr algn="ctr"/>
              <a:r>
                <a:rPr lang="zh-CN" sz="790" dirty="0">
                  <a:solidFill>
                    <a:srgbClr val="573F3A"/>
                  </a:solidFill>
                  <a:latin typeface="+mn-lt"/>
                  <a:ea typeface="+mn-ea"/>
                  <a:cs typeface="+mn-cs"/>
                </a:rPr>
                <a:t>是否在实际业务中投入使用，</a:t>
              </a:r>
            </a:p>
          </p:txBody>
        </p:sp>
        <p:sp>
          <p:nvSpPr>
            <p:cNvPr id="21" name="TextBox 21"/>
            <p:cNvSpPr txBox="1"/>
            <p:nvPr/>
          </p:nvSpPr>
          <p:spPr>
            <a:xfrm>
              <a:off x="1056564" y="2048589"/>
              <a:ext cx="1392072" cy="154781"/>
            </a:xfrm>
            <a:prstGeom prst="rect">
              <a:avLst/>
            </a:prstGeom>
            <a:noFill/>
            <a:ln>
              <a:noFill/>
            </a:ln>
          </p:spPr>
          <p:txBody>
            <a:bodyPr wrap="none" lIns="0" tIns="0" rIns="0" bIns="0" anchor="t" anchorCtr="0">
              <a:spAutoFit/>
            </a:bodyPr>
            <a:lstStyle/>
            <a:p>
              <a:pPr algn="ctr"/>
              <a:r>
                <a:rPr lang="zh-CN" sz="790" dirty="0">
                  <a:solidFill>
                    <a:srgbClr val="573F3A"/>
                  </a:solidFill>
                  <a:latin typeface="+mn-lt"/>
                  <a:ea typeface="+mn-ea"/>
                  <a:cs typeface="+mn-cs"/>
                </a:rPr>
                <a:t>而非停留在方案或试点阶段？</a:t>
              </a:r>
            </a:p>
          </p:txBody>
        </p:sp>
      </p:grpSp>
      <p:grpSp>
        <p:nvGrpSpPr>
          <p:cNvPr id="34" name="card-q2"/>
          <p:cNvGrpSpPr/>
          <p:nvPr/>
        </p:nvGrpSpPr>
        <p:grpSpPr>
          <a:xfrm>
            <a:off x="3257550" y="952500"/>
            <a:ext cx="2743200" cy="1447800"/>
            <a:chOff x="3257550" y="952500"/>
            <a:chExt cx="2743200" cy="1447800"/>
          </a:xfrm>
        </p:grpSpPr>
        <p:sp>
          <p:nvSpPr>
            <p:cNvPr id="23" name="Rectangle 23"/>
            <p:cNvSpPr/>
            <p:nvPr/>
          </p:nvSpPr>
          <p:spPr>
            <a:xfrm>
              <a:off x="3257550" y="952500"/>
              <a:ext cx="2743200" cy="1447800"/>
            </a:xfrm>
            <a:prstGeom prst="roundRect">
              <a:avLst>
                <a:gd name="adj" fmla="val 5263"/>
              </a:avLst>
            </a:prstGeom>
            <a:solidFill>
              <a:srgbClr val="FFFFFF"/>
            </a:solidFill>
            <a:ln w="9525">
              <a:solidFill>
                <a:srgbClr val="C7D9F0"/>
              </a:solidFill>
            </a:ln>
          </p:spPr>
        </p:sp>
        <p:sp>
          <p:nvSpPr>
            <p:cNvPr id="24" name="Ellipse 24"/>
            <p:cNvSpPr/>
            <p:nvPr/>
          </p:nvSpPr>
          <p:spPr>
            <a:xfrm>
              <a:off x="3409950" y="1123950"/>
              <a:ext cx="419100" cy="419100"/>
            </a:xfrm>
            <a:prstGeom prst="ellipse">
              <a:avLst/>
            </a:prstGeom>
            <a:solidFill>
              <a:srgbClr val="9C331E"/>
            </a:solidFill>
            <a:ln>
              <a:noFill/>
            </a:ln>
          </p:spPr>
        </p:sp>
        <p:grpSp>
          <p:nvGrpSpPr>
            <p:cNvPr id="29" name="Group 29"/>
            <p:cNvGrpSpPr/>
            <p:nvPr/>
          </p:nvGrpSpPr>
          <p:grpSpPr>
            <a:xfrm>
              <a:off x="3533775" y="1257300"/>
              <a:ext cx="171450" cy="161925"/>
              <a:chOff x="3533775" y="1257300"/>
              <a:chExt cx="171450" cy="161925"/>
            </a:xfrm>
          </p:grpSpPr>
          <p:sp>
            <p:nvSpPr>
              <p:cNvPr id="25" name="Freeform 25"/>
              <p:cNvSpPr/>
              <p:nvPr/>
            </p:nvSpPr>
            <p:spPr>
              <a:xfrm>
                <a:off x="3533775" y="13335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26" name="Freeform 26"/>
              <p:cNvSpPr/>
              <p:nvPr/>
            </p:nvSpPr>
            <p:spPr>
              <a:xfrm>
                <a:off x="3648075" y="12954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27" name="Freeform 27"/>
              <p:cNvSpPr/>
              <p:nvPr/>
            </p:nvSpPr>
            <p:spPr>
              <a:xfrm>
                <a:off x="3590925" y="12573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28" name="Freeform 28"/>
              <p:cNvSpPr/>
              <p:nvPr/>
            </p:nvSpPr>
            <p:spPr>
              <a:xfrm>
                <a:off x="3543300" y="1409700"/>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30" name="TextBox 30"/>
            <p:cNvSpPr txBox="1"/>
            <p:nvPr/>
          </p:nvSpPr>
          <p:spPr>
            <a:xfrm>
              <a:off x="3937635" y="1135856"/>
              <a:ext cx="463753"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是否有</a:t>
              </a:r>
            </a:p>
          </p:txBody>
        </p:sp>
        <p:sp>
          <p:nvSpPr>
            <p:cNvPr id="31" name="TextBox 31"/>
            <p:cNvSpPr txBox="1"/>
            <p:nvPr/>
          </p:nvSpPr>
          <p:spPr>
            <a:xfrm>
              <a:off x="3937635" y="1345406"/>
              <a:ext cx="1066851"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持续运行记录？</a:t>
              </a:r>
            </a:p>
          </p:txBody>
        </p:sp>
        <p:sp>
          <p:nvSpPr>
            <p:cNvPr id="32" name="TextBox 32"/>
            <p:cNvSpPr txBox="1"/>
            <p:nvPr/>
          </p:nvSpPr>
          <p:spPr>
            <a:xfrm>
              <a:off x="3826764" y="1877139"/>
              <a:ext cx="1604772" cy="154781"/>
            </a:xfrm>
            <a:prstGeom prst="rect">
              <a:avLst/>
            </a:prstGeom>
            <a:noFill/>
            <a:ln>
              <a:noFill/>
            </a:ln>
          </p:spPr>
          <p:txBody>
            <a:bodyPr wrap="none" lIns="0" tIns="0" rIns="0" bIns="0" anchor="t" anchorCtr="0">
              <a:spAutoFit/>
            </a:bodyPr>
            <a:lstStyle/>
            <a:p>
              <a:pPr algn="ctr"/>
              <a:r>
                <a:rPr lang="zh-CN" sz="790" dirty="0">
                  <a:solidFill>
                    <a:srgbClr val="573F3A"/>
                  </a:solidFill>
                  <a:latin typeface="+mn-lt"/>
                  <a:ea typeface="+mn-ea"/>
                  <a:cs typeface="+mn-cs"/>
                </a:rPr>
                <a:t>是否具备连续、稳定的运行证据，</a:t>
              </a:r>
            </a:p>
          </p:txBody>
        </p:sp>
        <p:sp>
          <p:nvSpPr>
            <p:cNvPr id="33" name="TextBox 33"/>
            <p:cNvSpPr txBox="1"/>
            <p:nvPr/>
          </p:nvSpPr>
          <p:spPr>
            <a:xfrm>
              <a:off x="3933114" y="2048589"/>
              <a:ext cx="1392072" cy="154781"/>
            </a:xfrm>
            <a:prstGeom prst="rect">
              <a:avLst/>
            </a:prstGeom>
            <a:noFill/>
            <a:ln>
              <a:noFill/>
            </a:ln>
          </p:spPr>
          <p:txBody>
            <a:bodyPr wrap="none" lIns="0" tIns="0" rIns="0" bIns="0" anchor="t" anchorCtr="0">
              <a:spAutoFit/>
            </a:bodyPr>
            <a:lstStyle/>
            <a:p>
              <a:pPr algn="ctr"/>
              <a:r>
                <a:rPr lang="zh-CN" sz="790" dirty="0">
                  <a:solidFill>
                    <a:srgbClr val="573F3A"/>
                  </a:solidFill>
                  <a:latin typeface="+mn-lt"/>
                  <a:ea typeface="+mn-ea"/>
                  <a:cs typeface="+mn-cs"/>
                </a:rPr>
                <a:t>而非短期演示或阶段性测试？</a:t>
              </a:r>
            </a:p>
          </p:txBody>
        </p:sp>
      </p:grpSp>
      <p:grpSp>
        <p:nvGrpSpPr>
          <p:cNvPr id="47" name="card-q3"/>
          <p:cNvGrpSpPr/>
          <p:nvPr/>
        </p:nvGrpSpPr>
        <p:grpSpPr>
          <a:xfrm>
            <a:off x="6134100" y="952500"/>
            <a:ext cx="2743200" cy="1447800"/>
            <a:chOff x="6134100" y="952500"/>
            <a:chExt cx="2743200" cy="1447800"/>
          </a:xfrm>
        </p:grpSpPr>
        <p:sp>
          <p:nvSpPr>
            <p:cNvPr id="35" name="Rectangle 35"/>
            <p:cNvSpPr/>
            <p:nvPr/>
          </p:nvSpPr>
          <p:spPr>
            <a:xfrm>
              <a:off x="6134100" y="952500"/>
              <a:ext cx="2743200" cy="1447800"/>
            </a:xfrm>
            <a:prstGeom prst="roundRect">
              <a:avLst>
                <a:gd name="adj" fmla="val 5263"/>
              </a:avLst>
            </a:prstGeom>
            <a:solidFill>
              <a:srgbClr val="FFFFFF"/>
            </a:solidFill>
            <a:ln w="9525">
              <a:solidFill>
                <a:srgbClr val="C7D9F0"/>
              </a:solidFill>
            </a:ln>
          </p:spPr>
        </p:sp>
        <p:sp>
          <p:nvSpPr>
            <p:cNvPr id="36" name="Ellipse 36"/>
            <p:cNvSpPr/>
            <p:nvPr/>
          </p:nvSpPr>
          <p:spPr>
            <a:xfrm>
              <a:off x="6286500" y="1123950"/>
              <a:ext cx="419100" cy="419100"/>
            </a:xfrm>
            <a:prstGeom prst="ellipse">
              <a:avLst/>
            </a:prstGeom>
            <a:solidFill>
              <a:srgbClr val="9C331E"/>
            </a:solidFill>
            <a:ln>
              <a:noFill/>
            </a:ln>
          </p:spPr>
        </p:sp>
        <p:grpSp>
          <p:nvGrpSpPr>
            <p:cNvPr id="42" name="Group 42"/>
            <p:cNvGrpSpPr/>
            <p:nvPr/>
          </p:nvGrpSpPr>
          <p:grpSpPr>
            <a:xfrm>
              <a:off x="6429375" y="1247775"/>
              <a:ext cx="133350" cy="171450"/>
              <a:chOff x="6429375" y="1247775"/>
              <a:chExt cx="133350" cy="171450"/>
            </a:xfrm>
          </p:grpSpPr>
          <p:sp>
            <p:nvSpPr>
              <p:cNvPr id="37" name="Freeform 37"/>
              <p:cNvSpPr/>
              <p:nvPr/>
            </p:nvSpPr>
            <p:spPr>
              <a:xfrm>
                <a:off x="6515100" y="12477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FFFFFF"/>
                </a:solidFill>
              </a:ln>
            </p:spPr>
          </p:sp>
          <p:sp>
            <p:nvSpPr>
              <p:cNvPr id="38" name="Freeform 38"/>
              <p:cNvSpPr/>
              <p:nvPr/>
            </p:nvSpPr>
            <p:spPr>
              <a:xfrm>
                <a:off x="6429375" y="12477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FFFFFF"/>
                </a:solidFill>
              </a:ln>
            </p:spPr>
          </p:sp>
          <p:sp>
            <p:nvSpPr>
              <p:cNvPr id="39" name="Freeform 39"/>
              <p:cNvSpPr/>
              <p:nvPr/>
            </p:nvSpPr>
            <p:spPr>
              <a:xfrm>
                <a:off x="6467475" y="1304925"/>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40" name="Freeform 40"/>
              <p:cNvSpPr/>
              <p:nvPr/>
            </p:nvSpPr>
            <p:spPr>
              <a:xfrm>
                <a:off x="6467475" y="1343025"/>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41" name="Freeform 41"/>
              <p:cNvSpPr/>
              <p:nvPr/>
            </p:nvSpPr>
            <p:spPr>
              <a:xfrm>
                <a:off x="6467475" y="1381125"/>
                <a:ext cx="57150" cy="9525"/>
              </a:xfrm>
              <a:custGeom>
                <a:avLst/>
                <a:gdLst/>
                <a:ahLst/>
                <a:cxnLst/>
                <a:rect l="l" t="t" r="r" b="b"/>
                <a:pathLst>
                  <a:path w="57150" h="9525">
                    <a:moveTo>
                      <a:pt x="0" y="0"/>
                    </a:moveTo>
                    <a:lnTo>
                      <a:pt x="57150" y="0"/>
                    </a:lnTo>
                  </a:path>
                </a:pathLst>
              </a:custGeom>
              <a:noFill/>
              <a:ln w="19050">
                <a:solidFill>
                  <a:srgbClr val="FFFFFF"/>
                </a:solidFill>
              </a:ln>
            </p:spPr>
          </p:sp>
        </p:grpSp>
        <p:sp>
          <p:nvSpPr>
            <p:cNvPr id="43" name="TextBox 43"/>
            <p:cNvSpPr txBox="1"/>
            <p:nvPr/>
          </p:nvSpPr>
          <p:spPr>
            <a:xfrm>
              <a:off x="6814185" y="1135856"/>
              <a:ext cx="614528"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是否公开</a:t>
              </a:r>
            </a:p>
          </p:txBody>
        </p:sp>
        <p:sp>
          <p:nvSpPr>
            <p:cNvPr id="44" name="TextBox 44"/>
            <p:cNvSpPr txBox="1"/>
            <p:nvPr/>
          </p:nvSpPr>
          <p:spPr>
            <a:xfrm>
              <a:off x="6814185" y="1345406"/>
              <a:ext cx="765302"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业务成效？</a:t>
              </a:r>
            </a:p>
          </p:txBody>
        </p:sp>
        <p:sp>
          <p:nvSpPr>
            <p:cNvPr id="45" name="TextBox 45"/>
            <p:cNvSpPr txBox="1"/>
            <p:nvPr/>
          </p:nvSpPr>
          <p:spPr>
            <a:xfrm>
              <a:off x="6862839" y="1877139"/>
              <a:ext cx="1285723" cy="154781"/>
            </a:xfrm>
            <a:prstGeom prst="rect">
              <a:avLst/>
            </a:prstGeom>
            <a:noFill/>
            <a:ln>
              <a:noFill/>
            </a:ln>
          </p:spPr>
          <p:txBody>
            <a:bodyPr wrap="none" lIns="0" tIns="0" rIns="0" bIns="0" anchor="t" anchorCtr="0">
              <a:spAutoFit/>
            </a:bodyPr>
            <a:lstStyle/>
            <a:p>
              <a:pPr algn="ctr"/>
              <a:r>
                <a:rPr lang="zh-CN" sz="790" dirty="0">
                  <a:solidFill>
                    <a:srgbClr val="573F3A"/>
                  </a:solidFill>
                  <a:latin typeface="+mn-lt"/>
                  <a:ea typeface="+mn-ea"/>
                  <a:cs typeface="+mn-cs"/>
                </a:rPr>
                <a:t>是否有可核实的业务改进、</a:t>
              </a:r>
            </a:p>
          </p:txBody>
        </p:sp>
        <p:sp>
          <p:nvSpPr>
            <p:cNvPr id="46" name="TextBox 46"/>
            <p:cNvSpPr txBox="1"/>
            <p:nvPr/>
          </p:nvSpPr>
          <p:spPr>
            <a:xfrm>
              <a:off x="6703314" y="2048589"/>
              <a:ext cx="1604772" cy="154781"/>
            </a:xfrm>
            <a:prstGeom prst="rect">
              <a:avLst/>
            </a:prstGeom>
            <a:noFill/>
            <a:ln>
              <a:noFill/>
            </a:ln>
          </p:spPr>
          <p:txBody>
            <a:bodyPr wrap="none" lIns="0" tIns="0" rIns="0" bIns="0" anchor="t" anchorCtr="0">
              <a:spAutoFit/>
            </a:bodyPr>
            <a:lstStyle/>
            <a:p>
              <a:pPr algn="ctr"/>
              <a:r>
                <a:rPr lang="zh-CN" sz="790" dirty="0">
                  <a:solidFill>
                    <a:srgbClr val="573F3A"/>
                  </a:solidFill>
                  <a:latin typeface="+mn-lt"/>
                  <a:ea typeface="+mn-ea"/>
                  <a:cs typeface="+mn-cs"/>
                </a:rPr>
                <a:t>效率提升或管理优化等公开信息？</a:t>
              </a:r>
            </a:p>
          </p:txBody>
        </p:sp>
      </p:grpSp>
      <p:grpSp>
        <p:nvGrpSpPr>
          <p:cNvPr id="58" name="card-q4"/>
          <p:cNvGrpSpPr/>
          <p:nvPr/>
        </p:nvGrpSpPr>
        <p:grpSpPr>
          <a:xfrm>
            <a:off x="9010650" y="952500"/>
            <a:ext cx="2743200" cy="1447800"/>
            <a:chOff x="9010650" y="952500"/>
            <a:chExt cx="2743200" cy="1447800"/>
          </a:xfrm>
        </p:grpSpPr>
        <p:sp>
          <p:nvSpPr>
            <p:cNvPr id="48" name="Rectangle 48"/>
            <p:cNvSpPr/>
            <p:nvPr/>
          </p:nvSpPr>
          <p:spPr>
            <a:xfrm>
              <a:off x="9010650" y="952500"/>
              <a:ext cx="2743200" cy="1447800"/>
            </a:xfrm>
            <a:prstGeom prst="roundRect">
              <a:avLst>
                <a:gd name="adj" fmla="val 5263"/>
              </a:avLst>
            </a:prstGeom>
            <a:solidFill>
              <a:srgbClr val="FFFFFF"/>
            </a:solidFill>
            <a:ln w="9525">
              <a:solidFill>
                <a:srgbClr val="C7D9F0"/>
              </a:solidFill>
            </a:ln>
          </p:spPr>
        </p:sp>
        <p:sp>
          <p:nvSpPr>
            <p:cNvPr id="49" name="Ellipse 49"/>
            <p:cNvSpPr/>
            <p:nvPr/>
          </p:nvSpPr>
          <p:spPr>
            <a:xfrm>
              <a:off x="9163050" y="1123950"/>
              <a:ext cx="419100" cy="419100"/>
            </a:xfrm>
            <a:prstGeom prst="ellipse">
              <a:avLst/>
            </a:prstGeom>
            <a:solidFill>
              <a:srgbClr val="9C331E"/>
            </a:solidFill>
            <a:ln>
              <a:noFill/>
            </a:ln>
          </p:spPr>
        </p:sp>
        <p:grpSp>
          <p:nvGrpSpPr>
            <p:cNvPr id="53" name="Group 53"/>
            <p:cNvGrpSpPr/>
            <p:nvPr/>
          </p:nvGrpSpPr>
          <p:grpSpPr>
            <a:xfrm>
              <a:off x="9305925" y="1247775"/>
              <a:ext cx="133350" cy="171450"/>
              <a:chOff x="9305925" y="1247775"/>
              <a:chExt cx="133350" cy="171450"/>
            </a:xfrm>
          </p:grpSpPr>
          <p:sp>
            <p:nvSpPr>
              <p:cNvPr id="50" name="Freeform 50"/>
              <p:cNvSpPr/>
              <p:nvPr/>
            </p:nvSpPr>
            <p:spPr>
              <a:xfrm>
                <a:off x="9305925" y="130492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FFFFFF"/>
                </a:solidFill>
              </a:ln>
            </p:spPr>
          </p:sp>
          <p:sp>
            <p:nvSpPr>
              <p:cNvPr id="51" name="Freeform 51"/>
              <p:cNvSpPr/>
              <p:nvPr/>
            </p:nvSpPr>
            <p:spPr>
              <a:xfrm>
                <a:off x="9372600" y="1247775"/>
                <a:ext cx="9525" cy="104775"/>
              </a:xfrm>
              <a:custGeom>
                <a:avLst/>
                <a:gdLst/>
                <a:ahLst/>
                <a:cxnLst/>
                <a:rect l="l" t="t" r="r" b="b"/>
                <a:pathLst>
                  <a:path w="9525" h="104775">
                    <a:moveTo>
                      <a:pt x="0" y="104775"/>
                    </a:moveTo>
                    <a:lnTo>
                      <a:pt x="0" y="0"/>
                    </a:lnTo>
                  </a:path>
                </a:pathLst>
              </a:custGeom>
              <a:noFill/>
              <a:ln w="19050">
                <a:solidFill>
                  <a:srgbClr val="FFFFFF"/>
                </a:solidFill>
              </a:ln>
            </p:spPr>
          </p:sp>
          <p:sp>
            <p:nvSpPr>
              <p:cNvPr id="52" name="Freeform 52"/>
              <p:cNvSpPr/>
              <p:nvPr/>
            </p:nvSpPr>
            <p:spPr>
              <a:xfrm>
                <a:off x="9344025" y="1247775"/>
                <a:ext cx="57150" cy="28575"/>
              </a:xfrm>
              <a:custGeom>
                <a:avLst/>
                <a:gdLst/>
                <a:ahLst/>
                <a:cxnLst/>
                <a:rect l="l" t="t" r="r" b="b"/>
                <a:pathLst>
                  <a:path w="57150" h="28575">
                    <a:moveTo>
                      <a:pt x="0" y="28575"/>
                    </a:moveTo>
                    <a:lnTo>
                      <a:pt x="28575" y="0"/>
                    </a:lnTo>
                    <a:lnTo>
                      <a:pt x="57150" y="28575"/>
                    </a:lnTo>
                  </a:path>
                </a:pathLst>
              </a:custGeom>
              <a:noFill/>
              <a:ln w="19050">
                <a:solidFill>
                  <a:srgbClr val="FFFFFF"/>
                </a:solidFill>
              </a:ln>
            </p:spPr>
          </p:sp>
        </p:grpSp>
        <p:sp>
          <p:nvSpPr>
            <p:cNvPr id="54" name="TextBox 54"/>
            <p:cNvSpPr txBox="1"/>
            <p:nvPr/>
          </p:nvSpPr>
          <p:spPr>
            <a:xfrm>
              <a:off x="9690735" y="1135856"/>
              <a:ext cx="614528"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是否具备</a:t>
              </a:r>
            </a:p>
          </p:txBody>
        </p:sp>
        <p:sp>
          <p:nvSpPr>
            <p:cNvPr id="55" name="TextBox 55"/>
            <p:cNvSpPr txBox="1"/>
            <p:nvPr/>
          </p:nvSpPr>
          <p:spPr>
            <a:xfrm>
              <a:off x="9690735" y="1345406"/>
              <a:ext cx="1066851"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复制扩展条件？</a:t>
              </a:r>
            </a:p>
          </p:txBody>
        </p:sp>
        <p:sp>
          <p:nvSpPr>
            <p:cNvPr id="56" name="TextBox 56"/>
            <p:cNvSpPr txBox="1"/>
            <p:nvPr/>
          </p:nvSpPr>
          <p:spPr>
            <a:xfrm>
              <a:off x="9739389" y="1877139"/>
              <a:ext cx="1285723" cy="154781"/>
            </a:xfrm>
            <a:prstGeom prst="rect">
              <a:avLst/>
            </a:prstGeom>
            <a:noFill/>
            <a:ln>
              <a:noFill/>
            </a:ln>
          </p:spPr>
          <p:txBody>
            <a:bodyPr wrap="none" lIns="0" tIns="0" rIns="0" bIns="0" anchor="t" anchorCtr="0">
              <a:spAutoFit/>
            </a:bodyPr>
            <a:lstStyle/>
            <a:p>
              <a:pPr algn="ctr"/>
              <a:r>
                <a:rPr lang="zh-CN" sz="790" dirty="0">
                  <a:solidFill>
                    <a:srgbClr val="573F3A"/>
                  </a:solidFill>
                  <a:latin typeface="+mn-lt"/>
                  <a:ea typeface="+mn-ea"/>
                  <a:cs typeface="+mn-cs"/>
                </a:rPr>
                <a:t>是否在组织、数据、技术、</a:t>
              </a:r>
            </a:p>
          </p:txBody>
        </p:sp>
        <p:sp>
          <p:nvSpPr>
            <p:cNvPr id="57" name="TextBox 57"/>
            <p:cNvSpPr txBox="1"/>
            <p:nvPr/>
          </p:nvSpPr>
          <p:spPr>
            <a:xfrm>
              <a:off x="9420339" y="2048589"/>
              <a:ext cx="1923821" cy="154781"/>
            </a:xfrm>
            <a:prstGeom prst="rect">
              <a:avLst/>
            </a:prstGeom>
            <a:noFill/>
            <a:ln>
              <a:noFill/>
            </a:ln>
          </p:spPr>
          <p:txBody>
            <a:bodyPr wrap="none" lIns="0" tIns="0" rIns="0" bIns="0" anchor="t" anchorCtr="0">
              <a:spAutoFit/>
            </a:bodyPr>
            <a:lstStyle/>
            <a:p>
              <a:pPr algn="ctr"/>
              <a:r>
                <a:rPr lang="zh-CN" sz="790" dirty="0">
                  <a:solidFill>
                    <a:srgbClr val="573F3A"/>
                  </a:solidFill>
                  <a:latin typeface="+mn-lt"/>
                  <a:ea typeface="+mn-ea"/>
                  <a:cs typeface="+mn-cs"/>
                </a:rPr>
                <a:t>流程等方面具备可复制、可推广的基础？</a:t>
              </a:r>
            </a:p>
          </p:txBody>
        </p:sp>
      </p:grpSp>
      <p:grpSp>
        <p:nvGrpSpPr>
          <p:cNvPr id="102" name="sources"/>
          <p:cNvGrpSpPr/>
          <p:nvPr/>
        </p:nvGrpSpPr>
        <p:grpSpPr>
          <a:xfrm>
            <a:off x="381000" y="2552700"/>
            <a:ext cx="2476500" cy="1924050"/>
            <a:chOff x="381000" y="2552700"/>
            <a:chExt cx="2476500" cy="1924050"/>
          </a:xfrm>
        </p:grpSpPr>
        <p:sp>
          <p:nvSpPr>
            <p:cNvPr id="59" name="Rectangle 59"/>
            <p:cNvSpPr/>
            <p:nvPr/>
          </p:nvSpPr>
          <p:spPr>
            <a:xfrm>
              <a:off x="381000" y="2552700"/>
              <a:ext cx="2476500" cy="1924050"/>
            </a:xfrm>
            <a:prstGeom prst="roundRect">
              <a:avLst>
                <a:gd name="adj" fmla="val 3960"/>
              </a:avLst>
            </a:prstGeom>
            <a:solidFill>
              <a:srgbClr val="EFF5FC"/>
            </a:solidFill>
            <a:ln w="9525">
              <a:solidFill>
                <a:srgbClr val="C7D9F0"/>
              </a:solidFill>
            </a:ln>
          </p:spPr>
        </p:sp>
        <p:sp>
          <p:nvSpPr>
            <p:cNvPr id="60" name="Rectangle 60"/>
            <p:cNvSpPr/>
            <p:nvPr/>
          </p:nvSpPr>
          <p:spPr>
            <a:xfrm>
              <a:off x="381000" y="2552700"/>
              <a:ext cx="2476500" cy="323850"/>
            </a:xfrm>
            <a:prstGeom prst="roundRect">
              <a:avLst>
                <a:gd name="adj" fmla="val 23529"/>
              </a:avLst>
            </a:prstGeom>
            <a:solidFill>
              <a:srgbClr val="DCE9F8"/>
            </a:solidFill>
            <a:ln>
              <a:noFill/>
            </a:ln>
          </p:spPr>
        </p:sp>
        <p:grpSp>
          <p:nvGrpSpPr>
            <p:cNvPr id="69" name="Group 69"/>
            <p:cNvGrpSpPr/>
            <p:nvPr/>
          </p:nvGrpSpPr>
          <p:grpSpPr>
            <a:xfrm>
              <a:off x="538162" y="2652712"/>
              <a:ext cx="144463" cy="152400"/>
              <a:chOff x="538162" y="2652712"/>
              <a:chExt cx="144463" cy="152400"/>
            </a:xfrm>
          </p:grpSpPr>
          <p:sp>
            <p:nvSpPr>
              <p:cNvPr id="61" name="Freeform 61"/>
              <p:cNvSpPr/>
              <p:nvPr/>
            </p:nvSpPr>
            <p:spPr>
              <a:xfrm>
                <a:off x="538162" y="2795587"/>
                <a:ext cx="142875" cy="9525"/>
              </a:xfrm>
              <a:custGeom>
                <a:avLst/>
                <a:gdLst/>
                <a:ahLst/>
                <a:cxnLst/>
                <a:rect l="l" t="t" r="r" b="b"/>
                <a:pathLst>
                  <a:path w="142875" h="9525">
                    <a:moveTo>
                      <a:pt x="0" y="0"/>
                    </a:moveTo>
                    <a:lnTo>
                      <a:pt x="142875" y="0"/>
                    </a:lnTo>
                  </a:path>
                </a:pathLst>
              </a:custGeom>
              <a:noFill/>
              <a:ln w="15875">
                <a:solidFill>
                  <a:srgbClr val="9C331E"/>
                </a:solidFill>
              </a:ln>
            </p:spPr>
          </p:sp>
          <p:sp>
            <p:nvSpPr>
              <p:cNvPr id="62" name="Freeform 62"/>
              <p:cNvSpPr/>
              <p:nvPr/>
            </p:nvSpPr>
            <p:spPr>
              <a:xfrm>
                <a:off x="538162" y="2708275"/>
                <a:ext cx="142875" cy="9525"/>
              </a:xfrm>
              <a:custGeom>
                <a:avLst/>
                <a:gdLst/>
                <a:ahLst/>
                <a:cxnLst/>
                <a:rect l="l" t="t" r="r" b="b"/>
                <a:pathLst>
                  <a:path w="142875" h="9525">
                    <a:moveTo>
                      <a:pt x="0" y="0"/>
                    </a:moveTo>
                    <a:lnTo>
                      <a:pt x="142875" y="0"/>
                    </a:lnTo>
                  </a:path>
                </a:pathLst>
              </a:custGeom>
              <a:noFill/>
              <a:ln w="15875">
                <a:solidFill>
                  <a:srgbClr val="9C331E"/>
                </a:solidFill>
              </a:ln>
            </p:spPr>
          </p:sp>
          <p:sp>
            <p:nvSpPr>
              <p:cNvPr id="63" name="Freeform 63"/>
              <p:cNvSpPr/>
              <p:nvPr/>
            </p:nvSpPr>
            <p:spPr>
              <a:xfrm>
                <a:off x="554037" y="2652712"/>
                <a:ext cx="111125" cy="23812"/>
              </a:xfrm>
              <a:custGeom>
                <a:avLst/>
                <a:gdLst/>
                <a:ahLst/>
                <a:cxnLst/>
                <a:rect l="l" t="t" r="r" b="b"/>
                <a:pathLst>
                  <a:path w="111125" h="23812">
                    <a:moveTo>
                      <a:pt x="0" y="23812"/>
                    </a:moveTo>
                    <a:lnTo>
                      <a:pt x="55562" y="0"/>
                    </a:lnTo>
                    <a:lnTo>
                      <a:pt x="111125" y="23812"/>
                    </a:lnTo>
                  </a:path>
                </a:pathLst>
              </a:custGeom>
              <a:noFill/>
              <a:ln w="15875">
                <a:solidFill>
                  <a:srgbClr val="9C331E"/>
                </a:solidFill>
              </a:ln>
            </p:spPr>
          </p:sp>
          <p:sp>
            <p:nvSpPr>
              <p:cNvPr id="64" name="Freeform 64"/>
              <p:cNvSpPr/>
              <p:nvPr/>
            </p:nvSpPr>
            <p:spPr>
              <a:xfrm>
                <a:off x="546100" y="2708275"/>
                <a:ext cx="9525" cy="87312"/>
              </a:xfrm>
              <a:custGeom>
                <a:avLst/>
                <a:gdLst/>
                <a:ahLst/>
                <a:cxnLst/>
                <a:rect l="l" t="t" r="r" b="b"/>
                <a:pathLst>
                  <a:path w="9525" h="87312">
                    <a:moveTo>
                      <a:pt x="0" y="0"/>
                    </a:moveTo>
                    <a:lnTo>
                      <a:pt x="0" y="87312"/>
                    </a:lnTo>
                  </a:path>
                </a:pathLst>
              </a:custGeom>
              <a:noFill/>
              <a:ln w="15875">
                <a:solidFill>
                  <a:srgbClr val="9C331E"/>
                </a:solidFill>
              </a:ln>
            </p:spPr>
          </p:sp>
          <p:sp>
            <p:nvSpPr>
              <p:cNvPr id="65" name="Freeform 65"/>
              <p:cNvSpPr/>
              <p:nvPr/>
            </p:nvSpPr>
            <p:spPr>
              <a:xfrm>
                <a:off x="673100" y="2708275"/>
                <a:ext cx="9525" cy="87312"/>
              </a:xfrm>
              <a:custGeom>
                <a:avLst/>
                <a:gdLst/>
                <a:ahLst/>
                <a:cxnLst/>
                <a:rect l="l" t="t" r="r" b="b"/>
                <a:pathLst>
                  <a:path w="9525" h="87312">
                    <a:moveTo>
                      <a:pt x="0" y="0"/>
                    </a:moveTo>
                    <a:lnTo>
                      <a:pt x="0" y="87312"/>
                    </a:lnTo>
                  </a:path>
                </a:pathLst>
              </a:custGeom>
              <a:noFill/>
              <a:ln w="15875">
                <a:solidFill>
                  <a:srgbClr val="9C331E"/>
                </a:solidFill>
              </a:ln>
            </p:spPr>
          </p:sp>
          <p:sp>
            <p:nvSpPr>
              <p:cNvPr id="66" name="Freeform 66"/>
              <p:cNvSpPr/>
              <p:nvPr/>
            </p:nvSpPr>
            <p:spPr>
              <a:xfrm>
                <a:off x="577850" y="2740025"/>
                <a:ext cx="9525" cy="23812"/>
              </a:xfrm>
              <a:custGeom>
                <a:avLst/>
                <a:gdLst/>
                <a:ahLst/>
                <a:cxnLst/>
                <a:rect l="l" t="t" r="r" b="b"/>
                <a:pathLst>
                  <a:path w="9525" h="23812">
                    <a:moveTo>
                      <a:pt x="0" y="0"/>
                    </a:moveTo>
                    <a:lnTo>
                      <a:pt x="0" y="23812"/>
                    </a:lnTo>
                  </a:path>
                </a:pathLst>
              </a:custGeom>
              <a:noFill/>
              <a:ln w="15875">
                <a:solidFill>
                  <a:srgbClr val="9C331E"/>
                </a:solidFill>
              </a:ln>
            </p:spPr>
          </p:sp>
          <p:sp>
            <p:nvSpPr>
              <p:cNvPr id="67" name="Freeform 67"/>
              <p:cNvSpPr/>
              <p:nvPr/>
            </p:nvSpPr>
            <p:spPr>
              <a:xfrm>
                <a:off x="609600" y="2740025"/>
                <a:ext cx="9525" cy="23812"/>
              </a:xfrm>
              <a:custGeom>
                <a:avLst/>
                <a:gdLst/>
                <a:ahLst/>
                <a:cxnLst/>
                <a:rect l="l" t="t" r="r" b="b"/>
                <a:pathLst>
                  <a:path w="9525" h="23812">
                    <a:moveTo>
                      <a:pt x="0" y="0"/>
                    </a:moveTo>
                    <a:lnTo>
                      <a:pt x="0" y="23812"/>
                    </a:lnTo>
                  </a:path>
                </a:pathLst>
              </a:custGeom>
              <a:noFill/>
              <a:ln w="15875">
                <a:solidFill>
                  <a:srgbClr val="9C331E"/>
                </a:solidFill>
              </a:ln>
            </p:spPr>
          </p:sp>
          <p:sp>
            <p:nvSpPr>
              <p:cNvPr id="68" name="Freeform 68"/>
              <p:cNvSpPr/>
              <p:nvPr/>
            </p:nvSpPr>
            <p:spPr>
              <a:xfrm>
                <a:off x="641350" y="2740025"/>
                <a:ext cx="9525" cy="23812"/>
              </a:xfrm>
              <a:custGeom>
                <a:avLst/>
                <a:gdLst/>
                <a:ahLst/>
                <a:cxnLst/>
                <a:rect l="l" t="t" r="r" b="b"/>
                <a:pathLst>
                  <a:path w="9525" h="23812">
                    <a:moveTo>
                      <a:pt x="0" y="0"/>
                    </a:moveTo>
                    <a:lnTo>
                      <a:pt x="0" y="23812"/>
                    </a:lnTo>
                  </a:path>
                </a:pathLst>
              </a:custGeom>
              <a:noFill/>
              <a:ln w="15875">
                <a:solidFill>
                  <a:srgbClr val="9C331E"/>
                </a:solidFill>
              </a:ln>
            </p:spPr>
          </p:sp>
        </p:grpSp>
        <p:sp>
          <p:nvSpPr>
            <p:cNvPr id="70" name="TextBox 70"/>
            <p:cNvSpPr txBox="1"/>
            <p:nvPr/>
          </p:nvSpPr>
          <p:spPr>
            <a:xfrm>
              <a:off x="775716" y="2658428"/>
              <a:ext cx="576072" cy="205359"/>
            </a:xfrm>
            <a:prstGeom prst="rect">
              <a:avLst/>
            </a:prstGeom>
            <a:noFill/>
            <a:ln>
              <a:noFill/>
            </a:ln>
          </p:spPr>
          <p:txBody>
            <a:bodyPr wrap="none" lIns="0" tIns="0" rIns="0" bIns="0" anchor="t" anchorCtr="0">
              <a:spAutoFit/>
            </a:bodyPr>
            <a:lstStyle/>
            <a:p>
              <a:pPr algn="l"/>
              <a:r>
                <a:rPr lang="zh-CN" sz="1050" b="1" dirty="0">
                  <a:solidFill>
                    <a:srgbClr val="5E2114"/>
                  </a:solidFill>
                  <a:latin typeface="+mn-lt"/>
                  <a:ea typeface="+mn-ea"/>
                  <a:cs typeface="+mn-cs"/>
                </a:rPr>
                <a:t>信息来源</a:t>
              </a:r>
            </a:p>
          </p:txBody>
        </p:sp>
        <p:grpSp>
          <p:nvGrpSpPr>
            <p:cNvPr id="79" name="Group 79"/>
            <p:cNvGrpSpPr/>
            <p:nvPr/>
          </p:nvGrpSpPr>
          <p:grpSpPr>
            <a:xfrm>
              <a:off x="552450" y="3028950"/>
              <a:ext cx="114300" cy="123825"/>
              <a:chOff x="552450" y="3028950"/>
              <a:chExt cx="114300" cy="123825"/>
            </a:xfrm>
          </p:grpSpPr>
          <p:sp>
            <p:nvSpPr>
              <p:cNvPr id="71" name="Freeform 71"/>
              <p:cNvSpPr/>
              <p:nvPr/>
            </p:nvSpPr>
            <p:spPr>
              <a:xfrm>
                <a:off x="552450" y="3143250"/>
                <a:ext cx="114300" cy="9525"/>
              </a:xfrm>
              <a:custGeom>
                <a:avLst/>
                <a:gdLst/>
                <a:ahLst/>
                <a:cxnLst/>
                <a:rect l="l" t="t" r="r" b="b"/>
                <a:pathLst>
                  <a:path w="114300" h="9525">
                    <a:moveTo>
                      <a:pt x="0" y="0"/>
                    </a:moveTo>
                    <a:lnTo>
                      <a:pt x="114300" y="0"/>
                    </a:lnTo>
                  </a:path>
                </a:pathLst>
              </a:custGeom>
              <a:noFill/>
              <a:ln w="12700">
                <a:solidFill>
                  <a:srgbClr val="9C331E"/>
                </a:solidFill>
              </a:ln>
            </p:spPr>
          </p:sp>
          <p:sp>
            <p:nvSpPr>
              <p:cNvPr id="72" name="Freeform 72"/>
              <p:cNvSpPr/>
              <p:nvPr/>
            </p:nvSpPr>
            <p:spPr>
              <a:xfrm>
                <a:off x="590550" y="3060700"/>
                <a:ext cx="9525" cy="9525"/>
              </a:xfrm>
              <a:custGeom>
                <a:avLst/>
                <a:gdLst/>
                <a:ahLst/>
                <a:cxnLst/>
                <a:rect l="l" t="t" r="r" b="b"/>
                <a:pathLst>
                  <a:path w="9525" h="9525">
                    <a:moveTo>
                      <a:pt x="0" y="0"/>
                    </a:moveTo>
                    <a:lnTo>
                      <a:pt x="6350" y="0"/>
                    </a:lnTo>
                  </a:path>
                </a:pathLst>
              </a:custGeom>
              <a:noFill/>
              <a:ln w="12700">
                <a:solidFill>
                  <a:srgbClr val="9C331E"/>
                </a:solidFill>
              </a:ln>
            </p:spPr>
          </p:sp>
          <p:sp>
            <p:nvSpPr>
              <p:cNvPr id="73" name="Freeform 73"/>
              <p:cNvSpPr/>
              <p:nvPr/>
            </p:nvSpPr>
            <p:spPr>
              <a:xfrm>
                <a:off x="590550" y="3086100"/>
                <a:ext cx="9525" cy="9525"/>
              </a:xfrm>
              <a:custGeom>
                <a:avLst/>
                <a:gdLst/>
                <a:ahLst/>
                <a:cxnLst/>
                <a:rect l="l" t="t" r="r" b="b"/>
                <a:pathLst>
                  <a:path w="9525" h="9525">
                    <a:moveTo>
                      <a:pt x="0" y="0"/>
                    </a:moveTo>
                    <a:lnTo>
                      <a:pt x="6350" y="0"/>
                    </a:lnTo>
                  </a:path>
                </a:pathLst>
              </a:custGeom>
              <a:noFill/>
              <a:ln w="12700">
                <a:solidFill>
                  <a:srgbClr val="9C331E"/>
                </a:solidFill>
              </a:ln>
            </p:spPr>
          </p:sp>
          <p:sp>
            <p:nvSpPr>
              <p:cNvPr id="74" name="Freeform 74"/>
              <p:cNvSpPr/>
              <p:nvPr/>
            </p:nvSpPr>
            <p:spPr>
              <a:xfrm>
                <a:off x="590550" y="3111500"/>
                <a:ext cx="9525" cy="9525"/>
              </a:xfrm>
              <a:custGeom>
                <a:avLst/>
                <a:gdLst/>
                <a:ahLst/>
                <a:cxnLst/>
                <a:rect l="l" t="t" r="r" b="b"/>
                <a:pathLst>
                  <a:path w="9525" h="9525">
                    <a:moveTo>
                      <a:pt x="0" y="0"/>
                    </a:moveTo>
                    <a:lnTo>
                      <a:pt x="6350" y="0"/>
                    </a:lnTo>
                  </a:path>
                </a:pathLst>
              </a:custGeom>
              <a:noFill/>
              <a:ln w="12700">
                <a:solidFill>
                  <a:srgbClr val="9C331E"/>
                </a:solidFill>
              </a:ln>
            </p:spPr>
          </p:sp>
          <p:sp>
            <p:nvSpPr>
              <p:cNvPr id="75" name="Freeform 75"/>
              <p:cNvSpPr/>
              <p:nvPr/>
            </p:nvSpPr>
            <p:spPr>
              <a:xfrm>
                <a:off x="622300" y="3060700"/>
                <a:ext cx="9525" cy="9525"/>
              </a:xfrm>
              <a:custGeom>
                <a:avLst/>
                <a:gdLst/>
                <a:ahLst/>
                <a:cxnLst/>
                <a:rect l="l" t="t" r="r" b="b"/>
                <a:pathLst>
                  <a:path w="9525" h="9525">
                    <a:moveTo>
                      <a:pt x="0" y="0"/>
                    </a:moveTo>
                    <a:lnTo>
                      <a:pt x="6350" y="0"/>
                    </a:lnTo>
                  </a:path>
                </a:pathLst>
              </a:custGeom>
              <a:noFill/>
              <a:ln w="12700">
                <a:solidFill>
                  <a:srgbClr val="9C331E"/>
                </a:solidFill>
              </a:ln>
            </p:spPr>
          </p:sp>
          <p:sp>
            <p:nvSpPr>
              <p:cNvPr id="76" name="Freeform 76"/>
              <p:cNvSpPr/>
              <p:nvPr/>
            </p:nvSpPr>
            <p:spPr>
              <a:xfrm>
                <a:off x="622300" y="3086100"/>
                <a:ext cx="9525" cy="9525"/>
              </a:xfrm>
              <a:custGeom>
                <a:avLst/>
                <a:gdLst/>
                <a:ahLst/>
                <a:cxnLst/>
                <a:rect l="l" t="t" r="r" b="b"/>
                <a:pathLst>
                  <a:path w="9525" h="9525">
                    <a:moveTo>
                      <a:pt x="0" y="0"/>
                    </a:moveTo>
                    <a:lnTo>
                      <a:pt x="6350" y="0"/>
                    </a:lnTo>
                  </a:path>
                </a:pathLst>
              </a:custGeom>
              <a:noFill/>
              <a:ln w="12700">
                <a:solidFill>
                  <a:srgbClr val="9C331E"/>
                </a:solidFill>
              </a:ln>
            </p:spPr>
          </p:sp>
          <p:sp>
            <p:nvSpPr>
              <p:cNvPr id="77" name="Freeform 77"/>
              <p:cNvSpPr/>
              <p:nvPr/>
            </p:nvSpPr>
            <p:spPr>
              <a:xfrm>
                <a:off x="622300" y="3111500"/>
                <a:ext cx="9525" cy="9525"/>
              </a:xfrm>
              <a:custGeom>
                <a:avLst/>
                <a:gdLst/>
                <a:ahLst/>
                <a:cxnLst/>
                <a:rect l="l" t="t" r="r" b="b"/>
                <a:pathLst>
                  <a:path w="9525" h="9525">
                    <a:moveTo>
                      <a:pt x="0" y="0"/>
                    </a:moveTo>
                    <a:lnTo>
                      <a:pt x="6350" y="0"/>
                    </a:lnTo>
                  </a:path>
                </a:pathLst>
              </a:custGeom>
              <a:noFill/>
              <a:ln w="12700">
                <a:solidFill>
                  <a:srgbClr val="9C331E"/>
                </a:solidFill>
              </a:ln>
            </p:spPr>
          </p:sp>
          <p:sp>
            <p:nvSpPr>
              <p:cNvPr id="78" name="Freeform 78"/>
              <p:cNvSpPr/>
              <p:nvPr/>
            </p:nvSpPr>
            <p:spPr>
              <a:xfrm>
                <a:off x="565150" y="3028950"/>
                <a:ext cx="88900" cy="114300"/>
              </a:xfrm>
              <a:custGeom>
                <a:avLst/>
                <a:gdLst/>
                <a:ahLst/>
                <a:cxnLst/>
                <a:rect l="l" t="t" r="r" b="b"/>
                <a:pathLst>
                  <a:path w="88900" h="114300">
                    <a:moveTo>
                      <a:pt x="0" y="114300"/>
                    </a:moveTo>
                    <a:lnTo>
                      <a:pt x="0" y="12700"/>
                    </a:lnTo>
                    <a:cubicBezTo>
                      <a:pt x="0" y="5686"/>
                      <a:pt x="5686" y="0"/>
                      <a:pt x="12700" y="0"/>
                    </a:cubicBezTo>
                    <a:lnTo>
                      <a:pt x="76200" y="0"/>
                    </a:lnTo>
                    <a:cubicBezTo>
                      <a:pt x="83214" y="0"/>
                      <a:pt x="88900" y="5686"/>
                      <a:pt x="88900" y="12700"/>
                    </a:cubicBezTo>
                    <a:lnTo>
                      <a:pt x="88900" y="114300"/>
                    </a:lnTo>
                  </a:path>
                </a:pathLst>
              </a:custGeom>
              <a:noFill/>
              <a:ln w="12700">
                <a:solidFill>
                  <a:srgbClr val="9C331E"/>
                </a:solidFill>
              </a:ln>
            </p:spPr>
          </p:sp>
        </p:grpSp>
        <p:sp>
          <p:nvSpPr>
            <p:cNvPr id="80" name="TextBox 80"/>
            <p:cNvSpPr txBox="1"/>
            <p:nvPr/>
          </p:nvSpPr>
          <p:spPr>
            <a:xfrm>
              <a:off x="757238" y="3040618"/>
              <a:ext cx="935711"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国资委与部委官网</a:t>
              </a:r>
            </a:p>
          </p:txBody>
        </p:sp>
        <p:grpSp>
          <p:nvGrpSpPr>
            <p:cNvPr id="86" name="Group 86"/>
            <p:cNvGrpSpPr/>
            <p:nvPr/>
          </p:nvGrpSpPr>
          <p:grpSpPr>
            <a:xfrm>
              <a:off x="565150" y="3295650"/>
              <a:ext cx="88900" cy="114300"/>
              <a:chOff x="565150" y="3295650"/>
              <a:chExt cx="88900" cy="114300"/>
            </a:xfrm>
          </p:grpSpPr>
          <p:sp>
            <p:nvSpPr>
              <p:cNvPr id="81" name="Freeform 81"/>
              <p:cNvSpPr/>
              <p:nvPr/>
            </p:nvSpPr>
            <p:spPr>
              <a:xfrm>
                <a:off x="622300" y="32956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9C331E"/>
                </a:solidFill>
              </a:ln>
            </p:spPr>
          </p:sp>
          <p:sp>
            <p:nvSpPr>
              <p:cNvPr id="82" name="Freeform 82"/>
              <p:cNvSpPr/>
              <p:nvPr/>
            </p:nvSpPr>
            <p:spPr>
              <a:xfrm>
                <a:off x="565150" y="32956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9C331E"/>
                </a:solidFill>
              </a:ln>
            </p:spPr>
          </p:sp>
          <p:sp>
            <p:nvSpPr>
              <p:cNvPr id="83" name="Freeform 83"/>
              <p:cNvSpPr/>
              <p:nvPr/>
            </p:nvSpPr>
            <p:spPr>
              <a:xfrm>
                <a:off x="590550" y="3333750"/>
                <a:ext cx="9525" cy="9525"/>
              </a:xfrm>
              <a:custGeom>
                <a:avLst/>
                <a:gdLst/>
                <a:ahLst/>
                <a:cxnLst/>
                <a:rect l="l" t="t" r="r" b="b"/>
                <a:pathLst>
                  <a:path w="9525" h="9525">
                    <a:moveTo>
                      <a:pt x="0" y="0"/>
                    </a:moveTo>
                    <a:lnTo>
                      <a:pt x="6350" y="0"/>
                    </a:lnTo>
                  </a:path>
                </a:pathLst>
              </a:custGeom>
              <a:noFill/>
              <a:ln w="12700">
                <a:solidFill>
                  <a:srgbClr val="9C331E"/>
                </a:solidFill>
              </a:ln>
            </p:spPr>
          </p:sp>
          <p:sp>
            <p:nvSpPr>
              <p:cNvPr id="84" name="Freeform 84"/>
              <p:cNvSpPr/>
              <p:nvPr/>
            </p:nvSpPr>
            <p:spPr>
              <a:xfrm>
                <a:off x="590550" y="3359150"/>
                <a:ext cx="38100" cy="9525"/>
              </a:xfrm>
              <a:custGeom>
                <a:avLst/>
                <a:gdLst/>
                <a:ahLst/>
                <a:cxnLst/>
                <a:rect l="l" t="t" r="r" b="b"/>
                <a:pathLst>
                  <a:path w="38100" h="9525">
                    <a:moveTo>
                      <a:pt x="0" y="0"/>
                    </a:moveTo>
                    <a:lnTo>
                      <a:pt x="38100" y="0"/>
                    </a:lnTo>
                  </a:path>
                </a:pathLst>
              </a:custGeom>
              <a:noFill/>
              <a:ln w="12700">
                <a:solidFill>
                  <a:srgbClr val="9C331E"/>
                </a:solidFill>
              </a:ln>
            </p:spPr>
          </p:sp>
          <p:sp>
            <p:nvSpPr>
              <p:cNvPr id="85" name="Freeform 85"/>
              <p:cNvSpPr/>
              <p:nvPr/>
            </p:nvSpPr>
            <p:spPr>
              <a:xfrm>
                <a:off x="590550" y="3384550"/>
                <a:ext cx="38100" cy="9525"/>
              </a:xfrm>
              <a:custGeom>
                <a:avLst/>
                <a:gdLst/>
                <a:ahLst/>
                <a:cxnLst/>
                <a:rect l="l" t="t" r="r" b="b"/>
                <a:pathLst>
                  <a:path w="38100" h="9525">
                    <a:moveTo>
                      <a:pt x="0" y="0"/>
                    </a:moveTo>
                    <a:lnTo>
                      <a:pt x="38100" y="0"/>
                    </a:lnTo>
                  </a:path>
                </a:pathLst>
              </a:custGeom>
              <a:noFill/>
              <a:ln w="12700">
                <a:solidFill>
                  <a:srgbClr val="9C331E"/>
                </a:solidFill>
              </a:ln>
            </p:spPr>
          </p:sp>
        </p:grpSp>
        <p:sp>
          <p:nvSpPr>
            <p:cNvPr id="87" name="TextBox 87"/>
            <p:cNvSpPr txBox="1"/>
            <p:nvPr/>
          </p:nvSpPr>
          <p:spPr>
            <a:xfrm>
              <a:off x="757238" y="3307318"/>
              <a:ext cx="472618"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央企公告</a:t>
              </a:r>
            </a:p>
          </p:txBody>
        </p:sp>
        <p:grpSp>
          <p:nvGrpSpPr>
            <p:cNvPr id="92" name="Group 92"/>
            <p:cNvGrpSpPr/>
            <p:nvPr/>
          </p:nvGrpSpPr>
          <p:grpSpPr>
            <a:xfrm>
              <a:off x="558800" y="3568700"/>
              <a:ext cx="101600" cy="101600"/>
              <a:chOff x="558800" y="3568700"/>
              <a:chExt cx="101600" cy="101600"/>
            </a:xfrm>
          </p:grpSpPr>
          <p:sp>
            <p:nvSpPr>
              <p:cNvPr id="88" name="Freeform 88"/>
              <p:cNvSpPr/>
              <p:nvPr/>
            </p:nvSpPr>
            <p:spPr>
              <a:xfrm>
                <a:off x="558800" y="3568700"/>
                <a:ext cx="101600" cy="101600"/>
              </a:xfrm>
              <a:custGeom>
                <a:avLst/>
                <a:gdLst/>
                <a:ahLst/>
                <a:cxnLst/>
                <a:rect l="l" t="t" r="r" b="b"/>
                <a:pathLst>
                  <a:path w="101600" h="101600">
                    <a:moveTo>
                      <a:pt x="76200" y="12700"/>
                    </a:moveTo>
                    <a:lnTo>
                      <a:pt x="95250" y="12700"/>
                    </a:lnTo>
                    <a:cubicBezTo>
                      <a:pt x="98757" y="12700"/>
                      <a:pt x="101600" y="15543"/>
                      <a:pt x="101600" y="19050"/>
                    </a:cubicBezTo>
                    <a:lnTo>
                      <a:pt x="101600" y="88900"/>
                    </a:lnTo>
                    <a:cubicBezTo>
                      <a:pt x="101600" y="95914"/>
                      <a:pt x="95914" y="101600"/>
                      <a:pt x="88900" y="101600"/>
                    </a:cubicBezTo>
                    <a:cubicBezTo>
                      <a:pt x="81886" y="101600"/>
                      <a:pt x="76200" y="95914"/>
                      <a:pt x="76200" y="88900"/>
                    </a:cubicBezTo>
                    <a:lnTo>
                      <a:pt x="76200" y="6350"/>
                    </a:lnTo>
                    <a:cubicBezTo>
                      <a:pt x="76200" y="2843"/>
                      <a:pt x="73357" y="0"/>
                      <a:pt x="69850" y="0"/>
                    </a:cubicBezTo>
                    <a:lnTo>
                      <a:pt x="6350" y="0"/>
                    </a:lnTo>
                    <a:cubicBezTo>
                      <a:pt x="2843" y="0"/>
                      <a:pt x="0" y="2843"/>
                      <a:pt x="0" y="6350"/>
                    </a:cubicBezTo>
                    <a:lnTo>
                      <a:pt x="0" y="82550"/>
                    </a:lnTo>
                    <a:cubicBezTo>
                      <a:pt x="0" y="93071"/>
                      <a:pt x="8529" y="101600"/>
                      <a:pt x="19050" y="101600"/>
                    </a:cubicBezTo>
                    <a:lnTo>
                      <a:pt x="88900" y="101600"/>
                    </a:lnTo>
                  </a:path>
                </a:pathLst>
              </a:custGeom>
              <a:noFill/>
              <a:ln w="12700">
                <a:solidFill>
                  <a:srgbClr val="9C331E"/>
                </a:solidFill>
              </a:ln>
            </p:spPr>
          </p:sp>
          <p:sp>
            <p:nvSpPr>
              <p:cNvPr id="89" name="Freeform 89"/>
              <p:cNvSpPr/>
              <p:nvPr/>
            </p:nvSpPr>
            <p:spPr>
              <a:xfrm>
                <a:off x="584200" y="3594100"/>
                <a:ext cx="25400" cy="9525"/>
              </a:xfrm>
              <a:custGeom>
                <a:avLst/>
                <a:gdLst/>
                <a:ahLst/>
                <a:cxnLst/>
                <a:rect l="l" t="t" r="r" b="b"/>
                <a:pathLst>
                  <a:path w="25400" h="9525">
                    <a:moveTo>
                      <a:pt x="0" y="0"/>
                    </a:moveTo>
                    <a:lnTo>
                      <a:pt x="25400" y="0"/>
                    </a:lnTo>
                  </a:path>
                </a:pathLst>
              </a:custGeom>
              <a:noFill/>
              <a:ln w="12700">
                <a:solidFill>
                  <a:srgbClr val="9C331E"/>
                </a:solidFill>
              </a:ln>
            </p:spPr>
          </p:sp>
          <p:sp>
            <p:nvSpPr>
              <p:cNvPr id="90" name="Freeform 90"/>
              <p:cNvSpPr/>
              <p:nvPr/>
            </p:nvSpPr>
            <p:spPr>
              <a:xfrm>
                <a:off x="584200" y="3619500"/>
                <a:ext cx="25400" cy="9525"/>
              </a:xfrm>
              <a:custGeom>
                <a:avLst/>
                <a:gdLst/>
                <a:ahLst/>
                <a:cxnLst/>
                <a:rect l="l" t="t" r="r" b="b"/>
                <a:pathLst>
                  <a:path w="25400" h="9525">
                    <a:moveTo>
                      <a:pt x="0" y="0"/>
                    </a:moveTo>
                    <a:lnTo>
                      <a:pt x="25400" y="0"/>
                    </a:lnTo>
                  </a:path>
                </a:pathLst>
              </a:custGeom>
              <a:noFill/>
              <a:ln w="12700">
                <a:solidFill>
                  <a:srgbClr val="9C331E"/>
                </a:solidFill>
              </a:ln>
            </p:spPr>
          </p:sp>
          <p:sp>
            <p:nvSpPr>
              <p:cNvPr id="91" name="Freeform 91"/>
              <p:cNvSpPr/>
              <p:nvPr/>
            </p:nvSpPr>
            <p:spPr>
              <a:xfrm>
                <a:off x="584200" y="3644900"/>
                <a:ext cx="25400" cy="9525"/>
              </a:xfrm>
              <a:custGeom>
                <a:avLst/>
                <a:gdLst/>
                <a:ahLst/>
                <a:cxnLst/>
                <a:rect l="l" t="t" r="r" b="b"/>
                <a:pathLst>
                  <a:path w="25400" h="9525">
                    <a:moveTo>
                      <a:pt x="0" y="0"/>
                    </a:moveTo>
                    <a:lnTo>
                      <a:pt x="25400" y="0"/>
                    </a:lnTo>
                  </a:path>
                </a:pathLst>
              </a:custGeom>
              <a:noFill/>
              <a:ln w="12700">
                <a:solidFill>
                  <a:srgbClr val="9C331E"/>
                </a:solidFill>
              </a:ln>
            </p:spPr>
          </p:sp>
        </p:grpSp>
        <p:sp>
          <p:nvSpPr>
            <p:cNvPr id="93" name="TextBox 93"/>
            <p:cNvSpPr txBox="1"/>
            <p:nvPr/>
          </p:nvSpPr>
          <p:spPr>
            <a:xfrm>
              <a:off x="757238" y="3574018"/>
              <a:ext cx="472618"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权威媒体</a:t>
              </a:r>
            </a:p>
          </p:txBody>
        </p:sp>
        <p:grpSp>
          <p:nvGrpSpPr>
            <p:cNvPr id="98" name="Group 98"/>
            <p:cNvGrpSpPr/>
            <p:nvPr/>
          </p:nvGrpSpPr>
          <p:grpSpPr>
            <a:xfrm>
              <a:off x="552450" y="3829050"/>
              <a:ext cx="114300" cy="107950"/>
              <a:chOff x="552450" y="3829050"/>
              <a:chExt cx="114300" cy="107950"/>
            </a:xfrm>
          </p:grpSpPr>
          <p:sp>
            <p:nvSpPr>
              <p:cNvPr id="94" name="Freeform 94"/>
              <p:cNvSpPr/>
              <p:nvPr/>
            </p:nvSpPr>
            <p:spPr>
              <a:xfrm>
                <a:off x="552450" y="3854450"/>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9C331E"/>
                </a:solidFill>
              </a:ln>
            </p:spPr>
          </p:sp>
          <p:sp>
            <p:nvSpPr>
              <p:cNvPr id="95" name="Freeform 95"/>
              <p:cNvSpPr/>
              <p:nvPr/>
            </p:nvSpPr>
            <p:spPr>
              <a:xfrm>
                <a:off x="584200" y="3829050"/>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9C331E"/>
                </a:solidFill>
              </a:ln>
            </p:spPr>
          </p:sp>
          <p:sp>
            <p:nvSpPr>
              <p:cNvPr id="96" name="Freeform 96"/>
              <p:cNvSpPr/>
              <p:nvPr/>
            </p:nvSpPr>
            <p:spPr>
              <a:xfrm>
                <a:off x="609600" y="3886200"/>
                <a:ext cx="9525" cy="9525"/>
              </a:xfrm>
              <a:custGeom>
                <a:avLst/>
                <a:gdLst/>
                <a:ahLst/>
                <a:cxnLst/>
                <a:rect l="l" t="t" r="r" b="b"/>
                <a:pathLst>
                  <a:path w="9525" h="9525">
                    <a:moveTo>
                      <a:pt x="0" y="0"/>
                    </a:moveTo>
                    <a:lnTo>
                      <a:pt x="0" y="64"/>
                    </a:lnTo>
                  </a:path>
                </a:pathLst>
              </a:custGeom>
              <a:noFill/>
              <a:ln w="12700">
                <a:solidFill>
                  <a:srgbClr val="9C331E"/>
                </a:solidFill>
              </a:ln>
            </p:spPr>
          </p:sp>
          <p:sp>
            <p:nvSpPr>
              <p:cNvPr id="97" name="Freeform 97"/>
              <p:cNvSpPr/>
              <p:nvPr/>
            </p:nvSpPr>
            <p:spPr>
              <a:xfrm>
                <a:off x="552450" y="3892550"/>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9C331E"/>
                </a:solidFill>
              </a:ln>
            </p:spPr>
          </p:sp>
        </p:grpSp>
        <p:sp>
          <p:nvSpPr>
            <p:cNvPr id="99" name="TextBox 99"/>
            <p:cNvSpPr txBox="1"/>
            <p:nvPr/>
          </p:nvSpPr>
          <p:spPr>
            <a:xfrm>
              <a:off x="757238" y="3840718"/>
              <a:ext cx="935711"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项目单位公开信息</a:t>
              </a:r>
            </a:p>
          </p:txBody>
        </p:sp>
        <p:sp>
          <p:nvSpPr>
            <p:cNvPr id="100" name="Line 100"/>
            <p:cNvSpPr/>
            <p:nvPr/>
          </p:nvSpPr>
          <p:spPr>
            <a:xfrm>
              <a:off x="533400" y="4114800"/>
              <a:ext cx="2171700" cy="9525"/>
            </a:xfrm>
            <a:custGeom>
              <a:avLst/>
              <a:gdLst/>
              <a:ahLst/>
              <a:cxnLst/>
              <a:rect l="l" t="t" r="r" b="b"/>
              <a:pathLst>
                <a:path w="2171700" h="9525">
                  <a:moveTo>
                    <a:pt x="0" y="0"/>
                  </a:moveTo>
                  <a:lnTo>
                    <a:pt x="2171700" y="0"/>
                  </a:lnTo>
                </a:path>
              </a:pathLst>
            </a:custGeom>
            <a:noFill/>
            <a:ln w="9525">
              <a:solidFill>
                <a:srgbClr val="C7D9F0"/>
              </a:solidFill>
              <a:prstDash val="dash"/>
            </a:ln>
          </p:spPr>
        </p:sp>
        <p:sp>
          <p:nvSpPr>
            <p:cNvPr id="101" name="TextBox 101"/>
            <p:cNvSpPr txBox="1"/>
            <p:nvPr/>
          </p:nvSpPr>
          <p:spPr>
            <a:xfrm>
              <a:off x="528638" y="4228386"/>
              <a:ext cx="1825549"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以公开信息为依据，交叉印证，审慎研判。</a:t>
              </a:r>
            </a:p>
          </p:txBody>
        </p:sp>
      </p:grpSp>
      <p:grpSp>
        <p:nvGrpSpPr>
          <p:cNvPr id="142" name="evidence-chain"/>
          <p:cNvGrpSpPr/>
          <p:nvPr/>
        </p:nvGrpSpPr>
        <p:grpSpPr>
          <a:xfrm>
            <a:off x="3048000" y="2705100"/>
            <a:ext cx="6267450" cy="1657112"/>
            <a:chOff x="3048000" y="2705100"/>
            <a:chExt cx="6267450" cy="1657112"/>
          </a:xfrm>
        </p:grpSpPr>
        <p:sp>
          <p:nvSpPr>
            <p:cNvPr id="103" name="Freeform 103"/>
            <p:cNvSpPr/>
            <p:nvPr/>
          </p:nvSpPr>
          <p:spPr>
            <a:xfrm>
              <a:off x="3048000" y="2705100"/>
              <a:ext cx="1638300" cy="1219200"/>
            </a:xfrm>
            <a:prstGeom prst="homePlate">
              <a:avLst>
                <a:gd name="adj" fmla="val 30000"/>
              </a:avLst>
            </a:prstGeom>
            <a:solidFill>
              <a:srgbClr val="E6907F"/>
            </a:solidFill>
            <a:ln>
              <a:noFill/>
            </a:ln>
          </p:spPr>
        </p:sp>
        <p:sp>
          <p:nvSpPr>
            <p:cNvPr id="104" name="Freeform 104"/>
            <p:cNvSpPr/>
            <p:nvPr/>
          </p:nvSpPr>
          <p:spPr>
            <a:xfrm>
              <a:off x="4591050" y="2705100"/>
              <a:ext cx="1638300" cy="1219200"/>
            </a:xfrm>
            <a:prstGeom prst="chevron">
              <a:avLst>
                <a:gd name="adj" fmla="val 30000"/>
              </a:avLst>
            </a:prstGeom>
            <a:solidFill>
              <a:srgbClr val="DE715B"/>
            </a:solidFill>
            <a:ln>
              <a:noFill/>
            </a:ln>
          </p:spPr>
        </p:sp>
        <p:sp>
          <p:nvSpPr>
            <p:cNvPr id="105" name="Freeform 105"/>
            <p:cNvSpPr/>
            <p:nvPr/>
          </p:nvSpPr>
          <p:spPr>
            <a:xfrm>
              <a:off x="6134100" y="2705100"/>
              <a:ext cx="1638300" cy="1219200"/>
            </a:xfrm>
            <a:prstGeom prst="chevron">
              <a:avLst>
                <a:gd name="adj" fmla="val 30000"/>
              </a:avLst>
            </a:prstGeom>
            <a:solidFill>
              <a:srgbClr val="D64A2E"/>
            </a:solidFill>
            <a:ln>
              <a:noFill/>
            </a:ln>
          </p:spPr>
        </p:sp>
        <p:sp>
          <p:nvSpPr>
            <p:cNvPr id="106" name="Freeform 106"/>
            <p:cNvSpPr/>
            <p:nvPr/>
          </p:nvSpPr>
          <p:spPr>
            <a:xfrm>
              <a:off x="7677150" y="2705100"/>
              <a:ext cx="1638300" cy="1219200"/>
            </a:xfrm>
            <a:prstGeom prst="chevron">
              <a:avLst>
                <a:gd name="adj" fmla="val 30000"/>
              </a:avLst>
            </a:prstGeom>
            <a:solidFill>
              <a:srgbClr val="9C331E"/>
            </a:solidFill>
            <a:ln>
              <a:noFill/>
            </a:ln>
          </p:spPr>
        </p:sp>
        <p:grpSp>
          <p:nvGrpSpPr>
            <p:cNvPr id="109" name="Group 109"/>
            <p:cNvGrpSpPr/>
            <p:nvPr/>
          </p:nvGrpSpPr>
          <p:grpSpPr>
            <a:xfrm>
              <a:off x="3688556" y="2850356"/>
              <a:ext cx="185737" cy="185737"/>
              <a:chOff x="3688556" y="2850356"/>
              <a:chExt cx="185737" cy="185737"/>
            </a:xfrm>
          </p:grpSpPr>
          <p:sp>
            <p:nvSpPr>
              <p:cNvPr id="107" name="Freeform 107"/>
              <p:cNvSpPr/>
              <p:nvPr/>
            </p:nvSpPr>
            <p:spPr>
              <a:xfrm>
                <a:off x="3688556" y="2850356"/>
                <a:ext cx="144462" cy="144462"/>
              </a:xfrm>
              <a:custGeom>
                <a:avLst/>
                <a:gdLst/>
                <a:ahLst/>
                <a:cxnLst/>
                <a:rect l="l" t="t" r="r" b="b"/>
                <a:pathLst>
                  <a:path w="144462" h="144462">
                    <a:moveTo>
                      <a:pt x="0" y="72231"/>
                    </a:moveTo>
                    <a:cubicBezTo>
                      <a:pt x="0" y="112123"/>
                      <a:pt x="32339" y="144462"/>
                      <a:pt x="72231" y="144462"/>
                    </a:cubicBezTo>
                    <a:cubicBezTo>
                      <a:pt x="112123" y="144462"/>
                      <a:pt x="144462" y="112123"/>
                      <a:pt x="144462" y="72231"/>
                    </a:cubicBezTo>
                    <a:cubicBezTo>
                      <a:pt x="144462" y="32339"/>
                      <a:pt x="112123" y="0"/>
                      <a:pt x="72231" y="0"/>
                    </a:cubicBezTo>
                    <a:cubicBezTo>
                      <a:pt x="32339" y="0"/>
                      <a:pt x="0" y="32339"/>
                      <a:pt x="0" y="72231"/>
                    </a:cubicBezTo>
                  </a:path>
                </a:pathLst>
              </a:custGeom>
              <a:noFill/>
              <a:ln w="20637">
                <a:solidFill>
                  <a:srgbClr val="FFFFFF"/>
                </a:solidFill>
              </a:ln>
            </p:spPr>
          </p:sp>
          <p:sp>
            <p:nvSpPr>
              <p:cNvPr id="108" name="Freeform 108"/>
              <p:cNvSpPr/>
              <p:nvPr/>
            </p:nvSpPr>
            <p:spPr>
              <a:xfrm>
                <a:off x="3812381" y="2974181"/>
                <a:ext cx="61912" cy="61912"/>
              </a:xfrm>
              <a:custGeom>
                <a:avLst/>
                <a:gdLst/>
                <a:ahLst/>
                <a:cxnLst/>
                <a:rect l="l" t="t" r="r" b="b"/>
                <a:pathLst>
                  <a:path w="61912" h="61912">
                    <a:moveTo>
                      <a:pt x="61912" y="61912"/>
                    </a:moveTo>
                    <a:lnTo>
                      <a:pt x="0" y="0"/>
                    </a:lnTo>
                  </a:path>
                </a:pathLst>
              </a:custGeom>
              <a:noFill/>
              <a:ln w="20637">
                <a:solidFill>
                  <a:srgbClr val="FFFFFF"/>
                </a:solidFill>
              </a:ln>
            </p:spPr>
          </p:sp>
        </p:grpSp>
        <p:sp>
          <p:nvSpPr>
            <p:cNvPr id="110" name="TextBox 110"/>
            <p:cNvSpPr txBox="1"/>
            <p:nvPr/>
          </p:nvSpPr>
          <p:spPr>
            <a:xfrm>
              <a:off x="3474161" y="31932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信息收集</a:t>
              </a:r>
            </a:p>
          </p:txBody>
        </p:sp>
        <p:sp>
          <p:nvSpPr>
            <p:cNvPr id="111" name="TextBox 111"/>
            <p:cNvSpPr txBox="1"/>
            <p:nvPr/>
          </p:nvSpPr>
          <p:spPr>
            <a:xfrm>
              <a:off x="3457613" y="3439239"/>
              <a:ext cx="6476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梳理公开信息</a:t>
              </a:r>
            </a:p>
          </p:txBody>
        </p:sp>
        <p:sp>
          <p:nvSpPr>
            <p:cNvPr id="112" name="TextBox 112"/>
            <p:cNvSpPr txBox="1"/>
            <p:nvPr/>
          </p:nvSpPr>
          <p:spPr>
            <a:xfrm>
              <a:off x="3457613" y="3591639"/>
              <a:ext cx="6476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提取相关证据</a:t>
              </a:r>
            </a:p>
          </p:txBody>
        </p:sp>
        <p:grpSp>
          <p:nvGrpSpPr>
            <p:cNvPr id="118" name="Group 118"/>
            <p:cNvGrpSpPr/>
            <p:nvPr/>
          </p:nvGrpSpPr>
          <p:grpSpPr>
            <a:xfrm>
              <a:off x="5433219" y="2850356"/>
              <a:ext cx="144462" cy="185737"/>
              <a:chOff x="5433219" y="2850356"/>
              <a:chExt cx="144462" cy="185737"/>
            </a:xfrm>
          </p:grpSpPr>
          <p:sp>
            <p:nvSpPr>
              <p:cNvPr id="113" name="Freeform 113"/>
              <p:cNvSpPr/>
              <p:nvPr/>
            </p:nvSpPr>
            <p:spPr>
              <a:xfrm>
                <a:off x="5526087" y="285035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FFFFFF"/>
                </a:solidFill>
              </a:ln>
            </p:spPr>
          </p:sp>
          <p:sp>
            <p:nvSpPr>
              <p:cNvPr id="114" name="Freeform 114"/>
              <p:cNvSpPr/>
              <p:nvPr/>
            </p:nvSpPr>
            <p:spPr>
              <a:xfrm>
                <a:off x="5433219" y="2850356"/>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FFFFFF"/>
                </a:solidFill>
              </a:ln>
            </p:spPr>
          </p:sp>
          <p:sp>
            <p:nvSpPr>
              <p:cNvPr id="115" name="Freeform 115"/>
              <p:cNvSpPr/>
              <p:nvPr/>
            </p:nvSpPr>
            <p:spPr>
              <a:xfrm>
                <a:off x="5474493" y="2912268"/>
                <a:ext cx="10319" cy="9525"/>
              </a:xfrm>
              <a:custGeom>
                <a:avLst/>
                <a:gdLst/>
                <a:ahLst/>
                <a:cxnLst/>
                <a:rect l="l" t="t" r="r" b="b"/>
                <a:pathLst>
                  <a:path w="10319" h="9525">
                    <a:moveTo>
                      <a:pt x="0" y="0"/>
                    </a:moveTo>
                    <a:lnTo>
                      <a:pt x="10319" y="0"/>
                    </a:lnTo>
                  </a:path>
                </a:pathLst>
              </a:custGeom>
              <a:noFill/>
              <a:ln w="20637">
                <a:solidFill>
                  <a:srgbClr val="FFFFFF"/>
                </a:solidFill>
              </a:ln>
            </p:spPr>
          </p:sp>
          <p:sp>
            <p:nvSpPr>
              <p:cNvPr id="116" name="Freeform 116"/>
              <p:cNvSpPr/>
              <p:nvPr/>
            </p:nvSpPr>
            <p:spPr>
              <a:xfrm>
                <a:off x="5474493" y="2953543"/>
                <a:ext cx="61912" cy="9525"/>
              </a:xfrm>
              <a:custGeom>
                <a:avLst/>
                <a:gdLst/>
                <a:ahLst/>
                <a:cxnLst/>
                <a:rect l="l" t="t" r="r" b="b"/>
                <a:pathLst>
                  <a:path w="61912" h="9525">
                    <a:moveTo>
                      <a:pt x="0" y="0"/>
                    </a:moveTo>
                    <a:lnTo>
                      <a:pt x="61912" y="0"/>
                    </a:lnTo>
                  </a:path>
                </a:pathLst>
              </a:custGeom>
              <a:noFill/>
              <a:ln w="20637">
                <a:solidFill>
                  <a:srgbClr val="FFFFFF"/>
                </a:solidFill>
              </a:ln>
            </p:spPr>
          </p:sp>
          <p:sp>
            <p:nvSpPr>
              <p:cNvPr id="117" name="Freeform 117"/>
              <p:cNvSpPr/>
              <p:nvPr/>
            </p:nvSpPr>
            <p:spPr>
              <a:xfrm>
                <a:off x="5474493" y="2994818"/>
                <a:ext cx="61912" cy="9525"/>
              </a:xfrm>
              <a:custGeom>
                <a:avLst/>
                <a:gdLst/>
                <a:ahLst/>
                <a:cxnLst/>
                <a:rect l="l" t="t" r="r" b="b"/>
                <a:pathLst>
                  <a:path w="61912" h="9525">
                    <a:moveTo>
                      <a:pt x="0" y="0"/>
                    </a:moveTo>
                    <a:lnTo>
                      <a:pt x="61912" y="0"/>
                    </a:lnTo>
                  </a:path>
                </a:pathLst>
              </a:custGeom>
              <a:noFill/>
              <a:ln w="20637">
                <a:solidFill>
                  <a:srgbClr val="FFFFFF"/>
                </a:solidFill>
              </a:ln>
            </p:spPr>
          </p:sp>
        </p:grpSp>
        <p:sp>
          <p:nvSpPr>
            <p:cNvPr id="119" name="TextBox 119"/>
            <p:cNvSpPr txBox="1"/>
            <p:nvPr/>
          </p:nvSpPr>
          <p:spPr>
            <a:xfrm>
              <a:off x="5198186" y="31932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证据核验</a:t>
              </a:r>
            </a:p>
          </p:txBody>
        </p:sp>
        <p:sp>
          <p:nvSpPr>
            <p:cNvPr id="120" name="TextBox 120"/>
            <p:cNvSpPr txBox="1"/>
            <p:nvPr/>
          </p:nvSpPr>
          <p:spPr>
            <a:xfrm>
              <a:off x="5181638" y="3439239"/>
              <a:ext cx="6476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多源交叉比对</a:t>
              </a:r>
            </a:p>
          </p:txBody>
        </p:sp>
        <p:sp>
          <p:nvSpPr>
            <p:cNvPr id="121" name="TextBox 121"/>
            <p:cNvSpPr txBox="1"/>
            <p:nvPr/>
          </p:nvSpPr>
          <p:spPr>
            <a:xfrm>
              <a:off x="5181638" y="3591639"/>
              <a:ext cx="6476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识别关键信息</a:t>
              </a:r>
            </a:p>
          </p:txBody>
        </p:sp>
        <p:grpSp>
          <p:nvGrpSpPr>
            <p:cNvPr id="127" name="Group 127"/>
            <p:cNvGrpSpPr/>
            <p:nvPr/>
          </p:nvGrpSpPr>
          <p:grpSpPr>
            <a:xfrm>
              <a:off x="6955631" y="2850356"/>
              <a:ext cx="185737" cy="184943"/>
              <a:chOff x="6955631" y="2850356"/>
              <a:chExt cx="185737" cy="184943"/>
            </a:xfrm>
          </p:grpSpPr>
          <p:sp>
            <p:nvSpPr>
              <p:cNvPr id="122" name="Freeform 122"/>
              <p:cNvSpPr/>
              <p:nvPr/>
            </p:nvSpPr>
            <p:spPr>
              <a:xfrm>
                <a:off x="6996906" y="3025774"/>
                <a:ext cx="103187" cy="9525"/>
              </a:xfrm>
              <a:custGeom>
                <a:avLst/>
                <a:gdLst/>
                <a:ahLst/>
                <a:cxnLst/>
                <a:rect l="l" t="t" r="r" b="b"/>
                <a:pathLst>
                  <a:path w="103187" h="9525">
                    <a:moveTo>
                      <a:pt x="0" y="0"/>
                    </a:moveTo>
                    <a:lnTo>
                      <a:pt x="103187" y="0"/>
                    </a:lnTo>
                  </a:path>
                </a:pathLst>
              </a:custGeom>
              <a:noFill/>
              <a:ln w="20637">
                <a:solidFill>
                  <a:srgbClr val="FFFFFF"/>
                </a:solidFill>
              </a:ln>
            </p:spPr>
          </p:sp>
          <p:sp>
            <p:nvSpPr>
              <p:cNvPr id="123" name="Freeform 123"/>
              <p:cNvSpPr/>
              <p:nvPr/>
            </p:nvSpPr>
            <p:spPr>
              <a:xfrm>
                <a:off x="6986587" y="2870994"/>
                <a:ext cx="123825" cy="10319"/>
              </a:xfrm>
              <a:custGeom>
                <a:avLst/>
                <a:gdLst/>
                <a:ahLst/>
                <a:cxnLst/>
                <a:rect l="l" t="t" r="r" b="b"/>
                <a:pathLst>
                  <a:path w="123825" h="10319">
                    <a:moveTo>
                      <a:pt x="0" y="10319"/>
                    </a:moveTo>
                    <a:lnTo>
                      <a:pt x="61912" y="0"/>
                    </a:lnTo>
                    <a:lnTo>
                      <a:pt x="123825" y="10319"/>
                    </a:lnTo>
                  </a:path>
                </a:pathLst>
              </a:custGeom>
              <a:noFill/>
              <a:ln w="20637">
                <a:solidFill>
                  <a:srgbClr val="FFFFFF"/>
                </a:solidFill>
              </a:ln>
            </p:spPr>
          </p:sp>
          <p:sp>
            <p:nvSpPr>
              <p:cNvPr id="124" name="Freeform 124"/>
              <p:cNvSpPr/>
              <p:nvPr/>
            </p:nvSpPr>
            <p:spPr>
              <a:xfrm>
                <a:off x="7048500" y="2850356"/>
                <a:ext cx="9525" cy="175418"/>
              </a:xfrm>
              <a:custGeom>
                <a:avLst/>
                <a:gdLst/>
                <a:ahLst/>
                <a:cxnLst/>
                <a:rect l="l" t="t" r="r" b="b"/>
                <a:pathLst>
                  <a:path w="9525" h="175418">
                    <a:moveTo>
                      <a:pt x="0" y="0"/>
                    </a:moveTo>
                    <a:lnTo>
                      <a:pt x="0" y="175418"/>
                    </a:lnTo>
                  </a:path>
                </a:pathLst>
              </a:custGeom>
              <a:noFill/>
              <a:ln w="20637">
                <a:solidFill>
                  <a:srgbClr val="FFFFFF"/>
                </a:solidFill>
              </a:ln>
            </p:spPr>
          </p:sp>
          <p:sp>
            <p:nvSpPr>
              <p:cNvPr id="125" name="Freeform 125"/>
              <p:cNvSpPr/>
              <p:nvPr/>
            </p:nvSpPr>
            <p:spPr>
              <a:xfrm>
                <a:off x="6955631" y="2881312"/>
                <a:ext cx="61912" cy="92868"/>
              </a:xfrm>
              <a:custGeom>
                <a:avLst/>
                <a:gdLst/>
                <a:ahLst/>
                <a:cxnLst/>
                <a:rect l="l" t="t" r="r" b="b"/>
                <a:pathLst>
                  <a:path w="61912" h="92868">
                    <a:moveTo>
                      <a:pt x="61912" y="61912"/>
                    </a:moveTo>
                    <a:lnTo>
                      <a:pt x="30956" y="0"/>
                    </a:lnTo>
                    <a:lnTo>
                      <a:pt x="0" y="61912"/>
                    </a:lnTo>
                    <a:cubicBezTo>
                      <a:pt x="0" y="79009"/>
                      <a:pt x="13860" y="92868"/>
                      <a:pt x="30956" y="92868"/>
                    </a:cubicBezTo>
                    <a:cubicBezTo>
                      <a:pt x="48053" y="92868"/>
                      <a:pt x="61912" y="79009"/>
                      <a:pt x="61912" y="61912"/>
                    </a:cubicBezTo>
                  </a:path>
                </a:pathLst>
              </a:custGeom>
              <a:noFill/>
              <a:ln w="20637">
                <a:solidFill>
                  <a:srgbClr val="FFFFFF"/>
                </a:solidFill>
              </a:ln>
            </p:spPr>
          </p:sp>
          <p:sp>
            <p:nvSpPr>
              <p:cNvPr id="126" name="Freeform 126"/>
              <p:cNvSpPr/>
              <p:nvPr/>
            </p:nvSpPr>
            <p:spPr>
              <a:xfrm>
                <a:off x="7079456" y="2881312"/>
                <a:ext cx="61912" cy="92868"/>
              </a:xfrm>
              <a:custGeom>
                <a:avLst/>
                <a:gdLst/>
                <a:ahLst/>
                <a:cxnLst/>
                <a:rect l="l" t="t" r="r" b="b"/>
                <a:pathLst>
                  <a:path w="61912" h="92868">
                    <a:moveTo>
                      <a:pt x="61912" y="61912"/>
                    </a:moveTo>
                    <a:lnTo>
                      <a:pt x="30956" y="0"/>
                    </a:lnTo>
                    <a:lnTo>
                      <a:pt x="0" y="61912"/>
                    </a:lnTo>
                    <a:cubicBezTo>
                      <a:pt x="0" y="79009"/>
                      <a:pt x="13860" y="92868"/>
                      <a:pt x="30956" y="92868"/>
                    </a:cubicBezTo>
                    <a:cubicBezTo>
                      <a:pt x="48053" y="92868"/>
                      <a:pt x="61912" y="79009"/>
                      <a:pt x="61912" y="61912"/>
                    </a:cubicBezTo>
                  </a:path>
                </a:pathLst>
              </a:custGeom>
              <a:noFill/>
              <a:ln w="20637">
                <a:solidFill>
                  <a:srgbClr val="FFFFFF"/>
                </a:solidFill>
              </a:ln>
            </p:spPr>
          </p:sp>
        </p:grpSp>
        <p:sp>
          <p:nvSpPr>
            <p:cNvPr id="128" name="TextBox 128"/>
            <p:cNvSpPr txBox="1"/>
            <p:nvPr/>
          </p:nvSpPr>
          <p:spPr>
            <a:xfrm>
              <a:off x="6741236" y="31932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综合研判</a:t>
              </a:r>
            </a:p>
          </p:txBody>
        </p:sp>
        <p:sp>
          <p:nvSpPr>
            <p:cNvPr id="129" name="TextBox 129"/>
            <p:cNvSpPr txBox="1"/>
            <p:nvPr/>
          </p:nvSpPr>
          <p:spPr>
            <a:xfrm>
              <a:off x="6724688" y="3439239"/>
              <a:ext cx="6476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围绕四个问题</a:t>
              </a:r>
            </a:p>
          </p:txBody>
        </p:sp>
        <p:sp>
          <p:nvSpPr>
            <p:cNvPr id="130" name="TextBox 130"/>
            <p:cNvSpPr txBox="1"/>
            <p:nvPr/>
          </p:nvSpPr>
          <p:spPr>
            <a:xfrm>
              <a:off x="6724688" y="3591639"/>
              <a:ext cx="6476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形成定性判断</a:t>
              </a:r>
            </a:p>
          </p:txBody>
        </p:sp>
        <p:grpSp>
          <p:nvGrpSpPr>
            <p:cNvPr id="135" name="Group 135"/>
            <p:cNvGrpSpPr/>
            <p:nvPr/>
          </p:nvGrpSpPr>
          <p:grpSpPr>
            <a:xfrm>
              <a:off x="8519319" y="2860675"/>
              <a:ext cx="154780" cy="175418"/>
              <a:chOff x="8519319" y="2860675"/>
              <a:chExt cx="154780" cy="175418"/>
            </a:xfrm>
          </p:grpSpPr>
          <p:sp>
            <p:nvSpPr>
              <p:cNvPr id="131" name="Freeform 131"/>
              <p:cNvSpPr/>
              <p:nvPr/>
            </p:nvSpPr>
            <p:spPr>
              <a:xfrm>
                <a:off x="8519319" y="2860675"/>
                <a:ext cx="123825" cy="165099"/>
              </a:xfrm>
              <a:custGeom>
                <a:avLst/>
                <a:gdLst/>
                <a:ahLst/>
                <a:cxnLst/>
                <a:rect l="l" t="t" r="r" b="b"/>
                <a:pathLst>
                  <a:path w="123825" h="165099">
                    <a:moveTo>
                      <a:pt x="47621" y="165099"/>
                    </a:moveTo>
                    <a:lnTo>
                      <a:pt x="20637" y="165099"/>
                    </a:lnTo>
                    <a:cubicBezTo>
                      <a:pt x="9240" y="165099"/>
                      <a:pt x="0" y="155860"/>
                      <a:pt x="0" y="144462"/>
                    </a:cubicBezTo>
                    <a:lnTo>
                      <a:pt x="0" y="20637"/>
                    </a:lnTo>
                    <a:cubicBezTo>
                      <a:pt x="0" y="9240"/>
                      <a:pt x="9240" y="0"/>
                      <a:pt x="20637" y="0"/>
                    </a:cubicBezTo>
                    <a:lnTo>
                      <a:pt x="103187" y="0"/>
                    </a:lnTo>
                    <a:cubicBezTo>
                      <a:pt x="114585" y="0"/>
                      <a:pt x="123825" y="9240"/>
                      <a:pt x="123825" y="20637"/>
                    </a:cubicBezTo>
                    <a:lnTo>
                      <a:pt x="123825" y="103187"/>
                    </a:lnTo>
                  </a:path>
                </a:pathLst>
              </a:custGeom>
              <a:noFill/>
              <a:ln w="20637">
                <a:solidFill>
                  <a:srgbClr val="FFFFFF"/>
                </a:solidFill>
              </a:ln>
            </p:spPr>
          </p:sp>
          <p:sp>
            <p:nvSpPr>
              <p:cNvPr id="132" name="Freeform 132"/>
              <p:cNvSpPr/>
              <p:nvPr/>
            </p:nvSpPr>
            <p:spPr>
              <a:xfrm>
                <a:off x="8612187" y="2994818"/>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sp>
            <p:nvSpPr>
              <p:cNvPr id="133" name="Freeform 133"/>
              <p:cNvSpPr/>
              <p:nvPr/>
            </p:nvSpPr>
            <p:spPr>
              <a:xfrm>
                <a:off x="8560593" y="2901950"/>
                <a:ext cx="41275" cy="9525"/>
              </a:xfrm>
              <a:custGeom>
                <a:avLst/>
                <a:gdLst/>
                <a:ahLst/>
                <a:cxnLst/>
                <a:rect l="l" t="t" r="r" b="b"/>
                <a:pathLst>
                  <a:path w="41275" h="9525">
                    <a:moveTo>
                      <a:pt x="0" y="0"/>
                    </a:moveTo>
                    <a:lnTo>
                      <a:pt x="41275" y="0"/>
                    </a:lnTo>
                  </a:path>
                </a:pathLst>
              </a:custGeom>
              <a:noFill/>
              <a:ln w="20637">
                <a:solidFill>
                  <a:srgbClr val="FFFFFF"/>
                </a:solidFill>
              </a:ln>
            </p:spPr>
          </p:sp>
          <p:sp>
            <p:nvSpPr>
              <p:cNvPr id="134" name="Freeform 134"/>
              <p:cNvSpPr/>
              <p:nvPr/>
            </p:nvSpPr>
            <p:spPr>
              <a:xfrm>
                <a:off x="8560593" y="2943225"/>
                <a:ext cx="20637" cy="9525"/>
              </a:xfrm>
              <a:custGeom>
                <a:avLst/>
                <a:gdLst/>
                <a:ahLst/>
                <a:cxnLst/>
                <a:rect l="l" t="t" r="r" b="b"/>
                <a:pathLst>
                  <a:path w="20637" h="9525">
                    <a:moveTo>
                      <a:pt x="0" y="0"/>
                    </a:moveTo>
                    <a:lnTo>
                      <a:pt x="20637" y="0"/>
                    </a:lnTo>
                  </a:path>
                </a:pathLst>
              </a:custGeom>
              <a:noFill/>
              <a:ln w="20637">
                <a:solidFill>
                  <a:srgbClr val="FFFFFF"/>
                </a:solidFill>
              </a:ln>
            </p:spPr>
          </p:sp>
        </p:grpSp>
        <p:sp>
          <p:nvSpPr>
            <p:cNvPr id="136" name="TextBox 136"/>
            <p:cNvSpPr txBox="1"/>
            <p:nvPr/>
          </p:nvSpPr>
          <p:spPr>
            <a:xfrm>
              <a:off x="8284286" y="31932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形成结论</a:t>
              </a:r>
            </a:p>
          </p:txBody>
        </p:sp>
        <p:sp>
          <p:nvSpPr>
            <p:cNvPr id="137" name="TextBox 137"/>
            <p:cNvSpPr txBox="1"/>
            <p:nvPr/>
          </p:nvSpPr>
          <p:spPr>
            <a:xfrm>
              <a:off x="8214563" y="3439239"/>
              <a:ext cx="75397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仅基于公开证据</a:t>
              </a:r>
            </a:p>
          </p:txBody>
        </p:sp>
        <p:sp>
          <p:nvSpPr>
            <p:cNvPr id="138" name="TextBox 138"/>
            <p:cNvSpPr txBox="1"/>
            <p:nvPr/>
          </p:nvSpPr>
          <p:spPr>
            <a:xfrm>
              <a:off x="8108213" y="3591639"/>
              <a:ext cx="966673"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不作超出证据的推断</a:t>
              </a:r>
            </a:p>
          </p:txBody>
        </p:sp>
        <p:sp>
          <p:nvSpPr>
            <p:cNvPr id="139" name="Line 139"/>
            <p:cNvSpPr/>
            <p:nvPr/>
          </p:nvSpPr>
          <p:spPr>
            <a:xfrm>
              <a:off x="3162300" y="4248150"/>
              <a:ext cx="1790700" cy="1"/>
            </a:xfrm>
            <a:prstGeom prst="line">
              <a:avLst/>
            </a:prstGeom>
            <a:noFill/>
            <a:ln w="14288">
              <a:solidFill>
                <a:srgbClr val="9C331E"/>
              </a:solidFill>
              <a:headEnd type="triangle" w="lg" len="lg"/>
            </a:ln>
          </p:spPr>
        </p:sp>
        <p:sp>
          <p:nvSpPr>
            <p:cNvPr id="140" name="Line 140"/>
            <p:cNvSpPr/>
            <p:nvPr/>
          </p:nvSpPr>
          <p:spPr>
            <a:xfrm>
              <a:off x="7429500" y="4248150"/>
              <a:ext cx="1790700" cy="1"/>
            </a:xfrm>
            <a:prstGeom prst="line">
              <a:avLst/>
            </a:prstGeom>
            <a:noFill/>
            <a:ln w="14288">
              <a:solidFill>
                <a:srgbClr val="9C331E"/>
              </a:solidFill>
              <a:tailEnd type="triangle" w="lg" len="lg"/>
            </a:ln>
          </p:spPr>
        </p:sp>
        <p:sp>
          <p:nvSpPr>
            <p:cNvPr id="141" name="TextBox 141"/>
            <p:cNvSpPr txBox="1"/>
            <p:nvPr/>
          </p:nvSpPr>
          <p:spPr>
            <a:xfrm>
              <a:off x="4912982" y="4193143"/>
              <a:ext cx="2556535" cy="169069"/>
            </a:xfrm>
            <a:prstGeom prst="rect">
              <a:avLst/>
            </a:prstGeom>
            <a:noFill/>
            <a:ln>
              <a:noFill/>
            </a:ln>
          </p:spPr>
          <p:txBody>
            <a:bodyPr wrap="none" lIns="0" tIns="0" rIns="0" bIns="0" anchor="t" anchorCtr="0">
              <a:spAutoFit/>
            </a:bodyPr>
            <a:lstStyle/>
            <a:p>
              <a:pPr algn="ctr"/>
              <a:r>
                <a:rPr lang="zh-CN" sz="860" b="1" dirty="0">
                  <a:solidFill>
                    <a:srgbClr val="9C331E"/>
                  </a:solidFill>
                  <a:latin typeface="+mn-lt"/>
                  <a:ea typeface="+mn-ea"/>
                  <a:cs typeface="+mn-cs"/>
                </a:rPr>
                <a:t>以公开证据为主线，形成从信息到结论的完整逻辑</a:t>
              </a:r>
            </a:p>
          </p:txBody>
        </p:sp>
      </p:grpSp>
      <p:grpSp>
        <p:nvGrpSpPr>
          <p:cNvPr id="165" name="exclusions"/>
          <p:cNvGrpSpPr/>
          <p:nvPr/>
        </p:nvGrpSpPr>
        <p:grpSpPr>
          <a:xfrm>
            <a:off x="9410700" y="2552700"/>
            <a:ext cx="2400300" cy="1924050"/>
            <a:chOff x="9410700" y="2552700"/>
            <a:chExt cx="2400300" cy="1924050"/>
          </a:xfrm>
        </p:grpSpPr>
        <p:sp>
          <p:nvSpPr>
            <p:cNvPr id="143" name="Rectangle 143"/>
            <p:cNvSpPr/>
            <p:nvPr/>
          </p:nvSpPr>
          <p:spPr>
            <a:xfrm>
              <a:off x="9410700" y="2552700"/>
              <a:ext cx="2400300" cy="1924050"/>
            </a:xfrm>
            <a:prstGeom prst="roundRect">
              <a:avLst>
                <a:gd name="adj" fmla="val 3960"/>
              </a:avLst>
            </a:prstGeom>
            <a:solidFill>
              <a:srgbClr val="EFF5FC"/>
            </a:solidFill>
            <a:ln w="9525">
              <a:solidFill>
                <a:srgbClr val="C7D9F0"/>
              </a:solidFill>
            </a:ln>
          </p:spPr>
        </p:sp>
        <p:sp>
          <p:nvSpPr>
            <p:cNvPr id="144" name="Rectangle 144"/>
            <p:cNvSpPr/>
            <p:nvPr/>
          </p:nvSpPr>
          <p:spPr>
            <a:xfrm>
              <a:off x="9410700" y="2552700"/>
              <a:ext cx="2400300" cy="323850"/>
            </a:xfrm>
            <a:prstGeom prst="roundRect">
              <a:avLst>
                <a:gd name="adj" fmla="val 23529"/>
              </a:avLst>
            </a:prstGeom>
            <a:solidFill>
              <a:srgbClr val="DCE9F8"/>
            </a:solidFill>
            <a:ln>
              <a:noFill/>
            </a:ln>
          </p:spPr>
        </p:sp>
        <p:grpSp>
          <p:nvGrpSpPr>
            <p:cNvPr id="147" name="Group 147"/>
            <p:cNvGrpSpPr/>
            <p:nvPr/>
          </p:nvGrpSpPr>
          <p:grpSpPr>
            <a:xfrm>
              <a:off x="9567862" y="2652712"/>
              <a:ext cx="142875" cy="142875"/>
              <a:chOff x="9567862" y="2652712"/>
              <a:chExt cx="142875" cy="142875"/>
            </a:xfrm>
          </p:grpSpPr>
          <p:sp>
            <p:nvSpPr>
              <p:cNvPr id="145" name="Freeform 145"/>
              <p:cNvSpPr/>
              <p:nvPr/>
            </p:nvSpPr>
            <p:spPr>
              <a:xfrm>
                <a:off x="9567862" y="26527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9C331E"/>
                </a:solidFill>
              </a:ln>
            </p:spPr>
          </p:sp>
          <p:sp>
            <p:nvSpPr>
              <p:cNvPr id="146" name="Freeform 146"/>
              <p:cNvSpPr/>
              <p:nvPr/>
            </p:nvSpPr>
            <p:spPr>
              <a:xfrm>
                <a:off x="9623425" y="2708275"/>
                <a:ext cx="31750" cy="31750"/>
              </a:xfrm>
              <a:custGeom>
                <a:avLst/>
                <a:gdLst/>
                <a:ahLst/>
                <a:cxnLst/>
                <a:rect l="l" t="t" r="r" b="b"/>
                <a:pathLst>
                  <a:path w="31750" h="31750">
                    <a:moveTo>
                      <a:pt x="0" y="0"/>
                    </a:moveTo>
                    <a:lnTo>
                      <a:pt x="31750" y="31750"/>
                    </a:lnTo>
                    <a:moveTo>
                      <a:pt x="31750" y="0"/>
                    </a:moveTo>
                    <a:lnTo>
                      <a:pt x="0" y="31750"/>
                    </a:lnTo>
                  </a:path>
                </a:pathLst>
              </a:custGeom>
              <a:noFill/>
              <a:ln w="15875">
                <a:solidFill>
                  <a:srgbClr val="9C331E"/>
                </a:solidFill>
              </a:ln>
            </p:spPr>
          </p:sp>
        </p:grpSp>
        <p:sp>
          <p:nvSpPr>
            <p:cNvPr id="148" name="TextBox 148"/>
            <p:cNvSpPr txBox="1"/>
            <p:nvPr/>
          </p:nvSpPr>
          <p:spPr>
            <a:xfrm>
              <a:off x="9805416" y="2658428"/>
              <a:ext cx="858774" cy="205359"/>
            </a:xfrm>
            <a:prstGeom prst="rect">
              <a:avLst/>
            </a:prstGeom>
            <a:noFill/>
            <a:ln>
              <a:noFill/>
            </a:ln>
          </p:spPr>
          <p:txBody>
            <a:bodyPr wrap="none" lIns="0" tIns="0" rIns="0" bIns="0" anchor="t" anchorCtr="0">
              <a:spAutoFit/>
            </a:bodyPr>
            <a:lstStyle/>
            <a:p>
              <a:pPr algn="l"/>
              <a:r>
                <a:rPr lang="zh-CN" sz="1050" b="1" dirty="0">
                  <a:solidFill>
                    <a:srgbClr val="5E2114"/>
                  </a:solidFill>
                  <a:latin typeface="+mn-lt"/>
                  <a:ea typeface="+mn-ea"/>
                  <a:cs typeface="+mn-cs"/>
                </a:rPr>
                <a:t>不纳入的情形</a:t>
              </a:r>
            </a:p>
          </p:txBody>
        </p:sp>
        <p:grpSp>
          <p:nvGrpSpPr>
            <p:cNvPr id="152" name="Group 152"/>
            <p:cNvGrpSpPr/>
            <p:nvPr/>
          </p:nvGrpSpPr>
          <p:grpSpPr>
            <a:xfrm>
              <a:off x="9575260" y="3026840"/>
              <a:ext cx="128076" cy="110034"/>
              <a:chOff x="9575260" y="3026840"/>
              <a:chExt cx="128076" cy="110034"/>
            </a:xfrm>
          </p:grpSpPr>
          <p:sp>
            <p:nvSpPr>
              <p:cNvPr id="149" name="Freeform 149"/>
              <p:cNvSpPr/>
              <p:nvPr/>
            </p:nvSpPr>
            <p:spPr>
              <a:xfrm>
                <a:off x="9639300" y="3067050"/>
                <a:ext cx="9525" cy="25400"/>
              </a:xfrm>
              <a:custGeom>
                <a:avLst/>
                <a:gdLst/>
                <a:ahLst/>
                <a:cxnLst/>
                <a:rect l="l" t="t" r="r" b="b"/>
                <a:pathLst>
                  <a:path w="9525" h="25400">
                    <a:moveTo>
                      <a:pt x="0" y="0"/>
                    </a:moveTo>
                    <a:lnTo>
                      <a:pt x="0" y="25400"/>
                    </a:lnTo>
                  </a:path>
                </a:pathLst>
              </a:custGeom>
              <a:noFill/>
              <a:ln w="12700">
                <a:solidFill>
                  <a:srgbClr val="9C331E"/>
                </a:solidFill>
              </a:ln>
            </p:spPr>
          </p:sp>
          <p:sp>
            <p:nvSpPr>
              <p:cNvPr id="150" name="Freeform 150"/>
              <p:cNvSpPr/>
              <p:nvPr/>
            </p:nvSpPr>
            <p:spPr>
              <a:xfrm>
                <a:off x="9575260" y="302684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9C331E"/>
                </a:solidFill>
              </a:ln>
            </p:spPr>
          </p:sp>
          <p:sp>
            <p:nvSpPr>
              <p:cNvPr id="151" name="Freeform 151"/>
              <p:cNvSpPr/>
              <p:nvPr/>
            </p:nvSpPr>
            <p:spPr>
              <a:xfrm>
                <a:off x="9639300" y="3111500"/>
                <a:ext cx="9525" cy="9525"/>
              </a:xfrm>
              <a:custGeom>
                <a:avLst/>
                <a:gdLst/>
                <a:ahLst/>
                <a:cxnLst/>
                <a:rect l="l" t="t" r="r" b="b"/>
                <a:pathLst>
                  <a:path w="9525" h="9525">
                    <a:moveTo>
                      <a:pt x="0" y="0"/>
                    </a:moveTo>
                    <a:lnTo>
                      <a:pt x="64" y="0"/>
                    </a:lnTo>
                  </a:path>
                </a:pathLst>
              </a:custGeom>
              <a:noFill/>
              <a:ln w="12700">
                <a:solidFill>
                  <a:srgbClr val="9C331E"/>
                </a:solidFill>
              </a:ln>
            </p:spPr>
          </p:sp>
        </p:grpSp>
        <p:sp>
          <p:nvSpPr>
            <p:cNvPr id="153" name="TextBox 153"/>
            <p:cNvSpPr txBox="1"/>
            <p:nvPr/>
          </p:nvSpPr>
          <p:spPr>
            <a:xfrm>
              <a:off x="9786938" y="3040618"/>
              <a:ext cx="1167257"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不以媒体热度替代成效</a:t>
              </a:r>
            </a:p>
          </p:txBody>
        </p:sp>
        <p:grpSp>
          <p:nvGrpSpPr>
            <p:cNvPr id="157" name="Group 157"/>
            <p:cNvGrpSpPr/>
            <p:nvPr/>
          </p:nvGrpSpPr>
          <p:grpSpPr>
            <a:xfrm>
              <a:off x="9582150" y="3295650"/>
              <a:ext cx="114300" cy="114300"/>
              <a:chOff x="9582150" y="3295650"/>
              <a:chExt cx="114300" cy="114300"/>
            </a:xfrm>
          </p:grpSpPr>
          <p:sp>
            <p:nvSpPr>
              <p:cNvPr id="154" name="Freeform 154"/>
              <p:cNvSpPr/>
              <p:nvPr/>
            </p:nvSpPr>
            <p:spPr>
              <a:xfrm>
                <a:off x="9632950" y="33464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9C331E"/>
                </a:solidFill>
              </a:ln>
            </p:spPr>
          </p:sp>
          <p:sp>
            <p:nvSpPr>
              <p:cNvPr id="155" name="Freeform 155"/>
              <p:cNvSpPr/>
              <p:nvPr/>
            </p:nvSpPr>
            <p:spPr>
              <a:xfrm>
                <a:off x="9607550" y="33210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9C331E"/>
                </a:solidFill>
              </a:ln>
            </p:spPr>
          </p:sp>
          <p:sp>
            <p:nvSpPr>
              <p:cNvPr id="156" name="Freeform 156"/>
              <p:cNvSpPr/>
              <p:nvPr/>
            </p:nvSpPr>
            <p:spPr>
              <a:xfrm>
                <a:off x="9582150" y="32956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C331E"/>
                </a:solidFill>
              </a:ln>
            </p:spPr>
          </p:sp>
        </p:grpSp>
        <p:sp>
          <p:nvSpPr>
            <p:cNvPr id="158" name="TextBox 158"/>
            <p:cNvSpPr txBox="1"/>
            <p:nvPr/>
          </p:nvSpPr>
          <p:spPr>
            <a:xfrm>
              <a:off x="9786938" y="3307318"/>
              <a:ext cx="1398803"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不把规划目标视作实际结果</a:t>
              </a:r>
            </a:p>
          </p:txBody>
        </p:sp>
        <p:grpSp>
          <p:nvGrpSpPr>
            <p:cNvPr id="161" name="Group 161"/>
            <p:cNvGrpSpPr/>
            <p:nvPr/>
          </p:nvGrpSpPr>
          <p:grpSpPr>
            <a:xfrm>
              <a:off x="9582150" y="3562350"/>
              <a:ext cx="114300" cy="114300"/>
              <a:chOff x="9582150" y="3562350"/>
              <a:chExt cx="114300" cy="114300"/>
            </a:xfrm>
          </p:grpSpPr>
          <p:sp>
            <p:nvSpPr>
              <p:cNvPr id="159" name="Freeform 159"/>
              <p:cNvSpPr/>
              <p:nvPr/>
            </p:nvSpPr>
            <p:spPr>
              <a:xfrm>
                <a:off x="9582150" y="35623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C331E"/>
                </a:solidFill>
              </a:ln>
            </p:spPr>
          </p:sp>
          <p:sp>
            <p:nvSpPr>
              <p:cNvPr id="160" name="Freeform 160"/>
              <p:cNvSpPr/>
              <p:nvPr/>
            </p:nvSpPr>
            <p:spPr>
              <a:xfrm>
                <a:off x="9626600" y="3606800"/>
                <a:ext cx="25400" cy="25400"/>
              </a:xfrm>
              <a:custGeom>
                <a:avLst/>
                <a:gdLst/>
                <a:ahLst/>
                <a:cxnLst/>
                <a:rect l="l" t="t" r="r" b="b"/>
                <a:pathLst>
                  <a:path w="25400" h="25400">
                    <a:moveTo>
                      <a:pt x="0" y="0"/>
                    </a:moveTo>
                    <a:lnTo>
                      <a:pt x="25400" y="25400"/>
                    </a:lnTo>
                    <a:moveTo>
                      <a:pt x="25400" y="0"/>
                    </a:moveTo>
                    <a:lnTo>
                      <a:pt x="0" y="25400"/>
                    </a:lnTo>
                  </a:path>
                </a:pathLst>
              </a:custGeom>
              <a:noFill/>
              <a:ln w="12700">
                <a:solidFill>
                  <a:srgbClr val="9C331E"/>
                </a:solidFill>
              </a:ln>
            </p:spPr>
          </p:sp>
        </p:grpSp>
        <p:sp>
          <p:nvSpPr>
            <p:cNvPr id="162" name="TextBox 162"/>
            <p:cNvSpPr txBox="1"/>
            <p:nvPr/>
          </p:nvSpPr>
          <p:spPr>
            <a:xfrm>
              <a:off x="9786938" y="3574018"/>
              <a:ext cx="935711"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不补算未披露指标</a:t>
              </a:r>
            </a:p>
          </p:txBody>
        </p:sp>
        <p:sp>
          <p:nvSpPr>
            <p:cNvPr id="163" name="Line 163"/>
            <p:cNvSpPr/>
            <p:nvPr/>
          </p:nvSpPr>
          <p:spPr>
            <a:xfrm>
              <a:off x="9563100" y="4114800"/>
              <a:ext cx="2095500" cy="9525"/>
            </a:xfrm>
            <a:custGeom>
              <a:avLst/>
              <a:gdLst/>
              <a:ahLst/>
              <a:cxnLst/>
              <a:rect l="l" t="t" r="r" b="b"/>
              <a:pathLst>
                <a:path w="2095500" h="9525">
                  <a:moveTo>
                    <a:pt x="0" y="0"/>
                  </a:moveTo>
                  <a:lnTo>
                    <a:pt x="2095500" y="0"/>
                  </a:lnTo>
                </a:path>
              </a:pathLst>
            </a:custGeom>
            <a:noFill/>
            <a:ln w="9525">
              <a:solidFill>
                <a:srgbClr val="C7D9F0"/>
              </a:solidFill>
              <a:prstDash val="dash"/>
            </a:ln>
          </p:spPr>
        </p:sp>
        <p:sp>
          <p:nvSpPr>
            <p:cNvPr id="164" name="TextBox 164"/>
            <p:cNvSpPr txBox="1"/>
            <p:nvPr/>
          </p:nvSpPr>
          <p:spPr>
            <a:xfrm>
              <a:off x="9558338" y="4228386"/>
              <a:ext cx="1443228"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坚持证据边界，不臆测、不推断。</a:t>
              </a:r>
            </a:p>
          </p:txBody>
        </p:sp>
      </p:grpSp>
      <p:grpSp>
        <p:nvGrpSpPr>
          <p:cNvPr id="171" name="warning-banner"/>
          <p:cNvGrpSpPr/>
          <p:nvPr/>
        </p:nvGrpSpPr>
        <p:grpSpPr>
          <a:xfrm>
            <a:off x="381000" y="4648200"/>
            <a:ext cx="11430000" cy="704850"/>
            <a:chOff x="381000" y="4648200"/>
            <a:chExt cx="11430000" cy="704850"/>
          </a:xfrm>
        </p:grpSpPr>
        <p:sp>
          <p:nvSpPr>
            <p:cNvPr id="166" name="Rectangle 166"/>
            <p:cNvSpPr/>
            <p:nvPr/>
          </p:nvSpPr>
          <p:spPr>
            <a:xfrm>
              <a:off x="381000" y="4648200"/>
              <a:ext cx="11430000" cy="704850"/>
            </a:xfrm>
            <a:prstGeom prst="roundRect">
              <a:avLst>
                <a:gd name="adj" fmla="val 10811"/>
              </a:avLst>
            </a:prstGeom>
            <a:solidFill>
              <a:srgbClr val="632012"/>
            </a:solidFill>
            <a:ln>
              <a:noFill/>
            </a:ln>
          </p:spPr>
        </p:sp>
        <p:sp>
          <p:nvSpPr>
            <p:cNvPr id="167" name="Ellipse 167"/>
            <p:cNvSpPr/>
            <p:nvPr/>
          </p:nvSpPr>
          <p:spPr>
            <a:xfrm>
              <a:off x="819150" y="4810125"/>
              <a:ext cx="381000" cy="381000"/>
            </a:xfrm>
            <a:prstGeom prst="ellipse">
              <a:avLst/>
            </a:prstGeom>
            <a:noFill/>
            <a:ln w="19050">
              <a:solidFill>
                <a:srgbClr val="FFFFFF"/>
              </a:solidFill>
            </a:ln>
          </p:spPr>
        </p:sp>
        <p:sp>
          <p:nvSpPr>
            <p:cNvPr id="168" name="TextBox 168"/>
            <p:cNvSpPr txBox="1"/>
            <p:nvPr/>
          </p:nvSpPr>
          <p:spPr>
            <a:xfrm>
              <a:off x="960160" y="4882515"/>
              <a:ext cx="98979"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Arial"/>
                  <a:ea typeface="Arial"/>
                  <a:cs typeface="Arial"/>
                </a:rPr>
                <a:t>!</a:t>
              </a:r>
            </a:p>
          </p:txBody>
        </p:sp>
        <p:sp>
          <p:nvSpPr>
            <p:cNvPr id="169" name="TextBox 169"/>
            <p:cNvSpPr txBox="1"/>
            <p:nvPr/>
          </p:nvSpPr>
          <p:spPr>
            <a:xfrm>
              <a:off x="1383030" y="4810125"/>
              <a:ext cx="506349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mn-lt"/>
                  <a:ea typeface="+mn-ea"/>
                  <a:cs typeface="+mn-cs"/>
                </a:rPr>
                <a:t>本报告判断为公开证据强弱，不是国资委官方月度验收。</a:t>
              </a:r>
            </a:p>
          </p:txBody>
        </p:sp>
        <p:sp>
          <p:nvSpPr>
            <p:cNvPr id="170" name="TextBox 170"/>
            <p:cNvSpPr txBox="1"/>
            <p:nvPr/>
          </p:nvSpPr>
          <p:spPr>
            <a:xfrm>
              <a:off x="1385888" y="5126593"/>
              <a:ext cx="3251175" cy="169069"/>
            </a:xfrm>
            <a:prstGeom prst="rect">
              <a:avLst/>
            </a:prstGeom>
            <a:noFill/>
            <a:ln>
              <a:noFill/>
            </a:ln>
          </p:spPr>
          <p:txBody>
            <a:bodyPr wrap="none" lIns="0" tIns="0" rIns="0" bIns="0" anchor="t" anchorCtr="0">
              <a:spAutoFit/>
            </a:bodyPr>
            <a:lstStyle/>
            <a:p>
              <a:pPr algn="l"/>
              <a:r>
                <a:rPr lang="zh-CN" sz="860" dirty="0">
                  <a:solidFill>
                    <a:srgbClr val="DCE9F8"/>
                  </a:solidFill>
                  <a:latin typeface="+mn-lt"/>
                  <a:ea typeface="+mn-ea"/>
                  <a:cs typeface="+mn-cs"/>
                </a:rPr>
                <a:t>仅基于公开信息进行复盘与分析，不代表任何官方立场或结论。</a:t>
              </a:r>
            </a:p>
          </p:txBody>
        </p:sp>
      </p:grpSp>
      <p:grpSp>
        <p:nvGrpSpPr>
          <p:cNvPr id="174" name="bottom-slogan"/>
          <p:cNvGrpSpPr/>
          <p:nvPr/>
        </p:nvGrpSpPr>
        <p:grpSpPr>
          <a:xfrm>
            <a:off x="10806354" y="5743099"/>
            <a:ext cx="933399" cy="381190"/>
            <a:chOff x="10806354" y="5743099"/>
            <a:chExt cx="933399" cy="381190"/>
          </a:xfrm>
        </p:grpSpPr>
        <p:sp>
          <p:nvSpPr>
            <p:cNvPr id="172" name="TextBox 172"/>
            <p:cNvSpPr txBox="1"/>
            <p:nvPr/>
          </p:nvSpPr>
          <p:spPr>
            <a:xfrm>
              <a:off x="10938281" y="5743099"/>
              <a:ext cx="801472" cy="190690"/>
            </a:xfrm>
            <a:prstGeom prst="rect">
              <a:avLst/>
            </a:prstGeom>
            <a:noFill/>
            <a:ln>
              <a:noFill/>
            </a:ln>
          </p:spPr>
          <p:txBody>
            <a:bodyPr wrap="none" lIns="0" tIns="0" rIns="0" bIns="0" anchor="t" anchorCtr="0">
              <a:spAutoFit/>
            </a:bodyPr>
            <a:lstStyle/>
            <a:p>
              <a:pPr algn="r"/>
              <a:r>
                <a:rPr lang="zh-CN" sz="980" b="1" i="1" dirty="0">
                  <a:solidFill>
                    <a:srgbClr val="9C331E"/>
                  </a:solidFill>
                  <a:latin typeface="+mn-lt"/>
                  <a:ea typeface="+mn-ea"/>
                  <a:cs typeface="+mn-cs"/>
                </a:rPr>
                <a:t>服务国家战略</a:t>
              </a:r>
            </a:p>
          </p:txBody>
        </p:sp>
        <p:sp>
          <p:nvSpPr>
            <p:cNvPr id="173" name="TextBox 173"/>
            <p:cNvSpPr txBox="1"/>
            <p:nvPr/>
          </p:nvSpPr>
          <p:spPr>
            <a:xfrm>
              <a:off x="10806354" y="5933599"/>
              <a:ext cx="933399" cy="190690"/>
            </a:xfrm>
            <a:prstGeom prst="rect">
              <a:avLst/>
            </a:prstGeom>
            <a:noFill/>
            <a:ln>
              <a:noFill/>
            </a:ln>
          </p:spPr>
          <p:txBody>
            <a:bodyPr wrap="none" lIns="0" tIns="0" rIns="0" bIns="0" anchor="t" anchorCtr="0">
              <a:spAutoFit/>
            </a:bodyPr>
            <a:lstStyle/>
            <a:p>
              <a:pPr algn="r"/>
              <a:r>
                <a:rPr lang="zh-CN" sz="980" b="1" i="1" dirty="0">
                  <a:solidFill>
                    <a:srgbClr val="9C331E"/>
                  </a:solidFill>
                  <a:latin typeface="+mn-lt"/>
                  <a:ea typeface="+mn-ea"/>
                  <a:cs typeface="+mn-cs"/>
                </a:rPr>
                <a:t>赋能高质量发展</a:t>
              </a:r>
            </a:p>
          </p:txBody>
        </p:sp>
      </p:grpSp>
      <p:grpSp>
        <p:nvGrpSpPr>
          <p:cNvPr id="178" name="footer"/>
          <p:cNvGrpSpPr/>
          <p:nvPr/>
        </p:nvGrpSpPr>
        <p:grpSpPr>
          <a:xfrm>
            <a:off x="0" y="6705600"/>
            <a:ext cx="12192000" cy="173117"/>
            <a:chOff x="0" y="6705600"/>
            <a:chExt cx="12192000" cy="173117"/>
          </a:xfrm>
        </p:grpSpPr>
        <p:sp>
          <p:nvSpPr>
            <p:cNvPr id="175" name="Rectangle 175"/>
            <p:cNvSpPr/>
            <p:nvPr/>
          </p:nvSpPr>
          <p:spPr>
            <a:xfrm>
              <a:off x="0" y="6705600"/>
              <a:ext cx="12192000" cy="152400"/>
            </a:xfrm>
            <a:prstGeom prst="rect">
              <a:avLst/>
            </a:prstGeom>
            <a:solidFill>
              <a:srgbClr val="632012"/>
            </a:solidFill>
            <a:ln>
              <a:noFill/>
            </a:ln>
          </p:spPr>
        </p:sp>
        <p:sp>
          <p:nvSpPr>
            <p:cNvPr id="176" name="TextBox 176"/>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77" name="TextBox 177"/>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03/20</a:t>
              </a:r>
            </a:p>
          </p:txBody>
        </p:sp>
      </p:gr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1" name="header"/>
          <p:cNvGrpSpPr/>
          <p:nvPr/>
        </p:nvGrpSpPr>
        <p:grpSpPr>
          <a:xfrm>
            <a:off x="0" y="0"/>
            <a:ext cx="11739563" cy="564832"/>
            <a:chOff x="0" y="0"/>
            <a:chExt cx="11739563" cy="564832"/>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3" name="TextBox 3"/>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04</a:t>
              </a:r>
            </a:p>
          </p:txBody>
        </p:sp>
        <p:sp>
          <p:nvSpPr>
            <p:cNvPr id="4" name="TextBox 4"/>
            <p:cNvSpPr txBox="1"/>
            <p:nvPr/>
          </p:nvSpPr>
          <p:spPr>
            <a:xfrm>
              <a:off x="947738" y="60484"/>
              <a:ext cx="1199566"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从场景到价值　以证据看成效</a:t>
              </a:r>
            </a:p>
          </p:txBody>
        </p:sp>
        <p:sp>
          <p:nvSpPr>
            <p:cNvPr id="5" name="TextBox 5"/>
            <p:cNvSpPr txBox="1"/>
            <p:nvPr/>
          </p:nvSpPr>
          <p:spPr>
            <a:xfrm>
              <a:off x="942594" y="170498"/>
              <a:ext cx="5012436"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证据阶梯</a:t>
              </a:r>
              <a:r>
                <a:rPr lang="zh-CN" sz="1950" b="1" dirty="0">
                  <a:solidFill>
                    <a:srgbClr val="5E2114"/>
                  </a:solidFill>
                  <a:latin typeface="+mj-lt"/>
                  <a:ea typeface="+mj-ea"/>
                  <a:cs typeface="+mj-cs"/>
                </a:rPr>
                <a:t>｜用四档标准判断是否真正跑通</a:t>
              </a:r>
            </a:p>
          </p:txBody>
        </p:sp>
        <p:sp>
          <p:nvSpPr>
            <p:cNvPr id="6" name="Line 6"/>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7" name="TextBox 7"/>
            <p:cNvSpPr txBox="1"/>
            <p:nvPr/>
          </p:nvSpPr>
          <p:spPr>
            <a:xfrm>
              <a:off x="10539997" y="60484"/>
              <a:ext cx="1199566"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更务实的判断　更可靠的落地</a:t>
              </a:r>
            </a:p>
          </p:txBody>
        </p:sp>
        <p:sp>
          <p:nvSpPr>
            <p:cNvPr id="8" name="Line 8"/>
            <p:cNvSpPr/>
            <p:nvPr/>
          </p:nvSpPr>
          <p:spPr>
            <a:xfrm>
              <a:off x="10134600" y="228600"/>
              <a:ext cx="9525" cy="266700"/>
            </a:xfrm>
            <a:custGeom>
              <a:avLst/>
              <a:gdLst/>
              <a:ahLst/>
              <a:cxnLst/>
              <a:rect l="l" t="t" r="r" b="b"/>
              <a:pathLst>
                <a:path w="9525" h="266700">
                  <a:moveTo>
                    <a:pt x="0" y="0"/>
                  </a:moveTo>
                  <a:lnTo>
                    <a:pt x="0" y="266700"/>
                  </a:lnTo>
                </a:path>
              </a:pathLst>
            </a:custGeom>
            <a:noFill/>
            <a:ln w="11430">
              <a:solidFill>
                <a:srgbClr val="9C331E"/>
              </a:solidFill>
            </a:ln>
          </p:spPr>
        </p:sp>
        <p:sp>
          <p:nvSpPr>
            <p:cNvPr id="9" name="TextBox 9"/>
            <p:cNvSpPr txBox="1"/>
            <p:nvPr/>
          </p:nvSpPr>
          <p:spPr>
            <a:xfrm>
              <a:off x="10225088" y="236220"/>
              <a:ext cx="857631" cy="176212"/>
            </a:xfrm>
            <a:prstGeom prst="rect">
              <a:avLst/>
            </a:prstGeom>
            <a:noFill/>
            <a:ln>
              <a:noFill/>
            </a:ln>
          </p:spPr>
          <p:txBody>
            <a:bodyPr wrap="none" lIns="0" tIns="0" rIns="0" bIns="0" anchor="t" anchorCtr="0">
              <a:spAutoFit/>
            </a:bodyPr>
            <a:lstStyle/>
            <a:p>
              <a:pPr algn="l"/>
              <a:r>
                <a:rPr lang="zh-CN" sz="900" dirty="0">
                  <a:solidFill>
                    <a:srgbClr val="5E2114"/>
                  </a:solidFill>
                  <a:latin typeface="+mn-lt"/>
                  <a:ea typeface="+mn-ea"/>
                  <a:cs typeface="+mn-cs"/>
                </a:rPr>
                <a:t>以可验证的事实</a:t>
              </a:r>
            </a:p>
          </p:txBody>
        </p:sp>
        <p:sp>
          <p:nvSpPr>
            <p:cNvPr id="10" name="TextBox 10"/>
            <p:cNvSpPr txBox="1"/>
            <p:nvPr/>
          </p:nvSpPr>
          <p:spPr>
            <a:xfrm>
              <a:off x="10225088" y="388620"/>
              <a:ext cx="857631" cy="176212"/>
            </a:xfrm>
            <a:prstGeom prst="rect">
              <a:avLst/>
            </a:prstGeom>
            <a:noFill/>
            <a:ln>
              <a:noFill/>
            </a:ln>
          </p:spPr>
          <p:txBody>
            <a:bodyPr wrap="none" lIns="0" tIns="0" rIns="0" bIns="0" anchor="t" anchorCtr="0">
              <a:spAutoFit/>
            </a:bodyPr>
            <a:lstStyle/>
            <a:p>
              <a:pPr algn="l"/>
              <a:r>
                <a:rPr lang="zh-CN" sz="900" dirty="0">
                  <a:solidFill>
                    <a:srgbClr val="5E2114"/>
                  </a:solidFill>
                  <a:latin typeface="+mn-lt"/>
                  <a:ea typeface="+mn-ea"/>
                  <a:cs typeface="+mn-cs"/>
                </a:rPr>
                <a:t>看见真实的进展</a:t>
              </a:r>
            </a:p>
          </p:txBody>
        </p:sp>
      </p:grpSp>
      <p:grpSp>
        <p:nvGrpSpPr>
          <p:cNvPr id="44" name="table-head"/>
          <p:cNvGrpSpPr/>
          <p:nvPr/>
        </p:nvGrpSpPr>
        <p:grpSpPr>
          <a:xfrm>
            <a:off x="381000" y="685800"/>
            <a:ext cx="11401425" cy="438150"/>
            <a:chOff x="381000" y="685800"/>
            <a:chExt cx="11401425" cy="438150"/>
          </a:xfrm>
        </p:grpSpPr>
        <p:sp>
          <p:nvSpPr>
            <p:cNvPr id="12" name="Rectangle 12"/>
            <p:cNvSpPr/>
            <p:nvPr/>
          </p:nvSpPr>
          <p:spPr>
            <a:xfrm>
              <a:off x="381000" y="685800"/>
              <a:ext cx="11401425" cy="438150"/>
            </a:xfrm>
            <a:prstGeom prst="rect">
              <a:avLst/>
            </a:prstGeom>
            <a:solidFill>
              <a:srgbClr val="632012"/>
            </a:solidFill>
            <a:ln>
              <a:noFill/>
            </a:ln>
          </p:spPr>
        </p:sp>
        <p:sp>
          <p:nvSpPr>
            <p:cNvPr id="13" name="TextBox 13"/>
            <p:cNvSpPr txBox="1"/>
            <p:nvPr/>
          </p:nvSpPr>
          <p:spPr>
            <a:xfrm>
              <a:off x="1087171" y="824389"/>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证据阶梯</a:t>
              </a:r>
            </a:p>
          </p:txBody>
        </p:sp>
        <p:sp>
          <p:nvSpPr>
            <p:cNvPr id="14" name="Line 14"/>
            <p:cNvSpPr/>
            <p:nvPr/>
          </p:nvSpPr>
          <p:spPr>
            <a:xfrm>
              <a:off x="2495550" y="762000"/>
              <a:ext cx="9525" cy="285750"/>
            </a:xfrm>
            <a:custGeom>
              <a:avLst/>
              <a:gdLst/>
              <a:ahLst/>
              <a:cxnLst/>
              <a:rect l="l" t="t" r="r" b="b"/>
              <a:pathLst>
                <a:path w="9525" h="285750">
                  <a:moveTo>
                    <a:pt x="0" y="0"/>
                  </a:moveTo>
                  <a:lnTo>
                    <a:pt x="0" y="285750"/>
                  </a:lnTo>
                </a:path>
              </a:pathLst>
            </a:custGeom>
            <a:noFill/>
            <a:ln w="9525">
              <a:solidFill>
                <a:srgbClr val="9E4C3B"/>
              </a:solidFill>
            </a:ln>
          </p:spPr>
        </p:sp>
        <p:grpSp>
          <p:nvGrpSpPr>
            <p:cNvPr id="17" name="Group 17"/>
            <p:cNvGrpSpPr/>
            <p:nvPr/>
          </p:nvGrpSpPr>
          <p:grpSpPr>
            <a:xfrm>
              <a:off x="2895600" y="825000"/>
              <a:ext cx="152400" cy="159750"/>
              <a:chOff x="2895600" y="825000"/>
              <a:chExt cx="152400" cy="159750"/>
            </a:xfrm>
          </p:grpSpPr>
          <p:sp>
            <p:nvSpPr>
              <p:cNvPr id="15" name="Freeform 15"/>
              <p:cNvSpPr/>
              <p:nvPr/>
            </p:nvSpPr>
            <p:spPr>
              <a:xfrm>
                <a:off x="2895600" y="825000"/>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FFFFFF"/>
                </a:solidFill>
              </a:ln>
            </p:spPr>
          </p:sp>
          <p:sp>
            <p:nvSpPr>
              <p:cNvPr id="16" name="Freeform 16"/>
              <p:cNvSpPr/>
              <p:nvPr/>
            </p:nvSpPr>
            <p:spPr>
              <a:xfrm>
                <a:off x="2895600" y="914400"/>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FFFFFF"/>
                </a:solidFill>
              </a:ln>
            </p:spPr>
          </p:sp>
        </p:grpSp>
        <p:sp>
          <p:nvSpPr>
            <p:cNvPr id="18" name="TextBox 18"/>
            <p:cNvSpPr txBox="1"/>
            <p:nvPr/>
          </p:nvSpPr>
          <p:spPr>
            <a:xfrm>
              <a:off x="3175635" y="8405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业务闭环</a:t>
              </a:r>
            </a:p>
          </p:txBody>
        </p:sp>
        <p:sp>
          <p:nvSpPr>
            <p:cNvPr id="19" name="Line 19"/>
            <p:cNvSpPr/>
            <p:nvPr/>
          </p:nvSpPr>
          <p:spPr>
            <a:xfrm>
              <a:off x="4352925" y="762000"/>
              <a:ext cx="9525" cy="285750"/>
            </a:xfrm>
            <a:custGeom>
              <a:avLst/>
              <a:gdLst/>
              <a:ahLst/>
              <a:cxnLst/>
              <a:rect l="l" t="t" r="r" b="b"/>
              <a:pathLst>
                <a:path w="9525" h="285750">
                  <a:moveTo>
                    <a:pt x="0" y="0"/>
                  </a:moveTo>
                  <a:lnTo>
                    <a:pt x="0" y="285750"/>
                  </a:lnTo>
                </a:path>
              </a:pathLst>
            </a:custGeom>
            <a:noFill/>
            <a:ln w="9525">
              <a:solidFill>
                <a:srgbClr val="9E4C3B"/>
              </a:solidFill>
            </a:ln>
          </p:spPr>
        </p:sp>
        <p:grpSp>
          <p:nvGrpSpPr>
            <p:cNvPr id="22" name="Group 22"/>
            <p:cNvGrpSpPr/>
            <p:nvPr/>
          </p:nvGrpSpPr>
          <p:grpSpPr>
            <a:xfrm>
              <a:off x="4739269" y="814969"/>
              <a:ext cx="179813" cy="179813"/>
              <a:chOff x="4739269" y="814969"/>
              <a:chExt cx="179813" cy="179813"/>
            </a:xfrm>
          </p:grpSpPr>
          <p:sp>
            <p:nvSpPr>
              <p:cNvPr id="20" name="Freeform 20"/>
              <p:cNvSpPr/>
              <p:nvPr/>
            </p:nvSpPr>
            <p:spPr>
              <a:xfrm>
                <a:off x="4739269" y="814969"/>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FFFFFF"/>
                </a:solidFill>
              </a:ln>
            </p:spPr>
          </p:sp>
          <p:sp>
            <p:nvSpPr>
              <p:cNvPr id="21" name="Freeform 21"/>
              <p:cNvSpPr/>
              <p:nvPr/>
            </p:nvSpPr>
            <p:spPr>
              <a:xfrm>
                <a:off x="4800600" y="876300"/>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FFFFFF"/>
                </a:solidFill>
              </a:ln>
            </p:spPr>
          </p:sp>
        </p:grpSp>
        <p:sp>
          <p:nvSpPr>
            <p:cNvPr id="23" name="TextBox 23"/>
            <p:cNvSpPr txBox="1"/>
            <p:nvPr/>
          </p:nvSpPr>
          <p:spPr>
            <a:xfrm>
              <a:off x="5033010" y="8405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持续运行</a:t>
              </a:r>
            </a:p>
          </p:txBody>
        </p:sp>
        <p:sp>
          <p:nvSpPr>
            <p:cNvPr id="24" name="Line 24"/>
            <p:cNvSpPr/>
            <p:nvPr/>
          </p:nvSpPr>
          <p:spPr>
            <a:xfrm>
              <a:off x="6210300" y="762000"/>
              <a:ext cx="9525" cy="285750"/>
            </a:xfrm>
            <a:custGeom>
              <a:avLst/>
              <a:gdLst/>
              <a:ahLst/>
              <a:cxnLst/>
              <a:rect l="l" t="t" r="r" b="b"/>
              <a:pathLst>
                <a:path w="9525" h="285750">
                  <a:moveTo>
                    <a:pt x="0" y="0"/>
                  </a:moveTo>
                  <a:lnTo>
                    <a:pt x="0" y="285750"/>
                  </a:lnTo>
                </a:path>
              </a:pathLst>
            </a:custGeom>
            <a:noFill/>
            <a:ln w="9525">
              <a:solidFill>
                <a:srgbClr val="9E4C3B"/>
              </a:solidFill>
            </a:ln>
          </p:spPr>
        </p:sp>
        <p:grpSp>
          <p:nvGrpSpPr>
            <p:cNvPr id="29" name="Group 29"/>
            <p:cNvGrpSpPr/>
            <p:nvPr/>
          </p:nvGrpSpPr>
          <p:grpSpPr>
            <a:xfrm>
              <a:off x="6600825" y="819150"/>
              <a:ext cx="171450" cy="171450"/>
              <a:chOff x="6600825" y="819150"/>
              <a:chExt cx="171450" cy="171450"/>
            </a:xfrm>
          </p:grpSpPr>
          <p:sp>
            <p:nvSpPr>
              <p:cNvPr id="25" name="Freeform 25"/>
              <p:cNvSpPr/>
              <p:nvPr/>
            </p:nvSpPr>
            <p:spPr>
              <a:xfrm>
                <a:off x="6619875" y="8191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26" name="Freeform 26"/>
              <p:cNvSpPr/>
              <p:nvPr/>
            </p:nvSpPr>
            <p:spPr>
              <a:xfrm>
                <a:off x="6600825" y="9334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27" name="Freeform 27"/>
              <p:cNvSpPr/>
              <p:nvPr/>
            </p:nvSpPr>
            <p:spPr>
              <a:xfrm>
                <a:off x="6724650" y="8203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28" name="Freeform 28"/>
              <p:cNvSpPr/>
              <p:nvPr/>
            </p:nvSpPr>
            <p:spPr>
              <a:xfrm>
                <a:off x="6743700" y="9348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30" name="TextBox 30"/>
            <p:cNvSpPr txBox="1"/>
            <p:nvPr/>
          </p:nvSpPr>
          <p:spPr>
            <a:xfrm>
              <a:off x="6890385" y="8405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覆盖规模</a:t>
              </a:r>
            </a:p>
          </p:txBody>
        </p:sp>
        <p:sp>
          <p:nvSpPr>
            <p:cNvPr id="31" name="Line 31"/>
            <p:cNvSpPr/>
            <p:nvPr/>
          </p:nvSpPr>
          <p:spPr>
            <a:xfrm>
              <a:off x="8067675" y="762000"/>
              <a:ext cx="9525" cy="285750"/>
            </a:xfrm>
            <a:custGeom>
              <a:avLst/>
              <a:gdLst/>
              <a:ahLst/>
              <a:cxnLst/>
              <a:rect l="l" t="t" r="r" b="b"/>
              <a:pathLst>
                <a:path w="9525" h="285750">
                  <a:moveTo>
                    <a:pt x="0" y="0"/>
                  </a:moveTo>
                  <a:lnTo>
                    <a:pt x="0" y="285750"/>
                  </a:lnTo>
                </a:path>
              </a:pathLst>
            </a:custGeom>
            <a:noFill/>
            <a:ln w="9525">
              <a:solidFill>
                <a:srgbClr val="9E4C3B"/>
              </a:solidFill>
            </a:ln>
          </p:spPr>
        </p:sp>
        <p:grpSp>
          <p:nvGrpSpPr>
            <p:cNvPr id="36" name="Group 36"/>
            <p:cNvGrpSpPr/>
            <p:nvPr/>
          </p:nvGrpSpPr>
          <p:grpSpPr>
            <a:xfrm>
              <a:off x="8458200" y="828675"/>
              <a:ext cx="171450" cy="161925"/>
              <a:chOff x="8458200" y="828675"/>
              <a:chExt cx="171450" cy="161925"/>
            </a:xfrm>
          </p:grpSpPr>
          <p:sp>
            <p:nvSpPr>
              <p:cNvPr id="32" name="Freeform 32"/>
              <p:cNvSpPr/>
              <p:nvPr/>
            </p:nvSpPr>
            <p:spPr>
              <a:xfrm>
                <a:off x="8458200" y="904875"/>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33" name="Freeform 33"/>
              <p:cNvSpPr/>
              <p:nvPr/>
            </p:nvSpPr>
            <p:spPr>
              <a:xfrm>
                <a:off x="8572500" y="866775"/>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34" name="Freeform 34"/>
              <p:cNvSpPr/>
              <p:nvPr/>
            </p:nvSpPr>
            <p:spPr>
              <a:xfrm>
                <a:off x="8515350" y="828675"/>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35" name="Freeform 35"/>
              <p:cNvSpPr/>
              <p:nvPr/>
            </p:nvSpPr>
            <p:spPr>
              <a:xfrm>
                <a:off x="8467725" y="981075"/>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37" name="TextBox 37"/>
            <p:cNvSpPr txBox="1"/>
            <p:nvPr/>
          </p:nvSpPr>
          <p:spPr>
            <a:xfrm>
              <a:off x="8747760" y="8405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成效指标</a:t>
              </a:r>
            </a:p>
          </p:txBody>
        </p:sp>
        <p:sp>
          <p:nvSpPr>
            <p:cNvPr id="38" name="Line 38"/>
            <p:cNvSpPr/>
            <p:nvPr/>
          </p:nvSpPr>
          <p:spPr>
            <a:xfrm>
              <a:off x="9925050" y="762000"/>
              <a:ext cx="9525" cy="285750"/>
            </a:xfrm>
            <a:custGeom>
              <a:avLst/>
              <a:gdLst/>
              <a:ahLst/>
              <a:cxnLst/>
              <a:rect l="l" t="t" r="r" b="b"/>
              <a:pathLst>
                <a:path w="9525" h="285750">
                  <a:moveTo>
                    <a:pt x="0" y="0"/>
                  </a:moveTo>
                  <a:lnTo>
                    <a:pt x="0" y="285750"/>
                  </a:lnTo>
                </a:path>
              </a:pathLst>
            </a:custGeom>
            <a:noFill/>
            <a:ln w="9525">
              <a:solidFill>
                <a:srgbClr val="9E4C3B"/>
              </a:solidFill>
            </a:ln>
          </p:spPr>
        </p:sp>
        <p:grpSp>
          <p:nvGrpSpPr>
            <p:cNvPr id="42" name="Group 42"/>
            <p:cNvGrpSpPr/>
            <p:nvPr/>
          </p:nvGrpSpPr>
          <p:grpSpPr>
            <a:xfrm>
              <a:off x="10325100" y="828675"/>
              <a:ext cx="152400" cy="152400"/>
              <a:chOff x="10325100" y="828675"/>
              <a:chExt cx="152400" cy="152400"/>
            </a:xfrm>
          </p:grpSpPr>
          <p:sp>
            <p:nvSpPr>
              <p:cNvPr id="39" name="Freeform 39"/>
              <p:cNvSpPr/>
              <p:nvPr/>
            </p:nvSpPr>
            <p:spPr>
              <a:xfrm>
                <a:off x="10325100" y="828675"/>
                <a:ext cx="152400" cy="76200"/>
              </a:xfrm>
              <a:custGeom>
                <a:avLst/>
                <a:gdLst/>
                <a:ahLst/>
                <a:cxnLst/>
                <a:rect l="l" t="t" r="r" b="b"/>
                <a:pathLst>
                  <a:path w="152400" h="76200">
                    <a:moveTo>
                      <a:pt x="76200" y="0"/>
                    </a:moveTo>
                    <a:lnTo>
                      <a:pt x="0" y="38100"/>
                    </a:lnTo>
                    <a:lnTo>
                      <a:pt x="76200" y="76200"/>
                    </a:lnTo>
                    <a:lnTo>
                      <a:pt x="152400" y="38100"/>
                    </a:lnTo>
                    <a:lnTo>
                      <a:pt x="76200" y="0"/>
                    </a:lnTo>
                  </a:path>
                </a:pathLst>
              </a:custGeom>
              <a:noFill/>
              <a:ln w="19050">
                <a:solidFill>
                  <a:srgbClr val="FFFFFF"/>
                </a:solidFill>
              </a:ln>
            </p:spPr>
          </p:sp>
          <p:sp>
            <p:nvSpPr>
              <p:cNvPr id="40" name="Freeform 40"/>
              <p:cNvSpPr/>
              <p:nvPr/>
            </p:nvSpPr>
            <p:spPr>
              <a:xfrm>
                <a:off x="10325100" y="904875"/>
                <a:ext cx="152400" cy="38100"/>
              </a:xfrm>
              <a:custGeom>
                <a:avLst/>
                <a:gdLst/>
                <a:ahLst/>
                <a:cxnLst/>
                <a:rect l="l" t="t" r="r" b="b"/>
                <a:pathLst>
                  <a:path w="152400" h="38100">
                    <a:moveTo>
                      <a:pt x="0" y="0"/>
                    </a:moveTo>
                    <a:lnTo>
                      <a:pt x="76200" y="38100"/>
                    </a:lnTo>
                    <a:lnTo>
                      <a:pt x="152400" y="0"/>
                    </a:lnTo>
                  </a:path>
                </a:pathLst>
              </a:custGeom>
              <a:noFill/>
              <a:ln w="19050">
                <a:solidFill>
                  <a:srgbClr val="FFFFFF"/>
                </a:solidFill>
              </a:ln>
            </p:spPr>
          </p:sp>
          <p:sp>
            <p:nvSpPr>
              <p:cNvPr id="41" name="Freeform 41"/>
              <p:cNvSpPr/>
              <p:nvPr/>
            </p:nvSpPr>
            <p:spPr>
              <a:xfrm>
                <a:off x="10325100" y="942975"/>
                <a:ext cx="152400" cy="38100"/>
              </a:xfrm>
              <a:custGeom>
                <a:avLst/>
                <a:gdLst/>
                <a:ahLst/>
                <a:cxnLst/>
                <a:rect l="l" t="t" r="r" b="b"/>
                <a:pathLst>
                  <a:path w="152400" h="38100">
                    <a:moveTo>
                      <a:pt x="0" y="0"/>
                    </a:moveTo>
                    <a:lnTo>
                      <a:pt x="76200" y="38100"/>
                    </a:lnTo>
                    <a:lnTo>
                      <a:pt x="152400" y="0"/>
                    </a:lnTo>
                  </a:path>
                </a:pathLst>
              </a:custGeom>
              <a:noFill/>
              <a:ln w="19050">
                <a:solidFill>
                  <a:srgbClr val="FFFFFF"/>
                </a:solidFill>
              </a:ln>
            </p:spPr>
          </p:sp>
        </p:grpSp>
        <p:sp>
          <p:nvSpPr>
            <p:cNvPr id="43" name="TextBox 43"/>
            <p:cNvSpPr txBox="1"/>
            <p:nvPr/>
          </p:nvSpPr>
          <p:spPr>
            <a:xfrm>
              <a:off x="10605135" y="8405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复制能力</a:t>
              </a:r>
            </a:p>
          </p:txBody>
        </p:sp>
      </p:grpSp>
      <p:grpSp>
        <p:nvGrpSpPr>
          <p:cNvPr id="63" name="row-l1"/>
          <p:cNvGrpSpPr/>
          <p:nvPr/>
        </p:nvGrpSpPr>
        <p:grpSpPr>
          <a:xfrm>
            <a:off x="381000" y="1123950"/>
            <a:ext cx="11401425" cy="1028700"/>
            <a:chOff x="381000" y="1123950"/>
            <a:chExt cx="11401425" cy="1028700"/>
          </a:xfrm>
        </p:grpSpPr>
        <p:sp>
          <p:nvSpPr>
            <p:cNvPr id="45" name="Rectangle 45"/>
            <p:cNvSpPr/>
            <p:nvPr/>
          </p:nvSpPr>
          <p:spPr>
            <a:xfrm>
              <a:off x="2495550" y="1123950"/>
              <a:ext cx="9286875" cy="1028700"/>
            </a:xfrm>
            <a:prstGeom prst="rect">
              <a:avLst/>
            </a:prstGeom>
            <a:solidFill>
              <a:srgbClr val="FFFFFF"/>
            </a:solidFill>
            <a:ln w="9525">
              <a:solidFill>
                <a:srgbClr val="C7D9F0"/>
              </a:solidFill>
            </a:ln>
          </p:spPr>
        </p:sp>
        <p:sp>
          <p:nvSpPr>
            <p:cNvPr id="46" name="Rectangle 46"/>
            <p:cNvSpPr/>
            <p:nvPr/>
          </p:nvSpPr>
          <p:spPr>
            <a:xfrm>
              <a:off x="381000" y="1123950"/>
              <a:ext cx="2114550" cy="1028700"/>
            </a:xfrm>
            <a:prstGeom prst="rect">
              <a:avLst/>
            </a:prstGeom>
            <a:solidFill>
              <a:srgbClr val="DCE9F8"/>
            </a:solidFill>
            <a:ln w="9525">
              <a:solidFill>
                <a:srgbClr val="C7D9F0"/>
              </a:solidFill>
            </a:ln>
          </p:spPr>
        </p:sp>
        <p:sp>
          <p:nvSpPr>
            <p:cNvPr id="47" name="TextBox 47"/>
            <p:cNvSpPr txBox="1"/>
            <p:nvPr/>
          </p:nvSpPr>
          <p:spPr>
            <a:xfrm>
              <a:off x="525018" y="1383982"/>
              <a:ext cx="290654" cy="322707"/>
            </a:xfrm>
            <a:prstGeom prst="rect">
              <a:avLst/>
            </a:prstGeom>
            <a:noFill/>
            <a:ln>
              <a:noFill/>
            </a:ln>
          </p:spPr>
          <p:txBody>
            <a:bodyPr wrap="none" lIns="0" tIns="0" rIns="0" bIns="0" anchor="t" anchorCtr="0">
              <a:spAutoFit/>
            </a:bodyPr>
            <a:lstStyle/>
            <a:p>
              <a:pPr algn="l"/>
              <a:r>
                <a:rPr lang="en-US" sz="1650" b="1" dirty="0">
                  <a:solidFill>
                    <a:srgbClr val="9C331E"/>
                  </a:solidFill>
                  <a:latin typeface="Arial"/>
                  <a:ea typeface="Arial"/>
                  <a:cs typeface="Arial"/>
                </a:rPr>
                <a:t>L1</a:t>
              </a:r>
            </a:p>
          </p:txBody>
        </p:sp>
        <p:sp>
          <p:nvSpPr>
            <p:cNvPr id="48" name="TextBox 48"/>
            <p:cNvSpPr txBox="1"/>
            <p:nvPr/>
          </p:nvSpPr>
          <p:spPr>
            <a:xfrm>
              <a:off x="908685" y="1326356"/>
              <a:ext cx="765302"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入选待披露</a:t>
              </a:r>
            </a:p>
          </p:txBody>
        </p:sp>
        <p:sp>
          <p:nvSpPr>
            <p:cNvPr id="49" name="TextBox 49"/>
            <p:cNvSpPr txBox="1"/>
            <p:nvPr/>
          </p:nvSpPr>
          <p:spPr>
            <a:xfrm>
              <a:off x="909638" y="1557338"/>
              <a:ext cx="1057275" cy="290512"/>
            </a:xfrm>
            <a:prstGeom prst="rect">
              <a:avLst/>
            </a:prstGeom>
            <a:noFill/>
            <a:ln>
              <a:noFill/>
            </a:ln>
          </p:spPr>
          <p:txBody>
            <a:bodyPr wrap="none" lIns="0" tIns="0" rIns="0" bIns="0" anchor="t" anchorCtr="0">
              <a:spAutoFit/>
            </a:bodyPr>
            <a:lstStyle/>
            <a:p>
              <a:pPr algn="l">
                <a:lnSpc>
                  <a:spcPts val="1125"/>
                </a:lnSpc>
              </a:pPr>
              <a:r>
                <a:rPr lang="zh-CN" sz="750" dirty="0">
                  <a:solidFill>
                    <a:srgbClr val="573F3A"/>
                  </a:solidFill>
                  <a:latin typeface="+mn-lt"/>
                  <a:ea typeface="+mn-ea"/>
                  <a:cs typeface="+mn-cs"/>
                </a:rPr>
                <a:t>仅有场景名称，缺少运行</a:t>
              </a:r>
              <a:br/>
              <a:r>
                <a:rPr lang="zh-CN" sz="750" dirty="0">
                  <a:solidFill>
                    <a:srgbClr val="573F3A"/>
                  </a:solidFill>
                  <a:latin typeface="+mn-lt"/>
                  <a:ea typeface="+mn-ea"/>
                  <a:cs typeface="+mn-cs"/>
                </a:rPr>
                <a:t>与成效信息</a:t>
              </a:r>
            </a:p>
          </p:txBody>
        </p:sp>
        <p:sp>
          <p:nvSpPr>
            <p:cNvPr id="50" name="Line 50"/>
            <p:cNvSpPr/>
            <p:nvPr/>
          </p:nvSpPr>
          <p:spPr>
            <a:xfrm>
              <a:off x="4352925" y="11239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51" name="Line 51"/>
            <p:cNvSpPr/>
            <p:nvPr/>
          </p:nvSpPr>
          <p:spPr>
            <a:xfrm>
              <a:off x="6210300" y="11239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52" name="Line 52"/>
            <p:cNvSpPr/>
            <p:nvPr/>
          </p:nvSpPr>
          <p:spPr>
            <a:xfrm>
              <a:off x="8067675" y="11239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53" name="Line 53"/>
            <p:cNvSpPr/>
            <p:nvPr/>
          </p:nvSpPr>
          <p:spPr>
            <a:xfrm>
              <a:off x="9925050" y="11239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54" name="TextBox 54"/>
            <p:cNvSpPr txBox="1"/>
            <p:nvPr/>
          </p:nvSpPr>
          <p:spPr>
            <a:xfrm>
              <a:off x="3067393" y="150709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仅有场景设想</a:t>
              </a:r>
            </a:p>
          </p:txBody>
        </p:sp>
        <p:sp>
          <p:nvSpPr>
            <p:cNvPr id="55" name="TextBox 55"/>
            <p:cNvSpPr txBox="1"/>
            <p:nvPr/>
          </p:nvSpPr>
          <p:spPr>
            <a:xfrm>
              <a:off x="3125280" y="1678543"/>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未形成闭环</a:t>
              </a:r>
            </a:p>
          </p:txBody>
        </p:sp>
        <p:sp>
          <p:nvSpPr>
            <p:cNvPr id="56" name="TextBox 56"/>
            <p:cNvSpPr txBox="1"/>
            <p:nvPr/>
          </p:nvSpPr>
          <p:spPr>
            <a:xfrm>
              <a:off x="5040541" y="150709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尚未运行</a:t>
              </a:r>
            </a:p>
          </p:txBody>
        </p:sp>
        <p:sp>
          <p:nvSpPr>
            <p:cNvPr id="57" name="TextBox 57"/>
            <p:cNvSpPr txBox="1"/>
            <p:nvPr/>
          </p:nvSpPr>
          <p:spPr>
            <a:xfrm>
              <a:off x="4924768" y="167854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或仅处于规划</a:t>
              </a:r>
            </a:p>
          </p:txBody>
        </p:sp>
        <p:sp>
          <p:nvSpPr>
            <p:cNvPr id="58" name="TextBox 58"/>
            <p:cNvSpPr txBox="1"/>
            <p:nvPr/>
          </p:nvSpPr>
          <p:spPr>
            <a:xfrm>
              <a:off x="6840030" y="1592818"/>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范围不明确</a:t>
              </a:r>
            </a:p>
          </p:txBody>
        </p:sp>
        <p:sp>
          <p:nvSpPr>
            <p:cNvPr id="59" name="TextBox 59"/>
            <p:cNvSpPr txBox="1"/>
            <p:nvPr/>
          </p:nvSpPr>
          <p:spPr>
            <a:xfrm>
              <a:off x="8639518" y="150709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缺少可验证的</a:t>
              </a:r>
            </a:p>
          </p:txBody>
        </p:sp>
        <p:sp>
          <p:nvSpPr>
            <p:cNvPr id="60" name="TextBox 60"/>
            <p:cNvSpPr txBox="1"/>
            <p:nvPr/>
          </p:nvSpPr>
          <p:spPr>
            <a:xfrm>
              <a:off x="8755291" y="167854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成效信息</a:t>
              </a:r>
            </a:p>
          </p:txBody>
        </p:sp>
        <p:sp>
          <p:nvSpPr>
            <p:cNvPr id="61" name="TextBox 61"/>
            <p:cNvSpPr txBox="1"/>
            <p:nvPr/>
          </p:nvSpPr>
          <p:spPr>
            <a:xfrm>
              <a:off x="10612666" y="150709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尚不具备</a:t>
              </a:r>
            </a:p>
          </p:txBody>
        </p:sp>
        <p:sp>
          <p:nvSpPr>
            <p:cNvPr id="62" name="TextBox 62"/>
            <p:cNvSpPr txBox="1"/>
            <p:nvPr/>
          </p:nvSpPr>
          <p:spPr>
            <a:xfrm>
              <a:off x="10612666" y="167854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复制条件</a:t>
              </a:r>
            </a:p>
          </p:txBody>
        </p:sp>
      </p:grpSp>
      <p:grpSp>
        <p:nvGrpSpPr>
          <p:cNvPr id="82" name="row-l2"/>
          <p:cNvGrpSpPr/>
          <p:nvPr/>
        </p:nvGrpSpPr>
        <p:grpSpPr>
          <a:xfrm>
            <a:off x="381000" y="2152650"/>
            <a:ext cx="11401425" cy="1028700"/>
            <a:chOff x="381000" y="2152650"/>
            <a:chExt cx="11401425" cy="1028700"/>
          </a:xfrm>
        </p:grpSpPr>
        <p:sp>
          <p:nvSpPr>
            <p:cNvPr id="64" name="Rectangle 64"/>
            <p:cNvSpPr/>
            <p:nvPr/>
          </p:nvSpPr>
          <p:spPr>
            <a:xfrm>
              <a:off x="2495550" y="2152650"/>
              <a:ext cx="9286875" cy="1028700"/>
            </a:xfrm>
            <a:prstGeom prst="rect">
              <a:avLst/>
            </a:prstGeom>
            <a:solidFill>
              <a:srgbClr val="F6F9FD"/>
            </a:solidFill>
            <a:ln w="9525">
              <a:solidFill>
                <a:srgbClr val="C7D9F0"/>
              </a:solidFill>
            </a:ln>
          </p:spPr>
        </p:sp>
        <p:sp>
          <p:nvSpPr>
            <p:cNvPr id="65" name="Rectangle 65"/>
            <p:cNvSpPr/>
            <p:nvPr/>
          </p:nvSpPr>
          <p:spPr>
            <a:xfrm>
              <a:off x="381000" y="2152650"/>
              <a:ext cx="2114550" cy="1028700"/>
            </a:xfrm>
            <a:prstGeom prst="rect">
              <a:avLst/>
            </a:prstGeom>
            <a:solidFill>
              <a:srgbClr val="ECB3A8"/>
            </a:solidFill>
            <a:ln w="9525">
              <a:solidFill>
                <a:srgbClr val="C7D9F0"/>
              </a:solidFill>
            </a:ln>
          </p:spPr>
        </p:sp>
        <p:sp>
          <p:nvSpPr>
            <p:cNvPr id="66" name="TextBox 66"/>
            <p:cNvSpPr txBox="1"/>
            <p:nvPr/>
          </p:nvSpPr>
          <p:spPr>
            <a:xfrm>
              <a:off x="525018" y="2412682"/>
              <a:ext cx="290654" cy="322707"/>
            </a:xfrm>
            <a:prstGeom prst="rect">
              <a:avLst/>
            </a:prstGeom>
            <a:noFill/>
            <a:ln>
              <a:noFill/>
            </a:ln>
          </p:spPr>
          <p:txBody>
            <a:bodyPr wrap="none" lIns="0" tIns="0" rIns="0" bIns="0" anchor="t" anchorCtr="0">
              <a:spAutoFit/>
            </a:bodyPr>
            <a:lstStyle/>
            <a:p>
              <a:pPr algn="l"/>
              <a:r>
                <a:rPr lang="en-US" sz="1650" b="1" dirty="0">
                  <a:solidFill>
                    <a:srgbClr val="632012"/>
                  </a:solidFill>
                  <a:latin typeface="Arial"/>
                  <a:ea typeface="Arial"/>
                  <a:cs typeface="Arial"/>
                </a:rPr>
                <a:t>L2</a:t>
              </a:r>
            </a:p>
          </p:txBody>
        </p:sp>
        <p:sp>
          <p:nvSpPr>
            <p:cNvPr id="67" name="TextBox 67"/>
            <p:cNvSpPr txBox="1"/>
            <p:nvPr/>
          </p:nvSpPr>
          <p:spPr>
            <a:xfrm>
              <a:off x="908685" y="2355056"/>
              <a:ext cx="614528" cy="220028"/>
            </a:xfrm>
            <a:prstGeom prst="rect">
              <a:avLst/>
            </a:prstGeom>
            <a:noFill/>
            <a:ln>
              <a:noFill/>
            </a:ln>
          </p:spPr>
          <p:txBody>
            <a:bodyPr wrap="none" lIns="0" tIns="0" rIns="0" bIns="0" anchor="t" anchorCtr="0">
              <a:spAutoFit/>
            </a:bodyPr>
            <a:lstStyle/>
            <a:p>
              <a:pPr algn="l"/>
              <a:r>
                <a:rPr lang="zh-CN" sz="1120" b="1" dirty="0">
                  <a:solidFill>
                    <a:srgbClr val="5E2114"/>
                  </a:solidFill>
                  <a:latin typeface="+mn-lt"/>
                  <a:ea typeface="+mn-ea"/>
                  <a:cs typeface="+mn-cs"/>
                </a:rPr>
                <a:t>试点验证</a:t>
              </a:r>
            </a:p>
          </p:txBody>
        </p:sp>
        <p:sp>
          <p:nvSpPr>
            <p:cNvPr id="68" name="TextBox 68"/>
            <p:cNvSpPr txBox="1"/>
            <p:nvPr/>
          </p:nvSpPr>
          <p:spPr>
            <a:xfrm>
              <a:off x="909638" y="2586038"/>
              <a:ext cx="962025" cy="290512"/>
            </a:xfrm>
            <a:prstGeom prst="rect">
              <a:avLst/>
            </a:prstGeom>
            <a:noFill/>
            <a:ln>
              <a:noFill/>
            </a:ln>
          </p:spPr>
          <p:txBody>
            <a:bodyPr wrap="none" lIns="0" tIns="0" rIns="0" bIns="0" anchor="t" anchorCtr="0">
              <a:spAutoFit/>
            </a:bodyPr>
            <a:lstStyle/>
            <a:p>
              <a:pPr algn="l">
                <a:lnSpc>
                  <a:spcPts val="1125"/>
                </a:lnSpc>
              </a:pPr>
              <a:r>
                <a:rPr lang="zh-CN" sz="750" dirty="0">
                  <a:solidFill>
                    <a:srgbClr val="5E2114"/>
                  </a:solidFill>
                  <a:latin typeface="+mn-lt"/>
                  <a:ea typeface="+mn-ea"/>
                  <a:cs typeface="+mn-cs"/>
                </a:rPr>
                <a:t>完成原型或局部试点，</a:t>
              </a:r>
              <a:br/>
              <a:r>
                <a:rPr lang="zh-CN" sz="750" dirty="0">
                  <a:solidFill>
                    <a:srgbClr val="5E2114"/>
                  </a:solidFill>
                  <a:latin typeface="+mn-lt"/>
                  <a:ea typeface="+mn-ea"/>
                  <a:cs typeface="+mn-cs"/>
                </a:rPr>
                <a:t>已有初步用户反馈</a:t>
              </a:r>
            </a:p>
          </p:txBody>
        </p:sp>
        <p:sp>
          <p:nvSpPr>
            <p:cNvPr id="69" name="Line 69"/>
            <p:cNvSpPr/>
            <p:nvPr/>
          </p:nvSpPr>
          <p:spPr>
            <a:xfrm>
              <a:off x="4352925" y="21526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70" name="Line 70"/>
            <p:cNvSpPr/>
            <p:nvPr/>
          </p:nvSpPr>
          <p:spPr>
            <a:xfrm>
              <a:off x="6210300" y="21526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71" name="Line 71"/>
            <p:cNvSpPr/>
            <p:nvPr/>
          </p:nvSpPr>
          <p:spPr>
            <a:xfrm>
              <a:off x="8067675" y="21526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72" name="Line 72"/>
            <p:cNvSpPr/>
            <p:nvPr/>
          </p:nvSpPr>
          <p:spPr>
            <a:xfrm>
              <a:off x="9925050" y="21526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73" name="TextBox 73"/>
            <p:cNvSpPr txBox="1"/>
            <p:nvPr/>
          </p:nvSpPr>
          <p:spPr>
            <a:xfrm>
              <a:off x="3067393" y="253579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形成部分环节</a:t>
              </a:r>
            </a:p>
          </p:txBody>
        </p:sp>
        <p:sp>
          <p:nvSpPr>
            <p:cNvPr id="74" name="TextBox 74"/>
            <p:cNvSpPr txBox="1"/>
            <p:nvPr/>
          </p:nvSpPr>
          <p:spPr>
            <a:xfrm>
              <a:off x="3125280" y="2707243"/>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的业务闭环</a:t>
              </a:r>
            </a:p>
          </p:txBody>
        </p:sp>
        <p:sp>
          <p:nvSpPr>
            <p:cNvPr id="75" name="TextBox 75"/>
            <p:cNvSpPr txBox="1"/>
            <p:nvPr/>
          </p:nvSpPr>
          <p:spPr>
            <a:xfrm>
              <a:off x="4924768" y="253579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在特定场景下</a:t>
              </a:r>
            </a:p>
          </p:txBody>
        </p:sp>
        <p:sp>
          <p:nvSpPr>
            <p:cNvPr id="76" name="TextBox 76"/>
            <p:cNvSpPr txBox="1"/>
            <p:nvPr/>
          </p:nvSpPr>
          <p:spPr>
            <a:xfrm>
              <a:off x="5040541" y="270724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试点运行</a:t>
              </a:r>
            </a:p>
          </p:txBody>
        </p:sp>
        <p:sp>
          <p:nvSpPr>
            <p:cNvPr id="77" name="TextBox 77"/>
            <p:cNvSpPr txBox="1"/>
            <p:nvPr/>
          </p:nvSpPr>
          <p:spPr>
            <a:xfrm>
              <a:off x="6782143" y="2621518"/>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覆盖范围有限</a:t>
              </a:r>
            </a:p>
          </p:txBody>
        </p:sp>
        <p:sp>
          <p:nvSpPr>
            <p:cNvPr id="78" name="TextBox 78"/>
            <p:cNvSpPr txBox="1"/>
            <p:nvPr/>
          </p:nvSpPr>
          <p:spPr>
            <a:xfrm>
              <a:off x="8639518" y="253579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已有初步成效</a:t>
              </a:r>
            </a:p>
          </p:txBody>
        </p:sp>
        <p:sp>
          <p:nvSpPr>
            <p:cNvPr id="79" name="TextBox 79"/>
            <p:cNvSpPr txBox="1"/>
            <p:nvPr/>
          </p:nvSpPr>
          <p:spPr>
            <a:xfrm>
              <a:off x="8697404" y="2707243"/>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与用户反馈</a:t>
              </a:r>
            </a:p>
          </p:txBody>
        </p:sp>
        <p:sp>
          <p:nvSpPr>
            <p:cNvPr id="80" name="TextBox 80"/>
            <p:cNvSpPr txBox="1"/>
            <p:nvPr/>
          </p:nvSpPr>
          <p:spPr>
            <a:xfrm>
              <a:off x="10612666" y="253579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具备一定</a:t>
              </a:r>
            </a:p>
          </p:txBody>
        </p:sp>
        <p:sp>
          <p:nvSpPr>
            <p:cNvPr id="81" name="TextBox 81"/>
            <p:cNvSpPr txBox="1"/>
            <p:nvPr/>
          </p:nvSpPr>
          <p:spPr>
            <a:xfrm>
              <a:off x="10612666" y="270724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复制潜力</a:t>
              </a:r>
            </a:p>
          </p:txBody>
        </p:sp>
      </p:grpSp>
      <p:grpSp>
        <p:nvGrpSpPr>
          <p:cNvPr id="102" name="row-l3"/>
          <p:cNvGrpSpPr/>
          <p:nvPr/>
        </p:nvGrpSpPr>
        <p:grpSpPr>
          <a:xfrm>
            <a:off x="381000" y="3181350"/>
            <a:ext cx="11401425" cy="1028700"/>
            <a:chOff x="381000" y="3181350"/>
            <a:chExt cx="11401425" cy="1028700"/>
          </a:xfrm>
        </p:grpSpPr>
        <p:sp>
          <p:nvSpPr>
            <p:cNvPr id="83" name="Rectangle 83"/>
            <p:cNvSpPr/>
            <p:nvPr/>
          </p:nvSpPr>
          <p:spPr>
            <a:xfrm>
              <a:off x="2495550" y="3181350"/>
              <a:ext cx="9286875" cy="1028700"/>
            </a:xfrm>
            <a:prstGeom prst="rect">
              <a:avLst/>
            </a:prstGeom>
            <a:solidFill>
              <a:srgbClr val="FFFFFF"/>
            </a:solidFill>
            <a:ln w="9525">
              <a:solidFill>
                <a:srgbClr val="C7D9F0"/>
              </a:solidFill>
            </a:ln>
          </p:spPr>
        </p:sp>
        <p:sp>
          <p:nvSpPr>
            <p:cNvPr id="84" name="Rectangle 84"/>
            <p:cNvSpPr/>
            <p:nvPr/>
          </p:nvSpPr>
          <p:spPr>
            <a:xfrm>
              <a:off x="381000" y="3181350"/>
              <a:ext cx="2114550" cy="1028700"/>
            </a:xfrm>
            <a:prstGeom prst="rect">
              <a:avLst/>
            </a:prstGeom>
            <a:solidFill>
              <a:srgbClr val="DE715B"/>
            </a:solidFill>
            <a:ln w="9525">
              <a:solidFill>
                <a:srgbClr val="C7D9F0"/>
              </a:solidFill>
            </a:ln>
          </p:spPr>
        </p:sp>
        <p:sp>
          <p:nvSpPr>
            <p:cNvPr id="85" name="TextBox 85"/>
            <p:cNvSpPr txBox="1"/>
            <p:nvPr/>
          </p:nvSpPr>
          <p:spPr>
            <a:xfrm>
              <a:off x="525018" y="3441382"/>
              <a:ext cx="290654"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Arial"/>
                  <a:ea typeface="Arial"/>
                  <a:cs typeface="Arial"/>
                </a:rPr>
                <a:t>L3</a:t>
              </a:r>
            </a:p>
          </p:txBody>
        </p:sp>
        <p:sp>
          <p:nvSpPr>
            <p:cNvPr id="86" name="TextBox 86"/>
            <p:cNvSpPr txBox="1"/>
            <p:nvPr/>
          </p:nvSpPr>
          <p:spPr>
            <a:xfrm>
              <a:off x="908685" y="338375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生产闭环</a:t>
              </a:r>
            </a:p>
          </p:txBody>
        </p:sp>
        <p:sp>
          <p:nvSpPr>
            <p:cNvPr id="87" name="TextBox 87"/>
            <p:cNvSpPr txBox="1"/>
            <p:nvPr/>
          </p:nvSpPr>
          <p:spPr>
            <a:xfrm>
              <a:off x="909638" y="3614738"/>
              <a:ext cx="1152525" cy="290512"/>
            </a:xfrm>
            <a:prstGeom prst="rect">
              <a:avLst/>
            </a:prstGeom>
            <a:noFill/>
            <a:ln>
              <a:noFill/>
            </a:ln>
          </p:spPr>
          <p:txBody>
            <a:bodyPr wrap="none" lIns="0" tIns="0" rIns="0" bIns="0" anchor="t" anchorCtr="0">
              <a:spAutoFit/>
            </a:bodyPr>
            <a:lstStyle/>
            <a:p>
              <a:pPr algn="l">
                <a:lnSpc>
                  <a:spcPts val="1125"/>
                </a:lnSpc>
              </a:pPr>
              <a:r>
                <a:rPr lang="zh-CN" sz="750" dirty="0">
                  <a:solidFill>
                    <a:srgbClr val="FFFFFF"/>
                  </a:solidFill>
                  <a:latin typeface="+mn-lt"/>
                  <a:ea typeface="+mn-ea"/>
                  <a:cs typeface="+mn-cs"/>
                </a:rPr>
                <a:t>嵌入真实流程，具备用户、</a:t>
              </a:r>
              <a:br/>
              <a:r>
                <a:rPr lang="zh-CN" sz="750" dirty="0">
                  <a:solidFill>
                    <a:srgbClr val="FFFFFF"/>
                  </a:solidFill>
                  <a:latin typeface="+mn-lt"/>
                  <a:ea typeface="+mn-ea"/>
                  <a:cs typeface="+mn-cs"/>
                </a:rPr>
                <a:t>数据、反馈与责任闭环</a:t>
              </a:r>
            </a:p>
          </p:txBody>
        </p:sp>
        <p:sp>
          <p:nvSpPr>
            <p:cNvPr id="88" name="Line 88"/>
            <p:cNvSpPr/>
            <p:nvPr/>
          </p:nvSpPr>
          <p:spPr>
            <a:xfrm>
              <a:off x="4352925" y="31813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89" name="Line 89"/>
            <p:cNvSpPr/>
            <p:nvPr/>
          </p:nvSpPr>
          <p:spPr>
            <a:xfrm>
              <a:off x="6210300" y="31813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90" name="Line 90"/>
            <p:cNvSpPr/>
            <p:nvPr/>
          </p:nvSpPr>
          <p:spPr>
            <a:xfrm>
              <a:off x="8067675" y="31813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91" name="Line 91"/>
            <p:cNvSpPr/>
            <p:nvPr/>
          </p:nvSpPr>
          <p:spPr>
            <a:xfrm>
              <a:off x="9925050" y="31813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92" name="TextBox 92"/>
            <p:cNvSpPr txBox="1"/>
            <p:nvPr/>
          </p:nvSpPr>
          <p:spPr>
            <a:xfrm>
              <a:off x="2951620" y="3564493"/>
              <a:ext cx="93571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嵌入真实业务流程</a:t>
              </a:r>
            </a:p>
          </p:txBody>
        </p:sp>
        <p:sp>
          <p:nvSpPr>
            <p:cNvPr id="93" name="TextBox 93"/>
            <p:cNvSpPr txBox="1"/>
            <p:nvPr/>
          </p:nvSpPr>
          <p:spPr>
            <a:xfrm>
              <a:off x="3067393" y="373594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形成完整闭环</a:t>
              </a:r>
            </a:p>
          </p:txBody>
        </p:sp>
        <p:sp>
          <p:nvSpPr>
            <p:cNvPr id="94" name="TextBox 94"/>
            <p:cNvSpPr txBox="1"/>
            <p:nvPr/>
          </p:nvSpPr>
          <p:spPr>
            <a:xfrm>
              <a:off x="4924768" y="356449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在实际业务中</a:t>
              </a:r>
            </a:p>
          </p:txBody>
        </p:sp>
        <p:sp>
          <p:nvSpPr>
            <p:cNvPr id="95" name="TextBox 95"/>
            <p:cNvSpPr txBox="1"/>
            <p:nvPr/>
          </p:nvSpPr>
          <p:spPr>
            <a:xfrm>
              <a:off x="5040541" y="373594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持续运行</a:t>
              </a:r>
            </a:p>
          </p:txBody>
        </p:sp>
        <p:sp>
          <p:nvSpPr>
            <p:cNvPr id="96" name="TextBox 96"/>
            <p:cNvSpPr txBox="1"/>
            <p:nvPr/>
          </p:nvSpPr>
          <p:spPr>
            <a:xfrm>
              <a:off x="6840030" y="3564493"/>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覆盖一定的</a:t>
              </a:r>
            </a:p>
          </p:txBody>
        </p:sp>
        <p:sp>
          <p:nvSpPr>
            <p:cNvPr id="97" name="TextBox 97"/>
            <p:cNvSpPr txBox="1"/>
            <p:nvPr/>
          </p:nvSpPr>
          <p:spPr>
            <a:xfrm>
              <a:off x="6897916" y="373594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业务范围</a:t>
              </a:r>
            </a:p>
          </p:txBody>
        </p:sp>
        <p:sp>
          <p:nvSpPr>
            <p:cNvPr id="98" name="TextBox 98"/>
            <p:cNvSpPr txBox="1"/>
            <p:nvPr/>
          </p:nvSpPr>
          <p:spPr>
            <a:xfrm>
              <a:off x="8639518" y="356449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形成可验证的</a:t>
              </a:r>
            </a:p>
          </p:txBody>
        </p:sp>
        <p:sp>
          <p:nvSpPr>
            <p:cNvPr id="99" name="TextBox 99"/>
            <p:cNvSpPr txBox="1"/>
            <p:nvPr/>
          </p:nvSpPr>
          <p:spPr>
            <a:xfrm>
              <a:off x="8755291" y="3735943"/>
              <a:ext cx="472618"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业务成效</a:t>
              </a:r>
            </a:p>
          </p:txBody>
        </p:sp>
        <p:sp>
          <p:nvSpPr>
            <p:cNvPr id="100" name="TextBox 100"/>
            <p:cNvSpPr txBox="1"/>
            <p:nvPr/>
          </p:nvSpPr>
          <p:spPr>
            <a:xfrm>
              <a:off x="10439006" y="3564493"/>
              <a:ext cx="819937"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具备在相似场景</a:t>
              </a:r>
            </a:p>
          </p:txBody>
        </p:sp>
        <p:sp>
          <p:nvSpPr>
            <p:cNvPr id="101" name="TextBox 101"/>
            <p:cNvSpPr txBox="1"/>
            <p:nvPr/>
          </p:nvSpPr>
          <p:spPr>
            <a:xfrm>
              <a:off x="10554779" y="3735943"/>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复制的能力</a:t>
              </a:r>
            </a:p>
          </p:txBody>
        </p:sp>
      </p:grpSp>
      <p:grpSp>
        <p:nvGrpSpPr>
          <p:cNvPr id="123" name="row-l4"/>
          <p:cNvGrpSpPr/>
          <p:nvPr/>
        </p:nvGrpSpPr>
        <p:grpSpPr>
          <a:xfrm>
            <a:off x="381000" y="4210050"/>
            <a:ext cx="11401425" cy="1028700"/>
            <a:chOff x="381000" y="4210050"/>
            <a:chExt cx="11401425" cy="1028700"/>
          </a:xfrm>
        </p:grpSpPr>
        <p:sp>
          <p:nvSpPr>
            <p:cNvPr id="103" name="Rectangle 103"/>
            <p:cNvSpPr/>
            <p:nvPr/>
          </p:nvSpPr>
          <p:spPr>
            <a:xfrm>
              <a:off x="2495550" y="4210050"/>
              <a:ext cx="9286875" cy="1028700"/>
            </a:xfrm>
            <a:prstGeom prst="rect">
              <a:avLst/>
            </a:prstGeom>
            <a:solidFill>
              <a:srgbClr val="F6F9FD"/>
            </a:solidFill>
            <a:ln w="9525">
              <a:solidFill>
                <a:srgbClr val="C7D9F0"/>
              </a:solidFill>
            </a:ln>
          </p:spPr>
        </p:sp>
        <p:sp>
          <p:nvSpPr>
            <p:cNvPr id="104" name="Rectangle 104"/>
            <p:cNvSpPr/>
            <p:nvPr/>
          </p:nvSpPr>
          <p:spPr>
            <a:xfrm>
              <a:off x="381000" y="4210050"/>
              <a:ext cx="2114550" cy="1028700"/>
            </a:xfrm>
            <a:prstGeom prst="rect">
              <a:avLst/>
            </a:prstGeom>
            <a:solidFill>
              <a:srgbClr val="9C331E"/>
            </a:solidFill>
            <a:ln w="9525">
              <a:solidFill>
                <a:srgbClr val="C7D9F0"/>
              </a:solidFill>
            </a:ln>
          </p:spPr>
        </p:sp>
        <p:sp>
          <p:nvSpPr>
            <p:cNvPr id="105" name="TextBox 105"/>
            <p:cNvSpPr txBox="1"/>
            <p:nvPr/>
          </p:nvSpPr>
          <p:spPr>
            <a:xfrm>
              <a:off x="525018" y="4470082"/>
              <a:ext cx="290654"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Arial"/>
                  <a:ea typeface="Arial"/>
                  <a:cs typeface="Arial"/>
                </a:rPr>
                <a:t>L4</a:t>
              </a:r>
            </a:p>
          </p:txBody>
        </p:sp>
        <p:sp>
          <p:nvSpPr>
            <p:cNvPr id="106" name="TextBox 106"/>
            <p:cNvSpPr txBox="1"/>
            <p:nvPr/>
          </p:nvSpPr>
          <p:spPr>
            <a:xfrm>
              <a:off x="908685" y="441245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规模运行</a:t>
              </a:r>
            </a:p>
          </p:txBody>
        </p:sp>
        <p:sp>
          <p:nvSpPr>
            <p:cNvPr id="107" name="TextBox 107"/>
            <p:cNvSpPr txBox="1"/>
            <p:nvPr/>
          </p:nvSpPr>
          <p:spPr>
            <a:xfrm>
              <a:off x="909638" y="4643438"/>
              <a:ext cx="1343025" cy="290512"/>
            </a:xfrm>
            <a:prstGeom prst="rect">
              <a:avLst/>
            </a:prstGeom>
            <a:noFill/>
            <a:ln>
              <a:noFill/>
            </a:ln>
          </p:spPr>
          <p:txBody>
            <a:bodyPr wrap="none" lIns="0" tIns="0" rIns="0" bIns="0" anchor="t" anchorCtr="0">
              <a:spAutoFit/>
            </a:bodyPr>
            <a:lstStyle/>
            <a:p>
              <a:pPr algn="l">
                <a:lnSpc>
                  <a:spcPts val="1125"/>
                </a:lnSpc>
              </a:pPr>
              <a:r>
                <a:rPr lang="zh-CN" sz="750" dirty="0">
                  <a:solidFill>
                    <a:srgbClr val="FFFFFF"/>
                  </a:solidFill>
                  <a:latin typeface="+mn-lt"/>
                  <a:ea typeface="+mn-ea"/>
                  <a:cs typeface="+mn-cs"/>
                </a:rPr>
                <a:t>跨设备、区域或组织持续运行，</a:t>
              </a:r>
              <a:br/>
              <a:r>
                <a:rPr lang="zh-CN" sz="750" dirty="0">
                  <a:solidFill>
                    <a:srgbClr val="FFFFFF"/>
                  </a:solidFill>
                  <a:latin typeface="+mn-lt"/>
                  <a:ea typeface="+mn-ea"/>
                  <a:cs typeface="+mn-cs"/>
                </a:rPr>
                <a:t>公开覆盖范围或业务指标</a:t>
              </a:r>
            </a:p>
          </p:txBody>
        </p:sp>
        <p:sp>
          <p:nvSpPr>
            <p:cNvPr id="108" name="Line 108"/>
            <p:cNvSpPr/>
            <p:nvPr/>
          </p:nvSpPr>
          <p:spPr>
            <a:xfrm>
              <a:off x="4352925" y="42100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109" name="Line 109"/>
            <p:cNvSpPr/>
            <p:nvPr/>
          </p:nvSpPr>
          <p:spPr>
            <a:xfrm>
              <a:off x="6210300" y="42100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110" name="Line 110"/>
            <p:cNvSpPr/>
            <p:nvPr/>
          </p:nvSpPr>
          <p:spPr>
            <a:xfrm>
              <a:off x="8067675" y="42100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111" name="Line 111"/>
            <p:cNvSpPr/>
            <p:nvPr/>
          </p:nvSpPr>
          <p:spPr>
            <a:xfrm>
              <a:off x="9925050" y="4210050"/>
              <a:ext cx="9525" cy="1028700"/>
            </a:xfrm>
            <a:custGeom>
              <a:avLst/>
              <a:gdLst/>
              <a:ahLst/>
              <a:cxnLst/>
              <a:rect l="l" t="t" r="r" b="b"/>
              <a:pathLst>
                <a:path w="9525" h="1028700">
                  <a:moveTo>
                    <a:pt x="0" y="0"/>
                  </a:moveTo>
                  <a:lnTo>
                    <a:pt x="0" y="1028700"/>
                  </a:lnTo>
                </a:path>
              </a:pathLst>
            </a:custGeom>
            <a:noFill/>
            <a:ln w="9525">
              <a:solidFill>
                <a:srgbClr val="C7D9F0"/>
              </a:solidFill>
            </a:ln>
          </p:spPr>
        </p:sp>
        <p:sp>
          <p:nvSpPr>
            <p:cNvPr id="112" name="TextBox 112"/>
            <p:cNvSpPr txBox="1"/>
            <p:nvPr/>
          </p:nvSpPr>
          <p:spPr>
            <a:xfrm>
              <a:off x="2893733" y="4593193"/>
              <a:ext cx="105148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融入多环节、多系统</a:t>
              </a:r>
            </a:p>
          </p:txBody>
        </p:sp>
        <p:sp>
          <p:nvSpPr>
            <p:cNvPr id="113" name="TextBox 113"/>
            <p:cNvSpPr txBox="1"/>
            <p:nvPr/>
          </p:nvSpPr>
          <p:spPr>
            <a:xfrm>
              <a:off x="3125280" y="4764643"/>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的业务闭环</a:t>
              </a:r>
            </a:p>
          </p:txBody>
        </p:sp>
        <p:sp>
          <p:nvSpPr>
            <p:cNvPr id="114" name="TextBox 114"/>
            <p:cNvSpPr txBox="1"/>
            <p:nvPr/>
          </p:nvSpPr>
          <p:spPr>
            <a:xfrm>
              <a:off x="4924768" y="459319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在更大范围内</a:t>
              </a:r>
            </a:p>
          </p:txBody>
        </p:sp>
        <p:sp>
          <p:nvSpPr>
            <p:cNvPr id="115" name="TextBox 115"/>
            <p:cNvSpPr txBox="1"/>
            <p:nvPr/>
          </p:nvSpPr>
          <p:spPr>
            <a:xfrm>
              <a:off x="4924768" y="476464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持续稳定运行</a:t>
              </a:r>
            </a:p>
          </p:txBody>
        </p:sp>
        <p:sp>
          <p:nvSpPr>
            <p:cNvPr id="116" name="TextBox 116"/>
            <p:cNvSpPr txBox="1"/>
            <p:nvPr/>
          </p:nvSpPr>
          <p:spPr>
            <a:xfrm>
              <a:off x="6666370" y="4593193"/>
              <a:ext cx="93571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覆盖更广的设备、</a:t>
              </a:r>
            </a:p>
          </p:txBody>
        </p:sp>
        <p:sp>
          <p:nvSpPr>
            <p:cNvPr id="117" name="TextBox 117"/>
            <p:cNvSpPr txBox="1"/>
            <p:nvPr/>
          </p:nvSpPr>
          <p:spPr>
            <a:xfrm>
              <a:off x="6840030" y="4764643"/>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区域或组织</a:t>
              </a:r>
            </a:p>
          </p:txBody>
        </p:sp>
        <p:sp>
          <p:nvSpPr>
            <p:cNvPr id="118" name="TextBox 118"/>
            <p:cNvSpPr txBox="1"/>
            <p:nvPr/>
          </p:nvSpPr>
          <p:spPr>
            <a:xfrm>
              <a:off x="8697404" y="4593193"/>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形成公开的</a:t>
              </a:r>
            </a:p>
          </p:txBody>
        </p:sp>
        <p:sp>
          <p:nvSpPr>
            <p:cNvPr id="119" name="TextBox 119"/>
            <p:cNvSpPr txBox="1"/>
            <p:nvPr/>
          </p:nvSpPr>
          <p:spPr>
            <a:xfrm>
              <a:off x="8581631" y="4764643"/>
              <a:ext cx="819937"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业务指标与成效</a:t>
              </a:r>
            </a:p>
          </p:txBody>
        </p:sp>
        <p:sp>
          <p:nvSpPr>
            <p:cNvPr id="120" name="TextBox 120"/>
            <p:cNvSpPr txBox="1"/>
            <p:nvPr/>
          </p:nvSpPr>
          <p:spPr>
            <a:xfrm>
              <a:off x="10496893" y="4516993"/>
              <a:ext cx="704164"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具备跨场景、</a:t>
              </a:r>
            </a:p>
          </p:txBody>
        </p:sp>
        <p:sp>
          <p:nvSpPr>
            <p:cNvPr id="121" name="TextBox 121"/>
            <p:cNvSpPr txBox="1"/>
            <p:nvPr/>
          </p:nvSpPr>
          <p:spPr>
            <a:xfrm>
              <a:off x="10439006" y="4678918"/>
              <a:ext cx="819937"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跨区域或跨组织</a:t>
              </a:r>
            </a:p>
          </p:txBody>
        </p:sp>
        <p:sp>
          <p:nvSpPr>
            <p:cNvPr id="122" name="TextBox 122"/>
            <p:cNvSpPr txBox="1"/>
            <p:nvPr/>
          </p:nvSpPr>
          <p:spPr>
            <a:xfrm>
              <a:off x="10554779" y="4840843"/>
              <a:ext cx="588391" cy="169069"/>
            </a:xfrm>
            <a:prstGeom prst="rect">
              <a:avLst/>
            </a:prstGeom>
            <a:noFill/>
            <a:ln>
              <a:noFill/>
            </a:ln>
          </p:spPr>
          <p:txBody>
            <a:bodyPr wrap="none" lIns="0" tIns="0" rIns="0" bIns="0" anchor="t" anchorCtr="0">
              <a:spAutoFit/>
            </a:bodyPr>
            <a:lstStyle/>
            <a:p>
              <a:pPr algn="ctr"/>
              <a:r>
                <a:rPr lang="zh-CN" sz="860" dirty="0">
                  <a:solidFill>
                    <a:srgbClr val="573F3A"/>
                  </a:solidFill>
                  <a:latin typeface="+mn-lt"/>
                  <a:ea typeface="+mn-ea"/>
                  <a:cs typeface="+mn-cs"/>
                </a:rPr>
                <a:t>复制的能力</a:t>
              </a:r>
            </a:p>
          </p:txBody>
        </p:sp>
      </p:grpSp>
      <p:grpSp>
        <p:nvGrpSpPr>
          <p:cNvPr id="129" name="conclusion-banner"/>
          <p:cNvGrpSpPr/>
          <p:nvPr/>
        </p:nvGrpSpPr>
        <p:grpSpPr>
          <a:xfrm>
            <a:off x="381000" y="5391150"/>
            <a:ext cx="11401425" cy="495300"/>
            <a:chOff x="381000" y="5391150"/>
            <a:chExt cx="11401425" cy="495300"/>
          </a:xfrm>
        </p:grpSpPr>
        <p:sp>
          <p:nvSpPr>
            <p:cNvPr id="124" name="Rectangle 124"/>
            <p:cNvSpPr/>
            <p:nvPr/>
          </p:nvSpPr>
          <p:spPr>
            <a:xfrm>
              <a:off x="381000" y="5391150"/>
              <a:ext cx="11401425" cy="495300"/>
            </a:xfrm>
            <a:prstGeom prst="roundRect">
              <a:avLst>
                <a:gd name="adj" fmla="val 11538"/>
              </a:avLst>
            </a:prstGeom>
            <a:gradFill>
              <a:gsLst>
                <a:gs pos="0">
                  <a:srgbClr val="632012"/>
                </a:gs>
                <a:gs pos="100000">
                  <a:srgbClr val="D64A2E"/>
                </a:gs>
              </a:gsLst>
              <a:lin ang="0" scaled="1"/>
            </a:gradFill>
            <a:ln>
              <a:noFill/>
            </a:ln>
          </p:spPr>
        </p:sp>
        <p:sp>
          <p:nvSpPr>
            <p:cNvPr id="125" name="Polygon 125"/>
            <p:cNvSpPr/>
            <p:nvPr/>
          </p:nvSpPr>
          <p:spPr>
            <a:xfrm>
              <a:off x="9525000" y="5505450"/>
              <a:ext cx="2257425" cy="381000"/>
            </a:xfrm>
            <a:custGeom>
              <a:avLst/>
              <a:gdLst/>
              <a:ahLst/>
              <a:cxnLst/>
              <a:rect l="l" t="t" r="r" b="b"/>
              <a:pathLst>
                <a:path w="2257425" h="381000">
                  <a:moveTo>
                    <a:pt x="0" y="381000"/>
                  </a:moveTo>
                  <a:lnTo>
                    <a:pt x="571500" y="57150"/>
                  </a:lnTo>
                  <a:lnTo>
                    <a:pt x="952500" y="247650"/>
                  </a:lnTo>
                  <a:lnTo>
                    <a:pt x="1428750" y="0"/>
                  </a:lnTo>
                  <a:lnTo>
                    <a:pt x="1905000" y="209550"/>
                  </a:lnTo>
                  <a:lnTo>
                    <a:pt x="2257425" y="76200"/>
                  </a:lnTo>
                  <a:lnTo>
                    <a:pt x="2257425" y="381000"/>
                  </a:lnTo>
                  <a:close/>
                </a:path>
              </a:pathLst>
            </a:custGeom>
            <a:solidFill>
              <a:srgbClr val="FFFFFF">
                <a:alpha val="16000"/>
              </a:srgbClr>
            </a:solidFill>
            <a:ln>
              <a:noFill/>
            </a:ln>
          </p:spPr>
        </p:sp>
        <p:sp>
          <p:nvSpPr>
            <p:cNvPr id="126" name="Polygon 126"/>
            <p:cNvSpPr/>
            <p:nvPr/>
          </p:nvSpPr>
          <p:spPr>
            <a:xfrm>
              <a:off x="10382250" y="5619750"/>
              <a:ext cx="1400175" cy="266700"/>
            </a:xfrm>
            <a:custGeom>
              <a:avLst/>
              <a:gdLst/>
              <a:ahLst/>
              <a:cxnLst/>
              <a:rect l="l" t="t" r="r" b="b"/>
              <a:pathLst>
                <a:path w="1400175" h="266700">
                  <a:moveTo>
                    <a:pt x="0" y="266700"/>
                  </a:moveTo>
                  <a:lnTo>
                    <a:pt x="381000" y="57150"/>
                  </a:lnTo>
                  <a:lnTo>
                    <a:pt x="762000" y="190500"/>
                  </a:lnTo>
                  <a:lnTo>
                    <a:pt x="1143000" y="0"/>
                  </a:lnTo>
                  <a:lnTo>
                    <a:pt x="1400175" y="114300"/>
                  </a:lnTo>
                  <a:lnTo>
                    <a:pt x="1400175" y="266700"/>
                  </a:lnTo>
                  <a:close/>
                </a:path>
              </a:pathLst>
            </a:custGeom>
            <a:solidFill>
              <a:srgbClr val="FFFFFF">
                <a:alpha val="14000"/>
              </a:srgbClr>
            </a:solidFill>
            <a:ln>
              <a:noFill/>
            </a:ln>
          </p:spPr>
        </p:sp>
        <p:sp>
          <p:nvSpPr>
            <p:cNvPr id="127" name="TextBox 127"/>
            <p:cNvSpPr txBox="1"/>
            <p:nvPr/>
          </p:nvSpPr>
          <p:spPr>
            <a:xfrm>
              <a:off x="601218" y="5536882"/>
              <a:ext cx="140309" cy="322707"/>
            </a:xfrm>
            <a:prstGeom prst="rect">
              <a:avLst/>
            </a:prstGeom>
            <a:noFill/>
            <a:ln>
              <a:noFill/>
            </a:ln>
          </p:spPr>
          <p:txBody>
            <a:bodyPr wrap="none" lIns="0" tIns="0" rIns="0" bIns="0" anchor="t" anchorCtr="0">
              <a:spAutoFit/>
            </a:bodyPr>
            <a:lstStyle/>
            <a:p>
              <a:pPr algn="l"/>
              <a:r>
                <a:rPr lang="zh-CN" sz="1650" b="1" dirty="0">
                  <a:solidFill>
                    <a:srgbClr val="FF7A5F"/>
                  </a:solidFill>
                  <a:latin typeface="Arial"/>
                  <a:ea typeface="Arial"/>
                  <a:cs typeface="Arial"/>
                </a:rPr>
                <a:t>»</a:t>
              </a:r>
            </a:p>
          </p:txBody>
        </p:sp>
        <p:sp>
          <p:nvSpPr>
            <p:cNvPr id="128" name="TextBox 128"/>
            <p:cNvSpPr txBox="1"/>
            <p:nvPr/>
          </p:nvSpPr>
          <p:spPr>
            <a:xfrm>
              <a:off x="945642" y="5559742"/>
              <a:ext cx="5465826"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真正跑通至少达到生产闭环；规模运行才代表从样板间走向生产力。</a:t>
              </a:r>
            </a:p>
          </p:txBody>
        </p:sp>
      </p:grpSp>
      <p:grpSp>
        <p:nvGrpSpPr>
          <p:cNvPr id="133" name="footer"/>
          <p:cNvGrpSpPr/>
          <p:nvPr/>
        </p:nvGrpSpPr>
        <p:grpSpPr>
          <a:xfrm>
            <a:off x="0" y="6705600"/>
            <a:ext cx="12192000" cy="173117"/>
            <a:chOff x="0" y="6705600"/>
            <a:chExt cx="12192000" cy="173117"/>
          </a:xfrm>
        </p:grpSpPr>
        <p:sp>
          <p:nvSpPr>
            <p:cNvPr id="130" name="Rectangle 130"/>
            <p:cNvSpPr/>
            <p:nvPr/>
          </p:nvSpPr>
          <p:spPr>
            <a:xfrm>
              <a:off x="0" y="6705600"/>
              <a:ext cx="12192000" cy="152400"/>
            </a:xfrm>
            <a:prstGeom prst="rect">
              <a:avLst/>
            </a:prstGeom>
            <a:solidFill>
              <a:srgbClr val="632012"/>
            </a:solidFill>
            <a:ln>
              <a:noFill/>
            </a:ln>
          </p:spPr>
        </p:sp>
        <p:sp>
          <p:nvSpPr>
            <p:cNvPr id="131" name="TextBox 131"/>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32" name="TextBox 132"/>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04/20</a:t>
              </a:r>
            </a:p>
          </p:txBody>
        </p:sp>
      </p:gr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skyline"/>
          <p:cNvSpPr/>
          <p:nvPr/>
        </p:nvSpPr>
        <p:spPr>
          <a:xfrm>
            <a:off x="0" y="5810250"/>
            <a:ext cx="12192000" cy="895350"/>
          </a:xfrm>
          <a:custGeom>
            <a:avLst/>
            <a:gdLst/>
            <a:ahLst/>
            <a:cxnLst/>
            <a:rect l="l" t="t" r="r" b="b"/>
            <a:pathLst>
              <a:path w="12192000" h="895350">
                <a:moveTo>
                  <a:pt x="0" y="895350"/>
                </a:moveTo>
                <a:lnTo>
                  <a:pt x="0" y="438150"/>
                </a:lnTo>
                <a:lnTo>
                  <a:pt x="666750" y="438150"/>
                </a:lnTo>
                <a:lnTo>
                  <a:pt x="666750" y="285750"/>
                </a:lnTo>
                <a:lnTo>
                  <a:pt x="952500" y="285750"/>
                </a:lnTo>
                <a:lnTo>
                  <a:pt x="952500" y="438150"/>
                </a:lnTo>
                <a:lnTo>
                  <a:pt x="1619250" y="438150"/>
                </a:lnTo>
                <a:lnTo>
                  <a:pt x="1619250" y="76200"/>
                </a:lnTo>
                <a:lnTo>
                  <a:pt x="1905000" y="76200"/>
                </a:lnTo>
                <a:lnTo>
                  <a:pt x="1905000" y="438150"/>
                </a:lnTo>
                <a:lnTo>
                  <a:pt x="2667000" y="438150"/>
                </a:lnTo>
                <a:lnTo>
                  <a:pt x="2667000" y="342900"/>
                </a:lnTo>
                <a:lnTo>
                  <a:pt x="3048000" y="342900"/>
                </a:lnTo>
                <a:lnTo>
                  <a:pt x="3048000" y="438150"/>
                </a:lnTo>
                <a:lnTo>
                  <a:pt x="3810000" y="438150"/>
                </a:lnTo>
                <a:lnTo>
                  <a:pt x="3810000" y="171450"/>
                </a:lnTo>
                <a:lnTo>
                  <a:pt x="4095750" y="171450"/>
                </a:lnTo>
                <a:lnTo>
                  <a:pt x="4095750" y="438150"/>
                </a:lnTo>
                <a:lnTo>
                  <a:pt x="4857750" y="438150"/>
                </a:lnTo>
                <a:lnTo>
                  <a:pt x="4857750" y="0"/>
                </a:lnTo>
                <a:lnTo>
                  <a:pt x="5191125" y="0"/>
                </a:lnTo>
                <a:lnTo>
                  <a:pt x="5191125" y="438150"/>
                </a:lnTo>
                <a:lnTo>
                  <a:pt x="5905500" y="438150"/>
                </a:lnTo>
                <a:lnTo>
                  <a:pt x="5905500" y="285750"/>
                </a:lnTo>
                <a:lnTo>
                  <a:pt x="6286500" y="285750"/>
                </a:lnTo>
                <a:lnTo>
                  <a:pt x="6286500" y="438150"/>
                </a:lnTo>
                <a:lnTo>
                  <a:pt x="7048500" y="438150"/>
                </a:lnTo>
                <a:lnTo>
                  <a:pt x="7048500" y="57150"/>
                </a:lnTo>
                <a:lnTo>
                  <a:pt x="7429500" y="57150"/>
                </a:lnTo>
                <a:lnTo>
                  <a:pt x="7429500" y="438150"/>
                </a:lnTo>
                <a:lnTo>
                  <a:pt x="8191500" y="438150"/>
                </a:lnTo>
                <a:lnTo>
                  <a:pt x="8191500" y="228600"/>
                </a:lnTo>
                <a:lnTo>
                  <a:pt x="8572500" y="228600"/>
                </a:lnTo>
                <a:lnTo>
                  <a:pt x="8572500" y="438150"/>
                </a:lnTo>
                <a:lnTo>
                  <a:pt x="9239250" y="438150"/>
                </a:lnTo>
                <a:lnTo>
                  <a:pt x="9239250" y="19050"/>
                </a:lnTo>
                <a:lnTo>
                  <a:pt x="9620250" y="19050"/>
                </a:lnTo>
                <a:lnTo>
                  <a:pt x="9620250" y="438150"/>
                </a:lnTo>
                <a:lnTo>
                  <a:pt x="10382250" y="438150"/>
                </a:lnTo>
                <a:lnTo>
                  <a:pt x="10382250" y="285750"/>
                </a:lnTo>
                <a:lnTo>
                  <a:pt x="10858500" y="285750"/>
                </a:lnTo>
                <a:lnTo>
                  <a:pt x="10858500" y="438150"/>
                </a:lnTo>
                <a:lnTo>
                  <a:pt x="12192000" y="438150"/>
                </a:lnTo>
                <a:lnTo>
                  <a:pt x="12192000" y="895350"/>
                </a:lnTo>
                <a:close/>
              </a:path>
            </a:pathLst>
          </a:custGeom>
          <a:solidFill>
            <a:srgbClr val="DCE9F8"/>
          </a:solidFill>
          <a:ln>
            <a:noFill/>
          </a:ln>
        </p:spPr>
      </p:sp>
      <p:grpSp>
        <p:nvGrpSpPr>
          <p:cNvPr id="8" name="header"/>
          <p:cNvGrpSpPr/>
          <p:nvPr/>
        </p:nvGrpSpPr>
        <p:grpSpPr>
          <a:xfrm>
            <a:off x="0" y="0"/>
            <a:ext cx="11739562" cy="551879"/>
            <a:chOff x="0" y="0"/>
            <a:chExt cx="11739562"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4" name="TextBox 4"/>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05</a:t>
              </a:r>
            </a:p>
          </p:txBody>
        </p:sp>
        <p:sp>
          <p:nvSpPr>
            <p:cNvPr id="5" name="TextBox 5"/>
            <p:cNvSpPr txBox="1"/>
            <p:nvPr/>
          </p:nvSpPr>
          <p:spPr>
            <a:xfrm>
              <a:off x="942594" y="170498"/>
              <a:ext cx="5289804"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场景版图</a:t>
              </a:r>
              <a:r>
                <a:rPr lang="zh-CN" sz="1950" b="1" dirty="0">
                  <a:solidFill>
                    <a:srgbClr val="5E2114"/>
                  </a:solidFill>
                  <a:latin typeface="+mj-lt"/>
                  <a:ea typeface="+mj-ea"/>
                  <a:cs typeface="+mj-cs"/>
                </a:rPr>
                <a:t>｜百项成果横跨实体经济关键链条</a:t>
              </a:r>
            </a:p>
          </p:txBody>
        </p:sp>
        <p:sp>
          <p:nvSpPr>
            <p:cNvPr id="6" name="Line 6"/>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7" name="TextBox 7"/>
            <p:cNvSpPr txBox="1"/>
            <p:nvPr/>
          </p:nvSpPr>
          <p:spPr>
            <a:xfrm>
              <a:off x="10105174" y="208836"/>
              <a:ext cx="1634388"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场景驱动产业进步　数据连接真实世界</a:t>
              </a:r>
            </a:p>
          </p:txBody>
        </p:sp>
      </p:grpSp>
      <p:grpSp>
        <p:nvGrpSpPr>
          <p:cNvPr id="10" name="subtitle"/>
          <p:cNvGrpSpPr/>
          <p:nvPr/>
        </p:nvGrpSpPr>
        <p:grpSpPr>
          <a:xfrm>
            <a:off x="985647" y="647224"/>
            <a:ext cx="4759300" cy="190690"/>
            <a:chOff x="985647" y="647224"/>
            <a:chExt cx="4759300" cy="190690"/>
          </a:xfrm>
        </p:grpSpPr>
        <p:sp>
          <p:nvSpPr>
            <p:cNvPr id="9" name="TextBox 9"/>
            <p:cNvSpPr txBox="1"/>
            <p:nvPr/>
          </p:nvSpPr>
          <p:spPr>
            <a:xfrm>
              <a:off x="985647" y="647224"/>
              <a:ext cx="4759300" cy="190690"/>
            </a:xfrm>
            <a:prstGeom prst="rect">
              <a:avLst/>
            </a:prstGeom>
            <a:noFill/>
            <a:ln>
              <a:noFill/>
            </a:ln>
          </p:spPr>
          <p:txBody>
            <a:bodyPr wrap="none" lIns="0" tIns="0" rIns="0" bIns="0" anchor="t" anchorCtr="0">
              <a:spAutoFit/>
            </a:bodyPr>
            <a:lstStyle/>
            <a:p>
              <a:pPr algn="l"/>
              <a:r>
                <a:rPr lang="zh-CN" sz="980" dirty="0">
                  <a:solidFill>
                    <a:srgbClr val="9C331E"/>
                  </a:solidFill>
                  <a:latin typeface="+mn-lt"/>
                  <a:ea typeface="+mn-ea"/>
                  <a:cs typeface="+mn-cs"/>
                </a:rPr>
                <a:t>从研发到服务，贯通多行业、多场景，推动技术与产业深度融合，助力高质量发展</a:t>
              </a:r>
            </a:p>
          </p:txBody>
        </p:sp>
      </p:grpSp>
      <p:grpSp>
        <p:nvGrpSpPr>
          <p:cNvPr id="61" name="chain-head"/>
          <p:cNvGrpSpPr/>
          <p:nvPr/>
        </p:nvGrpSpPr>
        <p:grpSpPr>
          <a:xfrm>
            <a:off x="381000" y="914400"/>
            <a:ext cx="9639300" cy="581025"/>
            <a:chOff x="381000" y="914400"/>
            <a:chExt cx="9639300" cy="581025"/>
          </a:xfrm>
        </p:grpSpPr>
        <p:sp>
          <p:nvSpPr>
            <p:cNvPr id="11" name="Freeform 11"/>
            <p:cNvSpPr/>
            <p:nvPr/>
          </p:nvSpPr>
          <p:spPr>
            <a:xfrm>
              <a:off x="381000" y="914400"/>
              <a:ext cx="1409700" cy="476250"/>
            </a:xfrm>
            <a:prstGeom prst="homePlate">
              <a:avLst/>
            </a:prstGeom>
            <a:solidFill>
              <a:srgbClr val="9C331E"/>
            </a:solidFill>
            <a:ln>
              <a:noFill/>
            </a:ln>
          </p:spPr>
        </p:sp>
        <p:sp>
          <p:nvSpPr>
            <p:cNvPr id="12" name="Freeform 12"/>
            <p:cNvSpPr/>
            <p:nvPr/>
          </p:nvSpPr>
          <p:spPr>
            <a:xfrm>
              <a:off x="1752600" y="914400"/>
              <a:ext cx="1409700" cy="476250"/>
            </a:xfrm>
            <a:prstGeom prst="chevron">
              <a:avLst/>
            </a:prstGeom>
            <a:solidFill>
              <a:srgbClr val="9C331E"/>
            </a:solidFill>
            <a:ln>
              <a:noFill/>
            </a:ln>
          </p:spPr>
        </p:sp>
        <p:sp>
          <p:nvSpPr>
            <p:cNvPr id="13" name="Freeform 13"/>
            <p:cNvSpPr/>
            <p:nvPr/>
          </p:nvSpPr>
          <p:spPr>
            <a:xfrm>
              <a:off x="3124200" y="914400"/>
              <a:ext cx="1409700" cy="476250"/>
            </a:xfrm>
            <a:prstGeom prst="chevron">
              <a:avLst/>
            </a:prstGeom>
            <a:solidFill>
              <a:srgbClr val="9C331E"/>
            </a:solidFill>
            <a:ln>
              <a:noFill/>
            </a:ln>
          </p:spPr>
        </p:sp>
        <p:sp>
          <p:nvSpPr>
            <p:cNvPr id="14" name="Freeform 14"/>
            <p:cNvSpPr/>
            <p:nvPr/>
          </p:nvSpPr>
          <p:spPr>
            <a:xfrm>
              <a:off x="4495800" y="914400"/>
              <a:ext cx="1409700" cy="476250"/>
            </a:xfrm>
            <a:prstGeom prst="chevron">
              <a:avLst/>
            </a:prstGeom>
            <a:solidFill>
              <a:srgbClr val="9C331E"/>
            </a:solidFill>
            <a:ln>
              <a:noFill/>
            </a:ln>
          </p:spPr>
        </p:sp>
        <p:sp>
          <p:nvSpPr>
            <p:cNvPr id="15" name="Freeform 15"/>
            <p:cNvSpPr/>
            <p:nvPr/>
          </p:nvSpPr>
          <p:spPr>
            <a:xfrm>
              <a:off x="5867400" y="914400"/>
              <a:ext cx="1409700" cy="476250"/>
            </a:xfrm>
            <a:prstGeom prst="chevron">
              <a:avLst/>
            </a:prstGeom>
            <a:solidFill>
              <a:srgbClr val="9C331E"/>
            </a:solidFill>
            <a:ln>
              <a:noFill/>
            </a:ln>
          </p:spPr>
        </p:sp>
        <p:sp>
          <p:nvSpPr>
            <p:cNvPr id="16" name="Freeform 16"/>
            <p:cNvSpPr/>
            <p:nvPr/>
          </p:nvSpPr>
          <p:spPr>
            <a:xfrm>
              <a:off x="7239000" y="914400"/>
              <a:ext cx="1409700" cy="476250"/>
            </a:xfrm>
            <a:prstGeom prst="chevron">
              <a:avLst/>
            </a:prstGeom>
            <a:solidFill>
              <a:srgbClr val="9C331E"/>
            </a:solidFill>
            <a:ln>
              <a:noFill/>
            </a:ln>
          </p:spPr>
        </p:sp>
        <p:sp>
          <p:nvSpPr>
            <p:cNvPr id="17" name="Freeform 17"/>
            <p:cNvSpPr/>
            <p:nvPr/>
          </p:nvSpPr>
          <p:spPr>
            <a:xfrm>
              <a:off x="8610600" y="914400"/>
              <a:ext cx="1409700" cy="476250"/>
            </a:xfrm>
            <a:prstGeom prst="chevron">
              <a:avLst/>
            </a:prstGeom>
            <a:solidFill>
              <a:srgbClr val="9C331E"/>
            </a:solidFill>
            <a:ln>
              <a:noFill/>
            </a:ln>
          </p:spPr>
        </p:sp>
        <p:grpSp>
          <p:nvGrpSpPr>
            <p:cNvPr id="21" name="Group 21"/>
            <p:cNvGrpSpPr/>
            <p:nvPr/>
          </p:nvGrpSpPr>
          <p:grpSpPr>
            <a:xfrm>
              <a:off x="419100" y="990600"/>
              <a:ext cx="114300" cy="114300"/>
              <a:chOff x="419100" y="990600"/>
              <a:chExt cx="114300" cy="114300"/>
            </a:xfrm>
          </p:grpSpPr>
          <p:sp>
            <p:nvSpPr>
              <p:cNvPr id="18" name="Freeform 18"/>
              <p:cNvSpPr/>
              <p:nvPr/>
            </p:nvSpPr>
            <p:spPr>
              <a:xfrm>
                <a:off x="419100" y="99060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FFFFFF"/>
                </a:solidFill>
              </a:ln>
            </p:spPr>
          </p:sp>
          <p:sp>
            <p:nvSpPr>
              <p:cNvPr id="19" name="Freeform 19"/>
              <p:cNvSpPr/>
              <p:nvPr/>
            </p:nvSpPr>
            <p:spPr>
              <a:xfrm>
                <a:off x="441808" y="101600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FFFFFF"/>
                </a:solidFill>
              </a:ln>
            </p:spPr>
          </p:sp>
          <p:sp>
            <p:nvSpPr>
              <p:cNvPr id="20" name="Freeform 20"/>
              <p:cNvSpPr/>
              <p:nvPr/>
            </p:nvSpPr>
            <p:spPr>
              <a:xfrm>
                <a:off x="461645" y="1079500"/>
                <a:ext cx="29210" cy="9525"/>
              </a:xfrm>
              <a:custGeom>
                <a:avLst/>
                <a:gdLst/>
                <a:ahLst/>
                <a:cxnLst/>
                <a:rect l="l" t="t" r="r" b="b"/>
                <a:pathLst>
                  <a:path w="29210" h="9525">
                    <a:moveTo>
                      <a:pt x="0" y="0"/>
                    </a:moveTo>
                    <a:lnTo>
                      <a:pt x="29210" y="0"/>
                    </a:lnTo>
                  </a:path>
                </a:pathLst>
              </a:custGeom>
              <a:noFill/>
              <a:ln w="12700">
                <a:solidFill>
                  <a:srgbClr val="FFFFFF"/>
                </a:solidFill>
              </a:ln>
            </p:spPr>
          </p:sp>
        </p:grpSp>
        <p:sp>
          <p:nvSpPr>
            <p:cNvPr id="22" name="TextBox 22"/>
            <p:cNvSpPr txBox="1"/>
            <p:nvPr/>
          </p:nvSpPr>
          <p:spPr>
            <a:xfrm>
              <a:off x="585788" y="99822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研发设计</a:t>
              </a:r>
            </a:p>
          </p:txBody>
        </p:sp>
        <p:sp>
          <p:nvSpPr>
            <p:cNvPr id="23" name="TextBox 23"/>
            <p:cNvSpPr txBox="1"/>
            <p:nvPr/>
          </p:nvSpPr>
          <p:spPr>
            <a:xfrm>
              <a:off x="585788" y="1169432"/>
              <a:ext cx="526466"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从创意到方案</a:t>
              </a:r>
            </a:p>
          </p:txBody>
        </p:sp>
        <p:grpSp>
          <p:nvGrpSpPr>
            <p:cNvPr id="26" name="Group 26"/>
            <p:cNvGrpSpPr/>
            <p:nvPr/>
          </p:nvGrpSpPr>
          <p:grpSpPr>
            <a:xfrm>
              <a:off x="1826012" y="987812"/>
              <a:ext cx="119875" cy="119875"/>
              <a:chOff x="1826012" y="987812"/>
              <a:chExt cx="119875" cy="119875"/>
            </a:xfrm>
          </p:grpSpPr>
          <p:sp>
            <p:nvSpPr>
              <p:cNvPr id="24" name="Freeform 24"/>
              <p:cNvSpPr/>
              <p:nvPr/>
            </p:nvSpPr>
            <p:spPr>
              <a:xfrm>
                <a:off x="1826012" y="98781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FFFFFF"/>
                </a:solidFill>
              </a:ln>
            </p:spPr>
          </p:sp>
          <p:sp>
            <p:nvSpPr>
              <p:cNvPr id="25" name="Freeform 25"/>
              <p:cNvSpPr/>
              <p:nvPr/>
            </p:nvSpPr>
            <p:spPr>
              <a:xfrm>
                <a:off x="1866900" y="10287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FFFFFF"/>
                </a:solidFill>
              </a:ln>
            </p:spPr>
          </p:sp>
        </p:grpSp>
        <p:sp>
          <p:nvSpPr>
            <p:cNvPr id="27" name="TextBox 27"/>
            <p:cNvSpPr txBox="1"/>
            <p:nvPr/>
          </p:nvSpPr>
          <p:spPr>
            <a:xfrm>
              <a:off x="1995488" y="99822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生产制造</a:t>
              </a:r>
            </a:p>
          </p:txBody>
        </p:sp>
        <p:sp>
          <p:nvSpPr>
            <p:cNvPr id="28" name="TextBox 28"/>
            <p:cNvSpPr txBox="1"/>
            <p:nvPr/>
          </p:nvSpPr>
          <p:spPr>
            <a:xfrm>
              <a:off x="1995488" y="1169432"/>
              <a:ext cx="526466"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从图纸到产品</a:t>
              </a:r>
            </a:p>
          </p:txBody>
        </p:sp>
        <p:grpSp>
          <p:nvGrpSpPr>
            <p:cNvPr id="31" name="Group 31"/>
            <p:cNvGrpSpPr/>
            <p:nvPr/>
          </p:nvGrpSpPr>
          <p:grpSpPr>
            <a:xfrm>
              <a:off x="3200400" y="990600"/>
              <a:ext cx="114300" cy="114300"/>
              <a:chOff x="3200400" y="990600"/>
              <a:chExt cx="114300" cy="114300"/>
            </a:xfrm>
          </p:grpSpPr>
          <p:sp>
            <p:nvSpPr>
              <p:cNvPr id="29" name="Freeform 29"/>
              <p:cNvSpPr/>
              <p:nvPr/>
            </p:nvSpPr>
            <p:spPr>
              <a:xfrm>
                <a:off x="3200400" y="99060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FFFFFF"/>
                </a:solidFill>
              </a:ln>
            </p:spPr>
          </p:sp>
          <p:sp>
            <p:nvSpPr>
              <p:cNvPr id="30" name="Freeform 30"/>
              <p:cNvSpPr/>
              <p:nvPr/>
            </p:nvSpPr>
            <p:spPr>
              <a:xfrm>
                <a:off x="3276600" y="1066800"/>
                <a:ext cx="38100" cy="38100"/>
              </a:xfrm>
              <a:custGeom>
                <a:avLst/>
                <a:gdLst/>
                <a:ahLst/>
                <a:cxnLst/>
                <a:rect l="l" t="t" r="r" b="b"/>
                <a:pathLst>
                  <a:path w="38100" h="38100">
                    <a:moveTo>
                      <a:pt x="38100" y="38100"/>
                    </a:moveTo>
                    <a:lnTo>
                      <a:pt x="0" y="0"/>
                    </a:lnTo>
                  </a:path>
                </a:pathLst>
              </a:custGeom>
              <a:noFill/>
              <a:ln w="12700">
                <a:solidFill>
                  <a:srgbClr val="FFFFFF"/>
                </a:solidFill>
              </a:ln>
            </p:spPr>
          </p:sp>
        </p:grpSp>
        <p:sp>
          <p:nvSpPr>
            <p:cNvPr id="32" name="TextBox 32"/>
            <p:cNvSpPr txBox="1"/>
            <p:nvPr/>
          </p:nvSpPr>
          <p:spPr>
            <a:xfrm>
              <a:off x="3367088" y="99822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质量检测</a:t>
              </a:r>
            </a:p>
          </p:txBody>
        </p:sp>
        <p:sp>
          <p:nvSpPr>
            <p:cNvPr id="33" name="TextBox 33"/>
            <p:cNvSpPr txBox="1"/>
            <p:nvPr/>
          </p:nvSpPr>
          <p:spPr>
            <a:xfrm>
              <a:off x="3367088" y="1169432"/>
              <a:ext cx="526466"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从生产到品质</a:t>
              </a:r>
            </a:p>
          </p:txBody>
        </p:sp>
        <p:sp>
          <p:nvSpPr>
            <p:cNvPr id="34" name="Freeform 34"/>
            <p:cNvSpPr/>
            <p:nvPr/>
          </p:nvSpPr>
          <p:spPr>
            <a:xfrm>
              <a:off x="4568217" y="986817"/>
              <a:ext cx="120169" cy="120169"/>
            </a:xfrm>
            <a:custGeom>
              <a:avLst/>
              <a:gdLst/>
              <a:ahLst/>
              <a:cxnLst/>
              <a:rect l="l" t="t" r="r" b="b"/>
              <a:pathLst>
                <a:path w="120169" h="120169">
                  <a:moveTo>
                    <a:pt x="29183" y="48233"/>
                  </a:moveTo>
                  <a:lnTo>
                    <a:pt x="48233" y="48233"/>
                  </a:lnTo>
                  <a:lnTo>
                    <a:pt x="48233" y="29183"/>
                  </a:lnTo>
                  <a:lnTo>
                    <a:pt x="26008" y="6958"/>
                  </a:lnTo>
                  <a:cubicBezTo>
                    <a:pt x="40578" y="0"/>
                    <a:pt x="57952" y="2981"/>
                    <a:pt x="69369" y="14398"/>
                  </a:cubicBezTo>
                  <a:cubicBezTo>
                    <a:pt x="80786" y="25815"/>
                    <a:pt x="83767" y="43189"/>
                    <a:pt x="76808" y="57758"/>
                  </a:cubicBezTo>
                  <a:lnTo>
                    <a:pt x="114908" y="95858"/>
                  </a:lnTo>
                  <a:cubicBezTo>
                    <a:pt x="120169" y="101119"/>
                    <a:pt x="120169" y="109648"/>
                    <a:pt x="114908" y="114908"/>
                  </a:cubicBezTo>
                  <a:cubicBezTo>
                    <a:pt x="109648" y="120169"/>
                    <a:pt x="101119" y="120169"/>
                    <a:pt x="95858" y="114908"/>
                  </a:cubicBezTo>
                  <a:lnTo>
                    <a:pt x="57758" y="76808"/>
                  </a:lnTo>
                  <a:cubicBezTo>
                    <a:pt x="43189" y="83767"/>
                    <a:pt x="25815" y="80786"/>
                    <a:pt x="14398" y="69369"/>
                  </a:cubicBezTo>
                  <a:cubicBezTo>
                    <a:pt x="2981" y="57952"/>
                    <a:pt x="0" y="40578"/>
                    <a:pt x="6958" y="26008"/>
                  </a:cubicBezTo>
                  <a:lnTo>
                    <a:pt x="29183" y="48233"/>
                  </a:lnTo>
                </a:path>
              </a:pathLst>
            </a:custGeom>
            <a:noFill/>
            <a:ln w="12700">
              <a:solidFill>
                <a:srgbClr val="FFFFFF"/>
              </a:solidFill>
            </a:ln>
          </p:spPr>
        </p:sp>
        <p:sp>
          <p:nvSpPr>
            <p:cNvPr id="35" name="TextBox 35"/>
            <p:cNvSpPr txBox="1"/>
            <p:nvPr/>
          </p:nvSpPr>
          <p:spPr>
            <a:xfrm>
              <a:off x="4738688" y="99822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设备运维</a:t>
              </a:r>
            </a:p>
          </p:txBody>
        </p:sp>
        <p:sp>
          <p:nvSpPr>
            <p:cNvPr id="36" name="TextBox 36"/>
            <p:cNvSpPr txBox="1"/>
            <p:nvPr/>
          </p:nvSpPr>
          <p:spPr>
            <a:xfrm>
              <a:off x="4738688" y="1169432"/>
              <a:ext cx="526466"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从运行到保障</a:t>
              </a:r>
            </a:p>
          </p:txBody>
        </p:sp>
        <p:sp>
          <p:nvSpPr>
            <p:cNvPr id="37" name="Freeform 37"/>
            <p:cNvSpPr/>
            <p:nvPr/>
          </p:nvSpPr>
          <p:spPr>
            <a:xfrm>
              <a:off x="5940956" y="990600"/>
              <a:ext cx="119589" cy="114300"/>
            </a:xfrm>
            <a:custGeom>
              <a:avLst/>
              <a:gdLst/>
              <a:ahLst/>
              <a:cxnLst/>
              <a:rect l="l" t="t" r="r" b="b"/>
              <a:pathLst>
                <a:path w="119589" h="114300">
                  <a:moveTo>
                    <a:pt x="59794" y="0"/>
                  </a:moveTo>
                  <a:cubicBezTo>
                    <a:pt x="74627" y="13123"/>
                    <a:pt x="93986" y="19955"/>
                    <a:pt x="113769" y="19050"/>
                  </a:cubicBezTo>
                  <a:cubicBezTo>
                    <a:pt x="119589" y="38846"/>
                    <a:pt x="117131" y="60156"/>
                    <a:pt x="106958" y="78108"/>
                  </a:cubicBezTo>
                  <a:cubicBezTo>
                    <a:pt x="96786" y="96060"/>
                    <a:pt x="79767" y="109119"/>
                    <a:pt x="59794" y="114300"/>
                  </a:cubicBezTo>
                  <a:cubicBezTo>
                    <a:pt x="39821" y="109119"/>
                    <a:pt x="22803" y="96060"/>
                    <a:pt x="12630" y="78108"/>
                  </a:cubicBezTo>
                  <a:cubicBezTo>
                    <a:pt x="2458" y="60156"/>
                    <a:pt x="0" y="38846"/>
                    <a:pt x="5819" y="19050"/>
                  </a:cubicBezTo>
                  <a:cubicBezTo>
                    <a:pt x="25603" y="19955"/>
                    <a:pt x="44962" y="13123"/>
                    <a:pt x="59794" y="0"/>
                  </a:cubicBezTo>
                </a:path>
              </a:pathLst>
            </a:custGeom>
            <a:noFill/>
            <a:ln w="12700">
              <a:solidFill>
                <a:srgbClr val="FFFFFF"/>
              </a:solidFill>
            </a:ln>
          </p:spPr>
        </p:sp>
        <p:sp>
          <p:nvSpPr>
            <p:cNvPr id="38" name="TextBox 38"/>
            <p:cNvSpPr txBox="1"/>
            <p:nvPr/>
          </p:nvSpPr>
          <p:spPr>
            <a:xfrm>
              <a:off x="6110288" y="99822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安全管理</a:t>
              </a:r>
            </a:p>
          </p:txBody>
        </p:sp>
        <p:sp>
          <p:nvSpPr>
            <p:cNvPr id="39" name="TextBox 39"/>
            <p:cNvSpPr txBox="1"/>
            <p:nvPr/>
          </p:nvSpPr>
          <p:spPr>
            <a:xfrm>
              <a:off x="6110288" y="1169432"/>
              <a:ext cx="526466"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从风险到可控</a:t>
              </a:r>
            </a:p>
          </p:txBody>
        </p:sp>
        <p:grpSp>
          <p:nvGrpSpPr>
            <p:cNvPr id="44" name="Group 44"/>
            <p:cNvGrpSpPr/>
            <p:nvPr/>
          </p:nvGrpSpPr>
          <p:grpSpPr>
            <a:xfrm>
              <a:off x="7315200" y="996950"/>
              <a:ext cx="114300" cy="111125"/>
              <a:chOff x="7315200" y="996950"/>
              <a:chExt cx="114300" cy="111125"/>
            </a:xfrm>
          </p:grpSpPr>
          <p:sp>
            <p:nvSpPr>
              <p:cNvPr id="40" name="Freeform 40"/>
              <p:cNvSpPr/>
              <p:nvPr/>
            </p:nvSpPr>
            <p:spPr>
              <a:xfrm>
                <a:off x="7315200" y="10477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FFFFFF"/>
                </a:solidFill>
              </a:ln>
            </p:spPr>
          </p:sp>
          <p:sp>
            <p:nvSpPr>
              <p:cNvPr id="41" name="Freeform 41"/>
              <p:cNvSpPr/>
              <p:nvPr/>
            </p:nvSpPr>
            <p:spPr>
              <a:xfrm>
                <a:off x="7391400" y="10223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FFFFFF"/>
                </a:solidFill>
              </a:ln>
            </p:spPr>
          </p:sp>
          <p:sp>
            <p:nvSpPr>
              <p:cNvPr id="42" name="Freeform 42"/>
              <p:cNvSpPr/>
              <p:nvPr/>
            </p:nvSpPr>
            <p:spPr>
              <a:xfrm>
                <a:off x="7353300" y="9969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FFFFFF"/>
                </a:solidFill>
              </a:ln>
            </p:spPr>
          </p:sp>
          <p:sp>
            <p:nvSpPr>
              <p:cNvPr id="43" name="Freeform 43"/>
              <p:cNvSpPr/>
              <p:nvPr/>
            </p:nvSpPr>
            <p:spPr>
              <a:xfrm>
                <a:off x="7321550" y="1098550"/>
                <a:ext cx="88900" cy="9525"/>
              </a:xfrm>
              <a:custGeom>
                <a:avLst/>
                <a:gdLst/>
                <a:ahLst/>
                <a:cxnLst/>
                <a:rect l="l" t="t" r="r" b="b"/>
                <a:pathLst>
                  <a:path w="88900" h="9525">
                    <a:moveTo>
                      <a:pt x="0" y="0"/>
                    </a:moveTo>
                    <a:lnTo>
                      <a:pt x="88900" y="0"/>
                    </a:lnTo>
                  </a:path>
                </a:pathLst>
              </a:custGeom>
              <a:noFill/>
              <a:ln w="12700">
                <a:solidFill>
                  <a:srgbClr val="FFFFFF"/>
                </a:solidFill>
              </a:ln>
            </p:spPr>
          </p:sp>
        </p:grpSp>
        <p:sp>
          <p:nvSpPr>
            <p:cNvPr id="45" name="TextBox 45"/>
            <p:cNvSpPr txBox="1"/>
            <p:nvPr/>
          </p:nvSpPr>
          <p:spPr>
            <a:xfrm>
              <a:off x="7481888" y="99822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经营调度</a:t>
              </a:r>
            </a:p>
          </p:txBody>
        </p:sp>
        <p:sp>
          <p:nvSpPr>
            <p:cNvPr id="46" name="TextBox 46"/>
            <p:cNvSpPr txBox="1"/>
            <p:nvPr/>
          </p:nvSpPr>
          <p:spPr>
            <a:xfrm>
              <a:off x="7481888" y="1169432"/>
              <a:ext cx="526466"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从数据到决策</a:t>
              </a:r>
            </a:p>
          </p:txBody>
        </p:sp>
        <p:grpSp>
          <p:nvGrpSpPr>
            <p:cNvPr id="51" name="Group 51"/>
            <p:cNvGrpSpPr/>
            <p:nvPr/>
          </p:nvGrpSpPr>
          <p:grpSpPr>
            <a:xfrm>
              <a:off x="8686800" y="990600"/>
              <a:ext cx="114300" cy="114301"/>
              <a:chOff x="8686800" y="990600"/>
              <a:chExt cx="114300" cy="114301"/>
            </a:xfrm>
          </p:grpSpPr>
          <p:sp>
            <p:nvSpPr>
              <p:cNvPr id="47" name="Freeform 47"/>
              <p:cNvSpPr/>
              <p:nvPr/>
            </p:nvSpPr>
            <p:spPr>
              <a:xfrm>
                <a:off x="8699500" y="9906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48" name="Freeform 48"/>
              <p:cNvSpPr/>
              <p:nvPr/>
            </p:nvSpPr>
            <p:spPr>
              <a:xfrm>
                <a:off x="8686800" y="10668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49" name="Freeform 49"/>
              <p:cNvSpPr/>
              <p:nvPr/>
            </p:nvSpPr>
            <p:spPr>
              <a:xfrm>
                <a:off x="8769350" y="9914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50" name="Freeform 50"/>
              <p:cNvSpPr/>
              <p:nvPr/>
            </p:nvSpPr>
            <p:spPr>
              <a:xfrm>
                <a:off x="8782050" y="10677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52" name="TextBox 52"/>
            <p:cNvSpPr txBox="1"/>
            <p:nvPr/>
          </p:nvSpPr>
          <p:spPr>
            <a:xfrm>
              <a:off x="8853488" y="99822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客户服务</a:t>
              </a:r>
            </a:p>
          </p:txBody>
        </p:sp>
        <p:sp>
          <p:nvSpPr>
            <p:cNvPr id="53" name="TextBox 53"/>
            <p:cNvSpPr txBox="1"/>
            <p:nvPr/>
          </p:nvSpPr>
          <p:spPr>
            <a:xfrm>
              <a:off x="8853488" y="1169432"/>
              <a:ext cx="526466"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从交付到价值</a:t>
              </a:r>
            </a:p>
          </p:txBody>
        </p:sp>
        <p:sp>
          <p:nvSpPr>
            <p:cNvPr id="54" name="Ellipse 54"/>
            <p:cNvSpPr/>
            <p:nvPr/>
          </p:nvSpPr>
          <p:spPr>
            <a:xfrm>
              <a:off x="1019175" y="1438275"/>
              <a:ext cx="57150" cy="57150"/>
            </a:xfrm>
            <a:prstGeom prst="ellipse">
              <a:avLst/>
            </a:prstGeom>
            <a:solidFill>
              <a:srgbClr val="9C331E"/>
            </a:solidFill>
            <a:ln>
              <a:noFill/>
            </a:ln>
          </p:spPr>
        </p:sp>
        <p:sp>
          <p:nvSpPr>
            <p:cNvPr id="55" name="Ellipse 55"/>
            <p:cNvSpPr/>
            <p:nvPr/>
          </p:nvSpPr>
          <p:spPr>
            <a:xfrm>
              <a:off x="2409825" y="1438275"/>
              <a:ext cx="57150" cy="57150"/>
            </a:xfrm>
            <a:prstGeom prst="ellipse">
              <a:avLst/>
            </a:prstGeom>
            <a:solidFill>
              <a:srgbClr val="9C331E"/>
            </a:solidFill>
            <a:ln>
              <a:noFill/>
            </a:ln>
          </p:spPr>
        </p:sp>
        <p:sp>
          <p:nvSpPr>
            <p:cNvPr id="56" name="Ellipse 56"/>
            <p:cNvSpPr/>
            <p:nvPr/>
          </p:nvSpPr>
          <p:spPr>
            <a:xfrm>
              <a:off x="3781425" y="1438275"/>
              <a:ext cx="57150" cy="57150"/>
            </a:xfrm>
            <a:prstGeom prst="ellipse">
              <a:avLst/>
            </a:prstGeom>
            <a:solidFill>
              <a:srgbClr val="9C331E"/>
            </a:solidFill>
            <a:ln>
              <a:noFill/>
            </a:ln>
          </p:spPr>
        </p:sp>
        <p:sp>
          <p:nvSpPr>
            <p:cNvPr id="57" name="Ellipse 57"/>
            <p:cNvSpPr/>
            <p:nvPr/>
          </p:nvSpPr>
          <p:spPr>
            <a:xfrm>
              <a:off x="5153025" y="1438275"/>
              <a:ext cx="57150" cy="57150"/>
            </a:xfrm>
            <a:prstGeom prst="ellipse">
              <a:avLst/>
            </a:prstGeom>
            <a:solidFill>
              <a:srgbClr val="9C331E"/>
            </a:solidFill>
            <a:ln>
              <a:noFill/>
            </a:ln>
          </p:spPr>
        </p:sp>
        <p:sp>
          <p:nvSpPr>
            <p:cNvPr id="58" name="Ellipse 58"/>
            <p:cNvSpPr/>
            <p:nvPr/>
          </p:nvSpPr>
          <p:spPr>
            <a:xfrm>
              <a:off x="6524625" y="1438275"/>
              <a:ext cx="57150" cy="57150"/>
            </a:xfrm>
            <a:prstGeom prst="ellipse">
              <a:avLst/>
            </a:prstGeom>
            <a:solidFill>
              <a:srgbClr val="9C331E"/>
            </a:solidFill>
            <a:ln>
              <a:noFill/>
            </a:ln>
          </p:spPr>
        </p:sp>
        <p:sp>
          <p:nvSpPr>
            <p:cNvPr id="59" name="Ellipse 59"/>
            <p:cNvSpPr/>
            <p:nvPr/>
          </p:nvSpPr>
          <p:spPr>
            <a:xfrm>
              <a:off x="7896225" y="1438275"/>
              <a:ext cx="57150" cy="57150"/>
            </a:xfrm>
            <a:prstGeom prst="ellipse">
              <a:avLst/>
            </a:prstGeom>
            <a:solidFill>
              <a:srgbClr val="9C331E"/>
            </a:solidFill>
            <a:ln>
              <a:noFill/>
            </a:ln>
          </p:spPr>
        </p:sp>
        <p:sp>
          <p:nvSpPr>
            <p:cNvPr id="60" name="Ellipse 60"/>
            <p:cNvSpPr/>
            <p:nvPr/>
          </p:nvSpPr>
          <p:spPr>
            <a:xfrm>
              <a:off x="9267825" y="1438275"/>
              <a:ext cx="57150" cy="57150"/>
            </a:xfrm>
            <a:prstGeom prst="ellipse">
              <a:avLst/>
            </a:prstGeom>
            <a:solidFill>
              <a:srgbClr val="9C331E"/>
            </a:solidFill>
            <a:ln>
              <a:noFill/>
            </a:ln>
          </p:spPr>
        </p:sp>
      </p:grpSp>
      <p:grpSp>
        <p:nvGrpSpPr>
          <p:cNvPr id="82" name="row-ind-1"/>
          <p:cNvGrpSpPr/>
          <p:nvPr/>
        </p:nvGrpSpPr>
        <p:grpSpPr>
          <a:xfrm>
            <a:off x="381000" y="1571625"/>
            <a:ext cx="9620250" cy="381000"/>
            <a:chOff x="381000" y="1571625"/>
            <a:chExt cx="9620250" cy="381000"/>
          </a:xfrm>
        </p:grpSpPr>
        <p:sp>
          <p:nvSpPr>
            <p:cNvPr id="62" name="Rectangle 62"/>
            <p:cNvSpPr/>
            <p:nvPr/>
          </p:nvSpPr>
          <p:spPr>
            <a:xfrm>
              <a:off x="381000" y="1571625"/>
              <a:ext cx="8629650" cy="381000"/>
            </a:xfrm>
            <a:prstGeom prst="roundRect">
              <a:avLst>
                <a:gd name="adj" fmla="val 50000"/>
              </a:avLst>
            </a:prstGeom>
            <a:solidFill>
              <a:srgbClr val="9C331E">
                <a:alpha val="14000"/>
              </a:srgbClr>
            </a:solidFill>
            <a:ln>
              <a:noFill/>
            </a:ln>
          </p:spPr>
        </p:sp>
        <p:sp>
          <p:nvSpPr>
            <p:cNvPr id="63" name="Rectangle 63"/>
            <p:cNvSpPr/>
            <p:nvPr/>
          </p:nvSpPr>
          <p:spPr>
            <a:xfrm>
              <a:off x="381000" y="1571625"/>
              <a:ext cx="1238250" cy="381000"/>
            </a:xfrm>
            <a:prstGeom prst="roundRect">
              <a:avLst>
                <a:gd name="adj" fmla="val 50000"/>
              </a:avLst>
            </a:prstGeom>
            <a:solidFill>
              <a:srgbClr val="9C331E"/>
            </a:solidFill>
            <a:ln>
              <a:noFill/>
            </a:ln>
          </p:spPr>
        </p:sp>
        <p:sp>
          <p:nvSpPr>
            <p:cNvPr id="64" name="Freeform 64"/>
            <p:cNvSpPr/>
            <p:nvPr/>
          </p:nvSpPr>
          <p:spPr>
            <a:xfrm>
              <a:off x="515937" y="1690687"/>
              <a:ext cx="111125" cy="142875"/>
            </a:xfrm>
            <a:custGeom>
              <a:avLst/>
              <a:gdLst/>
              <a:ahLst/>
              <a:cxnLst/>
              <a:rect l="l" t="t" r="r" b="b"/>
              <a:pathLst>
                <a:path w="111125" h="142875">
                  <a:moveTo>
                    <a:pt x="63500" y="0"/>
                  </a:moveTo>
                  <a:lnTo>
                    <a:pt x="63500" y="55562"/>
                  </a:lnTo>
                  <a:lnTo>
                    <a:pt x="111125" y="55562"/>
                  </a:lnTo>
                  <a:lnTo>
                    <a:pt x="47625" y="142875"/>
                  </a:lnTo>
                  <a:lnTo>
                    <a:pt x="47625" y="87312"/>
                  </a:lnTo>
                  <a:lnTo>
                    <a:pt x="0" y="87312"/>
                  </a:lnTo>
                  <a:lnTo>
                    <a:pt x="63500" y="0"/>
                  </a:lnTo>
                </a:path>
              </a:pathLst>
            </a:custGeom>
            <a:noFill/>
            <a:ln w="15875">
              <a:solidFill>
                <a:srgbClr val="FFFFFF"/>
              </a:solidFill>
            </a:ln>
          </p:spPr>
        </p:sp>
        <p:sp>
          <p:nvSpPr>
            <p:cNvPr id="65" name="TextBox 65"/>
            <p:cNvSpPr txBox="1"/>
            <p:nvPr/>
          </p:nvSpPr>
          <p:spPr>
            <a:xfrm>
              <a:off x="719138" y="170854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能源电力</a:t>
              </a:r>
            </a:p>
          </p:txBody>
        </p:sp>
        <p:sp>
          <p:nvSpPr>
            <p:cNvPr id="66" name="TextBox 66"/>
            <p:cNvSpPr txBox="1"/>
            <p:nvPr/>
          </p:nvSpPr>
          <p:spPr>
            <a:xfrm>
              <a:off x="1775092" y="1732836"/>
              <a:ext cx="774167"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新型能源系统设计</a:t>
              </a:r>
            </a:p>
          </p:txBody>
        </p:sp>
        <p:sp>
          <p:nvSpPr>
            <p:cNvPr id="67" name="TextBox 67"/>
            <p:cNvSpPr txBox="1"/>
            <p:nvPr/>
          </p:nvSpPr>
          <p:spPr>
            <a:xfrm>
              <a:off x="2870632" y="173283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智能化生产管控</a:t>
              </a:r>
            </a:p>
          </p:txBody>
        </p:sp>
        <p:sp>
          <p:nvSpPr>
            <p:cNvPr id="68" name="TextBox 68"/>
            <p:cNvSpPr txBox="1"/>
            <p:nvPr/>
          </p:nvSpPr>
          <p:spPr>
            <a:xfrm>
              <a:off x="3956647" y="1732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设备状态检测</a:t>
              </a:r>
            </a:p>
          </p:txBody>
        </p:sp>
        <p:sp>
          <p:nvSpPr>
            <p:cNvPr id="69" name="TextBox 69"/>
            <p:cNvSpPr txBox="1"/>
            <p:nvPr/>
          </p:nvSpPr>
          <p:spPr>
            <a:xfrm>
              <a:off x="5004397" y="1732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电网设备运维</a:t>
              </a:r>
            </a:p>
          </p:txBody>
        </p:sp>
        <p:sp>
          <p:nvSpPr>
            <p:cNvPr id="70" name="TextBox 70"/>
            <p:cNvSpPr txBox="1"/>
            <p:nvPr/>
          </p:nvSpPr>
          <p:spPr>
            <a:xfrm>
              <a:off x="6052147" y="1732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安全风险防控</a:t>
              </a:r>
            </a:p>
          </p:txBody>
        </p:sp>
        <p:sp>
          <p:nvSpPr>
            <p:cNvPr id="71" name="TextBox 71"/>
            <p:cNvSpPr txBox="1"/>
            <p:nvPr/>
          </p:nvSpPr>
          <p:spPr>
            <a:xfrm>
              <a:off x="7090372" y="1732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电力供需调度</a:t>
              </a:r>
            </a:p>
          </p:txBody>
        </p:sp>
        <p:sp>
          <p:nvSpPr>
            <p:cNvPr id="72" name="TextBox 72"/>
            <p:cNvSpPr txBox="1"/>
            <p:nvPr/>
          </p:nvSpPr>
          <p:spPr>
            <a:xfrm>
              <a:off x="8138122" y="1732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能源客户服务</a:t>
              </a:r>
            </a:p>
          </p:txBody>
        </p:sp>
        <p:sp>
          <p:nvSpPr>
            <p:cNvPr id="73" name="Line 73"/>
            <p:cNvSpPr/>
            <p:nvPr/>
          </p:nvSpPr>
          <p:spPr>
            <a:xfrm>
              <a:off x="2686050" y="1666875"/>
              <a:ext cx="9525" cy="190500"/>
            </a:xfrm>
            <a:custGeom>
              <a:avLst/>
              <a:gdLst/>
              <a:ahLst/>
              <a:cxnLst/>
              <a:rect l="l" t="t" r="r" b="b"/>
              <a:pathLst>
                <a:path w="9525" h="190500">
                  <a:moveTo>
                    <a:pt x="0" y="0"/>
                  </a:moveTo>
                  <a:lnTo>
                    <a:pt x="0" y="190500"/>
                  </a:lnTo>
                </a:path>
              </a:pathLst>
            </a:custGeom>
            <a:noFill/>
            <a:ln w="6668">
              <a:solidFill>
                <a:srgbClr val="9C331E">
                  <a:alpha val="40000"/>
                </a:srgbClr>
              </a:solidFill>
            </a:ln>
          </p:spPr>
        </p:sp>
        <p:sp>
          <p:nvSpPr>
            <p:cNvPr id="74" name="Line 74"/>
            <p:cNvSpPr/>
            <p:nvPr/>
          </p:nvSpPr>
          <p:spPr>
            <a:xfrm>
              <a:off x="3733800" y="1666875"/>
              <a:ext cx="9525" cy="190500"/>
            </a:xfrm>
            <a:custGeom>
              <a:avLst/>
              <a:gdLst/>
              <a:ahLst/>
              <a:cxnLst/>
              <a:rect l="l" t="t" r="r" b="b"/>
              <a:pathLst>
                <a:path w="9525" h="190500">
                  <a:moveTo>
                    <a:pt x="0" y="0"/>
                  </a:moveTo>
                  <a:lnTo>
                    <a:pt x="0" y="190500"/>
                  </a:lnTo>
                </a:path>
              </a:pathLst>
            </a:custGeom>
            <a:noFill/>
            <a:ln w="6668">
              <a:solidFill>
                <a:srgbClr val="9C331E">
                  <a:alpha val="40000"/>
                </a:srgbClr>
              </a:solidFill>
            </a:ln>
          </p:spPr>
        </p:sp>
        <p:sp>
          <p:nvSpPr>
            <p:cNvPr id="75" name="Line 75"/>
            <p:cNvSpPr/>
            <p:nvPr/>
          </p:nvSpPr>
          <p:spPr>
            <a:xfrm>
              <a:off x="4772025" y="1666875"/>
              <a:ext cx="9525" cy="190500"/>
            </a:xfrm>
            <a:custGeom>
              <a:avLst/>
              <a:gdLst/>
              <a:ahLst/>
              <a:cxnLst/>
              <a:rect l="l" t="t" r="r" b="b"/>
              <a:pathLst>
                <a:path w="9525" h="190500">
                  <a:moveTo>
                    <a:pt x="0" y="0"/>
                  </a:moveTo>
                  <a:lnTo>
                    <a:pt x="0" y="190500"/>
                  </a:lnTo>
                </a:path>
              </a:pathLst>
            </a:custGeom>
            <a:noFill/>
            <a:ln w="6668">
              <a:solidFill>
                <a:srgbClr val="9C331E">
                  <a:alpha val="40000"/>
                </a:srgbClr>
              </a:solidFill>
            </a:ln>
          </p:spPr>
        </p:sp>
        <p:sp>
          <p:nvSpPr>
            <p:cNvPr id="76" name="Line 76"/>
            <p:cNvSpPr/>
            <p:nvPr/>
          </p:nvSpPr>
          <p:spPr>
            <a:xfrm>
              <a:off x="5819775" y="1666875"/>
              <a:ext cx="9525" cy="190500"/>
            </a:xfrm>
            <a:custGeom>
              <a:avLst/>
              <a:gdLst/>
              <a:ahLst/>
              <a:cxnLst/>
              <a:rect l="l" t="t" r="r" b="b"/>
              <a:pathLst>
                <a:path w="9525" h="190500">
                  <a:moveTo>
                    <a:pt x="0" y="0"/>
                  </a:moveTo>
                  <a:lnTo>
                    <a:pt x="0" y="190500"/>
                  </a:lnTo>
                </a:path>
              </a:pathLst>
            </a:custGeom>
            <a:noFill/>
            <a:ln w="6668">
              <a:solidFill>
                <a:srgbClr val="9C331E">
                  <a:alpha val="40000"/>
                </a:srgbClr>
              </a:solidFill>
            </a:ln>
          </p:spPr>
        </p:sp>
        <p:sp>
          <p:nvSpPr>
            <p:cNvPr id="77" name="Line 77"/>
            <p:cNvSpPr/>
            <p:nvPr/>
          </p:nvSpPr>
          <p:spPr>
            <a:xfrm>
              <a:off x="6858000" y="1666875"/>
              <a:ext cx="9525" cy="190500"/>
            </a:xfrm>
            <a:custGeom>
              <a:avLst/>
              <a:gdLst/>
              <a:ahLst/>
              <a:cxnLst/>
              <a:rect l="l" t="t" r="r" b="b"/>
              <a:pathLst>
                <a:path w="9525" h="190500">
                  <a:moveTo>
                    <a:pt x="0" y="0"/>
                  </a:moveTo>
                  <a:lnTo>
                    <a:pt x="0" y="190500"/>
                  </a:lnTo>
                </a:path>
              </a:pathLst>
            </a:custGeom>
            <a:noFill/>
            <a:ln w="6668">
              <a:solidFill>
                <a:srgbClr val="9C331E">
                  <a:alpha val="40000"/>
                </a:srgbClr>
              </a:solidFill>
            </a:ln>
          </p:spPr>
        </p:sp>
        <p:sp>
          <p:nvSpPr>
            <p:cNvPr id="78" name="Line 78"/>
            <p:cNvSpPr/>
            <p:nvPr/>
          </p:nvSpPr>
          <p:spPr>
            <a:xfrm>
              <a:off x="7905750" y="1666875"/>
              <a:ext cx="9525" cy="190500"/>
            </a:xfrm>
            <a:custGeom>
              <a:avLst/>
              <a:gdLst/>
              <a:ahLst/>
              <a:cxnLst/>
              <a:rect l="l" t="t" r="r" b="b"/>
              <a:pathLst>
                <a:path w="9525" h="190500">
                  <a:moveTo>
                    <a:pt x="0" y="0"/>
                  </a:moveTo>
                  <a:lnTo>
                    <a:pt x="0" y="190500"/>
                  </a:lnTo>
                </a:path>
              </a:pathLst>
            </a:custGeom>
            <a:noFill/>
            <a:ln w="6668">
              <a:solidFill>
                <a:srgbClr val="9C331E">
                  <a:alpha val="40000"/>
                </a:srgbClr>
              </a:solidFill>
            </a:ln>
          </p:spPr>
        </p:sp>
        <p:sp>
          <p:nvSpPr>
            <p:cNvPr id="79" name="Freeform 79"/>
            <p:cNvSpPr/>
            <p:nvPr/>
          </p:nvSpPr>
          <p:spPr>
            <a:xfrm>
              <a:off x="9010650" y="1571625"/>
              <a:ext cx="990600" cy="381000"/>
            </a:xfrm>
            <a:prstGeom prst="homePlate">
              <a:avLst>
                <a:gd name="adj" fmla="val 30000"/>
              </a:avLst>
            </a:prstGeom>
            <a:solidFill>
              <a:srgbClr val="9C331E"/>
            </a:solidFill>
            <a:ln>
              <a:noFill/>
            </a:ln>
          </p:spPr>
        </p:sp>
        <p:sp>
          <p:nvSpPr>
            <p:cNvPr id="80" name="TextBox 80"/>
            <p:cNvSpPr txBox="1"/>
            <p:nvPr/>
          </p:nvSpPr>
          <p:spPr>
            <a:xfrm>
              <a:off x="9179242" y="165258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保障能源安全</a:t>
              </a:r>
            </a:p>
          </p:txBody>
        </p:sp>
        <p:sp>
          <p:nvSpPr>
            <p:cNvPr id="81" name="TextBox 81"/>
            <p:cNvSpPr txBox="1"/>
            <p:nvPr/>
          </p:nvSpPr>
          <p:spPr>
            <a:xfrm>
              <a:off x="9179242" y="1795462"/>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支撑绿色转型</a:t>
              </a:r>
            </a:p>
          </p:txBody>
        </p:sp>
      </p:grpSp>
      <p:grpSp>
        <p:nvGrpSpPr>
          <p:cNvPr id="105" name="row-ind-2"/>
          <p:cNvGrpSpPr/>
          <p:nvPr/>
        </p:nvGrpSpPr>
        <p:grpSpPr>
          <a:xfrm>
            <a:off x="381000" y="2047875"/>
            <a:ext cx="9620250" cy="381000"/>
            <a:chOff x="381000" y="2047875"/>
            <a:chExt cx="9620250" cy="381000"/>
          </a:xfrm>
        </p:grpSpPr>
        <p:sp>
          <p:nvSpPr>
            <p:cNvPr id="83" name="Rectangle 83"/>
            <p:cNvSpPr/>
            <p:nvPr/>
          </p:nvSpPr>
          <p:spPr>
            <a:xfrm>
              <a:off x="381000" y="2047875"/>
              <a:ext cx="8629650" cy="381000"/>
            </a:xfrm>
            <a:prstGeom prst="roundRect">
              <a:avLst>
                <a:gd name="adj" fmla="val 50000"/>
              </a:avLst>
            </a:prstGeom>
            <a:solidFill>
              <a:srgbClr val="D64A2E">
                <a:alpha val="14000"/>
              </a:srgbClr>
            </a:solidFill>
            <a:ln>
              <a:noFill/>
            </a:ln>
          </p:spPr>
        </p:sp>
        <p:sp>
          <p:nvSpPr>
            <p:cNvPr id="84" name="Rectangle 84"/>
            <p:cNvSpPr/>
            <p:nvPr/>
          </p:nvSpPr>
          <p:spPr>
            <a:xfrm>
              <a:off x="381000" y="2047875"/>
              <a:ext cx="1238250" cy="381000"/>
            </a:xfrm>
            <a:prstGeom prst="roundRect">
              <a:avLst>
                <a:gd name="adj" fmla="val 50000"/>
              </a:avLst>
            </a:prstGeom>
            <a:solidFill>
              <a:srgbClr val="D64A2E"/>
            </a:solidFill>
            <a:ln>
              <a:noFill/>
            </a:ln>
          </p:spPr>
        </p:sp>
        <p:grpSp>
          <p:nvGrpSpPr>
            <p:cNvPr id="87" name="Group 87"/>
            <p:cNvGrpSpPr/>
            <p:nvPr/>
          </p:nvGrpSpPr>
          <p:grpSpPr>
            <a:xfrm>
              <a:off x="496578" y="2163453"/>
              <a:ext cx="149844" cy="149844"/>
              <a:chOff x="496578" y="2163453"/>
              <a:chExt cx="149844" cy="149844"/>
            </a:xfrm>
          </p:grpSpPr>
          <p:sp>
            <p:nvSpPr>
              <p:cNvPr id="85" name="Freeform 85"/>
              <p:cNvSpPr/>
              <p:nvPr/>
            </p:nvSpPr>
            <p:spPr>
              <a:xfrm>
                <a:off x="496578" y="2163453"/>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86" name="Freeform 86"/>
              <p:cNvSpPr/>
              <p:nvPr/>
            </p:nvSpPr>
            <p:spPr>
              <a:xfrm>
                <a:off x="547687" y="22145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88" name="TextBox 88"/>
            <p:cNvSpPr txBox="1"/>
            <p:nvPr/>
          </p:nvSpPr>
          <p:spPr>
            <a:xfrm>
              <a:off x="719138" y="218479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先进制造</a:t>
              </a:r>
            </a:p>
          </p:txBody>
        </p:sp>
        <p:sp>
          <p:nvSpPr>
            <p:cNvPr id="89" name="TextBox 89"/>
            <p:cNvSpPr txBox="1"/>
            <p:nvPr/>
          </p:nvSpPr>
          <p:spPr>
            <a:xfrm>
              <a:off x="1822882" y="22090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产品与工艺优化</a:t>
              </a:r>
            </a:p>
          </p:txBody>
        </p:sp>
        <p:sp>
          <p:nvSpPr>
            <p:cNvPr id="90" name="TextBox 90"/>
            <p:cNvSpPr txBox="1"/>
            <p:nvPr/>
          </p:nvSpPr>
          <p:spPr>
            <a:xfrm>
              <a:off x="2918422" y="22090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柔性智能制造</a:t>
              </a:r>
            </a:p>
          </p:txBody>
        </p:sp>
        <p:sp>
          <p:nvSpPr>
            <p:cNvPr id="91" name="TextBox 91"/>
            <p:cNvSpPr txBox="1"/>
            <p:nvPr/>
          </p:nvSpPr>
          <p:spPr>
            <a:xfrm>
              <a:off x="3956647" y="22090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在线质量检测</a:t>
              </a:r>
            </a:p>
          </p:txBody>
        </p:sp>
        <p:sp>
          <p:nvSpPr>
            <p:cNvPr id="92" name="TextBox 92"/>
            <p:cNvSpPr txBox="1"/>
            <p:nvPr/>
          </p:nvSpPr>
          <p:spPr>
            <a:xfrm>
              <a:off x="5004397" y="22090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产线设备运维</a:t>
              </a:r>
            </a:p>
          </p:txBody>
        </p:sp>
        <p:sp>
          <p:nvSpPr>
            <p:cNvPr id="93" name="TextBox 93"/>
            <p:cNvSpPr txBox="1"/>
            <p:nvPr/>
          </p:nvSpPr>
          <p:spPr>
            <a:xfrm>
              <a:off x="6052147" y="22090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生产安全管理</a:t>
              </a:r>
            </a:p>
          </p:txBody>
        </p:sp>
        <p:sp>
          <p:nvSpPr>
            <p:cNvPr id="94" name="TextBox 94"/>
            <p:cNvSpPr txBox="1"/>
            <p:nvPr/>
          </p:nvSpPr>
          <p:spPr>
            <a:xfrm>
              <a:off x="6994792" y="2209086"/>
              <a:ext cx="774167"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供应链与产销协同</a:t>
              </a:r>
            </a:p>
          </p:txBody>
        </p:sp>
        <p:sp>
          <p:nvSpPr>
            <p:cNvPr id="95" name="TextBox 95"/>
            <p:cNvSpPr txBox="1"/>
            <p:nvPr/>
          </p:nvSpPr>
          <p:spPr>
            <a:xfrm>
              <a:off x="8090332" y="22090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客户定制化服务</a:t>
              </a:r>
            </a:p>
          </p:txBody>
        </p:sp>
        <p:sp>
          <p:nvSpPr>
            <p:cNvPr id="96" name="Line 96"/>
            <p:cNvSpPr/>
            <p:nvPr/>
          </p:nvSpPr>
          <p:spPr>
            <a:xfrm>
              <a:off x="2686050" y="2143125"/>
              <a:ext cx="9525" cy="190500"/>
            </a:xfrm>
            <a:custGeom>
              <a:avLst/>
              <a:gdLst/>
              <a:ahLst/>
              <a:cxnLst/>
              <a:rect l="l" t="t" r="r" b="b"/>
              <a:pathLst>
                <a:path w="9525" h="190500">
                  <a:moveTo>
                    <a:pt x="0" y="0"/>
                  </a:moveTo>
                  <a:lnTo>
                    <a:pt x="0" y="190500"/>
                  </a:lnTo>
                </a:path>
              </a:pathLst>
            </a:custGeom>
            <a:noFill/>
            <a:ln w="6668">
              <a:solidFill>
                <a:srgbClr val="D64A2E">
                  <a:alpha val="40000"/>
                </a:srgbClr>
              </a:solidFill>
            </a:ln>
          </p:spPr>
        </p:sp>
        <p:sp>
          <p:nvSpPr>
            <p:cNvPr id="97" name="Line 97"/>
            <p:cNvSpPr/>
            <p:nvPr/>
          </p:nvSpPr>
          <p:spPr>
            <a:xfrm>
              <a:off x="3733800" y="2143125"/>
              <a:ext cx="9525" cy="190500"/>
            </a:xfrm>
            <a:custGeom>
              <a:avLst/>
              <a:gdLst/>
              <a:ahLst/>
              <a:cxnLst/>
              <a:rect l="l" t="t" r="r" b="b"/>
              <a:pathLst>
                <a:path w="9525" h="190500">
                  <a:moveTo>
                    <a:pt x="0" y="0"/>
                  </a:moveTo>
                  <a:lnTo>
                    <a:pt x="0" y="190500"/>
                  </a:lnTo>
                </a:path>
              </a:pathLst>
            </a:custGeom>
            <a:noFill/>
            <a:ln w="6668">
              <a:solidFill>
                <a:srgbClr val="D64A2E">
                  <a:alpha val="40000"/>
                </a:srgbClr>
              </a:solidFill>
            </a:ln>
          </p:spPr>
        </p:sp>
        <p:sp>
          <p:nvSpPr>
            <p:cNvPr id="98" name="Line 98"/>
            <p:cNvSpPr/>
            <p:nvPr/>
          </p:nvSpPr>
          <p:spPr>
            <a:xfrm>
              <a:off x="4772025" y="2143125"/>
              <a:ext cx="9525" cy="190500"/>
            </a:xfrm>
            <a:custGeom>
              <a:avLst/>
              <a:gdLst/>
              <a:ahLst/>
              <a:cxnLst/>
              <a:rect l="l" t="t" r="r" b="b"/>
              <a:pathLst>
                <a:path w="9525" h="190500">
                  <a:moveTo>
                    <a:pt x="0" y="0"/>
                  </a:moveTo>
                  <a:lnTo>
                    <a:pt x="0" y="190500"/>
                  </a:lnTo>
                </a:path>
              </a:pathLst>
            </a:custGeom>
            <a:noFill/>
            <a:ln w="6668">
              <a:solidFill>
                <a:srgbClr val="D64A2E">
                  <a:alpha val="40000"/>
                </a:srgbClr>
              </a:solidFill>
            </a:ln>
          </p:spPr>
        </p:sp>
        <p:sp>
          <p:nvSpPr>
            <p:cNvPr id="99" name="Line 99"/>
            <p:cNvSpPr/>
            <p:nvPr/>
          </p:nvSpPr>
          <p:spPr>
            <a:xfrm>
              <a:off x="5819775" y="2143125"/>
              <a:ext cx="9525" cy="190500"/>
            </a:xfrm>
            <a:custGeom>
              <a:avLst/>
              <a:gdLst/>
              <a:ahLst/>
              <a:cxnLst/>
              <a:rect l="l" t="t" r="r" b="b"/>
              <a:pathLst>
                <a:path w="9525" h="190500">
                  <a:moveTo>
                    <a:pt x="0" y="0"/>
                  </a:moveTo>
                  <a:lnTo>
                    <a:pt x="0" y="190500"/>
                  </a:lnTo>
                </a:path>
              </a:pathLst>
            </a:custGeom>
            <a:noFill/>
            <a:ln w="6668">
              <a:solidFill>
                <a:srgbClr val="D64A2E">
                  <a:alpha val="40000"/>
                </a:srgbClr>
              </a:solidFill>
            </a:ln>
          </p:spPr>
        </p:sp>
        <p:sp>
          <p:nvSpPr>
            <p:cNvPr id="100" name="Line 100"/>
            <p:cNvSpPr/>
            <p:nvPr/>
          </p:nvSpPr>
          <p:spPr>
            <a:xfrm>
              <a:off x="6858000" y="2143125"/>
              <a:ext cx="9525" cy="190500"/>
            </a:xfrm>
            <a:custGeom>
              <a:avLst/>
              <a:gdLst/>
              <a:ahLst/>
              <a:cxnLst/>
              <a:rect l="l" t="t" r="r" b="b"/>
              <a:pathLst>
                <a:path w="9525" h="190500">
                  <a:moveTo>
                    <a:pt x="0" y="0"/>
                  </a:moveTo>
                  <a:lnTo>
                    <a:pt x="0" y="190500"/>
                  </a:lnTo>
                </a:path>
              </a:pathLst>
            </a:custGeom>
            <a:noFill/>
            <a:ln w="6668">
              <a:solidFill>
                <a:srgbClr val="D64A2E">
                  <a:alpha val="40000"/>
                </a:srgbClr>
              </a:solidFill>
            </a:ln>
          </p:spPr>
        </p:sp>
        <p:sp>
          <p:nvSpPr>
            <p:cNvPr id="101" name="Line 101"/>
            <p:cNvSpPr/>
            <p:nvPr/>
          </p:nvSpPr>
          <p:spPr>
            <a:xfrm>
              <a:off x="7905750" y="2143125"/>
              <a:ext cx="9525" cy="190500"/>
            </a:xfrm>
            <a:custGeom>
              <a:avLst/>
              <a:gdLst/>
              <a:ahLst/>
              <a:cxnLst/>
              <a:rect l="l" t="t" r="r" b="b"/>
              <a:pathLst>
                <a:path w="9525" h="190500">
                  <a:moveTo>
                    <a:pt x="0" y="0"/>
                  </a:moveTo>
                  <a:lnTo>
                    <a:pt x="0" y="190500"/>
                  </a:lnTo>
                </a:path>
              </a:pathLst>
            </a:custGeom>
            <a:noFill/>
            <a:ln w="6668">
              <a:solidFill>
                <a:srgbClr val="D64A2E">
                  <a:alpha val="40000"/>
                </a:srgbClr>
              </a:solidFill>
            </a:ln>
          </p:spPr>
        </p:sp>
        <p:sp>
          <p:nvSpPr>
            <p:cNvPr id="102" name="Freeform 102"/>
            <p:cNvSpPr/>
            <p:nvPr/>
          </p:nvSpPr>
          <p:spPr>
            <a:xfrm>
              <a:off x="9010650" y="2047875"/>
              <a:ext cx="990600" cy="381000"/>
            </a:xfrm>
            <a:prstGeom prst="homePlate">
              <a:avLst>
                <a:gd name="adj" fmla="val 30000"/>
              </a:avLst>
            </a:prstGeom>
            <a:solidFill>
              <a:srgbClr val="D64A2E"/>
            </a:solidFill>
            <a:ln>
              <a:noFill/>
            </a:ln>
          </p:spPr>
        </p:sp>
        <p:sp>
          <p:nvSpPr>
            <p:cNvPr id="103" name="TextBox 103"/>
            <p:cNvSpPr txBox="1"/>
            <p:nvPr/>
          </p:nvSpPr>
          <p:spPr>
            <a:xfrm>
              <a:off x="9179242" y="212883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提升制造韧性</a:t>
              </a:r>
            </a:p>
          </p:txBody>
        </p:sp>
        <p:sp>
          <p:nvSpPr>
            <p:cNvPr id="104" name="TextBox 104"/>
            <p:cNvSpPr txBox="1"/>
            <p:nvPr/>
          </p:nvSpPr>
          <p:spPr>
            <a:xfrm>
              <a:off x="9179242" y="2271712"/>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加速产业升级</a:t>
              </a:r>
            </a:p>
          </p:txBody>
        </p:sp>
      </p:grpSp>
      <p:grpSp>
        <p:nvGrpSpPr>
          <p:cNvPr id="130" name="row-ind-3"/>
          <p:cNvGrpSpPr/>
          <p:nvPr/>
        </p:nvGrpSpPr>
        <p:grpSpPr>
          <a:xfrm>
            <a:off x="381000" y="2524125"/>
            <a:ext cx="9620250" cy="381000"/>
            <a:chOff x="381000" y="2524125"/>
            <a:chExt cx="9620250" cy="381000"/>
          </a:xfrm>
        </p:grpSpPr>
        <p:sp>
          <p:nvSpPr>
            <p:cNvPr id="106" name="Rectangle 106"/>
            <p:cNvSpPr/>
            <p:nvPr/>
          </p:nvSpPr>
          <p:spPr>
            <a:xfrm>
              <a:off x="381000" y="2524125"/>
              <a:ext cx="8629650" cy="381000"/>
            </a:xfrm>
            <a:prstGeom prst="roundRect">
              <a:avLst>
                <a:gd name="adj" fmla="val 50000"/>
              </a:avLst>
            </a:prstGeom>
            <a:solidFill>
              <a:srgbClr val="D0462A">
                <a:alpha val="14000"/>
              </a:srgbClr>
            </a:solidFill>
            <a:ln>
              <a:noFill/>
            </a:ln>
          </p:spPr>
        </p:sp>
        <p:sp>
          <p:nvSpPr>
            <p:cNvPr id="107" name="Rectangle 107"/>
            <p:cNvSpPr/>
            <p:nvPr/>
          </p:nvSpPr>
          <p:spPr>
            <a:xfrm>
              <a:off x="381000" y="2524125"/>
              <a:ext cx="1238250" cy="381000"/>
            </a:xfrm>
            <a:prstGeom prst="roundRect">
              <a:avLst>
                <a:gd name="adj" fmla="val 50000"/>
              </a:avLst>
            </a:prstGeom>
            <a:solidFill>
              <a:srgbClr val="D0462A"/>
            </a:solidFill>
            <a:ln>
              <a:noFill/>
            </a:ln>
          </p:spPr>
        </p:sp>
        <p:grpSp>
          <p:nvGrpSpPr>
            <p:cNvPr id="112" name="Group 112"/>
            <p:cNvGrpSpPr/>
            <p:nvPr/>
          </p:nvGrpSpPr>
          <p:grpSpPr>
            <a:xfrm>
              <a:off x="492125" y="2643187"/>
              <a:ext cx="158750" cy="143007"/>
              <a:chOff x="492125" y="2643187"/>
              <a:chExt cx="158750" cy="143007"/>
            </a:xfrm>
          </p:grpSpPr>
          <p:sp>
            <p:nvSpPr>
              <p:cNvPr id="108" name="Freeform 108"/>
              <p:cNvSpPr/>
              <p:nvPr/>
            </p:nvSpPr>
            <p:spPr>
              <a:xfrm>
                <a:off x="492125" y="2770056"/>
                <a:ext cx="158750" cy="16138"/>
              </a:xfrm>
              <a:custGeom>
                <a:avLst/>
                <a:gdLst/>
                <a:ahLst/>
                <a:cxnLst/>
                <a:rect l="l" t="t" r="r" b="b"/>
                <a:pathLst>
                  <a:path w="158750" h="16138">
                    <a:moveTo>
                      <a:pt x="0" y="8069"/>
                    </a:moveTo>
                    <a:cubicBezTo>
                      <a:pt x="3661" y="13169"/>
                      <a:pt x="9599" y="16138"/>
                      <a:pt x="15875" y="16006"/>
                    </a:cubicBezTo>
                    <a:cubicBezTo>
                      <a:pt x="22151" y="16138"/>
                      <a:pt x="28089" y="13169"/>
                      <a:pt x="31750" y="8069"/>
                    </a:cubicBezTo>
                    <a:cubicBezTo>
                      <a:pt x="35411" y="2969"/>
                      <a:pt x="41349" y="0"/>
                      <a:pt x="47625" y="131"/>
                    </a:cubicBezTo>
                    <a:cubicBezTo>
                      <a:pt x="53901" y="0"/>
                      <a:pt x="59839" y="2969"/>
                      <a:pt x="63500" y="8069"/>
                    </a:cubicBezTo>
                    <a:cubicBezTo>
                      <a:pt x="67161" y="13169"/>
                      <a:pt x="73099" y="16138"/>
                      <a:pt x="79375" y="16006"/>
                    </a:cubicBezTo>
                    <a:cubicBezTo>
                      <a:pt x="85651" y="16138"/>
                      <a:pt x="91589" y="13169"/>
                      <a:pt x="95250" y="8069"/>
                    </a:cubicBezTo>
                    <a:cubicBezTo>
                      <a:pt x="98911" y="2969"/>
                      <a:pt x="104849" y="0"/>
                      <a:pt x="111125" y="131"/>
                    </a:cubicBezTo>
                    <a:cubicBezTo>
                      <a:pt x="117401" y="0"/>
                      <a:pt x="123339" y="2969"/>
                      <a:pt x="127000" y="8069"/>
                    </a:cubicBezTo>
                    <a:cubicBezTo>
                      <a:pt x="130661" y="13169"/>
                      <a:pt x="136599" y="16138"/>
                      <a:pt x="142875" y="16006"/>
                    </a:cubicBezTo>
                    <a:cubicBezTo>
                      <a:pt x="149151" y="16138"/>
                      <a:pt x="155089" y="13169"/>
                      <a:pt x="158750" y="8069"/>
                    </a:cubicBezTo>
                  </a:path>
                </a:pathLst>
              </a:custGeom>
              <a:noFill/>
              <a:ln w="15875">
                <a:solidFill>
                  <a:srgbClr val="FFFFFF"/>
                </a:solidFill>
              </a:ln>
            </p:spPr>
          </p:sp>
          <p:sp>
            <p:nvSpPr>
              <p:cNvPr id="109" name="Freeform 109"/>
              <p:cNvSpPr/>
              <p:nvPr/>
            </p:nvSpPr>
            <p:spPr>
              <a:xfrm>
                <a:off x="500062" y="2722562"/>
                <a:ext cx="142875" cy="39687"/>
              </a:xfrm>
              <a:custGeom>
                <a:avLst/>
                <a:gdLst/>
                <a:ahLst/>
                <a:cxnLst/>
                <a:rect l="l" t="t" r="r" b="b"/>
                <a:pathLst>
                  <a:path w="142875" h="39687">
                    <a:moveTo>
                      <a:pt x="7937" y="39687"/>
                    </a:moveTo>
                    <a:lnTo>
                      <a:pt x="0" y="0"/>
                    </a:lnTo>
                    <a:lnTo>
                      <a:pt x="142875" y="0"/>
                    </a:lnTo>
                    <a:lnTo>
                      <a:pt x="127000" y="31750"/>
                    </a:lnTo>
                  </a:path>
                </a:pathLst>
              </a:custGeom>
              <a:noFill/>
              <a:ln w="15875">
                <a:solidFill>
                  <a:srgbClr val="FFFFFF"/>
                </a:solidFill>
              </a:ln>
            </p:spPr>
          </p:sp>
          <p:sp>
            <p:nvSpPr>
              <p:cNvPr id="110" name="Freeform 110"/>
              <p:cNvSpPr/>
              <p:nvPr/>
            </p:nvSpPr>
            <p:spPr>
              <a:xfrm>
                <a:off x="515937" y="2674937"/>
                <a:ext cx="95250" cy="47625"/>
              </a:xfrm>
              <a:custGeom>
                <a:avLst/>
                <a:gdLst/>
                <a:ahLst/>
                <a:cxnLst/>
                <a:rect l="l" t="t" r="r" b="b"/>
                <a:pathLst>
                  <a:path w="95250" h="47625">
                    <a:moveTo>
                      <a:pt x="0" y="47625"/>
                    </a:moveTo>
                    <a:lnTo>
                      <a:pt x="0" y="0"/>
                    </a:lnTo>
                    <a:lnTo>
                      <a:pt x="63500" y="0"/>
                    </a:lnTo>
                    <a:lnTo>
                      <a:pt x="95250" y="47625"/>
                    </a:lnTo>
                  </a:path>
                </a:pathLst>
              </a:custGeom>
              <a:noFill/>
              <a:ln w="15875">
                <a:solidFill>
                  <a:srgbClr val="FFFFFF"/>
                </a:solidFill>
              </a:ln>
            </p:spPr>
          </p:sp>
          <p:sp>
            <p:nvSpPr>
              <p:cNvPr id="111" name="Freeform 111"/>
              <p:cNvSpPr/>
              <p:nvPr/>
            </p:nvSpPr>
            <p:spPr>
              <a:xfrm>
                <a:off x="523875" y="2643187"/>
                <a:ext cx="9525" cy="31750"/>
              </a:xfrm>
              <a:custGeom>
                <a:avLst/>
                <a:gdLst/>
                <a:ahLst/>
                <a:cxnLst/>
                <a:rect l="l" t="t" r="r" b="b"/>
                <a:pathLst>
                  <a:path w="9525" h="31750">
                    <a:moveTo>
                      <a:pt x="7937" y="31750"/>
                    </a:moveTo>
                    <a:lnTo>
                      <a:pt x="7937" y="0"/>
                    </a:lnTo>
                    <a:lnTo>
                      <a:pt x="0" y="0"/>
                    </a:lnTo>
                  </a:path>
                </a:pathLst>
              </a:custGeom>
              <a:noFill/>
              <a:ln w="15875">
                <a:solidFill>
                  <a:srgbClr val="FFFFFF"/>
                </a:solidFill>
              </a:ln>
            </p:spPr>
          </p:sp>
        </p:grpSp>
        <p:sp>
          <p:nvSpPr>
            <p:cNvPr id="113" name="TextBox 113"/>
            <p:cNvSpPr txBox="1"/>
            <p:nvPr/>
          </p:nvSpPr>
          <p:spPr>
            <a:xfrm>
              <a:off x="719138" y="266104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交通航运</a:t>
              </a:r>
            </a:p>
          </p:txBody>
        </p:sp>
        <p:sp>
          <p:nvSpPr>
            <p:cNvPr id="114" name="TextBox 114"/>
            <p:cNvSpPr txBox="1"/>
            <p:nvPr/>
          </p:nvSpPr>
          <p:spPr>
            <a:xfrm>
              <a:off x="1870672" y="26853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交通装备研发</a:t>
              </a:r>
            </a:p>
          </p:txBody>
        </p:sp>
        <p:sp>
          <p:nvSpPr>
            <p:cNvPr id="115" name="TextBox 115"/>
            <p:cNvSpPr txBox="1"/>
            <p:nvPr/>
          </p:nvSpPr>
          <p:spPr>
            <a:xfrm>
              <a:off x="2870632" y="268533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智能化作业生产</a:t>
              </a:r>
            </a:p>
          </p:txBody>
        </p:sp>
        <p:sp>
          <p:nvSpPr>
            <p:cNvPr id="116" name="TextBox 116"/>
            <p:cNvSpPr txBox="1"/>
            <p:nvPr/>
          </p:nvSpPr>
          <p:spPr>
            <a:xfrm>
              <a:off x="3956647" y="26853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运行状态检测</a:t>
              </a:r>
            </a:p>
          </p:txBody>
        </p:sp>
        <p:sp>
          <p:nvSpPr>
            <p:cNvPr id="117" name="TextBox 117"/>
            <p:cNvSpPr txBox="1"/>
            <p:nvPr/>
          </p:nvSpPr>
          <p:spPr>
            <a:xfrm>
              <a:off x="5004397" y="26853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基础设施运维</a:t>
              </a:r>
            </a:p>
          </p:txBody>
        </p:sp>
        <p:sp>
          <p:nvSpPr>
            <p:cNvPr id="118" name="TextBox 118"/>
            <p:cNvSpPr txBox="1"/>
            <p:nvPr/>
          </p:nvSpPr>
          <p:spPr>
            <a:xfrm>
              <a:off x="6052147" y="26853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运输安全管理</a:t>
              </a:r>
            </a:p>
          </p:txBody>
        </p:sp>
        <p:sp>
          <p:nvSpPr>
            <p:cNvPr id="119" name="TextBox 119"/>
            <p:cNvSpPr txBox="1"/>
            <p:nvPr/>
          </p:nvSpPr>
          <p:spPr>
            <a:xfrm>
              <a:off x="7090372" y="26853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运力资源调度</a:t>
              </a:r>
            </a:p>
          </p:txBody>
        </p:sp>
        <p:sp>
          <p:nvSpPr>
            <p:cNvPr id="120" name="TextBox 120"/>
            <p:cNvSpPr txBox="1"/>
            <p:nvPr/>
          </p:nvSpPr>
          <p:spPr>
            <a:xfrm>
              <a:off x="8090332" y="268533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出行与物流服务</a:t>
              </a:r>
            </a:p>
          </p:txBody>
        </p:sp>
        <p:sp>
          <p:nvSpPr>
            <p:cNvPr id="121" name="Line 121"/>
            <p:cNvSpPr/>
            <p:nvPr/>
          </p:nvSpPr>
          <p:spPr>
            <a:xfrm>
              <a:off x="2686050" y="2619375"/>
              <a:ext cx="9525" cy="190500"/>
            </a:xfrm>
            <a:custGeom>
              <a:avLst/>
              <a:gdLst/>
              <a:ahLst/>
              <a:cxnLst/>
              <a:rect l="l" t="t" r="r" b="b"/>
              <a:pathLst>
                <a:path w="9525" h="190500">
                  <a:moveTo>
                    <a:pt x="0" y="0"/>
                  </a:moveTo>
                  <a:lnTo>
                    <a:pt x="0" y="190500"/>
                  </a:lnTo>
                </a:path>
              </a:pathLst>
            </a:custGeom>
            <a:noFill/>
            <a:ln w="6668">
              <a:solidFill>
                <a:srgbClr val="D0462A">
                  <a:alpha val="40000"/>
                </a:srgbClr>
              </a:solidFill>
            </a:ln>
          </p:spPr>
        </p:sp>
        <p:sp>
          <p:nvSpPr>
            <p:cNvPr id="122" name="Line 122"/>
            <p:cNvSpPr/>
            <p:nvPr/>
          </p:nvSpPr>
          <p:spPr>
            <a:xfrm>
              <a:off x="3733800" y="2619375"/>
              <a:ext cx="9525" cy="190500"/>
            </a:xfrm>
            <a:custGeom>
              <a:avLst/>
              <a:gdLst/>
              <a:ahLst/>
              <a:cxnLst/>
              <a:rect l="l" t="t" r="r" b="b"/>
              <a:pathLst>
                <a:path w="9525" h="190500">
                  <a:moveTo>
                    <a:pt x="0" y="0"/>
                  </a:moveTo>
                  <a:lnTo>
                    <a:pt x="0" y="190500"/>
                  </a:lnTo>
                </a:path>
              </a:pathLst>
            </a:custGeom>
            <a:noFill/>
            <a:ln w="6668">
              <a:solidFill>
                <a:srgbClr val="D0462A">
                  <a:alpha val="40000"/>
                </a:srgbClr>
              </a:solidFill>
            </a:ln>
          </p:spPr>
        </p:sp>
        <p:sp>
          <p:nvSpPr>
            <p:cNvPr id="123" name="Line 123"/>
            <p:cNvSpPr/>
            <p:nvPr/>
          </p:nvSpPr>
          <p:spPr>
            <a:xfrm>
              <a:off x="4772025" y="2619375"/>
              <a:ext cx="9525" cy="190500"/>
            </a:xfrm>
            <a:custGeom>
              <a:avLst/>
              <a:gdLst/>
              <a:ahLst/>
              <a:cxnLst/>
              <a:rect l="l" t="t" r="r" b="b"/>
              <a:pathLst>
                <a:path w="9525" h="190500">
                  <a:moveTo>
                    <a:pt x="0" y="0"/>
                  </a:moveTo>
                  <a:lnTo>
                    <a:pt x="0" y="190500"/>
                  </a:lnTo>
                </a:path>
              </a:pathLst>
            </a:custGeom>
            <a:noFill/>
            <a:ln w="6668">
              <a:solidFill>
                <a:srgbClr val="D0462A">
                  <a:alpha val="40000"/>
                </a:srgbClr>
              </a:solidFill>
            </a:ln>
          </p:spPr>
        </p:sp>
        <p:sp>
          <p:nvSpPr>
            <p:cNvPr id="124" name="Line 124"/>
            <p:cNvSpPr/>
            <p:nvPr/>
          </p:nvSpPr>
          <p:spPr>
            <a:xfrm>
              <a:off x="5819775" y="2619375"/>
              <a:ext cx="9525" cy="190500"/>
            </a:xfrm>
            <a:custGeom>
              <a:avLst/>
              <a:gdLst/>
              <a:ahLst/>
              <a:cxnLst/>
              <a:rect l="l" t="t" r="r" b="b"/>
              <a:pathLst>
                <a:path w="9525" h="190500">
                  <a:moveTo>
                    <a:pt x="0" y="0"/>
                  </a:moveTo>
                  <a:lnTo>
                    <a:pt x="0" y="190500"/>
                  </a:lnTo>
                </a:path>
              </a:pathLst>
            </a:custGeom>
            <a:noFill/>
            <a:ln w="6668">
              <a:solidFill>
                <a:srgbClr val="D0462A">
                  <a:alpha val="40000"/>
                </a:srgbClr>
              </a:solidFill>
            </a:ln>
          </p:spPr>
        </p:sp>
        <p:sp>
          <p:nvSpPr>
            <p:cNvPr id="125" name="Line 125"/>
            <p:cNvSpPr/>
            <p:nvPr/>
          </p:nvSpPr>
          <p:spPr>
            <a:xfrm>
              <a:off x="6858000" y="2619375"/>
              <a:ext cx="9525" cy="190500"/>
            </a:xfrm>
            <a:custGeom>
              <a:avLst/>
              <a:gdLst/>
              <a:ahLst/>
              <a:cxnLst/>
              <a:rect l="l" t="t" r="r" b="b"/>
              <a:pathLst>
                <a:path w="9525" h="190500">
                  <a:moveTo>
                    <a:pt x="0" y="0"/>
                  </a:moveTo>
                  <a:lnTo>
                    <a:pt x="0" y="190500"/>
                  </a:lnTo>
                </a:path>
              </a:pathLst>
            </a:custGeom>
            <a:noFill/>
            <a:ln w="6668">
              <a:solidFill>
                <a:srgbClr val="D0462A">
                  <a:alpha val="40000"/>
                </a:srgbClr>
              </a:solidFill>
            </a:ln>
          </p:spPr>
        </p:sp>
        <p:sp>
          <p:nvSpPr>
            <p:cNvPr id="126" name="Line 126"/>
            <p:cNvSpPr/>
            <p:nvPr/>
          </p:nvSpPr>
          <p:spPr>
            <a:xfrm>
              <a:off x="7905750" y="2619375"/>
              <a:ext cx="9525" cy="190500"/>
            </a:xfrm>
            <a:custGeom>
              <a:avLst/>
              <a:gdLst/>
              <a:ahLst/>
              <a:cxnLst/>
              <a:rect l="l" t="t" r="r" b="b"/>
              <a:pathLst>
                <a:path w="9525" h="190500">
                  <a:moveTo>
                    <a:pt x="0" y="0"/>
                  </a:moveTo>
                  <a:lnTo>
                    <a:pt x="0" y="190500"/>
                  </a:lnTo>
                </a:path>
              </a:pathLst>
            </a:custGeom>
            <a:noFill/>
            <a:ln w="6668">
              <a:solidFill>
                <a:srgbClr val="D0462A">
                  <a:alpha val="40000"/>
                </a:srgbClr>
              </a:solidFill>
            </a:ln>
          </p:spPr>
        </p:sp>
        <p:sp>
          <p:nvSpPr>
            <p:cNvPr id="127" name="Freeform 127"/>
            <p:cNvSpPr/>
            <p:nvPr/>
          </p:nvSpPr>
          <p:spPr>
            <a:xfrm>
              <a:off x="9010650" y="2524125"/>
              <a:ext cx="990600" cy="381000"/>
            </a:xfrm>
            <a:prstGeom prst="homePlate">
              <a:avLst>
                <a:gd name="adj" fmla="val 30000"/>
              </a:avLst>
            </a:prstGeom>
            <a:solidFill>
              <a:srgbClr val="D0462A"/>
            </a:solidFill>
            <a:ln>
              <a:noFill/>
            </a:ln>
          </p:spPr>
        </p:sp>
        <p:sp>
          <p:nvSpPr>
            <p:cNvPr id="128" name="TextBox 128"/>
            <p:cNvSpPr txBox="1"/>
            <p:nvPr/>
          </p:nvSpPr>
          <p:spPr>
            <a:xfrm>
              <a:off x="9179242" y="260508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畅通经济动脉</a:t>
              </a:r>
            </a:p>
          </p:txBody>
        </p:sp>
        <p:sp>
          <p:nvSpPr>
            <p:cNvPr id="129" name="TextBox 129"/>
            <p:cNvSpPr txBox="1"/>
            <p:nvPr/>
          </p:nvSpPr>
          <p:spPr>
            <a:xfrm>
              <a:off x="9179242" y="2747962"/>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提升运行效率</a:t>
              </a:r>
            </a:p>
          </p:txBody>
        </p:sp>
      </p:grpSp>
      <p:grpSp>
        <p:nvGrpSpPr>
          <p:cNvPr id="154" name="row-ind-4"/>
          <p:cNvGrpSpPr/>
          <p:nvPr/>
        </p:nvGrpSpPr>
        <p:grpSpPr>
          <a:xfrm>
            <a:off x="381000" y="3000375"/>
            <a:ext cx="9620250" cy="381000"/>
            <a:chOff x="381000" y="3000375"/>
            <a:chExt cx="9620250" cy="381000"/>
          </a:xfrm>
        </p:grpSpPr>
        <p:sp>
          <p:nvSpPr>
            <p:cNvPr id="131" name="Rectangle 131"/>
            <p:cNvSpPr/>
            <p:nvPr/>
          </p:nvSpPr>
          <p:spPr>
            <a:xfrm>
              <a:off x="381000" y="3000375"/>
              <a:ext cx="8629650" cy="381000"/>
            </a:xfrm>
            <a:prstGeom prst="roundRect">
              <a:avLst>
                <a:gd name="adj" fmla="val 50000"/>
              </a:avLst>
            </a:prstGeom>
            <a:solidFill>
              <a:srgbClr val="C43D22">
                <a:alpha val="14000"/>
              </a:srgbClr>
            </a:solidFill>
            <a:ln>
              <a:noFill/>
            </a:ln>
          </p:spPr>
        </p:sp>
        <p:sp>
          <p:nvSpPr>
            <p:cNvPr id="132" name="Rectangle 132"/>
            <p:cNvSpPr/>
            <p:nvPr/>
          </p:nvSpPr>
          <p:spPr>
            <a:xfrm>
              <a:off x="381000" y="3000375"/>
              <a:ext cx="1238250" cy="381000"/>
            </a:xfrm>
            <a:prstGeom prst="roundRect">
              <a:avLst>
                <a:gd name="adj" fmla="val 50000"/>
              </a:avLst>
            </a:prstGeom>
            <a:solidFill>
              <a:srgbClr val="C43D22"/>
            </a:solidFill>
            <a:ln>
              <a:noFill/>
            </a:ln>
          </p:spPr>
        </p:sp>
        <p:grpSp>
          <p:nvGrpSpPr>
            <p:cNvPr id="136" name="Group 136"/>
            <p:cNvGrpSpPr/>
            <p:nvPr/>
          </p:nvGrpSpPr>
          <p:grpSpPr>
            <a:xfrm>
              <a:off x="493088" y="3120401"/>
              <a:ext cx="156824" cy="128926"/>
              <a:chOff x="493088" y="3120401"/>
              <a:chExt cx="156824" cy="128926"/>
            </a:xfrm>
          </p:grpSpPr>
          <p:sp>
            <p:nvSpPr>
              <p:cNvPr id="133" name="Freeform 133"/>
              <p:cNvSpPr/>
              <p:nvPr/>
            </p:nvSpPr>
            <p:spPr>
              <a:xfrm>
                <a:off x="493088" y="3120401"/>
                <a:ext cx="156824" cy="128926"/>
              </a:xfrm>
              <a:custGeom>
                <a:avLst/>
                <a:gdLst/>
                <a:ahLst/>
                <a:cxnLst/>
                <a:rect l="l" t="t" r="r" b="b"/>
                <a:pathLst>
                  <a:path w="156824" h="128926">
                    <a:moveTo>
                      <a:pt x="128926" y="128926"/>
                    </a:moveTo>
                    <a:cubicBezTo>
                      <a:pt x="156824" y="101027"/>
                      <a:pt x="156824" y="55796"/>
                      <a:pt x="128926" y="27898"/>
                    </a:cubicBezTo>
                    <a:cubicBezTo>
                      <a:pt x="101028" y="0"/>
                      <a:pt x="55796" y="0"/>
                      <a:pt x="27898" y="27898"/>
                    </a:cubicBezTo>
                    <a:cubicBezTo>
                      <a:pt x="0" y="55796"/>
                      <a:pt x="0" y="101027"/>
                      <a:pt x="27898" y="128926"/>
                    </a:cubicBezTo>
                  </a:path>
                </a:pathLst>
              </a:custGeom>
              <a:noFill/>
              <a:ln w="15875">
                <a:solidFill>
                  <a:srgbClr val="FFFFFF"/>
                </a:solidFill>
              </a:ln>
            </p:spPr>
          </p:sp>
          <p:sp>
            <p:nvSpPr>
              <p:cNvPr id="134" name="Freeform 134"/>
              <p:cNvSpPr/>
              <p:nvPr/>
            </p:nvSpPr>
            <p:spPr>
              <a:xfrm>
                <a:off x="527937" y="3155258"/>
                <a:ext cx="87126" cy="71621"/>
              </a:xfrm>
              <a:custGeom>
                <a:avLst/>
                <a:gdLst/>
                <a:ahLst/>
                <a:cxnLst/>
                <a:rect l="l" t="t" r="r" b="b"/>
                <a:pathLst>
                  <a:path w="87126" h="71621">
                    <a:moveTo>
                      <a:pt x="71630" y="71621"/>
                    </a:moveTo>
                    <a:cubicBezTo>
                      <a:pt x="87126" y="56121"/>
                      <a:pt x="87124" y="30995"/>
                      <a:pt x="71625" y="15497"/>
                    </a:cubicBezTo>
                    <a:cubicBezTo>
                      <a:pt x="56126" y="0"/>
                      <a:pt x="30999" y="0"/>
                      <a:pt x="15501" y="15497"/>
                    </a:cubicBezTo>
                    <a:cubicBezTo>
                      <a:pt x="2" y="30995"/>
                      <a:pt x="0" y="56121"/>
                      <a:pt x="15496" y="71621"/>
                    </a:cubicBezTo>
                  </a:path>
                </a:pathLst>
              </a:custGeom>
              <a:noFill/>
              <a:ln w="15875">
                <a:solidFill>
                  <a:srgbClr val="FFFFFF"/>
                </a:solidFill>
              </a:ln>
            </p:spPr>
          </p:sp>
          <p:sp>
            <p:nvSpPr>
              <p:cNvPr id="135" name="Freeform 135"/>
              <p:cNvSpPr/>
              <p:nvPr/>
            </p:nvSpPr>
            <p:spPr>
              <a:xfrm>
                <a:off x="563562" y="3190875"/>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grpSp>
        <p:sp>
          <p:nvSpPr>
            <p:cNvPr id="137" name="TextBox 137"/>
            <p:cNvSpPr txBox="1"/>
            <p:nvPr/>
          </p:nvSpPr>
          <p:spPr>
            <a:xfrm>
              <a:off x="719138" y="313729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通信服务</a:t>
              </a:r>
            </a:p>
          </p:txBody>
        </p:sp>
        <p:sp>
          <p:nvSpPr>
            <p:cNvPr id="138" name="TextBox 138"/>
            <p:cNvSpPr txBox="1"/>
            <p:nvPr/>
          </p:nvSpPr>
          <p:spPr>
            <a:xfrm>
              <a:off x="1822882" y="3161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网络与产品设计</a:t>
              </a:r>
            </a:p>
          </p:txBody>
        </p:sp>
        <p:sp>
          <p:nvSpPr>
            <p:cNvPr id="139" name="TextBox 139"/>
            <p:cNvSpPr txBox="1"/>
            <p:nvPr/>
          </p:nvSpPr>
          <p:spPr>
            <a:xfrm>
              <a:off x="2918422" y="31615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设备集成制造</a:t>
              </a:r>
            </a:p>
          </p:txBody>
        </p:sp>
        <p:sp>
          <p:nvSpPr>
            <p:cNvPr id="140" name="TextBox 140"/>
            <p:cNvSpPr txBox="1"/>
            <p:nvPr/>
          </p:nvSpPr>
          <p:spPr>
            <a:xfrm>
              <a:off x="3956647" y="31615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网络质量检测</a:t>
              </a:r>
            </a:p>
          </p:txBody>
        </p:sp>
        <p:sp>
          <p:nvSpPr>
            <p:cNvPr id="141" name="TextBox 141"/>
            <p:cNvSpPr txBox="1"/>
            <p:nvPr/>
          </p:nvSpPr>
          <p:spPr>
            <a:xfrm>
              <a:off x="5004397" y="31615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通信设备运维</a:t>
              </a:r>
            </a:p>
          </p:txBody>
        </p:sp>
        <p:sp>
          <p:nvSpPr>
            <p:cNvPr id="142" name="TextBox 142"/>
            <p:cNvSpPr txBox="1"/>
            <p:nvPr/>
          </p:nvSpPr>
          <p:spPr>
            <a:xfrm>
              <a:off x="6004357" y="3161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网络与数据安全</a:t>
              </a:r>
            </a:p>
          </p:txBody>
        </p:sp>
        <p:sp>
          <p:nvSpPr>
            <p:cNvPr id="143" name="TextBox 143"/>
            <p:cNvSpPr txBox="1"/>
            <p:nvPr/>
          </p:nvSpPr>
          <p:spPr>
            <a:xfrm>
              <a:off x="7090372" y="31615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资源智能调度</a:t>
              </a:r>
            </a:p>
          </p:txBody>
        </p:sp>
        <p:sp>
          <p:nvSpPr>
            <p:cNvPr id="144" name="TextBox 144"/>
            <p:cNvSpPr txBox="1"/>
            <p:nvPr/>
          </p:nvSpPr>
          <p:spPr>
            <a:xfrm>
              <a:off x="8090332" y="3161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用户服务与运营</a:t>
              </a:r>
            </a:p>
          </p:txBody>
        </p:sp>
        <p:sp>
          <p:nvSpPr>
            <p:cNvPr id="145" name="Line 145"/>
            <p:cNvSpPr/>
            <p:nvPr/>
          </p:nvSpPr>
          <p:spPr>
            <a:xfrm>
              <a:off x="2686050" y="3095625"/>
              <a:ext cx="9525" cy="190500"/>
            </a:xfrm>
            <a:custGeom>
              <a:avLst/>
              <a:gdLst/>
              <a:ahLst/>
              <a:cxnLst/>
              <a:rect l="l" t="t" r="r" b="b"/>
              <a:pathLst>
                <a:path w="9525" h="190500">
                  <a:moveTo>
                    <a:pt x="0" y="0"/>
                  </a:moveTo>
                  <a:lnTo>
                    <a:pt x="0" y="190500"/>
                  </a:lnTo>
                </a:path>
              </a:pathLst>
            </a:custGeom>
            <a:noFill/>
            <a:ln w="6668">
              <a:solidFill>
                <a:srgbClr val="C43D22">
                  <a:alpha val="40000"/>
                </a:srgbClr>
              </a:solidFill>
            </a:ln>
          </p:spPr>
        </p:sp>
        <p:sp>
          <p:nvSpPr>
            <p:cNvPr id="146" name="Line 146"/>
            <p:cNvSpPr/>
            <p:nvPr/>
          </p:nvSpPr>
          <p:spPr>
            <a:xfrm>
              <a:off x="3733800" y="3095625"/>
              <a:ext cx="9525" cy="190500"/>
            </a:xfrm>
            <a:custGeom>
              <a:avLst/>
              <a:gdLst/>
              <a:ahLst/>
              <a:cxnLst/>
              <a:rect l="l" t="t" r="r" b="b"/>
              <a:pathLst>
                <a:path w="9525" h="190500">
                  <a:moveTo>
                    <a:pt x="0" y="0"/>
                  </a:moveTo>
                  <a:lnTo>
                    <a:pt x="0" y="190500"/>
                  </a:lnTo>
                </a:path>
              </a:pathLst>
            </a:custGeom>
            <a:noFill/>
            <a:ln w="6668">
              <a:solidFill>
                <a:srgbClr val="C43D22">
                  <a:alpha val="40000"/>
                </a:srgbClr>
              </a:solidFill>
            </a:ln>
          </p:spPr>
        </p:sp>
        <p:sp>
          <p:nvSpPr>
            <p:cNvPr id="147" name="Line 147"/>
            <p:cNvSpPr/>
            <p:nvPr/>
          </p:nvSpPr>
          <p:spPr>
            <a:xfrm>
              <a:off x="4772025" y="3095625"/>
              <a:ext cx="9525" cy="190500"/>
            </a:xfrm>
            <a:custGeom>
              <a:avLst/>
              <a:gdLst/>
              <a:ahLst/>
              <a:cxnLst/>
              <a:rect l="l" t="t" r="r" b="b"/>
              <a:pathLst>
                <a:path w="9525" h="190500">
                  <a:moveTo>
                    <a:pt x="0" y="0"/>
                  </a:moveTo>
                  <a:lnTo>
                    <a:pt x="0" y="190500"/>
                  </a:lnTo>
                </a:path>
              </a:pathLst>
            </a:custGeom>
            <a:noFill/>
            <a:ln w="6668">
              <a:solidFill>
                <a:srgbClr val="C43D22">
                  <a:alpha val="40000"/>
                </a:srgbClr>
              </a:solidFill>
            </a:ln>
          </p:spPr>
        </p:sp>
        <p:sp>
          <p:nvSpPr>
            <p:cNvPr id="148" name="Line 148"/>
            <p:cNvSpPr/>
            <p:nvPr/>
          </p:nvSpPr>
          <p:spPr>
            <a:xfrm>
              <a:off x="5819775" y="3095625"/>
              <a:ext cx="9525" cy="190500"/>
            </a:xfrm>
            <a:custGeom>
              <a:avLst/>
              <a:gdLst/>
              <a:ahLst/>
              <a:cxnLst/>
              <a:rect l="l" t="t" r="r" b="b"/>
              <a:pathLst>
                <a:path w="9525" h="190500">
                  <a:moveTo>
                    <a:pt x="0" y="0"/>
                  </a:moveTo>
                  <a:lnTo>
                    <a:pt x="0" y="190500"/>
                  </a:lnTo>
                </a:path>
              </a:pathLst>
            </a:custGeom>
            <a:noFill/>
            <a:ln w="6668">
              <a:solidFill>
                <a:srgbClr val="C43D22">
                  <a:alpha val="40000"/>
                </a:srgbClr>
              </a:solidFill>
            </a:ln>
          </p:spPr>
        </p:sp>
        <p:sp>
          <p:nvSpPr>
            <p:cNvPr id="149" name="Line 149"/>
            <p:cNvSpPr/>
            <p:nvPr/>
          </p:nvSpPr>
          <p:spPr>
            <a:xfrm>
              <a:off x="6858000" y="3095625"/>
              <a:ext cx="9525" cy="190500"/>
            </a:xfrm>
            <a:custGeom>
              <a:avLst/>
              <a:gdLst/>
              <a:ahLst/>
              <a:cxnLst/>
              <a:rect l="l" t="t" r="r" b="b"/>
              <a:pathLst>
                <a:path w="9525" h="190500">
                  <a:moveTo>
                    <a:pt x="0" y="0"/>
                  </a:moveTo>
                  <a:lnTo>
                    <a:pt x="0" y="190500"/>
                  </a:lnTo>
                </a:path>
              </a:pathLst>
            </a:custGeom>
            <a:noFill/>
            <a:ln w="6668">
              <a:solidFill>
                <a:srgbClr val="C43D22">
                  <a:alpha val="40000"/>
                </a:srgbClr>
              </a:solidFill>
            </a:ln>
          </p:spPr>
        </p:sp>
        <p:sp>
          <p:nvSpPr>
            <p:cNvPr id="150" name="Line 150"/>
            <p:cNvSpPr/>
            <p:nvPr/>
          </p:nvSpPr>
          <p:spPr>
            <a:xfrm>
              <a:off x="7905750" y="3095625"/>
              <a:ext cx="9525" cy="190500"/>
            </a:xfrm>
            <a:custGeom>
              <a:avLst/>
              <a:gdLst/>
              <a:ahLst/>
              <a:cxnLst/>
              <a:rect l="l" t="t" r="r" b="b"/>
              <a:pathLst>
                <a:path w="9525" h="190500">
                  <a:moveTo>
                    <a:pt x="0" y="0"/>
                  </a:moveTo>
                  <a:lnTo>
                    <a:pt x="0" y="190500"/>
                  </a:lnTo>
                </a:path>
              </a:pathLst>
            </a:custGeom>
            <a:noFill/>
            <a:ln w="6668">
              <a:solidFill>
                <a:srgbClr val="C43D22">
                  <a:alpha val="40000"/>
                </a:srgbClr>
              </a:solidFill>
            </a:ln>
          </p:spPr>
        </p:sp>
        <p:sp>
          <p:nvSpPr>
            <p:cNvPr id="151" name="Freeform 151"/>
            <p:cNvSpPr/>
            <p:nvPr/>
          </p:nvSpPr>
          <p:spPr>
            <a:xfrm>
              <a:off x="9010650" y="3000375"/>
              <a:ext cx="990600" cy="381000"/>
            </a:xfrm>
            <a:prstGeom prst="homePlate">
              <a:avLst>
                <a:gd name="adj" fmla="val 30000"/>
              </a:avLst>
            </a:prstGeom>
            <a:solidFill>
              <a:srgbClr val="C43D22"/>
            </a:solidFill>
            <a:ln>
              <a:noFill/>
            </a:ln>
          </p:spPr>
        </p:sp>
        <p:sp>
          <p:nvSpPr>
            <p:cNvPr id="152" name="TextBox 152"/>
            <p:cNvSpPr txBox="1"/>
            <p:nvPr/>
          </p:nvSpPr>
          <p:spPr>
            <a:xfrm>
              <a:off x="9179242" y="308133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夯实数产底座</a:t>
              </a:r>
            </a:p>
          </p:txBody>
        </p:sp>
        <p:sp>
          <p:nvSpPr>
            <p:cNvPr id="153" name="TextBox 153"/>
            <p:cNvSpPr txBox="1"/>
            <p:nvPr/>
          </p:nvSpPr>
          <p:spPr>
            <a:xfrm>
              <a:off x="9179242" y="3224212"/>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赋能千行百业</a:t>
              </a:r>
            </a:p>
          </p:txBody>
        </p:sp>
      </p:grpSp>
      <p:grpSp>
        <p:nvGrpSpPr>
          <p:cNvPr id="183" name="row-ind-5"/>
          <p:cNvGrpSpPr/>
          <p:nvPr/>
        </p:nvGrpSpPr>
        <p:grpSpPr>
          <a:xfrm>
            <a:off x="381000" y="3476625"/>
            <a:ext cx="9620250" cy="381000"/>
            <a:chOff x="381000" y="3476625"/>
            <a:chExt cx="9620250" cy="381000"/>
          </a:xfrm>
        </p:grpSpPr>
        <p:sp>
          <p:nvSpPr>
            <p:cNvPr id="155" name="Rectangle 155"/>
            <p:cNvSpPr/>
            <p:nvPr/>
          </p:nvSpPr>
          <p:spPr>
            <a:xfrm>
              <a:off x="381000" y="3476625"/>
              <a:ext cx="8629650" cy="381000"/>
            </a:xfrm>
            <a:prstGeom prst="roundRect">
              <a:avLst>
                <a:gd name="adj" fmla="val 50000"/>
              </a:avLst>
            </a:prstGeom>
            <a:solidFill>
              <a:srgbClr val="A9361F">
                <a:alpha val="14000"/>
              </a:srgbClr>
            </a:solidFill>
            <a:ln>
              <a:noFill/>
            </a:ln>
          </p:spPr>
        </p:sp>
        <p:sp>
          <p:nvSpPr>
            <p:cNvPr id="156" name="Rectangle 156"/>
            <p:cNvSpPr/>
            <p:nvPr/>
          </p:nvSpPr>
          <p:spPr>
            <a:xfrm>
              <a:off x="381000" y="3476625"/>
              <a:ext cx="1238250" cy="381000"/>
            </a:xfrm>
            <a:prstGeom prst="roundRect">
              <a:avLst>
                <a:gd name="adj" fmla="val 50000"/>
              </a:avLst>
            </a:prstGeom>
            <a:solidFill>
              <a:srgbClr val="A9361F"/>
            </a:solidFill>
            <a:ln>
              <a:noFill/>
            </a:ln>
          </p:spPr>
        </p:sp>
        <p:grpSp>
          <p:nvGrpSpPr>
            <p:cNvPr id="165" name="Group 165"/>
            <p:cNvGrpSpPr/>
            <p:nvPr/>
          </p:nvGrpSpPr>
          <p:grpSpPr>
            <a:xfrm>
              <a:off x="500062" y="3595687"/>
              <a:ext cx="142875" cy="152400"/>
              <a:chOff x="500062" y="3595687"/>
              <a:chExt cx="142875" cy="152400"/>
            </a:xfrm>
          </p:grpSpPr>
          <p:sp>
            <p:nvSpPr>
              <p:cNvPr id="157" name="Freeform 157"/>
              <p:cNvSpPr/>
              <p:nvPr/>
            </p:nvSpPr>
            <p:spPr>
              <a:xfrm>
                <a:off x="500062" y="3738562"/>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58" name="Freeform 158"/>
              <p:cNvSpPr/>
              <p:nvPr/>
            </p:nvSpPr>
            <p:spPr>
              <a:xfrm>
                <a:off x="547687" y="3635375"/>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59" name="Freeform 159"/>
              <p:cNvSpPr/>
              <p:nvPr/>
            </p:nvSpPr>
            <p:spPr>
              <a:xfrm>
                <a:off x="547687" y="3667125"/>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60" name="Freeform 160"/>
              <p:cNvSpPr/>
              <p:nvPr/>
            </p:nvSpPr>
            <p:spPr>
              <a:xfrm>
                <a:off x="547687" y="3698875"/>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61" name="Freeform 161"/>
              <p:cNvSpPr/>
              <p:nvPr/>
            </p:nvSpPr>
            <p:spPr>
              <a:xfrm>
                <a:off x="587375" y="3635375"/>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62" name="Freeform 162"/>
              <p:cNvSpPr/>
              <p:nvPr/>
            </p:nvSpPr>
            <p:spPr>
              <a:xfrm>
                <a:off x="587375" y="3667125"/>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63" name="Freeform 163"/>
              <p:cNvSpPr/>
              <p:nvPr/>
            </p:nvSpPr>
            <p:spPr>
              <a:xfrm>
                <a:off x="587375" y="3698875"/>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64" name="Freeform 164"/>
              <p:cNvSpPr/>
              <p:nvPr/>
            </p:nvSpPr>
            <p:spPr>
              <a:xfrm>
                <a:off x="515937" y="3595687"/>
                <a:ext cx="111125" cy="142875"/>
              </a:xfrm>
              <a:custGeom>
                <a:avLst/>
                <a:gdLst/>
                <a:ahLst/>
                <a:cxnLst/>
                <a:rect l="l" t="t" r="r" b="b"/>
                <a:pathLst>
                  <a:path w="111125" h="142875">
                    <a:moveTo>
                      <a:pt x="0" y="142875"/>
                    </a:moveTo>
                    <a:lnTo>
                      <a:pt x="0" y="15875"/>
                    </a:lnTo>
                    <a:cubicBezTo>
                      <a:pt x="0" y="7107"/>
                      <a:pt x="7107" y="0"/>
                      <a:pt x="15875" y="0"/>
                    </a:cubicBezTo>
                    <a:lnTo>
                      <a:pt x="95250" y="0"/>
                    </a:lnTo>
                    <a:cubicBezTo>
                      <a:pt x="104017" y="0"/>
                      <a:pt x="111125" y="7107"/>
                      <a:pt x="111125" y="15875"/>
                    </a:cubicBezTo>
                    <a:lnTo>
                      <a:pt x="111125" y="142875"/>
                    </a:lnTo>
                  </a:path>
                </a:pathLst>
              </a:custGeom>
              <a:noFill/>
              <a:ln w="15875">
                <a:solidFill>
                  <a:srgbClr val="FFFFFF"/>
                </a:solidFill>
              </a:ln>
            </p:spPr>
          </p:sp>
        </p:grpSp>
        <p:sp>
          <p:nvSpPr>
            <p:cNvPr id="166" name="TextBox 166"/>
            <p:cNvSpPr txBox="1"/>
            <p:nvPr/>
          </p:nvSpPr>
          <p:spPr>
            <a:xfrm>
              <a:off x="719138" y="361354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建筑工程</a:t>
              </a:r>
            </a:p>
          </p:txBody>
        </p:sp>
        <p:sp>
          <p:nvSpPr>
            <p:cNvPr id="167" name="TextBox 167"/>
            <p:cNvSpPr txBox="1"/>
            <p:nvPr/>
          </p:nvSpPr>
          <p:spPr>
            <a:xfrm>
              <a:off x="1870672" y="3637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工程方案设计</a:t>
              </a:r>
            </a:p>
          </p:txBody>
        </p:sp>
        <p:sp>
          <p:nvSpPr>
            <p:cNvPr id="168" name="TextBox 168"/>
            <p:cNvSpPr txBox="1"/>
            <p:nvPr/>
          </p:nvSpPr>
          <p:spPr>
            <a:xfrm>
              <a:off x="2918422" y="3637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智能建造施工</a:t>
              </a:r>
            </a:p>
          </p:txBody>
        </p:sp>
        <p:sp>
          <p:nvSpPr>
            <p:cNvPr id="169" name="TextBox 169"/>
            <p:cNvSpPr txBox="1"/>
            <p:nvPr/>
          </p:nvSpPr>
          <p:spPr>
            <a:xfrm>
              <a:off x="3956647" y="3637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工程质量检测</a:t>
              </a:r>
            </a:p>
          </p:txBody>
        </p:sp>
        <p:sp>
          <p:nvSpPr>
            <p:cNvPr id="170" name="TextBox 170"/>
            <p:cNvSpPr txBox="1"/>
            <p:nvPr/>
          </p:nvSpPr>
          <p:spPr>
            <a:xfrm>
              <a:off x="5004397" y="3637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设施设备运维</a:t>
              </a:r>
            </a:p>
          </p:txBody>
        </p:sp>
        <p:sp>
          <p:nvSpPr>
            <p:cNvPr id="171" name="TextBox 171"/>
            <p:cNvSpPr txBox="1"/>
            <p:nvPr/>
          </p:nvSpPr>
          <p:spPr>
            <a:xfrm>
              <a:off x="6052147" y="36378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施工安全管理</a:t>
              </a:r>
            </a:p>
          </p:txBody>
        </p:sp>
        <p:sp>
          <p:nvSpPr>
            <p:cNvPr id="172" name="TextBox 172"/>
            <p:cNvSpPr txBox="1"/>
            <p:nvPr/>
          </p:nvSpPr>
          <p:spPr>
            <a:xfrm>
              <a:off x="7042582" y="363783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项目与资源调度</a:t>
              </a:r>
            </a:p>
          </p:txBody>
        </p:sp>
        <p:sp>
          <p:nvSpPr>
            <p:cNvPr id="173" name="TextBox 173"/>
            <p:cNvSpPr txBox="1"/>
            <p:nvPr/>
          </p:nvSpPr>
          <p:spPr>
            <a:xfrm>
              <a:off x="8090332" y="363783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业主与公众服务</a:t>
              </a:r>
            </a:p>
          </p:txBody>
        </p:sp>
        <p:sp>
          <p:nvSpPr>
            <p:cNvPr id="174" name="Line 174"/>
            <p:cNvSpPr/>
            <p:nvPr/>
          </p:nvSpPr>
          <p:spPr>
            <a:xfrm>
              <a:off x="2686050" y="3571875"/>
              <a:ext cx="9525" cy="190500"/>
            </a:xfrm>
            <a:custGeom>
              <a:avLst/>
              <a:gdLst/>
              <a:ahLst/>
              <a:cxnLst/>
              <a:rect l="l" t="t" r="r" b="b"/>
              <a:pathLst>
                <a:path w="9525" h="190500">
                  <a:moveTo>
                    <a:pt x="0" y="0"/>
                  </a:moveTo>
                  <a:lnTo>
                    <a:pt x="0" y="190500"/>
                  </a:lnTo>
                </a:path>
              </a:pathLst>
            </a:custGeom>
            <a:noFill/>
            <a:ln w="6668">
              <a:solidFill>
                <a:srgbClr val="A9361F">
                  <a:alpha val="40000"/>
                </a:srgbClr>
              </a:solidFill>
            </a:ln>
          </p:spPr>
        </p:sp>
        <p:sp>
          <p:nvSpPr>
            <p:cNvPr id="175" name="Line 175"/>
            <p:cNvSpPr/>
            <p:nvPr/>
          </p:nvSpPr>
          <p:spPr>
            <a:xfrm>
              <a:off x="3733800" y="3571875"/>
              <a:ext cx="9525" cy="190500"/>
            </a:xfrm>
            <a:custGeom>
              <a:avLst/>
              <a:gdLst/>
              <a:ahLst/>
              <a:cxnLst/>
              <a:rect l="l" t="t" r="r" b="b"/>
              <a:pathLst>
                <a:path w="9525" h="190500">
                  <a:moveTo>
                    <a:pt x="0" y="0"/>
                  </a:moveTo>
                  <a:lnTo>
                    <a:pt x="0" y="190500"/>
                  </a:lnTo>
                </a:path>
              </a:pathLst>
            </a:custGeom>
            <a:noFill/>
            <a:ln w="6668">
              <a:solidFill>
                <a:srgbClr val="A9361F">
                  <a:alpha val="40000"/>
                </a:srgbClr>
              </a:solidFill>
            </a:ln>
          </p:spPr>
        </p:sp>
        <p:sp>
          <p:nvSpPr>
            <p:cNvPr id="176" name="Line 176"/>
            <p:cNvSpPr/>
            <p:nvPr/>
          </p:nvSpPr>
          <p:spPr>
            <a:xfrm>
              <a:off x="4772025" y="3571875"/>
              <a:ext cx="9525" cy="190500"/>
            </a:xfrm>
            <a:custGeom>
              <a:avLst/>
              <a:gdLst/>
              <a:ahLst/>
              <a:cxnLst/>
              <a:rect l="l" t="t" r="r" b="b"/>
              <a:pathLst>
                <a:path w="9525" h="190500">
                  <a:moveTo>
                    <a:pt x="0" y="0"/>
                  </a:moveTo>
                  <a:lnTo>
                    <a:pt x="0" y="190500"/>
                  </a:lnTo>
                </a:path>
              </a:pathLst>
            </a:custGeom>
            <a:noFill/>
            <a:ln w="6668">
              <a:solidFill>
                <a:srgbClr val="A9361F">
                  <a:alpha val="40000"/>
                </a:srgbClr>
              </a:solidFill>
            </a:ln>
          </p:spPr>
        </p:sp>
        <p:sp>
          <p:nvSpPr>
            <p:cNvPr id="177" name="Line 177"/>
            <p:cNvSpPr/>
            <p:nvPr/>
          </p:nvSpPr>
          <p:spPr>
            <a:xfrm>
              <a:off x="5819775" y="3571875"/>
              <a:ext cx="9525" cy="190500"/>
            </a:xfrm>
            <a:custGeom>
              <a:avLst/>
              <a:gdLst/>
              <a:ahLst/>
              <a:cxnLst/>
              <a:rect l="l" t="t" r="r" b="b"/>
              <a:pathLst>
                <a:path w="9525" h="190500">
                  <a:moveTo>
                    <a:pt x="0" y="0"/>
                  </a:moveTo>
                  <a:lnTo>
                    <a:pt x="0" y="190500"/>
                  </a:lnTo>
                </a:path>
              </a:pathLst>
            </a:custGeom>
            <a:noFill/>
            <a:ln w="6668">
              <a:solidFill>
                <a:srgbClr val="A9361F">
                  <a:alpha val="40000"/>
                </a:srgbClr>
              </a:solidFill>
            </a:ln>
          </p:spPr>
        </p:sp>
        <p:sp>
          <p:nvSpPr>
            <p:cNvPr id="178" name="Line 178"/>
            <p:cNvSpPr/>
            <p:nvPr/>
          </p:nvSpPr>
          <p:spPr>
            <a:xfrm>
              <a:off x="6858000" y="3571875"/>
              <a:ext cx="9525" cy="190500"/>
            </a:xfrm>
            <a:custGeom>
              <a:avLst/>
              <a:gdLst/>
              <a:ahLst/>
              <a:cxnLst/>
              <a:rect l="l" t="t" r="r" b="b"/>
              <a:pathLst>
                <a:path w="9525" h="190500">
                  <a:moveTo>
                    <a:pt x="0" y="0"/>
                  </a:moveTo>
                  <a:lnTo>
                    <a:pt x="0" y="190500"/>
                  </a:lnTo>
                </a:path>
              </a:pathLst>
            </a:custGeom>
            <a:noFill/>
            <a:ln w="6668">
              <a:solidFill>
                <a:srgbClr val="A9361F">
                  <a:alpha val="40000"/>
                </a:srgbClr>
              </a:solidFill>
            </a:ln>
          </p:spPr>
        </p:sp>
        <p:sp>
          <p:nvSpPr>
            <p:cNvPr id="179" name="Line 179"/>
            <p:cNvSpPr/>
            <p:nvPr/>
          </p:nvSpPr>
          <p:spPr>
            <a:xfrm>
              <a:off x="7905750" y="3571875"/>
              <a:ext cx="9525" cy="190500"/>
            </a:xfrm>
            <a:custGeom>
              <a:avLst/>
              <a:gdLst/>
              <a:ahLst/>
              <a:cxnLst/>
              <a:rect l="l" t="t" r="r" b="b"/>
              <a:pathLst>
                <a:path w="9525" h="190500">
                  <a:moveTo>
                    <a:pt x="0" y="0"/>
                  </a:moveTo>
                  <a:lnTo>
                    <a:pt x="0" y="190500"/>
                  </a:lnTo>
                </a:path>
              </a:pathLst>
            </a:custGeom>
            <a:noFill/>
            <a:ln w="6668">
              <a:solidFill>
                <a:srgbClr val="A9361F">
                  <a:alpha val="40000"/>
                </a:srgbClr>
              </a:solidFill>
            </a:ln>
          </p:spPr>
        </p:sp>
        <p:sp>
          <p:nvSpPr>
            <p:cNvPr id="180" name="Freeform 180"/>
            <p:cNvSpPr/>
            <p:nvPr/>
          </p:nvSpPr>
          <p:spPr>
            <a:xfrm>
              <a:off x="9010650" y="3476625"/>
              <a:ext cx="990600" cy="381000"/>
            </a:xfrm>
            <a:prstGeom prst="homePlate">
              <a:avLst>
                <a:gd name="adj" fmla="val 30000"/>
              </a:avLst>
            </a:prstGeom>
            <a:solidFill>
              <a:srgbClr val="A9361F"/>
            </a:solidFill>
            <a:ln>
              <a:noFill/>
            </a:ln>
          </p:spPr>
        </p:sp>
        <p:sp>
          <p:nvSpPr>
            <p:cNvPr id="181" name="TextBox 181"/>
            <p:cNvSpPr txBox="1"/>
            <p:nvPr/>
          </p:nvSpPr>
          <p:spPr>
            <a:xfrm>
              <a:off x="9179242" y="355758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推动建造升级</a:t>
              </a:r>
            </a:p>
          </p:txBody>
        </p:sp>
        <p:sp>
          <p:nvSpPr>
            <p:cNvPr id="182" name="TextBox 182"/>
            <p:cNvSpPr txBox="1"/>
            <p:nvPr/>
          </p:nvSpPr>
          <p:spPr>
            <a:xfrm>
              <a:off x="9179242" y="3700462"/>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打造宜居环境</a:t>
              </a:r>
            </a:p>
          </p:txBody>
        </p:sp>
      </p:grpSp>
      <p:grpSp>
        <p:nvGrpSpPr>
          <p:cNvPr id="209" name="row-ind-6"/>
          <p:cNvGrpSpPr/>
          <p:nvPr/>
        </p:nvGrpSpPr>
        <p:grpSpPr>
          <a:xfrm>
            <a:off x="381000" y="3952875"/>
            <a:ext cx="9620250" cy="381000"/>
            <a:chOff x="381000" y="3952875"/>
            <a:chExt cx="9620250" cy="381000"/>
          </a:xfrm>
        </p:grpSpPr>
        <p:sp>
          <p:nvSpPr>
            <p:cNvPr id="184" name="Rectangle 184"/>
            <p:cNvSpPr/>
            <p:nvPr/>
          </p:nvSpPr>
          <p:spPr>
            <a:xfrm>
              <a:off x="381000" y="3952875"/>
              <a:ext cx="8629650" cy="381000"/>
            </a:xfrm>
            <a:prstGeom prst="roundRect">
              <a:avLst>
                <a:gd name="adj" fmla="val 50000"/>
              </a:avLst>
            </a:prstGeom>
            <a:solidFill>
              <a:srgbClr val="B0442F">
                <a:alpha val="14000"/>
              </a:srgbClr>
            </a:solidFill>
            <a:ln>
              <a:noFill/>
            </a:ln>
          </p:spPr>
        </p:sp>
        <p:sp>
          <p:nvSpPr>
            <p:cNvPr id="185" name="Rectangle 185"/>
            <p:cNvSpPr/>
            <p:nvPr/>
          </p:nvSpPr>
          <p:spPr>
            <a:xfrm>
              <a:off x="381000" y="3952875"/>
              <a:ext cx="1238250" cy="381000"/>
            </a:xfrm>
            <a:prstGeom prst="roundRect">
              <a:avLst>
                <a:gd name="adj" fmla="val 50000"/>
              </a:avLst>
            </a:prstGeom>
            <a:solidFill>
              <a:srgbClr val="B0442F"/>
            </a:solidFill>
            <a:ln>
              <a:noFill/>
            </a:ln>
          </p:spPr>
        </p:sp>
        <p:grpSp>
          <p:nvGrpSpPr>
            <p:cNvPr id="191" name="Group 191"/>
            <p:cNvGrpSpPr/>
            <p:nvPr/>
          </p:nvGrpSpPr>
          <p:grpSpPr>
            <a:xfrm>
              <a:off x="500062" y="4071937"/>
              <a:ext cx="150813" cy="142875"/>
              <a:chOff x="500062" y="4071937"/>
              <a:chExt cx="150813" cy="142875"/>
            </a:xfrm>
          </p:grpSpPr>
          <p:sp>
            <p:nvSpPr>
              <p:cNvPr id="186" name="Freeform 186"/>
              <p:cNvSpPr/>
              <p:nvPr/>
            </p:nvSpPr>
            <p:spPr>
              <a:xfrm>
                <a:off x="500062" y="4079875"/>
                <a:ext cx="87312" cy="87312"/>
              </a:xfrm>
              <a:custGeom>
                <a:avLst/>
                <a:gdLst/>
                <a:ahLst/>
                <a:cxnLst/>
                <a:rect l="l" t="t" r="r" b="b"/>
                <a:pathLst>
                  <a:path w="87312" h="87312">
                    <a:moveTo>
                      <a:pt x="23812" y="0"/>
                    </a:moveTo>
                    <a:lnTo>
                      <a:pt x="15875" y="0"/>
                    </a:lnTo>
                    <a:cubicBezTo>
                      <a:pt x="7107" y="0"/>
                      <a:pt x="0" y="7107"/>
                      <a:pt x="0" y="15875"/>
                    </a:cubicBezTo>
                    <a:lnTo>
                      <a:pt x="0" y="43656"/>
                    </a:lnTo>
                    <a:cubicBezTo>
                      <a:pt x="0" y="67767"/>
                      <a:pt x="19546" y="87312"/>
                      <a:pt x="43656" y="87312"/>
                    </a:cubicBezTo>
                    <a:cubicBezTo>
                      <a:pt x="67767" y="87312"/>
                      <a:pt x="87312" y="67767"/>
                      <a:pt x="87312" y="43656"/>
                    </a:cubicBezTo>
                    <a:lnTo>
                      <a:pt x="87312" y="15875"/>
                    </a:lnTo>
                    <a:cubicBezTo>
                      <a:pt x="87312" y="7107"/>
                      <a:pt x="80205" y="0"/>
                      <a:pt x="71437" y="0"/>
                    </a:cubicBezTo>
                    <a:lnTo>
                      <a:pt x="63500" y="0"/>
                    </a:lnTo>
                  </a:path>
                </a:pathLst>
              </a:custGeom>
              <a:noFill/>
              <a:ln w="15875">
                <a:solidFill>
                  <a:srgbClr val="FFFFFF"/>
                </a:solidFill>
              </a:ln>
            </p:spPr>
          </p:sp>
          <p:sp>
            <p:nvSpPr>
              <p:cNvPr id="187" name="Freeform 187"/>
              <p:cNvSpPr/>
              <p:nvPr/>
            </p:nvSpPr>
            <p:spPr>
              <a:xfrm>
                <a:off x="539750" y="4143375"/>
                <a:ext cx="95250" cy="71437"/>
              </a:xfrm>
              <a:custGeom>
                <a:avLst/>
                <a:gdLst/>
                <a:ahLst/>
                <a:cxnLst/>
                <a:rect l="l" t="t" r="r" b="b"/>
                <a:pathLst>
                  <a:path w="95250" h="71437">
                    <a:moveTo>
                      <a:pt x="0" y="23812"/>
                    </a:moveTo>
                    <a:cubicBezTo>
                      <a:pt x="0" y="50115"/>
                      <a:pt x="21322" y="71437"/>
                      <a:pt x="47625" y="71437"/>
                    </a:cubicBezTo>
                    <a:cubicBezTo>
                      <a:pt x="73928" y="71437"/>
                      <a:pt x="95250" y="50115"/>
                      <a:pt x="95250" y="23812"/>
                    </a:cubicBezTo>
                    <a:lnTo>
                      <a:pt x="95250" y="0"/>
                    </a:lnTo>
                  </a:path>
                </a:pathLst>
              </a:custGeom>
              <a:noFill/>
              <a:ln w="15875">
                <a:solidFill>
                  <a:srgbClr val="FFFFFF"/>
                </a:solidFill>
              </a:ln>
            </p:spPr>
          </p:sp>
          <p:sp>
            <p:nvSpPr>
              <p:cNvPr id="188" name="Freeform 188"/>
              <p:cNvSpPr/>
              <p:nvPr/>
            </p:nvSpPr>
            <p:spPr>
              <a:xfrm>
                <a:off x="563562" y="4071937"/>
                <a:ext cx="9525" cy="15875"/>
              </a:xfrm>
              <a:custGeom>
                <a:avLst/>
                <a:gdLst/>
                <a:ahLst/>
                <a:cxnLst/>
                <a:rect l="l" t="t" r="r" b="b"/>
                <a:pathLst>
                  <a:path w="9525" h="15875">
                    <a:moveTo>
                      <a:pt x="0" y="0"/>
                    </a:moveTo>
                    <a:lnTo>
                      <a:pt x="0" y="15875"/>
                    </a:lnTo>
                  </a:path>
                </a:pathLst>
              </a:custGeom>
              <a:noFill/>
              <a:ln w="15875">
                <a:solidFill>
                  <a:srgbClr val="FFFFFF"/>
                </a:solidFill>
              </a:ln>
            </p:spPr>
          </p:sp>
          <p:sp>
            <p:nvSpPr>
              <p:cNvPr id="189" name="Freeform 189"/>
              <p:cNvSpPr/>
              <p:nvPr/>
            </p:nvSpPr>
            <p:spPr>
              <a:xfrm>
                <a:off x="523875" y="4071937"/>
                <a:ext cx="9525" cy="15875"/>
              </a:xfrm>
              <a:custGeom>
                <a:avLst/>
                <a:gdLst/>
                <a:ahLst/>
                <a:cxnLst/>
                <a:rect l="l" t="t" r="r" b="b"/>
                <a:pathLst>
                  <a:path w="9525" h="15875">
                    <a:moveTo>
                      <a:pt x="0" y="0"/>
                    </a:moveTo>
                    <a:lnTo>
                      <a:pt x="0" y="15875"/>
                    </a:lnTo>
                  </a:path>
                </a:pathLst>
              </a:custGeom>
              <a:noFill/>
              <a:ln w="15875">
                <a:solidFill>
                  <a:srgbClr val="FFFFFF"/>
                </a:solidFill>
              </a:ln>
            </p:spPr>
          </p:sp>
          <p:sp>
            <p:nvSpPr>
              <p:cNvPr id="190" name="Freeform 190"/>
              <p:cNvSpPr/>
              <p:nvPr/>
            </p:nvSpPr>
            <p:spPr>
              <a:xfrm>
                <a:off x="619125" y="411162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grpSp>
        <p:sp>
          <p:nvSpPr>
            <p:cNvPr id="192" name="TextBox 192"/>
            <p:cNvSpPr txBox="1"/>
            <p:nvPr/>
          </p:nvSpPr>
          <p:spPr>
            <a:xfrm>
              <a:off x="719138" y="408979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医药健康</a:t>
              </a:r>
            </a:p>
          </p:txBody>
        </p:sp>
        <p:sp>
          <p:nvSpPr>
            <p:cNvPr id="193" name="TextBox 193"/>
            <p:cNvSpPr txBox="1"/>
            <p:nvPr/>
          </p:nvSpPr>
          <p:spPr>
            <a:xfrm>
              <a:off x="1822882" y="41140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新药与器械研发</a:t>
              </a:r>
            </a:p>
          </p:txBody>
        </p:sp>
        <p:sp>
          <p:nvSpPr>
            <p:cNvPr id="194" name="TextBox 194"/>
            <p:cNvSpPr txBox="1"/>
            <p:nvPr/>
          </p:nvSpPr>
          <p:spPr>
            <a:xfrm>
              <a:off x="2870632" y="41140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智能化生产制造</a:t>
              </a:r>
            </a:p>
          </p:txBody>
        </p:sp>
        <p:sp>
          <p:nvSpPr>
            <p:cNvPr id="195" name="TextBox 195"/>
            <p:cNvSpPr txBox="1"/>
            <p:nvPr/>
          </p:nvSpPr>
          <p:spPr>
            <a:xfrm>
              <a:off x="3956647" y="41140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药品质量检测</a:t>
              </a:r>
            </a:p>
          </p:txBody>
        </p:sp>
        <p:sp>
          <p:nvSpPr>
            <p:cNvPr id="196" name="TextBox 196"/>
            <p:cNvSpPr txBox="1"/>
            <p:nvPr/>
          </p:nvSpPr>
          <p:spPr>
            <a:xfrm>
              <a:off x="5004397" y="41140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医疗设备运维</a:t>
              </a:r>
            </a:p>
          </p:txBody>
        </p:sp>
        <p:sp>
          <p:nvSpPr>
            <p:cNvPr id="197" name="TextBox 197"/>
            <p:cNvSpPr txBox="1"/>
            <p:nvPr/>
          </p:nvSpPr>
          <p:spPr>
            <a:xfrm>
              <a:off x="6052147" y="411408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医疗安全管理</a:t>
              </a:r>
            </a:p>
          </p:txBody>
        </p:sp>
        <p:sp>
          <p:nvSpPr>
            <p:cNvPr id="198" name="TextBox 198"/>
            <p:cNvSpPr txBox="1"/>
            <p:nvPr/>
          </p:nvSpPr>
          <p:spPr>
            <a:xfrm>
              <a:off x="7042582" y="41140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资源与诊疗调度</a:t>
              </a:r>
            </a:p>
          </p:txBody>
        </p:sp>
        <p:sp>
          <p:nvSpPr>
            <p:cNvPr id="199" name="TextBox 199"/>
            <p:cNvSpPr txBox="1"/>
            <p:nvPr/>
          </p:nvSpPr>
          <p:spPr>
            <a:xfrm>
              <a:off x="7994752" y="4114086"/>
              <a:ext cx="869747"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患者服务与健康管理</a:t>
              </a:r>
            </a:p>
          </p:txBody>
        </p:sp>
        <p:sp>
          <p:nvSpPr>
            <p:cNvPr id="200" name="Line 200"/>
            <p:cNvSpPr/>
            <p:nvPr/>
          </p:nvSpPr>
          <p:spPr>
            <a:xfrm>
              <a:off x="2686050" y="4048125"/>
              <a:ext cx="9525" cy="190500"/>
            </a:xfrm>
            <a:custGeom>
              <a:avLst/>
              <a:gdLst/>
              <a:ahLst/>
              <a:cxnLst/>
              <a:rect l="l" t="t" r="r" b="b"/>
              <a:pathLst>
                <a:path w="9525" h="190500">
                  <a:moveTo>
                    <a:pt x="0" y="0"/>
                  </a:moveTo>
                  <a:lnTo>
                    <a:pt x="0" y="190500"/>
                  </a:lnTo>
                </a:path>
              </a:pathLst>
            </a:custGeom>
            <a:noFill/>
            <a:ln w="6668">
              <a:solidFill>
                <a:srgbClr val="B0442F">
                  <a:alpha val="40000"/>
                </a:srgbClr>
              </a:solidFill>
            </a:ln>
          </p:spPr>
        </p:sp>
        <p:sp>
          <p:nvSpPr>
            <p:cNvPr id="201" name="Line 201"/>
            <p:cNvSpPr/>
            <p:nvPr/>
          </p:nvSpPr>
          <p:spPr>
            <a:xfrm>
              <a:off x="3733800" y="4048125"/>
              <a:ext cx="9525" cy="190500"/>
            </a:xfrm>
            <a:custGeom>
              <a:avLst/>
              <a:gdLst/>
              <a:ahLst/>
              <a:cxnLst/>
              <a:rect l="l" t="t" r="r" b="b"/>
              <a:pathLst>
                <a:path w="9525" h="190500">
                  <a:moveTo>
                    <a:pt x="0" y="0"/>
                  </a:moveTo>
                  <a:lnTo>
                    <a:pt x="0" y="190500"/>
                  </a:lnTo>
                </a:path>
              </a:pathLst>
            </a:custGeom>
            <a:noFill/>
            <a:ln w="6668">
              <a:solidFill>
                <a:srgbClr val="B0442F">
                  <a:alpha val="40000"/>
                </a:srgbClr>
              </a:solidFill>
            </a:ln>
          </p:spPr>
        </p:sp>
        <p:sp>
          <p:nvSpPr>
            <p:cNvPr id="202" name="Line 202"/>
            <p:cNvSpPr/>
            <p:nvPr/>
          </p:nvSpPr>
          <p:spPr>
            <a:xfrm>
              <a:off x="4772025" y="4048125"/>
              <a:ext cx="9525" cy="190500"/>
            </a:xfrm>
            <a:custGeom>
              <a:avLst/>
              <a:gdLst/>
              <a:ahLst/>
              <a:cxnLst/>
              <a:rect l="l" t="t" r="r" b="b"/>
              <a:pathLst>
                <a:path w="9525" h="190500">
                  <a:moveTo>
                    <a:pt x="0" y="0"/>
                  </a:moveTo>
                  <a:lnTo>
                    <a:pt x="0" y="190500"/>
                  </a:lnTo>
                </a:path>
              </a:pathLst>
            </a:custGeom>
            <a:noFill/>
            <a:ln w="6668">
              <a:solidFill>
                <a:srgbClr val="B0442F">
                  <a:alpha val="40000"/>
                </a:srgbClr>
              </a:solidFill>
            </a:ln>
          </p:spPr>
        </p:sp>
        <p:sp>
          <p:nvSpPr>
            <p:cNvPr id="203" name="Line 203"/>
            <p:cNvSpPr/>
            <p:nvPr/>
          </p:nvSpPr>
          <p:spPr>
            <a:xfrm>
              <a:off x="5819775" y="4048125"/>
              <a:ext cx="9525" cy="190500"/>
            </a:xfrm>
            <a:custGeom>
              <a:avLst/>
              <a:gdLst/>
              <a:ahLst/>
              <a:cxnLst/>
              <a:rect l="l" t="t" r="r" b="b"/>
              <a:pathLst>
                <a:path w="9525" h="190500">
                  <a:moveTo>
                    <a:pt x="0" y="0"/>
                  </a:moveTo>
                  <a:lnTo>
                    <a:pt x="0" y="190500"/>
                  </a:lnTo>
                </a:path>
              </a:pathLst>
            </a:custGeom>
            <a:noFill/>
            <a:ln w="6668">
              <a:solidFill>
                <a:srgbClr val="B0442F">
                  <a:alpha val="40000"/>
                </a:srgbClr>
              </a:solidFill>
            </a:ln>
          </p:spPr>
        </p:sp>
        <p:sp>
          <p:nvSpPr>
            <p:cNvPr id="204" name="Line 204"/>
            <p:cNvSpPr/>
            <p:nvPr/>
          </p:nvSpPr>
          <p:spPr>
            <a:xfrm>
              <a:off x="6858000" y="4048125"/>
              <a:ext cx="9525" cy="190500"/>
            </a:xfrm>
            <a:custGeom>
              <a:avLst/>
              <a:gdLst/>
              <a:ahLst/>
              <a:cxnLst/>
              <a:rect l="l" t="t" r="r" b="b"/>
              <a:pathLst>
                <a:path w="9525" h="190500">
                  <a:moveTo>
                    <a:pt x="0" y="0"/>
                  </a:moveTo>
                  <a:lnTo>
                    <a:pt x="0" y="190500"/>
                  </a:lnTo>
                </a:path>
              </a:pathLst>
            </a:custGeom>
            <a:noFill/>
            <a:ln w="6668">
              <a:solidFill>
                <a:srgbClr val="B0442F">
                  <a:alpha val="40000"/>
                </a:srgbClr>
              </a:solidFill>
            </a:ln>
          </p:spPr>
        </p:sp>
        <p:sp>
          <p:nvSpPr>
            <p:cNvPr id="205" name="Line 205"/>
            <p:cNvSpPr/>
            <p:nvPr/>
          </p:nvSpPr>
          <p:spPr>
            <a:xfrm>
              <a:off x="7905750" y="4048125"/>
              <a:ext cx="9525" cy="190500"/>
            </a:xfrm>
            <a:custGeom>
              <a:avLst/>
              <a:gdLst/>
              <a:ahLst/>
              <a:cxnLst/>
              <a:rect l="l" t="t" r="r" b="b"/>
              <a:pathLst>
                <a:path w="9525" h="190500">
                  <a:moveTo>
                    <a:pt x="0" y="0"/>
                  </a:moveTo>
                  <a:lnTo>
                    <a:pt x="0" y="190500"/>
                  </a:lnTo>
                </a:path>
              </a:pathLst>
            </a:custGeom>
            <a:noFill/>
            <a:ln w="6668">
              <a:solidFill>
                <a:srgbClr val="B0442F">
                  <a:alpha val="40000"/>
                </a:srgbClr>
              </a:solidFill>
            </a:ln>
          </p:spPr>
        </p:sp>
        <p:sp>
          <p:nvSpPr>
            <p:cNvPr id="206" name="Freeform 206"/>
            <p:cNvSpPr/>
            <p:nvPr/>
          </p:nvSpPr>
          <p:spPr>
            <a:xfrm>
              <a:off x="9010650" y="3952875"/>
              <a:ext cx="990600" cy="381000"/>
            </a:xfrm>
            <a:prstGeom prst="homePlate">
              <a:avLst>
                <a:gd name="adj" fmla="val 30000"/>
              </a:avLst>
            </a:prstGeom>
            <a:solidFill>
              <a:srgbClr val="B0442F"/>
            </a:solidFill>
            <a:ln>
              <a:noFill/>
            </a:ln>
          </p:spPr>
        </p:sp>
        <p:sp>
          <p:nvSpPr>
            <p:cNvPr id="207" name="TextBox 207"/>
            <p:cNvSpPr txBox="1"/>
            <p:nvPr/>
          </p:nvSpPr>
          <p:spPr>
            <a:xfrm>
              <a:off x="9179242" y="403383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守护生命健康</a:t>
              </a:r>
            </a:p>
          </p:txBody>
        </p:sp>
        <p:sp>
          <p:nvSpPr>
            <p:cNvPr id="208" name="TextBox 208"/>
            <p:cNvSpPr txBox="1"/>
            <p:nvPr/>
          </p:nvSpPr>
          <p:spPr>
            <a:xfrm>
              <a:off x="9179242" y="4176712"/>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促进普惠可及</a:t>
              </a:r>
            </a:p>
          </p:txBody>
        </p:sp>
      </p:grpSp>
      <p:grpSp>
        <p:nvGrpSpPr>
          <p:cNvPr id="233" name="row-ind-7"/>
          <p:cNvGrpSpPr/>
          <p:nvPr/>
        </p:nvGrpSpPr>
        <p:grpSpPr>
          <a:xfrm>
            <a:off x="381000" y="4429125"/>
            <a:ext cx="9620250" cy="381000"/>
            <a:chOff x="381000" y="4429125"/>
            <a:chExt cx="9620250" cy="381000"/>
          </a:xfrm>
        </p:grpSpPr>
        <p:sp>
          <p:nvSpPr>
            <p:cNvPr id="210" name="Rectangle 210"/>
            <p:cNvSpPr/>
            <p:nvPr/>
          </p:nvSpPr>
          <p:spPr>
            <a:xfrm>
              <a:off x="381000" y="4429125"/>
              <a:ext cx="8629650" cy="381000"/>
            </a:xfrm>
            <a:prstGeom prst="roundRect">
              <a:avLst>
                <a:gd name="adj" fmla="val 50000"/>
              </a:avLst>
            </a:prstGeom>
            <a:solidFill>
              <a:srgbClr val="B3685A">
                <a:alpha val="14000"/>
              </a:srgbClr>
            </a:solidFill>
            <a:ln>
              <a:noFill/>
            </a:ln>
          </p:spPr>
        </p:sp>
        <p:sp>
          <p:nvSpPr>
            <p:cNvPr id="211" name="Rectangle 211"/>
            <p:cNvSpPr/>
            <p:nvPr/>
          </p:nvSpPr>
          <p:spPr>
            <a:xfrm>
              <a:off x="381000" y="4429125"/>
              <a:ext cx="1238250" cy="381000"/>
            </a:xfrm>
            <a:prstGeom prst="roundRect">
              <a:avLst>
                <a:gd name="adj" fmla="val 50000"/>
              </a:avLst>
            </a:prstGeom>
            <a:solidFill>
              <a:srgbClr val="B3685A"/>
            </a:solidFill>
            <a:ln>
              <a:noFill/>
            </a:ln>
          </p:spPr>
        </p:sp>
        <p:grpSp>
          <p:nvGrpSpPr>
            <p:cNvPr id="215" name="Group 215"/>
            <p:cNvGrpSpPr/>
            <p:nvPr/>
          </p:nvGrpSpPr>
          <p:grpSpPr>
            <a:xfrm>
              <a:off x="500062" y="4556125"/>
              <a:ext cx="142875" cy="127000"/>
              <a:chOff x="500062" y="4556125"/>
              <a:chExt cx="142875" cy="127000"/>
            </a:xfrm>
          </p:grpSpPr>
          <p:sp>
            <p:nvSpPr>
              <p:cNvPr id="212" name="Freeform 212"/>
              <p:cNvSpPr/>
              <p:nvPr/>
            </p:nvSpPr>
            <p:spPr>
              <a:xfrm>
                <a:off x="500062" y="4556125"/>
                <a:ext cx="71437" cy="63500"/>
              </a:xfrm>
              <a:custGeom>
                <a:avLst/>
                <a:gdLst/>
                <a:ahLst/>
                <a:cxnLst/>
                <a:rect l="l" t="t" r="r" b="b"/>
                <a:pathLst>
                  <a:path w="71437" h="63500">
                    <a:moveTo>
                      <a:pt x="71437" y="47625"/>
                    </a:moveTo>
                    <a:cubicBezTo>
                      <a:pt x="71437" y="21322"/>
                      <a:pt x="50115" y="0"/>
                      <a:pt x="23812" y="0"/>
                    </a:cubicBezTo>
                    <a:lnTo>
                      <a:pt x="0" y="0"/>
                    </a:lnTo>
                    <a:lnTo>
                      <a:pt x="0" y="15875"/>
                    </a:lnTo>
                    <a:cubicBezTo>
                      <a:pt x="0" y="42178"/>
                      <a:pt x="21322" y="63500"/>
                      <a:pt x="47625" y="63500"/>
                    </a:cubicBezTo>
                    <a:lnTo>
                      <a:pt x="71437" y="63500"/>
                    </a:lnTo>
                  </a:path>
                </a:pathLst>
              </a:custGeom>
              <a:noFill/>
              <a:ln w="15875">
                <a:solidFill>
                  <a:srgbClr val="FFFFFF"/>
                </a:solidFill>
              </a:ln>
            </p:spPr>
          </p:sp>
          <p:sp>
            <p:nvSpPr>
              <p:cNvPr id="213" name="Freeform 213"/>
              <p:cNvSpPr/>
              <p:nvPr/>
            </p:nvSpPr>
            <p:spPr>
              <a:xfrm>
                <a:off x="571500" y="4587875"/>
                <a:ext cx="71437" cy="55562"/>
              </a:xfrm>
              <a:custGeom>
                <a:avLst/>
                <a:gdLst/>
                <a:ahLst/>
                <a:cxnLst/>
                <a:rect l="l" t="t" r="r" b="b"/>
                <a:pathLst>
                  <a:path w="71437" h="55562">
                    <a:moveTo>
                      <a:pt x="0" y="47625"/>
                    </a:moveTo>
                    <a:cubicBezTo>
                      <a:pt x="0" y="21322"/>
                      <a:pt x="21322" y="0"/>
                      <a:pt x="47625" y="0"/>
                    </a:cubicBezTo>
                    <a:lnTo>
                      <a:pt x="71437" y="0"/>
                    </a:lnTo>
                    <a:lnTo>
                      <a:pt x="71437" y="7937"/>
                    </a:lnTo>
                    <a:cubicBezTo>
                      <a:pt x="71437" y="34240"/>
                      <a:pt x="50115" y="55562"/>
                      <a:pt x="23812" y="55562"/>
                    </a:cubicBezTo>
                    <a:lnTo>
                      <a:pt x="0" y="55562"/>
                    </a:lnTo>
                  </a:path>
                </a:pathLst>
              </a:custGeom>
              <a:noFill/>
              <a:ln w="15875">
                <a:solidFill>
                  <a:srgbClr val="FFFFFF"/>
                </a:solidFill>
              </a:ln>
            </p:spPr>
          </p:sp>
          <p:sp>
            <p:nvSpPr>
              <p:cNvPr id="214" name="Freeform 214"/>
              <p:cNvSpPr/>
              <p:nvPr/>
            </p:nvSpPr>
            <p:spPr>
              <a:xfrm>
                <a:off x="571500" y="4603750"/>
                <a:ext cx="9525" cy="79375"/>
              </a:xfrm>
              <a:custGeom>
                <a:avLst/>
                <a:gdLst/>
                <a:ahLst/>
                <a:cxnLst/>
                <a:rect l="l" t="t" r="r" b="b"/>
                <a:pathLst>
                  <a:path w="9525" h="79375">
                    <a:moveTo>
                      <a:pt x="0" y="79375"/>
                    </a:moveTo>
                    <a:lnTo>
                      <a:pt x="0" y="0"/>
                    </a:lnTo>
                  </a:path>
                </a:pathLst>
              </a:custGeom>
              <a:noFill/>
              <a:ln w="15875">
                <a:solidFill>
                  <a:srgbClr val="FFFFFF"/>
                </a:solidFill>
              </a:ln>
            </p:spPr>
          </p:sp>
        </p:grpSp>
        <p:sp>
          <p:nvSpPr>
            <p:cNvPr id="216" name="TextBox 216"/>
            <p:cNvSpPr txBox="1"/>
            <p:nvPr/>
          </p:nvSpPr>
          <p:spPr>
            <a:xfrm>
              <a:off x="719138" y="456604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农业食品</a:t>
              </a:r>
            </a:p>
          </p:txBody>
        </p:sp>
        <p:sp>
          <p:nvSpPr>
            <p:cNvPr id="217" name="TextBox 217"/>
            <p:cNvSpPr txBox="1"/>
            <p:nvPr/>
          </p:nvSpPr>
          <p:spPr>
            <a:xfrm>
              <a:off x="1822882" y="459033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品种与种植设计</a:t>
              </a:r>
            </a:p>
          </p:txBody>
        </p:sp>
        <p:sp>
          <p:nvSpPr>
            <p:cNvPr id="218" name="TextBox 218"/>
            <p:cNvSpPr txBox="1"/>
            <p:nvPr/>
          </p:nvSpPr>
          <p:spPr>
            <a:xfrm>
              <a:off x="2870632" y="459033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智能化种养生产</a:t>
              </a:r>
            </a:p>
          </p:txBody>
        </p:sp>
        <p:sp>
          <p:nvSpPr>
            <p:cNvPr id="219" name="TextBox 219"/>
            <p:cNvSpPr txBox="1"/>
            <p:nvPr/>
          </p:nvSpPr>
          <p:spPr>
            <a:xfrm>
              <a:off x="3908857" y="459033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农产品质量检测</a:t>
              </a:r>
            </a:p>
          </p:txBody>
        </p:sp>
        <p:sp>
          <p:nvSpPr>
            <p:cNvPr id="220" name="TextBox 220"/>
            <p:cNvSpPr txBox="1"/>
            <p:nvPr/>
          </p:nvSpPr>
          <p:spPr>
            <a:xfrm>
              <a:off x="5004397" y="4590336"/>
              <a:ext cx="58300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农业设备运维</a:t>
              </a:r>
            </a:p>
          </p:txBody>
        </p:sp>
        <p:sp>
          <p:nvSpPr>
            <p:cNvPr id="221" name="TextBox 221"/>
            <p:cNvSpPr txBox="1"/>
            <p:nvPr/>
          </p:nvSpPr>
          <p:spPr>
            <a:xfrm>
              <a:off x="5908777" y="4590336"/>
              <a:ext cx="869747"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生物安全与食品安全</a:t>
              </a:r>
            </a:p>
          </p:txBody>
        </p:sp>
        <p:sp>
          <p:nvSpPr>
            <p:cNvPr id="222" name="TextBox 222"/>
            <p:cNvSpPr txBox="1"/>
            <p:nvPr/>
          </p:nvSpPr>
          <p:spPr>
            <a:xfrm>
              <a:off x="7042582" y="459033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产销与物流调度</a:t>
              </a:r>
            </a:p>
          </p:txBody>
        </p:sp>
        <p:sp>
          <p:nvSpPr>
            <p:cNvPr id="223" name="TextBox 223"/>
            <p:cNvSpPr txBox="1"/>
            <p:nvPr/>
          </p:nvSpPr>
          <p:spPr>
            <a:xfrm>
              <a:off x="8185912" y="4590336"/>
              <a:ext cx="48742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消费者服务</a:t>
              </a:r>
            </a:p>
          </p:txBody>
        </p:sp>
        <p:sp>
          <p:nvSpPr>
            <p:cNvPr id="224" name="Line 224"/>
            <p:cNvSpPr/>
            <p:nvPr/>
          </p:nvSpPr>
          <p:spPr>
            <a:xfrm>
              <a:off x="2686050" y="4524375"/>
              <a:ext cx="9525" cy="190500"/>
            </a:xfrm>
            <a:custGeom>
              <a:avLst/>
              <a:gdLst/>
              <a:ahLst/>
              <a:cxnLst/>
              <a:rect l="l" t="t" r="r" b="b"/>
              <a:pathLst>
                <a:path w="9525" h="190500">
                  <a:moveTo>
                    <a:pt x="0" y="0"/>
                  </a:moveTo>
                  <a:lnTo>
                    <a:pt x="0" y="190500"/>
                  </a:lnTo>
                </a:path>
              </a:pathLst>
            </a:custGeom>
            <a:noFill/>
            <a:ln w="6668">
              <a:solidFill>
                <a:srgbClr val="B3685A">
                  <a:alpha val="40000"/>
                </a:srgbClr>
              </a:solidFill>
            </a:ln>
          </p:spPr>
        </p:sp>
        <p:sp>
          <p:nvSpPr>
            <p:cNvPr id="225" name="Line 225"/>
            <p:cNvSpPr/>
            <p:nvPr/>
          </p:nvSpPr>
          <p:spPr>
            <a:xfrm>
              <a:off x="3733800" y="4524375"/>
              <a:ext cx="9525" cy="190500"/>
            </a:xfrm>
            <a:custGeom>
              <a:avLst/>
              <a:gdLst/>
              <a:ahLst/>
              <a:cxnLst/>
              <a:rect l="l" t="t" r="r" b="b"/>
              <a:pathLst>
                <a:path w="9525" h="190500">
                  <a:moveTo>
                    <a:pt x="0" y="0"/>
                  </a:moveTo>
                  <a:lnTo>
                    <a:pt x="0" y="190500"/>
                  </a:lnTo>
                </a:path>
              </a:pathLst>
            </a:custGeom>
            <a:noFill/>
            <a:ln w="6668">
              <a:solidFill>
                <a:srgbClr val="B3685A">
                  <a:alpha val="40000"/>
                </a:srgbClr>
              </a:solidFill>
            </a:ln>
          </p:spPr>
        </p:sp>
        <p:sp>
          <p:nvSpPr>
            <p:cNvPr id="226" name="Line 226"/>
            <p:cNvSpPr/>
            <p:nvPr/>
          </p:nvSpPr>
          <p:spPr>
            <a:xfrm>
              <a:off x="4772025" y="4524375"/>
              <a:ext cx="9525" cy="190500"/>
            </a:xfrm>
            <a:custGeom>
              <a:avLst/>
              <a:gdLst/>
              <a:ahLst/>
              <a:cxnLst/>
              <a:rect l="l" t="t" r="r" b="b"/>
              <a:pathLst>
                <a:path w="9525" h="190500">
                  <a:moveTo>
                    <a:pt x="0" y="0"/>
                  </a:moveTo>
                  <a:lnTo>
                    <a:pt x="0" y="190500"/>
                  </a:lnTo>
                </a:path>
              </a:pathLst>
            </a:custGeom>
            <a:noFill/>
            <a:ln w="6668">
              <a:solidFill>
                <a:srgbClr val="B3685A">
                  <a:alpha val="40000"/>
                </a:srgbClr>
              </a:solidFill>
            </a:ln>
          </p:spPr>
        </p:sp>
        <p:sp>
          <p:nvSpPr>
            <p:cNvPr id="227" name="Line 227"/>
            <p:cNvSpPr/>
            <p:nvPr/>
          </p:nvSpPr>
          <p:spPr>
            <a:xfrm>
              <a:off x="5819775" y="4524375"/>
              <a:ext cx="9525" cy="190500"/>
            </a:xfrm>
            <a:custGeom>
              <a:avLst/>
              <a:gdLst/>
              <a:ahLst/>
              <a:cxnLst/>
              <a:rect l="l" t="t" r="r" b="b"/>
              <a:pathLst>
                <a:path w="9525" h="190500">
                  <a:moveTo>
                    <a:pt x="0" y="0"/>
                  </a:moveTo>
                  <a:lnTo>
                    <a:pt x="0" y="190500"/>
                  </a:lnTo>
                </a:path>
              </a:pathLst>
            </a:custGeom>
            <a:noFill/>
            <a:ln w="6668">
              <a:solidFill>
                <a:srgbClr val="B3685A">
                  <a:alpha val="40000"/>
                </a:srgbClr>
              </a:solidFill>
            </a:ln>
          </p:spPr>
        </p:sp>
        <p:sp>
          <p:nvSpPr>
            <p:cNvPr id="228" name="Line 228"/>
            <p:cNvSpPr/>
            <p:nvPr/>
          </p:nvSpPr>
          <p:spPr>
            <a:xfrm>
              <a:off x="6858000" y="4524375"/>
              <a:ext cx="9525" cy="190500"/>
            </a:xfrm>
            <a:custGeom>
              <a:avLst/>
              <a:gdLst/>
              <a:ahLst/>
              <a:cxnLst/>
              <a:rect l="l" t="t" r="r" b="b"/>
              <a:pathLst>
                <a:path w="9525" h="190500">
                  <a:moveTo>
                    <a:pt x="0" y="0"/>
                  </a:moveTo>
                  <a:lnTo>
                    <a:pt x="0" y="190500"/>
                  </a:lnTo>
                </a:path>
              </a:pathLst>
            </a:custGeom>
            <a:noFill/>
            <a:ln w="6668">
              <a:solidFill>
                <a:srgbClr val="B3685A">
                  <a:alpha val="40000"/>
                </a:srgbClr>
              </a:solidFill>
            </a:ln>
          </p:spPr>
        </p:sp>
        <p:sp>
          <p:nvSpPr>
            <p:cNvPr id="229" name="Line 229"/>
            <p:cNvSpPr/>
            <p:nvPr/>
          </p:nvSpPr>
          <p:spPr>
            <a:xfrm>
              <a:off x="7905750" y="4524375"/>
              <a:ext cx="9525" cy="190500"/>
            </a:xfrm>
            <a:custGeom>
              <a:avLst/>
              <a:gdLst/>
              <a:ahLst/>
              <a:cxnLst/>
              <a:rect l="l" t="t" r="r" b="b"/>
              <a:pathLst>
                <a:path w="9525" h="190500">
                  <a:moveTo>
                    <a:pt x="0" y="0"/>
                  </a:moveTo>
                  <a:lnTo>
                    <a:pt x="0" y="190500"/>
                  </a:lnTo>
                </a:path>
              </a:pathLst>
            </a:custGeom>
            <a:noFill/>
            <a:ln w="6668">
              <a:solidFill>
                <a:srgbClr val="B3685A">
                  <a:alpha val="40000"/>
                </a:srgbClr>
              </a:solidFill>
            </a:ln>
          </p:spPr>
        </p:sp>
        <p:sp>
          <p:nvSpPr>
            <p:cNvPr id="230" name="Freeform 230"/>
            <p:cNvSpPr/>
            <p:nvPr/>
          </p:nvSpPr>
          <p:spPr>
            <a:xfrm>
              <a:off x="9010650" y="4429125"/>
              <a:ext cx="990600" cy="381000"/>
            </a:xfrm>
            <a:prstGeom prst="homePlate">
              <a:avLst>
                <a:gd name="adj" fmla="val 30000"/>
              </a:avLst>
            </a:prstGeom>
            <a:solidFill>
              <a:srgbClr val="B3685A"/>
            </a:solidFill>
            <a:ln>
              <a:noFill/>
            </a:ln>
          </p:spPr>
        </p:sp>
        <p:sp>
          <p:nvSpPr>
            <p:cNvPr id="231" name="TextBox 231"/>
            <p:cNvSpPr txBox="1"/>
            <p:nvPr/>
          </p:nvSpPr>
          <p:spPr>
            <a:xfrm>
              <a:off x="9179242" y="451008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保障粮食安全</a:t>
              </a:r>
            </a:p>
          </p:txBody>
        </p:sp>
        <p:sp>
          <p:nvSpPr>
            <p:cNvPr id="232" name="TextBox 232"/>
            <p:cNvSpPr txBox="1"/>
            <p:nvPr/>
          </p:nvSpPr>
          <p:spPr>
            <a:xfrm>
              <a:off x="9179242" y="4652962"/>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促进乡村振兴</a:t>
              </a:r>
            </a:p>
          </p:txBody>
        </p:sp>
      </p:grpSp>
      <p:grpSp>
        <p:nvGrpSpPr>
          <p:cNvPr id="259" name="row-ind-8"/>
          <p:cNvGrpSpPr/>
          <p:nvPr/>
        </p:nvGrpSpPr>
        <p:grpSpPr>
          <a:xfrm>
            <a:off x="381000" y="4905375"/>
            <a:ext cx="9620250" cy="381000"/>
            <a:chOff x="381000" y="4905375"/>
            <a:chExt cx="9620250" cy="381000"/>
          </a:xfrm>
        </p:grpSpPr>
        <p:sp>
          <p:nvSpPr>
            <p:cNvPr id="234" name="Rectangle 234"/>
            <p:cNvSpPr/>
            <p:nvPr/>
          </p:nvSpPr>
          <p:spPr>
            <a:xfrm>
              <a:off x="381000" y="4905375"/>
              <a:ext cx="8629650" cy="381000"/>
            </a:xfrm>
            <a:prstGeom prst="roundRect">
              <a:avLst>
                <a:gd name="adj" fmla="val 50000"/>
              </a:avLst>
            </a:prstGeom>
            <a:solidFill>
              <a:srgbClr val="9E4D3E">
                <a:alpha val="14000"/>
              </a:srgbClr>
            </a:solidFill>
            <a:ln>
              <a:noFill/>
            </a:ln>
          </p:spPr>
        </p:sp>
        <p:sp>
          <p:nvSpPr>
            <p:cNvPr id="235" name="Rectangle 235"/>
            <p:cNvSpPr/>
            <p:nvPr/>
          </p:nvSpPr>
          <p:spPr>
            <a:xfrm>
              <a:off x="381000" y="4905375"/>
              <a:ext cx="1238250" cy="381000"/>
            </a:xfrm>
            <a:prstGeom prst="roundRect">
              <a:avLst>
                <a:gd name="adj" fmla="val 50000"/>
              </a:avLst>
            </a:prstGeom>
            <a:solidFill>
              <a:srgbClr val="9E4D3E"/>
            </a:solidFill>
            <a:ln>
              <a:noFill/>
            </a:ln>
          </p:spPr>
        </p:sp>
        <p:grpSp>
          <p:nvGrpSpPr>
            <p:cNvPr id="241" name="Group 241"/>
            <p:cNvGrpSpPr/>
            <p:nvPr/>
          </p:nvGrpSpPr>
          <p:grpSpPr>
            <a:xfrm>
              <a:off x="500062" y="5024437"/>
              <a:ext cx="142875" cy="142875"/>
              <a:chOff x="500062" y="5024437"/>
              <a:chExt cx="142875" cy="142875"/>
            </a:xfrm>
          </p:grpSpPr>
          <p:sp>
            <p:nvSpPr>
              <p:cNvPr id="236" name="Freeform 236"/>
              <p:cNvSpPr/>
              <p:nvPr/>
            </p:nvSpPr>
            <p:spPr>
              <a:xfrm>
                <a:off x="500062" y="5024437"/>
                <a:ext cx="142875" cy="142875"/>
              </a:xfrm>
              <a:custGeom>
                <a:avLst/>
                <a:gdLst/>
                <a:ahLst/>
                <a:cxnLst/>
                <a:rect l="l" t="t" r="r" b="b"/>
                <a:pathLst>
                  <a:path w="142875" h="142875">
                    <a:moveTo>
                      <a:pt x="39687" y="47625"/>
                    </a:moveTo>
                    <a:lnTo>
                      <a:pt x="79375" y="87312"/>
                    </a:lnTo>
                    <a:lnTo>
                      <a:pt x="79375" y="142875"/>
                    </a:lnTo>
                    <a:lnTo>
                      <a:pt x="39687" y="142875"/>
                    </a:lnTo>
                    <a:lnTo>
                      <a:pt x="39687" y="111125"/>
                    </a:lnTo>
                    <a:moveTo>
                      <a:pt x="39687" y="142875"/>
                    </a:moveTo>
                    <a:lnTo>
                      <a:pt x="0" y="142875"/>
                    </a:lnTo>
                    <a:lnTo>
                      <a:pt x="0" y="87312"/>
                    </a:lnTo>
                    <a:lnTo>
                      <a:pt x="39687" y="47625"/>
                    </a:lnTo>
                    <a:moveTo>
                      <a:pt x="47625" y="55562"/>
                    </a:moveTo>
                    <a:lnTo>
                      <a:pt x="47625" y="7937"/>
                    </a:lnTo>
                    <a:cubicBezTo>
                      <a:pt x="47625" y="3554"/>
                      <a:pt x="51179" y="0"/>
                      <a:pt x="55562" y="0"/>
                    </a:cubicBezTo>
                    <a:lnTo>
                      <a:pt x="134937" y="0"/>
                    </a:lnTo>
                    <a:cubicBezTo>
                      <a:pt x="139321" y="0"/>
                      <a:pt x="142875" y="3554"/>
                      <a:pt x="142875" y="7937"/>
                    </a:cubicBezTo>
                    <a:lnTo>
                      <a:pt x="142875" y="142875"/>
                    </a:lnTo>
                    <a:lnTo>
                      <a:pt x="79375" y="142875"/>
                    </a:lnTo>
                  </a:path>
                </a:pathLst>
              </a:custGeom>
              <a:noFill/>
              <a:ln w="15875">
                <a:solidFill>
                  <a:srgbClr val="FFFFFF"/>
                </a:solidFill>
              </a:ln>
            </p:spPr>
          </p:sp>
          <p:sp>
            <p:nvSpPr>
              <p:cNvPr id="237" name="Freeform 237"/>
              <p:cNvSpPr/>
              <p:nvPr/>
            </p:nvSpPr>
            <p:spPr>
              <a:xfrm>
                <a:off x="579437" y="5056187"/>
                <a:ext cx="9525" cy="9525"/>
              </a:xfrm>
              <a:custGeom>
                <a:avLst/>
                <a:gdLst/>
                <a:ahLst/>
                <a:cxnLst/>
                <a:rect l="l" t="t" r="r" b="b"/>
                <a:pathLst>
                  <a:path w="9525" h="9525">
                    <a:moveTo>
                      <a:pt x="0" y="0"/>
                    </a:moveTo>
                    <a:lnTo>
                      <a:pt x="0" y="79"/>
                    </a:lnTo>
                  </a:path>
                </a:pathLst>
              </a:custGeom>
              <a:noFill/>
              <a:ln w="15875">
                <a:solidFill>
                  <a:srgbClr val="FFFFFF"/>
                </a:solidFill>
              </a:ln>
            </p:spPr>
          </p:sp>
          <p:sp>
            <p:nvSpPr>
              <p:cNvPr id="238" name="Freeform 238"/>
              <p:cNvSpPr/>
              <p:nvPr/>
            </p:nvSpPr>
            <p:spPr>
              <a:xfrm>
                <a:off x="611187" y="5056187"/>
                <a:ext cx="9525" cy="9525"/>
              </a:xfrm>
              <a:custGeom>
                <a:avLst/>
                <a:gdLst/>
                <a:ahLst/>
                <a:cxnLst/>
                <a:rect l="l" t="t" r="r" b="b"/>
                <a:pathLst>
                  <a:path w="9525" h="9525">
                    <a:moveTo>
                      <a:pt x="0" y="0"/>
                    </a:moveTo>
                    <a:lnTo>
                      <a:pt x="0" y="79"/>
                    </a:lnTo>
                  </a:path>
                </a:pathLst>
              </a:custGeom>
              <a:noFill/>
              <a:ln w="15875">
                <a:solidFill>
                  <a:srgbClr val="FFFFFF"/>
                </a:solidFill>
              </a:ln>
            </p:spPr>
          </p:sp>
          <p:sp>
            <p:nvSpPr>
              <p:cNvPr id="239" name="Freeform 239"/>
              <p:cNvSpPr/>
              <p:nvPr/>
            </p:nvSpPr>
            <p:spPr>
              <a:xfrm>
                <a:off x="611187" y="5087937"/>
                <a:ext cx="9525" cy="9525"/>
              </a:xfrm>
              <a:custGeom>
                <a:avLst/>
                <a:gdLst/>
                <a:ahLst/>
                <a:cxnLst/>
                <a:rect l="l" t="t" r="r" b="b"/>
                <a:pathLst>
                  <a:path w="9525" h="9525">
                    <a:moveTo>
                      <a:pt x="0" y="0"/>
                    </a:moveTo>
                    <a:lnTo>
                      <a:pt x="0" y="79"/>
                    </a:lnTo>
                  </a:path>
                </a:pathLst>
              </a:custGeom>
              <a:noFill/>
              <a:ln w="15875">
                <a:solidFill>
                  <a:srgbClr val="FFFFFF"/>
                </a:solidFill>
              </a:ln>
            </p:spPr>
          </p:sp>
          <p:sp>
            <p:nvSpPr>
              <p:cNvPr id="240" name="Freeform 240"/>
              <p:cNvSpPr/>
              <p:nvPr/>
            </p:nvSpPr>
            <p:spPr>
              <a:xfrm>
                <a:off x="611187" y="5119687"/>
                <a:ext cx="9525" cy="9525"/>
              </a:xfrm>
              <a:custGeom>
                <a:avLst/>
                <a:gdLst/>
                <a:ahLst/>
                <a:cxnLst/>
                <a:rect l="l" t="t" r="r" b="b"/>
                <a:pathLst>
                  <a:path w="9525" h="9525">
                    <a:moveTo>
                      <a:pt x="0" y="0"/>
                    </a:moveTo>
                    <a:lnTo>
                      <a:pt x="0" y="79"/>
                    </a:lnTo>
                  </a:path>
                </a:pathLst>
              </a:custGeom>
              <a:noFill/>
              <a:ln w="15875">
                <a:solidFill>
                  <a:srgbClr val="FFFFFF"/>
                </a:solidFill>
              </a:ln>
            </p:spPr>
          </p:sp>
        </p:grpSp>
        <p:sp>
          <p:nvSpPr>
            <p:cNvPr id="242" name="TextBox 242"/>
            <p:cNvSpPr txBox="1"/>
            <p:nvPr/>
          </p:nvSpPr>
          <p:spPr>
            <a:xfrm>
              <a:off x="719138" y="504229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综合管理</a:t>
              </a:r>
            </a:p>
          </p:txBody>
        </p:sp>
        <p:sp>
          <p:nvSpPr>
            <p:cNvPr id="243" name="TextBox 243"/>
            <p:cNvSpPr txBox="1"/>
            <p:nvPr/>
          </p:nvSpPr>
          <p:spPr>
            <a:xfrm>
              <a:off x="1822882" y="5066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政策与规划研究</a:t>
              </a:r>
            </a:p>
          </p:txBody>
        </p:sp>
        <p:sp>
          <p:nvSpPr>
            <p:cNvPr id="244" name="TextBox 244"/>
            <p:cNvSpPr txBox="1"/>
            <p:nvPr/>
          </p:nvSpPr>
          <p:spPr>
            <a:xfrm>
              <a:off x="2870632" y="5066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资源配置与建设</a:t>
              </a:r>
            </a:p>
          </p:txBody>
        </p:sp>
        <p:sp>
          <p:nvSpPr>
            <p:cNvPr id="245" name="TextBox 245"/>
            <p:cNvSpPr txBox="1"/>
            <p:nvPr/>
          </p:nvSpPr>
          <p:spPr>
            <a:xfrm>
              <a:off x="3908857" y="5066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运行评估与监督</a:t>
              </a:r>
            </a:p>
          </p:txBody>
        </p:sp>
        <p:sp>
          <p:nvSpPr>
            <p:cNvPr id="246" name="TextBox 246"/>
            <p:cNvSpPr txBox="1"/>
            <p:nvPr/>
          </p:nvSpPr>
          <p:spPr>
            <a:xfrm>
              <a:off x="4956607" y="5066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资产与设施运维</a:t>
              </a:r>
            </a:p>
          </p:txBody>
        </p:sp>
        <p:sp>
          <p:nvSpPr>
            <p:cNvPr id="247" name="TextBox 247"/>
            <p:cNvSpPr txBox="1"/>
            <p:nvPr/>
          </p:nvSpPr>
          <p:spPr>
            <a:xfrm>
              <a:off x="6004357" y="5066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风险预警与应急</a:t>
              </a:r>
            </a:p>
          </p:txBody>
        </p:sp>
        <p:sp>
          <p:nvSpPr>
            <p:cNvPr id="248" name="TextBox 248"/>
            <p:cNvSpPr txBox="1"/>
            <p:nvPr/>
          </p:nvSpPr>
          <p:spPr>
            <a:xfrm>
              <a:off x="7042582" y="5066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宏观与区域调度</a:t>
              </a:r>
            </a:p>
          </p:txBody>
        </p:sp>
        <p:sp>
          <p:nvSpPr>
            <p:cNvPr id="249" name="TextBox 249"/>
            <p:cNvSpPr txBox="1"/>
            <p:nvPr/>
          </p:nvSpPr>
          <p:spPr>
            <a:xfrm>
              <a:off x="8090332" y="5066586"/>
              <a:ext cx="678586"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公众服务与治理</a:t>
              </a:r>
            </a:p>
          </p:txBody>
        </p:sp>
        <p:sp>
          <p:nvSpPr>
            <p:cNvPr id="250" name="Line 250"/>
            <p:cNvSpPr/>
            <p:nvPr/>
          </p:nvSpPr>
          <p:spPr>
            <a:xfrm>
              <a:off x="2686050" y="5000625"/>
              <a:ext cx="9525" cy="190500"/>
            </a:xfrm>
            <a:custGeom>
              <a:avLst/>
              <a:gdLst/>
              <a:ahLst/>
              <a:cxnLst/>
              <a:rect l="l" t="t" r="r" b="b"/>
              <a:pathLst>
                <a:path w="9525" h="190500">
                  <a:moveTo>
                    <a:pt x="0" y="0"/>
                  </a:moveTo>
                  <a:lnTo>
                    <a:pt x="0" y="190500"/>
                  </a:lnTo>
                </a:path>
              </a:pathLst>
            </a:custGeom>
            <a:noFill/>
            <a:ln w="6668">
              <a:solidFill>
                <a:srgbClr val="9E4D3E">
                  <a:alpha val="40000"/>
                </a:srgbClr>
              </a:solidFill>
            </a:ln>
          </p:spPr>
        </p:sp>
        <p:sp>
          <p:nvSpPr>
            <p:cNvPr id="251" name="Line 251"/>
            <p:cNvSpPr/>
            <p:nvPr/>
          </p:nvSpPr>
          <p:spPr>
            <a:xfrm>
              <a:off x="3733800" y="5000625"/>
              <a:ext cx="9525" cy="190500"/>
            </a:xfrm>
            <a:custGeom>
              <a:avLst/>
              <a:gdLst/>
              <a:ahLst/>
              <a:cxnLst/>
              <a:rect l="l" t="t" r="r" b="b"/>
              <a:pathLst>
                <a:path w="9525" h="190500">
                  <a:moveTo>
                    <a:pt x="0" y="0"/>
                  </a:moveTo>
                  <a:lnTo>
                    <a:pt x="0" y="190500"/>
                  </a:lnTo>
                </a:path>
              </a:pathLst>
            </a:custGeom>
            <a:noFill/>
            <a:ln w="6668">
              <a:solidFill>
                <a:srgbClr val="9E4D3E">
                  <a:alpha val="40000"/>
                </a:srgbClr>
              </a:solidFill>
            </a:ln>
          </p:spPr>
        </p:sp>
        <p:sp>
          <p:nvSpPr>
            <p:cNvPr id="252" name="Line 252"/>
            <p:cNvSpPr/>
            <p:nvPr/>
          </p:nvSpPr>
          <p:spPr>
            <a:xfrm>
              <a:off x="4772025" y="5000625"/>
              <a:ext cx="9525" cy="190500"/>
            </a:xfrm>
            <a:custGeom>
              <a:avLst/>
              <a:gdLst/>
              <a:ahLst/>
              <a:cxnLst/>
              <a:rect l="l" t="t" r="r" b="b"/>
              <a:pathLst>
                <a:path w="9525" h="190500">
                  <a:moveTo>
                    <a:pt x="0" y="0"/>
                  </a:moveTo>
                  <a:lnTo>
                    <a:pt x="0" y="190500"/>
                  </a:lnTo>
                </a:path>
              </a:pathLst>
            </a:custGeom>
            <a:noFill/>
            <a:ln w="6668">
              <a:solidFill>
                <a:srgbClr val="9E4D3E">
                  <a:alpha val="40000"/>
                </a:srgbClr>
              </a:solidFill>
            </a:ln>
          </p:spPr>
        </p:sp>
        <p:sp>
          <p:nvSpPr>
            <p:cNvPr id="253" name="Line 253"/>
            <p:cNvSpPr/>
            <p:nvPr/>
          </p:nvSpPr>
          <p:spPr>
            <a:xfrm>
              <a:off x="5819775" y="5000625"/>
              <a:ext cx="9525" cy="190500"/>
            </a:xfrm>
            <a:custGeom>
              <a:avLst/>
              <a:gdLst/>
              <a:ahLst/>
              <a:cxnLst/>
              <a:rect l="l" t="t" r="r" b="b"/>
              <a:pathLst>
                <a:path w="9525" h="190500">
                  <a:moveTo>
                    <a:pt x="0" y="0"/>
                  </a:moveTo>
                  <a:lnTo>
                    <a:pt x="0" y="190500"/>
                  </a:lnTo>
                </a:path>
              </a:pathLst>
            </a:custGeom>
            <a:noFill/>
            <a:ln w="6668">
              <a:solidFill>
                <a:srgbClr val="9E4D3E">
                  <a:alpha val="40000"/>
                </a:srgbClr>
              </a:solidFill>
            </a:ln>
          </p:spPr>
        </p:sp>
        <p:sp>
          <p:nvSpPr>
            <p:cNvPr id="254" name="Line 254"/>
            <p:cNvSpPr/>
            <p:nvPr/>
          </p:nvSpPr>
          <p:spPr>
            <a:xfrm>
              <a:off x="6858000" y="5000625"/>
              <a:ext cx="9525" cy="190500"/>
            </a:xfrm>
            <a:custGeom>
              <a:avLst/>
              <a:gdLst/>
              <a:ahLst/>
              <a:cxnLst/>
              <a:rect l="l" t="t" r="r" b="b"/>
              <a:pathLst>
                <a:path w="9525" h="190500">
                  <a:moveTo>
                    <a:pt x="0" y="0"/>
                  </a:moveTo>
                  <a:lnTo>
                    <a:pt x="0" y="190500"/>
                  </a:lnTo>
                </a:path>
              </a:pathLst>
            </a:custGeom>
            <a:noFill/>
            <a:ln w="6668">
              <a:solidFill>
                <a:srgbClr val="9E4D3E">
                  <a:alpha val="40000"/>
                </a:srgbClr>
              </a:solidFill>
            </a:ln>
          </p:spPr>
        </p:sp>
        <p:sp>
          <p:nvSpPr>
            <p:cNvPr id="255" name="Line 255"/>
            <p:cNvSpPr/>
            <p:nvPr/>
          </p:nvSpPr>
          <p:spPr>
            <a:xfrm>
              <a:off x="7905750" y="5000625"/>
              <a:ext cx="9525" cy="190500"/>
            </a:xfrm>
            <a:custGeom>
              <a:avLst/>
              <a:gdLst/>
              <a:ahLst/>
              <a:cxnLst/>
              <a:rect l="l" t="t" r="r" b="b"/>
              <a:pathLst>
                <a:path w="9525" h="190500">
                  <a:moveTo>
                    <a:pt x="0" y="0"/>
                  </a:moveTo>
                  <a:lnTo>
                    <a:pt x="0" y="190500"/>
                  </a:lnTo>
                </a:path>
              </a:pathLst>
            </a:custGeom>
            <a:noFill/>
            <a:ln w="6668">
              <a:solidFill>
                <a:srgbClr val="9E4D3E">
                  <a:alpha val="40000"/>
                </a:srgbClr>
              </a:solidFill>
            </a:ln>
          </p:spPr>
        </p:sp>
        <p:sp>
          <p:nvSpPr>
            <p:cNvPr id="256" name="Freeform 256"/>
            <p:cNvSpPr/>
            <p:nvPr/>
          </p:nvSpPr>
          <p:spPr>
            <a:xfrm>
              <a:off x="9010650" y="4905375"/>
              <a:ext cx="990600" cy="381000"/>
            </a:xfrm>
            <a:prstGeom prst="homePlate">
              <a:avLst>
                <a:gd name="adj" fmla="val 30000"/>
              </a:avLst>
            </a:prstGeom>
            <a:solidFill>
              <a:srgbClr val="9E4D3E"/>
            </a:solidFill>
            <a:ln>
              <a:noFill/>
            </a:ln>
          </p:spPr>
        </p:sp>
        <p:sp>
          <p:nvSpPr>
            <p:cNvPr id="257" name="TextBox 257"/>
            <p:cNvSpPr txBox="1"/>
            <p:nvPr/>
          </p:nvSpPr>
          <p:spPr>
            <a:xfrm>
              <a:off x="9179242" y="498633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提升治理能力</a:t>
              </a:r>
            </a:p>
          </p:txBody>
        </p:sp>
        <p:sp>
          <p:nvSpPr>
            <p:cNvPr id="258" name="TextBox 258"/>
            <p:cNvSpPr txBox="1"/>
            <p:nvPr/>
          </p:nvSpPr>
          <p:spPr>
            <a:xfrm>
              <a:off x="9179242" y="5129212"/>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促进协同发展</a:t>
              </a:r>
            </a:p>
          </p:txBody>
        </p:sp>
      </p:grpSp>
      <p:grpSp>
        <p:nvGrpSpPr>
          <p:cNvPr id="293" name="judge-panel"/>
          <p:cNvGrpSpPr/>
          <p:nvPr/>
        </p:nvGrpSpPr>
        <p:grpSpPr>
          <a:xfrm>
            <a:off x="10134600" y="914400"/>
            <a:ext cx="1676400" cy="4485989"/>
            <a:chOff x="10134600" y="914400"/>
            <a:chExt cx="1676400" cy="4485989"/>
          </a:xfrm>
        </p:grpSpPr>
        <p:sp>
          <p:nvSpPr>
            <p:cNvPr id="260" name="Rectangle 260"/>
            <p:cNvSpPr/>
            <p:nvPr/>
          </p:nvSpPr>
          <p:spPr>
            <a:xfrm>
              <a:off x="10134600" y="914400"/>
              <a:ext cx="1676400" cy="4438650"/>
            </a:xfrm>
            <a:prstGeom prst="roundRect">
              <a:avLst>
                <a:gd name="adj" fmla="val 4545"/>
              </a:avLst>
            </a:prstGeom>
            <a:solidFill>
              <a:srgbClr val="EFF5FC"/>
            </a:solidFill>
            <a:ln w="9525">
              <a:solidFill>
                <a:srgbClr val="C7D9F0"/>
              </a:solidFill>
            </a:ln>
          </p:spPr>
        </p:sp>
        <p:grpSp>
          <p:nvGrpSpPr>
            <p:cNvPr id="263" name="Group 263"/>
            <p:cNvGrpSpPr/>
            <p:nvPr/>
          </p:nvGrpSpPr>
          <p:grpSpPr>
            <a:xfrm>
              <a:off x="10330656" y="1092994"/>
              <a:ext cx="122238" cy="157162"/>
              <a:chOff x="10330656" y="1092994"/>
              <a:chExt cx="122238" cy="157162"/>
            </a:xfrm>
          </p:grpSpPr>
          <p:sp>
            <p:nvSpPr>
              <p:cNvPr id="261" name="Freeform 261"/>
              <p:cNvSpPr/>
              <p:nvPr/>
            </p:nvSpPr>
            <p:spPr>
              <a:xfrm>
                <a:off x="10330656" y="111045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rgbClr val="9C331E"/>
                </a:solidFill>
              </a:ln>
            </p:spPr>
          </p:sp>
          <p:sp>
            <p:nvSpPr>
              <p:cNvPr id="262" name="Freeform 262"/>
              <p:cNvSpPr/>
              <p:nvPr/>
            </p:nvSpPr>
            <p:spPr>
              <a:xfrm>
                <a:off x="10365581" y="109299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rgbClr val="9C331E"/>
                </a:solidFill>
              </a:ln>
            </p:spPr>
          </p:sp>
        </p:grpSp>
        <p:sp>
          <p:nvSpPr>
            <p:cNvPr id="264" name="TextBox 264"/>
            <p:cNvSpPr txBox="1"/>
            <p:nvPr/>
          </p:nvSpPr>
          <p:spPr>
            <a:xfrm>
              <a:off x="10567226" y="1111329"/>
              <a:ext cx="744728" cy="212693"/>
            </a:xfrm>
            <a:prstGeom prst="rect">
              <a:avLst/>
            </a:prstGeom>
            <a:noFill/>
            <a:ln>
              <a:noFill/>
            </a:ln>
          </p:spPr>
          <p:txBody>
            <a:bodyPr wrap="none" lIns="0" tIns="0" rIns="0" bIns="0" anchor="t" anchorCtr="0">
              <a:spAutoFit/>
            </a:bodyPr>
            <a:lstStyle/>
            <a:p>
              <a:pPr algn="l"/>
              <a:r>
                <a:rPr lang="zh-CN" sz="1090" b="1" dirty="0">
                  <a:solidFill>
                    <a:srgbClr val="5E2114"/>
                  </a:solidFill>
                  <a:latin typeface="+mn-lt"/>
                  <a:ea typeface="+mn-ea"/>
                  <a:cs typeface="+mn-cs"/>
                </a:rPr>
                <a:t>判断重点：</a:t>
              </a:r>
            </a:p>
          </p:txBody>
        </p:sp>
        <p:sp>
          <p:nvSpPr>
            <p:cNvPr id="265" name="Line 265"/>
            <p:cNvSpPr/>
            <p:nvPr/>
          </p:nvSpPr>
          <p:spPr>
            <a:xfrm>
              <a:off x="10267950" y="1371600"/>
              <a:ext cx="1409700" cy="9525"/>
            </a:xfrm>
            <a:custGeom>
              <a:avLst/>
              <a:gdLst/>
              <a:ahLst/>
              <a:cxnLst/>
              <a:rect l="l" t="t" r="r" b="b"/>
              <a:pathLst>
                <a:path w="1409700" h="9525">
                  <a:moveTo>
                    <a:pt x="0" y="0"/>
                  </a:moveTo>
                  <a:lnTo>
                    <a:pt x="1409700" y="0"/>
                  </a:lnTo>
                </a:path>
              </a:pathLst>
            </a:custGeom>
            <a:noFill/>
            <a:ln w="9525">
              <a:solidFill>
                <a:srgbClr val="C7D9F0"/>
              </a:solidFill>
            </a:ln>
          </p:spPr>
        </p:sp>
        <p:grpSp>
          <p:nvGrpSpPr>
            <p:cNvPr id="271" name="Group 271"/>
            <p:cNvGrpSpPr/>
            <p:nvPr/>
          </p:nvGrpSpPr>
          <p:grpSpPr>
            <a:xfrm>
              <a:off x="10317956" y="1574006"/>
              <a:ext cx="185737" cy="185737"/>
              <a:chOff x="10317956" y="1574006"/>
              <a:chExt cx="185737" cy="185737"/>
            </a:xfrm>
          </p:grpSpPr>
          <p:sp>
            <p:nvSpPr>
              <p:cNvPr id="266" name="Freeform 266"/>
              <p:cNvSpPr/>
              <p:nvPr/>
            </p:nvSpPr>
            <p:spPr>
              <a:xfrm>
                <a:off x="10317956" y="1697831"/>
                <a:ext cx="61912" cy="61912"/>
              </a:xfrm>
              <a:custGeom>
                <a:avLst/>
                <a:gdLst/>
                <a:ahLst/>
                <a:cxnLst/>
                <a:rect l="l" t="t" r="r" b="b"/>
                <a:pathLst>
                  <a:path w="61912" h="61912">
                    <a:moveTo>
                      <a:pt x="0" y="20637"/>
                    </a:moveTo>
                    <a:cubicBezTo>
                      <a:pt x="0" y="9240"/>
                      <a:pt x="9240" y="0"/>
                      <a:pt x="20637" y="0"/>
                    </a:cubicBezTo>
                    <a:lnTo>
                      <a:pt x="41275" y="0"/>
                    </a:lnTo>
                    <a:cubicBezTo>
                      <a:pt x="52673" y="0"/>
                      <a:pt x="61912" y="9240"/>
                      <a:pt x="61912" y="20637"/>
                    </a:cubicBezTo>
                    <a:lnTo>
                      <a:pt x="61912" y="41275"/>
                    </a:lnTo>
                    <a:cubicBezTo>
                      <a:pt x="61912" y="52673"/>
                      <a:pt x="52673" y="61912"/>
                      <a:pt x="41275" y="61912"/>
                    </a:cubicBezTo>
                    <a:lnTo>
                      <a:pt x="20637" y="61912"/>
                    </a:lnTo>
                    <a:cubicBezTo>
                      <a:pt x="9240" y="61912"/>
                      <a:pt x="0" y="52673"/>
                      <a:pt x="0" y="41275"/>
                    </a:cubicBezTo>
                    <a:lnTo>
                      <a:pt x="0" y="20637"/>
                    </a:lnTo>
                  </a:path>
                </a:pathLst>
              </a:custGeom>
              <a:noFill/>
              <a:ln w="20637">
                <a:solidFill>
                  <a:srgbClr val="9C331E"/>
                </a:solidFill>
              </a:ln>
            </p:spPr>
          </p:sp>
          <p:sp>
            <p:nvSpPr>
              <p:cNvPr id="267" name="Freeform 267"/>
              <p:cNvSpPr/>
              <p:nvPr/>
            </p:nvSpPr>
            <p:spPr>
              <a:xfrm>
                <a:off x="10441781" y="1697831"/>
                <a:ext cx="61912" cy="61912"/>
              </a:xfrm>
              <a:custGeom>
                <a:avLst/>
                <a:gdLst/>
                <a:ahLst/>
                <a:cxnLst/>
                <a:rect l="l" t="t" r="r" b="b"/>
                <a:pathLst>
                  <a:path w="61912" h="61912">
                    <a:moveTo>
                      <a:pt x="0" y="20637"/>
                    </a:moveTo>
                    <a:cubicBezTo>
                      <a:pt x="0" y="9240"/>
                      <a:pt x="9240" y="0"/>
                      <a:pt x="20637" y="0"/>
                    </a:cubicBezTo>
                    <a:lnTo>
                      <a:pt x="41275" y="0"/>
                    </a:lnTo>
                    <a:cubicBezTo>
                      <a:pt x="52673" y="0"/>
                      <a:pt x="61912" y="9240"/>
                      <a:pt x="61912" y="20637"/>
                    </a:cubicBezTo>
                    <a:lnTo>
                      <a:pt x="61912" y="41275"/>
                    </a:lnTo>
                    <a:cubicBezTo>
                      <a:pt x="61912" y="52673"/>
                      <a:pt x="52673" y="61912"/>
                      <a:pt x="41275" y="61912"/>
                    </a:cubicBezTo>
                    <a:lnTo>
                      <a:pt x="20637" y="61912"/>
                    </a:lnTo>
                    <a:cubicBezTo>
                      <a:pt x="9240" y="61912"/>
                      <a:pt x="0" y="52673"/>
                      <a:pt x="0" y="41275"/>
                    </a:cubicBezTo>
                    <a:lnTo>
                      <a:pt x="0" y="20637"/>
                    </a:lnTo>
                  </a:path>
                </a:pathLst>
              </a:custGeom>
              <a:noFill/>
              <a:ln w="20637">
                <a:solidFill>
                  <a:srgbClr val="9C331E"/>
                </a:solidFill>
              </a:ln>
            </p:spPr>
          </p:sp>
          <p:sp>
            <p:nvSpPr>
              <p:cNvPr id="268" name="Freeform 268"/>
              <p:cNvSpPr/>
              <p:nvPr/>
            </p:nvSpPr>
            <p:spPr>
              <a:xfrm>
                <a:off x="10379868" y="1574006"/>
                <a:ext cx="61912" cy="61912"/>
              </a:xfrm>
              <a:custGeom>
                <a:avLst/>
                <a:gdLst/>
                <a:ahLst/>
                <a:cxnLst/>
                <a:rect l="l" t="t" r="r" b="b"/>
                <a:pathLst>
                  <a:path w="61912" h="61912">
                    <a:moveTo>
                      <a:pt x="0" y="20637"/>
                    </a:moveTo>
                    <a:cubicBezTo>
                      <a:pt x="0" y="9240"/>
                      <a:pt x="9240" y="0"/>
                      <a:pt x="20637" y="0"/>
                    </a:cubicBezTo>
                    <a:lnTo>
                      <a:pt x="41275" y="0"/>
                    </a:lnTo>
                    <a:cubicBezTo>
                      <a:pt x="52673" y="0"/>
                      <a:pt x="61912" y="9240"/>
                      <a:pt x="61912" y="20637"/>
                    </a:cubicBezTo>
                    <a:lnTo>
                      <a:pt x="61912" y="41275"/>
                    </a:lnTo>
                    <a:cubicBezTo>
                      <a:pt x="61912" y="52673"/>
                      <a:pt x="52673" y="61912"/>
                      <a:pt x="41275" y="61912"/>
                    </a:cubicBezTo>
                    <a:lnTo>
                      <a:pt x="20637" y="61912"/>
                    </a:lnTo>
                    <a:cubicBezTo>
                      <a:pt x="9240" y="61912"/>
                      <a:pt x="0" y="52673"/>
                      <a:pt x="0" y="41275"/>
                    </a:cubicBezTo>
                    <a:lnTo>
                      <a:pt x="0" y="20637"/>
                    </a:lnTo>
                  </a:path>
                </a:pathLst>
              </a:custGeom>
              <a:noFill/>
              <a:ln w="20637">
                <a:solidFill>
                  <a:srgbClr val="9C331E"/>
                </a:solidFill>
              </a:ln>
            </p:spPr>
          </p:sp>
          <p:sp>
            <p:nvSpPr>
              <p:cNvPr id="269" name="Freeform 269"/>
              <p:cNvSpPr/>
              <p:nvPr/>
            </p:nvSpPr>
            <p:spPr>
              <a:xfrm>
                <a:off x="10348912" y="1666875"/>
                <a:ext cx="123825" cy="30956"/>
              </a:xfrm>
              <a:custGeom>
                <a:avLst/>
                <a:gdLst/>
                <a:ahLst/>
                <a:cxnLst/>
                <a:rect l="l" t="t" r="r" b="b"/>
                <a:pathLst>
                  <a:path w="123825" h="30956">
                    <a:moveTo>
                      <a:pt x="0" y="30956"/>
                    </a:moveTo>
                    <a:lnTo>
                      <a:pt x="0" y="20637"/>
                    </a:lnTo>
                    <a:cubicBezTo>
                      <a:pt x="0" y="9240"/>
                      <a:pt x="9240" y="0"/>
                      <a:pt x="20637" y="0"/>
                    </a:cubicBezTo>
                    <a:lnTo>
                      <a:pt x="103187" y="0"/>
                    </a:lnTo>
                    <a:cubicBezTo>
                      <a:pt x="114585" y="0"/>
                      <a:pt x="123825" y="9240"/>
                      <a:pt x="123825" y="20637"/>
                    </a:cubicBezTo>
                    <a:lnTo>
                      <a:pt x="123825" y="30956"/>
                    </a:lnTo>
                  </a:path>
                </a:pathLst>
              </a:custGeom>
              <a:noFill/>
              <a:ln w="20637">
                <a:solidFill>
                  <a:srgbClr val="9C331E"/>
                </a:solidFill>
              </a:ln>
            </p:spPr>
          </p:sp>
          <p:sp>
            <p:nvSpPr>
              <p:cNvPr id="270" name="Freeform 270"/>
              <p:cNvSpPr/>
              <p:nvPr/>
            </p:nvSpPr>
            <p:spPr>
              <a:xfrm>
                <a:off x="10410825" y="1635918"/>
                <a:ext cx="9525" cy="30956"/>
              </a:xfrm>
              <a:custGeom>
                <a:avLst/>
                <a:gdLst/>
                <a:ahLst/>
                <a:cxnLst/>
                <a:rect l="l" t="t" r="r" b="b"/>
                <a:pathLst>
                  <a:path w="9525" h="30956">
                    <a:moveTo>
                      <a:pt x="0" y="0"/>
                    </a:moveTo>
                    <a:lnTo>
                      <a:pt x="0" y="30956"/>
                    </a:lnTo>
                  </a:path>
                </a:pathLst>
              </a:custGeom>
              <a:noFill/>
              <a:ln w="20637">
                <a:solidFill>
                  <a:srgbClr val="9C331E"/>
                </a:solidFill>
              </a:ln>
            </p:spPr>
          </p:sp>
        </p:grpSp>
        <p:sp>
          <p:nvSpPr>
            <p:cNvPr id="272" name="TextBox 272"/>
            <p:cNvSpPr txBox="1"/>
            <p:nvPr/>
          </p:nvSpPr>
          <p:spPr>
            <a:xfrm>
              <a:off x="10625138" y="155614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是否进入</a:t>
              </a:r>
            </a:p>
          </p:txBody>
        </p:sp>
        <p:sp>
          <p:nvSpPr>
            <p:cNvPr id="273" name="TextBox 273"/>
            <p:cNvSpPr txBox="1"/>
            <p:nvPr/>
          </p:nvSpPr>
          <p:spPr>
            <a:xfrm>
              <a:off x="10625138" y="170854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主流流程</a:t>
              </a:r>
            </a:p>
          </p:txBody>
        </p:sp>
        <p:sp>
          <p:nvSpPr>
            <p:cNvPr id="274" name="TextBox 274"/>
            <p:cNvSpPr txBox="1"/>
            <p:nvPr/>
          </p:nvSpPr>
          <p:spPr>
            <a:xfrm>
              <a:off x="10263188" y="1980486"/>
              <a:ext cx="911225" cy="426244"/>
            </a:xfrm>
            <a:prstGeom prst="rect">
              <a:avLst/>
            </a:prstGeom>
            <a:noFill/>
            <a:ln>
              <a:noFill/>
            </a:ln>
          </p:spPr>
          <p:txBody>
            <a:bodyPr wrap="none" lIns="0" tIns="0" rIns="0" bIns="0" anchor="t" anchorCtr="0">
              <a:spAutoFit/>
            </a:bodyPr>
            <a:lstStyle/>
            <a:p>
              <a:pPr algn="l">
                <a:lnSpc>
                  <a:spcPts val="1125"/>
                </a:lnSpc>
              </a:pPr>
              <a:r>
                <a:rPr lang="zh-CN" sz="710" dirty="0">
                  <a:solidFill>
                    <a:srgbClr val="573F3A"/>
                  </a:solidFill>
                  <a:latin typeface="+mn-lt"/>
                  <a:ea typeface="+mn-ea"/>
                  <a:cs typeface="+mn-cs"/>
                </a:rPr>
                <a:t>是否嵌入行业核心业务</a:t>
              </a:r>
              <a:br/>
              <a:r>
                <a:rPr lang="zh-CN" sz="710" dirty="0">
                  <a:solidFill>
                    <a:srgbClr val="573F3A"/>
                  </a:solidFill>
                  <a:latin typeface="+mn-lt"/>
                  <a:ea typeface="+mn-ea"/>
                  <a:cs typeface="+mn-cs"/>
                </a:rPr>
                <a:t>环节，而非停留在概念</a:t>
              </a:r>
              <a:br/>
              <a:r>
                <a:rPr lang="zh-CN" sz="710" dirty="0">
                  <a:solidFill>
                    <a:srgbClr val="573F3A"/>
                  </a:solidFill>
                  <a:latin typeface="+mn-lt"/>
                  <a:ea typeface="+mn-ea"/>
                  <a:cs typeface="+mn-cs"/>
                </a:rPr>
                <a:t>验证或边缘试点。</a:t>
              </a:r>
            </a:p>
          </p:txBody>
        </p:sp>
        <p:sp>
          <p:nvSpPr>
            <p:cNvPr id="275" name="Line 275"/>
            <p:cNvSpPr/>
            <p:nvPr/>
          </p:nvSpPr>
          <p:spPr>
            <a:xfrm>
              <a:off x="10267950" y="2495550"/>
              <a:ext cx="1409700" cy="9525"/>
            </a:xfrm>
            <a:custGeom>
              <a:avLst/>
              <a:gdLst/>
              <a:ahLst/>
              <a:cxnLst/>
              <a:rect l="l" t="t" r="r" b="b"/>
              <a:pathLst>
                <a:path w="1409700" h="9525">
                  <a:moveTo>
                    <a:pt x="0" y="0"/>
                  </a:moveTo>
                  <a:lnTo>
                    <a:pt x="1409700" y="0"/>
                  </a:lnTo>
                </a:path>
              </a:pathLst>
            </a:custGeom>
            <a:noFill/>
            <a:ln w="9525">
              <a:solidFill>
                <a:srgbClr val="C7D9F0"/>
              </a:solidFill>
              <a:prstDash val="dash"/>
            </a:ln>
          </p:spPr>
        </p:sp>
        <p:grpSp>
          <p:nvGrpSpPr>
            <p:cNvPr id="278" name="Group 278"/>
            <p:cNvGrpSpPr/>
            <p:nvPr/>
          </p:nvGrpSpPr>
          <p:grpSpPr>
            <a:xfrm>
              <a:off x="10328275" y="2704294"/>
              <a:ext cx="165099" cy="173061"/>
              <a:chOff x="10328275" y="2704294"/>
              <a:chExt cx="165099" cy="173061"/>
            </a:xfrm>
          </p:grpSpPr>
          <p:sp>
            <p:nvSpPr>
              <p:cNvPr id="276" name="Freeform 276"/>
              <p:cNvSpPr/>
              <p:nvPr/>
            </p:nvSpPr>
            <p:spPr>
              <a:xfrm>
                <a:off x="10328275" y="2704294"/>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9C331E"/>
                </a:solidFill>
              </a:ln>
            </p:spPr>
          </p:sp>
          <p:sp>
            <p:nvSpPr>
              <p:cNvPr id="277" name="Freeform 277"/>
              <p:cNvSpPr/>
              <p:nvPr/>
            </p:nvSpPr>
            <p:spPr>
              <a:xfrm>
                <a:off x="10328275" y="2801143"/>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9C331E"/>
                </a:solidFill>
              </a:ln>
            </p:spPr>
          </p:sp>
        </p:grpSp>
        <p:sp>
          <p:nvSpPr>
            <p:cNvPr id="279" name="TextBox 279"/>
            <p:cNvSpPr txBox="1"/>
            <p:nvPr/>
          </p:nvSpPr>
          <p:spPr>
            <a:xfrm>
              <a:off x="10625138" y="268009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是否持续</a:t>
              </a:r>
            </a:p>
          </p:txBody>
        </p:sp>
        <p:sp>
          <p:nvSpPr>
            <p:cNvPr id="280" name="TextBox 280"/>
            <p:cNvSpPr txBox="1"/>
            <p:nvPr/>
          </p:nvSpPr>
          <p:spPr>
            <a:xfrm>
              <a:off x="10625138" y="2832497"/>
              <a:ext cx="262611"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运行</a:t>
              </a:r>
            </a:p>
          </p:txBody>
        </p:sp>
        <p:sp>
          <p:nvSpPr>
            <p:cNvPr id="281" name="TextBox 281"/>
            <p:cNvSpPr txBox="1"/>
            <p:nvPr/>
          </p:nvSpPr>
          <p:spPr>
            <a:xfrm>
              <a:off x="10263188" y="3104436"/>
              <a:ext cx="911225" cy="426244"/>
            </a:xfrm>
            <a:prstGeom prst="rect">
              <a:avLst/>
            </a:prstGeom>
            <a:noFill/>
            <a:ln>
              <a:noFill/>
            </a:ln>
          </p:spPr>
          <p:txBody>
            <a:bodyPr wrap="none" lIns="0" tIns="0" rIns="0" bIns="0" anchor="t" anchorCtr="0">
              <a:spAutoFit/>
            </a:bodyPr>
            <a:lstStyle/>
            <a:p>
              <a:pPr algn="l">
                <a:lnSpc>
                  <a:spcPts val="1125"/>
                </a:lnSpc>
              </a:pPr>
              <a:r>
                <a:rPr lang="zh-CN" sz="710" dirty="0">
                  <a:solidFill>
                    <a:srgbClr val="573F3A"/>
                  </a:solidFill>
                  <a:latin typeface="+mn-lt"/>
                  <a:ea typeface="+mn-ea"/>
                  <a:cs typeface="+mn-cs"/>
                </a:rPr>
                <a:t>是否在真实业务环境中</a:t>
              </a:r>
              <a:br/>
              <a:r>
                <a:rPr lang="zh-CN" sz="710" dirty="0">
                  <a:solidFill>
                    <a:srgbClr val="573F3A"/>
                  </a:solidFill>
                  <a:latin typeface="+mn-lt"/>
                  <a:ea typeface="+mn-ea"/>
                  <a:cs typeface="+mn-cs"/>
                </a:rPr>
                <a:t>长期稳定运行，具备可</a:t>
              </a:r>
              <a:br/>
              <a:r>
                <a:rPr lang="zh-CN" sz="710" dirty="0">
                  <a:solidFill>
                    <a:srgbClr val="573F3A"/>
                  </a:solidFill>
                  <a:latin typeface="+mn-lt"/>
                  <a:ea typeface="+mn-ea"/>
                  <a:cs typeface="+mn-cs"/>
                </a:rPr>
                <a:t>复制、可推广的条件。</a:t>
              </a:r>
            </a:p>
          </p:txBody>
        </p:sp>
        <p:sp>
          <p:nvSpPr>
            <p:cNvPr id="282" name="Line 282"/>
            <p:cNvSpPr/>
            <p:nvPr/>
          </p:nvSpPr>
          <p:spPr>
            <a:xfrm>
              <a:off x="10267950" y="3619500"/>
              <a:ext cx="1409700" cy="9525"/>
            </a:xfrm>
            <a:custGeom>
              <a:avLst/>
              <a:gdLst/>
              <a:ahLst/>
              <a:cxnLst/>
              <a:rect l="l" t="t" r="r" b="b"/>
              <a:pathLst>
                <a:path w="1409700" h="9525">
                  <a:moveTo>
                    <a:pt x="0" y="0"/>
                  </a:moveTo>
                  <a:lnTo>
                    <a:pt x="1409700" y="0"/>
                  </a:lnTo>
                </a:path>
              </a:pathLst>
            </a:custGeom>
            <a:noFill/>
            <a:ln w="9525">
              <a:solidFill>
                <a:srgbClr val="C7D9F0"/>
              </a:solidFill>
              <a:prstDash val="dash"/>
            </a:ln>
          </p:spPr>
        </p:sp>
        <p:grpSp>
          <p:nvGrpSpPr>
            <p:cNvPr id="287" name="Group 287"/>
            <p:cNvGrpSpPr/>
            <p:nvPr/>
          </p:nvGrpSpPr>
          <p:grpSpPr>
            <a:xfrm>
              <a:off x="10317956" y="3832225"/>
              <a:ext cx="185737" cy="174624"/>
              <a:chOff x="10317956" y="3832225"/>
              <a:chExt cx="185737" cy="174624"/>
            </a:xfrm>
          </p:grpSpPr>
          <p:sp>
            <p:nvSpPr>
              <p:cNvPr id="283" name="Freeform 283"/>
              <p:cNvSpPr/>
              <p:nvPr/>
            </p:nvSpPr>
            <p:spPr>
              <a:xfrm>
                <a:off x="10317956" y="391477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9C331E"/>
                </a:solidFill>
              </a:ln>
            </p:spPr>
          </p:sp>
          <p:sp>
            <p:nvSpPr>
              <p:cNvPr id="284" name="Freeform 284"/>
              <p:cNvSpPr/>
              <p:nvPr/>
            </p:nvSpPr>
            <p:spPr>
              <a:xfrm>
                <a:off x="10441781" y="387350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9C331E"/>
                </a:solidFill>
              </a:ln>
            </p:spPr>
          </p:sp>
          <p:sp>
            <p:nvSpPr>
              <p:cNvPr id="285" name="Freeform 285"/>
              <p:cNvSpPr/>
              <p:nvPr/>
            </p:nvSpPr>
            <p:spPr>
              <a:xfrm>
                <a:off x="10379868" y="383222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9C331E"/>
                </a:solidFill>
              </a:ln>
            </p:spPr>
          </p:sp>
          <p:sp>
            <p:nvSpPr>
              <p:cNvPr id="286" name="Freeform 286"/>
              <p:cNvSpPr/>
              <p:nvPr/>
            </p:nvSpPr>
            <p:spPr>
              <a:xfrm>
                <a:off x="10328275" y="3997324"/>
                <a:ext cx="144462" cy="9525"/>
              </a:xfrm>
              <a:custGeom>
                <a:avLst/>
                <a:gdLst/>
                <a:ahLst/>
                <a:cxnLst/>
                <a:rect l="l" t="t" r="r" b="b"/>
                <a:pathLst>
                  <a:path w="144462" h="9525">
                    <a:moveTo>
                      <a:pt x="0" y="0"/>
                    </a:moveTo>
                    <a:lnTo>
                      <a:pt x="144462" y="0"/>
                    </a:lnTo>
                  </a:path>
                </a:pathLst>
              </a:custGeom>
              <a:noFill/>
              <a:ln w="20637">
                <a:solidFill>
                  <a:srgbClr val="9C331E"/>
                </a:solidFill>
              </a:ln>
            </p:spPr>
          </p:sp>
        </p:grpSp>
        <p:sp>
          <p:nvSpPr>
            <p:cNvPr id="288" name="TextBox 288"/>
            <p:cNvSpPr txBox="1"/>
            <p:nvPr/>
          </p:nvSpPr>
          <p:spPr>
            <a:xfrm>
              <a:off x="10625138" y="380404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是否形成</a:t>
              </a:r>
            </a:p>
          </p:txBody>
        </p:sp>
        <p:sp>
          <p:nvSpPr>
            <p:cNvPr id="289" name="TextBox 289"/>
            <p:cNvSpPr txBox="1"/>
            <p:nvPr/>
          </p:nvSpPr>
          <p:spPr>
            <a:xfrm>
              <a:off x="10625138" y="3956447"/>
              <a:ext cx="642239"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可核验成效</a:t>
              </a:r>
            </a:p>
          </p:txBody>
        </p:sp>
        <p:sp>
          <p:nvSpPr>
            <p:cNvPr id="290" name="TextBox 290"/>
            <p:cNvSpPr txBox="1"/>
            <p:nvPr/>
          </p:nvSpPr>
          <p:spPr>
            <a:xfrm>
              <a:off x="10263188" y="4228386"/>
              <a:ext cx="911225" cy="426244"/>
            </a:xfrm>
            <a:prstGeom prst="rect">
              <a:avLst/>
            </a:prstGeom>
            <a:noFill/>
            <a:ln>
              <a:noFill/>
            </a:ln>
          </p:spPr>
          <p:txBody>
            <a:bodyPr wrap="none" lIns="0" tIns="0" rIns="0" bIns="0" anchor="t" anchorCtr="0">
              <a:spAutoFit/>
            </a:bodyPr>
            <a:lstStyle/>
            <a:p>
              <a:pPr algn="l">
                <a:lnSpc>
                  <a:spcPts val="1125"/>
                </a:lnSpc>
              </a:pPr>
              <a:r>
                <a:rPr lang="zh-CN" sz="710" dirty="0">
                  <a:solidFill>
                    <a:srgbClr val="573F3A"/>
                  </a:solidFill>
                  <a:latin typeface="+mn-lt"/>
                  <a:ea typeface="+mn-ea"/>
                  <a:cs typeface="+mn-cs"/>
                </a:rPr>
                <a:t>是否带来可验证的业务</a:t>
              </a:r>
              <a:br/>
              <a:r>
                <a:rPr lang="zh-CN" sz="710" dirty="0">
                  <a:solidFill>
                    <a:srgbClr val="573F3A"/>
                  </a:solidFill>
                  <a:latin typeface="+mn-lt"/>
                  <a:ea typeface="+mn-ea"/>
                  <a:cs typeface="+mn-cs"/>
                </a:rPr>
                <a:t>改进、效率提升或服务</a:t>
              </a:r>
              <a:br/>
              <a:r>
                <a:rPr lang="zh-CN" sz="710" dirty="0">
                  <a:solidFill>
                    <a:srgbClr val="573F3A"/>
                  </a:solidFill>
                  <a:latin typeface="+mn-lt"/>
                  <a:ea typeface="+mn-ea"/>
                  <a:cs typeface="+mn-cs"/>
                </a:rPr>
                <a:t>质量优化。</a:t>
              </a:r>
            </a:p>
          </p:txBody>
        </p:sp>
        <p:sp>
          <p:nvSpPr>
            <p:cNvPr id="291" name="TextBox 291"/>
            <p:cNvSpPr txBox="1"/>
            <p:nvPr/>
          </p:nvSpPr>
          <p:spPr>
            <a:xfrm>
              <a:off x="10506100" y="5038249"/>
              <a:ext cx="933399" cy="190690"/>
            </a:xfrm>
            <a:prstGeom prst="rect">
              <a:avLst/>
            </a:prstGeom>
            <a:noFill/>
            <a:ln>
              <a:noFill/>
            </a:ln>
          </p:spPr>
          <p:txBody>
            <a:bodyPr wrap="none" lIns="0" tIns="0" rIns="0" bIns="0" anchor="t" anchorCtr="0">
              <a:spAutoFit/>
            </a:bodyPr>
            <a:lstStyle/>
            <a:p>
              <a:pPr algn="ctr"/>
              <a:r>
                <a:rPr lang="zh-CN" sz="980" b="1" i="1" dirty="0">
                  <a:solidFill>
                    <a:srgbClr val="9C331E"/>
                  </a:solidFill>
                  <a:latin typeface="+mn-lt"/>
                  <a:ea typeface="+mn-ea"/>
                  <a:cs typeface="+mn-cs"/>
                </a:rPr>
                <a:t>让技术走进产业</a:t>
              </a:r>
            </a:p>
          </p:txBody>
        </p:sp>
        <p:sp>
          <p:nvSpPr>
            <p:cNvPr id="292" name="TextBox 292"/>
            <p:cNvSpPr txBox="1"/>
            <p:nvPr/>
          </p:nvSpPr>
          <p:spPr>
            <a:xfrm>
              <a:off x="10506100" y="5209699"/>
              <a:ext cx="933399" cy="190690"/>
            </a:xfrm>
            <a:prstGeom prst="rect">
              <a:avLst/>
            </a:prstGeom>
            <a:noFill/>
            <a:ln>
              <a:noFill/>
            </a:ln>
          </p:spPr>
          <p:txBody>
            <a:bodyPr wrap="none" lIns="0" tIns="0" rIns="0" bIns="0" anchor="t" anchorCtr="0">
              <a:spAutoFit/>
            </a:bodyPr>
            <a:lstStyle/>
            <a:p>
              <a:pPr algn="ctr"/>
              <a:r>
                <a:rPr lang="zh-CN" sz="980" b="1" i="1" dirty="0">
                  <a:solidFill>
                    <a:srgbClr val="9C331E"/>
                  </a:solidFill>
                  <a:latin typeface="+mn-lt"/>
                  <a:ea typeface="+mn-ea"/>
                  <a:cs typeface="+mn-cs"/>
                </a:rPr>
                <a:t>让数据更加可信</a:t>
              </a:r>
            </a:p>
          </p:txBody>
        </p:sp>
      </p:grpSp>
      <p:grpSp>
        <p:nvGrpSpPr>
          <p:cNvPr id="296" name="note-pill"/>
          <p:cNvGrpSpPr/>
          <p:nvPr/>
        </p:nvGrpSpPr>
        <p:grpSpPr>
          <a:xfrm>
            <a:off x="3695700" y="5524500"/>
            <a:ext cx="4800600" cy="285750"/>
            <a:chOff x="3695700" y="5524500"/>
            <a:chExt cx="4800600" cy="285750"/>
          </a:xfrm>
        </p:grpSpPr>
        <p:sp>
          <p:nvSpPr>
            <p:cNvPr id="294" name="Rectangle 294"/>
            <p:cNvSpPr/>
            <p:nvPr/>
          </p:nvSpPr>
          <p:spPr>
            <a:xfrm>
              <a:off x="3695700" y="5524500"/>
              <a:ext cx="4800600" cy="285750"/>
            </a:xfrm>
            <a:prstGeom prst="roundRect">
              <a:avLst>
                <a:gd name="adj" fmla="val 50000"/>
              </a:avLst>
            </a:prstGeom>
            <a:solidFill>
              <a:srgbClr val="9C331E"/>
            </a:solidFill>
            <a:ln>
              <a:noFill/>
            </a:ln>
          </p:spPr>
        </p:sp>
        <p:sp>
          <p:nvSpPr>
            <p:cNvPr id="295" name="TextBox 295"/>
            <p:cNvSpPr txBox="1"/>
            <p:nvPr/>
          </p:nvSpPr>
          <p:spPr>
            <a:xfrm>
              <a:off x="4969662" y="5609749"/>
              <a:ext cx="225267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代表性方向，不代表官方行业数量分布</a:t>
              </a:r>
            </a:p>
          </p:txBody>
        </p:sp>
      </p:grpSp>
      <p:grpSp>
        <p:nvGrpSpPr>
          <p:cNvPr id="300" name="footer"/>
          <p:cNvGrpSpPr/>
          <p:nvPr/>
        </p:nvGrpSpPr>
        <p:grpSpPr>
          <a:xfrm>
            <a:off x="0" y="6705600"/>
            <a:ext cx="12192000" cy="173117"/>
            <a:chOff x="0" y="6705600"/>
            <a:chExt cx="12192000" cy="173117"/>
          </a:xfrm>
        </p:grpSpPr>
        <p:sp>
          <p:nvSpPr>
            <p:cNvPr id="297" name="Rectangle 297"/>
            <p:cNvSpPr/>
            <p:nvPr/>
          </p:nvSpPr>
          <p:spPr>
            <a:xfrm>
              <a:off x="0" y="6705600"/>
              <a:ext cx="12192000" cy="152400"/>
            </a:xfrm>
            <a:prstGeom prst="rect">
              <a:avLst/>
            </a:prstGeom>
            <a:solidFill>
              <a:srgbClr val="632012"/>
            </a:solidFill>
            <a:ln>
              <a:noFill/>
            </a:ln>
          </p:spPr>
        </p:sp>
        <p:sp>
          <p:nvSpPr>
            <p:cNvPr id="298" name="TextBox 298"/>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299" name="TextBox 299"/>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05/20</a:t>
              </a:r>
            </a:p>
          </p:txBody>
        </p:sp>
      </p:gr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ibbons-left"/>
          <p:cNvSpPr/>
          <p:nvPr/>
        </p:nvSpPr>
        <p:spPr>
          <a:xfrm>
            <a:off x="2819400" y="1933575"/>
            <a:ext cx="1943100" cy="3333750"/>
          </a:xfrm>
          <a:custGeom>
            <a:avLst/>
            <a:gdLst/>
            <a:ahLst/>
            <a:cxnLst/>
            <a:rect l="l" t="t" r="r" b="b"/>
            <a:pathLst>
              <a:path w="1943100" h="3333750">
                <a:moveTo>
                  <a:pt x="0" y="0"/>
                </a:moveTo>
                <a:cubicBezTo>
                  <a:pt x="990600" y="0"/>
                  <a:pt x="952500" y="0"/>
                  <a:pt x="1943100" y="0"/>
                </a:cubicBezTo>
                <a:moveTo>
                  <a:pt x="0" y="0"/>
                </a:moveTo>
                <a:cubicBezTo>
                  <a:pt x="990600" y="0"/>
                  <a:pt x="952500" y="666750"/>
                  <a:pt x="1943100" y="666750"/>
                </a:cubicBezTo>
                <a:moveTo>
                  <a:pt x="0" y="666750"/>
                </a:moveTo>
                <a:cubicBezTo>
                  <a:pt x="990600" y="666750"/>
                  <a:pt x="952500" y="666750"/>
                  <a:pt x="1943100" y="666750"/>
                </a:cubicBezTo>
                <a:moveTo>
                  <a:pt x="0" y="666750"/>
                </a:moveTo>
                <a:cubicBezTo>
                  <a:pt x="990600" y="666750"/>
                  <a:pt x="952500" y="1333500"/>
                  <a:pt x="1943100" y="1333500"/>
                </a:cubicBezTo>
                <a:moveTo>
                  <a:pt x="0" y="1333500"/>
                </a:moveTo>
                <a:cubicBezTo>
                  <a:pt x="990600" y="1333500"/>
                  <a:pt x="952500" y="0"/>
                  <a:pt x="1943100" y="0"/>
                </a:cubicBezTo>
                <a:moveTo>
                  <a:pt x="0" y="1333500"/>
                </a:moveTo>
                <a:cubicBezTo>
                  <a:pt x="990600" y="1333500"/>
                  <a:pt x="952500" y="2000250"/>
                  <a:pt x="1943100" y="2000250"/>
                </a:cubicBezTo>
                <a:moveTo>
                  <a:pt x="0" y="2000250"/>
                </a:moveTo>
                <a:cubicBezTo>
                  <a:pt x="990600" y="2000250"/>
                  <a:pt x="952500" y="2667000"/>
                  <a:pt x="1943100" y="2667000"/>
                </a:cubicBezTo>
                <a:moveTo>
                  <a:pt x="0" y="2000250"/>
                </a:moveTo>
                <a:cubicBezTo>
                  <a:pt x="990600" y="2000250"/>
                  <a:pt x="952500" y="1333500"/>
                  <a:pt x="1943100" y="1333500"/>
                </a:cubicBezTo>
                <a:moveTo>
                  <a:pt x="0" y="2667000"/>
                </a:moveTo>
                <a:cubicBezTo>
                  <a:pt x="990600" y="2667000"/>
                  <a:pt x="952500" y="666750"/>
                  <a:pt x="1943100" y="666750"/>
                </a:cubicBezTo>
                <a:moveTo>
                  <a:pt x="0" y="2667000"/>
                </a:moveTo>
                <a:cubicBezTo>
                  <a:pt x="990600" y="2667000"/>
                  <a:pt x="952500" y="2667000"/>
                  <a:pt x="1943100" y="2667000"/>
                </a:cubicBezTo>
                <a:moveTo>
                  <a:pt x="0" y="3333750"/>
                </a:moveTo>
                <a:cubicBezTo>
                  <a:pt x="990600" y="3333750"/>
                  <a:pt x="952500" y="2000250"/>
                  <a:pt x="1943100" y="2000250"/>
                </a:cubicBezTo>
                <a:moveTo>
                  <a:pt x="0" y="3333750"/>
                </a:moveTo>
                <a:cubicBezTo>
                  <a:pt x="990600" y="3333750"/>
                  <a:pt x="952500" y="3333750"/>
                  <a:pt x="1943100" y="3333750"/>
                </a:cubicBezTo>
              </a:path>
            </a:pathLst>
          </a:custGeom>
          <a:noFill/>
          <a:ln w="133350" cap="rnd">
            <a:solidFill>
              <a:srgbClr val="FF7A5F">
                <a:alpha val="32000"/>
              </a:srgbClr>
            </a:solidFill>
          </a:ln>
        </p:spPr>
      </p:sp>
      <p:sp>
        <p:nvSpPr>
          <p:cNvPr id="3" name="ribbons-right"/>
          <p:cNvSpPr/>
          <p:nvPr/>
        </p:nvSpPr>
        <p:spPr>
          <a:xfrm>
            <a:off x="7429500" y="1933575"/>
            <a:ext cx="1943100" cy="3333750"/>
          </a:xfrm>
          <a:custGeom>
            <a:avLst/>
            <a:gdLst/>
            <a:ahLst/>
            <a:cxnLst/>
            <a:rect l="l" t="t" r="r" b="b"/>
            <a:pathLst>
              <a:path w="1943100" h="3333750">
                <a:moveTo>
                  <a:pt x="0" y="0"/>
                </a:moveTo>
                <a:cubicBezTo>
                  <a:pt x="990600" y="0"/>
                  <a:pt x="952500" y="0"/>
                  <a:pt x="1943100" y="0"/>
                </a:cubicBezTo>
                <a:moveTo>
                  <a:pt x="0" y="0"/>
                </a:moveTo>
                <a:cubicBezTo>
                  <a:pt x="990600" y="0"/>
                  <a:pt x="952500" y="666750"/>
                  <a:pt x="1943100" y="666750"/>
                </a:cubicBezTo>
                <a:moveTo>
                  <a:pt x="0" y="666750"/>
                </a:moveTo>
                <a:cubicBezTo>
                  <a:pt x="990600" y="666750"/>
                  <a:pt x="952500" y="0"/>
                  <a:pt x="1943100" y="0"/>
                </a:cubicBezTo>
                <a:moveTo>
                  <a:pt x="0" y="666750"/>
                </a:moveTo>
                <a:cubicBezTo>
                  <a:pt x="990600" y="666750"/>
                  <a:pt x="952500" y="666750"/>
                  <a:pt x="1943100" y="666750"/>
                </a:cubicBezTo>
                <a:moveTo>
                  <a:pt x="0" y="1333500"/>
                </a:moveTo>
                <a:cubicBezTo>
                  <a:pt x="990600" y="1333500"/>
                  <a:pt x="952500" y="2000250"/>
                  <a:pt x="1943100" y="2000250"/>
                </a:cubicBezTo>
                <a:moveTo>
                  <a:pt x="0" y="1333500"/>
                </a:moveTo>
                <a:cubicBezTo>
                  <a:pt x="990600" y="1333500"/>
                  <a:pt x="952500" y="2667000"/>
                  <a:pt x="1943100" y="2667000"/>
                </a:cubicBezTo>
                <a:moveTo>
                  <a:pt x="0" y="2000250"/>
                </a:moveTo>
                <a:cubicBezTo>
                  <a:pt x="990600" y="2000250"/>
                  <a:pt x="952500" y="1333500"/>
                  <a:pt x="1943100" y="1333500"/>
                </a:cubicBezTo>
                <a:moveTo>
                  <a:pt x="0" y="2000250"/>
                </a:moveTo>
                <a:cubicBezTo>
                  <a:pt x="990600" y="2000250"/>
                  <a:pt x="952500" y="3333750"/>
                  <a:pt x="1943100" y="3333750"/>
                </a:cubicBezTo>
                <a:moveTo>
                  <a:pt x="0" y="2667000"/>
                </a:moveTo>
                <a:cubicBezTo>
                  <a:pt x="990600" y="2667000"/>
                  <a:pt x="952500" y="0"/>
                  <a:pt x="1943100" y="0"/>
                </a:cubicBezTo>
                <a:moveTo>
                  <a:pt x="0" y="2667000"/>
                </a:moveTo>
                <a:cubicBezTo>
                  <a:pt x="990600" y="2667000"/>
                  <a:pt x="952500" y="2000250"/>
                  <a:pt x="1943100" y="2000250"/>
                </a:cubicBezTo>
                <a:moveTo>
                  <a:pt x="0" y="3333750"/>
                </a:moveTo>
                <a:cubicBezTo>
                  <a:pt x="990600" y="3333750"/>
                  <a:pt x="952500" y="666750"/>
                  <a:pt x="1943100" y="666750"/>
                </a:cubicBezTo>
                <a:moveTo>
                  <a:pt x="0" y="3333750"/>
                </a:moveTo>
                <a:cubicBezTo>
                  <a:pt x="990600" y="3333750"/>
                  <a:pt x="952500" y="3333750"/>
                  <a:pt x="1943100" y="3333750"/>
                </a:cubicBezTo>
              </a:path>
            </a:pathLst>
          </a:custGeom>
          <a:noFill/>
          <a:ln w="133350" cap="rnd">
            <a:solidFill>
              <a:srgbClr val="FF7A5F">
                <a:alpha val="32000"/>
              </a:srgbClr>
            </a:solidFill>
          </a:ln>
        </p:spPr>
      </p:sp>
      <p:grpSp>
        <p:nvGrpSpPr>
          <p:cNvPr id="10" name="header"/>
          <p:cNvGrpSpPr/>
          <p:nvPr/>
        </p:nvGrpSpPr>
        <p:grpSpPr>
          <a:xfrm>
            <a:off x="0" y="0"/>
            <a:ext cx="11739562" cy="551879"/>
            <a:chOff x="0" y="0"/>
            <a:chExt cx="11739562" cy="551879"/>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5" name="TextBox 5"/>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06</a:t>
              </a:r>
            </a:p>
          </p:txBody>
        </p:sp>
        <p:sp>
          <p:nvSpPr>
            <p:cNvPr id="6" name="TextBox 6"/>
            <p:cNvSpPr txBox="1"/>
            <p:nvPr/>
          </p:nvSpPr>
          <p:spPr>
            <a:xfrm>
              <a:off x="947738" y="60484"/>
              <a:ext cx="1762547"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从场景到价值 · 用确定性能力应对不确定性</a:t>
              </a:r>
            </a:p>
          </p:txBody>
        </p:sp>
        <p:sp>
          <p:nvSpPr>
            <p:cNvPr id="7" name="TextBox 7"/>
            <p:cNvSpPr txBox="1"/>
            <p:nvPr/>
          </p:nvSpPr>
          <p:spPr>
            <a:xfrm>
              <a:off x="942594" y="170498"/>
              <a:ext cx="5289804"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价值落点</a:t>
              </a:r>
              <a:r>
                <a:rPr lang="zh-CN" sz="1950" b="1" dirty="0">
                  <a:solidFill>
                    <a:srgbClr val="5E2114"/>
                  </a:solidFill>
                  <a:latin typeface="+mj-lt"/>
                  <a:ea typeface="+mj-ea"/>
                  <a:cs typeface="+mj-cs"/>
                </a:rPr>
                <a:t>｜真正的增量集中在六类业务结果</a:t>
              </a:r>
            </a:p>
          </p:txBody>
        </p:sp>
        <p:sp>
          <p:nvSpPr>
            <p:cNvPr id="8" name="Line 8"/>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9" name="TextBox 9"/>
            <p:cNvSpPr txBox="1"/>
            <p:nvPr/>
          </p:nvSpPr>
          <p:spPr>
            <a:xfrm>
              <a:off x="9990747" y="60484"/>
              <a:ext cx="1748815"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更高效率　更高质量　更可持续的业务未来</a:t>
              </a:r>
            </a:p>
          </p:txBody>
        </p:sp>
      </p:grpSp>
      <p:grpSp>
        <p:nvGrpSpPr>
          <p:cNvPr id="12" name="subtitle"/>
          <p:cNvGrpSpPr/>
          <p:nvPr/>
        </p:nvGrpSpPr>
        <p:grpSpPr>
          <a:xfrm>
            <a:off x="985647" y="656749"/>
            <a:ext cx="4627372" cy="190690"/>
            <a:chOff x="985647" y="656749"/>
            <a:chExt cx="4627372" cy="190690"/>
          </a:xfrm>
        </p:grpSpPr>
        <p:sp>
          <p:nvSpPr>
            <p:cNvPr id="11" name="TextBox 11"/>
            <p:cNvSpPr txBox="1"/>
            <p:nvPr/>
          </p:nvSpPr>
          <p:spPr>
            <a:xfrm>
              <a:off x="985647" y="656749"/>
              <a:ext cx="4627372" cy="190690"/>
            </a:xfrm>
            <a:prstGeom prst="rect">
              <a:avLst/>
            </a:prstGeom>
            <a:noFill/>
            <a:ln>
              <a:noFill/>
            </a:ln>
          </p:spPr>
          <p:txBody>
            <a:bodyPr wrap="none" lIns="0" tIns="0" rIns="0" bIns="0" anchor="t" anchorCtr="0">
              <a:spAutoFit/>
            </a:bodyPr>
            <a:lstStyle/>
            <a:p>
              <a:pPr algn="l"/>
              <a:r>
                <a:rPr lang="zh-CN" sz="980" dirty="0">
                  <a:solidFill>
                    <a:srgbClr val="9C331E"/>
                  </a:solidFill>
                  <a:latin typeface="+mn-lt"/>
                  <a:ea typeface="+mn-ea"/>
                  <a:cs typeface="+mn-cs"/>
                </a:rPr>
                <a:t>从业务痛点出发，经过能力建设，流向可衡量的业务结果，形成闭环的价值转化</a:t>
              </a:r>
            </a:p>
          </p:txBody>
        </p:sp>
      </p:grpSp>
      <p:grpSp>
        <p:nvGrpSpPr>
          <p:cNvPr id="16" name="right-quote"/>
          <p:cNvGrpSpPr/>
          <p:nvPr/>
        </p:nvGrpSpPr>
        <p:grpSpPr>
          <a:xfrm>
            <a:off x="10626154" y="634841"/>
            <a:ext cx="1113409" cy="466725"/>
            <a:chOff x="10626154" y="634841"/>
            <a:chExt cx="1113409" cy="466725"/>
          </a:xfrm>
        </p:grpSpPr>
        <p:sp>
          <p:nvSpPr>
            <p:cNvPr id="13" name="TextBox 13"/>
            <p:cNvSpPr txBox="1"/>
            <p:nvPr/>
          </p:nvSpPr>
          <p:spPr>
            <a:xfrm>
              <a:off x="11178096" y="634841"/>
              <a:ext cx="561467" cy="161925"/>
            </a:xfrm>
            <a:prstGeom prst="rect">
              <a:avLst/>
            </a:prstGeom>
            <a:noFill/>
            <a:ln>
              <a:noFill/>
            </a:ln>
          </p:spPr>
          <p:txBody>
            <a:bodyPr wrap="none" lIns="0" tIns="0" rIns="0" bIns="0" anchor="t" anchorCtr="0">
              <a:spAutoFit/>
            </a:bodyPr>
            <a:lstStyle/>
            <a:p>
              <a:pPr algn="r"/>
              <a:r>
                <a:rPr lang="zh-CN" sz="820" dirty="0">
                  <a:solidFill>
                    <a:srgbClr val="5E2114"/>
                  </a:solidFill>
                  <a:latin typeface="+mn-lt"/>
                  <a:ea typeface="+mn-ea"/>
                  <a:cs typeface="+mn-cs"/>
                </a:rPr>
                <a:t>把技术能力</a:t>
              </a:r>
            </a:p>
          </p:txBody>
        </p:sp>
        <p:sp>
          <p:nvSpPr>
            <p:cNvPr id="14" name="TextBox 14"/>
            <p:cNvSpPr txBox="1"/>
            <p:nvPr/>
          </p:nvSpPr>
          <p:spPr>
            <a:xfrm>
              <a:off x="10957319" y="787241"/>
              <a:ext cx="782244" cy="161925"/>
            </a:xfrm>
            <a:prstGeom prst="rect">
              <a:avLst/>
            </a:prstGeom>
            <a:noFill/>
            <a:ln>
              <a:noFill/>
            </a:ln>
          </p:spPr>
          <p:txBody>
            <a:bodyPr wrap="none" lIns="0" tIns="0" rIns="0" bIns="0" anchor="t" anchorCtr="0">
              <a:spAutoFit/>
            </a:bodyPr>
            <a:lstStyle/>
            <a:p>
              <a:pPr algn="r"/>
              <a:r>
                <a:rPr lang="zh-CN" sz="820" dirty="0">
                  <a:solidFill>
                    <a:srgbClr val="5E2114"/>
                  </a:solidFill>
                  <a:latin typeface="+mn-lt"/>
                  <a:ea typeface="+mn-ea"/>
                  <a:cs typeface="+mn-cs"/>
                </a:rPr>
                <a:t>转化为业务价值</a:t>
              </a:r>
            </a:p>
          </p:txBody>
        </p:sp>
        <p:sp>
          <p:nvSpPr>
            <p:cNvPr id="15" name="TextBox 15"/>
            <p:cNvSpPr txBox="1"/>
            <p:nvPr/>
          </p:nvSpPr>
          <p:spPr>
            <a:xfrm>
              <a:off x="10626154" y="939641"/>
              <a:ext cx="1113409" cy="161925"/>
            </a:xfrm>
            <a:prstGeom prst="rect">
              <a:avLst/>
            </a:prstGeom>
            <a:noFill/>
            <a:ln>
              <a:noFill/>
            </a:ln>
          </p:spPr>
          <p:txBody>
            <a:bodyPr wrap="none" lIns="0" tIns="0" rIns="0" bIns="0" anchor="t" anchorCtr="0">
              <a:spAutoFit/>
            </a:bodyPr>
            <a:lstStyle/>
            <a:p>
              <a:pPr algn="r"/>
              <a:r>
                <a:rPr lang="zh-CN" sz="820" dirty="0">
                  <a:solidFill>
                    <a:srgbClr val="5E2114"/>
                  </a:solidFill>
                  <a:latin typeface="+mn-lt"/>
                  <a:ea typeface="+mn-ea"/>
                  <a:cs typeface="+mn-cs"/>
                </a:rPr>
                <a:t>让每一次改进都看得见</a:t>
              </a:r>
            </a:p>
          </p:txBody>
        </p:sp>
      </p:grpSp>
      <p:grpSp>
        <p:nvGrpSpPr>
          <p:cNvPr id="69" name="left-col"/>
          <p:cNvGrpSpPr/>
          <p:nvPr/>
        </p:nvGrpSpPr>
        <p:grpSpPr>
          <a:xfrm>
            <a:off x="381000" y="1123950"/>
            <a:ext cx="2438400" cy="4438650"/>
            <a:chOff x="381000" y="1123950"/>
            <a:chExt cx="2438400" cy="4438650"/>
          </a:xfrm>
        </p:grpSpPr>
        <p:sp>
          <p:nvSpPr>
            <p:cNvPr id="17" name="Rectangle 17"/>
            <p:cNvSpPr/>
            <p:nvPr/>
          </p:nvSpPr>
          <p:spPr>
            <a:xfrm>
              <a:off x="381000" y="1123950"/>
              <a:ext cx="2438400" cy="419100"/>
            </a:xfrm>
            <a:prstGeom prst="roundRect">
              <a:avLst>
                <a:gd name="adj" fmla="val 13636"/>
              </a:avLst>
            </a:prstGeom>
            <a:gradFill>
              <a:gsLst>
                <a:gs pos="0">
                  <a:srgbClr val="6F2516"/>
                </a:gs>
                <a:gs pos="100000">
                  <a:srgbClr val="D64A2E"/>
                </a:gs>
              </a:gsLst>
              <a:lin ang="0" scaled="1"/>
            </a:gradFill>
            <a:ln>
              <a:noFill/>
            </a:ln>
          </p:spPr>
        </p:sp>
        <p:sp>
          <p:nvSpPr>
            <p:cNvPr id="18" name="TextBox 18"/>
            <p:cNvSpPr txBox="1"/>
            <p:nvPr/>
          </p:nvSpPr>
          <p:spPr>
            <a:xfrm>
              <a:off x="958786" y="1191578"/>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一线运营的主要痛点</a:t>
              </a:r>
            </a:p>
          </p:txBody>
        </p:sp>
        <p:sp>
          <p:nvSpPr>
            <p:cNvPr id="19" name="TextBox 19"/>
            <p:cNvSpPr txBox="1"/>
            <p:nvPr/>
          </p:nvSpPr>
          <p:spPr>
            <a:xfrm>
              <a:off x="926376" y="1380411"/>
              <a:ext cx="1347648" cy="140494"/>
            </a:xfrm>
            <a:prstGeom prst="rect">
              <a:avLst/>
            </a:prstGeom>
            <a:noFill/>
            <a:ln>
              <a:noFill/>
            </a:ln>
          </p:spPr>
          <p:txBody>
            <a:bodyPr wrap="none" lIns="0" tIns="0" rIns="0" bIns="0" anchor="t" anchorCtr="0">
              <a:spAutoFit/>
            </a:bodyPr>
            <a:lstStyle/>
            <a:p>
              <a:pPr algn="ctr"/>
              <a:r>
                <a:rPr lang="zh-CN" sz="710" dirty="0">
                  <a:solidFill>
                    <a:srgbClr val="DCE9F8"/>
                  </a:solidFill>
                  <a:latin typeface="+mn-lt"/>
                  <a:ea typeface="+mn-ea"/>
                  <a:cs typeface="+mn-cs"/>
                </a:rPr>
                <a:t>问题不是孤立的，而是相互交织</a:t>
              </a:r>
            </a:p>
          </p:txBody>
        </p:sp>
        <p:sp>
          <p:nvSpPr>
            <p:cNvPr id="20" name="Rectangle 20"/>
            <p:cNvSpPr/>
            <p:nvPr/>
          </p:nvSpPr>
          <p:spPr>
            <a:xfrm>
              <a:off x="381000" y="1638300"/>
              <a:ext cx="2438400" cy="590550"/>
            </a:xfrm>
            <a:prstGeom prst="roundRect">
              <a:avLst>
                <a:gd name="adj" fmla="val 12903"/>
              </a:avLst>
            </a:prstGeom>
            <a:solidFill>
              <a:srgbClr val="EFF5FC"/>
            </a:solidFill>
            <a:ln w="9525">
              <a:solidFill>
                <a:srgbClr val="C7D9F0"/>
              </a:solidFill>
            </a:ln>
          </p:spPr>
        </p:sp>
        <p:sp>
          <p:nvSpPr>
            <p:cNvPr id="21" name="Ellipse 21"/>
            <p:cNvSpPr/>
            <p:nvPr/>
          </p:nvSpPr>
          <p:spPr>
            <a:xfrm>
              <a:off x="495300" y="1762125"/>
              <a:ext cx="342900" cy="342900"/>
            </a:xfrm>
            <a:prstGeom prst="ellipse">
              <a:avLst/>
            </a:prstGeom>
            <a:solidFill>
              <a:srgbClr val="9C331E"/>
            </a:solidFill>
            <a:ln>
              <a:noFill/>
            </a:ln>
          </p:spPr>
        </p:sp>
        <p:grpSp>
          <p:nvGrpSpPr>
            <p:cNvPr id="25" name="Group 25"/>
            <p:cNvGrpSpPr/>
            <p:nvPr/>
          </p:nvGrpSpPr>
          <p:grpSpPr>
            <a:xfrm>
              <a:off x="603250" y="1862137"/>
              <a:ext cx="127000" cy="142875"/>
              <a:chOff x="603250" y="1862137"/>
              <a:chExt cx="127000" cy="142875"/>
            </a:xfrm>
          </p:grpSpPr>
          <p:sp>
            <p:nvSpPr>
              <p:cNvPr id="22" name="Freeform 22"/>
              <p:cNvSpPr/>
              <p:nvPr/>
            </p:nvSpPr>
            <p:spPr>
              <a:xfrm>
                <a:off x="603250" y="1862137"/>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FFFFFF"/>
                </a:solidFill>
              </a:ln>
            </p:spPr>
          </p:sp>
          <p:sp>
            <p:nvSpPr>
              <p:cNvPr id="23" name="Freeform 23"/>
              <p:cNvSpPr/>
              <p:nvPr/>
            </p:nvSpPr>
            <p:spPr>
              <a:xfrm>
                <a:off x="603250" y="18859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sp>
            <p:nvSpPr>
              <p:cNvPr id="24" name="Freeform 24"/>
              <p:cNvSpPr/>
              <p:nvPr/>
            </p:nvSpPr>
            <p:spPr>
              <a:xfrm>
                <a:off x="603250" y="19335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grpSp>
        <p:sp>
          <p:nvSpPr>
            <p:cNvPr id="26" name="TextBox 26"/>
            <p:cNvSpPr txBox="1"/>
            <p:nvPr/>
          </p:nvSpPr>
          <p:spPr>
            <a:xfrm>
              <a:off x="928497" y="1790224"/>
              <a:ext cx="537616"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数据割裂</a:t>
              </a:r>
            </a:p>
          </p:txBody>
        </p:sp>
        <p:sp>
          <p:nvSpPr>
            <p:cNvPr id="27" name="TextBox 27"/>
            <p:cNvSpPr txBox="1"/>
            <p:nvPr/>
          </p:nvSpPr>
          <p:spPr>
            <a:xfrm>
              <a:off x="928688" y="1990011"/>
              <a:ext cx="1252068"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系统多、口径不一，难以打通</a:t>
              </a:r>
            </a:p>
          </p:txBody>
        </p:sp>
        <p:sp>
          <p:nvSpPr>
            <p:cNvPr id="28" name="Rectangle 28"/>
            <p:cNvSpPr/>
            <p:nvPr/>
          </p:nvSpPr>
          <p:spPr>
            <a:xfrm>
              <a:off x="381000" y="2305050"/>
              <a:ext cx="2438400" cy="590550"/>
            </a:xfrm>
            <a:prstGeom prst="roundRect">
              <a:avLst>
                <a:gd name="adj" fmla="val 12903"/>
              </a:avLst>
            </a:prstGeom>
            <a:solidFill>
              <a:srgbClr val="EFF5FC"/>
            </a:solidFill>
            <a:ln w="9525">
              <a:solidFill>
                <a:srgbClr val="C7D9F0"/>
              </a:solidFill>
            </a:ln>
          </p:spPr>
        </p:sp>
        <p:sp>
          <p:nvSpPr>
            <p:cNvPr id="29" name="Ellipse 29"/>
            <p:cNvSpPr/>
            <p:nvPr/>
          </p:nvSpPr>
          <p:spPr>
            <a:xfrm>
              <a:off x="495300" y="2428875"/>
              <a:ext cx="342900" cy="342900"/>
            </a:xfrm>
            <a:prstGeom prst="ellipse">
              <a:avLst/>
            </a:prstGeom>
            <a:solidFill>
              <a:srgbClr val="9C331E"/>
            </a:solidFill>
            <a:ln>
              <a:noFill/>
            </a:ln>
          </p:spPr>
        </p:sp>
        <p:grpSp>
          <p:nvGrpSpPr>
            <p:cNvPr id="33" name="Group 33"/>
            <p:cNvGrpSpPr/>
            <p:nvPr/>
          </p:nvGrpSpPr>
          <p:grpSpPr>
            <a:xfrm>
              <a:off x="619125" y="2528887"/>
              <a:ext cx="119062" cy="142875"/>
              <a:chOff x="619125" y="2528887"/>
              <a:chExt cx="119062" cy="142875"/>
            </a:xfrm>
          </p:grpSpPr>
          <p:sp>
            <p:nvSpPr>
              <p:cNvPr id="30" name="Freeform 30"/>
              <p:cNvSpPr/>
              <p:nvPr/>
            </p:nvSpPr>
            <p:spPr>
              <a:xfrm>
                <a:off x="635000" y="25288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31" name="Freeform 31"/>
              <p:cNvSpPr/>
              <p:nvPr/>
            </p:nvSpPr>
            <p:spPr>
              <a:xfrm>
                <a:off x="619125" y="2624137"/>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FFFFFF"/>
                </a:solidFill>
              </a:ln>
            </p:spPr>
          </p:sp>
          <p:sp>
            <p:nvSpPr>
              <p:cNvPr id="32" name="Freeform 32"/>
              <p:cNvSpPr/>
              <p:nvPr/>
            </p:nvSpPr>
            <p:spPr>
              <a:xfrm>
                <a:off x="690562" y="2640012"/>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34" name="TextBox 34"/>
            <p:cNvSpPr txBox="1"/>
            <p:nvPr/>
          </p:nvSpPr>
          <p:spPr>
            <a:xfrm>
              <a:off x="928497" y="2456974"/>
              <a:ext cx="801472"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判断依赖经验</a:t>
              </a:r>
            </a:p>
          </p:txBody>
        </p:sp>
        <p:sp>
          <p:nvSpPr>
            <p:cNvPr id="35" name="TextBox 35"/>
            <p:cNvSpPr txBox="1"/>
            <p:nvPr/>
          </p:nvSpPr>
          <p:spPr>
            <a:xfrm>
              <a:off x="928688" y="2656761"/>
              <a:ext cx="115648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依赖个人经验，标准不统一</a:t>
              </a:r>
            </a:p>
          </p:txBody>
        </p:sp>
        <p:sp>
          <p:nvSpPr>
            <p:cNvPr id="36" name="Rectangle 36"/>
            <p:cNvSpPr/>
            <p:nvPr/>
          </p:nvSpPr>
          <p:spPr>
            <a:xfrm>
              <a:off x="381000" y="2971800"/>
              <a:ext cx="2438400" cy="590550"/>
            </a:xfrm>
            <a:prstGeom prst="roundRect">
              <a:avLst>
                <a:gd name="adj" fmla="val 12903"/>
              </a:avLst>
            </a:prstGeom>
            <a:solidFill>
              <a:srgbClr val="EFF5FC"/>
            </a:solidFill>
            <a:ln w="9525">
              <a:solidFill>
                <a:srgbClr val="C7D9F0"/>
              </a:solidFill>
            </a:ln>
          </p:spPr>
        </p:sp>
        <p:sp>
          <p:nvSpPr>
            <p:cNvPr id="37" name="Ellipse 37"/>
            <p:cNvSpPr/>
            <p:nvPr/>
          </p:nvSpPr>
          <p:spPr>
            <a:xfrm>
              <a:off x="495300" y="3095625"/>
              <a:ext cx="342900" cy="342900"/>
            </a:xfrm>
            <a:prstGeom prst="ellipse">
              <a:avLst/>
            </a:prstGeom>
            <a:solidFill>
              <a:srgbClr val="9C331E"/>
            </a:solidFill>
            <a:ln>
              <a:noFill/>
            </a:ln>
          </p:spPr>
        </p:sp>
        <p:grpSp>
          <p:nvGrpSpPr>
            <p:cNvPr id="40" name="Group 40"/>
            <p:cNvGrpSpPr/>
            <p:nvPr/>
          </p:nvGrpSpPr>
          <p:grpSpPr>
            <a:xfrm>
              <a:off x="595312" y="3219450"/>
              <a:ext cx="142875" cy="95250"/>
              <a:chOff x="595312" y="3219450"/>
              <a:chExt cx="142875" cy="95250"/>
            </a:xfrm>
          </p:grpSpPr>
          <p:sp>
            <p:nvSpPr>
              <p:cNvPr id="38" name="Freeform 38"/>
              <p:cNvSpPr/>
              <p:nvPr/>
            </p:nvSpPr>
            <p:spPr>
              <a:xfrm>
                <a:off x="650875" y="32512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39" name="Freeform 39"/>
              <p:cNvSpPr/>
              <p:nvPr/>
            </p:nvSpPr>
            <p:spPr>
              <a:xfrm>
                <a:off x="595312" y="3219450"/>
                <a:ext cx="142875" cy="95250"/>
              </a:xfrm>
              <a:custGeom>
                <a:avLst/>
                <a:gdLst/>
                <a:ahLst/>
                <a:cxnLst/>
                <a:rect l="l" t="t" r="r" b="b"/>
                <a:pathLst>
                  <a:path w="142875" h="95250">
                    <a:moveTo>
                      <a:pt x="142875" y="47625"/>
                    </a:moveTo>
                    <a:cubicBezTo>
                      <a:pt x="123825" y="79375"/>
                      <a:pt x="100012" y="95250"/>
                      <a:pt x="71437" y="95250"/>
                    </a:cubicBezTo>
                    <a:cubicBezTo>
                      <a:pt x="42862" y="95250"/>
                      <a:pt x="19050" y="79375"/>
                      <a:pt x="0" y="47625"/>
                    </a:cubicBezTo>
                    <a:cubicBezTo>
                      <a:pt x="19050" y="15875"/>
                      <a:pt x="42862" y="0"/>
                      <a:pt x="71437" y="0"/>
                    </a:cubicBezTo>
                    <a:cubicBezTo>
                      <a:pt x="100012" y="0"/>
                      <a:pt x="123825" y="15875"/>
                      <a:pt x="142875" y="47625"/>
                    </a:cubicBezTo>
                  </a:path>
                </a:pathLst>
              </a:custGeom>
              <a:noFill/>
              <a:ln w="15875">
                <a:solidFill>
                  <a:srgbClr val="FFFFFF"/>
                </a:solidFill>
              </a:ln>
            </p:spPr>
          </p:sp>
        </p:grpSp>
        <p:sp>
          <p:nvSpPr>
            <p:cNvPr id="41" name="TextBox 41"/>
            <p:cNvSpPr txBox="1"/>
            <p:nvPr/>
          </p:nvSpPr>
          <p:spPr>
            <a:xfrm>
              <a:off x="928497" y="3123724"/>
              <a:ext cx="801472"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巡检频次不足</a:t>
              </a:r>
            </a:p>
          </p:txBody>
        </p:sp>
        <p:sp>
          <p:nvSpPr>
            <p:cNvPr id="42" name="TextBox 42"/>
            <p:cNvSpPr txBox="1"/>
            <p:nvPr/>
          </p:nvSpPr>
          <p:spPr>
            <a:xfrm>
              <a:off x="928688" y="3323511"/>
              <a:ext cx="106090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覆盖有限，问题易被遗漏</a:t>
              </a:r>
            </a:p>
          </p:txBody>
        </p:sp>
        <p:sp>
          <p:nvSpPr>
            <p:cNvPr id="43" name="Rectangle 43"/>
            <p:cNvSpPr/>
            <p:nvPr/>
          </p:nvSpPr>
          <p:spPr>
            <a:xfrm>
              <a:off x="381000" y="3638550"/>
              <a:ext cx="2438400" cy="590550"/>
            </a:xfrm>
            <a:prstGeom prst="roundRect">
              <a:avLst>
                <a:gd name="adj" fmla="val 12903"/>
              </a:avLst>
            </a:prstGeom>
            <a:solidFill>
              <a:srgbClr val="EFF5FC"/>
            </a:solidFill>
            <a:ln w="9525">
              <a:solidFill>
                <a:srgbClr val="C7D9F0"/>
              </a:solidFill>
            </a:ln>
          </p:spPr>
        </p:sp>
        <p:sp>
          <p:nvSpPr>
            <p:cNvPr id="44" name="Ellipse 44"/>
            <p:cNvSpPr/>
            <p:nvPr/>
          </p:nvSpPr>
          <p:spPr>
            <a:xfrm>
              <a:off x="495300" y="3762375"/>
              <a:ext cx="342900" cy="342900"/>
            </a:xfrm>
            <a:prstGeom prst="ellipse">
              <a:avLst/>
            </a:prstGeom>
            <a:solidFill>
              <a:srgbClr val="9C331E"/>
            </a:solidFill>
            <a:ln>
              <a:noFill/>
            </a:ln>
          </p:spPr>
        </p:sp>
        <p:grpSp>
          <p:nvGrpSpPr>
            <p:cNvPr id="50" name="Group 50"/>
            <p:cNvGrpSpPr/>
            <p:nvPr/>
          </p:nvGrpSpPr>
          <p:grpSpPr>
            <a:xfrm>
              <a:off x="595312" y="3862387"/>
              <a:ext cx="142875" cy="142875"/>
              <a:chOff x="595312" y="3862387"/>
              <a:chExt cx="142875" cy="142875"/>
            </a:xfrm>
          </p:grpSpPr>
          <p:sp>
            <p:nvSpPr>
              <p:cNvPr id="45" name="Freeform 45"/>
              <p:cNvSpPr/>
              <p:nvPr/>
            </p:nvSpPr>
            <p:spPr>
              <a:xfrm>
                <a:off x="650875" y="38623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46" name="Freeform 46"/>
              <p:cNvSpPr/>
              <p:nvPr/>
            </p:nvSpPr>
            <p:spPr>
              <a:xfrm>
                <a:off x="595312" y="39735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47" name="Freeform 47"/>
              <p:cNvSpPr/>
              <p:nvPr/>
            </p:nvSpPr>
            <p:spPr>
              <a:xfrm>
                <a:off x="706437" y="39735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48" name="Freeform 48"/>
              <p:cNvSpPr/>
              <p:nvPr/>
            </p:nvSpPr>
            <p:spPr>
              <a:xfrm>
                <a:off x="623094" y="3941762"/>
                <a:ext cx="87312" cy="35719"/>
              </a:xfrm>
              <a:custGeom>
                <a:avLst/>
                <a:gdLst/>
                <a:ahLst/>
                <a:cxnLst/>
                <a:rect l="l" t="t" r="r" b="b"/>
                <a:pathLst>
                  <a:path w="87312" h="35719">
                    <a:moveTo>
                      <a:pt x="0" y="35719"/>
                    </a:moveTo>
                    <a:lnTo>
                      <a:pt x="43656" y="0"/>
                    </a:lnTo>
                    <a:lnTo>
                      <a:pt x="87312" y="35719"/>
                    </a:lnTo>
                  </a:path>
                </a:pathLst>
              </a:custGeom>
              <a:noFill/>
              <a:ln w="15875">
                <a:solidFill>
                  <a:srgbClr val="FFFFFF"/>
                </a:solidFill>
              </a:ln>
            </p:spPr>
          </p:sp>
          <p:sp>
            <p:nvSpPr>
              <p:cNvPr id="49" name="Freeform 49"/>
              <p:cNvSpPr/>
              <p:nvPr/>
            </p:nvSpPr>
            <p:spPr>
              <a:xfrm>
                <a:off x="666750" y="3894137"/>
                <a:ext cx="9525" cy="47625"/>
              </a:xfrm>
              <a:custGeom>
                <a:avLst/>
                <a:gdLst/>
                <a:ahLst/>
                <a:cxnLst/>
                <a:rect l="l" t="t" r="r" b="b"/>
                <a:pathLst>
                  <a:path w="9525" h="47625">
                    <a:moveTo>
                      <a:pt x="0" y="0"/>
                    </a:moveTo>
                    <a:lnTo>
                      <a:pt x="0" y="47625"/>
                    </a:lnTo>
                  </a:path>
                </a:pathLst>
              </a:custGeom>
              <a:noFill/>
              <a:ln w="15875">
                <a:solidFill>
                  <a:srgbClr val="FFFFFF"/>
                </a:solidFill>
              </a:ln>
            </p:spPr>
          </p:sp>
        </p:grpSp>
        <p:sp>
          <p:nvSpPr>
            <p:cNvPr id="51" name="TextBox 51"/>
            <p:cNvSpPr txBox="1"/>
            <p:nvPr/>
          </p:nvSpPr>
          <p:spPr>
            <a:xfrm>
              <a:off x="928497" y="3790474"/>
              <a:ext cx="537616"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排程复杂</a:t>
              </a:r>
            </a:p>
          </p:txBody>
        </p:sp>
        <p:sp>
          <p:nvSpPr>
            <p:cNvPr id="52" name="TextBox 52"/>
            <p:cNvSpPr txBox="1"/>
            <p:nvPr/>
          </p:nvSpPr>
          <p:spPr>
            <a:xfrm>
              <a:off x="928688" y="3990261"/>
              <a:ext cx="1252068"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约束条件多，人工排程效率低</a:t>
              </a:r>
            </a:p>
          </p:txBody>
        </p:sp>
        <p:sp>
          <p:nvSpPr>
            <p:cNvPr id="53" name="Rectangle 53"/>
            <p:cNvSpPr/>
            <p:nvPr/>
          </p:nvSpPr>
          <p:spPr>
            <a:xfrm>
              <a:off x="381000" y="4305300"/>
              <a:ext cx="2438400" cy="590550"/>
            </a:xfrm>
            <a:prstGeom prst="roundRect">
              <a:avLst>
                <a:gd name="adj" fmla="val 12903"/>
              </a:avLst>
            </a:prstGeom>
            <a:solidFill>
              <a:srgbClr val="EFF5FC"/>
            </a:solidFill>
            <a:ln w="9525">
              <a:solidFill>
                <a:srgbClr val="C7D9F0"/>
              </a:solidFill>
            </a:ln>
          </p:spPr>
        </p:sp>
        <p:sp>
          <p:nvSpPr>
            <p:cNvPr id="54" name="Ellipse 54"/>
            <p:cNvSpPr/>
            <p:nvPr/>
          </p:nvSpPr>
          <p:spPr>
            <a:xfrm>
              <a:off x="495300" y="4429125"/>
              <a:ext cx="342900" cy="342900"/>
            </a:xfrm>
            <a:prstGeom prst="ellipse">
              <a:avLst/>
            </a:prstGeom>
            <a:solidFill>
              <a:srgbClr val="9C331E"/>
            </a:solidFill>
            <a:ln>
              <a:noFill/>
            </a:ln>
          </p:spPr>
        </p:sp>
        <p:grpSp>
          <p:nvGrpSpPr>
            <p:cNvPr id="58" name="Group 58"/>
            <p:cNvGrpSpPr/>
            <p:nvPr/>
          </p:nvGrpSpPr>
          <p:grpSpPr>
            <a:xfrm>
              <a:off x="586699" y="4526500"/>
              <a:ext cx="160095" cy="137543"/>
              <a:chOff x="586699" y="4526500"/>
              <a:chExt cx="160095" cy="137543"/>
            </a:xfrm>
          </p:grpSpPr>
          <p:sp>
            <p:nvSpPr>
              <p:cNvPr id="55" name="Freeform 55"/>
              <p:cNvSpPr/>
              <p:nvPr/>
            </p:nvSpPr>
            <p:spPr>
              <a:xfrm>
                <a:off x="666750" y="457676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56" name="Freeform 56"/>
              <p:cNvSpPr/>
              <p:nvPr/>
            </p:nvSpPr>
            <p:spPr>
              <a:xfrm>
                <a:off x="586699" y="4526500"/>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FFFFFF"/>
                </a:solidFill>
              </a:ln>
            </p:spPr>
          </p:sp>
          <p:sp>
            <p:nvSpPr>
              <p:cNvPr id="57" name="Freeform 57"/>
              <p:cNvSpPr/>
              <p:nvPr/>
            </p:nvSpPr>
            <p:spPr>
              <a:xfrm>
                <a:off x="666750" y="4632325"/>
                <a:ext cx="9525" cy="9525"/>
              </a:xfrm>
              <a:custGeom>
                <a:avLst/>
                <a:gdLst/>
                <a:ahLst/>
                <a:cxnLst/>
                <a:rect l="l" t="t" r="r" b="b"/>
                <a:pathLst>
                  <a:path w="9525" h="9525">
                    <a:moveTo>
                      <a:pt x="0" y="0"/>
                    </a:moveTo>
                    <a:lnTo>
                      <a:pt x="79" y="0"/>
                    </a:lnTo>
                  </a:path>
                </a:pathLst>
              </a:custGeom>
              <a:noFill/>
              <a:ln w="15875">
                <a:solidFill>
                  <a:srgbClr val="FFFFFF"/>
                </a:solidFill>
              </a:ln>
            </p:spPr>
          </p:sp>
        </p:grpSp>
        <p:sp>
          <p:nvSpPr>
            <p:cNvPr id="59" name="TextBox 59"/>
            <p:cNvSpPr txBox="1"/>
            <p:nvPr/>
          </p:nvSpPr>
          <p:spPr>
            <a:xfrm>
              <a:off x="928497" y="4457224"/>
              <a:ext cx="801472"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风险发现滞后</a:t>
              </a:r>
            </a:p>
          </p:txBody>
        </p:sp>
        <p:sp>
          <p:nvSpPr>
            <p:cNvPr id="60" name="TextBox 60"/>
            <p:cNvSpPr txBox="1"/>
            <p:nvPr/>
          </p:nvSpPr>
          <p:spPr>
            <a:xfrm>
              <a:off x="928688" y="4657011"/>
              <a:ext cx="1252068"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异常信号分散，难以及时预警</a:t>
              </a:r>
            </a:p>
          </p:txBody>
        </p:sp>
        <p:sp>
          <p:nvSpPr>
            <p:cNvPr id="61" name="Rectangle 61"/>
            <p:cNvSpPr/>
            <p:nvPr/>
          </p:nvSpPr>
          <p:spPr>
            <a:xfrm>
              <a:off x="381000" y="4972050"/>
              <a:ext cx="2438400" cy="590550"/>
            </a:xfrm>
            <a:prstGeom prst="roundRect">
              <a:avLst>
                <a:gd name="adj" fmla="val 12903"/>
              </a:avLst>
            </a:prstGeom>
            <a:solidFill>
              <a:srgbClr val="EFF5FC"/>
            </a:solidFill>
            <a:ln w="9525">
              <a:solidFill>
                <a:srgbClr val="C7D9F0"/>
              </a:solidFill>
            </a:ln>
          </p:spPr>
        </p:sp>
        <p:sp>
          <p:nvSpPr>
            <p:cNvPr id="62" name="Ellipse 62"/>
            <p:cNvSpPr/>
            <p:nvPr/>
          </p:nvSpPr>
          <p:spPr>
            <a:xfrm>
              <a:off x="495300" y="5095875"/>
              <a:ext cx="342900" cy="342900"/>
            </a:xfrm>
            <a:prstGeom prst="ellipse">
              <a:avLst/>
            </a:prstGeom>
            <a:solidFill>
              <a:srgbClr val="9C331E"/>
            </a:solidFill>
            <a:ln>
              <a:noFill/>
            </a:ln>
          </p:spPr>
        </p:sp>
        <p:grpSp>
          <p:nvGrpSpPr>
            <p:cNvPr id="66" name="Group 66"/>
            <p:cNvGrpSpPr/>
            <p:nvPr/>
          </p:nvGrpSpPr>
          <p:grpSpPr>
            <a:xfrm>
              <a:off x="611187" y="5203825"/>
              <a:ext cx="111125" cy="127000"/>
              <a:chOff x="611187" y="5203825"/>
              <a:chExt cx="111125" cy="127000"/>
            </a:xfrm>
          </p:grpSpPr>
          <p:sp>
            <p:nvSpPr>
              <p:cNvPr id="63" name="Freeform 63"/>
              <p:cNvSpPr/>
              <p:nvPr/>
            </p:nvSpPr>
            <p:spPr>
              <a:xfrm>
                <a:off x="611187" y="5203825"/>
                <a:ext cx="111125" cy="127000"/>
              </a:xfrm>
              <a:custGeom>
                <a:avLst/>
                <a:gdLst/>
                <a:ahLst/>
                <a:cxnLst/>
                <a:rect l="l" t="t" r="r" b="b"/>
                <a:pathLst>
                  <a:path w="111125" h="127000">
                    <a:moveTo>
                      <a:pt x="111125" y="0"/>
                    </a:moveTo>
                    <a:lnTo>
                      <a:pt x="111125" y="127000"/>
                    </a:lnTo>
                    <a:lnTo>
                      <a:pt x="15875" y="127000"/>
                    </a:lnTo>
                    <a:cubicBezTo>
                      <a:pt x="7107" y="127000"/>
                      <a:pt x="0" y="119892"/>
                      <a:pt x="0" y="111125"/>
                    </a:cubicBezTo>
                    <a:lnTo>
                      <a:pt x="0" y="15875"/>
                    </a:lnTo>
                    <a:cubicBezTo>
                      <a:pt x="0" y="7107"/>
                      <a:pt x="7107" y="0"/>
                      <a:pt x="15875" y="0"/>
                    </a:cubicBezTo>
                    <a:lnTo>
                      <a:pt x="111125" y="0"/>
                    </a:lnTo>
                  </a:path>
                </a:pathLst>
              </a:custGeom>
              <a:noFill/>
              <a:ln w="15875">
                <a:solidFill>
                  <a:srgbClr val="FFFFFF"/>
                </a:solidFill>
              </a:ln>
            </p:spPr>
          </p:sp>
          <p:sp>
            <p:nvSpPr>
              <p:cNvPr id="64" name="Freeform 64"/>
              <p:cNvSpPr/>
              <p:nvPr/>
            </p:nvSpPr>
            <p:spPr>
              <a:xfrm>
                <a:off x="611187" y="5299075"/>
                <a:ext cx="111125" cy="15875"/>
              </a:xfrm>
              <a:custGeom>
                <a:avLst/>
                <a:gdLst/>
                <a:ahLst/>
                <a:cxnLst/>
                <a:rect l="l" t="t" r="r" b="b"/>
                <a:pathLst>
                  <a:path w="111125" h="15875">
                    <a:moveTo>
                      <a:pt x="111125" y="0"/>
                    </a:moveTo>
                    <a:lnTo>
                      <a:pt x="15875" y="0"/>
                    </a:lnTo>
                    <a:cubicBezTo>
                      <a:pt x="7107" y="0"/>
                      <a:pt x="0" y="7107"/>
                      <a:pt x="0" y="15875"/>
                    </a:cubicBezTo>
                  </a:path>
                </a:pathLst>
              </a:custGeom>
              <a:noFill/>
              <a:ln w="15875">
                <a:solidFill>
                  <a:srgbClr val="FFFFFF"/>
                </a:solidFill>
              </a:ln>
            </p:spPr>
          </p:sp>
          <p:sp>
            <p:nvSpPr>
              <p:cNvPr id="65" name="Freeform 65"/>
              <p:cNvSpPr/>
              <p:nvPr/>
            </p:nvSpPr>
            <p:spPr>
              <a:xfrm>
                <a:off x="642937" y="5235575"/>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67" name="TextBox 67"/>
            <p:cNvSpPr txBox="1"/>
            <p:nvPr/>
          </p:nvSpPr>
          <p:spPr>
            <a:xfrm>
              <a:off x="928497" y="5123974"/>
              <a:ext cx="801472"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知识复用困难</a:t>
              </a:r>
            </a:p>
          </p:txBody>
        </p:sp>
        <p:sp>
          <p:nvSpPr>
            <p:cNvPr id="68" name="TextBox 68"/>
            <p:cNvSpPr txBox="1"/>
            <p:nvPr/>
          </p:nvSpPr>
          <p:spPr>
            <a:xfrm>
              <a:off x="928688" y="5323761"/>
              <a:ext cx="1347648"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经验沉淀不足，难以规模化复制</a:t>
              </a:r>
            </a:p>
          </p:txBody>
        </p:sp>
      </p:grpSp>
      <p:grpSp>
        <p:nvGrpSpPr>
          <p:cNvPr id="125" name="center-col"/>
          <p:cNvGrpSpPr/>
          <p:nvPr/>
        </p:nvGrpSpPr>
        <p:grpSpPr>
          <a:xfrm>
            <a:off x="4762500" y="1123950"/>
            <a:ext cx="2667000" cy="4438650"/>
            <a:chOff x="4762500" y="1123950"/>
            <a:chExt cx="2667000" cy="4438650"/>
          </a:xfrm>
        </p:grpSpPr>
        <p:sp>
          <p:nvSpPr>
            <p:cNvPr id="70" name="Rectangle 70"/>
            <p:cNvSpPr/>
            <p:nvPr/>
          </p:nvSpPr>
          <p:spPr>
            <a:xfrm>
              <a:off x="4762500" y="1123950"/>
              <a:ext cx="2667000" cy="419100"/>
            </a:xfrm>
            <a:prstGeom prst="roundRect">
              <a:avLst>
                <a:gd name="adj" fmla="val 13636"/>
              </a:avLst>
            </a:prstGeom>
            <a:gradFill>
              <a:gsLst>
                <a:gs pos="0">
                  <a:srgbClr val="6F2516"/>
                </a:gs>
                <a:gs pos="100000">
                  <a:srgbClr val="D64A2E"/>
                </a:gs>
              </a:gsLst>
              <a:lin ang="0" scaled="1"/>
            </a:gradFill>
            <a:ln>
              <a:noFill/>
            </a:ln>
          </p:spPr>
        </p:sp>
        <p:sp>
          <p:nvSpPr>
            <p:cNvPr id="71" name="TextBox 71"/>
            <p:cNvSpPr txBox="1"/>
            <p:nvPr/>
          </p:nvSpPr>
          <p:spPr>
            <a:xfrm>
              <a:off x="5666613" y="119157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六类核心能力</a:t>
              </a:r>
            </a:p>
          </p:txBody>
        </p:sp>
        <p:sp>
          <p:nvSpPr>
            <p:cNvPr id="72" name="TextBox 72"/>
            <p:cNvSpPr txBox="1"/>
            <p:nvPr/>
          </p:nvSpPr>
          <p:spPr>
            <a:xfrm>
              <a:off x="5326596" y="1380411"/>
              <a:ext cx="1538808" cy="140494"/>
            </a:xfrm>
            <a:prstGeom prst="rect">
              <a:avLst/>
            </a:prstGeom>
            <a:noFill/>
            <a:ln>
              <a:noFill/>
            </a:ln>
          </p:spPr>
          <p:txBody>
            <a:bodyPr wrap="none" lIns="0" tIns="0" rIns="0" bIns="0" anchor="t" anchorCtr="0">
              <a:spAutoFit/>
            </a:bodyPr>
            <a:lstStyle/>
            <a:p>
              <a:pPr algn="ctr"/>
              <a:r>
                <a:rPr lang="zh-CN" sz="710" dirty="0">
                  <a:solidFill>
                    <a:srgbClr val="DCE9F8"/>
                  </a:solidFill>
                  <a:latin typeface="+mn-lt"/>
                  <a:ea typeface="+mn-ea"/>
                  <a:cs typeface="+mn-cs"/>
                </a:rPr>
                <a:t>将分散的问题，转化为系统化的能力</a:t>
              </a:r>
            </a:p>
          </p:txBody>
        </p:sp>
        <p:sp>
          <p:nvSpPr>
            <p:cNvPr id="73" name="Rectangle 73"/>
            <p:cNvSpPr/>
            <p:nvPr/>
          </p:nvSpPr>
          <p:spPr>
            <a:xfrm>
              <a:off x="4762500" y="1638300"/>
              <a:ext cx="2667000" cy="590550"/>
            </a:xfrm>
            <a:prstGeom prst="roundRect">
              <a:avLst>
                <a:gd name="adj" fmla="val 12903"/>
              </a:avLst>
            </a:prstGeom>
            <a:gradFill>
              <a:gsLst>
                <a:gs pos="0">
                  <a:srgbClr val="9C331E"/>
                </a:gs>
                <a:gs pos="100000">
                  <a:srgbClr val="D9563B"/>
                </a:gs>
              </a:gsLst>
              <a:lin ang="0" scaled="1"/>
            </a:gradFill>
            <a:ln>
              <a:noFill/>
            </a:ln>
          </p:spPr>
        </p:sp>
        <p:sp>
          <p:nvSpPr>
            <p:cNvPr id="74" name="Ellipse 74"/>
            <p:cNvSpPr/>
            <p:nvPr/>
          </p:nvSpPr>
          <p:spPr>
            <a:xfrm>
              <a:off x="4876800" y="1762125"/>
              <a:ext cx="342900" cy="342900"/>
            </a:xfrm>
            <a:prstGeom prst="ellipse">
              <a:avLst/>
            </a:prstGeom>
            <a:solidFill>
              <a:srgbClr val="FFFFFF"/>
            </a:solidFill>
            <a:ln>
              <a:noFill/>
            </a:ln>
          </p:spPr>
        </p:sp>
        <p:grpSp>
          <p:nvGrpSpPr>
            <p:cNvPr id="78" name="Group 78"/>
            <p:cNvGrpSpPr/>
            <p:nvPr/>
          </p:nvGrpSpPr>
          <p:grpSpPr>
            <a:xfrm>
              <a:off x="4969838" y="1863101"/>
              <a:ext cx="156824" cy="128926"/>
              <a:chOff x="4969838" y="1863101"/>
              <a:chExt cx="156824" cy="128926"/>
            </a:xfrm>
          </p:grpSpPr>
          <p:sp>
            <p:nvSpPr>
              <p:cNvPr id="75" name="Freeform 75"/>
              <p:cNvSpPr/>
              <p:nvPr/>
            </p:nvSpPr>
            <p:spPr>
              <a:xfrm>
                <a:off x="4969838" y="1863101"/>
                <a:ext cx="156824" cy="128926"/>
              </a:xfrm>
              <a:custGeom>
                <a:avLst/>
                <a:gdLst/>
                <a:ahLst/>
                <a:cxnLst/>
                <a:rect l="l" t="t" r="r" b="b"/>
                <a:pathLst>
                  <a:path w="156824" h="128926">
                    <a:moveTo>
                      <a:pt x="128926" y="128926"/>
                    </a:moveTo>
                    <a:cubicBezTo>
                      <a:pt x="156824" y="101027"/>
                      <a:pt x="156824" y="55796"/>
                      <a:pt x="128926" y="27898"/>
                    </a:cubicBezTo>
                    <a:cubicBezTo>
                      <a:pt x="101028" y="0"/>
                      <a:pt x="55796" y="0"/>
                      <a:pt x="27898" y="27898"/>
                    </a:cubicBezTo>
                    <a:cubicBezTo>
                      <a:pt x="0" y="55796"/>
                      <a:pt x="0" y="101027"/>
                      <a:pt x="27898" y="128926"/>
                    </a:cubicBezTo>
                  </a:path>
                </a:pathLst>
              </a:custGeom>
              <a:noFill/>
              <a:ln w="15875">
                <a:solidFill>
                  <a:srgbClr val="9C331E"/>
                </a:solidFill>
              </a:ln>
            </p:spPr>
          </p:sp>
          <p:sp>
            <p:nvSpPr>
              <p:cNvPr id="76" name="Freeform 76"/>
              <p:cNvSpPr/>
              <p:nvPr/>
            </p:nvSpPr>
            <p:spPr>
              <a:xfrm>
                <a:off x="5004687" y="1897958"/>
                <a:ext cx="87126" cy="71621"/>
              </a:xfrm>
              <a:custGeom>
                <a:avLst/>
                <a:gdLst/>
                <a:ahLst/>
                <a:cxnLst/>
                <a:rect l="l" t="t" r="r" b="b"/>
                <a:pathLst>
                  <a:path w="87126" h="71621">
                    <a:moveTo>
                      <a:pt x="71630" y="71621"/>
                    </a:moveTo>
                    <a:cubicBezTo>
                      <a:pt x="87126" y="56121"/>
                      <a:pt x="87124" y="30995"/>
                      <a:pt x="71625" y="15497"/>
                    </a:cubicBezTo>
                    <a:cubicBezTo>
                      <a:pt x="56126" y="0"/>
                      <a:pt x="30999" y="0"/>
                      <a:pt x="15501" y="15497"/>
                    </a:cubicBezTo>
                    <a:cubicBezTo>
                      <a:pt x="2" y="30995"/>
                      <a:pt x="0" y="56121"/>
                      <a:pt x="15496" y="71621"/>
                    </a:cubicBezTo>
                  </a:path>
                </a:pathLst>
              </a:custGeom>
              <a:noFill/>
              <a:ln w="15875">
                <a:solidFill>
                  <a:srgbClr val="9C331E"/>
                </a:solidFill>
              </a:ln>
            </p:spPr>
          </p:sp>
          <p:sp>
            <p:nvSpPr>
              <p:cNvPr id="77" name="Freeform 77"/>
              <p:cNvSpPr/>
              <p:nvPr/>
            </p:nvSpPr>
            <p:spPr>
              <a:xfrm>
                <a:off x="5040312" y="1933575"/>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9C331E"/>
                </a:solidFill>
              </a:ln>
            </p:spPr>
          </p:sp>
        </p:grpSp>
        <p:sp>
          <p:nvSpPr>
            <p:cNvPr id="79" name="TextBox 79"/>
            <p:cNvSpPr txBox="1"/>
            <p:nvPr/>
          </p:nvSpPr>
          <p:spPr>
            <a:xfrm>
              <a:off x="5308473" y="186261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感知</a:t>
              </a:r>
            </a:p>
          </p:txBody>
        </p:sp>
        <p:sp>
          <p:nvSpPr>
            <p:cNvPr id="80" name="TextBox 80"/>
            <p:cNvSpPr txBox="1"/>
            <p:nvPr/>
          </p:nvSpPr>
          <p:spPr>
            <a:xfrm>
              <a:off x="5824538" y="1818561"/>
              <a:ext cx="109156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FFFFFF"/>
                  </a:solidFill>
                  <a:latin typeface="+mn-lt"/>
                  <a:ea typeface="+mn-ea"/>
                  <a:cs typeface="+mn-cs"/>
                </a:rPr>
                <a:t>多源数据融合</a:t>
              </a:r>
              <a:br/>
              <a:r>
                <a:rPr lang="zh-CN" sz="710" dirty="0">
                  <a:solidFill>
                    <a:srgbClr val="FFFFFF"/>
                  </a:solidFill>
                  <a:latin typeface="+mn-lt"/>
                  <a:ea typeface="+mn-ea"/>
                  <a:cs typeface="+mn-cs"/>
                </a:rPr>
                <a:t>构建全面、实时的业务视图</a:t>
              </a:r>
            </a:p>
          </p:txBody>
        </p:sp>
        <p:sp>
          <p:nvSpPr>
            <p:cNvPr id="81" name="Rectangle 81"/>
            <p:cNvSpPr/>
            <p:nvPr/>
          </p:nvSpPr>
          <p:spPr>
            <a:xfrm>
              <a:off x="4762500" y="2305050"/>
              <a:ext cx="2667000" cy="590550"/>
            </a:xfrm>
            <a:prstGeom prst="roundRect">
              <a:avLst>
                <a:gd name="adj" fmla="val 12903"/>
              </a:avLst>
            </a:prstGeom>
            <a:gradFill>
              <a:gsLst>
                <a:gs pos="0">
                  <a:srgbClr val="9C331E"/>
                </a:gs>
                <a:gs pos="100000">
                  <a:srgbClr val="D9563B"/>
                </a:gs>
              </a:gsLst>
              <a:lin ang="0" scaled="1"/>
            </a:gradFill>
            <a:ln>
              <a:noFill/>
            </a:ln>
          </p:spPr>
        </p:sp>
        <p:sp>
          <p:nvSpPr>
            <p:cNvPr id="82" name="Ellipse 82"/>
            <p:cNvSpPr/>
            <p:nvPr/>
          </p:nvSpPr>
          <p:spPr>
            <a:xfrm>
              <a:off x="4876800" y="2428875"/>
              <a:ext cx="342900" cy="342900"/>
            </a:xfrm>
            <a:prstGeom prst="ellipse">
              <a:avLst/>
            </a:prstGeom>
            <a:solidFill>
              <a:srgbClr val="FFFFFF"/>
            </a:solidFill>
            <a:ln>
              <a:noFill/>
            </a:ln>
          </p:spPr>
        </p:sp>
        <p:grpSp>
          <p:nvGrpSpPr>
            <p:cNvPr id="85" name="Group 85"/>
            <p:cNvGrpSpPr/>
            <p:nvPr/>
          </p:nvGrpSpPr>
          <p:grpSpPr>
            <a:xfrm>
              <a:off x="4984750" y="2552700"/>
              <a:ext cx="127000" cy="112712"/>
              <a:chOff x="4984750" y="2552700"/>
              <a:chExt cx="127000" cy="112712"/>
            </a:xfrm>
          </p:grpSpPr>
          <p:sp>
            <p:nvSpPr>
              <p:cNvPr id="83" name="Freeform 83"/>
              <p:cNvSpPr/>
              <p:nvPr/>
            </p:nvSpPr>
            <p:spPr>
              <a:xfrm>
                <a:off x="4984750" y="2655887"/>
                <a:ext cx="127000" cy="9525"/>
              </a:xfrm>
              <a:custGeom>
                <a:avLst/>
                <a:gdLst/>
                <a:ahLst/>
                <a:cxnLst/>
                <a:rect l="l" t="t" r="r" b="b"/>
                <a:pathLst>
                  <a:path w="127000" h="9525">
                    <a:moveTo>
                      <a:pt x="0" y="0"/>
                    </a:moveTo>
                    <a:lnTo>
                      <a:pt x="127000" y="0"/>
                    </a:lnTo>
                  </a:path>
                </a:pathLst>
              </a:custGeom>
              <a:noFill/>
              <a:ln w="15875">
                <a:solidFill>
                  <a:srgbClr val="9C331E"/>
                </a:solidFill>
              </a:ln>
            </p:spPr>
          </p:sp>
          <p:sp>
            <p:nvSpPr>
              <p:cNvPr id="84" name="Freeform 84"/>
              <p:cNvSpPr/>
              <p:nvPr/>
            </p:nvSpPr>
            <p:spPr>
              <a:xfrm>
                <a:off x="4984750" y="2552700"/>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9C331E"/>
                </a:solidFill>
              </a:ln>
            </p:spPr>
          </p:sp>
        </p:grpSp>
        <p:sp>
          <p:nvSpPr>
            <p:cNvPr id="86" name="TextBox 86"/>
            <p:cNvSpPr txBox="1"/>
            <p:nvPr/>
          </p:nvSpPr>
          <p:spPr>
            <a:xfrm>
              <a:off x="5308473" y="252936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预测</a:t>
              </a:r>
            </a:p>
          </p:txBody>
        </p:sp>
        <p:sp>
          <p:nvSpPr>
            <p:cNvPr id="87" name="TextBox 87"/>
            <p:cNvSpPr txBox="1"/>
            <p:nvPr/>
          </p:nvSpPr>
          <p:spPr>
            <a:xfrm>
              <a:off x="5824538" y="2485311"/>
              <a:ext cx="82105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FFFFFF"/>
                  </a:solidFill>
                  <a:latin typeface="+mn-lt"/>
                  <a:ea typeface="+mn-ea"/>
                  <a:cs typeface="+mn-cs"/>
                </a:rPr>
                <a:t>从历史走向未来</a:t>
              </a:r>
              <a:br/>
              <a:r>
                <a:rPr lang="zh-CN" sz="710" dirty="0">
                  <a:solidFill>
                    <a:srgbClr val="FFFFFF"/>
                  </a:solidFill>
                  <a:latin typeface="+mn-lt"/>
                  <a:ea typeface="+mn-ea"/>
                  <a:cs typeface="+mn-cs"/>
                </a:rPr>
                <a:t>识别趋势、提前预判</a:t>
              </a:r>
            </a:p>
          </p:txBody>
        </p:sp>
        <p:sp>
          <p:nvSpPr>
            <p:cNvPr id="88" name="Rectangle 88"/>
            <p:cNvSpPr/>
            <p:nvPr/>
          </p:nvSpPr>
          <p:spPr>
            <a:xfrm>
              <a:off x="4762500" y="2971800"/>
              <a:ext cx="2667000" cy="590550"/>
            </a:xfrm>
            <a:prstGeom prst="roundRect">
              <a:avLst>
                <a:gd name="adj" fmla="val 12903"/>
              </a:avLst>
            </a:prstGeom>
            <a:gradFill>
              <a:gsLst>
                <a:gs pos="0">
                  <a:srgbClr val="9C331E"/>
                </a:gs>
                <a:gs pos="100000">
                  <a:srgbClr val="D9563B"/>
                </a:gs>
              </a:gsLst>
              <a:lin ang="0" scaled="1"/>
            </a:gradFill>
            <a:ln>
              <a:noFill/>
            </a:ln>
          </p:spPr>
        </p:sp>
        <p:sp>
          <p:nvSpPr>
            <p:cNvPr id="89" name="Ellipse 89"/>
            <p:cNvSpPr/>
            <p:nvPr/>
          </p:nvSpPr>
          <p:spPr>
            <a:xfrm>
              <a:off x="4876800" y="3095625"/>
              <a:ext cx="342900" cy="342900"/>
            </a:xfrm>
            <a:prstGeom prst="ellipse">
              <a:avLst/>
            </a:prstGeom>
            <a:solidFill>
              <a:srgbClr val="FFFFFF"/>
            </a:solidFill>
            <a:ln>
              <a:noFill/>
            </a:ln>
          </p:spPr>
        </p:sp>
        <p:grpSp>
          <p:nvGrpSpPr>
            <p:cNvPr id="92" name="Group 92"/>
            <p:cNvGrpSpPr/>
            <p:nvPr/>
          </p:nvGrpSpPr>
          <p:grpSpPr>
            <a:xfrm>
              <a:off x="4973328" y="3192153"/>
              <a:ext cx="149844" cy="149844"/>
              <a:chOff x="4973328" y="3192153"/>
              <a:chExt cx="149844" cy="149844"/>
            </a:xfrm>
          </p:grpSpPr>
          <p:sp>
            <p:nvSpPr>
              <p:cNvPr id="90" name="Freeform 90"/>
              <p:cNvSpPr/>
              <p:nvPr/>
            </p:nvSpPr>
            <p:spPr>
              <a:xfrm>
                <a:off x="4973328" y="3192153"/>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9C331E"/>
                </a:solidFill>
              </a:ln>
            </p:spPr>
          </p:sp>
          <p:sp>
            <p:nvSpPr>
              <p:cNvPr id="91" name="Freeform 91"/>
              <p:cNvSpPr/>
              <p:nvPr/>
            </p:nvSpPr>
            <p:spPr>
              <a:xfrm>
                <a:off x="5024437" y="32432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9C331E"/>
                </a:solidFill>
              </a:ln>
            </p:spPr>
          </p:sp>
        </p:grpSp>
        <p:sp>
          <p:nvSpPr>
            <p:cNvPr id="93" name="TextBox 93"/>
            <p:cNvSpPr txBox="1"/>
            <p:nvPr/>
          </p:nvSpPr>
          <p:spPr>
            <a:xfrm>
              <a:off x="5308473" y="319611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优化</a:t>
              </a:r>
            </a:p>
          </p:txBody>
        </p:sp>
        <p:sp>
          <p:nvSpPr>
            <p:cNvPr id="94" name="TextBox 94"/>
            <p:cNvSpPr txBox="1"/>
            <p:nvPr/>
          </p:nvSpPr>
          <p:spPr>
            <a:xfrm>
              <a:off x="5824538" y="3152061"/>
              <a:ext cx="82105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FFFFFF"/>
                  </a:solidFill>
                  <a:latin typeface="+mn-lt"/>
                  <a:ea typeface="+mn-ea"/>
                  <a:cs typeface="+mn-cs"/>
                </a:rPr>
                <a:t>多目标权衡</a:t>
              </a:r>
              <a:br/>
              <a:r>
                <a:rPr lang="zh-CN" sz="710" dirty="0">
                  <a:solidFill>
                    <a:srgbClr val="FFFFFF"/>
                  </a:solidFill>
                  <a:latin typeface="+mn-lt"/>
                  <a:ea typeface="+mn-ea"/>
                  <a:cs typeface="+mn-cs"/>
                </a:rPr>
                <a:t>寻找更优的决策方案</a:t>
              </a:r>
            </a:p>
          </p:txBody>
        </p:sp>
        <p:sp>
          <p:nvSpPr>
            <p:cNvPr id="95" name="Rectangle 95"/>
            <p:cNvSpPr/>
            <p:nvPr/>
          </p:nvSpPr>
          <p:spPr>
            <a:xfrm>
              <a:off x="4762500" y="3638550"/>
              <a:ext cx="2667000" cy="590550"/>
            </a:xfrm>
            <a:prstGeom prst="roundRect">
              <a:avLst>
                <a:gd name="adj" fmla="val 12903"/>
              </a:avLst>
            </a:prstGeom>
            <a:gradFill>
              <a:gsLst>
                <a:gs pos="0">
                  <a:srgbClr val="9C331E"/>
                </a:gs>
                <a:gs pos="100000">
                  <a:srgbClr val="D9563B"/>
                </a:gs>
              </a:gsLst>
              <a:lin ang="0" scaled="1"/>
            </a:gradFill>
            <a:ln>
              <a:noFill/>
            </a:ln>
          </p:spPr>
        </p:sp>
        <p:sp>
          <p:nvSpPr>
            <p:cNvPr id="96" name="Ellipse 96"/>
            <p:cNvSpPr/>
            <p:nvPr/>
          </p:nvSpPr>
          <p:spPr>
            <a:xfrm>
              <a:off x="4876800" y="3762375"/>
              <a:ext cx="342900" cy="342900"/>
            </a:xfrm>
            <a:prstGeom prst="ellipse">
              <a:avLst/>
            </a:prstGeom>
            <a:solidFill>
              <a:srgbClr val="FFFFFF"/>
            </a:solidFill>
            <a:ln>
              <a:noFill/>
            </a:ln>
          </p:spPr>
        </p:sp>
        <p:grpSp>
          <p:nvGrpSpPr>
            <p:cNvPr id="102" name="Group 102"/>
            <p:cNvGrpSpPr/>
            <p:nvPr/>
          </p:nvGrpSpPr>
          <p:grpSpPr>
            <a:xfrm>
              <a:off x="4992687" y="3862387"/>
              <a:ext cx="111125" cy="142875"/>
              <a:chOff x="4992687" y="3862387"/>
              <a:chExt cx="111125" cy="142875"/>
            </a:xfrm>
          </p:grpSpPr>
          <p:sp>
            <p:nvSpPr>
              <p:cNvPr id="97" name="Freeform 97"/>
              <p:cNvSpPr/>
              <p:nvPr/>
            </p:nvSpPr>
            <p:spPr>
              <a:xfrm>
                <a:off x="5064125" y="3862387"/>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9C331E"/>
                </a:solidFill>
              </a:ln>
            </p:spPr>
          </p:sp>
          <p:sp>
            <p:nvSpPr>
              <p:cNvPr id="98" name="Freeform 98"/>
              <p:cNvSpPr/>
              <p:nvPr/>
            </p:nvSpPr>
            <p:spPr>
              <a:xfrm>
                <a:off x="4992687" y="3862387"/>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9C331E"/>
                </a:solidFill>
              </a:ln>
            </p:spPr>
          </p:sp>
          <p:sp>
            <p:nvSpPr>
              <p:cNvPr id="99" name="Freeform 99"/>
              <p:cNvSpPr/>
              <p:nvPr/>
            </p:nvSpPr>
            <p:spPr>
              <a:xfrm>
                <a:off x="5024437" y="3910012"/>
                <a:ext cx="9525" cy="9525"/>
              </a:xfrm>
              <a:custGeom>
                <a:avLst/>
                <a:gdLst/>
                <a:ahLst/>
                <a:cxnLst/>
                <a:rect l="l" t="t" r="r" b="b"/>
                <a:pathLst>
                  <a:path w="9525" h="9525">
                    <a:moveTo>
                      <a:pt x="0" y="0"/>
                    </a:moveTo>
                    <a:lnTo>
                      <a:pt x="7937" y="0"/>
                    </a:lnTo>
                  </a:path>
                </a:pathLst>
              </a:custGeom>
              <a:noFill/>
              <a:ln w="15875">
                <a:solidFill>
                  <a:srgbClr val="9C331E"/>
                </a:solidFill>
              </a:ln>
            </p:spPr>
          </p:sp>
          <p:sp>
            <p:nvSpPr>
              <p:cNvPr id="100" name="Freeform 100"/>
              <p:cNvSpPr/>
              <p:nvPr/>
            </p:nvSpPr>
            <p:spPr>
              <a:xfrm>
                <a:off x="5024437" y="3941762"/>
                <a:ext cx="47625" cy="9525"/>
              </a:xfrm>
              <a:custGeom>
                <a:avLst/>
                <a:gdLst/>
                <a:ahLst/>
                <a:cxnLst/>
                <a:rect l="l" t="t" r="r" b="b"/>
                <a:pathLst>
                  <a:path w="47625" h="9525">
                    <a:moveTo>
                      <a:pt x="0" y="0"/>
                    </a:moveTo>
                    <a:lnTo>
                      <a:pt x="47625" y="0"/>
                    </a:lnTo>
                  </a:path>
                </a:pathLst>
              </a:custGeom>
              <a:noFill/>
              <a:ln w="15875">
                <a:solidFill>
                  <a:srgbClr val="9C331E"/>
                </a:solidFill>
              </a:ln>
            </p:spPr>
          </p:sp>
          <p:sp>
            <p:nvSpPr>
              <p:cNvPr id="101" name="Freeform 101"/>
              <p:cNvSpPr/>
              <p:nvPr/>
            </p:nvSpPr>
            <p:spPr>
              <a:xfrm>
                <a:off x="5024437" y="3973512"/>
                <a:ext cx="47625" cy="9525"/>
              </a:xfrm>
              <a:custGeom>
                <a:avLst/>
                <a:gdLst/>
                <a:ahLst/>
                <a:cxnLst/>
                <a:rect l="l" t="t" r="r" b="b"/>
                <a:pathLst>
                  <a:path w="47625" h="9525">
                    <a:moveTo>
                      <a:pt x="0" y="0"/>
                    </a:moveTo>
                    <a:lnTo>
                      <a:pt x="47625" y="0"/>
                    </a:lnTo>
                  </a:path>
                </a:pathLst>
              </a:custGeom>
              <a:noFill/>
              <a:ln w="15875">
                <a:solidFill>
                  <a:srgbClr val="9C331E"/>
                </a:solidFill>
              </a:ln>
            </p:spPr>
          </p:sp>
        </p:grpSp>
        <p:sp>
          <p:nvSpPr>
            <p:cNvPr id="103" name="TextBox 103"/>
            <p:cNvSpPr txBox="1"/>
            <p:nvPr/>
          </p:nvSpPr>
          <p:spPr>
            <a:xfrm>
              <a:off x="5308473" y="386286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生成</a:t>
              </a:r>
            </a:p>
          </p:txBody>
        </p:sp>
        <p:sp>
          <p:nvSpPr>
            <p:cNvPr id="104" name="TextBox 104"/>
            <p:cNvSpPr txBox="1"/>
            <p:nvPr/>
          </p:nvSpPr>
          <p:spPr>
            <a:xfrm>
              <a:off x="5824538" y="3818811"/>
              <a:ext cx="73088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FFFFFF"/>
                  </a:solidFill>
                  <a:latin typeface="+mn-lt"/>
                  <a:ea typeface="+mn-ea"/>
                  <a:cs typeface="+mn-cs"/>
                </a:rPr>
                <a:t>沉淀知识与内容</a:t>
              </a:r>
              <a:br/>
              <a:r>
                <a:rPr lang="zh-CN" sz="710" dirty="0">
                  <a:solidFill>
                    <a:srgbClr val="FFFFFF"/>
                  </a:solidFill>
                  <a:latin typeface="+mn-lt"/>
                  <a:ea typeface="+mn-ea"/>
                  <a:cs typeface="+mn-cs"/>
                </a:rPr>
                <a:t>快速形成可用成果</a:t>
              </a:r>
            </a:p>
          </p:txBody>
        </p:sp>
        <p:sp>
          <p:nvSpPr>
            <p:cNvPr id="105" name="Rectangle 105"/>
            <p:cNvSpPr/>
            <p:nvPr/>
          </p:nvSpPr>
          <p:spPr>
            <a:xfrm>
              <a:off x="4762500" y="4305300"/>
              <a:ext cx="2667000" cy="590550"/>
            </a:xfrm>
            <a:prstGeom prst="roundRect">
              <a:avLst>
                <a:gd name="adj" fmla="val 12903"/>
              </a:avLst>
            </a:prstGeom>
            <a:gradFill>
              <a:gsLst>
                <a:gs pos="0">
                  <a:srgbClr val="9C331E"/>
                </a:gs>
                <a:gs pos="100000">
                  <a:srgbClr val="D9563B"/>
                </a:gs>
              </a:gsLst>
              <a:lin ang="0" scaled="1"/>
            </a:gradFill>
            <a:ln>
              <a:noFill/>
            </a:ln>
          </p:spPr>
        </p:sp>
        <p:sp>
          <p:nvSpPr>
            <p:cNvPr id="106" name="Ellipse 106"/>
            <p:cNvSpPr/>
            <p:nvPr/>
          </p:nvSpPr>
          <p:spPr>
            <a:xfrm>
              <a:off x="4876800" y="4429125"/>
              <a:ext cx="342900" cy="342900"/>
            </a:xfrm>
            <a:prstGeom prst="ellipse">
              <a:avLst/>
            </a:prstGeom>
            <a:solidFill>
              <a:srgbClr val="FFFFFF"/>
            </a:solidFill>
            <a:ln>
              <a:noFill/>
            </a:ln>
          </p:spPr>
        </p:sp>
        <p:grpSp>
          <p:nvGrpSpPr>
            <p:cNvPr id="111" name="Group 111"/>
            <p:cNvGrpSpPr/>
            <p:nvPr/>
          </p:nvGrpSpPr>
          <p:grpSpPr>
            <a:xfrm>
              <a:off x="4976812" y="4537075"/>
              <a:ext cx="142875" cy="127000"/>
              <a:chOff x="4976812" y="4537075"/>
              <a:chExt cx="142875" cy="127000"/>
            </a:xfrm>
          </p:grpSpPr>
          <p:sp>
            <p:nvSpPr>
              <p:cNvPr id="107" name="Freeform 107"/>
              <p:cNvSpPr/>
              <p:nvPr/>
            </p:nvSpPr>
            <p:spPr>
              <a:xfrm>
                <a:off x="4976812" y="4560887"/>
                <a:ext cx="142875" cy="9525"/>
              </a:xfrm>
              <a:custGeom>
                <a:avLst/>
                <a:gdLst/>
                <a:ahLst/>
                <a:cxnLst/>
                <a:rect l="l" t="t" r="r" b="b"/>
                <a:pathLst>
                  <a:path w="142875" h="9525">
                    <a:moveTo>
                      <a:pt x="142875" y="0"/>
                    </a:moveTo>
                    <a:lnTo>
                      <a:pt x="0" y="0"/>
                    </a:lnTo>
                  </a:path>
                </a:pathLst>
              </a:custGeom>
              <a:noFill/>
              <a:ln w="15875">
                <a:solidFill>
                  <a:srgbClr val="9C331E"/>
                </a:solidFill>
              </a:ln>
            </p:spPr>
          </p:sp>
          <p:sp>
            <p:nvSpPr>
              <p:cNvPr id="108" name="Freeform 108"/>
              <p:cNvSpPr/>
              <p:nvPr/>
            </p:nvSpPr>
            <p:spPr>
              <a:xfrm>
                <a:off x="5095875" y="4537075"/>
                <a:ext cx="23812" cy="47625"/>
              </a:xfrm>
              <a:custGeom>
                <a:avLst/>
                <a:gdLst/>
                <a:ahLst/>
                <a:cxnLst/>
                <a:rect l="l" t="t" r="r" b="b"/>
                <a:pathLst>
                  <a:path w="23812" h="47625">
                    <a:moveTo>
                      <a:pt x="0" y="47625"/>
                    </a:moveTo>
                    <a:lnTo>
                      <a:pt x="23812" y="23812"/>
                    </a:lnTo>
                    <a:lnTo>
                      <a:pt x="0" y="0"/>
                    </a:lnTo>
                  </a:path>
                </a:pathLst>
              </a:custGeom>
              <a:noFill/>
              <a:ln w="15875">
                <a:solidFill>
                  <a:srgbClr val="9C331E"/>
                </a:solidFill>
              </a:ln>
            </p:spPr>
          </p:sp>
          <p:sp>
            <p:nvSpPr>
              <p:cNvPr id="109" name="Freeform 109"/>
              <p:cNvSpPr/>
              <p:nvPr/>
            </p:nvSpPr>
            <p:spPr>
              <a:xfrm>
                <a:off x="4976812" y="4616450"/>
                <a:ext cx="23812" cy="47625"/>
              </a:xfrm>
              <a:custGeom>
                <a:avLst/>
                <a:gdLst/>
                <a:ahLst/>
                <a:cxnLst/>
                <a:rect l="l" t="t" r="r" b="b"/>
                <a:pathLst>
                  <a:path w="23812" h="47625">
                    <a:moveTo>
                      <a:pt x="23812" y="47625"/>
                    </a:moveTo>
                    <a:lnTo>
                      <a:pt x="0" y="23812"/>
                    </a:lnTo>
                    <a:lnTo>
                      <a:pt x="23812" y="0"/>
                    </a:lnTo>
                  </a:path>
                </a:pathLst>
              </a:custGeom>
              <a:noFill/>
              <a:ln w="15875">
                <a:solidFill>
                  <a:srgbClr val="9C331E"/>
                </a:solidFill>
              </a:ln>
            </p:spPr>
          </p:sp>
          <p:sp>
            <p:nvSpPr>
              <p:cNvPr id="110" name="Freeform 110"/>
              <p:cNvSpPr/>
              <p:nvPr/>
            </p:nvSpPr>
            <p:spPr>
              <a:xfrm>
                <a:off x="4976812" y="4640262"/>
                <a:ext cx="142875" cy="9525"/>
              </a:xfrm>
              <a:custGeom>
                <a:avLst/>
                <a:gdLst/>
                <a:ahLst/>
                <a:cxnLst/>
                <a:rect l="l" t="t" r="r" b="b"/>
                <a:pathLst>
                  <a:path w="142875" h="9525">
                    <a:moveTo>
                      <a:pt x="0" y="0"/>
                    </a:moveTo>
                    <a:lnTo>
                      <a:pt x="142875" y="0"/>
                    </a:lnTo>
                  </a:path>
                </a:pathLst>
              </a:custGeom>
              <a:noFill/>
              <a:ln w="15875">
                <a:solidFill>
                  <a:srgbClr val="9C331E"/>
                </a:solidFill>
              </a:ln>
            </p:spPr>
          </p:sp>
        </p:grpSp>
        <p:sp>
          <p:nvSpPr>
            <p:cNvPr id="112" name="TextBox 112"/>
            <p:cNvSpPr txBox="1"/>
            <p:nvPr/>
          </p:nvSpPr>
          <p:spPr>
            <a:xfrm>
              <a:off x="5308473" y="452961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调度</a:t>
              </a:r>
            </a:p>
          </p:txBody>
        </p:sp>
        <p:sp>
          <p:nvSpPr>
            <p:cNvPr id="113" name="TextBox 113"/>
            <p:cNvSpPr txBox="1"/>
            <p:nvPr/>
          </p:nvSpPr>
          <p:spPr>
            <a:xfrm>
              <a:off x="5824538" y="4485561"/>
              <a:ext cx="91122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FFFFFF"/>
                  </a:solidFill>
                  <a:latin typeface="+mn-lt"/>
                  <a:ea typeface="+mn-ea"/>
                  <a:cs typeface="+mn-cs"/>
                </a:rPr>
                <a:t>资源与任务的动态匹配</a:t>
              </a:r>
              <a:br/>
              <a:r>
                <a:rPr lang="zh-CN" sz="710" dirty="0">
                  <a:solidFill>
                    <a:srgbClr val="FFFFFF"/>
                  </a:solidFill>
                  <a:latin typeface="+mn-lt"/>
                  <a:ea typeface="+mn-ea"/>
                  <a:cs typeface="+mn-cs"/>
                </a:rPr>
                <a:t>实现高效协同运转</a:t>
              </a:r>
            </a:p>
          </p:txBody>
        </p:sp>
        <p:sp>
          <p:nvSpPr>
            <p:cNvPr id="114" name="Rectangle 114"/>
            <p:cNvSpPr/>
            <p:nvPr/>
          </p:nvSpPr>
          <p:spPr>
            <a:xfrm>
              <a:off x="4762500" y="4972050"/>
              <a:ext cx="2667000" cy="590550"/>
            </a:xfrm>
            <a:prstGeom prst="roundRect">
              <a:avLst>
                <a:gd name="adj" fmla="val 12903"/>
              </a:avLst>
            </a:prstGeom>
            <a:gradFill>
              <a:gsLst>
                <a:gs pos="0">
                  <a:srgbClr val="9C331E"/>
                </a:gs>
                <a:gs pos="100000">
                  <a:srgbClr val="D9563B"/>
                </a:gs>
              </a:gsLst>
              <a:lin ang="0" scaled="1"/>
            </a:gradFill>
            <a:ln>
              <a:noFill/>
            </a:ln>
          </p:spPr>
        </p:sp>
        <p:sp>
          <p:nvSpPr>
            <p:cNvPr id="115" name="Ellipse 115"/>
            <p:cNvSpPr/>
            <p:nvPr/>
          </p:nvSpPr>
          <p:spPr>
            <a:xfrm>
              <a:off x="4876800" y="5095875"/>
              <a:ext cx="342900" cy="342900"/>
            </a:xfrm>
            <a:prstGeom prst="ellipse">
              <a:avLst/>
            </a:prstGeom>
            <a:solidFill>
              <a:srgbClr val="FFFFFF"/>
            </a:solidFill>
            <a:ln>
              <a:noFill/>
            </a:ln>
          </p:spPr>
        </p:sp>
        <p:grpSp>
          <p:nvGrpSpPr>
            <p:cNvPr id="122" name="Group 122"/>
            <p:cNvGrpSpPr/>
            <p:nvPr/>
          </p:nvGrpSpPr>
          <p:grpSpPr>
            <a:xfrm>
              <a:off x="4976812" y="5195887"/>
              <a:ext cx="142875" cy="142875"/>
              <a:chOff x="4976812" y="5195887"/>
              <a:chExt cx="142875" cy="142875"/>
            </a:xfrm>
          </p:grpSpPr>
          <p:sp>
            <p:nvSpPr>
              <p:cNvPr id="116" name="Freeform 116"/>
              <p:cNvSpPr/>
              <p:nvPr/>
            </p:nvSpPr>
            <p:spPr>
              <a:xfrm>
                <a:off x="5032375" y="52593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331E"/>
                </a:solidFill>
              </a:ln>
            </p:spPr>
          </p:sp>
          <p:sp>
            <p:nvSpPr>
              <p:cNvPr id="117" name="Freeform 117"/>
              <p:cNvSpPr/>
              <p:nvPr/>
            </p:nvSpPr>
            <p:spPr>
              <a:xfrm>
                <a:off x="5016500" y="5314950"/>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9C331E"/>
                </a:solidFill>
              </a:ln>
            </p:spPr>
          </p:sp>
          <p:sp>
            <p:nvSpPr>
              <p:cNvPr id="118" name="Freeform 118"/>
              <p:cNvSpPr/>
              <p:nvPr/>
            </p:nvSpPr>
            <p:spPr>
              <a:xfrm>
                <a:off x="5072062" y="51958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331E"/>
                </a:solidFill>
              </a:ln>
            </p:spPr>
          </p:sp>
          <p:sp>
            <p:nvSpPr>
              <p:cNvPr id="119" name="Freeform 119"/>
              <p:cNvSpPr/>
              <p:nvPr/>
            </p:nvSpPr>
            <p:spPr>
              <a:xfrm>
                <a:off x="5087937" y="5251450"/>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9C331E"/>
                </a:solidFill>
              </a:ln>
            </p:spPr>
          </p:sp>
          <p:sp>
            <p:nvSpPr>
              <p:cNvPr id="120" name="Freeform 120"/>
              <p:cNvSpPr/>
              <p:nvPr/>
            </p:nvSpPr>
            <p:spPr>
              <a:xfrm>
                <a:off x="4992687" y="51958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331E"/>
                </a:solidFill>
              </a:ln>
            </p:spPr>
          </p:sp>
          <p:sp>
            <p:nvSpPr>
              <p:cNvPr id="121" name="Freeform 121"/>
              <p:cNvSpPr/>
              <p:nvPr/>
            </p:nvSpPr>
            <p:spPr>
              <a:xfrm>
                <a:off x="4976812" y="5251450"/>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9C331E"/>
                </a:solidFill>
              </a:ln>
            </p:spPr>
          </p:sp>
        </p:grpSp>
        <p:sp>
          <p:nvSpPr>
            <p:cNvPr id="123" name="TextBox 123"/>
            <p:cNvSpPr txBox="1"/>
            <p:nvPr/>
          </p:nvSpPr>
          <p:spPr>
            <a:xfrm>
              <a:off x="5308473" y="519636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协同</a:t>
              </a:r>
            </a:p>
          </p:txBody>
        </p:sp>
        <p:sp>
          <p:nvSpPr>
            <p:cNvPr id="124" name="TextBox 124"/>
            <p:cNvSpPr txBox="1"/>
            <p:nvPr/>
          </p:nvSpPr>
          <p:spPr>
            <a:xfrm>
              <a:off x="5824538" y="5152311"/>
              <a:ext cx="100139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FFFFFF"/>
                  </a:solidFill>
                  <a:latin typeface="+mn-lt"/>
                  <a:ea typeface="+mn-ea"/>
                  <a:cs typeface="+mn-cs"/>
                </a:rPr>
                <a:t>打通人与系统</a:t>
              </a:r>
              <a:br/>
              <a:r>
                <a:rPr lang="zh-CN" sz="710" dirty="0">
                  <a:solidFill>
                    <a:srgbClr val="FFFFFF"/>
                  </a:solidFill>
                  <a:latin typeface="+mn-lt"/>
                  <a:ea typeface="+mn-ea"/>
                  <a:cs typeface="+mn-cs"/>
                </a:rPr>
                <a:t>促进跨部门、跨环节协同</a:t>
              </a:r>
            </a:p>
          </p:txBody>
        </p:sp>
      </p:grpSp>
      <p:grpSp>
        <p:nvGrpSpPr>
          <p:cNvPr id="167" name="right-col"/>
          <p:cNvGrpSpPr/>
          <p:nvPr/>
        </p:nvGrpSpPr>
        <p:grpSpPr>
          <a:xfrm>
            <a:off x="9372600" y="1123950"/>
            <a:ext cx="2438400" cy="4438650"/>
            <a:chOff x="9372600" y="1123950"/>
            <a:chExt cx="2438400" cy="4438650"/>
          </a:xfrm>
        </p:grpSpPr>
        <p:sp>
          <p:nvSpPr>
            <p:cNvPr id="126" name="Rectangle 126"/>
            <p:cNvSpPr/>
            <p:nvPr/>
          </p:nvSpPr>
          <p:spPr>
            <a:xfrm>
              <a:off x="9372600" y="1123950"/>
              <a:ext cx="2438400" cy="419100"/>
            </a:xfrm>
            <a:prstGeom prst="roundRect">
              <a:avLst>
                <a:gd name="adj" fmla="val 13636"/>
              </a:avLst>
            </a:prstGeom>
            <a:gradFill>
              <a:gsLst>
                <a:gs pos="0">
                  <a:srgbClr val="6F2516"/>
                </a:gs>
                <a:gs pos="100000">
                  <a:srgbClr val="D64A2E"/>
                </a:gs>
              </a:gsLst>
              <a:lin ang="0" scaled="1"/>
            </a:gradFill>
            <a:ln>
              <a:noFill/>
            </a:ln>
          </p:spPr>
        </p:sp>
        <p:sp>
          <p:nvSpPr>
            <p:cNvPr id="127" name="TextBox 127"/>
            <p:cNvSpPr txBox="1"/>
            <p:nvPr/>
          </p:nvSpPr>
          <p:spPr>
            <a:xfrm>
              <a:off x="10021062" y="1191578"/>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六类业务价值结果</a:t>
              </a:r>
            </a:p>
          </p:txBody>
        </p:sp>
        <p:sp>
          <p:nvSpPr>
            <p:cNvPr id="128" name="TextBox 128"/>
            <p:cNvSpPr txBox="1"/>
            <p:nvPr/>
          </p:nvSpPr>
          <p:spPr>
            <a:xfrm>
              <a:off x="9870186" y="1380411"/>
              <a:ext cx="1443228" cy="140494"/>
            </a:xfrm>
            <a:prstGeom prst="rect">
              <a:avLst/>
            </a:prstGeom>
            <a:noFill/>
            <a:ln>
              <a:noFill/>
            </a:ln>
          </p:spPr>
          <p:txBody>
            <a:bodyPr wrap="none" lIns="0" tIns="0" rIns="0" bIns="0" anchor="t" anchorCtr="0">
              <a:spAutoFit/>
            </a:bodyPr>
            <a:lstStyle/>
            <a:p>
              <a:pPr algn="ctr"/>
              <a:r>
                <a:rPr lang="zh-CN" sz="710" dirty="0">
                  <a:solidFill>
                    <a:srgbClr val="DCE9F8"/>
                  </a:solidFill>
                  <a:latin typeface="+mn-lt"/>
                  <a:ea typeface="+mn-ea"/>
                  <a:cs typeface="+mn-cs"/>
                </a:rPr>
                <a:t>能量化并服务于可持续的业务成效</a:t>
              </a:r>
            </a:p>
          </p:txBody>
        </p:sp>
        <p:sp>
          <p:nvSpPr>
            <p:cNvPr id="129" name="Rectangle 129"/>
            <p:cNvSpPr/>
            <p:nvPr/>
          </p:nvSpPr>
          <p:spPr>
            <a:xfrm>
              <a:off x="9372600" y="1638300"/>
              <a:ext cx="2438400" cy="590550"/>
            </a:xfrm>
            <a:prstGeom prst="roundRect">
              <a:avLst>
                <a:gd name="adj" fmla="val 12903"/>
              </a:avLst>
            </a:prstGeom>
            <a:solidFill>
              <a:srgbClr val="FFFFFF"/>
            </a:solidFill>
            <a:ln w="9525">
              <a:solidFill>
                <a:srgbClr val="C7D9F0"/>
              </a:solidFill>
            </a:ln>
          </p:spPr>
        </p:sp>
        <p:grpSp>
          <p:nvGrpSpPr>
            <p:cNvPr id="134" name="Group 134"/>
            <p:cNvGrpSpPr/>
            <p:nvPr/>
          </p:nvGrpSpPr>
          <p:grpSpPr>
            <a:xfrm>
              <a:off x="9536906" y="1851025"/>
              <a:ext cx="185737" cy="174624"/>
              <a:chOff x="9536906" y="1851025"/>
              <a:chExt cx="185737" cy="174624"/>
            </a:xfrm>
          </p:grpSpPr>
          <p:sp>
            <p:nvSpPr>
              <p:cNvPr id="130" name="Freeform 130"/>
              <p:cNvSpPr/>
              <p:nvPr/>
            </p:nvSpPr>
            <p:spPr>
              <a:xfrm>
                <a:off x="9536906" y="193357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9C331E"/>
                </a:solidFill>
              </a:ln>
            </p:spPr>
          </p:sp>
          <p:sp>
            <p:nvSpPr>
              <p:cNvPr id="131" name="Freeform 131"/>
              <p:cNvSpPr/>
              <p:nvPr/>
            </p:nvSpPr>
            <p:spPr>
              <a:xfrm>
                <a:off x="9660731" y="189230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9C331E"/>
                </a:solidFill>
              </a:ln>
            </p:spPr>
          </p:sp>
          <p:sp>
            <p:nvSpPr>
              <p:cNvPr id="132" name="Freeform 132"/>
              <p:cNvSpPr/>
              <p:nvPr/>
            </p:nvSpPr>
            <p:spPr>
              <a:xfrm>
                <a:off x="9598818" y="185102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9C331E"/>
                </a:solidFill>
              </a:ln>
            </p:spPr>
          </p:sp>
          <p:sp>
            <p:nvSpPr>
              <p:cNvPr id="133" name="Freeform 133"/>
              <p:cNvSpPr/>
              <p:nvPr/>
            </p:nvSpPr>
            <p:spPr>
              <a:xfrm>
                <a:off x="9547225" y="2016124"/>
                <a:ext cx="144462" cy="9525"/>
              </a:xfrm>
              <a:custGeom>
                <a:avLst/>
                <a:gdLst/>
                <a:ahLst/>
                <a:cxnLst/>
                <a:rect l="l" t="t" r="r" b="b"/>
                <a:pathLst>
                  <a:path w="144462" h="9525">
                    <a:moveTo>
                      <a:pt x="0" y="0"/>
                    </a:moveTo>
                    <a:lnTo>
                      <a:pt x="144462" y="0"/>
                    </a:lnTo>
                  </a:path>
                </a:pathLst>
              </a:custGeom>
              <a:noFill/>
              <a:ln w="20637">
                <a:solidFill>
                  <a:srgbClr val="9C331E"/>
                </a:solidFill>
              </a:ln>
            </p:spPr>
          </p:sp>
        </p:grpSp>
        <p:sp>
          <p:nvSpPr>
            <p:cNvPr id="135" name="TextBox 135"/>
            <p:cNvSpPr txBox="1"/>
            <p:nvPr/>
          </p:nvSpPr>
          <p:spPr>
            <a:xfrm>
              <a:off x="9861804" y="1870710"/>
              <a:ext cx="335280"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效率</a:t>
              </a:r>
            </a:p>
          </p:txBody>
        </p:sp>
        <p:sp>
          <p:nvSpPr>
            <p:cNvPr id="136" name="TextBox 136"/>
            <p:cNvSpPr txBox="1"/>
            <p:nvPr/>
          </p:nvSpPr>
          <p:spPr>
            <a:xfrm>
              <a:off x="10434638" y="1818561"/>
              <a:ext cx="55054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573F3A"/>
                  </a:solidFill>
                  <a:latin typeface="+mn-lt"/>
                  <a:ea typeface="+mn-ea"/>
                  <a:cs typeface="+mn-cs"/>
                </a:rPr>
                <a:t>更快的响应</a:t>
              </a:r>
              <a:br/>
              <a:r>
                <a:rPr lang="zh-CN" sz="710" dirty="0">
                  <a:solidFill>
                    <a:srgbClr val="573F3A"/>
                  </a:solidFill>
                  <a:latin typeface="+mn-lt"/>
                  <a:ea typeface="+mn-ea"/>
                  <a:cs typeface="+mn-cs"/>
                </a:rPr>
                <a:t>更顺畅的流程</a:t>
              </a:r>
            </a:p>
          </p:txBody>
        </p:sp>
        <p:sp>
          <p:nvSpPr>
            <p:cNvPr id="137" name="Rectangle 137"/>
            <p:cNvSpPr/>
            <p:nvPr/>
          </p:nvSpPr>
          <p:spPr>
            <a:xfrm>
              <a:off x="9372600" y="2305050"/>
              <a:ext cx="2438400" cy="590550"/>
            </a:xfrm>
            <a:prstGeom prst="roundRect">
              <a:avLst>
                <a:gd name="adj" fmla="val 12903"/>
              </a:avLst>
            </a:prstGeom>
            <a:solidFill>
              <a:srgbClr val="FFFFFF"/>
            </a:solidFill>
            <a:ln w="9525">
              <a:solidFill>
                <a:srgbClr val="C7D9F0"/>
              </a:solidFill>
            </a:ln>
          </p:spPr>
        </p:sp>
        <p:grpSp>
          <p:nvGrpSpPr>
            <p:cNvPr id="140" name="Group 140"/>
            <p:cNvGrpSpPr/>
            <p:nvPr/>
          </p:nvGrpSpPr>
          <p:grpSpPr>
            <a:xfrm>
              <a:off x="9536906" y="2528094"/>
              <a:ext cx="185737" cy="151789"/>
              <a:chOff x="9536906" y="2528094"/>
              <a:chExt cx="185737" cy="151789"/>
            </a:xfrm>
          </p:grpSpPr>
          <p:sp>
            <p:nvSpPr>
              <p:cNvPr id="138" name="Freeform 138"/>
              <p:cNvSpPr/>
              <p:nvPr/>
            </p:nvSpPr>
            <p:spPr>
              <a:xfrm>
                <a:off x="9536906" y="2528094"/>
                <a:ext cx="185737" cy="151789"/>
              </a:xfrm>
              <a:custGeom>
                <a:avLst/>
                <a:gdLst/>
                <a:ahLst/>
                <a:cxnLst/>
                <a:rect l="l" t="t" r="r" b="b"/>
                <a:pathLst>
                  <a:path w="185737" h="151789">
                    <a:moveTo>
                      <a:pt x="30956" y="0"/>
                    </a:moveTo>
                    <a:lnTo>
                      <a:pt x="154781" y="0"/>
                    </a:lnTo>
                    <a:lnTo>
                      <a:pt x="185737" y="51594"/>
                    </a:lnTo>
                    <a:lnTo>
                      <a:pt x="98028" y="149621"/>
                    </a:lnTo>
                    <a:cubicBezTo>
                      <a:pt x="96669" y="151008"/>
                      <a:pt x="94810" y="151789"/>
                      <a:pt x="92868" y="151789"/>
                    </a:cubicBezTo>
                    <a:cubicBezTo>
                      <a:pt x="90927" y="151789"/>
                      <a:pt x="89068" y="151008"/>
                      <a:pt x="87709" y="149621"/>
                    </a:cubicBezTo>
                    <a:lnTo>
                      <a:pt x="0" y="51594"/>
                    </a:lnTo>
                    <a:lnTo>
                      <a:pt x="30956" y="0"/>
                    </a:lnTo>
                  </a:path>
                </a:pathLst>
              </a:custGeom>
              <a:noFill/>
              <a:ln w="20637">
                <a:solidFill>
                  <a:srgbClr val="9C331E"/>
                </a:solidFill>
              </a:ln>
            </p:spPr>
          </p:sp>
          <p:sp>
            <p:nvSpPr>
              <p:cNvPr id="139" name="Freeform 139"/>
              <p:cNvSpPr/>
              <p:nvPr/>
            </p:nvSpPr>
            <p:spPr>
              <a:xfrm>
                <a:off x="9588500" y="2567305"/>
                <a:ext cx="20637" cy="33020"/>
              </a:xfrm>
              <a:custGeom>
                <a:avLst/>
                <a:gdLst/>
                <a:ahLst/>
                <a:cxnLst/>
                <a:rect l="l" t="t" r="r" b="b"/>
                <a:pathLst>
                  <a:path w="20637" h="33020">
                    <a:moveTo>
                      <a:pt x="20637" y="33020"/>
                    </a:moveTo>
                    <a:lnTo>
                      <a:pt x="0" y="10319"/>
                    </a:lnTo>
                    <a:lnTo>
                      <a:pt x="6191" y="0"/>
                    </a:lnTo>
                  </a:path>
                </a:pathLst>
              </a:custGeom>
              <a:noFill/>
              <a:ln w="20637">
                <a:solidFill>
                  <a:srgbClr val="9C331E"/>
                </a:solidFill>
              </a:ln>
            </p:spPr>
          </p:sp>
        </p:grpSp>
        <p:sp>
          <p:nvSpPr>
            <p:cNvPr id="141" name="TextBox 141"/>
            <p:cNvSpPr txBox="1"/>
            <p:nvPr/>
          </p:nvSpPr>
          <p:spPr>
            <a:xfrm>
              <a:off x="9861804" y="2537460"/>
              <a:ext cx="335280"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质量</a:t>
              </a:r>
            </a:p>
          </p:txBody>
        </p:sp>
        <p:sp>
          <p:nvSpPr>
            <p:cNvPr id="142" name="TextBox 142"/>
            <p:cNvSpPr txBox="1"/>
            <p:nvPr/>
          </p:nvSpPr>
          <p:spPr>
            <a:xfrm>
              <a:off x="10434638" y="2485311"/>
              <a:ext cx="55054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573F3A"/>
                  </a:solidFill>
                  <a:latin typeface="+mn-lt"/>
                  <a:ea typeface="+mn-ea"/>
                  <a:cs typeface="+mn-cs"/>
                </a:rPr>
                <a:t>更稳定的表现</a:t>
              </a:r>
              <a:br/>
              <a:r>
                <a:rPr lang="zh-CN" sz="710" dirty="0">
                  <a:solidFill>
                    <a:srgbClr val="573F3A"/>
                  </a:solidFill>
                  <a:latin typeface="+mn-lt"/>
                  <a:ea typeface="+mn-ea"/>
                  <a:cs typeface="+mn-cs"/>
                </a:rPr>
                <a:t>更一致的标准</a:t>
              </a:r>
            </a:p>
          </p:txBody>
        </p:sp>
        <p:sp>
          <p:nvSpPr>
            <p:cNvPr id="143" name="Rectangle 143"/>
            <p:cNvSpPr/>
            <p:nvPr/>
          </p:nvSpPr>
          <p:spPr>
            <a:xfrm>
              <a:off x="9372600" y="2971800"/>
              <a:ext cx="2438400" cy="590550"/>
            </a:xfrm>
            <a:prstGeom prst="roundRect">
              <a:avLst>
                <a:gd name="adj" fmla="val 12903"/>
              </a:avLst>
            </a:prstGeom>
            <a:solidFill>
              <a:srgbClr val="FFFFFF"/>
            </a:solidFill>
            <a:ln w="9525">
              <a:solidFill>
                <a:srgbClr val="C7D9F0"/>
              </a:solidFill>
            </a:ln>
          </p:spPr>
        </p:sp>
        <p:sp>
          <p:nvSpPr>
            <p:cNvPr id="144" name="Freeform 144"/>
            <p:cNvSpPr/>
            <p:nvPr/>
          </p:nvSpPr>
          <p:spPr>
            <a:xfrm>
              <a:off x="9532609" y="3174206"/>
              <a:ext cx="194331" cy="185737"/>
            </a:xfrm>
            <a:custGeom>
              <a:avLst/>
              <a:gdLst/>
              <a:ahLst/>
              <a:cxnLst/>
              <a:rect l="l" t="t" r="r" b="b"/>
              <a:pathLst>
                <a:path w="194331" h="185737">
                  <a:moveTo>
                    <a:pt x="97166" y="0"/>
                  </a:moveTo>
                  <a:cubicBezTo>
                    <a:pt x="121268" y="21324"/>
                    <a:pt x="152726" y="32427"/>
                    <a:pt x="184875" y="30956"/>
                  </a:cubicBezTo>
                  <a:cubicBezTo>
                    <a:pt x="194331" y="63125"/>
                    <a:pt x="190338" y="97754"/>
                    <a:pt x="173807" y="126926"/>
                  </a:cubicBezTo>
                  <a:cubicBezTo>
                    <a:pt x="157276" y="156098"/>
                    <a:pt x="129622" y="177318"/>
                    <a:pt x="97166" y="185737"/>
                  </a:cubicBezTo>
                  <a:cubicBezTo>
                    <a:pt x="64710" y="177318"/>
                    <a:pt x="37055" y="156098"/>
                    <a:pt x="20524" y="126926"/>
                  </a:cubicBezTo>
                  <a:cubicBezTo>
                    <a:pt x="3994" y="97754"/>
                    <a:pt x="0" y="63125"/>
                    <a:pt x="9457" y="30956"/>
                  </a:cubicBezTo>
                  <a:cubicBezTo>
                    <a:pt x="41605" y="32427"/>
                    <a:pt x="73063" y="21324"/>
                    <a:pt x="97166" y="0"/>
                  </a:cubicBezTo>
                </a:path>
              </a:pathLst>
            </a:custGeom>
            <a:noFill/>
            <a:ln w="20637">
              <a:solidFill>
                <a:srgbClr val="9C331E"/>
              </a:solidFill>
            </a:ln>
          </p:spPr>
        </p:sp>
        <p:sp>
          <p:nvSpPr>
            <p:cNvPr id="145" name="TextBox 145"/>
            <p:cNvSpPr txBox="1"/>
            <p:nvPr/>
          </p:nvSpPr>
          <p:spPr>
            <a:xfrm>
              <a:off x="9861804" y="3204210"/>
              <a:ext cx="335280"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安全</a:t>
              </a:r>
            </a:p>
          </p:txBody>
        </p:sp>
        <p:sp>
          <p:nvSpPr>
            <p:cNvPr id="146" name="TextBox 146"/>
            <p:cNvSpPr txBox="1"/>
            <p:nvPr/>
          </p:nvSpPr>
          <p:spPr>
            <a:xfrm>
              <a:off x="10434638" y="3152061"/>
              <a:ext cx="64071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573F3A"/>
                  </a:solidFill>
                  <a:latin typeface="+mn-lt"/>
                  <a:ea typeface="+mn-ea"/>
                  <a:cs typeface="+mn-cs"/>
                </a:rPr>
                <a:t>更早的风险识别</a:t>
              </a:r>
              <a:br/>
              <a:r>
                <a:rPr lang="zh-CN" sz="710" dirty="0">
                  <a:solidFill>
                    <a:srgbClr val="573F3A"/>
                  </a:solidFill>
                  <a:latin typeface="+mn-lt"/>
                  <a:ea typeface="+mn-ea"/>
                  <a:cs typeface="+mn-cs"/>
                </a:rPr>
                <a:t>更强的主动防控</a:t>
              </a:r>
            </a:p>
          </p:txBody>
        </p:sp>
        <p:sp>
          <p:nvSpPr>
            <p:cNvPr id="147" name="Rectangle 147"/>
            <p:cNvSpPr/>
            <p:nvPr/>
          </p:nvSpPr>
          <p:spPr>
            <a:xfrm>
              <a:off x="9372600" y="3638550"/>
              <a:ext cx="2438400" cy="590550"/>
            </a:xfrm>
            <a:prstGeom prst="roundRect">
              <a:avLst>
                <a:gd name="adj" fmla="val 12903"/>
              </a:avLst>
            </a:prstGeom>
            <a:solidFill>
              <a:srgbClr val="FFFFFF"/>
            </a:solidFill>
            <a:ln w="9525">
              <a:solidFill>
                <a:srgbClr val="C7D9F0"/>
              </a:solidFill>
            </a:ln>
          </p:spPr>
        </p:sp>
        <p:grpSp>
          <p:nvGrpSpPr>
            <p:cNvPr id="151" name="Group 151"/>
            <p:cNvGrpSpPr/>
            <p:nvPr/>
          </p:nvGrpSpPr>
          <p:grpSpPr>
            <a:xfrm>
              <a:off x="9547225" y="3840956"/>
              <a:ext cx="165099" cy="185737"/>
              <a:chOff x="9547225" y="3840956"/>
              <a:chExt cx="165099" cy="185737"/>
            </a:xfrm>
          </p:grpSpPr>
          <p:sp>
            <p:nvSpPr>
              <p:cNvPr id="148" name="Freeform 148"/>
              <p:cNvSpPr/>
              <p:nvPr/>
            </p:nvSpPr>
            <p:spPr>
              <a:xfrm>
                <a:off x="9547225" y="384095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9C331E"/>
                </a:solidFill>
              </a:ln>
            </p:spPr>
          </p:sp>
          <p:sp>
            <p:nvSpPr>
              <p:cNvPr id="149" name="Freeform 149"/>
              <p:cNvSpPr/>
              <p:nvPr/>
            </p:nvSpPr>
            <p:spPr>
              <a:xfrm>
                <a:off x="9547225" y="387191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C331E"/>
                </a:solidFill>
              </a:ln>
            </p:spPr>
          </p:sp>
          <p:sp>
            <p:nvSpPr>
              <p:cNvPr id="150" name="Freeform 150"/>
              <p:cNvSpPr/>
              <p:nvPr/>
            </p:nvSpPr>
            <p:spPr>
              <a:xfrm>
                <a:off x="9547225" y="393382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C331E"/>
                </a:solidFill>
              </a:ln>
            </p:spPr>
          </p:sp>
        </p:grpSp>
        <p:sp>
          <p:nvSpPr>
            <p:cNvPr id="152" name="TextBox 152"/>
            <p:cNvSpPr txBox="1"/>
            <p:nvPr/>
          </p:nvSpPr>
          <p:spPr>
            <a:xfrm>
              <a:off x="9861804" y="3870960"/>
              <a:ext cx="335280"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成本</a:t>
              </a:r>
            </a:p>
          </p:txBody>
        </p:sp>
        <p:sp>
          <p:nvSpPr>
            <p:cNvPr id="153" name="TextBox 153"/>
            <p:cNvSpPr txBox="1"/>
            <p:nvPr/>
          </p:nvSpPr>
          <p:spPr>
            <a:xfrm>
              <a:off x="10434638" y="3818811"/>
              <a:ext cx="73088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573F3A"/>
                  </a:solidFill>
                  <a:latin typeface="+mn-lt"/>
                  <a:ea typeface="+mn-ea"/>
                  <a:cs typeface="+mn-cs"/>
                </a:rPr>
                <a:t>更合理的资源配置</a:t>
              </a:r>
              <a:br/>
              <a:r>
                <a:rPr lang="zh-CN" sz="710" dirty="0">
                  <a:solidFill>
                    <a:srgbClr val="573F3A"/>
                  </a:solidFill>
                  <a:latin typeface="+mn-lt"/>
                  <a:ea typeface="+mn-ea"/>
                  <a:cs typeface="+mn-cs"/>
                </a:rPr>
                <a:t>更少的无效消耗</a:t>
              </a:r>
            </a:p>
          </p:txBody>
        </p:sp>
        <p:sp>
          <p:nvSpPr>
            <p:cNvPr id="154" name="Rectangle 154"/>
            <p:cNvSpPr/>
            <p:nvPr/>
          </p:nvSpPr>
          <p:spPr>
            <a:xfrm>
              <a:off x="9372600" y="4305300"/>
              <a:ext cx="2438400" cy="590550"/>
            </a:xfrm>
            <a:prstGeom prst="roundRect">
              <a:avLst>
                <a:gd name="adj" fmla="val 12903"/>
              </a:avLst>
            </a:prstGeom>
            <a:solidFill>
              <a:srgbClr val="FFFFFF"/>
            </a:solidFill>
            <a:ln w="9525">
              <a:solidFill>
                <a:srgbClr val="C7D9F0"/>
              </a:solidFill>
            </a:ln>
          </p:spPr>
        </p:sp>
        <p:grpSp>
          <p:nvGrpSpPr>
            <p:cNvPr id="157" name="Group 157"/>
            <p:cNvGrpSpPr/>
            <p:nvPr/>
          </p:nvGrpSpPr>
          <p:grpSpPr>
            <a:xfrm>
              <a:off x="9536906" y="4548981"/>
              <a:ext cx="185737" cy="103187"/>
              <a:chOff x="9536906" y="4548981"/>
              <a:chExt cx="185737" cy="103187"/>
            </a:xfrm>
          </p:grpSpPr>
          <p:sp>
            <p:nvSpPr>
              <p:cNvPr id="155" name="Freeform 155"/>
              <p:cNvSpPr/>
              <p:nvPr/>
            </p:nvSpPr>
            <p:spPr>
              <a:xfrm>
                <a:off x="9536906" y="4548981"/>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9C331E"/>
                </a:solidFill>
              </a:ln>
            </p:spPr>
          </p:sp>
          <p:sp>
            <p:nvSpPr>
              <p:cNvPr id="156" name="Freeform 156"/>
              <p:cNvSpPr/>
              <p:nvPr/>
            </p:nvSpPr>
            <p:spPr>
              <a:xfrm>
                <a:off x="9650412" y="4548981"/>
                <a:ext cx="72231" cy="72231"/>
              </a:xfrm>
              <a:custGeom>
                <a:avLst/>
                <a:gdLst/>
                <a:ahLst/>
                <a:cxnLst/>
                <a:rect l="l" t="t" r="r" b="b"/>
                <a:pathLst>
                  <a:path w="72231" h="72231">
                    <a:moveTo>
                      <a:pt x="0" y="0"/>
                    </a:moveTo>
                    <a:lnTo>
                      <a:pt x="72231" y="0"/>
                    </a:lnTo>
                    <a:lnTo>
                      <a:pt x="72231" y="72231"/>
                    </a:lnTo>
                  </a:path>
                </a:pathLst>
              </a:custGeom>
              <a:noFill/>
              <a:ln w="20637">
                <a:solidFill>
                  <a:srgbClr val="9C331E"/>
                </a:solidFill>
              </a:ln>
            </p:spPr>
          </p:sp>
        </p:grpSp>
        <p:sp>
          <p:nvSpPr>
            <p:cNvPr id="158" name="TextBox 158"/>
            <p:cNvSpPr txBox="1"/>
            <p:nvPr/>
          </p:nvSpPr>
          <p:spPr>
            <a:xfrm>
              <a:off x="9861804" y="4537710"/>
              <a:ext cx="335280"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收入</a:t>
              </a:r>
            </a:p>
          </p:txBody>
        </p:sp>
        <p:sp>
          <p:nvSpPr>
            <p:cNvPr id="159" name="TextBox 159"/>
            <p:cNvSpPr txBox="1"/>
            <p:nvPr/>
          </p:nvSpPr>
          <p:spPr>
            <a:xfrm>
              <a:off x="10434638" y="4485561"/>
              <a:ext cx="64071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573F3A"/>
                  </a:solidFill>
                  <a:latin typeface="+mn-lt"/>
                  <a:ea typeface="+mn-ea"/>
                  <a:cs typeface="+mn-cs"/>
                </a:rPr>
                <a:t>更好的客户体验</a:t>
              </a:r>
              <a:br/>
              <a:r>
                <a:rPr lang="zh-CN" sz="710" dirty="0">
                  <a:solidFill>
                    <a:srgbClr val="573F3A"/>
                  </a:solidFill>
                  <a:latin typeface="+mn-lt"/>
                  <a:ea typeface="+mn-ea"/>
                  <a:cs typeface="+mn-cs"/>
                </a:rPr>
                <a:t>更多的业务机会</a:t>
              </a:r>
            </a:p>
          </p:txBody>
        </p:sp>
        <p:sp>
          <p:nvSpPr>
            <p:cNvPr id="160" name="Rectangle 160"/>
            <p:cNvSpPr/>
            <p:nvPr/>
          </p:nvSpPr>
          <p:spPr>
            <a:xfrm>
              <a:off x="9372600" y="4972050"/>
              <a:ext cx="2438400" cy="590550"/>
            </a:xfrm>
            <a:prstGeom prst="roundRect">
              <a:avLst>
                <a:gd name="adj" fmla="val 12903"/>
              </a:avLst>
            </a:prstGeom>
            <a:solidFill>
              <a:srgbClr val="FFFFFF"/>
            </a:solidFill>
            <a:ln w="9525">
              <a:solidFill>
                <a:srgbClr val="C7D9F0"/>
              </a:solidFill>
            </a:ln>
          </p:spPr>
        </p:sp>
        <p:grpSp>
          <p:nvGrpSpPr>
            <p:cNvPr id="164" name="Group 164"/>
            <p:cNvGrpSpPr/>
            <p:nvPr/>
          </p:nvGrpSpPr>
          <p:grpSpPr>
            <a:xfrm>
              <a:off x="9536906" y="5184775"/>
              <a:ext cx="185737" cy="165099"/>
              <a:chOff x="9536906" y="5184775"/>
              <a:chExt cx="185737" cy="165099"/>
            </a:xfrm>
          </p:grpSpPr>
          <p:sp>
            <p:nvSpPr>
              <p:cNvPr id="161" name="Freeform 161"/>
              <p:cNvSpPr/>
              <p:nvPr/>
            </p:nvSpPr>
            <p:spPr>
              <a:xfrm>
                <a:off x="9536906" y="5184775"/>
                <a:ext cx="92868" cy="82550"/>
              </a:xfrm>
              <a:custGeom>
                <a:avLst/>
                <a:gdLst/>
                <a:ahLst/>
                <a:cxnLst/>
                <a:rect l="l" t="t" r="r" b="b"/>
                <a:pathLst>
                  <a:path w="92868" h="82550">
                    <a:moveTo>
                      <a:pt x="92868" y="61912"/>
                    </a:moveTo>
                    <a:cubicBezTo>
                      <a:pt x="92868" y="27719"/>
                      <a:pt x="65149" y="0"/>
                      <a:pt x="30956" y="0"/>
                    </a:cubicBezTo>
                    <a:lnTo>
                      <a:pt x="0" y="0"/>
                    </a:lnTo>
                    <a:lnTo>
                      <a:pt x="0" y="20637"/>
                    </a:lnTo>
                    <a:cubicBezTo>
                      <a:pt x="0" y="54831"/>
                      <a:pt x="27719" y="82550"/>
                      <a:pt x="61912" y="82550"/>
                    </a:cubicBezTo>
                    <a:lnTo>
                      <a:pt x="92868" y="82550"/>
                    </a:lnTo>
                  </a:path>
                </a:pathLst>
              </a:custGeom>
              <a:noFill/>
              <a:ln w="20637">
                <a:solidFill>
                  <a:srgbClr val="9C331E"/>
                </a:solidFill>
              </a:ln>
            </p:spPr>
          </p:sp>
          <p:sp>
            <p:nvSpPr>
              <p:cNvPr id="162" name="Freeform 162"/>
              <p:cNvSpPr/>
              <p:nvPr/>
            </p:nvSpPr>
            <p:spPr>
              <a:xfrm>
                <a:off x="9629775" y="5226050"/>
                <a:ext cx="92868" cy="72231"/>
              </a:xfrm>
              <a:custGeom>
                <a:avLst/>
                <a:gdLst/>
                <a:ahLst/>
                <a:cxnLst/>
                <a:rect l="l" t="t" r="r" b="b"/>
                <a:pathLst>
                  <a:path w="92868" h="72231">
                    <a:moveTo>
                      <a:pt x="0" y="61912"/>
                    </a:moveTo>
                    <a:cubicBezTo>
                      <a:pt x="0" y="27719"/>
                      <a:pt x="27719" y="0"/>
                      <a:pt x="61912" y="0"/>
                    </a:cubicBezTo>
                    <a:lnTo>
                      <a:pt x="92868" y="0"/>
                    </a:lnTo>
                    <a:lnTo>
                      <a:pt x="92868" y="10319"/>
                    </a:lnTo>
                    <a:cubicBezTo>
                      <a:pt x="92868" y="44512"/>
                      <a:pt x="65149" y="72231"/>
                      <a:pt x="30956" y="72231"/>
                    </a:cubicBezTo>
                    <a:lnTo>
                      <a:pt x="0" y="72231"/>
                    </a:lnTo>
                  </a:path>
                </a:pathLst>
              </a:custGeom>
              <a:noFill/>
              <a:ln w="20637">
                <a:solidFill>
                  <a:srgbClr val="9C331E"/>
                </a:solidFill>
              </a:ln>
            </p:spPr>
          </p:sp>
          <p:sp>
            <p:nvSpPr>
              <p:cNvPr id="163" name="Freeform 163"/>
              <p:cNvSpPr/>
              <p:nvPr/>
            </p:nvSpPr>
            <p:spPr>
              <a:xfrm>
                <a:off x="9629775" y="5246687"/>
                <a:ext cx="9525" cy="103187"/>
              </a:xfrm>
              <a:custGeom>
                <a:avLst/>
                <a:gdLst/>
                <a:ahLst/>
                <a:cxnLst/>
                <a:rect l="l" t="t" r="r" b="b"/>
                <a:pathLst>
                  <a:path w="9525" h="103187">
                    <a:moveTo>
                      <a:pt x="0" y="103187"/>
                    </a:moveTo>
                    <a:lnTo>
                      <a:pt x="0" y="0"/>
                    </a:lnTo>
                  </a:path>
                </a:pathLst>
              </a:custGeom>
              <a:noFill/>
              <a:ln w="20637">
                <a:solidFill>
                  <a:srgbClr val="9C331E"/>
                </a:solidFill>
              </a:ln>
            </p:spPr>
          </p:sp>
        </p:grpSp>
        <p:sp>
          <p:nvSpPr>
            <p:cNvPr id="165" name="TextBox 165"/>
            <p:cNvSpPr txBox="1"/>
            <p:nvPr/>
          </p:nvSpPr>
          <p:spPr>
            <a:xfrm>
              <a:off x="9861804" y="5204460"/>
              <a:ext cx="335280"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韧性</a:t>
              </a:r>
            </a:p>
          </p:txBody>
        </p:sp>
        <p:sp>
          <p:nvSpPr>
            <p:cNvPr id="166" name="TextBox 166"/>
            <p:cNvSpPr txBox="1"/>
            <p:nvPr/>
          </p:nvSpPr>
          <p:spPr>
            <a:xfrm>
              <a:off x="10434638" y="5152311"/>
              <a:ext cx="73088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573F3A"/>
                  </a:solidFill>
                  <a:latin typeface="+mn-lt"/>
                  <a:ea typeface="+mn-ea"/>
                  <a:cs typeface="+mn-cs"/>
                </a:rPr>
                <a:t>更强的抗风险能力</a:t>
              </a:r>
              <a:br/>
              <a:r>
                <a:rPr lang="zh-CN" sz="710" dirty="0">
                  <a:solidFill>
                    <a:srgbClr val="573F3A"/>
                  </a:solidFill>
                  <a:latin typeface="+mn-lt"/>
                  <a:ea typeface="+mn-ea"/>
                  <a:cs typeface="+mn-cs"/>
                </a:rPr>
                <a:t>更快的恢复与适应</a:t>
              </a:r>
            </a:p>
          </p:txBody>
        </p:sp>
      </p:grpSp>
      <p:grpSp>
        <p:nvGrpSpPr>
          <p:cNvPr id="176" name="conclusion-banner"/>
          <p:cNvGrpSpPr/>
          <p:nvPr/>
        </p:nvGrpSpPr>
        <p:grpSpPr>
          <a:xfrm>
            <a:off x="381000" y="5753100"/>
            <a:ext cx="11430000" cy="514350"/>
            <a:chOff x="381000" y="5753100"/>
            <a:chExt cx="11430000" cy="514350"/>
          </a:xfrm>
        </p:grpSpPr>
        <p:sp>
          <p:nvSpPr>
            <p:cNvPr id="168" name="Rectangle 168"/>
            <p:cNvSpPr/>
            <p:nvPr/>
          </p:nvSpPr>
          <p:spPr>
            <a:xfrm>
              <a:off x="381000" y="5753100"/>
              <a:ext cx="11430000" cy="514350"/>
            </a:xfrm>
            <a:prstGeom prst="roundRect">
              <a:avLst>
                <a:gd name="adj" fmla="val 14815"/>
              </a:avLst>
            </a:prstGeom>
            <a:solidFill>
              <a:srgbClr val="632012"/>
            </a:solidFill>
            <a:ln>
              <a:noFill/>
            </a:ln>
          </p:spPr>
        </p:sp>
        <p:grpSp>
          <p:nvGrpSpPr>
            <p:cNvPr id="171" name="Group 171"/>
            <p:cNvGrpSpPr/>
            <p:nvPr/>
          </p:nvGrpSpPr>
          <p:grpSpPr>
            <a:xfrm>
              <a:off x="2821781" y="5904241"/>
              <a:ext cx="166688" cy="213191"/>
              <a:chOff x="2821781" y="5904241"/>
              <a:chExt cx="166688" cy="213191"/>
            </a:xfrm>
          </p:grpSpPr>
          <p:sp>
            <p:nvSpPr>
              <p:cNvPr id="169" name="Freeform 169"/>
              <p:cNvSpPr/>
              <p:nvPr/>
            </p:nvSpPr>
            <p:spPr>
              <a:xfrm>
                <a:off x="2821781" y="5904241"/>
                <a:ext cx="166688" cy="152536"/>
              </a:xfrm>
              <a:custGeom>
                <a:avLst/>
                <a:gdLst/>
                <a:ahLst/>
                <a:cxnLst/>
                <a:rect l="l" t="t" r="r" b="b"/>
                <a:pathLst>
                  <a:path w="166688" h="152536">
                    <a:moveTo>
                      <a:pt x="0" y="22690"/>
                    </a:moveTo>
                    <a:cubicBezTo>
                      <a:pt x="23148" y="0"/>
                      <a:pt x="60195" y="0"/>
                      <a:pt x="83344" y="22690"/>
                    </a:cubicBezTo>
                    <a:cubicBezTo>
                      <a:pt x="106492" y="45380"/>
                      <a:pt x="143539" y="45380"/>
                      <a:pt x="166688" y="22690"/>
                    </a:cubicBezTo>
                    <a:lnTo>
                      <a:pt x="166688" y="129846"/>
                    </a:lnTo>
                    <a:cubicBezTo>
                      <a:pt x="143539" y="152536"/>
                      <a:pt x="106492" y="152536"/>
                      <a:pt x="83344" y="129846"/>
                    </a:cubicBezTo>
                    <a:cubicBezTo>
                      <a:pt x="60195" y="107156"/>
                      <a:pt x="23148" y="107156"/>
                      <a:pt x="0" y="129846"/>
                    </a:cubicBezTo>
                    <a:lnTo>
                      <a:pt x="0" y="22690"/>
                    </a:lnTo>
                  </a:path>
                </a:pathLst>
              </a:custGeom>
              <a:noFill/>
              <a:ln w="23812">
                <a:solidFill>
                  <a:srgbClr val="FF7A5F"/>
                </a:solidFill>
              </a:ln>
            </p:spPr>
          </p:sp>
          <p:sp>
            <p:nvSpPr>
              <p:cNvPr id="170" name="Freeform 170"/>
              <p:cNvSpPr/>
              <p:nvPr/>
            </p:nvSpPr>
            <p:spPr>
              <a:xfrm>
                <a:off x="2821781" y="6034088"/>
                <a:ext cx="9525" cy="83344"/>
              </a:xfrm>
              <a:custGeom>
                <a:avLst/>
                <a:gdLst/>
                <a:ahLst/>
                <a:cxnLst/>
                <a:rect l="l" t="t" r="r" b="b"/>
                <a:pathLst>
                  <a:path w="9525" h="83344">
                    <a:moveTo>
                      <a:pt x="0" y="83344"/>
                    </a:moveTo>
                    <a:lnTo>
                      <a:pt x="0" y="0"/>
                    </a:lnTo>
                  </a:path>
                </a:pathLst>
              </a:custGeom>
              <a:noFill/>
              <a:ln w="23812">
                <a:solidFill>
                  <a:srgbClr val="FF7A5F"/>
                </a:solidFill>
              </a:ln>
            </p:spPr>
          </p:sp>
        </p:grpSp>
        <p:sp>
          <p:nvSpPr>
            <p:cNvPr id="172" name="TextBox 172"/>
            <p:cNvSpPr txBox="1"/>
            <p:nvPr/>
          </p:nvSpPr>
          <p:spPr>
            <a:xfrm>
              <a:off x="3193542" y="5931218"/>
              <a:ext cx="4738878"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技术展示不是终点；指标进入经营看板，才开始兑现价值。</a:t>
              </a:r>
            </a:p>
          </p:txBody>
        </p:sp>
        <p:sp>
          <p:nvSpPr>
            <p:cNvPr id="173" name="TextBox 173"/>
            <p:cNvSpPr txBox="1"/>
            <p:nvPr/>
          </p:nvSpPr>
          <p:spPr>
            <a:xfrm>
              <a:off x="11196130" y="5832634"/>
              <a:ext cx="467233" cy="133350"/>
            </a:xfrm>
            <a:prstGeom prst="rect">
              <a:avLst/>
            </a:prstGeom>
            <a:noFill/>
            <a:ln>
              <a:noFill/>
            </a:ln>
          </p:spPr>
          <p:txBody>
            <a:bodyPr wrap="none" lIns="0" tIns="0" rIns="0" bIns="0" anchor="t" anchorCtr="0">
              <a:spAutoFit/>
            </a:bodyPr>
            <a:lstStyle/>
            <a:p>
              <a:pPr algn="r"/>
              <a:r>
                <a:rPr lang="zh-CN" sz="680" dirty="0">
                  <a:solidFill>
                    <a:srgbClr val="DCE9F8"/>
                  </a:solidFill>
                  <a:latin typeface="+mn-lt"/>
                  <a:ea typeface="+mn-ea"/>
                  <a:cs typeface="+mn-cs"/>
                </a:rPr>
                <a:t>从问题出发</a:t>
              </a:r>
            </a:p>
          </p:txBody>
        </p:sp>
        <p:sp>
          <p:nvSpPr>
            <p:cNvPr id="174" name="TextBox 174"/>
            <p:cNvSpPr txBox="1"/>
            <p:nvPr/>
          </p:nvSpPr>
          <p:spPr>
            <a:xfrm>
              <a:off x="11196130" y="5956459"/>
              <a:ext cx="467233" cy="133350"/>
            </a:xfrm>
            <a:prstGeom prst="rect">
              <a:avLst/>
            </a:prstGeom>
            <a:noFill/>
            <a:ln>
              <a:noFill/>
            </a:ln>
          </p:spPr>
          <p:txBody>
            <a:bodyPr wrap="none" lIns="0" tIns="0" rIns="0" bIns="0" anchor="t" anchorCtr="0">
              <a:spAutoFit/>
            </a:bodyPr>
            <a:lstStyle/>
            <a:p>
              <a:pPr algn="r"/>
              <a:r>
                <a:rPr lang="zh-CN" sz="680" dirty="0">
                  <a:solidFill>
                    <a:srgbClr val="DCE9F8"/>
                  </a:solidFill>
                  <a:latin typeface="+mn-lt"/>
                  <a:ea typeface="+mn-ea"/>
                  <a:cs typeface="+mn-cs"/>
                </a:rPr>
                <a:t>到能力落地</a:t>
              </a:r>
            </a:p>
          </p:txBody>
        </p:sp>
        <p:sp>
          <p:nvSpPr>
            <p:cNvPr id="175" name="TextBox 175"/>
            <p:cNvSpPr txBox="1"/>
            <p:nvPr/>
          </p:nvSpPr>
          <p:spPr>
            <a:xfrm>
              <a:off x="11196130" y="6080284"/>
              <a:ext cx="467233" cy="133350"/>
            </a:xfrm>
            <a:prstGeom prst="rect">
              <a:avLst/>
            </a:prstGeom>
            <a:noFill/>
            <a:ln>
              <a:noFill/>
            </a:ln>
          </p:spPr>
          <p:txBody>
            <a:bodyPr wrap="none" lIns="0" tIns="0" rIns="0" bIns="0" anchor="t" anchorCtr="0">
              <a:spAutoFit/>
            </a:bodyPr>
            <a:lstStyle/>
            <a:p>
              <a:pPr algn="r"/>
              <a:r>
                <a:rPr lang="zh-CN" sz="680" dirty="0">
                  <a:solidFill>
                    <a:srgbClr val="DCE9F8"/>
                  </a:solidFill>
                  <a:latin typeface="+mn-lt"/>
                  <a:ea typeface="+mn-ea"/>
                  <a:cs typeface="+mn-cs"/>
                </a:rPr>
                <a:t>向价值而行</a:t>
              </a:r>
            </a:p>
          </p:txBody>
        </p:sp>
      </p:grpSp>
      <p:grpSp>
        <p:nvGrpSpPr>
          <p:cNvPr id="178" name="bottom-note"/>
          <p:cNvGrpSpPr/>
          <p:nvPr/>
        </p:nvGrpSpPr>
        <p:grpSpPr>
          <a:xfrm>
            <a:off x="9856534" y="6504861"/>
            <a:ext cx="1921129" cy="140494"/>
            <a:chOff x="9856534" y="6504861"/>
            <a:chExt cx="1921129" cy="140494"/>
          </a:xfrm>
        </p:grpSpPr>
        <p:sp>
          <p:nvSpPr>
            <p:cNvPr id="177" name="TextBox 177"/>
            <p:cNvSpPr txBox="1"/>
            <p:nvPr/>
          </p:nvSpPr>
          <p:spPr>
            <a:xfrm>
              <a:off x="9856534" y="6504861"/>
              <a:ext cx="1921129" cy="140494"/>
            </a:xfrm>
            <a:prstGeom prst="rect">
              <a:avLst/>
            </a:prstGeom>
            <a:noFill/>
            <a:ln>
              <a:noFill/>
            </a:ln>
          </p:spPr>
          <p:txBody>
            <a:bodyPr wrap="none" lIns="0" tIns="0" rIns="0" bIns="0" anchor="t" anchorCtr="0">
              <a:spAutoFit/>
            </a:bodyPr>
            <a:lstStyle/>
            <a:p>
              <a:pPr algn="r"/>
              <a:r>
                <a:rPr lang="zh-CN" sz="710" dirty="0">
                  <a:solidFill>
                    <a:srgbClr val="573F3A"/>
                  </a:solidFill>
                  <a:latin typeface="+mn-lt"/>
                  <a:ea typeface="+mn-ea"/>
                  <a:cs typeface="+mn-cs"/>
                </a:rPr>
                <a:t>让真实的业务问题，走向可验证的业务价值。</a:t>
              </a:r>
            </a:p>
          </p:txBody>
        </p:sp>
      </p:grpSp>
      <p:grpSp>
        <p:nvGrpSpPr>
          <p:cNvPr id="182" name="footer"/>
          <p:cNvGrpSpPr/>
          <p:nvPr/>
        </p:nvGrpSpPr>
        <p:grpSpPr>
          <a:xfrm>
            <a:off x="0" y="6705600"/>
            <a:ext cx="12192000" cy="173117"/>
            <a:chOff x="0" y="6705600"/>
            <a:chExt cx="12192000" cy="173117"/>
          </a:xfrm>
        </p:grpSpPr>
        <p:sp>
          <p:nvSpPr>
            <p:cNvPr id="179" name="Rectangle 179"/>
            <p:cNvSpPr/>
            <p:nvPr/>
          </p:nvSpPr>
          <p:spPr>
            <a:xfrm>
              <a:off x="0" y="6705600"/>
              <a:ext cx="12192000" cy="152400"/>
            </a:xfrm>
            <a:prstGeom prst="rect">
              <a:avLst/>
            </a:prstGeom>
            <a:solidFill>
              <a:srgbClr val="632012"/>
            </a:solidFill>
            <a:ln>
              <a:noFill/>
            </a:ln>
          </p:spPr>
        </p:sp>
        <p:sp>
          <p:nvSpPr>
            <p:cNvPr id="180" name="TextBox 180"/>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81" name="TextBox 181"/>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06/20</a:t>
              </a:r>
            </a:p>
          </p:txBody>
        </p:sp>
      </p:gr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sea"/>
          <p:cNvSpPr/>
          <p:nvPr/>
        </p:nvSpPr>
        <p:spPr>
          <a:xfrm>
            <a:off x="381000" y="3276600"/>
            <a:ext cx="5905500" cy="457200"/>
          </a:xfrm>
          <a:prstGeom prst="rect">
            <a:avLst/>
          </a:prstGeom>
          <a:gradFill>
            <a:gsLst>
              <a:gs pos="0">
                <a:srgbClr val="D5E4F6"/>
              </a:gs>
              <a:gs pos="100000">
                <a:srgbClr val="DC9C8F"/>
              </a:gs>
            </a:gsLst>
            <a:lin ang="5400000" scaled="1"/>
          </a:gradFill>
          <a:ln>
            <a:noFill/>
          </a:ln>
        </p:spPr>
      </p:sp>
      <p:sp>
        <p:nvSpPr>
          <p:cNvPr id="3" name="deco-ship-hull"/>
          <p:cNvSpPr/>
          <p:nvPr/>
        </p:nvSpPr>
        <p:spPr>
          <a:xfrm>
            <a:off x="1524000" y="3505200"/>
            <a:ext cx="4114800" cy="285750"/>
          </a:xfrm>
          <a:custGeom>
            <a:avLst/>
            <a:gdLst/>
            <a:ahLst/>
            <a:cxnLst/>
            <a:rect l="l" t="t" r="r" b="b"/>
            <a:pathLst>
              <a:path w="4114800" h="285750">
                <a:moveTo>
                  <a:pt x="0" y="0"/>
                </a:moveTo>
                <a:lnTo>
                  <a:pt x="228600" y="285750"/>
                </a:lnTo>
                <a:lnTo>
                  <a:pt x="3810000" y="285750"/>
                </a:lnTo>
                <a:lnTo>
                  <a:pt x="4114800" y="0"/>
                </a:lnTo>
                <a:close/>
              </a:path>
            </a:pathLst>
          </a:custGeom>
          <a:solidFill>
            <a:srgbClr val="6F2516"/>
          </a:solidFill>
          <a:ln>
            <a:noFill/>
          </a:ln>
        </p:spPr>
      </p:sp>
      <p:sp>
        <p:nvSpPr>
          <p:cNvPr id="4" name="deco-ship-hull-line"/>
          <p:cNvSpPr/>
          <p:nvPr/>
        </p:nvSpPr>
        <p:spPr>
          <a:xfrm>
            <a:off x="1638300" y="3638550"/>
            <a:ext cx="3848100" cy="9525"/>
          </a:xfrm>
          <a:custGeom>
            <a:avLst/>
            <a:gdLst/>
            <a:ahLst/>
            <a:cxnLst/>
            <a:rect l="l" t="t" r="r" b="b"/>
            <a:pathLst>
              <a:path w="3848100" h="9525">
                <a:moveTo>
                  <a:pt x="0" y="0"/>
                </a:moveTo>
                <a:lnTo>
                  <a:pt x="3848100" y="0"/>
                </a:lnTo>
              </a:path>
            </a:pathLst>
          </a:custGeom>
          <a:noFill/>
          <a:ln w="14288">
            <a:solidFill>
              <a:srgbClr val="FF957F"/>
            </a:solidFill>
          </a:ln>
        </p:spPr>
      </p:sp>
      <p:sp>
        <p:nvSpPr>
          <p:cNvPr id="5" name="deco-ship-deck"/>
          <p:cNvSpPr/>
          <p:nvPr/>
        </p:nvSpPr>
        <p:spPr>
          <a:xfrm>
            <a:off x="1866900" y="3371850"/>
            <a:ext cx="2895600" cy="133350"/>
          </a:xfrm>
          <a:custGeom>
            <a:avLst/>
            <a:gdLst/>
            <a:ahLst/>
            <a:cxnLst/>
            <a:rect l="l" t="t" r="r" b="b"/>
            <a:pathLst>
              <a:path w="2895600" h="133350">
                <a:moveTo>
                  <a:pt x="0" y="0"/>
                </a:moveTo>
                <a:lnTo>
                  <a:pt x="2895600" y="0"/>
                </a:lnTo>
                <a:lnTo>
                  <a:pt x="2895600" y="133350"/>
                </a:lnTo>
                <a:lnTo>
                  <a:pt x="0" y="133350"/>
                </a:lnTo>
                <a:close/>
              </a:path>
            </a:pathLst>
          </a:custGeom>
          <a:solidFill>
            <a:srgbClr val="9E4C3B"/>
          </a:solidFill>
          <a:ln>
            <a:noFill/>
          </a:ln>
        </p:spPr>
      </p:sp>
      <p:sp>
        <p:nvSpPr>
          <p:cNvPr id="6" name="deco-ship-hatches"/>
          <p:cNvSpPr/>
          <p:nvPr/>
        </p:nvSpPr>
        <p:spPr>
          <a:xfrm>
            <a:off x="2000250" y="3409950"/>
            <a:ext cx="2628900" cy="9525"/>
          </a:xfrm>
          <a:custGeom>
            <a:avLst/>
            <a:gdLst/>
            <a:ahLst/>
            <a:cxnLst/>
            <a:rect l="l" t="t" r="r" b="b"/>
            <a:pathLst>
              <a:path w="2628900" h="9525">
                <a:moveTo>
                  <a:pt x="0" y="0"/>
                </a:moveTo>
                <a:lnTo>
                  <a:pt x="457200" y="0"/>
                </a:lnTo>
                <a:moveTo>
                  <a:pt x="571500" y="0"/>
                </a:moveTo>
                <a:lnTo>
                  <a:pt x="1028700" y="0"/>
                </a:lnTo>
                <a:moveTo>
                  <a:pt x="1143000" y="0"/>
                </a:moveTo>
                <a:lnTo>
                  <a:pt x="1600200" y="0"/>
                </a:lnTo>
                <a:moveTo>
                  <a:pt x="1714500" y="0"/>
                </a:moveTo>
                <a:lnTo>
                  <a:pt x="2171700" y="0"/>
                </a:lnTo>
                <a:moveTo>
                  <a:pt x="2286000" y="0"/>
                </a:moveTo>
                <a:lnTo>
                  <a:pt x="2628900" y="0"/>
                </a:lnTo>
              </a:path>
            </a:pathLst>
          </a:custGeom>
          <a:noFill/>
          <a:ln w="76200">
            <a:solidFill>
              <a:srgbClr val="ECB3A8"/>
            </a:solidFill>
          </a:ln>
        </p:spPr>
      </p:sp>
      <p:sp>
        <p:nvSpPr>
          <p:cNvPr id="7" name="deco-ship-bridge"/>
          <p:cNvSpPr/>
          <p:nvPr/>
        </p:nvSpPr>
        <p:spPr>
          <a:xfrm>
            <a:off x="4819650" y="3067050"/>
            <a:ext cx="590550" cy="304800"/>
          </a:xfrm>
          <a:custGeom>
            <a:avLst/>
            <a:gdLst/>
            <a:ahLst/>
            <a:cxnLst/>
            <a:rect l="l" t="t" r="r" b="b"/>
            <a:pathLst>
              <a:path w="590550" h="304800">
                <a:moveTo>
                  <a:pt x="0" y="133350"/>
                </a:moveTo>
                <a:lnTo>
                  <a:pt x="590550" y="133350"/>
                </a:lnTo>
                <a:lnTo>
                  <a:pt x="590550" y="304800"/>
                </a:lnTo>
                <a:lnTo>
                  <a:pt x="0" y="304800"/>
                </a:lnTo>
                <a:close/>
                <a:moveTo>
                  <a:pt x="133350" y="0"/>
                </a:moveTo>
                <a:lnTo>
                  <a:pt x="438150" y="0"/>
                </a:lnTo>
                <a:lnTo>
                  <a:pt x="438150" y="133350"/>
                </a:lnTo>
                <a:lnTo>
                  <a:pt x="133350" y="133350"/>
                </a:lnTo>
                <a:close/>
              </a:path>
            </a:pathLst>
          </a:custGeom>
          <a:solidFill>
            <a:srgbClr val="E8EEF5"/>
          </a:solidFill>
          <a:ln>
            <a:noFill/>
          </a:ln>
        </p:spPr>
      </p:sp>
      <p:sp>
        <p:nvSpPr>
          <p:cNvPr id="8" name="deco-ship-windows"/>
          <p:cNvSpPr/>
          <p:nvPr/>
        </p:nvSpPr>
        <p:spPr>
          <a:xfrm>
            <a:off x="4876800" y="3124200"/>
            <a:ext cx="476250" cy="152400"/>
          </a:xfrm>
          <a:custGeom>
            <a:avLst/>
            <a:gdLst/>
            <a:ahLst/>
            <a:cxnLst/>
            <a:rect l="l" t="t" r="r" b="b"/>
            <a:pathLst>
              <a:path w="476250" h="152400">
                <a:moveTo>
                  <a:pt x="0" y="152400"/>
                </a:moveTo>
                <a:lnTo>
                  <a:pt x="476250" y="152400"/>
                </a:lnTo>
                <a:moveTo>
                  <a:pt x="142875" y="0"/>
                </a:moveTo>
                <a:lnTo>
                  <a:pt x="323850" y="0"/>
                </a:lnTo>
              </a:path>
            </a:pathLst>
          </a:custGeom>
          <a:noFill/>
          <a:ln w="19050">
            <a:solidFill>
              <a:srgbClr val="D64A2E"/>
            </a:solidFill>
          </a:ln>
        </p:spPr>
      </p:sp>
      <p:sp>
        <p:nvSpPr>
          <p:cNvPr id="9" name="deco-ship-mast"/>
          <p:cNvSpPr/>
          <p:nvPr/>
        </p:nvSpPr>
        <p:spPr>
          <a:xfrm>
            <a:off x="4686300" y="2914650"/>
            <a:ext cx="590550" cy="457200"/>
          </a:xfrm>
          <a:custGeom>
            <a:avLst/>
            <a:gdLst/>
            <a:ahLst/>
            <a:cxnLst/>
            <a:rect l="l" t="t" r="r" b="b"/>
            <a:pathLst>
              <a:path w="590550" h="457200">
                <a:moveTo>
                  <a:pt x="0" y="457200"/>
                </a:moveTo>
                <a:lnTo>
                  <a:pt x="0" y="114300"/>
                </a:lnTo>
                <a:lnTo>
                  <a:pt x="76200" y="114300"/>
                </a:lnTo>
                <a:moveTo>
                  <a:pt x="590550" y="152400"/>
                </a:moveTo>
                <a:lnTo>
                  <a:pt x="590550" y="0"/>
                </a:lnTo>
              </a:path>
            </a:pathLst>
          </a:custGeom>
          <a:noFill/>
          <a:ln w="19050">
            <a:solidFill>
              <a:srgbClr val="9E4C3B"/>
            </a:solidFill>
          </a:ln>
        </p:spPr>
      </p:sp>
      <p:sp>
        <p:nvSpPr>
          <p:cNvPr id="10" name="deco-waves"/>
          <p:cNvSpPr/>
          <p:nvPr/>
        </p:nvSpPr>
        <p:spPr>
          <a:xfrm>
            <a:off x="762000" y="3695700"/>
            <a:ext cx="5715000" cy="190500"/>
          </a:xfrm>
          <a:custGeom>
            <a:avLst/>
            <a:gdLst/>
            <a:ahLst/>
            <a:cxnLst/>
            <a:rect l="l" t="t" r="r" b="b"/>
            <a:pathLst>
              <a:path w="5715000" h="190500">
                <a:moveTo>
                  <a:pt x="0" y="38100"/>
                </a:moveTo>
                <a:cubicBezTo>
                  <a:pt x="127000" y="0"/>
                  <a:pt x="254000" y="0"/>
                  <a:pt x="381000" y="38100"/>
                </a:cubicBezTo>
                <a:cubicBezTo>
                  <a:pt x="508000" y="76200"/>
                  <a:pt x="635000" y="76200"/>
                  <a:pt x="762000" y="38100"/>
                </a:cubicBezTo>
                <a:moveTo>
                  <a:pt x="4953000" y="38100"/>
                </a:moveTo>
                <a:cubicBezTo>
                  <a:pt x="5080000" y="0"/>
                  <a:pt x="5207000" y="0"/>
                  <a:pt x="5334000" y="38100"/>
                </a:cubicBezTo>
                <a:cubicBezTo>
                  <a:pt x="5461000" y="76200"/>
                  <a:pt x="5588000" y="76200"/>
                  <a:pt x="5715000" y="38100"/>
                </a:cubicBezTo>
                <a:moveTo>
                  <a:pt x="1524000" y="133350"/>
                </a:moveTo>
                <a:cubicBezTo>
                  <a:pt x="1651000" y="95250"/>
                  <a:pt x="1778000" y="95250"/>
                  <a:pt x="1905000" y="133350"/>
                </a:cubicBezTo>
                <a:cubicBezTo>
                  <a:pt x="2032000" y="171450"/>
                  <a:pt x="2159000" y="171450"/>
                  <a:pt x="2286000" y="133350"/>
                </a:cubicBezTo>
                <a:moveTo>
                  <a:pt x="3810000" y="152400"/>
                </a:moveTo>
                <a:cubicBezTo>
                  <a:pt x="3937000" y="114300"/>
                  <a:pt x="4064000" y="114300"/>
                  <a:pt x="4191000" y="152400"/>
                </a:cubicBezTo>
                <a:cubicBezTo>
                  <a:pt x="4318000" y="190500"/>
                  <a:pt x="4445000" y="190500"/>
                  <a:pt x="4572000" y="152400"/>
                </a:cubicBezTo>
              </a:path>
            </a:pathLst>
          </a:custGeom>
          <a:noFill/>
          <a:ln w="19050">
            <a:solidFill>
              <a:srgbClr val="FFFFFF">
                <a:alpha val="70000"/>
              </a:srgbClr>
            </a:solidFill>
          </a:ln>
        </p:spPr>
      </p:sp>
      <p:grpSp>
        <p:nvGrpSpPr>
          <p:cNvPr id="18" name="header"/>
          <p:cNvGrpSpPr/>
          <p:nvPr/>
        </p:nvGrpSpPr>
        <p:grpSpPr>
          <a:xfrm>
            <a:off x="0" y="0"/>
            <a:ext cx="11739563" cy="570929"/>
            <a:chOff x="0" y="0"/>
            <a:chExt cx="11739563" cy="570929"/>
          </a:xfrm>
        </p:grpSpPr>
        <p:sp>
          <p:nvSpPr>
            <p:cNvPr id="11" name="Polygon 11"/>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12" name="TextBox 12"/>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07</a:t>
              </a:r>
            </a:p>
          </p:txBody>
        </p:sp>
        <p:sp>
          <p:nvSpPr>
            <p:cNvPr id="13" name="TextBox 13"/>
            <p:cNvSpPr txBox="1"/>
            <p:nvPr/>
          </p:nvSpPr>
          <p:spPr>
            <a:xfrm>
              <a:off x="947738" y="75486"/>
              <a:ext cx="1825549"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案例研究｜数字化赋能航运运营的实践样本</a:t>
              </a:r>
            </a:p>
          </p:txBody>
        </p:sp>
        <p:sp>
          <p:nvSpPr>
            <p:cNvPr id="14" name="TextBox 14"/>
            <p:cNvSpPr txBox="1"/>
            <p:nvPr/>
          </p:nvSpPr>
          <p:spPr>
            <a:xfrm>
              <a:off x="942594" y="189548"/>
              <a:ext cx="4821052"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航运运营</a:t>
              </a:r>
              <a:r>
                <a:rPr lang="zh-CN" sz="1950" b="1" dirty="0">
                  <a:solidFill>
                    <a:srgbClr val="5E2114"/>
                  </a:solidFill>
                  <a:latin typeface="+mj-lt"/>
                  <a:ea typeface="+mj-ea"/>
                  <a:cs typeface="+mj-cs"/>
                </a:rPr>
                <a:t>｜持续三年、覆盖135艘船舶​</a:t>
              </a:r>
            </a:p>
          </p:txBody>
        </p:sp>
        <p:sp>
          <p:nvSpPr>
            <p:cNvPr id="15" name="Line 1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16" name="TextBox 16"/>
            <p:cNvSpPr txBox="1"/>
            <p:nvPr/>
          </p:nvSpPr>
          <p:spPr>
            <a:xfrm>
              <a:off x="10487495" y="113586"/>
              <a:ext cx="1252068"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更安全的航行　更高效的运营</a:t>
              </a:r>
            </a:p>
          </p:txBody>
        </p:sp>
        <p:sp>
          <p:nvSpPr>
            <p:cNvPr id="17" name="TextBox 17"/>
            <p:cNvSpPr txBox="1"/>
            <p:nvPr/>
          </p:nvSpPr>
          <p:spPr>
            <a:xfrm>
              <a:off x="11060976" y="265986"/>
              <a:ext cx="678586"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更可持续的未来</a:t>
              </a:r>
            </a:p>
          </p:txBody>
        </p:sp>
      </p:grpSp>
      <p:grpSp>
        <p:nvGrpSpPr>
          <p:cNvPr id="20" name="subtitle"/>
          <p:cNvGrpSpPr/>
          <p:nvPr/>
        </p:nvGrpSpPr>
        <p:grpSpPr>
          <a:xfrm>
            <a:off x="985647" y="656749"/>
            <a:ext cx="4363517" cy="190690"/>
            <a:chOff x="985647" y="656749"/>
            <a:chExt cx="4363517" cy="190690"/>
          </a:xfrm>
        </p:grpSpPr>
        <p:sp>
          <p:nvSpPr>
            <p:cNvPr id="19" name="TextBox 19"/>
            <p:cNvSpPr txBox="1"/>
            <p:nvPr/>
          </p:nvSpPr>
          <p:spPr>
            <a:xfrm>
              <a:off x="985647" y="656749"/>
              <a:ext cx="4363517" cy="190690"/>
            </a:xfrm>
            <a:prstGeom prst="rect">
              <a:avLst/>
            </a:prstGeom>
            <a:noFill/>
            <a:ln>
              <a:noFill/>
            </a:ln>
          </p:spPr>
          <p:txBody>
            <a:bodyPr wrap="none" lIns="0" tIns="0" rIns="0" bIns="0" anchor="t" anchorCtr="0">
              <a:spAutoFit/>
            </a:bodyPr>
            <a:lstStyle/>
            <a:p>
              <a:pPr algn="l"/>
              <a:r>
                <a:rPr lang="zh-CN" sz="980" dirty="0">
                  <a:solidFill>
                    <a:srgbClr val="9C331E"/>
                  </a:solidFill>
                  <a:latin typeface="+mn-lt"/>
                  <a:ea typeface="+mn-ea"/>
                  <a:cs typeface="+mn-cs"/>
                </a:rPr>
                <a:t>以数据驱动航运经营管理，在真实运营中持续验证系统的稳定性与实用价值</a:t>
              </a:r>
            </a:p>
          </p:txBody>
        </p:sp>
      </p:grpSp>
      <p:grpSp>
        <p:nvGrpSpPr>
          <p:cNvPr id="31" name="hero-left"/>
          <p:cNvGrpSpPr/>
          <p:nvPr/>
        </p:nvGrpSpPr>
        <p:grpSpPr>
          <a:xfrm>
            <a:off x="400050" y="1040606"/>
            <a:ext cx="2332101" cy="2080260"/>
            <a:chOff x="400050" y="1040606"/>
            <a:chExt cx="2332101" cy="2080260"/>
          </a:xfrm>
        </p:grpSpPr>
        <p:sp>
          <p:nvSpPr>
            <p:cNvPr id="21" name="TextBox 21"/>
            <p:cNvSpPr txBox="1"/>
            <p:nvPr/>
          </p:nvSpPr>
          <p:spPr>
            <a:xfrm>
              <a:off x="451485" y="1040606"/>
              <a:ext cx="1800454" cy="429578"/>
            </a:xfrm>
            <a:prstGeom prst="rect">
              <a:avLst/>
            </a:prstGeom>
            <a:noFill/>
            <a:ln>
              <a:noFill/>
            </a:ln>
          </p:spPr>
          <p:txBody>
            <a:bodyPr wrap="none" lIns="0" tIns="0" rIns="0" bIns="0" anchor="t" anchorCtr="0">
              <a:spAutoFit/>
            </a:bodyPr>
            <a:lstStyle/>
            <a:p>
              <a:pPr algn="l">
                <a:lnSpc>
                  <a:spcPts val="1650"/>
                </a:lnSpc>
              </a:pPr>
              <a:r>
                <a:rPr lang="zh-CN" sz="1120" b="1" i="1" dirty="0">
                  <a:solidFill>
                    <a:srgbClr val="5E2114"/>
                  </a:solidFill>
                  <a:latin typeface="+mn-lt"/>
                  <a:ea typeface="+mn-ea"/>
                  <a:cs typeface="+mn-cs"/>
                </a:rPr>
                <a:t>让每一段航程</a:t>
              </a:r>
              <a:br/>
              <a:r>
                <a:rPr lang="zh-CN" sz="1120" b="1" i="1" dirty="0">
                  <a:solidFill>
                    <a:srgbClr val="5E2114"/>
                  </a:solidFill>
                  <a:latin typeface="+mn-lt"/>
                  <a:ea typeface="+mn-ea"/>
                  <a:cs typeface="+mn-cs"/>
                </a:rPr>
                <a:t>更安全、更高效、更可持续​</a:t>
              </a:r>
            </a:p>
          </p:txBody>
        </p:sp>
        <p:sp>
          <p:nvSpPr>
            <p:cNvPr id="22" name="Line 22"/>
            <p:cNvSpPr/>
            <p:nvPr/>
          </p:nvSpPr>
          <p:spPr>
            <a:xfrm>
              <a:off x="457200" y="1485900"/>
              <a:ext cx="381000" cy="9525"/>
            </a:xfrm>
            <a:custGeom>
              <a:avLst/>
              <a:gdLst/>
              <a:ahLst/>
              <a:cxnLst/>
              <a:rect l="l" t="t" r="r" b="b"/>
              <a:pathLst>
                <a:path w="381000" h="9525">
                  <a:moveTo>
                    <a:pt x="0" y="0"/>
                  </a:moveTo>
                  <a:lnTo>
                    <a:pt x="381000" y="0"/>
                  </a:lnTo>
                </a:path>
              </a:pathLst>
            </a:custGeom>
            <a:noFill/>
            <a:ln w="19050">
              <a:solidFill>
                <a:srgbClr val="9C331E"/>
              </a:solidFill>
            </a:ln>
          </p:spPr>
        </p:sp>
        <p:sp>
          <p:nvSpPr>
            <p:cNvPr id="23" name="TextBox 23"/>
            <p:cNvSpPr txBox="1"/>
            <p:nvPr/>
          </p:nvSpPr>
          <p:spPr>
            <a:xfrm>
              <a:off x="400050" y="1660208"/>
              <a:ext cx="1419556" cy="1190625"/>
            </a:xfrm>
            <a:prstGeom prst="rect">
              <a:avLst/>
            </a:prstGeom>
            <a:noFill/>
            <a:ln>
              <a:noFill/>
            </a:ln>
          </p:spPr>
          <p:txBody>
            <a:bodyPr wrap="none" lIns="0" tIns="0" rIns="0" bIns="0" anchor="t" anchorCtr="0">
              <a:spAutoFit/>
            </a:bodyPr>
            <a:lstStyle/>
            <a:p>
              <a:pPr algn="l"/>
              <a:r>
                <a:rPr lang="zh-CN" sz="6150" b="1" dirty="0">
                  <a:solidFill>
                    <a:srgbClr val="9C331E"/>
                  </a:solidFill>
                  <a:latin typeface="Arial"/>
                  <a:ea typeface="Arial"/>
                  <a:cs typeface="Arial"/>
                </a:rPr>
                <a:t>135</a:t>
              </a:r>
            </a:p>
          </p:txBody>
        </p:sp>
        <p:sp>
          <p:nvSpPr>
            <p:cNvPr id="24" name="TextBox 24"/>
            <p:cNvSpPr txBox="1"/>
            <p:nvPr/>
          </p:nvSpPr>
          <p:spPr>
            <a:xfrm>
              <a:off x="2049018" y="2145982"/>
              <a:ext cx="683133" cy="322707"/>
            </a:xfrm>
            <a:prstGeom prst="rect">
              <a:avLst/>
            </a:prstGeom>
            <a:noFill/>
            <a:ln>
              <a:noFill/>
            </a:ln>
          </p:spPr>
          <p:txBody>
            <a:bodyPr wrap="none" lIns="0" tIns="0" rIns="0" bIns="0" anchor="t" anchorCtr="0">
              <a:spAutoFit/>
            </a:bodyPr>
            <a:lstStyle/>
            <a:p>
              <a:pPr algn="l"/>
              <a:r>
                <a:rPr lang="zh-CN" sz="1650" b="1" dirty="0">
                  <a:solidFill>
                    <a:srgbClr val="5E2114"/>
                  </a:solidFill>
                  <a:latin typeface="+mn-lt"/>
                  <a:ea typeface="+mn-ea"/>
                  <a:cs typeface="+mn-cs"/>
                </a:rPr>
                <a:t>艘船舶</a:t>
              </a:r>
            </a:p>
          </p:txBody>
        </p:sp>
        <p:sp>
          <p:nvSpPr>
            <p:cNvPr id="25" name="Rectangle 25"/>
            <p:cNvSpPr/>
            <p:nvPr/>
          </p:nvSpPr>
          <p:spPr>
            <a:xfrm>
              <a:off x="457200" y="2457450"/>
              <a:ext cx="1733550" cy="323850"/>
            </a:xfrm>
            <a:prstGeom prst="roundRect">
              <a:avLst>
                <a:gd name="adj" fmla="val 50000"/>
              </a:avLst>
            </a:prstGeom>
            <a:solidFill>
              <a:srgbClr val="632012"/>
            </a:solidFill>
            <a:ln>
              <a:noFill/>
            </a:ln>
          </p:spPr>
        </p:sp>
        <p:grpSp>
          <p:nvGrpSpPr>
            <p:cNvPr id="28" name="Group 28"/>
            <p:cNvGrpSpPr/>
            <p:nvPr/>
          </p:nvGrpSpPr>
          <p:grpSpPr>
            <a:xfrm>
              <a:off x="576262" y="2547937"/>
              <a:ext cx="142875" cy="142875"/>
              <a:chOff x="576262" y="2547937"/>
              <a:chExt cx="142875" cy="142875"/>
            </a:xfrm>
          </p:grpSpPr>
          <p:sp>
            <p:nvSpPr>
              <p:cNvPr id="26" name="Freeform 26"/>
              <p:cNvSpPr/>
              <p:nvPr/>
            </p:nvSpPr>
            <p:spPr>
              <a:xfrm>
                <a:off x="576262" y="2595562"/>
                <a:ext cx="142875" cy="95250"/>
              </a:xfrm>
              <a:custGeom>
                <a:avLst/>
                <a:gdLst/>
                <a:ahLst/>
                <a:cxnLst/>
                <a:rect l="l" t="t" r="r" b="b"/>
                <a:pathLst>
                  <a:path w="142875" h="95250">
                    <a:moveTo>
                      <a:pt x="71437" y="0"/>
                    </a:moveTo>
                    <a:lnTo>
                      <a:pt x="71437" y="95250"/>
                    </a:lnTo>
                    <a:moveTo>
                      <a:pt x="7937" y="31750"/>
                    </a:moveTo>
                    <a:cubicBezTo>
                      <a:pt x="7937" y="66820"/>
                      <a:pt x="36367" y="95250"/>
                      <a:pt x="71437" y="95250"/>
                    </a:cubicBezTo>
                    <a:cubicBezTo>
                      <a:pt x="106508" y="95250"/>
                      <a:pt x="134937" y="66820"/>
                      <a:pt x="134937" y="31750"/>
                    </a:cubicBezTo>
                    <a:moveTo>
                      <a:pt x="142875" y="31750"/>
                    </a:moveTo>
                    <a:lnTo>
                      <a:pt x="127000" y="31750"/>
                    </a:lnTo>
                    <a:moveTo>
                      <a:pt x="15875" y="31750"/>
                    </a:moveTo>
                    <a:lnTo>
                      <a:pt x="0" y="31750"/>
                    </a:lnTo>
                  </a:path>
                </a:pathLst>
              </a:custGeom>
              <a:noFill/>
              <a:ln w="15875">
                <a:solidFill>
                  <a:srgbClr val="FFFFFF"/>
                </a:solidFill>
              </a:ln>
            </p:spPr>
          </p:sp>
          <p:sp>
            <p:nvSpPr>
              <p:cNvPr id="27" name="Freeform 27"/>
              <p:cNvSpPr/>
              <p:nvPr/>
            </p:nvSpPr>
            <p:spPr>
              <a:xfrm>
                <a:off x="623887" y="254793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29" name="TextBox 29"/>
            <p:cNvSpPr txBox="1"/>
            <p:nvPr/>
          </p:nvSpPr>
          <p:spPr>
            <a:xfrm>
              <a:off x="814197" y="2571274"/>
              <a:ext cx="88999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 xml:space="preserve">持续运行 </a:t>
              </a:r>
              <a:r>
                <a:rPr lang="zh-CN" sz="1120" b="1" dirty="0">
                  <a:solidFill>
                    <a:srgbClr val="FF957F"/>
                  </a:solidFill>
                  <a:latin typeface="Arial"/>
                  <a:ea typeface="Microsoft YaHei"/>
                  <a:cs typeface="Arial"/>
                </a:rPr>
                <a:t>3年</a:t>
              </a:r>
              <a:r>
                <a:rPr lang="zh-CN" sz="980" b="1" dirty="0">
                  <a:solidFill>
                    <a:srgbClr val="FFFFFF"/>
                  </a:solidFill>
                  <a:latin typeface="+mn-lt"/>
                  <a:ea typeface="+mn-ea"/>
                  <a:cs typeface="+mn-cs"/>
                </a:rPr>
                <a:t>​</a:t>
              </a:r>
            </a:p>
          </p:txBody>
        </p:sp>
        <p:sp>
          <p:nvSpPr>
            <p:cNvPr id="30" name="TextBox 30"/>
            <p:cNvSpPr txBox="1"/>
            <p:nvPr/>
          </p:nvSpPr>
          <p:spPr>
            <a:xfrm>
              <a:off x="452438" y="2958941"/>
              <a:ext cx="1797817" cy="161925"/>
            </a:xfrm>
            <a:prstGeom prst="rect">
              <a:avLst/>
            </a:prstGeom>
            <a:noFill/>
            <a:ln>
              <a:noFill/>
            </a:ln>
          </p:spPr>
          <p:txBody>
            <a:bodyPr wrap="none" lIns="0" tIns="0" rIns="0" bIns="0" anchor="t" anchorCtr="0">
              <a:spAutoFit/>
            </a:bodyPr>
            <a:lstStyle/>
            <a:p>
              <a:pPr algn="l"/>
              <a:r>
                <a:rPr lang="zh-CN" sz="820" dirty="0">
                  <a:solidFill>
                    <a:srgbClr val="573F3A"/>
                  </a:solidFill>
                  <a:latin typeface="+mn-lt"/>
                  <a:ea typeface="+mn-ea"/>
                  <a:cs typeface="+mn-cs"/>
                </a:rPr>
                <a:t>已在135艘船舶部署并连续运行三年​</a:t>
              </a:r>
            </a:p>
          </p:txBody>
        </p:sp>
      </p:grpSp>
      <p:grpSp>
        <p:nvGrpSpPr>
          <p:cNvPr id="55" name="hero-map"/>
          <p:cNvGrpSpPr/>
          <p:nvPr/>
        </p:nvGrpSpPr>
        <p:grpSpPr>
          <a:xfrm>
            <a:off x="3790950" y="990600"/>
            <a:ext cx="4695825" cy="2324338"/>
            <a:chOff x="3790950" y="990600"/>
            <a:chExt cx="4695825" cy="2324338"/>
          </a:xfrm>
        </p:grpSpPr>
        <p:sp>
          <p:nvSpPr>
            <p:cNvPr id="32" name="Freeform 32"/>
            <p:cNvSpPr/>
            <p:nvPr/>
          </p:nvSpPr>
          <p:spPr>
            <a:xfrm>
              <a:off x="3790950" y="1117600"/>
              <a:ext cx="1117600" cy="711200"/>
            </a:xfrm>
            <a:custGeom>
              <a:avLst/>
              <a:gdLst/>
              <a:ahLst/>
              <a:cxnLst/>
              <a:rect l="l" t="t" r="r" b="b"/>
              <a:pathLst>
                <a:path w="1117600" h="711200">
                  <a:moveTo>
                    <a:pt x="0" y="330200"/>
                  </a:moveTo>
                  <a:cubicBezTo>
                    <a:pt x="50800" y="139700"/>
                    <a:pt x="196850" y="38100"/>
                    <a:pt x="438150" y="25400"/>
                  </a:cubicBezTo>
                  <a:cubicBezTo>
                    <a:pt x="704850" y="0"/>
                    <a:pt x="882650" y="38100"/>
                    <a:pt x="971550" y="139700"/>
                  </a:cubicBezTo>
                  <a:cubicBezTo>
                    <a:pt x="1085850" y="203200"/>
                    <a:pt x="1117600" y="298450"/>
                    <a:pt x="1066800" y="425450"/>
                  </a:cubicBezTo>
                  <a:cubicBezTo>
                    <a:pt x="1016000" y="565150"/>
                    <a:pt x="901700" y="647700"/>
                    <a:pt x="723900" y="673100"/>
                  </a:cubicBezTo>
                  <a:cubicBezTo>
                    <a:pt x="533400" y="711200"/>
                    <a:pt x="374650" y="685800"/>
                    <a:pt x="247650" y="596900"/>
                  </a:cubicBezTo>
                  <a:cubicBezTo>
                    <a:pt x="107950" y="520700"/>
                    <a:pt x="25400" y="431800"/>
                    <a:pt x="0" y="330200"/>
                  </a:cubicBezTo>
                  <a:close/>
                </a:path>
              </a:pathLst>
            </a:custGeom>
            <a:solidFill>
              <a:srgbClr val="DCE9F8"/>
            </a:solidFill>
            <a:ln>
              <a:noFill/>
            </a:ln>
          </p:spPr>
        </p:sp>
        <p:sp>
          <p:nvSpPr>
            <p:cNvPr id="33" name="Freeform 33"/>
            <p:cNvSpPr/>
            <p:nvPr/>
          </p:nvSpPr>
          <p:spPr>
            <a:xfrm>
              <a:off x="4368800" y="1911350"/>
              <a:ext cx="514350" cy="914400"/>
            </a:xfrm>
            <a:custGeom>
              <a:avLst/>
              <a:gdLst/>
              <a:ahLst/>
              <a:cxnLst/>
              <a:rect l="l" t="t" r="r" b="b"/>
              <a:pathLst>
                <a:path w="514350" h="914400">
                  <a:moveTo>
                    <a:pt x="107950" y="50800"/>
                  </a:moveTo>
                  <a:cubicBezTo>
                    <a:pt x="222250" y="0"/>
                    <a:pt x="317500" y="19050"/>
                    <a:pt x="393700" y="107950"/>
                  </a:cubicBezTo>
                  <a:cubicBezTo>
                    <a:pt x="482600" y="196850"/>
                    <a:pt x="514350" y="317500"/>
                    <a:pt x="488950" y="469900"/>
                  </a:cubicBezTo>
                  <a:cubicBezTo>
                    <a:pt x="463550" y="635000"/>
                    <a:pt x="406400" y="762000"/>
                    <a:pt x="317500" y="850900"/>
                  </a:cubicBezTo>
                  <a:cubicBezTo>
                    <a:pt x="241300" y="914400"/>
                    <a:pt x="177800" y="901700"/>
                    <a:pt x="127000" y="812800"/>
                  </a:cubicBezTo>
                  <a:cubicBezTo>
                    <a:pt x="63500" y="685800"/>
                    <a:pt x="25400" y="546100"/>
                    <a:pt x="12700" y="393700"/>
                  </a:cubicBezTo>
                  <a:cubicBezTo>
                    <a:pt x="0" y="228600"/>
                    <a:pt x="31750" y="114300"/>
                    <a:pt x="107950" y="50800"/>
                  </a:cubicBezTo>
                  <a:close/>
                </a:path>
              </a:pathLst>
            </a:custGeom>
            <a:solidFill>
              <a:srgbClr val="DCE9F8"/>
            </a:solidFill>
            <a:ln>
              <a:noFill/>
            </a:ln>
          </p:spPr>
        </p:sp>
        <p:sp>
          <p:nvSpPr>
            <p:cNvPr id="34" name="Freeform 34"/>
            <p:cNvSpPr/>
            <p:nvPr/>
          </p:nvSpPr>
          <p:spPr>
            <a:xfrm>
              <a:off x="5245100" y="1155700"/>
              <a:ext cx="520700" cy="361950"/>
            </a:xfrm>
            <a:custGeom>
              <a:avLst/>
              <a:gdLst/>
              <a:ahLst/>
              <a:cxnLst/>
              <a:rect l="l" t="t" r="r" b="b"/>
              <a:pathLst>
                <a:path w="520700" h="361950">
                  <a:moveTo>
                    <a:pt x="69850" y="82550"/>
                  </a:moveTo>
                  <a:cubicBezTo>
                    <a:pt x="158750" y="19050"/>
                    <a:pt x="260350" y="0"/>
                    <a:pt x="374650" y="25400"/>
                  </a:cubicBezTo>
                  <a:cubicBezTo>
                    <a:pt x="476250" y="50800"/>
                    <a:pt x="520700" y="107950"/>
                    <a:pt x="508000" y="196850"/>
                  </a:cubicBezTo>
                  <a:cubicBezTo>
                    <a:pt x="495300" y="285750"/>
                    <a:pt x="431800" y="336550"/>
                    <a:pt x="317500" y="349250"/>
                  </a:cubicBezTo>
                  <a:cubicBezTo>
                    <a:pt x="203200" y="361950"/>
                    <a:pt x="114300" y="336550"/>
                    <a:pt x="50800" y="273050"/>
                  </a:cubicBezTo>
                  <a:cubicBezTo>
                    <a:pt x="0" y="196850"/>
                    <a:pt x="6350" y="133350"/>
                    <a:pt x="69850" y="82550"/>
                  </a:cubicBezTo>
                  <a:close/>
                </a:path>
              </a:pathLst>
            </a:custGeom>
            <a:solidFill>
              <a:srgbClr val="DCE9F8"/>
            </a:solidFill>
            <a:ln>
              <a:noFill/>
            </a:ln>
          </p:spPr>
        </p:sp>
        <p:sp>
          <p:nvSpPr>
            <p:cNvPr id="35" name="Freeform 35"/>
            <p:cNvSpPr/>
            <p:nvPr/>
          </p:nvSpPr>
          <p:spPr>
            <a:xfrm>
              <a:off x="5416550" y="1612900"/>
              <a:ext cx="558800" cy="882650"/>
            </a:xfrm>
            <a:custGeom>
              <a:avLst/>
              <a:gdLst/>
              <a:ahLst/>
              <a:cxnLst/>
              <a:rect l="l" t="t" r="r" b="b"/>
              <a:pathLst>
                <a:path w="558800" h="882650">
                  <a:moveTo>
                    <a:pt x="50800" y="63500"/>
                  </a:moveTo>
                  <a:cubicBezTo>
                    <a:pt x="177800" y="0"/>
                    <a:pt x="298450" y="6350"/>
                    <a:pt x="412750" y="82550"/>
                  </a:cubicBezTo>
                  <a:cubicBezTo>
                    <a:pt x="514350" y="146050"/>
                    <a:pt x="558800" y="254000"/>
                    <a:pt x="546100" y="406400"/>
                  </a:cubicBezTo>
                  <a:cubicBezTo>
                    <a:pt x="533400" y="571500"/>
                    <a:pt x="482600" y="704850"/>
                    <a:pt x="393700" y="806450"/>
                  </a:cubicBezTo>
                  <a:cubicBezTo>
                    <a:pt x="317500" y="882650"/>
                    <a:pt x="247650" y="876300"/>
                    <a:pt x="184150" y="787400"/>
                  </a:cubicBezTo>
                  <a:cubicBezTo>
                    <a:pt x="95250" y="660400"/>
                    <a:pt x="38100" y="520700"/>
                    <a:pt x="12700" y="368300"/>
                  </a:cubicBezTo>
                  <a:cubicBezTo>
                    <a:pt x="0" y="215900"/>
                    <a:pt x="12700" y="114300"/>
                    <a:pt x="50800" y="63500"/>
                  </a:cubicBezTo>
                  <a:close/>
                </a:path>
              </a:pathLst>
            </a:custGeom>
            <a:solidFill>
              <a:srgbClr val="DCE9F8"/>
            </a:solidFill>
            <a:ln>
              <a:noFill/>
            </a:ln>
          </p:spPr>
        </p:sp>
        <p:sp>
          <p:nvSpPr>
            <p:cNvPr id="36" name="Freeform 36"/>
            <p:cNvSpPr/>
            <p:nvPr/>
          </p:nvSpPr>
          <p:spPr>
            <a:xfrm>
              <a:off x="6016625" y="990600"/>
              <a:ext cx="1438275" cy="869950"/>
            </a:xfrm>
            <a:custGeom>
              <a:avLst/>
              <a:gdLst/>
              <a:ahLst/>
              <a:cxnLst/>
              <a:rect l="l" t="t" r="r" b="b"/>
              <a:pathLst>
                <a:path w="1438275" h="869950">
                  <a:moveTo>
                    <a:pt x="98425" y="152400"/>
                  </a:moveTo>
                  <a:cubicBezTo>
                    <a:pt x="288925" y="38100"/>
                    <a:pt x="511175" y="0"/>
                    <a:pt x="765175" y="38100"/>
                  </a:cubicBezTo>
                  <a:cubicBezTo>
                    <a:pt x="1019175" y="76200"/>
                    <a:pt x="1203325" y="158750"/>
                    <a:pt x="1317625" y="285750"/>
                  </a:cubicBezTo>
                  <a:cubicBezTo>
                    <a:pt x="1419225" y="387350"/>
                    <a:pt x="1438275" y="501650"/>
                    <a:pt x="1374775" y="628650"/>
                  </a:cubicBezTo>
                  <a:cubicBezTo>
                    <a:pt x="1298575" y="768350"/>
                    <a:pt x="1158875" y="844550"/>
                    <a:pt x="955675" y="857250"/>
                  </a:cubicBezTo>
                  <a:cubicBezTo>
                    <a:pt x="765175" y="869950"/>
                    <a:pt x="590550" y="844550"/>
                    <a:pt x="431800" y="781050"/>
                  </a:cubicBezTo>
                  <a:cubicBezTo>
                    <a:pt x="241300" y="704850"/>
                    <a:pt x="114300" y="596900"/>
                    <a:pt x="50800" y="457200"/>
                  </a:cubicBezTo>
                  <a:cubicBezTo>
                    <a:pt x="0" y="330200"/>
                    <a:pt x="15875" y="228600"/>
                    <a:pt x="98425" y="152400"/>
                  </a:cubicBezTo>
                  <a:close/>
                </a:path>
              </a:pathLst>
            </a:custGeom>
            <a:solidFill>
              <a:srgbClr val="DCE9F8"/>
            </a:solidFill>
            <a:ln>
              <a:noFill/>
            </a:ln>
          </p:spPr>
        </p:sp>
        <p:sp>
          <p:nvSpPr>
            <p:cNvPr id="37" name="Freeform 37"/>
            <p:cNvSpPr/>
            <p:nvPr/>
          </p:nvSpPr>
          <p:spPr>
            <a:xfrm>
              <a:off x="7461250" y="2381250"/>
              <a:ext cx="552450" cy="393700"/>
            </a:xfrm>
            <a:custGeom>
              <a:avLst/>
              <a:gdLst/>
              <a:ahLst/>
              <a:cxnLst/>
              <a:rect l="l" t="t" r="r" b="b"/>
              <a:pathLst>
                <a:path w="552450" h="393700">
                  <a:moveTo>
                    <a:pt x="82550" y="57150"/>
                  </a:moveTo>
                  <a:cubicBezTo>
                    <a:pt x="184150" y="6350"/>
                    <a:pt x="292100" y="0"/>
                    <a:pt x="406400" y="38100"/>
                  </a:cubicBezTo>
                  <a:cubicBezTo>
                    <a:pt x="508000" y="76200"/>
                    <a:pt x="552450" y="139700"/>
                    <a:pt x="539750" y="228600"/>
                  </a:cubicBezTo>
                  <a:cubicBezTo>
                    <a:pt x="527050" y="317500"/>
                    <a:pt x="463550" y="368300"/>
                    <a:pt x="349250" y="381000"/>
                  </a:cubicBezTo>
                  <a:cubicBezTo>
                    <a:pt x="234950" y="393700"/>
                    <a:pt x="139700" y="374650"/>
                    <a:pt x="63500" y="323850"/>
                  </a:cubicBezTo>
                  <a:cubicBezTo>
                    <a:pt x="0" y="260350"/>
                    <a:pt x="6350" y="171450"/>
                    <a:pt x="82550" y="57150"/>
                  </a:cubicBezTo>
                  <a:close/>
                </a:path>
              </a:pathLst>
            </a:custGeom>
            <a:solidFill>
              <a:srgbClr val="DCE9F8"/>
            </a:solidFill>
            <a:ln>
              <a:noFill/>
            </a:ln>
          </p:spPr>
        </p:sp>
        <p:sp>
          <p:nvSpPr>
            <p:cNvPr id="38" name="Freeform 38"/>
            <p:cNvSpPr/>
            <p:nvPr/>
          </p:nvSpPr>
          <p:spPr>
            <a:xfrm>
              <a:off x="6667500" y="1733550"/>
              <a:ext cx="1790700" cy="590550"/>
            </a:xfrm>
            <a:custGeom>
              <a:avLst/>
              <a:gdLst/>
              <a:ahLst/>
              <a:cxnLst/>
              <a:rect l="l" t="t" r="r" b="b"/>
              <a:pathLst>
                <a:path w="1790700" h="590550">
                  <a:moveTo>
                    <a:pt x="0" y="0"/>
                  </a:moveTo>
                  <a:cubicBezTo>
                    <a:pt x="571500" y="400050"/>
                    <a:pt x="1238250" y="590550"/>
                    <a:pt x="1790700" y="285750"/>
                  </a:cubicBezTo>
                </a:path>
              </a:pathLst>
            </a:custGeom>
            <a:noFill/>
            <a:ln w="15240">
              <a:solidFill>
                <a:srgbClr val="D64A2E"/>
              </a:solidFill>
              <a:custDash>
                <a:ds d="312500" sp="250000"/>
              </a:custDash>
            </a:ln>
          </p:spPr>
        </p:sp>
        <p:sp>
          <p:nvSpPr>
            <p:cNvPr id="39" name="Freeform 39"/>
            <p:cNvSpPr/>
            <p:nvPr/>
          </p:nvSpPr>
          <p:spPr>
            <a:xfrm>
              <a:off x="4495800" y="2305050"/>
              <a:ext cx="1428750" cy="381000"/>
            </a:xfrm>
            <a:custGeom>
              <a:avLst/>
              <a:gdLst/>
              <a:ahLst/>
              <a:cxnLst/>
              <a:rect l="l" t="t" r="r" b="b"/>
              <a:pathLst>
                <a:path w="1428750" h="381000">
                  <a:moveTo>
                    <a:pt x="1428750" y="0"/>
                  </a:moveTo>
                  <a:cubicBezTo>
                    <a:pt x="895350" y="285750"/>
                    <a:pt x="457200" y="381000"/>
                    <a:pt x="0" y="190500"/>
                  </a:cubicBezTo>
                </a:path>
              </a:pathLst>
            </a:custGeom>
            <a:noFill/>
            <a:ln w="15240">
              <a:solidFill>
                <a:srgbClr val="D64A2E"/>
              </a:solidFill>
              <a:custDash>
                <a:ds d="312500" sp="250000"/>
              </a:custDash>
            </a:ln>
          </p:spPr>
        </p:sp>
        <p:sp>
          <p:nvSpPr>
            <p:cNvPr id="40" name="Freeform 40"/>
            <p:cNvSpPr/>
            <p:nvPr/>
          </p:nvSpPr>
          <p:spPr>
            <a:xfrm>
              <a:off x="4514850" y="1447800"/>
              <a:ext cx="838200" cy="723900"/>
            </a:xfrm>
            <a:custGeom>
              <a:avLst/>
              <a:gdLst/>
              <a:ahLst/>
              <a:cxnLst/>
              <a:rect l="l" t="t" r="r" b="b"/>
              <a:pathLst>
                <a:path w="838200" h="723900">
                  <a:moveTo>
                    <a:pt x="838200" y="0"/>
                  </a:moveTo>
                  <a:cubicBezTo>
                    <a:pt x="457200" y="285750"/>
                    <a:pt x="266700" y="533400"/>
                    <a:pt x="0" y="723900"/>
                  </a:cubicBezTo>
                </a:path>
              </a:pathLst>
            </a:custGeom>
            <a:noFill/>
            <a:ln w="15240">
              <a:solidFill>
                <a:srgbClr val="D64A2E"/>
              </a:solidFill>
              <a:custDash>
                <a:ds d="312500" sp="250000"/>
              </a:custDash>
            </a:ln>
          </p:spPr>
        </p:sp>
        <p:sp>
          <p:nvSpPr>
            <p:cNvPr id="41" name="Freeform 41"/>
            <p:cNvSpPr/>
            <p:nvPr/>
          </p:nvSpPr>
          <p:spPr>
            <a:xfrm>
              <a:off x="6286500" y="1905000"/>
              <a:ext cx="1276350" cy="590550"/>
            </a:xfrm>
            <a:custGeom>
              <a:avLst/>
              <a:gdLst/>
              <a:ahLst/>
              <a:cxnLst/>
              <a:rect l="l" t="t" r="r" b="b"/>
              <a:pathLst>
                <a:path w="1276350" h="590550">
                  <a:moveTo>
                    <a:pt x="0" y="0"/>
                  </a:moveTo>
                  <a:cubicBezTo>
                    <a:pt x="381000" y="381000"/>
                    <a:pt x="857250" y="495300"/>
                    <a:pt x="1276350" y="590550"/>
                  </a:cubicBezTo>
                </a:path>
              </a:pathLst>
            </a:custGeom>
            <a:noFill/>
            <a:ln w="15240">
              <a:solidFill>
                <a:srgbClr val="D64A2E"/>
              </a:solidFill>
              <a:custDash>
                <a:ds d="312500" sp="250000"/>
              </a:custDash>
            </a:ln>
          </p:spPr>
        </p:sp>
        <p:sp>
          <p:nvSpPr>
            <p:cNvPr id="42" name="Ellipse 42"/>
            <p:cNvSpPr/>
            <p:nvPr/>
          </p:nvSpPr>
          <p:spPr>
            <a:xfrm>
              <a:off x="6638925" y="1704975"/>
              <a:ext cx="57150" cy="57150"/>
            </a:xfrm>
            <a:prstGeom prst="ellipse">
              <a:avLst/>
            </a:prstGeom>
            <a:solidFill>
              <a:srgbClr val="9C331E"/>
            </a:solidFill>
            <a:ln>
              <a:noFill/>
            </a:ln>
          </p:spPr>
        </p:sp>
        <p:sp>
          <p:nvSpPr>
            <p:cNvPr id="43" name="Ellipse 43"/>
            <p:cNvSpPr/>
            <p:nvPr/>
          </p:nvSpPr>
          <p:spPr>
            <a:xfrm>
              <a:off x="8429625" y="1990725"/>
              <a:ext cx="57150" cy="57150"/>
            </a:xfrm>
            <a:prstGeom prst="ellipse">
              <a:avLst/>
            </a:prstGeom>
            <a:solidFill>
              <a:srgbClr val="9C331E"/>
            </a:solidFill>
            <a:ln>
              <a:noFill/>
            </a:ln>
          </p:spPr>
        </p:sp>
        <p:sp>
          <p:nvSpPr>
            <p:cNvPr id="44" name="Ellipse 44"/>
            <p:cNvSpPr/>
            <p:nvPr/>
          </p:nvSpPr>
          <p:spPr>
            <a:xfrm>
              <a:off x="4467225" y="2466975"/>
              <a:ext cx="57150" cy="57150"/>
            </a:xfrm>
            <a:prstGeom prst="ellipse">
              <a:avLst/>
            </a:prstGeom>
            <a:solidFill>
              <a:srgbClr val="9C331E"/>
            </a:solidFill>
            <a:ln>
              <a:noFill/>
            </a:ln>
          </p:spPr>
        </p:sp>
        <p:sp>
          <p:nvSpPr>
            <p:cNvPr id="45" name="Ellipse 45"/>
            <p:cNvSpPr/>
            <p:nvPr/>
          </p:nvSpPr>
          <p:spPr>
            <a:xfrm>
              <a:off x="5324475" y="1419225"/>
              <a:ext cx="57150" cy="57150"/>
            </a:xfrm>
            <a:prstGeom prst="ellipse">
              <a:avLst/>
            </a:prstGeom>
            <a:solidFill>
              <a:srgbClr val="9C331E"/>
            </a:solidFill>
            <a:ln>
              <a:noFill/>
            </a:ln>
          </p:spPr>
        </p:sp>
        <p:sp>
          <p:nvSpPr>
            <p:cNvPr id="46" name="Ellipse 46"/>
            <p:cNvSpPr/>
            <p:nvPr/>
          </p:nvSpPr>
          <p:spPr>
            <a:xfrm>
              <a:off x="5895975" y="2276475"/>
              <a:ext cx="57150" cy="57150"/>
            </a:xfrm>
            <a:prstGeom prst="ellipse">
              <a:avLst/>
            </a:prstGeom>
            <a:solidFill>
              <a:srgbClr val="9C331E"/>
            </a:solidFill>
            <a:ln>
              <a:noFill/>
            </a:ln>
          </p:spPr>
        </p:sp>
        <p:sp>
          <p:nvSpPr>
            <p:cNvPr id="47" name="Ellipse 47"/>
            <p:cNvSpPr/>
            <p:nvPr/>
          </p:nvSpPr>
          <p:spPr>
            <a:xfrm>
              <a:off x="7534275" y="2466975"/>
              <a:ext cx="57150" cy="57150"/>
            </a:xfrm>
            <a:prstGeom prst="ellipse">
              <a:avLst/>
            </a:prstGeom>
            <a:solidFill>
              <a:srgbClr val="9C331E"/>
            </a:solidFill>
            <a:ln>
              <a:noFill/>
            </a:ln>
          </p:spPr>
        </p:sp>
        <p:sp>
          <p:nvSpPr>
            <p:cNvPr id="48" name="TextBox 48"/>
            <p:cNvSpPr txBox="1"/>
            <p:nvPr/>
          </p:nvSpPr>
          <p:spPr>
            <a:xfrm>
              <a:off x="4757738" y="1923336"/>
              <a:ext cx="296266"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大西洋</a:t>
              </a:r>
            </a:p>
          </p:txBody>
        </p:sp>
        <p:sp>
          <p:nvSpPr>
            <p:cNvPr id="49" name="TextBox 49"/>
            <p:cNvSpPr txBox="1"/>
            <p:nvPr/>
          </p:nvSpPr>
          <p:spPr>
            <a:xfrm>
              <a:off x="6091238" y="2761536"/>
              <a:ext cx="296266"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印度洋</a:t>
              </a:r>
            </a:p>
          </p:txBody>
        </p:sp>
        <p:sp>
          <p:nvSpPr>
            <p:cNvPr id="50" name="TextBox 50"/>
            <p:cNvSpPr txBox="1"/>
            <p:nvPr/>
          </p:nvSpPr>
          <p:spPr>
            <a:xfrm>
              <a:off x="7977188" y="2380536"/>
              <a:ext cx="296266"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太平洋</a:t>
              </a:r>
            </a:p>
          </p:txBody>
        </p:sp>
        <p:sp>
          <p:nvSpPr>
            <p:cNvPr id="51" name="Line 51"/>
            <p:cNvSpPr/>
            <p:nvPr/>
          </p:nvSpPr>
          <p:spPr>
            <a:xfrm>
              <a:off x="7677150" y="3028950"/>
              <a:ext cx="323850" cy="9525"/>
            </a:xfrm>
            <a:custGeom>
              <a:avLst/>
              <a:gdLst/>
              <a:ahLst/>
              <a:cxnLst/>
              <a:rect l="l" t="t" r="r" b="b"/>
              <a:pathLst>
                <a:path w="323850" h="9525">
                  <a:moveTo>
                    <a:pt x="0" y="0"/>
                  </a:moveTo>
                  <a:lnTo>
                    <a:pt x="323850" y="0"/>
                  </a:lnTo>
                </a:path>
              </a:pathLst>
            </a:custGeom>
            <a:noFill/>
            <a:ln w="15240">
              <a:solidFill>
                <a:srgbClr val="D64A2E"/>
              </a:solidFill>
              <a:custDash>
                <a:ds d="312500" sp="250000"/>
              </a:custDash>
            </a:ln>
          </p:spPr>
        </p:sp>
        <p:sp>
          <p:nvSpPr>
            <p:cNvPr id="52" name="TextBox 52"/>
            <p:cNvSpPr txBox="1"/>
            <p:nvPr/>
          </p:nvSpPr>
          <p:spPr>
            <a:xfrm>
              <a:off x="8072438" y="2998232"/>
              <a:ext cx="354152"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典型航线</a:t>
              </a:r>
            </a:p>
          </p:txBody>
        </p:sp>
        <p:sp>
          <p:nvSpPr>
            <p:cNvPr id="53" name="Ellipse 53"/>
            <p:cNvSpPr/>
            <p:nvPr/>
          </p:nvSpPr>
          <p:spPr>
            <a:xfrm>
              <a:off x="7705725" y="3190875"/>
              <a:ext cx="57150" cy="57150"/>
            </a:xfrm>
            <a:prstGeom prst="ellipse">
              <a:avLst/>
            </a:prstGeom>
            <a:solidFill>
              <a:srgbClr val="9C331E"/>
            </a:solidFill>
            <a:ln>
              <a:noFill/>
            </a:ln>
          </p:spPr>
        </p:sp>
        <p:sp>
          <p:nvSpPr>
            <p:cNvPr id="54" name="TextBox 54"/>
            <p:cNvSpPr txBox="1"/>
            <p:nvPr/>
          </p:nvSpPr>
          <p:spPr>
            <a:xfrm>
              <a:off x="8072438" y="3188732"/>
              <a:ext cx="354152"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主要港口</a:t>
              </a:r>
            </a:p>
          </p:txBody>
        </p:sp>
      </p:grpSp>
      <p:grpSp>
        <p:nvGrpSpPr>
          <p:cNvPr id="68" name="hero-right"/>
          <p:cNvGrpSpPr/>
          <p:nvPr/>
        </p:nvGrpSpPr>
        <p:grpSpPr>
          <a:xfrm>
            <a:off x="8872538" y="1064895"/>
            <a:ext cx="2843212" cy="1859280"/>
            <a:chOff x="8872538" y="1064895"/>
            <a:chExt cx="2843212" cy="1859280"/>
          </a:xfrm>
        </p:grpSpPr>
        <p:sp>
          <p:nvSpPr>
            <p:cNvPr id="56" name="Ellipse 56"/>
            <p:cNvSpPr/>
            <p:nvPr/>
          </p:nvSpPr>
          <p:spPr>
            <a:xfrm>
              <a:off x="8872538" y="1100138"/>
              <a:ext cx="47625" cy="47625"/>
            </a:xfrm>
            <a:prstGeom prst="ellipse">
              <a:avLst/>
            </a:prstGeom>
            <a:solidFill>
              <a:srgbClr val="9C331E"/>
            </a:solidFill>
            <a:ln>
              <a:noFill/>
            </a:ln>
          </p:spPr>
        </p:sp>
        <p:sp>
          <p:nvSpPr>
            <p:cNvPr id="57" name="TextBox 57"/>
            <p:cNvSpPr txBox="1"/>
            <p:nvPr/>
          </p:nvSpPr>
          <p:spPr>
            <a:xfrm>
              <a:off x="8986838" y="1064895"/>
              <a:ext cx="1342263" cy="176212"/>
            </a:xfrm>
            <a:prstGeom prst="rect">
              <a:avLst/>
            </a:prstGeom>
            <a:noFill/>
            <a:ln>
              <a:noFill/>
            </a:ln>
          </p:spPr>
          <p:txBody>
            <a:bodyPr wrap="none" lIns="0" tIns="0" rIns="0" bIns="0" anchor="t" anchorCtr="0">
              <a:spAutoFit/>
            </a:bodyPr>
            <a:lstStyle/>
            <a:p>
              <a:pPr algn="l"/>
              <a:r>
                <a:rPr lang="zh-CN" sz="900" dirty="0">
                  <a:solidFill>
                    <a:srgbClr val="5E2114"/>
                  </a:solidFill>
                  <a:latin typeface="+mn-lt"/>
                  <a:ea typeface="+mn-ea"/>
                  <a:cs typeface="+mn-cs"/>
                </a:rPr>
                <a:t>连接全球主要干散货航线</a:t>
              </a:r>
            </a:p>
          </p:txBody>
        </p:sp>
        <p:sp>
          <p:nvSpPr>
            <p:cNvPr id="58" name="Ellipse 58"/>
            <p:cNvSpPr/>
            <p:nvPr/>
          </p:nvSpPr>
          <p:spPr>
            <a:xfrm>
              <a:off x="8872538" y="1347788"/>
              <a:ext cx="47625" cy="47625"/>
            </a:xfrm>
            <a:prstGeom prst="ellipse">
              <a:avLst/>
            </a:prstGeom>
            <a:solidFill>
              <a:srgbClr val="9C331E"/>
            </a:solidFill>
            <a:ln>
              <a:noFill/>
            </a:ln>
          </p:spPr>
        </p:sp>
        <p:sp>
          <p:nvSpPr>
            <p:cNvPr id="59" name="TextBox 59"/>
            <p:cNvSpPr txBox="1"/>
            <p:nvPr/>
          </p:nvSpPr>
          <p:spPr>
            <a:xfrm>
              <a:off x="8986838" y="1312545"/>
              <a:ext cx="1342263" cy="176212"/>
            </a:xfrm>
            <a:prstGeom prst="rect">
              <a:avLst/>
            </a:prstGeom>
            <a:noFill/>
            <a:ln>
              <a:noFill/>
            </a:ln>
          </p:spPr>
          <p:txBody>
            <a:bodyPr wrap="none" lIns="0" tIns="0" rIns="0" bIns="0" anchor="t" anchorCtr="0">
              <a:spAutoFit/>
            </a:bodyPr>
            <a:lstStyle/>
            <a:p>
              <a:pPr algn="l"/>
              <a:r>
                <a:rPr lang="zh-CN" sz="900" dirty="0">
                  <a:solidFill>
                    <a:srgbClr val="5E2114"/>
                  </a:solidFill>
                  <a:latin typeface="+mn-lt"/>
                  <a:ea typeface="+mn-ea"/>
                  <a:cs typeface="+mn-cs"/>
                </a:rPr>
                <a:t>覆盖多码头、多港区运行</a:t>
              </a:r>
            </a:p>
          </p:txBody>
        </p:sp>
        <p:sp>
          <p:nvSpPr>
            <p:cNvPr id="60" name="Ellipse 60"/>
            <p:cNvSpPr/>
            <p:nvPr/>
          </p:nvSpPr>
          <p:spPr>
            <a:xfrm>
              <a:off x="8872538" y="1595438"/>
              <a:ext cx="47625" cy="47625"/>
            </a:xfrm>
            <a:prstGeom prst="ellipse">
              <a:avLst/>
            </a:prstGeom>
            <a:solidFill>
              <a:srgbClr val="9C331E"/>
            </a:solidFill>
            <a:ln>
              <a:noFill/>
            </a:ln>
          </p:spPr>
        </p:sp>
        <p:sp>
          <p:nvSpPr>
            <p:cNvPr id="61" name="TextBox 61"/>
            <p:cNvSpPr txBox="1"/>
            <p:nvPr/>
          </p:nvSpPr>
          <p:spPr>
            <a:xfrm>
              <a:off x="8986838" y="1560195"/>
              <a:ext cx="1463421" cy="176212"/>
            </a:xfrm>
            <a:prstGeom prst="rect">
              <a:avLst/>
            </a:prstGeom>
            <a:noFill/>
            <a:ln>
              <a:noFill/>
            </a:ln>
          </p:spPr>
          <p:txBody>
            <a:bodyPr wrap="none" lIns="0" tIns="0" rIns="0" bIns="0" anchor="t" anchorCtr="0">
              <a:spAutoFit/>
            </a:bodyPr>
            <a:lstStyle/>
            <a:p>
              <a:pPr algn="l"/>
              <a:r>
                <a:rPr lang="zh-CN" sz="900" dirty="0">
                  <a:solidFill>
                    <a:srgbClr val="5E2114"/>
                  </a:solidFill>
                  <a:latin typeface="+mn-lt"/>
                  <a:ea typeface="+mn-ea"/>
                  <a:cs typeface="+mn-cs"/>
                </a:rPr>
                <a:t>在复杂环境中持续稳定运行</a:t>
              </a:r>
            </a:p>
          </p:txBody>
        </p:sp>
        <p:sp>
          <p:nvSpPr>
            <p:cNvPr id="62" name="Line 62"/>
            <p:cNvSpPr/>
            <p:nvPr/>
          </p:nvSpPr>
          <p:spPr>
            <a:xfrm>
              <a:off x="8896350" y="1885950"/>
              <a:ext cx="2819400" cy="9525"/>
            </a:xfrm>
            <a:custGeom>
              <a:avLst/>
              <a:gdLst/>
              <a:ahLst/>
              <a:cxnLst/>
              <a:rect l="l" t="t" r="r" b="b"/>
              <a:pathLst>
                <a:path w="2819400" h="9525">
                  <a:moveTo>
                    <a:pt x="0" y="0"/>
                  </a:moveTo>
                  <a:lnTo>
                    <a:pt x="2819400" y="0"/>
                  </a:lnTo>
                </a:path>
              </a:pathLst>
            </a:custGeom>
            <a:noFill/>
            <a:ln w="9525">
              <a:solidFill>
                <a:srgbClr val="C7D9F0"/>
              </a:solidFill>
            </a:ln>
          </p:spPr>
        </p:sp>
        <p:sp>
          <p:nvSpPr>
            <p:cNvPr id="63" name="TextBox 63"/>
            <p:cNvSpPr txBox="1"/>
            <p:nvPr/>
          </p:nvSpPr>
          <p:spPr>
            <a:xfrm>
              <a:off x="10828655" y="2186464"/>
              <a:ext cx="874522" cy="249364"/>
            </a:xfrm>
            <a:prstGeom prst="rect">
              <a:avLst/>
            </a:prstGeom>
            <a:noFill/>
            <a:ln>
              <a:noFill/>
            </a:ln>
          </p:spPr>
          <p:txBody>
            <a:bodyPr wrap="none" lIns="0" tIns="0" rIns="0" bIns="0" anchor="t" anchorCtr="0">
              <a:spAutoFit/>
            </a:bodyPr>
            <a:lstStyle/>
            <a:p>
              <a:pPr algn="r"/>
              <a:r>
                <a:rPr lang="zh-CN" sz="1280" b="1" i="1" dirty="0">
                  <a:solidFill>
                    <a:srgbClr val="9C331E"/>
                  </a:solidFill>
                  <a:latin typeface="+mn-lt"/>
                  <a:ea typeface="+mn-ea"/>
                  <a:cs typeface="+mn-cs"/>
                </a:rPr>
                <a:t>数据让航程</a:t>
              </a:r>
            </a:p>
          </p:txBody>
        </p:sp>
        <p:sp>
          <p:nvSpPr>
            <p:cNvPr id="64" name="TextBox 64"/>
            <p:cNvSpPr txBox="1"/>
            <p:nvPr/>
          </p:nvSpPr>
          <p:spPr>
            <a:xfrm>
              <a:off x="10828655" y="2434114"/>
              <a:ext cx="874522" cy="249364"/>
            </a:xfrm>
            <a:prstGeom prst="rect">
              <a:avLst/>
            </a:prstGeom>
            <a:noFill/>
            <a:ln>
              <a:noFill/>
            </a:ln>
          </p:spPr>
          <p:txBody>
            <a:bodyPr wrap="none" lIns="0" tIns="0" rIns="0" bIns="0" anchor="t" anchorCtr="0">
              <a:spAutoFit/>
            </a:bodyPr>
            <a:lstStyle/>
            <a:p>
              <a:pPr algn="r"/>
              <a:r>
                <a:rPr lang="zh-CN" sz="1280" b="1" i="1" dirty="0">
                  <a:solidFill>
                    <a:srgbClr val="9C331E"/>
                  </a:solidFill>
                  <a:latin typeface="+mn-lt"/>
                  <a:ea typeface="+mn-ea"/>
                  <a:cs typeface="+mn-cs"/>
                </a:rPr>
                <a:t>更有确定性</a:t>
              </a:r>
            </a:p>
          </p:txBody>
        </p:sp>
        <p:grpSp>
          <p:nvGrpSpPr>
            <p:cNvPr id="67" name="Group 67"/>
            <p:cNvGrpSpPr/>
            <p:nvPr/>
          </p:nvGrpSpPr>
          <p:grpSpPr>
            <a:xfrm>
              <a:off x="11420475" y="2752725"/>
              <a:ext cx="171450" cy="171450"/>
              <a:chOff x="11420475" y="2752725"/>
              <a:chExt cx="171450" cy="171450"/>
            </a:xfrm>
          </p:grpSpPr>
          <p:sp>
            <p:nvSpPr>
              <p:cNvPr id="65" name="Freeform 65"/>
              <p:cNvSpPr/>
              <p:nvPr/>
            </p:nvSpPr>
            <p:spPr>
              <a:xfrm>
                <a:off x="11420475" y="2809875"/>
                <a:ext cx="171450" cy="114300"/>
              </a:xfrm>
              <a:custGeom>
                <a:avLst/>
                <a:gdLst/>
                <a:ahLst/>
                <a:cxnLst/>
                <a:rect l="l" t="t" r="r" b="b"/>
                <a:pathLst>
                  <a:path w="171450" h="114300">
                    <a:moveTo>
                      <a:pt x="85725" y="0"/>
                    </a:moveTo>
                    <a:lnTo>
                      <a:pt x="85725" y="114300"/>
                    </a:lnTo>
                    <a:moveTo>
                      <a:pt x="9525" y="38100"/>
                    </a:moveTo>
                    <a:cubicBezTo>
                      <a:pt x="9525" y="80184"/>
                      <a:pt x="43641" y="114300"/>
                      <a:pt x="85725" y="114300"/>
                    </a:cubicBezTo>
                    <a:cubicBezTo>
                      <a:pt x="127809" y="114300"/>
                      <a:pt x="161925" y="80184"/>
                      <a:pt x="161925" y="38100"/>
                    </a:cubicBezTo>
                    <a:moveTo>
                      <a:pt x="171450" y="38100"/>
                    </a:moveTo>
                    <a:lnTo>
                      <a:pt x="152400" y="38100"/>
                    </a:lnTo>
                    <a:moveTo>
                      <a:pt x="19050" y="38100"/>
                    </a:moveTo>
                    <a:lnTo>
                      <a:pt x="0" y="38100"/>
                    </a:lnTo>
                  </a:path>
                </a:pathLst>
              </a:custGeom>
              <a:noFill/>
              <a:ln w="19050">
                <a:solidFill>
                  <a:srgbClr val="ECB3A8"/>
                </a:solidFill>
              </a:ln>
            </p:spPr>
          </p:sp>
          <p:sp>
            <p:nvSpPr>
              <p:cNvPr id="66" name="Freeform 66"/>
              <p:cNvSpPr/>
              <p:nvPr/>
            </p:nvSpPr>
            <p:spPr>
              <a:xfrm>
                <a:off x="11477625" y="27527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ECB3A8"/>
                </a:solidFill>
              </a:ln>
            </p:spPr>
          </p:sp>
        </p:grpSp>
      </p:grpSp>
      <p:grpSp>
        <p:nvGrpSpPr>
          <p:cNvPr id="79" name="card-overview"/>
          <p:cNvGrpSpPr/>
          <p:nvPr/>
        </p:nvGrpSpPr>
        <p:grpSpPr>
          <a:xfrm>
            <a:off x="381000" y="3848100"/>
            <a:ext cx="2819400" cy="1466850"/>
            <a:chOff x="381000" y="3848100"/>
            <a:chExt cx="2819400" cy="1466850"/>
          </a:xfrm>
        </p:grpSpPr>
        <p:sp>
          <p:nvSpPr>
            <p:cNvPr id="69" name="Rectangle 69"/>
            <p:cNvSpPr/>
            <p:nvPr/>
          </p:nvSpPr>
          <p:spPr>
            <a:xfrm>
              <a:off x="381000" y="3848100"/>
              <a:ext cx="2819400" cy="1466850"/>
            </a:xfrm>
            <a:prstGeom prst="roundRect">
              <a:avLst>
                <a:gd name="adj" fmla="val 5195"/>
              </a:avLst>
            </a:prstGeom>
            <a:solidFill>
              <a:srgbClr val="FFFFFF"/>
            </a:solidFill>
            <a:ln w="9525">
              <a:solidFill>
                <a:srgbClr val="C7D9F0"/>
              </a:solidFill>
            </a:ln>
          </p:spPr>
        </p:sp>
        <p:sp>
          <p:nvSpPr>
            <p:cNvPr id="70" name="Rectangle 70"/>
            <p:cNvSpPr/>
            <p:nvPr/>
          </p:nvSpPr>
          <p:spPr>
            <a:xfrm>
              <a:off x="381000" y="3848100"/>
              <a:ext cx="2819400" cy="304800"/>
            </a:xfrm>
            <a:prstGeom prst="roundRect">
              <a:avLst>
                <a:gd name="adj" fmla="val 25000"/>
              </a:avLst>
            </a:prstGeom>
            <a:solidFill>
              <a:srgbClr val="EFF5FC"/>
            </a:solidFill>
            <a:ln>
              <a:noFill/>
            </a:ln>
          </p:spPr>
        </p:sp>
        <p:grpSp>
          <p:nvGrpSpPr>
            <p:cNvPr id="76" name="Group 76"/>
            <p:cNvGrpSpPr/>
            <p:nvPr/>
          </p:nvGrpSpPr>
          <p:grpSpPr>
            <a:xfrm>
              <a:off x="531019" y="3936206"/>
              <a:ext cx="100012" cy="128588"/>
              <a:chOff x="531019" y="3936206"/>
              <a:chExt cx="100012" cy="128588"/>
            </a:xfrm>
          </p:grpSpPr>
          <p:sp>
            <p:nvSpPr>
              <p:cNvPr id="71" name="Freeform 71"/>
              <p:cNvSpPr/>
              <p:nvPr/>
            </p:nvSpPr>
            <p:spPr>
              <a:xfrm>
                <a:off x="595312" y="393620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9C331E"/>
                </a:solidFill>
              </a:ln>
            </p:spPr>
          </p:sp>
          <p:sp>
            <p:nvSpPr>
              <p:cNvPr id="72" name="Freeform 72"/>
              <p:cNvSpPr/>
              <p:nvPr/>
            </p:nvSpPr>
            <p:spPr>
              <a:xfrm>
                <a:off x="531019" y="393620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9C331E"/>
                </a:solidFill>
              </a:ln>
            </p:spPr>
          </p:sp>
          <p:sp>
            <p:nvSpPr>
              <p:cNvPr id="73" name="Freeform 73"/>
              <p:cNvSpPr/>
              <p:nvPr/>
            </p:nvSpPr>
            <p:spPr>
              <a:xfrm>
                <a:off x="559594" y="3979069"/>
                <a:ext cx="9525" cy="9525"/>
              </a:xfrm>
              <a:custGeom>
                <a:avLst/>
                <a:gdLst/>
                <a:ahLst/>
                <a:cxnLst/>
                <a:rect l="l" t="t" r="r" b="b"/>
                <a:pathLst>
                  <a:path w="9525" h="9525">
                    <a:moveTo>
                      <a:pt x="0" y="0"/>
                    </a:moveTo>
                    <a:lnTo>
                      <a:pt x="7144" y="0"/>
                    </a:lnTo>
                  </a:path>
                </a:pathLst>
              </a:custGeom>
              <a:noFill/>
              <a:ln w="14288">
                <a:solidFill>
                  <a:srgbClr val="9C331E"/>
                </a:solidFill>
              </a:ln>
            </p:spPr>
          </p:sp>
          <p:sp>
            <p:nvSpPr>
              <p:cNvPr id="74" name="Freeform 74"/>
              <p:cNvSpPr/>
              <p:nvPr/>
            </p:nvSpPr>
            <p:spPr>
              <a:xfrm>
                <a:off x="559594" y="4007644"/>
                <a:ext cx="42862" cy="9525"/>
              </a:xfrm>
              <a:custGeom>
                <a:avLst/>
                <a:gdLst/>
                <a:ahLst/>
                <a:cxnLst/>
                <a:rect l="l" t="t" r="r" b="b"/>
                <a:pathLst>
                  <a:path w="42862" h="9525">
                    <a:moveTo>
                      <a:pt x="0" y="0"/>
                    </a:moveTo>
                    <a:lnTo>
                      <a:pt x="42862" y="0"/>
                    </a:lnTo>
                  </a:path>
                </a:pathLst>
              </a:custGeom>
              <a:noFill/>
              <a:ln w="14288">
                <a:solidFill>
                  <a:srgbClr val="9C331E"/>
                </a:solidFill>
              </a:ln>
            </p:spPr>
          </p:sp>
          <p:sp>
            <p:nvSpPr>
              <p:cNvPr id="75" name="Freeform 75"/>
              <p:cNvSpPr/>
              <p:nvPr/>
            </p:nvSpPr>
            <p:spPr>
              <a:xfrm>
                <a:off x="559594" y="4036219"/>
                <a:ext cx="42862" cy="9525"/>
              </a:xfrm>
              <a:custGeom>
                <a:avLst/>
                <a:gdLst/>
                <a:ahLst/>
                <a:cxnLst/>
                <a:rect l="l" t="t" r="r" b="b"/>
                <a:pathLst>
                  <a:path w="42862" h="9525">
                    <a:moveTo>
                      <a:pt x="0" y="0"/>
                    </a:moveTo>
                    <a:lnTo>
                      <a:pt x="42862" y="0"/>
                    </a:lnTo>
                  </a:path>
                </a:pathLst>
              </a:custGeom>
              <a:noFill/>
              <a:ln w="14288">
                <a:solidFill>
                  <a:srgbClr val="9C331E"/>
                </a:solidFill>
              </a:ln>
            </p:spPr>
          </p:sp>
        </p:grpSp>
        <p:sp>
          <p:nvSpPr>
            <p:cNvPr id="77" name="TextBox 77"/>
            <p:cNvSpPr txBox="1"/>
            <p:nvPr/>
          </p:nvSpPr>
          <p:spPr>
            <a:xfrm>
              <a:off x="737997" y="3942874"/>
              <a:ext cx="537616"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案例概述</a:t>
              </a:r>
            </a:p>
          </p:txBody>
        </p:sp>
        <p:sp>
          <p:nvSpPr>
            <p:cNvPr id="78" name="TextBox 78"/>
            <p:cNvSpPr txBox="1"/>
            <p:nvPr/>
          </p:nvSpPr>
          <p:spPr>
            <a:xfrm>
              <a:off x="509588" y="4243388"/>
              <a:ext cx="1776412" cy="719138"/>
            </a:xfrm>
            <a:prstGeom prst="rect">
              <a:avLst/>
            </a:prstGeom>
            <a:noFill/>
            <a:ln>
              <a:noFill/>
            </a:ln>
          </p:spPr>
          <p:txBody>
            <a:bodyPr wrap="none" lIns="0" tIns="0" rIns="0" bIns="0" anchor="t" anchorCtr="0">
              <a:spAutoFit/>
            </a:bodyPr>
            <a:lstStyle/>
            <a:p>
              <a:pPr algn="l">
                <a:lnSpc>
                  <a:spcPts val="1125"/>
                </a:lnSpc>
              </a:pPr>
              <a:r>
                <a:rPr lang="zh-CN" sz="750" dirty="0">
                  <a:solidFill>
                    <a:srgbClr val="573F3A"/>
                  </a:solidFill>
                  <a:latin typeface="+mn-lt"/>
                  <a:ea typeface="+mn-ea"/>
                  <a:cs typeface="+mn-cs"/>
                </a:rPr>
                <a:t>“无名”干散货航运经营管理系统，结合</a:t>
              </a:r>
              <a:br/>
              <a:r>
                <a:rPr lang="zh-CN" sz="750" dirty="0">
                  <a:solidFill>
                    <a:srgbClr val="573F3A"/>
                  </a:solidFill>
                  <a:latin typeface="+mn-lt"/>
                  <a:ea typeface="+mn-ea"/>
                  <a:cs typeface="+mn-cs"/>
                </a:rPr>
                <a:t>智能航线与风险识别系统，已在135艘​</a:t>
              </a:r>
              <a:br/>
              <a:r>
                <a:rPr lang="zh-CN" sz="750" dirty="0">
                  <a:solidFill>
                    <a:srgbClr val="573F3A"/>
                  </a:solidFill>
                  <a:latin typeface="+mn-lt"/>
                  <a:ea typeface="+mn-ea"/>
                  <a:cs typeface="+mn-cs"/>
                </a:rPr>
                <a:t>船舶部署，连续运行三年，覆盖多条国际​</a:t>
              </a:r>
              <a:br/>
              <a:r>
                <a:rPr lang="zh-CN" sz="750" dirty="0">
                  <a:solidFill>
                    <a:srgbClr val="573F3A"/>
                  </a:solidFill>
                  <a:latin typeface="+mn-lt"/>
                  <a:ea typeface="+mn-ea"/>
                  <a:cs typeface="+mn-cs"/>
                </a:rPr>
                <a:t>干散货航线，用于航线研判、风险识别与​</a:t>
              </a:r>
              <a:br/>
              <a:r>
                <a:rPr lang="zh-CN" sz="750" dirty="0">
                  <a:solidFill>
                    <a:srgbClr val="573F3A"/>
                  </a:solidFill>
                  <a:latin typeface="+mn-lt"/>
                  <a:ea typeface="+mn-ea"/>
                  <a:cs typeface="+mn-cs"/>
                </a:rPr>
                <a:t>运营决策支持。</a:t>
              </a:r>
            </a:p>
          </p:txBody>
        </p:sp>
      </p:grpSp>
      <p:grpSp>
        <p:nvGrpSpPr>
          <p:cNvPr id="101" name="card-system"/>
          <p:cNvGrpSpPr/>
          <p:nvPr/>
        </p:nvGrpSpPr>
        <p:grpSpPr>
          <a:xfrm>
            <a:off x="3314700" y="3848100"/>
            <a:ext cx="2819400" cy="1466850"/>
            <a:chOff x="3314700" y="3848100"/>
            <a:chExt cx="2819400" cy="1466850"/>
          </a:xfrm>
        </p:grpSpPr>
        <p:sp>
          <p:nvSpPr>
            <p:cNvPr id="80" name="Rectangle 80"/>
            <p:cNvSpPr/>
            <p:nvPr/>
          </p:nvSpPr>
          <p:spPr>
            <a:xfrm>
              <a:off x="3314700" y="3848100"/>
              <a:ext cx="2819400" cy="1466850"/>
            </a:xfrm>
            <a:prstGeom prst="roundRect">
              <a:avLst>
                <a:gd name="adj" fmla="val 5195"/>
              </a:avLst>
            </a:prstGeom>
            <a:solidFill>
              <a:srgbClr val="FFFFFF"/>
            </a:solidFill>
            <a:ln w="9525">
              <a:solidFill>
                <a:srgbClr val="C7D9F0"/>
              </a:solidFill>
            </a:ln>
          </p:spPr>
        </p:sp>
        <p:sp>
          <p:nvSpPr>
            <p:cNvPr id="81" name="Rectangle 81"/>
            <p:cNvSpPr/>
            <p:nvPr/>
          </p:nvSpPr>
          <p:spPr>
            <a:xfrm>
              <a:off x="3314700" y="3848100"/>
              <a:ext cx="2819400" cy="304800"/>
            </a:xfrm>
            <a:prstGeom prst="roundRect">
              <a:avLst>
                <a:gd name="adj" fmla="val 25000"/>
              </a:avLst>
            </a:prstGeom>
            <a:solidFill>
              <a:srgbClr val="EFF5FC"/>
            </a:solidFill>
            <a:ln>
              <a:noFill/>
            </a:ln>
          </p:spPr>
        </p:sp>
        <p:grpSp>
          <p:nvGrpSpPr>
            <p:cNvPr id="84" name="Group 84"/>
            <p:cNvGrpSpPr/>
            <p:nvPr/>
          </p:nvGrpSpPr>
          <p:grpSpPr>
            <a:xfrm>
              <a:off x="3447295" y="3933070"/>
              <a:ext cx="134860" cy="134860"/>
              <a:chOff x="3447295" y="3933070"/>
              <a:chExt cx="134860" cy="134860"/>
            </a:xfrm>
          </p:grpSpPr>
          <p:sp>
            <p:nvSpPr>
              <p:cNvPr id="82" name="Freeform 82"/>
              <p:cNvSpPr/>
              <p:nvPr/>
            </p:nvSpPr>
            <p:spPr>
              <a:xfrm>
                <a:off x="3447295" y="3933070"/>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9C331E"/>
                </a:solidFill>
              </a:ln>
            </p:spPr>
          </p:sp>
          <p:sp>
            <p:nvSpPr>
              <p:cNvPr id="83" name="Freeform 83"/>
              <p:cNvSpPr/>
              <p:nvPr/>
            </p:nvSpPr>
            <p:spPr>
              <a:xfrm>
                <a:off x="3493294" y="3979069"/>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9C331E"/>
                </a:solidFill>
              </a:ln>
            </p:spPr>
          </p:sp>
        </p:grpSp>
        <p:sp>
          <p:nvSpPr>
            <p:cNvPr id="85" name="TextBox 85"/>
            <p:cNvSpPr txBox="1"/>
            <p:nvPr/>
          </p:nvSpPr>
          <p:spPr>
            <a:xfrm>
              <a:off x="3671697" y="3942874"/>
              <a:ext cx="537616"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系统能力</a:t>
              </a:r>
            </a:p>
          </p:txBody>
        </p:sp>
        <p:sp>
          <p:nvSpPr>
            <p:cNvPr id="86" name="Ellipse 86"/>
            <p:cNvSpPr/>
            <p:nvPr/>
          </p:nvSpPr>
          <p:spPr>
            <a:xfrm>
              <a:off x="3429000" y="4248150"/>
              <a:ext cx="228600" cy="228600"/>
            </a:xfrm>
            <a:prstGeom prst="ellipse">
              <a:avLst/>
            </a:prstGeom>
            <a:solidFill>
              <a:srgbClr val="9C331E"/>
            </a:solidFill>
            <a:ln>
              <a:noFill/>
            </a:ln>
          </p:spPr>
        </p:sp>
        <p:grpSp>
          <p:nvGrpSpPr>
            <p:cNvPr id="91" name="Group 91"/>
            <p:cNvGrpSpPr/>
            <p:nvPr/>
          </p:nvGrpSpPr>
          <p:grpSpPr>
            <a:xfrm>
              <a:off x="3479800" y="4305300"/>
              <a:ext cx="127000" cy="114405"/>
              <a:chOff x="3479800" y="4305300"/>
              <a:chExt cx="127000" cy="114405"/>
            </a:xfrm>
          </p:grpSpPr>
          <p:sp>
            <p:nvSpPr>
              <p:cNvPr id="87" name="Freeform 87"/>
              <p:cNvSpPr/>
              <p:nvPr/>
            </p:nvSpPr>
            <p:spPr>
              <a:xfrm>
                <a:off x="3479800" y="4406795"/>
                <a:ext cx="127000" cy="12910"/>
              </a:xfrm>
              <a:custGeom>
                <a:avLst/>
                <a:gdLst/>
                <a:ahLst/>
                <a:cxnLst/>
                <a:rect l="l" t="t" r="r" b="b"/>
                <a:pathLst>
                  <a:path w="127000" h="12910">
                    <a:moveTo>
                      <a:pt x="0" y="6455"/>
                    </a:moveTo>
                    <a:cubicBezTo>
                      <a:pt x="2928" y="10535"/>
                      <a:pt x="7679" y="12910"/>
                      <a:pt x="12700" y="12805"/>
                    </a:cubicBezTo>
                    <a:cubicBezTo>
                      <a:pt x="17721" y="12910"/>
                      <a:pt x="22472" y="10535"/>
                      <a:pt x="25400" y="6455"/>
                    </a:cubicBezTo>
                    <a:cubicBezTo>
                      <a:pt x="28328" y="2375"/>
                      <a:pt x="33079" y="0"/>
                      <a:pt x="38100" y="105"/>
                    </a:cubicBezTo>
                    <a:cubicBezTo>
                      <a:pt x="43121" y="0"/>
                      <a:pt x="47872" y="2375"/>
                      <a:pt x="50800" y="6455"/>
                    </a:cubicBezTo>
                    <a:cubicBezTo>
                      <a:pt x="53728" y="10535"/>
                      <a:pt x="58479" y="12910"/>
                      <a:pt x="63500" y="12805"/>
                    </a:cubicBezTo>
                    <a:cubicBezTo>
                      <a:pt x="68521" y="12910"/>
                      <a:pt x="73272" y="10535"/>
                      <a:pt x="76200" y="6455"/>
                    </a:cubicBezTo>
                    <a:cubicBezTo>
                      <a:pt x="79129" y="2375"/>
                      <a:pt x="83879" y="0"/>
                      <a:pt x="88900" y="105"/>
                    </a:cubicBezTo>
                    <a:cubicBezTo>
                      <a:pt x="93921" y="0"/>
                      <a:pt x="98672" y="2375"/>
                      <a:pt x="101600" y="6455"/>
                    </a:cubicBezTo>
                    <a:cubicBezTo>
                      <a:pt x="104529" y="10535"/>
                      <a:pt x="109279" y="12910"/>
                      <a:pt x="114300" y="12805"/>
                    </a:cubicBezTo>
                    <a:cubicBezTo>
                      <a:pt x="119321" y="12910"/>
                      <a:pt x="124072" y="10535"/>
                      <a:pt x="127000" y="6455"/>
                    </a:cubicBezTo>
                  </a:path>
                </a:pathLst>
              </a:custGeom>
              <a:noFill/>
              <a:ln w="12700">
                <a:solidFill>
                  <a:srgbClr val="FFFFFF"/>
                </a:solidFill>
              </a:ln>
            </p:spPr>
          </p:sp>
          <p:sp>
            <p:nvSpPr>
              <p:cNvPr id="88" name="Freeform 88"/>
              <p:cNvSpPr/>
              <p:nvPr/>
            </p:nvSpPr>
            <p:spPr>
              <a:xfrm>
                <a:off x="3486150" y="4368800"/>
                <a:ext cx="114300" cy="31750"/>
              </a:xfrm>
              <a:custGeom>
                <a:avLst/>
                <a:gdLst/>
                <a:ahLst/>
                <a:cxnLst/>
                <a:rect l="l" t="t" r="r" b="b"/>
                <a:pathLst>
                  <a:path w="114300" h="31750">
                    <a:moveTo>
                      <a:pt x="6350" y="31750"/>
                    </a:moveTo>
                    <a:lnTo>
                      <a:pt x="0" y="0"/>
                    </a:lnTo>
                    <a:lnTo>
                      <a:pt x="114300" y="0"/>
                    </a:lnTo>
                    <a:lnTo>
                      <a:pt x="101600" y="25400"/>
                    </a:lnTo>
                  </a:path>
                </a:pathLst>
              </a:custGeom>
              <a:noFill/>
              <a:ln w="12700">
                <a:solidFill>
                  <a:srgbClr val="FFFFFF"/>
                </a:solidFill>
              </a:ln>
            </p:spPr>
          </p:sp>
          <p:sp>
            <p:nvSpPr>
              <p:cNvPr id="89" name="Freeform 89"/>
              <p:cNvSpPr/>
              <p:nvPr/>
            </p:nvSpPr>
            <p:spPr>
              <a:xfrm>
                <a:off x="3498850" y="4330700"/>
                <a:ext cx="76200" cy="38100"/>
              </a:xfrm>
              <a:custGeom>
                <a:avLst/>
                <a:gdLst/>
                <a:ahLst/>
                <a:cxnLst/>
                <a:rect l="l" t="t" r="r" b="b"/>
                <a:pathLst>
                  <a:path w="76200" h="38100">
                    <a:moveTo>
                      <a:pt x="0" y="38100"/>
                    </a:moveTo>
                    <a:lnTo>
                      <a:pt x="0" y="0"/>
                    </a:lnTo>
                    <a:lnTo>
                      <a:pt x="50800" y="0"/>
                    </a:lnTo>
                    <a:lnTo>
                      <a:pt x="76200" y="38100"/>
                    </a:lnTo>
                  </a:path>
                </a:pathLst>
              </a:custGeom>
              <a:noFill/>
              <a:ln w="12700">
                <a:solidFill>
                  <a:srgbClr val="FFFFFF"/>
                </a:solidFill>
              </a:ln>
            </p:spPr>
          </p:sp>
          <p:sp>
            <p:nvSpPr>
              <p:cNvPr id="90" name="Freeform 90"/>
              <p:cNvSpPr/>
              <p:nvPr/>
            </p:nvSpPr>
            <p:spPr>
              <a:xfrm>
                <a:off x="3505200" y="4305300"/>
                <a:ext cx="9525" cy="25400"/>
              </a:xfrm>
              <a:custGeom>
                <a:avLst/>
                <a:gdLst/>
                <a:ahLst/>
                <a:cxnLst/>
                <a:rect l="l" t="t" r="r" b="b"/>
                <a:pathLst>
                  <a:path w="9525" h="25400">
                    <a:moveTo>
                      <a:pt x="6350" y="25400"/>
                    </a:moveTo>
                    <a:lnTo>
                      <a:pt x="6350" y="0"/>
                    </a:lnTo>
                    <a:lnTo>
                      <a:pt x="0" y="0"/>
                    </a:lnTo>
                  </a:path>
                </a:pathLst>
              </a:custGeom>
              <a:noFill/>
              <a:ln w="12700">
                <a:solidFill>
                  <a:srgbClr val="FFFFFF"/>
                </a:solidFill>
              </a:ln>
            </p:spPr>
          </p:sp>
        </p:grpSp>
        <p:sp>
          <p:nvSpPr>
            <p:cNvPr id="92" name="TextBox 92"/>
            <p:cNvSpPr txBox="1"/>
            <p:nvPr/>
          </p:nvSpPr>
          <p:spPr>
            <a:xfrm>
              <a:off x="3729038" y="4254341"/>
              <a:ext cx="1572073"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“无名”干散货航运经营管理系统</a:t>
              </a:r>
            </a:p>
          </p:txBody>
        </p:sp>
        <p:sp>
          <p:nvSpPr>
            <p:cNvPr id="93" name="TextBox 93"/>
            <p:cNvSpPr txBox="1"/>
            <p:nvPr/>
          </p:nvSpPr>
          <p:spPr>
            <a:xfrm>
              <a:off x="3729038" y="4418886"/>
              <a:ext cx="1729969"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整合船舶数据，支撑航运运营全流程管理</a:t>
              </a:r>
            </a:p>
          </p:txBody>
        </p:sp>
        <p:sp>
          <p:nvSpPr>
            <p:cNvPr id="94" name="Ellipse 94"/>
            <p:cNvSpPr/>
            <p:nvPr/>
          </p:nvSpPr>
          <p:spPr>
            <a:xfrm>
              <a:off x="3429000" y="4762500"/>
              <a:ext cx="228600" cy="228600"/>
            </a:xfrm>
            <a:prstGeom prst="ellipse">
              <a:avLst/>
            </a:prstGeom>
            <a:solidFill>
              <a:srgbClr val="D64A2E"/>
            </a:solidFill>
            <a:ln>
              <a:noFill/>
            </a:ln>
          </p:spPr>
        </p:sp>
        <p:grpSp>
          <p:nvGrpSpPr>
            <p:cNvPr id="98" name="Group 98"/>
            <p:cNvGrpSpPr/>
            <p:nvPr/>
          </p:nvGrpSpPr>
          <p:grpSpPr>
            <a:xfrm>
              <a:off x="3486150" y="4819650"/>
              <a:ext cx="114300" cy="114300"/>
              <a:chOff x="3486150" y="4819650"/>
              <a:chExt cx="114300" cy="114300"/>
            </a:xfrm>
          </p:grpSpPr>
          <p:sp>
            <p:nvSpPr>
              <p:cNvPr id="95" name="Freeform 95"/>
              <p:cNvSpPr/>
              <p:nvPr/>
            </p:nvSpPr>
            <p:spPr>
              <a:xfrm>
                <a:off x="3486150" y="49085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96" name="Freeform 96"/>
              <p:cNvSpPr/>
              <p:nvPr/>
            </p:nvSpPr>
            <p:spPr>
              <a:xfrm>
                <a:off x="3575050" y="4819650"/>
                <a:ext cx="25400" cy="25400"/>
              </a:xfrm>
              <a:custGeom>
                <a:avLst/>
                <a:gdLst/>
                <a:ahLst/>
                <a:cxnLst/>
                <a:rect l="l" t="t" r="r" b="b"/>
                <a:pathLst>
                  <a:path w="25400" h="25400">
                    <a:moveTo>
                      <a:pt x="12700" y="25400"/>
                    </a:moveTo>
                    <a:cubicBezTo>
                      <a:pt x="19714" y="25400"/>
                      <a:pt x="25400" y="19714"/>
                      <a:pt x="25400" y="12700"/>
                    </a:cubicBezTo>
                    <a:cubicBezTo>
                      <a:pt x="25400" y="5686"/>
                      <a:pt x="19714" y="0"/>
                      <a:pt x="12700" y="0"/>
                    </a:cubicBezTo>
                    <a:cubicBezTo>
                      <a:pt x="5686" y="0"/>
                      <a:pt x="0" y="5686"/>
                      <a:pt x="0" y="12700"/>
                    </a:cubicBezTo>
                    <a:cubicBezTo>
                      <a:pt x="0" y="19714"/>
                      <a:pt x="5686" y="25400"/>
                      <a:pt x="12700" y="25400"/>
                    </a:cubicBezTo>
                  </a:path>
                </a:pathLst>
              </a:custGeom>
              <a:noFill/>
              <a:ln w="12700">
                <a:solidFill>
                  <a:srgbClr val="FFFFFF"/>
                </a:solidFill>
              </a:ln>
            </p:spPr>
          </p:sp>
          <p:sp>
            <p:nvSpPr>
              <p:cNvPr id="97" name="Freeform 97"/>
              <p:cNvSpPr/>
              <p:nvPr/>
            </p:nvSpPr>
            <p:spPr>
              <a:xfrm>
                <a:off x="3498850" y="4832350"/>
                <a:ext cx="95250" cy="88900"/>
              </a:xfrm>
              <a:custGeom>
                <a:avLst/>
                <a:gdLst/>
                <a:ahLst/>
                <a:cxnLst/>
                <a:rect l="l" t="t" r="r" b="b"/>
                <a:pathLst>
                  <a:path w="95250" h="88900">
                    <a:moveTo>
                      <a:pt x="38100" y="88900"/>
                    </a:moveTo>
                    <a:lnTo>
                      <a:pt x="73025" y="88900"/>
                    </a:lnTo>
                    <a:cubicBezTo>
                      <a:pt x="85300" y="88900"/>
                      <a:pt x="95250" y="78950"/>
                      <a:pt x="95250" y="66675"/>
                    </a:cubicBezTo>
                    <a:cubicBezTo>
                      <a:pt x="95250" y="54400"/>
                      <a:pt x="85300" y="44450"/>
                      <a:pt x="73025" y="44450"/>
                    </a:cubicBezTo>
                    <a:lnTo>
                      <a:pt x="22225" y="44450"/>
                    </a:lnTo>
                    <a:cubicBezTo>
                      <a:pt x="9950" y="44450"/>
                      <a:pt x="0" y="34500"/>
                      <a:pt x="0" y="22225"/>
                    </a:cubicBezTo>
                    <a:cubicBezTo>
                      <a:pt x="0" y="9950"/>
                      <a:pt x="9950" y="0"/>
                      <a:pt x="22225" y="0"/>
                    </a:cubicBezTo>
                    <a:lnTo>
                      <a:pt x="50800" y="0"/>
                    </a:lnTo>
                  </a:path>
                </a:pathLst>
              </a:custGeom>
              <a:noFill/>
              <a:ln w="12700">
                <a:solidFill>
                  <a:srgbClr val="FFFFFF"/>
                </a:solidFill>
              </a:ln>
            </p:spPr>
          </p:sp>
        </p:grpSp>
        <p:sp>
          <p:nvSpPr>
            <p:cNvPr id="99" name="TextBox 99"/>
            <p:cNvSpPr txBox="1"/>
            <p:nvPr/>
          </p:nvSpPr>
          <p:spPr>
            <a:xfrm>
              <a:off x="3729038" y="4768691"/>
              <a:ext cx="1223797"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智能航线与风险识别系统</a:t>
              </a:r>
            </a:p>
          </p:txBody>
        </p:sp>
        <p:sp>
          <p:nvSpPr>
            <p:cNvPr id="100" name="TextBox 100"/>
            <p:cNvSpPr txBox="1"/>
            <p:nvPr/>
          </p:nvSpPr>
          <p:spPr>
            <a:xfrm>
              <a:off x="3729038" y="4933236"/>
              <a:ext cx="1634388"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基于多源信息进行航线研判与风险识别</a:t>
              </a:r>
            </a:p>
          </p:txBody>
        </p:sp>
      </p:grpSp>
      <p:grpSp>
        <p:nvGrpSpPr>
          <p:cNvPr id="130" name="card-verified"/>
          <p:cNvGrpSpPr/>
          <p:nvPr/>
        </p:nvGrpSpPr>
        <p:grpSpPr>
          <a:xfrm>
            <a:off x="6248400" y="3848100"/>
            <a:ext cx="2819400" cy="1466850"/>
            <a:chOff x="6248400" y="3848100"/>
            <a:chExt cx="2819400" cy="1466850"/>
          </a:xfrm>
        </p:grpSpPr>
        <p:sp>
          <p:nvSpPr>
            <p:cNvPr id="102" name="Rectangle 102"/>
            <p:cNvSpPr/>
            <p:nvPr/>
          </p:nvSpPr>
          <p:spPr>
            <a:xfrm>
              <a:off x="6248400" y="3848100"/>
              <a:ext cx="2819400" cy="1466850"/>
            </a:xfrm>
            <a:prstGeom prst="roundRect">
              <a:avLst>
                <a:gd name="adj" fmla="val 5195"/>
              </a:avLst>
            </a:prstGeom>
            <a:solidFill>
              <a:srgbClr val="FFFFFF"/>
            </a:solidFill>
            <a:ln w="9525">
              <a:solidFill>
                <a:srgbClr val="C7D9F0"/>
              </a:solidFill>
            </a:ln>
          </p:spPr>
        </p:sp>
        <p:sp>
          <p:nvSpPr>
            <p:cNvPr id="103" name="Rectangle 103"/>
            <p:cNvSpPr/>
            <p:nvPr/>
          </p:nvSpPr>
          <p:spPr>
            <a:xfrm>
              <a:off x="6248400" y="3848100"/>
              <a:ext cx="2819400" cy="304800"/>
            </a:xfrm>
            <a:prstGeom prst="roundRect">
              <a:avLst>
                <a:gd name="adj" fmla="val 25000"/>
              </a:avLst>
            </a:prstGeom>
            <a:solidFill>
              <a:srgbClr val="EFF5FC"/>
            </a:solidFill>
            <a:ln>
              <a:noFill/>
            </a:ln>
          </p:spPr>
        </p:sp>
        <p:grpSp>
          <p:nvGrpSpPr>
            <p:cNvPr id="108" name="Group 108"/>
            <p:cNvGrpSpPr/>
            <p:nvPr/>
          </p:nvGrpSpPr>
          <p:grpSpPr>
            <a:xfrm>
              <a:off x="6398419" y="3943350"/>
              <a:ext cx="107155" cy="121444"/>
              <a:chOff x="6398419" y="3943350"/>
              <a:chExt cx="107155" cy="121444"/>
            </a:xfrm>
          </p:grpSpPr>
          <p:sp>
            <p:nvSpPr>
              <p:cNvPr id="104" name="Freeform 104"/>
              <p:cNvSpPr/>
              <p:nvPr/>
            </p:nvSpPr>
            <p:spPr>
              <a:xfrm>
                <a:off x="6398419" y="3943350"/>
                <a:ext cx="85725" cy="114300"/>
              </a:xfrm>
              <a:custGeom>
                <a:avLst/>
                <a:gdLst/>
                <a:ahLst/>
                <a:cxnLst/>
                <a:rect l="l" t="t" r="r" b="b"/>
                <a:pathLst>
                  <a:path w="85725" h="114300">
                    <a:moveTo>
                      <a:pt x="32968" y="114300"/>
                    </a:moveTo>
                    <a:lnTo>
                      <a:pt x="14288" y="114300"/>
                    </a:lnTo>
                    <a:cubicBezTo>
                      <a:pt x="6397" y="114300"/>
                      <a:pt x="0" y="107903"/>
                      <a:pt x="0" y="100012"/>
                    </a:cubicBezTo>
                    <a:lnTo>
                      <a:pt x="0" y="14288"/>
                    </a:lnTo>
                    <a:cubicBezTo>
                      <a:pt x="0" y="6397"/>
                      <a:pt x="6397" y="0"/>
                      <a:pt x="14288" y="0"/>
                    </a:cubicBezTo>
                    <a:lnTo>
                      <a:pt x="71438" y="0"/>
                    </a:lnTo>
                    <a:cubicBezTo>
                      <a:pt x="79328" y="0"/>
                      <a:pt x="85725" y="6397"/>
                      <a:pt x="85725" y="14288"/>
                    </a:cubicBezTo>
                    <a:lnTo>
                      <a:pt x="85725" y="71438"/>
                    </a:lnTo>
                  </a:path>
                </a:pathLst>
              </a:custGeom>
              <a:noFill/>
              <a:ln w="14288">
                <a:solidFill>
                  <a:srgbClr val="9C331E"/>
                </a:solidFill>
              </a:ln>
            </p:spPr>
          </p:sp>
          <p:sp>
            <p:nvSpPr>
              <p:cNvPr id="105" name="Freeform 105"/>
              <p:cNvSpPr/>
              <p:nvPr/>
            </p:nvSpPr>
            <p:spPr>
              <a:xfrm>
                <a:off x="6462712" y="4036219"/>
                <a:ext cx="42862" cy="28575"/>
              </a:xfrm>
              <a:custGeom>
                <a:avLst/>
                <a:gdLst/>
                <a:ahLst/>
                <a:cxnLst/>
                <a:rect l="l" t="t" r="r" b="b"/>
                <a:pathLst>
                  <a:path w="42862" h="28575">
                    <a:moveTo>
                      <a:pt x="0" y="14288"/>
                    </a:moveTo>
                    <a:lnTo>
                      <a:pt x="14288" y="28575"/>
                    </a:lnTo>
                    <a:lnTo>
                      <a:pt x="42862" y="0"/>
                    </a:lnTo>
                  </a:path>
                </a:pathLst>
              </a:custGeom>
              <a:noFill/>
              <a:ln w="14288">
                <a:solidFill>
                  <a:srgbClr val="9C331E"/>
                </a:solidFill>
              </a:ln>
            </p:spPr>
          </p:sp>
          <p:sp>
            <p:nvSpPr>
              <p:cNvPr id="106" name="Freeform 106"/>
              <p:cNvSpPr/>
              <p:nvPr/>
            </p:nvSpPr>
            <p:spPr>
              <a:xfrm>
                <a:off x="6426994" y="3971925"/>
                <a:ext cx="28575" cy="9525"/>
              </a:xfrm>
              <a:custGeom>
                <a:avLst/>
                <a:gdLst/>
                <a:ahLst/>
                <a:cxnLst/>
                <a:rect l="l" t="t" r="r" b="b"/>
                <a:pathLst>
                  <a:path w="28575" h="9525">
                    <a:moveTo>
                      <a:pt x="0" y="0"/>
                    </a:moveTo>
                    <a:lnTo>
                      <a:pt x="28575" y="0"/>
                    </a:lnTo>
                  </a:path>
                </a:pathLst>
              </a:custGeom>
              <a:noFill/>
              <a:ln w="14288">
                <a:solidFill>
                  <a:srgbClr val="9C331E"/>
                </a:solidFill>
              </a:ln>
            </p:spPr>
          </p:sp>
          <p:sp>
            <p:nvSpPr>
              <p:cNvPr id="107" name="Freeform 107"/>
              <p:cNvSpPr/>
              <p:nvPr/>
            </p:nvSpPr>
            <p:spPr>
              <a:xfrm>
                <a:off x="6426994" y="4000500"/>
                <a:ext cx="14288" cy="9525"/>
              </a:xfrm>
              <a:custGeom>
                <a:avLst/>
                <a:gdLst/>
                <a:ahLst/>
                <a:cxnLst/>
                <a:rect l="l" t="t" r="r" b="b"/>
                <a:pathLst>
                  <a:path w="14288" h="9525">
                    <a:moveTo>
                      <a:pt x="0" y="0"/>
                    </a:moveTo>
                    <a:lnTo>
                      <a:pt x="14288" y="0"/>
                    </a:lnTo>
                  </a:path>
                </a:pathLst>
              </a:custGeom>
              <a:noFill/>
              <a:ln w="14288">
                <a:solidFill>
                  <a:srgbClr val="9C331E"/>
                </a:solidFill>
              </a:ln>
            </p:spPr>
          </p:sp>
        </p:grpSp>
        <p:sp>
          <p:nvSpPr>
            <p:cNvPr id="109" name="TextBox 109"/>
            <p:cNvSpPr txBox="1"/>
            <p:nvPr/>
          </p:nvSpPr>
          <p:spPr>
            <a:xfrm>
              <a:off x="6605397" y="3942874"/>
              <a:ext cx="1065327"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已验证的公开信息</a:t>
              </a:r>
            </a:p>
          </p:txBody>
        </p:sp>
        <p:grpSp>
          <p:nvGrpSpPr>
            <p:cNvPr id="112" name="Group 112"/>
            <p:cNvGrpSpPr/>
            <p:nvPr/>
          </p:nvGrpSpPr>
          <p:grpSpPr>
            <a:xfrm>
              <a:off x="6398419" y="4245769"/>
              <a:ext cx="100012" cy="100012"/>
              <a:chOff x="6398419" y="4245769"/>
              <a:chExt cx="100012" cy="100012"/>
            </a:xfrm>
          </p:grpSpPr>
          <p:sp>
            <p:nvSpPr>
              <p:cNvPr id="110" name="Freeform 110"/>
              <p:cNvSpPr/>
              <p:nvPr/>
            </p:nvSpPr>
            <p:spPr>
              <a:xfrm>
                <a:off x="6398419" y="42457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9E331E"/>
                </a:solidFill>
              </a:ln>
            </p:spPr>
          </p:sp>
          <p:sp>
            <p:nvSpPr>
              <p:cNvPr id="111" name="Freeform 111"/>
              <p:cNvSpPr/>
              <p:nvPr/>
            </p:nvSpPr>
            <p:spPr>
              <a:xfrm>
                <a:off x="6431756" y="4284662"/>
                <a:ext cx="33337" cy="22225"/>
              </a:xfrm>
              <a:custGeom>
                <a:avLst/>
                <a:gdLst/>
                <a:ahLst/>
                <a:cxnLst/>
                <a:rect l="l" t="t" r="r" b="b"/>
                <a:pathLst>
                  <a:path w="33337" h="22225">
                    <a:moveTo>
                      <a:pt x="0" y="11112"/>
                    </a:moveTo>
                    <a:lnTo>
                      <a:pt x="11112" y="22225"/>
                    </a:lnTo>
                    <a:lnTo>
                      <a:pt x="33337" y="0"/>
                    </a:lnTo>
                  </a:path>
                </a:pathLst>
              </a:custGeom>
              <a:noFill/>
              <a:ln w="11112">
                <a:solidFill>
                  <a:srgbClr val="9E331E"/>
                </a:solidFill>
              </a:ln>
            </p:spPr>
          </p:sp>
        </p:grpSp>
        <p:sp>
          <p:nvSpPr>
            <p:cNvPr id="113" name="TextBox 113"/>
            <p:cNvSpPr txBox="1"/>
            <p:nvPr/>
          </p:nvSpPr>
          <p:spPr>
            <a:xfrm>
              <a:off x="6567488" y="4252912"/>
              <a:ext cx="938403"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已在135艘船舶部署​</a:t>
              </a:r>
            </a:p>
          </p:txBody>
        </p:sp>
        <p:grpSp>
          <p:nvGrpSpPr>
            <p:cNvPr id="116" name="Group 116"/>
            <p:cNvGrpSpPr/>
            <p:nvPr/>
          </p:nvGrpSpPr>
          <p:grpSpPr>
            <a:xfrm>
              <a:off x="6398419" y="4436269"/>
              <a:ext cx="100012" cy="100012"/>
              <a:chOff x="6398419" y="4436269"/>
              <a:chExt cx="100012" cy="100012"/>
            </a:xfrm>
          </p:grpSpPr>
          <p:sp>
            <p:nvSpPr>
              <p:cNvPr id="114" name="Freeform 114"/>
              <p:cNvSpPr/>
              <p:nvPr/>
            </p:nvSpPr>
            <p:spPr>
              <a:xfrm>
                <a:off x="6398419" y="44362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9E331E"/>
                </a:solidFill>
              </a:ln>
            </p:spPr>
          </p:sp>
          <p:sp>
            <p:nvSpPr>
              <p:cNvPr id="115" name="Freeform 115"/>
              <p:cNvSpPr/>
              <p:nvPr/>
            </p:nvSpPr>
            <p:spPr>
              <a:xfrm>
                <a:off x="6431756" y="4475162"/>
                <a:ext cx="33337" cy="22225"/>
              </a:xfrm>
              <a:custGeom>
                <a:avLst/>
                <a:gdLst/>
                <a:ahLst/>
                <a:cxnLst/>
                <a:rect l="l" t="t" r="r" b="b"/>
                <a:pathLst>
                  <a:path w="33337" h="22225">
                    <a:moveTo>
                      <a:pt x="0" y="11112"/>
                    </a:moveTo>
                    <a:lnTo>
                      <a:pt x="11112" y="22225"/>
                    </a:lnTo>
                    <a:lnTo>
                      <a:pt x="33337" y="0"/>
                    </a:lnTo>
                  </a:path>
                </a:pathLst>
              </a:custGeom>
              <a:noFill/>
              <a:ln w="11112">
                <a:solidFill>
                  <a:srgbClr val="9E331E"/>
                </a:solidFill>
              </a:ln>
            </p:spPr>
          </p:sp>
        </p:grpSp>
        <p:sp>
          <p:nvSpPr>
            <p:cNvPr id="117" name="TextBox 117"/>
            <p:cNvSpPr txBox="1"/>
            <p:nvPr/>
          </p:nvSpPr>
          <p:spPr>
            <a:xfrm>
              <a:off x="6567488" y="4443412"/>
              <a:ext cx="615315"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连续运行三年</a:t>
              </a:r>
            </a:p>
          </p:txBody>
        </p:sp>
        <p:grpSp>
          <p:nvGrpSpPr>
            <p:cNvPr id="120" name="Group 120"/>
            <p:cNvGrpSpPr/>
            <p:nvPr/>
          </p:nvGrpSpPr>
          <p:grpSpPr>
            <a:xfrm>
              <a:off x="6398419" y="4626769"/>
              <a:ext cx="100012" cy="100012"/>
              <a:chOff x="6398419" y="4626769"/>
              <a:chExt cx="100012" cy="100012"/>
            </a:xfrm>
          </p:grpSpPr>
          <p:sp>
            <p:nvSpPr>
              <p:cNvPr id="118" name="Freeform 118"/>
              <p:cNvSpPr/>
              <p:nvPr/>
            </p:nvSpPr>
            <p:spPr>
              <a:xfrm>
                <a:off x="6398419" y="46267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9E331E"/>
                </a:solidFill>
              </a:ln>
            </p:spPr>
          </p:sp>
          <p:sp>
            <p:nvSpPr>
              <p:cNvPr id="119" name="Freeform 119"/>
              <p:cNvSpPr/>
              <p:nvPr/>
            </p:nvSpPr>
            <p:spPr>
              <a:xfrm>
                <a:off x="6431756" y="4665662"/>
                <a:ext cx="33337" cy="22225"/>
              </a:xfrm>
              <a:custGeom>
                <a:avLst/>
                <a:gdLst/>
                <a:ahLst/>
                <a:cxnLst/>
                <a:rect l="l" t="t" r="r" b="b"/>
                <a:pathLst>
                  <a:path w="33337" h="22225">
                    <a:moveTo>
                      <a:pt x="0" y="11112"/>
                    </a:moveTo>
                    <a:lnTo>
                      <a:pt x="11112" y="22225"/>
                    </a:lnTo>
                    <a:lnTo>
                      <a:pt x="33337" y="0"/>
                    </a:lnTo>
                  </a:path>
                </a:pathLst>
              </a:custGeom>
              <a:noFill/>
              <a:ln w="11112">
                <a:solidFill>
                  <a:srgbClr val="9E331E"/>
                </a:solidFill>
              </a:ln>
            </p:spPr>
          </p:sp>
        </p:grpSp>
        <p:sp>
          <p:nvSpPr>
            <p:cNvPr id="121" name="TextBox 121"/>
            <p:cNvSpPr txBox="1"/>
            <p:nvPr/>
          </p:nvSpPr>
          <p:spPr>
            <a:xfrm>
              <a:off x="6567488" y="4633912"/>
              <a:ext cx="1423035"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应用于实际干散货航运经营管理</a:t>
              </a:r>
            </a:p>
          </p:txBody>
        </p:sp>
        <p:grpSp>
          <p:nvGrpSpPr>
            <p:cNvPr id="124" name="Group 124"/>
            <p:cNvGrpSpPr/>
            <p:nvPr/>
          </p:nvGrpSpPr>
          <p:grpSpPr>
            <a:xfrm>
              <a:off x="6398419" y="4817269"/>
              <a:ext cx="100012" cy="100012"/>
              <a:chOff x="6398419" y="4817269"/>
              <a:chExt cx="100012" cy="100012"/>
            </a:xfrm>
          </p:grpSpPr>
          <p:sp>
            <p:nvSpPr>
              <p:cNvPr id="122" name="Freeform 122"/>
              <p:cNvSpPr/>
              <p:nvPr/>
            </p:nvSpPr>
            <p:spPr>
              <a:xfrm>
                <a:off x="6398419" y="48172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9E331E"/>
                </a:solidFill>
              </a:ln>
            </p:spPr>
          </p:sp>
          <p:sp>
            <p:nvSpPr>
              <p:cNvPr id="123" name="Freeform 123"/>
              <p:cNvSpPr/>
              <p:nvPr/>
            </p:nvSpPr>
            <p:spPr>
              <a:xfrm>
                <a:off x="6431756" y="4856162"/>
                <a:ext cx="33337" cy="22225"/>
              </a:xfrm>
              <a:custGeom>
                <a:avLst/>
                <a:gdLst/>
                <a:ahLst/>
                <a:cxnLst/>
                <a:rect l="l" t="t" r="r" b="b"/>
                <a:pathLst>
                  <a:path w="33337" h="22225">
                    <a:moveTo>
                      <a:pt x="0" y="11112"/>
                    </a:moveTo>
                    <a:lnTo>
                      <a:pt x="11112" y="22225"/>
                    </a:lnTo>
                    <a:lnTo>
                      <a:pt x="33337" y="0"/>
                    </a:lnTo>
                  </a:path>
                </a:pathLst>
              </a:custGeom>
              <a:noFill/>
              <a:ln w="11112">
                <a:solidFill>
                  <a:srgbClr val="9E331E"/>
                </a:solidFill>
              </a:ln>
            </p:spPr>
          </p:sp>
        </p:grpSp>
        <p:sp>
          <p:nvSpPr>
            <p:cNvPr id="125" name="TextBox 125"/>
            <p:cNvSpPr txBox="1"/>
            <p:nvPr/>
          </p:nvSpPr>
          <p:spPr>
            <a:xfrm>
              <a:off x="6567488" y="4824412"/>
              <a:ext cx="817245"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覆盖多条国际航线</a:t>
              </a:r>
            </a:p>
          </p:txBody>
        </p:sp>
        <p:grpSp>
          <p:nvGrpSpPr>
            <p:cNvPr id="128" name="Group 128"/>
            <p:cNvGrpSpPr/>
            <p:nvPr/>
          </p:nvGrpSpPr>
          <p:grpSpPr>
            <a:xfrm>
              <a:off x="6398419" y="5007769"/>
              <a:ext cx="100012" cy="100012"/>
              <a:chOff x="6398419" y="5007769"/>
              <a:chExt cx="100012" cy="100012"/>
            </a:xfrm>
          </p:grpSpPr>
          <p:sp>
            <p:nvSpPr>
              <p:cNvPr id="126" name="Freeform 126"/>
              <p:cNvSpPr/>
              <p:nvPr/>
            </p:nvSpPr>
            <p:spPr>
              <a:xfrm>
                <a:off x="6398419" y="50077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9E331E"/>
                </a:solidFill>
              </a:ln>
            </p:spPr>
          </p:sp>
          <p:sp>
            <p:nvSpPr>
              <p:cNvPr id="127" name="Freeform 127"/>
              <p:cNvSpPr/>
              <p:nvPr/>
            </p:nvSpPr>
            <p:spPr>
              <a:xfrm>
                <a:off x="6431756" y="5046662"/>
                <a:ext cx="33337" cy="22225"/>
              </a:xfrm>
              <a:custGeom>
                <a:avLst/>
                <a:gdLst/>
                <a:ahLst/>
                <a:cxnLst/>
                <a:rect l="l" t="t" r="r" b="b"/>
                <a:pathLst>
                  <a:path w="33337" h="22225">
                    <a:moveTo>
                      <a:pt x="0" y="11112"/>
                    </a:moveTo>
                    <a:lnTo>
                      <a:pt x="11112" y="22225"/>
                    </a:lnTo>
                    <a:lnTo>
                      <a:pt x="33337" y="0"/>
                    </a:lnTo>
                  </a:path>
                </a:pathLst>
              </a:custGeom>
              <a:noFill/>
              <a:ln w="11112">
                <a:solidFill>
                  <a:srgbClr val="9E331E"/>
                </a:solidFill>
              </a:ln>
            </p:spPr>
          </p:sp>
        </p:grpSp>
        <p:sp>
          <p:nvSpPr>
            <p:cNvPr id="129" name="TextBox 129"/>
            <p:cNvSpPr txBox="1"/>
            <p:nvPr/>
          </p:nvSpPr>
          <p:spPr>
            <a:xfrm>
              <a:off x="6567488" y="5014912"/>
              <a:ext cx="1624965"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公开渠道可查的企业报道与行业信息</a:t>
              </a:r>
            </a:p>
          </p:txBody>
        </p:sp>
      </p:grpSp>
      <p:grpSp>
        <p:nvGrpSpPr>
          <p:cNvPr id="141" name="card-evidence"/>
          <p:cNvGrpSpPr/>
          <p:nvPr/>
        </p:nvGrpSpPr>
        <p:grpSpPr>
          <a:xfrm>
            <a:off x="9182100" y="3848100"/>
            <a:ext cx="2628900" cy="1466850"/>
            <a:chOff x="9182100" y="3848100"/>
            <a:chExt cx="2628900" cy="1466850"/>
          </a:xfrm>
        </p:grpSpPr>
        <p:sp>
          <p:nvSpPr>
            <p:cNvPr id="131" name="Rectangle 131"/>
            <p:cNvSpPr/>
            <p:nvPr/>
          </p:nvSpPr>
          <p:spPr>
            <a:xfrm>
              <a:off x="9182100" y="3848100"/>
              <a:ext cx="2628900" cy="1466850"/>
            </a:xfrm>
            <a:prstGeom prst="roundRect">
              <a:avLst>
                <a:gd name="adj" fmla="val 5195"/>
              </a:avLst>
            </a:prstGeom>
            <a:solidFill>
              <a:srgbClr val="EFF5FC"/>
            </a:solidFill>
            <a:ln w="9525">
              <a:solidFill>
                <a:srgbClr val="C7D9F0"/>
              </a:solidFill>
            </a:ln>
          </p:spPr>
        </p:sp>
        <p:sp>
          <p:nvSpPr>
            <p:cNvPr id="132" name="Rectangle 132"/>
            <p:cNvSpPr/>
            <p:nvPr/>
          </p:nvSpPr>
          <p:spPr>
            <a:xfrm>
              <a:off x="9182100" y="3848100"/>
              <a:ext cx="2628900" cy="304800"/>
            </a:xfrm>
            <a:prstGeom prst="roundRect">
              <a:avLst>
                <a:gd name="adj" fmla="val 25000"/>
              </a:avLst>
            </a:prstGeom>
            <a:solidFill>
              <a:srgbClr val="EFF5FC"/>
            </a:solidFill>
            <a:ln>
              <a:noFill/>
            </a:ln>
          </p:spPr>
        </p:sp>
        <p:grpSp>
          <p:nvGrpSpPr>
            <p:cNvPr id="136" name="Group 136"/>
            <p:cNvGrpSpPr/>
            <p:nvPr/>
          </p:nvGrpSpPr>
          <p:grpSpPr>
            <a:xfrm>
              <a:off x="9320703" y="3936206"/>
              <a:ext cx="122830" cy="127802"/>
              <a:chOff x="9320703" y="3936206"/>
              <a:chExt cx="122830" cy="127802"/>
            </a:xfrm>
          </p:grpSpPr>
          <p:sp>
            <p:nvSpPr>
              <p:cNvPr id="133" name="Freeform 133"/>
              <p:cNvSpPr/>
              <p:nvPr/>
            </p:nvSpPr>
            <p:spPr>
              <a:xfrm>
                <a:off x="9339262" y="3936206"/>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9C331E"/>
                </a:solidFill>
              </a:ln>
            </p:spPr>
          </p:sp>
          <p:sp>
            <p:nvSpPr>
              <p:cNvPr id="134" name="Freeform 134"/>
              <p:cNvSpPr/>
              <p:nvPr/>
            </p:nvSpPr>
            <p:spPr>
              <a:xfrm>
                <a:off x="9382125" y="4000500"/>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9C331E"/>
                </a:solidFill>
              </a:ln>
            </p:spPr>
          </p:sp>
          <p:sp>
            <p:nvSpPr>
              <p:cNvPr id="135" name="Freeform 135"/>
              <p:cNvSpPr/>
              <p:nvPr/>
            </p:nvSpPr>
            <p:spPr>
              <a:xfrm>
                <a:off x="9320703" y="4000500"/>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9C331E"/>
                </a:solidFill>
              </a:ln>
            </p:spPr>
          </p:sp>
        </p:grpSp>
        <p:sp>
          <p:nvSpPr>
            <p:cNvPr id="137" name="TextBox 137"/>
            <p:cNvSpPr txBox="1"/>
            <p:nvPr/>
          </p:nvSpPr>
          <p:spPr>
            <a:xfrm>
              <a:off x="9539097" y="3942874"/>
              <a:ext cx="801472"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证据等级评估</a:t>
              </a:r>
            </a:p>
          </p:txBody>
        </p:sp>
        <p:sp>
          <p:nvSpPr>
            <p:cNvPr id="138" name="TextBox 138"/>
            <p:cNvSpPr txBox="1"/>
            <p:nvPr/>
          </p:nvSpPr>
          <p:spPr>
            <a:xfrm>
              <a:off x="9316974" y="4485322"/>
              <a:ext cx="607732" cy="674751"/>
            </a:xfrm>
            <a:prstGeom prst="rect">
              <a:avLst/>
            </a:prstGeom>
            <a:noFill/>
            <a:ln>
              <a:noFill/>
            </a:ln>
          </p:spPr>
          <p:txBody>
            <a:bodyPr wrap="none" lIns="0" tIns="0" rIns="0" bIns="0" anchor="t" anchorCtr="0">
              <a:spAutoFit/>
            </a:bodyPr>
            <a:lstStyle/>
            <a:p>
              <a:pPr algn="l"/>
              <a:r>
                <a:rPr lang="en-US" sz="3450" b="1" dirty="0">
                  <a:solidFill>
                    <a:srgbClr val="9C331E"/>
                  </a:solidFill>
                  <a:latin typeface="Arial"/>
                  <a:ea typeface="Arial"/>
                  <a:cs typeface="Arial"/>
                </a:rPr>
                <a:t>L4</a:t>
              </a:r>
            </a:p>
          </p:txBody>
        </p:sp>
        <p:sp>
          <p:nvSpPr>
            <p:cNvPr id="139" name="TextBox 139"/>
            <p:cNvSpPr txBox="1"/>
            <p:nvPr/>
          </p:nvSpPr>
          <p:spPr>
            <a:xfrm>
              <a:off x="9938004" y="4461510"/>
              <a:ext cx="658368" cy="234696"/>
            </a:xfrm>
            <a:prstGeom prst="rect">
              <a:avLst/>
            </a:prstGeom>
            <a:noFill/>
            <a:ln>
              <a:noFill/>
            </a:ln>
          </p:spPr>
          <p:txBody>
            <a:bodyPr wrap="none" lIns="0" tIns="0" rIns="0" bIns="0" anchor="t" anchorCtr="0">
              <a:spAutoFit/>
            </a:bodyPr>
            <a:lstStyle/>
            <a:p>
              <a:pPr algn="l"/>
              <a:r>
                <a:rPr lang="zh-CN" sz="1200" b="1" dirty="0">
                  <a:solidFill>
                    <a:srgbClr val="5E2114"/>
                  </a:solidFill>
                  <a:latin typeface="+mn-lt"/>
                  <a:ea typeface="+mn-ea"/>
                  <a:cs typeface="+mn-cs"/>
                </a:rPr>
                <a:t>规模运行</a:t>
              </a:r>
            </a:p>
          </p:txBody>
        </p:sp>
        <p:sp>
          <p:nvSpPr>
            <p:cNvPr id="140" name="TextBox 140"/>
            <p:cNvSpPr txBox="1"/>
            <p:nvPr/>
          </p:nvSpPr>
          <p:spPr>
            <a:xfrm>
              <a:off x="9939338" y="4719638"/>
              <a:ext cx="1014412"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573F3A"/>
                  </a:solidFill>
                  <a:latin typeface="+mn-lt"/>
                  <a:ea typeface="+mn-ea"/>
                  <a:cs typeface="+mn-cs"/>
                </a:rPr>
                <a:t>在真实业务环境中</a:t>
              </a:r>
              <a:br/>
              <a:r>
                <a:rPr lang="zh-CN" sz="750" dirty="0">
                  <a:solidFill>
                    <a:srgbClr val="573F3A"/>
                  </a:solidFill>
                  <a:latin typeface="+mn-lt"/>
                  <a:ea typeface="+mn-ea"/>
                  <a:cs typeface="+mn-cs"/>
                </a:rPr>
                <a:t>大规模部署并持续运行​</a:t>
              </a:r>
            </a:p>
          </p:txBody>
        </p:sp>
      </p:grpSp>
      <p:grpSp>
        <p:nvGrpSpPr>
          <p:cNvPr id="185" name="chain"/>
          <p:cNvGrpSpPr/>
          <p:nvPr/>
        </p:nvGrpSpPr>
        <p:grpSpPr>
          <a:xfrm>
            <a:off x="381000" y="5486400"/>
            <a:ext cx="7524750" cy="743188"/>
            <a:chOff x="381000" y="5486400"/>
            <a:chExt cx="7524750" cy="743188"/>
          </a:xfrm>
        </p:grpSpPr>
        <p:sp>
          <p:nvSpPr>
            <p:cNvPr id="142" name="Rectangle 142"/>
            <p:cNvSpPr/>
            <p:nvPr/>
          </p:nvSpPr>
          <p:spPr>
            <a:xfrm>
              <a:off x="381000" y="5486400"/>
              <a:ext cx="7524750" cy="247650"/>
            </a:xfrm>
            <a:prstGeom prst="roundRect">
              <a:avLst>
                <a:gd name="adj" fmla="val 15385"/>
              </a:avLst>
            </a:prstGeom>
            <a:gradFill>
              <a:gsLst>
                <a:gs pos="0">
                  <a:srgbClr val="6F2516"/>
                </a:gs>
                <a:gs pos="100000">
                  <a:srgbClr val="D64A2E"/>
                </a:gs>
              </a:gsLst>
              <a:lin ang="0" scaled="1"/>
            </a:gradFill>
            <a:ln>
              <a:noFill/>
            </a:ln>
          </p:spPr>
        </p:sp>
        <p:grpSp>
          <p:nvGrpSpPr>
            <p:cNvPr id="145" name="Group 145"/>
            <p:cNvGrpSpPr/>
            <p:nvPr/>
          </p:nvGrpSpPr>
          <p:grpSpPr>
            <a:xfrm>
              <a:off x="520700" y="5556975"/>
              <a:ext cx="101600" cy="106500"/>
              <a:chOff x="520700" y="5556975"/>
              <a:chExt cx="101600" cy="106500"/>
            </a:xfrm>
          </p:grpSpPr>
          <p:sp>
            <p:nvSpPr>
              <p:cNvPr id="143" name="Freeform 143"/>
              <p:cNvSpPr/>
              <p:nvPr/>
            </p:nvSpPr>
            <p:spPr>
              <a:xfrm>
                <a:off x="520700" y="5556975"/>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FFFFFF"/>
                </a:solidFill>
              </a:ln>
            </p:spPr>
          </p:sp>
          <p:sp>
            <p:nvSpPr>
              <p:cNvPr id="144" name="Freeform 144"/>
              <p:cNvSpPr/>
              <p:nvPr/>
            </p:nvSpPr>
            <p:spPr>
              <a:xfrm>
                <a:off x="520700" y="5616575"/>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FFFFFF"/>
                </a:solidFill>
              </a:ln>
            </p:spPr>
          </p:sp>
        </p:grpSp>
        <p:sp>
          <p:nvSpPr>
            <p:cNvPr id="146" name="TextBox 146"/>
            <p:cNvSpPr txBox="1"/>
            <p:nvPr/>
          </p:nvSpPr>
          <p:spPr>
            <a:xfrm>
              <a:off x="718947" y="5552599"/>
              <a:ext cx="2516530"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业务闭环：从数据到更安全高效的航运运营</a:t>
              </a:r>
            </a:p>
          </p:txBody>
        </p:sp>
        <p:sp>
          <p:nvSpPr>
            <p:cNvPr id="147" name="Ellipse 147"/>
            <p:cNvSpPr/>
            <p:nvPr/>
          </p:nvSpPr>
          <p:spPr>
            <a:xfrm>
              <a:off x="466725" y="5800725"/>
              <a:ext cx="285750" cy="285750"/>
            </a:xfrm>
            <a:prstGeom prst="ellipse">
              <a:avLst/>
            </a:prstGeom>
            <a:solidFill>
              <a:srgbClr val="9C331E"/>
            </a:solidFill>
            <a:ln>
              <a:noFill/>
            </a:ln>
          </p:spPr>
        </p:sp>
        <p:grpSp>
          <p:nvGrpSpPr>
            <p:cNvPr id="151" name="Group 151"/>
            <p:cNvGrpSpPr/>
            <p:nvPr/>
          </p:nvGrpSpPr>
          <p:grpSpPr>
            <a:xfrm>
              <a:off x="552450" y="5879306"/>
              <a:ext cx="114300" cy="128588"/>
              <a:chOff x="552450" y="5879306"/>
              <a:chExt cx="114300" cy="128588"/>
            </a:xfrm>
          </p:grpSpPr>
          <p:sp>
            <p:nvSpPr>
              <p:cNvPr id="148" name="Freeform 148"/>
              <p:cNvSpPr/>
              <p:nvPr/>
            </p:nvSpPr>
            <p:spPr>
              <a:xfrm>
                <a:off x="552450" y="587930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149" name="Freeform 149"/>
              <p:cNvSpPr/>
              <p:nvPr/>
            </p:nvSpPr>
            <p:spPr>
              <a:xfrm>
                <a:off x="552450" y="590073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150" name="Freeform 150"/>
              <p:cNvSpPr/>
              <p:nvPr/>
            </p:nvSpPr>
            <p:spPr>
              <a:xfrm>
                <a:off x="552450" y="594360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sp>
          <p:nvSpPr>
            <p:cNvPr id="152" name="TextBox 152"/>
            <p:cNvSpPr txBox="1"/>
            <p:nvPr/>
          </p:nvSpPr>
          <p:spPr>
            <a:xfrm>
              <a:off x="814388" y="58083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船岸数据</a:t>
              </a:r>
            </a:p>
          </p:txBody>
        </p:sp>
        <p:sp>
          <p:nvSpPr>
            <p:cNvPr id="153" name="TextBox 153"/>
            <p:cNvSpPr txBox="1"/>
            <p:nvPr/>
          </p:nvSpPr>
          <p:spPr>
            <a:xfrm>
              <a:off x="814388" y="5989082"/>
              <a:ext cx="62318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9B807A"/>
                  </a:solidFill>
                  <a:latin typeface="+mn-lt"/>
                  <a:ea typeface="+mn-ea"/>
                  <a:cs typeface="+mn-cs"/>
                </a:rPr>
                <a:t>汇聚船端与岸端​</a:t>
              </a:r>
              <a:br/>
              <a:r>
                <a:rPr lang="zh-CN" sz="640" dirty="0">
                  <a:solidFill>
                    <a:srgbClr val="9B807A"/>
                  </a:solidFill>
                  <a:latin typeface="+mn-lt"/>
                  <a:ea typeface="+mn-ea"/>
                  <a:cs typeface="+mn-cs"/>
                </a:rPr>
                <a:t>多源运营数据</a:t>
              </a:r>
            </a:p>
          </p:txBody>
        </p:sp>
        <p:sp>
          <p:nvSpPr>
            <p:cNvPr id="154" name="Line 154"/>
            <p:cNvSpPr/>
            <p:nvPr/>
          </p:nvSpPr>
          <p:spPr>
            <a:xfrm>
              <a:off x="1790700" y="5943600"/>
              <a:ext cx="133350" cy="1"/>
            </a:xfrm>
            <a:prstGeom prst="line">
              <a:avLst/>
            </a:prstGeom>
            <a:noFill/>
            <a:ln w="14288">
              <a:solidFill>
                <a:srgbClr val="9C331E"/>
              </a:solidFill>
              <a:tailEnd type="triangle" w="lg" len="lg"/>
            </a:ln>
          </p:spPr>
        </p:sp>
        <p:sp>
          <p:nvSpPr>
            <p:cNvPr id="155" name="Ellipse 155"/>
            <p:cNvSpPr/>
            <p:nvPr/>
          </p:nvSpPr>
          <p:spPr>
            <a:xfrm>
              <a:off x="1971675" y="5800725"/>
              <a:ext cx="285750" cy="285750"/>
            </a:xfrm>
            <a:prstGeom prst="ellipse">
              <a:avLst/>
            </a:prstGeom>
            <a:solidFill>
              <a:srgbClr val="9C331E"/>
            </a:solidFill>
            <a:ln>
              <a:noFill/>
            </a:ln>
          </p:spPr>
        </p:sp>
        <p:grpSp>
          <p:nvGrpSpPr>
            <p:cNvPr id="159" name="Group 159"/>
            <p:cNvGrpSpPr/>
            <p:nvPr/>
          </p:nvGrpSpPr>
          <p:grpSpPr>
            <a:xfrm>
              <a:off x="2050256" y="5879306"/>
              <a:ext cx="128588" cy="128588"/>
              <a:chOff x="2050256" y="5879306"/>
              <a:chExt cx="128588" cy="128588"/>
            </a:xfrm>
          </p:grpSpPr>
          <p:sp>
            <p:nvSpPr>
              <p:cNvPr id="156" name="Freeform 156"/>
              <p:cNvSpPr/>
              <p:nvPr/>
            </p:nvSpPr>
            <p:spPr>
              <a:xfrm>
                <a:off x="2050256" y="597931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157" name="Freeform 157"/>
              <p:cNvSpPr/>
              <p:nvPr/>
            </p:nvSpPr>
            <p:spPr>
              <a:xfrm>
                <a:off x="2150269" y="5879306"/>
                <a:ext cx="28575" cy="28575"/>
              </a:xfrm>
              <a:custGeom>
                <a:avLst/>
                <a:gdLst/>
                <a:ahLst/>
                <a:cxnLst/>
                <a:rect l="l" t="t" r="r" b="b"/>
                <a:pathLst>
                  <a:path w="28575" h="28575">
                    <a:moveTo>
                      <a:pt x="14288" y="28575"/>
                    </a:moveTo>
                    <a:cubicBezTo>
                      <a:pt x="22178" y="28575"/>
                      <a:pt x="28575" y="22178"/>
                      <a:pt x="28575" y="14288"/>
                    </a:cubicBezTo>
                    <a:cubicBezTo>
                      <a:pt x="28575" y="6397"/>
                      <a:pt x="22178" y="0"/>
                      <a:pt x="14288" y="0"/>
                    </a:cubicBezTo>
                    <a:cubicBezTo>
                      <a:pt x="6397" y="0"/>
                      <a:pt x="0" y="6397"/>
                      <a:pt x="0" y="14288"/>
                    </a:cubicBezTo>
                    <a:cubicBezTo>
                      <a:pt x="0" y="22178"/>
                      <a:pt x="6397" y="28575"/>
                      <a:pt x="14288" y="28575"/>
                    </a:cubicBezTo>
                  </a:path>
                </a:pathLst>
              </a:custGeom>
              <a:noFill/>
              <a:ln w="14288">
                <a:solidFill>
                  <a:srgbClr val="FFFFFF"/>
                </a:solidFill>
              </a:ln>
            </p:spPr>
          </p:sp>
          <p:sp>
            <p:nvSpPr>
              <p:cNvPr id="158" name="Freeform 158"/>
              <p:cNvSpPr/>
              <p:nvPr/>
            </p:nvSpPr>
            <p:spPr>
              <a:xfrm>
                <a:off x="2064544" y="5893594"/>
                <a:ext cx="107156" cy="100012"/>
              </a:xfrm>
              <a:custGeom>
                <a:avLst/>
                <a:gdLst/>
                <a:ahLst/>
                <a:cxnLst/>
                <a:rect l="l" t="t" r="r" b="b"/>
                <a:pathLst>
                  <a:path w="107156" h="100012">
                    <a:moveTo>
                      <a:pt x="42862" y="100012"/>
                    </a:moveTo>
                    <a:lnTo>
                      <a:pt x="82153" y="100012"/>
                    </a:lnTo>
                    <a:cubicBezTo>
                      <a:pt x="95962" y="100012"/>
                      <a:pt x="107156" y="88818"/>
                      <a:pt x="107156" y="75009"/>
                    </a:cubicBezTo>
                    <a:cubicBezTo>
                      <a:pt x="107156" y="61201"/>
                      <a:pt x="95962" y="50006"/>
                      <a:pt x="82153" y="50006"/>
                    </a:cubicBezTo>
                    <a:lnTo>
                      <a:pt x="25003" y="50006"/>
                    </a:lnTo>
                    <a:cubicBezTo>
                      <a:pt x="11194" y="50006"/>
                      <a:pt x="0" y="38812"/>
                      <a:pt x="0" y="25003"/>
                    </a:cubicBezTo>
                    <a:cubicBezTo>
                      <a:pt x="0" y="11194"/>
                      <a:pt x="11194" y="0"/>
                      <a:pt x="25003" y="0"/>
                    </a:cubicBezTo>
                    <a:lnTo>
                      <a:pt x="57150" y="0"/>
                    </a:lnTo>
                  </a:path>
                </a:pathLst>
              </a:custGeom>
              <a:noFill/>
              <a:ln w="14288">
                <a:solidFill>
                  <a:srgbClr val="FFFFFF"/>
                </a:solidFill>
              </a:ln>
            </p:spPr>
          </p:sp>
        </p:grpSp>
        <p:sp>
          <p:nvSpPr>
            <p:cNvPr id="160" name="TextBox 160"/>
            <p:cNvSpPr txBox="1"/>
            <p:nvPr/>
          </p:nvSpPr>
          <p:spPr>
            <a:xfrm>
              <a:off x="2319338" y="58083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航线研判</a:t>
              </a:r>
            </a:p>
          </p:txBody>
        </p:sp>
        <p:sp>
          <p:nvSpPr>
            <p:cNvPr id="161" name="TextBox 161"/>
            <p:cNvSpPr txBox="1"/>
            <p:nvPr/>
          </p:nvSpPr>
          <p:spPr>
            <a:xfrm>
              <a:off x="2319338" y="5989082"/>
              <a:ext cx="78574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9B807A"/>
                  </a:solidFill>
                  <a:latin typeface="+mn-lt"/>
                  <a:ea typeface="+mn-ea"/>
                  <a:cs typeface="+mn-cs"/>
                </a:rPr>
                <a:t>结合历史与实时信息​</a:t>
              </a:r>
              <a:br/>
              <a:r>
                <a:rPr lang="zh-CN" sz="640" dirty="0">
                  <a:solidFill>
                    <a:srgbClr val="9B807A"/>
                  </a:solidFill>
                  <a:latin typeface="+mn-lt"/>
                  <a:ea typeface="+mn-ea"/>
                  <a:cs typeface="+mn-cs"/>
                </a:rPr>
                <a:t>进行分析</a:t>
              </a:r>
            </a:p>
          </p:txBody>
        </p:sp>
        <p:sp>
          <p:nvSpPr>
            <p:cNvPr id="162" name="Line 162"/>
            <p:cNvSpPr/>
            <p:nvPr/>
          </p:nvSpPr>
          <p:spPr>
            <a:xfrm>
              <a:off x="3295650" y="5943600"/>
              <a:ext cx="133350" cy="1"/>
            </a:xfrm>
            <a:prstGeom prst="line">
              <a:avLst/>
            </a:prstGeom>
            <a:noFill/>
            <a:ln w="14288">
              <a:solidFill>
                <a:srgbClr val="9C331E"/>
              </a:solidFill>
              <a:tailEnd type="triangle" w="lg" len="lg"/>
            </a:ln>
          </p:spPr>
        </p:sp>
        <p:sp>
          <p:nvSpPr>
            <p:cNvPr id="163" name="Ellipse 163"/>
            <p:cNvSpPr/>
            <p:nvPr/>
          </p:nvSpPr>
          <p:spPr>
            <a:xfrm>
              <a:off x="3476625" y="5800725"/>
              <a:ext cx="285750" cy="285750"/>
            </a:xfrm>
            <a:prstGeom prst="ellipse">
              <a:avLst/>
            </a:prstGeom>
            <a:solidFill>
              <a:srgbClr val="9C331E"/>
            </a:solidFill>
            <a:ln>
              <a:noFill/>
            </a:ln>
          </p:spPr>
        </p:sp>
        <p:grpSp>
          <p:nvGrpSpPr>
            <p:cNvPr id="167" name="Group 167"/>
            <p:cNvGrpSpPr/>
            <p:nvPr/>
          </p:nvGrpSpPr>
          <p:grpSpPr>
            <a:xfrm>
              <a:off x="3547454" y="5876933"/>
              <a:ext cx="144086" cy="123788"/>
              <a:chOff x="3547454" y="5876933"/>
              <a:chExt cx="144086" cy="123788"/>
            </a:xfrm>
          </p:grpSpPr>
          <p:sp>
            <p:nvSpPr>
              <p:cNvPr id="164" name="Freeform 164"/>
              <p:cNvSpPr/>
              <p:nvPr/>
            </p:nvSpPr>
            <p:spPr>
              <a:xfrm>
                <a:off x="3619500" y="5922169"/>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165" name="Freeform 165"/>
              <p:cNvSpPr/>
              <p:nvPr/>
            </p:nvSpPr>
            <p:spPr>
              <a:xfrm>
                <a:off x="3547454" y="5876933"/>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FFFFFF"/>
                </a:solidFill>
              </a:ln>
            </p:spPr>
          </p:sp>
          <p:sp>
            <p:nvSpPr>
              <p:cNvPr id="166" name="Freeform 166"/>
              <p:cNvSpPr/>
              <p:nvPr/>
            </p:nvSpPr>
            <p:spPr>
              <a:xfrm>
                <a:off x="3619500" y="5972175"/>
                <a:ext cx="9525" cy="9525"/>
              </a:xfrm>
              <a:custGeom>
                <a:avLst/>
                <a:gdLst/>
                <a:ahLst/>
                <a:cxnLst/>
                <a:rect l="l" t="t" r="r" b="b"/>
                <a:pathLst>
                  <a:path w="9525" h="9525">
                    <a:moveTo>
                      <a:pt x="0" y="0"/>
                    </a:moveTo>
                    <a:lnTo>
                      <a:pt x="71" y="0"/>
                    </a:lnTo>
                  </a:path>
                </a:pathLst>
              </a:custGeom>
              <a:noFill/>
              <a:ln w="14288">
                <a:solidFill>
                  <a:srgbClr val="FFFFFF"/>
                </a:solidFill>
              </a:ln>
            </p:spPr>
          </p:sp>
        </p:grpSp>
        <p:sp>
          <p:nvSpPr>
            <p:cNvPr id="168" name="TextBox 168"/>
            <p:cNvSpPr txBox="1"/>
            <p:nvPr/>
          </p:nvSpPr>
          <p:spPr>
            <a:xfrm>
              <a:off x="3824288" y="58083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风险识别</a:t>
              </a:r>
            </a:p>
          </p:txBody>
        </p:sp>
        <p:sp>
          <p:nvSpPr>
            <p:cNvPr id="169" name="TextBox 169"/>
            <p:cNvSpPr txBox="1"/>
            <p:nvPr/>
          </p:nvSpPr>
          <p:spPr>
            <a:xfrm>
              <a:off x="3824288" y="5989082"/>
              <a:ext cx="70446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9B807A"/>
                  </a:solidFill>
                  <a:latin typeface="+mn-lt"/>
                  <a:ea typeface="+mn-ea"/>
                  <a:cs typeface="+mn-cs"/>
                </a:rPr>
                <a:t>识别气象、海况、​</a:t>
              </a:r>
              <a:br/>
              <a:r>
                <a:rPr lang="zh-CN" sz="640" dirty="0">
                  <a:solidFill>
                    <a:srgbClr val="9B807A"/>
                  </a:solidFill>
                  <a:latin typeface="+mn-lt"/>
                  <a:ea typeface="+mn-ea"/>
                  <a:cs typeface="+mn-cs"/>
                </a:rPr>
                <a:t>港口等多维风险</a:t>
              </a:r>
            </a:p>
          </p:txBody>
        </p:sp>
        <p:sp>
          <p:nvSpPr>
            <p:cNvPr id="170" name="Line 170"/>
            <p:cNvSpPr/>
            <p:nvPr/>
          </p:nvSpPr>
          <p:spPr>
            <a:xfrm>
              <a:off x="4800600" y="5943600"/>
              <a:ext cx="133350" cy="1"/>
            </a:xfrm>
            <a:prstGeom prst="line">
              <a:avLst/>
            </a:prstGeom>
            <a:noFill/>
            <a:ln w="14288">
              <a:solidFill>
                <a:srgbClr val="9C331E"/>
              </a:solidFill>
              <a:tailEnd type="triangle" w="lg" len="lg"/>
            </a:ln>
          </p:spPr>
        </p:sp>
        <p:sp>
          <p:nvSpPr>
            <p:cNvPr id="171" name="Ellipse 171"/>
            <p:cNvSpPr/>
            <p:nvPr/>
          </p:nvSpPr>
          <p:spPr>
            <a:xfrm>
              <a:off x="4981575" y="5800725"/>
              <a:ext cx="285750" cy="285750"/>
            </a:xfrm>
            <a:prstGeom prst="ellipse">
              <a:avLst/>
            </a:prstGeom>
            <a:solidFill>
              <a:srgbClr val="9C331E"/>
            </a:solidFill>
            <a:ln>
              <a:noFill/>
            </a:ln>
          </p:spPr>
        </p:sp>
        <p:grpSp>
          <p:nvGrpSpPr>
            <p:cNvPr id="175" name="Group 175"/>
            <p:cNvGrpSpPr/>
            <p:nvPr/>
          </p:nvGrpSpPr>
          <p:grpSpPr>
            <a:xfrm>
              <a:off x="5060156" y="5879306"/>
              <a:ext cx="128588" cy="128588"/>
              <a:chOff x="5060156" y="5879306"/>
              <a:chExt cx="128588" cy="128588"/>
            </a:xfrm>
          </p:grpSpPr>
          <p:sp>
            <p:nvSpPr>
              <p:cNvPr id="172" name="Freeform 172"/>
              <p:cNvSpPr/>
              <p:nvPr/>
            </p:nvSpPr>
            <p:spPr>
              <a:xfrm>
                <a:off x="5117306" y="59364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173" name="Freeform 173"/>
              <p:cNvSpPr/>
              <p:nvPr/>
            </p:nvSpPr>
            <p:spPr>
              <a:xfrm>
                <a:off x="5088731" y="59078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174" name="Freeform 174"/>
              <p:cNvSpPr/>
              <p:nvPr/>
            </p:nvSpPr>
            <p:spPr>
              <a:xfrm>
                <a:off x="5060156" y="58793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176" name="TextBox 176"/>
            <p:cNvSpPr txBox="1"/>
            <p:nvPr/>
          </p:nvSpPr>
          <p:spPr>
            <a:xfrm>
              <a:off x="5329238" y="58083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运营决策</a:t>
              </a:r>
            </a:p>
          </p:txBody>
        </p:sp>
        <p:sp>
          <p:nvSpPr>
            <p:cNvPr id="177" name="TextBox 177"/>
            <p:cNvSpPr txBox="1"/>
            <p:nvPr/>
          </p:nvSpPr>
          <p:spPr>
            <a:xfrm>
              <a:off x="5329238" y="5989082"/>
              <a:ext cx="78574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9B807A"/>
                  </a:solidFill>
                  <a:latin typeface="+mn-lt"/>
                  <a:ea typeface="+mn-ea"/>
                  <a:cs typeface="+mn-cs"/>
                </a:rPr>
                <a:t>提升航线优化、调度​</a:t>
              </a:r>
              <a:br/>
              <a:r>
                <a:rPr lang="zh-CN" sz="640" dirty="0">
                  <a:solidFill>
                    <a:srgbClr val="9B807A"/>
                  </a:solidFill>
                  <a:latin typeface="+mn-lt"/>
                  <a:ea typeface="+mn-ea"/>
                  <a:cs typeface="+mn-cs"/>
                </a:rPr>
                <a:t>等决策支持</a:t>
              </a:r>
            </a:p>
          </p:txBody>
        </p:sp>
        <p:sp>
          <p:nvSpPr>
            <p:cNvPr id="178" name="Line 178"/>
            <p:cNvSpPr/>
            <p:nvPr/>
          </p:nvSpPr>
          <p:spPr>
            <a:xfrm>
              <a:off x="6305550" y="5943600"/>
              <a:ext cx="133350" cy="1"/>
            </a:xfrm>
            <a:prstGeom prst="line">
              <a:avLst/>
            </a:prstGeom>
            <a:noFill/>
            <a:ln w="14288">
              <a:solidFill>
                <a:srgbClr val="9C331E"/>
              </a:solidFill>
              <a:tailEnd type="triangle" w="lg" len="lg"/>
            </a:ln>
          </p:spPr>
        </p:sp>
        <p:sp>
          <p:nvSpPr>
            <p:cNvPr id="179" name="Ellipse 179"/>
            <p:cNvSpPr/>
            <p:nvPr/>
          </p:nvSpPr>
          <p:spPr>
            <a:xfrm>
              <a:off x="6486525" y="5800725"/>
              <a:ext cx="285750" cy="285750"/>
            </a:xfrm>
            <a:prstGeom prst="ellipse">
              <a:avLst/>
            </a:prstGeom>
            <a:solidFill>
              <a:srgbClr val="9C331E"/>
            </a:solidFill>
            <a:ln>
              <a:noFill/>
            </a:ln>
          </p:spPr>
        </p:sp>
        <p:grpSp>
          <p:nvGrpSpPr>
            <p:cNvPr id="182" name="Group 182"/>
            <p:cNvGrpSpPr/>
            <p:nvPr/>
          </p:nvGrpSpPr>
          <p:grpSpPr>
            <a:xfrm>
              <a:off x="6572250" y="5883694"/>
              <a:ext cx="114300" cy="119813"/>
              <a:chOff x="6572250" y="5883694"/>
              <a:chExt cx="114300" cy="119813"/>
            </a:xfrm>
          </p:grpSpPr>
          <p:sp>
            <p:nvSpPr>
              <p:cNvPr id="180" name="Freeform 180"/>
              <p:cNvSpPr/>
              <p:nvPr/>
            </p:nvSpPr>
            <p:spPr>
              <a:xfrm>
                <a:off x="6572250" y="5883694"/>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FFFFFF"/>
                </a:solidFill>
              </a:ln>
            </p:spPr>
          </p:sp>
          <p:sp>
            <p:nvSpPr>
              <p:cNvPr id="181" name="Freeform 181"/>
              <p:cNvSpPr/>
              <p:nvPr/>
            </p:nvSpPr>
            <p:spPr>
              <a:xfrm>
                <a:off x="6572250" y="5950744"/>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FFFFFF"/>
                </a:solidFill>
              </a:ln>
            </p:spPr>
          </p:sp>
        </p:grpSp>
        <p:sp>
          <p:nvSpPr>
            <p:cNvPr id="183" name="TextBox 183"/>
            <p:cNvSpPr txBox="1"/>
            <p:nvPr/>
          </p:nvSpPr>
          <p:spPr>
            <a:xfrm>
              <a:off x="6834188" y="58083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运行反馈</a:t>
              </a:r>
            </a:p>
          </p:txBody>
        </p:sp>
        <p:sp>
          <p:nvSpPr>
            <p:cNvPr id="184" name="TextBox 184"/>
            <p:cNvSpPr txBox="1"/>
            <p:nvPr/>
          </p:nvSpPr>
          <p:spPr>
            <a:xfrm>
              <a:off x="6834188" y="5989082"/>
              <a:ext cx="70446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9B807A"/>
                  </a:solidFill>
                  <a:latin typeface="+mn-lt"/>
                  <a:ea typeface="+mn-ea"/>
                  <a:cs typeface="+mn-cs"/>
                </a:rPr>
                <a:t>基于实际运行结果​</a:t>
              </a:r>
              <a:br/>
              <a:r>
                <a:rPr lang="zh-CN" sz="640" dirty="0">
                  <a:solidFill>
                    <a:srgbClr val="9B807A"/>
                  </a:solidFill>
                  <a:latin typeface="+mn-lt"/>
                  <a:ea typeface="+mn-ea"/>
                  <a:cs typeface="+mn-cs"/>
                </a:rPr>
                <a:t>持续优化系统</a:t>
              </a:r>
            </a:p>
          </p:txBody>
        </p:sp>
      </p:grpSp>
      <p:grpSp>
        <p:nvGrpSpPr>
          <p:cNvPr id="193" name="tip"/>
          <p:cNvGrpSpPr/>
          <p:nvPr/>
        </p:nvGrpSpPr>
        <p:grpSpPr>
          <a:xfrm>
            <a:off x="8058150" y="5486400"/>
            <a:ext cx="3752850" cy="876300"/>
            <a:chOff x="8058150" y="5486400"/>
            <a:chExt cx="3752850" cy="876300"/>
          </a:xfrm>
        </p:grpSpPr>
        <p:sp>
          <p:nvSpPr>
            <p:cNvPr id="186" name="Rectangle 186"/>
            <p:cNvSpPr/>
            <p:nvPr/>
          </p:nvSpPr>
          <p:spPr>
            <a:xfrm>
              <a:off x="8058150" y="5486400"/>
              <a:ext cx="3752850" cy="876300"/>
            </a:xfrm>
            <a:prstGeom prst="roundRect">
              <a:avLst>
                <a:gd name="adj" fmla="val 8696"/>
              </a:avLst>
            </a:prstGeom>
            <a:solidFill>
              <a:srgbClr val="EFF5FC"/>
            </a:solidFill>
            <a:ln w="9525">
              <a:solidFill>
                <a:srgbClr val="C7D9F0"/>
              </a:solidFill>
            </a:ln>
          </p:spPr>
        </p:sp>
        <p:grpSp>
          <p:nvGrpSpPr>
            <p:cNvPr id="190" name="Group 190"/>
            <p:cNvGrpSpPr/>
            <p:nvPr/>
          </p:nvGrpSpPr>
          <p:grpSpPr>
            <a:xfrm>
              <a:off x="8212931" y="5622131"/>
              <a:ext cx="128588" cy="128588"/>
              <a:chOff x="8212931" y="5622131"/>
              <a:chExt cx="128588" cy="128588"/>
            </a:xfrm>
          </p:grpSpPr>
          <p:sp>
            <p:nvSpPr>
              <p:cNvPr id="187" name="Freeform 187"/>
              <p:cNvSpPr/>
              <p:nvPr/>
            </p:nvSpPr>
            <p:spPr>
              <a:xfrm>
                <a:off x="8212931" y="56221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9C331E"/>
                </a:solidFill>
              </a:ln>
            </p:spPr>
          </p:sp>
          <p:sp>
            <p:nvSpPr>
              <p:cNvPr id="188" name="Freeform 188"/>
              <p:cNvSpPr/>
              <p:nvPr/>
            </p:nvSpPr>
            <p:spPr>
              <a:xfrm>
                <a:off x="8277225" y="5664994"/>
                <a:ext cx="9525" cy="9525"/>
              </a:xfrm>
              <a:custGeom>
                <a:avLst/>
                <a:gdLst/>
                <a:ahLst/>
                <a:cxnLst/>
                <a:rect l="l" t="t" r="r" b="b"/>
                <a:pathLst>
                  <a:path w="9525" h="9525">
                    <a:moveTo>
                      <a:pt x="0" y="0"/>
                    </a:moveTo>
                    <a:lnTo>
                      <a:pt x="71" y="0"/>
                    </a:lnTo>
                  </a:path>
                </a:pathLst>
              </a:custGeom>
              <a:noFill/>
              <a:ln w="14288">
                <a:solidFill>
                  <a:srgbClr val="9C331E"/>
                </a:solidFill>
              </a:ln>
            </p:spPr>
          </p:sp>
          <p:sp>
            <p:nvSpPr>
              <p:cNvPr id="189" name="Freeform 189"/>
              <p:cNvSpPr/>
              <p:nvPr/>
            </p:nvSpPr>
            <p:spPr>
              <a:xfrm>
                <a:off x="8270081" y="5686425"/>
                <a:ext cx="14288" cy="28575"/>
              </a:xfrm>
              <a:custGeom>
                <a:avLst/>
                <a:gdLst/>
                <a:ahLst/>
                <a:cxnLst/>
                <a:rect l="l" t="t" r="r" b="b"/>
                <a:pathLst>
                  <a:path w="14288" h="28575">
                    <a:moveTo>
                      <a:pt x="0" y="0"/>
                    </a:moveTo>
                    <a:lnTo>
                      <a:pt x="7144" y="0"/>
                    </a:lnTo>
                    <a:lnTo>
                      <a:pt x="7144" y="28575"/>
                    </a:lnTo>
                    <a:lnTo>
                      <a:pt x="14288" y="28575"/>
                    </a:lnTo>
                  </a:path>
                </a:pathLst>
              </a:custGeom>
              <a:noFill/>
              <a:ln w="14288">
                <a:solidFill>
                  <a:srgbClr val="9C331E"/>
                </a:solidFill>
              </a:ln>
            </p:spPr>
          </p:sp>
        </p:grpSp>
        <p:sp>
          <p:nvSpPr>
            <p:cNvPr id="191" name="TextBox 191"/>
            <p:cNvSpPr txBox="1"/>
            <p:nvPr/>
          </p:nvSpPr>
          <p:spPr>
            <a:xfrm>
              <a:off x="8415338" y="5632847"/>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重要提示</a:t>
              </a:r>
            </a:p>
          </p:txBody>
        </p:sp>
        <p:sp>
          <p:nvSpPr>
            <p:cNvPr id="192" name="TextBox 192"/>
            <p:cNvSpPr txBox="1"/>
            <p:nvPr/>
          </p:nvSpPr>
          <p:spPr>
            <a:xfrm>
              <a:off x="8186738" y="5896689"/>
              <a:ext cx="1469326"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573F3A"/>
                  </a:solidFill>
                  <a:latin typeface="+mn-lt"/>
                  <a:ea typeface="+mn-ea"/>
                  <a:cs typeface="+mn-cs"/>
                </a:rPr>
                <a:t>公开材料未披露统一财务收益，​</a:t>
              </a:r>
              <a:br/>
              <a:r>
                <a:rPr lang="zh-CN" sz="790" dirty="0">
                  <a:solidFill>
                    <a:srgbClr val="573F3A"/>
                  </a:solidFill>
                  <a:latin typeface="+mn-lt"/>
                  <a:ea typeface="+mn-ea"/>
                  <a:cs typeface="+mn-cs"/>
                </a:rPr>
                <a:t>不能补算回报率。</a:t>
              </a:r>
            </a:p>
          </p:txBody>
        </p:sp>
      </p:grpSp>
      <p:grpSp>
        <p:nvGrpSpPr>
          <p:cNvPr id="197" name="footer"/>
          <p:cNvGrpSpPr/>
          <p:nvPr/>
        </p:nvGrpSpPr>
        <p:grpSpPr>
          <a:xfrm>
            <a:off x="0" y="6705600"/>
            <a:ext cx="12192000" cy="173117"/>
            <a:chOff x="0" y="6705600"/>
            <a:chExt cx="12192000" cy="173117"/>
          </a:xfrm>
        </p:grpSpPr>
        <p:sp>
          <p:nvSpPr>
            <p:cNvPr id="194" name="Rectangle 194"/>
            <p:cNvSpPr/>
            <p:nvPr/>
          </p:nvSpPr>
          <p:spPr>
            <a:xfrm>
              <a:off x="0" y="6705600"/>
              <a:ext cx="12192000" cy="152400"/>
            </a:xfrm>
            <a:prstGeom prst="rect">
              <a:avLst/>
            </a:prstGeom>
            <a:solidFill>
              <a:srgbClr val="632012"/>
            </a:solidFill>
            <a:ln>
              <a:noFill/>
            </a:ln>
          </p:spPr>
        </p:sp>
        <p:sp>
          <p:nvSpPr>
            <p:cNvPr id="195" name="TextBox 195"/>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96" name="TextBox 196"/>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07/20</a:t>
              </a:r>
            </a:p>
          </p:txBody>
        </p:sp>
      </p:gr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0" name="header"/>
          <p:cNvGrpSpPr/>
          <p:nvPr/>
        </p:nvGrpSpPr>
        <p:grpSpPr>
          <a:xfrm>
            <a:off x="0" y="0"/>
            <a:ext cx="11739562" cy="570929"/>
            <a:chOff x="0" y="0"/>
            <a:chExt cx="11739562"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3" name="TextBox 3"/>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08</a:t>
              </a:r>
            </a:p>
          </p:txBody>
        </p:sp>
        <p:sp>
          <p:nvSpPr>
            <p:cNvPr id="4" name="TextBox 4"/>
            <p:cNvSpPr txBox="1"/>
            <p:nvPr/>
          </p:nvSpPr>
          <p:spPr>
            <a:xfrm>
              <a:off x="947738" y="75486"/>
              <a:ext cx="1347648"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数智电网　安全高效　运行无忧</a:t>
              </a:r>
            </a:p>
          </p:txBody>
        </p:sp>
        <p:sp>
          <p:nvSpPr>
            <p:cNvPr id="5" name="TextBox 5"/>
            <p:cNvSpPr txBox="1"/>
            <p:nvPr/>
          </p:nvSpPr>
          <p:spPr>
            <a:xfrm>
              <a:off x="942594" y="189548"/>
              <a:ext cx="5012436"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电网巡检</a:t>
              </a:r>
              <a:r>
                <a:rPr lang="zh-CN" sz="1950" b="1" dirty="0">
                  <a:solidFill>
                    <a:srgbClr val="5E2114"/>
                  </a:solidFill>
                  <a:latin typeface="+mj-lt"/>
                  <a:ea typeface="+mj-ea"/>
                  <a:cs typeface="+mj-cs"/>
                </a:rPr>
                <a:t>｜存量规模化标杆给出跑通尺度</a:t>
              </a:r>
            </a:p>
          </p:txBody>
        </p:sp>
        <p:sp>
          <p:nvSpPr>
            <p:cNvPr id="6" name="Line 6"/>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7" name="TextBox 7"/>
            <p:cNvSpPr txBox="1"/>
            <p:nvPr/>
          </p:nvSpPr>
          <p:spPr>
            <a:xfrm>
              <a:off x="11156556" y="75486"/>
              <a:ext cx="583006"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更智能的巡检</a:t>
              </a:r>
            </a:p>
          </p:txBody>
        </p:sp>
        <p:sp>
          <p:nvSpPr>
            <p:cNvPr id="8" name="TextBox 8"/>
            <p:cNvSpPr txBox="1"/>
            <p:nvPr/>
          </p:nvSpPr>
          <p:spPr>
            <a:xfrm>
              <a:off x="11156556" y="208836"/>
              <a:ext cx="583006"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更可靠的电网</a:t>
              </a:r>
            </a:p>
          </p:txBody>
        </p:sp>
        <p:sp>
          <p:nvSpPr>
            <p:cNvPr id="9" name="TextBox 9"/>
            <p:cNvSpPr txBox="1"/>
            <p:nvPr/>
          </p:nvSpPr>
          <p:spPr>
            <a:xfrm>
              <a:off x="11156556" y="342186"/>
              <a:ext cx="583006"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更高效的社会</a:t>
              </a:r>
            </a:p>
          </p:txBody>
        </p:sp>
      </p:grpSp>
      <p:grpSp>
        <p:nvGrpSpPr>
          <p:cNvPr id="12" name="subtitle"/>
          <p:cNvGrpSpPr/>
          <p:nvPr/>
        </p:nvGrpSpPr>
        <p:grpSpPr>
          <a:xfrm>
            <a:off x="985647" y="656749"/>
            <a:ext cx="2839753" cy="190690"/>
            <a:chOff x="985647" y="656749"/>
            <a:chExt cx="2839753" cy="190690"/>
          </a:xfrm>
        </p:grpSpPr>
        <p:sp>
          <p:nvSpPr>
            <p:cNvPr id="11" name="TextBox 11"/>
            <p:cNvSpPr txBox="1"/>
            <p:nvPr/>
          </p:nvSpPr>
          <p:spPr>
            <a:xfrm>
              <a:off x="985647" y="656749"/>
              <a:ext cx="2839753" cy="190690"/>
            </a:xfrm>
            <a:prstGeom prst="rect">
              <a:avLst/>
            </a:prstGeom>
            <a:noFill/>
            <a:ln>
              <a:noFill/>
            </a:ln>
          </p:spPr>
          <p:txBody>
            <a:bodyPr wrap="none" lIns="0" tIns="0" rIns="0" bIns="0" anchor="t" anchorCtr="0">
              <a:spAutoFit/>
            </a:bodyPr>
            <a:lstStyle/>
            <a:p>
              <a:pPr algn="l"/>
              <a:r>
                <a:rPr lang="zh-CN" sz="980" dirty="0">
                  <a:solidFill>
                    <a:srgbClr val="9C331E"/>
                  </a:solidFill>
                  <a:latin typeface="+mn-lt"/>
                  <a:ea typeface="+mn-ea"/>
                  <a:cs typeface="+mn-cs"/>
                </a:rPr>
                <a:t>成熟应用 · 体系完备 · 价值可验证 · 可复制推广</a:t>
              </a:r>
            </a:p>
          </p:txBody>
        </p:sp>
      </p:grpSp>
      <p:grpSp>
        <p:nvGrpSpPr>
          <p:cNvPr id="62" name="hero-card"/>
          <p:cNvGrpSpPr/>
          <p:nvPr/>
        </p:nvGrpSpPr>
        <p:grpSpPr>
          <a:xfrm>
            <a:off x="381000" y="876300"/>
            <a:ext cx="7962900" cy="2539841"/>
            <a:chOff x="381000" y="876300"/>
            <a:chExt cx="7962900" cy="2539841"/>
          </a:xfrm>
        </p:grpSpPr>
        <p:sp>
          <p:nvSpPr>
            <p:cNvPr id="13" name="Rectangle 13"/>
            <p:cNvSpPr/>
            <p:nvPr/>
          </p:nvSpPr>
          <p:spPr>
            <a:xfrm>
              <a:off x="381000" y="895350"/>
              <a:ext cx="7962900" cy="2514600"/>
            </a:xfrm>
            <a:prstGeom prst="roundRect">
              <a:avLst>
                <a:gd name="adj" fmla="val 3030"/>
              </a:avLst>
            </a:prstGeom>
            <a:gradFill>
              <a:gsLst>
                <a:gs pos="0">
                  <a:srgbClr val="EEC4BB"/>
                </a:gs>
                <a:gs pos="55000">
                  <a:srgbClr val="DC9C8F"/>
                </a:gs>
                <a:gs pos="100000">
                  <a:srgbClr val="B86A5A"/>
                </a:gs>
              </a:gsLst>
              <a:lin ang="5400000" scaled="1"/>
            </a:gradFill>
            <a:ln>
              <a:noFill/>
            </a:ln>
          </p:spPr>
        </p:sp>
        <p:sp>
          <p:nvSpPr>
            <p:cNvPr id="14" name="Polygon 14"/>
            <p:cNvSpPr/>
            <p:nvPr/>
          </p:nvSpPr>
          <p:spPr>
            <a:xfrm>
              <a:off x="381000" y="1943100"/>
              <a:ext cx="7962900" cy="1466850"/>
            </a:xfrm>
            <a:custGeom>
              <a:avLst/>
              <a:gdLst/>
              <a:ahLst/>
              <a:cxnLst/>
              <a:rect l="l" t="t" r="r" b="b"/>
              <a:pathLst>
                <a:path w="7962900" h="1466850">
                  <a:moveTo>
                    <a:pt x="0" y="609600"/>
                  </a:moveTo>
                  <a:lnTo>
                    <a:pt x="1047750" y="114300"/>
                  </a:lnTo>
                  <a:lnTo>
                    <a:pt x="1905000" y="457200"/>
                  </a:lnTo>
                  <a:lnTo>
                    <a:pt x="2857500" y="0"/>
                  </a:lnTo>
                  <a:lnTo>
                    <a:pt x="3905250" y="438150"/>
                  </a:lnTo>
                  <a:lnTo>
                    <a:pt x="4762500" y="171450"/>
                  </a:lnTo>
                  <a:lnTo>
                    <a:pt x="5715000" y="495300"/>
                  </a:lnTo>
                  <a:lnTo>
                    <a:pt x="6667500" y="190500"/>
                  </a:lnTo>
                  <a:lnTo>
                    <a:pt x="7524750" y="457200"/>
                  </a:lnTo>
                  <a:lnTo>
                    <a:pt x="7962900" y="323850"/>
                  </a:lnTo>
                  <a:lnTo>
                    <a:pt x="7962900" y="1466850"/>
                  </a:lnTo>
                  <a:lnTo>
                    <a:pt x="0" y="1466850"/>
                  </a:lnTo>
                  <a:close/>
                </a:path>
              </a:pathLst>
            </a:custGeom>
            <a:solidFill>
              <a:srgbClr val="9E4C3B">
                <a:alpha val="55000"/>
              </a:srgbClr>
            </a:solidFill>
            <a:ln>
              <a:noFill/>
            </a:ln>
          </p:spPr>
        </p:sp>
        <p:sp>
          <p:nvSpPr>
            <p:cNvPr id="15" name="Polygon 15"/>
            <p:cNvSpPr/>
            <p:nvPr/>
          </p:nvSpPr>
          <p:spPr>
            <a:xfrm>
              <a:off x="381000" y="2419350"/>
              <a:ext cx="7962900" cy="990600"/>
            </a:xfrm>
            <a:custGeom>
              <a:avLst/>
              <a:gdLst/>
              <a:ahLst/>
              <a:cxnLst/>
              <a:rect l="l" t="t" r="r" b="b"/>
              <a:pathLst>
                <a:path w="7962900" h="990600">
                  <a:moveTo>
                    <a:pt x="0" y="438150"/>
                  </a:moveTo>
                  <a:lnTo>
                    <a:pt x="857250" y="76200"/>
                  </a:lnTo>
                  <a:lnTo>
                    <a:pt x="1809750" y="361950"/>
                  </a:lnTo>
                  <a:lnTo>
                    <a:pt x="2762250" y="0"/>
                  </a:lnTo>
                  <a:lnTo>
                    <a:pt x="3810000" y="400050"/>
                  </a:lnTo>
                  <a:lnTo>
                    <a:pt x="4762500" y="133350"/>
                  </a:lnTo>
                  <a:lnTo>
                    <a:pt x="5810250" y="438150"/>
                  </a:lnTo>
                  <a:lnTo>
                    <a:pt x="6858000" y="171450"/>
                  </a:lnTo>
                  <a:lnTo>
                    <a:pt x="7962900" y="438150"/>
                  </a:lnTo>
                  <a:lnTo>
                    <a:pt x="7962900" y="990600"/>
                  </a:lnTo>
                  <a:lnTo>
                    <a:pt x="0" y="990600"/>
                  </a:lnTo>
                  <a:close/>
                </a:path>
              </a:pathLst>
            </a:custGeom>
            <a:solidFill>
              <a:srgbClr val="85392A">
                <a:alpha val="60000"/>
              </a:srgbClr>
            </a:solidFill>
            <a:ln>
              <a:noFill/>
            </a:ln>
          </p:spPr>
        </p:sp>
        <p:sp>
          <p:nvSpPr>
            <p:cNvPr id="16" name="Freeform 16"/>
            <p:cNvSpPr/>
            <p:nvPr/>
          </p:nvSpPr>
          <p:spPr>
            <a:xfrm>
              <a:off x="5334000" y="876300"/>
              <a:ext cx="1524000" cy="266700"/>
            </a:xfrm>
            <a:custGeom>
              <a:avLst/>
              <a:gdLst/>
              <a:ahLst/>
              <a:cxnLst/>
              <a:rect l="l" t="t" r="r" b="b"/>
              <a:pathLst>
                <a:path w="1524000" h="266700">
                  <a:moveTo>
                    <a:pt x="0" y="266700"/>
                  </a:moveTo>
                  <a:lnTo>
                    <a:pt x="190500" y="38100"/>
                  </a:lnTo>
                  <a:moveTo>
                    <a:pt x="381000" y="228600"/>
                  </a:moveTo>
                  <a:lnTo>
                    <a:pt x="571500" y="0"/>
                  </a:lnTo>
                  <a:moveTo>
                    <a:pt x="762000" y="266700"/>
                  </a:moveTo>
                  <a:lnTo>
                    <a:pt x="952500" y="38100"/>
                  </a:lnTo>
                  <a:moveTo>
                    <a:pt x="1333500" y="247650"/>
                  </a:moveTo>
                  <a:lnTo>
                    <a:pt x="1524000" y="19050"/>
                  </a:lnTo>
                </a:path>
              </a:pathLst>
            </a:custGeom>
            <a:noFill/>
            <a:ln w="28575">
              <a:solidFill>
                <a:srgbClr val="9E4C3B"/>
              </a:solidFill>
            </a:ln>
          </p:spPr>
        </p:sp>
        <p:sp>
          <p:nvSpPr>
            <p:cNvPr id="17" name="Freeform 17"/>
            <p:cNvSpPr/>
            <p:nvPr/>
          </p:nvSpPr>
          <p:spPr>
            <a:xfrm>
              <a:off x="952500" y="1428750"/>
              <a:ext cx="1676400" cy="666750"/>
            </a:xfrm>
            <a:custGeom>
              <a:avLst/>
              <a:gdLst/>
              <a:ahLst/>
              <a:cxnLst/>
              <a:rect l="l" t="t" r="r" b="b"/>
              <a:pathLst>
                <a:path w="1676400" h="666750">
                  <a:moveTo>
                    <a:pt x="190500" y="476250"/>
                  </a:moveTo>
                  <a:lnTo>
                    <a:pt x="190500" y="0"/>
                  </a:lnTo>
                  <a:moveTo>
                    <a:pt x="190500" y="142875"/>
                  </a:moveTo>
                  <a:lnTo>
                    <a:pt x="0" y="142875"/>
                  </a:lnTo>
                  <a:moveTo>
                    <a:pt x="190500" y="142875"/>
                  </a:moveTo>
                  <a:lnTo>
                    <a:pt x="381000" y="142875"/>
                  </a:lnTo>
                  <a:moveTo>
                    <a:pt x="190500" y="266700"/>
                  </a:moveTo>
                  <a:lnTo>
                    <a:pt x="38100" y="266700"/>
                  </a:lnTo>
                  <a:moveTo>
                    <a:pt x="190500" y="266700"/>
                  </a:moveTo>
                  <a:lnTo>
                    <a:pt x="342900" y="266700"/>
                  </a:lnTo>
                  <a:moveTo>
                    <a:pt x="476250" y="552450"/>
                  </a:moveTo>
                  <a:lnTo>
                    <a:pt x="476250" y="114300"/>
                  </a:lnTo>
                  <a:moveTo>
                    <a:pt x="476250" y="247650"/>
                  </a:moveTo>
                  <a:lnTo>
                    <a:pt x="304800" y="247650"/>
                  </a:lnTo>
                  <a:moveTo>
                    <a:pt x="476250" y="247650"/>
                  </a:moveTo>
                  <a:lnTo>
                    <a:pt x="647700" y="247650"/>
                  </a:lnTo>
                  <a:moveTo>
                    <a:pt x="476250" y="361950"/>
                  </a:moveTo>
                  <a:lnTo>
                    <a:pt x="342900" y="361950"/>
                  </a:lnTo>
                  <a:moveTo>
                    <a:pt x="476250" y="361950"/>
                  </a:moveTo>
                  <a:lnTo>
                    <a:pt x="609600" y="361950"/>
                  </a:lnTo>
                  <a:moveTo>
                    <a:pt x="1238250" y="609600"/>
                  </a:moveTo>
                  <a:lnTo>
                    <a:pt x="1238250" y="209550"/>
                  </a:lnTo>
                  <a:moveTo>
                    <a:pt x="1238250" y="304800"/>
                  </a:moveTo>
                  <a:lnTo>
                    <a:pt x="1085850" y="304800"/>
                  </a:lnTo>
                  <a:moveTo>
                    <a:pt x="1238250" y="304800"/>
                  </a:moveTo>
                  <a:lnTo>
                    <a:pt x="1390650" y="304800"/>
                  </a:lnTo>
                  <a:moveTo>
                    <a:pt x="1524000" y="666750"/>
                  </a:moveTo>
                  <a:lnTo>
                    <a:pt x="1524000" y="285750"/>
                  </a:lnTo>
                  <a:moveTo>
                    <a:pt x="1524000" y="361950"/>
                  </a:moveTo>
                  <a:lnTo>
                    <a:pt x="1371600" y="361950"/>
                  </a:lnTo>
                  <a:moveTo>
                    <a:pt x="1524000" y="361950"/>
                  </a:moveTo>
                  <a:lnTo>
                    <a:pt x="1676400" y="361950"/>
                  </a:lnTo>
                </a:path>
              </a:pathLst>
            </a:custGeom>
            <a:noFill/>
            <a:ln w="19050">
              <a:solidFill>
                <a:srgbClr val="662A1E"/>
              </a:solidFill>
            </a:ln>
          </p:spPr>
        </p:sp>
        <p:sp>
          <p:nvSpPr>
            <p:cNvPr id="18" name="Freeform 18"/>
            <p:cNvSpPr/>
            <p:nvPr/>
          </p:nvSpPr>
          <p:spPr>
            <a:xfrm>
              <a:off x="6096000" y="1143000"/>
              <a:ext cx="152400" cy="152400"/>
            </a:xfrm>
            <a:custGeom>
              <a:avLst/>
              <a:gdLst/>
              <a:ahLst/>
              <a:cxnLst/>
              <a:rect l="l" t="t" r="r" b="b"/>
              <a:pathLst>
                <a:path w="152400" h="152400">
                  <a:moveTo>
                    <a:pt x="0" y="76200"/>
                  </a:moveTo>
                  <a:lnTo>
                    <a:pt x="152400" y="76200"/>
                  </a:lnTo>
                  <a:moveTo>
                    <a:pt x="76200" y="0"/>
                  </a:moveTo>
                  <a:lnTo>
                    <a:pt x="76200" y="152400"/>
                  </a:lnTo>
                </a:path>
              </a:pathLst>
            </a:custGeom>
            <a:noFill/>
            <a:ln w="19050">
              <a:solidFill>
                <a:srgbClr val="FFFFFF"/>
              </a:solidFill>
            </a:ln>
          </p:spPr>
        </p:sp>
        <p:sp>
          <p:nvSpPr>
            <p:cNvPr id="19" name="Rectangle 19"/>
            <p:cNvSpPr/>
            <p:nvPr/>
          </p:nvSpPr>
          <p:spPr>
            <a:xfrm>
              <a:off x="5924550" y="1257300"/>
              <a:ext cx="495300" cy="95250"/>
            </a:xfrm>
            <a:prstGeom prst="roundRect">
              <a:avLst>
                <a:gd name="adj" fmla="val 50000"/>
              </a:avLst>
            </a:prstGeom>
            <a:solidFill>
              <a:srgbClr val="6F2516"/>
            </a:solidFill>
            <a:ln>
              <a:noFill/>
            </a:ln>
          </p:spPr>
        </p:sp>
        <p:sp>
          <p:nvSpPr>
            <p:cNvPr id="20" name="Ellipse 20"/>
            <p:cNvSpPr/>
            <p:nvPr/>
          </p:nvSpPr>
          <p:spPr>
            <a:xfrm>
              <a:off x="5857875" y="1238250"/>
              <a:ext cx="133350" cy="133350"/>
            </a:xfrm>
            <a:prstGeom prst="ellipse">
              <a:avLst/>
            </a:prstGeom>
            <a:noFill/>
            <a:ln w="19050">
              <a:solidFill>
                <a:srgbClr val="6F2516"/>
              </a:solidFill>
            </a:ln>
          </p:spPr>
        </p:sp>
        <p:sp>
          <p:nvSpPr>
            <p:cNvPr id="21" name="Ellipse 21"/>
            <p:cNvSpPr/>
            <p:nvPr/>
          </p:nvSpPr>
          <p:spPr>
            <a:xfrm>
              <a:off x="6353175" y="1238250"/>
              <a:ext cx="133350" cy="133350"/>
            </a:xfrm>
            <a:prstGeom prst="ellipse">
              <a:avLst/>
            </a:prstGeom>
            <a:noFill/>
            <a:ln w="19050">
              <a:solidFill>
                <a:srgbClr val="6F2516"/>
              </a:solidFill>
            </a:ln>
          </p:spPr>
        </p:sp>
        <p:sp>
          <p:nvSpPr>
            <p:cNvPr id="22" name="Rectangle 22"/>
            <p:cNvSpPr/>
            <p:nvPr/>
          </p:nvSpPr>
          <p:spPr>
            <a:xfrm>
              <a:off x="381000" y="895350"/>
              <a:ext cx="7962900" cy="323850"/>
            </a:xfrm>
            <a:prstGeom prst="roundRect">
              <a:avLst>
                <a:gd name="adj" fmla="val 23529"/>
              </a:avLst>
            </a:prstGeom>
            <a:solidFill>
              <a:srgbClr val="632012">
                <a:alpha val="92000"/>
              </a:srgbClr>
            </a:solidFill>
            <a:ln>
              <a:noFill/>
            </a:ln>
          </p:spPr>
        </p:sp>
        <p:sp>
          <p:nvSpPr>
            <p:cNvPr id="23" name="TextBox 23"/>
            <p:cNvSpPr txBox="1"/>
            <p:nvPr/>
          </p:nvSpPr>
          <p:spPr>
            <a:xfrm>
              <a:off x="528066" y="1001078"/>
              <a:ext cx="3120390"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央企存量规模化案例｜并非本批新增场景月度验收</a:t>
              </a:r>
            </a:p>
          </p:txBody>
        </p:sp>
        <p:sp>
          <p:nvSpPr>
            <p:cNvPr id="24" name="TextBox 24"/>
            <p:cNvSpPr txBox="1"/>
            <p:nvPr/>
          </p:nvSpPr>
          <p:spPr>
            <a:xfrm>
              <a:off x="528638" y="1324689"/>
              <a:ext cx="3625418"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以无人机巡检支撑大电网安全稳定运行，形成可复制、可推广的规模化实践。</a:t>
              </a:r>
            </a:p>
          </p:txBody>
        </p:sp>
        <p:sp>
          <p:nvSpPr>
            <p:cNvPr id="25" name="Rectangle 25"/>
            <p:cNvSpPr/>
            <p:nvPr/>
          </p:nvSpPr>
          <p:spPr>
            <a:xfrm>
              <a:off x="495300" y="2571750"/>
              <a:ext cx="1866900" cy="609600"/>
            </a:xfrm>
            <a:prstGeom prst="roundRect">
              <a:avLst>
                <a:gd name="adj" fmla="val 9375"/>
              </a:avLst>
            </a:prstGeom>
            <a:solidFill>
              <a:srgbClr val="632012">
                <a:alpha val="85000"/>
              </a:srgbClr>
            </a:solidFill>
            <a:ln>
              <a:noFill/>
            </a:ln>
          </p:spPr>
        </p:sp>
        <p:grpSp>
          <p:nvGrpSpPr>
            <p:cNvPr id="35" name="Group 35"/>
            <p:cNvGrpSpPr/>
            <p:nvPr/>
          </p:nvGrpSpPr>
          <p:grpSpPr>
            <a:xfrm>
              <a:off x="638175" y="2762250"/>
              <a:ext cx="133350" cy="180975"/>
              <a:chOff x="638175" y="2762250"/>
              <a:chExt cx="133350" cy="180975"/>
            </a:xfrm>
          </p:grpSpPr>
          <p:sp>
            <p:nvSpPr>
              <p:cNvPr id="26" name="Freeform 26"/>
              <p:cNvSpPr/>
              <p:nvPr/>
            </p:nvSpPr>
            <p:spPr>
              <a:xfrm>
                <a:off x="647700" y="2781300"/>
                <a:ext cx="114300" cy="76200"/>
              </a:xfrm>
              <a:custGeom>
                <a:avLst/>
                <a:gdLst/>
                <a:ahLst/>
                <a:cxnLst/>
                <a:rect l="l" t="t" r="r" b="b"/>
                <a:pathLst>
                  <a:path w="114300" h="76200">
                    <a:moveTo>
                      <a:pt x="0" y="19050"/>
                    </a:moveTo>
                    <a:cubicBezTo>
                      <a:pt x="0" y="8529"/>
                      <a:pt x="8529" y="0"/>
                      <a:pt x="19050" y="0"/>
                    </a:cubicBezTo>
                    <a:lnTo>
                      <a:pt x="95250" y="0"/>
                    </a:lnTo>
                    <a:cubicBezTo>
                      <a:pt x="105771" y="0"/>
                      <a:pt x="114300" y="8529"/>
                      <a:pt x="114300" y="19050"/>
                    </a:cubicBezTo>
                    <a:lnTo>
                      <a:pt x="114300" y="57150"/>
                    </a:lnTo>
                    <a:cubicBezTo>
                      <a:pt x="114300" y="67671"/>
                      <a:pt x="105771" y="76200"/>
                      <a:pt x="95250" y="76200"/>
                    </a:cubicBezTo>
                    <a:lnTo>
                      <a:pt x="19050" y="76200"/>
                    </a:lnTo>
                    <a:cubicBezTo>
                      <a:pt x="8529" y="76200"/>
                      <a:pt x="0" y="67671"/>
                      <a:pt x="0" y="57150"/>
                    </a:cubicBezTo>
                    <a:lnTo>
                      <a:pt x="0" y="19050"/>
                    </a:lnTo>
                  </a:path>
                </a:pathLst>
              </a:custGeom>
              <a:noFill/>
              <a:ln w="19050">
                <a:solidFill>
                  <a:srgbClr val="FF957F"/>
                </a:solidFill>
              </a:ln>
            </p:spPr>
          </p:sp>
          <p:sp>
            <p:nvSpPr>
              <p:cNvPr id="27" name="Freeform 27"/>
              <p:cNvSpPr/>
              <p:nvPr/>
            </p:nvSpPr>
            <p:spPr>
              <a:xfrm>
                <a:off x="704850" y="2762250"/>
                <a:ext cx="9525" cy="19050"/>
              </a:xfrm>
              <a:custGeom>
                <a:avLst/>
                <a:gdLst/>
                <a:ahLst/>
                <a:cxnLst/>
                <a:rect l="l" t="t" r="r" b="b"/>
                <a:pathLst>
                  <a:path w="9525" h="19050">
                    <a:moveTo>
                      <a:pt x="0" y="0"/>
                    </a:moveTo>
                    <a:lnTo>
                      <a:pt x="0" y="19050"/>
                    </a:lnTo>
                  </a:path>
                </a:pathLst>
              </a:custGeom>
              <a:noFill/>
              <a:ln w="19050">
                <a:solidFill>
                  <a:srgbClr val="FF957F"/>
                </a:solidFill>
              </a:ln>
            </p:spPr>
          </p:sp>
          <p:sp>
            <p:nvSpPr>
              <p:cNvPr id="28" name="Freeform 28"/>
              <p:cNvSpPr/>
              <p:nvPr/>
            </p:nvSpPr>
            <p:spPr>
              <a:xfrm>
                <a:off x="676275" y="2857500"/>
                <a:ext cx="9525" cy="85725"/>
              </a:xfrm>
              <a:custGeom>
                <a:avLst/>
                <a:gdLst/>
                <a:ahLst/>
                <a:cxnLst/>
                <a:rect l="l" t="t" r="r" b="b"/>
                <a:pathLst>
                  <a:path w="9525" h="85725">
                    <a:moveTo>
                      <a:pt x="0" y="0"/>
                    </a:moveTo>
                    <a:lnTo>
                      <a:pt x="0" y="85725"/>
                    </a:lnTo>
                  </a:path>
                </a:pathLst>
              </a:custGeom>
              <a:noFill/>
              <a:ln w="19050">
                <a:solidFill>
                  <a:srgbClr val="FF957F"/>
                </a:solidFill>
              </a:ln>
            </p:spPr>
          </p:sp>
          <p:sp>
            <p:nvSpPr>
              <p:cNvPr id="29" name="Freeform 29"/>
              <p:cNvSpPr/>
              <p:nvPr/>
            </p:nvSpPr>
            <p:spPr>
              <a:xfrm>
                <a:off x="733425" y="2857500"/>
                <a:ext cx="9525" cy="85725"/>
              </a:xfrm>
              <a:custGeom>
                <a:avLst/>
                <a:gdLst/>
                <a:ahLst/>
                <a:cxnLst/>
                <a:rect l="l" t="t" r="r" b="b"/>
                <a:pathLst>
                  <a:path w="9525" h="85725">
                    <a:moveTo>
                      <a:pt x="0" y="0"/>
                    </a:moveTo>
                    <a:lnTo>
                      <a:pt x="0" y="85725"/>
                    </a:lnTo>
                  </a:path>
                </a:pathLst>
              </a:custGeom>
              <a:noFill/>
              <a:ln w="19050">
                <a:solidFill>
                  <a:srgbClr val="FF957F"/>
                </a:solidFill>
              </a:ln>
            </p:spPr>
          </p:sp>
          <p:sp>
            <p:nvSpPr>
              <p:cNvPr id="30" name="Freeform 30"/>
              <p:cNvSpPr/>
              <p:nvPr/>
            </p:nvSpPr>
            <p:spPr>
              <a:xfrm>
                <a:off x="638175" y="2876550"/>
                <a:ext cx="38100" cy="19050"/>
              </a:xfrm>
              <a:custGeom>
                <a:avLst/>
                <a:gdLst/>
                <a:ahLst/>
                <a:cxnLst/>
                <a:rect l="l" t="t" r="r" b="b"/>
                <a:pathLst>
                  <a:path w="38100" h="19050">
                    <a:moveTo>
                      <a:pt x="0" y="19050"/>
                    </a:moveTo>
                    <a:lnTo>
                      <a:pt x="38100" y="0"/>
                    </a:lnTo>
                  </a:path>
                </a:pathLst>
              </a:custGeom>
              <a:noFill/>
              <a:ln w="19050">
                <a:solidFill>
                  <a:srgbClr val="FF957F"/>
                </a:solidFill>
              </a:ln>
            </p:spPr>
          </p:sp>
          <p:sp>
            <p:nvSpPr>
              <p:cNvPr id="31" name="Freeform 31"/>
              <p:cNvSpPr/>
              <p:nvPr/>
            </p:nvSpPr>
            <p:spPr>
              <a:xfrm>
                <a:off x="733425" y="2876550"/>
                <a:ext cx="38100" cy="19050"/>
              </a:xfrm>
              <a:custGeom>
                <a:avLst/>
                <a:gdLst/>
                <a:ahLst/>
                <a:cxnLst/>
                <a:rect l="l" t="t" r="r" b="b"/>
                <a:pathLst>
                  <a:path w="38100" h="19050">
                    <a:moveTo>
                      <a:pt x="0" y="0"/>
                    </a:moveTo>
                    <a:lnTo>
                      <a:pt x="38100" y="19050"/>
                    </a:lnTo>
                  </a:path>
                </a:pathLst>
              </a:custGeom>
              <a:noFill/>
              <a:ln w="19050">
                <a:solidFill>
                  <a:srgbClr val="FF957F"/>
                </a:solidFill>
              </a:ln>
            </p:spPr>
          </p:sp>
          <p:sp>
            <p:nvSpPr>
              <p:cNvPr id="32" name="Freeform 32"/>
              <p:cNvSpPr/>
              <p:nvPr/>
            </p:nvSpPr>
            <p:spPr>
              <a:xfrm>
                <a:off x="676275" y="2914650"/>
                <a:ext cx="57150" cy="9525"/>
              </a:xfrm>
              <a:custGeom>
                <a:avLst/>
                <a:gdLst/>
                <a:ahLst/>
                <a:cxnLst/>
                <a:rect l="l" t="t" r="r" b="b"/>
                <a:pathLst>
                  <a:path w="57150" h="9525">
                    <a:moveTo>
                      <a:pt x="0" y="0"/>
                    </a:moveTo>
                    <a:lnTo>
                      <a:pt x="57150" y="0"/>
                    </a:lnTo>
                  </a:path>
                </a:pathLst>
              </a:custGeom>
              <a:noFill/>
              <a:ln w="19050">
                <a:solidFill>
                  <a:srgbClr val="FF957F"/>
                </a:solidFill>
              </a:ln>
            </p:spPr>
          </p:sp>
          <p:sp>
            <p:nvSpPr>
              <p:cNvPr id="33" name="Freeform 33"/>
              <p:cNvSpPr/>
              <p:nvPr/>
            </p:nvSpPr>
            <p:spPr>
              <a:xfrm>
                <a:off x="685800" y="2819400"/>
                <a:ext cx="9525" cy="9525"/>
              </a:xfrm>
              <a:custGeom>
                <a:avLst/>
                <a:gdLst/>
                <a:ahLst/>
                <a:cxnLst/>
                <a:rect l="l" t="t" r="r" b="b"/>
                <a:pathLst>
                  <a:path w="9525" h="9525">
                    <a:moveTo>
                      <a:pt x="0" y="0"/>
                    </a:moveTo>
                    <a:lnTo>
                      <a:pt x="0" y="95"/>
                    </a:lnTo>
                  </a:path>
                </a:pathLst>
              </a:custGeom>
              <a:noFill/>
              <a:ln w="19050">
                <a:solidFill>
                  <a:srgbClr val="FF957F"/>
                </a:solidFill>
              </a:ln>
            </p:spPr>
          </p:sp>
          <p:sp>
            <p:nvSpPr>
              <p:cNvPr id="34" name="Freeform 34"/>
              <p:cNvSpPr/>
              <p:nvPr/>
            </p:nvSpPr>
            <p:spPr>
              <a:xfrm>
                <a:off x="723900" y="2819400"/>
                <a:ext cx="9525" cy="9525"/>
              </a:xfrm>
              <a:custGeom>
                <a:avLst/>
                <a:gdLst/>
                <a:ahLst/>
                <a:cxnLst/>
                <a:rect l="l" t="t" r="r" b="b"/>
                <a:pathLst>
                  <a:path w="9525" h="9525">
                    <a:moveTo>
                      <a:pt x="0" y="0"/>
                    </a:moveTo>
                    <a:lnTo>
                      <a:pt x="0" y="95"/>
                    </a:lnTo>
                  </a:path>
                </a:pathLst>
              </a:custGeom>
              <a:noFill/>
              <a:ln w="19050">
                <a:solidFill>
                  <a:srgbClr val="FF957F"/>
                </a:solidFill>
              </a:ln>
            </p:spPr>
          </p:sp>
        </p:grpSp>
        <p:sp>
          <p:nvSpPr>
            <p:cNvPr id="36" name="TextBox 36"/>
            <p:cNvSpPr txBox="1"/>
            <p:nvPr/>
          </p:nvSpPr>
          <p:spPr>
            <a:xfrm>
              <a:off x="908685" y="2736056"/>
              <a:ext cx="1090221"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近4万架无人机​</a:t>
              </a:r>
            </a:p>
          </p:txBody>
        </p:sp>
        <p:sp>
          <p:nvSpPr>
            <p:cNvPr id="37" name="TextBox 37"/>
            <p:cNvSpPr txBox="1"/>
            <p:nvPr/>
          </p:nvSpPr>
          <p:spPr>
            <a:xfrm>
              <a:off x="909638" y="2971086"/>
              <a:ext cx="869747" cy="140494"/>
            </a:xfrm>
            <a:prstGeom prst="rect">
              <a:avLst/>
            </a:prstGeom>
            <a:noFill/>
            <a:ln>
              <a:noFill/>
            </a:ln>
          </p:spPr>
          <p:txBody>
            <a:bodyPr wrap="none" lIns="0" tIns="0" rIns="0" bIns="0" anchor="t" anchorCtr="0">
              <a:spAutoFit/>
            </a:bodyPr>
            <a:lstStyle/>
            <a:p>
              <a:pPr algn="l"/>
              <a:r>
                <a:rPr lang="zh-CN" sz="710" dirty="0">
                  <a:solidFill>
                    <a:srgbClr val="DCE9F8"/>
                  </a:solidFill>
                  <a:latin typeface="+mn-lt"/>
                  <a:ea typeface="+mn-ea"/>
                  <a:cs typeface="+mn-cs"/>
                </a:rPr>
                <a:t>形成规模化作业力量</a:t>
              </a:r>
            </a:p>
          </p:txBody>
        </p:sp>
        <p:sp>
          <p:nvSpPr>
            <p:cNvPr id="38" name="Rectangle 38"/>
            <p:cNvSpPr/>
            <p:nvPr/>
          </p:nvSpPr>
          <p:spPr>
            <a:xfrm>
              <a:off x="2457450" y="2571750"/>
              <a:ext cx="1866900" cy="609600"/>
            </a:xfrm>
            <a:prstGeom prst="roundRect">
              <a:avLst>
                <a:gd name="adj" fmla="val 9375"/>
              </a:avLst>
            </a:prstGeom>
            <a:solidFill>
              <a:srgbClr val="632012">
                <a:alpha val="85000"/>
              </a:srgbClr>
            </a:solidFill>
            <a:ln>
              <a:noFill/>
            </a:ln>
          </p:spPr>
        </p:sp>
        <p:sp>
          <p:nvSpPr>
            <p:cNvPr id="39" name="Freeform 39"/>
            <p:cNvSpPr/>
            <p:nvPr/>
          </p:nvSpPr>
          <p:spPr>
            <a:xfrm>
              <a:off x="2600325" y="2771775"/>
              <a:ext cx="133350" cy="171450"/>
            </a:xfrm>
            <a:custGeom>
              <a:avLst/>
              <a:gdLst/>
              <a:ahLst/>
              <a:cxnLst/>
              <a:rect l="l" t="t" r="r" b="b"/>
              <a:pathLst>
                <a:path w="133350" h="171450">
                  <a:moveTo>
                    <a:pt x="76200" y="0"/>
                  </a:moveTo>
                  <a:lnTo>
                    <a:pt x="76200" y="66675"/>
                  </a:lnTo>
                  <a:lnTo>
                    <a:pt x="133350" y="66675"/>
                  </a:lnTo>
                  <a:lnTo>
                    <a:pt x="57150" y="171450"/>
                  </a:lnTo>
                  <a:lnTo>
                    <a:pt x="57150" y="104775"/>
                  </a:lnTo>
                  <a:lnTo>
                    <a:pt x="0" y="104775"/>
                  </a:lnTo>
                  <a:lnTo>
                    <a:pt x="76200" y="0"/>
                  </a:lnTo>
                </a:path>
              </a:pathLst>
            </a:custGeom>
            <a:noFill/>
            <a:ln w="19050">
              <a:solidFill>
                <a:srgbClr val="FF957F"/>
              </a:solidFill>
            </a:ln>
          </p:spPr>
        </p:sp>
        <p:sp>
          <p:nvSpPr>
            <p:cNvPr id="40" name="TextBox 40"/>
            <p:cNvSpPr txBox="1"/>
            <p:nvPr/>
          </p:nvSpPr>
          <p:spPr>
            <a:xfrm>
              <a:off x="2871788" y="2670334"/>
              <a:ext cx="467233"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每年巡检约</a:t>
              </a:r>
            </a:p>
          </p:txBody>
        </p:sp>
        <p:sp>
          <p:nvSpPr>
            <p:cNvPr id="41" name="TextBox 41"/>
            <p:cNvSpPr txBox="1"/>
            <p:nvPr/>
          </p:nvSpPr>
          <p:spPr>
            <a:xfrm>
              <a:off x="2870835" y="2793206"/>
              <a:ext cx="1049889"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1000万基杆塔​</a:t>
              </a:r>
            </a:p>
          </p:txBody>
        </p:sp>
        <p:sp>
          <p:nvSpPr>
            <p:cNvPr id="42" name="TextBox 42"/>
            <p:cNvSpPr txBox="1"/>
            <p:nvPr/>
          </p:nvSpPr>
          <p:spPr>
            <a:xfrm>
              <a:off x="2871788" y="2994184"/>
              <a:ext cx="741858"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覆盖广泛电网资产</a:t>
              </a:r>
            </a:p>
          </p:txBody>
        </p:sp>
        <p:sp>
          <p:nvSpPr>
            <p:cNvPr id="43" name="Rectangle 43"/>
            <p:cNvSpPr/>
            <p:nvPr/>
          </p:nvSpPr>
          <p:spPr>
            <a:xfrm>
              <a:off x="4419600" y="2571750"/>
              <a:ext cx="1866900" cy="609600"/>
            </a:xfrm>
            <a:prstGeom prst="roundRect">
              <a:avLst>
                <a:gd name="adj" fmla="val 9375"/>
              </a:avLst>
            </a:prstGeom>
            <a:solidFill>
              <a:srgbClr val="632012">
                <a:alpha val="85000"/>
              </a:srgbClr>
            </a:solidFill>
            <a:ln>
              <a:noFill/>
            </a:ln>
          </p:spPr>
        </p:sp>
        <p:grpSp>
          <p:nvGrpSpPr>
            <p:cNvPr id="47" name="Group 47"/>
            <p:cNvGrpSpPr/>
            <p:nvPr/>
          </p:nvGrpSpPr>
          <p:grpSpPr>
            <a:xfrm>
              <a:off x="4572000" y="2771775"/>
              <a:ext cx="142875" cy="171450"/>
              <a:chOff x="4572000" y="2771775"/>
              <a:chExt cx="142875" cy="171450"/>
            </a:xfrm>
          </p:grpSpPr>
          <p:sp>
            <p:nvSpPr>
              <p:cNvPr id="44" name="Freeform 44"/>
              <p:cNvSpPr/>
              <p:nvPr/>
            </p:nvSpPr>
            <p:spPr>
              <a:xfrm>
                <a:off x="4591050" y="27717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957F"/>
                </a:solidFill>
              </a:ln>
            </p:spPr>
          </p:sp>
          <p:sp>
            <p:nvSpPr>
              <p:cNvPr id="45" name="Freeform 45"/>
              <p:cNvSpPr/>
              <p:nvPr/>
            </p:nvSpPr>
            <p:spPr>
              <a:xfrm>
                <a:off x="4572000" y="28860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FF957F"/>
                </a:solidFill>
              </a:ln>
            </p:spPr>
          </p:sp>
          <p:sp>
            <p:nvSpPr>
              <p:cNvPr id="46" name="Freeform 46"/>
              <p:cNvSpPr/>
              <p:nvPr/>
            </p:nvSpPr>
            <p:spPr>
              <a:xfrm>
                <a:off x="4657725" y="2905125"/>
                <a:ext cx="57150" cy="38100"/>
              </a:xfrm>
              <a:custGeom>
                <a:avLst/>
                <a:gdLst/>
                <a:ahLst/>
                <a:cxnLst/>
                <a:rect l="l" t="t" r="r" b="b"/>
                <a:pathLst>
                  <a:path w="57150" h="38100">
                    <a:moveTo>
                      <a:pt x="0" y="19050"/>
                    </a:moveTo>
                    <a:lnTo>
                      <a:pt x="19050" y="38100"/>
                    </a:lnTo>
                    <a:lnTo>
                      <a:pt x="57150" y="0"/>
                    </a:lnTo>
                  </a:path>
                </a:pathLst>
              </a:custGeom>
              <a:noFill/>
              <a:ln w="19050">
                <a:solidFill>
                  <a:srgbClr val="FF957F"/>
                </a:solidFill>
              </a:ln>
            </p:spPr>
          </p:sp>
        </p:grpSp>
        <p:sp>
          <p:nvSpPr>
            <p:cNvPr id="48" name="TextBox 48"/>
            <p:cNvSpPr txBox="1"/>
            <p:nvPr/>
          </p:nvSpPr>
          <p:spPr>
            <a:xfrm>
              <a:off x="4833938" y="2670334"/>
              <a:ext cx="558775"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人工登塔次数</a:t>
              </a:r>
            </a:p>
          </p:txBody>
        </p:sp>
        <p:sp>
          <p:nvSpPr>
            <p:cNvPr id="49" name="TextBox 49"/>
            <p:cNvSpPr txBox="1"/>
            <p:nvPr/>
          </p:nvSpPr>
          <p:spPr>
            <a:xfrm>
              <a:off x="4832985" y="2793206"/>
              <a:ext cx="69293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减少40%​</a:t>
              </a:r>
            </a:p>
          </p:txBody>
        </p:sp>
        <p:sp>
          <p:nvSpPr>
            <p:cNvPr id="50" name="TextBox 50"/>
            <p:cNvSpPr txBox="1"/>
            <p:nvPr/>
          </p:nvSpPr>
          <p:spPr>
            <a:xfrm>
              <a:off x="4833938" y="2994184"/>
              <a:ext cx="741858"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显著降低作业风险</a:t>
              </a:r>
            </a:p>
          </p:txBody>
        </p:sp>
        <p:sp>
          <p:nvSpPr>
            <p:cNvPr id="51" name="Rectangle 51"/>
            <p:cNvSpPr/>
            <p:nvPr/>
          </p:nvSpPr>
          <p:spPr>
            <a:xfrm>
              <a:off x="6381750" y="2571750"/>
              <a:ext cx="1847850" cy="609600"/>
            </a:xfrm>
            <a:prstGeom prst="roundRect">
              <a:avLst>
                <a:gd name="adj" fmla="val 9375"/>
              </a:avLst>
            </a:prstGeom>
            <a:solidFill>
              <a:srgbClr val="632012">
                <a:alpha val="85000"/>
              </a:srgbClr>
            </a:solidFill>
            <a:ln>
              <a:noFill/>
            </a:ln>
          </p:spPr>
        </p:sp>
        <p:grpSp>
          <p:nvGrpSpPr>
            <p:cNvPr id="54" name="Group 54"/>
            <p:cNvGrpSpPr/>
            <p:nvPr/>
          </p:nvGrpSpPr>
          <p:grpSpPr>
            <a:xfrm>
              <a:off x="6515100" y="2800350"/>
              <a:ext cx="152400" cy="133350"/>
              <a:chOff x="6515100" y="2800350"/>
              <a:chExt cx="152400" cy="133350"/>
            </a:xfrm>
          </p:grpSpPr>
          <p:sp>
            <p:nvSpPr>
              <p:cNvPr id="52" name="Freeform 52"/>
              <p:cNvSpPr/>
              <p:nvPr/>
            </p:nvSpPr>
            <p:spPr>
              <a:xfrm>
                <a:off x="6515100" y="2924175"/>
                <a:ext cx="152400" cy="9525"/>
              </a:xfrm>
              <a:custGeom>
                <a:avLst/>
                <a:gdLst/>
                <a:ahLst/>
                <a:cxnLst/>
                <a:rect l="l" t="t" r="r" b="b"/>
                <a:pathLst>
                  <a:path w="152400" h="9525">
                    <a:moveTo>
                      <a:pt x="0" y="0"/>
                    </a:moveTo>
                    <a:lnTo>
                      <a:pt x="152400" y="0"/>
                    </a:lnTo>
                  </a:path>
                </a:pathLst>
              </a:custGeom>
              <a:noFill/>
              <a:ln w="19050">
                <a:solidFill>
                  <a:srgbClr val="FF957F"/>
                </a:solidFill>
              </a:ln>
            </p:spPr>
          </p:sp>
          <p:sp>
            <p:nvSpPr>
              <p:cNvPr id="53" name="Freeform 53"/>
              <p:cNvSpPr/>
              <p:nvPr/>
            </p:nvSpPr>
            <p:spPr>
              <a:xfrm>
                <a:off x="6515100" y="28003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957F"/>
                </a:solidFill>
              </a:ln>
            </p:spPr>
          </p:sp>
        </p:grpSp>
        <p:sp>
          <p:nvSpPr>
            <p:cNvPr id="55" name="TextBox 55"/>
            <p:cNvSpPr txBox="1"/>
            <p:nvPr/>
          </p:nvSpPr>
          <p:spPr>
            <a:xfrm>
              <a:off x="6796088" y="2670334"/>
              <a:ext cx="375691"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巡检效率</a:t>
              </a:r>
            </a:p>
          </p:txBody>
        </p:sp>
        <p:sp>
          <p:nvSpPr>
            <p:cNvPr id="56" name="TextBox 56"/>
            <p:cNvSpPr txBox="1"/>
            <p:nvPr/>
          </p:nvSpPr>
          <p:spPr>
            <a:xfrm>
              <a:off x="6795135" y="2793206"/>
              <a:ext cx="93944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提升2倍以上​</a:t>
              </a:r>
            </a:p>
          </p:txBody>
        </p:sp>
        <p:sp>
          <p:nvSpPr>
            <p:cNvPr id="57" name="TextBox 57"/>
            <p:cNvSpPr txBox="1"/>
            <p:nvPr/>
          </p:nvSpPr>
          <p:spPr>
            <a:xfrm>
              <a:off x="6796088" y="2994184"/>
              <a:ext cx="833399"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支撑电网高质量运维</a:t>
              </a:r>
            </a:p>
          </p:txBody>
        </p:sp>
        <p:sp>
          <p:nvSpPr>
            <p:cNvPr id="58" name="Rectangle 58"/>
            <p:cNvSpPr/>
            <p:nvPr/>
          </p:nvSpPr>
          <p:spPr>
            <a:xfrm>
              <a:off x="6153150" y="3219450"/>
              <a:ext cx="2076450" cy="152400"/>
            </a:xfrm>
            <a:prstGeom prst="roundRect">
              <a:avLst>
                <a:gd name="adj" fmla="val 50000"/>
              </a:avLst>
            </a:prstGeom>
            <a:solidFill>
              <a:srgbClr val="6F2516"/>
            </a:solidFill>
            <a:ln>
              <a:noFill/>
            </a:ln>
          </p:spPr>
        </p:sp>
        <p:sp>
          <p:nvSpPr>
            <p:cNvPr id="59" name="TextBox 59"/>
            <p:cNvSpPr txBox="1"/>
            <p:nvPr/>
          </p:nvSpPr>
          <p:spPr>
            <a:xfrm>
              <a:off x="6243638" y="3260884"/>
              <a:ext cx="375691"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证据等级</a:t>
              </a:r>
            </a:p>
          </p:txBody>
        </p:sp>
        <p:sp>
          <p:nvSpPr>
            <p:cNvPr id="60" name="TextBox 60"/>
            <p:cNvSpPr txBox="1"/>
            <p:nvPr/>
          </p:nvSpPr>
          <p:spPr>
            <a:xfrm>
              <a:off x="6662738" y="3254216"/>
              <a:ext cx="145640" cy="161925"/>
            </a:xfrm>
            <a:prstGeom prst="rect">
              <a:avLst/>
            </a:prstGeom>
            <a:noFill/>
            <a:ln>
              <a:noFill/>
            </a:ln>
          </p:spPr>
          <p:txBody>
            <a:bodyPr wrap="none" lIns="0" tIns="0" rIns="0" bIns="0" anchor="t" anchorCtr="0">
              <a:spAutoFit/>
            </a:bodyPr>
            <a:lstStyle/>
            <a:p>
              <a:pPr algn="l"/>
              <a:r>
                <a:rPr lang="en-US" sz="820" b="1" dirty="0">
                  <a:solidFill>
                    <a:srgbClr val="FF957F"/>
                  </a:solidFill>
                  <a:latin typeface="Arial"/>
                  <a:ea typeface="Arial"/>
                  <a:cs typeface="Arial"/>
                </a:rPr>
                <a:t>L4</a:t>
              </a:r>
            </a:p>
          </p:txBody>
        </p:sp>
        <p:sp>
          <p:nvSpPr>
            <p:cNvPr id="61" name="TextBox 61"/>
            <p:cNvSpPr txBox="1"/>
            <p:nvPr/>
          </p:nvSpPr>
          <p:spPr>
            <a:xfrm>
              <a:off x="6872288" y="3260884"/>
              <a:ext cx="1016483" cy="133350"/>
            </a:xfrm>
            <a:prstGeom prst="rect">
              <a:avLst/>
            </a:prstGeom>
            <a:noFill/>
            <a:ln>
              <a:noFill/>
            </a:ln>
          </p:spPr>
          <p:txBody>
            <a:bodyPr wrap="none" lIns="0" tIns="0" rIns="0" bIns="0" anchor="t" anchorCtr="0">
              <a:spAutoFit/>
            </a:bodyPr>
            <a:lstStyle/>
            <a:p>
              <a:pPr algn="l"/>
              <a:r>
                <a:rPr lang="zh-CN" sz="680" dirty="0">
                  <a:solidFill>
                    <a:srgbClr val="FFFFFF"/>
                  </a:solidFill>
                  <a:latin typeface="+mn-lt"/>
                  <a:ea typeface="+mn-ea"/>
                  <a:cs typeface="+mn-cs"/>
                </a:rPr>
                <a:t>基于公开信息整理与验证</a:t>
              </a:r>
            </a:p>
          </p:txBody>
        </p:sp>
      </p:grpSp>
      <p:grpSp>
        <p:nvGrpSpPr>
          <p:cNvPr id="69" name="flow-band"/>
          <p:cNvGrpSpPr/>
          <p:nvPr/>
        </p:nvGrpSpPr>
        <p:grpSpPr>
          <a:xfrm>
            <a:off x="381000" y="3524250"/>
            <a:ext cx="7962900" cy="244078"/>
            <a:chOff x="381000" y="3524250"/>
            <a:chExt cx="7962900" cy="244078"/>
          </a:xfrm>
        </p:grpSpPr>
        <p:sp>
          <p:nvSpPr>
            <p:cNvPr id="63" name="Rectangle 63"/>
            <p:cNvSpPr/>
            <p:nvPr/>
          </p:nvSpPr>
          <p:spPr>
            <a:xfrm>
              <a:off x="381000" y="3524250"/>
              <a:ext cx="7962900" cy="228600"/>
            </a:xfrm>
            <a:prstGeom prst="roundRect">
              <a:avLst>
                <a:gd name="adj" fmla="val 16667"/>
              </a:avLst>
            </a:prstGeom>
            <a:solidFill>
              <a:srgbClr val="EFF5FC"/>
            </a:solidFill>
            <a:ln w="9525">
              <a:solidFill>
                <a:srgbClr val="C7D9F0"/>
              </a:solidFill>
            </a:ln>
          </p:spPr>
        </p:sp>
        <p:grpSp>
          <p:nvGrpSpPr>
            <p:cNvPr id="66" name="Group 66"/>
            <p:cNvGrpSpPr/>
            <p:nvPr/>
          </p:nvGrpSpPr>
          <p:grpSpPr>
            <a:xfrm>
              <a:off x="510546" y="3587121"/>
              <a:ext cx="112383" cy="112383"/>
              <a:chOff x="510546" y="3587121"/>
              <a:chExt cx="112383" cy="112383"/>
            </a:xfrm>
          </p:grpSpPr>
          <p:sp>
            <p:nvSpPr>
              <p:cNvPr id="64" name="Freeform 64"/>
              <p:cNvSpPr/>
              <p:nvPr/>
            </p:nvSpPr>
            <p:spPr>
              <a:xfrm>
                <a:off x="510546" y="3587121"/>
                <a:ext cx="112383" cy="112383"/>
              </a:xfrm>
              <a:custGeom>
                <a:avLst/>
                <a:gdLst/>
                <a:ahLst/>
                <a:cxnLst/>
                <a:rect l="l" t="t" r="r" b="b"/>
                <a:pathLst>
                  <a:path w="112383" h="112383">
                    <a:moveTo>
                      <a:pt x="46220" y="10454"/>
                    </a:moveTo>
                    <a:cubicBezTo>
                      <a:pt x="48756" y="0"/>
                      <a:pt x="63627" y="0"/>
                      <a:pt x="66163" y="10454"/>
                    </a:cubicBezTo>
                    <a:cubicBezTo>
                      <a:pt x="66935" y="13639"/>
                      <a:pt x="69181" y="16264"/>
                      <a:pt x="72209" y="17519"/>
                    </a:cubicBezTo>
                    <a:cubicBezTo>
                      <a:pt x="75237" y="18773"/>
                      <a:pt x="78682" y="18506"/>
                      <a:pt x="81480" y="16800"/>
                    </a:cubicBezTo>
                    <a:cubicBezTo>
                      <a:pt x="90666" y="11204"/>
                      <a:pt x="101185" y="21717"/>
                      <a:pt x="95589" y="30909"/>
                    </a:cubicBezTo>
                    <a:cubicBezTo>
                      <a:pt x="93886" y="33706"/>
                      <a:pt x="93619" y="37148"/>
                      <a:pt x="94872" y="40174"/>
                    </a:cubicBezTo>
                    <a:cubicBezTo>
                      <a:pt x="96125" y="43200"/>
                      <a:pt x="98747" y="45446"/>
                      <a:pt x="101929" y="46220"/>
                    </a:cubicBezTo>
                    <a:cubicBezTo>
                      <a:pt x="112383" y="48756"/>
                      <a:pt x="112383" y="63627"/>
                      <a:pt x="101929" y="66163"/>
                    </a:cubicBezTo>
                    <a:cubicBezTo>
                      <a:pt x="98744" y="66935"/>
                      <a:pt x="96119" y="69181"/>
                      <a:pt x="94865" y="72209"/>
                    </a:cubicBezTo>
                    <a:cubicBezTo>
                      <a:pt x="93610" y="75237"/>
                      <a:pt x="93877" y="78682"/>
                      <a:pt x="95583" y="81480"/>
                    </a:cubicBezTo>
                    <a:cubicBezTo>
                      <a:pt x="101179" y="90666"/>
                      <a:pt x="90666" y="101185"/>
                      <a:pt x="81474" y="95589"/>
                    </a:cubicBezTo>
                    <a:cubicBezTo>
                      <a:pt x="78677" y="93886"/>
                      <a:pt x="75235" y="93619"/>
                      <a:pt x="72209" y="94872"/>
                    </a:cubicBezTo>
                    <a:cubicBezTo>
                      <a:pt x="69183" y="96125"/>
                      <a:pt x="66937" y="98747"/>
                      <a:pt x="66163" y="101929"/>
                    </a:cubicBezTo>
                    <a:cubicBezTo>
                      <a:pt x="63627" y="112383"/>
                      <a:pt x="48756" y="112383"/>
                      <a:pt x="46220" y="101929"/>
                    </a:cubicBezTo>
                    <a:cubicBezTo>
                      <a:pt x="45448" y="98744"/>
                      <a:pt x="43202" y="96119"/>
                      <a:pt x="40174" y="94865"/>
                    </a:cubicBezTo>
                    <a:cubicBezTo>
                      <a:pt x="37146" y="93610"/>
                      <a:pt x="33701" y="93877"/>
                      <a:pt x="30903" y="95583"/>
                    </a:cubicBezTo>
                    <a:cubicBezTo>
                      <a:pt x="21717" y="101179"/>
                      <a:pt x="11198" y="90666"/>
                      <a:pt x="16794" y="81474"/>
                    </a:cubicBezTo>
                    <a:cubicBezTo>
                      <a:pt x="18497" y="78677"/>
                      <a:pt x="18764" y="75235"/>
                      <a:pt x="17511" y="72209"/>
                    </a:cubicBezTo>
                    <a:cubicBezTo>
                      <a:pt x="16258" y="69183"/>
                      <a:pt x="13636" y="66937"/>
                      <a:pt x="10454" y="66163"/>
                    </a:cubicBezTo>
                    <a:cubicBezTo>
                      <a:pt x="0" y="63627"/>
                      <a:pt x="0" y="48756"/>
                      <a:pt x="10454" y="46220"/>
                    </a:cubicBezTo>
                    <a:cubicBezTo>
                      <a:pt x="13639" y="45448"/>
                      <a:pt x="16264" y="43202"/>
                      <a:pt x="17519" y="40174"/>
                    </a:cubicBezTo>
                    <a:cubicBezTo>
                      <a:pt x="18773" y="37146"/>
                      <a:pt x="18506" y="33701"/>
                      <a:pt x="16800" y="30903"/>
                    </a:cubicBezTo>
                    <a:cubicBezTo>
                      <a:pt x="11204" y="21717"/>
                      <a:pt x="21717" y="11198"/>
                      <a:pt x="30909" y="16794"/>
                    </a:cubicBezTo>
                    <a:cubicBezTo>
                      <a:pt x="36862" y="20413"/>
                      <a:pt x="44577" y="17210"/>
                      <a:pt x="46220" y="10454"/>
                    </a:cubicBezTo>
                  </a:path>
                </a:pathLst>
              </a:custGeom>
              <a:noFill/>
              <a:ln w="11906">
                <a:solidFill>
                  <a:srgbClr val="9C331E"/>
                </a:solidFill>
              </a:ln>
            </p:spPr>
          </p:sp>
          <p:sp>
            <p:nvSpPr>
              <p:cNvPr id="65" name="Freeform 65"/>
              <p:cNvSpPr/>
              <p:nvPr/>
            </p:nvSpPr>
            <p:spPr>
              <a:xfrm>
                <a:off x="548878" y="3625453"/>
                <a:ext cx="35719" cy="35719"/>
              </a:xfrm>
              <a:custGeom>
                <a:avLst/>
                <a:gdLst/>
                <a:ahLst/>
                <a:cxnLst/>
                <a:rect l="l" t="t" r="r" b="b"/>
                <a:pathLst>
                  <a:path w="35719" h="35719">
                    <a:moveTo>
                      <a:pt x="0" y="17859"/>
                    </a:moveTo>
                    <a:cubicBezTo>
                      <a:pt x="0" y="27723"/>
                      <a:pt x="7996" y="35719"/>
                      <a:pt x="17859" y="35719"/>
                    </a:cubicBezTo>
                    <a:cubicBezTo>
                      <a:pt x="27723" y="35719"/>
                      <a:pt x="35719" y="27723"/>
                      <a:pt x="35719" y="17859"/>
                    </a:cubicBezTo>
                    <a:cubicBezTo>
                      <a:pt x="35719" y="7996"/>
                      <a:pt x="27723" y="0"/>
                      <a:pt x="17859" y="0"/>
                    </a:cubicBezTo>
                    <a:cubicBezTo>
                      <a:pt x="7996" y="0"/>
                      <a:pt x="0" y="7996"/>
                      <a:pt x="0" y="17859"/>
                    </a:cubicBezTo>
                  </a:path>
                </a:pathLst>
              </a:custGeom>
              <a:noFill/>
              <a:ln w="11906">
                <a:solidFill>
                  <a:srgbClr val="9C331E"/>
                </a:solidFill>
              </a:ln>
            </p:spPr>
          </p:sp>
        </p:grpSp>
        <p:sp>
          <p:nvSpPr>
            <p:cNvPr id="67" name="TextBox 67"/>
            <p:cNvSpPr txBox="1"/>
            <p:nvPr/>
          </p:nvSpPr>
          <p:spPr>
            <a:xfrm>
              <a:off x="700088" y="3584972"/>
              <a:ext cx="1528039"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从任务到价值的全流程闭环</a:t>
              </a:r>
            </a:p>
          </p:txBody>
        </p:sp>
        <p:sp>
          <p:nvSpPr>
            <p:cNvPr id="68" name="TextBox 68"/>
            <p:cNvSpPr txBox="1"/>
            <p:nvPr/>
          </p:nvSpPr>
          <p:spPr>
            <a:xfrm>
              <a:off x="7021065" y="3613309"/>
              <a:ext cx="1213297" cy="133350"/>
            </a:xfrm>
            <a:prstGeom prst="rect">
              <a:avLst/>
            </a:prstGeom>
            <a:noFill/>
            <a:ln>
              <a:noFill/>
            </a:ln>
          </p:spPr>
          <p:txBody>
            <a:bodyPr wrap="none" lIns="0" tIns="0" rIns="0" bIns="0" anchor="t" anchorCtr="0">
              <a:spAutoFit/>
            </a:bodyPr>
            <a:lstStyle/>
            <a:p>
              <a:pPr algn="r"/>
              <a:r>
                <a:rPr lang="zh-CN" sz="680" dirty="0">
                  <a:solidFill>
                    <a:srgbClr val="9C331E"/>
                  </a:solidFill>
                  <a:latin typeface="+mn-lt"/>
                  <a:ea typeface="+mn-ea"/>
                  <a:cs typeface="+mn-cs"/>
                </a:rPr>
                <a:t>数据驱动运维 · 巡检创造价值</a:t>
              </a:r>
            </a:p>
          </p:txBody>
        </p:sp>
      </p:grpSp>
      <p:grpSp>
        <p:nvGrpSpPr>
          <p:cNvPr id="81" name="step-1"/>
          <p:cNvGrpSpPr/>
          <p:nvPr/>
        </p:nvGrpSpPr>
        <p:grpSpPr>
          <a:xfrm>
            <a:off x="381000" y="3810000"/>
            <a:ext cx="1447800" cy="1600200"/>
            <a:chOff x="381000" y="3810000"/>
            <a:chExt cx="1447800" cy="1600200"/>
          </a:xfrm>
        </p:grpSpPr>
        <p:sp>
          <p:nvSpPr>
            <p:cNvPr id="70" name="Rectangle 70"/>
            <p:cNvSpPr/>
            <p:nvPr/>
          </p:nvSpPr>
          <p:spPr>
            <a:xfrm>
              <a:off x="381000" y="3810000"/>
              <a:ext cx="1447800" cy="1600200"/>
            </a:xfrm>
            <a:prstGeom prst="roundRect">
              <a:avLst>
                <a:gd name="adj" fmla="val 3947"/>
              </a:avLst>
            </a:prstGeom>
            <a:solidFill>
              <a:srgbClr val="FFFFFF"/>
            </a:solidFill>
            <a:ln w="9525">
              <a:solidFill>
                <a:srgbClr val="C7D9F0"/>
              </a:solidFill>
            </a:ln>
          </p:spPr>
        </p:sp>
        <p:sp>
          <p:nvSpPr>
            <p:cNvPr id="71" name="Rectangle 71"/>
            <p:cNvSpPr/>
            <p:nvPr/>
          </p:nvSpPr>
          <p:spPr>
            <a:xfrm>
              <a:off x="457200" y="3886200"/>
              <a:ext cx="1295400" cy="590550"/>
            </a:xfrm>
            <a:prstGeom prst="roundRect">
              <a:avLst>
                <a:gd name="adj" fmla="val 6452"/>
              </a:avLst>
            </a:prstGeom>
            <a:solidFill>
              <a:srgbClr val="DCE9F8"/>
            </a:solidFill>
            <a:ln>
              <a:noFill/>
            </a:ln>
          </p:spPr>
        </p:sp>
        <p:sp>
          <p:nvSpPr>
            <p:cNvPr id="72" name="Freeform 72"/>
            <p:cNvSpPr/>
            <p:nvPr/>
          </p:nvSpPr>
          <p:spPr>
            <a:xfrm>
              <a:off x="552450" y="4038600"/>
              <a:ext cx="1104900" cy="323850"/>
            </a:xfrm>
            <a:custGeom>
              <a:avLst/>
              <a:gdLst/>
              <a:ahLst/>
              <a:cxnLst/>
              <a:rect l="l" t="t" r="r" b="b"/>
              <a:pathLst>
                <a:path w="1104900" h="323850">
                  <a:moveTo>
                    <a:pt x="0" y="323850"/>
                  </a:moveTo>
                  <a:lnTo>
                    <a:pt x="1104900" y="323850"/>
                  </a:lnTo>
                  <a:moveTo>
                    <a:pt x="0" y="152400"/>
                  </a:moveTo>
                  <a:cubicBezTo>
                    <a:pt x="304800" y="0"/>
                    <a:pt x="685800" y="228600"/>
                    <a:pt x="1104900" y="76200"/>
                  </a:cubicBezTo>
                </a:path>
              </a:pathLst>
            </a:custGeom>
            <a:noFill/>
            <a:ln w="14288">
              <a:solidFill>
                <a:srgbClr val="D64A2E"/>
              </a:solidFill>
              <a:custDash>
                <a:ds d="266667" sp="200000"/>
              </a:custDash>
            </a:ln>
          </p:spPr>
        </p:sp>
        <p:sp>
          <p:nvSpPr>
            <p:cNvPr id="73" name="Ellipse 73"/>
            <p:cNvSpPr/>
            <p:nvPr/>
          </p:nvSpPr>
          <p:spPr>
            <a:xfrm>
              <a:off x="628650" y="4248150"/>
              <a:ext cx="76200" cy="76200"/>
            </a:xfrm>
            <a:prstGeom prst="ellipse">
              <a:avLst/>
            </a:prstGeom>
            <a:solidFill>
              <a:srgbClr val="9C331E"/>
            </a:solidFill>
            <a:ln>
              <a:noFill/>
            </a:ln>
          </p:spPr>
        </p:sp>
        <p:sp>
          <p:nvSpPr>
            <p:cNvPr id="74" name="Ellipse 74"/>
            <p:cNvSpPr/>
            <p:nvPr/>
          </p:nvSpPr>
          <p:spPr>
            <a:xfrm>
              <a:off x="1104900" y="4152900"/>
              <a:ext cx="76200" cy="76200"/>
            </a:xfrm>
            <a:prstGeom prst="ellipse">
              <a:avLst/>
            </a:prstGeom>
            <a:solidFill>
              <a:srgbClr val="9C331E"/>
            </a:solidFill>
            <a:ln>
              <a:noFill/>
            </a:ln>
          </p:spPr>
        </p:sp>
        <p:sp>
          <p:nvSpPr>
            <p:cNvPr id="75" name="Ellipse 75"/>
            <p:cNvSpPr/>
            <p:nvPr/>
          </p:nvSpPr>
          <p:spPr>
            <a:xfrm>
              <a:off x="1485900" y="4095750"/>
              <a:ext cx="76200" cy="76200"/>
            </a:xfrm>
            <a:prstGeom prst="ellipse">
              <a:avLst/>
            </a:prstGeom>
            <a:solidFill>
              <a:srgbClr val="9C331E"/>
            </a:solidFill>
            <a:ln>
              <a:noFill/>
            </a:ln>
          </p:spPr>
        </p:sp>
        <p:grpSp>
          <p:nvGrpSpPr>
            <p:cNvPr id="78" name="Group 78"/>
            <p:cNvGrpSpPr/>
            <p:nvPr/>
          </p:nvGrpSpPr>
          <p:grpSpPr>
            <a:xfrm>
              <a:off x="627485" y="3955681"/>
              <a:ext cx="97580" cy="108129"/>
              <a:chOff x="627485" y="3955681"/>
              <a:chExt cx="97580" cy="108129"/>
            </a:xfrm>
          </p:grpSpPr>
          <p:sp>
            <p:nvSpPr>
              <p:cNvPr id="76" name="Freeform 76"/>
              <p:cNvSpPr/>
              <p:nvPr/>
            </p:nvSpPr>
            <p:spPr>
              <a:xfrm>
                <a:off x="659606" y="3987800"/>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9C331E"/>
                </a:solidFill>
              </a:ln>
            </p:spPr>
          </p:sp>
          <p:sp>
            <p:nvSpPr>
              <p:cNvPr id="77" name="Freeform 77"/>
              <p:cNvSpPr/>
              <p:nvPr/>
            </p:nvSpPr>
            <p:spPr>
              <a:xfrm>
                <a:off x="627485" y="3955681"/>
                <a:ext cx="97580" cy="108129"/>
              </a:xfrm>
              <a:custGeom>
                <a:avLst/>
                <a:gdLst/>
                <a:ahLst/>
                <a:cxnLst/>
                <a:rect l="l" t="t" r="r" b="b"/>
                <a:pathLst>
                  <a:path w="97580" h="108129">
                    <a:moveTo>
                      <a:pt x="80222" y="80220"/>
                    </a:moveTo>
                    <a:lnTo>
                      <a:pt x="56646" y="103795"/>
                    </a:lnTo>
                    <a:cubicBezTo>
                      <a:pt x="52308" y="108129"/>
                      <a:pt x="45278" y="108129"/>
                      <a:pt x="40939" y="103795"/>
                    </a:cubicBezTo>
                    <a:lnTo>
                      <a:pt x="17358" y="80220"/>
                    </a:lnTo>
                    <a:cubicBezTo>
                      <a:pt x="0" y="62861"/>
                      <a:pt x="0" y="34717"/>
                      <a:pt x="17359" y="17358"/>
                    </a:cubicBezTo>
                    <a:cubicBezTo>
                      <a:pt x="34718" y="0"/>
                      <a:pt x="62862" y="0"/>
                      <a:pt x="80220" y="17358"/>
                    </a:cubicBezTo>
                    <a:cubicBezTo>
                      <a:pt x="97579" y="34717"/>
                      <a:pt x="97580" y="62861"/>
                      <a:pt x="80222" y="80220"/>
                    </a:cubicBezTo>
                  </a:path>
                </a:pathLst>
              </a:custGeom>
              <a:noFill/>
              <a:ln w="11112">
                <a:solidFill>
                  <a:srgbClr val="9C331E"/>
                </a:solidFill>
              </a:ln>
            </p:spPr>
          </p:sp>
        </p:grpSp>
        <p:sp>
          <p:nvSpPr>
            <p:cNvPr id="79" name="TextBox 79"/>
            <p:cNvSpPr txBox="1"/>
            <p:nvPr/>
          </p:nvSpPr>
          <p:spPr>
            <a:xfrm>
              <a:off x="847052" y="4546997"/>
              <a:ext cx="515696" cy="183356"/>
            </a:xfrm>
            <a:prstGeom prst="rect">
              <a:avLst/>
            </a:prstGeom>
            <a:noFill/>
            <a:ln>
              <a:noFill/>
            </a:ln>
          </p:spPr>
          <p:txBody>
            <a:bodyPr wrap="none" lIns="0" tIns="0" rIns="0" bIns="0" anchor="t" anchorCtr="0">
              <a:spAutoFit/>
            </a:bodyPr>
            <a:lstStyle/>
            <a:p>
              <a:pPr algn="ctr"/>
              <a:r>
                <a:rPr lang="zh-CN" sz="940" b="1" dirty="0">
                  <a:solidFill>
                    <a:srgbClr val="5E2114"/>
                  </a:solidFill>
                  <a:latin typeface="+mn-lt"/>
                  <a:ea typeface="+mn-ea"/>
                  <a:cs typeface="+mn-cs"/>
                </a:rPr>
                <a:t>任务规划</a:t>
              </a:r>
            </a:p>
          </p:txBody>
        </p:sp>
        <p:sp>
          <p:nvSpPr>
            <p:cNvPr id="80" name="TextBox 80"/>
            <p:cNvSpPr txBox="1"/>
            <p:nvPr/>
          </p:nvSpPr>
          <p:spPr>
            <a:xfrm>
              <a:off x="601408" y="4765834"/>
              <a:ext cx="1006983"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573F3A"/>
                  </a:solidFill>
                  <a:latin typeface="+mn-lt"/>
                  <a:ea typeface="+mn-ea"/>
                  <a:cs typeface="+mn-cs"/>
                </a:rPr>
                <a:t>基于电网资产与环境数据​</a:t>
              </a:r>
              <a:br/>
              <a:r>
                <a:rPr lang="zh-CN" sz="680" dirty="0">
                  <a:solidFill>
                    <a:srgbClr val="573F3A"/>
                  </a:solidFill>
                  <a:latin typeface="+mn-lt"/>
                  <a:ea typeface="+mn-ea"/>
                  <a:cs typeface="+mn-cs"/>
                </a:rPr>
                <a:t>智能规划航线</a:t>
              </a:r>
            </a:p>
          </p:txBody>
        </p:sp>
      </p:grpSp>
      <p:grpSp>
        <p:nvGrpSpPr>
          <p:cNvPr id="90" name="step-2"/>
          <p:cNvGrpSpPr/>
          <p:nvPr/>
        </p:nvGrpSpPr>
        <p:grpSpPr>
          <a:xfrm>
            <a:off x="2009775" y="3810000"/>
            <a:ext cx="1447800" cy="1600200"/>
            <a:chOff x="2009775" y="3810000"/>
            <a:chExt cx="1447800" cy="1600200"/>
          </a:xfrm>
        </p:grpSpPr>
        <p:sp>
          <p:nvSpPr>
            <p:cNvPr id="82" name="Rectangle 82"/>
            <p:cNvSpPr/>
            <p:nvPr/>
          </p:nvSpPr>
          <p:spPr>
            <a:xfrm>
              <a:off x="2009775" y="3810000"/>
              <a:ext cx="1447800" cy="1600200"/>
            </a:xfrm>
            <a:prstGeom prst="roundRect">
              <a:avLst>
                <a:gd name="adj" fmla="val 3947"/>
              </a:avLst>
            </a:prstGeom>
            <a:solidFill>
              <a:srgbClr val="FFFFFF"/>
            </a:solidFill>
            <a:ln w="9525">
              <a:solidFill>
                <a:srgbClr val="C7D9F0"/>
              </a:solidFill>
            </a:ln>
          </p:spPr>
        </p:sp>
        <p:sp>
          <p:nvSpPr>
            <p:cNvPr id="83" name="Rectangle 83"/>
            <p:cNvSpPr/>
            <p:nvPr/>
          </p:nvSpPr>
          <p:spPr>
            <a:xfrm>
              <a:off x="2085975" y="3886200"/>
              <a:ext cx="1295400" cy="590550"/>
            </a:xfrm>
            <a:prstGeom prst="roundRect">
              <a:avLst>
                <a:gd name="adj" fmla="val 6452"/>
              </a:avLst>
            </a:prstGeom>
            <a:solidFill>
              <a:srgbClr val="DCE9F8"/>
            </a:solidFill>
            <a:ln>
              <a:noFill/>
            </a:ln>
          </p:spPr>
        </p:sp>
        <p:sp>
          <p:nvSpPr>
            <p:cNvPr id="84" name="Freeform 84"/>
            <p:cNvSpPr/>
            <p:nvPr/>
          </p:nvSpPr>
          <p:spPr>
            <a:xfrm>
              <a:off x="2152650" y="4076700"/>
              <a:ext cx="647700" cy="304800"/>
            </a:xfrm>
            <a:custGeom>
              <a:avLst/>
              <a:gdLst/>
              <a:ahLst/>
              <a:cxnLst/>
              <a:rect l="l" t="t" r="r" b="b"/>
              <a:pathLst>
                <a:path w="647700" h="304800">
                  <a:moveTo>
                    <a:pt x="0" y="266700"/>
                  </a:moveTo>
                  <a:lnTo>
                    <a:pt x="190500" y="0"/>
                  </a:lnTo>
                  <a:moveTo>
                    <a:pt x="228600" y="304800"/>
                  </a:moveTo>
                  <a:lnTo>
                    <a:pt x="419100" y="38100"/>
                  </a:lnTo>
                  <a:moveTo>
                    <a:pt x="457200" y="266700"/>
                  </a:moveTo>
                  <a:lnTo>
                    <a:pt x="647700" y="0"/>
                  </a:lnTo>
                </a:path>
              </a:pathLst>
            </a:custGeom>
            <a:noFill/>
            <a:ln w="19050">
              <a:solidFill>
                <a:srgbClr val="DE715B"/>
              </a:solidFill>
            </a:ln>
          </p:spPr>
        </p:sp>
        <p:sp>
          <p:nvSpPr>
            <p:cNvPr id="85" name="Rectangle 85"/>
            <p:cNvSpPr/>
            <p:nvPr/>
          </p:nvSpPr>
          <p:spPr>
            <a:xfrm>
              <a:off x="2495550" y="4152900"/>
              <a:ext cx="419100" cy="85725"/>
            </a:xfrm>
            <a:prstGeom prst="roundRect">
              <a:avLst>
                <a:gd name="adj" fmla="val 44444"/>
              </a:avLst>
            </a:prstGeom>
            <a:solidFill>
              <a:srgbClr val="6F2516"/>
            </a:solidFill>
            <a:ln>
              <a:noFill/>
            </a:ln>
          </p:spPr>
        </p:sp>
        <p:sp>
          <p:nvSpPr>
            <p:cNvPr id="86" name="Ellipse 86"/>
            <p:cNvSpPr/>
            <p:nvPr/>
          </p:nvSpPr>
          <p:spPr>
            <a:xfrm>
              <a:off x="2438400" y="4133850"/>
              <a:ext cx="114300" cy="114300"/>
            </a:xfrm>
            <a:prstGeom prst="ellipse">
              <a:avLst/>
            </a:prstGeom>
            <a:noFill/>
            <a:ln w="19050">
              <a:solidFill>
                <a:srgbClr val="6F2516"/>
              </a:solidFill>
            </a:ln>
          </p:spPr>
        </p:sp>
        <p:sp>
          <p:nvSpPr>
            <p:cNvPr id="87" name="Ellipse 87"/>
            <p:cNvSpPr/>
            <p:nvPr/>
          </p:nvSpPr>
          <p:spPr>
            <a:xfrm>
              <a:off x="2857500" y="4133850"/>
              <a:ext cx="114300" cy="114300"/>
            </a:xfrm>
            <a:prstGeom prst="ellipse">
              <a:avLst/>
            </a:prstGeom>
            <a:noFill/>
            <a:ln w="19050">
              <a:solidFill>
                <a:srgbClr val="6F2516"/>
              </a:solidFill>
            </a:ln>
          </p:spPr>
        </p:sp>
        <p:sp>
          <p:nvSpPr>
            <p:cNvPr id="88" name="TextBox 88"/>
            <p:cNvSpPr txBox="1"/>
            <p:nvPr/>
          </p:nvSpPr>
          <p:spPr>
            <a:xfrm>
              <a:off x="2475827" y="4546997"/>
              <a:ext cx="515696" cy="183356"/>
            </a:xfrm>
            <a:prstGeom prst="rect">
              <a:avLst/>
            </a:prstGeom>
            <a:noFill/>
            <a:ln>
              <a:noFill/>
            </a:ln>
          </p:spPr>
          <p:txBody>
            <a:bodyPr wrap="none" lIns="0" tIns="0" rIns="0" bIns="0" anchor="t" anchorCtr="0">
              <a:spAutoFit/>
            </a:bodyPr>
            <a:lstStyle/>
            <a:p>
              <a:pPr algn="ctr"/>
              <a:r>
                <a:rPr lang="zh-CN" sz="940" b="1" dirty="0">
                  <a:solidFill>
                    <a:srgbClr val="5E2114"/>
                  </a:solidFill>
                  <a:latin typeface="+mn-lt"/>
                  <a:ea typeface="+mn-ea"/>
                  <a:cs typeface="+mn-cs"/>
                </a:rPr>
                <a:t>自主巡检</a:t>
              </a:r>
            </a:p>
          </p:txBody>
        </p:sp>
        <p:sp>
          <p:nvSpPr>
            <p:cNvPr id="89" name="TextBox 89"/>
            <p:cNvSpPr txBox="1"/>
            <p:nvPr/>
          </p:nvSpPr>
          <p:spPr>
            <a:xfrm>
              <a:off x="2316544" y="4765834"/>
              <a:ext cx="834263"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573F3A"/>
                  </a:solidFill>
                  <a:latin typeface="+mn-lt"/>
                  <a:ea typeface="+mn-ea"/>
                  <a:cs typeface="+mn-cs"/>
                </a:rPr>
                <a:t>无人机自主飞行</a:t>
              </a:r>
              <a:br/>
              <a:r>
                <a:rPr lang="zh-CN" sz="680" dirty="0">
                  <a:solidFill>
                    <a:srgbClr val="573F3A"/>
                  </a:solidFill>
                  <a:latin typeface="+mn-lt"/>
                  <a:ea typeface="+mn-ea"/>
                  <a:cs typeface="+mn-cs"/>
                </a:rPr>
                <a:t>按规划完成巡检作业​</a:t>
              </a:r>
            </a:p>
          </p:txBody>
        </p:sp>
      </p:grpSp>
      <p:grpSp>
        <p:nvGrpSpPr>
          <p:cNvPr id="97" name="step-3"/>
          <p:cNvGrpSpPr/>
          <p:nvPr/>
        </p:nvGrpSpPr>
        <p:grpSpPr>
          <a:xfrm>
            <a:off x="3638550" y="3810000"/>
            <a:ext cx="1447800" cy="1600200"/>
            <a:chOff x="3638550" y="3810000"/>
            <a:chExt cx="1447800" cy="1600200"/>
          </a:xfrm>
        </p:grpSpPr>
        <p:sp>
          <p:nvSpPr>
            <p:cNvPr id="91" name="Rectangle 91"/>
            <p:cNvSpPr/>
            <p:nvPr/>
          </p:nvSpPr>
          <p:spPr>
            <a:xfrm>
              <a:off x="3638550" y="3810000"/>
              <a:ext cx="1447800" cy="1600200"/>
            </a:xfrm>
            <a:prstGeom prst="roundRect">
              <a:avLst>
                <a:gd name="adj" fmla="val 3947"/>
              </a:avLst>
            </a:prstGeom>
            <a:solidFill>
              <a:srgbClr val="FFFFFF"/>
            </a:solidFill>
            <a:ln w="9525">
              <a:solidFill>
                <a:srgbClr val="C7D9F0"/>
              </a:solidFill>
            </a:ln>
          </p:spPr>
        </p:sp>
        <p:sp>
          <p:nvSpPr>
            <p:cNvPr id="92" name="Rectangle 92"/>
            <p:cNvSpPr/>
            <p:nvPr/>
          </p:nvSpPr>
          <p:spPr>
            <a:xfrm>
              <a:off x="3714750" y="3886200"/>
              <a:ext cx="1295400" cy="590550"/>
            </a:xfrm>
            <a:prstGeom prst="roundRect">
              <a:avLst>
                <a:gd name="adj" fmla="val 6452"/>
              </a:avLst>
            </a:prstGeom>
            <a:solidFill>
              <a:srgbClr val="DCE9F8"/>
            </a:solidFill>
            <a:ln>
              <a:noFill/>
            </a:ln>
          </p:spPr>
        </p:sp>
        <p:sp>
          <p:nvSpPr>
            <p:cNvPr id="93" name="Freeform 93"/>
            <p:cNvSpPr/>
            <p:nvPr/>
          </p:nvSpPr>
          <p:spPr>
            <a:xfrm>
              <a:off x="3810000" y="3943350"/>
              <a:ext cx="1104900" cy="476250"/>
            </a:xfrm>
            <a:custGeom>
              <a:avLst/>
              <a:gdLst/>
              <a:ahLst/>
              <a:cxnLst/>
              <a:rect l="l" t="t" r="r" b="b"/>
              <a:pathLst>
                <a:path w="1104900" h="476250">
                  <a:moveTo>
                    <a:pt x="0" y="0"/>
                  </a:moveTo>
                  <a:lnTo>
                    <a:pt x="0" y="76200"/>
                  </a:lnTo>
                  <a:moveTo>
                    <a:pt x="0" y="400050"/>
                  </a:moveTo>
                  <a:lnTo>
                    <a:pt x="0" y="476250"/>
                  </a:lnTo>
                  <a:moveTo>
                    <a:pt x="1104900" y="0"/>
                  </a:moveTo>
                  <a:lnTo>
                    <a:pt x="1104900" y="76200"/>
                  </a:lnTo>
                  <a:moveTo>
                    <a:pt x="1104900" y="400050"/>
                  </a:moveTo>
                  <a:lnTo>
                    <a:pt x="1104900" y="476250"/>
                  </a:lnTo>
                  <a:moveTo>
                    <a:pt x="0" y="38100"/>
                  </a:moveTo>
                  <a:lnTo>
                    <a:pt x="1104900" y="38100"/>
                  </a:lnTo>
                  <a:moveTo>
                    <a:pt x="0" y="438150"/>
                  </a:moveTo>
                  <a:lnTo>
                    <a:pt x="1104900" y="438150"/>
                  </a:lnTo>
                </a:path>
              </a:pathLst>
            </a:custGeom>
            <a:noFill/>
            <a:ln w="14288">
              <a:solidFill>
                <a:srgbClr val="9C331E"/>
              </a:solidFill>
            </a:ln>
          </p:spPr>
        </p:sp>
        <p:sp>
          <p:nvSpPr>
            <p:cNvPr id="94" name="Freeform 94"/>
            <p:cNvSpPr/>
            <p:nvPr/>
          </p:nvSpPr>
          <p:spPr>
            <a:xfrm>
              <a:off x="4229100" y="4038600"/>
              <a:ext cx="533400" cy="285750"/>
            </a:xfrm>
            <a:custGeom>
              <a:avLst/>
              <a:gdLst/>
              <a:ahLst/>
              <a:cxnLst/>
              <a:rect l="l" t="t" r="r" b="b"/>
              <a:pathLst>
                <a:path w="533400" h="285750">
                  <a:moveTo>
                    <a:pt x="38100" y="38100"/>
                  </a:moveTo>
                  <a:lnTo>
                    <a:pt x="38100" y="247650"/>
                  </a:lnTo>
                  <a:moveTo>
                    <a:pt x="0" y="76200"/>
                  </a:moveTo>
                  <a:lnTo>
                    <a:pt x="76200" y="76200"/>
                  </a:lnTo>
                  <a:moveTo>
                    <a:pt x="247650" y="0"/>
                  </a:moveTo>
                  <a:lnTo>
                    <a:pt x="247650" y="285750"/>
                  </a:lnTo>
                  <a:moveTo>
                    <a:pt x="209550" y="38100"/>
                  </a:moveTo>
                  <a:lnTo>
                    <a:pt x="285750" y="38100"/>
                  </a:lnTo>
                  <a:moveTo>
                    <a:pt x="495300" y="95250"/>
                  </a:moveTo>
                  <a:lnTo>
                    <a:pt x="495300" y="190500"/>
                  </a:lnTo>
                  <a:moveTo>
                    <a:pt x="457200" y="114300"/>
                  </a:moveTo>
                  <a:lnTo>
                    <a:pt x="533400" y="114300"/>
                  </a:lnTo>
                </a:path>
              </a:pathLst>
            </a:custGeom>
            <a:noFill/>
            <a:ln w="28575">
              <a:solidFill>
                <a:srgbClr val="D64A2E"/>
              </a:solidFill>
            </a:ln>
          </p:spPr>
        </p:sp>
        <p:sp>
          <p:nvSpPr>
            <p:cNvPr id="95" name="TextBox 95"/>
            <p:cNvSpPr txBox="1"/>
            <p:nvPr/>
          </p:nvSpPr>
          <p:spPr>
            <a:xfrm>
              <a:off x="4104602" y="4546997"/>
              <a:ext cx="515696" cy="183356"/>
            </a:xfrm>
            <a:prstGeom prst="rect">
              <a:avLst/>
            </a:prstGeom>
            <a:noFill/>
            <a:ln>
              <a:noFill/>
            </a:ln>
          </p:spPr>
          <p:txBody>
            <a:bodyPr wrap="none" lIns="0" tIns="0" rIns="0" bIns="0" anchor="t" anchorCtr="0">
              <a:spAutoFit/>
            </a:bodyPr>
            <a:lstStyle/>
            <a:p>
              <a:pPr algn="ctr"/>
              <a:r>
                <a:rPr lang="zh-CN" sz="940" b="1" dirty="0">
                  <a:solidFill>
                    <a:srgbClr val="5E2114"/>
                  </a:solidFill>
                  <a:latin typeface="+mn-lt"/>
                  <a:ea typeface="+mn-ea"/>
                  <a:cs typeface="+mn-cs"/>
                </a:rPr>
                <a:t>缺陷识别</a:t>
              </a:r>
            </a:p>
          </p:txBody>
        </p:sp>
        <p:sp>
          <p:nvSpPr>
            <p:cNvPr id="96" name="TextBox 96"/>
            <p:cNvSpPr txBox="1"/>
            <p:nvPr/>
          </p:nvSpPr>
          <p:spPr>
            <a:xfrm>
              <a:off x="3815778" y="4765834"/>
              <a:ext cx="1093343"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573F3A"/>
                  </a:solidFill>
                  <a:latin typeface="+mn-lt"/>
                  <a:ea typeface="+mn-ea"/>
                  <a:cs typeface="+mn-cs"/>
                </a:rPr>
                <a:t>基于图像分析识别设备缺陷​</a:t>
              </a:r>
              <a:br/>
              <a:r>
                <a:rPr lang="zh-CN" sz="680" dirty="0">
                  <a:solidFill>
                    <a:srgbClr val="573F3A"/>
                  </a:solidFill>
                  <a:latin typeface="+mn-lt"/>
                  <a:ea typeface="+mn-ea"/>
                  <a:cs typeface="+mn-cs"/>
                </a:rPr>
                <a:t>自动生成识别结果</a:t>
              </a:r>
            </a:p>
          </p:txBody>
        </p:sp>
      </p:grpSp>
      <p:grpSp>
        <p:nvGrpSpPr>
          <p:cNvPr id="106" name="step-4"/>
          <p:cNvGrpSpPr/>
          <p:nvPr/>
        </p:nvGrpSpPr>
        <p:grpSpPr>
          <a:xfrm>
            <a:off x="5267325" y="3810000"/>
            <a:ext cx="1447800" cy="1600200"/>
            <a:chOff x="5267325" y="3810000"/>
            <a:chExt cx="1447800" cy="1600200"/>
          </a:xfrm>
        </p:grpSpPr>
        <p:sp>
          <p:nvSpPr>
            <p:cNvPr id="98" name="Rectangle 98"/>
            <p:cNvSpPr/>
            <p:nvPr/>
          </p:nvSpPr>
          <p:spPr>
            <a:xfrm>
              <a:off x="5267325" y="3810000"/>
              <a:ext cx="1447800" cy="1600200"/>
            </a:xfrm>
            <a:prstGeom prst="roundRect">
              <a:avLst>
                <a:gd name="adj" fmla="val 3947"/>
              </a:avLst>
            </a:prstGeom>
            <a:solidFill>
              <a:srgbClr val="FFFFFF"/>
            </a:solidFill>
            <a:ln w="9525">
              <a:solidFill>
                <a:srgbClr val="C7D9F0"/>
              </a:solidFill>
            </a:ln>
          </p:spPr>
        </p:sp>
        <p:sp>
          <p:nvSpPr>
            <p:cNvPr id="99" name="Rectangle 99"/>
            <p:cNvSpPr/>
            <p:nvPr/>
          </p:nvSpPr>
          <p:spPr>
            <a:xfrm>
              <a:off x="5343525" y="3886200"/>
              <a:ext cx="1295400" cy="590550"/>
            </a:xfrm>
            <a:prstGeom prst="roundRect">
              <a:avLst>
                <a:gd name="adj" fmla="val 6452"/>
              </a:avLst>
            </a:prstGeom>
            <a:solidFill>
              <a:srgbClr val="DCE9F8"/>
            </a:solidFill>
            <a:ln>
              <a:noFill/>
            </a:ln>
          </p:spPr>
        </p:sp>
        <p:sp>
          <p:nvSpPr>
            <p:cNvPr id="100" name="Rectangle 100"/>
            <p:cNvSpPr/>
            <p:nvPr/>
          </p:nvSpPr>
          <p:spPr>
            <a:xfrm>
              <a:off x="5572125" y="3962400"/>
              <a:ext cx="628650" cy="438150"/>
            </a:xfrm>
            <a:prstGeom prst="roundRect">
              <a:avLst>
                <a:gd name="adj" fmla="val 6522"/>
              </a:avLst>
            </a:prstGeom>
            <a:solidFill>
              <a:srgbClr val="FFFFFF"/>
            </a:solidFill>
            <a:ln w="14288">
              <a:solidFill>
                <a:srgbClr val="DE715B"/>
              </a:solidFill>
            </a:ln>
          </p:spPr>
        </p:sp>
        <p:sp>
          <p:nvSpPr>
            <p:cNvPr id="101" name="Freeform 101"/>
            <p:cNvSpPr/>
            <p:nvPr/>
          </p:nvSpPr>
          <p:spPr>
            <a:xfrm>
              <a:off x="5648325" y="4076700"/>
              <a:ext cx="476250" cy="190500"/>
            </a:xfrm>
            <a:custGeom>
              <a:avLst/>
              <a:gdLst/>
              <a:ahLst/>
              <a:cxnLst/>
              <a:rect l="l" t="t" r="r" b="b"/>
              <a:pathLst>
                <a:path w="476250" h="190500">
                  <a:moveTo>
                    <a:pt x="0" y="0"/>
                  </a:moveTo>
                  <a:lnTo>
                    <a:pt x="476250" y="0"/>
                  </a:lnTo>
                  <a:moveTo>
                    <a:pt x="0" y="95250"/>
                  </a:moveTo>
                  <a:lnTo>
                    <a:pt x="476250" y="95250"/>
                  </a:lnTo>
                  <a:moveTo>
                    <a:pt x="0" y="190500"/>
                  </a:moveTo>
                  <a:lnTo>
                    <a:pt x="323850" y="190500"/>
                  </a:lnTo>
                </a:path>
              </a:pathLst>
            </a:custGeom>
            <a:noFill/>
            <a:ln w="19050">
              <a:solidFill>
                <a:srgbClr val="DE715B"/>
              </a:solidFill>
            </a:ln>
          </p:spPr>
        </p:sp>
        <p:sp>
          <p:nvSpPr>
            <p:cNvPr id="102" name="Ellipse 102"/>
            <p:cNvSpPr/>
            <p:nvPr/>
          </p:nvSpPr>
          <p:spPr>
            <a:xfrm>
              <a:off x="6057900" y="4229100"/>
              <a:ext cx="190500" cy="190500"/>
            </a:xfrm>
            <a:prstGeom prst="ellipse">
              <a:avLst/>
            </a:prstGeom>
            <a:solidFill>
              <a:srgbClr val="9E331E"/>
            </a:solidFill>
            <a:ln>
              <a:noFill/>
            </a:ln>
          </p:spPr>
        </p:sp>
        <p:sp>
          <p:nvSpPr>
            <p:cNvPr id="103" name="Freeform 103"/>
            <p:cNvSpPr/>
            <p:nvPr/>
          </p:nvSpPr>
          <p:spPr>
            <a:xfrm>
              <a:off x="6105525" y="4286250"/>
              <a:ext cx="104775" cy="76200"/>
            </a:xfrm>
            <a:custGeom>
              <a:avLst/>
              <a:gdLst/>
              <a:ahLst/>
              <a:cxnLst/>
              <a:rect l="l" t="t" r="r" b="b"/>
              <a:pathLst>
                <a:path w="104775" h="76200">
                  <a:moveTo>
                    <a:pt x="0" y="38100"/>
                  </a:moveTo>
                  <a:lnTo>
                    <a:pt x="38100" y="76200"/>
                  </a:lnTo>
                  <a:lnTo>
                    <a:pt x="104775" y="0"/>
                  </a:lnTo>
                </a:path>
              </a:pathLst>
            </a:custGeom>
            <a:noFill/>
            <a:ln w="19050">
              <a:solidFill>
                <a:srgbClr val="FFFFFF"/>
              </a:solidFill>
            </a:ln>
          </p:spPr>
        </p:sp>
        <p:sp>
          <p:nvSpPr>
            <p:cNvPr id="104" name="TextBox 104"/>
            <p:cNvSpPr txBox="1"/>
            <p:nvPr/>
          </p:nvSpPr>
          <p:spPr>
            <a:xfrm>
              <a:off x="5733377" y="4546997"/>
              <a:ext cx="515696" cy="183356"/>
            </a:xfrm>
            <a:prstGeom prst="rect">
              <a:avLst/>
            </a:prstGeom>
            <a:noFill/>
            <a:ln>
              <a:noFill/>
            </a:ln>
          </p:spPr>
          <p:txBody>
            <a:bodyPr wrap="none" lIns="0" tIns="0" rIns="0" bIns="0" anchor="t" anchorCtr="0">
              <a:spAutoFit/>
            </a:bodyPr>
            <a:lstStyle/>
            <a:p>
              <a:pPr algn="ctr"/>
              <a:r>
                <a:rPr lang="zh-CN" sz="940" b="1" dirty="0">
                  <a:solidFill>
                    <a:srgbClr val="5E2114"/>
                  </a:solidFill>
                  <a:latin typeface="+mn-lt"/>
                  <a:ea typeface="+mn-ea"/>
                  <a:cs typeface="+mn-cs"/>
                </a:rPr>
                <a:t>工单闭环</a:t>
              </a:r>
            </a:p>
          </p:txBody>
        </p:sp>
        <p:sp>
          <p:nvSpPr>
            <p:cNvPr id="105" name="TextBox 105"/>
            <p:cNvSpPr txBox="1"/>
            <p:nvPr/>
          </p:nvSpPr>
          <p:spPr>
            <a:xfrm>
              <a:off x="5617274" y="4765834"/>
              <a:ext cx="747903"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573F3A"/>
                  </a:solidFill>
                  <a:latin typeface="+mn-lt"/>
                  <a:ea typeface="+mn-ea"/>
                  <a:cs typeface="+mn-cs"/>
                </a:rPr>
                <a:t>缺陷自动生成工单​</a:t>
              </a:r>
              <a:br/>
              <a:r>
                <a:rPr lang="zh-CN" sz="680" dirty="0">
                  <a:solidFill>
                    <a:srgbClr val="573F3A"/>
                  </a:solidFill>
                  <a:latin typeface="+mn-lt"/>
                  <a:ea typeface="+mn-ea"/>
                  <a:cs typeface="+mn-cs"/>
                </a:rPr>
                <a:t>推动处置与反馈</a:t>
              </a:r>
            </a:p>
          </p:txBody>
        </p:sp>
      </p:grpSp>
      <p:grpSp>
        <p:nvGrpSpPr>
          <p:cNvPr id="113" name="step-5"/>
          <p:cNvGrpSpPr/>
          <p:nvPr/>
        </p:nvGrpSpPr>
        <p:grpSpPr>
          <a:xfrm>
            <a:off x="6896100" y="3810000"/>
            <a:ext cx="1447800" cy="1600200"/>
            <a:chOff x="6896100" y="3810000"/>
            <a:chExt cx="1447800" cy="1600200"/>
          </a:xfrm>
        </p:grpSpPr>
        <p:sp>
          <p:nvSpPr>
            <p:cNvPr id="107" name="Rectangle 107"/>
            <p:cNvSpPr/>
            <p:nvPr/>
          </p:nvSpPr>
          <p:spPr>
            <a:xfrm>
              <a:off x="6896100" y="3810000"/>
              <a:ext cx="1447800" cy="1600200"/>
            </a:xfrm>
            <a:prstGeom prst="roundRect">
              <a:avLst>
                <a:gd name="adj" fmla="val 3947"/>
              </a:avLst>
            </a:prstGeom>
            <a:solidFill>
              <a:srgbClr val="FFFFFF"/>
            </a:solidFill>
            <a:ln w="9525">
              <a:solidFill>
                <a:srgbClr val="C7D9F0"/>
              </a:solidFill>
            </a:ln>
          </p:spPr>
        </p:sp>
        <p:sp>
          <p:nvSpPr>
            <p:cNvPr id="108" name="Rectangle 108"/>
            <p:cNvSpPr/>
            <p:nvPr/>
          </p:nvSpPr>
          <p:spPr>
            <a:xfrm>
              <a:off x="6972300" y="3886200"/>
              <a:ext cx="1295400" cy="590550"/>
            </a:xfrm>
            <a:prstGeom prst="roundRect">
              <a:avLst>
                <a:gd name="adj" fmla="val 6452"/>
              </a:avLst>
            </a:prstGeom>
            <a:solidFill>
              <a:srgbClr val="DCE9F8"/>
            </a:solidFill>
            <a:ln>
              <a:noFill/>
            </a:ln>
          </p:spPr>
        </p:sp>
        <p:sp>
          <p:nvSpPr>
            <p:cNvPr id="109" name="Freeform 109"/>
            <p:cNvSpPr/>
            <p:nvPr/>
          </p:nvSpPr>
          <p:spPr>
            <a:xfrm>
              <a:off x="7181850" y="3981450"/>
              <a:ext cx="723900" cy="419100"/>
            </a:xfrm>
            <a:custGeom>
              <a:avLst/>
              <a:gdLst/>
              <a:ahLst/>
              <a:cxnLst/>
              <a:rect l="l" t="t" r="r" b="b"/>
              <a:pathLst>
                <a:path w="723900" h="419100">
                  <a:moveTo>
                    <a:pt x="152400" y="419100"/>
                  </a:moveTo>
                  <a:lnTo>
                    <a:pt x="152400" y="171450"/>
                  </a:lnTo>
                  <a:moveTo>
                    <a:pt x="152400" y="228600"/>
                  </a:moveTo>
                  <a:lnTo>
                    <a:pt x="0" y="228600"/>
                  </a:lnTo>
                  <a:moveTo>
                    <a:pt x="152400" y="114300"/>
                  </a:moveTo>
                  <a:lnTo>
                    <a:pt x="38100" y="114300"/>
                  </a:lnTo>
                  <a:moveTo>
                    <a:pt x="438150" y="419100"/>
                  </a:moveTo>
                  <a:lnTo>
                    <a:pt x="438150" y="57150"/>
                  </a:lnTo>
                  <a:moveTo>
                    <a:pt x="438150" y="152400"/>
                  </a:moveTo>
                  <a:lnTo>
                    <a:pt x="304800" y="152400"/>
                  </a:lnTo>
                  <a:moveTo>
                    <a:pt x="438150" y="0"/>
                  </a:moveTo>
                  <a:lnTo>
                    <a:pt x="342900" y="0"/>
                  </a:lnTo>
                  <a:moveTo>
                    <a:pt x="723900" y="419100"/>
                  </a:moveTo>
                  <a:lnTo>
                    <a:pt x="723900" y="247650"/>
                  </a:lnTo>
                  <a:moveTo>
                    <a:pt x="723900" y="285750"/>
                  </a:moveTo>
                  <a:lnTo>
                    <a:pt x="609600" y="285750"/>
                  </a:lnTo>
                  <a:moveTo>
                    <a:pt x="723900" y="190500"/>
                  </a:moveTo>
                  <a:lnTo>
                    <a:pt x="647700" y="190500"/>
                  </a:lnTo>
                </a:path>
              </a:pathLst>
            </a:custGeom>
            <a:noFill/>
            <a:ln w="23812">
              <a:solidFill>
                <a:srgbClr val="9C331E"/>
              </a:solidFill>
            </a:ln>
          </p:spPr>
        </p:sp>
        <p:sp>
          <p:nvSpPr>
            <p:cNvPr id="110" name="Freeform 110"/>
            <p:cNvSpPr/>
            <p:nvPr/>
          </p:nvSpPr>
          <p:spPr>
            <a:xfrm>
              <a:off x="7181850" y="4400550"/>
              <a:ext cx="876300" cy="9525"/>
            </a:xfrm>
            <a:custGeom>
              <a:avLst/>
              <a:gdLst/>
              <a:ahLst/>
              <a:cxnLst/>
              <a:rect l="l" t="t" r="r" b="b"/>
              <a:pathLst>
                <a:path w="876300" h="9525">
                  <a:moveTo>
                    <a:pt x="0" y="0"/>
                  </a:moveTo>
                  <a:lnTo>
                    <a:pt x="876300" y="0"/>
                  </a:lnTo>
                </a:path>
              </a:pathLst>
            </a:custGeom>
            <a:noFill/>
            <a:ln w="19050">
              <a:solidFill>
                <a:srgbClr val="D64A2E"/>
              </a:solidFill>
            </a:ln>
          </p:spPr>
        </p:sp>
        <p:sp>
          <p:nvSpPr>
            <p:cNvPr id="111" name="TextBox 111"/>
            <p:cNvSpPr txBox="1"/>
            <p:nvPr/>
          </p:nvSpPr>
          <p:spPr>
            <a:xfrm>
              <a:off x="7362152" y="4546997"/>
              <a:ext cx="515696" cy="183356"/>
            </a:xfrm>
            <a:prstGeom prst="rect">
              <a:avLst/>
            </a:prstGeom>
            <a:noFill/>
            <a:ln>
              <a:noFill/>
            </a:ln>
          </p:spPr>
          <p:txBody>
            <a:bodyPr wrap="none" lIns="0" tIns="0" rIns="0" bIns="0" anchor="t" anchorCtr="0">
              <a:spAutoFit/>
            </a:bodyPr>
            <a:lstStyle/>
            <a:p>
              <a:pPr algn="ctr"/>
              <a:r>
                <a:rPr lang="zh-CN" sz="940" b="1" dirty="0">
                  <a:solidFill>
                    <a:srgbClr val="5E2114"/>
                  </a:solidFill>
                  <a:latin typeface="+mn-lt"/>
                  <a:ea typeface="+mn-ea"/>
                  <a:cs typeface="+mn-cs"/>
                </a:rPr>
                <a:t>资产画像</a:t>
              </a:r>
            </a:p>
          </p:txBody>
        </p:sp>
        <p:sp>
          <p:nvSpPr>
            <p:cNvPr id="112" name="TextBox 112"/>
            <p:cNvSpPr txBox="1"/>
            <p:nvPr/>
          </p:nvSpPr>
          <p:spPr>
            <a:xfrm>
              <a:off x="7202868" y="4765834"/>
              <a:ext cx="834263"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573F3A"/>
                  </a:solidFill>
                  <a:latin typeface="+mn-lt"/>
                  <a:ea typeface="+mn-ea"/>
                  <a:cs typeface="+mn-cs"/>
                </a:rPr>
                <a:t>沉淀全生命周期数据​</a:t>
              </a:r>
              <a:br/>
              <a:r>
                <a:rPr lang="zh-CN" sz="680" dirty="0">
                  <a:solidFill>
                    <a:srgbClr val="573F3A"/>
                  </a:solidFill>
                  <a:latin typeface="+mn-lt"/>
                  <a:ea typeface="+mn-ea"/>
                  <a:cs typeface="+mn-cs"/>
                </a:rPr>
                <a:t>形成电网资产画像</a:t>
              </a:r>
            </a:p>
          </p:txBody>
        </p:sp>
      </p:grpSp>
      <p:grpSp>
        <p:nvGrpSpPr>
          <p:cNvPr id="115" name="gap-arrow-1"/>
          <p:cNvGrpSpPr/>
          <p:nvPr/>
        </p:nvGrpSpPr>
        <p:grpSpPr>
          <a:xfrm>
            <a:off x="1838325" y="4181475"/>
            <a:ext cx="104775" cy="1"/>
            <a:chOff x="1838325" y="4181475"/>
            <a:chExt cx="104775" cy="1"/>
          </a:xfrm>
        </p:grpSpPr>
        <p:sp>
          <p:nvSpPr>
            <p:cNvPr id="114" name="Line 114"/>
            <p:cNvSpPr/>
            <p:nvPr/>
          </p:nvSpPr>
          <p:spPr>
            <a:xfrm>
              <a:off x="1838325" y="4181475"/>
              <a:ext cx="104775" cy="1"/>
            </a:xfrm>
            <a:prstGeom prst="line">
              <a:avLst/>
            </a:prstGeom>
            <a:noFill/>
            <a:ln w="14288">
              <a:solidFill>
                <a:srgbClr val="9C331E"/>
              </a:solidFill>
              <a:tailEnd type="triangle" w="lg" len="lg"/>
            </a:ln>
          </p:spPr>
        </p:sp>
      </p:grpSp>
      <p:grpSp>
        <p:nvGrpSpPr>
          <p:cNvPr id="117" name="gap-arrow-2"/>
          <p:cNvGrpSpPr/>
          <p:nvPr/>
        </p:nvGrpSpPr>
        <p:grpSpPr>
          <a:xfrm>
            <a:off x="3467100" y="4181475"/>
            <a:ext cx="104775" cy="1"/>
            <a:chOff x="3467100" y="4181475"/>
            <a:chExt cx="104775" cy="1"/>
          </a:xfrm>
        </p:grpSpPr>
        <p:sp>
          <p:nvSpPr>
            <p:cNvPr id="116" name="Line 116"/>
            <p:cNvSpPr/>
            <p:nvPr/>
          </p:nvSpPr>
          <p:spPr>
            <a:xfrm>
              <a:off x="3467100" y="4181475"/>
              <a:ext cx="104775" cy="1"/>
            </a:xfrm>
            <a:prstGeom prst="line">
              <a:avLst/>
            </a:prstGeom>
            <a:noFill/>
            <a:ln w="14288">
              <a:solidFill>
                <a:srgbClr val="9C331E"/>
              </a:solidFill>
              <a:tailEnd type="triangle" w="lg" len="lg"/>
            </a:ln>
          </p:spPr>
        </p:sp>
      </p:grpSp>
      <p:grpSp>
        <p:nvGrpSpPr>
          <p:cNvPr id="119" name="gap-arrow-3"/>
          <p:cNvGrpSpPr/>
          <p:nvPr/>
        </p:nvGrpSpPr>
        <p:grpSpPr>
          <a:xfrm>
            <a:off x="5095875" y="4181475"/>
            <a:ext cx="104775" cy="1"/>
            <a:chOff x="5095875" y="4181475"/>
            <a:chExt cx="104775" cy="1"/>
          </a:xfrm>
        </p:grpSpPr>
        <p:sp>
          <p:nvSpPr>
            <p:cNvPr id="118" name="Line 118"/>
            <p:cNvSpPr/>
            <p:nvPr/>
          </p:nvSpPr>
          <p:spPr>
            <a:xfrm>
              <a:off x="5095875" y="4181475"/>
              <a:ext cx="104775" cy="1"/>
            </a:xfrm>
            <a:prstGeom prst="line">
              <a:avLst/>
            </a:prstGeom>
            <a:noFill/>
            <a:ln w="14288">
              <a:solidFill>
                <a:srgbClr val="9C331E"/>
              </a:solidFill>
              <a:tailEnd type="triangle" w="lg" len="lg"/>
            </a:ln>
          </p:spPr>
        </p:sp>
      </p:grpSp>
      <p:grpSp>
        <p:nvGrpSpPr>
          <p:cNvPr id="121" name="gap-arrow-4"/>
          <p:cNvGrpSpPr/>
          <p:nvPr/>
        </p:nvGrpSpPr>
        <p:grpSpPr>
          <a:xfrm>
            <a:off x="6724650" y="4181475"/>
            <a:ext cx="104775" cy="1"/>
            <a:chOff x="6724650" y="4181475"/>
            <a:chExt cx="104775" cy="1"/>
          </a:xfrm>
        </p:grpSpPr>
        <p:sp>
          <p:nvSpPr>
            <p:cNvPr id="120" name="Line 120"/>
            <p:cNvSpPr/>
            <p:nvPr/>
          </p:nvSpPr>
          <p:spPr>
            <a:xfrm>
              <a:off x="6724650" y="4181475"/>
              <a:ext cx="104775" cy="1"/>
            </a:xfrm>
            <a:prstGeom prst="line">
              <a:avLst/>
            </a:prstGeom>
            <a:noFill/>
            <a:ln w="14288">
              <a:solidFill>
                <a:srgbClr val="9C331E"/>
              </a:solidFill>
              <a:tailEnd type="triangle" w="lg" len="lg"/>
            </a:ln>
          </p:spPr>
        </p:sp>
      </p:grpSp>
      <p:grpSp>
        <p:nvGrpSpPr>
          <p:cNvPr id="126" name="why-head"/>
          <p:cNvGrpSpPr/>
          <p:nvPr/>
        </p:nvGrpSpPr>
        <p:grpSpPr>
          <a:xfrm>
            <a:off x="8458200" y="895350"/>
            <a:ext cx="3352800" cy="400288"/>
            <a:chOff x="8458200" y="895350"/>
            <a:chExt cx="3352800" cy="400288"/>
          </a:xfrm>
        </p:grpSpPr>
        <p:sp>
          <p:nvSpPr>
            <p:cNvPr id="122" name="Rectangle 122"/>
            <p:cNvSpPr/>
            <p:nvPr/>
          </p:nvSpPr>
          <p:spPr>
            <a:xfrm>
              <a:off x="8458200" y="895350"/>
              <a:ext cx="3352800" cy="400050"/>
            </a:xfrm>
            <a:prstGeom prst="roundRect">
              <a:avLst>
                <a:gd name="adj" fmla="val 14286"/>
              </a:avLst>
            </a:prstGeom>
            <a:gradFill>
              <a:gsLst>
                <a:gs pos="0">
                  <a:srgbClr val="6F2516"/>
                </a:gs>
                <a:gs pos="100000">
                  <a:srgbClr val="D64A2E"/>
                </a:gs>
              </a:gsLst>
              <a:lin ang="0" scaled="1"/>
            </a:gradFill>
            <a:ln>
              <a:noFill/>
            </a:ln>
          </p:spPr>
        </p:sp>
        <p:sp>
          <p:nvSpPr>
            <p:cNvPr id="123" name="TextBox 123"/>
            <p:cNvSpPr txBox="1"/>
            <p:nvPr/>
          </p:nvSpPr>
          <p:spPr>
            <a:xfrm>
              <a:off x="8604885" y="964406"/>
              <a:ext cx="1066851"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为什么能规模化</a:t>
              </a:r>
            </a:p>
          </p:txBody>
        </p:sp>
        <p:sp>
          <p:nvSpPr>
            <p:cNvPr id="124" name="TextBox 124"/>
            <p:cNvSpPr txBox="1"/>
            <p:nvPr/>
          </p:nvSpPr>
          <p:spPr>
            <a:xfrm>
              <a:off x="10348562" y="1017032"/>
              <a:ext cx="1314801" cy="126206"/>
            </a:xfrm>
            <a:prstGeom prst="rect">
              <a:avLst/>
            </a:prstGeom>
            <a:noFill/>
            <a:ln>
              <a:noFill/>
            </a:ln>
          </p:spPr>
          <p:txBody>
            <a:bodyPr wrap="none" lIns="0" tIns="0" rIns="0" bIns="0" anchor="t" anchorCtr="0">
              <a:spAutoFit/>
            </a:bodyPr>
            <a:lstStyle/>
            <a:p>
              <a:pPr algn="r"/>
              <a:r>
                <a:rPr lang="zh-CN" sz="640" dirty="0">
                  <a:solidFill>
                    <a:srgbClr val="DCE9F8"/>
                  </a:solidFill>
                  <a:latin typeface="+mn-lt"/>
                  <a:ea typeface="+mn-ea"/>
                  <a:cs typeface="+mn-cs"/>
                </a:rPr>
                <a:t>从可见走向好用 · 从单点走向全域</a:t>
              </a:r>
            </a:p>
          </p:txBody>
        </p:sp>
        <p:sp>
          <p:nvSpPr>
            <p:cNvPr id="125" name="TextBox 125"/>
            <p:cNvSpPr txBox="1"/>
            <p:nvPr/>
          </p:nvSpPr>
          <p:spPr>
            <a:xfrm>
              <a:off x="8605838" y="1169432"/>
              <a:ext cx="1474191"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五个基础条件，支撑存量案例持续运行</a:t>
              </a:r>
            </a:p>
          </p:txBody>
        </p:sp>
      </p:grpSp>
      <p:grpSp>
        <p:nvGrpSpPr>
          <p:cNvPr id="135" name="why-1"/>
          <p:cNvGrpSpPr/>
          <p:nvPr/>
        </p:nvGrpSpPr>
        <p:grpSpPr>
          <a:xfrm>
            <a:off x="8458200" y="1371600"/>
            <a:ext cx="3352800" cy="590550"/>
            <a:chOff x="8458200" y="1371600"/>
            <a:chExt cx="3352800" cy="590550"/>
          </a:xfrm>
        </p:grpSpPr>
        <p:sp>
          <p:nvSpPr>
            <p:cNvPr id="127" name="Rectangle 127"/>
            <p:cNvSpPr/>
            <p:nvPr/>
          </p:nvSpPr>
          <p:spPr>
            <a:xfrm>
              <a:off x="8458200" y="1371600"/>
              <a:ext cx="3352800" cy="590550"/>
            </a:xfrm>
            <a:prstGeom prst="roundRect">
              <a:avLst>
                <a:gd name="adj" fmla="val 9677"/>
              </a:avLst>
            </a:prstGeom>
            <a:solidFill>
              <a:srgbClr val="EFF5FC"/>
            </a:solidFill>
            <a:ln w="9525">
              <a:solidFill>
                <a:srgbClr val="C7D9F0"/>
              </a:solidFill>
            </a:ln>
          </p:spPr>
        </p:sp>
        <p:sp>
          <p:nvSpPr>
            <p:cNvPr id="128" name="Ellipse 128"/>
            <p:cNvSpPr/>
            <p:nvPr/>
          </p:nvSpPr>
          <p:spPr>
            <a:xfrm>
              <a:off x="8562975" y="1504950"/>
              <a:ext cx="323850" cy="323850"/>
            </a:xfrm>
            <a:prstGeom prst="ellipse">
              <a:avLst/>
            </a:prstGeom>
            <a:solidFill>
              <a:srgbClr val="9C331E"/>
            </a:solidFill>
            <a:ln>
              <a:noFill/>
            </a:ln>
          </p:spPr>
        </p:sp>
        <p:grpSp>
          <p:nvGrpSpPr>
            <p:cNvPr id="132" name="Group 132"/>
            <p:cNvGrpSpPr/>
            <p:nvPr/>
          </p:nvGrpSpPr>
          <p:grpSpPr>
            <a:xfrm>
              <a:off x="8653462" y="1595437"/>
              <a:ext cx="142875" cy="142875"/>
              <a:chOff x="8653462" y="1595437"/>
              <a:chExt cx="142875" cy="142875"/>
            </a:xfrm>
          </p:grpSpPr>
          <p:sp>
            <p:nvSpPr>
              <p:cNvPr id="129" name="Freeform 129"/>
              <p:cNvSpPr/>
              <p:nvPr/>
            </p:nvSpPr>
            <p:spPr>
              <a:xfrm>
                <a:off x="8716962" y="165893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130" name="Freeform 130"/>
              <p:cNvSpPr/>
              <p:nvPr/>
            </p:nvSpPr>
            <p:spPr>
              <a:xfrm>
                <a:off x="8685212" y="162718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131" name="Freeform 131"/>
              <p:cNvSpPr/>
              <p:nvPr/>
            </p:nvSpPr>
            <p:spPr>
              <a:xfrm>
                <a:off x="8653462" y="159543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133" name="TextBox 133"/>
            <p:cNvSpPr txBox="1"/>
            <p:nvPr/>
          </p:nvSpPr>
          <p:spPr>
            <a:xfrm>
              <a:off x="8986838" y="1508522"/>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标准对象</a:t>
              </a:r>
            </a:p>
          </p:txBody>
        </p:sp>
        <p:sp>
          <p:nvSpPr>
            <p:cNvPr id="134" name="TextBox 134"/>
            <p:cNvSpPr txBox="1"/>
            <p:nvPr/>
          </p:nvSpPr>
          <p:spPr>
            <a:xfrm>
              <a:off x="8986838" y="1698784"/>
              <a:ext cx="169786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杆塔、导线、绝缘子等设备类型明确，标准​</a:t>
              </a:r>
              <a:br/>
              <a:r>
                <a:rPr lang="zh-CN" sz="680" dirty="0">
                  <a:solidFill>
                    <a:srgbClr val="573F3A"/>
                  </a:solidFill>
                  <a:latin typeface="+mn-lt"/>
                  <a:ea typeface="+mn-ea"/>
                  <a:cs typeface="+mn-cs"/>
                </a:rPr>
                <a:t>化便于统一建模和作业。</a:t>
              </a:r>
            </a:p>
          </p:txBody>
        </p:sp>
      </p:grpSp>
      <p:grpSp>
        <p:nvGrpSpPr>
          <p:cNvPr id="143" name="why-2"/>
          <p:cNvGrpSpPr/>
          <p:nvPr/>
        </p:nvGrpSpPr>
        <p:grpSpPr>
          <a:xfrm>
            <a:off x="8458200" y="2038350"/>
            <a:ext cx="3352800" cy="590550"/>
            <a:chOff x="8458200" y="2038350"/>
            <a:chExt cx="3352800" cy="590550"/>
          </a:xfrm>
        </p:grpSpPr>
        <p:sp>
          <p:nvSpPr>
            <p:cNvPr id="136" name="Rectangle 136"/>
            <p:cNvSpPr/>
            <p:nvPr/>
          </p:nvSpPr>
          <p:spPr>
            <a:xfrm>
              <a:off x="8458200" y="2038350"/>
              <a:ext cx="3352800" cy="590550"/>
            </a:xfrm>
            <a:prstGeom prst="roundRect">
              <a:avLst>
                <a:gd name="adj" fmla="val 9677"/>
              </a:avLst>
            </a:prstGeom>
            <a:solidFill>
              <a:srgbClr val="EFF5FC"/>
            </a:solidFill>
            <a:ln w="9525">
              <a:solidFill>
                <a:srgbClr val="C7D9F0"/>
              </a:solidFill>
            </a:ln>
          </p:spPr>
        </p:sp>
        <p:sp>
          <p:nvSpPr>
            <p:cNvPr id="137" name="Ellipse 137"/>
            <p:cNvSpPr/>
            <p:nvPr/>
          </p:nvSpPr>
          <p:spPr>
            <a:xfrm>
              <a:off x="8562975" y="2171700"/>
              <a:ext cx="323850" cy="323850"/>
            </a:xfrm>
            <a:prstGeom prst="ellipse">
              <a:avLst/>
            </a:prstGeom>
            <a:solidFill>
              <a:srgbClr val="9C331E"/>
            </a:solidFill>
            <a:ln>
              <a:noFill/>
            </a:ln>
          </p:spPr>
        </p:sp>
        <p:grpSp>
          <p:nvGrpSpPr>
            <p:cNvPr id="140" name="Group 140"/>
            <p:cNvGrpSpPr/>
            <p:nvPr/>
          </p:nvGrpSpPr>
          <p:grpSpPr>
            <a:xfrm>
              <a:off x="8661400" y="2267062"/>
              <a:ext cx="127000" cy="133125"/>
              <a:chOff x="8661400" y="2267062"/>
              <a:chExt cx="127000" cy="133125"/>
            </a:xfrm>
          </p:grpSpPr>
          <p:sp>
            <p:nvSpPr>
              <p:cNvPr id="138" name="Freeform 138"/>
              <p:cNvSpPr/>
              <p:nvPr/>
            </p:nvSpPr>
            <p:spPr>
              <a:xfrm>
                <a:off x="8661400" y="2267062"/>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FFFFFF"/>
                </a:solidFill>
              </a:ln>
            </p:spPr>
          </p:sp>
          <p:sp>
            <p:nvSpPr>
              <p:cNvPr id="139" name="Freeform 139"/>
              <p:cNvSpPr/>
              <p:nvPr/>
            </p:nvSpPr>
            <p:spPr>
              <a:xfrm>
                <a:off x="8661400" y="2341562"/>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FFFFFF"/>
                </a:solidFill>
              </a:ln>
            </p:spPr>
          </p:sp>
        </p:grpSp>
        <p:sp>
          <p:nvSpPr>
            <p:cNvPr id="141" name="TextBox 141"/>
            <p:cNvSpPr txBox="1"/>
            <p:nvPr/>
          </p:nvSpPr>
          <p:spPr>
            <a:xfrm>
              <a:off x="8986838" y="2175272"/>
              <a:ext cx="768782"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海量重复任务</a:t>
              </a:r>
            </a:p>
          </p:txBody>
        </p:sp>
        <p:sp>
          <p:nvSpPr>
            <p:cNvPr id="142" name="TextBox 142"/>
            <p:cNvSpPr txBox="1"/>
            <p:nvPr/>
          </p:nvSpPr>
          <p:spPr>
            <a:xfrm>
              <a:off x="8986838" y="2365534"/>
              <a:ext cx="169786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线路长度大、覆盖范围广，巡检任务高度重​</a:t>
              </a:r>
              <a:br/>
              <a:r>
                <a:rPr lang="zh-CN" sz="680" dirty="0">
                  <a:solidFill>
                    <a:srgbClr val="573F3A"/>
                  </a:solidFill>
                  <a:latin typeface="+mn-lt"/>
                  <a:ea typeface="+mn-ea"/>
                  <a:cs typeface="+mn-cs"/>
                </a:rPr>
                <a:t>复，适合规模化作业。</a:t>
              </a:r>
            </a:p>
          </p:txBody>
        </p:sp>
      </p:grpSp>
      <p:grpSp>
        <p:nvGrpSpPr>
          <p:cNvPr id="152" name="why-3"/>
          <p:cNvGrpSpPr/>
          <p:nvPr/>
        </p:nvGrpSpPr>
        <p:grpSpPr>
          <a:xfrm>
            <a:off x="8458200" y="2705100"/>
            <a:ext cx="3352800" cy="590550"/>
            <a:chOff x="8458200" y="2705100"/>
            <a:chExt cx="3352800" cy="590550"/>
          </a:xfrm>
        </p:grpSpPr>
        <p:sp>
          <p:nvSpPr>
            <p:cNvPr id="144" name="Rectangle 144"/>
            <p:cNvSpPr/>
            <p:nvPr/>
          </p:nvSpPr>
          <p:spPr>
            <a:xfrm>
              <a:off x="8458200" y="2705100"/>
              <a:ext cx="3352800" cy="590550"/>
            </a:xfrm>
            <a:prstGeom prst="roundRect">
              <a:avLst>
                <a:gd name="adj" fmla="val 9677"/>
              </a:avLst>
            </a:prstGeom>
            <a:solidFill>
              <a:srgbClr val="EFF5FC"/>
            </a:solidFill>
            <a:ln w="9525">
              <a:solidFill>
                <a:srgbClr val="C7D9F0"/>
              </a:solidFill>
            </a:ln>
          </p:spPr>
        </p:sp>
        <p:sp>
          <p:nvSpPr>
            <p:cNvPr id="145" name="Ellipse 145"/>
            <p:cNvSpPr/>
            <p:nvPr/>
          </p:nvSpPr>
          <p:spPr>
            <a:xfrm>
              <a:off x="8562975" y="2838450"/>
              <a:ext cx="323850" cy="323850"/>
            </a:xfrm>
            <a:prstGeom prst="ellipse">
              <a:avLst/>
            </a:prstGeom>
            <a:solidFill>
              <a:srgbClr val="9C331E"/>
            </a:solidFill>
            <a:ln>
              <a:noFill/>
            </a:ln>
          </p:spPr>
        </p:sp>
        <p:grpSp>
          <p:nvGrpSpPr>
            <p:cNvPr id="149" name="Group 149"/>
            <p:cNvGrpSpPr/>
            <p:nvPr/>
          </p:nvGrpSpPr>
          <p:grpSpPr>
            <a:xfrm>
              <a:off x="8661400" y="2928937"/>
              <a:ext cx="127000" cy="142875"/>
              <a:chOff x="8661400" y="2928937"/>
              <a:chExt cx="127000" cy="142875"/>
            </a:xfrm>
          </p:grpSpPr>
          <p:sp>
            <p:nvSpPr>
              <p:cNvPr id="146" name="Freeform 146"/>
              <p:cNvSpPr/>
              <p:nvPr/>
            </p:nvSpPr>
            <p:spPr>
              <a:xfrm>
                <a:off x="8661400" y="2928937"/>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FFFFFF"/>
                </a:solidFill>
              </a:ln>
            </p:spPr>
          </p:sp>
          <p:sp>
            <p:nvSpPr>
              <p:cNvPr id="147" name="Freeform 147"/>
              <p:cNvSpPr/>
              <p:nvPr/>
            </p:nvSpPr>
            <p:spPr>
              <a:xfrm>
                <a:off x="8661400" y="29527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sp>
            <p:nvSpPr>
              <p:cNvPr id="148" name="Freeform 148"/>
              <p:cNvSpPr/>
              <p:nvPr/>
            </p:nvSpPr>
            <p:spPr>
              <a:xfrm>
                <a:off x="8661400" y="30003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grpSp>
        <p:sp>
          <p:nvSpPr>
            <p:cNvPr id="150" name="TextBox 150"/>
            <p:cNvSpPr txBox="1"/>
            <p:nvPr/>
          </p:nvSpPr>
          <p:spPr>
            <a:xfrm>
              <a:off x="8986838" y="2842022"/>
              <a:ext cx="515696"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数据回流</a:t>
              </a:r>
            </a:p>
          </p:txBody>
        </p:sp>
        <p:sp>
          <p:nvSpPr>
            <p:cNvPr id="151" name="TextBox 151"/>
            <p:cNvSpPr txBox="1"/>
            <p:nvPr/>
          </p:nvSpPr>
          <p:spPr>
            <a:xfrm>
              <a:off x="8986838" y="3032284"/>
              <a:ext cx="169786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巡检数据持续沉淀，形成历史对比，不断提​</a:t>
              </a:r>
              <a:br/>
              <a:r>
                <a:rPr lang="zh-CN" sz="680" dirty="0">
                  <a:solidFill>
                    <a:srgbClr val="573F3A"/>
                  </a:solidFill>
                  <a:latin typeface="+mn-lt"/>
                  <a:ea typeface="+mn-ea"/>
                  <a:cs typeface="+mn-cs"/>
                </a:rPr>
                <a:t>升识别能力和运维水平。</a:t>
              </a:r>
            </a:p>
          </p:txBody>
        </p:sp>
      </p:grpSp>
      <p:grpSp>
        <p:nvGrpSpPr>
          <p:cNvPr id="161" name="why-4"/>
          <p:cNvGrpSpPr/>
          <p:nvPr/>
        </p:nvGrpSpPr>
        <p:grpSpPr>
          <a:xfrm>
            <a:off x="8458200" y="3371850"/>
            <a:ext cx="3352800" cy="590550"/>
            <a:chOff x="8458200" y="3371850"/>
            <a:chExt cx="3352800" cy="590550"/>
          </a:xfrm>
        </p:grpSpPr>
        <p:sp>
          <p:nvSpPr>
            <p:cNvPr id="153" name="Rectangle 153"/>
            <p:cNvSpPr/>
            <p:nvPr/>
          </p:nvSpPr>
          <p:spPr>
            <a:xfrm>
              <a:off x="8458200" y="3371850"/>
              <a:ext cx="3352800" cy="590550"/>
            </a:xfrm>
            <a:prstGeom prst="roundRect">
              <a:avLst>
                <a:gd name="adj" fmla="val 9677"/>
              </a:avLst>
            </a:prstGeom>
            <a:solidFill>
              <a:srgbClr val="EFF5FC"/>
            </a:solidFill>
            <a:ln w="9525">
              <a:solidFill>
                <a:srgbClr val="C7D9F0"/>
              </a:solidFill>
            </a:ln>
          </p:spPr>
        </p:sp>
        <p:sp>
          <p:nvSpPr>
            <p:cNvPr id="154" name="Ellipse 154"/>
            <p:cNvSpPr/>
            <p:nvPr/>
          </p:nvSpPr>
          <p:spPr>
            <a:xfrm>
              <a:off x="8562975" y="3505200"/>
              <a:ext cx="323850" cy="323850"/>
            </a:xfrm>
            <a:prstGeom prst="ellipse">
              <a:avLst/>
            </a:prstGeom>
            <a:solidFill>
              <a:srgbClr val="9C331E"/>
            </a:solidFill>
            <a:ln>
              <a:noFill/>
            </a:ln>
          </p:spPr>
        </p:sp>
        <p:grpSp>
          <p:nvGrpSpPr>
            <p:cNvPr id="158" name="Group 158"/>
            <p:cNvGrpSpPr/>
            <p:nvPr/>
          </p:nvGrpSpPr>
          <p:grpSpPr>
            <a:xfrm>
              <a:off x="8661399" y="3599747"/>
              <a:ext cx="130867" cy="134739"/>
              <a:chOff x="8661399" y="3599747"/>
              <a:chExt cx="130867" cy="134739"/>
            </a:xfrm>
          </p:grpSpPr>
          <p:sp>
            <p:nvSpPr>
              <p:cNvPr id="155" name="Freeform 155"/>
              <p:cNvSpPr/>
              <p:nvPr/>
            </p:nvSpPr>
            <p:spPr>
              <a:xfrm>
                <a:off x="8701087" y="3643312"/>
                <a:ext cx="47625" cy="47625"/>
              </a:xfrm>
              <a:custGeom>
                <a:avLst/>
                <a:gdLst/>
                <a:ahLst/>
                <a:cxnLst/>
                <a:rect l="l" t="t" r="r" b="b"/>
                <a:pathLst>
                  <a:path w="47625" h="47625">
                    <a:moveTo>
                      <a:pt x="0" y="47625"/>
                    </a:moveTo>
                    <a:lnTo>
                      <a:pt x="47625" y="0"/>
                    </a:lnTo>
                  </a:path>
                </a:pathLst>
              </a:custGeom>
              <a:noFill/>
              <a:ln w="15875">
                <a:solidFill>
                  <a:srgbClr val="FFFFFF"/>
                </a:solidFill>
              </a:ln>
            </p:spPr>
          </p:sp>
          <p:sp>
            <p:nvSpPr>
              <p:cNvPr id="156" name="Freeform 156"/>
              <p:cNvSpPr/>
              <p:nvPr/>
            </p:nvSpPr>
            <p:spPr>
              <a:xfrm>
                <a:off x="8716962" y="3599747"/>
                <a:ext cx="75304" cy="75316"/>
              </a:xfrm>
              <a:custGeom>
                <a:avLst/>
                <a:gdLst/>
                <a:ahLst/>
                <a:cxnLst/>
                <a:rect l="l" t="t" r="r" b="b"/>
                <a:pathLst>
                  <a:path w="75304" h="75316">
                    <a:moveTo>
                      <a:pt x="0" y="19753"/>
                    </a:moveTo>
                    <a:lnTo>
                      <a:pt x="3675" y="15499"/>
                    </a:lnTo>
                    <a:cubicBezTo>
                      <a:pt x="19176" y="0"/>
                      <a:pt x="44306" y="2"/>
                      <a:pt x="59805" y="15503"/>
                    </a:cubicBezTo>
                    <a:cubicBezTo>
                      <a:pt x="75304" y="31004"/>
                      <a:pt x="75302" y="56134"/>
                      <a:pt x="59801" y="71633"/>
                    </a:cubicBezTo>
                    <a:lnTo>
                      <a:pt x="55562" y="75316"/>
                    </a:lnTo>
                  </a:path>
                </a:pathLst>
              </a:custGeom>
              <a:noFill/>
              <a:ln w="15875">
                <a:solidFill>
                  <a:srgbClr val="FFFFFF"/>
                </a:solidFill>
              </a:ln>
            </p:spPr>
          </p:sp>
          <p:sp>
            <p:nvSpPr>
              <p:cNvPr id="157" name="Freeform 157"/>
              <p:cNvSpPr/>
              <p:nvPr/>
            </p:nvSpPr>
            <p:spPr>
              <a:xfrm>
                <a:off x="8661399" y="3659187"/>
                <a:ext cx="71439" cy="75299"/>
              </a:xfrm>
              <a:custGeom>
                <a:avLst/>
                <a:gdLst/>
                <a:ahLst/>
                <a:cxnLst/>
                <a:rect l="l" t="t" r="r" b="b"/>
                <a:pathLst>
                  <a:path w="71439" h="75299">
                    <a:moveTo>
                      <a:pt x="71439" y="55562"/>
                    </a:moveTo>
                    <a:lnTo>
                      <a:pt x="68287" y="59801"/>
                    </a:lnTo>
                    <a:cubicBezTo>
                      <a:pt x="52615" y="75299"/>
                      <a:pt x="27389" y="75299"/>
                      <a:pt x="11717" y="59801"/>
                    </a:cubicBezTo>
                    <a:cubicBezTo>
                      <a:pt x="4219" y="52388"/>
                      <a:pt x="0" y="42282"/>
                      <a:pt x="0" y="31738"/>
                    </a:cubicBezTo>
                    <a:cubicBezTo>
                      <a:pt x="0" y="21194"/>
                      <a:pt x="4219" y="11089"/>
                      <a:pt x="11717" y="3675"/>
                    </a:cubicBezTo>
                    <a:lnTo>
                      <a:pt x="15876" y="0"/>
                    </a:lnTo>
                  </a:path>
                </a:pathLst>
              </a:custGeom>
              <a:noFill/>
              <a:ln w="15875">
                <a:solidFill>
                  <a:srgbClr val="FFFFFF"/>
                </a:solidFill>
              </a:ln>
            </p:spPr>
          </p:sp>
        </p:grpSp>
        <p:sp>
          <p:nvSpPr>
            <p:cNvPr id="159" name="TextBox 159"/>
            <p:cNvSpPr txBox="1"/>
            <p:nvPr/>
          </p:nvSpPr>
          <p:spPr>
            <a:xfrm>
              <a:off x="8986838" y="3508772"/>
              <a:ext cx="768782"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工单系统衔接</a:t>
              </a:r>
            </a:p>
          </p:txBody>
        </p:sp>
        <p:sp>
          <p:nvSpPr>
            <p:cNvPr id="160" name="TextBox 160"/>
            <p:cNvSpPr txBox="1"/>
            <p:nvPr/>
          </p:nvSpPr>
          <p:spPr>
            <a:xfrm>
              <a:off x="8986838" y="3699034"/>
              <a:ext cx="169786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与电网运维工单系统打通，实现发现问题到​</a:t>
              </a:r>
              <a:br/>
              <a:r>
                <a:rPr lang="zh-CN" sz="680" dirty="0">
                  <a:solidFill>
                    <a:srgbClr val="573F3A"/>
                  </a:solidFill>
                  <a:latin typeface="+mn-lt"/>
                  <a:ea typeface="+mn-ea"/>
                  <a:cs typeface="+mn-cs"/>
                </a:rPr>
                <a:t>处置闭环的业务流转。</a:t>
              </a:r>
            </a:p>
          </p:txBody>
        </p:sp>
      </p:grpSp>
      <p:grpSp>
        <p:nvGrpSpPr>
          <p:cNvPr id="171" name="why-5"/>
          <p:cNvGrpSpPr/>
          <p:nvPr/>
        </p:nvGrpSpPr>
        <p:grpSpPr>
          <a:xfrm>
            <a:off x="8458200" y="4038600"/>
            <a:ext cx="3352800" cy="590550"/>
            <a:chOff x="8458200" y="4038600"/>
            <a:chExt cx="3352800" cy="590550"/>
          </a:xfrm>
        </p:grpSpPr>
        <p:sp>
          <p:nvSpPr>
            <p:cNvPr id="162" name="Rectangle 162"/>
            <p:cNvSpPr/>
            <p:nvPr/>
          </p:nvSpPr>
          <p:spPr>
            <a:xfrm>
              <a:off x="8458200" y="4038600"/>
              <a:ext cx="3352800" cy="590550"/>
            </a:xfrm>
            <a:prstGeom prst="roundRect">
              <a:avLst>
                <a:gd name="adj" fmla="val 9677"/>
              </a:avLst>
            </a:prstGeom>
            <a:solidFill>
              <a:srgbClr val="EFF5FC"/>
            </a:solidFill>
            <a:ln w="9525">
              <a:solidFill>
                <a:srgbClr val="C7D9F0"/>
              </a:solidFill>
            </a:ln>
          </p:spPr>
        </p:sp>
        <p:sp>
          <p:nvSpPr>
            <p:cNvPr id="163" name="Ellipse 163"/>
            <p:cNvSpPr/>
            <p:nvPr/>
          </p:nvSpPr>
          <p:spPr>
            <a:xfrm>
              <a:off x="8562975" y="4171950"/>
              <a:ext cx="323850" cy="323850"/>
            </a:xfrm>
            <a:prstGeom prst="ellipse">
              <a:avLst/>
            </a:prstGeom>
            <a:solidFill>
              <a:srgbClr val="9C331E"/>
            </a:solidFill>
            <a:ln>
              <a:noFill/>
            </a:ln>
          </p:spPr>
        </p:sp>
        <p:grpSp>
          <p:nvGrpSpPr>
            <p:cNvPr id="168" name="Group 168"/>
            <p:cNvGrpSpPr/>
            <p:nvPr/>
          </p:nvGrpSpPr>
          <p:grpSpPr>
            <a:xfrm>
              <a:off x="8653462" y="4270375"/>
              <a:ext cx="142875" cy="136525"/>
              <a:chOff x="8653462" y="4270375"/>
              <a:chExt cx="142875" cy="136525"/>
            </a:xfrm>
          </p:grpSpPr>
          <p:sp>
            <p:nvSpPr>
              <p:cNvPr id="164" name="Freeform 164"/>
              <p:cNvSpPr/>
              <p:nvPr/>
            </p:nvSpPr>
            <p:spPr>
              <a:xfrm>
                <a:off x="8653462" y="4333875"/>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165" name="Freeform 165"/>
              <p:cNvSpPr/>
              <p:nvPr/>
            </p:nvSpPr>
            <p:spPr>
              <a:xfrm>
                <a:off x="8748712" y="4302125"/>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166" name="Freeform 166"/>
              <p:cNvSpPr/>
              <p:nvPr/>
            </p:nvSpPr>
            <p:spPr>
              <a:xfrm>
                <a:off x="8701087" y="4270375"/>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167" name="Freeform 167"/>
              <p:cNvSpPr/>
              <p:nvPr/>
            </p:nvSpPr>
            <p:spPr>
              <a:xfrm>
                <a:off x="8661400" y="4397375"/>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169" name="TextBox 169"/>
            <p:cNvSpPr txBox="1"/>
            <p:nvPr/>
          </p:nvSpPr>
          <p:spPr>
            <a:xfrm>
              <a:off x="8986838" y="4175522"/>
              <a:ext cx="642239"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指标可量化</a:t>
              </a:r>
            </a:p>
          </p:txBody>
        </p:sp>
        <p:sp>
          <p:nvSpPr>
            <p:cNvPr id="170" name="TextBox 170"/>
            <p:cNvSpPr txBox="1"/>
            <p:nvPr/>
          </p:nvSpPr>
          <p:spPr>
            <a:xfrm>
              <a:off x="8986838" y="4365784"/>
              <a:ext cx="169786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安全性、效率、缺陷发现率等关键指标清晰​</a:t>
              </a:r>
              <a:br/>
              <a:r>
                <a:rPr lang="zh-CN" sz="680" dirty="0">
                  <a:solidFill>
                    <a:srgbClr val="573F3A"/>
                  </a:solidFill>
                  <a:latin typeface="+mn-lt"/>
                  <a:ea typeface="+mn-ea"/>
                  <a:cs typeface="+mn-cs"/>
                </a:rPr>
                <a:t>可量化，便于持续优化和推广。</a:t>
              </a:r>
            </a:p>
          </p:txBody>
        </p:sp>
      </p:grpSp>
      <p:grpSp>
        <p:nvGrpSpPr>
          <p:cNvPr id="173" name="bottom-note"/>
          <p:cNvGrpSpPr/>
          <p:nvPr/>
        </p:nvGrpSpPr>
        <p:grpSpPr>
          <a:xfrm>
            <a:off x="9445942" y="5595938"/>
            <a:ext cx="2331720" cy="147638"/>
            <a:chOff x="9445942" y="5595938"/>
            <a:chExt cx="2331720" cy="147638"/>
          </a:xfrm>
        </p:grpSpPr>
        <p:sp>
          <p:nvSpPr>
            <p:cNvPr id="172" name="TextBox 172"/>
            <p:cNvSpPr txBox="1"/>
            <p:nvPr/>
          </p:nvSpPr>
          <p:spPr>
            <a:xfrm>
              <a:off x="9445942" y="5595938"/>
              <a:ext cx="2331720" cy="147638"/>
            </a:xfrm>
            <a:prstGeom prst="rect">
              <a:avLst/>
            </a:prstGeom>
            <a:noFill/>
            <a:ln>
              <a:noFill/>
            </a:ln>
          </p:spPr>
          <p:txBody>
            <a:bodyPr wrap="none" lIns="0" tIns="0" rIns="0" bIns="0" anchor="t" anchorCtr="0">
              <a:spAutoFit/>
            </a:bodyPr>
            <a:lstStyle/>
            <a:p>
              <a:pPr algn="r"/>
              <a:r>
                <a:rPr lang="zh-CN" sz="750" dirty="0">
                  <a:solidFill>
                    <a:srgbClr val="9B807A"/>
                  </a:solidFill>
                  <a:latin typeface="+mn-lt"/>
                  <a:ea typeface="+mn-ea"/>
                  <a:cs typeface="+mn-cs"/>
                </a:rPr>
                <a:t>以公开信息看见产业进步　以规模实践定义跑通尺度</a:t>
              </a:r>
            </a:p>
          </p:txBody>
        </p:sp>
      </p:grpSp>
      <p:sp>
        <p:nvSpPr>
          <p:cNvPr id="174" name="deco-hills"/>
          <p:cNvSpPr/>
          <p:nvPr/>
        </p:nvSpPr>
        <p:spPr>
          <a:xfrm>
            <a:off x="0" y="6248400"/>
            <a:ext cx="12192000" cy="457200"/>
          </a:xfrm>
          <a:custGeom>
            <a:avLst/>
            <a:gdLst/>
            <a:ahLst/>
            <a:cxnLst/>
            <a:rect l="l" t="t" r="r" b="b"/>
            <a:pathLst>
              <a:path w="12192000" h="457200">
                <a:moveTo>
                  <a:pt x="0" y="419100"/>
                </a:moveTo>
                <a:lnTo>
                  <a:pt x="1333500" y="76200"/>
                </a:lnTo>
                <a:lnTo>
                  <a:pt x="2667000" y="323850"/>
                </a:lnTo>
                <a:lnTo>
                  <a:pt x="4095750" y="0"/>
                </a:lnTo>
                <a:lnTo>
                  <a:pt x="5524500" y="304800"/>
                </a:lnTo>
                <a:lnTo>
                  <a:pt x="7048500" y="38100"/>
                </a:lnTo>
                <a:lnTo>
                  <a:pt x="8572500" y="285750"/>
                </a:lnTo>
                <a:lnTo>
                  <a:pt x="10096500" y="19050"/>
                </a:lnTo>
                <a:lnTo>
                  <a:pt x="11430000" y="247650"/>
                </a:lnTo>
                <a:lnTo>
                  <a:pt x="12192000" y="114300"/>
                </a:lnTo>
                <a:lnTo>
                  <a:pt x="12192000" y="457200"/>
                </a:lnTo>
                <a:lnTo>
                  <a:pt x="0" y="457200"/>
                </a:lnTo>
                <a:close/>
              </a:path>
            </a:pathLst>
          </a:custGeom>
          <a:solidFill>
            <a:srgbClr val="DCE9F8"/>
          </a:solidFill>
          <a:ln>
            <a:noFill/>
          </a:ln>
        </p:spPr>
      </p:sp>
      <p:sp>
        <p:nvSpPr>
          <p:cNvPr id="175" name="deco-pylons"/>
          <p:cNvSpPr/>
          <p:nvPr/>
        </p:nvSpPr>
        <p:spPr>
          <a:xfrm>
            <a:off x="1714500" y="6191250"/>
            <a:ext cx="8572500" cy="400050"/>
          </a:xfrm>
          <a:custGeom>
            <a:avLst/>
            <a:gdLst/>
            <a:ahLst/>
            <a:cxnLst/>
            <a:rect l="l" t="t" r="r" b="b"/>
            <a:pathLst>
              <a:path w="8572500" h="400050">
                <a:moveTo>
                  <a:pt x="0" y="381000"/>
                </a:moveTo>
                <a:lnTo>
                  <a:pt x="114300" y="0"/>
                </a:lnTo>
                <a:lnTo>
                  <a:pt x="228600" y="381000"/>
                </a:lnTo>
                <a:moveTo>
                  <a:pt x="38100" y="247650"/>
                </a:moveTo>
                <a:lnTo>
                  <a:pt x="190500" y="247650"/>
                </a:lnTo>
                <a:moveTo>
                  <a:pt x="8382000" y="400050"/>
                </a:moveTo>
                <a:lnTo>
                  <a:pt x="8477250" y="76200"/>
                </a:lnTo>
                <a:lnTo>
                  <a:pt x="8572500" y="400050"/>
                </a:lnTo>
                <a:moveTo>
                  <a:pt x="8410575" y="285750"/>
                </a:moveTo>
                <a:lnTo>
                  <a:pt x="8543925" y="285750"/>
                </a:lnTo>
              </a:path>
            </a:pathLst>
          </a:custGeom>
          <a:noFill/>
          <a:ln w="19050">
            <a:solidFill>
              <a:srgbClr val="ECB3A8"/>
            </a:solidFill>
          </a:ln>
        </p:spPr>
      </p:sp>
      <p:grpSp>
        <p:nvGrpSpPr>
          <p:cNvPr id="179" name="footer"/>
          <p:cNvGrpSpPr/>
          <p:nvPr/>
        </p:nvGrpSpPr>
        <p:grpSpPr>
          <a:xfrm>
            <a:off x="0" y="6705600"/>
            <a:ext cx="12192000" cy="173117"/>
            <a:chOff x="0" y="6705600"/>
            <a:chExt cx="12192000" cy="173117"/>
          </a:xfrm>
        </p:grpSpPr>
        <p:sp>
          <p:nvSpPr>
            <p:cNvPr id="176" name="Rectangle 176"/>
            <p:cNvSpPr/>
            <p:nvPr/>
          </p:nvSpPr>
          <p:spPr>
            <a:xfrm>
              <a:off x="0" y="6705600"/>
              <a:ext cx="12192000" cy="152400"/>
            </a:xfrm>
            <a:prstGeom prst="rect">
              <a:avLst/>
            </a:prstGeom>
            <a:solidFill>
              <a:srgbClr val="632012"/>
            </a:solidFill>
            <a:ln>
              <a:noFill/>
            </a:ln>
          </p:spPr>
        </p:sp>
        <p:sp>
          <p:nvSpPr>
            <p:cNvPr id="177" name="TextBox 177"/>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78" name="TextBox 178"/>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08/20</a:t>
              </a:r>
            </a:p>
          </p:txBody>
        </p:sp>
      </p:gr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1739563" cy="551879"/>
            <a:chOff x="0" y="0"/>
            <a:chExt cx="11739563"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3" name="TextBox 3"/>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09</a:t>
              </a:r>
            </a:p>
          </p:txBody>
        </p:sp>
        <p:sp>
          <p:nvSpPr>
            <p:cNvPr id="4" name="TextBox 4"/>
            <p:cNvSpPr txBox="1"/>
            <p:nvPr/>
          </p:nvSpPr>
          <p:spPr>
            <a:xfrm>
              <a:off x="942594" y="170498"/>
              <a:ext cx="5012436"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电网调控</a:t>
              </a:r>
              <a:r>
                <a:rPr lang="zh-CN" sz="1950" b="1" dirty="0">
                  <a:solidFill>
                    <a:srgbClr val="5E2114"/>
                  </a:solidFill>
                  <a:latin typeface="+mj-lt"/>
                  <a:ea typeface="+mj-ea"/>
                  <a:cs typeface="+mj-cs"/>
                </a:rPr>
                <a:t>｜项目入选，成效仍待持续披露</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6" name="TextBox 6"/>
            <p:cNvSpPr txBox="1"/>
            <p:nvPr/>
          </p:nvSpPr>
          <p:spPr>
            <a:xfrm>
              <a:off x="11124248" y="128588"/>
              <a:ext cx="615315" cy="147638"/>
            </a:xfrm>
            <a:prstGeom prst="rect">
              <a:avLst/>
            </a:prstGeom>
            <a:noFill/>
            <a:ln>
              <a:noFill/>
            </a:ln>
          </p:spPr>
          <p:txBody>
            <a:bodyPr wrap="none" lIns="0" tIns="0" rIns="0" bIns="0" anchor="t" anchorCtr="0">
              <a:spAutoFit/>
            </a:bodyPr>
            <a:lstStyle/>
            <a:p>
              <a:pPr algn="r"/>
              <a:r>
                <a:rPr lang="zh-CN" sz="750" b="1" dirty="0">
                  <a:solidFill>
                    <a:srgbClr val="5E2114"/>
                  </a:solidFill>
                  <a:latin typeface="+mn-lt"/>
                  <a:ea typeface="+mn-ea"/>
                  <a:cs typeface="+mn-cs"/>
                </a:rPr>
                <a:t>电力新型系统</a:t>
              </a:r>
            </a:p>
          </p:txBody>
        </p:sp>
        <p:sp>
          <p:nvSpPr>
            <p:cNvPr id="7" name="TextBox 7"/>
            <p:cNvSpPr txBox="1"/>
            <p:nvPr/>
          </p:nvSpPr>
          <p:spPr>
            <a:xfrm>
              <a:off x="10678655" y="285036"/>
              <a:ext cx="1060907"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更清洁　更灵活　更可靠</a:t>
              </a:r>
            </a:p>
          </p:txBody>
        </p:sp>
      </p:grpSp>
      <p:grpSp>
        <p:nvGrpSpPr>
          <p:cNvPr id="10" name="subtitle"/>
          <p:cNvGrpSpPr/>
          <p:nvPr/>
        </p:nvGrpSpPr>
        <p:grpSpPr>
          <a:xfrm>
            <a:off x="985838" y="668893"/>
            <a:ext cx="7737386" cy="169069"/>
            <a:chOff x="985838" y="668893"/>
            <a:chExt cx="7737386" cy="169069"/>
          </a:xfrm>
        </p:grpSpPr>
        <p:sp>
          <p:nvSpPr>
            <p:cNvPr id="9" name="TextBox 9"/>
            <p:cNvSpPr txBox="1"/>
            <p:nvPr/>
          </p:nvSpPr>
          <p:spPr>
            <a:xfrm>
              <a:off x="985838" y="668893"/>
              <a:ext cx="7737386"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两大应用场景入选国家电网2026年典型案例集，聚焦新能源消纳与系统灵活调节；公开信息确认入选，不等同于规模上线；暂未见统一的月度经营指标​</a:t>
              </a:r>
            </a:p>
          </p:txBody>
        </p:sp>
      </p:grpSp>
      <p:grpSp>
        <p:nvGrpSpPr>
          <p:cNvPr id="49" name="brand-col"/>
          <p:cNvGrpSpPr/>
          <p:nvPr/>
        </p:nvGrpSpPr>
        <p:grpSpPr>
          <a:xfrm>
            <a:off x="381000" y="914400"/>
            <a:ext cx="1676400" cy="5600700"/>
            <a:chOff x="381000" y="914400"/>
            <a:chExt cx="1676400" cy="5600700"/>
          </a:xfrm>
        </p:grpSpPr>
        <p:sp>
          <p:nvSpPr>
            <p:cNvPr id="11" name="Rectangle 11"/>
            <p:cNvSpPr/>
            <p:nvPr/>
          </p:nvSpPr>
          <p:spPr>
            <a:xfrm>
              <a:off x="381000" y="914400"/>
              <a:ext cx="1676400" cy="5600700"/>
            </a:xfrm>
            <a:prstGeom prst="roundRect">
              <a:avLst>
                <a:gd name="adj" fmla="val 4545"/>
              </a:avLst>
            </a:prstGeom>
            <a:gradFill>
              <a:gsLst>
                <a:gs pos="0">
                  <a:srgbClr val="632012"/>
                </a:gs>
                <a:gs pos="100000">
                  <a:srgbClr val="9C331E"/>
                </a:gs>
              </a:gsLst>
              <a:lin ang="5400000" scaled="1"/>
            </a:gradFill>
            <a:ln>
              <a:noFill/>
            </a:ln>
          </p:spPr>
        </p:sp>
        <p:sp>
          <p:nvSpPr>
            <p:cNvPr id="12" name="Ellipse 12"/>
            <p:cNvSpPr/>
            <p:nvPr/>
          </p:nvSpPr>
          <p:spPr>
            <a:xfrm>
              <a:off x="933450" y="1162050"/>
              <a:ext cx="571500" cy="571500"/>
            </a:xfrm>
            <a:prstGeom prst="ellipse">
              <a:avLst/>
            </a:prstGeom>
            <a:solidFill>
              <a:srgbClr val="FFFFFF">
                <a:alpha val="14000"/>
              </a:srgbClr>
            </a:solidFill>
            <a:ln w="14288">
              <a:solidFill>
                <a:srgbClr val="FFFFFF"/>
              </a:solidFill>
            </a:ln>
          </p:spPr>
        </p:sp>
        <p:sp>
          <p:nvSpPr>
            <p:cNvPr id="13" name="Ellipse 13"/>
            <p:cNvSpPr/>
            <p:nvPr/>
          </p:nvSpPr>
          <p:spPr>
            <a:xfrm>
              <a:off x="1038225" y="1266825"/>
              <a:ext cx="361950" cy="361950"/>
            </a:xfrm>
            <a:prstGeom prst="ellipse">
              <a:avLst/>
            </a:prstGeom>
            <a:noFill/>
            <a:ln w="14288">
              <a:solidFill>
                <a:srgbClr val="FFFFFF"/>
              </a:solidFill>
            </a:ln>
          </p:spPr>
        </p:sp>
        <p:sp>
          <p:nvSpPr>
            <p:cNvPr id="14" name="Freeform 14"/>
            <p:cNvSpPr/>
            <p:nvPr/>
          </p:nvSpPr>
          <p:spPr>
            <a:xfrm>
              <a:off x="1038225" y="1266825"/>
              <a:ext cx="361950" cy="361950"/>
            </a:xfrm>
            <a:custGeom>
              <a:avLst/>
              <a:gdLst/>
              <a:ahLst/>
              <a:cxnLst/>
              <a:rect l="l" t="t" r="r" b="b"/>
              <a:pathLst>
                <a:path w="361950" h="361950">
                  <a:moveTo>
                    <a:pt x="0" y="180975"/>
                  </a:moveTo>
                  <a:lnTo>
                    <a:pt x="361950" y="180975"/>
                  </a:lnTo>
                  <a:moveTo>
                    <a:pt x="180975" y="0"/>
                  </a:moveTo>
                  <a:lnTo>
                    <a:pt x="180975" y="361950"/>
                  </a:lnTo>
                  <a:moveTo>
                    <a:pt x="57150" y="57150"/>
                  </a:moveTo>
                  <a:lnTo>
                    <a:pt x="304800" y="304800"/>
                  </a:lnTo>
                  <a:moveTo>
                    <a:pt x="304800" y="57150"/>
                  </a:moveTo>
                  <a:lnTo>
                    <a:pt x="57150" y="304800"/>
                  </a:lnTo>
                </a:path>
              </a:pathLst>
            </a:custGeom>
            <a:noFill/>
            <a:ln w="11430">
              <a:solidFill>
                <a:srgbClr val="FFFFFF"/>
              </a:solidFill>
            </a:ln>
          </p:spPr>
        </p:sp>
        <p:sp>
          <p:nvSpPr>
            <p:cNvPr id="15" name="TextBox 15"/>
            <p:cNvSpPr txBox="1"/>
            <p:nvPr/>
          </p:nvSpPr>
          <p:spPr>
            <a:xfrm>
              <a:off x="818464" y="183784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国家电网公司</a:t>
              </a:r>
            </a:p>
          </p:txBody>
        </p:sp>
        <p:sp>
          <p:nvSpPr>
            <p:cNvPr id="16" name="TextBox 16"/>
            <p:cNvSpPr txBox="1"/>
            <p:nvPr/>
          </p:nvSpPr>
          <p:spPr>
            <a:xfrm>
              <a:off x="958388" y="2030730"/>
              <a:ext cx="521623" cy="119062"/>
            </a:xfrm>
            <a:prstGeom prst="rect">
              <a:avLst/>
            </a:prstGeom>
            <a:noFill/>
            <a:ln>
              <a:noFill/>
            </a:ln>
          </p:spPr>
          <p:txBody>
            <a:bodyPr wrap="none" lIns="0" tIns="0" rIns="0" bIns="0" anchor="t" anchorCtr="0">
              <a:spAutoFit/>
            </a:bodyPr>
            <a:lstStyle/>
            <a:p>
              <a:pPr algn="ctr"/>
              <a:r>
                <a:rPr lang="en-US" sz="600" dirty="0">
                  <a:solidFill>
                    <a:srgbClr val="ECB3A8"/>
                  </a:solidFill>
                  <a:latin typeface="Arial"/>
                  <a:ea typeface="Arial"/>
                  <a:cs typeface="Arial"/>
                </a:rPr>
                <a:t>STATE GRID</a:t>
              </a:r>
            </a:p>
          </p:txBody>
        </p:sp>
        <p:sp>
          <p:nvSpPr>
            <p:cNvPr id="17" name="Line 17"/>
            <p:cNvSpPr/>
            <p:nvPr/>
          </p:nvSpPr>
          <p:spPr>
            <a:xfrm>
              <a:off x="609600" y="2266950"/>
              <a:ext cx="1219200" cy="9525"/>
            </a:xfrm>
            <a:custGeom>
              <a:avLst/>
              <a:gdLst/>
              <a:ahLst/>
              <a:cxnLst/>
              <a:rect l="l" t="t" r="r" b="b"/>
              <a:pathLst>
                <a:path w="1219200" h="9525">
                  <a:moveTo>
                    <a:pt x="0" y="0"/>
                  </a:moveTo>
                  <a:lnTo>
                    <a:pt x="1219200" y="0"/>
                  </a:lnTo>
                </a:path>
              </a:pathLst>
            </a:custGeom>
            <a:noFill/>
            <a:ln w="9525">
              <a:solidFill>
                <a:srgbClr val="DE715B"/>
              </a:solidFill>
            </a:ln>
          </p:spPr>
        </p:sp>
        <p:sp>
          <p:nvSpPr>
            <p:cNvPr id="18" name="TextBox 18"/>
            <p:cNvSpPr txBox="1"/>
            <p:nvPr/>
          </p:nvSpPr>
          <p:spPr>
            <a:xfrm>
              <a:off x="583067" y="2432447"/>
              <a:ext cx="1272267" cy="373856"/>
            </a:xfrm>
            <a:prstGeom prst="rect">
              <a:avLst/>
            </a:prstGeom>
            <a:noFill/>
            <a:ln>
              <a:noFill/>
            </a:ln>
          </p:spPr>
          <p:txBody>
            <a:bodyPr wrap="none" lIns="0" tIns="0" rIns="0" bIns="0" anchor="t" anchorCtr="0">
              <a:spAutoFit/>
            </a:bodyPr>
            <a:lstStyle/>
            <a:p>
              <a:pPr algn="ctr">
                <a:lnSpc>
                  <a:spcPts val="1500"/>
                </a:lnSpc>
              </a:pPr>
              <a:r>
                <a:rPr lang="zh-CN" sz="940" b="1" dirty="0">
                  <a:solidFill>
                    <a:srgbClr val="FFFFFF"/>
                  </a:solidFill>
                  <a:latin typeface="+mn-lt"/>
                  <a:ea typeface="+mn-ea"/>
                  <a:cs typeface="+mn-cs"/>
                </a:rPr>
                <a:t>以数字化能力</a:t>
              </a:r>
              <a:br/>
              <a:r>
                <a:rPr lang="zh-CN" sz="940" b="1" dirty="0">
                  <a:solidFill>
                    <a:srgbClr val="FFFFFF"/>
                  </a:solidFill>
                  <a:latin typeface="+mn-lt"/>
                  <a:ea typeface="+mn-ea"/>
                  <a:cs typeface="+mn-cs"/>
                </a:rPr>
                <a:t>服务新型电力系统建设​</a:t>
              </a:r>
            </a:p>
          </p:txBody>
        </p:sp>
        <p:sp>
          <p:nvSpPr>
            <p:cNvPr id="19" name="Ellipse 19"/>
            <p:cNvSpPr/>
            <p:nvPr/>
          </p:nvSpPr>
          <p:spPr>
            <a:xfrm>
              <a:off x="581025" y="3038475"/>
              <a:ext cx="285750" cy="285750"/>
            </a:xfrm>
            <a:prstGeom prst="ellipse">
              <a:avLst/>
            </a:prstGeom>
            <a:solidFill>
              <a:srgbClr val="FFFFFF">
                <a:alpha val="16000"/>
              </a:srgbClr>
            </a:solidFill>
            <a:ln>
              <a:noFill/>
            </a:ln>
          </p:spPr>
        </p:sp>
        <p:grpSp>
          <p:nvGrpSpPr>
            <p:cNvPr id="23" name="Group 23"/>
            <p:cNvGrpSpPr/>
            <p:nvPr/>
          </p:nvGrpSpPr>
          <p:grpSpPr>
            <a:xfrm>
              <a:off x="659606" y="3124200"/>
              <a:ext cx="128588" cy="114300"/>
              <a:chOff x="659606" y="3124200"/>
              <a:chExt cx="128588" cy="114300"/>
            </a:xfrm>
          </p:grpSpPr>
          <p:sp>
            <p:nvSpPr>
              <p:cNvPr id="20" name="Freeform 20"/>
              <p:cNvSpPr/>
              <p:nvPr/>
            </p:nvSpPr>
            <p:spPr>
              <a:xfrm>
                <a:off x="659606" y="3124200"/>
                <a:ext cx="64294" cy="57150"/>
              </a:xfrm>
              <a:custGeom>
                <a:avLst/>
                <a:gdLst/>
                <a:ahLst/>
                <a:cxnLst/>
                <a:rect l="l" t="t" r="r" b="b"/>
                <a:pathLst>
                  <a:path w="64294" h="57150">
                    <a:moveTo>
                      <a:pt x="64294" y="42862"/>
                    </a:moveTo>
                    <a:cubicBezTo>
                      <a:pt x="64294" y="19190"/>
                      <a:pt x="45104" y="0"/>
                      <a:pt x="21431" y="0"/>
                    </a:cubicBezTo>
                    <a:lnTo>
                      <a:pt x="0" y="0"/>
                    </a:lnTo>
                    <a:lnTo>
                      <a:pt x="0" y="14288"/>
                    </a:lnTo>
                    <a:cubicBezTo>
                      <a:pt x="0" y="37960"/>
                      <a:pt x="19190" y="57150"/>
                      <a:pt x="42862" y="57150"/>
                    </a:cubicBezTo>
                    <a:lnTo>
                      <a:pt x="64294" y="57150"/>
                    </a:lnTo>
                  </a:path>
                </a:pathLst>
              </a:custGeom>
              <a:noFill/>
              <a:ln w="14288">
                <a:solidFill>
                  <a:srgbClr val="FFFFFF"/>
                </a:solidFill>
              </a:ln>
            </p:spPr>
          </p:sp>
          <p:sp>
            <p:nvSpPr>
              <p:cNvPr id="21" name="Freeform 21"/>
              <p:cNvSpPr/>
              <p:nvPr/>
            </p:nvSpPr>
            <p:spPr>
              <a:xfrm>
                <a:off x="723900" y="3152775"/>
                <a:ext cx="64294" cy="50006"/>
              </a:xfrm>
              <a:custGeom>
                <a:avLst/>
                <a:gdLst/>
                <a:ahLst/>
                <a:cxnLst/>
                <a:rect l="l" t="t" r="r" b="b"/>
                <a:pathLst>
                  <a:path w="64294" h="50006">
                    <a:moveTo>
                      <a:pt x="0" y="42862"/>
                    </a:moveTo>
                    <a:cubicBezTo>
                      <a:pt x="0" y="19190"/>
                      <a:pt x="19190" y="0"/>
                      <a:pt x="42862" y="0"/>
                    </a:cubicBezTo>
                    <a:lnTo>
                      <a:pt x="64294" y="0"/>
                    </a:lnTo>
                    <a:lnTo>
                      <a:pt x="64294" y="7144"/>
                    </a:lnTo>
                    <a:cubicBezTo>
                      <a:pt x="64294" y="30816"/>
                      <a:pt x="45104" y="50006"/>
                      <a:pt x="21431" y="50006"/>
                    </a:cubicBezTo>
                    <a:lnTo>
                      <a:pt x="0" y="50006"/>
                    </a:lnTo>
                  </a:path>
                </a:pathLst>
              </a:custGeom>
              <a:noFill/>
              <a:ln w="14288">
                <a:solidFill>
                  <a:srgbClr val="FFFFFF"/>
                </a:solidFill>
              </a:ln>
            </p:spPr>
          </p:sp>
          <p:sp>
            <p:nvSpPr>
              <p:cNvPr id="22" name="Freeform 22"/>
              <p:cNvSpPr/>
              <p:nvPr/>
            </p:nvSpPr>
            <p:spPr>
              <a:xfrm>
                <a:off x="723900" y="3167062"/>
                <a:ext cx="9525" cy="71438"/>
              </a:xfrm>
              <a:custGeom>
                <a:avLst/>
                <a:gdLst/>
                <a:ahLst/>
                <a:cxnLst/>
                <a:rect l="l" t="t" r="r" b="b"/>
                <a:pathLst>
                  <a:path w="9525" h="71438">
                    <a:moveTo>
                      <a:pt x="0" y="71438"/>
                    </a:moveTo>
                    <a:lnTo>
                      <a:pt x="0" y="0"/>
                    </a:lnTo>
                  </a:path>
                </a:pathLst>
              </a:custGeom>
              <a:noFill/>
              <a:ln w="14288">
                <a:solidFill>
                  <a:srgbClr val="FFFFFF"/>
                </a:solidFill>
              </a:ln>
            </p:spPr>
          </p:sp>
        </p:grpSp>
        <p:sp>
          <p:nvSpPr>
            <p:cNvPr id="24" name="TextBox 24"/>
            <p:cNvSpPr txBox="1"/>
            <p:nvPr/>
          </p:nvSpPr>
          <p:spPr>
            <a:xfrm>
              <a:off x="947738" y="3055620"/>
              <a:ext cx="37299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更清洁</a:t>
              </a:r>
            </a:p>
          </p:txBody>
        </p:sp>
        <p:sp>
          <p:nvSpPr>
            <p:cNvPr id="25" name="TextBox 25"/>
            <p:cNvSpPr txBox="1"/>
            <p:nvPr/>
          </p:nvSpPr>
          <p:spPr>
            <a:xfrm>
              <a:off x="947738" y="3226832"/>
              <a:ext cx="784936"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提升新能源消纳能力</a:t>
              </a:r>
            </a:p>
          </p:txBody>
        </p:sp>
        <p:sp>
          <p:nvSpPr>
            <p:cNvPr id="26" name="Ellipse 26"/>
            <p:cNvSpPr/>
            <p:nvPr/>
          </p:nvSpPr>
          <p:spPr>
            <a:xfrm>
              <a:off x="581025" y="3800475"/>
              <a:ext cx="285750" cy="285750"/>
            </a:xfrm>
            <a:prstGeom prst="ellipse">
              <a:avLst/>
            </a:prstGeom>
            <a:solidFill>
              <a:srgbClr val="FFFFFF">
                <a:alpha val="16000"/>
              </a:srgbClr>
            </a:solidFill>
            <a:ln>
              <a:noFill/>
            </a:ln>
          </p:spPr>
        </p:sp>
        <p:grpSp>
          <p:nvGrpSpPr>
            <p:cNvPr id="31" name="Group 31"/>
            <p:cNvGrpSpPr/>
            <p:nvPr/>
          </p:nvGrpSpPr>
          <p:grpSpPr>
            <a:xfrm>
              <a:off x="659606" y="3886200"/>
              <a:ext cx="128588" cy="114300"/>
              <a:chOff x="659606" y="3886200"/>
              <a:chExt cx="128588" cy="114300"/>
            </a:xfrm>
          </p:grpSpPr>
          <p:sp>
            <p:nvSpPr>
              <p:cNvPr id="27" name="Freeform 27"/>
              <p:cNvSpPr/>
              <p:nvPr/>
            </p:nvSpPr>
            <p:spPr>
              <a:xfrm>
                <a:off x="659606" y="3907631"/>
                <a:ext cx="128588" cy="9525"/>
              </a:xfrm>
              <a:custGeom>
                <a:avLst/>
                <a:gdLst/>
                <a:ahLst/>
                <a:cxnLst/>
                <a:rect l="l" t="t" r="r" b="b"/>
                <a:pathLst>
                  <a:path w="128588" h="9525">
                    <a:moveTo>
                      <a:pt x="128588" y="0"/>
                    </a:moveTo>
                    <a:lnTo>
                      <a:pt x="0" y="0"/>
                    </a:lnTo>
                  </a:path>
                </a:pathLst>
              </a:custGeom>
              <a:noFill/>
              <a:ln w="14288">
                <a:solidFill>
                  <a:srgbClr val="FFFFFF"/>
                </a:solidFill>
              </a:ln>
            </p:spPr>
          </p:sp>
          <p:sp>
            <p:nvSpPr>
              <p:cNvPr id="28" name="Freeform 28"/>
              <p:cNvSpPr/>
              <p:nvPr/>
            </p:nvSpPr>
            <p:spPr>
              <a:xfrm>
                <a:off x="766762" y="3886200"/>
                <a:ext cx="21431" cy="42862"/>
              </a:xfrm>
              <a:custGeom>
                <a:avLst/>
                <a:gdLst/>
                <a:ahLst/>
                <a:cxnLst/>
                <a:rect l="l" t="t" r="r" b="b"/>
                <a:pathLst>
                  <a:path w="21431" h="42862">
                    <a:moveTo>
                      <a:pt x="0" y="42862"/>
                    </a:moveTo>
                    <a:lnTo>
                      <a:pt x="21431" y="21431"/>
                    </a:lnTo>
                    <a:lnTo>
                      <a:pt x="0" y="0"/>
                    </a:lnTo>
                  </a:path>
                </a:pathLst>
              </a:custGeom>
              <a:noFill/>
              <a:ln w="14288">
                <a:solidFill>
                  <a:srgbClr val="FFFFFF"/>
                </a:solidFill>
              </a:ln>
            </p:spPr>
          </p:sp>
          <p:sp>
            <p:nvSpPr>
              <p:cNvPr id="29" name="Freeform 29"/>
              <p:cNvSpPr/>
              <p:nvPr/>
            </p:nvSpPr>
            <p:spPr>
              <a:xfrm>
                <a:off x="659606" y="3957638"/>
                <a:ext cx="21431" cy="42862"/>
              </a:xfrm>
              <a:custGeom>
                <a:avLst/>
                <a:gdLst/>
                <a:ahLst/>
                <a:cxnLst/>
                <a:rect l="l" t="t" r="r" b="b"/>
                <a:pathLst>
                  <a:path w="21431" h="42862">
                    <a:moveTo>
                      <a:pt x="21431" y="42862"/>
                    </a:moveTo>
                    <a:lnTo>
                      <a:pt x="0" y="21431"/>
                    </a:lnTo>
                    <a:lnTo>
                      <a:pt x="21431" y="0"/>
                    </a:lnTo>
                  </a:path>
                </a:pathLst>
              </a:custGeom>
              <a:noFill/>
              <a:ln w="14288">
                <a:solidFill>
                  <a:srgbClr val="FFFFFF"/>
                </a:solidFill>
              </a:ln>
            </p:spPr>
          </p:sp>
          <p:sp>
            <p:nvSpPr>
              <p:cNvPr id="30" name="Freeform 30"/>
              <p:cNvSpPr/>
              <p:nvPr/>
            </p:nvSpPr>
            <p:spPr>
              <a:xfrm>
                <a:off x="659606" y="3979069"/>
                <a:ext cx="128588" cy="9525"/>
              </a:xfrm>
              <a:custGeom>
                <a:avLst/>
                <a:gdLst/>
                <a:ahLst/>
                <a:cxnLst/>
                <a:rect l="l" t="t" r="r" b="b"/>
                <a:pathLst>
                  <a:path w="128588" h="9525">
                    <a:moveTo>
                      <a:pt x="0" y="0"/>
                    </a:moveTo>
                    <a:lnTo>
                      <a:pt x="128588" y="0"/>
                    </a:lnTo>
                  </a:path>
                </a:pathLst>
              </a:custGeom>
              <a:noFill/>
              <a:ln w="14288">
                <a:solidFill>
                  <a:srgbClr val="FFFFFF"/>
                </a:solidFill>
              </a:ln>
            </p:spPr>
          </p:sp>
        </p:grpSp>
        <p:sp>
          <p:nvSpPr>
            <p:cNvPr id="32" name="TextBox 32"/>
            <p:cNvSpPr txBox="1"/>
            <p:nvPr/>
          </p:nvSpPr>
          <p:spPr>
            <a:xfrm>
              <a:off x="947738" y="3817620"/>
              <a:ext cx="37299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更灵活</a:t>
              </a:r>
            </a:p>
          </p:txBody>
        </p:sp>
        <p:sp>
          <p:nvSpPr>
            <p:cNvPr id="33" name="TextBox 33"/>
            <p:cNvSpPr txBox="1"/>
            <p:nvPr/>
          </p:nvSpPr>
          <p:spPr>
            <a:xfrm>
              <a:off x="947738" y="3988832"/>
              <a:ext cx="698779"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增强系统调节能力</a:t>
              </a:r>
            </a:p>
          </p:txBody>
        </p:sp>
        <p:sp>
          <p:nvSpPr>
            <p:cNvPr id="34" name="Ellipse 34"/>
            <p:cNvSpPr/>
            <p:nvPr/>
          </p:nvSpPr>
          <p:spPr>
            <a:xfrm>
              <a:off x="581025" y="4562475"/>
              <a:ext cx="285750" cy="285750"/>
            </a:xfrm>
            <a:prstGeom prst="ellipse">
              <a:avLst/>
            </a:prstGeom>
            <a:solidFill>
              <a:srgbClr val="FFFFFF">
                <a:alpha val="16000"/>
              </a:srgbClr>
            </a:solidFill>
            <a:ln>
              <a:noFill/>
            </a:ln>
          </p:spPr>
        </p:sp>
        <p:grpSp>
          <p:nvGrpSpPr>
            <p:cNvPr id="37" name="Group 37"/>
            <p:cNvGrpSpPr/>
            <p:nvPr/>
          </p:nvGrpSpPr>
          <p:grpSpPr>
            <a:xfrm>
              <a:off x="649965" y="4641056"/>
              <a:ext cx="139505" cy="128588"/>
              <a:chOff x="649965" y="4641056"/>
              <a:chExt cx="139505" cy="128588"/>
            </a:xfrm>
          </p:grpSpPr>
          <p:sp>
            <p:nvSpPr>
              <p:cNvPr id="35" name="Freeform 35"/>
              <p:cNvSpPr/>
              <p:nvPr/>
            </p:nvSpPr>
            <p:spPr>
              <a:xfrm>
                <a:off x="649965" y="464105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FFFFFF"/>
                </a:solidFill>
              </a:ln>
            </p:spPr>
          </p:sp>
          <p:sp>
            <p:nvSpPr>
              <p:cNvPr id="36" name="Freeform 36"/>
              <p:cNvSpPr/>
              <p:nvPr/>
            </p:nvSpPr>
            <p:spPr>
              <a:xfrm>
                <a:off x="745331" y="474106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38" name="TextBox 38"/>
            <p:cNvSpPr txBox="1"/>
            <p:nvPr/>
          </p:nvSpPr>
          <p:spPr>
            <a:xfrm>
              <a:off x="947738" y="4579620"/>
              <a:ext cx="37299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更可靠</a:t>
              </a:r>
            </a:p>
          </p:txBody>
        </p:sp>
        <p:sp>
          <p:nvSpPr>
            <p:cNvPr id="39" name="TextBox 39"/>
            <p:cNvSpPr txBox="1"/>
            <p:nvPr/>
          </p:nvSpPr>
          <p:spPr>
            <a:xfrm>
              <a:off x="947738" y="4750832"/>
              <a:ext cx="698779"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保障电网安全稳定</a:t>
              </a:r>
            </a:p>
          </p:txBody>
        </p:sp>
        <p:sp>
          <p:nvSpPr>
            <p:cNvPr id="40" name="Ellipse 40"/>
            <p:cNvSpPr/>
            <p:nvPr/>
          </p:nvSpPr>
          <p:spPr>
            <a:xfrm>
              <a:off x="581025" y="5324475"/>
              <a:ext cx="285750" cy="285750"/>
            </a:xfrm>
            <a:prstGeom prst="ellipse">
              <a:avLst/>
            </a:prstGeom>
            <a:solidFill>
              <a:srgbClr val="FFFFFF">
                <a:alpha val="16000"/>
              </a:srgbClr>
            </a:solidFill>
            <a:ln>
              <a:noFill/>
            </a:ln>
          </p:spPr>
        </p:sp>
        <p:grpSp>
          <p:nvGrpSpPr>
            <p:cNvPr id="45" name="Group 45"/>
            <p:cNvGrpSpPr/>
            <p:nvPr/>
          </p:nvGrpSpPr>
          <p:grpSpPr>
            <a:xfrm>
              <a:off x="659606" y="5403056"/>
              <a:ext cx="128588" cy="128588"/>
              <a:chOff x="659606" y="5403056"/>
              <a:chExt cx="128588" cy="128588"/>
            </a:xfrm>
          </p:grpSpPr>
          <p:sp>
            <p:nvSpPr>
              <p:cNvPr id="41" name="Freeform 41"/>
              <p:cNvSpPr/>
              <p:nvPr/>
            </p:nvSpPr>
            <p:spPr>
              <a:xfrm>
                <a:off x="673894" y="54030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42" name="Freeform 42"/>
              <p:cNvSpPr/>
              <p:nvPr/>
            </p:nvSpPr>
            <p:spPr>
              <a:xfrm>
                <a:off x="659606" y="548878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43" name="Freeform 43"/>
              <p:cNvSpPr/>
              <p:nvPr/>
            </p:nvSpPr>
            <p:spPr>
              <a:xfrm>
                <a:off x="752475" y="540398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44" name="Freeform 44"/>
              <p:cNvSpPr/>
              <p:nvPr/>
            </p:nvSpPr>
            <p:spPr>
              <a:xfrm>
                <a:off x="766763" y="548985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46" name="TextBox 46"/>
            <p:cNvSpPr txBox="1"/>
            <p:nvPr/>
          </p:nvSpPr>
          <p:spPr>
            <a:xfrm>
              <a:off x="947738" y="5341620"/>
              <a:ext cx="37299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更普惠</a:t>
              </a:r>
            </a:p>
          </p:txBody>
        </p:sp>
        <p:sp>
          <p:nvSpPr>
            <p:cNvPr id="47" name="TextBox 47"/>
            <p:cNvSpPr txBox="1"/>
            <p:nvPr/>
          </p:nvSpPr>
          <p:spPr>
            <a:xfrm>
              <a:off x="947738" y="5512832"/>
              <a:ext cx="957250"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服务经济社会高质量发展</a:t>
              </a:r>
            </a:p>
          </p:txBody>
        </p:sp>
        <p:sp>
          <p:nvSpPr>
            <p:cNvPr id="48" name="Freeform 48"/>
            <p:cNvSpPr/>
            <p:nvPr/>
          </p:nvSpPr>
          <p:spPr>
            <a:xfrm>
              <a:off x="381000" y="6000750"/>
              <a:ext cx="1676400" cy="514350"/>
            </a:xfrm>
            <a:custGeom>
              <a:avLst/>
              <a:gdLst/>
              <a:ahLst/>
              <a:cxnLst/>
              <a:rect l="l" t="t" r="r" b="b"/>
              <a:pathLst>
                <a:path w="1676400" h="514350">
                  <a:moveTo>
                    <a:pt x="0" y="514350"/>
                  </a:moveTo>
                  <a:lnTo>
                    <a:pt x="0" y="247650"/>
                  </a:lnTo>
                  <a:lnTo>
                    <a:pt x="152400" y="247650"/>
                  </a:lnTo>
                  <a:lnTo>
                    <a:pt x="152400" y="95250"/>
                  </a:lnTo>
                  <a:lnTo>
                    <a:pt x="285750" y="95250"/>
                  </a:lnTo>
                  <a:lnTo>
                    <a:pt x="285750" y="247650"/>
                  </a:lnTo>
                  <a:lnTo>
                    <a:pt x="476250" y="247650"/>
                  </a:lnTo>
                  <a:lnTo>
                    <a:pt x="476250" y="0"/>
                  </a:lnTo>
                  <a:lnTo>
                    <a:pt x="609600" y="0"/>
                  </a:lnTo>
                  <a:lnTo>
                    <a:pt x="609600" y="247650"/>
                  </a:lnTo>
                  <a:lnTo>
                    <a:pt x="800100" y="247650"/>
                  </a:lnTo>
                  <a:lnTo>
                    <a:pt x="800100" y="152400"/>
                  </a:lnTo>
                  <a:lnTo>
                    <a:pt x="952500" y="152400"/>
                  </a:lnTo>
                  <a:lnTo>
                    <a:pt x="952500" y="247650"/>
                  </a:lnTo>
                  <a:lnTo>
                    <a:pt x="1143000" y="247650"/>
                  </a:lnTo>
                  <a:lnTo>
                    <a:pt x="1143000" y="38100"/>
                  </a:lnTo>
                  <a:lnTo>
                    <a:pt x="1295400" y="38100"/>
                  </a:lnTo>
                  <a:lnTo>
                    <a:pt x="1295400" y="247650"/>
                  </a:lnTo>
                  <a:lnTo>
                    <a:pt x="1485900" y="247650"/>
                  </a:lnTo>
                  <a:lnTo>
                    <a:pt x="1485900" y="133350"/>
                  </a:lnTo>
                  <a:lnTo>
                    <a:pt x="1676400" y="133350"/>
                  </a:lnTo>
                  <a:lnTo>
                    <a:pt x="1676400" y="514350"/>
                  </a:lnTo>
                  <a:close/>
                </a:path>
              </a:pathLst>
            </a:custGeom>
            <a:solidFill>
              <a:srgbClr val="FFFFFF">
                <a:alpha val="18000"/>
              </a:srgbClr>
            </a:solidFill>
            <a:ln>
              <a:noFill/>
            </a:ln>
          </p:spPr>
        </p:sp>
      </p:grpSp>
      <p:grpSp>
        <p:nvGrpSpPr>
          <p:cNvPr id="53" name="scenes-band"/>
          <p:cNvGrpSpPr/>
          <p:nvPr/>
        </p:nvGrpSpPr>
        <p:grpSpPr>
          <a:xfrm>
            <a:off x="2171700" y="933450"/>
            <a:ext cx="6667500" cy="247364"/>
            <a:chOff x="2171700" y="933450"/>
            <a:chExt cx="6667500" cy="247364"/>
          </a:xfrm>
        </p:grpSpPr>
        <p:sp>
          <p:nvSpPr>
            <p:cNvPr id="50" name="Rectangle 50"/>
            <p:cNvSpPr/>
            <p:nvPr/>
          </p:nvSpPr>
          <p:spPr>
            <a:xfrm>
              <a:off x="2171700" y="933450"/>
              <a:ext cx="6667500" cy="228600"/>
            </a:xfrm>
            <a:prstGeom prst="roundRect">
              <a:avLst>
                <a:gd name="adj" fmla="val 16667"/>
              </a:avLst>
            </a:prstGeom>
            <a:gradFill>
              <a:gsLst>
                <a:gs pos="0">
                  <a:srgbClr val="6F2516"/>
                </a:gs>
                <a:gs pos="100000">
                  <a:srgbClr val="D64A2E"/>
                </a:gs>
              </a:gsLst>
              <a:lin ang="0" scaled="1"/>
            </a:gradFill>
            <a:ln>
              <a:noFill/>
            </a:ln>
          </p:spPr>
        </p:sp>
        <p:sp>
          <p:nvSpPr>
            <p:cNvPr id="51" name="TextBox 51"/>
            <p:cNvSpPr txBox="1"/>
            <p:nvPr/>
          </p:nvSpPr>
          <p:spPr>
            <a:xfrm>
              <a:off x="2281047" y="990124"/>
              <a:ext cx="1710123"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2026年入选的两大应用场景​</a:t>
              </a:r>
            </a:p>
          </p:txBody>
        </p:sp>
        <p:sp>
          <p:nvSpPr>
            <p:cNvPr id="52" name="TextBox 52"/>
            <p:cNvSpPr txBox="1"/>
            <p:nvPr/>
          </p:nvSpPr>
          <p:spPr>
            <a:xfrm>
              <a:off x="6434493" y="1017032"/>
              <a:ext cx="2314219" cy="126206"/>
            </a:xfrm>
            <a:prstGeom prst="rect">
              <a:avLst/>
            </a:prstGeom>
            <a:noFill/>
            <a:ln>
              <a:noFill/>
            </a:ln>
          </p:spPr>
          <p:txBody>
            <a:bodyPr wrap="none" lIns="0" tIns="0" rIns="0" bIns="0" anchor="t" anchorCtr="0">
              <a:spAutoFit/>
            </a:bodyPr>
            <a:lstStyle/>
            <a:p>
              <a:pPr algn="r"/>
              <a:r>
                <a:rPr lang="zh-CN" sz="640" dirty="0">
                  <a:solidFill>
                    <a:srgbClr val="DCE9F8"/>
                  </a:solidFill>
                  <a:latin typeface="+mn-lt"/>
                  <a:ea typeface="+mn-ea"/>
                  <a:cs typeface="+mn-cs"/>
                </a:rPr>
                <a:t>来源：国家电网2026年典型应用场景入选名单（公开信息）​</a:t>
              </a:r>
            </a:p>
          </p:txBody>
        </p:sp>
      </p:grpSp>
      <p:grpSp>
        <p:nvGrpSpPr>
          <p:cNvPr id="89" name="scene-card-1"/>
          <p:cNvGrpSpPr/>
          <p:nvPr/>
        </p:nvGrpSpPr>
        <p:grpSpPr>
          <a:xfrm>
            <a:off x="2171700" y="1238250"/>
            <a:ext cx="6667500" cy="1562100"/>
            <a:chOff x="2171700" y="1238250"/>
            <a:chExt cx="6667500" cy="1562100"/>
          </a:xfrm>
        </p:grpSpPr>
        <p:sp>
          <p:nvSpPr>
            <p:cNvPr id="54" name="Rectangle 54"/>
            <p:cNvSpPr/>
            <p:nvPr/>
          </p:nvSpPr>
          <p:spPr>
            <a:xfrm>
              <a:off x="2171700" y="1238250"/>
              <a:ext cx="6667500" cy="1562100"/>
            </a:xfrm>
            <a:prstGeom prst="roundRect">
              <a:avLst>
                <a:gd name="adj" fmla="val 3659"/>
              </a:avLst>
            </a:prstGeom>
            <a:solidFill>
              <a:srgbClr val="FFFFFF"/>
            </a:solidFill>
            <a:ln w="9525">
              <a:solidFill>
                <a:srgbClr val="C7D9F0"/>
              </a:solidFill>
            </a:ln>
          </p:spPr>
        </p:sp>
        <p:sp>
          <p:nvSpPr>
            <p:cNvPr id="55" name="Rectangle 55"/>
            <p:cNvSpPr/>
            <p:nvPr/>
          </p:nvSpPr>
          <p:spPr>
            <a:xfrm>
              <a:off x="2171700" y="1238250"/>
              <a:ext cx="6667500" cy="419100"/>
            </a:xfrm>
            <a:prstGeom prst="roundRect">
              <a:avLst>
                <a:gd name="adj" fmla="val 13636"/>
              </a:avLst>
            </a:prstGeom>
            <a:solidFill>
              <a:srgbClr val="6F2516"/>
            </a:solidFill>
            <a:ln>
              <a:noFill/>
            </a:ln>
          </p:spPr>
        </p:sp>
        <p:sp>
          <p:nvSpPr>
            <p:cNvPr id="56" name="Rectangle 56"/>
            <p:cNvSpPr/>
            <p:nvPr/>
          </p:nvSpPr>
          <p:spPr>
            <a:xfrm>
              <a:off x="2171700" y="1238250"/>
              <a:ext cx="571500" cy="419100"/>
            </a:xfrm>
            <a:prstGeom prst="roundRect">
              <a:avLst>
                <a:gd name="adj" fmla="val 13636"/>
              </a:avLst>
            </a:prstGeom>
            <a:solidFill>
              <a:srgbClr val="9C331E"/>
            </a:solidFill>
            <a:ln>
              <a:noFill/>
            </a:ln>
          </p:spPr>
        </p:sp>
        <p:sp>
          <p:nvSpPr>
            <p:cNvPr id="57" name="TextBox 57"/>
            <p:cNvSpPr txBox="1"/>
            <p:nvPr/>
          </p:nvSpPr>
          <p:spPr>
            <a:xfrm>
              <a:off x="2337517" y="1362075"/>
              <a:ext cx="239867"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Arial"/>
                  <a:cs typeface="Arial"/>
                </a:rPr>
                <a:t>01</a:t>
              </a:r>
            </a:p>
          </p:txBody>
        </p:sp>
        <p:sp>
          <p:nvSpPr>
            <p:cNvPr id="58" name="TextBox 58"/>
            <p:cNvSpPr txBox="1"/>
            <p:nvPr/>
          </p:nvSpPr>
          <p:spPr>
            <a:xfrm>
              <a:off x="2890266" y="1315402"/>
              <a:ext cx="128282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分布式光伏智能巡控</a:t>
              </a:r>
            </a:p>
          </p:txBody>
        </p:sp>
        <p:sp>
          <p:nvSpPr>
            <p:cNvPr id="59" name="TextBox 59"/>
            <p:cNvSpPr txBox="1"/>
            <p:nvPr/>
          </p:nvSpPr>
          <p:spPr>
            <a:xfrm>
              <a:off x="2890838" y="1504236"/>
              <a:ext cx="2112289" cy="140494"/>
            </a:xfrm>
            <a:prstGeom prst="rect">
              <a:avLst/>
            </a:prstGeom>
            <a:noFill/>
            <a:ln>
              <a:noFill/>
            </a:ln>
          </p:spPr>
          <p:txBody>
            <a:bodyPr wrap="none" lIns="0" tIns="0" rIns="0" bIns="0" anchor="t" anchorCtr="0">
              <a:spAutoFit/>
            </a:bodyPr>
            <a:lstStyle/>
            <a:p>
              <a:pPr algn="l"/>
              <a:r>
                <a:rPr lang="zh-CN" sz="710" dirty="0">
                  <a:solidFill>
                    <a:srgbClr val="DCE9F8"/>
                  </a:solidFill>
                  <a:latin typeface="+mn-lt"/>
                  <a:ea typeface="+mn-ea"/>
                  <a:cs typeface="+mn-cs"/>
                </a:rPr>
                <a:t>面向海量分布式光伏，提升感知、诊断与运维效率</a:t>
              </a:r>
            </a:p>
          </p:txBody>
        </p:sp>
        <p:sp>
          <p:nvSpPr>
            <p:cNvPr id="60" name="Freeform 60"/>
            <p:cNvSpPr/>
            <p:nvPr/>
          </p:nvSpPr>
          <p:spPr>
            <a:xfrm>
              <a:off x="7239000" y="1352550"/>
              <a:ext cx="1257300" cy="247650"/>
            </a:xfrm>
            <a:custGeom>
              <a:avLst/>
              <a:gdLst/>
              <a:ahLst/>
              <a:cxnLst/>
              <a:rect l="l" t="t" r="r" b="b"/>
              <a:pathLst>
                <a:path w="1257300" h="247650">
                  <a:moveTo>
                    <a:pt x="0" y="0"/>
                  </a:moveTo>
                  <a:lnTo>
                    <a:pt x="285750" y="0"/>
                  </a:lnTo>
                  <a:lnTo>
                    <a:pt x="285750" y="152400"/>
                  </a:lnTo>
                  <a:lnTo>
                    <a:pt x="0" y="152400"/>
                  </a:lnTo>
                  <a:close/>
                  <a:moveTo>
                    <a:pt x="323850" y="0"/>
                  </a:moveTo>
                  <a:lnTo>
                    <a:pt x="609600" y="0"/>
                  </a:lnTo>
                  <a:lnTo>
                    <a:pt x="609600" y="152400"/>
                  </a:lnTo>
                  <a:lnTo>
                    <a:pt x="323850" y="152400"/>
                  </a:lnTo>
                  <a:close/>
                  <a:moveTo>
                    <a:pt x="647700" y="0"/>
                  </a:moveTo>
                  <a:lnTo>
                    <a:pt x="933450" y="0"/>
                  </a:lnTo>
                  <a:lnTo>
                    <a:pt x="933450" y="152400"/>
                  </a:lnTo>
                  <a:lnTo>
                    <a:pt x="647700" y="152400"/>
                  </a:lnTo>
                  <a:close/>
                  <a:moveTo>
                    <a:pt x="971550" y="0"/>
                  </a:moveTo>
                  <a:lnTo>
                    <a:pt x="1257300" y="0"/>
                  </a:lnTo>
                  <a:lnTo>
                    <a:pt x="1257300" y="152400"/>
                  </a:lnTo>
                  <a:lnTo>
                    <a:pt x="971550" y="152400"/>
                  </a:lnTo>
                  <a:close/>
                  <a:moveTo>
                    <a:pt x="0" y="180975"/>
                  </a:moveTo>
                  <a:lnTo>
                    <a:pt x="285750" y="180975"/>
                  </a:lnTo>
                  <a:lnTo>
                    <a:pt x="285750" y="247650"/>
                  </a:lnTo>
                  <a:lnTo>
                    <a:pt x="0" y="247650"/>
                  </a:lnTo>
                  <a:close/>
                  <a:moveTo>
                    <a:pt x="323850" y="180975"/>
                  </a:moveTo>
                  <a:lnTo>
                    <a:pt x="609600" y="180975"/>
                  </a:lnTo>
                  <a:lnTo>
                    <a:pt x="609600" y="247650"/>
                  </a:lnTo>
                  <a:lnTo>
                    <a:pt x="323850" y="247650"/>
                  </a:lnTo>
                  <a:close/>
                  <a:moveTo>
                    <a:pt x="647700" y="180975"/>
                  </a:moveTo>
                  <a:lnTo>
                    <a:pt x="933450" y="180975"/>
                  </a:lnTo>
                  <a:lnTo>
                    <a:pt x="933450" y="247650"/>
                  </a:lnTo>
                  <a:lnTo>
                    <a:pt x="647700" y="247650"/>
                  </a:lnTo>
                  <a:close/>
                  <a:moveTo>
                    <a:pt x="971550" y="180975"/>
                  </a:moveTo>
                  <a:lnTo>
                    <a:pt x="1257300" y="180975"/>
                  </a:lnTo>
                  <a:lnTo>
                    <a:pt x="1257300" y="247650"/>
                  </a:lnTo>
                  <a:lnTo>
                    <a:pt x="971550" y="247650"/>
                  </a:lnTo>
                  <a:close/>
                </a:path>
              </a:pathLst>
            </a:custGeom>
            <a:solidFill>
              <a:srgbClr val="DE715B">
                <a:alpha val="70000"/>
              </a:srgbClr>
            </a:solidFill>
            <a:ln>
              <a:noFill/>
            </a:ln>
          </p:spPr>
        </p:sp>
        <p:sp>
          <p:nvSpPr>
            <p:cNvPr id="61" name="Line 61"/>
            <p:cNvSpPr/>
            <p:nvPr/>
          </p:nvSpPr>
          <p:spPr>
            <a:xfrm>
              <a:off x="4391025" y="1790700"/>
              <a:ext cx="9525" cy="876300"/>
            </a:xfrm>
            <a:custGeom>
              <a:avLst/>
              <a:gdLst/>
              <a:ahLst/>
              <a:cxnLst/>
              <a:rect l="l" t="t" r="r" b="b"/>
              <a:pathLst>
                <a:path w="9525" h="876300">
                  <a:moveTo>
                    <a:pt x="0" y="0"/>
                  </a:moveTo>
                  <a:lnTo>
                    <a:pt x="0" y="876300"/>
                  </a:lnTo>
                </a:path>
              </a:pathLst>
            </a:custGeom>
            <a:noFill/>
            <a:ln w="9525">
              <a:solidFill>
                <a:srgbClr val="C7D9F0"/>
              </a:solidFill>
            </a:ln>
          </p:spPr>
        </p:sp>
        <p:sp>
          <p:nvSpPr>
            <p:cNvPr id="62" name="Line 62"/>
            <p:cNvSpPr/>
            <p:nvPr/>
          </p:nvSpPr>
          <p:spPr>
            <a:xfrm>
              <a:off x="6619875" y="1790700"/>
              <a:ext cx="9525" cy="876300"/>
            </a:xfrm>
            <a:custGeom>
              <a:avLst/>
              <a:gdLst/>
              <a:ahLst/>
              <a:cxnLst/>
              <a:rect l="l" t="t" r="r" b="b"/>
              <a:pathLst>
                <a:path w="9525" h="876300">
                  <a:moveTo>
                    <a:pt x="0" y="0"/>
                  </a:moveTo>
                  <a:lnTo>
                    <a:pt x="0" y="876300"/>
                  </a:lnTo>
                </a:path>
              </a:pathLst>
            </a:custGeom>
            <a:noFill/>
            <a:ln w="9525">
              <a:solidFill>
                <a:srgbClr val="C7D9F0"/>
              </a:solidFill>
            </a:ln>
          </p:spPr>
        </p:sp>
        <p:sp>
          <p:nvSpPr>
            <p:cNvPr id="63" name="Ellipse 63"/>
            <p:cNvSpPr/>
            <p:nvPr/>
          </p:nvSpPr>
          <p:spPr>
            <a:xfrm>
              <a:off x="3124200" y="1809750"/>
              <a:ext cx="304800" cy="304800"/>
            </a:xfrm>
            <a:prstGeom prst="ellipse">
              <a:avLst/>
            </a:prstGeom>
            <a:solidFill>
              <a:srgbClr val="EFF5FC"/>
            </a:solidFill>
            <a:ln w="9525">
              <a:solidFill>
                <a:srgbClr val="ECB3A8"/>
              </a:solidFill>
            </a:ln>
          </p:spPr>
        </p:sp>
        <p:grpSp>
          <p:nvGrpSpPr>
            <p:cNvPr id="66" name="Group 66"/>
            <p:cNvGrpSpPr/>
            <p:nvPr/>
          </p:nvGrpSpPr>
          <p:grpSpPr>
            <a:xfrm>
              <a:off x="3206900" y="1884515"/>
              <a:ext cx="139400" cy="154470"/>
              <a:chOff x="3206900" y="1884515"/>
              <a:chExt cx="139400" cy="154470"/>
            </a:xfrm>
          </p:grpSpPr>
          <p:sp>
            <p:nvSpPr>
              <p:cNvPr id="64" name="Freeform 64"/>
              <p:cNvSpPr/>
              <p:nvPr/>
            </p:nvSpPr>
            <p:spPr>
              <a:xfrm>
                <a:off x="3252787" y="1930400"/>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9C331E"/>
                </a:solidFill>
              </a:ln>
            </p:spPr>
          </p:sp>
          <p:sp>
            <p:nvSpPr>
              <p:cNvPr id="65" name="Freeform 65"/>
              <p:cNvSpPr/>
              <p:nvPr/>
            </p:nvSpPr>
            <p:spPr>
              <a:xfrm>
                <a:off x="3206900" y="1884515"/>
                <a:ext cx="139400" cy="154470"/>
              </a:xfrm>
              <a:custGeom>
                <a:avLst/>
                <a:gdLst/>
                <a:ahLst/>
                <a:cxnLst/>
                <a:rect l="l" t="t" r="r" b="b"/>
                <a:pathLst>
                  <a:path w="139400" h="154470">
                    <a:moveTo>
                      <a:pt x="114602" y="114600"/>
                    </a:moveTo>
                    <a:lnTo>
                      <a:pt x="80923" y="148278"/>
                    </a:lnTo>
                    <a:cubicBezTo>
                      <a:pt x="74725" y="154470"/>
                      <a:pt x="64682" y="154470"/>
                      <a:pt x="58484" y="148278"/>
                    </a:cubicBezTo>
                    <a:lnTo>
                      <a:pt x="24797" y="114600"/>
                    </a:lnTo>
                    <a:cubicBezTo>
                      <a:pt x="0" y="89801"/>
                      <a:pt x="1" y="49596"/>
                      <a:pt x="24799" y="24798"/>
                    </a:cubicBezTo>
                    <a:cubicBezTo>
                      <a:pt x="49597" y="0"/>
                      <a:pt x="89802" y="0"/>
                      <a:pt x="114601" y="24798"/>
                    </a:cubicBezTo>
                    <a:cubicBezTo>
                      <a:pt x="139399" y="49596"/>
                      <a:pt x="139400" y="89801"/>
                      <a:pt x="114602" y="114600"/>
                    </a:cubicBezTo>
                  </a:path>
                </a:pathLst>
              </a:custGeom>
              <a:noFill/>
              <a:ln w="15875">
                <a:solidFill>
                  <a:srgbClr val="9C331E"/>
                </a:solidFill>
              </a:ln>
            </p:spPr>
          </p:sp>
        </p:grpSp>
        <p:sp>
          <p:nvSpPr>
            <p:cNvPr id="67" name="TextBox 67"/>
            <p:cNvSpPr txBox="1"/>
            <p:nvPr/>
          </p:nvSpPr>
          <p:spPr>
            <a:xfrm>
              <a:off x="3040291" y="2192893"/>
              <a:ext cx="472618"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覆盖对象</a:t>
              </a:r>
            </a:p>
          </p:txBody>
        </p:sp>
        <p:sp>
          <p:nvSpPr>
            <p:cNvPr id="68" name="TextBox 68"/>
            <p:cNvSpPr txBox="1"/>
            <p:nvPr/>
          </p:nvSpPr>
          <p:spPr>
            <a:xfrm>
              <a:off x="2698356" y="2380536"/>
              <a:ext cx="1156487"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分布式光伏电站及配套设备</a:t>
              </a:r>
            </a:p>
          </p:txBody>
        </p:sp>
        <p:sp>
          <p:nvSpPr>
            <p:cNvPr id="69" name="Ellipse 69"/>
            <p:cNvSpPr/>
            <p:nvPr/>
          </p:nvSpPr>
          <p:spPr>
            <a:xfrm>
              <a:off x="5353050" y="1809750"/>
              <a:ext cx="304800" cy="304800"/>
            </a:xfrm>
            <a:prstGeom prst="ellipse">
              <a:avLst/>
            </a:prstGeom>
            <a:solidFill>
              <a:srgbClr val="EFF5FC"/>
            </a:solidFill>
            <a:ln w="9525">
              <a:solidFill>
                <a:srgbClr val="ECB3A8"/>
              </a:solidFill>
            </a:ln>
          </p:spPr>
        </p:sp>
        <p:grpSp>
          <p:nvGrpSpPr>
            <p:cNvPr id="80" name="Group 80"/>
            <p:cNvGrpSpPr/>
            <p:nvPr/>
          </p:nvGrpSpPr>
          <p:grpSpPr>
            <a:xfrm>
              <a:off x="5434012" y="1890712"/>
              <a:ext cx="142875" cy="142875"/>
              <a:chOff x="5434012" y="1890712"/>
              <a:chExt cx="142875" cy="142875"/>
            </a:xfrm>
          </p:grpSpPr>
          <p:sp>
            <p:nvSpPr>
              <p:cNvPr id="70" name="Freeform 70"/>
              <p:cNvSpPr/>
              <p:nvPr/>
            </p:nvSpPr>
            <p:spPr>
              <a:xfrm>
                <a:off x="5449887" y="1906587"/>
                <a:ext cx="111125" cy="111125"/>
              </a:xfrm>
              <a:custGeom>
                <a:avLst/>
                <a:gdLst/>
                <a:ahLst/>
                <a:cxnLst/>
                <a:rect l="l" t="t" r="r" b="b"/>
                <a:pathLst>
                  <a:path w="111125" h="111125">
                    <a:moveTo>
                      <a:pt x="0" y="7937"/>
                    </a:moveTo>
                    <a:cubicBezTo>
                      <a:pt x="0" y="3554"/>
                      <a:pt x="3554" y="0"/>
                      <a:pt x="7937" y="0"/>
                    </a:cubicBezTo>
                    <a:lnTo>
                      <a:pt x="103187" y="0"/>
                    </a:lnTo>
                    <a:cubicBezTo>
                      <a:pt x="107571" y="0"/>
                      <a:pt x="111125" y="3554"/>
                      <a:pt x="111125" y="7937"/>
                    </a:cubicBezTo>
                    <a:lnTo>
                      <a:pt x="111125" y="103187"/>
                    </a:lnTo>
                    <a:cubicBezTo>
                      <a:pt x="111125" y="107571"/>
                      <a:pt x="107571" y="111125"/>
                      <a:pt x="103187" y="111125"/>
                    </a:cubicBezTo>
                    <a:lnTo>
                      <a:pt x="7937" y="111125"/>
                    </a:lnTo>
                    <a:cubicBezTo>
                      <a:pt x="3554" y="111125"/>
                      <a:pt x="0" y="107571"/>
                      <a:pt x="0" y="103187"/>
                    </a:cubicBezTo>
                    <a:lnTo>
                      <a:pt x="0" y="7937"/>
                    </a:lnTo>
                  </a:path>
                </a:pathLst>
              </a:custGeom>
              <a:noFill/>
              <a:ln w="15875">
                <a:solidFill>
                  <a:srgbClr val="9C331E"/>
                </a:solidFill>
              </a:ln>
            </p:spPr>
          </p:sp>
          <p:sp>
            <p:nvSpPr>
              <p:cNvPr id="71" name="Freeform 71"/>
              <p:cNvSpPr/>
              <p:nvPr/>
            </p:nvSpPr>
            <p:spPr>
              <a:xfrm>
                <a:off x="5481637" y="1938337"/>
                <a:ext cx="47625" cy="47625"/>
              </a:xfrm>
              <a:custGeom>
                <a:avLst/>
                <a:gdLst/>
                <a:ahLst/>
                <a:cxnLst/>
                <a:rect l="l" t="t" r="r" b="b"/>
                <a:pathLst>
                  <a:path w="47625" h="47625">
                    <a:moveTo>
                      <a:pt x="0" y="0"/>
                    </a:moveTo>
                    <a:lnTo>
                      <a:pt x="47625" y="0"/>
                    </a:lnTo>
                    <a:lnTo>
                      <a:pt x="47625" y="47625"/>
                    </a:lnTo>
                    <a:lnTo>
                      <a:pt x="0" y="47625"/>
                    </a:lnTo>
                    <a:lnTo>
                      <a:pt x="0" y="0"/>
                    </a:lnTo>
                  </a:path>
                </a:pathLst>
              </a:custGeom>
              <a:noFill/>
              <a:ln w="15875">
                <a:solidFill>
                  <a:srgbClr val="9C331E"/>
                </a:solidFill>
              </a:ln>
            </p:spPr>
          </p:sp>
          <p:sp>
            <p:nvSpPr>
              <p:cNvPr id="72" name="Freeform 72"/>
              <p:cNvSpPr/>
              <p:nvPr/>
            </p:nvSpPr>
            <p:spPr>
              <a:xfrm>
                <a:off x="5434012" y="1946275"/>
                <a:ext cx="15875" cy="9525"/>
              </a:xfrm>
              <a:custGeom>
                <a:avLst/>
                <a:gdLst/>
                <a:ahLst/>
                <a:cxnLst/>
                <a:rect l="l" t="t" r="r" b="b"/>
                <a:pathLst>
                  <a:path w="15875" h="9525">
                    <a:moveTo>
                      <a:pt x="0" y="0"/>
                    </a:moveTo>
                    <a:lnTo>
                      <a:pt x="15875" y="0"/>
                    </a:lnTo>
                  </a:path>
                </a:pathLst>
              </a:custGeom>
              <a:noFill/>
              <a:ln w="15875">
                <a:solidFill>
                  <a:srgbClr val="9C331E"/>
                </a:solidFill>
              </a:ln>
            </p:spPr>
          </p:sp>
          <p:sp>
            <p:nvSpPr>
              <p:cNvPr id="73" name="Freeform 73"/>
              <p:cNvSpPr/>
              <p:nvPr/>
            </p:nvSpPr>
            <p:spPr>
              <a:xfrm>
                <a:off x="5434012" y="1978025"/>
                <a:ext cx="15875" cy="9525"/>
              </a:xfrm>
              <a:custGeom>
                <a:avLst/>
                <a:gdLst/>
                <a:ahLst/>
                <a:cxnLst/>
                <a:rect l="l" t="t" r="r" b="b"/>
                <a:pathLst>
                  <a:path w="15875" h="9525">
                    <a:moveTo>
                      <a:pt x="0" y="0"/>
                    </a:moveTo>
                    <a:lnTo>
                      <a:pt x="15875" y="0"/>
                    </a:lnTo>
                  </a:path>
                </a:pathLst>
              </a:custGeom>
              <a:noFill/>
              <a:ln w="15875">
                <a:solidFill>
                  <a:srgbClr val="9C331E"/>
                </a:solidFill>
              </a:ln>
            </p:spPr>
          </p:sp>
          <p:sp>
            <p:nvSpPr>
              <p:cNvPr id="74" name="Freeform 74"/>
              <p:cNvSpPr/>
              <p:nvPr/>
            </p:nvSpPr>
            <p:spPr>
              <a:xfrm>
                <a:off x="5489575" y="1890712"/>
                <a:ext cx="9525" cy="15875"/>
              </a:xfrm>
              <a:custGeom>
                <a:avLst/>
                <a:gdLst/>
                <a:ahLst/>
                <a:cxnLst/>
                <a:rect l="l" t="t" r="r" b="b"/>
                <a:pathLst>
                  <a:path w="9525" h="15875">
                    <a:moveTo>
                      <a:pt x="0" y="0"/>
                    </a:moveTo>
                    <a:lnTo>
                      <a:pt x="0" y="15875"/>
                    </a:lnTo>
                  </a:path>
                </a:pathLst>
              </a:custGeom>
              <a:noFill/>
              <a:ln w="15875">
                <a:solidFill>
                  <a:srgbClr val="9C331E"/>
                </a:solidFill>
              </a:ln>
            </p:spPr>
          </p:sp>
          <p:sp>
            <p:nvSpPr>
              <p:cNvPr id="75" name="Freeform 75"/>
              <p:cNvSpPr/>
              <p:nvPr/>
            </p:nvSpPr>
            <p:spPr>
              <a:xfrm>
                <a:off x="5521325" y="1890712"/>
                <a:ext cx="9525" cy="15875"/>
              </a:xfrm>
              <a:custGeom>
                <a:avLst/>
                <a:gdLst/>
                <a:ahLst/>
                <a:cxnLst/>
                <a:rect l="l" t="t" r="r" b="b"/>
                <a:pathLst>
                  <a:path w="9525" h="15875">
                    <a:moveTo>
                      <a:pt x="0" y="0"/>
                    </a:moveTo>
                    <a:lnTo>
                      <a:pt x="0" y="15875"/>
                    </a:lnTo>
                  </a:path>
                </a:pathLst>
              </a:custGeom>
              <a:noFill/>
              <a:ln w="15875">
                <a:solidFill>
                  <a:srgbClr val="9C331E"/>
                </a:solidFill>
              </a:ln>
            </p:spPr>
          </p:sp>
          <p:sp>
            <p:nvSpPr>
              <p:cNvPr id="76" name="Freeform 76"/>
              <p:cNvSpPr/>
              <p:nvPr/>
            </p:nvSpPr>
            <p:spPr>
              <a:xfrm>
                <a:off x="5561012" y="1946275"/>
                <a:ext cx="15875" cy="9525"/>
              </a:xfrm>
              <a:custGeom>
                <a:avLst/>
                <a:gdLst/>
                <a:ahLst/>
                <a:cxnLst/>
                <a:rect l="l" t="t" r="r" b="b"/>
                <a:pathLst>
                  <a:path w="15875" h="9525">
                    <a:moveTo>
                      <a:pt x="15875" y="0"/>
                    </a:moveTo>
                    <a:lnTo>
                      <a:pt x="0" y="0"/>
                    </a:lnTo>
                  </a:path>
                </a:pathLst>
              </a:custGeom>
              <a:noFill/>
              <a:ln w="15875">
                <a:solidFill>
                  <a:srgbClr val="9C331E"/>
                </a:solidFill>
              </a:ln>
            </p:spPr>
          </p:sp>
          <p:sp>
            <p:nvSpPr>
              <p:cNvPr id="77" name="Freeform 77"/>
              <p:cNvSpPr/>
              <p:nvPr/>
            </p:nvSpPr>
            <p:spPr>
              <a:xfrm>
                <a:off x="5561012" y="1978025"/>
                <a:ext cx="15875" cy="9525"/>
              </a:xfrm>
              <a:custGeom>
                <a:avLst/>
                <a:gdLst/>
                <a:ahLst/>
                <a:cxnLst/>
                <a:rect l="l" t="t" r="r" b="b"/>
                <a:pathLst>
                  <a:path w="15875" h="9525">
                    <a:moveTo>
                      <a:pt x="15875" y="0"/>
                    </a:moveTo>
                    <a:lnTo>
                      <a:pt x="0" y="0"/>
                    </a:lnTo>
                  </a:path>
                </a:pathLst>
              </a:custGeom>
              <a:noFill/>
              <a:ln w="15875">
                <a:solidFill>
                  <a:srgbClr val="9C331E"/>
                </a:solidFill>
              </a:ln>
            </p:spPr>
          </p:sp>
          <p:sp>
            <p:nvSpPr>
              <p:cNvPr id="78" name="Freeform 78"/>
              <p:cNvSpPr/>
              <p:nvPr/>
            </p:nvSpPr>
            <p:spPr>
              <a:xfrm>
                <a:off x="5521325" y="2017712"/>
                <a:ext cx="9525" cy="15875"/>
              </a:xfrm>
              <a:custGeom>
                <a:avLst/>
                <a:gdLst/>
                <a:ahLst/>
                <a:cxnLst/>
                <a:rect l="l" t="t" r="r" b="b"/>
                <a:pathLst>
                  <a:path w="9525" h="15875">
                    <a:moveTo>
                      <a:pt x="0" y="15875"/>
                    </a:moveTo>
                    <a:lnTo>
                      <a:pt x="0" y="0"/>
                    </a:lnTo>
                  </a:path>
                </a:pathLst>
              </a:custGeom>
              <a:noFill/>
              <a:ln w="15875">
                <a:solidFill>
                  <a:srgbClr val="9C331E"/>
                </a:solidFill>
              </a:ln>
            </p:spPr>
          </p:sp>
          <p:sp>
            <p:nvSpPr>
              <p:cNvPr id="79" name="Freeform 79"/>
              <p:cNvSpPr/>
              <p:nvPr/>
            </p:nvSpPr>
            <p:spPr>
              <a:xfrm>
                <a:off x="5489575" y="2017712"/>
                <a:ext cx="9525" cy="15875"/>
              </a:xfrm>
              <a:custGeom>
                <a:avLst/>
                <a:gdLst/>
                <a:ahLst/>
                <a:cxnLst/>
                <a:rect l="l" t="t" r="r" b="b"/>
                <a:pathLst>
                  <a:path w="9525" h="15875">
                    <a:moveTo>
                      <a:pt x="0" y="15875"/>
                    </a:moveTo>
                    <a:lnTo>
                      <a:pt x="0" y="0"/>
                    </a:lnTo>
                  </a:path>
                </a:pathLst>
              </a:custGeom>
              <a:noFill/>
              <a:ln w="15875">
                <a:solidFill>
                  <a:srgbClr val="9C331E"/>
                </a:solidFill>
              </a:ln>
            </p:spPr>
          </p:sp>
        </p:grpSp>
        <p:sp>
          <p:nvSpPr>
            <p:cNvPr id="81" name="TextBox 81"/>
            <p:cNvSpPr txBox="1"/>
            <p:nvPr/>
          </p:nvSpPr>
          <p:spPr>
            <a:xfrm>
              <a:off x="5269141" y="2192893"/>
              <a:ext cx="472618"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核心能力</a:t>
              </a:r>
            </a:p>
          </p:txBody>
        </p:sp>
        <p:sp>
          <p:nvSpPr>
            <p:cNvPr id="82" name="TextBox 82"/>
            <p:cNvSpPr txBox="1"/>
            <p:nvPr/>
          </p:nvSpPr>
          <p:spPr>
            <a:xfrm>
              <a:off x="4736046" y="2380536"/>
              <a:ext cx="1538808"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智能感知、异常诊断、巡检处置辅助</a:t>
              </a:r>
            </a:p>
          </p:txBody>
        </p:sp>
        <p:sp>
          <p:nvSpPr>
            <p:cNvPr id="83" name="Ellipse 83"/>
            <p:cNvSpPr/>
            <p:nvPr/>
          </p:nvSpPr>
          <p:spPr>
            <a:xfrm>
              <a:off x="7572375" y="1809750"/>
              <a:ext cx="304800" cy="304800"/>
            </a:xfrm>
            <a:prstGeom prst="ellipse">
              <a:avLst/>
            </a:prstGeom>
            <a:solidFill>
              <a:srgbClr val="EFF5FC"/>
            </a:solidFill>
            <a:ln w="9525">
              <a:solidFill>
                <a:srgbClr val="ECB3A8"/>
              </a:solidFill>
            </a:ln>
          </p:spPr>
        </p:sp>
        <p:grpSp>
          <p:nvGrpSpPr>
            <p:cNvPr id="86" name="Group 86"/>
            <p:cNvGrpSpPr/>
            <p:nvPr/>
          </p:nvGrpSpPr>
          <p:grpSpPr>
            <a:xfrm>
              <a:off x="7653337" y="1922462"/>
              <a:ext cx="142875" cy="79375"/>
              <a:chOff x="7653337" y="1922462"/>
              <a:chExt cx="142875" cy="79375"/>
            </a:xfrm>
          </p:grpSpPr>
          <p:sp>
            <p:nvSpPr>
              <p:cNvPr id="84" name="Freeform 84"/>
              <p:cNvSpPr/>
              <p:nvPr/>
            </p:nvSpPr>
            <p:spPr>
              <a:xfrm>
                <a:off x="7653337" y="192246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9C331E"/>
                </a:solidFill>
              </a:ln>
            </p:spPr>
          </p:sp>
          <p:sp>
            <p:nvSpPr>
              <p:cNvPr id="85" name="Freeform 85"/>
              <p:cNvSpPr/>
              <p:nvPr/>
            </p:nvSpPr>
            <p:spPr>
              <a:xfrm>
                <a:off x="7740650" y="1922462"/>
                <a:ext cx="55562" cy="55562"/>
              </a:xfrm>
              <a:custGeom>
                <a:avLst/>
                <a:gdLst/>
                <a:ahLst/>
                <a:cxnLst/>
                <a:rect l="l" t="t" r="r" b="b"/>
                <a:pathLst>
                  <a:path w="55562" h="55562">
                    <a:moveTo>
                      <a:pt x="0" y="0"/>
                    </a:moveTo>
                    <a:lnTo>
                      <a:pt x="55562" y="0"/>
                    </a:lnTo>
                    <a:lnTo>
                      <a:pt x="55562" y="55562"/>
                    </a:lnTo>
                  </a:path>
                </a:pathLst>
              </a:custGeom>
              <a:noFill/>
              <a:ln w="15875">
                <a:solidFill>
                  <a:srgbClr val="9C331E"/>
                </a:solidFill>
              </a:ln>
            </p:spPr>
          </p:sp>
        </p:grpSp>
        <p:sp>
          <p:nvSpPr>
            <p:cNvPr id="87" name="TextBox 87"/>
            <p:cNvSpPr txBox="1"/>
            <p:nvPr/>
          </p:nvSpPr>
          <p:spPr>
            <a:xfrm>
              <a:off x="7488466" y="2192893"/>
              <a:ext cx="472618"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应用价值</a:t>
              </a:r>
            </a:p>
          </p:txBody>
        </p:sp>
        <p:sp>
          <p:nvSpPr>
            <p:cNvPr id="88" name="TextBox 88"/>
            <p:cNvSpPr txBox="1"/>
            <p:nvPr/>
          </p:nvSpPr>
          <p:spPr>
            <a:xfrm>
              <a:off x="7003161" y="2380536"/>
              <a:ext cx="1443228"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提升运维效率，支撑安全稳定运行</a:t>
              </a:r>
            </a:p>
          </p:txBody>
        </p:sp>
      </p:grpSp>
      <p:grpSp>
        <p:nvGrpSpPr>
          <p:cNvPr id="115" name="scene-card-2"/>
          <p:cNvGrpSpPr/>
          <p:nvPr/>
        </p:nvGrpSpPr>
        <p:grpSpPr>
          <a:xfrm>
            <a:off x="2171700" y="2895600"/>
            <a:ext cx="6667500" cy="1562100"/>
            <a:chOff x="2171700" y="2895600"/>
            <a:chExt cx="6667500" cy="1562100"/>
          </a:xfrm>
        </p:grpSpPr>
        <p:sp>
          <p:nvSpPr>
            <p:cNvPr id="90" name="Rectangle 90"/>
            <p:cNvSpPr/>
            <p:nvPr/>
          </p:nvSpPr>
          <p:spPr>
            <a:xfrm>
              <a:off x="2171700" y="2895600"/>
              <a:ext cx="6667500" cy="1562100"/>
            </a:xfrm>
            <a:prstGeom prst="roundRect">
              <a:avLst>
                <a:gd name="adj" fmla="val 3659"/>
              </a:avLst>
            </a:prstGeom>
            <a:solidFill>
              <a:srgbClr val="FFFFFF"/>
            </a:solidFill>
            <a:ln w="9525">
              <a:solidFill>
                <a:srgbClr val="C7D9F0"/>
              </a:solidFill>
            </a:ln>
          </p:spPr>
        </p:sp>
        <p:sp>
          <p:nvSpPr>
            <p:cNvPr id="91" name="Rectangle 91"/>
            <p:cNvSpPr/>
            <p:nvPr/>
          </p:nvSpPr>
          <p:spPr>
            <a:xfrm>
              <a:off x="2171700" y="2895600"/>
              <a:ext cx="6667500" cy="419100"/>
            </a:xfrm>
            <a:prstGeom prst="roundRect">
              <a:avLst>
                <a:gd name="adj" fmla="val 13636"/>
              </a:avLst>
            </a:prstGeom>
            <a:solidFill>
              <a:srgbClr val="6F2516"/>
            </a:solidFill>
            <a:ln>
              <a:noFill/>
            </a:ln>
          </p:spPr>
        </p:sp>
        <p:sp>
          <p:nvSpPr>
            <p:cNvPr id="92" name="Rectangle 92"/>
            <p:cNvSpPr/>
            <p:nvPr/>
          </p:nvSpPr>
          <p:spPr>
            <a:xfrm>
              <a:off x="2171700" y="2895600"/>
              <a:ext cx="571500" cy="419100"/>
            </a:xfrm>
            <a:prstGeom prst="roundRect">
              <a:avLst>
                <a:gd name="adj" fmla="val 13636"/>
              </a:avLst>
            </a:prstGeom>
            <a:solidFill>
              <a:srgbClr val="9C331E"/>
            </a:solidFill>
            <a:ln>
              <a:noFill/>
            </a:ln>
          </p:spPr>
        </p:sp>
        <p:sp>
          <p:nvSpPr>
            <p:cNvPr id="93" name="TextBox 93"/>
            <p:cNvSpPr txBox="1"/>
            <p:nvPr/>
          </p:nvSpPr>
          <p:spPr>
            <a:xfrm>
              <a:off x="2337517" y="3019425"/>
              <a:ext cx="239867"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Arial"/>
                  <a:cs typeface="Arial"/>
                </a:rPr>
                <a:t>02</a:t>
              </a:r>
            </a:p>
          </p:txBody>
        </p:sp>
        <p:sp>
          <p:nvSpPr>
            <p:cNvPr id="94" name="TextBox 94"/>
            <p:cNvSpPr txBox="1"/>
            <p:nvPr/>
          </p:nvSpPr>
          <p:spPr>
            <a:xfrm>
              <a:off x="2890266" y="2972752"/>
              <a:ext cx="1565529"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虚拟电厂智能聚合与调控</a:t>
              </a:r>
            </a:p>
          </p:txBody>
        </p:sp>
        <p:sp>
          <p:nvSpPr>
            <p:cNvPr id="95" name="TextBox 95"/>
            <p:cNvSpPr txBox="1"/>
            <p:nvPr/>
          </p:nvSpPr>
          <p:spPr>
            <a:xfrm>
              <a:off x="2890838" y="3161586"/>
              <a:ext cx="1921129" cy="140494"/>
            </a:xfrm>
            <a:prstGeom prst="rect">
              <a:avLst/>
            </a:prstGeom>
            <a:noFill/>
            <a:ln>
              <a:noFill/>
            </a:ln>
          </p:spPr>
          <p:txBody>
            <a:bodyPr wrap="none" lIns="0" tIns="0" rIns="0" bIns="0" anchor="t" anchorCtr="0">
              <a:spAutoFit/>
            </a:bodyPr>
            <a:lstStyle/>
            <a:p>
              <a:pPr algn="l"/>
              <a:r>
                <a:rPr lang="zh-CN" sz="710" dirty="0">
                  <a:solidFill>
                    <a:srgbClr val="DCE9F8"/>
                  </a:solidFill>
                  <a:latin typeface="+mn-lt"/>
                  <a:ea typeface="+mn-ea"/>
                  <a:cs typeface="+mn-cs"/>
                </a:rPr>
                <a:t>聚合多类型可调资源，提升系统灵活调节能力</a:t>
              </a:r>
            </a:p>
          </p:txBody>
        </p:sp>
        <p:sp>
          <p:nvSpPr>
            <p:cNvPr id="96" name="Freeform 96"/>
            <p:cNvSpPr/>
            <p:nvPr/>
          </p:nvSpPr>
          <p:spPr>
            <a:xfrm>
              <a:off x="7429500" y="2990850"/>
              <a:ext cx="1066800" cy="247650"/>
            </a:xfrm>
            <a:custGeom>
              <a:avLst/>
              <a:gdLst/>
              <a:ahLst/>
              <a:cxnLst/>
              <a:rect l="l" t="t" r="r" b="b"/>
              <a:pathLst>
                <a:path w="1066800" h="247650">
                  <a:moveTo>
                    <a:pt x="95250" y="19050"/>
                  </a:moveTo>
                  <a:lnTo>
                    <a:pt x="438150" y="19050"/>
                  </a:lnTo>
                  <a:lnTo>
                    <a:pt x="628650" y="114300"/>
                  </a:lnTo>
                  <a:lnTo>
                    <a:pt x="438150" y="228600"/>
                  </a:lnTo>
                  <a:lnTo>
                    <a:pt x="95250" y="228600"/>
                  </a:lnTo>
                  <a:lnTo>
                    <a:pt x="0" y="114300"/>
                  </a:lnTo>
                  <a:close/>
                  <a:moveTo>
                    <a:pt x="762000" y="38100"/>
                  </a:moveTo>
                  <a:lnTo>
                    <a:pt x="990600" y="0"/>
                  </a:lnTo>
                  <a:lnTo>
                    <a:pt x="1066800" y="133350"/>
                  </a:lnTo>
                  <a:lnTo>
                    <a:pt x="933450" y="247650"/>
                  </a:lnTo>
                  <a:lnTo>
                    <a:pt x="742950" y="209550"/>
                  </a:lnTo>
                  <a:close/>
                </a:path>
              </a:pathLst>
            </a:custGeom>
            <a:solidFill>
              <a:srgbClr val="DE715B">
                <a:alpha val="70000"/>
              </a:srgbClr>
            </a:solidFill>
            <a:ln>
              <a:noFill/>
            </a:ln>
          </p:spPr>
        </p:sp>
        <p:sp>
          <p:nvSpPr>
            <p:cNvPr id="97" name="Ellipse 97"/>
            <p:cNvSpPr/>
            <p:nvPr/>
          </p:nvSpPr>
          <p:spPr>
            <a:xfrm>
              <a:off x="7667625" y="3076575"/>
              <a:ext cx="57150" cy="57150"/>
            </a:xfrm>
            <a:prstGeom prst="ellipse">
              <a:avLst/>
            </a:prstGeom>
            <a:solidFill>
              <a:srgbClr val="FFFFFF"/>
            </a:solidFill>
            <a:ln>
              <a:noFill/>
            </a:ln>
          </p:spPr>
        </p:sp>
        <p:sp>
          <p:nvSpPr>
            <p:cNvPr id="98" name="Ellipse 98"/>
            <p:cNvSpPr/>
            <p:nvPr/>
          </p:nvSpPr>
          <p:spPr>
            <a:xfrm>
              <a:off x="8258175" y="3076575"/>
              <a:ext cx="57150" cy="57150"/>
            </a:xfrm>
            <a:prstGeom prst="ellipse">
              <a:avLst/>
            </a:prstGeom>
            <a:solidFill>
              <a:srgbClr val="FFFFFF"/>
            </a:solidFill>
            <a:ln>
              <a:noFill/>
            </a:ln>
          </p:spPr>
        </p:sp>
        <p:sp>
          <p:nvSpPr>
            <p:cNvPr id="99" name="Line 99"/>
            <p:cNvSpPr/>
            <p:nvPr/>
          </p:nvSpPr>
          <p:spPr>
            <a:xfrm>
              <a:off x="4391025" y="3448050"/>
              <a:ext cx="9525" cy="876300"/>
            </a:xfrm>
            <a:custGeom>
              <a:avLst/>
              <a:gdLst/>
              <a:ahLst/>
              <a:cxnLst/>
              <a:rect l="l" t="t" r="r" b="b"/>
              <a:pathLst>
                <a:path w="9525" h="876300">
                  <a:moveTo>
                    <a:pt x="0" y="0"/>
                  </a:moveTo>
                  <a:lnTo>
                    <a:pt x="0" y="876300"/>
                  </a:lnTo>
                </a:path>
              </a:pathLst>
            </a:custGeom>
            <a:noFill/>
            <a:ln w="9525">
              <a:solidFill>
                <a:srgbClr val="C7D9F0"/>
              </a:solidFill>
            </a:ln>
          </p:spPr>
        </p:sp>
        <p:sp>
          <p:nvSpPr>
            <p:cNvPr id="100" name="Line 100"/>
            <p:cNvSpPr/>
            <p:nvPr/>
          </p:nvSpPr>
          <p:spPr>
            <a:xfrm>
              <a:off x="6619875" y="3448050"/>
              <a:ext cx="9525" cy="876300"/>
            </a:xfrm>
            <a:custGeom>
              <a:avLst/>
              <a:gdLst/>
              <a:ahLst/>
              <a:cxnLst/>
              <a:rect l="l" t="t" r="r" b="b"/>
              <a:pathLst>
                <a:path w="9525" h="876300">
                  <a:moveTo>
                    <a:pt x="0" y="0"/>
                  </a:moveTo>
                  <a:lnTo>
                    <a:pt x="0" y="876300"/>
                  </a:lnTo>
                </a:path>
              </a:pathLst>
            </a:custGeom>
            <a:noFill/>
            <a:ln w="9525">
              <a:solidFill>
                <a:srgbClr val="C7D9F0"/>
              </a:solidFill>
            </a:ln>
          </p:spPr>
        </p:sp>
        <p:sp>
          <p:nvSpPr>
            <p:cNvPr id="101" name="Ellipse 101"/>
            <p:cNvSpPr/>
            <p:nvPr/>
          </p:nvSpPr>
          <p:spPr>
            <a:xfrm>
              <a:off x="3124200" y="3467100"/>
              <a:ext cx="304800" cy="304800"/>
            </a:xfrm>
            <a:prstGeom prst="ellipse">
              <a:avLst/>
            </a:prstGeom>
            <a:solidFill>
              <a:srgbClr val="EFF5FC"/>
            </a:solidFill>
            <a:ln w="9525">
              <a:solidFill>
                <a:srgbClr val="ECB3A8"/>
              </a:solidFill>
            </a:ln>
          </p:spPr>
        </p:sp>
        <p:sp>
          <p:nvSpPr>
            <p:cNvPr id="102" name="Freeform 102"/>
            <p:cNvSpPr/>
            <p:nvPr/>
          </p:nvSpPr>
          <p:spPr>
            <a:xfrm>
              <a:off x="3205162" y="3548062"/>
              <a:ext cx="142875" cy="142875"/>
            </a:xfrm>
            <a:custGeom>
              <a:avLst/>
              <a:gdLst/>
              <a:ahLst/>
              <a:cxnLst/>
              <a:rect l="l" t="t" r="r" b="b"/>
              <a:pathLst>
                <a:path w="142875" h="142875">
                  <a:moveTo>
                    <a:pt x="7937" y="31750"/>
                  </a:moveTo>
                  <a:lnTo>
                    <a:pt x="31750" y="31750"/>
                  </a:lnTo>
                  <a:cubicBezTo>
                    <a:pt x="36134" y="31750"/>
                    <a:pt x="39687" y="28196"/>
                    <a:pt x="39687" y="23812"/>
                  </a:cubicBezTo>
                  <a:lnTo>
                    <a:pt x="39687" y="15875"/>
                  </a:lnTo>
                  <a:cubicBezTo>
                    <a:pt x="39687" y="7107"/>
                    <a:pt x="46795" y="0"/>
                    <a:pt x="55562" y="0"/>
                  </a:cubicBezTo>
                  <a:cubicBezTo>
                    <a:pt x="64330" y="0"/>
                    <a:pt x="71437" y="7107"/>
                    <a:pt x="71437" y="15875"/>
                  </a:cubicBezTo>
                  <a:lnTo>
                    <a:pt x="71437" y="23812"/>
                  </a:lnTo>
                  <a:cubicBezTo>
                    <a:pt x="71437" y="28196"/>
                    <a:pt x="74991" y="31750"/>
                    <a:pt x="79375" y="31750"/>
                  </a:cubicBezTo>
                  <a:lnTo>
                    <a:pt x="103187" y="31750"/>
                  </a:lnTo>
                  <a:cubicBezTo>
                    <a:pt x="107571" y="31750"/>
                    <a:pt x="111125" y="35304"/>
                    <a:pt x="111125" y="39687"/>
                  </a:cubicBezTo>
                  <a:lnTo>
                    <a:pt x="111125" y="63500"/>
                  </a:lnTo>
                  <a:cubicBezTo>
                    <a:pt x="111125" y="67884"/>
                    <a:pt x="114679" y="71437"/>
                    <a:pt x="119062" y="71437"/>
                  </a:cubicBezTo>
                  <a:lnTo>
                    <a:pt x="127000" y="71437"/>
                  </a:lnTo>
                  <a:cubicBezTo>
                    <a:pt x="135767" y="71437"/>
                    <a:pt x="142875" y="78545"/>
                    <a:pt x="142875" y="87312"/>
                  </a:cubicBezTo>
                  <a:cubicBezTo>
                    <a:pt x="142875" y="96080"/>
                    <a:pt x="135767" y="103187"/>
                    <a:pt x="127000" y="103187"/>
                  </a:cubicBezTo>
                  <a:lnTo>
                    <a:pt x="119062" y="103187"/>
                  </a:lnTo>
                  <a:cubicBezTo>
                    <a:pt x="114679" y="103187"/>
                    <a:pt x="111125" y="106741"/>
                    <a:pt x="111125" y="111125"/>
                  </a:cubicBezTo>
                  <a:lnTo>
                    <a:pt x="111125" y="134937"/>
                  </a:lnTo>
                  <a:cubicBezTo>
                    <a:pt x="111125" y="139321"/>
                    <a:pt x="107571" y="142875"/>
                    <a:pt x="103187" y="142875"/>
                  </a:cubicBezTo>
                  <a:lnTo>
                    <a:pt x="79375" y="142875"/>
                  </a:lnTo>
                  <a:cubicBezTo>
                    <a:pt x="74991" y="142875"/>
                    <a:pt x="71437" y="139321"/>
                    <a:pt x="71437" y="134937"/>
                  </a:cubicBezTo>
                  <a:lnTo>
                    <a:pt x="71437" y="127000"/>
                  </a:lnTo>
                  <a:cubicBezTo>
                    <a:pt x="71437" y="118232"/>
                    <a:pt x="64330" y="111125"/>
                    <a:pt x="55562" y="111125"/>
                  </a:cubicBezTo>
                  <a:cubicBezTo>
                    <a:pt x="46795" y="111125"/>
                    <a:pt x="39687" y="118232"/>
                    <a:pt x="39687" y="127000"/>
                  </a:cubicBezTo>
                  <a:lnTo>
                    <a:pt x="39687" y="134937"/>
                  </a:lnTo>
                  <a:cubicBezTo>
                    <a:pt x="39687" y="139321"/>
                    <a:pt x="36134" y="142875"/>
                    <a:pt x="31750" y="142875"/>
                  </a:cubicBezTo>
                  <a:lnTo>
                    <a:pt x="7937" y="142875"/>
                  </a:lnTo>
                  <a:cubicBezTo>
                    <a:pt x="3554" y="142875"/>
                    <a:pt x="0" y="139321"/>
                    <a:pt x="0" y="134937"/>
                  </a:cubicBezTo>
                  <a:lnTo>
                    <a:pt x="0" y="111125"/>
                  </a:lnTo>
                  <a:cubicBezTo>
                    <a:pt x="0" y="106741"/>
                    <a:pt x="3554" y="103187"/>
                    <a:pt x="7937" y="103187"/>
                  </a:cubicBezTo>
                  <a:lnTo>
                    <a:pt x="15875" y="103187"/>
                  </a:lnTo>
                  <a:cubicBezTo>
                    <a:pt x="24643" y="103187"/>
                    <a:pt x="31750" y="96080"/>
                    <a:pt x="31750" y="87312"/>
                  </a:cubicBezTo>
                  <a:cubicBezTo>
                    <a:pt x="31750" y="78545"/>
                    <a:pt x="24643" y="71437"/>
                    <a:pt x="15875" y="71437"/>
                  </a:cubicBezTo>
                  <a:lnTo>
                    <a:pt x="7937" y="71437"/>
                  </a:lnTo>
                  <a:cubicBezTo>
                    <a:pt x="3554" y="71437"/>
                    <a:pt x="0" y="67884"/>
                    <a:pt x="0" y="63500"/>
                  </a:cubicBezTo>
                  <a:lnTo>
                    <a:pt x="0" y="39687"/>
                  </a:lnTo>
                  <a:cubicBezTo>
                    <a:pt x="0" y="35304"/>
                    <a:pt x="3554" y="31750"/>
                    <a:pt x="7937" y="31750"/>
                  </a:cubicBezTo>
                </a:path>
              </a:pathLst>
            </a:custGeom>
            <a:noFill/>
            <a:ln w="15875">
              <a:solidFill>
                <a:srgbClr val="9C331E"/>
              </a:solidFill>
            </a:ln>
          </p:spPr>
        </p:sp>
        <p:sp>
          <p:nvSpPr>
            <p:cNvPr id="103" name="TextBox 103"/>
            <p:cNvSpPr txBox="1"/>
            <p:nvPr/>
          </p:nvSpPr>
          <p:spPr>
            <a:xfrm>
              <a:off x="3040291" y="3850243"/>
              <a:ext cx="472618"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聚合对象</a:t>
              </a:r>
            </a:p>
          </p:txBody>
        </p:sp>
        <p:sp>
          <p:nvSpPr>
            <p:cNvPr id="104" name="TextBox 104"/>
            <p:cNvSpPr txBox="1"/>
            <p:nvPr/>
          </p:nvSpPr>
          <p:spPr>
            <a:xfrm>
              <a:off x="2411616" y="4037886"/>
              <a:ext cx="1729969"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分布式电源、储能、可负荷等多类型资源</a:t>
              </a:r>
            </a:p>
          </p:txBody>
        </p:sp>
        <p:sp>
          <p:nvSpPr>
            <p:cNvPr id="105" name="Ellipse 105"/>
            <p:cNvSpPr/>
            <p:nvPr/>
          </p:nvSpPr>
          <p:spPr>
            <a:xfrm>
              <a:off x="5353050" y="3467100"/>
              <a:ext cx="304800" cy="304800"/>
            </a:xfrm>
            <a:prstGeom prst="ellipse">
              <a:avLst/>
            </a:prstGeom>
            <a:solidFill>
              <a:srgbClr val="EFF5FC"/>
            </a:solidFill>
            <a:ln w="9525">
              <a:solidFill>
                <a:srgbClr val="ECB3A8"/>
              </a:solidFill>
            </a:ln>
          </p:spPr>
        </p:sp>
        <p:grpSp>
          <p:nvGrpSpPr>
            <p:cNvPr id="108" name="Group 108"/>
            <p:cNvGrpSpPr/>
            <p:nvPr/>
          </p:nvGrpSpPr>
          <p:grpSpPr>
            <a:xfrm>
              <a:off x="5441950" y="3571875"/>
              <a:ext cx="127000" cy="112712"/>
              <a:chOff x="5441950" y="3571875"/>
              <a:chExt cx="127000" cy="112712"/>
            </a:xfrm>
          </p:grpSpPr>
          <p:sp>
            <p:nvSpPr>
              <p:cNvPr id="106" name="Freeform 106"/>
              <p:cNvSpPr/>
              <p:nvPr/>
            </p:nvSpPr>
            <p:spPr>
              <a:xfrm>
                <a:off x="5441950" y="3675062"/>
                <a:ext cx="127000" cy="9525"/>
              </a:xfrm>
              <a:custGeom>
                <a:avLst/>
                <a:gdLst/>
                <a:ahLst/>
                <a:cxnLst/>
                <a:rect l="l" t="t" r="r" b="b"/>
                <a:pathLst>
                  <a:path w="127000" h="9525">
                    <a:moveTo>
                      <a:pt x="0" y="0"/>
                    </a:moveTo>
                    <a:lnTo>
                      <a:pt x="127000" y="0"/>
                    </a:lnTo>
                  </a:path>
                </a:pathLst>
              </a:custGeom>
              <a:noFill/>
              <a:ln w="15875">
                <a:solidFill>
                  <a:srgbClr val="9C331E"/>
                </a:solidFill>
              </a:ln>
            </p:spPr>
          </p:sp>
          <p:sp>
            <p:nvSpPr>
              <p:cNvPr id="107" name="Freeform 107"/>
              <p:cNvSpPr/>
              <p:nvPr/>
            </p:nvSpPr>
            <p:spPr>
              <a:xfrm>
                <a:off x="5441950" y="357187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9C331E"/>
                </a:solidFill>
              </a:ln>
            </p:spPr>
          </p:sp>
        </p:grpSp>
        <p:sp>
          <p:nvSpPr>
            <p:cNvPr id="109" name="TextBox 109"/>
            <p:cNvSpPr txBox="1"/>
            <p:nvPr/>
          </p:nvSpPr>
          <p:spPr>
            <a:xfrm>
              <a:off x="5269141" y="3850243"/>
              <a:ext cx="472618"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核心能力</a:t>
              </a:r>
            </a:p>
          </p:txBody>
        </p:sp>
        <p:sp>
          <p:nvSpPr>
            <p:cNvPr id="110" name="TextBox 110"/>
            <p:cNvSpPr txBox="1"/>
            <p:nvPr/>
          </p:nvSpPr>
          <p:spPr>
            <a:xfrm>
              <a:off x="4592676" y="4037886"/>
              <a:ext cx="1825549"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资源聚合、负荷预测、优化调度、效果反馈</a:t>
              </a:r>
            </a:p>
          </p:txBody>
        </p:sp>
        <p:sp>
          <p:nvSpPr>
            <p:cNvPr id="111" name="Ellipse 111"/>
            <p:cNvSpPr/>
            <p:nvPr/>
          </p:nvSpPr>
          <p:spPr>
            <a:xfrm>
              <a:off x="7572375" y="3467100"/>
              <a:ext cx="304800" cy="304800"/>
            </a:xfrm>
            <a:prstGeom prst="ellipse">
              <a:avLst/>
            </a:prstGeom>
            <a:solidFill>
              <a:srgbClr val="EFF5FC"/>
            </a:solidFill>
            <a:ln w="9525">
              <a:solidFill>
                <a:srgbClr val="ECB3A8"/>
              </a:solidFill>
            </a:ln>
          </p:spPr>
        </p:sp>
        <p:sp>
          <p:nvSpPr>
            <p:cNvPr id="112" name="Freeform 112"/>
            <p:cNvSpPr/>
            <p:nvPr/>
          </p:nvSpPr>
          <p:spPr>
            <a:xfrm>
              <a:off x="7669212" y="3548062"/>
              <a:ext cx="111125" cy="142875"/>
            </a:xfrm>
            <a:custGeom>
              <a:avLst/>
              <a:gdLst/>
              <a:ahLst/>
              <a:cxnLst/>
              <a:rect l="l" t="t" r="r" b="b"/>
              <a:pathLst>
                <a:path w="111125" h="142875">
                  <a:moveTo>
                    <a:pt x="63500" y="0"/>
                  </a:moveTo>
                  <a:lnTo>
                    <a:pt x="63500" y="55562"/>
                  </a:lnTo>
                  <a:lnTo>
                    <a:pt x="111125" y="55562"/>
                  </a:lnTo>
                  <a:lnTo>
                    <a:pt x="47625" y="142875"/>
                  </a:lnTo>
                  <a:lnTo>
                    <a:pt x="47625" y="87312"/>
                  </a:lnTo>
                  <a:lnTo>
                    <a:pt x="0" y="87312"/>
                  </a:lnTo>
                  <a:lnTo>
                    <a:pt x="63500" y="0"/>
                  </a:lnTo>
                </a:path>
              </a:pathLst>
            </a:custGeom>
            <a:noFill/>
            <a:ln w="15875">
              <a:solidFill>
                <a:srgbClr val="9C331E"/>
              </a:solidFill>
            </a:ln>
          </p:spPr>
        </p:sp>
        <p:sp>
          <p:nvSpPr>
            <p:cNvPr id="113" name="TextBox 113"/>
            <p:cNvSpPr txBox="1"/>
            <p:nvPr/>
          </p:nvSpPr>
          <p:spPr>
            <a:xfrm>
              <a:off x="7488466" y="3850243"/>
              <a:ext cx="472618"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应用价值</a:t>
              </a:r>
            </a:p>
          </p:txBody>
        </p:sp>
        <p:sp>
          <p:nvSpPr>
            <p:cNvPr id="114" name="TextBox 114"/>
            <p:cNvSpPr txBox="1"/>
            <p:nvPr/>
          </p:nvSpPr>
          <p:spPr>
            <a:xfrm>
              <a:off x="6907581" y="4037886"/>
              <a:ext cx="1634388" cy="140494"/>
            </a:xfrm>
            <a:prstGeom prst="rect">
              <a:avLst/>
            </a:prstGeom>
            <a:noFill/>
            <a:ln>
              <a:noFill/>
            </a:ln>
          </p:spPr>
          <p:txBody>
            <a:bodyPr wrap="none" lIns="0" tIns="0" rIns="0" bIns="0" anchor="t" anchorCtr="0">
              <a:spAutoFit/>
            </a:bodyPr>
            <a:lstStyle/>
            <a:p>
              <a:pPr algn="ctr"/>
              <a:r>
                <a:rPr lang="zh-CN" sz="710" dirty="0">
                  <a:solidFill>
                    <a:srgbClr val="573F3A"/>
                  </a:solidFill>
                  <a:latin typeface="+mn-lt"/>
                  <a:ea typeface="+mn-ea"/>
                  <a:cs typeface="+mn-cs"/>
                </a:rPr>
                <a:t>增强系统灵活性，支撑新能源高效消纳</a:t>
              </a:r>
            </a:p>
          </p:txBody>
        </p:sp>
      </p:grpSp>
      <p:grpSp>
        <p:nvGrpSpPr>
          <p:cNvPr id="144" name="closure"/>
          <p:cNvGrpSpPr/>
          <p:nvPr/>
        </p:nvGrpSpPr>
        <p:grpSpPr>
          <a:xfrm>
            <a:off x="2171700" y="4552950"/>
            <a:ext cx="6667500" cy="781050"/>
            <a:chOff x="2171700" y="4552950"/>
            <a:chExt cx="6667500" cy="781050"/>
          </a:xfrm>
        </p:grpSpPr>
        <p:sp>
          <p:nvSpPr>
            <p:cNvPr id="116" name="Rectangle 116"/>
            <p:cNvSpPr/>
            <p:nvPr/>
          </p:nvSpPr>
          <p:spPr>
            <a:xfrm>
              <a:off x="2171700" y="4552950"/>
              <a:ext cx="6667500" cy="209550"/>
            </a:xfrm>
            <a:prstGeom prst="roundRect">
              <a:avLst>
                <a:gd name="adj" fmla="val 18182"/>
              </a:avLst>
            </a:prstGeom>
            <a:solidFill>
              <a:srgbClr val="EFF5FC"/>
            </a:solidFill>
            <a:ln w="9525">
              <a:solidFill>
                <a:srgbClr val="C7D9F0"/>
              </a:solidFill>
            </a:ln>
          </p:spPr>
        </p:sp>
        <p:sp>
          <p:nvSpPr>
            <p:cNvPr id="117" name="Rectangle 117"/>
            <p:cNvSpPr/>
            <p:nvPr/>
          </p:nvSpPr>
          <p:spPr>
            <a:xfrm>
              <a:off x="2171700" y="4552950"/>
              <a:ext cx="38100" cy="209550"/>
            </a:xfrm>
            <a:prstGeom prst="rect">
              <a:avLst/>
            </a:prstGeom>
            <a:solidFill>
              <a:srgbClr val="9C331E"/>
            </a:solidFill>
            <a:ln>
              <a:noFill/>
            </a:ln>
          </p:spPr>
        </p:sp>
        <p:sp>
          <p:nvSpPr>
            <p:cNvPr id="118" name="TextBox 118"/>
            <p:cNvSpPr txBox="1"/>
            <p:nvPr/>
          </p:nvSpPr>
          <p:spPr>
            <a:xfrm>
              <a:off x="2300288" y="4608195"/>
              <a:ext cx="978789"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两条关键业务闭环</a:t>
              </a:r>
            </a:p>
          </p:txBody>
        </p:sp>
        <p:sp>
          <p:nvSpPr>
            <p:cNvPr id="119" name="Rectangle 119"/>
            <p:cNvSpPr/>
            <p:nvPr/>
          </p:nvSpPr>
          <p:spPr>
            <a:xfrm>
              <a:off x="2247900" y="4819650"/>
              <a:ext cx="1428750" cy="228600"/>
            </a:xfrm>
            <a:prstGeom prst="roundRect">
              <a:avLst>
                <a:gd name="adj" fmla="val 16667"/>
              </a:avLst>
            </a:prstGeom>
            <a:solidFill>
              <a:srgbClr val="DCE9F8"/>
            </a:solidFill>
            <a:ln>
              <a:noFill/>
            </a:ln>
          </p:spPr>
        </p:sp>
        <p:sp>
          <p:nvSpPr>
            <p:cNvPr id="120" name="TextBox 120"/>
            <p:cNvSpPr txBox="1"/>
            <p:nvPr/>
          </p:nvSpPr>
          <p:spPr>
            <a:xfrm>
              <a:off x="2503170" y="4891088"/>
              <a:ext cx="918210"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分布式光伏智能巡控</a:t>
              </a:r>
            </a:p>
          </p:txBody>
        </p:sp>
        <p:sp>
          <p:nvSpPr>
            <p:cNvPr id="121" name="Rectangle 121"/>
            <p:cNvSpPr/>
            <p:nvPr/>
          </p:nvSpPr>
          <p:spPr>
            <a:xfrm>
              <a:off x="3810000" y="4819650"/>
              <a:ext cx="723900" cy="228600"/>
            </a:xfrm>
            <a:prstGeom prst="roundRect">
              <a:avLst>
                <a:gd name="adj" fmla="val 50000"/>
              </a:avLst>
            </a:prstGeom>
            <a:solidFill>
              <a:srgbClr val="FFFFFF"/>
            </a:solidFill>
            <a:ln w="9525">
              <a:solidFill>
                <a:srgbClr val="ECB3A8"/>
              </a:solidFill>
            </a:ln>
          </p:spPr>
        </p:sp>
        <p:sp>
          <p:nvSpPr>
            <p:cNvPr id="122" name="TextBox 122"/>
            <p:cNvSpPr txBox="1"/>
            <p:nvPr/>
          </p:nvSpPr>
          <p:spPr>
            <a:xfrm>
              <a:off x="3965258" y="4891088"/>
              <a:ext cx="413385"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光伏感知</a:t>
              </a:r>
            </a:p>
          </p:txBody>
        </p:sp>
        <p:sp>
          <p:nvSpPr>
            <p:cNvPr id="123" name="Line 123"/>
            <p:cNvSpPr/>
            <p:nvPr/>
          </p:nvSpPr>
          <p:spPr>
            <a:xfrm>
              <a:off x="4552950" y="4933950"/>
              <a:ext cx="152400" cy="1"/>
            </a:xfrm>
            <a:prstGeom prst="line">
              <a:avLst/>
            </a:prstGeom>
            <a:noFill/>
            <a:ln w="14288">
              <a:solidFill>
                <a:srgbClr val="9C331E"/>
              </a:solidFill>
              <a:tailEnd type="triangle" w="lg" len="lg"/>
            </a:ln>
          </p:spPr>
        </p:sp>
        <p:sp>
          <p:nvSpPr>
            <p:cNvPr id="124" name="Rectangle 124"/>
            <p:cNvSpPr/>
            <p:nvPr/>
          </p:nvSpPr>
          <p:spPr>
            <a:xfrm>
              <a:off x="4724400" y="4819650"/>
              <a:ext cx="723900" cy="228600"/>
            </a:xfrm>
            <a:prstGeom prst="roundRect">
              <a:avLst>
                <a:gd name="adj" fmla="val 50000"/>
              </a:avLst>
            </a:prstGeom>
            <a:solidFill>
              <a:srgbClr val="FFFFFF"/>
            </a:solidFill>
            <a:ln w="9525">
              <a:solidFill>
                <a:srgbClr val="ECB3A8"/>
              </a:solidFill>
            </a:ln>
          </p:spPr>
        </p:sp>
        <p:sp>
          <p:nvSpPr>
            <p:cNvPr id="125" name="TextBox 125"/>
            <p:cNvSpPr txBox="1"/>
            <p:nvPr/>
          </p:nvSpPr>
          <p:spPr>
            <a:xfrm>
              <a:off x="4879658" y="4891088"/>
              <a:ext cx="413385"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异常诊断</a:t>
              </a:r>
            </a:p>
          </p:txBody>
        </p:sp>
        <p:sp>
          <p:nvSpPr>
            <p:cNvPr id="126" name="Line 126"/>
            <p:cNvSpPr/>
            <p:nvPr/>
          </p:nvSpPr>
          <p:spPr>
            <a:xfrm>
              <a:off x="5467350" y="4933950"/>
              <a:ext cx="152400" cy="1"/>
            </a:xfrm>
            <a:prstGeom prst="line">
              <a:avLst/>
            </a:prstGeom>
            <a:noFill/>
            <a:ln w="14288">
              <a:solidFill>
                <a:srgbClr val="9C331E"/>
              </a:solidFill>
              <a:tailEnd type="triangle" w="lg" len="lg"/>
            </a:ln>
          </p:spPr>
        </p:sp>
        <p:sp>
          <p:nvSpPr>
            <p:cNvPr id="127" name="Rectangle 127"/>
            <p:cNvSpPr/>
            <p:nvPr/>
          </p:nvSpPr>
          <p:spPr>
            <a:xfrm>
              <a:off x="5638800" y="4819650"/>
              <a:ext cx="723900" cy="228600"/>
            </a:xfrm>
            <a:prstGeom prst="roundRect">
              <a:avLst>
                <a:gd name="adj" fmla="val 50000"/>
              </a:avLst>
            </a:prstGeom>
            <a:solidFill>
              <a:srgbClr val="FFFFFF"/>
            </a:solidFill>
            <a:ln w="9525">
              <a:solidFill>
                <a:srgbClr val="ECB3A8"/>
              </a:solidFill>
            </a:ln>
          </p:spPr>
        </p:sp>
        <p:sp>
          <p:nvSpPr>
            <p:cNvPr id="128" name="TextBox 128"/>
            <p:cNvSpPr txBox="1"/>
            <p:nvPr/>
          </p:nvSpPr>
          <p:spPr>
            <a:xfrm>
              <a:off x="5794058" y="4891088"/>
              <a:ext cx="413385"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巡检处置</a:t>
              </a:r>
            </a:p>
          </p:txBody>
        </p:sp>
        <p:sp>
          <p:nvSpPr>
            <p:cNvPr id="129" name="TextBox 129"/>
            <p:cNvSpPr txBox="1"/>
            <p:nvPr/>
          </p:nvSpPr>
          <p:spPr>
            <a:xfrm>
              <a:off x="6567488" y="4903232"/>
              <a:ext cx="871093"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从发现问题到处置闭环</a:t>
              </a:r>
            </a:p>
          </p:txBody>
        </p:sp>
        <p:sp>
          <p:nvSpPr>
            <p:cNvPr id="130" name="Rectangle 130"/>
            <p:cNvSpPr/>
            <p:nvPr/>
          </p:nvSpPr>
          <p:spPr>
            <a:xfrm>
              <a:off x="2247900" y="5105400"/>
              <a:ext cx="1428750" cy="228600"/>
            </a:xfrm>
            <a:prstGeom prst="roundRect">
              <a:avLst>
                <a:gd name="adj" fmla="val 16667"/>
              </a:avLst>
            </a:prstGeom>
            <a:solidFill>
              <a:srgbClr val="DCE9F8"/>
            </a:solidFill>
            <a:ln>
              <a:noFill/>
            </a:ln>
          </p:spPr>
        </p:sp>
        <p:sp>
          <p:nvSpPr>
            <p:cNvPr id="131" name="TextBox 131"/>
            <p:cNvSpPr txBox="1"/>
            <p:nvPr/>
          </p:nvSpPr>
          <p:spPr>
            <a:xfrm>
              <a:off x="2402205" y="5176838"/>
              <a:ext cx="1120140"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虚拟电厂智能聚合与调控</a:t>
              </a:r>
            </a:p>
          </p:txBody>
        </p:sp>
        <p:sp>
          <p:nvSpPr>
            <p:cNvPr id="132" name="Rectangle 132"/>
            <p:cNvSpPr/>
            <p:nvPr/>
          </p:nvSpPr>
          <p:spPr>
            <a:xfrm>
              <a:off x="3810000" y="5105400"/>
              <a:ext cx="723900" cy="228600"/>
            </a:xfrm>
            <a:prstGeom prst="roundRect">
              <a:avLst>
                <a:gd name="adj" fmla="val 50000"/>
              </a:avLst>
            </a:prstGeom>
            <a:solidFill>
              <a:srgbClr val="FFFFFF"/>
            </a:solidFill>
            <a:ln w="9525">
              <a:solidFill>
                <a:srgbClr val="ECB3A8"/>
              </a:solidFill>
            </a:ln>
          </p:spPr>
        </p:sp>
        <p:sp>
          <p:nvSpPr>
            <p:cNvPr id="133" name="TextBox 133"/>
            <p:cNvSpPr txBox="1"/>
            <p:nvPr/>
          </p:nvSpPr>
          <p:spPr>
            <a:xfrm>
              <a:off x="3965258" y="5176838"/>
              <a:ext cx="413385"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资源聚合</a:t>
              </a:r>
            </a:p>
          </p:txBody>
        </p:sp>
        <p:sp>
          <p:nvSpPr>
            <p:cNvPr id="134" name="Line 134"/>
            <p:cNvSpPr/>
            <p:nvPr/>
          </p:nvSpPr>
          <p:spPr>
            <a:xfrm>
              <a:off x="4552950" y="5219700"/>
              <a:ext cx="152400" cy="1"/>
            </a:xfrm>
            <a:prstGeom prst="line">
              <a:avLst/>
            </a:prstGeom>
            <a:noFill/>
            <a:ln w="14288">
              <a:solidFill>
                <a:srgbClr val="9C331E"/>
              </a:solidFill>
              <a:tailEnd type="triangle" w="lg" len="lg"/>
            </a:ln>
          </p:spPr>
        </p:sp>
        <p:sp>
          <p:nvSpPr>
            <p:cNvPr id="135" name="Rectangle 135"/>
            <p:cNvSpPr/>
            <p:nvPr/>
          </p:nvSpPr>
          <p:spPr>
            <a:xfrm>
              <a:off x="4724400" y="5105400"/>
              <a:ext cx="723900" cy="228600"/>
            </a:xfrm>
            <a:prstGeom prst="roundRect">
              <a:avLst>
                <a:gd name="adj" fmla="val 50000"/>
              </a:avLst>
            </a:prstGeom>
            <a:solidFill>
              <a:srgbClr val="FFFFFF"/>
            </a:solidFill>
            <a:ln w="9525">
              <a:solidFill>
                <a:srgbClr val="ECB3A8"/>
              </a:solidFill>
            </a:ln>
          </p:spPr>
        </p:sp>
        <p:sp>
          <p:nvSpPr>
            <p:cNvPr id="136" name="TextBox 136"/>
            <p:cNvSpPr txBox="1"/>
            <p:nvPr/>
          </p:nvSpPr>
          <p:spPr>
            <a:xfrm>
              <a:off x="4879658" y="5176838"/>
              <a:ext cx="413385"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负荷预测</a:t>
              </a:r>
            </a:p>
          </p:txBody>
        </p:sp>
        <p:sp>
          <p:nvSpPr>
            <p:cNvPr id="137" name="Line 137"/>
            <p:cNvSpPr/>
            <p:nvPr/>
          </p:nvSpPr>
          <p:spPr>
            <a:xfrm>
              <a:off x="5467350" y="5219700"/>
              <a:ext cx="152400" cy="1"/>
            </a:xfrm>
            <a:prstGeom prst="line">
              <a:avLst/>
            </a:prstGeom>
            <a:noFill/>
            <a:ln w="14288">
              <a:solidFill>
                <a:srgbClr val="9C331E"/>
              </a:solidFill>
              <a:tailEnd type="triangle" w="lg" len="lg"/>
            </a:ln>
          </p:spPr>
        </p:sp>
        <p:sp>
          <p:nvSpPr>
            <p:cNvPr id="138" name="Rectangle 138"/>
            <p:cNvSpPr/>
            <p:nvPr/>
          </p:nvSpPr>
          <p:spPr>
            <a:xfrm>
              <a:off x="5638800" y="5105400"/>
              <a:ext cx="723900" cy="228600"/>
            </a:xfrm>
            <a:prstGeom prst="roundRect">
              <a:avLst>
                <a:gd name="adj" fmla="val 50000"/>
              </a:avLst>
            </a:prstGeom>
            <a:solidFill>
              <a:srgbClr val="FFFFFF"/>
            </a:solidFill>
            <a:ln w="9525">
              <a:solidFill>
                <a:srgbClr val="ECB3A8"/>
              </a:solidFill>
            </a:ln>
          </p:spPr>
        </p:sp>
        <p:sp>
          <p:nvSpPr>
            <p:cNvPr id="139" name="TextBox 139"/>
            <p:cNvSpPr txBox="1"/>
            <p:nvPr/>
          </p:nvSpPr>
          <p:spPr>
            <a:xfrm>
              <a:off x="5794058" y="5176838"/>
              <a:ext cx="413385"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调控执行</a:t>
              </a:r>
            </a:p>
          </p:txBody>
        </p:sp>
        <p:sp>
          <p:nvSpPr>
            <p:cNvPr id="140" name="Line 140"/>
            <p:cNvSpPr/>
            <p:nvPr/>
          </p:nvSpPr>
          <p:spPr>
            <a:xfrm>
              <a:off x="6381750" y="5219700"/>
              <a:ext cx="152400" cy="1"/>
            </a:xfrm>
            <a:prstGeom prst="line">
              <a:avLst/>
            </a:prstGeom>
            <a:noFill/>
            <a:ln w="14288">
              <a:solidFill>
                <a:srgbClr val="9C331E"/>
              </a:solidFill>
              <a:tailEnd type="triangle" w="lg" len="lg"/>
            </a:ln>
          </p:spPr>
        </p:sp>
        <p:sp>
          <p:nvSpPr>
            <p:cNvPr id="141" name="Rectangle 141"/>
            <p:cNvSpPr/>
            <p:nvPr/>
          </p:nvSpPr>
          <p:spPr>
            <a:xfrm>
              <a:off x="6553200" y="5105400"/>
              <a:ext cx="723900" cy="228600"/>
            </a:xfrm>
            <a:prstGeom prst="roundRect">
              <a:avLst>
                <a:gd name="adj" fmla="val 50000"/>
              </a:avLst>
            </a:prstGeom>
            <a:solidFill>
              <a:srgbClr val="FFFFFF"/>
            </a:solidFill>
            <a:ln w="9525">
              <a:solidFill>
                <a:srgbClr val="ECB3A8"/>
              </a:solidFill>
            </a:ln>
          </p:spPr>
        </p:sp>
        <p:sp>
          <p:nvSpPr>
            <p:cNvPr id="142" name="TextBox 142"/>
            <p:cNvSpPr txBox="1"/>
            <p:nvPr/>
          </p:nvSpPr>
          <p:spPr>
            <a:xfrm>
              <a:off x="6708458" y="5176838"/>
              <a:ext cx="413385"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效果反馈</a:t>
              </a:r>
            </a:p>
          </p:txBody>
        </p:sp>
        <p:sp>
          <p:nvSpPr>
            <p:cNvPr id="143" name="TextBox 143"/>
            <p:cNvSpPr txBox="1"/>
            <p:nvPr/>
          </p:nvSpPr>
          <p:spPr>
            <a:xfrm>
              <a:off x="7481888" y="5188982"/>
              <a:ext cx="698779"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从资源到效果闭环</a:t>
              </a:r>
            </a:p>
          </p:txBody>
        </p:sp>
      </p:grpSp>
      <p:grpSp>
        <p:nvGrpSpPr>
          <p:cNvPr id="164" name="datasets"/>
          <p:cNvGrpSpPr/>
          <p:nvPr/>
        </p:nvGrpSpPr>
        <p:grpSpPr>
          <a:xfrm>
            <a:off x="2171700" y="5410200"/>
            <a:ext cx="6667500" cy="622697"/>
            <a:chOff x="2171700" y="5410200"/>
            <a:chExt cx="6667500" cy="622697"/>
          </a:xfrm>
        </p:grpSpPr>
        <p:sp>
          <p:nvSpPr>
            <p:cNvPr id="145" name="Rectangle 145"/>
            <p:cNvSpPr/>
            <p:nvPr/>
          </p:nvSpPr>
          <p:spPr>
            <a:xfrm>
              <a:off x="2171700" y="5410200"/>
              <a:ext cx="6667500" cy="190500"/>
            </a:xfrm>
            <a:prstGeom prst="roundRect">
              <a:avLst>
                <a:gd name="adj" fmla="val 20000"/>
              </a:avLst>
            </a:prstGeom>
            <a:solidFill>
              <a:srgbClr val="EFF5FC"/>
            </a:solidFill>
            <a:ln w="9525">
              <a:solidFill>
                <a:srgbClr val="C7D9F0"/>
              </a:solidFill>
            </a:ln>
          </p:spPr>
        </p:sp>
        <p:sp>
          <p:nvSpPr>
            <p:cNvPr id="146" name="Rectangle 146"/>
            <p:cNvSpPr/>
            <p:nvPr/>
          </p:nvSpPr>
          <p:spPr>
            <a:xfrm>
              <a:off x="2171700" y="5410200"/>
              <a:ext cx="38100" cy="190500"/>
            </a:xfrm>
            <a:prstGeom prst="rect">
              <a:avLst/>
            </a:prstGeom>
            <a:solidFill>
              <a:srgbClr val="9C331E"/>
            </a:solidFill>
            <a:ln>
              <a:noFill/>
            </a:ln>
          </p:spPr>
        </p:sp>
        <p:sp>
          <p:nvSpPr>
            <p:cNvPr id="147" name="TextBox 147"/>
            <p:cNvSpPr txBox="1"/>
            <p:nvPr/>
          </p:nvSpPr>
          <p:spPr>
            <a:xfrm>
              <a:off x="2300288" y="5450443"/>
              <a:ext cx="819937"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两类支撑数据集</a:t>
              </a:r>
            </a:p>
          </p:txBody>
        </p:sp>
        <p:sp>
          <p:nvSpPr>
            <p:cNvPr id="148" name="Rectangle 148"/>
            <p:cNvSpPr/>
            <p:nvPr/>
          </p:nvSpPr>
          <p:spPr>
            <a:xfrm>
              <a:off x="2171700" y="5638800"/>
              <a:ext cx="3276600" cy="381000"/>
            </a:xfrm>
            <a:prstGeom prst="roundRect">
              <a:avLst>
                <a:gd name="adj" fmla="val 15000"/>
              </a:avLst>
            </a:prstGeom>
            <a:solidFill>
              <a:srgbClr val="FFFFFF"/>
            </a:solidFill>
            <a:ln w="9525">
              <a:solidFill>
                <a:srgbClr val="C7D9F0"/>
              </a:solidFill>
            </a:ln>
          </p:spPr>
        </p:sp>
        <p:sp>
          <p:nvSpPr>
            <p:cNvPr id="149" name="Ellipse 149"/>
            <p:cNvSpPr/>
            <p:nvPr/>
          </p:nvSpPr>
          <p:spPr>
            <a:xfrm>
              <a:off x="2247900" y="5715000"/>
              <a:ext cx="228600" cy="228600"/>
            </a:xfrm>
            <a:prstGeom prst="ellipse">
              <a:avLst/>
            </a:prstGeom>
            <a:solidFill>
              <a:srgbClr val="9C331E"/>
            </a:solidFill>
            <a:ln>
              <a:noFill/>
            </a:ln>
          </p:spPr>
        </p:sp>
        <p:grpSp>
          <p:nvGrpSpPr>
            <p:cNvPr id="153" name="Group 153"/>
            <p:cNvGrpSpPr/>
            <p:nvPr/>
          </p:nvGrpSpPr>
          <p:grpSpPr>
            <a:xfrm>
              <a:off x="2311400" y="5772150"/>
              <a:ext cx="101600" cy="114300"/>
              <a:chOff x="2311400" y="5772150"/>
              <a:chExt cx="101600" cy="114300"/>
            </a:xfrm>
          </p:grpSpPr>
          <p:sp>
            <p:nvSpPr>
              <p:cNvPr id="150" name="Freeform 150"/>
              <p:cNvSpPr/>
              <p:nvPr/>
            </p:nvSpPr>
            <p:spPr>
              <a:xfrm>
                <a:off x="2311400" y="57721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FFFFFF"/>
                </a:solidFill>
              </a:ln>
            </p:spPr>
          </p:sp>
          <p:sp>
            <p:nvSpPr>
              <p:cNvPr id="151" name="Freeform 151"/>
              <p:cNvSpPr/>
              <p:nvPr/>
            </p:nvSpPr>
            <p:spPr>
              <a:xfrm>
                <a:off x="2311400" y="57912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FFFFFF"/>
                </a:solidFill>
              </a:ln>
            </p:spPr>
          </p:sp>
          <p:sp>
            <p:nvSpPr>
              <p:cNvPr id="152" name="Freeform 152"/>
              <p:cNvSpPr/>
              <p:nvPr/>
            </p:nvSpPr>
            <p:spPr>
              <a:xfrm>
                <a:off x="2311400" y="58293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FFFFFF"/>
                </a:solidFill>
              </a:ln>
            </p:spPr>
          </p:sp>
        </p:grpSp>
        <p:sp>
          <p:nvSpPr>
            <p:cNvPr id="154" name="TextBox 154"/>
            <p:cNvSpPr txBox="1"/>
            <p:nvPr/>
          </p:nvSpPr>
          <p:spPr>
            <a:xfrm>
              <a:off x="2547938" y="5687139"/>
              <a:ext cx="1073023" cy="154781"/>
            </a:xfrm>
            <a:prstGeom prst="rect">
              <a:avLst/>
            </a:prstGeom>
            <a:noFill/>
            <a:ln>
              <a:noFill/>
            </a:ln>
          </p:spPr>
          <p:txBody>
            <a:bodyPr wrap="none" lIns="0" tIns="0" rIns="0" bIns="0" anchor="t" anchorCtr="0">
              <a:spAutoFit/>
            </a:bodyPr>
            <a:lstStyle/>
            <a:p>
              <a:pPr algn="l"/>
              <a:r>
                <a:rPr lang="zh-CN" sz="790" b="1" dirty="0">
                  <a:solidFill>
                    <a:srgbClr val="5E2114"/>
                  </a:solidFill>
                  <a:latin typeface="+mn-lt"/>
                  <a:ea typeface="+mn-ea"/>
                  <a:cs typeface="+mn-cs"/>
                </a:rPr>
                <a:t>分布式光伏运行数据集</a:t>
              </a:r>
            </a:p>
          </p:txBody>
        </p:sp>
        <p:sp>
          <p:nvSpPr>
            <p:cNvPr id="155" name="TextBox 155"/>
            <p:cNvSpPr txBox="1"/>
            <p:nvPr/>
          </p:nvSpPr>
          <p:spPr>
            <a:xfrm>
              <a:off x="2547938" y="5825728"/>
              <a:ext cx="139992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9B807A"/>
                  </a:solidFill>
                  <a:latin typeface="+mn-lt"/>
                  <a:ea typeface="+mn-ea"/>
                  <a:cs typeface="+mn-cs"/>
                </a:rPr>
                <a:t>涵盖电站运行状态、设备健康、气象环境等​</a:t>
              </a:r>
              <a:br/>
              <a:r>
                <a:rPr lang="zh-CN" sz="560" dirty="0">
                  <a:solidFill>
                    <a:srgbClr val="9B807A"/>
                  </a:solidFill>
                  <a:latin typeface="+mn-lt"/>
                  <a:ea typeface="+mn-ea"/>
                  <a:cs typeface="+mn-cs"/>
                </a:rPr>
                <a:t>用于故障预警与设备健康模型训练与验证</a:t>
              </a:r>
            </a:p>
          </p:txBody>
        </p:sp>
        <p:sp>
          <p:nvSpPr>
            <p:cNvPr id="156" name="Rectangle 156"/>
            <p:cNvSpPr/>
            <p:nvPr/>
          </p:nvSpPr>
          <p:spPr>
            <a:xfrm>
              <a:off x="5562600" y="5638800"/>
              <a:ext cx="3276600" cy="381000"/>
            </a:xfrm>
            <a:prstGeom prst="roundRect">
              <a:avLst>
                <a:gd name="adj" fmla="val 15000"/>
              </a:avLst>
            </a:prstGeom>
            <a:solidFill>
              <a:srgbClr val="FFFFFF"/>
            </a:solidFill>
            <a:ln w="9525">
              <a:solidFill>
                <a:srgbClr val="C7D9F0"/>
              </a:solidFill>
            </a:ln>
          </p:spPr>
        </p:sp>
        <p:sp>
          <p:nvSpPr>
            <p:cNvPr id="157" name="Ellipse 157"/>
            <p:cNvSpPr/>
            <p:nvPr/>
          </p:nvSpPr>
          <p:spPr>
            <a:xfrm>
              <a:off x="5638800" y="5715000"/>
              <a:ext cx="228600" cy="228600"/>
            </a:xfrm>
            <a:prstGeom prst="ellipse">
              <a:avLst/>
            </a:prstGeom>
            <a:solidFill>
              <a:srgbClr val="9C331E"/>
            </a:solidFill>
            <a:ln>
              <a:noFill/>
            </a:ln>
          </p:spPr>
        </p:sp>
        <p:grpSp>
          <p:nvGrpSpPr>
            <p:cNvPr id="161" name="Group 161"/>
            <p:cNvGrpSpPr/>
            <p:nvPr/>
          </p:nvGrpSpPr>
          <p:grpSpPr>
            <a:xfrm>
              <a:off x="5702300" y="5772150"/>
              <a:ext cx="101600" cy="114300"/>
              <a:chOff x="5702300" y="5772150"/>
              <a:chExt cx="101600" cy="114300"/>
            </a:xfrm>
          </p:grpSpPr>
          <p:sp>
            <p:nvSpPr>
              <p:cNvPr id="158" name="Freeform 158"/>
              <p:cNvSpPr/>
              <p:nvPr/>
            </p:nvSpPr>
            <p:spPr>
              <a:xfrm>
                <a:off x="5702300" y="57721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FFFFFF"/>
                </a:solidFill>
              </a:ln>
            </p:spPr>
          </p:sp>
          <p:sp>
            <p:nvSpPr>
              <p:cNvPr id="159" name="Freeform 159"/>
              <p:cNvSpPr/>
              <p:nvPr/>
            </p:nvSpPr>
            <p:spPr>
              <a:xfrm>
                <a:off x="5702300" y="57912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FFFFFF"/>
                </a:solidFill>
              </a:ln>
            </p:spPr>
          </p:sp>
          <p:sp>
            <p:nvSpPr>
              <p:cNvPr id="160" name="Freeform 160"/>
              <p:cNvSpPr/>
              <p:nvPr/>
            </p:nvSpPr>
            <p:spPr>
              <a:xfrm>
                <a:off x="5702300" y="58293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FFFFFF"/>
                </a:solidFill>
              </a:ln>
            </p:spPr>
          </p:sp>
        </p:grpSp>
        <p:sp>
          <p:nvSpPr>
            <p:cNvPr id="162" name="TextBox 162"/>
            <p:cNvSpPr txBox="1"/>
            <p:nvPr/>
          </p:nvSpPr>
          <p:spPr>
            <a:xfrm>
              <a:off x="5938838" y="5687139"/>
              <a:ext cx="966673" cy="154781"/>
            </a:xfrm>
            <a:prstGeom prst="rect">
              <a:avLst/>
            </a:prstGeom>
            <a:noFill/>
            <a:ln>
              <a:noFill/>
            </a:ln>
          </p:spPr>
          <p:txBody>
            <a:bodyPr wrap="none" lIns="0" tIns="0" rIns="0" bIns="0" anchor="t" anchorCtr="0">
              <a:spAutoFit/>
            </a:bodyPr>
            <a:lstStyle/>
            <a:p>
              <a:pPr algn="l"/>
              <a:r>
                <a:rPr lang="zh-CN" sz="790" b="1" dirty="0">
                  <a:solidFill>
                    <a:srgbClr val="5E2114"/>
                  </a:solidFill>
                  <a:latin typeface="+mn-lt"/>
                  <a:ea typeface="+mn-ea"/>
                  <a:cs typeface="+mn-cs"/>
                </a:rPr>
                <a:t>电力可调资源数据集</a:t>
              </a:r>
            </a:p>
          </p:txBody>
        </p:sp>
        <p:sp>
          <p:nvSpPr>
            <p:cNvPr id="163" name="TextBox 163"/>
            <p:cNvSpPr txBox="1"/>
            <p:nvPr/>
          </p:nvSpPr>
          <p:spPr>
            <a:xfrm>
              <a:off x="5938838" y="5825728"/>
              <a:ext cx="1581277"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9B807A"/>
                  </a:solidFill>
                  <a:latin typeface="+mn-lt"/>
                  <a:ea typeface="+mn-ea"/>
                  <a:cs typeface="+mn-cs"/>
                </a:rPr>
                <a:t>涵盖分布式电源、储能、可调节负荷等资源特性​​</a:t>
              </a:r>
              <a:br/>
              <a:r>
                <a:rPr lang="zh-CN" sz="560" dirty="0">
                  <a:solidFill>
                    <a:srgbClr val="9B807A"/>
                  </a:solidFill>
                  <a:latin typeface="+mn-lt"/>
                  <a:ea typeface="+mn-ea"/>
                  <a:cs typeface="+mn-cs"/>
                </a:rPr>
                <a:t>用于资源聚合、负荷预测与调度策略优化</a:t>
              </a:r>
            </a:p>
          </p:txBody>
        </p:sp>
      </p:grpSp>
      <p:grpSp>
        <p:nvGrpSpPr>
          <p:cNvPr id="179" name="evidence"/>
          <p:cNvGrpSpPr/>
          <p:nvPr/>
        </p:nvGrpSpPr>
        <p:grpSpPr>
          <a:xfrm>
            <a:off x="2171700" y="6115050"/>
            <a:ext cx="4495051" cy="209550"/>
            <a:chOff x="2171700" y="6115050"/>
            <a:chExt cx="4495051" cy="209550"/>
          </a:xfrm>
        </p:grpSpPr>
        <p:sp>
          <p:nvSpPr>
            <p:cNvPr id="165" name="Rectangle 165"/>
            <p:cNvSpPr/>
            <p:nvPr/>
          </p:nvSpPr>
          <p:spPr>
            <a:xfrm>
              <a:off x="2171700" y="6115050"/>
              <a:ext cx="1066800" cy="209550"/>
            </a:xfrm>
            <a:prstGeom prst="roundRect">
              <a:avLst>
                <a:gd name="adj" fmla="val 18182"/>
              </a:avLst>
            </a:prstGeom>
            <a:solidFill>
              <a:srgbClr val="632012"/>
            </a:solidFill>
            <a:ln>
              <a:noFill/>
            </a:ln>
          </p:spPr>
        </p:sp>
        <p:grpSp>
          <p:nvGrpSpPr>
            <p:cNvPr id="172" name="Group 172"/>
            <p:cNvGrpSpPr/>
            <p:nvPr/>
          </p:nvGrpSpPr>
          <p:grpSpPr>
            <a:xfrm>
              <a:off x="2245519" y="6180931"/>
              <a:ext cx="100012" cy="94456"/>
              <a:chOff x="2245519" y="6180931"/>
              <a:chExt cx="100012" cy="94456"/>
            </a:xfrm>
          </p:grpSpPr>
          <p:sp>
            <p:nvSpPr>
              <p:cNvPr id="166" name="Freeform 166"/>
              <p:cNvSpPr/>
              <p:nvPr/>
            </p:nvSpPr>
            <p:spPr>
              <a:xfrm>
                <a:off x="2295525" y="6219825"/>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FFFFFF"/>
                </a:solidFill>
              </a:ln>
            </p:spPr>
          </p:sp>
          <p:sp>
            <p:nvSpPr>
              <p:cNvPr id="167" name="Freeform 167"/>
              <p:cNvSpPr/>
              <p:nvPr/>
            </p:nvSpPr>
            <p:spPr>
              <a:xfrm>
                <a:off x="2301081" y="6250384"/>
                <a:ext cx="22225" cy="25003"/>
              </a:xfrm>
              <a:custGeom>
                <a:avLst/>
                <a:gdLst/>
                <a:ahLst/>
                <a:cxnLst/>
                <a:rect l="l" t="t" r="r" b="b"/>
                <a:pathLst>
                  <a:path w="22225" h="25003">
                    <a:moveTo>
                      <a:pt x="0" y="0"/>
                    </a:moveTo>
                    <a:lnTo>
                      <a:pt x="0" y="25003"/>
                    </a:lnTo>
                    <a:lnTo>
                      <a:pt x="11112" y="16669"/>
                    </a:lnTo>
                    <a:lnTo>
                      <a:pt x="22225" y="25003"/>
                    </a:lnTo>
                    <a:lnTo>
                      <a:pt x="22225" y="0"/>
                    </a:lnTo>
                  </a:path>
                </a:pathLst>
              </a:custGeom>
              <a:noFill/>
              <a:ln w="11112">
                <a:solidFill>
                  <a:srgbClr val="FFFFFF"/>
                </a:solidFill>
              </a:ln>
            </p:spPr>
          </p:sp>
          <p:sp>
            <p:nvSpPr>
              <p:cNvPr id="168" name="Freeform 168"/>
              <p:cNvSpPr/>
              <p:nvPr/>
            </p:nvSpPr>
            <p:spPr>
              <a:xfrm>
                <a:off x="2245519" y="6180931"/>
                <a:ext cx="100012" cy="77787"/>
              </a:xfrm>
              <a:custGeom>
                <a:avLst/>
                <a:gdLst/>
                <a:ahLst/>
                <a:cxnLst/>
                <a:rect l="l" t="t" r="r" b="b"/>
                <a:pathLst>
                  <a:path w="100012" h="77787">
                    <a:moveTo>
                      <a:pt x="38894" y="77787"/>
                    </a:moveTo>
                    <a:lnTo>
                      <a:pt x="11112" y="77787"/>
                    </a:lnTo>
                    <a:cubicBezTo>
                      <a:pt x="4975" y="77787"/>
                      <a:pt x="0" y="72812"/>
                      <a:pt x="0" y="66675"/>
                    </a:cubicBezTo>
                    <a:lnTo>
                      <a:pt x="0" y="11112"/>
                    </a:lnTo>
                    <a:cubicBezTo>
                      <a:pt x="0" y="5001"/>
                      <a:pt x="5001" y="0"/>
                      <a:pt x="11112" y="0"/>
                    </a:cubicBezTo>
                    <a:lnTo>
                      <a:pt x="88900" y="0"/>
                    </a:lnTo>
                    <a:cubicBezTo>
                      <a:pt x="95037" y="0"/>
                      <a:pt x="100012" y="4975"/>
                      <a:pt x="100012" y="11112"/>
                    </a:cubicBezTo>
                    <a:lnTo>
                      <a:pt x="100012" y="66675"/>
                    </a:lnTo>
                    <a:cubicBezTo>
                      <a:pt x="100008" y="70641"/>
                      <a:pt x="97891" y="74304"/>
                      <a:pt x="94456" y="76287"/>
                    </a:cubicBezTo>
                  </a:path>
                </a:pathLst>
              </a:custGeom>
              <a:noFill/>
              <a:ln w="11112">
                <a:solidFill>
                  <a:srgbClr val="FFFFFF"/>
                </a:solidFill>
              </a:ln>
            </p:spPr>
          </p:sp>
          <p:sp>
            <p:nvSpPr>
              <p:cNvPr id="169" name="Freeform 169"/>
              <p:cNvSpPr/>
              <p:nvPr/>
            </p:nvSpPr>
            <p:spPr>
              <a:xfrm>
                <a:off x="2262187" y="6203156"/>
                <a:ext cx="66675" cy="9525"/>
              </a:xfrm>
              <a:custGeom>
                <a:avLst/>
                <a:gdLst/>
                <a:ahLst/>
                <a:cxnLst/>
                <a:rect l="l" t="t" r="r" b="b"/>
                <a:pathLst>
                  <a:path w="66675" h="9525">
                    <a:moveTo>
                      <a:pt x="0" y="0"/>
                    </a:moveTo>
                    <a:lnTo>
                      <a:pt x="66675" y="0"/>
                    </a:lnTo>
                  </a:path>
                </a:pathLst>
              </a:custGeom>
              <a:noFill/>
              <a:ln w="11112">
                <a:solidFill>
                  <a:srgbClr val="FFFFFF"/>
                </a:solidFill>
              </a:ln>
            </p:spPr>
          </p:sp>
          <p:sp>
            <p:nvSpPr>
              <p:cNvPr id="170" name="Freeform 170"/>
              <p:cNvSpPr/>
              <p:nvPr/>
            </p:nvSpPr>
            <p:spPr>
              <a:xfrm>
                <a:off x="2262187" y="6219825"/>
                <a:ext cx="16669" cy="9525"/>
              </a:xfrm>
              <a:custGeom>
                <a:avLst/>
                <a:gdLst/>
                <a:ahLst/>
                <a:cxnLst/>
                <a:rect l="l" t="t" r="r" b="b"/>
                <a:pathLst>
                  <a:path w="16669" h="9525">
                    <a:moveTo>
                      <a:pt x="0" y="0"/>
                    </a:moveTo>
                    <a:lnTo>
                      <a:pt x="16669" y="0"/>
                    </a:lnTo>
                  </a:path>
                </a:pathLst>
              </a:custGeom>
              <a:noFill/>
              <a:ln w="11112">
                <a:solidFill>
                  <a:srgbClr val="FFFFFF"/>
                </a:solidFill>
              </a:ln>
            </p:spPr>
          </p:sp>
          <p:sp>
            <p:nvSpPr>
              <p:cNvPr id="171" name="Freeform 171"/>
              <p:cNvSpPr/>
              <p:nvPr/>
            </p:nvSpPr>
            <p:spPr>
              <a:xfrm>
                <a:off x="2262187" y="6236494"/>
                <a:ext cx="11112" cy="9525"/>
              </a:xfrm>
              <a:custGeom>
                <a:avLst/>
                <a:gdLst/>
                <a:ahLst/>
                <a:cxnLst/>
                <a:rect l="l" t="t" r="r" b="b"/>
                <a:pathLst>
                  <a:path w="11112" h="9525">
                    <a:moveTo>
                      <a:pt x="0" y="0"/>
                    </a:moveTo>
                    <a:lnTo>
                      <a:pt x="11112" y="0"/>
                    </a:lnTo>
                  </a:path>
                </a:pathLst>
              </a:custGeom>
              <a:noFill/>
              <a:ln w="11112">
                <a:solidFill>
                  <a:srgbClr val="FFFFFF"/>
                </a:solidFill>
              </a:ln>
            </p:spPr>
          </p:sp>
        </p:grpSp>
        <p:sp>
          <p:nvSpPr>
            <p:cNvPr id="173" name="TextBox 173"/>
            <p:cNvSpPr txBox="1"/>
            <p:nvPr/>
          </p:nvSpPr>
          <p:spPr>
            <a:xfrm>
              <a:off x="2395538" y="6176962"/>
              <a:ext cx="73193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入选/验证证据​</a:t>
              </a:r>
            </a:p>
          </p:txBody>
        </p:sp>
        <p:sp>
          <p:nvSpPr>
            <p:cNvPr id="174" name="Rectangle 174"/>
            <p:cNvSpPr/>
            <p:nvPr/>
          </p:nvSpPr>
          <p:spPr>
            <a:xfrm>
              <a:off x="3314700" y="6115050"/>
              <a:ext cx="666750" cy="209550"/>
            </a:xfrm>
            <a:prstGeom prst="roundRect">
              <a:avLst>
                <a:gd name="adj" fmla="val 50000"/>
              </a:avLst>
            </a:prstGeom>
            <a:solidFill>
              <a:srgbClr val="FFFFFF"/>
            </a:solidFill>
            <a:ln w="11430">
              <a:solidFill>
                <a:srgbClr val="9C331E"/>
              </a:solidFill>
            </a:ln>
          </p:spPr>
        </p:sp>
        <p:sp>
          <p:nvSpPr>
            <p:cNvPr id="175" name="TextBox 175"/>
            <p:cNvSpPr txBox="1"/>
            <p:nvPr/>
          </p:nvSpPr>
          <p:spPr>
            <a:xfrm>
              <a:off x="3434673" y="6176962"/>
              <a:ext cx="426804" cy="147638"/>
            </a:xfrm>
            <a:prstGeom prst="rect">
              <a:avLst/>
            </a:prstGeom>
            <a:noFill/>
            <a:ln>
              <a:noFill/>
            </a:ln>
          </p:spPr>
          <p:txBody>
            <a:bodyPr wrap="none" lIns="0" tIns="0" rIns="0" bIns="0" anchor="t" anchorCtr="0">
              <a:spAutoFit/>
            </a:bodyPr>
            <a:lstStyle/>
            <a:p>
              <a:pPr algn="ctr"/>
              <a:r>
                <a:rPr lang="en-US" sz="750" b="1" dirty="0">
                  <a:solidFill>
                    <a:srgbClr val="9C331E"/>
                  </a:solidFill>
                  <a:latin typeface="Arial"/>
                  <a:ea typeface="Arial"/>
                  <a:cs typeface="Arial"/>
                </a:rPr>
                <a:t>L1—L2​</a:t>
              </a:r>
            </a:p>
          </p:txBody>
        </p:sp>
        <p:sp>
          <p:nvSpPr>
            <p:cNvPr id="176" name="Rectangle 176"/>
            <p:cNvSpPr/>
            <p:nvPr/>
          </p:nvSpPr>
          <p:spPr>
            <a:xfrm>
              <a:off x="4038600" y="6115050"/>
              <a:ext cx="628650" cy="209550"/>
            </a:xfrm>
            <a:prstGeom prst="roundRect">
              <a:avLst>
                <a:gd name="adj" fmla="val 50000"/>
              </a:avLst>
            </a:prstGeom>
            <a:solidFill>
              <a:srgbClr val="9C331E"/>
            </a:solidFill>
            <a:ln>
              <a:noFill/>
            </a:ln>
          </p:spPr>
        </p:sp>
        <p:sp>
          <p:nvSpPr>
            <p:cNvPr id="177" name="TextBox 177"/>
            <p:cNvSpPr txBox="1"/>
            <p:nvPr/>
          </p:nvSpPr>
          <p:spPr>
            <a:xfrm>
              <a:off x="4104433" y="6181011"/>
              <a:ext cx="496984"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入选/验证​</a:t>
              </a:r>
            </a:p>
          </p:txBody>
        </p:sp>
        <p:sp>
          <p:nvSpPr>
            <p:cNvPr id="178" name="TextBox 178"/>
            <p:cNvSpPr txBox="1"/>
            <p:nvPr/>
          </p:nvSpPr>
          <p:spPr>
            <a:xfrm>
              <a:off x="4757738" y="6185059"/>
              <a:ext cx="1909013"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国网2026年典型案例集入选名单（公开信息）​</a:t>
              </a:r>
            </a:p>
          </p:txBody>
        </p:sp>
      </p:grpSp>
      <p:grpSp>
        <p:nvGrpSpPr>
          <p:cNvPr id="186" name="warning"/>
          <p:cNvGrpSpPr/>
          <p:nvPr/>
        </p:nvGrpSpPr>
        <p:grpSpPr>
          <a:xfrm>
            <a:off x="2171700" y="6400800"/>
            <a:ext cx="6667500" cy="228600"/>
            <a:chOff x="2171700" y="6400800"/>
            <a:chExt cx="6667500" cy="228600"/>
          </a:xfrm>
        </p:grpSpPr>
        <p:sp>
          <p:nvSpPr>
            <p:cNvPr id="180" name="Rectangle 180"/>
            <p:cNvSpPr/>
            <p:nvPr/>
          </p:nvSpPr>
          <p:spPr>
            <a:xfrm>
              <a:off x="2171700" y="6400800"/>
              <a:ext cx="6667500" cy="228600"/>
            </a:xfrm>
            <a:prstGeom prst="roundRect">
              <a:avLst>
                <a:gd name="adj" fmla="val 50000"/>
              </a:avLst>
            </a:prstGeom>
            <a:solidFill>
              <a:srgbClr val="EFF5FC"/>
            </a:solidFill>
            <a:ln w="9525">
              <a:solidFill>
                <a:srgbClr val="ECB3A8"/>
              </a:solidFill>
            </a:ln>
          </p:spPr>
        </p:sp>
        <p:grpSp>
          <p:nvGrpSpPr>
            <p:cNvPr id="184" name="Group 184"/>
            <p:cNvGrpSpPr/>
            <p:nvPr/>
          </p:nvGrpSpPr>
          <p:grpSpPr>
            <a:xfrm>
              <a:off x="2324100" y="6457950"/>
              <a:ext cx="114300" cy="114300"/>
              <a:chOff x="2324100" y="6457950"/>
              <a:chExt cx="114300" cy="114300"/>
            </a:xfrm>
          </p:grpSpPr>
          <p:sp>
            <p:nvSpPr>
              <p:cNvPr id="181" name="Freeform 181"/>
              <p:cNvSpPr/>
              <p:nvPr/>
            </p:nvSpPr>
            <p:spPr>
              <a:xfrm>
                <a:off x="2324100" y="64579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C331E"/>
                </a:solidFill>
              </a:ln>
            </p:spPr>
          </p:sp>
          <p:sp>
            <p:nvSpPr>
              <p:cNvPr id="182" name="Freeform 182"/>
              <p:cNvSpPr/>
              <p:nvPr/>
            </p:nvSpPr>
            <p:spPr>
              <a:xfrm>
                <a:off x="2381250" y="6489700"/>
                <a:ext cx="9525" cy="25400"/>
              </a:xfrm>
              <a:custGeom>
                <a:avLst/>
                <a:gdLst/>
                <a:ahLst/>
                <a:cxnLst/>
                <a:rect l="l" t="t" r="r" b="b"/>
                <a:pathLst>
                  <a:path w="9525" h="25400">
                    <a:moveTo>
                      <a:pt x="0" y="0"/>
                    </a:moveTo>
                    <a:lnTo>
                      <a:pt x="0" y="25400"/>
                    </a:lnTo>
                  </a:path>
                </a:pathLst>
              </a:custGeom>
              <a:noFill/>
              <a:ln w="12700">
                <a:solidFill>
                  <a:srgbClr val="9C331E"/>
                </a:solidFill>
              </a:ln>
            </p:spPr>
          </p:sp>
          <p:sp>
            <p:nvSpPr>
              <p:cNvPr id="183" name="Freeform 183"/>
              <p:cNvSpPr/>
              <p:nvPr/>
            </p:nvSpPr>
            <p:spPr>
              <a:xfrm>
                <a:off x="2381250" y="6540500"/>
                <a:ext cx="9525" cy="9525"/>
              </a:xfrm>
              <a:custGeom>
                <a:avLst/>
                <a:gdLst/>
                <a:ahLst/>
                <a:cxnLst/>
                <a:rect l="l" t="t" r="r" b="b"/>
                <a:pathLst>
                  <a:path w="9525" h="9525">
                    <a:moveTo>
                      <a:pt x="0" y="0"/>
                    </a:moveTo>
                    <a:lnTo>
                      <a:pt x="64" y="0"/>
                    </a:lnTo>
                  </a:path>
                </a:pathLst>
              </a:custGeom>
              <a:noFill/>
              <a:ln w="12700">
                <a:solidFill>
                  <a:srgbClr val="9C331E"/>
                </a:solidFill>
              </a:ln>
            </p:spPr>
          </p:sp>
        </p:grpSp>
        <p:sp>
          <p:nvSpPr>
            <p:cNvPr id="185" name="TextBox 185"/>
            <p:cNvSpPr txBox="1"/>
            <p:nvPr/>
          </p:nvSpPr>
          <p:spPr>
            <a:xfrm>
              <a:off x="2528888" y="6468189"/>
              <a:ext cx="3306369" cy="154781"/>
            </a:xfrm>
            <a:prstGeom prst="rect">
              <a:avLst/>
            </a:prstGeom>
            <a:noFill/>
            <a:ln>
              <a:noFill/>
            </a:ln>
          </p:spPr>
          <p:txBody>
            <a:bodyPr wrap="none" lIns="0" tIns="0" rIns="0" bIns="0" anchor="t" anchorCtr="0">
              <a:spAutoFit/>
            </a:bodyPr>
            <a:lstStyle/>
            <a:p>
              <a:pPr algn="l"/>
              <a:r>
                <a:rPr lang="zh-CN" sz="790" b="1" dirty="0">
                  <a:solidFill>
                    <a:srgbClr val="5E2114"/>
                  </a:solidFill>
                  <a:latin typeface="+mn-lt"/>
                  <a:ea typeface="+mn-ea"/>
                  <a:cs typeface="+mn-cs"/>
                </a:rPr>
                <a:t>公开信息确认入选，不等同于规模上线；暂未见统一的月度经营指标。</a:t>
              </a:r>
            </a:p>
          </p:txBody>
        </p:sp>
      </p:grpSp>
      <p:grpSp>
        <p:nvGrpSpPr>
          <p:cNvPr id="189" name="track-head"/>
          <p:cNvGrpSpPr/>
          <p:nvPr/>
        </p:nvGrpSpPr>
        <p:grpSpPr>
          <a:xfrm>
            <a:off x="8915400" y="933450"/>
            <a:ext cx="2895600" cy="244078"/>
            <a:chOff x="8915400" y="933450"/>
            <a:chExt cx="2895600" cy="244078"/>
          </a:xfrm>
        </p:grpSpPr>
        <p:sp>
          <p:nvSpPr>
            <p:cNvPr id="187" name="Rectangle 187"/>
            <p:cNvSpPr/>
            <p:nvPr/>
          </p:nvSpPr>
          <p:spPr>
            <a:xfrm>
              <a:off x="8915400" y="933450"/>
              <a:ext cx="2895600" cy="228600"/>
            </a:xfrm>
            <a:prstGeom prst="roundRect">
              <a:avLst>
                <a:gd name="adj" fmla="val 16667"/>
              </a:avLst>
            </a:prstGeom>
            <a:gradFill>
              <a:gsLst>
                <a:gs pos="0">
                  <a:srgbClr val="6F2516"/>
                </a:gs>
                <a:gs pos="100000">
                  <a:srgbClr val="D64A2E"/>
                </a:gs>
              </a:gsLst>
              <a:lin ang="0" scaled="1"/>
            </a:gradFill>
            <a:ln>
              <a:noFill/>
            </a:ln>
          </p:spPr>
        </p:sp>
        <p:sp>
          <p:nvSpPr>
            <p:cNvPr id="188" name="TextBox 188"/>
            <p:cNvSpPr txBox="1"/>
            <p:nvPr/>
          </p:nvSpPr>
          <p:spPr>
            <a:xfrm>
              <a:off x="9024938" y="994172"/>
              <a:ext cx="15280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未来需持续跟踪的证据清单</a:t>
              </a:r>
            </a:p>
          </p:txBody>
        </p:sp>
      </p:grpSp>
      <p:grpSp>
        <p:nvGrpSpPr>
          <p:cNvPr id="199" name="track-1"/>
          <p:cNvGrpSpPr/>
          <p:nvPr/>
        </p:nvGrpSpPr>
        <p:grpSpPr>
          <a:xfrm>
            <a:off x="8915400" y="1238250"/>
            <a:ext cx="2895600" cy="723900"/>
            <a:chOff x="8915400" y="1238250"/>
            <a:chExt cx="2895600" cy="723900"/>
          </a:xfrm>
        </p:grpSpPr>
        <p:sp>
          <p:nvSpPr>
            <p:cNvPr id="190" name="Rectangle 190"/>
            <p:cNvSpPr/>
            <p:nvPr/>
          </p:nvSpPr>
          <p:spPr>
            <a:xfrm>
              <a:off x="8915400" y="1238250"/>
              <a:ext cx="2895600" cy="723900"/>
            </a:xfrm>
            <a:prstGeom prst="roundRect">
              <a:avLst>
                <a:gd name="adj" fmla="val 7895"/>
              </a:avLst>
            </a:prstGeom>
            <a:solidFill>
              <a:srgbClr val="EFF5FC"/>
            </a:solidFill>
            <a:ln w="9525">
              <a:solidFill>
                <a:srgbClr val="C7D9F0"/>
              </a:solidFill>
            </a:ln>
          </p:spPr>
        </p:sp>
        <p:sp>
          <p:nvSpPr>
            <p:cNvPr id="191" name="Ellipse 191"/>
            <p:cNvSpPr/>
            <p:nvPr/>
          </p:nvSpPr>
          <p:spPr>
            <a:xfrm>
              <a:off x="9029700" y="1447800"/>
              <a:ext cx="304800" cy="304800"/>
            </a:xfrm>
            <a:prstGeom prst="ellipse">
              <a:avLst/>
            </a:prstGeom>
            <a:solidFill>
              <a:srgbClr val="9C331E"/>
            </a:solidFill>
            <a:ln>
              <a:noFill/>
            </a:ln>
          </p:spPr>
        </p:sp>
        <p:grpSp>
          <p:nvGrpSpPr>
            <p:cNvPr id="196" name="Group 196"/>
            <p:cNvGrpSpPr/>
            <p:nvPr/>
          </p:nvGrpSpPr>
          <p:grpSpPr>
            <a:xfrm>
              <a:off x="9110662" y="1536700"/>
              <a:ext cx="142875" cy="136525"/>
              <a:chOff x="9110662" y="1536700"/>
              <a:chExt cx="142875" cy="136525"/>
            </a:xfrm>
          </p:grpSpPr>
          <p:sp>
            <p:nvSpPr>
              <p:cNvPr id="192" name="Freeform 192"/>
              <p:cNvSpPr/>
              <p:nvPr/>
            </p:nvSpPr>
            <p:spPr>
              <a:xfrm>
                <a:off x="9110662" y="16002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193" name="Freeform 193"/>
              <p:cNvSpPr/>
              <p:nvPr/>
            </p:nvSpPr>
            <p:spPr>
              <a:xfrm>
                <a:off x="9205912" y="15684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194" name="Freeform 194"/>
              <p:cNvSpPr/>
              <p:nvPr/>
            </p:nvSpPr>
            <p:spPr>
              <a:xfrm>
                <a:off x="9158287" y="15367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195" name="Freeform 195"/>
              <p:cNvSpPr/>
              <p:nvPr/>
            </p:nvSpPr>
            <p:spPr>
              <a:xfrm>
                <a:off x="9118600" y="1663700"/>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197" name="TextBox 197"/>
            <p:cNvSpPr txBox="1"/>
            <p:nvPr/>
          </p:nvSpPr>
          <p:spPr>
            <a:xfrm>
              <a:off x="9444038" y="144589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覆盖规模</a:t>
              </a:r>
            </a:p>
          </p:txBody>
        </p:sp>
        <p:sp>
          <p:nvSpPr>
            <p:cNvPr id="198" name="TextBox 198"/>
            <p:cNvSpPr txBox="1"/>
            <p:nvPr/>
          </p:nvSpPr>
          <p:spPr>
            <a:xfrm>
              <a:off x="9444038" y="1651159"/>
              <a:ext cx="1382649"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接入的可调资源的范围与增长情况</a:t>
              </a:r>
            </a:p>
          </p:txBody>
        </p:sp>
      </p:grpSp>
      <p:grpSp>
        <p:nvGrpSpPr>
          <p:cNvPr id="207" name="track-2"/>
          <p:cNvGrpSpPr/>
          <p:nvPr/>
        </p:nvGrpSpPr>
        <p:grpSpPr>
          <a:xfrm>
            <a:off x="8915400" y="2076450"/>
            <a:ext cx="2895600" cy="723900"/>
            <a:chOff x="8915400" y="2076450"/>
            <a:chExt cx="2895600" cy="723900"/>
          </a:xfrm>
        </p:grpSpPr>
        <p:sp>
          <p:nvSpPr>
            <p:cNvPr id="200" name="Rectangle 200"/>
            <p:cNvSpPr/>
            <p:nvPr/>
          </p:nvSpPr>
          <p:spPr>
            <a:xfrm>
              <a:off x="8915400" y="2076450"/>
              <a:ext cx="2895600" cy="723900"/>
            </a:xfrm>
            <a:prstGeom prst="roundRect">
              <a:avLst>
                <a:gd name="adj" fmla="val 7895"/>
              </a:avLst>
            </a:prstGeom>
            <a:solidFill>
              <a:srgbClr val="EFF5FC"/>
            </a:solidFill>
            <a:ln w="9525">
              <a:solidFill>
                <a:srgbClr val="C7D9F0"/>
              </a:solidFill>
            </a:ln>
          </p:spPr>
        </p:sp>
        <p:sp>
          <p:nvSpPr>
            <p:cNvPr id="201" name="Ellipse 201"/>
            <p:cNvSpPr/>
            <p:nvPr/>
          </p:nvSpPr>
          <p:spPr>
            <a:xfrm>
              <a:off x="9029700" y="2286000"/>
              <a:ext cx="304800" cy="304800"/>
            </a:xfrm>
            <a:prstGeom prst="ellipse">
              <a:avLst/>
            </a:prstGeom>
            <a:solidFill>
              <a:srgbClr val="9C331E"/>
            </a:solidFill>
            <a:ln>
              <a:noFill/>
            </a:ln>
          </p:spPr>
        </p:sp>
        <p:grpSp>
          <p:nvGrpSpPr>
            <p:cNvPr id="204" name="Group 204"/>
            <p:cNvGrpSpPr/>
            <p:nvPr/>
          </p:nvGrpSpPr>
          <p:grpSpPr>
            <a:xfrm>
              <a:off x="9118600" y="2390775"/>
              <a:ext cx="127000" cy="112712"/>
              <a:chOff x="9118600" y="2390775"/>
              <a:chExt cx="127000" cy="112712"/>
            </a:xfrm>
          </p:grpSpPr>
          <p:sp>
            <p:nvSpPr>
              <p:cNvPr id="202" name="Freeform 202"/>
              <p:cNvSpPr/>
              <p:nvPr/>
            </p:nvSpPr>
            <p:spPr>
              <a:xfrm>
                <a:off x="9118600" y="2493962"/>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203" name="Freeform 203"/>
              <p:cNvSpPr/>
              <p:nvPr/>
            </p:nvSpPr>
            <p:spPr>
              <a:xfrm>
                <a:off x="9118600" y="239077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FFFFFF"/>
                </a:solidFill>
              </a:ln>
            </p:spPr>
          </p:sp>
        </p:grpSp>
        <p:sp>
          <p:nvSpPr>
            <p:cNvPr id="205" name="TextBox 205"/>
            <p:cNvSpPr txBox="1"/>
            <p:nvPr/>
          </p:nvSpPr>
          <p:spPr>
            <a:xfrm>
              <a:off x="9444038" y="228409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预测偏差</a:t>
              </a:r>
            </a:p>
          </p:txBody>
        </p:sp>
        <p:sp>
          <p:nvSpPr>
            <p:cNvPr id="206" name="TextBox 206"/>
            <p:cNvSpPr txBox="1"/>
            <p:nvPr/>
          </p:nvSpPr>
          <p:spPr>
            <a:xfrm>
              <a:off x="9444038" y="2489359"/>
              <a:ext cx="1382649"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负荷／出力预测的准确性与稳定性</a:t>
              </a:r>
            </a:p>
          </p:txBody>
        </p:sp>
      </p:grpSp>
      <p:grpSp>
        <p:nvGrpSpPr>
          <p:cNvPr id="213" name="track-3"/>
          <p:cNvGrpSpPr/>
          <p:nvPr/>
        </p:nvGrpSpPr>
        <p:grpSpPr>
          <a:xfrm>
            <a:off x="8915400" y="2914650"/>
            <a:ext cx="2895600" cy="723900"/>
            <a:chOff x="8915400" y="2914650"/>
            <a:chExt cx="2895600" cy="723900"/>
          </a:xfrm>
        </p:grpSpPr>
        <p:sp>
          <p:nvSpPr>
            <p:cNvPr id="208" name="Rectangle 208"/>
            <p:cNvSpPr/>
            <p:nvPr/>
          </p:nvSpPr>
          <p:spPr>
            <a:xfrm>
              <a:off x="8915400" y="2914650"/>
              <a:ext cx="2895600" cy="723900"/>
            </a:xfrm>
            <a:prstGeom prst="roundRect">
              <a:avLst>
                <a:gd name="adj" fmla="val 7895"/>
              </a:avLst>
            </a:prstGeom>
            <a:solidFill>
              <a:srgbClr val="EFF5FC"/>
            </a:solidFill>
            <a:ln w="9525">
              <a:solidFill>
                <a:srgbClr val="C7D9F0"/>
              </a:solidFill>
            </a:ln>
          </p:spPr>
        </p:sp>
        <p:sp>
          <p:nvSpPr>
            <p:cNvPr id="209" name="Ellipse 209"/>
            <p:cNvSpPr/>
            <p:nvPr/>
          </p:nvSpPr>
          <p:spPr>
            <a:xfrm>
              <a:off x="9029700" y="3124200"/>
              <a:ext cx="304800" cy="304800"/>
            </a:xfrm>
            <a:prstGeom prst="ellipse">
              <a:avLst/>
            </a:prstGeom>
            <a:solidFill>
              <a:srgbClr val="9C331E"/>
            </a:solidFill>
            <a:ln>
              <a:noFill/>
            </a:ln>
          </p:spPr>
        </p:sp>
        <p:sp>
          <p:nvSpPr>
            <p:cNvPr id="210" name="Freeform 210"/>
            <p:cNvSpPr/>
            <p:nvPr/>
          </p:nvSpPr>
          <p:spPr>
            <a:xfrm>
              <a:off x="9126537" y="3205162"/>
              <a:ext cx="111125" cy="142875"/>
            </a:xfrm>
            <a:custGeom>
              <a:avLst/>
              <a:gdLst/>
              <a:ahLst/>
              <a:cxnLst/>
              <a:rect l="l" t="t" r="r" b="b"/>
              <a:pathLst>
                <a:path w="111125" h="142875">
                  <a:moveTo>
                    <a:pt x="63500" y="0"/>
                  </a:moveTo>
                  <a:lnTo>
                    <a:pt x="63500" y="55562"/>
                  </a:lnTo>
                  <a:lnTo>
                    <a:pt x="111125" y="55562"/>
                  </a:lnTo>
                  <a:lnTo>
                    <a:pt x="47625" y="142875"/>
                  </a:lnTo>
                  <a:lnTo>
                    <a:pt x="47625" y="87312"/>
                  </a:lnTo>
                  <a:lnTo>
                    <a:pt x="0" y="87312"/>
                  </a:lnTo>
                  <a:lnTo>
                    <a:pt x="63500" y="0"/>
                  </a:lnTo>
                </a:path>
              </a:pathLst>
            </a:custGeom>
            <a:noFill/>
            <a:ln w="15875">
              <a:solidFill>
                <a:srgbClr val="FFFFFF"/>
              </a:solidFill>
            </a:ln>
          </p:spPr>
        </p:sp>
        <p:sp>
          <p:nvSpPr>
            <p:cNvPr id="211" name="TextBox 211"/>
            <p:cNvSpPr txBox="1"/>
            <p:nvPr/>
          </p:nvSpPr>
          <p:spPr>
            <a:xfrm>
              <a:off x="9444038" y="312229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调度响应</a:t>
              </a:r>
            </a:p>
          </p:txBody>
        </p:sp>
        <p:sp>
          <p:nvSpPr>
            <p:cNvPr id="212" name="TextBox 212"/>
            <p:cNvSpPr txBox="1"/>
            <p:nvPr/>
          </p:nvSpPr>
          <p:spPr>
            <a:xfrm>
              <a:off x="9444038" y="3327559"/>
              <a:ext cx="1382649"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调度指令的响应速度与执行到位率</a:t>
              </a:r>
            </a:p>
          </p:txBody>
        </p:sp>
      </p:grpSp>
      <p:grpSp>
        <p:nvGrpSpPr>
          <p:cNvPr id="221" name="track-4"/>
          <p:cNvGrpSpPr/>
          <p:nvPr/>
        </p:nvGrpSpPr>
        <p:grpSpPr>
          <a:xfrm>
            <a:off x="8915400" y="3752850"/>
            <a:ext cx="2895600" cy="723900"/>
            <a:chOff x="8915400" y="3752850"/>
            <a:chExt cx="2895600" cy="723900"/>
          </a:xfrm>
        </p:grpSpPr>
        <p:sp>
          <p:nvSpPr>
            <p:cNvPr id="214" name="Rectangle 214"/>
            <p:cNvSpPr/>
            <p:nvPr/>
          </p:nvSpPr>
          <p:spPr>
            <a:xfrm>
              <a:off x="8915400" y="3752850"/>
              <a:ext cx="2895600" cy="723900"/>
            </a:xfrm>
            <a:prstGeom prst="roundRect">
              <a:avLst>
                <a:gd name="adj" fmla="val 7895"/>
              </a:avLst>
            </a:prstGeom>
            <a:solidFill>
              <a:srgbClr val="EFF5FC"/>
            </a:solidFill>
            <a:ln w="9525">
              <a:solidFill>
                <a:srgbClr val="C7D9F0"/>
              </a:solidFill>
            </a:ln>
          </p:spPr>
        </p:sp>
        <p:sp>
          <p:nvSpPr>
            <p:cNvPr id="215" name="Ellipse 215"/>
            <p:cNvSpPr/>
            <p:nvPr/>
          </p:nvSpPr>
          <p:spPr>
            <a:xfrm>
              <a:off x="9029700" y="3962400"/>
              <a:ext cx="304800" cy="304800"/>
            </a:xfrm>
            <a:prstGeom prst="ellipse">
              <a:avLst/>
            </a:prstGeom>
            <a:solidFill>
              <a:srgbClr val="9C331E"/>
            </a:solidFill>
            <a:ln>
              <a:noFill/>
            </a:ln>
          </p:spPr>
        </p:sp>
        <p:grpSp>
          <p:nvGrpSpPr>
            <p:cNvPr id="218" name="Group 218"/>
            <p:cNvGrpSpPr/>
            <p:nvPr/>
          </p:nvGrpSpPr>
          <p:grpSpPr>
            <a:xfrm>
              <a:off x="9099950" y="4043362"/>
              <a:ext cx="155005" cy="142875"/>
              <a:chOff x="9099950" y="4043362"/>
              <a:chExt cx="155005" cy="142875"/>
            </a:xfrm>
          </p:grpSpPr>
          <p:sp>
            <p:nvSpPr>
              <p:cNvPr id="216" name="Freeform 216"/>
              <p:cNvSpPr/>
              <p:nvPr/>
            </p:nvSpPr>
            <p:spPr>
              <a:xfrm>
                <a:off x="9099950" y="404336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217" name="Freeform 217"/>
              <p:cNvSpPr/>
              <p:nvPr/>
            </p:nvSpPr>
            <p:spPr>
              <a:xfrm>
                <a:off x="9205912" y="415448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219" name="TextBox 219"/>
            <p:cNvSpPr txBox="1"/>
            <p:nvPr/>
          </p:nvSpPr>
          <p:spPr>
            <a:xfrm>
              <a:off x="9444038" y="396049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稳定运行</a:t>
              </a:r>
            </a:p>
          </p:txBody>
        </p:sp>
        <p:sp>
          <p:nvSpPr>
            <p:cNvPr id="220" name="TextBox 220"/>
            <p:cNvSpPr txBox="1"/>
            <p:nvPr/>
          </p:nvSpPr>
          <p:spPr>
            <a:xfrm>
              <a:off x="9444038" y="4165759"/>
              <a:ext cx="1291107"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系统长期稳定运行情况与故障率</a:t>
              </a:r>
            </a:p>
          </p:txBody>
        </p:sp>
      </p:grpSp>
      <p:grpSp>
        <p:nvGrpSpPr>
          <p:cNvPr id="232" name="track-5"/>
          <p:cNvGrpSpPr/>
          <p:nvPr/>
        </p:nvGrpSpPr>
        <p:grpSpPr>
          <a:xfrm>
            <a:off x="8915400" y="4591050"/>
            <a:ext cx="2895600" cy="723900"/>
            <a:chOff x="8915400" y="4591050"/>
            <a:chExt cx="2895600" cy="723900"/>
          </a:xfrm>
        </p:grpSpPr>
        <p:sp>
          <p:nvSpPr>
            <p:cNvPr id="222" name="Rectangle 222"/>
            <p:cNvSpPr/>
            <p:nvPr/>
          </p:nvSpPr>
          <p:spPr>
            <a:xfrm>
              <a:off x="8915400" y="4591050"/>
              <a:ext cx="2895600" cy="723900"/>
            </a:xfrm>
            <a:prstGeom prst="roundRect">
              <a:avLst>
                <a:gd name="adj" fmla="val 7895"/>
              </a:avLst>
            </a:prstGeom>
            <a:solidFill>
              <a:srgbClr val="EFF5FC"/>
            </a:solidFill>
            <a:ln w="9525">
              <a:solidFill>
                <a:srgbClr val="C7D9F0"/>
              </a:solidFill>
            </a:ln>
          </p:spPr>
        </p:sp>
        <p:sp>
          <p:nvSpPr>
            <p:cNvPr id="223" name="Ellipse 223"/>
            <p:cNvSpPr/>
            <p:nvPr/>
          </p:nvSpPr>
          <p:spPr>
            <a:xfrm>
              <a:off x="9029700" y="4800600"/>
              <a:ext cx="304800" cy="304800"/>
            </a:xfrm>
            <a:prstGeom prst="ellipse">
              <a:avLst/>
            </a:prstGeom>
            <a:solidFill>
              <a:srgbClr val="9C331E"/>
            </a:solidFill>
            <a:ln>
              <a:noFill/>
            </a:ln>
          </p:spPr>
        </p:sp>
        <p:grpSp>
          <p:nvGrpSpPr>
            <p:cNvPr id="229" name="Group 229"/>
            <p:cNvGrpSpPr/>
            <p:nvPr/>
          </p:nvGrpSpPr>
          <p:grpSpPr>
            <a:xfrm>
              <a:off x="9110662" y="4880499"/>
              <a:ext cx="142875" cy="143938"/>
              <a:chOff x="9110662" y="4880499"/>
              <a:chExt cx="142875" cy="143938"/>
            </a:xfrm>
          </p:grpSpPr>
          <p:sp>
            <p:nvSpPr>
              <p:cNvPr id="224" name="Freeform 224"/>
              <p:cNvSpPr/>
              <p:nvPr/>
            </p:nvSpPr>
            <p:spPr>
              <a:xfrm>
                <a:off x="9158287" y="49450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FFFFFF"/>
                </a:solidFill>
              </a:ln>
            </p:spPr>
          </p:sp>
          <p:sp>
            <p:nvSpPr>
              <p:cNvPr id="225" name="Freeform 225"/>
              <p:cNvSpPr/>
              <p:nvPr/>
            </p:nvSpPr>
            <p:spPr>
              <a:xfrm>
                <a:off x="9158287" y="49688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FFFFFF"/>
                </a:solidFill>
              </a:ln>
            </p:spPr>
          </p:sp>
          <p:sp>
            <p:nvSpPr>
              <p:cNvPr id="226" name="Freeform 226"/>
              <p:cNvSpPr/>
              <p:nvPr/>
            </p:nvSpPr>
            <p:spPr>
              <a:xfrm>
                <a:off x="9110662" y="48804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FFFFFF"/>
                </a:solidFill>
              </a:ln>
            </p:spPr>
          </p:sp>
          <p:sp>
            <p:nvSpPr>
              <p:cNvPr id="227" name="Freeform 227"/>
              <p:cNvSpPr/>
              <p:nvPr/>
            </p:nvSpPr>
            <p:spPr>
              <a:xfrm>
                <a:off x="9110662" y="49053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FFFFFF"/>
                </a:solidFill>
              </a:ln>
            </p:spPr>
          </p:sp>
          <p:sp>
            <p:nvSpPr>
              <p:cNvPr id="228" name="Freeform 228"/>
              <p:cNvSpPr/>
              <p:nvPr/>
            </p:nvSpPr>
            <p:spPr>
              <a:xfrm>
                <a:off x="9110662" y="49450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FFFFFF"/>
                </a:solidFill>
              </a:ln>
            </p:spPr>
          </p:sp>
        </p:grpSp>
        <p:sp>
          <p:nvSpPr>
            <p:cNvPr id="230" name="TextBox 230"/>
            <p:cNvSpPr txBox="1"/>
            <p:nvPr/>
          </p:nvSpPr>
          <p:spPr>
            <a:xfrm>
              <a:off x="9444038" y="479869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经济收益</a:t>
              </a:r>
            </a:p>
          </p:txBody>
        </p:sp>
        <p:sp>
          <p:nvSpPr>
            <p:cNvPr id="231" name="TextBox 231"/>
            <p:cNvSpPr txBox="1"/>
            <p:nvPr/>
          </p:nvSpPr>
          <p:spPr>
            <a:xfrm>
              <a:off x="9444038" y="5003959"/>
              <a:ext cx="1657274"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对消纳能力、系统成本与综合效益的贡献</a:t>
              </a:r>
            </a:p>
          </p:txBody>
        </p:sp>
      </p:grpSp>
      <p:grpSp>
        <p:nvGrpSpPr>
          <p:cNvPr id="234" name="right-slogan"/>
          <p:cNvGrpSpPr/>
          <p:nvPr/>
        </p:nvGrpSpPr>
        <p:grpSpPr>
          <a:xfrm>
            <a:off x="10385590" y="6277689"/>
            <a:ext cx="1392072" cy="154781"/>
            <a:chOff x="10385590" y="6277689"/>
            <a:chExt cx="1392072" cy="154781"/>
          </a:xfrm>
        </p:grpSpPr>
        <p:sp>
          <p:nvSpPr>
            <p:cNvPr id="233" name="TextBox 233"/>
            <p:cNvSpPr txBox="1"/>
            <p:nvPr/>
          </p:nvSpPr>
          <p:spPr>
            <a:xfrm>
              <a:off x="10385590" y="6277689"/>
              <a:ext cx="1392072" cy="154781"/>
            </a:xfrm>
            <a:prstGeom prst="rect">
              <a:avLst/>
            </a:prstGeom>
            <a:noFill/>
            <a:ln>
              <a:noFill/>
            </a:ln>
          </p:spPr>
          <p:txBody>
            <a:bodyPr wrap="none" lIns="0" tIns="0" rIns="0" bIns="0" anchor="t" anchorCtr="0">
              <a:spAutoFit/>
            </a:bodyPr>
            <a:lstStyle/>
            <a:p>
              <a:pPr algn="r"/>
              <a:r>
                <a:rPr lang="zh-CN" sz="790" b="1" dirty="0">
                  <a:solidFill>
                    <a:srgbClr val="9B807A"/>
                  </a:solidFill>
                  <a:latin typeface="+mn-lt"/>
                  <a:ea typeface="+mn-ea"/>
                  <a:cs typeface="+mn-cs"/>
                </a:rPr>
                <a:t>善用数字力量　点亮美好生活</a:t>
              </a:r>
            </a:p>
          </p:txBody>
        </p:sp>
      </p:grpSp>
      <p:grpSp>
        <p:nvGrpSpPr>
          <p:cNvPr id="238" name="footer"/>
          <p:cNvGrpSpPr/>
          <p:nvPr/>
        </p:nvGrpSpPr>
        <p:grpSpPr>
          <a:xfrm>
            <a:off x="0" y="6705600"/>
            <a:ext cx="12192000" cy="173117"/>
            <a:chOff x="0" y="6705600"/>
            <a:chExt cx="12192000" cy="173117"/>
          </a:xfrm>
        </p:grpSpPr>
        <p:sp>
          <p:nvSpPr>
            <p:cNvPr id="235" name="Rectangle 235"/>
            <p:cNvSpPr/>
            <p:nvPr/>
          </p:nvSpPr>
          <p:spPr>
            <a:xfrm>
              <a:off x="0" y="6705600"/>
              <a:ext cx="12192000" cy="152400"/>
            </a:xfrm>
            <a:prstGeom prst="rect">
              <a:avLst/>
            </a:prstGeom>
            <a:solidFill>
              <a:srgbClr val="632012"/>
            </a:solidFill>
            <a:ln>
              <a:noFill/>
            </a:ln>
          </p:spPr>
        </p:sp>
        <p:sp>
          <p:nvSpPr>
            <p:cNvPr id="236" name="TextBox 236"/>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237" name="TextBox 237"/>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09/20</a:t>
              </a:r>
            </a:p>
          </p:txBody>
        </p:sp>
      </p:gr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hills"/>
          <p:cNvSpPr/>
          <p:nvPr/>
        </p:nvSpPr>
        <p:spPr>
          <a:xfrm>
            <a:off x="0" y="6172200"/>
            <a:ext cx="12192000" cy="533400"/>
          </a:xfrm>
          <a:custGeom>
            <a:avLst/>
            <a:gdLst/>
            <a:ahLst/>
            <a:cxnLst/>
            <a:rect l="l" t="t" r="r" b="b"/>
            <a:pathLst>
              <a:path w="12192000" h="533400">
                <a:moveTo>
                  <a:pt x="0" y="533400"/>
                </a:moveTo>
                <a:lnTo>
                  <a:pt x="0" y="228600"/>
                </a:lnTo>
                <a:lnTo>
                  <a:pt x="1143000" y="19050"/>
                </a:lnTo>
                <a:lnTo>
                  <a:pt x="2476500" y="285750"/>
                </a:lnTo>
                <a:lnTo>
                  <a:pt x="3810000" y="0"/>
                </a:lnTo>
                <a:lnTo>
                  <a:pt x="5334000" y="304800"/>
                </a:lnTo>
                <a:lnTo>
                  <a:pt x="6858000" y="38100"/>
                </a:lnTo>
                <a:lnTo>
                  <a:pt x="8382000" y="323850"/>
                </a:lnTo>
                <a:lnTo>
                  <a:pt x="9906000" y="57150"/>
                </a:lnTo>
                <a:lnTo>
                  <a:pt x="11239500" y="285750"/>
                </a:lnTo>
                <a:lnTo>
                  <a:pt x="12192000" y="114300"/>
                </a:lnTo>
                <a:lnTo>
                  <a:pt x="12192000" y="533400"/>
                </a:lnTo>
                <a:close/>
              </a:path>
            </a:pathLst>
          </a:custGeom>
          <a:solidFill>
            <a:srgbClr val="DCE9F8"/>
          </a:solidFill>
          <a:ln>
            <a:noFill/>
          </a:ln>
        </p:spPr>
      </p:sp>
      <p:grpSp>
        <p:nvGrpSpPr>
          <p:cNvPr id="9" name="header"/>
          <p:cNvGrpSpPr/>
          <p:nvPr/>
        </p:nvGrpSpPr>
        <p:grpSpPr>
          <a:xfrm>
            <a:off x="0" y="0"/>
            <a:ext cx="11739562" cy="551879"/>
            <a:chOff x="0" y="0"/>
            <a:chExt cx="11739562"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4" name="TextBox 4"/>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10</a:t>
              </a:r>
            </a:p>
          </p:txBody>
        </p:sp>
        <p:sp>
          <p:nvSpPr>
            <p:cNvPr id="5" name="TextBox 5"/>
            <p:cNvSpPr txBox="1"/>
            <p:nvPr/>
          </p:nvSpPr>
          <p:spPr>
            <a:xfrm>
              <a:off x="942594" y="170498"/>
              <a:ext cx="6121908"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钢铁生产</a:t>
              </a:r>
              <a:r>
                <a:rPr lang="zh-CN" sz="1950" b="1" dirty="0">
                  <a:solidFill>
                    <a:srgbClr val="5E2114"/>
                  </a:solidFill>
                  <a:latin typeface="+mj-lt"/>
                  <a:ea typeface="+mj-ea"/>
                  <a:cs typeface="+mj-cs"/>
                </a:rPr>
                <a:t>｜炉前决策进入核心流程，仍需指标验真</a:t>
              </a:r>
            </a:p>
          </p:txBody>
        </p:sp>
        <p:sp>
          <p:nvSpPr>
            <p:cNvPr id="6" name="Line 6"/>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7" name="TextBox 7"/>
            <p:cNvSpPr txBox="1"/>
            <p:nvPr/>
          </p:nvSpPr>
          <p:spPr>
            <a:xfrm>
              <a:off x="10241140" y="124539"/>
              <a:ext cx="1498422" cy="154781"/>
            </a:xfrm>
            <a:prstGeom prst="rect">
              <a:avLst/>
            </a:prstGeom>
            <a:noFill/>
            <a:ln>
              <a:noFill/>
            </a:ln>
          </p:spPr>
          <p:txBody>
            <a:bodyPr wrap="none" lIns="0" tIns="0" rIns="0" bIns="0" anchor="t" anchorCtr="0">
              <a:spAutoFit/>
            </a:bodyPr>
            <a:lstStyle/>
            <a:p>
              <a:pPr algn="r"/>
              <a:r>
                <a:rPr lang="zh-CN" sz="790" b="1" i="1" dirty="0">
                  <a:solidFill>
                    <a:srgbClr val="9C331E"/>
                  </a:solidFill>
                  <a:latin typeface="+mn-lt"/>
                  <a:ea typeface="+mn-ea"/>
                  <a:cs typeface="+mn-cs"/>
                </a:rPr>
                <a:t>更智能的制造　更高质量的钢铁</a:t>
              </a:r>
            </a:p>
          </p:txBody>
        </p:sp>
        <p:sp>
          <p:nvSpPr>
            <p:cNvPr id="8" name="TextBox 8"/>
            <p:cNvSpPr txBox="1"/>
            <p:nvPr/>
          </p:nvSpPr>
          <p:spPr>
            <a:xfrm>
              <a:off x="9748431" y="293132"/>
              <a:ext cx="1991131" cy="126206"/>
            </a:xfrm>
            <a:prstGeom prst="rect">
              <a:avLst/>
            </a:prstGeom>
            <a:noFill/>
            <a:ln>
              <a:noFill/>
            </a:ln>
          </p:spPr>
          <p:txBody>
            <a:bodyPr wrap="none" lIns="0" tIns="0" rIns="0" bIns="0" anchor="t" anchorCtr="0">
              <a:spAutoFit/>
            </a:bodyPr>
            <a:lstStyle/>
            <a:p>
              <a:pPr algn="r"/>
              <a:r>
                <a:rPr lang="zh-CN" sz="640" dirty="0">
                  <a:solidFill>
                    <a:srgbClr val="9B807A"/>
                  </a:solidFill>
                  <a:latin typeface="+mn-lt"/>
                  <a:ea typeface="+mn-ea"/>
                  <a:cs typeface="+mn-cs"/>
                </a:rPr>
                <a:t>数据驱动炉前决策　工艺稳定　质量可控　低碳高效</a:t>
              </a:r>
            </a:p>
          </p:txBody>
        </p:sp>
      </p:grpSp>
      <p:grpSp>
        <p:nvGrpSpPr>
          <p:cNvPr id="12" name="subtitle"/>
          <p:cNvGrpSpPr/>
          <p:nvPr/>
        </p:nvGrpSpPr>
        <p:grpSpPr>
          <a:xfrm>
            <a:off x="985838" y="649843"/>
            <a:ext cx="5190376" cy="330994"/>
            <a:chOff x="985838" y="649843"/>
            <a:chExt cx="5190376" cy="330994"/>
          </a:xfrm>
        </p:grpSpPr>
        <p:sp>
          <p:nvSpPr>
            <p:cNvPr id="10" name="TextBox 10"/>
            <p:cNvSpPr txBox="1"/>
            <p:nvPr/>
          </p:nvSpPr>
          <p:spPr>
            <a:xfrm>
              <a:off x="985838" y="649843"/>
              <a:ext cx="5190376"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以中国宝武第二批代表性应用为例：“智能炉长”“智能操作员”已纳入清单，覆盖炉前关键决策环节，​</a:t>
              </a:r>
            </a:p>
          </p:txBody>
        </p:sp>
        <p:sp>
          <p:nvSpPr>
            <p:cNvPr id="11" name="TextBox 11"/>
            <p:cNvSpPr txBox="1"/>
            <p:nvPr/>
          </p:nvSpPr>
          <p:spPr>
            <a:xfrm>
              <a:off x="985838" y="811768"/>
              <a:ext cx="4524680"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但公开信息中上线后的量化成效尚未统一披露，需以连续炉次和质量能耗数据进行验真。</a:t>
              </a:r>
            </a:p>
          </p:txBody>
        </p:sp>
      </p:grpSp>
      <p:grpSp>
        <p:nvGrpSpPr>
          <p:cNvPr id="24" name="left-band"/>
          <p:cNvGrpSpPr/>
          <p:nvPr/>
        </p:nvGrpSpPr>
        <p:grpSpPr>
          <a:xfrm>
            <a:off x="381000" y="1047750"/>
            <a:ext cx="2857500" cy="244078"/>
            <a:chOff x="381000" y="1047750"/>
            <a:chExt cx="2857500" cy="244078"/>
          </a:xfrm>
        </p:grpSpPr>
        <p:sp>
          <p:nvSpPr>
            <p:cNvPr id="13" name="Rectangle 13"/>
            <p:cNvSpPr/>
            <p:nvPr/>
          </p:nvSpPr>
          <p:spPr>
            <a:xfrm>
              <a:off x="381000" y="1047750"/>
              <a:ext cx="2857500" cy="228600"/>
            </a:xfrm>
            <a:prstGeom prst="roundRect">
              <a:avLst>
                <a:gd name="adj" fmla="val 16667"/>
              </a:avLst>
            </a:prstGeom>
            <a:gradFill>
              <a:gsLst>
                <a:gs pos="0">
                  <a:srgbClr val="6F2516"/>
                </a:gs>
                <a:gs pos="100000">
                  <a:srgbClr val="D64A2E"/>
                </a:gs>
              </a:gsLst>
              <a:lin ang="0" scaled="1"/>
            </a:gradFill>
            <a:ln>
              <a:noFill/>
            </a:ln>
          </p:spPr>
        </p:sp>
        <p:grpSp>
          <p:nvGrpSpPr>
            <p:cNvPr id="22" name="Group 22"/>
            <p:cNvGrpSpPr/>
            <p:nvPr/>
          </p:nvGrpSpPr>
          <p:grpSpPr>
            <a:xfrm>
              <a:off x="492919" y="1112044"/>
              <a:ext cx="100012" cy="109537"/>
              <a:chOff x="492919" y="1112044"/>
              <a:chExt cx="100012" cy="109537"/>
            </a:xfrm>
          </p:grpSpPr>
          <p:sp>
            <p:nvSpPr>
              <p:cNvPr id="14" name="Freeform 14"/>
              <p:cNvSpPr/>
              <p:nvPr/>
            </p:nvSpPr>
            <p:spPr>
              <a:xfrm>
                <a:off x="492919" y="1212056"/>
                <a:ext cx="100012" cy="9525"/>
              </a:xfrm>
              <a:custGeom>
                <a:avLst/>
                <a:gdLst/>
                <a:ahLst/>
                <a:cxnLst/>
                <a:rect l="l" t="t" r="r" b="b"/>
                <a:pathLst>
                  <a:path w="100012" h="9525">
                    <a:moveTo>
                      <a:pt x="0" y="0"/>
                    </a:moveTo>
                    <a:lnTo>
                      <a:pt x="100012" y="0"/>
                    </a:lnTo>
                  </a:path>
                </a:pathLst>
              </a:custGeom>
              <a:noFill/>
              <a:ln w="11112">
                <a:solidFill>
                  <a:srgbClr val="FFFFFF"/>
                </a:solidFill>
              </a:ln>
            </p:spPr>
          </p:sp>
          <p:sp>
            <p:nvSpPr>
              <p:cNvPr id="15" name="Freeform 15"/>
              <p:cNvSpPr/>
              <p:nvPr/>
            </p:nvSpPr>
            <p:spPr>
              <a:xfrm>
                <a:off x="526256" y="1139825"/>
                <a:ext cx="9525" cy="9525"/>
              </a:xfrm>
              <a:custGeom>
                <a:avLst/>
                <a:gdLst/>
                <a:ahLst/>
                <a:cxnLst/>
                <a:rect l="l" t="t" r="r" b="b"/>
                <a:pathLst>
                  <a:path w="9525" h="9525">
                    <a:moveTo>
                      <a:pt x="0" y="0"/>
                    </a:moveTo>
                    <a:lnTo>
                      <a:pt x="5556" y="0"/>
                    </a:lnTo>
                  </a:path>
                </a:pathLst>
              </a:custGeom>
              <a:noFill/>
              <a:ln w="11112">
                <a:solidFill>
                  <a:srgbClr val="FFFFFF"/>
                </a:solidFill>
              </a:ln>
            </p:spPr>
          </p:sp>
          <p:sp>
            <p:nvSpPr>
              <p:cNvPr id="16" name="Freeform 16"/>
              <p:cNvSpPr/>
              <p:nvPr/>
            </p:nvSpPr>
            <p:spPr>
              <a:xfrm>
                <a:off x="526256" y="1162050"/>
                <a:ext cx="9525" cy="9525"/>
              </a:xfrm>
              <a:custGeom>
                <a:avLst/>
                <a:gdLst/>
                <a:ahLst/>
                <a:cxnLst/>
                <a:rect l="l" t="t" r="r" b="b"/>
                <a:pathLst>
                  <a:path w="9525" h="9525">
                    <a:moveTo>
                      <a:pt x="0" y="0"/>
                    </a:moveTo>
                    <a:lnTo>
                      <a:pt x="5556" y="0"/>
                    </a:lnTo>
                  </a:path>
                </a:pathLst>
              </a:custGeom>
              <a:noFill/>
              <a:ln w="11112">
                <a:solidFill>
                  <a:srgbClr val="FFFFFF"/>
                </a:solidFill>
              </a:ln>
            </p:spPr>
          </p:sp>
          <p:sp>
            <p:nvSpPr>
              <p:cNvPr id="17" name="Freeform 17"/>
              <p:cNvSpPr/>
              <p:nvPr/>
            </p:nvSpPr>
            <p:spPr>
              <a:xfrm>
                <a:off x="526256" y="1184275"/>
                <a:ext cx="9525" cy="9525"/>
              </a:xfrm>
              <a:custGeom>
                <a:avLst/>
                <a:gdLst/>
                <a:ahLst/>
                <a:cxnLst/>
                <a:rect l="l" t="t" r="r" b="b"/>
                <a:pathLst>
                  <a:path w="9525" h="9525">
                    <a:moveTo>
                      <a:pt x="0" y="0"/>
                    </a:moveTo>
                    <a:lnTo>
                      <a:pt x="5556" y="0"/>
                    </a:lnTo>
                  </a:path>
                </a:pathLst>
              </a:custGeom>
              <a:noFill/>
              <a:ln w="11112">
                <a:solidFill>
                  <a:srgbClr val="FFFFFF"/>
                </a:solidFill>
              </a:ln>
            </p:spPr>
          </p:sp>
          <p:sp>
            <p:nvSpPr>
              <p:cNvPr id="18" name="Freeform 18"/>
              <p:cNvSpPr/>
              <p:nvPr/>
            </p:nvSpPr>
            <p:spPr>
              <a:xfrm>
                <a:off x="554037" y="1139825"/>
                <a:ext cx="9525" cy="9525"/>
              </a:xfrm>
              <a:custGeom>
                <a:avLst/>
                <a:gdLst/>
                <a:ahLst/>
                <a:cxnLst/>
                <a:rect l="l" t="t" r="r" b="b"/>
                <a:pathLst>
                  <a:path w="9525" h="9525">
                    <a:moveTo>
                      <a:pt x="0" y="0"/>
                    </a:moveTo>
                    <a:lnTo>
                      <a:pt x="5556" y="0"/>
                    </a:lnTo>
                  </a:path>
                </a:pathLst>
              </a:custGeom>
              <a:noFill/>
              <a:ln w="11112">
                <a:solidFill>
                  <a:srgbClr val="FFFFFF"/>
                </a:solidFill>
              </a:ln>
            </p:spPr>
          </p:sp>
          <p:sp>
            <p:nvSpPr>
              <p:cNvPr id="19" name="Freeform 19"/>
              <p:cNvSpPr/>
              <p:nvPr/>
            </p:nvSpPr>
            <p:spPr>
              <a:xfrm>
                <a:off x="554037" y="1162050"/>
                <a:ext cx="9525" cy="9525"/>
              </a:xfrm>
              <a:custGeom>
                <a:avLst/>
                <a:gdLst/>
                <a:ahLst/>
                <a:cxnLst/>
                <a:rect l="l" t="t" r="r" b="b"/>
                <a:pathLst>
                  <a:path w="9525" h="9525">
                    <a:moveTo>
                      <a:pt x="0" y="0"/>
                    </a:moveTo>
                    <a:lnTo>
                      <a:pt x="5556" y="0"/>
                    </a:lnTo>
                  </a:path>
                </a:pathLst>
              </a:custGeom>
              <a:noFill/>
              <a:ln w="11112">
                <a:solidFill>
                  <a:srgbClr val="FFFFFF"/>
                </a:solidFill>
              </a:ln>
            </p:spPr>
          </p:sp>
          <p:sp>
            <p:nvSpPr>
              <p:cNvPr id="20" name="Freeform 20"/>
              <p:cNvSpPr/>
              <p:nvPr/>
            </p:nvSpPr>
            <p:spPr>
              <a:xfrm>
                <a:off x="554037" y="1184275"/>
                <a:ext cx="9525" cy="9525"/>
              </a:xfrm>
              <a:custGeom>
                <a:avLst/>
                <a:gdLst/>
                <a:ahLst/>
                <a:cxnLst/>
                <a:rect l="l" t="t" r="r" b="b"/>
                <a:pathLst>
                  <a:path w="9525" h="9525">
                    <a:moveTo>
                      <a:pt x="0" y="0"/>
                    </a:moveTo>
                    <a:lnTo>
                      <a:pt x="5556" y="0"/>
                    </a:lnTo>
                  </a:path>
                </a:pathLst>
              </a:custGeom>
              <a:noFill/>
              <a:ln w="11112">
                <a:solidFill>
                  <a:srgbClr val="FFFFFF"/>
                </a:solidFill>
              </a:ln>
            </p:spPr>
          </p:sp>
          <p:sp>
            <p:nvSpPr>
              <p:cNvPr id="21" name="Freeform 21"/>
              <p:cNvSpPr/>
              <p:nvPr/>
            </p:nvSpPr>
            <p:spPr>
              <a:xfrm>
                <a:off x="504031" y="1112044"/>
                <a:ext cx="77787" cy="100012"/>
              </a:xfrm>
              <a:custGeom>
                <a:avLst/>
                <a:gdLst/>
                <a:ahLst/>
                <a:cxnLst/>
                <a:rect l="l" t="t" r="r" b="b"/>
                <a:pathLst>
                  <a:path w="77787" h="100012">
                    <a:moveTo>
                      <a:pt x="0" y="100012"/>
                    </a:moveTo>
                    <a:lnTo>
                      <a:pt x="0" y="11112"/>
                    </a:lnTo>
                    <a:cubicBezTo>
                      <a:pt x="0" y="4975"/>
                      <a:pt x="4975" y="0"/>
                      <a:pt x="11112" y="0"/>
                    </a:cubicBezTo>
                    <a:lnTo>
                      <a:pt x="66675" y="0"/>
                    </a:lnTo>
                    <a:cubicBezTo>
                      <a:pt x="72812" y="0"/>
                      <a:pt x="77787" y="4975"/>
                      <a:pt x="77787" y="11112"/>
                    </a:cubicBezTo>
                    <a:lnTo>
                      <a:pt x="77787" y="100012"/>
                    </a:lnTo>
                  </a:path>
                </a:pathLst>
              </a:custGeom>
              <a:noFill/>
              <a:ln w="11112">
                <a:solidFill>
                  <a:srgbClr val="FFFFFF"/>
                </a:solidFill>
              </a:ln>
            </p:spPr>
          </p:sp>
        </p:grpSp>
        <p:sp>
          <p:nvSpPr>
            <p:cNvPr id="23" name="TextBox 23"/>
            <p:cNvSpPr txBox="1"/>
            <p:nvPr/>
          </p:nvSpPr>
          <p:spPr>
            <a:xfrm>
              <a:off x="661988" y="1108472"/>
              <a:ext cx="16808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中国宝武 · 第二批代表性应用</a:t>
              </a:r>
            </a:p>
          </p:txBody>
        </p:sp>
      </p:grpSp>
      <p:grpSp>
        <p:nvGrpSpPr>
          <p:cNvPr id="32" name="app-1"/>
          <p:cNvGrpSpPr/>
          <p:nvPr/>
        </p:nvGrpSpPr>
        <p:grpSpPr>
          <a:xfrm>
            <a:off x="381000" y="1352550"/>
            <a:ext cx="2857500" cy="762000"/>
            <a:chOff x="381000" y="1352550"/>
            <a:chExt cx="2857500" cy="762000"/>
          </a:xfrm>
        </p:grpSpPr>
        <p:sp>
          <p:nvSpPr>
            <p:cNvPr id="25" name="Rectangle 25"/>
            <p:cNvSpPr/>
            <p:nvPr/>
          </p:nvSpPr>
          <p:spPr>
            <a:xfrm>
              <a:off x="381000" y="1352550"/>
              <a:ext cx="2857500" cy="762000"/>
            </a:xfrm>
            <a:prstGeom prst="roundRect">
              <a:avLst>
                <a:gd name="adj" fmla="val 7500"/>
              </a:avLst>
            </a:prstGeom>
            <a:solidFill>
              <a:srgbClr val="EFF5FC"/>
            </a:solidFill>
            <a:ln w="9525">
              <a:solidFill>
                <a:srgbClr val="C7D9F0"/>
              </a:solidFill>
            </a:ln>
          </p:spPr>
        </p:sp>
        <p:sp>
          <p:nvSpPr>
            <p:cNvPr id="26" name="Ellipse 26"/>
            <p:cNvSpPr/>
            <p:nvPr/>
          </p:nvSpPr>
          <p:spPr>
            <a:xfrm>
              <a:off x="495300" y="1562100"/>
              <a:ext cx="342900" cy="342900"/>
            </a:xfrm>
            <a:prstGeom prst="ellipse">
              <a:avLst/>
            </a:prstGeom>
            <a:solidFill>
              <a:srgbClr val="9C331E"/>
            </a:solidFill>
            <a:ln>
              <a:noFill/>
            </a:ln>
          </p:spPr>
        </p:sp>
        <p:grpSp>
          <p:nvGrpSpPr>
            <p:cNvPr id="29" name="Group 29"/>
            <p:cNvGrpSpPr/>
            <p:nvPr/>
          </p:nvGrpSpPr>
          <p:grpSpPr>
            <a:xfrm>
              <a:off x="584336" y="1651136"/>
              <a:ext cx="164829" cy="164829"/>
              <a:chOff x="584336" y="1651136"/>
              <a:chExt cx="164829" cy="164829"/>
            </a:xfrm>
          </p:grpSpPr>
          <p:sp>
            <p:nvSpPr>
              <p:cNvPr id="27" name="Freeform 27"/>
              <p:cNvSpPr/>
              <p:nvPr/>
            </p:nvSpPr>
            <p:spPr>
              <a:xfrm>
                <a:off x="584336" y="1651136"/>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FFFFFF"/>
                </a:solidFill>
              </a:ln>
            </p:spPr>
          </p:sp>
          <p:sp>
            <p:nvSpPr>
              <p:cNvPr id="28" name="Freeform 28"/>
              <p:cNvSpPr/>
              <p:nvPr/>
            </p:nvSpPr>
            <p:spPr>
              <a:xfrm>
                <a:off x="640556" y="1707356"/>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FFFFFF"/>
                </a:solidFill>
              </a:ln>
            </p:spPr>
          </p:sp>
        </p:grpSp>
        <p:sp>
          <p:nvSpPr>
            <p:cNvPr id="30" name="TextBox 30"/>
            <p:cNvSpPr txBox="1"/>
            <p:nvPr/>
          </p:nvSpPr>
          <p:spPr>
            <a:xfrm>
              <a:off x="928116" y="1524952"/>
              <a:ext cx="576072" cy="205359"/>
            </a:xfrm>
            <a:prstGeom prst="rect">
              <a:avLst/>
            </a:prstGeom>
            <a:noFill/>
            <a:ln>
              <a:noFill/>
            </a:ln>
          </p:spPr>
          <p:txBody>
            <a:bodyPr wrap="none" lIns="0" tIns="0" rIns="0" bIns="0" anchor="t" anchorCtr="0">
              <a:spAutoFit/>
            </a:bodyPr>
            <a:lstStyle/>
            <a:p>
              <a:pPr algn="l"/>
              <a:r>
                <a:rPr lang="zh-CN" sz="1050" b="1" dirty="0">
                  <a:solidFill>
                    <a:srgbClr val="5E2114"/>
                  </a:solidFill>
                  <a:latin typeface="+mn-lt"/>
                  <a:ea typeface="+mn-ea"/>
                  <a:cs typeface="+mn-cs"/>
                </a:rPr>
                <a:t>智能炉长</a:t>
              </a:r>
            </a:p>
          </p:txBody>
        </p:sp>
        <p:sp>
          <p:nvSpPr>
            <p:cNvPr id="31" name="TextBox 31"/>
            <p:cNvSpPr txBox="1"/>
            <p:nvPr/>
          </p:nvSpPr>
          <p:spPr>
            <a:xfrm>
              <a:off x="928688" y="1747838"/>
              <a:ext cx="1395412" cy="290512"/>
            </a:xfrm>
            <a:prstGeom prst="rect">
              <a:avLst/>
            </a:prstGeom>
            <a:noFill/>
            <a:ln>
              <a:noFill/>
            </a:ln>
          </p:spPr>
          <p:txBody>
            <a:bodyPr wrap="none" lIns="0" tIns="0" rIns="0" bIns="0" anchor="t" anchorCtr="0">
              <a:spAutoFit/>
            </a:bodyPr>
            <a:lstStyle/>
            <a:p>
              <a:pPr algn="l">
                <a:lnSpc>
                  <a:spcPts val="1125"/>
                </a:lnSpc>
              </a:pPr>
              <a:r>
                <a:rPr lang="zh-CN" sz="750" dirty="0">
                  <a:solidFill>
                    <a:srgbClr val="573F3A"/>
                  </a:solidFill>
                  <a:latin typeface="+mn-lt"/>
                  <a:ea typeface="+mn-ea"/>
                  <a:cs typeface="+mn-cs"/>
                </a:rPr>
                <a:t>面向炉前全局决策，感知炉况、​</a:t>
              </a:r>
              <a:br/>
              <a:r>
                <a:rPr lang="zh-CN" sz="750" dirty="0">
                  <a:solidFill>
                    <a:srgbClr val="573F3A"/>
                  </a:solidFill>
                  <a:latin typeface="+mn-lt"/>
                  <a:ea typeface="+mn-ea"/>
                  <a:cs typeface="+mn-cs"/>
                </a:rPr>
                <a:t>识别状态、给出工艺参数建议。​</a:t>
              </a:r>
            </a:p>
          </p:txBody>
        </p:sp>
      </p:grpSp>
      <p:grpSp>
        <p:nvGrpSpPr>
          <p:cNvPr id="41" name="app-2"/>
          <p:cNvGrpSpPr/>
          <p:nvPr/>
        </p:nvGrpSpPr>
        <p:grpSpPr>
          <a:xfrm>
            <a:off x="381000" y="2209800"/>
            <a:ext cx="2857500" cy="762000"/>
            <a:chOff x="381000" y="2209800"/>
            <a:chExt cx="2857500" cy="762000"/>
          </a:xfrm>
        </p:grpSpPr>
        <p:sp>
          <p:nvSpPr>
            <p:cNvPr id="33" name="Rectangle 33"/>
            <p:cNvSpPr/>
            <p:nvPr/>
          </p:nvSpPr>
          <p:spPr>
            <a:xfrm>
              <a:off x="381000" y="2209800"/>
              <a:ext cx="2857500" cy="762000"/>
            </a:xfrm>
            <a:prstGeom prst="roundRect">
              <a:avLst>
                <a:gd name="adj" fmla="val 7500"/>
              </a:avLst>
            </a:prstGeom>
            <a:solidFill>
              <a:srgbClr val="EFF5FC"/>
            </a:solidFill>
            <a:ln w="9525">
              <a:solidFill>
                <a:srgbClr val="C7D9F0"/>
              </a:solidFill>
            </a:ln>
          </p:spPr>
        </p:sp>
        <p:sp>
          <p:nvSpPr>
            <p:cNvPr id="34" name="Ellipse 34"/>
            <p:cNvSpPr/>
            <p:nvPr/>
          </p:nvSpPr>
          <p:spPr>
            <a:xfrm>
              <a:off x="495300" y="2419350"/>
              <a:ext cx="342900" cy="342900"/>
            </a:xfrm>
            <a:prstGeom prst="ellipse">
              <a:avLst/>
            </a:prstGeom>
            <a:solidFill>
              <a:srgbClr val="9C331E"/>
            </a:solidFill>
            <a:ln>
              <a:noFill/>
            </a:ln>
          </p:spPr>
        </p:sp>
        <p:grpSp>
          <p:nvGrpSpPr>
            <p:cNvPr id="38" name="Group 38"/>
            <p:cNvGrpSpPr/>
            <p:nvPr/>
          </p:nvGrpSpPr>
          <p:grpSpPr>
            <a:xfrm>
              <a:off x="614363" y="2512219"/>
              <a:ext cx="130969" cy="157163"/>
              <a:chOff x="614363" y="2512219"/>
              <a:chExt cx="130969" cy="157163"/>
            </a:xfrm>
          </p:grpSpPr>
          <p:sp>
            <p:nvSpPr>
              <p:cNvPr id="35" name="Freeform 35"/>
              <p:cNvSpPr/>
              <p:nvPr/>
            </p:nvSpPr>
            <p:spPr>
              <a:xfrm>
                <a:off x="631825" y="25122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36" name="Freeform 36"/>
              <p:cNvSpPr/>
              <p:nvPr/>
            </p:nvSpPr>
            <p:spPr>
              <a:xfrm>
                <a:off x="614363" y="2616994"/>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FFFFFF"/>
                </a:solidFill>
              </a:ln>
            </p:spPr>
          </p:sp>
          <p:sp>
            <p:nvSpPr>
              <p:cNvPr id="37" name="Freeform 37"/>
              <p:cNvSpPr/>
              <p:nvPr/>
            </p:nvSpPr>
            <p:spPr>
              <a:xfrm>
                <a:off x="692944" y="2634456"/>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39" name="TextBox 39"/>
            <p:cNvSpPr txBox="1"/>
            <p:nvPr/>
          </p:nvSpPr>
          <p:spPr>
            <a:xfrm>
              <a:off x="928116" y="2382202"/>
              <a:ext cx="717423" cy="205359"/>
            </a:xfrm>
            <a:prstGeom prst="rect">
              <a:avLst/>
            </a:prstGeom>
            <a:noFill/>
            <a:ln>
              <a:noFill/>
            </a:ln>
          </p:spPr>
          <p:txBody>
            <a:bodyPr wrap="none" lIns="0" tIns="0" rIns="0" bIns="0" anchor="t" anchorCtr="0">
              <a:spAutoFit/>
            </a:bodyPr>
            <a:lstStyle/>
            <a:p>
              <a:pPr algn="l"/>
              <a:r>
                <a:rPr lang="zh-CN" sz="1050" b="1" dirty="0">
                  <a:solidFill>
                    <a:srgbClr val="5E2114"/>
                  </a:solidFill>
                  <a:latin typeface="+mn-lt"/>
                  <a:ea typeface="+mn-ea"/>
                  <a:cs typeface="+mn-cs"/>
                </a:rPr>
                <a:t>智能操作员</a:t>
              </a:r>
            </a:p>
          </p:txBody>
        </p:sp>
        <p:sp>
          <p:nvSpPr>
            <p:cNvPr id="40" name="TextBox 40"/>
            <p:cNvSpPr txBox="1"/>
            <p:nvPr/>
          </p:nvSpPr>
          <p:spPr>
            <a:xfrm>
              <a:off x="928688" y="2605088"/>
              <a:ext cx="1490662" cy="290512"/>
            </a:xfrm>
            <a:prstGeom prst="rect">
              <a:avLst/>
            </a:prstGeom>
            <a:noFill/>
            <a:ln>
              <a:noFill/>
            </a:ln>
          </p:spPr>
          <p:txBody>
            <a:bodyPr wrap="none" lIns="0" tIns="0" rIns="0" bIns="0" anchor="t" anchorCtr="0">
              <a:spAutoFit/>
            </a:bodyPr>
            <a:lstStyle/>
            <a:p>
              <a:pPr algn="l">
                <a:lnSpc>
                  <a:spcPts val="1125"/>
                </a:lnSpc>
              </a:pPr>
              <a:r>
                <a:rPr lang="zh-CN" sz="750" dirty="0">
                  <a:solidFill>
                    <a:srgbClr val="573F3A"/>
                  </a:solidFill>
                  <a:latin typeface="+mn-lt"/>
                  <a:ea typeface="+mn-ea"/>
                  <a:cs typeface="+mn-cs"/>
                </a:rPr>
                <a:t>面向具体操作环节，提供参数推荐​</a:t>
              </a:r>
              <a:br/>
              <a:r>
                <a:rPr lang="zh-CN" sz="750" dirty="0">
                  <a:solidFill>
                    <a:srgbClr val="573F3A"/>
                  </a:solidFill>
                  <a:latin typeface="+mn-lt"/>
                  <a:ea typeface="+mn-ea"/>
                  <a:cs typeface="+mn-cs"/>
                </a:rPr>
                <a:t>与风险提示，辅助操作人员执行。​</a:t>
              </a:r>
            </a:p>
          </p:txBody>
        </p:sp>
      </p:grpSp>
      <p:grpSp>
        <p:nvGrpSpPr>
          <p:cNvPr id="51" name="level-card"/>
          <p:cNvGrpSpPr/>
          <p:nvPr/>
        </p:nvGrpSpPr>
        <p:grpSpPr>
          <a:xfrm>
            <a:off x="381000" y="3067050"/>
            <a:ext cx="2857500" cy="628650"/>
            <a:chOff x="381000" y="3067050"/>
            <a:chExt cx="2857500" cy="628650"/>
          </a:xfrm>
        </p:grpSpPr>
        <p:sp>
          <p:nvSpPr>
            <p:cNvPr id="42" name="Rectangle 42"/>
            <p:cNvSpPr/>
            <p:nvPr/>
          </p:nvSpPr>
          <p:spPr>
            <a:xfrm>
              <a:off x="381000" y="3067050"/>
              <a:ext cx="2857500" cy="628650"/>
            </a:xfrm>
            <a:prstGeom prst="roundRect">
              <a:avLst>
                <a:gd name="adj" fmla="val 9091"/>
              </a:avLst>
            </a:prstGeom>
            <a:solidFill>
              <a:srgbClr val="DCE9F8"/>
            </a:solidFill>
            <a:ln>
              <a:noFill/>
            </a:ln>
          </p:spPr>
        </p:sp>
        <p:grpSp>
          <p:nvGrpSpPr>
            <p:cNvPr id="48" name="Group 48"/>
            <p:cNvGrpSpPr/>
            <p:nvPr/>
          </p:nvGrpSpPr>
          <p:grpSpPr>
            <a:xfrm>
              <a:off x="527050" y="3181350"/>
              <a:ext cx="88900" cy="114300"/>
              <a:chOff x="527050" y="3181350"/>
              <a:chExt cx="88900" cy="114300"/>
            </a:xfrm>
          </p:grpSpPr>
          <p:sp>
            <p:nvSpPr>
              <p:cNvPr id="43" name="Freeform 43"/>
              <p:cNvSpPr/>
              <p:nvPr/>
            </p:nvSpPr>
            <p:spPr>
              <a:xfrm>
                <a:off x="584200" y="31813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9C331E"/>
                </a:solidFill>
              </a:ln>
            </p:spPr>
          </p:sp>
          <p:sp>
            <p:nvSpPr>
              <p:cNvPr id="44" name="Freeform 44"/>
              <p:cNvSpPr/>
              <p:nvPr/>
            </p:nvSpPr>
            <p:spPr>
              <a:xfrm>
                <a:off x="527050" y="31813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9C331E"/>
                </a:solidFill>
              </a:ln>
            </p:spPr>
          </p:sp>
          <p:sp>
            <p:nvSpPr>
              <p:cNvPr id="45" name="Freeform 45"/>
              <p:cNvSpPr/>
              <p:nvPr/>
            </p:nvSpPr>
            <p:spPr>
              <a:xfrm>
                <a:off x="552450" y="3219450"/>
                <a:ext cx="9525" cy="9525"/>
              </a:xfrm>
              <a:custGeom>
                <a:avLst/>
                <a:gdLst/>
                <a:ahLst/>
                <a:cxnLst/>
                <a:rect l="l" t="t" r="r" b="b"/>
                <a:pathLst>
                  <a:path w="9525" h="9525">
                    <a:moveTo>
                      <a:pt x="0" y="0"/>
                    </a:moveTo>
                    <a:lnTo>
                      <a:pt x="6350" y="0"/>
                    </a:lnTo>
                  </a:path>
                </a:pathLst>
              </a:custGeom>
              <a:noFill/>
              <a:ln w="12700">
                <a:solidFill>
                  <a:srgbClr val="9C331E"/>
                </a:solidFill>
              </a:ln>
            </p:spPr>
          </p:sp>
          <p:sp>
            <p:nvSpPr>
              <p:cNvPr id="46" name="Freeform 46"/>
              <p:cNvSpPr/>
              <p:nvPr/>
            </p:nvSpPr>
            <p:spPr>
              <a:xfrm>
                <a:off x="552450" y="3244850"/>
                <a:ext cx="38100" cy="9525"/>
              </a:xfrm>
              <a:custGeom>
                <a:avLst/>
                <a:gdLst/>
                <a:ahLst/>
                <a:cxnLst/>
                <a:rect l="l" t="t" r="r" b="b"/>
                <a:pathLst>
                  <a:path w="38100" h="9525">
                    <a:moveTo>
                      <a:pt x="0" y="0"/>
                    </a:moveTo>
                    <a:lnTo>
                      <a:pt x="38100" y="0"/>
                    </a:lnTo>
                  </a:path>
                </a:pathLst>
              </a:custGeom>
              <a:noFill/>
              <a:ln w="12700">
                <a:solidFill>
                  <a:srgbClr val="9C331E"/>
                </a:solidFill>
              </a:ln>
            </p:spPr>
          </p:sp>
          <p:sp>
            <p:nvSpPr>
              <p:cNvPr id="47" name="Freeform 47"/>
              <p:cNvSpPr/>
              <p:nvPr/>
            </p:nvSpPr>
            <p:spPr>
              <a:xfrm>
                <a:off x="552450" y="3270250"/>
                <a:ext cx="38100" cy="9525"/>
              </a:xfrm>
              <a:custGeom>
                <a:avLst/>
                <a:gdLst/>
                <a:ahLst/>
                <a:cxnLst/>
                <a:rect l="l" t="t" r="r" b="b"/>
                <a:pathLst>
                  <a:path w="38100" h="9525">
                    <a:moveTo>
                      <a:pt x="0" y="0"/>
                    </a:moveTo>
                    <a:lnTo>
                      <a:pt x="38100" y="0"/>
                    </a:lnTo>
                  </a:path>
                </a:pathLst>
              </a:custGeom>
              <a:noFill/>
              <a:ln w="12700">
                <a:solidFill>
                  <a:srgbClr val="9C331E"/>
                </a:solidFill>
              </a:ln>
            </p:spPr>
          </p:sp>
        </p:grpSp>
        <p:sp>
          <p:nvSpPr>
            <p:cNvPr id="49" name="TextBox 49"/>
            <p:cNvSpPr txBox="1"/>
            <p:nvPr/>
          </p:nvSpPr>
          <p:spPr>
            <a:xfrm>
              <a:off x="719138" y="3197066"/>
              <a:ext cx="936097" cy="161925"/>
            </a:xfrm>
            <a:prstGeom prst="rect">
              <a:avLst/>
            </a:prstGeom>
            <a:noFill/>
            <a:ln>
              <a:noFill/>
            </a:ln>
          </p:spPr>
          <p:txBody>
            <a:bodyPr wrap="none" lIns="0" tIns="0" rIns="0" bIns="0" anchor="t" anchorCtr="0">
              <a:spAutoFit/>
            </a:bodyPr>
            <a:lstStyle/>
            <a:p>
              <a:pPr algn="l"/>
              <a:r>
                <a:rPr lang="en-US" sz="820" b="1" dirty="0">
                  <a:solidFill>
                    <a:srgbClr val="9C331E"/>
                  </a:solidFill>
                  <a:latin typeface="Arial"/>
                  <a:ea typeface="Arial"/>
                  <a:cs typeface="Arial"/>
                </a:rPr>
                <a:t xml:space="preserve">L1—L2 </a:t>
              </a:r>
              <a:r>
                <a:rPr lang="zh-CN" sz="820" b="1" dirty="0">
                  <a:solidFill>
                    <a:srgbClr val="9C331E"/>
                  </a:solidFill>
                  <a:latin typeface="+mn-lt"/>
                  <a:ea typeface="+mn-ea"/>
                  <a:cs typeface="+mn-cs"/>
                </a:rPr>
                <a:t>证据标识​</a:t>
              </a:r>
            </a:p>
          </p:txBody>
        </p:sp>
        <p:sp>
          <p:nvSpPr>
            <p:cNvPr id="50" name="TextBox 50"/>
            <p:cNvSpPr txBox="1"/>
            <p:nvPr/>
          </p:nvSpPr>
          <p:spPr>
            <a:xfrm>
              <a:off x="490538" y="3390186"/>
              <a:ext cx="1862518"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573F3A"/>
                  </a:solidFill>
                  <a:latin typeface="+mn-lt"/>
                  <a:ea typeface="+mn-ea"/>
                  <a:cs typeface="+mn-cs"/>
                </a:rPr>
                <a:t>已纳入中国宝武第二批应用清单；</a:t>
              </a:r>
              <a:br/>
              <a:r>
                <a:rPr lang="zh-CN" sz="710" dirty="0">
                  <a:solidFill>
                    <a:srgbClr val="573F3A"/>
                  </a:solidFill>
                  <a:latin typeface="+mn-lt"/>
                  <a:ea typeface="+mn-ea"/>
                  <a:cs typeface="+mn-cs"/>
                </a:rPr>
                <a:t>但上线后的关键绩效指标尚未统一公开披露。​</a:t>
              </a:r>
            </a:p>
          </p:txBody>
        </p:sp>
      </p:grpSp>
      <p:grpSp>
        <p:nvGrpSpPr>
          <p:cNvPr id="60" name="furnace-card"/>
          <p:cNvGrpSpPr/>
          <p:nvPr/>
        </p:nvGrpSpPr>
        <p:grpSpPr>
          <a:xfrm>
            <a:off x="381000" y="3790950"/>
            <a:ext cx="2857500" cy="1695450"/>
            <a:chOff x="381000" y="3790950"/>
            <a:chExt cx="2857500" cy="1695450"/>
          </a:xfrm>
        </p:grpSpPr>
        <p:sp>
          <p:nvSpPr>
            <p:cNvPr id="52" name="Rectangle 52"/>
            <p:cNvSpPr/>
            <p:nvPr/>
          </p:nvSpPr>
          <p:spPr>
            <a:xfrm>
              <a:off x="381000" y="3790950"/>
              <a:ext cx="2857500" cy="1695450"/>
            </a:xfrm>
            <a:prstGeom prst="roundRect">
              <a:avLst>
                <a:gd name="adj" fmla="val 3371"/>
              </a:avLst>
            </a:prstGeom>
            <a:gradFill>
              <a:gsLst>
                <a:gs pos="0">
                  <a:srgbClr val="632012"/>
                </a:gs>
                <a:gs pos="100000">
                  <a:srgbClr val="5C322A"/>
                </a:gs>
              </a:gsLst>
              <a:lin ang="5400000" scaled="1"/>
            </a:gradFill>
            <a:ln>
              <a:noFill/>
            </a:ln>
          </p:spPr>
        </p:sp>
        <p:sp>
          <p:nvSpPr>
            <p:cNvPr id="53" name="Ellipse 53"/>
            <p:cNvSpPr/>
            <p:nvPr/>
          </p:nvSpPr>
          <p:spPr>
            <a:xfrm>
              <a:off x="2000250" y="4324350"/>
              <a:ext cx="1143000" cy="876300"/>
            </a:xfrm>
            <a:prstGeom prst="ellipse">
              <a:avLst/>
            </a:prstGeom>
            <a:solidFill>
              <a:srgbClr val="E5472B">
                <a:alpha val="55000"/>
              </a:srgbClr>
            </a:solidFill>
            <a:ln>
              <a:noFill/>
            </a:ln>
          </p:spPr>
        </p:sp>
        <p:sp>
          <p:nvSpPr>
            <p:cNvPr id="54" name="Ellipse 54"/>
            <p:cNvSpPr/>
            <p:nvPr/>
          </p:nvSpPr>
          <p:spPr>
            <a:xfrm>
              <a:off x="2247900" y="4552950"/>
              <a:ext cx="647700" cy="495300"/>
            </a:xfrm>
            <a:prstGeom prst="ellipse">
              <a:avLst/>
            </a:prstGeom>
            <a:solidFill>
              <a:srgbClr val="F5735C">
                <a:alpha val="80000"/>
              </a:srgbClr>
            </a:solidFill>
            <a:ln>
              <a:noFill/>
            </a:ln>
          </p:spPr>
        </p:sp>
        <p:sp>
          <p:nvSpPr>
            <p:cNvPr id="55" name="Freeform 55"/>
            <p:cNvSpPr/>
            <p:nvPr/>
          </p:nvSpPr>
          <p:spPr>
            <a:xfrm>
              <a:off x="2209800" y="4476750"/>
              <a:ext cx="800100" cy="1009650"/>
            </a:xfrm>
            <a:custGeom>
              <a:avLst/>
              <a:gdLst/>
              <a:ahLst/>
              <a:cxnLst/>
              <a:rect l="l" t="t" r="r" b="b"/>
              <a:pathLst>
                <a:path w="800100" h="1009650">
                  <a:moveTo>
                    <a:pt x="0" y="857250"/>
                  </a:moveTo>
                  <a:lnTo>
                    <a:pt x="800100" y="857250"/>
                  </a:lnTo>
                  <a:lnTo>
                    <a:pt x="800100" y="1009650"/>
                  </a:lnTo>
                  <a:lnTo>
                    <a:pt x="0" y="1009650"/>
                  </a:lnTo>
                  <a:close/>
                  <a:moveTo>
                    <a:pt x="114300" y="0"/>
                  </a:moveTo>
                  <a:lnTo>
                    <a:pt x="647700" y="0"/>
                  </a:lnTo>
                  <a:lnTo>
                    <a:pt x="723900" y="857250"/>
                  </a:lnTo>
                  <a:lnTo>
                    <a:pt x="38100" y="857250"/>
                  </a:lnTo>
                  <a:close/>
                </a:path>
              </a:pathLst>
            </a:custGeom>
            <a:solidFill>
              <a:srgbClr val="66423B"/>
            </a:solidFill>
            <a:ln>
              <a:noFill/>
            </a:ln>
          </p:spPr>
        </p:sp>
        <p:sp>
          <p:nvSpPr>
            <p:cNvPr id="56" name="Freeform 56"/>
            <p:cNvSpPr/>
            <p:nvPr/>
          </p:nvSpPr>
          <p:spPr>
            <a:xfrm>
              <a:off x="2362200" y="4572000"/>
              <a:ext cx="457200" cy="571500"/>
            </a:xfrm>
            <a:custGeom>
              <a:avLst/>
              <a:gdLst/>
              <a:ahLst/>
              <a:cxnLst/>
              <a:rect l="l" t="t" r="r" b="b"/>
              <a:pathLst>
                <a:path w="457200" h="571500">
                  <a:moveTo>
                    <a:pt x="57150" y="0"/>
                  </a:moveTo>
                  <a:lnTo>
                    <a:pt x="400050" y="0"/>
                  </a:lnTo>
                  <a:moveTo>
                    <a:pt x="38100" y="190500"/>
                  </a:moveTo>
                  <a:lnTo>
                    <a:pt x="419100" y="190500"/>
                  </a:lnTo>
                  <a:moveTo>
                    <a:pt x="19050" y="381000"/>
                  </a:moveTo>
                  <a:lnTo>
                    <a:pt x="438150" y="381000"/>
                  </a:lnTo>
                  <a:moveTo>
                    <a:pt x="0" y="571500"/>
                  </a:moveTo>
                  <a:lnTo>
                    <a:pt x="457200" y="571500"/>
                  </a:lnTo>
                </a:path>
              </a:pathLst>
            </a:custGeom>
            <a:noFill/>
            <a:ln w="19050">
              <a:solidFill>
                <a:srgbClr val="8A635B"/>
              </a:solidFill>
            </a:ln>
          </p:spPr>
        </p:sp>
        <p:sp>
          <p:nvSpPr>
            <p:cNvPr id="57" name="Freeform 57"/>
            <p:cNvSpPr/>
            <p:nvPr/>
          </p:nvSpPr>
          <p:spPr>
            <a:xfrm>
              <a:off x="571500" y="4762500"/>
              <a:ext cx="838200" cy="723900"/>
            </a:xfrm>
            <a:custGeom>
              <a:avLst/>
              <a:gdLst/>
              <a:ahLst/>
              <a:cxnLst/>
              <a:rect l="l" t="t" r="r" b="b"/>
              <a:pathLst>
                <a:path w="838200" h="723900">
                  <a:moveTo>
                    <a:pt x="0" y="723900"/>
                  </a:moveTo>
                  <a:lnTo>
                    <a:pt x="0" y="190500"/>
                  </a:lnTo>
                  <a:lnTo>
                    <a:pt x="228600" y="190500"/>
                  </a:lnTo>
                  <a:lnTo>
                    <a:pt x="228600" y="723900"/>
                  </a:lnTo>
                  <a:moveTo>
                    <a:pt x="342900" y="723900"/>
                  </a:moveTo>
                  <a:lnTo>
                    <a:pt x="342900" y="0"/>
                  </a:lnTo>
                  <a:lnTo>
                    <a:pt x="533400" y="0"/>
                  </a:lnTo>
                  <a:lnTo>
                    <a:pt x="533400" y="723900"/>
                  </a:lnTo>
                  <a:moveTo>
                    <a:pt x="647700" y="723900"/>
                  </a:moveTo>
                  <a:lnTo>
                    <a:pt x="647700" y="304800"/>
                  </a:lnTo>
                  <a:lnTo>
                    <a:pt x="838200" y="304800"/>
                  </a:lnTo>
                  <a:lnTo>
                    <a:pt x="838200" y="723900"/>
                  </a:lnTo>
                </a:path>
              </a:pathLst>
            </a:custGeom>
            <a:solidFill>
              <a:srgbClr val="5C322A"/>
            </a:solidFill>
            <a:ln w="9525">
              <a:solidFill>
                <a:srgbClr val="8A635B"/>
              </a:solidFill>
            </a:ln>
          </p:spPr>
        </p:sp>
        <p:sp>
          <p:nvSpPr>
            <p:cNvPr id="58" name="TextBox 58"/>
            <p:cNvSpPr txBox="1"/>
            <p:nvPr/>
          </p:nvSpPr>
          <p:spPr>
            <a:xfrm>
              <a:off x="547116" y="4134802"/>
              <a:ext cx="1021128" cy="414909"/>
            </a:xfrm>
            <a:prstGeom prst="rect">
              <a:avLst/>
            </a:prstGeom>
            <a:noFill/>
            <a:ln>
              <a:noFill/>
            </a:ln>
          </p:spPr>
          <p:txBody>
            <a:bodyPr wrap="none" lIns="0" tIns="0" rIns="0" bIns="0" anchor="t" anchorCtr="0">
              <a:spAutoFit/>
            </a:bodyPr>
            <a:lstStyle/>
            <a:p>
              <a:pPr algn="l">
                <a:lnSpc>
                  <a:spcPts val="1650"/>
                </a:lnSpc>
              </a:pPr>
              <a:r>
                <a:rPr lang="zh-CN" sz="1050" b="1" i="1" dirty="0">
                  <a:solidFill>
                    <a:srgbClr val="FFFFFF"/>
                  </a:solidFill>
                  <a:latin typeface="+mn-lt"/>
                  <a:ea typeface="+mn-ea"/>
                  <a:cs typeface="+mn-cs"/>
                </a:rPr>
                <a:t>让数据看见炉况​</a:t>
              </a:r>
              <a:br/>
              <a:r>
                <a:rPr lang="zh-CN" sz="1050" b="1" i="1" dirty="0">
                  <a:solidFill>
                    <a:srgbClr val="FFFFFF"/>
                  </a:solidFill>
                  <a:latin typeface="+mn-lt"/>
                  <a:ea typeface="+mn-ea"/>
                  <a:cs typeface="+mn-cs"/>
                </a:rPr>
                <a:t>让经验被放大</a:t>
              </a:r>
            </a:p>
          </p:txBody>
        </p:sp>
        <p:sp>
          <p:nvSpPr>
            <p:cNvPr id="59" name="Line 59"/>
            <p:cNvSpPr/>
            <p:nvPr/>
          </p:nvSpPr>
          <p:spPr>
            <a:xfrm>
              <a:off x="552450" y="4591050"/>
              <a:ext cx="381000" cy="9525"/>
            </a:xfrm>
            <a:custGeom>
              <a:avLst/>
              <a:gdLst/>
              <a:ahLst/>
              <a:cxnLst/>
              <a:rect l="l" t="t" r="r" b="b"/>
              <a:pathLst>
                <a:path w="381000" h="9525">
                  <a:moveTo>
                    <a:pt x="0" y="0"/>
                  </a:moveTo>
                  <a:lnTo>
                    <a:pt x="381000" y="0"/>
                  </a:lnTo>
                </a:path>
              </a:pathLst>
            </a:custGeom>
            <a:noFill/>
            <a:ln w="19050">
              <a:solidFill>
                <a:srgbClr val="FF957F"/>
              </a:solidFill>
            </a:ln>
          </p:spPr>
        </p:sp>
      </p:grpSp>
      <p:grpSp>
        <p:nvGrpSpPr>
          <p:cNvPr id="72" name="flow-band"/>
          <p:cNvGrpSpPr/>
          <p:nvPr/>
        </p:nvGrpSpPr>
        <p:grpSpPr>
          <a:xfrm>
            <a:off x="3352800" y="1047750"/>
            <a:ext cx="5600700" cy="244078"/>
            <a:chOff x="3352800" y="1047750"/>
            <a:chExt cx="5600700" cy="244078"/>
          </a:xfrm>
        </p:grpSpPr>
        <p:sp>
          <p:nvSpPr>
            <p:cNvPr id="61" name="Rectangle 61"/>
            <p:cNvSpPr/>
            <p:nvPr/>
          </p:nvSpPr>
          <p:spPr>
            <a:xfrm>
              <a:off x="3352800" y="1047750"/>
              <a:ext cx="5600700" cy="228600"/>
            </a:xfrm>
            <a:prstGeom prst="roundRect">
              <a:avLst>
                <a:gd name="adj" fmla="val 16667"/>
              </a:avLst>
            </a:prstGeom>
            <a:gradFill>
              <a:gsLst>
                <a:gs pos="0">
                  <a:srgbClr val="6F2516"/>
                </a:gs>
                <a:gs pos="100000">
                  <a:srgbClr val="D64A2E"/>
                </a:gs>
              </a:gsLst>
              <a:lin ang="0" scaled="1"/>
            </a:gradFill>
            <a:ln>
              <a:noFill/>
            </a:ln>
          </p:spPr>
        </p:sp>
        <p:grpSp>
          <p:nvGrpSpPr>
            <p:cNvPr id="69" name="Group 69"/>
            <p:cNvGrpSpPr/>
            <p:nvPr/>
          </p:nvGrpSpPr>
          <p:grpSpPr>
            <a:xfrm>
              <a:off x="3464719" y="1112044"/>
              <a:ext cx="100012" cy="100012"/>
              <a:chOff x="3464719" y="1112044"/>
              <a:chExt cx="100012" cy="100012"/>
            </a:xfrm>
          </p:grpSpPr>
          <p:sp>
            <p:nvSpPr>
              <p:cNvPr id="62" name="Freeform 62"/>
              <p:cNvSpPr/>
              <p:nvPr/>
            </p:nvSpPr>
            <p:spPr>
              <a:xfrm>
                <a:off x="3464719" y="1195387"/>
                <a:ext cx="77787" cy="9525"/>
              </a:xfrm>
              <a:custGeom>
                <a:avLst/>
                <a:gdLst/>
                <a:ahLst/>
                <a:cxnLst/>
                <a:rect l="l" t="t" r="r" b="b"/>
                <a:pathLst>
                  <a:path w="77787" h="9525">
                    <a:moveTo>
                      <a:pt x="0" y="0"/>
                    </a:moveTo>
                    <a:lnTo>
                      <a:pt x="77787" y="0"/>
                    </a:lnTo>
                  </a:path>
                </a:pathLst>
              </a:custGeom>
              <a:noFill/>
              <a:ln w="11112">
                <a:solidFill>
                  <a:srgbClr val="FFFFFF"/>
                </a:solidFill>
              </a:ln>
            </p:spPr>
          </p:sp>
          <p:sp>
            <p:nvSpPr>
              <p:cNvPr id="63" name="Freeform 63"/>
              <p:cNvSpPr/>
              <p:nvPr/>
            </p:nvSpPr>
            <p:spPr>
              <a:xfrm>
                <a:off x="3498056" y="1145381"/>
                <a:ext cx="16669" cy="33337"/>
              </a:xfrm>
              <a:custGeom>
                <a:avLst/>
                <a:gdLst/>
                <a:ahLst/>
                <a:cxnLst/>
                <a:rect l="l" t="t" r="r" b="b"/>
                <a:pathLst>
                  <a:path w="16669" h="33337">
                    <a:moveTo>
                      <a:pt x="0" y="0"/>
                    </a:moveTo>
                    <a:lnTo>
                      <a:pt x="16669" y="16669"/>
                    </a:lnTo>
                    <a:lnTo>
                      <a:pt x="0" y="33337"/>
                    </a:lnTo>
                  </a:path>
                </a:pathLst>
              </a:custGeom>
              <a:noFill/>
              <a:ln w="11112">
                <a:solidFill>
                  <a:srgbClr val="FFFFFF"/>
                </a:solidFill>
              </a:ln>
            </p:spPr>
          </p:sp>
          <p:sp>
            <p:nvSpPr>
              <p:cNvPr id="64" name="Freeform 64"/>
              <p:cNvSpPr/>
              <p:nvPr/>
            </p:nvSpPr>
            <p:spPr>
              <a:xfrm>
                <a:off x="3525837" y="1178719"/>
                <a:ext cx="16669" cy="33337"/>
              </a:xfrm>
              <a:custGeom>
                <a:avLst/>
                <a:gdLst/>
                <a:ahLst/>
                <a:cxnLst/>
                <a:rect l="l" t="t" r="r" b="b"/>
                <a:pathLst>
                  <a:path w="16669" h="33337">
                    <a:moveTo>
                      <a:pt x="0" y="0"/>
                    </a:moveTo>
                    <a:lnTo>
                      <a:pt x="16669" y="16669"/>
                    </a:lnTo>
                    <a:lnTo>
                      <a:pt x="0" y="33337"/>
                    </a:lnTo>
                  </a:path>
                </a:pathLst>
              </a:custGeom>
              <a:noFill/>
              <a:ln w="11112">
                <a:solidFill>
                  <a:srgbClr val="FFFFFF"/>
                </a:solidFill>
              </a:ln>
            </p:spPr>
          </p:sp>
          <p:sp>
            <p:nvSpPr>
              <p:cNvPr id="65" name="Freeform 65"/>
              <p:cNvSpPr/>
              <p:nvPr/>
            </p:nvSpPr>
            <p:spPr>
              <a:xfrm>
                <a:off x="3464719" y="1112044"/>
                <a:ext cx="9525" cy="100012"/>
              </a:xfrm>
              <a:custGeom>
                <a:avLst/>
                <a:gdLst/>
                <a:ahLst/>
                <a:cxnLst/>
                <a:rect l="l" t="t" r="r" b="b"/>
                <a:pathLst>
                  <a:path w="9525" h="100012">
                    <a:moveTo>
                      <a:pt x="0" y="0"/>
                    </a:moveTo>
                    <a:lnTo>
                      <a:pt x="0" y="100012"/>
                    </a:lnTo>
                  </a:path>
                </a:pathLst>
              </a:custGeom>
              <a:noFill/>
              <a:ln w="11112">
                <a:solidFill>
                  <a:srgbClr val="FFFFFF"/>
                </a:solidFill>
              </a:ln>
            </p:spPr>
          </p:sp>
          <p:sp>
            <p:nvSpPr>
              <p:cNvPr id="66" name="Freeform 66"/>
              <p:cNvSpPr/>
              <p:nvPr/>
            </p:nvSpPr>
            <p:spPr>
              <a:xfrm>
                <a:off x="3464719" y="1162050"/>
                <a:ext cx="50006" cy="9525"/>
              </a:xfrm>
              <a:custGeom>
                <a:avLst/>
                <a:gdLst/>
                <a:ahLst/>
                <a:cxnLst/>
                <a:rect l="l" t="t" r="r" b="b"/>
                <a:pathLst>
                  <a:path w="50006" h="9525">
                    <a:moveTo>
                      <a:pt x="0" y="0"/>
                    </a:moveTo>
                    <a:lnTo>
                      <a:pt x="50006" y="0"/>
                    </a:lnTo>
                  </a:path>
                </a:pathLst>
              </a:custGeom>
              <a:noFill/>
              <a:ln w="11112">
                <a:solidFill>
                  <a:srgbClr val="FFFFFF"/>
                </a:solidFill>
              </a:ln>
            </p:spPr>
          </p:sp>
          <p:sp>
            <p:nvSpPr>
              <p:cNvPr id="67" name="Freeform 67"/>
              <p:cNvSpPr/>
              <p:nvPr/>
            </p:nvSpPr>
            <p:spPr>
              <a:xfrm>
                <a:off x="3548062" y="1112044"/>
                <a:ext cx="16669" cy="33337"/>
              </a:xfrm>
              <a:custGeom>
                <a:avLst/>
                <a:gdLst/>
                <a:ahLst/>
                <a:cxnLst/>
                <a:rect l="l" t="t" r="r" b="b"/>
                <a:pathLst>
                  <a:path w="16669" h="33337">
                    <a:moveTo>
                      <a:pt x="0" y="0"/>
                    </a:moveTo>
                    <a:lnTo>
                      <a:pt x="16669" y="16669"/>
                    </a:lnTo>
                    <a:lnTo>
                      <a:pt x="0" y="33337"/>
                    </a:lnTo>
                  </a:path>
                </a:pathLst>
              </a:custGeom>
              <a:noFill/>
              <a:ln w="11112">
                <a:solidFill>
                  <a:srgbClr val="FFFFFF"/>
                </a:solidFill>
              </a:ln>
            </p:spPr>
          </p:sp>
          <p:sp>
            <p:nvSpPr>
              <p:cNvPr id="68" name="Freeform 68"/>
              <p:cNvSpPr/>
              <p:nvPr/>
            </p:nvSpPr>
            <p:spPr>
              <a:xfrm>
                <a:off x="3464719" y="1128712"/>
                <a:ext cx="100012" cy="9525"/>
              </a:xfrm>
              <a:custGeom>
                <a:avLst/>
                <a:gdLst/>
                <a:ahLst/>
                <a:cxnLst/>
                <a:rect l="l" t="t" r="r" b="b"/>
                <a:pathLst>
                  <a:path w="100012" h="9525">
                    <a:moveTo>
                      <a:pt x="0" y="0"/>
                    </a:moveTo>
                    <a:lnTo>
                      <a:pt x="100012" y="0"/>
                    </a:lnTo>
                  </a:path>
                </a:pathLst>
              </a:custGeom>
              <a:noFill/>
              <a:ln w="11112">
                <a:solidFill>
                  <a:srgbClr val="FFFFFF"/>
                </a:solidFill>
              </a:ln>
            </p:spPr>
          </p:sp>
        </p:grpSp>
        <p:sp>
          <p:nvSpPr>
            <p:cNvPr id="70" name="TextBox 70"/>
            <p:cNvSpPr txBox="1"/>
            <p:nvPr/>
          </p:nvSpPr>
          <p:spPr>
            <a:xfrm>
              <a:off x="3633788" y="1108472"/>
              <a:ext cx="1021867"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炉前决策流程示意</a:t>
              </a:r>
            </a:p>
          </p:txBody>
        </p:sp>
        <p:sp>
          <p:nvSpPr>
            <p:cNvPr id="71" name="TextBox 71"/>
            <p:cNvSpPr txBox="1"/>
            <p:nvPr/>
          </p:nvSpPr>
          <p:spPr>
            <a:xfrm>
              <a:off x="7714399" y="1131332"/>
              <a:ext cx="1129563" cy="126206"/>
            </a:xfrm>
            <a:prstGeom prst="rect">
              <a:avLst/>
            </a:prstGeom>
            <a:noFill/>
            <a:ln>
              <a:noFill/>
            </a:ln>
          </p:spPr>
          <p:txBody>
            <a:bodyPr wrap="none" lIns="0" tIns="0" rIns="0" bIns="0" anchor="t" anchorCtr="0">
              <a:spAutoFit/>
            </a:bodyPr>
            <a:lstStyle/>
            <a:p>
              <a:pPr algn="r"/>
              <a:r>
                <a:rPr lang="zh-CN" sz="640" dirty="0">
                  <a:solidFill>
                    <a:srgbClr val="DCE9F8"/>
                  </a:solidFill>
                  <a:latin typeface="+mn-lt"/>
                  <a:ea typeface="+mn-ea"/>
                  <a:cs typeface="+mn-cs"/>
                </a:rPr>
                <a:t>从数据到反馈，形成闭环优化</a:t>
              </a:r>
            </a:p>
          </p:txBody>
        </p:sp>
      </p:grpSp>
      <p:grpSp>
        <p:nvGrpSpPr>
          <p:cNvPr id="109" name="flow-chain"/>
          <p:cNvGrpSpPr/>
          <p:nvPr/>
        </p:nvGrpSpPr>
        <p:grpSpPr>
          <a:xfrm>
            <a:off x="3400031" y="1371600"/>
            <a:ext cx="5600751" cy="1286113"/>
            <a:chOff x="3400031" y="1371600"/>
            <a:chExt cx="5600751" cy="1286113"/>
          </a:xfrm>
        </p:grpSpPr>
        <p:sp>
          <p:nvSpPr>
            <p:cNvPr id="73" name="Ellipse 73"/>
            <p:cNvSpPr/>
            <p:nvPr/>
          </p:nvSpPr>
          <p:spPr>
            <a:xfrm>
              <a:off x="3543300" y="1371600"/>
              <a:ext cx="533400" cy="533400"/>
            </a:xfrm>
            <a:prstGeom prst="ellipse">
              <a:avLst/>
            </a:prstGeom>
            <a:solidFill>
              <a:srgbClr val="9C331E"/>
            </a:solidFill>
            <a:ln>
              <a:noFill/>
            </a:ln>
          </p:spPr>
        </p:sp>
        <p:grpSp>
          <p:nvGrpSpPr>
            <p:cNvPr id="77" name="Group 77"/>
            <p:cNvGrpSpPr/>
            <p:nvPr/>
          </p:nvGrpSpPr>
          <p:grpSpPr>
            <a:xfrm>
              <a:off x="3727450" y="1545431"/>
              <a:ext cx="165099" cy="185737"/>
              <a:chOff x="3727450" y="1545431"/>
              <a:chExt cx="165099" cy="185737"/>
            </a:xfrm>
          </p:grpSpPr>
          <p:sp>
            <p:nvSpPr>
              <p:cNvPr id="74" name="Freeform 74"/>
              <p:cNvSpPr/>
              <p:nvPr/>
            </p:nvSpPr>
            <p:spPr>
              <a:xfrm>
                <a:off x="3727450" y="1545431"/>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FFFFFF"/>
                </a:solidFill>
              </a:ln>
            </p:spPr>
          </p:sp>
          <p:sp>
            <p:nvSpPr>
              <p:cNvPr id="75" name="Freeform 75"/>
              <p:cNvSpPr/>
              <p:nvPr/>
            </p:nvSpPr>
            <p:spPr>
              <a:xfrm>
                <a:off x="3727450" y="1576387"/>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sp>
            <p:nvSpPr>
              <p:cNvPr id="76" name="Freeform 76"/>
              <p:cNvSpPr/>
              <p:nvPr/>
            </p:nvSpPr>
            <p:spPr>
              <a:xfrm>
                <a:off x="3727450" y="1638300"/>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grpSp>
        <p:sp>
          <p:nvSpPr>
            <p:cNvPr id="78" name="TextBox 78"/>
            <p:cNvSpPr txBox="1"/>
            <p:nvPr/>
          </p:nvSpPr>
          <p:spPr>
            <a:xfrm>
              <a:off x="3400031" y="2002393"/>
              <a:ext cx="819937"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原料与炉况数据</a:t>
              </a:r>
            </a:p>
          </p:txBody>
        </p:sp>
        <p:sp>
          <p:nvSpPr>
            <p:cNvPr id="79" name="TextBox 79"/>
            <p:cNvSpPr txBox="1"/>
            <p:nvPr/>
          </p:nvSpPr>
          <p:spPr>
            <a:xfrm>
              <a:off x="3582226" y="2188607"/>
              <a:ext cx="455549" cy="354806"/>
            </a:xfrm>
            <a:prstGeom prst="rect">
              <a:avLst/>
            </a:prstGeom>
            <a:noFill/>
            <a:ln>
              <a:noFill/>
            </a:ln>
          </p:spPr>
          <p:txBody>
            <a:bodyPr wrap="none" lIns="0" tIns="0" rIns="0" bIns="0" anchor="t" anchorCtr="0">
              <a:spAutoFit/>
            </a:bodyPr>
            <a:lstStyle/>
            <a:p>
              <a:pPr algn="ctr" marL="76200" indent="-76200">
                <a:lnSpc>
                  <a:spcPts val="900"/>
                </a:lnSpc>
                <a:buClr>
                  <a:srgbClr val="573F3A"/>
                </a:buClr>
                <a:buSzTx/>
                <a:buFontTx/>
                <a:buChar char="•"/>
              </a:pPr>
              <a:r>
                <a:rPr lang="zh-CN" sz="640" dirty="0">
                  <a:solidFill>
                    <a:srgbClr val="573F3A"/>
                  </a:solidFill>
                  <a:latin typeface="+mn-lt"/>
                  <a:ea typeface="+mn-ea"/>
                  <a:cs typeface="+mn-cs"/>
                </a:rPr>
                <a:t>原料成分​</a:t>
              </a:r>
            </a:p>
            <a:p>
              <a:pPr algn="ctr" marL="76200" indent="-76200">
                <a:lnSpc>
                  <a:spcPts val="900"/>
                </a:lnSpc>
                <a:buClr>
                  <a:srgbClr val="573F3A"/>
                </a:buClr>
                <a:buSzTx/>
                <a:buFontTx/>
                <a:buChar char="•"/>
              </a:pPr>
              <a:r>
                <a:rPr lang="zh-CN" sz="640" dirty="0">
                  <a:solidFill>
                    <a:srgbClr val="573F3A"/>
                  </a:solidFill>
                  <a:latin typeface="+mn-lt"/>
                  <a:ea typeface="+mn-ea"/>
                  <a:cs typeface="+mn-cs"/>
                </a:rPr>
                <a:t>炉况参数​</a:t>
              </a:r>
            </a:p>
            <a:p>
              <a:pPr algn="ctr" marL="76200" indent="-76200">
                <a:lnSpc>
                  <a:spcPts val="900"/>
                </a:lnSpc>
                <a:buClr>
                  <a:srgbClr val="573F3A"/>
                </a:buClr>
                <a:buSzTx/>
                <a:buFontTx/>
                <a:buChar char="•"/>
              </a:pPr>
              <a:r>
                <a:rPr lang="zh-CN" sz="640" dirty="0">
                  <a:solidFill>
                    <a:srgbClr val="573F3A"/>
                  </a:solidFill>
                  <a:latin typeface="+mn-lt"/>
                  <a:ea typeface="+mn-ea"/>
                  <a:cs typeface="+mn-cs"/>
                </a:rPr>
                <a:t>过程数据​</a:t>
              </a:r>
            </a:p>
          </p:txBody>
        </p:sp>
        <p:sp>
          <p:nvSpPr>
            <p:cNvPr id="80" name="Line 80"/>
            <p:cNvSpPr/>
            <p:nvPr/>
          </p:nvSpPr>
          <p:spPr>
            <a:xfrm>
              <a:off x="4133850" y="1638300"/>
              <a:ext cx="571500" cy="1"/>
            </a:xfrm>
            <a:prstGeom prst="line">
              <a:avLst/>
            </a:prstGeom>
            <a:noFill/>
            <a:ln w="14288">
              <a:solidFill>
                <a:srgbClr val="9C331E"/>
              </a:solidFill>
              <a:tailEnd type="triangle" w="lg" len="lg"/>
            </a:ln>
          </p:spPr>
        </p:sp>
        <p:sp>
          <p:nvSpPr>
            <p:cNvPr id="81" name="Ellipse 81"/>
            <p:cNvSpPr/>
            <p:nvPr/>
          </p:nvSpPr>
          <p:spPr>
            <a:xfrm>
              <a:off x="4752975" y="1371600"/>
              <a:ext cx="533400" cy="533400"/>
            </a:xfrm>
            <a:prstGeom prst="ellipse">
              <a:avLst/>
            </a:prstGeom>
            <a:solidFill>
              <a:srgbClr val="D64A2E"/>
            </a:solidFill>
            <a:ln>
              <a:noFill/>
            </a:ln>
          </p:spPr>
        </p:sp>
        <p:grpSp>
          <p:nvGrpSpPr>
            <p:cNvPr id="84" name="Group 84"/>
            <p:cNvGrpSpPr/>
            <p:nvPr/>
          </p:nvGrpSpPr>
          <p:grpSpPr>
            <a:xfrm>
              <a:off x="4926806" y="1545431"/>
              <a:ext cx="185737" cy="185737"/>
              <a:chOff x="4926806" y="1545431"/>
              <a:chExt cx="185737" cy="185737"/>
            </a:xfrm>
          </p:grpSpPr>
          <p:sp>
            <p:nvSpPr>
              <p:cNvPr id="82" name="Freeform 82"/>
              <p:cNvSpPr/>
              <p:nvPr/>
            </p:nvSpPr>
            <p:spPr>
              <a:xfrm>
                <a:off x="4926806" y="1545431"/>
                <a:ext cx="144462" cy="144462"/>
              </a:xfrm>
              <a:custGeom>
                <a:avLst/>
                <a:gdLst/>
                <a:ahLst/>
                <a:cxnLst/>
                <a:rect l="l" t="t" r="r" b="b"/>
                <a:pathLst>
                  <a:path w="144462" h="144462">
                    <a:moveTo>
                      <a:pt x="0" y="72231"/>
                    </a:moveTo>
                    <a:cubicBezTo>
                      <a:pt x="0" y="112123"/>
                      <a:pt x="32339" y="144462"/>
                      <a:pt x="72231" y="144462"/>
                    </a:cubicBezTo>
                    <a:cubicBezTo>
                      <a:pt x="112123" y="144462"/>
                      <a:pt x="144462" y="112123"/>
                      <a:pt x="144462" y="72231"/>
                    </a:cubicBezTo>
                    <a:cubicBezTo>
                      <a:pt x="144462" y="32339"/>
                      <a:pt x="112123" y="0"/>
                      <a:pt x="72231" y="0"/>
                    </a:cubicBezTo>
                    <a:cubicBezTo>
                      <a:pt x="32339" y="0"/>
                      <a:pt x="0" y="32339"/>
                      <a:pt x="0" y="72231"/>
                    </a:cubicBezTo>
                  </a:path>
                </a:pathLst>
              </a:custGeom>
              <a:noFill/>
              <a:ln w="20637">
                <a:solidFill>
                  <a:srgbClr val="FFFFFF"/>
                </a:solidFill>
              </a:ln>
            </p:spPr>
          </p:sp>
          <p:sp>
            <p:nvSpPr>
              <p:cNvPr id="83" name="Freeform 83"/>
              <p:cNvSpPr/>
              <p:nvPr/>
            </p:nvSpPr>
            <p:spPr>
              <a:xfrm>
                <a:off x="5050631" y="1669256"/>
                <a:ext cx="61912" cy="61912"/>
              </a:xfrm>
              <a:custGeom>
                <a:avLst/>
                <a:gdLst/>
                <a:ahLst/>
                <a:cxnLst/>
                <a:rect l="l" t="t" r="r" b="b"/>
                <a:pathLst>
                  <a:path w="61912" h="61912">
                    <a:moveTo>
                      <a:pt x="61912" y="61912"/>
                    </a:moveTo>
                    <a:lnTo>
                      <a:pt x="0" y="0"/>
                    </a:lnTo>
                  </a:path>
                </a:pathLst>
              </a:custGeom>
              <a:noFill/>
              <a:ln w="20637">
                <a:solidFill>
                  <a:srgbClr val="FFFFFF"/>
                </a:solidFill>
              </a:ln>
            </p:spPr>
          </p:sp>
        </p:grpSp>
        <p:sp>
          <p:nvSpPr>
            <p:cNvPr id="85" name="TextBox 85"/>
            <p:cNvSpPr txBox="1"/>
            <p:nvPr/>
          </p:nvSpPr>
          <p:spPr>
            <a:xfrm>
              <a:off x="4783366" y="2002393"/>
              <a:ext cx="472618"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状态识别</a:t>
              </a:r>
            </a:p>
          </p:txBody>
        </p:sp>
        <p:sp>
          <p:nvSpPr>
            <p:cNvPr id="86" name="TextBox 86"/>
            <p:cNvSpPr txBox="1"/>
            <p:nvPr/>
          </p:nvSpPr>
          <p:spPr>
            <a:xfrm>
              <a:off x="4791900" y="2188607"/>
              <a:ext cx="455549" cy="354806"/>
            </a:xfrm>
            <a:prstGeom prst="rect">
              <a:avLst/>
            </a:prstGeom>
            <a:noFill/>
            <a:ln>
              <a:noFill/>
            </a:ln>
          </p:spPr>
          <p:txBody>
            <a:bodyPr wrap="none" lIns="0" tIns="0" rIns="0" bIns="0" anchor="t" anchorCtr="0">
              <a:spAutoFit/>
            </a:bodyPr>
            <a:lstStyle/>
            <a:p>
              <a:pPr algn="ctr" marL="76200" indent="-76200">
                <a:lnSpc>
                  <a:spcPts val="900"/>
                </a:lnSpc>
                <a:buClr>
                  <a:srgbClr val="573F3A"/>
                </a:buClr>
                <a:buSzTx/>
                <a:buFontTx/>
                <a:buChar char="•"/>
              </a:pPr>
              <a:r>
                <a:rPr lang="zh-CN" sz="640" dirty="0">
                  <a:solidFill>
                    <a:srgbClr val="573F3A"/>
                  </a:solidFill>
                  <a:latin typeface="+mn-lt"/>
                  <a:ea typeface="+mn-ea"/>
                  <a:cs typeface="+mn-cs"/>
                </a:rPr>
                <a:t>炉况诊断​</a:t>
              </a:r>
            </a:p>
            <a:p>
              <a:pPr algn="ctr" marL="76200" indent="-76200">
                <a:lnSpc>
                  <a:spcPts val="900"/>
                </a:lnSpc>
                <a:buClr>
                  <a:srgbClr val="573F3A"/>
                </a:buClr>
                <a:buSzTx/>
                <a:buFontTx/>
                <a:buChar char="•"/>
              </a:pPr>
              <a:r>
                <a:rPr lang="zh-CN" sz="640" dirty="0">
                  <a:solidFill>
                    <a:srgbClr val="573F3A"/>
                  </a:solidFill>
                  <a:latin typeface="+mn-lt"/>
                  <a:ea typeface="+mn-ea"/>
                  <a:cs typeface="+mn-cs"/>
                </a:rPr>
                <a:t>工况判断​</a:t>
              </a:r>
            </a:p>
            <a:p>
              <a:pPr algn="ctr" marL="76200" indent="-76200">
                <a:lnSpc>
                  <a:spcPts val="900"/>
                </a:lnSpc>
                <a:buClr>
                  <a:srgbClr val="573F3A"/>
                </a:buClr>
                <a:buSzTx/>
                <a:buFontTx/>
                <a:buChar char="•"/>
              </a:pPr>
              <a:r>
                <a:rPr lang="zh-CN" sz="640" dirty="0">
                  <a:solidFill>
                    <a:srgbClr val="573F3A"/>
                  </a:solidFill>
                  <a:latin typeface="+mn-lt"/>
                  <a:ea typeface="+mn-ea"/>
                  <a:cs typeface="+mn-cs"/>
                </a:rPr>
                <a:t>风险预警​</a:t>
              </a:r>
            </a:p>
          </p:txBody>
        </p:sp>
        <p:sp>
          <p:nvSpPr>
            <p:cNvPr id="87" name="Line 87"/>
            <p:cNvSpPr/>
            <p:nvPr/>
          </p:nvSpPr>
          <p:spPr>
            <a:xfrm>
              <a:off x="5343525" y="1638300"/>
              <a:ext cx="571500" cy="1"/>
            </a:xfrm>
            <a:prstGeom prst="line">
              <a:avLst/>
            </a:prstGeom>
            <a:noFill/>
            <a:ln w="14288">
              <a:solidFill>
                <a:srgbClr val="9C331E"/>
              </a:solidFill>
              <a:tailEnd type="triangle" w="lg" len="lg"/>
            </a:ln>
          </p:spPr>
        </p:sp>
        <p:sp>
          <p:nvSpPr>
            <p:cNvPr id="88" name="Ellipse 88"/>
            <p:cNvSpPr/>
            <p:nvPr/>
          </p:nvSpPr>
          <p:spPr>
            <a:xfrm>
              <a:off x="5962650" y="1371600"/>
              <a:ext cx="533400" cy="533400"/>
            </a:xfrm>
            <a:prstGeom prst="ellipse">
              <a:avLst/>
            </a:prstGeom>
            <a:solidFill>
              <a:srgbClr val="9C331E"/>
            </a:solidFill>
            <a:ln>
              <a:noFill/>
            </a:ln>
          </p:spPr>
        </p:sp>
        <p:grpSp>
          <p:nvGrpSpPr>
            <p:cNvPr id="91" name="Group 91"/>
            <p:cNvGrpSpPr/>
            <p:nvPr/>
          </p:nvGrpSpPr>
          <p:grpSpPr>
            <a:xfrm>
              <a:off x="6131951" y="1540901"/>
              <a:ext cx="194797" cy="194797"/>
              <a:chOff x="6131951" y="1540901"/>
              <a:chExt cx="194797" cy="194797"/>
            </a:xfrm>
          </p:grpSpPr>
          <p:sp>
            <p:nvSpPr>
              <p:cNvPr id="89" name="Freeform 89"/>
              <p:cNvSpPr/>
              <p:nvPr/>
            </p:nvSpPr>
            <p:spPr>
              <a:xfrm>
                <a:off x="6131951" y="1540901"/>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FFFFFF"/>
                </a:solidFill>
              </a:ln>
            </p:spPr>
          </p:sp>
          <p:sp>
            <p:nvSpPr>
              <p:cNvPr id="90" name="Freeform 90"/>
              <p:cNvSpPr/>
              <p:nvPr/>
            </p:nvSpPr>
            <p:spPr>
              <a:xfrm>
                <a:off x="6198393" y="1607343"/>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FFFFFF"/>
                </a:solidFill>
              </a:ln>
            </p:spPr>
          </p:sp>
        </p:grpSp>
        <p:sp>
          <p:nvSpPr>
            <p:cNvPr id="92" name="TextBox 92"/>
            <p:cNvSpPr txBox="1"/>
            <p:nvPr/>
          </p:nvSpPr>
          <p:spPr>
            <a:xfrm>
              <a:off x="5993041" y="2002393"/>
              <a:ext cx="472618"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参数建议</a:t>
              </a:r>
            </a:p>
          </p:txBody>
        </p:sp>
        <p:sp>
          <p:nvSpPr>
            <p:cNvPr id="93" name="TextBox 93"/>
            <p:cNvSpPr txBox="1"/>
            <p:nvPr/>
          </p:nvSpPr>
          <p:spPr>
            <a:xfrm>
              <a:off x="5920296" y="2188607"/>
              <a:ext cx="618109" cy="354806"/>
            </a:xfrm>
            <a:prstGeom prst="rect">
              <a:avLst/>
            </a:prstGeom>
            <a:noFill/>
            <a:ln>
              <a:noFill/>
            </a:ln>
          </p:spPr>
          <p:txBody>
            <a:bodyPr wrap="none" lIns="0" tIns="0" rIns="0" bIns="0" anchor="t" anchorCtr="0">
              <a:spAutoFit/>
            </a:bodyPr>
            <a:lstStyle/>
            <a:p>
              <a:pPr algn="ctr" marL="76200" indent="-76200">
                <a:lnSpc>
                  <a:spcPts val="900"/>
                </a:lnSpc>
                <a:buClr>
                  <a:srgbClr val="573F3A"/>
                </a:buClr>
                <a:buSzTx/>
                <a:buFontTx/>
                <a:buChar char="•"/>
              </a:pPr>
              <a:r>
                <a:rPr lang="zh-CN" sz="640" dirty="0">
                  <a:solidFill>
                    <a:srgbClr val="573F3A"/>
                  </a:solidFill>
                  <a:latin typeface="+mn-lt"/>
                  <a:ea typeface="+mn-ea"/>
                  <a:cs typeface="+mn-cs"/>
                </a:rPr>
                <a:t>工艺参数推荐​</a:t>
              </a:r>
            </a:p>
            <a:p>
              <a:pPr algn="ctr" marL="76200" indent="-76200">
                <a:lnSpc>
                  <a:spcPts val="900"/>
                </a:lnSpc>
                <a:buClr>
                  <a:srgbClr val="573F3A"/>
                </a:buClr>
                <a:buSzTx/>
                <a:buFontTx/>
                <a:buChar char="•"/>
              </a:pPr>
              <a:r>
                <a:rPr lang="zh-CN" sz="640" dirty="0">
                  <a:solidFill>
                    <a:srgbClr val="573F3A"/>
                  </a:solidFill>
                  <a:latin typeface="+mn-lt"/>
                  <a:ea typeface="+mn-ea"/>
                  <a:cs typeface="+mn-cs"/>
                </a:rPr>
                <a:t>多目标平衡</a:t>
              </a:r>
            </a:p>
            <a:p>
              <a:pPr algn="ctr" marL="76200" indent="-76200">
                <a:lnSpc>
                  <a:spcPts val="900"/>
                </a:lnSpc>
                <a:buClr>
                  <a:srgbClr val="573F3A"/>
                </a:buClr>
                <a:buSzTx/>
                <a:buFontTx/>
                <a:buChar char="•"/>
              </a:pPr>
              <a:r>
                <a:rPr lang="zh-CN" sz="640" dirty="0">
                  <a:solidFill>
                    <a:srgbClr val="573F3A"/>
                  </a:solidFill>
                  <a:latin typeface="+mn-lt"/>
                  <a:ea typeface="+mn-ea"/>
                  <a:cs typeface="+mn-cs"/>
                </a:rPr>
                <a:t>方案可解释</a:t>
              </a:r>
            </a:p>
          </p:txBody>
        </p:sp>
        <p:sp>
          <p:nvSpPr>
            <p:cNvPr id="94" name="Line 94"/>
            <p:cNvSpPr/>
            <p:nvPr/>
          </p:nvSpPr>
          <p:spPr>
            <a:xfrm>
              <a:off x="6553200" y="1638300"/>
              <a:ext cx="571500" cy="1"/>
            </a:xfrm>
            <a:prstGeom prst="line">
              <a:avLst/>
            </a:prstGeom>
            <a:noFill/>
            <a:ln w="14288">
              <a:solidFill>
                <a:srgbClr val="9C331E"/>
              </a:solidFill>
              <a:tailEnd type="triangle" w="lg" len="lg"/>
            </a:ln>
          </p:spPr>
        </p:sp>
        <p:sp>
          <p:nvSpPr>
            <p:cNvPr id="95" name="Ellipse 95"/>
            <p:cNvSpPr/>
            <p:nvPr/>
          </p:nvSpPr>
          <p:spPr>
            <a:xfrm>
              <a:off x="7172325" y="1371600"/>
              <a:ext cx="533400" cy="533400"/>
            </a:xfrm>
            <a:prstGeom prst="ellipse">
              <a:avLst/>
            </a:prstGeom>
            <a:solidFill>
              <a:srgbClr val="D64A2E"/>
            </a:solidFill>
            <a:ln>
              <a:noFill/>
            </a:ln>
          </p:spPr>
        </p:sp>
        <p:grpSp>
          <p:nvGrpSpPr>
            <p:cNvPr id="99" name="Group 99"/>
            <p:cNvGrpSpPr/>
            <p:nvPr/>
          </p:nvGrpSpPr>
          <p:grpSpPr>
            <a:xfrm>
              <a:off x="7377112" y="1545431"/>
              <a:ext cx="154781" cy="185737"/>
              <a:chOff x="7377112" y="1545431"/>
              <a:chExt cx="154781" cy="185737"/>
            </a:xfrm>
          </p:grpSpPr>
          <p:sp>
            <p:nvSpPr>
              <p:cNvPr id="96" name="Freeform 96"/>
              <p:cNvSpPr/>
              <p:nvPr/>
            </p:nvSpPr>
            <p:spPr>
              <a:xfrm>
                <a:off x="7397750" y="15454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97" name="Freeform 97"/>
              <p:cNvSpPr/>
              <p:nvPr/>
            </p:nvSpPr>
            <p:spPr>
              <a:xfrm>
                <a:off x="7377112" y="1669256"/>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FFFFFF"/>
                </a:solidFill>
              </a:ln>
            </p:spPr>
          </p:sp>
          <p:sp>
            <p:nvSpPr>
              <p:cNvPr id="98" name="Freeform 98"/>
              <p:cNvSpPr/>
              <p:nvPr/>
            </p:nvSpPr>
            <p:spPr>
              <a:xfrm>
                <a:off x="7469981" y="1689893"/>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100" name="TextBox 100"/>
            <p:cNvSpPr txBox="1"/>
            <p:nvPr/>
          </p:nvSpPr>
          <p:spPr>
            <a:xfrm>
              <a:off x="7202716" y="2002393"/>
              <a:ext cx="472618"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操作确认</a:t>
              </a:r>
            </a:p>
          </p:txBody>
        </p:sp>
        <p:sp>
          <p:nvSpPr>
            <p:cNvPr id="101" name="TextBox 101"/>
            <p:cNvSpPr txBox="1"/>
            <p:nvPr/>
          </p:nvSpPr>
          <p:spPr>
            <a:xfrm>
              <a:off x="7129970" y="2188607"/>
              <a:ext cx="618109" cy="354806"/>
            </a:xfrm>
            <a:prstGeom prst="rect">
              <a:avLst/>
            </a:prstGeom>
            <a:noFill/>
            <a:ln>
              <a:noFill/>
            </a:ln>
          </p:spPr>
          <p:txBody>
            <a:bodyPr wrap="none" lIns="0" tIns="0" rIns="0" bIns="0" anchor="t" anchorCtr="0">
              <a:spAutoFit/>
            </a:bodyPr>
            <a:lstStyle/>
            <a:p>
              <a:pPr algn="ctr" marL="76200" indent="-76200">
                <a:lnSpc>
                  <a:spcPts val="900"/>
                </a:lnSpc>
                <a:buClr>
                  <a:srgbClr val="573F3A"/>
                </a:buClr>
                <a:buSzTx/>
                <a:buFontTx/>
                <a:buChar char="•"/>
              </a:pPr>
              <a:r>
                <a:rPr lang="zh-CN" sz="640" dirty="0">
                  <a:solidFill>
                    <a:srgbClr val="573F3A"/>
                  </a:solidFill>
                  <a:latin typeface="+mn-lt"/>
                  <a:ea typeface="+mn-ea"/>
                  <a:cs typeface="+mn-cs"/>
                </a:rPr>
                <a:t>人机协同</a:t>
              </a:r>
            </a:p>
            <a:p>
              <a:pPr algn="ctr" marL="76200" indent="-76200">
                <a:lnSpc>
                  <a:spcPts val="900"/>
                </a:lnSpc>
                <a:buClr>
                  <a:srgbClr val="573F3A"/>
                </a:buClr>
                <a:buSzTx/>
                <a:buFontTx/>
                <a:buChar char="•"/>
              </a:pPr>
              <a:r>
                <a:rPr lang="zh-CN" sz="640" dirty="0">
                  <a:solidFill>
                    <a:srgbClr val="573F3A"/>
                  </a:solidFill>
                  <a:latin typeface="+mn-lt"/>
                  <a:ea typeface="+mn-ea"/>
                  <a:cs typeface="+mn-cs"/>
                </a:rPr>
                <a:t>操作人员确认​</a:t>
              </a:r>
            </a:p>
            <a:p>
              <a:pPr algn="ctr" marL="76200" indent="-76200">
                <a:lnSpc>
                  <a:spcPts val="900"/>
                </a:lnSpc>
                <a:buClr>
                  <a:srgbClr val="573F3A"/>
                </a:buClr>
                <a:buSzTx/>
                <a:buFontTx/>
                <a:buChar char="•"/>
              </a:pPr>
              <a:r>
                <a:rPr lang="zh-CN" sz="640" dirty="0">
                  <a:solidFill>
                    <a:srgbClr val="573F3A"/>
                  </a:solidFill>
                  <a:latin typeface="+mn-lt"/>
                  <a:ea typeface="+mn-ea"/>
                  <a:cs typeface="+mn-cs"/>
                </a:rPr>
                <a:t>执行与记录</a:t>
              </a:r>
            </a:p>
          </p:txBody>
        </p:sp>
        <p:sp>
          <p:nvSpPr>
            <p:cNvPr id="102" name="Line 102"/>
            <p:cNvSpPr/>
            <p:nvPr/>
          </p:nvSpPr>
          <p:spPr>
            <a:xfrm>
              <a:off x="7762875" y="1638300"/>
              <a:ext cx="571500" cy="1"/>
            </a:xfrm>
            <a:prstGeom prst="line">
              <a:avLst/>
            </a:prstGeom>
            <a:noFill/>
            <a:ln w="14288">
              <a:solidFill>
                <a:srgbClr val="9C331E"/>
              </a:solidFill>
              <a:tailEnd type="triangle" w="lg" len="lg"/>
            </a:ln>
          </p:spPr>
        </p:sp>
        <p:sp>
          <p:nvSpPr>
            <p:cNvPr id="103" name="Ellipse 103"/>
            <p:cNvSpPr/>
            <p:nvPr/>
          </p:nvSpPr>
          <p:spPr>
            <a:xfrm>
              <a:off x="8382000" y="1371600"/>
              <a:ext cx="533400" cy="533400"/>
            </a:xfrm>
            <a:prstGeom prst="ellipse">
              <a:avLst/>
            </a:prstGeom>
            <a:solidFill>
              <a:srgbClr val="9C331E"/>
            </a:solidFill>
            <a:ln>
              <a:noFill/>
            </a:ln>
          </p:spPr>
        </p:sp>
        <p:grpSp>
          <p:nvGrpSpPr>
            <p:cNvPr id="106" name="Group 106"/>
            <p:cNvGrpSpPr/>
            <p:nvPr/>
          </p:nvGrpSpPr>
          <p:grpSpPr>
            <a:xfrm>
              <a:off x="8566150" y="1551769"/>
              <a:ext cx="165099" cy="173061"/>
              <a:chOff x="8566150" y="1551769"/>
              <a:chExt cx="165099" cy="173061"/>
            </a:xfrm>
          </p:grpSpPr>
          <p:sp>
            <p:nvSpPr>
              <p:cNvPr id="104" name="Freeform 104"/>
              <p:cNvSpPr/>
              <p:nvPr/>
            </p:nvSpPr>
            <p:spPr>
              <a:xfrm>
                <a:off x="8566150" y="1551769"/>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FFFFFF"/>
                </a:solidFill>
              </a:ln>
            </p:spPr>
          </p:sp>
          <p:sp>
            <p:nvSpPr>
              <p:cNvPr id="105" name="Freeform 105"/>
              <p:cNvSpPr/>
              <p:nvPr/>
            </p:nvSpPr>
            <p:spPr>
              <a:xfrm>
                <a:off x="8566150" y="1648618"/>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FFFFFF"/>
                </a:solidFill>
              </a:ln>
            </p:spPr>
          </p:sp>
        </p:grpSp>
        <p:sp>
          <p:nvSpPr>
            <p:cNvPr id="107" name="TextBox 107"/>
            <p:cNvSpPr txBox="1"/>
            <p:nvPr/>
          </p:nvSpPr>
          <p:spPr>
            <a:xfrm>
              <a:off x="8296618" y="2002393"/>
              <a:ext cx="704164" cy="169069"/>
            </a:xfrm>
            <a:prstGeom prst="rect">
              <a:avLst/>
            </a:prstGeom>
            <a:noFill/>
            <a:ln>
              <a:noFill/>
            </a:ln>
          </p:spPr>
          <p:txBody>
            <a:bodyPr wrap="none" lIns="0" tIns="0" rIns="0" bIns="0" anchor="t" anchorCtr="0">
              <a:spAutoFit/>
            </a:bodyPr>
            <a:lstStyle/>
            <a:p>
              <a:pPr algn="ctr"/>
              <a:r>
                <a:rPr lang="zh-CN" sz="860" b="1" dirty="0">
                  <a:solidFill>
                    <a:srgbClr val="5E2114"/>
                  </a:solidFill>
                  <a:latin typeface="+mn-lt"/>
                  <a:ea typeface="+mn-ea"/>
                  <a:cs typeface="+mn-cs"/>
                </a:rPr>
                <a:t>质量能耗反馈</a:t>
              </a:r>
            </a:p>
          </p:txBody>
        </p:sp>
        <p:sp>
          <p:nvSpPr>
            <p:cNvPr id="108" name="TextBox 108"/>
            <p:cNvSpPr txBox="1"/>
            <p:nvPr/>
          </p:nvSpPr>
          <p:spPr>
            <a:xfrm>
              <a:off x="8420926" y="2188607"/>
              <a:ext cx="455549" cy="469106"/>
            </a:xfrm>
            <a:prstGeom prst="rect">
              <a:avLst/>
            </a:prstGeom>
            <a:noFill/>
            <a:ln>
              <a:noFill/>
            </a:ln>
          </p:spPr>
          <p:txBody>
            <a:bodyPr wrap="none" lIns="0" tIns="0" rIns="0" bIns="0" anchor="t" anchorCtr="0">
              <a:spAutoFit/>
            </a:bodyPr>
            <a:lstStyle/>
            <a:p>
              <a:pPr algn="ctr" marL="76200" indent="-76200">
                <a:lnSpc>
                  <a:spcPts val="900"/>
                </a:lnSpc>
                <a:buClr>
                  <a:srgbClr val="573F3A"/>
                </a:buClr>
                <a:buSzTx/>
                <a:buFontTx/>
                <a:buChar char="•"/>
              </a:pPr>
              <a:r>
                <a:rPr lang="zh-CN" sz="640" dirty="0">
                  <a:solidFill>
                    <a:srgbClr val="573F3A"/>
                  </a:solidFill>
                  <a:latin typeface="+mn-lt"/>
                  <a:ea typeface="+mn-ea"/>
                  <a:cs typeface="+mn-cs"/>
                </a:rPr>
                <a:t>产品质量​</a:t>
              </a:r>
            </a:p>
            <a:p>
              <a:pPr algn="ctr" marL="76200" indent="-76200">
                <a:lnSpc>
                  <a:spcPts val="900"/>
                </a:lnSpc>
                <a:buClr>
                  <a:srgbClr val="573F3A"/>
                </a:buClr>
                <a:buSzTx/>
                <a:buFontTx/>
                <a:buChar char="•"/>
              </a:pPr>
              <a:r>
                <a:rPr lang="zh-CN" sz="640" dirty="0">
                  <a:solidFill>
                    <a:srgbClr val="573F3A"/>
                  </a:solidFill>
                  <a:latin typeface="+mn-lt"/>
                  <a:ea typeface="+mn-ea"/>
                  <a:cs typeface="+mn-cs"/>
                </a:rPr>
                <a:t>单位能耗​</a:t>
              </a:r>
            </a:p>
            <a:p>
              <a:pPr algn="ctr" marL="76200" indent="-76200">
                <a:lnSpc>
                  <a:spcPts val="900"/>
                </a:lnSpc>
                <a:buClr>
                  <a:srgbClr val="573F3A"/>
                </a:buClr>
                <a:buSzTx/>
                <a:buFontTx/>
                <a:buChar char="•"/>
              </a:pPr>
              <a:r>
                <a:rPr lang="zh-CN" sz="640" dirty="0">
                  <a:solidFill>
                    <a:srgbClr val="573F3A"/>
                  </a:solidFill>
                  <a:latin typeface="+mn-lt"/>
                  <a:ea typeface="+mn-ea"/>
                  <a:cs typeface="+mn-cs"/>
                </a:rPr>
                <a:t>异常情况​</a:t>
              </a:r>
            </a:p>
            <a:p>
              <a:pPr algn="ctr" marL="76200" indent="-76200">
                <a:lnSpc>
                  <a:spcPts val="900"/>
                </a:lnSpc>
                <a:buClr>
                  <a:srgbClr val="573F3A"/>
                </a:buClr>
                <a:buSzTx/>
                <a:buFontTx/>
                <a:buChar char="•"/>
              </a:pPr>
              <a:r>
                <a:rPr lang="zh-CN" sz="640" dirty="0">
                  <a:solidFill>
                    <a:srgbClr val="573F3A"/>
                  </a:solidFill>
                  <a:latin typeface="+mn-lt"/>
                  <a:ea typeface="+mn-ea"/>
                  <a:cs typeface="+mn-cs"/>
                </a:rPr>
                <a:t>持续优化​</a:t>
              </a:r>
            </a:p>
          </p:txBody>
        </p:sp>
      </p:grpSp>
      <p:grpSp>
        <p:nvGrpSpPr>
          <p:cNvPr id="118" name="matrix-band"/>
          <p:cNvGrpSpPr/>
          <p:nvPr/>
        </p:nvGrpSpPr>
        <p:grpSpPr>
          <a:xfrm>
            <a:off x="3352800" y="2895600"/>
            <a:ext cx="5600700" cy="244078"/>
            <a:chOff x="3352800" y="2895600"/>
            <a:chExt cx="5600700" cy="244078"/>
          </a:xfrm>
        </p:grpSpPr>
        <p:sp>
          <p:nvSpPr>
            <p:cNvPr id="110" name="Rectangle 110"/>
            <p:cNvSpPr/>
            <p:nvPr/>
          </p:nvSpPr>
          <p:spPr>
            <a:xfrm>
              <a:off x="3352800" y="2895600"/>
              <a:ext cx="5600700" cy="228600"/>
            </a:xfrm>
            <a:prstGeom prst="roundRect">
              <a:avLst>
                <a:gd name="adj" fmla="val 16667"/>
              </a:avLst>
            </a:prstGeom>
            <a:gradFill>
              <a:gsLst>
                <a:gs pos="0">
                  <a:srgbClr val="6F2516"/>
                </a:gs>
                <a:gs pos="100000">
                  <a:srgbClr val="D64A2E"/>
                </a:gs>
              </a:gsLst>
              <a:lin ang="0" scaled="1"/>
            </a:gradFill>
            <a:ln>
              <a:noFill/>
            </a:ln>
          </p:spPr>
        </p:sp>
        <p:grpSp>
          <p:nvGrpSpPr>
            <p:cNvPr id="115" name="Group 115"/>
            <p:cNvGrpSpPr/>
            <p:nvPr/>
          </p:nvGrpSpPr>
          <p:grpSpPr>
            <a:xfrm>
              <a:off x="3464719" y="2965450"/>
              <a:ext cx="100012" cy="98425"/>
              <a:chOff x="3464719" y="2965450"/>
              <a:chExt cx="100012" cy="98425"/>
            </a:xfrm>
          </p:grpSpPr>
          <p:sp>
            <p:nvSpPr>
              <p:cNvPr id="111" name="Freeform 111"/>
              <p:cNvSpPr/>
              <p:nvPr/>
            </p:nvSpPr>
            <p:spPr>
              <a:xfrm>
                <a:off x="3464719" y="3009900"/>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FFFFFF"/>
                </a:solidFill>
              </a:ln>
            </p:spPr>
          </p:sp>
          <p:sp>
            <p:nvSpPr>
              <p:cNvPr id="112" name="Freeform 112"/>
              <p:cNvSpPr/>
              <p:nvPr/>
            </p:nvSpPr>
            <p:spPr>
              <a:xfrm>
                <a:off x="3531394" y="2987675"/>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FFFFFF"/>
                </a:solidFill>
              </a:ln>
            </p:spPr>
          </p:sp>
          <p:sp>
            <p:nvSpPr>
              <p:cNvPr id="113" name="Freeform 113"/>
              <p:cNvSpPr/>
              <p:nvPr/>
            </p:nvSpPr>
            <p:spPr>
              <a:xfrm>
                <a:off x="3498056" y="2965450"/>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FFFFFF"/>
                </a:solidFill>
              </a:ln>
            </p:spPr>
          </p:sp>
          <p:sp>
            <p:nvSpPr>
              <p:cNvPr id="114" name="Freeform 114"/>
              <p:cNvSpPr/>
              <p:nvPr/>
            </p:nvSpPr>
            <p:spPr>
              <a:xfrm>
                <a:off x="3470275" y="3054350"/>
                <a:ext cx="77787" cy="9525"/>
              </a:xfrm>
              <a:custGeom>
                <a:avLst/>
                <a:gdLst/>
                <a:ahLst/>
                <a:cxnLst/>
                <a:rect l="l" t="t" r="r" b="b"/>
                <a:pathLst>
                  <a:path w="77787" h="9525">
                    <a:moveTo>
                      <a:pt x="0" y="0"/>
                    </a:moveTo>
                    <a:lnTo>
                      <a:pt x="77787" y="0"/>
                    </a:lnTo>
                  </a:path>
                </a:pathLst>
              </a:custGeom>
              <a:noFill/>
              <a:ln w="11112">
                <a:solidFill>
                  <a:srgbClr val="FFFFFF"/>
                </a:solidFill>
              </a:ln>
            </p:spPr>
          </p:sp>
        </p:grpSp>
        <p:sp>
          <p:nvSpPr>
            <p:cNvPr id="116" name="TextBox 116"/>
            <p:cNvSpPr txBox="1"/>
            <p:nvPr/>
          </p:nvSpPr>
          <p:spPr>
            <a:xfrm>
              <a:off x="3633788" y="2956322"/>
              <a:ext cx="768782"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效果验证矩阵</a:t>
              </a:r>
            </a:p>
          </p:txBody>
        </p:sp>
        <p:sp>
          <p:nvSpPr>
            <p:cNvPr id="117" name="TextBox 117"/>
            <p:cNvSpPr txBox="1"/>
            <p:nvPr/>
          </p:nvSpPr>
          <p:spPr>
            <a:xfrm>
              <a:off x="7197458" y="2979182"/>
              <a:ext cx="1646504" cy="126206"/>
            </a:xfrm>
            <a:prstGeom prst="rect">
              <a:avLst/>
            </a:prstGeom>
            <a:noFill/>
            <a:ln>
              <a:noFill/>
            </a:ln>
          </p:spPr>
          <p:txBody>
            <a:bodyPr wrap="none" lIns="0" tIns="0" rIns="0" bIns="0" anchor="t" anchorCtr="0">
              <a:spAutoFit/>
            </a:bodyPr>
            <a:lstStyle/>
            <a:p>
              <a:pPr algn="r"/>
              <a:r>
                <a:rPr lang="zh-CN" sz="640" dirty="0">
                  <a:solidFill>
                    <a:srgbClr val="DCE9F8"/>
                  </a:solidFill>
                  <a:latin typeface="+mn-lt"/>
                  <a:ea typeface="+mn-ea"/>
                  <a:cs typeface="+mn-cs"/>
                </a:rPr>
                <a:t>需以连续炉次和质量能耗数据进行持续验证</a:t>
              </a:r>
            </a:p>
          </p:txBody>
        </p:sp>
      </p:grpSp>
      <p:grpSp>
        <p:nvGrpSpPr>
          <p:cNvPr id="154" name="matrix"/>
          <p:cNvGrpSpPr/>
          <p:nvPr/>
        </p:nvGrpSpPr>
        <p:grpSpPr>
          <a:xfrm>
            <a:off x="3352800" y="3200400"/>
            <a:ext cx="5600700" cy="2286000"/>
            <a:chOff x="3352800" y="3200400"/>
            <a:chExt cx="5600700" cy="2286000"/>
          </a:xfrm>
        </p:grpSpPr>
        <p:sp>
          <p:nvSpPr>
            <p:cNvPr id="119" name="Rectangle 119"/>
            <p:cNvSpPr/>
            <p:nvPr/>
          </p:nvSpPr>
          <p:spPr>
            <a:xfrm>
              <a:off x="3352800" y="3200400"/>
              <a:ext cx="5600700" cy="2286000"/>
            </a:xfrm>
            <a:prstGeom prst="rect">
              <a:avLst/>
            </a:prstGeom>
            <a:solidFill>
              <a:srgbClr val="FFFFFF"/>
            </a:solidFill>
            <a:ln w="9525">
              <a:solidFill>
                <a:srgbClr val="C7D9F0"/>
              </a:solidFill>
            </a:ln>
          </p:spPr>
        </p:sp>
        <p:sp>
          <p:nvSpPr>
            <p:cNvPr id="120" name="Rectangle 120"/>
            <p:cNvSpPr/>
            <p:nvPr/>
          </p:nvSpPr>
          <p:spPr>
            <a:xfrm>
              <a:off x="3352800" y="3200400"/>
              <a:ext cx="5600700" cy="285750"/>
            </a:xfrm>
            <a:prstGeom prst="rect">
              <a:avLst/>
            </a:prstGeom>
            <a:solidFill>
              <a:srgbClr val="632012"/>
            </a:solidFill>
            <a:ln>
              <a:noFill/>
            </a:ln>
          </p:spPr>
        </p:sp>
        <p:sp>
          <p:nvSpPr>
            <p:cNvPr id="121" name="TextBox 121"/>
            <p:cNvSpPr txBox="1"/>
            <p:nvPr/>
          </p:nvSpPr>
          <p:spPr>
            <a:xfrm>
              <a:off x="3500438" y="330184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指标维度</a:t>
              </a:r>
            </a:p>
          </p:txBody>
        </p:sp>
        <p:sp>
          <p:nvSpPr>
            <p:cNvPr id="122" name="TextBox 122"/>
            <p:cNvSpPr txBox="1"/>
            <p:nvPr/>
          </p:nvSpPr>
          <p:spPr>
            <a:xfrm>
              <a:off x="5361724" y="330184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基线</a:t>
              </a:r>
            </a:p>
          </p:txBody>
        </p:sp>
        <p:sp>
          <p:nvSpPr>
            <p:cNvPr id="123" name="TextBox 123"/>
            <p:cNvSpPr txBox="1"/>
            <p:nvPr/>
          </p:nvSpPr>
          <p:spPr>
            <a:xfrm>
              <a:off x="6697180" y="330184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上线后</a:t>
              </a:r>
            </a:p>
          </p:txBody>
        </p:sp>
        <p:sp>
          <p:nvSpPr>
            <p:cNvPr id="124" name="TextBox 124"/>
            <p:cNvSpPr txBox="1"/>
            <p:nvPr/>
          </p:nvSpPr>
          <p:spPr>
            <a:xfrm>
              <a:off x="8032636" y="330184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持续周期</a:t>
              </a:r>
            </a:p>
          </p:txBody>
        </p:sp>
        <p:sp>
          <p:nvSpPr>
            <p:cNvPr id="125" name="Rectangle 125"/>
            <p:cNvSpPr/>
            <p:nvPr/>
          </p:nvSpPr>
          <p:spPr>
            <a:xfrm>
              <a:off x="3352800" y="3886200"/>
              <a:ext cx="5600700" cy="400050"/>
            </a:xfrm>
            <a:prstGeom prst="rect">
              <a:avLst/>
            </a:prstGeom>
            <a:solidFill>
              <a:srgbClr val="F6F9FD"/>
            </a:solidFill>
            <a:ln>
              <a:noFill/>
            </a:ln>
          </p:spPr>
        </p:sp>
        <p:sp>
          <p:nvSpPr>
            <p:cNvPr id="126" name="Rectangle 126"/>
            <p:cNvSpPr/>
            <p:nvPr/>
          </p:nvSpPr>
          <p:spPr>
            <a:xfrm>
              <a:off x="3352800" y="4686300"/>
              <a:ext cx="5600700" cy="400050"/>
            </a:xfrm>
            <a:prstGeom prst="rect">
              <a:avLst/>
            </a:prstGeom>
            <a:solidFill>
              <a:srgbClr val="F6F9FD"/>
            </a:solidFill>
            <a:ln>
              <a:noFill/>
            </a:ln>
          </p:spPr>
        </p:sp>
        <p:sp>
          <p:nvSpPr>
            <p:cNvPr id="127" name="Line 127"/>
            <p:cNvSpPr/>
            <p:nvPr/>
          </p:nvSpPr>
          <p:spPr>
            <a:xfrm>
              <a:off x="4781550" y="3486150"/>
              <a:ext cx="9525" cy="2000250"/>
            </a:xfrm>
            <a:custGeom>
              <a:avLst/>
              <a:gdLst/>
              <a:ahLst/>
              <a:cxnLst/>
              <a:rect l="l" t="t" r="r" b="b"/>
              <a:pathLst>
                <a:path w="9525" h="2000250">
                  <a:moveTo>
                    <a:pt x="0" y="0"/>
                  </a:moveTo>
                  <a:lnTo>
                    <a:pt x="0" y="2000250"/>
                  </a:lnTo>
                </a:path>
              </a:pathLst>
            </a:custGeom>
            <a:noFill/>
            <a:ln w="9525">
              <a:solidFill>
                <a:srgbClr val="C7D9F0"/>
              </a:solidFill>
            </a:ln>
          </p:spPr>
        </p:sp>
        <p:sp>
          <p:nvSpPr>
            <p:cNvPr id="128" name="Line 128"/>
            <p:cNvSpPr/>
            <p:nvPr/>
          </p:nvSpPr>
          <p:spPr>
            <a:xfrm>
              <a:off x="6172200" y="3486150"/>
              <a:ext cx="9525" cy="2000250"/>
            </a:xfrm>
            <a:custGeom>
              <a:avLst/>
              <a:gdLst/>
              <a:ahLst/>
              <a:cxnLst/>
              <a:rect l="l" t="t" r="r" b="b"/>
              <a:pathLst>
                <a:path w="9525" h="2000250">
                  <a:moveTo>
                    <a:pt x="0" y="0"/>
                  </a:moveTo>
                  <a:lnTo>
                    <a:pt x="0" y="2000250"/>
                  </a:lnTo>
                </a:path>
              </a:pathLst>
            </a:custGeom>
            <a:noFill/>
            <a:ln w="9525">
              <a:solidFill>
                <a:srgbClr val="C7D9F0"/>
              </a:solidFill>
            </a:ln>
          </p:spPr>
        </p:sp>
        <p:sp>
          <p:nvSpPr>
            <p:cNvPr id="129" name="Line 129"/>
            <p:cNvSpPr/>
            <p:nvPr/>
          </p:nvSpPr>
          <p:spPr>
            <a:xfrm>
              <a:off x="7562850" y="3486150"/>
              <a:ext cx="9525" cy="2000250"/>
            </a:xfrm>
            <a:custGeom>
              <a:avLst/>
              <a:gdLst/>
              <a:ahLst/>
              <a:cxnLst/>
              <a:rect l="l" t="t" r="r" b="b"/>
              <a:pathLst>
                <a:path w="9525" h="2000250">
                  <a:moveTo>
                    <a:pt x="0" y="0"/>
                  </a:moveTo>
                  <a:lnTo>
                    <a:pt x="0" y="2000250"/>
                  </a:lnTo>
                </a:path>
              </a:pathLst>
            </a:custGeom>
            <a:noFill/>
            <a:ln w="9525">
              <a:solidFill>
                <a:srgbClr val="C7D9F0"/>
              </a:solidFill>
            </a:ln>
          </p:spPr>
        </p:sp>
        <p:sp>
          <p:nvSpPr>
            <p:cNvPr id="130" name="Line 130"/>
            <p:cNvSpPr/>
            <p:nvPr/>
          </p:nvSpPr>
          <p:spPr>
            <a:xfrm>
              <a:off x="3352800" y="3886200"/>
              <a:ext cx="5600700" cy="9525"/>
            </a:xfrm>
            <a:custGeom>
              <a:avLst/>
              <a:gdLst/>
              <a:ahLst/>
              <a:cxnLst/>
              <a:rect l="l" t="t" r="r" b="b"/>
              <a:pathLst>
                <a:path w="5600700" h="9525">
                  <a:moveTo>
                    <a:pt x="0" y="0"/>
                  </a:moveTo>
                  <a:lnTo>
                    <a:pt x="5600700" y="0"/>
                  </a:lnTo>
                </a:path>
              </a:pathLst>
            </a:custGeom>
            <a:noFill/>
            <a:ln w="9525">
              <a:solidFill>
                <a:srgbClr val="C7D9F0"/>
              </a:solidFill>
            </a:ln>
          </p:spPr>
        </p:sp>
        <p:sp>
          <p:nvSpPr>
            <p:cNvPr id="131" name="Line 131"/>
            <p:cNvSpPr/>
            <p:nvPr/>
          </p:nvSpPr>
          <p:spPr>
            <a:xfrm>
              <a:off x="3352800" y="4286250"/>
              <a:ext cx="5600700" cy="9525"/>
            </a:xfrm>
            <a:custGeom>
              <a:avLst/>
              <a:gdLst/>
              <a:ahLst/>
              <a:cxnLst/>
              <a:rect l="l" t="t" r="r" b="b"/>
              <a:pathLst>
                <a:path w="5600700" h="9525">
                  <a:moveTo>
                    <a:pt x="0" y="0"/>
                  </a:moveTo>
                  <a:lnTo>
                    <a:pt x="5600700" y="0"/>
                  </a:lnTo>
                </a:path>
              </a:pathLst>
            </a:custGeom>
            <a:noFill/>
            <a:ln w="9525">
              <a:solidFill>
                <a:srgbClr val="C7D9F0"/>
              </a:solidFill>
            </a:ln>
          </p:spPr>
        </p:sp>
        <p:sp>
          <p:nvSpPr>
            <p:cNvPr id="132" name="Line 132"/>
            <p:cNvSpPr/>
            <p:nvPr/>
          </p:nvSpPr>
          <p:spPr>
            <a:xfrm>
              <a:off x="3352800" y="4686300"/>
              <a:ext cx="5600700" cy="9525"/>
            </a:xfrm>
            <a:custGeom>
              <a:avLst/>
              <a:gdLst/>
              <a:ahLst/>
              <a:cxnLst/>
              <a:rect l="l" t="t" r="r" b="b"/>
              <a:pathLst>
                <a:path w="5600700" h="9525">
                  <a:moveTo>
                    <a:pt x="0" y="0"/>
                  </a:moveTo>
                  <a:lnTo>
                    <a:pt x="5600700" y="0"/>
                  </a:lnTo>
                </a:path>
              </a:pathLst>
            </a:custGeom>
            <a:noFill/>
            <a:ln w="9525">
              <a:solidFill>
                <a:srgbClr val="C7D9F0"/>
              </a:solidFill>
            </a:ln>
          </p:spPr>
        </p:sp>
        <p:sp>
          <p:nvSpPr>
            <p:cNvPr id="133" name="Line 133"/>
            <p:cNvSpPr/>
            <p:nvPr/>
          </p:nvSpPr>
          <p:spPr>
            <a:xfrm>
              <a:off x="3352800" y="5086350"/>
              <a:ext cx="5600700" cy="9525"/>
            </a:xfrm>
            <a:custGeom>
              <a:avLst/>
              <a:gdLst/>
              <a:ahLst/>
              <a:cxnLst/>
              <a:rect l="l" t="t" r="r" b="b"/>
              <a:pathLst>
                <a:path w="5600700" h="9525">
                  <a:moveTo>
                    <a:pt x="0" y="0"/>
                  </a:moveTo>
                  <a:lnTo>
                    <a:pt x="5600700" y="0"/>
                  </a:lnTo>
                </a:path>
              </a:pathLst>
            </a:custGeom>
            <a:noFill/>
            <a:ln w="9525">
              <a:solidFill>
                <a:srgbClr val="C7D9F0"/>
              </a:solidFill>
            </a:ln>
          </p:spPr>
        </p:sp>
        <p:sp>
          <p:nvSpPr>
            <p:cNvPr id="134" name="TextBox 134"/>
            <p:cNvSpPr txBox="1"/>
            <p:nvPr/>
          </p:nvSpPr>
          <p:spPr>
            <a:xfrm>
              <a:off x="3500438" y="3639264"/>
              <a:ext cx="434924" cy="154781"/>
            </a:xfrm>
            <a:prstGeom prst="rect">
              <a:avLst/>
            </a:prstGeom>
            <a:noFill/>
            <a:ln>
              <a:noFill/>
            </a:ln>
          </p:spPr>
          <p:txBody>
            <a:bodyPr wrap="none" lIns="0" tIns="0" rIns="0" bIns="0" anchor="t" anchorCtr="0">
              <a:spAutoFit/>
            </a:bodyPr>
            <a:lstStyle/>
            <a:p>
              <a:pPr algn="l"/>
              <a:r>
                <a:rPr lang="zh-CN" sz="790" b="1" dirty="0">
                  <a:solidFill>
                    <a:srgbClr val="5E2114"/>
                  </a:solidFill>
                  <a:latin typeface="+mn-lt"/>
                  <a:ea typeface="+mn-ea"/>
                  <a:cs typeface="+mn-cs"/>
                </a:rPr>
                <a:t>连续炉次</a:t>
              </a:r>
            </a:p>
          </p:txBody>
        </p:sp>
        <p:sp>
          <p:nvSpPr>
            <p:cNvPr id="135" name="TextBox 135"/>
            <p:cNvSpPr txBox="1"/>
            <p:nvPr/>
          </p:nvSpPr>
          <p:spPr>
            <a:xfrm>
              <a:off x="5320665" y="364331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36" name="TextBox 136"/>
            <p:cNvSpPr txBox="1"/>
            <p:nvPr/>
          </p:nvSpPr>
          <p:spPr>
            <a:xfrm>
              <a:off x="6711315" y="364331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37" name="TextBox 137"/>
            <p:cNvSpPr txBox="1"/>
            <p:nvPr/>
          </p:nvSpPr>
          <p:spPr>
            <a:xfrm>
              <a:off x="8101965" y="364331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38" name="TextBox 138"/>
            <p:cNvSpPr txBox="1"/>
            <p:nvPr/>
          </p:nvSpPr>
          <p:spPr>
            <a:xfrm>
              <a:off x="3500438" y="4039314"/>
              <a:ext cx="434924" cy="154781"/>
            </a:xfrm>
            <a:prstGeom prst="rect">
              <a:avLst/>
            </a:prstGeom>
            <a:noFill/>
            <a:ln>
              <a:noFill/>
            </a:ln>
          </p:spPr>
          <p:txBody>
            <a:bodyPr wrap="none" lIns="0" tIns="0" rIns="0" bIns="0" anchor="t" anchorCtr="0">
              <a:spAutoFit/>
            </a:bodyPr>
            <a:lstStyle/>
            <a:p>
              <a:pPr algn="l"/>
              <a:r>
                <a:rPr lang="zh-CN" sz="790" b="1" dirty="0">
                  <a:solidFill>
                    <a:srgbClr val="5E2114"/>
                  </a:solidFill>
                  <a:latin typeface="+mn-lt"/>
                  <a:ea typeface="+mn-ea"/>
                  <a:cs typeface="+mn-cs"/>
                </a:rPr>
                <a:t>产品质量</a:t>
              </a:r>
            </a:p>
          </p:txBody>
        </p:sp>
        <p:sp>
          <p:nvSpPr>
            <p:cNvPr id="139" name="TextBox 139"/>
            <p:cNvSpPr txBox="1"/>
            <p:nvPr/>
          </p:nvSpPr>
          <p:spPr>
            <a:xfrm>
              <a:off x="5320665" y="404336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40" name="TextBox 140"/>
            <p:cNvSpPr txBox="1"/>
            <p:nvPr/>
          </p:nvSpPr>
          <p:spPr>
            <a:xfrm>
              <a:off x="6711315" y="404336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41" name="TextBox 141"/>
            <p:cNvSpPr txBox="1"/>
            <p:nvPr/>
          </p:nvSpPr>
          <p:spPr>
            <a:xfrm>
              <a:off x="8101965" y="404336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42" name="TextBox 142"/>
            <p:cNvSpPr txBox="1"/>
            <p:nvPr/>
          </p:nvSpPr>
          <p:spPr>
            <a:xfrm>
              <a:off x="3500438" y="4439364"/>
              <a:ext cx="434924" cy="154781"/>
            </a:xfrm>
            <a:prstGeom prst="rect">
              <a:avLst/>
            </a:prstGeom>
            <a:noFill/>
            <a:ln>
              <a:noFill/>
            </a:ln>
          </p:spPr>
          <p:txBody>
            <a:bodyPr wrap="none" lIns="0" tIns="0" rIns="0" bIns="0" anchor="t" anchorCtr="0">
              <a:spAutoFit/>
            </a:bodyPr>
            <a:lstStyle/>
            <a:p>
              <a:pPr algn="l"/>
              <a:r>
                <a:rPr lang="zh-CN" sz="790" b="1" dirty="0">
                  <a:solidFill>
                    <a:srgbClr val="5E2114"/>
                  </a:solidFill>
                  <a:latin typeface="+mn-lt"/>
                  <a:ea typeface="+mn-ea"/>
                  <a:cs typeface="+mn-cs"/>
                </a:rPr>
                <a:t>单位能耗</a:t>
              </a:r>
            </a:p>
          </p:txBody>
        </p:sp>
        <p:sp>
          <p:nvSpPr>
            <p:cNvPr id="143" name="TextBox 143"/>
            <p:cNvSpPr txBox="1"/>
            <p:nvPr/>
          </p:nvSpPr>
          <p:spPr>
            <a:xfrm>
              <a:off x="5320665" y="444341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44" name="TextBox 144"/>
            <p:cNvSpPr txBox="1"/>
            <p:nvPr/>
          </p:nvSpPr>
          <p:spPr>
            <a:xfrm>
              <a:off x="6711315" y="444341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45" name="TextBox 145"/>
            <p:cNvSpPr txBox="1"/>
            <p:nvPr/>
          </p:nvSpPr>
          <p:spPr>
            <a:xfrm>
              <a:off x="8101965" y="444341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46" name="TextBox 146"/>
            <p:cNvSpPr txBox="1"/>
            <p:nvPr/>
          </p:nvSpPr>
          <p:spPr>
            <a:xfrm>
              <a:off x="3500438" y="4839414"/>
              <a:ext cx="328574" cy="154781"/>
            </a:xfrm>
            <a:prstGeom prst="rect">
              <a:avLst/>
            </a:prstGeom>
            <a:noFill/>
            <a:ln>
              <a:noFill/>
            </a:ln>
          </p:spPr>
          <p:txBody>
            <a:bodyPr wrap="none" lIns="0" tIns="0" rIns="0" bIns="0" anchor="t" anchorCtr="0">
              <a:spAutoFit/>
            </a:bodyPr>
            <a:lstStyle/>
            <a:p>
              <a:pPr algn="l"/>
              <a:r>
                <a:rPr lang="zh-CN" sz="790" b="1" dirty="0">
                  <a:solidFill>
                    <a:srgbClr val="5E2114"/>
                  </a:solidFill>
                  <a:latin typeface="+mn-lt"/>
                  <a:ea typeface="+mn-ea"/>
                  <a:cs typeface="+mn-cs"/>
                </a:rPr>
                <a:t>异常率</a:t>
              </a:r>
            </a:p>
          </p:txBody>
        </p:sp>
        <p:sp>
          <p:nvSpPr>
            <p:cNvPr id="147" name="TextBox 147"/>
            <p:cNvSpPr txBox="1"/>
            <p:nvPr/>
          </p:nvSpPr>
          <p:spPr>
            <a:xfrm>
              <a:off x="5320665" y="484346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48" name="TextBox 148"/>
            <p:cNvSpPr txBox="1"/>
            <p:nvPr/>
          </p:nvSpPr>
          <p:spPr>
            <a:xfrm>
              <a:off x="6711315" y="484346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49" name="TextBox 149"/>
            <p:cNvSpPr txBox="1"/>
            <p:nvPr/>
          </p:nvSpPr>
          <p:spPr>
            <a:xfrm>
              <a:off x="8101965" y="484346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50" name="TextBox 150"/>
            <p:cNvSpPr txBox="1"/>
            <p:nvPr/>
          </p:nvSpPr>
          <p:spPr>
            <a:xfrm>
              <a:off x="3500438" y="5239464"/>
              <a:ext cx="434924" cy="154781"/>
            </a:xfrm>
            <a:prstGeom prst="rect">
              <a:avLst/>
            </a:prstGeom>
            <a:noFill/>
            <a:ln>
              <a:noFill/>
            </a:ln>
          </p:spPr>
          <p:txBody>
            <a:bodyPr wrap="none" lIns="0" tIns="0" rIns="0" bIns="0" anchor="t" anchorCtr="0">
              <a:spAutoFit/>
            </a:bodyPr>
            <a:lstStyle/>
            <a:p>
              <a:pPr algn="l"/>
              <a:r>
                <a:rPr lang="zh-CN" sz="790" b="1" dirty="0">
                  <a:solidFill>
                    <a:srgbClr val="5E2114"/>
                  </a:solidFill>
                  <a:latin typeface="+mn-lt"/>
                  <a:ea typeface="+mn-ea"/>
                  <a:cs typeface="+mn-cs"/>
                </a:rPr>
                <a:t>人工接管</a:t>
              </a:r>
            </a:p>
          </p:txBody>
        </p:sp>
        <p:sp>
          <p:nvSpPr>
            <p:cNvPr id="151" name="TextBox 151"/>
            <p:cNvSpPr txBox="1"/>
            <p:nvPr/>
          </p:nvSpPr>
          <p:spPr>
            <a:xfrm>
              <a:off x="5320665" y="524351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52" name="TextBox 152"/>
            <p:cNvSpPr txBox="1"/>
            <p:nvPr/>
          </p:nvSpPr>
          <p:spPr>
            <a:xfrm>
              <a:off x="6711315" y="524351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sp>
          <p:nvSpPr>
            <p:cNvPr id="153" name="TextBox 153"/>
            <p:cNvSpPr txBox="1"/>
            <p:nvPr/>
          </p:nvSpPr>
          <p:spPr>
            <a:xfrm>
              <a:off x="8101965" y="5243512"/>
              <a:ext cx="312420" cy="147638"/>
            </a:xfrm>
            <a:prstGeom prst="rect">
              <a:avLst/>
            </a:prstGeom>
            <a:noFill/>
            <a:ln>
              <a:noFill/>
            </a:ln>
          </p:spPr>
          <p:txBody>
            <a:bodyPr wrap="none" lIns="0" tIns="0" rIns="0" bIns="0" anchor="t" anchorCtr="0">
              <a:spAutoFit/>
            </a:bodyPr>
            <a:lstStyle/>
            <a:p>
              <a:pPr algn="ctr"/>
              <a:r>
                <a:rPr lang="zh-CN" sz="750" dirty="0">
                  <a:solidFill>
                    <a:srgbClr val="9B807A"/>
                  </a:solidFill>
                  <a:latin typeface="+mn-lt"/>
                  <a:ea typeface="+mn-ea"/>
                  <a:cs typeface="+mn-cs"/>
                </a:rPr>
                <a:t>待公开</a:t>
              </a:r>
            </a:p>
          </p:txBody>
        </p:sp>
      </p:grpSp>
      <p:grpSp>
        <p:nvGrpSpPr>
          <p:cNvPr id="160" name="value-band"/>
          <p:cNvGrpSpPr/>
          <p:nvPr/>
        </p:nvGrpSpPr>
        <p:grpSpPr>
          <a:xfrm>
            <a:off x="9067800" y="1047750"/>
            <a:ext cx="2743200" cy="244078"/>
            <a:chOff x="9067800" y="1047750"/>
            <a:chExt cx="2743200" cy="244078"/>
          </a:xfrm>
        </p:grpSpPr>
        <p:sp>
          <p:nvSpPr>
            <p:cNvPr id="155" name="Rectangle 155"/>
            <p:cNvSpPr/>
            <p:nvPr/>
          </p:nvSpPr>
          <p:spPr>
            <a:xfrm>
              <a:off x="9067800" y="1047750"/>
              <a:ext cx="2743200" cy="228600"/>
            </a:xfrm>
            <a:prstGeom prst="roundRect">
              <a:avLst>
                <a:gd name="adj" fmla="val 16667"/>
              </a:avLst>
            </a:prstGeom>
            <a:gradFill>
              <a:gsLst>
                <a:gs pos="0">
                  <a:srgbClr val="6F2516"/>
                </a:gs>
                <a:gs pos="100000">
                  <a:srgbClr val="D64A2E"/>
                </a:gs>
              </a:gsLst>
              <a:lin ang="0" scaled="1"/>
            </a:gradFill>
            <a:ln>
              <a:noFill/>
            </a:ln>
          </p:spPr>
        </p:sp>
        <p:grpSp>
          <p:nvGrpSpPr>
            <p:cNvPr id="158" name="Group 158"/>
            <p:cNvGrpSpPr/>
            <p:nvPr/>
          </p:nvGrpSpPr>
          <p:grpSpPr>
            <a:xfrm>
              <a:off x="9179719" y="1123156"/>
              <a:ext cx="100012" cy="81733"/>
              <a:chOff x="9179719" y="1123156"/>
              <a:chExt cx="100012" cy="81733"/>
            </a:xfrm>
          </p:grpSpPr>
          <p:sp>
            <p:nvSpPr>
              <p:cNvPr id="156" name="Freeform 156"/>
              <p:cNvSpPr/>
              <p:nvPr/>
            </p:nvSpPr>
            <p:spPr>
              <a:xfrm>
                <a:off x="9179719" y="1123156"/>
                <a:ext cx="100012" cy="81733"/>
              </a:xfrm>
              <a:custGeom>
                <a:avLst/>
                <a:gdLst/>
                <a:ahLst/>
                <a:cxnLst/>
                <a:rect l="l" t="t" r="r" b="b"/>
                <a:pathLst>
                  <a:path w="100012" h="81733">
                    <a:moveTo>
                      <a:pt x="16669" y="0"/>
                    </a:moveTo>
                    <a:lnTo>
                      <a:pt x="83344" y="0"/>
                    </a:lnTo>
                    <a:lnTo>
                      <a:pt x="100012" y="27781"/>
                    </a:lnTo>
                    <a:lnTo>
                      <a:pt x="52784" y="80566"/>
                    </a:lnTo>
                    <a:cubicBezTo>
                      <a:pt x="52053" y="81312"/>
                      <a:pt x="51052" y="81733"/>
                      <a:pt x="50006" y="81733"/>
                    </a:cubicBezTo>
                    <a:cubicBezTo>
                      <a:pt x="48961" y="81733"/>
                      <a:pt x="47960" y="81312"/>
                      <a:pt x="47228" y="80566"/>
                    </a:cubicBezTo>
                    <a:lnTo>
                      <a:pt x="0" y="27781"/>
                    </a:lnTo>
                    <a:lnTo>
                      <a:pt x="16669" y="0"/>
                    </a:lnTo>
                  </a:path>
                </a:pathLst>
              </a:custGeom>
              <a:noFill/>
              <a:ln w="11112">
                <a:solidFill>
                  <a:srgbClr val="FFFFFF"/>
                </a:solidFill>
              </a:ln>
            </p:spPr>
          </p:sp>
          <p:sp>
            <p:nvSpPr>
              <p:cNvPr id="157" name="Freeform 157"/>
              <p:cNvSpPr/>
              <p:nvPr/>
            </p:nvSpPr>
            <p:spPr>
              <a:xfrm>
                <a:off x="9207500" y="1144270"/>
                <a:ext cx="11112" cy="17780"/>
              </a:xfrm>
              <a:custGeom>
                <a:avLst/>
                <a:gdLst/>
                <a:ahLst/>
                <a:cxnLst/>
                <a:rect l="l" t="t" r="r" b="b"/>
                <a:pathLst>
                  <a:path w="11112" h="17780">
                    <a:moveTo>
                      <a:pt x="11112" y="17780"/>
                    </a:moveTo>
                    <a:lnTo>
                      <a:pt x="0" y="5556"/>
                    </a:lnTo>
                    <a:lnTo>
                      <a:pt x="3334" y="0"/>
                    </a:lnTo>
                  </a:path>
                </a:pathLst>
              </a:custGeom>
              <a:noFill/>
              <a:ln w="11112">
                <a:solidFill>
                  <a:srgbClr val="FFFFFF"/>
                </a:solidFill>
              </a:ln>
            </p:spPr>
          </p:sp>
        </p:grpSp>
        <p:sp>
          <p:nvSpPr>
            <p:cNvPr id="159" name="TextBox 159"/>
            <p:cNvSpPr txBox="1"/>
            <p:nvPr/>
          </p:nvSpPr>
          <p:spPr>
            <a:xfrm>
              <a:off x="9348788" y="1108472"/>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关键价值</a:t>
              </a:r>
            </a:p>
          </p:txBody>
        </p:sp>
      </p:grpSp>
      <p:grpSp>
        <p:nvGrpSpPr>
          <p:cNvPr id="168" name="value-1"/>
          <p:cNvGrpSpPr/>
          <p:nvPr/>
        </p:nvGrpSpPr>
        <p:grpSpPr>
          <a:xfrm>
            <a:off x="9067800" y="1352550"/>
            <a:ext cx="2743200" cy="704850"/>
            <a:chOff x="9067800" y="1352550"/>
            <a:chExt cx="2743200" cy="704850"/>
          </a:xfrm>
        </p:grpSpPr>
        <p:sp>
          <p:nvSpPr>
            <p:cNvPr id="161" name="Rectangle 161"/>
            <p:cNvSpPr/>
            <p:nvPr/>
          </p:nvSpPr>
          <p:spPr>
            <a:xfrm>
              <a:off x="9067800" y="1352550"/>
              <a:ext cx="2743200" cy="704850"/>
            </a:xfrm>
            <a:prstGeom prst="roundRect">
              <a:avLst>
                <a:gd name="adj" fmla="val 8108"/>
              </a:avLst>
            </a:prstGeom>
            <a:solidFill>
              <a:srgbClr val="EFF5FC"/>
            </a:solidFill>
            <a:ln w="9525">
              <a:solidFill>
                <a:srgbClr val="C7D9F0"/>
              </a:solidFill>
            </a:ln>
          </p:spPr>
        </p:sp>
        <p:sp>
          <p:nvSpPr>
            <p:cNvPr id="162" name="Ellipse 162"/>
            <p:cNvSpPr/>
            <p:nvPr/>
          </p:nvSpPr>
          <p:spPr>
            <a:xfrm>
              <a:off x="9163050" y="1552575"/>
              <a:ext cx="304800" cy="304800"/>
            </a:xfrm>
            <a:prstGeom prst="ellipse">
              <a:avLst/>
            </a:prstGeom>
            <a:solidFill>
              <a:srgbClr val="9C331E"/>
            </a:solidFill>
            <a:ln>
              <a:noFill/>
            </a:ln>
          </p:spPr>
        </p:sp>
        <p:grpSp>
          <p:nvGrpSpPr>
            <p:cNvPr id="165" name="Group 165"/>
            <p:cNvGrpSpPr/>
            <p:nvPr/>
          </p:nvGrpSpPr>
          <p:grpSpPr>
            <a:xfrm>
              <a:off x="9251950" y="1657350"/>
              <a:ext cx="127000" cy="112712"/>
              <a:chOff x="9251950" y="1657350"/>
              <a:chExt cx="127000" cy="112712"/>
            </a:xfrm>
          </p:grpSpPr>
          <p:sp>
            <p:nvSpPr>
              <p:cNvPr id="163" name="Freeform 163"/>
              <p:cNvSpPr/>
              <p:nvPr/>
            </p:nvSpPr>
            <p:spPr>
              <a:xfrm>
                <a:off x="9251950" y="1760537"/>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64" name="Freeform 164"/>
              <p:cNvSpPr/>
              <p:nvPr/>
            </p:nvSpPr>
            <p:spPr>
              <a:xfrm>
                <a:off x="9251950" y="1657350"/>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FFFFFF"/>
                </a:solidFill>
              </a:ln>
            </p:spPr>
          </p:sp>
        </p:grpSp>
        <p:sp>
          <p:nvSpPr>
            <p:cNvPr id="166" name="TextBox 166"/>
            <p:cNvSpPr txBox="1"/>
            <p:nvPr/>
          </p:nvSpPr>
          <p:spPr>
            <a:xfrm>
              <a:off x="9558338" y="1503045"/>
              <a:ext cx="73647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提升决策质量</a:t>
              </a:r>
            </a:p>
          </p:txBody>
        </p:sp>
        <p:sp>
          <p:nvSpPr>
            <p:cNvPr id="167" name="TextBox 167"/>
            <p:cNvSpPr txBox="1"/>
            <p:nvPr/>
          </p:nvSpPr>
          <p:spPr>
            <a:xfrm>
              <a:off x="9558338" y="1698784"/>
              <a:ext cx="143878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基于实时数据的工艺参数建议，增强​</a:t>
              </a:r>
              <a:br/>
              <a:r>
                <a:rPr lang="zh-CN" sz="680" dirty="0">
                  <a:solidFill>
                    <a:srgbClr val="573F3A"/>
                  </a:solidFill>
                  <a:latin typeface="+mn-lt"/>
                  <a:ea typeface="+mn-ea"/>
                  <a:cs typeface="+mn-cs"/>
                </a:rPr>
                <a:t>炉前决策的稳定性与一致性。</a:t>
              </a:r>
            </a:p>
          </p:txBody>
        </p:sp>
      </p:grpSp>
      <p:grpSp>
        <p:nvGrpSpPr>
          <p:cNvPr id="176" name="value-2"/>
          <p:cNvGrpSpPr/>
          <p:nvPr/>
        </p:nvGrpSpPr>
        <p:grpSpPr>
          <a:xfrm>
            <a:off x="9067800" y="2133600"/>
            <a:ext cx="2743200" cy="704850"/>
            <a:chOff x="9067800" y="2133600"/>
            <a:chExt cx="2743200" cy="704850"/>
          </a:xfrm>
        </p:grpSpPr>
        <p:sp>
          <p:nvSpPr>
            <p:cNvPr id="169" name="Rectangle 169"/>
            <p:cNvSpPr/>
            <p:nvPr/>
          </p:nvSpPr>
          <p:spPr>
            <a:xfrm>
              <a:off x="9067800" y="2133600"/>
              <a:ext cx="2743200" cy="704850"/>
            </a:xfrm>
            <a:prstGeom prst="roundRect">
              <a:avLst>
                <a:gd name="adj" fmla="val 8108"/>
              </a:avLst>
            </a:prstGeom>
            <a:solidFill>
              <a:srgbClr val="EFF5FC"/>
            </a:solidFill>
            <a:ln w="9525">
              <a:solidFill>
                <a:srgbClr val="C7D9F0"/>
              </a:solidFill>
            </a:ln>
          </p:spPr>
        </p:sp>
        <p:sp>
          <p:nvSpPr>
            <p:cNvPr id="170" name="Ellipse 170"/>
            <p:cNvSpPr/>
            <p:nvPr/>
          </p:nvSpPr>
          <p:spPr>
            <a:xfrm>
              <a:off x="9163050" y="2333625"/>
              <a:ext cx="304800" cy="304800"/>
            </a:xfrm>
            <a:prstGeom prst="ellipse">
              <a:avLst/>
            </a:prstGeom>
            <a:solidFill>
              <a:srgbClr val="9C331E"/>
            </a:solidFill>
            <a:ln>
              <a:noFill/>
            </a:ln>
          </p:spPr>
        </p:sp>
        <p:grpSp>
          <p:nvGrpSpPr>
            <p:cNvPr id="173" name="Group 173"/>
            <p:cNvGrpSpPr/>
            <p:nvPr/>
          </p:nvGrpSpPr>
          <p:grpSpPr>
            <a:xfrm>
              <a:off x="9233300" y="2414587"/>
              <a:ext cx="155005" cy="142875"/>
              <a:chOff x="9233300" y="2414587"/>
              <a:chExt cx="155005" cy="142875"/>
            </a:xfrm>
          </p:grpSpPr>
          <p:sp>
            <p:nvSpPr>
              <p:cNvPr id="171" name="Freeform 171"/>
              <p:cNvSpPr/>
              <p:nvPr/>
            </p:nvSpPr>
            <p:spPr>
              <a:xfrm>
                <a:off x="9233300" y="2414587"/>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172" name="Freeform 172"/>
              <p:cNvSpPr/>
              <p:nvPr/>
            </p:nvSpPr>
            <p:spPr>
              <a:xfrm>
                <a:off x="9339262" y="2525712"/>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174" name="TextBox 174"/>
            <p:cNvSpPr txBox="1"/>
            <p:nvPr/>
          </p:nvSpPr>
          <p:spPr>
            <a:xfrm>
              <a:off x="9558338" y="2284095"/>
              <a:ext cx="73647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强化过程安全</a:t>
              </a:r>
            </a:p>
          </p:txBody>
        </p:sp>
        <p:sp>
          <p:nvSpPr>
            <p:cNvPr id="175" name="TextBox 175"/>
            <p:cNvSpPr txBox="1"/>
            <p:nvPr/>
          </p:nvSpPr>
          <p:spPr>
            <a:xfrm>
              <a:off x="9558338" y="2479834"/>
              <a:ext cx="143878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炉况状态识别与风险预警，降低异常​</a:t>
              </a:r>
              <a:br/>
              <a:r>
                <a:rPr lang="zh-CN" sz="680" dirty="0">
                  <a:solidFill>
                    <a:srgbClr val="573F3A"/>
                  </a:solidFill>
                  <a:latin typeface="+mn-lt"/>
                  <a:ea typeface="+mn-ea"/>
                  <a:cs typeface="+mn-cs"/>
                </a:rPr>
                <a:t>波动和操作风险。</a:t>
              </a:r>
            </a:p>
          </p:txBody>
        </p:sp>
      </p:grpSp>
      <p:grpSp>
        <p:nvGrpSpPr>
          <p:cNvPr id="185" name="value-3"/>
          <p:cNvGrpSpPr/>
          <p:nvPr/>
        </p:nvGrpSpPr>
        <p:grpSpPr>
          <a:xfrm>
            <a:off x="9067800" y="2914650"/>
            <a:ext cx="2743200" cy="704850"/>
            <a:chOff x="9067800" y="2914650"/>
            <a:chExt cx="2743200" cy="704850"/>
          </a:xfrm>
        </p:grpSpPr>
        <p:sp>
          <p:nvSpPr>
            <p:cNvPr id="177" name="Rectangle 177"/>
            <p:cNvSpPr/>
            <p:nvPr/>
          </p:nvSpPr>
          <p:spPr>
            <a:xfrm>
              <a:off x="9067800" y="2914650"/>
              <a:ext cx="2743200" cy="704850"/>
            </a:xfrm>
            <a:prstGeom prst="roundRect">
              <a:avLst>
                <a:gd name="adj" fmla="val 8108"/>
              </a:avLst>
            </a:prstGeom>
            <a:solidFill>
              <a:srgbClr val="EFF5FC"/>
            </a:solidFill>
            <a:ln w="9525">
              <a:solidFill>
                <a:srgbClr val="C7D9F0"/>
              </a:solidFill>
            </a:ln>
          </p:spPr>
        </p:sp>
        <p:sp>
          <p:nvSpPr>
            <p:cNvPr id="178" name="Ellipse 178"/>
            <p:cNvSpPr/>
            <p:nvPr/>
          </p:nvSpPr>
          <p:spPr>
            <a:xfrm>
              <a:off x="9163050" y="3114675"/>
              <a:ext cx="304800" cy="304800"/>
            </a:xfrm>
            <a:prstGeom prst="ellipse">
              <a:avLst/>
            </a:prstGeom>
            <a:solidFill>
              <a:srgbClr val="9C331E"/>
            </a:solidFill>
            <a:ln>
              <a:noFill/>
            </a:ln>
          </p:spPr>
        </p:sp>
        <p:grpSp>
          <p:nvGrpSpPr>
            <p:cNvPr id="182" name="Group 182"/>
            <p:cNvGrpSpPr/>
            <p:nvPr/>
          </p:nvGrpSpPr>
          <p:grpSpPr>
            <a:xfrm>
              <a:off x="9244012" y="3203575"/>
              <a:ext cx="142875" cy="127000"/>
              <a:chOff x="9244012" y="3203575"/>
              <a:chExt cx="142875" cy="127000"/>
            </a:xfrm>
          </p:grpSpPr>
          <p:sp>
            <p:nvSpPr>
              <p:cNvPr id="179" name="Freeform 179"/>
              <p:cNvSpPr/>
              <p:nvPr/>
            </p:nvSpPr>
            <p:spPr>
              <a:xfrm>
                <a:off x="9244012" y="3203575"/>
                <a:ext cx="71437" cy="63500"/>
              </a:xfrm>
              <a:custGeom>
                <a:avLst/>
                <a:gdLst/>
                <a:ahLst/>
                <a:cxnLst/>
                <a:rect l="l" t="t" r="r" b="b"/>
                <a:pathLst>
                  <a:path w="71437" h="63500">
                    <a:moveTo>
                      <a:pt x="71437" y="47625"/>
                    </a:moveTo>
                    <a:cubicBezTo>
                      <a:pt x="71437" y="21322"/>
                      <a:pt x="50115" y="0"/>
                      <a:pt x="23812" y="0"/>
                    </a:cubicBezTo>
                    <a:lnTo>
                      <a:pt x="0" y="0"/>
                    </a:lnTo>
                    <a:lnTo>
                      <a:pt x="0" y="15875"/>
                    </a:lnTo>
                    <a:cubicBezTo>
                      <a:pt x="0" y="42178"/>
                      <a:pt x="21322" y="63500"/>
                      <a:pt x="47625" y="63500"/>
                    </a:cubicBezTo>
                    <a:lnTo>
                      <a:pt x="71437" y="63500"/>
                    </a:lnTo>
                  </a:path>
                </a:pathLst>
              </a:custGeom>
              <a:noFill/>
              <a:ln w="15875">
                <a:solidFill>
                  <a:srgbClr val="FFFFFF"/>
                </a:solidFill>
              </a:ln>
            </p:spPr>
          </p:sp>
          <p:sp>
            <p:nvSpPr>
              <p:cNvPr id="180" name="Freeform 180"/>
              <p:cNvSpPr/>
              <p:nvPr/>
            </p:nvSpPr>
            <p:spPr>
              <a:xfrm>
                <a:off x="9315450" y="3235325"/>
                <a:ext cx="71437" cy="55562"/>
              </a:xfrm>
              <a:custGeom>
                <a:avLst/>
                <a:gdLst/>
                <a:ahLst/>
                <a:cxnLst/>
                <a:rect l="l" t="t" r="r" b="b"/>
                <a:pathLst>
                  <a:path w="71437" h="55562">
                    <a:moveTo>
                      <a:pt x="0" y="47625"/>
                    </a:moveTo>
                    <a:cubicBezTo>
                      <a:pt x="0" y="21322"/>
                      <a:pt x="21322" y="0"/>
                      <a:pt x="47625" y="0"/>
                    </a:cubicBezTo>
                    <a:lnTo>
                      <a:pt x="71437" y="0"/>
                    </a:lnTo>
                    <a:lnTo>
                      <a:pt x="71437" y="7937"/>
                    </a:lnTo>
                    <a:cubicBezTo>
                      <a:pt x="71437" y="34240"/>
                      <a:pt x="50115" y="55562"/>
                      <a:pt x="23812" y="55562"/>
                    </a:cubicBezTo>
                    <a:lnTo>
                      <a:pt x="0" y="55562"/>
                    </a:lnTo>
                  </a:path>
                </a:pathLst>
              </a:custGeom>
              <a:noFill/>
              <a:ln w="15875">
                <a:solidFill>
                  <a:srgbClr val="FFFFFF"/>
                </a:solidFill>
              </a:ln>
            </p:spPr>
          </p:sp>
          <p:sp>
            <p:nvSpPr>
              <p:cNvPr id="181" name="Freeform 181"/>
              <p:cNvSpPr/>
              <p:nvPr/>
            </p:nvSpPr>
            <p:spPr>
              <a:xfrm>
                <a:off x="9315450" y="3251200"/>
                <a:ext cx="9525" cy="79375"/>
              </a:xfrm>
              <a:custGeom>
                <a:avLst/>
                <a:gdLst/>
                <a:ahLst/>
                <a:cxnLst/>
                <a:rect l="l" t="t" r="r" b="b"/>
                <a:pathLst>
                  <a:path w="9525" h="79375">
                    <a:moveTo>
                      <a:pt x="0" y="79375"/>
                    </a:moveTo>
                    <a:lnTo>
                      <a:pt x="0" y="0"/>
                    </a:lnTo>
                  </a:path>
                </a:pathLst>
              </a:custGeom>
              <a:noFill/>
              <a:ln w="15875">
                <a:solidFill>
                  <a:srgbClr val="FFFFFF"/>
                </a:solidFill>
              </a:ln>
            </p:spPr>
          </p:sp>
        </p:grpSp>
        <p:sp>
          <p:nvSpPr>
            <p:cNvPr id="183" name="TextBox 183"/>
            <p:cNvSpPr txBox="1"/>
            <p:nvPr/>
          </p:nvSpPr>
          <p:spPr>
            <a:xfrm>
              <a:off x="9558338" y="3065145"/>
              <a:ext cx="73647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支撑绿色低碳</a:t>
              </a:r>
            </a:p>
          </p:txBody>
        </p:sp>
        <p:sp>
          <p:nvSpPr>
            <p:cNvPr id="184" name="TextBox 184"/>
            <p:cNvSpPr txBox="1"/>
            <p:nvPr/>
          </p:nvSpPr>
          <p:spPr>
            <a:xfrm>
              <a:off x="9558338" y="3260884"/>
              <a:ext cx="143878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优化工艺控制，助力降低能耗与碳排​</a:t>
              </a:r>
              <a:br/>
              <a:r>
                <a:rPr lang="zh-CN" sz="680" dirty="0">
                  <a:solidFill>
                    <a:srgbClr val="573F3A"/>
                  </a:solidFill>
                  <a:latin typeface="+mn-lt"/>
                  <a:ea typeface="+mn-ea"/>
                  <a:cs typeface="+mn-cs"/>
                </a:rPr>
                <a:t>放，推动高质量发展。</a:t>
              </a:r>
            </a:p>
          </p:txBody>
        </p:sp>
      </p:grpSp>
      <p:grpSp>
        <p:nvGrpSpPr>
          <p:cNvPr id="197" name="conclusion"/>
          <p:cNvGrpSpPr/>
          <p:nvPr/>
        </p:nvGrpSpPr>
        <p:grpSpPr>
          <a:xfrm>
            <a:off x="9067800" y="3714750"/>
            <a:ext cx="2743200" cy="1771650"/>
            <a:chOff x="9067800" y="3714750"/>
            <a:chExt cx="2743200" cy="1771650"/>
          </a:xfrm>
        </p:grpSpPr>
        <p:sp>
          <p:nvSpPr>
            <p:cNvPr id="186" name="Rectangle 186"/>
            <p:cNvSpPr/>
            <p:nvPr/>
          </p:nvSpPr>
          <p:spPr>
            <a:xfrm>
              <a:off x="9067800" y="3714750"/>
              <a:ext cx="2743200" cy="1771650"/>
            </a:xfrm>
            <a:prstGeom prst="roundRect">
              <a:avLst>
                <a:gd name="adj" fmla="val 3226"/>
              </a:avLst>
            </a:prstGeom>
            <a:solidFill>
              <a:srgbClr val="EFF5FC"/>
            </a:solidFill>
            <a:ln w="9525">
              <a:solidFill>
                <a:srgbClr val="C7D9F0"/>
              </a:solidFill>
            </a:ln>
          </p:spPr>
        </p:sp>
        <p:sp>
          <p:nvSpPr>
            <p:cNvPr id="187" name="Rectangle 187"/>
            <p:cNvSpPr/>
            <p:nvPr/>
          </p:nvSpPr>
          <p:spPr>
            <a:xfrm>
              <a:off x="9067800" y="3714750"/>
              <a:ext cx="2743200" cy="247650"/>
            </a:xfrm>
            <a:prstGeom prst="roundRect">
              <a:avLst>
                <a:gd name="adj" fmla="val 23077"/>
              </a:avLst>
            </a:prstGeom>
            <a:solidFill>
              <a:srgbClr val="632012"/>
            </a:solidFill>
            <a:ln>
              <a:noFill/>
            </a:ln>
          </p:spPr>
        </p:sp>
        <p:grpSp>
          <p:nvGrpSpPr>
            <p:cNvPr id="191" name="Group 191"/>
            <p:cNvGrpSpPr/>
            <p:nvPr/>
          </p:nvGrpSpPr>
          <p:grpSpPr>
            <a:xfrm>
              <a:off x="9179719" y="3788569"/>
              <a:ext cx="100012" cy="100012"/>
              <a:chOff x="9179719" y="3788569"/>
              <a:chExt cx="100012" cy="100012"/>
            </a:xfrm>
          </p:grpSpPr>
          <p:sp>
            <p:nvSpPr>
              <p:cNvPr id="188" name="Freeform 188"/>
              <p:cNvSpPr/>
              <p:nvPr/>
            </p:nvSpPr>
            <p:spPr>
              <a:xfrm>
                <a:off x="9179719" y="3788569"/>
                <a:ext cx="100012" cy="50006"/>
              </a:xfrm>
              <a:custGeom>
                <a:avLst/>
                <a:gdLst/>
                <a:ahLst/>
                <a:cxnLst/>
                <a:rect l="l" t="t" r="r" b="b"/>
                <a:pathLst>
                  <a:path w="100012" h="50006">
                    <a:moveTo>
                      <a:pt x="0" y="50006"/>
                    </a:moveTo>
                    <a:lnTo>
                      <a:pt x="5556" y="50006"/>
                    </a:lnTo>
                    <a:moveTo>
                      <a:pt x="50006" y="0"/>
                    </a:moveTo>
                    <a:lnTo>
                      <a:pt x="50006" y="5556"/>
                    </a:lnTo>
                    <a:moveTo>
                      <a:pt x="94456" y="50006"/>
                    </a:moveTo>
                    <a:lnTo>
                      <a:pt x="100012" y="50006"/>
                    </a:lnTo>
                    <a:moveTo>
                      <a:pt x="14446" y="14446"/>
                    </a:moveTo>
                    <a:lnTo>
                      <a:pt x="18336" y="18336"/>
                    </a:lnTo>
                    <a:moveTo>
                      <a:pt x="85566" y="14446"/>
                    </a:moveTo>
                    <a:lnTo>
                      <a:pt x="81677" y="18336"/>
                    </a:lnTo>
                  </a:path>
                </a:pathLst>
              </a:custGeom>
              <a:noFill/>
              <a:ln w="11112">
                <a:solidFill>
                  <a:srgbClr val="FFFFFF"/>
                </a:solidFill>
              </a:ln>
            </p:spPr>
          </p:sp>
          <p:sp>
            <p:nvSpPr>
              <p:cNvPr id="189" name="Freeform 189"/>
              <p:cNvSpPr/>
              <p:nvPr/>
            </p:nvSpPr>
            <p:spPr>
              <a:xfrm>
                <a:off x="9199588" y="3810794"/>
                <a:ext cx="60274" cy="77787"/>
              </a:xfrm>
              <a:custGeom>
                <a:avLst/>
                <a:gdLst/>
                <a:ahLst/>
                <a:cxnLst/>
                <a:rect l="l" t="t" r="r" b="b"/>
                <a:pathLst>
                  <a:path w="60274" h="77787">
                    <a:moveTo>
                      <a:pt x="13468" y="50006"/>
                    </a:moveTo>
                    <a:cubicBezTo>
                      <a:pt x="3902" y="42831"/>
                      <a:pt x="0" y="30340"/>
                      <a:pt x="3781" y="18996"/>
                    </a:cubicBezTo>
                    <a:cubicBezTo>
                      <a:pt x="7563" y="7652"/>
                      <a:pt x="18179" y="0"/>
                      <a:pt x="30137" y="0"/>
                    </a:cubicBezTo>
                    <a:cubicBezTo>
                      <a:pt x="42095" y="0"/>
                      <a:pt x="52711" y="7652"/>
                      <a:pt x="56493" y="18996"/>
                    </a:cubicBezTo>
                    <a:cubicBezTo>
                      <a:pt x="60274" y="30340"/>
                      <a:pt x="56372" y="42831"/>
                      <a:pt x="46806" y="50006"/>
                    </a:cubicBezTo>
                    <a:cubicBezTo>
                      <a:pt x="42406" y="54361"/>
                      <a:pt x="40343" y="60551"/>
                      <a:pt x="41250" y="66675"/>
                    </a:cubicBezTo>
                    <a:cubicBezTo>
                      <a:pt x="41250" y="72812"/>
                      <a:pt x="36274" y="77787"/>
                      <a:pt x="30137" y="77787"/>
                    </a:cubicBezTo>
                    <a:cubicBezTo>
                      <a:pt x="24000" y="77787"/>
                      <a:pt x="19025" y="72812"/>
                      <a:pt x="19025" y="66675"/>
                    </a:cubicBezTo>
                    <a:cubicBezTo>
                      <a:pt x="19931" y="60551"/>
                      <a:pt x="17868" y="54361"/>
                      <a:pt x="13468" y="50006"/>
                    </a:cubicBezTo>
                  </a:path>
                </a:pathLst>
              </a:custGeom>
              <a:noFill/>
              <a:ln w="11112">
                <a:solidFill>
                  <a:srgbClr val="FFFFFF"/>
                </a:solidFill>
              </a:ln>
            </p:spPr>
          </p:sp>
          <p:sp>
            <p:nvSpPr>
              <p:cNvPr id="190" name="Freeform 190"/>
              <p:cNvSpPr/>
              <p:nvPr/>
            </p:nvSpPr>
            <p:spPr>
              <a:xfrm>
                <a:off x="9216946" y="3866356"/>
                <a:ext cx="25559" cy="9525"/>
              </a:xfrm>
              <a:custGeom>
                <a:avLst/>
                <a:gdLst/>
                <a:ahLst/>
                <a:cxnLst/>
                <a:rect l="l" t="t" r="r" b="b"/>
                <a:pathLst>
                  <a:path w="25559" h="9525">
                    <a:moveTo>
                      <a:pt x="0" y="0"/>
                    </a:moveTo>
                    <a:lnTo>
                      <a:pt x="25559" y="0"/>
                    </a:lnTo>
                  </a:path>
                </a:pathLst>
              </a:custGeom>
              <a:noFill/>
              <a:ln w="11112">
                <a:solidFill>
                  <a:srgbClr val="FFFFFF"/>
                </a:solidFill>
              </a:ln>
            </p:spPr>
          </p:sp>
        </p:grpSp>
        <p:sp>
          <p:nvSpPr>
            <p:cNvPr id="192" name="TextBox 192"/>
            <p:cNvSpPr txBox="1"/>
            <p:nvPr/>
          </p:nvSpPr>
          <p:spPr>
            <a:xfrm>
              <a:off x="9348788" y="3789045"/>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核心结论</a:t>
              </a:r>
            </a:p>
          </p:txBody>
        </p:sp>
        <p:sp>
          <p:nvSpPr>
            <p:cNvPr id="193" name="TextBox 193"/>
            <p:cNvSpPr txBox="1"/>
            <p:nvPr/>
          </p:nvSpPr>
          <p:spPr>
            <a:xfrm>
              <a:off x="9188196" y="4030028"/>
              <a:ext cx="235374" cy="498729"/>
            </a:xfrm>
            <a:prstGeom prst="rect">
              <a:avLst/>
            </a:prstGeom>
            <a:noFill/>
            <a:ln>
              <a:noFill/>
            </a:ln>
          </p:spPr>
          <p:txBody>
            <a:bodyPr wrap="none" lIns="0" tIns="0" rIns="0" bIns="0" anchor="t" anchorCtr="0">
              <a:spAutoFit/>
            </a:bodyPr>
            <a:lstStyle/>
            <a:p>
              <a:pPr algn="l"/>
              <a:r>
                <a:rPr lang="zh-CN" sz="2550" b="1" dirty="0">
                  <a:solidFill>
                    <a:srgbClr val="DE715B"/>
                  </a:solidFill>
                  <a:latin typeface="+mj-lt"/>
                  <a:ea typeface="+mj-ea"/>
                  <a:cs typeface="+mj-cs"/>
                </a:rPr>
                <a:t>“</a:t>
              </a:r>
            </a:p>
          </p:txBody>
        </p:sp>
        <p:sp>
          <p:nvSpPr>
            <p:cNvPr id="194" name="TextBox 194"/>
            <p:cNvSpPr txBox="1"/>
            <p:nvPr/>
          </p:nvSpPr>
          <p:spPr>
            <a:xfrm>
              <a:off x="9424797" y="4200049"/>
              <a:ext cx="1201922" cy="762190"/>
            </a:xfrm>
            <a:prstGeom prst="rect">
              <a:avLst/>
            </a:prstGeom>
            <a:noFill/>
            <a:ln>
              <a:noFill/>
            </a:ln>
          </p:spPr>
          <p:txBody>
            <a:bodyPr wrap="none" lIns="0" tIns="0" rIns="0" bIns="0" anchor="t" anchorCtr="0">
              <a:spAutoFit/>
            </a:bodyPr>
            <a:lstStyle/>
            <a:p>
              <a:pPr algn="l">
                <a:lnSpc>
                  <a:spcPts val="1500"/>
                </a:lnSpc>
              </a:pPr>
              <a:r>
                <a:rPr lang="zh-CN" sz="980" b="1" dirty="0">
                  <a:solidFill>
                    <a:srgbClr val="5E2114"/>
                  </a:solidFill>
                  <a:latin typeface="+mn-lt"/>
                  <a:ea typeface="+mn-ea"/>
                  <a:cs typeface="+mn-cs"/>
                </a:rPr>
                <a:t>进入高频核心工序的​</a:t>
              </a:r>
              <a:br/>
              <a:r>
                <a:rPr lang="zh-CN" sz="980" b="1" dirty="0">
                  <a:solidFill>
                    <a:srgbClr val="5E2114"/>
                  </a:solidFill>
                  <a:latin typeface="+mn-lt"/>
                  <a:ea typeface="+mn-ea"/>
                  <a:cs typeface="+mn-cs"/>
                </a:rPr>
                <a:t>价值潜力高，</a:t>
              </a:r>
              <a:br/>
              <a:r>
                <a:rPr lang="zh-CN" sz="980" b="1" dirty="0">
                  <a:solidFill>
                    <a:srgbClr val="9C331E"/>
                  </a:solidFill>
                  <a:latin typeface="+mn-lt"/>
                  <a:ea typeface="+mn-ea"/>
                  <a:cs typeface="+mn-cs"/>
                </a:rPr>
                <a:t>但必须用连续炉次和​</a:t>
              </a:r>
              <a:br/>
              <a:r>
                <a:rPr lang="zh-CN" sz="980" b="1" dirty="0">
                  <a:solidFill>
                    <a:srgbClr val="9C331E"/>
                  </a:solidFill>
                  <a:latin typeface="+mn-lt"/>
                  <a:ea typeface="+mn-ea"/>
                  <a:cs typeface="+mn-cs"/>
                </a:rPr>
                <a:t>质量能耗数据验证。​</a:t>
              </a:r>
            </a:p>
          </p:txBody>
        </p:sp>
        <p:sp>
          <p:nvSpPr>
            <p:cNvPr id="195" name="TextBox 195"/>
            <p:cNvSpPr txBox="1"/>
            <p:nvPr/>
          </p:nvSpPr>
          <p:spPr>
            <a:xfrm>
              <a:off x="11455230" y="4868228"/>
              <a:ext cx="235374" cy="498729"/>
            </a:xfrm>
            <a:prstGeom prst="rect">
              <a:avLst/>
            </a:prstGeom>
            <a:noFill/>
            <a:ln>
              <a:noFill/>
            </a:ln>
          </p:spPr>
          <p:txBody>
            <a:bodyPr wrap="none" lIns="0" tIns="0" rIns="0" bIns="0" anchor="t" anchorCtr="0">
              <a:spAutoFit/>
            </a:bodyPr>
            <a:lstStyle/>
            <a:p>
              <a:pPr algn="r"/>
              <a:r>
                <a:rPr lang="zh-CN" sz="2550" b="1" dirty="0">
                  <a:solidFill>
                    <a:srgbClr val="DE715B"/>
                  </a:solidFill>
                  <a:latin typeface="+mj-lt"/>
                  <a:ea typeface="+mj-ea"/>
                  <a:cs typeface="+mj-cs"/>
                </a:rPr>
                <a:t>”</a:t>
              </a:r>
            </a:p>
          </p:txBody>
        </p:sp>
        <p:sp>
          <p:nvSpPr>
            <p:cNvPr id="196" name="TextBox 196"/>
            <p:cNvSpPr txBox="1"/>
            <p:nvPr/>
          </p:nvSpPr>
          <p:spPr>
            <a:xfrm>
              <a:off x="10380536" y="5303282"/>
              <a:ext cx="1301877" cy="126206"/>
            </a:xfrm>
            <a:prstGeom prst="rect">
              <a:avLst/>
            </a:prstGeom>
            <a:noFill/>
            <a:ln>
              <a:noFill/>
            </a:ln>
          </p:spPr>
          <p:txBody>
            <a:bodyPr wrap="none" lIns="0" tIns="0" rIns="0" bIns="0" anchor="t" anchorCtr="0">
              <a:spAutoFit/>
            </a:bodyPr>
            <a:lstStyle/>
            <a:p>
              <a:pPr algn="r"/>
              <a:r>
                <a:rPr lang="zh-CN" sz="640" dirty="0">
                  <a:solidFill>
                    <a:srgbClr val="9B807A"/>
                  </a:solidFill>
                  <a:latin typeface="+mn-lt"/>
                  <a:ea typeface="+mn-ea"/>
                  <a:cs typeface="+mn-cs"/>
                </a:rPr>
                <a:t>从应用实质看效　以数据验证价值</a:t>
              </a:r>
            </a:p>
          </p:txBody>
        </p:sp>
      </p:grpSp>
      <p:grpSp>
        <p:nvGrpSpPr>
          <p:cNvPr id="199" name="bottom-slogan"/>
          <p:cNvGrpSpPr/>
          <p:nvPr/>
        </p:nvGrpSpPr>
        <p:grpSpPr>
          <a:xfrm>
            <a:off x="4970795" y="5797391"/>
            <a:ext cx="2250410" cy="161925"/>
            <a:chOff x="4970795" y="5797391"/>
            <a:chExt cx="2250410" cy="161925"/>
          </a:xfrm>
        </p:grpSpPr>
        <p:sp>
          <p:nvSpPr>
            <p:cNvPr id="198" name="TextBox 198"/>
            <p:cNvSpPr txBox="1"/>
            <p:nvPr/>
          </p:nvSpPr>
          <p:spPr>
            <a:xfrm>
              <a:off x="4970795" y="5797391"/>
              <a:ext cx="2250410" cy="161925"/>
            </a:xfrm>
            <a:prstGeom prst="rect">
              <a:avLst/>
            </a:prstGeom>
            <a:noFill/>
            <a:ln>
              <a:noFill/>
            </a:ln>
          </p:spPr>
          <p:txBody>
            <a:bodyPr wrap="none" lIns="0" tIns="0" rIns="0" bIns="0" anchor="t" anchorCtr="0">
              <a:spAutoFit/>
            </a:bodyPr>
            <a:lstStyle/>
            <a:p>
              <a:pPr algn="ctr"/>
              <a:r>
                <a:rPr lang="zh-CN" sz="820" dirty="0">
                  <a:solidFill>
                    <a:srgbClr val="9B807A"/>
                  </a:solidFill>
                  <a:latin typeface="+mn-lt"/>
                  <a:ea typeface="+mn-ea"/>
                  <a:cs typeface="+mn-cs"/>
                </a:rPr>
                <a:t>钢铁铸就未来 · 智能驱动变革 · 绿色引领发展</a:t>
              </a:r>
            </a:p>
          </p:txBody>
        </p:sp>
      </p:grpSp>
      <p:grpSp>
        <p:nvGrpSpPr>
          <p:cNvPr id="203" name="footer"/>
          <p:cNvGrpSpPr/>
          <p:nvPr/>
        </p:nvGrpSpPr>
        <p:grpSpPr>
          <a:xfrm>
            <a:off x="0" y="6705600"/>
            <a:ext cx="12192000" cy="173117"/>
            <a:chOff x="0" y="6705600"/>
            <a:chExt cx="12192000" cy="173117"/>
          </a:xfrm>
        </p:grpSpPr>
        <p:sp>
          <p:nvSpPr>
            <p:cNvPr id="200" name="Rectangle 200"/>
            <p:cNvSpPr/>
            <p:nvPr/>
          </p:nvSpPr>
          <p:spPr>
            <a:xfrm>
              <a:off x="0" y="6705600"/>
              <a:ext cx="12192000" cy="152400"/>
            </a:xfrm>
            <a:prstGeom prst="rect">
              <a:avLst/>
            </a:prstGeom>
            <a:solidFill>
              <a:srgbClr val="632012"/>
            </a:solidFill>
            <a:ln>
              <a:noFill/>
            </a:ln>
          </p:spPr>
        </p:sp>
        <p:sp>
          <p:nvSpPr>
            <p:cNvPr id="201" name="TextBox 201"/>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202" name="TextBox 202"/>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10/20</a:t>
              </a:r>
            </a:p>
          </p:txBody>
        </p:sp>
      </p:gr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4" name="header"/>
          <p:cNvGrpSpPr/>
          <p:nvPr/>
        </p:nvGrpSpPr>
        <p:grpSpPr>
          <a:xfrm>
            <a:off x="0" y="0"/>
            <a:ext cx="11734800" cy="570929"/>
            <a:chOff x="0" y="0"/>
            <a:chExt cx="117348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3" name="TextBox 3"/>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11</a:t>
              </a:r>
            </a:p>
          </p:txBody>
        </p:sp>
        <p:sp>
          <p:nvSpPr>
            <p:cNvPr id="4" name="TextBox 4"/>
            <p:cNvSpPr txBox="1"/>
            <p:nvPr/>
          </p:nvSpPr>
          <p:spPr>
            <a:xfrm>
              <a:off x="947738" y="75486"/>
              <a:ext cx="2250881"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煤矿智能化 · 装备新生态 · 开放共建 · 更安全的矿山</a:t>
              </a:r>
            </a:p>
          </p:txBody>
        </p:sp>
        <p:sp>
          <p:nvSpPr>
            <p:cNvPr id="5" name="TextBox 5"/>
            <p:cNvSpPr txBox="1"/>
            <p:nvPr/>
          </p:nvSpPr>
          <p:spPr>
            <a:xfrm>
              <a:off x="942594" y="189548"/>
              <a:ext cx="6121908"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煤矿装备</a:t>
              </a:r>
              <a:r>
                <a:rPr lang="zh-CN" sz="1950" b="1" dirty="0">
                  <a:solidFill>
                    <a:srgbClr val="5E2114"/>
                  </a:solidFill>
                  <a:latin typeface="+mj-lt"/>
                  <a:ea typeface="+mj-ea"/>
                  <a:cs typeface="+mj-cs"/>
                </a:rPr>
                <a:t>｜四类能力、十六个子场景走向开放共建</a:t>
              </a:r>
            </a:p>
          </p:txBody>
        </p:sp>
        <p:sp>
          <p:nvSpPr>
            <p:cNvPr id="6" name="Line 6"/>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7" name="TextBox 7"/>
            <p:cNvSpPr txBox="1"/>
            <p:nvPr/>
          </p:nvSpPr>
          <p:spPr>
            <a:xfrm>
              <a:off x="7990009" y="79534"/>
              <a:ext cx="1501653"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开放场景 · 共享能力 · 共建行业未来</a:t>
              </a:r>
            </a:p>
          </p:txBody>
        </p:sp>
        <p:sp>
          <p:nvSpPr>
            <p:cNvPr id="8" name="Rectangle 8"/>
            <p:cNvSpPr/>
            <p:nvPr/>
          </p:nvSpPr>
          <p:spPr>
            <a:xfrm>
              <a:off x="9620250" y="57150"/>
              <a:ext cx="2114550" cy="438150"/>
            </a:xfrm>
            <a:prstGeom prst="roundRect">
              <a:avLst>
                <a:gd name="adj" fmla="val 13043"/>
              </a:avLst>
            </a:prstGeom>
            <a:solidFill>
              <a:srgbClr val="EFF5FC"/>
            </a:solidFill>
            <a:ln w="9525">
              <a:solidFill>
                <a:srgbClr val="C7D9F0"/>
              </a:solidFill>
            </a:ln>
          </p:spPr>
        </p:sp>
        <p:grpSp>
          <p:nvGrpSpPr>
            <p:cNvPr id="11" name="Group 11"/>
            <p:cNvGrpSpPr/>
            <p:nvPr/>
          </p:nvGrpSpPr>
          <p:grpSpPr>
            <a:xfrm>
              <a:off x="9733841" y="176213"/>
              <a:ext cx="217008" cy="200025"/>
              <a:chOff x="9733841" y="176213"/>
              <a:chExt cx="217008" cy="200025"/>
            </a:xfrm>
          </p:grpSpPr>
          <p:sp>
            <p:nvSpPr>
              <p:cNvPr id="9" name="Freeform 9"/>
              <p:cNvSpPr/>
              <p:nvPr/>
            </p:nvSpPr>
            <p:spPr>
              <a:xfrm>
                <a:off x="9733841" y="176213"/>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9C331E"/>
                </a:solidFill>
              </a:ln>
            </p:spPr>
          </p:sp>
          <p:sp>
            <p:nvSpPr>
              <p:cNvPr id="10" name="Freeform 10"/>
              <p:cNvSpPr/>
              <p:nvPr/>
            </p:nvSpPr>
            <p:spPr>
              <a:xfrm>
                <a:off x="9882188" y="331788"/>
                <a:ext cx="66675" cy="44450"/>
              </a:xfrm>
              <a:custGeom>
                <a:avLst/>
                <a:gdLst/>
                <a:ahLst/>
                <a:cxnLst/>
                <a:rect l="l" t="t" r="r" b="b"/>
                <a:pathLst>
                  <a:path w="66675" h="44450">
                    <a:moveTo>
                      <a:pt x="0" y="22225"/>
                    </a:moveTo>
                    <a:lnTo>
                      <a:pt x="22225" y="44450"/>
                    </a:lnTo>
                    <a:lnTo>
                      <a:pt x="66675" y="0"/>
                    </a:lnTo>
                  </a:path>
                </a:pathLst>
              </a:custGeom>
              <a:noFill/>
              <a:ln w="22225">
                <a:solidFill>
                  <a:srgbClr val="9C331E"/>
                </a:solidFill>
              </a:ln>
            </p:spPr>
          </p:sp>
        </p:grpSp>
        <p:sp>
          <p:nvSpPr>
            <p:cNvPr id="12" name="TextBox 12"/>
            <p:cNvSpPr txBox="1"/>
            <p:nvPr/>
          </p:nvSpPr>
          <p:spPr>
            <a:xfrm>
              <a:off x="10052304" y="127635"/>
              <a:ext cx="1316047" cy="234696"/>
            </a:xfrm>
            <a:prstGeom prst="rect">
              <a:avLst/>
            </a:prstGeom>
            <a:noFill/>
            <a:ln>
              <a:noFill/>
            </a:ln>
          </p:spPr>
          <p:txBody>
            <a:bodyPr wrap="none" lIns="0" tIns="0" rIns="0" bIns="0" anchor="t" anchorCtr="0">
              <a:spAutoFit/>
            </a:bodyPr>
            <a:lstStyle/>
            <a:p>
              <a:pPr algn="l"/>
              <a:r>
                <a:rPr lang="en-US" sz="1200" b="1" dirty="0">
                  <a:solidFill>
                    <a:srgbClr val="9C331E"/>
                  </a:solidFill>
                  <a:latin typeface="Arial"/>
                  <a:ea typeface="Arial"/>
                  <a:cs typeface="Arial"/>
                </a:rPr>
                <a:t xml:space="preserve">L2 </a:t>
              </a:r>
              <a:r>
                <a:rPr lang="zh-CN" sz="820" b="1" dirty="0">
                  <a:solidFill>
                    <a:srgbClr val="5E2114"/>
                  </a:solidFill>
                  <a:latin typeface="+mn-lt"/>
                  <a:ea typeface="+mn-ea"/>
                  <a:cs typeface="+mn-cs"/>
                </a:rPr>
                <a:t>试点与共建证据较强​</a:t>
              </a:r>
            </a:p>
          </p:txBody>
        </p:sp>
        <p:sp>
          <p:nvSpPr>
            <p:cNvPr id="13" name="TextBox 13"/>
            <p:cNvSpPr txBox="1"/>
            <p:nvPr/>
          </p:nvSpPr>
          <p:spPr>
            <a:xfrm>
              <a:off x="10053638" y="342186"/>
              <a:ext cx="678586"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规模成效待披露</a:t>
              </a:r>
            </a:p>
          </p:txBody>
        </p:sp>
      </p:grpSp>
      <p:grpSp>
        <p:nvGrpSpPr>
          <p:cNvPr id="17" name="subtitle"/>
          <p:cNvGrpSpPr/>
          <p:nvPr/>
        </p:nvGrpSpPr>
        <p:grpSpPr>
          <a:xfrm>
            <a:off x="985838" y="668893"/>
            <a:ext cx="5798185" cy="330994"/>
            <a:chOff x="985838" y="668893"/>
            <a:chExt cx="5798185" cy="330994"/>
          </a:xfrm>
        </p:grpSpPr>
        <p:sp>
          <p:nvSpPr>
            <p:cNvPr id="15" name="TextBox 15"/>
            <p:cNvSpPr txBox="1"/>
            <p:nvPr/>
          </p:nvSpPr>
          <p:spPr>
            <a:xfrm>
              <a:off x="985838" y="668893"/>
              <a:ext cx="5798185"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面向井下复杂环境的具身智能煤矿装备，围绕四类核心能力与十六个典型子场景，已在焕新社区发布并开放共建，</a:t>
              </a:r>
            </a:p>
          </p:txBody>
        </p:sp>
        <p:sp>
          <p:nvSpPr>
            <p:cNvPr id="16" name="TextBox 16"/>
            <p:cNvSpPr txBox="1"/>
            <p:nvPr/>
          </p:nvSpPr>
          <p:spPr>
            <a:xfrm>
              <a:off x="985838" y="830818"/>
              <a:ext cx="2093443"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汇聚产业力量推动技术成熟与场景落地。</a:t>
              </a:r>
            </a:p>
          </p:txBody>
        </p:sp>
      </p:grpSp>
      <p:grpSp>
        <p:nvGrpSpPr>
          <p:cNvPr id="20" name="left-band"/>
          <p:cNvGrpSpPr/>
          <p:nvPr/>
        </p:nvGrpSpPr>
        <p:grpSpPr>
          <a:xfrm>
            <a:off x="381000" y="1066800"/>
            <a:ext cx="3048000" cy="244078"/>
            <a:chOff x="381000" y="1066800"/>
            <a:chExt cx="3048000" cy="244078"/>
          </a:xfrm>
        </p:grpSpPr>
        <p:sp>
          <p:nvSpPr>
            <p:cNvPr id="18" name="Rectangle 18"/>
            <p:cNvSpPr/>
            <p:nvPr/>
          </p:nvSpPr>
          <p:spPr>
            <a:xfrm>
              <a:off x="381000" y="1066800"/>
              <a:ext cx="3048000" cy="228600"/>
            </a:xfrm>
            <a:prstGeom prst="roundRect">
              <a:avLst>
                <a:gd name="adj" fmla="val 16667"/>
              </a:avLst>
            </a:prstGeom>
            <a:gradFill>
              <a:gsLst>
                <a:gs pos="0">
                  <a:srgbClr val="6F2516"/>
                </a:gs>
                <a:gs pos="100000">
                  <a:srgbClr val="D64A2E"/>
                </a:gs>
              </a:gsLst>
              <a:lin ang="0" scaled="1"/>
            </a:gradFill>
            <a:ln>
              <a:noFill/>
            </a:ln>
          </p:spPr>
        </p:sp>
        <p:sp>
          <p:nvSpPr>
            <p:cNvPr id="19" name="TextBox 19"/>
            <p:cNvSpPr txBox="1"/>
            <p:nvPr/>
          </p:nvSpPr>
          <p:spPr>
            <a:xfrm>
              <a:off x="490538" y="1127522"/>
              <a:ext cx="14014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四类能力与十六个子场景</a:t>
              </a:r>
            </a:p>
          </p:txBody>
        </p:sp>
      </p:grpSp>
      <p:grpSp>
        <p:nvGrpSpPr>
          <p:cNvPr id="40" name="cap-1"/>
          <p:cNvGrpSpPr/>
          <p:nvPr/>
        </p:nvGrpSpPr>
        <p:grpSpPr>
          <a:xfrm>
            <a:off x="381000" y="1352550"/>
            <a:ext cx="3048000" cy="1028700"/>
            <a:chOff x="381000" y="1352550"/>
            <a:chExt cx="3048000" cy="1028700"/>
          </a:xfrm>
        </p:grpSpPr>
        <p:sp>
          <p:nvSpPr>
            <p:cNvPr id="21" name="Rectangle 21"/>
            <p:cNvSpPr/>
            <p:nvPr/>
          </p:nvSpPr>
          <p:spPr>
            <a:xfrm>
              <a:off x="381000" y="1352550"/>
              <a:ext cx="3048000" cy="1028700"/>
            </a:xfrm>
            <a:prstGeom prst="roundRect">
              <a:avLst>
                <a:gd name="adj" fmla="val 5556"/>
              </a:avLst>
            </a:prstGeom>
            <a:solidFill>
              <a:srgbClr val="FFFFFF"/>
            </a:solidFill>
            <a:ln w="9525">
              <a:solidFill>
                <a:srgbClr val="C7D9F0"/>
              </a:solidFill>
            </a:ln>
          </p:spPr>
        </p:sp>
        <p:sp>
          <p:nvSpPr>
            <p:cNvPr id="22" name="Rectangle 22"/>
            <p:cNvSpPr/>
            <p:nvPr/>
          </p:nvSpPr>
          <p:spPr>
            <a:xfrm>
              <a:off x="495300" y="1485900"/>
              <a:ext cx="323850" cy="323850"/>
            </a:xfrm>
            <a:prstGeom prst="roundRect">
              <a:avLst>
                <a:gd name="adj" fmla="val 17647"/>
              </a:avLst>
            </a:prstGeom>
            <a:solidFill>
              <a:srgbClr val="9C331E"/>
            </a:solidFill>
            <a:ln>
              <a:noFill/>
            </a:ln>
          </p:spPr>
        </p:sp>
        <p:grpSp>
          <p:nvGrpSpPr>
            <p:cNvPr id="25" name="Group 25"/>
            <p:cNvGrpSpPr/>
            <p:nvPr/>
          </p:nvGrpSpPr>
          <p:grpSpPr>
            <a:xfrm>
              <a:off x="585787" y="1600200"/>
              <a:ext cx="142875" cy="95250"/>
              <a:chOff x="585787" y="1600200"/>
              <a:chExt cx="142875" cy="95250"/>
            </a:xfrm>
          </p:grpSpPr>
          <p:sp>
            <p:nvSpPr>
              <p:cNvPr id="23" name="Freeform 23"/>
              <p:cNvSpPr/>
              <p:nvPr/>
            </p:nvSpPr>
            <p:spPr>
              <a:xfrm>
                <a:off x="641350" y="163195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24" name="Freeform 24"/>
              <p:cNvSpPr/>
              <p:nvPr/>
            </p:nvSpPr>
            <p:spPr>
              <a:xfrm>
                <a:off x="585787" y="1600200"/>
                <a:ext cx="142875" cy="95250"/>
              </a:xfrm>
              <a:custGeom>
                <a:avLst/>
                <a:gdLst/>
                <a:ahLst/>
                <a:cxnLst/>
                <a:rect l="l" t="t" r="r" b="b"/>
                <a:pathLst>
                  <a:path w="142875" h="95250">
                    <a:moveTo>
                      <a:pt x="142875" y="47625"/>
                    </a:moveTo>
                    <a:cubicBezTo>
                      <a:pt x="123825" y="79375"/>
                      <a:pt x="100012" y="95250"/>
                      <a:pt x="71437" y="95250"/>
                    </a:cubicBezTo>
                    <a:cubicBezTo>
                      <a:pt x="42862" y="95250"/>
                      <a:pt x="19050" y="79375"/>
                      <a:pt x="0" y="47625"/>
                    </a:cubicBezTo>
                    <a:cubicBezTo>
                      <a:pt x="19050" y="15875"/>
                      <a:pt x="42862" y="0"/>
                      <a:pt x="71437" y="0"/>
                    </a:cubicBezTo>
                    <a:cubicBezTo>
                      <a:pt x="100012" y="0"/>
                      <a:pt x="123825" y="15875"/>
                      <a:pt x="142875" y="47625"/>
                    </a:cubicBezTo>
                  </a:path>
                </a:pathLst>
              </a:custGeom>
              <a:noFill/>
              <a:ln w="15875">
                <a:solidFill>
                  <a:srgbClr val="FFFFFF"/>
                </a:solidFill>
              </a:ln>
            </p:spPr>
          </p:sp>
        </p:grpSp>
        <p:sp>
          <p:nvSpPr>
            <p:cNvPr id="26" name="TextBox 26"/>
            <p:cNvSpPr txBox="1"/>
            <p:nvPr/>
          </p:nvSpPr>
          <p:spPr>
            <a:xfrm>
              <a:off x="909256" y="1529001"/>
              <a:ext cx="690118"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感知与定位</a:t>
              </a:r>
            </a:p>
          </p:txBody>
        </p:sp>
        <p:sp>
          <p:nvSpPr>
            <p:cNvPr id="27" name="TextBox 27"/>
            <p:cNvSpPr txBox="1"/>
            <p:nvPr/>
          </p:nvSpPr>
          <p:spPr>
            <a:xfrm>
              <a:off x="909638" y="1717834"/>
              <a:ext cx="650316" cy="133350"/>
            </a:xfrm>
            <a:prstGeom prst="rect">
              <a:avLst/>
            </a:prstGeom>
            <a:noFill/>
            <a:ln>
              <a:noFill/>
            </a:ln>
          </p:spPr>
          <p:txBody>
            <a:bodyPr wrap="none" lIns="0" tIns="0" rIns="0" bIns="0" anchor="t" anchorCtr="0">
              <a:spAutoFit/>
            </a:bodyPr>
            <a:lstStyle/>
            <a:p>
              <a:pPr algn="l"/>
              <a:r>
                <a:rPr lang="zh-CN" sz="680" b="1" dirty="0">
                  <a:solidFill>
                    <a:srgbClr val="9C331E"/>
                  </a:solidFill>
                  <a:latin typeface="+mn-lt"/>
                  <a:ea typeface="+mn-ea"/>
                  <a:cs typeface="+mn-cs"/>
                </a:rPr>
                <a:t>看得清、定得准</a:t>
              </a:r>
            </a:p>
          </p:txBody>
        </p:sp>
        <p:sp>
          <p:nvSpPr>
            <p:cNvPr id="28" name="TextBox 28"/>
            <p:cNvSpPr txBox="1"/>
            <p:nvPr/>
          </p:nvSpPr>
          <p:spPr>
            <a:xfrm>
              <a:off x="490538" y="1988582"/>
              <a:ext cx="871093"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构建井下全域感知能力</a:t>
              </a:r>
            </a:p>
          </p:txBody>
        </p:sp>
        <p:sp>
          <p:nvSpPr>
            <p:cNvPr id="29" name="Line 29"/>
            <p:cNvSpPr/>
            <p:nvPr/>
          </p:nvSpPr>
          <p:spPr>
            <a:xfrm>
              <a:off x="1866900" y="1466850"/>
              <a:ext cx="9525" cy="800100"/>
            </a:xfrm>
            <a:custGeom>
              <a:avLst/>
              <a:gdLst/>
              <a:ahLst/>
              <a:cxnLst/>
              <a:rect l="l" t="t" r="r" b="b"/>
              <a:pathLst>
                <a:path w="9525" h="800100">
                  <a:moveTo>
                    <a:pt x="0" y="0"/>
                  </a:moveTo>
                  <a:lnTo>
                    <a:pt x="0" y="800100"/>
                  </a:lnTo>
                </a:path>
              </a:pathLst>
            </a:custGeom>
            <a:noFill/>
            <a:ln w="9525">
              <a:solidFill>
                <a:srgbClr val="C7D9F0"/>
              </a:solidFill>
            </a:ln>
          </p:spPr>
        </p:sp>
        <p:sp>
          <p:nvSpPr>
            <p:cNvPr id="30" name="Rectangle 30"/>
            <p:cNvSpPr/>
            <p:nvPr/>
          </p:nvSpPr>
          <p:spPr>
            <a:xfrm>
              <a:off x="1962150" y="1466850"/>
              <a:ext cx="571500" cy="133350"/>
            </a:xfrm>
            <a:prstGeom prst="roundRect">
              <a:avLst>
                <a:gd name="adj" fmla="val 50000"/>
              </a:avLst>
            </a:prstGeom>
            <a:solidFill>
              <a:srgbClr val="DCE9F8"/>
            </a:solidFill>
            <a:ln>
              <a:noFill/>
            </a:ln>
          </p:spPr>
        </p:sp>
        <p:sp>
          <p:nvSpPr>
            <p:cNvPr id="31" name="TextBox 31"/>
            <p:cNvSpPr txBox="1"/>
            <p:nvPr/>
          </p:nvSpPr>
          <p:spPr>
            <a:xfrm>
              <a:off x="2034948" y="1497330"/>
              <a:ext cx="425905" cy="119062"/>
            </a:xfrm>
            <a:prstGeom prst="rect">
              <a:avLst/>
            </a:prstGeom>
            <a:noFill/>
            <a:ln>
              <a:noFill/>
            </a:ln>
          </p:spPr>
          <p:txBody>
            <a:bodyPr wrap="none" lIns="0" tIns="0" rIns="0" bIns="0" anchor="t" anchorCtr="0">
              <a:spAutoFit/>
            </a:bodyPr>
            <a:lstStyle/>
            <a:p>
              <a:pPr algn="ctr"/>
              <a:r>
                <a:rPr lang="zh-CN" sz="600" b="1" dirty="0">
                  <a:solidFill>
                    <a:srgbClr val="9C331E"/>
                  </a:solidFill>
                  <a:latin typeface="+mn-lt"/>
                  <a:ea typeface="+mn-ea"/>
                  <a:cs typeface="+mn-cs"/>
                </a:rPr>
                <a:t>4个子场景​</a:t>
              </a:r>
            </a:p>
          </p:txBody>
        </p:sp>
        <p:sp>
          <p:nvSpPr>
            <p:cNvPr id="32" name="Rectangle 32"/>
            <p:cNvSpPr/>
            <p:nvPr/>
          </p:nvSpPr>
          <p:spPr>
            <a:xfrm>
              <a:off x="1962150" y="1695450"/>
              <a:ext cx="38100" cy="38100"/>
            </a:xfrm>
            <a:prstGeom prst="rect">
              <a:avLst/>
            </a:prstGeom>
            <a:solidFill>
              <a:srgbClr val="9C331E"/>
            </a:solidFill>
            <a:ln>
              <a:noFill/>
            </a:ln>
          </p:spPr>
        </p:sp>
        <p:sp>
          <p:nvSpPr>
            <p:cNvPr id="33" name="TextBox 33"/>
            <p:cNvSpPr txBox="1"/>
            <p:nvPr/>
          </p:nvSpPr>
          <p:spPr>
            <a:xfrm>
              <a:off x="2052638" y="1656636"/>
              <a:ext cx="67858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环境识别与建模</a:t>
              </a:r>
            </a:p>
          </p:txBody>
        </p:sp>
        <p:sp>
          <p:nvSpPr>
            <p:cNvPr id="34" name="Rectangle 34"/>
            <p:cNvSpPr/>
            <p:nvPr/>
          </p:nvSpPr>
          <p:spPr>
            <a:xfrm>
              <a:off x="1962150" y="1847850"/>
              <a:ext cx="38100" cy="38100"/>
            </a:xfrm>
            <a:prstGeom prst="rect">
              <a:avLst/>
            </a:prstGeom>
            <a:solidFill>
              <a:srgbClr val="9C331E"/>
            </a:solidFill>
            <a:ln>
              <a:noFill/>
            </a:ln>
          </p:spPr>
        </p:sp>
        <p:sp>
          <p:nvSpPr>
            <p:cNvPr id="35" name="TextBox 35"/>
            <p:cNvSpPr txBox="1"/>
            <p:nvPr/>
          </p:nvSpPr>
          <p:spPr>
            <a:xfrm>
              <a:off x="2052638" y="1809036"/>
              <a:ext cx="67858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人员与车辆定位</a:t>
              </a:r>
            </a:p>
          </p:txBody>
        </p:sp>
        <p:sp>
          <p:nvSpPr>
            <p:cNvPr id="36" name="Rectangle 36"/>
            <p:cNvSpPr/>
            <p:nvPr/>
          </p:nvSpPr>
          <p:spPr>
            <a:xfrm>
              <a:off x="1962150" y="2000250"/>
              <a:ext cx="38100" cy="38100"/>
            </a:xfrm>
            <a:prstGeom prst="rect">
              <a:avLst/>
            </a:prstGeom>
            <a:solidFill>
              <a:srgbClr val="9C331E"/>
            </a:solidFill>
            <a:ln>
              <a:noFill/>
            </a:ln>
          </p:spPr>
        </p:sp>
        <p:sp>
          <p:nvSpPr>
            <p:cNvPr id="37" name="TextBox 37"/>
            <p:cNvSpPr txBox="1"/>
            <p:nvPr/>
          </p:nvSpPr>
          <p:spPr>
            <a:xfrm>
              <a:off x="2052638" y="1961436"/>
              <a:ext cx="58300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设备状态感知</a:t>
              </a:r>
            </a:p>
          </p:txBody>
        </p:sp>
        <p:sp>
          <p:nvSpPr>
            <p:cNvPr id="38" name="Rectangle 38"/>
            <p:cNvSpPr/>
            <p:nvPr/>
          </p:nvSpPr>
          <p:spPr>
            <a:xfrm>
              <a:off x="1962150" y="2152650"/>
              <a:ext cx="38100" cy="38100"/>
            </a:xfrm>
            <a:prstGeom prst="rect">
              <a:avLst/>
            </a:prstGeom>
            <a:solidFill>
              <a:srgbClr val="9C331E"/>
            </a:solidFill>
            <a:ln>
              <a:noFill/>
            </a:ln>
          </p:spPr>
        </p:sp>
        <p:sp>
          <p:nvSpPr>
            <p:cNvPr id="39" name="TextBox 39"/>
            <p:cNvSpPr txBox="1"/>
            <p:nvPr/>
          </p:nvSpPr>
          <p:spPr>
            <a:xfrm>
              <a:off x="2052638" y="2113836"/>
              <a:ext cx="67858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巷道与空间测绘</a:t>
              </a:r>
            </a:p>
          </p:txBody>
        </p:sp>
      </p:grpSp>
      <p:grpSp>
        <p:nvGrpSpPr>
          <p:cNvPr id="60" name="cap-2"/>
          <p:cNvGrpSpPr/>
          <p:nvPr/>
        </p:nvGrpSpPr>
        <p:grpSpPr>
          <a:xfrm>
            <a:off x="381000" y="2438400"/>
            <a:ext cx="3048000" cy="1028700"/>
            <a:chOff x="381000" y="2438400"/>
            <a:chExt cx="3048000" cy="1028700"/>
          </a:xfrm>
        </p:grpSpPr>
        <p:sp>
          <p:nvSpPr>
            <p:cNvPr id="41" name="Rectangle 41"/>
            <p:cNvSpPr/>
            <p:nvPr/>
          </p:nvSpPr>
          <p:spPr>
            <a:xfrm>
              <a:off x="381000" y="2438400"/>
              <a:ext cx="3048000" cy="1028700"/>
            </a:xfrm>
            <a:prstGeom prst="roundRect">
              <a:avLst>
                <a:gd name="adj" fmla="val 5556"/>
              </a:avLst>
            </a:prstGeom>
            <a:solidFill>
              <a:srgbClr val="FFFFFF"/>
            </a:solidFill>
            <a:ln w="9525">
              <a:solidFill>
                <a:srgbClr val="C7D9F0"/>
              </a:solidFill>
            </a:ln>
          </p:spPr>
        </p:sp>
        <p:sp>
          <p:nvSpPr>
            <p:cNvPr id="42" name="Rectangle 42"/>
            <p:cNvSpPr/>
            <p:nvPr/>
          </p:nvSpPr>
          <p:spPr>
            <a:xfrm>
              <a:off x="495300" y="2571750"/>
              <a:ext cx="323850" cy="323850"/>
            </a:xfrm>
            <a:prstGeom prst="roundRect">
              <a:avLst>
                <a:gd name="adj" fmla="val 17647"/>
              </a:avLst>
            </a:prstGeom>
            <a:solidFill>
              <a:srgbClr val="9C331E"/>
            </a:solidFill>
            <a:ln>
              <a:noFill/>
            </a:ln>
          </p:spPr>
        </p:sp>
        <p:grpSp>
          <p:nvGrpSpPr>
            <p:cNvPr id="45" name="Group 45"/>
            <p:cNvGrpSpPr/>
            <p:nvPr/>
          </p:nvGrpSpPr>
          <p:grpSpPr>
            <a:xfrm>
              <a:off x="582303" y="2658753"/>
              <a:ext cx="149844" cy="149844"/>
              <a:chOff x="582303" y="2658753"/>
              <a:chExt cx="149844" cy="149844"/>
            </a:xfrm>
          </p:grpSpPr>
          <p:sp>
            <p:nvSpPr>
              <p:cNvPr id="43" name="Freeform 43"/>
              <p:cNvSpPr/>
              <p:nvPr/>
            </p:nvSpPr>
            <p:spPr>
              <a:xfrm>
                <a:off x="582303" y="2658753"/>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44" name="Freeform 44"/>
              <p:cNvSpPr/>
              <p:nvPr/>
            </p:nvSpPr>
            <p:spPr>
              <a:xfrm>
                <a:off x="633412" y="27098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46" name="TextBox 46"/>
            <p:cNvSpPr txBox="1"/>
            <p:nvPr/>
          </p:nvSpPr>
          <p:spPr>
            <a:xfrm>
              <a:off x="909256" y="2614851"/>
              <a:ext cx="690118"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作业与控制</a:t>
              </a:r>
            </a:p>
          </p:txBody>
        </p:sp>
        <p:sp>
          <p:nvSpPr>
            <p:cNvPr id="47" name="TextBox 47"/>
            <p:cNvSpPr txBox="1"/>
            <p:nvPr/>
          </p:nvSpPr>
          <p:spPr>
            <a:xfrm>
              <a:off x="909638" y="2803684"/>
              <a:ext cx="650316" cy="133350"/>
            </a:xfrm>
            <a:prstGeom prst="rect">
              <a:avLst/>
            </a:prstGeom>
            <a:noFill/>
            <a:ln>
              <a:noFill/>
            </a:ln>
          </p:spPr>
          <p:txBody>
            <a:bodyPr wrap="none" lIns="0" tIns="0" rIns="0" bIns="0" anchor="t" anchorCtr="0">
              <a:spAutoFit/>
            </a:bodyPr>
            <a:lstStyle/>
            <a:p>
              <a:pPr algn="l"/>
              <a:r>
                <a:rPr lang="zh-CN" sz="680" b="1" dirty="0">
                  <a:solidFill>
                    <a:srgbClr val="9C331E"/>
                  </a:solidFill>
                  <a:latin typeface="+mn-lt"/>
                  <a:ea typeface="+mn-ea"/>
                  <a:cs typeface="+mn-cs"/>
                </a:rPr>
                <a:t>干得稳、控得住</a:t>
              </a:r>
            </a:p>
          </p:txBody>
        </p:sp>
        <p:sp>
          <p:nvSpPr>
            <p:cNvPr id="48" name="TextBox 48"/>
            <p:cNvSpPr txBox="1"/>
            <p:nvPr/>
          </p:nvSpPr>
          <p:spPr>
            <a:xfrm>
              <a:off x="490538" y="3074432"/>
              <a:ext cx="784936"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实现多装备自主作业</a:t>
              </a:r>
            </a:p>
          </p:txBody>
        </p:sp>
        <p:sp>
          <p:nvSpPr>
            <p:cNvPr id="49" name="Line 49"/>
            <p:cNvSpPr/>
            <p:nvPr/>
          </p:nvSpPr>
          <p:spPr>
            <a:xfrm>
              <a:off x="1866900" y="2552700"/>
              <a:ext cx="9525" cy="800100"/>
            </a:xfrm>
            <a:custGeom>
              <a:avLst/>
              <a:gdLst/>
              <a:ahLst/>
              <a:cxnLst/>
              <a:rect l="l" t="t" r="r" b="b"/>
              <a:pathLst>
                <a:path w="9525" h="800100">
                  <a:moveTo>
                    <a:pt x="0" y="0"/>
                  </a:moveTo>
                  <a:lnTo>
                    <a:pt x="0" y="800100"/>
                  </a:lnTo>
                </a:path>
              </a:pathLst>
            </a:custGeom>
            <a:noFill/>
            <a:ln w="9525">
              <a:solidFill>
                <a:srgbClr val="C7D9F0"/>
              </a:solidFill>
            </a:ln>
          </p:spPr>
        </p:sp>
        <p:sp>
          <p:nvSpPr>
            <p:cNvPr id="50" name="Rectangle 50"/>
            <p:cNvSpPr/>
            <p:nvPr/>
          </p:nvSpPr>
          <p:spPr>
            <a:xfrm>
              <a:off x="1962150" y="2552700"/>
              <a:ext cx="571500" cy="133350"/>
            </a:xfrm>
            <a:prstGeom prst="roundRect">
              <a:avLst>
                <a:gd name="adj" fmla="val 50000"/>
              </a:avLst>
            </a:prstGeom>
            <a:solidFill>
              <a:srgbClr val="DCE9F8"/>
            </a:solidFill>
            <a:ln>
              <a:noFill/>
            </a:ln>
          </p:spPr>
        </p:sp>
        <p:sp>
          <p:nvSpPr>
            <p:cNvPr id="51" name="TextBox 51"/>
            <p:cNvSpPr txBox="1"/>
            <p:nvPr/>
          </p:nvSpPr>
          <p:spPr>
            <a:xfrm>
              <a:off x="2034948" y="2583180"/>
              <a:ext cx="425905" cy="119062"/>
            </a:xfrm>
            <a:prstGeom prst="rect">
              <a:avLst/>
            </a:prstGeom>
            <a:noFill/>
            <a:ln>
              <a:noFill/>
            </a:ln>
          </p:spPr>
          <p:txBody>
            <a:bodyPr wrap="none" lIns="0" tIns="0" rIns="0" bIns="0" anchor="t" anchorCtr="0">
              <a:spAutoFit/>
            </a:bodyPr>
            <a:lstStyle/>
            <a:p>
              <a:pPr algn="ctr"/>
              <a:r>
                <a:rPr lang="zh-CN" sz="600" b="1" dirty="0">
                  <a:solidFill>
                    <a:srgbClr val="9C331E"/>
                  </a:solidFill>
                  <a:latin typeface="+mn-lt"/>
                  <a:ea typeface="+mn-ea"/>
                  <a:cs typeface="+mn-cs"/>
                </a:rPr>
                <a:t>4个子场景​</a:t>
              </a:r>
            </a:p>
          </p:txBody>
        </p:sp>
        <p:sp>
          <p:nvSpPr>
            <p:cNvPr id="52" name="Rectangle 52"/>
            <p:cNvSpPr/>
            <p:nvPr/>
          </p:nvSpPr>
          <p:spPr>
            <a:xfrm>
              <a:off x="1962150" y="2781300"/>
              <a:ext cx="38100" cy="38100"/>
            </a:xfrm>
            <a:prstGeom prst="rect">
              <a:avLst/>
            </a:prstGeom>
            <a:solidFill>
              <a:srgbClr val="9C331E"/>
            </a:solidFill>
            <a:ln>
              <a:noFill/>
            </a:ln>
          </p:spPr>
        </p:sp>
        <p:sp>
          <p:nvSpPr>
            <p:cNvPr id="53" name="TextBox 53"/>
            <p:cNvSpPr txBox="1"/>
            <p:nvPr/>
          </p:nvSpPr>
          <p:spPr>
            <a:xfrm>
              <a:off x="2052638" y="2742486"/>
              <a:ext cx="39184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采煤作业</a:t>
              </a:r>
            </a:p>
          </p:txBody>
        </p:sp>
        <p:sp>
          <p:nvSpPr>
            <p:cNvPr id="54" name="Rectangle 54"/>
            <p:cNvSpPr/>
            <p:nvPr/>
          </p:nvSpPr>
          <p:spPr>
            <a:xfrm>
              <a:off x="1962150" y="2933700"/>
              <a:ext cx="38100" cy="38100"/>
            </a:xfrm>
            <a:prstGeom prst="rect">
              <a:avLst/>
            </a:prstGeom>
            <a:solidFill>
              <a:srgbClr val="9C331E"/>
            </a:solidFill>
            <a:ln>
              <a:noFill/>
            </a:ln>
          </p:spPr>
        </p:sp>
        <p:sp>
          <p:nvSpPr>
            <p:cNvPr id="55" name="TextBox 55"/>
            <p:cNvSpPr txBox="1"/>
            <p:nvPr/>
          </p:nvSpPr>
          <p:spPr>
            <a:xfrm>
              <a:off x="2052638" y="2894886"/>
              <a:ext cx="39184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装运作业</a:t>
              </a:r>
            </a:p>
          </p:txBody>
        </p:sp>
        <p:sp>
          <p:nvSpPr>
            <p:cNvPr id="56" name="Rectangle 56"/>
            <p:cNvSpPr/>
            <p:nvPr/>
          </p:nvSpPr>
          <p:spPr>
            <a:xfrm>
              <a:off x="1962150" y="3086100"/>
              <a:ext cx="38100" cy="38100"/>
            </a:xfrm>
            <a:prstGeom prst="rect">
              <a:avLst/>
            </a:prstGeom>
            <a:solidFill>
              <a:srgbClr val="9C331E"/>
            </a:solidFill>
            <a:ln>
              <a:noFill/>
            </a:ln>
          </p:spPr>
        </p:sp>
        <p:sp>
          <p:nvSpPr>
            <p:cNvPr id="57" name="TextBox 57"/>
            <p:cNvSpPr txBox="1"/>
            <p:nvPr/>
          </p:nvSpPr>
          <p:spPr>
            <a:xfrm>
              <a:off x="2052638" y="3047286"/>
              <a:ext cx="48742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运维与装配</a:t>
              </a:r>
            </a:p>
          </p:txBody>
        </p:sp>
        <p:sp>
          <p:nvSpPr>
            <p:cNvPr id="58" name="Rectangle 58"/>
            <p:cNvSpPr/>
            <p:nvPr/>
          </p:nvSpPr>
          <p:spPr>
            <a:xfrm>
              <a:off x="1962150" y="3238500"/>
              <a:ext cx="38100" cy="38100"/>
            </a:xfrm>
            <a:prstGeom prst="rect">
              <a:avLst/>
            </a:prstGeom>
            <a:solidFill>
              <a:srgbClr val="9C331E"/>
            </a:solidFill>
            <a:ln>
              <a:noFill/>
            </a:ln>
          </p:spPr>
        </p:sp>
        <p:sp>
          <p:nvSpPr>
            <p:cNvPr id="59" name="TextBox 59"/>
            <p:cNvSpPr txBox="1"/>
            <p:nvPr/>
          </p:nvSpPr>
          <p:spPr>
            <a:xfrm>
              <a:off x="2052638" y="3199686"/>
              <a:ext cx="67858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遥控与操作协同</a:t>
              </a:r>
            </a:p>
          </p:txBody>
        </p:sp>
      </p:grpSp>
      <p:grpSp>
        <p:nvGrpSpPr>
          <p:cNvPr id="81" name="cap-3"/>
          <p:cNvGrpSpPr/>
          <p:nvPr/>
        </p:nvGrpSpPr>
        <p:grpSpPr>
          <a:xfrm>
            <a:off x="381000" y="3524250"/>
            <a:ext cx="3048000" cy="1028700"/>
            <a:chOff x="381000" y="3524250"/>
            <a:chExt cx="3048000" cy="1028700"/>
          </a:xfrm>
        </p:grpSpPr>
        <p:sp>
          <p:nvSpPr>
            <p:cNvPr id="61" name="Rectangle 61"/>
            <p:cNvSpPr/>
            <p:nvPr/>
          </p:nvSpPr>
          <p:spPr>
            <a:xfrm>
              <a:off x="381000" y="3524250"/>
              <a:ext cx="3048000" cy="1028700"/>
            </a:xfrm>
            <a:prstGeom prst="roundRect">
              <a:avLst>
                <a:gd name="adj" fmla="val 5556"/>
              </a:avLst>
            </a:prstGeom>
            <a:solidFill>
              <a:srgbClr val="FFFFFF"/>
            </a:solidFill>
            <a:ln w="9525">
              <a:solidFill>
                <a:srgbClr val="C7D9F0"/>
              </a:solidFill>
            </a:ln>
          </p:spPr>
        </p:sp>
        <p:sp>
          <p:nvSpPr>
            <p:cNvPr id="62" name="Rectangle 62"/>
            <p:cNvSpPr/>
            <p:nvPr/>
          </p:nvSpPr>
          <p:spPr>
            <a:xfrm>
              <a:off x="495300" y="3657600"/>
              <a:ext cx="323850" cy="323850"/>
            </a:xfrm>
            <a:prstGeom prst="roundRect">
              <a:avLst>
                <a:gd name="adj" fmla="val 17647"/>
              </a:avLst>
            </a:prstGeom>
            <a:solidFill>
              <a:srgbClr val="9C331E"/>
            </a:solidFill>
            <a:ln>
              <a:noFill/>
            </a:ln>
          </p:spPr>
        </p:sp>
        <p:grpSp>
          <p:nvGrpSpPr>
            <p:cNvPr id="66" name="Group 66"/>
            <p:cNvGrpSpPr/>
            <p:nvPr/>
          </p:nvGrpSpPr>
          <p:grpSpPr>
            <a:xfrm>
              <a:off x="577174" y="3745450"/>
              <a:ext cx="160095" cy="137543"/>
              <a:chOff x="577174" y="3745450"/>
              <a:chExt cx="160095" cy="137543"/>
            </a:xfrm>
          </p:grpSpPr>
          <p:sp>
            <p:nvSpPr>
              <p:cNvPr id="63" name="Freeform 63"/>
              <p:cNvSpPr/>
              <p:nvPr/>
            </p:nvSpPr>
            <p:spPr>
              <a:xfrm>
                <a:off x="657225" y="37957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64" name="Freeform 64"/>
              <p:cNvSpPr/>
              <p:nvPr/>
            </p:nvSpPr>
            <p:spPr>
              <a:xfrm>
                <a:off x="577174" y="3745450"/>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FFFFFF"/>
                </a:solidFill>
              </a:ln>
            </p:spPr>
          </p:sp>
          <p:sp>
            <p:nvSpPr>
              <p:cNvPr id="65" name="Freeform 65"/>
              <p:cNvSpPr/>
              <p:nvPr/>
            </p:nvSpPr>
            <p:spPr>
              <a:xfrm>
                <a:off x="657225" y="3851275"/>
                <a:ext cx="9525" cy="9525"/>
              </a:xfrm>
              <a:custGeom>
                <a:avLst/>
                <a:gdLst/>
                <a:ahLst/>
                <a:cxnLst/>
                <a:rect l="l" t="t" r="r" b="b"/>
                <a:pathLst>
                  <a:path w="9525" h="9525">
                    <a:moveTo>
                      <a:pt x="0" y="0"/>
                    </a:moveTo>
                    <a:lnTo>
                      <a:pt x="79" y="0"/>
                    </a:lnTo>
                  </a:path>
                </a:pathLst>
              </a:custGeom>
              <a:noFill/>
              <a:ln w="15875">
                <a:solidFill>
                  <a:srgbClr val="FFFFFF"/>
                </a:solidFill>
              </a:ln>
            </p:spPr>
          </p:sp>
        </p:grpSp>
        <p:sp>
          <p:nvSpPr>
            <p:cNvPr id="67" name="TextBox 67"/>
            <p:cNvSpPr txBox="1"/>
            <p:nvPr/>
          </p:nvSpPr>
          <p:spPr>
            <a:xfrm>
              <a:off x="909256" y="3700701"/>
              <a:ext cx="690118"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安全与预警</a:t>
              </a:r>
            </a:p>
          </p:txBody>
        </p:sp>
        <p:sp>
          <p:nvSpPr>
            <p:cNvPr id="68" name="TextBox 68"/>
            <p:cNvSpPr txBox="1"/>
            <p:nvPr/>
          </p:nvSpPr>
          <p:spPr>
            <a:xfrm>
              <a:off x="909638" y="3889534"/>
              <a:ext cx="650316" cy="133350"/>
            </a:xfrm>
            <a:prstGeom prst="rect">
              <a:avLst/>
            </a:prstGeom>
            <a:noFill/>
            <a:ln>
              <a:noFill/>
            </a:ln>
          </p:spPr>
          <p:txBody>
            <a:bodyPr wrap="none" lIns="0" tIns="0" rIns="0" bIns="0" anchor="t" anchorCtr="0">
              <a:spAutoFit/>
            </a:bodyPr>
            <a:lstStyle/>
            <a:p>
              <a:pPr algn="l"/>
              <a:r>
                <a:rPr lang="zh-CN" sz="680" b="1" dirty="0">
                  <a:solidFill>
                    <a:srgbClr val="9C331E"/>
                  </a:solidFill>
                  <a:latin typeface="+mn-lt"/>
                  <a:ea typeface="+mn-ea"/>
                  <a:cs typeface="+mn-cs"/>
                </a:rPr>
                <a:t>识风险、早预警</a:t>
              </a:r>
            </a:p>
          </p:txBody>
        </p:sp>
        <p:sp>
          <p:nvSpPr>
            <p:cNvPr id="69" name="TextBox 69"/>
            <p:cNvSpPr txBox="1"/>
            <p:nvPr/>
          </p:nvSpPr>
          <p:spPr>
            <a:xfrm>
              <a:off x="490538" y="4160282"/>
              <a:ext cx="698779"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守住井下安全底线</a:t>
              </a:r>
            </a:p>
          </p:txBody>
        </p:sp>
        <p:sp>
          <p:nvSpPr>
            <p:cNvPr id="70" name="Line 70"/>
            <p:cNvSpPr/>
            <p:nvPr/>
          </p:nvSpPr>
          <p:spPr>
            <a:xfrm>
              <a:off x="1866900" y="3638550"/>
              <a:ext cx="9525" cy="800100"/>
            </a:xfrm>
            <a:custGeom>
              <a:avLst/>
              <a:gdLst/>
              <a:ahLst/>
              <a:cxnLst/>
              <a:rect l="l" t="t" r="r" b="b"/>
              <a:pathLst>
                <a:path w="9525" h="800100">
                  <a:moveTo>
                    <a:pt x="0" y="0"/>
                  </a:moveTo>
                  <a:lnTo>
                    <a:pt x="0" y="800100"/>
                  </a:lnTo>
                </a:path>
              </a:pathLst>
            </a:custGeom>
            <a:noFill/>
            <a:ln w="9525">
              <a:solidFill>
                <a:srgbClr val="C7D9F0"/>
              </a:solidFill>
            </a:ln>
          </p:spPr>
        </p:sp>
        <p:sp>
          <p:nvSpPr>
            <p:cNvPr id="71" name="Rectangle 71"/>
            <p:cNvSpPr/>
            <p:nvPr/>
          </p:nvSpPr>
          <p:spPr>
            <a:xfrm>
              <a:off x="1962150" y="3638550"/>
              <a:ext cx="571500" cy="133350"/>
            </a:xfrm>
            <a:prstGeom prst="roundRect">
              <a:avLst>
                <a:gd name="adj" fmla="val 50000"/>
              </a:avLst>
            </a:prstGeom>
            <a:solidFill>
              <a:srgbClr val="DCE9F8"/>
            </a:solidFill>
            <a:ln>
              <a:noFill/>
            </a:ln>
          </p:spPr>
        </p:sp>
        <p:sp>
          <p:nvSpPr>
            <p:cNvPr id="72" name="TextBox 72"/>
            <p:cNvSpPr txBox="1"/>
            <p:nvPr/>
          </p:nvSpPr>
          <p:spPr>
            <a:xfrm>
              <a:off x="2034948" y="3669030"/>
              <a:ext cx="425905" cy="119062"/>
            </a:xfrm>
            <a:prstGeom prst="rect">
              <a:avLst/>
            </a:prstGeom>
            <a:noFill/>
            <a:ln>
              <a:noFill/>
            </a:ln>
          </p:spPr>
          <p:txBody>
            <a:bodyPr wrap="none" lIns="0" tIns="0" rIns="0" bIns="0" anchor="t" anchorCtr="0">
              <a:spAutoFit/>
            </a:bodyPr>
            <a:lstStyle/>
            <a:p>
              <a:pPr algn="ctr"/>
              <a:r>
                <a:rPr lang="zh-CN" sz="600" b="1" dirty="0">
                  <a:solidFill>
                    <a:srgbClr val="9C331E"/>
                  </a:solidFill>
                  <a:latin typeface="+mn-lt"/>
                  <a:ea typeface="+mn-ea"/>
                  <a:cs typeface="+mn-cs"/>
                </a:rPr>
                <a:t>4个子场景​</a:t>
              </a:r>
            </a:p>
          </p:txBody>
        </p:sp>
        <p:sp>
          <p:nvSpPr>
            <p:cNvPr id="73" name="Rectangle 73"/>
            <p:cNvSpPr/>
            <p:nvPr/>
          </p:nvSpPr>
          <p:spPr>
            <a:xfrm>
              <a:off x="1962150" y="3867150"/>
              <a:ext cx="38100" cy="38100"/>
            </a:xfrm>
            <a:prstGeom prst="rect">
              <a:avLst/>
            </a:prstGeom>
            <a:solidFill>
              <a:srgbClr val="9C331E"/>
            </a:solidFill>
            <a:ln>
              <a:noFill/>
            </a:ln>
          </p:spPr>
        </p:sp>
        <p:sp>
          <p:nvSpPr>
            <p:cNvPr id="74" name="TextBox 74"/>
            <p:cNvSpPr txBox="1"/>
            <p:nvPr/>
          </p:nvSpPr>
          <p:spPr>
            <a:xfrm>
              <a:off x="2052638" y="3828336"/>
              <a:ext cx="86974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瓦斯与有害气体监测</a:t>
              </a:r>
            </a:p>
          </p:txBody>
        </p:sp>
        <p:sp>
          <p:nvSpPr>
            <p:cNvPr id="75" name="Rectangle 75"/>
            <p:cNvSpPr/>
            <p:nvPr/>
          </p:nvSpPr>
          <p:spPr>
            <a:xfrm>
              <a:off x="1962150" y="4019550"/>
              <a:ext cx="38100" cy="38100"/>
            </a:xfrm>
            <a:prstGeom prst="rect">
              <a:avLst/>
            </a:prstGeom>
            <a:solidFill>
              <a:srgbClr val="9C331E"/>
            </a:solidFill>
            <a:ln>
              <a:noFill/>
            </a:ln>
          </p:spPr>
        </p:sp>
        <p:sp>
          <p:nvSpPr>
            <p:cNvPr id="76" name="TextBox 76"/>
            <p:cNvSpPr txBox="1"/>
            <p:nvPr/>
          </p:nvSpPr>
          <p:spPr>
            <a:xfrm>
              <a:off x="2052638" y="3980736"/>
              <a:ext cx="86974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顶板与冲击地压预警</a:t>
              </a:r>
            </a:p>
          </p:txBody>
        </p:sp>
        <p:sp>
          <p:nvSpPr>
            <p:cNvPr id="77" name="Rectangle 77"/>
            <p:cNvSpPr/>
            <p:nvPr/>
          </p:nvSpPr>
          <p:spPr>
            <a:xfrm>
              <a:off x="1962150" y="4171950"/>
              <a:ext cx="38100" cy="38100"/>
            </a:xfrm>
            <a:prstGeom prst="rect">
              <a:avLst/>
            </a:prstGeom>
            <a:solidFill>
              <a:srgbClr val="9C331E"/>
            </a:solidFill>
            <a:ln>
              <a:noFill/>
            </a:ln>
          </p:spPr>
        </p:sp>
        <p:sp>
          <p:nvSpPr>
            <p:cNvPr id="78" name="TextBox 78"/>
            <p:cNvSpPr txBox="1"/>
            <p:nvPr/>
          </p:nvSpPr>
          <p:spPr>
            <a:xfrm>
              <a:off x="2052638" y="4133136"/>
              <a:ext cx="77416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人员安全行为识别</a:t>
              </a:r>
            </a:p>
          </p:txBody>
        </p:sp>
        <p:sp>
          <p:nvSpPr>
            <p:cNvPr id="79" name="Rectangle 79"/>
            <p:cNvSpPr/>
            <p:nvPr/>
          </p:nvSpPr>
          <p:spPr>
            <a:xfrm>
              <a:off x="1962150" y="4324350"/>
              <a:ext cx="38100" cy="38100"/>
            </a:xfrm>
            <a:prstGeom prst="rect">
              <a:avLst/>
            </a:prstGeom>
            <a:solidFill>
              <a:srgbClr val="9C331E"/>
            </a:solidFill>
            <a:ln>
              <a:noFill/>
            </a:ln>
          </p:spPr>
        </p:sp>
        <p:sp>
          <p:nvSpPr>
            <p:cNvPr id="80" name="TextBox 80"/>
            <p:cNvSpPr txBox="1"/>
            <p:nvPr/>
          </p:nvSpPr>
          <p:spPr>
            <a:xfrm>
              <a:off x="2052638" y="4285536"/>
              <a:ext cx="86974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异常事件检测与联动</a:t>
              </a:r>
            </a:p>
          </p:txBody>
        </p:sp>
      </p:grpSp>
      <p:grpSp>
        <p:nvGrpSpPr>
          <p:cNvPr id="103" name="cap-4"/>
          <p:cNvGrpSpPr/>
          <p:nvPr/>
        </p:nvGrpSpPr>
        <p:grpSpPr>
          <a:xfrm>
            <a:off x="381000" y="4610100"/>
            <a:ext cx="3048000" cy="1028700"/>
            <a:chOff x="381000" y="4610100"/>
            <a:chExt cx="3048000" cy="1028700"/>
          </a:xfrm>
        </p:grpSpPr>
        <p:sp>
          <p:nvSpPr>
            <p:cNvPr id="82" name="Rectangle 82"/>
            <p:cNvSpPr/>
            <p:nvPr/>
          </p:nvSpPr>
          <p:spPr>
            <a:xfrm>
              <a:off x="381000" y="4610100"/>
              <a:ext cx="3048000" cy="1028700"/>
            </a:xfrm>
            <a:prstGeom prst="roundRect">
              <a:avLst>
                <a:gd name="adj" fmla="val 5556"/>
              </a:avLst>
            </a:prstGeom>
            <a:solidFill>
              <a:srgbClr val="FFFFFF"/>
            </a:solidFill>
            <a:ln w="9525">
              <a:solidFill>
                <a:srgbClr val="C7D9F0"/>
              </a:solidFill>
            </a:ln>
          </p:spPr>
        </p:sp>
        <p:sp>
          <p:nvSpPr>
            <p:cNvPr id="83" name="Rectangle 83"/>
            <p:cNvSpPr/>
            <p:nvPr/>
          </p:nvSpPr>
          <p:spPr>
            <a:xfrm>
              <a:off x="495300" y="4743450"/>
              <a:ext cx="323850" cy="323850"/>
            </a:xfrm>
            <a:prstGeom prst="roundRect">
              <a:avLst>
                <a:gd name="adj" fmla="val 17647"/>
              </a:avLst>
            </a:prstGeom>
            <a:solidFill>
              <a:srgbClr val="9C331E"/>
            </a:solidFill>
            <a:ln>
              <a:noFill/>
            </a:ln>
          </p:spPr>
        </p:sp>
        <p:grpSp>
          <p:nvGrpSpPr>
            <p:cNvPr id="88" name="Group 88"/>
            <p:cNvGrpSpPr/>
            <p:nvPr/>
          </p:nvGrpSpPr>
          <p:grpSpPr>
            <a:xfrm>
              <a:off x="585787" y="4841875"/>
              <a:ext cx="142875" cy="127000"/>
              <a:chOff x="585787" y="4841875"/>
              <a:chExt cx="142875" cy="127000"/>
            </a:xfrm>
          </p:grpSpPr>
          <p:sp>
            <p:nvSpPr>
              <p:cNvPr id="84" name="Freeform 84"/>
              <p:cNvSpPr/>
              <p:nvPr/>
            </p:nvSpPr>
            <p:spPr>
              <a:xfrm>
                <a:off x="585787" y="4865687"/>
                <a:ext cx="142875" cy="9525"/>
              </a:xfrm>
              <a:custGeom>
                <a:avLst/>
                <a:gdLst/>
                <a:ahLst/>
                <a:cxnLst/>
                <a:rect l="l" t="t" r="r" b="b"/>
                <a:pathLst>
                  <a:path w="142875" h="9525">
                    <a:moveTo>
                      <a:pt x="142875" y="0"/>
                    </a:moveTo>
                    <a:lnTo>
                      <a:pt x="0" y="0"/>
                    </a:lnTo>
                  </a:path>
                </a:pathLst>
              </a:custGeom>
              <a:noFill/>
              <a:ln w="15875">
                <a:solidFill>
                  <a:srgbClr val="FFFFFF"/>
                </a:solidFill>
              </a:ln>
            </p:spPr>
          </p:sp>
          <p:sp>
            <p:nvSpPr>
              <p:cNvPr id="85" name="Freeform 85"/>
              <p:cNvSpPr/>
              <p:nvPr/>
            </p:nvSpPr>
            <p:spPr>
              <a:xfrm>
                <a:off x="704850" y="4841875"/>
                <a:ext cx="23812" cy="47625"/>
              </a:xfrm>
              <a:custGeom>
                <a:avLst/>
                <a:gdLst/>
                <a:ahLst/>
                <a:cxnLst/>
                <a:rect l="l" t="t" r="r" b="b"/>
                <a:pathLst>
                  <a:path w="23812" h="47625">
                    <a:moveTo>
                      <a:pt x="0" y="47625"/>
                    </a:moveTo>
                    <a:lnTo>
                      <a:pt x="23812" y="23812"/>
                    </a:lnTo>
                    <a:lnTo>
                      <a:pt x="0" y="0"/>
                    </a:lnTo>
                  </a:path>
                </a:pathLst>
              </a:custGeom>
              <a:noFill/>
              <a:ln w="15875">
                <a:solidFill>
                  <a:srgbClr val="FFFFFF"/>
                </a:solidFill>
              </a:ln>
            </p:spPr>
          </p:sp>
          <p:sp>
            <p:nvSpPr>
              <p:cNvPr id="86" name="Freeform 86"/>
              <p:cNvSpPr/>
              <p:nvPr/>
            </p:nvSpPr>
            <p:spPr>
              <a:xfrm>
                <a:off x="585787" y="4921250"/>
                <a:ext cx="23812" cy="47625"/>
              </a:xfrm>
              <a:custGeom>
                <a:avLst/>
                <a:gdLst/>
                <a:ahLst/>
                <a:cxnLst/>
                <a:rect l="l" t="t" r="r" b="b"/>
                <a:pathLst>
                  <a:path w="23812" h="47625">
                    <a:moveTo>
                      <a:pt x="23812" y="47625"/>
                    </a:moveTo>
                    <a:lnTo>
                      <a:pt x="0" y="23812"/>
                    </a:lnTo>
                    <a:lnTo>
                      <a:pt x="23812" y="0"/>
                    </a:lnTo>
                  </a:path>
                </a:pathLst>
              </a:custGeom>
              <a:noFill/>
              <a:ln w="15875">
                <a:solidFill>
                  <a:srgbClr val="FFFFFF"/>
                </a:solidFill>
              </a:ln>
            </p:spPr>
          </p:sp>
          <p:sp>
            <p:nvSpPr>
              <p:cNvPr id="87" name="Freeform 87"/>
              <p:cNvSpPr/>
              <p:nvPr/>
            </p:nvSpPr>
            <p:spPr>
              <a:xfrm>
                <a:off x="585787" y="4945062"/>
                <a:ext cx="142875" cy="9525"/>
              </a:xfrm>
              <a:custGeom>
                <a:avLst/>
                <a:gdLst/>
                <a:ahLst/>
                <a:cxnLst/>
                <a:rect l="l" t="t" r="r" b="b"/>
                <a:pathLst>
                  <a:path w="142875" h="9525">
                    <a:moveTo>
                      <a:pt x="0" y="0"/>
                    </a:moveTo>
                    <a:lnTo>
                      <a:pt x="142875" y="0"/>
                    </a:lnTo>
                  </a:path>
                </a:pathLst>
              </a:custGeom>
              <a:noFill/>
              <a:ln w="15875">
                <a:solidFill>
                  <a:srgbClr val="FFFFFF"/>
                </a:solidFill>
              </a:ln>
            </p:spPr>
          </p:sp>
        </p:grpSp>
        <p:sp>
          <p:nvSpPr>
            <p:cNvPr id="89" name="TextBox 89"/>
            <p:cNvSpPr txBox="1"/>
            <p:nvPr/>
          </p:nvSpPr>
          <p:spPr>
            <a:xfrm>
              <a:off x="909256" y="4786551"/>
              <a:ext cx="690118" cy="198025"/>
            </a:xfrm>
            <a:prstGeom prst="rect">
              <a:avLst/>
            </a:prstGeom>
            <a:noFill/>
            <a:ln>
              <a:noFill/>
            </a:ln>
          </p:spPr>
          <p:txBody>
            <a:bodyPr wrap="none" lIns="0" tIns="0" rIns="0" bIns="0" anchor="t" anchorCtr="0">
              <a:spAutoFit/>
            </a:bodyPr>
            <a:lstStyle/>
            <a:p>
              <a:pPr algn="l"/>
              <a:r>
                <a:rPr lang="zh-CN" sz="1010" b="1" dirty="0">
                  <a:solidFill>
                    <a:srgbClr val="5E2114"/>
                  </a:solidFill>
                  <a:latin typeface="+mn-lt"/>
                  <a:ea typeface="+mn-ea"/>
                  <a:cs typeface="+mn-cs"/>
                </a:rPr>
                <a:t>维护与协同</a:t>
              </a:r>
            </a:p>
          </p:txBody>
        </p:sp>
        <p:sp>
          <p:nvSpPr>
            <p:cNvPr id="90" name="TextBox 90"/>
            <p:cNvSpPr txBox="1"/>
            <p:nvPr/>
          </p:nvSpPr>
          <p:spPr>
            <a:xfrm>
              <a:off x="909638" y="4975384"/>
              <a:ext cx="650316" cy="133350"/>
            </a:xfrm>
            <a:prstGeom prst="rect">
              <a:avLst/>
            </a:prstGeom>
            <a:noFill/>
            <a:ln>
              <a:noFill/>
            </a:ln>
          </p:spPr>
          <p:txBody>
            <a:bodyPr wrap="none" lIns="0" tIns="0" rIns="0" bIns="0" anchor="t" anchorCtr="0">
              <a:spAutoFit/>
            </a:bodyPr>
            <a:lstStyle/>
            <a:p>
              <a:pPr algn="l"/>
              <a:r>
                <a:rPr lang="zh-CN" sz="680" b="1" dirty="0">
                  <a:solidFill>
                    <a:srgbClr val="9C331E"/>
                  </a:solidFill>
                  <a:latin typeface="+mn-lt"/>
                  <a:ea typeface="+mn-ea"/>
                  <a:cs typeface="+mn-cs"/>
                </a:rPr>
                <a:t>管得好、联得上</a:t>
              </a:r>
            </a:p>
          </p:txBody>
        </p:sp>
        <p:sp>
          <p:nvSpPr>
            <p:cNvPr id="91" name="TextBox 91"/>
            <p:cNvSpPr txBox="1"/>
            <p:nvPr/>
          </p:nvSpPr>
          <p:spPr>
            <a:xfrm>
              <a:off x="490538" y="5246132"/>
              <a:ext cx="784936"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构建全生命周期协同</a:t>
              </a:r>
            </a:p>
          </p:txBody>
        </p:sp>
        <p:sp>
          <p:nvSpPr>
            <p:cNvPr id="92" name="Line 92"/>
            <p:cNvSpPr/>
            <p:nvPr/>
          </p:nvSpPr>
          <p:spPr>
            <a:xfrm>
              <a:off x="1866900" y="4724400"/>
              <a:ext cx="9525" cy="800100"/>
            </a:xfrm>
            <a:custGeom>
              <a:avLst/>
              <a:gdLst/>
              <a:ahLst/>
              <a:cxnLst/>
              <a:rect l="l" t="t" r="r" b="b"/>
              <a:pathLst>
                <a:path w="9525" h="800100">
                  <a:moveTo>
                    <a:pt x="0" y="0"/>
                  </a:moveTo>
                  <a:lnTo>
                    <a:pt x="0" y="800100"/>
                  </a:lnTo>
                </a:path>
              </a:pathLst>
            </a:custGeom>
            <a:noFill/>
            <a:ln w="9525">
              <a:solidFill>
                <a:srgbClr val="C7D9F0"/>
              </a:solidFill>
            </a:ln>
          </p:spPr>
        </p:sp>
        <p:sp>
          <p:nvSpPr>
            <p:cNvPr id="93" name="Rectangle 93"/>
            <p:cNvSpPr/>
            <p:nvPr/>
          </p:nvSpPr>
          <p:spPr>
            <a:xfrm>
              <a:off x="1962150" y="4724400"/>
              <a:ext cx="571500" cy="133350"/>
            </a:xfrm>
            <a:prstGeom prst="roundRect">
              <a:avLst>
                <a:gd name="adj" fmla="val 50000"/>
              </a:avLst>
            </a:prstGeom>
            <a:solidFill>
              <a:srgbClr val="DCE9F8"/>
            </a:solidFill>
            <a:ln>
              <a:noFill/>
            </a:ln>
          </p:spPr>
        </p:sp>
        <p:sp>
          <p:nvSpPr>
            <p:cNvPr id="94" name="TextBox 94"/>
            <p:cNvSpPr txBox="1"/>
            <p:nvPr/>
          </p:nvSpPr>
          <p:spPr>
            <a:xfrm>
              <a:off x="2034948" y="4754880"/>
              <a:ext cx="425905" cy="119062"/>
            </a:xfrm>
            <a:prstGeom prst="rect">
              <a:avLst/>
            </a:prstGeom>
            <a:noFill/>
            <a:ln>
              <a:noFill/>
            </a:ln>
          </p:spPr>
          <p:txBody>
            <a:bodyPr wrap="none" lIns="0" tIns="0" rIns="0" bIns="0" anchor="t" anchorCtr="0">
              <a:spAutoFit/>
            </a:bodyPr>
            <a:lstStyle/>
            <a:p>
              <a:pPr algn="ctr"/>
              <a:r>
                <a:rPr lang="zh-CN" sz="600" b="1" dirty="0">
                  <a:solidFill>
                    <a:srgbClr val="9C331E"/>
                  </a:solidFill>
                  <a:latin typeface="+mn-lt"/>
                  <a:ea typeface="+mn-ea"/>
                  <a:cs typeface="+mn-cs"/>
                </a:rPr>
                <a:t>4个子场景​</a:t>
              </a:r>
            </a:p>
          </p:txBody>
        </p:sp>
        <p:sp>
          <p:nvSpPr>
            <p:cNvPr id="95" name="Rectangle 95"/>
            <p:cNvSpPr/>
            <p:nvPr/>
          </p:nvSpPr>
          <p:spPr>
            <a:xfrm>
              <a:off x="1962150" y="4953000"/>
              <a:ext cx="38100" cy="38100"/>
            </a:xfrm>
            <a:prstGeom prst="rect">
              <a:avLst/>
            </a:prstGeom>
            <a:solidFill>
              <a:srgbClr val="9C331E"/>
            </a:solidFill>
            <a:ln>
              <a:noFill/>
            </a:ln>
          </p:spPr>
        </p:sp>
        <p:sp>
          <p:nvSpPr>
            <p:cNvPr id="96" name="TextBox 96"/>
            <p:cNvSpPr txBox="1"/>
            <p:nvPr/>
          </p:nvSpPr>
          <p:spPr>
            <a:xfrm>
              <a:off x="2052638" y="4914186"/>
              <a:ext cx="58300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设备健康管理</a:t>
              </a:r>
            </a:p>
          </p:txBody>
        </p:sp>
        <p:sp>
          <p:nvSpPr>
            <p:cNvPr id="97" name="Rectangle 97"/>
            <p:cNvSpPr/>
            <p:nvPr/>
          </p:nvSpPr>
          <p:spPr>
            <a:xfrm>
              <a:off x="1962150" y="5105400"/>
              <a:ext cx="38100" cy="38100"/>
            </a:xfrm>
            <a:prstGeom prst="rect">
              <a:avLst/>
            </a:prstGeom>
            <a:solidFill>
              <a:srgbClr val="9C331E"/>
            </a:solidFill>
            <a:ln>
              <a:noFill/>
            </a:ln>
          </p:spPr>
        </p:sp>
        <p:sp>
          <p:nvSpPr>
            <p:cNvPr id="98" name="TextBox 98"/>
            <p:cNvSpPr txBox="1"/>
            <p:nvPr/>
          </p:nvSpPr>
          <p:spPr>
            <a:xfrm>
              <a:off x="2052638" y="5066586"/>
              <a:ext cx="67858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故障诊断与处置</a:t>
              </a:r>
            </a:p>
          </p:txBody>
        </p:sp>
        <p:sp>
          <p:nvSpPr>
            <p:cNvPr id="99" name="Rectangle 99"/>
            <p:cNvSpPr/>
            <p:nvPr/>
          </p:nvSpPr>
          <p:spPr>
            <a:xfrm>
              <a:off x="1962150" y="5257800"/>
              <a:ext cx="38100" cy="38100"/>
            </a:xfrm>
            <a:prstGeom prst="rect">
              <a:avLst/>
            </a:prstGeom>
            <a:solidFill>
              <a:srgbClr val="9C331E"/>
            </a:solidFill>
            <a:ln>
              <a:noFill/>
            </a:ln>
          </p:spPr>
        </p:sp>
        <p:sp>
          <p:nvSpPr>
            <p:cNvPr id="100" name="TextBox 100"/>
            <p:cNvSpPr txBox="1"/>
            <p:nvPr/>
          </p:nvSpPr>
          <p:spPr>
            <a:xfrm>
              <a:off x="2052638" y="5218986"/>
              <a:ext cx="583006"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多机协同调度</a:t>
              </a:r>
            </a:p>
          </p:txBody>
        </p:sp>
        <p:sp>
          <p:nvSpPr>
            <p:cNvPr id="101" name="Rectangle 101"/>
            <p:cNvSpPr/>
            <p:nvPr/>
          </p:nvSpPr>
          <p:spPr>
            <a:xfrm>
              <a:off x="1962150" y="5410200"/>
              <a:ext cx="38100" cy="38100"/>
            </a:xfrm>
            <a:prstGeom prst="rect">
              <a:avLst/>
            </a:prstGeom>
            <a:solidFill>
              <a:srgbClr val="9C331E"/>
            </a:solidFill>
            <a:ln>
              <a:noFill/>
            </a:ln>
          </p:spPr>
        </p:sp>
        <p:sp>
          <p:nvSpPr>
            <p:cNvPr id="102" name="TextBox 102"/>
            <p:cNvSpPr txBox="1"/>
            <p:nvPr/>
          </p:nvSpPr>
          <p:spPr>
            <a:xfrm>
              <a:off x="2052638" y="5371386"/>
              <a:ext cx="86974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数据共享与远程支持</a:t>
              </a:r>
            </a:p>
          </p:txBody>
        </p:sp>
      </p:grpSp>
      <p:grpSp>
        <p:nvGrpSpPr>
          <p:cNvPr id="106" name="ring-band"/>
          <p:cNvGrpSpPr/>
          <p:nvPr/>
        </p:nvGrpSpPr>
        <p:grpSpPr>
          <a:xfrm>
            <a:off x="3543300" y="1123474"/>
            <a:ext cx="5029200" cy="190690"/>
            <a:chOff x="3543300" y="1123474"/>
            <a:chExt cx="5029200" cy="190690"/>
          </a:xfrm>
        </p:grpSpPr>
        <p:sp>
          <p:nvSpPr>
            <p:cNvPr id="104" name="TextBox 104"/>
            <p:cNvSpPr txBox="1"/>
            <p:nvPr/>
          </p:nvSpPr>
          <p:spPr>
            <a:xfrm>
              <a:off x="4931562" y="1123474"/>
              <a:ext cx="2252675" cy="190690"/>
            </a:xfrm>
            <a:prstGeom prst="rect">
              <a:avLst/>
            </a:prstGeom>
            <a:noFill/>
            <a:ln>
              <a:noFill/>
            </a:ln>
          </p:spPr>
          <p:txBody>
            <a:bodyPr wrap="none" lIns="0" tIns="0" rIns="0" bIns="0" anchor="t" anchorCtr="0">
              <a:spAutoFit/>
            </a:bodyPr>
            <a:lstStyle/>
            <a:p>
              <a:pPr algn="ctr"/>
              <a:r>
                <a:rPr lang="zh-CN" sz="980" b="1" dirty="0">
                  <a:solidFill>
                    <a:srgbClr val="5E2114"/>
                  </a:solidFill>
                  <a:latin typeface="+mn-lt"/>
                  <a:ea typeface="+mn-ea"/>
                  <a:cs typeface="+mn-cs"/>
                </a:rPr>
                <a:t>井下作业闭环：从环境感知到安全反馈</a:t>
              </a:r>
            </a:p>
          </p:txBody>
        </p:sp>
        <p:sp>
          <p:nvSpPr>
            <p:cNvPr id="105" name="Line 105"/>
            <p:cNvSpPr/>
            <p:nvPr/>
          </p:nvSpPr>
          <p:spPr>
            <a:xfrm>
              <a:off x="3543300" y="1276350"/>
              <a:ext cx="5029200" cy="9525"/>
            </a:xfrm>
            <a:custGeom>
              <a:avLst/>
              <a:gdLst/>
              <a:ahLst/>
              <a:cxnLst/>
              <a:rect l="l" t="t" r="r" b="b"/>
              <a:pathLst>
                <a:path w="5029200" h="9525">
                  <a:moveTo>
                    <a:pt x="0" y="0"/>
                  </a:moveTo>
                  <a:lnTo>
                    <a:pt x="5029200" y="0"/>
                  </a:lnTo>
                </a:path>
              </a:pathLst>
            </a:custGeom>
            <a:noFill/>
            <a:ln w="9525">
              <a:solidFill>
                <a:srgbClr val="9C331E"/>
              </a:solidFill>
            </a:ln>
          </p:spPr>
        </p:sp>
      </p:grpSp>
      <p:grpSp>
        <p:nvGrpSpPr>
          <p:cNvPr id="161" name="ring"/>
          <p:cNvGrpSpPr/>
          <p:nvPr/>
        </p:nvGrpSpPr>
        <p:grpSpPr>
          <a:xfrm>
            <a:off x="3877628" y="1428750"/>
            <a:ext cx="4284345" cy="2952750"/>
            <a:chOff x="3877628" y="1428750"/>
            <a:chExt cx="4284345" cy="2952750"/>
          </a:xfrm>
        </p:grpSpPr>
        <p:sp>
          <p:nvSpPr>
            <p:cNvPr id="107" name="Ellipse 107"/>
            <p:cNvSpPr/>
            <p:nvPr/>
          </p:nvSpPr>
          <p:spPr>
            <a:xfrm>
              <a:off x="4743450" y="1714500"/>
              <a:ext cx="2628900" cy="2628900"/>
            </a:xfrm>
            <a:prstGeom prst="ellipse">
              <a:avLst/>
            </a:prstGeom>
            <a:noFill/>
            <a:ln w="11430">
              <a:solidFill>
                <a:srgbClr val="ECB3A8"/>
              </a:solidFill>
              <a:prstDash val="dash"/>
            </a:ln>
          </p:spPr>
        </p:sp>
        <p:sp>
          <p:nvSpPr>
            <p:cNvPr id="108" name="Freeform 108"/>
            <p:cNvSpPr/>
            <p:nvPr/>
          </p:nvSpPr>
          <p:spPr>
            <a:xfrm>
              <a:off x="6397942" y="1759268"/>
              <a:ext cx="762000" cy="553402"/>
            </a:xfrm>
            <a:custGeom>
              <a:avLst/>
              <a:gdLst/>
              <a:ahLst/>
              <a:cxnLst/>
              <a:rect l="l" t="t" r="r" b="b"/>
              <a:pathLst>
                <a:path w="762000" h="553402">
                  <a:moveTo>
                    <a:pt x="0" y="0"/>
                  </a:moveTo>
                  <a:cubicBezTo>
                    <a:pt x="313632" y="84023"/>
                    <a:pt x="585068" y="281153"/>
                    <a:pt x="762000" y="553402"/>
                  </a:cubicBezTo>
                </a:path>
              </a:pathLst>
            </a:custGeom>
            <a:noFill/>
            <a:ln w="19050">
              <a:solidFill>
                <a:srgbClr val="9C331E"/>
              </a:solidFill>
              <a:tailEnd type="triangle" w="lg" len="lg"/>
            </a:ln>
          </p:spPr>
        </p:sp>
        <p:sp>
          <p:nvSpPr>
            <p:cNvPr id="109" name="Freeform 109"/>
            <p:cNvSpPr/>
            <p:nvPr/>
          </p:nvSpPr>
          <p:spPr>
            <a:xfrm>
              <a:off x="7078980" y="2960370"/>
              <a:ext cx="308207" cy="895350"/>
            </a:xfrm>
            <a:custGeom>
              <a:avLst/>
              <a:gdLst/>
              <a:ahLst/>
              <a:cxnLst/>
              <a:rect l="l" t="t" r="r" b="b"/>
              <a:pathLst>
                <a:path w="308207" h="895350">
                  <a:moveTo>
                    <a:pt x="291465" y="0"/>
                  </a:moveTo>
                  <a:cubicBezTo>
                    <a:pt x="308207" y="324202"/>
                    <a:pt x="204385" y="643132"/>
                    <a:pt x="0" y="895350"/>
                  </a:cubicBezTo>
                </a:path>
              </a:pathLst>
            </a:custGeom>
            <a:noFill/>
            <a:ln w="19050">
              <a:solidFill>
                <a:srgbClr val="9C331E"/>
              </a:solidFill>
              <a:tailEnd type="triangle" w="lg" len="lg"/>
            </a:ln>
          </p:spPr>
        </p:sp>
        <p:sp>
          <p:nvSpPr>
            <p:cNvPr id="110" name="Freeform 110"/>
            <p:cNvSpPr/>
            <p:nvPr/>
          </p:nvSpPr>
          <p:spPr>
            <a:xfrm>
              <a:off x="5586412" y="4255770"/>
              <a:ext cx="942975" cy="116628"/>
            </a:xfrm>
            <a:custGeom>
              <a:avLst/>
              <a:gdLst/>
              <a:ahLst/>
              <a:cxnLst/>
              <a:rect l="l" t="t" r="r" b="b"/>
              <a:pathLst>
                <a:path w="942975" h="116628">
                  <a:moveTo>
                    <a:pt x="942975" y="0"/>
                  </a:moveTo>
                  <a:cubicBezTo>
                    <a:pt x="639468" y="116628"/>
                    <a:pt x="303507" y="116628"/>
                    <a:pt x="0" y="0"/>
                  </a:cubicBezTo>
                </a:path>
              </a:pathLst>
            </a:custGeom>
            <a:noFill/>
            <a:ln w="19050">
              <a:solidFill>
                <a:srgbClr val="9C331E"/>
              </a:solidFill>
              <a:tailEnd type="triangle" w="lg" len="lg"/>
            </a:ln>
          </p:spPr>
        </p:sp>
        <p:sp>
          <p:nvSpPr>
            <p:cNvPr id="111" name="Freeform 111"/>
            <p:cNvSpPr/>
            <p:nvPr/>
          </p:nvSpPr>
          <p:spPr>
            <a:xfrm>
              <a:off x="4728613" y="2960370"/>
              <a:ext cx="308207" cy="895350"/>
            </a:xfrm>
            <a:custGeom>
              <a:avLst/>
              <a:gdLst/>
              <a:ahLst/>
              <a:cxnLst/>
              <a:rect l="l" t="t" r="r" b="b"/>
              <a:pathLst>
                <a:path w="308207" h="895350">
                  <a:moveTo>
                    <a:pt x="308207" y="895350"/>
                  </a:moveTo>
                  <a:cubicBezTo>
                    <a:pt x="103822" y="643132"/>
                    <a:pt x="0" y="324202"/>
                    <a:pt x="16742" y="0"/>
                  </a:cubicBezTo>
                </a:path>
              </a:pathLst>
            </a:custGeom>
            <a:noFill/>
            <a:ln w="19050">
              <a:solidFill>
                <a:srgbClr val="9C331E"/>
              </a:solidFill>
              <a:tailEnd type="triangle" w="lg" len="lg"/>
            </a:ln>
          </p:spPr>
        </p:sp>
        <p:sp>
          <p:nvSpPr>
            <p:cNvPr id="112" name="Freeform 112"/>
            <p:cNvSpPr/>
            <p:nvPr/>
          </p:nvSpPr>
          <p:spPr>
            <a:xfrm>
              <a:off x="4955858" y="1759267"/>
              <a:ext cx="762000" cy="553403"/>
            </a:xfrm>
            <a:custGeom>
              <a:avLst/>
              <a:gdLst/>
              <a:ahLst/>
              <a:cxnLst/>
              <a:rect l="l" t="t" r="r" b="b"/>
              <a:pathLst>
                <a:path w="762000" h="553403">
                  <a:moveTo>
                    <a:pt x="0" y="553403"/>
                  </a:moveTo>
                  <a:cubicBezTo>
                    <a:pt x="176932" y="281153"/>
                    <a:pt x="448368" y="84023"/>
                    <a:pt x="762000" y="0"/>
                  </a:cubicBezTo>
                </a:path>
              </a:pathLst>
            </a:custGeom>
            <a:noFill/>
            <a:ln w="19050">
              <a:solidFill>
                <a:srgbClr val="9C331E"/>
              </a:solidFill>
              <a:tailEnd type="triangle" w="lg" len="lg"/>
            </a:ln>
          </p:spPr>
        </p:sp>
        <p:sp>
          <p:nvSpPr>
            <p:cNvPr id="113" name="Ellipse 113"/>
            <p:cNvSpPr/>
            <p:nvPr/>
          </p:nvSpPr>
          <p:spPr>
            <a:xfrm>
              <a:off x="5314950" y="2286000"/>
              <a:ext cx="1485900" cy="1485900"/>
            </a:xfrm>
            <a:prstGeom prst="ellipse">
              <a:avLst/>
            </a:prstGeom>
            <a:gradFill>
              <a:gsLst>
                <a:gs pos="0">
                  <a:srgbClr val="D64A2E"/>
                </a:gs>
                <a:gs pos="100000">
                  <a:srgbClr val="632012"/>
                </a:gs>
              </a:gsLst>
              <a:lin ang="5400000" scaled="1"/>
            </a:gradFill>
            <a:ln>
              <a:noFill/>
            </a:ln>
          </p:spPr>
        </p:sp>
        <p:grpSp>
          <p:nvGrpSpPr>
            <p:cNvPr id="123" name="Group 123"/>
            <p:cNvGrpSpPr/>
            <p:nvPr/>
          </p:nvGrpSpPr>
          <p:grpSpPr>
            <a:xfrm>
              <a:off x="5974556" y="2519362"/>
              <a:ext cx="166688" cy="226219"/>
              <a:chOff x="5974556" y="2519362"/>
              <a:chExt cx="166688" cy="226219"/>
            </a:xfrm>
          </p:grpSpPr>
          <p:sp>
            <p:nvSpPr>
              <p:cNvPr id="114" name="Freeform 114"/>
              <p:cNvSpPr/>
              <p:nvPr/>
            </p:nvSpPr>
            <p:spPr>
              <a:xfrm>
                <a:off x="5986462" y="2543175"/>
                <a:ext cx="142875" cy="95250"/>
              </a:xfrm>
              <a:custGeom>
                <a:avLst/>
                <a:gdLst/>
                <a:ahLst/>
                <a:cxnLst/>
                <a:rect l="l" t="t" r="r" b="b"/>
                <a:pathLst>
                  <a:path w="142875" h="95250">
                    <a:moveTo>
                      <a:pt x="0" y="23812"/>
                    </a:moveTo>
                    <a:cubicBezTo>
                      <a:pt x="0" y="10661"/>
                      <a:pt x="10661" y="0"/>
                      <a:pt x="23812" y="0"/>
                    </a:cubicBezTo>
                    <a:lnTo>
                      <a:pt x="119062" y="0"/>
                    </a:lnTo>
                    <a:cubicBezTo>
                      <a:pt x="132214" y="0"/>
                      <a:pt x="142875" y="10661"/>
                      <a:pt x="142875" y="23812"/>
                    </a:cubicBezTo>
                    <a:lnTo>
                      <a:pt x="142875" y="71438"/>
                    </a:lnTo>
                    <a:cubicBezTo>
                      <a:pt x="142875" y="84589"/>
                      <a:pt x="132214" y="95250"/>
                      <a:pt x="119062" y="95250"/>
                    </a:cubicBezTo>
                    <a:lnTo>
                      <a:pt x="23812" y="95250"/>
                    </a:lnTo>
                    <a:cubicBezTo>
                      <a:pt x="10661" y="95250"/>
                      <a:pt x="0" y="84589"/>
                      <a:pt x="0" y="71438"/>
                    </a:cubicBezTo>
                    <a:lnTo>
                      <a:pt x="0" y="23812"/>
                    </a:lnTo>
                  </a:path>
                </a:pathLst>
              </a:custGeom>
              <a:noFill/>
              <a:ln w="23812">
                <a:solidFill>
                  <a:srgbClr val="FFFFFF"/>
                </a:solidFill>
              </a:ln>
            </p:spPr>
          </p:sp>
          <p:sp>
            <p:nvSpPr>
              <p:cNvPr id="115" name="Freeform 115"/>
              <p:cNvSpPr/>
              <p:nvPr/>
            </p:nvSpPr>
            <p:spPr>
              <a:xfrm>
                <a:off x="6057900" y="2519362"/>
                <a:ext cx="9525" cy="23812"/>
              </a:xfrm>
              <a:custGeom>
                <a:avLst/>
                <a:gdLst/>
                <a:ahLst/>
                <a:cxnLst/>
                <a:rect l="l" t="t" r="r" b="b"/>
                <a:pathLst>
                  <a:path w="9525" h="23812">
                    <a:moveTo>
                      <a:pt x="0" y="0"/>
                    </a:moveTo>
                    <a:lnTo>
                      <a:pt x="0" y="23812"/>
                    </a:lnTo>
                  </a:path>
                </a:pathLst>
              </a:custGeom>
              <a:noFill/>
              <a:ln w="23812">
                <a:solidFill>
                  <a:srgbClr val="FFFFFF"/>
                </a:solidFill>
              </a:ln>
            </p:spPr>
          </p:sp>
          <p:sp>
            <p:nvSpPr>
              <p:cNvPr id="116" name="Freeform 116"/>
              <p:cNvSpPr/>
              <p:nvPr/>
            </p:nvSpPr>
            <p:spPr>
              <a:xfrm>
                <a:off x="6022181" y="2638425"/>
                <a:ext cx="9525" cy="107156"/>
              </a:xfrm>
              <a:custGeom>
                <a:avLst/>
                <a:gdLst/>
                <a:ahLst/>
                <a:cxnLst/>
                <a:rect l="l" t="t" r="r" b="b"/>
                <a:pathLst>
                  <a:path w="9525" h="107156">
                    <a:moveTo>
                      <a:pt x="0" y="0"/>
                    </a:moveTo>
                    <a:lnTo>
                      <a:pt x="0" y="107156"/>
                    </a:lnTo>
                  </a:path>
                </a:pathLst>
              </a:custGeom>
              <a:noFill/>
              <a:ln w="23812">
                <a:solidFill>
                  <a:srgbClr val="FFFFFF"/>
                </a:solidFill>
              </a:ln>
            </p:spPr>
          </p:sp>
          <p:sp>
            <p:nvSpPr>
              <p:cNvPr id="117" name="Freeform 117"/>
              <p:cNvSpPr/>
              <p:nvPr/>
            </p:nvSpPr>
            <p:spPr>
              <a:xfrm>
                <a:off x="6093619" y="2638425"/>
                <a:ext cx="9525" cy="107156"/>
              </a:xfrm>
              <a:custGeom>
                <a:avLst/>
                <a:gdLst/>
                <a:ahLst/>
                <a:cxnLst/>
                <a:rect l="l" t="t" r="r" b="b"/>
                <a:pathLst>
                  <a:path w="9525" h="107156">
                    <a:moveTo>
                      <a:pt x="0" y="0"/>
                    </a:moveTo>
                    <a:lnTo>
                      <a:pt x="0" y="107156"/>
                    </a:lnTo>
                  </a:path>
                </a:pathLst>
              </a:custGeom>
              <a:noFill/>
              <a:ln w="23812">
                <a:solidFill>
                  <a:srgbClr val="FFFFFF"/>
                </a:solidFill>
              </a:ln>
            </p:spPr>
          </p:sp>
          <p:sp>
            <p:nvSpPr>
              <p:cNvPr id="118" name="Freeform 118"/>
              <p:cNvSpPr/>
              <p:nvPr/>
            </p:nvSpPr>
            <p:spPr>
              <a:xfrm>
                <a:off x="5974556" y="2662238"/>
                <a:ext cx="47625" cy="23812"/>
              </a:xfrm>
              <a:custGeom>
                <a:avLst/>
                <a:gdLst/>
                <a:ahLst/>
                <a:cxnLst/>
                <a:rect l="l" t="t" r="r" b="b"/>
                <a:pathLst>
                  <a:path w="47625" h="23812">
                    <a:moveTo>
                      <a:pt x="0" y="23812"/>
                    </a:moveTo>
                    <a:lnTo>
                      <a:pt x="47625" y="0"/>
                    </a:lnTo>
                  </a:path>
                </a:pathLst>
              </a:custGeom>
              <a:noFill/>
              <a:ln w="23812">
                <a:solidFill>
                  <a:srgbClr val="FFFFFF"/>
                </a:solidFill>
              </a:ln>
            </p:spPr>
          </p:sp>
          <p:sp>
            <p:nvSpPr>
              <p:cNvPr id="119" name="Freeform 119"/>
              <p:cNvSpPr/>
              <p:nvPr/>
            </p:nvSpPr>
            <p:spPr>
              <a:xfrm>
                <a:off x="6093619" y="2662238"/>
                <a:ext cx="47625" cy="23812"/>
              </a:xfrm>
              <a:custGeom>
                <a:avLst/>
                <a:gdLst/>
                <a:ahLst/>
                <a:cxnLst/>
                <a:rect l="l" t="t" r="r" b="b"/>
                <a:pathLst>
                  <a:path w="47625" h="23812">
                    <a:moveTo>
                      <a:pt x="0" y="0"/>
                    </a:moveTo>
                    <a:lnTo>
                      <a:pt x="47625" y="23812"/>
                    </a:lnTo>
                  </a:path>
                </a:pathLst>
              </a:custGeom>
              <a:noFill/>
              <a:ln w="23812">
                <a:solidFill>
                  <a:srgbClr val="FFFFFF"/>
                </a:solidFill>
              </a:ln>
            </p:spPr>
          </p:sp>
          <p:sp>
            <p:nvSpPr>
              <p:cNvPr id="120" name="Freeform 120"/>
              <p:cNvSpPr/>
              <p:nvPr/>
            </p:nvSpPr>
            <p:spPr>
              <a:xfrm>
                <a:off x="6022181" y="2709862"/>
                <a:ext cx="71438" cy="9525"/>
              </a:xfrm>
              <a:custGeom>
                <a:avLst/>
                <a:gdLst/>
                <a:ahLst/>
                <a:cxnLst/>
                <a:rect l="l" t="t" r="r" b="b"/>
                <a:pathLst>
                  <a:path w="71438" h="9525">
                    <a:moveTo>
                      <a:pt x="0" y="0"/>
                    </a:moveTo>
                    <a:lnTo>
                      <a:pt x="71438" y="0"/>
                    </a:lnTo>
                  </a:path>
                </a:pathLst>
              </a:custGeom>
              <a:noFill/>
              <a:ln w="23812">
                <a:solidFill>
                  <a:srgbClr val="FFFFFF"/>
                </a:solidFill>
              </a:ln>
            </p:spPr>
          </p:sp>
          <p:sp>
            <p:nvSpPr>
              <p:cNvPr id="121" name="Freeform 121"/>
              <p:cNvSpPr/>
              <p:nvPr/>
            </p:nvSpPr>
            <p:spPr>
              <a:xfrm>
                <a:off x="6034088" y="2590800"/>
                <a:ext cx="9525" cy="9525"/>
              </a:xfrm>
              <a:custGeom>
                <a:avLst/>
                <a:gdLst/>
                <a:ahLst/>
                <a:cxnLst/>
                <a:rect l="l" t="t" r="r" b="b"/>
                <a:pathLst>
                  <a:path w="9525" h="9525">
                    <a:moveTo>
                      <a:pt x="0" y="0"/>
                    </a:moveTo>
                    <a:lnTo>
                      <a:pt x="0" y="119"/>
                    </a:lnTo>
                  </a:path>
                </a:pathLst>
              </a:custGeom>
              <a:noFill/>
              <a:ln w="23812">
                <a:solidFill>
                  <a:srgbClr val="FFFFFF"/>
                </a:solidFill>
              </a:ln>
            </p:spPr>
          </p:sp>
          <p:sp>
            <p:nvSpPr>
              <p:cNvPr id="122" name="Freeform 122"/>
              <p:cNvSpPr/>
              <p:nvPr/>
            </p:nvSpPr>
            <p:spPr>
              <a:xfrm>
                <a:off x="6081712" y="2590800"/>
                <a:ext cx="9525" cy="9525"/>
              </a:xfrm>
              <a:custGeom>
                <a:avLst/>
                <a:gdLst/>
                <a:ahLst/>
                <a:cxnLst/>
                <a:rect l="l" t="t" r="r" b="b"/>
                <a:pathLst>
                  <a:path w="9525" h="9525">
                    <a:moveTo>
                      <a:pt x="0" y="0"/>
                    </a:moveTo>
                    <a:lnTo>
                      <a:pt x="0" y="119"/>
                    </a:lnTo>
                  </a:path>
                </a:pathLst>
              </a:custGeom>
              <a:noFill/>
              <a:ln w="23812">
                <a:solidFill>
                  <a:srgbClr val="FFFFFF"/>
                </a:solidFill>
              </a:ln>
            </p:spPr>
          </p:sp>
        </p:grpSp>
        <p:sp>
          <p:nvSpPr>
            <p:cNvPr id="124" name="TextBox 124"/>
            <p:cNvSpPr txBox="1"/>
            <p:nvPr/>
          </p:nvSpPr>
          <p:spPr>
            <a:xfrm>
              <a:off x="5465432" y="2854404"/>
              <a:ext cx="1184935"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具身智能煤矿装备</a:t>
              </a:r>
            </a:p>
          </p:txBody>
        </p:sp>
        <p:sp>
          <p:nvSpPr>
            <p:cNvPr id="125" name="TextBox 125"/>
            <p:cNvSpPr txBox="1"/>
            <p:nvPr/>
          </p:nvSpPr>
          <p:spPr>
            <a:xfrm>
              <a:off x="5640768" y="3089434"/>
              <a:ext cx="834263" cy="266700"/>
            </a:xfrm>
            <a:prstGeom prst="rect">
              <a:avLst/>
            </a:prstGeom>
            <a:noFill/>
            <a:ln>
              <a:noFill/>
            </a:ln>
          </p:spPr>
          <p:txBody>
            <a:bodyPr wrap="none" lIns="0" tIns="0" rIns="0" bIns="0" anchor="t" anchorCtr="0">
              <a:spAutoFit/>
            </a:bodyPr>
            <a:lstStyle/>
            <a:p>
              <a:pPr algn="ctr">
                <a:lnSpc>
                  <a:spcPts val="1050"/>
                </a:lnSpc>
              </a:pPr>
              <a:r>
                <a:rPr lang="zh-CN" sz="680" dirty="0">
                  <a:solidFill>
                    <a:srgbClr val="DCE9F8"/>
                  </a:solidFill>
                  <a:latin typeface="+mn-lt"/>
                  <a:ea typeface="+mn-ea"/>
                  <a:cs typeface="+mn-cs"/>
                </a:rPr>
                <a:t>让井下作业更安全、​</a:t>
              </a:r>
              <a:br/>
              <a:r>
                <a:rPr lang="zh-CN" sz="680" dirty="0">
                  <a:solidFill>
                    <a:srgbClr val="DCE9F8"/>
                  </a:solidFill>
                  <a:latin typeface="+mn-lt"/>
                  <a:ea typeface="+mn-ea"/>
                  <a:cs typeface="+mn-cs"/>
                </a:rPr>
                <a:t>更高效、更可持续</a:t>
              </a:r>
            </a:p>
          </p:txBody>
        </p:sp>
        <p:sp>
          <p:nvSpPr>
            <p:cNvPr id="126" name="Ellipse 126"/>
            <p:cNvSpPr/>
            <p:nvPr/>
          </p:nvSpPr>
          <p:spPr>
            <a:xfrm>
              <a:off x="5772150" y="1428750"/>
              <a:ext cx="571500" cy="571500"/>
            </a:xfrm>
            <a:prstGeom prst="ellipse">
              <a:avLst/>
            </a:prstGeom>
            <a:solidFill>
              <a:srgbClr val="FFFFFF"/>
            </a:solidFill>
            <a:ln w="19050">
              <a:solidFill>
                <a:srgbClr val="9C331E"/>
              </a:solidFill>
            </a:ln>
          </p:spPr>
        </p:sp>
        <p:grpSp>
          <p:nvGrpSpPr>
            <p:cNvPr id="129" name="Group 129"/>
            <p:cNvGrpSpPr/>
            <p:nvPr/>
          </p:nvGrpSpPr>
          <p:grpSpPr>
            <a:xfrm>
              <a:off x="5967290" y="1613575"/>
              <a:ext cx="181219" cy="200811"/>
              <a:chOff x="5967290" y="1613575"/>
              <a:chExt cx="181219" cy="200811"/>
            </a:xfrm>
          </p:grpSpPr>
          <p:sp>
            <p:nvSpPr>
              <p:cNvPr id="127" name="Freeform 127"/>
              <p:cNvSpPr/>
              <p:nvPr/>
            </p:nvSpPr>
            <p:spPr>
              <a:xfrm>
                <a:off x="6026943" y="1673225"/>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9C331E"/>
                </a:solidFill>
              </a:ln>
            </p:spPr>
          </p:sp>
          <p:sp>
            <p:nvSpPr>
              <p:cNvPr id="128" name="Freeform 128"/>
              <p:cNvSpPr/>
              <p:nvPr/>
            </p:nvSpPr>
            <p:spPr>
              <a:xfrm>
                <a:off x="5967290" y="1613575"/>
                <a:ext cx="181219" cy="200811"/>
              </a:xfrm>
              <a:custGeom>
                <a:avLst/>
                <a:gdLst/>
                <a:ahLst/>
                <a:cxnLst/>
                <a:rect l="l" t="t" r="r" b="b"/>
                <a:pathLst>
                  <a:path w="181219" h="200811">
                    <a:moveTo>
                      <a:pt x="148982" y="148979"/>
                    </a:moveTo>
                    <a:lnTo>
                      <a:pt x="105200" y="192761"/>
                    </a:lnTo>
                    <a:cubicBezTo>
                      <a:pt x="97142" y="200811"/>
                      <a:pt x="84087" y="200811"/>
                      <a:pt x="76029" y="192761"/>
                    </a:cubicBezTo>
                    <a:lnTo>
                      <a:pt x="32236" y="148979"/>
                    </a:lnTo>
                    <a:cubicBezTo>
                      <a:pt x="0" y="116741"/>
                      <a:pt x="1" y="64474"/>
                      <a:pt x="32238" y="32237"/>
                    </a:cubicBezTo>
                    <a:cubicBezTo>
                      <a:pt x="64476" y="0"/>
                      <a:pt x="116743" y="0"/>
                      <a:pt x="148980" y="32237"/>
                    </a:cubicBezTo>
                    <a:cubicBezTo>
                      <a:pt x="181218" y="64474"/>
                      <a:pt x="181219" y="116741"/>
                      <a:pt x="148982" y="148979"/>
                    </a:cubicBezTo>
                  </a:path>
                </a:pathLst>
              </a:custGeom>
              <a:noFill/>
              <a:ln w="20637">
                <a:solidFill>
                  <a:srgbClr val="9C331E"/>
                </a:solidFill>
              </a:ln>
            </p:spPr>
          </p:sp>
        </p:grpSp>
        <p:sp>
          <p:nvSpPr>
            <p:cNvPr id="130" name="TextBox 130"/>
            <p:cNvSpPr txBox="1"/>
            <p:nvPr/>
          </p:nvSpPr>
          <p:spPr>
            <a:xfrm>
              <a:off x="6415088" y="1587341"/>
              <a:ext cx="451079"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井下环境</a:t>
              </a:r>
            </a:p>
          </p:txBody>
        </p:sp>
        <p:sp>
          <p:nvSpPr>
            <p:cNvPr id="131" name="TextBox 131"/>
            <p:cNvSpPr txBox="1"/>
            <p:nvPr/>
          </p:nvSpPr>
          <p:spPr>
            <a:xfrm>
              <a:off x="6415088" y="1744980"/>
              <a:ext cx="50863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73F3A"/>
                  </a:solidFill>
                  <a:latin typeface="+mn-lt"/>
                  <a:ea typeface="+mn-ea"/>
                  <a:cs typeface="+mn-cs"/>
                </a:rPr>
                <a:t>复杂多变的</a:t>
              </a:r>
              <a:br/>
              <a:r>
                <a:rPr lang="zh-CN" sz="600" dirty="0">
                  <a:solidFill>
                    <a:srgbClr val="573F3A"/>
                  </a:solidFill>
                  <a:latin typeface="+mn-lt"/>
                  <a:ea typeface="+mn-ea"/>
                  <a:cs typeface="+mn-cs"/>
                </a:rPr>
                <a:t>井下作业场景​</a:t>
              </a:r>
            </a:p>
          </p:txBody>
        </p:sp>
        <p:sp>
          <p:nvSpPr>
            <p:cNvPr id="132" name="Ellipse 132"/>
            <p:cNvSpPr/>
            <p:nvPr/>
          </p:nvSpPr>
          <p:spPr>
            <a:xfrm>
              <a:off x="7019925" y="2333625"/>
              <a:ext cx="571500" cy="571500"/>
            </a:xfrm>
            <a:prstGeom prst="ellipse">
              <a:avLst/>
            </a:prstGeom>
            <a:solidFill>
              <a:srgbClr val="FFFFFF"/>
            </a:solidFill>
            <a:ln w="19050">
              <a:solidFill>
                <a:srgbClr val="9C331E"/>
              </a:solidFill>
            </a:ln>
          </p:spPr>
        </p:sp>
        <p:grpSp>
          <p:nvGrpSpPr>
            <p:cNvPr id="136" name="Group 136"/>
            <p:cNvGrpSpPr/>
            <p:nvPr/>
          </p:nvGrpSpPr>
          <p:grpSpPr>
            <a:xfrm>
              <a:off x="7203739" y="2527759"/>
              <a:ext cx="203871" cy="167603"/>
              <a:chOff x="7203739" y="2527759"/>
              <a:chExt cx="203871" cy="167603"/>
            </a:xfrm>
          </p:grpSpPr>
          <p:sp>
            <p:nvSpPr>
              <p:cNvPr id="133" name="Freeform 133"/>
              <p:cNvSpPr/>
              <p:nvPr/>
            </p:nvSpPr>
            <p:spPr>
              <a:xfrm>
                <a:off x="7203739" y="2527759"/>
                <a:ext cx="203871" cy="167603"/>
              </a:xfrm>
              <a:custGeom>
                <a:avLst/>
                <a:gdLst/>
                <a:ahLst/>
                <a:cxnLst/>
                <a:rect l="l" t="t" r="r" b="b"/>
                <a:pathLst>
                  <a:path w="203871" h="167603">
                    <a:moveTo>
                      <a:pt x="167604" y="167603"/>
                    </a:moveTo>
                    <a:cubicBezTo>
                      <a:pt x="203871" y="131335"/>
                      <a:pt x="203871" y="72534"/>
                      <a:pt x="167603" y="36267"/>
                    </a:cubicBezTo>
                    <a:cubicBezTo>
                      <a:pt x="131336" y="0"/>
                      <a:pt x="72535" y="0"/>
                      <a:pt x="36268" y="36267"/>
                    </a:cubicBezTo>
                    <a:cubicBezTo>
                      <a:pt x="0" y="72534"/>
                      <a:pt x="0" y="131335"/>
                      <a:pt x="36267" y="167603"/>
                    </a:cubicBezTo>
                  </a:path>
                </a:pathLst>
              </a:custGeom>
              <a:noFill/>
              <a:ln w="20637">
                <a:solidFill>
                  <a:srgbClr val="9C331E"/>
                </a:solidFill>
              </a:ln>
            </p:spPr>
          </p:sp>
          <p:sp>
            <p:nvSpPr>
              <p:cNvPr id="134" name="Freeform 134"/>
              <p:cNvSpPr/>
              <p:nvPr/>
            </p:nvSpPr>
            <p:spPr>
              <a:xfrm>
                <a:off x="7249043" y="2573073"/>
                <a:ext cx="113263" cy="93108"/>
              </a:xfrm>
              <a:custGeom>
                <a:avLst/>
                <a:gdLst/>
                <a:ahLst/>
                <a:cxnLst/>
                <a:rect l="l" t="t" r="r" b="b"/>
                <a:pathLst>
                  <a:path w="113263" h="93108">
                    <a:moveTo>
                      <a:pt x="93119" y="93108"/>
                    </a:moveTo>
                    <a:cubicBezTo>
                      <a:pt x="113263" y="72958"/>
                      <a:pt x="113260" y="40293"/>
                      <a:pt x="93112" y="20146"/>
                    </a:cubicBezTo>
                    <a:cubicBezTo>
                      <a:pt x="72964" y="0"/>
                      <a:pt x="40299" y="0"/>
                      <a:pt x="20151" y="20146"/>
                    </a:cubicBezTo>
                    <a:cubicBezTo>
                      <a:pt x="3" y="40293"/>
                      <a:pt x="0" y="72958"/>
                      <a:pt x="20145" y="93108"/>
                    </a:cubicBezTo>
                  </a:path>
                </a:pathLst>
              </a:custGeom>
              <a:noFill/>
              <a:ln w="20637">
                <a:solidFill>
                  <a:srgbClr val="9C331E"/>
                </a:solidFill>
              </a:ln>
            </p:spPr>
          </p:sp>
          <p:sp>
            <p:nvSpPr>
              <p:cNvPr id="135" name="Freeform 135"/>
              <p:cNvSpPr/>
              <p:nvPr/>
            </p:nvSpPr>
            <p:spPr>
              <a:xfrm>
                <a:off x="7295356" y="2619375"/>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9C331E"/>
                </a:solidFill>
              </a:ln>
            </p:spPr>
          </p:sp>
        </p:grpSp>
        <p:sp>
          <p:nvSpPr>
            <p:cNvPr id="137" name="TextBox 137"/>
            <p:cNvSpPr txBox="1"/>
            <p:nvPr/>
          </p:nvSpPr>
          <p:spPr>
            <a:xfrm>
              <a:off x="7653338" y="2482691"/>
              <a:ext cx="451079"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装备感知</a:t>
              </a:r>
            </a:p>
          </p:txBody>
        </p:sp>
        <p:sp>
          <p:nvSpPr>
            <p:cNvPr id="138" name="TextBox 138"/>
            <p:cNvSpPr txBox="1"/>
            <p:nvPr/>
          </p:nvSpPr>
          <p:spPr>
            <a:xfrm>
              <a:off x="7653338" y="2640330"/>
              <a:ext cx="50863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73F3A"/>
                  </a:solidFill>
                  <a:latin typeface="+mn-lt"/>
                  <a:ea typeface="+mn-ea"/>
                  <a:cs typeface="+mn-cs"/>
                </a:rPr>
                <a:t>多源融合感知​</a:t>
              </a:r>
              <a:br/>
              <a:r>
                <a:rPr lang="zh-CN" sz="600" dirty="0">
                  <a:solidFill>
                    <a:srgbClr val="573F3A"/>
                  </a:solidFill>
                  <a:latin typeface="+mn-lt"/>
                  <a:ea typeface="+mn-ea"/>
                  <a:cs typeface="+mn-cs"/>
                </a:rPr>
                <a:t>实时获取信息​</a:t>
              </a:r>
            </a:p>
          </p:txBody>
        </p:sp>
        <p:sp>
          <p:nvSpPr>
            <p:cNvPr id="139" name="Ellipse 139"/>
            <p:cNvSpPr/>
            <p:nvPr/>
          </p:nvSpPr>
          <p:spPr>
            <a:xfrm>
              <a:off x="6543675" y="3810000"/>
              <a:ext cx="571500" cy="571500"/>
            </a:xfrm>
            <a:prstGeom prst="ellipse">
              <a:avLst/>
            </a:prstGeom>
            <a:solidFill>
              <a:srgbClr val="FFFFFF"/>
            </a:solidFill>
            <a:ln w="19050">
              <a:solidFill>
                <a:srgbClr val="9C331E"/>
              </a:solidFill>
            </a:ln>
          </p:spPr>
        </p:sp>
        <p:grpSp>
          <p:nvGrpSpPr>
            <p:cNvPr id="146" name="Group 146"/>
            <p:cNvGrpSpPr/>
            <p:nvPr/>
          </p:nvGrpSpPr>
          <p:grpSpPr>
            <a:xfrm>
              <a:off x="6736556" y="4002881"/>
              <a:ext cx="185737" cy="185737"/>
              <a:chOff x="6736556" y="4002881"/>
              <a:chExt cx="185737" cy="185737"/>
            </a:xfrm>
          </p:grpSpPr>
          <p:sp>
            <p:nvSpPr>
              <p:cNvPr id="140" name="Freeform 140"/>
              <p:cNvSpPr/>
              <p:nvPr/>
            </p:nvSpPr>
            <p:spPr>
              <a:xfrm>
                <a:off x="6829425" y="4106068"/>
                <a:ext cx="72231" cy="82550"/>
              </a:xfrm>
              <a:custGeom>
                <a:avLst/>
                <a:gdLst/>
                <a:ahLst/>
                <a:cxnLst/>
                <a:rect l="l" t="t" r="r" b="b"/>
                <a:pathLst>
                  <a:path w="72231" h="82550">
                    <a:moveTo>
                      <a:pt x="36116" y="0"/>
                    </a:moveTo>
                    <a:cubicBezTo>
                      <a:pt x="16169" y="0"/>
                      <a:pt x="0" y="16169"/>
                      <a:pt x="0" y="36116"/>
                    </a:cubicBezTo>
                    <a:lnTo>
                      <a:pt x="0" y="46434"/>
                    </a:lnTo>
                    <a:cubicBezTo>
                      <a:pt x="0" y="66380"/>
                      <a:pt x="16169" y="82550"/>
                      <a:pt x="36116" y="82550"/>
                    </a:cubicBezTo>
                    <a:cubicBezTo>
                      <a:pt x="56062" y="82550"/>
                      <a:pt x="72231" y="66380"/>
                      <a:pt x="72231" y="46434"/>
                    </a:cubicBezTo>
                    <a:lnTo>
                      <a:pt x="72231" y="27861"/>
                    </a:lnTo>
                  </a:path>
                </a:pathLst>
              </a:custGeom>
              <a:noFill/>
              <a:ln w="20637">
                <a:solidFill>
                  <a:srgbClr val="9C331E"/>
                </a:solidFill>
              </a:ln>
            </p:spPr>
          </p:sp>
          <p:sp>
            <p:nvSpPr>
              <p:cNvPr id="141" name="Freeform 141"/>
              <p:cNvSpPr/>
              <p:nvPr/>
            </p:nvSpPr>
            <p:spPr>
              <a:xfrm>
                <a:off x="6757194" y="4106068"/>
                <a:ext cx="72231" cy="82550"/>
              </a:xfrm>
              <a:custGeom>
                <a:avLst/>
                <a:gdLst/>
                <a:ahLst/>
                <a:cxnLst/>
                <a:rect l="l" t="t" r="r" b="b"/>
                <a:pathLst>
                  <a:path w="72231" h="82550">
                    <a:moveTo>
                      <a:pt x="36116" y="0"/>
                    </a:moveTo>
                    <a:cubicBezTo>
                      <a:pt x="56062" y="0"/>
                      <a:pt x="72231" y="16169"/>
                      <a:pt x="72231" y="36116"/>
                    </a:cubicBezTo>
                    <a:lnTo>
                      <a:pt x="72231" y="46434"/>
                    </a:lnTo>
                    <a:cubicBezTo>
                      <a:pt x="72231" y="66380"/>
                      <a:pt x="56062" y="82550"/>
                      <a:pt x="36116" y="82550"/>
                    </a:cubicBezTo>
                    <a:cubicBezTo>
                      <a:pt x="16169" y="82550"/>
                      <a:pt x="0" y="66380"/>
                      <a:pt x="0" y="46434"/>
                    </a:cubicBezTo>
                    <a:lnTo>
                      <a:pt x="0" y="27861"/>
                    </a:lnTo>
                  </a:path>
                </a:pathLst>
              </a:custGeom>
              <a:noFill/>
              <a:ln w="20637">
                <a:solidFill>
                  <a:srgbClr val="9C331E"/>
                </a:solidFill>
              </a:ln>
            </p:spPr>
          </p:sp>
          <p:sp>
            <p:nvSpPr>
              <p:cNvPr id="142" name="Freeform 142"/>
              <p:cNvSpPr/>
              <p:nvPr/>
            </p:nvSpPr>
            <p:spPr>
              <a:xfrm>
                <a:off x="6881018" y="4064793"/>
                <a:ext cx="41275" cy="72231"/>
              </a:xfrm>
              <a:custGeom>
                <a:avLst/>
                <a:gdLst/>
                <a:ahLst/>
                <a:cxnLst/>
                <a:rect l="l" t="t" r="r" b="b"/>
                <a:pathLst>
                  <a:path w="41275" h="72231">
                    <a:moveTo>
                      <a:pt x="5159" y="72231"/>
                    </a:moveTo>
                    <a:cubicBezTo>
                      <a:pt x="25105" y="72231"/>
                      <a:pt x="41275" y="56062"/>
                      <a:pt x="41275" y="36116"/>
                    </a:cubicBezTo>
                    <a:cubicBezTo>
                      <a:pt x="41275" y="16169"/>
                      <a:pt x="25105" y="0"/>
                      <a:pt x="5159" y="0"/>
                    </a:cubicBezTo>
                    <a:lnTo>
                      <a:pt x="0" y="0"/>
                    </a:lnTo>
                  </a:path>
                </a:pathLst>
              </a:custGeom>
              <a:noFill/>
              <a:ln w="20637">
                <a:solidFill>
                  <a:srgbClr val="9C331E"/>
                </a:solidFill>
              </a:ln>
            </p:spPr>
          </p:sp>
          <p:sp>
            <p:nvSpPr>
              <p:cNvPr id="143" name="Freeform 143"/>
              <p:cNvSpPr/>
              <p:nvPr/>
            </p:nvSpPr>
            <p:spPr>
              <a:xfrm>
                <a:off x="6829425" y="4002881"/>
                <a:ext cx="72231" cy="65008"/>
              </a:xfrm>
              <a:custGeom>
                <a:avLst/>
                <a:gdLst/>
                <a:ahLst/>
                <a:cxnLst/>
                <a:rect l="l" t="t" r="r" b="b"/>
                <a:pathLst>
                  <a:path w="72231" h="65008">
                    <a:moveTo>
                      <a:pt x="72231" y="65008"/>
                    </a:moveTo>
                    <a:lnTo>
                      <a:pt x="72231" y="36116"/>
                    </a:lnTo>
                    <a:cubicBezTo>
                      <a:pt x="72231" y="16169"/>
                      <a:pt x="56062" y="0"/>
                      <a:pt x="36116" y="0"/>
                    </a:cubicBezTo>
                    <a:cubicBezTo>
                      <a:pt x="16169" y="0"/>
                      <a:pt x="0" y="16169"/>
                      <a:pt x="0" y="36116"/>
                    </a:cubicBezTo>
                  </a:path>
                </a:pathLst>
              </a:custGeom>
              <a:noFill/>
              <a:ln w="20637">
                <a:solidFill>
                  <a:srgbClr val="9C331E"/>
                </a:solidFill>
              </a:ln>
            </p:spPr>
          </p:sp>
          <p:sp>
            <p:nvSpPr>
              <p:cNvPr id="144" name="Freeform 144"/>
              <p:cNvSpPr/>
              <p:nvPr/>
            </p:nvSpPr>
            <p:spPr>
              <a:xfrm>
                <a:off x="6736556" y="4064793"/>
                <a:ext cx="41275" cy="72231"/>
              </a:xfrm>
              <a:custGeom>
                <a:avLst/>
                <a:gdLst/>
                <a:ahLst/>
                <a:cxnLst/>
                <a:rect l="l" t="t" r="r" b="b"/>
                <a:pathLst>
                  <a:path w="41275" h="72231">
                    <a:moveTo>
                      <a:pt x="36116" y="72231"/>
                    </a:moveTo>
                    <a:cubicBezTo>
                      <a:pt x="16169" y="72231"/>
                      <a:pt x="0" y="56062"/>
                      <a:pt x="0" y="36116"/>
                    </a:cubicBezTo>
                    <a:cubicBezTo>
                      <a:pt x="0" y="16169"/>
                      <a:pt x="16169" y="0"/>
                      <a:pt x="36116" y="0"/>
                    </a:cubicBezTo>
                    <a:lnTo>
                      <a:pt x="41275" y="0"/>
                    </a:lnTo>
                  </a:path>
                </a:pathLst>
              </a:custGeom>
              <a:noFill/>
              <a:ln w="20637">
                <a:solidFill>
                  <a:srgbClr val="9C331E"/>
                </a:solidFill>
              </a:ln>
            </p:spPr>
          </p:sp>
          <p:sp>
            <p:nvSpPr>
              <p:cNvPr id="145" name="Freeform 145"/>
              <p:cNvSpPr/>
              <p:nvPr/>
            </p:nvSpPr>
            <p:spPr>
              <a:xfrm>
                <a:off x="6757194" y="4002881"/>
                <a:ext cx="72231" cy="139303"/>
              </a:xfrm>
              <a:custGeom>
                <a:avLst/>
                <a:gdLst/>
                <a:ahLst/>
                <a:cxnLst/>
                <a:rect l="l" t="t" r="r" b="b"/>
                <a:pathLst>
                  <a:path w="72231" h="139303">
                    <a:moveTo>
                      <a:pt x="0" y="65008"/>
                    </a:moveTo>
                    <a:lnTo>
                      <a:pt x="0" y="36116"/>
                    </a:lnTo>
                    <a:cubicBezTo>
                      <a:pt x="0" y="16169"/>
                      <a:pt x="16169" y="0"/>
                      <a:pt x="36116" y="0"/>
                    </a:cubicBezTo>
                    <a:cubicBezTo>
                      <a:pt x="56062" y="0"/>
                      <a:pt x="72231" y="16169"/>
                      <a:pt x="72231" y="36116"/>
                    </a:cubicBezTo>
                    <a:lnTo>
                      <a:pt x="72231" y="139303"/>
                    </a:lnTo>
                  </a:path>
                </a:pathLst>
              </a:custGeom>
              <a:noFill/>
              <a:ln w="20637">
                <a:solidFill>
                  <a:srgbClr val="9C331E"/>
                </a:solidFill>
              </a:ln>
            </p:spPr>
          </p:sp>
        </p:grpSp>
        <p:sp>
          <p:nvSpPr>
            <p:cNvPr id="147" name="TextBox 147"/>
            <p:cNvSpPr txBox="1"/>
            <p:nvPr/>
          </p:nvSpPr>
          <p:spPr>
            <a:xfrm>
              <a:off x="7177088" y="3968591"/>
              <a:ext cx="451079"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任务决策</a:t>
              </a:r>
            </a:p>
          </p:txBody>
        </p:sp>
        <p:sp>
          <p:nvSpPr>
            <p:cNvPr id="148" name="TextBox 148"/>
            <p:cNvSpPr txBox="1"/>
            <p:nvPr/>
          </p:nvSpPr>
          <p:spPr>
            <a:xfrm>
              <a:off x="7177088" y="4126230"/>
              <a:ext cx="50863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73F3A"/>
                  </a:solidFill>
                  <a:latin typeface="+mn-lt"/>
                  <a:ea typeface="+mn-ea"/>
                  <a:cs typeface="+mn-cs"/>
                </a:rPr>
                <a:t>理解场景</a:t>
              </a:r>
              <a:br/>
              <a:r>
                <a:rPr lang="zh-CN" sz="600" dirty="0">
                  <a:solidFill>
                    <a:srgbClr val="573F3A"/>
                  </a:solidFill>
                  <a:latin typeface="+mn-lt"/>
                  <a:ea typeface="+mn-ea"/>
                  <a:cs typeface="+mn-cs"/>
                </a:rPr>
                <a:t>生成作业策略​</a:t>
              </a:r>
            </a:p>
          </p:txBody>
        </p:sp>
        <p:sp>
          <p:nvSpPr>
            <p:cNvPr id="149" name="Ellipse 149"/>
            <p:cNvSpPr/>
            <p:nvPr/>
          </p:nvSpPr>
          <p:spPr>
            <a:xfrm>
              <a:off x="5000625" y="3810000"/>
              <a:ext cx="571500" cy="571500"/>
            </a:xfrm>
            <a:prstGeom prst="ellipse">
              <a:avLst/>
            </a:prstGeom>
            <a:solidFill>
              <a:srgbClr val="FFFFFF"/>
            </a:solidFill>
            <a:ln w="19050">
              <a:solidFill>
                <a:srgbClr val="9C331E"/>
              </a:solidFill>
            </a:ln>
          </p:spPr>
        </p:sp>
        <p:grpSp>
          <p:nvGrpSpPr>
            <p:cNvPr id="152" name="Group 152"/>
            <p:cNvGrpSpPr/>
            <p:nvPr/>
          </p:nvGrpSpPr>
          <p:grpSpPr>
            <a:xfrm>
              <a:off x="5188976" y="3998351"/>
              <a:ext cx="194797" cy="194797"/>
              <a:chOff x="5188976" y="3998351"/>
              <a:chExt cx="194797" cy="194797"/>
            </a:xfrm>
          </p:grpSpPr>
          <p:sp>
            <p:nvSpPr>
              <p:cNvPr id="150" name="Freeform 150"/>
              <p:cNvSpPr/>
              <p:nvPr/>
            </p:nvSpPr>
            <p:spPr>
              <a:xfrm>
                <a:off x="5188976" y="3998351"/>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9C331E"/>
                </a:solidFill>
              </a:ln>
            </p:spPr>
          </p:sp>
          <p:sp>
            <p:nvSpPr>
              <p:cNvPr id="151" name="Freeform 151"/>
              <p:cNvSpPr/>
              <p:nvPr/>
            </p:nvSpPr>
            <p:spPr>
              <a:xfrm>
                <a:off x="5255418" y="4064793"/>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9C331E"/>
                </a:solidFill>
              </a:ln>
            </p:spPr>
          </p:sp>
        </p:grpSp>
        <p:sp>
          <p:nvSpPr>
            <p:cNvPr id="153" name="TextBox 153"/>
            <p:cNvSpPr txBox="1"/>
            <p:nvPr/>
          </p:nvSpPr>
          <p:spPr>
            <a:xfrm>
              <a:off x="4487634" y="3968591"/>
              <a:ext cx="451079" cy="161925"/>
            </a:xfrm>
            <a:prstGeom prst="rect">
              <a:avLst/>
            </a:prstGeom>
            <a:noFill/>
            <a:ln>
              <a:noFill/>
            </a:ln>
          </p:spPr>
          <p:txBody>
            <a:bodyPr wrap="none" lIns="0" tIns="0" rIns="0" bIns="0" anchor="t" anchorCtr="0">
              <a:spAutoFit/>
            </a:bodyPr>
            <a:lstStyle/>
            <a:p>
              <a:pPr algn="r"/>
              <a:r>
                <a:rPr lang="zh-CN" sz="820" b="1" dirty="0">
                  <a:solidFill>
                    <a:srgbClr val="5E2114"/>
                  </a:solidFill>
                  <a:latin typeface="+mn-lt"/>
                  <a:ea typeface="+mn-ea"/>
                  <a:cs typeface="+mn-cs"/>
                </a:rPr>
                <a:t>动作执行</a:t>
              </a:r>
            </a:p>
          </p:txBody>
        </p:sp>
        <p:sp>
          <p:nvSpPr>
            <p:cNvPr id="154" name="TextBox 154"/>
            <p:cNvSpPr txBox="1"/>
            <p:nvPr/>
          </p:nvSpPr>
          <p:spPr>
            <a:xfrm>
              <a:off x="4430078" y="4126230"/>
              <a:ext cx="508635" cy="214312"/>
            </a:xfrm>
            <a:prstGeom prst="rect">
              <a:avLst/>
            </a:prstGeom>
            <a:noFill/>
            <a:ln>
              <a:noFill/>
            </a:ln>
          </p:spPr>
          <p:txBody>
            <a:bodyPr wrap="none" lIns="0" tIns="0" rIns="0" bIns="0" anchor="t" anchorCtr="0">
              <a:spAutoFit/>
            </a:bodyPr>
            <a:lstStyle/>
            <a:p>
              <a:pPr algn="r">
                <a:lnSpc>
                  <a:spcPts val="750"/>
                </a:lnSpc>
              </a:pPr>
              <a:r>
                <a:rPr lang="zh-CN" sz="600" dirty="0">
                  <a:solidFill>
                    <a:srgbClr val="573F3A"/>
                  </a:solidFill>
                  <a:latin typeface="+mn-lt"/>
                  <a:ea typeface="+mn-ea"/>
                  <a:cs typeface="+mn-cs"/>
                </a:rPr>
                <a:t>多装备协同</a:t>
              </a:r>
              <a:br/>
              <a:r>
                <a:rPr lang="zh-CN" sz="600" dirty="0">
                  <a:solidFill>
                    <a:srgbClr val="573F3A"/>
                  </a:solidFill>
                  <a:latin typeface="+mn-lt"/>
                  <a:ea typeface="+mn-ea"/>
                  <a:cs typeface="+mn-cs"/>
                </a:rPr>
                <a:t>精准稳定作业​</a:t>
              </a:r>
            </a:p>
          </p:txBody>
        </p:sp>
        <p:sp>
          <p:nvSpPr>
            <p:cNvPr id="155" name="Ellipse 155"/>
            <p:cNvSpPr/>
            <p:nvPr/>
          </p:nvSpPr>
          <p:spPr>
            <a:xfrm>
              <a:off x="4524375" y="2333625"/>
              <a:ext cx="571500" cy="571500"/>
            </a:xfrm>
            <a:prstGeom prst="ellipse">
              <a:avLst/>
            </a:prstGeom>
            <a:solidFill>
              <a:srgbClr val="FFFFFF"/>
            </a:solidFill>
            <a:ln w="19050">
              <a:solidFill>
                <a:srgbClr val="9C331E"/>
              </a:solidFill>
            </a:ln>
          </p:spPr>
        </p:sp>
        <p:grpSp>
          <p:nvGrpSpPr>
            <p:cNvPr id="158" name="Group 158"/>
            <p:cNvGrpSpPr/>
            <p:nvPr/>
          </p:nvGrpSpPr>
          <p:grpSpPr>
            <a:xfrm>
              <a:off x="4703331" y="2526506"/>
              <a:ext cx="201506" cy="185737"/>
              <a:chOff x="4703331" y="2526506"/>
              <a:chExt cx="201506" cy="185737"/>
            </a:xfrm>
          </p:grpSpPr>
          <p:sp>
            <p:nvSpPr>
              <p:cNvPr id="156" name="Freeform 156"/>
              <p:cNvSpPr/>
              <p:nvPr/>
            </p:nvSpPr>
            <p:spPr>
              <a:xfrm>
                <a:off x="4703331" y="252650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9C331E"/>
                </a:solidFill>
              </a:ln>
            </p:spPr>
          </p:sp>
          <p:sp>
            <p:nvSpPr>
              <p:cNvPr id="157" name="Freeform 157"/>
              <p:cNvSpPr/>
              <p:nvPr/>
            </p:nvSpPr>
            <p:spPr>
              <a:xfrm>
                <a:off x="4841081" y="2670968"/>
                <a:ext cx="61912" cy="41275"/>
              </a:xfrm>
              <a:custGeom>
                <a:avLst/>
                <a:gdLst/>
                <a:ahLst/>
                <a:cxnLst/>
                <a:rect l="l" t="t" r="r" b="b"/>
                <a:pathLst>
                  <a:path w="61912" h="41275">
                    <a:moveTo>
                      <a:pt x="0" y="20637"/>
                    </a:moveTo>
                    <a:lnTo>
                      <a:pt x="20637" y="41275"/>
                    </a:lnTo>
                    <a:lnTo>
                      <a:pt x="61912" y="0"/>
                    </a:lnTo>
                  </a:path>
                </a:pathLst>
              </a:custGeom>
              <a:noFill/>
              <a:ln w="20637">
                <a:solidFill>
                  <a:srgbClr val="9C331E"/>
                </a:solidFill>
              </a:ln>
            </p:spPr>
          </p:sp>
        </p:grpSp>
        <p:sp>
          <p:nvSpPr>
            <p:cNvPr id="159" name="TextBox 159"/>
            <p:cNvSpPr txBox="1"/>
            <p:nvPr/>
          </p:nvSpPr>
          <p:spPr>
            <a:xfrm>
              <a:off x="4011384" y="2482691"/>
              <a:ext cx="451079" cy="161925"/>
            </a:xfrm>
            <a:prstGeom prst="rect">
              <a:avLst/>
            </a:prstGeom>
            <a:noFill/>
            <a:ln>
              <a:noFill/>
            </a:ln>
          </p:spPr>
          <p:txBody>
            <a:bodyPr wrap="none" lIns="0" tIns="0" rIns="0" bIns="0" anchor="t" anchorCtr="0">
              <a:spAutoFit/>
            </a:bodyPr>
            <a:lstStyle/>
            <a:p>
              <a:pPr algn="r"/>
              <a:r>
                <a:rPr lang="zh-CN" sz="820" b="1" dirty="0">
                  <a:solidFill>
                    <a:srgbClr val="5E2114"/>
                  </a:solidFill>
                  <a:latin typeface="+mn-lt"/>
                  <a:ea typeface="+mn-ea"/>
                  <a:cs typeface="+mn-cs"/>
                </a:rPr>
                <a:t>安全反馈</a:t>
              </a:r>
            </a:p>
          </p:txBody>
        </p:sp>
        <p:sp>
          <p:nvSpPr>
            <p:cNvPr id="160" name="TextBox 160"/>
            <p:cNvSpPr txBox="1"/>
            <p:nvPr/>
          </p:nvSpPr>
          <p:spPr>
            <a:xfrm>
              <a:off x="3877628" y="2640330"/>
              <a:ext cx="584835" cy="214312"/>
            </a:xfrm>
            <a:prstGeom prst="rect">
              <a:avLst/>
            </a:prstGeom>
            <a:noFill/>
            <a:ln>
              <a:noFill/>
            </a:ln>
          </p:spPr>
          <p:txBody>
            <a:bodyPr wrap="none" lIns="0" tIns="0" rIns="0" bIns="0" anchor="t" anchorCtr="0">
              <a:spAutoFit/>
            </a:bodyPr>
            <a:lstStyle/>
            <a:p>
              <a:pPr algn="r">
                <a:lnSpc>
                  <a:spcPts val="750"/>
                </a:lnSpc>
              </a:pPr>
              <a:r>
                <a:rPr lang="zh-CN" sz="600" dirty="0">
                  <a:solidFill>
                    <a:srgbClr val="573F3A"/>
                  </a:solidFill>
                  <a:latin typeface="+mn-lt"/>
                  <a:ea typeface="+mn-ea"/>
                  <a:cs typeface="+mn-cs"/>
                </a:rPr>
                <a:t>风险识别与预警​</a:t>
              </a:r>
              <a:br/>
              <a:r>
                <a:rPr lang="zh-CN" sz="600" dirty="0">
                  <a:solidFill>
                    <a:srgbClr val="573F3A"/>
                  </a:solidFill>
                  <a:latin typeface="+mn-lt"/>
                  <a:ea typeface="+mn-ea"/>
                  <a:cs typeface="+mn-cs"/>
                </a:rPr>
                <a:t>持续优化作业</a:t>
              </a:r>
            </a:p>
          </p:txBody>
        </p:sp>
      </p:grpSp>
      <p:grpSp>
        <p:nvGrpSpPr>
          <p:cNvPr id="164" name="publish-pill"/>
          <p:cNvGrpSpPr/>
          <p:nvPr/>
        </p:nvGrpSpPr>
        <p:grpSpPr>
          <a:xfrm>
            <a:off x="3543300" y="4781550"/>
            <a:ext cx="5029200" cy="247650"/>
            <a:chOff x="3543300" y="4781550"/>
            <a:chExt cx="5029200" cy="247650"/>
          </a:xfrm>
        </p:grpSpPr>
        <p:sp>
          <p:nvSpPr>
            <p:cNvPr id="162" name="Rectangle 162"/>
            <p:cNvSpPr/>
            <p:nvPr/>
          </p:nvSpPr>
          <p:spPr>
            <a:xfrm>
              <a:off x="3543300" y="4781550"/>
              <a:ext cx="5029200" cy="247650"/>
            </a:xfrm>
            <a:prstGeom prst="roundRect">
              <a:avLst>
                <a:gd name="adj" fmla="val 50000"/>
              </a:avLst>
            </a:prstGeom>
            <a:solidFill>
              <a:srgbClr val="632012"/>
            </a:solidFill>
            <a:ln>
              <a:noFill/>
            </a:ln>
          </p:spPr>
        </p:sp>
        <p:sp>
          <p:nvSpPr>
            <p:cNvPr id="163" name="TextBox 163"/>
            <p:cNvSpPr txBox="1"/>
            <p:nvPr/>
          </p:nvSpPr>
          <p:spPr>
            <a:xfrm>
              <a:off x="4743598" y="4859893"/>
              <a:ext cx="262860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在焕新社区发布 · 开放场景 · 共同定义 · 联合开发</a:t>
              </a:r>
            </a:p>
          </p:txBody>
        </p:sp>
      </p:grpSp>
      <p:grpSp>
        <p:nvGrpSpPr>
          <p:cNvPr id="166" name="publish-note"/>
          <p:cNvGrpSpPr/>
          <p:nvPr/>
        </p:nvGrpSpPr>
        <p:grpSpPr>
          <a:xfrm>
            <a:off x="4619434" y="5171361"/>
            <a:ext cx="2876931" cy="140494"/>
            <a:chOff x="4619434" y="5171361"/>
            <a:chExt cx="2876931" cy="140494"/>
          </a:xfrm>
        </p:grpSpPr>
        <p:sp>
          <p:nvSpPr>
            <p:cNvPr id="165" name="TextBox 165"/>
            <p:cNvSpPr txBox="1"/>
            <p:nvPr/>
          </p:nvSpPr>
          <p:spPr>
            <a:xfrm>
              <a:off x="4619434" y="5171361"/>
              <a:ext cx="2876931" cy="140494"/>
            </a:xfrm>
            <a:prstGeom prst="rect">
              <a:avLst/>
            </a:prstGeom>
            <a:noFill/>
            <a:ln>
              <a:noFill/>
            </a:ln>
          </p:spPr>
          <p:txBody>
            <a:bodyPr wrap="none" lIns="0" tIns="0" rIns="0" bIns="0" anchor="t" anchorCtr="0">
              <a:spAutoFit/>
            </a:bodyPr>
            <a:lstStyle/>
            <a:p>
              <a:pPr algn="ctr"/>
              <a:r>
                <a:rPr lang="zh-CN" sz="710" dirty="0">
                  <a:solidFill>
                    <a:srgbClr val="9B807A"/>
                  </a:solidFill>
                  <a:latin typeface="+mn-lt"/>
                  <a:ea typeface="+mn-ea"/>
                  <a:cs typeface="+mn-cs"/>
                </a:rPr>
                <a:t>汇聚矿山、装备、技术、应用等多方力量，加速场景验证与行业推广</a:t>
              </a:r>
            </a:p>
          </p:txBody>
        </p:sp>
      </p:grpSp>
      <p:grpSp>
        <p:nvGrpSpPr>
          <p:cNvPr id="169" name="right-band"/>
          <p:cNvGrpSpPr/>
          <p:nvPr/>
        </p:nvGrpSpPr>
        <p:grpSpPr>
          <a:xfrm>
            <a:off x="8686800" y="1066800"/>
            <a:ext cx="3124200" cy="244078"/>
            <a:chOff x="8686800" y="1066800"/>
            <a:chExt cx="3124200" cy="244078"/>
          </a:xfrm>
        </p:grpSpPr>
        <p:sp>
          <p:nvSpPr>
            <p:cNvPr id="167" name="Rectangle 167"/>
            <p:cNvSpPr/>
            <p:nvPr/>
          </p:nvSpPr>
          <p:spPr>
            <a:xfrm>
              <a:off x="8686800" y="1066800"/>
              <a:ext cx="3124200" cy="228600"/>
            </a:xfrm>
            <a:prstGeom prst="roundRect">
              <a:avLst>
                <a:gd name="adj" fmla="val 16667"/>
              </a:avLst>
            </a:prstGeom>
            <a:gradFill>
              <a:gsLst>
                <a:gs pos="0">
                  <a:srgbClr val="6F2516"/>
                </a:gs>
                <a:gs pos="100000">
                  <a:srgbClr val="D64A2E"/>
                </a:gs>
              </a:gsLst>
              <a:lin ang="0" scaled="1"/>
            </a:gradFill>
            <a:ln>
              <a:noFill/>
            </a:ln>
          </p:spPr>
        </p:sp>
        <p:sp>
          <p:nvSpPr>
            <p:cNvPr id="168" name="TextBox 168"/>
            <p:cNvSpPr txBox="1"/>
            <p:nvPr/>
          </p:nvSpPr>
          <p:spPr>
            <a:xfrm>
              <a:off x="8796338" y="1127522"/>
              <a:ext cx="768782"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关键落地要点</a:t>
              </a:r>
            </a:p>
          </p:txBody>
        </p:sp>
      </p:grpSp>
      <p:grpSp>
        <p:nvGrpSpPr>
          <p:cNvPr id="177" name="key-1"/>
          <p:cNvGrpSpPr/>
          <p:nvPr/>
        </p:nvGrpSpPr>
        <p:grpSpPr>
          <a:xfrm>
            <a:off x="8686800" y="1352550"/>
            <a:ext cx="3124200" cy="609600"/>
            <a:chOff x="8686800" y="1352550"/>
            <a:chExt cx="3124200" cy="609600"/>
          </a:xfrm>
        </p:grpSpPr>
        <p:sp>
          <p:nvSpPr>
            <p:cNvPr id="170" name="Rectangle 170"/>
            <p:cNvSpPr/>
            <p:nvPr/>
          </p:nvSpPr>
          <p:spPr>
            <a:xfrm>
              <a:off x="8686800" y="1352550"/>
              <a:ext cx="3124200" cy="609600"/>
            </a:xfrm>
            <a:prstGeom prst="roundRect">
              <a:avLst>
                <a:gd name="adj" fmla="val 9375"/>
              </a:avLst>
            </a:prstGeom>
            <a:solidFill>
              <a:srgbClr val="FFFFFF"/>
            </a:solidFill>
            <a:ln w="9525">
              <a:solidFill>
                <a:srgbClr val="C7D9F0"/>
              </a:solidFill>
            </a:ln>
          </p:spPr>
        </p:sp>
        <p:sp>
          <p:nvSpPr>
            <p:cNvPr id="171" name="Ellipse 171"/>
            <p:cNvSpPr/>
            <p:nvPr/>
          </p:nvSpPr>
          <p:spPr>
            <a:xfrm>
              <a:off x="8791575" y="1514475"/>
              <a:ext cx="285750" cy="285750"/>
            </a:xfrm>
            <a:prstGeom prst="ellipse">
              <a:avLst/>
            </a:prstGeom>
            <a:solidFill>
              <a:srgbClr val="9C331E"/>
            </a:solidFill>
            <a:ln>
              <a:noFill/>
            </a:ln>
          </p:spPr>
        </p:sp>
        <p:grpSp>
          <p:nvGrpSpPr>
            <p:cNvPr id="174" name="Group 174"/>
            <p:cNvGrpSpPr/>
            <p:nvPr/>
          </p:nvGrpSpPr>
          <p:grpSpPr>
            <a:xfrm>
              <a:off x="8860515" y="1593056"/>
              <a:ext cx="139505" cy="128588"/>
              <a:chOff x="8860515" y="1593056"/>
              <a:chExt cx="139505" cy="128588"/>
            </a:xfrm>
          </p:grpSpPr>
          <p:sp>
            <p:nvSpPr>
              <p:cNvPr id="172" name="Freeform 172"/>
              <p:cNvSpPr/>
              <p:nvPr/>
            </p:nvSpPr>
            <p:spPr>
              <a:xfrm>
                <a:off x="8860515" y="159305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FFFFFF"/>
                </a:solidFill>
              </a:ln>
            </p:spPr>
          </p:sp>
          <p:sp>
            <p:nvSpPr>
              <p:cNvPr id="173" name="Freeform 173"/>
              <p:cNvSpPr/>
              <p:nvPr/>
            </p:nvSpPr>
            <p:spPr>
              <a:xfrm>
                <a:off x="8955881" y="169306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175" name="TextBox 175"/>
            <p:cNvSpPr txBox="1"/>
            <p:nvPr/>
          </p:nvSpPr>
          <p:spPr>
            <a:xfrm>
              <a:off x="9158288" y="1522095"/>
              <a:ext cx="615315"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井下可靠性</a:t>
              </a:r>
            </a:p>
          </p:txBody>
        </p:sp>
        <p:sp>
          <p:nvSpPr>
            <p:cNvPr id="176" name="TextBox 176"/>
            <p:cNvSpPr txBox="1"/>
            <p:nvPr/>
          </p:nvSpPr>
          <p:spPr>
            <a:xfrm>
              <a:off x="9158288" y="1717834"/>
              <a:ext cx="1291107"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适应复杂地质与长时间连续作业</a:t>
              </a:r>
            </a:p>
          </p:txBody>
        </p:sp>
      </p:grpSp>
      <p:grpSp>
        <p:nvGrpSpPr>
          <p:cNvPr id="187" name="key-2"/>
          <p:cNvGrpSpPr/>
          <p:nvPr/>
        </p:nvGrpSpPr>
        <p:grpSpPr>
          <a:xfrm>
            <a:off x="8686800" y="2019300"/>
            <a:ext cx="3124200" cy="609600"/>
            <a:chOff x="8686800" y="2019300"/>
            <a:chExt cx="3124200" cy="609600"/>
          </a:xfrm>
        </p:grpSpPr>
        <p:sp>
          <p:nvSpPr>
            <p:cNvPr id="178" name="Rectangle 178"/>
            <p:cNvSpPr/>
            <p:nvPr/>
          </p:nvSpPr>
          <p:spPr>
            <a:xfrm>
              <a:off x="8686800" y="2019300"/>
              <a:ext cx="3124200" cy="609600"/>
            </a:xfrm>
            <a:prstGeom prst="roundRect">
              <a:avLst>
                <a:gd name="adj" fmla="val 9375"/>
              </a:avLst>
            </a:prstGeom>
            <a:solidFill>
              <a:srgbClr val="FFFFFF"/>
            </a:solidFill>
            <a:ln w="9525">
              <a:solidFill>
                <a:srgbClr val="C7D9F0"/>
              </a:solidFill>
            </a:ln>
          </p:spPr>
        </p:sp>
        <p:sp>
          <p:nvSpPr>
            <p:cNvPr id="179" name="Ellipse 179"/>
            <p:cNvSpPr/>
            <p:nvPr/>
          </p:nvSpPr>
          <p:spPr>
            <a:xfrm>
              <a:off x="8791575" y="2181225"/>
              <a:ext cx="285750" cy="285750"/>
            </a:xfrm>
            <a:prstGeom prst="ellipse">
              <a:avLst/>
            </a:prstGeom>
            <a:solidFill>
              <a:srgbClr val="9C331E"/>
            </a:solidFill>
            <a:ln>
              <a:noFill/>
            </a:ln>
          </p:spPr>
        </p:sp>
        <p:grpSp>
          <p:nvGrpSpPr>
            <p:cNvPr id="184" name="Group 184"/>
            <p:cNvGrpSpPr/>
            <p:nvPr/>
          </p:nvGrpSpPr>
          <p:grpSpPr>
            <a:xfrm>
              <a:off x="8870156" y="2259806"/>
              <a:ext cx="128588" cy="128588"/>
              <a:chOff x="8870156" y="2259806"/>
              <a:chExt cx="128588" cy="128588"/>
            </a:xfrm>
          </p:grpSpPr>
          <p:sp>
            <p:nvSpPr>
              <p:cNvPr id="180" name="Freeform 180"/>
              <p:cNvSpPr/>
              <p:nvPr/>
            </p:nvSpPr>
            <p:spPr>
              <a:xfrm>
                <a:off x="8870156" y="22598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sp>
            <p:nvSpPr>
              <p:cNvPr id="181" name="Freeform 181"/>
              <p:cNvSpPr/>
              <p:nvPr/>
            </p:nvSpPr>
            <p:spPr>
              <a:xfrm>
                <a:off x="8927306" y="23169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182" name="Freeform 182"/>
              <p:cNvSpPr/>
              <p:nvPr/>
            </p:nvSpPr>
            <p:spPr>
              <a:xfrm>
                <a:off x="8944523" y="2295525"/>
                <a:ext cx="18502" cy="18502"/>
              </a:xfrm>
              <a:custGeom>
                <a:avLst/>
                <a:gdLst/>
                <a:ahLst/>
                <a:cxnLst/>
                <a:rect l="l" t="t" r="r" b="b"/>
                <a:pathLst>
                  <a:path w="18502" h="18502">
                    <a:moveTo>
                      <a:pt x="0" y="18502"/>
                    </a:moveTo>
                    <a:lnTo>
                      <a:pt x="18502" y="0"/>
                    </a:lnTo>
                  </a:path>
                </a:pathLst>
              </a:custGeom>
              <a:noFill/>
              <a:ln w="14288">
                <a:solidFill>
                  <a:srgbClr val="FFFFFF"/>
                </a:solidFill>
              </a:ln>
            </p:spPr>
          </p:sp>
          <p:sp>
            <p:nvSpPr>
              <p:cNvPr id="183" name="Freeform 183"/>
              <p:cNvSpPr/>
              <p:nvPr/>
            </p:nvSpPr>
            <p:spPr>
              <a:xfrm>
                <a:off x="8898731" y="2288381"/>
                <a:ext cx="35719" cy="35719"/>
              </a:xfrm>
              <a:custGeom>
                <a:avLst/>
                <a:gdLst/>
                <a:ahLst/>
                <a:cxnLst/>
                <a:rect l="l" t="t" r="r" b="b"/>
                <a:pathLst>
                  <a:path w="35719" h="35719">
                    <a:moveTo>
                      <a:pt x="0" y="35719"/>
                    </a:moveTo>
                    <a:cubicBezTo>
                      <a:pt x="0" y="15992"/>
                      <a:pt x="15992" y="0"/>
                      <a:pt x="35719" y="0"/>
                    </a:cubicBezTo>
                  </a:path>
                </a:pathLst>
              </a:custGeom>
              <a:noFill/>
              <a:ln w="14288">
                <a:solidFill>
                  <a:srgbClr val="FFFFFF"/>
                </a:solidFill>
              </a:ln>
            </p:spPr>
          </p:sp>
        </p:grpSp>
        <p:sp>
          <p:nvSpPr>
            <p:cNvPr id="185" name="TextBox 185"/>
            <p:cNvSpPr txBox="1"/>
            <p:nvPr/>
          </p:nvSpPr>
          <p:spPr>
            <a:xfrm>
              <a:off x="9158288" y="2188845"/>
              <a:ext cx="73647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极端环境适应</a:t>
              </a:r>
            </a:p>
          </p:txBody>
        </p:sp>
        <p:sp>
          <p:nvSpPr>
            <p:cNvPr id="186" name="TextBox 186"/>
            <p:cNvSpPr txBox="1"/>
            <p:nvPr/>
          </p:nvSpPr>
          <p:spPr>
            <a:xfrm>
              <a:off x="9158288" y="2384584"/>
              <a:ext cx="1382649"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应对高粉尘、高湿、强震动等条件</a:t>
              </a:r>
            </a:p>
          </p:txBody>
        </p:sp>
      </p:grpSp>
      <p:grpSp>
        <p:nvGrpSpPr>
          <p:cNvPr id="197" name="key-3"/>
          <p:cNvGrpSpPr/>
          <p:nvPr/>
        </p:nvGrpSpPr>
        <p:grpSpPr>
          <a:xfrm>
            <a:off x="8686800" y="2686050"/>
            <a:ext cx="3124200" cy="609600"/>
            <a:chOff x="8686800" y="2686050"/>
            <a:chExt cx="3124200" cy="609600"/>
          </a:xfrm>
        </p:grpSpPr>
        <p:sp>
          <p:nvSpPr>
            <p:cNvPr id="188" name="Rectangle 188"/>
            <p:cNvSpPr/>
            <p:nvPr/>
          </p:nvSpPr>
          <p:spPr>
            <a:xfrm>
              <a:off x="8686800" y="2686050"/>
              <a:ext cx="3124200" cy="609600"/>
            </a:xfrm>
            <a:prstGeom prst="roundRect">
              <a:avLst>
                <a:gd name="adj" fmla="val 9375"/>
              </a:avLst>
            </a:prstGeom>
            <a:solidFill>
              <a:srgbClr val="FFFFFF"/>
            </a:solidFill>
            <a:ln w="9525">
              <a:solidFill>
                <a:srgbClr val="C7D9F0"/>
              </a:solidFill>
            </a:ln>
          </p:spPr>
        </p:sp>
        <p:sp>
          <p:nvSpPr>
            <p:cNvPr id="189" name="Ellipse 189"/>
            <p:cNvSpPr/>
            <p:nvPr/>
          </p:nvSpPr>
          <p:spPr>
            <a:xfrm>
              <a:off x="8791575" y="2847975"/>
              <a:ext cx="285750" cy="285750"/>
            </a:xfrm>
            <a:prstGeom prst="ellipse">
              <a:avLst/>
            </a:prstGeom>
            <a:solidFill>
              <a:srgbClr val="9C331E"/>
            </a:solidFill>
            <a:ln>
              <a:noFill/>
            </a:ln>
          </p:spPr>
        </p:sp>
        <p:grpSp>
          <p:nvGrpSpPr>
            <p:cNvPr id="194" name="Group 194"/>
            <p:cNvGrpSpPr/>
            <p:nvPr/>
          </p:nvGrpSpPr>
          <p:grpSpPr>
            <a:xfrm>
              <a:off x="8872412" y="2919412"/>
              <a:ext cx="119188" cy="142878"/>
              <a:chOff x="8872412" y="2919412"/>
              <a:chExt cx="119188" cy="142878"/>
            </a:xfrm>
          </p:grpSpPr>
          <p:sp>
            <p:nvSpPr>
              <p:cNvPr id="190" name="Freeform 190"/>
              <p:cNvSpPr/>
              <p:nvPr/>
            </p:nvSpPr>
            <p:spPr>
              <a:xfrm>
                <a:off x="8905875" y="2933700"/>
                <a:ext cx="21431" cy="64294"/>
              </a:xfrm>
              <a:custGeom>
                <a:avLst/>
                <a:gdLst/>
                <a:ahLst/>
                <a:cxnLst/>
                <a:rect l="l" t="t" r="r" b="b"/>
                <a:pathLst>
                  <a:path w="21431" h="64294">
                    <a:moveTo>
                      <a:pt x="0" y="64294"/>
                    </a:moveTo>
                    <a:lnTo>
                      <a:pt x="0" y="10716"/>
                    </a:lnTo>
                    <a:cubicBezTo>
                      <a:pt x="0" y="4798"/>
                      <a:pt x="4798" y="0"/>
                      <a:pt x="10716" y="0"/>
                    </a:cubicBezTo>
                    <a:cubicBezTo>
                      <a:pt x="16634" y="0"/>
                      <a:pt x="21431" y="4798"/>
                      <a:pt x="21431" y="10716"/>
                    </a:cubicBezTo>
                    <a:lnTo>
                      <a:pt x="21431" y="57150"/>
                    </a:lnTo>
                  </a:path>
                </a:pathLst>
              </a:custGeom>
              <a:noFill/>
              <a:ln w="14288">
                <a:solidFill>
                  <a:srgbClr val="FFFFFF"/>
                </a:solidFill>
              </a:ln>
            </p:spPr>
          </p:sp>
          <p:sp>
            <p:nvSpPr>
              <p:cNvPr id="191" name="Freeform 191"/>
              <p:cNvSpPr/>
              <p:nvPr/>
            </p:nvSpPr>
            <p:spPr>
              <a:xfrm>
                <a:off x="8927306" y="2919412"/>
                <a:ext cx="21431" cy="71438"/>
              </a:xfrm>
              <a:custGeom>
                <a:avLst/>
                <a:gdLst/>
                <a:ahLst/>
                <a:cxnLst/>
                <a:rect l="l" t="t" r="r" b="b"/>
                <a:pathLst>
                  <a:path w="21431" h="71438">
                    <a:moveTo>
                      <a:pt x="0" y="25003"/>
                    </a:moveTo>
                    <a:lnTo>
                      <a:pt x="0" y="10716"/>
                    </a:lnTo>
                    <a:cubicBezTo>
                      <a:pt x="0" y="4798"/>
                      <a:pt x="4798" y="0"/>
                      <a:pt x="10716" y="0"/>
                    </a:cubicBezTo>
                    <a:cubicBezTo>
                      <a:pt x="16634" y="0"/>
                      <a:pt x="21431" y="4798"/>
                      <a:pt x="21431" y="10716"/>
                    </a:cubicBezTo>
                    <a:lnTo>
                      <a:pt x="21431" y="71438"/>
                    </a:lnTo>
                  </a:path>
                </a:pathLst>
              </a:custGeom>
              <a:noFill/>
              <a:ln w="14288">
                <a:solidFill>
                  <a:srgbClr val="FFFFFF"/>
                </a:solidFill>
              </a:ln>
            </p:spPr>
          </p:sp>
          <p:sp>
            <p:nvSpPr>
              <p:cNvPr id="192" name="Freeform 192"/>
              <p:cNvSpPr/>
              <p:nvPr/>
            </p:nvSpPr>
            <p:spPr>
              <a:xfrm>
                <a:off x="8948738" y="2933700"/>
                <a:ext cx="21431" cy="57150"/>
              </a:xfrm>
              <a:custGeom>
                <a:avLst/>
                <a:gdLst/>
                <a:ahLst/>
                <a:cxnLst/>
                <a:rect l="l" t="t" r="r" b="b"/>
                <a:pathLst>
                  <a:path w="21431" h="57150">
                    <a:moveTo>
                      <a:pt x="0" y="10716"/>
                    </a:moveTo>
                    <a:cubicBezTo>
                      <a:pt x="0" y="4798"/>
                      <a:pt x="4798" y="0"/>
                      <a:pt x="10716" y="0"/>
                    </a:cubicBezTo>
                    <a:cubicBezTo>
                      <a:pt x="16634" y="0"/>
                      <a:pt x="21431" y="4798"/>
                      <a:pt x="21431" y="10716"/>
                    </a:cubicBezTo>
                    <a:lnTo>
                      <a:pt x="21431" y="57150"/>
                    </a:lnTo>
                  </a:path>
                </a:pathLst>
              </a:custGeom>
              <a:noFill/>
              <a:ln w="14288">
                <a:solidFill>
                  <a:srgbClr val="FFFFFF"/>
                </a:solidFill>
              </a:ln>
            </p:spPr>
          </p:sp>
          <p:sp>
            <p:nvSpPr>
              <p:cNvPr id="193" name="Freeform 193"/>
              <p:cNvSpPr/>
              <p:nvPr/>
            </p:nvSpPr>
            <p:spPr>
              <a:xfrm>
                <a:off x="8872412" y="2947988"/>
                <a:ext cx="119188" cy="114302"/>
              </a:xfrm>
              <a:custGeom>
                <a:avLst/>
                <a:gdLst/>
                <a:ahLst/>
                <a:cxnLst/>
                <a:rect l="l" t="t" r="r" b="b"/>
                <a:pathLst>
                  <a:path w="119188" h="114302">
                    <a:moveTo>
                      <a:pt x="97757" y="10716"/>
                    </a:moveTo>
                    <a:cubicBezTo>
                      <a:pt x="97757" y="4798"/>
                      <a:pt x="102555" y="0"/>
                      <a:pt x="108473" y="0"/>
                    </a:cubicBezTo>
                    <a:cubicBezTo>
                      <a:pt x="114391" y="0"/>
                      <a:pt x="119188" y="4798"/>
                      <a:pt x="119188" y="10716"/>
                    </a:cubicBezTo>
                    <a:lnTo>
                      <a:pt x="119188" y="71438"/>
                    </a:lnTo>
                    <a:cubicBezTo>
                      <a:pt x="119188" y="95110"/>
                      <a:pt x="99998" y="114300"/>
                      <a:pt x="76326" y="114300"/>
                    </a:cubicBezTo>
                    <a:lnTo>
                      <a:pt x="62038" y="114300"/>
                    </a:lnTo>
                    <a:lnTo>
                      <a:pt x="63524" y="114300"/>
                    </a:lnTo>
                    <a:cubicBezTo>
                      <a:pt x="49105" y="114302"/>
                      <a:pt x="35651" y="107054"/>
                      <a:pt x="27720" y="95012"/>
                    </a:cubicBezTo>
                    <a:cubicBezTo>
                      <a:pt x="27251" y="94299"/>
                      <a:pt x="26785" y="93584"/>
                      <a:pt x="26320" y="92869"/>
                    </a:cubicBezTo>
                    <a:cubicBezTo>
                      <a:pt x="24091" y="89447"/>
                      <a:pt x="16268" y="75809"/>
                      <a:pt x="2845" y="51949"/>
                    </a:cubicBezTo>
                    <a:cubicBezTo>
                      <a:pt x="0" y="46892"/>
                      <a:pt x="1697" y="40489"/>
                      <a:pt x="6674" y="37505"/>
                    </a:cubicBezTo>
                    <a:cubicBezTo>
                      <a:pt x="11920" y="34357"/>
                      <a:pt x="18634" y="35182"/>
                      <a:pt x="22962" y="39505"/>
                    </a:cubicBezTo>
                    <a:lnTo>
                      <a:pt x="33463" y="50006"/>
                    </a:lnTo>
                  </a:path>
                </a:pathLst>
              </a:custGeom>
              <a:noFill/>
              <a:ln w="14288">
                <a:solidFill>
                  <a:srgbClr val="FFFFFF"/>
                </a:solidFill>
              </a:ln>
            </p:spPr>
          </p:sp>
        </p:grpSp>
        <p:sp>
          <p:nvSpPr>
            <p:cNvPr id="195" name="TextBox 195"/>
            <p:cNvSpPr txBox="1"/>
            <p:nvPr/>
          </p:nvSpPr>
          <p:spPr>
            <a:xfrm>
              <a:off x="9158288" y="285559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故障安全</a:t>
              </a:r>
            </a:p>
          </p:txBody>
        </p:sp>
        <p:sp>
          <p:nvSpPr>
            <p:cNvPr id="196" name="TextBox 196"/>
            <p:cNvSpPr txBox="1"/>
            <p:nvPr/>
          </p:nvSpPr>
          <p:spPr>
            <a:xfrm>
              <a:off x="9158288" y="3051334"/>
              <a:ext cx="1291107"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异常可识别、可控、可安全停机</a:t>
              </a:r>
            </a:p>
          </p:txBody>
        </p:sp>
      </p:grpSp>
      <p:grpSp>
        <p:nvGrpSpPr>
          <p:cNvPr id="207" name="key-4"/>
          <p:cNvGrpSpPr/>
          <p:nvPr/>
        </p:nvGrpSpPr>
        <p:grpSpPr>
          <a:xfrm>
            <a:off x="8686800" y="3352800"/>
            <a:ext cx="3124200" cy="609600"/>
            <a:chOff x="8686800" y="3352800"/>
            <a:chExt cx="3124200" cy="609600"/>
          </a:xfrm>
        </p:grpSpPr>
        <p:sp>
          <p:nvSpPr>
            <p:cNvPr id="198" name="Rectangle 198"/>
            <p:cNvSpPr/>
            <p:nvPr/>
          </p:nvSpPr>
          <p:spPr>
            <a:xfrm>
              <a:off x="8686800" y="3352800"/>
              <a:ext cx="3124200" cy="609600"/>
            </a:xfrm>
            <a:prstGeom prst="roundRect">
              <a:avLst>
                <a:gd name="adj" fmla="val 9375"/>
              </a:avLst>
            </a:prstGeom>
            <a:solidFill>
              <a:srgbClr val="FFFFFF"/>
            </a:solidFill>
            <a:ln w="9525">
              <a:solidFill>
                <a:srgbClr val="C7D9F0"/>
              </a:solidFill>
            </a:ln>
          </p:spPr>
        </p:sp>
        <p:sp>
          <p:nvSpPr>
            <p:cNvPr id="199" name="Ellipse 199"/>
            <p:cNvSpPr/>
            <p:nvPr/>
          </p:nvSpPr>
          <p:spPr>
            <a:xfrm>
              <a:off x="8791575" y="3514725"/>
              <a:ext cx="285750" cy="285750"/>
            </a:xfrm>
            <a:prstGeom prst="ellipse">
              <a:avLst/>
            </a:prstGeom>
            <a:solidFill>
              <a:srgbClr val="9C331E"/>
            </a:solidFill>
            <a:ln>
              <a:noFill/>
            </a:ln>
          </p:spPr>
        </p:sp>
        <p:grpSp>
          <p:nvGrpSpPr>
            <p:cNvPr id="204" name="Group 204"/>
            <p:cNvGrpSpPr/>
            <p:nvPr/>
          </p:nvGrpSpPr>
          <p:grpSpPr>
            <a:xfrm>
              <a:off x="8870156" y="3593306"/>
              <a:ext cx="128587" cy="128588"/>
              <a:chOff x="8870156" y="3593306"/>
              <a:chExt cx="128587" cy="128588"/>
            </a:xfrm>
          </p:grpSpPr>
          <p:sp>
            <p:nvSpPr>
              <p:cNvPr id="200" name="Freeform 200"/>
              <p:cNvSpPr/>
              <p:nvPr/>
            </p:nvSpPr>
            <p:spPr>
              <a:xfrm>
                <a:off x="8884444" y="35933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201" name="Freeform 201"/>
              <p:cNvSpPr/>
              <p:nvPr/>
            </p:nvSpPr>
            <p:spPr>
              <a:xfrm>
                <a:off x="8870156" y="36790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202" name="Freeform 202"/>
              <p:cNvSpPr/>
              <p:nvPr/>
            </p:nvSpPr>
            <p:spPr>
              <a:xfrm>
                <a:off x="8963025" y="35942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203" name="Freeform 203"/>
              <p:cNvSpPr/>
              <p:nvPr/>
            </p:nvSpPr>
            <p:spPr>
              <a:xfrm>
                <a:off x="8977312" y="36801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205" name="TextBox 205"/>
            <p:cNvSpPr txBox="1"/>
            <p:nvPr/>
          </p:nvSpPr>
          <p:spPr>
            <a:xfrm>
              <a:off x="9158288" y="35223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人机协同</a:t>
              </a:r>
            </a:p>
          </p:txBody>
        </p:sp>
        <p:sp>
          <p:nvSpPr>
            <p:cNvPr id="206" name="TextBox 206"/>
            <p:cNvSpPr txBox="1"/>
            <p:nvPr/>
          </p:nvSpPr>
          <p:spPr>
            <a:xfrm>
              <a:off x="9158288" y="3718084"/>
              <a:ext cx="1382649"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与人员协同作业，提升安全与效率</a:t>
              </a:r>
            </a:p>
          </p:txBody>
        </p:sp>
      </p:grpSp>
      <p:grpSp>
        <p:nvGrpSpPr>
          <p:cNvPr id="218" name="key-5"/>
          <p:cNvGrpSpPr/>
          <p:nvPr/>
        </p:nvGrpSpPr>
        <p:grpSpPr>
          <a:xfrm>
            <a:off x="8686800" y="4019550"/>
            <a:ext cx="3124200" cy="609600"/>
            <a:chOff x="8686800" y="4019550"/>
            <a:chExt cx="3124200" cy="609600"/>
          </a:xfrm>
        </p:grpSpPr>
        <p:sp>
          <p:nvSpPr>
            <p:cNvPr id="208" name="Rectangle 208"/>
            <p:cNvSpPr/>
            <p:nvPr/>
          </p:nvSpPr>
          <p:spPr>
            <a:xfrm>
              <a:off x="8686800" y="4019550"/>
              <a:ext cx="3124200" cy="609600"/>
            </a:xfrm>
            <a:prstGeom prst="roundRect">
              <a:avLst>
                <a:gd name="adj" fmla="val 9375"/>
              </a:avLst>
            </a:prstGeom>
            <a:solidFill>
              <a:srgbClr val="FFFFFF"/>
            </a:solidFill>
            <a:ln w="9525">
              <a:solidFill>
                <a:srgbClr val="C7D9F0"/>
              </a:solidFill>
            </a:ln>
          </p:spPr>
        </p:sp>
        <p:sp>
          <p:nvSpPr>
            <p:cNvPr id="209" name="Ellipse 209"/>
            <p:cNvSpPr/>
            <p:nvPr/>
          </p:nvSpPr>
          <p:spPr>
            <a:xfrm>
              <a:off x="8791575" y="4181475"/>
              <a:ext cx="285750" cy="285750"/>
            </a:xfrm>
            <a:prstGeom prst="ellipse">
              <a:avLst/>
            </a:prstGeom>
            <a:solidFill>
              <a:srgbClr val="9C331E"/>
            </a:solidFill>
            <a:ln>
              <a:noFill/>
            </a:ln>
          </p:spPr>
        </p:sp>
        <p:grpSp>
          <p:nvGrpSpPr>
            <p:cNvPr id="215" name="Group 215"/>
            <p:cNvGrpSpPr/>
            <p:nvPr/>
          </p:nvGrpSpPr>
          <p:grpSpPr>
            <a:xfrm>
              <a:off x="8870156" y="4260056"/>
              <a:ext cx="128587" cy="128587"/>
              <a:chOff x="8870156" y="4260056"/>
              <a:chExt cx="128587" cy="128587"/>
            </a:xfrm>
          </p:grpSpPr>
          <p:sp>
            <p:nvSpPr>
              <p:cNvPr id="210" name="Freeform 210"/>
              <p:cNvSpPr/>
              <p:nvPr/>
            </p:nvSpPr>
            <p:spPr>
              <a:xfrm>
                <a:off x="8870156" y="434578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FFFFFF"/>
                </a:solidFill>
              </a:ln>
            </p:spPr>
          </p:sp>
          <p:sp>
            <p:nvSpPr>
              <p:cNvPr id="211" name="Freeform 211"/>
              <p:cNvSpPr/>
              <p:nvPr/>
            </p:nvSpPr>
            <p:spPr>
              <a:xfrm>
                <a:off x="8955881" y="434578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FFFFFF"/>
                </a:solidFill>
              </a:ln>
            </p:spPr>
          </p:sp>
          <p:sp>
            <p:nvSpPr>
              <p:cNvPr id="212" name="Freeform 212"/>
              <p:cNvSpPr/>
              <p:nvPr/>
            </p:nvSpPr>
            <p:spPr>
              <a:xfrm>
                <a:off x="8913019" y="426005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FFFFFF"/>
                </a:solidFill>
              </a:ln>
            </p:spPr>
          </p:sp>
          <p:sp>
            <p:nvSpPr>
              <p:cNvPr id="213" name="Freeform 213"/>
              <p:cNvSpPr/>
              <p:nvPr/>
            </p:nvSpPr>
            <p:spPr>
              <a:xfrm>
                <a:off x="8891588" y="4324350"/>
                <a:ext cx="85725" cy="21431"/>
              </a:xfrm>
              <a:custGeom>
                <a:avLst/>
                <a:gdLst/>
                <a:ahLst/>
                <a:cxnLst/>
                <a:rect l="l" t="t" r="r" b="b"/>
                <a:pathLst>
                  <a:path w="85725" h="21431">
                    <a:moveTo>
                      <a:pt x="0" y="21431"/>
                    </a:moveTo>
                    <a:lnTo>
                      <a:pt x="0" y="14288"/>
                    </a:lnTo>
                    <a:cubicBezTo>
                      <a:pt x="0" y="6397"/>
                      <a:pt x="6397" y="0"/>
                      <a:pt x="14288" y="0"/>
                    </a:cubicBezTo>
                    <a:lnTo>
                      <a:pt x="71438" y="0"/>
                    </a:lnTo>
                    <a:cubicBezTo>
                      <a:pt x="79328" y="0"/>
                      <a:pt x="85725" y="6397"/>
                      <a:pt x="85725" y="14288"/>
                    </a:cubicBezTo>
                    <a:lnTo>
                      <a:pt x="85725" y="21431"/>
                    </a:lnTo>
                  </a:path>
                </a:pathLst>
              </a:custGeom>
              <a:noFill/>
              <a:ln w="14288">
                <a:solidFill>
                  <a:srgbClr val="FFFFFF"/>
                </a:solidFill>
              </a:ln>
            </p:spPr>
          </p:sp>
          <p:sp>
            <p:nvSpPr>
              <p:cNvPr id="214" name="Freeform 214"/>
              <p:cNvSpPr/>
              <p:nvPr/>
            </p:nvSpPr>
            <p:spPr>
              <a:xfrm>
                <a:off x="8934450" y="4302919"/>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216" name="TextBox 216"/>
            <p:cNvSpPr txBox="1"/>
            <p:nvPr/>
          </p:nvSpPr>
          <p:spPr>
            <a:xfrm>
              <a:off x="9158288" y="418909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跨矿复制</a:t>
              </a:r>
            </a:p>
          </p:txBody>
        </p:sp>
        <p:sp>
          <p:nvSpPr>
            <p:cNvPr id="217" name="TextBox 217"/>
            <p:cNvSpPr txBox="1"/>
            <p:nvPr/>
          </p:nvSpPr>
          <p:spPr>
            <a:xfrm>
              <a:off x="9158288" y="4384834"/>
              <a:ext cx="1657274"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形成可复用的方案与标准，支持多矿推广</a:t>
              </a:r>
            </a:p>
          </p:txBody>
        </p:sp>
      </p:grpSp>
      <p:grpSp>
        <p:nvGrpSpPr>
          <p:cNvPr id="224" name="open-card"/>
          <p:cNvGrpSpPr/>
          <p:nvPr/>
        </p:nvGrpSpPr>
        <p:grpSpPr>
          <a:xfrm>
            <a:off x="8686800" y="4724400"/>
            <a:ext cx="3124200" cy="914400"/>
            <a:chOff x="8686800" y="4724400"/>
            <a:chExt cx="3124200" cy="914400"/>
          </a:xfrm>
        </p:grpSpPr>
        <p:sp>
          <p:nvSpPr>
            <p:cNvPr id="219" name="Rectangle 219"/>
            <p:cNvSpPr/>
            <p:nvPr/>
          </p:nvSpPr>
          <p:spPr>
            <a:xfrm>
              <a:off x="8686800" y="4724400"/>
              <a:ext cx="3124200" cy="914400"/>
            </a:xfrm>
            <a:prstGeom prst="roundRect">
              <a:avLst>
                <a:gd name="adj" fmla="val 6250"/>
              </a:avLst>
            </a:prstGeom>
            <a:solidFill>
              <a:srgbClr val="632012"/>
            </a:solidFill>
            <a:ln>
              <a:noFill/>
            </a:ln>
          </p:spPr>
        </p:sp>
        <p:sp>
          <p:nvSpPr>
            <p:cNvPr id="220" name="Freeform 220"/>
            <p:cNvSpPr/>
            <p:nvPr/>
          </p:nvSpPr>
          <p:spPr>
            <a:xfrm>
              <a:off x="10763250" y="5186144"/>
              <a:ext cx="1047750" cy="452656"/>
            </a:xfrm>
            <a:custGeom>
              <a:avLst/>
              <a:gdLst/>
              <a:ahLst/>
              <a:cxnLst/>
              <a:rect l="l" t="t" r="r" b="b"/>
              <a:pathLst>
                <a:path w="1047750" h="452656">
                  <a:moveTo>
                    <a:pt x="0" y="452656"/>
                  </a:moveTo>
                  <a:cubicBezTo>
                    <a:pt x="58124" y="269056"/>
                    <a:pt x="219023" y="122282"/>
                    <a:pt x="429195" y="61141"/>
                  </a:cubicBezTo>
                  <a:cubicBezTo>
                    <a:pt x="639367" y="0"/>
                    <a:pt x="871255" y="32508"/>
                    <a:pt x="1047750" y="147856"/>
                  </a:cubicBezTo>
                  <a:lnTo>
                    <a:pt x="1047750" y="452656"/>
                  </a:lnTo>
                  <a:close/>
                </a:path>
              </a:pathLst>
            </a:custGeom>
            <a:solidFill>
              <a:srgbClr val="FFFFFF">
                <a:alpha val="8000"/>
              </a:srgbClr>
            </a:solidFill>
            <a:ln>
              <a:noFill/>
            </a:ln>
          </p:spPr>
        </p:sp>
        <p:sp>
          <p:nvSpPr>
            <p:cNvPr id="221" name="Freeform 221"/>
            <p:cNvSpPr/>
            <p:nvPr/>
          </p:nvSpPr>
          <p:spPr>
            <a:xfrm>
              <a:off x="11049000" y="5310177"/>
              <a:ext cx="762000" cy="328623"/>
            </a:xfrm>
            <a:custGeom>
              <a:avLst/>
              <a:gdLst/>
              <a:ahLst/>
              <a:cxnLst/>
              <a:rect l="l" t="t" r="r" b="b"/>
              <a:pathLst>
                <a:path w="762000" h="328623">
                  <a:moveTo>
                    <a:pt x="0" y="328623"/>
                  </a:moveTo>
                  <a:cubicBezTo>
                    <a:pt x="33415" y="176839"/>
                    <a:pt x="164525" y="58521"/>
                    <a:pt x="331728" y="29261"/>
                  </a:cubicBezTo>
                  <a:cubicBezTo>
                    <a:pt x="498932" y="0"/>
                    <a:pt x="668989" y="65614"/>
                    <a:pt x="762000" y="195273"/>
                  </a:cubicBezTo>
                  <a:lnTo>
                    <a:pt x="762000" y="328623"/>
                  </a:lnTo>
                  <a:close/>
                </a:path>
              </a:pathLst>
            </a:custGeom>
            <a:solidFill>
              <a:srgbClr val="FFFFFF">
                <a:alpha val="10000"/>
              </a:srgbClr>
            </a:solidFill>
            <a:ln>
              <a:noFill/>
            </a:ln>
          </p:spPr>
        </p:sp>
        <p:sp>
          <p:nvSpPr>
            <p:cNvPr id="222" name="Freeform 222"/>
            <p:cNvSpPr/>
            <p:nvPr/>
          </p:nvSpPr>
          <p:spPr>
            <a:xfrm>
              <a:off x="11163300" y="5295900"/>
              <a:ext cx="609600" cy="228600"/>
            </a:xfrm>
            <a:custGeom>
              <a:avLst/>
              <a:gdLst/>
              <a:ahLst/>
              <a:cxnLst/>
              <a:rect l="l" t="t" r="r" b="b"/>
              <a:pathLst>
                <a:path w="609600" h="228600">
                  <a:moveTo>
                    <a:pt x="76200" y="0"/>
                  </a:moveTo>
                  <a:lnTo>
                    <a:pt x="609600" y="0"/>
                  </a:lnTo>
                  <a:moveTo>
                    <a:pt x="38100" y="114300"/>
                  </a:moveTo>
                  <a:lnTo>
                    <a:pt x="609600" y="114300"/>
                  </a:lnTo>
                  <a:moveTo>
                    <a:pt x="0" y="228600"/>
                  </a:moveTo>
                  <a:lnTo>
                    <a:pt x="609600" y="228600"/>
                  </a:lnTo>
                </a:path>
              </a:pathLst>
            </a:custGeom>
            <a:noFill/>
            <a:ln w="14288">
              <a:solidFill>
                <a:srgbClr val="FF957F">
                  <a:alpha val="50000"/>
                </a:srgbClr>
              </a:solidFill>
            </a:ln>
          </p:spPr>
        </p:sp>
        <p:sp>
          <p:nvSpPr>
            <p:cNvPr id="223" name="TextBox 223"/>
            <p:cNvSpPr txBox="1"/>
            <p:nvPr/>
          </p:nvSpPr>
          <p:spPr>
            <a:xfrm>
              <a:off x="8852916" y="4992052"/>
              <a:ext cx="1821228" cy="433959"/>
            </a:xfrm>
            <a:prstGeom prst="rect">
              <a:avLst/>
            </a:prstGeom>
            <a:noFill/>
            <a:ln>
              <a:noFill/>
            </a:ln>
          </p:spPr>
          <p:txBody>
            <a:bodyPr wrap="none" lIns="0" tIns="0" rIns="0" bIns="0" anchor="t" anchorCtr="0">
              <a:spAutoFit/>
            </a:bodyPr>
            <a:lstStyle/>
            <a:p>
              <a:pPr algn="l">
                <a:lnSpc>
                  <a:spcPts val="1800"/>
                </a:lnSpc>
              </a:pPr>
              <a:r>
                <a:rPr lang="zh-CN" sz="1050" b="1" i="1" dirty="0">
                  <a:solidFill>
                    <a:srgbClr val="FFFFFF"/>
                  </a:solidFill>
                  <a:latin typeface="+mn-lt"/>
                  <a:ea typeface="+mn-ea"/>
                  <a:cs typeface="+mn-cs"/>
                </a:rPr>
                <a:t>开放共建，</a:t>
              </a:r>
              <a:br/>
              <a:r>
                <a:rPr lang="zh-CN" sz="1050" b="1" i="1" dirty="0">
                  <a:solidFill>
                    <a:srgbClr val="FFFFFF"/>
                  </a:solidFill>
                  <a:latin typeface="+mn-lt"/>
                  <a:ea typeface="+mn-ea"/>
                  <a:cs typeface="+mn-cs"/>
                </a:rPr>
                <a:t>让更多矿山用上更智能的装备​</a:t>
              </a:r>
            </a:p>
          </p:txBody>
        </p:sp>
      </p:grpSp>
      <p:grpSp>
        <p:nvGrpSpPr>
          <p:cNvPr id="228" name="footer"/>
          <p:cNvGrpSpPr/>
          <p:nvPr/>
        </p:nvGrpSpPr>
        <p:grpSpPr>
          <a:xfrm>
            <a:off x="0" y="6705600"/>
            <a:ext cx="12192000" cy="173117"/>
            <a:chOff x="0" y="6705600"/>
            <a:chExt cx="12192000" cy="173117"/>
          </a:xfrm>
        </p:grpSpPr>
        <p:sp>
          <p:nvSpPr>
            <p:cNvPr id="225" name="Rectangle 225"/>
            <p:cNvSpPr/>
            <p:nvPr/>
          </p:nvSpPr>
          <p:spPr>
            <a:xfrm>
              <a:off x="0" y="6705600"/>
              <a:ext cx="12192000" cy="152400"/>
            </a:xfrm>
            <a:prstGeom prst="rect">
              <a:avLst/>
            </a:prstGeom>
            <a:solidFill>
              <a:srgbClr val="632012"/>
            </a:solidFill>
            <a:ln>
              <a:noFill/>
            </a:ln>
          </p:spPr>
        </p:sp>
        <p:sp>
          <p:nvSpPr>
            <p:cNvPr id="226" name="TextBox 226"/>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227" name="TextBox 227"/>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11/20</a:t>
              </a:r>
            </a:p>
          </p:txBody>
        </p:sp>
      </p:gr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1739562" cy="551879"/>
            <a:chOff x="0" y="0"/>
            <a:chExt cx="11739562"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3" name="TextBox 3"/>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12</a:t>
              </a:r>
            </a:p>
          </p:txBody>
        </p:sp>
        <p:sp>
          <p:nvSpPr>
            <p:cNvPr id="4" name="TextBox 4"/>
            <p:cNvSpPr txBox="1"/>
            <p:nvPr/>
          </p:nvSpPr>
          <p:spPr>
            <a:xfrm>
              <a:off x="942594" y="170498"/>
              <a:ext cx="5567172"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船舶制造</a:t>
              </a:r>
              <a:r>
                <a:rPr lang="zh-CN" sz="1950" b="1" dirty="0">
                  <a:solidFill>
                    <a:srgbClr val="5E2114"/>
                  </a:solidFill>
                  <a:latin typeface="+mj-lt"/>
                  <a:ea typeface="+mj-ea"/>
                  <a:cs typeface="+mj-cs"/>
                </a:rPr>
                <a:t>｜高质量数据嵌入生产系统形成闭环</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6" name="TextBox 6"/>
            <p:cNvSpPr txBox="1"/>
            <p:nvPr/>
          </p:nvSpPr>
          <p:spPr>
            <a:xfrm>
              <a:off x="11156556" y="132636"/>
              <a:ext cx="583006"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数据驱动制造</a:t>
              </a:r>
            </a:p>
          </p:txBody>
        </p:sp>
        <p:sp>
          <p:nvSpPr>
            <p:cNvPr id="7" name="TextBox 7"/>
            <p:cNvSpPr txBox="1"/>
            <p:nvPr/>
          </p:nvSpPr>
          <p:spPr>
            <a:xfrm>
              <a:off x="11156556" y="285036"/>
              <a:ext cx="583006"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实船验证价值</a:t>
              </a:r>
            </a:p>
          </p:txBody>
        </p:sp>
      </p:grpSp>
      <p:grpSp>
        <p:nvGrpSpPr>
          <p:cNvPr id="11" name="subtitle"/>
          <p:cNvGrpSpPr/>
          <p:nvPr/>
        </p:nvGrpSpPr>
        <p:grpSpPr>
          <a:xfrm>
            <a:off x="985838" y="649843"/>
            <a:ext cx="6108261" cy="330994"/>
            <a:chOff x="985838" y="649843"/>
            <a:chExt cx="6108261" cy="330994"/>
          </a:xfrm>
        </p:grpSpPr>
        <p:sp>
          <p:nvSpPr>
            <p:cNvPr id="9" name="TextBox 9"/>
            <p:cNvSpPr txBox="1"/>
            <p:nvPr/>
          </p:nvSpPr>
          <p:spPr>
            <a:xfrm>
              <a:off x="985838" y="649843"/>
              <a:ext cx="6108261"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以江南造船为例：将设计、工艺、质量、设备等高质量数据治理后接入JNIS，在LNG加注船、VLAC等典型船型中应用，​</a:t>
              </a:r>
            </a:p>
          </p:txBody>
        </p:sp>
        <p:sp>
          <p:nvSpPr>
            <p:cNvPr id="10" name="TextBox 10"/>
            <p:cNvSpPr txBox="1"/>
            <p:nvPr/>
          </p:nvSpPr>
          <p:spPr>
            <a:xfrm>
              <a:off x="985838" y="811768"/>
              <a:ext cx="2903855" cy="169069"/>
            </a:xfrm>
            <a:prstGeom prst="rect">
              <a:avLst/>
            </a:prstGeom>
            <a:noFill/>
            <a:ln>
              <a:noFill/>
            </a:ln>
          </p:spPr>
          <p:txBody>
            <a:bodyPr wrap="none" lIns="0" tIns="0" rIns="0" bIns="0" anchor="t" anchorCtr="0">
              <a:spAutoFit/>
            </a:bodyPr>
            <a:lstStyle/>
            <a:p>
              <a:pPr algn="l"/>
              <a:r>
                <a:rPr lang="zh-CN" sz="860" dirty="0">
                  <a:solidFill>
                    <a:srgbClr val="573F3A"/>
                  </a:solidFill>
                  <a:latin typeface="+mn-lt"/>
                  <a:ea typeface="+mn-ea"/>
                  <a:cs typeface="+mn-cs"/>
                </a:rPr>
                <a:t>通过生产实践持续反馈，支撑算法迭代与工程能力提升。</a:t>
              </a:r>
            </a:p>
          </p:txBody>
        </p:sp>
      </p:grpSp>
      <p:grpSp>
        <p:nvGrpSpPr>
          <p:cNvPr id="15" name="flow-band"/>
          <p:cNvGrpSpPr/>
          <p:nvPr/>
        </p:nvGrpSpPr>
        <p:grpSpPr>
          <a:xfrm>
            <a:off x="381000" y="1047750"/>
            <a:ext cx="8191500" cy="244078"/>
            <a:chOff x="381000" y="1047750"/>
            <a:chExt cx="8191500" cy="244078"/>
          </a:xfrm>
        </p:grpSpPr>
        <p:sp>
          <p:nvSpPr>
            <p:cNvPr id="12" name="Rectangle 12"/>
            <p:cNvSpPr/>
            <p:nvPr/>
          </p:nvSpPr>
          <p:spPr>
            <a:xfrm>
              <a:off x="381000" y="1047750"/>
              <a:ext cx="8191500" cy="228600"/>
            </a:xfrm>
            <a:prstGeom prst="roundRect">
              <a:avLst>
                <a:gd name="adj" fmla="val 16667"/>
              </a:avLst>
            </a:prstGeom>
            <a:gradFill>
              <a:gsLst>
                <a:gs pos="0">
                  <a:srgbClr val="6F2516"/>
                </a:gs>
                <a:gs pos="100000">
                  <a:srgbClr val="D64A2E"/>
                </a:gs>
              </a:gsLst>
              <a:lin ang="0" scaled="1"/>
            </a:gradFill>
            <a:ln>
              <a:noFill/>
            </a:ln>
          </p:spPr>
        </p:sp>
        <p:sp>
          <p:nvSpPr>
            <p:cNvPr id="13" name="TextBox 13"/>
            <p:cNvSpPr txBox="1"/>
            <p:nvPr/>
          </p:nvSpPr>
          <p:spPr>
            <a:xfrm>
              <a:off x="490538" y="1108472"/>
              <a:ext cx="1654581"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数据嵌入生产系统的闭环路径</a:t>
              </a:r>
            </a:p>
          </p:txBody>
        </p:sp>
        <p:sp>
          <p:nvSpPr>
            <p:cNvPr id="14" name="TextBox 14"/>
            <p:cNvSpPr txBox="1"/>
            <p:nvPr/>
          </p:nvSpPr>
          <p:spPr>
            <a:xfrm>
              <a:off x="5954890" y="1131332"/>
              <a:ext cx="2508072" cy="126206"/>
            </a:xfrm>
            <a:prstGeom prst="rect">
              <a:avLst/>
            </a:prstGeom>
            <a:noFill/>
            <a:ln>
              <a:noFill/>
            </a:ln>
          </p:spPr>
          <p:txBody>
            <a:bodyPr wrap="none" lIns="0" tIns="0" rIns="0" bIns="0" anchor="t" anchorCtr="0">
              <a:spAutoFit/>
            </a:bodyPr>
            <a:lstStyle/>
            <a:p>
              <a:pPr algn="r"/>
              <a:r>
                <a:rPr lang="zh-CN" sz="640" dirty="0">
                  <a:solidFill>
                    <a:srgbClr val="DCE9F8"/>
                  </a:solidFill>
                  <a:latin typeface="+mn-lt"/>
                  <a:ea typeface="+mn-ea"/>
                  <a:cs typeface="+mn-cs"/>
                </a:rPr>
                <a:t>从数据治理到业务应用，再到现场反馈，形成持续迭代的工程闭环</a:t>
              </a:r>
            </a:p>
          </p:txBody>
        </p:sp>
      </p:grpSp>
      <p:grpSp>
        <p:nvGrpSpPr>
          <p:cNvPr id="41" name="seg-data"/>
          <p:cNvGrpSpPr/>
          <p:nvPr/>
        </p:nvGrpSpPr>
        <p:grpSpPr>
          <a:xfrm>
            <a:off x="381000" y="1333500"/>
            <a:ext cx="2667000" cy="1809750"/>
            <a:chOff x="381000" y="1333500"/>
            <a:chExt cx="2667000" cy="1809750"/>
          </a:xfrm>
        </p:grpSpPr>
        <p:sp>
          <p:nvSpPr>
            <p:cNvPr id="16" name="Rectangle 16"/>
            <p:cNvSpPr/>
            <p:nvPr/>
          </p:nvSpPr>
          <p:spPr>
            <a:xfrm>
              <a:off x="381000" y="1333500"/>
              <a:ext cx="2667000" cy="1809750"/>
            </a:xfrm>
            <a:prstGeom prst="roundRect">
              <a:avLst>
                <a:gd name="adj" fmla="val 3158"/>
              </a:avLst>
            </a:prstGeom>
            <a:solidFill>
              <a:srgbClr val="EFF5FC"/>
            </a:solidFill>
            <a:ln w="9525">
              <a:solidFill>
                <a:srgbClr val="C7D9F0"/>
              </a:solidFill>
            </a:ln>
          </p:spPr>
        </p:sp>
        <p:sp>
          <p:nvSpPr>
            <p:cNvPr id="17" name="TextBox 17"/>
            <p:cNvSpPr txBox="1"/>
            <p:nvPr/>
          </p:nvSpPr>
          <p:spPr>
            <a:xfrm>
              <a:off x="490538" y="1411843"/>
              <a:ext cx="472618"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四类数据</a:t>
              </a:r>
            </a:p>
          </p:txBody>
        </p:sp>
        <p:sp>
          <p:nvSpPr>
            <p:cNvPr id="18" name="Rectangle 18"/>
            <p:cNvSpPr/>
            <p:nvPr/>
          </p:nvSpPr>
          <p:spPr>
            <a:xfrm>
              <a:off x="457200" y="1600200"/>
              <a:ext cx="1219200" cy="685800"/>
            </a:xfrm>
            <a:prstGeom prst="roundRect">
              <a:avLst>
                <a:gd name="adj" fmla="val 5556"/>
              </a:avLst>
            </a:prstGeom>
            <a:solidFill>
              <a:srgbClr val="FFFFFF"/>
            </a:solidFill>
            <a:ln w="9525">
              <a:solidFill>
                <a:srgbClr val="C7D9F0"/>
              </a:solidFill>
            </a:ln>
          </p:spPr>
        </p:sp>
        <p:grpSp>
          <p:nvGrpSpPr>
            <p:cNvPr id="22" name="Group 22"/>
            <p:cNvGrpSpPr/>
            <p:nvPr/>
          </p:nvGrpSpPr>
          <p:grpSpPr>
            <a:xfrm>
              <a:off x="552450" y="1695450"/>
              <a:ext cx="114300" cy="114300"/>
              <a:chOff x="552450" y="1695450"/>
              <a:chExt cx="114300" cy="114300"/>
            </a:xfrm>
          </p:grpSpPr>
          <p:sp>
            <p:nvSpPr>
              <p:cNvPr id="19" name="Freeform 19"/>
              <p:cNvSpPr/>
              <p:nvPr/>
            </p:nvSpPr>
            <p:spPr>
              <a:xfrm>
                <a:off x="552450" y="169545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9C331E"/>
                </a:solidFill>
              </a:ln>
            </p:spPr>
          </p:sp>
          <p:sp>
            <p:nvSpPr>
              <p:cNvPr id="20" name="Freeform 20"/>
              <p:cNvSpPr/>
              <p:nvPr/>
            </p:nvSpPr>
            <p:spPr>
              <a:xfrm>
                <a:off x="575158" y="172085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9C331E"/>
                </a:solidFill>
              </a:ln>
            </p:spPr>
          </p:sp>
          <p:sp>
            <p:nvSpPr>
              <p:cNvPr id="21" name="Freeform 21"/>
              <p:cNvSpPr/>
              <p:nvPr/>
            </p:nvSpPr>
            <p:spPr>
              <a:xfrm>
                <a:off x="594995" y="1784350"/>
                <a:ext cx="29210" cy="9525"/>
              </a:xfrm>
              <a:custGeom>
                <a:avLst/>
                <a:gdLst/>
                <a:ahLst/>
                <a:cxnLst/>
                <a:rect l="l" t="t" r="r" b="b"/>
                <a:pathLst>
                  <a:path w="29210" h="9525">
                    <a:moveTo>
                      <a:pt x="0" y="0"/>
                    </a:moveTo>
                    <a:lnTo>
                      <a:pt x="29210" y="0"/>
                    </a:lnTo>
                  </a:path>
                </a:pathLst>
              </a:custGeom>
              <a:noFill/>
              <a:ln w="12700">
                <a:solidFill>
                  <a:srgbClr val="9C331E"/>
                </a:solidFill>
              </a:ln>
            </p:spPr>
          </p:sp>
        </p:grpSp>
        <p:sp>
          <p:nvSpPr>
            <p:cNvPr id="23" name="TextBox 23"/>
            <p:cNvSpPr txBox="1"/>
            <p:nvPr/>
          </p:nvSpPr>
          <p:spPr>
            <a:xfrm>
              <a:off x="738188" y="1719262"/>
              <a:ext cx="413385" cy="147638"/>
            </a:xfrm>
            <a:prstGeom prst="rect">
              <a:avLst/>
            </a:prstGeom>
            <a:noFill/>
            <a:ln>
              <a:noFill/>
            </a:ln>
          </p:spPr>
          <p:txBody>
            <a:bodyPr wrap="none" lIns="0" tIns="0" rIns="0" bIns="0" anchor="t" anchorCtr="0">
              <a:spAutoFit/>
            </a:bodyPr>
            <a:lstStyle/>
            <a:p>
              <a:pPr algn="l"/>
              <a:r>
                <a:rPr lang="zh-CN" sz="750" b="1" dirty="0">
                  <a:solidFill>
                    <a:srgbClr val="5E2114"/>
                  </a:solidFill>
                  <a:latin typeface="+mn-lt"/>
                  <a:ea typeface="+mn-ea"/>
                  <a:cs typeface="+mn-cs"/>
                </a:rPr>
                <a:t>设计数据</a:t>
              </a:r>
            </a:p>
          </p:txBody>
        </p:sp>
        <p:sp>
          <p:nvSpPr>
            <p:cNvPr id="24" name="TextBox 24"/>
            <p:cNvSpPr txBox="1"/>
            <p:nvPr/>
          </p:nvSpPr>
          <p:spPr>
            <a:xfrm>
              <a:off x="528638" y="1897380"/>
              <a:ext cx="436245" cy="328612"/>
            </a:xfrm>
            <a:prstGeom prst="rect">
              <a:avLst/>
            </a:prstGeom>
            <a:noFill/>
            <a:ln>
              <a:noFill/>
            </a:ln>
          </p:spPr>
          <p:txBody>
            <a:bodyPr wrap="none" lIns="0" tIns="0" rIns="0" bIns="0" anchor="t" anchorCtr="0">
              <a:spAutoFit/>
            </a:bodyPr>
            <a:lstStyle/>
            <a:p>
              <a:pPr algn="l" marL="76200" indent="-76200">
                <a:lnSpc>
                  <a:spcPts val="825"/>
                </a:lnSpc>
                <a:buClr>
                  <a:srgbClr val="573F3A"/>
                </a:buClr>
                <a:buSzTx/>
                <a:buFontTx/>
                <a:buChar char="•"/>
              </a:pPr>
              <a:r>
                <a:rPr lang="zh-CN" sz="600" dirty="0">
                  <a:solidFill>
                    <a:srgbClr val="573F3A"/>
                  </a:solidFill>
                  <a:latin typeface="+mn-lt"/>
                  <a:ea typeface="+mn-ea"/>
                  <a:cs typeface="+mn-cs"/>
                </a:rPr>
                <a:t>三维模型​</a:t>
              </a:r>
            </a:p>
            <a:p>
              <a:pPr algn="l" marL="76200" indent="-76200">
                <a:lnSpc>
                  <a:spcPts val="825"/>
                </a:lnSpc>
                <a:buClr>
                  <a:srgbClr val="573F3A"/>
                </a:buClr>
                <a:buSzTx/>
                <a:buFontTx/>
                <a:buChar char="•"/>
              </a:pPr>
              <a:r>
                <a:rPr lang="zh-CN" sz="600" dirty="0">
                  <a:solidFill>
                    <a:srgbClr val="573F3A"/>
                  </a:solidFill>
                  <a:latin typeface="+mn-lt"/>
                  <a:ea typeface="+mn-ea"/>
                  <a:cs typeface="+mn-cs"/>
                </a:rPr>
                <a:t>图纸BOM​</a:t>
              </a:r>
            </a:p>
            <a:p>
              <a:pPr algn="l" marL="76200" indent="-76200">
                <a:lnSpc>
                  <a:spcPts val="825"/>
                </a:lnSpc>
                <a:buClr>
                  <a:srgbClr val="573F3A"/>
                </a:buClr>
                <a:buSzTx/>
                <a:buFontTx/>
                <a:buChar char="•"/>
              </a:pPr>
              <a:r>
                <a:rPr lang="zh-CN" sz="600" dirty="0">
                  <a:solidFill>
                    <a:srgbClr val="573F3A"/>
                  </a:solidFill>
                  <a:latin typeface="+mn-lt"/>
                  <a:ea typeface="+mn-ea"/>
                  <a:cs typeface="+mn-cs"/>
                </a:rPr>
                <a:t>性能参数​</a:t>
              </a:r>
            </a:p>
          </p:txBody>
        </p:sp>
        <p:sp>
          <p:nvSpPr>
            <p:cNvPr id="25" name="Rectangle 25"/>
            <p:cNvSpPr/>
            <p:nvPr/>
          </p:nvSpPr>
          <p:spPr>
            <a:xfrm>
              <a:off x="1752600" y="1600200"/>
              <a:ext cx="1219200" cy="685800"/>
            </a:xfrm>
            <a:prstGeom prst="roundRect">
              <a:avLst>
                <a:gd name="adj" fmla="val 5556"/>
              </a:avLst>
            </a:prstGeom>
            <a:solidFill>
              <a:srgbClr val="FFFFFF"/>
            </a:solidFill>
            <a:ln w="9525">
              <a:solidFill>
                <a:srgbClr val="C7D9F0"/>
              </a:solidFill>
            </a:ln>
          </p:spPr>
        </p:sp>
        <p:grpSp>
          <p:nvGrpSpPr>
            <p:cNvPr id="28" name="Group 28"/>
            <p:cNvGrpSpPr/>
            <p:nvPr/>
          </p:nvGrpSpPr>
          <p:grpSpPr>
            <a:xfrm>
              <a:off x="1845062" y="1692662"/>
              <a:ext cx="119875" cy="119875"/>
              <a:chOff x="1845062" y="1692662"/>
              <a:chExt cx="119875" cy="119875"/>
            </a:xfrm>
          </p:grpSpPr>
          <p:sp>
            <p:nvSpPr>
              <p:cNvPr id="26" name="Freeform 26"/>
              <p:cNvSpPr/>
              <p:nvPr/>
            </p:nvSpPr>
            <p:spPr>
              <a:xfrm>
                <a:off x="1845062" y="169266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9C331E"/>
                </a:solidFill>
              </a:ln>
            </p:spPr>
          </p:sp>
          <p:sp>
            <p:nvSpPr>
              <p:cNvPr id="27" name="Freeform 27"/>
              <p:cNvSpPr/>
              <p:nvPr/>
            </p:nvSpPr>
            <p:spPr>
              <a:xfrm>
                <a:off x="1885950" y="17335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9C331E"/>
                </a:solidFill>
              </a:ln>
            </p:spPr>
          </p:sp>
        </p:grpSp>
        <p:sp>
          <p:nvSpPr>
            <p:cNvPr id="29" name="TextBox 29"/>
            <p:cNvSpPr txBox="1"/>
            <p:nvPr/>
          </p:nvSpPr>
          <p:spPr>
            <a:xfrm>
              <a:off x="2033588" y="1719262"/>
              <a:ext cx="413385" cy="147638"/>
            </a:xfrm>
            <a:prstGeom prst="rect">
              <a:avLst/>
            </a:prstGeom>
            <a:noFill/>
            <a:ln>
              <a:noFill/>
            </a:ln>
          </p:spPr>
          <p:txBody>
            <a:bodyPr wrap="none" lIns="0" tIns="0" rIns="0" bIns="0" anchor="t" anchorCtr="0">
              <a:spAutoFit/>
            </a:bodyPr>
            <a:lstStyle/>
            <a:p>
              <a:pPr algn="l"/>
              <a:r>
                <a:rPr lang="zh-CN" sz="750" b="1" dirty="0">
                  <a:solidFill>
                    <a:srgbClr val="5E2114"/>
                  </a:solidFill>
                  <a:latin typeface="+mn-lt"/>
                  <a:ea typeface="+mn-ea"/>
                  <a:cs typeface="+mn-cs"/>
                </a:rPr>
                <a:t>工艺数据</a:t>
              </a:r>
            </a:p>
          </p:txBody>
        </p:sp>
        <p:sp>
          <p:nvSpPr>
            <p:cNvPr id="30" name="TextBox 30"/>
            <p:cNvSpPr txBox="1"/>
            <p:nvPr/>
          </p:nvSpPr>
          <p:spPr>
            <a:xfrm>
              <a:off x="1824038" y="1897380"/>
              <a:ext cx="432435" cy="328612"/>
            </a:xfrm>
            <a:prstGeom prst="rect">
              <a:avLst/>
            </a:prstGeom>
            <a:noFill/>
            <a:ln>
              <a:noFill/>
            </a:ln>
          </p:spPr>
          <p:txBody>
            <a:bodyPr wrap="none" lIns="0" tIns="0" rIns="0" bIns="0" anchor="t" anchorCtr="0">
              <a:spAutoFit/>
            </a:bodyPr>
            <a:lstStyle/>
            <a:p>
              <a:pPr algn="l" marL="76200" indent="-76200">
                <a:lnSpc>
                  <a:spcPts val="825"/>
                </a:lnSpc>
                <a:buClr>
                  <a:srgbClr val="573F3A"/>
                </a:buClr>
                <a:buSzTx/>
                <a:buFontTx/>
                <a:buChar char="•"/>
              </a:pPr>
              <a:r>
                <a:rPr lang="zh-CN" sz="600" dirty="0">
                  <a:solidFill>
                    <a:srgbClr val="573F3A"/>
                  </a:solidFill>
                  <a:latin typeface="+mn-lt"/>
                  <a:ea typeface="+mn-ea"/>
                  <a:cs typeface="+mn-cs"/>
                </a:rPr>
                <a:t>工艺流程​</a:t>
              </a:r>
            </a:p>
            <a:p>
              <a:pPr algn="l" marL="76200" indent="-76200">
                <a:lnSpc>
                  <a:spcPts val="825"/>
                </a:lnSpc>
                <a:buClr>
                  <a:srgbClr val="573F3A"/>
                </a:buClr>
                <a:buSzTx/>
                <a:buFontTx/>
                <a:buChar char="•"/>
              </a:pPr>
              <a:r>
                <a:rPr lang="zh-CN" sz="600" dirty="0">
                  <a:solidFill>
                    <a:srgbClr val="573F3A"/>
                  </a:solidFill>
                  <a:latin typeface="+mn-lt"/>
                  <a:ea typeface="+mn-ea"/>
                  <a:cs typeface="+mn-cs"/>
                </a:rPr>
                <a:t>作业指导​</a:t>
              </a:r>
            </a:p>
            <a:p>
              <a:pPr algn="l" marL="76200" indent="-76200">
                <a:lnSpc>
                  <a:spcPts val="825"/>
                </a:lnSpc>
                <a:buClr>
                  <a:srgbClr val="573F3A"/>
                </a:buClr>
                <a:buSzTx/>
                <a:buFontTx/>
                <a:buChar char="•"/>
              </a:pPr>
              <a:r>
                <a:rPr lang="zh-CN" sz="600" dirty="0">
                  <a:solidFill>
                    <a:srgbClr val="573F3A"/>
                  </a:solidFill>
                  <a:latin typeface="+mn-lt"/>
                  <a:ea typeface="+mn-ea"/>
                  <a:cs typeface="+mn-cs"/>
                </a:rPr>
                <a:t>工时标准​</a:t>
              </a:r>
            </a:p>
          </p:txBody>
        </p:sp>
        <p:sp>
          <p:nvSpPr>
            <p:cNvPr id="31" name="Rectangle 31"/>
            <p:cNvSpPr/>
            <p:nvPr/>
          </p:nvSpPr>
          <p:spPr>
            <a:xfrm>
              <a:off x="457200" y="2362200"/>
              <a:ext cx="1219200" cy="685800"/>
            </a:xfrm>
            <a:prstGeom prst="roundRect">
              <a:avLst>
                <a:gd name="adj" fmla="val 5556"/>
              </a:avLst>
            </a:prstGeom>
            <a:solidFill>
              <a:srgbClr val="FFFFFF"/>
            </a:solidFill>
            <a:ln w="9525">
              <a:solidFill>
                <a:srgbClr val="C7D9F0"/>
              </a:solidFill>
            </a:ln>
          </p:spPr>
        </p:sp>
        <p:grpSp>
          <p:nvGrpSpPr>
            <p:cNvPr id="34" name="Group 34"/>
            <p:cNvGrpSpPr/>
            <p:nvPr/>
          </p:nvGrpSpPr>
          <p:grpSpPr>
            <a:xfrm>
              <a:off x="543880" y="2457450"/>
              <a:ext cx="124004" cy="114300"/>
              <a:chOff x="543880" y="2457450"/>
              <a:chExt cx="124004" cy="114300"/>
            </a:xfrm>
          </p:grpSpPr>
          <p:sp>
            <p:nvSpPr>
              <p:cNvPr id="32" name="Freeform 32"/>
              <p:cNvSpPr/>
              <p:nvPr/>
            </p:nvSpPr>
            <p:spPr>
              <a:xfrm>
                <a:off x="543880" y="24574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9C331E"/>
                </a:solidFill>
              </a:ln>
            </p:spPr>
          </p:sp>
          <p:sp>
            <p:nvSpPr>
              <p:cNvPr id="33" name="Freeform 33"/>
              <p:cNvSpPr/>
              <p:nvPr/>
            </p:nvSpPr>
            <p:spPr>
              <a:xfrm>
                <a:off x="628650" y="2546350"/>
                <a:ext cx="38100" cy="25400"/>
              </a:xfrm>
              <a:custGeom>
                <a:avLst/>
                <a:gdLst/>
                <a:ahLst/>
                <a:cxnLst/>
                <a:rect l="l" t="t" r="r" b="b"/>
                <a:pathLst>
                  <a:path w="38100" h="25400">
                    <a:moveTo>
                      <a:pt x="0" y="12700"/>
                    </a:moveTo>
                    <a:lnTo>
                      <a:pt x="12700" y="25400"/>
                    </a:lnTo>
                    <a:lnTo>
                      <a:pt x="38100" y="0"/>
                    </a:lnTo>
                  </a:path>
                </a:pathLst>
              </a:custGeom>
              <a:noFill/>
              <a:ln w="12700">
                <a:solidFill>
                  <a:srgbClr val="9C331E"/>
                </a:solidFill>
              </a:ln>
            </p:spPr>
          </p:sp>
        </p:grpSp>
        <p:sp>
          <p:nvSpPr>
            <p:cNvPr id="35" name="TextBox 35"/>
            <p:cNvSpPr txBox="1"/>
            <p:nvPr/>
          </p:nvSpPr>
          <p:spPr>
            <a:xfrm>
              <a:off x="738188" y="2481262"/>
              <a:ext cx="413385" cy="147638"/>
            </a:xfrm>
            <a:prstGeom prst="rect">
              <a:avLst/>
            </a:prstGeom>
            <a:noFill/>
            <a:ln>
              <a:noFill/>
            </a:ln>
          </p:spPr>
          <p:txBody>
            <a:bodyPr wrap="none" lIns="0" tIns="0" rIns="0" bIns="0" anchor="t" anchorCtr="0">
              <a:spAutoFit/>
            </a:bodyPr>
            <a:lstStyle/>
            <a:p>
              <a:pPr algn="l"/>
              <a:r>
                <a:rPr lang="zh-CN" sz="750" b="1" dirty="0">
                  <a:solidFill>
                    <a:srgbClr val="5E2114"/>
                  </a:solidFill>
                  <a:latin typeface="+mn-lt"/>
                  <a:ea typeface="+mn-ea"/>
                  <a:cs typeface="+mn-cs"/>
                </a:rPr>
                <a:t>质量数据</a:t>
              </a:r>
            </a:p>
          </p:txBody>
        </p:sp>
        <p:sp>
          <p:nvSpPr>
            <p:cNvPr id="36" name="TextBox 36"/>
            <p:cNvSpPr txBox="1"/>
            <p:nvPr/>
          </p:nvSpPr>
          <p:spPr>
            <a:xfrm>
              <a:off x="528638" y="2659380"/>
              <a:ext cx="432435" cy="328612"/>
            </a:xfrm>
            <a:prstGeom prst="rect">
              <a:avLst/>
            </a:prstGeom>
            <a:noFill/>
            <a:ln>
              <a:noFill/>
            </a:ln>
          </p:spPr>
          <p:txBody>
            <a:bodyPr wrap="none" lIns="0" tIns="0" rIns="0" bIns="0" anchor="t" anchorCtr="0">
              <a:spAutoFit/>
            </a:bodyPr>
            <a:lstStyle/>
            <a:p>
              <a:pPr algn="l" marL="76200" indent="-76200">
                <a:lnSpc>
                  <a:spcPts val="825"/>
                </a:lnSpc>
                <a:buClr>
                  <a:srgbClr val="573F3A"/>
                </a:buClr>
                <a:buSzTx/>
                <a:buFontTx/>
                <a:buChar char="•"/>
              </a:pPr>
              <a:r>
                <a:rPr lang="zh-CN" sz="600" dirty="0">
                  <a:solidFill>
                    <a:srgbClr val="573F3A"/>
                  </a:solidFill>
                  <a:latin typeface="+mn-lt"/>
                  <a:ea typeface="+mn-ea"/>
                  <a:cs typeface="+mn-cs"/>
                </a:rPr>
                <a:t>检验记录​</a:t>
              </a:r>
            </a:p>
            <a:p>
              <a:pPr algn="l" marL="76200" indent="-76200">
                <a:lnSpc>
                  <a:spcPts val="825"/>
                </a:lnSpc>
                <a:buClr>
                  <a:srgbClr val="573F3A"/>
                </a:buClr>
                <a:buSzTx/>
                <a:buFontTx/>
                <a:buChar char="•"/>
              </a:pPr>
              <a:r>
                <a:rPr lang="zh-CN" sz="600" dirty="0">
                  <a:solidFill>
                    <a:srgbClr val="573F3A"/>
                  </a:solidFill>
                  <a:latin typeface="+mn-lt"/>
                  <a:ea typeface="+mn-ea"/>
                  <a:cs typeface="+mn-cs"/>
                </a:rPr>
                <a:t>缺陷位置​</a:t>
              </a:r>
            </a:p>
            <a:p>
              <a:pPr algn="l" marL="76200" indent="-76200">
                <a:lnSpc>
                  <a:spcPts val="825"/>
                </a:lnSpc>
                <a:buClr>
                  <a:srgbClr val="573F3A"/>
                </a:buClr>
                <a:buSzTx/>
                <a:buFontTx/>
                <a:buChar char="•"/>
              </a:pPr>
              <a:r>
                <a:rPr lang="zh-CN" sz="600" dirty="0">
                  <a:solidFill>
                    <a:srgbClr val="573F3A"/>
                  </a:solidFill>
                  <a:latin typeface="+mn-lt"/>
                  <a:ea typeface="+mn-ea"/>
                  <a:cs typeface="+mn-cs"/>
                </a:rPr>
                <a:t>质量标准​</a:t>
              </a:r>
            </a:p>
          </p:txBody>
        </p:sp>
        <p:sp>
          <p:nvSpPr>
            <p:cNvPr id="37" name="Rectangle 37"/>
            <p:cNvSpPr/>
            <p:nvPr/>
          </p:nvSpPr>
          <p:spPr>
            <a:xfrm>
              <a:off x="1752600" y="2362200"/>
              <a:ext cx="1219200" cy="685800"/>
            </a:xfrm>
            <a:prstGeom prst="roundRect">
              <a:avLst>
                <a:gd name="adj" fmla="val 5556"/>
              </a:avLst>
            </a:prstGeom>
            <a:solidFill>
              <a:srgbClr val="FFFFFF"/>
            </a:solidFill>
            <a:ln w="9525">
              <a:solidFill>
                <a:srgbClr val="C7D9F0"/>
              </a:solidFill>
            </a:ln>
          </p:spPr>
        </p:sp>
        <p:sp>
          <p:nvSpPr>
            <p:cNvPr id="38" name="Freeform 38"/>
            <p:cNvSpPr/>
            <p:nvPr/>
          </p:nvSpPr>
          <p:spPr>
            <a:xfrm>
              <a:off x="1844067" y="2453667"/>
              <a:ext cx="120169" cy="120169"/>
            </a:xfrm>
            <a:custGeom>
              <a:avLst/>
              <a:gdLst/>
              <a:ahLst/>
              <a:cxnLst/>
              <a:rect l="l" t="t" r="r" b="b"/>
              <a:pathLst>
                <a:path w="120169" h="120169">
                  <a:moveTo>
                    <a:pt x="29183" y="48233"/>
                  </a:moveTo>
                  <a:lnTo>
                    <a:pt x="48233" y="48233"/>
                  </a:lnTo>
                  <a:lnTo>
                    <a:pt x="48233" y="29183"/>
                  </a:lnTo>
                  <a:lnTo>
                    <a:pt x="26008" y="6958"/>
                  </a:lnTo>
                  <a:cubicBezTo>
                    <a:pt x="40578" y="0"/>
                    <a:pt x="57952" y="2981"/>
                    <a:pt x="69369" y="14398"/>
                  </a:cubicBezTo>
                  <a:cubicBezTo>
                    <a:pt x="80786" y="25815"/>
                    <a:pt x="83767" y="43189"/>
                    <a:pt x="76808" y="57758"/>
                  </a:cubicBezTo>
                  <a:lnTo>
                    <a:pt x="114908" y="95858"/>
                  </a:lnTo>
                  <a:cubicBezTo>
                    <a:pt x="120169" y="101119"/>
                    <a:pt x="120169" y="109648"/>
                    <a:pt x="114908" y="114908"/>
                  </a:cubicBezTo>
                  <a:cubicBezTo>
                    <a:pt x="109648" y="120169"/>
                    <a:pt x="101119" y="120169"/>
                    <a:pt x="95858" y="114908"/>
                  </a:cubicBezTo>
                  <a:lnTo>
                    <a:pt x="57758" y="76808"/>
                  </a:lnTo>
                  <a:cubicBezTo>
                    <a:pt x="43189" y="83767"/>
                    <a:pt x="25815" y="80786"/>
                    <a:pt x="14398" y="69369"/>
                  </a:cubicBezTo>
                  <a:cubicBezTo>
                    <a:pt x="2981" y="57952"/>
                    <a:pt x="0" y="40578"/>
                    <a:pt x="6958" y="26008"/>
                  </a:cubicBezTo>
                  <a:lnTo>
                    <a:pt x="29183" y="48233"/>
                  </a:lnTo>
                </a:path>
              </a:pathLst>
            </a:custGeom>
            <a:noFill/>
            <a:ln w="12700">
              <a:solidFill>
                <a:srgbClr val="9C331E"/>
              </a:solidFill>
            </a:ln>
          </p:spPr>
        </p:sp>
        <p:sp>
          <p:nvSpPr>
            <p:cNvPr id="39" name="TextBox 39"/>
            <p:cNvSpPr txBox="1"/>
            <p:nvPr/>
          </p:nvSpPr>
          <p:spPr>
            <a:xfrm>
              <a:off x="2033588" y="2481262"/>
              <a:ext cx="413385" cy="147638"/>
            </a:xfrm>
            <a:prstGeom prst="rect">
              <a:avLst/>
            </a:prstGeom>
            <a:noFill/>
            <a:ln>
              <a:noFill/>
            </a:ln>
          </p:spPr>
          <p:txBody>
            <a:bodyPr wrap="none" lIns="0" tIns="0" rIns="0" bIns="0" anchor="t" anchorCtr="0">
              <a:spAutoFit/>
            </a:bodyPr>
            <a:lstStyle/>
            <a:p>
              <a:pPr algn="l"/>
              <a:r>
                <a:rPr lang="zh-CN" sz="750" b="1" dirty="0">
                  <a:solidFill>
                    <a:srgbClr val="5E2114"/>
                  </a:solidFill>
                  <a:latin typeface="+mn-lt"/>
                  <a:ea typeface="+mn-ea"/>
                  <a:cs typeface="+mn-cs"/>
                </a:rPr>
                <a:t>设备数据</a:t>
              </a:r>
            </a:p>
          </p:txBody>
        </p:sp>
        <p:sp>
          <p:nvSpPr>
            <p:cNvPr id="40" name="TextBox 40"/>
            <p:cNvSpPr txBox="1"/>
            <p:nvPr/>
          </p:nvSpPr>
          <p:spPr>
            <a:xfrm>
              <a:off x="1824038" y="2659380"/>
              <a:ext cx="432435" cy="328612"/>
            </a:xfrm>
            <a:prstGeom prst="rect">
              <a:avLst/>
            </a:prstGeom>
            <a:noFill/>
            <a:ln>
              <a:noFill/>
            </a:ln>
          </p:spPr>
          <p:txBody>
            <a:bodyPr wrap="none" lIns="0" tIns="0" rIns="0" bIns="0" anchor="t" anchorCtr="0">
              <a:spAutoFit/>
            </a:bodyPr>
            <a:lstStyle/>
            <a:p>
              <a:pPr algn="l" marL="76200" indent="-76200">
                <a:lnSpc>
                  <a:spcPts val="825"/>
                </a:lnSpc>
                <a:buClr>
                  <a:srgbClr val="573F3A"/>
                </a:buClr>
                <a:buSzTx/>
                <a:buFontTx/>
                <a:buChar char="•"/>
              </a:pPr>
              <a:r>
                <a:rPr lang="zh-CN" sz="600" dirty="0">
                  <a:solidFill>
                    <a:srgbClr val="573F3A"/>
                  </a:solidFill>
                  <a:latin typeface="+mn-lt"/>
                  <a:ea typeface="+mn-ea"/>
                  <a:cs typeface="+mn-cs"/>
                </a:rPr>
                <a:t>设备状态​</a:t>
              </a:r>
            </a:p>
            <a:p>
              <a:pPr algn="l" marL="76200" indent="-76200">
                <a:lnSpc>
                  <a:spcPts val="825"/>
                </a:lnSpc>
                <a:buClr>
                  <a:srgbClr val="573F3A"/>
                </a:buClr>
                <a:buSzTx/>
                <a:buFontTx/>
                <a:buChar char="•"/>
              </a:pPr>
              <a:r>
                <a:rPr lang="zh-CN" sz="600" dirty="0">
                  <a:solidFill>
                    <a:srgbClr val="573F3A"/>
                  </a:solidFill>
                  <a:latin typeface="+mn-lt"/>
                  <a:ea typeface="+mn-ea"/>
                  <a:cs typeface="+mn-cs"/>
                </a:rPr>
                <a:t>运行日志​</a:t>
              </a:r>
            </a:p>
            <a:p>
              <a:pPr algn="l" marL="76200" indent="-76200">
                <a:lnSpc>
                  <a:spcPts val="825"/>
                </a:lnSpc>
                <a:buClr>
                  <a:srgbClr val="573F3A"/>
                </a:buClr>
                <a:buSzTx/>
                <a:buFontTx/>
                <a:buChar char="•"/>
              </a:pPr>
              <a:r>
                <a:rPr lang="zh-CN" sz="600" dirty="0">
                  <a:solidFill>
                    <a:srgbClr val="573F3A"/>
                  </a:solidFill>
                  <a:latin typeface="+mn-lt"/>
                  <a:ea typeface="+mn-ea"/>
                  <a:cs typeface="+mn-cs"/>
                </a:rPr>
                <a:t>维护记录​</a:t>
              </a:r>
            </a:p>
          </p:txBody>
        </p:sp>
      </p:grpSp>
      <p:grpSp>
        <p:nvGrpSpPr>
          <p:cNvPr id="43" name="gap-1"/>
          <p:cNvGrpSpPr/>
          <p:nvPr/>
        </p:nvGrpSpPr>
        <p:grpSpPr>
          <a:xfrm>
            <a:off x="3057525" y="2238375"/>
            <a:ext cx="85725" cy="1"/>
            <a:chOff x="3057525" y="2238375"/>
            <a:chExt cx="85725" cy="1"/>
          </a:xfrm>
        </p:grpSpPr>
        <p:sp>
          <p:nvSpPr>
            <p:cNvPr id="42" name="Line 42"/>
            <p:cNvSpPr/>
            <p:nvPr/>
          </p:nvSpPr>
          <p:spPr>
            <a:xfrm>
              <a:off x="3057525" y="2238375"/>
              <a:ext cx="85725" cy="1"/>
            </a:xfrm>
            <a:prstGeom prst="line">
              <a:avLst/>
            </a:prstGeom>
            <a:noFill/>
            <a:ln w="14288">
              <a:solidFill>
                <a:srgbClr val="9C331E"/>
              </a:solidFill>
              <a:tailEnd type="triangle" w="lg" len="lg"/>
            </a:ln>
          </p:spPr>
        </p:sp>
      </p:grpSp>
      <p:grpSp>
        <p:nvGrpSpPr>
          <p:cNvPr id="52" name="seg-govern"/>
          <p:cNvGrpSpPr/>
          <p:nvPr/>
        </p:nvGrpSpPr>
        <p:grpSpPr>
          <a:xfrm>
            <a:off x="3181350" y="1333500"/>
            <a:ext cx="1238250" cy="1809750"/>
            <a:chOff x="3181350" y="1333500"/>
            <a:chExt cx="1238250" cy="1809750"/>
          </a:xfrm>
        </p:grpSpPr>
        <p:sp>
          <p:nvSpPr>
            <p:cNvPr id="44" name="Rectangle 44"/>
            <p:cNvSpPr/>
            <p:nvPr/>
          </p:nvSpPr>
          <p:spPr>
            <a:xfrm>
              <a:off x="3181350" y="1333500"/>
              <a:ext cx="1238250" cy="1809750"/>
            </a:xfrm>
            <a:prstGeom prst="roundRect">
              <a:avLst>
                <a:gd name="adj" fmla="val 4615"/>
              </a:avLst>
            </a:prstGeom>
            <a:solidFill>
              <a:srgbClr val="DCE9F8"/>
            </a:solidFill>
            <a:ln>
              <a:noFill/>
            </a:ln>
          </p:spPr>
        </p:sp>
        <p:sp>
          <p:nvSpPr>
            <p:cNvPr id="45" name="Ellipse 45"/>
            <p:cNvSpPr/>
            <p:nvPr/>
          </p:nvSpPr>
          <p:spPr>
            <a:xfrm>
              <a:off x="3609975" y="1524000"/>
              <a:ext cx="381000" cy="381000"/>
            </a:xfrm>
            <a:prstGeom prst="ellipse">
              <a:avLst/>
            </a:prstGeom>
            <a:solidFill>
              <a:srgbClr val="FFFFFF"/>
            </a:solidFill>
            <a:ln>
              <a:noFill/>
            </a:ln>
          </p:spPr>
        </p:sp>
        <p:grpSp>
          <p:nvGrpSpPr>
            <p:cNvPr id="49" name="Group 49"/>
            <p:cNvGrpSpPr/>
            <p:nvPr/>
          </p:nvGrpSpPr>
          <p:grpSpPr>
            <a:xfrm>
              <a:off x="3724275" y="1628775"/>
              <a:ext cx="152400" cy="171450"/>
              <a:chOff x="3724275" y="1628775"/>
              <a:chExt cx="152400" cy="171450"/>
            </a:xfrm>
          </p:grpSpPr>
          <p:sp>
            <p:nvSpPr>
              <p:cNvPr id="46" name="Freeform 46"/>
              <p:cNvSpPr/>
              <p:nvPr/>
            </p:nvSpPr>
            <p:spPr>
              <a:xfrm>
                <a:off x="3724275" y="162877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9C331E"/>
                </a:solidFill>
              </a:ln>
            </p:spPr>
          </p:sp>
          <p:sp>
            <p:nvSpPr>
              <p:cNvPr id="47" name="Freeform 47"/>
              <p:cNvSpPr/>
              <p:nvPr/>
            </p:nvSpPr>
            <p:spPr>
              <a:xfrm>
                <a:off x="3724275" y="16573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C331E"/>
                </a:solidFill>
              </a:ln>
            </p:spPr>
          </p:sp>
          <p:sp>
            <p:nvSpPr>
              <p:cNvPr id="48" name="Freeform 48"/>
              <p:cNvSpPr/>
              <p:nvPr/>
            </p:nvSpPr>
            <p:spPr>
              <a:xfrm>
                <a:off x="3724275" y="17145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C331E"/>
                </a:solidFill>
              </a:ln>
            </p:spPr>
          </p:sp>
        </p:grpSp>
        <p:sp>
          <p:nvSpPr>
            <p:cNvPr id="50" name="TextBox 50"/>
            <p:cNvSpPr txBox="1"/>
            <p:nvPr/>
          </p:nvSpPr>
          <p:spPr>
            <a:xfrm>
              <a:off x="3409353" y="2006441"/>
              <a:ext cx="782244" cy="161925"/>
            </a:xfrm>
            <a:prstGeom prst="rect">
              <a:avLst/>
            </a:prstGeom>
            <a:noFill/>
            <a:ln>
              <a:noFill/>
            </a:ln>
          </p:spPr>
          <p:txBody>
            <a:bodyPr wrap="none" lIns="0" tIns="0" rIns="0" bIns="0" anchor="t" anchorCtr="0">
              <a:spAutoFit/>
            </a:bodyPr>
            <a:lstStyle/>
            <a:p>
              <a:pPr algn="ctr"/>
              <a:r>
                <a:rPr lang="zh-CN" sz="820" b="1" dirty="0">
                  <a:solidFill>
                    <a:srgbClr val="5E2114"/>
                  </a:solidFill>
                  <a:latin typeface="+mn-lt"/>
                  <a:ea typeface="+mn-ea"/>
                  <a:cs typeface="+mn-cs"/>
                </a:rPr>
                <a:t>数据治理与标注</a:t>
              </a:r>
            </a:p>
          </p:txBody>
        </p:sp>
        <p:sp>
          <p:nvSpPr>
            <p:cNvPr id="51" name="TextBox 51"/>
            <p:cNvSpPr txBox="1"/>
            <p:nvPr/>
          </p:nvSpPr>
          <p:spPr>
            <a:xfrm>
              <a:off x="3474784" y="2232184"/>
              <a:ext cx="651383" cy="561975"/>
            </a:xfrm>
            <a:prstGeom prst="rect">
              <a:avLst/>
            </a:prstGeom>
            <a:noFill/>
            <a:ln>
              <a:noFill/>
            </a:ln>
          </p:spPr>
          <p:txBody>
            <a:bodyPr wrap="none" lIns="0" tIns="0" rIns="0" bIns="0" anchor="t" anchorCtr="0">
              <a:spAutoFit/>
            </a:bodyPr>
            <a:lstStyle/>
            <a:p>
              <a:pPr algn="ctr" marL="76200" indent="-76200">
                <a:lnSpc>
                  <a:spcPts val="1125"/>
                </a:lnSpc>
                <a:buClr>
                  <a:srgbClr val="573F3A"/>
                </a:buClr>
                <a:buSzTx/>
                <a:buFontTx/>
                <a:buChar char="•"/>
              </a:pPr>
              <a:r>
                <a:rPr lang="zh-CN" sz="680" dirty="0">
                  <a:solidFill>
                    <a:srgbClr val="573F3A"/>
                  </a:solidFill>
                  <a:latin typeface="+mn-lt"/>
                  <a:ea typeface="+mn-ea"/>
                  <a:cs typeface="+mn-cs"/>
                </a:rPr>
                <a:t>数据清洗</a:t>
              </a:r>
            </a:p>
            <a:p>
              <a:pPr algn="ctr" marL="76200" indent="-76200">
                <a:lnSpc>
                  <a:spcPts val="1125"/>
                </a:lnSpc>
                <a:buClr>
                  <a:srgbClr val="573F3A"/>
                </a:buClr>
                <a:buSzTx/>
                <a:buFontTx/>
                <a:buChar char="•"/>
              </a:pPr>
              <a:r>
                <a:rPr lang="zh-CN" sz="680" dirty="0">
                  <a:solidFill>
                    <a:srgbClr val="573F3A"/>
                  </a:solidFill>
                  <a:latin typeface="+mn-lt"/>
                  <a:ea typeface="+mn-ea"/>
                  <a:cs typeface="+mn-cs"/>
                </a:rPr>
                <a:t>标准化处理</a:t>
              </a:r>
            </a:p>
            <a:p>
              <a:pPr algn="ctr" marL="76200" indent="-76200">
                <a:lnSpc>
                  <a:spcPts val="1125"/>
                </a:lnSpc>
                <a:buClr>
                  <a:srgbClr val="573F3A"/>
                </a:buClr>
                <a:buSzTx/>
                <a:buFontTx/>
                <a:buChar char="•"/>
              </a:pPr>
              <a:r>
                <a:rPr lang="zh-CN" sz="680" dirty="0">
                  <a:solidFill>
                    <a:srgbClr val="573F3A"/>
                  </a:solidFill>
                  <a:latin typeface="+mn-lt"/>
                  <a:ea typeface="+mn-ea"/>
                  <a:cs typeface="+mn-cs"/>
                </a:rPr>
                <a:t>语义标注</a:t>
              </a:r>
            </a:p>
            <a:p>
              <a:pPr algn="ctr" marL="76200" indent="-76200">
                <a:lnSpc>
                  <a:spcPts val="1125"/>
                </a:lnSpc>
                <a:buClr>
                  <a:srgbClr val="573F3A"/>
                </a:buClr>
                <a:buSzTx/>
                <a:buFontTx/>
                <a:buChar char="•"/>
              </a:pPr>
              <a:r>
                <a:rPr lang="zh-CN" sz="680" dirty="0">
                  <a:solidFill>
                    <a:srgbClr val="573F3A"/>
                  </a:solidFill>
                  <a:latin typeface="+mn-lt"/>
                  <a:ea typeface="+mn-ea"/>
                  <a:cs typeface="+mn-cs"/>
                </a:rPr>
                <a:t>建立关联关系​</a:t>
              </a:r>
            </a:p>
          </p:txBody>
        </p:sp>
      </p:grpSp>
      <p:grpSp>
        <p:nvGrpSpPr>
          <p:cNvPr id="54" name="gap-2"/>
          <p:cNvGrpSpPr/>
          <p:nvPr/>
        </p:nvGrpSpPr>
        <p:grpSpPr>
          <a:xfrm>
            <a:off x="4429125" y="2238375"/>
            <a:ext cx="85725" cy="1"/>
            <a:chOff x="4429125" y="2238375"/>
            <a:chExt cx="85725" cy="1"/>
          </a:xfrm>
        </p:grpSpPr>
        <p:sp>
          <p:nvSpPr>
            <p:cNvPr id="53" name="Line 53"/>
            <p:cNvSpPr/>
            <p:nvPr/>
          </p:nvSpPr>
          <p:spPr>
            <a:xfrm>
              <a:off x="4429125" y="2238375"/>
              <a:ext cx="85725" cy="1"/>
            </a:xfrm>
            <a:prstGeom prst="line">
              <a:avLst/>
            </a:prstGeom>
            <a:noFill/>
            <a:ln w="14288">
              <a:solidFill>
                <a:srgbClr val="9C331E"/>
              </a:solidFill>
              <a:tailEnd type="triangle" w="lg" len="lg"/>
            </a:ln>
          </p:spPr>
        </p:sp>
      </p:grpSp>
      <p:grpSp>
        <p:nvGrpSpPr>
          <p:cNvPr id="65" name="seg-jnis"/>
          <p:cNvGrpSpPr/>
          <p:nvPr/>
        </p:nvGrpSpPr>
        <p:grpSpPr>
          <a:xfrm>
            <a:off x="4552950" y="1333500"/>
            <a:ext cx="1238250" cy="1809750"/>
            <a:chOff x="4552950" y="1333500"/>
            <a:chExt cx="1238250" cy="1809750"/>
          </a:xfrm>
        </p:grpSpPr>
        <p:sp>
          <p:nvSpPr>
            <p:cNvPr id="55" name="Rectangle 55"/>
            <p:cNvSpPr/>
            <p:nvPr/>
          </p:nvSpPr>
          <p:spPr>
            <a:xfrm>
              <a:off x="4552950" y="1333500"/>
              <a:ext cx="1238250" cy="1809750"/>
            </a:xfrm>
            <a:prstGeom prst="roundRect">
              <a:avLst>
                <a:gd name="adj" fmla="val 4615"/>
              </a:avLst>
            </a:prstGeom>
            <a:solidFill>
              <a:srgbClr val="632012"/>
            </a:solidFill>
            <a:ln>
              <a:noFill/>
            </a:ln>
          </p:spPr>
        </p:sp>
        <p:grpSp>
          <p:nvGrpSpPr>
            <p:cNvPr id="60" name="Group 60"/>
            <p:cNvGrpSpPr/>
            <p:nvPr/>
          </p:nvGrpSpPr>
          <p:grpSpPr>
            <a:xfrm>
              <a:off x="5045075" y="1504950"/>
              <a:ext cx="253999" cy="228810"/>
              <a:chOff x="5045075" y="1504950"/>
              <a:chExt cx="253999" cy="228810"/>
            </a:xfrm>
          </p:grpSpPr>
          <p:sp>
            <p:nvSpPr>
              <p:cNvPr id="56" name="Freeform 56"/>
              <p:cNvSpPr/>
              <p:nvPr/>
            </p:nvSpPr>
            <p:spPr>
              <a:xfrm>
                <a:off x="5045075" y="1707939"/>
                <a:ext cx="253999" cy="25821"/>
              </a:xfrm>
              <a:custGeom>
                <a:avLst/>
                <a:gdLst/>
                <a:ahLst/>
                <a:cxnLst/>
                <a:rect l="l" t="t" r="r" b="b"/>
                <a:pathLst>
                  <a:path w="253999" h="25821">
                    <a:moveTo>
                      <a:pt x="0" y="12910"/>
                    </a:moveTo>
                    <a:cubicBezTo>
                      <a:pt x="5857" y="21070"/>
                      <a:pt x="15358" y="25821"/>
                      <a:pt x="25400" y="25610"/>
                    </a:cubicBezTo>
                    <a:cubicBezTo>
                      <a:pt x="35442" y="25821"/>
                      <a:pt x="44943" y="21070"/>
                      <a:pt x="50800" y="12910"/>
                    </a:cubicBezTo>
                    <a:cubicBezTo>
                      <a:pt x="56657" y="4750"/>
                      <a:pt x="66158" y="0"/>
                      <a:pt x="76200" y="210"/>
                    </a:cubicBezTo>
                    <a:cubicBezTo>
                      <a:pt x="86242" y="0"/>
                      <a:pt x="95743" y="4750"/>
                      <a:pt x="101600" y="12910"/>
                    </a:cubicBezTo>
                    <a:cubicBezTo>
                      <a:pt x="107457" y="21070"/>
                      <a:pt x="116958" y="25821"/>
                      <a:pt x="127000" y="25610"/>
                    </a:cubicBezTo>
                    <a:cubicBezTo>
                      <a:pt x="137042" y="25821"/>
                      <a:pt x="146543" y="21070"/>
                      <a:pt x="152400" y="12910"/>
                    </a:cubicBezTo>
                    <a:cubicBezTo>
                      <a:pt x="158257" y="4750"/>
                      <a:pt x="167758" y="0"/>
                      <a:pt x="177800" y="210"/>
                    </a:cubicBezTo>
                    <a:cubicBezTo>
                      <a:pt x="187842" y="0"/>
                      <a:pt x="197343" y="4750"/>
                      <a:pt x="203199" y="12910"/>
                    </a:cubicBezTo>
                    <a:cubicBezTo>
                      <a:pt x="209056" y="21070"/>
                      <a:pt x="218557" y="25821"/>
                      <a:pt x="228599" y="25610"/>
                    </a:cubicBezTo>
                    <a:cubicBezTo>
                      <a:pt x="238641" y="25821"/>
                      <a:pt x="248142" y="21070"/>
                      <a:pt x="253999" y="12910"/>
                    </a:cubicBezTo>
                  </a:path>
                </a:pathLst>
              </a:custGeom>
              <a:noFill/>
              <a:ln w="25400">
                <a:solidFill>
                  <a:srgbClr val="FFFFFF"/>
                </a:solidFill>
              </a:ln>
            </p:spPr>
          </p:sp>
          <p:sp>
            <p:nvSpPr>
              <p:cNvPr id="57" name="Freeform 57"/>
              <p:cNvSpPr/>
              <p:nvPr/>
            </p:nvSpPr>
            <p:spPr>
              <a:xfrm>
                <a:off x="5057775" y="1631950"/>
                <a:ext cx="228599" cy="63500"/>
              </a:xfrm>
              <a:custGeom>
                <a:avLst/>
                <a:gdLst/>
                <a:ahLst/>
                <a:cxnLst/>
                <a:rect l="l" t="t" r="r" b="b"/>
                <a:pathLst>
                  <a:path w="228599" h="63500">
                    <a:moveTo>
                      <a:pt x="12700" y="63500"/>
                    </a:moveTo>
                    <a:lnTo>
                      <a:pt x="0" y="0"/>
                    </a:lnTo>
                    <a:lnTo>
                      <a:pt x="228599" y="0"/>
                    </a:lnTo>
                    <a:lnTo>
                      <a:pt x="203199" y="50800"/>
                    </a:lnTo>
                  </a:path>
                </a:pathLst>
              </a:custGeom>
              <a:noFill/>
              <a:ln w="25400">
                <a:solidFill>
                  <a:srgbClr val="FFFFFF"/>
                </a:solidFill>
              </a:ln>
            </p:spPr>
          </p:sp>
          <p:sp>
            <p:nvSpPr>
              <p:cNvPr id="58" name="Freeform 58"/>
              <p:cNvSpPr/>
              <p:nvPr/>
            </p:nvSpPr>
            <p:spPr>
              <a:xfrm>
                <a:off x="5083175" y="1555750"/>
                <a:ext cx="152400" cy="76200"/>
              </a:xfrm>
              <a:custGeom>
                <a:avLst/>
                <a:gdLst/>
                <a:ahLst/>
                <a:cxnLst/>
                <a:rect l="l" t="t" r="r" b="b"/>
                <a:pathLst>
                  <a:path w="152400" h="76200">
                    <a:moveTo>
                      <a:pt x="0" y="76200"/>
                    </a:moveTo>
                    <a:lnTo>
                      <a:pt x="0" y="0"/>
                    </a:lnTo>
                    <a:lnTo>
                      <a:pt x="101600" y="0"/>
                    </a:lnTo>
                    <a:lnTo>
                      <a:pt x="152400" y="76200"/>
                    </a:lnTo>
                  </a:path>
                </a:pathLst>
              </a:custGeom>
              <a:noFill/>
              <a:ln w="25400">
                <a:solidFill>
                  <a:srgbClr val="FFFFFF"/>
                </a:solidFill>
              </a:ln>
            </p:spPr>
          </p:sp>
          <p:sp>
            <p:nvSpPr>
              <p:cNvPr id="59" name="Freeform 59"/>
              <p:cNvSpPr/>
              <p:nvPr/>
            </p:nvSpPr>
            <p:spPr>
              <a:xfrm>
                <a:off x="5095875" y="1504950"/>
                <a:ext cx="12700" cy="50800"/>
              </a:xfrm>
              <a:custGeom>
                <a:avLst/>
                <a:gdLst/>
                <a:ahLst/>
                <a:cxnLst/>
                <a:rect l="l" t="t" r="r" b="b"/>
                <a:pathLst>
                  <a:path w="12700" h="50800">
                    <a:moveTo>
                      <a:pt x="12700" y="50800"/>
                    </a:moveTo>
                    <a:lnTo>
                      <a:pt x="12700" y="0"/>
                    </a:lnTo>
                    <a:lnTo>
                      <a:pt x="0" y="0"/>
                    </a:lnTo>
                  </a:path>
                </a:pathLst>
              </a:custGeom>
              <a:noFill/>
              <a:ln w="25400">
                <a:solidFill>
                  <a:srgbClr val="FFFFFF"/>
                </a:solidFill>
              </a:ln>
            </p:spPr>
          </p:sp>
        </p:grpSp>
        <p:sp>
          <p:nvSpPr>
            <p:cNvPr id="61" name="TextBox 61"/>
            <p:cNvSpPr txBox="1"/>
            <p:nvPr/>
          </p:nvSpPr>
          <p:spPr>
            <a:xfrm>
              <a:off x="4689412" y="1885236"/>
              <a:ext cx="965327" cy="140494"/>
            </a:xfrm>
            <a:prstGeom prst="rect">
              <a:avLst/>
            </a:prstGeom>
            <a:noFill/>
            <a:ln>
              <a:noFill/>
            </a:ln>
          </p:spPr>
          <p:txBody>
            <a:bodyPr wrap="none" lIns="0" tIns="0" rIns="0" bIns="0" anchor="t" anchorCtr="0">
              <a:spAutoFit/>
            </a:bodyPr>
            <a:lstStyle/>
            <a:p>
              <a:pPr algn="ctr"/>
              <a:r>
                <a:rPr lang="zh-CN" sz="710" dirty="0">
                  <a:solidFill>
                    <a:srgbClr val="DCE9F8"/>
                  </a:solidFill>
                  <a:latin typeface="+mn-lt"/>
                  <a:ea typeface="+mn-ea"/>
                  <a:cs typeface="+mn-cs"/>
                </a:rPr>
                <a:t>江南造船生产管理系统</a:t>
              </a:r>
            </a:p>
          </p:txBody>
        </p:sp>
        <p:sp>
          <p:nvSpPr>
            <p:cNvPr id="62" name="TextBox 62"/>
            <p:cNvSpPr txBox="1"/>
            <p:nvPr/>
          </p:nvSpPr>
          <p:spPr>
            <a:xfrm>
              <a:off x="4902805" y="2069782"/>
              <a:ext cx="538540"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Arial"/>
                  <a:ea typeface="Arial"/>
                  <a:cs typeface="Arial"/>
                </a:rPr>
                <a:t>JNIS</a:t>
              </a:r>
            </a:p>
          </p:txBody>
        </p:sp>
        <p:sp>
          <p:nvSpPr>
            <p:cNvPr id="63" name="Line 63"/>
            <p:cNvSpPr/>
            <p:nvPr/>
          </p:nvSpPr>
          <p:spPr>
            <a:xfrm>
              <a:off x="4762500" y="2381250"/>
              <a:ext cx="819150" cy="9525"/>
            </a:xfrm>
            <a:custGeom>
              <a:avLst/>
              <a:gdLst/>
              <a:ahLst/>
              <a:cxnLst/>
              <a:rect l="l" t="t" r="r" b="b"/>
              <a:pathLst>
                <a:path w="819150" h="9525">
                  <a:moveTo>
                    <a:pt x="0" y="0"/>
                  </a:moveTo>
                  <a:lnTo>
                    <a:pt x="819150" y="0"/>
                  </a:lnTo>
                </a:path>
              </a:pathLst>
            </a:custGeom>
            <a:noFill/>
            <a:ln w="9525">
              <a:solidFill>
                <a:srgbClr val="DE715B"/>
              </a:solidFill>
            </a:ln>
          </p:spPr>
        </p:sp>
        <p:sp>
          <p:nvSpPr>
            <p:cNvPr id="64" name="TextBox 64"/>
            <p:cNvSpPr txBox="1"/>
            <p:nvPr/>
          </p:nvSpPr>
          <p:spPr>
            <a:xfrm>
              <a:off x="4798124" y="2517934"/>
              <a:ext cx="747903" cy="266700"/>
            </a:xfrm>
            <a:prstGeom prst="rect">
              <a:avLst/>
            </a:prstGeom>
            <a:noFill/>
            <a:ln>
              <a:noFill/>
            </a:ln>
          </p:spPr>
          <p:txBody>
            <a:bodyPr wrap="none" lIns="0" tIns="0" rIns="0" bIns="0" anchor="t" anchorCtr="0">
              <a:spAutoFit/>
            </a:bodyPr>
            <a:lstStyle/>
            <a:p>
              <a:pPr algn="ctr">
                <a:lnSpc>
                  <a:spcPts val="1050"/>
                </a:lnSpc>
              </a:pPr>
              <a:r>
                <a:rPr lang="zh-CN" sz="680" dirty="0">
                  <a:solidFill>
                    <a:srgbClr val="DCE9F8"/>
                  </a:solidFill>
                  <a:latin typeface="+mn-lt"/>
                  <a:ea typeface="+mn-ea"/>
                  <a:cs typeface="+mn-cs"/>
                </a:rPr>
                <a:t>数据嵌入业务流程​</a:t>
              </a:r>
              <a:br/>
              <a:r>
                <a:rPr lang="zh-CN" sz="680" dirty="0">
                  <a:solidFill>
                    <a:srgbClr val="DCE9F8"/>
                  </a:solidFill>
                  <a:latin typeface="+mn-lt"/>
                  <a:ea typeface="+mn-ea"/>
                  <a:cs typeface="+mn-cs"/>
                </a:rPr>
                <a:t>支撑智能化应用</a:t>
              </a:r>
            </a:p>
          </p:txBody>
        </p:sp>
      </p:grpSp>
      <p:grpSp>
        <p:nvGrpSpPr>
          <p:cNvPr id="67" name="gap-3"/>
          <p:cNvGrpSpPr/>
          <p:nvPr/>
        </p:nvGrpSpPr>
        <p:grpSpPr>
          <a:xfrm>
            <a:off x="5800725" y="2238375"/>
            <a:ext cx="85725" cy="1"/>
            <a:chOff x="5800725" y="2238375"/>
            <a:chExt cx="85725" cy="1"/>
          </a:xfrm>
        </p:grpSpPr>
        <p:sp>
          <p:nvSpPr>
            <p:cNvPr id="66" name="Line 66"/>
            <p:cNvSpPr/>
            <p:nvPr/>
          </p:nvSpPr>
          <p:spPr>
            <a:xfrm>
              <a:off x="5800725" y="2238375"/>
              <a:ext cx="85725" cy="1"/>
            </a:xfrm>
            <a:prstGeom prst="line">
              <a:avLst/>
            </a:prstGeom>
            <a:noFill/>
            <a:ln w="14288">
              <a:solidFill>
                <a:srgbClr val="9C331E"/>
              </a:solidFill>
              <a:tailEnd type="triangle" w="lg" len="lg"/>
            </a:ln>
          </p:spPr>
        </p:sp>
      </p:grpSp>
      <p:grpSp>
        <p:nvGrpSpPr>
          <p:cNvPr id="92" name="seg-apps"/>
          <p:cNvGrpSpPr/>
          <p:nvPr/>
        </p:nvGrpSpPr>
        <p:grpSpPr>
          <a:xfrm>
            <a:off x="5924550" y="1333500"/>
            <a:ext cx="1238250" cy="1809750"/>
            <a:chOff x="5924550" y="1333500"/>
            <a:chExt cx="1238250" cy="1809750"/>
          </a:xfrm>
        </p:grpSpPr>
        <p:sp>
          <p:nvSpPr>
            <p:cNvPr id="68" name="Rectangle 68"/>
            <p:cNvSpPr/>
            <p:nvPr/>
          </p:nvSpPr>
          <p:spPr>
            <a:xfrm>
              <a:off x="5924550" y="1333500"/>
              <a:ext cx="1238250" cy="1809750"/>
            </a:xfrm>
            <a:prstGeom prst="roundRect">
              <a:avLst>
                <a:gd name="adj" fmla="val 4615"/>
              </a:avLst>
            </a:prstGeom>
            <a:solidFill>
              <a:srgbClr val="EFF5FC"/>
            </a:solidFill>
            <a:ln w="9525">
              <a:solidFill>
                <a:srgbClr val="C7D9F0"/>
              </a:solidFill>
            </a:ln>
          </p:spPr>
        </p:sp>
        <p:sp>
          <p:nvSpPr>
            <p:cNvPr id="69" name="TextBox 69"/>
            <p:cNvSpPr txBox="1"/>
            <p:nvPr/>
          </p:nvSpPr>
          <p:spPr>
            <a:xfrm>
              <a:off x="6318136" y="1415891"/>
              <a:ext cx="451079" cy="161925"/>
            </a:xfrm>
            <a:prstGeom prst="rect">
              <a:avLst/>
            </a:prstGeom>
            <a:noFill/>
            <a:ln>
              <a:noFill/>
            </a:ln>
          </p:spPr>
          <p:txBody>
            <a:bodyPr wrap="none" lIns="0" tIns="0" rIns="0" bIns="0" anchor="t" anchorCtr="0">
              <a:spAutoFit/>
            </a:bodyPr>
            <a:lstStyle/>
            <a:p>
              <a:pPr algn="ctr"/>
              <a:r>
                <a:rPr lang="zh-CN" sz="820" b="1" dirty="0">
                  <a:solidFill>
                    <a:srgbClr val="5E2114"/>
                  </a:solidFill>
                  <a:latin typeface="+mn-lt"/>
                  <a:ea typeface="+mn-ea"/>
                  <a:cs typeface="+mn-cs"/>
                </a:rPr>
                <a:t>业务应用</a:t>
              </a:r>
            </a:p>
          </p:txBody>
        </p:sp>
        <p:sp>
          <p:nvSpPr>
            <p:cNvPr id="70" name="Rectangle 70"/>
            <p:cNvSpPr/>
            <p:nvPr/>
          </p:nvSpPr>
          <p:spPr>
            <a:xfrm>
              <a:off x="6000750" y="1600200"/>
              <a:ext cx="1085850" cy="438150"/>
            </a:xfrm>
            <a:prstGeom prst="roundRect">
              <a:avLst>
                <a:gd name="adj" fmla="val 8696"/>
              </a:avLst>
            </a:prstGeom>
            <a:solidFill>
              <a:srgbClr val="FFFFFF"/>
            </a:solidFill>
            <a:ln w="9525">
              <a:solidFill>
                <a:srgbClr val="C7D9F0"/>
              </a:solidFill>
            </a:ln>
          </p:spPr>
        </p:sp>
        <p:grpSp>
          <p:nvGrpSpPr>
            <p:cNvPr id="73" name="Group 73"/>
            <p:cNvGrpSpPr/>
            <p:nvPr/>
          </p:nvGrpSpPr>
          <p:grpSpPr>
            <a:xfrm>
              <a:off x="6074569" y="1759744"/>
              <a:ext cx="100012" cy="100012"/>
              <a:chOff x="6074569" y="1759744"/>
              <a:chExt cx="100012" cy="100012"/>
            </a:xfrm>
          </p:grpSpPr>
          <p:sp>
            <p:nvSpPr>
              <p:cNvPr id="71" name="Freeform 71"/>
              <p:cNvSpPr/>
              <p:nvPr/>
            </p:nvSpPr>
            <p:spPr>
              <a:xfrm>
                <a:off x="6074569" y="175974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9C331E"/>
                </a:solidFill>
              </a:ln>
            </p:spPr>
          </p:sp>
          <p:sp>
            <p:nvSpPr>
              <p:cNvPr id="72" name="Freeform 72"/>
              <p:cNvSpPr/>
              <p:nvPr/>
            </p:nvSpPr>
            <p:spPr>
              <a:xfrm>
                <a:off x="6107906" y="1798637"/>
                <a:ext cx="33337" cy="22225"/>
              </a:xfrm>
              <a:custGeom>
                <a:avLst/>
                <a:gdLst/>
                <a:ahLst/>
                <a:cxnLst/>
                <a:rect l="l" t="t" r="r" b="b"/>
                <a:pathLst>
                  <a:path w="33337" h="22225">
                    <a:moveTo>
                      <a:pt x="0" y="11112"/>
                    </a:moveTo>
                    <a:lnTo>
                      <a:pt x="11112" y="22225"/>
                    </a:lnTo>
                    <a:lnTo>
                      <a:pt x="33337" y="0"/>
                    </a:lnTo>
                  </a:path>
                </a:pathLst>
              </a:custGeom>
              <a:noFill/>
              <a:ln w="11112">
                <a:solidFill>
                  <a:srgbClr val="9C331E"/>
                </a:solidFill>
              </a:ln>
            </p:spPr>
          </p:sp>
        </p:grpSp>
        <p:sp>
          <p:nvSpPr>
            <p:cNvPr id="74" name="TextBox 74"/>
            <p:cNvSpPr txBox="1"/>
            <p:nvPr/>
          </p:nvSpPr>
          <p:spPr>
            <a:xfrm>
              <a:off x="6243638" y="1685211"/>
              <a:ext cx="391846" cy="140494"/>
            </a:xfrm>
            <a:prstGeom prst="rect">
              <a:avLst/>
            </a:prstGeom>
            <a:noFill/>
            <a:ln>
              <a:noFill/>
            </a:ln>
          </p:spPr>
          <p:txBody>
            <a:bodyPr wrap="none" lIns="0" tIns="0" rIns="0" bIns="0" anchor="t" anchorCtr="0">
              <a:spAutoFit/>
            </a:bodyPr>
            <a:lstStyle/>
            <a:p>
              <a:pPr algn="l"/>
              <a:r>
                <a:rPr lang="zh-CN" sz="710" b="1" dirty="0">
                  <a:solidFill>
                    <a:srgbClr val="5E2114"/>
                  </a:solidFill>
                  <a:latin typeface="+mn-lt"/>
                  <a:ea typeface="+mn-ea"/>
                  <a:cs typeface="+mn-cs"/>
                </a:rPr>
                <a:t>设计校核</a:t>
              </a:r>
            </a:p>
          </p:txBody>
        </p:sp>
        <p:sp>
          <p:nvSpPr>
            <p:cNvPr id="75" name="TextBox 75"/>
            <p:cNvSpPr txBox="1"/>
            <p:nvPr/>
          </p:nvSpPr>
          <p:spPr>
            <a:xfrm>
              <a:off x="6243638" y="1840230"/>
              <a:ext cx="736473" cy="119062"/>
            </a:xfrm>
            <a:prstGeom prst="rect">
              <a:avLst/>
            </a:prstGeom>
            <a:noFill/>
            <a:ln>
              <a:noFill/>
            </a:ln>
          </p:spPr>
          <p:txBody>
            <a:bodyPr wrap="none" lIns="0" tIns="0" rIns="0" bIns="0" anchor="t" anchorCtr="0">
              <a:spAutoFit/>
            </a:bodyPr>
            <a:lstStyle/>
            <a:p>
              <a:pPr algn="l"/>
              <a:r>
                <a:rPr lang="zh-CN" sz="600" dirty="0">
                  <a:solidFill>
                    <a:srgbClr val="9B807A"/>
                  </a:solidFill>
                  <a:latin typeface="+mn-lt"/>
                  <a:ea typeface="+mn-ea"/>
                  <a:cs typeface="+mn-cs"/>
                </a:rPr>
                <a:t>快速比对　优化迭代</a:t>
              </a:r>
            </a:p>
          </p:txBody>
        </p:sp>
        <p:sp>
          <p:nvSpPr>
            <p:cNvPr id="76" name="Rectangle 76"/>
            <p:cNvSpPr/>
            <p:nvPr/>
          </p:nvSpPr>
          <p:spPr>
            <a:xfrm>
              <a:off x="6000750" y="2095500"/>
              <a:ext cx="1085850" cy="438150"/>
            </a:xfrm>
            <a:prstGeom prst="roundRect">
              <a:avLst>
                <a:gd name="adj" fmla="val 8696"/>
              </a:avLst>
            </a:prstGeom>
            <a:solidFill>
              <a:srgbClr val="FFFFFF"/>
            </a:solidFill>
            <a:ln w="9525">
              <a:solidFill>
                <a:srgbClr val="C7D9F0"/>
              </a:solidFill>
            </a:ln>
          </p:spPr>
        </p:sp>
        <p:grpSp>
          <p:nvGrpSpPr>
            <p:cNvPr id="83" name="Group 83"/>
            <p:cNvGrpSpPr/>
            <p:nvPr/>
          </p:nvGrpSpPr>
          <p:grpSpPr>
            <a:xfrm>
              <a:off x="6074569" y="2255044"/>
              <a:ext cx="100012" cy="100012"/>
              <a:chOff x="6074569" y="2255044"/>
              <a:chExt cx="100012" cy="100012"/>
            </a:xfrm>
          </p:grpSpPr>
          <p:sp>
            <p:nvSpPr>
              <p:cNvPr id="77" name="Freeform 77"/>
              <p:cNvSpPr/>
              <p:nvPr/>
            </p:nvSpPr>
            <p:spPr>
              <a:xfrm>
                <a:off x="6113462" y="229949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331E"/>
                </a:solidFill>
              </a:ln>
            </p:spPr>
          </p:sp>
          <p:sp>
            <p:nvSpPr>
              <p:cNvPr id="78" name="Freeform 78"/>
              <p:cNvSpPr/>
              <p:nvPr/>
            </p:nvSpPr>
            <p:spPr>
              <a:xfrm>
                <a:off x="6102350" y="2338387"/>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9C331E"/>
                </a:solidFill>
              </a:ln>
            </p:spPr>
          </p:sp>
          <p:sp>
            <p:nvSpPr>
              <p:cNvPr id="79" name="Freeform 79"/>
              <p:cNvSpPr/>
              <p:nvPr/>
            </p:nvSpPr>
            <p:spPr>
              <a:xfrm>
                <a:off x="6141244" y="225504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331E"/>
                </a:solidFill>
              </a:ln>
            </p:spPr>
          </p:sp>
          <p:sp>
            <p:nvSpPr>
              <p:cNvPr id="80" name="Freeform 80"/>
              <p:cNvSpPr/>
              <p:nvPr/>
            </p:nvSpPr>
            <p:spPr>
              <a:xfrm>
                <a:off x="6152356" y="2293937"/>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9C331E"/>
                </a:solidFill>
              </a:ln>
            </p:spPr>
          </p:sp>
          <p:sp>
            <p:nvSpPr>
              <p:cNvPr id="81" name="Freeform 81"/>
              <p:cNvSpPr/>
              <p:nvPr/>
            </p:nvSpPr>
            <p:spPr>
              <a:xfrm>
                <a:off x="6085681" y="225504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331E"/>
                </a:solidFill>
              </a:ln>
            </p:spPr>
          </p:sp>
          <p:sp>
            <p:nvSpPr>
              <p:cNvPr id="82" name="Freeform 82"/>
              <p:cNvSpPr/>
              <p:nvPr/>
            </p:nvSpPr>
            <p:spPr>
              <a:xfrm>
                <a:off x="6074569" y="2293937"/>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9C331E"/>
                </a:solidFill>
              </a:ln>
            </p:spPr>
          </p:sp>
        </p:grpSp>
        <p:sp>
          <p:nvSpPr>
            <p:cNvPr id="84" name="TextBox 84"/>
            <p:cNvSpPr txBox="1"/>
            <p:nvPr/>
          </p:nvSpPr>
          <p:spPr>
            <a:xfrm>
              <a:off x="6243638" y="2180511"/>
              <a:ext cx="391846" cy="140494"/>
            </a:xfrm>
            <a:prstGeom prst="rect">
              <a:avLst/>
            </a:prstGeom>
            <a:noFill/>
            <a:ln>
              <a:noFill/>
            </a:ln>
          </p:spPr>
          <p:txBody>
            <a:bodyPr wrap="none" lIns="0" tIns="0" rIns="0" bIns="0" anchor="t" anchorCtr="0">
              <a:spAutoFit/>
            </a:bodyPr>
            <a:lstStyle/>
            <a:p>
              <a:pPr algn="l"/>
              <a:r>
                <a:rPr lang="zh-CN" sz="710" b="1" dirty="0">
                  <a:solidFill>
                    <a:srgbClr val="5E2114"/>
                  </a:solidFill>
                  <a:latin typeface="+mn-lt"/>
                  <a:ea typeface="+mn-ea"/>
                  <a:cs typeface="+mn-cs"/>
                </a:rPr>
                <a:t>生产协同</a:t>
              </a:r>
            </a:p>
          </p:txBody>
        </p:sp>
        <p:sp>
          <p:nvSpPr>
            <p:cNvPr id="85" name="TextBox 85"/>
            <p:cNvSpPr txBox="1"/>
            <p:nvPr/>
          </p:nvSpPr>
          <p:spPr>
            <a:xfrm>
              <a:off x="6243638" y="2335530"/>
              <a:ext cx="736473" cy="119062"/>
            </a:xfrm>
            <a:prstGeom prst="rect">
              <a:avLst/>
            </a:prstGeom>
            <a:noFill/>
            <a:ln>
              <a:noFill/>
            </a:ln>
          </p:spPr>
          <p:txBody>
            <a:bodyPr wrap="none" lIns="0" tIns="0" rIns="0" bIns="0" anchor="t" anchorCtr="0">
              <a:spAutoFit/>
            </a:bodyPr>
            <a:lstStyle/>
            <a:p>
              <a:pPr algn="l"/>
              <a:r>
                <a:rPr lang="zh-CN" sz="600" dirty="0">
                  <a:solidFill>
                    <a:srgbClr val="9B807A"/>
                  </a:solidFill>
                  <a:latin typeface="+mn-lt"/>
                  <a:ea typeface="+mn-ea"/>
                  <a:cs typeface="+mn-cs"/>
                </a:rPr>
                <a:t>计划排程　资源匹配</a:t>
              </a:r>
            </a:p>
          </p:txBody>
        </p:sp>
        <p:sp>
          <p:nvSpPr>
            <p:cNvPr id="86" name="Rectangle 86"/>
            <p:cNvSpPr/>
            <p:nvPr/>
          </p:nvSpPr>
          <p:spPr>
            <a:xfrm>
              <a:off x="6000750" y="2590800"/>
              <a:ext cx="1085850" cy="438150"/>
            </a:xfrm>
            <a:prstGeom prst="roundRect">
              <a:avLst>
                <a:gd name="adj" fmla="val 8696"/>
              </a:avLst>
            </a:prstGeom>
            <a:solidFill>
              <a:srgbClr val="FFFFFF"/>
            </a:solidFill>
            <a:ln w="9525">
              <a:solidFill>
                <a:srgbClr val="C7D9F0"/>
              </a:solidFill>
            </a:ln>
          </p:spPr>
        </p:sp>
        <p:grpSp>
          <p:nvGrpSpPr>
            <p:cNvPr id="89" name="Group 89"/>
            <p:cNvGrpSpPr/>
            <p:nvPr/>
          </p:nvGrpSpPr>
          <p:grpSpPr>
            <a:xfrm>
              <a:off x="6074569" y="2750344"/>
              <a:ext cx="100012" cy="100012"/>
              <a:chOff x="6074569" y="2750344"/>
              <a:chExt cx="100012" cy="100012"/>
            </a:xfrm>
          </p:grpSpPr>
          <p:sp>
            <p:nvSpPr>
              <p:cNvPr id="87" name="Freeform 87"/>
              <p:cNvSpPr/>
              <p:nvPr/>
            </p:nvSpPr>
            <p:spPr>
              <a:xfrm>
                <a:off x="6074569" y="2750344"/>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9C331E"/>
                </a:solidFill>
              </a:ln>
            </p:spPr>
          </p:sp>
          <p:sp>
            <p:nvSpPr>
              <p:cNvPr id="88" name="Freeform 88"/>
              <p:cNvSpPr/>
              <p:nvPr/>
            </p:nvSpPr>
            <p:spPr>
              <a:xfrm>
                <a:off x="6141244" y="2817019"/>
                <a:ext cx="33337" cy="33337"/>
              </a:xfrm>
              <a:custGeom>
                <a:avLst/>
                <a:gdLst/>
                <a:ahLst/>
                <a:cxnLst/>
                <a:rect l="l" t="t" r="r" b="b"/>
                <a:pathLst>
                  <a:path w="33337" h="33337">
                    <a:moveTo>
                      <a:pt x="33337" y="33337"/>
                    </a:moveTo>
                    <a:lnTo>
                      <a:pt x="0" y="0"/>
                    </a:lnTo>
                  </a:path>
                </a:pathLst>
              </a:custGeom>
              <a:noFill/>
              <a:ln w="11112">
                <a:solidFill>
                  <a:srgbClr val="9C331E"/>
                </a:solidFill>
              </a:ln>
            </p:spPr>
          </p:sp>
        </p:grpSp>
        <p:sp>
          <p:nvSpPr>
            <p:cNvPr id="90" name="TextBox 90"/>
            <p:cNvSpPr txBox="1"/>
            <p:nvPr/>
          </p:nvSpPr>
          <p:spPr>
            <a:xfrm>
              <a:off x="6243638" y="2675811"/>
              <a:ext cx="391846" cy="140494"/>
            </a:xfrm>
            <a:prstGeom prst="rect">
              <a:avLst/>
            </a:prstGeom>
            <a:noFill/>
            <a:ln>
              <a:noFill/>
            </a:ln>
          </p:spPr>
          <p:txBody>
            <a:bodyPr wrap="none" lIns="0" tIns="0" rIns="0" bIns="0" anchor="t" anchorCtr="0">
              <a:spAutoFit/>
            </a:bodyPr>
            <a:lstStyle/>
            <a:p>
              <a:pPr algn="l"/>
              <a:r>
                <a:rPr lang="zh-CN" sz="710" b="1" dirty="0">
                  <a:solidFill>
                    <a:srgbClr val="5E2114"/>
                  </a:solidFill>
                  <a:latin typeface="+mn-lt"/>
                  <a:ea typeface="+mn-ea"/>
                  <a:cs typeface="+mn-cs"/>
                </a:rPr>
                <a:t>质量追溯</a:t>
              </a:r>
            </a:p>
          </p:txBody>
        </p:sp>
        <p:sp>
          <p:nvSpPr>
            <p:cNvPr id="91" name="TextBox 91"/>
            <p:cNvSpPr txBox="1"/>
            <p:nvPr/>
          </p:nvSpPr>
          <p:spPr>
            <a:xfrm>
              <a:off x="6243638" y="2830830"/>
              <a:ext cx="736473" cy="119062"/>
            </a:xfrm>
            <a:prstGeom prst="rect">
              <a:avLst/>
            </a:prstGeom>
            <a:noFill/>
            <a:ln>
              <a:noFill/>
            </a:ln>
          </p:spPr>
          <p:txBody>
            <a:bodyPr wrap="none" lIns="0" tIns="0" rIns="0" bIns="0" anchor="t" anchorCtr="0">
              <a:spAutoFit/>
            </a:bodyPr>
            <a:lstStyle/>
            <a:p>
              <a:pPr algn="l"/>
              <a:r>
                <a:rPr lang="zh-CN" sz="600" dirty="0">
                  <a:solidFill>
                    <a:srgbClr val="9B807A"/>
                  </a:solidFill>
                  <a:latin typeface="+mn-lt"/>
                  <a:ea typeface="+mn-ea"/>
                  <a:cs typeface="+mn-cs"/>
                </a:rPr>
                <a:t>过程可查　问题定位</a:t>
              </a:r>
            </a:p>
          </p:txBody>
        </p:sp>
      </p:grpSp>
      <p:grpSp>
        <p:nvGrpSpPr>
          <p:cNvPr id="94" name="gap-4"/>
          <p:cNvGrpSpPr/>
          <p:nvPr/>
        </p:nvGrpSpPr>
        <p:grpSpPr>
          <a:xfrm>
            <a:off x="7172325" y="2238375"/>
            <a:ext cx="85725" cy="1"/>
            <a:chOff x="7172325" y="2238375"/>
            <a:chExt cx="85725" cy="1"/>
          </a:xfrm>
        </p:grpSpPr>
        <p:sp>
          <p:nvSpPr>
            <p:cNvPr id="93" name="Line 93"/>
            <p:cNvSpPr/>
            <p:nvPr/>
          </p:nvSpPr>
          <p:spPr>
            <a:xfrm>
              <a:off x="7172325" y="2238375"/>
              <a:ext cx="85725" cy="1"/>
            </a:xfrm>
            <a:prstGeom prst="line">
              <a:avLst/>
            </a:prstGeom>
            <a:noFill/>
            <a:ln w="14288">
              <a:solidFill>
                <a:srgbClr val="9C331E"/>
              </a:solidFill>
              <a:tailEnd type="triangle" w="lg" len="lg"/>
            </a:ln>
          </p:spPr>
        </p:sp>
      </p:grpSp>
      <p:grpSp>
        <p:nvGrpSpPr>
          <p:cNvPr id="102" name="seg-feedback"/>
          <p:cNvGrpSpPr/>
          <p:nvPr/>
        </p:nvGrpSpPr>
        <p:grpSpPr>
          <a:xfrm>
            <a:off x="7296150" y="1333500"/>
            <a:ext cx="1238250" cy="1809750"/>
            <a:chOff x="7296150" y="1333500"/>
            <a:chExt cx="1238250" cy="1809750"/>
          </a:xfrm>
        </p:grpSpPr>
        <p:sp>
          <p:nvSpPr>
            <p:cNvPr id="95" name="Rectangle 95"/>
            <p:cNvSpPr/>
            <p:nvPr/>
          </p:nvSpPr>
          <p:spPr>
            <a:xfrm>
              <a:off x="7296150" y="1333500"/>
              <a:ext cx="1238250" cy="1809750"/>
            </a:xfrm>
            <a:prstGeom prst="roundRect">
              <a:avLst>
                <a:gd name="adj" fmla="val 4615"/>
              </a:avLst>
            </a:prstGeom>
            <a:solidFill>
              <a:srgbClr val="DCE9F8"/>
            </a:solidFill>
            <a:ln>
              <a:noFill/>
            </a:ln>
          </p:spPr>
        </p:sp>
        <p:sp>
          <p:nvSpPr>
            <p:cNvPr id="96" name="Ellipse 96"/>
            <p:cNvSpPr/>
            <p:nvPr/>
          </p:nvSpPr>
          <p:spPr>
            <a:xfrm>
              <a:off x="7724775" y="1524000"/>
              <a:ext cx="381000" cy="381000"/>
            </a:xfrm>
            <a:prstGeom prst="ellipse">
              <a:avLst/>
            </a:prstGeom>
            <a:solidFill>
              <a:srgbClr val="FFFFFF"/>
            </a:solidFill>
            <a:ln>
              <a:noFill/>
            </a:ln>
          </p:spPr>
        </p:sp>
        <p:grpSp>
          <p:nvGrpSpPr>
            <p:cNvPr id="99" name="Group 99"/>
            <p:cNvGrpSpPr/>
            <p:nvPr/>
          </p:nvGrpSpPr>
          <p:grpSpPr>
            <a:xfrm>
              <a:off x="7839075" y="1634625"/>
              <a:ext cx="152400" cy="159750"/>
              <a:chOff x="7839075" y="1634625"/>
              <a:chExt cx="152400" cy="159750"/>
            </a:xfrm>
          </p:grpSpPr>
          <p:sp>
            <p:nvSpPr>
              <p:cNvPr id="97" name="Freeform 97"/>
              <p:cNvSpPr/>
              <p:nvPr/>
            </p:nvSpPr>
            <p:spPr>
              <a:xfrm>
                <a:off x="7839075" y="16346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9C331E"/>
                </a:solidFill>
              </a:ln>
            </p:spPr>
          </p:sp>
          <p:sp>
            <p:nvSpPr>
              <p:cNvPr id="98" name="Freeform 98"/>
              <p:cNvSpPr/>
              <p:nvPr/>
            </p:nvSpPr>
            <p:spPr>
              <a:xfrm>
                <a:off x="7839075" y="17240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9C331E"/>
                </a:solidFill>
              </a:ln>
            </p:spPr>
          </p:sp>
        </p:grpSp>
        <p:sp>
          <p:nvSpPr>
            <p:cNvPr id="100" name="TextBox 100"/>
            <p:cNvSpPr txBox="1"/>
            <p:nvPr/>
          </p:nvSpPr>
          <p:spPr>
            <a:xfrm>
              <a:off x="7689736" y="2006441"/>
              <a:ext cx="451079" cy="161925"/>
            </a:xfrm>
            <a:prstGeom prst="rect">
              <a:avLst/>
            </a:prstGeom>
            <a:noFill/>
            <a:ln>
              <a:noFill/>
            </a:ln>
          </p:spPr>
          <p:txBody>
            <a:bodyPr wrap="none" lIns="0" tIns="0" rIns="0" bIns="0" anchor="t" anchorCtr="0">
              <a:spAutoFit/>
            </a:bodyPr>
            <a:lstStyle/>
            <a:p>
              <a:pPr algn="ctr"/>
              <a:r>
                <a:rPr lang="zh-CN" sz="820" b="1" dirty="0">
                  <a:solidFill>
                    <a:srgbClr val="5E2114"/>
                  </a:solidFill>
                  <a:latin typeface="+mn-lt"/>
                  <a:ea typeface="+mn-ea"/>
                  <a:cs typeface="+mn-cs"/>
                </a:rPr>
                <a:t>现场反馈</a:t>
              </a:r>
            </a:p>
          </p:txBody>
        </p:sp>
        <p:sp>
          <p:nvSpPr>
            <p:cNvPr id="101" name="TextBox 101"/>
            <p:cNvSpPr txBox="1"/>
            <p:nvPr/>
          </p:nvSpPr>
          <p:spPr>
            <a:xfrm>
              <a:off x="7503224" y="2232184"/>
              <a:ext cx="824103" cy="561975"/>
            </a:xfrm>
            <a:prstGeom prst="rect">
              <a:avLst/>
            </a:prstGeom>
            <a:noFill/>
            <a:ln>
              <a:noFill/>
            </a:ln>
          </p:spPr>
          <p:txBody>
            <a:bodyPr wrap="none" lIns="0" tIns="0" rIns="0" bIns="0" anchor="t" anchorCtr="0">
              <a:spAutoFit/>
            </a:bodyPr>
            <a:lstStyle/>
            <a:p>
              <a:pPr algn="ctr" marL="76200" indent="-76200">
                <a:lnSpc>
                  <a:spcPts val="1125"/>
                </a:lnSpc>
                <a:buClr>
                  <a:srgbClr val="573F3A"/>
                </a:buClr>
                <a:buSzTx/>
                <a:buFontTx/>
                <a:buChar char="•"/>
              </a:pPr>
              <a:r>
                <a:rPr lang="zh-CN" sz="680" dirty="0">
                  <a:solidFill>
                    <a:srgbClr val="573F3A"/>
                  </a:solidFill>
                  <a:latin typeface="+mn-lt"/>
                  <a:ea typeface="+mn-ea"/>
                  <a:cs typeface="+mn-cs"/>
                </a:rPr>
                <a:t>实施构建数据回流​</a:t>
              </a:r>
            </a:p>
            <a:p>
              <a:pPr algn="ctr" marL="76200" indent="-76200">
                <a:lnSpc>
                  <a:spcPts val="1125"/>
                </a:lnSpc>
                <a:buClr>
                  <a:srgbClr val="573F3A"/>
                </a:buClr>
                <a:buSzTx/>
                <a:buFontTx/>
                <a:buChar char="•"/>
              </a:pPr>
              <a:r>
                <a:rPr lang="zh-CN" sz="680" dirty="0">
                  <a:solidFill>
                    <a:srgbClr val="573F3A"/>
                  </a:solidFill>
                  <a:latin typeface="+mn-lt"/>
                  <a:ea typeface="+mn-ea"/>
                  <a:cs typeface="+mn-cs"/>
                </a:rPr>
                <a:t>异常问题记录</a:t>
              </a:r>
            </a:p>
            <a:p>
              <a:pPr algn="ctr" marL="76200" indent="-76200">
                <a:lnSpc>
                  <a:spcPts val="1125"/>
                </a:lnSpc>
                <a:buClr>
                  <a:srgbClr val="573F3A"/>
                </a:buClr>
                <a:buSzTx/>
                <a:buFontTx/>
                <a:buChar char="•"/>
              </a:pPr>
              <a:r>
                <a:rPr lang="zh-CN" sz="680" dirty="0">
                  <a:solidFill>
                    <a:srgbClr val="573F3A"/>
                  </a:solidFill>
                  <a:latin typeface="+mn-lt"/>
                  <a:ea typeface="+mn-ea"/>
                  <a:cs typeface="+mn-cs"/>
                </a:rPr>
                <a:t>工艺改进建议</a:t>
              </a:r>
            </a:p>
            <a:p>
              <a:pPr algn="ctr" marL="76200" indent="-76200">
                <a:lnSpc>
                  <a:spcPts val="1125"/>
                </a:lnSpc>
                <a:buClr>
                  <a:srgbClr val="573F3A"/>
                </a:buClr>
                <a:buSzTx/>
                <a:buFontTx/>
                <a:buChar char="•"/>
              </a:pPr>
              <a:r>
                <a:rPr lang="zh-CN" sz="680" dirty="0">
                  <a:solidFill>
                    <a:srgbClr val="573F3A"/>
                  </a:solidFill>
                  <a:latin typeface="+mn-lt"/>
                  <a:ea typeface="+mn-ea"/>
                  <a:cs typeface="+mn-cs"/>
                </a:rPr>
                <a:t>新场景数据沉淀</a:t>
              </a:r>
            </a:p>
          </p:txBody>
        </p:sp>
      </p:grpSp>
      <p:grpSp>
        <p:nvGrpSpPr>
          <p:cNvPr id="106" name="ships-band"/>
          <p:cNvGrpSpPr/>
          <p:nvPr/>
        </p:nvGrpSpPr>
        <p:grpSpPr>
          <a:xfrm>
            <a:off x="381000" y="3257550"/>
            <a:ext cx="8191500" cy="244078"/>
            <a:chOff x="381000" y="3257550"/>
            <a:chExt cx="8191500" cy="244078"/>
          </a:xfrm>
        </p:grpSpPr>
        <p:sp>
          <p:nvSpPr>
            <p:cNvPr id="103" name="Rectangle 103"/>
            <p:cNvSpPr/>
            <p:nvPr/>
          </p:nvSpPr>
          <p:spPr>
            <a:xfrm>
              <a:off x="381000" y="3257550"/>
              <a:ext cx="8191500" cy="228600"/>
            </a:xfrm>
            <a:prstGeom prst="roundRect">
              <a:avLst>
                <a:gd name="adj" fmla="val 16667"/>
              </a:avLst>
            </a:prstGeom>
            <a:gradFill>
              <a:gsLst>
                <a:gs pos="0">
                  <a:srgbClr val="6F2516"/>
                </a:gs>
                <a:gs pos="100000">
                  <a:srgbClr val="D64A2E"/>
                </a:gs>
              </a:gsLst>
              <a:lin ang="0" scaled="1"/>
            </a:gradFill>
            <a:ln>
              <a:noFill/>
            </a:ln>
          </p:spPr>
        </p:sp>
        <p:sp>
          <p:nvSpPr>
            <p:cNvPr id="104" name="TextBox 104"/>
            <p:cNvSpPr txBox="1"/>
            <p:nvPr/>
          </p:nvSpPr>
          <p:spPr>
            <a:xfrm>
              <a:off x="490538" y="3318272"/>
              <a:ext cx="768782"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典型船型应用</a:t>
              </a:r>
            </a:p>
          </p:txBody>
        </p:sp>
        <p:sp>
          <p:nvSpPr>
            <p:cNvPr id="105" name="TextBox 105"/>
            <p:cNvSpPr txBox="1"/>
            <p:nvPr/>
          </p:nvSpPr>
          <p:spPr>
            <a:xfrm>
              <a:off x="6471831" y="3341132"/>
              <a:ext cx="1991131" cy="126206"/>
            </a:xfrm>
            <a:prstGeom prst="rect">
              <a:avLst/>
            </a:prstGeom>
            <a:noFill/>
            <a:ln>
              <a:noFill/>
            </a:ln>
          </p:spPr>
          <p:txBody>
            <a:bodyPr wrap="none" lIns="0" tIns="0" rIns="0" bIns="0" anchor="t" anchorCtr="0">
              <a:spAutoFit/>
            </a:bodyPr>
            <a:lstStyle/>
            <a:p>
              <a:pPr algn="r"/>
              <a:r>
                <a:rPr lang="zh-CN" sz="640" dirty="0">
                  <a:solidFill>
                    <a:srgbClr val="DCE9F8"/>
                  </a:solidFill>
                  <a:latin typeface="+mn-lt"/>
                  <a:ea typeface="+mn-ea"/>
                  <a:cs typeface="+mn-cs"/>
                </a:rPr>
                <a:t>在真实工程中验证数据价值，形成可复制的应用范式</a:t>
              </a:r>
            </a:p>
          </p:txBody>
        </p:sp>
      </p:grpSp>
      <p:grpSp>
        <p:nvGrpSpPr>
          <p:cNvPr id="133" name="ship-card-1"/>
          <p:cNvGrpSpPr/>
          <p:nvPr/>
        </p:nvGrpSpPr>
        <p:grpSpPr>
          <a:xfrm>
            <a:off x="381000" y="3543300"/>
            <a:ext cx="4038600" cy="1714500"/>
            <a:chOff x="381000" y="3543300"/>
            <a:chExt cx="4038600" cy="1714500"/>
          </a:xfrm>
        </p:grpSpPr>
        <p:sp>
          <p:nvSpPr>
            <p:cNvPr id="107" name="Rectangle 107"/>
            <p:cNvSpPr/>
            <p:nvPr/>
          </p:nvSpPr>
          <p:spPr>
            <a:xfrm>
              <a:off x="381000" y="3543300"/>
              <a:ext cx="4038600" cy="1714500"/>
            </a:xfrm>
            <a:prstGeom prst="roundRect">
              <a:avLst>
                <a:gd name="adj" fmla="val 3333"/>
              </a:avLst>
            </a:prstGeom>
            <a:solidFill>
              <a:srgbClr val="FFFFFF"/>
            </a:solidFill>
            <a:ln w="9525">
              <a:solidFill>
                <a:srgbClr val="C7D9F0"/>
              </a:solidFill>
            </a:ln>
          </p:spPr>
        </p:sp>
        <p:sp>
          <p:nvSpPr>
            <p:cNvPr id="108" name="Rectangle 108"/>
            <p:cNvSpPr/>
            <p:nvPr/>
          </p:nvSpPr>
          <p:spPr>
            <a:xfrm>
              <a:off x="381000" y="3543300"/>
              <a:ext cx="1752600" cy="1714500"/>
            </a:xfrm>
            <a:prstGeom prst="roundRect">
              <a:avLst>
                <a:gd name="adj" fmla="val 3333"/>
              </a:avLst>
            </a:prstGeom>
            <a:gradFill>
              <a:gsLst>
                <a:gs pos="0">
                  <a:srgbClr val="DCE9F8"/>
                </a:gs>
                <a:gs pos="100000">
                  <a:srgbClr val="DC9C8F"/>
                </a:gs>
              </a:gsLst>
              <a:lin ang="5400000" scaled="1"/>
            </a:gradFill>
            <a:ln>
              <a:noFill/>
            </a:ln>
          </p:spPr>
        </p:sp>
        <p:sp>
          <p:nvSpPr>
            <p:cNvPr id="109" name="Freeform 109"/>
            <p:cNvSpPr/>
            <p:nvPr/>
          </p:nvSpPr>
          <p:spPr>
            <a:xfrm>
              <a:off x="381000" y="4476750"/>
              <a:ext cx="1752600" cy="781050"/>
            </a:xfrm>
            <a:custGeom>
              <a:avLst/>
              <a:gdLst/>
              <a:ahLst/>
              <a:cxnLst/>
              <a:rect l="l" t="t" r="r" b="b"/>
              <a:pathLst>
                <a:path w="1752600" h="781050">
                  <a:moveTo>
                    <a:pt x="0" y="0"/>
                  </a:moveTo>
                  <a:lnTo>
                    <a:pt x="1752600" y="0"/>
                  </a:lnTo>
                  <a:lnTo>
                    <a:pt x="1752600" y="781050"/>
                  </a:lnTo>
                  <a:lnTo>
                    <a:pt x="0" y="781050"/>
                  </a:lnTo>
                  <a:close/>
                </a:path>
              </a:pathLst>
            </a:custGeom>
            <a:solidFill>
              <a:srgbClr val="DC9C8F">
                <a:alpha val="60000"/>
              </a:srgbClr>
            </a:solidFill>
            <a:ln>
              <a:noFill/>
            </a:ln>
          </p:spPr>
        </p:sp>
        <p:sp>
          <p:nvSpPr>
            <p:cNvPr id="110" name="Polygon 110"/>
            <p:cNvSpPr/>
            <p:nvPr/>
          </p:nvSpPr>
          <p:spPr>
            <a:xfrm>
              <a:off x="552450" y="4686300"/>
              <a:ext cx="1524000" cy="323850"/>
            </a:xfrm>
            <a:custGeom>
              <a:avLst/>
              <a:gdLst/>
              <a:ahLst/>
              <a:cxnLst/>
              <a:rect l="l" t="t" r="r" b="b"/>
              <a:pathLst>
                <a:path w="1524000" h="323850">
                  <a:moveTo>
                    <a:pt x="0" y="0"/>
                  </a:moveTo>
                  <a:lnTo>
                    <a:pt x="152400" y="323850"/>
                  </a:lnTo>
                  <a:lnTo>
                    <a:pt x="1371600" y="323850"/>
                  </a:lnTo>
                  <a:lnTo>
                    <a:pt x="1524000" y="0"/>
                  </a:lnTo>
                  <a:close/>
                </a:path>
              </a:pathLst>
            </a:custGeom>
            <a:solidFill>
              <a:srgbClr val="6F2516"/>
            </a:solidFill>
            <a:ln>
              <a:noFill/>
            </a:ln>
          </p:spPr>
        </p:sp>
        <p:sp>
          <p:nvSpPr>
            <p:cNvPr id="111" name="Freeform 111"/>
            <p:cNvSpPr/>
            <p:nvPr/>
          </p:nvSpPr>
          <p:spPr>
            <a:xfrm>
              <a:off x="628650" y="4838700"/>
              <a:ext cx="1352550" cy="9525"/>
            </a:xfrm>
            <a:custGeom>
              <a:avLst/>
              <a:gdLst/>
              <a:ahLst/>
              <a:cxnLst/>
              <a:rect l="l" t="t" r="r" b="b"/>
              <a:pathLst>
                <a:path w="1352550" h="9525">
                  <a:moveTo>
                    <a:pt x="0" y="0"/>
                  </a:moveTo>
                  <a:lnTo>
                    <a:pt x="1352550" y="0"/>
                  </a:lnTo>
                </a:path>
              </a:pathLst>
            </a:custGeom>
            <a:noFill/>
            <a:ln w="14288">
              <a:solidFill>
                <a:srgbClr val="FF957F"/>
              </a:solidFill>
            </a:ln>
          </p:spPr>
        </p:sp>
        <p:sp>
          <p:nvSpPr>
            <p:cNvPr id="112" name="Freeform 112"/>
            <p:cNvSpPr/>
            <p:nvPr/>
          </p:nvSpPr>
          <p:spPr>
            <a:xfrm>
              <a:off x="781050" y="4476750"/>
              <a:ext cx="933450" cy="209550"/>
            </a:xfrm>
            <a:custGeom>
              <a:avLst/>
              <a:gdLst/>
              <a:ahLst/>
              <a:cxnLst/>
              <a:rect l="l" t="t" r="r" b="b"/>
              <a:pathLst>
                <a:path w="933450" h="209550">
                  <a:moveTo>
                    <a:pt x="0" y="0"/>
                  </a:moveTo>
                  <a:lnTo>
                    <a:pt x="266700" y="0"/>
                  </a:lnTo>
                  <a:lnTo>
                    <a:pt x="266700" y="209550"/>
                  </a:lnTo>
                  <a:lnTo>
                    <a:pt x="0" y="209550"/>
                  </a:lnTo>
                  <a:close/>
                  <a:moveTo>
                    <a:pt x="381000" y="0"/>
                  </a:moveTo>
                  <a:lnTo>
                    <a:pt x="647700" y="0"/>
                  </a:lnTo>
                  <a:lnTo>
                    <a:pt x="647700" y="209550"/>
                  </a:lnTo>
                  <a:lnTo>
                    <a:pt x="381000" y="209550"/>
                  </a:lnTo>
                  <a:close/>
                  <a:moveTo>
                    <a:pt x="762000" y="0"/>
                  </a:moveTo>
                  <a:lnTo>
                    <a:pt x="933450" y="0"/>
                  </a:lnTo>
                  <a:lnTo>
                    <a:pt x="933450" y="209550"/>
                  </a:lnTo>
                  <a:lnTo>
                    <a:pt x="762000" y="209550"/>
                  </a:lnTo>
                  <a:close/>
                </a:path>
              </a:pathLst>
            </a:custGeom>
            <a:solidFill>
              <a:srgbClr val="E8EEF5"/>
            </a:solidFill>
            <a:ln>
              <a:noFill/>
            </a:ln>
          </p:spPr>
        </p:sp>
        <p:sp>
          <p:nvSpPr>
            <p:cNvPr id="113" name="Freeform 113"/>
            <p:cNvSpPr/>
            <p:nvPr/>
          </p:nvSpPr>
          <p:spPr>
            <a:xfrm>
              <a:off x="1771650" y="4324350"/>
              <a:ext cx="228600" cy="361950"/>
            </a:xfrm>
            <a:custGeom>
              <a:avLst/>
              <a:gdLst/>
              <a:ahLst/>
              <a:cxnLst/>
              <a:rect l="l" t="t" r="r" b="b"/>
              <a:pathLst>
                <a:path w="228600" h="361950">
                  <a:moveTo>
                    <a:pt x="0" y="114300"/>
                  </a:moveTo>
                  <a:lnTo>
                    <a:pt x="228600" y="114300"/>
                  </a:lnTo>
                  <a:lnTo>
                    <a:pt x="228600" y="361950"/>
                  </a:lnTo>
                  <a:lnTo>
                    <a:pt x="0" y="361950"/>
                  </a:lnTo>
                  <a:close/>
                  <a:moveTo>
                    <a:pt x="57150" y="0"/>
                  </a:moveTo>
                  <a:lnTo>
                    <a:pt x="171450" y="0"/>
                  </a:lnTo>
                  <a:lnTo>
                    <a:pt x="171450" y="114300"/>
                  </a:lnTo>
                  <a:lnTo>
                    <a:pt x="57150" y="114300"/>
                  </a:lnTo>
                  <a:close/>
                </a:path>
              </a:pathLst>
            </a:custGeom>
            <a:solidFill>
              <a:srgbClr val="DCE9F8"/>
            </a:solidFill>
            <a:ln>
              <a:noFill/>
            </a:ln>
          </p:spPr>
        </p:sp>
        <p:sp>
          <p:nvSpPr>
            <p:cNvPr id="114" name="Freeform 114"/>
            <p:cNvSpPr/>
            <p:nvPr/>
          </p:nvSpPr>
          <p:spPr>
            <a:xfrm>
              <a:off x="1809750" y="4533900"/>
              <a:ext cx="152400" cy="9525"/>
            </a:xfrm>
            <a:custGeom>
              <a:avLst/>
              <a:gdLst/>
              <a:ahLst/>
              <a:cxnLst/>
              <a:rect l="l" t="t" r="r" b="b"/>
              <a:pathLst>
                <a:path w="152400" h="9525">
                  <a:moveTo>
                    <a:pt x="0" y="0"/>
                  </a:moveTo>
                  <a:lnTo>
                    <a:pt x="152400" y="0"/>
                  </a:lnTo>
                </a:path>
              </a:pathLst>
            </a:custGeom>
            <a:noFill/>
            <a:ln w="19050">
              <a:solidFill>
                <a:srgbClr val="D64A2E"/>
              </a:solidFill>
            </a:ln>
          </p:spPr>
        </p:sp>
        <p:sp>
          <p:nvSpPr>
            <p:cNvPr id="115" name="Freeform 115"/>
            <p:cNvSpPr/>
            <p:nvPr/>
          </p:nvSpPr>
          <p:spPr>
            <a:xfrm>
              <a:off x="495300" y="5086350"/>
              <a:ext cx="1466850" cy="133350"/>
            </a:xfrm>
            <a:custGeom>
              <a:avLst/>
              <a:gdLst/>
              <a:ahLst/>
              <a:cxnLst/>
              <a:rect l="l" t="t" r="r" b="b"/>
              <a:pathLst>
                <a:path w="1466850" h="133350">
                  <a:moveTo>
                    <a:pt x="0" y="38100"/>
                  </a:moveTo>
                  <a:cubicBezTo>
                    <a:pt x="88900" y="0"/>
                    <a:pt x="177800" y="0"/>
                    <a:pt x="266700" y="38100"/>
                  </a:cubicBezTo>
                  <a:cubicBezTo>
                    <a:pt x="355600" y="76200"/>
                    <a:pt x="444500" y="76200"/>
                    <a:pt x="533400" y="38100"/>
                  </a:cubicBezTo>
                  <a:moveTo>
                    <a:pt x="933450" y="95250"/>
                  </a:moveTo>
                  <a:cubicBezTo>
                    <a:pt x="1022350" y="57150"/>
                    <a:pt x="1111250" y="57150"/>
                    <a:pt x="1200150" y="95250"/>
                  </a:cubicBezTo>
                  <a:cubicBezTo>
                    <a:pt x="1289050" y="133350"/>
                    <a:pt x="1377950" y="133350"/>
                    <a:pt x="1466850" y="95250"/>
                  </a:cubicBezTo>
                </a:path>
              </a:pathLst>
            </a:custGeom>
            <a:noFill/>
            <a:ln w="14288">
              <a:solidFill>
                <a:srgbClr val="FFFFFF">
                  <a:alpha val="70000"/>
                </a:srgbClr>
              </a:solidFill>
            </a:ln>
          </p:spPr>
        </p:sp>
        <p:sp>
          <p:nvSpPr>
            <p:cNvPr id="116" name="TextBox 116"/>
            <p:cNvSpPr txBox="1"/>
            <p:nvPr/>
          </p:nvSpPr>
          <p:spPr>
            <a:xfrm>
              <a:off x="2242947" y="3685699"/>
              <a:ext cx="723379"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LNG加注船​</a:t>
              </a:r>
            </a:p>
          </p:txBody>
        </p:sp>
        <p:grpSp>
          <p:nvGrpSpPr>
            <p:cNvPr id="119" name="Group 119"/>
            <p:cNvGrpSpPr/>
            <p:nvPr/>
          </p:nvGrpSpPr>
          <p:grpSpPr>
            <a:xfrm>
              <a:off x="2263378" y="3920728"/>
              <a:ext cx="92869" cy="92869"/>
              <a:chOff x="2263378" y="3920728"/>
              <a:chExt cx="92869" cy="92869"/>
            </a:xfrm>
          </p:grpSpPr>
          <p:sp>
            <p:nvSpPr>
              <p:cNvPr id="117" name="Freeform 117"/>
              <p:cNvSpPr/>
              <p:nvPr/>
            </p:nvSpPr>
            <p:spPr>
              <a:xfrm>
                <a:off x="2263378" y="39207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9C331E"/>
                </a:solidFill>
              </a:ln>
            </p:spPr>
          </p:sp>
          <p:sp>
            <p:nvSpPr>
              <p:cNvPr id="118" name="Freeform 118"/>
              <p:cNvSpPr/>
              <p:nvPr/>
            </p:nvSpPr>
            <p:spPr>
              <a:xfrm>
                <a:off x="2294334" y="3956844"/>
                <a:ext cx="30956" cy="20638"/>
              </a:xfrm>
              <a:custGeom>
                <a:avLst/>
                <a:gdLst/>
                <a:ahLst/>
                <a:cxnLst/>
                <a:rect l="l" t="t" r="r" b="b"/>
                <a:pathLst>
                  <a:path w="30956" h="20638">
                    <a:moveTo>
                      <a:pt x="0" y="10319"/>
                    </a:moveTo>
                    <a:lnTo>
                      <a:pt x="10319" y="20638"/>
                    </a:lnTo>
                    <a:lnTo>
                      <a:pt x="30956" y="0"/>
                    </a:lnTo>
                  </a:path>
                </a:pathLst>
              </a:custGeom>
              <a:noFill/>
              <a:ln w="10319">
                <a:solidFill>
                  <a:srgbClr val="9C331E"/>
                </a:solidFill>
              </a:ln>
            </p:spPr>
          </p:sp>
        </p:grpSp>
        <p:sp>
          <p:nvSpPr>
            <p:cNvPr id="120" name="TextBox 120"/>
            <p:cNvSpPr txBox="1"/>
            <p:nvPr/>
          </p:nvSpPr>
          <p:spPr>
            <a:xfrm>
              <a:off x="2433638" y="3933111"/>
              <a:ext cx="1347648"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应用高质量数据开展设计与建造</a:t>
              </a:r>
            </a:p>
          </p:txBody>
        </p:sp>
        <p:grpSp>
          <p:nvGrpSpPr>
            <p:cNvPr id="123" name="Group 123"/>
            <p:cNvGrpSpPr/>
            <p:nvPr/>
          </p:nvGrpSpPr>
          <p:grpSpPr>
            <a:xfrm>
              <a:off x="2263378" y="4149328"/>
              <a:ext cx="92869" cy="92869"/>
              <a:chOff x="2263378" y="4149328"/>
              <a:chExt cx="92869" cy="92869"/>
            </a:xfrm>
          </p:grpSpPr>
          <p:sp>
            <p:nvSpPr>
              <p:cNvPr id="121" name="Freeform 121"/>
              <p:cNvSpPr/>
              <p:nvPr/>
            </p:nvSpPr>
            <p:spPr>
              <a:xfrm>
                <a:off x="2263378" y="41493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9C331E"/>
                </a:solidFill>
              </a:ln>
            </p:spPr>
          </p:sp>
          <p:sp>
            <p:nvSpPr>
              <p:cNvPr id="122" name="Freeform 122"/>
              <p:cNvSpPr/>
              <p:nvPr/>
            </p:nvSpPr>
            <p:spPr>
              <a:xfrm>
                <a:off x="2294334" y="4185444"/>
                <a:ext cx="30956" cy="20638"/>
              </a:xfrm>
              <a:custGeom>
                <a:avLst/>
                <a:gdLst/>
                <a:ahLst/>
                <a:cxnLst/>
                <a:rect l="l" t="t" r="r" b="b"/>
                <a:pathLst>
                  <a:path w="30956" h="20638">
                    <a:moveTo>
                      <a:pt x="0" y="10319"/>
                    </a:moveTo>
                    <a:lnTo>
                      <a:pt x="10319" y="20638"/>
                    </a:lnTo>
                    <a:lnTo>
                      <a:pt x="30956" y="0"/>
                    </a:lnTo>
                  </a:path>
                </a:pathLst>
              </a:custGeom>
              <a:noFill/>
              <a:ln w="10319">
                <a:solidFill>
                  <a:srgbClr val="9C331E"/>
                </a:solidFill>
              </a:ln>
            </p:spPr>
          </p:sp>
        </p:grpSp>
        <p:sp>
          <p:nvSpPr>
            <p:cNvPr id="124" name="TextBox 124"/>
            <p:cNvSpPr txBox="1"/>
            <p:nvPr/>
          </p:nvSpPr>
          <p:spPr>
            <a:xfrm>
              <a:off x="2433638" y="4161711"/>
              <a:ext cx="77416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提升设计校核效率</a:t>
              </a:r>
            </a:p>
          </p:txBody>
        </p:sp>
        <p:grpSp>
          <p:nvGrpSpPr>
            <p:cNvPr id="127" name="Group 127"/>
            <p:cNvGrpSpPr/>
            <p:nvPr/>
          </p:nvGrpSpPr>
          <p:grpSpPr>
            <a:xfrm>
              <a:off x="2263378" y="4377928"/>
              <a:ext cx="92869" cy="92869"/>
              <a:chOff x="2263378" y="4377928"/>
              <a:chExt cx="92869" cy="92869"/>
            </a:xfrm>
          </p:grpSpPr>
          <p:sp>
            <p:nvSpPr>
              <p:cNvPr id="125" name="Freeform 125"/>
              <p:cNvSpPr/>
              <p:nvPr/>
            </p:nvSpPr>
            <p:spPr>
              <a:xfrm>
                <a:off x="2263378" y="43779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9C331E"/>
                </a:solidFill>
              </a:ln>
            </p:spPr>
          </p:sp>
          <p:sp>
            <p:nvSpPr>
              <p:cNvPr id="126" name="Freeform 126"/>
              <p:cNvSpPr/>
              <p:nvPr/>
            </p:nvSpPr>
            <p:spPr>
              <a:xfrm>
                <a:off x="2294334" y="4414044"/>
                <a:ext cx="30956" cy="20638"/>
              </a:xfrm>
              <a:custGeom>
                <a:avLst/>
                <a:gdLst/>
                <a:ahLst/>
                <a:cxnLst/>
                <a:rect l="l" t="t" r="r" b="b"/>
                <a:pathLst>
                  <a:path w="30956" h="20638">
                    <a:moveTo>
                      <a:pt x="0" y="10319"/>
                    </a:moveTo>
                    <a:lnTo>
                      <a:pt x="10319" y="20638"/>
                    </a:lnTo>
                    <a:lnTo>
                      <a:pt x="30956" y="0"/>
                    </a:lnTo>
                  </a:path>
                </a:pathLst>
              </a:custGeom>
              <a:noFill/>
              <a:ln w="10319">
                <a:solidFill>
                  <a:srgbClr val="9C331E"/>
                </a:solidFill>
              </a:ln>
            </p:spPr>
          </p:sp>
        </p:grpSp>
        <p:sp>
          <p:nvSpPr>
            <p:cNvPr id="128" name="TextBox 128"/>
            <p:cNvSpPr txBox="1"/>
            <p:nvPr/>
          </p:nvSpPr>
          <p:spPr>
            <a:xfrm>
              <a:off x="2433638" y="4390311"/>
              <a:ext cx="106090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支撑工艺优化与施工协同</a:t>
              </a:r>
            </a:p>
          </p:txBody>
        </p:sp>
        <p:grpSp>
          <p:nvGrpSpPr>
            <p:cNvPr id="131" name="Group 131"/>
            <p:cNvGrpSpPr/>
            <p:nvPr/>
          </p:nvGrpSpPr>
          <p:grpSpPr>
            <a:xfrm>
              <a:off x="2263378" y="4606528"/>
              <a:ext cx="92869" cy="92869"/>
              <a:chOff x="2263378" y="4606528"/>
              <a:chExt cx="92869" cy="92869"/>
            </a:xfrm>
          </p:grpSpPr>
          <p:sp>
            <p:nvSpPr>
              <p:cNvPr id="129" name="Freeform 129"/>
              <p:cNvSpPr/>
              <p:nvPr/>
            </p:nvSpPr>
            <p:spPr>
              <a:xfrm>
                <a:off x="2263378" y="46065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9C331E"/>
                </a:solidFill>
              </a:ln>
            </p:spPr>
          </p:sp>
          <p:sp>
            <p:nvSpPr>
              <p:cNvPr id="130" name="Freeform 130"/>
              <p:cNvSpPr/>
              <p:nvPr/>
            </p:nvSpPr>
            <p:spPr>
              <a:xfrm>
                <a:off x="2294334" y="4642644"/>
                <a:ext cx="30956" cy="20638"/>
              </a:xfrm>
              <a:custGeom>
                <a:avLst/>
                <a:gdLst/>
                <a:ahLst/>
                <a:cxnLst/>
                <a:rect l="l" t="t" r="r" b="b"/>
                <a:pathLst>
                  <a:path w="30956" h="20638">
                    <a:moveTo>
                      <a:pt x="0" y="10319"/>
                    </a:moveTo>
                    <a:lnTo>
                      <a:pt x="10319" y="20638"/>
                    </a:lnTo>
                    <a:lnTo>
                      <a:pt x="30956" y="0"/>
                    </a:lnTo>
                  </a:path>
                </a:pathLst>
              </a:custGeom>
              <a:noFill/>
              <a:ln w="10319">
                <a:solidFill>
                  <a:srgbClr val="9C331E"/>
                </a:solidFill>
              </a:ln>
            </p:spPr>
          </p:sp>
        </p:grpSp>
        <p:sp>
          <p:nvSpPr>
            <p:cNvPr id="132" name="TextBox 132"/>
            <p:cNvSpPr txBox="1"/>
            <p:nvPr/>
          </p:nvSpPr>
          <p:spPr>
            <a:xfrm>
              <a:off x="2433638" y="4618911"/>
              <a:ext cx="1443228"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积累运营与建造数据用于后续迭代</a:t>
              </a:r>
            </a:p>
          </p:txBody>
        </p:sp>
      </p:grpSp>
      <p:grpSp>
        <p:nvGrpSpPr>
          <p:cNvPr id="161" name="ship-card-2"/>
          <p:cNvGrpSpPr/>
          <p:nvPr/>
        </p:nvGrpSpPr>
        <p:grpSpPr>
          <a:xfrm>
            <a:off x="4533900" y="3543300"/>
            <a:ext cx="4038600" cy="1714500"/>
            <a:chOff x="4533900" y="3543300"/>
            <a:chExt cx="4038600" cy="1714500"/>
          </a:xfrm>
        </p:grpSpPr>
        <p:sp>
          <p:nvSpPr>
            <p:cNvPr id="134" name="Rectangle 134"/>
            <p:cNvSpPr/>
            <p:nvPr/>
          </p:nvSpPr>
          <p:spPr>
            <a:xfrm>
              <a:off x="4533900" y="3543300"/>
              <a:ext cx="4038600" cy="1714500"/>
            </a:xfrm>
            <a:prstGeom prst="roundRect">
              <a:avLst>
                <a:gd name="adj" fmla="val 3333"/>
              </a:avLst>
            </a:prstGeom>
            <a:solidFill>
              <a:srgbClr val="FFFFFF"/>
            </a:solidFill>
            <a:ln w="9525">
              <a:solidFill>
                <a:srgbClr val="C7D9F0"/>
              </a:solidFill>
            </a:ln>
          </p:spPr>
        </p:sp>
        <p:sp>
          <p:nvSpPr>
            <p:cNvPr id="135" name="Rectangle 135"/>
            <p:cNvSpPr/>
            <p:nvPr/>
          </p:nvSpPr>
          <p:spPr>
            <a:xfrm>
              <a:off x="4533900" y="3543300"/>
              <a:ext cx="1752600" cy="1714500"/>
            </a:xfrm>
            <a:prstGeom prst="roundRect">
              <a:avLst>
                <a:gd name="adj" fmla="val 3333"/>
              </a:avLst>
            </a:prstGeom>
            <a:gradFill>
              <a:gsLst>
                <a:gs pos="0">
                  <a:srgbClr val="DCE9F8"/>
                </a:gs>
                <a:gs pos="100000">
                  <a:srgbClr val="DC9C8F"/>
                </a:gs>
              </a:gsLst>
              <a:lin ang="5400000" scaled="1"/>
            </a:gradFill>
            <a:ln>
              <a:noFill/>
            </a:ln>
          </p:spPr>
        </p:sp>
        <p:sp>
          <p:nvSpPr>
            <p:cNvPr id="136" name="Freeform 136"/>
            <p:cNvSpPr/>
            <p:nvPr/>
          </p:nvSpPr>
          <p:spPr>
            <a:xfrm>
              <a:off x="4533900" y="4476750"/>
              <a:ext cx="1752600" cy="781050"/>
            </a:xfrm>
            <a:custGeom>
              <a:avLst/>
              <a:gdLst/>
              <a:ahLst/>
              <a:cxnLst/>
              <a:rect l="l" t="t" r="r" b="b"/>
              <a:pathLst>
                <a:path w="1752600" h="781050">
                  <a:moveTo>
                    <a:pt x="0" y="0"/>
                  </a:moveTo>
                  <a:lnTo>
                    <a:pt x="1752600" y="0"/>
                  </a:lnTo>
                  <a:lnTo>
                    <a:pt x="1752600" y="781050"/>
                  </a:lnTo>
                  <a:lnTo>
                    <a:pt x="0" y="781050"/>
                  </a:lnTo>
                  <a:close/>
                </a:path>
              </a:pathLst>
            </a:custGeom>
            <a:solidFill>
              <a:srgbClr val="DC9C8F">
                <a:alpha val="60000"/>
              </a:srgbClr>
            </a:solidFill>
            <a:ln>
              <a:noFill/>
            </a:ln>
          </p:spPr>
        </p:sp>
        <p:sp>
          <p:nvSpPr>
            <p:cNvPr id="137" name="Polygon 137"/>
            <p:cNvSpPr/>
            <p:nvPr/>
          </p:nvSpPr>
          <p:spPr>
            <a:xfrm>
              <a:off x="4705350" y="4705350"/>
              <a:ext cx="1524000" cy="323850"/>
            </a:xfrm>
            <a:custGeom>
              <a:avLst/>
              <a:gdLst/>
              <a:ahLst/>
              <a:cxnLst/>
              <a:rect l="l" t="t" r="r" b="b"/>
              <a:pathLst>
                <a:path w="1524000" h="323850">
                  <a:moveTo>
                    <a:pt x="0" y="0"/>
                  </a:moveTo>
                  <a:lnTo>
                    <a:pt x="152400" y="323850"/>
                  </a:lnTo>
                  <a:lnTo>
                    <a:pt x="1371600" y="323850"/>
                  </a:lnTo>
                  <a:lnTo>
                    <a:pt x="1524000" y="0"/>
                  </a:lnTo>
                  <a:close/>
                </a:path>
              </a:pathLst>
            </a:custGeom>
            <a:solidFill>
              <a:srgbClr val="6F2516"/>
            </a:solidFill>
            <a:ln>
              <a:noFill/>
            </a:ln>
          </p:spPr>
        </p:sp>
        <p:sp>
          <p:nvSpPr>
            <p:cNvPr id="138" name="Freeform 138"/>
            <p:cNvSpPr/>
            <p:nvPr/>
          </p:nvSpPr>
          <p:spPr>
            <a:xfrm>
              <a:off x="4781550" y="4857750"/>
              <a:ext cx="1352550" cy="9525"/>
            </a:xfrm>
            <a:custGeom>
              <a:avLst/>
              <a:gdLst/>
              <a:ahLst/>
              <a:cxnLst/>
              <a:rect l="l" t="t" r="r" b="b"/>
              <a:pathLst>
                <a:path w="1352550" h="9525">
                  <a:moveTo>
                    <a:pt x="0" y="0"/>
                  </a:moveTo>
                  <a:lnTo>
                    <a:pt x="1352550" y="0"/>
                  </a:lnTo>
                </a:path>
              </a:pathLst>
            </a:custGeom>
            <a:noFill/>
            <a:ln w="14288">
              <a:solidFill>
                <a:srgbClr val="FF957F"/>
              </a:solidFill>
            </a:ln>
          </p:spPr>
        </p:sp>
        <p:sp>
          <p:nvSpPr>
            <p:cNvPr id="139" name="Ellipse 139"/>
            <p:cNvSpPr/>
            <p:nvPr/>
          </p:nvSpPr>
          <p:spPr>
            <a:xfrm>
              <a:off x="4895850" y="4457700"/>
              <a:ext cx="342900" cy="342900"/>
            </a:xfrm>
            <a:prstGeom prst="ellipse">
              <a:avLst/>
            </a:prstGeom>
            <a:solidFill>
              <a:srgbClr val="E8EEF5"/>
            </a:solidFill>
            <a:ln>
              <a:noFill/>
            </a:ln>
          </p:spPr>
        </p:sp>
        <p:sp>
          <p:nvSpPr>
            <p:cNvPr id="140" name="Ellipse 140"/>
            <p:cNvSpPr/>
            <p:nvPr/>
          </p:nvSpPr>
          <p:spPr>
            <a:xfrm>
              <a:off x="5276850" y="4457700"/>
              <a:ext cx="342900" cy="342900"/>
            </a:xfrm>
            <a:prstGeom prst="ellipse">
              <a:avLst/>
            </a:prstGeom>
            <a:solidFill>
              <a:srgbClr val="E8EEF5"/>
            </a:solidFill>
            <a:ln>
              <a:noFill/>
            </a:ln>
          </p:spPr>
        </p:sp>
        <p:sp>
          <p:nvSpPr>
            <p:cNvPr id="141" name="Ellipse 141"/>
            <p:cNvSpPr/>
            <p:nvPr/>
          </p:nvSpPr>
          <p:spPr>
            <a:xfrm>
              <a:off x="5657850" y="4457700"/>
              <a:ext cx="342900" cy="342900"/>
            </a:xfrm>
            <a:prstGeom prst="ellipse">
              <a:avLst/>
            </a:prstGeom>
            <a:solidFill>
              <a:srgbClr val="E8EEF5"/>
            </a:solidFill>
            <a:ln>
              <a:noFill/>
            </a:ln>
          </p:spPr>
        </p:sp>
        <p:sp>
          <p:nvSpPr>
            <p:cNvPr id="142" name="Freeform 142"/>
            <p:cNvSpPr/>
            <p:nvPr/>
          </p:nvSpPr>
          <p:spPr>
            <a:xfrm>
              <a:off x="5981700" y="4343400"/>
              <a:ext cx="190500" cy="361950"/>
            </a:xfrm>
            <a:custGeom>
              <a:avLst/>
              <a:gdLst/>
              <a:ahLst/>
              <a:cxnLst/>
              <a:rect l="l" t="t" r="r" b="b"/>
              <a:pathLst>
                <a:path w="190500" h="361950">
                  <a:moveTo>
                    <a:pt x="0" y="114300"/>
                  </a:moveTo>
                  <a:lnTo>
                    <a:pt x="190500" y="114300"/>
                  </a:lnTo>
                  <a:lnTo>
                    <a:pt x="190500" y="361950"/>
                  </a:lnTo>
                  <a:lnTo>
                    <a:pt x="0" y="361950"/>
                  </a:lnTo>
                  <a:close/>
                  <a:moveTo>
                    <a:pt x="57150" y="0"/>
                  </a:moveTo>
                  <a:lnTo>
                    <a:pt x="152400" y="0"/>
                  </a:lnTo>
                  <a:lnTo>
                    <a:pt x="152400" y="114300"/>
                  </a:lnTo>
                  <a:lnTo>
                    <a:pt x="57150" y="114300"/>
                  </a:lnTo>
                  <a:close/>
                </a:path>
              </a:pathLst>
            </a:custGeom>
            <a:solidFill>
              <a:srgbClr val="DCE9F8"/>
            </a:solidFill>
            <a:ln>
              <a:noFill/>
            </a:ln>
          </p:spPr>
        </p:sp>
        <p:sp>
          <p:nvSpPr>
            <p:cNvPr id="143" name="Freeform 143"/>
            <p:cNvSpPr/>
            <p:nvPr/>
          </p:nvSpPr>
          <p:spPr>
            <a:xfrm>
              <a:off x="4648200" y="5105400"/>
              <a:ext cx="1466850" cy="133350"/>
            </a:xfrm>
            <a:custGeom>
              <a:avLst/>
              <a:gdLst/>
              <a:ahLst/>
              <a:cxnLst/>
              <a:rect l="l" t="t" r="r" b="b"/>
              <a:pathLst>
                <a:path w="1466850" h="133350">
                  <a:moveTo>
                    <a:pt x="0" y="38100"/>
                  </a:moveTo>
                  <a:cubicBezTo>
                    <a:pt x="88900" y="0"/>
                    <a:pt x="177800" y="0"/>
                    <a:pt x="266700" y="38100"/>
                  </a:cubicBezTo>
                  <a:cubicBezTo>
                    <a:pt x="355600" y="76200"/>
                    <a:pt x="444500" y="76200"/>
                    <a:pt x="533400" y="38100"/>
                  </a:cubicBezTo>
                  <a:moveTo>
                    <a:pt x="933450" y="95250"/>
                  </a:moveTo>
                  <a:cubicBezTo>
                    <a:pt x="1022350" y="57150"/>
                    <a:pt x="1111250" y="57150"/>
                    <a:pt x="1200150" y="95250"/>
                  </a:cubicBezTo>
                  <a:cubicBezTo>
                    <a:pt x="1289050" y="133350"/>
                    <a:pt x="1377950" y="133350"/>
                    <a:pt x="1466850" y="95250"/>
                  </a:cubicBezTo>
                </a:path>
              </a:pathLst>
            </a:custGeom>
            <a:noFill/>
            <a:ln w="14288">
              <a:solidFill>
                <a:srgbClr val="FFFFFF">
                  <a:alpha val="70000"/>
                </a:srgbClr>
              </a:solidFill>
            </a:ln>
          </p:spPr>
        </p:sp>
        <p:sp>
          <p:nvSpPr>
            <p:cNvPr id="144" name="TextBox 144"/>
            <p:cNvSpPr txBox="1"/>
            <p:nvPr/>
          </p:nvSpPr>
          <p:spPr>
            <a:xfrm>
              <a:off x="6396038" y="3689747"/>
              <a:ext cx="1656891"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超大型乙烷运输船（VLAC）​</a:t>
              </a:r>
            </a:p>
          </p:txBody>
        </p:sp>
        <p:grpSp>
          <p:nvGrpSpPr>
            <p:cNvPr id="147" name="Group 147"/>
            <p:cNvGrpSpPr/>
            <p:nvPr/>
          </p:nvGrpSpPr>
          <p:grpSpPr>
            <a:xfrm>
              <a:off x="6416278" y="3920728"/>
              <a:ext cx="92869" cy="92869"/>
              <a:chOff x="6416278" y="3920728"/>
              <a:chExt cx="92869" cy="92869"/>
            </a:xfrm>
          </p:grpSpPr>
          <p:sp>
            <p:nvSpPr>
              <p:cNvPr id="145" name="Freeform 145"/>
              <p:cNvSpPr/>
              <p:nvPr/>
            </p:nvSpPr>
            <p:spPr>
              <a:xfrm>
                <a:off x="6416278" y="39207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9C331E"/>
                </a:solidFill>
              </a:ln>
            </p:spPr>
          </p:sp>
          <p:sp>
            <p:nvSpPr>
              <p:cNvPr id="146" name="Freeform 146"/>
              <p:cNvSpPr/>
              <p:nvPr/>
            </p:nvSpPr>
            <p:spPr>
              <a:xfrm>
                <a:off x="6447234" y="3956844"/>
                <a:ext cx="30956" cy="20638"/>
              </a:xfrm>
              <a:custGeom>
                <a:avLst/>
                <a:gdLst/>
                <a:ahLst/>
                <a:cxnLst/>
                <a:rect l="l" t="t" r="r" b="b"/>
                <a:pathLst>
                  <a:path w="30956" h="20638">
                    <a:moveTo>
                      <a:pt x="0" y="10319"/>
                    </a:moveTo>
                    <a:lnTo>
                      <a:pt x="10319" y="20638"/>
                    </a:lnTo>
                    <a:lnTo>
                      <a:pt x="30956" y="0"/>
                    </a:lnTo>
                  </a:path>
                </a:pathLst>
              </a:custGeom>
              <a:noFill/>
              <a:ln w="10319">
                <a:solidFill>
                  <a:srgbClr val="9C331E"/>
                </a:solidFill>
              </a:ln>
            </p:spPr>
          </p:sp>
        </p:grpSp>
        <p:sp>
          <p:nvSpPr>
            <p:cNvPr id="148" name="TextBox 148"/>
            <p:cNvSpPr txBox="1"/>
            <p:nvPr/>
          </p:nvSpPr>
          <p:spPr>
            <a:xfrm>
              <a:off x="6586538" y="3933111"/>
              <a:ext cx="115648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相关数据应用于研发与建造</a:t>
              </a:r>
            </a:p>
          </p:txBody>
        </p:sp>
        <p:grpSp>
          <p:nvGrpSpPr>
            <p:cNvPr id="151" name="Group 151"/>
            <p:cNvGrpSpPr/>
            <p:nvPr/>
          </p:nvGrpSpPr>
          <p:grpSpPr>
            <a:xfrm>
              <a:off x="6416278" y="4149328"/>
              <a:ext cx="92869" cy="92869"/>
              <a:chOff x="6416278" y="4149328"/>
              <a:chExt cx="92869" cy="92869"/>
            </a:xfrm>
          </p:grpSpPr>
          <p:sp>
            <p:nvSpPr>
              <p:cNvPr id="149" name="Freeform 149"/>
              <p:cNvSpPr/>
              <p:nvPr/>
            </p:nvSpPr>
            <p:spPr>
              <a:xfrm>
                <a:off x="6416278" y="41493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9C331E"/>
                </a:solidFill>
              </a:ln>
            </p:spPr>
          </p:sp>
          <p:sp>
            <p:nvSpPr>
              <p:cNvPr id="150" name="Freeform 150"/>
              <p:cNvSpPr/>
              <p:nvPr/>
            </p:nvSpPr>
            <p:spPr>
              <a:xfrm>
                <a:off x="6447234" y="4185444"/>
                <a:ext cx="30956" cy="20638"/>
              </a:xfrm>
              <a:custGeom>
                <a:avLst/>
                <a:gdLst/>
                <a:ahLst/>
                <a:cxnLst/>
                <a:rect l="l" t="t" r="r" b="b"/>
                <a:pathLst>
                  <a:path w="30956" h="20638">
                    <a:moveTo>
                      <a:pt x="0" y="10319"/>
                    </a:moveTo>
                    <a:lnTo>
                      <a:pt x="10319" y="20638"/>
                    </a:lnTo>
                    <a:lnTo>
                      <a:pt x="30956" y="0"/>
                    </a:lnTo>
                  </a:path>
                </a:pathLst>
              </a:custGeom>
              <a:noFill/>
              <a:ln w="10319">
                <a:solidFill>
                  <a:srgbClr val="9C331E"/>
                </a:solidFill>
              </a:ln>
            </p:spPr>
          </p:sp>
        </p:grpSp>
        <p:sp>
          <p:nvSpPr>
            <p:cNvPr id="152" name="TextBox 152"/>
            <p:cNvSpPr txBox="1"/>
            <p:nvPr/>
          </p:nvSpPr>
          <p:spPr>
            <a:xfrm>
              <a:off x="6586538" y="4161711"/>
              <a:ext cx="106090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支撑复杂结构与工艺规划</a:t>
              </a:r>
            </a:p>
          </p:txBody>
        </p:sp>
        <p:grpSp>
          <p:nvGrpSpPr>
            <p:cNvPr id="155" name="Group 155"/>
            <p:cNvGrpSpPr/>
            <p:nvPr/>
          </p:nvGrpSpPr>
          <p:grpSpPr>
            <a:xfrm>
              <a:off x="6416278" y="4377928"/>
              <a:ext cx="92869" cy="92869"/>
              <a:chOff x="6416278" y="4377928"/>
              <a:chExt cx="92869" cy="92869"/>
            </a:xfrm>
          </p:grpSpPr>
          <p:sp>
            <p:nvSpPr>
              <p:cNvPr id="153" name="Freeform 153"/>
              <p:cNvSpPr/>
              <p:nvPr/>
            </p:nvSpPr>
            <p:spPr>
              <a:xfrm>
                <a:off x="6416278" y="43779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9C331E"/>
                </a:solidFill>
              </a:ln>
            </p:spPr>
          </p:sp>
          <p:sp>
            <p:nvSpPr>
              <p:cNvPr id="154" name="Freeform 154"/>
              <p:cNvSpPr/>
              <p:nvPr/>
            </p:nvSpPr>
            <p:spPr>
              <a:xfrm>
                <a:off x="6447234" y="4414044"/>
                <a:ext cx="30956" cy="20638"/>
              </a:xfrm>
              <a:custGeom>
                <a:avLst/>
                <a:gdLst/>
                <a:ahLst/>
                <a:cxnLst/>
                <a:rect l="l" t="t" r="r" b="b"/>
                <a:pathLst>
                  <a:path w="30956" h="20638">
                    <a:moveTo>
                      <a:pt x="0" y="10319"/>
                    </a:moveTo>
                    <a:lnTo>
                      <a:pt x="10319" y="20638"/>
                    </a:lnTo>
                    <a:lnTo>
                      <a:pt x="30956" y="0"/>
                    </a:lnTo>
                  </a:path>
                </a:pathLst>
              </a:custGeom>
              <a:noFill/>
              <a:ln w="10319">
                <a:solidFill>
                  <a:srgbClr val="9C331E"/>
                </a:solidFill>
              </a:ln>
            </p:spPr>
          </p:sp>
        </p:grpSp>
        <p:sp>
          <p:nvSpPr>
            <p:cNvPr id="156" name="TextBox 156"/>
            <p:cNvSpPr txBox="1"/>
            <p:nvPr/>
          </p:nvSpPr>
          <p:spPr>
            <a:xfrm>
              <a:off x="6586538" y="4390311"/>
              <a:ext cx="774167"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加强质量过程管控</a:t>
              </a:r>
            </a:p>
          </p:txBody>
        </p:sp>
        <p:grpSp>
          <p:nvGrpSpPr>
            <p:cNvPr id="159" name="Group 159"/>
            <p:cNvGrpSpPr/>
            <p:nvPr/>
          </p:nvGrpSpPr>
          <p:grpSpPr>
            <a:xfrm>
              <a:off x="6416278" y="4606528"/>
              <a:ext cx="92869" cy="92869"/>
              <a:chOff x="6416278" y="4606528"/>
              <a:chExt cx="92869" cy="92869"/>
            </a:xfrm>
          </p:grpSpPr>
          <p:sp>
            <p:nvSpPr>
              <p:cNvPr id="157" name="Freeform 157"/>
              <p:cNvSpPr/>
              <p:nvPr/>
            </p:nvSpPr>
            <p:spPr>
              <a:xfrm>
                <a:off x="6416278" y="46065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9C331E"/>
                </a:solidFill>
              </a:ln>
            </p:spPr>
          </p:sp>
          <p:sp>
            <p:nvSpPr>
              <p:cNvPr id="158" name="Freeform 158"/>
              <p:cNvSpPr/>
              <p:nvPr/>
            </p:nvSpPr>
            <p:spPr>
              <a:xfrm>
                <a:off x="6447234" y="4642644"/>
                <a:ext cx="30956" cy="20638"/>
              </a:xfrm>
              <a:custGeom>
                <a:avLst/>
                <a:gdLst/>
                <a:ahLst/>
                <a:cxnLst/>
                <a:rect l="l" t="t" r="r" b="b"/>
                <a:pathLst>
                  <a:path w="30956" h="20638">
                    <a:moveTo>
                      <a:pt x="0" y="10319"/>
                    </a:moveTo>
                    <a:lnTo>
                      <a:pt x="10319" y="20638"/>
                    </a:lnTo>
                    <a:lnTo>
                      <a:pt x="30956" y="0"/>
                    </a:lnTo>
                  </a:path>
                </a:pathLst>
              </a:custGeom>
              <a:noFill/>
              <a:ln w="10319">
                <a:solidFill>
                  <a:srgbClr val="9C331E"/>
                </a:solidFill>
              </a:ln>
            </p:spPr>
          </p:sp>
        </p:grpSp>
        <p:sp>
          <p:nvSpPr>
            <p:cNvPr id="160" name="TextBox 160"/>
            <p:cNvSpPr txBox="1"/>
            <p:nvPr/>
          </p:nvSpPr>
          <p:spPr>
            <a:xfrm>
              <a:off x="6586538" y="4618911"/>
              <a:ext cx="1252068" cy="140494"/>
            </a:xfrm>
            <a:prstGeom prst="rect">
              <a:avLst/>
            </a:prstGeom>
            <a:noFill/>
            <a:ln>
              <a:noFill/>
            </a:ln>
          </p:spPr>
          <p:txBody>
            <a:bodyPr wrap="none" lIns="0" tIns="0" rIns="0" bIns="0" anchor="t" anchorCtr="0">
              <a:spAutoFit/>
            </a:bodyPr>
            <a:lstStyle/>
            <a:p>
              <a:pPr algn="l"/>
              <a:r>
                <a:rPr lang="zh-CN" sz="710" dirty="0">
                  <a:solidFill>
                    <a:srgbClr val="573F3A"/>
                  </a:solidFill>
                  <a:latin typeface="+mn-lt"/>
                  <a:ea typeface="+mn-ea"/>
                  <a:cs typeface="+mn-cs"/>
                </a:rPr>
                <a:t>为后续船型优化提供数据基础</a:t>
              </a:r>
            </a:p>
          </p:txBody>
        </p:sp>
      </p:grpSp>
      <p:grpSp>
        <p:nvGrpSpPr>
          <p:cNvPr id="167" name="l3-card"/>
          <p:cNvGrpSpPr/>
          <p:nvPr/>
        </p:nvGrpSpPr>
        <p:grpSpPr>
          <a:xfrm>
            <a:off x="8686800" y="1047750"/>
            <a:ext cx="3124200" cy="571500"/>
            <a:chOff x="8686800" y="1047750"/>
            <a:chExt cx="3124200" cy="571500"/>
          </a:xfrm>
        </p:grpSpPr>
        <p:sp>
          <p:nvSpPr>
            <p:cNvPr id="162" name="Rectangle 162"/>
            <p:cNvSpPr/>
            <p:nvPr/>
          </p:nvSpPr>
          <p:spPr>
            <a:xfrm>
              <a:off x="8686800" y="1047750"/>
              <a:ext cx="3124200" cy="571500"/>
            </a:xfrm>
            <a:prstGeom prst="roundRect">
              <a:avLst>
                <a:gd name="adj" fmla="val 10000"/>
              </a:avLst>
            </a:prstGeom>
            <a:solidFill>
              <a:srgbClr val="EFF5FC"/>
            </a:solidFill>
            <a:ln w="9525">
              <a:solidFill>
                <a:srgbClr val="C7D9F0"/>
              </a:solidFill>
            </a:ln>
          </p:spPr>
        </p:sp>
        <p:sp>
          <p:nvSpPr>
            <p:cNvPr id="163" name="Ellipse 163"/>
            <p:cNvSpPr/>
            <p:nvPr/>
          </p:nvSpPr>
          <p:spPr>
            <a:xfrm>
              <a:off x="8782050" y="1143000"/>
              <a:ext cx="381000" cy="381000"/>
            </a:xfrm>
            <a:prstGeom prst="ellipse">
              <a:avLst/>
            </a:prstGeom>
            <a:solidFill>
              <a:srgbClr val="9C331E"/>
            </a:solidFill>
            <a:ln>
              <a:noFill/>
            </a:ln>
          </p:spPr>
        </p:sp>
        <p:sp>
          <p:nvSpPr>
            <p:cNvPr id="164" name="TextBox 164"/>
            <p:cNvSpPr txBox="1"/>
            <p:nvPr/>
          </p:nvSpPr>
          <p:spPr>
            <a:xfrm>
              <a:off x="8873878" y="1269206"/>
              <a:ext cx="197343"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Arial"/>
                  <a:ea typeface="Arial"/>
                  <a:cs typeface="Arial"/>
                </a:rPr>
                <a:t>L3</a:t>
              </a:r>
            </a:p>
          </p:txBody>
        </p:sp>
        <p:sp>
          <p:nvSpPr>
            <p:cNvPr id="165" name="TextBox 165"/>
            <p:cNvSpPr txBox="1"/>
            <p:nvPr/>
          </p:nvSpPr>
          <p:spPr>
            <a:xfrm>
              <a:off x="9272588" y="1156097"/>
              <a:ext cx="1021867"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生产系统嵌入证据</a:t>
              </a:r>
            </a:p>
          </p:txBody>
        </p:sp>
        <p:sp>
          <p:nvSpPr>
            <p:cNvPr id="166" name="TextBox 166"/>
            <p:cNvSpPr txBox="1"/>
            <p:nvPr/>
          </p:nvSpPr>
          <p:spPr>
            <a:xfrm>
              <a:off x="9272588" y="1340882"/>
              <a:ext cx="110680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公开材料显示数据已嵌入JNIS​</a:t>
              </a:r>
              <a:br/>
              <a:r>
                <a:rPr lang="zh-CN" sz="640" dirty="0">
                  <a:solidFill>
                    <a:srgbClr val="573F3A"/>
                  </a:solidFill>
                  <a:latin typeface="+mn-lt"/>
                  <a:ea typeface="+mn-ea"/>
                  <a:cs typeface="+mn-cs"/>
                </a:rPr>
                <a:t>并在典型船型中应用</a:t>
              </a:r>
            </a:p>
          </p:txBody>
        </p:sp>
      </p:grpSp>
      <p:grpSp>
        <p:nvGrpSpPr>
          <p:cNvPr id="170" name="facts-band"/>
          <p:cNvGrpSpPr/>
          <p:nvPr/>
        </p:nvGrpSpPr>
        <p:grpSpPr>
          <a:xfrm>
            <a:off x="8686800" y="1733550"/>
            <a:ext cx="3124200" cy="244078"/>
            <a:chOff x="8686800" y="1733550"/>
            <a:chExt cx="3124200" cy="244078"/>
          </a:xfrm>
        </p:grpSpPr>
        <p:sp>
          <p:nvSpPr>
            <p:cNvPr id="168" name="Rectangle 168"/>
            <p:cNvSpPr/>
            <p:nvPr/>
          </p:nvSpPr>
          <p:spPr>
            <a:xfrm>
              <a:off x="8686800" y="1733550"/>
              <a:ext cx="3124200" cy="228600"/>
            </a:xfrm>
            <a:prstGeom prst="roundRect">
              <a:avLst>
                <a:gd name="adj" fmla="val 16667"/>
              </a:avLst>
            </a:prstGeom>
            <a:gradFill>
              <a:gsLst>
                <a:gs pos="0">
                  <a:srgbClr val="6F2516"/>
                </a:gs>
                <a:gs pos="100000">
                  <a:srgbClr val="D64A2E"/>
                </a:gs>
              </a:gsLst>
              <a:lin ang="0" scaled="1"/>
            </a:gradFill>
            <a:ln>
              <a:noFill/>
            </a:ln>
          </p:spPr>
        </p:sp>
        <p:sp>
          <p:nvSpPr>
            <p:cNvPr id="169" name="TextBox 169"/>
            <p:cNvSpPr txBox="1"/>
            <p:nvPr/>
          </p:nvSpPr>
          <p:spPr>
            <a:xfrm>
              <a:off x="8796338" y="1794272"/>
              <a:ext cx="895325"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关键事实与依据</a:t>
              </a:r>
            </a:p>
          </p:txBody>
        </p:sp>
      </p:grpSp>
      <p:grpSp>
        <p:nvGrpSpPr>
          <p:cNvPr id="204" name="facts"/>
          <p:cNvGrpSpPr/>
          <p:nvPr/>
        </p:nvGrpSpPr>
        <p:grpSpPr>
          <a:xfrm>
            <a:off x="8686800" y="2019300"/>
            <a:ext cx="3124200" cy="2286000"/>
            <a:chOff x="8686800" y="2019300"/>
            <a:chExt cx="3124200" cy="2286000"/>
          </a:xfrm>
        </p:grpSpPr>
        <p:sp>
          <p:nvSpPr>
            <p:cNvPr id="171" name="Rectangle 171"/>
            <p:cNvSpPr/>
            <p:nvPr/>
          </p:nvSpPr>
          <p:spPr>
            <a:xfrm>
              <a:off x="8686800" y="2019300"/>
              <a:ext cx="3124200" cy="2286000"/>
            </a:xfrm>
            <a:prstGeom prst="roundRect">
              <a:avLst>
                <a:gd name="adj" fmla="val 2500"/>
              </a:avLst>
            </a:prstGeom>
            <a:solidFill>
              <a:srgbClr val="FFFFFF"/>
            </a:solidFill>
            <a:ln w="9525">
              <a:solidFill>
                <a:srgbClr val="C7D9F0"/>
              </a:solidFill>
            </a:ln>
          </p:spPr>
        </p:sp>
        <p:sp>
          <p:nvSpPr>
            <p:cNvPr id="172" name="Ellipse 172"/>
            <p:cNvSpPr/>
            <p:nvPr/>
          </p:nvSpPr>
          <p:spPr>
            <a:xfrm>
              <a:off x="8763000" y="2133600"/>
              <a:ext cx="228600" cy="228600"/>
            </a:xfrm>
            <a:prstGeom prst="ellipse">
              <a:avLst/>
            </a:prstGeom>
            <a:solidFill>
              <a:srgbClr val="9C331E"/>
            </a:solidFill>
            <a:ln>
              <a:noFill/>
            </a:ln>
          </p:spPr>
        </p:sp>
        <p:grpSp>
          <p:nvGrpSpPr>
            <p:cNvPr id="176" name="Group 176"/>
            <p:cNvGrpSpPr/>
            <p:nvPr/>
          </p:nvGrpSpPr>
          <p:grpSpPr>
            <a:xfrm>
              <a:off x="8832850" y="2190750"/>
              <a:ext cx="88900" cy="114300"/>
              <a:chOff x="8832850" y="2190750"/>
              <a:chExt cx="88900" cy="114300"/>
            </a:xfrm>
          </p:grpSpPr>
          <p:sp>
            <p:nvSpPr>
              <p:cNvPr id="173" name="Freeform 173"/>
              <p:cNvSpPr/>
              <p:nvPr/>
            </p:nvSpPr>
            <p:spPr>
              <a:xfrm>
                <a:off x="8890000" y="21907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FFFFFF"/>
                </a:solidFill>
              </a:ln>
            </p:spPr>
          </p:sp>
          <p:sp>
            <p:nvSpPr>
              <p:cNvPr id="174" name="Freeform 174"/>
              <p:cNvSpPr/>
              <p:nvPr/>
            </p:nvSpPr>
            <p:spPr>
              <a:xfrm>
                <a:off x="8832850" y="21907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FFFFFF"/>
                </a:solidFill>
              </a:ln>
            </p:spPr>
          </p:sp>
          <p:sp>
            <p:nvSpPr>
              <p:cNvPr id="175" name="Freeform 175"/>
              <p:cNvSpPr/>
              <p:nvPr/>
            </p:nvSpPr>
            <p:spPr>
              <a:xfrm>
                <a:off x="8858250" y="225425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177" name="TextBox 177"/>
            <p:cNvSpPr txBox="1"/>
            <p:nvPr/>
          </p:nvSpPr>
          <p:spPr>
            <a:xfrm>
              <a:off x="9082088" y="2120741"/>
              <a:ext cx="867639"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数据集嵌入JNIS​</a:t>
              </a:r>
            </a:p>
          </p:txBody>
        </p:sp>
        <p:sp>
          <p:nvSpPr>
            <p:cNvPr id="178" name="TextBox 178"/>
            <p:cNvSpPr txBox="1"/>
            <p:nvPr/>
          </p:nvSpPr>
          <p:spPr>
            <a:xfrm>
              <a:off x="9082088" y="2278380"/>
              <a:ext cx="18764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73F3A"/>
                  </a:solidFill>
                  <a:latin typeface="+mn-lt"/>
                  <a:ea typeface="+mn-ea"/>
                  <a:cs typeface="+mn-cs"/>
                </a:rPr>
                <a:t>公开报道显示江南造船将高质量数据集成至企业</a:t>
              </a:r>
              <a:br/>
              <a:r>
                <a:rPr lang="zh-CN" sz="600" dirty="0">
                  <a:solidFill>
                    <a:srgbClr val="573F3A"/>
                  </a:solidFill>
                  <a:latin typeface="+mn-lt"/>
                  <a:ea typeface="+mn-ea"/>
                  <a:cs typeface="+mn-cs"/>
                </a:rPr>
                <a:t>生产管理系统JNIS，支撑设计、工艺、质量等业务应用​</a:t>
              </a:r>
            </a:p>
          </p:txBody>
        </p:sp>
        <p:sp>
          <p:nvSpPr>
            <p:cNvPr id="179" name="Line 179"/>
            <p:cNvSpPr/>
            <p:nvPr/>
          </p:nvSpPr>
          <p:spPr>
            <a:xfrm>
              <a:off x="8801100" y="2571750"/>
              <a:ext cx="2895600" cy="9525"/>
            </a:xfrm>
            <a:custGeom>
              <a:avLst/>
              <a:gdLst/>
              <a:ahLst/>
              <a:cxnLst/>
              <a:rect l="l" t="t" r="r" b="b"/>
              <a:pathLst>
                <a:path w="2895600" h="9525">
                  <a:moveTo>
                    <a:pt x="0" y="0"/>
                  </a:moveTo>
                  <a:lnTo>
                    <a:pt x="2895600" y="0"/>
                  </a:lnTo>
                </a:path>
              </a:pathLst>
            </a:custGeom>
            <a:noFill/>
            <a:ln w="9525">
              <a:solidFill>
                <a:srgbClr val="C7D9F0"/>
              </a:solidFill>
              <a:custDash>
                <a:ds d="300000" sp="300000"/>
              </a:custDash>
            </a:ln>
          </p:spPr>
        </p:sp>
        <p:sp>
          <p:nvSpPr>
            <p:cNvPr id="180" name="Ellipse 180"/>
            <p:cNvSpPr/>
            <p:nvPr/>
          </p:nvSpPr>
          <p:spPr>
            <a:xfrm>
              <a:off x="8763000" y="2705100"/>
              <a:ext cx="228600" cy="228600"/>
            </a:xfrm>
            <a:prstGeom prst="ellipse">
              <a:avLst/>
            </a:prstGeom>
            <a:solidFill>
              <a:srgbClr val="9C331E"/>
            </a:solidFill>
            <a:ln>
              <a:noFill/>
            </a:ln>
          </p:spPr>
        </p:sp>
        <p:grpSp>
          <p:nvGrpSpPr>
            <p:cNvPr id="185" name="Group 185"/>
            <p:cNvGrpSpPr/>
            <p:nvPr/>
          </p:nvGrpSpPr>
          <p:grpSpPr>
            <a:xfrm>
              <a:off x="8813800" y="2762250"/>
              <a:ext cx="127000" cy="114405"/>
              <a:chOff x="8813800" y="2762250"/>
              <a:chExt cx="127000" cy="114405"/>
            </a:xfrm>
          </p:grpSpPr>
          <p:sp>
            <p:nvSpPr>
              <p:cNvPr id="181" name="Freeform 181"/>
              <p:cNvSpPr/>
              <p:nvPr/>
            </p:nvSpPr>
            <p:spPr>
              <a:xfrm>
                <a:off x="8813800" y="2863745"/>
                <a:ext cx="127000" cy="12910"/>
              </a:xfrm>
              <a:custGeom>
                <a:avLst/>
                <a:gdLst/>
                <a:ahLst/>
                <a:cxnLst/>
                <a:rect l="l" t="t" r="r" b="b"/>
                <a:pathLst>
                  <a:path w="127000" h="12910">
                    <a:moveTo>
                      <a:pt x="0" y="6455"/>
                    </a:moveTo>
                    <a:cubicBezTo>
                      <a:pt x="2928" y="10535"/>
                      <a:pt x="7679" y="12910"/>
                      <a:pt x="12700" y="12805"/>
                    </a:cubicBezTo>
                    <a:cubicBezTo>
                      <a:pt x="17721" y="12910"/>
                      <a:pt x="22472" y="10535"/>
                      <a:pt x="25400" y="6455"/>
                    </a:cubicBezTo>
                    <a:cubicBezTo>
                      <a:pt x="28328" y="2375"/>
                      <a:pt x="33079" y="0"/>
                      <a:pt x="38100" y="105"/>
                    </a:cubicBezTo>
                    <a:cubicBezTo>
                      <a:pt x="43121" y="0"/>
                      <a:pt x="47872" y="2375"/>
                      <a:pt x="50800" y="6455"/>
                    </a:cubicBezTo>
                    <a:cubicBezTo>
                      <a:pt x="53728" y="10535"/>
                      <a:pt x="58479" y="12910"/>
                      <a:pt x="63500" y="12805"/>
                    </a:cubicBezTo>
                    <a:cubicBezTo>
                      <a:pt x="68521" y="12910"/>
                      <a:pt x="73272" y="10535"/>
                      <a:pt x="76200" y="6455"/>
                    </a:cubicBezTo>
                    <a:cubicBezTo>
                      <a:pt x="79129" y="2375"/>
                      <a:pt x="83879" y="0"/>
                      <a:pt x="88900" y="105"/>
                    </a:cubicBezTo>
                    <a:cubicBezTo>
                      <a:pt x="93921" y="0"/>
                      <a:pt x="98672" y="2375"/>
                      <a:pt x="101600" y="6455"/>
                    </a:cubicBezTo>
                    <a:cubicBezTo>
                      <a:pt x="104529" y="10535"/>
                      <a:pt x="109279" y="12910"/>
                      <a:pt x="114300" y="12805"/>
                    </a:cubicBezTo>
                    <a:cubicBezTo>
                      <a:pt x="119321" y="12910"/>
                      <a:pt x="124072" y="10535"/>
                      <a:pt x="127000" y="6455"/>
                    </a:cubicBezTo>
                  </a:path>
                </a:pathLst>
              </a:custGeom>
              <a:noFill/>
              <a:ln w="12700">
                <a:solidFill>
                  <a:srgbClr val="FFFFFF"/>
                </a:solidFill>
              </a:ln>
            </p:spPr>
          </p:sp>
          <p:sp>
            <p:nvSpPr>
              <p:cNvPr id="182" name="Freeform 182"/>
              <p:cNvSpPr/>
              <p:nvPr/>
            </p:nvSpPr>
            <p:spPr>
              <a:xfrm>
                <a:off x="8820150" y="2825750"/>
                <a:ext cx="114300" cy="31750"/>
              </a:xfrm>
              <a:custGeom>
                <a:avLst/>
                <a:gdLst/>
                <a:ahLst/>
                <a:cxnLst/>
                <a:rect l="l" t="t" r="r" b="b"/>
                <a:pathLst>
                  <a:path w="114300" h="31750">
                    <a:moveTo>
                      <a:pt x="6350" y="31750"/>
                    </a:moveTo>
                    <a:lnTo>
                      <a:pt x="0" y="0"/>
                    </a:lnTo>
                    <a:lnTo>
                      <a:pt x="114300" y="0"/>
                    </a:lnTo>
                    <a:lnTo>
                      <a:pt x="101600" y="25400"/>
                    </a:lnTo>
                  </a:path>
                </a:pathLst>
              </a:custGeom>
              <a:noFill/>
              <a:ln w="12700">
                <a:solidFill>
                  <a:srgbClr val="FFFFFF"/>
                </a:solidFill>
              </a:ln>
            </p:spPr>
          </p:sp>
          <p:sp>
            <p:nvSpPr>
              <p:cNvPr id="183" name="Freeform 183"/>
              <p:cNvSpPr/>
              <p:nvPr/>
            </p:nvSpPr>
            <p:spPr>
              <a:xfrm>
                <a:off x="8832850" y="2787650"/>
                <a:ext cx="76200" cy="38100"/>
              </a:xfrm>
              <a:custGeom>
                <a:avLst/>
                <a:gdLst/>
                <a:ahLst/>
                <a:cxnLst/>
                <a:rect l="l" t="t" r="r" b="b"/>
                <a:pathLst>
                  <a:path w="76200" h="38100">
                    <a:moveTo>
                      <a:pt x="0" y="38100"/>
                    </a:moveTo>
                    <a:lnTo>
                      <a:pt x="0" y="0"/>
                    </a:lnTo>
                    <a:lnTo>
                      <a:pt x="50800" y="0"/>
                    </a:lnTo>
                    <a:lnTo>
                      <a:pt x="76200" y="38100"/>
                    </a:lnTo>
                  </a:path>
                </a:pathLst>
              </a:custGeom>
              <a:noFill/>
              <a:ln w="12700">
                <a:solidFill>
                  <a:srgbClr val="FFFFFF"/>
                </a:solidFill>
              </a:ln>
            </p:spPr>
          </p:sp>
          <p:sp>
            <p:nvSpPr>
              <p:cNvPr id="184" name="Freeform 184"/>
              <p:cNvSpPr/>
              <p:nvPr/>
            </p:nvSpPr>
            <p:spPr>
              <a:xfrm>
                <a:off x="8839200" y="2762250"/>
                <a:ext cx="9525" cy="25400"/>
              </a:xfrm>
              <a:custGeom>
                <a:avLst/>
                <a:gdLst/>
                <a:ahLst/>
                <a:cxnLst/>
                <a:rect l="l" t="t" r="r" b="b"/>
                <a:pathLst>
                  <a:path w="9525" h="25400">
                    <a:moveTo>
                      <a:pt x="6350" y="25400"/>
                    </a:moveTo>
                    <a:lnTo>
                      <a:pt x="6350" y="0"/>
                    </a:lnTo>
                    <a:lnTo>
                      <a:pt x="0" y="0"/>
                    </a:lnTo>
                  </a:path>
                </a:pathLst>
              </a:custGeom>
              <a:noFill/>
              <a:ln w="12700">
                <a:solidFill>
                  <a:srgbClr val="FFFFFF"/>
                </a:solidFill>
              </a:ln>
            </p:spPr>
          </p:sp>
        </p:grpSp>
        <p:sp>
          <p:nvSpPr>
            <p:cNvPr id="186" name="TextBox 186"/>
            <p:cNvSpPr txBox="1"/>
            <p:nvPr/>
          </p:nvSpPr>
          <p:spPr>
            <a:xfrm>
              <a:off x="9082088" y="2692241"/>
              <a:ext cx="937678"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应用于LNG加注船​</a:t>
              </a:r>
            </a:p>
          </p:txBody>
        </p:sp>
        <p:sp>
          <p:nvSpPr>
            <p:cNvPr id="187" name="TextBox 187"/>
            <p:cNvSpPr txBox="1"/>
            <p:nvPr/>
          </p:nvSpPr>
          <p:spPr>
            <a:xfrm>
              <a:off x="9082088" y="2849880"/>
              <a:ext cx="113347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73F3A"/>
                  </a:solidFill>
                  <a:latin typeface="+mn-lt"/>
                  <a:ea typeface="+mn-ea"/>
                  <a:cs typeface="+mn-cs"/>
                </a:rPr>
                <a:t>公开信息显示，相关数据已在</a:t>
              </a:r>
              <a:br/>
              <a:r>
                <a:rPr lang="zh-CN" sz="600" dirty="0">
                  <a:solidFill>
                    <a:srgbClr val="573F3A"/>
                  </a:solidFill>
                  <a:latin typeface="+mn-lt"/>
                  <a:ea typeface="+mn-ea"/>
                  <a:cs typeface="+mn-cs"/>
                </a:rPr>
                <a:t>LNG加注船的设计与建造中应用​​</a:t>
              </a:r>
            </a:p>
          </p:txBody>
        </p:sp>
        <p:sp>
          <p:nvSpPr>
            <p:cNvPr id="188" name="Line 188"/>
            <p:cNvSpPr/>
            <p:nvPr/>
          </p:nvSpPr>
          <p:spPr>
            <a:xfrm>
              <a:off x="8801100" y="3143250"/>
              <a:ext cx="2895600" cy="9525"/>
            </a:xfrm>
            <a:custGeom>
              <a:avLst/>
              <a:gdLst/>
              <a:ahLst/>
              <a:cxnLst/>
              <a:rect l="l" t="t" r="r" b="b"/>
              <a:pathLst>
                <a:path w="2895600" h="9525">
                  <a:moveTo>
                    <a:pt x="0" y="0"/>
                  </a:moveTo>
                  <a:lnTo>
                    <a:pt x="2895600" y="0"/>
                  </a:lnTo>
                </a:path>
              </a:pathLst>
            </a:custGeom>
            <a:noFill/>
            <a:ln w="9525">
              <a:solidFill>
                <a:srgbClr val="C7D9F0"/>
              </a:solidFill>
              <a:custDash>
                <a:ds d="300000" sp="300000"/>
              </a:custDash>
            </a:ln>
          </p:spPr>
        </p:sp>
        <p:sp>
          <p:nvSpPr>
            <p:cNvPr id="189" name="Ellipse 189"/>
            <p:cNvSpPr/>
            <p:nvPr/>
          </p:nvSpPr>
          <p:spPr>
            <a:xfrm>
              <a:off x="8763000" y="3276600"/>
              <a:ext cx="228600" cy="228600"/>
            </a:xfrm>
            <a:prstGeom prst="ellipse">
              <a:avLst/>
            </a:prstGeom>
            <a:solidFill>
              <a:srgbClr val="9C331E"/>
            </a:solidFill>
            <a:ln>
              <a:noFill/>
            </a:ln>
          </p:spPr>
        </p:sp>
        <p:grpSp>
          <p:nvGrpSpPr>
            <p:cNvPr id="194" name="Group 194"/>
            <p:cNvGrpSpPr/>
            <p:nvPr/>
          </p:nvGrpSpPr>
          <p:grpSpPr>
            <a:xfrm>
              <a:off x="8813800" y="3333750"/>
              <a:ext cx="127000" cy="114405"/>
              <a:chOff x="8813800" y="3333750"/>
              <a:chExt cx="127000" cy="114405"/>
            </a:xfrm>
          </p:grpSpPr>
          <p:sp>
            <p:nvSpPr>
              <p:cNvPr id="190" name="Freeform 190"/>
              <p:cNvSpPr/>
              <p:nvPr/>
            </p:nvSpPr>
            <p:spPr>
              <a:xfrm>
                <a:off x="8813800" y="3435245"/>
                <a:ext cx="127000" cy="12910"/>
              </a:xfrm>
              <a:custGeom>
                <a:avLst/>
                <a:gdLst/>
                <a:ahLst/>
                <a:cxnLst/>
                <a:rect l="l" t="t" r="r" b="b"/>
                <a:pathLst>
                  <a:path w="127000" h="12910">
                    <a:moveTo>
                      <a:pt x="0" y="6455"/>
                    </a:moveTo>
                    <a:cubicBezTo>
                      <a:pt x="2928" y="10535"/>
                      <a:pt x="7679" y="12910"/>
                      <a:pt x="12700" y="12805"/>
                    </a:cubicBezTo>
                    <a:cubicBezTo>
                      <a:pt x="17721" y="12910"/>
                      <a:pt x="22472" y="10535"/>
                      <a:pt x="25400" y="6455"/>
                    </a:cubicBezTo>
                    <a:cubicBezTo>
                      <a:pt x="28328" y="2375"/>
                      <a:pt x="33079" y="0"/>
                      <a:pt x="38100" y="105"/>
                    </a:cubicBezTo>
                    <a:cubicBezTo>
                      <a:pt x="43121" y="0"/>
                      <a:pt x="47872" y="2375"/>
                      <a:pt x="50800" y="6455"/>
                    </a:cubicBezTo>
                    <a:cubicBezTo>
                      <a:pt x="53728" y="10535"/>
                      <a:pt x="58479" y="12910"/>
                      <a:pt x="63500" y="12805"/>
                    </a:cubicBezTo>
                    <a:cubicBezTo>
                      <a:pt x="68521" y="12910"/>
                      <a:pt x="73272" y="10535"/>
                      <a:pt x="76200" y="6455"/>
                    </a:cubicBezTo>
                    <a:cubicBezTo>
                      <a:pt x="79129" y="2375"/>
                      <a:pt x="83879" y="0"/>
                      <a:pt x="88900" y="105"/>
                    </a:cubicBezTo>
                    <a:cubicBezTo>
                      <a:pt x="93921" y="0"/>
                      <a:pt x="98672" y="2375"/>
                      <a:pt x="101600" y="6455"/>
                    </a:cubicBezTo>
                    <a:cubicBezTo>
                      <a:pt x="104529" y="10535"/>
                      <a:pt x="109279" y="12910"/>
                      <a:pt x="114300" y="12805"/>
                    </a:cubicBezTo>
                    <a:cubicBezTo>
                      <a:pt x="119321" y="12910"/>
                      <a:pt x="124072" y="10535"/>
                      <a:pt x="127000" y="6455"/>
                    </a:cubicBezTo>
                  </a:path>
                </a:pathLst>
              </a:custGeom>
              <a:noFill/>
              <a:ln w="12700">
                <a:solidFill>
                  <a:srgbClr val="FFFFFF"/>
                </a:solidFill>
              </a:ln>
            </p:spPr>
          </p:sp>
          <p:sp>
            <p:nvSpPr>
              <p:cNvPr id="191" name="Freeform 191"/>
              <p:cNvSpPr/>
              <p:nvPr/>
            </p:nvSpPr>
            <p:spPr>
              <a:xfrm>
                <a:off x="8820150" y="3397250"/>
                <a:ext cx="114300" cy="31750"/>
              </a:xfrm>
              <a:custGeom>
                <a:avLst/>
                <a:gdLst/>
                <a:ahLst/>
                <a:cxnLst/>
                <a:rect l="l" t="t" r="r" b="b"/>
                <a:pathLst>
                  <a:path w="114300" h="31750">
                    <a:moveTo>
                      <a:pt x="6350" y="31750"/>
                    </a:moveTo>
                    <a:lnTo>
                      <a:pt x="0" y="0"/>
                    </a:lnTo>
                    <a:lnTo>
                      <a:pt x="114300" y="0"/>
                    </a:lnTo>
                    <a:lnTo>
                      <a:pt x="101600" y="25400"/>
                    </a:lnTo>
                  </a:path>
                </a:pathLst>
              </a:custGeom>
              <a:noFill/>
              <a:ln w="12700">
                <a:solidFill>
                  <a:srgbClr val="FFFFFF"/>
                </a:solidFill>
              </a:ln>
            </p:spPr>
          </p:sp>
          <p:sp>
            <p:nvSpPr>
              <p:cNvPr id="192" name="Freeform 192"/>
              <p:cNvSpPr/>
              <p:nvPr/>
            </p:nvSpPr>
            <p:spPr>
              <a:xfrm>
                <a:off x="8832850" y="3359150"/>
                <a:ext cx="76200" cy="38100"/>
              </a:xfrm>
              <a:custGeom>
                <a:avLst/>
                <a:gdLst/>
                <a:ahLst/>
                <a:cxnLst/>
                <a:rect l="l" t="t" r="r" b="b"/>
                <a:pathLst>
                  <a:path w="76200" h="38100">
                    <a:moveTo>
                      <a:pt x="0" y="38100"/>
                    </a:moveTo>
                    <a:lnTo>
                      <a:pt x="0" y="0"/>
                    </a:lnTo>
                    <a:lnTo>
                      <a:pt x="50800" y="0"/>
                    </a:lnTo>
                    <a:lnTo>
                      <a:pt x="76200" y="38100"/>
                    </a:lnTo>
                  </a:path>
                </a:pathLst>
              </a:custGeom>
              <a:noFill/>
              <a:ln w="12700">
                <a:solidFill>
                  <a:srgbClr val="FFFFFF"/>
                </a:solidFill>
              </a:ln>
            </p:spPr>
          </p:sp>
          <p:sp>
            <p:nvSpPr>
              <p:cNvPr id="193" name="Freeform 193"/>
              <p:cNvSpPr/>
              <p:nvPr/>
            </p:nvSpPr>
            <p:spPr>
              <a:xfrm>
                <a:off x="8839200" y="3333750"/>
                <a:ext cx="9525" cy="25400"/>
              </a:xfrm>
              <a:custGeom>
                <a:avLst/>
                <a:gdLst/>
                <a:ahLst/>
                <a:cxnLst/>
                <a:rect l="l" t="t" r="r" b="b"/>
                <a:pathLst>
                  <a:path w="9525" h="25400">
                    <a:moveTo>
                      <a:pt x="6350" y="25400"/>
                    </a:moveTo>
                    <a:lnTo>
                      <a:pt x="6350" y="0"/>
                    </a:lnTo>
                    <a:lnTo>
                      <a:pt x="0" y="0"/>
                    </a:lnTo>
                  </a:path>
                </a:pathLst>
              </a:custGeom>
              <a:noFill/>
              <a:ln w="12700">
                <a:solidFill>
                  <a:srgbClr val="FFFFFF"/>
                </a:solidFill>
              </a:ln>
            </p:spPr>
          </p:sp>
        </p:grpSp>
        <p:sp>
          <p:nvSpPr>
            <p:cNvPr id="195" name="TextBox 195"/>
            <p:cNvSpPr txBox="1"/>
            <p:nvPr/>
          </p:nvSpPr>
          <p:spPr>
            <a:xfrm>
              <a:off x="9082088" y="3263741"/>
              <a:ext cx="677479"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应用于VLAC​</a:t>
              </a:r>
            </a:p>
          </p:txBody>
        </p:sp>
        <p:sp>
          <p:nvSpPr>
            <p:cNvPr id="196" name="TextBox 196"/>
            <p:cNvSpPr txBox="1"/>
            <p:nvPr/>
          </p:nvSpPr>
          <p:spPr>
            <a:xfrm>
              <a:off x="9082088" y="3421380"/>
              <a:ext cx="172783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73F3A"/>
                  </a:solidFill>
                  <a:latin typeface="+mn-lt"/>
                  <a:ea typeface="+mn-ea"/>
                  <a:cs typeface="+mn-cs"/>
                </a:rPr>
                <a:t>公开信息显示，相关数据应用于超大型乙烷运输船​</a:t>
              </a:r>
              <a:br/>
              <a:r>
                <a:rPr lang="zh-CN" sz="600" dirty="0">
                  <a:solidFill>
                    <a:srgbClr val="573F3A"/>
                  </a:solidFill>
                  <a:latin typeface="+mn-lt"/>
                  <a:ea typeface="+mn-ea"/>
                  <a:cs typeface="+mn-cs"/>
                </a:rPr>
                <a:t>（VLAC）的研发与建造场景​</a:t>
              </a:r>
            </a:p>
          </p:txBody>
        </p:sp>
        <p:sp>
          <p:nvSpPr>
            <p:cNvPr id="197" name="Line 197"/>
            <p:cNvSpPr/>
            <p:nvPr/>
          </p:nvSpPr>
          <p:spPr>
            <a:xfrm>
              <a:off x="8801100" y="3714750"/>
              <a:ext cx="2895600" cy="9525"/>
            </a:xfrm>
            <a:custGeom>
              <a:avLst/>
              <a:gdLst/>
              <a:ahLst/>
              <a:cxnLst/>
              <a:rect l="l" t="t" r="r" b="b"/>
              <a:pathLst>
                <a:path w="2895600" h="9525">
                  <a:moveTo>
                    <a:pt x="0" y="0"/>
                  </a:moveTo>
                  <a:lnTo>
                    <a:pt x="2895600" y="0"/>
                  </a:lnTo>
                </a:path>
              </a:pathLst>
            </a:custGeom>
            <a:noFill/>
            <a:ln w="9525">
              <a:solidFill>
                <a:srgbClr val="C7D9F0"/>
              </a:solidFill>
              <a:custDash>
                <a:ds d="300000" sp="300000"/>
              </a:custDash>
            </a:ln>
          </p:spPr>
        </p:sp>
        <p:sp>
          <p:nvSpPr>
            <p:cNvPr id="198" name="Ellipse 198"/>
            <p:cNvSpPr/>
            <p:nvPr/>
          </p:nvSpPr>
          <p:spPr>
            <a:xfrm>
              <a:off x="8763000" y="3848100"/>
              <a:ext cx="228600" cy="228600"/>
            </a:xfrm>
            <a:prstGeom prst="ellipse">
              <a:avLst/>
            </a:prstGeom>
            <a:solidFill>
              <a:srgbClr val="9C331E"/>
            </a:solidFill>
            <a:ln>
              <a:noFill/>
            </a:ln>
          </p:spPr>
        </p:sp>
        <p:grpSp>
          <p:nvGrpSpPr>
            <p:cNvPr id="201" name="Group 201"/>
            <p:cNvGrpSpPr/>
            <p:nvPr/>
          </p:nvGrpSpPr>
          <p:grpSpPr>
            <a:xfrm>
              <a:off x="8826500" y="3909150"/>
              <a:ext cx="101600" cy="106500"/>
              <a:chOff x="8826500" y="3909150"/>
              <a:chExt cx="101600" cy="106500"/>
            </a:xfrm>
          </p:grpSpPr>
          <p:sp>
            <p:nvSpPr>
              <p:cNvPr id="199" name="Freeform 199"/>
              <p:cNvSpPr/>
              <p:nvPr/>
            </p:nvSpPr>
            <p:spPr>
              <a:xfrm>
                <a:off x="8826500" y="390915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FFFFFF"/>
                </a:solidFill>
              </a:ln>
            </p:spPr>
          </p:sp>
          <p:sp>
            <p:nvSpPr>
              <p:cNvPr id="200" name="Freeform 200"/>
              <p:cNvSpPr/>
              <p:nvPr/>
            </p:nvSpPr>
            <p:spPr>
              <a:xfrm>
                <a:off x="8826500" y="396875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FFFFFF"/>
                </a:solidFill>
              </a:ln>
            </p:spPr>
          </p:sp>
        </p:grpSp>
        <p:sp>
          <p:nvSpPr>
            <p:cNvPr id="202" name="TextBox 202"/>
            <p:cNvSpPr txBox="1"/>
            <p:nvPr/>
          </p:nvSpPr>
          <p:spPr>
            <a:xfrm>
              <a:off x="9082088" y="3835241"/>
              <a:ext cx="671855"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支撑算法迭代</a:t>
              </a:r>
            </a:p>
          </p:txBody>
        </p:sp>
        <p:sp>
          <p:nvSpPr>
            <p:cNvPr id="203" name="TextBox 203"/>
            <p:cNvSpPr txBox="1"/>
            <p:nvPr/>
          </p:nvSpPr>
          <p:spPr>
            <a:xfrm>
              <a:off x="9082088" y="3992880"/>
              <a:ext cx="165163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73F3A"/>
                  </a:solidFill>
                  <a:latin typeface="+mn-lt"/>
                  <a:ea typeface="+mn-ea"/>
                  <a:cs typeface="+mn-cs"/>
                </a:rPr>
                <a:t>通过生产数据的持续回流，用于算法迭代和工程​</a:t>
              </a:r>
              <a:br/>
              <a:r>
                <a:rPr lang="zh-CN" sz="600" dirty="0">
                  <a:solidFill>
                    <a:srgbClr val="573F3A"/>
                  </a:solidFill>
                  <a:latin typeface="+mn-lt"/>
                  <a:ea typeface="+mn-ea"/>
                  <a:cs typeface="+mn-cs"/>
                </a:rPr>
                <a:t>经验沉淀</a:t>
              </a:r>
            </a:p>
          </p:txBody>
        </p:sp>
      </p:grpSp>
      <p:grpSp>
        <p:nvGrpSpPr>
          <p:cNvPr id="212" name="boundary"/>
          <p:cNvGrpSpPr/>
          <p:nvPr/>
        </p:nvGrpSpPr>
        <p:grpSpPr>
          <a:xfrm>
            <a:off x="8686800" y="4381500"/>
            <a:ext cx="3124200" cy="876300"/>
            <a:chOff x="8686800" y="4381500"/>
            <a:chExt cx="3124200" cy="876300"/>
          </a:xfrm>
        </p:grpSpPr>
        <p:sp>
          <p:nvSpPr>
            <p:cNvPr id="205" name="Rectangle 205"/>
            <p:cNvSpPr/>
            <p:nvPr/>
          </p:nvSpPr>
          <p:spPr>
            <a:xfrm>
              <a:off x="8686800" y="4381500"/>
              <a:ext cx="3124200" cy="876300"/>
            </a:xfrm>
            <a:prstGeom prst="roundRect">
              <a:avLst>
                <a:gd name="adj" fmla="val 6522"/>
              </a:avLst>
            </a:prstGeom>
            <a:solidFill>
              <a:srgbClr val="FDF3DC"/>
            </a:solidFill>
            <a:ln w="9525">
              <a:solidFill>
                <a:srgbClr val="D93012"/>
              </a:solidFill>
            </a:ln>
          </p:spPr>
        </p:sp>
        <p:grpSp>
          <p:nvGrpSpPr>
            <p:cNvPr id="209" name="Group 209"/>
            <p:cNvGrpSpPr/>
            <p:nvPr/>
          </p:nvGrpSpPr>
          <p:grpSpPr>
            <a:xfrm>
              <a:off x="8833829" y="4514858"/>
              <a:ext cx="144086" cy="123788"/>
              <a:chOff x="8833829" y="4514858"/>
              <a:chExt cx="144086" cy="123788"/>
            </a:xfrm>
          </p:grpSpPr>
          <p:sp>
            <p:nvSpPr>
              <p:cNvPr id="206" name="Freeform 206"/>
              <p:cNvSpPr/>
              <p:nvPr/>
            </p:nvSpPr>
            <p:spPr>
              <a:xfrm>
                <a:off x="8905875" y="4560094"/>
                <a:ext cx="9525" cy="28575"/>
              </a:xfrm>
              <a:custGeom>
                <a:avLst/>
                <a:gdLst/>
                <a:ahLst/>
                <a:cxnLst/>
                <a:rect l="l" t="t" r="r" b="b"/>
                <a:pathLst>
                  <a:path w="9525" h="28575">
                    <a:moveTo>
                      <a:pt x="0" y="0"/>
                    </a:moveTo>
                    <a:lnTo>
                      <a:pt x="0" y="28575"/>
                    </a:lnTo>
                  </a:path>
                </a:pathLst>
              </a:custGeom>
              <a:noFill/>
              <a:ln w="14288">
                <a:solidFill>
                  <a:srgbClr val="D93012"/>
                </a:solidFill>
              </a:ln>
            </p:spPr>
          </p:sp>
          <p:sp>
            <p:nvSpPr>
              <p:cNvPr id="207" name="Freeform 207"/>
              <p:cNvSpPr/>
              <p:nvPr/>
            </p:nvSpPr>
            <p:spPr>
              <a:xfrm>
                <a:off x="8833829" y="4514858"/>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D93012"/>
                </a:solidFill>
              </a:ln>
            </p:spPr>
          </p:sp>
          <p:sp>
            <p:nvSpPr>
              <p:cNvPr id="208" name="Freeform 208"/>
              <p:cNvSpPr/>
              <p:nvPr/>
            </p:nvSpPr>
            <p:spPr>
              <a:xfrm>
                <a:off x="8905875" y="4610100"/>
                <a:ext cx="9525" cy="9525"/>
              </a:xfrm>
              <a:custGeom>
                <a:avLst/>
                <a:gdLst/>
                <a:ahLst/>
                <a:cxnLst/>
                <a:rect l="l" t="t" r="r" b="b"/>
                <a:pathLst>
                  <a:path w="9525" h="9525">
                    <a:moveTo>
                      <a:pt x="0" y="0"/>
                    </a:moveTo>
                    <a:lnTo>
                      <a:pt x="71" y="0"/>
                    </a:lnTo>
                  </a:path>
                </a:pathLst>
              </a:custGeom>
              <a:noFill/>
              <a:ln w="14288">
                <a:solidFill>
                  <a:srgbClr val="D93012"/>
                </a:solidFill>
              </a:ln>
            </p:spPr>
          </p:sp>
        </p:grpSp>
        <p:sp>
          <p:nvSpPr>
            <p:cNvPr id="210" name="TextBox 210"/>
            <p:cNvSpPr txBox="1"/>
            <p:nvPr/>
          </p:nvSpPr>
          <p:spPr>
            <a:xfrm>
              <a:off x="9063038" y="4531995"/>
              <a:ext cx="857631"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需要注意的边界</a:t>
              </a:r>
            </a:p>
          </p:txBody>
        </p:sp>
        <p:sp>
          <p:nvSpPr>
            <p:cNvPr id="211" name="TextBox 211"/>
            <p:cNvSpPr txBox="1"/>
            <p:nvPr/>
          </p:nvSpPr>
          <p:spPr>
            <a:xfrm>
              <a:off x="8834438" y="4780836"/>
              <a:ext cx="1682179"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573F3A"/>
                  </a:solidFill>
                  <a:latin typeface="+mn-lt"/>
                  <a:ea typeface="+mn-ea"/>
                  <a:cs typeface="+mn-cs"/>
                </a:rPr>
                <a:t>公开材料显示系统集成在典型船型应用，​</a:t>
              </a:r>
              <a:br/>
              <a:r>
                <a:rPr lang="zh-CN" sz="710" dirty="0">
                  <a:solidFill>
                    <a:srgbClr val="573F3A"/>
                  </a:solidFill>
                  <a:latin typeface="+mn-lt"/>
                  <a:ea typeface="+mn-ea"/>
                  <a:cs typeface="+mn-cs"/>
                </a:rPr>
                <a:t>未披露统一财务收益。</a:t>
              </a:r>
            </a:p>
          </p:txBody>
        </p:sp>
      </p:grpSp>
      <p:grpSp>
        <p:nvGrpSpPr>
          <p:cNvPr id="236" name="core-band"/>
          <p:cNvGrpSpPr/>
          <p:nvPr/>
        </p:nvGrpSpPr>
        <p:grpSpPr>
          <a:xfrm>
            <a:off x="381000" y="5334000"/>
            <a:ext cx="8191500" cy="419100"/>
            <a:chOff x="381000" y="5334000"/>
            <a:chExt cx="8191500" cy="419100"/>
          </a:xfrm>
        </p:grpSpPr>
        <p:sp>
          <p:nvSpPr>
            <p:cNvPr id="213" name="Rectangle 213"/>
            <p:cNvSpPr/>
            <p:nvPr/>
          </p:nvSpPr>
          <p:spPr>
            <a:xfrm>
              <a:off x="381000" y="5334000"/>
              <a:ext cx="8191500" cy="419100"/>
            </a:xfrm>
            <a:prstGeom prst="roundRect">
              <a:avLst>
                <a:gd name="adj" fmla="val 18182"/>
              </a:avLst>
            </a:prstGeom>
            <a:solidFill>
              <a:srgbClr val="632012"/>
            </a:solidFill>
            <a:ln>
              <a:noFill/>
            </a:ln>
          </p:spPr>
        </p:sp>
        <p:grpSp>
          <p:nvGrpSpPr>
            <p:cNvPr id="217" name="Group 217"/>
            <p:cNvGrpSpPr/>
            <p:nvPr/>
          </p:nvGrpSpPr>
          <p:grpSpPr>
            <a:xfrm>
              <a:off x="535781" y="5479256"/>
              <a:ext cx="128588" cy="128587"/>
              <a:chOff x="535781" y="5479256"/>
              <a:chExt cx="128588" cy="128587"/>
            </a:xfrm>
          </p:grpSpPr>
          <p:sp>
            <p:nvSpPr>
              <p:cNvPr id="214" name="Freeform 214"/>
              <p:cNvSpPr/>
              <p:nvPr/>
            </p:nvSpPr>
            <p:spPr>
              <a:xfrm>
                <a:off x="535781" y="5479256"/>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FFFFFF"/>
                </a:solidFill>
              </a:ln>
            </p:spPr>
          </p:sp>
          <p:sp>
            <p:nvSpPr>
              <p:cNvPr id="215" name="Freeform 215"/>
              <p:cNvSpPr/>
              <p:nvPr/>
            </p:nvSpPr>
            <p:spPr>
              <a:xfrm>
                <a:off x="561327" y="5507831"/>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FFFFFF"/>
                </a:solidFill>
              </a:ln>
            </p:spPr>
          </p:sp>
          <p:sp>
            <p:nvSpPr>
              <p:cNvPr id="216" name="Freeform 216"/>
              <p:cNvSpPr/>
              <p:nvPr/>
            </p:nvSpPr>
            <p:spPr>
              <a:xfrm>
                <a:off x="583644" y="5579269"/>
                <a:ext cx="32861" cy="9525"/>
              </a:xfrm>
              <a:custGeom>
                <a:avLst/>
                <a:gdLst/>
                <a:ahLst/>
                <a:cxnLst/>
                <a:rect l="l" t="t" r="r" b="b"/>
                <a:pathLst>
                  <a:path w="32861" h="9525">
                    <a:moveTo>
                      <a:pt x="0" y="0"/>
                    </a:moveTo>
                    <a:lnTo>
                      <a:pt x="32861" y="0"/>
                    </a:lnTo>
                  </a:path>
                </a:pathLst>
              </a:custGeom>
              <a:noFill/>
              <a:ln w="14288">
                <a:solidFill>
                  <a:srgbClr val="FFFFFF"/>
                </a:solidFill>
              </a:ln>
            </p:spPr>
          </p:sp>
        </p:grpSp>
        <p:sp>
          <p:nvSpPr>
            <p:cNvPr id="218" name="Rectangle 218"/>
            <p:cNvSpPr/>
            <p:nvPr/>
          </p:nvSpPr>
          <p:spPr>
            <a:xfrm>
              <a:off x="762000" y="5429250"/>
              <a:ext cx="609600" cy="228600"/>
            </a:xfrm>
            <a:prstGeom prst="roundRect">
              <a:avLst>
                <a:gd name="adj" fmla="val 50000"/>
              </a:avLst>
            </a:prstGeom>
            <a:solidFill>
              <a:srgbClr val="D64A2E"/>
            </a:solidFill>
            <a:ln>
              <a:noFill/>
            </a:ln>
          </p:spPr>
        </p:sp>
        <p:sp>
          <p:nvSpPr>
            <p:cNvPr id="219" name="TextBox 219"/>
            <p:cNvSpPr txBox="1"/>
            <p:nvPr/>
          </p:nvSpPr>
          <p:spPr>
            <a:xfrm>
              <a:off x="849338" y="549663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核心观点</a:t>
              </a:r>
            </a:p>
          </p:txBody>
        </p:sp>
        <p:sp>
          <p:nvSpPr>
            <p:cNvPr id="220" name="TextBox 220"/>
            <p:cNvSpPr txBox="1"/>
            <p:nvPr/>
          </p:nvSpPr>
          <p:spPr>
            <a:xfrm>
              <a:off x="1481138" y="5494020"/>
              <a:ext cx="461352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数据集不是附件，必须进入业务系统并持续回流，才能在工程实践中不断创造新价值。</a:t>
              </a:r>
            </a:p>
          </p:txBody>
        </p:sp>
        <p:sp>
          <p:nvSpPr>
            <p:cNvPr id="221" name="Rectangle 221"/>
            <p:cNvSpPr/>
            <p:nvPr/>
          </p:nvSpPr>
          <p:spPr>
            <a:xfrm>
              <a:off x="6286500" y="5429250"/>
              <a:ext cx="647700" cy="228600"/>
            </a:xfrm>
            <a:prstGeom prst="roundRect">
              <a:avLst>
                <a:gd name="adj" fmla="val 50000"/>
              </a:avLst>
            </a:prstGeom>
            <a:solidFill>
              <a:srgbClr val="FFFFFF">
                <a:alpha val="14000"/>
              </a:srgbClr>
            </a:solidFill>
            <a:ln w="9525">
              <a:solidFill>
                <a:srgbClr val="FF957F"/>
              </a:solidFill>
            </a:ln>
          </p:spPr>
        </p:sp>
        <p:grpSp>
          <p:nvGrpSpPr>
            <p:cNvPr id="224" name="Group 224"/>
            <p:cNvGrpSpPr/>
            <p:nvPr/>
          </p:nvGrpSpPr>
          <p:grpSpPr>
            <a:xfrm>
              <a:off x="6376988" y="5500688"/>
              <a:ext cx="85725" cy="85725"/>
              <a:chOff x="6376988" y="5500688"/>
              <a:chExt cx="85725" cy="85725"/>
            </a:xfrm>
          </p:grpSpPr>
          <p:sp>
            <p:nvSpPr>
              <p:cNvPr id="222" name="Freeform 222"/>
              <p:cNvSpPr/>
              <p:nvPr/>
            </p:nvSpPr>
            <p:spPr>
              <a:xfrm>
                <a:off x="6376988" y="5500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FF957F"/>
                </a:solidFill>
              </a:ln>
            </p:spPr>
          </p:sp>
          <p:sp>
            <p:nvSpPr>
              <p:cNvPr id="223" name="Freeform 223"/>
              <p:cNvSpPr/>
              <p:nvPr/>
            </p:nvSpPr>
            <p:spPr>
              <a:xfrm>
                <a:off x="6405562" y="5534025"/>
                <a:ext cx="28575" cy="19050"/>
              </a:xfrm>
              <a:custGeom>
                <a:avLst/>
                <a:gdLst/>
                <a:ahLst/>
                <a:cxnLst/>
                <a:rect l="l" t="t" r="r" b="b"/>
                <a:pathLst>
                  <a:path w="28575" h="19050">
                    <a:moveTo>
                      <a:pt x="0" y="9525"/>
                    </a:moveTo>
                    <a:lnTo>
                      <a:pt x="9525" y="19050"/>
                    </a:lnTo>
                    <a:lnTo>
                      <a:pt x="28575" y="0"/>
                    </a:lnTo>
                  </a:path>
                </a:pathLst>
              </a:custGeom>
              <a:noFill/>
              <a:ln w="9525">
                <a:solidFill>
                  <a:srgbClr val="FF957F"/>
                </a:solidFill>
              </a:ln>
            </p:spPr>
          </p:sp>
        </p:grpSp>
        <p:sp>
          <p:nvSpPr>
            <p:cNvPr id="225" name="TextBox 225"/>
            <p:cNvSpPr txBox="1"/>
            <p:nvPr/>
          </p:nvSpPr>
          <p:spPr>
            <a:xfrm>
              <a:off x="6529388" y="5500688"/>
              <a:ext cx="312420" cy="147638"/>
            </a:xfrm>
            <a:prstGeom prst="rect">
              <a:avLst/>
            </a:prstGeom>
            <a:noFill/>
            <a:ln>
              <a:noFill/>
            </a:ln>
          </p:spPr>
          <p:txBody>
            <a:bodyPr wrap="none" lIns="0" tIns="0" rIns="0" bIns="0" anchor="t" anchorCtr="0">
              <a:spAutoFit/>
            </a:bodyPr>
            <a:lstStyle/>
            <a:p>
              <a:pPr algn="l"/>
              <a:r>
                <a:rPr lang="zh-CN" sz="750" dirty="0">
                  <a:solidFill>
                    <a:srgbClr val="FFFFFF"/>
                  </a:solidFill>
                  <a:latin typeface="+mn-lt"/>
                  <a:ea typeface="+mn-ea"/>
                  <a:cs typeface="+mn-cs"/>
                </a:rPr>
                <a:t>进系统</a:t>
              </a:r>
            </a:p>
          </p:txBody>
        </p:sp>
        <p:sp>
          <p:nvSpPr>
            <p:cNvPr id="226" name="Rectangle 226"/>
            <p:cNvSpPr/>
            <p:nvPr/>
          </p:nvSpPr>
          <p:spPr>
            <a:xfrm>
              <a:off x="7010400" y="5429250"/>
              <a:ext cx="647700" cy="228600"/>
            </a:xfrm>
            <a:prstGeom prst="roundRect">
              <a:avLst>
                <a:gd name="adj" fmla="val 50000"/>
              </a:avLst>
            </a:prstGeom>
            <a:solidFill>
              <a:srgbClr val="FFFFFF">
                <a:alpha val="14000"/>
              </a:srgbClr>
            </a:solidFill>
            <a:ln w="9525">
              <a:solidFill>
                <a:srgbClr val="FF957F"/>
              </a:solidFill>
            </a:ln>
          </p:spPr>
        </p:sp>
        <p:grpSp>
          <p:nvGrpSpPr>
            <p:cNvPr id="229" name="Group 229"/>
            <p:cNvGrpSpPr/>
            <p:nvPr/>
          </p:nvGrpSpPr>
          <p:grpSpPr>
            <a:xfrm>
              <a:off x="7100888" y="5500688"/>
              <a:ext cx="85725" cy="85725"/>
              <a:chOff x="7100888" y="5500688"/>
              <a:chExt cx="85725" cy="85725"/>
            </a:xfrm>
          </p:grpSpPr>
          <p:sp>
            <p:nvSpPr>
              <p:cNvPr id="227" name="Freeform 227"/>
              <p:cNvSpPr/>
              <p:nvPr/>
            </p:nvSpPr>
            <p:spPr>
              <a:xfrm>
                <a:off x="7100888" y="5500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FF957F"/>
                </a:solidFill>
              </a:ln>
            </p:spPr>
          </p:sp>
          <p:sp>
            <p:nvSpPr>
              <p:cNvPr id="228" name="Freeform 228"/>
              <p:cNvSpPr/>
              <p:nvPr/>
            </p:nvSpPr>
            <p:spPr>
              <a:xfrm>
                <a:off x="7129462" y="5534025"/>
                <a:ext cx="28575" cy="19050"/>
              </a:xfrm>
              <a:custGeom>
                <a:avLst/>
                <a:gdLst/>
                <a:ahLst/>
                <a:cxnLst/>
                <a:rect l="l" t="t" r="r" b="b"/>
                <a:pathLst>
                  <a:path w="28575" h="19050">
                    <a:moveTo>
                      <a:pt x="0" y="9525"/>
                    </a:moveTo>
                    <a:lnTo>
                      <a:pt x="9525" y="19050"/>
                    </a:lnTo>
                    <a:lnTo>
                      <a:pt x="28575" y="0"/>
                    </a:lnTo>
                  </a:path>
                </a:pathLst>
              </a:custGeom>
              <a:noFill/>
              <a:ln w="9525">
                <a:solidFill>
                  <a:srgbClr val="FF957F"/>
                </a:solidFill>
              </a:ln>
            </p:spPr>
          </p:sp>
        </p:grpSp>
        <p:sp>
          <p:nvSpPr>
            <p:cNvPr id="230" name="TextBox 230"/>
            <p:cNvSpPr txBox="1"/>
            <p:nvPr/>
          </p:nvSpPr>
          <p:spPr>
            <a:xfrm>
              <a:off x="7253288" y="5500688"/>
              <a:ext cx="312420" cy="147638"/>
            </a:xfrm>
            <a:prstGeom prst="rect">
              <a:avLst/>
            </a:prstGeom>
            <a:noFill/>
            <a:ln>
              <a:noFill/>
            </a:ln>
          </p:spPr>
          <p:txBody>
            <a:bodyPr wrap="none" lIns="0" tIns="0" rIns="0" bIns="0" anchor="t" anchorCtr="0">
              <a:spAutoFit/>
            </a:bodyPr>
            <a:lstStyle/>
            <a:p>
              <a:pPr algn="l"/>
              <a:r>
                <a:rPr lang="zh-CN" sz="750" dirty="0">
                  <a:solidFill>
                    <a:srgbClr val="FFFFFF"/>
                  </a:solidFill>
                  <a:latin typeface="+mn-lt"/>
                  <a:ea typeface="+mn-ea"/>
                  <a:cs typeface="+mn-cs"/>
                </a:rPr>
                <a:t>用起来</a:t>
              </a:r>
            </a:p>
          </p:txBody>
        </p:sp>
        <p:sp>
          <p:nvSpPr>
            <p:cNvPr id="231" name="Rectangle 231"/>
            <p:cNvSpPr/>
            <p:nvPr/>
          </p:nvSpPr>
          <p:spPr>
            <a:xfrm>
              <a:off x="7734300" y="5429250"/>
              <a:ext cx="647700" cy="228600"/>
            </a:xfrm>
            <a:prstGeom prst="roundRect">
              <a:avLst>
                <a:gd name="adj" fmla="val 50000"/>
              </a:avLst>
            </a:prstGeom>
            <a:solidFill>
              <a:srgbClr val="FFFFFF">
                <a:alpha val="14000"/>
              </a:srgbClr>
            </a:solidFill>
            <a:ln w="9525">
              <a:solidFill>
                <a:srgbClr val="FF957F"/>
              </a:solidFill>
            </a:ln>
          </p:spPr>
        </p:sp>
        <p:grpSp>
          <p:nvGrpSpPr>
            <p:cNvPr id="234" name="Group 234"/>
            <p:cNvGrpSpPr/>
            <p:nvPr/>
          </p:nvGrpSpPr>
          <p:grpSpPr>
            <a:xfrm>
              <a:off x="7824788" y="5500688"/>
              <a:ext cx="85725" cy="85725"/>
              <a:chOff x="7824788" y="5500688"/>
              <a:chExt cx="85725" cy="85725"/>
            </a:xfrm>
          </p:grpSpPr>
          <p:sp>
            <p:nvSpPr>
              <p:cNvPr id="232" name="Freeform 232"/>
              <p:cNvSpPr/>
              <p:nvPr/>
            </p:nvSpPr>
            <p:spPr>
              <a:xfrm>
                <a:off x="7824788" y="5500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FF957F"/>
                </a:solidFill>
              </a:ln>
            </p:spPr>
          </p:sp>
          <p:sp>
            <p:nvSpPr>
              <p:cNvPr id="233" name="Freeform 233"/>
              <p:cNvSpPr/>
              <p:nvPr/>
            </p:nvSpPr>
            <p:spPr>
              <a:xfrm>
                <a:off x="7853362" y="5534025"/>
                <a:ext cx="28575" cy="19050"/>
              </a:xfrm>
              <a:custGeom>
                <a:avLst/>
                <a:gdLst/>
                <a:ahLst/>
                <a:cxnLst/>
                <a:rect l="l" t="t" r="r" b="b"/>
                <a:pathLst>
                  <a:path w="28575" h="19050">
                    <a:moveTo>
                      <a:pt x="0" y="9525"/>
                    </a:moveTo>
                    <a:lnTo>
                      <a:pt x="9525" y="19050"/>
                    </a:lnTo>
                    <a:lnTo>
                      <a:pt x="28575" y="0"/>
                    </a:lnTo>
                  </a:path>
                </a:pathLst>
              </a:custGeom>
              <a:noFill/>
              <a:ln w="9525">
                <a:solidFill>
                  <a:srgbClr val="FF957F"/>
                </a:solidFill>
              </a:ln>
            </p:spPr>
          </p:sp>
        </p:grpSp>
        <p:sp>
          <p:nvSpPr>
            <p:cNvPr id="235" name="TextBox 235"/>
            <p:cNvSpPr txBox="1"/>
            <p:nvPr/>
          </p:nvSpPr>
          <p:spPr>
            <a:xfrm>
              <a:off x="7977188" y="5500688"/>
              <a:ext cx="312420" cy="147638"/>
            </a:xfrm>
            <a:prstGeom prst="rect">
              <a:avLst/>
            </a:prstGeom>
            <a:noFill/>
            <a:ln>
              <a:noFill/>
            </a:ln>
          </p:spPr>
          <p:txBody>
            <a:bodyPr wrap="none" lIns="0" tIns="0" rIns="0" bIns="0" anchor="t" anchorCtr="0">
              <a:spAutoFit/>
            </a:bodyPr>
            <a:lstStyle/>
            <a:p>
              <a:pPr algn="l"/>
              <a:r>
                <a:rPr lang="zh-CN" sz="750" dirty="0">
                  <a:solidFill>
                    <a:srgbClr val="FFFFFF"/>
                  </a:solidFill>
                  <a:latin typeface="+mn-lt"/>
                  <a:ea typeface="+mn-ea"/>
                  <a:cs typeface="+mn-cs"/>
                </a:rPr>
                <a:t>能迭代</a:t>
              </a:r>
            </a:p>
          </p:txBody>
        </p:sp>
      </p:grpSp>
      <p:grpSp>
        <p:nvGrpSpPr>
          <p:cNvPr id="238" name="slogan"/>
          <p:cNvGrpSpPr/>
          <p:nvPr/>
        </p:nvGrpSpPr>
        <p:grpSpPr>
          <a:xfrm>
            <a:off x="414338" y="5896689"/>
            <a:ext cx="2030171" cy="154781"/>
            <a:chOff x="414338" y="5896689"/>
            <a:chExt cx="2030171" cy="154781"/>
          </a:xfrm>
        </p:grpSpPr>
        <p:sp>
          <p:nvSpPr>
            <p:cNvPr id="237" name="TextBox 237"/>
            <p:cNvSpPr txBox="1"/>
            <p:nvPr/>
          </p:nvSpPr>
          <p:spPr>
            <a:xfrm>
              <a:off x="414338" y="5896689"/>
              <a:ext cx="2030171" cy="154781"/>
            </a:xfrm>
            <a:prstGeom prst="rect">
              <a:avLst/>
            </a:prstGeom>
            <a:noFill/>
            <a:ln>
              <a:noFill/>
            </a:ln>
          </p:spPr>
          <p:txBody>
            <a:bodyPr wrap="none" lIns="0" tIns="0" rIns="0" bIns="0" anchor="t" anchorCtr="0">
              <a:spAutoFit/>
            </a:bodyPr>
            <a:lstStyle/>
            <a:p>
              <a:pPr algn="l"/>
              <a:r>
                <a:rPr lang="zh-CN" sz="790" b="1" dirty="0">
                  <a:solidFill>
                    <a:srgbClr val="9B807A"/>
                  </a:solidFill>
                  <a:latin typeface="+mn-lt"/>
                  <a:ea typeface="+mn-ea"/>
                  <a:cs typeface="+mn-cs"/>
                </a:rPr>
                <a:t>中国船舶　制造强国　数据赋能　走向深蓝</a:t>
              </a:r>
            </a:p>
          </p:txBody>
        </p:sp>
      </p:grpSp>
      <p:sp>
        <p:nvSpPr>
          <p:cNvPr id="239" name="deco-waves"/>
          <p:cNvSpPr/>
          <p:nvPr/>
        </p:nvSpPr>
        <p:spPr>
          <a:xfrm>
            <a:off x="0" y="6343650"/>
            <a:ext cx="12192000" cy="361950"/>
          </a:xfrm>
          <a:custGeom>
            <a:avLst/>
            <a:gdLst/>
            <a:ahLst/>
            <a:cxnLst/>
            <a:rect l="l" t="t" r="r" b="b"/>
            <a:pathLst>
              <a:path w="12192000" h="361950">
                <a:moveTo>
                  <a:pt x="0" y="361950"/>
                </a:moveTo>
                <a:lnTo>
                  <a:pt x="0" y="171450"/>
                </a:lnTo>
                <a:lnTo>
                  <a:pt x="1524000" y="57150"/>
                </a:lnTo>
                <a:lnTo>
                  <a:pt x="3048000" y="228600"/>
                </a:lnTo>
                <a:lnTo>
                  <a:pt x="4572000" y="38100"/>
                </a:lnTo>
                <a:lnTo>
                  <a:pt x="6096000" y="209550"/>
                </a:lnTo>
                <a:lnTo>
                  <a:pt x="7620000" y="19050"/>
                </a:lnTo>
                <a:lnTo>
                  <a:pt x="9144000" y="190500"/>
                </a:lnTo>
                <a:lnTo>
                  <a:pt x="10668000" y="0"/>
                </a:lnTo>
                <a:lnTo>
                  <a:pt x="12192000" y="152400"/>
                </a:lnTo>
                <a:lnTo>
                  <a:pt x="12192000" y="361950"/>
                </a:lnTo>
                <a:close/>
              </a:path>
            </a:pathLst>
          </a:custGeom>
          <a:solidFill>
            <a:srgbClr val="DCE9F8"/>
          </a:solidFill>
          <a:ln>
            <a:noFill/>
          </a:ln>
        </p:spPr>
      </p:sp>
      <p:grpSp>
        <p:nvGrpSpPr>
          <p:cNvPr id="243" name="footer"/>
          <p:cNvGrpSpPr/>
          <p:nvPr/>
        </p:nvGrpSpPr>
        <p:grpSpPr>
          <a:xfrm>
            <a:off x="0" y="6705600"/>
            <a:ext cx="12192000" cy="173117"/>
            <a:chOff x="0" y="6705600"/>
            <a:chExt cx="12192000" cy="173117"/>
          </a:xfrm>
        </p:grpSpPr>
        <p:sp>
          <p:nvSpPr>
            <p:cNvPr id="240" name="Rectangle 240"/>
            <p:cNvSpPr/>
            <p:nvPr/>
          </p:nvSpPr>
          <p:spPr>
            <a:xfrm>
              <a:off x="0" y="6705600"/>
              <a:ext cx="12192000" cy="152400"/>
            </a:xfrm>
            <a:prstGeom prst="rect">
              <a:avLst/>
            </a:prstGeom>
            <a:solidFill>
              <a:srgbClr val="632012"/>
            </a:solidFill>
            <a:ln>
              <a:noFill/>
            </a:ln>
          </p:spPr>
        </p:sp>
        <p:sp>
          <p:nvSpPr>
            <p:cNvPr id="241" name="TextBox 241"/>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242" name="TextBox 242"/>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12/20</a:t>
              </a:r>
            </a:p>
          </p:txBody>
        </p:sp>
      </p:gr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mountains"/>
          <p:cNvSpPr/>
          <p:nvPr/>
        </p:nvSpPr>
        <p:spPr>
          <a:xfrm>
            <a:off x="0" y="6057900"/>
            <a:ext cx="12192000" cy="647700"/>
          </a:xfrm>
          <a:custGeom>
            <a:avLst/>
            <a:gdLst/>
            <a:ahLst/>
            <a:cxnLst/>
            <a:rect l="l" t="t" r="r" b="b"/>
            <a:pathLst>
              <a:path w="12192000" h="647700">
                <a:moveTo>
                  <a:pt x="0" y="647700"/>
                </a:moveTo>
                <a:lnTo>
                  <a:pt x="0" y="304800"/>
                </a:lnTo>
                <a:lnTo>
                  <a:pt x="1333500" y="38100"/>
                </a:lnTo>
                <a:lnTo>
                  <a:pt x="2667000" y="304800"/>
                </a:lnTo>
                <a:lnTo>
                  <a:pt x="4000500" y="0"/>
                </a:lnTo>
                <a:lnTo>
                  <a:pt x="5334000" y="323850"/>
                </a:lnTo>
                <a:lnTo>
                  <a:pt x="6667500" y="76200"/>
                </a:lnTo>
                <a:lnTo>
                  <a:pt x="8001000" y="342900"/>
                </a:lnTo>
                <a:lnTo>
                  <a:pt x="9334500" y="95250"/>
                </a:lnTo>
                <a:lnTo>
                  <a:pt x="10668000" y="342900"/>
                </a:lnTo>
                <a:lnTo>
                  <a:pt x="12192000" y="133350"/>
                </a:lnTo>
                <a:lnTo>
                  <a:pt x="12192000" y="647700"/>
                </a:lnTo>
                <a:close/>
              </a:path>
            </a:pathLst>
          </a:custGeom>
          <a:solidFill>
            <a:srgbClr val="DCE9F8"/>
          </a:solidFill>
          <a:ln>
            <a:noFill/>
          </a:ln>
        </p:spPr>
      </p:sp>
      <p:sp>
        <p:nvSpPr>
          <p:cNvPr id="3" name="deco-city"/>
          <p:cNvSpPr/>
          <p:nvPr/>
        </p:nvSpPr>
        <p:spPr>
          <a:xfrm>
            <a:off x="7239000" y="6000750"/>
            <a:ext cx="4953000" cy="704850"/>
          </a:xfrm>
          <a:custGeom>
            <a:avLst/>
            <a:gdLst/>
            <a:ahLst/>
            <a:cxnLst/>
            <a:rect l="l" t="t" r="r" b="b"/>
            <a:pathLst>
              <a:path w="4953000" h="704850">
                <a:moveTo>
                  <a:pt x="0" y="704850"/>
                </a:moveTo>
                <a:lnTo>
                  <a:pt x="0" y="438150"/>
                </a:lnTo>
                <a:lnTo>
                  <a:pt x="190500" y="438150"/>
                </a:lnTo>
                <a:lnTo>
                  <a:pt x="190500" y="209550"/>
                </a:lnTo>
                <a:lnTo>
                  <a:pt x="342900" y="209550"/>
                </a:lnTo>
                <a:lnTo>
                  <a:pt x="342900" y="438150"/>
                </a:lnTo>
                <a:lnTo>
                  <a:pt x="571500" y="438150"/>
                </a:lnTo>
                <a:lnTo>
                  <a:pt x="571500" y="95250"/>
                </a:lnTo>
                <a:lnTo>
                  <a:pt x="742950" y="95250"/>
                </a:lnTo>
                <a:lnTo>
                  <a:pt x="742950" y="438150"/>
                </a:lnTo>
                <a:lnTo>
                  <a:pt x="952500" y="438150"/>
                </a:lnTo>
                <a:lnTo>
                  <a:pt x="952500" y="285750"/>
                </a:lnTo>
                <a:lnTo>
                  <a:pt x="1143000" y="285750"/>
                </a:lnTo>
                <a:lnTo>
                  <a:pt x="1143000" y="438150"/>
                </a:lnTo>
                <a:lnTo>
                  <a:pt x="1371600" y="438150"/>
                </a:lnTo>
                <a:lnTo>
                  <a:pt x="1371600" y="0"/>
                </a:lnTo>
                <a:lnTo>
                  <a:pt x="1543050" y="0"/>
                </a:lnTo>
                <a:lnTo>
                  <a:pt x="1543050" y="438150"/>
                </a:lnTo>
                <a:lnTo>
                  <a:pt x="1809750" y="438150"/>
                </a:lnTo>
                <a:lnTo>
                  <a:pt x="1809750" y="323850"/>
                </a:lnTo>
                <a:lnTo>
                  <a:pt x="2019300" y="323850"/>
                </a:lnTo>
                <a:lnTo>
                  <a:pt x="2019300" y="438150"/>
                </a:lnTo>
                <a:lnTo>
                  <a:pt x="2286000" y="438150"/>
                </a:lnTo>
                <a:lnTo>
                  <a:pt x="2286000" y="152400"/>
                </a:lnTo>
                <a:lnTo>
                  <a:pt x="2457450" y="152400"/>
                </a:lnTo>
                <a:lnTo>
                  <a:pt x="2457450" y="438150"/>
                </a:lnTo>
                <a:lnTo>
                  <a:pt x="2762250" y="438150"/>
                </a:lnTo>
                <a:lnTo>
                  <a:pt x="2762250" y="247650"/>
                </a:lnTo>
                <a:lnTo>
                  <a:pt x="2952750" y="247650"/>
                </a:lnTo>
                <a:lnTo>
                  <a:pt x="2952750" y="438150"/>
                </a:lnTo>
                <a:lnTo>
                  <a:pt x="3238500" y="438150"/>
                </a:lnTo>
                <a:lnTo>
                  <a:pt x="3238500" y="57150"/>
                </a:lnTo>
                <a:lnTo>
                  <a:pt x="3429000" y="57150"/>
                </a:lnTo>
                <a:lnTo>
                  <a:pt x="3429000" y="438150"/>
                </a:lnTo>
                <a:lnTo>
                  <a:pt x="3714750" y="438150"/>
                </a:lnTo>
                <a:lnTo>
                  <a:pt x="3714750" y="342900"/>
                </a:lnTo>
                <a:lnTo>
                  <a:pt x="3962400" y="342900"/>
                </a:lnTo>
                <a:lnTo>
                  <a:pt x="3962400" y="438150"/>
                </a:lnTo>
                <a:lnTo>
                  <a:pt x="4286250" y="438150"/>
                </a:lnTo>
                <a:lnTo>
                  <a:pt x="4286250" y="209550"/>
                </a:lnTo>
                <a:lnTo>
                  <a:pt x="4457700" y="209550"/>
                </a:lnTo>
                <a:lnTo>
                  <a:pt x="4457700" y="438150"/>
                </a:lnTo>
                <a:lnTo>
                  <a:pt x="4953000" y="438150"/>
                </a:lnTo>
                <a:lnTo>
                  <a:pt x="4953000" y="704850"/>
                </a:lnTo>
                <a:close/>
              </a:path>
            </a:pathLst>
          </a:custGeom>
          <a:solidFill>
            <a:srgbClr val="ECB3A8"/>
          </a:solidFill>
          <a:ln>
            <a:noFill/>
          </a:ln>
        </p:spPr>
      </p:sp>
      <p:grpSp>
        <p:nvGrpSpPr>
          <p:cNvPr id="11" name="header"/>
          <p:cNvGrpSpPr/>
          <p:nvPr/>
        </p:nvGrpSpPr>
        <p:grpSpPr>
          <a:xfrm>
            <a:off x="0" y="0"/>
            <a:ext cx="11739563" cy="551879"/>
            <a:chOff x="0" y="0"/>
            <a:chExt cx="11739563" cy="551879"/>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5" name="TextBox 5"/>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13</a:t>
              </a:r>
            </a:p>
          </p:txBody>
        </p:sp>
        <p:sp>
          <p:nvSpPr>
            <p:cNvPr id="6" name="TextBox 6"/>
            <p:cNvSpPr txBox="1"/>
            <p:nvPr/>
          </p:nvSpPr>
          <p:spPr>
            <a:xfrm>
              <a:off x="942594" y="170498"/>
              <a:ext cx="5844540"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地方国企对照</a:t>
              </a:r>
              <a:r>
                <a:rPr lang="zh-CN" sz="1950" b="1" dirty="0">
                  <a:solidFill>
                    <a:srgbClr val="5E2114"/>
                  </a:solidFill>
                  <a:latin typeface="+mj-lt"/>
                  <a:ea typeface="+mj-ea"/>
                  <a:cs typeface="+mj-cs"/>
                </a:rPr>
                <a:t>｜四百余场景如何汇总为经营价值</a:t>
              </a:r>
            </a:p>
          </p:txBody>
        </p:sp>
        <p:sp>
          <p:nvSpPr>
            <p:cNvPr id="7" name="Line 7"/>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8" name="TextBox 8"/>
            <p:cNvSpPr txBox="1"/>
            <p:nvPr/>
          </p:nvSpPr>
          <p:spPr>
            <a:xfrm>
              <a:off x="11180788" y="79534"/>
              <a:ext cx="558775"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对标公开实践</a:t>
              </a:r>
            </a:p>
          </p:txBody>
        </p:sp>
        <p:sp>
          <p:nvSpPr>
            <p:cNvPr id="9" name="TextBox 9"/>
            <p:cNvSpPr txBox="1"/>
            <p:nvPr/>
          </p:nvSpPr>
          <p:spPr>
            <a:xfrm>
              <a:off x="11180788" y="212884"/>
              <a:ext cx="558775"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提炼方法路径</a:t>
              </a:r>
            </a:p>
          </p:txBody>
        </p:sp>
        <p:sp>
          <p:nvSpPr>
            <p:cNvPr id="10" name="TextBox 10"/>
            <p:cNvSpPr txBox="1"/>
            <p:nvPr/>
          </p:nvSpPr>
          <p:spPr>
            <a:xfrm>
              <a:off x="11089246" y="346234"/>
              <a:ext cx="650316"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服务高质量发展</a:t>
              </a:r>
            </a:p>
          </p:txBody>
        </p:sp>
      </p:grpSp>
      <p:grpSp>
        <p:nvGrpSpPr>
          <p:cNvPr id="13" name="subtitle"/>
          <p:cNvGrpSpPr/>
          <p:nvPr/>
        </p:nvGrpSpPr>
        <p:grpSpPr>
          <a:xfrm>
            <a:off x="985647" y="656749"/>
            <a:ext cx="5155082" cy="190690"/>
            <a:chOff x="985647" y="656749"/>
            <a:chExt cx="5155082" cy="190690"/>
          </a:xfrm>
        </p:grpSpPr>
        <p:sp>
          <p:nvSpPr>
            <p:cNvPr id="12" name="TextBox 12"/>
            <p:cNvSpPr txBox="1"/>
            <p:nvPr/>
          </p:nvSpPr>
          <p:spPr>
            <a:xfrm>
              <a:off x="985647" y="656749"/>
              <a:ext cx="5155082" cy="190690"/>
            </a:xfrm>
            <a:prstGeom prst="rect">
              <a:avLst/>
            </a:prstGeom>
            <a:noFill/>
            <a:ln>
              <a:noFill/>
            </a:ln>
          </p:spPr>
          <p:txBody>
            <a:bodyPr wrap="none" lIns="0" tIns="0" rIns="0" bIns="0" anchor="t" anchorCtr="0">
              <a:spAutoFit/>
            </a:bodyPr>
            <a:lstStyle/>
            <a:p>
              <a:pPr algn="l"/>
              <a:r>
                <a:rPr lang="zh-CN" sz="980" dirty="0">
                  <a:solidFill>
                    <a:srgbClr val="9C331E"/>
                  </a:solidFill>
                  <a:latin typeface="+mn-lt"/>
                  <a:ea typeface="+mn-ea"/>
                  <a:cs typeface="+mn-cs"/>
                </a:rPr>
                <a:t>以公开信息为基础，梳理地方国企在场景应用与价值实现方面的做法与口径，供对照参考</a:t>
              </a:r>
            </a:p>
          </p:txBody>
        </p:sp>
      </p:grpSp>
      <p:grpSp>
        <p:nvGrpSpPr>
          <p:cNvPr id="21" name="shandong-card"/>
          <p:cNvGrpSpPr/>
          <p:nvPr/>
        </p:nvGrpSpPr>
        <p:grpSpPr>
          <a:xfrm>
            <a:off x="381000" y="914400"/>
            <a:ext cx="4762500" cy="914400"/>
            <a:chOff x="381000" y="914400"/>
            <a:chExt cx="4762500" cy="914400"/>
          </a:xfrm>
        </p:grpSpPr>
        <p:sp>
          <p:nvSpPr>
            <p:cNvPr id="14" name="Rectangle 14"/>
            <p:cNvSpPr/>
            <p:nvPr/>
          </p:nvSpPr>
          <p:spPr>
            <a:xfrm>
              <a:off x="381000" y="914400"/>
              <a:ext cx="4762500" cy="914400"/>
            </a:xfrm>
            <a:prstGeom prst="roundRect">
              <a:avLst>
                <a:gd name="adj" fmla="val 6250"/>
              </a:avLst>
            </a:prstGeom>
            <a:gradFill>
              <a:gsLst>
                <a:gs pos="0">
                  <a:srgbClr val="632012"/>
                </a:gs>
                <a:gs pos="100000">
                  <a:srgbClr val="9C331E"/>
                </a:gs>
              </a:gsLst>
              <a:lin ang="5400000" scaled="1"/>
            </a:gradFill>
            <a:ln>
              <a:noFill/>
            </a:ln>
          </p:spPr>
        </p:sp>
        <p:sp>
          <p:nvSpPr>
            <p:cNvPr id="15" name="Freeform 15"/>
            <p:cNvSpPr/>
            <p:nvPr/>
          </p:nvSpPr>
          <p:spPr>
            <a:xfrm>
              <a:off x="565150" y="933450"/>
              <a:ext cx="1136650" cy="730250"/>
            </a:xfrm>
            <a:custGeom>
              <a:avLst/>
              <a:gdLst/>
              <a:ahLst/>
              <a:cxnLst/>
              <a:rect l="l" t="t" r="r" b="b"/>
              <a:pathLst>
                <a:path w="1136650" h="730250">
                  <a:moveTo>
                    <a:pt x="25400" y="285750"/>
                  </a:moveTo>
                  <a:cubicBezTo>
                    <a:pt x="114300" y="171450"/>
                    <a:pt x="241300" y="127000"/>
                    <a:pt x="406400" y="152400"/>
                  </a:cubicBezTo>
                  <a:cubicBezTo>
                    <a:pt x="546100" y="165100"/>
                    <a:pt x="654050" y="139700"/>
                    <a:pt x="730250" y="76200"/>
                  </a:cubicBezTo>
                  <a:cubicBezTo>
                    <a:pt x="844550" y="0"/>
                    <a:pt x="958850" y="6350"/>
                    <a:pt x="1073150" y="95250"/>
                  </a:cubicBezTo>
                  <a:cubicBezTo>
                    <a:pt x="1136650" y="171450"/>
                    <a:pt x="1123950" y="241300"/>
                    <a:pt x="1035050" y="304800"/>
                  </a:cubicBezTo>
                  <a:cubicBezTo>
                    <a:pt x="958850" y="355600"/>
                    <a:pt x="889000" y="425450"/>
                    <a:pt x="825500" y="514350"/>
                  </a:cubicBezTo>
                  <a:cubicBezTo>
                    <a:pt x="774700" y="615950"/>
                    <a:pt x="679450" y="679450"/>
                    <a:pt x="539750" y="704850"/>
                  </a:cubicBezTo>
                  <a:cubicBezTo>
                    <a:pt x="374650" y="730250"/>
                    <a:pt x="241300" y="698500"/>
                    <a:pt x="139700" y="609600"/>
                  </a:cubicBezTo>
                  <a:cubicBezTo>
                    <a:pt x="38100" y="520700"/>
                    <a:pt x="0" y="412750"/>
                    <a:pt x="25400" y="285750"/>
                  </a:cubicBezTo>
                  <a:close/>
                </a:path>
              </a:pathLst>
            </a:custGeom>
            <a:solidFill>
              <a:srgbClr val="DE715B">
                <a:alpha val="75000"/>
              </a:srgbClr>
            </a:solidFill>
            <a:ln>
              <a:noFill/>
            </a:ln>
          </p:spPr>
        </p:sp>
        <p:sp>
          <p:nvSpPr>
            <p:cNvPr id="16" name="TextBox 16"/>
            <p:cNvSpPr txBox="1"/>
            <p:nvPr/>
          </p:nvSpPr>
          <p:spPr>
            <a:xfrm>
              <a:off x="1023747" y="1323499"/>
              <a:ext cx="273761"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山东</a:t>
              </a:r>
            </a:p>
          </p:txBody>
        </p:sp>
        <p:sp>
          <p:nvSpPr>
            <p:cNvPr id="17" name="TextBox 17"/>
            <p:cNvSpPr txBox="1"/>
            <p:nvPr/>
          </p:nvSpPr>
          <p:spPr>
            <a:xfrm>
              <a:off x="1823085" y="1078706"/>
              <a:ext cx="1519174"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山东省属国企公开口径</a:t>
              </a:r>
            </a:p>
          </p:txBody>
        </p:sp>
        <p:sp>
          <p:nvSpPr>
            <p:cNvPr id="18" name="Rectangle 18"/>
            <p:cNvSpPr/>
            <p:nvPr/>
          </p:nvSpPr>
          <p:spPr>
            <a:xfrm>
              <a:off x="1828800" y="1295400"/>
              <a:ext cx="1676400" cy="171450"/>
            </a:xfrm>
            <a:prstGeom prst="roundRect">
              <a:avLst>
                <a:gd name="adj" fmla="val 50000"/>
              </a:avLst>
            </a:prstGeom>
            <a:solidFill>
              <a:srgbClr val="FFFFFF">
                <a:alpha val="16000"/>
              </a:srgbClr>
            </a:solidFill>
            <a:ln>
              <a:noFill/>
            </a:ln>
          </p:spPr>
        </p:sp>
        <p:sp>
          <p:nvSpPr>
            <p:cNvPr id="19" name="TextBox 19"/>
            <p:cNvSpPr txBox="1"/>
            <p:nvPr/>
          </p:nvSpPr>
          <p:spPr>
            <a:xfrm>
              <a:off x="1993176" y="1342311"/>
              <a:ext cx="1347648" cy="140494"/>
            </a:xfrm>
            <a:prstGeom prst="rect">
              <a:avLst/>
            </a:prstGeom>
            <a:noFill/>
            <a:ln>
              <a:noFill/>
            </a:ln>
          </p:spPr>
          <p:txBody>
            <a:bodyPr wrap="none" lIns="0" tIns="0" rIns="0" bIns="0" anchor="t" anchorCtr="0">
              <a:spAutoFit/>
            </a:bodyPr>
            <a:lstStyle/>
            <a:p>
              <a:pPr algn="ctr"/>
              <a:r>
                <a:rPr lang="zh-CN" sz="710" dirty="0">
                  <a:solidFill>
                    <a:srgbClr val="DCE9F8"/>
                  </a:solidFill>
                  <a:latin typeface="+mn-lt"/>
                  <a:ea typeface="+mn-ea"/>
                  <a:cs typeface="+mn-cs"/>
                </a:rPr>
                <a:t>外部对照，不属于央企百项清单</a:t>
              </a:r>
            </a:p>
          </p:txBody>
        </p:sp>
        <p:sp>
          <p:nvSpPr>
            <p:cNvPr id="20" name="TextBox 20"/>
            <p:cNvSpPr txBox="1"/>
            <p:nvPr/>
          </p:nvSpPr>
          <p:spPr>
            <a:xfrm>
              <a:off x="1824038" y="1584484"/>
              <a:ext cx="2755773"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以公开报道为准，主要来自山东省政府国资委及省属企业公开信息。</a:t>
              </a:r>
            </a:p>
          </p:txBody>
        </p:sp>
      </p:grpSp>
      <p:grpSp>
        <p:nvGrpSpPr>
          <p:cNvPr id="33" name="stat-1"/>
          <p:cNvGrpSpPr/>
          <p:nvPr/>
        </p:nvGrpSpPr>
        <p:grpSpPr>
          <a:xfrm>
            <a:off x="5295900" y="914400"/>
            <a:ext cx="2000250" cy="914400"/>
            <a:chOff x="5295900" y="914400"/>
            <a:chExt cx="2000250" cy="914400"/>
          </a:xfrm>
        </p:grpSpPr>
        <p:sp>
          <p:nvSpPr>
            <p:cNvPr id="22" name="Rectangle 22"/>
            <p:cNvSpPr/>
            <p:nvPr/>
          </p:nvSpPr>
          <p:spPr>
            <a:xfrm>
              <a:off x="5295900" y="914400"/>
              <a:ext cx="2000250" cy="914400"/>
            </a:xfrm>
            <a:prstGeom prst="roundRect">
              <a:avLst>
                <a:gd name="adj" fmla="val 6250"/>
              </a:avLst>
            </a:prstGeom>
            <a:solidFill>
              <a:srgbClr val="FFFFFF"/>
            </a:solidFill>
            <a:ln w="9525">
              <a:solidFill>
                <a:srgbClr val="C7D9F0"/>
              </a:solidFill>
            </a:ln>
          </p:spPr>
        </p:sp>
        <p:sp>
          <p:nvSpPr>
            <p:cNvPr id="23" name="Ellipse 23"/>
            <p:cNvSpPr/>
            <p:nvPr/>
          </p:nvSpPr>
          <p:spPr>
            <a:xfrm>
              <a:off x="5429250" y="1123950"/>
              <a:ext cx="495300" cy="495300"/>
            </a:xfrm>
            <a:prstGeom prst="ellipse">
              <a:avLst/>
            </a:prstGeom>
            <a:solidFill>
              <a:srgbClr val="9C331E"/>
            </a:solidFill>
            <a:ln>
              <a:noFill/>
            </a:ln>
          </p:spPr>
        </p:sp>
        <p:grpSp>
          <p:nvGrpSpPr>
            <p:cNvPr id="29" name="Group 29"/>
            <p:cNvGrpSpPr/>
            <p:nvPr/>
          </p:nvGrpSpPr>
          <p:grpSpPr>
            <a:xfrm>
              <a:off x="5604669" y="1278731"/>
              <a:ext cx="144462" cy="185737"/>
              <a:chOff x="5604669" y="1278731"/>
              <a:chExt cx="144462" cy="185737"/>
            </a:xfrm>
          </p:grpSpPr>
          <p:sp>
            <p:nvSpPr>
              <p:cNvPr id="24" name="Freeform 24"/>
              <p:cNvSpPr/>
              <p:nvPr/>
            </p:nvSpPr>
            <p:spPr>
              <a:xfrm>
                <a:off x="5697537" y="1278731"/>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FFFFFF"/>
                </a:solidFill>
              </a:ln>
            </p:spPr>
          </p:sp>
          <p:sp>
            <p:nvSpPr>
              <p:cNvPr id="25" name="Freeform 25"/>
              <p:cNvSpPr/>
              <p:nvPr/>
            </p:nvSpPr>
            <p:spPr>
              <a:xfrm>
                <a:off x="5604669" y="1278731"/>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FFFFFF"/>
                </a:solidFill>
              </a:ln>
            </p:spPr>
          </p:sp>
          <p:sp>
            <p:nvSpPr>
              <p:cNvPr id="26" name="Freeform 26"/>
              <p:cNvSpPr/>
              <p:nvPr/>
            </p:nvSpPr>
            <p:spPr>
              <a:xfrm>
                <a:off x="5645943" y="1340643"/>
                <a:ext cx="10319" cy="9525"/>
              </a:xfrm>
              <a:custGeom>
                <a:avLst/>
                <a:gdLst/>
                <a:ahLst/>
                <a:cxnLst/>
                <a:rect l="l" t="t" r="r" b="b"/>
                <a:pathLst>
                  <a:path w="10319" h="9525">
                    <a:moveTo>
                      <a:pt x="0" y="0"/>
                    </a:moveTo>
                    <a:lnTo>
                      <a:pt x="10319" y="0"/>
                    </a:lnTo>
                  </a:path>
                </a:pathLst>
              </a:custGeom>
              <a:noFill/>
              <a:ln w="20637">
                <a:solidFill>
                  <a:srgbClr val="FFFFFF"/>
                </a:solidFill>
              </a:ln>
            </p:spPr>
          </p:sp>
          <p:sp>
            <p:nvSpPr>
              <p:cNvPr id="27" name="Freeform 27"/>
              <p:cNvSpPr/>
              <p:nvPr/>
            </p:nvSpPr>
            <p:spPr>
              <a:xfrm>
                <a:off x="5645943" y="1381918"/>
                <a:ext cx="61912" cy="9525"/>
              </a:xfrm>
              <a:custGeom>
                <a:avLst/>
                <a:gdLst/>
                <a:ahLst/>
                <a:cxnLst/>
                <a:rect l="l" t="t" r="r" b="b"/>
                <a:pathLst>
                  <a:path w="61912" h="9525">
                    <a:moveTo>
                      <a:pt x="0" y="0"/>
                    </a:moveTo>
                    <a:lnTo>
                      <a:pt x="61912" y="0"/>
                    </a:lnTo>
                  </a:path>
                </a:pathLst>
              </a:custGeom>
              <a:noFill/>
              <a:ln w="20637">
                <a:solidFill>
                  <a:srgbClr val="FFFFFF"/>
                </a:solidFill>
              </a:ln>
            </p:spPr>
          </p:sp>
          <p:sp>
            <p:nvSpPr>
              <p:cNvPr id="28" name="Freeform 28"/>
              <p:cNvSpPr/>
              <p:nvPr/>
            </p:nvSpPr>
            <p:spPr>
              <a:xfrm>
                <a:off x="5645943" y="1423193"/>
                <a:ext cx="61912" cy="9525"/>
              </a:xfrm>
              <a:custGeom>
                <a:avLst/>
                <a:gdLst/>
                <a:ahLst/>
                <a:cxnLst/>
                <a:rect l="l" t="t" r="r" b="b"/>
                <a:pathLst>
                  <a:path w="61912" h="9525">
                    <a:moveTo>
                      <a:pt x="0" y="0"/>
                    </a:moveTo>
                    <a:lnTo>
                      <a:pt x="61912" y="0"/>
                    </a:lnTo>
                  </a:path>
                </a:pathLst>
              </a:custGeom>
              <a:noFill/>
              <a:ln w="20637">
                <a:solidFill>
                  <a:srgbClr val="FFFFFF"/>
                </a:solidFill>
              </a:ln>
            </p:spPr>
          </p:sp>
        </p:grpSp>
        <p:sp>
          <p:nvSpPr>
            <p:cNvPr id="30" name="TextBox 30"/>
            <p:cNvSpPr txBox="1"/>
            <p:nvPr/>
          </p:nvSpPr>
          <p:spPr>
            <a:xfrm>
              <a:off x="6030468" y="1117282"/>
              <a:ext cx="974114" cy="322707"/>
            </a:xfrm>
            <a:prstGeom prst="rect">
              <a:avLst/>
            </a:prstGeom>
            <a:noFill/>
            <a:ln>
              <a:noFill/>
            </a:ln>
          </p:spPr>
          <p:txBody>
            <a:bodyPr wrap="none" lIns="0" tIns="0" rIns="0" bIns="0" anchor="t" anchorCtr="0">
              <a:spAutoFit/>
            </a:bodyPr>
            <a:lstStyle/>
            <a:p>
              <a:pPr algn="l"/>
              <a:r>
                <a:rPr lang="zh-CN" sz="1650" b="1" dirty="0">
                  <a:solidFill>
                    <a:srgbClr val="9C331E"/>
                  </a:solidFill>
                  <a:latin typeface="+mn-lt"/>
                  <a:ea typeface="+mn-ea"/>
                  <a:cs typeface="+mn-cs"/>
                </a:rPr>
                <a:t>400余个​</a:t>
              </a:r>
            </a:p>
          </p:txBody>
        </p:sp>
        <p:sp>
          <p:nvSpPr>
            <p:cNvPr id="31" name="TextBox 31"/>
            <p:cNvSpPr txBox="1"/>
            <p:nvPr/>
          </p:nvSpPr>
          <p:spPr>
            <a:xfrm>
              <a:off x="6033897" y="1380649"/>
              <a:ext cx="273761"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场景</a:t>
              </a:r>
            </a:p>
          </p:txBody>
        </p:sp>
        <p:sp>
          <p:nvSpPr>
            <p:cNvPr id="32" name="TextBox 32"/>
            <p:cNvSpPr txBox="1"/>
            <p:nvPr/>
          </p:nvSpPr>
          <p:spPr>
            <a:xfrm>
              <a:off x="6034088" y="1626632"/>
              <a:ext cx="957250"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在多家省属企业落地应用</a:t>
              </a:r>
            </a:p>
          </p:txBody>
        </p:sp>
      </p:grpSp>
      <p:grpSp>
        <p:nvGrpSpPr>
          <p:cNvPr id="45" name="stat-2"/>
          <p:cNvGrpSpPr/>
          <p:nvPr/>
        </p:nvGrpSpPr>
        <p:grpSpPr>
          <a:xfrm>
            <a:off x="7391400" y="914400"/>
            <a:ext cx="2000250" cy="914400"/>
            <a:chOff x="7391400" y="914400"/>
            <a:chExt cx="2000250" cy="914400"/>
          </a:xfrm>
        </p:grpSpPr>
        <p:sp>
          <p:nvSpPr>
            <p:cNvPr id="34" name="Rectangle 34"/>
            <p:cNvSpPr/>
            <p:nvPr/>
          </p:nvSpPr>
          <p:spPr>
            <a:xfrm>
              <a:off x="7391400" y="914400"/>
              <a:ext cx="2000250" cy="914400"/>
            </a:xfrm>
            <a:prstGeom prst="roundRect">
              <a:avLst>
                <a:gd name="adj" fmla="val 6250"/>
              </a:avLst>
            </a:prstGeom>
            <a:solidFill>
              <a:srgbClr val="FFFFFF"/>
            </a:solidFill>
            <a:ln w="9525">
              <a:solidFill>
                <a:srgbClr val="C7D9F0"/>
              </a:solidFill>
            </a:ln>
          </p:spPr>
        </p:sp>
        <p:sp>
          <p:nvSpPr>
            <p:cNvPr id="35" name="Ellipse 35"/>
            <p:cNvSpPr/>
            <p:nvPr/>
          </p:nvSpPr>
          <p:spPr>
            <a:xfrm>
              <a:off x="7524750" y="1123950"/>
              <a:ext cx="495300" cy="495300"/>
            </a:xfrm>
            <a:prstGeom prst="ellipse">
              <a:avLst/>
            </a:prstGeom>
            <a:solidFill>
              <a:srgbClr val="9C331E"/>
            </a:solidFill>
            <a:ln>
              <a:noFill/>
            </a:ln>
          </p:spPr>
        </p:sp>
        <p:grpSp>
          <p:nvGrpSpPr>
            <p:cNvPr id="41" name="Group 41"/>
            <p:cNvGrpSpPr/>
            <p:nvPr/>
          </p:nvGrpSpPr>
          <p:grpSpPr>
            <a:xfrm>
              <a:off x="7679531" y="1277348"/>
              <a:ext cx="185737" cy="187120"/>
              <a:chOff x="7679531" y="1277348"/>
              <a:chExt cx="185737" cy="187120"/>
            </a:xfrm>
          </p:grpSpPr>
          <p:sp>
            <p:nvSpPr>
              <p:cNvPr id="36" name="Freeform 36"/>
              <p:cNvSpPr/>
              <p:nvPr/>
            </p:nvSpPr>
            <p:spPr>
              <a:xfrm>
                <a:off x="7741443" y="1361281"/>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FFFFFF"/>
                </a:solidFill>
              </a:ln>
            </p:spPr>
          </p:sp>
          <p:sp>
            <p:nvSpPr>
              <p:cNvPr id="37" name="Freeform 37"/>
              <p:cNvSpPr/>
              <p:nvPr/>
            </p:nvSpPr>
            <p:spPr>
              <a:xfrm>
                <a:off x="7741443" y="1392237"/>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FFFFFF"/>
                </a:solidFill>
              </a:ln>
            </p:spPr>
          </p:sp>
          <p:sp>
            <p:nvSpPr>
              <p:cNvPr id="38" name="Freeform 38"/>
              <p:cNvSpPr/>
              <p:nvPr/>
            </p:nvSpPr>
            <p:spPr>
              <a:xfrm>
                <a:off x="7679531" y="1277348"/>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FFFFFF"/>
                </a:solidFill>
              </a:ln>
            </p:spPr>
          </p:sp>
          <p:sp>
            <p:nvSpPr>
              <p:cNvPr id="39" name="Freeform 39"/>
              <p:cNvSpPr/>
              <p:nvPr/>
            </p:nvSpPr>
            <p:spPr>
              <a:xfrm>
                <a:off x="7679531" y="1309687"/>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FFFFFF"/>
                </a:solidFill>
              </a:ln>
            </p:spPr>
          </p:sp>
          <p:sp>
            <p:nvSpPr>
              <p:cNvPr id="40" name="Freeform 40"/>
              <p:cNvSpPr/>
              <p:nvPr/>
            </p:nvSpPr>
            <p:spPr>
              <a:xfrm>
                <a:off x="7679531" y="1361281"/>
                <a:ext cx="20637" cy="20637"/>
              </a:xfrm>
              <a:custGeom>
                <a:avLst/>
                <a:gdLst/>
                <a:ahLst/>
                <a:cxnLst/>
                <a:rect l="l" t="t" r="r" b="b"/>
                <a:pathLst>
                  <a:path w="20637" h="20637">
                    <a:moveTo>
                      <a:pt x="0" y="0"/>
                    </a:moveTo>
                    <a:cubicBezTo>
                      <a:pt x="0" y="9163"/>
                      <a:pt x="7966" y="14962"/>
                      <a:pt x="20637" y="20637"/>
                    </a:cubicBezTo>
                  </a:path>
                </a:pathLst>
              </a:custGeom>
              <a:noFill/>
              <a:ln w="20637">
                <a:solidFill>
                  <a:srgbClr val="FFFFFF"/>
                </a:solidFill>
              </a:ln>
            </p:spPr>
          </p:sp>
        </p:grpSp>
        <p:sp>
          <p:nvSpPr>
            <p:cNvPr id="42" name="TextBox 42"/>
            <p:cNvSpPr txBox="1"/>
            <p:nvPr/>
          </p:nvSpPr>
          <p:spPr>
            <a:xfrm>
              <a:off x="8129588" y="1130141"/>
              <a:ext cx="782244"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直接创效与节支</a:t>
              </a:r>
            </a:p>
          </p:txBody>
        </p:sp>
        <p:sp>
          <p:nvSpPr>
            <p:cNvPr id="43" name="TextBox 43"/>
            <p:cNvSpPr txBox="1"/>
            <p:nvPr/>
          </p:nvSpPr>
          <p:spPr>
            <a:xfrm>
              <a:off x="8125968" y="1288732"/>
              <a:ext cx="1161808" cy="322707"/>
            </a:xfrm>
            <a:prstGeom prst="rect">
              <a:avLst/>
            </a:prstGeom>
            <a:noFill/>
            <a:ln>
              <a:noFill/>
            </a:ln>
          </p:spPr>
          <p:txBody>
            <a:bodyPr wrap="none" lIns="0" tIns="0" rIns="0" bIns="0" anchor="t" anchorCtr="0">
              <a:spAutoFit/>
            </a:bodyPr>
            <a:lstStyle/>
            <a:p>
              <a:pPr algn="l"/>
              <a:r>
                <a:rPr lang="zh-CN" sz="1650" b="1" dirty="0">
                  <a:solidFill>
                    <a:srgbClr val="9C331E"/>
                  </a:solidFill>
                  <a:latin typeface="+mn-lt"/>
                  <a:ea typeface="+mn-ea"/>
                  <a:cs typeface="+mn-cs"/>
                </a:rPr>
                <a:t>超过7亿元​</a:t>
              </a:r>
            </a:p>
          </p:txBody>
        </p:sp>
        <p:sp>
          <p:nvSpPr>
            <p:cNvPr id="44" name="TextBox 44"/>
            <p:cNvSpPr txBox="1"/>
            <p:nvPr/>
          </p:nvSpPr>
          <p:spPr>
            <a:xfrm>
              <a:off x="8129588" y="1626632"/>
              <a:ext cx="871093"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形成可核实的经营价值</a:t>
              </a:r>
            </a:p>
          </p:txBody>
        </p:sp>
      </p:grpSp>
      <p:grpSp>
        <p:nvGrpSpPr>
          <p:cNvPr id="48" name="slogan-card"/>
          <p:cNvGrpSpPr/>
          <p:nvPr/>
        </p:nvGrpSpPr>
        <p:grpSpPr>
          <a:xfrm>
            <a:off x="9486900" y="914400"/>
            <a:ext cx="2324100" cy="914400"/>
            <a:chOff x="9486900" y="914400"/>
            <a:chExt cx="2324100" cy="914400"/>
          </a:xfrm>
        </p:grpSpPr>
        <p:sp>
          <p:nvSpPr>
            <p:cNvPr id="46" name="Rectangle 46"/>
            <p:cNvSpPr/>
            <p:nvPr/>
          </p:nvSpPr>
          <p:spPr>
            <a:xfrm>
              <a:off x="9486900" y="914400"/>
              <a:ext cx="2324100" cy="914400"/>
            </a:xfrm>
            <a:prstGeom prst="roundRect">
              <a:avLst>
                <a:gd name="adj" fmla="val 6250"/>
              </a:avLst>
            </a:prstGeom>
            <a:solidFill>
              <a:srgbClr val="EFF5FC"/>
            </a:solidFill>
            <a:ln w="9525">
              <a:solidFill>
                <a:srgbClr val="C7D9F0"/>
              </a:solidFill>
            </a:ln>
          </p:spPr>
        </p:sp>
        <p:sp>
          <p:nvSpPr>
            <p:cNvPr id="47" name="TextBox 47"/>
            <p:cNvSpPr txBox="1"/>
            <p:nvPr/>
          </p:nvSpPr>
          <p:spPr>
            <a:xfrm>
              <a:off x="10132197" y="1117997"/>
              <a:ext cx="1033507" cy="602456"/>
            </a:xfrm>
            <a:prstGeom prst="rect">
              <a:avLst/>
            </a:prstGeom>
            <a:noFill/>
            <a:ln>
              <a:noFill/>
            </a:ln>
          </p:spPr>
          <p:txBody>
            <a:bodyPr wrap="none" lIns="0" tIns="0" rIns="0" bIns="0" anchor="t" anchorCtr="0">
              <a:spAutoFit/>
            </a:bodyPr>
            <a:lstStyle/>
            <a:p>
              <a:pPr algn="ctr">
                <a:lnSpc>
                  <a:spcPts val="1650"/>
                </a:lnSpc>
              </a:pPr>
              <a:r>
                <a:rPr lang="zh-CN" sz="940" b="1" dirty="0">
                  <a:solidFill>
                    <a:srgbClr val="5E2114"/>
                  </a:solidFill>
                  <a:latin typeface="+mn-lt"/>
                  <a:ea typeface="+mn-ea"/>
                  <a:cs typeface="+mn-cs"/>
                </a:rPr>
                <a:t>从场景到价值</a:t>
              </a:r>
              <a:br/>
              <a:r>
                <a:rPr lang="zh-CN" sz="940" b="1" dirty="0">
                  <a:solidFill>
                    <a:srgbClr val="5E2114"/>
                  </a:solidFill>
                  <a:latin typeface="+mn-lt"/>
                  <a:ea typeface="+mn-ea"/>
                  <a:cs typeface="+mn-cs"/>
                </a:rPr>
                <a:t>以公开口径为参照​</a:t>
              </a:r>
              <a:br/>
              <a:r>
                <a:rPr lang="zh-CN" sz="940" b="1" dirty="0">
                  <a:solidFill>
                    <a:srgbClr val="5E2114"/>
                  </a:solidFill>
                  <a:latin typeface="+mn-lt"/>
                  <a:ea typeface="+mn-ea"/>
                  <a:cs typeface="+mn-cs"/>
                </a:rPr>
                <a:t>探索可复制的方法​</a:t>
              </a:r>
            </a:p>
          </p:txBody>
        </p:sp>
      </p:grpSp>
      <p:grpSp>
        <p:nvGrpSpPr>
          <p:cNvPr id="85" name="formula-band"/>
          <p:cNvGrpSpPr/>
          <p:nvPr/>
        </p:nvGrpSpPr>
        <p:grpSpPr>
          <a:xfrm>
            <a:off x="381000" y="1962150"/>
            <a:ext cx="11430000" cy="666750"/>
            <a:chOff x="381000" y="1962150"/>
            <a:chExt cx="11430000" cy="666750"/>
          </a:xfrm>
        </p:grpSpPr>
        <p:sp>
          <p:nvSpPr>
            <p:cNvPr id="49" name="Rectangle 49"/>
            <p:cNvSpPr/>
            <p:nvPr/>
          </p:nvSpPr>
          <p:spPr>
            <a:xfrm>
              <a:off x="381000" y="1962150"/>
              <a:ext cx="11430000" cy="666750"/>
            </a:xfrm>
            <a:prstGeom prst="roundRect">
              <a:avLst>
                <a:gd name="adj" fmla="val 11429"/>
              </a:avLst>
            </a:prstGeom>
            <a:gradFill>
              <a:gsLst>
                <a:gs pos="0">
                  <a:srgbClr val="6F2516"/>
                </a:gs>
                <a:gs pos="100000">
                  <a:srgbClr val="D64A2E"/>
                </a:gs>
              </a:gsLst>
              <a:lin ang="0" scaled="1"/>
            </a:gradFill>
            <a:ln>
              <a:noFill/>
            </a:ln>
          </p:spPr>
        </p:sp>
        <p:sp>
          <p:nvSpPr>
            <p:cNvPr id="50" name="Ellipse 50"/>
            <p:cNvSpPr/>
            <p:nvPr/>
          </p:nvSpPr>
          <p:spPr>
            <a:xfrm>
              <a:off x="571500" y="2085975"/>
              <a:ext cx="419100" cy="419100"/>
            </a:xfrm>
            <a:prstGeom prst="ellipse">
              <a:avLst/>
            </a:prstGeom>
            <a:solidFill>
              <a:srgbClr val="FFFFFF">
                <a:alpha val="16000"/>
              </a:srgbClr>
            </a:solidFill>
            <a:ln>
              <a:noFill/>
            </a:ln>
          </p:spPr>
        </p:sp>
        <p:grpSp>
          <p:nvGrpSpPr>
            <p:cNvPr id="54" name="Group 54"/>
            <p:cNvGrpSpPr/>
            <p:nvPr/>
          </p:nvGrpSpPr>
          <p:grpSpPr>
            <a:xfrm>
              <a:off x="704850" y="2219325"/>
              <a:ext cx="152400" cy="152400"/>
              <a:chOff x="704850" y="2219325"/>
              <a:chExt cx="152400" cy="152400"/>
            </a:xfrm>
          </p:grpSpPr>
          <p:sp>
            <p:nvSpPr>
              <p:cNvPr id="51" name="Freeform 51"/>
              <p:cNvSpPr/>
              <p:nvPr/>
            </p:nvSpPr>
            <p:spPr>
              <a:xfrm>
                <a:off x="704850" y="2219325"/>
                <a:ext cx="152400" cy="76200"/>
              </a:xfrm>
              <a:custGeom>
                <a:avLst/>
                <a:gdLst/>
                <a:ahLst/>
                <a:cxnLst/>
                <a:rect l="l" t="t" r="r" b="b"/>
                <a:pathLst>
                  <a:path w="152400" h="76200">
                    <a:moveTo>
                      <a:pt x="76200" y="0"/>
                    </a:moveTo>
                    <a:lnTo>
                      <a:pt x="0" y="38100"/>
                    </a:lnTo>
                    <a:lnTo>
                      <a:pt x="76200" y="76200"/>
                    </a:lnTo>
                    <a:lnTo>
                      <a:pt x="152400" y="38100"/>
                    </a:lnTo>
                    <a:lnTo>
                      <a:pt x="76200" y="0"/>
                    </a:lnTo>
                  </a:path>
                </a:pathLst>
              </a:custGeom>
              <a:noFill/>
              <a:ln w="19050">
                <a:solidFill>
                  <a:srgbClr val="FFFFFF"/>
                </a:solidFill>
              </a:ln>
            </p:spPr>
          </p:sp>
          <p:sp>
            <p:nvSpPr>
              <p:cNvPr id="52" name="Freeform 52"/>
              <p:cNvSpPr/>
              <p:nvPr/>
            </p:nvSpPr>
            <p:spPr>
              <a:xfrm>
                <a:off x="704850" y="2295525"/>
                <a:ext cx="152400" cy="38100"/>
              </a:xfrm>
              <a:custGeom>
                <a:avLst/>
                <a:gdLst/>
                <a:ahLst/>
                <a:cxnLst/>
                <a:rect l="l" t="t" r="r" b="b"/>
                <a:pathLst>
                  <a:path w="152400" h="38100">
                    <a:moveTo>
                      <a:pt x="0" y="0"/>
                    </a:moveTo>
                    <a:lnTo>
                      <a:pt x="76200" y="38100"/>
                    </a:lnTo>
                    <a:lnTo>
                      <a:pt x="152400" y="0"/>
                    </a:lnTo>
                  </a:path>
                </a:pathLst>
              </a:custGeom>
              <a:noFill/>
              <a:ln w="19050">
                <a:solidFill>
                  <a:srgbClr val="FFFFFF"/>
                </a:solidFill>
              </a:ln>
            </p:spPr>
          </p:sp>
          <p:sp>
            <p:nvSpPr>
              <p:cNvPr id="53" name="Freeform 53"/>
              <p:cNvSpPr/>
              <p:nvPr/>
            </p:nvSpPr>
            <p:spPr>
              <a:xfrm>
                <a:off x="704850" y="2333625"/>
                <a:ext cx="152400" cy="38100"/>
              </a:xfrm>
              <a:custGeom>
                <a:avLst/>
                <a:gdLst/>
                <a:ahLst/>
                <a:cxnLst/>
                <a:rect l="l" t="t" r="r" b="b"/>
                <a:pathLst>
                  <a:path w="152400" h="38100">
                    <a:moveTo>
                      <a:pt x="0" y="0"/>
                    </a:moveTo>
                    <a:lnTo>
                      <a:pt x="76200" y="38100"/>
                    </a:lnTo>
                    <a:lnTo>
                      <a:pt x="152400" y="0"/>
                    </a:lnTo>
                  </a:path>
                </a:pathLst>
              </a:custGeom>
              <a:noFill/>
              <a:ln w="19050">
                <a:solidFill>
                  <a:srgbClr val="FFFFFF"/>
                </a:solidFill>
              </a:ln>
            </p:spPr>
          </p:sp>
        </p:grpSp>
        <p:sp>
          <p:nvSpPr>
            <p:cNvPr id="55" name="TextBox 55"/>
            <p:cNvSpPr txBox="1"/>
            <p:nvPr/>
          </p:nvSpPr>
          <p:spPr>
            <a:xfrm>
              <a:off x="1079754" y="2118360"/>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场景台账</a:t>
              </a:r>
            </a:p>
          </p:txBody>
        </p:sp>
        <p:sp>
          <p:nvSpPr>
            <p:cNvPr id="56" name="TextBox 56"/>
            <p:cNvSpPr txBox="1"/>
            <p:nvPr/>
          </p:nvSpPr>
          <p:spPr>
            <a:xfrm>
              <a:off x="1081088" y="2346484"/>
              <a:ext cx="833399"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全面、准确、可追溯</a:t>
              </a:r>
            </a:p>
          </p:txBody>
        </p:sp>
        <p:sp>
          <p:nvSpPr>
            <p:cNvPr id="57" name="TextBox 57"/>
            <p:cNvSpPr txBox="1"/>
            <p:nvPr/>
          </p:nvSpPr>
          <p:spPr>
            <a:xfrm>
              <a:off x="2878583" y="2173605"/>
              <a:ext cx="186434" cy="410718"/>
            </a:xfrm>
            <a:prstGeom prst="rect">
              <a:avLst/>
            </a:prstGeom>
            <a:noFill/>
            <a:ln>
              <a:noFill/>
            </a:ln>
          </p:spPr>
          <p:txBody>
            <a:bodyPr wrap="none" lIns="0" tIns="0" rIns="0" bIns="0" anchor="t" anchorCtr="0">
              <a:spAutoFit/>
            </a:bodyPr>
            <a:lstStyle/>
            <a:p>
              <a:pPr algn="ctr"/>
              <a:r>
                <a:rPr lang="zh-CN" sz="2100" b="1" dirty="0">
                  <a:solidFill>
                    <a:srgbClr val="FF957F"/>
                  </a:solidFill>
                  <a:latin typeface="Arial"/>
                  <a:ea typeface="Arial"/>
                  <a:cs typeface="Arial"/>
                </a:rPr>
                <a:t>+</a:t>
              </a:r>
            </a:p>
          </p:txBody>
        </p:sp>
        <p:sp>
          <p:nvSpPr>
            <p:cNvPr id="58" name="Ellipse 58"/>
            <p:cNvSpPr/>
            <p:nvPr/>
          </p:nvSpPr>
          <p:spPr>
            <a:xfrm>
              <a:off x="3276600" y="2085975"/>
              <a:ext cx="419100" cy="419100"/>
            </a:xfrm>
            <a:prstGeom prst="ellipse">
              <a:avLst/>
            </a:prstGeom>
            <a:solidFill>
              <a:srgbClr val="FFFFFF">
                <a:alpha val="16000"/>
              </a:srgbClr>
            </a:solidFill>
            <a:ln>
              <a:noFill/>
            </a:ln>
          </p:spPr>
        </p:sp>
        <p:grpSp>
          <p:nvGrpSpPr>
            <p:cNvPr id="64" name="Group 64"/>
            <p:cNvGrpSpPr/>
            <p:nvPr/>
          </p:nvGrpSpPr>
          <p:grpSpPr>
            <a:xfrm>
              <a:off x="3419475" y="2209800"/>
              <a:ext cx="133350" cy="171450"/>
              <a:chOff x="3419475" y="2209800"/>
              <a:chExt cx="133350" cy="171450"/>
            </a:xfrm>
          </p:grpSpPr>
          <p:sp>
            <p:nvSpPr>
              <p:cNvPr id="59" name="Freeform 59"/>
              <p:cNvSpPr/>
              <p:nvPr/>
            </p:nvSpPr>
            <p:spPr>
              <a:xfrm>
                <a:off x="3505200" y="22098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FFFFFF"/>
                </a:solidFill>
              </a:ln>
            </p:spPr>
          </p:sp>
          <p:sp>
            <p:nvSpPr>
              <p:cNvPr id="60" name="Freeform 60"/>
              <p:cNvSpPr/>
              <p:nvPr/>
            </p:nvSpPr>
            <p:spPr>
              <a:xfrm>
                <a:off x="3419475" y="22098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FFFFFF"/>
                </a:solidFill>
              </a:ln>
            </p:spPr>
          </p:sp>
          <p:sp>
            <p:nvSpPr>
              <p:cNvPr id="61" name="Freeform 61"/>
              <p:cNvSpPr/>
              <p:nvPr/>
            </p:nvSpPr>
            <p:spPr>
              <a:xfrm>
                <a:off x="3457575" y="2266950"/>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62" name="Freeform 62"/>
              <p:cNvSpPr/>
              <p:nvPr/>
            </p:nvSpPr>
            <p:spPr>
              <a:xfrm>
                <a:off x="3457575" y="2305050"/>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63" name="Freeform 63"/>
              <p:cNvSpPr/>
              <p:nvPr/>
            </p:nvSpPr>
            <p:spPr>
              <a:xfrm>
                <a:off x="3457575" y="2343150"/>
                <a:ext cx="57150" cy="9525"/>
              </a:xfrm>
              <a:custGeom>
                <a:avLst/>
                <a:gdLst/>
                <a:ahLst/>
                <a:cxnLst/>
                <a:rect l="l" t="t" r="r" b="b"/>
                <a:pathLst>
                  <a:path w="57150" h="9525">
                    <a:moveTo>
                      <a:pt x="0" y="0"/>
                    </a:moveTo>
                    <a:lnTo>
                      <a:pt x="57150" y="0"/>
                    </a:lnTo>
                  </a:path>
                </a:pathLst>
              </a:custGeom>
              <a:noFill/>
              <a:ln w="19050">
                <a:solidFill>
                  <a:srgbClr val="FFFFFF"/>
                </a:solidFill>
              </a:ln>
            </p:spPr>
          </p:sp>
        </p:grpSp>
        <p:sp>
          <p:nvSpPr>
            <p:cNvPr id="65" name="TextBox 65"/>
            <p:cNvSpPr txBox="1"/>
            <p:nvPr/>
          </p:nvSpPr>
          <p:spPr>
            <a:xfrm>
              <a:off x="3784854" y="2118360"/>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统一口径</a:t>
              </a:r>
            </a:p>
          </p:txBody>
        </p:sp>
        <p:sp>
          <p:nvSpPr>
            <p:cNvPr id="66" name="TextBox 66"/>
            <p:cNvSpPr txBox="1"/>
            <p:nvPr/>
          </p:nvSpPr>
          <p:spPr>
            <a:xfrm>
              <a:off x="3786188" y="2346484"/>
              <a:ext cx="833399"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范围清晰、标准一致</a:t>
              </a:r>
            </a:p>
          </p:txBody>
        </p:sp>
        <p:sp>
          <p:nvSpPr>
            <p:cNvPr id="67" name="TextBox 67"/>
            <p:cNvSpPr txBox="1"/>
            <p:nvPr/>
          </p:nvSpPr>
          <p:spPr>
            <a:xfrm>
              <a:off x="5583683" y="2173605"/>
              <a:ext cx="186434" cy="410718"/>
            </a:xfrm>
            <a:prstGeom prst="rect">
              <a:avLst/>
            </a:prstGeom>
            <a:noFill/>
            <a:ln>
              <a:noFill/>
            </a:ln>
          </p:spPr>
          <p:txBody>
            <a:bodyPr wrap="none" lIns="0" tIns="0" rIns="0" bIns="0" anchor="t" anchorCtr="0">
              <a:spAutoFit/>
            </a:bodyPr>
            <a:lstStyle/>
            <a:p>
              <a:pPr algn="ctr"/>
              <a:r>
                <a:rPr lang="zh-CN" sz="2100" b="1" dirty="0">
                  <a:solidFill>
                    <a:srgbClr val="FF957F"/>
                  </a:solidFill>
                  <a:latin typeface="Arial"/>
                  <a:ea typeface="Arial"/>
                  <a:cs typeface="Arial"/>
                </a:rPr>
                <a:t>+</a:t>
              </a:r>
            </a:p>
          </p:txBody>
        </p:sp>
        <p:sp>
          <p:nvSpPr>
            <p:cNvPr id="68" name="Ellipse 68"/>
            <p:cNvSpPr/>
            <p:nvPr/>
          </p:nvSpPr>
          <p:spPr>
            <a:xfrm>
              <a:off x="5981700" y="2085975"/>
              <a:ext cx="419100" cy="419100"/>
            </a:xfrm>
            <a:prstGeom prst="ellipse">
              <a:avLst/>
            </a:prstGeom>
            <a:solidFill>
              <a:srgbClr val="FFFFFF">
                <a:alpha val="16000"/>
              </a:srgbClr>
            </a:solidFill>
            <a:ln>
              <a:noFill/>
            </a:ln>
          </p:spPr>
        </p:sp>
        <p:grpSp>
          <p:nvGrpSpPr>
            <p:cNvPr id="74" name="Group 74"/>
            <p:cNvGrpSpPr/>
            <p:nvPr/>
          </p:nvGrpSpPr>
          <p:grpSpPr>
            <a:xfrm>
              <a:off x="6105525" y="2209800"/>
              <a:ext cx="171450" cy="171450"/>
              <a:chOff x="6105525" y="2209800"/>
              <a:chExt cx="171450" cy="171450"/>
            </a:xfrm>
          </p:grpSpPr>
          <p:sp>
            <p:nvSpPr>
              <p:cNvPr id="69" name="Freeform 69"/>
              <p:cNvSpPr/>
              <p:nvPr/>
            </p:nvSpPr>
            <p:spPr>
              <a:xfrm>
                <a:off x="6143625" y="2371725"/>
                <a:ext cx="95250" cy="9525"/>
              </a:xfrm>
              <a:custGeom>
                <a:avLst/>
                <a:gdLst/>
                <a:ahLst/>
                <a:cxnLst/>
                <a:rect l="l" t="t" r="r" b="b"/>
                <a:pathLst>
                  <a:path w="95250" h="9525">
                    <a:moveTo>
                      <a:pt x="0" y="0"/>
                    </a:moveTo>
                    <a:lnTo>
                      <a:pt x="95250" y="0"/>
                    </a:lnTo>
                  </a:path>
                </a:pathLst>
              </a:custGeom>
              <a:noFill/>
              <a:ln w="19050">
                <a:solidFill>
                  <a:srgbClr val="FFFFFF"/>
                </a:solidFill>
              </a:ln>
            </p:spPr>
          </p:sp>
          <p:sp>
            <p:nvSpPr>
              <p:cNvPr id="70" name="Freeform 70"/>
              <p:cNvSpPr/>
              <p:nvPr/>
            </p:nvSpPr>
            <p:spPr>
              <a:xfrm>
                <a:off x="6134100" y="2228850"/>
                <a:ext cx="114300" cy="9525"/>
              </a:xfrm>
              <a:custGeom>
                <a:avLst/>
                <a:gdLst/>
                <a:ahLst/>
                <a:cxnLst/>
                <a:rect l="l" t="t" r="r" b="b"/>
                <a:pathLst>
                  <a:path w="114300" h="9525">
                    <a:moveTo>
                      <a:pt x="0" y="9525"/>
                    </a:moveTo>
                    <a:lnTo>
                      <a:pt x="57150" y="0"/>
                    </a:lnTo>
                    <a:lnTo>
                      <a:pt x="114300" y="9525"/>
                    </a:lnTo>
                  </a:path>
                </a:pathLst>
              </a:custGeom>
              <a:noFill/>
              <a:ln w="19050">
                <a:solidFill>
                  <a:srgbClr val="FFFFFF"/>
                </a:solidFill>
              </a:ln>
            </p:spPr>
          </p:sp>
          <p:sp>
            <p:nvSpPr>
              <p:cNvPr id="71" name="Freeform 71"/>
              <p:cNvSpPr/>
              <p:nvPr/>
            </p:nvSpPr>
            <p:spPr>
              <a:xfrm>
                <a:off x="6191250" y="2209800"/>
                <a:ext cx="9525" cy="161925"/>
              </a:xfrm>
              <a:custGeom>
                <a:avLst/>
                <a:gdLst/>
                <a:ahLst/>
                <a:cxnLst/>
                <a:rect l="l" t="t" r="r" b="b"/>
                <a:pathLst>
                  <a:path w="9525" h="161925">
                    <a:moveTo>
                      <a:pt x="0" y="0"/>
                    </a:moveTo>
                    <a:lnTo>
                      <a:pt x="0" y="161925"/>
                    </a:lnTo>
                  </a:path>
                </a:pathLst>
              </a:custGeom>
              <a:noFill/>
              <a:ln w="19050">
                <a:solidFill>
                  <a:srgbClr val="FFFFFF"/>
                </a:solidFill>
              </a:ln>
            </p:spPr>
          </p:sp>
          <p:sp>
            <p:nvSpPr>
              <p:cNvPr id="72" name="Freeform 72"/>
              <p:cNvSpPr/>
              <p:nvPr/>
            </p:nvSpPr>
            <p:spPr>
              <a:xfrm>
                <a:off x="6105525" y="2238375"/>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FFFFFF"/>
                </a:solidFill>
              </a:ln>
            </p:spPr>
          </p:sp>
          <p:sp>
            <p:nvSpPr>
              <p:cNvPr id="73" name="Freeform 73"/>
              <p:cNvSpPr/>
              <p:nvPr/>
            </p:nvSpPr>
            <p:spPr>
              <a:xfrm>
                <a:off x="6219825" y="2238375"/>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FFFFFF"/>
                </a:solidFill>
              </a:ln>
            </p:spPr>
          </p:sp>
        </p:grpSp>
        <p:sp>
          <p:nvSpPr>
            <p:cNvPr id="75" name="TextBox 75"/>
            <p:cNvSpPr txBox="1"/>
            <p:nvPr/>
          </p:nvSpPr>
          <p:spPr>
            <a:xfrm>
              <a:off x="6489954" y="2118360"/>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财务复核</a:t>
              </a:r>
            </a:p>
          </p:txBody>
        </p:sp>
        <p:sp>
          <p:nvSpPr>
            <p:cNvPr id="76" name="TextBox 76"/>
            <p:cNvSpPr txBox="1"/>
            <p:nvPr/>
          </p:nvSpPr>
          <p:spPr>
            <a:xfrm>
              <a:off x="6491288" y="2346484"/>
              <a:ext cx="833399"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独立核验、严谨合规</a:t>
              </a:r>
            </a:p>
          </p:txBody>
        </p:sp>
        <p:sp>
          <p:nvSpPr>
            <p:cNvPr id="77" name="TextBox 77"/>
            <p:cNvSpPr txBox="1"/>
            <p:nvPr/>
          </p:nvSpPr>
          <p:spPr>
            <a:xfrm>
              <a:off x="8288783" y="2173605"/>
              <a:ext cx="186434" cy="410718"/>
            </a:xfrm>
            <a:prstGeom prst="rect">
              <a:avLst/>
            </a:prstGeom>
            <a:noFill/>
            <a:ln>
              <a:noFill/>
            </a:ln>
          </p:spPr>
          <p:txBody>
            <a:bodyPr wrap="none" lIns="0" tIns="0" rIns="0" bIns="0" anchor="t" anchorCtr="0">
              <a:spAutoFit/>
            </a:bodyPr>
            <a:lstStyle/>
            <a:p>
              <a:pPr algn="ctr"/>
              <a:r>
                <a:rPr lang="zh-CN" sz="2100" b="1" dirty="0">
                  <a:solidFill>
                    <a:srgbClr val="FF957F"/>
                  </a:solidFill>
                  <a:latin typeface="Arial"/>
                  <a:ea typeface="Arial"/>
                  <a:cs typeface="Arial"/>
                </a:rPr>
                <a:t>=</a:t>
              </a:r>
            </a:p>
          </p:txBody>
        </p:sp>
        <p:sp>
          <p:nvSpPr>
            <p:cNvPr id="78" name="Rectangle 78"/>
            <p:cNvSpPr/>
            <p:nvPr/>
          </p:nvSpPr>
          <p:spPr>
            <a:xfrm>
              <a:off x="8648700" y="2038350"/>
              <a:ext cx="3009900" cy="514350"/>
            </a:xfrm>
            <a:prstGeom prst="roundRect">
              <a:avLst>
                <a:gd name="adj" fmla="val 11111"/>
              </a:avLst>
            </a:prstGeom>
            <a:solidFill>
              <a:srgbClr val="FFFFFF">
                <a:alpha val="14000"/>
              </a:srgbClr>
            </a:solidFill>
            <a:ln w="9525">
              <a:solidFill>
                <a:srgbClr val="FF957F"/>
              </a:solidFill>
            </a:ln>
          </p:spPr>
        </p:sp>
        <p:sp>
          <p:nvSpPr>
            <p:cNvPr id="79" name="Ellipse 79"/>
            <p:cNvSpPr/>
            <p:nvPr/>
          </p:nvSpPr>
          <p:spPr>
            <a:xfrm>
              <a:off x="8743950" y="2105025"/>
              <a:ext cx="381000" cy="381000"/>
            </a:xfrm>
            <a:prstGeom prst="ellipse">
              <a:avLst/>
            </a:prstGeom>
            <a:solidFill>
              <a:srgbClr val="FFFFFF"/>
            </a:solidFill>
            <a:ln>
              <a:noFill/>
            </a:ln>
          </p:spPr>
        </p:sp>
        <p:grpSp>
          <p:nvGrpSpPr>
            <p:cNvPr id="82" name="Group 82"/>
            <p:cNvGrpSpPr/>
            <p:nvPr/>
          </p:nvGrpSpPr>
          <p:grpSpPr>
            <a:xfrm>
              <a:off x="8858250" y="2238375"/>
              <a:ext cx="152400" cy="133350"/>
              <a:chOff x="8858250" y="2238375"/>
              <a:chExt cx="152400" cy="133350"/>
            </a:xfrm>
          </p:grpSpPr>
          <p:sp>
            <p:nvSpPr>
              <p:cNvPr id="80" name="Freeform 80"/>
              <p:cNvSpPr/>
              <p:nvPr/>
            </p:nvSpPr>
            <p:spPr>
              <a:xfrm>
                <a:off x="8858250" y="2362200"/>
                <a:ext cx="152400" cy="9525"/>
              </a:xfrm>
              <a:custGeom>
                <a:avLst/>
                <a:gdLst/>
                <a:ahLst/>
                <a:cxnLst/>
                <a:rect l="l" t="t" r="r" b="b"/>
                <a:pathLst>
                  <a:path w="152400" h="9525">
                    <a:moveTo>
                      <a:pt x="0" y="0"/>
                    </a:moveTo>
                    <a:lnTo>
                      <a:pt x="152400" y="0"/>
                    </a:lnTo>
                  </a:path>
                </a:pathLst>
              </a:custGeom>
              <a:noFill/>
              <a:ln w="19050">
                <a:solidFill>
                  <a:srgbClr val="9C331E"/>
                </a:solidFill>
              </a:ln>
            </p:spPr>
          </p:sp>
          <p:sp>
            <p:nvSpPr>
              <p:cNvPr id="81" name="Freeform 81"/>
              <p:cNvSpPr/>
              <p:nvPr/>
            </p:nvSpPr>
            <p:spPr>
              <a:xfrm>
                <a:off x="8858250" y="2238375"/>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9C331E"/>
                </a:solidFill>
              </a:ln>
            </p:spPr>
          </p:sp>
        </p:grpSp>
        <p:sp>
          <p:nvSpPr>
            <p:cNvPr id="83" name="TextBox 83"/>
            <p:cNvSpPr txBox="1"/>
            <p:nvPr/>
          </p:nvSpPr>
          <p:spPr>
            <a:xfrm>
              <a:off x="9232773" y="2110264"/>
              <a:ext cx="874522"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可汇总价值</a:t>
              </a:r>
            </a:p>
          </p:txBody>
        </p:sp>
        <p:sp>
          <p:nvSpPr>
            <p:cNvPr id="84" name="TextBox 84"/>
            <p:cNvSpPr txBox="1"/>
            <p:nvPr/>
          </p:nvSpPr>
          <p:spPr>
            <a:xfrm>
              <a:off x="9234488" y="2346484"/>
              <a:ext cx="1108024"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经得起检验　服务经营决策</a:t>
              </a:r>
            </a:p>
          </p:txBody>
        </p:sp>
      </p:grpSp>
      <p:grpSp>
        <p:nvGrpSpPr>
          <p:cNvPr id="89" name="chain-band"/>
          <p:cNvGrpSpPr/>
          <p:nvPr/>
        </p:nvGrpSpPr>
        <p:grpSpPr>
          <a:xfrm>
            <a:off x="381000" y="2800350"/>
            <a:ext cx="7715250" cy="231457"/>
            <a:chOff x="381000" y="2800350"/>
            <a:chExt cx="7715250" cy="231457"/>
          </a:xfrm>
        </p:grpSpPr>
        <p:sp>
          <p:nvSpPr>
            <p:cNvPr id="86" name="Rectangle 86"/>
            <p:cNvSpPr/>
            <p:nvPr/>
          </p:nvSpPr>
          <p:spPr>
            <a:xfrm>
              <a:off x="381000" y="2800350"/>
              <a:ext cx="7715250" cy="209550"/>
            </a:xfrm>
            <a:prstGeom prst="roundRect">
              <a:avLst>
                <a:gd name="adj" fmla="val 18182"/>
              </a:avLst>
            </a:prstGeom>
            <a:solidFill>
              <a:srgbClr val="EFF5FC"/>
            </a:solidFill>
            <a:ln w="9525">
              <a:solidFill>
                <a:srgbClr val="C7D9F0"/>
              </a:solidFill>
            </a:ln>
          </p:spPr>
        </p:sp>
        <p:sp>
          <p:nvSpPr>
            <p:cNvPr id="87" name="Rectangle 87"/>
            <p:cNvSpPr/>
            <p:nvPr/>
          </p:nvSpPr>
          <p:spPr>
            <a:xfrm>
              <a:off x="381000" y="2800350"/>
              <a:ext cx="38100" cy="209550"/>
            </a:xfrm>
            <a:prstGeom prst="rect">
              <a:avLst/>
            </a:prstGeom>
            <a:solidFill>
              <a:srgbClr val="9C331E"/>
            </a:solidFill>
            <a:ln>
              <a:noFill/>
            </a:ln>
          </p:spPr>
        </p:sp>
        <p:sp>
          <p:nvSpPr>
            <p:cNvPr id="88" name="TextBox 88"/>
            <p:cNvSpPr txBox="1"/>
            <p:nvPr/>
          </p:nvSpPr>
          <p:spPr>
            <a:xfrm>
              <a:off x="509588" y="2855595"/>
              <a:ext cx="2796159"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价值衡量链条｜从场景到可汇总价值的六个关键环节</a:t>
              </a:r>
            </a:p>
          </p:txBody>
        </p:sp>
      </p:grpSp>
      <p:grpSp>
        <p:nvGrpSpPr>
          <p:cNvPr id="120" name="chain"/>
          <p:cNvGrpSpPr/>
          <p:nvPr/>
        </p:nvGrpSpPr>
        <p:grpSpPr>
          <a:xfrm>
            <a:off x="381000" y="3086100"/>
            <a:ext cx="7715250" cy="847963"/>
            <a:chOff x="381000" y="3086100"/>
            <a:chExt cx="7715250" cy="847963"/>
          </a:xfrm>
        </p:grpSpPr>
        <p:sp>
          <p:nvSpPr>
            <p:cNvPr id="90" name="Freeform 90"/>
            <p:cNvSpPr/>
            <p:nvPr/>
          </p:nvSpPr>
          <p:spPr>
            <a:xfrm>
              <a:off x="381000" y="3086100"/>
              <a:ext cx="1333500" cy="495300"/>
            </a:xfrm>
            <a:prstGeom prst="homePlate">
              <a:avLst/>
            </a:prstGeom>
            <a:solidFill>
              <a:srgbClr val="6F2516"/>
            </a:solidFill>
            <a:ln>
              <a:noFill/>
            </a:ln>
          </p:spPr>
        </p:sp>
        <p:sp>
          <p:nvSpPr>
            <p:cNvPr id="91" name="Freeform 91"/>
            <p:cNvSpPr/>
            <p:nvPr/>
          </p:nvSpPr>
          <p:spPr>
            <a:xfrm>
              <a:off x="1657350" y="3086100"/>
              <a:ext cx="1333500" cy="495300"/>
            </a:xfrm>
            <a:prstGeom prst="chevron">
              <a:avLst/>
            </a:prstGeom>
            <a:solidFill>
              <a:srgbClr val="9C331E"/>
            </a:solidFill>
            <a:ln>
              <a:noFill/>
            </a:ln>
          </p:spPr>
        </p:sp>
        <p:sp>
          <p:nvSpPr>
            <p:cNvPr id="92" name="Freeform 92"/>
            <p:cNvSpPr/>
            <p:nvPr/>
          </p:nvSpPr>
          <p:spPr>
            <a:xfrm>
              <a:off x="2933700" y="3086100"/>
              <a:ext cx="1333500" cy="495300"/>
            </a:xfrm>
            <a:prstGeom prst="chevron">
              <a:avLst/>
            </a:prstGeom>
            <a:solidFill>
              <a:srgbClr val="B53C23"/>
            </a:solidFill>
            <a:ln>
              <a:noFill/>
            </a:ln>
          </p:spPr>
        </p:sp>
        <p:sp>
          <p:nvSpPr>
            <p:cNvPr id="93" name="Freeform 93"/>
            <p:cNvSpPr/>
            <p:nvPr/>
          </p:nvSpPr>
          <p:spPr>
            <a:xfrm>
              <a:off x="4210050" y="3086100"/>
              <a:ext cx="1333500" cy="495300"/>
            </a:xfrm>
            <a:prstGeom prst="chevron">
              <a:avLst/>
            </a:prstGeom>
            <a:solidFill>
              <a:srgbClr val="D64A2E"/>
            </a:solidFill>
            <a:ln>
              <a:noFill/>
            </a:ln>
          </p:spPr>
        </p:sp>
        <p:sp>
          <p:nvSpPr>
            <p:cNvPr id="94" name="Freeform 94"/>
            <p:cNvSpPr/>
            <p:nvPr/>
          </p:nvSpPr>
          <p:spPr>
            <a:xfrm>
              <a:off x="5486400" y="3086100"/>
              <a:ext cx="1333500" cy="495300"/>
            </a:xfrm>
            <a:prstGeom prst="chevron">
              <a:avLst/>
            </a:prstGeom>
            <a:solidFill>
              <a:srgbClr val="DC634A"/>
            </a:solidFill>
            <a:ln>
              <a:noFill/>
            </a:ln>
          </p:spPr>
        </p:sp>
        <p:sp>
          <p:nvSpPr>
            <p:cNvPr id="95" name="Freeform 95"/>
            <p:cNvSpPr/>
            <p:nvPr/>
          </p:nvSpPr>
          <p:spPr>
            <a:xfrm>
              <a:off x="6762750" y="3086100"/>
              <a:ext cx="1333500" cy="495300"/>
            </a:xfrm>
            <a:prstGeom prst="chevron">
              <a:avLst/>
            </a:prstGeom>
            <a:solidFill>
              <a:srgbClr val="DE715B"/>
            </a:solidFill>
            <a:ln>
              <a:noFill/>
            </a:ln>
          </p:spPr>
        </p:sp>
        <p:sp>
          <p:nvSpPr>
            <p:cNvPr id="96" name="Ellipse 96"/>
            <p:cNvSpPr/>
            <p:nvPr/>
          </p:nvSpPr>
          <p:spPr>
            <a:xfrm>
              <a:off x="495300" y="3238500"/>
              <a:ext cx="190500" cy="190500"/>
            </a:xfrm>
            <a:prstGeom prst="ellipse">
              <a:avLst/>
            </a:prstGeom>
            <a:solidFill>
              <a:srgbClr val="FFFFFF"/>
            </a:solidFill>
            <a:ln>
              <a:noFill/>
            </a:ln>
          </p:spPr>
        </p:sp>
        <p:sp>
          <p:nvSpPr>
            <p:cNvPr id="97" name="TextBox 97"/>
            <p:cNvSpPr txBox="1"/>
            <p:nvPr/>
          </p:nvSpPr>
          <p:spPr>
            <a:xfrm>
              <a:off x="557709" y="3290888"/>
              <a:ext cx="65682" cy="147638"/>
            </a:xfrm>
            <a:prstGeom prst="rect">
              <a:avLst/>
            </a:prstGeom>
            <a:noFill/>
            <a:ln>
              <a:noFill/>
            </a:ln>
          </p:spPr>
          <p:txBody>
            <a:bodyPr wrap="none" lIns="0" tIns="0" rIns="0" bIns="0" anchor="t" anchorCtr="0">
              <a:spAutoFit/>
            </a:bodyPr>
            <a:lstStyle/>
            <a:p>
              <a:pPr algn="ctr"/>
              <a:r>
                <a:rPr lang="zh-CN" sz="750" b="1" dirty="0">
                  <a:solidFill>
                    <a:srgbClr val="6F2516"/>
                  </a:solidFill>
                  <a:latin typeface="Arial"/>
                  <a:ea typeface="Arial"/>
                  <a:cs typeface="Arial"/>
                </a:rPr>
                <a:t>1</a:t>
              </a:r>
            </a:p>
          </p:txBody>
        </p:sp>
        <p:sp>
          <p:nvSpPr>
            <p:cNvPr id="98" name="TextBox 98"/>
            <p:cNvSpPr txBox="1"/>
            <p:nvPr/>
          </p:nvSpPr>
          <p:spPr>
            <a:xfrm>
              <a:off x="757238" y="32827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场景立项</a:t>
              </a:r>
            </a:p>
          </p:txBody>
        </p:sp>
        <p:sp>
          <p:nvSpPr>
            <p:cNvPr id="99" name="TextBox 99"/>
            <p:cNvSpPr txBox="1"/>
            <p:nvPr/>
          </p:nvSpPr>
          <p:spPr>
            <a:xfrm>
              <a:off x="762826" y="3684032"/>
              <a:ext cx="379349"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573F3A"/>
                  </a:solidFill>
                  <a:latin typeface="+mn-lt"/>
                  <a:ea typeface="+mn-ea"/>
                  <a:cs typeface="+mn-cs"/>
                </a:rPr>
                <a:t>明确目标​</a:t>
              </a:r>
              <a:br/>
              <a:r>
                <a:rPr lang="zh-CN" sz="640" dirty="0">
                  <a:solidFill>
                    <a:srgbClr val="573F3A"/>
                  </a:solidFill>
                  <a:latin typeface="+mn-lt"/>
                  <a:ea typeface="+mn-ea"/>
                  <a:cs typeface="+mn-cs"/>
                </a:rPr>
                <a:t>界定范围​</a:t>
              </a:r>
            </a:p>
          </p:txBody>
        </p:sp>
        <p:sp>
          <p:nvSpPr>
            <p:cNvPr id="100" name="Ellipse 100"/>
            <p:cNvSpPr/>
            <p:nvPr/>
          </p:nvSpPr>
          <p:spPr>
            <a:xfrm>
              <a:off x="1981200" y="3238500"/>
              <a:ext cx="190500" cy="190500"/>
            </a:xfrm>
            <a:prstGeom prst="ellipse">
              <a:avLst/>
            </a:prstGeom>
            <a:solidFill>
              <a:srgbClr val="FFFFFF"/>
            </a:solidFill>
            <a:ln>
              <a:noFill/>
            </a:ln>
          </p:spPr>
        </p:sp>
        <p:sp>
          <p:nvSpPr>
            <p:cNvPr id="101" name="TextBox 101"/>
            <p:cNvSpPr txBox="1"/>
            <p:nvPr/>
          </p:nvSpPr>
          <p:spPr>
            <a:xfrm>
              <a:off x="2043609" y="3290888"/>
              <a:ext cx="65682" cy="147638"/>
            </a:xfrm>
            <a:prstGeom prst="rect">
              <a:avLst/>
            </a:prstGeom>
            <a:noFill/>
            <a:ln>
              <a:noFill/>
            </a:ln>
          </p:spPr>
          <p:txBody>
            <a:bodyPr wrap="none" lIns="0" tIns="0" rIns="0" bIns="0" anchor="t" anchorCtr="0">
              <a:spAutoFit/>
            </a:bodyPr>
            <a:lstStyle/>
            <a:p>
              <a:pPr algn="ctr"/>
              <a:r>
                <a:rPr lang="zh-CN" sz="750" b="1" dirty="0">
                  <a:solidFill>
                    <a:srgbClr val="9C331E"/>
                  </a:solidFill>
                  <a:latin typeface="Arial"/>
                  <a:ea typeface="Arial"/>
                  <a:cs typeface="Arial"/>
                </a:rPr>
                <a:t>2</a:t>
              </a:r>
            </a:p>
          </p:txBody>
        </p:sp>
        <p:sp>
          <p:nvSpPr>
            <p:cNvPr id="102" name="TextBox 102"/>
            <p:cNvSpPr txBox="1"/>
            <p:nvPr/>
          </p:nvSpPr>
          <p:spPr>
            <a:xfrm>
              <a:off x="2243138" y="32827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基线冻结</a:t>
              </a:r>
            </a:p>
          </p:txBody>
        </p:sp>
        <p:sp>
          <p:nvSpPr>
            <p:cNvPr id="103" name="TextBox 103"/>
            <p:cNvSpPr txBox="1"/>
            <p:nvPr/>
          </p:nvSpPr>
          <p:spPr>
            <a:xfrm>
              <a:off x="2072196" y="3684032"/>
              <a:ext cx="541909"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573F3A"/>
                  </a:solidFill>
                  <a:latin typeface="+mn-lt"/>
                  <a:ea typeface="+mn-ea"/>
                  <a:cs typeface="+mn-cs"/>
                </a:rPr>
                <a:t>确定对照基线​</a:t>
              </a:r>
              <a:br/>
              <a:r>
                <a:rPr lang="zh-CN" sz="640" dirty="0">
                  <a:solidFill>
                    <a:srgbClr val="573F3A"/>
                  </a:solidFill>
                  <a:latin typeface="+mn-lt"/>
                  <a:ea typeface="+mn-ea"/>
                  <a:cs typeface="+mn-cs"/>
                </a:rPr>
                <a:t>锁定计算口径​</a:t>
              </a:r>
            </a:p>
          </p:txBody>
        </p:sp>
        <p:sp>
          <p:nvSpPr>
            <p:cNvPr id="104" name="Ellipse 104"/>
            <p:cNvSpPr/>
            <p:nvPr/>
          </p:nvSpPr>
          <p:spPr>
            <a:xfrm>
              <a:off x="3257550" y="3238500"/>
              <a:ext cx="190500" cy="190500"/>
            </a:xfrm>
            <a:prstGeom prst="ellipse">
              <a:avLst/>
            </a:prstGeom>
            <a:solidFill>
              <a:srgbClr val="FFFFFF"/>
            </a:solidFill>
            <a:ln>
              <a:noFill/>
            </a:ln>
          </p:spPr>
        </p:sp>
        <p:sp>
          <p:nvSpPr>
            <p:cNvPr id="105" name="TextBox 105"/>
            <p:cNvSpPr txBox="1"/>
            <p:nvPr/>
          </p:nvSpPr>
          <p:spPr>
            <a:xfrm>
              <a:off x="3319959" y="3290888"/>
              <a:ext cx="65682" cy="147638"/>
            </a:xfrm>
            <a:prstGeom prst="rect">
              <a:avLst/>
            </a:prstGeom>
            <a:noFill/>
            <a:ln>
              <a:noFill/>
            </a:ln>
          </p:spPr>
          <p:txBody>
            <a:bodyPr wrap="none" lIns="0" tIns="0" rIns="0" bIns="0" anchor="t" anchorCtr="0">
              <a:spAutoFit/>
            </a:bodyPr>
            <a:lstStyle/>
            <a:p>
              <a:pPr algn="ctr"/>
              <a:r>
                <a:rPr lang="zh-CN" sz="750" b="1" dirty="0">
                  <a:solidFill>
                    <a:srgbClr val="B53C23"/>
                  </a:solidFill>
                  <a:latin typeface="Arial"/>
                  <a:ea typeface="Arial"/>
                  <a:cs typeface="Arial"/>
                </a:rPr>
                <a:t>3</a:t>
              </a:r>
            </a:p>
          </p:txBody>
        </p:sp>
        <p:sp>
          <p:nvSpPr>
            <p:cNvPr id="106" name="TextBox 106"/>
            <p:cNvSpPr txBox="1"/>
            <p:nvPr/>
          </p:nvSpPr>
          <p:spPr>
            <a:xfrm>
              <a:off x="3519488" y="32827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运行取数</a:t>
              </a:r>
            </a:p>
          </p:txBody>
        </p:sp>
        <p:sp>
          <p:nvSpPr>
            <p:cNvPr id="107" name="TextBox 107"/>
            <p:cNvSpPr txBox="1"/>
            <p:nvPr/>
          </p:nvSpPr>
          <p:spPr>
            <a:xfrm>
              <a:off x="3307906" y="3684032"/>
              <a:ext cx="623189"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573F3A"/>
                  </a:solidFill>
                  <a:latin typeface="+mn-lt"/>
                  <a:ea typeface="+mn-ea"/>
                  <a:cs typeface="+mn-cs"/>
                </a:rPr>
                <a:t>按周期采集数据​</a:t>
              </a:r>
              <a:br/>
              <a:r>
                <a:rPr lang="zh-CN" sz="640" dirty="0">
                  <a:solidFill>
                    <a:srgbClr val="573F3A"/>
                  </a:solidFill>
                  <a:latin typeface="+mn-lt"/>
                  <a:ea typeface="+mn-ea"/>
                  <a:cs typeface="+mn-cs"/>
                </a:rPr>
                <a:t>形成原始记录</a:t>
              </a:r>
            </a:p>
          </p:txBody>
        </p:sp>
        <p:sp>
          <p:nvSpPr>
            <p:cNvPr id="108" name="Ellipse 108"/>
            <p:cNvSpPr/>
            <p:nvPr/>
          </p:nvSpPr>
          <p:spPr>
            <a:xfrm>
              <a:off x="4533900" y="3238500"/>
              <a:ext cx="190500" cy="190500"/>
            </a:xfrm>
            <a:prstGeom prst="ellipse">
              <a:avLst/>
            </a:prstGeom>
            <a:solidFill>
              <a:srgbClr val="FFFFFF"/>
            </a:solidFill>
            <a:ln>
              <a:noFill/>
            </a:ln>
          </p:spPr>
        </p:sp>
        <p:sp>
          <p:nvSpPr>
            <p:cNvPr id="109" name="TextBox 109"/>
            <p:cNvSpPr txBox="1"/>
            <p:nvPr/>
          </p:nvSpPr>
          <p:spPr>
            <a:xfrm>
              <a:off x="4596309" y="3290888"/>
              <a:ext cx="65682" cy="147638"/>
            </a:xfrm>
            <a:prstGeom prst="rect">
              <a:avLst/>
            </a:prstGeom>
            <a:noFill/>
            <a:ln>
              <a:noFill/>
            </a:ln>
          </p:spPr>
          <p:txBody>
            <a:bodyPr wrap="none" lIns="0" tIns="0" rIns="0" bIns="0" anchor="t" anchorCtr="0">
              <a:spAutoFit/>
            </a:bodyPr>
            <a:lstStyle/>
            <a:p>
              <a:pPr algn="ctr"/>
              <a:r>
                <a:rPr lang="zh-CN" sz="750" b="1" dirty="0">
                  <a:solidFill>
                    <a:srgbClr val="D64A2E"/>
                  </a:solidFill>
                  <a:latin typeface="Arial"/>
                  <a:ea typeface="Arial"/>
                  <a:cs typeface="Arial"/>
                </a:rPr>
                <a:t>4</a:t>
              </a:r>
            </a:p>
          </p:txBody>
        </p:sp>
        <p:sp>
          <p:nvSpPr>
            <p:cNvPr id="110" name="TextBox 110"/>
            <p:cNvSpPr txBox="1"/>
            <p:nvPr/>
          </p:nvSpPr>
          <p:spPr>
            <a:xfrm>
              <a:off x="4795838" y="32827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业务确认</a:t>
              </a:r>
            </a:p>
          </p:txBody>
        </p:sp>
        <p:sp>
          <p:nvSpPr>
            <p:cNvPr id="111" name="TextBox 111"/>
            <p:cNvSpPr txBox="1"/>
            <p:nvPr/>
          </p:nvSpPr>
          <p:spPr>
            <a:xfrm>
              <a:off x="4624896" y="3684032"/>
              <a:ext cx="541909"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573F3A"/>
                  </a:solidFill>
                  <a:latin typeface="+mn-lt"/>
                  <a:ea typeface="+mn-ea"/>
                  <a:cs typeface="+mn-cs"/>
                </a:rPr>
                <a:t>业务部门核实​</a:t>
              </a:r>
              <a:br/>
              <a:r>
                <a:rPr lang="zh-CN" sz="640" dirty="0">
                  <a:solidFill>
                    <a:srgbClr val="573F3A"/>
                  </a:solidFill>
                  <a:latin typeface="+mn-lt"/>
                  <a:ea typeface="+mn-ea"/>
                  <a:cs typeface="+mn-cs"/>
                </a:rPr>
                <a:t>确认应用效果​</a:t>
              </a:r>
            </a:p>
          </p:txBody>
        </p:sp>
        <p:sp>
          <p:nvSpPr>
            <p:cNvPr id="112" name="Ellipse 112"/>
            <p:cNvSpPr/>
            <p:nvPr/>
          </p:nvSpPr>
          <p:spPr>
            <a:xfrm>
              <a:off x="5810250" y="3238500"/>
              <a:ext cx="190500" cy="190500"/>
            </a:xfrm>
            <a:prstGeom prst="ellipse">
              <a:avLst/>
            </a:prstGeom>
            <a:solidFill>
              <a:srgbClr val="FFFFFF"/>
            </a:solidFill>
            <a:ln>
              <a:noFill/>
            </a:ln>
          </p:spPr>
        </p:sp>
        <p:sp>
          <p:nvSpPr>
            <p:cNvPr id="113" name="TextBox 113"/>
            <p:cNvSpPr txBox="1"/>
            <p:nvPr/>
          </p:nvSpPr>
          <p:spPr>
            <a:xfrm>
              <a:off x="5872659" y="3290888"/>
              <a:ext cx="65682" cy="147638"/>
            </a:xfrm>
            <a:prstGeom prst="rect">
              <a:avLst/>
            </a:prstGeom>
            <a:noFill/>
            <a:ln>
              <a:noFill/>
            </a:ln>
          </p:spPr>
          <p:txBody>
            <a:bodyPr wrap="none" lIns="0" tIns="0" rIns="0" bIns="0" anchor="t" anchorCtr="0">
              <a:spAutoFit/>
            </a:bodyPr>
            <a:lstStyle/>
            <a:p>
              <a:pPr algn="ctr"/>
              <a:r>
                <a:rPr lang="zh-CN" sz="750" b="1" dirty="0">
                  <a:solidFill>
                    <a:srgbClr val="DC634A"/>
                  </a:solidFill>
                  <a:latin typeface="Arial"/>
                  <a:ea typeface="Arial"/>
                  <a:cs typeface="Arial"/>
                </a:rPr>
                <a:t>5</a:t>
              </a:r>
            </a:p>
          </p:txBody>
        </p:sp>
        <p:sp>
          <p:nvSpPr>
            <p:cNvPr id="114" name="TextBox 114"/>
            <p:cNvSpPr txBox="1"/>
            <p:nvPr/>
          </p:nvSpPr>
          <p:spPr>
            <a:xfrm>
              <a:off x="6072188" y="32827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财务复核</a:t>
              </a:r>
            </a:p>
          </p:txBody>
        </p:sp>
        <p:sp>
          <p:nvSpPr>
            <p:cNvPr id="115" name="TextBox 115"/>
            <p:cNvSpPr txBox="1"/>
            <p:nvPr/>
          </p:nvSpPr>
          <p:spPr>
            <a:xfrm>
              <a:off x="5819966" y="3684032"/>
              <a:ext cx="704469"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573F3A"/>
                  </a:solidFill>
                  <a:latin typeface="+mn-lt"/>
                  <a:ea typeface="+mn-ea"/>
                  <a:cs typeface="+mn-cs"/>
                </a:rPr>
                <a:t>财务部门独立复核​</a:t>
              </a:r>
              <a:br/>
              <a:r>
                <a:rPr lang="zh-CN" sz="640" dirty="0">
                  <a:solidFill>
                    <a:srgbClr val="573F3A"/>
                  </a:solidFill>
                  <a:latin typeface="+mn-lt"/>
                  <a:ea typeface="+mn-ea"/>
                  <a:cs typeface="+mn-cs"/>
                </a:rPr>
                <a:t>认定可计量价值</a:t>
              </a:r>
            </a:p>
          </p:txBody>
        </p:sp>
        <p:sp>
          <p:nvSpPr>
            <p:cNvPr id="116" name="Ellipse 116"/>
            <p:cNvSpPr/>
            <p:nvPr/>
          </p:nvSpPr>
          <p:spPr>
            <a:xfrm>
              <a:off x="7086600" y="3238500"/>
              <a:ext cx="190500" cy="190500"/>
            </a:xfrm>
            <a:prstGeom prst="ellipse">
              <a:avLst/>
            </a:prstGeom>
            <a:solidFill>
              <a:srgbClr val="FFFFFF"/>
            </a:solidFill>
            <a:ln>
              <a:noFill/>
            </a:ln>
          </p:spPr>
        </p:sp>
        <p:sp>
          <p:nvSpPr>
            <p:cNvPr id="117" name="TextBox 117"/>
            <p:cNvSpPr txBox="1"/>
            <p:nvPr/>
          </p:nvSpPr>
          <p:spPr>
            <a:xfrm>
              <a:off x="7149009" y="3290888"/>
              <a:ext cx="65682" cy="147638"/>
            </a:xfrm>
            <a:prstGeom prst="rect">
              <a:avLst/>
            </a:prstGeom>
            <a:noFill/>
            <a:ln>
              <a:noFill/>
            </a:ln>
          </p:spPr>
          <p:txBody>
            <a:bodyPr wrap="none" lIns="0" tIns="0" rIns="0" bIns="0" anchor="t" anchorCtr="0">
              <a:spAutoFit/>
            </a:bodyPr>
            <a:lstStyle/>
            <a:p>
              <a:pPr algn="ctr"/>
              <a:r>
                <a:rPr lang="zh-CN" sz="750" b="1" dirty="0">
                  <a:solidFill>
                    <a:srgbClr val="DE715B"/>
                  </a:solidFill>
                  <a:latin typeface="Arial"/>
                  <a:ea typeface="Arial"/>
                  <a:cs typeface="Arial"/>
                </a:rPr>
                <a:t>6</a:t>
              </a:r>
            </a:p>
          </p:txBody>
        </p:sp>
        <p:sp>
          <p:nvSpPr>
            <p:cNvPr id="118" name="TextBox 118"/>
            <p:cNvSpPr txBox="1"/>
            <p:nvPr/>
          </p:nvSpPr>
          <p:spPr>
            <a:xfrm>
              <a:off x="7348538" y="32827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滚动追踪</a:t>
              </a:r>
            </a:p>
          </p:txBody>
        </p:sp>
        <p:sp>
          <p:nvSpPr>
            <p:cNvPr id="119" name="TextBox 119"/>
            <p:cNvSpPr txBox="1"/>
            <p:nvPr/>
          </p:nvSpPr>
          <p:spPr>
            <a:xfrm>
              <a:off x="7177596" y="3684032"/>
              <a:ext cx="541909"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573F3A"/>
                  </a:solidFill>
                  <a:latin typeface="+mn-lt"/>
                  <a:ea typeface="+mn-ea"/>
                  <a:cs typeface="+mn-cs"/>
                </a:rPr>
                <a:t>持续监测效果​</a:t>
              </a:r>
              <a:br/>
              <a:r>
                <a:rPr lang="zh-CN" sz="640" dirty="0">
                  <a:solidFill>
                    <a:srgbClr val="573F3A"/>
                  </a:solidFill>
                  <a:latin typeface="+mn-lt"/>
                  <a:ea typeface="+mn-ea"/>
                  <a:cs typeface="+mn-cs"/>
                </a:rPr>
                <a:t>动态更新台账​</a:t>
              </a:r>
            </a:p>
          </p:txBody>
        </p:sp>
      </p:grpSp>
      <p:grpSp>
        <p:nvGrpSpPr>
          <p:cNvPr id="124" name="principles-band"/>
          <p:cNvGrpSpPr/>
          <p:nvPr/>
        </p:nvGrpSpPr>
        <p:grpSpPr>
          <a:xfrm>
            <a:off x="8210550" y="2800350"/>
            <a:ext cx="3600450" cy="231457"/>
            <a:chOff x="8210550" y="2800350"/>
            <a:chExt cx="3600450" cy="231457"/>
          </a:xfrm>
        </p:grpSpPr>
        <p:sp>
          <p:nvSpPr>
            <p:cNvPr id="121" name="Rectangle 121"/>
            <p:cNvSpPr/>
            <p:nvPr/>
          </p:nvSpPr>
          <p:spPr>
            <a:xfrm>
              <a:off x="8210550" y="2800350"/>
              <a:ext cx="3600450" cy="209550"/>
            </a:xfrm>
            <a:prstGeom prst="roundRect">
              <a:avLst>
                <a:gd name="adj" fmla="val 18182"/>
              </a:avLst>
            </a:prstGeom>
            <a:solidFill>
              <a:srgbClr val="EFF5FC"/>
            </a:solidFill>
            <a:ln w="9525">
              <a:solidFill>
                <a:srgbClr val="C7D9F0"/>
              </a:solidFill>
            </a:ln>
          </p:spPr>
        </p:sp>
        <p:sp>
          <p:nvSpPr>
            <p:cNvPr id="122" name="Rectangle 122"/>
            <p:cNvSpPr/>
            <p:nvPr/>
          </p:nvSpPr>
          <p:spPr>
            <a:xfrm>
              <a:off x="8210550" y="2800350"/>
              <a:ext cx="38100" cy="209550"/>
            </a:xfrm>
            <a:prstGeom prst="rect">
              <a:avLst/>
            </a:prstGeom>
            <a:solidFill>
              <a:srgbClr val="9C331E"/>
            </a:solidFill>
            <a:ln>
              <a:noFill/>
            </a:ln>
          </p:spPr>
        </p:sp>
        <p:sp>
          <p:nvSpPr>
            <p:cNvPr id="123" name="TextBox 123"/>
            <p:cNvSpPr txBox="1"/>
            <p:nvPr/>
          </p:nvSpPr>
          <p:spPr>
            <a:xfrm>
              <a:off x="8339138" y="2855595"/>
              <a:ext cx="134226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防止重复计算的三项原则</a:t>
              </a:r>
            </a:p>
          </p:txBody>
        </p:sp>
      </p:grpSp>
      <p:grpSp>
        <p:nvGrpSpPr>
          <p:cNvPr id="133" name="principle-1"/>
          <p:cNvGrpSpPr/>
          <p:nvPr/>
        </p:nvGrpSpPr>
        <p:grpSpPr>
          <a:xfrm>
            <a:off x="8210550" y="3086100"/>
            <a:ext cx="3600450" cy="457200"/>
            <a:chOff x="8210550" y="3086100"/>
            <a:chExt cx="3600450" cy="457200"/>
          </a:xfrm>
        </p:grpSpPr>
        <p:sp>
          <p:nvSpPr>
            <p:cNvPr id="125" name="Rectangle 125"/>
            <p:cNvSpPr/>
            <p:nvPr/>
          </p:nvSpPr>
          <p:spPr>
            <a:xfrm>
              <a:off x="8210550" y="3086100"/>
              <a:ext cx="3600450" cy="457200"/>
            </a:xfrm>
            <a:prstGeom prst="roundRect">
              <a:avLst>
                <a:gd name="adj" fmla="val 12500"/>
              </a:avLst>
            </a:prstGeom>
            <a:solidFill>
              <a:srgbClr val="FFFFFF"/>
            </a:solidFill>
            <a:ln w="9525">
              <a:solidFill>
                <a:srgbClr val="C7D9F0"/>
              </a:solidFill>
            </a:ln>
          </p:spPr>
        </p:sp>
        <p:sp>
          <p:nvSpPr>
            <p:cNvPr id="126" name="Ellipse 126"/>
            <p:cNvSpPr/>
            <p:nvPr/>
          </p:nvSpPr>
          <p:spPr>
            <a:xfrm>
              <a:off x="8305800" y="3181350"/>
              <a:ext cx="266700" cy="266700"/>
            </a:xfrm>
            <a:prstGeom prst="ellipse">
              <a:avLst/>
            </a:prstGeom>
            <a:solidFill>
              <a:srgbClr val="9C331E"/>
            </a:solidFill>
            <a:ln>
              <a:noFill/>
            </a:ln>
          </p:spPr>
        </p:sp>
        <p:grpSp>
          <p:nvGrpSpPr>
            <p:cNvPr id="130" name="Group 130"/>
            <p:cNvGrpSpPr/>
            <p:nvPr/>
          </p:nvGrpSpPr>
          <p:grpSpPr>
            <a:xfrm>
              <a:off x="8374856" y="3250406"/>
              <a:ext cx="128588" cy="128588"/>
              <a:chOff x="8374856" y="3250406"/>
              <a:chExt cx="128588" cy="128588"/>
            </a:xfrm>
          </p:grpSpPr>
          <p:sp>
            <p:nvSpPr>
              <p:cNvPr id="127" name="Freeform 127"/>
              <p:cNvSpPr/>
              <p:nvPr/>
            </p:nvSpPr>
            <p:spPr>
              <a:xfrm>
                <a:off x="8432006" y="33075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128" name="Freeform 128"/>
              <p:cNvSpPr/>
              <p:nvPr/>
            </p:nvSpPr>
            <p:spPr>
              <a:xfrm>
                <a:off x="8403431" y="32789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129" name="Freeform 129"/>
              <p:cNvSpPr/>
              <p:nvPr/>
            </p:nvSpPr>
            <p:spPr>
              <a:xfrm>
                <a:off x="8374856" y="32504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131" name="TextBox 131"/>
            <p:cNvSpPr txBox="1"/>
            <p:nvPr/>
          </p:nvSpPr>
          <p:spPr>
            <a:xfrm>
              <a:off x="8643938" y="3187541"/>
              <a:ext cx="1003021"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同一收益只归属一次</a:t>
              </a:r>
            </a:p>
          </p:txBody>
        </p:sp>
        <p:sp>
          <p:nvSpPr>
            <p:cNvPr id="132" name="TextBox 132"/>
            <p:cNvSpPr txBox="1"/>
            <p:nvPr/>
          </p:nvSpPr>
          <p:spPr>
            <a:xfrm>
              <a:off x="8643938" y="3360182"/>
              <a:ext cx="1560347"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明确归属主体与统计边界，避免重复计入</a:t>
              </a:r>
            </a:p>
          </p:txBody>
        </p:sp>
      </p:grpSp>
      <p:grpSp>
        <p:nvGrpSpPr>
          <p:cNvPr id="144" name="principle-2"/>
          <p:cNvGrpSpPr/>
          <p:nvPr/>
        </p:nvGrpSpPr>
        <p:grpSpPr>
          <a:xfrm>
            <a:off x="8210550" y="3581400"/>
            <a:ext cx="3600450" cy="457200"/>
            <a:chOff x="8210550" y="3581400"/>
            <a:chExt cx="3600450" cy="457200"/>
          </a:xfrm>
        </p:grpSpPr>
        <p:sp>
          <p:nvSpPr>
            <p:cNvPr id="134" name="Rectangle 134"/>
            <p:cNvSpPr/>
            <p:nvPr/>
          </p:nvSpPr>
          <p:spPr>
            <a:xfrm>
              <a:off x="8210550" y="3581400"/>
              <a:ext cx="3600450" cy="457200"/>
            </a:xfrm>
            <a:prstGeom prst="roundRect">
              <a:avLst>
                <a:gd name="adj" fmla="val 12500"/>
              </a:avLst>
            </a:prstGeom>
            <a:solidFill>
              <a:srgbClr val="FFFFFF"/>
            </a:solidFill>
            <a:ln w="9525">
              <a:solidFill>
                <a:srgbClr val="C7D9F0"/>
              </a:solidFill>
            </a:ln>
          </p:spPr>
        </p:sp>
        <p:sp>
          <p:nvSpPr>
            <p:cNvPr id="135" name="Ellipse 135"/>
            <p:cNvSpPr/>
            <p:nvPr/>
          </p:nvSpPr>
          <p:spPr>
            <a:xfrm>
              <a:off x="8305800" y="3676650"/>
              <a:ext cx="266700" cy="266700"/>
            </a:xfrm>
            <a:prstGeom prst="ellipse">
              <a:avLst/>
            </a:prstGeom>
            <a:solidFill>
              <a:srgbClr val="9C331E"/>
            </a:solidFill>
            <a:ln>
              <a:noFill/>
            </a:ln>
          </p:spPr>
        </p:sp>
        <p:grpSp>
          <p:nvGrpSpPr>
            <p:cNvPr id="141" name="Group 141"/>
            <p:cNvGrpSpPr/>
            <p:nvPr/>
          </p:nvGrpSpPr>
          <p:grpSpPr>
            <a:xfrm>
              <a:off x="8374856" y="3745706"/>
              <a:ext cx="128587" cy="130969"/>
              <a:chOff x="8374856" y="3745706"/>
              <a:chExt cx="128587" cy="130969"/>
            </a:xfrm>
          </p:grpSpPr>
          <p:sp>
            <p:nvSpPr>
              <p:cNvPr id="136" name="Freeform 136"/>
              <p:cNvSpPr/>
              <p:nvPr/>
            </p:nvSpPr>
            <p:spPr>
              <a:xfrm>
                <a:off x="8403431" y="3867150"/>
                <a:ext cx="71438" cy="9525"/>
              </a:xfrm>
              <a:custGeom>
                <a:avLst/>
                <a:gdLst/>
                <a:ahLst/>
                <a:cxnLst/>
                <a:rect l="l" t="t" r="r" b="b"/>
                <a:pathLst>
                  <a:path w="71438" h="9525">
                    <a:moveTo>
                      <a:pt x="0" y="0"/>
                    </a:moveTo>
                    <a:lnTo>
                      <a:pt x="71438" y="0"/>
                    </a:lnTo>
                  </a:path>
                </a:pathLst>
              </a:custGeom>
              <a:noFill/>
              <a:ln w="14288">
                <a:solidFill>
                  <a:srgbClr val="FFFFFF"/>
                </a:solidFill>
              </a:ln>
            </p:spPr>
          </p:sp>
          <p:sp>
            <p:nvSpPr>
              <p:cNvPr id="137" name="Freeform 137"/>
              <p:cNvSpPr/>
              <p:nvPr/>
            </p:nvSpPr>
            <p:spPr>
              <a:xfrm>
                <a:off x="8396288" y="3759994"/>
                <a:ext cx="85725" cy="9525"/>
              </a:xfrm>
              <a:custGeom>
                <a:avLst/>
                <a:gdLst/>
                <a:ahLst/>
                <a:cxnLst/>
                <a:rect l="l" t="t" r="r" b="b"/>
                <a:pathLst>
                  <a:path w="85725" h="9525">
                    <a:moveTo>
                      <a:pt x="0" y="7144"/>
                    </a:moveTo>
                    <a:lnTo>
                      <a:pt x="42862" y="0"/>
                    </a:lnTo>
                    <a:lnTo>
                      <a:pt x="85725" y="7144"/>
                    </a:lnTo>
                  </a:path>
                </a:pathLst>
              </a:custGeom>
              <a:noFill/>
              <a:ln w="14288">
                <a:solidFill>
                  <a:srgbClr val="FFFFFF"/>
                </a:solidFill>
              </a:ln>
            </p:spPr>
          </p:sp>
          <p:sp>
            <p:nvSpPr>
              <p:cNvPr id="138" name="Freeform 138"/>
              <p:cNvSpPr/>
              <p:nvPr/>
            </p:nvSpPr>
            <p:spPr>
              <a:xfrm>
                <a:off x="8439150" y="3745706"/>
                <a:ext cx="9525" cy="121444"/>
              </a:xfrm>
              <a:custGeom>
                <a:avLst/>
                <a:gdLst/>
                <a:ahLst/>
                <a:cxnLst/>
                <a:rect l="l" t="t" r="r" b="b"/>
                <a:pathLst>
                  <a:path w="9525" h="121444">
                    <a:moveTo>
                      <a:pt x="0" y="0"/>
                    </a:moveTo>
                    <a:lnTo>
                      <a:pt x="0" y="121444"/>
                    </a:lnTo>
                  </a:path>
                </a:pathLst>
              </a:custGeom>
              <a:noFill/>
              <a:ln w="14288">
                <a:solidFill>
                  <a:srgbClr val="FFFFFF"/>
                </a:solidFill>
              </a:ln>
            </p:spPr>
          </p:sp>
          <p:sp>
            <p:nvSpPr>
              <p:cNvPr id="139" name="Freeform 139"/>
              <p:cNvSpPr/>
              <p:nvPr/>
            </p:nvSpPr>
            <p:spPr>
              <a:xfrm>
                <a:off x="8374856" y="3767138"/>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FFFFFF"/>
                </a:solidFill>
              </a:ln>
            </p:spPr>
          </p:sp>
          <p:sp>
            <p:nvSpPr>
              <p:cNvPr id="140" name="Freeform 140"/>
              <p:cNvSpPr/>
              <p:nvPr/>
            </p:nvSpPr>
            <p:spPr>
              <a:xfrm>
                <a:off x="8460581" y="3767138"/>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FFFFFF"/>
                </a:solidFill>
              </a:ln>
            </p:spPr>
          </p:sp>
        </p:grpSp>
        <p:sp>
          <p:nvSpPr>
            <p:cNvPr id="142" name="TextBox 142"/>
            <p:cNvSpPr txBox="1"/>
            <p:nvPr/>
          </p:nvSpPr>
          <p:spPr>
            <a:xfrm>
              <a:off x="8643938" y="3682841"/>
              <a:ext cx="1334186"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一次性收益与持续收益分开</a:t>
              </a:r>
            </a:p>
          </p:txBody>
        </p:sp>
        <p:sp>
          <p:nvSpPr>
            <p:cNvPr id="143" name="TextBox 143"/>
            <p:cNvSpPr txBox="1"/>
            <p:nvPr/>
          </p:nvSpPr>
          <p:spPr>
            <a:xfrm>
              <a:off x="8643938" y="3855482"/>
              <a:ext cx="1215720"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分类核算、分别披露，不能混算</a:t>
              </a:r>
            </a:p>
          </p:txBody>
        </p:sp>
      </p:grpSp>
      <p:grpSp>
        <p:nvGrpSpPr>
          <p:cNvPr id="153" name="principle-3"/>
          <p:cNvGrpSpPr/>
          <p:nvPr/>
        </p:nvGrpSpPr>
        <p:grpSpPr>
          <a:xfrm>
            <a:off x="8210550" y="4076700"/>
            <a:ext cx="3600450" cy="457200"/>
            <a:chOff x="8210550" y="4076700"/>
            <a:chExt cx="3600450" cy="457200"/>
          </a:xfrm>
        </p:grpSpPr>
        <p:sp>
          <p:nvSpPr>
            <p:cNvPr id="145" name="Rectangle 145"/>
            <p:cNvSpPr/>
            <p:nvPr/>
          </p:nvSpPr>
          <p:spPr>
            <a:xfrm>
              <a:off x="8210550" y="4076700"/>
              <a:ext cx="3600450" cy="457200"/>
            </a:xfrm>
            <a:prstGeom prst="roundRect">
              <a:avLst>
                <a:gd name="adj" fmla="val 12500"/>
              </a:avLst>
            </a:prstGeom>
            <a:solidFill>
              <a:srgbClr val="FFFFFF"/>
            </a:solidFill>
            <a:ln w="9525">
              <a:solidFill>
                <a:srgbClr val="C7D9F0"/>
              </a:solidFill>
            </a:ln>
          </p:spPr>
        </p:sp>
        <p:sp>
          <p:nvSpPr>
            <p:cNvPr id="146" name="Ellipse 146"/>
            <p:cNvSpPr/>
            <p:nvPr/>
          </p:nvSpPr>
          <p:spPr>
            <a:xfrm>
              <a:off x="8305800" y="4171950"/>
              <a:ext cx="266700" cy="266700"/>
            </a:xfrm>
            <a:prstGeom prst="ellipse">
              <a:avLst/>
            </a:prstGeom>
            <a:solidFill>
              <a:srgbClr val="9C331E"/>
            </a:solidFill>
            <a:ln>
              <a:noFill/>
            </a:ln>
          </p:spPr>
        </p:sp>
        <p:grpSp>
          <p:nvGrpSpPr>
            <p:cNvPr id="150" name="Group 150"/>
            <p:cNvGrpSpPr/>
            <p:nvPr/>
          </p:nvGrpSpPr>
          <p:grpSpPr>
            <a:xfrm>
              <a:off x="8382000" y="4241006"/>
              <a:ext cx="114300" cy="128588"/>
              <a:chOff x="8382000" y="4241006"/>
              <a:chExt cx="114300" cy="128588"/>
            </a:xfrm>
          </p:grpSpPr>
          <p:sp>
            <p:nvSpPr>
              <p:cNvPr id="147" name="Freeform 147"/>
              <p:cNvSpPr/>
              <p:nvPr/>
            </p:nvSpPr>
            <p:spPr>
              <a:xfrm>
                <a:off x="8382000" y="424100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148" name="Freeform 148"/>
              <p:cNvSpPr/>
              <p:nvPr/>
            </p:nvSpPr>
            <p:spPr>
              <a:xfrm>
                <a:off x="8382000" y="426243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149" name="Freeform 149"/>
              <p:cNvSpPr/>
              <p:nvPr/>
            </p:nvSpPr>
            <p:spPr>
              <a:xfrm>
                <a:off x="8382000" y="430530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sp>
          <p:nvSpPr>
            <p:cNvPr id="151" name="TextBox 151"/>
            <p:cNvSpPr txBox="1"/>
            <p:nvPr/>
          </p:nvSpPr>
          <p:spPr>
            <a:xfrm>
              <a:off x="8643938" y="4178141"/>
              <a:ext cx="892632"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成本投入同步记录</a:t>
              </a:r>
            </a:p>
          </p:txBody>
        </p:sp>
        <p:sp>
          <p:nvSpPr>
            <p:cNvPr id="152" name="TextBox 152"/>
            <p:cNvSpPr txBox="1"/>
            <p:nvPr/>
          </p:nvSpPr>
          <p:spPr>
            <a:xfrm>
              <a:off x="8643938" y="4350782"/>
              <a:ext cx="1732661"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与收益对应归集，反映净收益与投入产出关系</a:t>
              </a:r>
            </a:p>
          </p:txBody>
        </p:sp>
      </p:grpSp>
      <p:grpSp>
        <p:nvGrpSpPr>
          <p:cNvPr id="156" name="bottom-slogan"/>
          <p:cNvGrpSpPr/>
          <p:nvPr/>
        </p:nvGrpSpPr>
        <p:grpSpPr>
          <a:xfrm>
            <a:off x="449199" y="5678329"/>
            <a:ext cx="3611829" cy="484347"/>
            <a:chOff x="449199" y="5678329"/>
            <a:chExt cx="3611829" cy="484347"/>
          </a:xfrm>
        </p:grpSpPr>
        <p:sp>
          <p:nvSpPr>
            <p:cNvPr id="154" name="TextBox 154"/>
            <p:cNvSpPr txBox="1"/>
            <p:nvPr/>
          </p:nvSpPr>
          <p:spPr>
            <a:xfrm>
              <a:off x="449199" y="5678329"/>
              <a:ext cx="3611829" cy="308039"/>
            </a:xfrm>
            <a:prstGeom prst="rect">
              <a:avLst/>
            </a:prstGeom>
            <a:noFill/>
            <a:ln>
              <a:noFill/>
            </a:ln>
          </p:spPr>
          <p:txBody>
            <a:bodyPr wrap="none" lIns="0" tIns="0" rIns="0" bIns="0" anchor="t" anchorCtr="0">
              <a:spAutoFit/>
            </a:bodyPr>
            <a:lstStyle/>
            <a:p>
              <a:pPr algn="l"/>
              <a:r>
                <a:rPr lang="zh-CN" sz="1580" b="1" i="1" dirty="0">
                  <a:solidFill>
                    <a:srgbClr val="5E2114"/>
                  </a:solidFill>
                  <a:latin typeface="+mj-lt"/>
                  <a:ea typeface="+mj-ea"/>
                  <a:cs typeface="+mj-cs"/>
                </a:rPr>
                <a:t>以公开信息为镜　以可验证价值为尺</a:t>
              </a:r>
            </a:p>
          </p:txBody>
        </p:sp>
        <p:sp>
          <p:nvSpPr>
            <p:cNvPr id="155" name="TextBox 155"/>
            <p:cNvSpPr txBox="1"/>
            <p:nvPr/>
          </p:nvSpPr>
          <p:spPr>
            <a:xfrm>
              <a:off x="452438" y="6015038"/>
              <a:ext cx="2331720" cy="147638"/>
            </a:xfrm>
            <a:prstGeom prst="rect">
              <a:avLst/>
            </a:prstGeom>
            <a:noFill/>
            <a:ln>
              <a:noFill/>
            </a:ln>
          </p:spPr>
          <p:txBody>
            <a:bodyPr wrap="none" lIns="0" tIns="0" rIns="0" bIns="0" anchor="t" anchorCtr="0">
              <a:spAutoFit/>
            </a:bodyPr>
            <a:lstStyle/>
            <a:p>
              <a:pPr algn="l"/>
              <a:r>
                <a:rPr lang="zh-CN" sz="750" dirty="0">
                  <a:solidFill>
                    <a:srgbClr val="9B807A"/>
                  </a:solidFill>
                  <a:latin typeface="+mn-lt"/>
                  <a:ea typeface="+mn-ea"/>
                  <a:cs typeface="+mn-cs"/>
                </a:rPr>
                <a:t>对标先进经验　推动管理提升　服务国企高质量发展</a:t>
              </a:r>
            </a:p>
          </p:txBody>
        </p:sp>
      </p:grpSp>
      <p:grpSp>
        <p:nvGrpSpPr>
          <p:cNvPr id="160" name="footer"/>
          <p:cNvGrpSpPr/>
          <p:nvPr/>
        </p:nvGrpSpPr>
        <p:grpSpPr>
          <a:xfrm>
            <a:off x="0" y="6705600"/>
            <a:ext cx="12192000" cy="173117"/>
            <a:chOff x="0" y="6705600"/>
            <a:chExt cx="12192000" cy="173117"/>
          </a:xfrm>
        </p:grpSpPr>
        <p:sp>
          <p:nvSpPr>
            <p:cNvPr id="157" name="Rectangle 157"/>
            <p:cNvSpPr/>
            <p:nvPr/>
          </p:nvSpPr>
          <p:spPr>
            <a:xfrm>
              <a:off x="0" y="6705600"/>
              <a:ext cx="12192000" cy="152400"/>
            </a:xfrm>
            <a:prstGeom prst="rect">
              <a:avLst/>
            </a:prstGeom>
            <a:solidFill>
              <a:srgbClr val="632012"/>
            </a:solidFill>
            <a:ln>
              <a:noFill/>
            </a:ln>
          </p:spPr>
        </p:sp>
        <p:sp>
          <p:nvSpPr>
            <p:cNvPr id="158" name="TextBox 158"/>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59" name="TextBox 159"/>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13/20</a:t>
              </a:r>
            </a:p>
          </p:txBody>
        </p:sp>
      </p:gr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0" name="header"/>
          <p:cNvGrpSpPr/>
          <p:nvPr/>
        </p:nvGrpSpPr>
        <p:grpSpPr>
          <a:xfrm>
            <a:off x="0" y="0"/>
            <a:ext cx="11734800" cy="551879"/>
            <a:chOff x="0" y="0"/>
            <a:chExt cx="117348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3" name="TextBox 3"/>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14</a:t>
              </a:r>
            </a:p>
          </p:txBody>
        </p:sp>
        <p:sp>
          <p:nvSpPr>
            <p:cNvPr id="4" name="TextBox 4"/>
            <p:cNvSpPr txBox="1"/>
            <p:nvPr/>
          </p:nvSpPr>
          <p:spPr>
            <a:xfrm>
              <a:off x="942594" y="170498"/>
              <a:ext cx="5844540"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行业差异</a:t>
              </a:r>
              <a:r>
                <a:rPr lang="zh-CN" sz="1950" b="1" dirty="0">
                  <a:solidFill>
                    <a:srgbClr val="5E2114"/>
                  </a:solidFill>
                  <a:latin typeface="+mj-lt"/>
                  <a:ea typeface="+mj-ea"/>
                  <a:cs typeface="+mj-cs"/>
                </a:rPr>
                <a:t>｜流程越标准，短期越容易形成硬证据</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6" name="Rectangle 6"/>
            <p:cNvSpPr/>
            <p:nvPr/>
          </p:nvSpPr>
          <p:spPr>
            <a:xfrm>
              <a:off x="9620250" y="57150"/>
              <a:ext cx="2114550" cy="438150"/>
            </a:xfrm>
            <a:prstGeom prst="roundRect">
              <a:avLst>
                <a:gd name="adj" fmla="val 13043"/>
              </a:avLst>
            </a:prstGeom>
            <a:solidFill>
              <a:srgbClr val="EFF5FC"/>
            </a:solidFill>
            <a:ln w="9525">
              <a:solidFill>
                <a:srgbClr val="C7D9F0"/>
              </a:solidFill>
            </a:ln>
          </p:spPr>
        </p:sp>
        <p:sp>
          <p:nvSpPr>
            <p:cNvPr id="7" name="Polygon 7"/>
            <p:cNvSpPr/>
            <p:nvPr/>
          </p:nvSpPr>
          <p:spPr>
            <a:xfrm>
              <a:off x="9715500" y="171450"/>
              <a:ext cx="514350" cy="266700"/>
            </a:xfrm>
            <a:custGeom>
              <a:avLst/>
              <a:gdLst/>
              <a:ahLst/>
              <a:cxnLst/>
              <a:rect l="l" t="t" r="r" b="b"/>
              <a:pathLst>
                <a:path w="514350" h="266700">
                  <a:moveTo>
                    <a:pt x="0" y="266700"/>
                  </a:moveTo>
                  <a:lnTo>
                    <a:pt x="152400" y="38100"/>
                  </a:lnTo>
                  <a:lnTo>
                    <a:pt x="266700" y="152400"/>
                  </a:lnTo>
                  <a:lnTo>
                    <a:pt x="361950" y="0"/>
                  </a:lnTo>
                  <a:lnTo>
                    <a:pt x="514350" y="266700"/>
                  </a:lnTo>
                  <a:close/>
                </a:path>
              </a:pathLst>
            </a:custGeom>
            <a:solidFill>
              <a:srgbClr val="D64A2E"/>
            </a:solidFill>
            <a:ln>
              <a:noFill/>
            </a:ln>
          </p:spPr>
        </p:sp>
        <p:sp>
          <p:nvSpPr>
            <p:cNvPr id="8" name="TextBox 8"/>
            <p:cNvSpPr txBox="1"/>
            <p:nvPr/>
          </p:nvSpPr>
          <p:spPr>
            <a:xfrm>
              <a:off x="10320338" y="139541"/>
              <a:ext cx="451079" cy="161925"/>
            </a:xfrm>
            <a:prstGeom prst="rect">
              <a:avLst/>
            </a:prstGeom>
            <a:noFill/>
            <a:ln>
              <a:noFill/>
            </a:ln>
          </p:spPr>
          <p:txBody>
            <a:bodyPr wrap="none" lIns="0" tIns="0" rIns="0" bIns="0" anchor="t" anchorCtr="0">
              <a:spAutoFit/>
            </a:bodyPr>
            <a:lstStyle/>
            <a:p>
              <a:pPr algn="l"/>
              <a:r>
                <a:rPr lang="zh-CN" sz="820" b="1" dirty="0">
                  <a:solidFill>
                    <a:srgbClr val="5E2114"/>
                  </a:solidFill>
                  <a:latin typeface="+mn-lt"/>
                  <a:ea typeface="+mn-ea"/>
                  <a:cs typeface="+mn-cs"/>
                </a:rPr>
                <a:t>因业施策</a:t>
              </a:r>
            </a:p>
          </p:txBody>
        </p:sp>
        <p:sp>
          <p:nvSpPr>
            <p:cNvPr id="9" name="TextBox 9"/>
            <p:cNvSpPr txBox="1"/>
            <p:nvPr/>
          </p:nvSpPr>
          <p:spPr>
            <a:xfrm>
              <a:off x="10320338" y="312182"/>
              <a:ext cx="1388034"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从实际出发，寻找可持续的落地路径</a:t>
              </a:r>
            </a:p>
          </p:txBody>
        </p:sp>
      </p:grpSp>
      <p:grpSp>
        <p:nvGrpSpPr>
          <p:cNvPr id="12" name="subtitle"/>
          <p:cNvGrpSpPr/>
          <p:nvPr/>
        </p:nvGrpSpPr>
        <p:grpSpPr>
          <a:xfrm>
            <a:off x="985838" y="660797"/>
            <a:ext cx="5830494" cy="183356"/>
            <a:chOff x="985838" y="660797"/>
            <a:chExt cx="5830494" cy="183356"/>
          </a:xfrm>
        </p:grpSpPr>
        <p:sp>
          <p:nvSpPr>
            <p:cNvPr id="11" name="TextBox 11"/>
            <p:cNvSpPr txBox="1"/>
            <p:nvPr/>
          </p:nvSpPr>
          <p:spPr>
            <a:xfrm>
              <a:off x="985838" y="660797"/>
              <a:ext cx="5830494" cy="183356"/>
            </a:xfrm>
            <a:prstGeom prst="rect">
              <a:avLst/>
            </a:prstGeom>
            <a:noFill/>
            <a:ln>
              <a:noFill/>
            </a:ln>
          </p:spPr>
          <p:txBody>
            <a:bodyPr wrap="none" lIns="0" tIns="0" rIns="0" bIns="0" anchor="t" anchorCtr="0">
              <a:spAutoFit/>
            </a:bodyPr>
            <a:lstStyle/>
            <a:p>
              <a:pPr algn="l"/>
              <a:r>
                <a:rPr lang="zh-CN" sz="940" dirty="0">
                  <a:solidFill>
                    <a:srgbClr val="573F3A"/>
                  </a:solidFill>
                  <a:latin typeface="+mn-lt"/>
                  <a:ea typeface="+mn-ea"/>
                  <a:cs typeface="+mn-cs"/>
                </a:rPr>
                <a:t>不同行业在数据基础、流程特征与约束条件上存在显著差异，决定了短期内形成可验证成效的难易程度。</a:t>
              </a:r>
            </a:p>
          </p:txBody>
        </p:sp>
      </p:grpSp>
      <p:grpSp>
        <p:nvGrpSpPr>
          <p:cNvPr id="33" name="table-head"/>
          <p:cNvGrpSpPr/>
          <p:nvPr/>
        </p:nvGrpSpPr>
        <p:grpSpPr>
          <a:xfrm>
            <a:off x="381000" y="876300"/>
            <a:ext cx="11430000" cy="419100"/>
            <a:chOff x="381000" y="876300"/>
            <a:chExt cx="11430000" cy="419100"/>
          </a:xfrm>
        </p:grpSpPr>
        <p:sp>
          <p:nvSpPr>
            <p:cNvPr id="13" name="Rectangle 13"/>
            <p:cNvSpPr/>
            <p:nvPr/>
          </p:nvSpPr>
          <p:spPr>
            <a:xfrm>
              <a:off x="381000" y="876300"/>
              <a:ext cx="11430000" cy="419100"/>
            </a:xfrm>
            <a:prstGeom prst="rect">
              <a:avLst/>
            </a:prstGeom>
            <a:solidFill>
              <a:srgbClr val="632012"/>
            </a:solidFill>
            <a:ln>
              <a:noFill/>
            </a:ln>
          </p:spPr>
        </p:sp>
        <p:sp>
          <p:nvSpPr>
            <p:cNvPr id="14" name="TextBox 14"/>
            <p:cNvSpPr txBox="1"/>
            <p:nvPr/>
          </p:nvSpPr>
          <p:spPr>
            <a:xfrm>
              <a:off x="767994" y="10282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行业</a:t>
              </a:r>
            </a:p>
          </p:txBody>
        </p:sp>
        <p:sp>
          <p:nvSpPr>
            <p:cNvPr id="15" name="Line 15"/>
            <p:cNvSpPr/>
            <p:nvPr/>
          </p:nvSpPr>
          <p:spPr>
            <a:xfrm>
              <a:off x="1428750" y="952500"/>
              <a:ext cx="9525" cy="266700"/>
            </a:xfrm>
            <a:custGeom>
              <a:avLst/>
              <a:gdLst/>
              <a:ahLst/>
              <a:cxnLst/>
              <a:rect l="l" t="t" r="r" b="b"/>
              <a:pathLst>
                <a:path w="9525" h="266700">
                  <a:moveTo>
                    <a:pt x="0" y="0"/>
                  </a:moveTo>
                  <a:lnTo>
                    <a:pt x="0" y="266700"/>
                  </a:lnTo>
                </a:path>
              </a:pathLst>
            </a:custGeom>
            <a:noFill/>
            <a:ln w="9525">
              <a:solidFill>
                <a:srgbClr val="9E4C3B"/>
              </a:solidFill>
            </a:ln>
          </p:spPr>
        </p:sp>
        <p:sp>
          <p:nvSpPr>
            <p:cNvPr id="16" name="TextBox 16"/>
            <p:cNvSpPr txBox="1"/>
            <p:nvPr/>
          </p:nvSpPr>
          <p:spPr>
            <a:xfrm>
              <a:off x="2001330" y="964168"/>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数据连续性</a:t>
              </a:r>
            </a:p>
          </p:txBody>
        </p:sp>
        <p:sp>
          <p:nvSpPr>
            <p:cNvPr id="17" name="TextBox 17"/>
            <p:cNvSpPr txBox="1"/>
            <p:nvPr/>
          </p:nvSpPr>
          <p:spPr>
            <a:xfrm>
              <a:off x="1876133" y="1139428"/>
              <a:ext cx="838784" cy="111919"/>
            </a:xfrm>
            <a:prstGeom prst="rect">
              <a:avLst/>
            </a:prstGeom>
            <a:noFill/>
            <a:ln>
              <a:noFill/>
            </a:ln>
          </p:spPr>
          <p:txBody>
            <a:bodyPr wrap="none" lIns="0" tIns="0" rIns="0" bIns="0" anchor="t" anchorCtr="0">
              <a:spAutoFit/>
            </a:bodyPr>
            <a:lstStyle/>
            <a:p>
              <a:pPr algn="ctr"/>
              <a:r>
                <a:rPr lang="zh-CN" sz="560" dirty="0">
                  <a:solidFill>
                    <a:srgbClr val="ECB3A8"/>
                  </a:solidFill>
                  <a:latin typeface="+mn-lt"/>
                  <a:ea typeface="+mn-ea"/>
                  <a:cs typeface="+mn-cs"/>
                </a:rPr>
                <a:t>数据来源是否连续、稳定</a:t>
              </a:r>
            </a:p>
          </p:txBody>
        </p:sp>
        <p:sp>
          <p:nvSpPr>
            <p:cNvPr id="18" name="Line 18"/>
            <p:cNvSpPr/>
            <p:nvPr/>
          </p:nvSpPr>
          <p:spPr>
            <a:xfrm>
              <a:off x="3162300" y="952500"/>
              <a:ext cx="9525" cy="266700"/>
            </a:xfrm>
            <a:custGeom>
              <a:avLst/>
              <a:gdLst/>
              <a:ahLst/>
              <a:cxnLst/>
              <a:rect l="l" t="t" r="r" b="b"/>
              <a:pathLst>
                <a:path w="9525" h="266700">
                  <a:moveTo>
                    <a:pt x="0" y="0"/>
                  </a:moveTo>
                  <a:lnTo>
                    <a:pt x="0" y="266700"/>
                  </a:lnTo>
                </a:path>
              </a:pathLst>
            </a:custGeom>
            <a:noFill/>
            <a:ln w="9525">
              <a:solidFill>
                <a:srgbClr val="9E4C3B"/>
              </a:solidFill>
            </a:ln>
          </p:spPr>
        </p:sp>
        <p:sp>
          <p:nvSpPr>
            <p:cNvPr id="19" name="TextBox 19"/>
            <p:cNvSpPr txBox="1"/>
            <p:nvPr/>
          </p:nvSpPr>
          <p:spPr>
            <a:xfrm>
              <a:off x="3725354" y="964168"/>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流程标准化</a:t>
              </a:r>
            </a:p>
          </p:txBody>
        </p:sp>
        <p:sp>
          <p:nvSpPr>
            <p:cNvPr id="20" name="TextBox 20"/>
            <p:cNvSpPr txBox="1"/>
            <p:nvPr/>
          </p:nvSpPr>
          <p:spPr>
            <a:xfrm>
              <a:off x="3637852" y="1139428"/>
              <a:ext cx="763397" cy="111919"/>
            </a:xfrm>
            <a:prstGeom prst="rect">
              <a:avLst/>
            </a:prstGeom>
            <a:noFill/>
            <a:ln>
              <a:noFill/>
            </a:ln>
          </p:spPr>
          <p:txBody>
            <a:bodyPr wrap="none" lIns="0" tIns="0" rIns="0" bIns="0" anchor="t" anchorCtr="0">
              <a:spAutoFit/>
            </a:bodyPr>
            <a:lstStyle/>
            <a:p>
              <a:pPr algn="ctr"/>
              <a:r>
                <a:rPr lang="zh-CN" sz="560" dirty="0">
                  <a:solidFill>
                    <a:srgbClr val="ECB3A8"/>
                  </a:solidFill>
                  <a:latin typeface="+mn-lt"/>
                  <a:ea typeface="+mn-ea"/>
                  <a:cs typeface="+mn-cs"/>
                </a:rPr>
                <a:t>业务流程是否相对统一</a:t>
              </a:r>
            </a:p>
          </p:txBody>
        </p:sp>
        <p:sp>
          <p:nvSpPr>
            <p:cNvPr id="21" name="Line 21"/>
            <p:cNvSpPr/>
            <p:nvPr/>
          </p:nvSpPr>
          <p:spPr>
            <a:xfrm>
              <a:off x="4886325" y="952500"/>
              <a:ext cx="9525" cy="266700"/>
            </a:xfrm>
            <a:custGeom>
              <a:avLst/>
              <a:gdLst/>
              <a:ahLst/>
              <a:cxnLst/>
              <a:rect l="l" t="t" r="r" b="b"/>
              <a:pathLst>
                <a:path w="9525" h="266700">
                  <a:moveTo>
                    <a:pt x="0" y="0"/>
                  </a:moveTo>
                  <a:lnTo>
                    <a:pt x="0" y="266700"/>
                  </a:lnTo>
                </a:path>
              </a:pathLst>
            </a:custGeom>
            <a:noFill/>
            <a:ln w="9525">
              <a:solidFill>
                <a:srgbClr val="9E4C3B"/>
              </a:solidFill>
            </a:ln>
          </p:spPr>
        </p:sp>
        <p:sp>
          <p:nvSpPr>
            <p:cNvPr id="22" name="TextBox 22"/>
            <p:cNvSpPr txBox="1"/>
            <p:nvPr/>
          </p:nvSpPr>
          <p:spPr>
            <a:xfrm>
              <a:off x="5458904" y="964168"/>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系统可接入</a:t>
              </a:r>
            </a:p>
          </p:txBody>
        </p:sp>
        <p:sp>
          <p:nvSpPr>
            <p:cNvPr id="23" name="TextBox 23"/>
            <p:cNvSpPr txBox="1"/>
            <p:nvPr/>
          </p:nvSpPr>
          <p:spPr>
            <a:xfrm>
              <a:off x="5296014" y="1139428"/>
              <a:ext cx="914171" cy="111919"/>
            </a:xfrm>
            <a:prstGeom prst="rect">
              <a:avLst/>
            </a:prstGeom>
            <a:noFill/>
            <a:ln>
              <a:noFill/>
            </a:ln>
          </p:spPr>
          <p:txBody>
            <a:bodyPr wrap="none" lIns="0" tIns="0" rIns="0" bIns="0" anchor="t" anchorCtr="0">
              <a:spAutoFit/>
            </a:bodyPr>
            <a:lstStyle/>
            <a:p>
              <a:pPr algn="ctr"/>
              <a:r>
                <a:rPr lang="zh-CN" sz="560" dirty="0">
                  <a:solidFill>
                    <a:srgbClr val="ECB3A8"/>
                  </a:solidFill>
                  <a:latin typeface="+mn-lt"/>
                  <a:ea typeface="+mn-ea"/>
                  <a:cs typeface="+mn-cs"/>
                </a:rPr>
                <a:t>现有系统是否成熟、易对接</a:t>
              </a:r>
            </a:p>
          </p:txBody>
        </p:sp>
        <p:sp>
          <p:nvSpPr>
            <p:cNvPr id="24" name="Line 24"/>
            <p:cNvSpPr/>
            <p:nvPr/>
          </p:nvSpPr>
          <p:spPr>
            <a:xfrm>
              <a:off x="6619875" y="952500"/>
              <a:ext cx="9525" cy="266700"/>
            </a:xfrm>
            <a:custGeom>
              <a:avLst/>
              <a:gdLst/>
              <a:ahLst/>
              <a:cxnLst/>
              <a:rect l="l" t="t" r="r" b="b"/>
              <a:pathLst>
                <a:path w="9525" h="266700">
                  <a:moveTo>
                    <a:pt x="0" y="0"/>
                  </a:moveTo>
                  <a:lnTo>
                    <a:pt x="0" y="266700"/>
                  </a:lnTo>
                </a:path>
              </a:pathLst>
            </a:custGeom>
            <a:noFill/>
            <a:ln w="9525">
              <a:solidFill>
                <a:srgbClr val="9E4C3B"/>
              </a:solidFill>
            </a:ln>
          </p:spPr>
        </p:sp>
        <p:sp>
          <p:nvSpPr>
            <p:cNvPr id="25" name="TextBox 25"/>
            <p:cNvSpPr txBox="1"/>
            <p:nvPr/>
          </p:nvSpPr>
          <p:spPr>
            <a:xfrm>
              <a:off x="7250341" y="96416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风险约束</a:t>
              </a:r>
            </a:p>
          </p:txBody>
        </p:sp>
        <p:sp>
          <p:nvSpPr>
            <p:cNvPr id="26" name="TextBox 26"/>
            <p:cNvSpPr txBox="1"/>
            <p:nvPr/>
          </p:nvSpPr>
          <p:spPr>
            <a:xfrm>
              <a:off x="7104952" y="1139428"/>
              <a:ext cx="763397" cy="111919"/>
            </a:xfrm>
            <a:prstGeom prst="rect">
              <a:avLst/>
            </a:prstGeom>
            <a:noFill/>
            <a:ln>
              <a:noFill/>
            </a:ln>
          </p:spPr>
          <p:txBody>
            <a:bodyPr wrap="none" lIns="0" tIns="0" rIns="0" bIns="0" anchor="t" anchorCtr="0">
              <a:spAutoFit/>
            </a:bodyPr>
            <a:lstStyle/>
            <a:p>
              <a:pPr algn="ctr"/>
              <a:r>
                <a:rPr lang="zh-CN" sz="560" dirty="0">
                  <a:solidFill>
                    <a:srgbClr val="ECB3A8"/>
                  </a:solidFill>
                  <a:latin typeface="+mn-lt"/>
                  <a:ea typeface="+mn-ea"/>
                  <a:cs typeface="+mn-cs"/>
                </a:rPr>
                <a:t>安全、合规等约束强度</a:t>
              </a:r>
            </a:p>
          </p:txBody>
        </p:sp>
        <p:sp>
          <p:nvSpPr>
            <p:cNvPr id="27" name="Line 27"/>
            <p:cNvSpPr/>
            <p:nvPr/>
          </p:nvSpPr>
          <p:spPr>
            <a:xfrm>
              <a:off x="8353425" y="952500"/>
              <a:ext cx="9525" cy="266700"/>
            </a:xfrm>
            <a:custGeom>
              <a:avLst/>
              <a:gdLst/>
              <a:ahLst/>
              <a:cxnLst/>
              <a:rect l="l" t="t" r="r" b="b"/>
              <a:pathLst>
                <a:path w="9525" h="266700">
                  <a:moveTo>
                    <a:pt x="0" y="0"/>
                  </a:moveTo>
                  <a:lnTo>
                    <a:pt x="0" y="266700"/>
                  </a:lnTo>
                </a:path>
              </a:pathLst>
            </a:custGeom>
            <a:noFill/>
            <a:ln w="9525">
              <a:solidFill>
                <a:srgbClr val="9E4C3B"/>
              </a:solidFill>
            </a:ln>
          </p:spPr>
        </p:sp>
        <p:sp>
          <p:nvSpPr>
            <p:cNvPr id="28" name="TextBox 28"/>
            <p:cNvSpPr txBox="1"/>
            <p:nvPr/>
          </p:nvSpPr>
          <p:spPr>
            <a:xfrm>
              <a:off x="8916480" y="964168"/>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成效可量化</a:t>
              </a:r>
            </a:p>
          </p:txBody>
        </p:sp>
        <p:sp>
          <p:nvSpPr>
            <p:cNvPr id="29" name="TextBox 29"/>
            <p:cNvSpPr txBox="1"/>
            <p:nvPr/>
          </p:nvSpPr>
          <p:spPr>
            <a:xfrm>
              <a:off x="8828976" y="1139428"/>
              <a:ext cx="763397" cy="111919"/>
            </a:xfrm>
            <a:prstGeom prst="rect">
              <a:avLst/>
            </a:prstGeom>
            <a:noFill/>
            <a:ln>
              <a:noFill/>
            </a:ln>
          </p:spPr>
          <p:txBody>
            <a:bodyPr wrap="none" lIns="0" tIns="0" rIns="0" bIns="0" anchor="t" anchorCtr="0">
              <a:spAutoFit/>
            </a:bodyPr>
            <a:lstStyle/>
            <a:p>
              <a:pPr algn="ctr"/>
              <a:r>
                <a:rPr lang="zh-CN" sz="560" dirty="0">
                  <a:solidFill>
                    <a:srgbClr val="ECB3A8"/>
                  </a:solidFill>
                  <a:latin typeface="+mn-lt"/>
                  <a:ea typeface="+mn-ea"/>
                  <a:cs typeface="+mn-cs"/>
                </a:rPr>
                <a:t>结果是否容易量化验证</a:t>
              </a:r>
            </a:p>
          </p:txBody>
        </p:sp>
        <p:sp>
          <p:nvSpPr>
            <p:cNvPr id="30" name="Line 30"/>
            <p:cNvSpPr/>
            <p:nvPr/>
          </p:nvSpPr>
          <p:spPr>
            <a:xfrm>
              <a:off x="10077450" y="952500"/>
              <a:ext cx="9525" cy="266700"/>
            </a:xfrm>
            <a:custGeom>
              <a:avLst/>
              <a:gdLst/>
              <a:ahLst/>
              <a:cxnLst/>
              <a:rect l="l" t="t" r="r" b="b"/>
              <a:pathLst>
                <a:path w="9525" h="266700">
                  <a:moveTo>
                    <a:pt x="0" y="0"/>
                  </a:moveTo>
                  <a:lnTo>
                    <a:pt x="0" y="266700"/>
                  </a:lnTo>
                </a:path>
              </a:pathLst>
            </a:custGeom>
            <a:noFill/>
            <a:ln w="9525">
              <a:solidFill>
                <a:srgbClr val="9E4C3B"/>
              </a:solidFill>
            </a:ln>
          </p:spPr>
        </p:sp>
        <p:sp>
          <p:nvSpPr>
            <p:cNvPr id="31" name="TextBox 31"/>
            <p:cNvSpPr txBox="1"/>
            <p:nvPr/>
          </p:nvSpPr>
          <p:spPr>
            <a:xfrm>
              <a:off x="10592143" y="964168"/>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短期证据强度</a:t>
              </a:r>
            </a:p>
          </p:txBody>
        </p:sp>
        <p:sp>
          <p:nvSpPr>
            <p:cNvPr id="32" name="TextBox 32"/>
            <p:cNvSpPr txBox="1"/>
            <p:nvPr/>
          </p:nvSpPr>
          <p:spPr>
            <a:xfrm>
              <a:off x="10562526" y="1139428"/>
              <a:ext cx="763397" cy="111919"/>
            </a:xfrm>
            <a:prstGeom prst="rect">
              <a:avLst/>
            </a:prstGeom>
            <a:noFill/>
            <a:ln>
              <a:noFill/>
            </a:ln>
          </p:spPr>
          <p:txBody>
            <a:bodyPr wrap="none" lIns="0" tIns="0" rIns="0" bIns="0" anchor="t" anchorCtr="0">
              <a:spAutoFit/>
            </a:bodyPr>
            <a:lstStyle/>
            <a:p>
              <a:pPr algn="ctr"/>
              <a:r>
                <a:rPr lang="zh-CN" sz="560" dirty="0">
                  <a:solidFill>
                    <a:srgbClr val="ECB3A8"/>
                  </a:solidFill>
                  <a:latin typeface="+mn-lt"/>
                  <a:ea typeface="+mn-ea"/>
                  <a:cs typeface="+mn-cs"/>
                </a:rPr>
                <a:t>短期内形成证据的难易</a:t>
              </a:r>
            </a:p>
          </p:txBody>
        </p:sp>
      </p:grpSp>
      <p:grpSp>
        <p:nvGrpSpPr>
          <p:cNvPr id="61" name="row-1"/>
          <p:cNvGrpSpPr/>
          <p:nvPr/>
        </p:nvGrpSpPr>
        <p:grpSpPr>
          <a:xfrm>
            <a:off x="381000" y="1295400"/>
            <a:ext cx="11430000" cy="476250"/>
            <a:chOff x="381000" y="1295400"/>
            <a:chExt cx="11430000" cy="476250"/>
          </a:xfrm>
        </p:grpSpPr>
        <p:sp>
          <p:nvSpPr>
            <p:cNvPr id="34" name="Rectangle 34"/>
            <p:cNvSpPr/>
            <p:nvPr/>
          </p:nvSpPr>
          <p:spPr>
            <a:xfrm>
              <a:off x="381000" y="1295400"/>
              <a:ext cx="11430000" cy="476250"/>
            </a:xfrm>
            <a:prstGeom prst="rect">
              <a:avLst/>
            </a:prstGeom>
            <a:solidFill>
              <a:srgbClr val="FFFFFF"/>
            </a:solidFill>
            <a:ln w="9525">
              <a:solidFill>
                <a:srgbClr val="C7D9F0"/>
              </a:solidFill>
            </a:ln>
          </p:spPr>
        </p:sp>
        <p:sp>
          <p:nvSpPr>
            <p:cNvPr id="35" name="Rectangle 35"/>
            <p:cNvSpPr/>
            <p:nvPr/>
          </p:nvSpPr>
          <p:spPr>
            <a:xfrm>
              <a:off x="381000" y="1295400"/>
              <a:ext cx="1047750" cy="476250"/>
            </a:xfrm>
            <a:prstGeom prst="rect">
              <a:avLst/>
            </a:prstGeom>
            <a:solidFill>
              <a:srgbClr val="EFF5FC"/>
            </a:solidFill>
            <a:ln w="9525">
              <a:solidFill>
                <a:srgbClr val="C7D9F0"/>
              </a:solidFill>
            </a:ln>
          </p:spPr>
        </p:sp>
        <p:sp>
          <p:nvSpPr>
            <p:cNvPr id="36" name="Freeform 36"/>
            <p:cNvSpPr/>
            <p:nvPr/>
          </p:nvSpPr>
          <p:spPr>
            <a:xfrm>
              <a:off x="531019" y="1469231"/>
              <a:ext cx="100012" cy="128588"/>
            </a:xfrm>
            <a:custGeom>
              <a:avLst/>
              <a:gdLst/>
              <a:ahLst/>
              <a:cxnLst/>
              <a:rect l="l" t="t" r="r" b="b"/>
              <a:pathLst>
                <a:path w="100012" h="128588">
                  <a:moveTo>
                    <a:pt x="57150" y="0"/>
                  </a:moveTo>
                  <a:lnTo>
                    <a:pt x="57150" y="50006"/>
                  </a:lnTo>
                  <a:lnTo>
                    <a:pt x="100012" y="50006"/>
                  </a:lnTo>
                  <a:lnTo>
                    <a:pt x="42862" y="128588"/>
                  </a:lnTo>
                  <a:lnTo>
                    <a:pt x="42862" y="78581"/>
                  </a:lnTo>
                  <a:lnTo>
                    <a:pt x="0" y="78581"/>
                  </a:lnTo>
                  <a:lnTo>
                    <a:pt x="57150" y="0"/>
                  </a:lnTo>
                </a:path>
              </a:pathLst>
            </a:custGeom>
            <a:noFill/>
            <a:ln w="14288">
              <a:solidFill>
                <a:srgbClr val="9C331E"/>
              </a:solidFill>
            </a:ln>
          </p:spPr>
        </p:sp>
        <p:sp>
          <p:nvSpPr>
            <p:cNvPr id="37" name="TextBox 37"/>
            <p:cNvSpPr txBox="1"/>
            <p:nvPr/>
          </p:nvSpPr>
          <p:spPr>
            <a:xfrm>
              <a:off x="738188" y="1488043"/>
              <a:ext cx="472618"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能源电力</a:t>
              </a:r>
            </a:p>
          </p:txBody>
        </p:sp>
        <p:sp>
          <p:nvSpPr>
            <p:cNvPr id="38" name="Line 38"/>
            <p:cNvSpPr/>
            <p:nvPr/>
          </p:nvSpPr>
          <p:spPr>
            <a:xfrm>
              <a:off x="3162300" y="1295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39" name="Line 39"/>
            <p:cNvSpPr/>
            <p:nvPr/>
          </p:nvSpPr>
          <p:spPr>
            <a:xfrm>
              <a:off x="4886325" y="1295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40" name="Line 40"/>
            <p:cNvSpPr/>
            <p:nvPr/>
          </p:nvSpPr>
          <p:spPr>
            <a:xfrm>
              <a:off x="6619875" y="1295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41" name="Line 41"/>
            <p:cNvSpPr/>
            <p:nvPr/>
          </p:nvSpPr>
          <p:spPr>
            <a:xfrm>
              <a:off x="8353425" y="1295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42" name="Line 42"/>
            <p:cNvSpPr/>
            <p:nvPr/>
          </p:nvSpPr>
          <p:spPr>
            <a:xfrm>
              <a:off x="10077450" y="1295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43" name="Rectangle 43"/>
            <p:cNvSpPr/>
            <p:nvPr/>
          </p:nvSpPr>
          <p:spPr>
            <a:xfrm>
              <a:off x="2105025" y="1371600"/>
              <a:ext cx="381000" cy="171450"/>
            </a:xfrm>
            <a:prstGeom prst="roundRect">
              <a:avLst>
                <a:gd name="adj" fmla="val 50000"/>
              </a:avLst>
            </a:prstGeom>
            <a:solidFill>
              <a:srgbClr val="9C331E"/>
            </a:solidFill>
            <a:ln>
              <a:noFill/>
            </a:ln>
          </p:spPr>
        </p:sp>
        <p:sp>
          <p:nvSpPr>
            <p:cNvPr id="44" name="TextBox 44"/>
            <p:cNvSpPr txBox="1"/>
            <p:nvPr/>
          </p:nvSpPr>
          <p:spPr>
            <a:xfrm>
              <a:off x="2240280" y="1414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45" name="TextBox 45"/>
            <p:cNvSpPr txBox="1"/>
            <p:nvPr/>
          </p:nvSpPr>
          <p:spPr>
            <a:xfrm>
              <a:off x="1886902" y="1621155"/>
              <a:ext cx="817245"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传感器数据连续、实时</a:t>
              </a:r>
            </a:p>
          </p:txBody>
        </p:sp>
        <p:sp>
          <p:nvSpPr>
            <p:cNvPr id="46" name="Rectangle 46"/>
            <p:cNvSpPr/>
            <p:nvPr/>
          </p:nvSpPr>
          <p:spPr>
            <a:xfrm>
              <a:off x="3829050" y="1371600"/>
              <a:ext cx="381000" cy="171450"/>
            </a:xfrm>
            <a:prstGeom prst="roundRect">
              <a:avLst>
                <a:gd name="adj" fmla="val 50000"/>
              </a:avLst>
            </a:prstGeom>
            <a:solidFill>
              <a:srgbClr val="9C331E"/>
            </a:solidFill>
            <a:ln>
              <a:noFill/>
            </a:ln>
          </p:spPr>
        </p:sp>
        <p:sp>
          <p:nvSpPr>
            <p:cNvPr id="47" name="TextBox 47"/>
            <p:cNvSpPr txBox="1"/>
            <p:nvPr/>
          </p:nvSpPr>
          <p:spPr>
            <a:xfrm>
              <a:off x="3964305" y="1414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48" name="TextBox 48"/>
            <p:cNvSpPr txBox="1"/>
            <p:nvPr/>
          </p:nvSpPr>
          <p:spPr>
            <a:xfrm>
              <a:off x="3489770" y="1621155"/>
              <a:ext cx="1059561"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运行流程成熟、标准化程度高</a:t>
              </a:r>
            </a:p>
          </p:txBody>
        </p:sp>
        <p:sp>
          <p:nvSpPr>
            <p:cNvPr id="49" name="Rectangle 49"/>
            <p:cNvSpPr/>
            <p:nvPr/>
          </p:nvSpPr>
          <p:spPr>
            <a:xfrm>
              <a:off x="5562600" y="1371600"/>
              <a:ext cx="381000" cy="171450"/>
            </a:xfrm>
            <a:prstGeom prst="roundRect">
              <a:avLst>
                <a:gd name="adj" fmla="val 50000"/>
              </a:avLst>
            </a:prstGeom>
            <a:solidFill>
              <a:srgbClr val="9C331E"/>
            </a:solidFill>
            <a:ln>
              <a:noFill/>
            </a:ln>
          </p:spPr>
        </p:sp>
        <p:sp>
          <p:nvSpPr>
            <p:cNvPr id="50" name="TextBox 50"/>
            <p:cNvSpPr txBox="1"/>
            <p:nvPr/>
          </p:nvSpPr>
          <p:spPr>
            <a:xfrm>
              <a:off x="5697855" y="1414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51" name="TextBox 51"/>
            <p:cNvSpPr txBox="1"/>
            <p:nvPr/>
          </p:nvSpPr>
          <p:spPr>
            <a:xfrm>
              <a:off x="5384864" y="1621155"/>
              <a:ext cx="736473"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监控与管理系统完善</a:t>
              </a:r>
            </a:p>
          </p:txBody>
        </p:sp>
        <p:sp>
          <p:nvSpPr>
            <p:cNvPr id="52" name="Rectangle 52"/>
            <p:cNvSpPr/>
            <p:nvPr/>
          </p:nvSpPr>
          <p:spPr>
            <a:xfrm>
              <a:off x="7296150" y="1371600"/>
              <a:ext cx="381000" cy="171450"/>
            </a:xfrm>
            <a:prstGeom prst="roundRect">
              <a:avLst>
                <a:gd name="adj" fmla="val 50000"/>
              </a:avLst>
            </a:prstGeom>
            <a:solidFill>
              <a:srgbClr val="9C331E"/>
            </a:solidFill>
            <a:ln>
              <a:noFill/>
            </a:ln>
          </p:spPr>
        </p:sp>
        <p:sp>
          <p:nvSpPr>
            <p:cNvPr id="53" name="TextBox 53"/>
            <p:cNvSpPr txBox="1"/>
            <p:nvPr/>
          </p:nvSpPr>
          <p:spPr>
            <a:xfrm>
              <a:off x="7431405" y="1414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54" name="TextBox 54"/>
            <p:cNvSpPr txBox="1"/>
            <p:nvPr/>
          </p:nvSpPr>
          <p:spPr>
            <a:xfrm>
              <a:off x="7078028" y="1621155"/>
              <a:ext cx="817245"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安全要求高、监管严格</a:t>
              </a:r>
            </a:p>
          </p:txBody>
        </p:sp>
        <p:sp>
          <p:nvSpPr>
            <p:cNvPr id="55" name="Rectangle 55"/>
            <p:cNvSpPr/>
            <p:nvPr/>
          </p:nvSpPr>
          <p:spPr>
            <a:xfrm>
              <a:off x="9020175" y="1371600"/>
              <a:ext cx="381000" cy="171450"/>
            </a:xfrm>
            <a:prstGeom prst="roundRect">
              <a:avLst>
                <a:gd name="adj" fmla="val 50000"/>
              </a:avLst>
            </a:prstGeom>
            <a:solidFill>
              <a:srgbClr val="9C331E"/>
            </a:solidFill>
            <a:ln>
              <a:noFill/>
            </a:ln>
          </p:spPr>
        </p:sp>
        <p:sp>
          <p:nvSpPr>
            <p:cNvPr id="56" name="TextBox 56"/>
            <p:cNvSpPr txBox="1"/>
            <p:nvPr/>
          </p:nvSpPr>
          <p:spPr>
            <a:xfrm>
              <a:off x="9155430" y="1414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57" name="TextBox 57"/>
            <p:cNvSpPr txBox="1"/>
            <p:nvPr/>
          </p:nvSpPr>
          <p:spPr>
            <a:xfrm>
              <a:off x="8721280" y="162115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运行效率、稳定性等易量化</a:t>
              </a:r>
            </a:p>
          </p:txBody>
        </p:sp>
        <p:sp>
          <p:nvSpPr>
            <p:cNvPr id="58" name="Rectangle 58"/>
            <p:cNvSpPr/>
            <p:nvPr/>
          </p:nvSpPr>
          <p:spPr>
            <a:xfrm>
              <a:off x="10753725" y="1371600"/>
              <a:ext cx="381000" cy="171450"/>
            </a:xfrm>
            <a:prstGeom prst="roundRect">
              <a:avLst>
                <a:gd name="adj" fmla="val 50000"/>
              </a:avLst>
            </a:prstGeom>
            <a:solidFill>
              <a:srgbClr val="9C331E"/>
            </a:solidFill>
            <a:ln>
              <a:noFill/>
            </a:ln>
          </p:spPr>
        </p:sp>
        <p:sp>
          <p:nvSpPr>
            <p:cNvPr id="59" name="TextBox 59"/>
            <p:cNvSpPr txBox="1"/>
            <p:nvPr/>
          </p:nvSpPr>
          <p:spPr>
            <a:xfrm>
              <a:off x="10888980" y="1414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60" name="TextBox 60"/>
            <p:cNvSpPr txBox="1"/>
            <p:nvPr/>
          </p:nvSpPr>
          <p:spPr>
            <a:xfrm>
              <a:off x="10454830" y="162115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场景明确、易形成对比证据</a:t>
              </a:r>
            </a:p>
          </p:txBody>
        </p:sp>
      </p:grpSp>
      <p:grpSp>
        <p:nvGrpSpPr>
          <p:cNvPr id="91" name="row-2"/>
          <p:cNvGrpSpPr/>
          <p:nvPr/>
        </p:nvGrpSpPr>
        <p:grpSpPr>
          <a:xfrm>
            <a:off x="381000" y="1771650"/>
            <a:ext cx="11430000" cy="476250"/>
            <a:chOff x="381000" y="1771650"/>
            <a:chExt cx="11430000" cy="476250"/>
          </a:xfrm>
        </p:grpSpPr>
        <p:sp>
          <p:nvSpPr>
            <p:cNvPr id="62" name="Rectangle 62"/>
            <p:cNvSpPr/>
            <p:nvPr/>
          </p:nvSpPr>
          <p:spPr>
            <a:xfrm>
              <a:off x="381000" y="1771650"/>
              <a:ext cx="11430000" cy="476250"/>
            </a:xfrm>
            <a:prstGeom prst="rect">
              <a:avLst/>
            </a:prstGeom>
            <a:solidFill>
              <a:srgbClr val="F6F9FD"/>
            </a:solidFill>
            <a:ln w="9525">
              <a:solidFill>
                <a:srgbClr val="C7D9F0"/>
              </a:solidFill>
            </a:ln>
          </p:spPr>
        </p:sp>
        <p:sp>
          <p:nvSpPr>
            <p:cNvPr id="63" name="Rectangle 63"/>
            <p:cNvSpPr/>
            <p:nvPr/>
          </p:nvSpPr>
          <p:spPr>
            <a:xfrm>
              <a:off x="381000" y="1771650"/>
              <a:ext cx="1047750" cy="476250"/>
            </a:xfrm>
            <a:prstGeom prst="rect">
              <a:avLst/>
            </a:prstGeom>
            <a:solidFill>
              <a:srgbClr val="EFF5FC"/>
            </a:solidFill>
            <a:ln w="9525">
              <a:solidFill>
                <a:srgbClr val="C7D9F0"/>
              </a:solidFill>
            </a:ln>
          </p:spPr>
        </p:sp>
        <p:grpSp>
          <p:nvGrpSpPr>
            <p:cNvPr id="66" name="Group 66"/>
            <p:cNvGrpSpPr/>
            <p:nvPr/>
          </p:nvGrpSpPr>
          <p:grpSpPr>
            <a:xfrm>
              <a:off x="513595" y="1942345"/>
              <a:ext cx="134860" cy="134860"/>
              <a:chOff x="513595" y="1942345"/>
              <a:chExt cx="134860" cy="134860"/>
            </a:xfrm>
          </p:grpSpPr>
          <p:sp>
            <p:nvSpPr>
              <p:cNvPr id="64" name="Freeform 64"/>
              <p:cNvSpPr/>
              <p:nvPr/>
            </p:nvSpPr>
            <p:spPr>
              <a:xfrm>
                <a:off x="513595" y="1942345"/>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9C331E"/>
                </a:solidFill>
              </a:ln>
            </p:spPr>
          </p:sp>
          <p:sp>
            <p:nvSpPr>
              <p:cNvPr id="65" name="Freeform 65"/>
              <p:cNvSpPr/>
              <p:nvPr/>
            </p:nvSpPr>
            <p:spPr>
              <a:xfrm>
                <a:off x="559594" y="1988344"/>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9C331E"/>
                </a:solidFill>
              </a:ln>
            </p:spPr>
          </p:sp>
        </p:grpSp>
        <p:sp>
          <p:nvSpPr>
            <p:cNvPr id="67" name="TextBox 67"/>
            <p:cNvSpPr txBox="1"/>
            <p:nvPr/>
          </p:nvSpPr>
          <p:spPr>
            <a:xfrm>
              <a:off x="738188" y="1964293"/>
              <a:ext cx="472618"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先进制造</a:t>
              </a:r>
            </a:p>
          </p:txBody>
        </p:sp>
        <p:sp>
          <p:nvSpPr>
            <p:cNvPr id="68" name="Line 68"/>
            <p:cNvSpPr/>
            <p:nvPr/>
          </p:nvSpPr>
          <p:spPr>
            <a:xfrm>
              <a:off x="3162300" y="1771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69" name="Line 69"/>
            <p:cNvSpPr/>
            <p:nvPr/>
          </p:nvSpPr>
          <p:spPr>
            <a:xfrm>
              <a:off x="4886325" y="1771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70" name="Line 70"/>
            <p:cNvSpPr/>
            <p:nvPr/>
          </p:nvSpPr>
          <p:spPr>
            <a:xfrm>
              <a:off x="6619875" y="1771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71" name="Line 71"/>
            <p:cNvSpPr/>
            <p:nvPr/>
          </p:nvSpPr>
          <p:spPr>
            <a:xfrm>
              <a:off x="8353425" y="1771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72" name="Line 72"/>
            <p:cNvSpPr/>
            <p:nvPr/>
          </p:nvSpPr>
          <p:spPr>
            <a:xfrm>
              <a:off x="10077450" y="1771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73" name="Rectangle 73"/>
            <p:cNvSpPr/>
            <p:nvPr/>
          </p:nvSpPr>
          <p:spPr>
            <a:xfrm>
              <a:off x="2105025" y="1847850"/>
              <a:ext cx="381000" cy="171450"/>
            </a:xfrm>
            <a:prstGeom prst="roundRect">
              <a:avLst>
                <a:gd name="adj" fmla="val 50000"/>
              </a:avLst>
            </a:prstGeom>
            <a:solidFill>
              <a:srgbClr val="9C331E"/>
            </a:solidFill>
            <a:ln>
              <a:noFill/>
            </a:ln>
          </p:spPr>
        </p:sp>
        <p:sp>
          <p:nvSpPr>
            <p:cNvPr id="74" name="TextBox 74"/>
            <p:cNvSpPr txBox="1"/>
            <p:nvPr/>
          </p:nvSpPr>
          <p:spPr>
            <a:xfrm>
              <a:off x="2240280" y="1890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75" name="TextBox 75"/>
            <p:cNvSpPr txBox="1"/>
            <p:nvPr/>
          </p:nvSpPr>
          <p:spPr>
            <a:xfrm>
              <a:off x="1927288" y="2097405"/>
              <a:ext cx="736473"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设备与产线数据连续</a:t>
              </a:r>
            </a:p>
          </p:txBody>
        </p:sp>
        <p:sp>
          <p:nvSpPr>
            <p:cNvPr id="76" name="Rectangle 76"/>
            <p:cNvSpPr/>
            <p:nvPr/>
          </p:nvSpPr>
          <p:spPr>
            <a:xfrm>
              <a:off x="3829050" y="1847850"/>
              <a:ext cx="381000" cy="171450"/>
            </a:xfrm>
            <a:prstGeom prst="roundRect">
              <a:avLst>
                <a:gd name="adj" fmla="val 50000"/>
              </a:avLst>
            </a:prstGeom>
            <a:solidFill>
              <a:srgbClr val="9C331E"/>
            </a:solidFill>
            <a:ln>
              <a:noFill/>
            </a:ln>
          </p:spPr>
        </p:sp>
        <p:sp>
          <p:nvSpPr>
            <p:cNvPr id="77" name="TextBox 77"/>
            <p:cNvSpPr txBox="1"/>
            <p:nvPr/>
          </p:nvSpPr>
          <p:spPr>
            <a:xfrm>
              <a:off x="3964305" y="1890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78" name="TextBox 78"/>
            <p:cNvSpPr txBox="1"/>
            <p:nvPr/>
          </p:nvSpPr>
          <p:spPr>
            <a:xfrm>
              <a:off x="3570542" y="2097405"/>
              <a:ext cx="898017"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生产流程标准、重复性强</a:t>
              </a:r>
            </a:p>
          </p:txBody>
        </p:sp>
        <p:sp>
          <p:nvSpPr>
            <p:cNvPr id="79" name="Rectangle 79"/>
            <p:cNvSpPr/>
            <p:nvPr/>
          </p:nvSpPr>
          <p:spPr>
            <a:xfrm>
              <a:off x="5562600" y="1847850"/>
              <a:ext cx="381000" cy="171450"/>
            </a:xfrm>
            <a:prstGeom prst="roundRect">
              <a:avLst>
                <a:gd name="adj" fmla="val 50000"/>
              </a:avLst>
            </a:prstGeom>
            <a:solidFill>
              <a:srgbClr val="9C331E"/>
            </a:solidFill>
            <a:ln>
              <a:noFill/>
            </a:ln>
          </p:spPr>
        </p:sp>
        <p:sp>
          <p:nvSpPr>
            <p:cNvPr id="80" name="TextBox 80"/>
            <p:cNvSpPr txBox="1"/>
            <p:nvPr/>
          </p:nvSpPr>
          <p:spPr>
            <a:xfrm>
              <a:off x="5697855" y="1890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81" name="TextBox 81"/>
            <p:cNvSpPr txBox="1"/>
            <p:nvPr/>
          </p:nvSpPr>
          <p:spPr>
            <a:xfrm>
              <a:off x="5304092" y="2097405"/>
              <a:ext cx="898017"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工业系统成熟、接口完善</a:t>
              </a:r>
            </a:p>
          </p:txBody>
        </p:sp>
        <p:sp>
          <p:nvSpPr>
            <p:cNvPr id="82" name="Rectangle 82"/>
            <p:cNvSpPr/>
            <p:nvPr/>
          </p:nvSpPr>
          <p:spPr>
            <a:xfrm>
              <a:off x="7296150" y="1847850"/>
              <a:ext cx="381000" cy="171450"/>
            </a:xfrm>
            <a:prstGeom prst="roundRect">
              <a:avLst>
                <a:gd name="adj" fmla="val 50000"/>
              </a:avLst>
            </a:prstGeom>
            <a:solidFill>
              <a:srgbClr val="DE715B"/>
            </a:solidFill>
            <a:ln>
              <a:noFill/>
            </a:ln>
          </p:spPr>
        </p:sp>
        <p:sp>
          <p:nvSpPr>
            <p:cNvPr id="83" name="TextBox 83"/>
            <p:cNvSpPr txBox="1"/>
            <p:nvPr/>
          </p:nvSpPr>
          <p:spPr>
            <a:xfrm>
              <a:off x="7431405" y="1890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84" name="TextBox 84"/>
            <p:cNvSpPr txBox="1"/>
            <p:nvPr/>
          </p:nvSpPr>
          <p:spPr>
            <a:xfrm>
              <a:off x="6997256" y="209740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以生产安全和质量控制为主</a:t>
              </a:r>
            </a:p>
          </p:txBody>
        </p:sp>
        <p:sp>
          <p:nvSpPr>
            <p:cNvPr id="85" name="Rectangle 85"/>
            <p:cNvSpPr/>
            <p:nvPr/>
          </p:nvSpPr>
          <p:spPr>
            <a:xfrm>
              <a:off x="9020175" y="1847850"/>
              <a:ext cx="381000" cy="171450"/>
            </a:xfrm>
            <a:prstGeom prst="roundRect">
              <a:avLst>
                <a:gd name="adj" fmla="val 50000"/>
              </a:avLst>
            </a:prstGeom>
            <a:solidFill>
              <a:srgbClr val="9C331E"/>
            </a:solidFill>
            <a:ln>
              <a:noFill/>
            </a:ln>
          </p:spPr>
        </p:sp>
        <p:sp>
          <p:nvSpPr>
            <p:cNvPr id="86" name="TextBox 86"/>
            <p:cNvSpPr txBox="1"/>
            <p:nvPr/>
          </p:nvSpPr>
          <p:spPr>
            <a:xfrm>
              <a:off x="9155430" y="1890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87" name="TextBox 87"/>
            <p:cNvSpPr txBox="1"/>
            <p:nvPr/>
          </p:nvSpPr>
          <p:spPr>
            <a:xfrm>
              <a:off x="8721280" y="209740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良率、效率、能耗等可量化</a:t>
              </a:r>
            </a:p>
          </p:txBody>
        </p:sp>
        <p:sp>
          <p:nvSpPr>
            <p:cNvPr id="88" name="Rectangle 88"/>
            <p:cNvSpPr/>
            <p:nvPr/>
          </p:nvSpPr>
          <p:spPr>
            <a:xfrm>
              <a:off x="10753725" y="1847850"/>
              <a:ext cx="381000" cy="171450"/>
            </a:xfrm>
            <a:prstGeom prst="roundRect">
              <a:avLst>
                <a:gd name="adj" fmla="val 50000"/>
              </a:avLst>
            </a:prstGeom>
            <a:solidFill>
              <a:srgbClr val="9C331E"/>
            </a:solidFill>
            <a:ln>
              <a:noFill/>
            </a:ln>
          </p:spPr>
        </p:sp>
        <p:sp>
          <p:nvSpPr>
            <p:cNvPr id="89" name="TextBox 89"/>
            <p:cNvSpPr txBox="1"/>
            <p:nvPr/>
          </p:nvSpPr>
          <p:spPr>
            <a:xfrm>
              <a:off x="10888980" y="1890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90" name="TextBox 90"/>
            <p:cNvSpPr txBox="1"/>
            <p:nvPr/>
          </p:nvSpPr>
          <p:spPr>
            <a:xfrm>
              <a:off x="10535602" y="2097405"/>
              <a:ext cx="817245"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重复任务多，见效较快</a:t>
              </a:r>
            </a:p>
          </p:txBody>
        </p:sp>
      </p:grpSp>
      <p:grpSp>
        <p:nvGrpSpPr>
          <p:cNvPr id="123" name="row-3"/>
          <p:cNvGrpSpPr/>
          <p:nvPr/>
        </p:nvGrpSpPr>
        <p:grpSpPr>
          <a:xfrm>
            <a:off x="381000" y="2247900"/>
            <a:ext cx="11430000" cy="476250"/>
            <a:chOff x="381000" y="2247900"/>
            <a:chExt cx="11430000" cy="476250"/>
          </a:xfrm>
        </p:grpSpPr>
        <p:sp>
          <p:nvSpPr>
            <p:cNvPr id="92" name="Rectangle 92"/>
            <p:cNvSpPr/>
            <p:nvPr/>
          </p:nvSpPr>
          <p:spPr>
            <a:xfrm>
              <a:off x="381000" y="2247900"/>
              <a:ext cx="11430000" cy="476250"/>
            </a:xfrm>
            <a:prstGeom prst="rect">
              <a:avLst/>
            </a:prstGeom>
            <a:solidFill>
              <a:srgbClr val="FFFFFF"/>
            </a:solidFill>
            <a:ln w="9525">
              <a:solidFill>
                <a:srgbClr val="C7D9F0"/>
              </a:solidFill>
            </a:ln>
          </p:spPr>
        </p:sp>
        <p:sp>
          <p:nvSpPr>
            <p:cNvPr id="93" name="Rectangle 93"/>
            <p:cNvSpPr/>
            <p:nvPr/>
          </p:nvSpPr>
          <p:spPr>
            <a:xfrm>
              <a:off x="381000" y="2247900"/>
              <a:ext cx="1047750" cy="476250"/>
            </a:xfrm>
            <a:prstGeom prst="rect">
              <a:avLst/>
            </a:prstGeom>
            <a:solidFill>
              <a:srgbClr val="EFF5FC"/>
            </a:solidFill>
            <a:ln w="9525">
              <a:solidFill>
                <a:srgbClr val="C7D9F0"/>
              </a:solidFill>
            </a:ln>
          </p:spPr>
        </p:sp>
        <p:grpSp>
          <p:nvGrpSpPr>
            <p:cNvPr id="98" name="Group 98"/>
            <p:cNvGrpSpPr/>
            <p:nvPr/>
          </p:nvGrpSpPr>
          <p:grpSpPr>
            <a:xfrm>
              <a:off x="509588" y="2421731"/>
              <a:ext cx="142875" cy="128706"/>
              <a:chOff x="509588" y="2421731"/>
              <a:chExt cx="142875" cy="128706"/>
            </a:xfrm>
          </p:grpSpPr>
          <p:sp>
            <p:nvSpPr>
              <p:cNvPr id="94" name="Freeform 94"/>
              <p:cNvSpPr/>
              <p:nvPr/>
            </p:nvSpPr>
            <p:spPr>
              <a:xfrm>
                <a:off x="509588" y="2535913"/>
                <a:ext cx="142875" cy="14524"/>
              </a:xfrm>
              <a:custGeom>
                <a:avLst/>
                <a:gdLst/>
                <a:ahLst/>
                <a:cxnLst/>
                <a:rect l="l" t="t" r="r" b="b"/>
                <a:pathLst>
                  <a:path w="142875" h="14524">
                    <a:moveTo>
                      <a:pt x="0" y="7262"/>
                    </a:moveTo>
                    <a:cubicBezTo>
                      <a:pt x="3295" y="11852"/>
                      <a:pt x="8639" y="14524"/>
                      <a:pt x="14288" y="14406"/>
                    </a:cubicBezTo>
                    <a:cubicBezTo>
                      <a:pt x="19936" y="14524"/>
                      <a:pt x="25280" y="11852"/>
                      <a:pt x="28575" y="7262"/>
                    </a:cubicBezTo>
                    <a:cubicBezTo>
                      <a:pt x="31870" y="2672"/>
                      <a:pt x="37214" y="0"/>
                      <a:pt x="42862" y="118"/>
                    </a:cubicBezTo>
                    <a:cubicBezTo>
                      <a:pt x="48511" y="0"/>
                      <a:pt x="53855" y="2672"/>
                      <a:pt x="57150" y="7262"/>
                    </a:cubicBezTo>
                    <a:cubicBezTo>
                      <a:pt x="60445" y="11852"/>
                      <a:pt x="65789" y="14524"/>
                      <a:pt x="71438" y="14406"/>
                    </a:cubicBezTo>
                    <a:cubicBezTo>
                      <a:pt x="77086" y="14524"/>
                      <a:pt x="82430" y="11852"/>
                      <a:pt x="85725" y="7262"/>
                    </a:cubicBezTo>
                    <a:cubicBezTo>
                      <a:pt x="89020" y="2672"/>
                      <a:pt x="94364" y="0"/>
                      <a:pt x="100012" y="118"/>
                    </a:cubicBezTo>
                    <a:cubicBezTo>
                      <a:pt x="105661" y="0"/>
                      <a:pt x="111005" y="2672"/>
                      <a:pt x="114300" y="7262"/>
                    </a:cubicBezTo>
                    <a:cubicBezTo>
                      <a:pt x="117595" y="11852"/>
                      <a:pt x="122939" y="14524"/>
                      <a:pt x="128588" y="14406"/>
                    </a:cubicBezTo>
                    <a:cubicBezTo>
                      <a:pt x="134236" y="14524"/>
                      <a:pt x="139580" y="11852"/>
                      <a:pt x="142875" y="7262"/>
                    </a:cubicBezTo>
                  </a:path>
                </a:pathLst>
              </a:custGeom>
              <a:noFill/>
              <a:ln w="14288">
                <a:solidFill>
                  <a:srgbClr val="9C331E"/>
                </a:solidFill>
              </a:ln>
            </p:spPr>
          </p:sp>
          <p:sp>
            <p:nvSpPr>
              <p:cNvPr id="95" name="Freeform 95"/>
              <p:cNvSpPr/>
              <p:nvPr/>
            </p:nvSpPr>
            <p:spPr>
              <a:xfrm>
                <a:off x="516731" y="2493169"/>
                <a:ext cx="128588" cy="35719"/>
              </a:xfrm>
              <a:custGeom>
                <a:avLst/>
                <a:gdLst/>
                <a:ahLst/>
                <a:cxnLst/>
                <a:rect l="l" t="t" r="r" b="b"/>
                <a:pathLst>
                  <a:path w="128588" h="35719">
                    <a:moveTo>
                      <a:pt x="7144" y="35719"/>
                    </a:moveTo>
                    <a:lnTo>
                      <a:pt x="0" y="0"/>
                    </a:lnTo>
                    <a:lnTo>
                      <a:pt x="128588" y="0"/>
                    </a:lnTo>
                    <a:lnTo>
                      <a:pt x="114300" y="28575"/>
                    </a:lnTo>
                  </a:path>
                </a:pathLst>
              </a:custGeom>
              <a:noFill/>
              <a:ln w="14288">
                <a:solidFill>
                  <a:srgbClr val="9C331E"/>
                </a:solidFill>
              </a:ln>
            </p:spPr>
          </p:sp>
          <p:sp>
            <p:nvSpPr>
              <p:cNvPr id="96" name="Freeform 96"/>
              <p:cNvSpPr/>
              <p:nvPr/>
            </p:nvSpPr>
            <p:spPr>
              <a:xfrm>
                <a:off x="531019" y="2450306"/>
                <a:ext cx="85725" cy="42862"/>
              </a:xfrm>
              <a:custGeom>
                <a:avLst/>
                <a:gdLst/>
                <a:ahLst/>
                <a:cxnLst/>
                <a:rect l="l" t="t" r="r" b="b"/>
                <a:pathLst>
                  <a:path w="85725" h="42862">
                    <a:moveTo>
                      <a:pt x="0" y="42862"/>
                    </a:moveTo>
                    <a:lnTo>
                      <a:pt x="0" y="0"/>
                    </a:lnTo>
                    <a:lnTo>
                      <a:pt x="57150" y="0"/>
                    </a:lnTo>
                    <a:lnTo>
                      <a:pt x="85725" y="42862"/>
                    </a:lnTo>
                  </a:path>
                </a:pathLst>
              </a:custGeom>
              <a:noFill/>
              <a:ln w="14288">
                <a:solidFill>
                  <a:srgbClr val="9C331E"/>
                </a:solidFill>
              </a:ln>
            </p:spPr>
          </p:sp>
          <p:sp>
            <p:nvSpPr>
              <p:cNvPr id="97" name="Freeform 97"/>
              <p:cNvSpPr/>
              <p:nvPr/>
            </p:nvSpPr>
            <p:spPr>
              <a:xfrm>
                <a:off x="538162" y="2421731"/>
                <a:ext cx="9525" cy="28575"/>
              </a:xfrm>
              <a:custGeom>
                <a:avLst/>
                <a:gdLst/>
                <a:ahLst/>
                <a:cxnLst/>
                <a:rect l="l" t="t" r="r" b="b"/>
                <a:pathLst>
                  <a:path w="9525" h="28575">
                    <a:moveTo>
                      <a:pt x="7144" y="28575"/>
                    </a:moveTo>
                    <a:lnTo>
                      <a:pt x="7144" y="0"/>
                    </a:lnTo>
                    <a:lnTo>
                      <a:pt x="0" y="0"/>
                    </a:lnTo>
                  </a:path>
                </a:pathLst>
              </a:custGeom>
              <a:noFill/>
              <a:ln w="14288">
                <a:solidFill>
                  <a:srgbClr val="9C331E"/>
                </a:solidFill>
              </a:ln>
            </p:spPr>
          </p:sp>
        </p:grpSp>
        <p:sp>
          <p:nvSpPr>
            <p:cNvPr id="99" name="TextBox 99"/>
            <p:cNvSpPr txBox="1"/>
            <p:nvPr/>
          </p:nvSpPr>
          <p:spPr>
            <a:xfrm>
              <a:off x="738188" y="2440543"/>
              <a:ext cx="472618"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交通航运</a:t>
              </a:r>
            </a:p>
          </p:txBody>
        </p:sp>
        <p:sp>
          <p:nvSpPr>
            <p:cNvPr id="100" name="Line 100"/>
            <p:cNvSpPr/>
            <p:nvPr/>
          </p:nvSpPr>
          <p:spPr>
            <a:xfrm>
              <a:off x="3162300" y="2247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01" name="Line 101"/>
            <p:cNvSpPr/>
            <p:nvPr/>
          </p:nvSpPr>
          <p:spPr>
            <a:xfrm>
              <a:off x="4886325" y="2247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02" name="Line 102"/>
            <p:cNvSpPr/>
            <p:nvPr/>
          </p:nvSpPr>
          <p:spPr>
            <a:xfrm>
              <a:off x="6619875" y="2247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03" name="Line 103"/>
            <p:cNvSpPr/>
            <p:nvPr/>
          </p:nvSpPr>
          <p:spPr>
            <a:xfrm>
              <a:off x="8353425" y="2247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04" name="Line 104"/>
            <p:cNvSpPr/>
            <p:nvPr/>
          </p:nvSpPr>
          <p:spPr>
            <a:xfrm>
              <a:off x="10077450" y="2247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05" name="Rectangle 105"/>
            <p:cNvSpPr/>
            <p:nvPr/>
          </p:nvSpPr>
          <p:spPr>
            <a:xfrm>
              <a:off x="2105025" y="2324100"/>
              <a:ext cx="381000" cy="171450"/>
            </a:xfrm>
            <a:prstGeom prst="roundRect">
              <a:avLst>
                <a:gd name="adj" fmla="val 50000"/>
              </a:avLst>
            </a:prstGeom>
            <a:solidFill>
              <a:srgbClr val="9C331E"/>
            </a:solidFill>
            <a:ln>
              <a:noFill/>
            </a:ln>
          </p:spPr>
        </p:sp>
        <p:sp>
          <p:nvSpPr>
            <p:cNvPr id="106" name="TextBox 106"/>
            <p:cNvSpPr txBox="1"/>
            <p:nvPr/>
          </p:nvSpPr>
          <p:spPr>
            <a:xfrm>
              <a:off x="2240280" y="23669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07" name="TextBox 107"/>
            <p:cNvSpPr txBox="1"/>
            <p:nvPr/>
          </p:nvSpPr>
          <p:spPr>
            <a:xfrm>
              <a:off x="1886902" y="2573655"/>
              <a:ext cx="817245"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运输、定位等数据持续</a:t>
              </a:r>
            </a:p>
          </p:txBody>
        </p:sp>
        <p:sp>
          <p:nvSpPr>
            <p:cNvPr id="108" name="Rectangle 108"/>
            <p:cNvSpPr/>
            <p:nvPr/>
          </p:nvSpPr>
          <p:spPr>
            <a:xfrm>
              <a:off x="3829050" y="2324100"/>
              <a:ext cx="381000" cy="171450"/>
            </a:xfrm>
            <a:prstGeom prst="roundRect">
              <a:avLst>
                <a:gd name="adj" fmla="val 50000"/>
              </a:avLst>
            </a:prstGeom>
            <a:solidFill>
              <a:srgbClr val="9C331E"/>
            </a:solidFill>
            <a:ln>
              <a:noFill/>
            </a:ln>
          </p:spPr>
        </p:sp>
        <p:sp>
          <p:nvSpPr>
            <p:cNvPr id="109" name="TextBox 109"/>
            <p:cNvSpPr txBox="1"/>
            <p:nvPr/>
          </p:nvSpPr>
          <p:spPr>
            <a:xfrm>
              <a:off x="3964305" y="23669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10" name="TextBox 110"/>
            <p:cNvSpPr txBox="1"/>
            <p:nvPr/>
          </p:nvSpPr>
          <p:spPr>
            <a:xfrm>
              <a:off x="3570542" y="2573655"/>
              <a:ext cx="898017"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调度与运营流程相对标准</a:t>
              </a:r>
            </a:p>
          </p:txBody>
        </p:sp>
        <p:sp>
          <p:nvSpPr>
            <p:cNvPr id="111" name="Rectangle 111"/>
            <p:cNvSpPr/>
            <p:nvPr/>
          </p:nvSpPr>
          <p:spPr>
            <a:xfrm>
              <a:off x="5562600" y="2324100"/>
              <a:ext cx="381000" cy="171450"/>
            </a:xfrm>
            <a:prstGeom prst="roundRect">
              <a:avLst>
                <a:gd name="adj" fmla="val 50000"/>
              </a:avLst>
            </a:prstGeom>
            <a:solidFill>
              <a:srgbClr val="9C331E"/>
            </a:solidFill>
            <a:ln>
              <a:noFill/>
            </a:ln>
          </p:spPr>
        </p:sp>
        <p:sp>
          <p:nvSpPr>
            <p:cNvPr id="112" name="TextBox 112"/>
            <p:cNvSpPr txBox="1"/>
            <p:nvPr/>
          </p:nvSpPr>
          <p:spPr>
            <a:xfrm>
              <a:off x="5697855" y="23669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13" name="TextBox 113"/>
            <p:cNvSpPr txBox="1"/>
            <p:nvPr/>
          </p:nvSpPr>
          <p:spPr>
            <a:xfrm>
              <a:off x="5344478" y="2573655"/>
              <a:ext cx="817245"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调度、管理系统较成熟</a:t>
              </a:r>
            </a:p>
          </p:txBody>
        </p:sp>
        <p:sp>
          <p:nvSpPr>
            <p:cNvPr id="114" name="Rectangle 114"/>
            <p:cNvSpPr/>
            <p:nvPr/>
          </p:nvSpPr>
          <p:spPr>
            <a:xfrm>
              <a:off x="7296150" y="2324100"/>
              <a:ext cx="381000" cy="171450"/>
            </a:xfrm>
            <a:prstGeom prst="roundRect">
              <a:avLst>
                <a:gd name="adj" fmla="val 50000"/>
              </a:avLst>
            </a:prstGeom>
            <a:solidFill>
              <a:srgbClr val="9C331E"/>
            </a:solidFill>
            <a:ln>
              <a:noFill/>
            </a:ln>
          </p:spPr>
        </p:sp>
        <p:sp>
          <p:nvSpPr>
            <p:cNvPr id="115" name="TextBox 115"/>
            <p:cNvSpPr txBox="1"/>
            <p:nvPr/>
          </p:nvSpPr>
          <p:spPr>
            <a:xfrm>
              <a:off x="7431405" y="23669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16" name="TextBox 116"/>
            <p:cNvSpPr txBox="1"/>
            <p:nvPr/>
          </p:nvSpPr>
          <p:spPr>
            <a:xfrm>
              <a:off x="7037642" y="2573655"/>
              <a:ext cx="898017"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涉及公共安全，监管严格</a:t>
              </a:r>
            </a:p>
          </p:txBody>
        </p:sp>
        <p:sp>
          <p:nvSpPr>
            <p:cNvPr id="117" name="Rectangle 117"/>
            <p:cNvSpPr/>
            <p:nvPr/>
          </p:nvSpPr>
          <p:spPr>
            <a:xfrm>
              <a:off x="9020175" y="2324100"/>
              <a:ext cx="381000" cy="171450"/>
            </a:xfrm>
            <a:prstGeom prst="roundRect">
              <a:avLst>
                <a:gd name="adj" fmla="val 50000"/>
              </a:avLst>
            </a:prstGeom>
            <a:solidFill>
              <a:srgbClr val="9C331E"/>
            </a:solidFill>
            <a:ln>
              <a:noFill/>
            </a:ln>
          </p:spPr>
        </p:sp>
        <p:sp>
          <p:nvSpPr>
            <p:cNvPr id="118" name="TextBox 118"/>
            <p:cNvSpPr txBox="1"/>
            <p:nvPr/>
          </p:nvSpPr>
          <p:spPr>
            <a:xfrm>
              <a:off x="9155430" y="23669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19" name="TextBox 119"/>
            <p:cNvSpPr txBox="1"/>
            <p:nvPr/>
          </p:nvSpPr>
          <p:spPr>
            <a:xfrm>
              <a:off x="8721280" y="257365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准点率、周转效率等可量化</a:t>
              </a:r>
            </a:p>
          </p:txBody>
        </p:sp>
        <p:sp>
          <p:nvSpPr>
            <p:cNvPr id="120" name="Rectangle 120"/>
            <p:cNvSpPr/>
            <p:nvPr/>
          </p:nvSpPr>
          <p:spPr>
            <a:xfrm>
              <a:off x="10753725" y="2324100"/>
              <a:ext cx="381000" cy="171450"/>
            </a:xfrm>
            <a:prstGeom prst="roundRect">
              <a:avLst>
                <a:gd name="adj" fmla="val 50000"/>
              </a:avLst>
            </a:prstGeom>
            <a:solidFill>
              <a:srgbClr val="9C331E"/>
            </a:solidFill>
            <a:ln>
              <a:noFill/>
            </a:ln>
          </p:spPr>
        </p:sp>
        <p:sp>
          <p:nvSpPr>
            <p:cNvPr id="121" name="TextBox 121"/>
            <p:cNvSpPr txBox="1"/>
            <p:nvPr/>
          </p:nvSpPr>
          <p:spPr>
            <a:xfrm>
              <a:off x="10888980" y="23669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22" name="TextBox 122"/>
            <p:cNvSpPr txBox="1"/>
            <p:nvPr/>
          </p:nvSpPr>
          <p:spPr>
            <a:xfrm>
              <a:off x="10454830" y="257365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运营数据丰富，易验证成效</a:t>
              </a:r>
            </a:p>
          </p:txBody>
        </p:sp>
      </p:grpSp>
      <p:grpSp>
        <p:nvGrpSpPr>
          <p:cNvPr id="154" name="row-4"/>
          <p:cNvGrpSpPr/>
          <p:nvPr/>
        </p:nvGrpSpPr>
        <p:grpSpPr>
          <a:xfrm>
            <a:off x="381000" y="2724150"/>
            <a:ext cx="11430000" cy="476250"/>
            <a:chOff x="381000" y="2724150"/>
            <a:chExt cx="11430000" cy="476250"/>
          </a:xfrm>
        </p:grpSpPr>
        <p:sp>
          <p:nvSpPr>
            <p:cNvPr id="124" name="Rectangle 124"/>
            <p:cNvSpPr/>
            <p:nvPr/>
          </p:nvSpPr>
          <p:spPr>
            <a:xfrm>
              <a:off x="381000" y="2724150"/>
              <a:ext cx="11430000" cy="476250"/>
            </a:xfrm>
            <a:prstGeom prst="rect">
              <a:avLst/>
            </a:prstGeom>
            <a:solidFill>
              <a:srgbClr val="F6F9FD"/>
            </a:solidFill>
            <a:ln w="9525">
              <a:solidFill>
                <a:srgbClr val="C7D9F0"/>
              </a:solidFill>
            </a:ln>
          </p:spPr>
        </p:sp>
        <p:sp>
          <p:nvSpPr>
            <p:cNvPr id="125" name="Rectangle 125"/>
            <p:cNvSpPr/>
            <p:nvPr/>
          </p:nvSpPr>
          <p:spPr>
            <a:xfrm>
              <a:off x="381000" y="2724150"/>
              <a:ext cx="1047750" cy="476250"/>
            </a:xfrm>
            <a:prstGeom prst="rect">
              <a:avLst/>
            </a:prstGeom>
            <a:solidFill>
              <a:srgbClr val="EFF5FC"/>
            </a:solidFill>
            <a:ln w="9525">
              <a:solidFill>
                <a:srgbClr val="C7D9F0"/>
              </a:solidFill>
            </a:ln>
          </p:spPr>
        </p:sp>
        <p:grpSp>
          <p:nvGrpSpPr>
            <p:cNvPr id="129" name="Group 129"/>
            <p:cNvGrpSpPr/>
            <p:nvPr/>
          </p:nvGrpSpPr>
          <p:grpSpPr>
            <a:xfrm>
              <a:off x="510454" y="2898849"/>
              <a:ext cx="141142" cy="116033"/>
              <a:chOff x="510454" y="2898849"/>
              <a:chExt cx="141142" cy="116033"/>
            </a:xfrm>
          </p:grpSpPr>
          <p:sp>
            <p:nvSpPr>
              <p:cNvPr id="126" name="Freeform 126"/>
              <p:cNvSpPr/>
              <p:nvPr/>
            </p:nvSpPr>
            <p:spPr>
              <a:xfrm>
                <a:off x="510454" y="2898849"/>
                <a:ext cx="141142" cy="116033"/>
              </a:xfrm>
              <a:custGeom>
                <a:avLst/>
                <a:gdLst/>
                <a:ahLst/>
                <a:cxnLst/>
                <a:rect l="l" t="t" r="r" b="b"/>
                <a:pathLst>
                  <a:path w="141142" h="116033">
                    <a:moveTo>
                      <a:pt x="116034" y="116033"/>
                    </a:moveTo>
                    <a:cubicBezTo>
                      <a:pt x="141142" y="90925"/>
                      <a:pt x="141142" y="50216"/>
                      <a:pt x="116033" y="25108"/>
                    </a:cubicBezTo>
                    <a:cubicBezTo>
                      <a:pt x="90925" y="0"/>
                      <a:pt x="50217" y="0"/>
                      <a:pt x="25108" y="25108"/>
                    </a:cubicBezTo>
                    <a:cubicBezTo>
                      <a:pt x="0" y="50216"/>
                      <a:pt x="0" y="90925"/>
                      <a:pt x="25108" y="116033"/>
                    </a:cubicBezTo>
                  </a:path>
                </a:pathLst>
              </a:custGeom>
              <a:noFill/>
              <a:ln w="14288">
                <a:solidFill>
                  <a:srgbClr val="9C331E"/>
                </a:solidFill>
              </a:ln>
            </p:spPr>
          </p:sp>
          <p:sp>
            <p:nvSpPr>
              <p:cNvPr id="127" name="Freeform 127"/>
              <p:cNvSpPr/>
              <p:nvPr/>
            </p:nvSpPr>
            <p:spPr>
              <a:xfrm>
                <a:off x="541818" y="2930220"/>
                <a:ext cx="78413" cy="64459"/>
              </a:xfrm>
              <a:custGeom>
                <a:avLst/>
                <a:gdLst/>
                <a:ahLst/>
                <a:cxnLst/>
                <a:rect l="l" t="t" r="r" b="b"/>
                <a:pathLst>
                  <a:path w="78413" h="64459">
                    <a:moveTo>
                      <a:pt x="64467" y="64459"/>
                    </a:moveTo>
                    <a:cubicBezTo>
                      <a:pt x="78413" y="50509"/>
                      <a:pt x="78411" y="27895"/>
                      <a:pt x="64462" y="13948"/>
                    </a:cubicBezTo>
                    <a:cubicBezTo>
                      <a:pt x="50514" y="0"/>
                      <a:pt x="27900" y="0"/>
                      <a:pt x="13951" y="13948"/>
                    </a:cubicBezTo>
                    <a:cubicBezTo>
                      <a:pt x="2" y="27895"/>
                      <a:pt x="0" y="50509"/>
                      <a:pt x="13946" y="64459"/>
                    </a:cubicBezTo>
                  </a:path>
                </a:pathLst>
              </a:custGeom>
              <a:noFill/>
              <a:ln w="14288">
                <a:solidFill>
                  <a:srgbClr val="9C331E"/>
                </a:solidFill>
              </a:ln>
            </p:spPr>
          </p:sp>
          <p:sp>
            <p:nvSpPr>
              <p:cNvPr id="128" name="Freeform 128"/>
              <p:cNvSpPr/>
              <p:nvPr/>
            </p:nvSpPr>
            <p:spPr>
              <a:xfrm>
                <a:off x="573881" y="2962275"/>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9C331E"/>
                </a:solidFill>
              </a:ln>
            </p:spPr>
          </p:sp>
        </p:grpSp>
        <p:sp>
          <p:nvSpPr>
            <p:cNvPr id="130" name="TextBox 130"/>
            <p:cNvSpPr txBox="1"/>
            <p:nvPr/>
          </p:nvSpPr>
          <p:spPr>
            <a:xfrm>
              <a:off x="738188" y="2916793"/>
              <a:ext cx="472618"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通信服务</a:t>
              </a:r>
            </a:p>
          </p:txBody>
        </p:sp>
        <p:sp>
          <p:nvSpPr>
            <p:cNvPr id="131" name="Line 131"/>
            <p:cNvSpPr/>
            <p:nvPr/>
          </p:nvSpPr>
          <p:spPr>
            <a:xfrm>
              <a:off x="3162300" y="27241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32" name="Line 132"/>
            <p:cNvSpPr/>
            <p:nvPr/>
          </p:nvSpPr>
          <p:spPr>
            <a:xfrm>
              <a:off x="4886325" y="27241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33" name="Line 133"/>
            <p:cNvSpPr/>
            <p:nvPr/>
          </p:nvSpPr>
          <p:spPr>
            <a:xfrm>
              <a:off x="6619875" y="27241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34" name="Line 134"/>
            <p:cNvSpPr/>
            <p:nvPr/>
          </p:nvSpPr>
          <p:spPr>
            <a:xfrm>
              <a:off x="8353425" y="27241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35" name="Line 135"/>
            <p:cNvSpPr/>
            <p:nvPr/>
          </p:nvSpPr>
          <p:spPr>
            <a:xfrm>
              <a:off x="10077450" y="27241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36" name="Rectangle 136"/>
            <p:cNvSpPr/>
            <p:nvPr/>
          </p:nvSpPr>
          <p:spPr>
            <a:xfrm>
              <a:off x="2105025" y="2800350"/>
              <a:ext cx="381000" cy="171450"/>
            </a:xfrm>
            <a:prstGeom prst="roundRect">
              <a:avLst>
                <a:gd name="adj" fmla="val 50000"/>
              </a:avLst>
            </a:prstGeom>
            <a:solidFill>
              <a:srgbClr val="9C331E"/>
            </a:solidFill>
            <a:ln>
              <a:noFill/>
            </a:ln>
          </p:spPr>
        </p:sp>
        <p:sp>
          <p:nvSpPr>
            <p:cNvPr id="137" name="TextBox 137"/>
            <p:cNvSpPr txBox="1"/>
            <p:nvPr/>
          </p:nvSpPr>
          <p:spPr>
            <a:xfrm>
              <a:off x="2240280" y="28432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38" name="TextBox 138"/>
            <p:cNvSpPr txBox="1"/>
            <p:nvPr/>
          </p:nvSpPr>
          <p:spPr>
            <a:xfrm>
              <a:off x="1927288" y="3049905"/>
              <a:ext cx="736473"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网络与业务数据连续</a:t>
              </a:r>
            </a:p>
          </p:txBody>
        </p:sp>
        <p:sp>
          <p:nvSpPr>
            <p:cNvPr id="139" name="Rectangle 139"/>
            <p:cNvSpPr/>
            <p:nvPr/>
          </p:nvSpPr>
          <p:spPr>
            <a:xfrm>
              <a:off x="3829050" y="2800350"/>
              <a:ext cx="381000" cy="171450"/>
            </a:xfrm>
            <a:prstGeom prst="roundRect">
              <a:avLst>
                <a:gd name="adj" fmla="val 50000"/>
              </a:avLst>
            </a:prstGeom>
            <a:solidFill>
              <a:srgbClr val="DE715B"/>
            </a:solidFill>
            <a:ln>
              <a:noFill/>
            </a:ln>
          </p:spPr>
        </p:sp>
        <p:sp>
          <p:nvSpPr>
            <p:cNvPr id="140" name="TextBox 140"/>
            <p:cNvSpPr txBox="1"/>
            <p:nvPr/>
          </p:nvSpPr>
          <p:spPr>
            <a:xfrm>
              <a:off x="3964305" y="28432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141" name="TextBox 141"/>
            <p:cNvSpPr txBox="1"/>
            <p:nvPr/>
          </p:nvSpPr>
          <p:spPr>
            <a:xfrm>
              <a:off x="3489770" y="3049905"/>
              <a:ext cx="1059561"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运维流程较标准，但场景多样</a:t>
              </a:r>
            </a:p>
          </p:txBody>
        </p:sp>
        <p:sp>
          <p:nvSpPr>
            <p:cNvPr id="142" name="Rectangle 142"/>
            <p:cNvSpPr/>
            <p:nvPr/>
          </p:nvSpPr>
          <p:spPr>
            <a:xfrm>
              <a:off x="5562600" y="2800350"/>
              <a:ext cx="381000" cy="171450"/>
            </a:xfrm>
            <a:prstGeom prst="roundRect">
              <a:avLst>
                <a:gd name="adj" fmla="val 50000"/>
              </a:avLst>
            </a:prstGeom>
            <a:solidFill>
              <a:srgbClr val="9C331E"/>
            </a:solidFill>
            <a:ln>
              <a:noFill/>
            </a:ln>
          </p:spPr>
        </p:sp>
        <p:sp>
          <p:nvSpPr>
            <p:cNvPr id="143" name="TextBox 143"/>
            <p:cNvSpPr txBox="1"/>
            <p:nvPr/>
          </p:nvSpPr>
          <p:spPr>
            <a:xfrm>
              <a:off x="5697855" y="28432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44" name="TextBox 144"/>
            <p:cNvSpPr txBox="1"/>
            <p:nvPr/>
          </p:nvSpPr>
          <p:spPr>
            <a:xfrm>
              <a:off x="5285994" y="3049905"/>
              <a:ext cx="934212"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IT系统成熟、可接入性强​</a:t>
              </a:r>
            </a:p>
          </p:txBody>
        </p:sp>
        <p:sp>
          <p:nvSpPr>
            <p:cNvPr id="145" name="Rectangle 145"/>
            <p:cNvSpPr/>
            <p:nvPr/>
          </p:nvSpPr>
          <p:spPr>
            <a:xfrm>
              <a:off x="7296150" y="2800350"/>
              <a:ext cx="381000" cy="171450"/>
            </a:xfrm>
            <a:prstGeom prst="roundRect">
              <a:avLst>
                <a:gd name="adj" fmla="val 50000"/>
              </a:avLst>
            </a:prstGeom>
            <a:solidFill>
              <a:srgbClr val="DE715B"/>
            </a:solidFill>
            <a:ln>
              <a:noFill/>
            </a:ln>
          </p:spPr>
        </p:sp>
        <p:sp>
          <p:nvSpPr>
            <p:cNvPr id="146" name="TextBox 146"/>
            <p:cNvSpPr txBox="1"/>
            <p:nvPr/>
          </p:nvSpPr>
          <p:spPr>
            <a:xfrm>
              <a:off x="7431405" y="28432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147" name="TextBox 147"/>
            <p:cNvSpPr txBox="1"/>
            <p:nvPr/>
          </p:nvSpPr>
          <p:spPr>
            <a:xfrm>
              <a:off x="6997256" y="304990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需满足网络安全与合规要求</a:t>
              </a:r>
            </a:p>
          </p:txBody>
        </p:sp>
        <p:sp>
          <p:nvSpPr>
            <p:cNvPr id="148" name="Rectangle 148"/>
            <p:cNvSpPr/>
            <p:nvPr/>
          </p:nvSpPr>
          <p:spPr>
            <a:xfrm>
              <a:off x="9020175" y="2800350"/>
              <a:ext cx="381000" cy="171450"/>
            </a:xfrm>
            <a:prstGeom prst="roundRect">
              <a:avLst>
                <a:gd name="adj" fmla="val 50000"/>
              </a:avLst>
            </a:prstGeom>
            <a:solidFill>
              <a:srgbClr val="9C331E"/>
            </a:solidFill>
            <a:ln>
              <a:noFill/>
            </a:ln>
          </p:spPr>
        </p:sp>
        <p:sp>
          <p:nvSpPr>
            <p:cNvPr id="149" name="TextBox 149"/>
            <p:cNvSpPr txBox="1"/>
            <p:nvPr/>
          </p:nvSpPr>
          <p:spPr>
            <a:xfrm>
              <a:off x="9155430" y="28432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50" name="TextBox 150"/>
            <p:cNvSpPr txBox="1"/>
            <p:nvPr/>
          </p:nvSpPr>
          <p:spPr>
            <a:xfrm>
              <a:off x="8680894" y="3049905"/>
              <a:ext cx="1059561"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网络质量、运维效率等可量化</a:t>
              </a:r>
            </a:p>
          </p:txBody>
        </p:sp>
        <p:sp>
          <p:nvSpPr>
            <p:cNvPr id="151" name="Rectangle 151"/>
            <p:cNvSpPr/>
            <p:nvPr/>
          </p:nvSpPr>
          <p:spPr>
            <a:xfrm>
              <a:off x="10753725" y="2800350"/>
              <a:ext cx="381000" cy="171450"/>
            </a:xfrm>
            <a:prstGeom prst="roundRect">
              <a:avLst>
                <a:gd name="adj" fmla="val 50000"/>
              </a:avLst>
            </a:prstGeom>
            <a:solidFill>
              <a:srgbClr val="DE715B"/>
            </a:solidFill>
            <a:ln>
              <a:noFill/>
            </a:ln>
          </p:spPr>
        </p:sp>
        <p:sp>
          <p:nvSpPr>
            <p:cNvPr id="152" name="TextBox 152"/>
            <p:cNvSpPr txBox="1"/>
            <p:nvPr/>
          </p:nvSpPr>
          <p:spPr>
            <a:xfrm>
              <a:off x="10888980" y="28432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153" name="TextBox 153"/>
            <p:cNvSpPr txBox="1"/>
            <p:nvPr/>
          </p:nvSpPr>
          <p:spPr>
            <a:xfrm>
              <a:off x="10454830" y="304990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部分场景见效，整体需时间</a:t>
              </a:r>
            </a:p>
          </p:txBody>
        </p:sp>
      </p:grpSp>
      <p:grpSp>
        <p:nvGrpSpPr>
          <p:cNvPr id="190" name="row-5"/>
          <p:cNvGrpSpPr/>
          <p:nvPr/>
        </p:nvGrpSpPr>
        <p:grpSpPr>
          <a:xfrm>
            <a:off x="381000" y="3200400"/>
            <a:ext cx="11430000" cy="476250"/>
            <a:chOff x="381000" y="3200400"/>
            <a:chExt cx="11430000" cy="476250"/>
          </a:xfrm>
        </p:grpSpPr>
        <p:sp>
          <p:nvSpPr>
            <p:cNvPr id="155" name="Rectangle 155"/>
            <p:cNvSpPr/>
            <p:nvPr/>
          </p:nvSpPr>
          <p:spPr>
            <a:xfrm>
              <a:off x="381000" y="3200400"/>
              <a:ext cx="11430000" cy="476250"/>
            </a:xfrm>
            <a:prstGeom prst="rect">
              <a:avLst/>
            </a:prstGeom>
            <a:solidFill>
              <a:srgbClr val="FFFFFF"/>
            </a:solidFill>
            <a:ln w="9525">
              <a:solidFill>
                <a:srgbClr val="C7D9F0"/>
              </a:solidFill>
            </a:ln>
          </p:spPr>
        </p:sp>
        <p:sp>
          <p:nvSpPr>
            <p:cNvPr id="156" name="Rectangle 156"/>
            <p:cNvSpPr/>
            <p:nvPr/>
          </p:nvSpPr>
          <p:spPr>
            <a:xfrm>
              <a:off x="381000" y="3200400"/>
              <a:ext cx="1047750" cy="476250"/>
            </a:xfrm>
            <a:prstGeom prst="rect">
              <a:avLst/>
            </a:prstGeom>
            <a:solidFill>
              <a:srgbClr val="EFF5FC"/>
            </a:solidFill>
            <a:ln w="9525">
              <a:solidFill>
                <a:srgbClr val="C7D9F0"/>
              </a:solidFill>
            </a:ln>
          </p:spPr>
        </p:sp>
        <p:grpSp>
          <p:nvGrpSpPr>
            <p:cNvPr id="165" name="Group 165"/>
            <p:cNvGrpSpPr/>
            <p:nvPr/>
          </p:nvGrpSpPr>
          <p:grpSpPr>
            <a:xfrm>
              <a:off x="516731" y="3374231"/>
              <a:ext cx="128588" cy="138113"/>
              <a:chOff x="516731" y="3374231"/>
              <a:chExt cx="128588" cy="138113"/>
            </a:xfrm>
          </p:grpSpPr>
          <p:sp>
            <p:nvSpPr>
              <p:cNvPr id="157" name="Freeform 157"/>
              <p:cNvSpPr/>
              <p:nvPr/>
            </p:nvSpPr>
            <p:spPr>
              <a:xfrm>
                <a:off x="516731" y="3502819"/>
                <a:ext cx="128588" cy="9525"/>
              </a:xfrm>
              <a:custGeom>
                <a:avLst/>
                <a:gdLst/>
                <a:ahLst/>
                <a:cxnLst/>
                <a:rect l="l" t="t" r="r" b="b"/>
                <a:pathLst>
                  <a:path w="128588" h="9525">
                    <a:moveTo>
                      <a:pt x="0" y="0"/>
                    </a:moveTo>
                    <a:lnTo>
                      <a:pt x="128588" y="0"/>
                    </a:lnTo>
                  </a:path>
                </a:pathLst>
              </a:custGeom>
              <a:noFill/>
              <a:ln w="14288">
                <a:solidFill>
                  <a:srgbClr val="9C331E"/>
                </a:solidFill>
              </a:ln>
            </p:spPr>
          </p:sp>
          <p:sp>
            <p:nvSpPr>
              <p:cNvPr id="158" name="Freeform 158"/>
              <p:cNvSpPr/>
              <p:nvPr/>
            </p:nvSpPr>
            <p:spPr>
              <a:xfrm>
                <a:off x="559594" y="3409950"/>
                <a:ext cx="9525" cy="9525"/>
              </a:xfrm>
              <a:custGeom>
                <a:avLst/>
                <a:gdLst/>
                <a:ahLst/>
                <a:cxnLst/>
                <a:rect l="l" t="t" r="r" b="b"/>
                <a:pathLst>
                  <a:path w="9525" h="9525">
                    <a:moveTo>
                      <a:pt x="0" y="0"/>
                    </a:moveTo>
                    <a:lnTo>
                      <a:pt x="7144" y="0"/>
                    </a:lnTo>
                  </a:path>
                </a:pathLst>
              </a:custGeom>
              <a:noFill/>
              <a:ln w="14288">
                <a:solidFill>
                  <a:srgbClr val="9C331E"/>
                </a:solidFill>
              </a:ln>
            </p:spPr>
          </p:sp>
          <p:sp>
            <p:nvSpPr>
              <p:cNvPr id="159" name="Freeform 159"/>
              <p:cNvSpPr/>
              <p:nvPr/>
            </p:nvSpPr>
            <p:spPr>
              <a:xfrm>
                <a:off x="559594" y="3438525"/>
                <a:ext cx="9525" cy="9525"/>
              </a:xfrm>
              <a:custGeom>
                <a:avLst/>
                <a:gdLst/>
                <a:ahLst/>
                <a:cxnLst/>
                <a:rect l="l" t="t" r="r" b="b"/>
                <a:pathLst>
                  <a:path w="9525" h="9525">
                    <a:moveTo>
                      <a:pt x="0" y="0"/>
                    </a:moveTo>
                    <a:lnTo>
                      <a:pt x="7144" y="0"/>
                    </a:lnTo>
                  </a:path>
                </a:pathLst>
              </a:custGeom>
              <a:noFill/>
              <a:ln w="14288">
                <a:solidFill>
                  <a:srgbClr val="9C331E"/>
                </a:solidFill>
              </a:ln>
            </p:spPr>
          </p:sp>
          <p:sp>
            <p:nvSpPr>
              <p:cNvPr id="160" name="Freeform 160"/>
              <p:cNvSpPr/>
              <p:nvPr/>
            </p:nvSpPr>
            <p:spPr>
              <a:xfrm>
                <a:off x="559594" y="3467100"/>
                <a:ext cx="9525" cy="9525"/>
              </a:xfrm>
              <a:custGeom>
                <a:avLst/>
                <a:gdLst/>
                <a:ahLst/>
                <a:cxnLst/>
                <a:rect l="l" t="t" r="r" b="b"/>
                <a:pathLst>
                  <a:path w="9525" h="9525">
                    <a:moveTo>
                      <a:pt x="0" y="0"/>
                    </a:moveTo>
                    <a:lnTo>
                      <a:pt x="7144" y="0"/>
                    </a:lnTo>
                  </a:path>
                </a:pathLst>
              </a:custGeom>
              <a:noFill/>
              <a:ln w="14288">
                <a:solidFill>
                  <a:srgbClr val="9C331E"/>
                </a:solidFill>
              </a:ln>
            </p:spPr>
          </p:sp>
          <p:sp>
            <p:nvSpPr>
              <p:cNvPr id="161" name="Freeform 161"/>
              <p:cNvSpPr/>
              <p:nvPr/>
            </p:nvSpPr>
            <p:spPr>
              <a:xfrm>
                <a:off x="595312" y="3409950"/>
                <a:ext cx="9525" cy="9525"/>
              </a:xfrm>
              <a:custGeom>
                <a:avLst/>
                <a:gdLst/>
                <a:ahLst/>
                <a:cxnLst/>
                <a:rect l="l" t="t" r="r" b="b"/>
                <a:pathLst>
                  <a:path w="9525" h="9525">
                    <a:moveTo>
                      <a:pt x="0" y="0"/>
                    </a:moveTo>
                    <a:lnTo>
                      <a:pt x="7144" y="0"/>
                    </a:lnTo>
                  </a:path>
                </a:pathLst>
              </a:custGeom>
              <a:noFill/>
              <a:ln w="14288">
                <a:solidFill>
                  <a:srgbClr val="9C331E"/>
                </a:solidFill>
              </a:ln>
            </p:spPr>
          </p:sp>
          <p:sp>
            <p:nvSpPr>
              <p:cNvPr id="162" name="Freeform 162"/>
              <p:cNvSpPr/>
              <p:nvPr/>
            </p:nvSpPr>
            <p:spPr>
              <a:xfrm>
                <a:off x="595312" y="3438525"/>
                <a:ext cx="9525" cy="9525"/>
              </a:xfrm>
              <a:custGeom>
                <a:avLst/>
                <a:gdLst/>
                <a:ahLst/>
                <a:cxnLst/>
                <a:rect l="l" t="t" r="r" b="b"/>
                <a:pathLst>
                  <a:path w="9525" h="9525">
                    <a:moveTo>
                      <a:pt x="0" y="0"/>
                    </a:moveTo>
                    <a:lnTo>
                      <a:pt x="7144" y="0"/>
                    </a:lnTo>
                  </a:path>
                </a:pathLst>
              </a:custGeom>
              <a:noFill/>
              <a:ln w="14288">
                <a:solidFill>
                  <a:srgbClr val="9C331E"/>
                </a:solidFill>
              </a:ln>
            </p:spPr>
          </p:sp>
          <p:sp>
            <p:nvSpPr>
              <p:cNvPr id="163" name="Freeform 163"/>
              <p:cNvSpPr/>
              <p:nvPr/>
            </p:nvSpPr>
            <p:spPr>
              <a:xfrm>
                <a:off x="595312" y="3467100"/>
                <a:ext cx="9525" cy="9525"/>
              </a:xfrm>
              <a:custGeom>
                <a:avLst/>
                <a:gdLst/>
                <a:ahLst/>
                <a:cxnLst/>
                <a:rect l="l" t="t" r="r" b="b"/>
                <a:pathLst>
                  <a:path w="9525" h="9525">
                    <a:moveTo>
                      <a:pt x="0" y="0"/>
                    </a:moveTo>
                    <a:lnTo>
                      <a:pt x="7144" y="0"/>
                    </a:lnTo>
                  </a:path>
                </a:pathLst>
              </a:custGeom>
              <a:noFill/>
              <a:ln w="14288">
                <a:solidFill>
                  <a:srgbClr val="9C331E"/>
                </a:solidFill>
              </a:ln>
            </p:spPr>
          </p:sp>
          <p:sp>
            <p:nvSpPr>
              <p:cNvPr id="164" name="Freeform 164"/>
              <p:cNvSpPr/>
              <p:nvPr/>
            </p:nvSpPr>
            <p:spPr>
              <a:xfrm>
                <a:off x="531019" y="3374231"/>
                <a:ext cx="100012" cy="128588"/>
              </a:xfrm>
              <a:custGeom>
                <a:avLst/>
                <a:gdLst/>
                <a:ahLst/>
                <a:cxnLst/>
                <a:rect l="l" t="t" r="r" b="b"/>
                <a:pathLst>
                  <a:path w="100012" h="128588">
                    <a:moveTo>
                      <a:pt x="0" y="128588"/>
                    </a:moveTo>
                    <a:lnTo>
                      <a:pt x="0" y="14288"/>
                    </a:lnTo>
                    <a:cubicBezTo>
                      <a:pt x="0" y="6397"/>
                      <a:pt x="6397" y="0"/>
                      <a:pt x="14288" y="0"/>
                    </a:cubicBezTo>
                    <a:lnTo>
                      <a:pt x="85725" y="0"/>
                    </a:lnTo>
                    <a:cubicBezTo>
                      <a:pt x="93616" y="0"/>
                      <a:pt x="100012" y="6397"/>
                      <a:pt x="100012" y="14288"/>
                    </a:cubicBezTo>
                    <a:lnTo>
                      <a:pt x="100012" y="128588"/>
                    </a:lnTo>
                  </a:path>
                </a:pathLst>
              </a:custGeom>
              <a:noFill/>
              <a:ln w="14288">
                <a:solidFill>
                  <a:srgbClr val="9C331E"/>
                </a:solidFill>
              </a:ln>
            </p:spPr>
          </p:sp>
        </p:grpSp>
        <p:sp>
          <p:nvSpPr>
            <p:cNvPr id="166" name="TextBox 166"/>
            <p:cNvSpPr txBox="1"/>
            <p:nvPr/>
          </p:nvSpPr>
          <p:spPr>
            <a:xfrm>
              <a:off x="738188" y="3393043"/>
              <a:ext cx="472618"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建筑工程</a:t>
              </a:r>
            </a:p>
          </p:txBody>
        </p:sp>
        <p:sp>
          <p:nvSpPr>
            <p:cNvPr id="167" name="Line 167"/>
            <p:cNvSpPr/>
            <p:nvPr/>
          </p:nvSpPr>
          <p:spPr>
            <a:xfrm>
              <a:off x="3162300" y="3200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68" name="Line 168"/>
            <p:cNvSpPr/>
            <p:nvPr/>
          </p:nvSpPr>
          <p:spPr>
            <a:xfrm>
              <a:off x="4886325" y="3200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69" name="Line 169"/>
            <p:cNvSpPr/>
            <p:nvPr/>
          </p:nvSpPr>
          <p:spPr>
            <a:xfrm>
              <a:off x="6619875" y="3200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70" name="Line 170"/>
            <p:cNvSpPr/>
            <p:nvPr/>
          </p:nvSpPr>
          <p:spPr>
            <a:xfrm>
              <a:off x="8353425" y="3200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71" name="Line 171"/>
            <p:cNvSpPr/>
            <p:nvPr/>
          </p:nvSpPr>
          <p:spPr>
            <a:xfrm>
              <a:off x="10077450" y="32004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172" name="Rectangle 172"/>
            <p:cNvSpPr/>
            <p:nvPr/>
          </p:nvSpPr>
          <p:spPr>
            <a:xfrm>
              <a:off x="2105025" y="3276600"/>
              <a:ext cx="381000" cy="171450"/>
            </a:xfrm>
            <a:prstGeom prst="roundRect">
              <a:avLst>
                <a:gd name="adj" fmla="val 50000"/>
              </a:avLst>
            </a:prstGeom>
            <a:solidFill>
              <a:srgbClr val="DE715B"/>
            </a:solidFill>
            <a:ln>
              <a:noFill/>
            </a:ln>
          </p:spPr>
        </p:sp>
        <p:sp>
          <p:nvSpPr>
            <p:cNvPr id="173" name="TextBox 173"/>
            <p:cNvSpPr txBox="1"/>
            <p:nvPr/>
          </p:nvSpPr>
          <p:spPr>
            <a:xfrm>
              <a:off x="2240280" y="3319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174" name="TextBox 174"/>
            <p:cNvSpPr txBox="1"/>
            <p:nvPr/>
          </p:nvSpPr>
          <p:spPr>
            <a:xfrm>
              <a:off x="1846517" y="3526155"/>
              <a:ext cx="898017"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项目数据分散、连续性弱</a:t>
              </a:r>
            </a:p>
          </p:txBody>
        </p:sp>
        <p:sp>
          <p:nvSpPr>
            <p:cNvPr id="175" name="Rectangle 175"/>
            <p:cNvSpPr/>
            <p:nvPr/>
          </p:nvSpPr>
          <p:spPr>
            <a:xfrm>
              <a:off x="3829050" y="3276600"/>
              <a:ext cx="381000" cy="171450"/>
            </a:xfrm>
            <a:prstGeom prst="roundRect">
              <a:avLst>
                <a:gd name="adj" fmla="val 50000"/>
              </a:avLst>
            </a:prstGeom>
            <a:solidFill>
              <a:srgbClr val="DE715B"/>
            </a:solidFill>
            <a:ln>
              <a:noFill/>
            </a:ln>
          </p:spPr>
        </p:sp>
        <p:sp>
          <p:nvSpPr>
            <p:cNvPr id="176" name="TextBox 176"/>
            <p:cNvSpPr txBox="1"/>
            <p:nvPr/>
          </p:nvSpPr>
          <p:spPr>
            <a:xfrm>
              <a:off x="3964305" y="3319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177" name="TextBox 177"/>
            <p:cNvSpPr txBox="1"/>
            <p:nvPr/>
          </p:nvSpPr>
          <p:spPr>
            <a:xfrm>
              <a:off x="3408998" y="3526155"/>
              <a:ext cx="1221105"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受项目类型影响，标准化程度不一</a:t>
              </a:r>
            </a:p>
          </p:txBody>
        </p:sp>
        <p:sp>
          <p:nvSpPr>
            <p:cNvPr id="178" name="Rectangle 178"/>
            <p:cNvSpPr/>
            <p:nvPr/>
          </p:nvSpPr>
          <p:spPr>
            <a:xfrm>
              <a:off x="5562600" y="3276600"/>
              <a:ext cx="381000" cy="171450"/>
            </a:xfrm>
            <a:prstGeom prst="roundRect">
              <a:avLst>
                <a:gd name="adj" fmla="val 50000"/>
              </a:avLst>
            </a:prstGeom>
            <a:solidFill>
              <a:srgbClr val="DE715B"/>
            </a:solidFill>
            <a:ln>
              <a:noFill/>
            </a:ln>
          </p:spPr>
        </p:sp>
        <p:sp>
          <p:nvSpPr>
            <p:cNvPr id="179" name="TextBox 179"/>
            <p:cNvSpPr txBox="1"/>
            <p:nvPr/>
          </p:nvSpPr>
          <p:spPr>
            <a:xfrm>
              <a:off x="5697855" y="3319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180" name="TextBox 180"/>
            <p:cNvSpPr txBox="1"/>
            <p:nvPr/>
          </p:nvSpPr>
          <p:spPr>
            <a:xfrm>
              <a:off x="5223320" y="3526155"/>
              <a:ext cx="1059561"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系统分散、数据整合难度较大</a:t>
              </a:r>
            </a:p>
          </p:txBody>
        </p:sp>
        <p:sp>
          <p:nvSpPr>
            <p:cNvPr id="181" name="Rectangle 181"/>
            <p:cNvSpPr/>
            <p:nvPr/>
          </p:nvSpPr>
          <p:spPr>
            <a:xfrm>
              <a:off x="7296150" y="3276600"/>
              <a:ext cx="381000" cy="171450"/>
            </a:xfrm>
            <a:prstGeom prst="roundRect">
              <a:avLst>
                <a:gd name="adj" fmla="val 50000"/>
              </a:avLst>
            </a:prstGeom>
            <a:solidFill>
              <a:srgbClr val="9C331E"/>
            </a:solidFill>
            <a:ln>
              <a:noFill/>
            </a:ln>
          </p:spPr>
        </p:sp>
        <p:sp>
          <p:nvSpPr>
            <p:cNvPr id="182" name="TextBox 182"/>
            <p:cNvSpPr txBox="1"/>
            <p:nvPr/>
          </p:nvSpPr>
          <p:spPr>
            <a:xfrm>
              <a:off x="7431405" y="3319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183" name="TextBox 183"/>
            <p:cNvSpPr txBox="1"/>
            <p:nvPr/>
          </p:nvSpPr>
          <p:spPr>
            <a:xfrm>
              <a:off x="7037642" y="3526155"/>
              <a:ext cx="898017"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施工安全、质量多方监管</a:t>
              </a:r>
            </a:p>
          </p:txBody>
        </p:sp>
        <p:sp>
          <p:nvSpPr>
            <p:cNvPr id="184" name="Rectangle 184"/>
            <p:cNvSpPr/>
            <p:nvPr/>
          </p:nvSpPr>
          <p:spPr>
            <a:xfrm>
              <a:off x="9020175" y="3276600"/>
              <a:ext cx="381000" cy="171450"/>
            </a:xfrm>
            <a:prstGeom prst="roundRect">
              <a:avLst>
                <a:gd name="adj" fmla="val 50000"/>
              </a:avLst>
            </a:prstGeom>
            <a:solidFill>
              <a:srgbClr val="DE715B"/>
            </a:solidFill>
            <a:ln>
              <a:noFill/>
            </a:ln>
          </p:spPr>
        </p:sp>
        <p:sp>
          <p:nvSpPr>
            <p:cNvPr id="185" name="TextBox 185"/>
            <p:cNvSpPr txBox="1"/>
            <p:nvPr/>
          </p:nvSpPr>
          <p:spPr>
            <a:xfrm>
              <a:off x="9155430" y="33194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186" name="TextBox 186"/>
            <p:cNvSpPr txBox="1"/>
            <p:nvPr/>
          </p:nvSpPr>
          <p:spPr>
            <a:xfrm>
              <a:off x="8680894" y="3526155"/>
              <a:ext cx="1059561"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进度、成本等受外部因素影响</a:t>
              </a:r>
            </a:p>
          </p:txBody>
        </p:sp>
        <p:sp>
          <p:nvSpPr>
            <p:cNvPr id="187" name="Rectangle 187"/>
            <p:cNvSpPr/>
            <p:nvPr/>
          </p:nvSpPr>
          <p:spPr>
            <a:xfrm>
              <a:off x="10753725" y="3276600"/>
              <a:ext cx="381000" cy="171450"/>
            </a:xfrm>
            <a:prstGeom prst="roundRect">
              <a:avLst>
                <a:gd name="adj" fmla="val 50000"/>
              </a:avLst>
            </a:prstGeom>
            <a:solidFill>
              <a:srgbClr val="C7D9F0"/>
            </a:solidFill>
            <a:ln>
              <a:noFill/>
            </a:ln>
          </p:spPr>
        </p:sp>
        <p:sp>
          <p:nvSpPr>
            <p:cNvPr id="188" name="TextBox 188"/>
            <p:cNvSpPr txBox="1"/>
            <p:nvPr/>
          </p:nvSpPr>
          <p:spPr>
            <a:xfrm>
              <a:off x="10888980" y="3319462"/>
              <a:ext cx="110490"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低</a:t>
              </a:r>
            </a:p>
          </p:txBody>
        </p:sp>
        <p:sp>
          <p:nvSpPr>
            <p:cNvPr id="189" name="TextBox 189"/>
            <p:cNvSpPr txBox="1"/>
            <p:nvPr/>
          </p:nvSpPr>
          <p:spPr>
            <a:xfrm>
              <a:off x="10454830" y="352615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项目周期长，短期证据有限</a:t>
              </a:r>
            </a:p>
          </p:txBody>
        </p:sp>
      </p:grpSp>
      <p:grpSp>
        <p:nvGrpSpPr>
          <p:cNvPr id="223" name="row-6"/>
          <p:cNvGrpSpPr/>
          <p:nvPr/>
        </p:nvGrpSpPr>
        <p:grpSpPr>
          <a:xfrm>
            <a:off x="381000" y="3676650"/>
            <a:ext cx="11430000" cy="476250"/>
            <a:chOff x="381000" y="3676650"/>
            <a:chExt cx="11430000" cy="476250"/>
          </a:xfrm>
        </p:grpSpPr>
        <p:sp>
          <p:nvSpPr>
            <p:cNvPr id="191" name="Rectangle 191"/>
            <p:cNvSpPr/>
            <p:nvPr/>
          </p:nvSpPr>
          <p:spPr>
            <a:xfrm>
              <a:off x="381000" y="3676650"/>
              <a:ext cx="11430000" cy="476250"/>
            </a:xfrm>
            <a:prstGeom prst="rect">
              <a:avLst/>
            </a:prstGeom>
            <a:solidFill>
              <a:srgbClr val="F6F9FD"/>
            </a:solidFill>
            <a:ln w="9525">
              <a:solidFill>
                <a:srgbClr val="C7D9F0"/>
              </a:solidFill>
            </a:ln>
          </p:spPr>
        </p:sp>
        <p:sp>
          <p:nvSpPr>
            <p:cNvPr id="192" name="Rectangle 192"/>
            <p:cNvSpPr/>
            <p:nvPr/>
          </p:nvSpPr>
          <p:spPr>
            <a:xfrm>
              <a:off x="381000" y="3676650"/>
              <a:ext cx="1047750" cy="476250"/>
            </a:xfrm>
            <a:prstGeom prst="rect">
              <a:avLst/>
            </a:prstGeom>
            <a:solidFill>
              <a:srgbClr val="EFF5FC"/>
            </a:solidFill>
            <a:ln w="9525">
              <a:solidFill>
                <a:srgbClr val="C7D9F0"/>
              </a:solidFill>
            </a:ln>
          </p:spPr>
        </p:sp>
        <p:grpSp>
          <p:nvGrpSpPr>
            <p:cNvPr id="198" name="Group 198"/>
            <p:cNvGrpSpPr/>
            <p:nvPr/>
          </p:nvGrpSpPr>
          <p:grpSpPr>
            <a:xfrm>
              <a:off x="516731" y="3850481"/>
              <a:ext cx="135732" cy="128588"/>
              <a:chOff x="516731" y="3850481"/>
              <a:chExt cx="135732" cy="128588"/>
            </a:xfrm>
          </p:grpSpPr>
          <p:sp>
            <p:nvSpPr>
              <p:cNvPr id="193" name="Freeform 193"/>
              <p:cNvSpPr/>
              <p:nvPr/>
            </p:nvSpPr>
            <p:spPr>
              <a:xfrm>
                <a:off x="516731" y="3857625"/>
                <a:ext cx="78581" cy="78581"/>
              </a:xfrm>
              <a:custGeom>
                <a:avLst/>
                <a:gdLst/>
                <a:ahLst/>
                <a:cxnLst/>
                <a:rect l="l" t="t" r="r" b="b"/>
                <a:pathLst>
                  <a:path w="78581" h="78581">
                    <a:moveTo>
                      <a:pt x="21431" y="0"/>
                    </a:moveTo>
                    <a:lnTo>
                      <a:pt x="14288" y="0"/>
                    </a:lnTo>
                    <a:cubicBezTo>
                      <a:pt x="6397" y="0"/>
                      <a:pt x="0" y="6397"/>
                      <a:pt x="0" y="14288"/>
                    </a:cubicBezTo>
                    <a:lnTo>
                      <a:pt x="0" y="39291"/>
                    </a:lnTo>
                    <a:cubicBezTo>
                      <a:pt x="0" y="60990"/>
                      <a:pt x="17591" y="78581"/>
                      <a:pt x="39291" y="78581"/>
                    </a:cubicBezTo>
                    <a:cubicBezTo>
                      <a:pt x="60990" y="78581"/>
                      <a:pt x="78581" y="60990"/>
                      <a:pt x="78581" y="39291"/>
                    </a:cubicBezTo>
                    <a:lnTo>
                      <a:pt x="78581" y="14288"/>
                    </a:lnTo>
                    <a:cubicBezTo>
                      <a:pt x="78581" y="6397"/>
                      <a:pt x="72185" y="0"/>
                      <a:pt x="64294" y="0"/>
                    </a:cubicBezTo>
                    <a:lnTo>
                      <a:pt x="57150" y="0"/>
                    </a:lnTo>
                  </a:path>
                </a:pathLst>
              </a:custGeom>
              <a:noFill/>
              <a:ln w="14288">
                <a:solidFill>
                  <a:srgbClr val="9C331E"/>
                </a:solidFill>
              </a:ln>
            </p:spPr>
          </p:sp>
          <p:sp>
            <p:nvSpPr>
              <p:cNvPr id="194" name="Freeform 194"/>
              <p:cNvSpPr/>
              <p:nvPr/>
            </p:nvSpPr>
            <p:spPr>
              <a:xfrm>
                <a:off x="552450" y="3914775"/>
                <a:ext cx="85725" cy="64294"/>
              </a:xfrm>
              <a:custGeom>
                <a:avLst/>
                <a:gdLst/>
                <a:ahLst/>
                <a:cxnLst/>
                <a:rect l="l" t="t" r="r" b="b"/>
                <a:pathLst>
                  <a:path w="85725" h="64294">
                    <a:moveTo>
                      <a:pt x="0" y="21431"/>
                    </a:moveTo>
                    <a:cubicBezTo>
                      <a:pt x="0" y="45104"/>
                      <a:pt x="19190" y="64294"/>
                      <a:pt x="42862" y="64294"/>
                    </a:cubicBezTo>
                    <a:cubicBezTo>
                      <a:pt x="66535" y="64294"/>
                      <a:pt x="85725" y="45104"/>
                      <a:pt x="85725" y="21431"/>
                    </a:cubicBezTo>
                    <a:lnTo>
                      <a:pt x="85725" y="0"/>
                    </a:lnTo>
                  </a:path>
                </a:pathLst>
              </a:custGeom>
              <a:noFill/>
              <a:ln w="14288">
                <a:solidFill>
                  <a:srgbClr val="9C331E"/>
                </a:solidFill>
              </a:ln>
            </p:spPr>
          </p:sp>
          <p:sp>
            <p:nvSpPr>
              <p:cNvPr id="195" name="Freeform 195"/>
              <p:cNvSpPr/>
              <p:nvPr/>
            </p:nvSpPr>
            <p:spPr>
              <a:xfrm>
                <a:off x="573881" y="3850481"/>
                <a:ext cx="9525" cy="14288"/>
              </a:xfrm>
              <a:custGeom>
                <a:avLst/>
                <a:gdLst/>
                <a:ahLst/>
                <a:cxnLst/>
                <a:rect l="l" t="t" r="r" b="b"/>
                <a:pathLst>
                  <a:path w="9525" h="14288">
                    <a:moveTo>
                      <a:pt x="0" y="0"/>
                    </a:moveTo>
                    <a:lnTo>
                      <a:pt x="0" y="14288"/>
                    </a:lnTo>
                  </a:path>
                </a:pathLst>
              </a:custGeom>
              <a:noFill/>
              <a:ln w="14288">
                <a:solidFill>
                  <a:srgbClr val="9C331E"/>
                </a:solidFill>
              </a:ln>
            </p:spPr>
          </p:sp>
          <p:sp>
            <p:nvSpPr>
              <p:cNvPr id="196" name="Freeform 196"/>
              <p:cNvSpPr/>
              <p:nvPr/>
            </p:nvSpPr>
            <p:spPr>
              <a:xfrm>
                <a:off x="538162" y="3850481"/>
                <a:ext cx="9525" cy="14288"/>
              </a:xfrm>
              <a:custGeom>
                <a:avLst/>
                <a:gdLst/>
                <a:ahLst/>
                <a:cxnLst/>
                <a:rect l="l" t="t" r="r" b="b"/>
                <a:pathLst>
                  <a:path w="9525" h="14288">
                    <a:moveTo>
                      <a:pt x="0" y="0"/>
                    </a:moveTo>
                    <a:lnTo>
                      <a:pt x="0" y="14288"/>
                    </a:lnTo>
                  </a:path>
                </a:pathLst>
              </a:custGeom>
              <a:noFill/>
              <a:ln w="14288">
                <a:solidFill>
                  <a:srgbClr val="9C331E"/>
                </a:solidFill>
              </a:ln>
            </p:spPr>
          </p:sp>
          <p:sp>
            <p:nvSpPr>
              <p:cNvPr id="197" name="Freeform 197"/>
              <p:cNvSpPr/>
              <p:nvPr/>
            </p:nvSpPr>
            <p:spPr>
              <a:xfrm>
                <a:off x="623888" y="388620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9C331E"/>
                </a:solidFill>
              </a:ln>
            </p:spPr>
          </p:sp>
        </p:grpSp>
        <p:sp>
          <p:nvSpPr>
            <p:cNvPr id="199" name="TextBox 199"/>
            <p:cNvSpPr txBox="1"/>
            <p:nvPr/>
          </p:nvSpPr>
          <p:spPr>
            <a:xfrm>
              <a:off x="738188" y="3869293"/>
              <a:ext cx="472618"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医药健康</a:t>
              </a:r>
            </a:p>
          </p:txBody>
        </p:sp>
        <p:sp>
          <p:nvSpPr>
            <p:cNvPr id="200" name="Line 200"/>
            <p:cNvSpPr/>
            <p:nvPr/>
          </p:nvSpPr>
          <p:spPr>
            <a:xfrm>
              <a:off x="3162300" y="3676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01" name="Line 201"/>
            <p:cNvSpPr/>
            <p:nvPr/>
          </p:nvSpPr>
          <p:spPr>
            <a:xfrm>
              <a:off x="4886325" y="3676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02" name="Line 202"/>
            <p:cNvSpPr/>
            <p:nvPr/>
          </p:nvSpPr>
          <p:spPr>
            <a:xfrm>
              <a:off x="6619875" y="3676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03" name="Line 203"/>
            <p:cNvSpPr/>
            <p:nvPr/>
          </p:nvSpPr>
          <p:spPr>
            <a:xfrm>
              <a:off x="8353425" y="3676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04" name="Line 204"/>
            <p:cNvSpPr/>
            <p:nvPr/>
          </p:nvSpPr>
          <p:spPr>
            <a:xfrm>
              <a:off x="10077450" y="367665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05" name="Rectangle 205"/>
            <p:cNvSpPr/>
            <p:nvPr/>
          </p:nvSpPr>
          <p:spPr>
            <a:xfrm>
              <a:off x="2105025" y="3752850"/>
              <a:ext cx="381000" cy="171450"/>
            </a:xfrm>
            <a:prstGeom prst="roundRect">
              <a:avLst>
                <a:gd name="adj" fmla="val 50000"/>
              </a:avLst>
            </a:prstGeom>
            <a:solidFill>
              <a:srgbClr val="DE715B"/>
            </a:solidFill>
            <a:ln>
              <a:noFill/>
            </a:ln>
          </p:spPr>
        </p:sp>
        <p:sp>
          <p:nvSpPr>
            <p:cNvPr id="206" name="TextBox 206"/>
            <p:cNvSpPr txBox="1"/>
            <p:nvPr/>
          </p:nvSpPr>
          <p:spPr>
            <a:xfrm>
              <a:off x="2240280" y="3795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07" name="TextBox 207"/>
            <p:cNvSpPr txBox="1"/>
            <p:nvPr/>
          </p:nvSpPr>
          <p:spPr>
            <a:xfrm>
              <a:off x="1927288" y="4002405"/>
              <a:ext cx="736473"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数据分散、标准不一</a:t>
              </a:r>
            </a:p>
          </p:txBody>
        </p:sp>
        <p:sp>
          <p:nvSpPr>
            <p:cNvPr id="208" name="Rectangle 208"/>
            <p:cNvSpPr/>
            <p:nvPr/>
          </p:nvSpPr>
          <p:spPr>
            <a:xfrm>
              <a:off x="3829050" y="3752850"/>
              <a:ext cx="381000" cy="171450"/>
            </a:xfrm>
            <a:prstGeom prst="roundRect">
              <a:avLst>
                <a:gd name="adj" fmla="val 50000"/>
              </a:avLst>
            </a:prstGeom>
            <a:solidFill>
              <a:srgbClr val="DE715B"/>
            </a:solidFill>
            <a:ln>
              <a:noFill/>
            </a:ln>
          </p:spPr>
        </p:sp>
        <p:sp>
          <p:nvSpPr>
            <p:cNvPr id="209" name="TextBox 209"/>
            <p:cNvSpPr txBox="1"/>
            <p:nvPr/>
          </p:nvSpPr>
          <p:spPr>
            <a:xfrm>
              <a:off x="3964305" y="3795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10" name="TextBox 210"/>
            <p:cNvSpPr txBox="1"/>
            <p:nvPr/>
          </p:nvSpPr>
          <p:spPr>
            <a:xfrm>
              <a:off x="3691700" y="4002405"/>
              <a:ext cx="655701"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临床路径存在差异</a:t>
              </a:r>
            </a:p>
          </p:txBody>
        </p:sp>
        <p:sp>
          <p:nvSpPr>
            <p:cNvPr id="211" name="Rectangle 211"/>
            <p:cNvSpPr/>
            <p:nvPr/>
          </p:nvSpPr>
          <p:spPr>
            <a:xfrm>
              <a:off x="5562600" y="3752850"/>
              <a:ext cx="381000" cy="171450"/>
            </a:xfrm>
            <a:prstGeom prst="roundRect">
              <a:avLst>
                <a:gd name="adj" fmla="val 50000"/>
              </a:avLst>
            </a:prstGeom>
            <a:solidFill>
              <a:srgbClr val="DE715B"/>
            </a:solidFill>
            <a:ln>
              <a:noFill/>
            </a:ln>
          </p:spPr>
        </p:sp>
        <p:sp>
          <p:nvSpPr>
            <p:cNvPr id="212" name="TextBox 212"/>
            <p:cNvSpPr txBox="1"/>
            <p:nvPr/>
          </p:nvSpPr>
          <p:spPr>
            <a:xfrm>
              <a:off x="5697855" y="3795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13" name="TextBox 213"/>
            <p:cNvSpPr txBox="1"/>
            <p:nvPr/>
          </p:nvSpPr>
          <p:spPr>
            <a:xfrm>
              <a:off x="5304092" y="4002405"/>
              <a:ext cx="898017"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系统异构、数据壁垒较多</a:t>
              </a:r>
            </a:p>
          </p:txBody>
        </p:sp>
        <p:sp>
          <p:nvSpPr>
            <p:cNvPr id="214" name="Rectangle 214"/>
            <p:cNvSpPr/>
            <p:nvPr/>
          </p:nvSpPr>
          <p:spPr>
            <a:xfrm>
              <a:off x="7296150" y="3752850"/>
              <a:ext cx="381000" cy="171450"/>
            </a:xfrm>
            <a:prstGeom prst="roundRect">
              <a:avLst>
                <a:gd name="adj" fmla="val 50000"/>
              </a:avLst>
            </a:prstGeom>
            <a:solidFill>
              <a:srgbClr val="9C331E"/>
            </a:solidFill>
            <a:ln>
              <a:noFill/>
            </a:ln>
          </p:spPr>
        </p:sp>
        <p:sp>
          <p:nvSpPr>
            <p:cNvPr id="215" name="TextBox 215"/>
            <p:cNvSpPr txBox="1"/>
            <p:nvPr/>
          </p:nvSpPr>
          <p:spPr>
            <a:xfrm>
              <a:off x="7431405" y="3795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216" name="TextBox 216"/>
            <p:cNvSpPr txBox="1"/>
            <p:nvPr/>
          </p:nvSpPr>
          <p:spPr>
            <a:xfrm>
              <a:off x="7037642" y="4002405"/>
              <a:ext cx="898017"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涉及生命健康，监管严格</a:t>
              </a:r>
            </a:p>
          </p:txBody>
        </p:sp>
        <p:sp>
          <p:nvSpPr>
            <p:cNvPr id="217" name="Rectangle 217"/>
            <p:cNvSpPr/>
            <p:nvPr/>
          </p:nvSpPr>
          <p:spPr>
            <a:xfrm>
              <a:off x="9020175" y="3752850"/>
              <a:ext cx="381000" cy="171450"/>
            </a:xfrm>
            <a:prstGeom prst="roundRect">
              <a:avLst>
                <a:gd name="adj" fmla="val 50000"/>
              </a:avLst>
            </a:prstGeom>
            <a:solidFill>
              <a:srgbClr val="DE715B"/>
            </a:solidFill>
            <a:ln>
              <a:noFill/>
            </a:ln>
          </p:spPr>
        </p:sp>
        <p:sp>
          <p:nvSpPr>
            <p:cNvPr id="218" name="TextBox 218"/>
            <p:cNvSpPr txBox="1"/>
            <p:nvPr/>
          </p:nvSpPr>
          <p:spPr>
            <a:xfrm>
              <a:off x="9155430" y="37957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19" name="TextBox 219"/>
            <p:cNvSpPr txBox="1"/>
            <p:nvPr/>
          </p:nvSpPr>
          <p:spPr>
            <a:xfrm>
              <a:off x="8761666" y="4002405"/>
              <a:ext cx="898017"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疗效评估复杂、周期较长</a:t>
              </a:r>
            </a:p>
          </p:txBody>
        </p:sp>
        <p:sp>
          <p:nvSpPr>
            <p:cNvPr id="220" name="Rectangle 220"/>
            <p:cNvSpPr/>
            <p:nvPr/>
          </p:nvSpPr>
          <p:spPr>
            <a:xfrm>
              <a:off x="10753725" y="3752850"/>
              <a:ext cx="381000" cy="171450"/>
            </a:xfrm>
            <a:prstGeom prst="roundRect">
              <a:avLst>
                <a:gd name="adj" fmla="val 50000"/>
              </a:avLst>
            </a:prstGeom>
            <a:solidFill>
              <a:srgbClr val="C7D9F0"/>
            </a:solidFill>
            <a:ln>
              <a:noFill/>
            </a:ln>
          </p:spPr>
        </p:sp>
        <p:sp>
          <p:nvSpPr>
            <p:cNvPr id="221" name="TextBox 221"/>
            <p:cNvSpPr txBox="1"/>
            <p:nvPr/>
          </p:nvSpPr>
          <p:spPr>
            <a:xfrm>
              <a:off x="10888980" y="3795712"/>
              <a:ext cx="110490"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低</a:t>
              </a:r>
            </a:p>
          </p:txBody>
        </p:sp>
        <p:sp>
          <p:nvSpPr>
            <p:cNvPr id="222" name="TextBox 222"/>
            <p:cNvSpPr txBox="1"/>
            <p:nvPr/>
          </p:nvSpPr>
          <p:spPr>
            <a:xfrm>
              <a:off x="10454830" y="400240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需长期观察，短期证据较少</a:t>
              </a:r>
            </a:p>
          </p:txBody>
        </p:sp>
      </p:grpSp>
      <p:grpSp>
        <p:nvGrpSpPr>
          <p:cNvPr id="254" name="row-7"/>
          <p:cNvGrpSpPr/>
          <p:nvPr/>
        </p:nvGrpSpPr>
        <p:grpSpPr>
          <a:xfrm>
            <a:off x="381000" y="4152900"/>
            <a:ext cx="11430000" cy="476250"/>
            <a:chOff x="381000" y="4152900"/>
            <a:chExt cx="11430000" cy="476250"/>
          </a:xfrm>
        </p:grpSpPr>
        <p:sp>
          <p:nvSpPr>
            <p:cNvPr id="224" name="Rectangle 224"/>
            <p:cNvSpPr/>
            <p:nvPr/>
          </p:nvSpPr>
          <p:spPr>
            <a:xfrm>
              <a:off x="381000" y="4152900"/>
              <a:ext cx="11430000" cy="476250"/>
            </a:xfrm>
            <a:prstGeom prst="rect">
              <a:avLst/>
            </a:prstGeom>
            <a:solidFill>
              <a:srgbClr val="FFFFFF"/>
            </a:solidFill>
            <a:ln w="9525">
              <a:solidFill>
                <a:srgbClr val="C7D9F0"/>
              </a:solidFill>
            </a:ln>
          </p:spPr>
        </p:sp>
        <p:sp>
          <p:nvSpPr>
            <p:cNvPr id="225" name="Rectangle 225"/>
            <p:cNvSpPr/>
            <p:nvPr/>
          </p:nvSpPr>
          <p:spPr>
            <a:xfrm>
              <a:off x="381000" y="4152900"/>
              <a:ext cx="1047750" cy="476250"/>
            </a:xfrm>
            <a:prstGeom prst="rect">
              <a:avLst/>
            </a:prstGeom>
            <a:solidFill>
              <a:srgbClr val="EFF5FC"/>
            </a:solidFill>
            <a:ln w="9525">
              <a:solidFill>
                <a:srgbClr val="C7D9F0"/>
              </a:solidFill>
            </a:ln>
          </p:spPr>
        </p:sp>
        <p:grpSp>
          <p:nvGrpSpPr>
            <p:cNvPr id="229" name="Group 229"/>
            <p:cNvGrpSpPr/>
            <p:nvPr/>
          </p:nvGrpSpPr>
          <p:grpSpPr>
            <a:xfrm>
              <a:off x="516731" y="4333875"/>
              <a:ext cx="128588" cy="114301"/>
              <a:chOff x="516731" y="4333875"/>
              <a:chExt cx="128588" cy="114301"/>
            </a:xfrm>
          </p:grpSpPr>
          <p:sp>
            <p:nvSpPr>
              <p:cNvPr id="226" name="Freeform 226"/>
              <p:cNvSpPr/>
              <p:nvPr/>
            </p:nvSpPr>
            <p:spPr>
              <a:xfrm>
                <a:off x="516731" y="4333875"/>
                <a:ext cx="64294" cy="57150"/>
              </a:xfrm>
              <a:custGeom>
                <a:avLst/>
                <a:gdLst/>
                <a:ahLst/>
                <a:cxnLst/>
                <a:rect l="l" t="t" r="r" b="b"/>
                <a:pathLst>
                  <a:path w="64294" h="57150">
                    <a:moveTo>
                      <a:pt x="64294" y="42862"/>
                    </a:moveTo>
                    <a:cubicBezTo>
                      <a:pt x="64294" y="19190"/>
                      <a:pt x="45104" y="0"/>
                      <a:pt x="21431" y="0"/>
                    </a:cubicBezTo>
                    <a:lnTo>
                      <a:pt x="0" y="0"/>
                    </a:lnTo>
                    <a:lnTo>
                      <a:pt x="0" y="14288"/>
                    </a:lnTo>
                    <a:cubicBezTo>
                      <a:pt x="0" y="37960"/>
                      <a:pt x="19190" y="57150"/>
                      <a:pt x="42862" y="57150"/>
                    </a:cubicBezTo>
                    <a:lnTo>
                      <a:pt x="64294" y="57150"/>
                    </a:lnTo>
                  </a:path>
                </a:pathLst>
              </a:custGeom>
              <a:noFill/>
              <a:ln w="14288">
                <a:solidFill>
                  <a:srgbClr val="9C331E"/>
                </a:solidFill>
              </a:ln>
            </p:spPr>
          </p:sp>
          <p:sp>
            <p:nvSpPr>
              <p:cNvPr id="227" name="Freeform 227"/>
              <p:cNvSpPr/>
              <p:nvPr/>
            </p:nvSpPr>
            <p:spPr>
              <a:xfrm>
                <a:off x="581025" y="4362450"/>
                <a:ext cx="64294" cy="50006"/>
              </a:xfrm>
              <a:custGeom>
                <a:avLst/>
                <a:gdLst/>
                <a:ahLst/>
                <a:cxnLst/>
                <a:rect l="l" t="t" r="r" b="b"/>
                <a:pathLst>
                  <a:path w="64294" h="50006">
                    <a:moveTo>
                      <a:pt x="0" y="42862"/>
                    </a:moveTo>
                    <a:cubicBezTo>
                      <a:pt x="0" y="19190"/>
                      <a:pt x="19190" y="0"/>
                      <a:pt x="42862" y="0"/>
                    </a:cubicBezTo>
                    <a:lnTo>
                      <a:pt x="64294" y="0"/>
                    </a:lnTo>
                    <a:lnTo>
                      <a:pt x="64294" y="7144"/>
                    </a:lnTo>
                    <a:cubicBezTo>
                      <a:pt x="64294" y="30816"/>
                      <a:pt x="45104" y="50006"/>
                      <a:pt x="21431" y="50006"/>
                    </a:cubicBezTo>
                    <a:lnTo>
                      <a:pt x="0" y="50006"/>
                    </a:lnTo>
                  </a:path>
                </a:pathLst>
              </a:custGeom>
              <a:noFill/>
              <a:ln w="14288">
                <a:solidFill>
                  <a:srgbClr val="9C331E"/>
                </a:solidFill>
              </a:ln>
            </p:spPr>
          </p:sp>
          <p:sp>
            <p:nvSpPr>
              <p:cNvPr id="228" name="Freeform 228"/>
              <p:cNvSpPr/>
              <p:nvPr/>
            </p:nvSpPr>
            <p:spPr>
              <a:xfrm>
                <a:off x="581025" y="4376738"/>
                <a:ext cx="9525" cy="71438"/>
              </a:xfrm>
              <a:custGeom>
                <a:avLst/>
                <a:gdLst/>
                <a:ahLst/>
                <a:cxnLst/>
                <a:rect l="l" t="t" r="r" b="b"/>
                <a:pathLst>
                  <a:path w="9525" h="71438">
                    <a:moveTo>
                      <a:pt x="0" y="71438"/>
                    </a:moveTo>
                    <a:lnTo>
                      <a:pt x="0" y="0"/>
                    </a:lnTo>
                  </a:path>
                </a:pathLst>
              </a:custGeom>
              <a:noFill/>
              <a:ln w="14288">
                <a:solidFill>
                  <a:srgbClr val="9C331E"/>
                </a:solidFill>
              </a:ln>
            </p:spPr>
          </p:sp>
        </p:grpSp>
        <p:sp>
          <p:nvSpPr>
            <p:cNvPr id="230" name="TextBox 230"/>
            <p:cNvSpPr txBox="1"/>
            <p:nvPr/>
          </p:nvSpPr>
          <p:spPr>
            <a:xfrm>
              <a:off x="738188" y="4345543"/>
              <a:ext cx="472618" cy="169069"/>
            </a:xfrm>
            <a:prstGeom prst="rect">
              <a:avLst/>
            </a:prstGeom>
            <a:noFill/>
            <a:ln>
              <a:noFill/>
            </a:ln>
          </p:spPr>
          <p:txBody>
            <a:bodyPr wrap="none" lIns="0" tIns="0" rIns="0" bIns="0" anchor="t" anchorCtr="0">
              <a:spAutoFit/>
            </a:bodyPr>
            <a:lstStyle/>
            <a:p>
              <a:pPr algn="l"/>
              <a:r>
                <a:rPr lang="zh-CN" sz="860" b="1" dirty="0">
                  <a:solidFill>
                    <a:srgbClr val="5E2114"/>
                  </a:solidFill>
                  <a:latin typeface="+mn-lt"/>
                  <a:ea typeface="+mn-ea"/>
                  <a:cs typeface="+mn-cs"/>
                </a:rPr>
                <a:t>农业食品</a:t>
              </a:r>
            </a:p>
          </p:txBody>
        </p:sp>
        <p:sp>
          <p:nvSpPr>
            <p:cNvPr id="231" name="Line 231"/>
            <p:cNvSpPr/>
            <p:nvPr/>
          </p:nvSpPr>
          <p:spPr>
            <a:xfrm>
              <a:off x="3162300" y="4152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32" name="Line 232"/>
            <p:cNvSpPr/>
            <p:nvPr/>
          </p:nvSpPr>
          <p:spPr>
            <a:xfrm>
              <a:off x="4886325" y="4152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33" name="Line 233"/>
            <p:cNvSpPr/>
            <p:nvPr/>
          </p:nvSpPr>
          <p:spPr>
            <a:xfrm>
              <a:off x="6619875" y="4152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34" name="Line 234"/>
            <p:cNvSpPr/>
            <p:nvPr/>
          </p:nvSpPr>
          <p:spPr>
            <a:xfrm>
              <a:off x="8353425" y="4152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35" name="Line 235"/>
            <p:cNvSpPr/>
            <p:nvPr/>
          </p:nvSpPr>
          <p:spPr>
            <a:xfrm>
              <a:off x="10077450" y="4152900"/>
              <a:ext cx="9525" cy="476250"/>
            </a:xfrm>
            <a:custGeom>
              <a:avLst/>
              <a:gdLst/>
              <a:ahLst/>
              <a:cxnLst/>
              <a:rect l="l" t="t" r="r" b="b"/>
              <a:pathLst>
                <a:path w="9525" h="476250">
                  <a:moveTo>
                    <a:pt x="0" y="0"/>
                  </a:moveTo>
                  <a:lnTo>
                    <a:pt x="0" y="476250"/>
                  </a:lnTo>
                </a:path>
              </a:pathLst>
            </a:custGeom>
            <a:noFill/>
            <a:ln w="9525">
              <a:solidFill>
                <a:srgbClr val="C7D9F0"/>
              </a:solidFill>
            </a:ln>
          </p:spPr>
        </p:sp>
        <p:sp>
          <p:nvSpPr>
            <p:cNvPr id="236" name="Rectangle 236"/>
            <p:cNvSpPr/>
            <p:nvPr/>
          </p:nvSpPr>
          <p:spPr>
            <a:xfrm>
              <a:off x="2105025" y="4229100"/>
              <a:ext cx="381000" cy="171450"/>
            </a:xfrm>
            <a:prstGeom prst="roundRect">
              <a:avLst>
                <a:gd name="adj" fmla="val 50000"/>
              </a:avLst>
            </a:prstGeom>
            <a:solidFill>
              <a:srgbClr val="C7D9F0"/>
            </a:solidFill>
            <a:ln>
              <a:noFill/>
            </a:ln>
          </p:spPr>
        </p:sp>
        <p:sp>
          <p:nvSpPr>
            <p:cNvPr id="237" name="TextBox 237"/>
            <p:cNvSpPr txBox="1"/>
            <p:nvPr/>
          </p:nvSpPr>
          <p:spPr>
            <a:xfrm>
              <a:off x="2240280" y="4271962"/>
              <a:ext cx="110490"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低</a:t>
              </a:r>
            </a:p>
          </p:txBody>
        </p:sp>
        <p:sp>
          <p:nvSpPr>
            <p:cNvPr id="238" name="TextBox 238"/>
            <p:cNvSpPr txBox="1"/>
            <p:nvPr/>
          </p:nvSpPr>
          <p:spPr>
            <a:xfrm>
              <a:off x="1765744" y="4478655"/>
              <a:ext cx="1059561"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受自然环境影响，数据不连续</a:t>
              </a:r>
            </a:p>
          </p:txBody>
        </p:sp>
        <p:sp>
          <p:nvSpPr>
            <p:cNvPr id="239" name="Rectangle 239"/>
            <p:cNvSpPr/>
            <p:nvPr/>
          </p:nvSpPr>
          <p:spPr>
            <a:xfrm>
              <a:off x="3829050" y="4229100"/>
              <a:ext cx="381000" cy="171450"/>
            </a:xfrm>
            <a:prstGeom prst="roundRect">
              <a:avLst>
                <a:gd name="adj" fmla="val 50000"/>
              </a:avLst>
            </a:prstGeom>
            <a:solidFill>
              <a:srgbClr val="C7D9F0"/>
            </a:solidFill>
            <a:ln>
              <a:noFill/>
            </a:ln>
          </p:spPr>
        </p:sp>
        <p:sp>
          <p:nvSpPr>
            <p:cNvPr id="240" name="TextBox 240"/>
            <p:cNvSpPr txBox="1"/>
            <p:nvPr/>
          </p:nvSpPr>
          <p:spPr>
            <a:xfrm>
              <a:off x="3964305" y="4271962"/>
              <a:ext cx="110490"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低</a:t>
              </a:r>
            </a:p>
          </p:txBody>
        </p:sp>
        <p:sp>
          <p:nvSpPr>
            <p:cNvPr id="241" name="TextBox 241"/>
            <p:cNvSpPr txBox="1"/>
            <p:nvPr/>
          </p:nvSpPr>
          <p:spPr>
            <a:xfrm>
              <a:off x="3691700" y="4478655"/>
              <a:ext cx="655701"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种养殖环节差异大</a:t>
              </a:r>
            </a:p>
          </p:txBody>
        </p:sp>
        <p:sp>
          <p:nvSpPr>
            <p:cNvPr id="242" name="Rectangle 242"/>
            <p:cNvSpPr/>
            <p:nvPr/>
          </p:nvSpPr>
          <p:spPr>
            <a:xfrm>
              <a:off x="5562600" y="4229100"/>
              <a:ext cx="381000" cy="171450"/>
            </a:xfrm>
            <a:prstGeom prst="roundRect">
              <a:avLst>
                <a:gd name="adj" fmla="val 50000"/>
              </a:avLst>
            </a:prstGeom>
            <a:solidFill>
              <a:srgbClr val="C7D9F0"/>
            </a:solidFill>
            <a:ln>
              <a:noFill/>
            </a:ln>
          </p:spPr>
        </p:sp>
        <p:sp>
          <p:nvSpPr>
            <p:cNvPr id="243" name="TextBox 243"/>
            <p:cNvSpPr txBox="1"/>
            <p:nvPr/>
          </p:nvSpPr>
          <p:spPr>
            <a:xfrm>
              <a:off x="5697855" y="4271962"/>
              <a:ext cx="110490"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低</a:t>
              </a:r>
            </a:p>
          </p:txBody>
        </p:sp>
        <p:sp>
          <p:nvSpPr>
            <p:cNvPr id="244" name="TextBox 244"/>
            <p:cNvSpPr txBox="1"/>
            <p:nvPr/>
          </p:nvSpPr>
          <p:spPr>
            <a:xfrm>
              <a:off x="5263706" y="447865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数字化基础薄弱，数据分散</a:t>
              </a:r>
            </a:p>
          </p:txBody>
        </p:sp>
        <p:sp>
          <p:nvSpPr>
            <p:cNvPr id="245" name="Rectangle 245"/>
            <p:cNvSpPr/>
            <p:nvPr/>
          </p:nvSpPr>
          <p:spPr>
            <a:xfrm>
              <a:off x="7296150" y="4229100"/>
              <a:ext cx="381000" cy="171450"/>
            </a:xfrm>
            <a:prstGeom prst="roundRect">
              <a:avLst>
                <a:gd name="adj" fmla="val 50000"/>
              </a:avLst>
            </a:prstGeom>
            <a:solidFill>
              <a:srgbClr val="DE715B"/>
            </a:solidFill>
            <a:ln>
              <a:noFill/>
            </a:ln>
          </p:spPr>
        </p:sp>
        <p:sp>
          <p:nvSpPr>
            <p:cNvPr id="246" name="TextBox 246"/>
            <p:cNvSpPr txBox="1"/>
            <p:nvPr/>
          </p:nvSpPr>
          <p:spPr>
            <a:xfrm>
              <a:off x="7431405" y="42719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47" name="TextBox 247"/>
            <p:cNvSpPr txBox="1"/>
            <p:nvPr/>
          </p:nvSpPr>
          <p:spPr>
            <a:xfrm>
              <a:off x="6997256" y="447865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受自然风险与食品安全监管</a:t>
              </a:r>
            </a:p>
          </p:txBody>
        </p:sp>
        <p:sp>
          <p:nvSpPr>
            <p:cNvPr id="248" name="Rectangle 248"/>
            <p:cNvSpPr/>
            <p:nvPr/>
          </p:nvSpPr>
          <p:spPr>
            <a:xfrm>
              <a:off x="9020175" y="4229100"/>
              <a:ext cx="381000" cy="171450"/>
            </a:xfrm>
            <a:prstGeom prst="roundRect">
              <a:avLst>
                <a:gd name="adj" fmla="val 50000"/>
              </a:avLst>
            </a:prstGeom>
            <a:solidFill>
              <a:srgbClr val="DE715B"/>
            </a:solidFill>
            <a:ln>
              <a:noFill/>
            </a:ln>
          </p:spPr>
        </p:sp>
        <p:sp>
          <p:nvSpPr>
            <p:cNvPr id="249" name="TextBox 249"/>
            <p:cNvSpPr txBox="1"/>
            <p:nvPr/>
          </p:nvSpPr>
          <p:spPr>
            <a:xfrm>
              <a:off x="9155430" y="42719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50" name="TextBox 250"/>
            <p:cNvSpPr txBox="1"/>
            <p:nvPr/>
          </p:nvSpPr>
          <p:spPr>
            <a:xfrm>
              <a:off x="8721280" y="447865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产量、品质受多重因素影响</a:t>
              </a:r>
            </a:p>
          </p:txBody>
        </p:sp>
        <p:sp>
          <p:nvSpPr>
            <p:cNvPr id="251" name="Rectangle 251"/>
            <p:cNvSpPr/>
            <p:nvPr/>
          </p:nvSpPr>
          <p:spPr>
            <a:xfrm>
              <a:off x="10753725" y="4229100"/>
              <a:ext cx="381000" cy="171450"/>
            </a:xfrm>
            <a:prstGeom prst="roundRect">
              <a:avLst>
                <a:gd name="adj" fmla="val 50000"/>
              </a:avLst>
            </a:prstGeom>
            <a:solidFill>
              <a:srgbClr val="C7D9F0"/>
            </a:solidFill>
            <a:ln>
              <a:noFill/>
            </a:ln>
          </p:spPr>
        </p:sp>
        <p:sp>
          <p:nvSpPr>
            <p:cNvPr id="252" name="TextBox 252"/>
            <p:cNvSpPr txBox="1"/>
            <p:nvPr/>
          </p:nvSpPr>
          <p:spPr>
            <a:xfrm>
              <a:off x="10888980" y="4271962"/>
              <a:ext cx="110490" cy="147638"/>
            </a:xfrm>
            <a:prstGeom prst="rect">
              <a:avLst/>
            </a:prstGeom>
            <a:noFill/>
            <a:ln>
              <a:noFill/>
            </a:ln>
          </p:spPr>
          <p:txBody>
            <a:bodyPr wrap="none" lIns="0" tIns="0" rIns="0" bIns="0" anchor="t" anchorCtr="0">
              <a:spAutoFit/>
            </a:bodyPr>
            <a:lstStyle/>
            <a:p>
              <a:pPr algn="ctr"/>
              <a:r>
                <a:rPr lang="zh-CN" sz="750" b="1" dirty="0">
                  <a:solidFill>
                    <a:srgbClr val="5E2114"/>
                  </a:solidFill>
                  <a:latin typeface="+mn-lt"/>
                  <a:ea typeface="+mn-ea"/>
                  <a:cs typeface="+mn-cs"/>
                </a:rPr>
                <a:t>低</a:t>
              </a:r>
            </a:p>
          </p:txBody>
        </p:sp>
        <p:sp>
          <p:nvSpPr>
            <p:cNvPr id="253" name="TextBox 253"/>
            <p:cNvSpPr txBox="1"/>
            <p:nvPr/>
          </p:nvSpPr>
          <p:spPr>
            <a:xfrm>
              <a:off x="10454830" y="4478655"/>
              <a:ext cx="978789" cy="119062"/>
            </a:xfrm>
            <a:prstGeom prst="rect">
              <a:avLst/>
            </a:prstGeom>
            <a:noFill/>
            <a:ln>
              <a:noFill/>
            </a:ln>
          </p:spPr>
          <p:txBody>
            <a:bodyPr wrap="none" lIns="0" tIns="0" rIns="0" bIns="0" anchor="t" anchorCtr="0">
              <a:spAutoFit/>
            </a:bodyPr>
            <a:lstStyle/>
            <a:p>
              <a:pPr algn="ctr"/>
              <a:r>
                <a:rPr lang="zh-CN" sz="600" dirty="0">
                  <a:solidFill>
                    <a:srgbClr val="573F3A"/>
                  </a:solidFill>
                  <a:latin typeface="+mn-lt"/>
                  <a:ea typeface="+mn-ea"/>
                  <a:cs typeface="+mn-cs"/>
                </a:rPr>
                <a:t>环境变量多，短期难以验证</a:t>
              </a:r>
            </a:p>
          </p:txBody>
        </p:sp>
      </p:grpSp>
      <p:grpSp>
        <p:nvGrpSpPr>
          <p:cNvPr id="256" name="table-note"/>
          <p:cNvGrpSpPr/>
          <p:nvPr/>
        </p:nvGrpSpPr>
        <p:grpSpPr>
          <a:xfrm>
            <a:off x="9460954" y="4712732"/>
            <a:ext cx="2335759" cy="126206"/>
            <a:chOff x="9460954" y="4712732"/>
            <a:chExt cx="2335759" cy="126206"/>
          </a:xfrm>
        </p:grpSpPr>
        <p:sp>
          <p:nvSpPr>
            <p:cNvPr id="255" name="TextBox 255"/>
            <p:cNvSpPr txBox="1"/>
            <p:nvPr/>
          </p:nvSpPr>
          <p:spPr>
            <a:xfrm>
              <a:off x="9460954" y="4712732"/>
              <a:ext cx="2335759" cy="126206"/>
            </a:xfrm>
            <a:prstGeom prst="rect">
              <a:avLst/>
            </a:prstGeom>
            <a:noFill/>
            <a:ln>
              <a:noFill/>
            </a:ln>
          </p:spPr>
          <p:txBody>
            <a:bodyPr wrap="none" lIns="0" tIns="0" rIns="0" bIns="0" anchor="t" anchorCtr="0">
              <a:spAutoFit/>
            </a:bodyPr>
            <a:lstStyle/>
            <a:p>
              <a:pPr algn="r"/>
              <a:r>
                <a:rPr lang="zh-CN" sz="640" dirty="0">
                  <a:solidFill>
                    <a:srgbClr val="9B807A"/>
                  </a:solidFill>
                  <a:latin typeface="+mn-lt"/>
                  <a:ea typeface="+mn-ea"/>
                  <a:cs typeface="+mn-cs"/>
                </a:rPr>
                <a:t>注：本表为基于公开信息的业务特征分析框架，非官方评分。</a:t>
              </a:r>
            </a:p>
          </p:txBody>
        </p:sp>
      </p:grpSp>
      <p:grpSp>
        <p:nvGrpSpPr>
          <p:cNvPr id="282" name="findings"/>
          <p:cNvGrpSpPr/>
          <p:nvPr/>
        </p:nvGrpSpPr>
        <p:grpSpPr>
          <a:xfrm>
            <a:off x="381000" y="4895850"/>
            <a:ext cx="11430000" cy="1238250"/>
            <a:chOff x="381000" y="4895850"/>
            <a:chExt cx="11430000" cy="1238250"/>
          </a:xfrm>
        </p:grpSpPr>
        <p:sp>
          <p:nvSpPr>
            <p:cNvPr id="257" name="Rectangle 257"/>
            <p:cNvSpPr/>
            <p:nvPr/>
          </p:nvSpPr>
          <p:spPr>
            <a:xfrm>
              <a:off x="381000" y="4895850"/>
              <a:ext cx="381000" cy="1238250"/>
            </a:xfrm>
            <a:prstGeom prst="roundRect">
              <a:avLst>
                <a:gd name="adj" fmla="val 15000"/>
              </a:avLst>
            </a:prstGeom>
            <a:solidFill>
              <a:srgbClr val="632012"/>
            </a:solidFill>
            <a:ln>
              <a:noFill/>
            </a:ln>
          </p:spPr>
        </p:sp>
        <p:sp>
          <p:nvSpPr>
            <p:cNvPr id="258" name="TextBox 258"/>
            <p:cNvSpPr txBox="1"/>
            <p:nvPr/>
          </p:nvSpPr>
          <p:spPr>
            <a:xfrm>
              <a:off x="468379" y="5190649"/>
              <a:ext cx="206242" cy="762190"/>
            </a:xfrm>
            <a:prstGeom prst="rect">
              <a:avLst/>
            </a:prstGeom>
            <a:noFill/>
            <a:ln>
              <a:noFill/>
            </a:ln>
          </p:spPr>
          <p:txBody>
            <a:bodyPr wrap="none" lIns="0" tIns="0" rIns="0" bIns="0" anchor="t" anchorCtr="0">
              <a:spAutoFit/>
            </a:bodyPr>
            <a:lstStyle/>
            <a:p>
              <a:pPr algn="ctr">
                <a:lnSpc>
                  <a:spcPts val="1500"/>
                </a:lnSpc>
              </a:pPr>
              <a:r>
                <a:rPr lang="zh-CN" sz="980" b="1" dirty="0">
                  <a:solidFill>
                    <a:srgbClr val="FFFFFF"/>
                  </a:solidFill>
                  <a:latin typeface="+mn-lt"/>
                  <a:ea typeface="+mn-ea"/>
                  <a:cs typeface="+mn-cs"/>
                </a:rPr>
                <a:t>关​</a:t>
              </a:r>
              <a:br/>
              <a:r>
                <a:rPr lang="zh-CN" sz="980" b="1" dirty="0">
                  <a:solidFill>
                    <a:srgbClr val="FFFFFF"/>
                  </a:solidFill>
                  <a:latin typeface="+mn-lt"/>
                  <a:ea typeface="+mn-ea"/>
                  <a:cs typeface="+mn-cs"/>
                </a:rPr>
                <a:t>键​</a:t>
              </a:r>
              <a:br/>
              <a:r>
                <a:rPr lang="zh-CN" sz="980" b="1" dirty="0">
                  <a:solidFill>
                    <a:srgbClr val="FFFFFF"/>
                  </a:solidFill>
                  <a:latin typeface="+mn-lt"/>
                  <a:ea typeface="+mn-ea"/>
                  <a:cs typeface="+mn-cs"/>
                </a:rPr>
                <a:t>发​</a:t>
              </a:r>
              <a:br/>
              <a:r>
                <a:rPr lang="zh-CN" sz="980" b="1" dirty="0">
                  <a:solidFill>
                    <a:srgbClr val="FFFFFF"/>
                  </a:solidFill>
                  <a:latin typeface="+mn-lt"/>
                  <a:ea typeface="+mn-ea"/>
                  <a:cs typeface="+mn-cs"/>
                </a:rPr>
                <a:t>现​</a:t>
              </a:r>
            </a:p>
          </p:txBody>
        </p:sp>
        <p:sp>
          <p:nvSpPr>
            <p:cNvPr id="259" name="Rectangle 259"/>
            <p:cNvSpPr/>
            <p:nvPr/>
          </p:nvSpPr>
          <p:spPr>
            <a:xfrm>
              <a:off x="838200" y="4895850"/>
              <a:ext cx="3543300" cy="1238250"/>
            </a:xfrm>
            <a:prstGeom prst="roundRect">
              <a:avLst>
                <a:gd name="adj" fmla="val 4615"/>
              </a:avLst>
            </a:prstGeom>
            <a:solidFill>
              <a:srgbClr val="EFF5FC"/>
            </a:solidFill>
            <a:ln w="9525">
              <a:solidFill>
                <a:srgbClr val="C7D9F0"/>
              </a:solidFill>
            </a:ln>
          </p:spPr>
        </p:sp>
        <p:sp>
          <p:nvSpPr>
            <p:cNvPr id="260" name="Ellipse 260"/>
            <p:cNvSpPr/>
            <p:nvPr/>
          </p:nvSpPr>
          <p:spPr>
            <a:xfrm>
              <a:off x="933450" y="5048250"/>
              <a:ext cx="304800" cy="304800"/>
            </a:xfrm>
            <a:prstGeom prst="ellipse">
              <a:avLst/>
            </a:prstGeom>
            <a:solidFill>
              <a:srgbClr val="9C331E"/>
            </a:solidFill>
            <a:ln>
              <a:noFill/>
            </a:ln>
          </p:spPr>
        </p:sp>
        <p:grpSp>
          <p:nvGrpSpPr>
            <p:cNvPr id="264" name="Group 264"/>
            <p:cNvGrpSpPr/>
            <p:nvPr/>
          </p:nvGrpSpPr>
          <p:grpSpPr>
            <a:xfrm>
              <a:off x="1017603" y="5129212"/>
              <a:ext cx="136478" cy="142002"/>
              <a:chOff x="1017603" y="5129212"/>
              <a:chExt cx="136478" cy="142002"/>
            </a:xfrm>
          </p:grpSpPr>
          <p:sp>
            <p:nvSpPr>
              <p:cNvPr id="261" name="Freeform 261"/>
              <p:cNvSpPr/>
              <p:nvPr/>
            </p:nvSpPr>
            <p:spPr>
              <a:xfrm>
                <a:off x="1038225" y="5129212"/>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FFFFFF"/>
                </a:solidFill>
              </a:ln>
            </p:spPr>
          </p:sp>
          <p:sp>
            <p:nvSpPr>
              <p:cNvPr id="262" name="Freeform 262"/>
              <p:cNvSpPr/>
              <p:nvPr/>
            </p:nvSpPr>
            <p:spPr>
              <a:xfrm>
                <a:off x="1085850" y="5200650"/>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FFFFFF"/>
                </a:solidFill>
              </a:ln>
            </p:spPr>
          </p:sp>
          <p:sp>
            <p:nvSpPr>
              <p:cNvPr id="263" name="Freeform 263"/>
              <p:cNvSpPr/>
              <p:nvPr/>
            </p:nvSpPr>
            <p:spPr>
              <a:xfrm>
                <a:off x="1017603" y="5200650"/>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FFFFFF"/>
                </a:solidFill>
              </a:ln>
            </p:spPr>
          </p:sp>
        </p:grpSp>
        <p:sp>
          <p:nvSpPr>
            <p:cNvPr id="265" name="TextBox 265"/>
            <p:cNvSpPr txBox="1"/>
            <p:nvPr/>
          </p:nvSpPr>
          <p:spPr>
            <a:xfrm>
              <a:off x="1309688" y="5151120"/>
              <a:ext cx="170573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高标准、强数据的行业更快见效</a:t>
              </a:r>
            </a:p>
          </p:txBody>
        </p:sp>
        <p:sp>
          <p:nvSpPr>
            <p:cNvPr id="266" name="TextBox 266"/>
            <p:cNvSpPr txBox="1"/>
            <p:nvPr/>
          </p:nvSpPr>
          <p:spPr>
            <a:xfrm>
              <a:off x="985838" y="5394484"/>
              <a:ext cx="1784223" cy="381000"/>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能源电力、先进制造、交通航运具备重复性</a:t>
              </a:r>
              <a:br/>
              <a:r>
                <a:rPr lang="zh-CN" sz="680" dirty="0">
                  <a:solidFill>
                    <a:srgbClr val="573F3A"/>
                  </a:solidFill>
                  <a:latin typeface="+mn-lt"/>
                  <a:ea typeface="+mn-ea"/>
                  <a:cs typeface="+mn-cs"/>
                </a:rPr>
                <a:t>任务、传感器数据和成熟的运营系统，更容易​</a:t>
              </a:r>
              <a:br/>
              <a:r>
                <a:rPr lang="zh-CN" sz="680" dirty="0">
                  <a:solidFill>
                    <a:srgbClr val="573F3A"/>
                  </a:solidFill>
                  <a:latin typeface="+mn-lt"/>
                  <a:ea typeface="+mn-ea"/>
                  <a:cs typeface="+mn-cs"/>
                </a:rPr>
                <a:t>在短期内形成可验证的成效。</a:t>
              </a:r>
            </a:p>
          </p:txBody>
        </p:sp>
        <p:sp>
          <p:nvSpPr>
            <p:cNvPr id="267" name="Rectangle 267"/>
            <p:cNvSpPr/>
            <p:nvPr/>
          </p:nvSpPr>
          <p:spPr>
            <a:xfrm>
              <a:off x="4552950" y="4895850"/>
              <a:ext cx="3543300" cy="1238250"/>
            </a:xfrm>
            <a:prstGeom prst="roundRect">
              <a:avLst>
                <a:gd name="adj" fmla="val 4615"/>
              </a:avLst>
            </a:prstGeom>
            <a:solidFill>
              <a:srgbClr val="EFF5FC"/>
            </a:solidFill>
            <a:ln w="9525">
              <a:solidFill>
                <a:srgbClr val="C7D9F0"/>
              </a:solidFill>
            </a:ln>
          </p:spPr>
        </p:sp>
        <p:sp>
          <p:nvSpPr>
            <p:cNvPr id="268" name="Ellipse 268"/>
            <p:cNvSpPr/>
            <p:nvPr/>
          </p:nvSpPr>
          <p:spPr>
            <a:xfrm>
              <a:off x="4648200" y="5048250"/>
              <a:ext cx="304800" cy="304800"/>
            </a:xfrm>
            <a:prstGeom prst="ellipse">
              <a:avLst/>
            </a:prstGeom>
            <a:solidFill>
              <a:srgbClr val="9C331E"/>
            </a:solidFill>
            <a:ln>
              <a:noFill/>
            </a:ln>
          </p:spPr>
        </p:sp>
        <p:grpSp>
          <p:nvGrpSpPr>
            <p:cNvPr id="271" name="Group 271"/>
            <p:cNvGrpSpPr/>
            <p:nvPr/>
          </p:nvGrpSpPr>
          <p:grpSpPr>
            <a:xfrm>
              <a:off x="4729162" y="5129212"/>
              <a:ext cx="142875" cy="142875"/>
              <a:chOff x="4729162" y="5129212"/>
              <a:chExt cx="142875" cy="142875"/>
            </a:xfrm>
          </p:grpSpPr>
          <p:sp>
            <p:nvSpPr>
              <p:cNvPr id="269" name="Freeform 269"/>
              <p:cNvSpPr/>
              <p:nvPr/>
            </p:nvSpPr>
            <p:spPr>
              <a:xfrm>
                <a:off x="4729162" y="51292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sp>
            <p:nvSpPr>
              <p:cNvPr id="270" name="Freeform 270"/>
              <p:cNvSpPr/>
              <p:nvPr/>
            </p:nvSpPr>
            <p:spPr>
              <a:xfrm>
                <a:off x="4800600" y="5160962"/>
                <a:ext cx="23812" cy="63500"/>
              </a:xfrm>
              <a:custGeom>
                <a:avLst/>
                <a:gdLst/>
                <a:ahLst/>
                <a:cxnLst/>
                <a:rect l="l" t="t" r="r" b="b"/>
                <a:pathLst>
                  <a:path w="23812" h="63500">
                    <a:moveTo>
                      <a:pt x="0" y="0"/>
                    </a:moveTo>
                    <a:lnTo>
                      <a:pt x="0" y="39687"/>
                    </a:lnTo>
                    <a:lnTo>
                      <a:pt x="23812" y="63500"/>
                    </a:lnTo>
                  </a:path>
                </a:pathLst>
              </a:custGeom>
              <a:noFill/>
              <a:ln w="15875">
                <a:solidFill>
                  <a:srgbClr val="FFFFFF"/>
                </a:solidFill>
              </a:ln>
            </p:spPr>
          </p:sp>
        </p:grpSp>
        <p:sp>
          <p:nvSpPr>
            <p:cNvPr id="272" name="TextBox 272"/>
            <p:cNvSpPr txBox="1"/>
            <p:nvPr/>
          </p:nvSpPr>
          <p:spPr>
            <a:xfrm>
              <a:off x="5024438" y="5151120"/>
              <a:ext cx="194805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强约束、强不确定性的行业需要耐心</a:t>
              </a:r>
            </a:p>
          </p:txBody>
        </p:sp>
        <p:sp>
          <p:nvSpPr>
            <p:cNvPr id="273" name="TextBox 273"/>
            <p:cNvSpPr txBox="1"/>
            <p:nvPr/>
          </p:nvSpPr>
          <p:spPr>
            <a:xfrm>
              <a:off x="4700588" y="5394484"/>
              <a:ext cx="1697863" cy="381000"/>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医药健康、农业食品、建筑工程面临更高的​</a:t>
              </a:r>
              <a:br/>
              <a:r>
                <a:rPr lang="zh-CN" sz="680" dirty="0">
                  <a:solidFill>
                    <a:srgbClr val="573F3A"/>
                  </a:solidFill>
                  <a:latin typeface="+mn-lt"/>
                  <a:ea typeface="+mn-ea"/>
                  <a:cs typeface="+mn-cs"/>
                </a:rPr>
                <a:t>安全与监管要求，且环境变化使数据分散，​</a:t>
              </a:r>
              <a:br/>
              <a:r>
                <a:rPr lang="zh-CN" sz="680" dirty="0">
                  <a:solidFill>
                    <a:srgbClr val="573F3A"/>
                  </a:solidFill>
                  <a:latin typeface="+mn-lt"/>
                  <a:ea typeface="+mn-ea"/>
                  <a:cs typeface="+mn-cs"/>
                </a:rPr>
                <a:t>短期内形成硬证据更挑战。</a:t>
              </a:r>
            </a:p>
          </p:txBody>
        </p:sp>
        <p:sp>
          <p:nvSpPr>
            <p:cNvPr id="274" name="Rectangle 274"/>
            <p:cNvSpPr/>
            <p:nvPr/>
          </p:nvSpPr>
          <p:spPr>
            <a:xfrm>
              <a:off x="8267700" y="4895850"/>
              <a:ext cx="3543300" cy="1238250"/>
            </a:xfrm>
            <a:prstGeom prst="roundRect">
              <a:avLst>
                <a:gd name="adj" fmla="val 4615"/>
              </a:avLst>
            </a:prstGeom>
            <a:solidFill>
              <a:srgbClr val="EFF5FC"/>
            </a:solidFill>
            <a:ln w="9525">
              <a:solidFill>
                <a:srgbClr val="C7D9F0"/>
              </a:solidFill>
            </a:ln>
          </p:spPr>
        </p:sp>
        <p:sp>
          <p:nvSpPr>
            <p:cNvPr id="275" name="Ellipse 275"/>
            <p:cNvSpPr/>
            <p:nvPr/>
          </p:nvSpPr>
          <p:spPr>
            <a:xfrm>
              <a:off x="8362950" y="5048250"/>
              <a:ext cx="304800" cy="304800"/>
            </a:xfrm>
            <a:prstGeom prst="ellipse">
              <a:avLst/>
            </a:prstGeom>
            <a:solidFill>
              <a:srgbClr val="9C331E"/>
            </a:solidFill>
            <a:ln>
              <a:noFill/>
            </a:ln>
          </p:spPr>
        </p:sp>
        <p:grpSp>
          <p:nvGrpSpPr>
            <p:cNvPr id="279" name="Group 279"/>
            <p:cNvGrpSpPr/>
            <p:nvPr/>
          </p:nvGrpSpPr>
          <p:grpSpPr>
            <a:xfrm>
              <a:off x="8443912" y="5129212"/>
              <a:ext cx="142875" cy="142875"/>
              <a:chOff x="8443912" y="5129212"/>
              <a:chExt cx="142875" cy="142875"/>
            </a:xfrm>
          </p:grpSpPr>
          <p:sp>
            <p:nvSpPr>
              <p:cNvPr id="276" name="Freeform 276"/>
              <p:cNvSpPr/>
              <p:nvPr/>
            </p:nvSpPr>
            <p:spPr>
              <a:xfrm>
                <a:off x="8507412" y="51927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277" name="Freeform 277"/>
              <p:cNvSpPr/>
              <p:nvPr/>
            </p:nvSpPr>
            <p:spPr>
              <a:xfrm>
                <a:off x="8475662" y="51609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278" name="Freeform 278"/>
              <p:cNvSpPr/>
              <p:nvPr/>
            </p:nvSpPr>
            <p:spPr>
              <a:xfrm>
                <a:off x="8443912" y="51292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280" name="TextBox 280"/>
            <p:cNvSpPr txBox="1"/>
            <p:nvPr/>
          </p:nvSpPr>
          <p:spPr>
            <a:xfrm>
              <a:off x="8739188" y="5151120"/>
              <a:ext cx="134226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结合业务痛点可视化场景</a:t>
              </a:r>
            </a:p>
          </p:txBody>
        </p:sp>
        <p:sp>
          <p:nvSpPr>
            <p:cNvPr id="281" name="TextBox 281"/>
            <p:cNvSpPr txBox="1"/>
            <p:nvPr/>
          </p:nvSpPr>
          <p:spPr>
            <a:xfrm>
              <a:off x="8415338" y="5394484"/>
              <a:ext cx="1784223" cy="381000"/>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结合业务特征选择切入点，优先在流程清晰、​</a:t>
              </a:r>
              <a:br/>
              <a:r>
                <a:rPr lang="zh-CN" sz="680" dirty="0">
                  <a:solidFill>
                    <a:srgbClr val="573F3A"/>
                  </a:solidFill>
                  <a:latin typeface="+mn-lt"/>
                  <a:ea typeface="+mn-ea"/>
                  <a:cs typeface="+mn-cs"/>
                </a:rPr>
                <a:t>数据基础较好的环节建立试点，逐步扩展应</a:t>
              </a:r>
              <a:br/>
              <a:r>
                <a:rPr lang="zh-CN" sz="680" dirty="0">
                  <a:solidFill>
                    <a:srgbClr val="573F3A"/>
                  </a:solidFill>
                  <a:latin typeface="+mn-lt"/>
                  <a:ea typeface="+mn-ea"/>
                  <a:cs typeface="+mn-cs"/>
                </a:rPr>
                <a:t>用范围。</a:t>
              </a:r>
            </a:p>
          </p:txBody>
        </p:sp>
      </p:grpSp>
      <p:grpSp>
        <p:nvGrpSpPr>
          <p:cNvPr id="286" name="footer"/>
          <p:cNvGrpSpPr/>
          <p:nvPr/>
        </p:nvGrpSpPr>
        <p:grpSpPr>
          <a:xfrm>
            <a:off x="0" y="6705600"/>
            <a:ext cx="12192000" cy="173117"/>
            <a:chOff x="0" y="6705600"/>
            <a:chExt cx="12192000" cy="173117"/>
          </a:xfrm>
        </p:grpSpPr>
        <p:sp>
          <p:nvSpPr>
            <p:cNvPr id="283" name="Rectangle 283"/>
            <p:cNvSpPr/>
            <p:nvPr/>
          </p:nvSpPr>
          <p:spPr>
            <a:xfrm>
              <a:off x="0" y="6705600"/>
              <a:ext cx="12192000" cy="152400"/>
            </a:xfrm>
            <a:prstGeom prst="rect">
              <a:avLst/>
            </a:prstGeom>
            <a:solidFill>
              <a:srgbClr val="632012"/>
            </a:solidFill>
            <a:ln>
              <a:noFill/>
            </a:ln>
          </p:spPr>
        </p:sp>
        <p:sp>
          <p:nvSpPr>
            <p:cNvPr id="284" name="TextBox 284"/>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285" name="TextBox 285"/>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14/20</a:t>
              </a:r>
            </a:p>
          </p:txBody>
        </p:sp>
      </p:gr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9" name="header"/>
          <p:cNvGrpSpPr/>
          <p:nvPr/>
        </p:nvGrpSpPr>
        <p:grpSpPr>
          <a:xfrm>
            <a:off x="0" y="0"/>
            <a:ext cx="11739563" cy="551879"/>
            <a:chOff x="0" y="0"/>
            <a:chExt cx="11739563"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3" name="TextBox 3"/>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15</a:t>
              </a:r>
            </a:p>
          </p:txBody>
        </p:sp>
        <p:sp>
          <p:nvSpPr>
            <p:cNvPr id="4" name="TextBox 4"/>
            <p:cNvSpPr txBox="1"/>
            <p:nvPr/>
          </p:nvSpPr>
          <p:spPr>
            <a:xfrm>
              <a:off x="942594" y="170498"/>
              <a:ext cx="5567172"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成功条件</a:t>
              </a:r>
              <a:r>
                <a:rPr lang="zh-CN" sz="1950" b="1" dirty="0">
                  <a:solidFill>
                    <a:srgbClr val="5E2114"/>
                  </a:solidFill>
                  <a:latin typeface="+mj-lt"/>
                  <a:ea typeface="+mj-ea"/>
                  <a:cs typeface="+mj-cs"/>
                </a:rPr>
                <a:t>｜五个闭环决定能否从演示走向生产</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6" name="TextBox 6"/>
            <p:cNvSpPr txBox="1"/>
            <p:nvPr/>
          </p:nvSpPr>
          <p:spPr>
            <a:xfrm>
              <a:off x="11089246" y="79534"/>
              <a:ext cx="650316"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把需求变成能力</a:t>
              </a:r>
            </a:p>
          </p:txBody>
        </p:sp>
        <p:sp>
          <p:nvSpPr>
            <p:cNvPr id="7" name="TextBox 7"/>
            <p:cNvSpPr txBox="1"/>
            <p:nvPr/>
          </p:nvSpPr>
          <p:spPr>
            <a:xfrm>
              <a:off x="11089246" y="212884"/>
              <a:ext cx="650316"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把能力变成流程</a:t>
              </a:r>
            </a:p>
          </p:txBody>
        </p:sp>
        <p:sp>
          <p:nvSpPr>
            <p:cNvPr id="8" name="TextBox 8"/>
            <p:cNvSpPr txBox="1"/>
            <p:nvPr/>
          </p:nvSpPr>
          <p:spPr>
            <a:xfrm>
              <a:off x="10539997" y="346234"/>
              <a:ext cx="1199566"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把流程变成可持续的业务结果</a:t>
              </a:r>
            </a:p>
          </p:txBody>
        </p:sp>
      </p:grpSp>
      <p:grpSp>
        <p:nvGrpSpPr>
          <p:cNvPr id="11" name="subtitle"/>
          <p:cNvGrpSpPr/>
          <p:nvPr/>
        </p:nvGrpSpPr>
        <p:grpSpPr>
          <a:xfrm>
            <a:off x="985838" y="660797"/>
            <a:ext cx="5197780" cy="183356"/>
            <a:chOff x="985838" y="660797"/>
            <a:chExt cx="5197780" cy="183356"/>
          </a:xfrm>
        </p:grpSpPr>
        <p:sp>
          <p:nvSpPr>
            <p:cNvPr id="10" name="TextBox 10"/>
            <p:cNvSpPr txBox="1"/>
            <p:nvPr/>
          </p:nvSpPr>
          <p:spPr>
            <a:xfrm>
              <a:off x="985838" y="660797"/>
              <a:ext cx="5197780" cy="183356"/>
            </a:xfrm>
            <a:prstGeom prst="rect">
              <a:avLst/>
            </a:prstGeom>
            <a:noFill/>
            <a:ln>
              <a:noFill/>
            </a:ln>
          </p:spPr>
          <p:txBody>
            <a:bodyPr wrap="none" lIns="0" tIns="0" rIns="0" bIns="0" anchor="t" anchorCtr="0">
              <a:spAutoFit/>
            </a:bodyPr>
            <a:lstStyle/>
            <a:p>
              <a:pPr algn="l"/>
              <a:r>
                <a:rPr lang="zh-CN" sz="940" dirty="0">
                  <a:solidFill>
                    <a:srgbClr val="573F3A"/>
                  </a:solidFill>
                  <a:latin typeface="+mn-lt"/>
                  <a:ea typeface="+mn-ea"/>
                  <a:cs typeface="+mn-cs"/>
                </a:rPr>
                <a:t>从单点演示到稳定创造业务价值，需要五个环节形成闭环、相互支撑、持续运转，缺一不可。</a:t>
              </a:r>
            </a:p>
          </p:txBody>
        </p:sp>
      </p:grpSp>
      <p:grpSp>
        <p:nvGrpSpPr>
          <p:cNvPr id="34" name="card-5"/>
          <p:cNvGrpSpPr/>
          <p:nvPr/>
        </p:nvGrpSpPr>
        <p:grpSpPr>
          <a:xfrm>
            <a:off x="381000" y="952500"/>
            <a:ext cx="3429000" cy="1143000"/>
            <a:chOff x="381000" y="952500"/>
            <a:chExt cx="3429000" cy="1143000"/>
          </a:xfrm>
        </p:grpSpPr>
        <p:sp>
          <p:nvSpPr>
            <p:cNvPr id="12" name="Rectangle 12"/>
            <p:cNvSpPr/>
            <p:nvPr/>
          </p:nvSpPr>
          <p:spPr>
            <a:xfrm>
              <a:off x="381000" y="952500"/>
              <a:ext cx="3429000" cy="1143000"/>
            </a:xfrm>
            <a:prstGeom prst="roundRect">
              <a:avLst>
                <a:gd name="adj" fmla="val 5000"/>
              </a:avLst>
            </a:prstGeom>
            <a:solidFill>
              <a:srgbClr val="FFFFFF"/>
            </a:solidFill>
            <a:ln w="9525">
              <a:solidFill>
                <a:srgbClr val="C7D9F0"/>
              </a:solidFill>
            </a:ln>
          </p:spPr>
        </p:sp>
        <p:sp>
          <p:nvSpPr>
            <p:cNvPr id="13" name="Rectangle 13"/>
            <p:cNvSpPr/>
            <p:nvPr/>
          </p:nvSpPr>
          <p:spPr>
            <a:xfrm>
              <a:off x="381000" y="952500"/>
              <a:ext cx="38100" cy="1143000"/>
            </a:xfrm>
            <a:prstGeom prst="rect">
              <a:avLst/>
            </a:prstGeom>
            <a:solidFill>
              <a:srgbClr val="A9361F"/>
            </a:solidFill>
            <a:ln>
              <a:noFill/>
            </a:ln>
          </p:spPr>
        </p:sp>
        <p:grpSp>
          <p:nvGrpSpPr>
            <p:cNvPr id="18" name="Group 18"/>
            <p:cNvGrpSpPr/>
            <p:nvPr/>
          </p:nvGrpSpPr>
          <p:grpSpPr>
            <a:xfrm>
              <a:off x="552450" y="1073150"/>
              <a:ext cx="114300" cy="111125"/>
              <a:chOff x="552450" y="1073150"/>
              <a:chExt cx="114300" cy="111125"/>
            </a:xfrm>
          </p:grpSpPr>
          <p:sp>
            <p:nvSpPr>
              <p:cNvPr id="14" name="Freeform 14"/>
              <p:cNvSpPr/>
              <p:nvPr/>
            </p:nvSpPr>
            <p:spPr>
              <a:xfrm>
                <a:off x="552450" y="11239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9C331E"/>
                </a:solidFill>
              </a:ln>
            </p:spPr>
          </p:sp>
          <p:sp>
            <p:nvSpPr>
              <p:cNvPr id="15" name="Freeform 15"/>
              <p:cNvSpPr/>
              <p:nvPr/>
            </p:nvSpPr>
            <p:spPr>
              <a:xfrm>
                <a:off x="628650" y="10985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9C331E"/>
                </a:solidFill>
              </a:ln>
            </p:spPr>
          </p:sp>
          <p:sp>
            <p:nvSpPr>
              <p:cNvPr id="16" name="Freeform 16"/>
              <p:cNvSpPr/>
              <p:nvPr/>
            </p:nvSpPr>
            <p:spPr>
              <a:xfrm>
                <a:off x="590550" y="10731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9C331E"/>
                </a:solidFill>
              </a:ln>
            </p:spPr>
          </p:sp>
          <p:sp>
            <p:nvSpPr>
              <p:cNvPr id="17" name="Freeform 17"/>
              <p:cNvSpPr/>
              <p:nvPr/>
            </p:nvSpPr>
            <p:spPr>
              <a:xfrm>
                <a:off x="558800" y="1174750"/>
                <a:ext cx="88900" cy="9525"/>
              </a:xfrm>
              <a:custGeom>
                <a:avLst/>
                <a:gdLst/>
                <a:ahLst/>
                <a:cxnLst/>
                <a:rect l="l" t="t" r="r" b="b"/>
                <a:pathLst>
                  <a:path w="88900" h="9525">
                    <a:moveTo>
                      <a:pt x="0" y="0"/>
                    </a:moveTo>
                    <a:lnTo>
                      <a:pt x="88900" y="0"/>
                    </a:lnTo>
                  </a:path>
                </a:pathLst>
              </a:custGeom>
              <a:noFill/>
              <a:ln w="12700">
                <a:solidFill>
                  <a:srgbClr val="9C331E"/>
                </a:solidFill>
              </a:ln>
            </p:spPr>
          </p:sp>
        </p:grpSp>
        <p:sp>
          <p:nvSpPr>
            <p:cNvPr id="19" name="TextBox 19"/>
            <p:cNvSpPr txBox="1"/>
            <p:nvPr/>
          </p:nvSpPr>
          <p:spPr>
            <a:xfrm>
              <a:off x="738188" y="1070372"/>
              <a:ext cx="1154421"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5. 可检验经营指标​</a:t>
              </a:r>
            </a:p>
          </p:txBody>
        </p:sp>
        <p:sp>
          <p:nvSpPr>
            <p:cNvPr id="20" name="TextBox 20"/>
            <p:cNvSpPr txBox="1"/>
            <p:nvPr/>
          </p:nvSpPr>
          <p:spPr>
            <a:xfrm>
              <a:off x="528638" y="1260634"/>
              <a:ext cx="1931899"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用可验证的经营指标衡量成效，形成持续改进。</a:t>
              </a:r>
            </a:p>
          </p:txBody>
        </p:sp>
        <p:sp>
          <p:nvSpPr>
            <p:cNvPr id="21" name="Rectangle 21"/>
            <p:cNvSpPr/>
            <p:nvPr/>
          </p:nvSpPr>
          <p:spPr>
            <a:xfrm>
              <a:off x="533400" y="1428750"/>
              <a:ext cx="1562100" cy="590550"/>
            </a:xfrm>
            <a:prstGeom prst="roundRect">
              <a:avLst>
                <a:gd name="adj" fmla="val 6452"/>
              </a:avLst>
            </a:prstGeom>
            <a:solidFill>
              <a:srgbClr val="EFF5FC"/>
            </a:solidFill>
            <a:ln>
              <a:noFill/>
            </a:ln>
          </p:spPr>
        </p:sp>
        <p:sp>
          <p:nvSpPr>
            <p:cNvPr id="22" name="TextBox 22"/>
            <p:cNvSpPr txBox="1"/>
            <p:nvPr/>
          </p:nvSpPr>
          <p:spPr>
            <a:xfrm>
              <a:off x="604838" y="14932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关键问题</a:t>
              </a:r>
            </a:p>
          </p:txBody>
        </p:sp>
        <p:sp>
          <p:nvSpPr>
            <p:cNvPr id="23" name="TextBox 23"/>
            <p:cNvSpPr txBox="1"/>
            <p:nvPr/>
          </p:nvSpPr>
          <p:spPr>
            <a:xfrm>
              <a:off x="604838" y="1645682"/>
              <a:ext cx="102958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是否建立了可检验、与业务​</a:t>
              </a:r>
              <a:br/>
              <a:r>
                <a:rPr lang="zh-CN" sz="640" dirty="0">
                  <a:solidFill>
                    <a:srgbClr val="573F3A"/>
                  </a:solidFill>
                  <a:latin typeface="+mn-lt"/>
                  <a:ea typeface="+mn-ea"/>
                  <a:cs typeface="+mn-cs"/>
                </a:rPr>
                <a:t>结果相关的指标体系？</a:t>
              </a:r>
            </a:p>
          </p:txBody>
        </p:sp>
        <p:sp>
          <p:nvSpPr>
            <p:cNvPr id="24" name="Rectangle 24"/>
            <p:cNvSpPr/>
            <p:nvPr/>
          </p:nvSpPr>
          <p:spPr>
            <a:xfrm>
              <a:off x="2171700" y="1428750"/>
              <a:ext cx="1562100" cy="590550"/>
            </a:xfrm>
            <a:prstGeom prst="roundRect">
              <a:avLst>
                <a:gd name="adj" fmla="val 6452"/>
              </a:avLst>
            </a:prstGeom>
            <a:solidFill>
              <a:srgbClr val="DCE9F8"/>
            </a:solidFill>
            <a:ln>
              <a:noFill/>
            </a:ln>
          </p:spPr>
        </p:sp>
        <p:sp>
          <p:nvSpPr>
            <p:cNvPr id="25" name="TextBox 25"/>
            <p:cNvSpPr txBox="1"/>
            <p:nvPr/>
          </p:nvSpPr>
          <p:spPr>
            <a:xfrm>
              <a:off x="2243138" y="14932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证明材料</a:t>
              </a:r>
            </a:p>
          </p:txBody>
        </p:sp>
        <p:grpSp>
          <p:nvGrpSpPr>
            <p:cNvPr id="31" name="Group 31"/>
            <p:cNvGrpSpPr/>
            <p:nvPr/>
          </p:nvGrpSpPr>
          <p:grpSpPr>
            <a:xfrm>
              <a:off x="2275681" y="1635919"/>
              <a:ext cx="77787" cy="100012"/>
              <a:chOff x="2275681" y="1635919"/>
              <a:chExt cx="77787" cy="100012"/>
            </a:xfrm>
          </p:grpSpPr>
          <p:sp>
            <p:nvSpPr>
              <p:cNvPr id="26" name="Freeform 26"/>
              <p:cNvSpPr/>
              <p:nvPr/>
            </p:nvSpPr>
            <p:spPr>
              <a:xfrm>
                <a:off x="2325687" y="163591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9C331E"/>
                </a:solidFill>
              </a:ln>
            </p:spPr>
          </p:sp>
          <p:sp>
            <p:nvSpPr>
              <p:cNvPr id="27" name="Freeform 27"/>
              <p:cNvSpPr/>
              <p:nvPr/>
            </p:nvSpPr>
            <p:spPr>
              <a:xfrm>
                <a:off x="2275681" y="163591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9C331E"/>
                </a:solidFill>
              </a:ln>
            </p:spPr>
          </p:sp>
          <p:sp>
            <p:nvSpPr>
              <p:cNvPr id="28" name="Freeform 28"/>
              <p:cNvSpPr/>
              <p:nvPr/>
            </p:nvSpPr>
            <p:spPr>
              <a:xfrm>
                <a:off x="2297906" y="1669256"/>
                <a:ext cx="9525" cy="9525"/>
              </a:xfrm>
              <a:custGeom>
                <a:avLst/>
                <a:gdLst/>
                <a:ahLst/>
                <a:cxnLst/>
                <a:rect l="l" t="t" r="r" b="b"/>
                <a:pathLst>
                  <a:path w="9525" h="9525">
                    <a:moveTo>
                      <a:pt x="0" y="0"/>
                    </a:moveTo>
                    <a:lnTo>
                      <a:pt x="5556" y="0"/>
                    </a:lnTo>
                  </a:path>
                </a:pathLst>
              </a:custGeom>
              <a:noFill/>
              <a:ln w="11112">
                <a:solidFill>
                  <a:srgbClr val="9C331E"/>
                </a:solidFill>
              </a:ln>
            </p:spPr>
          </p:sp>
          <p:sp>
            <p:nvSpPr>
              <p:cNvPr id="29" name="Freeform 29"/>
              <p:cNvSpPr/>
              <p:nvPr/>
            </p:nvSpPr>
            <p:spPr>
              <a:xfrm>
                <a:off x="2297906" y="1691481"/>
                <a:ext cx="33337" cy="9525"/>
              </a:xfrm>
              <a:custGeom>
                <a:avLst/>
                <a:gdLst/>
                <a:ahLst/>
                <a:cxnLst/>
                <a:rect l="l" t="t" r="r" b="b"/>
                <a:pathLst>
                  <a:path w="33337" h="9525">
                    <a:moveTo>
                      <a:pt x="0" y="0"/>
                    </a:moveTo>
                    <a:lnTo>
                      <a:pt x="33337" y="0"/>
                    </a:lnTo>
                  </a:path>
                </a:pathLst>
              </a:custGeom>
              <a:noFill/>
              <a:ln w="11112">
                <a:solidFill>
                  <a:srgbClr val="9C331E"/>
                </a:solidFill>
              </a:ln>
            </p:spPr>
          </p:sp>
          <p:sp>
            <p:nvSpPr>
              <p:cNvPr id="30" name="Freeform 30"/>
              <p:cNvSpPr/>
              <p:nvPr/>
            </p:nvSpPr>
            <p:spPr>
              <a:xfrm>
                <a:off x="2297906" y="1713706"/>
                <a:ext cx="33337" cy="9525"/>
              </a:xfrm>
              <a:custGeom>
                <a:avLst/>
                <a:gdLst/>
                <a:ahLst/>
                <a:cxnLst/>
                <a:rect l="l" t="t" r="r" b="b"/>
                <a:pathLst>
                  <a:path w="33337" h="9525">
                    <a:moveTo>
                      <a:pt x="0" y="0"/>
                    </a:moveTo>
                    <a:lnTo>
                      <a:pt x="33337" y="0"/>
                    </a:lnTo>
                  </a:path>
                </a:pathLst>
              </a:custGeom>
              <a:noFill/>
              <a:ln w="11112">
                <a:solidFill>
                  <a:srgbClr val="9C331E"/>
                </a:solidFill>
              </a:ln>
            </p:spPr>
          </p:sp>
        </p:grpSp>
        <p:sp>
          <p:nvSpPr>
            <p:cNvPr id="32" name="TextBox 32"/>
            <p:cNvSpPr txBox="1"/>
            <p:nvPr/>
          </p:nvSpPr>
          <p:spPr>
            <a:xfrm>
              <a:off x="2433638" y="1643062"/>
              <a:ext cx="413385" cy="147638"/>
            </a:xfrm>
            <a:prstGeom prst="rect">
              <a:avLst/>
            </a:prstGeom>
            <a:noFill/>
            <a:ln>
              <a:noFill/>
            </a:ln>
          </p:spPr>
          <p:txBody>
            <a:bodyPr wrap="none" lIns="0" tIns="0" rIns="0" bIns="0" anchor="t" anchorCtr="0">
              <a:spAutoFit/>
            </a:bodyPr>
            <a:lstStyle/>
            <a:p>
              <a:pPr algn="l"/>
              <a:r>
                <a:rPr lang="zh-CN" sz="750" b="1" dirty="0">
                  <a:solidFill>
                    <a:srgbClr val="5E2114"/>
                  </a:solidFill>
                  <a:latin typeface="+mn-lt"/>
                  <a:ea typeface="+mn-ea"/>
                  <a:cs typeface="+mn-cs"/>
                </a:rPr>
                <a:t>指标看板</a:t>
              </a:r>
            </a:p>
          </p:txBody>
        </p:sp>
        <p:sp>
          <p:nvSpPr>
            <p:cNvPr id="33" name="TextBox 33"/>
            <p:cNvSpPr txBox="1"/>
            <p:nvPr/>
          </p:nvSpPr>
          <p:spPr>
            <a:xfrm>
              <a:off x="2243138" y="1806178"/>
              <a:ext cx="90208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73F3A"/>
                  </a:solidFill>
                  <a:latin typeface="+mn-lt"/>
                  <a:ea typeface="+mn-ea"/>
                  <a:cs typeface="+mn-cs"/>
                </a:rPr>
                <a:t>（含指标定义、口径说明、​</a:t>
              </a:r>
              <a:br/>
              <a:r>
                <a:rPr lang="zh-CN" sz="560" dirty="0">
                  <a:solidFill>
                    <a:srgbClr val="573F3A"/>
                  </a:solidFill>
                  <a:latin typeface="+mn-lt"/>
                  <a:ea typeface="+mn-ea"/>
                  <a:cs typeface="+mn-cs"/>
                </a:rPr>
                <a:t>数据来源）</a:t>
              </a:r>
            </a:p>
          </p:txBody>
        </p:sp>
      </p:grpSp>
      <p:grpSp>
        <p:nvGrpSpPr>
          <p:cNvPr id="55" name="card-4"/>
          <p:cNvGrpSpPr/>
          <p:nvPr/>
        </p:nvGrpSpPr>
        <p:grpSpPr>
          <a:xfrm>
            <a:off x="381000" y="3390900"/>
            <a:ext cx="3429000" cy="1143000"/>
            <a:chOff x="381000" y="3390900"/>
            <a:chExt cx="3429000" cy="1143000"/>
          </a:xfrm>
        </p:grpSpPr>
        <p:sp>
          <p:nvSpPr>
            <p:cNvPr id="35" name="Rectangle 35"/>
            <p:cNvSpPr/>
            <p:nvPr/>
          </p:nvSpPr>
          <p:spPr>
            <a:xfrm>
              <a:off x="381000" y="3390900"/>
              <a:ext cx="3429000" cy="1143000"/>
            </a:xfrm>
            <a:prstGeom prst="roundRect">
              <a:avLst>
                <a:gd name="adj" fmla="val 5000"/>
              </a:avLst>
            </a:prstGeom>
            <a:solidFill>
              <a:srgbClr val="FFFFFF"/>
            </a:solidFill>
            <a:ln w="9525">
              <a:solidFill>
                <a:srgbClr val="C7D9F0"/>
              </a:solidFill>
            </a:ln>
          </p:spPr>
        </p:sp>
        <p:sp>
          <p:nvSpPr>
            <p:cNvPr id="36" name="Rectangle 36"/>
            <p:cNvSpPr/>
            <p:nvPr/>
          </p:nvSpPr>
          <p:spPr>
            <a:xfrm>
              <a:off x="381000" y="3390900"/>
              <a:ext cx="38100" cy="1143000"/>
            </a:xfrm>
            <a:prstGeom prst="rect">
              <a:avLst/>
            </a:prstGeom>
            <a:solidFill>
              <a:srgbClr val="C43D22"/>
            </a:solidFill>
            <a:ln>
              <a:noFill/>
            </a:ln>
          </p:spPr>
        </p:sp>
        <p:grpSp>
          <p:nvGrpSpPr>
            <p:cNvPr id="40" name="Group 40"/>
            <p:cNvGrpSpPr/>
            <p:nvPr/>
          </p:nvGrpSpPr>
          <p:grpSpPr>
            <a:xfrm>
              <a:off x="571500" y="3505200"/>
              <a:ext cx="95250" cy="114300"/>
              <a:chOff x="571500" y="3505200"/>
              <a:chExt cx="95250" cy="114300"/>
            </a:xfrm>
          </p:grpSpPr>
          <p:sp>
            <p:nvSpPr>
              <p:cNvPr id="37" name="Freeform 37"/>
              <p:cNvSpPr/>
              <p:nvPr/>
            </p:nvSpPr>
            <p:spPr>
              <a:xfrm>
                <a:off x="584200" y="35052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9C331E"/>
                </a:solidFill>
              </a:ln>
            </p:spPr>
          </p:sp>
          <p:sp>
            <p:nvSpPr>
              <p:cNvPr id="38" name="Freeform 38"/>
              <p:cNvSpPr/>
              <p:nvPr/>
            </p:nvSpPr>
            <p:spPr>
              <a:xfrm>
                <a:off x="571500" y="35814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9C331E"/>
                </a:solidFill>
              </a:ln>
            </p:spPr>
          </p:sp>
          <p:sp>
            <p:nvSpPr>
              <p:cNvPr id="39" name="Freeform 39"/>
              <p:cNvSpPr/>
              <p:nvPr/>
            </p:nvSpPr>
            <p:spPr>
              <a:xfrm>
                <a:off x="628650" y="3594100"/>
                <a:ext cx="38100" cy="25400"/>
              </a:xfrm>
              <a:custGeom>
                <a:avLst/>
                <a:gdLst/>
                <a:ahLst/>
                <a:cxnLst/>
                <a:rect l="l" t="t" r="r" b="b"/>
                <a:pathLst>
                  <a:path w="38100" h="25400">
                    <a:moveTo>
                      <a:pt x="0" y="12700"/>
                    </a:moveTo>
                    <a:lnTo>
                      <a:pt x="12700" y="25400"/>
                    </a:lnTo>
                    <a:lnTo>
                      <a:pt x="38100" y="0"/>
                    </a:lnTo>
                  </a:path>
                </a:pathLst>
              </a:custGeom>
              <a:noFill/>
              <a:ln w="12700">
                <a:solidFill>
                  <a:srgbClr val="9C331E"/>
                </a:solidFill>
              </a:ln>
            </p:spPr>
          </p:sp>
        </p:grpSp>
        <p:sp>
          <p:nvSpPr>
            <p:cNvPr id="41" name="TextBox 41"/>
            <p:cNvSpPr txBox="1"/>
            <p:nvPr/>
          </p:nvSpPr>
          <p:spPr>
            <a:xfrm>
              <a:off x="738188" y="3508772"/>
              <a:ext cx="1154421"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4. 明确运营责任人​</a:t>
              </a:r>
            </a:p>
          </p:txBody>
        </p:sp>
        <p:sp>
          <p:nvSpPr>
            <p:cNvPr id="42" name="TextBox 42"/>
            <p:cNvSpPr txBox="1"/>
            <p:nvPr/>
          </p:nvSpPr>
          <p:spPr>
            <a:xfrm>
              <a:off x="528638" y="3699034"/>
              <a:ext cx="1565732"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有人负责、有人值守、有人推动迭代。</a:t>
              </a:r>
            </a:p>
          </p:txBody>
        </p:sp>
        <p:sp>
          <p:nvSpPr>
            <p:cNvPr id="43" name="Rectangle 43"/>
            <p:cNvSpPr/>
            <p:nvPr/>
          </p:nvSpPr>
          <p:spPr>
            <a:xfrm>
              <a:off x="533400" y="3867150"/>
              <a:ext cx="1562100" cy="590550"/>
            </a:xfrm>
            <a:prstGeom prst="roundRect">
              <a:avLst>
                <a:gd name="adj" fmla="val 6452"/>
              </a:avLst>
            </a:prstGeom>
            <a:solidFill>
              <a:srgbClr val="EFF5FC"/>
            </a:solidFill>
            <a:ln>
              <a:noFill/>
            </a:ln>
          </p:spPr>
        </p:sp>
        <p:sp>
          <p:nvSpPr>
            <p:cNvPr id="44" name="TextBox 44"/>
            <p:cNvSpPr txBox="1"/>
            <p:nvPr/>
          </p:nvSpPr>
          <p:spPr>
            <a:xfrm>
              <a:off x="604838" y="3931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关键问题</a:t>
              </a:r>
            </a:p>
          </p:txBody>
        </p:sp>
        <p:sp>
          <p:nvSpPr>
            <p:cNvPr id="45" name="TextBox 45"/>
            <p:cNvSpPr txBox="1"/>
            <p:nvPr/>
          </p:nvSpPr>
          <p:spPr>
            <a:xfrm>
              <a:off x="604838" y="4084082"/>
              <a:ext cx="102958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是否有明确的业务与技术责​</a:t>
              </a:r>
              <a:br/>
              <a:r>
                <a:rPr lang="zh-CN" sz="640" dirty="0">
                  <a:solidFill>
                    <a:srgbClr val="573F3A"/>
                  </a:solidFill>
                  <a:latin typeface="+mn-lt"/>
                  <a:ea typeface="+mn-ea"/>
                  <a:cs typeface="+mn-cs"/>
                </a:rPr>
                <a:t>任人及协同机制？</a:t>
              </a:r>
            </a:p>
          </p:txBody>
        </p:sp>
        <p:sp>
          <p:nvSpPr>
            <p:cNvPr id="46" name="Rectangle 46"/>
            <p:cNvSpPr/>
            <p:nvPr/>
          </p:nvSpPr>
          <p:spPr>
            <a:xfrm>
              <a:off x="2171700" y="3867150"/>
              <a:ext cx="1562100" cy="590550"/>
            </a:xfrm>
            <a:prstGeom prst="roundRect">
              <a:avLst>
                <a:gd name="adj" fmla="val 6452"/>
              </a:avLst>
            </a:prstGeom>
            <a:solidFill>
              <a:srgbClr val="DCE9F8"/>
            </a:solidFill>
            <a:ln>
              <a:noFill/>
            </a:ln>
          </p:spPr>
        </p:sp>
        <p:sp>
          <p:nvSpPr>
            <p:cNvPr id="47" name="TextBox 47"/>
            <p:cNvSpPr txBox="1"/>
            <p:nvPr/>
          </p:nvSpPr>
          <p:spPr>
            <a:xfrm>
              <a:off x="2243138" y="3931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证明材料</a:t>
              </a:r>
            </a:p>
          </p:txBody>
        </p:sp>
        <p:grpSp>
          <p:nvGrpSpPr>
            <p:cNvPr id="52" name="Group 52"/>
            <p:cNvGrpSpPr/>
            <p:nvPr/>
          </p:nvGrpSpPr>
          <p:grpSpPr>
            <a:xfrm>
              <a:off x="2264569" y="4074319"/>
              <a:ext cx="100012" cy="100012"/>
              <a:chOff x="2264569" y="4074319"/>
              <a:chExt cx="100012" cy="100012"/>
            </a:xfrm>
          </p:grpSpPr>
          <p:sp>
            <p:nvSpPr>
              <p:cNvPr id="48" name="Freeform 48"/>
              <p:cNvSpPr/>
              <p:nvPr/>
            </p:nvSpPr>
            <p:spPr>
              <a:xfrm>
                <a:off x="2275681" y="40743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9C331E"/>
                </a:solidFill>
              </a:ln>
            </p:spPr>
          </p:sp>
          <p:sp>
            <p:nvSpPr>
              <p:cNvPr id="49" name="Freeform 49"/>
              <p:cNvSpPr/>
              <p:nvPr/>
            </p:nvSpPr>
            <p:spPr>
              <a:xfrm>
                <a:off x="2264569" y="414099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9C331E"/>
                </a:solidFill>
              </a:ln>
            </p:spPr>
          </p:sp>
          <p:sp>
            <p:nvSpPr>
              <p:cNvPr id="50" name="Freeform 50"/>
              <p:cNvSpPr/>
              <p:nvPr/>
            </p:nvSpPr>
            <p:spPr>
              <a:xfrm>
                <a:off x="2336800" y="407504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9C331E"/>
                </a:solidFill>
              </a:ln>
            </p:spPr>
          </p:sp>
          <p:sp>
            <p:nvSpPr>
              <p:cNvPr id="51" name="Freeform 51"/>
              <p:cNvSpPr/>
              <p:nvPr/>
            </p:nvSpPr>
            <p:spPr>
              <a:xfrm>
                <a:off x="2347912" y="414182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9C331E"/>
                </a:solidFill>
              </a:ln>
            </p:spPr>
          </p:sp>
        </p:grpSp>
        <p:sp>
          <p:nvSpPr>
            <p:cNvPr id="53" name="TextBox 53"/>
            <p:cNvSpPr txBox="1"/>
            <p:nvPr/>
          </p:nvSpPr>
          <p:spPr>
            <a:xfrm>
              <a:off x="2433638" y="4081462"/>
              <a:ext cx="413385" cy="147638"/>
            </a:xfrm>
            <a:prstGeom prst="rect">
              <a:avLst/>
            </a:prstGeom>
            <a:noFill/>
            <a:ln>
              <a:noFill/>
            </a:ln>
          </p:spPr>
          <p:txBody>
            <a:bodyPr wrap="none" lIns="0" tIns="0" rIns="0" bIns="0" anchor="t" anchorCtr="0">
              <a:spAutoFit/>
            </a:bodyPr>
            <a:lstStyle/>
            <a:p>
              <a:pPr algn="l"/>
              <a:r>
                <a:rPr lang="zh-CN" sz="750" b="1" dirty="0">
                  <a:solidFill>
                    <a:srgbClr val="5E2114"/>
                  </a:solidFill>
                  <a:latin typeface="+mn-lt"/>
                  <a:ea typeface="+mn-ea"/>
                  <a:cs typeface="+mn-cs"/>
                </a:rPr>
                <a:t>值班机制</a:t>
              </a:r>
            </a:p>
          </p:txBody>
        </p:sp>
        <p:sp>
          <p:nvSpPr>
            <p:cNvPr id="54" name="TextBox 54"/>
            <p:cNvSpPr txBox="1"/>
            <p:nvPr/>
          </p:nvSpPr>
          <p:spPr>
            <a:xfrm>
              <a:off x="2243138" y="4244578"/>
              <a:ext cx="90208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73F3A"/>
                  </a:solidFill>
                  <a:latin typeface="+mn-lt"/>
                  <a:ea typeface="+mn-ea"/>
                  <a:cs typeface="+mn-cs"/>
                </a:rPr>
                <a:t>（含角色分工、响应流程、​</a:t>
              </a:r>
              <a:br/>
              <a:r>
                <a:rPr lang="zh-CN" sz="560" dirty="0">
                  <a:solidFill>
                    <a:srgbClr val="573F3A"/>
                  </a:solidFill>
                  <a:latin typeface="+mn-lt"/>
                  <a:ea typeface="+mn-ea"/>
                  <a:cs typeface="+mn-cs"/>
                </a:rPr>
                <a:t>问题升级）</a:t>
              </a:r>
            </a:p>
          </p:txBody>
        </p:sp>
      </p:grpSp>
      <p:grpSp>
        <p:nvGrpSpPr>
          <p:cNvPr id="76" name="hub"/>
          <p:cNvGrpSpPr/>
          <p:nvPr/>
        </p:nvGrpSpPr>
        <p:grpSpPr>
          <a:xfrm>
            <a:off x="4229100" y="1352550"/>
            <a:ext cx="3733800" cy="2771775"/>
            <a:chOff x="4229100" y="1352550"/>
            <a:chExt cx="3733800" cy="2771775"/>
          </a:xfrm>
        </p:grpSpPr>
        <p:sp>
          <p:nvSpPr>
            <p:cNvPr id="56" name="Ellipse 56"/>
            <p:cNvSpPr/>
            <p:nvPr/>
          </p:nvSpPr>
          <p:spPr>
            <a:xfrm>
              <a:off x="4857750" y="1619250"/>
              <a:ext cx="2476500" cy="2476500"/>
            </a:xfrm>
            <a:prstGeom prst="ellipse">
              <a:avLst/>
            </a:prstGeom>
            <a:noFill/>
            <a:ln w="14288">
              <a:solidFill>
                <a:srgbClr val="ECB3A8"/>
              </a:solidFill>
              <a:custDash>
                <a:ds d="333333" sp="266667"/>
              </a:custDash>
            </a:ln>
          </p:spPr>
        </p:sp>
        <p:sp>
          <p:nvSpPr>
            <p:cNvPr id="57" name="Ellipse 57"/>
            <p:cNvSpPr/>
            <p:nvPr/>
          </p:nvSpPr>
          <p:spPr>
            <a:xfrm>
              <a:off x="5191125" y="1952625"/>
              <a:ext cx="1809750" cy="1809750"/>
            </a:xfrm>
            <a:prstGeom prst="ellipse">
              <a:avLst/>
            </a:prstGeom>
            <a:gradFill>
              <a:gsLst>
                <a:gs pos="0">
                  <a:srgbClr val="D64A2E"/>
                </a:gs>
                <a:gs pos="100000">
                  <a:srgbClr val="632012"/>
                </a:gs>
              </a:gsLst>
              <a:lin ang="5400000" scaled="1"/>
            </a:gradFill>
            <a:ln>
              <a:noFill/>
            </a:ln>
          </p:spPr>
        </p:sp>
        <p:sp>
          <p:nvSpPr>
            <p:cNvPr id="58" name="TextBox 58"/>
            <p:cNvSpPr txBox="1"/>
            <p:nvPr/>
          </p:nvSpPr>
          <p:spPr>
            <a:xfrm>
              <a:off x="5512498" y="2613660"/>
              <a:ext cx="1167003" cy="444246"/>
            </a:xfrm>
            <a:prstGeom prst="rect">
              <a:avLst/>
            </a:prstGeom>
            <a:noFill/>
            <a:ln>
              <a:noFill/>
            </a:ln>
          </p:spPr>
          <p:txBody>
            <a:bodyPr wrap="none" lIns="0" tIns="0" rIns="0" bIns="0" anchor="t" anchorCtr="0">
              <a:spAutoFit/>
            </a:bodyPr>
            <a:lstStyle/>
            <a:p>
              <a:pPr algn="ctr">
                <a:lnSpc>
                  <a:spcPts val="1650"/>
                </a:lnSpc>
              </a:pPr>
              <a:r>
                <a:rPr lang="zh-CN" sz="1200" b="1" dirty="0">
                  <a:solidFill>
                    <a:srgbClr val="FFFFFF"/>
                  </a:solidFill>
                  <a:latin typeface="+mn-lt"/>
                  <a:ea typeface="+mn-ea"/>
                  <a:cs typeface="+mn-cs"/>
                </a:rPr>
                <a:t>缺一项，</a:t>
              </a:r>
              <a:br/>
              <a:r>
                <a:rPr lang="zh-CN" sz="1200" b="1" dirty="0">
                  <a:solidFill>
                    <a:srgbClr val="FFFFFF"/>
                  </a:solidFill>
                  <a:latin typeface="+mn-lt"/>
                  <a:ea typeface="+mn-ea"/>
                  <a:cs typeface="+mn-cs"/>
                </a:rPr>
                <a:t>规模化都会失速​</a:t>
              </a:r>
            </a:p>
          </p:txBody>
        </p:sp>
        <p:sp>
          <p:nvSpPr>
            <p:cNvPr id="59" name="Line 59"/>
            <p:cNvSpPr/>
            <p:nvPr/>
          </p:nvSpPr>
          <p:spPr>
            <a:xfrm>
              <a:off x="5676900" y="3067050"/>
              <a:ext cx="838200" cy="9525"/>
            </a:xfrm>
            <a:custGeom>
              <a:avLst/>
              <a:gdLst/>
              <a:ahLst/>
              <a:cxnLst/>
              <a:rect l="l" t="t" r="r" b="b"/>
              <a:pathLst>
                <a:path w="838200" h="9525">
                  <a:moveTo>
                    <a:pt x="0" y="0"/>
                  </a:moveTo>
                  <a:lnTo>
                    <a:pt x="838200" y="0"/>
                  </a:lnTo>
                </a:path>
              </a:pathLst>
            </a:custGeom>
            <a:noFill/>
            <a:ln w="9525">
              <a:solidFill>
                <a:srgbClr val="FF957F"/>
              </a:solidFill>
            </a:ln>
          </p:spPr>
        </p:sp>
        <p:sp>
          <p:nvSpPr>
            <p:cNvPr id="60" name="TextBox 60"/>
            <p:cNvSpPr txBox="1"/>
            <p:nvPr/>
          </p:nvSpPr>
          <p:spPr>
            <a:xfrm>
              <a:off x="5653913" y="3161586"/>
              <a:ext cx="884174"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DCE9F8"/>
                  </a:solidFill>
                  <a:latin typeface="+mn-lt"/>
                  <a:ea typeface="+mn-ea"/>
                  <a:cs typeface="+mn-cs"/>
                </a:rPr>
                <a:t>五个闭环 · 相互支撑​</a:t>
              </a:r>
              <a:br/>
              <a:r>
                <a:rPr lang="zh-CN" sz="710" dirty="0">
                  <a:solidFill>
                    <a:srgbClr val="DCE9F8"/>
                  </a:solidFill>
                  <a:latin typeface="+mn-lt"/>
                  <a:ea typeface="+mn-ea"/>
                  <a:cs typeface="+mn-cs"/>
                </a:rPr>
                <a:t>从演示走向生产</a:t>
              </a:r>
            </a:p>
          </p:txBody>
        </p:sp>
        <p:sp>
          <p:nvSpPr>
            <p:cNvPr id="61" name="Ellipse 61"/>
            <p:cNvSpPr/>
            <p:nvPr/>
          </p:nvSpPr>
          <p:spPr>
            <a:xfrm>
              <a:off x="5410200" y="1352550"/>
              <a:ext cx="1371600" cy="533400"/>
            </a:xfrm>
            <a:prstGeom prst="ellipse">
              <a:avLst/>
            </a:prstGeom>
            <a:solidFill>
              <a:srgbClr val="9C331E"/>
            </a:solidFill>
            <a:ln>
              <a:noFill/>
            </a:ln>
          </p:spPr>
        </p:sp>
        <p:sp>
          <p:nvSpPr>
            <p:cNvPr id="62" name="TextBox 62"/>
            <p:cNvSpPr txBox="1"/>
            <p:nvPr/>
          </p:nvSpPr>
          <p:spPr>
            <a:xfrm>
              <a:off x="5743918" y="150709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具体业务问题</a:t>
              </a:r>
            </a:p>
          </p:txBody>
        </p:sp>
        <p:sp>
          <p:nvSpPr>
            <p:cNvPr id="63" name="TextBox 63"/>
            <p:cNvSpPr txBox="1"/>
            <p:nvPr/>
          </p:nvSpPr>
          <p:spPr>
            <a:xfrm>
              <a:off x="5848921" y="1668780"/>
              <a:ext cx="494157" cy="119062"/>
            </a:xfrm>
            <a:prstGeom prst="rect">
              <a:avLst/>
            </a:prstGeom>
            <a:noFill/>
            <a:ln>
              <a:noFill/>
            </a:ln>
          </p:spPr>
          <p:txBody>
            <a:bodyPr wrap="none" lIns="0" tIns="0" rIns="0" bIns="0" anchor="t" anchorCtr="0">
              <a:spAutoFit/>
            </a:bodyPr>
            <a:lstStyle/>
            <a:p>
              <a:pPr algn="ctr"/>
              <a:r>
                <a:rPr lang="zh-CN" sz="600" dirty="0">
                  <a:solidFill>
                    <a:srgbClr val="DCE9F8"/>
                  </a:solidFill>
                  <a:latin typeface="+mn-lt"/>
                  <a:ea typeface="+mn-ea"/>
                  <a:cs typeface="+mn-cs"/>
                </a:rPr>
                <a:t>（找准切口）</a:t>
              </a:r>
            </a:p>
          </p:txBody>
        </p:sp>
        <p:sp>
          <p:nvSpPr>
            <p:cNvPr id="64" name="Ellipse 64"/>
            <p:cNvSpPr/>
            <p:nvPr/>
          </p:nvSpPr>
          <p:spPr>
            <a:xfrm>
              <a:off x="6591300" y="2209800"/>
              <a:ext cx="1371600" cy="533400"/>
            </a:xfrm>
            <a:prstGeom prst="ellipse">
              <a:avLst/>
            </a:prstGeom>
            <a:solidFill>
              <a:srgbClr val="D64A2E"/>
            </a:solidFill>
            <a:ln>
              <a:noFill/>
            </a:ln>
          </p:spPr>
        </p:sp>
        <p:sp>
          <p:nvSpPr>
            <p:cNvPr id="65" name="TextBox 65"/>
            <p:cNvSpPr txBox="1"/>
            <p:nvPr/>
          </p:nvSpPr>
          <p:spPr>
            <a:xfrm>
              <a:off x="6925018" y="236434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可用数据闭环</a:t>
              </a:r>
            </a:p>
          </p:txBody>
        </p:sp>
        <p:sp>
          <p:nvSpPr>
            <p:cNvPr id="66" name="TextBox 66"/>
            <p:cNvSpPr txBox="1"/>
            <p:nvPr/>
          </p:nvSpPr>
          <p:spPr>
            <a:xfrm>
              <a:off x="7030021" y="2526030"/>
              <a:ext cx="494157" cy="119062"/>
            </a:xfrm>
            <a:prstGeom prst="rect">
              <a:avLst/>
            </a:prstGeom>
            <a:noFill/>
            <a:ln>
              <a:noFill/>
            </a:ln>
          </p:spPr>
          <p:txBody>
            <a:bodyPr wrap="none" lIns="0" tIns="0" rIns="0" bIns="0" anchor="t" anchorCtr="0">
              <a:spAutoFit/>
            </a:bodyPr>
            <a:lstStyle/>
            <a:p>
              <a:pPr algn="ctr"/>
              <a:r>
                <a:rPr lang="zh-CN" sz="600" dirty="0">
                  <a:solidFill>
                    <a:srgbClr val="DCE9F8"/>
                  </a:solidFill>
                  <a:latin typeface="+mn-lt"/>
                  <a:ea typeface="+mn-ea"/>
                  <a:cs typeface="+mn-cs"/>
                </a:rPr>
                <a:t>（数据就绪）</a:t>
              </a:r>
            </a:p>
          </p:txBody>
        </p:sp>
        <p:sp>
          <p:nvSpPr>
            <p:cNvPr id="67" name="Ellipse 67"/>
            <p:cNvSpPr/>
            <p:nvPr/>
          </p:nvSpPr>
          <p:spPr>
            <a:xfrm>
              <a:off x="6134100" y="3590925"/>
              <a:ext cx="1371600" cy="533400"/>
            </a:xfrm>
            <a:prstGeom prst="ellipse">
              <a:avLst/>
            </a:prstGeom>
            <a:solidFill>
              <a:srgbClr val="D0462A"/>
            </a:solidFill>
            <a:ln>
              <a:noFill/>
            </a:ln>
          </p:spPr>
        </p:sp>
        <p:sp>
          <p:nvSpPr>
            <p:cNvPr id="68" name="TextBox 68"/>
            <p:cNvSpPr txBox="1"/>
            <p:nvPr/>
          </p:nvSpPr>
          <p:spPr>
            <a:xfrm>
              <a:off x="6467818" y="3745468"/>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系统深度集成</a:t>
              </a:r>
            </a:p>
          </p:txBody>
        </p:sp>
        <p:sp>
          <p:nvSpPr>
            <p:cNvPr id="69" name="TextBox 69"/>
            <p:cNvSpPr txBox="1"/>
            <p:nvPr/>
          </p:nvSpPr>
          <p:spPr>
            <a:xfrm>
              <a:off x="6572821" y="3907155"/>
              <a:ext cx="494157" cy="119062"/>
            </a:xfrm>
            <a:prstGeom prst="rect">
              <a:avLst/>
            </a:prstGeom>
            <a:noFill/>
            <a:ln>
              <a:noFill/>
            </a:ln>
          </p:spPr>
          <p:txBody>
            <a:bodyPr wrap="none" lIns="0" tIns="0" rIns="0" bIns="0" anchor="t" anchorCtr="0">
              <a:spAutoFit/>
            </a:bodyPr>
            <a:lstStyle/>
            <a:p>
              <a:pPr algn="ctr"/>
              <a:r>
                <a:rPr lang="zh-CN" sz="600" dirty="0">
                  <a:solidFill>
                    <a:srgbClr val="DCE9F8"/>
                  </a:solidFill>
                  <a:latin typeface="+mn-lt"/>
                  <a:ea typeface="+mn-ea"/>
                  <a:cs typeface="+mn-cs"/>
                </a:rPr>
                <a:t>（融入流程）</a:t>
              </a:r>
            </a:p>
          </p:txBody>
        </p:sp>
        <p:sp>
          <p:nvSpPr>
            <p:cNvPr id="70" name="Ellipse 70"/>
            <p:cNvSpPr/>
            <p:nvPr/>
          </p:nvSpPr>
          <p:spPr>
            <a:xfrm>
              <a:off x="4686300" y="3590925"/>
              <a:ext cx="1371600" cy="533400"/>
            </a:xfrm>
            <a:prstGeom prst="ellipse">
              <a:avLst/>
            </a:prstGeom>
            <a:solidFill>
              <a:srgbClr val="C43D22"/>
            </a:solidFill>
            <a:ln>
              <a:noFill/>
            </a:ln>
          </p:spPr>
        </p:sp>
        <p:sp>
          <p:nvSpPr>
            <p:cNvPr id="71" name="TextBox 71"/>
            <p:cNvSpPr txBox="1"/>
            <p:nvPr/>
          </p:nvSpPr>
          <p:spPr>
            <a:xfrm>
              <a:off x="4962131" y="3745468"/>
              <a:ext cx="81993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明确运营责任人</a:t>
              </a:r>
            </a:p>
          </p:txBody>
        </p:sp>
        <p:sp>
          <p:nvSpPr>
            <p:cNvPr id="72" name="TextBox 72"/>
            <p:cNvSpPr txBox="1"/>
            <p:nvPr/>
          </p:nvSpPr>
          <p:spPr>
            <a:xfrm>
              <a:off x="5125021" y="3907155"/>
              <a:ext cx="494157" cy="119062"/>
            </a:xfrm>
            <a:prstGeom prst="rect">
              <a:avLst/>
            </a:prstGeom>
            <a:noFill/>
            <a:ln>
              <a:noFill/>
            </a:ln>
          </p:spPr>
          <p:txBody>
            <a:bodyPr wrap="none" lIns="0" tIns="0" rIns="0" bIns="0" anchor="t" anchorCtr="0">
              <a:spAutoFit/>
            </a:bodyPr>
            <a:lstStyle/>
            <a:p>
              <a:pPr algn="ctr"/>
              <a:r>
                <a:rPr lang="zh-CN" sz="600" dirty="0">
                  <a:solidFill>
                    <a:srgbClr val="DCE9F8"/>
                  </a:solidFill>
                  <a:latin typeface="+mn-lt"/>
                  <a:ea typeface="+mn-ea"/>
                  <a:cs typeface="+mn-cs"/>
                </a:rPr>
                <a:t>（持续运营）</a:t>
              </a:r>
            </a:p>
          </p:txBody>
        </p:sp>
        <p:sp>
          <p:nvSpPr>
            <p:cNvPr id="73" name="Ellipse 73"/>
            <p:cNvSpPr/>
            <p:nvPr/>
          </p:nvSpPr>
          <p:spPr>
            <a:xfrm>
              <a:off x="4229100" y="2209800"/>
              <a:ext cx="1371600" cy="533400"/>
            </a:xfrm>
            <a:prstGeom prst="ellipse">
              <a:avLst/>
            </a:prstGeom>
            <a:solidFill>
              <a:srgbClr val="A9361F"/>
            </a:solidFill>
            <a:ln>
              <a:noFill/>
            </a:ln>
          </p:spPr>
        </p:sp>
        <p:sp>
          <p:nvSpPr>
            <p:cNvPr id="74" name="TextBox 74"/>
            <p:cNvSpPr txBox="1"/>
            <p:nvPr/>
          </p:nvSpPr>
          <p:spPr>
            <a:xfrm>
              <a:off x="4504931" y="2364343"/>
              <a:ext cx="81993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可检验经营指标</a:t>
              </a:r>
            </a:p>
          </p:txBody>
        </p:sp>
        <p:sp>
          <p:nvSpPr>
            <p:cNvPr id="75" name="TextBox 75"/>
            <p:cNvSpPr txBox="1"/>
            <p:nvPr/>
          </p:nvSpPr>
          <p:spPr>
            <a:xfrm>
              <a:off x="4667822" y="2526030"/>
              <a:ext cx="494157" cy="119062"/>
            </a:xfrm>
            <a:prstGeom prst="rect">
              <a:avLst/>
            </a:prstGeom>
            <a:noFill/>
            <a:ln>
              <a:noFill/>
            </a:ln>
          </p:spPr>
          <p:txBody>
            <a:bodyPr wrap="none" lIns="0" tIns="0" rIns="0" bIns="0" anchor="t" anchorCtr="0">
              <a:spAutoFit/>
            </a:bodyPr>
            <a:lstStyle/>
            <a:p>
              <a:pPr algn="ctr"/>
              <a:r>
                <a:rPr lang="zh-CN" sz="600" dirty="0">
                  <a:solidFill>
                    <a:srgbClr val="DCE9F8"/>
                  </a:solidFill>
                  <a:latin typeface="+mn-lt"/>
                  <a:ea typeface="+mn-ea"/>
                  <a:cs typeface="+mn-cs"/>
                </a:rPr>
                <a:t>（量化价值）</a:t>
              </a:r>
            </a:p>
          </p:txBody>
        </p:sp>
      </p:grpSp>
      <p:grpSp>
        <p:nvGrpSpPr>
          <p:cNvPr id="98" name="card-1"/>
          <p:cNvGrpSpPr/>
          <p:nvPr/>
        </p:nvGrpSpPr>
        <p:grpSpPr>
          <a:xfrm>
            <a:off x="8382000" y="952500"/>
            <a:ext cx="3429000" cy="1143000"/>
            <a:chOff x="8382000" y="952500"/>
            <a:chExt cx="3429000" cy="1143000"/>
          </a:xfrm>
        </p:grpSpPr>
        <p:sp>
          <p:nvSpPr>
            <p:cNvPr id="77" name="Rectangle 77"/>
            <p:cNvSpPr/>
            <p:nvPr/>
          </p:nvSpPr>
          <p:spPr>
            <a:xfrm>
              <a:off x="8382000" y="952500"/>
              <a:ext cx="3429000" cy="1143000"/>
            </a:xfrm>
            <a:prstGeom prst="roundRect">
              <a:avLst>
                <a:gd name="adj" fmla="val 5000"/>
              </a:avLst>
            </a:prstGeom>
            <a:solidFill>
              <a:srgbClr val="FFFFFF"/>
            </a:solidFill>
            <a:ln w="9525">
              <a:solidFill>
                <a:srgbClr val="C7D9F0"/>
              </a:solidFill>
            </a:ln>
          </p:spPr>
        </p:sp>
        <p:sp>
          <p:nvSpPr>
            <p:cNvPr id="78" name="Rectangle 78"/>
            <p:cNvSpPr/>
            <p:nvPr/>
          </p:nvSpPr>
          <p:spPr>
            <a:xfrm>
              <a:off x="8382000" y="952500"/>
              <a:ext cx="38100" cy="1143000"/>
            </a:xfrm>
            <a:prstGeom prst="rect">
              <a:avLst/>
            </a:prstGeom>
            <a:solidFill>
              <a:srgbClr val="9C331E"/>
            </a:solidFill>
            <a:ln>
              <a:noFill/>
            </a:ln>
          </p:spPr>
        </p:sp>
        <p:grpSp>
          <p:nvGrpSpPr>
            <p:cNvPr id="82" name="Group 82"/>
            <p:cNvGrpSpPr/>
            <p:nvPr/>
          </p:nvGrpSpPr>
          <p:grpSpPr>
            <a:xfrm>
              <a:off x="8553450" y="1066800"/>
              <a:ext cx="114300" cy="114300"/>
              <a:chOff x="8553450" y="1066800"/>
              <a:chExt cx="114300" cy="114300"/>
            </a:xfrm>
          </p:grpSpPr>
          <p:sp>
            <p:nvSpPr>
              <p:cNvPr id="79" name="Freeform 79"/>
              <p:cNvSpPr/>
              <p:nvPr/>
            </p:nvSpPr>
            <p:spPr>
              <a:xfrm>
                <a:off x="8604250" y="11176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9C331E"/>
                </a:solidFill>
              </a:ln>
            </p:spPr>
          </p:sp>
          <p:sp>
            <p:nvSpPr>
              <p:cNvPr id="80" name="Freeform 80"/>
              <p:cNvSpPr/>
              <p:nvPr/>
            </p:nvSpPr>
            <p:spPr>
              <a:xfrm>
                <a:off x="8578850" y="10922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9C331E"/>
                </a:solidFill>
              </a:ln>
            </p:spPr>
          </p:sp>
          <p:sp>
            <p:nvSpPr>
              <p:cNvPr id="81" name="Freeform 81"/>
              <p:cNvSpPr/>
              <p:nvPr/>
            </p:nvSpPr>
            <p:spPr>
              <a:xfrm>
                <a:off x="8553450" y="10668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C331E"/>
                </a:solidFill>
              </a:ln>
            </p:spPr>
          </p:sp>
        </p:grpSp>
        <p:sp>
          <p:nvSpPr>
            <p:cNvPr id="83" name="TextBox 83"/>
            <p:cNvSpPr txBox="1"/>
            <p:nvPr/>
          </p:nvSpPr>
          <p:spPr>
            <a:xfrm>
              <a:off x="8739188" y="1070372"/>
              <a:ext cx="1027878"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1. 具体业务问题​</a:t>
              </a:r>
            </a:p>
          </p:txBody>
        </p:sp>
        <p:sp>
          <p:nvSpPr>
            <p:cNvPr id="84" name="TextBox 84"/>
            <p:cNvSpPr txBox="1"/>
            <p:nvPr/>
          </p:nvSpPr>
          <p:spPr>
            <a:xfrm>
              <a:off x="8529638" y="1260634"/>
              <a:ext cx="1840357"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聚焦高价值、可落地、边界清晰的业务问题。</a:t>
              </a:r>
            </a:p>
          </p:txBody>
        </p:sp>
        <p:sp>
          <p:nvSpPr>
            <p:cNvPr id="85" name="Rectangle 85"/>
            <p:cNvSpPr/>
            <p:nvPr/>
          </p:nvSpPr>
          <p:spPr>
            <a:xfrm>
              <a:off x="8534400" y="1428750"/>
              <a:ext cx="1562100" cy="590550"/>
            </a:xfrm>
            <a:prstGeom prst="roundRect">
              <a:avLst>
                <a:gd name="adj" fmla="val 6452"/>
              </a:avLst>
            </a:prstGeom>
            <a:solidFill>
              <a:srgbClr val="EFF5FC"/>
            </a:solidFill>
            <a:ln>
              <a:noFill/>
            </a:ln>
          </p:spPr>
        </p:sp>
        <p:sp>
          <p:nvSpPr>
            <p:cNvPr id="86" name="TextBox 86"/>
            <p:cNvSpPr txBox="1"/>
            <p:nvPr/>
          </p:nvSpPr>
          <p:spPr>
            <a:xfrm>
              <a:off x="8605838" y="14932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关键问题</a:t>
              </a:r>
            </a:p>
          </p:txBody>
        </p:sp>
        <p:sp>
          <p:nvSpPr>
            <p:cNvPr id="87" name="TextBox 87"/>
            <p:cNvSpPr txBox="1"/>
            <p:nvPr/>
          </p:nvSpPr>
          <p:spPr>
            <a:xfrm>
              <a:off x="8605838" y="1645682"/>
              <a:ext cx="102958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是否解决了真实、紧迫且有​</a:t>
              </a:r>
              <a:br/>
              <a:r>
                <a:rPr lang="zh-CN" sz="640" dirty="0">
                  <a:solidFill>
                    <a:srgbClr val="573F3A"/>
                  </a:solidFill>
                  <a:latin typeface="+mn-lt"/>
                  <a:ea typeface="+mn-ea"/>
                  <a:cs typeface="+mn-cs"/>
                </a:rPr>
                <a:t>明确边界的业务问题？</a:t>
              </a:r>
            </a:p>
          </p:txBody>
        </p:sp>
        <p:sp>
          <p:nvSpPr>
            <p:cNvPr id="88" name="Rectangle 88"/>
            <p:cNvSpPr/>
            <p:nvPr/>
          </p:nvSpPr>
          <p:spPr>
            <a:xfrm>
              <a:off x="10172700" y="1428750"/>
              <a:ext cx="1562100" cy="590550"/>
            </a:xfrm>
            <a:prstGeom prst="roundRect">
              <a:avLst>
                <a:gd name="adj" fmla="val 6452"/>
              </a:avLst>
            </a:prstGeom>
            <a:solidFill>
              <a:srgbClr val="DCE9F8"/>
            </a:solidFill>
            <a:ln>
              <a:noFill/>
            </a:ln>
          </p:spPr>
        </p:sp>
        <p:sp>
          <p:nvSpPr>
            <p:cNvPr id="89" name="TextBox 89"/>
            <p:cNvSpPr txBox="1"/>
            <p:nvPr/>
          </p:nvSpPr>
          <p:spPr>
            <a:xfrm>
              <a:off x="10244138" y="14932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证明材料</a:t>
              </a:r>
            </a:p>
          </p:txBody>
        </p:sp>
        <p:grpSp>
          <p:nvGrpSpPr>
            <p:cNvPr id="95" name="Group 95"/>
            <p:cNvGrpSpPr/>
            <p:nvPr/>
          </p:nvGrpSpPr>
          <p:grpSpPr>
            <a:xfrm>
              <a:off x="10276681" y="1635919"/>
              <a:ext cx="77787" cy="100012"/>
              <a:chOff x="10276681" y="1635919"/>
              <a:chExt cx="77787" cy="100012"/>
            </a:xfrm>
          </p:grpSpPr>
          <p:sp>
            <p:nvSpPr>
              <p:cNvPr id="90" name="Freeform 90"/>
              <p:cNvSpPr/>
              <p:nvPr/>
            </p:nvSpPr>
            <p:spPr>
              <a:xfrm>
                <a:off x="10326687" y="163591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9C331E"/>
                </a:solidFill>
              </a:ln>
            </p:spPr>
          </p:sp>
          <p:sp>
            <p:nvSpPr>
              <p:cNvPr id="91" name="Freeform 91"/>
              <p:cNvSpPr/>
              <p:nvPr/>
            </p:nvSpPr>
            <p:spPr>
              <a:xfrm>
                <a:off x="10276681" y="163591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9C331E"/>
                </a:solidFill>
              </a:ln>
            </p:spPr>
          </p:sp>
          <p:sp>
            <p:nvSpPr>
              <p:cNvPr id="92" name="Freeform 92"/>
              <p:cNvSpPr/>
              <p:nvPr/>
            </p:nvSpPr>
            <p:spPr>
              <a:xfrm>
                <a:off x="10298906" y="1669256"/>
                <a:ext cx="9525" cy="9525"/>
              </a:xfrm>
              <a:custGeom>
                <a:avLst/>
                <a:gdLst/>
                <a:ahLst/>
                <a:cxnLst/>
                <a:rect l="l" t="t" r="r" b="b"/>
                <a:pathLst>
                  <a:path w="9525" h="9525">
                    <a:moveTo>
                      <a:pt x="0" y="0"/>
                    </a:moveTo>
                    <a:lnTo>
                      <a:pt x="5556" y="0"/>
                    </a:lnTo>
                  </a:path>
                </a:pathLst>
              </a:custGeom>
              <a:noFill/>
              <a:ln w="11112">
                <a:solidFill>
                  <a:srgbClr val="9C331E"/>
                </a:solidFill>
              </a:ln>
            </p:spPr>
          </p:sp>
          <p:sp>
            <p:nvSpPr>
              <p:cNvPr id="93" name="Freeform 93"/>
              <p:cNvSpPr/>
              <p:nvPr/>
            </p:nvSpPr>
            <p:spPr>
              <a:xfrm>
                <a:off x="10298906" y="1691481"/>
                <a:ext cx="33337" cy="9525"/>
              </a:xfrm>
              <a:custGeom>
                <a:avLst/>
                <a:gdLst/>
                <a:ahLst/>
                <a:cxnLst/>
                <a:rect l="l" t="t" r="r" b="b"/>
                <a:pathLst>
                  <a:path w="33337" h="9525">
                    <a:moveTo>
                      <a:pt x="0" y="0"/>
                    </a:moveTo>
                    <a:lnTo>
                      <a:pt x="33337" y="0"/>
                    </a:lnTo>
                  </a:path>
                </a:pathLst>
              </a:custGeom>
              <a:noFill/>
              <a:ln w="11112">
                <a:solidFill>
                  <a:srgbClr val="9C331E"/>
                </a:solidFill>
              </a:ln>
            </p:spPr>
          </p:sp>
          <p:sp>
            <p:nvSpPr>
              <p:cNvPr id="94" name="Freeform 94"/>
              <p:cNvSpPr/>
              <p:nvPr/>
            </p:nvSpPr>
            <p:spPr>
              <a:xfrm>
                <a:off x="10298906" y="1713706"/>
                <a:ext cx="33337" cy="9525"/>
              </a:xfrm>
              <a:custGeom>
                <a:avLst/>
                <a:gdLst/>
                <a:ahLst/>
                <a:cxnLst/>
                <a:rect l="l" t="t" r="r" b="b"/>
                <a:pathLst>
                  <a:path w="33337" h="9525">
                    <a:moveTo>
                      <a:pt x="0" y="0"/>
                    </a:moveTo>
                    <a:lnTo>
                      <a:pt x="33337" y="0"/>
                    </a:lnTo>
                  </a:path>
                </a:pathLst>
              </a:custGeom>
              <a:noFill/>
              <a:ln w="11112">
                <a:solidFill>
                  <a:srgbClr val="9C331E"/>
                </a:solidFill>
              </a:ln>
            </p:spPr>
          </p:sp>
        </p:grpSp>
        <p:sp>
          <p:nvSpPr>
            <p:cNvPr id="96" name="TextBox 96"/>
            <p:cNvSpPr txBox="1"/>
            <p:nvPr/>
          </p:nvSpPr>
          <p:spPr>
            <a:xfrm>
              <a:off x="10434638" y="1643062"/>
              <a:ext cx="312420" cy="147638"/>
            </a:xfrm>
            <a:prstGeom prst="rect">
              <a:avLst/>
            </a:prstGeom>
            <a:noFill/>
            <a:ln>
              <a:noFill/>
            </a:ln>
          </p:spPr>
          <p:txBody>
            <a:bodyPr wrap="none" lIns="0" tIns="0" rIns="0" bIns="0" anchor="t" anchorCtr="0">
              <a:spAutoFit/>
            </a:bodyPr>
            <a:lstStyle/>
            <a:p>
              <a:pPr algn="l"/>
              <a:r>
                <a:rPr lang="zh-CN" sz="750" b="1" dirty="0">
                  <a:solidFill>
                    <a:srgbClr val="5E2114"/>
                  </a:solidFill>
                  <a:latin typeface="+mn-lt"/>
                  <a:ea typeface="+mn-ea"/>
                  <a:cs typeface="+mn-cs"/>
                </a:rPr>
                <a:t>问题单</a:t>
              </a:r>
            </a:p>
          </p:txBody>
        </p:sp>
        <p:sp>
          <p:nvSpPr>
            <p:cNvPr id="97" name="TextBox 97"/>
            <p:cNvSpPr txBox="1"/>
            <p:nvPr/>
          </p:nvSpPr>
          <p:spPr>
            <a:xfrm>
              <a:off x="10244138" y="1806178"/>
              <a:ext cx="83096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73F3A"/>
                  </a:solidFill>
                  <a:latin typeface="+mn-lt"/>
                  <a:ea typeface="+mn-ea"/>
                  <a:cs typeface="+mn-cs"/>
                </a:rPr>
                <a:t>（含背景、目标、范围、​</a:t>
              </a:r>
              <a:br/>
              <a:r>
                <a:rPr lang="zh-CN" sz="560" dirty="0">
                  <a:solidFill>
                    <a:srgbClr val="573F3A"/>
                  </a:solidFill>
                  <a:latin typeface="+mn-lt"/>
                  <a:ea typeface="+mn-ea"/>
                  <a:cs typeface="+mn-cs"/>
                </a:rPr>
                <a:t>预期效果）</a:t>
              </a:r>
            </a:p>
          </p:txBody>
        </p:sp>
      </p:grpSp>
      <p:grpSp>
        <p:nvGrpSpPr>
          <p:cNvPr id="118" name="card-2"/>
          <p:cNvGrpSpPr/>
          <p:nvPr/>
        </p:nvGrpSpPr>
        <p:grpSpPr>
          <a:xfrm>
            <a:off x="8382000" y="2171700"/>
            <a:ext cx="3429000" cy="1143000"/>
            <a:chOff x="8382000" y="2171700"/>
            <a:chExt cx="3429000" cy="1143000"/>
          </a:xfrm>
        </p:grpSpPr>
        <p:sp>
          <p:nvSpPr>
            <p:cNvPr id="99" name="Rectangle 99"/>
            <p:cNvSpPr/>
            <p:nvPr/>
          </p:nvSpPr>
          <p:spPr>
            <a:xfrm>
              <a:off x="8382000" y="2171700"/>
              <a:ext cx="3429000" cy="1143000"/>
            </a:xfrm>
            <a:prstGeom prst="roundRect">
              <a:avLst>
                <a:gd name="adj" fmla="val 5000"/>
              </a:avLst>
            </a:prstGeom>
            <a:solidFill>
              <a:srgbClr val="FFFFFF"/>
            </a:solidFill>
            <a:ln w="9525">
              <a:solidFill>
                <a:srgbClr val="C7D9F0"/>
              </a:solidFill>
            </a:ln>
          </p:spPr>
        </p:sp>
        <p:sp>
          <p:nvSpPr>
            <p:cNvPr id="100" name="Rectangle 100"/>
            <p:cNvSpPr/>
            <p:nvPr/>
          </p:nvSpPr>
          <p:spPr>
            <a:xfrm>
              <a:off x="8382000" y="2171700"/>
              <a:ext cx="38100" cy="1143000"/>
            </a:xfrm>
            <a:prstGeom prst="rect">
              <a:avLst/>
            </a:prstGeom>
            <a:solidFill>
              <a:srgbClr val="D64A2E"/>
            </a:solidFill>
            <a:ln>
              <a:noFill/>
            </a:ln>
          </p:spPr>
        </p:sp>
        <p:grpSp>
          <p:nvGrpSpPr>
            <p:cNvPr id="104" name="Group 104"/>
            <p:cNvGrpSpPr/>
            <p:nvPr/>
          </p:nvGrpSpPr>
          <p:grpSpPr>
            <a:xfrm>
              <a:off x="8559800" y="2286000"/>
              <a:ext cx="101600" cy="114300"/>
              <a:chOff x="8559800" y="2286000"/>
              <a:chExt cx="101600" cy="114300"/>
            </a:xfrm>
          </p:grpSpPr>
          <p:sp>
            <p:nvSpPr>
              <p:cNvPr id="101" name="Freeform 101"/>
              <p:cNvSpPr/>
              <p:nvPr/>
            </p:nvSpPr>
            <p:spPr>
              <a:xfrm>
                <a:off x="8559800" y="228600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9C331E"/>
                </a:solidFill>
              </a:ln>
            </p:spPr>
          </p:sp>
          <p:sp>
            <p:nvSpPr>
              <p:cNvPr id="102" name="Freeform 102"/>
              <p:cNvSpPr/>
              <p:nvPr/>
            </p:nvSpPr>
            <p:spPr>
              <a:xfrm>
                <a:off x="8559800" y="23050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9C331E"/>
                </a:solidFill>
              </a:ln>
            </p:spPr>
          </p:sp>
          <p:sp>
            <p:nvSpPr>
              <p:cNvPr id="103" name="Freeform 103"/>
              <p:cNvSpPr/>
              <p:nvPr/>
            </p:nvSpPr>
            <p:spPr>
              <a:xfrm>
                <a:off x="8559800" y="23431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9C331E"/>
                </a:solidFill>
              </a:ln>
            </p:spPr>
          </p:sp>
        </p:grpSp>
        <p:sp>
          <p:nvSpPr>
            <p:cNvPr id="105" name="TextBox 105"/>
            <p:cNvSpPr txBox="1"/>
            <p:nvPr/>
          </p:nvSpPr>
          <p:spPr>
            <a:xfrm>
              <a:off x="8739188" y="2289572"/>
              <a:ext cx="1027878"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2. 可用数据闭环​</a:t>
              </a:r>
            </a:p>
          </p:txBody>
        </p:sp>
        <p:sp>
          <p:nvSpPr>
            <p:cNvPr id="106" name="TextBox 106"/>
            <p:cNvSpPr txBox="1"/>
            <p:nvPr/>
          </p:nvSpPr>
          <p:spPr>
            <a:xfrm>
              <a:off x="8529638" y="2479834"/>
              <a:ext cx="1748815"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数据可获得、可理解、可持续、质量可控。</a:t>
              </a:r>
            </a:p>
          </p:txBody>
        </p:sp>
        <p:sp>
          <p:nvSpPr>
            <p:cNvPr id="107" name="Rectangle 107"/>
            <p:cNvSpPr/>
            <p:nvPr/>
          </p:nvSpPr>
          <p:spPr>
            <a:xfrm>
              <a:off x="8534400" y="2647950"/>
              <a:ext cx="1562100" cy="590550"/>
            </a:xfrm>
            <a:prstGeom prst="roundRect">
              <a:avLst>
                <a:gd name="adj" fmla="val 6452"/>
              </a:avLst>
            </a:prstGeom>
            <a:solidFill>
              <a:srgbClr val="EFF5FC"/>
            </a:solidFill>
            <a:ln>
              <a:noFill/>
            </a:ln>
          </p:spPr>
        </p:sp>
        <p:sp>
          <p:nvSpPr>
            <p:cNvPr id="108" name="TextBox 108"/>
            <p:cNvSpPr txBox="1"/>
            <p:nvPr/>
          </p:nvSpPr>
          <p:spPr>
            <a:xfrm>
              <a:off x="8605838" y="27124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关键问题</a:t>
              </a:r>
            </a:p>
          </p:txBody>
        </p:sp>
        <p:sp>
          <p:nvSpPr>
            <p:cNvPr id="109" name="TextBox 109"/>
            <p:cNvSpPr txBox="1"/>
            <p:nvPr/>
          </p:nvSpPr>
          <p:spPr>
            <a:xfrm>
              <a:off x="8605838" y="2864882"/>
              <a:ext cx="102958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是否具备稳定、合规、可复​</a:t>
              </a:r>
              <a:br/>
              <a:r>
                <a:rPr lang="zh-CN" sz="640" dirty="0">
                  <a:solidFill>
                    <a:srgbClr val="573F3A"/>
                  </a:solidFill>
                  <a:latin typeface="+mn-lt"/>
                  <a:ea typeface="+mn-ea"/>
                  <a:cs typeface="+mn-cs"/>
                </a:rPr>
                <a:t>用的数据供给？</a:t>
              </a:r>
            </a:p>
          </p:txBody>
        </p:sp>
        <p:sp>
          <p:nvSpPr>
            <p:cNvPr id="110" name="Rectangle 110"/>
            <p:cNvSpPr/>
            <p:nvPr/>
          </p:nvSpPr>
          <p:spPr>
            <a:xfrm>
              <a:off x="10172700" y="2647950"/>
              <a:ext cx="1562100" cy="590550"/>
            </a:xfrm>
            <a:prstGeom prst="roundRect">
              <a:avLst>
                <a:gd name="adj" fmla="val 6452"/>
              </a:avLst>
            </a:prstGeom>
            <a:solidFill>
              <a:srgbClr val="DCE9F8"/>
            </a:solidFill>
            <a:ln>
              <a:noFill/>
            </a:ln>
          </p:spPr>
        </p:sp>
        <p:sp>
          <p:nvSpPr>
            <p:cNvPr id="111" name="TextBox 111"/>
            <p:cNvSpPr txBox="1"/>
            <p:nvPr/>
          </p:nvSpPr>
          <p:spPr>
            <a:xfrm>
              <a:off x="10244138" y="27124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证明材料</a:t>
              </a:r>
            </a:p>
          </p:txBody>
        </p:sp>
        <p:grpSp>
          <p:nvGrpSpPr>
            <p:cNvPr id="115" name="Group 115"/>
            <p:cNvGrpSpPr/>
            <p:nvPr/>
          </p:nvGrpSpPr>
          <p:grpSpPr>
            <a:xfrm>
              <a:off x="10276681" y="2860675"/>
              <a:ext cx="77787" cy="88900"/>
              <a:chOff x="10276681" y="2860675"/>
              <a:chExt cx="77787" cy="88900"/>
            </a:xfrm>
          </p:grpSpPr>
          <p:sp>
            <p:nvSpPr>
              <p:cNvPr id="112" name="Freeform 112"/>
              <p:cNvSpPr/>
              <p:nvPr/>
            </p:nvSpPr>
            <p:spPr>
              <a:xfrm>
                <a:off x="10276681" y="2860675"/>
                <a:ext cx="77787" cy="88900"/>
              </a:xfrm>
              <a:custGeom>
                <a:avLst/>
                <a:gdLst/>
                <a:ahLst/>
                <a:cxnLst/>
                <a:rect l="l" t="t" r="r" b="b"/>
                <a:pathLst>
                  <a:path w="77787" h="88900">
                    <a:moveTo>
                      <a:pt x="77787" y="0"/>
                    </a:moveTo>
                    <a:lnTo>
                      <a:pt x="77787" y="88900"/>
                    </a:lnTo>
                    <a:lnTo>
                      <a:pt x="11112" y="88900"/>
                    </a:lnTo>
                    <a:cubicBezTo>
                      <a:pt x="4975" y="88900"/>
                      <a:pt x="0" y="83925"/>
                      <a:pt x="0" y="77787"/>
                    </a:cubicBezTo>
                    <a:lnTo>
                      <a:pt x="0" y="11112"/>
                    </a:lnTo>
                    <a:cubicBezTo>
                      <a:pt x="0" y="4975"/>
                      <a:pt x="4975" y="0"/>
                      <a:pt x="11112" y="0"/>
                    </a:cubicBezTo>
                    <a:lnTo>
                      <a:pt x="77787" y="0"/>
                    </a:lnTo>
                  </a:path>
                </a:pathLst>
              </a:custGeom>
              <a:noFill/>
              <a:ln w="11112">
                <a:solidFill>
                  <a:srgbClr val="9C331E"/>
                </a:solidFill>
              </a:ln>
            </p:spPr>
          </p:sp>
          <p:sp>
            <p:nvSpPr>
              <p:cNvPr id="113" name="Freeform 113"/>
              <p:cNvSpPr/>
              <p:nvPr/>
            </p:nvSpPr>
            <p:spPr>
              <a:xfrm>
                <a:off x="10276681" y="2927350"/>
                <a:ext cx="77787" cy="11112"/>
              </a:xfrm>
              <a:custGeom>
                <a:avLst/>
                <a:gdLst/>
                <a:ahLst/>
                <a:cxnLst/>
                <a:rect l="l" t="t" r="r" b="b"/>
                <a:pathLst>
                  <a:path w="77787" h="11112">
                    <a:moveTo>
                      <a:pt x="77787" y="0"/>
                    </a:moveTo>
                    <a:lnTo>
                      <a:pt x="11112" y="0"/>
                    </a:lnTo>
                    <a:cubicBezTo>
                      <a:pt x="4975" y="0"/>
                      <a:pt x="0" y="4975"/>
                      <a:pt x="0" y="11112"/>
                    </a:cubicBezTo>
                  </a:path>
                </a:pathLst>
              </a:custGeom>
              <a:noFill/>
              <a:ln w="11112">
                <a:solidFill>
                  <a:srgbClr val="9C331E"/>
                </a:solidFill>
              </a:ln>
            </p:spPr>
          </p:sp>
          <p:sp>
            <p:nvSpPr>
              <p:cNvPr id="114" name="Freeform 114"/>
              <p:cNvSpPr/>
              <p:nvPr/>
            </p:nvSpPr>
            <p:spPr>
              <a:xfrm>
                <a:off x="10298906" y="2882900"/>
                <a:ext cx="33337" cy="9525"/>
              </a:xfrm>
              <a:custGeom>
                <a:avLst/>
                <a:gdLst/>
                <a:ahLst/>
                <a:cxnLst/>
                <a:rect l="l" t="t" r="r" b="b"/>
                <a:pathLst>
                  <a:path w="33337" h="9525">
                    <a:moveTo>
                      <a:pt x="0" y="0"/>
                    </a:moveTo>
                    <a:lnTo>
                      <a:pt x="33337" y="0"/>
                    </a:lnTo>
                  </a:path>
                </a:pathLst>
              </a:custGeom>
              <a:noFill/>
              <a:ln w="11112">
                <a:solidFill>
                  <a:srgbClr val="9C331E"/>
                </a:solidFill>
              </a:ln>
            </p:spPr>
          </p:sp>
        </p:grpSp>
        <p:sp>
          <p:nvSpPr>
            <p:cNvPr id="116" name="TextBox 116"/>
            <p:cNvSpPr txBox="1"/>
            <p:nvPr/>
          </p:nvSpPr>
          <p:spPr>
            <a:xfrm>
              <a:off x="10434638" y="2862262"/>
              <a:ext cx="413385" cy="147638"/>
            </a:xfrm>
            <a:prstGeom prst="rect">
              <a:avLst/>
            </a:prstGeom>
            <a:noFill/>
            <a:ln>
              <a:noFill/>
            </a:ln>
          </p:spPr>
          <p:txBody>
            <a:bodyPr wrap="none" lIns="0" tIns="0" rIns="0" bIns="0" anchor="t" anchorCtr="0">
              <a:spAutoFit/>
            </a:bodyPr>
            <a:lstStyle/>
            <a:p>
              <a:pPr algn="l"/>
              <a:r>
                <a:rPr lang="zh-CN" sz="750" b="1" dirty="0">
                  <a:solidFill>
                    <a:srgbClr val="5E2114"/>
                  </a:solidFill>
                  <a:latin typeface="+mn-lt"/>
                  <a:ea typeface="+mn-ea"/>
                  <a:cs typeface="+mn-cs"/>
                </a:rPr>
                <a:t>数据字典</a:t>
              </a:r>
            </a:p>
          </p:txBody>
        </p:sp>
        <p:sp>
          <p:nvSpPr>
            <p:cNvPr id="117" name="TextBox 117"/>
            <p:cNvSpPr txBox="1"/>
            <p:nvPr/>
          </p:nvSpPr>
          <p:spPr>
            <a:xfrm>
              <a:off x="10244138" y="3025378"/>
              <a:ext cx="90208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73F3A"/>
                  </a:solidFill>
                  <a:latin typeface="+mn-lt"/>
                  <a:ea typeface="+mn-ea"/>
                  <a:cs typeface="+mn-cs"/>
                </a:rPr>
                <a:t>（含数据来源、字段说明、​</a:t>
              </a:r>
              <a:br/>
              <a:r>
                <a:rPr lang="zh-CN" sz="560" dirty="0">
                  <a:solidFill>
                    <a:srgbClr val="573F3A"/>
                  </a:solidFill>
                  <a:latin typeface="+mn-lt"/>
                  <a:ea typeface="+mn-ea"/>
                  <a:cs typeface="+mn-cs"/>
                </a:rPr>
                <a:t>更新频率、质量规则）</a:t>
              </a:r>
            </a:p>
          </p:txBody>
        </p:sp>
      </p:grpSp>
      <p:grpSp>
        <p:nvGrpSpPr>
          <p:cNvPr id="138" name="card-3"/>
          <p:cNvGrpSpPr/>
          <p:nvPr/>
        </p:nvGrpSpPr>
        <p:grpSpPr>
          <a:xfrm>
            <a:off x="8382000" y="3390900"/>
            <a:ext cx="3429000" cy="1143000"/>
            <a:chOff x="8382000" y="3390900"/>
            <a:chExt cx="3429000" cy="1143000"/>
          </a:xfrm>
        </p:grpSpPr>
        <p:sp>
          <p:nvSpPr>
            <p:cNvPr id="119" name="Rectangle 119"/>
            <p:cNvSpPr/>
            <p:nvPr/>
          </p:nvSpPr>
          <p:spPr>
            <a:xfrm>
              <a:off x="8382000" y="3390900"/>
              <a:ext cx="3429000" cy="1143000"/>
            </a:xfrm>
            <a:prstGeom prst="roundRect">
              <a:avLst>
                <a:gd name="adj" fmla="val 5000"/>
              </a:avLst>
            </a:prstGeom>
            <a:solidFill>
              <a:srgbClr val="FFFFFF"/>
            </a:solidFill>
            <a:ln w="9525">
              <a:solidFill>
                <a:srgbClr val="C7D9F0"/>
              </a:solidFill>
            </a:ln>
          </p:spPr>
        </p:sp>
        <p:sp>
          <p:nvSpPr>
            <p:cNvPr id="120" name="Rectangle 120"/>
            <p:cNvSpPr/>
            <p:nvPr/>
          </p:nvSpPr>
          <p:spPr>
            <a:xfrm>
              <a:off x="8382000" y="3390900"/>
              <a:ext cx="38100" cy="1143000"/>
            </a:xfrm>
            <a:prstGeom prst="rect">
              <a:avLst/>
            </a:prstGeom>
            <a:solidFill>
              <a:srgbClr val="D0462A"/>
            </a:solidFill>
            <a:ln>
              <a:noFill/>
            </a:ln>
          </p:spPr>
        </p:sp>
        <p:grpSp>
          <p:nvGrpSpPr>
            <p:cNvPr id="124" name="Group 124"/>
            <p:cNvGrpSpPr/>
            <p:nvPr/>
          </p:nvGrpSpPr>
          <p:grpSpPr>
            <a:xfrm>
              <a:off x="8559799" y="3508447"/>
              <a:ext cx="104694" cy="107792"/>
              <a:chOff x="8559799" y="3508447"/>
              <a:chExt cx="104694" cy="107792"/>
            </a:xfrm>
          </p:grpSpPr>
          <p:sp>
            <p:nvSpPr>
              <p:cNvPr id="121" name="Freeform 121"/>
              <p:cNvSpPr/>
              <p:nvPr/>
            </p:nvSpPr>
            <p:spPr>
              <a:xfrm>
                <a:off x="8591550" y="3543300"/>
                <a:ext cx="38100" cy="38100"/>
              </a:xfrm>
              <a:custGeom>
                <a:avLst/>
                <a:gdLst/>
                <a:ahLst/>
                <a:cxnLst/>
                <a:rect l="l" t="t" r="r" b="b"/>
                <a:pathLst>
                  <a:path w="38100" h="38100">
                    <a:moveTo>
                      <a:pt x="0" y="38100"/>
                    </a:moveTo>
                    <a:lnTo>
                      <a:pt x="38100" y="0"/>
                    </a:lnTo>
                  </a:path>
                </a:pathLst>
              </a:custGeom>
              <a:noFill/>
              <a:ln w="12700">
                <a:solidFill>
                  <a:srgbClr val="9C331E"/>
                </a:solidFill>
              </a:ln>
            </p:spPr>
          </p:sp>
          <p:sp>
            <p:nvSpPr>
              <p:cNvPr id="122" name="Freeform 122"/>
              <p:cNvSpPr/>
              <p:nvPr/>
            </p:nvSpPr>
            <p:spPr>
              <a:xfrm>
                <a:off x="8604250" y="3508447"/>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9C331E"/>
                </a:solidFill>
              </a:ln>
            </p:spPr>
          </p:sp>
          <p:sp>
            <p:nvSpPr>
              <p:cNvPr id="123" name="Freeform 123"/>
              <p:cNvSpPr/>
              <p:nvPr/>
            </p:nvSpPr>
            <p:spPr>
              <a:xfrm>
                <a:off x="8559799" y="3556000"/>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9C331E"/>
                </a:solidFill>
              </a:ln>
            </p:spPr>
          </p:sp>
        </p:grpSp>
        <p:sp>
          <p:nvSpPr>
            <p:cNvPr id="125" name="TextBox 125"/>
            <p:cNvSpPr txBox="1"/>
            <p:nvPr/>
          </p:nvSpPr>
          <p:spPr>
            <a:xfrm>
              <a:off x="8739188" y="3508772"/>
              <a:ext cx="1027878"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3. 系统深度集成​</a:t>
              </a:r>
            </a:p>
          </p:txBody>
        </p:sp>
        <p:sp>
          <p:nvSpPr>
            <p:cNvPr id="126" name="TextBox 126"/>
            <p:cNvSpPr txBox="1"/>
            <p:nvPr/>
          </p:nvSpPr>
          <p:spPr>
            <a:xfrm>
              <a:off x="8529638" y="3699034"/>
              <a:ext cx="1565732"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与现有系统打通、嵌入真实业务流程。</a:t>
              </a:r>
            </a:p>
          </p:txBody>
        </p:sp>
        <p:sp>
          <p:nvSpPr>
            <p:cNvPr id="127" name="Rectangle 127"/>
            <p:cNvSpPr/>
            <p:nvPr/>
          </p:nvSpPr>
          <p:spPr>
            <a:xfrm>
              <a:off x="8534400" y="3867150"/>
              <a:ext cx="1562100" cy="590550"/>
            </a:xfrm>
            <a:prstGeom prst="roundRect">
              <a:avLst>
                <a:gd name="adj" fmla="val 6452"/>
              </a:avLst>
            </a:prstGeom>
            <a:solidFill>
              <a:srgbClr val="EFF5FC"/>
            </a:solidFill>
            <a:ln>
              <a:noFill/>
            </a:ln>
          </p:spPr>
        </p:sp>
        <p:sp>
          <p:nvSpPr>
            <p:cNvPr id="128" name="TextBox 128"/>
            <p:cNvSpPr txBox="1"/>
            <p:nvPr/>
          </p:nvSpPr>
          <p:spPr>
            <a:xfrm>
              <a:off x="8605838" y="3931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关键问题</a:t>
              </a:r>
            </a:p>
          </p:txBody>
        </p:sp>
        <p:sp>
          <p:nvSpPr>
            <p:cNvPr id="129" name="TextBox 129"/>
            <p:cNvSpPr txBox="1"/>
            <p:nvPr/>
          </p:nvSpPr>
          <p:spPr>
            <a:xfrm>
              <a:off x="8605838" y="4084082"/>
              <a:ext cx="102958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是否已完成与核心系统的对​</a:t>
              </a:r>
              <a:br/>
              <a:r>
                <a:rPr lang="zh-CN" sz="640" dirty="0">
                  <a:solidFill>
                    <a:srgbClr val="573F3A"/>
                  </a:solidFill>
                  <a:latin typeface="+mn-lt"/>
                  <a:ea typeface="+mn-ea"/>
                  <a:cs typeface="+mn-cs"/>
                </a:rPr>
                <a:t>接并稳定运行？</a:t>
              </a:r>
            </a:p>
          </p:txBody>
        </p:sp>
        <p:sp>
          <p:nvSpPr>
            <p:cNvPr id="130" name="Rectangle 130"/>
            <p:cNvSpPr/>
            <p:nvPr/>
          </p:nvSpPr>
          <p:spPr>
            <a:xfrm>
              <a:off x="10172700" y="3867150"/>
              <a:ext cx="1562100" cy="590550"/>
            </a:xfrm>
            <a:prstGeom prst="roundRect">
              <a:avLst>
                <a:gd name="adj" fmla="val 6452"/>
              </a:avLst>
            </a:prstGeom>
            <a:solidFill>
              <a:srgbClr val="DCE9F8"/>
            </a:solidFill>
            <a:ln>
              <a:noFill/>
            </a:ln>
          </p:spPr>
        </p:sp>
        <p:sp>
          <p:nvSpPr>
            <p:cNvPr id="131" name="TextBox 131"/>
            <p:cNvSpPr txBox="1"/>
            <p:nvPr/>
          </p:nvSpPr>
          <p:spPr>
            <a:xfrm>
              <a:off x="10244138" y="3931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证明材料</a:t>
              </a:r>
            </a:p>
          </p:txBody>
        </p:sp>
        <p:grpSp>
          <p:nvGrpSpPr>
            <p:cNvPr id="135" name="Group 135"/>
            <p:cNvGrpSpPr/>
            <p:nvPr/>
          </p:nvGrpSpPr>
          <p:grpSpPr>
            <a:xfrm>
              <a:off x="10276681" y="4074319"/>
              <a:ext cx="77787" cy="100012"/>
              <a:chOff x="10276681" y="4074319"/>
              <a:chExt cx="77787" cy="100012"/>
            </a:xfrm>
          </p:grpSpPr>
          <p:sp>
            <p:nvSpPr>
              <p:cNvPr id="132" name="Freeform 132"/>
              <p:cNvSpPr/>
              <p:nvPr/>
            </p:nvSpPr>
            <p:spPr>
              <a:xfrm>
                <a:off x="10326687" y="407431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9C331E"/>
                </a:solidFill>
              </a:ln>
            </p:spPr>
          </p:sp>
          <p:sp>
            <p:nvSpPr>
              <p:cNvPr id="133" name="Freeform 133"/>
              <p:cNvSpPr/>
              <p:nvPr/>
            </p:nvSpPr>
            <p:spPr>
              <a:xfrm>
                <a:off x="10276681" y="407431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9C331E"/>
                </a:solidFill>
              </a:ln>
            </p:spPr>
          </p:sp>
          <p:sp>
            <p:nvSpPr>
              <p:cNvPr id="134" name="Freeform 134"/>
              <p:cNvSpPr/>
              <p:nvPr/>
            </p:nvSpPr>
            <p:spPr>
              <a:xfrm>
                <a:off x="10298906" y="4129881"/>
                <a:ext cx="33337" cy="22225"/>
              </a:xfrm>
              <a:custGeom>
                <a:avLst/>
                <a:gdLst/>
                <a:ahLst/>
                <a:cxnLst/>
                <a:rect l="l" t="t" r="r" b="b"/>
                <a:pathLst>
                  <a:path w="33337" h="22225">
                    <a:moveTo>
                      <a:pt x="0" y="11112"/>
                    </a:moveTo>
                    <a:lnTo>
                      <a:pt x="11112" y="22225"/>
                    </a:lnTo>
                    <a:lnTo>
                      <a:pt x="33337" y="0"/>
                    </a:lnTo>
                  </a:path>
                </a:pathLst>
              </a:custGeom>
              <a:noFill/>
              <a:ln w="11112">
                <a:solidFill>
                  <a:srgbClr val="9C331E"/>
                </a:solidFill>
              </a:ln>
            </p:spPr>
          </p:sp>
        </p:grpSp>
        <p:sp>
          <p:nvSpPr>
            <p:cNvPr id="136" name="TextBox 136"/>
            <p:cNvSpPr txBox="1"/>
            <p:nvPr/>
          </p:nvSpPr>
          <p:spPr>
            <a:xfrm>
              <a:off x="10434638" y="4081462"/>
              <a:ext cx="413385" cy="147638"/>
            </a:xfrm>
            <a:prstGeom prst="rect">
              <a:avLst/>
            </a:prstGeom>
            <a:noFill/>
            <a:ln>
              <a:noFill/>
            </a:ln>
          </p:spPr>
          <p:txBody>
            <a:bodyPr wrap="none" lIns="0" tIns="0" rIns="0" bIns="0" anchor="t" anchorCtr="0">
              <a:spAutoFit/>
            </a:bodyPr>
            <a:lstStyle/>
            <a:p>
              <a:pPr algn="l"/>
              <a:r>
                <a:rPr lang="zh-CN" sz="750" b="1" dirty="0">
                  <a:solidFill>
                    <a:srgbClr val="5E2114"/>
                  </a:solidFill>
                  <a:latin typeface="+mn-lt"/>
                  <a:ea typeface="+mn-ea"/>
                  <a:cs typeface="+mn-cs"/>
                </a:rPr>
                <a:t>接口日志</a:t>
              </a:r>
            </a:p>
          </p:txBody>
        </p:sp>
        <p:sp>
          <p:nvSpPr>
            <p:cNvPr id="137" name="TextBox 137"/>
            <p:cNvSpPr txBox="1"/>
            <p:nvPr/>
          </p:nvSpPr>
          <p:spPr>
            <a:xfrm>
              <a:off x="10244138" y="4244578"/>
              <a:ext cx="75984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73F3A"/>
                  </a:solidFill>
                  <a:latin typeface="+mn-lt"/>
                  <a:ea typeface="+mn-ea"/>
                  <a:cs typeface="+mn-cs"/>
                </a:rPr>
                <a:t>（含调用记录、状态、​</a:t>
              </a:r>
              <a:br/>
              <a:r>
                <a:rPr lang="zh-CN" sz="560" dirty="0">
                  <a:solidFill>
                    <a:srgbClr val="573F3A"/>
                  </a:solidFill>
                  <a:latin typeface="+mn-lt"/>
                  <a:ea typeface="+mn-ea"/>
                  <a:cs typeface="+mn-cs"/>
                </a:rPr>
                <a:t>异常处理）</a:t>
              </a:r>
            </a:p>
          </p:txBody>
        </p:sp>
      </p:grpSp>
      <p:grpSp>
        <p:nvGrpSpPr>
          <p:cNvPr id="168" name="path"/>
          <p:cNvGrpSpPr/>
          <p:nvPr/>
        </p:nvGrpSpPr>
        <p:grpSpPr>
          <a:xfrm>
            <a:off x="381000" y="4857750"/>
            <a:ext cx="10991850" cy="838438"/>
            <a:chOff x="381000" y="4857750"/>
            <a:chExt cx="10991850" cy="838438"/>
          </a:xfrm>
        </p:grpSpPr>
        <p:sp>
          <p:nvSpPr>
            <p:cNvPr id="139" name="Rectangle 139"/>
            <p:cNvSpPr/>
            <p:nvPr/>
          </p:nvSpPr>
          <p:spPr>
            <a:xfrm>
              <a:off x="381000" y="4857750"/>
              <a:ext cx="1143000" cy="685800"/>
            </a:xfrm>
            <a:prstGeom prst="roundRect">
              <a:avLst>
                <a:gd name="adj" fmla="val 8333"/>
              </a:avLst>
            </a:prstGeom>
            <a:solidFill>
              <a:srgbClr val="632012"/>
            </a:solidFill>
            <a:ln>
              <a:noFill/>
            </a:ln>
          </p:spPr>
        </p:sp>
        <p:sp>
          <p:nvSpPr>
            <p:cNvPr id="140" name="TextBox 140"/>
            <p:cNvSpPr txBox="1"/>
            <p:nvPr/>
          </p:nvSpPr>
          <p:spPr>
            <a:xfrm>
              <a:off x="686133" y="4970145"/>
              <a:ext cx="532733" cy="519112"/>
            </a:xfrm>
            <a:prstGeom prst="rect">
              <a:avLst/>
            </a:prstGeom>
            <a:noFill/>
            <a:ln>
              <a:noFill/>
            </a:ln>
          </p:spPr>
          <p:txBody>
            <a:bodyPr wrap="none" lIns="0" tIns="0" rIns="0" bIns="0" anchor="t" anchorCtr="0">
              <a:spAutoFit/>
            </a:bodyPr>
            <a:lstStyle/>
            <a:p>
              <a:pPr algn="ctr">
                <a:lnSpc>
                  <a:spcPts val="1350"/>
                </a:lnSpc>
              </a:pPr>
              <a:r>
                <a:rPr lang="zh-CN" sz="900" b="1" dirty="0">
                  <a:solidFill>
                    <a:srgbClr val="FFFFFF"/>
                  </a:solidFill>
                  <a:latin typeface="+mn-lt"/>
                  <a:ea typeface="+mn-ea"/>
                  <a:cs typeface="+mn-cs"/>
                </a:rPr>
                <a:t>从演示</a:t>
              </a:r>
              <a:br/>
              <a:r>
                <a:rPr lang="zh-CN" sz="900" b="1" dirty="0">
                  <a:solidFill>
                    <a:srgbClr val="FFFFFF"/>
                  </a:solidFill>
                  <a:latin typeface="+mn-lt"/>
                  <a:ea typeface="+mn-ea"/>
                  <a:cs typeface="+mn-cs"/>
                </a:rPr>
                <a:t>到规模的​</a:t>
              </a:r>
              <a:br/>
              <a:r>
                <a:rPr lang="zh-CN" sz="900" b="1" dirty="0">
                  <a:solidFill>
                    <a:srgbClr val="FFFFFF"/>
                  </a:solidFill>
                  <a:latin typeface="+mn-lt"/>
                  <a:ea typeface="+mn-ea"/>
                  <a:cs typeface="+mn-cs"/>
                </a:rPr>
                <a:t>成熟路径​</a:t>
              </a:r>
            </a:p>
          </p:txBody>
        </p:sp>
        <p:sp>
          <p:nvSpPr>
            <p:cNvPr id="141" name="Freeform 141"/>
            <p:cNvSpPr/>
            <p:nvPr/>
          </p:nvSpPr>
          <p:spPr>
            <a:xfrm>
              <a:off x="1619250" y="4857750"/>
              <a:ext cx="1752600" cy="457200"/>
            </a:xfrm>
            <a:prstGeom prst="homePlate">
              <a:avLst/>
            </a:prstGeom>
            <a:solidFill>
              <a:srgbClr val="632012"/>
            </a:solidFill>
            <a:ln>
              <a:noFill/>
            </a:ln>
          </p:spPr>
        </p:sp>
        <p:sp>
          <p:nvSpPr>
            <p:cNvPr id="142" name="Freeform 142"/>
            <p:cNvSpPr/>
            <p:nvPr/>
          </p:nvSpPr>
          <p:spPr>
            <a:xfrm>
              <a:off x="3314700" y="4857750"/>
              <a:ext cx="1752600" cy="457200"/>
            </a:xfrm>
            <a:prstGeom prst="chevron">
              <a:avLst/>
            </a:prstGeom>
            <a:solidFill>
              <a:srgbClr val="9C331E"/>
            </a:solidFill>
            <a:ln>
              <a:noFill/>
            </a:ln>
          </p:spPr>
        </p:sp>
        <p:sp>
          <p:nvSpPr>
            <p:cNvPr id="143" name="Freeform 143"/>
            <p:cNvSpPr/>
            <p:nvPr/>
          </p:nvSpPr>
          <p:spPr>
            <a:xfrm>
              <a:off x="5010150" y="4857750"/>
              <a:ext cx="1752600" cy="457200"/>
            </a:xfrm>
            <a:prstGeom prst="chevron">
              <a:avLst/>
            </a:prstGeom>
            <a:solidFill>
              <a:srgbClr val="B53C23"/>
            </a:solidFill>
            <a:ln>
              <a:noFill/>
            </a:ln>
          </p:spPr>
        </p:sp>
        <p:sp>
          <p:nvSpPr>
            <p:cNvPr id="144" name="Freeform 144"/>
            <p:cNvSpPr/>
            <p:nvPr/>
          </p:nvSpPr>
          <p:spPr>
            <a:xfrm>
              <a:off x="6705600" y="4857750"/>
              <a:ext cx="1752600" cy="457200"/>
            </a:xfrm>
            <a:prstGeom prst="chevron">
              <a:avLst/>
            </a:prstGeom>
            <a:solidFill>
              <a:srgbClr val="D64A2E"/>
            </a:solidFill>
            <a:ln>
              <a:noFill/>
            </a:ln>
          </p:spPr>
        </p:sp>
        <p:sp>
          <p:nvSpPr>
            <p:cNvPr id="145" name="Freeform 145"/>
            <p:cNvSpPr/>
            <p:nvPr/>
          </p:nvSpPr>
          <p:spPr>
            <a:xfrm>
              <a:off x="8401050" y="4857750"/>
              <a:ext cx="1752600" cy="457200"/>
            </a:xfrm>
            <a:prstGeom prst="chevron">
              <a:avLst/>
            </a:prstGeom>
            <a:solidFill>
              <a:srgbClr val="DE715B"/>
            </a:solidFill>
            <a:ln>
              <a:noFill/>
            </a:ln>
          </p:spPr>
        </p:sp>
        <p:sp>
          <p:nvSpPr>
            <p:cNvPr id="146" name="TextBox 146"/>
            <p:cNvSpPr txBox="1"/>
            <p:nvPr/>
          </p:nvSpPr>
          <p:spPr>
            <a:xfrm>
              <a:off x="2301519" y="49429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方案</a:t>
              </a:r>
            </a:p>
          </p:txBody>
        </p:sp>
        <p:sp>
          <p:nvSpPr>
            <p:cNvPr id="147" name="TextBox 147"/>
            <p:cNvSpPr txBox="1"/>
            <p:nvPr/>
          </p:nvSpPr>
          <p:spPr>
            <a:xfrm>
              <a:off x="2132089" y="5122307"/>
              <a:ext cx="612623" cy="126206"/>
            </a:xfrm>
            <a:prstGeom prst="rect">
              <a:avLst/>
            </a:prstGeom>
            <a:noFill/>
            <a:ln>
              <a:noFill/>
            </a:ln>
          </p:spPr>
          <p:txBody>
            <a:bodyPr wrap="none" lIns="0" tIns="0" rIns="0" bIns="0" anchor="t" anchorCtr="0">
              <a:spAutoFit/>
            </a:bodyPr>
            <a:lstStyle/>
            <a:p>
              <a:pPr algn="ctr"/>
              <a:r>
                <a:rPr lang="zh-CN" sz="640" dirty="0">
                  <a:solidFill>
                    <a:srgbClr val="DCE9F8"/>
                  </a:solidFill>
                  <a:latin typeface="+mn-lt"/>
                  <a:ea typeface="+mn-ea"/>
                  <a:cs typeface="+mn-cs"/>
                </a:rPr>
                <a:t>明确目标与路径</a:t>
              </a:r>
            </a:p>
          </p:txBody>
        </p:sp>
        <p:sp>
          <p:nvSpPr>
            <p:cNvPr id="148" name="TextBox 148"/>
            <p:cNvSpPr txBox="1"/>
            <p:nvPr/>
          </p:nvSpPr>
          <p:spPr>
            <a:xfrm>
              <a:off x="2231708" y="5424488"/>
              <a:ext cx="413385" cy="147638"/>
            </a:xfrm>
            <a:prstGeom prst="rect">
              <a:avLst/>
            </a:prstGeom>
            <a:noFill/>
            <a:ln>
              <a:noFill/>
            </a:ln>
          </p:spPr>
          <p:txBody>
            <a:bodyPr wrap="none" lIns="0" tIns="0" rIns="0" bIns="0" anchor="t" anchorCtr="0">
              <a:spAutoFit/>
            </a:bodyPr>
            <a:lstStyle/>
            <a:p>
              <a:pPr algn="ctr"/>
              <a:r>
                <a:rPr lang="zh-CN" sz="750" b="1" dirty="0">
                  <a:solidFill>
                    <a:srgbClr val="9C331E"/>
                  </a:solidFill>
                  <a:latin typeface="+mn-lt"/>
                  <a:ea typeface="+mn-ea"/>
                  <a:cs typeface="+mn-cs"/>
                </a:rPr>
                <a:t>立项评审</a:t>
              </a:r>
            </a:p>
          </p:txBody>
        </p:sp>
        <p:sp>
          <p:nvSpPr>
            <p:cNvPr id="149" name="TextBox 149"/>
            <p:cNvSpPr txBox="1"/>
            <p:nvPr/>
          </p:nvSpPr>
          <p:spPr>
            <a:xfrm>
              <a:off x="1959775" y="5569982"/>
              <a:ext cx="957250"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（问题清晰、方案可行）</a:t>
              </a:r>
            </a:p>
          </p:txBody>
        </p:sp>
        <p:sp>
          <p:nvSpPr>
            <p:cNvPr id="150" name="TextBox 150"/>
            <p:cNvSpPr txBox="1"/>
            <p:nvPr/>
          </p:nvSpPr>
          <p:spPr>
            <a:xfrm>
              <a:off x="4054119" y="49429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试点</a:t>
              </a:r>
            </a:p>
          </p:txBody>
        </p:sp>
        <p:sp>
          <p:nvSpPr>
            <p:cNvPr id="151" name="TextBox 151"/>
            <p:cNvSpPr txBox="1"/>
            <p:nvPr/>
          </p:nvSpPr>
          <p:spPr>
            <a:xfrm>
              <a:off x="3884689" y="5122307"/>
              <a:ext cx="612623" cy="126206"/>
            </a:xfrm>
            <a:prstGeom prst="rect">
              <a:avLst/>
            </a:prstGeom>
            <a:noFill/>
            <a:ln>
              <a:noFill/>
            </a:ln>
          </p:spPr>
          <p:txBody>
            <a:bodyPr wrap="none" lIns="0" tIns="0" rIns="0" bIns="0" anchor="t" anchorCtr="0">
              <a:spAutoFit/>
            </a:bodyPr>
            <a:lstStyle/>
            <a:p>
              <a:pPr algn="ctr"/>
              <a:r>
                <a:rPr lang="zh-CN" sz="640" dirty="0">
                  <a:solidFill>
                    <a:srgbClr val="DCE9F8"/>
                  </a:solidFill>
                  <a:latin typeface="+mn-lt"/>
                  <a:ea typeface="+mn-ea"/>
                  <a:cs typeface="+mn-cs"/>
                </a:rPr>
                <a:t>小范围验证价值</a:t>
              </a:r>
            </a:p>
          </p:txBody>
        </p:sp>
        <p:sp>
          <p:nvSpPr>
            <p:cNvPr id="152" name="TextBox 152"/>
            <p:cNvSpPr txBox="1"/>
            <p:nvPr/>
          </p:nvSpPr>
          <p:spPr>
            <a:xfrm>
              <a:off x="3984308" y="5424488"/>
              <a:ext cx="413385" cy="147638"/>
            </a:xfrm>
            <a:prstGeom prst="rect">
              <a:avLst/>
            </a:prstGeom>
            <a:noFill/>
            <a:ln>
              <a:noFill/>
            </a:ln>
          </p:spPr>
          <p:txBody>
            <a:bodyPr wrap="none" lIns="0" tIns="0" rIns="0" bIns="0" anchor="t" anchorCtr="0">
              <a:spAutoFit/>
            </a:bodyPr>
            <a:lstStyle/>
            <a:p>
              <a:pPr algn="ctr"/>
              <a:r>
                <a:rPr lang="zh-CN" sz="750" b="1" dirty="0">
                  <a:solidFill>
                    <a:srgbClr val="9C331E"/>
                  </a:solidFill>
                  <a:latin typeface="+mn-lt"/>
                  <a:ea typeface="+mn-ea"/>
                  <a:cs typeface="+mn-cs"/>
                </a:rPr>
                <a:t>试点评估</a:t>
              </a:r>
            </a:p>
          </p:txBody>
        </p:sp>
        <p:sp>
          <p:nvSpPr>
            <p:cNvPr id="153" name="TextBox 153"/>
            <p:cNvSpPr txBox="1"/>
            <p:nvPr/>
          </p:nvSpPr>
          <p:spPr>
            <a:xfrm>
              <a:off x="3712375" y="5569982"/>
              <a:ext cx="957250"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（达到预期、风险可控）</a:t>
              </a:r>
            </a:p>
          </p:txBody>
        </p:sp>
        <p:sp>
          <p:nvSpPr>
            <p:cNvPr id="154" name="TextBox 154"/>
            <p:cNvSpPr txBox="1"/>
            <p:nvPr/>
          </p:nvSpPr>
          <p:spPr>
            <a:xfrm>
              <a:off x="5749569" y="49429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生产</a:t>
              </a:r>
            </a:p>
          </p:txBody>
        </p:sp>
        <p:sp>
          <p:nvSpPr>
            <p:cNvPr id="155" name="TextBox 155"/>
            <p:cNvSpPr txBox="1"/>
            <p:nvPr/>
          </p:nvSpPr>
          <p:spPr>
            <a:xfrm>
              <a:off x="5623217" y="5122307"/>
              <a:ext cx="526466" cy="126206"/>
            </a:xfrm>
            <a:prstGeom prst="rect">
              <a:avLst/>
            </a:prstGeom>
            <a:noFill/>
            <a:ln>
              <a:noFill/>
            </a:ln>
          </p:spPr>
          <p:txBody>
            <a:bodyPr wrap="none" lIns="0" tIns="0" rIns="0" bIns="0" anchor="t" anchorCtr="0">
              <a:spAutoFit/>
            </a:bodyPr>
            <a:lstStyle/>
            <a:p>
              <a:pPr algn="ctr"/>
              <a:r>
                <a:rPr lang="zh-CN" sz="640" dirty="0">
                  <a:solidFill>
                    <a:srgbClr val="DCE9F8"/>
                  </a:solidFill>
                  <a:latin typeface="+mn-lt"/>
                  <a:ea typeface="+mn-ea"/>
                  <a:cs typeface="+mn-cs"/>
                </a:rPr>
                <a:t>纳入正式业务</a:t>
              </a:r>
            </a:p>
          </p:txBody>
        </p:sp>
        <p:sp>
          <p:nvSpPr>
            <p:cNvPr id="156" name="TextBox 156"/>
            <p:cNvSpPr txBox="1"/>
            <p:nvPr/>
          </p:nvSpPr>
          <p:spPr>
            <a:xfrm>
              <a:off x="5679758" y="5424488"/>
              <a:ext cx="413385" cy="147638"/>
            </a:xfrm>
            <a:prstGeom prst="rect">
              <a:avLst/>
            </a:prstGeom>
            <a:noFill/>
            <a:ln>
              <a:noFill/>
            </a:ln>
          </p:spPr>
          <p:txBody>
            <a:bodyPr wrap="none" lIns="0" tIns="0" rIns="0" bIns="0" anchor="t" anchorCtr="0">
              <a:spAutoFit/>
            </a:bodyPr>
            <a:lstStyle/>
            <a:p>
              <a:pPr algn="ctr"/>
              <a:r>
                <a:rPr lang="zh-CN" sz="750" b="1" dirty="0">
                  <a:solidFill>
                    <a:srgbClr val="9C331E"/>
                  </a:solidFill>
                  <a:latin typeface="+mn-lt"/>
                  <a:ea typeface="+mn-ea"/>
                  <a:cs typeface="+mn-cs"/>
                </a:rPr>
                <a:t>上线评审</a:t>
              </a:r>
            </a:p>
          </p:txBody>
        </p:sp>
        <p:sp>
          <p:nvSpPr>
            <p:cNvPr id="157" name="TextBox 157"/>
            <p:cNvSpPr txBox="1"/>
            <p:nvPr/>
          </p:nvSpPr>
          <p:spPr>
            <a:xfrm>
              <a:off x="5407825" y="5569982"/>
              <a:ext cx="957250"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（稳定运行、责任到位）</a:t>
              </a:r>
            </a:p>
          </p:txBody>
        </p:sp>
        <p:sp>
          <p:nvSpPr>
            <p:cNvPr id="158" name="TextBox 158"/>
            <p:cNvSpPr txBox="1"/>
            <p:nvPr/>
          </p:nvSpPr>
          <p:spPr>
            <a:xfrm>
              <a:off x="7445019" y="49429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规模</a:t>
              </a:r>
            </a:p>
          </p:txBody>
        </p:sp>
        <p:sp>
          <p:nvSpPr>
            <p:cNvPr id="159" name="TextBox 159"/>
            <p:cNvSpPr txBox="1"/>
            <p:nvPr/>
          </p:nvSpPr>
          <p:spPr>
            <a:xfrm>
              <a:off x="7189432" y="5122307"/>
              <a:ext cx="784936" cy="126206"/>
            </a:xfrm>
            <a:prstGeom prst="rect">
              <a:avLst/>
            </a:prstGeom>
            <a:noFill/>
            <a:ln>
              <a:noFill/>
            </a:ln>
          </p:spPr>
          <p:txBody>
            <a:bodyPr wrap="none" lIns="0" tIns="0" rIns="0" bIns="0" anchor="t" anchorCtr="0">
              <a:spAutoFit/>
            </a:bodyPr>
            <a:lstStyle/>
            <a:p>
              <a:pPr algn="ctr"/>
              <a:r>
                <a:rPr lang="zh-CN" sz="640" dirty="0">
                  <a:solidFill>
                    <a:srgbClr val="DCE9F8"/>
                  </a:solidFill>
                  <a:latin typeface="+mn-lt"/>
                  <a:ea typeface="+mn-ea"/>
                  <a:cs typeface="+mn-cs"/>
                </a:rPr>
                <a:t>扩大范围、优化运营</a:t>
              </a:r>
            </a:p>
          </p:txBody>
        </p:sp>
        <p:sp>
          <p:nvSpPr>
            <p:cNvPr id="160" name="TextBox 160"/>
            <p:cNvSpPr txBox="1"/>
            <p:nvPr/>
          </p:nvSpPr>
          <p:spPr>
            <a:xfrm>
              <a:off x="7375208" y="5424488"/>
              <a:ext cx="413385" cy="147638"/>
            </a:xfrm>
            <a:prstGeom prst="rect">
              <a:avLst/>
            </a:prstGeom>
            <a:noFill/>
            <a:ln>
              <a:noFill/>
            </a:ln>
          </p:spPr>
          <p:txBody>
            <a:bodyPr wrap="none" lIns="0" tIns="0" rIns="0" bIns="0" anchor="t" anchorCtr="0">
              <a:spAutoFit/>
            </a:bodyPr>
            <a:lstStyle/>
            <a:p>
              <a:pPr algn="ctr"/>
              <a:r>
                <a:rPr lang="zh-CN" sz="750" b="1" dirty="0">
                  <a:solidFill>
                    <a:srgbClr val="9C331E"/>
                  </a:solidFill>
                  <a:latin typeface="+mn-lt"/>
                  <a:ea typeface="+mn-ea"/>
                  <a:cs typeface="+mn-cs"/>
                </a:rPr>
                <a:t>规模评估</a:t>
              </a:r>
            </a:p>
          </p:txBody>
        </p:sp>
        <p:sp>
          <p:nvSpPr>
            <p:cNvPr id="161" name="TextBox 161"/>
            <p:cNvSpPr txBox="1"/>
            <p:nvPr/>
          </p:nvSpPr>
          <p:spPr>
            <a:xfrm>
              <a:off x="7189432" y="5569982"/>
              <a:ext cx="784936"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（可复制、可持续）</a:t>
              </a:r>
            </a:p>
          </p:txBody>
        </p:sp>
        <p:sp>
          <p:nvSpPr>
            <p:cNvPr id="162" name="TextBox 162"/>
            <p:cNvSpPr txBox="1"/>
            <p:nvPr/>
          </p:nvSpPr>
          <p:spPr>
            <a:xfrm>
              <a:off x="9140469" y="49429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复制</a:t>
              </a:r>
            </a:p>
          </p:txBody>
        </p:sp>
        <p:sp>
          <p:nvSpPr>
            <p:cNvPr id="163" name="TextBox 163"/>
            <p:cNvSpPr txBox="1"/>
            <p:nvPr/>
          </p:nvSpPr>
          <p:spPr>
            <a:xfrm>
              <a:off x="8884882" y="5122307"/>
              <a:ext cx="784936" cy="126206"/>
            </a:xfrm>
            <a:prstGeom prst="rect">
              <a:avLst/>
            </a:prstGeom>
            <a:noFill/>
            <a:ln>
              <a:noFill/>
            </a:ln>
          </p:spPr>
          <p:txBody>
            <a:bodyPr wrap="none" lIns="0" tIns="0" rIns="0" bIns="0" anchor="t" anchorCtr="0">
              <a:spAutoFit/>
            </a:bodyPr>
            <a:lstStyle/>
            <a:p>
              <a:pPr algn="ctr"/>
              <a:r>
                <a:rPr lang="zh-CN" sz="640" dirty="0">
                  <a:solidFill>
                    <a:srgbClr val="DCE9F8"/>
                  </a:solidFill>
                  <a:latin typeface="+mn-lt"/>
                  <a:ea typeface="+mn-ea"/>
                  <a:cs typeface="+mn-cs"/>
                </a:rPr>
                <a:t>沉淀方法、快速推广</a:t>
              </a:r>
            </a:p>
          </p:txBody>
        </p:sp>
        <p:sp>
          <p:nvSpPr>
            <p:cNvPr id="164" name="TextBox 164"/>
            <p:cNvSpPr txBox="1"/>
            <p:nvPr/>
          </p:nvSpPr>
          <p:spPr>
            <a:xfrm>
              <a:off x="9070658" y="5424488"/>
              <a:ext cx="413385" cy="147638"/>
            </a:xfrm>
            <a:prstGeom prst="rect">
              <a:avLst/>
            </a:prstGeom>
            <a:noFill/>
            <a:ln>
              <a:noFill/>
            </a:ln>
          </p:spPr>
          <p:txBody>
            <a:bodyPr wrap="none" lIns="0" tIns="0" rIns="0" bIns="0" anchor="t" anchorCtr="0">
              <a:spAutoFit/>
            </a:bodyPr>
            <a:lstStyle/>
            <a:p>
              <a:pPr algn="ctr"/>
              <a:r>
                <a:rPr lang="zh-CN" sz="750" b="1" dirty="0">
                  <a:solidFill>
                    <a:srgbClr val="9C331E"/>
                  </a:solidFill>
                  <a:latin typeface="+mn-lt"/>
                  <a:ea typeface="+mn-ea"/>
                  <a:cs typeface="+mn-cs"/>
                </a:rPr>
                <a:t>复制审查</a:t>
              </a:r>
            </a:p>
          </p:txBody>
        </p:sp>
        <p:sp>
          <p:nvSpPr>
            <p:cNvPr id="165" name="TextBox 165"/>
            <p:cNvSpPr txBox="1"/>
            <p:nvPr/>
          </p:nvSpPr>
          <p:spPr>
            <a:xfrm>
              <a:off x="8755647" y="5569982"/>
              <a:ext cx="1043407"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（标准化、具备推广条件）</a:t>
              </a:r>
            </a:p>
          </p:txBody>
        </p:sp>
        <p:sp>
          <p:nvSpPr>
            <p:cNvPr id="166" name="Ellipse 166"/>
            <p:cNvSpPr/>
            <p:nvPr/>
          </p:nvSpPr>
          <p:spPr>
            <a:xfrm>
              <a:off x="10687050" y="4857750"/>
              <a:ext cx="685800" cy="685800"/>
            </a:xfrm>
            <a:prstGeom prst="ellipse">
              <a:avLst/>
            </a:prstGeom>
            <a:gradFill>
              <a:gsLst>
                <a:gs pos="0">
                  <a:srgbClr val="D64A2E"/>
                </a:gs>
                <a:gs pos="100000">
                  <a:srgbClr val="632012"/>
                </a:gs>
              </a:gsLst>
              <a:lin ang="5400000" scaled="1"/>
            </a:gradFill>
            <a:ln>
              <a:noFill/>
            </a:ln>
          </p:spPr>
        </p:sp>
        <p:sp>
          <p:nvSpPr>
            <p:cNvPr id="167" name="TextBox 167"/>
            <p:cNvSpPr txBox="1"/>
            <p:nvPr/>
          </p:nvSpPr>
          <p:spPr>
            <a:xfrm>
              <a:off x="10775210" y="5078968"/>
              <a:ext cx="509480" cy="321469"/>
            </a:xfrm>
            <a:prstGeom prst="rect">
              <a:avLst/>
            </a:prstGeom>
            <a:noFill/>
            <a:ln>
              <a:noFill/>
            </a:ln>
          </p:spPr>
          <p:txBody>
            <a:bodyPr wrap="none" lIns="0" tIns="0" rIns="0" bIns="0" anchor="t" anchorCtr="0">
              <a:spAutoFit/>
            </a:bodyPr>
            <a:lstStyle/>
            <a:p>
              <a:pPr algn="ctr">
                <a:lnSpc>
                  <a:spcPts val="1200"/>
                </a:lnSpc>
              </a:pPr>
              <a:r>
                <a:rPr lang="zh-CN" sz="860" b="1" dirty="0">
                  <a:solidFill>
                    <a:srgbClr val="FFFFFF"/>
                  </a:solidFill>
                  <a:latin typeface="+mn-lt"/>
                  <a:ea typeface="+mn-ea"/>
                  <a:cs typeface="+mn-cs"/>
                </a:rPr>
                <a:t>持续创造​</a:t>
              </a:r>
              <a:br/>
              <a:r>
                <a:rPr lang="zh-CN" sz="860" b="1" dirty="0">
                  <a:solidFill>
                    <a:srgbClr val="FFFFFF"/>
                  </a:solidFill>
                  <a:latin typeface="+mn-lt"/>
                  <a:ea typeface="+mn-ea"/>
                  <a:cs typeface="+mn-cs"/>
                </a:rPr>
                <a:t>业务价值​</a:t>
              </a:r>
            </a:p>
          </p:txBody>
        </p:sp>
      </p:grpSp>
      <p:sp>
        <p:nvSpPr>
          <p:cNvPr id="169" name="deco-hills"/>
          <p:cNvSpPr/>
          <p:nvPr/>
        </p:nvSpPr>
        <p:spPr>
          <a:xfrm>
            <a:off x="0" y="6210300"/>
            <a:ext cx="12192000" cy="495300"/>
          </a:xfrm>
          <a:custGeom>
            <a:avLst/>
            <a:gdLst/>
            <a:ahLst/>
            <a:cxnLst/>
            <a:rect l="l" t="t" r="r" b="b"/>
            <a:pathLst>
              <a:path w="12192000" h="495300">
                <a:moveTo>
                  <a:pt x="0" y="495300"/>
                </a:moveTo>
                <a:lnTo>
                  <a:pt x="0" y="228600"/>
                </a:lnTo>
                <a:lnTo>
                  <a:pt x="1524000" y="38100"/>
                </a:lnTo>
                <a:lnTo>
                  <a:pt x="3048000" y="266700"/>
                </a:lnTo>
                <a:lnTo>
                  <a:pt x="4572000" y="0"/>
                </a:lnTo>
                <a:lnTo>
                  <a:pt x="6096000" y="285750"/>
                </a:lnTo>
                <a:lnTo>
                  <a:pt x="7620000" y="57150"/>
                </a:lnTo>
                <a:lnTo>
                  <a:pt x="9144000" y="304800"/>
                </a:lnTo>
                <a:lnTo>
                  <a:pt x="10668000" y="76200"/>
                </a:lnTo>
                <a:lnTo>
                  <a:pt x="12192000" y="247650"/>
                </a:lnTo>
                <a:lnTo>
                  <a:pt x="12192000" y="495300"/>
                </a:lnTo>
                <a:close/>
              </a:path>
            </a:pathLst>
          </a:custGeom>
          <a:solidFill>
            <a:srgbClr val="DCE9F8"/>
          </a:solidFill>
          <a:ln>
            <a:noFill/>
          </a:ln>
        </p:spPr>
      </p:sp>
      <p:grpSp>
        <p:nvGrpSpPr>
          <p:cNvPr id="173" name="footer"/>
          <p:cNvGrpSpPr/>
          <p:nvPr/>
        </p:nvGrpSpPr>
        <p:grpSpPr>
          <a:xfrm>
            <a:off x="0" y="6705600"/>
            <a:ext cx="12192000" cy="173117"/>
            <a:chOff x="0" y="6705600"/>
            <a:chExt cx="12192000" cy="173117"/>
          </a:xfrm>
        </p:grpSpPr>
        <p:sp>
          <p:nvSpPr>
            <p:cNvPr id="170" name="Rectangle 170"/>
            <p:cNvSpPr/>
            <p:nvPr/>
          </p:nvSpPr>
          <p:spPr>
            <a:xfrm>
              <a:off x="0" y="6705600"/>
              <a:ext cx="12192000" cy="152400"/>
            </a:xfrm>
            <a:prstGeom prst="rect">
              <a:avLst/>
            </a:prstGeom>
            <a:solidFill>
              <a:srgbClr val="632012"/>
            </a:solidFill>
            <a:ln>
              <a:noFill/>
            </a:ln>
          </p:spPr>
        </p:sp>
        <p:sp>
          <p:nvSpPr>
            <p:cNvPr id="171" name="TextBox 171"/>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72" name="TextBox 172"/>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15/20</a:t>
              </a:r>
            </a:p>
          </p:txBody>
        </p:sp>
      </p:gr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739562" cy="551879"/>
            <a:chOff x="0" y="0"/>
            <a:chExt cx="11739562"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3" name="TextBox 3"/>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16</a:t>
              </a:r>
            </a:p>
          </p:txBody>
        </p:sp>
        <p:sp>
          <p:nvSpPr>
            <p:cNvPr id="4" name="TextBox 4"/>
            <p:cNvSpPr txBox="1"/>
            <p:nvPr/>
          </p:nvSpPr>
          <p:spPr>
            <a:xfrm>
              <a:off x="942594" y="170498"/>
              <a:ext cx="5289804"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失速原因</a:t>
              </a:r>
              <a:r>
                <a:rPr lang="zh-CN" sz="1950" b="1" dirty="0">
                  <a:solidFill>
                    <a:srgbClr val="5E2114"/>
                  </a:solidFill>
                  <a:latin typeface="+mj-lt"/>
                  <a:ea typeface="+mj-ea"/>
                  <a:cs typeface="+mj-cs"/>
                </a:rPr>
                <a:t>｜六种常见陷阱让项目停在样板间</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6" name="TextBox 6"/>
            <p:cNvSpPr txBox="1"/>
            <p:nvPr/>
          </p:nvSpPr>
          <p:spPr>
            <a:xfrm>
              <a:off x="9722853" y="151686"/>
              <a:ext cx="2016709"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从样板间到规模化，靠的是识别风险与解决问题</a:t>
              </a:r>
            </a:p>
          </p:txBody>
        </p:sp>
      </p:grpSp>
      <p:grpSp>
        <p:nvGrpSpPr>
          <p:cNvPr id="9" name="subtitle"/>
          <p:cNvGrpSpPr/>
          <p:nvPr/>
        </p:nvGrpSpPr>
        <p:grpSpPr>
          <a:xfrm>
            <a:off x="985838" y="660797"/>
            <a:ext cx="8361350" cy="183356"/>
            <a:chOff x="985838" y="660797"/>
            <a:chExt cx="8361350" cy="183356"/>
          </a:xfrm>
        </p:grpSpPr>
        <p:sp>
          <p:nvSpPr>
            <p:cNvPr id="8" name="TextBox 8"/>
            <p:cNvSpPr txBox="1"/>
            <p:nvPr/>
          </p:nvSpPr>
          <p:spPr>
            <a:xfrm>
              <a:off x="985838" y="660797"/>
              <a:ext cx="8361350" cy="183356"/>
            </a:xfrm>
            <a:prstGeom prst="rect">
              <a:avLst/>
            </a:prstGeom>
            <a:noFill/>
            <a:ln>
              <a:noFill/>
            </a:ln>
          </p:spPr>
          <p:txBody>
            <a:bodyPr wrap="none" lIns="0" tIns="0" rIns="0" bIns="0" anchor="t" anchorCtr="0">
              <a:spAutoFit/>
            </a:bodyPr>
            <a:lstStyle/>
            <a:p>
              <a:pPr algn="l"/>
              <a:r>
                <a:rPr lang="zh-CN" sz="940" dirty="0">
                  <a:solidFill>
                    <a:srgbClr val="573F3A"/>
                  </a:solidFill>
                  <a:latin typeface="+mn-lt"/>
                  <a:ea typeface="+mn-ea"/>
                  <a:cs typeface="+mn-cs"/>
                </a:rPr>
                <a:t>许多项目并非技术本身不可行，而是在推进过程中掉入常见陷阱，导致从试点走向规模化时失去动力。下图梳理六类关键阻碍、典型症状与对应举措。</a:t>
              </a:r>
            </a:p>
          </p:txBody>
        </p:sp>
      </p:grpSp>
      <p:grpSp>
        <p:nvGrpSpPr>
          <p:cNvPr id="59" name="funnel"/>
          <p:cNvGrpSpPr/>
          <p:nvPr/>
        </p:nvGrpSpPr>
        <p:grpSpPr>
          <a:xfrm>
            <a:off x="414338" y="936784"/>
            <a:ext cx="2824162" cy="4572000"/>
            <a:chOff x="414338" y="936784"/>
            <a:chExt cx="2824162" cy="4572000"/>
          </a:xfrm>
        </p:grpSpPr>
        <p:sp>
          <p:nvSpPr>
            <p:cNvPr id="10" name="TextBox 10"/>
            <p:cNvSpPr txBox="1"/>
            <p:nvPr/>
          </p:nvSpPr>
          <p:spPr>
            <a:xfrm>
              <a:off x="414338" y="936784"/>
              <a:ext cx="668625"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从“能做出来”​​</a:t>
              </a:r>
            </a:p>
          </p:txBody>
        </p:sp>
        <p:sp>
          <p:nvSpPr>
            <p:cNvPr id="11" name="Line 11"/>
            <p:cNvSpPr/>
            <p:nvPr/>
          </p:nvSpPr>
          <p:spPr>
            <a:xfrm>
              <a:off x="495300" y="1104900"/>
              <a:ext cx="1" cy="4114800"/>
            </a:xfrm>
            <a:prstGeom prst="line">
              <a:avLst/>
            </a:prstGeom>
            <a:noFill/>
            <a:ln w="14288">
              <a:solidFill>
                <a:srgbClr val="9C331E"/>
              </a:solidFill>
              <a:tailEnd type="triangle" w="lg" len="lg"/>
            </a:ln>
          </p:spPr>
        </p:sp>
        <p:sp>
          <p:nvSpPr>
            <p:cNvPr id="12" name="TextBox 12"/>
            <p:cNvSpPr txBox="1"/>
            <p:nvPr/>
          </p:nvSpPr>
          <p:spPr>
            <a:xfrm>
              <a:off x="414338" y="5375434"/>
              <a:ext cx="760166"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到“可持续运行”​​</a:t>
              </a:r>
            </a:p>
          </p:txBody>
        </p:sp>
        <p:sp>
          <p:nvSpPr>
            <p:cNvPr id="13" name="Rectangle 13"/>
            <p:cNvSpPr/>
            <p:nvPr/>
          </p:nvSpPr>
          <p:spPr>
            <a:xfrm>
              <a:off x="619125" y="1066800"/>
              <a:ext cx="2571750" cy="571500"/>
            </a:xfrm>
            <a:prstGeom prst="roundRect">
              <a:avLst>
                <a:gd name="adj" fmla="val 13333"/>
              </a:avLst>
            </a:prstGeom>
            <a:solidFill>
              <a:srgbClr val="632012"/>
            </a:solidFill>
            <a:ln>
              <a:noFill/>
            </a:ln>
          </p:spPr>
        </p:sp>
        <p:grpSp>
          <p:nvGrpSpPr>
            <p:cNvPr id="19" name="Group 19"/>
            <p:cNvGrpSpPr/>
            <p:nvPr/>
          </p:nvGrpSpPr>
          <p:grpSpPr>
            <a:xfrm>
              <a:off x="1300162" y="1289050"/>
              <a:ext cx="142875" cy="136525"/>
              <a:chOff x="1300162" y="1289050"/>
              <a:chExt cx="142875" cy="136525"/>
            </a:xfrm>
          </p:grpSpPr>
          <p:sp>
            <p:nvSpPr>
              <p:cNvPr id="14" name="Freeform 14"/>
              <p:cNvSpPr/>
              <p:nvPr/>
            </p:nvSpPr>
            <p:spPr>
              <a:xfrm>
                <a:off x="1300162" y="1289050"/>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5" name="Freeform 15"/>
              <p:cNvSpPr/>
              <p:nvPr/>
            </p:nvSpPr>
            <p:spPr>
              <a:xfrm>
                <a:off x="1308100" y="1289050"/>
                <a:ext cx="127000" cy="95250"/>
              </a:xfrm>
              <a:custGeom>
                <a:avLst/>
                <a:gdLst/>
                <a:ahLst/>
                <a:cxnLst/>
                <a:rect l="l" t="t" r="r" b="b"/>
                <a:pathLst>
                  <a:path w="127000" h="95250">
                    <a:moveTo>
                      <a:pt x="0" y="0"/>
                    </a:moveTo>
                    <a:lnTo>
                      <a:pt x="0" y="79375"/>
                    </a:lnTo>
                    <a:cubicBezTo>
                      <a:pt x="0" y="88142"/>
                      <a:pt x="7107" y="95250"/>
                      <a:pt x="15875" y="95250"/>
                    </a:cubicBezTo>
                    <a:lnTo>
                      <a:pt x="111125" y="95250"/>
                    </a:lnTo>
                    <a:cubicBezTo>
                      <a:pt x="119892" y="95250"/>
                      <a:pt x="127000" y="88142"/>
                      <a:pt x="127000" y="79375"/>
                    </a:cubicBezTo>
                    <a:lnTo>
                      <a:pt x="127000" y="0"/>
                    </a:lnTo>
                  </a:path>
                </a:pathLst>
              </a:custGeom>
              <a:noFill/>
              <a:ln w="15875">
                <a:solidFill>
                  <a:srgbClr val="FFFFFF"/>
                </a:solidFill>
              </a:ln>
            </p:spPr>
          </p:sp>
          <p:sp>
            <p:nvSpPr>
              <p:cNvPr id="16" name="Freeform 16"/>
              <p:cNvSpPr/>
              <p:nvPr/>
            </p:nvSpPr>
            <p:spPr>
              <a:xfrm>
                <a:off x="1371600" y="1384300"/>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7" name="Freeform 17"/>
              <p:cNvSpPr/>
              <p:nvPr/>
            </p:nvSpPr>
            <p:spPr>
              <a:xfrm>
                <a:off x="1347787" y="1416050"/>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18" name="Freeform 18"/>
              <p:cNvSpPr/>
              <p:nvPr/>
            </p:nvSpPr>
            <p:spPr>
              <a:xfrm>
                <a:off x="1339850" y="1320800"/>
                <a:ext cx="63500" cy="31750"/>
              </a:xfrm>
              <a:custGeom>
                <a:avLst/>
                <a:gdLst/>
                <a:ahLst/>
                <a:cxnLst/>
                <a:rect l="l" t="t" r="r" b="b"/>
                <a:pathLst>
                  <a:path w="63500" h="31750">
                    <a:moveTo>
                      <a:pt x="0" y="31750"/>
                    </a:moveTo>
                    <a:lnTo>
                      <a:pt x="23812" y="7937"/>
                    </a:lnTo>
                    <a:lnTo>
                      <a:pt x="39687" y="23812"/>
                    </a:lnTo>
                    <a:lnTo>
                      <a:pt x="63500" y="0"/>
                    </a:lnTo>
                  </a:path>
                </a:pathLst>
              </a:custGeom>
              <a:noFill/>
              <a:ln w="15875">
                <a:solidFill>
                  <a:srgbClr val="FFFFFF"/>
                </a:solidFill>
              </a:ln>
            </p:spPr>
          </p:sp>
        </p:grpSp>
        <p:sp>
          <p:nvSpPr>
            <p:cNvPr id="20" name="TextBox 20"/>
            <p:cNvSpPr txBox="1"/>
            <p:nvPr/>
          </p:nvSpPr>
          <p:spPr>
            <a:xfrm>
              <a:off x="1556956" y="1300401"/>
              <a:ext cx="826084"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为展示而立项</a:t>
              </a:r>
            </a:p>
          </p:txBody>
        </p:sp>
        <p:sp>
          <p:nvSpPr>
            <p:cNvPr id="21" name="Line 21"/>
            <p:cNvSpPr/>
            <p:nvPr/>
          </p:nvSpPr>
          <p:spPr>
            <a:xfrm>
              <a:off x="3190875" y="1352550"/>
              <a:ext cx="47625" cy="9525"/>
            </a:xfrm>
            <a:custGeom>
              <a:avLst/>
              <a:gdLst/>
              <a:ahLst/>
              <a:cxnLst/>
              <a:rect l="l" t="t" r="r" b="b"/>
              <a:pathLst>
                <a:path w="47625" h="9525">
                  <a:moveTo>
                    <a:pt x="0" y="0"/>
                  </a:moveTo>
                  <a:lnTo>
                    <a:pt x="47625" y="0"/>
                  </a:lnTo>
                </a:path>
              </a:pathLst>
            </a:custGeom>
            <a:noFill/>
            <a:ln w="9525">
              <a:solidFill>
                <a:srgbClr val="ECB3A8"/>
              </a:solidFill>
              <a:custDash>
                <a:ds d="300000" sp="300000"/>
              </a:custDash>
            </a:ln>
          </p:spPr>
        </p:sp>
        <p:sp>
          <p:nvSpPr>
            <p:cNvPr id="22" name="Rectangle 22"/>
            <p:cNvSpPr/>
            <p:nvPr/>
          </p:nvSpPr>
          <p:spPr>
            <a:xfrm>
              <a:off x="742950" y="1752600"/>
              <a:ext cx="2324100" cy="571500"/>
            </a:xfrm>
            <a:prstGeom prst="roundRect">
              <a:avLst>
                <a:gd name="adj" fmla="val 13333"/>
              </a:avLst>
            </a:prstGeom>
            <a:solidFill>
              <a:srgbClr val="6F2516"/>
            </a:solidFill>
            <a:ln>
              <a:noFill/>
            </a:ln>
          </p:spPr>
        </p:sp>
        <p:grpSp>
          <p:nvGrpSpPr>
            <p:cNvPr id="26" name="Group 26"/>
            <p:cNvGrpSpPr/>
            <p:nvPr/>
          </p:nvGrpSpPr>
          <p:grpSpPr>
            <a:xfrm>
              <a:off x="1308100" y="1966912"/>
              <a:ext cx="127000" cy="142875"/>
              <a:chOff x="1308100" y="1966912"/>
              <a:chExt cx="127000" cy="142875"/>
            </a:xfrm>
          </p:grpSpPr>
          <p:sp>
            <p:nvSpPr>
              <p:cNvPr id="23" name="Freeform 23"/>
              <p:cNvSpPr/>
              <p:nvPr/>
            </p:nvSpPr>
            <p:spPr>
              <a:xfrm>
                <a:off x="1308100" y="19669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FFFFFF"/>
                </a:solidFill>
              </a:ln>
            </p:spPr>
          </p:sp>
          <p:sp>
            <p:nvSpPr>
              <p:cNvPr id="24" name="Freeform 24"/>
              <p:cNvSpPr/>
              <p:nvPr/>
            </p:nvSpPr>
            <p:spPr>
              <a:xfrm>
                <a:off x="1308100" y="19907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sp>
            <p:nvSpPr>
              <p:cNvPr id="25" name="Freeform 25"/>
              <p:cNvSpPr/>
              <p:nvPr/>
            </p:nvSpPr>
            <p:spPr>
              <a:xfrm>
                <a:off x="1308100" y="20383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grpSp>
        <p:sp>
          <p:nvSpPr>
            <p:cNvPr id="27" name="TextBox 27"/>
            <p:cNvSpPr txBox="1"/>
            <p:nvPr/>
          </p:nvSpPr>
          <p:spPr>
            <a:xfrm>
              <a:off x="1556956" y="1986201"/>
              <a:ext cx="690118"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数据不可用</a:t>
              </a:r>
            </a:p>
          </p:txBody>
        </p:sp>
        <p:sp>
          <p:nvSpPr>
            <p:cNvPr id="28" name="Line 28"/>
            <p:cNvSpPr/>
            <p:nvPr/>
          </p:nvSpPr>
          <p:spPr>
            <a:xfrm>
              <a:off x="3067050" y="2038350"/>
              <a:ext cx="171450" cy="9525"/>
            </a:xfrm>
            <a:custGeom>
              <a:avLst/>
              <a:gdLst/>
              <a:ahLst/>
              <a:cxnLst/>
              <a:rect l="l" t="t" r="r" b="b"/>
              <a:pathLst>
                <a:path w="171450" h="9525">
                  <a:moveTo>
                    <a:pt x="0" y="0"/>
                  </a:moveTo>
                  <a:lnTo>
                    <a:pt x="171450" y="0"/>
                  </a:lnTo>
                </a:path>
              </a:pathLst>
            </a:custGeom>
            <a:noFill/>
            <a:ln w="9525">
              <a:solidFill>
                <a:srgbClr val="ECB3A8"/>
              </a:solidFill>
              <a:custDash>
                <a:ds d="300000" sp="300000"/>
              </a:custDash>
            </a:ln>
          </p:spPr>
        </p:sp>
        <p:sp>
          <p:nvSpPr>
            <p:cNvPr id="29" name="Rectangle 29"/>
            <p:cNvSpPr/>
            <p:nvPr/>
          </p:nvSpPr>
          <p:spPr>
            <a:xfrm>
              <a:off x="866775" y="2438400"/>
              <a:ext cx="2076450" cy="571500"/>
            </a:xfrm>
            <a:prstGeom prst="roundRect">
              <a:avLst>
                <a:gd name="adj" fmla="val 13333"/>
              </a:avLst>
            </a:prstGeom>
            <a:solidFill>
              <a:srgbClr val="9C331E"/>
            </a:solidFill>
            <a:ln>
              <a:noFill/>
            </a:ln>
          </p:spPr>
        </p:sp>
        <p:grpSp>
          <p:nvGrpSpPr>
            <p:cNvPr id="32" name="Group 32"/>
            <p:cNvGrpSpPr/>
            <p:nvPr/>
          </p:nvGrpSpPr>
          <p:grpSpPr>
            <a:xfrm>
              <a:off x="1296678" y="2649228"/>
              <a:ext cx="149844" cy="149844"/>
              <a:chOff x="1296678" y="2649228"/>
              <a:chExt cx="149844" cy="149844"/>
            </a:xfrm>
          </p:grpSpPr>
          <p:sp>
            <p:nvSpPr>
              <p:cNvPr id="30" name="Freeform 30"/>
              <p:cNvSpPr/>
              <p:nvPr/>
            </p:nvSpPr>
            <p:spPr>
              <a:xfrm>
                <a:off x="1296678" y="264922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31" name="Freeform 31"/>
              <p:cNvSpPr/>
              <p:nvPr/>
            </p:nvSpPr>
            <p:spPr>
              <a:xfrm>
                <a:off x="1347787" y="270033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33" name="TextBox 33"/>
            <p:cNvSpPr txBox="1"/>
            <p:nvPr/>
          </p:nvSpPr>
          <p:spPr>
            <a:xfrm>
              <a:off x="1556956" y="2672001"/>
              <a:ext cx="690118"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系统接不进</a:t>
              </a:r>
            </a:p>
          </p:txBody>
        </p:sp>
        <p:sp>
          <p:nvSpPr>
            <p:cNvPr id="34" name="Line 34"/>
            <p:cNvSpPr/>
            <p:nvPr/>
          </p:nvSpPr>
          <p:spPr>
            <a:xfrm>
              <a:off x="2943225" y="2724150"/>
              <a:ext cx="295275" cy="9525"/>
            </a:xfrm>
            <a:custGeom>
              <a:avLst/>
              <a:gdLst/>
              <a:ahLst/>
              <a:cxnLst/>
              <a:rect l="l" t="t" r="r" b="b"/>
              <a:pathLst>
                <a:path w="295275" h="9525">
                  <a:moveTo>
                    <a:pt x="0" y="0"/>
                  </a:moveTo>
                  <a:lnTo>
                    <a:pt x="295275" y="0"/>
                  </a:lnTo>
                </a:path>
              </a:pathLst>
            </a:custGeom>
            <a:noFill/>
            <a:ln w="9525">
              <a:solidFill>
                <a:srgbClr val="ECB3A8"/>
              </a:solidFill>
              <a:custDash>
                <a:ds d="300000" sp="300000"/>
              </a:custDash>
            </a:ln>
          </p:spPr>
        </p:sp>
        <p:sp>
          <p:nvSpPr>
            <p:cNvPr id="35" name="Rectangle 35"/>
            <p:cNvSpPr/>
            <p:nvPr/>
          </p:nvSpPr>
          <p:spPr>
            <a:xfrm>
              <a:off x="990600" y="3124200"/>
              <a:ext cx="1828800" cy="571500"/>
            </a:xfrm>
            <a:prstGeom prst="roundRect">
              <a:avLst>
                <a:gd name="adj" fmla="val 13333"/>
              </a:avLst>
            </a:prstGeom>
            <a:solidFill>
              <a:srgbClr val="B53C23"/>
            </a:solidFill>
            <a:ln>
              <a:noFill/>
            </a:ln>
          </p:spPr>
        </p:sp>
        <p:grpSp>
          <p:nvGrpSpPr>
            <p:cNvPr id="39" name="Group 39"/>
            <p:cNvGrpSpPr/>
            <p:nvPr/>
          </p:nvGrpSpPr>
          <p:grpSpPr>
            <a:xfrm>
              <a:off x="1291549" y="3335875"/>
              <a:ext cx="160095" cy="137543"/>
              <a:chOff x="1291549" y="3335875"/>
              <a:chExt cx="160095" cy="137543"/>
            </a:xfrm>
          </p:grpSpPr>
          <p:sp>
            <p:nvSpPr>
              <p:cNvPr id="36" name="Freeform 36"/>
              <p:cNvSpPr/>
              <p:nvPr/>
            </p:nvSpPr>
            <p:spPr>
              <a:xfrm>
                <a:off x="1371600" y="3386137"/>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37" name="Freeform 37"/>
              <p:cNvSpPr/>
              <p:nvPr/>
            </p:nvSpPr>
            <p:spPr>
              <a:xfrm>
                <a:off x="1291549" y="333587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FFFFFF"/>
                </a:solidFill>
              </a:ln>
            </p:spPr>
          </p:sp>
          <p:sp>
            <p:nvSpPr>
              <p:cNvPr id="38" name="Freeform 38"/>
              <p:cNvSpPr/>
              <p:nvPr/>
            </p:nvSpPr>
            <p:spPr>
              <a:xfrm>
                <a:off x="1371600" y="3441700"/>
                <a:ext cx="9525" cy="9525"/>
              </a:xfrm>
              <a:custGeom>
                <a:avLst/>
                <a:gdLst/>
                <a:ahLst/>
                <a:cxnLst/>
                <a:rect l="l" t="t" r="r" b="b"/>
                <a:pathLst>
                  <a:path w="9525" h="9525">
                    <a:moveTo>
                      <a:pt x="0" y="0"/>
                    </a:moveTo>
                    <a:lnTo>
                      <a:pt x="79" y="0"/>
                    </a:lnTo>
                  </a:path>
                </a:pathLst>
              </a:custGeom>
              <a:noFill/>
              <a:ln w="15875">
                <a:solidFill>
                  <a:srgbClr val="FFFFFF"/>
                </a:solidFill>
              </a:ln>
            </p:spPr>
          </p:sp>
        </p:grpSp>
        <p:sp>
          <p:nvSpPr>
            <p:cNvPr id="40" name="TextBox 40"/>
            <p:cNvSpPr txBox="1"/>
            <p:nvPr/>
          </p:nvSpPr>
          <p:spPr>
            <a:xfrm>
              <a:off x="1556956" y="3357801"/>
              <a:ext cx="690118"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误报漏报高</a:t>
              </a:r>
            </a:p>
          </p:txBody>
        </p:sp>
        <p:sp>
          <p:nvSpPr>
            <p:cNvPr id="41" name="Line 41"/>
            <p:cNvSpPr/>
            <p:nvPr/>
          </p:nvSpPr>
          <p:spPr>
            <a:xfrm>
              <a:off x="2819400" y="3409950"/>
              <a:ext cx="419100" cy="9525"/>
            </a:xfrm>
            <a:custGeom>
              <a:avLst/>
              <a:gdLst/>
              <a:ahLst/>
              <a:cxnLst/>
              <a:rect l="l" t="t" r="r" b="b"/>
              <a:pathLst>
                <a:path w="419100" h="9525">
                  <a:moveTo>
                    <a:pt x="0" y="0"/>
                  </a:moveTo>
                  <a:lnTo>
                    <a:pt x="419100" y="0"/>
                  </a:lnTo>
                </a:path>
              </a:pathLst>
            </a:custGeom>
            <a:noFill/>
            <a:ln w="9525">
              <a:solidFill>
                <a:srgbClr val="ECB3A8"/>
              </a:solidFill>
              <a:custDash>
                <a:ds d="300000" sp="300000"/>
              </a:custDash>
            </a:ln>
          </p:spPr>
        </p:sp>
        <p:sp>
          <p:nvSpPr>
            <p:cNvPr id="42" name="Rectangle 42"/>
            <p:cNvSpPr/>
            <p:nvPr/>
          </p:nvSpPr>
          <p:spPr>
            <a:xfrm>
              <a:off x="1114425" y="3810000"/>
              <a:ext cx="1581150" cy="571500"/>
            </a:xfrm>
            <a:prstGeom prst="roundRect">
              <a:avLst>
                <a:gd name="adj" fmla="val 13333"/>
              </a:avLst>
            </a:prstGeom>
            <a:solidFill>
              <a:srgbClr val="D64A2E"/>
            </a:solidFill>
            <a:ln>
              <a:noFill/>
            </a:ln>
          </p:spPr>
        </p:sp>
        <p:grpSp>
          <p:nvGrpSpPr>
            <p:cNvPr id="48" name="Group 48"/>
            <p:cNvGrpSpPr/>
            <p:nvPr/>
          </p:nvGrpSpPr>
          <p:grpSpPr>
            <a:xfrm>
              <a:off x="1300162" y="4024312"/>
              <a:ext cx="142875" cy="142875"/>
              <a:chOff x="1300162" y="4024312"/>
              <a:chExt cx="142875" cy="142875"/>
            </a:xfrm>
          </p:grpSpPr>
          <p:sp>
            <p:nvSpPr>
              <p:cNvPr id="43" name="Freeform 43"/>
              <p:cNvSpPr/>
              <p:nvPr/>
            </p:nvSpPr>
            <p:spPr>
              <a:xfrm>
                <a:off x="1300162" y="4119562"/>
                <a:ext cx="47625" cy="47625"/>
              </a:xfrm>
              <a:custGeom>
                <a:avLst/>
                <a:gdLst/>
                <a:ahLst/>
                <a:cxnLst/>
                <a:rect l="l" t="t" r="r" b="b"/>
                <a:pathLst>
                  <a:path w="47625" h="47625">
                    <a:moveTo>
                      <a:pt x="0" y="15875"/>
                    </a:moveTo>
                    <a:cubicBezTo>
                      <a:pt x="0" y="7107"/>
                      <a:pt x="7107" y="0"/>
                      <a:pt x="15875" y="0"/>
                    </a:cubicBezTo>
                    <a:lnTo>
                      <a:pt x="31750" y="0"/>
                    </a:lnTo>
                    <a:cubicBezTo>
                      <a:pt x="40518" y="0"/>
                      <a:pt x="47625" y="7107"/>
                      <a:pt x="47625" y="15875"/>
                    </a:cubicBezTo>
                    <a:lnTo>
                      <a:pt x="47625" y="31750"/>
                    </a:lnTo>
                    <a:cubicBezTo>
                      <a:pt x="47625" y="40518"/>
                      <a:pt x="40518" y="47625"/>
                      <a:pt x="31750" y="47625"/>
                    </a:cubicBezTo>
                    <a:lnTo>
                      <a:pt x="15875" y="47625"/>
                    </a:lnTo>
                    <a:cubicBezTo>
                      <a:pt x="7107" y="47625"/>
                      <a:pt x="0" y="40518"/>
                      <a:pt x="0" y="31750"/>
                    </a:cubicBezTo>
                    <a:lnTo>
                      <a:pt x="0" y="15875"/>
                    </a:lnTo>
                  </a:path>
                </a:pathLst>
              </a:custGeom>
              <a:noFill/>
              <a:ln w="15875">
                <a:solidFill>
                  <a:srgbClr val="FFFFFF"/>
                </a:solidFill>
              </a:ln>
            </p:spPr>
          </p:sp>
          <p:sp>
            <p:nvSpPr>
              <p:cNvPr id="44" name="Freeform 44"/>
              <p:cNvSpPr/>
              <p:nvPr/>
            </p:nvSpPr>
            <p:spPr>
              <a:xfrm>
                <a:off x="1395412" y="4119562"/>
                <a:ext cx="47625" cy="47625"/>
              </a:xfrm>
              <a:custGeom>
                <a:avLst/>
                <a:gdLst/>
                <a:ahLst/>
                <a:cxnLst/>
                <a:rect l="l" t="t" r="r" b="b"/>
                <a:pathLst>
                  <a:path w="47625" h="47625">
                    <a:moveTo>
                      <a:pt x="0" y="15875"/>
                    </a:moveTo>
                    <a:cubicBezTo>
                      <a:pt x="0" y="7107"/>
                      <a:pt x="7107" y="0"/>
                      <a:pt x="15875" y="0"/>
                    </a:cubicBezTo>
                    <a:lnTo>
                      <a:pt x="31750" y="0"/>
                    </a:lnTo>
                    <a:cubicBezTo>
                      <a:pt x="40518" y="0"/>
                      <a:pt x="47625" y="7107"/>
                      <a:pt x="47625" y="15875"/>
                    </a:cubicBezTo>
                    <a:lnTo>
                      <a:pt x="47625" y="31750"/>
                    </a:lnTo>
                    <a:cubicBezTo>
                      <a:pt x="47625" y="40518"/>
                      <a:pt x="40518" y="47625"/>
                      <a:pt x="31750" y="47625"/>
                    </a:cubicBezTo>
                    <a:lnTo>
                      <a:pt x="15875" y="47625"/>
                    </a:lnTo>
                    <a:cubicBezTo>
                      <a:pt x="7107" y="47625"/>
                      <a:pt x="0" y="40518"/>
                      <a:pt x="0" y="31750"/>
                    </a:cubicBezTo>
                    <a:lnTo>
                      <a:pt x="0" y="15875"/>
                    </a:lnTo>
                  </a:path>
                </a:pathLst>
              </a:custGeom>
              <a:noFill/>
              <a:ln w="15875">
                <a:solidFill>
                  <a:srgbClr val="FFFFFF"/>
                </a:solidFill>
              </a:ln>
            </p:spPr>
          </p:sp>
          <p:sp>
            <p:nvSpPr>
              <p:cNvPr id="45" name="Freeform 45"/>
              <p:cNvSpPr/>
              <p:nvPr/>
            </p:nvSpPr>
            <p:spPr>
              <a:xfrm>
                <a:off x="1347787" y="4024312"/>
                <a:ext cx="47625" cy="47625"/>
              </a:xfrm>
              <a:custGeom>
                <a:avLst/>
                <a:gdLst/>
                <a:ahLst/>
                <a:cxnLst/>
                <a:rect l="l" t="t" r="r" b="b"/>
                <a:pathLst>
                  <a:path w="47625" h="47625">
                    <a:moveTo>
                      <a:pt x="0" y="15875"/>
                    </a:moveTo>
                    <a:cubicBezTo>
                      <a:pt x="0" y="7107"/>
                      <a:pt x="7107" y="0"/>
                      <a:pt x="15875" y="0"/>
                    </a:cubicBezTo>
                    <a:lnTo>
                      <a:pt x="31750" y="0"/>
                    </a:lnTo>
                    <a:cubicBezTo>
                      <a:pt x="40518" y="0"/>
                      <a:pt x="47625" y="7107"/>
                      <a:pt x="47625" y="15875"/>
                    </a:cubicBezTo>
                    <a:lnTo>
                      <a:pt x="47625" y="31750"/>
                    </a:lnTo>
                    <a:cubicBezTo>
                      <a:pt x="47625" y="40518"/>
                      <a:pt x="40518" y="47625"/>
                      <a:pt x="31750" y="47625"/>
                    </a:cubicBezTo>
                    <a:lnTo>
                      <a:pt x="15875" y="47625"/>
                    </a:lnTo>
                    <a:cubicBezTo>
                      <a:pt x="7107" y="47625"/>
                      <a:pt x="0" y="40518"/>
                      <a:pt x="0" y="31750"/>
                    </a:cubicBezTo>
                    <a:lnTo>
                      <a:pt x="0" y="15875"/>
                    </a:lnTo>
                  </a:path>
                </a:pathLst>
              </a:custGeom>
              <a:noFill/>
              <a:ln w="15875">
                <a:solidFill>
                  <a:srgbClr val="FFFFFF"/>
                </a:solidFill>
              </a:ln>
            </p:spPr>
          </p:sp>
          <p:sp>
            <p:nvSpPr>
              <p:cNvPr id="46" name="Freeform 46"/>
              <p:cNvSpPr/>
              <p:nvPr/>
            </p:nvSpPr>
            <p:spPr>
              <a:xfrm>
                <a:off x="1323975" y="4095750"/>
                <a:ext cx="95250" cy="23812"/>
              </a:xfrm>
              <a:custGeom>
                <a:avLst/>
                <a:gdLst/>
                <a:ahLst/>
                <a:cxnLst/>
                <a:rect l="l" t="t" r="r" b="b"/>
                <a:pathLst>
                  <a:path w="95250" h="23812">
                    <a:moveTo>
                      <a:pt x="0" y="23812"/>
                    </a:moveTo>
                    <a:lnTo>
                      <a:pt x="0" y="15875"/>
                    </a:lnTo>
                    <a:cubicBezTo>
                      <a:pt x="0" y="7107"/>
                      <a:pt x="7107" y="0"/>
                      <a:pt x="15875" y="0"/>
                    </a:cubicBezTo>
                    <a:lnTo>
                      <a:pt x="79375" y="0"/>
                    </a:lnTo>
                    <a:cubicBezTo>
                      <a:pt x="88142" y="0"/>
                      <a:pt x="95250" y="7107"/>
                      <a:pt x="95250" y="15875"/>
                    </a:cubicBezTo>
                    <a:lnTo>
                      <a:pt x="95250" y="23812"/>
                    </a:lnTo>
                  </a:path>
                </a:pathLst>
              </a:custGeom>
              <a:noFill/>
              <a:ln w="15875">
                <a:solidFill>
                  <a:srgbClr val="FFFFFF"/>
                </a:solidFill>
              </a:ln>
            </p:spPr>
          </p:sp>
          <p:sp>
            <p:nvSpPr>
              <p:cNvPr id="47" name="Freeform 47"/>
              <p:cNvSpPr/>
              <p:nvPr/>
            </p:nvSpPr>
            <p:spPr>
              <a:xfrm>
                <a:off x="1371600" y="4071937"/>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49" name="TextBox 49"/>
            <p:cNvSpPr txBox="1"/>
            <p:nvPr/>
          </p:nvSpPr>
          <p:spPr>
            <a:xfrm>
              <a:off x="1556956" y="4043601"/>
              <a:ext cx="690118"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流程未重构</a:t>
              </a:r>
            </a:p>
          </p:txBody>
        </p:sp>
        <p:sp>
          <p:nvSpPr>
            <p:cNvPr id="50" name="Line 50"/>
            <p:cNvSpPr/>
            <p:nvPr/>
          </p:nvSpPr>
          <p:spPr>
            <a:xfrm>
              <a:off x="2695575" y="4095750"/>
              <a:ext cx="542925" cy="9525"/>
            </a:xfrm>
            <a:custGeom>
              <a:avLst/>
              <a:gdLst/>
              <a:ahLst/>
              <a:cxnLst/>
              <a:rect l="l" t="t" r="r" b="b"/>
              <a:pathLst>
                <a:path w="542925" h="9525">
                  <a:moveTo>
                    <a:pt x="0" y="0"/>
                  </a:moveTo>
                  <a:lnTo>
                    <a:pt x="542925" y="0"/>
                  </a:lnTo>
                </a:path>
              </a:pathLst>
            </a:custGeom>
            <a:noFill/>
            <a:ln w="9525">
              <a:solidFill>
                <a:srgbClr val="ECB3A8"/>
              </a:solidFill>
              <a:custDash>
                <a:ds d="300000" sp="300000"/>
              </a:custDash>
            </a:ln>
          </p:spPr>
        </p:sp>
        <p:sp>
          <p:nvSpPr>
            <p:cNvPr id="51" name="Rectangle 51"/>
            <p:cNvSpPr/>
            <p:nvPr/>
          </p:nvSpPr>
          <p:spPr>
            <a:xfrm>
              <a:off x="1238250" y="4495800"/>
              <a:ext cx="1333500" cy="571500"/>
            </a:xfrm>
            <a:prstGeom prst="roundRect">
              <a:avLst>
                <a:gd name="adj" fmla="val 13333"/>
              </a:avLst>
            </a:prstGeom>
            <a:solidFill>
              <a:srgbClr val="DE715B"/>
            </a:solidFill>
            <a:ln>
              <a:noFill/>
            </a:ln>
          </p:spPr>
        </p:sp>
        <p:grpSp>
          <p:nvGrpSpPr>
            <p:cNvPr id="56" name="Group 56"/>
            <p:cNvGrpSpPr/>
            <p:nvPr/>
          </p:nvGrpSpPr>
          <p:grpSpPr>
            <a:xfrm>
              <a:off x="1335881" y="4707731"/>
              <a:ext cx="128588" cy="128588"/>
              <a:chOff x="1335881" y="4707731"/>
              <a:chExt cx="128588" cy="128588"/>
            </a:xfrm>
          </p:grpSpPr>
          <p:sp>
            <p:nvSpPr>
              <p:cNvPr id="52" name="Freeform 52"/>
              <p:cNvSpPr/>
              <p:nvPr/>
            </p:nvSpPr>
            <p:spPr>
              <a:xfrm>
                <a:off x="1350169" y="47077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53" name="Freeform 53"/>
              <p:cNvSpPr/>
              <p:nvPr/>
            </p:nvSpPr>
            <p:spPr>
              <a:xfrm>
                <a:off x="1335881" y="47934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54" name="Freeform 54"/>
              <p:cNvSpPr/>
              <p:nvPr/>
            </p:nvSpPr>
            <p:spPr>
              <a:xfrm>
                <a:off x="1428750" y="47086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55" name="Freeform 55"/>
              <p:cNvSpPr/>
              <p:nvPr/>
            </p:nvSpPr>
            <p:spPr>
              <a:xfrm>
                <a:off x="1443038" y="47945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57" name="TextBox 57"/>
            <p:cNvSpPr txBox="1"/>
            <p:nvPr/>
          </p:nvSpPr>
          <p:spPr>
            <a:xfrm>
              <a:off x="1538288" y="4727972"/>
              <a:ext cx="768782"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责任边界不清</a:t>
              </a:r>
            </a:p>
          </p:txBody>
        </p:sp>
        <p:sp>
          <p:nvSpPr>
            <p:cNvPr id="58" name="Line 58"/>
            <p:cNvSpPr/>
            <p:nvPr/>
          </p:nvSpPr>
          <p:spPr>
            <a:xfrm>
              <a:off x="2571750" y="4781550"/>
              <a:ext cx="666750" cy="9525"/>
            </a:xfrm>
            <a:custGeom>
              <a:avLst/>
              <a:gdLst/>
              <a:ahLst/>
              <a:cxnLst/>
              <a:rect l="l" t="t" r="r" b="b"/>
              <a:pathLst>
                <a:path w="666750" h="9525">
                  <a:moveTo>
                    <a:pt x="0" y="0"/>
                  </a:moveTo>
                  <a:lnTo>
                    <a:pt x="666750" y="0"/>
                  </a:lnTo>
                </a:path>
              </a:pathLst>
            </a:custGeom>
            <a:noFill/>
            <a:ln w="9525">
              <a:solidFill>
                <a:srgbClr val="ECB3A8"/>
              </a:solidFill>
              <a:custDash>
                <a:ds d="300000" sp="300000"/>
              </a:custDash>
            </a:ln>
          </p:spPr>
        </p:sp>
      </p:grpSp>
      <p:grpSp>
        <p:nvGrpSpPr>
          <p:cNvPr id="62" name="col-heads"/>
          <p:cNvGrpSpPr/>
          <p:nvPr/>
        </p:nvGrpSpPr>
        <p:grpSpPr>
          <a:xfrm>
            <a:off x="4413136" y="920591"/>
            <a:ext cx="3213329" cy="161925"/>
            <a:chOff x="4413136" y="920591"/>
            <a:chExt cx="3213329" cy="161925"/>
          </a:xfrm>
        </p:grpSpPr>
        <p:sp>
          <p:nvSpPr>
            <p:cNvPr id="60" name="TextBox 60"/>
            <p:cNvSpPr txBox="1"/>
            <p:nvPr/>
          </p:nvSpPr>
          <p:spPr>
            <a:xfrm>
              <a:off x="4413136" y="920591"/>
              <a:ext cx="451079" cy="161925"/>
            </a:xfrm>
            <a:prstGeom prst="rect">
              <a:avLst/>
            </a:prstGeom>
            <a:noFill/>
            <a:ln>
              <a:noFill/>
            </a:ln>
          </p:spPr>
          <p:txBody>
            <a:bodyPr wrap="none" lIns="0" tIns="0" rIns="0" bIns="0" anchor="t" anchorCtr="0">
              <a:spAutoFit/>
            </a:bodyPr>
            <a:lstStyle/>
            <a:p>
              <a:pPr algn="ctr"/>
              <a:r>
                <a:rPr lang="zh-CN" sz="820" b="1" dirty="0">
                  <a:solidFill>
                    <a:srgbClr val="5E2114"/>
                  </a:solidFill>
                  <a:latin typeface="+mn-lt"/>
                  <a:ea typeface="+mn-ea"/>
                  <a:cs typeface="+mn-cs"/>
                </a:rPr>
                <a:t>典型症状</a:t>
              </a:r>
            </a:p>
          </p:txBody>
        </p:sp>
        <p:sp>
          <p:nvSpPr>
            <p:cNvPr id="61" name="TextBox 61"/>
            <p:cNvSpPr txBox="1"/>
            <p:nvPr/>
          </p:nvSpPr>
          <p:spPr>
            <a:xfrm>
              <a:off x="7175386" y="920591"/>
              <a:ext cx="451079" cy="161925"/>
            </a:xfrm>
            <a:prstGeom prst="rect">
              <a:avLst/>
            </a:prstGeom>
            <a:noFill/>
            <a:ln>
              <a:noFill/>
            </a:ln>
          </p:spPr>
          <p:txBody>
            <a:bodyPr wrap="none" lIns="0" tIns="0" rIns="0" bIns="0" anchor="t" anchorCtr="0">
              <a:spAutoFit/>
            </a:bodyPr>
            <a:lstStyle/>
            <a:p>
              <a:pPr algn="ctr"/>
              <a:r>
                <a:rPr lang="zh-CN" sz="820" b="1" dirty="0">
                  <a:solidFill>
                    <a:srgbClr val="5E2114"/>
                  </a:solidFill>
                  <a:latin typeface="+mn-lt"/>
                  <a:ea typeface="+mn-ea"/>
                  <a:cs typeface="+mn-cs"/>
                </a:rPr>
                <a:t>纠偏举措</a:t>
              </a:r>
            </a:p>
          </p:txBody>
        </p:sp>
      </p:grpSp>
      <p:grpSp>
        <p:nvGrpSpPr>
          <p:cNvPr id="69" name="row-1"/>
          <p:cNvGrpSpPr/>
          <p:nvPr/>
        </p:nvGrpSpPr>
        <p:grpSpPr>
          <a:xfrm>
            <a:off x="3352800" y="1066800"/>
            <a:ext cx="5334000" cy="571500"/>
            <a:chOff x="3352800" y="1066800"/>
            <a:chExt cx="5334000" cy="571500"/>
          </a:xfrm>
        </p:grpSpPr>
        <p:sp>
          <p:nvSpPr>
            <p:cNvPr id="63" name="Rectangle 63"/>
            <p:cNvSpPr/>
            <p:nvPr/>
          </p:nvSpPr>
          <p:spPr>
            <a:xfrm>
              <a:off x="3352800" y="1066800"/>
              <a:ext cx="2571750" cy="571500"/>
            </a:xfrm>
            <a:prstGeom prst="roundRect">
              <a:avLst>
                <a:gd name="adj" fmla="val 6667"/>
              </a:avLst>
            </a:prstGeom>
            <a:solidFill>
              <a:srgbClr val="FFFFFF"/>
            </a:solidFill>
            <a:ln w="9525">
              <a:solidFill>
                <a:srgbClr val="C7D9F0"/>
              </a:solidFill>
            </a:ln>
          </p:spPr>
        </p:sp>
        <p:sp>
          <p:nvSpPr>
            <p:cNvPr id="64" name="Rectangle 64"/>
            <p:cNvSpPr/>
            <p:nvPr/>
          </p:nvSpPr>
          <p:spPr>
            <a:xfrm>
              <a:off x="3352800" y="1066800"/>
              <a:ext cx="28575" cy="571500"/>
            </a:xfrm>
            <a:prstGeom prst="rect">
              <a:avLst/>
            </a:prstGeom>
            <a:solidFill>
              <a:srgbClr val="9C331E"/>
            </a:solidFill>
            <a:ln>
              <a:noFill/>
            </a:ln>
          </p:spPr>
        </p:sp>
        <p:sp>
          <p:nvSpPr>
            <p:cNvPr id="65" name="TextBox 65"/>
            <p:cNvSpPr txBox="1"/>
            <p:nvPr/>
          </p:nvSpPr>
          <p:spPr>
            <a:xfrm>
              <a:off x="3481388" y="1228011"/>
              <a:ext cx="123132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73F3A"/>
                  </a:solidFill>
                  <a:latin typeface="+mn-lt"/>
                  <a:ea typeface="+mn-ea"/>
                  <a:cs typeface="+mn-cs"/>
                </a:rPr>
                <a:t>以参观、汇报为主要目标，</a:t>
              </a:r>
              <a:br/>
              <a:r>
                <a:rPr lang="zh-CN" sz="710" dirty="0">
                  <a:solidFill>
                    <a:srgbClr val="573F3A"/>
                  </a:solidFill>
                  <a:latin typeface="+mn-lt"/>
                  <a:ea typeface="+mn-ea"/>
                  <a:cs typeface="+mn-cs"/>
                </a:rPr>
                <a:t>场景选择脱离实际业务痛点。​</a:t>
              </a:r>
            </a:p>
          </p:txBody>
        </p:sp>
        <p:sp>
          <p:nvSpPr>
            <p:cNvPr id="66" name="Line 66"/>
            <p:cNvSpPr/>
            <p:nvPr/>
          </p:nvSpPr>
          <p:spPr>
            <a:xfrm>
              <a:off x="5962650" y="1352550"/>
              <a:ext cx="114300" cy="1"/>
            </a:xfrm>
            <a:prstGeom prst="line">
              <a:avLst/>
            </a:prstGeom>
            <a:noFill/>
            <a:ln w="14288">
              <a:solidFill>
                <a:srgbClr val="9C331E"/>
              </a:solidFill>
              <a:tailEnd type="triangle" w="lg" len="lg"/>
            </a:ln>
          </p:spPr>
        </p:sp>
        <p:sp>
          <p:nvSpPr>
            <p:cNvPr id="67" name="Rectangle 67"/>
            <p:cNvSpPr/>
            <p:nvPr/>
          </p:nvSpPr>
          <p:spPr>
            <a:xfrm>
              <a:off x="6115050" y="1066800"/>
              <a:ext cx="2571750" cy="571500"/>
            </a:xfrm>
            <a:prstGeom prst="roundRect">
              <a:avLst>
                <a:gd name="adj" fmla="val 6667"/>
              </a:avLst>
            </a:prstGeom>
            <a:solidFill>
              <a:srgbClr val="EFF5FC"/>
            </a:solidFill>
            <a:ln w="9525">
              <a:solidFill>
                <a:srgbClr val="C7D9F0"/>
              </a:solidFill>
            </a:ln>
          </p:spPr>
        </p:sp>
        <p:sp>
          <p:nvSpPr>
            <p:cNvPr id="68" name="TextBox 68"/>
            <p:cNvSpPr txBox="1"/>
            <p:nvPr/>
          </p:nvSpPr>
          <p:spPr>
            <a:xfrm>
              <a:off x="6224588" y="1228011"/>
              <a:ext cx="123132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E2114"/>
                  </a:solidFill>
                  <a:latin typeface="+mn-lt"/>
                  <a:ea typeface="+mn-ea"/>
                  <a:cs typeface="+mn-cs"/>
                </a:rPr>
                <a:t>回归业务价值，聚焦高频刚需​</a:t>
              </a:r>
              <a:br/>
              <a:r>
                <a:rPr lang="zh-CN" sz="710" dirty="0">
                  <a:solidFill>
                    <a:srgbClr val="5E2114"/>
                  </a:solidFill>
                  <a:latin typeface="+mn-lt"/>
                  <a:ea typeface="+mn-ea"/>
                  <a:cs typeface="+mn-cs"/>
                </a:rPr>
                <a:t>场景，设立试点阶段目标。</a:t>
              </a:r>
            </a:p>
          </p:txBody>
        </p:sp>
      </p:grpSp>
      <p:grpSp>
        <p:nvGrpSpPr>
          <p:cNvPr id="76" name="row-2"/>
          <p:cNvGrpSpPr/>
          <p:nvPr/>
        </p:nvGrpSpPr>
        <p:grpSpPr>
          <a:xfrm>
            <a:off x="3352800" y="1752600"/>
            <a:ext cx="5334000" cy="571500"/>
            <a:chOff x="3352800" y="1752600"/>
            <a:chExt cx="5334000" cy="571500"/>
          </a:xfrm>
        </p:grpSpPr>
        <p:sp>
          <p:nvSpPr>
            <p:cNvPr id="70" name="Rectangle 70"/>
            <p:cNvSpPr/>
            <p:nvPr/>
          </p:nvSpPr>
          <p:spPr>
            <a:xfrm>
              <a:off x="3352800" y="1752600"/>
              <a:ext cx="2571750" cy="571500"/>
            </a:xfrm>
            <a:prstGeom prst="roundRect">
              <a:avLst>
                <a:gd name="adj" fmla="val 6667"/>
              </a:avLst>
            </a:prstGeom>
            <a:solidFill>
              <a:srgbClr val="FFFFFF"/>
            </a:solidFill>
            <a:ln w="9525">
              <a:solidFill>
                <a:srgbClr val="C7D9F0"/>
              </a:solidFill>
            </a:ln>
          </p:spPr>
        </p:sp>
        <p:sp>
          <p:nvSpPr>
            <p:cNvPr id="71" name="Rectangle 71"/>
            <p:cNvSpPr/>
            <p:nvPr/>
          </p:nvSpPr>
          <p:spPr>
            <a:xfrm>
              <a:off x="3352800" y="1752600"/>
              <a:ext cx="28575" cy="571500"/>
            </a:xfrm>
            <a:prstGeom prst="rect">
              <a:avLst/>
            </a:prstGeom>
            <a:solidFill>
              <a:srgbClr val="9C331E"/>
            </a:solidFill>
            <a:ln>
              <a:noFill/>
            </a:ln>
          </p:spPr>
        </p:sp>
        <p:sp>
          <p:nvSpPr>
            <p:cNvPr id="72" name="TextBox 72"/>
            <p:cNvSpPr txBox="1"/>
            <p:nvPr/>
          </p:nvSpPr>
          <p:spPr>
            <a:xfrm>
              <a:off x="3481388" y="1913811"/>
              <a:ext cx="123132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73F3A"/>
                  </a:solidFill>
                  <a:latin typeface="+mn-lt"/>
                  <a:ea typeface="+mn-ea"/>
                  <a:cs typeface="+mn-cs"/>
                </a:rPr>
                <a:t>数据不完整、不准确、</a:t>
              </a:r>
              <a:br/>
              <a:r>
                <a:rPr lang="zh-CN" sz="710" dirty="0">
                  <a:solidFill>
                    <a:srgbClr val="573F3A"/>
                  </a:solidFill>
                  <a:latin typeface="+mn-lt"/>
                  <a:ea typeface="+mn-ea"/>
                  <a:cs typeface="+mn-cs"/>
                </a:rPr>
                <a:t>更新不及时，难以支撑应用。​</a:t>
              </a:r>
            </a:p>
          </p:txBody>
        </p:sp>
        <p:sp>
          <p:nvSpPr>
            <p:cNvPr id="73" name="Line 73"/>
            <p:cNvSpPr/>
            <p:nvPr/>
          </p:nvSpPr>
          <p:spPr>
            <a:xfrm>
              <a:off x="5962650" y="2038350"/>
              <a:ext cx="114300" cy="1"/>
            </a:xfrm>
            <a:prstGeom prst="line">
              <a:avLst/>
            </a:prstGeom>
            <a:noFill/>
            <a:ln w="14288">
              <a:solidFill>
                <a:srgbClr val="9C331E"/>
              </a:solidFill>
              <a:tailEnd type="triangle" w="lg" len="lg"/>
            </a:ln>
          </p:spPr>
        </p:sp>
        <p:sp>
          <p:nvSpPr>
            <p:cNvPr id="74" name="Rectangle 74"/>
            <p:cNvSpPr/>
            <p:nvPr/>
          </p:nvSpPr>
          <p:spPr>
            <a:xfrm>
              <a:off x="6115050" y="1752600"/>
              <a:ext cx="2571750" cy="571500"/>
            </a:xfrm>
            <a:prstGeom prst="roundRect">
              <a:avLst>
                <a:gd name="adj" fmla="val 6667"/>
              </a:avLst>
            </a:prstGeom>
            <a:solidFill>
              <a:srgbClr val="EFF5FC"/>
            </a:solidFill>
            <a:ln w="9525">
              <a:solidFill>
                <a:srgbClr val="C7D9F0"/>
              </a:solidFill>
            </a:ln>
          </p:spPr>
        </p:sp>
        <p:sp>
          <p:nvSpPr>
            <p:cNvPr id="75" name="TextBox 75"/>
            <p:cNvSpPr txBox="1"/>
            <p:nvPr/>
          </p:nvSpPr>
          <p:spPr>
            <a:xfrm>
              <a:off x="6224588" y="1913811"/>
              <a:ext cx="123132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E2114"/>
                  </a:solidFill>
                  <a:latin typeface="+mn-lt"/>
                  <a:ea typeface="+mn-ea"/>
                  <a:cs typeface="+mn-cs"/>
                </a:rPr>
                <a:t>建立数据治理机制，明确数据​</a:t>
              </a:r>
              <a:br/>
              <a:r>
                <a:rPr lang="zh-CN" sz="710" dirty="0">
                  <a:solidFill>
                    <a:srgbClr val="5E2114"/>
                  </a:solidFill>
                  <a:latin typeface="+mn-lt"/>
                  <a:ea typeface="+mn-ea"/>
                  <a:cs typeface="+mn-cs"/>
                </a:rPr>
                <a:t>标准、质量要求与持续供给。​</a:t>
              </a:r>
            </a:p>
          </p:txBody>
        </p:sp>
      </p:grpSp>
      <p:grpSp>
        <p:nvGrpSpPr>
          <p:cNvPr id="83" name="row-3"/>
          <p:cNvGrpSpPr/>
          <p:nvPr/>
        </p:nvGrpSpPr>
        <p:grpSpPr>
          <a:xfrm>
            <a:off x="3352800" y="2438400"/>
            <a:ext cx="5334000" cy="571500"/>
            <a:chOff x="3352800" y="2438400"/>
            <a:chExt cx="5334000" cy="571500"/>
          </a:xfrm>
        </p:grpSpPr>
        <p:sp>
          <p:nvSpPr>
            <p:cNvPr id="77" name="Rectangle 77"/>
            <p:cNvSpPr/>
            <p:nvPr/>
          </p:nvSpPr>
          <p:spPr>
            <a:xfrm>
              <a:off x="3352800" y="2438400"/>
              <a:ext cx="2571750" cy="571500"/>
            </a:xfrm>
            <a:prstGeom prst="roundRect">
              <a:avLst>
                <a:gd name="adj" fmla="val 6667"/>
              </a:avLst>
            </a:prstGeom>
            <a:solidFill>
              <a:srgbClr val="FFFFFF"/>
            </a:solidFill>
            <a:ln w="9525">
              <a:solidFill>
                <a:srgbClr val="C7D9F0"/>
              </a:solidFill>
            </a:ln>
          </p:spPr>
        </p:sp>
        <p:sp>
          <p:nvSpPr>
            <p:cNvPr id="78" name="Rectangle 78"/>
            <p:cNvSpPr/>
            <p:nvPr/>
          </p:nvSpPr>
          <p:spPr>
            <a:xfrm>
              <a:off x="3352800" y="2438400"/>
              <a:ext cx="28575" cy="571500"/>
            </a:xfrm>
            <a:prstGeom prst="rect">
              <a:avLst/>
            </a:prstGeom>
            <a:solidFill>
              <a:srgbClr val="9C331E"/>
            </a:solidFill>
            <a:ln>
              <a:noFill/>
            </a:ln>
          </p:spPr>
        </p:sp>
        <p:sp>
          <p:nvSpPr>
            <p:cNvPr id="79" name="TextBox 79"/>
            <p:cNvSpPr txBox="1"/>
            <p:nvPr/>
          </p:nvSpPr>
          <p:spPr>
            <a:xfrm>
              <a:off x="3481388" y="2599611"/>
              <a:ext cx="114115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73F3A"/>
                  </a:solidFill>
                  <a:latin typeface="+mn-lt"/>
                  <a:ea typeface="+mn-ea"/>
                  <a:cs typeface="+mn-cs"/>
                </a:rPr>
                <a:t>与现有业务系统接口复杂，​</a:t>
              </a:r>
              <a:br/>
              <a:r>
                <a:rPr lang="zh-CN" sz="710" dirty="0">
                  <a:solidFill>
                    <a:srgbClr val="573F3A"/>
                  </a:solidFill>
                  <a:latin typeface="+mn-lt"/>
                  <a:ea typeface="+mn-ea"/>
                  <a:cs typeface="+mn-cs"/>
                </a:rPr>
                <a:t>改造成本高，推进受阻。</a:t>
              </a:r>
            </a:p>
          </p:txBody>
        </p:sp>
        <p:sp>
          <p:nvSpPr>
            <p:cNvPr id="80" name="Line 80"/>
            <p:cNvSpPr/>
            <p:nvPr/>
          </p:nvSpPr>
          <p:spPr>
            <a:xfrm>
              <a:off x="5962650" y="2724150"/>
              <a:ext cx="114300" cy="1"/>
            </a:xfrm>
            <a:prstGeom prst="line">
              <a:avLst/>
            </a:prstGeom>
            <a:noFill/>
            <a:ln w="14288">
              <a:solidFill>
                <a:srgbClr val="9C331E"/>
              </a:solidFill>
              <a:tailEnd type="triangle" w="lg" len="lg"/>
            </a:ln>
          </p:spPr>
        </p:sp>
        <p:sp>
          <p:nvSpPr>
            <p:cNvPr id="81" name="Rectangle 81"/>
            <p:cNvSpPr/>
            <p:nvPr/>
          </p:nvSpPr>
          <p:spPr>
            <a:xfrm>
              <a:off x="6115050" y="2438400"/>
              <a:ext cx="2571750" cy="571500"/>
            </a:xfrm>
            <a:prstGeom prst="roundRect">
              <a:avLst>
                <a:gd name="adj" fmla="val 6667"/>
              </a:avLst>
            </a:prstGeom>
            <a:solidFill>
              <a:srgbClr val="EFF5FC"/>
            </a:solidFill>
            <a:ln w="9525">
              <a:solidFill>
                <a:srgbClr val="C7D9F0"/>
              </a:solidFill>
            </a:ln>
          </p:spPr>
        </p:sp>
        <p:sp>
          <p:nvSpPr>
            <p:cNvPr id="82" name="TextBox 82"/>
            <p:cNvSpPr txBox="1"/>
            <p:nvPr/>
          </p:nvSpPr>
          <p:spPr>
            <a:xfrm>
              <a:off x="6224588" y="2599611"/>
              <a:ext cx="123132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E2114"/>
                  </a:solidFill>
                  <a:latin typeface="+mn-lt"/>
                  <a:ea typeface="+mn-ea"/>
                  <a:cs typeface="+mn-cs"/>
                </a:rPr>
                <a:t>提前开展系统架构评估，采用​</a:t>
              </a:r>
              <a:br/>
              <a:r>
                <a:rPr lang="zh-CN" sz="710" dirty="0">
                  <a:solidFill>
                    <a:srgbClr val="5E2114"/>
                  </a:solidFill>
                  <a:latin typeface="+mn-lt"/>
                  <a:ea typeface="+mn-ea"/>
                  <a:cs typeface="+mn-cs"/>
                </a:rPr>
                <a:t>分步对接与中间层方案。</a:t>
              </a:r>
            </a:p>
          </p:txBody>
        </p:sp>
      </p:grpSp>
      <p:grpSp>
        <p:nvGrpSpPr>
          <p:cNvPr id="90" name="row-4"/>
          <p:cNvGrpSpPr/>
          <p:nvPr/>
        </p:nvGrpSpPr>
        <p:grpSpPr>
          <a:xfrm>
            <a:off x="3352800" y="3124200"/>
            <a:ext cx="5334000" cy="571500"/>
            <a:chOff x="3352800" y="3124200"/>
            <a:chExt cx="5334000" cy="571500"/>
          </a:xfrm>
        </p:grpSpPr>
        <p:sp>
          <p:nvSpPr>
            <p:cNvPr id="84" name="Rectangle 84"/>
            <p:cNvSpPr/>
            <p:nvPr/>
          </p:nvSpPr>
          <p:spPr>
            <a:xfrm>
              <a:off x="3352800" y="3124200"/>
              <a:ext cx="2571750" cy="571500"/>
            </a:xfrm>
            <a:prstGeom prst="roundRect">
              <a:avLst>
                <a:gd name="adj" fmla="val 6667"/>
              </a:avLst>
            </a:prstGeom>
            <a:solidFill>
              <a:srgbClr val="FFFFFF"/>
            </a:solidFill>
            <a:ln w="9525">
              <a:solidFill>
                <a:srgbClr val="C7D9F0"/>
              </a:solidFill>
            </a:ln>
          </p:spPr>
        </p:sp>
        <p:sp>
          <p:nvSpPr>
            <p:cNvPr id="85" name="Rectangle 85"/>
            <p:cNvSpPr/>
            <p:nvPr/>
          </p:nvSpPr>
          <p:spPr>
            <a:xfrm>
              <a:off x="3352800" y="3124200"/>
              <a:ext cx="28575" cy="571500"/>
            </a:xfrm>
            <a:prstGeom prst="rect">
              <a:avLst/>
            </a:prstGeom>
            <a:solidFill>
              <a:srgbClr val="9C331E"/>
            </a:solidFill>
            <a:ln>
              <a:noFill/>
            </a:ln>
          </p:spPr>
        </p:sp>
        <p:sp>
          <p:nvSpPr>
            <p:cNvPr id="86" name="TextBox 86"/>
            <p:cNvSpPr txBox="1"/>
            <p:nvPr/>
          </p:nvSpPr>
          <p:spPr>
            <a:xfrm>
              <a:off x="3481388" y="3285411"/>
              <a:ext cx="123132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73F3A"/>
                  </a:solidFill>
                  <a:latin typeface="+mn-lt"/>
                  <a:ea typeface="+mn-ea"/>
                  <a:cs typeface="+mn-cs"/>
                </a:rPr>
                <a:t>实际运行中误报、漏报较多，​</a:t>
              </a:r>
              <a:br/>
              <a:r>
                <a:rPr lang="zh-CN" sz="710" dirty="0">
                  <a:solidFill>
                    <a:srgbClr val="573F3A"/>
                  </a:solidFill>
                  <a:latin typeface="+mn-lt"/>
                  <a:ea typeface="+mn-ea"/>
                  <a:cs typeface="+mn-cs"/>
                </a:rPr>
                <a:t>业务人员信任度低。</a:t>
              </a:r>
            </a:p>
          </p:txBody>
        </p:sp>
        <p:sp>
          <p:nvSpPr>
            <p:cNvPr id="87" name="Line 87"/>
            <p:cNvSpPr/>
            <p:nvPr/>
          </p:nvSpPr>
          <p:spPr>
            <a:xfrm>
              <a:off x="5962650" y="3409950"/>
              <a:ext cx="114300" cy="1"/>
            </a:xfrm>
            <a:prstGeom prst="line">
              <a:avLst/>
            </a:prstGeom>
            <a:noFill/>
            <a:ln w="14288">
              <a:solidFill>
                <a:srgbClr val="9C331E"/>
              </a:solidFill>
              <a:tailEnd type="triangle" w="lg" len="lg"/>
            </a:ln>
          </p:spPr>
        </p:sp>
        <p:sp>
          <p:nvSpPr>
            <p:cNvPr id="88" name="Rectangle 88"/>
            <p:cNvSpPr/>
            <p:nvPr/>
          </p:nvSpPr>
          <p:spPr>
            <a:xfrm>
              <a:off x="6115050" y="3124200"/>
              <a:ext cx="2571750" cy="571500"/>
            </a:xfrm>
            <a:prstGeom prst="roundRect">
              <a:avLst>
                <a:gd name="adj" fmla="val 6667"/>
              </a:avLst>
            </a:prstGeom>
            <a:solidFill>
              <a:srgbClr val="EFF5FC"/>
            </a:solidFill>
            <a:ln w="9525">
              <a:solidFill>
                <a:srgbClr val="C7D9F0"/>
              </a:solidFill>
            </a:ln>
          </p:spPr>
        </p:sp>
        <p:sp>
          <p:nvSpPr>
            <p:cNvPr id="89" name="TextBox 89"/>
            <p:cNvSpPr txBox="1"/>
            <p:nvPr/>
          </p:nvSpPr>
          <p:spPr>
            <a:xfrm>
              <a:off x="6224588" y="3285411"/>
              <a:ext cx="123132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E2114"/>
                  </a:solidFill>
                  <a:latin typeface="+mn-lt"/>
                  <a:ea typeface="+mn-ea"/>
                  <a:cs typeface="+mn-cs"/>
                </a:rPr>
                <a:t>优化模型与规则，结合业务经​</a:t>
              </a:r>
              <a:br/>
              <a:r>
                <a:rPr lang="zh-CN" sz="710" dirty="0">
                  <a:solidFill>
                    <a:srgbClr val="5E2114"/>
                  </a:solidFill>
                  <a:latin typeface="+mn-lt"/>
                  <a:ea typeface="+mn-ea"/>
                  <a:cs typeface="+mn-cs"/>
                </a:rPr>
                <a:t>验迭代，建立反馈闭环。</a:t>
              </a:r>
            </a:p>
          </p:txBody>
        </p:sp>
      </p:grpSp>
      <p:grpSp>
        <p:nvGrpSpPr>
          <p:cNvPr id="97" name="row-5"/>
          <p:cNvGrpSpPr/>
          <p:nvPr/>
        </p:nvGrpSpPr>
        <p:grpSpPr>
          <a:xfrm>
            <a:off x="3352800" y="3810000"/>
            <a:ext cx="5334000" cy="571500"/>
            <a:chOff x="3352800" y="3810000"/>
            <a:chExt cx="5334000" cy="571500"/>
          </a:xfrm>
        </p:grpSpPr>
        <p:sp>
          <p:nvSpPr>
            <p:cNvPr id="91" name="Rectangle 91"/>
            <p:cNvSpPr/>
            <p:nvPr/>
          </p:nvSpPr>
          <p:spPr>
            <a:xfrm>
              <a:off x="3352800" y="3810000"/>
              <a:ext cx="2571750" cy="571500"/>
            </a:xfrm>
            <a:prstGeom prst="roundRect">
              <a:avLst>
                <a:gd name="adj" fmla="val 6667"/>
              </a:avLst>
            </a:prstGeom>
            <a:solidFill>
              <a:srgbClr val="FFFFFF"/>
            </a:solidFill>
            <a:ln w="9525">
              <a:solidFill>
                <a:srgbClr val="C7D9F0"/>
              </a:solidFill>
            </a:ln>
          </p:spPr>
        </p:sp>
        <p:sp>
          <p:nvSpPr>
            <p:cNvPr id="92" name="Rectangle 92"/>
            <p:cNvSpPr/>
            <p:nvPr/>
          </p:nvSpPr>
          <p:spPr>
            <a:xfrm>
              <a:off x="3352800" y="3810000"/>
              <a:ext cx="28575" cy="571500"/>
            </a:xfrm>
            <a:prstGeom prst="rect">
              <a:avLst/>
            </a:prstGeom>
            <a:solidFill>
              <a:srgbClr val="9C331E"/>
            </a:solidFill>
            <a:ln>
              <a:noFill/>
            </a:ln>
          </p:spPr>
        </p:sp>
        <p:sp>
          <p:nvSpPr>
            <p:cNvPr id="93" name="TextBox 93"/>
            <p:cNvSpPr txBox="1"/>
            <p:nvPr/>
          </p:nvSpPr>
          <p:spPr>
            <a:xfrm>
              <a:off x="3481388" y="3971211"/>
              <a:ext cx="96081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73F3A"/>
                  </a:solidFill>
                  <a:latin typeface="+mn-lt"/>
                  <a:ea typeface="+mn-ea"/>
                  <a:cs typeface="+mn-cs"/>
                </a:rPr>
                <a:t>仍按照原流程运行，</a:t>
              </a:r>
              <a:br/>
              <a:r>
                <a:rPr lang="zh-CN" sz="710" dirty="0">
                  <a:solidFill>
                    <a:srgbClr val="573F3A"/>
                  </a:solidFill>
                  <a:latin typeface="+mn-lt"/>
                  <a:ea typeface="+mn-ea"/>
                  <a:cs typeface="+mn-cs"/>
                </a:rPr>
                <a:t>未形成新的作业方式。​</a:t>
              </a:r>
            </a:p>
          </p:txBody>
        </p:sp>
        <p:sp>
          <p:nvSpPr>
            <p:cNvPr id="94" name="Line 94"/>
            <p:cNvSpPr/>
            <p:nvPr/>
          </p:nvSpPr>
          <p:spPr>
            <a:xfrm>
              <a:off x="5962650" y="4095750"/>
              <a:ext cx="114300" cy="1"/>
            </a:xfrm>
            <a:prstGeom prst="line">
              <a:avLst/>
            </a:prstGeom>
            <a:noFill/>
            <a:ln w="14288">
              <a:solidFill>
                <a:srgbClr val="9C331E"/>
              </a:solidFill>
              <a:tailEnd type="triangle" w="lg" len="lg"/>
            </a:ln>
          </p:spPr>
        </p:sp>
        <p:sp>
          <p:nvSpPr>
            <p:cNvPr id="95" name="Rectangle 95"/>
            <p:cNvSpPr/>
            <p:nvPr/>
          </p:nvSpPr>
          <p:spPr>
            <a:xfrm>
              <a:off x="6115050" y="3810000"/>
              <a:ext cx="2571750" cy="571500"/>
            </a:xfrm>
            <a:prstGeom prst="roundRect">
              <a:avLst>
                <a:gd name="adj" fmla="val 6667"/>
              </a:avLst>
            </a:prstGeom>
            <a:solidFill>
              <a:srgbClr val="EFF5FC"/>
            </a:solidFill>
            <a:ln w="9525">
              <a:solidFill>
                <a:srgbClr val="C7D9F0"/>
              </a:solidFill>
            </a:ln>
          </p:spPr>
        </p:sp>
        <p:sp>
          <p:nvSpPr>
            <p:cNvPr id="96" name="TextBox 96"/>
            <p:cNvSpPr txBox="1"/>
            <p:nvPr/>
          </p:nvSpPr>
          <p:spPr>
            <a:xfrm>
              <a:off x="6224588" y="3971211"/>
              <a:ext cx="123132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E2114"/>
                  </a:solidFill>
                  <a:latin typeface="+mn-lt"/>
                  <a:ea typeface="+mn-ea"/>
                  <a:cs typeface="+mn-cs"/>
                </a:rPr>
                <a:t>围绕应用重新设计业务流程，​</a:t>
              </a:r>
              <a:br/>
              <a:r>
                <a:rPr lang="zh-CN" sz="710" dirty="0">
                  <a:solidFill>
                    <a:srgbClr val="5E2114"/>
                  </a:solidFill>
                  <a:latin typeface="+mn-lt"/>
                  <a:ea typeface="+mn-ea"/>
                  <a:cs typeface="+mn-cs"/>
                </a:rPr>
                <a:t>明确角色分工与操作规范。</a:t>
              </a:r>
            </a:p>
          </p:txBody>
        </p:sp>
      </p:grpSp>
      <p:grpSp>
        <p:nvGrpSpPr>
          <p:cNvPr id="104" name="row-6"/>
          <p:cNvGrpSpPr/>
          <p:nvPr/>
        </p:nvGrpSpPr>
        <p:grpSpPr>
          <a:xfrm>
            <a:off x="3352800" y="4495800"/>
            <a:ext cx="5334000" cy="571500"/>
            <a:chOff x="3352800" y="4495800"/>
            <a:chExt cx="5334000" cy="571500"/>
          </a:xfrm>
        </p:grpSpPr>
        <p:sp>
          <p:nvSpPr>
            <p:cNvPr id="98" name="Rectangle 98"/>
            <p:cNvSpPr/>
            <p:nvPr/>
          </p:nvSpPr>
          <p:spPr>
            <a:xfrm>
              <a:off x="3352800" y="4495800"/>
              <a:ext cx="2571750" cy="571500"/>
            </a:xfrm>
            <a:prstGeom prst="roundRect">
              <a:avLst>
                <a:gd name="adj" fmla="val 6667"/>
              </a:avLst>
            </a:prstGeom>
            <a:solidFill>
              <a:srgbClr val="FFFFFF"/>
            </a:solidFill>
            <a:ln w="9525">
              <a:solidFill>
                <a:srgbClr val="C7D9F0"/>
              </a:solidFill>
            </a:ln>
          </p:spPr>
        </p:sp>
        <p:sp>
          <p:nvSpPr>
            <p:cNvPr id="99" name="Rectangle 99"/>
            <p:cNvSpPr/>
            <p:nvPr/>
          </p:nvSpPr>
          <p:spPr>
            <a:xfrm>
              <a:off x="3352800" y="4495800"/>
              <a:ext cx="28575" cy="571500"/>
            </a:xfrm>
            <a:prstGeom prst="rect">
              <a:avLst/>
            </a:prstGeom>
            <a:solidFill>
              <a:srgbClr val="9C331E"/>
            </a:solidFill>
            <a:ln>
              <a:noFill/>
            </a:ln>
          </p:spPr>
        </p:sp>
        <p:sp>
          <p:nvSpPr>
            <p:cNvPr id="100" name="TextBox 100"/>
            <p:cNvSpPr txBox="1"/>
            <p:nvPr/>
          </p:nvSpPr>
          <p:spPr>
            <a:xfrm>
              <a:off x="3481388" y="4657011"/>
              <a:ext cx="1127633"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73F3A"/>
                  </a:solidFill>
                  <a:latin typeface="+mn-lt"/>
                  <a:ea typeface="+mn-ea"/>
                  <a:cs typeface="+mn-cs"/>
                </a:rPr>
                <a:t>建设方、业务方、IT方职责​</a:t>
              </a:r>
              <a:br/>
              <a:r>
                <a:rPr lang="zh-CN" sz="710" dirty="0">
                  <a:solidFill>
                    <a:srgbClr val="573F3A"/>
                  </a:solidFill>
                  <a:latin typeface="+mn-lt"/>
                  <a:ea typeface="+mn-ea"/>
                  <a:cs typeface="+mn-cs"/>
                </a:rPr>
                <a:t>不清，出现问题相互推诿。</a:t>
              </a:r>
            </a:p>
          </p:txBody>
        </p:sp>
        <p:sp>
          <p:nvSpPr>
            <p:cNvPr id="101" name="Line 101"/>
            <p:cNvSpPr/>
            <p:nvPr/>
          </p:nvSpPr>
          <p:spPr>
            <a:xfrm>
              <a:off x="5962650" y="4781550"/>
              <a:ext cx="114300" cy="1"/>
            </a:xfrm>
            <a:prstGeom prst="line">
              <a:avLst/>
            </a:prstGeom>
            <a:noFill/>
            <a:ln w="14288">
              <a:solidFill>
                <a:srgbClr val="9C331E"/>
              </a:solidFill>
              <a:tailEnd type="triangle" w="lg" len="lg"/>
            </a:ln>
          </p:spPr>
        </p:sp>
        <p:sp>
          <p:nvSpPr>
            <p:cNvPr id="102" name="Rectangle 102"/>
            <p:cNvSpPr/>
            <p:nvPr/>
          </p:nvSpPr>
          <p:spPr>
            <a:xfrm>
              <a:off x="6115050" y="4495800"/>
              <a:ext cx="2571750" cy="571500"/>
            </a:xfrm>
            <a:prstGeom prst="roundRect">
              <a:avLst>
                <a:gd name="adj" fmla="val 6667"/>
              </a:avLst>
            </a:prstGeom>
            <a:solidFill>
              <a:srgbClr val="EFF5FC"/>
            </a:solidFill>
            <a:ln w="9525">
              <a:solidFill>
                <a:srgbClr val="C7D9F0"/>
              </a:solidFill>
            </a:ln>
          </p:spPr>
        </p:sp>
        <p:sp>
          <p:nvSpPr>
            <p:cNvPr id="103" name="TextBox 103"/>
            <p:cNvSpPr txBox="1"/>
            <p:nvPr/>
          </p:nvSpPr>
          <p:spPr>
            <a:xfrm>
              <a:off x="6224588" y="4657011"/>
              <a:ext cx="1321498"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5E2114"/>
                  </a:solidFill>
                  <a:latin typeface="+mn-lt"/>
                  <a:ea typeface="+mn-ea"/>
                  <a:cs typeface="+mn-cs"/>
                </a:rPr>
                <a:t>明确责任边界与考核机制，建</a:t>
              </a:r>
              <a:br/>
              <a:r>
                <a:rPr lang="zh-CN" sz="710" dirty="0">
                  <a:solidFill>
                    <a:srgbClr val="5E2114"/>
                  </a:solidFill>
                  <a:latin typeface="+mn-lt"/>
                  <a:ea typeface="+mn-ea"/>
                  <a:cs typeface="+mn-cs"/>
                </a:rPr>
                <a:t>立跨部门协同与持续运营团队。​</a:t>
              </a:r>
            </a:p>
          </p:txBody>
        </p:sp>
      </p:grpSp>
      <p:grpSp>
        <p:nvGrpSpPr>
          <p:cNvPr id="147" name="warnings"/>
          <p:cNvGrpSpPr/>
          <p:nvPr/>
        </p:nvGrpSpPr>
        <p:grpSpPr>
          <a:xfrm>
            <a:off x="8801100" y="876300"/>
            <a:ext cx="3009900" cy="4381500"/>
            <a:chOff x="8801100" y="876300"/>
            <a:chExt cx="3009900" cy="4381500"/>
          </a:xfrm>
        </p:grpSpPr>
        <p:sp>
          <p:nvSpPr>
            <p:cNvPr id="105" name="Rectangle 105"/>
            <p:cNvSpPr/>
            <p:nvPr/>
          </p:nvSpPr>
          <p:spPr>
            <a:xfrm>
              <a:off x="8801100" y="876300"/>
              <a:ext cx="3009900" cy="571500"/>
            </a:xfrm>
            <a:prstGeom prst="roundRect">
              <a:avLst>
                <a:gd name="adj" fmla="val 10000"/>
              </a:avLst>
            </a:prstGeom>
            <a:solidFill>
              <a:srgbClr val="EFF5FC"/>
            </a:solidFill>
            <a:ln w="9525">
              <a:solidFill>
                <a:srgbClr val="C7D9F0"/>
              </a:solidFill>
            </a:ln>
          </p:spPr>
        </p:sp>
        <p:sp>
          <p:nvSpPr>
            <p:cNvPr id="106" name="Ellipse 106"/>
            <p:cNvSpPr/>
            <p:nvPr/>
          </p:nvSpPr>
          <p:spPr>
            <a:xfrm>
              <a:off x="8896350" y="1009650"/>
              <a:ext cx="304800" cy="304800"/>
            </a:xfrm>
            <a:prstGeom prst="ellipse">
              <a:avLst/>
            </a:prstGeom>
            <a:solidFill>
              <a:srgbClr val="9C331E"/>
            </a:solidFill>
            <a:ln>
              <a:noFill/>
            </a:ln>
          </p:spPr>
        </p:sp>
        <p:grpSp>
          <p:nvGrpSpPr>
            <p:cNvPr id="109" name="Group 109"/>
            <p:cNvGrpSpPr/>
            <p:nvPr/>
          </p:nvGrpSpPr>
          <p:grpSpPr>
            <a:xfrm>
              <a:off x="8985250" y="1090612"/>
              <a:ext cx="127000" cy="142875"/>
              <a:chOff x="8985250" y="1090612"/>
              <a:chExt cx="127000" cy="142875"/>
            </a:xfrm>
          </p:grpSpPr>
          <p:sp>
            <p:nvSpPr>
              <p:cNvPr id="107" name="Freeform 107"/>
              <p:cNvSpPr/>
              <p:nvPr/>
            </p:nvSpPr>
            <p:spPr>
              <a:xfrm>
                <a:off x="8985250" y="1090612"/>
                <a:ext cx="127000" cy="111125"/>
              </a:xfrm>
              <a:custGeom>
                <a:avLst/>
                <a:gdLst/>
                <a:ahLst/>
                <a:cxnLst/>
                <a:rect l="l" t="t" r="r" b="b"/>
                <a:pathLst>
                  <a:path w="127000" h="111125">
                    <a:moveTo>
                      <a:pt x="47625" y="15875"/>
                    </a:moveTo>
                    <a:cubicBezTo>
                      <a:pt x="47625" y="7107"/>
                      <a:pt x="54732" y="0"/>
                      <a:pt x="63500" y="0"/>
                    </a:cubicBezTo>
                    <a:cubicBezTo>
                      <a:pt x="72267" y="0"/>
                      <a:pt x="79375" y="7107"/>
                      <a:pt x="79375" y="15875"/>
                    </a:cubicBezTo>
                    <a:cubicBezTo>
                      <a:pt x="97950" y="24658"/>
                      <a:pt x="110162" y="42976"/>
                      <a:pt x="111125" y="63500"/>
                    </a:cubicBezTo>
                    <a:lnTo>
                      <a:pt x="111125" y="87312"/>
                    </a:lnTo>
                    <a:cubicBezTo>
                      <a:pt x="112336" y="97320"/>
                      <a:pt x="118228" y="106158"/>
                      <a:pt x="127000" y="111125"/>
                    </a:cubicBezTo>
                    <a:lnTo>
                      <a:pt x="0" y="111125"/>
                    </a:lnTo>
                    <a:cubicBezTo>
                      <a:pt x="8772" y="106158"/>
                      <a:pt x="14664" y="97320"/>
                      <a:pt x="15875" y="87312"/>
                    </a:cubicBezTo>
                    <a:lnTo>
                      <a:pt x="15875" y="63500"/>
                    </a:lnTo>
                    <a:cubicBezTo>
                      <a:pt x="16838" y="42976"/>
                      <a:pt x="29050" y="24658"/>
                      <a:pt x="47625" y="15875"/>
                    </a:cubicBezTo>
                  </a:path>
                </a:pathLst>
              </a:custGeom>
              <a:noFill/>
              <a:ln w="15875">
                <a:solidFill>
                  <a:srgbClr val="FFFFFF"/>
                </a:solidFill>
              </a:ln>
            </p:spPr>
          </p:sp>
          <p:sp>
            <p:nvSpPr>
              <p:cNvPr id="108" name="Freeform 108"/>
              <p:cNvSpPr/>
              <p:nvPr/>
            </p:nvSpPr>
            <p:spPr>
              <a:xfrm>
                <a:off x="9024937" y="1201737"/>
                <a:ext cx="47625" cy="31750"/>
              </a:xfrm>
              <a:custGeom>
                <a:avLst/>
                <a:gdLst/>
                <a:ahLst/>
                <a:cxnLst/>
                <a:rect l="l" t="t" r="r" b="b"/>
                <a:pathLst>
                  <a:path w="47625" h="31750">
                    <a:moveTo>
                      <a:pt x="0" y="0"/>
                    </a:moveTo>
                    <a:lnTo>
                      <a:pt x="0" y="7937"/>
                    </a:lnTo>
                    <a:cubicBezTo>
                      <a:pt x="0" y="21089"/>
                      <a:pt x="10661" y="31750"/>
                      <a:pt x="23812" y="31750"/>
                    </a:cubicBezTo>
                    <a:cubicBezTo>
                      <a:pt x="36964" y="31750"/>
                      <a:pt x="47625" y="21089"/>
                      <a:pt x="47625" y="7937"/>
                    </a:cubicBezTo>
                    <a:lnTo>
                      <a:pt x="47625" y="0"/>
                    </a:lnTo>
                  </a:path>
                </a:pathLst>
              </a:custGeom>
              <a:noFill/>
              <a:ln w="15875">
                <a:solidFill>
                  <a:srgbClr val="FFFFFF"/>
                </a:solidFill>
              </a:ln>
            </p:spPr>
          </p:sp>
        </p:grpSp>
        <p:sp>
          <p:nvSpPr>
            <p:cNvPr id="110" name="TextBox 110"/>
            <p:cNvSpPr txBox="1"/>
            <p:nvPr/>
          </p:nvSpPr>
          <p:spPr>
            <a:xfrm>
              <a:off x="9291066" y="1010602"/>
              <a:ext cx="576072" cy="205359"/>
            </a:xfrm>
            <a:prstGeom prst="rect">
              <a:avLst/>
            </a:prstGeom>
            <a:noFill/>
            <a:ln>
              <a:noFill/>
            </a:ln>
          </p:spPr>
          <p:txBody>
            <a:bodyPr wrap="none" lIns="0" tIns="0" rIns="0" bIns="0" anchor="t" anchorCtr="0">
              <a:spAutoFit/>
            </a:bodyPr>
            <a:lstStyle/>
            <a:p>
              <a:pPr algn="l"/>
              <a:r>
                <a:rPr lang="zh-CN" sz="1050" b="1" dirty="0">
                  <a:solidFill>
                    <a:srgbClr val="5E2114"/>
                  </a:solidFill>
                  <a:latin typeface="+mn-lt"/>
                  <a:ea typeface="+mn-ea"/>
                  <a:cs typeface="+mn-cs"/>
                </a:rPr>
                <a:t>预警信号</a:t>
              </a:r>
            </a:p>
          </p:txBody>
        </p:sp>
        <p:sp>
          <p:nvSpPr>
            <p:cNvPr id="111" name="TextBox 111"/>
            <p:cNvSpPr txBox="1"/>
            <p:nvPr/>
          </p:nvSpPr>
          <p:spPr>
            <a:xfrm>
              <a:off x="9291638" y="1226582"/>
              <a:ext cx="1646504"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出现以下信号时，需高度警惕项目失速风险</a:t>
              </a:r>
            </a:p>
          </p:txBody>
        </p:sp>
        <p:sp>
          <p:nvSpPr>
            <p:cNvPr id="112" name="Rectangle 112"/>
            <p:cNvSpPr/>
            <p:nvPr/>
          </p:nvSpPr>
          <p:spPr>
            <a:xfrm>
              <a:off x="8801100" y="1562100"/>
              <a:ext cx="3009900" cy="838200"/>
            </a:xfrm>
            <a:prstGeom prst="roundRect">
              <a:avLst>
                <a:gd name="adj" fmla="val 6818"/>
              </a:avLst>
            </a:prstGeom>
            <a:solidFill>
              <a:srgbClr val="FFFFFF"/>
            </a:solidFill>
            <a:ln w="9525">
              <a:solidFill>
                <a:srgbClr val="C7D9F0"/>
              </a:solidFill>
            </a:ln>
          </p:spPr>
        </p:sp>
        <p:sp>
          <p:nvSpPr>
            <p:cNvPr id="113" name="Ellipse 113"/>
            <p:cNvSpPr/>
            <p:nvPr/>
          </p:nvSpPr>
          <p:spPr>
            <a:xfrm>
              <a:off x="8905875" y="1704975"/>
              <a:ext cx="285750" cy="285750"/>
            </a:xfrm>
            <a:prstGeom prst="ellipse">
              <a:avLst/>
            </a:prstGeom>
            <a:solidFill>
              <a:srgbClr val="9C331E"/>
            </a:solidFill>
            <a:ln>
              <a:noFill/>
            </a:ln>
          </p:spPr>
        </p:sp>
        <p:grpSp>
          <p:nvGrpSpPr>
            <p:cNvPr id="119" name="Group 119"/>
            <p:cNvGrpSpPr/>
            <p:nvPr/>
          </p:nvGrpSpPr>
          <p:grpSpPr>
            <a:xfrm>
              <a:off x="8998744" y="1783556"/>
              <a:ext cx="100013" cy="128588"/>
              <a:chOff x="8998744" y="1783556"/>
              <a:chExt cx="100013" cy="128588"/>
            </a:xfrm>
          </p:grpSpPr>
          <p:sp>
            <p:nvSpPr>
              <p:cNvPr id="114" name="Freeform 114"/>
              <p:cNvSpPr/>
              <p:nvPr/>
            </p:nvSpPr>
            <p:spPr>
              <a:xfrm>
                <a:off x="9063038" y="178355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115" name="Freeform 115"/>
              <p:cNvSpPr/>
              <p:nvPr/>
            </p:nvSpPr>
            <p:spPr>
              <a:xfrm>
                <a:off x="8998744" y="178355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116" name="Freeform 116"/>
              <p:cNvSpPr/>
              <p:nvPr/>
            </p:nvSpPr>
            <p:spPr>
              <a:xfrm>
                <a:off x="9027319" y="1826419"/>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117" name="Freeform 117"/>
              <p:cNvSpPr/>
              <p:nvPr/>
            </p:nvSpPr>
            <p:spPr>
              <a:xfrm>
                <a:off x="9027319" y="1854994"/>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118" name="Freeform 118"/>
              <p:cNvSpPr/>
              <p:nvPr/>
            </p:nvSpPr>
            <p:spPr>
              <a:xfrm>
                <a:off x="9027319" y="1883569"/>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120" name="TextBox 120"/>
            <p:cNvSpPr txBox="1"/>
            <p:nvPr/>
          </p:nvSpPr>
          <p:spPr>
            <a:xfrm>
              <a:off x="9291638" y="1712595"/>
              <a:ext cx="73647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仍靠手工导入</a:t>
              </a:r>
            </a:p>
          </p:txBody>
        </p:sp>
        <p:sp>
          <p:nvSpPr>
            <p:cNvPr id="121" name="TextBox 121"/>
            <p:cNvSpPr txBox="1"/>
            <p:nvPr/>
          </p:nvSpPr>
          <p:spPr>
            <a:xfrm>
              <a:off x="9291638" y="1927384"/>
              <a:ext cx="92062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数据无法自动流转，</a:t>
              </a:r>
              <a:br/>
              <a:r>
                <a:rPr lang="zh-CN" sz="680" dirty="0">
                  <a:solidFill>
                    <a:srgbClr val="573F3A"/>
                  </a:solidFill>
                  <a:latin typeface="+mn-lt"/>
                  <a:ea typeface="+mn-ea"/>
                  <a:cs typeface="+mn-cs"/>
                </a:rPr>
                <a:t>依赖人工整理和导入。​</a:t>
              </a:r>
            </a:p>
          </p:txBody>
        </p:sp>
        <p:sp>
          <p:nvSpPr>
            <p:cNvPr id="122" name="Rectangle 122"/>
            <p:cNvSpPr/>
            <p:nvPr/>
          </p:nvSpPr>
          <p:spPr>
            <a:xfrm>
              <a:off x="8801100" y="2514600"/>
              <a:ext cx="3009900" cy="838200"/>
            </a:xfrm>
            <a:prstGeom prst="roundRect">
              <a:avLst>
                <a:gd name="adj" fmla="val 6818"/>
              </a:avLst>
            </a:prstGeom>
            <a:solidFill>
              <a:srgbClr val="FFFFFF"/>
            </a:solidFill>
            <a:ln w="9525">
              <a:solidFill>
                <a:srgbClr val="C7D9F0"/>
              </a:solidFill>
            </a:ln>
          </p:spPr>
        </p:sp>
        <p:sp>
          <p:nvSpPr>
            <p:cNvPr id="123" name="Ellipse 123"/>
            <p:cNvSpPr/>
            <p:nvPr/>
          </p:nvSpPr>
          <p:spPr>
            <a:xfrm>
              <a:off x="8905875" y="2657475"/>
              <a:ext cx="285750" cy="285750"/>
            </a:xfrm>
            <a:prstGeom prst="ellipse">
              <a:avLst/>
            </a:prstGeom>
            <a:solidFill>
              <a:srgbClr val="9C331E"/>
            </a:solidFill>
            <a:ln>
              <a:noFill/>
            </a:ln>
          </p:spPr>
        </p:sp>
        <p:grpSp>
          <p:nvGrpSpPr>
            <p:cNvPr id="126" name="Group 126"/>
            <p:cNvGrpSpPr/>
            <p:nvPr/>
          </p:nvGrpSpPr>
          <p:grpSpPr>
            <a:xfrm>
              <a:off x="8977312" y="2750344"/>
              <a:ext cx="142875" cy="100013"/>
              <a:chOff x="8977312" y="2750344"/>
              <a:chExt cx="142875" cy="100013"/>
            </a:xfrm>
          </p:grpSpPr>
          <p:sp>
            <p:nvSpPr>
              <p:cNvPr id="124" name="Freeform 124"/>
              <p:cNvSpPr/>
              <p:nvPr/>
            </p:nvSpPr>
            <p:spPr>
              <a:xfrm>
                <a:off x="8977312" y="2750344"/>
                <a:ext cx="142875" cy="71438"/>
              </a:xfrm>
              <a:custGeom>
                <a:avLst/>
                <a:gdLst/>
                <a:ahLst/>
                <a:cxnLst/>
                <a:rect l="l" t="t" r="r" b="b"/>
                <a:pathLst>
                  <a:path w="142875" h="71438">
                    <a:moveTo>
                      <a:pt x="142875" y="28575"/>
                    </a:moveTo>
                    <a:lnTo>
                      <a:pt x="71438" y="0"/>
                    </a:lnTo>
                    <a:lnTo>
                      <a:pt x="0" y="28575"/>
                    </a:lnTo>
                    <a:lnTo>
                      <a:pt x="71438" y="57150"/>
                    </a:lnTo>
                    <a:lnTo>
                      <a:pt x="142875" y="28575"/>
                    </a:lnTo>
                    <a:lnTo>
                      <a:pt x="142875" y="71438"/>
                    </a:lnTo>
                  </a:path>
                </a:pathLst>
              </a:custGeom>
              <a:noFill/>
              <a:ln w="14288">
                <a:solidFill>
                  <a:srgbClr val="FFFFFF"/>
                </a:solidFill>
              </a:ln>
            </p:spPr>
          </p:sp>
          <p:sp>
            <p:nvSpPr>
              <p:cNvPr id="125" name="Freeform 125"/>
              <p:cNvSpPr/>
              <p:nvPr/>
            </p:nvSpPr>
            <p:spPr>
              <a:xfrm>
                <a:off x="9005888" y="2790349"/>
                <a:ext cx="85725" cy="60008"/>
              </a:xfrm>
              <a:custGeom>
                <a:avLst/>
                <a:gdLst/>
                <a:ahLst/>
                <a:cxnLst/>
                <a:rect l="l" t="t" r="r" b="b"/>
                <a:pathLst>
                  <a:path w="85725" h="60008">
                    <a:moveTo>
                      <a:pt x="0" y="0"/>
                    </a:moveTo>
                    <a:lnTo>
                      <a:pt x="0" y="38576"/>
                    </a:lnTo>
                    <a:cubicBezTo>
                      <a:pt x="0" y="50412"/>
                      <a:pt x="19190" y="60008"/>
                      <a:pt x="42862" y="60008"/>
                    </a:cubicBezTo>
                    <a:cubicBezTo>
                      <a:pt x="66535" y="60008"/>
                      <a:pt x="85725" y="50412"/>
                      <a:pt x="85725" y="38576"/>
                    </a:cubicBezTo>
                    <a:lnTo>
                      <a:pt x="85725" y="0"/>
                    </a:lnTo>
                  </a:path>
                </a:pathLst>
              </a:custGeom>
              <a:noFill/>
              <a:ln w="14288">
                <a:solidFill>
                  <a:srgbClr val="FFFFFF"/>
                </a:solidFill>
              </a:ln>
            </p:spPr>
          </p:sp>
        </p:grpSp>
        <p:sp>
          <p:nvSpPr>
            <p:cNvPr id="127" name="TextBox 127"/>
            <p:cNvSpPr txBox="1"/>
            <p:nvPr/>
          </p:nvSpPr>
          <p:spPr>
            <a:xfrm>
              <a:off x="9291638" y="2665095"/>
              <a:ext cx="73647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只能专家陪跑</a:t>
              </a:r>
            </a:p>
          </p:txBody>
        </p:sp>
        <p:sp>
          <p:nvSpPr>
            <p:cNvPr id="128" name="TextBox 128"/>
            <p:cNvSpPr txBox="1"/>
            <p:nvPr/>
          </p:nvSpPr>
          <p:spPr>
            <a:xfrm>
              <a:off x="9291638" y="2879884"/>
              <a:ext cx="109334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没有专家就无法正常运行，​</a:t>
              </a:r>
              <a:br/>
              <a:r>
                <a:rPr lang="zh-CN" sz="680" dirty="0">
                  <a:solidFill>
                    <a:srgbClr val="573F3A"/>
                  </a:solidFill>
                  <a:latin typeface="+mn-lt"/>
                  <a:ea typeface="+mn-ea"/>
                  <a:cs typeface="+mn-cs"/>
                </a:rPr>
                <a:t>一线人员难以独立操作。</a:t>
              </a:r>
            </a:p>
          </p:txBody>
        </p:sp>
        <p:sp>
          <p:nvSpPr>
            <p:cNvPr id="129" name="Rectangle 129"/>
            <p:cNvSpPr/>
            <p:nvPr/>
          </p:nvSpPr>
          <p:spPr>
            <a:xfrm>
              <a:off x="8801100" y="3467100"/>
              <a:ext cx="3009900" cy="838200"/>
            </a:xfrm>
            <a:prstGeom prst="roundRect">
              <a:avLst>
                <a:gd name="adj" fmla="val 6818"/>
              </a:avLst>
            </a:prstGeom>
            <a:solidFill>
              <a:srgbClr val="FFFFFF"/>
            </a:solidFill>
            <a:ln w="9525">
              <a:solidFill>
                <a:srgbClr val="C7D9F0"/>
              </a:solidFill>
            </a:ln>
          </p:spPr>
        </p:sp>
        <p:sp>
          <p:nvSpPr>
            <p:cNvPr id="130" name="Ellipse 130"/>
            <p:cNvSpPr/>
            <p:nvPr/>
          </p:nvSpPr>
          <p:spPr>
            <a:xfrm>
              <a:off x="8905875" y="3609975"/>
              <a:ext cx="285750" cy="285750"/>
            </a:xfrm>
            <a:prstGeom prst="ellipse">
              <a:avLst/>
            </a:prstGeom>
            <a:solidFill>
              <a:srgbClr val="9C331E"/>
            </a:solidFill>
            <a:ln>
              <a:noFill/>
            </a:ln>
          </p:spPr>
        </p:sp>
        <p:grpSp>
          <p:nvGrpSpPr>
            <p:cNvPr id="135" name="Group 135"/>
            <p:cNvGrpSpPr/>
            <p:nvPr/>
          </p:nvGrpSpPr>
          <p:grpSpPr>
            <a:xfrm>
              <a:off x="8986712" y="3681412"/>
              <a:ext cx="119188" cy="142878"/>
              <a:chOff x="8986712" y="3681412"/>
              <a:chExt cx="119188" cy="142878"/>
            </a:xfrm>
          </p:grpSpPr>
          <p:sp>
            <p:nvSpPr>
              <p:cNvPr id="131" name="Freeform 131"/>
              <p:cNvSpPr/>
              <p:nvPr/>
            </p:nvSpPr>
            <p:spPr>
              <a:xfrm>
                <a:off x="9020175" y="3695700"/>
                <a:ext cx="21431" cy="64294"/>
              </a:xfrm>
              <a:custGeom>
                <a:avLst/>
                <a:gdLst/>
                <a:ahLst/>
                <a:cxnLst/>
                <a:rect l="l" t="t" r="r" b="b"/>
                <a:pathLst>
                  <a:path w="21431" h="64294">
                    <a:moveTo>
                      <a:pt x="0" y="64294"/>
                    </a:moveTo>
                    <a:lnTo>
                      <a:pt x="0" y="10716"/>
                    </a:lnTo>
                    <a:cubicBezTo>
                      <a:pt x="0" y="4798"/>
                      <a:pt x="4798" y="0"/>
                      <a:pt x="10716" y="0"/>
                    </a:cubicBezTo>
                    <a:cubicBezTo>
                      <a:pt x="16634" y="0"/>
                      <a:pt x="21431" y="4798"/>
                      <a:pt x="21431" y="10716"/>
                    </a:cubicBezTo>
                    <a:lnTo>
                      <a:pt x="21431" y="57150"/>
                    </a:lnTo>
                  </a:path>
                </a:pathLst>
              </a:custGeom>
              <a:noFill/>
              <a:ln w="14288">
                <a:solidFill>
                  <a:srgbClr val="FFFFFF"/>
                </a:solidFill>
              </a:ln>
            </p:spPr>
          </p:sp>
          <p:sp>
            <p:nvSpPr>
              <p:cNvPr id="132" name="Freeform 132"/>
              <p:cNvSpPr/>
              <p:nvPr/>
            </p:nvSpPr>
            <p:spPr>
              <a:xfrm>
                <a:off x="9041606" y="3681412"/>
                <a:ext cx="21431" cy="71438"/>
              </a:xfrm>
              <a:custGeom>
                <a:avLst/>
                <a:gdLst/>
                <a:ahLst/>
                <a:cxnLst/>
                <a:rect l="l" t="t" r="r" b="b"/>
                <a:pathLst>
                  <a:path w="21431" h="71438">
                    <a:moveTo>
                      <a:pt x="0" y="25003"/>
                    </a:moveTo>
                    <a:lnTo>
                      <a:pt x="0" y="10716"/>
                    </a:lnTo>
                    <a:cubicBezTo>
                      <a:pt x="0" y="4798"/>
                      <a:pt x="4798" y="0"/>
                      <a:pt x="10716" y="0"/>
                    </a:cubicBezTo>
                    <a:cubicBezTo>
                      <a:pt x="16634" y="0"/>
                      <a:pt x="21431" y="4798"/>
                      <a:pt x="21431" y="10716"/>
                    </a:cubicBezTo>
                    <a:lnTo>
                      <a:pt x="21431" y="71438"/>
                    </a:lnTo>
                  </a:path>
                </a:pathLst>
              </a:custGeom>
              <a:noFill/>
              <a:ln w="14288">
                <a:solidFill>
                  <a:srgbClr val="FFFFFF"/>
                </a:solidFill>
              </a:ln>
            </p:spPr>
          </p:sp>
          <p:sp>
            <p:nvSpPr>
              <p:cNvPr id="133" name="Freeform 133"/>
              <p:cNvSpPr/>
              <p:nvPr/>
            </p:nvSpPr>
            <p:spPr>
              <a:xfrm>
                <a:off x="9063038" y="3695700"/>
                <a:ext cx="21431" cy="57150"/>
              </a:xfrm>
              <a:custGeom>
                <a:avLst/>
                <a:gdLst/>
                <a:ahLst/>
                <a:cxnLst/>
                <a:rect l="l" t="t" r="r" b="b"/>
                <a:pathLst>
                  <a:path w="21431" h="57150">
                    <a:moveTo>
                      <a:pt x="0" y="10716"/>
                    </a:moveTo>
                    <a:cubicBezTo>
                      <a:pt x="0" y="4798"/>
                      <a:pt x="4798" y="0"/>
                      <a:pt x="10716" y="0"/>
                    </a:cubicBezTo>
                    <a:cubicBezTo>
                      <a:pt x="16634" y="0"/>
                      <a:pt x="21431" y="4798"/>
                      <a:pt x="21431" y="10716"/>
                    </a:cubicBezTo>
                    <a:lnTo>
                      <a:pt x="21431" y="57150"/>
                    </a:lnTo>
                  </a:path>
                </a:pathLst>
              </a:custGeom>
              <a:noFill/>
              <a:ln w="14288">
                <a:solidFill>
                  <a:srgbClr val="FFFFFF"/>
                </a:solidFill>
              </a:ln>
            </p:spPr>
          </p:sp>
          <p:sp>
            <p:nvSpPr>
              <p:cNvPr id="134" name="Freeform 134"/>
              <p:cNvSpPr/>
              <p:nvPr/>
            </p:nvSpPr>
            <p:spPr>
              <a:xfrm>
                <a:off x="8986712" y="3709988"/>
                <a:ext cx="119188" cy="114302"/>
              </a:xfrm>
              <a:custGeom>
                <a:avLst/>
                <a:gdLst/>
                <a:ahLst/>
                <a:cxnLst/>
                <a:rect l="l" t="t" r="r" b="b"/>
                <a:pathLst>
                  <a:path w="119188" h="114302">
                    <a:moveTo>
                      <a:pt x="97757" y="10716"/>
                    </a:moveTo>
                    <a:cubicBezTo>
                      <a:pt x="97757" y="4798"/>
                      <a:pt x="102555" y="0"/>
                      <a:pt x="108473" y="0"/>
                    </a:cubicBezTo>
                    <a:cubicBezTo>
                      <a:pt x="114391" y="0"/>
                      <a:pt x="119188" y="4798"/>
                      <a:pt x="119188" y="10716"/>
                    </a:cubicBezTo>
                    <a:lnTo>
                      <a:pt x="119188" y="71438"/>
                    </a:lnTo>
                    <a:cubicBezTo>
                      <a:pt x="119188" y="95110"/>
                      <a:pt x="99998" y="114300"/>
                      <a:pt x="76326" y="114300"/>
                    </a:cubicBezTo>
                    <a:lnTo>
                      <a:pt x="62038" y="114300"/>
                    </a:lnTo>
                    <a:lnTo>
                      <a:pt x="63524" y="114300"/>
                    </a:lnTo>
                    <a:cubicBezTo>
                      <a:pt x="49105" y="114302"/>
                      <a:pt x="35651" y="107054"/>
                      <a:pt x="27720" y="95012"/>
                    </a:cubicBezTo>
                    <a:cubicBezTo>
                      <a:pt x="27251" y="94299"/>
                      <a:pt x="26785" y="93584"/>
                      <a:pt x="26320" y="92869"/>
                    </a:cubicBezTo>
                    <a:cubicBezTo>
                      <a:pt x="24091" y="89447"/>
                      <a:pt x="16268" y="75809"/>
                      <a:pt x="2845" y="51949"/>
                    </a:cubicBezTo>
                    <a:cubicBezTo>
                      <a:pt x="0" y="46892"/>
                      <a:pt x="1697" y="40489"/>
                      <a:pt x="6674" y="37505"/>
                    </a:cubicBezTo>
                    <a:cubicBezTo>
                      <a:pt x="11920" y="34357"/>
                      <a:pt x="18634" y="35182"/>
                      <a:pt x="22962" y="39505"/>
                    </a:cubicBezTo>
                    <a:lnTo>
                      <a:pt x="33463" y="50006"/>
                    </a:lnTo>
                  </a:path>
                </a:pathLst>
              </a:custGeom>
              <a:noFill/>
              <a:ln w="14288">
                <a:solidFill>
                  <a:srgbClr val="FFFFFF"/>
                </a:solidFill>
              </a:ln>
            </p:spPr>
          </p:sp>
        </p:grpSp>
        <p:sp>
          <p:nvSpPr>
            <p:cNvPr id="136" name="TextBox 136"/>
            <p:cNvSpPr txBox="1"/>
            <p:nvPr/>
          </p:nvSpPr>
          <p:spPr>
            <a:xfrm>
              <a:off x="9291638" y="3617595"/>
              <a:ext cx="978789"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没有停机回退方案</a:t>
              </a:r>
            </a:p>
          </p:txBody>
        </p:sp>
        <p:sp>
          <p:nvSpPr>
            <p:cNvPr id="137" name="TextBox 137"/>
            <p:cNvSpPr txBox="1"/>
            <p:nvPr/>
          </p:nvSpPr>
          <p:spPr>
            <a:xfrm>
              <a:off x="9291638" y="3832384"/>
              <a:ext cx="100698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一旦出现异常，无法快速​</a:t>
              </a:r>
              <a:br/>
              <a:r>
                <a:rPr lang="zh-CN" sz="680" dirty="0">
                  <a:solidFill>
                    <a:srgbClr val="573F3A"/>
                  </a:solidFill>
                  <a:latin typeface="+mn-lt"/>
                  <a:ea typeface="+mn-ea"/>
                  <a:cs typeface="+mn-cs"/>
                </a:rPr>
                <a:t>恢复到原有业务状态。</a:t>
              </a:r>
            </a:p>
          </p:txBody>
        </p:sp>
        <p:sp>
          <p:nvSpPr>
            <p:cNvPr id="138" name="Rectangle 138"/>
            <p:cNvSpPr/>
            <p:nvPr/>
          </p:nvSpPr>
          <p:spPr>
            <a:xfrm>
              <a:off x="8801100" y="4419600"/>
              <a:ext cx="3009900" cy="838200"/>
            </a:xfrm>
            <a:prstGeom prst="roundRect">
              <a:avLst>
                <a:gd name="adj" fmla="val 6818"/>
              </a:avLst>
            </a:prstGeom>
            <a:solidFill>
              <a:srgbClr val="FFFFFF"/>
            </a:solidFill>
            <a:ln w="9525">
              <a:solidFill>
                <a:srgbClr val="C7D9F0"/>
              </a:solidFill>
            </a:ln>
          </p:spPr>
        </p:sp>
        <p:sp>
          <p:nvSpPr>
            <p:cNvPr id="139" name="Ellipse 139"/>
            <p:cNvSpPr/>
            <p:nvPr/>
          </p:nvSpPr>
          <p:spPr>
            <a:xfrm>
              <a:off x="8905875" y="4562475"/>
              <a:ext cx="285750" cy="285750"/>
            </a:xfrm>
            <a:prstGeom prst="ellipse">
              <a:avLst/>
            </a:prstGeom>
            <a:solidFill>
              <a:srgbClr val="9C331E"/>
            </a:solidFill>
            <a:ln>
              <a:noFill/>
            </a:ln>
          </p:spPr>
        </p:sp>
        <p:grpSp>
          <p:nvGrpSpPr>
            <p:cNvPr id="144" name="Group 144"/>
            <p:cNvGrpSpPr/>
            <p:nvPr/>
          </p:nvGrpSpPr>
          <p:grpSpPr>
            <a:xfrm>
              <a:off x="8984456" y="4648200"/>
              <a:ext cx="128587" cy="123825"/>
              <a:chOff x="8984456" y="4648200"/>
              <a:chExt cx="128587" cy="123825"/>
            </a:xfrm>
          </p:grpSpPr>
          <p:sp>
            <p:nvSpPr>
              <p:cNvPr id="140" name="Freeform 140"/>
              <p:cNvSpPr/>
              <p:nvPr/>
            </p:nvSpPr>
            <p:spPr>
              <a:xfrm>
                <a:off x="8984456" y="470535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FFFFFF"/>
                </a:solidFill>
              </a:ln>
            </p:spPr>
          </p:sp>
          <p:sp>
            <p:nvSpPr>
              <p:cNvPr id="141" name="Freeform 141"/>
              <p:cNvSpPr/>
              <p:nvPr/>
            </p:nvSpPr>
            <p:spPr>
              <a:xfrm>
                <a:off x="9070181" y="467677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FFFFFF"/>
                </a:solidFill>
              </a:ln>
            </p:spPr>
          </p:sp>
          <p:sp>
            <p:nvSpPr>
              <p:cNvPr id="142" name="Freeform 142"/>
              <p:cNvSpPr/>
              <p:nvPr/>
            </p:nvSpPr>
            <p:spPr>
              <a:xfrm>
                <a:off x="9027319" y="464820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FFFFFF"/>
                </a:solidFill>
              </a:ln>
            </p:spPr>
          </p:sp>
          <p:sp>
            <p:nvSpPr>
              <p:cNvPr id="143" name="Freeform 143"/>
              <p:cNvSpPr/>
              <p:nvPr/>
            </p:nvSpPr>
            <p:spPr>
              <a:xfrm>
                <a:off x="8991600" y="4762500"/>
                <a:ext cx="100012" cy="9525"/>
              </a:xfrm>
              <a:custGeom>
                <a:avLst/>
                <a:gdLst/>
                <a:ahLst/>
                <a:cxnLst/>
                <a:rect l="l" t="t" r="r" b="b"/>
                <a:pathLst>
                  <a:path w="100012" h="9525">
                    <a:moveTo>
                      <a:pt x="0" y="0"/>
                    </a:moveTo>
                    <a:lnTo>
                      <a:pt x="100012" y="0"/>
                    </a:lnTo>
                  </a:path>
                </a:pathLst>
              </a:custGeom>
              <a:noFill/>
              <a:ln w="14288">
                <a:solidFill>
                  <a:srgbClr val="FFFFFF"/>
                </a:solidFill>
              </a:ln>
            </p:spPr>
          </p:sp>
        </p:grpSp>
        <p:sp>
          <p:nvSpPr>
            <p:cNvPr id="145" name="TextBox 145"/>
            <p:cNvSpPr txBox="1"/>
            <p:nvPr/>
          </p:nvSpPr>
          <p:spPr>
            <a:xfrm>
              <a:off x="9291638" y="4570095"/>
              <a:ext cx="134226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指标无法由业务部门复核</a:t>
              </a:r>
            </a:p>
          </p:txBody>
        </p:sp>
        <p:sp>
          <p:nvSpPr>
            <p:cNvPr id="146" name="TextBox 146"/>
            <p:cNvSpPr txBox="1"/>
            <p:nvPr/>
          </p:nvSpPr>
          <p:spPr>
            <a:xfrm>
              <a:off x="9291638" y="4784884"/>
              <a:ext cx="100698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关键结果缺乏透明依据，​</a:t>
              </a:r>
              <a:br/>
              <a:r>
                <a:rPr lang="zh-CN" sz="680" dirty="0">
                  <a:solidFill>
                    <a:srgbClr val="573F3A"/>
                  </a:solidFill>
                  <a:latin typeface="+mn-lt"/>
                  <a:ea typeface="+mn-ea"/>
                  <a:cs typeface="+mn-cs"/>
                </a:rPr>
                <a:t>业务部门无法独立验证。​</a:t>
              </a:r>
            </a:p>
          </p:txBody>
        </p:sp>
      </p:grpSp>
      <p:grpSp>
        <p:nvGrpSpPr>
          <p:cNvPr id="156" name="banner"/>
          <p:cNvGrpSpPr/>
          <p:nvPr/>
        </p:nvGrpSpPr>
        <p:grpSpPr>
          <a:xfrm>
            <a:off x="381000" y="5619750"/>
            <a:ext cx="11430000" cy="800100"/>
            <a:chOff x="381000" y="5619750"/>
            <a:chExt cx="11430000" cy="800100"/>
          </a:xfrm>
        </p:grpSpPr>
        <p:sp>
          <p:nvSpPr>
            <p:cNvPr id="148" name="Rectangle 148"/>
            <p:cNvSpPr/>
            <p:nvPr/>
          </p:nvSpPr>
          <p:spPr>
            <a:xfrm>
              <a:off x="381000" y="5619750"/>
              <a:ext cx="11430000" cy="800100"/>
            </a:xfrm>
            <a:prstGeom prst="roundRect">
              <a:avLst>
                <a:gd name="adj" fmla="val 9524"/>
              </a:avLst>
            </a:prstGeom>
            <a:gradFill>
              <a:gsLst>
                <a:gs pos="0">
                  <a:srgbClr val="632012"/>
                </a:gs>
                <a:gs pos="100000">
                  <a:srgbClr val="D64A2E"/>
                </a:gs>
              </a:gsLst>
              <a:lin ang="0" scaled="1"/>
            </a:gradFill>
            <a:ln>
              <a:noFill/>
            </a:ln>
          </p:spPr>
        </p:sp>
        <p:sp>
          <p:nvSpPr>
            <p:cNvPr id="149" name="Polygon 149"/>
            <p:cNvSpPr/>
            <p:nvPr/>
          </p:nvSpPr>
          <p:spPr>
            <a:xfrm>
              <a:off x="8572500" y="5886450"/>
              <a:ext cx="3238500" cy="533400"/>
            </a:xfrm>
            <a:custGeom>
              <a:avLst/>
              <a:gdLst/>
              <a:ahLst/>
              <a:cxnLst/>
              <a:rect l="l" t="t" r="r" b="b"/>
              <a:pathLst>
                <a:path w="3238500" h="533400">
                  <a:moveTo>
                    <a:pt x="0" y="533400"/>
                  </a:moveTo>
                  <a:lnTo>
                    <a:pt x="762000" y="114300"/>
                  </a:lnTo>
                  <a:lnTo>
                    <a:pt x="1333500" y="361950"/>
                  </a:lnTo>
                  <a:lnTo>
                    <a:pt x="2000250" y="0"/>
                  </a:lnTo>
                  <a:lnTo>
                    <a:pt x="2571750" y="304800"/>
                  </a:lnTo>
                  <a:lnTo>
                    <a:pt x="3238500" y="76200"/>
                  </a:lnTo>
                  <a:lnTo>
                    <a:pt x="3238500" y="533400"/>
                  </a:lnTo>
                  <a:close/>
                </a:path>
              </a:pathLst>
            </a:custGeom>
            <a:solidFill>
              <a:srgbClr val="FFFFFF">
                <a:alpha val="10000"/>
              </a:srgbClr>
            </a:solidFill>
            <a:ln>
              <a:noFill/>
            </a:ln>
          </p:spPr>
        </p:sp>
        <p:sp>
          <p:nvSpPr>
            <p:cNvPr id="150" name="Polygon 150"/>
            <p:cNvSpPr/>
            <p:nvPr/>
          </p:nvSpPr>
          <p:spPr>
            <a:xfrm>
              <a:off x="9715500" y="6096000"/>
              <a:ext cx="2095500" cy="323850"/>
            </a:xfrm>
            <a:custGeom>
              <a:avLst/>
              <a:gdLst/>
              <a:ahLst/>
              <a:cxnLst/>
              <a:rect l="l" t="t" r="r" b="b"/>
              <a:pathLst>
                <a:path w="2095500" h="323850">
                  <a:moveTo>
                    <a:pt x="0" y="323850"/>
                  </a:moveTo>
                  <a:lnTo>
                    <a:pt x="571500" y="57150"/>
                  </a:lnTo>
                  <a:lnTo>
                    <a:pt x="1143000" y="228600"/>
                  </a:lnTo>
                  <a:lnTo>
                    <a:pt x="1714500" y="0"/>
                  </a:lnTo>
                  <a:lnTo>
                    <a:pt x="2095500" y="114300"/>
                  </a:lnTo>
                  <a:lnTo>
                    <a:pt x="2095500" y="323850"/>
                  </a:lnTo>
                  <a:close/>
                </a:path>
              </a:pathLst>
            </a:custGeom>
            <a:solidFill>
              <a:srgbClr val="FFFFFF">
                <a:alpha val="10000"/>
              </a:srgbClr>
            </a:solidFill>
            <a:ln>
              <a:noFill/>
            </a:ln>
          </p:spPr>
        </p:sp>
        <p:grpSp>
          <p:nvGrpSpPr>
            <p:cNvPr id="153" name="Group 153"/>
            <p:cNvGrpSpPr/>
            <p:nvPr/>
          </p:nvGrpSpPr>
          <p:grpSpPr>
            <a:xfrm>
              <a:off x="631031" y="5885191"/>
              <a:ext cx="166688" cy="213191"/>
              <a:chOff x="631031" y="5885191"/>
              <a:chExt cx="166688" cy="213191"/>
            </a:xfrm>
          </p:grpSpPr>
          <p:sp>
            <p:nvSpPr>
              <p:cNvPr id="151" name="Freeform 151"/>
              <p:cNvSpPr/>
              <p:nvPr/>
            </p:nvSpPr>
            <p:spPr>
              <a:xfrm>
                <a:off x="631031" y="5885191"/>
                <a:ext cx="166688" cy="152536"/>
              </a:xfrm>
              <a:custGeom>
                <a:avLst/>
                <a:gdLst/>
                <a:ahLst/>
                <a:cxnLst/>
                <a:rect l="l" t="t" r="r" b="b"/>
                <a:pathLst>
                  <a:path w="166688" h="152536">
                    <a:moveTo>
                      <a:pt x="0" y="22690"/>
                    </a:moveTo>
                    <a:cubicBezTo>
                      <a:pt x="23148" y="0"/>
                      <a:pt x="60195" y="0"/>
                      <a:pt x="83344" y="22690"/>
                    </a:cubicBezTo>
                    <a:cubicBezTo>
                      <a:pt x="106492" y="45380"/>
                      <a:pt x="143539" y="45380"/>
                      <a:pt x="166688" y="22690"/>
                    </a:cubicBezTo>
                    <a:lnTo>
                      <a:pt x="166688" y="129846"/>
                    </a:lnTo>
                    <a:cubicBezTo>
                      <a:pt x="143539" y="152536"/>
                      <a:pt x="106492" y="152536"/>
                      <a:pt x="83344" y="129846"/>
                    </a:cubicBezTo>
                    <a:cubicBezTo>
                      <a:pt x="60195" y="107156"/>
                      <a:pt x="23148" y="107156"/>
                      <a:pt x="0" y="129846"/>
                    </a:cubicBezTo>
                    <a:lnTo>
                      <a:pt x="0" y="22690"/>
                    </a:lnTo>
                  </a:path>
                </a:pathLst>
              </a:custGeom>
              <a:noFill/>
              <a:ln w="23812">
                <a:solidFill>
                  <a:srgbClr val="FF957F"/>
                </a:solidFill>
              </a:ln>
            </p:spPr>
          </p:sp>
          <p:sp>
            <p:nvSpPr>
              <p:cNvPr id="152" name="Freeform 152"/>
              <p:cNvSpPr/>
              <p:nvPr/>
            </p:nvSpPr>
            <p:spPr>
              <a:xfrm>
                <a:off x="631031" y="6015038"/>
                <a:ext cx="9525" cy="83344"/>
              </a:xfrm>
              <a:custGeom>
                <a:avLst/>
                <a:gdLst/>
                <a:ahLst/>
                <a:cxnLst/>
                <a:rect l="l" t="t" r="r" b="b"/>
                <a:pathLst>
                  <a:path w="9525" h="83344">
                    <a:moveTo>
                      <a:pt x="0" y="83344"/>
                    </a:moveTo>
                    <a:lnTo>
                      <a:pt x="0" y="0"/>
                    </a:lnTo>
                  </a:path>
                </a:pathLst>
              </a:custGeom>
              <a:noFill/>
              <a:ln w="23812">
                <a:solidFill>
                  <a:srgbClr val="FF957F"/>
                </a:solidFill>
              </a:ln>
            </p:spPr>
          </p:sp>
        </p:grpSp>
        <p:sp>
          <p:nvSpPr>
            <p:cNvPr id="154" name="TextBox 154"/>
            <p:cNvSpPr txBox="1"/>
            <p:nvPr/>
          </p:nvSpPr>
          <p:spPr>
            <a:xfrm>
              <a:off x="1003173" y="5805964"/>
              <a:ext cx="4320794"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技术可用不等于</a:t>
              </a:r>
              <a:r>
                <a:rPr lang="zh-CN" sz="1280" b="1" dirty="0">
                  <a:solidFill>
                    <a:srgbClr val="FF957F"/>
                  </a:solidFill>
                  <a:latin typeface="+mn-lt"/>
                  <a:ea typeface="+mn-ea"/>
                  <a:cs typeface="+mn-cs"/>
                </a:rPr>
                <a:t>业务可运营</a:t>
              </a:r>
              <a:r>
                <a:rPr lang="zh-CN" sz="1280" b="1" dirty="0">
                  <a:solidFill>
                    <a:srgbClr val="FFFFFF"/>
                  </a:solidFill>
                  <a:latin typeface="+mn-lt"/>
                  <a:ea typeface="+mn-ea"/>
                  <a:cs typeface="+mn-cs"/>
                </a:rPr>
                <a:t>；业务可运营不等于</a:t>
              </a:r>
              <a:r>
                <a:rPr lang="zh-CN" sz="1280" b="1" dirty="0">
                  <a:solidFill>
                    <a:srgbClr val="FF957F"/>
                  </a:solidFill>
                  <a:latin typeface="+mn-lt"/>
                  <a:ea typeface="+mn-ea"/>
                  <a:cs typeface="+mn-cs"/>
                </a:rPr>
                <a:t>可复制</a:t>
              </a:r>
              <a:r>
                <a:rPr lang="zh-CN" sz="1280" b="1" dirty="0">
                  <a:solidFill>
                    <a:srgbClr val="FFFFFF"/>
                  </a:solidFill>
                  <a:latin typeface="+mn-lt"/>
                  <a:ea typeface="+mn-ea"/>
                  <a:cs typeface="+mn-cs"/>
                </a:rPr>
                <a:t>。</a:t>
              </a:r>
            </a:p>
          </p:txBody>
        </p:sp>
        <p:sp>
          <p:nvSpPr>
            <p:cNvPr id="155" name="TextBox 155"/>
            <p:cNvSpPr txBox="1"/>
            <p:nvPr/>
          </p:nvSpPr>
          <p:spPr>
            <a:xfrm>
              <a:off x="1004888" y="6125289"/>
              <a:ext cx="5858764" cy="154781"/>
            </a:xfrm>
            <a:prstGeom prst="rect">
              <a:avLst/>
            </a:prstGeom>
            <a:noFill/>
            <a:ln>
              <a:noFill/>
            </a:ln>
          </p:spPr>
          <p:txBody>
            <a:bodyPr wrap="none" lIns="0" tIns="0" rIns="0" bIns="0" anchor="t" anchorCtr="0">
              <a:spAutoFit/>
            </a:bodyPr>
            <a:lstStyle/>
            <a:p>
              <a:pPr algn="l"/>
              <a:r>
                <a:rPr lang="zh-CN" sz="790" dirty="0">
                  <a:solidFill>
                    <a:srgbClr val="DCE9F8"/>
                  </a:solidFill>
                  <a:latin typeface="+mn-lt"/>
                  <a:ea typeface="+mn-ea"/>
                  <a:cs typeface="+mn-cs"/>
                </a:rPr>
                <a:t>只有同时跨过场景、数据、系统、组织和流程的多重门槛，项目才能走出样板间，走向稳定、可持续和可复制的规模化应用。</a:t>
              </a:r>
            </a:p>
          </p:txBody>
        </p:sp>
      </p:grpSp>
      <p:grpSp>
        <p:nvGrpSpPr>
          <p:cNvPr id="160" name="footer"/>
          <p:cNvGrpSpPr/>
          <p:nvPr/>
        </p:nvGrpSpPr>
        <p:grpSpPr>
          <a:xfrm>
            <a:off x="0" y="6705600"/>
            <a:ext cx="12192000" cy="173117"/>
            <a:chOff x="0" y="6705600"/>
            <a:chExt cx="12192000" cy="173117"/>
          </a:xfrm>
        </p:grpSpPr>
        <p:sp>
          <p:nvSpPr>
            <p:cNvPr id="157" name="Rectangle 157"/>
            <p:cNvSpPr/>
            <p:nvPr/>
          </p:nvSpPr>
          <p:spPr>
            <a:xfrm>
              <a:off x="0" y="6705600"/>
              <a:ext cx="12192000" cy="152400"/>
            </a:xfrm>
            <a:prstGeom prst="rect">
              <a:avLst/>
            </a:prstGeom>
            <a:solidFill>
              <a:srgbClr val="632012"/>
            </a:solidFill>
            <a:ln>
              <a:noFill/>
            </a:ln>
          </p:spPr>
        </p:sp>
        <p:sp>
          <p:nvSpPr>
            <p:cNvPr id="158" name="TextBox 158"/>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59" name="TextBox 159"/>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16/20</a:t>
              </a:r>
            </a:p>
          </p:txBody>
        </p:sp>
      </p:gr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hills"/>
          <p:cNvSpPr/>
          <p:nvPr/>
        </p:nvSpPr>
        <p:spPr>
          <a:xfrm>
            <a:off x="0" y="6096000"/>
            <a:ext cx="12192000" cy="609600"/>
          </a:xfrm>
          <a:custGeom>
            <a:avLst/>
            <a:gdLst/>
            <a:ahLst/>
            <a:cxnLst/>
            <a:rect l="l" t="t" r="r" b="b"/>
            <a:pathLst>
              <a:path w="12192000" h="609600">
                <a:moveTo>
                  <a:pt x="0" y="609600"/>
                </a:moveTo>
                <a:lnTo>
                  <a:pt x="0" y="266700"/>
                </a:lnTo>
                <a:lnTo>
                  <a:pt x="1428750" y="38100"/>
                </a:lnTo>
                <a:lnTo>
                  <a:pt x="2857500" y="304800"/>
                </a:lnTo>
                <a:lnTo>
                  <a:pt x="4381500" y="0"/>
                </a:lnTo>
                <a:lnTo>
                  <a:pt x="5905500" y="323850"/>
                </a:lnTo>
                <a:lnTo>
                  <a:pt x="7429500" y="57150"/>
                </a:lnTo>
                <a:lnTo>
                  <a:pt x="8953500" y="342900"/>
                </a:lnTo>
                <a:lnTo>
                  <a:pt x="10477500" y="76200"/>
                </a:lnTo>
                <a:lnTo>
                  <a:pt x="12192000" y="285750"/>
                </a:lnTo>
                <a:lnTo>
                  <a:pt x="12192000" y="609600"/>
                </a:lnTo>
                <a:close/>
              </a:path>
            </a:pathLst>
          </a:custGeom>
          <a:solidFill>
            <a:srgbClr val="DCE9F8"/>
          </a:solidFill>
          <a:ln>
            <a:noFill/>
          </a:ln>
        </p:spPr>
      </p:sp>
      <p:grpSp>
        <p:nvGrpSpPr>
          <p:cNvPr id="9" name="header"/>
          <p:cNvGrpSpPr/>
          <p:nvPr/>
        </p:nvGrpSpPr>
        <p:grpSpPr>
          <a:xfrm>
            <a:off x="0" y="0"/>
            <a:ext cx="11739563" cy="551879"/>
            <a:chOff x="0" y="0"/>
            <a:chExt cx="11739563"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4" name="TextBox 4"/>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17</a:t>
              </a:r>
            </a:p>
          </p:txBody>
        </p:sp>
        <p:sp>
          <p:nvSpPr>
            <p:cNvPr id="5" name="TextBox 5"/>
            <p:cNvSpPr txBox="1"/>
            <p:nvPr/>
          </p:nvSpPr>
          <p:spPr>
            <a:xfrm>
              <a:off x="942594" y="170498"/>
              <a:ext cx="5844540"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衡量体系</a:t>
              </a:r>
              <a:r>
                <a:rPr lang="zh-CN" sz="1950" b="1" dirty="0">
                  <a:solidFill>
                    <a:srgbClr val="5E2114"/>
                  </a:solidFill>
                  <a:latin typeface="+mj-lt"/>
                  <a:ea typeface="+mj-ea"/>
                  <a:cs typeface="+mj-cs"/>
                </a:rPr>
                <a:t>｜六类指标把技术成效翻译成经营结果</a:t>
              </a:r>
            </a:p>
          </p:txBody>
        </p:sp>
        <p:sp>
          <p:nvSpPr>
            <p:cNvPr id="6" name="Line 6"/>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7" name="TextBox 7"/>
            <p:cNvSpPr txBox="1"/>
            <p:nvPr/>
          </p:nvSpPr>
          <p:spPr>
            <a:xfrm>
              <a:off x="10814622" y="60484"/>
              <a:ext cx="924941"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从技术落地到经营成效</a:t>
              </a:r>
            </a:p>
          </p:txBody>
        </p:sp>
        <p:sp>
          <p:nvSpPr>
            <p:cNvPr id="8" name="TextBox 8"/>
            <p:cNvSpPr txBox="1"/>
            <p:nvPr/>
          </p:nvSpPr>
          <p:spPr>
            <a:xfrm>
              <a:off x="10749629" y="207645"/>
              <a:ext cx="989933" cy="328612"/>
            </a:xfrm>
            <a:prstGeom prst="rect">
              <a:avLst/>
            </a:prstGeom>
            <a:noFill/>
            <a:ln>
              <a:noFill/>
            </a:ln>
          </p:spPr>
          <p:txBody>
            <a:bodyPr wrap="none" lIns="0" tIns="0" rIns="0" bIns="0" anchor="t" anchorCtr="0">
              <a:spAutoFit/>
            </a:bodyPr>
            <a:lstStyle/>
            <a:p>
              <a:pPr algn="r">
                <a:lnSpc>
                  <a:spcPts val="1200"/>
                </a:lnSpc>
              </a:pPr>
              <a:r>
                <a:rPr lang="zh-CN" sz="900" b="1" i="1" dirty="0">
                  <a:solidFill>
                    <a:srgbClr val="9C331E"/>
                  </a:solidFill>
                  <a:latin typeface="+mn-lt"/>
                  <a:ea typeface="+mn-ea"/>
                  <a:cs typeface="+mn-cs"/>
                </a:rPr>
                <a:t>用可衡量的改变</a:t>
              </a:r>
              <a:br/>
              <a:r>
                <a:rPr lang="zh-CN" sz="900" b="1" i="1" dirty="0">
                  <a:solidFill>
                    <a:srgbClr val="9C331E"/>
                  </a:solidFill>
                  <a:latin typeface="+mn-lt"/>
                  <a:ea typeface="+mn-ea"/>
                  <a:cs typeface="+mn-cs"/>
                </a:rPr>
                <a:t>创造可持续的价值​</a:t>
              </a:r>
            </a:p>
          </p:txBody>
        </p:sp>
      </p:grpSp>
      <p:grpSp>
        <p:nvGrpSpPr>
          <p:cNvPr id="11" name="subtitle"/>
          <p:cNvGrpSpPr/>
          <p:nvPr/>
        </p:nvGrpSpPr>
        <p:grpSpPr>
          <a:xfrm>
            <a:off x="985838" y="660797"/>
            <a:ext cx="5324323" cy="183356"/>
            <a:chOff x="985838" y="660797"/>
            <a:chExt cx="5324323" cy="183356"/>
          </a:xfrm>
        </p:grpSpPr>
        <p:sp>
          <p:nvSpPr>
            <p:cNvPr id="10" name="TextBox 10"/>
            <p:cNvSpPr txBox="1"/>
            <p:nvPr/>
          </p:nvSpPr>
          <p:spPr>
            <a:xfrm>
              <a:off x="985838" y="660797"/>
              <a:ext cx="5324323" cy="183356"/>
            </a:xfrm>
            <a:prstGeom prst="rect">
              <a:avLst/>
            </a:prstGeom>
            <a:noFill/>
            <a:ln>
              <a:noFill/>
            </a:ln>
          </p:spPr>
          <p:txBody>
            <a:bodyPr wrap="none" lIns="0" tIns="0" rIns="0" bIns="0" anchor="t" anchorCtr="0">
              <a:spAutoFit/>
            </a:bodyPr>
            <a:lstStyle/>
            <a:p>
              <a:pPr algn="l"/>
              <a:r>
                <a:rPr lang="zh-CN" sz="940" dirty="0">
                  <a:solidFill>
                    <a:srgbClr val="573F3A"/>
                  </a:solidFill>
                  <a:latin typeface="+mn-lt"/>
                  <a:ea typeface="+mn-ea"/>
                  <a:cs typeface="+mn-cs"/>
                </a:rPr>
                <a:t>以经营为导向，建立可量化、可比较、可验证的指标体系，让技术投入看得见、算得清、可持续</a:t>
              </a:r>
            </a:p>
          </p:txBody>
        </p:sp>
      </p:grpSp>
      <p:grpSp>
        <p:nvGrpSpPr>
          <p:cNvPr id="25" name="metric-1"/>
          <p:cNvGrpSpPr/>
          <p:nvPr/>
        </p:nvGrpSpPr>
        <p:grpSpPr>
          <a:xfrm>
            <a:off x="381000" y="914400"/>
            <a:ext cx="1809750" cy="2209800"/>
            <a:chOff x="381000" y="914400"/>
            <a:chExt cx="1809750" cy="2209800"/>
          </a:xfrm>
        </p:grpSpPr>
        <p:sp>
          <p:nvSpPr>
            <p:cNvPr id="12" name="Rectangle 12"/>
            <p:cNvSpPr/>
            <p:nvPr/>
          </p:nvSpPr>
          <p:spPr>
            <a:xfrm>
              <a:off x="381000" y="914400"/>
              <a:ext cx="1809750" cy="2209800"/>
            </a:xfrm>
            <a:prstGeom prst="roundRect">
              <a:avLst>
                <a:gd name="adj" fmla="val 3158"/>
              </a:avLst>
            </a:prstGeom>
            <a:solidFill>
              <a:srgbClr val="FFFFFF"/>
            </a:solidFill>
            <a:ln w="9525">
              <a:solidFill>
                <a:srgbClr val="C7D9F0"/>
              </a:solidFill>
            </a:ln>
          </p:spPr>
        </p:sp>
        <p:sp>
          <p:nvSpPr>
            <p:cNvPr id="13" name="Ellipse 13"/>
            <p:cNvSpPr/>
            <p:nvPr/>
          </p:nvSpPr>
          <p:spPr>
            <a:xfrm>
              <a:off x="476250" y="1009650"/>
              <a:ext cx="381000" cy="381000"/>
            </a:xfrm>
            <a:prstGeom prst="ellipse">
              <a:avLst/>
            </a:prstGeom>
            <a:solidFill>
              <a:srgbClr val="9C331E"/>
            </a:solidFill>
            <a:ln>
              <a:noFill/>
            </a:ln>
          </p:spPr>
        </p:sp>
        <p:grpSp>
          <p:nvGrpSpPr>
            <p:cNvPr id="16" name="Group 16"/>
            <p:cNvGrpSpPr/>
            <p:nvPr/>
          </p:nvGrpSpPr>
          <p:grpSpPr>
            <a:xfrm>
              <a:off x="584336" y="1117736"/>
              <a:ext cx="164829" cy="164829"/>
              <a:chOff x="584336" y="1117736"/>
              <a:chExt cx="164829" cy="164829"/>
            </a:xfrm>
          </p:grpSpPr>
          <p:sp>
            <p:nvSpPr>
              <p:cNvPr id="14" name="Freeform 14"/>
              <p:cNvSpPr/>
              <p:nvPr/>
            </p:nvSpPr>
            <p:spPr>
              <a:xfrm>
                <a:off x="584336" y="1117736"/>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FFFFFF"/>
                </a:solidFill>
              </a:ln>
            </p:spPr>
          </p:sp>
          <p:sp>
            <p:nvSpPr>
              <p:cNvPr id="15" name="Freeform 15"/>
              <p:cNvSpPr/>
              <p:nvPr/>
            </p:nvSpPr>
            <p:spPr>
              <a:xfrm>
                <a:off x="640556" y="1173956"/>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FFFFFF"/>
                </a:solidFill>
              </a:ln>
            </p:spPr>
          </p:sp>
        </p:grpSp>
        <p:sp>
          <p:nvSpPr>
            <p:cNvPr id="17" name="TextBox 17"/>
            <p:cNvSpPr txBox="1"/>
            <p:nvPr/>
          </p:nvSpPr>
          <p:spPr>
            <a:xfrm>
              <a:off x="946023" y="1024414"/>
              <a:ext cx="357581" cy="249364"/>
            </a:xfrm>
            <a:prstGeom prst="rect">
              <a:avLst/>
            </a:prstGeom>
            <a:noFill/>
            <a:ln>
              <a:noFill/>
            </a:ln>
          </p:spPr>
          <p:txBody>
            <a:bodyPr wrap="none" lIns="0" tIns="0" rIns="0" bIns="0" anchor="t" anchorCtr="0">
              <a:spAutoFit/>
            </a:bodyPr>
            <a:lstStyle/>
            <a:p>
              <a:pPr algn="l"/>
              <a:r>
                <a:rPr lang="zh-CN" sz="1280" b="1" dirty="0">
                  <a:solidFill>
                    <a:srgbClr val="5E2114"/>
                  </a:solidFill>
                  <a:latin typeface="+mn-lt"/>
                  <a:ea typeface="+mn-ea"/>
                  <a:cs typeface="+mn-cs"/>
                </a:rPr>
                <a:t>效率</a:t>
              </a:r>
            </a:p>
          </p:txBody>
        </p:sp>
        <p:sp>
          <p:nvSpPr>
            <p:cNvPr id="18" name="TextBox 18"/>
            <p:cNvSpPr txBox="1"/>
            <p:nvPr/>
          </p:nvSpPr>
          <p:spPr>
            <a:xfrm>
              <a:off x="947738" y="1260634"/>
              <a:ext cx="833399"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更快地完成更多价值</a:t>
              </a:r>
            </a:p>
          </p:txBody>
        </p:sp>
        <p:sp>
          <p:nvSpPr>
            <p:cNvPr id="19" name="Line 19"/>
            <p:cNvSpPr/>
            <p:nvPr/>
          </p:nvSpPr>
          <p:spPr>
            <a:xfrm>
              <a:off x="476250" y="1485900"/>
              <a:ext cx="1619250" cy="9525"/>
            </a:xfrm>
            <a:custGeom>
              <a:avLst/>
              <a:gdLst/>
              <a:ahLst/>
              <a:cxnLst/>
              <a:rect l="l" t="t" r="r" b="b"/>
              <a:pathLst>
                <a:path w="1619250" h="9525">
                  <a:moveTo>
                    <a:pt x="0" y="0"/>
                  </a:moveTo>
                  <a:lnTo>
                    <a:pt x="1619250" y="0"/>
                  </a:lnTo>
                </a:path>
              </a:pathLst>
            </a:custGeom>
            <a:noFill/>
            <a:ln w="9525">
              <a:solidFill>
                <a:srgbClr val="C7D9F0"/>
              </a:solidFill>
            </a:ln>
          </p:spPr>
        </p:sp>
        <p:sp>
          <p:nvSpPr>
            <p:cNvPr id="20" name="Rectangle 20"/>
            <p:cNvSpPr/>
            <p:nvPr/>
          </p:nvSpPr>
          <p:spPr>
            <a:xfrm>
              <a:off x="476250" y="1562100"/>
              <a:ext cx="1619250" cy="800100"/>
            </a:xfrm>
            <a:prstGeom prst="roundRect">
              <a:avLst>
                <a:gd name="adj" fmla="val 4762"/>
              </a:avLst>
            </a:prstGeom>
            <a:solidFill>
              <a:srgbClr val="EFF5FC"/>
            </a:solidFill>
            <a:ln>
              <a:noFill/>
            </a:ln>
          </p:spPr>
        </p:sp>
        <p:sp>
          <p:nvSpPr>
            <p:cNvPr id="21" name="TextBox 21"/>
            <p:cNvSpPr txBox="1"/>
            <p:nvPr/>
          </p:nvSpPr>
          <p:spPr>
            <a:xfrm>
              <a:off x="547688" y="1645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示例指标</a:t>
              </a:r>
            </a:p>
          </p:txBody>
        </p:sp>
        <p:sp>
          <p:nvSpPr>
            <p:cNvPr id="22" name="TextBox 22"/>
            <p:cNvSpPr txBox="1"/>
            <p:nvPr/>
          </p:nvSpPr>
          <p:spPr>
            <a:xfrm>
              <a:off x="547688" y="1809036"/>
              <a:ext cx="947293" cy="445294"/>
            </a:xfrm>
            <a:prstGeom prst="rect">
              <a:avLst/>
            </a:prstGeom>
            <a:noFill/>
            <a:ln>
              <a:noFill/>
            </a:ln>
          </p:spPr>
          <p:txBody>
            <a:bodyPr wrap="none" lIns="0" tIns="0" rIns="0" bIns="0" anchor="t" anchorCtr="0">
              <a:spAutoFit/>
            </a:bodyPr>
            <a:lstStyle/>
            <a:p>
              <a:pPr algn="l" marL="76644" indent="-76644">
                <a:lnSpc>
                  <a:spcPts val="1200"/>
                </a:lnSpc>
                <a:buClr>
                  <a:srgbClr val="573F3A"/>
                </a:buClr>
                <a:buSzTx/>
                <a:buFontTx/>
                <a:buChar char="•"/>
              </a:pPr>
              <a:r>
                <a:rPr lang="zh-CN" sz="710" dirty="0">
                  <a:solidFill>
                    <a:srgbClr val="573F3A"/>
                  </a:solidFill>
                  <a:latin typeface="+mn-lt"/>
                  <a:ea typeface="+mn-ea"/>
                  <a:cs typeface="+mn-cs"/>
                </a:rPr>
                <a:t>单位工时／周期</a:t>
              </a:r>
            </a:p>
            <a:p>
              <a:pPr algn="l" marL="76644" indent="-76644">
                <a:lnSpc>
                  <a:spcPts val="1200"/>
                </a:lnSpc>
                <a:buClr>
                  <a:srgbClr val="573F3A"/>
                </a:buClr>
                <a:buSzTx/>
                <a:buFontTx/>
                <a:buChar char="•"/>
              </a:pPr>
              <a:r>
                <a:rPr lang="zh-CN" sz="710" dirty="0">
                  <a:solidFill>
                    <a:srgbClr val="573F3A"/>
                  </a:solidFill>
                  <a:latin typeface="+mn-lt"/>
                  <a:ea typeface="+mn-ea"/>
                  <a:cs typeface="+mn-cs"/>
                </a:rPr>
                <a:t>流程时长／吞吐能力​</a:t>
              </a:r>
              <a:br/>
              <a:r>
                <a:rPr lang="zh-CN" sz="710" dirty="0">
                  <a:solidFill>
                    <a:srgbClr val="573F3A"/>
                  </a:solidFill>
                  <a:latin typeface="+mn-lt"/>
                  <a:ea typeface="+mn-ea"/>
                  <a:cs typeface="+mn-cs"/>
                </a:rPr>
                <a:t>……</a:t>
              </a:r>
            </a:p>
          </p:txBody>
        </p:sp>
        <p:sp>
          <p:nvSpPr>
            <p:cNvPr id="23" name="Rectangle 23"/>
            <p:cNvSpPr/>
            <p:nvPr/>
          </p:nvSpPr>
          <p:spPr>
            <a:xfrm>
              <a:off x="476250" y="2457450"/>
              <a:ext cx="1619250" cy="552450"/>
            </a:xfrm>
            <a:prstGeom prst="roundRect">
              <a:avLst>
                <a:gd name="adj" fmla="val 6897"/>
              </a:avLst>
            </a:prstGeom>
            <a:solidFill>
              <a:srgbClr val="DCE9F8"/>
            </a:solidFill>
            <a:ln>
              <a:noFill/>
            </a:ln>
          </p:spPr>
        </p:sp>
        <p:sp>
          <p:nvSpPr>
            <p:cNvPr id="24" name="TextBox 24"/>
            <p:cNvSpPr txBox="1"/>
            <p:nvPr/>
          </p:nvSpPr>
          <p:spPr>
            <a:xfrm>
              <a:off x="1051482" y="2601039"/>
              <a:ext cx="468786" cy="326231"/>
            </a:xfrm>
            <a:prstGeom prst="rect">
              <a:avLst/>
            </a:prstGeom>
            <a:noFill/>
            <a:ln>
              <a:noFill/>
            </a:ln>
          </p:spPr>
          <p:txBody>
            <a:bodyPr wrap="none" lIns="0" tIns="0" rIns="0" bIns="0" anchor="t" anchorCtr="0">
              <a:spAutoFit/>
            </a:bodyPr>
            <a:lstStyle/>
            <a:p>
              <a:pPr algn="ctr">
                <a:lnSpc>
                  <a:spcPts val="1350"/>
                </a:lnSpc>
              </a:pPr>
              <a:r>
                <a:rPr lang="zh-CN" sz="790" b="1" dirty="0">
                  <a:solidFill>
                    <a:srgbClr val="9C331E"/>
                  </a:solidFill>
                  <a:latin typeface="+mn-lt"/>
                  <a:ea typeface="+mn-ea"/>
                  <a:cs typeface="+mn-cs"/>
                </a:rPr>
                <a:t>缩短周期​</a:t>
              </a:r>
              <a:br/>
              <a:r>
                <a:rPr lang="zh-CN" sz="790" b="1" dirty="0">
                  <a:solidFill>
                    <a:srgbClr val="9C331E"/>
                  </a:solidFill>
                  <a:latin typeface="+mn-lt"/>
                  <a:ea typeface="+mn-ea"/>
                  <a:cs typeface="+mn-cs"/>
                </a:rPr>
                <a:t>提升产出​</a:t>
              </a:r>
            </a:p>
          </p:txBody>
        </p:sp>
      </p:grpSp>
      <p:grpSp>
        <p:nvGrpSpPr>
          <p:cNvPr id="40" name="metric-2"/>
          <p:cNvGrpSpPr/>
          <p:nvPr/>
        </p:nvGrpSpPr>
        <p:grpSpPr>
          <a:xfrm>
            <a:off x="2305050" y="914400"/>
            <a:ext cx="1809750" cy="2209800"/>
            <a:chOff x="2305050" y="914400"/>
            <a:chExt cx="1809750" cy="2209800"/>
          </a:xfrm>
        </p:grpSpPr>
        <p:sp>
          <p:nvSpPr>
            <p:cNvPr id="26" name="Rectangle 26"/>
            <p:cNvSpPr/>
            <p:nvPr/>
          </p:nvSpPr>
          <p:spPr>
            <a:xfrm>
              <a:off x="2305050" y="914400"/>
              <a:ext cx="1809750" cy="2209800"/>
            </a:xfrm>
            <a:prstGeom prst="roundRect">
              <a:avLst>
                <a:gd name="adj" fmla="val 3158"/>
              </a:avLst>
            </a:prstGeom>
            <a:solidFill>
              <a:srgbClr val="FFFFFF"/>
            </a:solidFill>
            <a:ln w="9525">
              <a:solidFill>
                <a:srgbClr val="C7D9F0"/>
              </a:solidFill>
            </a:ln>
          </p:spPr>
        </p:sp>
        <p:sp>
          <p:nvSpPr>
            <p:cNvPr id="27" name="Ellipse 27"/>
            <p:cNvSpPr/>
            <p:nvPr/>
          </p:nvSpPr>
          <p:spPr>
            <a:xfrm>
              <a:off x="2400300" y="1009650"/>
              <a:ext cx="381000" cy="381000"/>
            </a:xfrm>
            <a:prstGeom prst="ellipse">
              <a:avLst/>
            </a:prstGeom>
            <a:solidFill>
              <a:srgbClr val="9C331E"/>
            </a:solidFill>
            <a:ln>
              <a:noFill/>
            </a:ln>
          </p:spPr>
        </p:sp>
        <p:grpSp>
          <p:nvGrpSpPr>
            <p:cNvPr id="31" name="Group 31"/>
            <p:cNvGrpSpPr/>
            <p:nvPr/>
          </p:nvGrpSpPr>
          <p:grpSpPr>
            <a:xfrm>
              <a:off x="2515729" y="1121569"/>
              <a:ext cx="150125" cy="156202"/>
              <a:chOff x="2515729" y="1121569"/>
              <a:chExt cx="150125" cy="156202"/>
            </a:xfrm>
          </p:grpSpPr>
          <p:sp>
            <p:nvSpPr>
              <p:cNvPr id="28" name="Freeform 28"/>
              <p:cNvSpPr/>
              <p:nvPr/>
            </p:nvSpPr>
            <p:spPr>
              <a:xfrm>
                <a:off x="2538413" y="1121569"/>
                <a:ext cx="104775" cy="104775"/>
              </a:xfrm>
              <a:custGeom>
                <a:avLst/>
                <a:gdLst/>
                <a:ahLst/>
                <a:cxnLst/>
                <a:rect l="l" t="t" r="r" b="b"/>
                <a:pathLst>
                  <a:path w="104775" h="104775">
                    <a:moveTo>
                      <a:pt x="0" y="52388"/>
                    </a:moveTo>
                    <a:cubicBezTo>
                      <a:pt x="0" y="81320"/>
                      <a:pt x="23455" y="104775"/>
                      <a:pt x="52388" y="104775"/>
                    </a:cubicBezTo>
                    <a:cubicBezTo>
                      <a:pt x="81320" y="104775"/>
                      <a:pt x="104775" y="81320"/>
                      <a:pt x="104775" y="52388"/>
                    </a:cubicBezTo>
                    <a:cubicBezTo>
                      <a:pt x="104775" y="23455"/>
                      <a:pt x="81320" y="0"/>
                      <a:pt x="52388" y="0"/>
                    </a:cubicBezTo>
                    <a:cubicBezTo>
                      <a:pt x="23455" y="0"/>
                      <a:pt x="0" y="23455"/>
                      <a:pt x="0" y="52388"/>
                    </a:cubicBezTo>
                  </a:path>
                </a:pathLst>
              </a:custGeom>
              <a:noFill/>
              <a:ln w="17463">
                <a:solidFill>
                  <a:srgbClr val="FFFFFF"/>
                </a:solidFill>
              </a:ln>
            </p:spPr>
          </p:sp>
          <p:sp>
            <p:nvSpPr>
              <p:cNvPr id="29" name="Freeform 29"/>
              <p:cNvSpPr/>
              <p:nvPr/>
            </p:nvSpPr>
            <p:spPr>
              <a:xfrm>
                <a:off x="2590800" y="1200150"/>
                <a:ext cx="75054" cy="77621"/>
              </a:xfrm>
              <a:custGeom>
                <a:avLst/>
                <a:gdLst/>
                <a:ahLst/>
                <a:cxnLst/>
                <a:rect l="l" t="t" r="r" b="b"/>
                <a:pathLst>
                  <a:path w="75054" h="77621">
                    <a:moveTo>
                      <a:pt x="0" y="26194"/>
                    </a:moveTo>
                    <a:lnTo>
                      <a:pt x="29686" y="77621"/>
                    </a:lnTo>
                    <a:lnTo>
                      <a:pt x="43639" y="49393"/>
                    </a:lnTo>
                    <a:lnTo>
                      <a:pt x="75054" y="51418"/>
                    </a:lnTo>
                    <a:lnTo>
                      <a:pt x="45368" y="0"/>
                    </a:lnTo>
                  </a:path>
                </a:pathLst>
              </a:custGeom>
              <a:noFill/>
              <a:ln w="17463">
                <a:solidFill>
                  <a:srgbClr val="FFFFFF"/>
                </a:solidFill>
              </a:ln>
            </p:spPr>
          </p:sp>
          <p:sp>
            <p:nvSpPr>
              <p:cNvPr id="30" name="Freeform 30"/>
              <p:cNvSpPr/>
              <p:nvPr/>
            </p:nvSpPr>
            <p:spPr>
              <a:xfrm>
                <a:off x="2515729" y="1200150"/>
                <a:ext cx="75054" cy="77612"/>
              </a:xfrm>
              <a:custGeom>
                <a:avLst/>
                <a:gdLst/>
                <a:ahLst/>
                <a:cxnLst/>
                <a:rect l="l" t="t" r="r" b="b"/>
                <a:pathLst>
                  <a:path w="75054" h="77612">
                    <a:moveTo>
                      <a:pt x="29686" y="0"/>
                    </a:moveTo>
                    <a:lnTo>
                      <a:pt x="0" y="51427"/>
                    </a:lnTo>
                    <a:lnTo>
                      <a:pt x="31415" y="49393"/>
                    </a:lnTo>
                    <a:lnTo>
                      <a:pt x="45368" y="77612"/>
                    </a:lnTo>
                    <a:lnTo>
                      <a:pt x="75054" y="26194"/>
                    </a:lnTo>
                  </a:path>
                </a:pathLst>
              </a:custGeom>
              <a:noFill/>
              <a:ln w="17463">
                <a:solidFill>
                  <a:srgbClr val="FFFFFF"/>
                </a:solidFill>
              </a:ln>
            </p:spPr>
          </p:sp>
        </p:grpSp>
        <p:sp>
          <p:nvSpPr>
            <p:cNvPr id="32" name="TextBox 32"/>
            <p:cNvSpPr txBox="1"/>
            <p:nvPr/>
          </p:nvSpPr>
          <p:spPr>
            <a:xfrm>
              <a:off x="2870073" y="1024414"/>
              <a:ext cx="357581" cy="249364"/>
            </a:xfrm>
            <a:prstGeom prst="rect">
              <a:avLst/>
            </a:prstGeom>
            <a:noFill/>
            <a:ln>
              <a:noFill/>
            </a:ln>
          </p:spPr>
          <p:txBody>
            <a:bodyPr wrap="none" lIns="0" tIns="0" rIns="0" bIns="0" anchor="t" anchorCtr="0">
              <a:spAutoFit/>
            </a:bodyPr>
            <a:lstStyle/>
            <a:p>
              <a:pPr algn="l"/>
              <a:r>
                <a:rPr lang="zh-CN" sz="1280" b="1" dirty="0">
                  <a:solidFill>
                    <a:srgbClr val="5E2114"/>
                  </a:solidFill>
                  <a:latin typeface="+mn-lt"/>
                  <a:ea typeface="+mn-ea"/>
                  <a:cs typeface="+mn-cs"/>
                </a:rPr>
                <a:t>质量</a:t>
              </a:r>
            </a:p>
          </p:txBody>
        </p:sp>
        <p:sp>
          <p:nvSpPr>
            <p:cNvPr id="33" name="TextBox 33"/>
            <p:cNvSpPr txBox="1"/>
            <p:nvPr/>
          </p:nvSpPr>
          <p:spPr>
            <a:xfrm>
              <a:off x="2871788" y="1260634"/>
              <a:ext cx="741858"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更稳定地交付成果</a:t>
              </a:r>
            </a:p>
          </p:txBody>
        </p:sp>
        <p:sp>
          <p:nvSpPr>
            <p:cNvPr id="34" name="Line 34"/>
            <p:cNvSpPr/>
            <p:nvPr/>
          </p:nvSpPr>
          <p:spPr>
            <a:xfrm>
              <a:off x="2400300" y="1485900"/>
              <a:ext cx="1619250" cy="9525"/>
            </a:xfrm>
            <a:custGeom>
              <a:avLst/>
              <a:gdLst/>
              <a:ahLst/>
              <a:cxnLst/>
              <a:rect l="l" t="t" r="r" b="b"/>
              <a:pathLst>
                <a:path w="1619250" h="9525">
                  <a:moveTo>
                    <a:pt x="0" y="0"/>
                  </a:moveTo>
                  <a:lnTo>
                    <a:pt x="1619250" y="0"/>
                  </a:lnTo>
                </a:path>
              </a:pathLst>
            </a:custGeom>
            <a:noFill/>
            <a:ln w="9525">
              <a:solidFill>
                <a:srgbClr val="C7D9F0"/>
              </a:solidFill>
            </a:ln>
          </p:spPr>
        </p:sp>
        <p:sp>
          <p:nvSpPr>
            <p:cNvPr id="35" name="Rectangle 35"/>
            <p:cNvSpPr/>
            <p:nvPr/>
          </p:nvSpPr>
          <p:spPr>
            <a:xfrm>
              <a:off x="2400300" y="1562100"/>
              <a:ext cx="1619250" cy="800100"/>
            </a:xfrm>
            <a:prstGeom prst="roundRect">
              <a:avLst>
                <a:gd name="adj" fmla="val 4762"/>
              </a:avLst>
            </a:prstGeom>
            <a:solidFill>
              <a:srgbClr val="EFF5FC"/>
            </a:solidFill>
            <a:ln>
              <a:noFill/>
            </a:ln>
          </p:spPr>
        </p:sp>
        <p:sp>
          <p:nvSpPr>
            <p:cNvPr id="36" name="TextBox 36"/>
            <p:cNvSpPr txBox="1"/>
            <p:nvPr/>
          </p:nvSpPr>
          <p:spPr>
            <a:xfrm>
              <a:off x="2471738" y="1645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示例指标</a:t>
              </a:r>
            </a:p>
          </p:txBody>
        </p:sp>
        <p:sp>
          <p:nvSpPr>
            <p:cNvPr id="37" name="TextBox 37"/>
            <p:cNvSpPr txBox="1"/>
            <p:nvPr/>
          </p:nvSpPr>
          <p:spPr>
            <a:xfrm>
              <a:off x="2471738" y="1809036"/>
              <a:ext cx="947293" cy="445294"/>
            </a:xfrm>
            <a:prstGeom prst="rect">
              <a:avLst/>
            </a:prstGeom>
            <a:noFill/>
            <a:ln>
              <a:noFill/>
            </a:ln>
          </p:spPr>
          <p:txBody>
            <a:bodyPr wrap="none" lIns="0" tIns="0" rIns="0" bIns="0" anchor="t" anchorCtr="0">
              <a:spAutoFit/>
            </a:bodyPr>
            <a:lstStyle/>
            <a:p>
              <a:pPr algn="l" marL="76644" indent="-76644">
                <a:lnSpc>
                  <a:spcPts val="1200"/>
                </a:lnSpc>
                <a:buClr>
                  <a:srgbClr val="573F3A"/>
                </a:buClr>
                <a:buSzTx/>
                <a:buFontTx/>
                <a:buChar char="•"/>
              </a:pPr>
              <a:r>
                <a:rPr lang="zh-CN" sz="710" dirty="0">
                  <a:solidFill>
                    <a:srgbClr val="573F3A"/>
                  </a:solidFill>
                  <a:latin typeface="+mn-lt"/>
                  <a:ea typeface="+mn-ea"/>
                  <a:cs typeface="+mn-cs"/>
                </a:rPr>
                <a:t>良率／偏差</a:t>
              </a:r>
            </a:p>
            <a:p>
              <a:pPr algn="l" marL="76644" indent="-76644">
                <a:lnSpc>
                  <a:spcPts val="1200"/>
                </a:lnSpc>
                <a:buClr>
                  <a:srgbClr val="573F3A"/>
                </a:buClr>
                <a:buSzTx/>
                <a:buFontTx/>
                <a:buChar char="•"/>
              </a:pPr>
              <a:r>
                <a:rPr lang="zh-CN" sz="710" dirty="0">
                  <a:solidFill>
                    <a:srgbClr val="573F3A"/>
                  </a:solidFill>
                  <a:latin typeface="+mn-lt"/>
                  <a:ea typeface="+mn-ea"/>
                  <a:cs typeface="+mn-cs"/>
                </a:rPr>
                <a:t>一次通过率／客诉量​</a:t>
              </a:r>
              <a:br/>
              <a:r>
                <a:rPr lang="zh-CN" sz="710" dirty="0">
                  <a:solidFill>
                    <a:srgbClr val="573F3A"/>
                  </a:solidFill>
                  <a:latin typeface="+mn-lt"/>
                  <a:ea typeface="+mn-ea"/>
                  <a:cs typeface="+mn-cs"/>
                </a:rPr>
                <a:t>……</a:t>
              </a:r>
            </a:p>
          </p:txBody>
        </p:sp>
        <p:sp>
          <p:nvSpPr>
            <p:cNvPr id="38" name="Rectangle 38"/>
            <p:cNvSpPr/>
            <p:nvPr/>
          </p:nvSpPr>
          <p:spPr>
            <a:xfrm>
              <a:off x="2400300" y="2457450"/>
              <a:ext cx="1619250" cy="552450"/>
            </a:xfrm>
            <a:prstGeom prst="roundRect">
              <a:avLst>
                <a:gd name="adj" fmla="val 6897"/>
              </a:avLst>
            </a:prstGeom>
            <a:solidFill>
              <a:srgbClr val="DCE9F8"/>
            </a:solidFill>
            <a:ln>
              <a:noFill/>
            </a:ln>
          </p:spPr>
        </p:sp>
        <p:sp>
          <p:nvSpPr>
            <p:cNvPr id="39" name="TextBox 39"/>
            <p:cNvSpPr txBox="1"/>
            <p:nvPr/>
          </p:nvSpPr>
          <p:spPr>
            <a:xfrm>
              <a:off x="2925367" y="2601039"/>
              <a:ext cx="569116" cy="326231"/>
            </a:xfrm>
            <a:prstGeom prst="rect">
              <a:avLst/>
            </a:prstGeom>
            <a:noFill/>
            <a:ln>
              <a:noFill/>
            </a:ln>
          </p:spPr>
          <p:txBody>
            <a:bodyPr wrap="none" lIns="0" tIns="0" rIns="0" bIns="0" anchor="t" anchorCtr="0">
              <a:spAutoFit/>
            </a:bodyPr>
            <a:lstStyle/>
            <a:p>
              <a:pPr algn="ctr">
                <a:lnSpc>
                  <a:spcPts val="1350"/>
                </a:lnSpc>
              </a:pPr>
              <a:r>
                <a:rPr lang="zh-CN" sz="790" b="1" dirty="0">
                  <a:solidFill>
                    <a:srgbClr val="9C331E"/>
                  </a:solidFill>
                  <a:latin typeface="+mn-lt"/>
                  <a:ea typeface="+mn-ea"/>
                  <a:cs typeface="+mn-cs"/>
                </a:rPr>
                <a:t>减少缺陷</a:t>
              </a:r>
              <a:br/>
              <a:r>
                <a:rPr lang="zh-CN" sz="790" b="1" dirty="0">
                  <a:solidFill>
                    <a:srgbClr val="9C331E"/>
                  </a:solidFill>
                  <a:latin typeface="+mn-lt"/>
                  <a:ea typeface="+mn-ea"/>
                  <a:cs typeface="+mn-cs"/>
                </a:rPr>
                <a:t>提升可靠性​</a:t>
              </a:r>
            </a:p>
          </p:txBody>
        </p:sp>
      </p:grpSp>
      <p:grpSp>
        <p:nvGrpSpPr>
          <p:cNvPr id="54" name="metric-3"/>
          <p:cNvGrpSpPr/>
          <p:nvPr/>
        </p:nvGrpSpPr>
        <p:grpSpPr>
          <a:xfrm>
            <a:off x="4229100" y="914400"/>
            <a:ext cx="1809750" cy="2209800"/>
            <a:chOff x="4229100" y="914400"/>
            <a:chExt cx="1809750" cy="2209800"/>
          </a:xfrm>
        </p:grpSpPr>
        <p:sp>
          <p:nvSpPr>
            <p:cNvPr id="41" name="Rectangle 41"/>
            <p:cNvSpPr/>
            <p:nvPr/>
          </p:nvSpPr>
          <p:spPr>
            <a:xfrm>
              <a:off x="4229100" y="914400"/>
              <a:ext cx="1809750" cy="2209800"/>
            </a:xfrm>
            <a:prstGeom prst="roundRect">
              <a:avLst>
                <a:gd name="adj" fmla="val 3158"/>
              </a:avLst>
            </a:prstGeom>
            <a:solidFill>
              <a:srgbClr val="FFFFFF"/>
            </a:solidFill>
            <a:ln w="9525">
              <a:solidFill>
                <a:srgbClr val="C7D9F0"/>
              </a:solidFill>
            </a:ln>
          </p:spPr>
        </p:sp>
        <p:sp>
          <p:nvSpPr>
            <p:cNvPr id="42" name="Ellipse 42"/>
            <p:cNvSpPr/>
            <p:nvPr/>
          </p:nvSpPr>
          <p:spPr>
            <a:xfrm>
              <a:off x="4324350" y="1009650"/>
              <a:ext cx="381000" cy="381000"/>
            </a:xfrm>
            <a:prstGeom prst="ellipse">
              <a:avLst/>
            </a:prstGeom>
            <a:solidFill>
              <a:srgbClr val="9C331E"/>
            </a:solidFill>
            <a:ln>
              <a:noFill/>
            </a:ln>
          </p:spPr>
        </p:sp>
        <p:grpSp>
          <p:nvGrpSpPr>
            <p:cNvPr id="45" name="Group 45"/>
            <p:cNvGrpSpPr/>
            <p:nvPr/>
          </p:nvGrpSpPr>
          <p:grpSpPr>
            <a:xfrm>
              <a:off x="4424485" y="1121569"/>
              <a:ext cx="170506" cy="157162"/>
              <a:chOff x="4424485" y="1121569"/>
              <a:chExt cx="170506" cy="157162"/>
            </a:xfrm>
          </p:grpSpPr>
          <p:sp>
            <p:nvSpPr>
              <p:cNvPr id="43" name="Freeform 43"/>
              <p:cNvSpPr/>
              <p:nvPr/>
            </p:nvSpPr>
            <p:spPr>
              <a:xfrm>
                <a:off x="4424485" y="112156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FFFFFF"/>
                </a:solidFill>
              </a:ln>
            </p:spPr>
          </p:sp>
          <p:sp>
            <p:nvSpPr>
              <p:cNvPr id="44" name="Freeform 44"/>
              <p:cNvSpPr/>
              <p:nvPr/>
            </p:nvSpPr>
            <p:spPr>
              <a:xfrm>
                <a:off x="4541044" y="1243806"/>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46" name="TextBox 46"/>
            <p:cNvSpPr txBox="1"/>
            <p:nvPr/>
          </p:nvSpPr>
          <p:spPr>
            <a:xfrm>
              <a:off x="4794123" y="1024414"/>
              <a:ext cx="357581" cy="249364"/>
            </a:xfrm>
            <a:prstGeom prst="rect">
              <a:avLst/>
            </a:prstGeom>
            <a:noFill/>
            <a:ln>
              <a:noFill/>
            </a:ln>
          </p:spPr>
          <p:txBody>
            <a:bodyPr wrap="none" lIns="0" tIns="0" rIns="0" bIns="0" anchor="t" anchorCtr="0">
              <a:spAutoFit/>
            </a:bodyPr>
            <a:lstStyle/>
            <a:p>
              <a:pPr algn="l"/>
              <a:r>
                <a:rPr lang="zh-CN" sz="1280" b="1" dirty="0">
                  <a:solidFill>
                    <a:srgbClr val="5E2114"/>
                  </a:solidFill>
                  <a:latin typeface="+mn-lt"/>
                  <a:ea typeface="+mn-ea"/>
                  <a:cs typeface="+mn-cs"/>
                </a:rPr>
                <a:t>安全</a:t>
              </a:r>
            </a:p>
          </p:txBody>
        </p:sp>
        <p:sp>
          <p:nvSpPr>
            <p:cNvPr id="47" name="TextBox 47"/>
            <p:cNvSpPr txBox="1"/>
            <p:nvPr/>
          </p:nvSpPr>
          <p:spPr>
            <a:xfrm>
              <a:off x="4795838" y="1260634"/>
              <a:ext cx="741858"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更主动地管控风险</a:t>
              </a:r>
            </a:p>
          </p:txBody>
        </p:sp>
        <p:sp>
          <p:nvSpPr>
            <p:cNvPr id="48" name="Line 48"/>
            <p:cNvSpPr/>
            <p:nvPr/>
          </p:nvSpPr>
          <p:spPr>
            <a:xfrm>
              <a:off x="4324350" y="1485900"/>
              <a:ext cx="1619250" cy="9525"/>
            </a:xfrm>
            <a:custGeom>
              <a:avLst/>
              <a:gdLst/>
              <a:ahLst/>
              <a:cxnLst/>
              <a:rect l="l" t="t" r="r" b="b"/>
              <a:pathLst>
                <a:path w="1619250" h="9525">
                  <a:moveTo>
                    <a:pt x="0" y="0"/>
                  </a:moveTo>
                  <a:lnTo>
                    <a:pt x="1619250" y="0"/>
                  </a:lnTo>
                </a:path>
              </a:pathLst>
            </a:custGeom>
            <a:noFill/>
            <a:ln w="9525">
              <a:solidFill>
                <a:srgbClr val="C7D9F0"/>
              </a:solidFill>
            </a:ln>
          </p:spPr>
        </p:sp>
        <p:sp>
          <p:nvSpPr>
            <p:cNvPr id="49" name="Rectangle 49"/>
            <p:cNvSpPr/>
            <p:nvPr/>
          </p:nvSpPr>
          <p:spPr>
            <a:xfrm>
              <a:off x="4324350" y="1562100"/>
              <a:ext cx="1619250" cy="800100"/>
            </a:xfrm>
            <a:prstGeom prst="roundRect">
              <a:avLst>
                <a:gd name="adj" fmla="val 4762"/>
              </a:avLst>
            </a:prstGeom>
            <a:solidFill>
              <a:srgbClr val="EFF5FC"/>
            </a:solidFill>
            <a:ln>
              <a:noFill/>
            </a:ln>
          </p:spPr>
        </p:sp>
        <p:sp>
          <p:nvSpPr>
            <p:cNvPr id="50" name="TextBox 50"/>
            <p:cNvSpPr txBox="1"/>
            <p:nvPr/>
          </p:nvSpPr>
          <p:spPr>
            <a:xfrm>
              <a:off x="4395788" y="1645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示例指标</a:t>
              </a:r>
            </a:p>
          </p:txBody>
        </p:sp>
        <p:sp>
          <p:nvSpPr>
            <p:cNvPr id="51" name="TextBox 51"/>
            <p:cNvSpPr txBox="1"/>
            <p:nvPr/>
          </p:nvSpPr>
          <p:spPr>
            <a:xfrm>
              <a:off x="4395788" y="1809036"/>
              <a:ext cx="1037463" cy="445294"/>
            </a:xfrm>
            <a:prstGeom prst="rect">
              <a:avLst/>
            </a:prstGeom>
            <a:noFill/>
            <a:ln>
              <a:noFill/>
            </a:ln>
          </p:spPr>
          <p:txBody>
            <a:bodyPr wrap="none" lIns="0" tIns="0" rIns="0" bIns="0" anchor="t" anchorCtr="0">
              <a:spAutoFit/>
            </a:bodyPr>
            <a:lstStyle/>
            <a:p>
              <a:pPr algn="l" marL="76644" indent="-76644">
                <a:lnSpc>
                  <a:spcPts val="1200"/>
                </a:lnSpc>
                <a:buClr>
                  <a:srgbClr val="573F3A"/>
                </a:buClr>
                <a:buSzTx/>
                <a:buFontTx/>
                <a:buChar char="•"/>
              </a:pPr>
              <a:r>
                <a:rPr lang="zh-CN" sz="710" dirty="0">
                  <a:solidFill>
                    <a:srgbClr val="573F3A"/>
                  </a:solidFill>
                  <a:latin typeface="+mn-lt"/>
                  <a:ea typeface="+mn-ea"/>
                  <a:cs typeface="+mn-cs"/>
                </a:rPr>
                <a:t>风险事件／暴露时长</a:t>
              </a:r>
            </a:p>
            <a:p>
              <a:pPr algn="l" marL="76644" indent="-76644">
                <a:lnSpc>
                  <a:spcPts val="1200"/>
                </a:lnSpc>
                <a:buClr>
                  <a:srgbClr val="573F3A"/>
                </a:buClr>
                <a:buSzTx/>
                <a:buFontTx/>
                <a:buChar char="•"/>
              </a:pPr>
              <a:r>
                <a:rPr lang="zh-CN" sz="710" dirty="0">
                  <a:solidFill>
                    <a:srgbClr val="573F3A"/>
                  </a:solidFill>
                  <a:latin typeface="+mn-lt"/>
                  <a:ea typeface="+mn-ea"/>
                  <a:cs typeface="+mn-cs"/>
                </a:rPr>
                <a:t>隐患整改率／合规水平​</a:t>
              </a:r>
              <a:br/>
              <a:r>
                <a:rPr lang="zh-CN" sz="710" dirty="0">
                  <a:solidFill>
                    <a:srgbClr val="573F3A"/>
                  </a:solidFill>
                  <a:latin typeface="+mn-lt"/>
                  <a:ea typeface="+mn-ea"/>
                  <a:cs typeface="+mn-cs"/>
                </a:rPr>
                <a:t>……</a:t>
              </a:r>
            </a:p>
          </p:txBody>
        </p:sp>
        <p:sp>
          <p:nvSpPr>
            <p:cNvPr id="52" name="Rectangle 52"/>
            <p:cNvSpPr/>
            <p:nvPr/>
          </p:nvSpPr>
          <p:spPr>
            <a:xfrm>
              <a:off x="4324350" y="2457450"/>
              <a:ext cx="1619250" cy="552450"/>
            </a:xfrm>
            <a:prstGeom prst="roundRect">
              <a:avLst>
                <a:gd name="adj" fmla="val 6897"/>
              </a:avLst>
            </a:prstGeom>
            <a:solidFill>
              <a:srgbClr val="DCE9F8"/>
            </a:solidFill>
            <a:ln>
              <a:noFill/>
            </a:ln>
          </p:spPr>
        </p:sp>
        <p:sp>
          <p:nvSpPr>
            <p:cNvPr id="53" name="TextBox 53"/>
            <p:cNvSpPr txBox="1"/>
            <p:nvPr/>
          </p:nvSpPr>
          <p:spPr>
            <a:xfrm>
              <a:off x="4799252" y="2601039"/>
              <a:ext cx="669446" cy="326231"/>
            </a:xfrm>
            <a:prstGeom prst="rect">
              <a:avLst/>
            </a:prstGeom>
            <a:noFill/>
            <a:ln>
              <a:noFill/>
            </a:ln>
          </p:spPr>
          <p:txBody>
            <a:bodyPr wrap="none" lIns="0" tIns="0" rIns="0" bIns="0" anchor="t" anchorCtr="0">
              <a:spAutoFit/>
            </a:bodyPr>
            <a:lstStyle/>
            <a:p>
              <a:pPr algn="ctr">
                <a:lnSpc>
                  <a:spcPts val="1350"/>
                </a:lnSpc>
              </a:pPr>
              <a:r>
                <a:rPr lang="zh-CN" sz="790" b="1" dirty="0">
                  <a:solidFill>
                    <a:srgbClr val="9C331E"/>
                  </a:solidFill>
                  <a:latin typeface="+mn-lt"/>
                  <a:ea typeface="+mn-ea"/>
                  <a:cs typeface="+mn-cs"/>
                </a:rPr>
                <a:t>降低风险</a:t>
              </a:r>
              <a:br/>
              <a:r>
                <a:rPr lang="zh-CN" sz="790" b="1" dirty="0">
                  <a:solidFill>
                    <a:srgbClr val="9C331E"/>
                  </a:solidFill>
                  <a:latin typeface="+mn-lt"/>
                  <a:ea typeface="+mn-ea"/>
                  <a:cs typeface="+mn-cs"/>
                </a:rPr>
                <a:t>保障业务连续​</a:t>
              </a:r>
            </a:p>
          </p:txBody>
        </p:sp>
      </p:grpSp>
      <p:grpSp>
        <p:nvGrpSpPr>
          <p:cNvPr id="71" name="metric-4"/>
          <p:cNvGrpSpPr/>
          <p:nvPr/>
        </p:nvGrpSpPr>
        <p:grpSpPr>
          <a:xfrm>
            <a:off x="6153150" y="914400"/>
            <a:ext cx="1809750" cy="2209800"/>
            <a:chOff x="6153150" y="914400"/>
            <a:chExt cx="1809750" cy="2209800"/>
          </a:xfrm>
        </p:grpSpPr>
        <p:sp>
          <p:nvSpPr>
            <p:cNvPr id="55" name="Rectangle 55"/>
            <p:cNvSpPr/>
            <p:nvPr/>
          </p:nvSpPr>
          <p:spPr>
            <a:xfrm>
              <a:off x="6153150" y="914400"/>
              <a:ext cx="1809750" cy="2209800"/>
            </a:xfrm>
            <a:prstGeom prst="roundRect">
              <a:avLst>
                <a:gd name="adj" fmla="val 3158"/>
              </a:avLst>
            </a:prstGeom>
            <a:solidFill>
              <a:srgbClr val="FFFFFF"/>
            </a:solidFill>
            <a:ln w="9525">
              <a:solidFill>
                <a:srgbClr val="C7D9F0"/>
              </a:solidFill>
            </a:ln>
          </p:spPr>
        </p:sp>
        <p:sp>
          <p:nvSpPr>
            <p:cNvPr id="56" name="Ellipse 56"/>
            <p:cNvSpPr/>
            <p:nvPr/>
          </p:nvSpPr>
          <p:spPr>
            <a:xfrm>
              <a:off x="6248400" y="1009650"/>
              <a:ext cx="381000" cy="381000"/>
            </a:xfrm>
            <a:prstGeom prst="ellipse">
              <a:avLst/>
            </a:prstGeom>
            <a:solidFill>
              <a:srgbClr val="9C331E"/>
            </a:solidFill>
            <a:ln>
              <a:noFill/>
            </a:ln>
          </p:spPr>
        </p:sp>
        <p:grpSp>
          <p:nvGrpSpPr>
            <p:cNvPr id="62" name="Group 62"/>
            <p:cNvGrpSpPr/>
            <p:nvPr/>
          </p:nvGrpSpPr>
          <p:grpSpPr>
            <a:xfrm>
              <a:off x="6360319" y="1120399"/>
              <a:ext cx="157162" cy="158333"/>
              <a:chOff x="6360319" y="1120399"/>
              <a:chExt cx="157162" cy="158333"/>
            </a:xfrm>
          </p:grpSpPr>
          <p:sp>
            <p:nvSpPr>
              <p:cNvPr id="57" name="Freeform 57"/>
              <p:cNvSpPr/>
              <p:nvPr/>
            </p:nvSpPr>
            <p:spPr>
              <a:xfrm>
                <a:off x="6412706" y="1191419"/>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FFFFFF"/>
                </a:solidFill>
              </a:ln>
            </p:spPr>
          </p:sp>
          <p:sp>
            <p:nvSpPr>
              <p:cNvPr id="58" name="Freeform 58"/>
              <p:cNvSpPr/>
              <p:nvPr/>
            </p:nvSpPr>
            <p:spPr>
              <a:xfrm>
                <a:off x="6412706" y="1217613"/>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FFFFFF"/>
                </a:solidFill>
              </a:ln>
            </p:spPr>
          </p:sp>
          <p:sp>
            <p:nvSpPr>
              <p:cNvPr id="59" name="Freeform 59"/>
              <p:cNvSpPr/>
              <p:nvPr/>
            </p:nvSpPr>
            <p:spPr>
              <a:xfrm>
                <a:off x="6360319" y="1120399"/>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FFFFFF"/>
                </a:solidFill>
              </a:ln>
            </p:spPr>
          </p:sp>
          <p:sp>
            <p:nvSpPr>
              <p:cNvPr id="60" name="Freeform 60"/>
              <p:cNvSpPr/>
              <p:nvPr/>
            </p:nvSpPr>
            <p:spPr>
              <a:xfrm>
                <a:off x="6360319" y="1147763"/>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FFFFFF"/>
                </a:solidFill>
              </a:ln>
            </p:spPr>
          </p:sp>
          <p:sp>
            <p:nvSpPr>
              <p:cNvPr id="61" name="Freeform 61"/>
              <p:cNvSpPr/>
              <p:nvPr/>
            </p:nvSpPr>
            <p:spPr>
              <a:xfrm>
                <a:off x="6360319" y="1191419"/>
                <a:ext cx="17463" cy="17463"/>
              </a:xfrm>
              <a:custGeom>
                <a:avLst/>
                <a:gdLst/>
                <a:ahLst/>
                <a:cxnLst/>
                <a:rect l="l" t="t" r="r" b="b"/>
                <a:pathLst>
                  <a:path w="17463" h="17463">
                    <a:moveTo>
                      <a:pt x="0" y="0"/>
                    </a:moveTo>
                    <a:cubicBezTo>
                      <a:pt x="0" y="7753"/>
                      <a:pt x="6741" y="12660"/>
                      <a:pt x="17463" y="17463"/>
                    </a:cubicBezTo>
                  </a:path>
                </a:pathLst>
              </a:custGeom>
              <a:noFill/>
              <a:ln w="17463">
                <a:solidFill>
                  <a:srgbClr val="FFFFFF"/>
                </a:solidFill>
              </a:ln>
            </p:spPr>
          </p:sp>
        </p:grpSp>
        <p:sp>
          <p:nvSpPr>
            <p:cNvPr id="63" name="TextBox 63"/>
            <p:cNvSpPr txBox="1"/>
            <p:nvPr/>
          </p:nvSpPr>
          <p:spPr>
            <a:xfrm>
              <a:off x="6718173" y="1024414"/>
              <a:ext cx="357581" cy="249364"/>
            </a:xfrm>
            <a:prstGeom prst="rect">
              <a:avLst/>
            </a:prstGeom>
            <a:noFill/>
            <a:ln>
              <a:noFill/>
            </a:ln>
          </p:spPr>
          <p:txBody>
            <a:bodyPr wrap="none" lIns="0" tIns="0" rIns="0" bIns="0" anchor="t" anchorCtr="0">
              <a:spAutoFit/>
            </a:bodyPr>
            <a:lstStyle/>
            <a:p>
              <a:pPr algn="l"/>
              <a:r>
                <a:rPr lang="zh-CN" sz="1280" b="1" dirty="0">
                  <a:solidFill>
                    <a:srgbClr val="5E2114"/>
                  </a:solidFill>
                  <a:latin typeface="+mn-lt"/>
                  <a:ea typeface="+mn-ea"/>
                  <a:cs typeface="+mn-cs"/>
                </a:rPr>
                <a:t>成本</a:t>
              </a:r>
            </a:p>
          </p:txBody>
        </p:sp>
        <p:sp>
          <p:nvSpPr>
            <p:cNvPr id="64" name="TextBox 64"/>
            <p:cNvSpPr txBox="1"/>
            <p:nvPr/>
          </p:nvSpPr>
          <p:spPr>
            <a:xfrm>
              <a:off x="6719888" y="1260634"/>
              <a:ext cx="741858"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更合理地配置资源</a:t>
              </a:r>
            </a:p>
          </p:txBody>
        </p:sp>
        <p:sp>
          <p:nvSpPr>
            <p:cNvPr id="65" name="Line 65"/>
            <p:cNvSpPr/>
            <p:nvPr/>
          </p:nvSpPr>
          <p:spPr>
            <a:xfrm>
              <a:off x="6248400" y="1485900"/>
              <a:ext cx="1619250" cy="9525"/>
            </a:xfrm>
            <a:custGeom>
              <a:avLst/>
              <a:gdLst/>
              <a:ahLst/>
              <a:cxnLst/>
              <a:rect l="l" t="t" r="r" b="b"/>
              <a:pathLst>
                <a:path w="1619250" h="9525">
                  <a:moveTo>
                    <a:pt x="0" y="0"/>
                  </a:moveTo>
                  <a:lnTo>
                    <a:pt x="1619250" y="0"/>
                  </a:lnTo>
                </a:path>
              </a:pathLst>
            </a:custGeom>
            <a:noFill/>
            <a:ln w="9525">
              <a:solidFill>
                <a:srgbClr val="C7D9F0"/>
              </a:solidFill>
            </a:ln>
          </p:spPr>
        </p:sp>
        <p:sp>
          <p:nvSpPr>
            <p:cNvPr id="66" name="Rectangle 66"/>
            <p:cNvSpPr/>
            <p:nvPr/>
          </p:nvSpPr>
          <p:spPr>
            <a:xfrm>
              <a:off x="6248400" y="1562100"/>
              <a:ext cx="1619250" cy="800100"/>
            </a:xfrm>
            <a:prstGeom prst="roundRect">
              <a:avLst>
                <a:gd name="adj" fmla="val 4762"/>
              </a:avLst>
            </a:prstGeom>
            <a:solidFill>
              <a:srgbClr val="EFF5FC"/>
            </a:solidFill>
            <a:ln>
              <a:noFill/>
            </a:ln>
          </p:spPr>
        </p:sp>
        <p:sp>
          <p:nvSpPr>
            <p:cNvPr id="67" name="TextBox 67"/>
            <p:cNvSpPr txBox="1"/>
            <p:nvPr/>
          </p:nvSpPr>
          <p:spPr>
            <a:xfrm>
              <a:off x="6319838" y="1645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示例指标</a:t>
              </a:r>
            </a:p>
          </p:txBody>
        </p:sp>
        <p:sp>
          <p:nvSpPr>
            <p:cNvPr id="68" name="TextBox 68"/>
            <p:cNvSpPr txBox="1"/>
            <p:nvPr/>
          </p:nvSpPr>
          <p:spPr>
            <a:xfrm>
              <a:off x="6319838" y="1809036"/>
              <a:ext cx="947293" cy="445294"/>
            </a:xfrm>
            <a:prstGeom prst="rect">
              <a:avLst/>
            </a:prstGeom>
            <a:noFill/>
            <a:ln>
              <a:noFill/>
            </a:ln>
          </p:spPr>
          <p:txBody>
            <a:bodyPr wrap="none" lIns="0" tIns="0" rIns="0" bIns="0" anchor="t" anchorCtr="0">
              <a:spAutoFit/>
            </a:bodyPr>
            <a:lstStyle/>
            <a:p>
              <a:pPr algn="l" marL="76644" indent="-76644">
                <a:lnSpc>
                  <a:spcPts val="1200"/>
                </a:lnSpc>
                <a:buClr>
                  <a:srgbClr val="573F3A"/>
                </a:buClr>
                <a:buSzTx/>
                <a:buFontTx/>
                <a:buChar char="•"/>
              </a:pPr>
              <a:r>
                <a:rPr lang="zh-CN" sz="710" dirty="0">
                  <a:solidFill>
                    <a:srgbClr val="573F3A"/>
                  </a:solidFill>
                  <a:latin typeface="+mn-lt"/>
                  <a:ea typeface="+mn-ea"/>
                  <a:cs typeface="+mn-cs"/>
                </a:rPr>
                <a:t>单位成本／资源消耗​</a:t>
              </a:r>
            </a:p>
            <a:p>
              <a:pPr algn="l" marL="76644" indent="-76644">
                <a:lnSpc>
                  <a:spcPts val="1200"/>
                </a:lnSpc>
                <a:buClr>
                  <a:srgbClr val="573F3A"/>
                </a:buClr>
                <a:buSzTx/>
                <a:buFontTx/>
                <a:buChar char="•"/>
              </a:pPr>
              <a:r>
                <a:rPr lang="zh-CN" sz="710" dirty="0">
                  <a:solidFill>
                    <a:srgbClr val="573F3A"/>
                  </a:solidFill>
                  <a:latin typeface="+mn-lt"/>
                  <a:ea typeface="+mn-ea"/>
                  <a:cs typeface="+mn-cs"/>
                </a:rPr>
                <a:t>能耗／物料损耗</a:t>
              </a:r>
              <a:br/>
              <a:r>
                <a:rPr lang="zh-CN" sz="710" dirty="0">
                  <a:solidFill>
                    <a:srgbClr val="573F3A"/>
                  </a:solidFill>
                  <a:latin typeface="+mn-lt"/>
                  <a:ea typeface="+mn-ea"/>
                  <a:cs typeface="+mn-cs"/>
                </a:rPr>
                <a:t>……</a:t>
              </a:r>
            </a:p>
          </p:txBody>
        </p:sp>
        <p:sp>
          <p:nvSpPr>
            <p:cNvPr id="69" name="Rectangle 69"/>
            <p:cNvSpPr/>
            <p:nvPr/>
          </p:nvSpPr>
          <p:spPr>
            <a:xfrm>
              <a:off x="6248400" y="2457450"/>
              <a:ext cx="1619250" cy="552450"/>
            </a:xfrm>
            <a:prstGeom prst="roundRect">
              <a:avLst>
                <a:gd name="adj" fmla="val 6897"/>
              </a:avLst>
            </a:prstGeom>
            <a:solidFill>
              <a:srgbClr val="DCE9F8"/>
            </a:solidFill>
            <a:ln>
              <a:noFill/>
            </a:ln>
          </p:spPr>
        </p:sp>
        <p:sp>
          <p:nvSpPr>
            <p:cNvPr id="70" name="TextBox 70"/>
            <p:cNvSpPr txBox="1"/>
            <p:nvPr/>
          </p:nvSpPr>
          <p:spPr>
            <a:xfrm>
              <a:off x="6723302" y="2601039"/>
              <a:ext cx="669446" cy="326231"/>
            </a:xfrm>
            <a:prstGeom prst="rect">
              <a:avLst/>
            </a:prstGeom>
            <a:noFill/>
            <a:ln>
              <a:noFill/>
            </a:ln>
          </p:spPr>
          <p:txBody>
            <a:bodyPr wrap="none" lIns="0" tIns="0" rIns="0" bIns="0" anchor="t" anchorCtr="0">
              <a:spAutoFit/>
            </a:bodyPr>
            <a:lstStyle/>
            <a:p>
              <a:pPr algn="ctr">
                <a:lnSpc>
                  <a:spcPts val="1350"/>
                </a:lnSpc>
              </a:pPr>
              <a:r>
                <a:rPr lang="zh-CN" sz="790" b="1" dirty="0">
                  <a:solidFill>
                    <a:srgbClr val="9C331E"/>
                  </a:solidFill>
                  <a:latin typeface="+mn-lt"/>
                  <a:ea typeface="+mn-ea"/>
                  <a:cs typeface="+mn-cs"/>
                </a:rPr>
                <a:t>优化资源</a:t>
              </a:r>
              <a:br/>
              <a:r>
                <a:rPr lang="zh-CN" sz="790" b="1" dirty="0">
                  <a:solidFill>
                    <a:srgbClr val="9C331E"/>
                  </a:solidFill>
                  <a:latin typeface="+mn-lt"/>
                  <a:ea typeface="+mn-ea"/>
                  <a:cs typeface="+mn-cs"/>
                </a:rPr>
                <a:t>提升投入产出​</a:t>
              </a:r>
            </a:p>
          </p:txBody>
        </p:sp>
      </p:grpSp>
      <p:grpSp>
        <p:nvGrpSpPr>
          <p:cNvPr id="85" name="metric-5"/>
          <p:cNvGrpSpPr/>
          <p:nvPr/>
        </p:nvGrpSpPr>
        <p:grpSpPr>
          <a:xfrm>
            <a:off x="8077200" y="914400"/>
            <a:ext cx="1809750" cy="2209800"/>
            <a:chOff x="8077200" y="914400"/>
            <a:chExt cx="1809750" cy="2209800"/>
          </a:xfrm>
        </p:grpSpPr>
        <p:sp>
          <p:nvSpPr>
            <p:cNvPr id="72" name="Rectangle 72"/>
            <p:cNvSpPr/>
            <p:nvPr/>
          </p:nvSpPr>
          <p:spPr>
            <a:xfrm>
              <a:off x="8077200" y="914400"/>
              <a:ext cx="1809750" cy="2209800"/>
            </a:xfrm>
            <a:prstGeom prst="roundRect">
              <a:avLst>
                <a:gd name="adj" fmla="val 3158"/>
              </a:avLst>
            </a:prstGeom>
            <a:solidFill>
              <a:srgbClr val="FFFFFF"/>
            </a:solidFill>
            <a:ln w="9525">
              <a:solidFill>
                <a:srgbClr val="C7D9F0"/>
              </a:solidFill>
            </a:ln>
          </p:spPr>
        </p:sp>
        <p:sp>
          <p:nvSpPr>
            <p:cNvPr id="73" name="Ellipse 73"/>
            <p:cNvSpPr/>
            <p:nvPr/>
          </p:nvSpPr>
          <p:spPr>
            <a:xfrm>
              <a:off x="8172450" y="1009650"/>
              <a:ext cx="381000" cy="381000"/>
            </a:xfrm>
            <a:prstGeom prst="ellipse">
              <a:avLst/>
            </a:prstGeom>
            <a:solidFill>
              <a:srgbClr val="9C331E"/>
            </a:solidFill>
            <a:ln>
              <a:noFill/>
            </a:ln>
          </p:spPr>
        </p:sp>
        <p:grpSp>
          <p:nvGrpSpPr>
            <p:cNvPr id="76" name="Group 76"/>
            <p:cNvGrpSpPr/>
            <p:nvPr/>
          </p:nvGrpSpPr>
          <p:grpSpPr>
            <a:xfrm>
              <a:off x="8284369" y="1156494"/>
              <a:ext cx="157163" cy="87313"/>
              <a:chOff x="8284369" y="1156494"/>
              <a:chExt cx="157163" cy="87313"/>
            </a:xfrm>
          </p:grpSpPr>
          <p:sp>
            <p:nvSpPr>
              <p:cNvPr id="74" name="Freeform 74"/>
              <p:cNvSpPr/>
              <p:nvPr/>
            </p:nvSpPr>
            <p:spPr>
              <a:xfrm>
                <a:off x="8284369" y="1156494"/>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FFFFFF"/>
                </a:solidFill>
              </a:ln>
            </p:spPr>
          </p:sp>
          <p:sp>
            <p:nvSpPr>
              <p:cNvPr id="75" name="Freeform 75"/>
              <p:cNvSpPr/>
              <p:nvPr/>
            </p:nvSpPr>
            <p:spPr>
              <a:xfrm>
                <a:off x="8380413" y="1156494"/>
                <a:ext cx="61119" cy="61119"/>
              </a:xfrm>
              <a:custGeom>
                <a:avLst/>
                <a:gdLst/>
                <a:ahLst/>
                <a:cxnLst/>
                <a:rect l="l" t="t" r="r" b="b"/>
                <a:pathLst>
                  <a:path w="61119" h="61119">
                    <a:moveTo>
                      <a:pt x="0" y="0"/>
                    </a:moveTo>
                    <a:lnTo>
                      <a:pt x="61119" y="0"/>
                    </a:lnTo>
                    <a:lnTo>
                      <a:pt x="61119" y="61119"/>
                    </a:lnTo>
                  </a:path>
                </a:pathLst>
              </a:custGeom>
              <a:noFill/>
              <a:ln w="17463">
                <a:solidFill>
                  <a:srgbClr val="FFFFFF"/>
                </a:solidFill>
              </a:ln>
            </p:spPr>
          </p:sp>
        </p:grpSp>
        <p:sp>
          <p:nvSpPr>
            <p:cNvPr id="77" name="TextBox 77"/>
            <p:cNvSpPr txBox="1"/>
            <p:nvPr/>
          </p:nvSpPr>
          <p:spPr>
            <a:xfrm>
              <a:off x="8642223" y="1024414"/>
              <a:ext cx="357581" cy="249364"/>
            </a:xfrm>
            <a:prstGeom prst="rect">
              <a:avLst/>
            </a:prstGeom>
            <a:noFill/>
            <a:ln>
              <a:noFill/>
            </a:ln>
          </p:spPr>
          <p:txBody>
            <a:bodyPr wrap="none" lIns="0" tIns="0" rIns="0" bIns="0" anchor="t" anchorCtr="0">
              <a:spAutoFit/>
            </a:bodyPr>
            <a:lstStyle/>
            <a:p>
              <a:pPr algn="l"/>
              <a:r>
                <a:rPr lang="zh-CN" sz="1280" b="1" dirty="0">
                  <a:solidFill>
                    <a:srgbClr val="5E2114"/>
                  </a:solidFill>
                  <a:latin typeface="+mn-lt"/>
                  <a:ea typeface="+mn-ea"/>
                  <a:cs typeface="+mn-cs"/>
                </a:rPr>
                <a:t>收入</a:t>
              </a:r>
            </a:p>
          </p:txBody>
        </p:sp>
        <p:sp>
          <p:nvSpPr>
            <p:cNvPr id="78" name="TextBox 78"/>
            <p:cNvSpPr txBox="1"/>
            <p:nvPr/>
          </p:nvSpPr>
          <p:spPr>
            <a:xfrm>
              <a:off x="8643938" y="1260634"/>
              <a:ext cx="741858"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更有效地创造增量</a:t>
              </a:r>
            </a:p>
          </p:txBody>
        </p:sp>
        <p:sp>
          <p:nvSpPr>
            <p:cNvPr id="79" name="Line 79"/>
            <p:cNvSpPr/>
            <p:nvPr/>
          </p:nvSpPr>
          <p:spPr>
            <a:xfrm>
              <a:off x="8172450" y="1485900"/>
              <a:ext cx="1619250" cy="9525"/>
            </a:xfrm>
            <a:custGeom>
              <a:avLst/>
              <a:gdLst/>
              <a:ahLst/>
              <a:cxnLst/>
              <a:rect l="l" t="t" r="r" b="b"/>
              <a:pathLst>
                <a:path w="1619250" h="9525">
                  <a:moveTo>
                    <a:pt x="0" y="0"/>
                  </a:moveTo>
                  <a:lnTo>
                    <a:pt x="1619250" y="0"/>
                  </a:lnTo>
                </a:path>
              </a:pathLst>
            </a:custGeom>
            <a:noFill/>
            <a:ln w="9525">
              <a:solidFill>
                <a:srgbClr val="C7D9F0"/>
              </a:solidFill>
            </a:ln>
          </p:spPr>
        </p:sp>
        <p:sp>
          <p:nvSpPr>
            <p:cNvPr id="80" name="Rectangle 80"/>
            <p:cNvSpPr/>
            <p:nvPr/>
          </p:nvSpPr>
          <p:spPr>
            <a:xfrm>
              <a:off x="8172450" y="1562100"/>
              <a:ext cx="1619250" cy="800100"/>
            </a:xfrm>
            <a:prstGeom prst="roundRect">
              <a:avLst>
                <a:gd name="adj" fmla="val 4762"/>
              </a:avLst>
            </a:prstGeom>
            <a:solidFill>
              <a:srgbClr val="EFF5FC"/>
            </a:solidFill>
            <a:ln>
              <a:noFill/>
            </a:ln>
          </p:spPr>
        </p:sp>
        <p:sp>
          <p:nvSpPr>
            <p:cNvPr id="81" name="TextBox 81"/>
            <p:cNvSpPr txBox="1"/>
            <p:nvPr/>
          </p:nvSpPr>
          <p:spPr>
            <a:xfrm>
              <a:off x="8243888" y="1645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示例指标</a:t>
              </a:r>
            </a:p>
          </p:txBody>
        </p:sp>
        <p:sp>
          <p:nvSpPr>
            <p:cNvPr id="82" name="TextBox 82"/>
            <p:cNvSpPr txBox="1"/>
            <p:nvPr/>
          </p:nvSpPr>
          <p:spPr>
            <a:xfrm>
              <a:off x="8243888" y="1809036"/>
              <a:ext cx="947293" cy="445294"/>
            </a:xfrm>
            <a:prstGeom prst="rect">
              <a:avLst/>
            </a:prstGeom>
            <a:noFill/>
            <a:ln>
              <a:noFill/>
            </a:ln>
          </p:spPr>
          <p:txBody>
            <a:bodyPr wrap="none" lIns="0" tIns="0" rIns="0" bIns="0" anchor="t" anchorCtr="0">
              <a:spAutoFit/>
            </a:bodyPr>
            <a:lstStyle/>
            <a:p>
              <a:pPr algn="l" marL="76644" indent="-76644">
                <a:lnSpc>
                  <a:spcPts val="1200"/>
                </a:lnSpc>
                <a:buClr>
                  <a:srgbClr val="573F3A"/>
                </a:buClr>
                <a:buSzTx/>
                <a:buFontTx/>
                <a:buChar char="•"/>
              </a:pPr>
              <a:r>
                <a:rPr lang="zh-CN" sz="710" dirty="0">
                  <a:solidFill>
                    <a:srgbClr val="573F3A"/>
                  </a:solidFill>
                  <a:latin typeface="+mn-lt"/>
                  <a:ea typeface="+mn-ea"/>
                  <a:cs typeface="+mn-cs"/>
                </a:rPr>
                <a:t>转化／服务增量</a:t>
              </a:r>
            </a:p>
            <a:p>
              <a:pPr algn="l" marL="76644" indent="-76644">
                <a:lnSpc>
                  <a:spcPts val="1200"/>
                </a:lnSpc>
                <a:buClr>
                  <a:srgbClr val="573F3A"/>
                </a:buClr>
                <a:buSzTx/>
                <a:buFontTx/>
                <a:buChar char="•"/>
              </a:pPr>
              <a:r>
                <a:rPr lang="zh-CN" sz="710" dirty="0">
                  <a:solidFill>
                    <a:srgbClr val="573F3A"/>
                  </a:solidFill>
                  <a:latin typeface="+mn-lt"/>
                  <a:ea typeface="+mn-ea"/>
                  <a:cs typeface="+mn-cs"/>
                </a:rPr>
                <a:t>新客获取／客单提升​</a:t>
              </a:r>
              <a:br/>
              <a:r>
                <a:rPr lang="zh-CN" sz="710" dirty="0">
                  <a:solidFill>
                    <a:srgbClr val="573F3A"/>
                  </a:solidFill>
                  <a:latin typeface="+mn-lt"/>
                  <a:ea typeface="+mn-ea"/>
                  <a:cs typeface="+mn-cs"/>
                </a:rPr>
                <a:t>……</a:t>
              </a:r>
            </a:p>
          </p:txBody>
        </p:sp>
        <p:sp>
          <p:nvSpPr>
            <p:cNvPr id="83" name="Rectangle 83"/>
            <p:cNvSpPr/>
            <p:nvPr/>
          </p:nvSpPr>
          <p:spPr>
            <a:xfrm>
              <a:off x="8172450" y="2457450"/>
              <a:ext cx="1619250" cy="552450"/>
            </a:xfrm>
            <a:prstGeom prst="roundRect">
              <a:avLst>
                <a:gd name="adj" fmla="val 6897"/>
              </a:avLst>
            </a:prstGeom>
            <a:solidFill>
              <a:srgbClr val="DCE9F8"/>
            </a:solidFill>
            <a:ln>
              <a:noFill/>
            </a:ln>
          </p:spPr>
        </p:sp>
        <p:sp>
          <p:nvSpPr>
            <p:cNvPr id="84" name="TextBox 84"/>
            <p:cNvSpPr txBox="1"/>
            <p:nvPr/>
          </p:nvSpPr>
          <p:spPr>
            <a:xfrm>
              <a:off x="8647352" y="2601039"/>
              <a:ext cx="669446" cy="326231"/>
            </a:xfrm>
            <a:prstGeom prst="rect">
              <a:avLst/>
            </a:prstGeom>
            <a:noFill/>
            <a:ln>
              <a:noFill/>
            </a:ln>
          </p:spPr>
          <p:txBody>
            <a:bodyPr wrap="none" lIns="0" tIns="0" rIns="0" bIns="0" anchor="t" anchorCtr="0">
              <a:spAutoFit/>
            </a:bodyPr>
            <a:lstStyle/>
            <a:p>
              <a:pPr algn="ctr">
                <a:lnSpc>
                  <a:spcPts val="1350"/>
                </a:lnSpc>
              </a:pPr>
              <a:r>
                <a:rPr lang="zh-CN" sz="790" b="1" dirty="0">
                  <a:solidFill>
                    <a:srgbClr val="9C331E"/>
                  </a:solidFill>
                  <a:latin typeface="+mn-lt"/>
                  <a:ea typeface="+mn-ea"/>
                  <a:cs typeface="+mn-cs"/>
                </a:rPr>
                <a:t>拓展市场</a:t>
              </a:r>
              <a:br/>
              <a:r>
                <a:rPr lang="zh-CN" sz="790" b="1" dirty="0">
                  <a:solidFill>
                    <a:srgbClr val="9C331E"/>
                  </a:solidFill>
                  <a:latin typeface="+mn-lt"/>
                  <a:ea typeface="+mn-ea"/>
                  <a:cs typeface="+mn-cs"/>
                </a:rPr>
                <a:t>提升客户价值​</a:t>
              </a:r>
            </a:p>
          </p:txBody>
        </p:sp>
      </p:grpSp>
      <p:grpSp>
        <p:nvGrpSpPr>
          <p:cNvPr id="99" name="metric-6"/>
          <p:cNvGrpSpPr/>
          <p:nvPr/>
        </p:nvGrpSpPr>
        <p:grpSpPr>
          <a:xfrm>
            <a:off x="10001250" y="914400"/>
            <a:ext cx="1809750" cy="2209800"/>
            <a:chOff x="10001250" y="914400"/>
            <a:chExt cx="1809750" cy="2209800"/>
          </a:xfrm>
        </p:grpSpPr>
        <p:sp>
          <p:nvSpPr>
            <p:cNvPr id="86" name="Rectangle 86"/>
            <p:cNvSpPr/>
            <p:nvPr/>
          </p:nvSpPr>
          <p:spPr>
            <a:xfrm>
              <a:off x="10001250" y="914400"/>
              <a:ext cx="1809750" cy="2209800"/>
            </a:xfrm>
            <a:prstGeom prst="roundRect">
              <a:avLst>
                <a:gd name="adj" fmla="val 3158"/>
              </a:avLst>
            </a:prstGeom>
            <a:solidFill>
              <a:srgbClr val="FFFFFF"/>
            </a:solidFill>
            <a:ln w="9525">
              <a:solidFill>
                <a:srgbClr val="C7D9F0"/>
              </a:solidFill>
            </a:ln>
          </p:spPr>
        </p:sp>
        <p:sp>
          <p:nvSpPr>
            <p:cNvPr id="87" name="Ellipse 87"/>
            <p:cNvSpPr/>
            <p:nvPr/>
          </p:nvSpPr>
          <p:spPr>
            <a:xfrm>
              <a:off x="10096500" y="1009650"/>
              <a:ext cx="381000" cy="381000"/>
            </a:xfrm>
            <a:prstGeom prst="ellipse">
              <a:avLst/>
            </a:prstGeom>
            <a:solidFill>
              <a:srgbClr val="9C331E"/>
            </a:solidFill>
            <a:ln>
              <a:noFill/>
            </a:ln>
          </p:spPr>
        </p:sp>
        <p:grpSp>
          <p:nvGrpSpPr>
            <p:cNvPr id="90" name="Group 90"/>
            <p:cNvGrpSpPr/>
            <p:nvPr/>
          </p:nvGrpSpPr>
          <p:grpSpPr>
            <a:xfrm>
              <a:off x="10217150" y="1126931"/>
              <a:ext cx="139700" cy="146438"/>
              <a:chOff x="10217150" y="1126931"/>
              <a:chExt cx="139700" cy="146438"/>
            </a:xfrm>
          </p:grpSpPr>
          <p:sp>
            <p:nvSpPr>
              <p:cNvPr id="88" name="Freeform 88"/>
              <p:cNvSpPr/>
              <p:nvPr/>
            </p:nvSpPr>
            <p:spPr>
              <a:xfrm>
                <a:off x="10217150" y="1126931"/>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FFFFFF"/>
                </a:solidFill>
              </a:ln>
            </p:spPr>
          </p:sp>
          <p:sp>
            <p:nvSpPr>
              <p:cNvPr id="89" name="Freeform 89"/>
              <p:cNvSpPr/>
              <p:nvPr/>
            </p:nvSpPr>
            <p:spPr>
              <a:xfrm>
                <a:off x="10217150" y="1208881"/>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FFFFFF"/>
                </a:solidFill>
              </a:ln>
            </p:spPr>
          </p:sp>
        </p:grpSp>
        <p:sp>
          <p:nvSpPr>
            <p:cNvPr id="91" name="TextBox 91"/>
            <p:cNvSpPr txBox="1"/>
            <p:nvPr/>
          </p:nvSpPr>
          <p:spPr>
            <a:xfrm>
              <a:off x="10566273" y="1024414"/>
              <a:ext cx="357581" cy="249364"/>
            </a:xfrm>
            <a:prstGeom prst="rect">
              <a:avLst/>
            </a:prstGeom>
            <a:noFill/>
            <a:ln>
              <a:noFill/>
            </a:ln>
          </p:spPr>
          <p:txBody>
            <a:bodyPr wrap="none" lIns="0" tIns="0" rIns="0" bIns="0" anchor="t" anchorCtr="0">
              <a:spAutoFit/>
            </a:bodyPr>
            <a:lstStyle/>
            <a:p>
              <a:pPr algn="l"/>
              <a:r>
                <a:rPr lang="zh-CN" sz="1280" b="1" dirty="0">
                  <a:solidFill>
                    <a:srgbClr val="5E2114"/>
                  </a:solidFill>
                  <a:latin typeface="+mn-lt"/>
                  <a:ea typeface="+mn-ea"/>
                  <a:cs typeface="+mn-cs"/>
                </a:rPr>
                <a:t>韧性</a:t>
              </a:r>
            </a:p>
          </p:txBody>
        </p:sp>
        <p:sp>
          <p:nvSpPr>
            <p:cNvPr id="92" name="TextBox 92"/>
            <p:cNvSpPr txBox="1"/>
            <p:nvPr/>
          </p:nvSpPr>
          <p:spPr>
            <a:xfrm>
              <a:off x="10567988" y="1260634"/>
              <a:ext cx="833399" cy="133350"/>
            </a:xfrm>
            <a:prstGeom prst="rect">
              <a:avLst/>
            </a:prstGeom>
            <a:noFill/>
            <a:ln>
              <a:noFill/>
            </a:ln>
          </p:spPr>
          <p:txBody>
            <a:bodyPr wrap="none" lIns="0" tIns="0" rIns="0" bIns="0" anchor="t" anchorCtr="0">
              <a:spAutoFit/>
            </a:bodyPr>
            <a:lstStyle/>
            <a:p>
              <a:pPr algn="l"/>
              <a:r>
                <a:rPr lang="zh-CN" sz="680" dirty="0">
                  <a:solidFill>
                    <a:srgbClr val="9B807A"/>
                  </a:solidFill>
                  <a:latin typeface="+mn-lt"/>
                  <a:ea typeface="+mn-ea"/>
                  <a:cs typeface="+mn-cs"/>
                </a:rPr>
                <a:t>更从容地应对不确定</a:t>
              </a:r>
            </a:p>
          </p:txBody>
        </p:sp>
        <p:sp>
          <p:nvSpPr>
            <p:cNvPr id="93" name="Line 93"/>
            <p:cNvSpPr/>
            <p:nvPr/>
          </p:nvSpPr>
          <p:spPr>
            <a:xfrm>
              <a:off x="10096500" y="1485900"/>
              <a:ext cx="1619250" cy="9525"/>
            </a:xfrm>
            <a:custGeom>
              <a:avLst/>
              <a:gdLst/>
              <a:ahLst/>
              <a:cxnLst/>
              <a:rect l="l" t="t" r="r" b="b"/>
              <a:pathLst>
                <a:path w="1619250" h="9525">
                  <a:moveTo>
                    <a:pt x="0" y="0"/>
                  </a:moveTo>
                  <a:lnTo>
                    <a:pt x="1619250" y="0"/>
                  </a:lnTo>
                </a:path>
              </a:pathLst>
            </a:custGeom>
            <a:noFill/>
            <a:ln w="9525">
              <a:solidFill>
                <a:srgbClr val="C7D9F0"/>
              </a:solidFill>
            </a:ln>
          </p:spPr>
        </p:sp>
        <p:sp>
          <p:nvSpPr>
            <p:cNvPr id="94" name="Rectangle 94"/>
            <p:cNvSpPr/>
            <p:nvPr/>
          </p:nvSpPr>
          <p:spPr>
            <a:xfrm>
              <a:off x="10096500" y="1562100"/>
              <a:ext cx="1619250" cy="800100"/>
            </a:xfrm>
            <a:prstGeom prst="roundRect">
              <a:avLst>
                <a:gd name="adj" fmla="val 4762"/>
              </a:avLst>
            </a:prstGeom>
            <a:solidFill>
              <a:srgbClr val="EFF5FC"/>
            </a:solidFill>
            <a:ln>
              <a:noFill/>
            </a:ln>
          </p:spPr>
        </p:sp>
        <p:sp>
          <p:nvSpPr>
            <p:cNvPr id="95" name="TextBox 95"/>
            <p:cNvSpPr txBox="1"/>
            <p:nvPr/>
          </p:nvSpPr>
          <p:spPr>
            <a:xfrm>
              <a:off x="10167938" y="1645682"/>
              <a:ext cx="354152"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示例指标</a:t>
              </a:r>
            </a:p>
          </p:txBody>
        </p:sp>
        <p:sp>
          <p:nvSpPr>
            <p:cNvPr id="96" name="TextBox 96"/>
            <p:cNvSpPr txBox="1"/>
            <p:nvPr/>
          </p:nvSpPr>
          <p:spPr>
            <a:xfrm>
              <a:off x="10167938" y="1809036"/>
              <a:ext cx="947293" cy="445294"/>
            </a:xfrm>
            <a:prstGeom prst="rect">
              <a:avLst/>
            </a:prstGeom>
            <a:noFill/>
            <a:ln>
              <a:noFill/>
            </a:ln>
          </p:spPr>
          <p:txBody>
            <a:bodyPr wrap="none" lIns="0" tIns="0" rIns="0" bIns="0" anchor="t" anchorCtr="0">
              <a:spAutoFit/>
            </a:bodyPr>
            <a:lstStyle/>
            <a:p>
              <a:pPr algn="l" marL="76644" indent="-76644">
                <a:lnSpc>
                  <a:spcPts val="1200"/>
                </a:lnSpc>
                <a:buClr>
                  <a:srgbClr val="573F3A"/>
                </a:buClr>
                <a:buSzTx/>
                <a:buFontTx/>
                <a:buChar char="•"/>
              </a:pPr>
              <a:r>
                <a:rPr lang="zh-CN" sz="710" dirty="0">
                  <a:solidFill>
                    <a:srgbClr val="573F3A"/>
                  </a:solidFill>
                  <a:latin typeface="+mn-lt"/>
                  <a:ea typeface="+mn-ea"/>
                  <a:cs typeface="+mn-cs"/>
                </a:rPr>
                <a:t>恢复时间／供应稳定​</a:t>
              </a:r>
            </a:p>
            <a:p>
              <a:pPr algn="l" marL="76644" indent="-76644">
                <a:lnSpc>
                  <a:spcPts val="1200"/>
                </a:lnSpc>
                <a:buClr>
                  <a:srgbClr val="573F3A"/>
                </a:buClr>
                <a:buSzTx/>
                <a:buFontTx/>
                <a:buChar char="•"/>
              </a:pPr>
              <a:r>
                <a:rPr lang="zh-CN" sz="710" dirty="0">
                  <a:solidFill>
                    <a:srgbClr val="573F3A"/>
                  </a:solidFill>
                  <a:latin typeface="+mn-lt"/>
                  <a:ea typeface="+mn-ea"/>
                  <a:cs typeface="+mn-cs"/>
                </a:rPr>
                <a:t>产能弹性／替代能力​</a:t>
              </a:r>
              <a:br/>
              <a:r>
                <a:rPr lang="zh-CN" sz="710" dirty="0">
                  <a:solidFill>
                    <a:srgbClr val="573F3A"/>
                  </a:solidFill>
                  <a:latin typeface="+mn-lt"/>
                  <a:ea typeface="+mn-ea"/>
                  <a:cs typeface="+mn-cs"/>
                </a:rPr>
                <a:t>……</a:t>
              </a:r>
            </a:p>
          </p:txBody>
        </p:sp>
        <p:sp>
          <p:nvSpPr>
            <p:cNvPr id="97" name="Rectangle 97"/>
            <p:cNvSpPr/>
            <p:nvPr/>
          </p:nvSpPr>
          <p:spPr>
            <a:xfrm>
              <a:off x="10096500" y="2457450"/>
              <a:ext cx="1619250" cy="552450"/>
            </a:xfrm>
            <a:prstGeom prst="roundRect">
              <a:avLst>
                <a:gd name="adj" fmla="val 6897"/>
              </a:avLst>
            </a:prstGeom>
            <a:solidFill>
              <a:srgbClr val="DCE9F8"/>
            </a:solidFill>
            <a:ln>
              <a:noFill/>
            </a:ln>
          </p:spPr>
        </p:sp>
        <p:sp>
          <p:nvSpPr>
            <p:cNvPr id="98" name="TextBox 98"/>
            <p:cNvSpPr txBox="1"/>
            <p:nvPr/>
          </p:nvSpPr>
          <p:spPr>
            <a:xfrm>
              <a:off x="10571402" y="2601039"/>
              <a:ext cx="669446" cy="326231"/>
            </a:xfrm>
            <a:prstGeom prst="rect">
              <a:avLst/>
            </a:prstGeom>
            <a:noFill/>
            <a:ln>
              <a:noFill/>
            </a:ln>
          </p:spPr>
          <p:txBody>
            <a:bodyPr wrap="none" lIns="0" tIns="0" rIns="0" bIns="0" anchor="t" anchorCtr="0">
              <a:spAutoFit/>
            </a:bodyPr>
            <a:lstStyle/>
            <a:p>
              <a:pPr algn="ctr">
                <a:lnSpc>
                  <a:spcPts val="1350"/>
                </a:lnSpc>
              </a:pPr>
              <a:r>
                <a:rPr lang="zh-CN" sz="790" b="1" dirty="0">
                  <a:solidFill>
                    <a:srgbClr val="9C331E"/>
                  </a:solidFill>
                  <a:latin typeface="+mn-lt"/>
                  <a:ea typeface="+mn-ea"/>
                  <a:cs typeface="+mn-cs"/>
                </a:rPr>
                <a:t>增强韧性</a:t>
              </a:r>
              <a:br/>
              <a:r>
                <a:rPr lang="zh-CN" sz="790" b="1" dirty="0">
                  <a:solidFill>
                    <a:srgbClr val="9C331E"/>
                  </a:solidFill>
                  <a:latin typeface="+mn-lt"/>
                  <a:ea typeface="+mn-ea"/>
                  <a:cs typeface="+mn-cs"/>
                </a:rPr>
                <a:t>支撑长期发展​</a:t>
              </a:r>
            </a:p>
          </p:txBody>
        </p:sp>
      </p:grpSp>
      <p:grpSp>
        <p:nvGrpSpPr>
          <p:cNvPr id="140" name="path-band"/>
          <p:cNvGrpSpPr/>
          <p:nvPr/>
        </p:nvGrpSpPr>
        <p:grpSpPr>
          <a:xfrm>
            <a:off x="381000" y="3362325"/>
            <a:ext cx="11220450" cy="609600"/>
            <a:chOff x="381000" y="3362325"/>
            <a:chExt cx="11220450" cy="609600"/>
          </a:xfrm>
        </p:grpSpPr>
        <p:sp>
          <p:nvSpPr>
            <p:cNvPr id="100" name="Rectangle 100"/>
            <p:cNvSpPr/>
            <p:nvPr/>
          </p:nvSpPr>
          <p:spPr>
            <a:xfrm>
              <a:off x="381000" y="3362325"/>
              <a:ext cx="1524000" cy="609600"/>
            </a:xfrm>
            <a:prstGeom prst="roundRect">
              <a:avLst>
                <a:gd name="adj" fmla="val 9375"/>
              </a:avLst>
            </a:prstGeom>
            <a:solidFill>
              <a:srgbClr val="632012"/>
            </a:solidFill>
            <a:ln>
              <a:noFill/>
            </a:ln>
          </p:spPr>
        </p:sp>
        <p:sp>
          <p:nvSpPr>
            <p:cNvPr id="101" name="TextBox 101"/>
            <p:cNvSpPr txBox="1"/>
            <p:nvPr/>
          </p:nvSpPr>
          <p:spPr>
            <a:xfrm>
              <a:off x="705183" y="3522345"/>
              <a:ext cx="875633" cy="347662"/>
            </a:xfrm>
            <a:prstGeom prst="rect">
              <a:avLst/>
            </a:prstGeom>
            <a:noFill/>
            <a:ln>
              <a:noFill/>
            </a:ln>
          </p:spPr>
          <p:txBody>
            <a:bodyPr wrap="none" lIns="0" tIns="0" rIns="0" bIns="0" anchor="t" anchorCtr="0">
              <a:spAutoFit/>
            </a:bodyPr>
            <a:lstStyle/>
            <a:p>
              <a:pPr algn="ctr">
                <a:lnSpc>
                  <a:spcPts val="1350"/>
                </a:lnSpc>
              </a:pPr>
              <a:r>
                <a:rPr lang="zh-CN" sz="900" b="1" dirty="0">
                  <a:solidFill>
                    <a:srgbClr val="FFFFFF"/>
                  </a:solidFill>
                  <a:latin typeface="+mn-lt"/>
                  <a:ea typeface="+mn-ea"/>
                  <a:cs typeface="+mn-cs"/>
                </a:rPr>
                <a:t>从投入到价值的​</a:t>
              </a:r>
              <a:br/>
              <a:r>
                <a:rPr lang="zh-CN" sz="900" b="1" dirty="0">
                  <a:solidFill>
                    <a:srgbClr val="FFFFFF"/>
                  </a:solidFill>
                  <a:latin typeface="+mn-lt"/>
                  <a:ea typeface="+mn-ea"/>
                  <a:cs typeface="+mn-cs"/>
                </a:rPr>
                <a:t>严谨衡量路径</a:t>
              </a:r>
            </a:p>
          </p:txBody>
        </p:sp>
        <p:sp>
          <p:nvSpPr>
            <p:cNvPr id="102" name="Freeform 102"/>
            <p:cNvSpPr/>
            <p:nvPr/>
          </p:nvSpPr>
          <p:spPr>
            <a:xfrm>
              <a:off x="1943100" y="3362325"/>
              <a:ext cx="1962150" cy="609600"/>
            </a:xfrm>
            <a:prstGeom prst="homePlate">
              <a:avLst>
                <a:gd name="adj" fmla="val 35000"/>
              </a:avLst>
            </a:prstGeom>
            <a:solidFill>
              <a:srgbClr val="632012"/>
            </a:solidFill>
            <a:ln>
              <a:noFill/>
            </a:ln>
          </p:spPr>
        </p:sp>
        <p:sp>
          <p:nvSpPr>
            <p:cNvPr id="103" name="Freeform 103"/>
            <p:cNvSpPr/>
            <p:nvPr/>
          </p:nvSpPr>
          <p:spPr>
            <a:xfrm>
              <a:off x="3867150" y="3362325"/>
              <a:ext cx="1962150" cy="609600"/>
            </a:xfrm>
            <a:prstGeom prst="chevron">
              <a:avLst>
                <a:gd name="adj" fmla="val 35000"/>
              </a:avLst>
            </a:prstGeom>
            <a:solidFill>
              <a:srgbClr val="9C331E"/>
            </a:solidFill>
            <a:ln>
              <a:noFill/>
            </a:ln>
          </p:spPr>
        </p:sp>
        <p:sp>
          <p:nvSpPr>
            <p:cNvPr id="104" name="Freeform 104"/>
            <p:cNvSpPr/>
            <p:nvPr/>
          </p:nvSpPr>
          <p:spPr>
            <a:xfrm>
              <a:off x="5791200" y="3362325"/>
              <a:ext cx="1962150" cy="609600"/>
            </a:xfrm>
            <a:prstGeom prst="chevron">
              <a:avLst>
                <a:gd name="adj" fmla="val 35000"/>
              </a:avLst>
            </a:prstGeom>
            <a:solidFill>
              <a:srgbClr val="B53C23"/>
            </a:solidFill>
            <a:ln>
              <a:noFill/>
            </a:ln>
          </p:spPr>
        </p:sp>
        <p:sp>
          <p:nvSpPr>
            <p:cNvPr id="105" name="Freeform 105"/>
            <p:cNvSpPr/>
            <p:nvPr/>
          </p:nvSpPr>
          <p:spPr>
            <a:xfrm>
              <a:off x="7715250" y="3362325"/>
              <a:ext cx="1962150" cy="609600"/>
            </a:xfrm>
            <a:prstGeom prst="chevron">
              <a:avLst>
                <a:gd name="adj" fmla="val 35000"/>
              </a:avLst>
            </a:prstGeom>
            <a:solidFill>
              <a:srgbClr val="D64A2E"/>
            </a:solidFill>
            <a:ln>
              <a:noFill/>
            </a:ln>
          </p:spPr>
        </p:sp>
        <p:sp>
          <p:nvSpPr>
            <p:cNvPr id="106" name="Freeform 106"/>
            <p:cNvSpPr/>
            <p:nvPr/>
          </p:nvSpPr>
          <p:spPr>
            <a:xfrm>
              <a:off x="9639300" y="3362325"/>
              <a:ext cx="1962150" cy="609600"/>
            </a:xfrm>
            <a:prstGeom prst="chevron">
              <a:avLst>
                <a:gd name="adj" fmla="val 35000"/>
              </a:avLst>
            </a:prstGeom>
            <a:solidFill>
              <a:srgbClr val="DE715B"/>
            </a:solidFill>
            <a:ln>
              <a:noFill/>
            </a:ln>
          </p:spPr>
        </p:sp>
        <p:grpSp>
          <p:nvGrpSpPr>
            <p:cNvPr id="112" name="Group 112"/>
            <p:cNvGrpSpPr/>
            <p:nvPr/>
          </p:nvGrpSpPr>
          <p:grpSpPr>
            <a:xfrm>
              <a:off x="2192337" y="3595687"/>
              <a:ext cx="111125" cy="142875"/>
              <a:chOff x="2192337" y="3595687"/>
              <a:chExt cx="111125" cy="142875"/>
            </a:xfrm>
          </p:grpSpPr>
          <p:sp>
            <p:nvSpPr>
              <p:cNvPr id="107" name="Freeform 107"/>
              <p:cNvSpPr/>
              <p:nvPr/>
            </p:nvSpPr>
            <p:spPr>
              <a:xfrm>
                <a:off x="2263775" y="3595687"/>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108" name="Freeform 108"/>
              <p:cNvSpPr/>
              <p:nvPr/>
            </p:nvSpPr>
            <p:spPr>
              <a:xfrm>
                <a:off x="2192337" y="3595687"/>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109" name="Freeform 109"/>
              <p:cNvSpPr/>
              <p:nvPr/>
            </p:nvSpPr>
            <p:spPr>
              <a:xfrm>
                <a:off x="2224087" y="3643312"/>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10" name="Freeform 110"/>
              <p:cNvSpPr/>
              <p:nvPr/>
            </p:nvSpPr>
            <p:spPr>
              <a:xfrm>
                <a:off x="2224087" y="3675062"/>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111" name="Freeform 111"/>
              <p:cNvSpPr/>
              <p:nvPr/>
            </p:nvSpPr>
            <p:spPr>
              <a:xfrm>
                <a:off x="2224087" y="3706812"/>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113" name="TextBox 113"/>
            <p:cNvSpPr txBox="1"/>
            <p:nvPr/>
          </p:nvSpPr>
          <p:spPr>
            <a:xfrm>
              <a:off x="2414397" y="3533299"/>
              <a:ext cx="405689"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基线期</a:t>
              </a:r>
            </a:p>
          </p:txBody>
        </p:sp>
        <p:sp>
          <p:nvSpPr>
            <p:cNvPr id="114" name="TextBox 114"/>
            <p:cNvSpPr txBox="1"/>
            <p:nvPr/>
          </p:nvSpPr>
          <p:spPr>
            <a:xfrm>
              <a:off x="2414588" y="3718084"/>
              <a:ext cx="558775"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明确现状水平</a:t>
              </a:r>
            </a:p>
          </p:txBody>
        </p:sp>
        <p:grpSp>
          <p:nvGrpSpPr>
            <p:cNvPr id="119" name="Group 119"/>
            <p:cNvGrpSpPr/>
            <p:nvPr/>
          </p:nvGrpSpPr>
          <p:grpSpPr>
            <a:xfrm>
              <a:off x="4205287" y="3595687"/>
              <a:ext cx="142875" cy="142875"/>
              <a:chOff x="4205287" y="3595687"/>
              <a:chExt cx="142875" cy="142875"/>
            </a:xfrm>
          </p:grpSpPr>
          <p:sp>
            <p:nvSpPr>
              <p:cNvPr id="115" name="Freeform 115"/>
              <p:cNvSpPr/>
              <p:nvPr/>
            </p:nvSpPr>
            <p:spPr>
              <a:xfrm>
                <a:off x="4221162" y="35956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116" name="Freeform 116"/>
              <p:cNvSpPr/>
              <p:nvPr/>
            </p:nvSpPr>
            <p:spPr>
              <a:xfrm>
                <a:off x="4205287" y="369093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117" name="Freeform 117"/>
              <p:cNvSpPr/>
              <p:nvPr/>
            </p:nvSpPr>
            <p:spPr>
              <a:xfrm>
                <a:off x="4308475" y="3596719"/>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118" name="Freeform 118"/>
              <p:cNvSpPr/>
              <p:nvPr/>
            </p:nvSpPr>
            <p:spPr>
              <a:xfrm>
                <a:off x="4324350" y="3692128"/>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120" name="TextBox 120"/>
            <p:cNvSpPr txBox="1"/>
            <p:nvPr/>
          </p:nvSpPr>
          <p:spPr>
            <a:xfrm>
              <a:off x="4443222" y="35332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对照口径</a:t>
              </a:r>
            </a:p>
          </p:txBody>
        </p:sp>
        <p:sp>
          <p:nvSpPr>
            <p:cNvPr id="121" name="TextBox 121"/>
            <p:cNvSpPr txBox="1"/>
            <p:nvPr/>
          </p:nvSpPr>
          <p:spPr>
            <a:xfrm>
              <a:off x="4443412" y="3718084"/>
              <a:ext cx="558775"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设置可比范围</a:t>
              </a:r>
            </a:p>
          </p:txBody>
        </p:sp>
        <p:grpSp>
          <p:nvGrpSpPr>
            <p:cNvPr id="124" name="Group 124"/>
            <p:cNvGrpSpPr/>
            <p:nvPr/>
          </p:nvGrpSpPr>
          <p:grpSpPr>
            <a:xfrm>
              <a:off x="6145212" y="3596436"/>
              <a:ext cx="111125" cy="142126"/>
              <a:chOff x="6145212" y="3596436"/>
              <a:chExt cx="111125" cy="142126"/>
            </a:xfrm>
          </p:grpSpPr>
          <p:sp>
            <p:nvSpPr>
              <p:cNvPr id="122" name="Freeform 122"/>
              <p:cNvSpPr/>
              <p:nvPr/>
            </p:nvSpPr>
            <p:spPr>
              <a:xfrm>
                <a:off x="6145212" y="3596436"/>
                <a:ext cx="111125" cy="101691"/>
              </a:xfrm>
              <a:custGeom>
                <a:avLst/>
                <a:gdLst/>
                <a:ahLst/>
                <a:cxnLst/>
                <a:rect l="l" t="t" r="r" b="b"/>
                <a:pathLst>
                  <a:path w="111125" h="101691">
                    <a:moveTo>
                      <a:pt x="0" y="15127"/>
                    </a:moveTo>
                    <a:cubicBezTo>
                      <a:pt x="15432" y="0"/>
                      <a:pt x="40130" y="0"/>
                      <a:pt x="55562" y="15127"/>
                    </a:cubicBezTo>
                    <a:cubicBezTo>
                      <a:pt x="70995" y="30253"/>
                      <a:pt x="95693" y="30253"/>
                      <a:pt x="111125" y="15127"/>
                    </a:cubicBezTo>
                    <a:lnTo>
                      <a:pt x="111125" y="86564"/>
                    </a:lnTo>
                    <a:cubicBezTo>
                      <a:pt x="95693" y="101691"/>
                      <a:pt x="70995" y="101691"/>
                      <a:pt x="55562" y="86564"/>
                    </a:cubicBezTo>
                    <a:cubicBezTo>
                      <a:pt x="40130" y="71437"/>
                      <a:pt x="15432" y="71437"/>
                      <a:pt x="0" y="86564"/>
                    </a:cubicBezTo>
                    <a:lnTo>
                      <a:pt x="0" y="15127"/>
                    </a:lnTo>
                  </a:path>
                </a:pathLst>
              </a:custGeom>
              <a:noFill/>
              <a:ln w="15875">
                <a:solidFill>
                  <a:srgbClr val="FFFFFF"/>
                </a:solidFill>
              </a:ln>
            </p:spPr>
          </p:sp>
          <p:sp>
            <p:nvSpPr>
              <p:cNvPr id="123" name="Freeform 123"/>
              <p:cNvSpPr/>
              <p:nvPr/>
            </p:nvSpPr>
            <p:spPr>
              <a:xfrm>
                <a:off x="6145212" y="3683000"/>
                <a:ext cx="9525" cy="55562"/>
              </a:xfrm>
              <a:custGeom>
                <a:avLst/>
                <a:gdLst/>
                <a:ahLst/>
                <a:cxnLst/>
                <a:rect l="l" t="t" r="r" b="b"/>
                <a:pathLst>
                  <a:path w="9525" h="55562">
                    <a:moveTo>
                      <a:pt x="0" y="55562"/>
                    </a:moveTo>
                    <a:lnTo>
                      <a:pt x="0" y="0"/>
                    </a:lnTo>
                  </a:path>
                </a:pathLst>
              </a:custGeom>
              <a:noFill/>
              <a:ln w="15875">
                <a:solidFill>
                  <a:srgbClr val="FFFFFF"/>
                </a:solidFill>
              </a:ln>
            </p:spPr>
          </p:sp>
        </p:grpSp>
        <p:sp>
          <p:nvSpPr>
            <p:cNvPr id="125" name="TextBox 125"/>
            <p:cNvSpPr txBox="1"/>
            <p:nvPr/>
          </p:nvSpPr>
          <p:spPr>
            <a:xfrm>
              <a:off x="6367272" y="3533299"/>
              <a:ext cx="405689"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上线期</a:t>
              </a:r>
            </a:p>
          </p:txBody>
        </p:sp>
        <p:sp>
          <p:nvSpPr>
            <p:cNvPr id="126" name="TextBox 126"/>
            <p:cNvSpPr txBox="1"/>
            <p:nvPr/>
          </p:nvSpPr>
          <p:spPr>
            <a:xfrm>
              <a:off x="6367462" y="3718084"/>
              <a:ext cx="558775"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观察实际变化</a:t>
              </a:r>
            </a:p>
          </p:txBody>
        </p:sp>
        <p:grpSp>
          <p:nvGrpSpPr>
            <p:cNvPr id="129" name="Group 129"/>
            <p:cNvGrpSpPr/>
            <p:nvPr/>
          </p:nvGrpSpPr>
          <p:grpSpPr>
            <a:xfrm>
              <a:off x="8061325" y="3619500"/>
              <a:ext cx="127000" cy="112712"/>
              <a:chOff x="8061325" y="3619500"/>
              <a:chExt cx="127000" cy="112712"/>
            </a:xfrm>
          </p:grpSpPr>
          <p:sp>
            <p:nvSpPr>
              <p:cNvPr id="127" name="Freeform 127"/>
              <p:cNvSpPr/>
              <p:nvPr/>
            </p:nvSpPr>
            <p:spPr>
              <a:xfrm>
                <a:off x="8061325" y="3722687"/>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28" name="Freeform 128"/>
              <p:cNvSpPr/>
              <p:nvPr/>
            </p:nvSpPr>
            <p:spPr>
              <a:xfrm>
                <a:off x="8061325" y="3619500"/>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FFFFFF"/>
                </a:solidFill>
              </a:ln>
            </p:spPr>
          </p:sp>
        </p:grpSp>
        <p:sp>
          <p:nvSpPr>
            <p:cNvPr id="130" name="TextBox 130"/>
            <p:cNvSpPr txBox="1"/>
            <p:nvPr/>
          </p:nvSpPr>
          <p:spPr>
            <a:xfrm>
              <a:off x="8291322" y="35332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持续监测</a:t>
              </a:r>
            </a:p>
          </p:txBody>
        </p:sp>
        <p:sp>
          <p:nvSpPr>
            <p:cNvPr id="131" name="TextBox 131"/>
            <p:cNvSpPr txBox="1"/>
            <p:nvPr/>
          </p:nvSpPr>
          <p:spPr>
            <a:xfrm>
              <a:off x="8291512" y="3718084"/>
              <a:ext cx="558775"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跟踪长期表现</a:t>
              </a:r>
            </a:p>
          </p:txBody>
        </p:sp>
        <p:grpSp>
          <p:nvGrpSpPr>
            <p:cNvPr id="137" name="Group 137"/>
            <p:cNvGrpSpPr/>
            <p:nvPr/>
          </p:nvGrpSpPr>
          <p:grpSpPr>
            <a:xfrm>
              <a:off x="9977437" y="3594624"/>
              <a:ext cx="142875" cy="143938"/>
              <a:chOff x="9977437" y="3594624"/>
              <a:chExt cx="142875" cy="143938"/>
            </a:xfrm>
          </p:grpSpPr>
          <p:sp>
            <p:nvSpPr>
              <p:cNvPr id="132" name="Freeform 132"/>
              <p:cNvSpPr/>
              <p:nvPr/>
            </p:nvSpPr>
            <p:spPr>
              <a:xfrm>
                <a:off x="10025062" y="3659187"/>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FFFFFF"/>
                </a:solidFill>
              </a:ln>
            </p:spPr>
          </p:sp>
          <p:sp>
            <p:nvSpPr>
              <p:cNvPr id="133" name="Freeform 133"/>
              <p:cNvSpPr/>
              <p:nvPr/>
            </p:nvSpPr>
            <p:spPr>
              <a:xfrm>
                <a:off x="10025062" y="3683000"/>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FFFFFF"/>
                </a:solidFill>
              </a:ln>
            </p:spPr>
          </p:sp>
          <p:sp>
            <p:nvSpPr>
              <p:cNvPr id="134" name="Freeform 134"/>
              <p:cNvSpPr/>
              <p:nvPr/>
            </p:nvSpPr>
            <p:spPr>
              <a:xfrm>
                <a:off x="9977437" y="3594624"/>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FFFFFF"/>
                </a:solidFill>
              </a:ln>
            </p:spPr>
          </p:sp>
          <p:sp>
            <p:nvSpPr>
              <p:cNvPr id="135" name="Freeform 135"/>
              <p:cNvSpPr/>
              <p:nvPr/>
            </p:nvSpPr>
            <p:spPr>
              <a:xfrm>
                <a:off x="9977437" y="3619500"/>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FFFFFF"/>
                </a:solidFill>
              </a:ln>
            </p:spPr>
          </p:sp>
          <p:sp>
            <p:nvSpPr>
              <p:cNvPr id="136" name="Freeform 136"/>
              <p:cNvSpPr/>
              <p:nvPr/>
            </p:nvSpPr>
            <p:spPr>
              <a:xfrm>
                <a:off x="9977437" y="3659187"/>
                <a:ext cx="15875" cy="15875"/>
              </a:xfrm>
              <a:custGeom>
                <a:avLst/>
                <a:gdLst/>
                <a:ahLst/>
                <a:cxnLst/>
                <a:rect l="l" t="t" r="r" b="b"/>
                <a:pathLst>
                  <a:path w="15875" h="15875">
                    <a:moveTo>
                      <a:pt x="0" y="0"/>
                    </a:moveTo>
                    <a:cubicBezTo>
                      <a:pt x="0" y="7048"/>
                      <a:pt x="6128" y="11509"/>
                      <a:pt x="15875" y="15875"/>
                    </a:cubicBezTo>
                  </a:path>
                </a:pathLst>
              </a:custGeom>
              <a:noFill/>
              <a:ln w="15875">
                <a:solidFill>
                  <a:srgbClr val="FFFFFF"/>
                </a:solidFill>
              </a:ln>
            </p:spPr>
          </p:sp>
        </p:grpSp>
        <p:sp>
          <p:nvSpPr>
            <p:cNvPr id="138" name="TextBox 138"/>
            <p:cNvSpPr txBox="1"/>
            <p:nvPr/>
          </p:nvSpPr>
          <p:spPr>
            <a:xfrm>
              <a:off x="10215372" y="35332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财务确认</a:t>
              </a:r>
            </a:p>
          </p:txBody>
        </p:sp>
        <p:sp>
          <p:nvSpPr>
            <p:cNvPr id="139" name="TextBox 139"/>
            <p:cNvSpPr txBox="1"/>
            <p:nvPr/>
          </p:nvSpPr>
          <p:spPr>
            <a:xfrm>
              <a:off x="10215562" y="3718084"/>
              <a:ext cx="558775" cy="133350"/>
            </a:xfrm>
            <a:prstGeom prst="rect">
              <a:avLst/>
            </a:prstGeom>
            <a:noFill/>
            <a:ln>
              <a:noFill/>
            </a:ln>
          </p:spPr>
          <p:txBody>
            <a:bodyPr wrap="none" lIns="0" tIns="0" rIns="0" bIns="0" anchor="t" anchorCtr="0">
              <a:spAutoFit/>
            </a:bodyPr>
            <a:lstStyle/>
            <a:p>
              <a:pPr algn="l"/>
              <a:r>
                <a:rPr lang="zh-CN" sz="680" dirty="0">
                  <a:solidFill>
                    <a:srgbClr val="DCE9F8"/>
                  </a:solidFill>
                  <a:latin typeface="+mn-lt"/>
                  <a:ea typeface="+mn-ea"/>
                  <a:cs typeface="+mn-cs"/>
                </a:rPr>
                <a:t>纳入经营结果</a:t>
              </a:r>
            </a:p>
          </p:txBody>
        </p:sp>
      </p:grpSp>
      <p:grpSp>
        <p:nvGrpSpPr>
          <p:cNvPr id="173" name="principles"/>
          <p:cNvGrpSpPr/>
          <p:nvPr/>
        </p:nvGrpSpPr>
        <p:grpSpPr>
          <a:xfrm>
            <a:off x="381000" y="4210050"/>
            <a:ext cx="11430000" cy="781050"/>
            <a:chOff x="381000" y="4210050"/>
            <a:chExt cx="11430000" cy="781050"/>
          </a:xfrm>
        </p:grpSpPr>
        <p:sp>
          <p:nvSpPr>
            <p:cNvPr id="141" name="Rectangle 141"/>
            <p:cNvSpPr/>
            <p:nvPr/>
          </p:nvSpPr>
          <p:spPr>
            <a:xfrm>
              <a:off x="381000" y="4210050"/>
              <a:ext cx="11430000" cy="781050"/>
            </a:xfrm>
            <a:prstGeom prst="roundRect">
              <a:avLst>
                <a:gd name="adj" fmla="val 7317"/>
              </a:avLst>
            </a:prstGeom>
            <a:solidFill>
              <a:srgbClr val="EFF5FC"/>
            </a:solidFill>
            <a:ln w="9525">
              <a:solidFill>
                <a:srgbClr val="C7D9F0"/>
              </a:solidFill>
            </a:ln>
          </p:spPr>
        </p:sp>
        <p:sp>
          <p:nvSpPr>
            <p:cNvPr id="142" name="Rectangle 142"/>
            <p:cNvSpPr/>
            <p:nvPr/>
          </p:nvSpPr>
          <p:spPr>
            <a:xfrm>
              <a:off x="381000" y="4210050"/>
              <a:ext cx="1524000" cy="781050"/>
            </a:xfrm>
            <a:prstGeom prst="roundRect">
              <a:avLst>
                <a:gd name="adj" fmla="val 7317"/>
              </a:avLst>
            </a:prstGeom>
            <a:solidFill>
              <a:srgbClr val="9C331E"/>
            </a:solidFill>
            <a:ln>
              <a:noFill/>
            </a:ln>
          </p:spPr>
        </p:sp>
        <p:sp>
          <p:nvSpPr>
            <p:cNvPr id="143" name="TextBox 143"/>
            <p:cNvSpPr txBox="1"/>
            <p:nvPr/>
          </p:nvSpPr>
          <p:spPr>
            <a:xfrm>
              <a:off x="762333" y="4455795"/>
              <a:ext cx="761333" cy="347662"/>
            </a:xfrm>
            <a:prstGeom prst="rect">
              <a:avLst/>
            </a:prstGeom>
            <a:noFill/>
            <a:ln>
              <a:noFill/>
            </a:ln>
          </p:spPr>
          <p:txBody>
            <a:bodyPr wrap="none" lIns="0" tIns="0" rIns="0" bIns="0" anchor="t" anchorCtr="0">
              <a:spAutoFit/>
            </a:bodyPr>
            <a:lstStyle/>
            <a:p>
              <a:pPr algn="ctr">
                <a:lnSpc>
                  <a:spcPts val="1350"/>
                </a:lnSpc>
              </a:pPr>
              <a:r>
                <a:rPr lang="zh-CN" sz="900" b="1" dirty="0">
                  <a:solidFill>
                    <a:srgbClr val="FFFFFF"/>
                  </a:solidFill>
                  <a:latin typeface="+mn-lt"/>
                  <a:ea typeface="+mn-ea"/>
                  <a:cs typeface="+mn-cs"/>
                </a:rPr>
                <a:t>衡量与归因的​</a:t>
              </a:r>
              <a:br/>
              <a:r>
                <a:rPr lang="zh-CN" sz="900" b="1" dirty="0">
                  <a:solidFill>
                    <a:srgbClr val="FFFFFF"/>
                  </a:solidFill>
                  <a:latin typeface="+mn-lt"/>
                  <a:ea typeface="+mn-ea"/>
                  <a:cs typeface="+mn-cs"/>
                </a:rPr>
                <a:t>基本原则</a:t>
              </a:r>
            </a:p>
          </p:txBody>
        </p:sp>
        <p:sp>
          <p:nvSpPr>
            <p:cNvPr id="144" name="Ellipse 144"/>
            <p:cNvSpPr/>
            <p:nvPr/>
          </p:nvSpPr>
          <p:spPr>
            <a:xfrm>
              <a:off x="2057400" y="4429125"/>
              <a:ext cx="342900" cy="342900"/>
            </a:xfrm>
            <a:prstGeom prst="ellipse">
              <a:avLst/>
            </a:prstGeom>
            <a:solidFill>
              <a:srgbClr val="FFFFFF"/>
            </a:solidFill>
            <a:ln w="14288">
              <a:solidFill>
                <a:srgbClr val="9C331E"/>
              </a:solidFill>
            </a:ln>
          </p:spPr>
        </p:sp>
        <p:grpSp>
          <p:nvGrpSpPr>
            <p:cNvPr id="150" name="Group 150"/>
            <p:cNvGrpSpPr/>
            <p:nvPr/>
          </p:nvGrpSpPr>
          <p:grpSpPr>
            <a:xfrm>
              <a:off x="2173287" y="4529137"/>
              <a:ext cx="111125" cy="142875"/>
              <a:chOff x="2173287" y="4529137"/>
              <a:chExt cx="111125" cy="142875"/>
            </a:xfrm>
          </p:grpSpPr>
          <p:sp>
            <p:nvSpPr>
              <p:cNvPr id="145" name="Freeform 145"/>
              <p:cNvSpPr/>
              <p:nvPr/>
            </p:nvSpPr>
            <p:spPr>
              <a:xfrm>
                <a:off x="2244725" y="4529137"/>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9C331E"/>
                </a:solidFill>
              </a:ln>
            </p:spPr>
          </p:sp>
          <p:sp>
            <p:nvSpPr>
              <p:cNvPr id="146" name="Freeform 146"/>
              <p:cNvSpPr/>
              <p:nvPr/>
            </p:nvSpPr>
            <p:spPr>
              <a:xfrm>
                <a:off x="2173287" y="4529137"/>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9C331E"/>
                </a:solidFill>
              </a:ln>
            </p:spPr>
          </p:sp>
          <p:sp>
            <p:nvSpPr>
              <p:cNvPr id="147" name="Freeform 147"/>
              <p:cNvSpPr/>
              <p:nvPr/>
            </p:nvSpPr>
            <p:spPr>
              <a:xfrm>
                <a:off x="2205037" y="4576762"/>
                <a:ext cx="9525" cy="9525"/>
              </a:xfrm>
              <a:custGeom>
                <a:avLst/>
                <a:gdLst/>
                <a:ahLst/>
                <a:cxnLst/>
                <a:rect l="l" t="t" r="r" b="b"/>
                <a:pathLst>
                  <a:path w="9525" h="9525">
                    <a:moveTo>
                      <a:pt x="0" y="0"/>
                    </a:moveTo>
                    <a:lnTo>
                      <a:pt x="7937" y="0"/>
                    </a:lnTo>
                  </a:path>
                </a:pathLst>
              </a:custGeom>
              <a:noFill/>
              <a:ln w="15875">
                <a:solidFill>
                  <a:srgbClr val="9C331E"/>
                </a:solidFill>
              </a:ln>
            </p:spPr>
          </p:sp>
          <p:sp>
            <p:nvSpPr>
              <p:cNvPr id="148" name="Freeform 148"/>
              <p:cNvSpPr/>
              <p:nvPr/>
            </p:nvSpPr>
            <p:spPr>
              <a:xfrm>
                <a:off x="2205037" y="4608512"/>
                <a:ext cx="47625" cy="9525"/>
              </a:xfrm>
              <a:custGeom>
                <a:avLst/>
                <a:gdLst/>
                <a:ahLst/>
                <a:cxnLst/>
                <a:rect l="l" t="t" r="r" b="b"/>
                <a:pathLst>
                  <a:path w="47625" h="9525">
                    <a:moveTo>
                      <a:pt x="0" y="0"/>
                    </a:moveTo>
                    <a:lnTo>
                      <a:pt x="47625" y="0"/>
                    </a:lnTo>
                  </a:path>
                </a:pathLst>
              </a:custGeom>
              <a:noFill/>
              <a:ln w="15875">
                <a:solidFill>
                  <a:srgbClr val="9C331E"/>
                </a:solidFill>
              </a:ln>
            </p:spPr>
          </p:sp>
          <p:sp>
            <p:nvSpPr>
              <p:cNvPr id="149" name="Freeform 149"/>
              <p:cNvSpPr/>
              <p:nvPr/>
            </p:nvSpPr>
            <p:spPr>
              <a:xfrm>
                <a:off x="2205037" y="4640262"/>
                <a:ext cx="47625" cy="9525"/>
              </a:xfrm>
              <a:custGeom>
                <a:avLst/>
                <a:gdLst/>
                <a:ahLst/>
                <a:cxnLst/>
                <a:rect l="l" t="t" r="r" b="b"/>
                <a:pathLst>
                  <a:path w="47625" h="9525">
                    <a:moveTo>
                      <a:pt x="0" y="0"/>
                    </a:moveTo>
                    <a:lnTo>
                      <a:pt x="47625" y="0"/>
                    </a:lnTo>
                  </a:path>
                </a:pathLst>
              </a:custGeom>
              <a:noFill/>
              <a:ln w="15875">
                <a:solidFill>
                  <a:srgbClr val="9C331E"/>
                </a:solidFill>
              </a:ln>
            </p:spPr>
          </p:sp>
        </p:grpSp>
        <p:sp>
          <p:nvSpPr>
            <p:cNvPr id="151" name="TextBox 151"/>
            <p:cNvSpPr txBox="1"/>
            <p:nvPr/>
          </p:nvSpPr>
          <p:spPr>
            <a:xfrm>
              <a:off x="2490788" y="4451747"/>
              <a:ext cx="768782"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指标定义一致</a:t>
              </a:r>
            </a:p>
          </p:txBody>
        </p:sp>
        <p:sp>
          <p:nvSpPr>
            <p:cNvPr id="152" name="TextBox 152"/>
            <p:cNvSpPr txBox="1"/>
            <p:nvPr/>
          </p:nvSpPr>
          <p:spPr>
            <a:xfrm>
              <a:off x="2490788" y="4647486"/>
              <a:ext cx="869747"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统一口径与计算方法</a:t>
              </a:r>
            </a:p>
          </p:txBody>
        </p:sp>
        <p:sp>
          <p:nvSpPr>
            <p:cNvPr id="153" name="Ellipse 153"/>
            <p:cNvSpPr/>
            <p:nvPr/>
          </p:nvSpPr>
          <p:spPr>
            <a:xfrm>
              <a:off x="4495800" y="4429125"/>
              <a:ext cx="342900" cy="342900"/>
            </a:xfrm>
            <a:prstGeom prst="ellipse">
              <a:avLst/>
            </a:prstGeom>
            <a:solidFill>
              <a:srgbClr val="FFFFFF"/>
            </a:solidFill>
            <a:ln w="14288">
              <a:solidFill>
                <a:srgbClr val="9C331E"/>
              </a:solidFill>
            </a:ln>
          </p:spPr>
        </p:sp>
        <p:grpSp>
          <p:nvGrpSpPr>
            <p:cNvPr id="157" name="Group 157"/>
            <p:cNvGrpSpPr/>
            <p:nvPr/>
          </p:nvGrpSpPr>
          <p:grpSpPr>
            <a:xfrm>
              <a:off x="4603750" y="4529137"/>
              <a:ext cx="127000" cy="142875"/>
              <a:chOff x="4603750" y="4529137"/>
              <a:chExt cx="127000" cy="142875"/>
            </a:xfrm>
          </p:grpSpPr>
          <p:sp>
            <p:nvSpPr>
              <p:cNvPr id="154" name="Freeform 154"/>
              <p:cNvSpPr/>
              <p:nvPr/>
            </p:nvSpPr>
            <p:spPr>
              <a:xfrm>
                <a:off x="4603750" y="4529137"/>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9C331E"/>
                </a:solidFill>
              </a:ln>
            </p:spPr>
          </p:sp>
          <p:sp>
            <p:nvSpPr>
              <p:cNvPr id="155" name="Freeform 155"/>
              <p:cNvSpPr/>
              <p:nvPr/>
            </p:nvSpPr>
            <p:spPr>
              <a:xfrm>
                <a:off x="4603750" y="45529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9C331E"/>
                </a:solidFill>
              </a:ln>
            </p:spPr>
          </p:sp>
          <p:sp>
            <p:nvSpPr>
              <p:cNvPr id="156" name="Freeform 156"/>
              <p:cNvSpPr/>
              <p:nvPr/>
            </p:nvSpPr>
            <p:spPr>
              <a:xfrm>
                <a:off x="4603750" y="46005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9C331E"/>
                </a:solidFill>
              </a:ln>
            </p:spPr>
          </p:sp>
        </p:grpSp>
        <p:sp>
          <p:nvSpPr>
            <p:cNvPr id="158" name="TextBox 158"/>
            <p:cNvSpPr txBox="1"/>
            <p:nvPr/>
          </p:nvSpPr>
          <p:spPr>
            <a:xfrm>
              <a:off x="4929188" y="4451747"/>
              <a:ext cx="642239"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数据可追溯</a:t>
              </a:r>
            </a:p>
          </p:txBody>
        </p:sp>
        <p:sp>
          <p:nvSpPr>
            <p:cNvPr id="159" name="TextBox 159"/>
            <p:cNvSpPr txBox="1"/>
            <p:nvPr/>
          </p:nvSpPr>
          <p:spPr>
            <a:xfrm>
              <a:off x="4929188" y="4647486"/>
              <a:ext cx="965327"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保留数据来源与证据链</a:t>
              </a:r>
            </a:p>
          </p:txBody>
        </p:sp>
        <p:sp>
          <p:nvSpPr>
            <p:cNvPr id="160" name="Ellipse 160"/>
            <p:cNvSpPr/>
            <p:nvPr/>
          </p:nvSpPr>
          <p:spPr>
            <a:xfrm>
              <a:off x="6934200" y="4429125"/>
              <a:ext cx="342900" cy="342900"/>
            </a:xfrm>
            <a:prstGeom prst="ellipse">
              <a:avLst/>
            </a:prstGeom>
            <a:solidFill>
              <a:srgbClr val="FFFFFF"/>
            </a:solidFill>
            <a:ln w="14288">
              <a:solidFill>
                <a:srgbClr val="9C331E"/>
              </a:solidFill>
            </a:ln>
          </p:spPr>
        </p:sp>
        <p:sp>
          <p:nvSpPr>
            <p:cNvPr id="161" name="Freeform 161"/>
            <p:cNvSpPr/>
            <p:nvPr/>
          </p:nvSpPr>
          <p:spPr>
            <a:xfrm>
              <a:off x="7042150" y="4537075"/>
              <a:ext cx="127000" cy="134937"/>
            </a:xfrm>
            <a:custGeom>
              <a:avLst/>
              <a:gdLst/>
              <a:ahLst/>
              <a:cxnLst/>
              <a:rect l="l" t="t" r="r" b="b"/>
              <a:pathLst>
                <a:path w="127000" h="134937">
                  <a:moveTo>
                    <a:pt x="0" y="0"/>
                  </a:moveTo>
                  <a:lnTo>
                    <a:pt x="127000" y="0"/>
                  </a:lnTo>
                  <a:lnTo>
                    <a:pt x="127000" y="17240"/>
                  </a:lnTo>
                  <a:cubicBezTo>
                    <a:pt x="126999" y="21450"/>
                    <a:pt x="125326" y="25487"/>
                    <a:pt x="122349" y="28464"/>
                  </a:cubicBezTo>
                  <a:lnTo>
                    <a:pt x="87312" y="63500"/>
                  </a:lnTo>
                  <a:lnTo>
                    <a:pt x="87312" y="119062"/>
                  </a:lnTo>
                  <a:lnTo>
                    <a:pt x="39687" y="134937"/>
                  </a:lnTo>
                  <a:lnTo>
                    <a:pt x="39687" y="67469"/>
                  </a:lnTo>
                  <a:lnTo>
                    <a:pt x="4127" y="28353"/>
                  </a:lnTo>
                  <a:cubicBezTo>
                    <a:pt x="1472" y="25431"/>
                    <a:pt x="0" y="21625"/>
                    <a:pt x="0" y="17677"/>
                  </a:cubicBezTo>
                  <a:lnTo>
                    <a:pt x="0" y="0"/>
                  </a:lnTo>
                </a:path>
              </a:pathLst>
            </a:custGeom>
            <a:noFill/>
            <a:ln w="15875">
              <a:solidFill>
                <a:srgbClr val="9C331E"/>
              </a:solidFill>
            </a:ln>
          </p:spPr>
        </p:sp>
        <p:sp>
          <p:nvSpPr>
            <p:cNvPr id="162" name="TextBox 162"/>
            <p:cNvSpPr txBox="1"/>
            <p:nvPr/>
          </p:nvSpPr>
          <p:spPr>
            <a:xfrm>
              <a:off x="7367588" y="4451747"/>
              <a:ext cx="768782"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剔除外生因素</a:t>
              </a:r>
            </a:p>
          </p:txBody>
        </p:sp>
        <p:sp>
          <p:nvSpPr>
            <p:cNvPr id="163" name="TextBox 163"/>
            <p:cNvSpPr txBox="1"/>
            <p:nvPr/>
          </p:nvSpPr>
          <p:spPr>
            <a:xfrm>
              <a:off x="7367588" y="4647486"/>
              <a:ext cx="1060907"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控制环境变化带来的干扰</a:t>
              </a:r>
            </a:p>
          </p:txBody>
        </p:sp>
        <p:sp>
          <p:nvSpPr>
            <p:cNvPr id="164" name="Ellipse 164"/>
            <p:cNvSpPr/>
            <p:nvPr/>
          </p:nvSpPr>
          <p:spPr>
            <a:xfrm>
              <a:off x="9372600" y="4429125"/>
              <a:ext cx="342900" cy="342900"/>
            </a:xfrm>
            <a:prstGeom prst="ellipse">
              <a:avLst/>
            </a:prstGeom>
            <a:solidFill>
              <a:srgbClr val="FFFFFF"/>
            </a:solidFill>
            <a:ln w="14288">
              <a:solidFill>
                <a:srgbClr val="9C331E"/>
              </a:solidFill>
            </a:ln>
          </p:spPr>
        </p:sp>
        <p:grpSp>
          <p:nvGrpSpPr>
            <p:cNvPr id="170" name="Group 170"/>
            <p:cNvGrpSpPr/>
            <p:nvPr/>
          </p:nvGrpSpPr>
          <p:grpSpPr>
            <a:xfrm>
              <a:off x="9472612" y="4529137"/>
              <a:ext cx="142875" cy="144463"/>
              <a:chOff x="9472612" y="4529137"/>
              <a:chExt cx="142875" cy="144463"/>
            </a:xfrm>
          </p:grpSpPr>
          <p:sp>
            <p:nvSpPr>
              <p:cNvPr id="165" name="Freeform 165"/>
              <p:cNvSpPr/>
              <p:nvPr/>
            </p:nvSpPr>
            <p:spPr>
              <a:xfrm>
                <a:off x="9504362" y="4664075"/>
                <a:ext cx="79375" cy="9525"/>
              </a:xfrm>
              <a:custGeom>
                <a:avLst/>
                <a:gdLst/>
                <a:ahLst/>
                <a:cxnLst/>
                <a:rect l="l" t="t" r="r" b="b"/>
                <a:pathLst>
                  <a:path w="79375" h="9525">
                    <a:moveTo>
                      <a:pt x="0" y="0"/>
                    </a:moveTo>
                    <a:lnTo>
                      <a:pt x="79375" y="0"/>
                    </a:lnTo>
                  </a:path>
                </a:pathLst>
              </a:custGeom>
              <a:noFill/>
              <a:ln w="15875">
                <a:solidFill>
                  <a:srgbClr val="9C331E"/>
                </a:solidFill>
              </a:ln>
            </p:spPr>
          </p:sp>
          <p:sp>
            <p:nvSpPr>
              <p:cNvPr id="166" name="Freeform 166"/>
              <p:cNvSpPr/>
              <p:nvPr/>
            </p:nvSpPr>
            <p:spPr>
              <a:xfrm>
                <a:off x="9496425" y="4545012"/>
                <a:ext cx="95250" cy="9525"/>
              </a:xfrm>
              <a:custGeom>
                <a:avLst/>
                <a:gdLst/>
                <a:ahLst/>
                <a:cxnLst/>
                <a:rect l="l" t="t" r="r" b="b"/>
                <a:pathLst>
                  <a:path w="95250" h="9525">
                    <a:moveTo>
                      <a:pt x="0" y="7937"/>
                    </a:moveTo>
                    <a:lnTo>
                      <a:pt x="47625" y="0"/>
                    </a:lnTo>
                    <a:lnTo>
                      <a:pt x="95250" y="7937"/>
                    </a:lnTo>
                  </a:path>
                </a:pathLst>
              </a:custGeom>
              <a:noFill/>
              <a:ln w="15875">
                <a:solidFill>
                  <a:srgbClr val="9C331E"/>
                </a:solidFill>
              </a:ln>
            </p:spPr>
          </p:sp>
          <p:sp>
            <p:nvSpPr>
              <p:cNvPr id="167" name="Freeform 167"/>
              <p:cNvSpPr/>
              <p:nvPr/>
            </p:nvSpPr>
            <p:spPr>
              <a:xfrm>
                <a:off x="9544050" y="4529137"/>
                <a:ext cx="9525" cy="134937"/>
              </a:xfrm>
              <a:custGeom>
                <a:avLst/>
                <a:gdLst/>
                <a:ahLst/>
                <a:cxnLst/>
                <a:rect l="l" t="t" r="r" b="b"/>
                <a:pathLst>
                  <a:path w="9525" h="134937">
                    <a:moveTo>
                      <a:pt x="0" y="0"/>
                    </a:moveTo>
                    <a:lnTo>
                      <a:pt x="0" y="134937"/>
                    </a:lnTo>
                  </a:path>
                </a:pathLst>
              </a:custGeom>
              <a:noFill/>
              <a:ln w="15875">
                <a:solidFill>
                  <a:srgbClr val="9C331E"/>
                </a:solidFill>
              </a:ln>
            </p:spPr>
          </p:sp>
          <p:sp>
            <p:nvSpPr>
              <p:cNvPr id="168" name="Freeform 168"/>
              <p:cNvSpPr/>
              <p:nvPr/>
            </p:nvSpPr>
            <p:spPr>
              <a:xfrm>
                <a:off x="9472612" y="4552950"/>
                <a:ext cx="47625" cy="71437"/>
              </a:xfrm>
              <a:custGeom>
                <a:avLst/>
                <a:gdLst/>
                <a:ahLst/>
                <a:cxnLst/>
                <a:rect l="l" t="t" r="r" b="b"/>
                <a:pathLst>
                  <a:path w="47625" h="71437">
                    <a:moveTo>
                      <a:pt x="47625" y="47625"/>
                    </a:moveTo>
                    <a:lnTo>
                      <a:pt x="23812" y="0"/>
                    </a:lnTo>
                    <a:lnTo>
                      <a:pt x="0" y="47625"/>
                    </a:lnTo>
                    <a:cubicBezTo>
                      <a:pt x="0" y="60776"/>
                      <a:pt x="10661" y="71437"/>
                      <a:pt x="23812" y="71437"/>
                    </a:cubicBezTo>
                    <a:cubicBezTo>
                      <a:pt x="36964" y="71437"/>
                      <a:pt x="47625" y="60776"/>
                      <a:pt x="47625" y="47625"/>
                    </a:cubicBezTo>
                  </a:path>
                </a:pathLst>
              </a:custGeom>
              <a:noFill/>
              <a:ln w="15875">
                <a:solidFill>
                  <a:srgbClr val="9C331E"/>
                </a:solidFill>
              </a:ln>
            </p:spPr>
          </p:sp>
          <p:sp>
            <p:nvSpPr>
              <p:cNvPr id="169" name="Freeform 169"/>
              <p:cNvSpPr/>
              <p:nvPr/>
            </p:nvSpPr>
            <p:spPr>
              <a:xfrm>
                <a:off x="9567862" y="4552950"/>
                <a:ext cx="47625" cy="71437"/>
              </a:xfrm>
              <a:custGeom>
                <a:avLst/>
                <a:gdLst/>
                <a:ahLst/>
                <a:cxnLst/>
                <a:rect l="l" t="t" r="r" b="b"/>
                <a:pathLst>
                  <a:path w="47625" h="71437">
                    <a:moveTo>
                      <a:pt x="47625" y="47625"/>
                    </a:moveTo>
                    <a:lnTo>
                      <a:pt x="23812" y="0"/>
                    </a:lnTo>
                    <a:lnTo>
                      <a:pt x="0" y="47625"/>
                    </a:lnTo>
                    <a:cubicBezTo>
                      <a:pt x="0" y="60776"/>
                      <a:pt x="10661" y="71437"/>
                      <a:pt x="23812" y="71437"/>
                    </a:cubicBezTo>
                    <a:cubicBezTo>
                      <a:pt x="36964" y="71437"/>
                      <a:pt x="47625" y="60776"/>
                      <a:pt x="47625" y="47625"/>
                    </a:cubicBezTo>
                  </a:path>
                </a:pathLst>
              </a:custGeom>
              <a:noFill/>
              <a:ln w="15875">
                <a:solidFill>
                  <a:srgbClr val="9C331E"/>
                </a:solidFill>
              </a:ln>
            </p:spPr>
          </p:sp>
        </p:grpSp>
        <p:sp>
          <p:nvSpPr>
            <p:cNvPr id="171" name="TextBox 171"/>
            <p:cNvSpPr txBox="1"/>
            <p:nvPr/>
          </p:nvSpPr>
          <p:spPr>
            <a:xfrm>
              <a:off x="9805988" y="4451747"/>
              <a:ext cx="895325" cy="183356"/>
            </a:xfrm>
            <a:prstGeom prst="rect">
              <a:avLst/>
            </a:prstGeom>
            <a:noFill/>
            <a:ln>
              <a:noFill/>
            </a:ln>
          </p:spPr>
          <p:txBody>
            <a:bodyPr wrap="none" lIns="0" tIns="0" rIns="0" bIns="0" anchor="t" anchorCtr="0">
              <a:spAutoFit/>
            </a:bodyPr>
            <a:lstStyle/>
            <a:p>
              <a:pPr algn="l"/>
              <a:r>
                <a:rPr lang="zh-CN" sz="940" b="1" dirty="0">
                  <a:solidFill>
                    <a:srgbClr val="5E2114"/>
                  </a:solidFill>
                  <a:latin typeface="+mn-lt"/>
                  <a:ea typeface="+mn-ea"/>
                  <a:cs typeface="+mn-cs"/>
                </a:rPr>
                <a:t>收益成本同口径</a:t>
              </a:r>
            </a:p>
          </p:txBody>
        </p:sp>
        <p:sp>
          <p:nvSpPr>
            <p:cNvPr id="172" name="TextBox 172"/>
            <p:cNvSpPr txBox="1"/>
            <p:nvPr/>
          </p:nvSpPr>
          <p:spPr>
            <a:xfrm>
              <a:off x="9805988" y="4647486"/>
              <a:ext cx="1156487" cy="140494"/>
            </a:xfrm>
            <a:prstGeom prst="rect">
              <a:avLst/>
            </a:prstGeom>
            <a:noFill/>
            <a:ln>
              <a:noFill/>
            </a:ln>
          </p:spPr>
          <p:txBody>
            <a:bodyPr wrap="none" lIns="0" tIns="0" rIns="0" bIns="0" anchor="t" anchorCtr="0">
              <a:spAutoFit/>
            </a:bodyPr>
            <a:lstStyle/>
            <a:p>
              <a:pPr algn="l"/>
              <a:r>
                <a:rPr lang="zh-CN" sz="710" dirty="0">
                  <a:solidFill>
                    <a:srgbClr val="9B807A"/>
                  </a:solidFill>
                  <a:latin typeface="+mn-lt"/>
                  <a:ea typeface="+mn-ea"/>
                  <a:cs typeface="+mn-cs"/>
                </a:rPr>
                <a:t>收入、成本与周期保持一致</a:t>
              </a:r>
            </a:p>
          </p:txBody>
        </p:sp>
      </p:grpSp>
      <p:grpSp>
        <p:nvGrpSpPr>
          <p:cNvPr id="177" name="slogan"/>
          <p:cNvGrpSpPr/>
          <p:nvPr/>
        </p:nvGrpSpPr>
        <p:grpSpPr>
          <a:xfrm>
            <a:off x="3619500" y="5352574"/>
            <a:ext cx="4953000" cy="190690"/>
            <a:chOff x="3619500" y="5352574"/>
            <a:chExt cx="4953000" cy="190690"/>
          </a:xfrm>
        </p:grpSpPr>
        <p:sp>
          <p:nvSpPr>
            <p:cNvPr id="174" name="Line 174"/>
            <p:cNvSpPr/>
            <p:nvPr/>
          </p:nvSpPr>
          <p:spPr>
            <a:xfrm>
              <a:off x="3619500" y="5410200"/>
              <a:ext cx="1009650" cy="9525"/>
            </a:xfrm>
            <a:custGeom>
              <a:avLst/>
              <a:gdLst/>
              <a:ahLst/>
              <a:cxnLst/>
              <a:rect l="l" t="t" r="r" b="b"/>
              <a:pathLst>
                <a:path w="1009650" h="9525">
                  <a:moveTo>
                    <a:pt x="0" y="0"/>
                  </a:moveTo>
                  <a:lnTo>
                    <a:pt x="1009650" y="0"/>
                  </a:lnTo>
                </a:path>
              </a:pathLst>
            </a:custGeom>
            <a:noFill/>
            <a:ln w="9525">
              <a:solidFill>
                <a:srgbClr val="9C331E"/>
              </a:solidFill>
            </a:ln>
          </p:spPr>
        </p:sp>
        <p:sp>
          <p:nvSpPr>
            <p:cNvPr id="175" name="TextBox 175"/>
            <p:cNvSpPr txBox="1"/>
            <p:nvPr/>
          </p:nvSpPr>
          <p:spPr>
            <a:xfrm>
              <a:off x="4771771" y="5352574"/>
              <a:ext cx="2648458" cy="190690"/>
            </a:xfrm>
            <a:prstGeom prst="rect">
              <a:avLst/>
            </a:prstGeom>
            <a:noFill/>
            <a:ln>
              <a:noFill/>
            </a:ln>
          </p:spPr>
          <p:txBody>
            <a:bodyPr wrap="none" lIns="0" tIns="0" rIns="0" bIns="0" anchor="t" anchorCtr="0">
              <a:spAutoFit/>
            </a:bodyPr>
            <a:lstStyle/>
            <a:p>
              <a:pPr algn="ctr"/>
              <a:r>
                <a:rPr lang="zh-CN" sz="980" b="1" dirty="0">
                  <a:solidFill>
                    <a:srgbClr val="9C331E"/>
                  </a:solidFill>
                  <a:latin typeface="+mn-lt"/>
                  <a:ea typeface="+mn-ea"/>
                  <a:cs typeface="+mn-cs"/>
                </a:rPr>
                <a:t>以严谨的衡量体系，连接技术能力与经营结果</a:t>
              </a:r>
            </a:p>
          </p:txBody>
        </p:sp>
        <p:sp>
          <p:nvSpPr>
            <p:cNvPr id="176" name="Line 176"/>
            <p:cNvSpPr/>
            <p:nvPr/>
          </p:nvSpPr>
          <p:spPr>
            <a:xfrm>
              <a:off x="7562850" y="5410200"/>
              <a:ext cx="1009650" cy="9525"/>
            </a:xfrm>
            <a:custGeom>
              <a:avLst/>
              <a:gdLst/>
              <a:ahLst/>
              <a:cxnLst/>
              <a:rect l="l" t="t" r="r" b="b"/>
              <a:pathLst>
                <a:path w="1009650" h="9525">
                  <a:moveTo>
                    <a:pt x="0" y="0"/>
                  </a:moveTo>
                  <a:lnTo>
                    <a:pt x="1009650" y="0"/>
                  </a:lnTo>
                </a:path>
              </a:pathLst>
            </a:custGeom>
            <a:noFill/>
            <a:ln w="9525">
              <a:solidFill>
                <a:srgbClr val="9C331E"/>
              </a:solidFill>
            </a:ln>
          </p:spPr>
        </p:sp>
      </p:grpSp>
      <p:grpSp>
        <p:nvGrpSpPr>
          <p:cNvPr id="181" name="footer"/>
          <p:cNvGrpSpPr/>
          <p:nvPr/>
        </p:nvGrpSpPr>
        <p:grpSpPr>
          <a:xfrm>
            <a:off x="0" y="6705600"/>
            <a:ext cx="12192000" cy="173117"/>
            <a:chOff x="0" y="6705600"/>
            <a:chExt cx="12192000" cy="173117"/>
          </a:xfrm>
        </p:grpSpPr>
        <p:sp>
          <p:nvSpPr>
            <p:cNvPr id="178" name="Rectangle 178"/>
            <p:cNvSpPr/>
            <p:nvPr/>
          </p:nvSpPr>
          <p:spPr>
            <a:xfrm>
              <a:off x="0" y="6705600"/>
              <a:ext cx="12192000" cy="152400"/>
            </a:xfrm>
            <a:prstGeom prst="rect">
              <a:avLst/>
            </a:prstGeom>
            <a:solidFill>
              <a:srgbClr val="632012"/>
            </a:solidFill>
            <a:ln>
              <a:noFill/>
            </a:ln>
          </p:spPr>
        </p:sp>
        <p:sp>
          <p:nvSpPr>
            <p:cNvPr id="179" name="TextBox 179"/>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80" name="TextBox 180"/>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17/20</a:t>
              </a:r>
            </a:p>
          </p:txBody>
        </p:sp>
      </p:gr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739563" cy="551879"/>
            <a:chOff x="0" y="0"/>
            <a:chExt cx="11739563"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3" name="TextBox 3"/>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18</a:t>
              </a:r>
            </a:p>
          </p:txBody>
        </p:sp>
        <p:sp>
          <p:nvSpPr>
            <p:cNvPr id="4" name="TextBox 4"/>
            <p:cNvSpPr txBox="1"/>
            <p:nvPr/>
          </p:nvSpPr>
          <p:spPr>
            <a:xfrm>
              <a:off x="942594" y="170498"/>
              <a:ext cx="5012436"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规模闸门</a:t>
              </a:r>
              <a:r>
                <a:rPr lang="zh-CN" sz="1950" b="1" dirty="0">
                  <a:solidFill>
                    <a:srgbClr val="5E2114"/>
                  </a:solidFill>
                  <a:latin typeface="+mj-lt"/>
                  <a:ea typeface="+mj-ea"/>
                  <a:cs typeface="+mj-cs"/>
                </a:rPr>
                <a:t>｜六项审查决定能否跨场景复制</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6" name="TextBox 6"/>
            <p:cNvSpPr txBox="1"/>
            <p:nvPr/>
          </p:nvSpPr>
          <p:spPr>
            <a:xfrm>
              <a:off x="10377578" y="151686"/>
              <a:ext cx="1361985" cy="140494"/>
            </a:xfrm>
            <a:prstGeom prst="rect">
              <a:avLst/>
            </a:prstGeom>
            <a:noFill/>
            <a:ln>
              <a:noFill/>
            </a:ln>
          </p:spPr>
          <p:txBody>
            <a:bodyPr wrap="none" lIns="0" tIns="0" rIns="0" bIns="0" anchor="t" anchorCtr="0">
              <a:spAutoFit/>
            </a:bodyPr>
            <a:lstStyle/>
            <a:p>
              <a:pPr algn="r"/>
              <a:r>
                <a:rPr lang="zh-CN" sz="710" dirty="0">
                  <a:solidFill>
                    <a:srgbClr val="9B807A"/>
                  </a:solidFill>
                  <a:latin typeface="+mn-lt"/>
                  <a:ea typeface="+mn-ea"/>
                  <a:cs typeface="+mn-cs"/>
                </a:rPr>
                <a:t>更稳健的落地 · 更可持续的价值</a:t>
              </a:r>
            </a:p>
          </p:txBody>
        </p:sp>
      </p:grpSp>
      <p:grpSp>
        <p:nvGrpSpPr>
          <p:cNvPr id="9" name="subtitle"/>
          <p:cNvGrpSpPr/>
          <p:nvPr/>
        </p:nvGrpSpPr>
        <p:grpSpPr>
          <a:xfrm>
            <a:off x="985838" y="660797"/>
            <a:ext cx="4944694" cy="183356"/>
            <a:chOff x="985838" y="660797"/>
            <a:chExt cx="4944694" cy="183356"/>
          </a:xfrm>
        </p:grpSpPr>
        <p:sp>
          <p:nvSpPr>
            <p:cNvPr id="8" name="TextBox 8"/>
            <p:cNvSpPr txBox="1"/>
            <p:nvPr/>
          </p:nvSpPr>
          <p:spPr>
            <a:xfrm>
              <a:off x="985838" y="660797"/>
              <a:ext cx="4944694" cy="183356"/>
            </a:xfrm>
            <a:prstGeom prst="rect">
              <a:avLst/>
            </a:prstGeom>
            <a:noFill/>
            <a:ln>
              <a:noFill/>
            </a:ln>
          </p:spPr>
          <p:txBody>
            <a:bodyPr wrap="none" lIns="0" tIns="0" rIns="0" bIns="0" anchor="t" anchorCtr="0">
              <a:spAutoFit/>
            </a:bodyPr>
            <a:lstStyle/>
            <a:p>
              <a:pPr algn="l"/>
              <a:r>
                <a:rPr lang="zh-CN" sz="940" dirty="0">
                  <a:solidFill>
                    <a:srgbClr val="573F3A"/>
                  </a:solidFill>
                  <a:latin typeface="+mn-lt"/>
                  <a:ea typeface="+mn-ea"/>
                  <a:cs typeface="+mn-cs"/>
                </a:rPr>
                <a:t>从单点可行到规模可信，从场景验证到跨界复制，以系统化审查夯实可持续扩展的基础。</a:t>
              </a:r>
            </a:p>
          </p:txBody>
        </p:sp>
      </p:grpSp>
      <p:grpSp>
        <p:nvGrpSpPr>
          <p:cNvPr id="33" name="stage-band"/>
          <p:cNvGrpSpPr/>
          <p:nvPr/>
        </p:nvGrpSpPr>
        <p:grpSpPr>
          <a:xfrm>
            <a:off x="381000" y="876300"/>
            <a:ext cx="11430000" cy="533400"/>
            <a:chOff x="381000" y="876300"/>
            <a:chExt cx="11430000" cy="533400"/>
          </a:xfrm>
        </p:grpSpPr>
        <p:sp>
          <p:nvSpPr>
            <p:cNvPr id="10" name="Freeform 10"/>
            <p:cNvSpPr/>
            <p:nvPr/>
          </p:nvSpPr>
          <p:spPr>
            <a:xfrm>
              <a:off x="381000" y="876300"/>
              <a:ext cx="3848100" cy="533400"/>
            </a:xfrm>
            <a:prstGeom prst="homePlate">
              <a:avLst/>
            </a:prstGeom>
            <a:solidFill>
              <a:srgbClr val="632012"/>
            </a:solidFill>
            <a:ln>
              <a:noFill/>
            </a:ln>
          </p:spPr>
        </p:sp>
        <p:sp>
          <p:nvSpPr>
            <p:cNvPr id="11" name="Freeform 11"/>
            <p:cNvSpPr/>
            <p:nvPr/>
          </p:nvSpPr>
          <p:spPr>
            <a:xfrm>
              <a:off x="4171950" y="876300"/>
              <a:ext cx="3848100" cy="533400"/>
            </a:xfrm>
            <a:prstGeom prst="chevron">
              <a:avLst/>
            </a:prstGeom>
            <a:solidFill>
              <a:srgbClr val="9C331E"/>
            </a:solidFill>
            <a:ln>
              <a:noFill/>
            </a:ln>
          </p:spPr>
        </p:sp>
        <p:sp>
          <p:nvSpPr>
            <p:cNvPr id="12" name="Freeform 12"/>
            <p:cNvSpPr/>
            <p:nvPr/>
          </p:nvSpPr>
          <p:spPr>
            <a:xfrm>
              <a:off x="7962900" y="876300"/>
              <a:ext cx="3848100" cy="533400"/>
            </a:xfrm>
            <a:prstGeom prst="chevron">
              <a:avLst/>
            </a:prstGeom>
            <a:solidFill>
              <a:srgbClr val="D64A2E"/>
            </a:solidFill>
            <a:ln>
              <a:noFill/>
            </a:ln>
          </p:spPr>
        </p:sp>
        <p:grpSp>
          <p:nvGrpSpPr>
            <p:cNvPr id="15" name="Group 15"/>
            <p:cNvGrpSpPr/>
            <p:nvPr/>
          </p:nvGrpSpPr>
          <p:grpSpPr>
            <a:xfrm>
              <a:off x="978926" y="1045601"/>
              <a:ext cx="194797" cy="194797"/>
              <a:chOff x="978926" y="1045601"/>
              <a:chExt cx="194797" cy="194797"/>
            </a:xfrm>
          </p:grpSpPr>
          <p:sp>
            <p:nvSpPr>
              <p:cNvPr id="13" name="Freeform 13"/>
              <p:cNvSpPr/>
              <p:nvPr/>
            </p:nvSpPr>
            <p:spPr>
              <a:xfrm>
                <a:off x="978926" y="1045601"/>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FFFFFF"/>
                </a:solidFill>
              </a:ln>
            </p:spPr>
          </p:sp>
          <p:sp>
            <p:nvSpPr>
              <p:cNvPr id="14" name="Freeform 14"/>
              <p:cNvSpPr/>
              <p:nvPr/>
            </p:nvSpPr>
            <p:spPr>
              <a:xfrm>
                <a:off x="1045368" y="1112043"/>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FFFFFF"/>
                </a:solidFill>
              </a:ln>
            </p:spPr>
          </p:sp>
        </p:grpSp>
        <p:sp>
          <p:nvSpPr>
            <p:cNvPr id="16" name="TextBox 16"/>
            <p:cNvSpPr txBox="1"/>
            <p:nvPr/>
          </p:nvSpPr>
          <p:spPr>
            <a:xfrm>
              <a:off x="1289304" y="956310"/>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生产闭环</a:t>
              </a:r>
            </a:p>
          </p:txBody>
        </p:sp>
        <p:sp>
          <p:nvSpPr>
            <p:cNvPr id="17" name="TextBox 17"/>
            <p:cNvSpPr txBox="1"/>
            <p:nvPr/>
          </p:nvSpPr>
          <p:spPr>
            <a:xfrm>
              <a:off x="1290638" y="1180386"/>
              <a:ext cx="1443228" cy="140494"/>
            </a:xfrm>
            <a:prstGeom prst="rect">
              <a:avLst/>
            </a:prstGeom>
            <a:noFill/>
            <a:ln>
              <a:noFill/>
            </a:ln>
          </p:spPr>
          <p:txBody>
            <a:bodyPr wrap="none" lIns="0" tIns="0" rIns="0" bIns="0" anchor="t" anchorCtr="0">
              <a:spAutoFit/>
            </a:bodyPr>
            <a:lstStyle/>
            <a:p>
              <a:pPr algn="l"/>
              <a:r>
                <a:rPr lang="zh-CN" sz="710" dirty="0">
                  <a:solidFill>
                    <a:srgbClr val="DCE9F8"/>
                  </a:solidFill>
                  <a:latin typeface="+mn-lt"/>
                  <a:ea typeface="+mn-ea"/>
                  <a:cs typeface="+mn-cs"/>
                </a:rPr>
                <a:t>在真实业务中跑通，形成稳定闭环</a:t>
              </a:r>
            </a:p>
          </p:txBody>
        </p:sp>
        <p:grpSp>
          <p:nvGrpSpPr>
            <p:cNvPr id="22" name="Group 22"/>
            <p:cNvGrpSpPr/>
            <p:nvPr/>
          </p:nvGrpSpPr>
          <p:grpSpPr>
            <a:xfrm>
              <a:off x="4774406" y="1060450"/>
              <a:ext cx="185737" cy="174624"/>
              <a:chOff x="4774406" y="1060450"/>
              <a:chExt cx="185737" cy="174624"/>
            </a:xfrm>
          </p:grpSpPr>
          <p:sp>
            <p:nvSpPr>
              <p:cNvPr id="18" name="Freeform 18"/>
              <p:cNvSpPr/>
              <p:nvPr/>
            </p:nvSpPr>
            <p:spPr>
              <a:xfrm>
                <a:off x="4774406" y="114300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FFFFFF"/>
                </a:solidFill>
              </a:ln>
            </p:spPr>
          </p:sp>
          <p:sp>
            <p:nvSpPr>
              <p:cNvPr id="19" name="Freeform 19"/>
              <p:cNvSpPr/>
              <p:nvPr/>
            </p:nvSpPr>
            <p:spPr>
              <a:xfrm>
                <a:off x="4898231" y="110172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FFFFFF"/>
                </a:solidFill>
              </a:ln>
            </p:spPr>
          </p:sp>
          <p:sp>
            <p:nvSpPr>
              <p:cNvPr id="20" name="Freeform 20"/>
              <p:cNvSpPr/>
              <p:nvPr/>
            </p:nvSpPr>
            <p:spPr>
              <a:xfrm>
                <a:off x="4836318" y="106045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FFFFFF"/>
                </a:solidFill>
              </a:ln>
            </p:spPr>
          </p:sp>
          <p:sp>
            <p:nvSpPr>
              <p:cNvPr id="21" name="Freeform 21"/>
              <p:cNvSpPr/>
              <p:nvPr/>
            </p:nvSpPr>
            <p:spPr>
              <a:xfrm>
                <a:off x="4784725" y="1225549"/>
                <a:ext cx="144462" cy="9525"/>
              </a:xfrm>
              <a:custGeom>
                <a:avLst/>
                <a:gdLst/>
                <a:ahLst/>
                <a:cxnLst/>
                <a:rect l="l" t="t" r="r" b="b"/>
                <a:pathLst>
                  <a:path w="144462" h="9525">
                    <a:moveTo>
                      <a:pt x="0" y="0"/>
                    </a:moveTo>
                    <a:lnTo>
                      <a:pt x="144462" y="0"/>
                    </a:lnTo>
                  </a:path>
                </a:pathLst>
              </a:custGeom>
              <a:noFill/>
              <a:ln w="20637">
                <a:solidFill>
                  <a:srgbClr val="FFFFFF"/>
                </a:solidFill>
              </a:ln>
            </p:spPr>
          </p:sp>
        </p:grpSp>
        <p:sp>
          <p:nvSpPr>
            <p:cNvPr id="23" name="TextBox 23"/>
            <p:cNvSpPr txBox="1"/>
            <p:nvPr/>
          </p:nvSpPr>
          <p:spPr>
            <a:xfrm>
              <a:off x="5080254" y="956310"/>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规模运行</a:t>
              </a:r>
            </a:p>
          </p:txBody>
        </p:sp>
        <p:sp>
          <p:nvSpPr>
            <p:cNvPr id="24" name="TextBox 24"/>
            <p:cNvSpPr txBox="1"/>
            <p:nvPr/>
          </p:nvSpPr>
          <p:spPr>
            <a:xfrm>
              <a:off x="5081588" y="1180386"/>
              <a:ext cx="1443228" cy="140494"/>
            </a:xfrm>
            <a:prstGeom prst="rect">
              <a:avLst/>
            </a:prstGeom>
            <a:noFill/>
            <a:ln>
              <a:noFill/>
            </a:ln>
          </p:spPr>
          <p:txBody>
            <a:bodyPr wrap="none" lIns="0" tIns="0" rIns="0" bIns="0" anchor="t" anchorCtr="0">
              <a:spAutoFit/>
            </a:bodyPr>
            <a:lstStyle/>
            <a:p>
              <a:pPr algn="l"/>
              <a:r>
                <a:rPr lang="zh-CN" sz="710" dirty="0">
                  <a:solidFill>
                    <a:srgbClr val="DCE9F8"/>
                  </a:solidFill>
                  <a:latin typeface="+mn-lt"/>
                  <a:ea typeface="+mn-ea"/>
                  <a:cs typeface="+mn-cs"/>
                </a:rPr>
                <a:t>在多场景中验证，沉淀可复用能力</a:t>
              </a:r>
            </a:p>
          </p:txBody>
        </p:sp>
        <p:grpSp>
          <p:nvGrpSpPr>
            <p:cNvPr id="30" name="Group 30"/>
            <p:cNvGrpSpPr/>
            <p:nvPr/>
          </p:nvGrpSpPr>
          <p:grpSpPr>
            <a:xfrm>
              <a:off x="8565356" y="1050131"/>
              <a:ext cx="185737" cy="185737"/>
              <a:chOff x="8565356" y="1050131"/>
              <a:chExt cx="185737" cy="185737"/>
            </a:xfrm>
          </p:grpSpPr>
          <p:sp>
            <p:nvSpPr>
              <p:cNvPr id="25" name="Freeform 25"/>
              <p:cNvSpPr/>
              <p:nvPr/>
            </p:nvSpPr>
            <p:spPr>
              <a:xfrm>
                <a:off x="8565356" y="10501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sp>
            <p:nvSpPr>
              <p:cNvPr id="26" name="Freeform 26"/>
              <p:cNvSpPr/>
              <p:nvPr/>
            </p:nvSpPr>
            <p:spPr>
              <a:xfrm>
                <a:off x="8571547" y="1112043"/>
                <a:ext cx="173354" cy="9525"/>
              </a:xfrm>
              <a:custGeom>
                <a:avLst/>
                <a:gdLst/>
                <a:ahLst/>
                <a:cxnLst/>
                <a:rect l="l" t="t" r="r" b="b"/>
                <a:pathLst>
                  <a:path w="173354" h="9525">
                    <a:moveTo>
                      <a:pt x="0" y="0"/>
                    </a:moveTo>
                    <a:lnTo>
                      <a:pt x="173354" y="0"/>
                    </a:lnTo>
                  </a:path>
                </a:pathLst>
              </a:custGeom>
              <a:noFill/>
              <a:ln w="20637">
                <a:solidFill>
                  <a:srgbClr val="FFFFFF"/>
                </a:solidFill>
              </a:ln>
            </p:spPr>
          </p:sp>
          <p:sp>
            <p:nvSpPr>
              <p:cNvPr id="27" name="Freeform 27"/>
              <p:cNvSpPr/>
              <p:nvPr/>
            </p:nvSpPr>
            <p:spPr>
              <a:xfrm>
                <a:off x="8571547" y="1173956"/>
                <a:ext cx="173354" cy="9525"/>
              </a:xfrm>
              <a:custGeom>
                <a:avLst/>
                <a:gdLst/>
                <a:ahLst/>
                <a:cxnLst/>
                <a:rect l="l" t="t" r="r" b="b"/>
                <a:pathLst>
                  <a:path w="173354" h="9525">
                    <a:moveTo>
                      <a:pt x="0" y="0"/>
                    </a:moveTo>
                    <a:lnTo>
                      <a:pt x="173354" y="0"/>
                    </a:lnTo>
                  </a:path>
                </a:pathLst>
              </a:custGeom>
              <a:noFill/>
              <a:ln w="20637">
                <a:solidFill>
                  <a:srgbClr val="FFFFFF"/>
                </a:solidFill>
              </a:ln>
            </p:spPr>
          </p:sp>
          <p:sp>
            <p:nvSpPr>
              <p:cNvPr id="28" name="Freeform 28"/>
              <p:cNvSpPr/>
              <p:nvPr/>
            </p:nvSpPr>
            <p:spPr>
              <a:xfrm>
                <a:off x="8617599" y="1050131"/>
                <a:ext cx="35466" cy="185737"/>
              </a:xfrm>
              <a:custGeom>
                <a:avLst/>
                <a:gdLst/>
                <a:ahLst/>
                <a:cxnLst/>
                <a:rect l="l" t="t" r="r" b="b"/>
                <a:pathLst>
                  <a:path w="35466" h="185737">
                    <a:moveTo>
                      <a:pt x="35466" y="0"/>
                    </a:moveTo>
                    <a:cubicBezTo>
                      <a:pt x="0" y="56833"/>
                      <a:pt x="0" y="128904"/>
                      <a:pt x="35466" y="185737"/>
                    </a:cubicBezTo>
                  </a:path>
                </a:pathLst>
              </a:custGeom>
              <a:noFill/>
              <a:ln w="20637">
                <a:solidFill>
                  <a:srgbClr val="FFFFFF"/>
                </a:solidFill>
              </a:ln>
            </p:spPr>
          </p:sp>
          <p:sp>
            <p:nvSpPr>
              <p:cNvPr id="29" name="Freeform 29"/>
              <p:cNvSpPr/>
              <p:nvPr/>
            </p:nvSpPr>
            <p:spPr>
              <a:xfrm>
                <a:off x="8663384" y="1050131"/>
                <a:ext cx="35466" cy="185737"/>
              </a:xfrm>
              <a:custGeom>
                <a:avLst/>
                <a:gdLst/>
                <a:ahLst/>
                <a:cxnLst/>
                <a:rect l="l" t="t" r="r" b="b"/>
                <a:pathLst>
                  <a:path w="35466" h="185737">
                    <a:moveTo>
                      <a:pt x="0" y="0"/>
                    </a:moveTo>
                    <a:cubicBezTo>
                      <a:pt x="35466" y="56833"/>
                      <a:pt x="35466" y="128904"/>
                      <a:pt x="0" y="185737"/>
                    </a:cubicBezTo>
                  </a:path>
                </a:pathLst>
              </a:custGeom>
              <a:noFill/>
              <a:ln w="20637">
                <a:solidFill>
                  <a:srgbClr val="FFFFFF"/>
                </a:solidFill>
              </a:ln>
            </p:spPr>
          </p:sp>
        </p:grpSp>
        <p:sp>
          <p:nvSpPr>
            <p:cNvPr id="31" name="TextBox 31"/>
            <p:cNvSpPr txBox="1"/>
            <p:nvPr/>
          </p:nvSpPr>
          <p:spPr>
            <a:xfrm>
              <a:off x="8871204" y="956310"/>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跨域复制</a:t>
              </a:r>
            </a:p>
          </p:txBody>
        </p:sp>
        <p:sp>
          <p:nvSpPr>
            <p:cNvPr id="32" name="TextBox 32"/>
            <p:cNvSpPr txBox="1"/>
            <p:nvPr/>
          </p:nvSpPr>
          <p:spPr>
            <a:xfrm>
              <a:off x="8872538" y="1180386"/>
              <a:ext cx="1538808" cy="140494"/>
            </a:xfrm>
            <a:prstGeom prst="rect">
              <a:avLst/>
            </a:prstGeom>
            <a:noFill/>
            <a:ln>
              <a:noFill/>
            </a:ln>
          </p:spPr>
          <p:txBody>
            <a:bodyPr wrap="none" lIns="0" tIns="0" rIns="0" bIns="0" anchor="t" anchorCtr="0">
              <a:spAutoFit/>
            </a:bodyPr>
            <a:lstStyle/>
            <a:p>
              <a:pPr algn="l"/>
              <a:r>
                <a:rPr lang="zh-CN" sz="710" dirty="0">
                  <a:solidFill>
                    <a:srgbClr val="DCE9F8"/>
                  </a:solidFill>
                  <a:latin typeface="+mn-lt"/>
                  <a:ea typeface="+mn-ea"/>
                  <a:cs typeface="+mn-cs"/>
                </a:rPr>
                <a:t>向新领域、新区域、新业务复制推广</a:t>
              </a:r>
            </a:p>
          </p:txBody>
        </p:sp>
      </p:grpSp>
      <p:grpSp>
        <p:nvGrpSpPr>
          <p:cNvPr id="56" name="gate-1"/>
          <p:cNvGrpSpPr/>
          <p:nvPr/>
        </p:nvGrpSpPr>
        <p:grpSpPr>
          <a:xfrm>
            <a:off x="381000" y="1562100"/>
            <a:ext cx="1809750" cy="3238500"/>
            <a:chOff x="381000" y="1562100"/>
            <a:chExt cx="1809750" cy="3238500"/>
          </a:xfrm>
        </p:grpSpPr>
        <p:sp>
          <p:nvSpPr>
            <p:cNvPr id="34" name="Rectangle 34"/>
            <p:cNvSpPr/>
            <p:nvPr/>
          </p:nvSpPr>
          <p:spPr>
            <a:xfrm>
              <a:off x="381000" y="1562100"/>
              <a:ext cx="1809750" cy="3238500"/>
            </a:xfrm>
            <a:prstGeom prst="roundRect">
              <a:avLst>
                <a:gd name="adj" fmla="val 3158"/>
              </a:avLst>
            </a:prstGeom>
            <a:solidFill>
              <a:srgbClr val="FFFFFF"/>
            </a:solidFill>
            <a:ln w="9525">
              <a:solidFill>
                <a:srgbClr val="C7D9F0"/>
              </a:solidFill>
            </a:ln>
          </p:spPr>
        </p:sp>
        <p:sp>
          <p:nvSpPr>
            <p:cNvPr id="35" name="Ellipse 35"/>
            <p:cNvSpPr/>
            <p:nvPr/>
          </p:nvSpPr>
          <p:spPr>
            <a:xfrm>
              <a:off x="485775" y="1666875"/>
              <a:ext cx="247650" cy="247650"/>
            </a:xfrm>
            <a:prstGeom prst="ellipse">
              <a:avLst/>
            </a:prstGeom>
            <a:solidFill>
              <a:srgbClr val="9C331E"/>
            </a:solidFill>
            <a:ln>
              <a:noFill/>
            </a:ln>
          </p:spPr>
        </p:sp>
        <p:sp>
          <p:nvSpPr>
            <p:cNvPr id="36" name="TextBox 36"/>
            <p:cNvSpPr txBox="1"/>
            <p:nvPr/>
          </p:nvSpPr>
          <p:spPr>
            <a:xfrm>
              <a:off x="548681" y="174783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01</a:t>
              </a:r>
            </a:p>
          </p:txBody>
        </p:sp>
        <p:sp>
          <p:nvSpPr>
            <p:cNvPr id="37" name="TextBox 37"/>
            <p:cNvSpPr txBox="1"/>
            <p:nvPr/>
          </p:nvSpPr>
          <p:spPr>
            <a:xfrm>
              <a:off x="795147" y="1647349"/>
              <a:ext cx="537616"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安全合规</a:t>
              </a:r>
            </a:p>
          </p:txBody>
        </p:sp>
        <p:sp>
          <p:nvSpPr>
            <p:cNvPr id="38" name="TextBox 38"/>
            <p:cNvSpPr txBox="1"/>
            <p:nvPr/>
          </p:nvSpPr>
          <p:spPr>
            <a:xfrm>
              <a:off x="795338" y="1826657"/>
              <a:ext cx="784936"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守住底线，合规运行</a:t>
              </a:r>
            </a:p>
          </p:txBody>
        </p:sp>
        <p:sp>
          <p:nvSpPr>
            <p:cNvPr id="39" name="Ellipse 39"/>
            <p:cNvSpPr/>
            <p:nvPr/>
          </p:nvSpPr>
          <p:spPr>
            <a:xfrm>
              <a:off x="1057275" y="2057400"/>
              <a:ext cx="457200" cy="457200"/>
            </a:xfrm>
            <a:prstGeom prst="ellipse">
              <a:avLst/>
            </a:prstGeom>
            <a:solidFill>
              <a:srgbClr val="EFF5FC"/>
            </a:solidFill>
            <a:ln w="9525">
              <a:solidFill>
                <a:srgbClr val="ECB3A8"/>
              </a:solidFill>
            </a:ln>
          </p:spPr>
        </p:sp>
        <p:grpSp>
          <p:nvGrpSpPr>
            <p:cNvPr id="42" name="Group 42"/>
            <p:cNvGrpSpPr/>
            <p:nvPr/>
          </p:nvGrpSpPr>
          <p:grpSpPr>
            <a:xfrm>
              <a:off x="1179081" y="2193131"/>
              <a:ext cx="201506" cy="185737"/>
              <a:chOff x="1179081" y="2193131"/>
              <a:chExt cx="201506" cy="185737"/>
            </a:xfrm>
          </p:grpSpPr>
          <p:sp>
            <p:nvSpPr>
              <p:cNvPr id="40" name="Freeform 40"/>
              <p:cNvSpPr/>
              <p:nvPr/>
            </p:nvSpPr>
            <p:spPr>
              <a:xfrm>
                <a:off x="1179081" y="2193131"/>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9C331E"/>
                </a:solidFill>
              </a:ln>
            </p:spPr>
          </p:sp>
          <p:sp>
            <p:nvSpPr>
              <p:cNvPr id="41" name="Freeform 41"/>
              <p:cNvSpPr/>
              <p:nvPr/>
            </p:nvSpPr>
            <p:spPr>
              <a:xfrm>
                <a:off x="1316831" y="2337593"/>
                <a:ext cx="61912" cy="41275"/>
              </a:xfrm>
              <a:custGeom>
                <a:avLst/>
                <a:gdLst/>
                <a:ahLst/>
                <a:cxnLst/>
                <a:rect l="l" t="t" r="r" b="b"/>
                <a:pathLst>
                  <a:path w="61912" h="41275">
                    <a:moveTo>
                      <a:pt x="0" y="20637"/>
                    </a:moveTo>
                    <a:lnTo>
                      <a:pt x="20637" y="41275"/>
                    </a:lnTo>
                    <a:lnTo>
                      <a:pt x="61912" y="0"/>
                    </a:lnTo>
                  </a:path>
                </a:pathLst>
              </a:custGeom>
              <a:noFill/>
              <a:ln w="20637">
                <a:solidFill>
                  <a:srgbClr val="9C331E"/>
                </a:solidFill>
              </a:ln>
            </p:spPr>
          </p:sp>
        </p:grpSp>
        <p:sp>
          <p:nvSpPr>
            <p:cNvPr id="43" name="Rectangle 43"/>
            <p:cNvSpPr/>
            <p:nvPr/>
          </p:nvSpPr>
          <p:spPr>
            <a:xfrm>
              <a:off x="476250" y="2628900"/>
              <a:ext cx="1619250" cy="1028700"/>
            </a:xfrm>
            <a:prstGeom prst="roundRect">
              <a:avLst>
                <a:gd name="adj" fmla="val 3704"/>
              </a:avLst>
            </a:prstGeom>
            <a:solidFill>
              <a:srgbClr val="EFF5FC"/>
            </a:solidFill>
            <a:ln>
              <a:noFill/>
            </a:ln>
          </p:spPr>
        </p:sp>
        <p:sp>
          <p:nvSpPr>
            <p:cNvPr id="44" name="TextBox 44"/>
            <p:cNvSpPr txBox="1"/>
            <p:nvPr/>
          </p:nvSpPr>
          <p:spPr>
            <a:xfrm>
              <a:off x="547688" y="2712482"/>
              <a:ext cx="612623"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必须回答的问题</a:t>
              </a:r>
            </a:p>
          </p:txBody>
        </p:sp>
        <p:sp>
          <p:nvSpPr>
            <p:cNvPr id="45" name="TextBox 45"/>
            <p:cNvSpPr txBox="1"/>
            <p:nvPr/>
          </p:nvSpPr>
          <p:spPr>
            <a:xfrm>
              <a:off x="547688" y="2864882"/>
              <a:ext cx="1192149"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是否符合法律法规、行业监管与​</a:t>
              </a:r>
              <a:br/>
              <a:r>
                <a:rPr lang="zh-CN" sz="640" dirty="0">
                  <a:solidFill>
                    <a:srgbClr val="573F3A"/>
                  </a:solidFill>
                  <a:latin typeface="+mn-lt"/>
                  <a:ea typeface="+mn-ea"/>
                  <a:cs typeface="+mn-cs"/>
                </a:rPr>
                <a:t>内部合规要求，不会带来不可接​</a:t>
              </a:r>
              <a:br/>
              <a:r>
                <a:rPr lang="zh-CN" sz="640" dirty="0">
                  <a:solidFill>
                    <a:srgbClr val="573F3A"/>
                  </a:solidFill>
                  <a:latin typeface="+mn-lt"/>
                  <a:ea typeface="+mn-ea"/>
                  <a:cs typeface="+mn-cs"/>
                </a:rPr>
                <a:t>受的风险？</a:t>
              </a:r>
            </a:p>
          </p:txBody>
        </p:sp>
        <p:sp>
          <p:nvSpPr>
            <p:cNvPr id="46" name="Rectangle 46"/>
            <p:cNvSpPr/>
            <p:nvPr/>
          </p:nvSpPr>
          <p:spPr>
            <a:xfrm>
              <a:off x="476250" y="3733800"/>
              <a:ext cx="1619250" cy="971550"/>
            </a:xfrm>
            <a:prstGeom prst="roundRect">
              <a:avLst>
                <a:gd name="adj" fmla="val 3922"/>
              </a:avLst>
            </a:prstGeom>
            <a:solidFill>
              <a:srgbClr val="632012"/>
            </a:solidFill>
            <a:ln>
              <a:noFill/>
            </a:ln>
          </p:spPr>
        </p:sp>
        <p:sp>
          <p:nvSpPr>
            <p:cNvPr id="47" name="TextBox 47"/>
            <p:cNvSpPr txBox="1"/>
            <p:nvPr/>
          </p:nvSpPr>
          <p:spPr>
            <a:xfrm>
              <a:off x="547688" y="3817382"/>
              <a:ext cx="354152" cy="126206"/>
            </a:xfrm>
            <a:prstGeom prst="rect">
              <a:avLst/>
            </a:prstGeom>
            <a:noFill/>
            <a:ln>
              <a:noFill/>
            </a:ln>
          </p:spPr>
          <p:txBody>
            <a:bodyPr wrap="none" lIns="0" tIns="0" rIns="0" bIns="0" anchor="t" anchorCtr="0">
              <a:spAutoFit/>
            </a:bodyPr>
            <a:lstStyle/>
            <a:p>
              <a:pPr algn="l"/>
              <a:r>
                <a:rPr lang="zh-CN" sz="640" b="1" dirty="0">
                  <a:solidFill>
                    <a:srgbClr val="FF957F"/>
                  </a:solidFill>
                  <a:latin typeface="+mn-lt"/>
                  <a:ea typeface="+mn-ea"/>
                  <a:cs typeface="+mn-cs"/>
                </a:rPr>
                <a:t>通过证据</a:t>
              </a:r>
            </a:p>
          </p:txBody>
        </p:sp>
        <p:grpSp>
          <p:nvGrpSpPr>
            <p:cNvPr id="53" name="Group 53"/>
            <p:cNvGrpSpPr/>
            <p:nvPr/>
          </p:nvGrpSpPr>
          <p:grpSpPr>
            <a:xfrm>
              <a:off x="584200" y="3981450"/>
              <a:ext cx="88900" cy="114300"/>
              <a:chOff x="584200" y="3981450"/>
              <a:chExt cx="88900" cy="114300"/>
            </a:xfrm>
          </p:grpSpPr>
          <p:sp>
            <p:nvSpPr>
              <p:cNvPr id="48" name="Freeform 48"/>
              <p:cNvSpPr/>
              <p:nvPr/>
            </p:nvSpPr>
            <p:spPr>
              <a:xfrm>
                <a:off x="641350" y="39814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FFFFFF"/>
                </a:solidFill>
              </a:ln>
            </p:spPr>
          </p:sp>
          <p:sp>
            <p:nvSpPr>
              <p:cNvPr id="49" name="Freeform 49"/>
              <p:cNvSpPr/>
              <p:nvPr/>
            </p:nvSpPr>
            <p:spPr>
              <a:xfrm>
                <a:off x="584200" y="39814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FFFFFF"/>
                </a:solidFill>
              </a:ln>
            </p:spPr>
          </p:sp>
          <p:sp>
            <p:nvSpPr>
              <p:cNvPr id="50" name="Freeform 50"/>
              <p:cNvSpPr/>
              <p:nvPr/>
            </p:nvSpPr>
            <p:spPr>
              <a:xfrm>
                <a:off x="609600" y="4019550"/>
                <a:ext cx="9525" cy="9525"/>
              </a:xfrm>
              <a:custGeom>
                <a:avLst/>
                <a:gdLst/>
                <a:ahLst/>
                <a:cxnLst/>
                <a:rect l="l" t="t" r="r" b="b"/>
                <a:pathLst>
                  <a:path w="9525" h="9525">
                    <a:moveTo>
                      <a:pt x="0" y="0"/>
                    </a:moveTo>
                    <a:lnTo>
                      <a:pt x="6350" y="0"/>
                    </a:lnTo>
                  </a:path>
                </a:pathLst>
              </a:custGeom>
              <a:noFill/>
              <a:ln w="12700">
                <a:solidFill>
                  <a:srgbClr val="FFFFFF"/>
                </a:solidFill>
              </a:ln>
            </p:spPr>
          </p:sp>
          <p:sp>
            <p:nvSpPr>
              <p:cNvPr id="51" name="Freeform 51"/>
              <p:cNvSpPr/>
              <p:nvPr/>
            </p:nvSpPr>
            <p:spPr>
              <a:xfrm>
                <a:off x="609600" y="4044950"/>
                <a:ext cx="38100" cy="9525"/>
              </a:xfrm>
              <a:custGeom>
                <a:avLst/>
                <a:gdLst/>
                <a:ahLst/>
                <a:cxnLst/>
                <a:rect l="l" t="t" r="r" b="b"/>
                <a:pathLst>
                  <a:path w="38100" h="9525">
                    <a:moveTo>
                      <a:pt x="0" y="0"/>
                    </a:moveTo>
                    <a:lnTo>
                      <a:pt x="38100" y="0"/>
                    </a:lnTo>
                  </a:path>
                </a:pathLst>
              </a:custGeom>
              <a:noFill/>
              <a:ln w="12700">
                <a:solidFill>
                  <a:srgbClr val="FFFFFF"/>
                </a:solidFill>
              </a:ln>
            </p:spPr>
          </p:sp>
          <p:sp>
            <p:nvSpPr>
              <p:cNvPr id="52" name="Freeform 52"/>
              <p:cNvSpPr/>
              <p:nvPr/>
            </p:nvSpPr>
            <p:spPr>
              <a:xfrm>
                <a:off x="609600" y="4070350"/>
                <a:ext cx="38100" cy="9525"/>
              </a:xfrm>
              <a:custGeom>
                <a:avLst/>
                <a:gdLst/>
                <a:ahLst/>
                <a:cxnLst/>
                <a:rect l="l" t="t" r="r" b="b"/>
                <a:pathLst>
                  <a:path w="38100" h="9525">
                    <a:moveTo>
                      <a:pt x="0" y="0"/>
                    </a:moveTo>
                    <a:lnTo>
                      <a:pt x="38100" y="0"/>
                    </a:lnTo>
                  </a:path>
                </a:pathLst>
              </a:custGeom>
              <a:noFill/>
              <a:ln w="12700">
                <a:solidFill>
                  <a:srgbClr val="FFFFFF"/>
                </a:solidFill>
              </a:ln>
            </p:spPr>
          </p:sp>
        </p:grpSp>
        <p:sp>
          <p:nvSpPr>
            <p:cNvPr id="54" name="TextBox 54"/>
            <p:cNvSpPr txBox="1"/>
            <p:nvPr/>
          </p:nvSpPr>
          <p:spPr>
            <a:xfrm>
              <a:off x="757238" y="400931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安全评估</a:t>
              </a:r>
            </a:p>
          </p:txBody>
        </p:sp>
        <p:sp>
          <p:nvSpPr>
            <p:cNvPr id="55" name="TextBox 55"/>
            <p:cNvSpPr txBox="1"/>
            <p:nvPr/>
          </p:nvSpPr>
          <p:spPr>
            <a:xfrm>
              <a:off x="547688" y="4240530"/>
              <a:ext cx="889635" cy="233362"/>
            </a:xfrm>
            <a:prstGeom prst="rect">
              <a:avLst/>
            </a:prstGeom>
            <a:noFill/>
            <a:ln>
              <a:noFill/>
            </a:ln>
          </p:spPr>
          <p:txBody>
            <a:bodyPr wrap="none" lIns="0" tIns="0" rIns="0" bIns="0" anchor="t" anchorCtr="0">
              <a:spAutoFit/>
            </a:bodyPr>
            <a:lstStyle/>
            <a:p>
              <a:pPr algn="l">
                <a:lnSpc>
                  <a:spcPts val="900"/>
                </a:lnSpc>
              </a:pPr>
              <a:r>
                <a:rPr lang="zh-CN" sz="600" dirty="0">
                  <a:solidFill>
                    <a:srgbClr val="DCE9F8"/>
                  </a:solidFill>
                  <a:latin typeface="+mn-lt"/>
                  <a:ea typeface="+mn-ea"/>
                  <a:cs typeface="+mn-cs"/>
                </a:rPr>
                <a:t>独立的安全评估报告、</a:t>
              </a:r>
              <a:br/>
              <a:r>
                <a:rPr lang="zh-CN" sz="600" dirty="0">
                  <a:solidFill>
                    <a:srgbClr val="DCE9F8"/>
                  </a:solidFill>
                  <a:latin typeface="+mn-lt"/>
                  <a:ea typeface="+mn-ea"/>
                  <a:cs typeface="+mn-cs"/>
                </a:rPr>
                <a:t>风险清单与整改闭环记录​</a:t>
              </a:r>
            </a:p>
          </p:txBody>
        </p:sp>
      </p:grpSp>
      <p:grpSp>
        <p:nvGrpSpPr>
          <p:cNvPr id="77" name="gate-2"/>
          <p:cNvGrpSpPr/>
          <p:nvPr/>
        </p:nvGrpSpPr>
        <p:grpSpPr>
          <a:xfrm>
            <a:off x="2305050" y="1562100"/>
            <a:ext cx="1809750" cy="3238500"/>
            <a:chOff x="2305050" y="1562100"/>
            <a:chExt cx="1809750" cy="3238500"/>
          </a:xfrm>
        </p:grpSpPr>
        <p:sp>
          <p:nvSpPr>
            <p:cNvPr id="57" name="Rectangle 57"/>
            <p:cNvSpPr/>
            <p:nvPr/>
          </p:nvSpPr>
          <p:spPr>
            <a:xfrm>
              <a:off x="2305050" y="1562100"/>
              <a:ext cx="1809750" cy="3238500"/>
            </a:xfrm>
            <a:prstGeom prst="roundRect">
              <a:avLst>
                <a:gd name="adj" fmla="val 3158"/>
              </a:avLst>
            </a:prstGeom>
            <a:solidFill>
              <a:srgbClr val="FFFFFF"/>
            </a:solidFill>
            <a:ln w="9525">
              <a:solidFill>
                <a:srgbClr val="C7D9F0"/>
              </a:solidFill>
            </a:ln>
          </p:spPr>
        </p:sp>
        <p:sp>
          <p:nvSpPr>
            <p:cNvPr id="58" name="Ellipse 58"/>
            <p:cNvSpPr/>
            <p:nvPr/>
          </p:nvSpPr>
          <p:spPr>
            <a:xfrm>
              <a:off x="2409825" y="1666875"/>
              <a:ext cx="247650" cy="247650"/>
            </a:xfrm>
            <a:prstGeom prst="ellipse">
              <a:avLst/>
            </a:prstGeom>
            <a:solidFill>
              <a:srgbClr val="9C331E"/>
            </a:solidFill>
            <a:ln>
              <a:noFill/>
            </a:ln>
          </p:spPr>
        </p:sp>
        <p:sp>
          <p:nvSpPr>
            <p:cNvPr id="59" name="TextBox 59"/>
            <p:cNvSpPr txBox="1"/>
            <p:nvPr/>
          </p:nvSpPr>
          <p:spPr>
            <a:xfrm>
              <a:off x="2472731" y="174783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02</a:t>
              </a:r>
            </a:p>
          </p:txBody>
        </p:sp>
        <p:sp>
          <p:nvSpPr>
            <p:cNvPr id="60" name="TextBox 60"/>
            <p:cNvSpPr txBox="1"/>
            <p:nvPr/>
          </p:nvSpPr>
          <p:spPr>
            <a:xfrm>
              <a:off x="2719197" y="1647349"/>
              <a:ext cx="405689"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可靠性</a:t>
              </a:r>
            </a:p>
          </p:txBody>
        </p:sp>
        <p:sp>
          <p:nvSpPr>
            <p:cNvPr id="61" name="TextBox 61"/>
            <p:cNvSpPr txBox="1"/>
            <p:nvPr/>
          </p:nvSpPr>
          <p:spPr>
            <a:xfrm>
              <a:off x="2719388" y="1826657"/>
              <a:ext cx="784936"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稳定可用，持续运行</a:t>
              </a:r>
            </a:p>
          </p:txBody>
        </p:sp>
        <p:sp>
          <p:nvSpPr>
            <p:cNvPr id="62" name="Ellipse 62"/>
            <p:cNvSpPr/>
            <p:nvPr/>
          </p:nvSpPr>
          <p:spPr>
            <a:xfrm>
              <a:off x="2981325" y="2057400"/>
              <a:ext cx="457200" cy="457200"/>
            </a:xfrm>
            <a:prstGeom prst="ellipse">
              <a:avLst/>
            </a:prstGeom>
            <a:solidFill>
              <a:srgbClr val="EFF5FC"/>
            </a:solidFill>
            <a:ln w="9525">
              <a:solidFill>
                <a:srgbClr val="ECB3A8"/>
              </a:solidFill>
            </a:ln>
          </p:spPr>
        </p:sp>
        <p:grpSp>
          <p:nvGrpSpPr>
            <p:cNvPr id="65" name="Group 65"/>
            <p:cNvGrpSpPr/>
            <p:nvPr/>
          </p:nvGrpSpPr>
          <p:grpSpPr>
            <a:xfrm>
              <a:off x="3127375" y="2199469"/>
              <a:ext cx="165099" cy="173061"/>
              <a:chOff x="3127375" y="2199469"/>
              <a:chExt cx="165099" cy="173061"/>
            </a:xfrm>
          </p:grpSpPr>
          <p:sp>
            <p:nvSpPr>
              <p:cNvPr id="63" name="Freeform 63"/>
              <p:cNvSpPr/>
              <p:nvPr/>
            </p:nvSpPr>
            <p:spPr>
              <a:xfrm>
                <a:off x="3127375" y="2199469"/>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9C331E"/>
                </a:solidFill>
              </a:ln>
            </p:spPr>
          </p:sp>
          <p:sp>
            <p:nvSpPr>
              <p:cNvPr id="64" name="Freeform 64"/>
              <p:cNvSpPr/>
              <p:nvPr/>
            </p:nvSpPr>
            <p:spPr>
              <a:xfrm>
                <a:off x="3127375" y="2296318"/>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9C331E"/>
                </a:solidFill>
              </a:ln>
            </p:spPr>
          </p:sp>
        </p:grpSp>
        <p:sp>
          <p:nvSpPr>
            <p:cNvPr id="66" name="Rectangle 66"/>
            <p:cNvSpPr/>
            <p:nvPr/>
          </p:nvSpPr>
          <p:spPr>
            <a:xfrm>
              <a:off x="2400300" y="2628900"/>
              <a:ext cx="1619250" cy="1028700"/>
            </a:xfrm>
            <a:prstGeom prst="roundRect">
              <a:avLst>
                <a:gd name="adj" fmla="val 3704"/>
              </a:avLst>
            </a:prstGeom>
            <a:solidFill>
              <a:srgbClr val="EFF5FC"/>
            </a:solidFill>
            <a:ln>
              <a:noFill/>
            </a:ln>
          </p:spPr>
        </p:sp>
        <p:sp>
          <p:nvSpPr>
            <p:cNvPr id="67" name="TextBox 67"/>
            <p:cNvSpPr txBox="1"/>
            <p:nvPr/>
          </p:nvSpPr>
          <p:spPr>
            <a:xfrm>
              <a:off x="2471738" y="2712482"/>
              <a:ext cx="612623"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必须回答的问题</a:t>
              </a:r>
            </a:p>
          </p:txBody>
        </p:sp>
        <p:sp>
          <p:nvSpPr>
            <p:cNvPr id="68" name="TextBox 68"/>
            <p:cNvSpPr txBox="1"/>
            <p:nvPr/>
          </p:nvSpPr>
          <p:spPr>
            <a:xfrm>
              <a:off x="2471738" y="2864882"/>
              <a:ext cx="119214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能否在真实业务环境中保持稳定​</a:t>
              </a:r>
              <a:br/>
              <a:r>
                <a:rPr lang="zh-CN" sz="640" dirty="0">
                  <a:solidFill>
                    <a:srgbClr val="573F3A"/>
                  </a:solidFill>
                  <a:latin typeface="+mn-lt"/>
                  <a:ea typeface="+mn-ea"/>
                  <a:cs typeface="+mn-cs"/>
                </a:rPr>
                <a:t>运行，具备可预期的连续性？</a:t>
              </a:r>
            </a:p>
          </p:txBody>
        </p:sp>
        <p:sp>
          <p:nvSpPr>
            <p:cNvPr id="69" name="Rectangle 69"/>
            <p:cNvSpPr/>
            <p:nvPr/>
          </p:nvSpPr>
          <p:spPr>
            <a:xfrm>
              <a:off x="2400300" y="3733800"/>
              <a:ext cx="1619250" cy="971550"/>
            </a:xfrm>
            <a:prstGeom prst="roundRect">
              <a:avLst>
                <a:gd name="adj" fmla="val 3922"/>
              </a:avLst>
            </a:prstGeom>
            <a:solidFill>
              <a:srgbClr val="632012"/>
            </a:solidFill>
            <a:ln>
              <a:noFill/>
            </a:ln>
          </p:spPr>
        </p:sp>
        <p:sp>
          <p:nvSpPr>
            <p:cNvPr id="70" name="TextBox 70"/>
            <p:cNvSpPr txBox="1"/>
            <p:nvPr/>
          </p:nvSpPr>
          <p:spPr>
            <a:xfrm>
              <a:off x="2471738" y="3817382"/>
              <a:ext cx="354152" cy="126206"/>
            </a:xfrm>
            <a:prstGeom prst="rect">
              <a:avLst/>
            </a:prstGeom>
            <a:noFill/>
            <a:ln>
              <a:noFill/>
            </a:ln>
          </p:spPr>
          <p:txBody>
            <a:bodyPr wrap="none" lIns="0" tIns="0" rIns="0" bIns="0" anchor="t" anchorCtr="0">
              <a:spAutoFit/>
            </a:bodyPr>
            <a:lstStyle/>
            <a:p>
              <a:pPr algn="l"/>
              <a:r>
                <a:rPr lang="zh-CN" sz="640" b="1" dirty="0">
                  <a:solidFill>
                    <a:srgbClr val="FF957F"/>
                  </a:solidFill>
                  <a:latin typeface="+mn-lt"/>
                  <a:ea typeface="+mn-ea"/>
                  <a:cs typeface="+mn-cs"/>
                </a:rPr>
                <a:t>通过证据</a:t>
              </a:r>
            </a:p>
          </p:txBody>
        </p:sp>
        <p:grpSp>
          <p:nvGrpSpPr>
            <p:cNvPr id="74" name="Group 74"/>
            <p:cNvGrpSpPr/>
            <p:nvPr/>
          </p:nvGrpSpPr>
          <p:grpSpPr>
            <a:xfrm>
              <a:off x="2508250" y="3981450"/>
              <a:ext cx="88900" cy="114300"/>
              <a:chOff x="2508250" y="3981450"/>
              <a:chExt cx="88900" cy="114300"/>
            </a:xfrm>
          </p:grpSpPr>
          <p:sp>
            <p:nvSpPr>
              <p:cNvPr id="71" name="Freeform 71"/>
              <p:cNvSpPr/>
              <p:nvPr/>
            </p:nvSpPr>
            <p:spPr>
              <a:xfrm>
                <a:off x="2565400" y="39814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FFFFFF"/>
                </a:solidFill>
              </a:ln>
            </p:spPr>
          </p:sp>
          <p:sp>
            <p:nvSpPr>
              <p:cNvPr id="72" name="Freeform 72"/>
              <p:cNvSpPr/>
              <p:nvPr/>
            </p:nvSpPr>
            <p:spPr>
              <a:xfrm>
                <a:off x="2508250" y="39814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FFFFFF"/>
                </a:solidFill>
              </a:ln>
            </p:spPr>
          </p:sp>
          <p:sp>
            <p:nvSpPr>
              <p:cNvPr id="73" name="Freeform 73"/>
              <p:cNvSpPr/>
              <p:nvPr/>
            </p:nvSpPr>
            <p:spPr>
              <a:xfrm>
                <a:off x="2533650" y="404495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75" name="TextBox 75"/>
            <p:cNvSpPr txBox="1"/>
            <p:nvPr/>
          </p:nvSpPr>
          <p:spPr>
            <a:xfrm>
              <a:off x="2681288" y="4009311"/>
              <a:ext cx="58300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连续运行日志</a:t>
              </a:r>
            </a:p>
          </p:txBody>
        </p:sp>
        <p:sp>
          <p:nvSpPr>
            <p:cNvPr id="76" name="TextBox 76"/>
            <p:cNvSpPr txBox="1"/>
            <p:nvPr/>
          </p:nvSpPr>
          <p:spPr>
            <a:xfrm>
              <a:off x="2471738" y="4240530"/>
              <a:ext cx="584835" cy="233362"/>
            </a:xfrm>
            <a:prstGeom prst="rect">
              <a:avLst/>
            </a:prstGeom>
            <a:noFill/>
            <a:ln>
              <a:noFill/>
            </a:ln>
          </p:spPr>
          <p:txBody>
            <a:bodyPr wrap="none" lIns="0" tIns="0" rIns="0" bIns="0" anchor="t" anchorCtr="0">
              <a:spAutoFit/>
            </a:bodyPr>
            <a:lstStyle/>
            <a:p>
              <a:pPr algn="l">
                <a:lnSpc>
                  <a:spcPts val="900"/>
                </a:lnSpc>
              </a:pPr>
              <a:r>
                <a:rPr lang="zh-CN" sz="600" dirty="0">
                  <a:solidFill>
                    <a:srgbClr val="DCE9F8"/>
                  </a:solidFill>
                  <a:latin typeface="+mn-lt"/>
                  <a:ea typeface="+mn-ea"/>
                  <a:cs typeface="+mn-cs"/>
                </a:rPr>
                <a:t>长期运行记录与​</a:t>
              </a:r>
              <a:br/>
              <a:r>
                <a:rPr lang="zh-CN" sz="600" dirty="0">
                  <a:solidFill>
                    <a:srgbClr val="DCE9F8"/>
                  </a:solidFill>
                  <a:latin typeface="+mn-lt"/>
                  <a:ea typeface="+mn-ea"/>
                  <a:cs typeface="+mn-cs"/>
                </a:rPr>
                <a:t>系统可用性证明​</a:t>
              </a:r>
            </a:p>
          </p:txBody>
        </p:sp>
      </p:grpSp>
      <p:grpSp>
        <p:nvGrpSpPr>
          <p:cNvPr id="102" name="gate-3"/>
          <p:cNvGrpSpPr/>
          <p:nvPr/>
        </p:nvGrpSpPr>
        <p:grpSpPr>
          <a:xfrm>
            <a:off x="4229100" y="1562100"/>
            <a:ext cx="1809750" cy="3238500"/>
            <a:chOff x="4229100" y="1562100"/>
            <a:chExt cx="1809750" cy="3238500"/>
          </a:xfrm>
        </p:grpSpPr>
        <p:sp>
          <p:nvSpPr>
            <p:cNvPr id="78" name="Rectangle 78"/>
            <p:cNvSpPr/>
            <p:nvPr/>
          </p:nvSpPr>
          <p:spPr>
            <a:xfrm>
              <a:off x="4229100" y="1562100"/>
              <a:ext cx="1809750" cy="3238500"/>
            </a:xfrm>
            <a:prstGeom prst="roundRect">
              <a:avLst>
                <a:gd name="adj" fmla="val 3158"/>
              </a:avLst>
            </a:prstGeom>
            <a:solidFill>
              <a:srgbClr val="FFFFFF"/>
            </a:solidFill>
            <a:ln w="9525">
              <a:solidFill>
                <a:srgbClr val="C7D9F0"/>
              </a:solidFill>
            </a:ln>
          </p:spPr>
        </p:sp>
        <p:sp>
          <p:nvSpPr>
            <p:cNvPr id="79" name="Ellipse 79"/>
            <p:cNvSpPr/>
            <p:nvPr/>
          </p:nvSpPr>
          <p:spPr>
            <a:xfrm>
              <a:off x="4333875" y="1666875"/>
              <a:ext cx="247650" cy="247650"/>
            </a:xfrm>
            <a:prstGeom prst="ellipse">
              <a:avLst/>
            </a:prstGeom>
            <a:solidFill>
              <a:srgbClr val="9C331E"/>
            </a:solidFill>
            <a:ln>
              <a:noFill/>
            </a:ln>
          </p:spPr>
        </p:sp>
        <p:sp>
          <p:nvSpPr>
            <p:cNvPr id="80" name="TextBox 80"/>
            <p:cNvSpPr txBox="1"/>
            <p:nvPr/>
          </p:nvSpPr>
          <p:spPr>
            <a:xfrm>
              <a:off x="4396781" y="174783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03</a:t>
              </a:r>
            </a:p>
          </p:txBody>
        </p:sp>
        <p:sp>
          <p:nvSpPr>
            <p:cNvPr id="81" name="TextBox 81"/>
            <p:cNvSpPr txBox="1"/>
            <p:nvPr/>
          </p:nvSpPr>
          <p:spPr>
            <a:xfrm>
              <a:off x="4643247" y="1647349"/>
              <a:ext cx="669544"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全周期成本</a:t>
              </a:r>
            </a:p>
          </p:txBody>
        </p:sp>
        <p:sp>
          <p:nvSpPr>
            <p:cNvPr id="82" name="TextBox 82"/>
            <p:cNvSpPr txBox="1"/>
            <p:nvPr/>
          </p:nvSpPr>
          <p:spPr>
            <a:xfrm>
              <a:off x="4643438" y="1826657"/>
              <a:ext cx="784936"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经济可行，创造价值</a:t>
              </a:r>
            </a:p>
          </p:txBody>
        </p:sp>
        <p:sp>
          <p:nvSpPr>
            <p:cNvPr id="83" name="Ellipse 83"/>
            <p:cNvSpPr/>
            <p:nvPr/>
          </p:nvSpPr>
          <p:spPr>
            <a:xfrm>
              <a:off x="4905375" y="2057400"/>
              <a:ext cx="457200" cy="457200"/>
            </a:xfrm>
            <a:prstGeom prst="ellipse">
              <a:avLst/>
            </a:prstGeom>
            <a:solidFill>
              <a:srgbClr val="EFF5FC"/>
            </a:solidFill>
            <a:ln w="9525">
              <a:solidFill>
                <a:srgbClr val="ECB3A8"/>
              </a:solidFill>
            </a:ln>
          </p:spPr>
        </p:sp>
        <p:grpSp>
          <p:nvGrpSpPr>
            <p:cNvPr id="89" name="Group 89"/>
            <p:cNvGrpSpPr/>
            <p:nvPr/>
          </p:nvGrpSpPr>
          <p:grpSpPr>
            <a:xfrm>
              <a:off x="5041106" y="2191748"/>
              <a:ext cx="185737" cy="187120"/>
              <a:chOff x="5041106" y="2191748"/>
              <a:chExt cx="185737" cy="187120"/>
            </a:xfrm>
          </p:grpSpPr>
          <p:sp>
            <p:nvSpPr>
              <p:cNvPr id="84" name="Freeform 84"/>
              <p:cNvSpPr/>
              <p:nvPr/>
            </p:nvSpPr>
            <p:spPr>
              <a:xfrm>
                <a:off x="5103018" y="2275681"/>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9C331E"/>
                </a:solidFill>
              </a:ln>
            </p:spPr>
          </p:sp>
          <p:sp>
            <p:nvSpPr>
              <p:cNvPr id="85" name="Freeform 85"/>
              <p:cNvSpPr/>
              <p:nvPr/>
            </p:nvSpPr>
            <p:spPr>
              <a:xfrm>
                <a:off x="5103018" y="2306637"/>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9C331E"/>
                </a:solidFill>
              </a:ln>
            </p:spPr>
          </p:sp>
          <p:sp>
            <p:nvSpPr>
              <p:cNvPr id="86" name="Freeform 86"/>
              <p:cNvSpPr/>
              <p:nvPr/>
            </p:nvSpPr>
            <p:spPr>
              <a:xfrm>
                <a:off x="5041106" y="2191748"/>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9C331E"/>
                </a:solidFill>
              </a:ln>
            </p:spPr>
          </p:sp>
          <p:sp>
            <p:nvSpPr>
              <p:cNvPr id="87" name="Freeform 87"/>
              <p:cNvSpPr/>
              <p:nvPr/>
            </p:nvSpPr>
            <p:spPr>
              <a:xfrm>
                <a:off x="5041106" y="2224087"/>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9C331E"/>
                </a:solidFill>
              </a:ln>
            </p:spPr>
          </p:sp>
          <p:sp>
            <p:nvSpPr>
              <p:cNvPr id="88" name="Freeform 88"/>
              <p:cNvSpPr/>
              <p:nvPr/>
            </p:nvSpPr>
            <p:spPr>
              <a:xfrm>
                <a:off x="5041106" y="2275681"/>
                <a:ext cx="20637" cy="20637"/>
              </a:xfrm>
              <a:custGeom>
                <a:avLst/>
                <a:gdLst/>
                <a:ahLst/>
                <a:cxnLst/>
                <a:rect l="l" t="t" r="r" b="b"/>
                <a:pathLst>
                  <a:path w="20637" h="20637">
                    <a:moveTo>
                      <a:pt x="0" y="0"/>
                    </a:moveTo>
                    <a:cubicBezTo>
                      <a:pt x="0" y="9163"/>
                      <a:pt x="7966" y="14962"/>
                      <a:pt x="20637" y="20637"/>
                    </a:cubicBezTo>
                  </a:path>
                </a:pathLst>
              </a:custGeom>
              <a:noFill/>
              <a:ln w="20637">
                <a:solidFill>
                  <a:srgbClr val="9C331E"/>
                </a:solidFill>
              </a:ln>
            </p:spPr>
          </p:sp>
        </p:grpSp>
        <p:sp>
          <p:nvSpPr>
            <p:cNvPr id="90" name="Rectangle 90"/>
            <p:cNvSpPr/>
            <p:nvPr/>
          </p:nvSpPr>
          <p:spPr>
            <a:xfrm>
              <a:off x="4324350" y="2628900"/>
              <a:ext cx="1619250" cy="1028700"/>
            </a:xfrm>
            <a:prstGeom prst="roundRect">
              <a:avLst>
                <a:gd name="adj" fmla="val 3704"/>
              </a:avLst>
            </a:prstGeom>
            <a:solidFill>
              <a:srgbClr val="EFF5FC"/>
            </a:solidFill>
            <a:ln>
              <a:noFill/>
            </a:ln>
          </p:spPr>
        </p:sp>
        <p:sp>
          <p:nvSpPr>
            <p:cNvPr id="91" name="TextBox 91"/>
            <p:cNvSpPr txBox="1"/>
            <p:nvPr/>
          </p:nvSpPr>
          <p:spPr>
            <a:xfrm>
              <a:off x="4395788" y="2712482"/>
              <a:ext cx="612623"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必须回答的问题</a:t>
              </a:r>
            </a:p>
          </p:txBody>
        </p:sp>
        <p:sp>
          <p:nvSpPr>
            <p:cNvPr id="92" name="TextBox 92"/>
            <p:cNvSpPr txBox="1"/>
            <p:nvPr/>
          </p:nvSpPr>
          <p:spPr>
            <a:xfrm>
              <a:off x="4395788" y="2864882"/>
              <a:ext cx="1192149"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从建设到运营的全周期成本是否​</a:t>
              </a:r>
              <a:br/>
              <a:r>
                <a:rPr lang="zh-CN" sz="640" dirty="0">
                  <a:solidFill>
                    <a:srgbClr val="573F3A"/>
                  </a:solidFill>
                  <a:latin typeface="+mn-lt"/>
                  <a:ea typeface="+mn-ea"/>
                  <a:cs typeface="+mn-cs"/>
                </a:rPr>
                <a:t>可投入，能否在合理投入下持续​</a:t>
              </a:r>
              <a:br/>
              <a:r>
                <a:rPr lang="zh-CN" sz="640" dirty="0">
                  <a:solidFill>
                    <a:srgbClr val="573F3A"/>
                  </a:solidFill>
                  <a:latin typeface="+mn-lt"/>
                  <a:ea typeface="+mn-ea"/>
                  <a:cs typeface="+mn-cs"/>
                </a:rPr>
                <a:t>创造业务价值？</a:t>
              </a:r>
            </a:p>
          </p:txBody>
        </p:sp>
        <p:sp>
          <p:nvSpPr>
            <p:cNvPr id="93" name="Rectangle 93"/>
            <p:cNvSpPr/>
            <p:nvPr/>
          </p:nvSpPr>
          <p:spPr>
            <a:xfrm>
              <a:off x="4324350" y="3733800"/>
              <a:ext cx="1619250" cy="971550"/>
            </a:xfrm>
            <a:prstGeom prst="roundRect">
              <a:avLst>
                <a:gd name="adj" fmla="val 3922"/>
              </a:avLst>
            </a:prstGeom>
            <a:solidFill>
              <a:srgbClr val="632012"/>
            </a:solidFill>
            <a:ln>
              <a:noFill/>
            </a:ln>
          </p:spPr>
        </p:sp>
        <p:sp>
          <p:nvSpPr>
            <p:cNvPr id="94" name="TextBox 94"/>
            <p:cNvSpPr txBox="1"/>
            <p:nvPr/>
          </p:nvSpPr>
          <p:spPr>
            <a:xfrm>
              <a:off x="4395788" y="3817382"/>
              <a:ext cx="354152" cy="126206"/>
            </a:xfrm>
            <a:prstGeom prst="rect">
              <a:avLst/>
            </a:prstGeom>
            <a:noFill/>
            <a:ln>
              <a:noFill/>
            </a:ln>
          </p:spPr>
          <p:txBody>
            <a:bodyPr wrap="none" lIns="0" tIns="0" rIns="0" bIns="0" anchor="t" anchorCtr="0">
              <a:spAutoFit/>
            </a:bodyPr>
            <a:lstStyle/>
            <a:p>
              <a:pPr algn="l"/>
              <a:r>
                <a:rPr lang="zh-CN" sz="640" b="1" dirty="0">
                  <a:solidFill>
                    <a:srgbClr val="FF957F"/>
                  </a:solidFill>
                  <a:latin typeface="+mn-lt"/>
                  <a:ea typeface="+mn-ea"/>
                  <a:cs typeface="+mn-cs"/>
                </a:rPr>
                <a:t>通过证据</a:t>
              </a:r>
            </a:p>
          </p:txBody>
        </p:sp>
        <p:grpSp>
          <p:nvGrpSpPr>
            <p:cNvPr id="99" name="Group 99"/>
            <p:cNvGrpSpPr/>
            <p:nvPr/>
          </p:nvGrpSpPr>
          <p:grpSpPr>
            <a:xfrm>
              <a:off x="4432300" y="3981450"/>
              <a:ext cx="88900" cy="114300"/>
              <a:chOff x="4432300" y="3981450"/>
              <a:chExt cx="88900" cy="114300"/>
            </a:xfrm>
          </p:grpSpPr>
          <p:sp>
            <p:nvSpPr>
              <p:cNvPr id="95" name="Freeform 95"/>
              <p:cNvSpPr/>
              <p:nvPr/>
            </p:nvSpPr>
            <p:spPr>
              <a:xfrm>
                <a:off x="4432300" y="3994150"/>
                <a:ext cx="88900" cy="101600"/>
              </a:xfrm>
              <a:custGeom>
                <a:avLst/>
                <a:gdLst/>
                <a:ahLst/>
                <a:cxnLst/>
                <a:rect l="l" t="t" r="r" b="b"/>
                <a:pathLst>
                  <a:path w="88900" h="101600">
                    <a:moveTo>
                      <a:pt x="25400" y="0"/>
                    </a:moveTo>
                    <a:lnTo>
                      <a:pt x="12700" y="0"/>
                    </a:lnTo>
                    <a:cubicBezTo>
                      <a:pt x="5686" y="0"/>
                      <a:pt x="0" y="5686"/>
                      <a:pt x="0" y="12700"/>
                    </a:cubicBezTo>
                    <a:lnTo>
                      <a:pt x="0" y="88900"/>
                    </a:lnTo>
                    <a:cubicBezTo>
                      <a:pt x="0" y="95914"/>
                      <a:pt x="5686" y="101600"/>
                      <a:pt x="12700" y="101600"/>
                    </a:cubicBezTo>
                    <a:lnTo>
                      <a:pt x="76200" y="101600"/>
                    </a:lnTo>
                    <a:cubicBezTo>
                      <a:pt x="83214" y="101600"/>
                      <a:pt x="88900" y="95914"/>
                      <a:pt x="88900" y="88900"/>
                    </a:cubicBezTo>
                    <a:lnTo>
                      <a:pt x="88900" y="12700"/>
                    </a:lnTo>
                    <a:cubicBezTo>
                      <a:pt x="88900" y="5686"/>
                      <a:pt x="83214" y="0"/>
                      <a:pt x="76200" y="0"/>
                    </a:cubicBezTo>
                    <a:lnTo>
                      <a:pt x="63500" y="0"/>
                    </a:lnTo>
                  </a:path>
                </a:pathLst>
              </a:custGeom>
              <a:noFill/>
              <a:ln w="12700">
                <a:solidFill>
                  <a:srgbClr val="FFFFFF"/>
                </a:solidFill>
              </a:ln>
            </p:spPr>
          </p:sp>
          <p:sp>
            <p:nvSpPr>
              <p:cNvPr id="96" name="Freeform 96"/>
              <p:cNvSpPr/>
              <p:nvPr/>
            </p:nvSpPr>
            <p:spPr>
              <a:xfrm>
                <a:off x="4457700" y="3981450"/>
                <a:ext cx="38100" cy="25400"/>
              </a:xfrm>
              <a:custGeom>
                <a:avLst/>
                <a:gdLst/>
                <a:ahLst/>
                <a:cxnLst/>
                <a:rect l="l" t="t" r="r" b="b"/>
                <a:pathLst>
                  <a:path w="38100" h="25400">
                    <a:moveTo>
                      <a:pt x="0" y="12700"/>
                    </a:moveTo>
                    <a:cubicBezTo>
                      <a:pt x="0" y="5686"/>
                      <a:pt x="5686" y="0"/>
                      <a:pt x="12700" y="0"/>
                    </a:cubicBezTo>
                    <a:lnTo>
                      <a:pt x="25400" y="0"/>
                    </a:lnTo>
                    <a:cubicBezTo>
                      <a:pt x="32414" y="0"/>
                      <a:pt x="38100" y="5686"/>
                      <a:pt x="38100" y="12700"/>
                    </a:cubicBezTo>
                    <a:cubicBezTo>
                      <a:pt x="38100" y="19714"/>
                      <a:pt x="32414" y="25400"/>
                      <a:pt x="25400" y="25400"/>
                    </a:cubicBezTo>
                    <a:lnTo>
                      <a:pt x="12700" y="25400"/>
                    </a:lnTo>
                    <a:cubicBezTo>
                      <a:pt x="5686" y="25400"/>
                      <a:pt x="0" y="19714"/>
                      <a:pt x="0" y="12700"/>
                    </a:cubicBezTo>
                  </a:path>
                </a:pathLst>
              </a:custGeom>
              <a:noFill/>
              <a:ln w="12700">
                <a:solidFill>
                  <a:srgbClr val="FFFFFF"/>
                </a:solidFill>
              </a:ln>
            </p:spPr>
          </p:sp>
          <p:sp>
            <p:nvSpPr>
              <p:cNvPr id="97" name="Freeform 97"/>
              <p:cNvSpPr/>
              <p:nvPr/>
            </p:nvSpPr>
            <p:spPr>
              <a:xfrm>
                <a:off x="4464050" y="4032250"/>
                <a:ext cx="25400" cy="38100"/>
              </a:xfrm>
              <a:custGeom>
                <a:avLst/>
                <a:gdLst/>
                <a:ahLst/>
                <a:cxnLst/>
                <a:rect l="l" t="t" r="r" b="b"/>
                <a:pathLst>
                  <a:path w="25400" h="38100">
                    <a:moveTo>
                      <a:pt x="25400" y="0"/>
                    </a:moveTo>
                    <a:lnTo>
                      <a:pt x="9525" y="0"/>
                    </a:lnTo>
                    <a:cubicBezTo>
                      <a:pt x="4264" y="0"/>
                      <a:pt x="0" y="4264"/>
                      <a:pt x="0" y="9525"/>
                    </a:cubicBezTo>
                    <a:cubicBezTo>
                      <a:pt x="0" y="14786"/>
                      <a:pt x="4264" y="19050"/>
                      <a:pt x="9525" y="19050"/>
                    </a:cubicBezTo>
                    <a:lnTo>
                      <a:pt x="15875" y="19050"/>
                    </a:lnTo>
                    <a:cubicBezTo>
                      <a:pt x="21136" y="19050"/>
                      <a:pt x="25400" y="23314"/>
                      <a:pt x="25400" y="28575"/>
                    </a:cubicBezTo>
                    <a:cubicBezTo>
                      <a:pt x="25400" y="33836"/>
                      <a:pt x="21136" y="38100"/>
                      <a:pt x="15875" y="38100"/>
                    </a:cubicBezTo>
                    <a:lnTo>
                      <a:pt x="0" y="38100"/>
                    </a:lnTo>
                  </a:path>
                </a:pathLst>
              </a:custGeom>
              <a:noFill/>
              <a:ln w="12700">
                <a:solidFill>
                  <a:srgbClr val="FFFFFF"/>
                </a:solidFill>
              </a:ln>
            </p:spPr>
          </p:sp>
          <p:sp>
            <p:nvSpPr>
              <p:cNvPr id="98" name="Freeform 98"/>
              <p:cNvSpPr/>
              <p:nvPr/>
            </p:nvSpPr>
            <p:spPr>
              <a:xfrm>
                <a:off x="4476750" y="4025900"/>
                <a:ext cx="9525" cy="50800"/>
              </a:xfrm>
              <a:custGeom>
                <a:avLst/>
                <a:gdLst/>
                <a:ahLst/>
                <a:cxnLst/>
                <a:rect l="l" t="t" r="r" b="b"/>
                <a:pathLst>
                  <a:path w="9525" h="50800">
                    <a:moveTo>
                      <a:pt x="0" y="44450"/>
                    </a:moveTo>
                    <a:lnTo>
                      <a:pt x="0" y="50800"/>
                    </a:lnTo>
                    <a:moveTo>
                      <a:pt x="0" y="0"/>
                    </a:moveTo>
                    <a:lnTo>
                      <a:pt x="0" y="6350"/>
                    </a:lnTo>
                  </a:path>
                </a:pathLst>
              </a:custGeom>
              <a:noFill/>
              <a:ln w="12700">
                <a:solidFill>
                  <a:srgbClr val="FFFFFF"/>
                </a:solidFill>
              </a:ln>
            </p:spPr>
          </p:sp>
        </p:grpSp>
        <p:sp>
          <p:nvSpPr>
            <p:cNvPr id="100" name="TextBox 100"/>
            <p:cNvSpPr txBox="1"/>
            <p:nvPr/>
          </p:nvSpPr>
          <p:spPr>
            <a:xfrm>
              <a:off x="4605338" y="4009311"/>
              <a:ext cx="48742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总拥有成本</a:t>
              </a:r>
            </a:p>
          </p:txBody>
        </p:sp>
        <p:sp>
          <p:nvSpPr>
            <p:cNvPr id="101" name="TextBox 101"/>
            <p:cNvSpPr txBox="1"/>
            <p:nvPr/>
          </p:nvSpPr>
          <p:spPr>
            <a:xfrm>
              <a:off x="4395788" y="4240530"/>
              <a:ext cx="965835" cy="233362"/>
            </a:xfrm>
            <a:prstGeom prst="rect">
              <a:avLst/>
            </a:prstGeom>
            <a:noFill/>
            <a:ln>
              <a:noFill/>
            </a:ln>
          </p:spPr>
          <p:txBody>
            <a:bodyPr wrap="none" lIns="0" tIns="0" rIns="0" bIns="0" anchor="t" anchorCtr="0">
              <a:spAutoFit/>
            </a:bodyPr>
            <a:lstStyle/>
            <a:p>
              <a:pPr algn="l">
                <a:lnSpc>
                  <a:spcPts val="900"/>
                </a:lnSpc>
              </a:pPr>
              <a:r>
                <a:rPr lang="zh-CN" sz="600" dirty="0">
                  <a:solidFill>
                    <a:srgbClr val="DCE9F8"/>
                  </a:solidFill>
                  <a:latin typeface="+mn-lt"/>
                  <a:ea typeface="+mn-ea"/>
                  <a:cs typeface="+mn-cs"/>
                </a:rPr>
                <a:t>全周期成本分析、资源消耗​</a:t>
              </a:r>
              <a:br/>
              <a:r>
                <a:rPr lang="zh-CN" sz="600" dirty="0">
                  <a:solidFill>
                    <a:srgbClr val="DCE9F8"/>
                  </a:solidFill>
                  <a:latin typeface="+mn-lt"/>
                  <a:ea typeface="+mn-ea"/>
                  <a:cs typeface="+mn-cs"/>
                </a:rPr>
                <a:t>记录与效果评估材料</a:t>
              </a:r>
            </a:p>
          </p:txBody>
        </p:sp>
      </p:grpSp>
      <p:grpSp>
        <p:nvGrpSpPr>
          <p:cNvPr id="126" name="gate-4"/>
          <p:cNvGrpSpPr/>
          <p:nvPr/>
        </p:nvGrpSpPr>
        <p:grpSpPr>
          <a:xfrm>
            <a:off x="6153150" y="1562100"/>
            <a:ext cx="1809750" cy="3238500"/>
            <a:chOff x="6153150" y="1562100"/>
            <a:chExt cx="1809750" cy="3238500"/>
          </a:xfrm>
        </p:grpSpPr>
        <p:sp>
          <p:nvSpPr>
            <p:cNvPr id="103" name="Rectangle 103"/>
            <p:cNvSpPr/>
            <p:nvPr/>
          </p:nvSpPr>
          <p:spPr>
            <a:xfrm>
              <a:off x="6153150" y="1562100"/>
              <a:ext cx="1809750" cy="3238500"/>
            </a:xfrm>
            <a:prstGeom prst="roundRect">
              <a:avLst>
                <a:gd name="adj" fmla="val 3158"/>
              </a:avLst>
            </a:prstGeom>
            <a:solidFill>
              <a:srgbClr val="FFFFFF"/>
            </a:solidFill>
            <a:ln w="9525">
              <a:solidFill>
                <a:srgbClr val="C7D9F0"/>
              </a:solidFill>
            </a:ln>
          </p:spPr>
        </p:sp>
        <p:sp>
          <p:nvSpPr>
            <p:cNvPr id="104" name="Ellipse 104"/>
            <p:cNvSpPr/>
            <p:nvPr/>
          </p:nvSpPr>
          <p:spPr>
            <a:xfrm>
              <a:off x="6257925" y="1666875"/>
              <a:ext cx="247650" cy="247650"/>
            </a:xfrm>
            <a:prstGeom prst="ellipse">
              <a:avLst/>
            </a:prstGeom>
            <a:solidFill>
              <a:srgbClr val="9C331E"/>
            </a:solidFill>
            <a:ln>
              <a:noFill/>
            </a:ln>
          </p:spPr>
        </p:sp>
        <p:sp>
          <p:nvSpPr>
            <p:cNvPr id="105" name="TextBox 105"/>
            <p:cNvSpPr txBox="1"/>
            <p:nvPr/>
          </p:nvSpPr>
          <p:spPr>
            <a:xfrm>
              <a:off x="6320831" y="174783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04</a:t>
              </a:r>
            </a:p>
          </p:txBody>
        </p:sp>
        <p:sp>
          <p:nvSpPr>
            <p:cNvPr id="106" name="TextBox 106"/>
            <p:cNvSpPr txBox="1"/>
            <p:nvPr/>
          </p:nvSpPr>
          <p:spPr>
            <a:xfrm>
              <a:off x="6567297" y="1647349"/>
              <a:ext cx="537616"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数据治理</a:t>
              </a:r>
            </a:p>
          </p:txBody>
        </p:sp>
        <p:sp>
          <p:nvSpPr>
            <p:cNvPr id="107" name="TextBox 107"/>
            <p:cNvSpPr txBox="1"/>
            <p:nvPr/>
          </p:nvSpPr>
          <p:spPr>
            <a:xfrm>
              <a:off x="6567488" y="1826657"/>
              <a:ext cx="784936"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数据可信，合规可用</a:t>
              </a:r>
            </a:p>
          </p:txBody>
        </p:sp>
        <p:sp>
          <p:nvSpPr>
            <p:cNvPr id="108" name="Ellipse 108"/>
            <p:cNvSpPr/>
            <p:nvPr/>
          </p:nvSpPr>
          <p:spPr>
            <a:xfrm>
              <a:off x="6829425" y="2057400"/>
              <a:ext cx="457200" cy="457200"/>
            </a:xfrm>
            <a:prstGeom prst="ellipse">
              <a:avLst/>
            </a:prstGeom>
            <a:solidFill>
              <a:srgbClr val="EFF5FC"/>
            </a:solidFill>
            <a:ln w="9525">
              <a:solidFill>
                <a:srgbClr val="ECB3A8"/>
              </a:solidFill>
            </a:ln>
          </p:spPr>
        </p:sp>
        <p:grpSp>
          <p:nvGrpSpPr>
            <p:cNvPr id="112" name="Group 112"/>
            <p:cNvGrpSpPr/>
            <p:nvPr/>
          </p:nvGrpSpPr>
          <p:grpSpPr>
            <a:xfrm>
              <a:off x="6975475" y="2193131"/>
              <a:ext cx="165099" cy="185737"/>
              <a:chOff x="6975475" y="2193131"/>
              <a:chExt cx="165099" cy="185737"/>
            </a:xfrm>
          </p:grpSpPr>
          <p:sp>
            <p:nvSpPr>
              <p:cNvPr id="109" name="Freeform 109"/>
              <p:cNvSpPr/>
              <p:nvPr/>
            </p:nvSpPr>
            <p:spPr>
              <a:xfrm>
                <a:off x="6975475" y="2193131"/>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9C331E"/>
                </a:solidFill>
              </a:ln>
            </p:spPr>
          </p:sp>
          <p:sp>
            <p:nvSpPr>
              <p:cNvPr id="110" name="Freeform 110"/>
              <p:cNvSpPr/>
              <p:nvPr/>
            </p:nvSpPr>
            <p:spPr>
              <a:xfrm>
                <a:off x="6975475" y="2224087"/>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C331E"/>
                </a:solidFill>
              </a:ln>
            </p:spPr>
          </p:sp>
          <p:sp>
            <p:nvSpPr>
              <p:cNvPr id="111" name="Freeform 111"/>
              <p:cNvSpPr/>
              <p:nvPr/>
            </p:nvSpPr>
            <p:spPr>
              <a:xfrm>
                <a:off x="6975475" y="2286000"/>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C331E"/>
                </a:solidFill>
              </a:ln>
            </p:spPr>
          </p:sp>
        </p:grpSp>
        <p:sp>
          <p:nvSpPr>
            <p:cNvPr id="113" name="Rectangle 113"/>
            <p:cNvSpPr/>
            <p:nvPr/>
          </p:nvSpPr>
          <p:spPr>
            <a:xfrm>
              <a:off x="6248400" y="2628900"/>
              <a:ext cx="1619250" cy="1028700"/>
            </a:xfrm>
            <a:prstGeom prst="roundRect">
              <a:avLst>
                <a:gd name="adj" fmla="val 3704"/>
              </a:avLst>
            </a:prstGeom>
            <a:solidFill>
              <a:srgbClr val="EFF5FC"/>
            </a:solidFill>
            <a:ln>
              <a:noFill/>
            </a:ln>
          </p:spPr>
        </p:sp>
        <p:sp>
          <p:nvSpPr>
            <p:cNvPr id="114" name="TextBox 114"/>
            <p:cNvSpPr txBox="1"/>
            <p:nvPr/>
          </p:nvSpPr>
          <p:spPr>
            <a:xfrm>
              <a:off x="6319838" y="2712482"/>
              <a:ext cx="612623"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必须回答的问题</a:t>
              </a:r>
            </a:p>
          </p:txBody>
        </p:sp>
        <p:sp>
          <p:nvSpPr>
            <p:cNvPr id="115" name="TextBox 115"/>
            <p:cNvSpPr txBox="1"/>
            <p:nvPr/>
          </p:nvSpPr>
          <p:spPr>
            <a:xfrm>
              <a:off x="6319838" y="2864882"/>
              <a:ext cx="1192149"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数据来源是否合法合规，质量是​</a:t>
              </a:r>
              <a:br/>
              <a:r>
                <a:rPr lang="zh-CN" sz="640" dirty="0">
                  <a:solidFill>
                    <a:srgbClr val="573F3A"/>
                  </a:solidFill>
                  <a:latin typeface="+mn-lt"/>
                  <a:ea typeface="+mn-ea"/>
                  <a:cs typeface="+mn-cs"/>
                </a:rPr>
                <a:t>否可靠，能否实现全流程可追溯​</a:t>
              </a:r>
              <a:br/>
              <a:r>
                <a:rPr lang="zh-CN" sz="640" dirty="0">
                  <a:solidFill>
                    <a:srgbClr val="573F3A"/>
                  </a:solidFill>
                  <a:latin typeface="+mn-lt"/>
                  <a:ea typeface="+mn-ea"/>
                  <a:cs typeface="+mn-cs"/>
                </a:rPr>
                <a:t>与安全管理？</a:t>
              </a:r>
            </a:p>
          </p:txBody>
        </p:sp>
        <p:sp>
          <p:nvSpPr>
            <p:cNvPr id="116" name="Rectangle 116"/>
            <p:cNvSpPr/>
            <p:nvPr/>
          </p:nvSpPr>
          <p:spPr>
            <a:xfrm>
              <a:off x="6248400" y="3733800"/>
              <a:ext cx="1619250" cy="971550"/>
            </a:xfrm>
            <a:prstGeom prst="roundRect">
              <a:avLst>
                <a:gd name="adj" fmla="val 3922"/>
              </a:avLst>
            </a:prstGeom>
            <a:solidFill>
              <a:srgbClr val="632012"/>
            </a:solidFill>
            <a:ln>
              <a:noFill/>
            </a:ln>
          </p:spPr>
        </p:sp>
        <p:sp>
          <p:nvSpPr>
            <p:cNvPr id="117" name="TextBox 117"/>
            <p:cNvSpPr txBox="1"/>
            <p:nvPr/>
          </p:nvSpPr>
          <p:spPr>
            <a:xfrm>
              <a:off x="6319838" y="3817382"/>
              <a:ext cx="354152" cy="126206"/>
            </a:xfrm>
            <a:prstGeom prst="rect">
              <a:avLst/>
            </a:prstGeom>
            <a:noFill/>
            <a:ln>
              <a:noFill/>
            </a:ln>
          </p:spPr>
          <p:txBody>
            <a:bodyPr wrap="none" lIns="0" tIns="0" rIns="0" bIns="0" anchor="t" anchorCtr="0">
              <a:spAutoFit/>
            </a:bodyPr>
            <a:lstStyle/>
            <a:p>
              <a:pPr algn="l"/>
              <a:r>
                <a:rPr lang="zh-CN" sz="640" b="1" dirty="0">
                  <a:solidFill>
                    <a:srgbClr val="FF957F"/>
                  </a:solidFill>
                  <a:latin typeface="+mn-lt"/>
                  <a:ea typeface="+mn-ea"/>
                  <a:cs typeface="+mn-cs"/>
                </a:rPr>
                <a:t>通过证据</a:t>
              </a:r>
            </a:p>
          </p:txBody>
        </p:sp>
        <p:grpSp>
          <p:nvGrpSpPr>
            <p:cNvPr id="123" name="Group 123"/>
            <p:cNvGrpSpPr/>
            <p:nvPr/>
          </p:nvGrpSpPr>
          <p:grpSpPr>
            <a:xfrm>
              <a:off x="6343650" y="3981450"/>
              <a:ext cx="114300" cy="114300"/>
              <a:chOff x="6343650" y="3981450"/>
              <a:chExt cx="114300" cy="114300"/>
            </a:xfrm>
          </p:grpSpPr>
          <p:sp>
            <p:nvSpPr>
              <p:cNvPr id="118" name="Freeform 118"/>
              <p:cNvSpPr/>
              <p:nvPr/>
            </p:nvSpPr>
            <p:spPr>
              <a:xfrm>
                <a:off x="6343650" y="405765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119" name="Freeform 119"/>
              <p:cNvSpPr/>
              <p:nvPr/>
            </p:nvSpPr>
            <p:spPr>
              <a:xfrm>
                <a:off x="6419850" y="405765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120" name="Freeform 120"/>
              <p:cNvSpPr/>
              <p:nvPr/>
            </p:nvSpPr>
            <p:spPr>
              <a:xfrm>
                <a:off x="6381750" y="398145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121" name="Freeform 121"/>
              <p:cNvSpPr/>
              <p:nvPr/>
            </p:nvSpPr>
            <p:spPr>
              <a:xfrm>
                <a:off x="6362700" y="4038600"/>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FFFFFF"/>
                </a:solidFill>
              </a:ln>
            </p:spPr>
          </p:sp>
          <p:sp>
            <p:nvSpPr>
              <p:cNvPr id="122" name="Freeform 122"/>
              <p:cNvSpPr/>
              <p:nvPr/>
            </p:nvSpPr>
            <p:spPr>
              <a:xfrm>
                <a:off x="6400800" y="4019550"/>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124" name="TextBox 124"/>
            <p:cNvSpPr txBox="1"/>
            <p:nvPr/>
          </p:nvSpPr>
          <p:spPr>
            <a:xfrm>
              <a:off x="6529388" y="400931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数据血缘</a:t>
              </a:r>
            </a:p>
          </p:txBody>
        </p:sp>
        <p:sp>
          <p:nvSpPr>
            <p:cNvPr id="125" name="TextBox 125"/>
            <p:cNvSpPr txBox="1"/>
            <p:nvPr/>
          </p:nvSpPr>
          <p:spPr>
            <a:xfrm>
              <a:off x="6319838" y="4240530"/>
              <a:ext cx="889635" cy="233362"/>
            </a:xfrm>
            <a:prstGeom prst="rect">
              <a:avLst/>
            </a:prstGeom>
            <a:noFill/>
            <a:ln>
              <a:noFill/>
            </a:ln>
          </p:spPr>
          <p:txBody>
            <a:bodyPr wrap="none" lIns="0" tIns="0" rIns="0" bIns="0" anchor="t" anchorCtr="0">
              <a:spAutoFit/>
            </a:bodyPr>
            <a:lstStyle/>
            <a:p>
              <a:pPr algn="l">
                <a:lnSpc>
                  <a:spcPts val="900"/>
                </a:lnSpc>
              </a:pPr>
              <a:r>
                <a:rPr lang="zh-CN" sz="600" dirty="0">
                  <a:solidFill>
                    <a:srgbClr val="DCE9F8"/>
                  </a:solidFill>
                  <a:latin typeface="+mn-lt"/>
                  <a:ea typeface="+mn-ea"/>
                  <a:cs typeface="+mn-cs"/>
                </a:rPr>
                <a:t>数据血缘图谱、数据处理​</a:t>
              </a:r>
              <a:br/>
              <a:r>
                <a:rPr lang="zh-CN" sz="600" dirty="0">
                  <a:solidFill>
                    <a:srgbClr val="DCE9F8"/>
                  </a:solidFill>
                  <a:latin typeface="+mn-lt"/>
                  <a:ea typeface="+mn-ea"/>
                  <a:cs typeface="+mn-cs"/>
                </a:rPr>
                <a:t>记录与权限管理记录</a:t>
              </a:r>
            </a:p>
          </p:txBody>
        </p:sp>
      </p:grpSp>
      <p:grpSp>
        <p:nvGrpSpPr>
          <p:cNvPr id="150" name="gate-5"/>
          <p:cNvGrpSpPr/>
          <p:nvPr/>
        </p:nvGrpSpPr>
        <p:grpSpPr>
          <a:xfrm>
            <a:off x="8077200" y="1562100"/>
            <a:ext cx="1809750" cy="3238500"/>
            <a:chOff x="8077200" y="1562100"/>
            <a:chExt cx="1809750" cy="3238500"/>
          </a:xfrm>
        </p:grpSpPr>
        <p:sp>
          <p:nvSpPr>
            <p:cNvPr id="127" name="Rectangle 127"/>
            <p:cNvSpPr/>
            <p:nvPr/>
          </p:nvSpPr>
          <p:spPr>
            <a:xfrm>
              <a:off x="8077200" y="1562100"/>
              <a:ext cx="1809750" cy="3238500"/>
            </a:xfrm>
            <a:prstGeom prst="roundRect">
              <a:avLst>
                <a:gd name="adj" fmla="val 3158"/>
              </a:avLst>
            </a:prstGeom>
            <a:solidFill>
              <a:srgbClr val="FFFFFF"/>
            </a:solidFill>
            <a:ln w="9525">
              <a:solidFill>
                <a:srgbClr val="C7D9F0"/>
              </a:solidFill>
            </a:ln>
          </p:spPr>
        </p:sp>
        <p:sp>
          <p:nvSpPr>
            <p:cNvPr id="128" name="Ellipse 128"/>
            <p:cNvSpPr/>
            <p:nvPr/>
          </p:nvSpPr>
          <p:spPr>
            <a:xfrm>
              <a:off x="8181975" y="1666875"/>
              <a:ext cx="247650" cy="247650"/>
            </a:xfrm>
            <a:prstGeom prst="ellipse">
              <a:avLst/>
            </a:prstGeom>
            <a:solidFill>
              <a:srgbClr val="9C331E"/>
            </a:solidFill>
            <a:ln>
              <a:noFill/>
            </a:ln>
          </p:spPr>
        </p:sp>
        <p:sp>
          <p:nvSpPr>
            <p:cNvPr id="129" name="TextBox 129"/>
            <p:cNvSpPr txBox="1"/>
            <p:nvPr/>
          </p:nvSpPr>
          <p:spPr>
            <a:xfrm>
              <a:off x="8244881" y="174783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05</a:t>
              </a:r>
            </a:p>
          </p:txBody>
        </p:sp>
        <p:sp>
          <p:nvSpPr>
            <p:cNvPr id="130" name="TextBox 130"/>
            <p:cNvSpPr txBox="1"/>
            <p:nvPr/>
          </p:nvSpPr>
          <p:spPr>
            <a:xfrm>
              <a:off x="8491347" y="1647349"/>
              <a:ext cx="537616"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人机责任</a:t>
              </a:r>
            </a:p>
          </p:txBody>
        </p:sp>
        <p:sp>
          <p:nvSpPr>
            <p:cNvPr id="131" name="TextBox 131"/>
            <p:cNvSpPr txBox="1"/>
            <p:nvPr/>
          </p:nvSpPr>
          <p:spPr>
            <a:xfrm>
              <a:off x="8491538" y="1826657"/>
              <a:ext cx="784936"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协同可控，责任清晰</a:t>
              </a:r>
            </a:p>
          </p:txBody>
        </p:sp>
        <p:sp>
          <p:nvSpPr>
            <p:cNvPr id="132" name="Ellipse 132"/>
            <p:cNvSpPr/>
            <p:nvPr/>
          </p:nvSpPr>
          <p:spPr>
            <a:xfrm>
              <a:off x="8753475" y="2057400"/>
              <a:ext cx="457200" cy="457200"/>
            </a:xfrm>
            <a:prstGeom prst="ellipse">
              <a:avLst/>
            </a:prstGeom>
            <a:solidFill>
              <a:srgbClr val="EFF5FC"/>
            </a:solidFill>
            <a:ln w="9525">
              <a:solidFill>
                <a:srgbClr val="ECB3A8"/>
              </a:solidFill>
            </a:ln>
          </p:spPr>
        </p:sp>
        <p:grpSp>
          <p:nvGrpSpPr>
            <p:cNvPr id="137" name="Group 137"/>
            <p:cNvGrpSpPr/>
            <p:nvPr/>
          </p:nvGrpSpPr>
          <p:grpSpPr>
            <a:xfrm>
              <a:off x="8889206" y="2193131"/>
              <a:ext cx="185737" cy="185738"/>
              <a:chOff x="8889206" y="2193131"/>
              <a:chExt cx="185737" cy="185738"/>
            </a:xfrm>
          </p:grpSpPr>
          <p:sp>
            <p:nvSpPr>
              <p:cNvPr id="133" name="Freeform 133"/>
              <p:cNvSpPr/>
              <p:nvPr/>
            </p:nvSpPr>
            <p:spPr>
              <a:xfrm>
                <a:off x="8909844" y="21931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C331E"/>
                </a:solidFill>
              </a:ln>
            </p:spPr>
          </p:sp>
          <p:sp>
            <p:nvSpPr>
              <p:cNvPr id="134" name="Freeform 134"/>
              <p:cNvSpPr/>
              <p:nvPr/>
            </p:nvSpPr>
            <p:spPr>
              <a:xfrm>
                <a:off x="8889206" y="23169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9C331E"/>
                </a:solidFill>
              </a:ln>
            </p:spPr>
          </p:sp>
          <p:sp>
            <p:nvSpPr>
              <p:cNvPr id="135" name="Freeform 135"/>
              <p:cNvSpPr/>
              <p:nvPr/>
            </p:nvSpPr>
            <p:spPr>
              <a:xfrm>
                <a:off x="9023349" y="21944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9C331E"/>
                </a:solidFill>
              </a:ln>
            </p:spPr>
          </p:sp>
          <p:sp>
            <p:nvSpPr>
              <p:cNvPr id="136" name="Freeform 136"/>
              <p:cNvSpPr/>
              <p:nvPr/>
            </p:nvSpPr>
            <p:spPr>
              <a:xfrm>
                <a:off x="9043987" y="23185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9C331E"/>
                </a:solidFill>
              </a:ln>
            </p:spPr>
          </p:sp>
        </p:grpSp>
        <p:sp>
          <p:nvSpPr>
            <p:cNvPr id="138" name="Rectangle 138"/>
            <p:cNvSpPr/>
            <p:nvPr/>
          </p:nvSpPr>
          <p:spPr>
            <a:xfrm>
              <a:off x="8172450" y="2628900"/>
              <a:ext cx="1619250" cy="1028700"/>
            </a:xfrm>
            <a:prstGeom prst="roundRect">
              <a:avLst>
                <a:gd name="adj" fmla="val 3704"/>
              </a:avLst>
            </a:prstGeom>
            <a:solidFill>
              <a:srgbClr val="EFF5FC"/>
            </a:solidFill>
            <a:ln>
              <a:noFill/>
            </a:ln>
          </p:spPr>
        </p:sp>
        <p:sp>
          <p:nvSpPr>
            <p:cNvPr id="139" name="TextBox 139"/>
            <p:cNvSpPr txBox="1"/>
            <p:nvPr/>
          </p:nvSpPr>
          <p:spPr>
            <a:xfrm>
              <a:off x="8243888" y="2712482"/>
              <a:ext cx="612623"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必须回答的问题</a:t>
              </a:r>
            </a:p>
          </p:txBody>
        </p:sp>
        <p:sp>
          <p:nvSpPr>
            <p:cNvPr id="140" name="TextBox 140"/>
            <p:cNvSpPr txBox="1"/>
            <p:nvPr/>
          </p:nvSpPr>
          <p:spPr>
            <a:xfrm>
              <a:off x="8243888" y="2864882"/>
              <a:ext cx="1192149"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在异常情况下是否能够及时人工​</a:t>
              </a:r>
              <a:br/>
              <a:r>
                <a:rPr lang="zh-CN" sz="640" dirty="0">
                  <a:solidFill>
                    <a:srgbClr val="573F3A"/>
                  </a:solidFill>
                  <a:latin typeface="+mn-lt"/>
                  <a:ea typeface="+mn-ea"/>
                  <a:cs typeface="+mn-cs"/>
                </a:rPr>
                <a:t>接管，是否具备清晰的责任划分​</a:t>
              </a:r>
              <a:br/>
              <a:r>
                <a:rPr lang="zh-CN" sz="640" dirty="0">
                  <a:solidFill>
                    <a:srgbClr val="573F3A"/>
                  </a:solidFill>
                  <a:latin typeface="+mn-lt"/>
                  <a:ea typeface="+mn-ea"/>
                  <a:cs typeface="+mn-cs"/>
                </a:rPr>
                <a:t>与追溯机制？</a:t>
              </a:r>
            </a:p>
          </p:txBody>
        </p:sp>
        <p:sp>
          <p:nvSpPr>
            <p:cNvPr id="141" name="Rectangle 141"/>
            <p:cNvSpPr/>
            <p:nvPr/>
          </p:nvSpPr>
          <p:spPr>
            <a:xfrm>
              <a:off x="8172450" y="3733800"/>
              <a:ext cx="1619250" cy="971550"/>
            </a:xfrm>
            <a:prstGeom prst="roundRect">
              <a:avLst>
                <a:gd name="adj" fmla="val 3922"/>
              </a:avLst>
            </a:prstGeom>
            <a:solidFill>
              <a:srgbClr val="632012"/>
            </a:solidFill>
            <a:ln>
              <a:noFill/>
            </a:ln>
          </p:spPr>
        </p:sp>
        <p:sp>
          <p:nvSpPr>
            <p:cNvPr id="142" name="TextBox 142"/>
            <p:cNvSpPr txBox="1"/>
            <p:nvPr/>
          </p:nvSpPr>
          <p:spPr>
            <a:xfrm>
              <a:off x="8243888" y="3817382"/>
              <a:ext cx="354152" cy="126206"/>
            </a:xfrm>
            <a:prstGeom prst="rect">
              <a:avLst/>
            </a:prstGeom>
            <a:noFill/>
            <a:ln>
              <a:noFill/>
            </a:ln>
          </p:spPr>
          <p:txBody>
            <a:bodyPr wrap="none" lIns="0" tIns="0" rIns="0" bIns="0" anchor="t" anchorCtr="0">
              <a:spAutoFit/>
            </a:bodyPr>
            <a:lstStyle/>
            <a:p>
              <a:pPr algn="l"/>
              <a:r>
                <a:rPr lang="zh-CN" sz="640" b="1" dirty="0">
                  <a:solidFill>
                    <a:srgbClr val="FF957F"/>
                  </a:solidFill>
                  <a:latin typeface="+mn-lt"/>
                  <a:ea typeface="+mn-ea"/>
                  <a:cs typeface="+mn-cs"/>
                </a:rPr>
                <a:t>通过证据</a:t>
              </a:r>
            </a:p>
          </p:txBody>
        </p:sp>
        <p:grpSp>
          <p:nvGrpSpPr>
            <p:cNvPr id="147" name="Group 147"/>
            <p:cNvGrpSpPr/>
            <p:nvPr/>
          </p:nvGrpSpPr>
          <p:grpSpPr>
            <a:xfrm>
              <a:off x="8269705" y="3975100"/>
              <a:ext cx="105945" cy="127002"/>
              <a:chOff x="8269705" y="3975100"/>
              <a:chExt cx="105945" cy="127002"/>
            </a:xfrm>
          </p:grpSpPr>
          <p:sp>
            <p:nvSpPr>
              <p:cNvPr id="143" name="Freeform 143"/>
              <p:cNvSpPr/>
              <p:nvPr/>
            </p:nvSpPr>
            <p:spPr>
              <a:xfrm>
                <a:off x="8299450" y="3987800"/>
                <a:ext cx="19050" cy="57150"/>
              </a:xfrm>
              <a:custGeom>
                <a:avLst/>
                <a:gdLst/>
                <a:ahLst/>
                <a:cxnLst/>
                <a:rect l="l" t="t" r="r" b="b"/>
                <a:pathLst>
                  <a:path w="19050" h="57150">
                    <a:moveTo>
                      <a:pt x="0" y="57150"/>
                    </a:moveTo>
                    <a:lnTo>
                      <a:pt x="0" y="9525"/>
                    </a:lnTo>
                    <a:cubicBezTo>
                      <a:pt x="0" y="4264"/>
                      <a:pt x="4264" y="0"/>
                      <a:pt x="9525" y="0"/>
                    </a:cubicBezTo>
                    <a:cubicBezTo>
                      <a:pt x="14786" y="0"/>
                      <a:pt x="19050" y="4264"/>
                      <a:pt x="19050" y="9525"/>
                    </a:cubicBezTo>
                    <a:lnTo>
                      <a:pt x="19050" y="50800"/>
                    </a:lnTo>
                  </a:path>
                </a:pathLst>
              </a:custGeom>
              <a:noFill/>
              <a:ln w="12700">
                <a:solidFill>
                  <a:srgbClr val="FFFFFF"/>
                </a:solidFill>
              </a:ln>
            </p:spPr>
          </p:sp>
          <p:sp>
            <p:nvSpPr>
              <p:cNvPr id="144" name="Freeform 144"/>
              <p:cNvSpPr/>
              <p:nvPr/>
            </p:nvSpPr>
            <p:spPr>
              <a:xfrm>
                <a:off x="8318500" y="3975100"/>
                <a:ext cx="19050" cy="63500"/>
              </a:xfrm>
              <a:custGeom>
                <a:avLst/>
                <a:gdLst/>
                <a:ahLst/>
                <a:cxnLst/>
                <a:rect l="l" t="t" r="r" b="b"/>
                <a:pathLst>
                  <a:path w="19050" h="63500">
                    <a:moveTo>
                      <a:pt x="0" y="22225"/>
                    </a:moveTo>
                    <a:lnTo>
                      <a:pt x="0" y="9525"/>
                    </a:lnTo>
                    <a:cubicBezTo>
                      <a:pt x="0" y="4264"/>
                      <a:pt x="4264" y="0"/>
                      <a:pt x="9525" y="0"/>
                    </a:cubicBezTo>
                    <a:cubicBezTo>
                      <a:pt x="14786" y="0"/>
                      <a:pt x="19050" y="4264"/>
                      <a:pt x="19050" y="9525"/>
                    </a:cubicBezTo>
                    <a:lnTo>
                      <a:pt x="19050" y="63500"/>
                    </a:lnTo>
                  </a:path>
                </a:pathLst>
              </a:custGeom>
              <a:noFill/>
              <a:ln w="12700">
                <a:solidFill>
                  <a:srgbClr val="FFFFFF"/>
                </a:solidFill>
              </a:ln>
            </p:spPr>
          </p:sp>
          <p:sp>
            <p:nvSpPr>
              <p:cNvPr id="145" name="Freeform 145"/>
              <p:cNvSpPr/>
              <p:nvPr/>
            </p:nvSpPr>
            <p:spPr>
              <a:xfrm>
                <a:off x="8337550" y="3987800"/>
                <a:ext cx="19050" cy="50800"/>
              </a:xfrm>
              <a:custGeom>
                <a:avLst/>
                <a:gdLst/>
                <a:ahLst/>
                <a:cxnLst/>
                <a:rect l="l" t="t" r="r" b="b"/>
                <a:pathLst>
                  <a:path w="19050" h="50800">
                    <a:moveTo>
                      <a:pt x="0" y="9525"/>
                    </a:moveTo>
                    <a:cubicBezTo>
                      <a:pt x="0" y="4264"/>
                      <a:pt x="4264" y="0"/>
                      <a:pt x="9525" y="0"/>
                    </a:cubicBezTo>
                    <a:cubicBezTo>
                      <a:pt x="14786" y="0"/>
                      <a:pt x="19050" y="4264"/>
                      <a:pt x="19050" y="9525"/>
                    </a:cubicBezTo>
                    <a:lnTo>
                      <a:pt x="19050" y="50800"/>
                    </a:lnTo>
                  </a:path>
                </a:pathLst>
              </a:custGeom>
              <a:noFill/>
              <a:ln w="12700">
                <a:solidFill>
                  <a:srgbClr val="FFFFFF"/>
                </a:solidFill>
              </a:ln>
            </p:spPr>
          </p:sp>
          <p:sp>
            <p:nvSpPr>
              <p:cNvPr id="146" name="Freeform 146"/>
              <p:cNvSpPr/>
              <p:nvPr/>
            </p:nvSpPr>
            <p:spPr>
              <a:xfrm>
                <a:off x="8269705" y="4000500"/>
                <a:ext cx="105945" cy="101602"/>
              </a:xfrm>
              <a:custGeom>
                <a:avLst/>
                <a:gdLst/>
                <a:ahLst/>
                <a:cxnLst/>
                <a:rect l="l" t="t" r="r" b="b"/>
                <a:pathLst>
                  <a:path w="105945" h="101602">
                    <a:moveTo>
                      <a:pt x="86895" y="9525"/>
                    </a:moveTo>
                    <a:cubicBezTo>
                      <a:pt x="86895" y="4264"/>
                      <a:pt x="91160" y="0"/>
                      <a:pt x="96420" y="0"/>
                    </a:cubicBezTo>
                    <a:cubicBezTo>
                      <a:pt x="101681" y="0"/>
                      <a:pt x="105945" y="4264"/>
                      <a:pt x="105945" y="9525"/>
                    </a:cubicBezTo>
                    <a:lnTo>
                      <a:pt x="105945" y="63500"/>
                    </a:lnTo>
                    <a:cubicBezTo>
                      <a:pt x="105945" y="84542"/>
                      <a:pt x="88887" y="101600"/>
                      <a:pt x="67845" y="101600"/>
                    </a:cubicBezTo>
                    <a:lnTo>
                      <a:pt x="55145" y="101600"/>
                    </a:lnTo>
                    <a:lnTo>
                      <a:pt x="56466" y="101600"/>
                    </a:lnTo>
                    <a:cubicBezTo>
                      <a:pt x="43649" y="101602"/>
                      <a:pt x="31689" y="95160"/>
                      <a:pt x="24640" y="84455"/>
                    </a:cubicBezTo>
                    <a:cubicBezTo>
                      <a:pt x="24223" y="83821"/>
                      <a:pt x="23809" y="83186"/>
                      <a:pt x="23395" y="82550"/>
                    </a:cubicBezTo>
                    <a:cubicBezTo>
                      <a:pt x="21414" y="79508"/>
                      <a:pt x="14461" y="67386"/>
                      <a:pt x="2529" y="46177"/>
                    </a:cubicBezTo>
                    <a:cubicBezTo>
                      <a:pt x="0" y="41682"/>
                      <a:pt x="1509" y="35990"/>
                      <a:pt x="5933" y="33338"/>
                    </a:cubicBezTo>
                    <a:cubicBezTo>
                      <a:pt x="10595" y="30540"/>
                      <a:pt x="16564" y="31273"/>
                      <a:pt x="20411" y="35116"/>
                    </a:cubicBezTo>
                    <a:lnTo>
                      <a:pt x="29745" y="44450"/>
                    </a:lnTo>
                  </a:path>
                </a:pathLst>
              </a:custGeom>
              <a:noFill/>
              <a:ln w="12700">
                <a:solidFill>
                  <a:srgbClr val="FFFFFF"/>
                </a:solidFill>
              </a:ln>
            </p:spPr>
          </p:sp>
        </p:grpSp>
        <p:sp>
          <p:nvSpPr>
            <p:cNvPr id="148" name="TextBox 148"/>
            <p:cNvSpPr txBox="1"/>
            <p:nvPr/>
          </p:nvSpPr>
          <p:spPr>
            <a:xfrm>
              <a:off x="8453438" y="4009311"/>
              <a:ext cx="67858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人工接管与回退</a:t>
              </a:r>
            </a:p>
          </p:txBody>
        </p:sp>
        <p:sp>
          <p:nvSpPr>
            <p:cNvPr id="149" name="TextBox 149"/>
            <p:cNvSpPr txBox="1"/>
            <p:nvPr/>
          </p:nvSpPr>
          <p:spPr>
            <a:xfrm>
              <a:off x="8243888" y="4240530"/>
              <a:ext cx="584835" cy="233362"/>
            </a:xfrm>
            <a:prstGeom prst="rect">
              <a:avLst/>
            </a:prstGeom>
            <a:noFill/>
            <a:ln>
              <a:noFill/>
            </a:ln>
          </p:spPr>
          <p:txBody>
            <a:bodyPr wrap="none" lIns="0" tIns="0" rIns="0" bIns="0" anchor="t" anchorCtr="0">
              <a:spAutoFit/>
            </a:bodyPr>
            <a:lstStyle/>
            <a:p>
              <a:pPr algn="l">
                <a:lnSpc>
                  <a:spcPts val="900"/>
                </a:lnSpc>
              </a:pPr>
              <a:r>
                <a:rPr lang="zh-CN" sz="600" dirty="0">
                  <a:solidFill>
                    <a:srgbClr val="DCE9F8"/>
                  </a:solidFill>
                  <a:latin typeface="+mn-lt"/>
                  <a:ea typeface="+mn-ea"/>
                  <a:cs typeface="+mn-cs"/>
                </a:rPr>
                <a:t>人工接管记录与​</a:t>
              </a:r>
              <a:br/>
              <a:r>
                <a:rPr lang="zh-CN" sz="600" dirty="0">
                  <a:solidFill>
                    <a:srgbClr val="DCE9F8"/>
                  </a:solidFill>
                  <a:latin typeface="+mn-lt"/>
                  <a:ea typeface="+mn-ea"/>
                  <a:cs typeface="+mn-cs"/>
                </a:rPr>
                <a:t>流程划分说明</a:t>
              </a:r>
            </a:p>
          </p:txBody>
        </p:sp>
      </p:grpSp>
      <p:grpSp>
        <p:nvGrpSpPr>
          <p:cNvPr id="172" name="gate-6"/>
          <p:cNvGrpSpPr/>
          <p:nvPr/>
        </p:nvGrpSpPr>
        <p:grpSpPr>
          <a:xfrm>
            <a:off x="10001250" y="1562100"/>
            <a:ext cx="1809750" cy="3238500"/>
            <a:chOff x="10001250" y="1562100"/>
            <a:chExt cx="1809750" cy="3238500"/>
          </a:xfrm>
        </p:grpSpPr>
        <p:sp>
          <p:nvSpPr>
            <p:cNvPr id="151" name="Rectangle 151"/>
            <p:cNvSpPr/>
            <p:nvPr/>
          </p:nvSpPr>
          <p:spPr>
            <a:xfrm>
              <a:off x="10001250" y="1562100"/>
              <a:ext cx="1809750" cy="3238500"/>
            </a:xfrm>
            <a:prstGeom prst="roundRect">
              <a:avLst>
                <a:gd name="adj" fmla="val 3158"/>
              </a:avLst>
            </a:prstGeom>
            <a:solidFill>
              <a:srgbClr val="FFFFFF"/>
            </a:solidFill>
            <a:ln w="9525">
              <a:solidFill>
                <a:srgbClr val="C7D9F0"/>
              </a:solidFill>
            </a:ln>
          </p:spPr>
        </p:sp>
        <p:sp>
          <p:nvSpPr>
            <p:cNvPr id="152" name="Ellipse 152"/>
            <p:cNvSpPr/>
            <p:nvPr/>
          </p:nvSpPr>
          <p:spPr>
            <a:xfrm>
              <a:off x="10106025" y="1666875"/>
              <a:ext cx="247650" cy="247650"/>
            </a:xfrm>
            <a:prstGeom prst="ellipse">
              <a:avLst/>
            </a:prstGeom>
            <a:solidFill>
              <a:srgbClr val="9C331E"/>
            </a:solidFill>
            <a:ln>
              <a:noFill/>
            </a:ln>
          </p:spPr>
        </p:sp>
        <p:sp>
          <p:nvSpPr>
            <p:cNvPr id="153" name="TextBox 153"/>
            <p:cNvSpPr txBox="1"/>
            <p:nvPr/>
          </p:nvSpPr>
          <p:spPr>
            <a:xfrm>
              <a:off x="10168931" y="174783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06</a:t>
              </a:r>
            </a:p>
          </p:txBody>
        </p:sp>
        <p:sp>
          <p:nvSpPr>
            <p:cNvPr id="154" name="TextBox 154"/>
            <p:cNvSpPr txBox="1"/>
            <p:nvPr/>
          </p:nvSpPr>
          <p:spPr>
            <a:xfrm>
              <a:off x="10415397" y="1647349"/>
              <a:ext cx="669544"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标准化复制</a:t>
              </a:r>
            </a:p>
          </p:txBody>
        </p:sp>
        <p:sp>
          <p:nvSpPr>
            <p:cNvPr id="155" name="TextBox 155"/>
            <p:cNvSpPr txBox="1"/>
            <p:nvPr/>
          </p:nvSpPr>
          <p:spPr>
            <a:xfrm>
              <a:off x="10415588" y="1826657"/>
              <a:ext cx="784936" cy="126206"/>
            </a:xfrm>
            <a:prstGeom prst="rect">
              <a:avLst/>
            </a:prstGeom>
            <a:noFill/>
            <a:ln>
              <a:noFill/>
            </a:ln>
          </p:spPr>
          <p:txBody>
            <a:bodyPr wrap="none" lIns="0" tIns="0" rIns="0" bIns="0" anchor="t" anchorCtr="0">
              <a:spAutoFit/>
            </a:bodyPr>
            <a:lstStyle/>
            <a:p>
              <a:pPr algn="l"/>
              <a:r>
                <a:rPr lang="zh-CN" sz="640" dirty="0">
                  <a:solidFill>
                    <a:srgbClr val="9B807A"/>
                  </a:solidFill>
                  <a:latin typeface="+mn-lt"/>
                  <a:ea typeface="+mn-ea"/>
                  <a:cs typeface="+mn-cs"/>
                </a:rPr>
                <a:t>沉淀标准，快速推广</a:t>
              </a:r>
            </a:p>
          </p:txBody>
        </p:sp>
        <p:sp>
          <p:nvSpPr>
            <p:cNvPr id="156" name="Ellipse 156"/>
            <p:cNvSpPr/>
            <p:nvPr/>
          </p:nvSpPr>
          <p:spPr>
            <a:xfrm>
              <a:off x="10677525" y="2057400"/>
              <a:ext cx="457200" cy="457200"/>
            </a:xfrm>
            <a:prstGeom prst="ellipse">
              <a:avLst/>
            </a:prstGeom>
            <a:solidFill>
              <a:srgbClr val="EFF5FC"/>
            </a:solidFill>
            <a:ln w="9525">
              <a:solidFill>
                <a:srgbClr val="ECB3A8"/>
              </a:solidFill>
            </a:ln>
          </p:spPr>
        </p:sp>
        <p:grpSp>
          <p:nvGrpSpPr>
            <p:cNvPr id="160" name="Group 160"/>
            <p:cNvGrpSpPr/>
            <p:nvPr/>
          </p:nvGrpSpPr>
          <p:grpSpPr>
            <a:xfrm>
              <a:off x="10833894" y="2193131"/>
              <a:ext cx="144462" cy="185737"/>
              <a:chOff x="10833894" y="2193131"/>
              <a:chExt cx="144462" cy="185737"/>
            </a:xfrm>
          </p:grpSpPr>
          <p:sp>
            <p:nvSpPr>
              <p:cNvPr id="157" name="Freeform 157"/>
              <p:cNvSpPr/>
              <p:nvPr/>
            </p:nvSpPr>
            <p:spPr>
              <a:xfrm>
                <a:off x="10926762" y="2193131"/>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C331E"/>
                </a:solidFill>
              </a:ln>
            </p:spPr>
          </p:sp>
          <p:sp>
            <p:nvSpPr>
              <p:cNvPr id="158" name="Freeform 158"/>
              <p:cNvSpPr/>
              <p:nvPr/>
            </p:nvSpPr>
            <p:spPr>
              <a:xfrm>
                <a:off x="10833894" y="2193131"/>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9C331E"/>
                </a:solidFill>
              </a:ln>
            </p:spPr>
          </p:sp>
          <p:sp>
            <p:nvSpPr>
              <p:cNvPr id="159" name="Freeform 159"/>
              <p:cNvSpPr/>
              <p:nvPr/>
            </p:nvSpPr>
            <p:spPr>
              <a:xfrm>
                <a:off x="10875168" y="2296318"/>
                <a:ext cx="61912" cy="41275"/>
              </a:xfrm>
              <a:custGeom>
                <a:avLst/>
                <a:gdLst/>
                <a:ahLst/>
                <a:cxnLst/>
                <a:rect l="l" t="t" r="r" b="b"/>
                <a:pathLst>
                  <a:path w="61912" h="41275">
                    <a:moveTo>
                      <a:pt x="0" y="20637"/>
                    </a:moveTo>
                    <a:lnTo>
                      <a:pt x="20637" y="41275"/>
                    </a:lnTo>
                    <a:lnTo>
                      <a:pt x="61912" y="0"/>
                    </a:lnTo>
                  </a:path>
                </a:pathLst>
              </a:custGeom>
              <a:noFill/>
              <a:ln w="20637">
                <a:solidFill>
                  <a:srgbClr val="9C331E"/>
                </a:solidFill>
              </a:ln>
            </p:spPr>
          </p:sp>
        </p:grpSp>
        <p:sp>
          <p:nvSpPr>
            <p:cNvPr id="161" name="Rectangle 161"/>
            <p:cNvSpPr/>
            <p:nvPr/>
          </p:nvSpPr>
          <p:spPr>
            <a:xfrm>
              <a:off x="10096500" y="2628900"/>
              <a:ext cx="1619250" cy="1028700"/>
            </a:xfrm>
            <a:prstGeom prst="roundRect">
              <a:avLst>
                <a:gd name="adj" fmla="val 3704"/>
              </a:avLst>
            </a:prstGeom>
            <a:solidFill>
              <a:srgbClr val="EFF5FC"/>
            </a:solidFill>
            <a:ln>
              <a:noFill/>
            </a:ln>
          </p:spPr>
        </p:sp>
        <p:sp>
          <p:nvSpPr>
            <p:cNvPr id="162" name="TextBox 162"/>
            <p:cNvSpPr txBox="1"/>
            <p:nvPr/>
          </p:nvSpPr>
          <p:spPr>
            <a:xfrm>
              <a:off x="10167938" y="2712482"/>
              <a:ext cx="612623" cy="126206"/>
            </a:xfrm>
            <a:prstGeom prst="rect">
              <a:avLst/>
            </a:prstGeom>
            <a:noFill/>
            <a:ln>
              <a:noFill/>
            </a:ln>
          </p:spPr>
          <p:txBody>
            <a:bodyPr wrap="none" lIns="0" tIns="0" rIns="0" bIns="0" anchor="t" anchorCtr="0">
              <a:spAutoFit/>
            </a:bodyPr>
            <a:lstStyle/>
            <a:p>
              <a:pPr algn="l"/>
              <a:r>
                <a:rPr lang="zh-CN" sz="640" b="1" dirty="0">
                  <a:solidFill>
                    <a:srgbClr val="9C331E"/>
                  </a:solidFill>
                  <a:latin typeface="+mn-lt"/>
                  <a:ea typeface="+mn-ea"/>
                  <a:cs typeface="+mn-cs"/>
                </a:rPr>
                <a:t>必须回答的问题</a:t>
              </a:r>
            </a:p>
          </p:txBody>
        </p:sp>
        <p:sp>
          <p:nvSpPr>
            <p:cNvPr id="163" name="TextBox 163"/>
            <p:cNvSpPr txBox="1"/>
            <p:nvPr/>
          </p:nvSpPr>
          <p:spPr>
            <a:xfrm>
              <a:off x="10167938" y="2864882"/>
              <a:ext cx="1192149"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73F3A"/>
                  </a:solidFill>
                  <a:latin typeface="+mn-lt"/>
                  <a:ea typeface="+mn-ea"/>
                  <a:cs typeface="+mn-cs"/>
                </a:rPr>
                <a:t>是否形成标准化的接口、流程与​</a:t>
              </a:r>
              <a:br/>
              <a:r>
                <a:rPr lang="zh-CN" sz="640" dirty="0">
                  <a:solidFill>
                    <a:srgbClr val="573F3A"/>
                  </a:solidFill>
                  <a:latin typeface="+mn-lt"/>
                  <a:ea typeface="+mn-ea"/>
                  <a:cs typeface="+mn-cs"/>
                </a:rPr>
                <a:t>实施手册，能够在不同场景中复​</a:t>
              </a:r>
              <a:br/>
              <a:r>
                <a:rPr lang="zh-CN" sz="640" dirty="0">
                  <a:solidFill>
                    <a:srgbClr val="573F3A"/>
                  </a:solidFill>
                  <a:latin typeface="+mn-lt"/>
                  <a:ea typeface="+mn-ea"/>
                  <a:cs typeface="+mn-cs"/>
                </a:rPr>
                <a:t>制并保持一致性？</a:t>
              </a:r>
            </a:p>
          </p:txBody>
        </p:sp>
        <p:sp>
          <p:nvSpPr>
            <p:cNvPr id="164" name="Rectangle 164"/>
            <p:cNvSpPr/>
            <p:nvPr/>
          </p:nvSpPr>
          <p:spPr>
            <a:xfrm>
              <a:off x="10096500" y="3733800"/>
              <a:ext cx="1619250" cy="971550"/>
            </a:xfrm>
            <a:prstGeom prst="roundRect">
              <a:avLst>
                <a:gd name="adj" fmla="val 3922"/>
              </a:avLst>
            </a:prstGeom>
            <a:solidFill>
              <a:srgbClr val="632012"/>
            </a:solidFill>
            <a:ln>
              <a:noFill/>
            </a:ln>
          </p:spPr>
        </p:sp>
        <p:sp>
          <p:nvSpPr>
            <p:cNvPr id="165" name="TextBox 165"/>
            <p:cNvSpPr txBox="1"/>
            <p:nvPr/>
          </p:nvSpPr>
          <p:spPr>
            <a:xfrm>
              <a:off x="10167938" y="3817382"/>
              <a:ext cx="354152" cy="126206"/>
            </a:xfrm>
            <a:prstGeom prst="rect">
              <a:avLst/>
            </a:prstGeom>
            <a:noFill/>
            <a:ln>
              <a:noFill/>
            </a:ln>
          </p:spPr>
          <p:txBody>
            <a:bodyPr wrap="none" lIns="0" tIns="0" rIns="0" bIns="0" anchor="t" anchorCtr="0">
              <a:spAutoFit/>
            </a:bodyPr>
            <a:lstStyle/>
            <a:p>
              <a:pPr algn="l"/>
              <a:r>
                <a:rPr lang="zh-CN" sz="640" b="1" dirty="0">
                  <a:solidFill>
                    <a:srgbClr val="FF957F"/>
                  </a:solidFill>
                  <a:latin typeface="+mn-lt"/>
                  <a:ea typeface="+mn-ea"/>
                  <a:cs typeface="+mn-cs"/>
                </a:rPr>
                <a:t>通过证据</a:t>
              </a:r>
            </a:p>
          </p:txBody>
        </p:sp>
        <p:grpSp>
          <p:nvGrpSpPr>
            <p:cNvPr id="169" name="Group 169"/>
            <p:cNvGrpSpPr/>
            <p:nvPr/>
          </p:nvGrpSpPr>
          <p:grpSpPr>
            <a:xfrm>
              <a:off x="10204450" y="3987800"/>
              <a:ext cx="88900" cy="101600"/>
              <a:chOff x="10204450" y="3987800"/>
              <a:chExt cx="88900" cy="101600"/>
            </a:xfrm>
          </p:grpSpPr>
          <p:sp>
            <p:nvSpPr>
              <p:cNvPr id="166" name="Freeform 166"/>
              <p:cNvSpPr/>
              <p:nvPr/>
            </p:nvSpPr>
            <p:spPr>
              <a:xfrm>
                <a:off x="10204450" y="3987800"/>
                <a:ext cx="88900" cy="101600"/>
              </a:xfrm>
              <a:custGeom>
                <a:avLst/>
                <a:gdLst/>
                <a:ahLst/>
                <a:cxnLst/>
                <a:rect l="l" t="t" r="r" b="b"/>
                <a:pathLst>
                  <a:path w="88900" h="101600">
                    <a:moveTo>
                      <a:pt x="88900" y="0"/>
                    </a:moveTo>
                    <a:lnTo>
                      <a:pt x="88900" y="101600"/>
                    </a:lnTo>
                    <a:lnTo>
                      <a:pt x="12700" y="101600"/>
                    </a:lnTo>
                    <a:cubicBezTo>
                      <a:pt x="5686" y="101600"/>
                      <a:pt x="0" y="95914"/>
                      <a:pt x="0" y="88900"/>
                    </a:cubicBezTo>
                    <a:lnTo>
                      <a:pt x="0" y="12700"/>
                    </a:lnTo>
                    <a:cubicBezTo>
                      <a:pt x="0" y="5686"/>
                      <a:pt x="5686" y="0"/>
                      <a:pt x="12700" y="0"/>
                    </a:cubicBezTo>
                    <a:lnTo>
                      <a:pt x="88900" y="0"/>
                    </a:lnTo>
                  </a:path>
                </a:pathLst>
              </a:custGeom>
              <a:noFill/>
              <a:ln w="12700">
                <a:solidFill>
                  <a:srgbClr val="FFFFFF"/>
                </a:solidFill>
              </a:ln>
            </p:spPr>
          </p:sp>
          <p:sp>
            <p:nvSpPr>
              <p:cNvPr id="167" name="Freeform 167"/>
              <p:cNvSpPr/>
              <p:nvPr/>
            </p:nvSpPr>
            <p:spPr>
              <a:xfrm>
                <a:off x="10204450" y="4064000"/>
                <a:ext cx="88900" cy="12700"/>
              </a:xfrm>
              <a:custGeom>
                <a:avLst/>
                <a:gdLst/>
                <a:ahLst/>
                <a:cxnLst/>
                <a:rect l="l" t="t" r="r" b="b"/>
                <a:pathLst>
                  <a:path w="88900" h="12700">
                    <a:moveTo>
                      <a:pt x="88900" y="0"/>
                    </a:moveTo>
                    <a:lnTo>
                      <a:pt x="12700" y="0"/>
                    </a:lnTo>
                    <a:cubicBezTo>
                      <a:pt x="5686" y="0"/>
                      <a:pt x="0" y="5686"/>
                      <a:pt x="0" y="12700"/>
                    </a:cubicBezTo>
                  </a:path>
                </a:pathLst>
              </a:custGeom>
              <a:noFill/>
              <a:ln w="12700">
                <a:solidFill>
                  <a:srgbClr val="FFFFFF"/>
                </a:solidFill>
              </a:ln>
            </p:spPr>
          </p:sp>
          <p:sp>
            <p:nvSpPr>
              <p:cNvPr id="168" name="Freeform 168"/>
              <p:cNvSpPr/>
              <p:nvPr/>
            </p:nvSpPr>
            <p:spPr>
              <a:xfrm>
                <a:off x="10229850" y="4013200"/>
                <a:ext cx="38100" cy="9525"/>
              </a:xfrm>
              <a:custGeom>
                <a:avLst/>
                <a:gdLst/>
                <a:ahLst/>
                <a:cxnLst/>
                <a:rect l="l" t="t" r="r" b="b"/>
                <a:pathLst>
                  <a:path w="38100" h="9525">
                    <a:moveTo>
                      <a:pt x="0" y="0"/>
                    </a:moveTo>
                    <a:lnTo>
                      <a:pt x="38100" y="0"/>
                    </a:lnTo>
                  </a:path>
                </a:pathLst>
              </a:custGeom>
              <a:noFill/>
              <a:ln w="12700">
                <a:solidFill>
                  <a:srgbClr val="FFFFFF"/>
                </a:solidFill>
              </a:ln>
            </p:spPr>
          </p:sp>
        </p:grpSp>
        <p:sp>
          <p:nvSpPr>
            <p:cNvPr id="170" name="TextBox 170"/>
            <p:cNvSpPr txBox="1"/>
            <p:nvPr/>
          </p:nvSpPr>
          <p:spPr>
            <a:xfrm>
              <a:off x="10377488" y="4009311"/>
              <a:ext cx="869747"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标准接口与复制手册</a:t>
              </a:r>
            </a:p>
          </p:txBody>
        </p:sp>
        <p:sp>
          <p:nvSpPr>
            <p:cNvPr id="171" name="TextBox 171"/>
            <p:cNvSpPr txBox="1"/>
            <p:nvPr/>
          </p:nvSpPr>
          <p:spPr>
            <a:xfrm>
              <a:off x="10167938" y="4240530"/>
              <a:ext cx="889635" cy="233362"/>
            </a:xfrm>
            <a:prstGeom prst="rect">
              <a:avLst/>
            </a:prstGeom>
            <a:noFill/>
            <a:ln>
              <a:noFill/>
            </a:ln>
          </p:spPr>
          <p:txBody>
            <a:bodyPr wrap="none" lIns="0" tIns="0" rIns="0" bIns="0" anchor="t" anchorCtr="0">
              <a:spAutoFit/>
            </a:bodyPr>
            <a:lstStyle/>
            <a:p>
              <a:pPr algn="l">
                <a:lnSpc>
                  <a:spcPts val="900"/>
                </a:lnSpc>
              </a:pPr>
              <a:r>
                <a:rPr lang="zh-CN" sz="600" dirty="0">
                  <a:solidFill>
                    <a:srgbClr val="DCE9F8"/>
                  </a:solidFill>
                  <a:latin typeface="+mn-lt"/>
                  <a:ea typeface="+mn-ea"/>
                  <a:cs typeface="+mn-cs"/>
                </a:rPr>
                <a:t>标准接口文档、实施指南​</a:t>
              </a:r>
              <a:br/>
              <a:r>
                <a:rPr lang="zh-CN" sz="600" dirty="0">
                  <a:solidFill>
                    <a:srgbClr val="DCE9F8"/>
                  </a:solidFill>
                  <a:latin typeface="+mn-lt"/>
                  <a:ea typeface="+mn-ea"/>
                  <a:cs typeface="+mn-cs"/>
                </a:rPr>
                <a:t>与脱敏案例验证材料</a:t>
              </a:r>
            </a:p>
          </p:txBody>
        </p:sp>
      </p:grpSp>
      <p:grpSp>
        <p:nvGrpSpPr>
          <p:cNvPr id="181" name="warning"/>
          <p:cNvGrpSpPr/>
          <p:nvPr/>
        </p:nvGrpSpPr>
        <p:grpSpPr>
          <a:xfrm>
            <a:off x="381000" y="4914900"/>
            <a:ext cx="11430000" cy="381000"/>
            <a:chOff x="381000" y="4914900"/>
            <a:chExt cx="11430000" cy="381000"/>
          </a:xfrm>
        </p:grpSpPr>
        <p:sp>
          <p:nvSpPr>
            <p:cNvPr id="173" name="Rectangle 173"/>
            <p:cNvSpPr/>
            <p:nvPr/>
          </p:nvSpPr>
          <p:spPr>
            <a:xfrm>
              <a:off x="381000" y="4914900"/>
              <a:ext cx="11430000" cy="381000"/>
            </a:xfrm>
            <a:prstGeom prst="roundRect">
              <a:avLst>
                <a:gd name="adj" fmla="val 15000"/>
              </a:avLst>
            </a:prstGeom>
            <a:solidFill>
              <a:srgbClr val="FBE9E7"/>
            </a:solidFill>
            <a:ln w="9525">
              <a:solidFill>
                <a:srgbClr val="C2412B"/>
              </a:solidFill>
            </a:ln>
          </p:spPr>
        </p:sp>
        <p:grpSp>
          <p:nvGrpSpPr>
            <p:cNvPr id="177" name="Group 177"/>
            <p:cNvGrpSpPr/>
            <p:nvPr/>
          </p:nvGrpSpPr>
          <p:grpSpPr>
            <a:xfrm>
              <a:off x="548599" y="5031325"/>
              <a:ext cx="160095" cy="137543"/>
              <a:chOff x="548599" y="5031325"/>
              <a:chExt cx="160095" cy="137543"/>
            </a:xfrm>
          </p:grpSpPr>
          <p:sp>
            <p:nvSpPr>
              <p:cNvPr id="174" name="Freeform 174"/>
              <p:cNvSpPr/>
              <p:nvPr/>
            </p:nvSpPr>
            <p:spPr>
              <a:xfrm>
                <a:off x="628650" y="5081587"/>
                <a:ext cx="9525" cy="31750"/>
              </a:xfrm>
              <a:custGeom>
                <a:avLst/>
                <a:gdLst/>
                <a:ahLst/>
                <a:cxnLst/>
                <a:rect l="l" t="t" r="r" b="b"/>
                <a:pathLst>
                  <a:path w="9525" h="31750">
                    <a:moveTo>
                      <a:pt x="0" y="0"/>
                    </a:moveTo>
                    <a:lnTo>
                      <a:pt x="0" y="31750"/>
                    </a:lnTo>
                  </a:path>
                </a:pathLst>
              </a:custGeom>
              <a:noFill/>
              <a:ln w="15875">
                <a:solidFill>
                  <a:srgbClr val="C2412B"/>
                </a:solidFill>
              </a:ln>
            </p:spPr>
          </p:sp>
          <p:sp>
            <p:nvSpPr>
              <p:cNvPr id="175" name="Freeform 175"/>
              <p:cNvSpPr/>
              <p:nvPr/>
            </p:nvSpPr>
            <p:spPr>
              <a:xfrm>
                <a:off x="548599" y="503132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C2412B"/>
                </a:solidFill>
              </a:ln>
            </p:spPr>
          </p:sp>
          <p:sp>
            <p:nvSpPr>
              <p:cNvPr id="176" name="Freeform 176"/>
              <p:cNvSpPr/>
              <p:nvPr/>
            </p:nvSpPr>
            <p:spPr>
              <a:xfrm>
                <a:off x="628650" y="5137150"/>
                <a:ext cx="9525" cy="9525"/>
              </a:xfrm>
              <a:custGeom>
                <a:avLst/>
                <a:gdLst/>
                <a:ahLst/>
                <a:cxnLst/>
                <a:rect l="l" t="t" r="r" b="b"/>
                <a:pathLst>
                  <a:path w="9525" h="9525">
                    <a:moveTo>
                      <a:pt x="0" y="0"/>
                    </a:moveTo>
                    <a:lnTo>
                      <a:pt x="79" y="0"/>
                    </a:lnTo>
                  </a:path>
                </a:pathLst>
              </a:custGeom>
              <a:noFill/>
              <a:ln w="15875">
                <a:solidFill>
                  <a:srgbClr val="C2412B"/>
                </a:solidFill>
              </a:ln>
            </p:spPr>
          </p:sp>
        </p:grpSp>
        <p:sp>
          <p:nvSpPr>
            <p:cNvPr id="178" name="TextBox 178"/>
            <p:cNvSpPr txBox="1"/>
            <p:nvPr/>
          </p:nvSpPr>
          <p:spPr>
            <a:xfrm>
              <a:off x="814197" y="5057299"/>
              <a:ext cx="3044241" cy="190690"/>
            </a:xfrm>
            <a:prstGeom prst="rect">
              <a:avLst/>
            </a:prstGeom>
            <a:noFill/>
            <a:ln>
              <a:noFill/>
            </a:ln>
          </p:spPr>
          <p:txBody>
            <a:bodyPr wrap="none" lIns="0" tIns="0" rIns="0" bIns="0" anchor="t" anchorCtr="0">
              <a:spAutoFit/>
            </a:bodyPr>
            <a:lstStyle/>
            <a:p>
              <a:pPr algn="l"/>
              <a:r>
                <a:rPr lang="zh-CN" sz="980" b="1" dirty="0">
                  <a:solidFill>
                    <a:srgbClr val="C2412B"/>
                  </a:solidFill>
                  <a:latin typeface="+mn-lt"/>
                  <a:ea typeface="+mn-ea"/>
                  <a:cs typeface="+mn-cs"/>
                </a:rPr>
                <a:t>任何关键闸门未通过，不宜用覆盖数量替代成熟度。</a:t>
              </a:r>
            </a:p>
          </p:txBody>
        </p:sp>
        <p:sp>
          <p:nvSpPr>
            <p:cNvPr id="179" name="Line 179"/>
            <p:cNvSpPr/>
            <p:nvPr/>
          </p:nvSpPr>
          <p:spPr>
            <a:xfrm>
              <a:off x="4248150" y="4991100"/>
              <a:ext cx="9525" cy="228600"/>
            </a:xfrm>
            <a:custGeom>
              <a:avLst/>
              <a:gdLst/>
              <a:ahLst/>
              <a:cxnLst/>
              <a:rect l="l" t="t" r="r" b="b"/>
              <a:pathLst>
                <a:path w="9525" h="228600">
                  <a:moveTo>
                    <a:pt x="0" y="0"/>
                  </a:moveTo>
                  <a:lnTo>
                    <a:pt x="0" y="228600"/>
                  </a:lnTo>
                </a:path>
              </a:pathLst>
            </a:custGeom>
            <a:noFill/>
            <a:ln w="9525">
              <a:solidFill>
                <a:srgbClr val="C2412B"/>
              </a:solidFill>
            </a:ln>
          </p:spPr>
        </p:sp>
        <p:sp>
          <p:nvSpPr>
            <p:cNvPr id="180" name="TextBox 180"/>
            <p:cNvSpPr txBox="1"/>
            <p:nvPr/>
          </p:nvSpPr>
          <p:spPr>
            <a:xfrm>
              <a:off x="4395788" y="5068014"/>
              <a:ext cx="1923821" cy="154781"/>
            </a:xfrm>
            <a:prstGeom prst="rect">
              <a:avLst/>
            </a:prstGeom>
            <a:noFill/>
            <a:ln>
              <a:noFill/>
            </a:ln>
          </p:spPr>
          <p:txBody>
            <a:bodyPr wrap="none" lIns="0" tIns="0" rIns="0" bIns="0" anchor="t" anchorCtr="0">
              <a:spAutoFit/>
            </a:bodyPr>
            <a:lstStyle/>
            <a:p>
              <a:pPr algn="l"/>
              <a:r>
                <a:rPr lang="zh-CN" sz="790" dirty="0">
                  <a:solidFill>
                    <a:srgbClr val="C2412B"/>
                  </a:solidFill>
                  <a:latin typeface="+mn-lt"/>
                  <a:ea typeface="+mn-ea"/>
                  <a:cs typeface="+mn-cs"/>
                </a:rPr>
                <a:t>规模不是终点，成熟与可持续才是目标。</a:t>
              </a:r>
            </a:p>
          </p:txBody>
        </p:sp>
      </p:grpSp>
      <p:grpSp>
        <p:nvGrpSpPr>
          <p:cNvPr id="193" name="scene-band"/>
          <p:cNvGrpSpPr/>
          <p:nvPr/>
        </p:nvGrpSpPr>
        <p:grpSpPr>
          <a:xfrm>
            <a:off x="381000" y="5410200"/>
            <a:ext cx="11430000" cy="952500"/>
            <a:chOff x="381000" y="5410200"/>
            <a:chExt cx="11430000" cy="952500"/>
          </a:xfrm>
        </p:grpSpPr>
        <p:sp>
          <p:nvSpPr>
            <p:cNvPr id="182" name="Rectangle 182"/>
            <p:cNvSpPr/>
            <p:nvPr/>
          </p:nvSpPr>
          <p:spPr>
            <a:xfrm>
              <a:off x="381000" y="5410200"/>
              <a:ext cx="11430000" cy="952500"/>
            </a:xfrm>
            <a:prstGeom prst="roundRect">
              <a:avLst>
                <a:gd name="adj" fmla="val 6000"/>
              </a:avLst>
            </a:prstGeom>
            <a:gradFill>
              <a:gsLst>
                <a:gs pos="0">
                  <a:srgbClr val="FFFFFF"/>
                </a:gs>
                <a:gs pos="100000">
                  <a:srgbClr val="DCE9F8"/>
                </a:gs>
              </a:gsLst>
              <a:lin ang="5400000" scaled="1"/>
            </a:gradFill>
            <a:ln>
              <a:noFill/>
            </a:ln>
          </p:spPr>
        </p:sp>
        <p:sp>
          <p:nvSpPr>
            <p:cNvPr id="183" name="Freeform 183"/>
            <p:cNvSpPr/>
            <p:nvPr/>
          </p:nvSpPr>
          <p:spPr>
            <a:xfrm>
              <a:off x="381000" y="5676900"/>
              <a:ext cx="11430000" cy="685800"/>
            </a:xfrm>
            <a:custGeom>
              <a:avLst/>
              <a:gdLst/>
              <a:ahLst/>
              <a:cxnLst/>
              <a:rect l="l" t="t" r="r" b="b"/>
              <a:pathLst>
                <a:path w="11430000" h="685800">
                  <a:moveTo>
                    <a:pt x="0" y="685800"/>
                  </a:moveTo>
                  <a:lnTo>
                    <a:pt x="0" y="419100"/>
                  </a:lnTo>
                  <a:lnTo>
                    <a:pt x="285750" y="419100"/>
                  </a:lnTo>
                  <a:lnTo>
                    <a:pt x="285750" y="228600"/>
                  </a:lnTo>
                  <a:lnTo>
                    <a:pt x="476250" y="228600"/>
                  </a:lnTo>
                  <a:lnTo>
                    <a:pt x="476250" y="419100"/>
                  </a:lnTo>
                  <a:lnTo>
                    <a:pt x="762000" y="419100"/>
                  </a:lnTo>
                  <a:lnTo>
                    <a:pt x="762000" y="114300"/>
                  </a:lnTo>
                  <a:lnTo>
                    <a:pt x="952500" y="114300"/>
                  </a:lnTo>
                  <a:lnTo>
                    <a:pt x="952500" y="419100"/>
                  </a:lnTo>
                  <a:lnTo>
                    <a:pt x="1238250" y="419100"/>
                  </a:lnTo>
                  <a:lnTo>
                    <a:pt x="1238250" y="304800"/>
                  </a:lnTo>
                  <a:lnTo>
                    <a:pt x="1524000" y="304800"/>
                  </a:lnTo>
                  <a:lnTo>
                    <a:pt x="1524000" y="419100"/>
                  </a:lnTo>
                  <a:lnTo>
                    <a:pt x="1905000" y="419100"/>
                  </a:lnTo>
                  <a:lnTo>
                    <a:pt x="1905000" y="38100"/>
                  </a:lnTo>
                  <a:lnTo>
                    <a:pt x="2114550" y="38100"/>
                  </a:lnTo>
                  <a:lnTo>
                    <a:pt x="2114550" y="419100"/>
                  </a:lnTo>
                  <a:lnTo>
                    <a:pt x="2476500" y="419100"/>
                  </a:lnTo>
                  <a:lnTo>
                    <a:pt x="2476500" y="266700"/>
                  </a:lnTo>
                  <a:lnTo>
                    <a:pt x="2762250" y="266700"/>
                  </a:lnTo>
                  <a:lnTo>
                    <a:pt x="2762250" y="419100"/>
                  </a:lnTo>
                  <a:lnTo>
                    <a:pt x="3238500" y="419100"/>
                  </a:lnTo>
                  <a:lnTo>
                    <a:pt x="3238500" y="152400"/>
                  </a:lnTo>
                  <a:lnTo>
                    <a:pt x="3429000" y="152400"/>
                  </a:lnTo>
                  <a:lnTo>
                    <a:pt x="3429000" y="419100"/>
                  </a:lnTo>
                  <a:lnTo>
                    <a:pt x="3810000" y="419100"/>
                  </a:lnTo>
                  <a:lnTo>
                    <a:pt x="3810000" y="342900"/>
                  </a:lnTo>
                  <a:lnTo>
                    <a:pt x="4095750" y="342900"/>
                  </a:lnTo>
                  <a:lnTo>
                    <a:pt x="4095750" y="419100"/>
                  </a:lnTo>
                  <a:lnTo>
                    <a:pt x="4572000" y="419100"/>
                  </a:lnTo>
                  <a:lnTo>
                    <a:pt x="4572000" y="76200"/>
                  </a:lnTo>
                  <a:lnTo>
                    <a:pt x="4800600" y="76200"/>
                  </a:lnTo>
                  <a:lnTo>
                    <a:pt x="4800600" y="419100"/>
                  </a:lnTo>
                  <a:lnTo>
                    <a:pt x="5238750" y="419100"/>
                  </a:lnTo>
                  <a:lnTo>
                    <a:pt x="5238750" y="285750"/>
                  </a:lnTo>
                  <a:lnTo>
                    <a:pt x="5524500" y="285750"/>
                  </a:lnTo>
                  <a:lnTo>
                    <a:pt x="5524500" y="419100"/>
                  </a:lnTo>
                  <a:lnTo>
                    <a:pt x="5905500" y="419100"/>
                  </a:lnTo>
                  <a:lnTo>
                    <a:pt x="5905500" y="0"/>
                  </a:lnTo>
                  <a:lnTo>
                    <a:pt x="6134100" y="0"/>
                  </a:lnTo>
                  <a:lnTo>
                    <a:pt x="6134100" y="419100"/>
                  </a:lnTo>
                  <a:lnTo>
                    <a:pt x="6572250" y="419100"/>
                  </a:lnTo>
                  <a:lnTo>
                    <a:pt x="6572250" y="228600"/>
                  </a:lnTo>
                  <a:lnTo>
                    <a:pt x="6858000" y="228600"/>
                  </a:lnTo>
                  <a:lnTo>
                    <a:pt x="6858000" y="419100"/>
                  </a:lnTo>
                  <a:lnTo>
                    <a:pt x="7239000" y="419100"/>
                  </a:lnTo>
                  <a:lnTo>
                    <a:pt x="7239000" y="323850"/>
                  </a:lnTo>
                  <a:lnTo>
                    <a:pt x="7620000" y="323850"/>
                  </a:lnTo>
                  <a:lnTo>
                    <a:pt x="7620000" y="419100"/>
                  </a:lnTo>
                  <a:lnTo>
                    <a:pt x="8001000" y="419100"/>
                  </a:lnTo>
                  <a:lnTo>
                    <a:pt x="8001000" y="57150"/>
                  </a:lnTo>
                  <a:lnTo>
                    <a:pt x="8229600" y="57150"/>
                  </a:lnTo>
                  <a:lnTo>
                    <a:pt x="8229600" y="419100"/>
                  </a:lnTo>
                  <a:lnTo>
                    <a:pt x="8667750" y="419100"/>
                  </a:lnTo>
                  <a:lnTo>
                    <a:pt x="8667750" y="247650"/>
                  </a:lnTo>
                  <a:lnTo>
                    <a:pt x="8953500" y="247650"/>
                  </a:lnTo>
                  <a:lnTo>
                    <a:pt x="8953500" y="419100"/>
                  </a:lnTo>
                  <a:lnTo>
                    <a:pt x="9429750" y="419100"/>
                  </a:lnTo>
                  <a:lnTo>
                    <a:pt x="9429750" y="152400"/>
                  </a:lnTo>
                  <a:lnTo>
                    <a:pt x="9658350" y="152400"/>
                  </a:lnTo>
                  <a:lnTo>
                    <a:pt x="9658350" y="419100"/>
                  </a:lnTo>
                  <a:lnTo>
                    <a:pt x="10096500" y="419100"/>
                  </a:lnTo>
                  <a:lnTo>
                    <a:pt x="10096500" y="361950"/>
                  </a:lnTo>
                  <a:lnTo>
                    <a:pt x="10382250" y="361950"/>
                  </a:lnTo>
                  <a:lnTo>
                    <a:pt x="10382250" y="419100"/>
                  </a:lnTo>
                  <a:lnTo>
                    <a:pt x="10763250" y="419100"/>
                  </a:lnTo>
                  <a:lnTo>
                    <a:pt x="10763250" y="95250"/>
                  </a:lnTo>
                  <a:lnTo>
                    <a:pt x="10991850" y="95250"/>
                  </a:lnTo>
                  <a:lnTo>
                    <a:pt x="10991850" y="419100"/>
                  </a:lnTo>
                  <a:lnTo>
                    <a:pt x="11430000" y="419100"/>
                  </a:lnTo>
                  <a:lnTo>
                    <a:pt x="11430000" y="685800"/>
                  </a:lnTo>
                  <a:close/>
                </a:path>
              </a:pathLst>
            </a:custGeom>
            <a:solidFill>
              <a:srgbClr val="ECB3A8"/>
            </a:solidFill>
            <a:ln>
              <a:noFill/>
            </a:ln>
          </p:spPr>
        </p:sp>
        <p:sp>
          <p:nvSpPr>
            <p:cNvPr id="184" name="Freeform 184"/>
            <p:cNvSpPr/>
            <p:nvPr/>
          </p:nvSpPr>
          <p:spPr>
            <a:xfrm>
              <a:off x="381000" y="6210300"/>
              <a:ext cx="11430000" cy="152400"/>
            </a:xfrm>
            <a:custGeom>
              <a:avLst/>
              <a:gdLst/>
              <a:ahLst/>
              <a:cxnLst/>
              <a:rect l="l" t="t" r="r" b="b"/>
              <a:pathLst>
                <a:path w="11430000" h="152400">
                  <a:moveTo>
                    <a:pt x="0" y="152400"/>
                  </a:moveTo>
                  <a:lnTo>
                    <a:pt x="0" y="0"/>
                  </a:lnTo>
                  <a:lnTo>
                    <a:pt x="11430000" y="0"/>
                  </a:lnTo>
                  <a:lnTo>
                    <a:pt x="11430000" y="152400"/>
                  </a:lnTo>
                  <a:close/>
                </a:path>
              </a:pathLst>
            </a:custGeom>
            <a:solidFill>
              <a:srgbClr val="DE715B">
                <a:alpha val="50000"/>
              </a:srgbClr>
            </a:solidFill>
            <a:ln>
              <a:noFill/>
            </a:ln>
          </p:spPr>
        </p:sp>
        <p:sp>
          <p:nvSpPr>
            <p:cNvPr id="185" name="Freeform 185"/>
            <p:cNvSpPr/>
            <p:nvPr/>
          </p:nvSpPr>
          <p:spPr>
            <a:xfrm>
              <a:off x="571500" y="6019800"/>
              <a:ext cx="11144250" cy="304800"/>
            </a:xfrm>
            <a:custGeom>
              <a:avLst/>
              <a:gdLst/>
              <a:ahLst/>
              <a:cxnLst/>
              <a:rect l="l" t="t" r="r" b="b"/>
              <a:pathLst>
                <a:path w="11144250" h="304800">
                  <a:moveTo>
                    <a:pt x="0" y="285750"/>
                  </a:moveTo>
                  <a:cubicBezTo>
                    <a:pt x="2286000" y="76200"/>
                    <a:pt x="4381500" y="304800"/>
                    <a:pt x="6667500" y="133350"/>
                  </a:cubicBezTo>
                  <a:cubicBezTo>
                    <a:pt x="8382000" y="0"/>
                    <a:pt x="9715500" y="209550"/>
                    <a:pt x="11144250" y="38100"/>
                  </a:cubicBezTo>
                </a:path>
              </a:pathLst>
            </a:custGeom>
            <a:noFill/>
            <a:ln w="38100">
              <a:solidFill>
                <a:srgbClr val="FF957F">
                  <a:alpha val="70000"/>
                </a:srgbClr>
              </a:solidFill>
            </a:ln>
          </p:spPr>
        </p:sp>
        <p:sp>
          <p:nvSpPr>
            <p:cNvPr id="186" name="Rectangle 186"/>
            <p:cNvSpPr/>
            <p:nvPr/>
          </p:nvSpPr>
          <p:spPr>
            <a:xfrm>
              <a:off x="2857500" y="5524500"/>
              <a:ext cx="1047750" cy="228600"/>
            </a:xfrm>
            <a:prstGeom prst="roundRect">
              <a:avLst>
                <a:gd name="adj" fmla="val 50000"/>
              </a:avLst>
            </a:prstGeom>
            <a:solidFill>
              <a:srgbClr val="9C331E"/>
            </a:solidFill>
            <a:ln>
              <a:noFill/>
            </a:ln>
          </p:spPr>
        </p:sp>
        <p:sp>
          <p:nvSpPr>
            <p:cNvPr id="187" name="TextBox 187"/>
            <p:cNvSpPr txBox="1"/>
            <p:nvPr/>
          </p:nvSpPr>
          <p:spPr>
            <a:xfrm>
              <a:off x="3163913" y="55918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生产闭环</a:t>
              </a:r>
            </a:p>
          </p:txBody>
        </p:sp>
        <p:sp>
          <p:nvSpPr>
            <p:cNvPr id="188" name="Rectangle 188"/>
            <p:cNvSpPr/>
            <p:nvPr/>
          </p:nvSpPr>
          <p:spPr>
            <a:xfrm>
              <a:off x="5905500" y="5524500"/>
              <a:ext cx="1047750" cy="228600"/>
            </a:xfrm>
            <a:prstGeom prst="roundRect">
              <a:avLst>
                <a:gd name="adj" fmla="val 50000"/>
              </a:avLst>
            </a:prstGeom>
            <a:solidFill>
              <a:srgbClr val="9C331E"/>
            </a:solidFill>
            <a:ln>
              <a:noFill/>
            </a:ln>
          </p:spPr>
        </p:sp>
        <p:sp>
          <p:nvSpPr>
            <p:cNvPr id="189" name="TextBox 189"/>
            <p:cNvSpPr txBox="1"/>
            <p:nvPr/>
          </p:nvSpPr>
          <p:spPr>
            <a:xfrm>
              <a:off x="6211913" y="55918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规模运行</a:t>
              </a:r>
            </a:p>
          </p:txBody>
        </p:sp>
        <p:sp>
          <p:nvSpPr>
            <p:cNvPr id="190" name="Rectangle 190"/>
            <p:cNvSpPr/>
            <p:nvPr/>
          </p:nvSpPr>
          <p:spPr>
            <a:xfrm>
              <a:off x="8953500" y="5524500"/>
              <a:ext cx="1047750" cy="228600"/>
            </a:xfrm>
            <a:prstGeom prst="roundRect">
              <a:avLst>
                <a:gd name="adj" fmla="val 50000"/>
              </a:avLst>
            </a:prstGeom>
            <a:solidFill>
              <a:srgbClr val="9C331E"/>
            </a:solidFill>
            <a:ln>
              <a:noFill/>
            </a:ln>
          </p:spPr>
        </p:sp>
        <p:sp>
          <p:nvSpPr>
            <p:cNvPr id="191" name="TextBox 191"/>
            <p:cNvSpPr txBox="1"/>
            <p:nvPr/>
          </p:nvSpPr>
          <p:spPr>
            <a:xfrm>
              <a:off x="9259913" y="55918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跨域复制</a:t>
              </a:r>
            </a:p>
          </p:txBody>
        </p:sp>
        <p:sp>
          <p:nvSpPr>
            <p:cNvPr id="192" name="TextBox 192"/>
            <p:cNvSpPr txBox="1"/>
            <p:nvPr/>
          </p:nvSpPr>
          <p:spPr>
            <a:xfrm>
              <a:off x="10736053" y="5583793"/>
              <a:ext cx="946360" cy="330994"/>
            </a:xfrm>
            <a:prstGeom prst="rect">
              <a:avLst/>
            </a:prstGeom>
            <a:noFill/>
            <a:ln>
              <a:noFill/>
            </a:ln>
          </p:spPr>
          <p:txBody>
            <a:bodyPr wrap="none" lIns="0" tIns="0" rIns="0" bIns="0" anchor="t" anchorCtr="0">
              <a:spAutoFit/>
            </a:bodyPr>
            <a:lstStyle/>
            <a:p>
              <a:pPr algn="r">
                <a:lnSpc>
                  <a:spcPts val="1275"/>
                </a:lnSpc>
              </a:pPr>
              <a:r>
                <a:rPr lang="zh-CN" sz="860" b="1" dirty="0">
                  <a:solidFill>
                    <a:srgbClr val="5E2114"/>
                  </a:solidFill>
                  <a:latin typeface="+mn-lt"/>
                  <a:ea typeface="+mn-ea"/>
                  <a:cs typeface="+mn-cs"/>
                </a:rPr>
                <a:t>从一个场景</a:t>
              </a:r>
              <a:br/>
              <a:r>
                <a:rPr lang="zh-CN" sz="860" b="1" dirty="0">
                  <a:solidFill>
                    <a:srgbClr val="5E2114"/>
                  </a:solidFill>
                  <a:latin typeface="+mn-lt"/>
                  <a:ea typeface="+mn-ea"/>
                  <a:cs typeface="+mn-cs"/>
                </a:rPr>
                <a:t>走向更广阔的价值​</a:t>
              </a:r>
            </a:p>
          </p:txBody>
        </p:sp>
      </p:grpSp>
      <p:grpSp>
        <p:nvGrpSpPr>
          <p:cNvPr id="197" name="footer"/>
          <p:cNvGrpSpPr/>
          <p:nvPr/>
        </p:nvGrpSpPr>
        <p:grpSpPr>
          <a:xfrm>
            <a:off x="0" y="6705600"/>
            <a:ext cx="12192000" cy="173117"/>
            <a:chOff x="0" y="6705600"/>
            <a:chExt cx="12192000" cy="173117"/>
          </a:xfrm>
        </p:grpSpPr>
        <p:sp>
          <p:nvSpPr>
            <p:cNvPr id="194" name="Rectangle 194"/>
            <p:cNvSpPr/>
            <p:nvPr/>
          </p:nvSpPr>
          <p:spPr>
            <a:xfrm>
              <a:off x="0" y="6705600"/>
              <a:ext cx="12192000" cy="152400"/>
            </a:xfrm>
            <a:prstGeom prst="rect">
              <a:avLst/>
            </a:prstGeom>
            <a:solidFill>
              <a:srgbClr val="632012"/>
            </a:solidFill>
            <a:ln>
              <a:noFill/>
            </a:ln>
          </p:spPr>
        </p:sp>
        <p:sp>
          <p:nvSpPr>
            <p:cNvPr id="195" name="TextBox 195"/>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96" name="TextBox 196"/>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18/20</a:t>
              </a:r>
            </a:p>
          </p:txBody>
        </p:sp>
      </p:gr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hills"/>
          <p:cNvSpPr/>
          <p:nvPr/>
        </p:nvSpPr>
        <p:spPr>
          <a:xfrm>
            <a:off x="0" y="6210300"/>
            <a:ext cx="12192000" cy="495300"/>
          </a:xfrm>
          <a:custGeom>
            <a:avLst/>
            <a:gdLst/>
            <a:ahLst/>
            <a:cxnLst/>
            <a:rect l="l" t="t" r="r" b="b"/>
            <a:pathLst>
              <a:path w="12192000" h="495300">
                <a:moveTo>
                  <a:pt x="0" y="495300"/>
                </a:moveTo>
                <a:lnTo>
                  <a:pt x="0" y="228600"/>
                </a:lnTo>
                <a:lnTo>
                  <a:pt x="1524000" y="38100"/>
                </a:lnTo>
                <a:lnTo>
                  <a:pt x="3048000" y="266700"/>
                </a:lnTo>
                <a:lnTo>
                  <a:pt x="4572000" y="0"/>
                </a:lnTo>
                <a:lnTo>
                  <a:pt x="6096000" y="285750"/>
                </a:lnTo>
                <a:lnTo>
                  <a:pt x="7620000" y="57150"/>
                </a:lnTo>
                <a:lnTo>
                  <a:pt x="9144000" y="304800"/>
                </a:lnTo>
                <a:lnTo>
                  <a:pt x="10668000" y="76200"/>
                </a:lnTo>
                <a:lnTo>
                  <a:pt x="12192000" y="247650"/>
                </a:lnTo>
                <a:lnTo>
                  <a:pt x="12192000" y="495300"/>
                </a:lnTo>
                <a:close/>
              </a:path>
            </a:pathLst>
          </a:custGeom>
          <a:solidFill>
            <a:srgbClr val="DCE9F8"/>
          </a:solidFill>
          <a:ln>
            <a:noFill/>
          </a:ln>
        </p:spPr>
      </p:sp>
      <p:grpSp>
        <p:nvGrpSpPr>
          <p:cNvPr id="8" name="header"/>
          <p:cNvGrpSpPr/>
          <p:nvPr/>
        </p:nvGrpSpPr>
        <p:grpSpPr>
          <a:xfrm>
            <a:off x="0" y="0"/>
            <a:ext cx="11739563" cy="551879"/>
            <a:chOff x="0" y="0"/>
            <a:chExt cx="11739563"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4" name="TextBox 4"/>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19</a:t>
              </a:r>
            </a:p>
          </p:txBody>
        </p:sp>
        <p:sp>
          <p:nvSpPr>
            <p:cNvPr id="5" name="TextBox 5"/>
            <p:cNvSpPr txBox="1"/>
            <p:nvPr/>
          </p:nvSpPr>
          <p:spPr>
            <a:xfrm>
              <a:off x="942594" y="170498"/>
              <a:ext cx="4735068"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一月结论</a:t>
              </a:r>
              <a:r>
                <a:rPr lang="zh-CN" sz="1950" b="1" dirty="0">
                  <a:solidFill>
                    <a:srgbClr val="5E2114"/>
                  </a:solidFill>
                  <a:latin typeface="+mj-lt"/>
                  <a:ea typeface="+mj-ea"/>
                  <a:cs typeface="+mj-cs"/>
                </a:rPr>
                <a:t>｜公开证据呈现三种真实状态</a:t>
              </a:r>
            </a:p>
          </p:txBody>
        </p:sp>
        <p:sp>
          <p:nvSpPr>
            <p:cNvPr id="6" name="Line 6"/>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7" name="TextBox 7"/>
            <p:cNvSpPr txBox="1"/>
            <p:nvPr/>
          </p:nvSpPr>
          <p:spPr>
            <a:xfrm>
              <a:off x="10913031" y="128588"/>
              <a:ext cx="826532" cy="300038"/>
            </a:xfrm>
            <a:prstGeom prst="rect">
              <a:avLst/>
            </a:prstGeom>
            <a:noFill/>
            <a:ln>
              <a:noFill/>
            </a:ln>
          </p:spPr>
          <p:txBody>
            <a:bodyPr wrap="none" lIns="0" tIns="0" rIns="0" bIns="0" anchor="t" anchorCtr="0">
              <a:spAutoFit/>
            </a:bodyPr>
            <a:lstStyle/>
            <a:p>
              <a:pPr algn="r">
                <a:lnSpc>
                  <a:spcPts val="1200"/>
                </a:lnSpc>
              </a:pPr>
              <a:r>
                <a:rPr lang="zh-CN" sz="750" b="1" i="1" dirty="0">
                  <a:solidFill>
                    <a:srgbClr val="5E2114"/>
                  </a:solidFill>
                  <a:latin typeface="+mn-lt"/>
                  <a:ea typeface="+mn-ea"/>
                  <a:cs typeface="+mn-cs"/>
                </a:rPr>
                <a:t>从公开证据看进展​</a:t>
              </a:r>
              <a:br/>
              <a:r>
                <a:rPr lang="zh-CN" sz="750" b="1" i="1" dirty="0">
                  <a:solidFill>
                    <a:srgbClr val="5E2114"/>
                  </a:solidFill>
                  <a:latin typeface="+mn-lt"/>
                  <a:ea typeface="+mn-ea"/>
                  <a:cs typeface="+mn-cs"/>
                </a:rPr>
                <a:t>以理性视角看产业​</a:t>
              </a:r>
            </a:p>
          </p:txBody>
        </p:sp>
      </p:grpSp>
      <p:grpSp>
        <p:nvGrpSpPr>
          <p:cNvPr id="10" name="subtitle"/>
          <p:cNvGrpSpPr/>
          <p:nvPr/>
        </p:nvGrpSpPr>
        <p:grpSpPr>
          <a:xfrm>
            <a:off x="985838" y="660797"/>
            <a:ext cx="7247773" cy="183356"/>
            <a:chOff x="985838" y="660797"/>
            <a:chExt cx="7247773" cy="183356"/>
          </a:xfrm>
        </p:grpSpPr>
        <p:sp>
          <p:nvSpPr>
            <p:cNvPr id="9" name="TextBox 9"/>
            <p:cNvSpPr txBox="1"/>
            <p:nvPr/>
          </p:nvSpPr>
          <p:spPr>
            <a:xfrm>
              <a:off x="985838" y="660797"/>
              <a:ext cx="7247773" cy="183356"/>
            </a:xfrm>
            <a:prstGeom prst="rect">
              <a:avLst/>
            </a:prstGeom>
            <a:noFill/>
            <a:ln>
              <a:noFill/>
            </a:ln>
          </p:spPr>
          <p:txBody>
            <a:bodyPr wrap="none" lIns="0" tIns="0" rIns="0" bIns="0" anchor="t" anchorCtr="0">
              <a:spAutoFit/>
            </a:bodyPr>
            <a:lstStyle/>
            <a:p>
              <a:pPr algn="l"/>
              <a:r>
                <a:rPr lang="zh-CN" sz="940" dirty="0">
                  <a:solidFill>
                    <a:srgbClr val="573F3A"/>
                  </a:solidFill>
                  <a:latin typeface="+mn-lt"/>
                  <a:ea typeface="+mn-ea"/>
                  <a:cs typeface="+mn-cs"/>
                </a:rPr>
                <a:t>基于可查证的公开信息，我们看到“人工智能+”的落地并非单一节奏，而是呈现三种并行的真实状态，共同构成当前的发展图景。​</a:t>
              </a:r>
            </a:p>
          </p:txBody>
        </p:sp>
      </p:grpSp>
      <p:grpSp>
        <p:nvGrpSpPr>
          <p:cNvPr id="54" name="state-1"/>
          <p:cNvGrpSpPr/>
          <p:nvPr/>
        </p:nvGrpSpPr>
        <p:grpSpPr>
          <a:xfrm>
            <a:off x="381000" y="876300"/>
            <a:ext cx="3619500" cy="3486150"/>
            <a:chOff x="381000" y="876300"/>
            <a:chExt cx="3619500" cy="3486150"/>
          </a:xfrm>
        </p:grpSpPr>
        <p:sp>
          <p:nvSpPr>
            <p:cNvPr id="11" name="Rectangle 11"/>
            <p:cNvSpPr/>
            <p:nvPr/>
          </p:nvSpPr>
          <p:spPr>
            <a:xfrm>
              <a:off x="381000" y="1333500"/>
              <a:ext cx="3619500" cy="3028950"/>
            </a:xfrm>
            <a:prstGeom prst="roundRect">
              <a:avLst>
                <a:gd name="adj" fmla="val 1887"/>
              </a:avLst>
            </a:prstGeom>
            <a:solidFill>
              <a:srgbClr val="FFFFFF"/>
            </a:solidFill>
            <a:ln w="9525">
              <a:solidFill>
                <a:srgbClr val="C7D9F0"/>
              </a:solidFill>
            </a:ln>
          </p:spPr>
        </p:sp>
        <p:sp>
          <p:nvSpPr>
            <p:cNvPr id="12" name="Rectangle 12"/>
            <p:cNvSpPr/>
            <p:nvPr/>
          </p:nvSpPr>
          <p:spPr>
            <a:xfrm>
              <a:off x="381000" y="876300"/>
              <a:ext cx="3619500" cy="457200"/>
            </a:xfrm>
            <a:prstGeom prst="roundRect">
              <a:avLst>
                <a:gd name="adj" fmla="val 12500"/>
              </a:avLst>
            </a:prstGeom>
            <a:solidFill>
              <a:srgbClr val="632012"/>
            </a:solidFill>
            <a:ln>
              <a:noFill/>
            </a:ln>
          </p:spPr>
        </p:sp>
        <p:sp>
          <p:nvSpPr>
            <p:cNvPr id="13" name="Ellipse 13"/>
            <p:cNvSpPr/>
            <p:nvPr/>
          </p:nvSpPr>
          <p:spPr>
            <a:xfrm>
              <a:off x="514350" y="952500"/>
              <a:ext cx="304800" cy="304800"/>
            </a:xfrm>
            <a:prstGeom prst="ellipse">
              <a:avLst/>
            </a:prstGeom>
            <a:solidFill>
              <a:srgbClr val="FFFFFF">
                <a:alpha val="18000"/>
              </a:srgbClr>
            </a:solidFill>
            <a:ln>
              <a:noFill/>
            </a:ln>
          </p:spPr>
        </p:sp>
        <p:grpSp>
          <p:nvGrpSpPr>
            <p:cNvPr id="18" name="Group 18"/>
            <p:cNvGrpSpPr/>
            <p:nvPr/>
          </p:nvGrpSpPr>
          <p:grpSpPr>
            <a:xfrm>
              <a:off x="587375" y="1033462"/>
              <a:ext cx="158750" cy="143007"/>
              <a:chOff x="587375" y="1033462"/>
              <a:chExt cx="158750" cy="143007"/>
            </a:xfrm>
          </p:grpSpPr>
          <p:sp>
            <p:nvSpPr>
              <p:cNvPr id="14" name="Freeform 14"/>
              <p:cNvSpPr/>
              <p:nvPr/>
            </p:nvSpPr>
            <p:spPr>
              <a:xfrm>
                <a:off x="587375" y="1160331"/>
                <a:ext cx="158750" cy="16138"/>
              </a:xfrm>
              <a:custGeom>
                <a:avLst/>
                <a:gdLst/>
                <a:ahLst/>
                <a:cxnLst/>
                <a:rect l="l" t="t" r="r" b="b"/>
                <a:pathLst>
                  <a:path w="158750" h="16138">
                    <a:moveTo>
                      <a:pt x="0" y="8069"/>
                    </a:moveTo>
                    <a:cubicBezTo>
                      <a:pt x="3661" y="13169"/>
                      <a:pt x="9599" y="16138"/>
                      <a:pt x="15875" y="16006"/>
                    </a:cubicBezTo>
                    <a:cubicBezTo>
                      <a:pt x="22151" y="16138"/>
                      <a:pt x="28089" y="13169"/>
                      <a:pt x="31750" y="8069"/>
                    </a:cubicBezTo>
                    <a:cubicBezTo>
                      <a:pt x="35411" y="2969"/>
                      <a:pt x="41349" y="0"/>
                      <a:pt x="47625" y="131"/>
                    </a:cubicBezTo>
                    <a:cubicBezTo>
                      <a:pt x="53901" y="0"/>
                      <a:pt x="59839" y="2969"/>
                      <a:pt x="63500" y="8069"/>
                    </a:cubicBezTo>
                    <a:cubicBezTo>
                      <a:pt x="67161" y="13169"/>
                      <a:pt x="73099" y="16138"/>
                      <a:pt x="79375" y="16006"/>
                    </a:cubicBezTo>
                    <a:cubicBezTo>
                      <a:pt x="85651" y="16138"/>
                      <a:pt x="91589" y="13169"/>
                      <a:pt x="95250" y="8069"/>
                    </a:cubicBezTo>
                    <a:cubicBezTo>
                      <a:pt x="98911" y="2969"/>
                      <a:pt x="104849" y="0"/>
                      <a:pt x="111125" y="131"/>
                    </a:cubicBezTo>
                    <a:cubicBezTo>
                      <a:pt x="117401" y="0"/>
                      <a:pt x="123339" y="2969"/>
                      <a:pt x="127000" y="8069"/>
                    </a:cubicBezTo>
                    <a:cubicBezTo>
                      <a:pt x="130661" y="13169"/>
                      <a:pt x="136599" y="16138"/>
                      <a:pt x="142875" y="16006"/>
                    </a:cubicBezTo>
                    <a:cubicBezTo>
                      <a:pt x="149151" y="16138"/>
                      <a:pt x="155089" y="13169"/>
                      <a:pt x="158750" y="8069"/>
                    </a:cubicBezTo>
                  </a:path>
                </a:pathLst>
              </a:custGeom>
              <a:noFill/>
              <a:ln w="15875">
                <a:solidFill>
                  <a:srgbClr val="FFFFFF"/>
                </a:solidFill>
              </a:ln>
            </p:spPr>
          </p:sp>
          <p:sp>
            <p:nvSpPr>
              <p:cNvPr id="15" name="Freeform 15"/>
              <p:cNvSpPr/>
              <p:nvPr/>
            </p:nvSpPr>
            <p:spPr>
              <a:xfrm>
                <a:off x="595312" y="1112837"/>
                <a:ext cx="142875" cy="39687"/>
              </a:xfrm>
              <a:custGeom>
                <a:avLst/>
                <a:gdLst/>
                <a:ahLst/>
                <a:cxnLst/>
                <a:rect l="l" t="t" r="r" b="b"/>
                <a:pathLst>
                  <a:path w="142875" h="39687">
                    <a:moveTo>
                      <a:pt x="7937" y="39687"/>
                    </a:moveTo>
                    <a:lnTo>
                      <a:pt x="0" y="0"/>
                    </a:lnTo>
                    <a:lnTo>
                      <a:pt x="142875" y="0"/>
                    </a:lnTo>
                    <a:lnTo>
                      <a:pt x="127000" y="31750"/>
                    </a:lnTo>
                  </a:path>
                </a:pathLst>
              </a:custGeom>
              <a:noFill/>
              <a:ln w="15875">
                <a:solidFill>
                  <a:srgbClr val="FFFFFF"/>
                </a:solidFill>
              </a:ln>
            </p:spPr>
          </p:sp>
          <p:sp>
            <p:nvSpPr>
              <p:cNvPr id="16" name="Freeform 16"/>
              <p:cNvSpPr/>
              <p:nvPr/>
            </p:nvSpPr>
            <p:spPr>
              <a:xfrm>
                <a:off x="611187" y="1065212"/>
                <a:ext cx="95250" cy="47625"/>
              </a:xfrm>
              <a:custGeom>
                <a:avLst/>
                <a:gdLst/>
                <a:ahLst/>
                <a:cxnLst/>
                <a:rect l="l" t="t" r="r" b="b"/>
                <a:pathLst>
                  <a:path w="95250" h="47625">
                    <a:moveTo>
                      <a:pt x="0" y="47625"/>
                    </a:moveTo>
                    <a:lnTo>
                      <a:pt x="0" y="0"/>
                    </a:lnTo>
                    <a:lnTo>
                      <a:pt x="63500" y="0"/>
                    </a:lnTo>
                    <a:lnTo>
                      <a:pt x="95250" y="47625"/>
                    </a:lnTo>
                  </a:path>
                </a:pathLst>
              </a:custGeom>
              <a:noFill/>
              <a:ln w="15875">
                <a:solidFill>
                  <a:srgbClr val="FFFFFF"/>
                </a:solidFill>
              </a:ln>
            </p:spPr>
          </p:sp>
          <p:sp>
            <p:nvSpPr>
              <p:cNvPr id="17" name="Freeform 17"/>
              <p:cNvSpPr/>
              <p:nvPr/>
            </p:nvSpPr>
            <p:spPr>
              <a:xfrm>
                <a:off x="619125" y="1033462"/>
                <a:ext cx="9525" cy="31750"/>
              </a:xfrm>
              <a:custGeom>
                <a:avLst/>
                <a:gdLst/>
                <a:ahLst/>
                <a:cxnLst/>
                <a:rect l="l" t="t" r="r" b="b"/>
                <a:pathLst>
                  <a:path w="9525" h="31750">
                    <a:moveTo>
                      <a:pt x="7937" y="31750"/>
                    </a:moveTo>
                    <a:lnTo>
                      <a:pt x="7937" y="0"/>
                    </a:lnTo>
                    <a:lnTo>
                      <a:pt x="0" y="0"/>
                    </a:lnTo>
                  </a:path>
                </a:pathLst>
              </a:custGeom>
              <a:noFill/>
              <a:ln w="15875">
                <a:solidFill>
                  <a:srgbClr val="FFFFFF"/>
                </a:solidFill>
              </a:ln>
            </p:spPr>
          </p:sp>
        </p:grpSp>
        <p:sp>
          <p:nvSpPr>
            <p:cNvPr id="19" name="TextBox 19"/>
            <p:cNvSpPr txBox="1"/>
            <p:nvPr/>
          </p:nvSpPr>
          <p:spPr>
            <a:xfrm>
              <a:off x="908685" y="954881"/>
              <a:ext cx="13684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已有规模运行硬证据</a:t>
              </a:r>
            </a:p>
          </p:txBody>
        </p:sp>
        <p:sp>
          <p:nvSpPr>
            <p:cNvPr id="20" name="TextBox 20"/>
            <p:cNvSpPr txBox="1"/>
            <p:nvPr/>
          </p:nvSpPr>
          <p:spPr>
            <a:xfrm>
              <a:off x="909638" y="1178957"/>
              <a:ext cx="1991131"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在真实生产环境中持续运行，形成可验证的公开证据</a:t>
              </a:r>
            </a:p>
          </p:txBody>
        </p:sp>
        <p:sp>
          <p:nvSpPr>
            <p:cNvPr id="21" name="Rectangle 21"/>
            <p:cNvSpPr/>
            <p:nvPr/>
          </p:nvSpPr>
          <p:spPr>
            <a:xfrm>
              <a:off x="495300" y="1447800"/>
              <a:ext cx="571500" cy="152400"/>
            </a:xfrm>
            <a:prstGeom prst="roundRect">
              <a:avLst>
                <a:gd name="adj" fmla="val 18750"/>
              </a:avLst>
            </a:prstGeom>
            <a:solidFill>
              <a:srgbClr val="DCE9F8"/>
            </a:solidFill>
            <a:ln>
              <a:noFill/>
            </a:ln>
          </p:spPr>
        </p:sp>
        <p:sp>
          <p:nvSpPr>
            <p:cNvPr id="22" name="TextBox 22"/>
            <p:cNvSpPr txBox="1"/>
            <p:nvPr/>
          </p:nvSpPr>
          <p:spPr>
            <a:xfrm>
              <a:off x="603974" y="1493282"/>
              <a:ext cx="354152" cy="126206"/>
            </a:xfrm>
            <a:prstGeom prst="rect">
              <a:avLst/>
            </a:prstGeom>
            <a:noFill/>
            <a:ln>
              <a:noFill/>
            </a:ln>
          </p:spPr>
          <p:txBody>
            <a:bodyPr wrap="none" lIns="0" tIns="0" rIns="0" bIns="0" anchor="t" anchorCtr="0">
              <a:spAutoFit/>
            </a:bodyPr>
            <a:lstStyle/>
            <a:p>
              <a:pPr algn="ctr"/>
              <a:r>
                <a:rPr lang="zh-CN" sz="640" b="1" dirty="0">
                  <a:solidFill>
                    <a:srgbClr val="9C331E"/>
                  </a:solidFill>
                  <a:latin typeface="+mn-lt"/>
                  <a:ea typeface="+mn-ea"/>
                  <a:cs typeface="+mn-cs"/>
                </a:rPr>
                <a:t>典型案例</a:t>
              </a:r>
            </a:p>
          </p:txBody>
        </p:sp>
        <p:sp>
          <p:nvSpPr>
            <p:cNvPr id="23" name="Rectangle 23"/>
            <p:cNvSpPr/>
            <p:nvPr/>
          </p:nvSpPr>
          <p:spPr>
            <a:xfrm>
              <a:off x="495300" y="1676400"/>
              <a:ext cx="1143000" cy="971550"/>
            </a:xfrm>
            <a:prstGeom prst="roundRect">
              <a:avLst>
                <a:gd name="adj" fmla="val 3922"/>
              </a:avLst>
            </a:prstGeom>
            <a:solidFill>
              <a:srgbClr val="DCE9F8"/>
            </a:solidFill>
            <a:ln>
              <a:noFill/>
            </a:ln>
          </p:spPr>
        </p:sp>
        <p:sp>
          <p:nvSpPr>
            <p:cNvPr id="24" name="Rectangle 24"/>
            <p:cNvSpPr/>
            <p:nvPr/>
          </p:nvSpPr>
          <p:spPr>
            <a:xfrm>
              <a:off x="495300" y="2247900"/>
              <a:ext cx="1143000" cy="400050"/>
            </a:xfrm>
            <a:prstGeom prst="rect">
              <a:avLst/>
            </a:prstGeom>
            <a:solidFill>
              <a:srgbClr val="DC9C8F"/>
            </a:solidFill>
            <a:ln>
              <a:noFill/>
            </a:ln>
          </p:spPr>
        </p:sp>
        <p:sp>
          <p:nvSpPr>
            <p:cNvPr id="25" name="Polygon 25"/>
            <p:cNvSpPr/>
            <p:nvPr/>
          </p:nvSpPr>
          <p:spPr>
            <a:xfrm>
              <a:off x="628650" y="2247900"/>
              <a:ext cx="895350" cy="190500"/>
            </a:xfrm>
            <a:custGeom>
              <a:avLst/>
              <a:gdLst/>
              <a:ahLst/>
              <a:cxnLst/>
              <a:rect l="l" t="t" r="r" b="b"/>
              <a:pathLst>
                <a:path w="895350" h="190500">
                  <a:moveTo>
                    <a:pt x="0" y="0"/>
                  </a:moveTo>
                  <a:lnTo>
                    <a:pt x="95250" y="190500"/>
                  </a:lnTo>
                  <a:lnTo>
                    <a:pt x="800100" y="190500"/>
                  </a:lnTo>
                  <a:lnTo>
                    <a:pt x="895350" y="0"/>
                  </a:lnTo>
                  <a:close/>
                </a:path>
              </a:pathLst>
            </a:custGeom>
            <a:solidFill>
              <a:srgbClr val="6F2516"/>
            </a:solidFill>
            <a:ln>
              <a:noFill/>
            </a:ln>
          </p:spPr>
        </p:sp>
        <p:sp>
          <p:nvSpPr>
            <p:cNvPr id="26" name="Freeform 26"/>
            <p:cNvSpPr/>
            <p:nvPr/>
          </p:nvSpPr>
          <p:spPr>
            <a:xfrm>
              <a:off x="762000" y="2114550"/>
              <a:ext cx="609600" cy="133350"/>
            </a:xfrm>
            <a:custGeom>
              <a:avLst/>
              <a:gdLst/>
              <a:ahLst/>
              <a:cxnLst/>
              <a:rect l="l" t="t" r="r" b="b"/>
              <a:pathLst>
                <a:path w="609600" h="133350">
                  <a:moveTo>
                    <a:pt x="0" y="0"/>
                  </a:moveTo>
                  <a:lnTo>
                    <a:pt x="190500" y="0"/>
                  </a:lnTo>
                  <a:lnTo>
                    <a:pt x="190500" y="133350"/>
                  </a:lnTo>
                  <a:lnTo>
                    <a:pt x="0" y="133350"/>
                  </a:lnTo>
                  <a:close/>
                  <a:moveTo>
                    <a:pt x="228600" y="0"/>
                  </a:moveTo>
                  <a:lnTo>
                    <a:pt x="419100" y="0"/>
                  </a:lnTo>
                  <a:lnTo>
                    <a:pt x="419100" y="133350"/>
                  </a:lnTo>
                  <a:lnTo>
                    <a:pt x="228600" y="133350"/>
                  </a:lnTo>
                  <a:close/>
                  <a:moveTo>
                    <a:pt x="457200" y="38100"/>
                  </a:moveTo>
                  <a:lnTo>
                    <a:pt x="609600" y="38100"/>
                  </a:lnTo>
                  <a:lnTo>
                    <a:pt x="609600" y="133350"/>
                  </a:lnTo>
                  <a:lnTo>
                    <a:pt x="457200" y="133350"/>
                  </a:lnTo>
                  <a:close/>
                </a:path>
              </a:pathLst>
            </a:custGeom>
            <a:solidFill>
              <a:srgbClr val="E8EEF5"/>
            </a:solidFill>
            <a:ln>
              <a:noFill/>
            </a:ln>
          </p:spPr>
        </p:sp>
        <p:sp>
          <p:nvSpPr>
            <p:cNvPr id="27" name="Freeform 27"/>
            <p:cNvSpPr/>
            <p:nvPr/>
          </p:nvSpPr>
          <p:spPr>
            <a:xfrm>
              <a:off x="571500" y="2508250"/>
              <a:ext cx="952500" cy="88900"/>
            </a:xfrm>
            <a:custGeom>
              <a:avLst/>
              <a:gdLst/>
              <a:ahLst/>
              <a:cxnLst/>
              <a:rect l="l" t="t" r="r" b="b"/>
              <a:pathLst>
                <a:path w="952500" h="88900">
                  <a:moveTo>
                    <a:pt x="0" y="25400"/>
                  </a:moveTo>
                  <a:cubicBezTo>
                    <a:pt x="63500" y="0"/>
                    <a:pt x="127000" y="0"/>
                    <a:pt x="190500" y="25400"/>
                  </a:cubicBezTo>
                  <a:cubicBezTo>
                    <a:pt x="254000" y="50800"/>
                    <a:pt x="317500" y="50800"/>
                    <a:pt x="381000" y="25400"/>
                  </a:cubicBezTo>
                  <a:moveTo>
                    <a:pt x="571500" y="63500"/>
                  </a:moveTo>
                  <a:cubicBezTo>
                    <a:pt x="635000" y="38100"/>
                    <a:pt x="698500" y="38100"/>
                    <a:pt x="762000" y="63500"/>
                  </a:cubicBezTo>
                  <a:cubicBezTo>
                    <a:pt x="825500" y="88900"/>
                    <a:pt x="889000" y="88900"/>
                    <a:pt x="952500" y="63500"/>
                  </a:cubicBezTo>
                </a:path>
              </a:pathLst>
            </a:custGeom>
            <a:noFill/>
            <a:ln w="14288">
              <a:solidFill>
                <a:srgbClr val="FFFFFF">
                  <a:alpha val="70000"/>
                </a:srgbClr>
              </a:solidFill>
            </a:ln>
          </p:spPr>
        </p:sp>
        <p:sp>
          <p:nvSpPr>
            <p:cNvPr id="28" name="TextBox 28"/>
            <p:cNvSpPr txBox="1"/>
            <p:nvPr/>
          </p:nvSpPr>
          <p:spPr>
            <a:xfrm>
              <a:off x="1747838" y="1769745"/>
              <a:ext cx="1137506"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航运135艘持续三年​</a:t>
              </a:r>
            </a:p>
          </p:txBody>
        </p:sp>
        <p:sp>
          <p:nvSpPr>
            <p:cNvPr id="29" name="Ellipse 29"/>
            <p:cNvSpPr/>
            <p:nvPr/>
          </p:nvSpPr>
          <p:spPr>
            <a:xfrm>
              <a:off x="1771650" y="2019300"/>
              <a:ext cx="38100" cy="38100"/>
            </a:xfrm>
            <a:prstGeom prst="ellipse">
              <a:avLst/>
            </a:prstGeom>
            <a:solidFill>
              <a:srgbClr val="9C331E"/>
            </a:solidFill>
            <a:ln>
              <a:noFill/>
            </a:ln>
          </p:spPr>
        </p:sp>
        <p:sp>
          <p:nvSpPr>
            <p:cNvPr id="30" name="TextBox 30"/>
            <p:cNvSpPr txBox="1"/>
            <p:nvPr/>
          </p:nvSpPr>
          <p:spPr>
            <a:xfrm>
              <a:off x="1862138" y="1998107"/>
              <a:ext cx="802168"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135艘船常态化运行​</a:t>
              </a:r>
            </a:p>
          </p:txBody>
        </p:sp>
        <p:sp>
          <p:nvSpPr>
            <p:cNvPr id="31" name="Ellipse 31"/>
            <p:cNvSpPr/>
            <p:nvPr/>
          </p:nvSpPr>
          <p:spPr>
            <a:xfrm>
              <a:off x="1771650" y="2171700"/>
              <a:ext cx="38100" cy="38100"/>
            </a:xfrm>
            <a:prstGeom prst="ellipse">
              <a:avLst/>
            </a:prstGeom>
            <a:solidFill>
              <a:srgbClr val="9C331E"/>
            </a:solidFill>
            <a:ln>
              <a:noFill/>
            </a:ln>
          </p:spPr>
        </p:sp>
        <p:sp>
          <p:nvSpPr>
            <p:cNvPr id="32" name="TextBox 32"/>
            <p:cNvSpPr txBox="1"/>
            <p:nvPr/>
          </p:nvSpPr>
          <p:spPr>
            <a:xfrm>
              <a:off x="1862138" y="2150507"/>
              <a:ext cx="440309"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已持续三年</a:t>
              </a:r>
            </a:p>
          </p:txBody>
        </p:sp>
        <p:sp>
          <p:nvSpPr>
            <p:cNvPr id="33" name="Ellipse 33"/>
            <p:cNvSpPr/>
            <p:nvPr/>
          </p:nvSpPr>
          <p:spPr>
            <a:xfrm>
              <a:off x="1771650" y="2324100"/>
              <a:ext cx="38100" cy="38100"/>
            </a:xfrm>
            <a:prstGeom prst="ellipse">
              <a:avLst/>
            </a:prstGeom>
            <a:solidFill>
              <a:srgbClr val="9C331E"/>
            </a:solidFill>
            <a:ln>
              <a:noFill/>
            </a:ln>
          </p:spPr>
        </p:sp>
        <p:sp>
          <p:nvSpPr>
            <p:cNvPr id="34" name="TextBox 34"/>
            <p:cNvSpPr txBox="1"/>
            <p:nvPr/>
          </p:nvSpPr>
          <p:spPr>
            <a:xfrm>
              <a:off x="1862138" y="2302907"/>
              <a:ext cx="1043407"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有公开报道与行业信息可查</a:t>
              </a:r>
            </a:p>
          </p:txBody>
        </p:sp>
        <p:sp>
          <p:nvSpPr>
            <p:cNvPr id="35" name="Rectangle 35"/>
            <p:cNvSpPr/>
            <p:nvPr/>
          </p:nvSpPr>
          <p:spPr>
            <a:xfrm>
              <a:off x="495300" y="2743200"/>
              <a:ext cx="1143000" cy="971550"/>
            </a:xfrm>
            <a:prstGeom prst="roundRect">
              <a:avLst>
                <a:gd name="adj" fmla="val 3922"/>
              </a:avLst>
            </a:prstGeom>
            <a:solidFill>
              <a:srgbClr val="DCE9F8"/>
            </a:solidFill>
            <a:ln>
              <a:noFill/>
            </a:ln>
          </p:spPr>
        </p:sp>
        <p:sp>
          <p:nvSpPr>
            <p:cNvPr id="36" name="Freeform 36"/>
            <p:cNvSpPr/>
            <p:nvPr/>
          </p:nvSpPr>
          <p:spPr>
            <a:xfrm>
              <a:off x="666750" y="3200400"/>
              <a:ext cx="704850" cy="514350"/>
            </a:xfrm>
            <a:custGeom>
              <a:avLst/>
              <a:gdLst/>
              <a:ahLst/>
              <a:cxnLst/>
              <a:rect l="l" t="t" r="r" b="b"/>
              <a:pathLst>
                <a:path w="704850" h="514350">
                  <a:moveTo>
                    <a:pt x="0" y="514350"/>
                  </a:moveTo>
                  <a:lnTo>
                    <a:pt x="114300" y="38100"/>
                  </a:lnTo>
                  <a:lnTo>
                    <a:pt x="228600" y="514350"/>
                  </a:lnTo>
                  <a:moveTo>
                    <a:pt x="38100" y="342900"/>
                  </a:moveTo>
                  <a:lnTo>
                    <a:pt x="190500" y="342900"/>
                  </a:lnTo>
                  <a:moveTo>
                    <a:pt x="66675" y="209550"/>
                  </a:moveTo>
                  <a:lnTo>
                    <a:pt x="161925" y="209550"/>
                  </a:lnTo>
                  <a:moveTo>
                    <a:pt x="476250" y="514350"/>
                  </a:moveTo>
                  <a:lnTo>
                    <a:pt x="590550" y="0"/>
                  </a:lnTo>
                  <a:lnTo>
                    <a:pt x="704850" y="514350"/>
                  </a:lnTo>
                  <a:moveTo>
                    <a:pt x="514350" y="323850"/>
                  </a:moveTo>
                  <a:lnTo>
                    <a:pt x="666750" y="323850"/>
                  </a:lnTo>
                  <a:moveTo>
                    <a:pt x="542925" y="171450"/>
                  </a:moveTo>
                  <a:lnTo>
                    <a:pt x="638175" y="171450"/>
                  </a:lnTo>
                </a:path>
              </a:pathLst>
            </a:custGeom>
            <a:noFill/>
            <a:ln w="19050">
              <a:solidFill>
                <a:srgbClr val="DE715B"/>
              </a:solidFill>
            </a:ln>
          </p:spPr>
        </p:sp>
        <p:sp>
          <p:nvSpPr>
            <p:cNvPr id="37" name="Freeform 37"/>
            <p:cNvSpPr/>
            <p:nvPr/>
          </p:nvSpPr>
          <p:spPr>
            <a:xfrm>
              <a:off x="781050" y="3200400"/>
              <a:ext cx="476250" cy="114300"/>
            </a:xfrm>
            <a:custGeom>
              <a:avLst/>
              <a:gdLst/>
              <a:ahLst/>
              <a:cxnLst/>
              <a:rect l="l" t="t" r="r" b="b"/>
              <a:pathLst>
                <a:path w="476250" h="114300">
                  <a:moveTo>
                    <a:pt x="0" y="38100"/>
                  </a:moveTo>
                  <a:cubicBezTo>
                    <a:pt x="158750" y="114300"/>
                    <a:pt x="317500" y="101600"/>
                    <a:pt x="476250" y="0"/>
                  </a:cubicBezTo>
                </a:path>
              </a:pathLst>
            </a:custGeom>
            <a:noFill/>
            <a:ln w="11430">
              <a:solidFill>
                <a:srgbClr val="DE715B"/>
              </a:solidFill>
            </a:ln>
          </p:spPr>
        </p:sp>
        <p:sp>
          <p:nvSpPr>
            <p:cNvPr id="38" name="Rectangle 38"/>
            <p:cNvSpPr/>
            <p:nvPr/>
          </p:nvSpPr>
          <p:spPr>
            <a:xfrm>
              <a:off x="1238250" y="2895600"/>
              <a:ext cx="285750" cy="66675"/>
            </a:xfrm>
            <a:prstGeom prst="roundRect">
              <a:avLst>
                <a:gd name="adj" fmla="val 42857"/>
              </a:avLst>
            </a:prstGeom>
            <a:solidFill>
              <a:srgbClr val="6F2516"/>
            </a:solidFill>
            <a:ln>
              <a:noFill/>
            </a:ln>
          </p:spPr>
        </p:sp>
        <p:sp>
          <p:nvSpPr>
            <p:cNvPr id="39" name="Ellipse 39"/>
            <p:cNvSpPr/>
            <p:nvPr/>
          </p:nvSpPr>
          <p:spPr>
            <a:xfrm>
              <a:off x="1190625" y="2876550"/>
              <a:ext cx="95250" cy="95250"/>
            </a:xfrm>
            <a:prstGeom prst="ellipse">
              <a:avLst/>
            </a:prstGeom>
            <a:noFill/>
            <a:ln w="14288">
              <a:solidFill>
                <a:srgbClr val="6F2516"/>
              </a:solidFill>
            </a:ln>
          </p:spPr>
        </p:sp>
        <p:sp>
          <p:nvSpPr>
            <p:cNvPr id="40" name="Ellipse 40"/>
            <p:cNvSpPr/>
            <p:nvPr/>
          </p:nvSpPr>
          <p:spPr>
            <a:xfrm>
              <a:off x="1476375" y="2876550"/>
              <a:ext cx="95250" cy="95250"/>
            </a:xfrm>
            <a:prstGeom prst="ellipse">
              <a:avLst/>
            </a:prstGeom>
            <a:noFill/>
            <a:ln w="14288">
              <a:solidFill>
                <a:srgbClr val="6F2516"/>
              </a:solidFill>
            </a:ln>
          </p:spPr>
        </p:sp>
        <p:sp>
          <p:nvSpPr>
            <p:cNvPr id="41" name="TextBox 41"/>
            <p:cNvSpPr txBox="1"/>
            <p:nvPr/>
          </p:nvSpPr>
          <p:spPr>
            <a:xfrm>
              <a:off x="1747838" y="2836545"/>
              <a:ext cx="978789"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电网巡检存量标杆</a:t>
              </a:r>
            </a:p>
          </p:txBody>
        </p:sp>
        <p:sp>
          <p:nvSpPr>
            <p:cNvPr id="42" name="Ellipse 42"/>
            <p:cNvSpPr/>
            <p:nvPr/>
          </p:nvSpPr>
          <p:spPr>
            <a:xfrm>
              <a:off x="1771650" y="3086100"/>
              <a:ext cx="38100" cy="38100"/>
            </a:xfrm>
            <a:prstGeom prst="ellipse">
              <a:avLst/>
            </a:prstGeom>
            <a:solidFill>
              <a:srgbClr val="9C331E"/>
            </a:solidFill>
            <a:ln>
              <a:noFill/>
            </a:ln>
          </p:spPr>
        </p:sp>
        <p:sp>
          <p:nvSpPr>
            <p:cNvPr id="43" name="TextBox 43"/>
            <p:cNvSpPr txBox="1"/>
            <p:nvPr/>
          </p:nvSpPr>
          <p:spPr>
            <a:xfrm>
              <a:off x="1862138" y="3064907"/>
              <a:ext cx="1043407"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在多地电网开展常态化巡检</a:t>
              </a:r>
            </a:p>
          </p:txBody>
        </p:sp>
        <p:sp>
          <p:nvSpPr>
            <p:cNvPr id="44" name="Ellipse 44"/>
            <p:cNvSpPr/>
            <p:nvPr/>
          </p:nvSpPr>
          <p:spPr>
            <a:xfrm>
              <a:off x="1771650" y="3238500"/>
              <a:ext cx="38100" cy="38100"/>
            </a:xfrm>
            <a:prstGeom prst="ellipse">
              <a:avLst/>
            </a:prstGeom>
            <a:solidFill>
              <a:srgbClr val="9C331E"/>
            </a:solidFill>
            <a:ln>
              <a:noFill/>
            </a:ln>
          </p:spPr>
        </p:sp>
        <p:sp>
          <p:nvSpPr>
            <p:cNvPr id="45" name="TextBox 45"/>
            <p:cNvSpPr txBox="1"/>
            <p:nvPr/>
          </p:nvSpPr>
          <p:spPr>
            <a:xfrm>
              <a:off x="1862138" y="3217307"/>
              <a:ext cx="698779"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形成存量应用标杆</a:t>
              </a:r>
            </a:p>
          </p:txBody>
        </p:sp>
        <p:sp>
          <p:nvSpPr>
            <p:cNvPr id="46" name="Ellipse 46"/>
            <p:cNvSpPr/>
            <p:nvPr/>
          </p:nvSpPr>
          <p:spPr>
            <a:xfrm>
              <a:off x="1771650" y="3390900"/>
              <a:ext cx="38100" cy="38100"/>
            </a:xfrm>
            <a:prstGeom prst="ellipse">
              <a:avLst/>
            </a:prstGeom>
            <a:solidFill>
              <a:srgbClr val="9C331E"/>
            </a:solidFill>
            <a:ln>
              <a:noFill/>
            </a:ln>
          </p:spPr>
        </p:sp>
        <p:sp>
          <p:nvSpPr>
            <p:cNvPr id="47" name="TextBox 47"/>
            <p:cNvSpPr txBox="1"/>
            <p:nvPr/>
          </p:nvSpPr>
          <p:spPr>
            <a:xfrm>
              <a:off x="1862138" y="3369707"/>
              <a:ext cx="871093"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有公开案例与媒体报道</a:t>
              </a:r>
            </a:p>
          </p:txBody>
        </p:sp>
        <p:sp>
          <p:nvSpPr>
            <p:cNvPr id="48" name="Rectangle 48"/>
            <p:cNvSpPr/>
            <p:nvPr/>
          </p:nvSpPr>
          <p:spPr>
            <a:xfrm>
              <a:off x="495300" y="3810000"/>
              <a:ext cx="3390900" cy="476250"/>
            </a:xfrm>
            <a:prstGeom prst="roundRect">
              <a:avLst>
                <a:gd name="adj" fmla="val 8000"/>
              </a:avLst>
            </a:prstGeom>
            <a:solidFill>
              <a:srgbClr val="EFF5FC"/>
            </a:solidFill>
            <a:ln>
              <a:noFill/>
            </a:ln>
          </p:spPr>
        </p:sp>
        <p:sp>
          <p:nvSpPr>
            <p:cNvPr id="49" name="Ellipse 49"/>
            <p:cNvSpPr/>
            <p:nvPr/>
          </p:nvSpPr>
          <p:spPr>
            <a:xfrm>
              <a:off x="561975" y="3924300"/>
              <a:ext cx="247650" cy="247650"/>
            </a:xfrm>
            <a:prstGeom prst="ellipse">
              <a:avLst/>
            </a:prstGeom>
            <a:solidFill>
              <a:srgbClr val="9C331E"/>
            </a:solidFill>
            <a:ln>
              <a:noFill/>
            </a:ln>
          </p:spPr>
        </p:sp>
        <p:grpSp>
          <p:nvGrpSpPr>
            <p:cNvPr id="52" name="Group 52"/>
            <p:cNvGrpSpPr/>
            <p:nvPr/>
          </p:nvGrpSpPr>
          <p:grpSpPr>
            <a:xfrm>
              <a:off x="628650" y="3990975"/>
              <a:ext cx="114300" cy="114300"/>
              <a:chOff x="628650" y="3990975"/>
              <a:chExt cx="114300" cy="114300"/>
            </a:xfrm>
          </p:grpSpPr>
          <p:sp>
            <p:nvSpPr>
              <p:cNvPr id="50" name="Freeform 50"/>
              <p:cNvSpPr/>
              <p:nvPr/>
            </p:nvSpPr>
            <p:spPr>
              <a:xfrm>
                <a:off x="628650" y="399097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sp>
            <p:nvSpPr>
              <p:cNvPr id="51" name="Freeform 51"/>
              <p:cNvSpPr/>
              <p:nvPr/>
            </p:nvSpPr>
            <p:spPr>
              <a:xfrm>
                <a:off x="666750" y="4035425"/>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53" name="TextBox 53"/>
            <p:cNvSpPr txBox="1"/>
            <p:nvPr/>
          </p:nvSpPr>
          <p:spPr>
            <a:xfrm>
              <a:off x="890588" y="3937159"/>
              <a:ext cx="204330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这些案例已经在真实场景中形成稳定运行，</a:t>
              </a:r>
              <a:br/>
              <a:r>
                <a:rPr lang="zh-CN" sz="680" dirty="0">
                  <a:solidFill>
                    <a:srgbClr val="573F3A"/>
                  </a:solidFill>
                  <a:latin typeface="+mn-lt"/>
                  <a:ea typeface="+mn-ea"/>
                  <a:cs typeface="+mn-cs"/>
                </a:rPr>
                <a:t>具备可核验的公开证据，是当前最具确定性的成果。​</a:t>
              </a:r>
            </a:p>
          </p:txBody>
        </p:sp>
      </p:grpSp>
      <p:grpSp>
        <p:nvGrpSpPr>
          <p:cNvPr id="95" name="state-2"/>
          <p:cNvGrpSpPr/>
          <p:nvPr/>
        </p:nvGrpSpPr>
        <p:grpSpPr>
          <a:xfrm>
            <a:off x="4191000" y="876300"/>
            <a:ext cx="3619500" cy="3486150"/>
            <a:chOff x="4191000" y="876300"/>
            <a:chExt cx="3619500" cy="3486150"/>
          </a:xfrm>
        </p:grpSpPr>
        <p:sp>
          <p:nvSpPr>
            <p:cNvPr id="55" name="Rectangle 55"/>
            <p:cNvSpPr/>
            <p:nvPr/>
          </p:nvSpPr>
          <p:spPr>
            <a:xfrm>
              <a:off x="4191000" y="1333500"/>
              <a:ext cx="3619500" cy="3028950"/>
            </a:xfrm>
            <a:prstGeom prst="roundRect">
              <a:avLst>
                <a:gd name="adj" fmla="val 1887"/>
              </a:avLst>
            </a:prstGeom>
            <a:solidFill>
              <a:srgbClr val="FFFFFF"/>
            </a:solidFill>
            <a:ln w="9525">
              <a:solidFill>
                <a:srgbClr val="C7D9F0"/>
              </a:solidFill>
            </a:ln>
          </p:spPr>
        </p:sp>
        <p:sp>
          <p:nvSpPr>
            <p:cNvPr id="56" name="Rectangle 56"/>
            <p:cNvSpPr/>
            <p:nvPr/>
          </p:nvSpPr>
          <p:spPr>
            <a:xfrm>
              <a:off x="4191000" y="876300"/>
              <a:ext cx="3619500" cy="457200"/>
            </a:xfrm>
            <a:prstGeom prst="roundRect">
              <a:avLst>
                <a:gd name="adj" fmla="val 12500"/>
              </a:avLst>
            </a:prstGeom>
            <a:solidFill>
              <a:srgbClr val="9C331E"/>
            </a:solidFill>
            <a:ln>
              <a:noFill/>
            </a:ln>
          </p:spPr>
        </p:sp>
        <p:sp>
          <p:nvSpPr>
            <p:cNvPr id="57" name="Ellipse 57"/>
            <p:cNvSpPr/>
            <p:nvPr/>
          </p:nvSpPr>
          <p:spPr>
            <a:xfrm>
              <a:off x="4324350" y="952500"/>
              <a:ext cx="304800" cy="304800"/>
            </a:xfrm>
            <a:prstGeom prst="ellipse">
              <a:avLst/>
            </a:prstGeom>
            <a:solidFill>
              <a:srgbClr val="FFFFFF">
                <a:alpha val="18000"/>
              </a:srgbClr>
            </a:solidFill>
            <a:ln>
              <a:noFill/>
            </a:ln>
          </p:spPr>
        </p:sp>
        <p:grpSp>
          <p:nvGrpSpPr>
            <p:cNvPr id="60" name="Group 60"/>
            <p:cNvGrpSpPr/>
            <p:nvPr/>
          </p:nvGrpSpPr>
          <p:grpSpPr>
            <a:xfrm>
              <a:off x="4401828" y="1029978"/>
              <a:ext cx="149844" cy="149844"/>
              <a:chOff x="4401828" y="1029978"/>
              <a:chExt cx="149844" cy="149844"/>
            </a:xfrm>
          </p:grpSpPr>
          <p:sp>
            <p:nvSpPr>
              <p:cNvPr id="58" name="Freeform 58"/>
              <p:cNvSpPr/>
              <p:nvPr/>
            </p:nvSpPr>
            <p:spPr>
              <a:xfrm>
                <a:off x="4401828" y="102997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59" name="Freeform 59"/>
              <p:cNvSpPr/>
              <p:nvPr/>
            </p:nvSpPr>
            <p:spPr>
              <a:xfrm>
                <a:off x="4452937" y="108108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61" name="TextBox 61"/>
            <p:cNvSpPr txBox="1"/>
            <p:nvPr/>
          </p:nvSpPr>
          <p:spPr>
            <a:xfrm>
              <a:off x="4718685" y="954881"/>
              <a:ext cx="166994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已见生产嵌入或开放共建</a:t>
              </a:r>
            </a:p>
          </p:txBody>
        </p:sp>
        <p:sp>
          <p:nvSpPr>
            <p:cNvPr id="62" name="TextBox 62"/>
            <p:cNvSpPr txBox="1"/>
            <p:nvPr/>
          </p:nvSpPr>
          <p:spPr>
            <a:xfrm>
              <a:off x="4719638" y="1178957"/>
              <a:ext cx="2163445"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在具体生产环节实现系统接入，或通过开放共建加速落地</a:t>
              </a:r>
            </a:p>
          </p:txBody>
        </p:sp>
        <p:sp>
          <p:nvSpPr>
            <p:cNvPr id="63" name="Rectangle 63"/>
            <p:cNvSpPr/>
            <p:nvPr/>
          </p:nvSpPr>
          <p:spPr>
            <a:xfrm>
              <a:off x="4305300" y="1447800"/>
              <a:ext cx="571500" cy="152400"/>
            </a:xfrm>
            <a:prstGeom prst="roundRect">
              <a:avLst>
                <a:gd name="adj" fmla="val 18750"/>
              </a:avLst>
            </a:prstGeom>
            <a:solidFill>
              <a:srgbClr val="DCE9F8"/>
            </a:solidFill>
            <a:ln>
              <a:noFill/>
            </a:ln>
          </p:spPr>
        </p:sp>
        <p:sp>
          <p:nvSpPr>
            <p:cNvPr id="64" name="TextBox 64"/>
            <p:cNvSpPr txBox="1"/>
            <p:nvPr/>
          </p:nvSpPr>
          <p:spPr>
            <a:xfrm>
              <a:off x="4413974" y="1493282"/>
              <a:ext cx="354152" cy="126206"/>
            </a:xfrm>
            <a:prstGeom prst="rect">
              <a:avLst/>
            </a:prstGeom>
            <a:noFill/>
            <a:ln>
              <a:noFill/>
            </a:ln>
          </p:spPr>
          <p:txBody>
            <a:bodyPr wrap="none" lIns="0" tIns="0" rIns="0" bIns="0" anchor="t" anchorCtr="0">
              <a:spAutoFit/>
            </a:bodyPr>
            <a:lstStyle/>
            <a:p>
              <a:pPr algn="ctr"/>
              <a:r>
                <a:rPr lang="zh-CN" sz="640" b="1" dirty="0">
                  <a:solidFill>
                    <a:srgbClr val="9C331E"/>
                  </a:solidFill>
                  <a:latin typeface="+mn-lt"/>
                  <a:ea typeface="+mn-ea"/>
                  <a:cs typeface="+mn-cs"/>
                </a:rPr>
                <a:t>典型案例</a:t>
              </a:r>
            </a:p>
          </p:txBody>
        </p:sp>
        <p:sp>
          <p:nvSpPr>
            <p:cNvPr id="65" name="Rectangle 65"/>
            <p:cNvSpPr/>
            <p:nvPr/>
          </p:nvSpPr>
          <p:spPr>
            <a:xfrm>
              <a:off x="4305300" y="1676400"/>
              <a:ext cx="1143000" cy="971550"/>
            </a:xfrm>
            <a:prstGeom prst="roundRect">
              <a:avLst>
                <a:gd name="adj" fmla="val 3922"/>
              </a:avLst>
            </a:prstGeom>
            <a:solidFill>
              <a:srgbClr val="DCE9F8"/>
            </a:solidFill>
            <a:ln>
              <a:noFill/>
            </a:ln>
          </p:spPr>
        </p:sp>
        <p:sp>
          <p:nvSpPr>
            <p:cNvPr id="66" name="Freeform 66"/>
            <p:cNvSpPr/>
            <p:nvPr/>
          </p:nvSpPr>
          <p:spPr>
            <a:xfrm>
              <a:off x="4400550" y="1790700"/>
              <a:ext cx="952500" cy="628650"/>
            </a:xfrm>
            <a:custGeom>
              <a:avLst/>
              <a:gdLst/>
              <a:ahLst/>
              <a:cxnLst/>
              <a:rect l="l" t="t" r="r" b="b"/>
              <a:pathLst>
                <a:path w="952500" h="628650">
                  <a:moveTo>
                    <a:pt x="0" y="114300"/>
                  </a:moveTo>
                  <a:lnTo>
                    <a:pt x="952500" y="114300"/>
                  </a:lnTo>
                  <a:moveTo>
                    <a:pt x="76200" y="114300"/>
                  </a:moveTo>
                  <a:lnTo>
                    <a:pt x="76200" y="628650"/>
                  </a:lnTo>
                  <a:moveTo>
                    <a:pt x="876300" y="114300"/>
                  </a:moveTo>
                  <a:lnTo>
                    <a:pt x="876300" y="628650"/>
                  </a:lnTo>
                  <a:moveTo>
                    <a:pt x="0" y="114300"/>
                  </a:moveTo>
                  <a:lnTo>
                    <a:pt x="0" y="0"/>
                  </a:lnTo>
                  <a:lnTo>
                    <a:pt x="952500" y="0"/>
                  </a:lnTo>
                  <a:lnTo>
                    <a:pt x="952500" y="114300"/>
                  </a:lnTo>
                </a:path>
              </a:pathLst>
            </a:custGeom>
            <a:noFill/>
            <a:ln w="28575">
              <a:solidFill>
                <a:srgbClr val="C2412B"/>
              </a:solidFill>
            </a:ln>
          </p:spPr>
        </p:sp>
        <p:sp>
          <p:nvSpPr>
            <p:cNvPr id="67" name="Polygon 67"/>
            <p:cNvSpPr/>
            <p:nvPr/>
          </p:nvSpPr>
          <p:spPr>
            <a:xfrm>
              <a:off x="4572000" y="2419350"/>
              <a:ext cx="685800" cy="152400"/>
            </a:xfrm>
            <a:custGeom>
              <a:avLst/>
              <a:gdLst/>
              <a:ahLst/>
              <a:cxnLst/>
              <a:rect l="l" t="t" r="r" b="b"/>
              <a:pathLst>
                <a:path w="685800" h="152400">
                  <a:moveTo>
                    <a:pt x="0" y="0"/>
                  </a:moveTo>
                  <a:lnTo>
                    <a:pt x="95250" y="152400"/>
                  </a:lnTo>
                  <a:lnTo>
                    <a:pt x="571500" y="152400"/>
                  </a:lnTo>
                  <a:lnTo>
                    <a:pt x="685800" y="0"/>
                  </a:lnTo>
                  <a:close/>
                </a:path>
              </a:pathLst>
            </a:custGeom>
            <a:solidFill>
              <a:srgbClr val="6F2516"/>
            </a:solidFill>
            <a:ln>
              <a:noFill/>
            </a:ln>
          </p:spPr>
        </p:sp>
        <p:sp>
          <p:nvSpPr>
            <p:cNvPr id="68" name="Rectangle 68"/>
            <p:cNvSpPr/>
            <p:nvPr/>
          </p:nvSpPr>
          <p:spPr>
            <a:xfrm>
              <a:off x="4305300" y="2571750"/>
              <a:ext cx="1143000" cy="76200"/>
            </a:xfrm>
            <a:prstGeom prst="rect">
              <a:avLst/>
            </a:prstGeom>
            <a:solidFill>
              <a:srgbClr val="DC9C8F"/>
            </a:solidFill>
            <a:ln>
              <a:noFill/>
            </a:ln>
          </p:spPr>
        </p:sp>
        <p:sp>
          <p:nvSpPr>
            <p:cNvPr id="69" name="TextBox 69"/>
            <p:cNvSpPr txBox="1"/>
            <p:nvPr/>
          </p:nvSpPr>
          <p:spPr>
            <a:xfrm>
              <a:off x="5557838" y="1769745"/>
              <a:ext cx="1314831"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江南造船数据嵌入JNIS​</a:t>
              </a:r>
            </a:p>
          </p:txBody>
        </p:sp>
        <p:sp>
          <p:nvSpPr>
            <p:cNvPr id="70" name="Ellipse 70"/>
            <p:cNvSpPr/>
            <p:nvPr/>
          </p:nvSpPr>
          <p:spPr>
            <a:xfrm>
              <a:off x="5581650" y="2019300"/>
              <a:ext cx="38100" cy="38100"/>
            </a:xfrm>
            <a:prstGeom prst="ellipse">
              <a:avLst/>
            </a:prstGeom>
            <a:solidFill>
              <a:srgbClr val="9C331E"/>
            </a:solidFill>
            <a:ln>
              <a:noFill/>
            </a:ln>
          </p:spPr>
        </p:sp>
        <p:sp>
          <p:nvSpPr>
            <p:cNvPr id="71" name="TextBox 71"/>
            <p:cNvSpPr txBox="1"/>
            <p:nvPr/>
          </p:nvSpPr>
          <p:spPr>
            <a:xfrm>
              <a:off x="5672138" y="1998107"/>
              <a:ext cx="1270991"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生产数据嵌入企业现有系统JNIS​</a:t>
              </a:r>
            </a:p>
          </p:txBody>
        </p:sp>
        <p:sp>
          <p:nvSpPr>
            <p:cNvPr id="72" name="Ellipse 72"/>
            <p:cNvSpPr/>
            <p:nvPr/>
          </p:nvSpPr>
          <p:spPr>
            <a:xfrm>
              <a:off x="5581650" y="2171700"/>
              <a:ext cx="38100" cy="38100"/>
            </a:xfrm>
            <a:prstGeom prst="ellipse">
              <a:avLst/>
            </a:prstGeom>
            <a:solidFill>
              <a:srgbClr val="9C331E"/>
            </a:solidFill>
            <a:ln>
              <a:noFill/>
            </a:ln>
          </p:spPr>
        </p:sp>
        <p:sp>
          <p:nvSpPr>
            <p:cNvPr id="73" name="TextBox 73"/>
            <p:cNvSpPr txBox="1"/>
            <p:nvPr/>
          </p:nvSpPr>
          <p:spPr>
            <a:xfrm>
              <a:off x="5672138" y="2150507"/>
              <a:ext cx="698779"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用于实际生产流程</a:t>
              </a:r>
            </a:p>
          </p:txBody>
        </p:sp>
        <p:sp>
          <p:nvSpPr>
            <p:cNvPr id="74" name="Ellipse 74"/>
            <p:cNvSpPr/>
            <p:nvPr/>
          </p:nvSpPr>
          <p:spPr>
            <a:xfrm>
              <a:off x="5581650" y="2324100"/>
              <a:ext cx="38100" cy="38100"/>
            </a:xfrm>
            <a:prstGeom prst="ellipse">
              <a:avLst/>
            </a:prstGeom>
            <a:solidFill>
              <a:srgbClr val="9C331E"/>
            </a:solidFill>
            <a:ln>
              <a:noFill/>
            </a:ln>
          </p:spPr>
        </p:sp>
        <p:sp>
          <p:nvSpPr>
            <p:cNvPr id="75" name="TextBox 75"/>
            <p:cNvSpPr txBox="1"/>
            <p:nvPr/>
          </p:nvSpPr>
          <p:spPr>
            <a:xfrm>
              <a:off x="5672138" y="2302907"/>
              <a:ext cx="1043407"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有公开报道与行业信息可查</a:t>
              </a:r>
            </a:p>
          </p:txBody>
        </p:sp>
        <p:sp>
          <p:nvSpPr>
            <p:cNvPr id="76" name="Rectangle 76"/>
            <p:cNvSpPr/>
            <p:nvPr/>
          </p:nvSpPr>
          <p:spPr>
            <a:xfrm>
              <a:off x="4305300" y="2743200"/>
              <a:ext cx="1143000" cy="971550"/>
            </a:xfrm>
            <a:prstGeom prst="roundRect">
              <a:avLst>
                <a:gd name="adj" fmla="val 3922"/>
              </a:avLst>
            </a:prstGeom>
            <a:solidFill>
              <a:srgbClr val="573F3A"/>
            </a:solidFill>
            <a:ln>
              <a:noFill/>
            </a:ln>
          </p:spPr>
        </p:sp>
        <p:sp>
          <p:nvSpPr>
            <p:cNvPr id="77" name="Freeform 77"/>
            <p:cNvSpPr/>
            <p:nvPr/>
          </p:nvSpPr>
          <p:spPr>
            <a:xfrm>
              <a:off x="4305300" y="3200400"/>
              <a:ext cx="1143000" cy="514350"/>
            </a:xfrm>
            <a:custGeom>
              <a:avLst/>
              <a:gdLst/>
              <a:ahLst/>
              <a:cxnLst/>
              <a:rect l="l" t="t" r="r" b="b"/>
              <a:pathLst>
                <a:path w="1143000" h="514350">
                  <a:moveTo>
                    <a:pt x="0" y="323850"/>
                  </a:moveTo>
                  <a:cubicBezTo>
                    <a:pt x="190500" y="69850"/>
                    <a:pt x="381000" y="0"/>
                    <a:pt x="571500" y="114300"/>
                  </a:cubicBezTo>
                  <a:cubicBezTo>
                    <a:pt x="762000" y="228600"/>
                    <a:pt x="952500" y="203200"/>
                    <a:pt x="1143000" y="38100"/>
                  </a:cubicBezTo>
                  <a:lnTo>
                    <a:pt x="1143000" y="514350"/>
                  </a:lnTo>
                  <a:lnTo>
                    <a:pt x="0" y="514350"/>
                  </a:lnTo>
                  <a:close/>
                </a:path>
              </a:pathLst>
            </a:custGeom>
            <a:solidFill>
              <a:srgbClr val="5E2114"/>
            </a:solidFill>
            <a:ln>
              <a:noFill/>
            </a:ln>
          </p:spPr>
        </p:sp>
        <p:sp>
          <p:nvSpPr>
            <p:cNvPr id="78" name="Freeform 78"/>
            <p:cNvSpPr/>
            <p:nvPr/>
          </p:nvSpPr>
          <p:spPr>
            <a:xfrm>
              <a:off x="4381500" y="3276600"/>
              <a:ext cx="952500" cy="266700"/>
            </a:xfrm>
            <a:custGeom>
              <a:avLst/>
              <a:gdLst/>
              <a:ahLst/>
              <a:cxnLst/>
              <a:rect l="l" t="t" r="r" b="b"/>
              <a:pathLst>
                <a:path w="952500" h="266700">
                  <a:moveTo>
                    <a:pt x="0" y="266700"/>
                  </a:moveTo>
                  <a:lnTo>
                    <a:pt x="952500" y="0"/>
                  </a:lnTo>
                </a:path>
              </a:pathLst>
            </a:custGeom>
            <a:noFill/>
            <a:ln w="57150">
              <a:solidFill>
                <a:srgbClr val="9B807A"/>
              </a:solidFill>
            </a:ln>
          </p:spPr>
        </p:sp>
        <p:sp>
          <p:nvSpPr>
            <p:cNvPr id="79" name="Ellipse 79"/>
            <p:cNvSpPr/>
            <p:nvPr/>
          </p:nvSpPr>
          <p:spPr>
            <a:xfrm>
              <a:off x="4429125" y="3552825"/>
              <a:ext cx="95250" cy="95250"/>
            </a:xfrm>
            <a:prstGeom prst="ellipse">
              <a:avLst/>
            </a:prstGeom>
            <a:solidFill>
              <a:srgbClr val="ECB3A8"/>
            </a:solidFill>
            <a:ln>
              <a:noFill/>
            </a:ln>
          </p:spPr>
        </p:sp>
        <p:sp>
          <p:nvSpPr>
            <p:cNvPr id="80" name="Ellipse 80"/>
            <p:cNvSpPr/>
            <p:nvPr/>
          </p:nvSpPr>
          <p:spPr>
            <a:xfrm>
              <a:off x="5210175" y="3305175"/>
              <a:ext cx="95250" cy="95250"/>
            </a:xfrm>
            <a:prstGeom prst="ellipse">
              <a:avLst/>
            </a:prstGeom>
            <a:solidFill>
              <a:srgbClr val="ECB3A8"/>
            </a:solidFill>
            <a:ln>
              <a:noFill/>
            </a:ln>
          </p:spPr>
        </p:sp>
        <p:sp>
          <p:nvSpPr>
            <p:cNvPr id="81" name="Rectangle 81"/>
            <p:cNvSpPr/>
            <p:nvPr/>
          </p:nvSpPr>
          <p:spPr>
            <a:xfrm>
              <a:off x="4972050" y="2857500"/>
              <a:ext cx="342900" cy="209550"/>
            </a:xfrm>
            <a:prstGeom prst="roundRect">
              <a:avLst>
                <a:gd name="adj" fmla="val 13636"/>
              </a:avLst>
            </a:prstGeom>
            <a:solidFill>
              <a:srgbClr val="E5472B"/>
            </a:solidFill>
            <a:ln>
              <a:noFill/>
            </a:ln>
          </p:spPr>
        </p:sp>
        <p:sp>
          <p:nvSpPr>
            <p:cNvPr id="82" name="TextBox 82"/>
            <p:cNvSpPr txBox="1"/>
            <p:nvPr/>
          </p:nvSpPr>
          <p:spPr>
            <a:xfrm>
              <a:off x="5557838" y="2836545"/>
              <a:ext cx="1342263"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煤矿装备四类十六子场景</a:t>
              </a:r>
            </a:p>
          </p:txBody>
        </p:sp>
        <p:sp>
          <p:nvSpPr>
            <p:cNvPr id="83" name="Ellipse 83"/>
            <p:cNvSpPr/>
            <p:nvPr/>
          </p:nvSpPr>
          <p:spPr>
            <a:xfrm>
              <a:off x="5581650" y="3086100"/>
              <a:ext cx="38100" cy="38100"/>
            </a:xfrm>
            <a:prstGeom prst="ellipse">
              <a:avLst/>
            </a:prstGeom>
            <a:solidFill>
              <a:srgbClr val="9C331E"/>
            </a:solidFill>
            <a:ln>
              <a:noFill/>
            </a:ln>
          </p:spPr>
        </p:sp>
        <p:sp>
          <p:nvSpPr>
            <p:cNvPr id="84" name="TextBox 84"/>
            <p:cNvSpPr txBox="1"/>
            <p:nvPr/>
          </p:nvSpPr>
          <p:spPr>
            <a:xfrm>
              <a:off x="5672138" y="3064907"/>
              <a:ext cx="1301877"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围绕矿山装备形成四类十六子场景</a:t>
              </a:r>
            </a:p>
          </p:txBody>
        </p:sp>
        <p:sp>
          <p:nvSpPr>
            <p:cNvPr id="85" name="Ellipse 85"/>
            <p:cNvSpPr/>
            <p:nvPr/>
          </p:nvSpPr>
          <p:spPr>
            <a:xfrm>
              <a:off x="5581650" y="3238500"/>
              <a:ext cx="38100" cy="38100"/>
            </a:xfrm>
            <a:prstGeom prst="ellipse">
              <a:avLst/>
            </a:prstGeom>
            <a:solidFill>
              <a:srgbClr val="9C331E"/>
            </a:solidFill>
            <a:ln>
              <a:noFill/>
            </a:ln>
          </p:spPr>
        </p:sp>
        <p:sp>
          <p:nvSpPr>
            <p:cNvPr id="86" name="TextBox 86"/>
            <p:cNvSpPr txBox="1"/>
            <p:nvPr/>
          </p:nvSpPr>
          <p:spPr>
            <a:xfrm>
              <a:off x="5672138" y="3217307"/>
              <a:ext cx="871093"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在实际生产中推进应用</a:t>
              </a:r>
            </a:p>
          </p:txBody>
        </p:sp>
        <p:sp>
          <p:nvSpPr>
            <p:cNvPr id="87" name="Ellipse 87"/>
            <p:cNvSpPr/>
            <p:nvPr/>
          </p:nvSpPr>
          <p:spPr>
            <a:xfrm>
              <a:off x="5581650" y="3390900"/>
              <a:ext cx="38100" cy="38100"/>
            </a:xfrm>
            <a:prstGeom prst="ellipse">
              <a:avLst/>
            </a:prstGeom>
            <a:solidFill>
              <a:srgbClr val="9C331E"/>
            </a:solidFill>
            <a:ln>
              <a:noFill/>
            </a:ln>
          </p:spPr>
        </p:sp>
        <p:sp>
          <p:nvSpPr>
            <p:cNvPr id="88" name="TextBox 88"/>
            <p:cNvSpPr txBox="1"/>
            <p:nvPr/>
          </p:nvSpPr>
          <p:spPr>
            <a:xfrm>
              <a:off x="5672138" y="3369707"/>
              <a:ext cx="1043407"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有公开案例与行业信息可查</a:t>
              </a:r>
            </a:p>
          </p:txBody>
        </p:sp>
        <p:sp>
          <p:nvSpPr>
            <p:cNvPr id="89" name="Rectangle 89"/>
            <p:cNvSpPr/>
            <p:nvPr/>
          </p:nvSpPr>
          <p:spPr>
            <a:xfrm>
              <a:off x="4305300" y="3810000"/>
              <a:ext cx="3390900" cy="476250"/>
            </a:xfrm>
            <a:prstGeom prst="roundRect">
              <a:avLst>
                <a:gd name="adj" fmla="val 8000"/>
              </a:avLst>
            </a:prstGeom>
            <a:solidFill>
              <a:srgbClr val="EFF5FC"/>
            </a:solidFill>
            <a:ln>
              <a:noFill/>
            </a:ln>
          </p:spPr>
        </p:sp>
        <p:sp>
          <p:nvSpPr>
            <p:cNvPr id="90" name="Ellipse 90"/>
            <p:cNvSpPr/>
            <p:nvPr/>
          </p:nvSpPr>
          <p:spPr>
            <a:xfrm>
              <a:off x="4371975" y="3924300"/>
              <a:ext cx="247650" cy="247650"/>
            </a:xfrm>
            <a:prstGeom prst="ellipse">
              <a:avLst/>
            </a:prstGeom>
            <a:solidFill>
              <a:srgbClr val="9C331E"/>
            </a:solidFill>
            <a:ln>
              <a:noFill/>
            </a:ln>
          </p:spPr>
        </p:sp>
        <p:grpSp>
          <p:nvGrpSpPr>
            <p:cNvPr id="93" name="Group 93"/>
            <p:cNvGrpSpPr/>
            <p:nvPr/>
          </p:nvGrpSpPr>
          <p:grpSpPr>
            <a:xfrm>
              <a:off x="4435862" y="3988187"/>
              <a:ext cx="119875" cy="119875"/>
              <a:chOff x="4435862" y="3988187"/>
              <a:chExt cx="119875" cy="119875"/>
            </a:xfrm>
          </p:grpSpPr>
          <p:sp>
            <p:nvSpPr>
              <p:cNvPr id="91" name="Freeform 91"/>
              <p:cNvSpPr/>
              <p:nvPr/>
            </p:nvSpPr>
            <p:spPr>
              <a:xfrm>
                <a:off x="4435862" y="3988187"/>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FFFFFF"/>
                </a:solidFill>
              </a:ln>
            </p:spPr>
          </p:sp>
          <p:sp>
            <p:nvSpPr>
              <p:cNvPr id="92" name="Freeform 92"/>
              <p:cNvSpPr/>
              <p:nvPr/>
            </p:nvSpPr>
            <p:spPr>
              <a:xfrm>
                <a:off x="4476750" y="40290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FFFFFF"/>
                </a:solidFill>
              </a:ln>
            </p:spPr>
          </p:sp>
        </p:grpSp>
        <p:sp>
          <p:nvSpPr>
            <p:cNvPr id="94" name="TextBox 94"/>
            <p:cNvSpPr txBox="1"/>
            <p:nvPr/>
          </p:nvSpPr>
          <p:spPr>
            <a:xfrm>
              <a:off x="4700588" y="3937159"/>
              <a:ext cx="212966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这些案例显示技术已进入生产流程，或通过开放</a:t>
              </a:r>
              <a:br/>
              <a:r>
                <a:rPr lang="zh-CN" sz="680" dirty="0">
                  <a:solidFill>
                    <a:srgbClr val="573F3A"/>
                  </a:solidFill>
                  <a:latin typeface="+mn-lt"/>
                  <a:ea typeface="+mn-ea"/>
                  <a:cs typeface="+mn-cs"/>
                </a:rPr>
                <a:t>共建推动落地，正在从单点试运行走向更深层的融合。​</a:t>
              </a:r>
            </a:p>
          </p:txBody>
        </p:sp>
      </p:grpSp>
      <p:grpSp>
        <p:nvGrpSpPr>
          <p:cNvPr id="140" name="state-3"/>
          <p:cNvGrpSpPr/>
          <p:nvPr/>
        </p:nvGrpSpPr>
        <p:grpSpPr>
          <a:xfrm>
            <a:off x="8001000" y="876300"/>
            <a:ext cx="3619500" cy="3486150"/>
            <a:chOff x="8001000" y="876300"/>
            <a:chExt cx="3619500" cy="3486150"/>
          </a:xfrm>
        </p:grpSpPr>
        <p:sp>
          <p:nvSpPr>
            <p:cNvPr id="96" name="Rectangle 96"/>
            <p:cNvSpPr/>
            <p:nvPr/>
          </p:nvSpPr>
          <p:spPr>
            <a:xfrm>
              <a:off x="8001000" y="1333500"/>
              <a:ext cx="3619500" cy="3028950"/>
            </a:xfrm>
            <a:prstGeom prst="roundRect">
              <a:avLst>
                <a:gd name="adj" fmla="val 1887"/>
              </a:avLst>
            </a:prstGeom>
            <a:solidFill>
              <a:srgbClr val="FFFFFF"/>
            </a:solidFill>
            <a:ln w="9525">
              <a:solidFill>
                <a:srgbClr val="C7D9F0"/>
              </a:solidFill>
            </a:ln>
          </p:spPr>
        </p:sp>
        <p:sp>
          <p:nvSpPr>
            <p:cNvPr id="97" name="Rectangle 97"/>
            <p:cNvSpPr/>
            <p:nvPr/>
          </p:nvSpPr>
          <p:spPr>
            <a:xfrm>
              <a:off x="8001000" y="876300"/>
              <a:ext cx="3619500" cy="457200"/>
            </a:xfrm>
            <a:prstGeom prst="roundRect">
              <a:avLst>
                <a:gd name="adj" fmla="val 12500"/>
              </a:avLst>
            </a:prstGeom>
            <a:solidFill>
              <a:srgbClr val="D64A2E"/>
            </a:solidFill>
            <a:ln>
              <a:noFill/>
            </a:ln>
          </p:spPr>
        </p:sp>
        <p:sp>
          <p:nvSpPr>
            <p:cNvPr id="98" name="Ellipse 98"/>
            <p:cNvSpPr/>
            <p:nvPr/>
          </p:nvSpPr>
          <p:spPr>
            <a:xfrm>
              <a:off x="8134350" y="952500"/>
              <a:ext cx="304800" cy="304800"/>
            </a:xfrm>
            <a:prstGeom prst="ellipse">
              <a:avLst/>
            </a:prstGeom>
            <a:solidFill>
              <a:srgbClr val="FFFFFF">
                <a:alpha val="18000"/>
              </a:srgbClr>
            </a:solidFill>
            <a:ln>
              <a:noFill/>
            </a:ln>
          </p:spPr>
        </p:sp>
        <p:grpSp>
          <p:nvGrpSpPr>
            <p:cNvPr id="104" name="Group 104"/>
            <p:cNvGrpSpPr/>
            <p:nvPr/>
          </p:nvGrpSpPr>
          <p:grpSpPr>
            <a:xfrm>
              <a:off x="8231187" y="1033462"/>
              <a:ext cx="111125" cy="142875"/>
              <a:chOff x="8231187" y="1033462"/>
              <a:chExt cx="111125" cy="142875"/>
            </a:xfrm>
          </p:grpSpPr>
          <p:sp>
            <p:nvSpPr>
              <p:cNvPr id="99" name="Freeform 99"/>
              <p:cNvSpPr/>
              <p:nvPr/>
            </p:nvSpPr>
            <p:spPr>
              <a:xfrm>
                <a:off x="8302625" y="10334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100" name="Freeform 100"/>
              <p:cNvSpPr/>
              <p:nvPr/>
            </p:nvSpPr>
            <p:spPr>
              <a:xfrm>
                <a:off x="8231187" y="10334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101" name="Freeform 101"/>
              <p:cNvSpPr/>
              <p:nvPr/>
            </p:nvSpPr>
            <p:spPr>
              <a:xfrm>
                <a:off x="8262937" y="108108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02" name="Freeform 102"/>
              <p:cNvSpPr/>
              <p:nvPr/>
            </p:nvSpPr>
            <p:spPr>
              <a:xfrm>
                <a:off x="8262937" y="111283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103" name="Freeform 103"/>
              <p:cNvSpPr/>
              <p:nvPr/>
            </p:nvSpPr>
            <p:spPr>
              <a:xfrm>
                <a:off x="8262937" y="114458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105" name="TextBox 105"/>
            <p:cNvSpPr txBox="1"/>
            <p:nvPr/>
          </p:nvSpPr>
          <p:spPr>
            <a:xfrm>
              <a:off x="8528685" y="954881"/>
              <a:ext cx="166994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已确认入选但成效待披露</a:t>
              </a:r>
            </a:p>
          </p:txBody>
        </p:sp>
        <p:sp>
          <p:nvSpPr>
            <p:cNvPr id="106" name="TextBox 106"/>
            <p:cNvSpPr txBox="1"/>
            <p:nvPr/>
          </p:nvSpPr>
          <p:spPr>
            <a:xfrm>
              <a:off x="8529638" y="1178957"/>
              <a:ext cx="2335759" cy="126206"/>
            </a:xfrm>
            <a:prstGeom prst="rect">
              <a:avLst/>
            </a:prstGeom>
            <a:noFill/>
            <a:ln>
              <a:noFill/>
            </a:ln>
          </p:spPr>
          <p:txBody>
            <a:bodyPr wrap="none" lIns="0" tIns="0" rIns="0" bIns="0" anchor="t" anchorCtr="0">
              <a:spAutoFit/>
            </a:bodyPr>
            <a:lstStyle/>
            <a:p>
              <a:pPr algn="l"/>
              <a:r>
                <a:rPr lang="zh-CN" sz="640" dirty="0">
                  <a:solidFill>
                    <a:srgbClr val="DCE9F8"/>
                  </a:solidFill>
                  <a:latin typeface="+mn-lt"/>
                  <a:ea typeface="+mn-ea"/>
                  <a:cs typeface="+mn-cs"/>
                </a:rPr>
                <a:t>已入选相关名单或试点范围，但公开成效信息有待进一步披露</a:t>
              </a:r>
            </a:p>
          </p:txBody>
        </p:sp>
        <p:sp>
          <p:nvSpPr>
            <p:cNvPr id="107" name="Rectangle 107"/>
            <p:cNvSpPr/>
            <p:nvPr/>
          </p:nvSpPr>
          <p:spPr>
            <a:xfrm>
              <a:off x="8115300" y="1447800"/>
              <a:ext cx="571500" cy="152400"/>
            </a:xfrm>
            <a:prstGeom prst="roundRect">
              <a:avLst>
                <a:gd name="adj" fmla="val 18750"/>
              </a:avLst>
            </a:prstGeom>
            <a:solidFill>
              <a:srgbClr val="DCE9F8"/>
            </a:solidFill>
            <a:ln>
              <a:noFill/>
            </a:ln>
          </p:spPr>
        </p:sp>
        <p:sp>
          <p:nvSpPr>
            <p:cNvPr id="108" name="TextBox 108"/>
            <p:cNvSpPr txBox="1"/>
            <p:nvPr/>
          </p:nvSpPr>
          <p:spPr>
            <a:xfrm>
              <a:off x="8223974" y="1493282"/>
              <a:ext cx="354152" cy="126206"/>
            </a:xfrm>
            <a:prstGeom prst="rect">
              <a:avLst/>
            </a:prstGeom>
            <a:noFill/>
            <a:ln>
              <a:noFill/>
            </a:ln>
          </p:spPr>
          <p:txBody>
            <a:bodyPr wrap="none" lIns="0" tIns="0" rIns="0" bIns="0" anchor="t" anchorCtr="0">
              <a:spAutoFit/>
            </a:bodyPr>
            <a:lstStyle/>
            <a:p>
              <a:pPr algn="ctr"/>
              <a:r>
                <a:rPr lang="zh-CN" sz="640" b="1" dirty="0">
                  <a:solidFill>
                    <a:srgbClr val="9C331E"/>
                  </a:solidFill>
                  <a:latin typeface="+mn-lt"/>
                  <a:ea typeface="+mn-ea"/>
                  <a:cs typeface="+mn-cs"/>
                </a:rPr>
                <a:t>典型案例</a:t>
              </a:r>
            </a:p>
          </p:txBody>
        </p:sp>
        <p:sp>
          <p:nvSpPr>
            <p:cNvPr id="109" name="Rectangle 109"/>
            <p:cNvSpPr/>
            <p:nvPr/>
          </p:nvSpPr>
          <p:spPr>
            <a:xfrm>
              <a:off x="8115300" y="1676400"/>
              <a:ext cx="1143000" cy="971550"/>
            </a:xfrm>
            <a:prstGeom prst="roundRect">
              <a:avLst>
                <a:gd name="adj" fmla="val 3922"/>
              </a:avLst>
            </a:prstGeom>
            <a:solidFill>
              <a:srgbClr val="5E2114"/>
            </a:solidFill>
            <a:ln>
              <a:noFill/>
            </a:ln>
          </p:spPr>
        </p:sp>
        <p:sp>
          <p:nvSpPr>
            <p:cNvPr id="110" name="Rectangle 110"/>
            <p:cNvSpPr/>
            <p:nvPr/>
          </p:nvSpPr>
          <p:spPr>
            <a:xfrm>
              <a:off x="8210550" y="1790700"/>
              <a:ext cx="438150" cy="285750"/>
            </a:xfrm>
            <a:prstGeom prst="roundRect">
              <a:avLst>
                <a:gd name="adj" fmla="val 6667"/>
              </a:avLst>
            </a:prstGeom>
            <a:solidFill>
              <a:srgbClr val="D64A2E"/>
            </a:solidFill>
            <a:ln>
              <a:noFill/>
            </a:ln>
          </p:spPr>
        </p:sp>
        <p:sp>
          <p:nvSpPr>
            <p:cNvPr id="111" name="Rectangle 111"/>
            <p:cNvSpPr/>
            <p:nvPr/>
          </p:nvSpPr>
          <p:spPr>
            <a:xfrm>
              <a:off x="8705850" y="1790700"/>
              <a:ext cx="457200" cy="285750"/>
            </a:xfrm>
            <a:prstGeom prst="roundRect">
              <a:avLst>
                <a:gd name="adj" fmla="val 6667"/>
              </a:avLst>
            </a:prstGeom>
            <a:solidFill>
              <a:srgbClr val="DE715B"/>
            </a:solidFill>
            <a:ln>
              <a:noFill/>
            </a:ln>
          </p:spPr>
        </p:sp>
        <p:sp>
          <p:nvSpPr>
            <p:cNvPr id="112" name="Rectangle 112"/>
            <p:cNvSpPr/>
            <p:nvPr/>
          </p:nvSpPr>
          <p:spPr>
            <a:xfrm>
              <a:off x="8210550" y="2133600"/>
              <a:ext cx="952500" cy="228600"/>
            </a:xfrm>
            <a:prstGeom prst="roundRect">
              <a:avLst>
                <a:gd name="adj" fmla="val 8333"/>
              </a:avLst>
            </a:prstGeom>
            <a:solidFill>
              <a:srgbClr val="9C331E"/>
            </a:solidFill>
            <a:ln>
              <a:noFill/>
            </a:ln>
          </p:spPr>
        </p:sp>
        <p:sp>
          <p:nvSpPr>
            <p:cNvPr id="113" name="Freeform 113"/>
            <p:cNvSpPr/>
            <p:nvPr/>
          </p:nvSpPr>
          <p:spPr>
            <a:xfrm>
              <a:off x="8267700" y="2152650"/>
              <a:ext cx="781050" cy="133350"/>
            </a:xfrm>
            <a:custGeom>
              <a:avLst/>
              <a:gdLst/>
              <a:ahLst/>
              <a:cxnLst/>
              <a:rect l="l" t="t" r="r" b="b"/>
              <a:pathLst>
                <a:path w="781050" h="133350">
                  <a:moveTo>
                    <a:pt x="0" y="133350"/>
                  </a:moveTo>
                  <a:lnTo>
                    <a:pt x="152400" y="57150"/>
                  </a:lnTo>
                  <a:lnTo>
                    <a:pt x="304800" y="95250"/>
                  </a:lnTo>
                  <a:lnTo>
                    <a:pt x="457200" y="19050"/>
                  </a:lnTo>
                  <a:lnTo>
                    <a:pt x="609600" y="76200"/>
                  </a:lnTo>
                  <a:lnTo>
                    <a:pt x="781050" y="0"/>
                  </a:lnTo>
                </a:path>
              </a:pathLst>
            </a:custGeom>
            <a:noFill/>
            <a:ln w="14288">
              <a:solidFill>
                <a:srgbClr val="FF957F"/>
              </a:solidFill>
            </a:ln>
          </p:spPr>
        </p:sp>
        <p:sp>
          <p:nvSpPr>
            <p:cNvPr id="114" name="Rectangle 114"/>
            <p:cNvSpPr/>
            <p:nvPr/>
          </p:nvSpPr>
          <p:spPr>
            <a:xfrm>
              <a:off x="8401050" y="2438400"/>
              <a:ext cx="571500" cy="133350"/>
            </a:xfrm>
            <a:prstGeom prst="roundRect">
              <a:avLst>
                <a:gd name="adj" fmla="val 14286"/>
              </a:avLst>
            </a:prstGeom>
            <a:solidFill>
              <a:srgbClr val="9E4C3B"/>
            </a:solidFill>
            <a:ln>
              <a:noFill/>
            </a:ln>
          </p:spPr>
        </p:sp>
        <p:sp>
          <p:nvSpPr>
            <p:cNvPr id="115" name="TextBox 115"/>
            <p:cNvSpPr txBox="1"/>
            <p:nvPr/>
          </p:nvSpPr>
          <p:spPr>
            <a:xfrm>
              <a:off x="9367838" y="17697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电网调控</a:t>
              </a:r>
            </a:p>
          </p:txBody>
        </p:sp>
        <p:sp>
          <p:nvSpPr>
            <p:cNvPr id="116" name="Ellipse 116"/>
            <p:cNvSpPr/>
            <p:nvPr/>
          </p:nvSpPr>
          <p:spPr>
            <a:xfrm>
              <a:off x="9391650" y="2019300"/>
              <a:ext cx="38100" cy="38100"/>
            </a:xfrm>
            <a:prstGeom prst="ellipse">
              <a:avLst/>
            </a:prstGeom>
            <a:solidFill>
              <a:srgbClr val="9C331E"/>
            </a:solidFill>
            <a:ln>
              <a:noFill/>
            </a:ln>
          </p:spPr>
        </p:sp>
        <p:sp>
          <p:nvSpPr>
            <p:cNvPr id="117" name="TextBox 117"/>
            <p:cNvSpPr txBox="1"/>
            <p:nvPr/>
          </p:nvSpPr>
          <p:spPr>
            <a:xfrm>
              <a:off x="9482138" y="1998107"/>
              <a:ext cx="1043407"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已入选相关试点或应用名单</a:t>
              </a:r>
            </a:p>
          </p:txBody>
        </p:sp>
        <p:sp>
          <p:nvSpPr>
            <p:cNvPr id="118" name="Ellipse 118"/>
            <p:cNvSpPr/>
            <p:nvPr/>
          </p:nvSpPr>
          <p:spPr>
            <a:xfrm>
              <a:off x="9391650" y="2171700"/>
              <a:ext cx="38100" cy="38100"/>
            </a:xfrm>
            <a:prstGeom prst="ellipse">
              <a:avLst/>
            </a:prstGeom>
            <a:solidFill>
              <a:srgbClr val="9C331E"/>
            </a:solidFill>
            <a:ln>
              <a:noFill/>
            </a:ln>
          </p:spPr>
        </p:sp>
        <p:sp>
          <p:nvSpPr>
            <p:cNvPr id="119" name="TextBox 119"/>
            <p:cNvSpPr txBox="1"/>
            <p:nvPr/>
          </p:nvSpPr>
          <p:spPr>
            <a:xfrm>
              <a:off x="9482138" y="2150507"/>
              <a:ext cx="957250"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面向电力调度等核心场景</a:t>
              </a:r>
            </a:p>
          </p:txBody>
        </p:sp>
        <p:sp>
          <p:nvSpPr>
            <p:cNvPr id="120" name="Ellipse 120"/>
            <p:cNvSpPr/>
            <p:nvPr/>
          </p:nvSpPr>
          <p:spPr>
            <a:xfrm>
              <a:off x="9391650" y="2324100"/>
              <a:ext cx="38100" cy="38100"/>
            </a:xfrm>
            <a:prstGeom prst="ellipse">
              <a:avLst/>
            </a:prstGeom>
            <a:solidFill>
              <a:srgbClr val="9C331E"/>
            </a:solidFill>
            <a:ln>
              <a:noFill/>
            </a:ln>
          </p:spPr>
        </p:sp>
        <p:sp>
          <p:nvSpPr>
            <p:cNvPr id="121" name="TextBox 121"/>
            <p:cNvSpPr txBox="1"/>
            <p:nvPr/>
          </p:nvSpPr>
          <p:spPr>
            <a:xfrm>
              <a:off x="9482138" y="2302907"/>
              <a:ext cx="1129563"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公开成效信息有待进一步披露</a:t>
              </a:r>
            </a:p>
          </p:txBody>
        </p:sp>
        <p:sp>
          <p:nvSpPr>
            <p:cNvPr id="122" name="Rectangle 122"/>
            <p:cNvSpPr/>
            <p:nvPr/>
          </p:nvSpPr>
          <p:spPr>
            <a:xfrm>
              <a:off x="8115300" y="2743200"/>
              <a:ext cx="1143000" cy="971550"/>
            </a:xfrm>
            <a:prstGeom prst="roundRect">
              <a:avLst>
                <a:gd name="adj" fmla="val 3922"/>
              </a:avLst>
            </a:prstGeom>
            <a:solidFill>
              <a:srgbClr val="5C322A"/>
            </a:solidFill>
            <a:ln>
              <a:noFill/>
            </a:ln>
          </p:spPr>
        </p:sp>
        <p:sp>
          <p:nvSpPr>
            <p:cNvPr id="123" name="Ellipse 123"/>
            <p:cNvSpPr/>
            <p:nvPr/>
          </p:nvSpPr>
          <p:spPr>
            <a:xfrm>
              <a:off x="8572500" y="3143250"/>
              <a:ext cx="571500" cy="419100"/>
            </a:xfrm>
            <a:prstGeom prst="ellipse">
              <a:avLst/>
            </a:prstGeom>
            <a:solidFill>
              <a:srgbClr val="E5472B">
                <a:alpha val="60000"/>
              </a:srgbClr>
            </a:solidFill>
            <a:ln>
              <a:noFill/>
            </a:ln>
          </p:spPr>
        </p:sp>
        <p:sp>
          <p:nvSpPr>
            <p:cNvPr id="124" name="Ellipse 124"/>
            <p:cNvSpPr/>
            <p:nvPr/>
          </p:nvSpPr>
          <p:spPr>
            <a:xfrm>
              <a:off x="8705850" y="3257550"/>
              <a:ext cx="304800" cy="228600"/>
            </a:xfrm>
            <a:prstGeom prst="ellipse">
              <a:avLst/>
            </a:prstGeom>
            <a:solidFill>
              <a:srgbClr val="F5735C"/>
            </a:solidFill>
            <a:ln>
              <a:noFill/>
            </a:ln>
          </p:spPr>
        </p:sp>
        <p:sp>
          <p:nvSpPr>
            <p:cNvPr id="125" name="Freeform 125"/>
            <p:cNvSpPr/>
            <p:nvPr/>
          </p:nvSpPr>
          <p:spPr>
            <a:xfrm>
              <a:off x="8667750" y="3048000"/>
              <a:ext cx="400050" cy="666750"/>
            </a:xfrm>
            <a:custGeom>
              <a:avLst/>
              <a:gdLst/>
              <a:ahLst/>
              <a:cxnLst/>
              <a:rect l="l" t="t" r="r" b="b"/>
              <a:pathLst>
                <a:path w="400050" h="666750">
                  <a:moveTo>
                    <a:pt x="0" y="571500"/>
                  </a:moveTo>
                  <a:lnTo>
                    <a:pt x="400050" y="571500"/>
                  </a:lnTo>
                  <a:lnTo>
                    <a:pt x="400050" y="666750"/>
                  </a:lnTo>
                  <a:lnTo>
                    <a:pt x="0" y="666750"/>
                  </a:lnTo>
                  <a:close/>
                  <a:moveTo>
                    <a:pt x="57150" y="0"/>
                  </a:moveTo>
                  <a:lnTo>
                    <a:pt x="323850" y="0"/>
                  </a:lnTo>
                  <a:lnTo>
                    <a:pt x="361950" y="571500"/>
                  </a:lnTo>
                  <a:lnTo>
                    <a:pt x="19050" y="571500"/>
                  </a:lnTo>
                  <a:close/>
                </a:path>
              </a:pathLst>
            </a:custGeom>
            <a:solidFill>
              <a:srgbClr val="66423B"/>
            </a:solidFill>
            <a:ln>
              <a:noFill/>
            </a:ln>
          </p:spPr>
        </p:sp>
        <p:sp>
          <p:nvSpPr>
            <p:cNvPr id="126" name="Freeform 126"/>
            <p:cNvSpPr/>
            <p:nvPr/>
          </p:nvSpPr>
          <p:spPr>
            <a:xfrm>
              <a:off x="8229600" y="3200400"/>
              <a:ext cx="323850" cy="514350"/>
            </a:xfrm>
            <a:custGeom>
              <a:avLst/>
              <a:gdLst/>
              <a:ahLst/>
              <a:cxnLst/>
              <a:rect l="l" t="t" r="r" b="b"/>
              <a:pathLst>
                <a:path w="323850" h="514350">
                  <a:moveTo>
                    <a:pt x="0" y="514350"/>
                  </a:moveTo>
                  <a:lnTo>
                    <a:pt x="0" y="133350"/>
                  </a:lnTo>
                  <a:lnTo>
                    <a:pt x="133350" y="133350"/>
                  </a:lnTo>
                  <a:lnTo>
                    <a:pt x="133350" y="514350"/>
                  </a:lnTo>
                  <a:moveTo>
                    <a:pt x="190500" y="514350"/>
                  </a:moveTo>
                  <a:lnTo>
                    <a:pt x="190500" y="0"/>
                  </a:lnTo>
                  <a:lnTo>
                    <a:pt x="323850" y="0"/>
                  </a:lnTo>
                  <a:lnTo>
                    <a:pt x="323850" y="514350"/>
                  </a:lnTo>
                </a:path>
              </a:pathLst>
            </a:custGeom>
            <a:solidFill>
              <a:srgbClr val="66423B"/>
            </a:solidFill>
            <a:ln>
              <a:noFill/>
            </a:ln>
          </p:spPr>
        </p:sp>
        <p:sp>
          <p:nvSpPr>
            <p:cNvPr id="127" name="TextBox 127"/>
            <p:cNvSpPr txBox="1"/>
            <p:nvPr/>
          </p:nvSpPr>
          <p:spPr>
            <a:xfrm>
              <a:off x="9367838" y="2836545"/>
              <a:ext cx="494157" cy="176212"/>
            </a:xfrm>
            <a:prstGeom prst="rect">
              <a:avLst/>
            </a:prstGeom>
            <a:noFill/>
            <a:ln>
              <a:noFill/>
            </a:ln>
          </p:spPr>
          <p:txBody>
            <a:bodyPr wrap="none" lIns="0" tIns="0" rIns="0" bIns="0" anchor="t" anchorCtr="0">
              <a:spAutoFit/>
            </a:bodyPr>
            <a:lstStyle/>
            <a:p>
              <a:pPr algn="l"/>
              <a:r>
                <a:rPr lang="zh-CN" sz="900" b="1" dirty="0">
                  <a:solidFill>
                    <a:srgbClr val="5E2114"/>
                  </a:solidFill>
                  <a:latin typeface="+mn-lt"/>
                  <a:ea typeface="+mn-ea"/>
                  <a:cs typeface="+mn-cs"/>
                </a:rPr>
                <a:t>钢铁炉前</a:t>
              </a:r>
            </a:p>
          </p:txBody>
        </p:sp>
        <p:sp>
          <p:nvSpPr>
            <p:cNvPr id="128" name="Ellipse 128"/>
            <p:cNvSpPr/>
            <p:nvPr/>
          </p:nvSpPr>
          <p:spPr>
            <a:xfrm>
              <a:off x="9391650" y="3086100"/>
              <a:ext cx="38100" cy="38100"/>
            </a:xfrm>
            <a:prstGeom prst="ellipse">
              <a:avLst/>
            </a:prstGeom>
            <a:solidFill>
              <a:srgbClr val="9C331E"/>
            </a:solidFill>
            <a:ln>
              <a:noFill/>
            </a:ln>
          </p:spPr>
        </p:sp>
        <p:sp>
          <p:nvSpPr>
            <p:cNvPr id="129" name="TextBox 129"/>
            <p:cNvSpPr txBox="1"/>
            <p:nvPr/>
          </p:nvSpPr>
          <p:spPr>
            <a:xfrm>
              <a:off x="9482138" y="3064907"/>
              <a:ext cx="1043407"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已入选相关试点或应用名单</a:t>
              </a:r>
            </a:p>
          </p:txBody>
        </p:sp>
        <p:sp>
          <p:nvSpPr>
            <p:cNvPr id="130" name="Ellipse 130"/>
            <p:cNvSpPr/>
            <p:nvPr/>
          </p:nvSpPr>
          <p:spPr>
            <a:xfrm>
              <a:off x="9391650" y="3238500"/>
              <a:ext cx="38100" cy="38100"/>
            </a:xfrm>
            <a:prstGeom prst="ellipse">
              <a:avLst/>
            </a:prstGeom>
            <a:solidFill>
              <a:srgbClr val="9C331E"/>
            </a:solidFill>
            <a:ln>
              <a:noFill/>
            </a:ln>
          </p:spPr>
        </p:sp>
        <p:sp>
          <p:nvSpPr>
            <p:cNvPr id="131" name="TextBox 131"/>
            <p:cNvSpPr txBox="1"/>
            <p:nvPr/>
          </p:nvSpPr>
          <p:spPr>
            <a:xfrm>
              <a:off x="9482138" y="3217307"/>
              <a:ext cx="957250"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面向炉前工艺等关键环节</a:t>
              </a:r>
            </a:p>
          </p:txBody>
        </p:sp>
        <p:sp>
          <p:nvSpPr>
            <p:cNvPr id="132" name="Ellipse 132"/>
            <p:cNvSpPr/>
            <p:nvPr/>
          </p:nvSpPr>
          <p:spPr>
            <a:xfrm>
              <a:off x="9391650" y="3390900"/>
              <a:ext cx="38100" cy="38100"/>
            </a:xfrm>
            <a:prstGeom prst="ellipse">
              <a:avLst/>
            </a:prstGeom>
            <a:solidFill>
              <a:srgbClr val="9C331E"/>
            </a:solidFill>
            <a:ln>
              <a:noFill/>
            </a:ln>
          </p:spPr>
        </p:sp>
        <p:sp>
          <p:nvSpPr>
            <p:cNvPr id="133" name="TextBox 133"/>
            <p:cNvSpPr txBox="1"/>
            <p:nvPr/>
          </p:nvSpPr>
          <p:spPr>
            <a:xfrm>
              <a:off x="9482138" y="3369707"/>
              <a:ext cx="1129563" cy="126206"/>
            </a:xfrm>
            <a:prstGeom prst="rect">
              <a:avLst/>
            </a:prstGeom>
            <a:noFill/>
            <a:ln>
              <a:noFill/>
            </a:ln>
          </p:spPr>
          <p:txBody>
            <a:bodyPr wrap="none" lIns="0" tIns="0" rIns="0" bIns="0" anchor="t" anchorCtr="0">
              <a:spAutoFit/>
            </a:bodyPr>
            <a:lstStyle/>
            <a:p>
              <a:pPr algn="l"/>
              <a:r>
                <a:rPr lang="zh-CN" sz="640" dirty="0">
                  <a:solidFill>
                    <a:srgbClr val="573F3A"/>
                  </a:solidFill>
                  <a:latin typeface="+mn-lt"/>
                  <a:ea typeface="+mn-ea"/>
                  <a:cs typeface="+mn-cs"/>
                </a:rPr>
                <a:t>公开成效信息有待进一步披露</a:t>
              </a:r>
            </a:p>
          </p:txBody>
        </p:sp>
        <p:sp>
          <p:nvSpPr>
            <p:cNvPr id="134" name="Rectangle 134"/>
            <p:cNvSpPr/>
            <p:nvPr/>
          </p:nvSpPr>
          <p:spPr>
            <a:xfrm>
              <a:off x="8115300" y="3810000"/>
              <a:ext cx="3390900" cy="476250"/>
            </a:xfrm>
            <a:prstGeom prst="roundRect">
              <a:avLst>
                <a:gd name="adj" fmla="val 8000"/>
              </a:avLst>
            </a:prstGeom>
            <a:solidFill>
              <a:srgbClr val="EFF5FC"/>
            </a:solidFill>
            <a:ln>
              <a:noFill/>
            </a:ln>
          </p:spPr>
        </p:sp>
        <p:sp>
          <p:nvSpPr>
            <p:cNvPr id="135" name="Ellipse 135"/>
            <p:cNvSpPr/>
            <p:nvPr/>
          </p:nvSpPr>
          <p:spPr>
            <a:xfrm>
              <a:off x="8181975" y="3924300"/>
              <a:ext cx="247650" cy="247650"/>
            </a:xfrm>
            <a:prstGeom prst="ellipse">
              <a:avLst/>
            </a:prstGeom>
            <a:solidFill>
              <a:srgbClr val="9C331E"/>
            </a:solidFill>
            <a:ln>
              <a:noFill/>
            </a:ln>
          </p:spPr>
        </p:sp>
        <p:grpSp>
          <p:nvGrpSpPr>
            <p:cNvPr id="138" name="Group 138"/>
            <p:cNvGrpSpPr/>
            <p:nvPr/>
          </p:nvGrpSpPr>
          <p:grpSpPr>
            <a:xfrm>
              <a:off x="8248650" y="3990975"/>
              <a:ext cx="114300" cy="114300"/>
              <a:chOff x="8248650" y="3990975"/>
              <a:chExt cx="114300" cy="114300"/>
            </a:xfrm>
          </p:grpSpPr>
          <p:sp>
            <p:nvSpPr>
              <p:cNvPr id="136" name="Freeform 136"/>
              <p:cNvSpPr/>
              <p:nvPr/>
            </p:nvSpPr>
            <p:spPr>
              <a:xfrm>
                <a:off x="8248650" y="399097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sp>
            <p:nvSpPr>
              <p:cNvPr id="137" name="Freeform 137"/>
              <p:cNvSpPr/>
              <p:nvPr/>
            </p:nvSpPr>
            <p:spPr>
              <a:xfrm>
                <a:off x="8305800" y="4016375"/>
                <a:ext cx="19050" cy="50800"/>
              </a:xfrm>
              <a:custGeom>
                <a:avLst/>
                <a:gdLst/>
                <a:ahLst/>
                <a:cxnLst/>
                <a:rect l="l" t="t" r="r" b="b"/>
                <a:pathLst>
                  <a:path w="19050" h="50800">
                    <a:moveTo>
                      <a:pt x="0" y="0"/>
                    </a:moveTo>
                    <a:lnTo>
                      <a:pt x="0" y="31750"/>
                    </a:lnTo>
                    <a:lnTo>
                      <a:pt x="19050" y="50800"/>
                    </a:lnTo>
                  </a:path>
                </a:pathLst>
              </a:custGeom>
              <a:noFill/>
              <a:ln w="12700">
                <a:solidFill>
                  <a:srgbClr val="FFFFFF"/>
                </a:solidFill>
              </a:ln>
            </p:spPr>
          </p:sp>
        </p:grpSp>
        <p:sp>
          <p:nvSpPr>
            <p:cNvPr id="139" name="TextBox 139"/>
            <p:cNvSpPr txBox="1"/>
            <p:nvPr/>
          </p:nvSpPr>
          <p:spPr>
            <a:xfrm>
              <a:off x="8510588" y="3937159"/>
              <a:ext cx="2043303"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73F3A"/>
                  </a:solidFill>
                  <a:latin typeface="+mn-lt"/>
                  <a:ea typeface="+mn-ea"/>
                  <a:cs typeface="+mn-cs"/>
                </a:rPr>
                <a:t>这些案例已被确认入选相关名单，具备较高关注度，​</a:t>
              </a:r>
              <a:br/>
              <a:r>
                <a:rPr lang="zh-CN" sz="680" dirty="0">
                  <a:solidFill>
                    <a:srgbClr val="573F3A"/>
                  </a:solidFill>
                  <a:latin typeface="+mn-lt"/>
                  <a:ea typeface="+mn-ea"/>
                  <a:cs typeface="+mn-cs"/>
                </a:rPr>
                <a:t>但受限于信息披露节奏，当前尚无法评估具体成效。​</a:t>
              </a:r>
            </a:p>
          </p:txBody>
        </p:sp>
      </p:grpSp>
      <p:grpSp>
        <p:nvGrpSpPr>
          <p:cNvPr id="149" name="warning"/>
          <p:cNvGrpSpPr/>
          <p:nvPr/>
        </p:nvGrpSpPr>
        <p:grpSpPr>
          <a:xfrm>
            <a:off x="381000" y="4457700"/>
            <a:ext cx="11430000" cy="419100"/>
            <a:chOff x="381000" y="4457700"/>
            <a:chExt cx="11430000" cy="419100"/>
          </a:xfrm>
        </p:grpSpPr>
        <p:sp>
          <p:nvSpPr>
            <p:cNvPr id="141" name="Rectangle 141"/>
            <p:cNvSpPr/>
            <p:nvPr/>
          </p:nvSpPr>
          <p:spPr>
            <a:xfrm>
              <a:off x="381000" y="4457700"/>
              <a:ext cx="11430000" cy="419100"/>
            </a:xfrm>
            <a:prstGeom prst="roundRect">
              <a:avLst>
                <a:gd name="adj" fmla="val 13636"/>
              </a:avLst>
            </a:prstGeom>
            <a:solidFill>
              <a:srgbClr val="EFF5FC"/>
            </a:solidFill>
            <a:ln w="9525">
              <a:solidFill>
                <a:srgbClr val="ECB3A8"/>
              </a:solidFill>
            </a:ln>
          </p:spPr>
        </p:sp>
        <p:grpSp>
          <p:nvGrpSpPr>
            <p:cNvPr id="145" name="Group 145"/>
            <p:cNvGrpSpPr/>
            <p:nvPr/>
          </p:nvGrpSpPr>
          <p:grpSpPr>
            <a:xfrm>
              <a:off x="557212" y="4595812"/>
              <a:ext cx="142875" cy="142875"/>
              <a:chOff x="557212" y="4595812"/>
              <a:chExt cx="142875" cy="142875"/>
            </a:xfrm>
          </p:grpSpPr>
          <p:sp>
            <p:nvSpPr>
              <p:cNvPr id="142" name="Freeform 142"/>
              <p:cNvSpPr/>
              <p:nvPr/>
            </p:nvSpPr>
            <p:spPr>
              <a:xfrm>
                <a:off x="557212" y="45958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9C331E"/>
                </a:solidFill>
              </a:ln>
            </p:spPr>
          </p:sp>
          <p:sp>
            <p:nvSpPr>
              <p:cNvPr id="143" name="Freeform 143"/>
              <p:cNvSpPr/>
              <p:nvPr/>
            </p:nvSpPr>
            <p:spPr>
              <a:xfrm>
                <a:off x="628650" y="4635500"/>
                <a:ext cx="9525" cy="31750"/>
              </a:xfrm>
              <a:custGeom>
                <a:avLst/>
                <a:gdLst/>
                <a:ahLst/>
                <a:cxnLst/>
                <a:rect l="l" t="t" r="r" b="b"/>
                <a:pathLst>
                  <a:path w="9525" h="31750">
                    <a:moveTo>
                      <a:pt x="0" y="0"/>
                    </a:moveTo>
                    <a:lnTo>
                      <a:pt x="0" y="31750"/>
                    </a:lnTo>
                  </a:path>
                </a:pathLst>
              </a:custGeom>
              <a:noFill/>
              <a:ln w="15875">
                <a:solidFill>
                  <a:srgbClr val="9C331E"/>
                </a:solidFill>
              </a:ln>
            </p:spPr>
          </p:sp>
          <p:sp>
            <p:nvSpPr>
              <p:cNvPr id="144" name="Freeform 144"/>
              <p:cNvSpPr/>
              <p:nvPr/>
            </p:nvSpPr>
            <p:spPr>
              <a:xfrm>
                <a:off x="628650" y="4699000"/>
                <a:ext cx="9525" cy="9525"/>
              </a:xfrm>
              <a:custGeom>
                <a:avLst/>
                <a:gdLst/>
                <a:ahLst/>
                <a:cxnLst/>
                <a:rect l="l" t="t" r="r" b="b"/>
                <a:pathLst>
                  <a:path w="9525" h="9525">
                    <a:moveTo>
                      <a:pt x="0" y="0"/>
                    </a:moveTo>
                    <a:lnTo>
                      <a:pt x="79" y="0"/>
                    </a:lnTo>
                  </a:path>
                </a:pathLst>
              </a:custGeom>
              <a:noFill/>
              <a:ln w="15875">
                <a:solidFill>
                  <a:srgbClr val="9C331E"/>
                </a:solidFill>
              </a:ln>
            </p:spPr>
          </p:sp>
        </p:grpSp>
        <p:sp>
          <p:nvSpPr>
            <p:cNvPr id="146" name="TextBox 146"/>
            <p:cNvSpPr txBox="1"/>
            <p:nvPr/>
          </p:nvSpPr>
          <p:spPr>
            <a:xfrm>
              <a:off x="814197" y="4609624"/>
              <a:ext cx="4140559" cy="190690"/>
            </a:xfrm>
            <a:prstGeom prst="rect">
              <a:avLst/>
            </a:prstGeom>
            <a:noFill/>
            <a:ln>
              <a:noFill/>
            </a:ln>
          </p:spPr>
          <p:txBody>
            <a:bodyPr wrap="none" lIns="0" tIns="0" rIns="0" bIns="0" anchor="t" anchorCtr="0">
              <a:spAutoFit/>
            </a:bodyPr>
            <a:lstStyle/>
            <a:p>
              <a:pPr algn="l"/>
              <a:r>
                <a:rPr lang="zh-CN" sz="980" b="1" dirty="0">
                  <a:solidFill>
                    <a:srgbClr val="5E2114"/>
                  </a:solidFill>
                  <a:latin typeface="+mn-lt"/>
                  <a:ea typeface="+mn-ea"/>
                  <a:cs typeface="+mn-cs"/>
                </a:rPr>
                <a:t>无法据公开资料给出100项的精确跑通排名；没有统一月度验收榜单。​</a:t>
              </a:r>
            </a:p>
          </p:txBody>
        </p:sp>
        <p:sp>
          <p:nvSpPr>
            <p:cNvPr id="147" name="Line 147"/>
            <p:cNvSpPr/>
            <p:nvPr/>
          </p:nvSpPr>
          <p:spPr>
            <a:xfrm>
              <a:off x="5715000" y="4533900"/>
              <a:ext cx="9525" cy="266700"/>
            </a:xfrm>
            <a:custGeom>
              <a:avLst/>
              <a:gdLst/>
              <a:ahLst/>
              <a:cxnLst/>
              <a:rect l="l" t="t" r="r" b="b"/>
              <a:pathLst>
                <a:path w="9525" h="266700">
                  <a:moveTo>
                    <a:pt x="0" y="0"/>
                  </a:moveTo>
                  <a:lnTo>
                    <a:pt x="0" y="266700"/>
                  </a:lnTo>
                </a:path>
              </a:pathLst>
            </a:custGeom>
            <a:noFill/>
            <a:ln w="9525">
              <a:solidFill>
                <a:srgbClr val="ECB3A8"/>
              </a:solidFill>
            </a:ln>
          </p:spPr>
        </p:sp>
        <p:sp>
          <p:nvSpPr>
            <p:cNvPr id="148" name="TextBox 148"/>
            <p:cNvSpPr txBox="1"/>
            <p:nvPr/>
          </p:nvSpPr>
          <p:spPr>
            <a:xfrm>
              <a:off x="5862638" y="4560332"/>
              <a:ext cx="2899029"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573F3A"/>
                  </a:solidFill>
                  <a:latin typeface="+mn-lt"/>
                  <a:ea typeface="+mn-ea"/>
                  <a:cs typeface="+mn-cs"/>
                </a:rPr>
                <a:t>各行业、各地区披露节奏不同，公开信息存在时滞，</a:t>
              </a:r>
              <a:br/>
              <a:r>
                <a:rPr lang="zh-CN" sz="640" dirty="0">
                  <a:solidFill>
                    <a:srgbClr val="573F3A"/>
                  </a:solidFill>
                  <a:latin typeface="+mn-lt"/>
                  <a:ea typeface="+mn-ea"/>
                  <a:cs typeface="+mn-cs"/>
                </a:rPr>
                <a:t>当前不具备对全部项目进行精确排名的客观条件，也没有统一的月度验收榜单。​</a:t>
              </a:r>
            </a:p>
          </p:txBody>
        </p:sp>
      </p:grpSp>
      <p:grpSp>
        <p:nvGrpSpPr>
          <p:cNvPr id="189" name="formula"/>
          <p:cNvGrpSpPr/>
          <p:nvPr/>
        </p:nvGrpSpPr>
        <p:grpSpPr>
          <a:xfrm>
            <a:off x="381000" y="4972050"/>
            <a:ext cx="11430000" cy="666750"/>
            <a:chOff x="381000" y="4972050"/>
            <a:chExt cx="11430000" cy="666750"/>
          </a:xfrm>
        </p:grpSpPr>
        <p:sp>
          <p:nvSpPr>
            <p:cNvPr id="150" name="Rectangle 150"/>
            <p:cNvSpPr/>
            <p:nvPr/>
          </p:nvSpPr>
          <p:spPr>
            <a:xfrm>
              <a:off x="381000" y="4972050"/>
              <a:ext cx="11430000" cy="666750"/>
            </a:xfrm>
            <a:prstGeom prst="roundRect">
              <a:avLst>
                <a:gd name="adj" fmla="val 11429"/>
              </a:avLst>
            </a:prstGeom>
            <a:solidFill>
              <a:srgbClr val="632012"/>
            </a:solidFill>
            <a:ln>
              <a:noFill/>
            </a:ln>
          </p:spPr>
        </p:sp>
        <p:grpSp>
          <p:nvGrpSpPr>
            <p:cNvPr id="154" name="Group 154"/>
            <p:cNvGrpSpPr/>
            <p:nvPr/>
          </p:nvGrpSpPr>
          <p:grpSpPr>
            <a:xfrm>
              <a:off x="564356" y="5212556"/>
              <a:ext cx="185737" cy="185737"/>
              <a:chOff x="564356" y="5212556"/>
              <a:chExt cx="185737" cy="185737"/>
            </a:xfrm>
          </p:grpSpPr>
          <p:sp>
            <p:nvSpPr>
              <p:cNvPr id="151" name="Freeform 151"/>
              <p:cNvSpPr/>
              <p:nvPr/>
            </p:nvSpPr>
            <p:spPr>
              <a:xfrm>
                <a:off x="646906" y="529510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FF957F"/>
                </a:solidFill>
              </a:ln>
            </p:spPr>
          </p:sp>
          <p:sp>
            <p:nvSpPr>
              <p:cNvPr id="152" name="Freeform 152"/>
              <p:cNvSpPr/>
              <p:nvPr/>
            </p:nvSpPr>
            <p:spPr>
              <a:xfrm>
                <a:off x="605631" y="525383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FF957F"/>
                </a:solidFill>
              </a:ln>
            </p:spPr>
          </p:sp>
          <p:sp>
            <p:nvSpPr>
              <p:cNvPr id="153" name="Freeform 153"/>
              <p:cNvSpPr/>
              <p:nvPr/>
            </p:nvSpPr>
            <p:spPr>
              <a:xfrm>
                <a:off x="564356" y="52125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957F"/>
                </a:solidFill>
              </a:ln>
            </p:spPr>
          </p:sp>
        </p:grpSp>
        <p:sp>
          <p:nvSpPr>
            <p:cNvPr id="155" name="TextBox 155"/>
            <p:cNvSpPr txBox="1"/>
            <p:nvPr/>
          </p:nvSpPr>
          <p:spPr>
            <a:xfrm>
              <a:off x="869823" y="5215414"/>
              <a:ext cx="702208"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真正跑通</a:t>
              </a:r>
            </a:p>
          </p:txBody>
        </p:sp>
        <p:sp>
          <p:nvSpPr>
            <p:cNvPr id="156" name="TextBox 156"/>
            <p:cNvSpPr txBox="1"/>
            <p:nvPr/>
          </p:nvSpPr>
          <p:spPr>
            <a:xfrm>
              <a:off x="1668018" y="5193982"/>
              <a:ext cx="146484" cy="322707"/>
            </a:xfrm>
            <a:prstGeom prst="rect">
              <a:avLst/>
            </a:prstGeom>
            <a:noFill/>
            <a:ln>
              <a:noFill/>
            </a:ln>
          </p:spPr>
          <p:txBody>
            <a:bodyPr wrap="none" lIns="0" tIns="0" rIns="0" bIns="0" anchor="t" anchorCtr="0">
              <a:spAutoFit/>
            </a:bodyPr>
            <a:lstStyle/>
            <a:p>
              <a:pPr algn="l"/>
              <a:r>
                <a:rPr lang="zh-CN" sz="1650" b="1" dirty="0">
                  <a:solidFill>
                    <a:srgbClr val="FF957F"/>
                  </a:solidFill>
                  <a:latin typeface="Arial"/>
                  <a:ea typeface="Arial"/>
                  <a:cs typeface="Arial"/>
                </a:rPr>
                <a:t>=</a:t>
              </a:r>
            </a:p>
          </p:txBody>
        </p:sp>
        <p:sp>
          <p:nvSpPr>
            <p:cNvPr id="157" name="Ellipse 157"/>
            <p:cNvSpPr/>
            <p:nvPr/>
          </p:nvSpPr>
          <p:spPr>
            <a:xfrm>
              <a:off x="1924050" y="5162550"/>
              <a:ext cx="266700" cy="266700"/>
            </a:xfrm>
            <a:prstGeom prst="ellipse">
              <a:avLst/>
            </a:prstGeom>
            <a:solidFill>
              <a:srgbClr val="FFFFFF">
                <a:alpha val="18000"/>
              </a:srgbClr>
            </a:solidFill>
            <a:ln>
              <a:noFill/>
            </a:ln>
          </p:spPr>
        </p:sp>
        <p:grpSp>
          <p:nvGrpSpPr>
            <p:cNvPr id="160" name="Group 160"/>
            <p:cNvGrpSpPr/>
            <p:nvPr/>
          </p:nvGrpSpPr>
          <p:grpSpPr>
            <a:xfrm>
              <a:off x="1997462" y="5235962"/>
              <a:ext cx="119875" cy="119875"/>
              <a:chOff x="1997462" y="5235962"/>
              <a:chExt cx="119875" cy="119875"/>
            </a:xfrm>
          </p:grpSpPr>
          <p:sp>
            <p:nvSpPr>
              <p:cNvPr id="158" name="Freeform 158"/>
              <p:cNvSpPr/>
              <p:nvPr/>
            </p:nvSpPr>
            <p:spPr>
              <a:xfrm>
                <a:off x="1997462" y="523596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FFFFFF"/>
                </a:solidFill>
              </a:ln>
            </p:spPr>
          </p:sp>
          <p:sp>
            <p:nvSpPr>
              <p:cNvPr id="159" name="Freeform 159"/>
              <p:cNvSpPr/>
              <p:nvPr/>
            </p:nvSpPr>
            <p:spPr>
              <a:xfrm>
                <a:off x="2038350" y="52768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FFFFFF"/>
                </a:solidFill>
              </a:ln>
            </p:spPr>
          </p:sp>
        </p:grpSp>
        <p:sp>
          <p:nvSpPr>
            <p:cNvPr id="161" name="TextBox 161"/>
            <p:cNvSpPr txBox="1"/>
            <p:nvPr/>
          </p:nvSpPr>
          <p:spPr>
            <a:xfrm>
              <a:off x="2262188" y="517017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生产闭环</a:t>
              </a:r>
            </a:p>
          </p:txBody>
        </p:sp>
        <p:sp>
          <p:nvSpPr>
            <p:cNvPr id="162" name="TextBox 162"/>
            <p:cNvSpPr txBox="1"/>
            <p:nvPr/>
          </p:nvSpPr>
          <p:spPr>
            <a:xfrm>
              <a:off x="2262188" y="5354955"/>
              <a:ext cx="978789" cy="119062"/>
            </a:xfrm>
            <a:prstGeom prst="rect">
              <a:avLst/>
            </a:prstGeom>
            <a:noFill/>
            <a:ln>
              <a:noFill/>
            </a:ln>
          </p:spPr>
          <p:txBody>
            <a:bodyPr wrap="none" lIns="0" tIns="0" rIns="0" bIns="0" anchor="t" anchorCtr="0">
              <a:spAutoFit/>
            </a:bodyPr>
            <a:lstStyle/>
            <a:p>
              <a:pPr algn="l"/>
              <a:r>
                <a:rPr lang="zh-CN" sz="600" dirty="0">
                  <a:solidFill>
                    <a:srgbClr val="DCE9F8"/>
                  </a:solidFill>
                  <a:latin typeface="+mn-lt"/>
                  <a:ea typeface="+mn-ea"/>
                  <a:cs typeface="+mn-cs"/>
                </a:rPr>
                <a:t>在真实业务中完成完整运转</a:t>
              </a:r>
            </a:p>
          </p:txBody>
        </p:sp>
        <p:sp>
          <p:nvSpPr>
            <p:cNvPr id="163" name="TextBox 163"/>
            <p:cNvSpPr txBox="1"/>
            <p:nvPr/>
          </p:nvSpPr>
          <p:spPr>
            <a:xfrm>
              <a:off x="3845325" y="5207318"/>
              <a:ext cx="119850" cy="264033"/>
            </a:xfrm>
            <a:prstGeom prst="rect">
              <a:avLst/>
            </a:prstGeom>
            <a:noFill/>
            <a:ln>
              <a:noFill/>
            </a:ln>
          </p:spPr>
          <p:txBody>
            <a:bodyPr wrap="none" lIns="0" tIns="0" rIns="0" bIns="0" anchor="t" anchorCtr="0">
              <a:spAutoFit/>
            </a:bodyPr>
            <a:lstStyle/>
            <a:p>
              <a:pPr algn="ctr"/>
              <a:r>
                <a:rPr lang="zh-CN" sz="1350" b="1" dirty="0">
                  <a:solidFill>
                    <a:srgbClr val="FF957F"/>
                  </a:solidFill>
                  <a:latin typeface="Arial"/>
                  <a:ea typeface="Arial"/>
                  <a:cs typeface="Arial"/>
                </a:rPr>
                <a:t>+</a:t>
              </a:r>
            </a:p>
          </p:txBody>
        </p:sp>
        <p:sp>
          <p:nvSpPr>
            <p:cNvPr id="164" name="Ellipse 164"/>
            <p:cNvSpPr/>
            <p:nvPr/>
          </p:nvSpPr>
          <p:spPr>
            <a:xfrm>
              <a:off x="4171950" y="5162550"/>
              <a:ext cx="266700" cy="266700"/>
            </a:xfrm>
            <a:prstGeom prst="ellipse">
              <a:avLst/>
            </a:prstGeom>
            <a:solidFill>
              <a:srgbClr val="FFFFFF">
                <a:alpha val="18000"/>
              </a:srgbClr>
            </a:solidFill>
            <a:ln>
              <a:noFill/>
            </a:ln>
          </p:spPr>
        </p:sp>
        <p:grpSp>
          <p:nvGrpSpPr>
            <p:cNvPr id="167" name="Group 167"/>
            <p:cNvGrpSpPr/>
            <p:nvPr/>
          </p:nvGrpSpPr>
          <p:grpSpPr>
            <a:xfrm>
              <a:off x="4254500" y="5242650"/>
              <a:ext cx="101600" cy="106500"/>
              <a:chOff x="4254500" y="5242650"/>
              <a:chExt cx="101600" cy="106500"/>
            </a:xfrm>
          </p:grpSpPr>
          <p:sp>
            <p:nvSpPr>
              <p:cNvPr id="165" name="Freeform 165"/>
              <p:cNvSpPr/>
              <p:nvPr/>
            </p:nvSpPr>
            <p:spPr>
              <a:xfrm>
                <a:off x="4254500" y="524265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FFFFFF"/>
                </a:solidFill>
              </a:ln>
            </p:spPr>
          </p:sp>
          <p:sp>
            <p:nvSpPr>
              <p:cNvPr id="166" name="Freeform 166"/>
              <p:cNvSpPr/>
              <p:nvPr/>
            </p:nvSpPr>
            <p:spPr>
              <a:xfrm>
                <a:off x="4254500" y="530225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FFFFFF"/>
                </a:solidFill>
              </a:ln>
            </p:spPr>
          </p:sp>
        </p:grpSp>
        <p:sp>
          <p:nvSpPr>
            <p:cNvPr id="168" name="TextBox 168"/>
            <p:cNvSpPr txBox="1"/>
            <p:nvPr/>
          </p:nvSpPr>
          <p:spPr>
            <a:xfrm>
              <a:off x="4510088" y="517017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持续运行</a:t>
              </a:r>
            </a:p>
          </p:txBody>
        </p:sp>
        <p:sp>
          <p:nvSpPr>
            <p:cNvPr id="169" name="TextBox 169"/>
            <p:cNvSpPr txBox="1"/>
            <p:nvPr/>
          </p:nvSpPr>
          <p:spPr>
            <a:xfrm>
              <a:off x="4510088" y="5354955"/>
              <a:ext cx="898017" cy="119062"/>
            </a:xfrm>
            <a:prstGeom prst="rect">
              <a:avLst/>
            </a:prstGeom>
            <a:noFill/>
            <a:ln>
              <a:noFill/>
            </a:ln>
          </p:spPr>
          <p:txBody>
            <a:bodyPr wrap="none" lIns="0" tIns="0" rIns="0" bIns="0" anchor="t" anchorCtr="0">
              <a:spAutoFit/>
            </a:bodyPr>
            <a:lstStyle/>
            <a:p>
              <a:pPr algn="l"/>
              <a:r>
                <a:rPr lang="zh-CN" sz="600" dirty="0">
                  <a:solidFill>
                    <a:srgbClr val="DCE9F8"/>
                  </a:solidFill>
                  <a:latin typeface="+mn-lt"/>
                  <a:ea typeface="+mn-ea"/>
                  <a:cs typeface="+mn-cs"/>
                </a:rPr>
                <a:t>经过时间检验，稳定运行</a:t>
              </a:r>
            </a:p>
          </p:txBody>
        </p:sp>
        <p:sp>
          <p:nvSpPr>
            <p:cNvPr id="170" name="TextBox 170"/>
            <p:cNvSpPr txBox="1"/>
            <p:nvPr/>
          </p:nvSpPr>
          <p:spPr>
            <a:xfrm>
              <a:off x="6093225" y="5207318"/>
              <a:ext cx="119850" cy="264033"/>
            </a:xfrm>
            <a:prstGeom prst="rect">
              <a:avLst/>
            </a:prstGeom>
            <a:noFill/>
            <a:ln>
              <a:noFill/>
            </a:ln>
          </p:spPr>
          <p:txBody>
            <a:bodyPr wrap="none" lIns="0" tIns="0" rIns="0" bIns="0" anchor="t" anchorCtr="0">
              <a:spAutoFit/>
            </a:bodyPr>
            <a:lstStyle/>
            <a:p>
              <a:pPr algn="ctr"/>
              <a:r>
                <a:rPr lang="zh-CN" sz="1350" b="1" dirty="0">
                  <a:solidFill>
                    <a:srgbClr val="FF957F"/>
                  </a:solidFill>
                  <a:latin typeface="Arial"/>
                  <a:ea typeface="Arial"/>
                  <a:cs typeface="Arial"/>
                </a:rPr>
                <a:t>+</a:t>
              </a:r>
            </a:p>
          </p:txBody>
        </p:sp>
        <p:sp>
          <p:nvSpPr>
            <p:cNvPr id="171" name="Ellipse 171"/>
            <p:cNvSpPr/>
            <p:nvPr/>
          </p:nvSpPr>
          <p:spPr>
            <a:xfrm>
              <a:off x="6419850" y="5162550"/>
              <a:ext cx="266700" cy="266700"/>
            </a:xfrm>
            <a:prstGeom prst="ellipse">
              <a:avLst/>
            </a:prstGeom>
            <a:solidFill>
              <a:srgbClr val="FFFFFF">
                <a:alpha val="18000"/>
              </a:srgbClr>
            </a:solidFill>
            <a:ln>
              <a:noFill/>
            </a:ln>
          </p:spPr>
        </p:sp>
        <p:grpSp>
          <p:nvGrpSpPr>
            <p:cNvPr id="174" name="Group 174"/>
            <p:cNvGrpSpPr/>
            <p:nvPr/>
          </p:nvGrpSpPr>
          <p:grpSpPr>
            <a:xfrm>
              <a:off x="6487480" y="5238750"/>
              <a:ext cx="124004" cy="114300"/>
              <a:chOff x="6487480" y="5238750"/>
              <a:chExt cx="124004" cy="114300"/>
            </a:xfrm>
          </p:grpSpPr>
          <p:sp>
            <p:nvSpPr>
              <p:cNvPr id="172" name="Freeform 172"/>
              <p:cNvSpPr/>
              <p:nvPr/>
            </p:nvSpPr>
            <p:spPr>
              <a:xfrm>
                <a:off x="6487480" y="52387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FFFFFF"/>
                </a:solidFill>
              </a:ln>
            </p:spPr>
          </p:sp>
          <p:sp>
            <p:nvSpPr>
              <p:cNvPr id="173" name="Freeform 173"/>
              <p:cNvSpPr/>
              <p:nvPr/>
            </p:nvSpPr>
            <p:spPr>
              <a:xfrm>
                <a:off x="6572250" y="532765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175" name="TextBox 175"/>
            <p:cNvSpPr txBox="1"/>
            <p:nvPr/>
          </p:nvSpPr>
          <p:spPr>
            <a:xfrm>
              <a:off x="6757988" y="5170170"/>
              <a:ext cx="61531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可检验成效</a:t>
              </a:r>
            </a:p>
          </p:txBody>
        </p:sp>
        <p:sp>
          <p:nvSpPr>
            <p:cNvPr id="176" name="TextBox 176"/>
            <p:cNvSpPr txBox="1"/>
            <p:nvPr/>
          </p:nvSpPr>
          <p:spPr>
            <a:xfrm>
              <a:off x="6757988" y="5354955"/>
              <a:ext cx="898017" cy="119062"/>
            </a:xfrm>
            <a:prstGeom prst="rect">
              <a:avLst/>
            </a:prstGeom>
            <a:noFill/>
            <a:ln>
              <a:noFill/>
            </a:ln>
          </p:spPr>
          <p:txBody>
            <a:bodyPr wrap="none" lIns="0" tIns="0" rIns="0" bIns="0" anchor="t" anchorCtr="0">
              <a:spAutoFit/>
            </a:bodyPr>
            <a:lstStyle/>
            <a:p>
              <a:pPr algn="l"/>
              <a:r>
                <a:rPr lang="zh-CN" sz="600" dirty="0">
                  <a:solidFill>
                    <a:srgbClr val="DCE9F8"/>
                  </a:solidFill>
                  <a:latin typeface="+mn-lt"/>
                  <a:ea typeface="+mn-ea"/>
                  <a:cs typeface="+mn-cs"/>
                </a:rPr>
                <a:t>有公开证据可查、可验证</a:t>
              </a:r>
            </a:p>
          </p:txBody>
        </p:sp>
        <p:sp>
          <p:nvSpPr>
            <p:cNvPr id="177" name="TextBox 177"/>
            <p:cNvSpPr txBox="1"/>
            <p:nvPr/>
          </p:nvSpPr>
          <p:spPr>
            <a:xfrm>
              <a:off x="8341125" y="5207318"/>
              <a:ext cx="119850" cy="264033"/>
            </a:xfrm>
            <a:prstGeom prst="rect">
              <a:avLst/>
            </a:prstGeom>
            <a:noFill/>
            <a:ln>
              <a:noFill/>
            </a:ln>
          </p:spPr>
          <p:txBody>
            <a:bodyPr wrap="none" lIns="0" tIns="0" rIns="0" bIns="0" anchor="t" anchorCtr="0">
              <a:spAutoFit/>
            </a:bodyPr>
            <a:lstStyle/>
            <a:p>
              <a:pPr algn="ctr"/>
              <a:r>
                <a:rPr lang="zh-CN" sz="1350" b="1" dirty="0">
                  <a:solidFill>
                    <a:srgbClr val="FF957F"/>
                  </a:solidFill>
                  <a:latin typeface="Arial"/>
                  <a:ea typeface="Arial"/>
                  <a:cs typeface="Arial"/>
                </a:rPr>
                <a:t>+</a:t>
              </a:r>
            </a:p>
          </p:txBody>
        </p:sp>
        <p:sp>
          <p:nvSpPr>
            <p:cNvPr id="178" name="Ellipse 178"/>
            <p:cNvSpPr/>
            <p:nvPr/>
          </p:nvSpPr>
          <p:spPr>
            <a:xfrm>
              <a:off x="8667750" y="5162550"/>
              <a:ext cx="266700" cy="266700"/>
            </a:xfrm>
            <a:prstGeom prst="ellipse">
              <a:avLst/>
            </a:prstGeom>
            <a:solidFill>
              <a:srgbClr val="FFFFFF">
                <a:alpha val="18000"/>
              </a:srgbClr>
            </a:solidFill>
            <a:ln>
              <a:noFill/>
            </a:ln>
          </p:spPr>
        </p:sp>
        <p:grpSp>
          <p:nvGrpSpPr>
            <p:cNvPr id="184" name="Group 184"/>
            <p:cNvGrpSpPr/>
            <p:nvPr/>
          </p:nvGrpSpPr>
          <p:grpSpPr>
            <a:xfrm>
              <a:off x="8743950" y="5238750"/>
              <a:ext cx="114300" cy="114300"/>
              <a:chOff x="8743950" y="5238750"/>
              <a:chExt cx="114300" cy="114300"/>
            </a:xfrm>
          </p:grpSpPr>
          <p:sp>
            <p:nvSpPr>
              <p:cNvPr id="179" name="Freeform 179"/>
              <p:cNvSpPr/>
              <p:nvPr/>
            </p:nvSpPr>
            <p:spPr>
              <a:xfrm>
                <a:off x="8743950" y="531495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180" name="Freeform 180"/>
              <p:cNvSpPr/>
              <p:nvPr/>
            </p:nvSpPr>
            <p:spPr>
              <a:xfrm>
                <a:off x="8820150" y="531495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181" name="Freeform 181"/>
              <p:cNvSpPr/>
              <p:nvPr/>
            </p:nvSpPr>
            <p:spPr>
              <a:xfrm>
                <a:off x="8782050" y="523875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182" name="Freeform 182"/>
              <p:cNvSpPr/>
              <p:nvPr/>
            </p:nvSpPr>
            <p:spPr>
              <a:xfrm>
                <a:off x="8763000" y="5295900"/>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FFFFFF"/>
                </a:solidFill>
              </a:ln>
            </p:spPr>
          </p:sp>
          <p:sp>
            <p:nvSpPr>
              <p:cNvPr id="183" name="Freeform 183"/>
              <p:cNvSpPr/>
              <p:nvPr/>
            </p:nvSpPr>
            <p:spPr>
              <a:xfrm>
                <a:off x="8801100" y="5276850"/>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185" name="TextBox 185"/>
            <p:cNvSpPr txBox="1"/>
            <p:nvPr/>
          </p:nvSpPr>
          <p:spPr>
            <a:xfrm>
              <a:off x="9005888" y="5170170"/>
              <a:ext cx="61531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可复制条件</a:t>
              </a:r>
            </a:p>
          </p:txBody>
        </p:sp>
        <p:sp>
          <p:nvSpPr>
            <p:cNvPr id="186" name="TextBox 186"/>
            <p:cNvSpPr txBox="1"/>
            <p:nvPr/>
          </p:nvSpPr>
          <p:spPr>
            <a:xfrm>
              <a:off x="9005888" y="5354955"/>
              <a:ext cx="898017" cy="119062"/>
            </a:xfrm>
            <a:prstGeom prst="rect">
              <a:avLst/>
            </a:prstGeom>
            <a:noFill/>
            <a:ln>
              <a:noFill/>
            </a:ln>
          </p:spPr>
          <p:txBody>
            <a:bodyPr wrap="none" lIns="0" tIns="0" rIns="0" bIns="0" anchor="t" anchorCtr="0">
              <a:spAutoFit/>
            </a:bodyPr>
            <a:lstStyle/>
            <a:p>
              <a:pPr algn="l"/>
              <a:r>
                <a:rPr lang="zh-CN" sz="600" dirty="0">
                  <a:solidFill>
                    <a:srgbClr val="DCE9F8"/>
                  </a:solidFill>
                  <a:latin typeface="+mn-lt"/>
                  <a:ea typeface="+mn-ea"/>
                  <a:cs typeface="+mn-cs"/>
                </a:rPr>
                <a:t>具备在新场景复制的基础</a:t>
              </a:r>
            </a:p>
          </p:txBody>
        </p:sp>
        <p:sp>
          <p:nvSpPr>
            <p:cNvPr id="187" name="Line 187"/>
            <p:cNvSpPr/>
            <p:nvPr/>
          </p:nvSpPr>
          <p:spPr>
            <a:xfrm>
              <a:off x="10763250" y="5086350"/>
              <a:ext cx="9525" cy="438150"/>
            </a:xfrm>
            <a:custGeom>
              <a:avLst/>
              <a:gdLst/>
              <a:ahLst/>
              <a:cxnLst/>
              <a:rect l="l" t="t" r="r" b="b"/>
              <a:pathLst>
                <a:path w="9525" h="438150">
                  <a:moveTo>
                    <a:pt x="0" y="0"/>
                  </a:moveTo>
                  <a:lnTo>
                    <a:pt x="0" y="438150"/>
                  </a:lnTo>
                </a:path>
              </a:pathLst>
            </a:custGeom>
            <a:noFill/>
            <a:ln w="9525">
              <a:solidFill>
                <a:srgbClr val="DE715B"/>
              </a:solidFill>
            </a:ln>
          </p:spPr>
        </p:sp>
        <p:sp>
          <p:nvSpPr>
            <p:cNvPr id="188" name="TextBox 188"/>
            <p:cNvSpPr txBox="1"/>
            <p:nvPr/>
          </p:nvSpPr>
          <p:spPr>
            <a:xfrm>
              <a:off x="11079794" y="5123736"/>
              <a:ext cx="602618" cy="407194"/>
            </a:xfrm>
            <a:prstGeom prst="rect">
              <a:avLst/>
            </a:prstGeom>
            <a:noFill/>
            <a:ln>
              <a:noFill/>
            </a:ln>
          </p:spPr>
          <p:txBody>
            <a:bodyPr wrap="none" lIns="0" tIns="0" rIns="0" bIns="0" anchor="t" anchorCtr="0">
              <a:spAutoFit/>
            </a:bodyPr>
            <a:lstStyle/>
            <a:p>
              <a:pPr algn="r">
                <a:lnSpc>
                  <a:spcPts val="1050"/>
                </a:lnSpc>
              </a:pPr>
              <a:r>
                <a:rPr lang="zh-CN" sz="710" b="1" dirty="0">
                  <a:solidFill>
                    <a:srgbClr val="FFFFFF"/>
                  </a:solidFill>
                  <a:latin typeface="+mn-lt"/>
                  <a:ea typeface="+mn-ea"/>
                  <a:cs typeface="+mn-cs"/>
                </a:rPr>
                <a:t>立足公开证据​</a:t>
              </a:r>
              <a:br/>
              <a:r>
                <a:rPr lang="zh-CN" sz="710" b="1" dirty="0">
                  <a:solidFill>
                    <a:srgbClr val="FFFFFF"/>
                  </a:solidFill>
                  <a:latin typeface="+mn-lt"/>
                  <a:ea typeface="+mn-ea"/>
                  <a:cs typeface="+mn-cs"/>
                </a:rPr>
                <a:t>理性看待进展​</a:t>
              </a:r>
              <a:br/>
              <a:r>
                <a:rPr lang="zh-CN" sz="710" b="1" dirty="0">
                  <a:solidFill>
                    <a:srgbClr val="FFFFFF"/>
                  </a:solidFill>
                  <a:latin typeface="+mn-lt"/>
                  <a:ea typeface="+mn-ea"/>
                  <a:cs typeface="+mn-cs"/>
                </a:rPr>
                <a:t>期待更多披露​</a:t>
              </a:r>
            </a:p>
          </p:txBody>
        </p:sp>
      </p:grpSp>
      <p:grpSp>
        <p:nvGrpSpPr>
          <p:cNvPr id="193" name="footer"/>
          <p:cNvGrpSpPr/>
          <p:nvPr/>
        </p:nvGrpSpPr>
        <p:grpSpPr>
          <a:xfrm>
            <a:off x="0" y="6705600"/>
            <a:ext cx="12192000" cy="173117"/>
            <a:chOff x="0" y="6705600"/>
            <a:chExt cx="12192000" cy="173117"/>
          </a:xfrm>
        </p:grpSpPr>
        <p:sp>
          <p:nvSpPr>
            <p:cNvPr id="190" name="Rectangle 190"/>
            <p:cNvSpPr/>
            <p:nvPr/>
          </p:nvSpPr>
          <p:spPr>
            <a:xfrm>
              <a:off x="0" y="6705600"/>
              <a:ext cx="12192000" cy="152400"/>
            </a:xfrm>
            <a:prstGeom prst="rect">
              <a:avLst/>
            </a:prstGeom>
            <a:solidFill>
              <a:srgbClr val="632012"/>
            </a:solidFill>
            <a:ln>
              <a:noFill/>
            </a:ln>
          </p:spPr>
        </p:sp>
        <p:sp>
          <p:nvSpPr>
            <p:cNvPr id="191" name="TextBox 191"/>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192" name="TextBox 192"/>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19/20</a:t>
              </a:r>
            </a:p>
          </p:txBody>
        </p:sp>
      </p:gr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hills"/>
          <p:cNvSpPr/>
          <p:nvPr/>
        </p:nvSpPr>
        <p:spPr>
          <a:xfrm>
            <a:off x="0" y="6267450"/>
            <a:ext cx="12192000" cy="438150"/>
          </a:xfrm>
          <a:custGeom>
            <a:avLst/>
            <a:gdLst/>
            <a:ahLst/>
            <a:cxnLst/>
            <a:rect l="l" t="t" r="r" b="b"/>
            <a:pathLst>
              <a:path w="12192000" h="438150">
                <a:moveTo>
                  <a:pt x="0" y="438150"/>
                </a:moveTo>
                <a:lnTo>
                  <a:pt x="0" y="209550"/>
                </a:lnTo>
                <a:lnTo>
                  <a:pt x="1524000" y="38100"/>
                </a:lnTo>
                <a:lnTo>
                  <a:pt x="3048000" y="247650"/>
                </a:lnTo>
                <a:lnTo>
                  <a:pt x="4572000" y="0"/>
                </a:lnTo>
                <a:lnTo>
                  <a:pt x="6096000" y="266700"/>
                </a:lnTo>
                <a:lnTo>
                  <a:pt x="7620000" y="38100"/>
                </a:lnTo>
                <a:lnTo>
                  <a:pt x="9144000" y="285750"/>
                </a:lnTo>
                <a:lnTo>
                  <a:pt x="10668000" y="57150"/>
                </a:lnTo>
                <a:lnTo>
                  <a:pt x="12192000" y="228600"/>
                </a:lnTo>
                <a:lnTo>
                  <a:pt x="12192000" y="438150"/>
                </a:lnTo>
                <a:close/>
              </a:path>
            </a:pathLst>
          </a:custGeom>
          <a:solidFill>
            <a:srgbClr val="DCE9F8"/>
          </a:solidFill>
          <a:ln>
            <a:noFill/>
          </a:ln>
        </p:spPr>
      </p:sp>
      <p:grpSp>
        <p:nvGrpSpPr>
          <p:cNvPr id="9" name="header"/>
          <p:cNvGrpSpPr/>
          <p:nvPr/>
        </p:nvGrpSpPr>
        <p:grpSpPr>
          <a:xfrm>
            <a:off x="0" y="0"/>
            <a:ext cx="11739563" cy="551879"/>
            <a:chOff x="0" y="0"/>
            <a:chExt cx="11739563"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331E"/>
            </a:solidFill>
            <a:ln>
              <a:noFill/>
            </a:ln>
          </p:spPr>
        </p:sp>
        <p:sp>
          <p:nvSpPr>
            <p:cNvPr id="4" name="TextBox 4"/>
            <p:cNvSpPr txBox="1"/>
            <p:nvPr/>
          </p:nvSpPr>
          <p:spPr>
            <a:xfrm>
              <a:off x="14211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20</a:t>
              </a:r>
            </a:p>
          </p:txBody>
        </p:sp>
        <p:sp>
          <p:nvSpPr>
            <p:cNvPr id="5" name="TextBox 5"/>
            <p:cNvSpPr txBox="1"/>
            <p:nvPr/>
          </p:nvSpPr>
          <p:spPr>
            <a:xfrm>
              <a:off x="942594" y="170498"/>
              <a:ext cx="5567172" cy="381381"/>
            </a:xfrm>
            <a:prstGeom prst="rect">
              <a:avLst/>
            </a:prstGeom>
            <a:noFill/>
            <a:ln>
              <a:noFill/>
            </a:ln>
          </p:spPr>
          <p:txBody>
            <a:bodyPr wrap="none" lIns="0" tIns="0" rIns="0" bIns="0" anchor="t" anchorCtr="0">
              <a:spAutoFit/>
            </a:bodyPr>
            <a:lstStyle/>
            <a:p>
              <a:pPr algn="l"/>
              <a:r>
                <a:rPr lang="zh-CN" sz="1950" b="1" dirty="0">
                  <a:solidFill>
                    <a:srgbClr val="9C331E"/>
                  </a:solidFill>
                  <a:latin typeface="+mj-lt"/>
                  <a:ea typeface="+mj-ea"/>
                  <a:cs typeface="+mj-cs"/>
                </a:rPr>
                <a:t>行动清单</a:t>
              </a:r>
              <a:r>
                <a:rPr lang="zh-CN" sz="1950" b="1" dirty="0">
                  <a:solidFill>
                    <a:srgbClr val="5E2114"/>
                  </a:solidFill>
                  <a:latin typeface="+mj-lt"/>
                  <a:ea typeface="+mj-ea"/>
                  <a:cs typeface="+mj-cs"/>
                </a:rPr>
                <a:t>｜用九十天把入选名单变成价值台账</a:t>
              </a:r>
            </a:p>
          </p:txBody>
        </p:sp>
        <p:sp>
          <p:nvSpPr>
            <p:cNvPr id="6" name="Line 6"/>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9C331E"/>
              </a:solidFill>
            </a:ln>
          </p:spPr>
        </p:sp>
        <p:sp>
          <p:nvSpPr>
            <p:cNvPr id="7" name="TextBox 7"/>
            <p:cNvSpPr txBox="1"/>
            <p:nvPr/>
          </p:nvSpPr>
          <p:spPr>
            <a:xfrm>
              <a:off x="11288484" y="120491"/>
              <a:ext cx="451079" cy="161925"/>
            </a:xfrm>
            <a:prstGeom prst="rect">
              <a:avLst/>
            </a:prstGeom>
            <a:noFill/>
            <a:ln>
              <a:noFill/>
            </a:ln>
          </p:spPr>
          <p:txBody>
            <a:bodyPr wrap="none" lIns="0" tIns="0" rIns="0" bIns="0" anchor="t" anchorCtr="0">
              <a:spAutoFit/>
            </a:bodyPr>
            <a:lstStyle/>
            <a:p>
              <a:pPr algn="r"/>
              <a:r>
                <a:rPr lang="zh-CN" sz="820" b="1" i="1" dirty="0">
                  <a:solidFill>
                    <a:srgbClr val="9C331E"/>
                  </a:solidFill>
                  <a:latin typeface="+mn-lt"/>
                  <a:ea typeface="+mn-ea"/>
                  <a:cs typeface="+mn-cs"/>
                </a:rPr>
                <a:t>务实落地</a:t>
              </a:r>
            </a:p>
          </p:txBody>
        </p:sp>
        <p:sp>
          <p:nvSpPr>
            <p:cNvPr id="8" name="TextBox 8"/>
            <p:cNvSpPr txBox="1"/>
            <p:nvPr/>
          </p:nvSpPr>
          <p:spPr>
            <a:xfrm>
              <a:off x="10814622" y="289084"/>
              <a:ext cx="924941" cy="133350"/>
            </a:xfrm>
            <a:prstGeom prst="rect">
              <a:avLst/>
            </a:prstGeom>
            <a:noFill/>
            <a:ln>
              <a:noFill/>
            </a:ln>
          </p:spPr>
          <p:txBody>
            <a:bodyPr wrap="none" lIns="0" tIns="0" rIns="0" bIns="0" anchor="t" anchorCtr="0">
              <a:spAutoFit/>
            </a:bodyPr>
            <a:lstStyle/>
            <a:p>
              <a:pPr algn="r"/>
              <a:r>
                <a:rPr lang="zh-CN" sz="680" dirty="0">
                  <a:solidFill>
                    <a:srgbClr val="9B807A"/>
                  </a:solidFill>
                  <a:latin typeface="+mn-lt"/>
                  <a:ea typeface="+mn-ea"/>
                  <a:cs typeface="+mn-cs"/>
                </a:rPr>
                <a:t>创造可持续的业务价值</a:t>
              </a:r>
            </a:p>
          </p:txBody>
        </p:sp>
      </p:grpSp>
      <p:grpSp>
        <p:nvGrpSpPr>
          <p:cNvPr id="11" name="subtitle"/>
          <p:cNvGrpSpPr/>
          <p:nvPr/>
        </p:nvGrpSpPr>
        <p:grpSpPr>
          <a:xfrm>
            <a:off x="985838" y="660797"/>
            <a:ext cx="6083579" cy="183356"/>
            <a:chOff x="985838" y="660797"/>
            <a:chExt cx="6083579" cy="183356"/>
          </a:xfrm>
        </p:grpSpPr>
        <p:sp>
          <p:nvSpPr>
            <p:cNvPr id="10" name="TextBox 10"/>
            <p:cNvSpPr txBox="1"/>
            <p:nvPr/>
          </p:nvSpPr>
          <p:spPr>
            <a:xfrm>
              <a:off x="985838" y="660797"/>
              <a:ext cx="6083579" cy="183356"/>
            </a:xfrm>
            <a:prstGeom prst="rect">
              <a:avLst/>
            </a:prstGeom>
            <a:noFill/>
            <a:ln>
              <a:noFill/>
            </a:ln>
          </p:spPr>
          <p:txBody>
            <a:bodyPr wrap="none" lIns="0" tIns="0" rIns="0" bIns="0" anchor="t" anchorCtr="0">
              <a:spAutoFit/>
            </a:bodyPr>
            <a:lstStyle/>
            <a:p>
              <a:pPr algn="l"/>
              <a:r>
                <a:rPr lang="zh-CN" sz="940" dirty="0">
                  <a:solidFill>
                    <a:srgbClr val="573F3A"/>
                  </a:solidFill>
                  <a:latin typeface="+mn-lt"/>
                  <a:ea typeface="+mn-ea"/>
                  <a:cs typeface="+mn-cs"/>
                </a:rPr>
                <a:t>从名单到价值，从试点到常态，从单点到规模。以九十天为一个闭环，推动场景落地、证据完备、持续复制。</a:t>
              </a:r>
            </a:p>
          </p:txBody>
        </p:sp>
      </p:grpSp>
      <p:grpSp>
        <p:nvGrpSpPr>
          <p:cNvPr id="15" name="plan-label"/>
          <p:cNvGrpSpPr/>
          <p:nvPr/>
        </p:nvGrpSpPr>
        <p:grpSpPr>
          <a:xfrm>
            <a:off x="381000" y="914400"/>
            <a:ext cx="1219200" cy="2095500"/>
            <a:chOff x="381000" y="914400"/>
            <a:chExt cx="1219200" cy="2095500"/>
          </a:xfrm>
        </p:grpSpPr>
        <p:sp>
          <p:nvSpPr>
            <p:cNvPr id="12" name="Rectangle 12"/>
            <p:cNvSpPr/>
            <p:nvPr/>
          </p:nvSpPr>
          <p:spPr>
            <a:xfrm>
              <a:off x="381000" y="914400"/>
              <a:ext cx="1219200" cy="2095500"/>
            </a:xfrm>
            <a:prstGeom prst="roundRect">
              <a:avLst>
                <a:gd name="adj" fmla="val 4688"/>
              </a:avLst>
            </a:prstGeom>
            <a:solidFill>
              <a:srgbClr val="632012"/>
            </a:solidFill>
            <a:ln>
              <a:noFill/>
            </a:ln>
          </p:spPr>
        </p:sp>
        <p:sp>
          <p:nvSpPr>
            <p:cNvPr id="13" name="TextBox 13"/>
            <p:cNvSpPr txBox="1"/>
            <p:nvPr/>
          </p:nvSpPr>
          <p:spPr>
            <a:xfrm>
              <a:off x="683336" y="1745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建议方案</a:t>
              </a:r>
            </a:p>
          </p:txBody>
        </p:sp>
        <p:sp>
          <p:nvSpPr>
            <p:cNvPr id="14" name="TextBox 14"/>
            <p:cNvSpPr txBox="1"/>
            <p:nvPr/>
          </p:nvSpPr>
          <p:spPr>
            <a:xfrm>
              <a:off x="707422" y="2010489"/>
              <a:ext cx="566356" cy="307181"/>
            </a:xfrm>
            <a:prstGeom prst="rect">
              <a:avLst/>
            </a:prstGeom>
            <a:noFill/>
            <a:ln>
              <a:noFill/>
            </a:ln>
          </p:spPr>
          <p:txBody>
            <a:bodyPr wrap="none" lIns="0" tIns="0" rIns="0" bIns="0" anchor="t" anchorCtr="0">
              <a:spAutoFit/>
            </a:bodyPr>
            <a:lstStyle/>
            <a:p>
              <a:pPr algn="ctr">
                <a:lnSpc>
                  <a:spcPts val="1200"/>
                </a:lnSpc>
              </a:pPr>
              <a:r>
                <a:rPr lang="zh-CN" sz="790" dirty="0">
                  <a:solidFill>
                    <a:srgbClr val="DCE9F8"/>
                  </a:solidFill>
                  <a:latin typeface="+mn-lt"/>
                  <a:ea typeface="+mn-ea"/>
                  <a:cs typeface="+mn-cs"/>
                </a:rPr>
                <a:t>阶段目标与​</a:t>
              </a:r>
              <a:br/>
              <a:r>
                <a:rPr lang="zh-CN" sz="790" dirty="0">
                  <a:solidFill>
                    <a:srgbClr val="DCE9F8"/>
                  </a:solidFill>
                  <a:latin typeface="+mn-lt"/>
                  <a:ea typeface="+mn-ea"/>
                  <a:cs typeface="+mn-cs"/>
                </a:rPr>
                <a:t>关键任务</a:t>
              </a:r>
            </a:p>
          </p:txBody>
        </p:sp>
      </p:grpSp>
      <p:grpSp>
        <p:nvGrpSpPr>
          <p:cNvPr id="36" name="stage-1"/>
          <p:cNvGrpSpPr/>
          <p:nvPr/>
        </p:nvGrpSpPr>
        <p:grpSpPr>
          <a:xfrm>
            <a:off x="1676400" y="914400"/>
            <a:ext cx="3314700" cy="2095500"/>
            <a:chOff x="1676400" y="914400"/>
            <a:chExt cx="3314700" cy="2095500"/>
          </a:xfrm>
        </p:grpSpPr>
        <p:sp>
          <p:nvSpPr>
            <p:cNvPr id="16" name="Freeform 16"/>
            <p:cNvSpPr/>
            <p:nvPr/>
          </p:nvSpPr>
          <p:spPr>
            <a:xfrm>
              <a:off x="1676400" y="914400"/>
              <a:ext cx="3314700" cy="419100"/>
            </a:xfrm>
            <a:prstGeom prst="homePlate">
              <a:avLst/>
            </a:prstGeom>
            <a:solidFill>
              <a:srgbClr val="632012"/>
            </a:solidFill>
            <a:ln>
              <a:noFill/>
            </a:ln>
          </p:spPr>
        </p:sp>
        <p:grpSp>
          <p:nvGrpSpPr>
            <p:cNvPr id="22" name="Group 22"/>
            <p:cNvGrpSpPr/>
            <p:nvPr/>
          </p:nvGrpSpPr>
          <p:grpSpPr>
            <a:xfrm>
              <a:off x="1834356" y="1045369"/>
              <a:ext cx="122238" cy="157163"/>
              <a:chOff x="1834356" y="1045369"/>
              <a:chExt cx="122238" cy="157163"/>
            </a:xfrm>
          </p:grpSpPr>
          <p:sp>
            <p:nvSpPr>
              <p:cNvPr id="17" name="Freeform 17"/>
              <p:cNvSpPr/>
              <p:nvPr/>
            </p:nvSpPr>
            <p:spPr>
              <a:xfrm>
                <a:off x="1912938" y="1045369"/>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FFFFFF"/>
                </a:solidFill>
              </a:ln>
            </p:spPr>
          </p:sp>
          <p:sp>
            <p:nvSpPr>
              <p:cNvPr id="18" name="Freeform 18"/>
              <p:cNvSpPr/>
              <p:nvPr/>
            </p:nvSpPr>
            <p:spPr>
              <a:xfrm>
                <a:off x="1834356" y="1045369"/>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FFFFFF"/>
                </a:solidFill>
              </a:ln>
            </p:spPr>
          </p:sp>
          <p:sp>
            <p:nvSpPr>
              <p:cNvPr id="19" name="Freeform 19"/>
              <p:cNvSpPr/>
              <p:nvPr/>
            </p:nvSpPr>
            <p:spPr>
              <a:xfrm>
                <a:off x="1869281" y="1097756"/>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20" name="Freeform 20"/>
              <p:cNvSpPr/>
              <p:nvPr/>
            </p:nvSpPr>
            <p:spPr>
              <a:xfrm>
                <a:off x="1869281" y="1132681"/>
                <a:ext cx="52388" cy="9525"/>
              </a:xfrm>
              <a:custGeom>
                <a:avLst/>
                <a:gdLst/>
                <a:ahLst/>
                <a:cxnLst/>
                <a:rect l="l" t="t" r="r" b="b"/>
                <a:pathLst>
                  <a:path w="52388" h="9525">
                    <a:moveTo>
                      <a:pt x="0" y="0"/>
                    </a:moveTo>
                    <a:lnTo>
                      <a:pt x="52388" y="0"/>
                    </a:lnTo>
                  </a:path>
                </a:pathLst>
              </a:custGeom>
              <a:noFill/>
              <a:ln w="17463">
                <a:solidFill>
                  <a:srgbClr val="FFFFFF"/>
                </a:solidFill>
              </a:ln>
            </p:spPr>
          </p:sp>
          <p:sp>
            <p:nvSpPr>
              <p:cNvPr id="21" name="Freeform 21"/>
              <p:cNvSpPr/>
              <p:nvPr/>
            </p:nvSpPr>
            <p:spPr>
              <a:xfrm>
                <a:off x="1869281" y="1167606"/>
                <a:ext cx="52388" cy="9525"/>
              </a:xfrm>
              <a:custGeom>
                <a:avLst/>
                <a:gdLst/>
                <a:ahLst/>
                <a:cxnLst/>
                <a:rect l="l" t="t" r="r" b="b"/>
                <a:pathLst>
                  <a:path w="52388" h="9525">
                    <a:moveTo>
                      <a:pt x="0" y="0"/>
                    </a:moveTo>
                    <a:lnTo>
                      <a:pt x="52388" y="0"/>
                    </a:lnTo>
                  </a:path>
                </a:pathLst>
              </a:custGeom>
              <a:noFill/>
              <a:ln w="17463">
                <a:solidFill>
                  <a:srgbClr val="FFFFFF"/>
                </a:solidFill>
              </a:ln>
            </p:spPr>
          </p:sp>
        </p:grpSp>
        <p:sp>
          <p:nvSpPr>
            <p:cNvPr id="23" name="TextBox 23"/>
            <p:cNvSpPr txBox="1"/>
            <p:nvPr/>
          </p:nvSpPr>
          <p:spPr>
            <a:xfrm>
              <a:off x="2833689" y="972502"/>
              <a:ext cx="7905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第 0–30 天​</a:t>
              </a:r>
            </a:p>
          </p:txBody>
        </p:sp>
        <p:sp>
          <p:nvSpPr>
            <p:cNvPr id="24" name="TextBox 24"/>
            <p:cNvSpPr txBox="1"/>
            <p:nvPr/>
          </p:nvSpPr>
          <p:spPr>
            <a:xfrm>
              <a:off x="2507361" y="1170861"/>
              <a:ext cx="1443228" cy="140494"/>
            </a:xfrm>
            <a:prstGeom prst="rect">
              <a:avLst/>
            </a:prstGeom>
            <a:noFill/>
            <a:ln>
              <a:noFill/>
            </a:ln>
          </p:spPr>
          <p:txBody>
            <a:bodyPr wrap="none" lIns="0" tIns="0" rIns="0" bIns="0" anchor="t" anchorCtr="0">
              <a:spAutoFit/>
            </a:bodyPr>
            <a:lstStyle/>
            <a:p>
              <a:pPr algn="ctr"/>
              <a:r>
                <a:rPr lang="zh-CN" sz="710" dirty="0">
                  <a:solidFill>
                    <a:srgbClr val="DCE9F8"/>
                  </a:solidFill>
                  <a:latin typeface="+mn-lt"/>
                  <a:ea typeface="+mn-ea"/>
                  <a:cs typeface="+mn-cs"/>
                </a:rPr>
                <a:t>建台账、锁基线、定责任、查接口</a:t>
              </a:r>
            </a:p>
          </p:txBody>
        </p:sp>
        <p:sp>
          <p:nvSpPr>
            <p:cNvPr id="25" name="Rectangle 25"/>
            <p:cNvSpPr/>
            <p:nvPr/>
          </p:nvSpPr>
          <p:spPr>
            <a:xfrm>
              <a:off x="1676400" y="1390650"/>
              <a:ext cx="3314700" cy="1619250"/>
            </a:xfrm>
            <a:prstGeom prst="roundRect">
              <a:avLst>
                <a:gd name="adj" fmla="val 3529"/>
              </a:avLst>
            </a:prstGeom>
            <a:solidFill>
              <a:srgbClr val="FFFFFF"/>
            </a:solidFill>
            <a:ln w="9525">
              <a:solidFill>
                <a:srgbClr val="C7D9F0"/>
              </a:solidFill>
            </a:ln>
          </p:spPr>
        </p:sp>
        <p:sp>
          <p:nvSpPr>
            <p:cNvPr id="26" name="Rectangle 26"/>
            <p:cNvSpPr/>
            <p:nvPr/>
          </p:nvSpPr>
          <p:spPr>
            <a:xfrm>
              <a:off x="1752600" y="1466850"/>
              <a:ext cx="3162300" cy="228600"/>
            </a:xfrm>
            <a:prstGeom prst="roundRect">
              <a:avLst>
                <a:gd name="adj" fmla="val 16667"/>
              </a:avLst>
            </a:prstGeom>
            <a:solidFill>
              <a:srgbClr val="EFF5FC"/>
            </a:solidFill>
            <a:ln>
              <a:noFill/>
            </a:ln>
          </p:spPr>
        </p:sp>
        <p:sp>
          <p:nvSpPr>
            <p:cNvPr id="27" name="TextBox 27"/>
            <p:cNvSpPr txBox="1"/>
            <p:nvPr/>
          </p:nvSpPr>
          <p:spPr>
            <a:xfrm>
              <a:off x="1824038" y="1547812"/>
              <a:ext cx="1826895" cy="147638"/>
            </a:xfrm>
            <a:prstGeom prst="rect">
              <a:avLst/>
            </a:prstGeom>
            <a:noFill/>
            <a:ln>
              <a:noFill/>
            </a:ln>
          </p:spPr>
          <p:txBody>
            <a:bodyPr wrap="none" lIns="0" tIns="0" rIns="0" bIns="0" anchor="t" anchorCtr="0">
              <a:spAutoFit/>
            </a:bodyPr>
            <a:lstStyle/>
            <a:p>
              <a:pPr algn="l"/>
              <a:r>
                <a:rPr lang="zh-CN" sz="750" b="1" dirty="0">
                  <a:solidFill>
                    <a:srgbClr val="9C331E"/>
                  </a:solidFill>
                  <a:latin typeface="+mn-lt"/>
                  <a:ea typeface="+mn-ea"/>
                  <a:cs typeface="+mn-cs"/>
                </a:rPr>
                <a:t>目标：夯实基础，完成场景的可执行准备</a:t>
              </a:r>
            </a:p>
          </p:txBody>
        </p:sp>
        <p:sp>
          <p:nvSpPr>
            <p:cNvPr id="28" name="Ellipse 28"/>
            <p:cNvSpPr/>
            <p:nvPr/>
          </p:nvSpPr>
          <p:spPr>
            <a:xfrm>
              <a:off x="1857375" y="1838325"/>
              <a:ext cx="57150" cy="57150"/>
            </a:xfrm>
            <a:prstGeom prst="ellipse">
              <a:avLst/>
            </a:prstGeom>
            <a:solidFill>
              <a:srgbClr val="9C331E"/>
            </a:solidFill>
            <a:ln>
              <a:noFill/>
            </a:ln>
          </p:spPr>
        </p:sp>
        <p:sp>
          <p:nvSpPr>
            <p:cNvPr id="29" name="TextBox 29"/>
            <p:cNvSpPr txBox="1"/>
            <p:nvPr/>
          </p:nvSpPr>
          <p:spPr>
            <a:xfrm>
              <a:off x="1995488" y="1824038"/>
              <a:ext cx="1120140"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建立场景台账与范围边界</a:t>
              </a:r>
            </a:p>
          </p:txBody>
        </p:sp>
        <p:sp>
          <p:nvSpPr>
            <p:cNvPr id="30" name="Ellipse 30"/>
            <p:cNvSpPr/>
            <p:nvPr/>
          </p:nvSpPr>
          <p:spPr>
            <a:xfrm>
              <a:off x="1857375" y="2085975"/>
              <a:ext cx="57150" cy="57150"/>
            </a:xfrm>
            <a:prstGeom prst="ellipse">
              <a:avLst/>
            </a:prstGeom>
            <a:solidFill>
              <a:srgbClr val="9C331E"/>
            </a:solidFill>
            <a:ln>
              <a:noFill/>
            </a:ln>
          </p:spPr>
        </p:sp>
        <p:sp>
          <p:nvSpPr>
            <p:cNvPr id="31" name="TextBox 31"/>
            <p:cNvSpPr txBox="1"/>
            <p:nvPr/>
          </p:nvSpPr>
          <p:spPr>
            <a:xfrm>
              <a:off x="1995488" y="2071688"/>
              <a:ext cx="1120140"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锁定现状基线与目标指标</a:t>
              </a:r>
            </a:p>
          </p:txBody>
        </p:sp>
        <p:sp>
          <p:nvSpPr>
            <p:cNvPr id="32" name="Ellipse 32"/>
            <p:cNvSpPr/>
            <p:nvPr/>
          </p:nvSpPr>
          <p:spPr>
            <a:xfrm>
              <a:off x="1857375" y="2333625"/>
              <a:ext cx="57150" cy="57150"/>
            </a:xfrm>
            <a:prstGeom prst="ellipse">
              <a:avLst/>
            </a:prstGeom>
            <a:solidFill>
              <a:srgbClr val="9C331E"/>
            </a:solidFill>
            <a:ln>
              <a:noFill/>
            </a:ln>
          </p:spPr>
        </p:sp>
        <p:sp>
          <p:nvSpPr>
            <p:cNvPr id="33" name="TextBox 33"/>
            <p:cNvSpPr txBox="1"/>
            <p:nvPr/>
          </p:nvSpPr>
          <p:spPr>
            <a:xfrm>
              <a:off x="1995488" y="2319338"/>
              <a:ext cx="1019175"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明确责任人与协同机制</a:t>
              </a:r>
            </a:p>
          </p:txBody>
        </p:sp>
        <p:sp>
          <p:nvSpPr>
            <p:cNvPr id="34" name="Ellipse 34"/>
            <p:cNvSpPr/>
            <p:nvPr/>
          </p:nvSpPr>
          <p:spPr>
            <a:xfrm>
              <a:off x="1857375" y="2581275"/>
              <a:ext cx="57150" cy="57150"/>
            </a:xfrm>
            <a:prstGeom prst="ellipse">
              <a:avLst/>
            </a:prstGeom>
            <a:solidFill>
              <a:srgbClr val="9C331E"/>
            </a:solidFill>
            <a:ln>
              <a:noFill/>
            </a:ln>
          </p:spPr>
        </p:sp>
        <p:sp>
          <p:nvSpPr>
            <p:cNvPr id="35" name="TextBox 35"/>
            <p:cNvSpPr txBox="1"/>
            <p:nvPr/>
          </p:nvSpPr>
          <p:spPr>
            <a:xfrm>
              <a:off x="1995488" y="2566988"/>
              <a:ext cx="1221105"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梳理系统接口与数据可得性</a:t>
              </a:r>
            </a:p>
          </p:txBody>
        </p:sp>
      </p:grpSp>
      <p:grpSp>
        <p:nvGrpSpPr>
          <p:cNvPr id="54" name="stage-2"/>
          <p:cNvGrpSpPr/>
          <p:nvPr/>
        </p:nvGrpSpPr>
        <p:grpSpPr>
          <a:xfrm>
            <a:off x="5067300" y="914400"/>
            <a:ext cx="3314700" cy="2095500"/>
            <a:chOff x="5067300" y="914400"/>
            <a:chExt cx="3314700" cy="2095500"/>
          </a:xfrm>
        </p:grpSpPr>
        <p:sp>
          <p:nvSpPr>
            <p:cNvPr id="37" name="Freeform 37"/>
            <p:cNvSpPr/>
            <p:nvPr/>
          </p:nvSpPr>
          <p:spPr>
            <a:xfrm>
              <a:off x="5067300" y="914400"/>
              <a:ext cx="3314700" cy="419100"/>
            </a:xfrm>
            <a:prstGeom prst="chevron">
              <a:avLst/>
            </a:prstGeom>
            <a:solidFill>
              <a:srgbClr val="9C331E"/>
            </a:solidFill>
            <a:ln>
              <a:noFill/>
            </a:ln>
          </p:spPr>
        </p:sp>
        <p:grpSp>
          <p:nvGrpSpPr>
            <p:cNvPr id="40" name="Group 40"/>
            <p:cNvGrpSpPr/>
            <p:nvPr/>
          </p:nvGrpSpPr>
          <p:grpSpPr>
            <a:xfrm>
              <a:off x="5413511" y="1041536"/>
              <a:ext cx="164829" cy="164829"/>
              <a:chOff x="5413511" y="1041536"/>
              <a:chExt cx="164829" cy="164829"/>
            </a:xfrm>
          </p:grpSpPr>
          <p:sp>
            <p:nvSpPr>
              <p:cNvPr id="38" name="Freeform 38"/>
              <p:cNvSpPr/>
              <p:nvPr/>
            </p:nvSpPr>
            <p:spPr>
              <a:xfrm>
                <a:off x="5413511" y="1041536"/>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FFFFFF"/>
                </a:solidFill>
              </a:ln>
            </p:spPr>
          </p:sp>
          <p:sp>
            <p:nvSpPr>
              <p:cNvPr id="39" name="Freeform 39"/>
              <p:cNvSpPr/>
              <p:nvPr/>
            </p:nvSpPr>
            <p:spPr>
              <a:xfrm>
                <a:off x="5469731" y="1097756"/>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FFFFFF"/>
                </a:solidFill>
              </a:ln>
            </p:spPr>
          </p:sp>
        </p:grpSp>
        <p:sp>
          <p:nvSpPr>
            <p:cNvPr id="41" name="TextBox 41"/>
            <p:cNvSpPr txBox="1"/>
            <p:nvPr/>
          </p:nvSpPr>
          <p:spPr>
            <a:xfrm>
              <a:off x="6288549" y="972502"/>
              <a:ext cx="87220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第 31–60 天​</a:t>
              </a:r>
            </a:p>
          </p:txBody>
        </p:sp>
        <p:sp>
          <p:nvSpPr>
            <p:cNvPr id="42" name="TextBox 42"/>
            <p:cNvSpPr txBox="1"/>
            <p:nvPr/>
          </p:nvSpPr>
          <p:spPr>
            <a:xfrm>
              <a:off x="5955246" y="1170861"/>
              <a:ext cx="1538808" cy="140494"/>
            </a:xfrm>
            <a:prstGeom prst="rect">
              <a:avLst/>
            </a:prstGeom>
            <a:noFill/>
            <a:ln>
              <a:noFill/>
            </a:ln>
          </p:spPr>
          <p:txBody>
            <a:bodyPr wrap="none" lIns="0" tIns="0" rIns="0" bIns="0" anchor="t" anchorCtr="0">
              <a:spAutoFit/>
            </a:bodyPr>
            <a:lstStyle/>
            <a:p>
              <a:pPr algn="ctr"/>
              <a:r>
                <a:rPr lang="zh-CN" sz="710" dirty="0">
                  <a:solidFill>
                    <a:srgbClr val="DCE9F8"/>
                  </a:solidFill>
                  <a:latin typeface="+mn-lt"/>
                  <a:ea typeface="+mn-ea"/>
                  <a:cs typeface="+mn-cs"/>
                </a:rPr>
                <a:t>进主流程、采日志、做对照、建回退</a:t>
              </a:r>
            </a:p>
          </p:txBody>
        </p:sp>
        <p:sp>
          <p:nvSpPr>
            <p:cNvPr id="43" name="Rectangle 43"/>
            <p:cNvSpPr/>
            <p:nvPr/>
          </p:nvSpPr>
          <p:spPr>
            <a:xfrm>
              <a:off x="5067300" y="1390650"/>
              <a:ext cx="3314700" cy="1619250"/>
            </a:xfrm>
            <a:prstGeom prst="roundRect">
              <a:avLst>
                <a:gd name="adj" fmla="val 3529"/>
              </a:avLst>
            </a:prstGeom>
            <a:solidFill>
              <a:srgbClr val="FFFFFF"/>
            </a:solidFill>
            <a:ln w="9525">
              <a:solidFill>
                <a:srgbClr val="C7D9F0"/>
              </a:solidFill>
            </a:ln>
          </p:spPr>
        </p:sp>
        <p:sp>
          <p:nvSpPr>
            <p:cNvPr id="44" name="Rectangle 44"/>
            <p:cNvSpPr/>
            <p:nvPr/>
          </p:nvSpPr>
          <p:spPr>
            <a:xfrm>
              <a:off x="5143500" y="1466850"/>
              <a:ext cx="3162300" cy="228600"/>
            </a:xfrm>
            <a:prstGeom prst="roundRect">
              <a:avLst>
                <a:gd name="adj" fmla="val 16667"/>
              </a:avLst>
            </a:prstGeom>
            <a:solidFill>
              <a:srgbClr val="EFF5FC"/>
            </a:solidFill>
            <a:ln>
              <a:noFill/>
            </a:ln>
          </p:spPr>
        </p:sp>
        <p:sp>
          <p:nvSpPr>
            <p:cNvPr id="45" name="TextBox 45"/>
            <p:cNvSpPr txBox="1"/>
            <p:nvPr/>
          </p:nvSpPr>
          <p:spPr>
            <a:xfrm>
              <a:off x="5214938" y="1547812"/>
              <a:ext cx="1927860" cy="147638"/>
            </a:xfrm>
            <a:prstGeom prst="rect">
              <a:avLst/>
            </a:prstGeom>
            <a:noFill/>
            <a:ln>
              <a:noFill/>
            </a:ln>
          </p:spPr>
          <p:txBody>
            <a:bodyPr wrap="none" lIns="0" tIns="0" rIns="0" bIns="0" anchor="t" anchorCtr="0">
              <a:spAutoFit/>
            </a:bodyPr>
            <a:lstStyle/>
            <a:p>
              <a:pPr algn="l"/>
              <a:r>
                <a:rPr lang="zh-CN" sz="750" b="1" dirty="0">
                  <a:solidFill>
                    <a:srgbClr val="9C331E"/>
                  </a:solidFill>
                  <a:latin typeface="+mn-lt"/>
                  <a:ea typeface="+mn-ea"/>
                  <a:cs typeface="+mn-cs"/>
                </a:rPr>
                <a:t>目标：进入主流程，形成可验证的运行证据</a:t>
              </a:r>
            </a:p>
          </p:txBody>
        </p:sp>
        <p:sp>
          <p:nvSpPr>
            <p:cNvPr id="46" name="Ellipse 46"/>
            <p:cNvSpPr/>
            <p:nvPr/>
          </p:nvSpPr>
          <p:spPr>
            <a:xfrm>
              <a:off x="5248275" y="1838325"/>
              <a:ext cx="57150" cy="57150"/>
            </a:xfrm>
            <a:prstGeom prst="ellipse">
              <a:avLst/>
            </a:prstGeom>
            <a:solidFill>
              <a:srgbClr val="9C331E"/>
            </a:solidFill>
            <a:ln>
              <a:noFill/>
            </a:ln>
          </p:spPr>
        </p:sp>
        <p:sp>
          <p:nvSpPr>
            <p:cNvPr id="47" name="TextBox 47"/>
            <p:cNvSpPr txBox="1"/>
            <p:nvPr/>
          </p:nvSpPr>
          <p:spPr>
            <a:xfrm>
              <a:off x="5386388" y="1824038"/>
              <a:ext cx="1019175"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将场景纳入主流程运行</a:t>
              </a:r>
            </a:p>
          </p:txBody>
        </p:sp>
        <p:sp>
          <p:nvSpPr>
            <p:cNvPr id="48" name="Ellipse 48"/>
            <p:cNvSpPr/>
            <p:nvPr/>
          </p:nvSpPr>
          <p:spPr>
            <a:xfrm>
              <a:off x="5248275" y="2085975"/>
              <a:ext cx="57150" cy="57150"/>
            </a:xfrm>
            <a:prstGeom prst="ellipse">
              <a:avLst/>
            </a:prstGeom>
            <a:solidFill>
              <a:srgbClr val="9C331E"/>
            </a:solidFill>
            <a:ln>
              <a:noFill/>
            </a:ln>
          </p:spPr>
        </p:sp>
        <p:sp>
          <p:nvSpPr>
            <p:cNvPr id="49" name="TextBox 49"/>
            <p:cNvSpPr txBox="1"/>
            <p:nvPr/>
          </p:nvSpPr>
          <p:spPr>
            <a:xfrm>
              <a:off x="5386388" y="2071688"/>
              <a:ext cx="1322070"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采集完整运行日志与关键数据</a:t>
              </a:r>
            </a:p>
          </p:txBody>
        </p:sp>
        <p:sp>
          <p:nvSpPr>
            <p:cNvPr id="50" name="Ellipse 50"/>
            <p:cNvSpPr/>
            <p:nvPr/>
          </p:nvSpPr>
          <p:spPr>
            <a:xfrm>
              <a:off x="5248275" y="2333625"/>
              <a:ext cx="57150" cy="57150"/>
            </a:xfrm>
            <a:prstGeom prst="ellipse">
              <a:avLst/>
            </a:prstGeom>
            <a:solidFill>
              <a:srgbClr val="9C331E"/>
            </a:solidFill>
            <a:ln>
              <a:noFill/>
            </a:ln>
          </p:spPr>
        </p:sp>
        <p:sp>
          <p:nvSpPr>
            <p:cNvPr id="51" name="TextBox 51"/>
            <p:cNvSpPr txBox="1"/>
            <p:nvPr/>
          </p:nvSpPr>
          <p:spPr>
            <a:xfrm>
              <a:off x="5386388" y="2319338"/>
              <a:ext cx="918210"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与基线进行对照分析</a:t>
              </a:r>
            </a:p>
          </p:txBody>
        </p:sp>
        <p:sp>
          <p:nvSpPr>
            <p:cNvPr id="52" name="Ellipse 52"/>
            <p:cNvSpPr/>
            <p:nvPr/>
          </p:nvSpPr>
          <p:spPr>
            <a:xfrm>
              <a:off x="5248275" y="2581275"/>
              <a:ext cx="57150" cy="57150"/>
            </a:xfrm>
            <a:prstGeom prst="ellipse">
              <a:avLst/>
            </a:prstGeom>
            <a:solidFill>
              <a:srgbClr val="9C331E"/>
            </a:solidFill>
            <a:ln>
              <a:noFill/>
            </a:ln>
          </p:spPr>
        </p:sp>
        <p:sp>
          <p:nvSpPr>
            <p:cNvPr id="53" name="TextBox 53"/>
            <p:cNvSpPr txBox="1"/>
            <p:nvPr/>
          </p:nvSpPr>
          <p:spPr>
            <a:xfrm>
              <a:off x="5386388" y="2566988"/>
              <a:ext cx="1120140"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建立回退机制与应急预案</a:t>
              </a:r>
            </a:p>
          </p:txBody>
        </p:sp>
      </p:grpSp>
      <p:grpSp>
        <p:nvGrpSpPr>
          <p:cNvPr id="74" name="stage-3"/>
          <p:cNvGrpSpPr/>
          <p:nvPr/>
        </p:nvGrpSpPr>
        <p:grpSpPr>
          <a:xfrm>
            <a:off x="8458200" y="914400"/>
            <a:ext cx="3314700" cy="2095500"/>
            <a:chOff x="8458200" y="914400"/>
            <a:chExt cx="3314700" cy="2095500"/>
          </a:xfrm>
        </p:grpSpPr>
        <p:sp>
          <p:nvSpPr>
            <p:cNvPr id="55" name="Freeform 55"/>
            <p:cNvSpPr/>
            <p:nvPr/>
          </p:nvSpPr>
          <p:spPr>
            <a:xfrm>
              <a:off x="8458200" y="914400"/>
              <a:ext cx="3314700" cy="419100"/>
            </a:xfrm>
            <a:prstGeom prst="chevron">
              <a:avLst/>
            </a:prstGeom>
            <a:solidFill>
              <a:srgbClr val="D64A2E"/>
            </a:solidFill>
            <a:ln>
              <a:noFill/>
            </a:ln>
          </p:spPr>
        </p:sp>
        <p:grpSp>
          <p:nvGrpSpPr>
            <p:cNvPr id="60" name="Group 60"/>
            <p:cNvGrpSpPr/>
            <p:nvPr/>
          </p:nvGrpSpPr>
          <p:grpSpPr>
            <a:xfrm>
              <a:off x="8808244" y="1054100"/>
              <a:ext cx="157163" cy="149225"/>
              <a:chOff x="8808244" y="1054100"/>
              <a:chExt cx="157163" cy="149225"/>
            </a:xfrm>
          </p:grpSpPr>
          <p:sp>
            <p:nvSpPr>
              <p:cNvPr id="56" name="Freeform 56"/>
              <p:cNvSpPr/>
              <p:nvPr/>
            </p:nvSpPr>
            <p:spPr>
              <a:xfrm>
                <a:off x="8808244" y="11239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57" name="Freeform 57"/>
              <p:cNvSpPr/>
              <p:nvPr/>
            </p:nvSpPr>
            <p:spPr>
              <a:xfrm>
                <a:off x="8913019" y="10890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58" name="Freeform 58"/>
              <p:cNvSpPr/>
              <p:nvPr/>
            </p:nvSpPr>
            <p:spPr>
              <a:xfrm>
                <a:off x="8860631" y="10541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59" name="Freeform 59"/>
              <p:cNvSpPr/>
              <p:nvPr/>
            </p:nvSpPr>
            <p:spPr>
              <a:xfrm>
                <a:off x="8816975" y="1193800"/>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61" name="TextBox 61"/>
            <p:cNvSpPr txBox="1"/>
            <p:nvPr/>
          </p:nvSpPr>
          <p:spPr>
            <a:xfrm>
              <a:off x="9679449" y="972502"/>
              <a:ext cx="87220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第 61–90 天​</a:t>
              </a:r>
            </a:p>
          </p:txBody>
        </p:sp>
        <p:sp>
          <p:nvSpPr>
            <p:cNvPr id="62" name="TextBox 62"/>
            <p:cNvSpPr txBox="1"/>
            <p:nvPr/>
          </p:nvSpPr>
          <p:spPr>
            <a:xfrm>
              <a:off x="9202776" y="1170861"/>
              <a:ext cx="1825549" cy="140494"/>
            </a:xfrm>
            <a:prstGeom prst="rect">
              <a:avLst/>
            </a:prstGeom>
            <a:noFill/>
            <a:ln>
              <a:noFill/>
            </a:ln>
          </p:spPr>
          <p:txBody>
            <a:bodyPr wrap="none" lIns="0" tIns="0" rIns="0" bIns="0" anchor="t" anchorCtr="0">
              <a:spAutoFit/>
            </a:bodyPr>
            <a:lstStyle/>
            <a:p>
              <a:pPr algn="ctr"/>
              <a:r>
                <a:rPr lang="zh-CN" sz="710" dirty="0">
                  <a:solidFill>
                    <a:srgbClr val="DCE9F8"/>
                  </a:solidFill>
                  <a:latin typeface="+mn-lt"/>
                  <a:ea typeface="+mn-ea"/>
                  <a:cs typeface="+mn-cs"/>
                </a:rPr>
                <a:t>财务复核、规模评审、复制标准、公开证据</a:t>
              </a:r>
            </a:p>
          </p:txBody>
        </p:sp>
        <p:sp>
          <p:nvSpPr>
            <p:cNvPr id="63" name="Rectangle 63"/>
            <p:cNvSpPr/>
            <p:nvPr/>
          </p:nvSpPr>
          <p:spPr>
            <a:xfrm>
              <a:off x="8458200" y="1390650"/>
              <a:ext cx="3314700" cy="1619250"/>
            </a:xfrm>
            <a:prstGeom prst="roundRect">
              <a:avLst>
                <a:gd name="adj" fmla="val 3529"/>
              </a:avLst>
            </a:prstGeom>
            <a:solidFill>
              <a:srgbClr val="FFFFFF"/>
            </a:solidFill>
            <a:ln w="9525">
              <a:solidFill>
                <a:srgbClr val="C7D9F0"/>
              </a:solidFill>
            </a:ln>
          </p:spPr>
        </p:sp>
        <p:sp>
          <p:nvSpPr>
            <p:cNvPr id="64" name="Rectangle 64"/>
            <p:cNvSpPr/>
            <p:nvPr/>
          </p:nvSpPr>
          <p:spPr>
            <a:xfrm>
              <a:off x="8534400" y="1466850"/>
              <a:ext cx="3162300" cy="228600"/>
            </a:xfrm>
            <a:prstGeom prst="roundRect">
              <a:avLst>
                <a:gd name="adj" fmla="val 16667"/>
              </a:avLst>
            </a:prstGeom>
            <a:solidFill>
              <a:srgbClr val="EFF5FC"/>
            </a:solidFill>
            <a:ln>
              <a:noFill/>
            </a:ln>
          </p:spPr>
        </p:sp>
        <p:sp>
          <p:nvSpPr>
            <p:cNvPr id="65" name="TextBox 65"/>
            <p:cNvSpPr txBox="1"/>
            <p:nvPr/>
          </p:nvSpPr>
          <p:spPr>
            <a:xfrm>
              <a:off x="8605838" y="1547812"/>
              <a:ext cx="1927860" cy="147638"/>
            </a:xfrm>
            <a:prstGeom prst="rect">
              <a:avLst/>
            </a:prstGeom>
            <a:noFill/>
            <a:ln>
              <a:noFill/>
            </a:ln>
          </p:spPr>
          <p:txBody>
            <a:bodyPr wrap="none" lIns="0" tIns="0" rIns="0" bIns="0" anchor="t" anchorCtr="0">
              <a:spAutoFit/>
            </a:bodyPr>
            <a:lstStyle/>
            <a:p>
              <a:pPr algn="l"/>
              <a:r>
                <a:rPr lang="zh-CN" sz="750" b="1" dirty="0">
                  <a:solidFill>
                    <a:srgbClr val="9C331E"/>
                  </a:solidFill>
                  <a:latin typeface="+mn-lt"/>
                  <a:ea typeface="+mn-ea"/>
                  <a:cs typeface="+mn-cs"/>
                </a:rPr>
                <a:t>目标：验证价值，形成可复制的标准与证据</a:t>
              </a:r>
            </a:p>
          </p:txBody>
        </p:sp>
        <p:sp>
          <p:nvSpPr>
            <p:cNvPr id="66" name="Ellipse 66"/>
            <p:cNvSpPr/>
            <p:nvPr/>
          </p:nvSpPr>
          <p:spPr>
            <a:xfrm>
              <a:off x="8639175" y="1838325"/>
              <a:ext cx="57150" cy="57150"/>
            </a:xfrm>
            <a:prstGeom prst="ellipse">
              <a:avLst/>
            </a:prstGeom>
            <a:solidFill>
              <a:srgbClr val="9C331E"/>
            </a:solidFill>
            <a:ln>
              <a:noFill/>
            </a:ln>
          </p:spPr>
        </p:sp>
        <p:sp>
          <p:nvSpPr>
            <p:cNvPr id="67" name="TextBox 67"/>
            <p:cNvSpPr txBox="1"/>
            <p:nvPr/>
          </p:nvSpPr>
          <p:spPr>
            <a:xfrm>
              <a:off x="8777288" y="1824038"/>
              <a:ext cx="1322070"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开展财务复核与综合效益评估</a:t>
              </a:r>
            </a:p>
          </p:txBody>
        </p:sp>
        <p:sp>
          <p:nvSpPr>
            <p:cNvPr id="68" name="Ellipse 68"/>
            <p:cNvSpPr/>
            <p:nvPr/>
          </p:nvSpPr>
          <p:spPr>
            <a:xfrm>
              <a:off x="8639175" y="2085975"/>
              <a:ext cx="57150" cy="57150"/>
            </a:xfrm>
            <a:prstGeom prst="ellipse">
              <a:avLst/>
            </a:prstGeom>
            <a:solidFill>
              <a:srgbClr val="9C331E"/>
            </a:solidFill>
            <a:ln>
              <a:noFill/>
            </a:ln>
          </p:spPr>
        </p:sp>
        <p:sp>
          <p:nvSpPr>
            <p:cNvPr id="69" name="TextBox 69"/>
            <p:cNvSpPr txBox="1"/>
            <p:nvPr/>
          </p:nvSpPr>
          <p:spPr>
            <a:xfrm>
              <a:off x="8777288" y="2071688"/>
              <a:ext cx="918210"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组织规模化应用评审</a:t>
              </a:r>
            </a:p>
          </p:txBody>
        </p:sp>
        <p:sp>
          <p:nvSpPr>
            <p:cNvPr id="70" name="Ellipse 70"/>
            <p:cNvSpPr/>
            <p:nvPr/>
          </p:nvSpPr>
          <p:spPr>
            <a:xfrm>
              <a:off x="8639175" y="2333625"/>
              <a:ext cx="57150" cy="57150"/>
            </a:xfrm>
            <a:prstGeom prst="ellipse">
              <a:avLst/>
            </a:prstGeom>
            <a:solidFill>
              <a:srgbClr val="9C331E"/>
            </a:solidFill>
            <a:ln>
              <a:noFill/>
            </a:ln>
          </p:spPr>
        </p:sp>
        <p:sp>
          <p:nvSpPr>
            <p:cNvPr id="71" name="TextBox 71"/>
            <p:cNvSpPr txBox="1"/>
            <p:nvPr/>
          </p:nvSpPr>
          <p:spPr>
            <a:xfrm>
              <a:off x="8777288" y="2319338"/>
              <a:ext cx="1120140"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提炼可复制的标准与方法</a:t>
              </a:r>
            </a:p>
          </p:txBody>
        </p:sp>
        <p:sp>
          <p:nvSpPr>
            <p:cNvPr id="72" name="Ellipse 72"/>
            <p:cNvSpPr/>
            <p:nvPr/>
          </p:nvSpPr>
          <p:spPr>
            <a:xfrm>
              <a:off x="8639175" y="2581275"/>
              <a:ext cx="57150" cy="57150"/>
            </a:xfrm>
            <a:prstGeom prst="ellipse">
              <a:avLst/>
            </a:prstGeom>
            <a:solidFill>
              <a:srgbClr val="9C331E"/>
            </a:solidFill>
            <a:ln>
              <a:noFill/>
            </a:ln>
          </p:spPr>
        </p:sp>
        <p:sp>
          <p:nvSpPr>
            <p:cNvPr id="73" name="TextBox 73"/>
            <p:cNvSpPr txBox="1"/>
            <p:nvPr/>
          </p:nvSpPr>
          <p:spPr>
            <a:xfrm>
              <a:off x="8777288" y="2566988"/>
              <a:ext cx="1019175" cy="147638"/>
            </a:xfrm>
            <a:prstGeom prst="rect">
              <a:avLst/>
            </a:prstGeom>
            <a:noFill/>
            <a:ln>
              <a:noFill/>
            </a:ln>
          </p:spPr>
          <p:txBody>
            <a:bodyPr wrap="none" lIns="0" tIns="0" rIns="0" bIns="0" anchor="t" anchorCtr="0">
              <a:spAutoFit/>
            </a:bodyPr>
            <a:lstStyle/>
            <a:p>
              <a:pPr algn="l"/>
              <a:r>
                <a:rPr lang="zh-CN" sz="750" dirty="0">
                  <a:solidFill>
                    <a:srgbClr val="573F3A"/>
                  </a:solidFill>
                  <a:latin typeface="+mn-lt"/>
                  <a:ea typeface="+mn-ea"/>
                  <a:cs typeface="+mn-cs"/>
                </a:rPr>
                <a:t>整理并公开可验证材料</a:t>
              </a:r>
            </a:p>
          </p:txBody>
        </p:sp>
      </p:grpSp>
      <p:grpSp>
        <p:nvGrpSpPr>
          <p:cNvPr id="88" name="role-1"/>
          <p:cNvGrpSpPr/>
          <p:nvPr/>
        </p:nvGrpSpPr>
        <p:grpSpPr>
          <a:xfrm>
            <a:off x="381000" y="3086100"/>
            <a:ext cx="11391900" cy="285750"/>
            <a:chOff x="381000" y="3086100"/>
            <a:chExt cx="11391900" cy="285750"/>
          </a:xfrm>
        </p:grpSpPr>
        <p:sp>
          <p:nvSpPr>
            <p:cNvPr id="75" name="Rectangle 75"/>
            <p:cNvSpPr/>
            <p:nvPr/>
          </p:nvSpPr>
          <p:spPr>
            <a:xfrm>
              <a:off x="381000" y="3086100"/>
              <a:ext cx="1219200" cy="285750"/>
            </a:xfrm>
            <a:prstGeom prst="roundRect">
              <a:avLst>
                <a:gd name="adj" fmla="val 13333"/>
              </a:avLst>
            </a:prstGeom>
            <a:solidFill>
              <a:srgbClr val="9C331E"/>
            </a:solidFill>
            <a:ln>
              <a:noFill/>
            </a:ln>
          </p:spPr>
        </p:sp>
        <p:grpSp>
          <p:nvGrpSpPr>
            <p:cNvPr id="80" name="Group 80"/>
            <p:cNvGrpSpPr/>
            <p:nvPr/>
          </p:nvGrpSpPr>
          <p:grpSpPr>
            <a:xfrm>
              <a:off x="511969" y="3178969"/>
              <a:ext cx="100012" cy="94456"/>
              <a:chOff x="511969" y="3178969"/>
              <a:chExt cx="100012" cy="94456"/>
            </a:xfrm>
          </p:grpSpPr>
          <p:sp>
            <p:nvSpPr>
              <p:cNvPr id="76" name="Freeform 76"/>
              <p:cNvSpPr/>
              <p:nvPr/>
            </p:nvSpPr>
            <p:spPr>
              <a:xfrm>
                <a:off x="511969" y="3201194"/>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FFFFFF"/>
                </a:solidFill>
              </a:ln>
            </p:spPr>
          </p:sp>
          <p:sp>
            <p:nvSpPr>
              <p:cNvPr id="77" name="Freeform 77"/>
              <p:cNvSpPr/>
              <p:nvPr/>
            </p:nvSpPr>
            <p:spPr>
              <a:xfrm>
                <a:off x="539750" y="3178969"/>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FFFFFF"/>
                </a:solidFill>
              </a:ln>
            </p:spPr>
          </p:sp>
          <p:sp>
            <p:nvSpPr>
              <p:cNvPr id="78" name="Freeform 78"/>
              <p:cNvSpPr/>
              <p:nvPr/>
            </p:nvSpPr>
            <p:spPr>
              <a:xfrm>
                <a:off x="561975" y="3228975"/>
                <a:ext cx="9525" cy="9525"/>
              </a:xfrm>
              <a:custGeom>
                <a:avLst/>
                <a:gdLst/>
                <a:ahLst/>
                <a:cxnLst/>
                <a:rect l="l" t="t" r="r" b="b"/>
                <a:pathLst>
                  <a:path w="9525" h="9525">
                    <a:moveTo>
                      <a:pt x="0" y="0"/>
                    </a:moveTo>
                    <a:lnTo>
                      <a:pt x="0" y="56"/>
                    </a:lnTo>
                  </a:path>
                </a:pathLst>
              </a:custGeom>
              <a:noFill/>
              <a:ln w="11112">
                <a:solidFill>
                  <a:srgbClr val="FFFFFF"/>
                </a:solidFill>
              </a:ln>
            </p:spPr>
          </p:sp>
          <p:sp>
            <p:nvSpPr>
              <p:cNvPr id="79" name="Freeform 79"/>
              <p:cNvSpPr/>
              <p:nvPr/>
            </p:nvSpPr>
            <p:spPr>
              <a:xfrm>
                <a:off x="511969" y="3234531"/>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FFFFFF"/>
                </a:solidFill>
              </a:ln>
            </p:spPr>
          </p:sp>
        </p:grpSp>
        <p:sp>
          <p:nvSpPr>
            <p:cNvPr id="81" name="TextBox 81"/>
            <p:cNvSpPr txBox="1"/>
            <p:nvPr/>
          </p:nvSpPr>
          <p:spPr>
            <a:xfrm>
              <a:off x="700088" y="3191589"/>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业务负责人</a:t>
              </a:r>
            </a:p>
          </p:txBody>
        </p:sp>
        <p:sp>
          <p:nvSpPr>
            <p:cNvPr id="82" name="Rectangle 82"/>
            <p:cNvSpPr/>
            <p:nvPr/>
          </p:nvSpPr>
          <p:spPr>
            <a:xfrm>
              <a:off x="1676400" y="3086100"/>
              <a:ext cx="3314700" cy="285750"/>
            </a:xfrm>
            <a:prstGeom prst="rect">
              <a:avLst/>
            </a:prstGeom>
            <a:solidFill>
              <a:srgbClr val="FFFFFF"/>
            </a:solidFill>
            <a:ln w="9525">
              <a:solidFill>
                <a:srgbClr val="C7D9F0"/>
              </a:solidFill>
            </a:ln>
          </p:spPr>
        </p:sp>
        <p:sp>
          <p:nvSpPr>
            <p:cNvPr id="83" name="TextBox 83"/>
            <p:cNvSpPr txBox="1"/>
            <p:nvPr/>
          </p:nvSpPr>
          <p:spPr>
            <a:xfrm>
              <a:off x="1804988" y="3194209"/>
              <a:ext cx="1748815"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确认业务目标与场景范围，组织团队与资源</a:t>
              </a:r>
            </a:p>
          </p:txBody>
        </p:sp>
        <p:sp>
          <p:nvSpPr>
            <p:cNvPr id="84" name="Rectangle 84"/>
            <p:cNvSpPr/>
            <p:nvPr/>
          </p:nvSpPr>
          <p:spPr>
            <a:xfrm>
              <a:off x="5067300" y="3086100"/>
              <a:ext cx="3314700" cy="285750"/>
            </a:xfrm>
            <a:prstGeom prst="rect">
              <a:avLst/>
            </a:prstGeom>
            <a:solidFill>
              <a:srgbClr val="FFFFFF"/>
            </a:solidFill>
            <a:ln w="9525">
              <a:solidFill>
                <a:srgbClr val="C7D9F0"/>
              </a:solidFill>
            </a:ln>
          </p:spPr>
        </p:sp>
        <p:sp>
          <p:nvSpPr>
            <p:cNvPr id="85" name="TextBox 85"/>
            <p:cNvSpPr txBox="1"/>
            <p:nvPr/>
          </p:nvSpPr>
          <p:spPr>
            <a:xfrm>
              <a:off x="5195888" y="3194209"/>
              <a:ext cx="1748815"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推动场景进入主流程，协调业务变更与培训</a:t>
              </a:r>
            </a:p>
          </p:txBody>
        </p:sp>
        <p:sp>
          <p:nvSpPr>
            <p:cNvPr id="86" name="Rectangle 86"/>
            <p:cNvSpPr/>
            <p:nvPr/>
          </p:nvSpPr>
          <p:spPr>
            <a:xfrm>
              <a:off x="8458200" y="3086100"/>
              <a:ext cx="3314700" cy="285750"/>
            </a:xfrm>
            <a:prstGeom prst="rect">
              <a:avLst/>
            </a:prstGeom>
            <a:solidFill>
              <a:srgbClr val="FFFFFF"/>
            </a:solidFill>
            <a:ln w="9525">
              <a:solidFill>
                <a:srgbClr val="C7D9F0"/>
              </a:solidFill>
            </a:ln>
          </p:spPr>
        </p:sp>
        <p:sp>
          <p:nvSpPr>
            <p:cNvPr id="87" name="TextBox 87"/>
            <p:cNvSpPr txBox="1"/>
            <p:nvPr/>
          </p:nvSpPr>
          <p:spPr>
            <a:xfrm>
              <a:off x="8586788" y="3194209"/>
              <a:ext cx="1840357"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参与规模评审，推动复制落地到更多业务单元</a:t>
              </a:r>
            </a:p>
          </p:txBody>
        </p:sp>
      </p:grpSp>
      <p:grpSp>
        <p:nvGrpSpPr>
          <p:cNvPr id="100" name="role-2"/>
          <p:cNvGrpSpPr/>
          <p:nvPr/>
        </p:nvGrpSpPr>
        <p:grpSpPr>
          <a:xfrm>
            <a:off x="381000" y="3390900"/>
            <a:ext cx="11391900" cy="285750"/>
            <a:chOff x="381000" y="3390900"/>
            <a:chExt cx="11391900" cy="285750"/>
          </a:xfrm>
        </p:grpSpPr>
        <p:sp>
          <p:nvSpPr>
            <p:cNvPr id="89" name="Rectangle 89"/>
            <p:cNvSpPr/>
            <p:nvPr/>
          </p:nvSpPr>
          <p:spPr>
            <a:xfrm>
              <a:off x="381000" y="3390900"/>
              <a:ext cx="1219200" cy="285750"/>
            </a:xfrm>
            <a:prstGeom prst="roundRect">
              <a:avLst>
                <a:gd name="adj" fmla="val 13333"/>
              </a:avLst>
            </a:prstGeom>
            <a:solidFill>
              <a:srgbClr val="9C331E"/>
            </a:solidFill>
            <a:ln>
              <a:noFill/>
            </a:ln>
          </p:spPr>
        </p:sp>
        <p:grpSp>
          <p:nvGrpSpPr>
            <p:cNvPr id="92" name="Group 92"/>
            <p:cNvGrpSpPr/>
            <p:nvPr/>
          </p:nvGrpSpPr>
          <p:grpSpPr>
            <a:xfrm>
              <a:off x="509530" y="3481330"/>
              <a:ext cx="104891" cy="104891"/>
              <a:chOff x="509530" y="3481330"/>
              <a:chExt cx="104891" cy="104891"/>
            </a:xfrm>
          </p:grpSpPr>
          <p:sp>
            <p:nvSpPr>
              <p:cNvPr id="90" name="Freeform 90"/>
              <p:cNvSpPr/>
              <p:nvPr/>
            </p:nvSpPr>
            <p:spPr>
              <a:xfrm>
                <a:off x="509530" y="3481330"/>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FFFFFF"/>
                </a:solidFill>
              </a:ln>
            </p:spPr>
          </p:sp>
          <p:sp>
            <p:nvSpPr>
              <p:cNvPr id="91" name="Freeform 91"/>
              <p:cNvSpPr/>
              <p:nvPr/>
            </p:nvSpPr>
            <p:spPr>
              <a:xfrm>
                <a:off x="545306" y="3517106"/>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FFFFFF"/>
                </a:solidFill>
              </a:ln>
            </p:spPr>
          </p:sp>
        </p:grpSp>
        <p:sp>
          <p:nvSpPr>
            <p:cNvPr id="93" name="TextBox 93"/>
            <p:cNvSpPr txBox="1"/>
            <p:nvPr/>
          </p:nvSpPr>
          <p:spPr>
            <a:xfrm>
              <a:off x="700088" y="3496389"/>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技术负责人</a:t>
              </a:r>
            </a:p>
          </p:txBody>
        </p:sp>
        <p:sp>
          <p:nvSpPr>
            <p:cNvPr id="94" name="Rectangle 94"/>
            <p:cNvSpPr/>
            <p:nvPr/>
          </p:nvSpPr>
          <p:spPr>
            <a:xfrm>
              <a:off x="1676400" y="3390900"/>
              <a:ext cx="3314700" cy="285750"/>
            </a:xfrm>
            <a:prstGeom prst="rect">
              <a:avLst/>
            </a:prstGeom>
            <a:solidFill>
              <a:srgbClr val="F6F9FD"/>
            </a:solidFill>
            <a:ln w="9525">
              <a:solidFill>
                <a:srgbClr val="C7D9F0"/>
              </a:solidFill>
            </a:ln>
          </p:spPr>
        </p:sp>
        <p:sp>
          <p:nvSpPr>
            <p:cNvPr id="95" name="TextBox 95"/>
            <p:cNvSpPr txBox="1"/>
            <p:nvPr/>
          </p:nvSpPr>
          <p:spPr>
            <a:xfrm>
              <a:off x="1804988" y="3499009"/>
              <a:ext cx="1657274"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完成技术方案与系统对接，打通必要接口</a:t>
              </a:r>
            </a:p>
          </p:txBody>
        </p:sp>
        <p:sp>
          <p:nvSpPr>
            <p:cNvPr id="96" name="Rectangle 96"/>
            <p:cNvSpPr/>
            <p:nvPr/>
          </p:nvSpPr>
          <p:spPr>
            <a:xfrm>
              <a:off x="5067300" y="3390900"/>
              <a:ext cx="3314700" cy="285750"/>
            </a:xfrm>
            <a:prstGeom prst="rect">
              <a:avLst/>
            </a:prstGeom>
            <a:solidFill>
              <a:srgbClr val="F6F9FD"/>
            </a:solidFill>
            <a:ln w="9525">
              <a:solidFill>
                <a:srgbClr val="C7D9F0"/>
              </a:solidFill>
            </a:ln>
          </p:spPr>
        </p:sp>
        <p:sp>
          <p:nvSpPr>
            <p:cNvPr id="97" name="TextBox 97"/>
            <p:cNvSpPr txBox="1"/>
            <p:nvPr/>
          </p:nvSpPr>
          <p:spPr>
            <a:xfrm>
              <a:off x="5195888" y="3499009"/>
              <a:ext cx="1840357"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保障系统稳定运行，采集运行日志，建立回退</a:t>
              </a:r>
            </a:p>
          </p:txBody>
        </p:sp>
        <p:sp>
          <p:nvSpPr>
            <p:cNvPr id="98" name="Rectangle 98"/>
            <p:cNvSpPr/>
            <p:nvPr/>
          </p:nvSpPr>
          <p:spPr>
            <a:xfrm>
              <a:off x="8458200" y="3390900"/>
              <a:ext cx="3314700" cy="285750"/>
            </a:xfrm>
            <a:prstGeom prst="rect">
              <a:avLst/>
            </a:prstGeom>
            <a:solidFill>
              <a:srgbClr val="F6F9FD"/>
            </a:solidFill>
            <a:ln w="9525">
              <a:solidFill>
                <a:srgbClr val="C7D9F0"/>
              </a:solidFill>
            </a:ln>
          </p:spPr>
        </p:sp>
        <p:sp>
          <p:nvSpPr>
            <p:cNvPr id="99" name="TextBox 99"/>
            <p:cNvSpPr txBox="1"/>
            <p:nvPr/>
          </p:nvSpPr>
          <p:spPr>
            <a:xfrm>
              <a:off x="8586788" y="3499009"/>
              <a:ext cx="1474191"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优化技术方案，沉淀标准化技术组件</a:t>
              </a:r>
            </a:p>
          </p:txBody>
        </p:sp>
      </p:grpSp>
      <p:grpSp>
        <p:nvGrpSpPr>
          <p:cNvPr id="113" name="role-3"/>
          <p:cNvGrpSpPr/>
          <p:nvPr/>
        </p:nvGrpSpPr>
        <p:grpSpPr>
          <a:xfrm>
            <a:off x="381000" y="3695700"/>
            <a:ext cx="11391900" cy="285750"/>
            <a:chOff x="381000" y="3695700"/>
            <a:chExt cx="11391900" cy="285750"/>
          </a:xfrm>
        </p:grpSpPr>
        <p:sp>
          <p:nvSpPr>
            <p:cNvPr id="101" name="Rectangle 101"/>
            <p:cNvSpPr/>
            <p:nvPr/>
          </p:nvSpPr>
          <p:spPr>
            <a:xfrm>
              <a:off x="381000" y="3695700"/>
              <a:ext cx="1219200" cy="285750"/>
            </a:xfrm>
            <a:prstGeom prst="roundRect">
              <a:avLst>
                <a:gd name="adj" fmla="val 13333"/>
              </a:avLst>
            </a:prstGeom>
            <a:solidFill>
              <a:srgbClr val="9C331E"/>
            </a:solidFill>
            <a:ln>
              <a:noFill/>
            </a:ln>
          </p:spPr>
        </p:sp>
        <p:grpSp>
          <p:nvGrpSpPr>
            <p:cNvPr id="105" name="Group 105"/>
            <p:cNvGrpSpPr/>
            <p:nvPr/>
          </p:nvGrpSpPr>
          <p:grpSpPr>
            <a:xfrm>
              <a:off x="517525" y="3788569"/>
              <a:ext cx="88900" cy="100012"/>
              <a:chOff x="517525" y="3788569"/>
              <a:chExt cx="88900" cy="100012"/>
            </a:xfrm>
          </p:grpSpPr>
          <p:sp>
            <p:nvSpPr>
              <p:cNvPr id="102" name="Freeform 102"/>
              <p:cNvSpPr/>
              <p:nvPr/>
            </p:nvSpPr>
            <p:spPr>
              <a:xfrm>
                <a:off x="517525" y="3788569"/>
                <a:ext cx="88900" cy="33337"/>
              </a:xfrm>
              <a:custGeom>
                <a:avLst/>
                <a:gdLst/>
                <a:ahLst/>
                <a:cxnLst/>
                <a:rect l="l" t="t" r="r" b="b"/>
                <a:pathLst>
                  <a:path w="88900" h="33337">
                    <a:moveTo>
                      <a:pt x="0" y="16669"/>
                    </a:moveTo>
                    <a:cubicBezTo>
                      <a:pt x="0" y="25875"/>
                      <a:pt x="19901" y="33337"/>
                      <a:pt x="44450" y="33337"/>
                    </a:cubicBezTo>
                    <a:cubicBezTo>
                      <a:pt x="68999" y="33337"/>
                      <a:pt x="88900" y="25875"/>
                      <a:pt x="88900" y="16669"/>
                    </a:cubicBezTo>
                    <a:cubicBezTo>
                      <a:pt x="88900" y="7463"/>
                      <a:pt x="68999" y="0"/>
                      <a:pt x="44450" y="0"/>
                    </a:cubicBezTo>
                    <a:cubicBezTo>
                      <a:pt x="19901" y="0"/>
                      <a:pt x="0" y="7463"/>
                      <a:pt x="0" y="16669"/>
                    </a:cubicBezTo>
                  </a:path>
                </a:pathLst>
              </a:custGeom>
              <a:noFill/>
              <a:ln w="11112">
                <a:solidFill>
                  <a:srgbClr val="FFFFFF"/>
                </a:solidFill>
              </a:ln>
            </p:spPr>
          </p:sp>
          <p:sp>
            <p:nvSpPr>
              <p:cNvPr id="103" name="Freeform 103"/>
              <p:cNvSpPr/>
              <p:nvPr/>
            </p:nvSpPr>
            <p:spPr>
              <a:xfrm>
                <a:off x="517525" y="3805237"/>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FFFFFF"/>
                </a:solidFill>
              </a:ln>
            </p:spPr>
          </p:sp>
          <p:sp>
            <p:nvSpPr>
              <p:cNvPr id="104" name="Freeform 104"/>
              <p:cNvSpPr/>
              <p:nvPr/>
            </p:nvSpPr>
            <p:spPr>
              <a:xfrm>
                <a:off x="517525" y="3838575"/>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FFFFFF"/>
                </a:solidFill>
              </a:ln>
            </p:spPr>
          </p:sp>
        </p:grpSp>
        <p:sp>
          <p:nvSpPr>
            <p:cNvPr id="106" name="TextBox 106"/>
            <p:cNvSpPr txBox="1"/>
            <p:nvPr/>
          </p:nvSpPr>
          <p:spPr>
            <a:xfrm>
              <a:off x="700088" y="3801189"/>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数据负责人</a:t>
              </a:r>
            </a:p>
          </p:txBody>
        </p:sp>
        <p:sp>
          <p:nvSpPr>
            <p:cNvPr id="107" name="Rectangle 107"/>
            <p:cNvSpPr/>
            <p:nvPr/>
          </p:nvSpPr>
          <p:spPr>
            <a:xfrm>
              <a:off x="1676400" y="3695700"/>
              <a:ext cx="3314700" cy="285750"/>
            </a:xfrm>
            <a:prstGeom prst="rect">
              <a:avLst/>
            </a:prstGeom>
            <a:solidFill>
              <a:srgbClr val="FFFFFF"/>
            </a:solidFill>
            <a:ln w="9525">
              <a:solidFill>
                <a:srgbClr val="C7D9F0"/>
              </a:solidFill>
            </a:ln>
          </p:spPr>
        </p:sp>
        <p:sp>
          <p:nvSpPr>
            <p:cNvPr id="108" name="TextBox 108"/>
            <p:cNvSpPr txBox="1"/>
            <p:nvPr/>
          </p:nvSpPr>
          <p:spPr>
            <a:xfrm>
              <a:off x="1804988" y="3803809"/>
              <a:ext cx="1840357"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建立数据清单与数据字典，确认数据质量基线</a:t>
              </a:r>
            </a:p>
          </p:txBody>
        </p:sp>
        <p:sp>
          <p:nvSpPr>
            <p:cNvPr id="109" name="Rectangle 109"/>
            <p:cNvSpPr/>
            <p:nvPr/>
          </p:nvSpPr>
          <p:spPr>
            <a:xfrm>
              <a:off x="5067300" y="3695700"/>
              <a:ext cx="3314700" cy="285750"/>
            </a:xfrm>
            <a:prstGeom prst="rect">
              <a:avLst/>
            </a:prstGeom>
            <a:solidFill>
              <a:srgbClr val="FFFFFF"/>
            </a:solidFill>
            <a:ln w="9525">
              <a:solidFill>
                <a:srgbClr val="C7D9F0"/>
              </a:solidFill>
            </a:ln>
          </p:spPr>
        </p:sp>
        <p:sp>
          <p:nvSpPr>
            <p:cNvPr id="110" name="TextBox 110"/>
            <p:cNvSpPr txBox="1"/>
            <p:nvPr/>
          </p:nvSpPr>
          <p:spPr>
            <a:xfrm>
              <a:off x="5195888" y="3803809"/>
              <a:ext cx="1474191"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持续采集与治理数据，支持对照分析</a:t>
              </a:r>
            </a:p>
          </p:txBody>
        </p:sp>
        <p:sp>
          <p:nvSpPr>
            <p:cNvPr id="111" name="Rectangle 111"/>
            <p:cNvSpPr/>
            <p:nvPr/>
          </p:nvSpPr>
          <p:spPr>
            <a:xfrm>
              <a:off x="8458200" y="3695700"/>
              <a:ext cx="3314700" cy="285750"/>
            </a:xfrm>
            <a:prstGeom prst="rect">
              <a:avLst/>
            </a:prstGeom>
            <a:solidFill>
              <a:srgbClr val="FFFFFF"/>
            </a:solidFill>
            <a:ln w="9525">
              <a:solidFill>
                <a:srgbClr val="C7D9F0"/>
              </a:solidFill>
            </a:ln>
          </p:spPr>
        </p:sp>
        <p:sp>
          <p:nvSpPr>
            <p:cNvPr id="112" name="TextBox 112"/>
            <p:cNvSpPr txBox="1"/>
            <p:nvPr/>
          </p:nvSpPr>
          <p:spPr>
            <a:xfrm>
              <a:off x="8586788" y="3803809"/>
              <a:ext cx="1748815"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固化数据标准，支持规模化推广与持续监测</a:t>
              </a:r>
            </a:p>
          </p:txBody>
        </p:sp>
      </p:grpSp>
      <p:grpSp>
        <p:nvGrpSpPr>
          <p:cNvPr id="125" name="role-4"/>
          <p:cNvGrpSpPr/>
          <p:nvPr/>
        </p:nvGrpSpPr>
        <p:grpSpPr>
          <a:xfrm>
            <a:off x="381000" y="4000500"/>
            <a:ext cx="11391900" cy="285750"/>
            <a:chOff x="381000" y="4000500"/>
            <a:chExt cx="11391900" cy="285750"/>
          </a:xfrm>
        </p:grpSpPr>
        <p:sp>
          <p:nvSpPr>
            <p:cNvPr id="114" name="Rectangle 114"/>
            <p:cNvSpPr/>
            <p:nvPr/>
          </p:nvSpPr>
          <p:spPr>
            <a:xfrm>
              <a:off x="381000" y="4000500"/>
              <a:ext cx="1219200" cy="285750"/>
            </a:xfrm>
            <a:prstGeom prst="roundRect">
              <a:avLst>
                <a:gd name="adj" fmla="val 13333"/>
              </a:avLst>
            </a:prstGeom>
            <a:solidFill>
              <a:srgbClr val="9C331E"/>
            </a:solidFill>
            <a:ln>
              <a:noFill/>
            </a:ln>
          </p:spPr>
        </p:sp>
        <p:grpSp>
          <p:nvGrpSpPr>
            <p:cNvPr id="117" name="Group 117"/>
            <p:cNvGrpSpPr/>
            <p:nvPr/>
          </p:nvGrpSpPr>
          <p:grpSpPr>
            <a:xfrm>
              <a:off x="517525" y="4098925"/>
              <a:ext cx="88899" cy="88900"/>
              <a:chOff x="517525" y="4098925"/>
              <a:chExt cx="88899" cy="88900"/>
            </a:xfrm>
          </p:grpSpPr>
          <p:sp>
            <p:nvSpPr>
              <p:cNvPr id="115" name="Freeform 115"/>
              <p:cNvSpPr/>
              <p:nvPr/>
            </p:nvSpPr>
            <p:spPr>
              <a:xfrm>
                <a:off x="517525" y="4098925"/>
                <a:ext cx="83344" cy="88900"/>
              </a:xfrm>
              <a:custGeom>
                <a:avLst/>
                <a:gdLst/>
                <a:ahLst/>
                <a:cxnLst/>
                <a:rect l="l" t="t" r="r" b="b"/>
                <a:pathLst>
                  <a:path w="83344" h="88900">
                    <a:moveTo>
                      <a:pt x="72231" y="22225"/>
                    </a:moveTo>
                    <a:lnTo>
                      <a:pt x="72231" y="5556"/>
                    </a:lnTo>
                    <a:cubicBezTo>
                      <a:pt x="72231" y="2488"/>
                      <a:pt x="69744" y="0"/>
                      <a:pt x="66675" y="0"/>
                    </a:cubicBezTo>
                    <a:lnTo>
                      <a:pt x="11112" y="0"/>
                    </a:lnTo>
                    <a:cubicBezTo>
                      <a:pt x="4975" y="0"/>
                      <a:pt x="0" y="4975"/>
                      <a:pt x="0" y="11112"/>
                    </a:cubicBezTo>
                    <a:cubicBezTo>
                      <a:pt x="0" y="17250"/>
                      <a:pt x="4975" y="22225"/>
                      <a:pt x="11112" y="22225"/>
                    </a:cubicBezTo>
                    <a:lnTo>
                      <a:pt x="77787" y="22225"/>
                    </a:lnTo>
                    <a:cubicBezTo>
                      <a:pt x="80856" y="22225"/>
                      <a:pt x="83344" y="24713"/>
                      <a:pt x="83344" y="27781"/>
                    </a:cubicBezTo>
                    <a:lnTo>
                      <a:pt x="83344" y="44450"/>
                    </a:lnTo>
                    <a:moveTo>
                      <a:pt x="83344" y="66675"/>
                    </a:moveTo>
                    <a:lnTo>
                      <a:pt x="83344" y="83344"/>
                    </a:lnTo>
                    <a:cubicBezTo>
                      <a:pt x="83344" y="86412"/>
                      <a:pt x="80856" y="88900"/>
                      <a:pt x="77787" y="88900"/>
                    </a:cubicBezTo>
                    <a:lnTo>
                      <a:pt x="11112" y="88900"/>
                    </a:lnTo>
                    <a:cubicBezTo>
                      <a:pt x="4975" y="88900"/>
                      <a:pt x="0" y="83925"/>
                      <a:pt x="0" y="77787"/>
                    </a:cubicBezTo>
                    <a:lnTo>
                      <a:pt x="0" y="11112"/>
                    </a:lnTo>
                  </a:path>
                </a:pathLst>
              </a:custGeom>
              <a:noFill/>
              <a:ln w="11112">
                <a:solidFill>
                  <a:srgbClr val="FFFFFF"/>
                </a:solidFill>
              </a:ln>
            </p:spPr>
          </p:sp>
          <p:sp>
            <p:nvSpPr>
              <p:cNvPr id="116" name="Freeform 116"/>
              <p:cNvSpPr/>
              <p:nvPr/>
            </p:nvSpPr>
            <p:spPr>
              <a:xfrm>
                <a:off x="573087" y="4143375"/>
                <a:ext cx="33337" cy="22225"/>
              </a:xfrm>
              <a:custGeom>
                <a:avLst/>
                <a:gdLst/>
                <a:ahLst/>
                <a:cxnLst/>
                <a:rect l="l" t="t" r="r" b="b"/>
                <a:pathLst>
                  <a:path w="33337" h="22225">
                    <a:moveTo>
                      <a:pt x="33337" y="0"/>
                    </a:moveTo>
                    <a:lnTo>
                      <a:pt x="33337" y="22225"/>
                    </a:lnTo>
                    <a:lnTo>
                      <a:pt x="11112" y="22225"/>
                    </a:lnTo>
                    <a:cubicBezTo>
                      <a:pt x="4975" y="22225"/>
                      <a:pt x="0" y="17250"/>
                      <a:pt x="0" y="11112"/>
                    </a:cubicBezTo>
                    <a:cubicBezTo>
                      <a:pt x="0" y="4975"/>
                      <a:pt x="4975" y="0"/>
                      <a:pt x="11112" y="0"/>
                    </a:cubicBezTo>
                    <a:lnTo>
                      <a:pt x="33337" y="0"/>
                    </a:lnTo>
                  </a:path>
                </a:pathLst>
              </a:custGeom>
              <a:noFill/>
              <a:ln w="11112">
                <a:solidFill>
                  <a:srgbClr val="FFFFFF"/>
                </a:solidFill>
              </a:ln>
            </p:spPr>
          </p:sp>
        </p:grpSp>
        <p:sp>
          <p:nvSpPr>
            <p:cNvPr id="118" name="TextBox 118"/>
            <p:cNvSpPr txBox="1"/>
            <p:nvPr/>
          </p:nvSpPr>
          <p:spPr>
            <a:xfrm>
              <a:off x="700088" y="4105989"/>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财务负责人</a:t>
              </a:r>
            </a:p>
          </p:txBody>
        </p:sp>
        <p:sp>
          <p:nvSpPr>
            <p:cNvPr id="119" name="Rectangle 119"/>
            <p:cNvSpPr/>
            <p:nvPr/>
          </p:nvSpPr>
          <p:spPr>
            <a:xfrm>
              <a:off x="1676400" y="4000500"/>
              <a:ext cx="3314700" cy="285750"/>
            </a:xfrm>
            <a:prstGeom prst="rect">
              <a:avLst/>
            </a:prstGeom>
            <a:solidFill>
              <a:srgbClr val="F6F9FD"/>
            </a:solidFill>
            <a:ln w="9525">
              <a:solidFill>
                <a:srgbClr val="C7D9F0"/>
              </a:solidFill>
            </a:ln>
          </p:spPr>
        </p:sp>
        <p:sp>
          <p:nvSpPr>
            <p:cNvPr id="120" name="TextBox 120"/>
            <p:cNvSpPr txBox="1"/>
            <p:nvPr/>
          </p:nvSpPr>
          <p:spPr>
            <a:xfrm>
              <a:off x="1804988" y="4108609"/>
              <a:ext cx="1657274"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明确成本归集口径与核算方法，建立基线</a:t>
              </a:r>
            </a:p>
          </p:txBody>
        </p:sp>
        <p:sp>
          <p:nvSpPr>
            <p:cNvPr id="121" name="Rectangle 121"/>
            <p:cNvSpPr/>
            <p:nvPr/>
          </p:nvSpPr>
          <p:spPr>
            <a:xfrm>
              <a:off x="5067300" y="4000500"/>
              <a:ext cx="3314700" cy="285750"/>
            </a:xfrm>
            <a:prstGeom prst="rect">
              <a:avLst/>
            </a:prstGeom>
            <a:solidFill>
              <a:srgbClr val="F6F9FD"/>
            </a:solidFill>
            <a:ln w="9525">
              <a:solidFill>
                <a:srgbClr val="C7D9F0"/>
              </a:solidFill>
            </a:ln>
          </p:spPr>
        </p:sp>
        <p:sp>
          <p:nvSpPr>
            <p:cNvPr id="122" name="TextBox 122"/>
            <p:cNvSpPr txBox="1"/>
            <p:nvPr/>
          </p:nvSpPr>
          <p:spPr>
            <a:xfrm>
              <a:off x="5195888" y="4108609"/>
              <a:ext cx="1565732"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跟踪投入与产出数据，提供阶段性测算</a:t>
              </a:r>
            </a:p>
          </p:txBody>
        </p:sp>
        <p:sp>
          <p:nvSpPr>
            <p:cNvPr id="123" name="Rectangle 123"/>
            <p:cNvSpPr/>
            <p:nvPr/>
          </p:nvSpPr>
          <p:spPr>
            <a:xfrm>
              <a:off x="8458200" y="4000500"/>
              <a:ext cx="3314700" cy="285750"/>
            </a:xfrm>
            <a:prstGeom prst="rect">
              <a:avLst/>
            </a:prstGeom>
            <a:solidFill>
              <a:srgbClr val="F6F9FD"/>
            </a:solidFill>
            <a:ln w="9525">
              <a:solidFill>
                <a:srgbClr val="C7D9F0"/>
              </a:solidFill>
            </a:ln>
          </p:spPr>
        </p:sp>
        <p:sp>
          <p:nvSpPr>
            <p:cNvPr id="124" name="TextBox 124"/>
            <p:cNvSpPr txBox="1"/>
            <p:nvPr/>
          </p:nvSpPr>
          <p:spPr>
            <a:xfrm>
              <a:off x="8586788" y="4108609"/>
              <a:ext cx="1840357"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开展财务复核，评估投资回报，支持规模决策</a:t>
              </a:r>
            </a:p>
          </p:txBody>
        </p:sp>
      </p:grpSp>
      <p:grpSp>
        <p:nvGrpSpPr>
          <p:cNvPr id="137" name="role-5"/>
          <p:cNvGrpSpPr/>
          <p:nvPr/>
        </p:nvGrpSpPr>
        <p:grpSpPr>
          <a:xfrm>
            <a:off x="381000" y="4305300"/>
            <a:ext cx="11391900" cy="285750"/>
            <a:chOff x="381000" y="4305300"/>
            <a:chExt cx="11391900" cy="285750"/>
          </a:xfrm>
        </p:grpSpPr>
        <p:sp>
          <p:nvSpPr>
            <p:cNvPr id="126" name="Rectangle 126"/>
            <p:cNvSpPr/>
            <p:nvPr/>
          </p:nvSpPr>
          <p:spPr>
            <a:xfrm>
              <a:off x="381000" y="4305300"/>
              <a:ext cx="1219200" cy="285750"/>
            </a:xfrm>
            <a:prstGeom prst="roundRect">
              <a:avLst>
                <a:gd name="adj" fmla="val 13333"/>
              </a:avLst>
            </a:prstGeom>
            <a:solidFill>
              <a:srgbClr val="9C331E"/>
            </a:solidFill>
            <a:ln>
              <a:noFill/>
            </a:ln>
          </p:spPr>
        </p:sp>
        <p:grpSp>
          <p:nvGrpSpPr>
            <p:cNvPr id="129" name="Group 129"/>
            <p:cNvGrpSpPr/>
            <p:nvPr/>
          </p:nvGrpSpPr>
          <p:grpSpPr>
            <a:xfrm>
              <a:off x="504470" y="4398169"/>
              <a:ext cx="108504" cy="100012"/>
              <a:chOff x="504470" y="4398169"/>
              <a:chExt cx="108504" cy="100012"/>
            </a:xfrm>
          </p:grpSpPr>
          <p:sp>
            <p:nvSpPr>
              <p:cNvPr id="127" name="Freeform 127"/>
              <p:cNvSpPr/>
              <p:nvPr/>
            </p:nvSpPr>
            <p:spPr>
              <a:xfrm>
                <a:off x="504470" y="439816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FFFFFF"/>
                </a:solidFill>
              </a:ln>
            </p:spPr>
          </p:sp>
          <p:sp>
            <p:nvSpPr>
              <p:cNvPr id="128" name="Freeform 128"/>
              <p:cNvSpPr/>
              <p:nvPr/>
            </p:nvSpPr>
            <p:spPr>
              <a:xfrm>
                <a:off x="578644" y="4475956"/>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130" name="TextBox 130"/>
            <p:cNvSpPr txBox="1"/>
            <p:nvPr/>
          </p:nvSpPr>
          <p:spPr>
            <a:xfrm>
              <a:off x="700088" y="4410789"/>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风控负责人</a:t>
              </a:r>
            </a:p>
          </p:txBody>
        </p:sp>
        <p:sp>
          <p:nvSpPr>
            <p:cNvPr id="131" name="Rectangle 131"/>
            <p:cNvSpPr/>
            <p:nvPr/>
          </p:nvSpPr>
          <p:spPr>
            <a:xfrm>
              <a:off x="1676400" y="4305300"/>
              <a:ext cx="3314700" cy="285750"/>
            </a:xfrm>
            <a:prstGeom prst="rect">
              <a:avLst/>
            </a:prstGeom>
            <a:solidFill>
              <a:srgbClr val="FFFFFF"/>
            </a:solidFill>
            <a:ln w="9525">
              <a:solidFill>
                <a:srgbClr val="C7D9F0"/>
              </a:solidFill>
            </a:ln>
          </p:spPr>
        </p:sp>
        <p:sp>
          <p:nvSpPr>
            <p:cNvPr id="132" name="TextBox 132"/>
            <p:cNvSpPr txBox="1"/>
            <p:nvPr/>
          </p:nvSpPr>
          <p:spPr>
            <a:xfrm>
              <a:off x="1804988" y="4413409"/>
              <a:ext cx="1565732"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识别风险点，制定合规要求与控制措施</a:t>
              </a:r>
            </a:p>
          </p:txBody>
        </p:sp>
        <p:sp>
          <p:nvSpPr>
            <p:cNvPr id="133" name="Rectangle 133"/>
            <p:cNvSpPr/>
            <p:nvPr/>
          </p:nvSpPr>
          <p:spPr>
            <a:xfrm>
              <a:off x="5067300" y="4305300"/>
              <a:ext cx="3314700" cy="285750"/>
            </a:xfrm>
            <a:prstGeom prst="rect">
              <a:avLst/>
            </a:prstGeom>
            <a:solidFill>
              <a:srgbClr val="FFFFFF"/>
            </a:solidFill>
            <a:ln w="9525">
              <a:solidFill>
                <a:srgbClr val="C7D9F0"/>
              </a:solidFill>
            </a:ln>
          </p:spPr>
        </p:sp>
        <p:sp>
          <p:nvSpPr>
            <p:cNvPr id="134" name="TextBox 134"/>
            <p:cNvSpPr txBox="1"/>
            <p:nvPr/>
          </p:nvSpPr>
          <p:spPr>
            <a:xfrm>
              <a:off x="5195888" y="4413409"/>
              <a:ext cx="1291107"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监控运行风险，验证回退有效性</a:t>
              </a:r>
            </a:p>
          </p:txBody>
        </p:sp>
        <p:sp>
          <p:nvSpPr>
            <p:cNvPr id="135" name="Rectangle 135"/>
            <p:cNvSpPr/>
            <p:nvPr/>
          </p:nvSpPr>
          <p:spPr>
            <a:xfrm>
              <a:off x="8458200" y="4305300"/>
              <a:ext cx="3314700" cy="285750"/>
            </a:xfrm>
            <a:prstGeom prst="rect">
              <a:avLst/>
            </a:prstGeom>
            <a:solidFill>
              <a:srgbClr val="FFFFFF"/>
            </a:solidFill>
            <a:ln w="9525">
              <a:solidFill>
                <a:srgbClr val="C7D9F0"/>
              </a:solidFill>
            </a:ln>
          </p:spPr>
        </p:sp>
        <p:sp>
          <p:nvSpPr>
            <p:cNvPr id="136" name="TextBox 136"/>
            <p:cNvSpPr txBox="1"/>
            <p:nvPr/>
          </p:nvSpPr>
          <p:spPr>
            <a:xfrm>
              <a:off x="8586788" y="4413409"/>
              <a:ext cx="1657274" cy="133350"/>
            </a:xfrm>
            <a:prstGeom prst="rect">
              <a:avLst/>
            </a:prstGeom>
            <a:noFill/>
            <a:ln>
              <a:noFill/>
            </a:ln>
          </p:spPr>
          <p:txBody>
            <a:bodyPr wrap="none" lIns="0" tIns="0" rIns="0" bIns="0" anchor="t" anchorCtr="0">
              <a:spAutoFit/>
            </a:bodyPr>
            <a:lstStyle/>
            <a:p>
              <a:pPr algn="l"/>
              <a:r>
                <a:rPr lang="zh-CN" sz="680" dirty="0">
                  <a:solidFill>
                    <a:srgbClr val="573F3A"/>
                  </a:solidFill>
                  <a:latin typeface="+mn-lt"/>
                  <a:ea typeface="+mn-ea"/>
                  <a:cs typeface="+mn-cs"/>
                </a:rPr>
                <a:t>完成风险评估，固化风控，支持复制推广</a:t>
              </a:r>
            </a:p>
          </p:txBody>
        </p:sp>
      </p:grpSp>
      <p:grpSp>
        <p:nvGrpSpPr>
          <p:cNvPr id="196" name="deliverables"/>
          <p:cNvGrpSpPr/>
          <p:nvPr/>
        </p:nvGrpSpPr>
        <p:grpSpPr>
          <a:xfrm>
            <a:off x="381000" y="4705350"/>
            <a:ext cx="11391900" cy="952500"/>
            <a:chOff x="381000" y="4705350"/>
            <a:chExt cx="11391900" cy="952500"/>
          </a:xfrm>
        </p:grpSpPr>
        <p:sp>
          <p:nvSpPr>
            <p:cNvPr id="138" name="Rectangle 138"/>
            <p:cNvSpPr/>
            <p:nvPr/>
          </p:nvSpPr>
          <p:spPr>
            <a:xfrm>
              <a:off x="381000" y="4705350"/>
              <a:ext cx="1219200" cy="952500"/>
            </a:xfrm>
            <a:prstGeom prst="roundRect">
              <a:avLst>
                <a:gd name="adj" fmla="val 6000"/>
              </a:avLst>
            </a:prstGeom>
            <a:solidFill>
              <a:srgbClr val="632012"/>
            </a:solidFill>
            <a:ln>
              <a:noFill/>
            </a:ln>
          </p:spPr>
        </p:sp>
        <p:sp>
          <p:nvSpPr>
            <p:cNvPr id="139" name="TextBox 139"/>
            <p:cNvSpPr txBox="1"/>
            <p:nvPr/>
          </p:nvSpPr>
          <p:spPr>
            <a:xfrm>
              <a:off x="606209" y="502324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最终交付清单</a:t>
              </a:r>
            </a:p>
          </p:txBody>
        </p:sp>
        <p:sp>
          <p:nvSpPr>
            <p:cNvPr id="140" name="TextBox 140"/>
            <p:cNvSpPr txBox="1"/>
            <p:nvPr/>
          </p:nvSpPr>
          <p:spPr>
            <a:xfrm>
              <a:off x="619671" y="5223034"/>
              <a:ext cx="741858" cy="133350"/>
            </a:xfrm>
            <a:prstGeom prst="rect">
              <a:avLst/>
            </a:prstGeom>
            <a:noFill/>
            <a:ln>
              <a:noFill/>
            </a:ln>
          </p:spPr>
          <p:txBody>
            <a:bodyPr wrap="none" lIns="0" tIns="0" rIns="0" bIns="0" anchor="t" anchorCtr="0">
              <a:spAutoFit/>
            </a:bodyPr>
            <a:lstStyle/>
            <a:p>
              <a:pPr algn="ctr"/>
              <a:r>
                <a:rPr lang="zh-CN" sz="680" dirty="0">
                  <a:solidFill>
                    <a:srgbClr val="DCE9F8"/>
                  </a:solidFill>
                  <a:latin typeface="+mn-lt"/>
                  <a:ea typeface="+mn-ea"/>
                  <a:cs typeface="+mn-cs"/>
                </a:rPr>
                <a:t>每项场景必须交付</a:t>
              </a:r>
            </a:p>
          </p:txBody>
        </p:sp>
        <p:sp>
          <p:nvSpPr>
            <p:cNvPr id="141" name="Rectangle 141"/>
            <p:cNvSpPr/>
            <p:nvPr/>
          </p:nvSpPr>
          <p:spPr>
            <a:xfrm>
              <a:off x="1676400" y="4705350"/>
              <a:ext cx="1619250" cy="952500"/>
            </a:xfrm>
            <a:prstGeom prst="roundRect">
              <a:avLst>
                <a:gd name="adj" fmla="val 6000"/>
              </a:avLst>
            </a:prstGeom>
            <a:solidFill>
              <a:srgbClr val="FFFFFF"/>
            </a:solidFill>
            <a:ln w="9525">
              <a:solidFill>
                <a:srgbClr val="C7D9F0"/>
              </a:solidFill>
            </a:ln>
          </p:spPr>
        </p:sp>
        <p:sp>
          <p:nvSpPr>
            <p:cNvPr id="142" name="Ellipse 142"/>
            <p:cNvSpPr/>
            <p:nvPr/>
          </p:nvSpPr>
          <p:spPr>
            <a:xfrm>
              <a:off x="2333625" y="4838700"/>
              <a:ext cx="304800" cy="304800"/>
            </a:xfrm>
            <a:prstGeom prst="ellipse">
              <a:avLst/>
            </a:prstGeom>
            <a:solidFill>
              <a:srgbClr val="EFF5FC"/>
            </a:solidFill>
            <a:ln w="9525">
              <a:solidFill>
                <a:srgbClr val="ECB3A8"/>
              </a:solidFill>
            </a:ln>
          </p:spPr>
        </p:sp>
        <p:grpSp>
          <p:nvGrpSpPr>
            <p:cNvPr id="148" name="Group 148"/>
            <p:cNvGrpSpPr/>
            <p:nvPr/>
          </p:nvGrpSpPr>
          <p:grpSpPr>
            <a:xfrm>
              <a:off x="2430462" y="4919662"/>
              <a:ext cx="111125" cy="142875"/>
              <a:chOff x="2430462" y="4919662"/>
              <a:chExt cx="111125" cy="142875"/>
            </a:xfrm>
          </p:grpSpPr>
          <p:sp>
            <p:nvSpPr>
              <p:cNvPr id="143" name="Freeform 143"/>
              <p:cNvSpPr/>
              <p:nvPr/>
            </p:nvSpPr>
            <p:spPr>
              <a:xfrm>
                <a:off x="2501900" y="49196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9C331E"/>
                </a:solidFill>
              </a:ln>
            </p:spPr>
          </p:sp>
          <p:sp>
            <p:nvSpPr>
              <p:cNvPr id="144" name="Freeform 144"/>
              <p:cNvSpPr/>
              <p:nvPr/>
            </p:nvSpPr>
            <p:spPr>
              <a:xfrm>
                <a:off x="2430462" y="49196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9C331E"/>
                </a:solidFill>
              </a:ln>
            </p:spPr>
          </p:sp>
          <p:sp>
            <p:nvSpPr>
              <p:cNvPr id="145" name="Freeform 145"/>
              <p:cNvSpPr/>
              <p:nvPr/>
            </p:nvSpPr>
            <p:spPr>
              <a:xfrm>
                <a:off x="2462212" y="4967287"/>
                <a:ext cx="9525" cy="9525"/>
              </a:xfrm>
              <a:custGeom>
                <a:avLst/>
                <a:gdLst/>
                <a:ahLst/>
                <a:cxnLst/>
                <a:rect l="l" t="t" r="r" b="b"/>
                <a:pathLst>
                  <a:path w="9525" h="9525">
                    <a:moveTo>
                      <a:pt x="0" y="0"/>
                    </a:moveTo>
                    <a:lnTo>
                      <a:pt x="7937" y="0"/>
                    </a:lnTo>
                  </a:path>
                </a:pathLst>
              </a:custGeom>
              <a:noFill/>
              <a:ln w="15875">
                <a:solidFill>
                  <a:srgbClr val="9C331E"/>
                </a:solidFill>
              </a:ln>
            </p:spPr>
          </p:sp>
          <p:sp>
            <p:nvSpPr>
              <p:cNvPr id="146" name="Freeform 146"/>
              <p:cNvSpPr/>
              <p:nvPr/>
            </p:nvSpPr>
            <p:spPr>
              <a:xfrm>
                <a:off x="2462212" y="4999037"/>
                <a:ext cx="47625" cy="9525"/>
              </a:xfrm>
              <a:custGeom>
                <a:avLst/>
                <a:gdLst/>
                <a:ahLst/>
                <a:cxnLst/>
                <a:rect l="l" t="t" r="r" b="b"/>
                <a:pathLst>
                  <a:path w="47625" h="9525">
                    <a:moveTo>
                      <a:pt x="0" y="0"/>
                    </a:moveTo>
                    <a:lnTo>
                      <a:pt x="47625" y="0"/>
                    </a:lnTo>
                  </a:path>
                </a:pathLst>
              </a:custGeom>
              <a:noFill/>
              <a:ln w="15875">
                <a:solidFill>
                  <a:srgbClr val="9C331E"/>
                </a:solidFill>
              </a:ln>
            </p:spPr>
          </p:sp>
          <p:sp>
            <p:nvSpPr>
              <p:cNvPr id="147" name="Freeform 147"/>
              <p:cNvSpPr/>
              <p:nvPr/>
            </p:nvSpPr>
            <p:spPr>
              <a:xfrm>
                <a:off x="2462212" y="5030787"/>
                <a:ext cx="47625" cy="9525"/>
              </a:xfrm>
              <a:custGeom>
                <a:avLst/>
                <a:gdLst/>
                <a:ahLst/>
                <a:cxnLst/>
                <a:rect l="l" t="t" r="r" b="b"/>
                <a:pathLst>
                  <a:path w="47625" h="9525">
                    <a:moveTo>
                      <a:pt x="0" y="0"/>
                    </a:moveTo>
                    <a:lnTo>
                      <a:pt x="47625" y="0"/>
                    </a:lnTo>
                  </a:path>
                </a:pathLst>
              </a:custGeom>
              <a:noFill/>
              <a:ln w="15875">
                <a:solidFill>
                  <a:srgbClr val="9C331E"/>
                </a:solidFill>
              </a:ln>
            </p:spPr>
          </p:sp>
        </p:grpSp>
        <p:sp>
          <p:nvSpPr>
            <p:cNvPr id="149" name="TextBox 149"/>
            <p:cNvSpPr txBox="1"/>
            <p:nvPr/>
          </p:nvSpPr>
          <p:spPr>
            <a:xfrm>
              <a:off x="2299526" y="5236845"/>
              <a:ext cx="372999" cy="176212"/>
            </a:xfrm>
            <a:prstGeom prst="rect">
              <a:avLst/>
            </a:prstGeom>
            <a:noFill/>
            <a:ln>
              <a:noFill/>
            </a:ln>
          </p:spPr>
          <p:txBody>
            <a:bodyPr wrap="none" lIns="0" tIns="0" rIns="0" bIns="0" anchor="t" anchorCtr="0">
              <a:spAutoFit/>
            </a:bodyPr>
            <a:lstStyle/>
            <a:p>
              <a:pPr algn="ctr"/>
              <a:r>
                <a:rPr lang="zh-CN" sz="900" b="1" dirty="0">
                  <a:solidFill>
                    <a:srgbClr val="5E2114"/>
                  </a:solidFill>
                  <a:latin typeface="+mn-lt"/>
                  <a:ea typeface="+mn-ea"/>
                  <a:cs typeface="+mn-cs"/>
                </a:rPr>
                <a:t>问题单</a:t>
              </a:r>
            </a:p>
          </p:txBody>
        </p:sp>
        <p:sp>
          <p:nvSpPr>
            <p:cNvPr id="150" name="TextBox 150"/>
            <p:cNvSpPr txBox="1"/>
            <p:nvPr/>
          </p:nvSpPr>
          <p:spPr>
            <a:xfrm>
              <a:off x="2050478" y="5436632"/>
              <a:ext cx="871093"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梳理问题、明确改进项</a:t>
              </a:r>
            </a:p>
          </p:txBody>
        </p:sp>
        <p:sp>
          <p:nvSpPr>
            <p:cNvPr id="151" name="Rectangle 151"/>
            <p:cNvSpPr/>
            <p:nvPr/>
          </p:nvSpPr>
          <p:spPr>
            <a:xfrm>
              <a:off x="3371850" y="4705350"/>
              <a:ext cx="1619250" cy="952500"/>
            </a:xfrm>
            <a:prstGeom prst="roundRect">
              <a:avLst>
                <a:gd name="adj" fmla="val 6000"/>
              </a:avLst>
            </a:prstGeom>
            <a:solidFill>
              <a:srgbClr val="FFFFFF"/>
            </a:solidFill>
            <a:ln w="9525">
              <a:solidFill>
                <a:srgbClr val="C7D9F0"/>
              </a:solidFill>
            </a:ln>
          </p:spPr>
        </p:sp>
        <p:sp>
          <p:nvSpPr>
            <p:cNvPr id="152" name="Ellipse 152"/>
            <p:cNvSpPr/>
            <p:nvPr/>
          </p:nvSpPr>
          <p:spPr>
            <a:xfrm>
              <a:off x="4029075" y="4838700"/>
              <a:ext cx="304800" cy="304800"/>
            </a:xfrm>
            <a:prstGeom prst="ellipse">
              <a:avLst/>
            </a:prstGeom>
            <a:solidFill>
              <a:srgbClr val="EFF5FC"/>
            </a:solidFill>
            <a:ln w="9525">
              <a:solidFill>
                <a:srgbClr val="ECB3A8"/>
              </a:solidFill>
            </a:ln>
          </p:spPr>
        </p:sp>
        <p:grpSp>
          <p:nvGrpSpPr>
            <p:cNvPr id="156" name="Group 156"/>
            <p:cNvGrpSpPr/>
            <p:nvPr/>
          </p:nvGrpSpPr>
          <p:grpSpPr>
            <a:xfrm>
              <a:off x="4125912" y="4927600"/>
              <a:ext cx="111125" cy="127000"/>
              <a:chOff x="4125912" y="4927600"/>
              <a:chExt cx="111125" cy="127000"/>
            </a:xfrm>
          </p:grpSpPr>
          <p:sp>
            <p:nvSpPr>
              <p:cNvPr id="153" name="Freeform 153"/>
              <p:cNvSpPr/>
              <p:nvPr/>
            </p:nvSpPr>
            <p:spPr>
              <a:xfrm>
                <a:off x="4125912" y="4927600"/>
                <a:ext cx="111125" cy="127000"/>
              </a:xfrm>
              <a:custGeom>
                <a:avLst/>
                <a:gdLst/>
                <a:ahLst/>
                <a:cxnLst/>
                <a:rect l="l" t="t" r="r" b="b"/>
                <a:pathLst>
                  <a:path w="111125" h="127000">
                    <a:moveTo>
                      <a:pt x="111125" y="0"/>
                    </a:moveTo>
                    <a:lnTo>
                      <a:pt x="111125" y="127000"/>
                    </a:lnTo>
                    <a:lnTo>
                      <a:pt x="15875" y="127000"/>
                    </a:lnTo>
                    <a:cubicBezTo>
                      <a:pt x="7107" y="127000"/>
                      <a:pt x="0" y="119892"/>
                      <a:pt x="0" y="111125"/>
                    </a:cubicBezTo>
                    <a:lnTo>
                      <a:pt x="0" y="15875"/>
                    </a:lnTo>
                    <a:cubicBezTo>
                      <a:pt x="0" y="7107"/>
                      <a:pt x="7107" y="0"/>
                      <a:pt x="15875" y="0"/>
                    </a:cubicBezTo>
                    <a:lnTo>
                      <a:pt x="111125" y="0"/>
                    </a:lnTo>
                  </a:path>
                </a:pathLst>
              </a:custGeom>
              <a:noFill/>
              <a:ln w="15875">
                <a:solidFill>
                  <a:srgbClr val="9C331E"/>
                </a:solidFill>
              </a:ln>
            </p:spPr>
          </p:sp>
          <p:sp>
            <p:nvSpPr>
              <p:cNvPr id="154" name="Freeform 154"/>
              <p:cNvSpPr/>
              <p:nvPr/>
            </p:nvSpPr>
            <p:spPr>
              <a:xfrm>
                <a:off x="4125912" y="5022850"/>
                <a:ext cx="111125" cy="15875"/>
              </a:xfrm>
              <a:custGeom>
                <a:avLst/>
                <a:gdLst/>
                <a:ahLst/>
                <a:cxnLst/>
                <a:rect l="l" t="t" r="r" b="b"/>
                <a:pathLst>
                  <a:path w="111125" h="15875">
                    <a:moveTo>
                      <a:pt x="111125" y="0"/>
                    </a:moveTo>
                    <a:lnTo>
                      <a:pt x="15875" y="0"/>
                    </a:lnTo>
                    <a:cubicBezTo>
                      <a:pt x="7107" y="0"/>
                      <a:pt x="0" y="7107"/>
                      <a:pt x="0" y="15875"/>
                    </a:cubicBezTo>
                  </a:path>
                </a:pathLst>
              </a:custGeom>
              <a:noFill/>
              <a:ln w="15875">
                <a:solidFill>
                  <a:srgbClr val="9C331E"/>
                </a:solidFill>
              </a:ln>
            </p:spPr>
          </p:sp>
          <p:sp>
            <p:nvSpPr>
              <p:cNvPr id="155" name="Freeform 155"/>
              <p:cNvSpPr/>
              <p:nvPr/>
            </p:nvSpPr>
            <p:spPr>
              <a:xfrm>
                <a:off x="4157662" y="4959350"/>
                <a:ext cx="47625" cy="9525"/>
              </a:xfrm>
              <a:custGeom>
                <a:avLst/>
                <a:gdLst/>
                <a:ahLst/>
                <a:cxnLst/>
                <a:rect l="l" t="t" r="r" b="b"/>
                <a:pathLst>
                  <a:path w="47625" h="9525">
                    <a:moveTo>
                      <a:pt x="0" y="0"/>
                    </a:moveTo>
                    <a:lnTo>
                      <a:pt x="47625" y="0"/>
                    </a:lnTo>
                  </a:path>
                </a:pathLst>
              </a:custGeom>
              <a:noFill/>
              <a:ln w="15875">
                <a:solidFill>
                  <a:srgbClr val="9C331E"/>
                </a:solidFill>
              </a:ln>
            </p:spPr>
          </p:sp>
        </p:grpSp>
        <p:sp>
          <p:nvSpPr>
            <p:cNvPr id="157" name="TextBox 157"/>
            <p:cNvSpPr txBox="1"/>
            <p:nvPr/>
          </p:nvSpPr>
          <p:spPr>
            <a:xfrm>
              <a:off x="3934396" y="5236845"/>
              <a:ext cx="494157" cy="176212"/>
            </a:xfrm>
            <a:prstGeom prst="rect">
              <a:avLst/>
            </a:prstGeom>
            <a:noFill/>
            <a:ln>
              <a:noFill/>
            </a:ln>
          </p:spPr>
          <p:txBody>
            <a:bodyPr wrap="none" lIns="0" tIns="0" rIns="0" bIns="0" anchor="t" anchorCtr="0">
              <a:spAutoFit/>
            </a:bodyPr>
            <a:lstStyle/>
            <a:p>
              <a:pPr algn="ctr"/>
              <a:r>
                <a:rPr lang="zh-CN" sz="900" b="1" dirty="0">
                  <a:solidFill>
                    <a:srgbClr val="5E2114"/>
                  </a:solidFill>
                  <a:latin typeface="+mn-lt"/>
                  <a:ea typeface="+mn-ea"/>
                  <a:cs typeface="+mn-cs"/>
                </a:rPr>
                <a:t>数据字典</a:t>
              </a:r>
            </a:p>
          </p:txBody>
        </p:sp>
        <p:sp>
          <p:nvSpPr>
            <p:cNvPr id="158" name="TextBox 158"/>
            <p:cNvSpPr txBox="1"/>
            <p:nvPr/>
          </p:nvSpPr>
          <p:spPr>
            <a:xfrm>
              <a:off x="3789007" y="5436632"/>
              <a:ext cx="784936"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字段定义、口径说明</a:t>
              </a:r>
            </a:p>
          </p:txBody>
        </p:sp>
        <p:sp>
          <p:nvSpPr>
            <p:cNvPr id="159" name="Rectangle 159"/>
            <p:cNvSpPr/>
            <p:nvPr/>
          </p:nvSpPr>
          <p:spPr>
            <a:xfrm>
              <a:off x="5067300" y="4705350"/>
              <a:ext cx="1619250" cy="952500"/>
            </a:xfrm>
            <a:prstGeom prst="roundRect">
              <a:avLst>
                <a:gd name="adj" fmla="val 6000"/>
              </a:avLst>
            </a:prstGeom>
            <a:solidFill>
              <a:srgbClr val="FFFFFF"/>
            </a:solidFill>
            <a:ln w="9525">
              <a:solidFill>
                <a:srgbClr val="C7D9F0"/>
              </a:solidFill>
            </a:ln>
          </p:spPr>
        </p:sp>
        <p:sp>
          <p:nvSpPr>
            <p:cNvPr id="160" name="Ellipse 160"/>
            <p:cNvSpPr/>
            <p:nvPr/>
          </p:nvSpPr>
          <p:spPr>
            <a:xfrm>
              <a:off x="5724525" y="4838700"/>
              <a:ext cx="304800" cy="304800"/>
            </a:xfrm>
            <a:prstGeom prst="ellipse">
              <a:avLst/>
            </a:prstGeom>
            <a:solidFill>
              <a:srgbClr val="EFF5FC"/>
            </a:solidFill>
            <a:ln w="9525">
              <a:solidFill>
                <a:srgbClr val="ECB3A8"/>
              </a:solidFill>
            </a:ln>
          </p:spPr>
        </p:sp>
        <p:grpSp>
          <p:nvGrpSpPr>
            <p:cNvPr id="164" name="Group 164"/>
            <p:cNvGrpSpPr/>
            <p:nvPr/>
          </p:nvGrpSpPr>
          <p:grpSpPr>
            <a:xfrm>
              <a:off x="5821362" y="4919662"/>
              <a:ext cx="111125" cy="142875"/>
              <a:chOff x="5821362" y="4919662"/>
              <a:chExt cx="111125" cy="142875"/>
            </a:xfrm>
          </p:grpSpPr>
          <p:sp>
            <p:nvSpPr>
              <p:cNvPr id="161" name="Freeform 161"/>
              <p:cNvSpPr/>
              <p:nvPr/>
            </p:nvSpPr>
            <p:spPr>
              <a:xfrm>
                <a:off x="5892800" y="49196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9C331E"/>
                </a:solidFill>
              </a:ln>
            </p:spPr>
          </p:sp>
          <p:sp>
            <p:nvSpPr>
              <p:cNvPr id="162" name="Freeform 162"/>
              <p:cNvSpPr/>
              <p:nvPr/>
            </p:nvSpPr>
            <p:spPr>
              <a:xfrm>
                <a:off x="5821362" y="49196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9C331E"/>
                </a:solidFill>
              </a:ln>
            </p:spPr>
          </p:sp>
          <p:sp>
            <p:nvSpPr>
              <p:cNvPr id="163" name="Freeform 163"/>
              <p:cNvSpPr/>
              <p:nvPr/>
            </p:nvSpPr>
            <p:spPr>
              <a:xfrm>
                <a:off x="5853112" y="4999037"/>
                <a:ext cx="47625" cy="31750"/>
              </a:xfrm>
              <a:custGeom>
                <a:avLst/>
                <a:gdLst/>
                <a:ahLst/>
                <a:cxnLst/>
                <a:rect l="l" t="t" r="r" b="b"/>
                <a:pathLst>
                  <a:path w="47625" h="31750">
                    <a:moveTo>
                      <a:pt x="0" y="15875"/>
                    </a:moveTo>
                    <a:lnTo>
                      <a:pt x="15875" y="31750"/>
                    </a:lnTo>
                    <a:lnTo>
                      <a:pt x="47625" y="0"/>
                    </a:lnTo>
                  </a:path>
                </a:pathLst>
              </a:custGeom>
              <a:noFill/>
              <a:ln w="15875">
                <a:solidFill>
                  <a:srgbClr val="9C331E"/>
                </a:solidFill>
              </a:ln>
            </p:spPr>
          </p:sp>
        </p:grpSp>
        <p:sp>
          <p:nvSpPr>
            <p:cNvPr id="165" name="TextBox 165"/>
            <p:cNvSpPr txBox="1"/>
            <p:nvPr/>
          </p:nvSpPr>
          <p:spPr>
            <a:xfrm>
              <a:off x="5629846" y="5236845"/>
              <a:ext cx="494157" cy="176212"/>
            </a:xfrm>
            <a:prstGeom prst="rect">
              <a:avLst/>
            </a:prstGeom>
            <a:noFill/>
            <a:ln>
              <a:noFill/>
            </a:ln>
          </p:spPr>
          <p:txBody>
            <a:bodyPr wrap="none" lIns="0" tIns="0" rIns="0" bIns="0" anchor="t" anchorCtr="0">
              <a:spAutoFit/>
            </a:bodyPr>
            <a:lstStyle/>
            <a:p>
              <a:pPr algn="ctr"/>
              <a:r>
                <a:rPr lang="zh-CN" sz="900" b="1" dirty="0">
                  <a:solidFill>
                    <a:srgbClr val="5E2114"/>
                  </a:solidFill>
                  <a:latin typeface="+mn-lt"/>
                  <a:ea typeface="+mn-ea"/>
                  <a:cs typeface="+mn-cs"/>
                </a:rPr>
                <a:t>运行日志</a:t>
              </a:r>
            </a:p>
          </p:txBody>
        </p:sp>
        <p:sp>
          <p:nvSpPr>
            <p:cNvPr id="166" name="TextBox 166"/>
            <p:cNvSpPr txBox="1"/>
            <p:nvPr/>
          </p:nvSpPr>
          <p:spPr>
            <a:xfrm>
              <a:off x="5527535" y="5436632"/>
              <a:ext cx="698779"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完整记录、可追溯</a:t>
              </a:r>
            </a:p>
          </p:txBody>
        </p:sp>
        <p:sp>
          <p:nvSpPr>
            <p:cNvPr id="167" name="Rectangle 167"/>
            <p:cNvSpPr/>
            <p:nvPr/>
          </p:nvSpPr>
          <p:spPr>
            <a:xfrm>
              <a:off x="6762750" y="4705350"/>
              <a:ext cx="1619250" cy="952500"/>
            </a:xfrm>
            <a:prstGeom prst="roundRect">
              <a:avLst>
                <a:gd name="adj" fmla="val 6000"/>
              </a:avLst>
            </a:prstGeom>
            <a:solidFill>
              <a:srgbClr val="FFFFFF"/>
            </a:solidFill>
            <a:ln w="9525">
              <a:solidFill>
                <a:srgbClr val="C7D9F0"/>
              </a:solidFill>
            </a:ln>
          </p:spPr>
        </p:sp>
        <p:sp>
          <p:nvSpPr>
            <p:cNvPr id="168" name="Ellipse 168"/>
            <p:cNvSpPr/>
            <p:nvPr/>
          </p:nvSpPr>
          <p:spPr>
            <a:xfrm>
              <a:off x="7419975" y="4838700"/>
              <a:ext cx="304800" cy="304800"/>
            </a:xfrm>
            <a:prstGeom prst="ellipse">
              <a:avLst/>
            </a:prstGeom>
            <a:solidFill>
              <a:srgbClr val="EFF5FC"/>
            </a:solidFill>
            <a:ln w="9525">
              <a:solidFill>
                <a:srgbClr val="ECB3A8"/>
              </a:solidFill>
            </a:ln>
          </p:spPr>
        </p:sp>
        <p:grpSp>
          <p:nvGrpSpPr>
            <p:cNvPr id="173" name="Group 173"/>
            <p:cNvGrpSpPr/>
            <p:nvPr/>
          </p:nvGrpSpPr>
          <p:grpSpPr>
            <a:xfrm>
              <a:off x="7500937" y="4927600"/>
              <a:ext cx="142875" cy="136525"/>
              <a:chOff x="7500937" y="4927600"/>
              <a:chExt cx="142875" cy="136525"/>
            </a:xfrm>
          </p:grpSpPr>
          <p:sp>
            <p:nvSpPr>
              <p:cNvPr id="169" name="Freeform 169"/>
              <p:cNvSpPr/>
              <p:nvPr/>
            </p:nvSpPr>
            <p:spPr>
              <a:xfrm>
                <a:off x="7500937" y="49911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9C331E"/>
                </a:solidFill>
              </a:ln>
            </p:spPr>
          </p:sp>
          <p:sp>
            <p:nvSpPr>
              <p:cNvPr id="170" name="Freeform 170"/>
              <p:cNvSpPr/>
              <p:nvPr/>
            </p:nvSpPr>
            <p:spPr>
              <a:xfrm>
                <a:off x="7596187" y="49593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9C331E"/>
                </a:solidFill>
              </a:ln>
            </p:spPr>
          </p:sp>
          <p:sp>
            <p:nvSpPr>
              <p:cNvPr id="171" name="Freeform 171"/>
              <p:cNvSpPr/>
              <p:nvPr/>
            </p:nvSpPr>
            <p:spPr>
              <a:xfrm>
                <a:off x="7548562" y="49276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9C331E"/>
                </a:solidFill>
              </a:ln>
            </p:spPr>
          </p:sp>
          <p:sp>
            <p:nvSpPr>
              <p:cNvPr id="172" name="Freeform 172"/>
              <p:cNvSpPr/>
              <p:nvPr/>
            </p:nvSpPr>
            <p:spPr>
              <a:xfrm>
                <a:off x="7508875" y="5054600"/>
                <a:ext cx="111125" cy="9525"/>
              </a:xfrm>
              <a:custGeom>
                <a:avLst/>
                <a:gdLst/>
                <a:ahLst/>
                <a:cxnLst/>
                <a:rect l="l" t="t" r="r" b="b"/>
                <a:pathLst>
                  <a:path w="111125" h="9525">
                    <a:moveTo>
                      <a:pt x="0" y="0"/>
                    </a:moveTo>
                    <a:lnTo>
                      <a:pt x="111125" y="0"/>
                    </a:lnTo>
                  </a:path>
                </a:pathLst>
              </a:custGeom>
              <a:noFill/>
              <a:ln w="15875">
                <a:solidFill>
                  <a:srgbClr val="9C331E"/>
                </a:solidFill>
              </a:ln>
            </p:spPr>
          </p:sp>
        </p:grpSp>
        <p:sp>
          <p:nvSpPr>
            <p:cNvPr id="174" name="TextBox 174"/>
            <p:cNvSpPr txBox="1"/>
            <p:nvPr/>
          </p:nvSpPr>
          <p:spPr>
            <a:xfrm>
              <a:off x="7325296" y="5236845"/>
              <a:ext cx="494157" cy="176212"/>
            </a:xfrm>
            <a:prstGeom prst="rect">
              <a:avLst/>
            </a:prstGeom>
            <a:noFill/>
            <a:ln>
              <a:noFill/>
            </a:ln>
          </p:spPr>
          <p:txBody>
            <a:bodyPr wrap="none" lIns="0" tIns="0" rIns="0" bIns="0" anchor="t" anchorCtr="0">
              <a:spAutoFit/>
            </a:bodyPr>
            <a:lstStyle/>
            <a:p>
              <a:pPr algn="ctr"/>
              <a:r>
                <a:rPr lang="zh-CN" sz="900" b="1" dirty="0">
                  <a:solidFill>
                    <a:srgbClr val="5E2114"/>
                  </a:solidFill>
                  <a:latin typeface="+mn-lt"/>
                  <a:ea typeface="+mn-ea"/>
                  <a:cs typeface="+mn-cs"/>
                </a:rPr>
                <a:t>指标看板</a:t>
              </a:r>
            </a:p>
          </p:txBody>
        </p:sp>
        <p:sp>
          <p:nvSpPr>
            <p:cNvPr id="175" name="TextBox 175"/>
            <p:cNvSpPr txBox="1"/>
            <p:nvPr/>
          </p:nvSpPr>
          <p:spPr>
            <a:xfrm>
              <a:off x="7179907" y="5436632"/>
              <a:ext cx="784936"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过程监控、结果可视</a:t>
              </a:r>
            </a:p>
          </p:txBody>
        </p:sp>
        <p:sp>
          <p:nvSpPr>
            <p:cNvPr id="176" name="Rectangle 176"/>
            <p:cNvSpPr/>
            <p:nvPr/>
          </p:nvSpPr>
          <p:spPr>
            <a:xfrm>
              <a:off x="8458200" y="4705350"/>
              <a:ext cx="1619250" cy="952500"/>
            </a:xfrm>
            <a:prstGeom prst="roundRect">
              <a:avLst>
                <a:gd name="adj" fmla="val 6000"/>
              </a:avLst>
            </a:prstGeom>
            <a:solidFill>
              <a:srgbClr val="FFFFFF"/>
            </a:solidFill>
            <a:ln w="9525">
              <a:solidFill>
                <a:srgbClr val="C7D9F0"/>
              </a:solidFill>
            </a:ln>
          </p:spPr>
        </p:sp>
        <p:sp>
          <p:nvSpPr>
            <p:cNvPr id="177" name="Ellipse 177"/>
            <p:cNvSpPr/>
            <p:nvPr/>
          </p:nvSpPr>
          <p:spPr>
            <a:xfrm>
              <a:off x="9115425" y="4838700"/>
              <a:ext cx="304800" cy="304800"/>
            </a:xfrm>
            <a:prstGeom prst="ellipse">
              <a:avLst/>
            </a:prstGeom>
            <a:solidFill>
              <a:srgbClr val="EFF5FC"/>
            </a:solidFill>
            <a:ln w="9525">
              <a:solidFill>
                <a:srgbClr val="ECB3A8"/>
              </a:solidFill>
            </a:ln>
          </p:spPr>
        </p:sp>
        <p:grpSp>
          <p:nvGrpSpPr>
            <p:cNvPr id="182" name="Group 182"/>
            <p:cNvGrpSpPr/>
            <p:nvPr/>
          </p:nvGrpSpPr>
          <p:grpSpPr>
            <a:xfrm>
              <a:off x="9212262" y="4919662"/>
              <a:ext cx="111125" cy="142875"/>
              <a:chOff x="9212262" y="4919662"/>
              <a:chExt cx="111125" cy="142875"/>
            </a:xfrm>
          </p:grpSpPr>
          <p:sp>
            <p:nvSpPr>
              <p:cNvPr id="178" name="Freeform 178"/>
              <p:cNvSpPr/>
              <p:nvPr/>
            </p:nvSpPr>
            <p:spPr>
              <a:xfrm>
                <a:off x="9212262" y="4935537"/>
                <a:ext cx="111125" cy="127000"/>
              </a:xfrm>
              <a:custGeom>
                <a:avLst/>
                <a:gdLst/>
                <a:ahLst/>
                <a:cxnLst/>
                <a:rect l="l" t="t" r="r" b="b"/>
                <a:pathLst>
                  <a:path w="111125" h="127000">
                    <a:moveTo>
                      <a:pt x="31750" y="0"/>
                    </a:moveTo>
                    <a:lnTo>
                      <a:pt x="15875" y="0"/>
                    </a:lnTo>
                    <a:cubicBezTo>
                      <a:pt x="7107" y="0"/>
                      <a:pt x="0" y="7107"/>
                      <a:pt x="0" y="15875"/>
                    </a:cubicBezTo>
                    <a:lnTo>
                      <a:pt x="0" y="111125"/>
                    </a:lnTo>
                    <a:cubicBezTo>
                      <a:pt x="0" y="119892"/>
                      <a:pt x="7107" y="127000"/>
                      <a:pt x="15875" y="127000"/>
                    </a:cubicBezTo>
                    <a:lnTo>
                      <a:pt x="95250" y="127000"/>
                    </a:lnTo>
                    <a:cubicBezTo>
                      <a:pt x="104017" y="127000"/>
                      <a:pt x="111125" y="119892"/>
                      <a:pt x="111125" y="111125"/>
                    </a:cubicBezTo>
                    <a:lnTo>
                      <a:pt x="111125" y="15875"/>
                    </a:lnTo>
                    <a:cubicBezTo>
                      <a:pt x="111125" y="7107"/>
                      <a:pt x="104017" y="0"/>
                      <a:pt x="95250" y="0"/>
                    </a:cubicBezTo>
                    <a:lnTo>
                      <a:pt x="79375" y="0"/>
                    </a:lnTo>
                  </a:path>
                </a:pathLst>
              </a:custGeom>
              <a:noFill/>
              <a:ln w="15875">
                <a:solidFill>
                  <a:srgbClr val="9C331E"/>
                </a:solidFill>
              </a:ln>
            </p:spPr>
          </p:sp>
          <p:sp>
            <p:nvSpPr>
              <p:cNvPr id="179" name="Freeform 179"/>
              <p:cNvSpPr/>
              <p:nvPr/>
            </p:nvSpPr>
            <p:spPr>
              <a:xfrm>
                <a:off x="9244012" y="4919662"/>
                <a:ext cx="47625" cy="31750"/>
              </a:xfrm>
              <a:custGeom>
                <a:avLst/>
                <a:gdLst/>
                <a:ahLst/>
                <a:cxnLst/>
                <a:rect l="l" t="t" r="r" b="b"/>
                <a:pathLst>
                  <a:path w="47625" h="31750">
                    <a:moveTo>
                      <a:pt x="0" y="15875"/>
                    </a:moveTo>
                    <a:cubicBezTo>
                      <a:pt x="0" y="7107"/>
                      <a:pt x="7107" y="0"/>
                      <a:pt x="15875" y="0"/>
                    </a:cubicBezTo>
                    <a:lnTo>
                      <a:pt x="31750" y="0"/>
                    </a:lnTo>
                    <a:cubicBezTo>
                      <a:pt x="40518" y="0"/>
                      <a:pt x="47625" y="7107"/>
                      <a:pt x="47625" y="15875"/>
                    </a:cubicBezTo>
                    <a:cubicBezTo>
                      <a:pt x="47625" y="24643"/>
                      <a:pt x="40518" y="31750"/>
                      <a:pt x="31750" y="31750"/>
                    </a:cubicBezTo>
                    <a:lnTo>
                      <a:pt x="15875" y="31750"/>
                    </a:lnTo>
                    <a:cubicBezTo>
                      <a:pt x="7107" y="31750"/>
                      <a:pt x="0" y="24643"/>
                      <a:pt x="0" y="15875"/>
                    </a:cubicBezTo>
                  </a:path>
                </a:pathLst>
              </a:custGeom>
              <a:noFill/>
              <a:ln w="15875">
                <a:solidFill>
                  <a:srgbClr val="9C331E"/>
                </a:solidFill>
              </a:ln>
            </p:spPr>
          </p:sp>
          <p:sp>
            <p:nvSpPr>
              <p:cNvPr id="180" name="Freeform 180"/>
              <p:cNvSpPr/>
              <p:nvPr/>
            </p:nvSpPr>
            <p:spPr>
              <a:xfrm>
                <a:off x="9251950" y="4983162"/>
                <a:ext cx="31750" cy="47625"/>
              </a:xfrm>
              <a:custGeom>
                <a:avLst/>
                <a:gdLst/>
                <a:ahLst/>
                <a:cxnLst/>
                <a:rect l="l" t="t" r="r" b="b"/>
                <a:pathLst>
                  <a:path w="31750" h="47625">
                    <a:moveTo>
                      <a:pt x="31750" y="0"/>
                    </a:moveTo>
                    <a:lnTo>
                      <a:pt x="11906" y="0"/>
                    </a:lnTo>
                    <a:cubicBezTo>
                      <a:pt x="5331" y="0"/>
                      <a:pt x="0" y="5331"/>
                      <a:pt x="0" y="11906"/>
                    </a:cubicBezTo>
                    <a:cubicBezTo>
                      <a:pt x="0" y="18482"/>
                      <a:pt x="5331" y="23812"/>
                      <a:pt x="11906" y="23812"/>
                    </a:cubicBezTo>
                    <a:lnTo>
                      <a:pt x="19844" y="23812"/>
                    </a:lnTo>
                    <a:cubicBezTo>
                      <a:pt x="26419" y="23812"/>
                      <a:pt x="31750" y="29143"/>
                      <a:pt x="31750" y="35719"/>
                    </a:cubicBezTo>
                    <a:cubicBezTo>
                      <a:pt x="31750" y="42294"/>
                      <a:pt x="26419" y="47625"/>
                      <a:pt x="19844" y="47625"/>
                    </a:cubicBezTo>
                    <a:lnTo>
                      <a:pt x="0" y="47625"/>
                    </a:lnTo>
                  </a:path>
                </a:pathLst>
              </a:custGeom>
              <a:noFill/>
              <a:ln w="15875">
                <a:solidFill>
                  <a:srgbClr val="9C331E"/>
                </a:solidFill>
              </a:ln>
            </p:spPr>
          </p:sp>
          <p:sp>
            <p:nvSpPr>
              <p:cNvPr id="181" name="Freeform 181"/>
              <p:cNvSpPr/>
              <p:nvPr/>
            </p:nvSpPr>
            <p:spPr>
              <a:xfrm>
                <a:off x="9267825" y="4975225"/>
                <a:ext cx="9525" cy="63500"/>
              </a:xfrm>
              <a:custGeom>
                <a:avLst/>
                <a:gdLst/>
                <a:ahLst/>
                <a:cxnLst/>
                <a:rect l="l" t="t" r="r" b="b"/>
                <a:pathLst>
                  <a:path w="9525" h="63500">
                    <a:moveTo>
                      <a:pt x="0" y="55562"/>
                    </a:moveTo>
                    <a:lnTo>
                      <a:pt x="0" y="63500"/>
                    </a:lnTo>
                    <a:moveTo>
                      <a:pt x="0" y="0"/>
                    </a:moveTo>
                    <a:lnTo>
                      <a:pt x="0" y="7937"/>
                    </a:lnTo>
                  </a:path>
                </a:pathLst>
              </a:custGeom>
              <a:noFill/>
              <a:ln w="15875">
                <a:solidFill>
                  <a:srgbClr val="9C331E"/>
                </a:solidFill>
              </a:ln>
            </p:spPr>
          </p:sp>
        </p:grpSp>
        <p:sp>
          <p:nvSpPr>
            <p:cNvPr id="183" name="TextBox 183"/>
            <p:cNvSpPr txBox="1"/>
            <p:nvPr/>
          </p:nvSpPr>
          <p:spPr>
            <a:xfrm>
              <a:off x="9020746" y="5236845"/>
              <a:ext cx="494157" cy="176212"/>
            </a:xfrm>
            <a:prstGeom prst="rect">
              <a:avLst/>
            </a:prstGeom>
            <a:noFill/>
            <a:ln>
              <a:noFill/>
            </a:ln>
          </p:spPr>
          <p:txBody>
            <a:bodyPr wrap="none" lIns="0" tIns="0" rIns="0" bIns="0" anchor="t" anchorCtr="0">
              <a:spAutoFit/>
            </a:bodyPr>
            <a:lstStyle/>
            <a:p>
              <a:pPr algn="ctr"/>
              <a:r>
                <a:rPr lang="zh-CN" sz="900" b="1" dirty="0">
                  <a:solidFill>
                    <a:srgbClr val="5E2114"/>
                  </a:solidFill>
                  <a:latin typeface="+mn-lt"/>
                  <a:ea typeface="+mn-ea"/>
                  <a:cs typeface="+mn-cs"/>
                </a:rPr>
                <a:t>财务复核</a:t>
              </a:r>
            </a:p>
          </p:txBody>
        </p:sp>
        <p:sp>
          <p:nvSpPr>
            <p:cNvPr id="184" name="TextBox 184"/>
            <p:cNvSpPr txBox="1"/>
            <p:nvPr/>
          </p:nvSpPr>
          <p:spPr>
            <a:xfrm>
              <a:off x="8875357" y="5436632"/>
              <a:ext cx="784936"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成本收益、审计留痕</a:t>
              </a:r>
            </a:p>
          </p:txBody>
        </p:sp>
        <p:sp>
          <p:nvSpPr>
            <p:cNvPr id="185" name="Rectangle 185"/>
            <p:cNvSpPr/>
            <p:nvPr/>
          </p:nvSpPr>
          <p:spPr>
            <a:xfrm>
              <a:off x="10153650" y="4705350"/>
              <a:ext cx="1619250" cy="952500"/>
            </a:xfrm>
            <a:prstGeom prst="roundRect">
              <a:avLst>
                <a:gd name="adj" fmla="val 6000"/>
              </a:avLst>
            </a:prstGeom>
            <a:solidFill>
              <a:srgbClr val="FFFFFF"/>
            </a:solidFill>
            <a:ln w="9525">
              <a:solidFill>
                <a:srgbClr val="C7D9F0"/>
              </a:solidFill>
            </a:ln>
          </p:spPr>
        </p:sp>
        <p:sp>
          <p:nvSpPr>
            <p:cNvPr id="186" name="Ellipse 186"/>
            <p:cNvSpPr/>
            <p:nvPr/>
          </p:nvSpPr>
          <p:spPr>
            <a:xfrm>
              <a:off x="10810875" y="4838700"/>
              <a:ext cx="304800" cy="304800"/>
            </a:xfrm>
            <a:prstGeom prst="ellipse">
              <a:avLst/>
            </a:prstGeom>
            <a:solidFill>
              <a:srgbClr val="EFF5FC"/>
            </a:solidFill>
            <a:ln w="9525">
              <a:solidFill>
                <a:srgbClr val="ECB3A8"/>
              </a:solidFill>
            </a:ln>
          </p:spPr>
        </p:sp>
        <p:grpSp>
          <p:nvGrpSpPr>
            <p:cNvPr id="193" name="Group 193"/>
            <p:cNvGrpSpPr/>
            <p:nvPr/>
          </p:nvGrpSpPr>
          <p:grpSpPr>
            <a:xfrm>
              <a:off x="10895806" y="4931569"/>
              <a:ext cx="130968" cy="116681"/>
              <a:chOff x="10895806" y="4931569"/>
              <a:chExt cx="130968" cy="116681"/>
            </a:xfrm>
          </p:grpSpPr>
          <p:sp>
            <p:nvSpPr>
              <p:cNvPr id="187" name="Freeform 187"/>
              <p:cNvSpPr/>
              <p:nvPr/>
            </p:nvSpPr>
            <p:spPr>
              <a:xfrm>
                <a:off x="10895806" y="4931569"/>
                <a:ext cx="31750" cy="19844"/>
              </a:xfrm>
              <a:custGeom>
                <a:avLst/>
                <a:gdLst/>
                <a:ahLst/>
                <a:cxnLst/>
                <a:rect l="l" t="t" r="r" b="b"/>
                <a:pathLst>
                  <a:path w="31750" h="19844">
                    <a:moveTo>
                      <a:pt x="0" y="7937"/>
                    </a:moveTo>
                    <a:lnTo>
                      <a:pt x="11906" y="19844"/>
                    </a:lnTo>
                    <a:lnTo>
                      <a:pt x="31750" y="0"/>
                    </a:lnTo>
                  </a:path>
                </a:pathLst>
              </a:custGeom>
              <a:noFill/>
              <a:ln w="15875">
                <a:solidFill>
                  <a:srgbClr val="9C331E"/>
                </a:solidFill>
              </a:ln>
            </p:spPr>
          </p:sp>
          <p:sp>
            <p:nvSpPr>
              <p:cNvPr id="188" name="Freeform 188"/>
              <p:cNvSpPr/>
              <p:nvPr/>
            </p:nvSpPr>
            <p:spPr>
              <a:xfrm>
                <a:off x="10895806" y="4979194"/>
                <a:ext cx="31750" cy="19844"/>
              </a:xfrm>
              <a:custGeom>
                <a:avLst/>
                <a:gdLst/>
                <a:ahLst/>
                <a:cxnLst/>
                <a:rect l="l" t="t" r="r" b="b"/>
                <a:pathLst>
                  <a:path w="31750" h="19844">
                    <a:moveTo>
                      <a:pt x="0" y="7937"/>
                    </a:moveTo>
                    <a:lnTo>
                      <a:pt x="11906" y="19844"/>
                    </a:lnTo>
                    <a:lnTo>
                      <a:pt x="31750" y="0"/>
                    </a:lnTo>
                  </a:path>
                </a:pathLst>
              </a:custGeom>
              <a:noFill/>
              <a:ln w="15875">
                <a:solidFill>
                  <a:srgbClr val="9C331E"/>
                </a:solidFill>
              </a:ln>
            </p:spPr>
          </p:sp>
          <p:sp>
            <p:nvSpPr>
              <p:cNvPr id="189" name="Freeform 189"/>
              <p:cNvSpPr/>
              <p:nvPr/>
            </p:nvSpPr>
            <p:spPr>
              <a:xfrm>
                <a:off x="10895806" y="5026819"/>
                <a:ext cx="31750" cy="19844"/>
              </a:xfrm>
              <a:custGeom>
                <a:avLst/>
                <a:gdLst/>
                <a:ahLst/>
                <a:cxnLst/>
                <a:rect l="l" t="t" r="r" b="b"/>
                <a:pathLst>
                  <a:path w="31750" h="19844">
                    <a:moveTo>
                      <a:pt x="0" y="7937"/>
                    </a:moveTo>
                    <a:lnTo>
                      <a:pt x="11906" y="19844"/>
                    </a:lnTo>
                    <a:lnTo>
                      <a:pt x="31750" y="0"/>
                    </a:lnTo>
                  </a:path>
                </a:pathLst>
              </a:custGeom>
              <a:noFill/>
              <a:ln w="15875">
                <a:solidFill>
                  <a:srgbClr val="9C331E"/>
                </a:solidFill>
              </a:ln>
            </p:spPr>
          </p:sp>
          <p:sp>
            <p:nvSpPr>
              <p:cNvPr id="190" name="Freeform 190"/>
              <p:cNvSpPr/>
              <p:nvPr/>
            </p:nvSpPr>
            <p:spPr>
              <a:xfrm>
                <a:off x="10955337" y="4943475"/>
                <a:ext cx="71437" cy="9525"/>
              </a:xfrm>
              <a:custGeom>
                <a:avLst/>
                <a:gdLst/>
                <a:ahLst/>
                <a:cxnLst/>
                <a:rect l="l" t="t" r="r" b="b"/>
                <a:pathLst>
                  <a:path w="71437" h="9525">
                    <a:moveTo>
                      <a:pt x="0" y="0"/>
                    </a:moveTo>
                    <a:lnTo>
                      <a:pt x="71437" y="0"/>
                    </a:lnTo>
                  </a:path>
                </a:pathLst>
              </a:custGeom>
              <a:noFill/>
              <a:ln w="15875">
                <a:solidFill>
                  <a:srgbClr val="9C331E"/>
                </a:solidFill>
              </a:ln>
            </p:spPr>
          </p:sp>
          <p:sp>
            <p:nvSpPr>
              <p:cNvPr id="191" name="Freeform 191"/>
              <p:cNvSpPr/>
              <p:nvPr/>
            </p:nvSpPr>
            <p:spPr>
              <a:xfrm>
                <a:off x="10955337" y="4991100"/>
                <a:ext cx="71437" cy="9525"/>
              </a:xfrm>
              <a:custGeom>
                <a:avLst/>
                <a:gdLst/>
                <a:ahLst/>
                <a:cxnLst/>
                <a:rect l="l" t="t" r="r" b="b"/>
                <a:pathLst>
                  <a:path w="71437" h="9525">
                    <a:moveTo>
                      <a:pt x="0" y="0"/>
                    </a:moveTo>
                    <a:lnTo>
                      <a:pt x="71437" y="0"/>
                    </a:lnTo>
                  </a:path>
                </a:pathLst>
              </a:custGeom>
              <a:noFill/>
              <a:ln w="15875">
                <a:solidFill>
                  <a:srgbClr val="9C331E"/>
                </a:solidFill>
              </a:ln>
            </p:spPr>
          </p:sp>
          <p:sp>
            <p:nvSpPr>
              <p:cNvPr id="192" name="Freeform 192"/>
              <p:cNvSpPr/>
              <p:nvPr/>
            </p:nvSpPr>
            <p:spPr>
              <a:xfrm>
                <a:off x="10955337" y="5038725"/>
                <a:ext cx="71437" cy="9525"/>
              </a:xfrm>
              <a:custGeom>
                <a:avLst/>
                <a:gdLst/>
                <a:ahLst/>
                <a:cxnLst/>
                <a:rect l="l" t="t" r="r" b="b"/>
                <a:pathLst>
                  <a:path w="71437" h="9525">
                    <a:moveTo>
                      <a:pt x="0" y="0"/>
                    </a:moveTo>
                    <a:lnTo>
                      <a:pt x="71437" y="0"/>
                    </a:lnTo>
                  </a:path>
                </a:pathLst>
              </a:custGeom>
              <a:noFill/>
              <a:ln w="15875">
                <a:solidFill>
                  <a:srgbClr val="9C331E"/>
                </a:solidFill>
              </a:ln>
            </p:spPr>
          </p:sp>
        </p:grpSp>
        <p:sp>
          <p:nvSpPr>
            <p:cNvPr id="194" name="TextBox 194"/>
            <p:cNvSpPr txBox="1"/>
            <p:nvPr/>
          </p:nvSpPr>
          <p:spPr>
            <a:xfrm>
              <a:off x="10716196" y="5236845"/>
              <a:ext cx="494157" cy="176212"/>
            </a:xfrm>
            <a:prstGeom prst="rect">
              <a:avLst/>
            </a:prstGeom>
            <a:noFill/>
            <a:ln>
              <a:noFill/>
            </a:ln>
          </p:spPr>
          <p:txBody>
            <a:bodyPr wrap="none" lIns="0" tIns="0" rIns="0" bIns="0" anchor="t" anchorCtr="0">
              <a:spAutoFit/>
            </a:bodyPr>
            <a:lstStyle/>
            <a:p>
              <a:pPr algn="ctr"/>
              <a:r>
                <a:rPr lang="zh-CN" sz="900" b="1" dirty="0">
                  <a:solidFill>
                    <a:srgbClr val="5E2114"/>
                  </a:solidFill>
                  <a:latin typeface="+mn-lt"/>
                  <a:ea typeface="+mn-ea"/>
                  <a:cs typeface="+mn-cs"/>
                </a:rPr>
                <a:t>复制手册</a:t>
              </a:r>
            </a:p>
          </p:txBody>
        </p:sp>
        <p:sp>
          <p:nvSpPr>
            <p:cNvPr id="195" name="TextBox 195"/>
            <p:cNvSpPr txBox="1"/>
            <p:nvPr/>
          </p:nvSpPr>
          <p:spPr>
            <a:xfrm>
              <a:off x="10570807" y="5436632"/>
              <a:ext cx="784936" cy="126206"/>
            </a:xfrm>
            <a:prstGeom prst="rect">
              <a:avLst/>
            </a:prstGeom>
            <a:noFill/>
            <a:ln>
              <a:noFill/>
            </a:ln>
          </p:spPr>
          <p:txBody>
            <a:bodyPr wrap="none" lIns="0" tIns="0" rIns="0" bIns="0" anchor="t" anchorCtr="0">
              <a:spAutoFit/>
            </a:bodyPr>
            <a:lstStyle/>
            <a:p>
              <a:pPr algn="ctr"/>
              <a:r>
                <a:rPr lang="zh-CN" sz="640" dirty="0">
                  <a:solidFill>
                    <a:srgbClr val="9B807A"/>
                  </a:solidFill>
                  <a:latin typeface="+mn-lt"/>
                  <a:ea typeface="+mn-ea"/>
                  <a:cs typeface="+mn-cs"/>
                </a:rPr>
                <a:t>方法步骤、条件清单</a:t>
              </a:r>
            </a:p>
          </p:txBody>
        </p:sp>
      </p:grpSp>
      <p:grpSp>
        <p:nvGrpSpPr>
          <p:cNvPr id="203" name="slogan-band"/>
          <p:cNvGrpSpPr/>
          <p:nvPr/>
        </p:nvGrpSpPr>
        <p:grpSpPr>
          <a:xfrm>
            <a:off x="381000" y="5772150"/>
            <a:ext cx="11430000" cy="381000"/>
            <a:chOff x="381000" y="5772150"/>
            <a:chExt cx="11430000" cy="381000"/>
          </a:xfrm>
        </p:grpSpPr>
        <p:sp>
          <p:nvSpPr>
            <p:cNvPr id="197" name="Rectangle 197"/>
            <p:cNvSpPr/>
            <p:nvPr/>
          </p:nvSpPr>
          <p:spPr>
            <a:xfrm>
              <a:off x="381000" y="5772150"/>
              <a:ext cx="11430000" cy="381000"/>
            </a:xfrm>
            <a:prstGeom prst="roundRect">
              <a:avLst>
                <a:gd name="adj" fmla="val 20000"/>
              </a:avLst>
            </a:prstGeom>
            <a:gradFill>
              <a:gsLst>
                <a:gs pos="0">
                  <a:srgbClr val="6F2516"/>
                </a:gs>
                <a:gs pos="100000">
                  <a:srgbClr val="D64A2E"/>
                </a:gs>
              </a:gsLst>
              <a:lin ang="0" scaled="1"/>
            </a:gradFill>
            <a:ln>
              <a:noFill/>
            </a:ln>
          </p:spPr>
        </p:sp>
        <p:sp>
          <p:nvSpPr>
            <p:cNvPr id="198" name="TextBox 198"/>
            <p:cNvSpPr txBox="1"/>
            <p:nvPr/>
          </p:nvSpPr>
          <p:spPr>
            <a:xfrm>
              <a:off x="4280992" y="5898356"/>
              <a:ext cx="363001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不追求报出更多场景，追求留下更多可持续的生产力。</a:t>
              </a:r>
            </a:p>
          </p:txBody>
        </p:sp>
        <p:grpSp>
          <p:nvGrpSpPr>
            <p:cNvPr id="202" name="Group 202"/>
            <p:cNvGrpSpPr/>
            <p:nvPr/>
          </p:nvGrpSpPr>
          <p:grpSpPr>
            <a:xfrm>
              <a:off x="11426991" y="5886450"/>
              <a:ext cx="155409" cy="155409"/>
              <a:chOff x="11426991" y="5886450"/>
              <a:chExt cx="155409" cy="155409"/>
            </a:xfrm>
          </p:grpSpPr>
          <p:sp>
            <p:nvSpPr>
              <p:cNvPr id="199" name="Freeform 199"/>
              <p:cNvSpPr/>
              <p:nvPr/>
            </p:nvSpPr>
            <p:spPr>
              <a:xfrm>
                <a:off x="11430000" y="5886450"/>
                <a:ext cx="152400" cy="152400"/>
              </a:xfrm>
              <a:custGeom>
                <a:avLst/>
                <a:gdLst/>
                <a:ahLst/>
                <a:cxnLst/>
                <a:rect l="l" t="t" r="r" b="b"/>
                <a:pathLst>
                  <a:path w="152400" h="152400">
                    <a:moveTo>
                      <a:pt x="0" y="85725"/>
                    </a:moveTo>
                    <a:cubicBezTo>
                      <a:pt x="34959" y="89880"/>
                      <a:pt x="62520" y="117441"/>
                      <a:pt x="66675" y="152400"/>
                    </a:cubicBezTo>
                    <a:cubicBezTo>
                      <a:pt x="83792" y="142532"/>
                      <a:pt x="94598" y="124522"/>
                      <a:pt x="95250" y="104775"/>
                    </a:cubicBezTo>
                    <a:cubicBezTo>
                      <a:pt x="127957" y="93269"/>
                      <a:pt x="150512" y="63195"/>
                      <a:pt x="152400" y="28575"/>
                    </a:cubicBezTo>
                    <a:cubicBezTo>
                      <a:pt x="152400" y="12793"/>
                      <a:pt x="139607" y="0"/>
                      <a:pt x="123825" y="0"/>
                    </a:cubicBezTo>
                    <a:cubicBezTo>
                      <a:pt x="89205" y="1888"/>
                      <a:pt x="59131" y="24443"/>
                      <a:pt x="47625" y="57150"/>
                    </a:cubicBezTo>
                    <a:cubicBezTo>
                      <a:pt x="27878" y="57802"/>
                      <a:pt x="9868" y="68608"/>
                      <a:pt x="0" y="85725"/>
                    </a:cubicBezTo>
                  </a:path>
                </a:pathLst>
              </a:custGeom>
              <a:noFill/>
              <a:ln w="19050">
                <a:solidFill>
                  <a:srgbClr val="FF957F"/>
                </a:solidFill>
              </a:ln>
            </p:spPr>
          </p:sp>
          <p:sp>
            <p:nvSpPr>
              <p:cNvPr id="200" name="Freeform 200"/>
              <p:cNvSpPr/>
              <p:nvPr/>
            </p:nvSpPr>
            <p:spPr>
              <a:xfrm>
                <a:off x="11426991" y="5981700"/>
                <a:ext cx="60159" cy="60159"/>
              </a:xfrm>
              <a:custGeom>
                <a:avLst/>
                <a:gdLst/>
                <a:ahLst/>
                <a:cxnLst/>
                <a:rect l="l" t="t" r="r" b="b"/>
                <a:pathLst>
                  <a:path w="60159" h="60159">
                    <a:moveTo>
                      <a:pt x="31584" y="0"/>
                    </a:moveTo>
                    <a:cubicBezTo>
                      <a:pt x="11304" y="11449"/>
                      <a:pt x="0" y="34057"/>
                      <a:pt x="3009" y="57150"/>
                    </a:cubicBezTo>
                    <a:cubicBezTo>
                      <a:pt x="26101" y="60159"/>
                      <a:pt x="48710" y="48854"/>
                      <a:pt x="60159" y="28575"/>
                    </a:cubicBezTo>
                  </a:path>
                </a:pathLst>
              </a:custGeom>
              <a:noFill/>
              <a:ln w="19050">
                <a:solidFill>
                  <a:srgbClr val="FF957F"/>
                </a:solidFill>
              </a:ln>
            </p:spPr>
          </p:sp>
          <p:sp>
            <p:nvSpPr>
              <p:cNvPr id="201" name="Freeform 201"/>
              <p:cNvSpPr/>
              <p:nvPr/>
            </p:nvSpPr>
            <p:spPr>
              <a:xfrm>
                <a:off x="11525250" y="592455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957F"/>
                </a:solidFill>
              </a:ln>
            </p:spPr>
          </p:sp>
        </p:grpSp>
      </p:grpSp>
      <p:grpSp>
        <p:nvGrpSpPr>
          <p:cNvPr id="207" name="footer"/>
          <p:cNvGrpSpPr/>
          <p:nvPr/>
        </p:nvGrpSpPr>
        <p:grpSpPr>
          <a:xfrm>
            <a:off x="0" y="6705600"/>
            <a:ext cx="12192000" cy="173117"/>
            <a:chOff x="0" y="6705600"/>
            <a:chExt cx="12192000" cy="173117"/>
          </a:xfrm>
        </p:grpSpPr>
        <p:sp>
          <p:nvSpPr>
            <p:cNvPr id="204" name="Rectangle 204"/>
            <p:cNvSpPr/>
            <p:nvPr/>
          </p:nvSpPr>
          <p:spPr>
            <a:xfrm>
              <a:off x="0" y="6705600"/>
              <a:ext cx="12192000" cy="152400"/>
            </a:xfrm>
            <a:prstGeom prst="rect">
              <a:avLst/>
            </a:prstGeom>
            <a:solidFill>
              <a:srgbClr val="632012"/>
            </a:solidFill>
            <a:ln>
              <a:noFill/>
            </a:ln>
          </p:spPr>
        </p:sp>
        <p:sp>
          <p:nvSpPr>
            <p:cNvPr id="205" name="TextBox 205"/>
            <p:cNvSpPr txBox="1"/>
            <p:nvPr/>
          </p:nvSpPr>
          <p:spPr>
            <a:xfrm>
              <a:off x="376238" y="6738223"/>
              <a:ext cx="2537621"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公开信息复盘　|　截至2026年9月7日　|　非官方验收结论​</a:t>
              </a:r>
            </a:p>
          </p:txBody>
        </p:sp>
        <p:sp>
          <p:nvSpPr>
            <p:cNvPr id="206" name="TextBox 206"/>
            <p:cNvSpPr txBox="1"/>
            <p:nvPr/>
          </p:nvSpPr>
          <p:spPr>
            <a:xfrm>
              <a:off x="11310330" y="6738223"/>
              <a:ext cx="505433" cy="140494"/>
            </a:xfrm>
            <a:prstGeom prst="rect">
              <a:avLst/>
            </a:prstGeom>
            <a:noFill/>
            <a:ln>
              <a:noFill/>
            </a:ln>
          </p:spPr>
          <p:txBody>
            <a:bodyPr wrap="none" lIns="0" tIns="0" rIns="0" bIns="0" anchor="t" anchorCtr="0">
              <a:spAutoFit/>
            </a:bodyPr>
            <a:lstStyle/>
            <a:p>
              <a:pPr algn="r"/>
              <a:r>
                <a:rPr lang="en-US" sz="710" dirty="0">
                  <a:solidFill>
                    <a:srgbClr val="FFFFFF"/>
                  </a:solidFill>
                  <a:latin typeface="Arial"/>
                  <a:ea typeface="Arial"/>
                  <a:cs typeface="Arial"/>
                </a:rPr>
                <a:t>Page 20/20</a:t>
              </a:r>
            </a:p>
          </p:txBody>
        </p:sp>
      </p:gr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low"/>
          <p:cNvSpPr/>
          <p:nvPr/>
        </p:nvSpPr>
        <p:spPr>
          <a:xfrm>
            <a:off x="5438775" y="571500"/>
            <a:ext cx="5715000" cy="3619500"/>
          </a:xfrm>
          <a:prstGeom prst="ellipse">
            <a:avLst/>
          </a:prstGeom>
          <a:gradFill>
            <a:gsLst>
              <a:gs pos="0">
                <a:srgbClr val="E3B3A9">
                  <a:alpha val="55000"/>
                </a:srgbClr>
              </a:gs>
              <a:gs pos="100000">
                <a:srgbClr val="FFFFFF">
                  <a:alpha val="0"/>
                </a:srgbClr>
              </a:gs>
            </a:gsLst>
            <a:path path="circle">
              <a:fillToRect l="50000" t="50000" r="50000" b="50000"/>
            </a:path>
          </a:gradFill>
          <a:ln>
            <a:noFill/>
          </a:ln>
        </p:spPr>
      </p:sp>
      <p:sp>
        <p:nvSpPr>
          <p:cNvPr id="3" name="deco-wave-1"/>
          <p:cNvSpPr/>
          <p:nvPr/>
        </p:nvSpPr>
        <p:spPr>
          <a:xfrm>
            <a:off x="0" y="5715000"/>
            <a:ext cx="12192000" cy="857250"/>
          </a:xfrm>
          <a:custGeom>
            <a:avLst/>
            <a:gdLst/>
            <a:ahLst/>
            <a:cxnLst/>
            <a:rect l="l" t="t" r="r" b="b"/>
            <a:pathLst>
              <a:path w="12192000" h="857250">
                <a:moveTo>
                  <a:pt x="0" y="381000"/>
                </a:moveTo>
                <a:cubicBezTo>
                  <a:pt x="2095500" y="0"/>
                  <a:pt x="4000500" y="857250"/>
                  <a:pt x="6096000" y="476250"/>
                </a:cubicBezTo>
                <a:cubicBezTo>
                  <a:pt x="8191500" y="95250"/>
                  <a:pt x="10096500" y="0"/>
                  <a:pt x="12192000" y="571500"/>
                </a:cubicBezTo>
              </a:path>
            </a:pathLst>
          </a:custGeom>
          <a:noFill/>
          <a:ln w="14288">
            <a:solidFill>
              <a:srgbClr val="D6E6F3"/>
            </a:solidFill>
          </a:ln>
        </p:spPr>
      </p:sp>
      <p:sp>
        <p:nvSpPr>
          <p:cNvPr id="4" name="deco-wave-2"/>
          <p:cNvSpPr/>
          <p:nvPr/>
        </p:nvSpPr>
        <p:spPr>
          <a:xfrm>
            <a:off x="0" y="6096000"/>
            <a:ext cx="12192000" cy="685800"/>
          </a:xfrm>
          <a:custGeom>
            <a:avLst/>
            <a:gdLst/>
            <a:ahLst/>
            <a:cxnLst/>
            <a:rect l="l" t="t" r="r" b="b"/>
            <a:pathLst>
              <a:path w="12192000" h="685800">
                <a:moveTo>
                  <a:pt x="0" y="304800"/>
                </a:moveTo>
                <a:cubicBezTo>
                  <a:pt x="2286000" y="0"/>
                  <a:pt x="4381500" y="685800"/>
                  <a:pt x="6667500" y="381000"/>
                </a:cubicBezTo>
                <a:cubicBezTo>
                  <a:pt x="8953500" y="76200"/>
                  <a:pt x="10287000" y="0"/>
                  <a:pt x="12192000" y="476250"/>
                </a:cubicBezTo>
              </a:path>
            </a:pathLst>
          </a:custGeom>
          <a:noFill/>
          <a:ln w="14288">
            <a:solidFill>
              <a:srgbClr val="D6E6F3"/>
            </a:solidFill>
          </a:ln>
        </p:spPr>
      </p:sp>
      <p:sp>
        <p:nvSpPr>
          <p:cNvPr id="5" name="Line 5"/>
          <p:cNvSpPr/>
          <p:nvPr/>
        </p:nvSpPr>
        <p:spPr>
          <a:xfrm>
            <a:off x="8296275" y="876300"/>
            <a:ext cx="9525" cy="876300"/>
          </a:xfrm>
          <a:custGeom>
            <a:avLst/>
            <a:gdLst/>
            <a:ahLst/>
            <a:cxnLst/>
            <a:rect l="l" t="t" r="r" b="b"/>
            <a:pathLst>
              <a:path w="9525" h="876300">
                <a:moveTo>
                  <a:pt x="0" y="876300"/>
                </a:moveTo>
                <a:lnTo>
                  <a:pt x="0" y="0"/>
                </a:lnTo>
              </a:path>
            </a:pathLst>
          </a:custGeom>
          <a:noFill/>
          <a:ln w="14288">
            <a:solidFill>
              <a:srgbClr val="C87C6C"/>
            </a:solidFill>
            <a:prstDash val="dash"/>
          </a:ln>
        </p:spPr>
      </p:sp>
      <p:sp>
        <p:nvSpPr>
          <p:cNvPr id="6" name="Line 6"/>
          <p:cNvSpPr/>
          <p:nvPr/>
        </p:nvSpPr>
        <p:spPr>
          <a:xfrm>
            <a:off x="9124950" y="1314450"/>
            <a:ext cx="609600" cy="619125"/>
          </a:xfrm>
          <a:custGeom>
            <a:avLst/>
            <a:gdLst/>
            <a:ahLst/>
            <a:cxnLst/>
            <a:rect l="l" t="t" r="r" b="b"/>
            <a:pathLst>
              <a:path w="609600" h="619125">
                <a:moveTo>
                  <a:pt x="0" y="619125"/>
                </a:moveTo>
                <a:lnTo>
                  <a:pt x="609600" y="0"/>
                </a:lnTo>
              </a:path>
            </a:pathLst>
          </a:custGeom>
          <a:noFill/>
          <a:ln w="14288">
            <a:solidFill>
              <a:srgbClr val="C87C6C"/>
            </a:solidFill>
            <a:prstDash val="dash"/>
          </a:ln>
        </p:spPr>
      </p:sp>
      <p:sp>
        <p:nvSpPr>
          <p:cNvPr id="7" name="Line 7"/>
          <p:cNvSpPr/>
          <p:nvPr/>
        </p:nvSpPr>
        <p:spPr>
          <a:xfrm>
            <a:off x="9372600" y="2152650"/>
            <a:ext cx="819150" cy="161925"/>
          </a:xfrm>
          <a:custGeom>
            <a:avLst/>
            <a:gdLst/>
            <a:ahLst/>
            <a:cxnLst/>
            <a:rect l="l" t="t" r="r" b="b"/>
            <a:pathLst>
              <a:path w="819150" h="161925">
                <a:moveTo>
                  <a:pt x="0" y="161925"/>
                </a:moveTo>
                <a:lnTo>
                  <a:pt x="819150" y="0"/>
                </a:lnTo>
              </a:path>
            </a:pathLst>
          </a:custGeom>
          <a:noFill/>
          <a:ln w="14288">
            <a:solidFill>
              <a:srgbClr val="C87C6C"/>
            </a:solidFill>
            <a:prstDash val="dash"/>
          </a:ln>
        </p:spPr>
      </p:sp>
      <p:sp>
        <p:nvSpPr>
          <p:cNvPr id="8" name="Line 8"/>
          <p:cNvSpPr/>
          <p:nvPr/>
        </p:nvSpPr>
        <p:spPr>
          <a:xfrm>
            <a:off x="9124950" y="2743200"/>
            <a:ext cx="647700" cy="323850"/>
          </a:xfrm>
          <a:custGeom>
            <a:avLst/>
            <a:gdLst/>
            <a:ahLst/>
            <a:cxnLst/>
            <a:rect l="l" t="t" r="r" b="b"/>
            <a:pathLst>
              <a:path w="647700" h="323850">
                <a:moveTo>
                  <a:pt x="0" y="0"/>
                </a:moveTo>
                <a:lnTo>
                  <a:pt x="647700" y="323850"/>
                </a:lnTo>
              </a:path>
            </a:pathLst>
          </a:custGeom>
          <a:noFill/>
          <a:ln w="14288">
            <a:solidFill>
              <a:srgbClr val="C87C6C"/>
            </a:solidFill>
            <a:prstDash val="dash"/>
          </a:ln>
        </p:spPr>
      </p:sp>
      <p:sp>
        <p:nvSpPr>
          <p:cNvPr id="9" name="Line 9"/>
          <p:cNvSpPr/>
          <p:nvPr/>
        </p:nvSpPr>
        <p:spPr>
          <a:xfrm>
            <a:off x="6915150" y="2743200"/>
            <a:ext cx="552450" cy="323850"/>
          </a:xfrm>
          <a:custGeom>
            <a:avLst/>
            <a:gdLst/>
            <a:ahLst/>
            <a:cxnLst/>
            <a:rect l="l" t="t" r="r" b="b"/>
            <a:pathLst>
              <a:path w="552450" h="323850">
                <a:moveTo>
                  <a:pt x="552450" y="0"/>
                </a:moveTo>
                <a:lnTo>
                  <a:pt x="0" y="323850"/>
                </a:lnTo>
              </a:path>
            </a:pathLst>
          </a:custGeom>
          <a:noFill/>
          <a:ln w="14288">
            <a:solidFill>
              <a:srgbClr val="C87C6C"/>
            </a:solidFill>
            <a:prstDash val="dash"/>
          </a:ln>
        </p:spPr>
      </p:sp>
      <p:sp>
        <p:nvSpPr>
          <p:cNvPr id="10" name="Line 10"/>
          <p:cNvSpPr/>
          <p:nvPr/>
        </p:nvSpPr>
        <p:spPr>
          <a:xfrm>
            <a:off x="6515100" y="2152650"/>
            <a:ext cx="704850" cy="161925"/>
          </a:xfrm>
          <a:custGeom>
            <a:avLst/>
            <a:gdLst/>
            <a:ahLst/>
            <a:cxnLst/>
            <a:rect l="l" t="t" r="r" b="b"/>
            <a:pathLst>
              <a:path w="704850" h="161925">
                <a:moveTo>
                  <a:pt x="704850" y="161925"/>
                </a:moveTo>
                <a:lnTo>
                  <a:pt x="0" y="0"/>
                </a:lnTo>
              </a:path>
            </a:pathLst>
          </a:custGeom>
          <a:noFill/>
          <a:ln w="14288">
            <a:solidFill>
              <a:srgbClr val="C87C6C"/>
            </a:solidFill>
            <a:prstDash val="dash"/>
          </a:ln>
        </p:spPr>
      </p:sp>
      <p:sp>
        <p:nvSpPr>
          <p:cNvPr id="11" name="Line 11"/>
          <p:cNvSpPr/>
          <p:nvPr/>
        </p:nvSpPr>
        <p:spPr>
          <a:xfrm>
            <a:off x="6915150" y="1314450"/>
            <a:ext cx="552450" cy="619125"/>
          </a:xfrm>
          <a:custGeom>
            <a:avLst/>
            <a:gdLst/>
            <a:ahLst/>
            <a:cxnLst/>
            <a:rect l="l" t="t" r="r" b="b"/>
            <a:pathLst>
              <a:path w="552450" h="619125">
                <a:moveTo>
                  <a:pt x="552450" y="619125"/>
                </a:moveTo>
                <a:lnTo>
                  <a:pt x="0" y="0"/>
                </a:lnTo>
              </a:path>
            </a:pathLst>
          </a:custGeom>
          <a:noFill/>
          <a:ln w="14288">
            <a:solidFill>
              <a:srgbClr val="C87C6C"/>
            </a:solidFill>
            <a:prstDash val="dash"/>
          </a:ln>
        </p:spPr>
      </p:sp>
      <p:sp>
        <p:nvSpPr>
          <p:cNvPr id="12" name="deco-c-data"/>
          <p:cNvSpPr/>
          <p:nvPr/>
        </p:nvSpPr>
        <p:spPr>
          <a:xfrm>
            <a:off x="5953125" y="2876550"/>
            <a:ext cx="2343150" cy="1409700"/>
          </a:xfrm>
          <a:custGeom>
            <a:avLst/>
            <a:gdLst/>
            <a:ahLst/>
            <a:cxnLst/>
            <a:rect l="l" t="t" r="r" b="b"/>
            <a:pathLst>
              <a:path w="2343150" h="1409700">
                <a:moveTo>
                  <a:pt x="2343150" y="0"/>
                </a:moveTo>
                <a:cubicBezTo>
                  <a:pt x="2343150" y="933450"/>
                  <a:pt x="0" y="647700"/>
                  <a:pt x="0" y="1409700"/>
                </a:cubicBezTo>
              </a:path>
            </a:pathLst>
          </a:custGeom>
          <a:noFill/>
          <a:ln w="14288">
            <a:solidFill>
              <a:srgbClr val="E3B3A9"/>
            </a:solidFill>
            <a:prstDash val="dash"/>
          </a:ln>
        </p:spPr>
      </p:sp>
      <p:sp>
        <p:nvSpPr>
          <p:cNvPr id="13" name="deco-c-model"/>
          <p:cNvSpPr/>
          <p:nvPr/>
        </p:nvSpPr>
        <p:spPr>
          <a:xfrm>
            <a:off x="7115175" y="2876550"/>
            <a:ext cx="1181100" cy="1409700"/>
          </a:xfrm>
          <a:custGeom>
            <a:avLst/>
            <a:gdLst/>
            <a:ahLst/>
            <a:cxnLst/>
            <a:rect l="l" t="t" r="r" b="b"/>
            <a:pathLst>
              <a:path w="1181100" h="1409700">
                <a:moveTo>
                  <a:pt x="1181100" y="0"/>
                </a:moveTo>
                <a:cubicBezTo>
                  <a:pt x="1181100" y="933450"/>
                  <a:pt x="0" y="647700"/>
                  <a:pt x="0" y="1409700"/>
                </a:cubicBezTo>
              </a:path>
            </a:pathLst>
          </a:custGeom>
          <a:noFill/>
          <a:ln w="14288">
            <a:solidFill>
              <a:srgbClr val="E3B3A9"/>
            </a:solidFill>
            <a:prstDash val="dash"/>
          </a:ln>
        </p:spPr>
      </p:sp>
      <p:sp>
        <p:nvSpPr>
          <p:cNvPr id="14" name="deco-c-tool"/>
          <p:cNvSpPr/>
          <p:nvPr/>
        </p:nvSpPr>
        <p:spPr>
          <a:xfrm>
            <a:off x="8277225" y="2876550"/>
            <a:ext cx="19050" cy="1409700"/>
          </a:xfrm>
          <a:custGeom>
            <a:avLst/>
            <a:gdLst/>
            <a:ahLst/>
            <a:cxnLst/>
            <a:rect l="l" t="t" r="r" b="b"/>
            <a:pathLst>
              <a:path w="19050" h="1409700">
                <a:moveTo>
                  <a:pt x="19050" y="0"/>
                </a:moveTo>
                <a:lnTo>
                  <a:pt x="0" y="1409700"/>
                </a:lnTo>
              </a:path>
            </a:pathLst>
          </a:custGeom>
          <a:noFill/>
          <a:ln w="14288">
            <a:solidFill>
              <a:srgbClr val="E3B3A9"/>
            </a:solidFill>
            <a:prstDash val="dash"/>
          </a:ln>
        </p:spPr>
      </p:sp>
      <p:sp>
        <p:nvSpPr>
          <p:cNvPr id="15" name="deco-c-auth"/>
          <p:cNvSpPr/>
          <p:nvPr/>
        </p:nvSpPr>
        <p:spPr>
          <a:xfrm>
            <a:off x="8296275" y="2876550"/>
            <a:ext cx="1143000" cy="1409700"/>
          </a:xfrm>
          <a:custGeom>
            <a:avLst/>
            <a:gdLst/>
            <a:ahLst/>
            <a:cxnLst/>
            <a:rect l="l" t="t" r="r" b="b"/>
            <a:pathLst>
              <a:path w="1143000" h="1409700">
                <a:moveTo>
                  <a:pt x="0" y="0"/>
                </a:moveTo>
                <a:cubicBezTo>
                  <a:pt x="0" y="933450"/>
                  <a:pt x="1143000" y="647700"/>
                  <a:pt x="1143000" y="1409700"/>
                </a:cubicBezTo>
              </a:path>
            </a:pathLst>
          </a:custGeom>
          <a:noFill/>
          <a:ln w="14288">
            <a:solidFill>
              <a:srgbClr val="E3B3A9"/>
            </a:solidFill>
            <a:prstDash val="dash"/>
          </a:ln>
        </p:spPr>
      </p:sp>
      <p:sp>
        <p:nvSpPr>
          <p:cNvPr id="16" name="deco-c-audit"/>
          <p:cNvSpPr/>
          <p:nvPr/>
        </p:nvSpPr>
        <p:spPr>
          <a:xfrm>
            <a:off x="8296275" y="2876550"/>
            <a:ext cx="2305050" cy="1409700"/>
          </a:xfrm>
          <a:custGeom>
            <a:avLst/>
            <a:gdLst/>
            <a:ahLst/>
            <a:cxnLst/>
            <a:rect l="l" t="t" r="r" b="b"/>
            <a:pathLst>
              <a:path w="2305050" h="1409700">
                <a:moveTo>
                  <a:pt x="0" y="0"/>
                </a:moveTo>
                <a:cubicBezTo>
                  <a:pt x="0" y="933450"/>
                  <a:pt x="2305050" y="647700"/>
                  <a:pt x="2305050" y="1409700"/>
                </a:cubicBezTo>
              </a:path>
            </a:pathLst>
          </a:custGeom>
          <a:noFill/>
          <a:ln w="14288">
            <a:solidFill>
              <a:srgbClr val="E3B3A9"/>
            </a:solidFill>
            <a:prstDash val="dash"/>
          </a:ln>
        </p:spPr>
      </p:sp>
      <p:grpSp>
        <p:nvGrpSpPr>
          <p:cNvPr id="18" name="hero-number"/>
          <p:cNvGrpSpPr/>
          <p:nvPr/>
        </p:nvGrpSpPr>
        <p:grpSpPr>
          <a:xfrm>
            <a:off x="400050" y="914400"/>
            <a:ext cx="2733623" cy="3448050"/>
            <a:chOff x="400050" y="914400"/>
            <a:chExt cx="2733623" cy="3448050"/>
          </a:xfrm>
        </p:grpSpPr>
        <p:sp>
          <p:nvSpPr>
            <p:cNvPr id="17" name="TextBox 17"/>
            <p:cNvSpPr txBox="1"/>
            <p:nvPr/>
          </p:nvSpPr>
          <p:spPr>
            <a:xfrm>
              <a:off x="400050" y="914400"/>
              <a:ext cx="2733623" cy="3448050"/>
            </a:xfrm>
            <a:prstGeom prst="rect">
              <a:avLst/>
            </a:prstGeom>
            <a:noFill/>
            <a:ln>
              <a:noFill/>
            </a:ln>
          </p:spPr>
          <p:txBody>
            <a:bodyPr wrap="none" lIns="0" tIns="0" rIns="0" bIns="0" anchor="t" anchorCtr="0">
              <a:spAutoFit/>
            </a:bodyPr>
            <a:lstStyle/>
            <a:p>
              <a:pPr algn="l"/>
              <a:r>
                <a:rPr lang="zh-CN" sz="18000" b="1" dirty="0">
                  <a:gradFill>
                    <a:gsLst>
                      <a:gs pos="0">
                        <a:srgbClr val="6B1B0B"/>
                      </a:gs>
                      <a:gs pos="100000">
                        <a:srgbClr val="B7533F"/>
                      </a:gs>
                    </a:gsLst>
                    <a:lin ang="5400000" scaled="1"/>
                  </a:gradFill>
                  <a:latin typeface="+mj-lt"/>
                  <a:ea typeface="+mj-ea"/>
                  <a:cs typeface="+mj-cs"/>
                </a:rPr>
                <a:t>17</a:t>
              </a:r>
            </a:p>
          </p:txBody>
        </p:sp>
      </p:grpSp>
      <p:grpSp>
        <p:nvGrpSpPr>
          <p:cNvPr id="22" name="hero-title"/>
          <p:cNvGrpSpPr/>
          <p:nvPr/>
        </p:nvGrpSpPr>
        <p:grpSpPr>
          <a:xfrm>
            <a:off x="438150" y="3674745"/>
            <a:ext cx="4267962" cy="1352550"/>
            <a:chOff x="438150" y="3674745"/>
            <a:chExt cx="4267962" cy="1352550"/>
          </a:xfrm>
        </p:grpSpPr>
        <p:sp>
          <p:nvSpPr>
            <p:cNvPr id="19" name="TextBox 19"/>
            <p:cNvSpPr txBox="1"/>
            <p:nvPr/>
          </p:nvSpPr>
          <p:spPr>
            <a:xfrm>
              <a:off x="438150" y="3674745"/>
              <a:ext cx="2138172" cy="762000"/>
            </a:xfrm>
            <a:prstGeom prst="rect">
              <a:avLst/>
            </a:prstGeom>
            <a:noFill/>
            <a:ln>
              <a:noFill/>
            </a:ln>
          </p:spPr>
          <p:txBody>
            <a:bodyPr wrap="none" lIns="0" tIns="0" rIns="0" bIns="0" anchor="t" anchorCtr="0">
              <a:spAutoFit/>
            </a:bodyPr>
            <a:lstStyle/>
            <a:p>
              <a:pPr algn="l"/>
              <a:r>
                <a:rPr lang="zh-CN" sz="3900" b="1" dirty="0">
                  <a:solidFill>
                    <a:srgbClr val="6B1B0B"/>
                  </a:solidFill>
                  <a:latin typeface="+mn-lt"/>
                  <a:ea typeface="+mn-ea"/>
                  <a:cs typeface="+mn-cs"/>
                </a:rPr>
                <a:t>金融行业</a:t>
              </a:r>
            </a:p>
          </p:txBody>
        </p:sp>
        <p:sp>
          <p:nvSpPr>
            <p:cNvPr id="20" name="TextBox 20"/>
            <p:cNvSpPr txBox="1"/>
            <p:nvPr/>
          </p:nvSpPr>
          <p:spPr>
            <a:xfrm>
              <a:off x="438150" y="4265295"/>
              <a:ext cx="4267962" cy="762000"/>
            </a:xfrm>
            <a:prstGeom prst="rect">
              <a:avLst/>
            </a:prstGeom>
            <a:noFill/>
            <a:ln>
              <a:noFill/>
            </a:ln>
          </p:spPr>
          <p:txBody>
            <a:bodyPr wrap="none" lIns="0" tIns="0" rIns="0" bIns="0" anchor="t" anchorCtr="0">
              <a:spAutoFit/>
            </a:bodyPr>
            <a:lstStyle/>
            <a:p>
              <a:pPr algn="l"/>
              <a:r>
                <a:rPr lang="zh-CN" sz="3900" b="1" dirty="0">
                  <a:solidFill>
                    <a:srgbClr val="6B1B0B"/>
                  </a:solidFill>
                  <a:latin typeface="+mj-lt"/>
                  <a:ea typeface="+mj-ea"/>
                  <a:cs typeface="+mj-cs"/>
                </a:rPr>
                <a:t>AI智能体落地场景</a:t>
              </a:r>
            </a:p>
          </p:txBody>
        </p:sp>
        <p:sp>
          <p:nvSpPr>
            <p:cNvPr id="21" name="Line 21"/>
            <p:cNvSpPr/>
            <p:nvPr/>
          </p:nvSpPr>
          <p:spPr>
            <a:xfrm>
              <a:off x="457200" y="4800600"/>
              <a:ext cx="3162300" cy="9525"/>
            </a:xfrm>
            <a:custGeom>
              <a:avLst/>
              <a:gdLst/>
              <a:ahLst/>
              <a:cxnLst/>
              <a:rect l="l" t="t" r="r" b="b"/>
              <a:pathLst>
                <a:path w="3162300" h="9525">
                  <a:moveTo>
                    <a:pt x="0" y="0"/>
                  </a:moveTo>
                  <a:lnTo>
                    <a:pt x="3162300" y="0"/>
                  </a:lnTo>
                </a:path>
              </a:pathLst>
            </a:custGeom>
            <a:noFill/>
            <a:ln w="19050">
              <a:solidFill>
                <a:srgbClr val="92301C"/>
              </a:solidFill>
            </a:ln>
          </p:spPr>
        </p:sp>
      </p:grpSp>
      <p:grpSp>
        <p:nvGrpSpPr>
          <p:cNvPr id="33" name="hub"/>
          <p:cNvGrpSpPr/>
          <p:nvPr/>
        </p:nvGrpSpPr>
        <p:grpSpPr>
          <a:xfrm>
            <a:off x="7229475" y="1771650"/>
            <a:ext cx="2133600" cy="1104900"/>
            <a:chOff x="7229475" y="1771650"/>
            <a:chExt cx="2133600" cy="1104900"/>
          </a:xfrm>
        </p:grpSpPr>
        <p:sp>
          <p:nvSpPr>
            <p:cNvPr id="23" name="Ellipse 23"/>
            <p:cNvSpPr/>
            <p:nvPr/>
          </p:nvSpPr>
          <p:spPr>
            <a:xfrm>
              <a:off x="7229475" y="1809750"/>
              <a:ext cx="2133600" cy="1066800"/>
            </a:xfrm>
            <a:prstGeom prst="ellipse">
              <a:avLst/>
            </a:prstGeom>
            <a:solidFill>
              <a:srgbClr val="D6E6F3"/>
            </a:solidFill>
            <a:ln>
              <a:noFill/>
            </a:ln>
          </p:spPr>
        </p:sp>
        <p:sp>
          <p:nvSpPr>
            <p:cNvPr id="24" name="Ellipse 24"/>
            <p:cNvSpPr/>
            <p:nvPr/>
          </p:nvSpPr>
          <p:spPr>
            <a:xfrm>
              <a:off x="7267575" y="1771650"/>
              <a:ext cx="2057400" cy="1028700"/>
            </a:xfrm>
            <a:prstGeom prst="ellipse">
              <a:avLst/>
            </a:prstGeom>
            <a:gradFill>
              <a:gsLst>
                <a:gs pos="0">
                  <a:srgbClr val="92301C"/>
                </a:gs>
                <a:gs pos="100000">
                  <a:srgbClr val="6B1B0B"/>
                </a:gs>
              </a:gsLst>
              <a:lin ang="5400000" scaled="1"/>
            </a:gradFill>
            <a:ln>
              <a:noFill/>
            </a:ln>
          </p:spPr>
        </p:sp>
        <p:grpSp>
          <p:nvGrpSpPr>
            <p:cNvPr id="31" name="Group 31"/>
            <p:cNvGrpSpPr/>
            <p:nvPr/>
          </p:nvGrpSpPr>
          <p:grpSpPr>
            <a:xfrm>
              <a:off x="8181975" y="1981200"/>
              <a:ext cx="228599" cy="228600"/>
              <a:chOff x="8181975" y="1981200"/>
              <a:chExt cx="228599" cy="228600"/>
            </a:xfrm>
          </p:grpSpPr>
          <p:sp>
            <p:nvSpPr>
              <p:cNvPr id="25" name="Freeform 25"/>
              <p:cNvSpPr/>
              <p:nvPr/>
            </p:nvSpPr>
            <p:spPr>
              <a:xfrm>
                <a:off x="8296275" y="2108200"/>
                <a:ext cx="88900" cy="101600"/>
              </a:xfrm>
              <a:custGeom>
                <a:avLst/>
                <a:gdLst/>
                <a:ahLst/>
                <a:cxnLst/>
                <a:rect l="l" t="t" r="r" b="b"/>
                <a:pathLst>
                  <a:path w="88900" h="101600">
                    <a:moveTo>
                      <a:pt x="44450" y="0"/>
                    </a:moveTo>
                    <a:cubicBezTo>
                      <a:pt x="19901" y="0"/>
                      <a:pt x="0" y="19901"/>
                      <a:pt x="0" y="44450"/>
                    </a:cubicBezTo>
                    <a:lnTo>
                      <a:pt x="0" y="57150"/>
                    </a:lnTo>
                    <a:cubicBezTo>
                      <a:pt x="0" y="81699"/>
                      <a:pt x="19901" y="101600"/>
                      <a:pt x="44450" y="101600"/>
                    </a:cubicBezTo>
                    <a:cubicBezTo>
                      <a:pt x="68999" y="101600"/>
                      <a:pt x="88900" y="81699"/>
                      <a:pt x="88900" y="57150"/>
                    </a:cubicBezTo>
                    <a:lnTo>
                      <a:pt x="88900" y="34290"/>
                    </a:lnTo>
                  </a:path>
                </a:pathLst>
              </a:custGeom>
              <a:noFill/>
              <a:ln w="25400">
                <a:solidFill>
                  <a:srgbClr val="FFFFFF"/>
                </a:solidFill>
              </a:ln>
            </p:spPr>
          </p:sp>
          <p:sp>
            <p:nvSpPr>
              <p:cNvPr id="26" name="Freeform 26"/>
              <p:cNvSpPr/>
              <p:nvPr/>
            </p:nvSpPr>
            <p:spPr>
              <a:xfrm>
                <a:off x="8207375" y="2108200"/>
                <a:ext cx="88900" cy="101600"/>
              </a:xfrm>
              <a:custGeom>
                <a:avLst/>
                <a:gdLst/>
                <a:ahLst/>
                <a:cxnLst/>
                <a:rect l="l" t="t" r="r" b="b"/>
                <a:pathLst>
                  <a:path w="88900" h="101600">
                    <a:moveTo>
                      <a:pt x="44450" y="0"/>
                    </a:moveTo>
                    <a:cubicBezTo>
                      <a:pt x="68999" y="0"/>
                      <a:pt x="88900" y="19901"/>
                      <a:pt x="88900" y="44450"/>
                    </a:cubicBezTo>
                    <a:lnTo>
                      <a:pt x="88900" y="57150"/>
                    </a:lnTo>
                    <a:cubicBezTo>
                      <a:pt x="88900" y="81699"/>
                      <a:pt x="68999" y="101600"/>
                      <a:pt x="44450" y="101600"/>
                    </a:cubicBezTo>
                    <a:cubicBezTo>
                      <a:pt x="19901" y="101600"/>
                      <a:pt x="0" y="81699"/>
                      <a:pt x="0" y="57150"/>
                    </a:cubicBezTo>
                    <a:lnTo>
                      <a:pt x="0" y="34290"/>
                    </a:lnTo>
                  </a:path>
                </a:pathLst>
              </a:custGeom>
              <a:noFill/>
              <a:ln w="25400">
                <a:solidFill>
                  <a:srgbClr val="FFFFFF"/>
                </a:solidFill>
              </a:ln>
            </p:spPr>
          </p:sp>
          <p:sp>
            <p:nvSpPr>
              <p:cNvPr id="27" name="Freeform 27"/>
              <p:cNvSpPr/>
              <p:nvPr/>
            </p:nvSpPr>
            <p:spPr>
              <a:xfrm>
                <a:off x="8359774" y="2057400"/>
                <a:ext cx="50800" cy="88900"/>
              </a:xfrm>
              <a:custGeom>
                <a:avLst/>
                <a:gdLst/>
                <a:ahLst/>
                <a:cxnLst/>
                <a:rect l="l" t="t" r="r" b="b"/>
                <a:pathLst>
                  <a:path w="50800" h="88900">
                    <a:moveTo>
                      <a:pt x="6350" y="88900"/>
                    </a:moveTo>
                    <a:cubicBezTo>
                      <a:pt x="30899" y="88900"/>
                      <a:pt x="50800" y="68999"/>
                      <a:pt x="50800" y="44450"/>
                    </a:cubicBezTo>
                    <a:cubicBezTo>
                      <a:pt x="50800" y="19901"/>
                      <a:pt x="30899" y="0"/>
                      <a:pt x="6350" y="0"/>
                    </a:cubicBezTo>
                    <a:lnTo>
                      <a:pt x="0" y="0"/>
                    </a:lnTo>
                  </a:path>
                </a:pathLst>
              </a:custGeom>
              <a:noFill/>
              <a:ln w="25400">
                <a:solidFill>
                  <a:srgbClr val="FFFFFF"/>
                </a:solidFill>
              </a:ln>
            </p:spPr>
          </p:sp>
          <p:sp>
            <p:nvSpPr>
              <p:cNvPr id="28" name="Freeform 28"/>
              <p:cNvSpPr/>
              <p:nvPr/>
            </p:nvSpPr>
            <p:spPr>
              <a:xfrm>
                <a:off x="8296275" y="1981200"/>
                <a:ext cx="88900" cy="80010"/>
              </a:xfrm>
              <a:custGeom>
                <a:avLst/>
                <a:gdLst/>
                <a:ahLst/>
                <a:cxnLst/>
                <a:rect l="l" t="t" r="r" b="b"/>
                <a:pathLst>
                  <a:path w="88900" h="80010">
                    <a:moveTo>
                      <a:pt x="88900" y="80010"/>
                    </a:moveTo>
                    <a:lnTo>
                      <a:pt x="88900" y="44450"/>
                    </a:lnTo>
                    <a:cubicBezTo>
                      <a:pt x="88900" y="19901"/>
                      <a:pt x="68999" y="0"/>
                      <a:pt x="44450" y="0"/>
                    </a:cubicBezTo>
                    <a:cubicBezTo>
                      <a:pt x="19901" y="0"/>
                      <a:pt x="0" y="19901"/>
                      <a:pt x="0" y="44450"/>
                    </a:cubicBezTo>
                  </a:path>
                </a:pathLst>
              </a:custGeom>
              <a:noFill/>
              <a:ln w="25400">
                <a:solidFill>
                  <a:srgbClr val="FFFFFF"/>
                </a:solidFill>
              </a:ln>
            </p:spPr>
          </p:sp>
          <p:sp>
            <p:nvSpPr>
              <p:cNvPr id="29" name="Freeform 29"/>
              <p:cNvSpPr/>
              <p:nvPr/>
            </p:nvSpPr>
            <p:spPr>
              <a:xfrm>
                <a:off x="8181975" y="2057400"/>
                <a:ext cx="50800" cy="88900"/>
              </a:xfrm>
              <a:custGeom>
                <a:avLst/>
                <a:gdLst/>
                <a:ahLst/>
                <a:cxnLst/>
                <a:rect l="l" t="t" r="r" b="b"/>
                <a:pathLst>
                  <a:path w="50800" h="88900">
                    <a:moveTo>
                      <a:pt x="44450" y="88900"/>
                    </a:moveTo>
                    <a:cubicBezTo>
                      <a:pt x="19901" y="88900"/>
                      <a:pt x="0" y="68999"/>
                      <a:pt x="0" y="44450"/>
                    </a:cubicBezTo>
                    <a:cubicBezTo>
                      <a:pt x="0" y="19901"/>
                      <a:pt x="19901" y="0"/>
                      <a:pt x="44450" y="0"/>
                    </a:cubicBezTo>
                    <a:lnTo>
                      <a:pt x="50800" y="0"/>
                    </a:lnTo>
                  </a:path>
                </a:pathLst>
              </a:custGeom>
              <a:noFill/>
              <a:ln w="25400">
                <a:solidFill>
                  <a:srgbClr val="FFFFFF"/>
                </a:solidFill>
              </a:ln>
            </p:spPr>
          </p:sp>
          <p:sp>
            <p:nvSpPr>
              <p:cNvPr id="30" name="Freeform 30"/>
              <p:cNvSpPr/>
              <p:nvPr/>
            </p:nvSpPr>
            <p:spPr>
              <a:xfrm>
                <a:off x="8207375" y="1981200"/>
                <a:ext cx="88900" cy="171450"/>
              </a:xfrm>
              <a:custGeom>
                <a:avLst/>
                <a:gdLst/>
                <a:ahLst/>
                <a:cxnLst/>
                <a:rect l="l" t="t" r="r" b="b"/>
                <a:pathLst>
                  <a:path w="88900" h="171450">
                    <a:moveTo>
                      <a:pt x="0" y="80010"/>
                    </a:moveTo>
                    <a:lnTo>
                      <a:pt x="0" y="44450"/>
                    </a:lnTo>
                    <a:cubicBezTo>
                      <a:pt x="0" y="19901"/>
                      <a:pt x="19901" y="0"/>
                      <a:pt x="44450" y="0"/>
                    </a:cubicBezTo>
                    <a:cubicBezTo>
                      <a:pt x="68999" y="0"/>
                      <a:pt x="88900" y="19901"/>
                      <a:pt x="88900" y="44450"/>
                    </a:cubicBezTo>
                    <a:lnTo>
                      <a:pt x="88900" y="171450"/>
                    </a:lnTo>
                  </a:path>
                </a:pathLst>
              </a:custGeom>
              <a:noFill/>
              <a:ln w="25400">
                <a:solidFill>
                  <a:srgbClr val="FFFFFF"/>
                </a:solidFill>
              </a:ln>
            </p:spPr>
          </p:sp>
        </p:grpSp>
        <p:sp>
          <p:nvSpPr>
            <p:cNvPr id="32" name="TextBox 32"/>
            <p:cNvSpPr txBox="1"/>
            <p:nvPr/>
          </p:nvSpPr>
          <p:spPr>
            <a:xfrm>
              <a:off x="7681824" y="2386489"/>
              <a:ext cx="1228903"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j-lt"/>
                  <a:ea typeface="+mj-ea"/>
                  <a:cs typeface="+mj-cs"/>
                </a:rPr>
                <a:t xml:space="preserve">AI智能体中枢　</a:t>
              </a:r>
            </a:p>
          </p:txBody>
        </p:sp>
      </p:grpSp>
      <p:grpSp>
        <p:nvGrpSpPr>
          <p:cNvPr id="43" name="node-customer"/>
          <p:cNvGrpSpPr/>
          <p:nvPr/>
        </p:nvGrpSpPr>
        <p:grpSpPr>
          <a:xfrm>
            <a:off x="8067675" y="210502"/>
            <a:ext cx="1758696" cy="646748"/>
            <a:chOff x="8067675" y="210502"/>
            <a:chExt cx="1758696" cy="646748"/>
          </a:xfrm>
        </p:grpSpPr>
        <p:sp>
          <p:nvSpPr>
            <p:cNvPr id="34" name="Ellipse 34"/>
            <p:cNvSpPr/>
            <p:nvPr/>
          </p:nvSpPr>
          <p:spPr>
            <a:xfrm>
              <a:off x="8067675" y="400050"/>
              <a:ext cx="457200" cy="457200"/>
            </a:xfrm>
            <a:prstGeom prst="ellipse">
              <a:avLst/>
            </a:prstGeom>
            <a:solidFill>
              <a:srgbClr val="92301C"/>
            </a:solidFill>
            <a:ln>
              <a:noFill/>
            </a:ln>
          </p:spPr>
        </p:sp>
        <p:grpSp>
          <p:nvGrpSpPr>
            <p:cNvPr id="39" name="Group 39"/>
            <p:cNvGrpSpPr/>
            <p:nvPr/>
          </p:nvGrpSpPr>
          <p:grpSpPr>
            <a:xfrm>
              <a:off x="8210550" y="542925"/>
              <a:ext cx="171450" cy="171450"/>
              <a:chOff x="8210550" y="542925"/>
              <a:chExt cx="171450" cy="171450"/>
            </a:xfrm>
          </p:grpSpPr>
          <p:sp>
            <p:nvSpPr>
              <p:cNvPr id="35" name="Freeform 35"/>
              <p:cNvSpPr/>
              <p:nvPr/>
            </p:nvSpPr>
            <p:spPr>
              <a:xfrm>
                <a:off x="8229600" y="5429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36" name="Freeform 36"/>
              <p:cNvSpPr/>
              <p:nvPr/>
            </p:nvSpPr>
            <p:spPr>
              <a:xfrm>
                <a:off x="8210550" y="6572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37" name="Freeform 37"/>
              <p:cNvSpPr/>
              <p:nvPr/>
            </p:nvSpPr>
            <p:spPr>
              <a:xfrm>
                <a:off x="8334375" y="5441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38" name="Freeform 38"/>
              <p:cNvSpPr/>
              <p:nvPr/>
            </p:nvSpPr>
            <p:spPr>
              <a:xfrm>
                <a:off x="8353425" y="6586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40" name="TextBox 40"/>
            <p:cNvSpPr txBox="1"/>
            <p:nvPr/>
          </p:nvSpPr>
          <p:spPr>
            <a:xfrm>
              <a:off x="8149590" y="210502"/>
              <a:ext cx="293370" cy="205359"/>
            </a:xfrm>
            <a:prstGeom prst="rect">
              <a:avLst/>
            </a:prstGeom>
            <a:noFill/>
            <a:ln>
              <a:noFill/>
            </a:ln>
          </p:spPr>
          <p:txBody>
            <a:bodyPr wrap="none" lIns="0" tIns="0" rIns="0" bIns="0" anchor="t" anchorCtr="0">
              <a:spAutoFit/>
            </a:bodyPr>
            <a:lstStyle/>
            <a:p>
              <a:pPr algn="ctr"/>
              <a:r>
                <a:rPr lang="zh-CN" sz="1050" b="1" dirty="0">
                  <a:solidFill>
                    <a:srgbClr val="6B1B0B"/>
                  </a:solidFill>
                  <a:latin typeface="+mn-lt"/>
                  <a:ea typeface="+mn-ea"/>
                  <a:cs typeface="+mn-cs"/>
                </a:rPr>
                <a:t>客户</a:t>
              </a:r>
            </a:p>
          </p:txBody>
        </p:sp>
        <p:sp>
          <p:nvSpPr>
            <p:cNvPr id="41" name="TextBox 41"/>
            <p:cNvSpPr txBox="1"/>
            <p:nvPr/>
          </p:nvSpPr>
          <p:spPr>
            <a:xfrm>
              <a:off x="8615362" y="471488"/>
              <a:ext cx="1009078"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 xml:space="preserve">客户服务 | 精准营销　</a:t>
              </a:r>
            </a:p>
          </p:txBody>
        </p:sp>
        <p:sp>
          <p:nvSpPr>
            <p:cNvPr id="42" name="TextBox 42"/>
            <p:cNvSpPr txBox="1"/>
            <p:nvPr/>
          </p:nvSpPr>
          <p:spPr>
            <a:xfrm>
              <a:off x="8615362" y="642938"/>
              <a:ext cx="1211009"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 xml:space="preserve">客户洞察 | 生命周期管理　</a:t>
              </a:r>
            </a:p>
          </p:txBody>
        </p:sp>
      </p:grpSp>
      <p:grpSp>
        <p:nvGrpSpPr>
          <p:cNvPr id="51" name="node-insurance"/>
          <p:cNvGrpSpPr/>
          <p:nvPr/>
        </p:nvGrpSpPr>
        <p:grpSpPr>
          <a:xfrm>
            <a:off x="9705975" y="914400"/>
            <a:ext cx="1566291" cy="523876"/>
            <a:chOff x="9705975" y="914400"/>
            <a:chExt cx="1566291" cy="523876"/>
          </a:xfrm>
        </p:grpSpPr>
        <p:sp>
          <p:nvSpPr>
            <p:cNvPr id="44" name="Ellipse 44"/>
            <p:cNvSpPr/>
            <p:nvPr/>
          </p:nvSpPr>
          <p:spPr>
            <a:xfrm>
              <a:off x="9705975" y="914400"/>
              <a:ext cx="457200" cy="457200"/>
            </a:xfrm>
            <a:prstGeom prst="ellipse">
              <a:avLst/>
            </a:prstGeom>
            <a:solidFill>
              <a:srgbClr val="92301C"/>
            </a:solidFill>
            <a:ln>
              <a:noFill/>
            </a:ln>
          </p:spPr>
        </p:sp>
        <p:grpSp>
          <p:nvGrpSpPr>
            <p:cNvPr id="47" name="Group 47"/>
            <p:cNvGrpSpPr/>
            <p:nvPr/>
          </p:nvGrpSpPr>
          <p:grpSpPr>
            <a:xfrm>
              <a:off x="9835996" y="1057275"/>
              <a:ext cx="186006" cy="171450"/>
              <a:chOff x="9835996" y="1057275"/>
              <a:chExt cx="186006" cy="171450"/>
            </a:xfrm>
          </p:grpSpPr>
          <p:sp>
            <p:nvSpPr>
              <p:cNvPr id="45" name="Freeform 45"/>
              <p:cNvSpPr/>
              <p:nvPr/>
            </p:nvSpPr>
            <p:spPr>
              <a:xfrm>
                <a:off x="9835996" y="10572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FFFFFF"/>
                </a:solidFill>
              </a:ln>
            </p:spPr>
          </p:sp>
          <p:sp>
            <p:nvSpPr>
              <p:cNvPr id="46" name="Freeform 46"/>
              <p:cNvSpPr/>
              <p:nvPr/>
            </p:nvSpPr>
            <p:spPr>
              <a:xfrm>
                <a:off x="9963150" y="119062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48" name="TextBox 48"/>
            <p:cNvSpPr txBox="1"/>
            <p:nvPr/>
          </p:nvSpPr>
          <p:spPr>
            <a:xfrm>
              <a:off x="10262616" y="934402"/>
              <a:ext cx="293370" cy="205359"/>
            </a:xfrm>
            <a:prstGeom prst="rect">
              <a:avLst/>
            </a:prstGeom>
            <a:noFill/>
            <a:ln>
              <a:noFill/>
            </a:ln>
          </p:spPr>
          <p:txBody>
            <a:bodyPr wrap="none" lIns="0" tIns="0" rIns="0" bIns="0" anchor="t" anchorCtr="0">
              <a:spAutoFit/>
            </a:bodyPr>
            <a:lstStyle/>
            <a:p>
              <a:pPr algn="l"/>
              <a:r>
                <a:rPr lang="zh-CN" sz="1050" b="1" dirty="0">
                  <a:solidFill>
                    <a:srgbClr val="6B1B0B"/>
                  </a:solidFill>
                  <a:latin typeface="+mn-lt"/>
                  <a:ea typeface="+mn-ea"/>
                  <a:cs typeface="+mn-cs"/>
                </a:rPr>
                <a:t>保险</a:t>
              </a:r>
            </a:p>
          </p:txBody>
        </p:sp>
        <p:sp>
          <p:nvSpPr>
            <p:cNvPr id="49" name="TextBox 49"/>
            <p:cNvSpPr txBox="1"/>
            <p:nvPr/>
          </p:nvSpPr>
          <p:spPr>
            <a:xfrm>
              <a:off x="10263188" y="1138238"/>
              <a:ext cx="1009078"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 xml:space="preserve">核保辅助 | 理赔审核　</a:t>
              </a:r>
            </a:p>
          </p:txBody>
        </p:sp>
        <p:sp>
          <p:nvSpPr>
            <p:cNvPr id="50" name="TextBox 50"/>
            <p:cNvSpPr txBox="1"/>
            <p:nvPr/>
          </p:nvSpPr>
          <p:spPr>
            <a:xfrm>
              <a:off x="10263188" y="1290638"/>
              <a:ext cx="1009078"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 xml:space="preserve">风险定价 | 客户服务　</a:t>
              </a:r>
            </a:p>
          </p:txBody>
        </p:sp>
      </p:grpSp>
      <p:grpSp>
        <p:nvGrpSpPr>
          <p:cNvPr id="59" name="node-ops"/>
          <p:cNvGrpSpPr/>
          <p:nvPr/>
        </p:nvGrpSpPr>
        <p:grpSpPr>
          <a:xfrm>
            <a:off x="10210800" y="1866900"/>
            <a:ext cx="1667256" cy="523876"/>
            <a:chOff x="10210800" y="1866900"/>
            <a:chExt cx="1667256" cy="523876"/>
          </a:xfrm>
        </p:grpSpPr>
        <p:sp>
          <p:nvSpPr>
            <p:cNvPr id="52" name="Ellipse 52"/>
            <p:cNvSpPr/>
            <p:nvPr/>
          </p:nvSpPr>
          <p:spPr>
            <a:xfrm>
              <a:off x="10210800" y="1866900"/>
              <a:ext cx="457200" cy="457200"/>
            </a:xfrm>
            <a:prstGeom prst="ellipse">
              <a:avLst/>
            </a:prstGeom>
            <a:solidFill>
              <a:srgbClr val="92301C"/>
            </a:solidFill>
            <a:ln>
              <a:noFill/>
            </a:ln>
          </p:spPr>
        </p:sp>
        <p:grpSp>
          <p:nvGrpSpPr>
            <p:cNvPr id="55" name="Group 55"/>
            <p:cNvGrpSpPr/>
            <p:nvPr/>
          </p:nvGrpSpPr>
          <p:grpSpPr>
            <a:xfrm>
              <a:off x="10349494" y="2005594"/>
              <a:ext cx="179813" cy="179813"/>
              <a:chOff x="10349494" y="2005594"/>
              <a:chExt cx="179813" cy="179813"/>
            </a:xfrm>
          </p:grpSpPr>
          <p:sp>
            <p:nvSpPr>
              <p:cNvPr id="53" name="Freeform 53"/>
              <p:cNvSpPr/>
              <p:nvPr/>
            </p:nvSpPr>
            <p:spPr>
              <a:xfrm>
                <a:off x="10349494" y="200559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FFFFFF"/>
                </a:solidFill>
              </a:ln>
            </p:spPr>
          </p:sp>
          <p:sp>
            <p:nvSpPr>
              <p:cNvPr id="54" name="Freeform 54"/>
              <p:cNvSpPr/>
              <p:nvPr/>
            </p:nvSpPr>
            <p:spPr>
              <a:xfrm>
                <a:off x="10410825" y="20669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FFFFFF"/>
                </a:solidFill>
              </a:ln>
            </p:spPr>
          </p:sp>
        </p:grpSp>
        <p:sp>
          <p:nvSpPr>
            <p:cNvPr id="56" name="TextBox 56"/>
            <p:cNvSpPr txBox="1"/>
            <p:nvPr/>
          </p:nvSpPr>
          <p:spPr>
            <a:xfrm>
              <a:off x="10767441" y="1886902"/>
              <a:ext cx="293370" cy="205359"/>
            </a:xfrm>
            <a:prstGeom prst="rect">
              <a:avLst/>
            </a:prstGeom>
            <a:noFill/>
            <a:ln>
              <a:noFill/>
            </a:ln>
          </p:spPr>
          <p:txBody>
            <a:bodyPr wrap="none" lIns="0" tIns="0" rIns="0" bIns="0" anchor="t" anchorCtr="0">
              <a:spAutoFit/>
            </a:bodyPr>
            <a:lstStyle/>
            <a:p>
              <a:pPr algn="l"/>
              <a:r>
                <a:rPr lang="zh-CN" sz="1050" b="1" dirty="0">
                  <a:solidFill>
                    <a:srgbClr val="6B1B0B"/>
                  </a:solidFill>
                  <a:latin typeface="+mn-lt"/>
                  <a:ea typeface="+mn-ea"/>
                  <a:cs typeface="+mn-cs"/>
                </a:rPr>
                <a:t>运营</a:t>
              </a:r>
            </a:p>
          </p:txBody>
        </p:sp>
        <p:sp>
          <p:nvSpPr>
            <p:cNvPr id="57" name="TextBox 57"/>
            <p:cNvSpPr txBox="1"/>
            <p:nvPr/>
          </p:nvSpPr>
          <p:spPr>
            <a:xfrm>
              <a:off x="10768012" y="2090738"/>
              <a:ext cx="1110044"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 xml:space="preserve">流程自动化 | 智能调度　</a:t>
              </a:r>
            </a:p>
          </p:txBody>
        </p:sp>
        <p:sp>
          <p:nvSpPr>
            <p:cNvPr id="58" name="TextBox 58"/>
            <p:cNvSpPr txBox="1"/>
            <p:nvPr/>
          </p:nvSpPr>
          <p:spPr>
            <a:xfrm>
              <a:off x="10768012" y="2243138"/>
              <a:ext cx="1009078"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 xml:space="preserve">文档处理 | 运营分析　</a:t>
              </a:r>
            </a:p>
          </p:txBody>
        </p:sp>
      </p:grpSp>
      <p:grpSp>
        <p:nvGrpSpPr>
          <p:cNvPr id="73" name="node-reg"/>
          <p:cNvGrpSpPr/>
          <p:nvPr/>
        </p:nvGrpSpPr>
        <p:grpSpPr>
          <a:xfrm>
            <a:off x="9763125" y="3009900"/>
            <a:ext cx="1566291" cy="523876"/>
            <a:chOff x="9763125" y="3009900"/>
            <a:chExt cx="1566291" cy="523876"/>
          </a:xfrm>
        </p:grpSpPr>
        <p:sp>
          <p:nvSpPr>
            <p:cNvPr id="60" name="Ellipse 60"/>
            <p:cNvSpPr/>
            <p:nvPr/>
          </p:nvSpPr>
          <p:spPr>
            <a:xfrm>
              <a:off x="9763125" y="3009900"/>
              <a:ext cx="457200" cy="457200"/>
            </a:xfrm>
            <a:prstGeom prst="ellipse">
              <a:avLst/>
            </a:prstGeom>
            <a:solidFill>
              <a:srgbClr val="92301C"/>
            </a:solidFill>
            <a:ln>
              <a:noFill/>
            </a:ln>
          </p:spPr>
        </p:sp>
        <p:grpSp>
          <p:nvGrpSpPr>
            <p:cNvPr id="69" name="Group 69"/>
            <p:cNvGrpSpPr/>
            <p:nvPr/>
          </p:nvGrpSpPr>
          <p:grpSpPr>
            <a:xfrm>
              <a:off x="9906000" y="3152775"/>
              <a:ext cx="171450" cy="180975"/>
              <a:chOff x="9906000" y="3152775"/>
              <a:chExt cx="171450" cy="180975"/>
            </a:xfrm>
          </p:grpSpPr>
          <p:sp>
            <p:nvSpPr>
              <p:cNvPr id="61" name="Freeform 61"/>
              <p:cNvSpPr/>
              <p:nvPr/>
            </p:nvSpPr>
            <p:spPr>
              <a:xfrm>
                <a:off x="9906000" y="332422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62" name="Freeform 62"/>
              <p:cNvSpPr/>
              <p:nvPr/>
            </p:nvSpPr>
            <p:spPr>
              <a:xfrm>
                <a:off x="9906000" y="3219450"/>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63" name="Freeform 63"/>
              <p:cNvSpPr/>
              <p:nvPr/>
            </p:nvSpPr>
            <p:spPr>
              <a:xfrm>
                <a:off x="9925050" y="3152775"/>
                <a:ext cx="133350" cy="28575"/>
              </a:xfrm>
              <a:custGeom>
                <a:avLst/>
                <a:gdLst/>
                <a:ahLst/>
                <a:cxnLst/>
                <a:rect l="l" t="t" r="r" b="b"/>
                <a:pathLst>
                  <a:path w="133350" h="28575">
                    <a:moveTo>
                      <a:pt x="0" y="28575"/>
                    </a:moveTo>
                    <a:lnTo>
                      <a:pt x="66675" y="0"/>
                    </a:lnTo>
                    <a:lnTo>
                      <a:pt x="133350" y="28575"/>
                    </a:lnTo>
                  </a:path>
                </a:pathLst>
              </a:custGeom>
              <a:noFill/>
              <a:ln w="19050">
                <a:solidFill>
                  <a:srgbClr val="FFFFFF"/>
                </a:solidFill>
              </a:ln>
            </p:spPr>
          </p:sp>
          <p:sp>
            <p:nvSpPr>
              <p:cNvPr id="64" name="Freeform 64"/>
              <p:cNvSpPr/>
              <p:nvPr/>
            </p:nvSpPr>
            <p:spPr>
              <a:xfrm>
                <a:off x="9915525" y="321945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65" name="Freeform 65"/>
              <p:cNvSpPr/>
              <p:nvPr/>
            </p:nvSpPr>
            <p:spPr>
              <a:xfrm>
                <a:off x="10067925" y="321945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66" name="Freeform 66"/>
              <p:cNvSpPr/>
              <p:nvPr/>
            </p:nvSpPr>
            <p:spPr>
              <a:xfrm>
                <a:off x="9953625" y="325755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67" name="Freeform 67"/>
              <p:cNvSpPr/>
              <p:nvPr/>
            </p:nvSpPr>
            <p:spPr>
              <a:xfrm>
                <a:off x="9991725" y="325755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68" name="Freeform 68"/>
              <p:cNvSpPr/>
              <p:nvPr/>
            </p:nvSpPr>
            <p:spPr>
              <a:xfrm>
                <a:off x="10029825" y="3257550"/>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70" name="TextBox 70"/>
            <p:cNvSpPr txBox="1"/>
            <p:nvPr/>
          </p:nvSpPr>
          <p:spPr>
            <a:xfrm>
              <a:off x="10319766" y="3029902"/>
              <a:ext cx="293370" cy="205359"/>
            </a:xfrm>
            <a:prstGeom prst="rect">
              <a:avLst/>
            </a:prstGeom>
            <a:noFill/>
            <a:ln>
              <a:noFill/>
            </a:ln>
          </p:spPr>
          <p:txBody>
            <a:bodyPr wrap="none" lIns="0" tIns="0" rIns="0" bIns="0" anchor="t" anchorCtr="0">
              <a:spAutoFit/>
            </a:bodyPr>
            <a:lstStyle/>
            <a:p>
              <a:pPr algn="l"/>
              <a:r>
                <a:rPr lang="zh-CN" sz="1050" b="1" dirty="0">
                  <a:solidFill>
                    <a:srgbClr val="6B1B0B"/>
                  </a:solidFill>
                  <a:latin typeface="+mn-lt"/>
                  <a:ea typeface="+mn-ea"/>
                  <a:cs typeface="+mn-cs"/>
                </a:rPr>
                <a:t>监管</a:t>
              </a:r>
            </a:p>
          </p:txBody>
        </p:sp>
        <p:sp>
          <p:nvSpPr>
            <p:cNvPr id="71" name="TextBox 71"/>
            <p:cNvSpPr txBox="1"/>
            <p:nvPr/>
          </p:nvSpPr>
          <p:spPr>
            <a:xfrm>
              <a:off x="10320338" y="3233738"/>
              <a:ext cx="1009078"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 xml:space="preserve">监管报送 | 数据治理　</a:t>
              </a:r>
            </a:p>
          </p:txBody>
        </p:sp>
        <p:sp>
          <p:nvSpPr>
            <p:cNvPr id="72" name="TextBox 72"/>
            <p:cNvSpPr txBox="1"/>
            <p:nvPr/>
          </p:nvSpPr>
          <p:spPr>
            <a:xfrm>
              <a:off x="10320338" y="3386138"/>
              <a:ext cx="1009078"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 xml:space="preserve">穿透分析 | 风险预警　</a:t>
              </a:r>
            </a:p>
          </p:txBody>
        </p:sp>
      </p:grpSp>
      <p:grpSp>
        <p:nvGrpSpPr>
          <p:cNvPr id="84" name="node-compliance"/>
          <p:cNvGrpSpPr/>
          <p:nvPr/>
        </p:nvGrpSpPr>
        <p:grpSpPr>
          <a:xfrm>
            <a:off x="5276469" y="3009900"/>
            <a:ext cx="1667256" cy="523876"/>
            <a:chOff x="5276469" y="3009900"/>
            <a:chExt cx="1667256" cy="523876"/>
          </a:xfrm>
        </p:grpSpPr>
        <p:sp>
          <p:nvSpPr>
            <p:cNvPr id="74" name="Ellipse 74"/>
            <p:cNvSpPr/>
            <p:nvPr/>
          </p:nvSpPr>
          <p:spPr>
            <a:xfrm>
              <a:off x="6486525" y="3009900"/>
              <a:ext cx="457200" cy="457200"/>
            </a:xfrm>
            <a:prstGeom prst="ellipse">
              <a:avLst/>
            </a:prstGeom>
            <a:solidFill>
              <a:srgbClr val="92301C"/>
            </a:solidFill>
            <a:ln>
              <a:noFill/>
            </a:ln>
          </p:spPr>
        </p:sp>
        <p:grpSp>
          <p:nvGrpSpPr>
            <p:cNvPr id="80" name="Group 80"/>
            <p:cNvGrpSpPr/>
            <p:nvPr/>
          </p:nvGrpSpPr>
          <p:grpSpPr>
            <a:xfrm>
              <a:off x="6629400" y="3152775"/>
              <a:ext cx="171450" cy="171450"/>
              <a:chOff x="6629400" y="3152775"/>
              <a:chExt cx="171450" cy="171450"/>
            </a:xfrm>
          </p:grpSpPr>
          <p:sp>
            <p:nvSpPr>
              <p:cNvPr id="75" name="Freeform 75"/>
              <p:cNvSpPr/>
              <p:nvPr/>
            </p:nvSpPr>
            <p:spPr>
              <a:xfrm>
                <a:off x="6667500" y="3314700"/>
                <a:ext cx="95250" cy="9525"/>
              </a:xfrm>
              <a:custGeom>
                <a:avLst/>
                <a:gdLst/>
                <a:ahLst/>
                <a:cxnLst/>
                <a:rect l="l" t="t" r="r" b="b"/>
                <a:pathLst>
                  <a:path w="95250" h="9525">
                    <a:moveTo>
                      <a:pt x="0" y="0"/>
                    </a:moveTo>
                    <a:lnTo>
                      <a:pt x="95250" y="0"/>
                    </a:lnTo>
                  </a:path>
                </a:pathLst>
              </a:custGeom>
              <a:noFill/>
              <a:ln w="19050">
                <a:solidFill>
                  <a:srgbClr val="FFFFFF"/>
                </a:solidFill>
              </a:ln>
            </p:spPr>
          </p:sp>
          <p:sp>
            <p:nvSpPr>
              <p:cNvPr id="76" name="Freeform 76"/>
              <p:cNvSpPr/>
              <p:nvPr/>
            </p:nvSpPr>
            <p:spPr>
              <a:xfrm>
                <a:off x="6657975" y="3171825"/>
                <a:ext cx="114300" cy="9525"/>
              </a:xfrm>
              <a:custGeom>
                <a:avLst/>
                <a:gdLst/>
                <a:ahLst/>
                <a:cxnLst/>
                <a:rect l="l" t="t" r="r" b="b"/>
                <a:pathLst>
                  <a:path w="114300" h="9525">
                    <a:moveTo>
                      <a:pt x="0" y="9525"/>
                    </a:moveTo>
                    <a:lnTo>
                      <a:pt x="57150" y="0"/>
                    </a:lnTo>
                    <a:lnTo>
                      <a:pt x="114300" y="9525"/>
                    </a:lnTo>
                  </a:path>
                </a:pathLst>
              </a:custGeom>
              <a:noFill/>
              <a:ln w="19050">
                <a:solidFill>
                  <a:srgbClr val="FFFFFF"/>
                </a:solidFill>
              </a:ln>
            </p:spPr>
          </p:sp>
          <p:sp>
            <p:nvSpPr>
              <p:cNvPr id="77" name="Freeform 77"/>
              <p:cNvSpPr/>
              <p:nvPr/>
            </p:nvSpPr>
            <p:spPr>
              <a:xfrm>
                <a:off x="6715125" y="3152775"/>
                <a:ext cx="9525" cy="161925"/>
              </a:xfrm>
              <a:custGeom>
                <a:avLst/>
                <a:gdLst/>
                <a:ahLst/>
                <a:cxnLst/>
                <a:rect l="l" t="t" r="r" b="b"/>
                <a:pathLst>
                  <a:path w="9525" h="161925">
                    <a:moveTo>
                      <a:pt x="0" y="0"/>
                    </a:moveTo>
                    <a:lnTo>
                      <a:pt x="0" y="161925"/>
                    </a:lnTo>
                  </a:path>
                </a:pathLst>
              </a:custGeom>
              <a:noFill/>
              <a:ln w="19050">
                <a:solidFill>
                  <a:srgbClr val="FFFFFF"/>
                </a:solidFill>
              </a:ln>
            </p:spPr>
          </p:sp>
          <p:sp>
            <p:nvSpPr>
              <p:cNvPr id="78" name="Freeform 78"/>
              <p:cNvSpPr/>
              <p:nvPr/>
            </p:nvSpPr>
            <p:spPr>
              <a:xfrm>
                <a:off x="6629400" y="318135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FFFFFF"/>
                </a:solidFill>
              </a:ln>
            </p:spPr>
          </p:sp>
          <p:sp>
            <p:nvSpPr>
              <p:cNvPr id="79" name="Freeform 79"/>
              <p:cNvSpPr/>
              <p:nvPr/>
            </p:nvSpPr>
            <p:spPr>
              <a:xfrm>
                <a:off x="6743700" y="318135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FFFFFF"/>
                </a:solidFill>
              </a:ln>
            </p:spPr>
          </p:sp>
        </p:grpSp>
        <p:sp>
          <p:nvSpPr>
            <p:cNvPr id="81" name="TextBox 81"/>
            <p:cNvSpPr txBox="1"/>
            <p:nvPr/>
          </p:nvSpPr>
          <p:spPr>
            <a:xfrm>
              <a:off x="6093714" y="3029902"/>
              <a:ext cx="293370" cy="205359"/>
            </a:xfrm>
            <a:prstGeom prst="rect">
              <a:avLst/>
            </a:prstGeom>
            <a:noFill/>
            <a:ln>
              <a:noFill/>
            </a:ln>
          </p:spPr>
          <p:txBody>
            <a:bodyPr wrap="none" lIns="0" tIns="0" rIns="0" bIns="0" anchor="t" anchorCtr="0">
              <a:spAutoFit/>
            </a:bodyPr>
            <a:lstStyle/>
            <a:p>
              <a:pPr algn="r"/>
              <a:r>
                <a:rPr lang="zh-CN" sz="1050" b="1" dirty="0">
                  <a:solidFill>
                    <a:srgbClr val="6B1B0B"/>
                  </a:solidFill>
                  <a:latin typeface="+mn-lt"/>
                  <a:ea typeface="+mn-ea"/>
                  <a:cs typeface="+mn-cs"/>
                </a:rPr>
                <a:t>合规</a:t>
              </a:r>
            </a:p>
          </p:txBody>
        </p:sp>
        <p:sp>
          <p:nvSpPr>
            <p:cNvPr id="82" name="TextBox 82"/>
            <p:cNvSpPr txBox="1"/>
            <p:nvPr/>
          </p:nvSpPr>
          <p:spPr>
            <a:xfrm>
              <a:off x="5276469" y="3233738"/>
              <a:ext cx="1110044" cy="147638"/>
            </a:xfrm>
            <a:prstGeom prst="rect">
              <a:avLst/>
            </a:prstGeom>
            <a:noFill/>
            <a:ln>
              <a:noFill/>
            </a:ln>
          </p:spPr>
          <p:txBody>
            <a:bodyPr wrap="none" lIns="0" tIns="0" rIns="0" bIns="0" anchor="t" anchorCtr="0">
              <a:spAutoFit/>
            </a:bodyPr>
            <a:lstStyle/>
            <a:p>
              <a:pPr algn="r"/>
              <a:r>
                <a:rPr lang="zh-CN" sz="750" dirty="0">
                  <a:solidFill>
                    <a:srgbClr val="8C716B"/>
                  </a:solidFill>
                  <a:latin typeface="+mn-lt"/>
                  <a:ea typeface="+mn-ea"/>
                  <a:cs typeface="+mn-cs"/>
                </a:rPr>
                <a:t xml:space="preserve">合规监测 | 反洗钱辅助　</a:t>
              </a:r>
            </a:p>
          </p:txBody>
        </p:sp>
        <p:sp>
          <p:nvSpPr>
            <p:cNvPr id="83" name="TextBox 83"/>
            <p:cNvSpPr txBox="1"/>
            <p:nvPr/>
          </p:nvSpPr>
          <p:spPr>
            <a:xfrm>
              <a:off x="5377434" y="3386138"/>
              <a:ext cx="1009078" cy="147638"/>
            </a:xfrm>
            <a:prstGeom prst="rect">
              <a:avLst/>
            </a:prstGeom>
            <a:noFill/>
            <a:ln>
              <a:noFill/>
            </a:ln>
          </p:spPr>
          <p:txBody>
            <a:bodyPr wrap="none" lIns="0" tIns="0" rIns="0" bIns="0" anchor="t" anchorCtr="0">
              <a:spAutoFit/>
            </a:bodyPr>
            <a:lstStyle/>
            <a:p>
              <a:pPr algn="r"/>
              <a:r>
                <a:rPr lang="zh-CN" sz="750" dirty="0">
                  <a:solidFill>
                    <a:srgbClr val="8C716B"/>
                  </a:solidFill>
                  <a:latin typeface="+mn-lt"/>
                  <a:ea typeface="+mn-ea"/>
                  <a:cs typeface="+mn-cs"/>
                </a:rPr>
                <a:t xml:space="preserve">规则分析 | 报告生成　</a:t>
              </a:r>
            </a:p>
          </p:txBody>
        </p:sp>
      </p:grpSp>
      <p:grpSp>
        <p:nvGrpSpPr>
          <p:cNvPr id="94" name="node-trade"/>
          <p:cNvGrpSpPr/>
          <p:nvPr/>
        </p:nvGrpSpPr>
        <p:grpSpPr>
          <a:xfrm>
            <a:off x="4929759" y="1866900"/>
            <a:ext cx="1566291" cy="523876"/>
            <a:chOff x="4929759" y="1866900"/>
            <a:chExt cx="1566291" cy="523876"/>
          </a:xfrm>
        </p:grpSpPr>
        <p:sp>
          <p:nvSpPr>
            <p:cNvPr id="85" name="Ellipse 85"/>
            <p:cNvSpPr/>
            <p:nvPr/>
          </p:nvSpPr>
          <p:spPr>
            <a:xfrm>
              <a:off x="6038850" y="1866900"/>
              <a:ext cx="457200" cy="457200"/>
            </a:xfrm>
            <a:prstGeom prst="ellipse">
              <a:avLst/>
            </a:prstGeom>
            <a:solidFill>
              <a:srgbClr val="92301C"/>
            </a:solidFill>
            <a:ln>
              <a:noFill/>
            </a:ln>
          </p:spPr>
        </p:sp>
        <p:grpSp>
          <p:nvGrpSpPr>
            <p:cNvPr id="90" name="Group 90"/>
            <p:cNvGrpSpPr/>
            <p:nvPr/>
          </p:nvGrpSpPr>
          <p:grpSpPr>
            <a:xfrm>
              <a:off x="6181725" y="2019300"/>
              <a:ext cx="171450" cy="161925"/>
              <a:chOff x="6181725" y="2019300"/>
              <a:chExt cx="171450" cy="161925"/>
            </a:xfrm>
          </p:grpSpPr>
          <p:sp>
            <p:nvSpPr>
              <p:cNvPr id="86" name="Freeform 86"/>
              <p:cNvSpPr/>
              <p:nvPr/>
            </p:nvSpPr>
            <p:spPr>
              <a:xfrm>
                <a:off x="6181725" y="20955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87" name="Freeform 87"/>
              <p:cNvSpPr/>
              <p:nvPr/>
            </p:nvSpPr>
            <p:spPr>
              <a:xfrm>
                <a:off x="6296025" y="20574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88" name="Freeform 88"/>
              <p:cNvSpPr/>
              <p:nvPr/>
            </p:nvSpPr>
            <p:spPr>
              <a:xfrm>
                <a:off x="6238875" y="20193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89" name="Freeform 89"/>
              <p:cNvSpPr/>
              <p:nvPr/>
            </p:nvSpPr>
            <p:spPr>
              <a:xfrm>
                <a:off x="6191250" y="2171700"/>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91" name="TextBox 91"/>
            <p:cNvSpPr txBox="1"/>
            <p:nvPr/>
          </p:nvSpPr>
          <p:spPr>
            <a:xfrm>
              <a:off x="5646039" y="1886902"/>
              <a:ext cx="293370" cy="205359"/>
            </a:xfrm>
            <a:prstGeom prst="rect">
              <a:avLst/>
            </a:prstGeom>
            <a:noFill/>
            <a:ln>
              <a:noFill/>
            </a:ln>
          </p:spPr>
          <p:txBody>
            <a:bodyPr wrap="none" lIns="0" tIns="0" rIns="0" bIns="0" anchor="t" anchorCtr="0">
              <a:spAutoFit/>
            </a:bodyPr>
            <a:lstStyle/>
            <a:p>
              <a:pPr algn="r"/>
              <a:r>
                <a:rPr lang="zh-CN" sz="1050" b="1" dirty="0">
                  <a:solidFill>
                    <a:srgbClr val="6B1B0B"/>
                  </a:solidFill>
                  <a:latin typeface="+mn-lt"/>
                  <a:ea typeface="+mn-ea"/>
                  <a:cs typeface="+mn-cs"/>
                </a:rPr>
                <a:t>交易</a:t>
              </a:r>
            </a:p>
          </p:txBody>
        </p:sp>
        <p:sp>
          <p:nvSpPr>
            <p:cNvPr id="92" name="TextBox 92"/>
            <p:cNvSpPr txBox="1"/>
            <p:nvPr/>
          </p:nvSpPr>
          <p:spPr>
            <a:xfrm>
              <a:off x="4929759" y="2090738"/>
              <a:ext cx="1009078" cy="147638"/>
            </a:xfrm>
            <a:prstGeom prst="rect">
              <a:avLst/>
            </a:prstGeom>
            <a:noFill/>
            <a:ln>
              <a:noFill/>
            </a:ln>
          </p:spPr>
          <p:txBody>
            <a:bodyPr wrap="none" lIns="0" tIns="0" rIns="0" bIns="0" anchor="t" anchorCtr="0">
              <a:spAutoFit/>
            </a:bodyPr>
            <a:lstStyle/>
            <a:p>
              <a:pPr algn="r"/>
              <a:r>
                <a:rPr lang="zh-CN" sz="750" dirty="0">
                  <a:solidFill>
                    <a:srgbClr val="8C716B"/>
                  </a:solidFill>
                  <a:latin typeface="+mn-lt"/>
                  <a:ea typeface="+mn-ea"/>
                  <a:cs typeface="+mn-cs"/>
                </a:rPr>
                <a:t xml:space="preserve">交易分析 | 异常监测　</a:t>
              </a:r>
            </a:p>
          </p:txBody>
        </p:sp>
        <p:sp>
          <p:nvSpPr>
            <p:cNvPr id="93" name="TextBox 93"/>
            <p:cNvSpPr txBox="1"/>
            <p:nvPr/>
          </p:nvSpPr>
          <p:spPr>
            <a:xfrm>
              <a:off x="4929759" y="2243138"/>
              <a:ext cx="1009078" cy="147638"/>
            </a:xfrm>
            <a:prstGeom prst="rect">
              <a:avLst/>
            </a:prstGeom>
            <a:noFill/>
            <a:ln>
              <a:noFill/>
            </a:ln>
          </p:spPr>
          <p:txBody>
            <a:bodyPr wrap="none" lIns="0" tIns="0" rIns="0" bIns="0" anchor="t" anchorCtr="0">
              <a:spAutoFit/>
            </a:bodyPr>
            <a:lstStyle/>
            <a:p>
              <a:pPr algn="r"/>
              <a:r>
                <a:rPr lang="zh-CN" sz="750" dirty="0">
                  <a:solidFill>
                    <a:srgbClr val="8C716B"/>
                  </a:solidFill>
                  <a:latin typeface="+mn-lt"/>
                  <a:ea typeface="+mn-ea"/>
                  <a:cs typeface="+mn-cs"/>
                </a:rPr>
                <a:t xml:space="preserve">策略辅助 | 执行优化　</a:t>
              </a:r>
            </a:p>
          </p:txBody>
        </p:sp>
      </p:grpSp>
      <p:grpSp>
        <p:nvGrpSpPr>
          <p:cNvPr id="105" name="node-credit"/>
          <p:cNvGrpSpPr/>
          <p:nvPr/>
        </p:nvGrpSpPr>
        <p:grpSpPr>
          <a:xfrm>
            <a:off x="5377434" y="914400"/>
            <a:ext cx="1566291" cy="523876"/>
            <a:chOff x="5377434" y="914400"/>
            <a:chExt cx="1566291" cy="523876"/>
          </a:xfrm>
        </p:grpSpPr>
        <p:sp>
          <p:nvSpPr>
            <p:cNvPr id="95" name="Ellipse 95"/>
            <p:cNvSpPr/>
            <p:nvPr/>
          </p:nvSpPr>
          <p:spPr>
            <a:xfrm>
              <a:off x="6486525" y="914400"/>
              <a:ext cx="457200" cy="457200"/>
            </a:xfrm>
            <a:prstGeom prst="ellipse">
              <a:avLst/>
            </a:prstGeom>
            <a:solidFill>
              <a:srgbClr val="92301C"/>
            </a:solidFill>
            <a:ln>
              <a:noFill/>
            </a:ln>
          </p:spPr>
        </p:sp>
        <p:grpSp>
          <p:nvGrpSpPr>
            <p:cNvPr id="101" name="Group 101"/>
            <p:cNvGrpSpPr/>
            <p:nvPr/>
          </p:nvGrpSpPr>
          <p:grpSpPr>
            <a:xfrm>
              <a:off x="6648450" y="1057275"/>
              <a:ext cx="133350" cy="171450"/>
              <a:chOff x="6648450" y="1057275"/>
              <a:chExt cx="133350" cy="171450"/>
            </a:xfrm>
          </p:grpSpPr>
          <p:sp>
            <p:nvSpPr>
              <p:cNvPr id="96" name="Freeform 96"/>
              <p:cNvSpPr/>
              <p:nvPr/>
            </p:nvSpPr>
            <p:spPr>
              <a:xfrm>
                <a:off x="6734175" y="10572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FFFFFF"/>
                </a:solidFill>
              </a:ln>
            </p:spPr>
          </p:sp>
          <p:sp>
            <p:nvSpPr>
              <p:cNvPr id="97" name="Freeform 97"/>
              <p:cNvSpPr/>
              <p:nvPr/>
            </p:nvSpPr>
            <p:spPr>
              <a:xfrm>
                <a:off x="6648450" y="10572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FFFFFF"/>
                </a:solidFill>
              </a:ln>
            </p:spPr>
          </p:sp>
          <p:sp>
            <p:nvSpPr>
              <p:cNvPr id="98" name="Freeform 98"/>
              <p:cNvSpPr/>
              <p:nvPr/>
            </p:nvSpPr>
            <p:spPr>
              <a:xfrm>
                <a:off x="6686550" y="1114425"/>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99" name="Freeform 99"/>
              <p:cNvSpPr/>
              <p:nvPr/>
            </p:nvSpPr>
            <p:spPr>
              <a:xfrm>
                <a:off x="6686550" y="1152525"/>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100" name="Freeform 100"/>
              <p:cNvSpPr/>
              <p:nvPr/>
            </p:nvSpPr>
            <p:spPr>
              <a:xfrm>
                <a:off x="6686550" y="1190625"/>
                <a:ext cx="57150" cy="9525"/>
              </a:xfrm>
              <a:custGeom>
                <a:avLst/>
                <a:gdLst/>
                <a:ahLst/>
                <a:cxnLst/>
                <a:rect l="l" t="t" r="r" b="b"/>
                <a:pathLst>
                  <a:path w="57150" h="9525">
                    <a:moveTo>
                      <a:pt x="0" y="0"/>
                    </a:moveTo>
                    <a:lnTo>
                      <a:pt x="57150" y="0"/>
                    </a:lnTo>
                  </a:path>
                </a:pathLst>
              </a:custGeom>
              <a:noFill/>
              <a:ln w="19050">
                <a:solidFill>
                  <a:srgbClr val="FFFFFF"/>
                </a:solidFill>
              </a:ln>
            </p:spPr>
          </p:sp>
        </p:grpSp>
        <p:sp>
          <p:nvSpPr>
            <p:cNvPr id="102" name="TextBox 102"/>
            <p:cNvSpPr txBox="1"/>
            <p:nvPr/>
          </p:nvSpPr>
          <p:spPr>
            <a:xfrm>
              <a:off x="6093714" y="934402"/>
              <a:ext cx="293370" cy="205359"/>
            </a:xfrm>
            <a:prstGeom prst="rect">
              <a:avLst/>
            </a:prstGeom>
            <a:noFill/>
            <a:ln>
              <a:noFill/>
            </a:ln>
          </p:spPr>
          <p:txBody>
            <a:bodyPr wrap="none" lIns="0" tIns="0" rIns="0" bIns="0" anchor="t" anchorCtr="0">
              <a:spAutoFit/>
            </a:bodyPr>
            <a:lstStyle/>
            <a:p>
              <a:pPr algn="r"/>
              <a:r>
                <a:rPr lang="zh-CN" sz="1050" b="1" dirty="0">
                  <a:solidFill>
                    <a:srgbClr val="6B1B0B"/>
                  </a:solidFill>
                  <a:latin typeface="+mn-lt"/>
                  <a:ea typeface="+mn-ea"/>
                  <a:cs typeface="+mn-cs"/>
                </a:rPr>
                <a:t>信贷</a:t>
              </a:r>
            </a:p>
          </p:txBody>
        </p:sp>
        <p:sp>
          <p:nvSpPr>
            <p:cNvPr id="103" name="TextBox 103"/>
            <p:cNvSpPr txBox="1"/>
            <p:nvPr/>
          </p:nvSpPr>
          <p:spPr>
            <a:xfrm>
              <a:off x="5377434" y="1138238"/>
              <a:ext cx="1009078" cy="147638"/>
            </a:xfrm>
            <a:prstGeom prst="rect">
              <a:avLst/>
            </a:prstGeom>
            <a:noFill/>
            <a:ln>
              <a:noFill/>
            </a:ln>
          </p:spPr>
          <p:txBody>
            <a:bodyPr wrap="none" lIns="0" tIns="0" rIns="0" bIns="0" anchor="t" anchorCtr="0">
              <a:spAutoFit/>
            </a:bodyPr>
            <a:lstStyle/>
            <a:p>
              <a:pPr algn="r"/>
              <a:r>
                <a:rPr lang="zh-CN" sz="750" dirty="0">
                  <a:solidFill>
                    <a:srgbClr val="8C716B"/>
                  </a:solidFill>
                  <a:latin typeface="+mn-lt"/>
                  <a:ea typeface="+mn-ea"/>
                  <a:cs typeface="+mn-cs"/>
                </a:rPr>
                <a:t xml:space="preserve">授信辅助 | 风险评估　</a:t>
              </a:r>
            </a:p>
          </p:txBody>
        </p:sp>
        <p:sp>
          <p:nvSpPr>
            <p:cNvPr id="104" name="TextBox 104"/>
            <p:cNvSpPr txBox="1"/>
            <p:nvPr/>
          </p:nvSpPr>
          <p:spPr>
            <a:xfrm>
              <a:off x="5377434" y="1290638"/>
              <a:ext cx="1009078" cy="147638"/>
            </a:xfrm>
            <a:prstGeom prst="rect">
              <a:avLst/>
            </a:prstGeom>
            <a:noFill/>
            <a:ln>
              <a:noFill/>
            </a:ln>
          </p:spPr>
          <p:txBody>
            <a:bodyPr wrap="none" lIns="0" tIns="0" rIns="0" bIns="0" anchor="t" anchorCtr="0">
              <a:spAutoFit/>
            </a:bodyPr>
            <a:lstStyle/>
            <a:p>
              <a:pPr algn="r"/>
              <a:r>
                <a:rPr lang="zh-CN" sz="750" dirty="0">
                  <a:solidFill>
                    <a:srgbClr val="8C716B"/>
                  </a:solidFill>
                  <a:latin typeface="+mn-lt"/>
                  <a:ea typeface="+mn-ea"/>
                  <a:cs typeface="+mn-cs"/>
                </a:rPr>
                <a:t xml:space="preserve">贷后管理 | 预警监测　</a:t>
              </a:r>
            </a:p>
          </p:txBody>
        </p:sp>
      </p:grpSp>
      <p:grpSp>
        <p:nvGrpSpPr>
          <p:cNvPr id="114" name="platform-data"/>
          <p:cNvGrpSpPr/>
          <p:nvPr/>
        </p:nvGrpSpPr>
        <p:grpSpPr>
          <a:xfrm>
            <a:off x="5695950" y="4295775"/>
            <a:ext cx="514350" cy="962025"/>
            <a:chOff x="5695950" y="4295775"/>
            <a:chExt cx="514350" cy="962025"/>
          </a:xfrm>
        </p:grpSpPr>
        <p:sp>
          <p:nvSpPr>
            <p:cNvPr id="106" name="Ellipse 106"/>
            <p:cNvSpPr/>
            <p:nvPr/>
          </p:nvSpPr>
          <p:spPr>
            <a:xfrm>
              <a:off x="5753100" y="4295775"/>
              <a:ext cx="400050" cy="400050"/>
            </a:xfrm>
            <a:prstGeom prst="ellipse">
              <a:avLst/>
            </a:prstGeom>
            <a:solidFill>
              <a:srgbClr val="FFFFFF"/>
            </a:solidFill>
            <a:ln w="14288">
              <a:solidFill>
                <a:srgbClr val="E3B3A9"/>
              </a:solidFill>
            </a:ln>
          </p:spPr>
        </p:sp>
        <p:grpSp>
          <p:nvGrpSpPr>
            <p:cNvPr id="110" name="Group 110"/>
            <p:cNvGrpSpPr/>
            <p:nvPr/>
          </p:nvGrpSpPr>
          <p:grpSpPr>
            <a:xfrm>
              <a:off x="5883275" y="4417219"/>
              <a:ext cx="139700" cy="157162"/>
              <a:chOff x="5883275" y="4417219"/>
              <a:chExt cx="139700" cy="157162"/>
            </a:xfrm>
          </p:grpSpPr>
          <p:sp>
            <p:nvSpPr>
              <p:cNvPr id="107" name="Freeform 107"/>
              <p:cNvSpPr/>
              <p:nvPr/>
            </p:nvSpPr>
            <p:spPr>
              <a:xfrm>
                <a:off x="5883275" y="4417219"/>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92301C"/>
                </a:solidFill>
              </a:ln>
            </p:spPr>
          </p:sp>
          <p:sp>
            <p:nvSpPr>
              <p:cNvPr id="108" name="Freeform 108"/>
              <p:cNvSpPr/>
              <p:nvPr/>
            </p:nvSpPr>
            <p:spPr>
              <a:xfrm>
                <a:off x="5883275" y="4443413"/>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2301C"/>
                </a:solidFill>
              </a:ln>
            </p:spPr>
          </p:sp>
          <p:sp>
            <p:nvSpPr>
              <p:cNvPr id="109" name="Freeform 109"/>
              <p:cNvSpPr/>
              <p:nvPr/>
            </p:nvSpPr>
            <p:spPr>
              <a:xfrm>
                <a:off x="5883275" y="4495800"/>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2301C"/>
                </a:solidFill>
              </a:ln>
            </p:spPr>
          </p:sp>
        </p:grpSp>
        <p:sp>
          <p:nvSpPr>
            <p:cNvPr id="111" name="TextBox 111"/>
            <p:cNvSpPr txBox="1"/>
            <p:nvPr/>
          </p:nvSpPr>
          <p:spPr>
            <a:xfrm>
              <a:off x="5750281" y="4781074"/>
              <a:ext cx="405689"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数据层</a:t>
              </a:r>
            </a:p>
          </p:txBody>
        </p:sp>
        <p:sp>
          <p:nvSpPr>
            <p:cNvPr id="112" name="TextBox 112"/>
            <p:cNvSpPr txBox="1"/>
            <p:nvPr/>
          </p:nvSpPr>
          <p:spPr>
            <a:xfrm>
              <a:off x="5746432" y="4967288"/>
              <a:ext cx="413385"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多源融合</a:t>
              </a:r>
            </a:p>
          </p:txBody>
        </p:sp>
        <p:sp>
          <p:nvSpPr>
            <p:cNvPr id="113" name="TextBox 113"/>
            <p:cNvSpPr txBox="1"/>
            <p:nvPr/>
          </p:nvSpPr>
          <p:spPr>
            <a:xfrm>
              <a:off x="5695950" y="5110162"/>
              <a:ext cx="514350"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高质量数据</a:t>
              </a:r>
            </a:p>
          </p:txBody>
        </p:sp>
      </p:grpSp>
      <p:grpSp>
        <p:nvGrpSpPr>
          <p:cNvPr id="125" name="platform-model"/>
          <p:cNvGrpSpPr/>
          <p:nvPr/>
        </p:nvGrpSpPr>
        <p:grpSpPr>
          <a:xfrm>
            <a:off x="6610636" y="4295775"/>
            <a:ext cx="1009078" cy="962025"/>
            <a:chOff x="6610636" y="4295775"/>
            <a:chExt cx="1009078" cy="962025"/>
          </a:xfrm>
        </p:grpSpPr>
        <p:sp>
          <p:nvSpPr>
            <p:cNvPr id="115" name="Ellipse 115"/>
            <p:cNvSpPr/>
            <p:nvPr/>
          </p:nvSpPr>
          <p:spPr>
            <a:xfrm>
              <a:off x="6915150" y="4295775"/>
              <a:ext cx="400050" cy="400050"/>
            </a:xfrm>
            <a:prstGeom prst="ellipse">
              <a:avLst/>
            </a:prstGeom>
            <a:solidFill>
              <a:srgbClr val="FFFFFF"/>
            </a:solidFill>
            <a:ln w="14288">
              <a:solidFill>
                <a:srgbClr val="E3B3A9"/>
              </a:solidFill>
            </a:ln>
          </p:spPr>
        </p:sp>
        <p:grpSp>
          <p:nvGrpSpPr>
            <p:cNvPr id="121" name="Group 121"/>
            <p:cNvGrpSpPr/>
            <p:nvPr/>
          </p:nvGrpSpPr>
          <p:grpSpPr>
            <a:xfrm>
              <a:off x="7036594" y="4417219"/>
              <a:ext cx="157163" cy="157163"/>
              <a:chOff x="7036594" y="4417219"/>
              <a:chExt cx="157163" cy="157163"/>
            </a:xfrm>
          </p:grpSpPr>
          <p:sp>
            <p:nvSpPr>
              <p:cNvPr id="116" name="Freeform 116"/>
              <p:cNvSpPr/>
              <p:nvPr/>
            </p:nvSpPr>
            <p:spPr>
              <a:xfrm>
                <a:off x="7036594" y="4521994"/>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92301C"/>
                </a:solidFill>
              </a:ln>
            </p:spPr>
          </p:sp>
          <p:sp>
            <p:nvSpPr>
              <p:cNvPr id="117" name="Freeform 117"/>
              <p:cNvSpPr/>
              <p:nvPr/>
            </p:nvSpPr>
            <p:spPr>
              <a:xfrm>
                <a:off x="7141369" y="4521994"/>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92301C"/>
                </a:solidFill>
              </a:ln>
            </p:spPr>
          </p:sp>
          <p:sp>
            <p:nvSpPr>
              <p:cNvPr id="118" name="Freeform 118"/>
              <p:cNvSpPr/>
              <p:nvPr/>
            </p:nvSpPr>
            <p:spPr>
              <a:xfrm>
                <a:off x="7088981" y="441721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92301C"/>
                </a:solidFill>
              </a:ln>
            </p:spPr>
          </p:sp>
          <p:sp>
            <p:nvSpPr>
              <p:cNvPr id="119" name="Freeform 119"/>
              <p:cNvSpPr/>
              <p:nvPr/>
            </p:nvSpPr>
            <p:spPr>
              <a:xfrm>
                <a:off x="7062788" y="4495800"/>
                <a:ext cx="104775" cy="26194"/>
              </a:xfrm>
              <a:custGeom>
                <a:avLst/>
                <a:gdLst/>
                <a:ahLst/>
                <a:cxnLst/>
                <a:rect l="l" t="t" r="r" b="b"/>
                <a:pathLst>
                  <a:path w="104775" h="26194">
                    <a:moveTo>
                      <a:pt x="0" y="26194"/>
                    </a:moveTo>
                    <a:lnTo>
                      <a:pt x="0" y="17463"/>
                    </a:lnTo>
                    <a:cubicBezTo>
                      <a:pt x="0" y="7818"/>
                      <a:pt x="7818" y="0"/>
                      <a:pt x="17463" y="0"/>
                    </a:cubicBezTo>
                    <a:lnTo>
                      <a:pt x="87313" y="0"/>
                    </a:lnTo>
                    <a:cubicBezTo>
                      <a:pt x="96957" y="0"/>
                      <a:pt x="104775" y="7818"/>
                      <a:pt x="104775" y="17463"/>
                    </a:cubicBezTo>
                    <a:lnTo>
                      <a:pt x="104775" y="26194"/>
                    </a:lnTo>
                  </a:path>
                </a:pathLst>
              </a:custGeom>
              <a:noFill/>
              <a:ln w="17463">
                <a:solidFill>
                  <a:srgbClr val="92301C"/>
                </a:solidFill>
              </a:ln>
            </p:spPr>
          </p:sp>
          <p:sp>
            <p:nvSpPr>
              <p:cNvPr id="120" name="Freeform 120"/>
              <p:cNvSpPr/>
              <p:nvPr/>
            </p:nvSpPr>
            <p:spPr>
              <a:xfrm>
                <a:off x="7115175" y="4469606"/>
                <a:ext cx="9525" cy="26194"/>
              </a:xfrm>
              <a:custGeom>
                <a:avLst/>
                <a:gdLst/>
                <a:ahLst/>
                <a:cxnLst/>
                <a:rect l="l" t="t" r="r" b="b"/>
                <a:pathLst>
                  <a:path w="9525" h="26194">
                    <a:moveTo>
                      <a:pt x="0" y="0"/>
                    </a:moveTo>
                    <a:lnTo>
                      <a:pt x="0" y="26194"/>
                    </a:lnTo>
                  </a:path>
                </a:pathLst>
              </a:custGeom>
              <a:noFill/>
              <a:ln w="17463">
                <a:solidFill>
                  <a:srgbClr val="92301C"/>
                </a:solidFill>
              </a:ln>
            </p:spPr>
          </p:sp>
        </p:grpSp>
        <p:sp>
          <p:nvSpPr>
            <p:cNvPr id="122" name="TextBox 122"/>
            <p:cNvSpPr txBox="1"/>
            <p:nvPr/>
          </p:nvSpPr>
          <p:spPr>
            <a:xfrm>
              <a:off x="6912331" y="4781074"/>
              <a:ext cx="405689"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模型层</a:t>
              </a:r>
            </a:p>
          </p:txBody>
        </p:sp>
        <p:sp>
          <p:nvSpPr>
            <p:cNvPr id="123" name="TextBox 123"/>
            <p:cNvSpPr txBox="1"/>
            <p:nvPr/>
          </p:nvSpPr>
          <p:spPr>
            <a:xfrm>
              <a:off x="6858000" y="4967288"/>
              <a:ext cx="514350"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基础大模型</a:t>
              </a:r>
            </a:p>
          </p:txBody>
        </p:sp>
        <p:sp>
          <p:nvSpPr>
            <p:cNvPr id="124" name="TextBox 124"/>
            <p:cNvSpPr txBox="1"/>
            <p:nvPr/>
          </p:nvSpPr>
          <p:spPr>
            <a:xfrm>
              <a:off x="6610636" y="5110162"/>
              <a:ext cx="1009078"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 xml:space="preserve">行业模型 | 场景模型　</a:t>
              </a:r>
            </a:p>
          </p:txBody>
        </p:sp>
      </p:grpSp>
      <p:grpSp>
        <p:nvGrpSpPr>
          <p:cNvPr id="131" name="platform-tool"/>
          <p:cNvGrpSpPr/>
          <p:nvPr/>
        </p:nvGrpSpPr>
        <p:grpSpPr>
          <a:xfrm>
            <a:off x="7722203" y="4295775"/>
            <a:ext cx="1110044" cy="962025"/>
            <a:chOff x="7722203" y="4295775"/>
            <a:chExt cx="1110044" cy="962025"/>
          </a:xfrm>
        </p:grpSpPr>
        <p:sp>
          <p:nvSpPr>
            <p:cNvPr id="126" name="Ellipse 126"/>
            <p:cNvSpPr/>
            <p:nvPr/>
          </p:nvSpPr>
          <p:spPr>
            <a:xfrm>
              <a:off x="8077200" y="4295775"/>
              <a:ext cx="400050" cy="400050"/>
            </a:xfrm>
            <a:prstGeom prst="ellipse">
              <a:avLst/>
            </a:prstGeom>
            <a:solidFill>
              <a:srgbClr val="FFFFFF"/>
            </a:solidFill>
            <a:ln w="14288">
              <a:solidFill>
                <a:srgbClr val="E3B3A9"/>
              </a:solidFill>
            </a:ln>
          </p:spPr>
        </p:sp>
        <p:sp>
          <p:nvSpPr>
            <p:cNvPr id="127" name="Freeform 127"/>
            <p:cNvSpPr/>
            <p:nvPr/>
          </p:nvSpPr>
          <p:spPr>
            <a:xfrm>
              <a:off x="8198644" y="4417219"/>
              <a:ext cx="157163" cy="157163"/>
            </a:xfrm>
            <a:custGeom>
              <a:avLst/>
              <a:gdLst/>
              <a:ahLst/>
              <a:cxnLst/>
              <a:rect l="l" t="t" r="r" b="b"/>
              <a:pathLst>
                <a:path w="157163" h="157163">
                  <a:moveTo>
                    <a:pt x="8731" y="34925"/>
                  </a:moveTo>
                  <a:lnTo>
                    <a:pt x="34925" y="34925"/>
                  </a:lnTo>
                  <a:cubicBezTo>
                    <a:pt x="39747" y="34925"/>
                    <a:pt x="43656" y="31016"/>
                    <a:pt x="43656" y="26194"/>
                  </a:cubicBezTo>
                  <a:lnTo>
                    <a:pt x="43656" y="17463"/>
                  </a:lnTo>
                  <a:cubicBezTo>
                    <a:pt x="43656" y="7818"/>
                    <a:pt x="51474" y="0"/>
                    <a:pt x="61119" y="0"/>
                  </a:cubicBezTo>
                  <a:cubicBezTo>
                    <a:pt x="70763" y="0"/>
                    <a:pt x="78581" y="7818"/>
                    <a:pt x="78581" y="17463"/>
                  </a:cubicBezTo>
                  <a:lnTo>
                    <a:pt x="78581" y="26194"/>
                  </a:lnTo>
                  <a:cubicBezTo>
                    <a:pt x="78581" y="31016"/>
                    <a:pt x="82490" y="34925"/>
                    <a:pt x="87313" y="34925"/>
                  </a:cubicBezTo>
                  <a:lnTo>
                    <a:pt x="113506" y="34925"/>
                  </a:lnTo>
                  <a:cubicBezTo>
                    <a:pt x="118328" y="34925"/>
                    <a:pt x="122238" y="38834"/>
                    <a:pt x="122238" y="43656"/>
                  </a:cubicBezTo>
                  <a:lnTo>
                    <a:pt x="122238" y="69850"/>
                  </a:lnTo>
                  <a:cubicBezTo>
                    <a:pt x="122238" y="74672"/>
                    <a:pt x="126147" y="78581"/>
                    <a:pt x="130969" y="78581"/>
                  </a:cubicBezTo>
                  <a:lnTo>
                    <a:pt x="139700" y="78581"/>
                  </a:lnTo>
                  <a:cubicBezTo>
                    <a:pt x="149344" y="78581"/>
                    <a:pt x="157163" y="86400"/>
                    <a:pt x="157163" y="96044"/>
                  </a:cubicBezTo>
                  <a:cubicBezTo>
                    <a:pt x="157163" y="105688"/>
                    <a:pt x="149344" y="113506"/>
                    <a:pt x="139700" y="113506"/>
                  </a:cubicBezTo>
                  <a:lnTo>
                    <a:pt x="130969" y="113506"/>
                  </a:lnTo>
                  <a:cubicBezTo>
                    <a:pt x="126147" y="113506"/>
                    <a:pt x="122238" y="117415"/>
                    <a:pt x="122238" y="122238"/>
                  </a:cubicBezTo>
                  <a:lnTo>
                    <a:pt x="122238" y="148431"/>
                  </a:lnTo>
                  <a:cubicBezTo>
                    <a:pt x="122238" y="153253"/>
                    <a:pt x="118328" y="157163"/>
                    <a:pt x="113506" y="157163"/>
                  </a:cubicBezTo>
                  <a:lnTo>
                    <a:pt x="87313" y="157163"/>
                  </a:lnTo>
                  <a:cubicBezTo>
                    <a:pt x="82490" y="157163"/>
                    <a:pt x="78581" y="153253"/>
                    <a:pt x="78581" y="148431"/>
                  </a:cubicBezTo>
                  <a:lnTo>
                    <a:pt x="78581" y="139700"/>
                  </a:lnTo>
                  <a:cubicBezTo>
                    <a:pt x="78581" y="130056"/>
                    <a:pt x="70763" y="122238"/>
                    <a:pt x="61119" y="122238"/>
                  </a:cubicBezTo>
                  <a:cubicBezTo>
                    <a:pt x="51474" y="122238"/>
                    <a:pt x="43656" y="130056"/>
                    <a:pt x="43656" y="139700"/>
                  </a:cubicBezTo>
                  <a:lnTo>
                    <a:pt x="43656" y="148431"/>
                  </a:lnTo>
                  <a:cubicBezTo>
                    <a:pt x="43656" y="153253"/>
                    <a:pt x="39747" y="157163"/>
                    <a:pt x="34925" y="157163"/>
                  </a:cubicBezTo>
                  <a:lnTo>
                    <a:pt x="8731" y="157163"/>
                  </a:lnTo>
                  <a:cubicBezTo>
                    <a:pt x="3909" y="157163"/>
                    <a:pt x="0" y="153253"/>
                    <a:pt x="0" y="148431"/>
                  </a:cubicBezTo>
                  <a:lnTo>
                    <a:pt x="0" y="122238"/>
                  </a:lnTo>
                  <a:cubicBezTo>
                    <a:pt x="0" y="117415"/>
                    <a:pt x="3909" y="113506"/>
                    <a:pt x="8731" y="113506"/>
                  </a:cubicBezTo>
                  <a:lnTo>
                    <a:pt x="17463" y="113506"/>
                  </a:lnTo>
                  <a:cubicBezTo>
                    <a:pt x="27107" y="113506"/>
                    <a:pt x="34925" y="105688"/>
                    <a:pt x="34925" y="96044"/>
                  </a:cubicBezTo>
                  <a:cubicBezTo>
                    <a:pt x="34925" y="86400"/>
                    <a:pt x="27107" y="78581"/>
                    <a:pt x="17463" y="78581"/>
                  </a:cubicBezTo>
                  <a:lnTo>
                    <a:pt x="8731" y="78581"/>
                  </a:lnTo>
                  <a:cubicBezTo>
                    <a:pt x="3909" y="78581"/>
                    <a:pt x="0" y="74672"/>
                    <a:pt x="0" y="69850"/>
                  </a:cubicBezTo>
                  <a:lnTo>
                    <a:pt x="0" y="43656"/>
                  </a:lnTo>
                  <a:cubicBezTo>
                    <a:pt x="0" y="38834"/>
                    <a:pt x="3909" y="34925"/>
                    <a:pt x="8731" y="34925"/>
                  </a:cubicBezTo>
                </a:path>
              </a:pathLst>
            </a:custGeom>
            <a:noFill/>
            <a:ln w="17463">
              <a:solidFill>
                <a:srgbClr val="92301C"/>
              </a:solidFill>
            </a:ln>
          </p:spPr>
        </p:sp>
        <p:sp>
          <p:nvSpPr>
            <p:cNvPr id="128" name="TextBox 128"/>
            <p:cNvSpPr txBox="1"/>
            <p:nvPr/>
          </p:nvSpPr>
          <p:spPr>
            <a:xfrm>
              <a:off x="8074381" y="4781074"/>
              <a:ext cx="405689"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工具层</a:t>
              </a:r>
            </a:p>
          </p:txBody>
        </p:sp>
        <p:sp>
          <p:nvSpPr>
            <p:cNvPr id="129" name="TextBox 129"/>
            <p:cNvSpPr txBox="1"/>
            <p:nvPr/>
          </p:nvSpPr>
          <p:spPr>
            <a:xfrm>
              <a:off x="8070532" y="4967288"/>
              <a:ext cx="413385"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业务工具</a:t>
              </a:r>
            </a:p>
          </p:txBody>
        </p:sp>
        <p:sp>
          <p:nvSpPr>
            <p:cNvPr id="130" name="TextBox 130"/>
            <p:cNvSpPr txBox="1"/>
            <p:nvPr/>
          </p:nvSpPr>
          <p:spPr>
            <a:xfrm>
              <a:off x="7722203" y="5110162"/>
              <a:ext cx="1110044"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 xml:space="preserve">外部工具 | 智能体工具　</a:t>
              </a:r>
            </a:p>
          </p:txBody>
        </p:sp>
      </p:grpSp>
      <p:grpSp>
        <p:nvGrpSpPr>
          <p:cNvPr id="140" name="platform-auth"/>
          <p:cNvGrpSpPr/>
          <p:nvPr/>
        </p:nvGrpSpPr>
        <p:grpSpPr>
          <a:xfrm>
            <a:off x="8934736" y="4295775"/>
            <a:ext cx="1009078" cy="962025"/>
            <a:chOff x="8934736" y="4295775"/>
            <a:chExt cx="1009078" cy="962025"/>
          </a:xfrm>
        </p:grpSpPr>
        <p:sp>
          <p:nvSpPr>
            <p:cNvPr id="132" name="Ellipse 132"/>
            <p:cNvSpPr/>
            <p:nvPr/>
          </p:nvSpPr>
          <p:spPr>
            <a:xfrm>
              <a:off x="9239250" y="4295775"/>
              <a:ext cx="400050" cy="400050"/>
            </a:xfrm>
            <a:prstGeom prst="ellipse">
              <a:avLst/>
            </a:prstGeom>
            <a:solidFill>
              <a:srgbClr val="FFFFFF"/>
            </a:solidFill>
            <a:ln w="14288">
              <a:solidFill>
                <a:srgbClr val="E3B3A9"/>
              </a:solidFill>
            </a:ln>
          </p:spPr>
        </p:sp>
        <p:grpSp>
          <p:nvGrpSpPr>
            <p:cNvPr id="136" name="Group 136"/>
            <p:cNvGrpSpPr/>
            <p:nvPr/>
          </p:nvGrpSpPr>
          <p:grpSpPr>
            <a:xfrm>
              <a:off x="9378156" y="4417219"/>
              <a:ext cx="122238" cy="157163"/>
              <a:chOff x="9378156" y="4417219"/>
              <a:chExt cx="122238" cy="157163"/>
            </a:xfrm>
          </p:grpSpPr>
          <p:sp>
            <p:nvSpPr>
              <p:cNvPr id="133" name="Freeform 133"/>
              <p:cNvSpPr/>
              <p:nvPr/>
            </p:nvSpPr>
            <p:spPr>
              <a:xfrm>
                <a:off x="9378156" y="4487069"/>
                <a:ext cx="122238" cy="87313"/>
              </a:xfrm>
              <a:custGeom>
                <a:avLst/>
                <a:gdLst/>
                <a:ahLst/>
                <a:cxnLst/>
                <a:rect l="l" t="t" r="r" b="b"/>
                <a:pathLst>
                  <a:path w="122238" h="87313">
                    <a:moveTo>
                      <a:pt x="0" y="17463"/>
                    </a:moveTo>
                    <a:cubicBezTo>
                      <a:pt x="0" y="7818"/>
                      <a:pt x="7818" y="0"/>
                      <a:pt x="17463" y="0"/>
                    </a:cubicBezTo>
                    <a:lnTo>
                      <a:pt x="104775" y="0"/>
                    </a:lnTo>
                    <a:cubicBezTo>
                      <a:pt x="114419" y="0"/>
                      <a:pt x="122238" y="7818"/>
                      <a:pt x="122238" y="17463"/>
                    </a:cubicBezTo>
                    <a:lnTo>
                      <a:pt x="122238" y="69850"/>
                    </a:lnTo>
                    <a:cubicBezTo>
                      <a:pt x="122238" y="79494"/>
                      <a:pt x="114419" y="87313"/>
                      <a:pt x="104775" y="87313"/>
                    </a:cubicBezTo>
                    <a:lnTo>
                      <a:pt x="17463" y="87313"/>
                    </a:lnTo>
                    <a:cubicBezTo>
                      <a:pt x="7818" y="87313"/>
                      <a:pt x="0" y="79494"/>
                      <a:pt x="0" y="69850"/>
                    </a:cubicBezTo>
                    <a:lnTo>
                      <a:pt x="0" y="17463"/>
                    </a:lnTo>
                  </a:path>
                </a:pathLst>
              </a:custGeom>
              <a:noFill/>
              <a:ln w="17463">
                <a:solidFill>
                  <a:srgbClr val="92301C"/>
                </a:solidFill>
              </a:ln>
            </p:spPr>
          </p:sp>
          <p:sp>
            <p:nvSpPr>
              <p:cNvPr id="134" name="Freeform 134"/>
              <p:cNvSpPr/>
              <p:nvPr/>
            </p:nvSpPr>
            <p:spPr>
              <a:xfrm>
                <a:off x="9430544" y="452199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92301C"/>
                </a:solidFill>
              </a:ln>
            </p:spPr>
          </p:sp>
          <p:sp>
            <p:nvSpPr>
              <p:cNvPr id="135" name="Freeform 135"/>
              <p:cNvSpPr/>
              <p:nvPr/>
            </p:nvSpPr>
            <p:spPr>
              <a:xfrm>
                <a:off x="9404350" y="4417219"/>
                <a:ext cx="69850" cy="69850"/>
              </a:xfrm>
              <a:custGeom>
                <a:avLst/>
                <a:gdLst/>
                <a:ahLst/>
                <a:cxnLst/>
                <a:rect l="l" t="t" r="r" b="b"/>
                <a:pathLst>
                  <a:path w="69850" h="69850">
                    <a:moveTo>
                      <a:pt x="0" y="69850"/>
                    </a:moveTo>
                    <a:lnTo>
                      <a:pt x="0" y="34925"/>
                    </a:lnTo>
                    <a:cubicBezTo>
                      <a:pt x="0" y="15636"/>
                      <a:pt x="15636" y="0"/>
                      <a:pt x="34925" y="0"/>
                    </a:cubicBezTo>
                    <a:cubicBezTo>
                      <a:pt x="54214" y="0"/>
                      <a:pt x="69850" y="15636"/>
                      <a:pt x="69850" y="34925"/>
                    </a:cubicBezTo>
                    <a:lnTo>
                      <a:pt x="69850" y="69850"/>
                    </a:lnTo>
                  </a:path>
                </a:pathLst>
              </a:custGeom>
              <a:noFill/>
              <a:ln w="17463">
                <a:solidFill>
                  <a:srgbClr val="92301C"/>
                </a:solidFill>
              </a:ln>
            </p:spPr>
          </p:sp>
        </p:grpSp>
        <p:sp>
          <p:nvSpPr>
            <p:cNvPr id="137" name="TextBox 137"/>
            <p:cNvSpPr txBox="1"/>
            <p:nvPr/>
          </p:nvSpPr>
          <p:spPr>
            <a:xfrm>
              <a:off x="9236431" y="4781074"/>
              <a:ext cx="405689"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权限层</a:t>
              </a:r>
            </a:p>
          </p:txBody>
        </p:sp>
        <p:sp>
          <p:nvSpPr>
            <p:cNvPr id="138" name="TextBox 138"/>
            <p:cNvSpPr txBox="1"/>
            <p:nvPr/>
          </p:nvSpPr>
          <p:spPr>
            <a:xfrm>
              <a:off x="9232582" y="4967288"/>
              <a:ext cx="413385"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身份认证</a:t>
              </a:r>
            </a:p>
          </p:txBody>
        </p:sp>
        <p:sp>
          <p:nvSpPr>
            <p:cNvPr id="139" name="TextBox 139"/>
            <p:cNvSpPr txBox="1"/>
            <p:nvPr/>
          </p:nvSpPr>
          <p:spPr>
            <a:xfrm>
              <a:off x="8934736" y="5110162"/>
              <a:ext cx="1009078"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 xml:space="preserve">权限控制 | 安全隔离　</a:t>
              </a:r>
            </a:p>
          </p:txBody>
        </p:sp>
      </p:grpSp>
      <p:grpSp>
        <p:nvGrpSpPr>
          <p:cNvPr id="150" name="platform-audit"/>
          <p:cNvGrpSpPr/>
          <p:nvPr/>
        </p:nvGrpSpPr>
        <p:grpSpPr>
          <a:xfrm>
            <a:off x="10197751" y="4295775"/>
            <a:ext cx="807149" cy="962025"/>
            <a:chOff x="10197751" y="4295775"/>
            <a:chExt cx="807149" cy="962025"/>
          </a:xfrm>
        </p:grpSpPr>
        <p:sp>
          <p:nvSpPr>
            <p:cNvPr id="141" name="Ellipse 141"/>
            <p:cNvSpPr/>
            <p:nvPr/>
          </p:nvSpPr>
          <p:spPr>
            <a:xfrm>
              <a:off x="10401300" y="4295775"/>
              <a:ext cx="400050" cy="400050"/>
            </a:xfrm>
            <a:prstGeom prst="ellipse">
              <a:avLst/>
            </a:prstGeom>
            <a:solidFill>
              <a:srgbClr val="FFFFFF"/>
            </a:solidFill>
            <a:ln w="14288">
              <a:solidFill>
                <a:srgbClr val="E3B3A9"/>
              </a:solidFill>
            </a:ln>
          </p:spPr>
        </p:sp>
        <p:grpSp>
          <p:nvGrpSpPr>
            <p:cNvPr id="146" name="Group 146"/>
            <p:cNvGrpSpPr/>
            <p:nvPr/>
          </p:nvGrpSpPr>
          <p:grpSpPr>
            <a:xfrm>
              <a:off x="10540206" y="4425950"/>
              <a:ext cx="130970" cy="148431"/>
              <a:chOff x="10540206" y="4425950"/>
              <a:chExt cx="130970" cy="148431"/>
            </a:xfrm>
          </p:grpSpPr>
          <p:sp>
            <p:nvSpPr>
              <p:cNvPr id="142" name="Freeform 142"/>
              <p:cNvSpPr/>
              <p:nvPr/>
            </p:nvSpPr>
            <p:spPr>
              <a:xfrm>
                <a:off x="10540206" y="4425950"/>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92301C"/>
                </a:solidFill>
              </a:ln>
            </p:spPr>
          </p:sp>
          <p:sp>
            <p:nvSpPr>
              <p:cNvPr id="143" name="Freeform 143"/>
              <p:cNvSpPr/>
              <p:nvPr/>
            </p:nvSpPr>
            <p:spPr>
              <a:xfrm>
                <a:off x="10618788" y="4539456"/>
                <a:ext cx="52388" cy="34925"/>
              </a:xfrm>
              <a:custGeom>
                <a:avLst/>
                <a:gdLst/>
                <a:ahLst/>
                <a:cxnLst/>
                <a:rect l="l" t="t" r="r" b="b"/>
                <a:pathLst>
                  <a:path w="52388" h="34925">
                    <a:moveTo>
                      <a:pt x="0" y="17463"/>
                    </a:moveTo>
                    <a:lnTo>
                      <a:pt x="17463" y="34925"/>
                    </a:lnTo>
                    <a:lnTo>
                      <a:pt x="52388" y="0"/>
                    </a:lnTo>
                  </a:path>
                </a:pathLst>
              </a:custGeom>
              <a:noFill/>
              <a:ln w="17463">
                <a:solidFill>
                  <a:srgbClr val="92301C"/>
                </a:solidFill>
              </a:ln>
            </p:spPr>
          </p:sp>
          <p:sp>
            <p:nvSpPr>
              <p:cNvPr id="144" name="Freeform 144"/>
              <p:cNvSpPr/>
              <p:nvPr/>
            </p:nvSpPr>
            <p:spPr>
              <a:xfrm>
                <a:off x="10575131" y="4460875"/>
                <a:ext cx="34925" cy="9525"/>
              </a:xfrm>
              <a:custGeom>
                <a:avLst/>
                <a:gdLst/>
                <a:ahLst/>
                <a:cxnLst/>
                <a:rect l="l" t="t" r="r" b="b"/>
                <a:pathLst>
                  <a:path w="34925" h="9525">
                    <a:moveTo>
                      <a:pt x="0" y="0"/>
                    </a:moveTo>
                    <a:lnTo>
                      <a:pt x="34925" y="0"/>
                    </a:lnTo>
                  </a:path>
                </a:pathLst>
              </a:custGeom>
              <a:noFill/>
              <a:ln w="17463">
                <a:solidFill>
                  <a:srgbClr val="92301C"/>
                </a:solidFill>
              </a:ln>
            </p:spPr>
          </p:sp>
          <p:sp>
            <p:nvSpPr>
              <p:cNvPr id="145" name="Freeform 145"/>
              <p:cNvSpPr/>
              <p:nvPr/>
            </p:nvSpPr>
            <p:spPr>
              <a:xfrm>
                <a:off x="10575131" y="4495800"/>
                <a:ext cx="17463" cy="9525"/>
              </a:xfrm>
              <a:custGeom>
                <a:avLst/>
                <a:gdLst/>
                <a:ahLst/>
                <a:cxnLst/>
                <a:rect l="l" t="t" r="r" b="b"/>
                <a:pathLst>
                  <a:path w="17463" h="9525">
                    <a:moveTo>
                      <a:pt x="0" y="0"/>
                    </a:moveTo>
                    <a:lnTo>
                      <a:pt x="17463" y="0"/>
                    </a:lnTo>
                  </a:path>
                </a:pathLst>
              </a:custGeom>
              <a:noFill/>
              <a:ln w="17463">
                <a:solidFill>
                  <a:srgbClr val="92301C"/>
                </a:solidFill>
              </a:ln>
            </p:spPr>
          </p:sp>
        </p:grpSp>
        <p:sp>
          <p:nvSpPr>
            <p:cNvPr id="147" name="TextBox 147"/>
            <p:cNvSpPr txBox="1"/>
            <p:nvPr/>
          </p:nvSpPr>
          <p:spPr>
            <a:xfrm>
              <a:off x="10398481" y="4781074"/>
              <a:ext cx="405689"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审计层</a:t>
              </a:r>
            </a:p>
          </p:txBody>
        </p:sp>
        <p:sp>
          <p:nvSpPr>
            <p:cNvPr id="148" name="TextBox 148"/>
            <p:cNvSpPr txBox="1"/>
            <p:nvPr/>
          </p:nvSpPr>
          <p:spPr>
            <a:xfrm>
              <a:off x="10394632" y="4967288"/>
              <a:ext cx="413385"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过程留痕</a:t>
              </a:r>
            </a:p>
          </p:txBody>
        </p:sp>
        <p:sp>
          <p:nvSpPr>
            <p:cNvPr id="149" name="TextBox 149"/>
            <p:cNvSpPr txBox="1"/>
            <p:nvPr/>
          </p:nvSpPr>
          <p:spPr>
            <a:xfrm>
              <a:off x="10197751" y="5110162"/>
              <a:ext cx="807149"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 xml:space="preserve">可解释 | 可追溯　</a:t>
              </a:r>
            </a:p>
          </p:txBody>
        </p:sp>
      </p:grpSp>
      <p:grpSp>
        <p:nvGrpSpPr>
          <p:cNvPr id="153" name="platform-base"/>
          <p:cNvGrpSpPr/>
          <p:nvPr/>
        </p:nvGrpSpPr>
        <p:grpSpPr>
          <a:xfrm>
            <a:off x="5076825" y="5353050"/>
            <a:ext cx="6400800" cy="476250"/>
            <a:chOff x="5076825" y="5353050"/>
            <a:chExt cx="6400800" cy="476250"/>
          </a:xfrm>
        </p:grpSpPr>
        <p:sp>
          <p:nvSpPr>
            <p:cNvPr id="151" name="Ellipse 151"/>
            <p:cNvSpPr/>
            <p:nvPr/>
          </p:nvSpPr>
          <p:spPr>
            <a:xfrm>
              <a:off x="5076825" y="5448300"/>
              <a:ext cx="6400800" cy="381000"/>
            </a:xfrm>
            <a:prstGeom prst="ellipse">
              <a:avLst/>
            </a:prstGeom>
            <a:solidFill>
              <a:srgbClr val="EEF5FB"/>
            </a:solidFill>
            <a:ln>
              <a:noFill/>
            </a:ln>
          </p:spPr>
        </p:sp>
        <p:sp>
          <p:nvSpPr>
            <p:cNvPr id="152" name="Ellipse 152"/>
            <p:cNvSpPr/>
            <p:nvPr/>
          </p:nvSpPr>
          <p:spPr>
            <a:xfrm>
              <a:off x="5133975" y="5353050"/>
              <a:ext cx="6286500" cy="419100"/>
            </a:xfrm>
            <a:prstGeom prst="ellipse">
              <a:avLst/>
            </a:prstGeom>
            <a:gradFill>
              <a:gsLst>
                <a:gs pos="0">
                  <a:srgbClr val="D6E6F3"/>
                </a:gs>
                <a:gs pos="100000">
                  <a:srgbClr val="E3B3A9"/>
                </a:gs>
              </a:gsLst>
              <a:lin ang="5400000" scaled="1"/>
            </a:gradFill>
            <a:ln>
              <a:noFill/>
            </a:ln>
          </p:spPr>
        </p:sp>
      </p:grpSp>
      <p:sp>
        <p:nvSpPr>
          <p:cNvPr id="154" name="TextBox 154"/>
          <p:cNvSpPr txBox="1"/>
          <p:nvPr/>
        </p:nvSpPr>
        <p:spPr>
          <a:xfrm>
            <a:off x="452438" y="6551295"/>
            <a:ext cx="3263296" cy="176212"/>
          </a:xfrm>
          <a:prstGeom prst="rect">
            <a:avLst/>
          </a:prstGeom>
          <a:noFill/>
          <a:ln>
            <a:noFill/>
          </a:ln>
        </p:spPr>
        <p:txBody>
          <a:bodyPr wrap="none" lIns="0" tIns="0" rIns="0" bIns="0" anchor="t" anchorCtr="0">
            <a:spAutoFit/>
          </a:bodyPr>
          <a:lstStyle/>
          <a:p>
            <a:pPr algn="l"/>
            <a:r>
              <a:rPr lang="zh-CN" sz="900" dirty="0">
                <a:solidFill>
                  <a:srgbClr val="8C716B"/>
                </a:solidFill>
                <a:latin typeface="+mj-lt"/>
                <a:ea typeface="+mj-ea"/>
                <a:cs typeface="+mj-cs"/>
              </a:rPr>
              <a:t xml:space="preserve">从单点提效到全流程人机协同 | 场景蓝图与实施路径 | 2026　</a:t>
            </a:r>
          </a:p>
        </p:txBody>
      </p:sp>
      <p:grpSp>
        <p:nvGrpSpPr>
          <p:cNvPr id="157" name="footer-right"/>
          <p:cNvGrpSpPr/>
          <p:nvPr/>
        </p:nvGrpSpPr>
        <p:grpSpPr>
          <a:xfrm>
            <a:off x="10001250" y="6552724"/>
            <a:ext cx="1909953" cy="190690"/>
            <a:chOff x="10001250" y="6552724"/>
            <a:chExt cx="1909953" cy="190690"/>
          </a:xfrm>
        </p:grpSpPr>
        <p:sp>
          <p:nvSpPr>
            <p:cNvPr id="155" name="Line 155"/>
            <p:cNvSpPr/>
            <p:nvPr/>
          </p:nvSpPr>
          <p:spPr>
            <a:xfrm>
              <a:off x="10001250" y="6610350"/>
              <a:ext cx="1428750" cy="9525"/>
            </a:xfrm>
            <a:custGeom>
              <a:avLst/>
              <a:gdLst/>
              <a:ahLst/>
              <a:cxnLst/>
              <a:rect l="l" t="t" r="r" b="b"/>
              <a:pathLst>
                <a:path w="1428750" h="9525">
                  <a:moveTo>
                    <a:pt x="0" y="0"/>
                  </a:moveTo>
                  <a:lnTo>
                    <a:pt x="1428750" y="0"/>
                  </a:lnTo>
                </a:path>
              </a:pathLst>
            </a:custGeom>
            <a:noFill/>
            <a:ln w="9525">
              <a:solidFill>
                <a:srgbClr val="E3B3A9"/>
              </a:solidFill>
            </a:ln>
          </p:spPr>
        </p:sp>
        <p:sp>
          <p:nvSpPr>
            <p:cNvPr id="156" name="TextBox 156"/>
            <p:cNvSpPr txBox="1"/>
            <p:nvPr/>
          </p:nvSpPr>
          <p:spPr>
            <a:xfrm>
              <a:off x="11754541" y="6552724"/>
              <a:ext cx="156662" cy="190690"/>
            </a:xfrm>
            <a:prstGeom prst="rect">
              <a:avLst/>
            </a:prstGeom>
            <a:noFill/>
            <a:ln>
              <a:noFill/>
            </a:ln>
          </p:spPr>
          <p:txBody>
            <a:bodyPr wrap="none" lIns="0" tIns="0" rIns="0" bIns="0" anchor="t" anchorCtr="0">
              <a:spAutoFit/>
            </a:bodyPr>
            <a:lstStyle/>
            <a:p>
              <a:pPr algn="r"/>
              <a:r>
                <a:rPr lang="zh-CN" sz="980" b="1" dirty="0">
                  <a:solidFill>
                    <a:srgbClr val="6B1B0B"/>
                  </a:solidFill>
                  <a:latin typeface="+mj-lt"/>
                  <a:ea typeface="+mj-ea"/>
                  <a:cs typeface="+mj-cs"/>
                </a:rPr>
                <a:t>01</a:t>
              </a:r>
            </a:p>
          </p:txBody>
        </p:sp>
      </p:gr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01</a:t>
              </a:r>
            </a:p>
          </p:txBody>
        </p:sp>
        <p:sp>
          <p:nvSpPr>
            <p:cNvPr id="4" name="TextBox 4"/>
            <p:cNvSpPr txBox="1"/>
            <p:nvPr/>
          </p:nvSpPr>
          <p:spPr>
            <a:xfrm>
              <a:off x="942594" y="170498"/>
              <a:ext cx="5532501"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客户洞察智能体</a:t>
              </a:r>
              <a:r>
                <a:rPr lang="zh-CN" sz="1950" b="1" dirty="0">
                  <a:solidFill>
                    <a:srgbClr val="92301C"/>
                  </a:solidFill>
                  <a:latin typeface="+mn-lt"/>
                  <a:ea typeface="+mn-ea"/>
                  <a:cs typeface="+mn-cs"/>
                </a:rPr>
                <a:t>｜从账户数据识别下一最佳行动</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客户经营 · 01</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0" name="col1-head"/>
          <p:cNvGrpSpPr/>
          <p:nvPr/>
        </p:nvGrpSpPr>
        <p:grpSpPr>
          <a:xfrm>
            <a:off x="190500" y="628650"/>
            <a:ext cx="2667000" cy="279559"/>
            <a:chOff x="190500" y="628650"/>
            <a:chExt cx="2667000" cy="279559"/>
          </a:xfrm>
        </p:grpSpPr>
        <p:sp>
          <p:nvSpPr>
            <p:cNvPr id="8" name="Rectangle 8"/>
            <p:cNvSpPr/>
            <p:nvPr/>
          </p:nvSpPr>
          <p:spPr>
            <a:xfrm>
              <a:off x="190500" y="628650"/>
              <a:ext cx="2667000" cy="266700"/>
            </a:xfrm>
            <a:prstGeom prst="rect">
              <a:avLst/>
            </a:prstGeom>
            <a:gradFill>
              <a:gsLst>
                <a:gs pos="0">
                  <a:srgbClr val="92301C"/>
                </a:gs>
                <a:gs pos="100000">
                  <a:srgbClr val="B7533F"/>
                </a:gs>
              </a:gsLst>
              <a:lin ang="0" scaled="1"/>
            </a:gradFill>
            <a:ln>
              <a:noFill/>
            </a:ln>
          </p:spPr>
        </p:sp>
        <p:sp>
          <p:nvSpPr>
            <p:cNvPr id="9" name="TextBox 9"/>
            <p:cNvSpPr txBox="1"/>
            <p:nvPr/>
          </p:nvSpPr>
          <p:spPr>
            <a:xfrm>
              <a:off x="318135" y="688181"/>
              <a:ext cx="76530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客户数据域</a:t>
              </a:r>
            </a:p>
          </p:txBody>
        </p:sp>
      </p:grpSp>
      <p:grpSp>
        <p:nvGrpSpPr>
          <p:cNvPr id="13" name="col2-head"/>
          <p:cNvGrpSpPr/>
          <p:nvPr/>
        </p:nvGrpSpPr>
        <p:grpSpPr>
          <a:xfrm>
            <a:off x="2952750" y="628650"/>
            <a:ext cx="5524500" cy="279559"/>
            <a:chOff x="2952750" y="628650"/>
            <a:chExt cx="5524500" cy="279559"/>
          </a:xfrm>
        </p:grpSpPr>
        <p:sp>
          <p:nvSpPr>
            <p:cNvPr id="11" name="Rectangle 11"/>
            <p:cNvSpPr/>
            <p:nvPr/>
          </p:nvSpPr>
          <p:spPr>
            <a:xfrm>
              <a:off x="2952750" y="628650"/>
              <a:ext cx="5524500" cy="266700"/>
            </a:xfrm>
            <a:prstGeom prst="rect">
              <a:avLst/>
            </a:prstGeom>
            <a:gradFill>
              <a:gsLst>
                <a:gs pos="0">
                  <a:srgbClr val="92301C"/>
                </a:gs>
                <a:gs pos="100000">
                  <a:srgbClr val="B7533F"/>
                </a:gs>
              </a:gsLst>
              <a:lin ang="0" scaled="1"/>
            </a:gradFill>
            <a:ln>
              <a:noFill/>
            </a:ln>
          </p:spPr>
        </p:sp>
        <p:sp>
          <p:nvSpPr>
            <p:cNvPr id="12" name="TextBox 12"/>
            <p:cNvSpPr txBox="1"/>
            <p:nvPr/>
          </p:nvSpPr>
          <p:spPr>
            <a:xfrm>
              <a:off x="3080385" y="688181"/>
              <a:ext cx="13684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智能洞察与决策流程</a:t>
              </a:r>
            </a:p>
          </p:txBody>
        </p:sp>
      </p:grpSp>
      <p:grpSp>
        <p:nvGrpSpPr>
          <p:cNvPr id="16" name="col3-head"/>
          <p:cNvGrpSpPr/>
          <p:nvPr/>
        </p:nvGrpSpPr>
        <p:grpSpPr>
          <a:xfrm>
            <a:off x="8572500" y="628650"/>
            <a:ext cx="3429000" cy="279559"/>
            <a:chOff x="8572500" y="628650"/>
            <a:chExt cx="3429000" cy="279559"/>
          </a:xfrm>
        </p:grpSpPr>
        <p:sp>
          <p:nvSpPr>
            <p:cNvPr id="14" name="Rectangle 14"/>
            <p:cNvSpPr/>
            <p:nvPr/>
          </p:nvSpPr>
          <p:spPr>
            <a:xfrm>
              <a:off x="8572500" y="628650"/>
              <a:ext cx="3429000" cy="266700"/>
            </a:xfrm>
            <a:prstGeom prst="rect">
              <a:avLst/>
            </a:prstGeom>
            <a:gradFill>
              <a:gsLst>
                <a:gs pos="0">
                  <a:srgbClr val="92301C"/>
                </a:gs>
                <a:gs pos="100000">
                  <a:srgbClr val="B7533F"/>
                </a:gs>
              </a:gsLst>
              <a:lin ang="0" scaled="1"/>
            </a:gradFill>
            <a:ln>
              <a:noFill/>
            </a:ln>
          </p:spPr>
        </p:sp>
        <p:sp>
          <p:nvSpPr>
            <p:cNvPr id="15" name="TextBox 15"/>
            <p:cNvSpPr txBox="1"/>
            <p:nvPr/>
          </p:nvSpPr>
          <p:spPr>
            <a:xfrm>
              <a:off x="8700135" y="688181"/>
              <a:ext cx="185200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 xml:space="preserve">客户价值 × 活跃度九宫格　</a:t>
              </a:r>
            </a:p>
          </p:txBody>
        </p:sp>
      </p:grpSp>
      <p:grpSp>
        <p:nvGrpSpPr>
          <p:cNvPr id="68" name="left-cards"/>
          <p:cNvGrpSpPr/>
          <p:nvPr/>
        </p:nvGrpSpPr>
        <p:grpSpPr>
          <a:xfrm>
            <a:off x="190500" y="990600"/>
            <a:ext cx="2667000" cy="4076700"/>
            <a:chOff x="190500" y="990600"/>
            <a:chExt cx="2667000" cy="4076700"/>
          </a:xfrm>
        </p:grpSpPr>
        <p:grpSp>
          <p:nvGrpSpPr>
            <p:cNvPr id="24" name="lc-1"/>
            <p:cNvGrpSpPr/>
            <p:nvPr/>
          </p:nvGrpSpPr>
          <p:grpSpPr>
            <a:xfrm>
              <a:off x="190500" y="990600"/>
              <a:ext cx="2667000" cy="647700"/>
              <a:chOff x="190500" y="990600"/>
              <a:chExt cx="2667000" cy="647700"/>
            </a:xfrm>
          </p:grpSpPr>
          <p:sp>
            <p:nvSpPr>
              <p:cNvPr id="17" name="Rectangle 17"/>
              <p:cNvSpPr/>
              <p:nvPr/>
            </p:nvSpPr>
            <p:spPr>
              <a:xfrm>
                <a:off x="190500" y="990600"/>
                <a:ext cx="2667000" cy="647700"/>
              </a:xfrm>
              <a:prstGeom prst="roundRect">
                <a:avLst>
                  <a:gd name="adj" fmla="val 8824"/>
                </a:avLst>
              </a:prstGeom>
              <a:solidFill>
                <a:srgbClr val="F6F9FD"/>
              </a:solidFill>
              <a:ln w="9525">
                <a:solidFill>
                  <a:srgbClr val="CFDFEE"/>
                </a:solidFill>
              </a:ln>
            </p:spPr>
          </p:sp>
          <p:grpSp>
            <p:nvGrpSpPr>
              <p:cNvPr id="21" name="Group 21"/>
              <p:cNvGrpSpPr/>
              <p:nvPr/>
            </p:nvGrpSpPr>
            <p:grpSpPr>
              <a:xfrm>
                <a:off x="347662" y="1212056"/>
                <a:ext cx="154781" cy="185737"/>
                <a:chOff x="347662" y="1212056"/>
                <a:chExt cx="154781" cy="185737"/>
              </a:xfrm>
            </p:grpSpPr>
            <p:sp>
              <p:nvSpPr>
                <p:cNvPr id="18" name="Freeform 18"/>
                <p:cNvSpPr/>
                <p:nvPr/>
              </p:nvSpPr>
              <p:spPr>
                <a:xfrm>
                  <a:off x="368300" y="12120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2301C"/>
                  </a:solidFill>
                </a:ln>
              </p:spPr>
            </p:sp>
            <p:sp>
              <p:nvSpPr>
                <p:cNvPr id="19" name="Freeform 19"/>
                <p:cNvSpPr/>
                <p:nvPr/>
              </p:nvSpPr>
              <p:spPr>
                <a:xfrm>
                  <a:off x="347662" y="1335881"/>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92301C"/>
                  </a:solidFill>
                </a:ln>
              </p:spPr>
            </p:sp>
            <p:sp>
              <p:nvSpPr>
                <p:cNvPr id="20" name="Freeform 20"/>
                <p:cNvSpPr/>
                <p:nvPr/>
              </p:nvSpPr>
              <p:spPr>
                <a:xfrm>
                  <a:off x="440531" y="1356518"/>
                  <a:ext cx="61912" cy="41275"/>
                </a:xfrm>
                <a:custGeom>
                  <a:avLst/>
                  <a:gdLst/>
                  <a:ahLst/>
                  <a:cxnLst/>
                  <a:rect l="l" t="t" r="r" b="b"/>
                  <a:pathLst>
                    <a:path w="61912" h="41275">
                      <a:moveTo>
                        <a:pt x="0" y="20637"/>
                      </a:moveTo>
                      <a:lnTo>
                        <a:pt x="20637" y="41275"/>
                      </a:lnTo>
                      <a:lnTo>
                        <a:pt x="61912" y="0"/>
                      </a:lnTo>
                    </a:path>
                  </a:pathLst>
                </a:custGeom>
                <a:noFill/>
                <a:ln w="20637">
                  <a:solidFill>
                    <a:srgbClr val="92301C"/>
                  </a:solidFill>
                </a:ln>
              </p:spPr>
            </p:sp>
          </p:grpSp>
          <p:sp>
            <p:nvSpPr>
              <p:cNvPr id="22" name="TextBox 22"/>
              <p:cNvSpPr txBox="1"/>
              <p:nvPr/>
            </p:nvSpPr>
            <p:spPr>
              <a:xfrm>
                <a:off x="623697" y="10948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基本信息</a:t>
                </a:r>
              </a:p>
            </p:txBody>
          </p:sp>
          <p:sp>
            <p:nvSpPr>
              <p:cNvPr id="23" name="TextBox 23"/>
              <p:cNvSpPr txBox="1"/>
              <p:nvPr/>
            </p:nvSpPr>
            <p:spPr>
              <a:xfrm>
                <a:off x="623888" y="1300162"/>
                <a:ext cx="1948053"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年龄/性别/地域/职业、生命周期/客户等级</a:t>
                </a:r>
              </a:p>
            </p:txBody>
          </p:sp>
        </p:grpSp>
        <p:grpSp>
          <p:nvGrpSpPr>
            <p:cNvPr id="34" name="lc-2"/>
            <p:cNvGrpSpPr/>
            <p:nvPr/>
          </p:nvGrpSpPr>
          <p:grpSpPr>
            <a:xfrm>
              <a:off x="190500" y="1676400"/>
              <a:ext cx="2667000" cy="647700"/>
              <a:chOff x="190500" y="1676400"/>
              <a:chExt cx="2667000" cy="647700"/>
            </a:xfrm>
          </p:grpSpPr>
          <p:sp>
            <p:nvSpPr>
              <p:cNvPr id="25" name="Rectangle 25"/>
              <p:cNvSpPr/>
              <p:nvPr/>
            </p:nvSpPr>
            <p:spPr>
              <a:xfrm>
                <a:off x="190500" y="1676400"/>
                <a:ext cx="2667000" cy="647700"/>
              </a:xfrm>
              <a:prstGeom prst="roundRect">
                <a:avLst>
                  <a:gd name="adj" fmla="val 8824"/>
                </a:avLst>
              </a:prstGeom>
              <a:solidFill>
                <a:srgbClr val="F6F9FD"/>
              </a:solidFill>
              <a:ln w="9525">
                <a:solidFill>
                  <a:srgbClr val="CFDFEE"/>
                </a:solidFill>
              </a:ln>
            </p:spPr>
          </p:sp>
          <p:grpSp>
            <p:nvGrpSpPr>
              <p:cNvPr id="31" name="Group 31"/>
              <p:cNvGrpSpPr/>
              <p:nvPr/>
            </p:nvGrpSpPr>
            <p:grpSpPr>
              <a:xfrm>
                <a:off x="316706" y="1896473"/>
                <a:ext cx="185737" cy="187120"/>
                <a:chOff x="316706" y="1896473"/>
                <a:chExt cx="185737" cy="187120"/>
              </a:xfrm>
            </p:grpSpPr>
            <p:sp>
              <p:nvSpPr>
                <p:cNvPr id="26" name="Freeform 26"/>
                <p:cNvSpPr/>
                <p:nvPr/>
              </p:nvSpPr>
              <p:spPr>
                <a:xfrm>
                  <a:off x="378618" y="1980406"/>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92301C"/>
                  </a:solidFill>
                </a:ln>
              </p:spPr>
            </p:sp>
            <p:sp>
              <p:nvSpPr>
                <p:cNvPr id="27" name="Freeform 27"/>
                <p:cNvSpPr/>
                <p:nvPr/>
              </p:nvSpPr>
              <p:spPr>
                <a:xfrm>
                  <a:off x="378618" y="2011362"/>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92301C"/>
                  </a:solidFill>
                </a:ln>
              </p:spPr>
            </p:sp>
            <p:sp>
              <p:nvSpPr>
                <p:cNvPr id="28" name="Freeform 28"/>
                <p:cNvSpPr/>
                <p:nvPr/>
              </p:nvSpPr>
              <p:spPr>
                <a:xfrm>
                  <a:off x="316706" y="1896473"/>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92301C"/>
                  </a:solidFill>
                </a:ln>
              </p:spPr>
            </p:sp>
            <p:sp>
              <p:nvSpPr>
                <p:cNvPr id="29" name="Freeform 29"/>
                <p:cNvSpPr/>
                <p:nvPr/>
              </p:nvSpPr>
              <p:spPr>
                <a:xfrm>
                  <a:off x="316706" y="1928812"/>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92301C"/>
                  </a:solidFill>
                </a:ln>
              </p:spPr>
            </p:sp>
            <p:sp>
              <p:nvSpPr>
                <p:cNvPr id="30" name="Freeform 30"/>
                <p:cNvSpPr/>
                <p:nvPr/>
              </p:nvSpPr>
              <p:spPr>
                <a:xfrm>
                  <a:off x="316706" y="1980406"/>
                  <a:ext cx="20637" cy="20637"/>
                </a:xfrm>
                <a:custGeom>
                  <a:avLst/>
                  <a:gdLst/>
                  <a:ahLst/>
                  <a:cxnLst/>
                  <a:rect l="l" t="t" r="r" b="b"/>
                  <a:pathLst>
                    <a:path w="20637" h="20637">
                      <a:moveTo>
                        <a:pt x="0" y="0"/>
                      </a:moveTo>
                      <a:cubicBezTo>
                        <a:pt x="0" y="9163"/>
                        <a:pt x="7966" y="14962"/>
                        <a:pt x="20637" y="20637"/>
                      </a:cubicBezTo>
                    </a:path>
                  </a:pathLst>
                </a:custGeom>
                <a:noFill/>
                <a:ln w="20637">
                  <a:solidFill>
                    <a:srgbClr val="92301C"/>
                  </a:solidFill>
                </a:ln>
              </p:spPr>
            </p:sp>
          </p:grpSp>
          <p:sp>
            <p:nvSpPr>
              <p:cNvPr id="32" name="TextBox 32"/>
              <p:cNvSpPr txBox="1"/>
              <p:nvPr/>
            </p:nvSpPr>
            <p:spPr>
              <a:xfrm>
                <a:off x="623697" y="17806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资产负债</a:t>
                </a:r>
              </a:p>
            </p:txBody>
          </p:sp>
          <p:sp>
            <p:nvSpPr>
              <p:cNvPr id="33" name="TextBox 33"/>
              <p:cNvSpPr txBox="1"/>
              <p:nvPr/>
            </p:nvSpPr>
            <p:spPr>
              <a:xfrm>
                <a:off x="623888" y="1985962"/>
                <a:ext cx="2104822"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j-lt"/>
                    <a:ea typeface="+mj-ea"/>
                    <a:cs typeface="+mj-cs"/>
                  </a:rPr>
                  <a:t xml:space="preserve">AUM/存款/理财/基金、贷款/负债率/资产结构　</a:t>
                </a:r>
              </a:p>
            </p:txBody>
          </p:sp>
        </p:grpSp>
        <p:grpSp>
          <p:nvGrpSpPr>
            <p:cNvPr id="43" name="lc-3"/>
            <p:cNvGrpSpPr/>
            <p:nvPr/>
          </p:nvGrpSpPr>
          <p:grpSpPr>
            <a:xfrm>
              <a:off x="190500" y="2362200"/>
              <a:ext cx="2667000" cy="647700"/>
              <a:chOff x="190500" y="2362200"/>
              <a:chExt cx="2667000" cy="647700"/>
            </a:xfrm>
          </p:grpSpPr>
          <p:sp>
            <p:nvSpPr>
              <p:cNvPr id="35" name="Rectangle 35"/>
              <p:cNvSpPr/>
              <p:nvPr/>
            </p:nvSpPr>
            <p:spPr>
              <a:xfrm>
                <a:off x="190500" y="2362200"/>
                <a:ext cx="2667000" cy="647700"/>
              </a:xfrm>
              <a:prstGeom prst="roundRect">
                <a:avLst>
                  <a:gd name="adj" fmla="val 8824"/>
                </a:avLst>
              </a:prstGeom>
              <a:solidFill>
                <a:srgbClr val="F6F9FD"/>
              </a:solidFill>
              <a:ln w="9525">
                <a:solidFill>
                  <a:srgbClr val="CFDFEE"/>
                </a:solidFill>
              </a:ln>
            </p:spPr>
          </p:sp>
          <p:grpSp>
            <p:nvGrpSpPr>
              <p:cNvPr id="40" name="Group 40"/>
              <p:cNvGrpSpPr/>
              <p:nvPr/>
            </p:nvGrpSpPr>
            <p:grpSpPr>
              <a:xfrm>
                <a:off x="316706" y="2593975"/>
                <a:ext cx="185737" cy="174624"/>
                <a:chOff x="316706" y="2593975"/>
                <a:chExt cx="185737" cy="174624"/>
              </a:xfrm>
            </p:grpSpPr>
            <p:sp>
              <p:nvSpPr>
                <p:cNvPr id="36" name="Freeform 36"/>
                <p:cNvSpPr/>
                <p:nvPr/>
              </p:nvSpPr>
              <p:spPr>
                <a:xfrm>
                  <a:off x="316706" y="267652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92301C"/>
                  </a:solidFill>
                </a:ln>
              </p:spPr>
            </p:sp>
            <p:sp>
              <p:nvSpPr>
                <p:cNvPr id="37" name="Freeform 37"/>
                <p:cNvSpPr/>
                <p:nvPr/>
              </p:nvSpPr>
              <p:spPr>
                <a:xfrm>
                  <a:off x="440531" y="263525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92301C"/>
                  </a:solidFill>
                </a:ln>
              </p:spPr>
            </p:sp>
            <p:sp>
              <p:nvSpPr>
                <p:cNvPr id="38" name="Freeform 38"/>
                <p:cNvSpPr/>
                <p:nvPr/>
              </p:nvSpPr>
              <p:spPr>
                <a:xfrm>
                  <a:off x="378618" y="259397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92301C"/>
                  </a:solidFill>
                </a:ln>
              </p:spPr>
            </p:sp>
            <p:sp>
              <p:nvSpPr>
                <p:cNvPr id="39" name="Freeform 39"/>
                <p:cNvSpPr/>
                <p:nvPr/>
              </p:nvSpPr>
              <p:spPr>
                <a:xfrm>
                  <a:off x="327025" y="2759074"/>
                  <a:ext cx="144462" cy="9525"/>
                </a:xfrm>
                <a:custGeom>
                  <a:avLst/>
                  <a:gdLst/>
                  <a:ahLst/>
                  <a:cxnLst/>
                  <a:rect l="l" t="t" r="r" b="b"/>
                  <a:pathLst>
                    <a:path w="144462" h="9525">
                      <a:moveTo>
                        <a:pt x="0" y="0"/>
                      </a:moveTo>
                      <a:lnTo>
                        <a:pt x="144462" y="0"/>
                      </a:lnTo>
                    </a:path>
                  </a:pathLst>
                </a:custGeom>
                <a:noFill/>
                <a:ln w="20637">
                  <a:solidFill>
                    <a:srgbClr val="92301C"/>
                  </a:solidFill>
                </a:ln>
              </p:spPr>
            </p:sp>
          </p:grpSp>
          <p:sp>
            <p:nvSpPr>
              <p:cNvPr id="41" name="TextBox 41"/>
              <p:cNvSpPr txBox="1"/>
              <p:nvPr/>
            </p:nvSpPr>
            <p:spPr>
              <a:xfrm>
                <a:off x="623697" y="24664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交易行为</a:t>
                </a:r>
              </a:p>
            </p:txBody>
          </p:sp>
          <p:sp>
            <p:nvSpPr>
              <p:cNvPr id="42" name="TextBox 42"/>
              <p:cNvSpPr txBox="1"/>
              <p:nvPr/>
            </p:nvSpPr>
            <p:spPr>
              <a:xfrm>
                <a:off x="623888" y="2671762"/>
                <a:ext cx="2094452"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收支流水/交易频次/金额、交易场景/商户类别</a:t>
                </a:r>
              </a:p>
            </p:txBody>
          </p:sp>
        </p:grpSp>
        <p:grpSp>
          <p:nvGrpSpPr>
            <p:cNvPr id="51" name="lc-4"/>
            <p:cNvGrpSpPr/>
            <p:nvPr/>
          </p:nvGrpSpPr>
          <p:grpSpPr>
            <a:xfrm>
              <a:off x="190500" y="3048000"/>
              <a:ext cx="2667000" cy="647700"/>
              <a:chOff x="190500" y="3048000"/>
              <a:chExt cx="2667000" cy="647700"/>
            </a:xfrm>
          </p:grpSpPr>
          <p:sp>
            <p:nvSpPr>
              <p:cNvPr id="44" name="Rectangle 44"/>
              <p:cNvSpPr/>
              <p:nvPr/>
            </p:nvSpPr>
            <p:spPr>
              <a:xfrm>
                <a:off x="190500" y="3048000"/>
                <a:ext cx="2667000" cy="647700"/>
              </a:xfrm>
              <a:prstGeom prst="roundRect">
                <a:avLst>
                  <a:gd name="adj" fmla="val 8824"/>
                </a:avLst>
              </a:prstGeom>
              <a:solidFill>
                <a:srgbClr val="F6F9FD"/>
              </a:solidFill>
              <a:ln w="9525">
                <a:solidFill>
                  <a:srgbClr val="CFDFEE"/>
                </a:solidFill>
              </a:ln>
            </p:spPr>
          </p:sp>
          <p:grpSp>
            <p:nvGrpSpPr>
              <p:cNvPr id="48" name="Group 48"/>
              <p:cNvGrpSpPr/>
              <p:nvPr/>
            </p:nvGrpSpPr>
            <p:grpSpPr>
              <a:xfrm>
                <a:off x="347662" y="3269456"/>
                <a:ext cx="123825" cy="185737"/>
                <a:chOff x="347662" y="3269456"/>
                <a:chExt cx="123825" cy="185737"/>
              </a:xfrm>
            </p:grpSpPr>
            <p:sp>
              <p:nvSpPr>
                <p:cNvPr id="45" name="Freeform 45"/>
                <p:cNvSpPr/>
                <p:nvPr/>
              </p:nvSpPr>
              <p:spPr>
                <a:xfrm>
                  <a:off x="347662" y="3269456"/>
                  <a:ext cx="123825" cy="185737"/>
                </a:xfrm>
                <a:custGeom>
                  <a:avLst/>
                  <a:gdLst/>
                  <a:ahLst/>
                  <a:cxnLst/>
                  <a:rect l="l" t="t" r="r" b="b"/>
                  <a:pathLst>
                    <a:path w="123825" h="185737">
                      <a:moveTo>
                        <a:pt x="0" y="20637"/>
                      </a:moveTo>
                      <a:cubicBezTo>
                        <a:pt x="0" y="9240"/>
                        <a:pt x="9240" y="0"/>
                        <a:pt x="20637" y="0"/>
                      </a:cubicBezTo>
                      <a:lnTo>
                        <a:pt x="103187" y="0"/>
                      </a:lnTo>
                      <a:cubicBezTo>
                        <a:pt x="114585" y="0"/>
                        <a:pt x="123825" y="9240"/>
                        <a:pt x="123825" y="20637"/>
                      </a:cubicBezTo>
                      <a:lnTo>
                        <a:pt x="123825" y="165099"/>
                      </a:lnTo>
                      <a:cubicBezTo>
                        <a:pt x="123825" y="176497"/>
                        <a:pt x="114585" y="185737"/>
                        <a:pt x="103187" y="185737"/>
                      </a:cubicBezTo>
                      <a:lnTo>
                        <a:pt x="20637" y="185737"/>
                      </a:lnTo>
                      <a:cubicBezTo>
                        <a:pt x="9240" y="185737"/>
                        <a:pt x="0" y="176497"/>
                        <a:pt x="0" y="165099"/>
                      </a:cubicBezTo>
                      <a:lnTo>
                        <a:pt x="0" y="20637"/>
                      </a:lnTo>
                    </a:path>
                  </a:pathLst>
                </a:custGeom>
                <a:noFill/>
                <a:ln w="20637">
                  <a:solidFill>
                    <a:srgbClr val="92301C"/>
                  </a:solidFill>
                </a:ln>
              </p:spPr>
            </p:sp>
            <p:sp>
              <p:nvSpPr>
                <p:cNvPr id="46" name="Freeform 46"/>
                <p:cNvSpPr/>
                <p:nvPr/>
              </p:nvSpPr>
              <p:spPr>
                <a:xfrm>
                  <a:off x="399256" y="3279775"/>
                  <a:ext cx="20637" cy="9525"/>
                </a:xfrm>
                <a:custGeom>
                  <a:avLst/>
                  <a:gdLst/>
                  <a:ahLst/>
                  <a:cxnLst/>
                  <a:rect l="l" t="t" r="r" b="b"/>
                  <a:pathLst>
                    <a:path w="20637" h="9525">
                      <a:moveTo>
                        <a:pt x="0" y="0"/>
                      </a:moveTo>
                      <a:lnTo>
                        <a:pt x="20637" y="0"/>
                      </a:lnTo>
                    </a:path>
                  </a:pathLst>
                </a:custGeom>
                <a:noFill/>
                <a:ln w="20637">
                  <a:solidFill>
                    <a:srgbClr val="92301C"/>
                  </a:solidFill>
                </a:ln>
              </p:spPr>
            </p:sp>
            <p:sp>
              <p:nvSpPr>
                <p:cNvPr id="47" name="Freeform 47"/>
                <p:cNvSpPr/>
                <p:nvPr/>
              </p:nvSpPr>
              <p:spPr>
                <a:xfrm>
                  <a:off x="409575" y="3413918"/>
                  <a:ext cx="9525" cy="9525"/>
                </a:xfrm>
                <a:custGeom>
                  <a:avLst/>
                  <a:gdLst/>
                  <a:ahLst/>
                  <a:cxnLst/>
                  <a:rect l="l" t="t" r="r" b="b"/>
                  <a:pathLst>
                    <a:path w="9525" h="9525">
                      <a:moveTo>
                        <a:pt x="0" y="0"/>
                      </a:moveTo>
                      <a:lnTo>
                        <a:pt x="0" y="103"/>
                      </a:lnTo>
                    </a:path>
                  </a:pathLst>
                </a:custGeom>
                <a:noFill/>
                <a:ln w="20637">
                  <a:solidFill>
                    <a:srgbClr val="92301C"/>
                  </a:solidFill>
                </a:ln>
              </p:spPr>
            </p:sp>
          </p:grpSp>
          <p:sp>
            <p:nvSpPr>
              <p:cNvPr id="49" name="TextBox 49"/>
              <p:cNvSpPr txBox="1"/>
              <p:nvPr/>
            </p:nvSpPr>
            <p:spPr>
              <a:xfrm>
                <a:off x="623697" y="31522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渠道互动</a:t>
                </a:r>
              </a:p>
            </p:txBody>
          </p:sp>
          <p:sp>
            <p:nvSpPr>
              <p:cNvPr id="50" name="TextBox 50"/>
              <p:cNvSpPr txBox="1"/>
              <p:nvPr/>
            </p:nvSpPr>
            <p:spPr>
              <a:xfrm>
                <a:off x="623888" y="3357562"/>
                <a:ext cx="2149983"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手机银行/网点/客服、活动参与/内容浏览/反馈</a:t>
                </a:r>
              </a:p>
            </p:txBody>
          </p:sp>
        </p:grpSp>
        <p:grpSp>
          <p:nvGrpSpPr>
            <p:cNvPr id="60" name="lc-5"/>
            <p:cNvGrpSpPr/>
            <p:nvPr/>
          </p:nvGrpSpPr>
          <p:grpSpPr>
            <a:xfrm>
              <a:off x="190500" y="3733800"/>
              <a:ext cx="2667000" cy="647700"/>
              <a:chOff x="190500" y="3733800"/>
              <a:chExt cx="2667000" cy="647700"/>
            </a:xfrm>
          </p:grpSpPr>
          <p:sp>
            <p:nvSpPr>
              <p:cNvPr id="52" name="Rectangle 52"/>
              <p:cNvSpPr/>
              <p:nvPr/>
            </p:nvSpPr>
            <p:spPr>
              <a:xfrm>
                <a:off x="190500" y="3733800"/>
                <a:ext cx="2667000" cy="647700"/>
              </a:xfrm>
              <a:prstGeom prst="roundRect">
                <a:avLst>
                  <a:gd name="adj" fmla="val 8824"/>
                </a:avLst>
              </a:prstGeom>
              <a:solidFill>
                <a:srgbClr val="F6F9FD"/>
              </a:solidFill>
              <a:ln w="9525">
                <a:solidFill>
                  <a:srgbClr val="CFDFEE"/>
                </a:solidFill>
              </a:ln>
            </p:spPr>
          </p:sp>
          <p:grpSp>
            <p:nvGrpSpPr>
              <p:cNvPr id="57" name="Group 57"/>
              <p:cNvGrpSpPr/>
              <p:nvPr/>
            </p:nvGrpSpPr>
            <p:grpSpPr>
              <a:xfrm>
                <a:off x="316706" y="3955256"/>
                <a:ext cx="185737" cy="175418"/>
                <a:chOff x="316706" y="3955256"/>
                <a:chExt cx="185737" cy="175418"/>
              </a:xfrm>
            </p:grpSpPr>
            <p:sp>
              <p:nvSpPr>
                <p:cNvPr id="53" name="Freeform 53"/>
                <p:cNvSpPr/>
                <p:nvPr/>
              </p:nvSpPr>
              <p:spPr>
                <a:xfrm>
                  <a:off x="316706" y="3996531"/>
                  <a:ext cx="185737" cy="134143"/>
                </a:xfrm>
                <a:custGeom>
                  <a:avLst/>
                  <a:gdLst/>
                  <a:ahLst/>
                  <a:cxnLst/>
                  <a:rect l="l" t="t" r="r" b="b"/>
                  <a:pathLst>
                    <a:path w="185737" h="134143">
                      <a:moveTo>
                        <a:pt x="0" y="20637"/>
                      </a:moveTo>
                      <a:cubicBezTo>
                        <a:pt x="0" y="9240"/>
                        <a:pt x="9240" y="0"/>
                        <a:pt x="20637" y="0"/>
                      </a:cubicBezTo>
                      <a:lnTo>
                        <a:pt x="165099" y="0"/>
                      </a:lnTo>
                      <a:cubicBezTo>
                        <a:pt x="176497" y="0"/>
                        <a:pt x="185737" y="9240"/>
                        <a:pt x="185737" y="20637"/>
                      </a:cubicBezTo>
                      <a:lnTo>
                        <a:pt x="185737" y="113506"/>
                      </a:lnTo>
                      <a:cubicBezTo>
                        <a:pt x="185737" y="124904"/>
                        <a:pt x="176497" y="134143"/>
                        <a:pt x="165099" y="134143"/>
                      </a:cubicBezTo>
                      <a:lnTo>
                        <a:pt x="20637" y="134143"/>
                      </a:lnTo>
                      <a:cubicBezTo>
                        <a:pt x="9240" y="134143"/>
                        <a:pt x="0" y="124904"/>
                        <a:pt x="0" y="113506"/>
                      </a:cubicBezTo>
                      <a:lnTo>
                        <a:pt x="0" y="20637"/>
                      </a:lnTo>
                    </a:path>
                  </a:pathLst>
                </a:custGeom>
                <a:noFill/>
                <a:ln w="20637">
                  <a:solidFill>
                    <a:srgbClr val="92301C"/>
                  </a:solidFill>
                </a:ln>
              </p:spPr>
            </p:sp>
            <p:sp>
              <p:nvSpPr>
                <p:cNvPr id="54" name="Freeform 54"/>
                <p:cNvSpPr/>
                <p:nvPr/>
              </p:nvSpPr>
              <p:spPr>
                <a:xfrm>
                  <a:off x="368300" y="3955256"/>
                  <a:ext cx="82550" cy="41275"/>
                </a:xfrm>
                <a:custGeom>
                  <a:avLst/>
                  <a:gdLst/>
                  <a:ahLst/>
                  <a:cxnLst/>
                  <a:rect l="l" t="t" r="r" b="b"/>
                  <a:pathLst>
                    <a:path w="82550" h="41275">
                      <a:moveTo>
                        <a:pt x="0" y="41275"/>
                      </a:moveTo>
                      <a:lnTo>
                        <a:pt x="0" y="20637"/>
                      </a:lnTo>
                      <a:cubicBezTo>
                        <a:pt x="0" y="9240"/>
                        <a:pt x="9240" y="0"/>
                        <a:pt x="20637" y="0"/>
                      </a:cubicBezTo>
                      <a:lnTo>
                        <a:pt x="61912" y="0"/>
                      </a:lnTo>
                      <a:cubicBezTo>
                        <a:pt x="73310" y="0"/>
                        <a:pt x="82550" y="9240"/>
                        <a:pt x="82550" y="20637"/>
                      </a:cubicBezTo>
                      <a:lnTo>
                        <a:pt x="82550" y="41275"/>
                      </a:lnTo>
                    </a:path>
                  </a:pathLst>
                </a:custGeom>
                <a:noFill/>
                <a:ln w="20637">
                  <a:solidFill>
                    <a:srgbClr val="92301C"/>
                  </a:solidFill>
                </a:ln>
              </p:spPr>
            </p:sp>
            <p:sp>
              <p:nvSpPr>
                <p:cNvPr id="55" name="Freeform 55"/>
                <p:cNvSpPr/>
                <p:nvPr/>
              </p:nvSpPr>
              <p:spPr>
                <a:xfrm>
                  <a:off x="409575" y="4048125"/>
                  <a:ext cx="9525" cy="9525"/>
                </a:xfrm>
                <a:custGeom>
                  <a:avLst/>
                  <a:gdLst/>
                  <a:ahLst/>
                  <a:cxnLst/>
                  <a:rect l="l" t="t" r="r" b="b"/>
                  <a:pathLst>
                    <a:path w="9525" h="9525">
                      <a:moveTo>
                        <a:pt x="0" y="0"/>
                      </a:moveTo>
                      <a:lnTo>
                        <a:pt x="0" y="103"/>
                      </a:lnTo>
                    </a:path>
                  </a:pathLst>
                </a:custGeom>
                <a:noFill/>
                <a:ln w="20637">
                  <a:solidFill>
                    <a:srgbClr val="92301C"/>
                  </a:solidFill>
                </a:ln>
              </p:spPr>
            </p:sp>
            <p:sp>
              <p:nvSpPr>
                <p:cNvPr id="56" name="Freeform 56"/>
                <p:cNvSpPr/>
                <p:nvPr/>
              </p:nvSpPr>
              <p:spPr>
                <a:xfrm>
                  <a:off x="316706" y="4058443"/>
                  <a:ext cx="185737" cy="29435"/>
                </a:xfrm>
                <a:custGeom>
                  <a:avLst/>
                  <a:gdLst/>
                  <a:ahLst/>
                  <a:cxnLst/>
                  <a:rect l="l" t="t" r="r" b="b"/>
                  <a:pathLst>
                    <a:path w="185737" h="29435">
                      <a:moveTo>
                        <a:pt x="0" y="0"/>
                      </a:moveTo>
                      <a:cubicBezTo>
                        <a:pt x="58414" y="29435"/>
                        <a:pt x="127323" y="29435"/>
                        <a:pt x="185737" y="0"/>
                      </a:cubicBezTo>
                    </a:path>
                  </a:pathLst>
                </a:custGeom>
                <a:noFill/>
                <a:ln w="20637">
                  <a:solidFill>
                    <a:srgbClr val="92301C"/>
                  </a:solidFill>
                </a:ln>
              </p:spPr>
            </p:sp>
          </p:grpSp>
          <p:sp>
            <p:nvSpPr>
              <p:cNvPr id="58" name="TextBox 58"/>
              <p:cNvSpPr txBox="1"/>
              <p:nvPr/>
            </p:nvSpPr>
            <p:spPr>
              <a:xfrm>
                <a:off x="623697" y="38380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产品持有</a:t>
                </a:r>
              </a:p>
            </p:txBody>
          </p:sp>
          <p:sp>
            <p:nvSpPr>
              <p:cNvPr id="59" name="TextBox 59"/>
              <p:cNvSpPr txBox="1"/>
              <p:nvPr/>
            </p:nvSpPr>
            <p:spPr>
              <a:xfrm>
                <a:off x="623888" y="4043362"/>
                <a:ext cx="1902619"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存款/理财/基金/保险、信贷/信用卡/其他</a:t>
                </a:r>
              </a:p>
            </p:txBody>
          </p:sp>
        </p:grpSp>
        <p:grpSp>
          <p:nvGrpSpPr>
            <p:cNvPr id="67" name="lc-6"/>
            <p:cNvGrpSpPr/>
            <p:nvPr/>
          </p:nvGrpSpPr>
          <p:grpSpPr>
            <a:xfrm>
              <a:off x="190500" y="4419600"/>
              <a:ext cx="2667000" cy="647700"/>
              <a:chOff x="190500" y="4419600"/>
              <a:chExt cx="2667000" cy="647700"/>
            </a:xfrm>
          </p:grpSpPr>
          <p:sp>
            <p:nvSpPr>
              <p:cNvPr id="61" name="Rectangle 61"/>
              <p:cNvSpPr/>
              <p:nvPr/>
            </p:nvSpPr>
            <p:spPr>
              <a:xfrm>
                <a:off x="190500" y="4419600"/>
                <a:ext cx="2667000" cy="647700"/>
              </a:xfrm>
              <a:prstGeom prst="roundRect">
                <a:avLst>
                  <a:gd name="adj" fmla="val 8824"/>
                </a:avLst>
              </a:prstGeom>
              <a:solidFill>
                <a:srgbClr val="F6F9FD"/>
              </a:solidFill>
              <a:ln w="9525">
                <a:solidFill>
                  <a:srgbClr val="CFDFEE"/>
                </a:solidFill>
              </a:ln>
            </p:spPr>
          </p:sp>
          <p:grpSp>
            <p:nvGrpSpPr>
              <p:cNvPr id="64" name="Group 64"/>
              <p:cNvGrpSpPr/>
              <p:nvPr/>
            </p:nvGrpSpPr>
            <p:grpSpPr>
              <a:xfrm>
                <a:off x="302781" y="4641056"/>
                <a:ext cx="201506" cy="185737"/>
                <a:chOff x="302781" y="4641056"/>
                <a:chExt cx="201506" cy="185737"/>
              </a:xfrm>
            </p:grpSpPr>
            <p:sp>
              <p:nvSpPr>
                <p:cNvPr id="62" name="Freeform 62"/>
                <p:cNvSpPr/>
                <p:nvPr/>
              </p:nvSpPr>
              <p:spPr>
                <a:xfrm>
                  <a:off x="302781" y="464105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92301C"/>
                  </a:solidFill>
                </a:ln>
              </p:spPr>
            </p:sp>
            <p:sp>
              <p:nvSpPr>
                <p:cNvPr id="63" name="Freeform 63"/>
                <p:cNvSpPr/>
                <p:nvPr/>
              </p:nvSpPr>
              <p:spPr>
                <a:xfrm>
                  <a:off x="440531" y="4785518"/>
                  <a:ext cx="61912" cy="41275"/>
                </a:xfrm>
                <a:custGeom>
                  <a:avLst/>
                  <a:gdLst/>
                  <a:ahLst/>
                  <a:cxnLst/>
                  <a:rect l="l" t="t" r="r" b="b"/>
                  <a:pathLst>
                    <a:path w="61912" h="41275">
                      <a:moveTo>
                        <a:pt x="0" y="20637"/>
                      </a:moveTo>
                      <a:lnTo>
                        <a:pt x="20637" y="41275"/>
                      </a:lnTo>
                      <a:lnTo>
                        <a:pt x="61912" y="0"/>
                      </a:lnTo>
                    </a:path>
                  </a:pathLst>
                </a:custGeom>
                <a:noFill/>
                <a:ln w="20637">
                  <a:solidFill>
                    <a:srgbClr val="92301C"/>
                  </a:solidFill>
                </a:ln>
              </p:spPr>
            </p:sp>
          </p:grpSp>
          <p:sp>
            <p:nvSpPr>
              <p:cNvPr id="65" name="TextBox 65"/>
              <p:cNvSpPr txBox="1"/>
              <p:nvPr/>
            </p:nvSpPr>
            <p:spPr>
              <a:xfrm>
                <a:off x="623697" y="45238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风险偏好</a:t>
                </a:r>
              </a:p>
            </p:txBody>
          </p:sp>
          <p:sp>
            <p:nvSpPr>
              <p:cNvPr id="66" name="TextBox 66"/>
              <p:cNvSpPr txBox="1"/>
              <p:nvPr/>
            </p:nvSpPr>
            <p:spPr>
              <a:xfrm>
                <a:off x="623888" y="4729162"/>
                <a:ext cx="1937956"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风险测评/投资经验、收益预期/流动性偏好</a:t>
                </a:r>
              </a:p>
            </p:txBody>
          </p:sp>
        </p:grpSp>
      </p:grpSp>
      <p:grpSp>
        <p:nvGrpSpPr>
          <p:cNvPr id="147" name="mid-flow"/>
          <p:cNvGrpSpPr/>
          <p:nvPr/>
        </p:nvGrpSpPr>
        <p:grpSpPr>
          <a:xfrm>
            <a:off x="3061811" y="1114425"/>
            <a:ext cx="5320875" cy="1866901"/>
            <a:chOff x="3061811" y="1114425"/>
            <a:chExt cx="5320875" cy="1866901"/>
          </a:xfrm>
        </p:grpSpPr>
        <p:grpSp>
          <p:nvGrpSpPr>
            <p:cNvPr id="79" name="mf-1"/>
            <p:cNvGrpSpPr/>
            <p:nvPr/>
          </p:nvGrpSpPr>
          <p:grpSpPr>
            <a:xfrm>
              <a:off x="3061811" y="1114425"/>
              <a:ext cx="696278" cy="1866901"/>
              <a:chOff x="3061811" y="1114425"/>
              <a:chExt cx="696278" cy="1866901"/>
            </a:xfrm>
          </p:grpSpPr>
          <p:sp>
            <p:nvSpPr>
              <p:cNvPr id="69" name="Ellipse 69"/>
              <p:cNvSpPr/>
              <p:nvPr/>
            </p:nvSpPr>
            <p:spPr>
              <a:xfrm>
                <a:off x="3267075" y="1114425"/>
                <a:ext cx="285750" cy="285750"/>
              </a:xfrm>
              <a:prstGeom prst="ellipse">
                <a:avLst/>
              </a:prstGeom>
              <a:solidFill>
                <a:srgbClr val="92301C"/>
              </a:solidFill>
              <a:ln>
                <a:noFill/>
              </a:ln>
            </p:spPr>
          </p:sp>
          <p:sp>
            <p:nvSpPr>
              <p:cNvPr id="70" name="TextBox 70"/>
              <p:cNvSpPr txBox="1"/>
              <p:nvPr/>
            </p:nvSpPr>
            <p:spPr>
              <a:xfrm>
                <a:off x="3365306" y="1191578"/>
                <a:ext cx="8928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j-lt"/>
                    <a:ea typeface="+mj-ea"/>
                    <a:cs typeface="+mj-cs"/>
                  </a:rPr>
                  <a:t>1</a:t>
                </a:r>
              </a:p>
            </p:txBody>
          </p:sp>
          <p:sp>
            <p:nvSpPr>
              <p:cNvPr id="71" name="Ellipse 71"/>
              <p:cNvSpPr/>
              <p:nvPr/>
            </p:nvSpPr>
            <p:spPr>
              <a:xfrm>
                <a:off x="3162300" y="1619250"/>
                <a:ext cx="495300" cy="495300"/>
              </a:xfrm>
              <a:prstGeom prst="ellipse">
                <a:avLst/>
              </a:prstGeom>
              <a:solidFill>
                <a:srgbClr val="EEF5FB"/>
              </a:solidFill>
              <a:ln w="14288">
                <a:solidFill>
                  <a:srgbClr val="D6E6F3"/>
                </a:solidFill>
              </a:ln>
            </p:spPr>
          </p:sp>
          <p:grpSp>
            <p:nvGrpSpPr>
              <p:cNvPr id="74" name="Group 74"/>
              <p:cNvGrpSpPr/>
              <p:nvPr/>
            </p:nvGrpSpPr>
            <p:grpSpPr>
              <a:xfrm>
                <a:off x="3317081" y="1774031"/>
                <a:ext cx="188182" cy="188182"/>
                <a:chOff x="3317081" y="1774031"/>
                <a:chExt cx="188182" cy="188182"/>
              </a:xfrm>
            </p:grpSpPr>
            <p:sp>
              <p:nvSpPr>
                <p:cNvPr id="72" name="Freeform 72"/>
                <p:cNvSpPr/>
                <p:nvPr/>
              </p:nvSpPr>
              <p:spPr>
                <a:xfrm>
                  <a:off x="3353197" y="1810147"/>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92301C"/>
                  </a:solidFill>
                </a:ln>
              </p:spPr>
            </p:sp>
            <p:sp>
              <p:nvSpPr>
                <p:cNvPr id="73" name="Freeform 73"/>
                <p:cNvSpPr/>
                <p:nvPr/>
              </p:nvSpPr>
              <p:spPr>
                <a:xfrm>
                  <a:off x="3317081" y="1774031"/>
                  <a:ext cx="188182" cy="188182"/>
                </a:xfrm>
                <a:custGeom>
                  <a:avLst/>
                  <a:gdLst/>
                  <a:ahLst/>
                  <a:cxnLst/>
                  <a:rect l="l" t="t" r="r" b="b"/>
                  <a:pathLst>
                    <a:path w="188182" h="188182">
                      <a:moveTo>
                        <a:pt x="0" y="30956"/>
                      </a:moveTo>
                      <a:lnTo>
                        <a:pt x="0" y="84325"/>
                      </a:lnTo>
                      <a:cubicBezTo>
                        <a:pt x="1" y="89798"/>
                        <a:pt x="2176" y="95046"/>
                        <a:pt x="6047" y="98915"/>
                      </a:cubicBezTo>
                      <a:lnTo>
                        <a:pt x="85604" y="178473"/>
                      </a:lnTo>
                      <a:cubicBezTo>
                        <a:pt x="95315" y="188182"/>
                        <a:pt x="111059" y="188182"/>
                        <a:pt x="120770" y="178473"/>
                      </a:cubicBezTo>
                      <a:lnTo>
                        <a:pt x="178473" y="120770"/>
                      </a:lnTo>
                      <a:cubicBezTo>
                        <a:pt x="188182" y="111059"/>
                        <a:pt x="188182" y="95315"/>
                        <a:pt x="178473" y="85604"/>
                      </a:cubicBezTo>
                      <a:lnTo>
                        <a:pt x="98915" y="6047"/>
                      </a:lnTo>
                      <a:cubicBezTo>
                        <a:pt x="95046" y="2176"/>
                        <a:pt x="89798" y="1"/>
                        <a:pt x="84325" y="0"/>
                      </a:cubicBezTo>
                      <a:lnTo>
                        <a:pt x="30956" y="0"/>
                      </a:lnTo>
                      <a:cubicBezTo>
                        <a:pt x="22746" y="0"/>
                        <a:pt x="14872" y="3261"/>
                        <a:pt x="9067" y="9067"/>
                      </a:cubicBezTo>
                      <a:cubicBezTo>
                        <a:pt x="3261" y="14872"/>
                        <a:pt x="0" y="22746"/>
                        <a:pt x="0" y="30956"/>
                      </a:cubicBezTo>
                    </a:path>
                  </a:pathLst>
                </a:custGeom>
                <a:noFill/>
                <a:ln w="20637">
                  <a:solidFill>
                    <a:srgbClr val="92301C"/>
                  </a:solidFill>
                </a:ln>
              </p:spPr>
            </p:sp>
          </p:grpSp>
          <p:sp>
            <p:nvSpPr>
              <p:cNvPr id="75" name="TextBox 75"/>
              <p:cNvSpPr txBox="1"/>
              <p:nvPr/>
            </p:nvSpPr>
            <p:spPr>
              <a:xfrm>
                <a:off x="3141142" y="227599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标签生成</a:t>
                </a:r>
              </a:p>
            </p:txBody>
          </p:sp>
          <p:sp>
            <p:nvSpPr>
              <p:cNvPr id="76" name="TextBox 76"/>
              <p:cNvSpPr txBox="1"/>
              <p:nvPr/>
            </p:nvSpPr>
            <p:spPr>
              <a:xfrm>
                <a:off x="3061811" y="250983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多源数据整合</a:t>
                </a:r>
              </a:p>
            </p:txBody>
          </p:sp>
          <p:sp>
            <p:nvSpPr>
              <p:cNvPr id="77" name="TextBox 77"/>
              <p:cNvSpPr txBox="1"/>
              <p:nvPr/>
            </p:nvSpPr>
            <p:spPr>
              <a:xfrm>
                <a:off x="3061811" y="2671762"/>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客户画像构建</a:t>
                </a:r>
              </a:p>
            </p:txBody>
          </p:sp>
          <p:sp>
            <p:nvSpPr>
              <p:cNvPr id="78" name="TextBox 78"/>
              <p:cNvSpPr txBox="1"/>
              <p:nvPr/>
            </p:nvSpPr>
            <p:spPr>
              <a:xfrm>
                <a:off x="3061811" y="283368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动态标签更新</a:t>
                </a:r>
              </a:p>
            </p:txBody>
          </p:sp>
        </p:grpSp>
        <p:grpSp>
          <p:nvGrpSpPr>
            <p:cNvPr id="91" name="mf-2"/>
            <p:cNvGrpSpPr/>
            <p:nvPr/>
          </p:nvGrpSpPr>
          <p:grpSpPr>
            <a:xfrm>
              <a:off x="3976211" y="1114425"/>
              <a:ext cx="696278" cy="1866901"/>
              <a:chOff x="3976211" y="1114425"/>
              <a:chExt cx="696278" cy="1866901"/>
            </a:xfrm>
          </p:grpSpPr>
          <p:sp>
            <p:nvSpPr>
              <p:cNvPr id="80" name="Ellipse 80"/>
              <p:cNvSpPr/>
              <p:nvPr/>
            </p:nvSpPr>
            <p:spPr>
              <a:xfrm>
                <a:off x="4181475" y="1114425"/>
                <a:ext cx="285750" cy="285750"/>
              </a:xfrm>
              <a:prstGeom prst="ellipse">
                <a:avLst/>
              </a:prstGeom>
              <a:solidFill>
                <a:srgbClr val="92301C"/>
              </a:solidFill>
              <a:ln>
                <a:noFill/>
              </a:ln>
            </p:spPr>
          </p:sp>
          <p:sp>
            <p:nvSpPr>
              <p:cNvPr id="81" name="TextBox 81"/>
              <p:cNvSpPr txBox="1"/>
              <p:nvPr/>
            </p:nvSpPr>
            <p:spPr>
              <a:xfrm>
                <a:off x="4279706" y="1191578"/>
                <a:ext cx="8928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j-lt"/>
                    <a:ea typeface="+mj-ea"/>
                    <a:cs typeface="+mj-cs"/>
                  </a:rPr>
                  <a:t>2</a:t>
                </a:r>
              </a:p>
            </p:txBody>
          </p:sp>
          <p:sp>
            <p:nvSpPr>
              <p:cNvPr id="82" name="Ellipse 82"/>
              <p:cNvSpPr/>
              <p:nvPr/>
            </p:nvSpPr>
            <p:spPr>
              <a:xfrm>
                <a:off x="4076700" y="1619250"/>
                <a:ext cx="495300" cy="495300"/>
              </a:xfrm>
              <a:prstGeom prst="ellipse">
                <a:avLst/>
              </a:prstGeom>
              <a:solidFill>
                <a:srgbClr val="EEF5FB"/>
              </a:solidFill>
              <a:ln w="14288">
                <a:solidFill>
                  <a:srgbClr val="D6E6F3"/>
                </a:solidFill>
              </a:ln>
            </p:spPr>
          </p:sp>
          <p:grpSp>
            <p:nvGrpSpPr>
              <p:cNvPr id="86" name="Group 86"/>
              <p:cNvGrpSpPr/>
              <p:nvPr/>
            </p:nvGrpSpPr>
            <p:grpSpPr>
              <a:xfrm>
                <a:off x="4231481" y="1774031"/>
                <a:ext cx="185737" cy="185737"/>
                <a:chOff x="4231481" y="1774031"/>
                <a:chExt cx="185737" cy="185737"/>
              </a:xfrm>
            </p:grpSpPr>
            <p:sp>
              <p:nvSpPr>
                <p:cNvPr id="83" name="Freeform 83"/>
                <p:cNvSpPr/>
                <p:nvPr/>
              </p:nvSpPr>
              <p:spPr>
                <a:xfrm>
                  <a:off x="4231481" y="1774031"/>
                  <a:ext cx="185737" cy="92868"/>
                </a:xfrm>
                <a:custGeom>
                  <a:avLst/>
                  <a:gdLst/>
                  <a:ahLst/>
                  <a:cxnLst/>
                  <a:rect l="l" t="t" r="r" b="b"/>
                  <a:pathLst>
                    <a:path w="185737" h="92868">
                      <a:moveTo>
                        <a:pt x="0" y="92868"/>
                      </a:moveTo>
                      <a:lnTo>
                        <a:pt x="10319" y="92868"/>
                      </a:lnTo>
                      <a:moveTo>
                        <a:pt x="92868" y="0"/>
                      </a:moveTo>
                      <a:lnTo>
                        <a:pt x="92868" y="10319"/>
                      </a:lnTo>
                      <a:moveTo>
                        <a:pt x="175418" y="92868"/>
                      </a:moveTo>
                      <a:lnTo>
                        <a:pt x="185737" y="92868"/>
                      </a:lnTo>
                      <a:moveTo>
                        <a:pt x="26829" y="26829"/>
                      </a:moveTo>
                      <a:lnTo>
                        <a:pt x="34052" y="34052"/>
                      </a:lnTo>
                      <a:moveTo>
                        <a:pt x="158908" y="26829"/>
                      </a:moveTo>
                      <a:lnTo>
                        <a:pt x="151685" y="34052"/>
                      </a:lnTo>
                    </a:path>
                  </a:pathLst>
                </a:custGeom>
                <a:noFill/>
                <a:ln w="20637">
                  <a:solidFill>
                    <a:srgbClr val="92301C"/>
                  </a:solidFill>
                </a:ln>
              </p:spPr>
            </p:sp>
            <p:sp>
              <p:nvSpPr>
                <p:cNvPr id="84" name="Freeform 84"/>
                <p:cNvSpPr/>
                <p:nvPr/>
              </p:nvSpPr>
              <p:spPr>
                <a:xfrm>
                  <a:off x="4268381" y="1815306"/>
                  <a:ext cx="111937" cy="144462"/>
                </a:xfrm>
                <a:custGeom>
                  <a:avLst/>
                  <a:gdLst/>
                  <a:ahLst/>
                  <a:cxnLst/>
                  <a:rect l="l" t="t" r="r" b="b"/>
                  <a:pathLst>
                    <a:path w="111937" h="144462">
                      <a:moveTo>
                        <a:pt x="25012" y="92868"/>
                      </a:moveTo>
                      <a:cubicBezTo>
                        <a:pt x="7246" y="79544"/>
                        <a:pt x="0" y="56346"/>
                        <a:pt x="7023" y="35278"/>
                      </a:cubicBezTo>
                      <a:cubicBezTo>
                        <a:pt x="14045" y="14210"/>
                        <a:pt x="33761" y="0"/>
                        <a:pt x="55969" y="0"/>
                      </a:cubicBezTo>
                      <a:cubicBezTo>
                        <a:pt x="78176" y="0"/>
                        <a:pt x="97892" y="14210"/>
                        <a:pt x="104915" y="35278"/>
                      </a:cubicBezTo>
                      <a:cubicBezTo>
                        <a:pt x="111937" y="56346"/>
                        <a:pt x="104691" y="79544"/>
                        <a:pt x="86925" y="92868"/>
                      </a:cubicBezTo>
                      <a:cubicBezTo>
                        <a:pt x="78754" y="100957"/>
                        <a:pt x="74922" y="112452"/>
                        <a:pt x="76606" y="123825"/>
                      </a:cubicBezTo>
                      <a:cubicBezTo>
                        <a:pt x="76606" y="135222"/>
                        <a:pt x="67366" y="144462"/>
                        <a:pt x="55969" y="144462"/>
                      </a:cubicBezTo>
                      <a:cubicBezTo>
                        <a:pt x="44571" y="144462"/>
                        <a:pt x="35331" y="135222"/>
                        <a:pt x="35331" y="123825"/>
                      </a:cubicBezTo>
                      <a:cubicBezTo>
                        <a:pt x="37015" y="112452"/>
                        <a:pt x="33183" y="100957"/>
                        <a:pt x="25012" y="92868"/>
                      </a:cubicBezTo>
                    </a:path>
                  </a:pathLst>
                </a:custGeom>
                <a:noFill/>
                <a:ln w="20637">
                  <a:solidFill>
                    <a:srgbClr val="92301C"/>
                  </a:solidFill>
                </a:ln>
              </p:spPr>
            </p:sp>
            <p:sp>
              <p:nvSpPr>
                <p:cNvPr id="85" name="Freeform 85"/>
                <p:cNvSpPr/>
                <p:nvPr/>
              </p:nvSpPr>
              <p:spPr>
                <a:xfrm>
                  <a:off x="4300617" y="1918493"/>
                  <a:ext cx="47466" cy="9525"/>
                </a:xfrm>
                <a:custGeom>
                  <a:avLst/>
                  <a:gdLst/>
                  <a:ahLst/>
                  <a:cxnLst/>
                  <a:rect l="l" t="t" r="r" b="b"/>
                  <a:pathLst>
                    <a:path w="47466" h="9525">
                      <a:moveTo>
                        <a:pt x="0" y="0"/>
                      </a:moveTo>
                      <a:lnTo>
                        <a:pt x="47466" y="0"/>
                      </a:lnTo>
                    </a:path>
                  </a:pathLst>
                </a:custGeom>
                <a:noFill/>
                <a:ln w="20637">
                  <a:solidFill>
                    <a:srgbClr val="92301C"/>
                  </a:solidFill>
                </a:ln>
              </p:spPr>
            </p:sp>
          </p:grpSp>
          <p:sp>
            <p:nvSpPr>
              <p:cNvPr id="87" name="TextBox 87"/>
              <p:cNvSpPr txBox="1"/>
              <p:nvPr/>
            </p:nvSpPr>
            <p:spPr>
              <a:xfrm>
                <a:off x="4055542" y="227599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需求识别</a:t>
                </a:r>
              </a:p>
            </p:txBody>
          </p:sp>
          <p:sp>
            <p:nvSpPr>
              <p:cNvPr id="88" name="TextBox 88"/>
              <p:cNvSpPr txBox="1"/>
              <p:nvPr/>
            </p:nvSpPr>
            <p:spPr>
              <a:xfrm>
                <a:off x="3976211" y="250983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显性需求分析</a:t>
                </a:r>
              </a:p>
            </p:txBody>
          </p:sp>
          <p:sp>
            <p:nvSpPr>
              <p:cNvPr id="89" name="TextBox 89"/>
              <p:cNvSpPr txBox="1"/>
              <p:nvPr/>
            </p:nvSpPr>
            <p:spPr>
              <a:xfrm>
                <a:off x="3976211" y="2671762"/>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潜在需求挖掘</a:t>
                </a:r>
              </a:p>
            </p:txBody>
          </p:sp>
          <p:sp>
            <p:nvSpPr>
              <p:cNvPr id="90" name="TextBox 90"/>
              <p:cNvSpPr txBox="1"/>
              <p:nvPr/>
            </p:nvSpPr>
            <p:spPr>
              <a:xfrm>
                <a:off x="3976211" y="283368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需求强度评估</a:t>
                </a:r>
              </a:p>
            </p:txBody>
          </p:sp>
        </p:grpSp>
        <p:grpSp>
          <p:nvGrpSpPr>
            <p:cNvPr id="106" name="mf-3"/>
            <p:cNvGrpSpPr/>
            <p:nvPr/>
          </p:nvGrpSpPr>
          <p:grpSpPr>
            <a:xfrm>
              <a:off x="4840129" y="1114425"/>
              <a:ext cx="797242" cy="1866901"/>
              <a:chOff x="4840129" y="1114425"/>
              <a:chExt cx="797242" cy="1866901"/>
            </a:xfrm>
          </p:grpSpPr>
          <p:sp>
            <p:nvSpPr>
              <p:cNvPr id="92" name="Ellipse 92"/>
              <p:cNvSpPr/>
              <p:nvPr/>
            </p:nvSpPr>
            <p:spPr>
              <a:xfrm>
                <a:off x="5095875" y="1114425"/>
                <a:ext cx="285750" cy="285750"/>
              </a:xfrm>
              <a:prstGeom prst="ellipse">
                <a:avLst/>
              </a:prstGeom>
              <a:solidFill>
                <a:srgbClr val="92301C"/>
              </a:solidFill>
              <a:ln>
                <a:noFill/>
              </a:ln>
            </p:spPr>
          </p:sp>
          <p:sp>
            <p:nvSpPr>
              <p:cNvPr id="93" name="TextBox 93"/>
              <p:cNvSpPr txBox="1"/>
              <p:nvPr/>
            </p:nvSpPr>
            <p:spPr>
              <a:xfrm>
                <a:off x="5194106" y="1191578"/>
                <a:ext cx="8928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j-lt"/>
                    <a:ea typeface="+mj-ea"/>
                    <a:cs typeface="+mj-cs"/>
                  </a:rPr>
                  <a:t>3</a:t>
                </a:r>
              </a:p>
            </p:txBody>
          </p:sp>
          <p:sp>
            <p:nvSpPr>
              <p:cNvPr id="94" name="Ellipse 94"/>
              <p:cNvSpPr/>
              <p:nvPr/>
            </p:nvSpPr>
            <p:spPr>
              <a:xfrm>
                <a:off x="4991100" y="1619250"/>
                <a:ext cx="495300" cy="495300"/>
              </a:xfrm>
              <a:prstGeom prst="ellipse">
                <a:avLst/>
              </a:prstGeom>
              <a:solidFill>
                <a:srgbClr val="EEF5FB"/>
              </a:solidFill>
              <a:ln w="14288">
                <a:solidFill>
                  <a:srgbClr val="D6E6F3"/>
                </a:solidFill>
              </a:ln>
            </p:spPr>
          </p:sp>
          <p:grpSp>
            <p:nvGrpSpPr>
              <p:cNvPr id="101" name="Group 101"/>
              <p:cNvGrpSpPr/>
              <p:nvPr/>
            </p:nvGrpSpPr>
            <p:grpSpPr>
              <a:xfrm>
                <a:off x="5145881" y="1774031"/>
                <a:ext cx="185737" cy="185737"/>
                <a:chOff x="5145881" y="1774031"/>
                <a:chExt cx="185737" cy="185737"/>
              </a:xfrm>
            </p:grpSpPr>
            <p:sp>
              <p:nvSpPr>
                <p:cNvPr id="95" name="Freeform 95"/>
                <p:cNvSpPr/>
                <p:nvPr/>
              </p:nvSpPr>
              <p:spPr>
                <a:xfrm>
                  <a:off x="5218112" y="185658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96" name="Freeform 96"/>
                <p:cNvSpPr/>
                <p:nvPr/>
              </p:nvSpPr>
              <p:spPr>
                <a:xfrm>
                  <a:off x="5197475" y="1928812"/>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92301C"/>
                  </a:solidFill>
                </a:ln>
              </p:spPr>
            </p:sp>
            <p:sp>
              <p:nvSpPr>
                <p:cNvPr id="97" name="Freeform 97"/>
                <p:cNvSpPr/>
                <p:nvPr/>
              </p:nvSpPr>
              <p:spPr>
                <a:xfrm>
                  <a:off x="5269706" y="17740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98" name="Freeform 98"/>
                <p:cNvSpPr/>
                <p:nvPr/>
              </p:nvSpPr>
              <p:spPr>
                <a:xfrm>
                  <a:off x="5290343" y="1846262"/>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92301C"/>
                  </a:solidFill>
                </a:ln>
              </p:spPr>
            </p:sp>
            <p:sp>
              <p:nvSpPr>
                <p:cNvPr id="99" name="Freeform 99"/>
                <p:cNvSpPr/>
                <p:nvPr/>
              </p:nvSpPr>
              <p:spPr>
                <a:xfrm>
                  <a:off x="5166519" y="17740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100" name="Freeform 100"/>
                <p:cNvSpPr/>
                <p:nvPr/>
              </p:nvSpPr>
              <p:spPr>
                <a:xfrm>
                  <a:off x="5145881" y="1846262"/>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92301C"/>
                  </a:solidFill>
                </a:ln>
              </p:spPr>
            </p:sp>
          </p:grpSp>
          <p:sp>
            <p:nvSpPr>
              <p:cNvPr id="102" name="TextBox 102"/>
              <p:cNvSpPr txBox="1"/>
              <p:nvPr/>
            </p:nvSpPr>
            <p:spPr>
              <a:xfrm>
                <a:off x="4969942" y="227599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价值分层</a:t>
                </a:r>
              </a:p>
            </p:txBody>
          </p:sp>
          <p:sp>
            <p:nvSpPr>
              <p:cNvPr id="103" name="TextBox 103"/>
              <p:cNvSpPr txBox="1"/>
              <p:nvPr/>
            </p:nvSpPr>
            <p:spPr>
              <a:xfrm>
                <a:off x="4890611" y="250983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客户价值评估</a:t>
                </a:r>
              </a:p>
            </p:txBody>
          </p:sp>
          <p:sp>
            <p:nvSpPr>
              <p:cNvPr id="104" name="TextBox 104"/>
              <p:cNvSpPr txBox="1"/>
              <p:nvPr/>
            </p:nvSpPr>
            <p:spPr>
              <a:xfrm>
                <a:off x="4851787" y="2671762"/>
                <a:ext cx="773927" cy="147638"/>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750" dirty="0">
                    <a:solidFill>
                      <a:srgbClr val="52352F"/>
                    </a:solidFill>
                    <a:latin typeface="+mj-lt"/>
                    <a:ea typeface="+mj-ea"/>
                    <a:cs typeface="+mj-cs"/>
                  </a:rPr>
                  <a:t xml:space="preserve">A/B/C/D分层　</a:t>
                </a:r>
              </a:p>
            </p:txBody>
          </p:sp>
          <p:sp>
            <p:nvSpPr>
              <p:cNvPr id="105" name="TextBox 105"/>
              <p:cNvSpPr txBox="1"/>
              <p:nvPr/>
            </p:nvSpPr>
            <p:spPr>
              <a:xfrm>
                <a:off x="4840129" y="2833688"/>
                <a:ext cx="797242"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差异化经营策略</a:t>
                </a:r>
              </a:p>
            </p:txBody>
          </p:sp>
        </p:grpSp>
        <p:grpSp>
          <p:nvGrpSpPr>
            <p:cNvPr id="117" name="mf-4"/>
            <p:cNvGrpSpPr/>
            <p:nvPr/>
          </p:nvGrpSpPr>
          <p:grpSpPr>
            <a:xfrm>
              <a:off x="5805011" y="1114425"/>
              <a:ext cx="696278" cy="1866901"/>
              <a:chOff x="5805011" y="1114425"/>
              <a:chExt cx="696278" cy="1866901"/>
            </a:xfrm>
          </p:grpSpPr>
          <p:sp>
            <p:nvSpPr>
              <p:cNvPr id="107" name="Ellipse 107"/>
              <p:cNvSpPr/>
              <p:nvPr/>
            </p:nvSpPr>
            <p:spPr>
              <a:xfrm>
                <a:off x="6010275" y="1114425"/>
                <a:ext cx="285750" cy="285750"/>
              </a:xfrm>
              <a:prstGeom prst="ellipse">
                <a:avLst/>
              </a:prstGeom>
              <a:solidFill>
                <a:srgbClr val="92301C"/>
              </a:solidFill>
              <a:ln>
                <a:noFill/>
              </a:ln>
            </p:spPr>
          </p:sp>
          <p:sp>
            <p:nvSpPr>
              <p:cNvPr id="108" name="TextBox 108"/>
              <p:cNvSpPr txBox="1"/>
              <p:nvPr/>
            </p:nvSpPr>
            <p:spPr>
              <a:xfrm>
                <a:off x="6108506" y="1191578"/>
                <a:ext cx="8928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j-lt"/>
                    <a:ea typeface="+mj-ea"/>
                    <a:cs typeface="+mj-cs"/>
                  </a:rPr>
                  <a:t>4</a:t>
                </a:r>
              </a:p>
            </p:txBody>
          </p:sp>
          <p:sp>
            <p:nvSpPr>
              <p:cNvPr id="109" name="Ellipse 109"/>
              <p:cNvSpPr/>
              <p:nvPr/>
            </p:nvSpPr>
            <p:spPr>
              <a:xfrm>
                <a:off x="5905500" y="1619250"/>
                <a:ext cx="495300" cy="495300"/>
              </a:xfrm>
              <a:prstGeom prst="ellipse">
                <a:avLst/>
              </a:prstGeom>
              <a:solidFill>
                <a:srgbClr val="EEF5FB"/>
              </a:solidFill>
              <a:ln w="14288">
                <a:solidFill>
                  <a:srgbClr val="D6E6F3"/>
                </a:solidFill>
              </a:ln>
            </p:spPr>
          </p:sp>
          <p:grpSp>
            <p:nvGrpSpPr>
              <p:cNvPr id="112" name="Group 112"/>
              <p:cNvGrpSpPr/>
              <p:nvPr/>
            </p:nvGrpSpPr>
            <p:grpSpPr>
              <a:xfrm>
                <a:off x="6060281" y="1774031"/>
                <a:ext cx="185737" cy="185737"/>
                <a:chOff x="6060281" y="1774031"/>
                <a:chExt cx="185737" cy="185737"/>
              </a:xfrm>
            </p:grpSpPr>
            <p:sp>
              <p:nvSpPr>
                <p:cNvPr id="110" name="Freeform 110"/>
                <p:cNvSpPr/>
                <p:nvPr/>
              </p:nvSpPr>
              <p:spPr>
                <a:xfrm>
                  <a:off x="6060281" y="17740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92301C"/>
                  </a:solidFill>
                </a:ln>
              </p:spPr>
            </p:sp>
            <p:sp>
              <p:nvSpPr>
                <p:cNvPr id="111" name="Freeform 111"/>
                <p:cNvSpPr/>
                <p:nvPr/>
              </p:nvSpPr>
              <p:spPr>
                <a:xfrm>
                  <a:off x="6153150" y="1815306"/>
                  <a:ext cx="30956" cy="82550"/>
                </a:xfrm>
                <a:custGeom>
                  <a:avLst/>
                  <a:gdLst/>
                  <a:ahLst/>
                  <a:cxnLst/>
                  <a:rect l="l" t="t" r="r" b="b"/>
                  <a:pathLst>
                    <a:path w="30956" h="82550">
                      <a:moveTo>
                        <a:pt x="0" y="0"/>
                      </a:moveTo>
                      <a:lnTo>
                        <a:pt x="0" y="51594"/>
                      </a:lnTo>
                      <a:lnTo>
                        <a:pt x="30956" y="82550"/>
                      </a:lnTo>
                    </a:path>
                  </a:pathLst>
                </a:custGeom>
                <a:noFill/>
                <a:ln w="20637">
                  <a:solidFill>
                    <a:srgbClr val="92301C"/>
                  </a:solidFill>
                </a:ln>
              </p:spPr>
            </p:sp>
          </p:grpSp>
          <p:sp>
            <p:nvSpPr>
              <p:cNvPr id="113" name="TextBox 113"/>
              <p:cNvSpPr txBox="1"/>
              <p:nvPr/>
            </p:nvSpPr>
            <p:spPr>
              <a:xfrm>
                <a:off x="5884342" y="227599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时机判断</a:t>
                </a:r>
              </a:p>
            </p:txBody>
          </p:sp>
          <p:sp>
            <p:nvSpPr>
              <p:cNvPr id="114" name="TextBox 114"/>
              <p:cNvSpPr txBox="1"/>
              <p:nvPr/>
            </p:nvSpPr>
            <p:spPr>
              <a:xfrm>
                <a:off x="5805011" y="250983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生命周期阶段</a:t>
                </a:r>
              </a:p>
            </p:txBody>
          </p:sp>
          <p:sp>
            <p:nvSpPr>
              <p:cNvPr id="115" name="TextBox 115"/>
              <p:cNvSpPr txBox="1"/>
              <p:nvPr/>
            </p:nvSpPr>
            <p:spPr>
              <a:xfrm>
                <a:off x="5805011" y="2671762"/>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关键事件触发</a:t>
                </a:r>
              </a:p>
            </p:txBody>
          </p:sp>
          <p:sp>
            <p:nvSpPr>
              <p:cNvPr id="116" name="TextBox 116"/>
              <p:cNvSpPr txBox="1"/>
              <p:nvPr/>
            </p:nvSpPr>
            <p:spPr>
              <a:xfrm>
                <a:off x="5805011" y="283368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实时行为信号</a:t>
                </a:r>
              </a:p>
            </p:txBody>
          </p:sp>
        </p:grpSp>
        <p:grpSp>
          <p:nvGrpSpPr>
            <p:cNvPr id="129" name="mf-5"/>
            <p:cNvGrpSpPr/>
            <p:nvPr/>
          </p:nvGrpSpPr>
          <p:grpSpPr>
            <a:xfrm>
              <a:off x="6719411" y="1114425"/>
              <a:ext cx="696278" cy="1866901"/>
              <a:chOff x="6719411" y="1114425"/>
              <a:chExt cx="696278" cy="1866901"/>
            </a:xfrm>
          </p:grpSpPr>
          <p:sp>
            <p:nvSpPr>
              <p:cNvPr id="118" name="Ellipse 118"/>
              <p:cNvSpPr/>
              <p:nvPr/>
            </p:nvSpPr>
            <p:spPr>
              <a:xfrm>
                <a:off x="6924675" y="1114425"/>
                <a:ext cx="285750" cy="285750"/>
              </a:xfrm>
              <a:prstGeom prst="ellipse">
                <a:avLst/>
              </a:prstGeom>
              <a:solidFill>
                <a:srgbClr val="92301C"/>
              </a:solidFill>
              <a:ln>
                <a:noFill/>
              </a:ln>
            </p:spPr>
          </p:sp>
          <p:sp>
            <p:nvSpPr>
              <p:cNvPr id="119" name="TextBox 119"/>
              <p:cNvSpPr txBox="1"/>
              <p:nvPr/>
            </p:nvSpPr>
            <p:spPr>
              <a:xfrm>
                <a:off x="7022906" y="1191578"/>
                <a:ext cx="8928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j-lt"/>
                    <a:ea typeface="+mj-ea"/>
                    <a:cs typeface="+mj-cs"/>
                  </a:rPr>
                  <a:t>5</a:t>
                </a:r>
              </a:p>
            </p:txBody>
          </p:sp>
          <p:sp>
            <p:nvSpPr>
              <p:cNvPr id="120" name="Ellipse 120"/>
              <p:cNvSpPr/>
              <p:nvPr/>
            </p:nvSpPr>
            <p:spPr>
              <a:xfrm>
                <a:off x="6819900" y="1619250"/>
                <a:ext cx="495300" cy="495300"/>
              </a:xfrm>
              <a:prstGeom prst="ellipse">
                <a:avLst/>
              </a:prstGeom>
              <a:solidFill>
                <a:srgbClr val="EEF5FB"/>
              </a:solidFill>
              <a:ln w="14288">
                <a:solidFill>
                  <a:srgbClr val="D6E6F3"/>
                </a:solidFill>
              </a:ln>
            </p:spPr>
          </p:sp>
          <p:grpSp>
            <p:nvGrpSpPr>
              <p:cNvPr id="124" name="Group 124"/>
              <p:cNvGrpSpPr/>
              <p:nvPr/>
            </p:nvGrpSpPr>
            <p:grpSpPr>
              <a:xfrm>
                <a:off x="6974681" y="1774031"/>
                <a:ext cx="185737" cy="185737"/>
                <a:chOff x="6974681" y="1774031"/>
                <a:chExt cx="185737" cy="185737"/>
              </a:xfrm>
            </p:grpSpPr>
            <p:sp>
              <p:nvSpPr>
                <p:cNvPr id="121" name="Freeform 121"/>
                <p:cNvSpPr/>
                <p:nvPr/>
              </p:nvSpPr>
              <p:spPr>
                <a:xfrm>
                  <a:off x="7057231" y="1856581"/>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92301C"/>
                  </a:solidFill>
                </a:ln>
              </p:spPr>
            </p:sp>
            <p:sp>
              <p:nvSpPr>
                <p:cNvPr id="122" name="Freeform 122"/>
                <p:cNvSpPr/>
                <p:nvPr/>
              </p:nvSpPr>
              <p:spPr>
                <a:xfrm>
                  <a:off x="7015956" y="1815306"/>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92301C"/>
                  </a:solidFill>
                </a:ln>
              </p:spPr>
            </p:sp>
            <p:sp>
              <p:nvSpPr>
                <p:cNvPr id="123" name="Freeform 123"/>
                <p:cNvSpPr/>
                <p:nvPr/>
              </p:nvSpPr>
              <p:spPr>
                <a:xfrm>
                  <a:off x="6974681" y="17740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92301C"/>
                  </a:solidFill>
                </a:ln>
              </p:spPr>
            </p:sp>
          </p:grpSp>
          <p:sp>
            <p:nvSpPr>
              <p:cNvPr id="125" name="TextBox 125"/>
              <p:cNvSpPr txBox="1"/>
              <p:nvPr/>
            </p:nvSpPr>
            <p:spPr>
              <a:xfrm>
                <a:off x="6798742" y="227599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产品匹配</a:t>
                </a:r>
              </a:p>
            </p:txBody>
          </p:sp>
          <p:sp>
            <p:nvSpPr>
              <p:cNvPr id="126" name="TextBox 126"/>
              <p:cNvSpPr txBox="1"/>
              <p:nvPr/>
            </p:nvSpPr>
            <p:spPr>
              <a:xfrm>
                <a:off x="6719411" y="250983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产品智能推荐</a:t>
                </a:r>
              </a:p>
            </p:txBody>
          </p:sp>
          <p:sp>
            <p:nvSpPr>
              <p:cNvPr id="127" name="TextBox 127"/>
              <p:cNvSpPr txBox="1"/>
              <p:nvPr/>
            </p:nvSpPr>
            <p:spPr>
              <a:xfrm>
                <a:off x="6769894" y="2671762"/>
                <a:ext cx="595312"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匹配度评分</a:t>
                </a:r>
              </a:p>
            </p:txBody>
          </p:sp>
          <p:sp>
            <p:nvSpPr>
              <p:cNvPr id="128" name="TextBox 128"/>
              <p:cNvSpPr txBox="1"/>
              <p:nvPr/>
            </p:nvSpPr>
            <p:spPr>
              <a:xfrm>
                <a:off x="6719411" y="283368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组合方案生成</a:t>
                </a:r>
              </a:p>
            </p:txBody>
          </p:sp>
        </p:grpSp>
        <p:grpSp>
          <p:nvGrpSpPr>
            <p:cNvPr id="141" name="mf-6"/>
            <p:cNvGrpSpPr/>
            <p:nvPr/>
          </p:nvGrpSpPr>
          <p:grpSpPr>
            <a:xfrm>
              <a:off x="7581214" y="1114425"/>
              <a:ext cx="801472" cy="1866901"/>
              <a:chOff x="7581214" y="1114425"/>
              <a:chExt cx="801472" cy="1866901"/>
            </a:xfrm>
          </p:grpSpPr>
          <p:sp>
            <p:nvSpPr>
              <p:cNvPr id="130" name="Ellipse 130"/>
              <p:cNvSpPr/>
              <p:nvPr/>
            </p:nvSpPr>
            <p:spPr>
              <a:xfrm>
                <a:off x="7839075" y="1114425"/>
                <a:ext cx="285750" cy="285750"/>
              </a:xfrm>
              <a:prstGeom prst="ellipse">
                <a:avLst/>
              </a:prstGeom>
              <a:solidFill>
                <a:srgbClr val="92301C"/>
              </a:solidFill>
              <a:ln>
                <a:noFill/>
              </a:ln>
            </p:spPr>
          </p:sp>
          <p:sp>
            <p:nvSpPr>
              <p:cNvPr id="131" name="TextBox 131"/>
              <p:cNvSpPr txBox="1"/>
              <p:nvPr/>
            </p:nvSpPr>
            <p:spPr>
              <a:xfrm>
                <a:off x="7937306" y="1191578"/>
                <a:ext cx="8928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j-lt"/>
                    <a:ea typeface="+mj-ea"/>
                    <a:cs typeface="+mj-cs"/>
                  </a:rPr>
                  <a:t>6</a:t>
                </a:r>
              </a:p>
            </p:txBody>
          </p:sp>
          <p:sp>
            <p:nvSpPr>
              <p:cNvPr id="132" name="Ellipse 132"/>
              <p:cNvSpPr/>
              <p:nvPr/>
            </p:nvSpPr>
            <p:spPr>
              <a:xfrm>
                <a:off x="7734300" y="1619250"/>
                <a:ext cx="495300" cy="495300"/>
              </a:xfrm>
              <a:prstGeom prst="ellipse">
                <a:avLst/>
              </a:prstGeom>
              <a:solidFill>
                <a:srgbClr val="EEF5FB"/>
              </a:solidFill>
              <a:ln w="14288">
                <a:solidFill>
                  <a:srgbClr val="D6E6F3"/>
                </a:solidFill>
              </a:ln>
            </p:spPr>
          </p:sp>
          <p:grpSp>
            <p:nvGrpSpPr>
              <p:cNvPr id="136" name="Group 136"/>
              <p:cNvGrpSpPr/>
              <p:nvPr/>
            </p:nvGrpSpPr>
            <p:grpSpPr>
              <a:xfrm>
                <a:off x="7920037" y="1774031"/>
                <a:ext cx="154781" cy="185737"/>
                <a:chOff x="7920037" y="1774031"/>
                <a:chExt cx="154781" cy="185737"/>
              </a:xfrm>
            </p:grpSpPr>
            <p:sp>
              <p:nvSpPr>
                <p:cNvPr id="133" name="Freeform 133"/>
                <p:cNvSpPr/>
                <p:nvPr/>
              </p:nvSpPr>
              <p:spPr>
                <a:xfrm>
                  <a:off x="7940675" y="17740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2301C"/>
                  </a:solidFill>
                </a:ln>
              </p:spPr>
            </p:sp>
            <p:sp>
              <p:nvSpPr>
                <p:cNvPr id="134" name="Freeform 134"/>
                <p:cNvSpPr/>
                <p:nvPr/>
              </p:nvSpPr>
              <p:spPr>
                <a:xfrm>
                  <a:off x="7920037" y="1897856"/>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92301C"/>
                  </a:solidFill>
                </a:ln>
              </p:spPr>
            </p:sp>
            <p:sp>
              <p:nvSpPr>
                <p:cNvPr id="135" name="Freeform 135"/>
                <p:cNvSpPr/>
                <p:nvPr/>
              </p:nvSpPr>
              <p:spPr>
                <a:xfrm>
                  <a:off x="8012906" y="1918493"/>
                  <a:ext cx="61912" cy="41275"/>
                </a:xfrm>
                <a:custGeom>
                  <a:avLst/>
                  <a:gdLst/>
                  <a:ahLst/>
                  <a:cxnLst/>
                  <a:rect l="l" t="t" r="r" b="b"/>
                  <a:pathLst>
                    <a:path w="61912" h="41275">
                      <a:moveTo>
                        <a:pt x="0" y="20637"/>
                      </a:moveTo>
                      <a:lnTo>
                        <a:pt x="20637" y="41275"/>
                      </a:lnTo>
                      <a:lnTo>
                        <a:pt x="61912" y="0"/>
                      </a:lnTo>
                    </a:path>
                  </a:pathLst>
                </a:custGeom>
                <a:noFill/>
                <a:ln w="20637">
                  <a:solidFill>
                    <a:srgbClr val="92301C"/>
                  </a:solidFill>
                </a:ln>
              </p:spPr>
            </p:sp>
          </p:grpSp>
          <p:sp>
            <p:nvSpPr>
              <p:cNvPr id="137" name="TextBox 137"/>
              <p:cNvSpPr txBox="1"/>
              <p:nvPr/>
            </p:nvSpPr>
            <p:spPr>
              <a:xfrm>
                <a:off x="7581214" y="2275999"/>
                <a:ext cx="801472"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客户经营确认</a:t>
                </a:r>
              </a:p>
            </p:txBody>
          </p:sp>
          <p:sp>
            <p:nvSpPr>
              <p:cNvPr id="138" name="TextBox 138"/>
              <p:cNvSpPr txBox="1"/>
              <p:nvPr/>
            </p:nvSpPr>
            <p:spPr>
              <a:xfrm>
                <a:off x="7633811" y="2509838"/>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重合推荐理由</a:t>
                </a:r>
              </a:p>
            </p:txBody>
          </p:sp>
          <p:sp>
            <p:nvSpPr>
              <p:cNvPr id="139" name="TextBox 139"/>
              <p:cNvSpPr txBox="1"/>
              <p:nvPr/>
            </p:nvSpPr>
            <p:spPr>
              <a:xfrm>
                <a:off x="7633811" y="2671762"/>
                <a:ext cx="696278"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调整推荐方案</a:t>
                </a:r>
              </a:p>
            </p:txBody>
          </p:sp>
          <p:sp>
            <p:nvSpPr>
              <p:cNvPr id="140" name="TextBox 140"/>
              <p:cNvSpPr txBox="1"/>
              <p:nvPr/>
            </p:nvSpPr>
            <p:spPr>
              <a:xfrm>
                <a:off x="7583329" y="2833688"/>
                <a:ext cx="797242" cy="147638"/>
              </a:xfrm>
              <a:prstGeom prst="rect">
                <a:avLst/>
              </a:prstGeom>
              <a:noFill/>
              <a:ln>
                <a:noFill/>
              </a:ln>
            </p:spPr>
            <p:txBody>
              <a:bodyPr wrap="none" lIns="0" tIns="0" rIns="0" bIns="0" anchor="t" anchorCtr="0">
                <a:spAutoFit/>
              </a:bodyPr>
              <a:lstStyle/>
              <a:p>
                <a:pPr algn="ctr" marL="80962" indent="-80962">
                  <a:buClr>
                    <a:srgbClr val="52352F"/>
                  </a:buClr>
                  <a:buSzTx/>
                  <a:buFontTx/>
                  <a:buChar char="•"/>
                </a:pPr>
                <a:r>
                  <a:rPr lang="zh-CN" sz="750" dirty="0">
                    <a:solidFill>
                      <a:srgbClr val="52352F"/>
                    </a:solidFill>
                    <a:latin typeface="+mn-lt"/>
                    <a:ea typeface="+mn-ea"/>
                    <a:cs typeface="+mn-cs"/>
                  </a:rPr>
                  <a:t>确认后触达客户</a:t>
                </a:r>
              </a:p>
            </p:txBody>
          </p:sp>
        </p:grpSp>
        <p:sp>
          <p:nvSpPr>
            <p:cNvPr id="142" name="mf-arrow-1"/>
            <p:cNvSpPr/>
            <p:nvPr/>
          </p:nvSpPr>
          <p:spPr>
            <a:xfrm>
              <a:off x="3819525" y="1790700"/>
              <a:ext cx="95250" cy="152400"/>
            </a:xfrm>
            <a:custGeom>
              <a:avLst/>
              <a:gdLst/>
              <a:ahLst/>
              <a:cxnLst/>
              <a:rect l="l" t="t" r="r" b="b"/>
              <a:pathLst>
                <a:path w="95250" h="152400">
                  <a:moveTo>
                    <a:pt x="0" y="0"/>
                  </a:moveTo>
                  <a:lnTo>
                    <a:pt x="0" y="152400"/>
                  </a:lnTo>
                  <a:lnTo>
                    <a:pt x="95250" y="76200"/>
                  </a:lnTo>
                  <a:close/>
                </a:path>
              </a:pathLst>
            </a:custGeom>
            <a:solidFill>
              <a:srgbClr val="E3B3A9"/>
            </a:solidFill>
            <a:ln>
              <a:noFill/>
            </a:ln>
          </p:spPr>
        </p:sp>
        <p:sp>
          <p:nvSpPr>
            <p:cNvPr id="143" name="mf-arrow-2"/>
            <p:cNvSpPr/>
            <p:nvPr/>
          </p:nvSpPr>
          <p:spPr>
            <a:xfrm>
              <a:off x="4733925" y="1790700"/>
              <a:ext cx="95250" cy="152400"/>
            </a:xfrm>
            <a:custGeom>
              <a:avLst/>
              <a:gdLst/>
              <a:ahLst/>
              <a:cxnLst/>
              <a:rect l="l" t="t" r="r" b="b"/>
              <a:pathLst>
                <a:path w="95250" h="152400">
                  <a:moveTo>
                    <a:pt x="0" y="0"/>
                  </a:moveTo>
                  <a:lnTo>
                    <a:pt x="0" y="152400"/>
                  </a:lnTo>
                  <a:lnTo>
                    <a:pt x="95250" y="76200"/>
                  </a:lnTo>
                  <a:close/>
                </a:path>
              </a:pathLst>
            </a:custGeom>
            <a:solidFill>
              <a:srgbClr val="E3B3A9"/>
            </a:solidFill>
            <a:ln>
              <a:noFill/>
            </a:ln>
          </p:spPr>
        </p:sp>
        <p:sp>
          <p:nvSpPr>
            <p:cNvPr id="144" name="mf-arrow-3"/>
            <p:cNvSpPr/>
            <p:nvPr/>
          </p:nvSpPr>
          <p:spPr>
            <a:xfrm>
              <a:off x="5648325" y="1790700"/>
              <a:ext cx="95250" cy="152400"/>
            </a:xfrm>
            <a:custGeom>
              <a:avLst/>
              <a:gdLst/>
              <a:ahLst/>
              <a:cxnLst/>
              <a:rect l="l" t="t" r="r" b="b"/>
              <a:pathLst>
                <a:path w="95250" h="152400">
                  <a:moveTo>
                    <a:pt x="0" y="0"/>
                  </a:moveTo>
                  <a:lnTo>
                    <a:pt x="0" y="152400"/>
                  </a:lnTo>
                  <a:lnTo>
                    <a:pt x="95250" y="76200"/>
                  </a:lnTo>
                  <a:close/>
                </a:path>
              </a:pathLst>
            </a:custGeom>
            <a:solidFill>
              <a:srgbClr val="E3B3A9"/>
            </a:solidFill>
            <a:ln>
              <a:noFill/>
            </a:ln>
          </p:spPr>
        </p:sp>
        <p:sp>
          <p:nvSpPr>
            <p:cNvPr id="145" name="mf-arrow-4"/>
            <p:cNvSpPr/>
            <p:nvPr/>
          </p:nvSpPr>
          <p:spPr>
            <a:xfrm>
              <a:off x="6562725" y="1790700"/>
              <a:ext cx="95250" cy="152400"/>
            </a:xfrm>
            <a:custGeom>
              <a:avLst/>
              <a:gdLst/>
              <a:ahLst/>
              <a:cxnLst/>
              <a:rect l="l" t="t" r="r" b="b"/>
              <a:pathLst>
                <a:path w="95250" h="152400">
                  <a:moveTo>
                    <a:pt x="0" y="0"/>
                  </a:moveTo>
                  <a:lnTo>
                    <a:pt x="0" y="152400"/>
                  </a:lnTo>
                  <a:lnTo>
                    <a:pt x="95250" y="76200"/>
                  </a:lnTo>
                  <a:close/>
                </a:path>
              </a:pathLst>
            </a:custGeom>
            <a:solidFill>
              <a:srgbClr val="E3B3A9"/>
            </a:solidFill>
            <a:ln>
              <a:noFill/>
            </a:ln>
          </p:spPr>
        </p:sp>
        <p:sp>
          <p:nvSpPr>
            <p:cNvPr id="146" name="mf-arrow-5"/>
            <p:cNvSpPr/>
            <p:nvPr/>
          </p:nvSpPr>
          <p:spPr>
            <a:xfrm>
              <a:off x="7477125" y="1790700"/>
              <a:ext cx="95250" cy="152400"/>
            </a:xfrm>
            <a:custGeom>
              <a:avLst/>
              <a:gdLst/>
              <a:ahLst/>
              <a:cxnLst/>
              <a:rect l="l" t="t" r="r" b="b"/>
              <a:pathLst>
                <a:path w="95250" h="152400">
                  <a:moveTo>
                    <a:pt x="0" y="0"/>
                  </a:moveTo>
                  <a:lnTo>
                    <a:pt x="0" y="152400"/>
                  </a:lnTo>
                  <a:lnTo>
                    <a:pt x="95250" y="76200"/>
                  </a:lnTo>
                  <a:close/>
                </a:path>
              </a:pathLst>
            </a:custGeom>
            <a:solidFill>
              <a:srgbClr val="E3B3A9"/>
            </a:solidFill>
            <a:ln>
              <a:noFill/>
            </a:ln>
          </p:spPr>
        </p:sp>
      </p:grpSp>
      <p:grpSp>
        <p:nvGrpSpPr>
          <p:cNvPr id="162" name="mid-base"/>
          <p:cNvGrpSpPr/>
          <p:nvPr/>
        </p:nvGrpSpPr>
        <p:grpSpPr>
          <a:xfrm>
            <a:off x="2952750" y="3238500"/>
            <a:ext cx="5524500" cy="952500"/>
            <a:chOff x="2952750" y="3238500"/>
            <a:chExt cx="5524500" cy="952500"/>
          </a:xfrm>
        </p:grpSpPr>
        <p:sp>
          <p:nvSpPr>
            <p:cNvPr id="148" name="Rectangle 148"/>
            <p:cNvSpPr/>
            <p:nvPr/>
          </p:nvSpPr>
          <p:spPr>
            <a:xfrm>
              <a:off x="2952750" y="3238500"/>
              <a:ext cx="5524500" cy="952500"/>
            </a:xfrm>
            <a:prstGeom prst="roundRect">
              <a:avLst>
                <a:gd name="adj" fmla="val 8000"/>
              </a:avLst>
            </a:prstGeom>
            <a:gradFill>
              <a:gsLst>
                <a:gs pos="0">
                  <a:srgbClr val="EEF5FB"/>
                </a:gs>
                <a:gs pos="100000">
                  <a:srgbClr val="D6E6F3"/>
                </a:gs>
              </a:gsLst>
              <a:lin ang="5400000" scaled="1"/>
            </a:gradFill>
            <a:ln>
              <a:noFill/>
            </a:ln>
          </p:spPr>
        </p:sp>
        <p:sp>
          <p:nvSpPr>
            <p:cNvPr id="149" name="Ellipse 149"/>
            <p:cNvSpPr/>
            <p:nvPr/>
          </p:nvSpPr>
          <p:spPr>
            <a:xfrm>
              <a:off x="3257550" y="3467100"/>
              <a:ext cx="495300" cy="495300"/>
            </a:xfrm>
            <a:prstGeom prst="ellipse">
              <a:avLst/>
            </a:prstGeom>
            <a:solidFill>
              <a:srgbClr val="92301C"/>
            </a:solidFill>
            <a:ln>
              <a:noFill/>
            </a:ln>
          </p:spPr>
        </p:sp>
        <p:grpSp>
          <p:nvGrpSpPr>
            <p:cNvPr id="159" name="Group 159"/>
            <p:cNvGrpSpPr/>
            <p:nvPr/>
          </p:nvGrpSpPr>
          <p:grpSpPr>
            <a:xfrm>
              <a:off x="3432969" y="3611562"/>
              <a:ext cx="144462" cy="196056"/>
              <a:chOff x="3432969" y="3611562"/>
              <a:chExt cx="144462" cy="196056"/>
            </a:xfrm>
          </p:grpSpPr>
          <p:sp>
            <p:nvSpPr>
              <p:cNvPr id="150" name="Freeform 150"/>
              <p:cNvSpPr/>
              <p:nvPr/>
            </p:nvSpPr>
            <p:spPr>
              <a:xfrm>
                <a:off x="3443287" y="3632200"/>
                <a:ext cx="123825" cy="82550"/>
              </a:xfrm>
              <a:custGeom>
                <a:avLst/>
                <a:gdLst/>
                <a:ahLst/>
                <a:cxnLst/>
                <a:rect l="l" t="t" r="r" b="b"/>
                <a:pathLst>
                  <a:path w="123825" h="82550">
                    <a:moveTo>
                      <a:pt x="0" y="20637"/>
                    </a:moveTo>
                    <a:cubicBezTo>
                      <a:pt x="0" y="9240"/>
                      <a:pt x="9240" y="0"/>
                      <a:pt x="20637" y="0"/>
                    </a:cubicBezTo>
                    <a:lnTo>
                      <a:pt x="103187" y="0"/>
                    </a:lnTo>
                    <a:cubicBezTo>
                      <a:pt x="114585" y="0"/>
                      <a:pt x="123825" y="9240"/>
                      <a:pt x="123825" y="20637"/>
                    </a:cubicBezTo>
                    <a:lnTo>
                      <a:pt x="123825" y="61912"/>
                    </a:lnTo>
                    <a:cubicBezTo>
                      <a:pt x="123825" y="73310"/>
                      <a:pt x="114585" y="82550"/>
                      <a:pt x="103187" y="82550"/>
                    </a:cubicBezTo>
                    <a:lnTo>
                      <a:pt x="20637" y="82550"/>
                    </a:lnTo>
                    <a:cubicBezTo>
                      <a:pt x="9240" y="82550"/>
                      <a:pt x="0" y="73310"/>
                      <a:pt x="0" y="61912"/>
                    </a:cubicBezTo>
                    <a:lnTo>
                      <a:pt x="0" y="20637"/>
                    </a:lnTo>
                  </a:path>
                </a:pathLst>
              </a:custGeom>
              <a:noFill/>
              <a:ln w="20637">
                <a:solidFill>
                  <a:srgbClr val="FFFFFF"/>
                </a:solidFill>
              </a:ln>
            </p:spPr>
          </p:sp>
          <p:sp>
            <p:nvSpPr>
              <p:cNvPr id="151" name="Freeform 151"/>
              <p:cNvSpPr/>
              <p:nvPr/>
            </p:nvSpPr>
            <p:spPr>
              <a:xfrm>
                <a:off x="3505200" y="3611562"/>
                <a:ext cx="9525" cy="20637"/>
              </a:xfrm>
              <a:custGeom>
                <a:avLst/>
                <a:gdLst/>
                <a:ahLst/>
                <a:cxnLst/>
                <a:rect l="l" t="t" r="r" b="b"/>
                <a:pathLst>
                  <a:path w="9525" h="20637">
                    <a:moveTo>
                      <a:pt x="0" y="0"/>
                    </a:moveTo>
                    <a:lnTo>
                      <a:pt x="0" y="20637"/>
                    </a:lnTo>
                  </a:path>
                </a:pathLst>
              </a:custGeom>
              <a:noFill/>
              <a:ln w="20637">
                <a:solidFill>
                  <a:srgbClr val="FFFFFF"/>
                </a:solidFill>
              </a:ln>
            </p:spPr>
          </p:sp>
          <p:sp>
            <p:nvSpPr>
              <p:cNvPr id="152" name="Freeform 152"/>
              <p:cNvSpPr/>
              <p:nvPr/>
            </p:nvSpPr>
            <p:spPr>
              <a:xfrm>
                <a:off x="3474243" y="3714750"/>
                <a:ext cx="9525" cy="92868"/>
              </a:xfrm>
              <a:custGeom>
                <a:avLst/>
                <a:gdLst/>
                <a:ahLst/>
                <a:cxnLst/>
                <a:rect l="l" t="t" r="r" b="b"/>
                <a:pathLst>
                  <a:path w="9525" h="92868">
                    <a:moveTo>
                      <a:pt x="0" y="0"/>
                    </a:moveTo>
                    <a:lnTo>
                      <a:pt x="0" y="92868"/>
                    </a:lnTo>
                  </a:path>
                </a:pathLst>
              </a:custGeom>
              <a:noFill/>
              <a:ln w="20637">
                <a:solidFill>
                  <a:srgbClr val="FFFFFF"/>
                </a:solidFill>
              </a:ln>
            </p:spPr>
          </p:sp>
          <p:sp>
            <p:nvSpPr>
              <p:cNvPr id="153" name="Freeform 153"/>
              <p:cNvSpPr/>
              <p:nvPr/>
            </p:nvSpPr>
            <p:spPr>
              <a:xfrm>
                <a:off x="3536156" y="3714750"/>
                <a:ext cx="9525" cy="92868"/>
              </a:xfrm>
              <a:custGeom>
                <a:avLst/>
                <a:gdLst/>
                <a:ahLst/>
                <a:cxnLst/>
                <a:rect l="l" t="t" r="r" b="b"/>
                <a:pathLst>
                  <a:path w="9525" h="92868">
                    <a:moveTo>
                      <a:pt x="0" y="0"/>
                    </a:moveTo>
                    <a:lnTo>
                      <a:pt x="0" y="92868"/>
                    </a:lnTo>
                  </a:path>
                </a:pathLst>
              </a:custGeom>
              <a:noFill/>
              <a:ln w="20637">
                <a:solidFill>
                  <a:srgbClr val="FFFFFF"/>
                </a:solidFill>
              </a:ln>
            </p:spPr>
          </p:sp>
          <p:sp>
            <p:nvSpPr>
              <p:cNvPr id="154" name="Freeform 154"/>
              <p:cNvSpPr/>
              <p:nvPr/>
            </p:nvSpPr>
            <p:spPr>
              <a:xfrm>
                <a:off x="3432969" y="3735387"/>
                <a:ext cx="41275" cy="20637"/>
              </a:xfrm>
              <a:custGeom>
                <a:avLst/>
                <a:gdLst/>
                <a:ahLst/>
                <a:cxnLst/>
                <a:rect l="l" t="t" r="r" b="b"/>
                <a:pathLst>
                  <a:path w="41275" h="20637">
                    <a:moveTo>
                      <a:pt x="0" y="20637"/>
                    </a:moveTo>
                    <a:lnTo>
                      <a:pt x="41275" y="0"/>
                    </a:lnTo>
                  </a:path>
                </a:pathLst>
              </a:custGeom>
              <a:noFill/>
              <a:ln w="20637">
                <a:solidFill>
                  <a:srgbClr val="FFFFFF"/>
                </a:solidFill>
              </a:ln>
            </p:spPr>
          </p:sp>
          <p:sp>
            <p:nvSpPr>
              <p:cNvPr id="155" name="Freeform 155"/>
              <p:cNvSpPr/>
              <p:nvPr/>
            </p:nvSpPr>
            <p:spPr>
              <a:xfrm>
                <a:off x="3536156" y="3735387"/>
                <a:ext cx="41275" cy="20637"/>
              </a:xfrm>
              <a:custGeom>
                <a:avLst/>
                <a:gdLst/>
                <a:ahLst/>
                <a:cxnLst/>
                <a:rect l="l" t="t" r="r" b="b"/>
                <a:pathLst>
                  <a:path w="41275" h="20637">
                    <a:moveTo>
                      <a:pt x="0" y="0"/>
                    </a:moveTo>
                    <a:lnTo>
                      <a:pt x="41275" y="20637"/>
                    </a:lnTo>
                  </a:path>
                </a:pathLst>
              </a:custGeom>
              <a:noFill/>
              <a:ln w="20637">
                <a:solidFill>
                  <a:srgbClr val="FFFFFF"/>
                </a:solidFill>
              </a:ln>
            </p:spPr>
          </p:sp>
          <p:sp>
            <p:nvSpPr>
              <p:cNvPr id="156" name="Freeform 156"/>
              <p:cNvSpPr/>
              <p:nvPr/>
            </p:nvSpPr>
            <p:spPr>
              <a:xfrm>
                <a:off x="3474243" y="3776662"/>
                <a:ext cx="61912" cy="9525"/>
              </a:xfrm>
              <a:custGeom>
                <a:avLst/>
                <a:gdLst/>
                <a:ahLst/>
                <a:cxnLst/>
                <a:rect l="l" t="t" r="r" b="b"/>
                <a:pathLst>
                  <a:path w="61912" h="9525">
                    <a:moveTo>
                      <a:pt x="0" y="0"/>
                    </a:moveTo>
                    <a:lnTo>
                      <a:pt x="61912" y="0"/>
                    </a:lnTo>
                  </a:path>
                </a:pathLst>
              </a:custGeom>
              <a:noFill/>
              <a:ln w="20637">
                <a:solidFill>
                  <a:srgbClr val="FFFFFF"/>
                </a:solidFill>
              </a:ln>
            </p:spPr>
          </p:sp>
          <p:sp>
            <p:nvSpPr>
              <p:cNvPr id="157" name="Freeform 157"/>
              <p:cNvSpPr/>
              <p:nvPr/>
            </p:nvSpPr>
            <p:spPr>
              <a:xfrm>
                <a:off x="3484562" y="3673475"/>
                <a:ext cx="9525" cy="9525"/>
              </a:xfrm>
              <a:custGeom>
                <a:avLst/>
                <a:gdLst/>
                <a:ahLst/>
                <a:cxnLst/>
                <a:rect l="l" t="t" r="r" b="b"/>
                <a:pathLst>
                  <a:path w="9525" h="9525">
                    <a:moveTo>
                      <a:pt x="0" y="0"/>
                    </a:moveTo>
                    <a:lnTo>
                      <a:pt x="0" y="103"/>
                    </a:lnTo>
                  </a:path>
                </a:pathLst>
              </a:custGeom>
              <a:noFill/>
              <a:ln w="20637">
                <a:solidFill>
                  <a:srgbClr val="FFFFFF"/>
                </a:solidFill>
              </a:ln>
            </p:spPr>
          </p:sp>
          <p:sp>
            <p:nvSpPr>
              <p:cNvPr id="158" name="Freeform 158"/>
              <p:cNvSpPr/>
              <p:nvPr/>
            </p:nvSpPr>
            <p:spPr>
              <a:xfrm>
                <a:off x="3525837" y="3673475"/>
                <a:ext cx="9525" cy="9525"/>
              </a:xfrm>
              <a:custGeom>
                <a:avLst/>
                <a:gdLst/>
                <a:ahLst/>
                <a:cxnLst/>
                <a:rect l="l" t="t" r="r" b="b"/>
                <a:pathLst>
                  <a:path w="9525" h="9525">
                    <a:moveTo>
                      <a:pt x="0" y="0"/>
                    </a:moveTo>
                    <a:lnTo>
                      <a:pt x="0" y="103"/>
                    </a:lnTo>
                  </a:path>
                </a:pathLst>
              </a:custGeom>
              <a:noFill/>
              <a:ln w="20637">
                <a:solidFill>
                  <a:srgbClr val="FFFFFF"/>
                </a:solidFill>
              </a:ln>
            </p:spPr>
          </p:sp>
        </p:grpSp>
        <p:sp>
          <p:nvSpPr>
            <p:cNvPr id="160" name="TextBox 160"/>
            <p:cNvSpPr txBox="1"/>
            <p:nvPr/>
          </p:nvSpPr>
          <p:spPr>
            <a:xfrm>
              <a:off x="3899535" y="3517106"/>
              <a:ext cx="1066851" cy="220028"/>
            </a:xfrm>
            <a:prstGeom prst="rect">
              <a:avLst/>
            </a:prstGeom>
            <a:noFill/>
            <a:ln>
              <a:noFill/>
            </a:ln>
          </p:spPr>
          <p:txBody>
            <a:bodyPr wrap="none" lIns="0" tIns="0" rIns="0" bIns="0" anchor="t" anchorCtr="0">
              <a:spAutoFit/>
            </a:bodyPr>
            <a:lstStyle/>
            <a:p>
              <a:pPr algn="l"/>
              <a:r>
                <a:rPr lang="zh-CN" sz="1120" b="1" dirty="0">
                  <a:solidFill>
                    <a:srgbClr val="6B1B0B"/>
                  </a:solidFill>
                  <a:latin typeface="+mn-lt"/>
                  <a:ea typeface="+mn-ea"/>
                  <a:cs typeface="+mn-cs"/>
                </a:rPr>
                <a:t>客户洞察智能体</a:t>
              </a:r>
            </a:p>
          </p:txBody>
        </p:sp>
        <p:sp>
          <p:nvSpPr>
            <p:cNvPr id="161" name="TextBox 161"/>
            <p:cNvSpPr txBox="1"/>
            <p:nvPr/>
          </p:nvSpPr>
          <p:spPr>
            <a:xfrm>
              <a:off x="3900488" y="3808095"/>
              <a:ext cx="3838118" cy="176212"/>
            </a:xfrm>
            <a:prstGeom prst="rect">
              <a:avLst/>
            </a:prstGeom>
            <a:noFill/>
            <a:ln>
              <a:noFill/>
            </a:ln>
          </p:spPr>
          <p:txBody>
            <a:bodyPr wrap="none" lIns="0" tIns="0" rIns="0" bIns="0" anchor="t" anchorCtr="0">
              <a:spAutoFit/>
            </a:bodyPr>
            <a:lstStyle/>
            <a:p>
              <a:pPr algn="l"/>
              <a:r>
                <a:rPr lang="zh-CN" sz="900" dirty="0">
                  <a:solidFill>
                    <a:srgbClr val="52352F"/>
                  </a:solidFill>
                  <a:latin typeface="+mn-lt"/>
                  <a:ea typeface="+mn-ea"/>
                  <a:cs typeface="+mn-cs"/>
                </a:rPr>
                <a:t>全量数据 | 智能算法 | 持续学习 | 动态优化 | 辅助建议，由授权人员确认</a:t>
              </a:r>
            </a:p>
          </p:txBody>
        </p:sp>
      </p:grpSp>
      <p:grpSp>
        <p:nvGrpSpPr>
          <p:cNvPr id="198" name="right-grid"/>
          <p:cNvGrpSpPr/>
          <p:nvPr/>
        </p:nvGrpSpPr>
        <p:grpSpPr>
          <a:xfrm>
            <a:off x="8491264" y="1047750"/>
            <a:ext cx="3434036" cy="1882616"/>
            <a:chOff x="8491264" y="1047750"/>
            <a:chExt cx="3434036" cy="1882616"/>
          </a:xfrm>
        </p:grpSpPr>
        <p:sp>
          <p:nvSpPr>
            <p:cNvPr id="163" name="TextBox 163"/>
            <p:cNvSpPr txBox="1"/>
            <p:nvPr/>
          </p:nvSpPr>
          <p:spPr>
            <a:xfrm rot="-5400000">
              <a:off x="8491264" y="1785938"/>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客户价值</a:t>
              </a:r>
            </a:p>
          </p:txBody>
        </p:sp>
        <p:sp>
          <p:nvSpPr>
            <p:cNvPr id="164" name="TextBox 164"/>
            <p:cNvSpPr txBox="1"/>
            <p:nvPr/>
          </p:nvSpPr>
          <p:spPr>
            <a:xfrm>
              <a:off x="8819299" y="1263491"/>
              <a:ext cx="119913" cy="161925"/>
            </a:xfrm>
            <a:prstGeom prst="rect">
              <a:avLst/>
            </a:prstGeom>
            <a:noFill/>
            <a:ln>
              <a:noFill/>
            </a:ln>
          </p:spPr>
          <p:txBody>
            <a:bodyPr wrap="none" lIns="0" tIns="0" rIns="0" bIns="0" anchor="t" anchorCtr="0">
              <a:spAutoFit/>
            </a:bodyPr>
            <a:lstStyle/>
            <a:p>
              <a:pPr algn="r"/>
              <a:r>
                <a:rPr lang="zh-CN" sz="820" b="1" dirty="0">
                  <a:solidFill>
                    <a:srgbClr val="6B1B0B"/>
                  </a:solidFill>
                  <a:latin typeface="+mn-lt"/>
                  <a:ea typeface="+mn-ea"/>
                  <a:cs typeface="+mn-cs"/>
                </a:rPr>
                <a:t>高</a:t>
              </a:r>
            </a:p>
          </p:txBody>
        </p:sp>
        <p:sp>
          <p:nvSpPr>
            <p:cNvPr id="165" name="TextBox 165"/>
            <p:cNvSpPr txBox="1"/>
            <p:nvPr/>
          </p:nvSpPr>
          <p:spPr>
            <a:xfrm>
              <a:off x="8819299" y="1834991"/>
              <a:ext cx="119913" cy="161925"/>
            </a:xfrm>
            <a:prstGeom prst="rect">
              <a:avLst/>
            </a:prstGeom>
            <a:noFill/>
            <a:ln>
              <a:noFill/>
            </a:ln>
          </p:spPr>
          <p:txBody>
            <a:bodyPr wrap="none" lIns="0" tIns="0" rIns="0" bIns="0" anchor="t" anchorCtr="0">
              <a:spAutoFit/>
            </a:bodyPr>
            <a:lstStyle/>
            <a:p>
              <a:pPr algn="r"/>
              <a:r>
                <a:rPr lang="zh-CN" sz="820" b="1" dirty="0">
                  <a:solidFill>
                    <a:srgbClr val="6B1B0B"/>
                  </a:solidFill>
                  <a:latin typeface="+mn-lt"/>
                  <a:ea typeface="+mn-ea"/>
                  <a:cs typeface="+mn-cs"/>
                </a:rPr>
                <a:t>中</a:t>
              </a:r>
            </a:p>
          </p:txBody>
        </p:sp>
        <p:sp>
          <p:nvSpPr>
            <p:cNvPr id="166" name="TextBox 166"/>
            <p:cNvSpPr txBox="1"/>
            <p:nvPr/>
          </p:nvSpPr>
          <p:spPr>
            <a:xfrm>
              <a:off x="8819299" y="2406491"/>
              <a:ext cx="119913" cy="161925"/>
            </a:xfrm>
            <a:prstGeom prst="rect">
              <a:avLst/>
            </a:prstGeom>
            <a:noFill/>
            <a:ln>
              <a:noFill/>
            </a:ln>
          </p:spPr>
          <p:txBody>
            <a:bodyPr wrap="none" lIns="0" tIns="0" rIns="0" bIns="0" anchor="t" anchorCtr="0">
              <a:spAutoFit/>
            </a:bodyPr>
            <a:lstStyle/>
            <a:p>
              <a:pPr algn="r"/>
              <a:r>
                <a:rPr lang="zh-CN" sz="820" b="1" dirty="0">
                  <a:solidFill>
                    <a:srgbClr val="6B1B0B"/>
                  </a:solidFill>
                  <a:latin typeface="+mn-lt"/>
                  <a:ea typeface="+mn-ea"/>
                  <a:cs typeface="+mn-cs"/>
                </a:rPr>
                <a:t>低</a:t>
              </a:r>
            </a:p>
          </p:txBody>
        </p:sp>
        <p:sp>
          <p:nvSpPr>
            <p:cNvPr id="167" name="Rectangle 167"/>
            <p:cNvSpPr/>
            <p:nvPr/>
          </p:nvSpPr>
          <p:spPr>
            <a:xfrm>
              <a:off x="8991600" y="1047750"/>
              <a:ext cx="952500" cy="533400"/>
            </a:xfrm>
            <a:prstGeom prst="rect">
              <a:avLst/>
            </a:prstGeom>
            <a:solidFill>
              <a:srgbClr val="C87C6C"/>
            </a:solidFill>
            <a:ln>
              <a:noFill/>
            </a:ln>
          </p:spPr>
        </p:sp>
        <p:sp>
          <p:nvSpPr>
            <p:cNvPr id="168" name="Rectangle 168"/>
            <p:cNvSpPr/>
            <p:nvPr/>
          </p:nvSpPr>
          <p:spPr>
            <a:xfrm>
              <a:off x="9982200" y="1047750"/>
              <a:ext cx="952500" cy="533400"/>
            </a:xfrm>
            <a:prstGeom prst="rect">
              <a:avLst/>
            </a:prstGeom>
            <a:solidFill>
              <a:srgbClr val="B7533F"/>
            </a:solidFill>
            <a:ln>
              <a:noFill/>
            </a:ln>
          </p:spPr>
        </p:sp>
        <p:sp>
          <p:nvSpPr>
            <p:cNvPr id="169" name="Rectangle 169"/>
            <p:cNvSpPr/>
            <p:nvPr/>
          </p:nvSpPr>
          <p:spPr>
            <a:xfrm>
              <a:off x="10972800" y="1047750"/>
              <a:ext cx="952500" cy="533400"/>
            </a:xfrm>
            <a:prstGeom prst="rect">
              <a:avLst/>
            </a:prstGeom>
            <a:solidFill>
              <a:srgbClr val="6B1B0B"/>
            </a:solidFill>
            <a:ln>
              <a:noFill/>
            </a:ln>
          </p:spPr>
        </p:sp>
        <p:sp>
          <p:nvSpPr>
            <p:cNvPr id="170" name="Rectangle 170"/>
            <p:cNvSpPr/>
            <p:nvPr/>
          </p:nvSpPr>
          <p:spPr>
            <a:xfrm>
              <a:off x="8991600" y="1619250"/>
              <a:ext cx="952500" cy="533400"/>
            </a:xfrm>
            <a:prstGeom prst="rect">
              <a:avLst/>
            </a:prstGeom>
            <a:solidFill>
              <a:srgbClr val="D6E6F3"/>
            </a:solidFill>
            <a:ln>
              <a:noFill/>
            </a:ln>
          </p:spPr>
        </p:sp>
        <p:sp>
          <p:nvSpPr>
            <p:cNvPr id="171" name="Rectangle 171"/>
            <p:cNvSpPr/>
            <p:nvPr/>
          </p:nvSpPr>
          <p:spPr>
            <a:xfrm>
              <a:off x="9982200" y="1619250"/>
              <a:ext cx="952500" cy="533400"/>
            </a:xfrm>
            <a:prstGeom prst="rect">
              <a:avLst/>
            </a:prstGeom>
            <a:solidFill>
              <a:srgbClr val="E3B3A9"/>
            </a:solidFill>
            <a:ln>
              <a:noFill/>
            </a:ln>
          </p:spPr>
        </p:sp>
        <p:sp>
          <p:nvSpPr>
            <p:cNvPr id="172" name="Rectangle 172"/>
            <p:cNvSpPr/>
            <p:nvPr/>
          </p:nvSpPr>
          <p:spPr>
            <a:xfrm>
              <a:off x="10972800" y="1619250"/>
              <a:ext cx="952500" cy="533400"/>
            </a:xfrm>
            <a:prstGeom prst="rect">
              <a:avLst/>
            </a:prstGeom>
            <a:solidFill>
              <a:srgbClr val="B7533F"/>
            </a:solidFill>
            <a:ln>
              <a:noFill/>
            </a:ln>
          </p:spPr>
        </p:sp>
        <p:sp>
          <p:nvSpPr>
            <p:cNvPr id="173" name="Rectangle 173"/>
            <p:cNvSpPr/>
            <p:nvPr/>
          </p:nvSpPr>
          <p:spPr>
            <a:xfrm>
              <a:off x="8991600" y="2190750"/>
              <a:ext cx="952500" cy="533400"/>
            </a:xfrm>
            <a:prstGeom prst="rect">
              <a:avLst/>
            </a:prstGeom>
            <a:solidFill>
              <a:srgbClr val="F0F5FA"/>
            </a:solidFill>
            <a:ln>
              <a:noFill/>
            </a:ln>
          </p:spPr>
        </p:sp>
        <p:sp>
          <p:nvSpPr>
            <p:cNvPr id="174" name="Rectangle 174"/>
            <p:cNvSpPr/>
            <p:nvPr/>
          </p:nvSpPr>
          <p:spPr>
            <a:xfrm>
              <a:off x="9982200" y="2190750"/>
              <a:ext cx="952500" cy="533400"/>
            </a:xfrm>
            <a:prstGeom prst="rect">
              <a:avLst/>
            </a:prstGeom>
            <a:solidFill>
              <a:srgbClr val="D6E6F3"/>
            </a:solidFill>
            <a:ln>
              <a:noFill/>
            </a:ln>
          </p:spPr>
        </p:sp>
        <p:sp>
          <p:nvSpPr>
            <p:cNvPr id="175" name="Rectangle 175"/>
            <p:cNvSpPr/>
            <p:nvPr/>
          </p:nvSpPr>
          <p:spPr>
            <a:xfrm>
              <a:off x="10972800" y="2190750"/>
              <a:ext cx="952500" cy="533400"/>
            </a:xfrm>
            <a:prstGeom prst="rect">
              <a:avLst/>
            </a:prstGeom>
            <a:solidFill>
              <a:srgbClr val="E3B3A9"/>
            </a:solidFill>
            <a:ln>
              <a:noFill/>
            </a:ln>
          </p:spPr>
        </p:sp>
        <p:sp>
          <p:nvSpPr>
            <p:cNvPr id="176" name="TextBox 176"/>
            <p:cNvSpPr txBox="1"/>
            <p:nvPr/>
          </p:nvSpPr>
          <p:spPr>
            <a:xfrm>
              <a:off x="9297505" y="11872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高价值</a:t>
              </a:r>
            </a:p>
          </p:txBody>
        </p:sp>
        <p:sp>
          <p:nvSpPr>
            <p:cNvPr id="177" name="TextBox 177"/>
            <p:cNvSpPr txBox="1"/>
            <p:nvPr/>
          </p:nvSpPr>
          <p:spPr>
            <a:xfrm>
              <a:off x="9297505" y="13396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低活跃</a:t>
              </a:r>
            </a:p>
          </p:txBody>
        </p:sp>
        <p:sp>
          <p:nvSpPr>
            <p:cNvPr id="178" name="TextBox 178"/>
            <p:cNvSpPr txBox="1"/>
            <p:nvPr/>
          </p:nvSpPr>
          <p:spPr>
            <a:xfrm>
              <a:off x="10288105" y="11872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高价值</a:t>
              </a:r>
            </a:p>
          </p:txBody>
        </p:sp>
        <p:sp>
          <p:nvSpPr>
            <p:cNvPr id="179" name="TextBox 179"/>
            <p:cNvSpPr txBox="1"/>
            <p:nvPr/>
          </p:nvSpPr>
          <p:spPr>
            <a:xfrm>
              <a:off x="10288105" y="13396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中活跃</a:t>
              </a:r>
            </a:p>
          </p:txBody>
        </p:sp>
        <p:sp>
          <p:nvSpPr>
            <p:cNvPr id="180" name="TextBox 180"/>
            <p:cNvSpPr txBox="1"/>
            <p:nvPr/>
          </p:nvSpPr>
          <p:spPr>
            <a:xfrm>
              <a:off x="11278705" y="11872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高价值</a:t>
              </a:r>
            </a:p>
          </p:txBody>
        </p:sp>
        <p:sp>
          <p:nvSpPr>
            <p:cNvPr id="181" name="TextBox 181"/>
            <p:cNvSpPr txBox="1"/>
            <p:nvPr/>
          </p:nvSpPr>
          <p:spPr>
            <a:xfrm>
              <a:off x="11278705" y="13396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高活跃</a:t>
              </a:r>
            </a:p>
          </p:txBody>
        </p:sp>
        <p:sp>
          <p:nvSpPr>
            <p:cNvPr id="182" name="TextBox 182"/>
            <p:cNvSpPr txBox="1"/>
            <p:nvPr/>
          </p:nvSpPr>
          <p:spPr>
            <a:xfrm>
              <a:off x="9297505" y="1758791"/>
              <a:ext cx="340690" cy="161925"/>
            </a:xfrm>
            <a:prstGeom prst="rect">
              <a:avLst/>
            </a:prstGeom>
            <a:noFill/>
            <a:ln>
              <a:noFill/>
            </a:ln>
          </p:spPr>
          <p:txBody>
            <a:bodyPr wrap="none" lIns="0" tIns="0" rIns="0" bIns="0" anchor="t" anchorCtr="0">
              <a:spAutoFit/>
            </a:bodyPr>
            <a:lstStyle/>
            <a:p>
              <a:pPr algn="ctr"/>
              <a:r>
                <a:rPr lang="zh-CN" sz="820" dirty="0">
                  <a:solidFill>
                    <a:srgbClr val="52352F"/>
                  </a:solidFill>
                  <a:latin typeface="+mn-lt"/>
                  <a:ea typeface="+mn-ea"/>
                  <a:cs typeface="+mn-cs"/>
                </a:rPr>
                <a:t>中价值</a:t>
              </a:r>
            </a:p>
          </p:txBody>
        </p:sp>
        <p:sp>
          <p:nvSpPr>
            <p:cNvPr id="183" name="TextBox 183"/>
            <p:cNvSpPr txBox="1"/>
            <p:nvPr/>
          </p:nvSpPr>
          <p:spPr>
            <a:xfrm>
              <a:off x="9297505" y="1911191"/>
              <a:ext cx="340690" cy="161925"/>
            </a:xfrm>
            <a:prstGeom prst="rect">
              <a:avLst/>
            </a:prstGeom>
            <a:noFill/>
            <a:ln>
              <a:noFill/>
            </a:ln>
          </p:spPr>
          <p:txBody>
            <a:bodyPr wrap="none" lIns="0" tIns="0" rIns="0" bIns="0" anchor="t" anchorCtr="0">
              <a:spAutoFit/>
            </a:bodyPr>
            <a:lstStyle/>
            <a:p>
              <a:pPr algn="ctr"/>
              <a:r>
                <a:rPr lang="zh-CN" sz="820" dirty="0">
                  <a:solidFill>
                    <a:srgbClr val="52352F"/>
                  </a:solidFill>
                  <a:latin typeface="+mn-lt"/>
                  <a:ea typeface="+mn-ea"/>
                  <a:cs typeface="+mn-cs"/>
                </a:rPr>
                <a:t>低活跃</a:t>
              </a:r>
            </a:p>
          </p:txBody>
        </p:sp>
        <p:sp>
          <p:nvSpPr>
            <p:cNvPr id="184" name="TextBox 184"/>
            <p:cNvSpPr txBox="1"/>
            <p:nvPr/>
          </p:nvSpPr>
          <p:spPr>
            <a:xfrm>
              <a:off x="10288105" y="1758791"/>
              <a:ext cx="340690" cy="161925"/>
            </a:xfrm>
            <a:prstGeom prst="rect">
              <a:avLst/>
            </a:prstGeom>
            <a:noFill/>
            <a:ln>
              <a:noFill/>
            </a:ln>
          </p:spPr>
          <p:txBody>
            <a:bodyPr wrap="none" lIns="0" tIns="0" rIns="0" bIns="0" anchor="t" anchorCtr="0">
              <a:spAutoFit/>
            </a:bodyPr>
            <a:lstStyle/>
            <a:p>
              <a:pPr algn="ctr"/>
              <a:r>
                <a:rPr lang="zh-CN" sz="820" dirty="0">
                  <a:solidFill>
                    <a:srgbClr val="47180F"/>
                  </a:solidFill>
                  <a:latin typeface="+mn-lt"/>
                  <a:ea typeface="+mn-ea"/>
                  <a:cs typeface="+mn-cs"/>
                </a:rPr>
                <a:t>中价值</a:t>
              </a:r>
            </a:p>
          </p:txBody>
        </p:sp>
        <p:sp>
          <p:nvSpPr>
            <p:cNvPr id="185" name="TextBox 185"/>
            <p:cNvSpPr txBox="1"/>
            <p:nvPr/>
          </p:nvSpPr>
          <p:spPr>
            <a:xfrm>
              <a:off x="10288105" y="1911191"/>
              <a:ext cx="340690" cy="161925"/>
            </a:xfrm>
            <a:prstGeom prst="rect">
              <a:avLst/>
            </a:prstGeom>
            <a:noFill/>
            <a:ln>
              <a:noFill/>
            </a:ln>
          </p:spPr>
          <p:txBody>
            <a:bodyPr wrap="none" lIns="0" tIns="0" rIns="0" bIns="0" anchor="t" anchorCtr="0">
              <a:spAutoFit/>
            </a:bodyPr>
            <a:lstStyle/>
            <a:p>
              <a:pPr algn="ctr"/>
              <a:r>
                <a:rPr lang="zh-CN" sz="820" dirty="0">
                  <a:solidFill>
                    <a:srgbClr val="47180F"/>
                  </a:solidFill>
                  <a:latin typeface="+mn-lt"/>
                  <a:ea typeface="+mn-ea"/>
                  <a:cs typeface="+mn-cs"/>
                </a:rPr>
                <a:t>中活跃</a:t>
              </a:r>
            </a:p>
          </p:txBody>
        </p:sp>
        <p:sp>
          <p:nvSpPr>
            <p:cNvPr id="186" name="TextBox 186"/>
            <p:cNvSpPr txBox="1"/>
            <p:nvPr/>
          </p:nvSpPr>
          <p:spPr>
            <a:xfrm>
              <a:off x="11278705" y="17587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中价值</a:t>
              </a:r>
            </a:p>
          </p:txBody>
        </p:sp>
        <p:sp>
          <p:nvSpPr>
            <p:cNvPr id="187" name="TextBox 187"/>
            <p:cNvSpPr txBox="1"/>
            <p:nvPr/>
          </p:nvSpPr>
          <p:spPr>
            <a:xfrm>
              <a:off x="11278705" y="19111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高活跃</a:t>
              </a:r>
            </a:p>
          </p:txBody>
        </p:sp>
        <p:sp>
          <p:nvSpPr>
            <p:cNvPr id="188" name="TextBox 188"/>
            <p:cNvSpPr txBox="1"/>
            <p:nvPr/>
          </p:nvSpPr>
          <p:spPr>
            <a:xfrm>
              <a:off x="9297505" y="2330291"/>
              <a:ext cx="340690" cy="161925"/>
            </a:xfrm>
            <a:prstGeom prst="rect">
              <a:avLst/>
            </a:prstGeom>
            <a:noFill/>
            <a:ln>
              <a:noFill/>
            </a:ln>
          </p:spPr>
          <p:txBody>
            <a:bodyPr wrap="none" lIns="0" tIns="0" rIns="0" bIns="0" anchor="t" anchorCtr="0">
              <a:spAutoFit/>
            </a:bodyPr>
            <a:lstStyle/>
            <a:p>
              <a:pPr algn="ctr"/>
              <a:r>
                <a:rPr lang="zh-CN" sz="820" dirty="0">
                  <a:solidFill>
                    <a:srgbClr val="52352F"/>
                  </a:solidFill>
                  <a:latin typeface="+mn-lt"/>
                  <a:ea typeface="+mn-ea"/>
                  <a:cs typeface="+mn-cs"/>
                </a:rPr>
                <a:t>低价值</a:t>
              </a:r>
            </a:p>
          </p:txBody>
        </p:sp>
        <p:sp>
          <p:nvSpPr>
            <p:cNvPr id="189" name="TextBox 189"/>
            <p:cNvSpPr txBox="1"/>
            <p:nvPr/>
          </p:nvSpPr>
          <p:spPr>
            <a:xfrm>
              <a:off x="9297505" y="2482691"/>
              <a:ext cx="340690" cy="161925"/>
            </a:xfrm>
            <a:prstGeom prst="rect">
              <a:avLst/>
            </a:prstGeom>
            <a:noFill/>
            <a:ln>
              <a:noFill/>
            </a:ln>
          </p:spPr>
          <p:txBody>
            <a:bodyPr wrap="none" lIns="0" tIns="0" rIns="0" bIns="0" anchor="t" anchorCtr="0">
              <a:spAutoFit/>
            </a:bodyPr>
            <a:lstStyle/>
            <a:p>
              <a:pPr algn="ctr"/>
              <a:r>
                <a:rPr lang="zh-CN" sz="820" dirty="0">
                  <a:solidFill>
                    <a:srgbClr val="52352F"/>
                  </a:solidFill>
                  <a:latin typeface="+mn-lt"/>
                  <a:ea typeface="+mn-ea"/>
                  <a:cs typeface="+mn-cs"/>
                </a:rPr>
                <a:t>低活跃</a:t>
              </a:r>
            </a:p>
          </p:txBody>
        </p:sp>
        <p:sp>
          <p:nvSpPr>
            <p:cNvPr id="190" name="TextBox 190"/>
            <p:cNvSpPr txBox="1"/>
            <p:nvPr/>
          </p:nvSpPr>
          <p:spPr>
            <a:xfrm>
              <a:off x="10288105" y="2330291"/>
              <a:ext cx="340690" cy="161925"/>
            </a:xfrm>
            <a:prstGeom prst="rect">
              <a:avLst/>
            </a:prstGeom>
            <a:noFill/>
            <a:ln>
              <a:noFill/>
            </a:ln>
          </p:spPr>
          <p:txBody>
            <a:bodyPr wrap="none" lIns="0" tIns="0" rIns="0" bIns="0" anchor="t" anchorCtr="0">
              <a:spAutoFit/>
            </a:bodyPr>
            <a:lstStyle/>
            <a:p>
              <a:pPr algn="ctr"/>
              <a:r>
                <a:rPr lang="zh-CN" sz="820" dirty="0">
                  <a:solidFill>
                    <a:srgbClr val="52352F"/>
                  </a:solidFill>
                  <a:latin typeface="+mn-lt"/>
                  <a:ea typeface="+mn-ea"/>
                  <a:cs typeface="+mn-cs"/>
                </a:rPr>
                <a:t>低价值</a:t>
              </a:r>
            </a:p>
          </p:txBody>
        </p:sp>
        <p:sp>
          <p:nvSpPr>
            <p:cNvPr id="191" name="TextBox 191"/>
            <p:cNvSpPr txBox="1"/>
            <p:nvPr/>
          </p:nvSpPr>
          <p:spPr>
            <a:xfrm>
              <a:off x="10288105" y="2482691"/>
              <a:ext cx="340690" cy="161925"/>
            </a:xfrm>
            <a:prstGeom prst="rect">
              <a:avLst/>
            </a:prstGeom>
            <a:noFill/>
            <a:ln>
              <a:noFill/>
            </a:ln>
          </p:spPr>
          <p:txBody>
            <a:bodyPr wrap="none" lIns="0" tIns="0" rIns="0" bIns="0" anchor="t" anchorCtr="0">
              <a:spAutoFit/>
            </a:bodyPr>
            <a:lstStyle/>
            <a:p>
              <a:pPr algn="ctr"/>
              <a:r>
                <a:rPr lang="zh-CN" sz="820" dirty="0">
                  <a:solidFill>
                    <a:srgbClr val="52352F"/>
                  </a:solidFill>
                  <a:latin typeface="+mn-lt"/>
                  <a:ea typeface="+mn-ea"/>
                  <a:cs typeface="+mn-cs"/>
                </a:rPr>
                <a:t>中活跃</a:t>
              </a:r>
            </a:p>
          </p:txBody>
        </p:sp>
        <p:sp>
          <p:nvSpPr>
            <p:cNvPr id="192" name="TextBox 192"/>
            <p:cNvSpPr txBox="1"/>
            <p:nvPr/>
          </p:nvSpPr>
          <p:spPr>
            <a:xfrm>
              <a:off x="11278705" y="2330291"/>
              <a:ext cx="340690" cy="161925"/>
            </a:xfrm>
            <a:prstGeom prst="rect">
              <a:avLst/>
            </a:prstGeom>
            <a:noFill/>
            <a:ln>
              <a:noFill/>
            </a:ln>
          </p:spPr>
          <p:txBody>
            <a:bodyPr wrap="none" lIns="0" tIns="0" rIns="0" bIns="0" anchor="t" anchorCtr="0">
              <a:spAutoFit/>
            </a:bodyPr>
            <a:lstStyle/>
            <a:p>
              <a:pPr algn="ctr"/>
              <a:r>
                <a:rPr lang="zh-CN" sz="820" dirty="0">
                  <a:solidFill>
                    <a:srgbClr val="47180F"/>
                  </a:solidFill>
                  <a:latin typeface="+mn-lt"/>
                  <a:ea typeface="+mn-ea"/>
                  <a:cs typeface="+mn-cs"/>
                </a:rPr>
                <a:t>低价值</a:t>
              </a:r>
            </a:p>
          </p:txBody>
        </p:sp>
        <p:sp>
          <p:nvSpPr>
            <p:cNvPr id="193" name="TextBox 193"/>
            <p:cNvSpPr txBox="1"/>
            <p:nvPr/>
          </p:nvSpPr>
          <p:spPr>
            <a:xfrm>
              <a:off x="11278705" y="2482691"/>
              <a:ext cx="340690" cy="161925"/>
            </a:xfrm>
            <a:prstGeom prst="rect">
              <a:avLst/>
            </a:prstGeom>
            <a:noFill/>
            <a:ln>
              <a:noFill/>
            </a:ln>
          </p:spPr>
          <p:txBody>
            <a:bodyPr wrap="none" lIns="0" tIns="0" rIns="0" bIns="0" anchor="t" anchorCtr="0">
              <a:spAutoFit/>
            </a:bodyPr>
            <a:lstStyle/>
            <a:p>
              <a:pPr algn="ctr"/>
              <a:r>
                <a:rPr lang="zh-CN" sz="820" dirty="0">
                  <a:solidFill>
                    <a:srgbClr val="47180F"/>
                  </a:solidFill>
                  <a:latin typeface="+mn-lt"/>
                  <a:ea typeface="+mn-ea"/>
                  <a:cs typeface="+mn-cs"/>
                </a:rPr>
                <a:t>高活跃</a:t>
              </a:r>
            </a:p>
          </p:txBody>
        </p:sp>
        <p:sp>
          <p:nvSpPr>
            <p:cNvPr id="194" name="TextBox 194"/>
            <p:cNvSpPr txBox="1"/>
            <p:nvPr/>
          </p:nvSpPr>
          <p:spPr>
            <a:xfrm>
              <a:off x="8986838" y="2768441"/>
              <a:ext cx="340690"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活跃度</a:t>
              </a:r>
            </a:p>
          </p:txBody>
        </p:sp>
        <p:sp>
          <p:nvSpPr>
            <p:cNvPr id="195" name="TextBox 195"/>
            <p:cNvSpPr txBox="1"/>
            <p:nvPr/>
          </p:nvSpPr>
          <p:spPr>
            <a:xfrm>
              <a:off x="9407893" y="2768441"/>
              <a:ext cx="119913" cy="161925"/>
            </a:xfrm>
            <a:prstGeom prst="rect">
              <a:avLst/>
            </a:prstGeom>
            <a:noFill/>
            <a:ln>
              <a:noFill/>
            </a:ln>
          </p:spPr>
          <p:txBody>
            <a:bodyPr wrap="none" lIns="0" tIns="0" rIns="0" bIns="0" anchor="t" anchorCtr="0">
              <a:spAutoFit/>
            </a:bodyPr>
            <a:lstStyle/>
            <a:p>
              <a:pPr algn="ctr"/>
              <a:r>
                <a:rPr lang="zh-CN" sz="820" dirty="0">
                  <a:solidFill>
                    <a:srgbClr val="8C716B"/>
                  </a:solidFill>
                  <a:latin typeface="+mn-lt"/>
                  <a:ea typeface="+mn-ea"/>
                  <a:cs typeface="+mn-cs"/>
                </a:rPr>
                <a:t>低</a:t>
              </a:r>
            </a:p>
          </p:txBody>
        </p:sp>
        <p:sp>
          <p:nvSpPr>
            <p:cNvPr id="196" name="TextBox 196"/>
            <p:cNvSpPr txBox="1"/>
            <p:nvPr/>
          </p:nvSpPr>
          <p:spPr>
            <a:xfrm>
              <a:off x="10398493" y="2768441"/>
              <a:ext cx="119913" cy="161925"/>
            </a:xfrm>
            <a:prstGeom prst="rect">
              <a:avLst/>
            </a:prstGeom>
            <a:noFill/>
            <a:ln>
              <a:noFill/>
            </a:ln>
          </p:spPr>
          <p:txBody>
            <a:bodyPr wrap="none" lIns="0" tIns="0" rIns="0" bIns="0" anchor="t" anchorCtr="0">
              <a:spAutoFit/>
            </a:bodyPr>
            <a:lstStyle/>
            <a:p>
              <a:pPr algn="ctr"/>
              <a:r>
                <a:rPr lang="zh-CN" sz="820" dirty="0">
                  <a:solidFill>
                    <a:srgbClr val="8C716B"/>
                  </a:solidFill>
                  <a:latin typeface="+mn-lt"/>
                  <a:ea typeface="+mn-ea"/>
                  <a:cs typeface="+mn-cs"/>
                </a:rPr>
                <a:t>中</a:t>
              </a:r>
            </a:p>
          </p:txBody>
        </p:sp>
        <p:sp>
          <p:nvSpPr>
            <p:cNvPr id="197" name="TextBox 197"/>
            <p:cNvSpPr txBox="1"/>
            <p:nvPr/>
          </p:nvSpPr>
          <p:spPr>
            <a:xfrm>
              <a:off x="11389093" y="2768441"/>
              <a:ext cx="119913" cy="161925"/>
            </a:xfrm>
            <a:prstGeom prst="rect">
              <a:avLst/>
            </a:prstGeom>
            <a:noFill/>
            <a:ln>
              <a:noFill/>
            </a:ln>
          </p:spPr>
          <p:txBody>
            <a:bodyPr wrap="none" lIns="0" tIns="0" rIns="0" bIns="0" anchor="t" anchorCtr="0">
              <a:spAutoFit/>
            </a:bodyPr>
            <a:lstStyle/>
            <a:p>
              <a:pPr algn="ctr"/>
              <a:r>
                <a:rPr lang="zh-CN" sz="820" dirty="0">
                  <a:solidFill>
                    <a:srgbClr val="8C716B"/>
                  </a:solidFill>
                  <a:latin typeface="+mn-lt"/>
                  <a:ea typeface="+mn-ea"/>
                  <a:cs typeface="+mn-cs"/>
                </a:rPr>
                <a:t>高</a:t>
              </a:r>
            </a:p>
          </p:txBody>
        </p:sp>
      </p:grpSp>
      <p:grpSp>
        <p:nvGrpSpPr>
          <p:cNvPr id="239" name="right-table"/>
          <p:cNvGrpSpPr/>
          <p:nvPr/>
        </p:nvGrpSpPr>
        <p:grpSpPr>
          <a:xfrm>
            <a:off x="8572500" y="2933700"/>
            <a:ext cx="3429000" cy="2209800"/>
            <a:chOff x="8572500" y="2933700"/>
            <a:chExt cx="3429000" cy="2209800"/>
          </a:xfrm>
        </p:grpSpPr>
        <p:sp>
          <p:nvSpPr>
            <p:cNvPr id="199" name="Rectangle 199"/>
            <p:cNvSpPr/>
            <p:nvPr/>
          </p:nvSpPr>
          <p:spPr>
            <a:xfrm>
              <a:off x="8572500" y="2933700"/>
              <a:ext cx="3429000" cy="209550"/>
            </a:xfrm>
            <a:prstGeom prst="rect">
              <a:avLst/>
            </a:prstGeom>
            <a:solidFill>
              <a:srgbClr val="92301C"/>
            </a:solidFill>
            <a:ln>
              <a:noFill/>
            </a:ln>
          </p:spPr>
        </p:sp>
        <p:sp>
          <p:nvSpPr>
            <p:cNvPr id="200" name="TextBox 200"/>
            <p:cNvSpPr txBox="1"/>
            <p:nvPr/>
          </p:nvSpPr>
          <p:spPr>
            <a:xfrm>
              <a:off x="8701088" y="2995612"/>
              <a:ext cx="67832"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a:t>
              </a:r>
            </a:p>
          </p:txBody>
        </p:sp>
        <p:sp>
          <p:nvSpPr>
            <p:cNvPr id="201" name="TextBox 201"/>
            <p:cNvSpPr txBox="1"/>
            <p:nvPr/>
          </p:nvSpPr>
          <p:spPr>
            <a:xfrm>
              <a:off x="8853488" y="2995612"/>
              <a:ext cx="673622"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客户分层/特征</a:t>
              </a:r>
            </a:p>
          </p:txBody>
        </p:sp>
        <p:sp>
          <p:nvSpPr>
            <p:cNvPr id="202" name="TextBox 202"/>
            <p:cNvSpPr txBox="1"/>
            <p:nvPr/>
          </p:nvSpPr>
          <p:spPr>
            <a:xfrm>
              <a:off x="9748838" y="2995612"/>
              <a:ext cx="91821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下一步行动（建议）</a:t>
              </a:r>
            </a:p>
          </p:txBody>
        </p:sp>
        <p:sp>
          <p:nvSpPr>
            <p:cNvPr id="203" name="TextBox 203"/>
            <p:cNvSpPr txBox="1"/>
            <p:nvPr/>
          </p:nvSpPr>
          <p:spPr>
            <a:xfrm>
              <a:off x="11158538" y="2995612"/>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预期价值</a:t>
              </a:r>
            </a:p>
          </p:txBody>
        </p:sp>
        <p:grpSp>
          <p:nvGrpSpPr>
            <p:cNvPr id="238" name="rt-rows"/>
            <p:cNvGrpSpPr/>
            <p:nvPr/>
          </p:nvGrpSpPr>
          <p:grpSpPr>
            <a:xfrm>
              <a:off x="8572500" y="3143250"/>
              <a:ext cx="3429000" cy="2000250"/>
              <a:chOff x="8572500" y="3143250"/>
              <a:chExt cx="3429000" cy="2000250"/>
            </a:xfrm>
          </p:grpSpPr>
          <p:sp>
            <p:nvSpPr>
              <p:cNvPr id="204" name="Rectangle 204"/>
              <p:cNvSpPr/>
              <p:nvPr/>
            </p:nvSpPr>
            <p:spPr>
              <a:xfrm>
                <a:off x="8572500" y="3143250"/>
                <a:ext cx="3429000" cy="400050"/>
              </a:xfrm>
              <a:prstGeom prst="rect">
                <a:avLst/>
              </a:prstGeom>
              <a:solidFill>
                <a:srgbClr val="F6F9FD"/>
              </a:solidFill>
              <a:ln>
                <a:noFill/>
              </a:ln>
            </p:spPr>
          </p:sp>
          <p:sp>
            <p:nvSpPr>
              <p:cNvPr id="205" name="Line 205"/>
              <p:cNvSpPr/>
              <p:nvPr/>
            </p:nvSpPr>
            <p:spPr>
              <a:xfrm>
                <a:off x="8572500" y="3543300"/>
                <a:ext cx="3429000" cy="9525"/>
              </a:xfrm>
              <a:custGeom>
                <a:avLst/>
                <a:gdLst/>
                <a:ahLst/>
                <a:cxnLst/>
                <a:rect l="l" t="t" r="r" b="b"/>
                <a:pathLst>
                  <a:path w="3429000" h="9525">
                    <a:moveTo>
                      <a:pt x="0" y="0"/>
                    </a:moveTo>
                    <a:lnTo>
                      <a:pt x="3429000" y="0"/>
                    </a:lnTo>
                  </a:path>
                </a:pathLst>
              </a:custGeom>
              <a:noFill/>
              <a:ln w="9525">
                <a:solidFill>
                  <a:srgbClr val="DCE6F2"/>
                </a:solidFill>
              </a:ln>
            </p:spPr>
          </p:sp>
          <p:sp>
            <p:nvSpPr>
              <p:cNvPr id="206" name="TextBox 206"/>
              <p:cNvSpPr txBox="1"/>
              <p:nvPr/>
            </p:nvSpPr>
            <p:spPr>
              <a:xfrm>
                <a:off x="8673009" y="3300412"/>
                <a:ext cx="65682" cy="147638"/>
              </a:xfrm>
              <a:prstGeom prst="rect">
                <a:avLst/>
              </a:prstGeom>
              <a:noFill/>
              <a:ln>
                <a:noFill/>
              </a:ln>
            </p:spPr>
            <p:txBody>
              <a:bodyPr wrap="none" lIns="0" tIns="0" rIns="0" bIns="0" anchor="t" anchorCtr="0">
                <a:spAutoFit/>
              </a:bodyPr>
              <a:lstStyle/>
              <a:p>
                <a:pPr algn="ctr"/>
                <a:r>
                  <a:rPr lang="zh-CN" sz="750" b="1" dirty="0">
                    <a:solidFill>
                      <a:srgbClr val="92301C"/>
                    </a:solidFill>
                    <a:latin typeface="+mj-lt"/>
                    <a:ea typeface="+mj-ea"/>
                    <a:cs typeface="+mj-cs"/>
                  </a:rPr>
                  <a:t>1</a:t>
                </a:r>
              </a:p>
            </p:txBody>
          </p:sp>
          <p:sp>
            <p:nvSpPr>
              <p:cNvPr id="207" name="TextBox 207"/>
              <p:cNvSpPr txBox="1"/>
              <p:nvPr/>
            </p:nvSpPr>
            <p:spPr>
              <a:xfrm>
                <a:off x="8853488" y="3304461"/>
                <a:ext cx="788504"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 xml:space="preserve">高价值 · 低活跃　</a:t>
                </a:r>
              </a:p>
            </p:txBody>
          </p:sp>
          <p:sp>
            <p:nvSpPr>
              <p:cNvPr id="208" name="TextBox 208"/>
              <p:cNvSpPr txBox="1"/>
              <p:nvPr/>
            </p:nvSpPr>
            <p:spPr>
              <a:xfrm>
                <a:off x="9748838" y="3304461"/>
                <a:ext cx="106090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专属理财方案＋客户关怀</a:t>
                </a:r>
              </a:p>
            </p:txBody>
          </p:sp>
          <p:sp>
            <p:nvSpPr>
              <p:cNvPr id="209" name="TextBox 209"/>
              <p:cNvSpPr txBox="1"/>
              <p:nvPr/>
            </p:nvSpPr>
            <p:spPr>
              <a:xfrm>
                <a:off x="11158538" y="3237786"/>
                <a:ext cx="39184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资产提升</a:t>
                </a:r>
              </a:p>
            </p:txBody>
          </p:sp>
          <p:sp>
            <p:nvSpPr>
              <p:cNvPr id="210" name="TextBox 210"/>
              <p:cNvSpPr txBox="1"/>
              <p:nvPr/>
            </p:nvSpPr>
            <p:spPr>
              <a:xfrm>
                <a:off x="11158538" y="339018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211" name="Rectangle 211"/>
              <p:cNvSpPr/>
              <p:nvPr/>
            </p:nvSpPr>
            <p:spPr>
              <a:xfrm>
                <a:off x="8572500" y="3543300"/>
                <a:ext cx="3429000" cy="400050"/>
              </a:xfrm>
              <a:prstGeom prst="rect">
                <a:avLst/>
              </a:prstGeom>
              <a:solidFill>
                <a:srgbClr val="FFFFFF"/>
              </a:solidFill>
              <a:ln>
                <a:noFill/>
              </a:ln>
            </p:spPr>
          </p:sp>
          <p:sp>
            <p:nvSpPr>
              <p:cNvPr id="212" name="Line 212"/>
              <p:cNvSpPr/>
              <p:nvPr/>
            </p:nvSpPr>
            <p:spPr>
              <a:xfrm>
                <a:off x="8572500" y="3943350"/>
                <a:ext cx="3429000" cy="9525"/>
              </a:xfrm>
              <a:custGeom>
                <a:avLst/>
                <a:gdLst/>
                <a:ahLst/>
                <a:cxnLst/>
                <a:rect l="l" t="t" r="r" b="b"/>
                <a:pathLst>
                  <a:path w="3429000" h="9525">
                    <a:moveTo>
                      <a:pt x="0" y="0"/>
                    </a:moveTo>
                    <a:lnTo>
                      <a:pt x="3429000" y="0"/>
                    </a:lnTo>
                  </a:path>
                </a:pathLst>
              </a:custGeom>
              <a:noFill/>
              <a:ln w="9525">
                <a:solidFill>
                  <a:srgbClr val="DCE6F2"/>
                </a:solidFill>
              </a:ln>
            </p:spPr>
          </p:sp>
          <p:sp>
            <p:nvSpPr>
              <p:cNvPr id="213" name="TextBox 213"/>
              <p:cNvSpPr txBox="1"/>
              <p:nvPr/>
            </p:nvSpPr>
            <p:spPr>
              <a:xfrm>
                <a:off x="8673009" y="3700462"/>
                <a:ext cx="65682" cy="147638"/>
              </a:xfrm>
              <a:prstGeom prst="rect">
                <a:avLst/>
              </a:prstGeom>
              <a:noFill/>
              <a:ln>
                <a:noFill/>
              </a:ln>
            </p:spPr>
            <p:txBody>
              <a:bodyPr wrap="none" lIns="0" tIns="0" rIns="0" bIns="0" anchor="t" anchorCtr="0">
                <a:spAutoFit/>
              </a:bodyPr>
              <a:lstStyle/>
              <a:p>
                <a:pPr algn="ctr"/>
                <a:r>
                  <a:rPr lang="zh-CN" sz="750" b="1" dirty="0">
                    <a:solidFill>
                      <a:srgbClr val="92301C"/>
                    </a:solidFill>
                    <a:latin typeface="+mj-lt"/>
                    <a:ea typeface="+mj-ea"/>
                    <a:cs typeface="+mj-cs"/>
                  </a:rPr>
                  <a:t>2</a:t>
                </a:r>
              </a:p>
            </p:txBody>
          </p:sp>
          <p:sp>
            <p:nvSpPr>
              <p:cNvPr id="214" name="TextBox 214"/>
              <p:cNvSpPr txBox="1"/>
              <p:nvPr/>
            </p:nvSpPr>
            <p:spPr>
              <a:xfrm>
                <a:off x="8853488" y="3704511"/>
                <a:ext cx="788504"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 xml:space="preserve">高价值 · 高活跃　</a:t>
                </a:r>
              </a:p>
            </p:txBody>
          </p:sp>
          <p:sp>
            <p:nvSpPr>
              <p:cNvPr id="215" name="TextBox 215"/>
              <p:cNvSpPr txBox="1"/>
              <p:nvPr/>
            </p:nvSpPr>
            <p:spPr>
              <a:xfrm>
                <a:off x="9748838" y="3704511"/>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私行权益预约</a:t>
                </a:r>
              </a:p>
            </p:txBody>
          </p:sp>
          <p:sp>
            <p:nvSpPr>
              <p:cNvPr id="216" name="TextBox 216"/>
              <p:cNvSpPr txBox="1"/>
              <p:nvPr/>
            </p:nvSpPr>
            <p:spPr>
              <a:xfrm>
                <a:off x="11158538" y="3637836"/>
                <a:ext cx="52068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j-lt"/>
                    <a:ea typeface="+mj-ea"/>
                    <a:cs typeface="+mj-cs"/>
                  </a:rPr>
                  <a:t xml:space="preserve">AUM提升　</a:t>
                </a:r>
              </a:p>
            </p:txBody>
          </p:sp>
          <p:sp>
            <p:nvSpPr>
              <p:cNvPr id="217" name="TextBox 217"/>
              <p:cNvSpPr txBox="1"/>
              <p:nvPr/>
            </p:nvSpPr>
            <p:spPr>
              <a:xfrm>
                <a:off x="11158538" y="37902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218" name="Rectangle 218"/>
              <p:cNvSpPr/>
              <p:nvPr/>
            </p:nvSpPr>
            <p:spPr>
              <a:xfrm>
                <a:off x="8572500" y="3943350"/>
                <a:ext cx="3429000" cy="400050"/>
              </a:xfrm>
              <a:prstGeom prst="rect">
                <a:avLst/>
              </a:prstGeom>
              <a:solidFill>
                <a:srgbClr val="F6F9FD"/>
              </a:solidFill>
              <a:ln>
                <a:noFill/>
              </a:ln>
            </p:spPr>
          </p:sp>
          <p:sp>
            <p:nvSpPr>
              <p:cNvPr id="219" name="Line 219"/>
              <p:cNvSpPr/>
              <p:nvPr/>
            </p:nvSpPr>
            <p:spPr>
              <a:xfrm>
                <a:off x="8572500" y="4343400"/>
                <a:ext cx="3429000" cy="9525"/>
              </a:xfrm>
              <a:custGeom>
                <a:avLst/>
                <a:gdLst/>
                <a:ahLst/>
                <a:cxnLst/>
                <a:rect l="l" t="t" r="r" b="b"/>
                <a:pathLst>
                  <a:path w="3429000" h="9525">
                    <a:moveTo>
                      <a:pt x="0" y="0"/>
                    </a:moveTo>
                    <a:lnTo>
                      <a:pt x="3429000" y="0"/>
                    </a:lnTo>
                  </a:path>
                </a:pathLst>
              </a:custGeom>
              <a:noFill/>
              <a:ln w="9525">
                <a:solidFill>
                  <a:srgbClr val="DCE6F2"/>
                </a:solidFill>
              </a:ln>
            </p:spPr>
          </p:sp>
          <p:sp>
            <p:nvSpPr>
              <p:cNvPr id="220" name="TextBox 220"/>
              <p:cNvSpPr txBox="1"/>
              <p:nvPr/>
            </p:nvSpPr>
            <p:spPr>
              <a:xfrm>
                <a:off x="8673009" y="4100512"/>
                <a:ext cx="65682" cy="147638"/>
              </a:xfrm>
              <a:prstGeom prst="rect">
                <a:avLst/>
              </a:prstGeom>
              <a:noFill/>
              <a:ln>
                <a:noFill/>
              </a:ln>
            </p:spPr>
            <p:txBody>
              <a:bodyPr wrap="none" lIns="0" tIns="0" rIns="0" bIns="0" anchor="t" anchorCtr="0">
                <a:spAutoFit/>
              </a:bodyPr>
              <a:lstStyle/>
              <a:p>
                <a:pPr algn="ctr"/>
                <a:r>
                  <a:rPr lang="zh-CN" sz="750" b="1" dirty="0">
                    <a:solidFill>
                      <a:srgbClr val="92301C"/>
                    </a:solidFill>
                    <a:latin typeface="+mj-lt"/>
                    <a:ea typeface="+mj-ea"/>
                    <a:cs typeface="+mj-cs"/>
                  </a:rPr>
                  <a:t>3</a:t>
                </a:r>
              </a:p>
            </p:txBody>
          </p:sp>
          <p:sp>
            <p:nvSpPr>
              <p:cNvPr id="221" name="TextBox 221"/>
              <p:cNvSpPr txBox="1"/>
              <p:nvPr/>
            </p:nvSpPr>
            <p:spPr>
              <a:xfrm>
                <a:off x="8853488" y="4104561"/>
                <a:ext cx="788504"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 xml:space="preserve">中价值 · 中活跃　</a:t>
                </a:r>
              </a:p>
            </p:txBody>
          </p:sp>
          <p:sp>
            <p:nvSpPr>
              <p:cNvPr id="222" name="TextBox 222"/>
              <p:cNvSpPr txBox="1"/>
              <p:nvPr/>
            </p:nvSpPr>
            <p:spPr>
              <a:xfrm>
                <a:off x="9748838" y="4104561"/>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基金定投推荐</a:t>
                </a:r>
              </a:p>
            </p:txBody>
          </p:sp>
          <p:sp>
            <p:nvSpPr>
              <p:cNvPr id="223" name="TextBox 223"/>
              <p:cNvSpPr txBox="1"/>
              <p:nvPr/>
            </p:nvSpPr>
            <p:spPr>
              <a:xfrm>
                <a:off x="11158538" y="4037886"/>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交易规模提升</a:t>
                </a:r>
              </a:p>
            </p:txBody>
          </p:sp>
          <p:sp>
            <p:nvSpPr>
              <p:cNvPr id="224" name="TextBox 224"/>
              <p:cNvSpPr txBox="1"/>
              <p:nvPr/>
            </p:nvSpPr>
            <p:spPr>
              <a:xfrm>
                <a:off x="11158538" y="419028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225" name="Rectangle 225"/>
              <p:cNvSpPr/>
              <p:nvPr/>
            </p:nvSpPr>
            <p:spPr>
              <a:xfrm>
                <a:off x="8572500" y="4343400"/>
                <a:ext cx="3429000" cy="400050"/>
              </a:xfrm>
              <a:prstGeom prst="rect">
                <a:avLst/>
              </a:prstGeom>
              <a:solidFill>
                <a:srgbClr val="FFFFFF"/>
              </a:solidFill>
              <a:ln>
                <a:noFill/>
              </a:ln>
            </p:spPr>
          </p:sp>
          <p:sp>
            <p:nvSpPr>
              <p:cNvPr id="226" name="Line 226"/>
              <p:cNvSpPr/>
              <p:nvPr/>
            </p:nvSpPr>
            <p:spPr>
              <a:xfrm>
                <a:off x="8572500" y="4743450"/>
                <a:ext cx="3429000" cy="9525"/>
              </a:xfrm>
              <a:custGeom>
                <a:avLst/>
                <a:gdLst/>
                <a:ahLst/>
                <a:cxnLst/>
                <a:rect l="l" t="t" r="r" b="b"/>
                <a:pathLst>
                  <a:path w="3429000" h="9525">
                    <a:moveTo>
                      <a:pt x="0" y="0"/>
                    </a:moveTo>
                    <a:lnTo>
                      <a:pt x="3429000" y="0"/>
                    </a:lnTo>
                  </a:path>
                </a:pathLst>
              </a:custGeom>
              <a:noFill/>
              <a:ln w="9525">
                <a:solidFill>
                  <a:srgbClr val="DCE6F2"/>
                </a:solidFill>
              </a:ln>
            </p:spPr>
          </p:sp>
          <p:sp>
            <p:nvSpPr>
              <p:cNvPr id="227" name="TextBox 227"/>
              <p:cNvSpPr txBox="1"/>
              <p:nvPr/>
            </p:nvSpPr>
            <p:spPr>
              <a:xfrm>
                <a:off x="8673009" y="4500562"/>
                <a:ext cx="65682" cy="147638"/>
              </a:xfrm>
              <a:prstGeom prst="rect">
                <a:avLst/>
              </a:prstGeom>
              <a:noFill/>
              <a:ln>
                <a:noFill/>
              </a:ln>
            </p:spPr>
            <p:txBody>
              <a:bodyPr wrap="none" lIns="0" tIns="0" rIns="0" bIns="0" anchor="t" anchorCtr="0">
                <a:spAutoFit/>
              </a:bodyPr>
              <a:lstStyle/>
              <a:p>
                <a:pPr algn="ctr"/>
                <a:r>
                  <a:rPr lang="zh-CN" sz="750" b="1" dirty="0">
                    <a:solidFill>
                      <a:srgbClr val="92301C"/>
                    </a:solidFill>
                    <a:latin typeface="+mj-lt"/>
                    <a:ea typeface="+mj-ea"/>
                    <a:cs typeface="+mj-cs"/>
                  </a:rPr>
                  <a:t>4</a:t>
                </a:r>
              </a:p>
            </p:txBody>
          </p:sp>
          <p:sp>
            <p:nvSpPr>
              <p:cNvPr id="228" name="TextBox 228"/>
              <p:cNvSpPr txBox="1"/>
              <p:nvPr/>
            </p:nvSpPr>
            <p:spPr>
              <a:xfrm>
                <a:off x="8853488" y="4504611"/>
                <a:ext cx="788504"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 xml:space="preserve">中价值 · 低活跃　</a:t>
                </a:r>
              </a:p>
            </p:txBody>
          </p:sp>
          <p:sp>
            <p:nvSpPr>
              <p:cNvPr id="229" name="TextBox 229"/>
              <p:cNvSpPr txBox="1"/>
              <p:nvPr/>
            </p:nvSpPr>
            <p:spPr>
              <a:xfrm>
                <a:off x="9748838" y="4504611"/>
                <a:ext cx="82673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存款/稳健理财推荐</a:t>
                </a:r>
              </a:p>
            </p:txBody>
          </p:sp>
          <p:sp>
            <p:nvSpPr>
              <p:cNvPr id="230" name="TextBox 230"/>
              <p:cNvSpPr txBox="1"/>
              <p:nvPr/>
            </p:nvSpPr>
            <p:spPr>
              <a:xfrm>
                <a:off x="11158538" y="4437936"/>
                <a:ext cx="39184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资金回流</a:t>
                </a:r>
              </a:p>
            </p:txBody>
          </p:sp>
          <p:sp>
            <p:nvSpPr>
              <p:cNvPr id="231" name="TextBox 231"/>
              <p:cNvSpPr txBox="1"/>
              <p:nvPr/>
            </p:nvSpPr>
            <p:spPr>
              <a:xfrm>
                <a:off x="11158538" y="45903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232" name="Rectangle 232"/>
              <p:cNvSpPr/>
              <p:nvPr/>
            </p:nvSpPr>
            <p:spPr>
              <a:xfrm>
                <a:off x="8572500" y="4743450"/>
                <a:ext cx="3429000" cy="400050"/>
              </a:xfrm>
              <a:prstGeom prst="rect">
                <a:avLst/>
              </a:prstGeom>
              <a:solidFill>
                <a:srgbClr val="F6F9FD"/>
              </a:solidFill>
              <a:ln>
                <a:noFill/>
              </a:ln>
            </p:spPr>
          </p:sp>
          <p:sp>
            <p:nvSpPr>
              <p:cNvPr id="233" name="TextBox 233"/>
              <p:cNvSpPr txBox="1"/>
              <p:nvPr/>
            </p:nvSpPr>
            <p:spPr>
              <a:xfrm>
                <a:off x="8673009" y="4900612"/>
                <a:ext cx="65682" cy="147638"/>
              </a:xfrm>
              <a:prstGeom prst="rect">
                <a:avLst/>
              </a:prstGeom>
              <a:noFill/>
              <a:ln>
                <a:noFill/>
              </a:ln>
            </p:spPr>
            <p:txBody>
              <a:bodyPr wrap="none" lIns="0" tIns="0" rIns="0" bIns="0" anchor="t" anchorCtr="0">
                <a:spAutoFit/>
              </a:bodyPr>
              <a:lstStyle/>
              <a:p>
                <a:pPr algn="ctr"/>
                <a:r>
                  <a:rPr lang="zh-CN" sz="750" b="1" dirty="0">
                    <a:solidFill>
                      <a:srgbClr val="92301C"/>
                    </a:solidFill>
                    <a:latin typeface="+mj-lt"/>
                    <a:ea typeface="+mj-ea"/>
                    <a:cs typeface="+mj-cs"/>
                  </a:rPr>
                  <a:t>5</a:t>
                </a:r>
              </a:p>
            </p:txBody>
          </p:sp>
          <p:sp>
            <p:nvSpPr>
              <p:cNvPr id="234" name="TextBox 234"/>
              <p:cNvSpPr txBox="1"/>
              <p:nvPr/>
            </p:nvSpPr>
            <p:spPr>
              <a:xfrm>
                <a:off x="8853488" y="4904661"/>
                <a:ext cx="788504"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 xml:space="preserve">低价值 · 高活跃　</a:t>
                </a:r>
              </a:p>
            </p:txBody>
          </p:sp>
          <p:sp>
            <p:nvSpPr>
              <p:cNvPr id="235" name="TextBox 235"/>
              <p:cNvSpPr txBox="1"/>
              <p:nvPr/>
            </p:nvSpPr>
            <p:spPr>
              <a:xfrm>
                <a:off x="9748838" y="4904661"/>
                <a:ext cx="73115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信用卡/支付权益</a:t>
                </a:r>
              </a:p>
            </p:txBody>
          </p:sp>
          <p:sp>
            <p:nvSpPr>
              <p:cNvPr id="236" name="TextBox 236"/>
              <p:cNvSpPr txBox="1"/>
              <p:nvPr/>
            </p:nvSpPr>
            <p:spPr>
              <a:xfrm>
                <a:off x="11158538" y="4837986"/>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交易频次提升</a:t>
                </a:r>
              </a:p>
            </p:txBody>
          </p:sp>
          <p:sp>
            <p:nvSpPr>
              <p:cNvPr id="237" name="TextBox 237"/>
              <p:cNvSpPr txBox="1"/>
              <p:nvPr/>
            </p:nvSpPr>
            <p:spPr>
              <a:xfrm>
                <a:off x="11158538" y="499038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grpSp>
      </p:grpSp>
      <p:grpSp>
        <p:nvGrpSpPr>
          <p:cNvPr id="242" name="bottom-head"/>
          <p:cNvGrpSpPr/>
          <p:nvPr/>
        </p:nvGrpSpPr>
        <p:grpSpPr>
          <a:xfrm>
            <a:off x="190500" y="5295900"/>
            <a:ext cx="8286750" cy="272987"/>
            <a:chOff x="190500" y="5295900"/>
            <a:chExt cx="8286750" cy="272987"/>
          </a:xfrm>
        </p:grpSpPr>
        <p:sp>
          <p:nvSpPr>
            <p:cNvPr id="240" name="Rectangle 240"/>
            <p:cNvSpPr/>
            <p:nvPr/>
          </p:nvSpPr>
          <p:spPr>
            <a:xfrm>
              <a:off x="190500" y="5295900"/>
              <a:ext cx="8286750" cy="266700"/>
            </a:xfrm>
            <a:prstGeom prst="rect">
              <a:avLst/>
            </a:prstGeom>
            <a:gradFill>
              <a:gsLst>
                <a:gs pos="0">
                  <a:srgbClr val="92301C"/>
                </a:gs>
                <a:gs pos="100000">
                  <a:srgbClr val="B7533F"/>
                </a:gs>
              </a:gsLst>
              <a:lin ang="0" scaled="1"/>
            </a:gradFill>
            <a:ln>
              <a:noFill/>
            </a:ln>
          </p:spPr>
        </p:sp>
        <p:sp>
          <p:nvSpPr>
            <p:cNvPr id="241" name="TextBox 241"/>
            <p:cNvSpPr txBox="1"/>
            <p:nvPr/>
          </p:nvSpPr>
          <p:spPr>
            <a:xfrm>
              <a:off x="318516" y="5363528"/>
              <a:ext cx="1000125"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合规与管控保障</a:t>
              </a:r>
            </a:p>
          </p:txBody>
        </p:sp>
      </p:grpSp>
      <p:grpSp>
        <p:nvGrpSpPr>
          <p:cNvPr id="283" name="bottom-cards"/>
          <p:cNvGrpSpPr/>
          <p:nvPr/>
        </p:nvGrpSpPr>
        <p:grpSpPr>
          <a:xfrm>
            <a:off x="190500" y="5600700"/>
            <a:ext cx="8229600" cy="971550"/>
            <a:chOff x="190500" y="5600700"/>
            <a:chExt cx="8229600" cy="971550"/>
          </a:xfrm>
        </p:grpSpPr>
        <p:grpSp>
          <p:nvGrpSpPr>
            <p:cNvPr id="252" name="bc-1"/>
            <p:cNvGrpSpPr/>
            <p:nvPr/>
          </p:nvGrpSpPr>
          <p:grpSpPr>
            <a:xfrm>
              <a:off x="190500" y="5600700"/>
              <a:ext cx="2000250" cy="971550"/>
              <a:chOff x="190500" y="5600700"/>
              <a:chExt cx="2000250" cy="971550"/>
            </a:xfrm>
          </p:grpSpPr>
          <p:sp>
            <p:nvSpPr>
              <p:cNvPr id="243" name="Rectangle 243"/>
              <p:cNvSpPr/>
              <p:nvPr/>
            </p:nvSpPr>
            <p:spPr>
              <a:xfrm>
                <a:off x="190500" y="5600700"/>
                <a:ext cx="2000250" cy="971550"/>
              </a:xfrm>
              <a:prstGeom prst="roundRect">
                <a:avLst>
                  <a:gd name="adj" fmla="val 5882"/>
                </a:avLst>
              </a:prstGeom>
              <a:solidFill>
                <a:srgbClr val="F6F9FD"/>
              </a:solidFill>
              <a:ln w="9525">
                <a:solidFill>
                  <a:srgbClr val="CFDFEE"/>
                </a:solidFill>
              </a:ln>
            </p:spPr>
          </p:sp>
          <p:grpSp>
            <p:nvGrpSpPr>
              <p:cNvPr id="247" name="Group 247"/>
              <p:cNvGrpSpPr/>
              <p:nvPr/>
            </p:nvGrpSpPr>
            <p:grpSpPr>
              <a:xfrm>
                <a:off x="361950" y="5743575"/>
                <a:ext cx="152400" cy="171450"/>
                <a:chOff x="361950" y="5743575"/>
                <a:chExt cx="152400" cy="171450"/>
              </a:xfrm>
            </p:grpSpPr>
            <p:sp>
              <p:nvSpPr>
                <p:cNvPr id="244" name="Freeform 244"/>
                <p:cNvSpPr/>
                <p:nvPr/>
              </p:nvSpPr>
              <p:spPr>
                <a:xfrm>
                  <a:off x="361950" y="574357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92301C"/>
                  </a:solidFill>
                </a:ln>
              </p:spPr>
            </p:sp>
            <p:sp>
              <p:nvSpPr>
                <p:cNvPr id="245" name="Freeform 245"/>
                <p:cNvSpPr/>
                <p:nvPr/>
              </p:nvSpPr>
              <p:spPr>
                <a:xfrm>
                  <a:off x="361950" y="57721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2301C"/>
                  </a:solidFill>
                </a:ln>
              </p:spPr>
            </p:sp>
            <p:sp>
              <p:nvSpPr>
                <p:cNvPr id="246" name="Freeform 246"/>
                <p:cNvSpPr/>
                <p:nvPr/>
              </p:nvSpPr>
              <p:spPr>
                <a:xfrm>
                  <a:off x="361950" y="58293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2301C"/>
                  </a:solidFill>
                </a:ln>
              </p:spPr>
            </p:sp>
          </p:grpSp>
          <p:sp>
            <p:nvSpPr>
              <p:cNvPr id="248" name="TextBox 248"/>
              <p:cNvSpPr txBox="1"/>
              <p:nvPr/>
            </p:nvSpPr>
            <p:spPr>
              <a:xfrm>
                <a:off x="623697" y="5771674"/>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数据授权</a:t>
                </a:r>
              </a:p>
            </p:txBody>
          </p:sp>
          <p:sp>
            <p:nvSpPr>
              <p:cNvPr id="249" name="TextBox 249"/>
              <p:cNvSpPr txBox="1"/>
              <p:nvPr/>
            </p:nvSpPr>
            <p:spPr>
              <a:xfrm>
                <a:off x="623888" y="6005512"/>
                <a:ext cx="99917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依法合规采集与使用</a:t>
                </a:r>
              </a:p>
            </p:txBody>
          </p:sp>
          <p:sp>
            <p:nvSpPr>
              <p:cNvPr id="250" name="TextBox 250"/>
              <p:cNvSpPr txBox="1"/>
              <p:nvPr/>
            </p:nvSpPr>
            <p:spPr>
              <a:xfrm>
                <a:off x="623888" y="6157912"/>
                <a:ext cx="99917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客户知情与授权同意</a:t>
                </a:r>
              </a:p>
            </p:txBody>
          </p:sp>
          <p:sp>
            <p:nvSpPr>
              <p:cNvPr id="251" name="TextBox 251"/>
              <p:cNvSpPr txBox="1"/>
              <p:nvPr/>
            </p:nvSpPr>
            <p:spPr>
              <a:xfrm>
                <a:off x="623888" y="6310312"/>
                <a:ext cx="89820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用途限定最小必要</a:t>
                </a:r>
              </a:p>
            </p:txBody>
          </p:sp>
        </p:grpSp>
        <p:grpSp>
          <p:nvGrpSpPr>
            <p:cNvPr id="263" name="bc-2"/>
            <p:cNvGrpSpPr/>
            <p:nvPr/>
          </p:nvGrpSpPr>
          <p:grpSpPr>
            <a:xfrm>
              <a:off x="2266950" y="5600700"/>
              <a:ext cx="2000250" cy="971550"/>
              <a:chOff x="2266950" y="5600700"/>
              <a:chExt cx="2000250" cy="971550"/>
            </a:xfrm>
          </p:grpSpPr>
          <p:sp>
            <p:nvSpPr>
              <p:cNvPr id="253" name="Rectangle 253"/>
              <p:cNvSpPr/>
              <p:nvPr/>
            </p:nvSpPr>
            <p:spPr>
              <a:xfrm>
                <a:off x="2266950" y="5600700"/>
                <a:ext cx="2000250" cy="971550"/>
              </a:xfrm>
              <a:prstGeom prst="roundRect">
                <a:avLst>
                  <a:gd name="adj" fmla="val 5882"/>
                </a:avLst>
              </a:prstGeom>
              <a:solidFill>
                <a:srgbClr val="F6F9FD"/>
              </a:solidFill>
              <a:ln w="9525">
                <a:solidFill>
                  <a:srgbClr val="CFDFEE"/>
                </a:solidFill>
              </a:ln>
            </p:spPr>
          </p:sp>
          <p:grpSp>
            <p:nvGrpSpPr>
              <p:cNvPr id="258" name="Group 258"/>
              <p:cNvGrpSpPr/>
              <p:nvPr/>
            </p:nvGrpSpPr>
            <p:grpSpPr>
              <a:xfrm>
                <a:off x="2447925" y="5753100"/>
                <a:ext cx="142875" cy="161925"/>
                <a:chOff x="2447925" y="5753100"/>
                <a:chExt cx="142875" cy="161925"/>
              </a:xfrm>
            </p:grpSpPr>
            <p:sp>
              <p:nvSpPr>
                <p:cNvPr id="254" name="Freeform 254"/>
                <p:cNvSpPr/>
                <p:nvPr/>
              </p:nvSpPr>
              <p:spPr>
                <a:xfrm>
                  <a:off x="2447925" y="575310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92301C"/>
                  </a:solidFill>
                </a:ln>
              </p:spPr>
            </p:sp>
            <p:sp>
              <p:nvSpPr>
                <p:cNvPr id="255" name="Freeform 255"/>
                <p:cNvSpPr/>
                <p:nvPr/>
              </p:nvSpPr>
              <p:spPr>
                <a:xfrm>
                  <a:off x="2533650" y="5876925"/>
                  <a:ext cx="57150" cy="38100"/>
                </a:xfrm>
                <a:custGeom>
                  <a:avLst/>
                  <a:gdLst/>
                  <a:ahLst/>
                  <a:cxnLst/>
                  <a:rect l="l" t="t" r="r" b="b"/>
                  <a:pathLst>
                    <a:path w="57150" h="38100">
                      <a:moveTo>
                        <a:pt x="0" y="19050"/>
                      </a:moveTo>
                      <a:lnTo>
                        <a:pt x="19050" y="38100"/>
                      </a:lnTo>
                      <a:lnTo>
                        <a:pt x="57150" y="0"/>
                      </a:lnTo>
                    </a:path>
                  </a:pathLst>
                </a:custGeom>
                <a:noFill/>
                <a:ln w="19050">
                  <a:solidFill>
                    <a:srgbClr val="92301C"/>
                  </a:solidFill>
                </a:ln>
              </p:spPr>
            </p:sp>
            <p:sp>
              <p:nvSpPr>
                <p:cNvPr id="256" name="Freeform 256"/>
                <p:cNvSpPr/>
                <p:nvPr/>
              </p:nvSpPr>
              <p:spPr>
                <a:xfrm>
                  <a:off x="2486025" y="5791200"/>
                  <a:ext cx="38100" cy="9525"/>
                </a:xfrm>
                <a:custGeom>
                  <a:avLst/>
                  <a:gdLst/>
                  <a:ahLst/>
                  <a:cxnLst/>
                  <a:rect l="l" t="t" r="r" b="b"/>
                  <a:pathLst>
                    <a:path w="38100" h="9525">
                      <a:moveTo>
                        <a:pt x="0" y="0"/>
                      </a:moveTo>
                      <a:lnTo>
                        <a:pt x="38100" y="0"/>
                      </a:lnTo>
                    </a:path>
                  </a:pathLst>
                </a:custGeom>
                <a:noFill/>
                <a:ln w="19050">
                  <a:solidFill>
                    <a:srgbClr val="92301C"/>
                  </a:solidFill>
                </a:ln>
              </p:spPr>
            </p:sp>
            <p:sp>
              <p:nvSpPr>
                <p:cNvPr id="257" name="Freeform 257"/>
                <p:cNvSpPr/>
                <p:nvPr/>
              </p:nvSpPr>
              <p:spPr>
                <a:xfrm>
                  <a:off x="2486025" y="5829300"/>
                  <a:ext cx="19050" cy="9525"/>
                </a:xfrm>
                <a:custGeom>
                  <a:avLst/>
                  <a:gdLst/>
                  <a:ahLst/>
                  <a:cxnLst/>
                  <a:rect l="l" t="t" r="r" b="b"/>
                  <a:pathLst>
                    <a:path w="19050" h="9525">
                      <a:moveTo>
                        <a:pt x="0" y="0"/>
                      </a:moveTo>
                      <a:lnTo>
                        <a:pt x="19050" y="0"/>
                      </a:lnTo>
                    </a:path>
                  </a:pathLst>
                </a:custGeom>
                <a:noFill/>
                <a:ln w="19050">
                  <a:solidFill>
                    <a:srgbClr val="92301C"/>
                  </a:solidFill>
                </a:ln>
              </p:spPr>
            </p:sp>
          </p:grpSp>
          <p:sp>
            <p:nvSpPr>
              <p:cNvPr id="259" name="TextBox 259"/>
              <p:cNvSpPr txBox="1"/>
              <p:nvPr/>
            </p:nvSpPr>
            <p:spPr>
              <a:xfrm>
                <a:off x="2700147" y="5771674"/>
                <a:ext cx="669544"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适当性管理</a:t>
                </a:r>
              </a:p>
            </p:txBody>
          </p:sp>
          <p:sp>
            <p:nvSpPr>
              <p:cNvPr id="260" name="TextBox 260"/>
              <p:cNvSpPr txBox="1"/>
              <p:nvPr/>
            </p:nvSpPr>
            <p:spPr>
              <a:xfrm>
                <a:off x="2700338" y="6005512"/>
                <a:ext cx="89820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匹配客户风险等级</a:t>
                </a:r>
              </a:p>
            </p:txBody>
          </p:sp>
          <p:sp>
            <p:nvSpPr>
              <p:cNvPr id="261" name="TextBox 261"/>
              <p:cNvSpPr txBox="1"/>
              <p:nvPr/>
            </p:nvSpPr>
            <p:spPr>
              <a:xfrm>
                <a:off x="2700338" y="6157912"/>
                <a:ext cx="79724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产品适当性校验</a:t>
                </a:r>
              </a:p>
            </p:txBody>
          </p:sp>
          <p:sp>
            <p:nvSpPr>
              <p:cNvPr id="262" name="TextBox 262"/>
              <p:cNvSpPr txBox="1"/>
              <p:nvPr/>
            </p:nvSpPr>
            <p:spPr>
              <a:xfrm>
                <a:off x="2700338" y="6310312"/>
                <a:ext cx="69627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不适当不推荐</a:t>
                </a:r>
              </a:p>
            </p:txBody>
          </p:sp>
        </p:grpSp>
        <p:grpSp>
          <p:nvGrpSpPr>
            <p:cNvPr id="272" name="bc-3"/>
            <p:cNvGrpSpPr/>
            <p:nvPr/>
          </p:nvGrpSpPr>
          <p:grpSpPr>
            <a:xfrm>
              <a:off x="4343400" y="5600700"/>
              <a:ext cx="2000250" cy="971550"/>
              <a:chOff x="4343400" y="5600700"/>
              <a:chExt cx="2000250" cy="971550"/>
            </a:xfrm>
          </p:grpSpPr>
          <p:sp>
            <p:nvSpPr>
              <p:cNvPr id="264" name="Rectangle 264"/>
              <p:cNvSpPr/>
              <p:nvPr/>
            </p:nvSpPr>
            <p:spPr>
              <a:xfrm>
                <a:off x="4343400" y="5600700"/>
                <a:ext cx="2000250" cy="971550"/>
              </a:xfrm>
              <a:prstGeom prst="roundRect">
                <a:avLst>
                  <a:gd name="adj" fmla="val 5882"/>
                </a:avLst>
              </a:prstGeom>
              <a:solidFill>
                <a:srgbClr val="F6F9FD"/>
              </a:solidFill>
              <a:ln w="9525">
                <a:solidFill>
                  <a:srgbClr val="CFDFEE"/>
                </a:solidFill>
              </a:ln>
            </p:spPr>
          </p:sp>
          <p:grpSp>
            <p:nvGrpSpPr>
              <p:cNvPr id="267" name="Group 267"/>
              <p:cNvGrpSpPr/>
              <p:nvPr/>
            </p:nvGrpSpPr>
            <p:grpSpPr>
              <a:xfrm>
                <a:off x="4505325" y="5743575"/>
                <a:ext cx="171450" cy="171450"/>
                <a:chOff x="4505325" y="5743575"/>
                <a:chExt cx="171450" cy="171450"/>
              </a:xfrm>
            </p:grpSpPr>
            <p:sp>
              <p:nvSpPr>
                <p:cNvPr id="265" name="Freeform 265"/>
                <p:cNvSpPr/>
                <p:nvPr/>
              </p:nvSpPr>
              <p:spPr>
                <a:xfrm>
                  <a:off x="4505325" y="57435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92301C"/>
                  </a:solidFill>
                </a:ln>
              </p:spPr>
            </p:sp>
            <p:sp>
              <p:nvSpPr>
                <p:cNvPr id="266" name="Freeform 266"/>
                <p:cNvSpPr/>
                <p:nvPr/>
              </p:nvSpPr>
              <p:spPr>
                <a:xfrm>
                  <a:off x="4591050" y="5781675"/>
                  <a:ext cx="28575" cy="76200"/>
                </a:xfrm>
                <a:custGeom>
                  <a:avLst/>
                  <a:gdLst/>
                  <a:ahLst/>
                  <a:cxnLst/>
                  <a:rect l="l" t="t" r="r" b="b"/>
                  <a:pathLst>
                    <a:path w="28575" h="76200">
                      <a:moveTo>
                        <a:pt x="0" y="0"/>
                      </a:moveTo>
                      <a:lnTo>
                        <a:pt x="0" y="47625"/>
                      </a:lnTo>
                      <a:lnTo>
                        <a:pt x="28575" y="76200"/>
                      </a:lnTo>
                    </a:path>
                  </a:pathLst>
                </a:custGeom>
                <a:noFill/>
                <a:ln w="19050">
                  <a:solidFill>
                    <a:srgbClr val="92301C"/>
                  </a:solidFill>
                </a:ln>
              </p:spPr>
            </p:sp>
          </p:grpSp>
          <p:sp>
            <p:nvSpPr>
              <p:cNvPr id="268" name="TextBox 268"/>
              <p:cNvSpPr txBox="1"/>
              <p:nvPr/>
            </p:nvSpPr>
            <p:spPr>
              <a:xfrm>
                <a:off x="4776597" y="5771674"/>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触达频控</a:t>
                </a:r>
              </a:p>
            </p:txBody>
          </p:sp>
          <p:sp>
            <p:nvSpPr>
              <p:cNvPr id="269" name="TextBox 269"/>
              <p:cNvSpPr txBox="1"/>
              <p:nvPr/>
            </p:nvSpPr>
            <p:spPr>
              <a:xfrm>
                <a:off x="4776788" y="6005512"/>
                <a:ext cx="89820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同一客户频次上限</a:t>
                </a:r>
              </a:p>
            </p:txBody>
          </p:sp>
          <p:sp>
            <p:nvSpPr>
              <p:cNvPr id="270" name="TextBox 270"/>
              <p:cNvSpPr txBox="1"/>
              <p:nvPr/>
            </p:nvSpPr>
            <p:spPr>
              <a:xfrm>
                <a:off x="4776788" y="6157912"/>
                <a:ext cx="59531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多渠道去重</a:t>
                </a:r>
              </a:p>
            </p:txBody>
          </p:sp>
          <p:sp>
            <p:nvSpPr>
              <p:cNvPr id="271" name="TextBox 271"/>
              <p:cNvSpPr txBox="1"/>
              <p:nvPr/>
            </p:nvSpPr>
            <p:spPr>
              <a:xfrm>
                <a:off x="4776788" y="6310312"/>
                <a:ext cx="69627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避免过度营销</a:t>
                </a:r>
              </a:p>
            </p:txBody>
          </p:sp>
        </p:grpSp>
        <p:grpSp>
          <p:nvGrpSpPr>
            <p:cNvPr id="282" name="bc-4"/>
            <p:cNvGrpSpPr/>
            <p:nvPr/>
          </p:nvGrpSpPr>
          <p:grpSpPr>
            <a:xfrm>
              <a:off x="6419850" y="5600700"/>
              <a:ext cx="2000250" cy="971550"/>
              <a:chOff x="6419850" y="5600700"/>
              <a:chExt cx="2000250" cy="971550"/>
            </a:xfrm>
          </p:grpSpPr>
          <p:sp>
            <p:nvSpPr>
              <p:cNvPr id="273" name="Rectangle 273"/>
              <p:cNvSpPr/>
              <p:nvPr/>
            </p:nvSpPr>
            <p:spPr>
              <a:xfrm>
                <a:off x="6419850" y="5600700"/>
                <a:ext cx="2000250" cy="971550"/>
              </a:xfrm>
              <a:prstGeom prst="roundRect">
                <a:avLst>
                  <a:gd name="adj" fmla="val 5882"/>
                </a:avLst>
              </a:prstGeom>
              <a:solidFill>
                <a:srgbClr val="F6F9FD"/>
              </a:solidFill>
              <a:ln w="9525">
                <a:solidFill>
                  <a:srgbClr val="CFDFEE"/>
                </a:solidFill>
              </a:ln>
            </p:spPr>
          </p:sp>
          <p:grpSp>
            <p:nvGrpSpPr>
              <p:cNvPr id="277" name="Group 277"/>
              <p:cNvGrpSpPr/>
              <p:nvPr/>
            </p:nvGrpSpPr>
            <p:grpSpPr>
              <a:xfrm>
                <a:off x="6600825" y="5743575"/>
                <a:ext cx="133350" cy="171450"/>
                <a:chOff x="6600825" y="5743575"/>
                <a:chExt cx="133350" cy="171450"/>
              </a:xfrm>
            </p:grpSpPr>
            <p:sp>
              <p:nvSpPr>
                <p:cNvPr id="274" name="Freeform 274"/>
                <p:cNvSpPr/>
                <p:nvPr/>
              </p:nvSpPr>
              <p:spPr>
                <a:xfrm>
                  <a:off x="6600825" y="5819775"/>
                  <a:ext cx="133350" cy="95250"/>
                </a:xfrm>
                <a:custGeom>
                  <a:avLst/>
                  <a:gdLst/>
                  <a:ahLst/>
                  <a:cxnLst/>
                  <a:rect l="l" t="t" r="r" b="b"/>
                  <a:pathLst>
                    <a:path w="133350" h="95250">
                      <a:moveTo>
                        <a:pt x="0" y="19050"/>
                      </a:moveTo>
                      <a:cubicBezTo>
                        <a:pt x="0" y="8529"/>
                        <a:pt x="8529" y="0"/>
                        <a:pt x="19050" y="0"/>
                      </a:cubicBezTo>
                      <a:lnTo>
                        <a:pt x="114300" y="0"/>
                      </a:lnTo>
                      <a:cubicBezTo>
                        <a:pt x="124821" y="0"/>
                        <a:pt x="133350" y="8529"/>
                        <a:pt x="133350" y="19050"/>
                      </a:cubicBezTo>
                      <a:lnTo>
                        <a:pt x="133350" y="76200"/>
                      </a:lnTo>
                      <a:cubicBezTo>
                        <a:pt x="133350" y="86721"/>
                        <a:pt x="124821" y="95250"/>
                        <a:pt x="114300" y="95250"/>
                      </a:cubicBezTo>
                      <a:lnTo>
                        <a:pt x="19050" y="95250"/>
                      </a:lnTo>
                      <a:cubicBezTo>
                        <a:pt x="8529" y="95250"/>
                        <a:pt x="0" y="86721"/>
                        <a:pt x="0" y="76200"/>
                      </a:cubicBezTo>
                      <a:lnTo>
                        <a:pt x="0" y="19050"/>
                      </a:lnTo>
                    </a:path>
                  </a:pathLst>
                </a:custGeom>
                <a:noFill/>
                <a:ln w="19050">
                  <a:solidFill>
                    <a:srgbClr val="92301C"/>
                  </a:solidFill>
                </a:ln>
              </p:spPr>
            </p:sp>
            <p:sp>
              <p:nvSpPr>
                <p:cNvPr id="275" name="Freeform 275"/>
                <p:cNvSpPr/>
                <p:nvPr/>
              </p:nvSpPr>
              <p:spPr>
                <a:xfrm>
                  <a:off x="6657975" y="58578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92301C"/>
                  </a:solidFill>
                </a:ln>
              </p:spPr>
            </p:sp>
            <p:sp>
              <p:nvSpPr>
                <p:cNvPr id="276" name="Freeform 276"/>
                <p:cNvSpPr/>
                <p:nvPr/>
              </p:nvSpPr>
              <p:spPr>
                <a:xfrm>
                  <a:off x="6629400" y="5743575"/>
                  <a:ext cx="76200" cy="76200"/>
                </a:xfrm>
                <a:custGeom>
                  <a:avLst/>
                  <a:gdLst/>
                  <a:ahLst/>
                  <a:cxnLst/>
                  <a:rect l="l" t="t" r="r" b="b"/>
                  <a:pathLst>
                    <a:path w="76200" h="76200">
                      <a:moveTo>
                        <a:pt x="0" y="76200"/>
                      </a:moveTo>
                      <a:lnTo>
                        <a:pt x="0" y="38100"/>
                      </a:lnTo>
                      <a:cubicBezTo>
                        <a:pt x="0" y="17058"/>
                        <a:pt x="17058" y="0"/>
                        <a:pt x="38100" y="0"/>
                      </a:cubicBezTo>
                      <a:cubicBezTo>
                        <a:pt x="59142" y="0"/>
                        <a:pt x="76200" y="17058"/>
                        <a:pt x="76200" y="38100"/>
                      </a:cubicBezTo>
                      <a:lnTo>
                        <a:pt x="76200" y="76200"/>
                      </a:lnTo>
                    </a:path>
                  </a:pathLst>
                </a:custGeom>
                <a:noFill/>
                <a:ln w="19050">
                  <a:solidFill>
                    <a:srgbClr val="92301C"/>
                  </a:solidFill>
                </a:ln>
              </p:spPr>
            </p:sp>
          </p:grpSp>
          <p:sp>
            <p:nvSpPr>
              <p:cNvPr id="278" name="TextBox 278"/>
              <p:cNvSpPr txBox="1"/>
              <p:nvPr/>
            </p:nvSpPr>
            <p:spPr>
              <a:xfrm>
                <a:off x="6853047" y="5771674"/>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拒绝营销</a:t>
                </a:r>
              </a:p>
            </p:txBody>
          </p:sp>
          <p:sp>
            <p:nvSpPr>
              <p:cNvPr id="279" name="TextBox 279"/>
              <p:cNvSpPr txBox="1"/>
              <p:nvPr/>
            </p:nvSpPr>
            <p:spPr>
              <a:xfrm>
                <a:off x="6853238" y="6005512"/>
                <a:ext cx="89820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支持客户一键拒绝</a:t>
                </a:r>
              </a:p>
            </p:txBody>
          </p:sp>
          <p:sp>
            <p:nvSpPr>
              <p:cNvPr id="280" name="TextBox 280"/>
              <p:cNvSpPr txBox="1"/>
              <p:nvPr/>
            </p:nvSpPr>
            <p:spPr>
              <a:xfrm>
                <a:off x="6853238" y="6157912"/>
                <a:ext cx="69627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建立拒绝名单</a:t>
                </a:r>
              </a:p>
            </p:txBody>
          </p:sp>
          <p:sp>
            <p:nvSpPr>
              <p:cNvPr id="281" name="TextBox 281"/>
              <p:cNvSpPr txBox="1"/>
              <p:nvPr/>
            </p:nvSpPr>
            <p:spPr>
              <a:xfrm>
                <a:off x="6853238" y="6310312"/>
                <a:ext cx="79724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全渠道同步生效</a:t>
                </a:r>
              </a:p>
            </p:txBody>
          </p:sp>
        </p:grpSp>
      </p:grpSp>
      <p:grpSp>
        <p:nvGrpSpPr>
          <p:cNvPr id="286" name="kpi-head"/>
          <p:cNvGrpSpPr/>
          <p:nvPr/>
        </p:nvGrpSpPr>
        <p:grpSpPr>
          <a:xfrm>
            <a:off x="8572500" y="5295900"/>
            <a:ext cx="3429000" cy="272987"/>
            <a:chOff x="8572500" y="5295900"/>
            <a:chExt cx="3429000" cy="272987"/>
          </a:xfrm>
        </p:grpSpPr>
        <p:sp>
          <p:nvSpPr>
            <p:cNvPr id="284" name="Rectangle 284"/>
            <p:cNvSpPr/>
            <p:nvPr/>
          </p:nvSpPr>
          <p:spPr>
            <a:xfrm>
              <a:off x="8572500" y="5295900"/>
              <a:ext cx="3429000" cy="266700"/>
            </a:xfrm>
            <a:prstGeom prst="rect">
              <a:avLst/>
            </a:prstGeom>
            <a:gradFill>
              <a:gsLst>
                <a:gs pos="0">
                  <a:srgbClr val="92301C"/>
                </a:gs>
                <a:gs pos="100000">
                  <a:srgbClr val="B7533F"/>
                </a:gs>
              </a:gsLst>
              <a:lin ang="0" scaled="1"/>
            </a:gradFill>
            <a:ln>
              <a:noFill/>
            </a:ln>
          </p:spPr>
        </p:sp>
        <p:sp>
          <p:nvSpPr>
            <p:cNvPr id="285" name="TextBox 285"/>
            <p:cNvSpPr txBox="1"/>
            <p:nvPr/>
          </p:nvSpPr>
          <p:spPr>
            <a:xfrm>
              <a:off x="8700516" y="5363528"/>
              <a:ext cx="1424178"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关键成效（示例测算）</a:t>
              </a:r>
            </a:p>
          </p:txBody>
        </p:sp>
      </p:grpSp>
      <p:grpSp>
        <p:nvGrpSpPr>
          <p:cNvPr id="301" name="kpi-cards"/>
          <p:cNvGrpSpPr/>
          <p:nvPr/>
        </p:nvGrpSpPr>
        <p:grpSpPr>
          <a:xfrm>
            <a:off x="8572500" y="5600700"/>
            <a:ext cx="3429000" cy="971550"/>
            <a:chOff x="8572500" y="5600700"/>
            <a:chExt cx="3429000" cy="971550"/>
          </a:xfrm>
        </p:grpSpPr>
        <p:sp>
          <p:nvSpPr>
            <p:cNvPr id="287" name="Rectangle 287"/>
            <p:cNvSpPr/>
            <p:nvPr/>
          </p:nvSpPr>
          <p:spPr>
            <a:xfrm>
              <a:off x="8572500" y="5600700"/>
              <a:ext cx="1638300" cy="971550"/>
            </a:xfrm>
            <a:prstGeom prst="roundRect">
              <a:avLst>
                <a:gd name="adj" fmla="val 5882"/>
              </a:avLst>
            </a:prstGeom>
            <a:solidFill>
              <a:srgbClr val="EEF5FB"/>
            </a:solidFill>
            <a:ln>
              <a:noFill/>
            </a:ln>
          </p:spPr>
        </p:sp>
        <p:grpSp>
          <p:nvGrpSpPr>
            <p:cNvPr id="290" name="Group 290"/>
            <p:cNvGrpSpPr/>
            <p:nvPr/>
          </p:nvGrpSpPr>
          <p:grpSpPr>
            <a:xfrm>
              <a:off x="8732044" y="5795169"/>
              <a:ext cx="157163" cy="87313"/>
              <a:chOff x="8732044" y="5795169"/>
              <a:chExt cx="157163" cy="87313"/>
            </a:xfrm>
          </p:grpSpPr>
          <p:sp>
            <p:nvSpPr>
              <p:cNvPr id="288" name="Freeform 288"/>
              <p:cNvSpPr/>
              <p:nvPr/>
            </p:nvSpPr>
            <p:spPr>
              <a:xfrm>
                <a:off x="8732044" y="579516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92301C"/>
                </a:solidFill>
              </a:ln>
            </p:spPr>
          </p:sp>
          <p:sp>
            <p:nvSpPr>
              <p:cNvPr id="289" name="Freeform 289"/>
              <p:cNvSpPr/>
              <p:nvPr/>
            </p:nvSpPr>
            <p:spPr>
              <a:xfrm>
                <a:off x="8828088" y="5795169"/>
                <a:ext cx="61119" cy="61119"/>
              </a:xfrm>
              <a:custGeom>
                <a:avLst/>
                <a:gdLst/>
                <a:ahLst/>
                <a:cxnLst/>
                <a:rect l="l" t="t" r="r" b="b"/>
                <a:pathLst>
                  <a:path w="61119" h="61119">
                    <a:moveTo>
                      <a:pt x="0" y="0"/>
                    </a:moveTo>
                    <a:lnTo>
                      <a:pt x="61119" y="0"/>
                    </a:lnTo>
                    <a:lnTo>
                      <a:pt x="61119" y="61119"/>
                    </a:lnTo>
                  </a:path>
                </a:pathLst>
              </a:custGeom>
              <a:noFill/>
              <a:ln w="17463">
                <a:solidFill>
                  <a:srgbClr val="92301C"/>
                </a:solidFill>
              </a:ln>
            </p:spPr>
          </p:sp>
        </p:grpSp>
        <p:sp>
          <p:nvSpPr>
            <p:cNvPr id="291" name="TextBox 291"/>
            <p:cNvSpPr txBox="1"/>
            <p:nvPr/>
          </p:nvSpPr>
          <p:spPr>
            <a:xfrm>
              <a:off x="8986838" y="5789295"/>
              <a:ext cx="615315"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名单转化率</a:t>
              </a:r>
            </a:p>
          </p:txBody>
        </p:sp>
        <p:sp>
          <p:nvSpPr>
            <p:cNvPr id="292" name="TextBox 292"/>
            <p:cNvSpPr txBox="1"/>
            <p:nvPr/>
          </p:nvSpPr>
          <p:spPr>
            <a:xfrm>
              <a:off x="8695944" y="6075998"/>
              <a:ext cx="858896" cy="381381"/>
            </a:xfrm>
            <a:prstGeom prst="rect">
              <a:avLst/>
            </a:prstGeom>
            <a:noFill/>
            <a:ln>
              <a:noFill/>
            </a:ln>
          </p:spPr>
          <p:txBody>
            <a:bodyPr wrap="none" lIns="0" tIns="0" rIns="0" bIns="0" anchor="t" anchorCtr="0">
              <a:spAutoFit/>
            </a:bodyPr>
            <a:lstStyle/>
            <a:p>
              <a:pPr algn="l"/>
              <a:r>
                <a:rPr lang="en-US" sz="1950" b="1" dirty="0">
                  <a:solidFill>
                    <a:srgbClr val="92301C"/>
                  </a:solidFill>
                  <a:latin typeface="+mj-lt"/>
                  <a:ea typeface="+mj-ea"/>
                  <a:cs typeface="+mj-cs"/>
                </a:rPr>
                <a:t>+12pct</a:t>
              </a:r>
            </a:p>
          </p:txBody>
        </p:sp>
        <p:sp>
          <p:nvSpPr>
            <p:cNvPr id="293" name="TextBox 293"/>
            <p:cNvSpPr txBox="1"/>
            <p:nvPr/>
          </p:nvSpPr>
          <p:spPr>
            <a:xfrm>
              <a:off x="8701088" y="6396038"/>
              <a:ext cx="615315"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（示例测算）</a:t>
              </a:r>
            </a:p>
          </p:txBody>
        </p:sp>
        <p:sp>
          <p:nvSpPr>
            <p:cNvPr id="294" name="Rectangle 294"/>
            <p:cNvSpPr/>
            <p:nvPr/>
          </p:nvSpPr>
          <p:spPr>
            <a:xfrm>
              <a:off x="10363200" y="5600700"/>
              <a:ext cx="1638300" cy="971550"/>
            </a:xfrm>
            <a:prstGeom prst="roundRect">
              <a:avLst>
                <a:gd name="adj" fmla="val 5882"/>
              </a:avLst>
            </a:prstGeom>
            <a:solidFill>
              <a:srgbClr val="EEF5FB"/>
            </a:solidFill>
            <a:ln>
              <a:noFill/>
            </a:ln>
          </p:spPr>
        </p:sp>
        <p:grpSp>
          <p:nvGrpSpPr>
            <p:cNvPr id="297" name="Group 297"/>
            <p:cNvGrpSpPr/>
            <p:nvPr/>
          </p:nvGrpSpPr>
          <p:grpSpPr>
            <a:xfrm>
              <a:off x="10522744" y="5795169"/>
              <a:ext cx="157163" cy="87313"/>
              <a:chOff x="10522744" y="5795169"/>
              <a:chExt cx="157163" cy="87313"/>
            </a:xfrm>
          </p:grpSpPr>
          <p:sp>
            <p:nvSpPr>
              <p:cNvPr id="295" name="Freeform 295"/>
              <p:cNvSpPr/>
              <p:nvPr/>
            </p:nvSpPr>
            <p:spPr>
              <a:xfrm>
                <a:off x="10522744" y="5795169"/>
                <a:ext cx="157163" cy="87313"/>
              </a:xfrm>
              <a:custGeom>
                <a:avLst/>
                <a:gdLst/>
                <a:ahLst/>
                <a:cxnLst/>
                <a:rect l="l" t="t" r="r" b="b"/>
                <a:pathLst>
                  <a:path w="157163" h="87313">
                    <a:moveTo>
                      <a:pt x="0" y="0"/>
                    </a:moveTo>
                    <a:lnTo>
                      <a:pt x="52388" y="52388"/>
                    </a:lnTo>
                    <a:lnTo>
                      <a:pt x="87313" y="17463"/>
                    </a:lnTo>
                    <a:lnTo>
                      <a:pt x="157163" y="87313"/>
                    </a:lnTo>
                  </a:path>
                </a:pathLst>
              </a:custGeom>
              <a:noFill/>
              <a:ln w="17463">
                <a:solidFill>
                  <a:srgbClr val="92301C"/>
                </a:solidFill>
              </a:ln>
            </p:spPr>
          </p:sp>
          <p:sp>
            <p:nvSpPr>
              <p:cNvPr id="296" name="Freeform 296"/>
              <p:cNvSpPr/>
              <p:nvPr/>
            </p:nvSpPr>
            <p:spPr>
              <a:xfrm>
                <a:off x="10618788" y="5821363"/>
                <a:ext cx="61119" cy="61119"/>
              </a:xfrm>
              <a:custGeom>
                <a:avLst/>
                <a:gdLst/>
                <a:ahLst/>
                <a:cxnLst/>
                <a:rect l="l" t="t" r="r" b="b"/>
                <a:pathLst>
                  <a:path w="61119" h="61119">
                    <a:moveTo>
                      <a:pt x="61119" y="0"/>
                    </a:moveTo>
                    <a:lnTo>
                      <a:pt x="61119" y="61119"/>
                    </a:lnTo>
                    <a:lnTo>
                      <a:pt x="0" y="61119"/>
                    </a:lnTo>
                  </a:path>
                </a:pathLst>
              </a:custGeom>
              <a:noFill/>
              <a:ln w="17463">
                <a:solidFill>
                  <a:srgbClr val="92301C"/>
                </a:solidFill>
              </a:ln>
            </p:spPr>
          </p:sp>
        </p:grpSp>
        <p:sp>
          <p:nvSpPr>
            <p:cNvPr id="298" name="TextBox 298"/>
            <p:cNvSpPr txBox="1"/>
            <p:nvPr/>
          </p:nvSpPr>
          <p:spPr>
            <a:xfrm>
              <a:off x="10777538" y="5789295"/>
              <a:ext cx="494157"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无效触达</a:t>
              </a:r>
            </a:p>
          </p:txBody>
        </p:sp>
        <p:sp>
          <p:nvSpPr>
            <p:cNvPr id="299" name="TextBox 299"/>
            <p:cNvSpPr txBox="1"/>
            <p:nvPr/>
          </p:nvSpPr>
          <p:spPr>
            <a:xfrm>
              <a:off x="10486644" y="6075998"/>
              <a:ext cx="632666" cy="381381"/>
            </a:xfrm>
            <a:prstGeom prst="rect">
              <a:avLst/>
            </a:prstGeom>
            <a:noFill/>
            <a:ln>
              <a:noFill/>
            </a:ln>
          </p:spPr>
          <p:txBody>
            <a:bodyPr wrap="none" lIns="0" tIns="0" rIns="0" bIns="0" anchor="t" anchorCtr="0">
              <a:spAutoFit/>
            </a:bodyPr>
            <a:lstStyle/>
            <a:p>
              <a:pPr algn="l"/>
              <a:r>
                <a:rPr lang="zh-CN" sz="1950" b="1" dirty="0">
                  <a:solidFill>
                    <a:srgbClr val="92301C"/>
                  </a:solidFill>
                  <a:latin typeface="+mj-lt"/>
                  <a:ea typeface="+mj-ea"/>
                  <a:cs typeface="+mj-cs"/>
                </a:rPr>
                <a:t>-35%</a:t>
              </a:r>
            </a:p>
          </p:txBody>
        </p:sp>
        <p:sp>
          <p:nvSpPr>
            <p:cNvPr id="300" name="TextBox 300"/>
            <p:cNvSpPr txBox="1"/>
            <p:nvPr/>
          </p:nvSpPr>
          <p:spPr>
            <a:xfrm>
              <a:off x="10491788" y="6396038"/>
              <a:ext cx="615315"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（示例测算）</a:t>
              </a:r>
            </a:p>
          </p:txBody>
        </p:sp>
      </p:grpSp>
      <p:sp>
        <p:nvSpPr>
          <p:cNvPr id="302" name="TextBox 302"/>
          <p:cNvSpPr txBox="1"/>
          <p:nvPr/>
        </p:nvSpPr>
        <p:spPr>
          <a:xfrm>
            <a:off x="11754541" y="6686074"/>
            <a:ext cx="156662" cy="190690"/>
          </a:xfrm>
          <a:prstGeom prst="rect">
            <a:avLst/>
          </a:prstGeom>
          <a:noFill/>
          <a:ln>
            <a:noFill/>
          </a:ln>
        </p:spPr>
        <p:txBody>
          <a:bodyPr wrap="none" lIns="0" tIns="0" rIns="0" bIns="0" anchor="t" anchorCtr="0">
            <a:spAutoFit/>
          </a:bodyPr>
          <a:lstStyle/>
          <a:p>
            <a:pPr algn="r"/>
            <a:r>
              <a:rPr lang="zh-CN" sz="980" b="1" dirty="0">
                <a:solidFill>
                  <a:srgbClr val="6B1B0B"/>
                </a:solidFill>
                <a:latin typeface="+mj-lt"/>
                <a:ea typeface="+mj-ea"/>
                <a:cs typeface="+mj-cs"/>
              </a:rPr>
              <a:t>02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02</a:t>
              </a:r>
            </a:p>
          </p:txBody>
        </p:sp>
        <p:sp>
          <p:nvSpPr>
            <p:cNvPr id="4" name="TextBox 4"/>
            <p:cNvSpPr txBox="1"/>
            <p:nvPr/>
          </p:nvSpPr>
          <p:spPr>
            <a:xfrm>
              <a:off x="942594" y="170498"/>
              <a:ext cx="5795010"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智能客服智能体</a:t>
              </a:r>
              <a:r>
                <a:rPr lang="zh-CN" sz="1950" b="1" dirty="0">
                  <a:solidFill>
                    <a:srgbClr val="92301C"/>
                  </a:solidFill>
                  <a:latin typeface="+mn-lt"/>
                  <a:ea typeface="+mn-ea"/>
                  <a:cs typeface="+mn-cs"/>
                </a:rPr>
                <a:t>｜统一知识、交易查询与工单协同</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客户经营 · 02</a:t>
              </a:r>
            </a:p>
          </p:txBody>
        </p:sp>
        <p:sp>
          <p:nvSpPr>
            <p:cNvPr id="6" name="TextBox 6"/>
            <p:cNvSpPr txBox="1"/>
            <p:nvPr/>
          </p:nvSpPr>
          <p:spPr>
            <a:xfrm>
              <a:off x="9183785" y="334089"/>
              <a:ext cx="2822477"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以客户为中心 · 数字化驱动 · 提升服务体验 · 创造长期价值</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1" name="col1-head"/>
          <p:cNvGrpSpPr/>
          <p:nvPr/>
        </p:nvGrpSpPr>
        <p:grpSpPr>
          <a:xfrm>
            <a:off x="190500" y="628650"/>
            <a:ext cx="1714500" cy="279559"/>
            <a:chOff x="190500" y="628650"/>
            <a:chExt cx="1714500" cy="279559"/>
          </a:xfrm>
        </p:grpSpPr>
        <p:sp>
          <p:nvSpPr>
            <p:cNvPr id="9" name="Rectangle 9"/>
            <p:cNvSpPr/>
            <p:nvPr/>
          </p:nvSpPr>
          <p:spPr>
            <a:xfrm>
              <a:off x="190500" y="628650"/>
              <a:ext cx="1714500" cy="266700"/>
            </a:xfrm>
            <a:prstGeom prst="rect">
              <a:avLst/>
            </a:prstGeom>
            <a:gradFill>
              <a:gsLst>
                <a:gs pos="0">
                  <a:srgbClr val="92301C"/>
                </a:gs>
                <a:gs pos="100000">
                  <a:srgbClr val="B7533F"/>
                </a:gs>
              </a:gsLst>
              <a:lin ang="0" scaled="1"/>
            </a:gradFill>
            <a:ln>
              <a:noFill/>
            </a:ln>
          </p:spPr>
        </p:sp>
        <p:sp>
          <p:nvSpPr>
            <p:cNvPr id="10" name="TextBox 10"/>
            <p:cNvSpPr txBox="1"/>
            <p:nvPr/>
          </p:nvSpPr>
          <p:spPr>
            <a:xfrm>
              <a:off x="318135" y="688181"/>
              <a:ext cx="1066851"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多渠道统一接入</a:t>
              </a:r>
            </a:p>
          </p:txBody>
        </p:sp>
      </p:grpSp>
      <p:grpSp>
        <p:nvGrpSpPr>
          <p:cNvPr id="14" name="col2-head"/>
          <p:cNvGrpSpPr/>
          <p:nvPr/>
        </p:nvGrpSpPr>
        <p:grpSpPr>
          <a:xfrm>
            <a:off x="2000250" y="628650"/>
            <a:ext cx="5905500" cy="279559"/>
            <a:chOff x="2000250" y="628650"/>
            <a:chExt cx="5905500" cy="279559"/>
          </a:xfrm>
        </p:grpSpPr>
        <p:sp>
          <p:nvSpPr>
            <p:cNvPr id="12" name="Rectangle 12"/>
            <p:cNvSpPr/>
            <p:nvPr/>
          </p:nvSpPr>
          <p:spPr>
            <a:xfrm>
              <a:off x="2000250" y="628650"/>
              <a:ext cx="5905500" cy="266700"/>
            </a:xfrm>
            <a:prstGeom prst="rect">
              <a:avLst/>
            </a:prstGeom>
            <a:gradFill>
              <a:gsLst>
                <a:gs pos="0">
                  <a:srgbClr val="92301C"/>
                </a:gs>
                <a:gs pos="100000">
                  <a:srgbClr val="B7533F"/>
                </a:gs>
              </a:gsLst>
              <a:lin ang="0" scaled="1"/>
            </a:gradFill>
            <a:ln>
              <a:noFill/>
            </a:ln>
          </p:spPr>
        </p:sp>
        <p:sp>
          <p:nvSpPr>
            <p:cNvPr id="13" name="TextBox 13"/>
            <p:cNvSpPr txBox="1"/>
            <p:nvPr/>
          </p:nvSpPr>
          <p:spPr>
            <a:xfrm>
              <a:off x="2127885" y="688181"/>
              <a:ext cx="166994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智能客服智能体处理流程</a:t>
              </a:r>
            </a:p>
          </p:txBody>
        </p:sp>
      </p:grpSp>
      <p:grpSp>
        <p:nvGrpSpPr>
          <p:cNvPr id="17" name="col3-head"/>
          <p:cNvGrpSpPr/>
          <p:nvPr/>
        </p:nvGrpSpPr>
        <p:grpSpPr>
          <a:xfrm>
            <a:off x="8001000" y="628650"/>
            <a:ext cx="4000500" cy="279559"/>
            <a:chOff x="8001000" y="628650"/>
            <a:chExt cx="4000500" cy="279559"/>
          </a:xfrm>
        </p:grpSpPr>
        <p:sp>
          <p:nvSpPr>
            <p:cNvPr id="15" name="Rectangle 15"/>
            <p:cNvSpPr/>
            <p:nvPr/>
          </p:nvSpPr>
          <p:spPr>
            <a:xfrm>
              <a:off x="8001000" y="628650"/>
              <a:ext cx="4000500" cy="266700"/>
            </a:xfrm>
            <a:prstGeom prst="rect">
              <a:avLst/>
            </a:prstGeom>
            <a:gradFill>
              <a:gsLst>
                <a:gs pos="0">
                  <a:srgbClr val="92301C"/>
                </a:gs>
                <a:gs pos="100000">
                  <a:srgbClr val="B7533F"/>
                </a:gs>
              </a:gsLst>
              <a:lin ang="0" scaled="1"/>
            </a:gradFill>
            <a:ln>
              <a:noFill/>
            </a:ln>
          </p:spPr>
        </p:sp>
        <p:sp>
          <p:nvSpPr>
            <p:cNvPr id="16" name="TextBox 16"/>
            <p:cNvSpPr txBox="1"/>
            <p:nvPr/>
          </p:nvSpPr>
          <p:spPr>
            <a:xfrm>
              <a:off x="8128635" y="688181"/>
              <a:ext cx="227304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 xml:space="preserve">客户旅程场景矩阵与转人工阈值　</a:t>
              </a:r>
            </a:p>
          </p:txBody>
        </p:sp>
      </p:grpSp>
      <p:grpSp>
        <p:nvGrpSpPr>
          <p:cNvPr id="73" name="left-cards"/>
          <p:cNvGrpSpPr/>
          <p:nvPr/>
        </p:nvGrpSpPr>
        <p:grpSpPr>
          <a:xfrm>
            <a:off x="190500" y="990600"/>
            <a:ext cx="1714500" cy="4191000"/>
            <a:chOff x="190500" y="990600"/>
            <a:chExt cx="1714500" cy="4191000"/>
          </a:xfrm>
        </p:grpSpPr>
        <p:grpSp>
          <p:nvGrpSpPr>
            <p:cNvPr id="24" name="lc-1"/>
            <p:cNvGrpSpPr/>
            <p:nvPr/>
          </p:nvGrpSpPr>
          <p:grpSpPr>
            <a:xfrm>
              <a:off x="190500" y="990600"/>
              <a:ext cx="1714500" cy="800100"/>
              <a:chOff x="190500" y="990600"/>
              <a:chExt cx="1714500" cy="800100"/>
            </a:xfrm>
          </p:grpSpPr>
          <p:sp>
            <p:nvSpPr>
              <p:cNvPr id="18" name="Rectangle 18"/>
              <p:cNvSpPr/>
              <p:nvPr/>
            </p:nvSpPr>
            <p:spPr>
              <a:xfrm>
                <a:off x="190500" y="990600"/>
                <a:ext cx="1714500" cy="800100"/>
              </a:xfrm>
              <a:prstGeom prst="roundRect">
                <a:avLst>
                  <a:gd name="adj" fmla="val 7143"/>
                </a:avLst>
              </a:prstGeom>
              <a:solidFill>
                <a:srgbClr val="F6F9FD"/>
              </a:solidFill>
              <a:ln w="9525">
                <a:solidFill>
                  <a:srgbClr val="CFDFEE"/>
                </a:solidFill>
              </a:ln>
            </p:spPr>
          </p:sp>
          <p:sp>
            <p:nvSpPr>
              <p:cNvPr id="19" name="Ellipse 19"/>
              <p:cNvSpPr/>
              <p:nvPr/>
            </p:nvSpPr>
            <p:spPr>
              <a:xfrm>
                <a:off x="266700" y="1219200"/>
                <a:ext cx="342900" cy="342900"/>
              </a:xfrm>
              <a:prstGeom prst="ellipse">
                <a:avLst/>
              </a:prstGeom>
              <a:solidFill>
                <a:srgbClr val="92301C"/>
              </a:solidFill>
              <a:ln>
                <a:noFill/>
              </a:ln>
            </p:spPr>
          </p:sp>
          <p:sp>
            <p:nvSpPr>
              <p:cNvPr id="20" name="Freeform 20"/>
              <p:cNvSpPr/>
              <p:nvPr/>
            </p:nvSpPr>
            <p:spPr>
              <a:xfrm>
                <a:off x="373856" y="1333500"/>
                <a:ext cx="121444" cy="121444"/>
              </a:xfrm>
              <a:custGeom>
                <a:avLst/>
                <a:gdLst/>
                <a:ahLst/>
                <a:cxnLst/>
                <a:rect l="l" t="t" r="r" b="b"/>
                <a:pathLst>
                  <a:path w="121444" h="121444">
                    <a:moveTo>
                      <a:pt x="14288" y="0"/>
                    </a:moveTo>
                    <a:lnTo>
                      <a:pt x="42862" y="0"/>
                    </a:lnTo>
                    <a:lnTo>
                      <a:pt x="57150" y="35719"/>
                    </a:lnTo>
                    <a:lnTo>
                      <a:pt x="39291" y="46434"/>
                    </a:lnTo>
                    <a:cubicBezTo>
                      <a:pt x="46941" y="61947"/>
                      <a:pt x="59497" y="74502"/>
                      <a:pt x="75009" y="82153"/>
                    </a:cubicBezTo>
                    <a:lnTo>
                      <a:pt x="85725" y="64294"/>
                    </a:lnTo>
                    <a:lnTo>
                      <a:pt x="121444" y="78581"/>
                    </a:lnTo>
                    <a:lnTo>
                      <a:pt x="121444" y="107156"/>
                    </a:lnTo>
                    <a:cubicBezTo>
                      <a:pt x="121444" y="115047"/>
                      <a:pt x="115047" y="121444"/>
                      <a:pt x="107156" y="121444"/>
                    </a:cubicBezTo>
                    <a:cubicBezTo>
                      <a:pt x="49489" y="117939"/>
                      <a:pt x="3504" y="71954"/>
                      <a:pt x="0" y="14288"/>
                    </a:cubicBezTo>
                    <a:cubicBezTo>
                      <a:pt x="0" y="6397"/>
                      <a:pt x="6397" y="0"/>
                      <a:pt x="14288" y="0"/>
                    </a:cubicBezTo>
                  </a:path>
                </a:pathLst>
              </a:custGeom>
              <a:noFill/>
              <a:ln w="14288">
                <a:solidFill>
                  <a:srgbClr val="FFFFFF"/>
                </a:solidFill>
              </a:ln>
            </p:spPr>
          </p:sp>
          <p:sp>
            <p:nvSpPr>
              <p:cNvPr id="21" name="TextBox 21"/>
              <p:cNvSpPr txBox="1"/>
              <p:nvPr/>
            </p:nvSpPr>
            <p:spPr>
              <a:xfrm>
                <a:off x="680847" y="1171099"/>
                <a:ext cx="273761"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电话</a:t>
                </a:r>
              </a:p>
            </p:txBody>
          </p:sp>
          <p:sp>
            <p:nvSpPr>
              <p:cNvPr id="22" name="TextBox 22"/>
              <p:cNvSpPr txBox="1"/>
              <p:nvPr/>
            </p:nvSpPr>
            <p:spPr>
              <a:xfrm>
                <a:off x="681038" y="1376362"/>
                <a:ext cx="741784"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j-lt"/>
                    <a:ea typeface="+mj-ea"/>
                    <a:cs typeface="+mj-cs"/>
                  </a:rPr>
                  <a:t xml:space="preserve">7×24小时热线　</a:t>
                </a:r>
              </a:p>
            </p:txBody>
          </p:sp>
          <p:sp>
            <p:nvSpPr>
              <p:cNvPr id="23" name="TextBox 23"/>
              <p:cNvSpPr txBox="1"/>
              <p:nvPr/>
            </p:nvSpPr>
            <p:spPr>
              <a:xfrm>
                <a:off x="681038" y="1528762"/>
                <a:ext cx="61531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语音智能接入</a:t>
                </a:r>
              </a:p>
            </p:txBody>
          </p:sp>
        </p:grpSp>
        <p:grpSp>
          <p:nvGrpSpPr>
            <p:cNvPr id="34" name="lc-2"/>
            <p:cNvGrpSpPr/>
            <p:nvPr/>
          </p:nvGrpSpPr>
          <p:grpSpPr>
            <a:xfrm>
              <a:off x="190500" y="1838325"/>
              <a:ext cx="1714500" cy="800100"/>
              <a:chOff x="190500" y="1838325"/>
              <a:chExt cx="1714500" cy="800100"/>
            </a:xfrm>
          </p:grpSpPr>
          <p:sp>
            <p:nvSpPr>
              <p:cNvPr id="25" name="Rectangle 25"/>
              <p:cNvSpPr/>
              <p:nvPr/>
            </p:nvSpPr>
            <p:spPr>
              <a:xfrm>
                <a:off x="190500" y="1838325"/>
                <a:ext cx="1714500" cy="800100"/>
              </a:xfrm>
              <a:prstGeom prst="roundRect">
                <a:avLst>
                  <a:gd name="adj" fmla="val 7143"/>
                </a:avLst>
              </a:prstGeom>
              <a:solidFill>
                <a:srgbClr val="F6F9FD"/>
              </a:solidFill>
              <a:ln w="9525">
                <a:solidFill>
                  <a:srgbClr val="CFDFEE"/>
                </a:solidFill>
              </a:ln>
            </p:spPr>
          </p:sp>
          <p:sp>
            <p:nvSpPr>
              <p:cNvPr id="26" name="Ellipse 26"/>
              <p:cNvSpPr/>
              <p:nvPr/>
            </p:nvSpPr>
            <p:spPr>
              <a:xfrm>
                <a:off x="266700" y="2066925"/>
                <a:ext cx="342900" cy="342900"/>
              </a:xfrm>
              <a:prstGeom prst="ellipse">
                <a:avLst/>
              </a:prstGeom>
              <a:solidFill>
                <a:srgbClr val="92301C"/>
              </a:solidFill>
              <a:ln>
                <a:noFill/>
              </a:ln>
            </p:spPr>
          </p:sp>
          <p:grpSp>
            <p:nvGrpSpPr>
              <p:cNvPr id="30" name="Group 30"/>
              <p:cNvGrpSpPr/>
              <p:nvPr/>
            </p:nvGrpSpPr>
            <p:grpSpPr>
              <a:xfrm>
                <a:off x="395288" y="2174081"/>
                <a:ext cx="85725" cy="128588"/>
                <a:chOff x="395288" y="2174081"/>
                <a:chExt cx="85725" cy="128588"/>
              </a:xfrm>
            </p:grpSpPr>
            <p:sp>
              <p:nvSpPr>
                <p:cNvPr id="27" name="Freeform 27"/>
                <p:cNvSpPr/>
                <p:nvPr/>
              </p:nvSpPr>
              <p:spPr>
                <a:xfrm>
                  <a:off x="395288" y="2174081"/>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FFFFFF"/>
                  </a:solidFill>
                </a:ln>
              </p:spPr>
            </p:sp>
            <p:sp>
              <p:nvSpPr>
                <p:cNvPr id="28" name="Freeform 28"/>
                <p:cNvSpPr/>
                <p:nvPr/>
              </p:nvSpPr>
              <p:spPr>
                <a:xfrm>
                  <a:off x="431006" y="2181225"/>
                  <a:ext cx="14288" cy="9525"/>
                </a:xfrm>
                <a:custGeom>
                  <a:avLst/>
                  <a:gdLst/>
                  <a:ahLst/>
                  <a:cxnLst/>
                  <a:rect l="l" t="t" r="r" b="b"/>
                  <a:pathLst>
                    <a:path w="14288" h="9525">
                      <a:moveTo>
                        <a:pt x="0" y="0"/>
                      </a:moveTo>
                      <a:lnTo>
                        <a:pt x="14288" y="0"/>
                      </a:lnTo>
                    </a:path>
                  </a:pathLst>
                </a:custGeom>
                <a:noFill/>
                <a:ln w="14288">
                  <a:solidFill>
                    <a:srgbClr val="FFFFFF"/>
                  </a:solidFill>
                </a:ln>
              </p:spPr>
            </p:sp>
            <p:sp>
              <p:nvSpPr>
                <p:cNvPr id="29" name="Freeform 29"/>
                <p:cNvSpPr/>
                <p:nvPr/>
              </p:nvSpPr>
              <p:spPr>
                <a:xfrm>
                  <a:off x="438150" y="2274094"/>
                  <a:ext cx="9525" cy="9525"/>
                </a:xfrm>
                <a:custGeom>
                  <a:avLst/>
                  <a:gdLst/>
                  <a:ahLst/>
                  <a:cxnLst/>
                  <a:rect l="l" t="t" r="r" b="b"/>
                  <a:pathLst>
                    <a:path w="9525" h="9525">
                      <a:moveTo>
                        <a:pt x="0" y="0"/>
                      </a:moveTo>
                      <a:lnTo>
                        <a:pt x="0" y="71"/>
                      </a:lnTo>
                    </a:path>
                  </a:pathLst>
                </a:custGeom>
                <a:noFill/>
                <a:ln w="14288">
                  <a:solidFill>
                    <a:srgbClr val="FFFFFF"/>
                  </a:solidFill>
                </a:ln>
              </p:spPr>
            </p:sp>
          </p:grpSp>
          <p:sp>
            <p:nvSpPr>
              <p:cNvPr id="31" name="TextBox 31"/>
              <p:cNvSpPr txBox="1"/>
              <p:nvPr/>
            </p:nvSpPr>
            <p:spPr>
              <a:xfrm>
                <a:off x="680847" y="2018824"/>
                <a:ext cx="428458"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j-lt"/>
                    <a:ea typeface="+mj-ea"/>
                    <a:cs typeface="+mj-cs"/>
                  </a:rPr>
                  <a:t xml:space="preserve">APP　</a:t>
                </a:r>
              </a:p>
            </p:txBody>
          </p:sp>
          <p:sp>
            <p:nvSpPr>
              <p:cNvPr id="32" name="TextBox 32"/>
              <p:cNvSpPr txBox="1"/>
              <p:nvPr/>
            </p:nvSpPr>
            <p:spPr>
              <a:xfrm>
                <a:off x="681038" y="2224088"/>
                <a:ext cx="716280"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嵌入式智能客服</a:t>
                </a:r>
              </a:p>
            </p:txBody>
          </p:sp>
          <p:sp>
            <p:nvSpPr>
              <p:cNvPr id="33" name="TextBox 33"/>
              <p:cNvSpPr txBox="1"/>
              <p:nvPr/>
            </p:nvSpPr>
            <p:spPr>
              <a:xfrm>
                <a:off x="681038" y="2376488"/>
                <a:ext cx="61531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随时随地服务</a:t>
                </a:r>
              </a:p>
            </p:txBody>
          </p:sp>
        </p:grpSp>
        <p:grpSp>
          <p:nvGrpSpPr>
            <p:cNvPr id="49" name="lc-3"/>
            <p:cNvGrpSpPr/>
            <p:nvPr/>
          </p:nvGrpSpPr>
          <p:grpSpPr>
            <a:xfrm>
              <a:off x="190500" y="2686050"/>
              <a:ext cx="1714500" cy="800100"/>
              <a:chOff x="190500" y="2686050"/>
              <a:chExt cx="1714500" cy="800100"/>
            </a:xfrm>
          </p:grpSpPr>
          <p:sp>
            <p:nvSpPr>
              <p:cNvPr id="35" name="Rectangle 35"/>
              <p:cNvSpPr/>
              <p:nvPr/>
            </p:nvSpPr>
            <p:spPr>
              <a:xfrm>
                <a:off x="190500" y="2686050"/>
                <a:ext cx="1714500" cy="800100"/>
              </a:xfrm>
              <a:prstGeom prst="roundRect">
                <a:avLst>
                  <a:gd name="adj" fmla="val 7143"/>
                </a:avLst>
              </a:prstGeom>
              <a:solidFill>
                <a:srgbClr val="F6F9FD"/>
              </a:solidFill>
              <a:ln w="9525">
                <a:solidFill>
                  <a:srgbClr val="CFDFEE"/>
                </a:solidFill>
              </a:ln>
            </p:spPr>
          </p:sp>
          <p:sp>
            <p:nvSpPr>
              <p:cNvPr id="36" name="Ellipse 36"/>
              <p:cNvSpPr/>
              <p:nvPr/>
            </p:nvSpPr>
            <p:spPr>
              <a:xfrm>
                <a:off x="266700" y="2914650"/>
                <a:ext cx="342900" cy="342900"/>
              </a:xfrm>
              <a:prstGeom prst="ellipse">
                <a:avLst/>
              </a:prstGeom>
              <a:solidFill>
                <a:srgbClr val="92301C"/>
              </a:solidFill>
              <a:ln>
                <a:noFill/>
              </a:ln>
            </p:spPr>
          </p:sp>
          <p:grpSp>
            <p:nvGrpSpPr>
              <p:cNvPr id="45" name="Group 45"/>
              <p:cNvGrpSpPr/>
              <p:nvPr/>
            </p:nvGrpSpPr>
            <p:grpSpPr>
              <a:xfrm>
                <a:off x="373856" y="3021806"/>
                <a:ext cx="130969" cy="138113"/>
                <a:chOff x="373856" y="3021806"/>
                <a:chExt cx="130969" cy="138113"/>
              </a:xfrm>
            </p:grpSpPr>
            <p:sp>
              <p:nvSpPr>
                <p:cNvPr id="37" name="Freeform 37"/>
                <p:cNvSpPr/>
                <p:nvPr/>
              </p:nvSpPr>
              <p:spPr>
                <a:xfrm>
                  <a:off x="373856" y="3150394"/>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38" name="Freeform 38"/>
                <p:cNvSpPr/>
                <p:nvPr/>
              </p:nvSpPr>
              <p:spPr>
                <a:xfrm>
                  <a:off x="373856" y="3071812"/>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39" name="Freeform 39"/>
                <p:cNvSpPr/>
                <p:nvPr/>
              </p:nvSpPr>
              <p:spPr>
                <a:xfrm>
                  <a:off x="388144" y="3021806"/>
                  <a:ext cx="100012" cy="21431"/>
                </a:xfrm>
                <a:custGeom>
                  <a:avLst/>
                  <a:gdLst/>
                  <a:ahLst/>
                  <a:cxnLst/>
                  <a:rect l="l" t="t" r="r" b="b"/>
                  <a:pathLst>
                    <a:path w="100012" h="21431">
                      <a:moveTo>
                        <a:pt x="0" y="21431"/>
                      </a:moveTo>
                      <a:lnTo>
                        <a:pt x="50006" y="0"/>
                      </a:lnTo>
                      <a:lnTo>
                        <a:pt x="100012" y="21431"/>
                      </a:lnTo>
                    </a:path>
                  </a:pathLst>
                </a:custGeom>
                <a:noFill/>
                <a:ln w="14288">
                  <a:solidFill>
                    <a:srgbClr val="FFFFFF"/>
                  </a:solidFill>
                </a:ln>
              </p:spPr>
            </p:sp>
            <p:sp>
              <p:nvSpPr>
                <p:cNvPr id="40" name="Freeform 40"/>
                <p:cNvSpPr/>
                <p:nvPr/>
              </p:nvSpPr>
              <p:spPr>
                <a:xfrm>
                  <a:off x="381000" y="3071812"/>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41" name="Freeform 41"/>
                <p:cNvSpPr/>
                <p:nvPr/>
              </p:nvSpPr>
              <p:spPr>
                <a:xfrm>
                  <a:off x="495300" y="3071812"/>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42" name="Freeform 42"/>
                <p:cNvSpPr/>
                <p:nvPr/>
              </p:nvSpPr>
              <p:spPr>
                <a:xfrm>
                  <a:off x="409575" y="3100388"/>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43" name="Freeform 43"/>
                <p:cNvSpPr/>
                <p:nvPr/>
              </p:nvSpPr>
              <p:spPr>
                <a:xfrm>
                  <a:off x="438150" y="3100388"/>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44" name="Freeform 44"/>
                <p:cNvSpPr/>
                <p:nvPr/>
              </p:nvSpPr>
              <p:spPr>
                <a:xfrm>
                  <a:off x="466725" y="3100388"/>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46" name="TextBox 46"/>
              <p:cNvSpPr txBox="1"/>
              <p:nvPr/>
            </p:nvSpPr>
            <p:spPr>
              <a:xfrm>
                <a:off x="680847" y="2866549"/>
                <a:ext cx="273761"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网银</a:t>
                </a:r>
              </a:p>
            </p:txBody>
          </p:sp>
          <p:sp>
            <p:nvSpPr>
              <p:cNvPr id="47" name="TextBox 47"/>
              <p:cNvSpPr txBox="1"/>
              <p:nvPr/>
            </p:nvSpPr>
            <p:spPr>
              <a:xfrm>
                <a:off x="681038" y="3071812"/>
                <a:ext cx="61531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在线答疑咨询</a:t>
                </a:r>
              </a:p>
            </p:txBody>
          </p:sp>
          <p:sp>
            <p:nvSpPr>
              <p:cNvPr id="48" name="TextBox 48"/>
              <p:cNvSpPr txBox="1"/>
              <p:nvPr/>
            </p:nvSpPr>
            <p:spPr>
              <a:xfrm>
                <a:off x="681038" y="3224212"/>
                <a:ext cx="61531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业务快速办理</a:t>
                </a:r>
              </a:p>
            </p:txBody>
          </p:sp>
        </p:grpSp>
        <p:grpSp>
          <p:nvGrpSpPr>
            <p:cNvPr id="62" name="lc-4"/>
            <p:cNvGrpSpPr/>
            <p:nvPr/>
          </p:nvGrpSpPr>
          <p:grpSpPr>
            <a:xfrm>
              <a:off x="190500" y="3533775"/>
              <a:ext cx="1714500" cy="800100"/>
              <a:chOff x="190500" y="3533775"/>
              <a:chExt cx="1714500" cy="800100"/>
            </a:xfrm>
          </p:grpSpPr>
          <p:sp>
            <p:nvSpPr>
              <p:cNvPr id="50" name="Rectangle 50"/>
              <p:cNvSpPr/>
              <p:nvPr/>
            </p:nvSpPr>
            <p:spPr>
              <a:xfrm>
                <a:off x="190500" y="3533775"/>
                <a:ext cx="1714500" cy="800100"/>
              </a:xfrm>
              <a:prstGeom prst="roundRect">
                <a:avLst>
                  <a:gd name="adj" fmla="val 7143"/>
                </a:avLst>
              </a:prstGeom>
              <a:solidFill>
                <a:srgbClr val="F6F9FD"/>
              </a:solidFill>
              <a:ln w="9525">
                <a:solidFill>
                  <a:srgbClr val="CFDFEE"/>
                </a:solidFill>
              </a:ln>
            </p:spPr>
          </p:sp>
          <p:sp>
            <p:nvSpPr>
              <p:cNvPr id="51" name="Ellipse 51"/>
              <p:cNvSpPr/>
              <p:nvPr/>
            </p:nvSpPr>
            <p:spPr>
              <a:xfrm>
                <a:off x="266700" y="3762375"/>
                <a:ext cx="342900" cy="342900"/>
              </a:xfrm>
              <a:prstGeom prst="ellipse">
                <a:avLst/>
              </a:prstGeom>
              <a:solidFill>
                <a:srgbClr val="92301C"/>
              </a:solidFill>
              <a:ln>
                <a:noFill/>
              </a:ln>
            </p:spPr>
          </p:sp>
          <p:grpSp>
            <p:nvGrpSpPr>
              <p:cNvPr id="58" name="Group 58"/>
              <p:cNvGrpSpPr/>
              <p:nvPr/>
            </p:nvGrpSpPr>
            <p:grpSpPr>
              <a:xfrm>
                <a:off x="366712" y="3876675"/>
                <a:ext cx="142875" cy="114301"/>
                <a:chOff x="366712" y="3876675"/>
                <a:chExt cx="142875" cy="114301"/>
              </a:xfrm>
            </p:grpSpPr>
            <p:sp>
              <p:nvSpPr>
                <p:cNvPr id="52" name="Freeform 52"/>
                <p:cNvSpPr/>
                <p:nvPr/>
              </p:nvSpPr>
              <p:spPr>
                <a:xfrm>
                  <a:off x="431006" y="3919538"/>
                  <a:ext cx="78581" cy="71438"/>
                </a:xfrm>
                <a:custGeom>
                  <a:avLst/>
                  <a:gdLst/>
                  <a:ahLst/>
                  <a:cxnLst/>
                  <a:rect l="l" t="t" r="r" b="b"/>
                  <a:pathLst>
                    <a:path w="78581" h="71438">
                      <a:moveTo>
                        <a:pt x="39291" y="0"/>
                      </a:moveTo>
                      <a:cubicBezTo>
                        <a:pt x="60993" y="0"/>
                        <a:pt x="78581" y="14395"/>
                        <a:pt x="78581" y="32147"/>
                      </a:cubicBezTo>
                      <a:cubicBezTo>
                        <a:pt x="78581" y="42127"/>
                        <a:pt x="73023" y="51042"/>
                        <a:pt x="64294" y="56936"/>
                      </a:cubicBezTo>
                      <a:lnTo>
                        <a:pt x="64294" y="71438"/>
                      </a:lnTo>
                      <a:lnTo>
                        <a:pt x="50263" y="63022"/>
                      </a:lnTo>
                      <a:cubicBezTo>
                        <a:pt x="46668" y="63871"/>
                        <a:pt x="42985" y="64298"/>
                        <a:pt x="39291" y="64294"/>
                      </a:cubicBezTo>
                      <a:cubicBezTo>
                        <a:pt x="17588" y="64294"/>
                        <a:pt x="0" y="49899"/>
                        <a:pt x="0" y="32147"/>
                      </a:cubicBezTo>
                      <a:cubicBezTo>
                        <a:pt x="0" y="14395"/>
                        <a:pt x="17588" y="0"/>
                        <a:pt x="39291" y="0"/>
                      </a:cubicBezTo>
                    </a:path>
                  </a:pathLst>
                </a:custGeom>
                <a:noFill/>
                <a:ln w="14288">
                  <a:solidFill>
                    <a:srgbClr val="FFFFFF"/>
                  </a:solidFill>
                </a:ln>
              </p:spPr>
            </p:sp>
            <p:sp>
              <p:nvSpPr>
                <p:cNvPr id="53" name="Freeform 53"/>
                <p:cNvSpPr/>
                <p:nvPr/>
              </p:nvSpPr>
              <p:spPr>
                <a:xfrm>
                  <a:off x="366712" y="3876675"/>
                  <a:ext cx="100012" cy="92869"/>
                </a:xfrm>
                <a:custGeom>
                  <a:avLst/>
                  <a:gdLst/>
                  <a:ahLst/>
                  <a:cxnLst/>
                  <a:rect l="l" t="t" r="r" b="b"/>
                  <a:pathLst>
                    <a:path w="100012" h="92869">
                      <a:moveTo>
                        <a:pt x="65701" y="83568"/>
                      </a:moveTo>
                      <a:cubicBezTo>
                        <a:pt x="60772" y="84968"/>
                        <a:pt x="55486" y="85725"/>
                        <a:pt x="50006" y="85725"/>
                      </a:cubicBezTo>
                      <a:cubicBezTo>
                        <a:pt x="43658" y="85739"/>
                        <a:pt x="37352" y="84696"/>
                        <a:pt x="31347" y="82639"/>
                      </a:cubicBezTo>
                      <a:lnTo>
                        <a:pt x="14288" y="92869"/>
                      </a:lnTo>
                      <a:lnTo>
                        <a:pt x="14288" y="72859"/>
                      </a:lnTo>
                      <a:cubicBezTo>
                        <a:pt x="5451" y="65130"/>
                        <a:pt x="0" y="54543"/>
                        <a:pt x="0" y="42862"/>
                      </a:cubicBezTo>
                      <a:cubicBezTo>
                        <a:pt x="0" y="19188"/>
                        <a:pt x="22389" y="0"/>
                        <a:pt x="50006" y="0"/>
                      </a:cubicBezTo>
                      <a:cubicBezTo>
                        <a:pt x="77024" y="0"/>
                        <a:pt x="99034" y="18359"/>
                        <a:pt x="100012" y="41327"/>
                      </a:cubicBezTo>
                      <a:lnTo>
                        <a:pt x="100012" y="42991"/>
                      </a:lnTo>
                    </a:path>
                  </a:pathLst>
                </a:custGeom>
                <a:noFill/>
                <a:ln w="14288">
                  <a:solidFill>
                    <a:srgbClr val="FFFFFF"/>
                  </a:solidFill>
                </a:ln>
              </p:spPr>
            </p:sp>
            <p:sp>
              <p:nvSpPr>
                <p:cNvPr id="54" name="Freeform 54"/>
                <p:cNvSpPr/>
                <p:nvPr/>
              </p:nvSpPr>
              <p:spPr>
                <a:xfrm>
                  <a:off x="423862" y="3905250"/>
                  <a:ext cx="9525" cy="9525"/>
                </a:xfrm>
                <a:custGeom>
                  <a:avLst/>
                  <a:gdLst/>
                  <a:ahLst/>
                  <a:cxnLst/>
                  <a:rect l="l" t="t" r="r" b="b"/>
                  <a:pathLst>
                    <a:path w="9525" h="9525">
                      <a:moveTo>
                        <a:pt x="0" y="0"/>
                      </a:moveTo>
                      <a:lnTo>
                        <a:pt x="71" y="0"/>
                      </a:lnTo>
                    </a:path>
                  </a:pathLst>
                </a:custGeom>
                <a:noFill/>
                <a:ln w="14288">
                  <a:solidFill>
                    <a:srgbClr val="FFFFFF"/>
                  </a:solidFill>
                </a:ln>
              </p:spPr>
            </p:sp>
            <p:sp>
              <p:nvSpPr>
                <p:cNvPr id="55" name="Freeform 55"/>
                <p:cNvSpPr/>
                <p:nvPr/>
              </p:nvSpPr>
              <p:spPr>
                <a:xfrm>
                  <a:off x="402431" y="3905250"/>
                  <a:ext cx="9525" cy="9525"/>
                </a:xfrm>
                <a:custGeom>
                  <a:avLst/>
                  <a:gdLst/>
                  <a:ahLst/>
                  <a:cxnLst/>
                  <a:rect l="l" t="t" r="r" b="b"/>
                  <a:pathLst>
                    <a:path w="9525" h="9525">
                      <a:moveTo>
                        <a:pt x="0" y="0"/>
                      </a:moveTo>
                      <a:lnTo>
                        <a:pt x="71" y="0"/>
                      </a:lnTo>
                    </a:path>
                  </a:pathLst>
                </a:custGeom>
                <a:noFill/>
                <a:ln w="14288">
                  <a:solidFill>
                    <a:srgbClr val="FFFFFF"/>
                  </a:solidFill>
                </a:ln>
              </p:spPr>
            </p:sp>
            <p:sp>
              <p:nvSpPr>
                <p:cNvPr id="56" name="Freeform 56"/>
                <p:cNvSpPr/>
                <p:nvPr/>
              </p:nvSpPr>
              <p:spPr>
                <a:xfrm>
                  <a:off x="459581" y="3948112"/>
                  <a:ext cx="9525" cy="9525"/>
                </a:xfrm>
                <a:custGeom>
                  <a:avLst/>
                  <a:gdLst/>
                  <a:ahLst/>
                  <a:cxnLst/>
                  <a:rect l="l" t="t" r="r" b="b"/>
                  <a:pathLst>
                    <a:path w="9525" h="9525">
                      <a:moveTo>
                        <a:pt x="0" y="0"/>
                      </a:moveTo>
                      <a:lnTo>
                        <a:pt x="71" y="0"/>
                      </a:lnTo>
                    </a:path>
                  </a:pathLst>
                </a:custGeom>
                <a:noFill/>
                <a:ln w="14288">
                  <a:solidFill>
                    <a:srgbClr val="FFFFFF"/>
                  </a:solidFill>
                </a:ln>
              </p:spPr>
            </p:sp>
            <p:sp>
              <p:nvSpPr>
                <p:cNvPr id="57" name="Freeform 57"/>
                <p:cNvSpPr/>
                <p:nvPr/>
              </p:nvSpPr>
              <p:spPr>
                <a:xfrm>
                  <a:off x="481012" y="3948112"/>
                  <a:ext cx="9525" cy="9525"/>
                </a:xfrm>
                <a:custGeom>
                  <a:avLst/>
                  <a:gdLst/>
                  <a:ahLst/>
                  <a:cxnLst/>
                  <a:rect l="l" t="t" r="r" b="b"/>
                  <a:pathLst>
                    <a:path w="9525" h="9525">
                      <a:moveTo>
                        <a:pt x="0" y="0"/>
                      </a:moveTo>
                      <a:lnTo>
                        <a:pt x="71" y="0"/>
                      </a:lnTo>
                    </a:path>
                  </a:pathLst>
                </a:custGeom>
                <a:noFill/>
                <a:ln w="14288">
                  <a:solidFill>
                    <a:srgbClr val="FFFFFF"/>
                  </a:solidFill>
                </a:ln>
              </p:spPr>
            </p:sp>
          </p:grpSp>
          <p:sp>
            <p:nvSpPr>
              <p:cNvPr id="59" name="TextBox 59"/>
              <p:cNvSpPr txBox="1"/>
              <p:nvPr/>
            </p:nvSpPr>
            <p:spPr>
              <a:xfrm>
                <a:off x="680847" y="3714274"/>
                <a:ext cx="273761"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企微</a:t>
                </a:r>
              </a:p>
            </p:txBody>
          </p:sp>
          <p:sp>
            <p:nvSpPr>
              <p:cNvPr id="60" name="TextBox 60"/>
              <p:cNvSpPr txBox="1"/>
              <p:nvPr/>
            </p:nvSpPr>
            <p:spPr>
              <a:xfrm>
                <a:off x="681038" y="3919538"/>
                <a:ext cx="61531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企业微信服务</a:t>
                </a:r>
              </a:p>
            </p:txBody>
          </p:sp>
          <p:sp>
            <p:nvSpPr>
              <p:cNvPr id="61" name="TextBox 61"/>
              <p:cNvSpPr txBox="1"/>
              <p:nvPr/>
            </p:nvSpPr>
            <p:spPr>
              <a:xfrm>
                <a:off x="681038" y="4071938"/>
                <a:ext cx="61531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对公专属通道</a:t>
                </a:r>
              </a:p>
            </p:txBody>
          </p:sp>
        </p:grpSp>
        <p:grpSp>
          <p:nvGrpSpPr>
            <p:cNvPr id="72" name="lc-5"/>
            <p:cNvGrpSpPr/>
            <p:nvPr/>
          </p:nvGrpSpPr>
          <p:grpSpPr>
            <a:xfrm>
              <a:off x="190500" y="4381500"/>
              <a:ext cx="1714500" cy="800100"/>
              <a:chOff x="190500" y="4381500"/>
              <a:chExt cx="1714500" cy="800100"/>
            </a:xfrm>
          </p:grpSpPr>
          <p:sp>
            <p:nvSpPr>
              <p:cNvPr id="63" name="Rectangle 63"/>
              <p:cNvSpPr/>
              <p:nvPr/>
            </p:nvSpPr>
            <p:spPr>
              <a:xfrm>
                <a:off x="190500" y="4381500"/>
                <a:ext cx="1714500" cy="800100"/>
              </a:xfrm>
              <a:prstGeom prst="roundRect">
                <a:avLst>
                  <a:gd name="adj" fmla="val 7143"/>
                </a:avLst>
              </a:prstGeom>
              <a:solidFill>
                <a:srgbClr val="F6F9FD"/>
              </a:solidFill>
              <a:ln w="9525">
                <a:solidFill>
                  <a:srgbClr val="CFDFEE"/>
                </a:solidFill>
              </a:ln>
            </p:spPr>
          </p:sp>
          <p:sp>
            <p:nvSpPr>
              <p:cNvPr id="64" name="Ellipse 64"/>
              <p:cNvSpPr/>
              <p:nvPr/>
            </p:nvSpPr>
            <p:spPr>
              <a:xfrm>
                <a:off x="266700" y="4610100"/>
                <a:ext cx="342900" cy="342900"/>
              </a:xfrm>
              <a:prstGeom prst="ellipse">
                <a:avLst/>
              </a:prstGeom>
              <a:solidFill>
                <a:srgbClr val="92301C"/>
              </a:solidFill>
              <a:ln>
                <a:noFill/>
              </a:ln>
            </p:spPr>
          </p:sp>
          <p:grpSp>
            <p:nvGrpSpPr>
              <p:cNvPr id="68" name="Group 68"/>
              <p:cNvGrpSpPr/>
              <p:nvPr/>
            </p:nvGrpSpPr>
            <p:grpSpPr>
              <a:xfrm>
                <a:off x="373856" y="4717256"/>
                <a:ext cx="128588" cy="128588"/>
                <a:chOff x="373856" y="4717256"/>
                <a:chExt cx="128588" cy="128588"/>
              </a:xfrm>
            </p:grpSpPr>
            <p:sp>
              <p:nvSpPr>
                <p:cNvPr id="65" name="Freeform 65"/>
                <p:cNvSpPr/>
                <p:nvPr/>
              </p:nvSpPr>
              <p:spPr>
                <a:xfrm>
                  <a:off x="373856" y="4717256"/>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66" name="Freeform 66"/>
                <p:cNvSpPr/>
                <p:nvPr/>
              </p:nvSpPr>
              <p:spPr>
                <a:xfrm>
                  <a:off x="388144" y="4781550"/>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67" name="Freeform 67"/>
                <p:cNvSpPr/>
                <p:nvPr/>
              </p:nvSpPr>
              <p:spPr>
                <a:xfrm>
                  <a:off x="416719" y="4788694"/>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69" name="TextBox 69"/>
              <p:cNvSpPr txBox="1"/>
              <p:nvPr/>
            </p:nvSpPr>
            <p:spPr>
              <a:xfrm>
                <a:off x="680847" y="4561999"/>
                <a:ext cx="273761"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网点</a:t>
                </a:r>
              </a:p>
            </p:txBody>
          </p:sp>
          <p:sp>
            <p:nvSpPr>
              <p:cNvPr id="70" name="TextBox 70"/>
              <p:cNvSpPr txBox="1"/>
              <p:nvPr/>
            </p:nvSpPr>
            <p:spPr>
              <a:xfrm>
                <a:off x="681038" y="4767262"/>
                <a:ext cx="61531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厅堂智能助手</a:t>
                </a:r>
              </a:p>
            </p:txBody>
          </p:sp>
          <p:sp>
            <p:nvSpPr>
              <p:cNvPr id="71" name="TextBox 71"/>
              <p:cNvSpPr txBox="1"/>
              <p:nvPr/>
            </p:nvSpPr>
            <p:spPr>
              <a:xfrm>
                <a:off x="681038" y="4919662"/>
                <a:ext cx="61531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远程坐席协同</a:t>
                </a:r>
              </a:p>
            </p:txBody>
          </p:sp>
        </p:grpSp>
      </p:grpSp>
      <p:grpSp>
        <p:nvGrpSpPr>
          <p:cNvPr id="160" name="mid-flow"/>
          <p:cNvGrpSpPr/>
          <p:nvPr/>
        </p:nvGrpSpPr>
        <p:grpSpPr>
          <a:xfrm>
            <a:off x="2071688" y="1122045"/>
            <a:ext cx="5660605" cy="2180035"/>
            <a:chOff x="2071688" y="1122045"/>
            <a:chExt cx="5660605" cy="2180035"/>
          </a:xfrm>
        </p:grpSpPr>
        <p:grpSp>
          <p:nvGrpSpPr>
            <p:cNvPr id="89" name="mf-1"/>
            <p:cNvGrpSpPr/>
            <p:nvPr/>
          </p:nvGrpSpPr>
          <p:grpSpPr>
            <a:xfrm>
              <a:off x="2071688" y="1122045"/>
              <a:ext cx="728662" cy="2180035"/>
              <a:chOff x="2071688" y="1122045"/>
              <a:chExt cx="728662" cy="2180035"/>
            </a:xfrm>
          </p:grpSpPr>
          <p:sp>
            <p:nvSpPr>
              <p:cNvPr id="74" name="TextBox 74"/>
              <p:cNvSpPr txBox="1"/>
              <p:nvPr/>
            </p:nvSpPr>
            <p:spPr>
              <a:xfrm>
                <a:off x="2423399" y="1122045"/>
                <a:ext cx="144301" cy="176212"/>
              </a:xfrm>
              <a:prstGeom prst="rect">
                <a:avLst/>
              </a:prstGeom>
              <a:noFill/>
              <a:ln>
                <a:noFill/>
              </a:ln>
            </p:spPr>
            <p:txBody>
              <a:bodyPr wrap="none" lIns="0" tIns="0" rIns="0" bIns="0" anchor="t" anchorCtr="0">
                <a:spAutoFit/>
              </a:bodyPr>
              <a:lstStyle/>
              <a:p>
                <a:pPr algn="ctr"/>
                <a:r>
                  <a:rPr lang="zh-CN" sz="900" b="1" dirty="0">
                    <a:solidFill>
                      <a:srgbClr val="92301C"/>
                    </a:solidFill>
                    <a:latin typeface="+mj-lt"/>
                    <a:ea typeface="+mj-ea"/>
                    <a:cs typeface="+mj-cs"/>
                  </a:rPr>
                  <a:t>01</a:t>
                </a:r>
              </a:p>
            </p:txBody>
          </p:sp>
          <p:sp>
            <p:nvSpPr>
              <p:cNvPr id="75" name="TextBox 75"/>
              <p:cNvSpPr txBox="1"/>
              <p:nvPr/>
            </p:nvSpPr>
            <p:spPr>
              <a:xfrm>
                <a:off x="2226742" y="13044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意图识别</a:t>
                </a:r>
              </a:p>
            </p:txBody>
          </p:sp>
          <p:sp>
            <p:nvSpPr>
              <p:cNvPr id="76" name="Ellipse 76"/>
              <p:cNvSpPr/>
              <p:nvPr/>
            </p:nvSpPr>
            <p:spPr>
              <a:xfrm>
                <a:off x="2190750" y="1714500"/>
                <a:ext cx="609600" cy="609600"/>
              </a:xfrm>
              <a:prstGeom prst="ellipse">
                <a:avLst/>
              </a:prstGeom>
              <a:solidFill>
                <a:srgbClr val="FFFFFF"/>
              </a:solidFill>
              <a:ln w="14288">
                <a:solidFill>
                  <a:srgbClr val="92301C"/>
                </a:solidFill>
              </a:ln>
            </p:spPr>
          </p:sp>
          <p:grpSp>
            <p:nvGrpSpPr>
              <p:cNvPr id="83" name="Group 83"/>
              <p:cNvGrpSpPr/>
              <p:nvPr/>
            </p:nvGrpSpPr>
            <p:grpSpPr>
              <a:xfrm>
                <a:off x="2388394" y="1912144"/>
                <a:ext cx="214312" cy="214312"/>
                <a:chOff x="2388394" y="1912144"/>
                <a:chExt cx="214312" cy="214312"/>
              </a:xfrm>
            </p:grpSpPr>
            <p:sp>
              <p:nvSpPr>
                <p:cNvPr id="77" name="Freeform 77"/>
                <p:cNvSpPr/>
                <p:nvPr/>
              </p:nvSpPr>
              <p:spPr>
                <a:xfrm>
                  <a:off x="2495550" y="2031206"/>
                  <a:ext cx="83344" cy="95250"/>
                </a:xfrm>
                <a:custGeom>
                  <a:avLst/>
                  <a:gdLst/>
                  <a:ahLst/>
                  <a:cxnLst/>
                  <a:rect l="l" t="t" r="r" b="b"/>
                  <a:pathLst>
                    <a:path w="83344" h="95250">
                      <a:moveTo>
                        <a:pt x="41672" y="0"/>
                      </a:moveTo>
                      <a:cubicBezTo>
                        <a:pt x="18657" y="0"/>
                        <a:pt x="0" y="18657"/>
                        <a:pt x="0" y="41672"/>
                      </a:cubicBezTo>
                      <a:lnTo>
                        <a:pt x="0" y="53578"/>
                      </a:lnTo>
                      <a:cubicBezTo>
                        <a:pt x="0" y="76593"/>
                        <a:pt x="18657" y="95250"/>
                        <a:pt x="41672" y="95250"/>
                      </a:cubicBezTo>
                      <a:cubicBezTo>
                        <a:pt x="64687" y="95250"/>
                        <a:pt x="83344" y="76593"/>
                        <a:pt x="83344" y="53578"/>
                      </a:cubicBezTo>
                      <a:lnTo>
                        <a:pt x="83344" y="32147"/>
                      </a:lnTo>
                    </a:path>
                  </a:pathLst>
                </a:custGeom>
                <a:noFill/>
                <a:ln w="23812">
                  <a:solidFill>
                    <a:srgbClr val="92301C"/>
                  </a:solidFill>
                </a:ln>
              </p:spPr>
            </p:sp>
            <p:sp>
              <p:nvSpPr>
                <p:cNvPr id="78" name="Freeform 78"/>
                <p:cNvSpPr/>
                <p:nvPr/>
              </p:nvSpPr>
              <p:spPr>
                <a:xfrm>
                  <a:off x="2412206" y="2031206"/>
                  <a:ext cx="83344" cy="95250"/>
                </a:xfrm>
                <a:custGeom>
                  <a:avLst/>
                  <a:gdLst/>
                  <a:ahLst/>
                  <a:cxnLst/>
                  <a:rect l="l" t="t" r="r" b="b"/>
                  <a:pathLst>
                    <a:path w="83344" h="95250">
                      <a:moveTo>
                        <a:pt x="41672" y="0"/>
                      </a:moveTo>
                      <a:cubicBezTo>
                        <a:pt x="64687" y="0"/>
                        <a:pt x="83344" y="18657"/>
                        <a:pt x="83344" y="41672"/>
                      </a:cubicBezTo>
                      <a:lnTo>
                        <a:pt x="83344" y="53578"/>
                      </a:lnTo>
                      <a:cubicBezTo>
                        <a:pt x="83344" y="76593"/>
                        <a:pt x="64687" y="95250"/>
                        <a:pt x="41672" y="95250"/>
                      </a:cubicBezTo>
                      <a:cubicBezTo>
                        <a:pt x="18657" y="95250"/>
                        <a:pt x="0" y="76593"/>
                        <a:pt x="0" y="53578"/>
                      </a:cubicBezTo>
                      <a:lnTo>
                        <a:pt x="0" y="32147"/>
                      </a:lnTo>
                    </a:path>
                  </a:pathLst>
                </a:custGeom>
                <a:noFill/>
                <a:ln w="23812">
                  <a:solidFill>
                    <a:srgbClr val="92301C"/>
                  </a:solidFill>
                </a:ln>
              </p:spPr>
            </p:sp>
            <p:sp>
              <p:nvSpPr>
                <p:cNvPr id="79" name="Freeform 79"/>
                <p:cNvSpPr/>
                <p:nvPr/>
              </p:nvSpPr>
              <p:spPr>
                <a:xfrm>
                  <a:off x="2555081" y="1983581"/>
                  <a:ext cx="47625" cy="83344"/>
                </a:xfrm>
                <a:custGeom>
                  <a:avLst/>
                  <a:gdLst/>
                  <a:ahLst/>
                  <a:cxnLst/>
                  <a:rect l="l" t="t" r="r" b="b"/>
                  <a:pathLst>
                    <a:path w="47625" h="83344">
                      <a:moveTo>
                        <a:pt x="5953" y="83344"/>
                      </a:moveTo>
                      <a:cubicBezTo>
                        <a:pt x="28968" y="83344"/>
                        <a:pt x="47625" y="64687"/>
                        <a:pt x="47625" y="41672"/>
                      </a:cubicBezTo>
                      <a:cubicBezTo>
                        <a:pt x="47625" y="18657"/>
                        <a:pt x="28968" y="0"/>
                        <a:pt x="5953" y="0"/>
                      </a:cubicBezTo>
                      <a:lnTo>
                        <a:pt x="0" y="0"/>
                      </a:lnTo>
                    </a:path>
                  </a:pathLst>
                </a:custGeom>
                <a:noFill/>
                <a:ln w="23812">
                  <a:solidFill>
                    <a:srgbClr val="92301C"/>
                  </a:solidFill>
                </a:ln>
              </p:spPr>
            </p:sp>
            <p:sp>
              <p:nvSpPr>
                <p:cNvPr id="80" name="Freeform 80"/>
                <p:cNvSpPr/>
                <p:nvPr/>
              </p:nvSpPr>
              <p:spPr>
                <a:xfrm>
                  <a:off x="2495550" y="1912144"/>
                  <a:ext cx="83344" cy="75009"/>
                </a:xfrm>
                <a:custGeom>
                  <a:avLst/>
                  <a:gdLst/>
                  <a:ahLst/>
                  <a:cxnLst/>
                  <a:rect l="l" t="t" r="r" b="b"/>
                  <a:pathLst>
                    <a:path w="83344" h="75009">
                      <a:moveTo>
                        <a:pt x="83344" y="75009"/>
                      </a:moveTo>
                      <a:lnTo>
                        <a:pt x="83344" y="41672"/>
                      </a:lnTo>
                      <a:cubicBezTo>
                        <a:pt x="83344" y="18657"/>
                        <a:pt x="64687" y="0"/>
                        <a:pt x="41672" y="0"/>
                      </a:cubicBezTo>
                      <a:cubicBezTo>
                        <a:pt x="18657" y="0"/>
                        <a:pt x="0" y="18657"/>
                        <a:pt x="0" y="41672"/>
                      </a:cubicBezTo>
                    </a:path>
                  </a:pathLst>
                </a:custGeom>
                <a:noFill/>
                <a:ln w="23812">
                  <a:solidFill>
                    <a:srgbClr val="92301C"/>
                  </a:solidFill>
                </a:ln>
              </p:spPr>
            </p:sp>
            <p:sp>
              <p:nvSpPr>
                <p:cNvPr id="81" name="Freeform 81"/>
                <p:cNvSpPr/>
                <p:nvPr/>
              </p:nvSpPr>
              <p:spPr>
                <a:xfrm>
                  <a:off x="2388394" y="1983581"/>
                  <a:ext cx="47625" cy="83344"/>
                </a:xfrm>
                <a:custGeom>
                  <a:avLst/>
                  <a:gdLst/>
                  <a:ahLst/>
                  <a:cxnLst/>
                  <a:rect l="l" t="t" r="r" b="b"/>
                  <a:pathLst>
                    <a:path w="47625" h="83344">
                      <a:moveTo>
                        <a:pt x="41672" y="83344"/>
                      </a:moveTo>
                      <a:cubicBezTo>
                        <a:pt x="18657" y="83344"/>
                        <a:pt x="0" y="64687"/>
                        <a:pt x="0" y="41672"/>
                      </a:cubicBezTo>
                      <a:cubicBezTo>
                        <a:pt x="0" y="18657"/>
                        <a:pt x="18657" y="0"/>
                        <a:pt x="41672" y="0"/>
                      </a:cubicBezTo>
                      <a:lnTo>
                        <a:pt x="47625" y="0"/>
                      </a:lnTo>
                    </a:path>
                  </a:pathLst>
                </a:custGeom>
                <a:noFill/>
                <a:ln w="23812">
                  <a:solidFill>
                    <a:srgbClr val="92301C"/>
                  </a:solidFill>
                </a:ln>
              </p:spPr>
            </p:sp>
            <p:sp>
              <p:nvSpPr>
                <p:cNvPr id="82" name="Freeform 82"/>
                <p:cNvSpPr/>
                <p:nvPr/>
              </p:nvSpPr>
              <p:spPr>
                <a:xfrm>
                  <a:off x="2412206" y="1912144"/>
                  <a:ext cx="83344" cy="160734"/>
                </a:xfrm>
                <a:custGeom>
                  <a:avLst/>
                  <a:gdLst/>
                  <a:ahLst/>
                  <a:cxnLst/>
                  <a:rect l="l" t="t" r="r" b="b"/>
                  <a:pathLst>
                    <a:path w="83344" h="160734">
                      <a:moveTo>
                        <a:pt x="0" y="75009"/>
                      </a:moveTo>
                      <a:lnTo>
                        <a:pt x="0" y="41672"/>
                      </a:lnTo>
                      <a:cubicBezTo>
                        <a:pt x="0" y="18657"/>
                        <a:pt x="18657" y="0"/>
                        <a:pt x="41672" y="0"/>
                      </a:cubicBezTo>
                      <a:cubicBezTo>
                        <a:pt x="64687" y="0"/>
                        <a:pt x="83344" y="18657"/>
                        <a:pt x="83344" y="41672"/>
                      </a:cubicBezTo>
                      <a:lnTo>
                        <a:pt x="83344" y="160734"/>
                      </a:lnTo>
                    </a:path>
                  </a:pathLst>
                </a:custGeom>
                <a:noFill/>
                <a:ln w="23812">
                  <a:solidFill>
                    <a:srgbClr val="92301C"/>
                  </a:solidFill>
                </a:ln>
              </p:spPr>
            </p:sp>
          </p:grpSp>
          <p:sp>
            <p:nvSpPr>
              <p:cNvPr id="84" name="TextBox 84"/>
              <p:cNvSpPr txBox="1"/>
              <p:nvPr/>
            </p:nvSpPr>
            <p:spPr>
              <a:xfrm>
                <a:off x="2071688" y="2513886"/>
                <a:ext cx="56407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多模态理解</a:t>
                </a:r>
              </a:p>
            </p:txBody>
          </p:sp>
          <p:sp>
            <p:nvSpPr>
              <p:cNvPr id="85" name="TextBox 85"/>
              <p:cNvSpPr txBox="1"/>
              <p:nvPr/>
            </p:nvSpPr>
            <p:spPr>
              <a:xfrm>
                <a:off x="2071688" y="2675811"/>
                <a:ext cx="635575"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（语音/文本）</a:t>
                </a:r>
              </a:p>
            </p:txBody>
          </p:sp>
          <p:sp>
            <p:nvSpPr>
              <p:cNvPr id="86" name="TextBox 86"/>
              <p:cNvSpPr txBox="1"/>
              <p:nvPr/>
            </p:nvSpPr>
            <p:spPr>
              <a:xfrm>
                <a:off x="2071688" y="2837736"/>
                <a:ext cx="46849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意图分类</a:t>
                </a:r>
              </a:p>
            </p:txBody>
          </p:sp>
          <p:sp>
            <p:nvSpPr>
              <p:cNvPr id="87" name="TextBox 87"/>
              <p:cNvSpPr txBox="1"/>
              <p:nvPr/>
            </p:nvSpPr>
            <p:spPr>
              <a:xfrm>
                <a:off x="2071688" y="2999661"/>
                <a:ext cx="46849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情绪识别</a:t>
                </a:r>
              </a:p>
            </p:txBody>
          </p:sp>
          <p:sp>
            <p:nvSpPr>
              <p:cNvPr id="88" name="TextBox 88"/>
              <p:cNvSpPr txBox="1"/>
              <p:nvPr/>
            </p:nvSpPr>
            <p:spPr>
              <a:xfrm>
                <a:off x="2071688" y="31615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客户画像调取</a:t>
                </a:r>
              </a:p>
            </p:txBody>
          </p:sp>
        </p:grpSp>
        <p:grpSp>
          <p:nvGrpSpPr>
            <p:cNvPr id="104" name="mf-2"/>
            <p:cNvGrpSpPr/>
            <p:nvPr/>
          </p:nvGrpSpPr>
          <p:grpSpPr>
            <a:xfrm>
              <a:off x="3052762" y="1122045"/>
              <a:ext cx="755231" cy="2180035"/>
              <a:chOff x="3052762" y="1122045"/>
              <a:chExt cx="755231" cy="2180035"/>
            </a:xfrm>
          </p:grpSpPr>
          <p:sp>
            <p:nvSpPr>
              <p:cNvPr id="90" name="TextBox 90"/>
              <p:cNvSpPr txBox="1"/>
              <p:nvPr/>
            </p:nvSpPr>
            <p:spPr>
              <a:xfrm>
                <a:off x="3404474" y="1122045"/>
                <a:ext cx="144301" cy="176212"/>
              </a:xfrm>
              <a:prstGeom prst="rect">
                <a:avLst/>
              </a:prstGeom>
              <a:noFill/>
              <a:ln>
                <a:noFill/>
              </a:ln>
            </p:spPr>
            <p:txBody>
              <a:bodyPr wrap="none" lIns="0" tIns="0" rIns="0" bIns="0" anchor="t" anchorCtr="0">
                <a:spAutoFit/>
              </a:bodyPr>
              <a:lstStyle/>
              <a:p>
                <a:pPr algn="ctr"/>
                <a:r>
                  <a:rPr lang="zh-CN" sz="900" b="1" dirty="0">
                    <a:solidFill>
                      <a:srgbClr val="92301C"/>
                    </a:solidFill>
                    <a:latin typeface="+mj-lt"/>
                    <a:ea typeface="+mj-ea"/>
                    <a:cs typeface="+mj-cs"/>
                  </a:rPr>
                  <a:t>02</a:t>
                </a:r>
              </a:p>
            </p:txBody>
          </p:sp>
          <p:sp>
            <p:nvSpPr>
              <p:cNvPr id="91" name="TextBox 91"/>
              <p:cNvSpPr txBox="1"/>
              <p:nvPr/>
            </p:nvSpPr>
            <p:spPr>
              <a:xfrm>
                <a:off x="3207817" y="13044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身份核验</a:t>
                </a:r>
              </a:p>
            </p:txBody>
          </p:sp>
          <p:sp>
            <p:nvSpPr>
              <p:cNvPr id="92" name="Ellipse 92"/>
              <p:cNvSpPr/>
              <p:nvPr/>
            </p:nvSpPr>
            <p:spPr>
              <a:xfrm>
                <a:off x="3171825" y="1714500"/>
                <a:ext cx="609600" cy="609600"/>
              </a:xfrm>
              <a:prstGeom prst="ellipse">
                <a:avLst/>
              </a:prstGeom>
              <a:solidFill>
                <a:srgbClr val="FFFFFF"/>
              </a:solidFill>
              <a:ln w="14288">
                <a:solidFill>
                  <a:srgbClr val="92301C"/>
                </a:solidFill>
              </a:ln>
            </p:spPr>
          </p:sp>
          <p:grpSp>
            <p:nvGrpSpPr>
              <p:cNvPr id="98" name="Group 98"/>
              <p:cNvGrpSpPr/>
              <p:nvPr/>
            </p:nvGrpSpPr>
            <p:grpSpPr>
              <a:xfrm>
                <a:off x="3369469" y="1924050"/>
                <a:ext cx="214312" cy="190500"/>
                <a:chOff x="3369469" y="1924050"/>
                <a:chExt cx="214312" cy="190500"/>
              </a:xfrm>
            </p:grpSpPr>
            <p:sp>
              <p:nvSpPr>
                <p:cNvPr id="93" name="Freeform 93"/>
                <p:cNvSpPr/>
                <p:nvPr/>
              </p:nvSpPr>
              <p:spPr>
                <a:xfrm>
                  <a:off x="3369469" y="1924050"/>
                  <a:ext cx="214312" cy="190500"/>
                </a:xfrm>
                <a:custGeom>
                  <a:avLst/>
                  <a:gdLst/>
                  <a:ahLst/>
                  <a:cxnLst/>
                  <a:rect l="l" t="t" r="r" b="b"/>
                  <a:pathLst>
                    <a:path w="214312" h="190500">
                      <a:moveTo>
                        <a:pt x="0" y="35719"/>
                      </a:moveTo>
                      <a:cubicBezTo>
                        <a:pt x="0" y="15992"/>
                        <a:pt x="15992" y="0"/>
                        <a:pt x="35719" y="0"/>
                      </a:cubicBezTo>
                      <a:lnTo>
                        <a:pt x="178594" y="0"/>
                      </a:lnTo>
                      <a:cubicBezTo>
                        <a:pt x="198321" y="0"/>
                        <a:pt x="214312" y="15992"/>
                        <a:pt x="214312" y="35719"/>
                      </a:cubicBezTo>
                      <a:lnTo>
                        <a:pt x="214312" y="154781"/>
                      </a:lnTo>
                      <a:cubicBezTo>
                        <a:pt x="214312" y="174508"/>
                        <a:pt x="198321" y="190500"/>
                        <a:pt x="178594" y="190500"/>
                      </a:cubicBezTo>
                      <a:lnTo>
                        <a:pt x="35719" y="190500"/>
                      </a:lnTo>
                      <a:cubicBezTo>
                        <a:pt x="15992" y="190500"/>
                        <a:pt x="0" y="174508"/>
                        <a:pt x="0" y="154781"/>
                      </a:cubicBezTo>
                      <a:lnTo>
                        <a:pt x="0" y="35719"/>
                      </a:lnTo>
                    </a:path>
                  </a:pathLst>
                </a:custGeom>
                <a:noFill/>
                <a:ln w="23812">
                  <a:solidFill>
                    <a:srgbClr val="92301C"/>
                  </a:solidFill>
                </a:ln>
              </p:spPr>
            </p:sp>
            <p:sp>
              <p:nvSpPr>
                <p:cNvPr id="94" name="Freeform 94"/>
                <p:cNvSpPr/>
                <p:nvPr/>
              </p:nvSpPr>
              <p:spPr>
                <a:xfrm>
                  <a:off x="3417094" y="1971675"/>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92301C"/>
                  </a:solidFill>
                </a:ln>
              </p:spPr>
            </p:sp>
            <p:sp>
              <p:nvSpPr>
                <p:cNvPr id="95" name="Freeform 95"/>
                <p:cNvSpPr/>
                <p:nvPr/>
              </p:nvSpPr>
              <p:spPr>
                <a:xfrm>
                  <a:off x="3512344" y="1971675"/>
                  <a:ext cx="23812" cy="9525"/>
                </a:xfrm>
                <a:custGeom>
                  <a:avLst/>
                  <a:gdLst/>
                  <a:ahLst/>
                  <a:cxnLst/>
                  <a:rect l="l" t="t" r="r" b="b"/>
                  <a:pathLst>
                    <a:path w="23812" h="9525">
                      <a:moveTo>
                        <a:pt x="0" y="0"/>
                      </a:moveTo>
                      <a:lnTo>
                        <a:pt x="23812" y="0"/>
                      </a:lnTo>
                    </a:path>
                  </a:pathLst>
                </a:custGeom>
                <a:noFill/>
                <a:ln w="23812">
                  <a:solidFill>
                    <a:srgbClr val="92301C"/>
                  </a:solidFill>
                </a:ln>
              </p:spPr>
            </p:sp>
            <p:sp>
              <p:nvSpPr>
                <p:cNvPr id="96" name="Freeform 96"/>
                <p:cNvSpPr/>
                <p:nvPr/>
              </p:nvSpPr>
              <p:spPr>
                <a:xfrm>
                  <a:off x="3512344" y="2019300"/>
                  <a:ext cx="23812" cy="9525"/>
                </a:xfrm>
                <a:custGeom>
                  <a:avLst/>
                  <a:gdLst/>
                  <a:ahLst/>
                  <a:cxnLst/>
                  <a:rect l="l" t="t" r="r" b="b"/>
                  <a:pathLst>
                    <a:path w="23812" h="9525">
                      <a:moveTo>
                        <a:pt x="0" y="0"/>
                      </a:moveTo>
                      <a:lnTo>
                        <a:pt x="23812" y="0"/>
                      </a:lnTo>
                    </a:path>
                  </a:pathLst>
                </a:custGeom>
                <a:noFill/>
                <a:ln w="23812">
                  <a:solidFill>
                    <a:srgbClr val="92301C"/>
                  </a:solidFill>
                </a:ln>
              </p:spPr>
            </p:sp>
            <p:sp>
              <p:nvSpPr>
                <p:cNvPr id="97" name="Freeform 97"/>
                <p:cNvSpPr/>
                <p:nvPr/>
              </p:nvSpPr>
              <p:spPr>
                <a:xfrm>
                  <a:off x="3417094" y="2066925"/>
                  <a:ext cx="119062" cy="9525"/>
                </a:xfrm>
                <a:custGeom>
                  <a:avLst/>
                  <a:gdLst/>
                  <a:ahLst/>
                  <a:cxnLst/>
                  <a:rect l="l" t="t" r="r" b="b"/>
                  <a:pathLst>
                    <a:path w="119062" h="9525">
                      <a:moveTo>
                        <a:pt x="0" y="0"/>
                      </a:moveTo>
                      <a:lnTo>
                        <a:pt x="119062" y="0"/>
                      </a:lnTo>
                    </a:path>
                  </a:pathLst>
                </a:custGeom>
                <a:noFill/>
                <a:ln w="23812">
                  <a:solidFill>
                    <a:srgbClr val="92301C"/>
                  </a:solidFill>
                </a:ln>
              </p:spPr>
            </p:sp>
          </p:grpSp>
          <p:sp>
            <p:nvSpPr>
              <p:cNvPr id="99" name="TextBox 99"/>
              <p:cNvSpPr txBox="1"/>
              <p:nvPr/>
            </p:nvSpPr>
            <p:spPr>
              <a:xfrm>
                <a:off x="3052762" y="2513886"/>
                <a:ext cx="56407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多因素认证</a:t>
                </a:r>
              </a:p>
            </p:txBody>
          </p:sp>
          <p:sp>
            <p:nvSpPr>
              <p:cNvPr id="100" name="TextBox 100"/>
              <p:cNvSpPr txBox="1"/>
              <p:nvPr/>
            </p:nvSpPr>
            <p:spPr>
              <a:xfrm>
                <a:off x="3052762" y="2675811"/>
                <a:ext cx="73115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（短信/人脸等）</a:t>
                </a:r>
              </a:p>
            </p:txBody>
          </p:sp>
          <p:sp>
            <p:nvSpPr>
              <p:cNvPr id="101" name="TextBox 101"/>
              <p:cNvSpPr txBox="1"/>
              <p:nvPr/>
            </p:nvSpPr>
            <p:spPr>
              <a:xfrm>
                <a:off x="3052762" y="28377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风险规则校验</a:t>
                </a:r>
              </a:p>
            </p:txBody>
          </p:sp>
          <p:sp>
            <p:nvSpPr>
              <p:cNvPr id="102" name="TextBox 102"/>
              <p:cNvSpPr txBox="1"/>
              <p:nvPr/>
            </p:nvSpPr>
            <p:spPr>
              <a:xfrm>
                <a:off x="3052762" y="2999661"/>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权限与数据识别</a:t>
                </a:r>
              </a:p>
            </p:txBody>
          </p:sp>
          <p:sp>
            <p:nvSpPr>
              <p:cNvPr id="103" name="TextBox 103"/>
              <p:cNvSpPr txBox="1"/>
              <p:nvPr/>
            </p:nvSpPr>
            <p:spPr>
              <a:xfrm>
                <a:off x="3052762" y="31615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核验结果留存</a:t>
                </a:r>
              </a:p>
            </p:txBody>
          </p:sp>
        </p:grpSp>
        <p:grpSp>
          <p:nvGrpSpPr>
            <p:cNvPr id="116" name="mf-3"/>
            <p:cNvGrpSpPr/>
            <p:nvPr/>
          </p:nvGrpSpPr>
          <p:grpSpPr>
            <a:xfrm>
              <a:off x="4033838" y="1122045"/>
              <a:ext cx="755231" cy="2018110"/>
              <a:chOff x="4033838" y="1122045"/>
              <a:chExt cx="755231" cy="2018110"/>
            </a:xfrm>
          </p:grpSpPr>
          <p:sp>
            <p:nvSpPr>
              <p:cNvPr id="105" name="TextBox 105"/>
              <p:cNvSpPr txBox="1"/>
              <p:nvPr/>
            </p:nvSpPr>
            <p:spPr>
              <a:xfrm>
                <a:off x="4385549" y="1122045"/>
                <a:ext cx="144301" cy="176212"/>
              </a:xfrm>
              <a:prstGeom prst="rect">
                <a:avLst/>
              </a:prstGeom>
              <a:noFill/>
              <a:ln>
                <a:noFill/>
              </a:ln>
            </p:spPr>
            <p:txBody>
              <a:bodyPr wrap="none" lIns="0" tIns="0" rIns="0" bIns="0" anchor="t" anchorCtr="0">
                <a:spAutoFit/>
              </a:bodyPr>
              <a:lstStyle/>
              <a:p>
                <a:pPr algn="ctr"/>
                <a:r>
                  <a:rPr lang="zh-CN" sz="900" b="1" dirty="0">
                    <a:solidFill>
                      <a:srgbClr val="92301C"/>
                    </a:solidFill>
                    <a:latin typeface="+mj-lt"/>
                    <a:ea typeface="+mj-ea"/>
                    <a:cs typeface="+mj-cs"/>
                  </a:rPr>
                  <a:t>03</a:t>
                </a:r>
              </a:p>
            </p:txBody>
          </p:sp>
          <p:sp>
            <p:nvSpPr>
              <p:cNvPr id="106" name="TextBox 106"/>
              <p:cNvSpPr txBox="1"/>
              <p:nvPr/>
            </p:nvSpPr>
            <p:spPr>
              <a:xfrm>
                <a:off x="4188892" y="13044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知识检索</a:t>
                </a:r>
              </a:p>
            </p:txBody>
          </p:sp>
          <p:sp>
            <p:nvSpPr>
              <p:cNvPr id="107" name="Ellipse 107"/>
              <p:cNvSpPr/>
              <p:nvPr/>
            </p:nvSpPr>
            <p:spPr>
              <a:xfrm>
                <a:off x="4152900" y="1714500"/>
                <a:ext cx="609600" cy="609600"/>
              </a:xfrm>
              <a:prstGeom prst="ellipse">
                <a:avLst/>
              </a:prstGeom>
              <a:solidFill>
                <a:srgbClr val="FFFFFF"/>
              </a:solidFill>
              <a:ln w="14288">
                <a:solidFill>
                  <a:srgbClr val="92301C"/>
                </a:solidFill>
              </a:ln>
            </p:spPr>
          </p:sp>
          <p:grpSp>
            <p:nvGrpSpPr>
              <p:cNvPr id="111" name="Group 111"/>
              <p:cNvGrpSpPr/>
              <p:nvPr/>
            </p:nvGrpSpPr>
            <p:grpSpPr>
              <a:xfrm>
                <a:off x="4374356" y="1924050"/>
                <a:ext cx="166688" cy="190500"/>
                <a:chOff x="4374356" y="1924050"/>
                <a:chExt cx="166688" cy="190500"/>
              </a:xfrm>
            </p:grpSpPr>
            <p:sp>
              <p:nvSpPr>
                <p:cNvPr id="108" name="Freeform 108"/>
                <p:cNvSpPr/>
                <p:nvPr/>
              </p:nvSpPr>
              <p:spPr>
                <a:xfrm>
                  <a:off x="4374356" y="1924050"/>
                  <a:ext cx="166688" cy="190500"/>
                </a:xfrm>
                <a:custGeom>
                  <a:avLst/>
                  <a:gdLst/>
                  <a:ahLst/>
                  <a:cxnLst/>
                  <a:rect l="l" t="t" r="r" b="b"/>
                  <a:pathLst>
                    <a:path w="166688" h="190500">
                      <a:moveTo>
                        <a:pt x="166688" y="0"/>
                      </a:moveTo>
                      <a:lnTo>
                        <a:pt x="166688" y="190500"/>
                      </a:lnTo>
                      <a:lnTo>
                        <a:pt x="23812" y="190500"/>
                      </a:lnTo>
                      <a:cubicBezTo>
                        <a:pt x="10661" y="190500"/>
                        <a:pt x="0" y="179839"/>
                        <a:pt x="0" y="166688"/>
                      </a:cubicBezTo>
                      <a:lnTo>
                        <a:pt x="0" y="23812"/>
                      </a:lnTo>
                      <a:cubicBezTo>
                        <a:pt x="0" y="10661"/>
                        <a:pt x="10661" y="0"/>
                        <a:pt x="23812" y="0"/>
                      </a:cubicBezTo>
                      <a:lnTo>
                        <a:pt x="166688" y="0"/>
                      </a:lnTo>
                    </a:path>
                  </a:pathLst>
                </a:custGeom>
                <a:noFill/>
                <a:ln w="23812">
                  <a:solidFill>
                    <a:srgbClr val="92301C"/>
                  </a:solidFill>
                </a:ln>
              </p:spPr>
            </p:sp>
            <p:sp>
              <p:nvSpPr>
                <p:cNvPr id="109" name="Freeform 109"/>
                <p:cNvSpPr/>
                <p:nvPr/>
              </p:nvSpPr>
              <p:spPr>
                <a:xfrm>
                  <a:off x="4374356" y="2066925"/>
                  <a:ext cx="166688" cy="23812"/>
                </a:xfrm>
                <a:custGeom>
                  <a:avLst/>
                  <a:gdLst/>
                  <a:ahLst/>
                  <a:cxnLst/>
                  <a:rect l="l" t="t" r="r" b="b"/>
                  <a:pathLst>
                    <a:path w="166688" h="23812">
                      <a:moveTo>
                        <a:pt x="166688" y="0"/>
                      </a:moveTo>
                      <a:lnTo>
                        <a:pt x="23812" y="0"/>
                      </a:lnTo>
                      <a:cubicBezTo>
                        <a:pt x="10661" y="0"/>
                        <a:pt x="0" y="10661"/>
                        <a:pt x="0" y="23812"/>
                      </a:cubicBezTo>
                    </a:path>
                  </a:pathLst>
                </a:custGeom>
                <a:noFill/>
                <a:ln w="23812">
                  <a:solidFill>
                    <a:srgbClr val="92301C"/>
                  </a:solidFill>
                </a:ln>
              </p:spPr>
            </p:sp>
            <p:sp>
              <p:nvSpPr>
                <p:cNvPr id="110" name="Freeform 110"/>
                <p:cNvSpPr/>
                <p:nvPr/>
              </p:nvSpPr>
              <p:spPr>
                <a:xfrm>
                  <a:off x="4421981" y="1971675"/>
                  <a:ext cx="71438" cy="9525"/>
                </a:xfrm>
                <a:custGeom>
                  <a:avLst/>
                  <a:gdLst/>
                  <a:ahLst/>
                  <a:cxnLst/>
                  <a:rect l="l" t="t" r="r" b="b"/>
                  <a:pathLst>
                    <a:path w="71438" h="9525">
                      <a:moveTo>
                        <a:pt x="0" y="0"/>
                      </a:moveTo>
                      <a:lnTo>
                        <a:pt x="71438" y="0"/>
                      </a:lnTo>
                    </a:path>
                  </a:pathLst>
                </a:custGeom>
                <a:noFill/>
                <a:ln w="23812">
                  <a:solidFill>
                    <a:srgbClr val="92301C"/>
                  </a:solidFill>
                </a:ln>
              </p:spPr>
            </p:sp>
          </p:grpSp>
          <p:sp>
            <p:nvSpPr>
              <p:cNvPr id="112" name="TextBox 112"/>
              <p:cNvSpPr txBox="1"/>
              <p:nvPr/>
            </p:nvSpPr>
            <p:spPr>
              <a:xfrm>
                <a:off x="4033838" y="2513886"/>
                <a:ext cx="56407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统一知识库</a:t>
                </a:r>
              </a:p>
            </p:txBody>
          </p:sp>
          <p:sp>
            <p:nvSpPr>
              <p:cNvPr id="113" name="TextBox 113"/>
              <p:cNvSpPr txBox="1"/>
              <p:nvPr/>
            </p:nvSpPr>
            <p:spPr>
              <a:xfrm>
                <a:off x="4033838" y="2675811"/>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语义检索与生成</a:t>
                </a:r>
              </a:p>
            </p:txBody>
          </p:sp>
          <p:sp>
            <p:nvSpPr>
              <p:cNvPr id="114" name="TextBox 114"/>
              <p:cNvSpPr txBox="1"/>
              <p:nvPr/>
            </p:nvSpPr>
            <p:spPr>
              <a:xfrm>
                <a:off x="4033838" y="2837736"/>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政策与产品匹配</a:t>
                </a:r>
              </a:p>
            </p:txBody>
          </p:sp>
          <p:sp>
            <p:nvSpPr>
              <p:cNvPr id="115" name="TextBox 115"/>
              <p:cNvSpPr txBox="1"/>
              <p:nvPr/>
            </p:nvSpPr>
            <p:spPr>
              <a:xfrm>
                <a:off x="4033838" y="2999661"/>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引用来源可追溯</a:t>
                </a:r>
              </a:p>
            </p:txBody>
          </p:sp>
        </p:grpSp>
        <p:grpSp>
          <p:nvGrpSpPr>
            <p:cNvPr id="130" name="mf-4"/>
            <p:cNvGrpSpPr/>
            <p:nvPr/>
          </p:nvGrpSpPr>
          <p:grpSpPr>
            <a:xfrm>
              <a:off x="5014912" y="1122045"/>
              <a:ext cx="824599" cy="2018110"/>
              <a:chOff x="5014912" y="1122045"/>
              <a:chExt cx="824599" cy="2018110"/>
            </a:xfrm>
          </p:grpSpPr>
          <p:sp>
            <p:nvSpPr>
              <p:cNvPr id="117" name="TextBox 117"/>
              <p:cNvSpPr txBox="1"/>
              <p:nvPr/>
            </p:nvSpPr>
            <p:spPr>
              <a:xfrm>
                <a:off x="5366624" y="1122045"/>
                <a:ext cx="144301" cy="176212"/>
              </a:xfrm>
              <a:prstGeom prst="rect">
                <a:avLst/>
              </a:prstGeom>
              <a:noFill/>
              <a:ln>
                <a:noFill/>
              </a:ln>
            </p:spPr>
            <p:txBody>
              <a:bodyPr wrap="none" lIns="0" tIns="0" rIns="0" bIns="0" anchor="t" anchorCtr="0">
                <a:spAutoFit/>
              </a:bodyPr>
              <a:lstStyle/>
              <a:p>
                <a:pPr algn="ctr"/>
                <a:r>
                  <a:rPr lang="zh-CN" sz="900" b="1" dirty="0">
                    <a:solidFill>
                      <a:srgbClr val="92301C"/>
                    </a:solidFill>
                    <a:latin typeface="+mj-lt"/>
                    <a:ea typeface="+mj-ea"/>
                    <a:cs typeface="+mj-cs"/>
                  </a:rPr>
                  <a:t>04</a:t>
                </a:r>
              </a:p>
            </p:txBody>
          </p:sp>
          <p:sp>
            <p:nvSpPr>
              <p:cNvPr id="118" name="TextBox 118"/>
              <p:cNvSpPr txBox="1"/>
              <p:nvPr/>
            </p:nvSpPr>
            <p:spPr>
              <a:xfrm>
                <a:off x="5038039" y="1304449"/>
                <a:ext cx="801472"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业务办理引导</a:t>
                </a:r>
              </a:p>
            </p:txBody>
          </p:sp>
          <p:sp>
            <p:nvSpPr>
              <p:cNvPr id="119" name="Ellipse 119"/>
              <p:cNvSpPr/>
              <p:nvPr/>
            </p:nvSpPr>
            <p:spPr>
              <a:xfrm>
                <a:off x="5133975" y="1714500"/>
                <a:ext cx="609600" cy="609600"/>
              </a:xfrm>
              <a:prstGeom prst="ellipse">
                <a:avLst/>
              </a:prstGeom>
              <a:solidFill>
                <a:srgbClr val="FFFFFF"/>
              </a:solidFill>
              <a:ln w="14288">
                <a:solidFill>
                  <a:srgbClr val="92301C"/>
                </a:solidFill>
              </a:ln>
            </p:spPr>
          </p:sp>
          <p:grpSp>
            <p:nvGrpSpPr>
              <p:cNvPr id="125" name="Group 125"/>
              <p:cNvGrpSpPr/>
              <p:nvPr/>
            </p:nvGrpSpPr>
            <p:grpSpPr>
              <a:xfrm>
                <a:off x="5355431" y="1912144"/>
                <a:ext cx="166688" cy="214312"/>
                <a:chOff x="5355431" y="1912144"/>
                <a:chExt cx="166688" cy="214312"/>
              </a:xfrm>
            </p:grpSpPr>
            <p:sp>
              <p:nvSpPr>
                <p:cNvPr id="120" name="Freeform 120"/>
                <p:cNvSpPr/>
                <p:nvPr/>
              </p:nvSpPr>
              <p:spPr>
                <a:xfrm>
                  <a:off x="5462588" y="1912144"/>
                  <a:ext cx="59531" cy="59531"/>
                </a:xfrm>
                <a:custGeom>
                  <a:avLst/>
                  <a:gdLst/>
                  <a:ahLst/>
                  <a:cxnLst/>
                  <a:rect l="l" t="t" r="r" b="b"/>
                  <a:pathLst>
                    <a:path w="59531" h="59531">
                      <a:moveTo>
                        <a:pt x="0" y="0"/>
                      </a:moveTo>
                      <a:lnTo>
                        <a:pt x="0" y="47625"/>
                      </a:lnTo>
                      <a:cubicBezTo>
                        <a:pt x="0" y="54201"/>
                        <a:pt x="5331" y="59531"/>
                        <a:pt x="11906" y="59531"/>
                      </a:cubicBezTo>
                      <a:lnTo>
                        <a:pt x="59531" y="59531"/>
                      </a:lnTo>
                    </a:path>
                  </a:pathLst>
                </a:custGeom>
                <a:noFill/>
                <a:ln w="23812">
                  <a:solidFill>
                    <a:srgbClr val="92301C"/>
                  </a:solidFill>
                </a:ln>
              </p:spPr>
            </p:sp>
            <p:sp>
              <p:nvSpPr>
                <p:cNvPr id="121" name="Freeform 121"/>
                <p:cNvSpPr/>
                <p:nvPr/>
              </p:nvSpPr>
              <p:spPr>
                <a:xfrm>
                  <a:off x="5355431" y="1912144"/>
                  <a:ext cx="166688" cy="214312"/>
                </a:xfrm>
                <a:custGeom>
                  <a:avLst/>
                  <a:gdLst/>
                  <a:ahLst/>
                  <a:cxnLst/>
                  <a:rect l="l" t="t" r="r" b="b"/>
                  <a:pathLst>
                    <a:path w="166688" h="214312">
                      <a:moveTo>
                        <a:pt x="142875" y="214312"/>
                      </a:moveTo>
                      <a:lnTo>
                        <a:pt x="23812" y="214312"/>
                      </a:lnTo>
                      <a:cubicBezTo>
                        <a:pt x="10661" y="214312"/>
                        <a:pt x="0" y="203651"/>
                        <a:pt x="0" y="190500"/>
                      </a:cubicBezTo>
                      <a:lnTo>
                        <a:pt x="0" y="23812"/>
                      </a:lnTo>
                      <a:cubicBezTo>
                        <a:pt x="0" y="10661"/>
                        <a:pt x="10661" y="0"/>
                        <a:pt x="23812" y="0"/>
                      </a:cubicBezTo>
                      <a:lnTo>
                        <a:pt x="107156" y="0"/>
                      </a:lnTo>
                      <a:lnTo>
                        <a:pt x="166688" y="59531"/>
                      </a:lnTo>
                      <a:lnTo>
                        <a:pt x="166688" y="190500"/>
                      </a:lnTo>
                      <a:cubicBezTo>
                        <a:pt x="166688" y="203651"/>
                        <a:pt x="156026" y="214312"/>
                        <a:pt x="142875" y="214312"/>
                      </a:cubicBezTo>
                    </a:path>
                  </a:pathLst>
                </a:custGeom>
                <a:noFill/>
                <a:ln w="23812">
                  <a:solidFill>
                    <a:srgbClr val="92301C"/>
                  </a:solidFill>
                </a:ln>
              </p:spPr>
            </p:sp>
            <p:sp>
              <p:nvSpPr>
                <p:cNvPr id="122" name="Freeform 122"/>
                <p:cNvSpPr/>
                <p:nvPr/>
              </p:nvSpPr>
              <p:spPr>
                <a:xfrm>
                  <a:off x="5403056" y="1983581"/>
                  <a:ext cx="11906" cy="9525"/>
                </a:xfrm>
                <a:custGeom>
                  <a:avLst/>
                  <a:gdLst/>
                  <a:ahLst/>
                  <a:cxnLst/>
                  <a:rect l="l" t="t" r="r" b="b"/>
                  <a:pathLst>
                    <a:path w="11906" h="9525">
                      <a:moveTo>
                        <a:pt x="0" y="0"/>
                      </a:moveTo>
                      <a:lnTo>
                        <a:pt x="11906" y="0"/>
                      </a:lnTo>
                    </a:path>
                  </a:pathLst>
                </a:custGeom>
                <a:noFill/>
                <a:ln w="23812">
                  <a:solidFill>
                    <a:srgbClr val="92301C"/>
                  </a:solidFill>
                </a:ln>
              </p:spPr>
            </p:sp>
            <p:sp>
              <p:nvSpPr>
                <p:cNvPr id="123" name="Freeform 123"/>
                <p:cNvSpPr/>
                <p:nvPr/>
              </p:nvSpPr>
              <p:spPr>
                <a:xfrm>
                  <a:off x="5403056" y="2031206"/>
                  <a:ext cx="71438" cy="9525"/>
                </a:xfrm>
                <a:custGeom>
                  <a:avLst/>
                  <a:gdLst/>
                  <a:ahLst/>
                  <a:cxnLst/>
                  <a:rect l="l" t="t" r="r" b="b"/>
                  <a:pathLst>
                    <a:path w="71438" h="9525">
                      <a:moveTo>
                        <a:pt x="0" y="0"/>
                      </a:moveTo>
                      <a:lnTo>
                        <a:pt x="71438" y="0"/>
                      </a:lnTo>
                    </a:path>
                  </a:pathLst>
                </a:custGeom>
                <a:noFill/>
                <a:ln w="23812">
                  <a:solidFill>
                    <a:srgbClr val="92301C"/>
                  </a:solidFill>
                </a:ln>
              </p:spPr>
            </p:sp>
            <p:sp>
              <p:nvSpPr>
                <p:cNvPr id="124" name="Freeform 124"/>
                <p:cNvSpPr/>
                <p:nvPr/>
              </p:nvSpPr>
              <p:spPr>
                <a:xfrm>
                  <a:off x="5403056" y="2078831"/>
                  <a:ext cx="71438" cy="9525"/>
                </a:xfrm>
                <a:custGeom>
                  <a:avLst/>
                  <a:gdLst/>
                  <a:ahLst/>
                  <a:cxnLst/>
                  <a:rect l="l" t="t" r="r" b="b"/>
                  <a:pathLst>
                    <a:path w="71438" h="9525">
                      <a:moveTo>
                        <a:pt x="0" y="0"/>
                      </a:moveTo>
                      <a:lnTo>
                        <a:pt x="71438" y="0"/>
                      </a:lnTo>
                    </a:path>
                  </a:pathLst>
                </a:custGeom>
                <a:noFill/>
                <a:ln w="23812">
                  <a:solidFill>
                    <a:srgbClr val="92301C"/>
                  </a:solidFill>
                </a:ln>
              </p:spPr>
            </p:sp>
          </p:grpSp>
          <p:sp>
            <p:nvSpPr>
              <p:cNvPr id="126" name="TextBox 126"/>
              <p:cNvSpPr txBox="1"/>
              <p:nvPr/>
            </p:nvSpPr>
            <p:spPr>
              <a:xfrm>
                <a:off x="5014912" y="25138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分步引擎引导</a:t>
                </a:r>
              </a:p>
            </p:txBody>
          </p:sp>
          <p:sp>
            <p:nvSpPr>
              <p:cNvPr id="127" name="TextBox 127"/>
              <p:cNvSpPr txBox="1"/>
              <p:nvPr/>
            </p:nvSpPr>
            <p:spPr>
              <a:xfrm>
                <a:off x="5014912" y="2675811"/>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表单预填与校验</a:t>
                </a:r>
              </a:p>
            </p:txBody>
          </p:sp>
          <p:sp>
            <p:nvSpPr>
              <p:cNvPr id="128" name="TextBox 128"/>
              <p:cNvSpPr txBox="1"/>
              <p:nvPr/>
            </p:nvSpPr>
            <p:spPr>
              <a:xfrm>
                <a:off x="5014912" y="28377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办件条件提示</a:t>
                </a:r>
              </a:p>
            </p:txBody>
          </p:sp>
          <p:sp>
            <p:nvSpPr>
              <p:cNvPr id="129" name="TextBox 129"/>
              <p:cNvSpPr txBox="1"/>
              <p:nvPr/>
            </p:nvSpPr>
            <p:spPr>
              <a:xfrm>
                <a:off x="5014912" y="299966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敏感业务提醒</a:t>
                </a:r>
              </a:p>
            </p:txBody>
          </p:sp>
        </p:grpSp>
        <p:grpSp>
          <p:nvGrpSpPr>
            <p:cNvPr id="141" name="mf-5"/>
            <p:cNvGrpSpPr/>
            <p:nvPr/>
          </p:nvGrpSpPr>
          <p:grpSpPr>
            <a:xfrm>
              <a:off x="5995988" y="1122045"/>
              <a:ext cx="754518" cy="2018110"/>
              <a:chOff x="5995988" y="1122045"/>
              <a:chExt cx="754518" cy="2018110"/>
            </a:xfrm>
          </p:grpSpPr>
          <p:sp>
            <p:nvSpPr>
              <p:cNvPr id="131" name="TextBox 131"/>
              <p:cNvSpPr txBox="1"/>
              <p:nvPr/>
            </p:nvSpPr>
            <p:spPr>
              <a:xfrm>
                <a:off x="6347699" y="1122045"/>
                <a:ext cx="144301" cy="176212"/>
              </a:xfrm>
              <a:prstGeom prst="rect">
                <a:avLst/>
              </a:prstGeom>
              <a:noFill/>
              <a:ln>
                <a:noFill/>
              </a:ln>
            </p:spPr>
            <p:txBody>
              <a:bodyPr wrap="none" lIns="0" tIns="0" rIns="0" bIns="0" anchor="t" anchorCtr="0">
                <a:spAutoFit/>
              </a:bodyPr>
              <a:lstStyle/>
              <a:p>
                <a:pPr algn="ctr"/>
                <a:r>
                  <a:rPr lang="zh-CN" sz="900" b="1" dirty="0">
                    <a:solidFill>
                      <a:srgbClr val="92301C"/>
                    </a:solidFill>
                    <a:latin typeface="+mj-lt"/>
                    <a:ea typeface="+mj-ea"/>
                    <a:cs typeface="+mj-cs"/>
                  </a:rPr>
                  <a:t>05</a:t>
                </a:r>
              </a:p>
            </p:txBody>
          </p:sp>
          <p:sp>
            <p:nvSpPr>
              <p:cNvPr id="132" name="TextBox 132"/>
              <p:cNvSpPr txBox="1"/>
              <p:nvPr/>
            </p:nvSpPr>
            <p:spPr>
              <a:xfrm>
                <a:off x="6151042" y="13044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工单流转</a:t>
                </a:r>
              </a:p>
            </p:txBody>
          </p:sp>
          <p:sp>
            <p:nvSpPr>
              <p:cNvPr id="133" name="Ellipse 133"/>
              <p:cNvSpPr/>
              <p:nvPr/>
            </p:nvSpPr>
            <p:spPr>
              <a:xfrm>
                <a:off x="6115050" y="1714500"/>
                <a:ext cx="609600" cy="609600"/>
              </a:xfrm>
              <a:prstGeom prst="ellipse">
                <a:avLst/>
              </a:prstGeom>
              <a:solidFill>
                <a:srgbClr val="FFFFFF"/>
              </a:solidFill>
              <a:ln w="14288">
                <a:solidFill>
                  <a:srgbClr val="92301C"/>
                </a:solidFill>
              </a:ln>
            </p:spPr>
          </p:sp>
          <p:grpSp>
            <p:nvGrpSpPr>
              <p:cNvPr id="136" name="Group 136"/>
              <p:cNvGrpSpPr/>
              <p:nvPr/>
            </p:nvGrpSpPr>
            <p:grpSpPr>
              <a:xfrm>
                <a:off x="6324600" y="1919456"/>
                <a:ext cx="190500" cy="199688"/>
                <a:chOff x="6324600" y="1919456"/>
                <a:chExt cx="190500" cy="199688"/>
              </a:xfrm>
            </p:grpSpPr>
            <p:sp>
              <p:nvSpPr>
                <p:cNvPr id="134" name="Freeform 134"/>
                <p:cNvSpPr/>
                <p:nvPr/>
              </p:nvSpPr>
              <p:spPr>
                <a:xfrm>
                  <a:off x="6324600" y="1919456"/>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rgbClr val="92301C"/>
                  </a:solidFill>
                </a:ln>
              </p:spPr>
            </p:sp>
            <p:sp>
              <p:nvSpPr>
                <p:cNvPr id="135" name="Freeform 135"/>
                <p:cNvSpPr/>
                <p:nvPr/>
              </p:nvSpPr>
              <p:spPr>
                <a:xfrm>
                  <a:off x="6324600" y="2031206"/>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rgbClr val="92301C"/>
                  </a:solidFill>
                </a:ln>
              </p:spPr>
            </p:sp>
          </p:grpSp>
          <p:sp>
            <p:nvSpPr>
              <p:cNvPr id="137" name="TextBox 137"/>
              <p:cNvSpPr txBox="1"/>
              <p:nvPr/>
            </p:nvSpPr>
            <p:spPr>
              <a:xfrm>
                <a:off x="5995988" y="25138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自动创建工单</a:t>
                </a:r>
              </a:p>
            </p:txBody>
          </p:sp>
          <p:sp>
            <p:nvSpPr>
              <p:cNvPr id="138" name="TextBox 138"/>
              <p:cNvSpPr txBox="1"/>
              <p:nvPr/>
            </p:nvSpPr>
            <p:spPr>
              <a:xfrm>
                <a:off x="5995988" y="267581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智能分级派单</a:t>
                </a:r>
              </a:p>
            </p:txBody>
          </p:sp>
          <p:sp>
            <p:nvSpPr>
              <p:cNvPr id="139" name="TextBox 139"/>
              <p:cNvSpPr txBox="1"/>
              <p:nvPr/>
            </p:nvSpPr>
            <p:spPr>
              <a:xfrm>
                <a:off x="5995988" y="2837736"/>
                <a:ext cx="754518" cy="140494"/>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710" dirty="0">
                    <a:solidFill>
                      <a:srgbClr val="52352F"/>
                    </a:solidFill>
                    <a:latin typeface="+mj-lt"/>
                    <a:ea typeface="+mj-ea"/>
                    <a:cs typeface="+mj-cs"/>
                  </a:rPr>
                  <a:t xml:space="preserve">SLA时效管理　</a:t>
                </a:r>
              </a:p>
            </p:txBody>
          </p:sp>
          <p:sp>
            <p:nvSpPr>
              <p:cNvPr id="140" name="TextBox 140"/>
              <p:cNvSpPr txBox="1"/>
              <p:nvPr/>
            </p:nvSpPr>
            <p:spPr>
              <a:xfrm>
                <a:off x="5995988" y="299966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进度实时通知</a:t>
                </a:r>
              </a:p>
            </p:txBody>
          </p:sp>
        </p:grpSp>
        <p:grpSp>
          <p:nvGrpSpPr>
            <p:cNvPr id="154" name="mf-6"/>
            <p:cNvGrpSpPr/>
            <p:nvPr/>
          </p:nvGrpSpPr>
          <p:grpSpPr>
            <a:xfrm>
              <a:off x="6977062" y="1122045"/>
              <a:ext cx="755231" cy="2018110"/>
              <a:chOff x="6977062" y="1122045"/>
              <a:chExt cx="755231" cy="2018110"/>
            </a:xfrm>
          </p:grpSpPr>
          <p:sp>
            <p:nvSpPr>
              <p:cNvPr id="142" name="TextBox 142"/>
              <p:cNvSpPr txBox="1"/>
              <p:nvPr/>
            </p:nvSpPr>
            <p:spPr>
              <a:xfrm>
                <a:off x="7328774" y="1122045"/>
                <a:ext cx="144301" cy="176212"/>
              </a:xfrm>
              <a:prstGeom prst="rect">
                <a:avLst/>
              </a:prstGeom>
              <a:noFill/>
              <a:ln>
                <a:noFill/>
              </a:ln>
            </p:spPr>
            <p:txBody>
              <a:bodyPr wrap="none" lIns="0" tIns="0" rIns="0" bIns="0" anchor="t" anchorCtr="0">
                <a:spAutoFit/>
              </a:bodyPr>
              <a:lstStyle/>
              <a:p>
                <a:pPr algn="ctr"/>
                <a:r>
                  <a:rPr lang="zh-CN" sz="900" b="1" dirty="0">
                    <a:solidFill>
                      <a:srgbClr val="92301C"/>
                    </a:solidFill>
                    <a:latin typeface="+mj-lt"/>
                    <a:ea typeface="+mj-ea"/>
                    <a:cs typeface="+mj-cs"/>
                  </a:rPr>
                  <a:t>06</a:t>
                </a:r>
              </a:p>
            </p:txBody>
          </p:sp>
          <p:sp>
            <p:nvSpPr>
              <p:cNvPr id="143" name="TextBox 143"/>
              <p:cNvSpPr txBox="1"/>
              <p:nvPr/>
            </p:nvSpPr>
            <p:spPr>
              <a:xfrm>
                <a:off x="7132117" y="13044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回访学习</a:t>
                </a:r>
              </a:p>
            </p:txBody>
          </p:sp>
          <p:sp>
            <p:nvSpPr>
              <p:cNvPr id="144" name="Ellipse 144"/>
              <p:cNvSpPr/>
              <p:nvPr/>
            </p:nvSpPr>
            <p:spPr>
              <a:xfrm>
                <a:off x="7096125" y="1714500"/>
                <a:ext cx="609600" cy="609600"/>
              </a:xfrm>
              <a:prstGeom prst="ellipse">
                <a:avLst/>
              </a:prstGeom>
              <a:solidFill>
                <a:srgbClr val="FFFFFF"/>
              </a:solidFill>
              <a:ln w="14288">
                <a:solidFill>
                  <a:srgbClr val="92301C"/>
                </a:solidFill>
              </a:ln>
            </p:spPr>
          </p:sp>
          <p:grpSp>
            <p:nvGrpSpPr>
              <p:cNvPr id="149" name="Group 149"/>
              <p:cNvGrpSpPr/>
              <p:nvPr/>
            </p:nvGrpSpPr>
            <p:grpSpPr>
              <a:xfrm>
                <a:off x="7293769" y="1924050"/>
                <a:ext cx="214313" cy="200025"/>
                <a:chOff x="7293769" y="1924050"/>
                <a:chExt cx="214313" cy="200025"/>
              </a:xfrm>
            </p:grpSpPr>
            <p:sp>
              <p:nvSpPr>
                <p:cNvPr id="145" name="Freeform 145"/>
                <p:cNvSpPr/>
                <p:nvPr/>
              </p:nvSpPr>
              <p:spPr>
                <a:xfrm>
                  <a:off x="7293769" y="2019300"/>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92301C"/>
                  </a:solidFill>
                </a:ln>
              </p:spPr>
            </p:sp>
            <p:sp>
              <p:nvSpPr>
                <p:cNvPr id="146" name="Freeform 146"/>
                <p:cNvSpPr/>
                <p:nvPr/>
              </p:nvSpPr>
              <p:spPr>
                <a:xfrm>
                  <a:off x="7436644" y="1971675"/>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92301C"/>
                  </a:solidFill>
                </a:ln>
              </p:spPr>
            </p:sp>
            <p:sp>
              <p:nvSpPr>
                <p:cNvPr id="147" name="Freeform 147"/>
                <p:cNvSpPr/>
                <p:nvPr/>
              </p:nvSpPr>
              <p:spPr>
                <a:xfrm>
                  <a:off x="7365206" y="1924050"/>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92301C"/>
                  </a:solidFill>
                </a:ln>
              </p:spPr>
            </p:sp>
            <p:sp>
              <p:nvSpPr>
                <p:cNvPr id="148" name="Freeform 148"/>
                <p:cNvSpPr/>
                <p:nvPr/>
              </p:nvSpPr>
              <p:spPr>
                <a:xfrm>
                  <a:off x="7305675" y="2114550"/>
                  <a:ext cx="166688" cy="9525"/>
                </a:xfrm>
                <a:custGeom>
                  <a:avLst/>
                  <a:gdLst/>
                  <a:ahLst/>
                  <a:cxnLst/>
                  <a:rect l="l" t="t" r="r" b="b"/>
                  <a:pathLst>
                    <a:path w="166688" h="9525">
                      <a:moveTo>
                        <a:pt x="0" y="0"/>
                      </a:moveTo>
                      <a:lnTo>
                        <a:pt x="166688" y="0"/>
                      </a:lnTo>
                    </a:path>
                  </a:pathLst>
                </a:custGeom>
                <a:noFill/>
                <a:ln w="23812">
                  <a:solidFill>
                    <a:srgbClr val="92301C"/>
                  </a:solidFill>
                </a:ln>
              </p:spPr>
            </p:sp>
          </p:grpSp>
          <p:sp>
            <p:nvSpPr>
              <p:cNvPr id="150" name="TextBox 150"/>
              <p:cNvSpPr txBox="1"/>
              <p:nvPr/>
            </p:nvSpPr>
            <p:spPr>
              <a:xfrm>
                <a:off x="6977062" y="2513886"/>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服务满意度回访</a:t>
                </a:r>
              </a:p>
            </p:txBody>
          </p:sp>
          <p:sp>
            <p:nvSpPr>
              <p:cNvPr id="151" name="TextBox 151"/>
              <p:cNvSpPr txBox="1"/>
              <p:nvPr/>
            </p:nvSpPr>
            <p:spPr>
              <a:xfrm>
                <a:off x="6977062" y="267581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问题复盘分析</a:t>
                </a:r>
              </a:p>
            </p:txBody>
          </p:sp>
          <p:sp>
            <p:nvSpPr>
              <p:cNvPr id="152" name="TextBox 152"/>
              <p:cNvSpPr txBox="1"/>
              <p:nvPr/>
            </p:nvSpPr>
            <p:spPr>
              <a:xfrm>
                <a:off x="6977062" y="28377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知识持续优化</a:t>
                </a:r>
              </a:p>
            </p:txBody>
          </p:sp>
          <p:sp>
            <p:nvSpPr>
              <p:cNvPr id="153" name="TextBox 153"/>
              <p:cNvSpPr txBox="1"/>
              <p:nvPr/>
            </p:nvSpPr>
            <p:spPr>
              <a:xfrm>
                <a:off x="6977062" y="299966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模型效果迭代</a:t>
                </a:r>
              </a:p>
            </p:txBody>
          </p:sp>
        </p:grpSp>
        <p:sp>
          <p:nvSpPr>
            <p:cNvPr id="155" name="mf-arrow-1"/>
            <p:cNvSpPr/>
            <p:nvPr/>
          </p:nvSpPr>
          <p:spPr>
            <a:xfrm>
              <a:off x="2914650" y="1933575"/>
              <a:ext cx="114300" cy="171450"/>
            </a:xfrm>
            <a:custGeom>
              <a:avLst/>
              <a:gdLst/>
              <a:ahLst/>
              <a:cxnLst/>
              <a:rect l="l" t="t" r="r" b="b"/>
              <a:pathLst>
                <a:path w="114300" h="171450">
                  <a:moveTo>
                    <a:pt x="0" y="0"/>
                  </a:moveTo>
                  <a:lnTo>
                    <a:pt x="0" y="171450"/>
                  </a:lnTo>
                  <a:lnTo>
                    <a:pt x="114300" y="85725"/>
                  </a:lnTo>
                  <a:close/>
                </a:path>
              </a:pathLst>
            </a:custGeom>
            <a:solidFill>
              <a:srgbClr val="E3B3A9"/>
            </a:solidFill>
            <a:ln>
              <a:noFill/>
            </a:ln>
          </p:spPr>
        </p:sp>
        <p:sp>
          <p:nvSpPr>
            <p:cNvPr id="156" name="mf-arrow-2"/>
            <p:cNvSpPr/>
            <p:nvPr/>
          </p:nvSpPr>
          <p:spPr>
            <a:xfrm>
              <a:off x="3895725" y="1933575"/>
              <a:ext cx="114300" cy="171450"/>
            </a:xfrm>
            <a:custGeom>
              <a:avLst/>
              <a:gdLst/>
              <a:ahLst/>
              <a:cxnLst/>
              <a:rect l="l" t="t" r="r" b="b"/>
              <a:pathLst>
                <a:path w="114300" h="171450">
                  <a:moveTo>
                    <a:pt x="0" y="0"/>
                  </a:moveTo>
                  <a:lnTo>
                    <a:pt x="0" y="171450"/>
                  </a:lnTo>
                  <a:lnTo>
                    <a:pt x="114300" y="85725"/>
                  </a:lnTo>
                  <a:close/>
                </a:path>
              </a:pathLst>
            </a:custGeom>
            <a:solidFill>
              <a:srgbClr val="E3B3A9"/>
            </a:solidFill>
            <a:ln>
              <a:noFill/>
            </a:ln>
          </p:spPr>
        </p:sp>
        <p:sp>
          <p:nvSpPr>
            <p:cNvPr id="157" name="mf-arrow-3"/>
            <p:cNvSpPr/>
            <p:nvPr/>
          </p:nvSpPr>
          <p:spPr>
            <a:xfrm>
              <a:off x="4876800" y="1933575"/>
              <a:ext cx="114300" cy="171450"/>
            </a:xfrm>
            <a:custGeom>
              <a:avLst/>
              <a:gdLst/>
              <a:ahLst/>
              <a:cxnLst/>
              <a:rect l="l" t="t" r="r" b="b"/>
              <a:pathLst>
                <a:path w="114300" h="171450">
                  <a:moveTo>
                    <a:pt x="0" y="0"/>
                  </a:moveTo>
                  <a:lnTo>
                    <a:pt x="0" y="171450"/>
                  </a:lnTo>
                  <a:lnTo>
                    <a:pt x="114300" y="85725"/>
                  </a:lnTo>
                  <a:close/>
                </a:path>
              </a:pathLst>
            </a:custGeom>
            <a:solidFill>
              <a:srgbClr val="E3B3A9"/>
            </a:solidFill>
            <a:ln>
              <a:noFill/>
            </a:ln>
          </p:spPr>
        </p:sp>
        <p:sp>
          <p:nvSpPr>
            <p:cNvPr id="158" name="mf-arrow-4"/>
            <p:cNvSpPr/>
            <p:nvPr/>
          </p:nvSpPr>
          <p:spPr>
            <a:xfrm>
              <a:off x="5857875" y="1933575"/>
              <a:ext cx="114300" cy="171450"/>
            </a:xfrm>
            <a:custGeom>
              <a:avLst/>
              <a:gdLst/>
              <a:ahLst/>
              <a:cxnLst/>
              <a:rect l="l" t="t" r="r" b="b"/>
              <a:pathLst>
                <a:path w="114300" h="171450">
                  <a:moveTo>
                    <a:pt x="0" y="0"/>
                  </a:moveTo>
                  <a:lnTo>
                    <a:pt x="0" y="171450"/>
                  </a:lnTo>
                  <a:lnTo>
                    <a:pt x="114300" y="85725"/>
                  </a:lnTo>
                  <a:close/>
                </a:path>
              </a:pathLst>
            </a:custGeom>
            <a:solidFill>
              <a:srgbClr val="E3B3A9"/>
            </a:solidFill>
            <a:ln>
              <a:noFill/>
            </a:ln>
          </p:spPr>
        </p:sp>
        <p:sp>
          <p:nvSpPr>
            <p:cNvPr id="159" name="mf-arrow-5"/>
            <p:cNvSpPr/>
            <p:nvPr/>
          </p:nvSpPr>
          <p:spPr>
            <a:xfrm>
              <a:off x="6838950" y="1933575"/>
              <a:ext cx="114300" cy="171450"/>
            </a:xfrm>
            <a:custGeom>
              <a:avLst/>
              <a:gdLst/>
              <a:ahLst/>
              <a:cxnLst/>
              <a:rect l="l" t="t" r="r" b="b"/>
              <a:pathLst>
                <a:path w="114300" h="171450">
                  <a:moveTo>
                    <a:pt x="0" y="0"/>
                  </a:moveTo>
                  <a:lnTo>
                    <a:pt x="0" y="171450"/>
                  </a:lnTo>
                  <a:lnTo>
                    <a:pt x="114300" y="85725"/>
                  </a:lnTo>
                  <a:close/>
                </a:path>
              </a:pathLst>
            </a:custGeom>
            <a:solidFill>
              <a:srgbClr val="E3B3A9"/>
            </a:solidFill>
            <a:ln>
              <a:noFill/>
            </a:ln>
          </p:spPr>
        </p:sp>
      </p:grpSp>
      <p:grpSp>
        <p:nvGrpSpPr>
          <p:cNvPr id="166" name="mid-banner"/>
          <p:cNvGrpSpPr/>
          <p:nvPr/>
        </p:nvGrpSpPr>
        <p:grpSpPr>
          <a:xfrm>
            <a:off x="2000250" y="4095750"/>
            <a:ext cx="5905500" cy="533400"/>
            <a:chOff x="2000250" y="4095750"/>
            <a:chExt cx="5905500" cy="533400"/>
          </a:xfrm>
        </p:grpSpPr>
        <p:sp>
          <p:nvSpPr>
            <p:cNvPr id="161" name="Rectangle 161"/>
            <p:cNvSpPr/>
            <p:nvPr/>
          </p:nvSpPr>
          <p:spPr>
            <a:xfrm>
              <a:off x="2000250" y="4095750"/>
              <a:ext cx="5905500" cy="533400"/>
            </a:xfrm>
            <a:prstGeom prst="roundRect">
              <a:avLst>
                <a:gd name="adj" fmla="val 14286"/>
              </a:avLst>
            </a:prstGeom>
            <a:solidFill>
              <a:srgbClr val="EEF5FB"/>
            </a:solidFill>
            <a:ln w="9525">
              <a:solidFill>
                <a:srgbClr val="CFDFEE"/>
              </a:solidFill>
            </a:ln>
          </p:spPr>
        </p:sp>
        <p:grpSp>
          <p:nvGrpSpPr>
            <p:cNvPr id="164" name="Group 164"/>
            <p:cNvGrpSpPr/>
            <p:nvPr/>
          </p:nvGrpSpPr>
          <p:grpSpPr>
            <a:xfrm>
              <a:off x="3923591" y="4262438"/>
              <a:ext cx="217008" cy="200025"/>
              <a:chOff x="3923591" y="4262438"/>
              <a:chExt cx="217008" cy="200025"/>
            </a:xfrm>
          </p:grpSpPr>
          <p:sp>
            <p:nvSpPr>
              <p:cNvPr id="162" name="Freeform 162"/>
              <p:cNvSpPr/>
              <p:nvPr/>
            </p:nvSpPr>
            <p:spPr>
              <a:xfrm>
                <a:off x="3923591" y="42624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92301C"/>
                </a:solidFill>
              </a:ln>
            </p:spPr>
          </p:sp>
          <p:sp>
            <p:nvSpPr>
              <p:cNvPr id="163" name="Freeform 163"/>
              <p:cNvSpPr/>
              <p:nvPr/>
            </p:nvSpPr>
            <p:spPr>
              <a:xfrm>
                <a:off x="4071938" y="4418013"/>
                <a:ext cx="66675" cy="44450"/>
              </a:xfrm>
              <a:custGeom>
                <a:avLst/>
                <a:gdLst/>
                <a:ahLst/>
                <a:cxnLst/>
                <a:rect l="l" t="t" r="r" b="b"/>
                <a:pathLst>
                  <a:path w="66675" h="44450">
                    <a:moveTo>
                      <a:pt x="0" y="22225"/>
                    </a:moveTo>
                    <a:lnTo>
                      <a:pt x="22225" y="44450"/>
                    </a:lnTo>
                    <a:lnTo>
                      <a:pt x="66675" y="0"/>
                    </a:lnTo>
                  </a:path>
                </a:pathLst>
              </a:custGeom>
              <a:noFill/>
              <a:ln w="22225">
                <a:solidFill>
                  <a:srgbClr val="92301C"/>
                </a:solidFill>
              </a:ln>
            </p:spPr>
          </p:sp>
        </p:grpSp>
        <p:sp>
          <p:nvSpPr>
            <p:cNvPr id="165" name="TextBox 165"/>
            <p:cNvSpPr txBox="1"/>
            <p:nvPr/>
          </p:nvSpPr>
          <p:spPr>
            <a:xfrm>
              <a:off x="4280916" y="4315778"/>
              <a:ext cx="2189594" cy="205359"/>
            </a:xfrm>
            <a:prstGeom prst="rect">
              <a:avLst/>
            </a:prstGeom>
            <a:noFill/>
            <a:ln>
              <a:noFill/>
            </a:ln>
          </p:spPr>
          <p:txBody>
            <a:bodyPr wrap="none" lIns="0" tIns="0" rIns="0" bIns="0" anchor="t" anchorCtr="0">
              <a:spAutoFit/>
            </a:bodyPr>
            <a:lstStyle/>
            <a:p>
              <a:pPr algn="l"/>
              <a:r>
                <a:rPr lang="zh-CN" sz="1050" b="1" dirty="0">
                  <a:solidFill>
                    <a:srgbClr val="92301C"/>
                  </a:solidFill>
                  <a:latin typeface="+mn-lt"/>
                  <a:ea typeface="+mn-ea"/>
                  <a:cs typeface="+mn-cs"/>
                </a:rPr>
                <a:t>全流程安全合规 · 可追溯 · 可监管</a:t>
              </a:r>
            </a:p>
          </p:txBody>
        </p:sp>
      </p:grpSp>
      <p:grpSp>
        <p:nvGrpSpPr>
          <p:cNvPr id="234" name="right-table"/>
          <p:cNvGrpSpPr/>
          <p:nvPr/>
        </p:nvGrpSpPr>
        <p:grpSpPr>
          <a:xfrm>
            <a:off x="8001000" y="990600"/>
            <a:ext cx="4007905" cy="4171950"/>
            <a:chOff x="8001000" y="990600"/>
            <a:chExt cx="4007905" cy="4171950"/>
          </a:xfrm>
        </p:grpSpPr>
        <p:sp>
          <p:nvSpPr>
            <p:cNvPr id="167" name="Rectangle 167"/>
            <p:cNvSpPr/>
            <p:nvPr/>
          </p:nvSpPr>
          <p:spPr>
            <a:xfrm>
              <a:off x="8001000" y="990600"/>
              <a:ext cx="4000500" cy="247650"/>
            </a:xfrm>
            <a:prstGeom prst="rect">
              <a:avLst/>
            </a:prstGeom>
            <a:solidFill>
              <a:srgbClr val="92301C"/>
            </a:solidFill>
            <a:ln>
              <a:noFill/>
            </a:ln>
          </p:spPr>
        </p:sp>
        <p:sp>
          <p:nvSpPr>
            <p:cNvPr id="168" name="TextBox 168"/>
            <p:cNvSpPr txBox="1"/>
            <p:nvPr/>
          </p:nvSpPr>
          <p:spPr>
            <a:xfrm>
              <a:off x="8129588" y="1067514"/>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客户旅程</a:t>
              </a:r>
            </a:p>
          </p:txBody>
        </p:sp>
        <p:sp>
          <p:nvSpPr>
            <p:cNvPr id="169" name="TextBox 169"/>
            <p:cNvSpPr txBox="1"/>
            <p:nvPr/>
          </p:nvSpPr>
          <p:spPr>
            <a:xfrm>
              <a:off x="9063038" y="1067514"/>
              <a:ext cx="6476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典型问题示例</a:t>
              </a:r>
            </a:p>
          </p:txBody>
        </p:sp>
        <p:sp>
          <p:nvSpPr>
            <p:cNvPr id="170" name="TextBox 170"/>
            <p:cNvSpPr txBox="1"/>
            <p:nvPr/>
          </p:nvSpPr>
          <p:spPr>
            <a:xfrm>
              <a:off x="10263188" y="1067514"/>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智能体处理</a:t>
              </a:r>
            </a:p>
          </p:txBody>
        </p:sp>
        <p:sp>
          <p:nvSpPr>
            <p:cNvPr id="171" name="TextBox 171"/>
            <p:cNvSpPr txBox="1"/>
            <p:nvPr/>
          </p:nvSpPr>
          <p:spPr>
            <a:xfrm>
              <a:off x="11234738" y="1067514"/>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转人工阈值</a:t>
              </a:r>
            </a:p>
          </p:txBody>
        </p:sp>
        <p:grpSp>
          <p:nvGrpSpPr>
            <p:cNvPr id="184" name="rt-1"/>
            <p:cNvGrpSpPr/>
            <p:nvPr/>
          </p:nvGrpSpPr>
          <p:grpSpPr>
            <a:xfrm>
              <a:off x="8001000" y="1238250"/>
              <a:ext cx="4000500" cy="990600"/>
              <a:chOff x="8001000" y="1238250"/>
              <a:chExt cx="4000500" cy="990600"/>
            </a:xfrm>
          </p:grpSpPr>
          <p:sp>
            <p:nvSpPr>
              <p:cNvPr id="172" name="Rectangle 172"/>
              <p:cNvSpPr/>
              <p:nvPr/>
            </p:nvSpPr>
            <p:spPr>
              <a:xfrm>
                <a:off x="8001000" y="1238250"/>
                <a:ext cx="4000500" cy="981075"/>
              </a:xfrm>
              <a:prstGeom prst="rect">
                <a:avLst/>
              </a:prstGeom>
              <a:solidFill>
                <a:srgbClr val="F6F9FD"/>
              </a:solidFill>
              <a:ln>
                <a:noFill/>
              </a:ln>
            </p:spPr>
          </p:sp>
          <p:sp>
            <p:nvSpPr>
              <p:cNvPr id="173" name="Line 173"/>
              <p:cNvSpPr/>
              <p:nvPr/>
            </p:nvSpPr>
            <p:spPr>
              <a:xfrm>
                <a:off x="8001000" y="2219325"/>
                <a:ext cx="4000500" cy="9525"/>
              </a:xfrm>
              <a:custGeom>
                <a:avLst/>
                <a:gdLst/>
                <a:ahLst/>
                <a:cxnLst/>
                <a:rect l="l" t="t" r="r" b="b"/>
                <a:pathLst>
                  <a:path w="4000500" h="9525">
                    <a:moveTo>
                      <a:pt x="0" y="0"/>
                    </a:moveTo>
                    <a:lnTo>
                      <a:pt x="4000500" y="0"/>
                    </a:lnTo>
                  </a:path>
                </a:pathLst>
              </a:custGeom>
              <a:noFill/>
              <a:ln w="9525">
                <a:solidFill>
                  <a:srgbClr val="DCE6F2"/>
                </a:solidFill>
              </a:ln>
            </p:spPr>
          </p:sp>
          <p:sp>
            <p:nvSpPr>
              <p:cNvPr id="174" name="Freeform 174"/>
              <p:cNvSpPr/>
              <p:nvPr/>
            </p:nvSpPr>
            <p:spPr>
              <a:xfrm>
                <a:off x="8438921" y="1402318"/>
                <a:ext cx="190157" cy="168564"/>
              </a:xfrm>
              <a:custGeom>
                <a:avLst/>
                <a:gdLst/>
                <a:ahLst/>
                <a:cxnLst/>
                <a:rect l="l" t="t" r="r" b="b"/>
                <a:pathLst>
                  <a:path w="190157" h="168564">
                    <a:moveTo>
                      <a:pt x="9754" y="159782"/>
                    </a:moveTo>
                    <a:lnTo>
                      <a:pt x="22136" y="122634"/>
                    </a:lnTo>
                    <a:cubicBezTo>
                      <a:pt x="0" y="89897"/>
                      <a:pt x="8553" y="47654"/>
                      <a:pt x="42139" y="23822"/>
                    </a:cubicBezTo>
                    <a:cubicBezTo>
                      <a:pt x="75724" y="0"/>
                      <a:pt x="123958" y="1953"/>
                      <a:pt x="154962" y="28394"/>
                    </a:cubicBezTo>
                    <a:cubicBezTo>
                      <a:pt x="185966" y="54845"/>
                      <a:pt x="190157" y="97603"/>
                      <a:pt x="164763" y="128416"/>
                    </a:cubicBezTo>
                    <a:cubicBezTo>
                      <a:pt x="139370" y="159229"/>
                      <a:pt x="92231" y="168564"/>
                      <a:pt x="54521" y="150257"/>
                    </a:cubicBezTo>
                    <a:lnTo>
                      <a:pt x="9754" y="159782"/>
                    </a:lnTo>
                  </a:path>
                </a:pathLst>
              </a:custGeom>
              <a:noFill/>
              <a:ln w="19050">
                <a:solidFill>
                  <a:srgbClr val="92301C"/>
                </a:solidFill>
              </a:ln>
            </p:spPr>
          </p:sp>
          <p:sp>
            <p:nvSpPr>
              <p:cNvPr id="175" name="TextBox 175"/>
              <p:cNvSpPr txBox="1"/>
              <p:nvPr/>
            </p:nvSpPr>
            <p:spPr>
              <a:xfrm>
                <a:off x="8129588" y="1693545"/>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咨询</a:t>
                </a:r>
              </a:p>
            </p:txBody>
          </p:sp>
          <p:sp>
            <p:nvSpPr>
              <p:cNvPr id="176" name="TextBox 176"/>
              <p:cNvSpPr txBox="1"/>
              <p:nvPr/>
            </p:nvSpPr>
            <p:spPr>
              <a:xfrm>
                <a:off x="8129588" y="1885236"/>
                <a:ext cx="635575"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（产品/政策）</a:t>
                </a:r>
              </a:p>
            </p:txBody>
          </p:sp>
          <p:sp>
            <p:nvSpPr>
              <p:cNvPr id="177" name="TextBox 177"/>
              <p:cNvSpPr txBox="1"/>
              <p:nvPr/>
            </p:nvSpPr>
            <p:spPr>
              <a:xfrm>
                <a:off x="9063038" y="13708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产品功能介绍</a:t>
                </a:r>
              </a:p>
            </p:txBody>
          </p:sp>
          <p:sp>
            <p:nvSpPr>
              <p:cNvPr id="178" name="TextBox 178"/>
              <p:cNvSpPr txBox="1"/>
              <p:nvPr/>
            </p:nvSpPr>
            <p:spPr>
              <a:xfrm>
                <a:off x="9063038" y="1561386"/>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费率与优惠政策</a:t>
                </a:r>
              </a:p>
            </p:txBody>
          </p:sp>
          <p:sp>
            <p:nvSpPr>
              <p:cNvPr id="179" name="TextBox 179"/>
              <p:cNvSpPr txBox="1"/>
              <p:nvPr/>
            </p:nvSpPr>
            <p:spPr>
              <a:xfrm>
                <a:off x="9063038" y="17518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办理条件咨询</a:t>
                </a:r>
              </a:p>
            </p:txBody>
          </p:sp>
          <p:sp>
            <p:nvSpPr>
              <p:cNvPr id="180" name="TextBox 180"/>
              <p:cNvSpPr txBox="1"/>
              <p:nvPr/>
            </p:nvSpPr>
            <p:spPr>
              <a:xfrm>
                <a:off x="10263188" y="1694736"/>
                <a:ext cx="48742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优先智能体</a:t>
                </a:r>
              </a:p>
            </p:txBody>
          </p:sp>
          <p:sp>
            <p:nvSpPr>
              <p:cNvPr id="181" name="TextBox 181"/>
              <p:cNvSpPr txBox="1"/>
              <p:nvPr/>
            </p:nvSpPr>
            <p:spPr>
              <a:xfrm>
                <a:off x="10263188" y="1866186"/>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（准确回复）</a:t>
                </a:r>
              </a:p>
            </p:txBody>
          </p:sp>
          <p:sp>
            <p:nvSpPr>
              <p:cNvPr id="182" name="TextBox 182"/>
              <p:cNvSpPr txBox="1"/>
              <p:nvPr/>
            </p:nvSpPr>
            <p:spPr>
              <a:xfrm>
                <a:off x="11234738" y="1694736"/>
                <a:ext cx="635575"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连续2次未命中</a:t>
                </a:r>
              </a:p>
            </p:txBody>
          </p:sp>
          <p:sp>
            <p:nvSpPr>
              <p:cNvPr id="183" name="TextBox 183"/>
              <p:cNvSpPr txBox="1"/>
              <p:nvPr/>
            </p:nvSpPr>
            <p:spPr>
              <a:xfrm>
                <a:off x="11234738" y="1866186"/>
                <a:ext cx="67858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或客户明确要求</a:t>
                </a:r>
              </a:p>
            </p:txBody>
          </p:sp>
        </p:grpSp>
        <p:grpSp>
          <p:nvGrpSpPr>
            <p:cNvPr id="200" name="rt-2"/>
            <p:cNvGrpSpPr/>
            <p:nvPr/>
          </p:nvGrpSpPr>
          <p:grpSpPr>
            <a:xfrm>
              <a:off x="8001000" y="2219325"/>
              <a:ext cx="4000500" cy="990600"/>
              <a:chOff x="8001000" y="2219325"/>
              <a:chExt cx="4000500" cy="990600"/>
            </a:xfrm>
          </p:grpSpPr>
          <p:sp>
            <p:nvSpPr>
              <p:cNvPr id="185" name="Rectangle 185"/>
              <p:cNvSpPr/>
              <p:nvPr/>
            </p:nvSpPr>
            <p:spPr>
              <a:xfrm>
                <a:off x="8001000" y="2219325"/>
                <a:ext cx="4000500" cy="981075"/>
              </a:xfrm>
              <a:prstGeom prst="rect">
                <a:avLst/>
              </a:prstGeom>
              <a:solidFill>
                <a:srgbClr val="FFFFFF"/>
              </a:solidFill>
              <a:ln>
                <a:noFill/>
              </a:ln>
            </p:spPr>
          </p:sp>
          <p:sp>
            <p:nvSpPr>
              <p:cNvPr id="186" name="Line 186"/>
              <p:cNvSpPr/>
              <p:nvPr/>
            </p:nvSpPr>
            <p:spPr>
              <a:xfrm>
                <a:off x="8001000" y="3200400"/>
                <a:ext cx="4000500" cy="9525"/>
              </a:xfrm>
              <a:custGeom>
                <a:avLst/>
                <a:gdLst/>
                <a:ahLst/>
                <a:cxnLst/>
                <a:rect l="l" t="t" r="r" b="b"/>
                <a:pathLst>
                  <a:path w="4000500" h="9525">
                    <a:moveTo>
                      <a:pt x="0" y="0"/>
                    </a:moveTo>
                    <a:lnTo>
                      <a:pt x="4000500" y="0"/>
                    </a:lnTo>
                  </a:path>
                </a:pathLst>
              </a:custGeom>
              <a:noFill/>
              <a:ln w="9525">
                <a:solidFill>
                  <a:srgbClr val="DCE6F2"/>
                </a:solidFill>
              </a:ln>
            </p:spPr>
          </p:sp>
          <p:grpSp>
            <p:nvGrpSpPr>
              <p:cNvPr id="189" name="Group 189"/>
              <p:cNvGrpSpPr/>
              <p:nvPr/>
            </p:nvGrpSpPr>
            <p:grpSpPr>
              <a:xfrm>
                <a:off x="8448675" y="2381250"/>
                <a:ext cx="171450" cy="171450"/>
                <a:chOff x="8448675" y="2381250"/>
                <a:chExt cx="171450" cy="171450"/>
              </a:xfrm>
            </p:grpSpPr>
            <p:sp>
              <p:nvSpPr>
                <p:cNvPr id="187" name="Freeform 187"/>
                <p:cNvSpPr/>
                <p:nvPr/>
              </p:nvSpPr>
              <p:spPr>
                <a:xfrm>
                  <a:off x="8448675" y="2381250"/>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19050">
                  <a:solidFill>
                    <a:srgbClr val="92301C"/>
                  </a:solidFill>
                </a:ln>
              </p:spPr>
            </p:sp>
            <p:sp>
              <p:nvSpPr>
                <p:cNvPr id="188" name="Freeform 188"/>
                <p:cNvSpPr/>
                <p:nvPr/>
              </p:nvSpPr>
              <p:spPr>
                <a:xfrm>
                  <a:off x="8562975" y="2495550"/>
                  <a:ext cx="57150" cy="57150"/>
                </a:xfrm>
                <a:custGeom>
                  <a:avLst/>
                  <a:gdLst/>
                  <a:ahLst/>
                  <a:cxnLst/>
                  <a:rect l="l" t="t" r="r" b="b"/>
                  <a:pathLst>
                    <a:path w="57150" h="57150">
                      <a:moveTo>
                        <a:pt x="57150" y="57150"/>
                      </a:moveTo>
                      <a:lnTo>
                        <a:pt x="0" y="0"/>
                      </a:lnTo>
                    </a:path>
                  </a:pathLst>
                </a:custGeom>
                <a:noFill/>
                <a:ln w="19050">
                  <a:solidFill>
                    <a:srgbClr val="92301C"/>
                  </a:solidFill>
                </a:ln>
              </p:spPr>
            </p:sp>
          </p:grpSp>
          <p:sp>
            <p:nvSpPr>
              <p:cNvPr id="190" name="TextBox 190"/>
              <p:cNvSpPr txBox="1"/>
              <p:nvPr/>
            </p:nvSpPr>
            <p:spPr>
              <a:xfrm>
                <a:off x="8129588" y="2674620"/>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查询</a:t>
                </a:r>
              </a:p>
            </p:txBody>
          </p:sp>
          <p:sp>
            <p:nvSpPr>
              <p:cNvPr id="191" name="TextBox 191"/>
              <p:cNvSpPr txBox="1"/>
              <p:nvPr/>
            </p:nvSpPr>
            <p:spPr>
              <a:xfrm>
                <a:off x="8129588" y="2866311"/>
                <a:ext cx="635575"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（账户/交易）</a:t>
                </a:r>
              </a:p>
            </p:txBody>
          </p:sp>
          <p:sp>
            <p:nvSpPr>
              <p:cNvPr id="192" name="TextBox 192"/>
              <p:cNvSpPr txBox="1"/>
              <p:nvPr/>
            </p:nvSpPr>
            <p:spPr>
              <a:xfrm>
                <a:off x="9063038" y="235196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账户余额查询</a:t>
                </a:r>
              </a:p>
            </p:txBody>
          </p:sp>
          <p:sp>
            <p:nvSpPr>
              <p:cNvPr id="193" name="TextBox 193"/>
              <p:cNvSpPr txBox="1"/>
              <p:nvPr/>
            </p:nvSpPr>
            <p:spPr>
              <a:xfrm>
                <a:off x="9063038" y="254246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交易明细查询</a:t>
                </a:r>
              </a:p>
            </p:txBody>
          </p:sp>
          <p:sp>
            <p:nvSpPr>
              <p:cNvPr id="194" name="TextBox 194"/>
              <p:cNvSpPr txBox="1"/>
              <p:nvPr/>
            </p:nvSpPr>
            <p:spPr>
              <a:xfrm>
                <a:off x="9063038" y="2732961"/>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账单与进度查询</a:t>
                </a:r>
              </a:p>
            </p:txBody>
          </p:sp>
          <p:sp>
            <p:nvSpPr>
              <p:cNvPr id="195" name="TextBox 195"/>
              <p:cNvSpPr txBox="1"/>
              <p:nvPr/>
            </p:nvSpPr>
            <p:spPr>
              <a:xfrm>
                <a:off x="10263188" y="2675811"/>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大部分可处理</a:t>
                </a:r>
              </a:p>
            </p:txBody>
          </p:sp>
          <p:sp>
            <p:nvSpPr>
              <p:cNvPr id="196" name="TextBox 196"/>
              <p:cNvSpPr txBox="1"/>
              <p:nvPr/>
            </p:nvSpPr>
            <p:spPr>
              <a:xfrm>
                <a:off x="10263188" y="2847261"/>
                <a:ext cx="67858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（需身份核验）</a:t>
                </a:r>
              </a:p>
            </p:txBody>
          </p:sp>
          <p:sp>
            <p:nvSpPr>
              <p:cNvPr id="197" name="TextBox 197"/>
              <p:cNvSpPr txBox="1"/>
              <p:nvPr/>
            </p:nvSpPr>
            <p:spPr>
              <a:xfrm>
                <a:off x="11234738" y="2447211"/>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涉及账户异常</a:t>
                </a:r>
              </a:p>
            </p:txBody>
          </p:sp>
          <p:sp>
            <p:nvSpPr>
              <p:cNvPr id="198" name="TextBox 198"/>
              <p:cNvSpPr txBox="1"/>
              <p:nvPr/>
            </p:nvSpPr>
            <p:spPr>
              <a:xfrm>
                <a:off x="11234738" y="2637711"/>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历史超期交易</a:t>
                </a:r>
              </a:p>
            </p:txBody>
          </p:sp>
          <p:sp>
            <p:nvSpPr>
              <p:cNvPr id="199" name="TextBox 199"/>
              <p:cNvSpPr txBox="1"/>
              <p:nvPr/>
            </p:nvSpPr>
            <p:spPr>
              <a:xfrm>
                <a:off x="11234738" y="2828211"/>
                <a:ext cx="63616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j-lt"/>
                    <a:ea typeface="+mj-ea"/>
                    <a:cs typeface="+mj-cs"/>
                  </a:rPr>
                  <a:t xml:space="preserve">超3次未命中　</a:t>
                </a:r>
              </a:p>
            </p:txBody>
          </p:sp>
        </p:grpSp>
        <p:grpSp>
          <p:nvGrpSpPr>
            <p:cNvPr id="215" name="rt-3"/>
            <p:cNvGrpSpPr/>
            <p:nvPr/>
          </p:nvGrpSpPr>
          <p:grpSpPr>
            <a:xfrm>
              <a:off x="8001000" y="3200400"/>
              <a:ext cx="4000500" cy="990600"/>
              <a:chOff x="8001000" y="3200400"/>
              <a:chExt cx="4000500" cy="990600"/>
            </a:xfrm>
          </p:grpSpPr>
          <p:sp>
            <p:nvSpPr>
              <p:cNvPr id="201" name="Rectangle 201"/>
              <p:cNvSpPr/>
              <p:nvPr/>
            </p:nvSpPr>
            <p:spPr>
              <a:xfrm>
                <a:off x="8001000" y="3200400"/>
                <a:ext cx="4000500" cy="981075"/>
              </a:xfrm>
              <a:prstGeom prst="rect">
                <a:avLst/>
              </a:prstGeom>
              <a:solidFill>
                <a:srgbClr val="F6F9FD"/>
              </a:solidFill>
              <a:ln>
                <a:noFill/>
              </a:ln>
            </p:spPr>
          </p:sp>
          <p:sp>
            <p:nvSpPr>
              <p:cNvPr id="202" name="Line 202"/>
              <p:cNvSpPr/>
              <p:nvPr/>
            </p:nvSpPr>
            <p:spPr>
              <a:xfrm>
                <a:off x="8001000" y="4181475"/>
                <a:ext cx="4000500" cy="9525"/>
              </a:xfrm>
              <a:custGeom>
                <a:avLst/>
                <a:gdLst/>
                <a:ahLst/>
                <a:cxnLst/>
                <a:rect l="l" t="t" r="r" b="b"/>
                <a:pathLst>
                  <a:path w="4000500" h="9525">
                    <a:moveTo>
                      <a:pt x="0" y="0"/>
                    </a:moveTo>
                    <a:lnTo>
                      <a:pt x="4000500" y="0"/>
                    </a:lnTo>
                  </a:path>
                </a:pathLst>
              </a:custGeom>
              <a:noFill/>
              <a:ln w="9525">
                <a:solidFill>
                  <a:srgbClr val="DCE6F2"/>
                </a:solidFill>
              </a:ln>
            </p:spPr>
          </p:sp>
          <p:grpSp>
            <p:nvGrpSpPr>
              <p:cNvPr id="206" name="Group 206"/>
              <p:cNvGrpSpPr/>
              <p:nvPr/>
            </p:nvGrpSpPr>
            <p:grpSpPr>
              <a:xfrm>
                <a:off x="8448675" y="3371850"/>
                <a:ext cx="171450" cy="161925"/>
                <a:chOff x="8448675" y="3371850"/>
                <a:chExt cx="171450" cy="161925"/>
              </a:xfrm>
            </p:grpSpPr>
            <p:sp>
              <p:nvSpPr>
                <p:cNvPr id="203" name="Freeform 203"/>
                <p:cNvSpPr/>
                <p:nvPr/>
              </p:nvSpPr>
              <p:spPr>
                <a:xfrm>
                  <a:off x="8448675" y="3371850"/>
                  <a:ext cx="171450" cy="161925"/>
                </a:xfrm>
                <a:custGeom>
                  <a:avLst/>
                  <a:gdLst/>
                  <a:ahLst/>
                  <a:cxnLst/>
                  <a:rect l="l" t="t" r="r" b="b"/>
                  <a:pathLst>
                    <a:path w="171450" h="161925">
                      <a:moveTo>
                        <a:pt x="142875" y="0"/>
                      </a:moveTo>
                      <a:cubicBezTo>
                        <a:pt x="158657" y="0"/>
                        <a:pt x="171450" y="12793"/>
                        <a:pt x="171450" y="28575"/>
                      </a:cubicBezTo>
                      <a:lnTo>
                        <a:pt x="171450" y="104775"/>
                      </a:lnTo>
                      <a:cubicBezTo>
                        <a:pt x="171450" y="120557"/>
                        <a:pt x="158657" y="133350"/>
                        <a:pt x="142875" y="133350"/>
                      </a:cubicBezTo>
                      <a:lnTo>
                        <a:pt x="95250" y="133350"/>
                      </a:lnTo>
                      <a:lnTo>
                        <a:pt x="47625" y="161925"/>
                      </a:lnTo>
                      <a:lnTo>
                        <a:pt x="47625" y="133350"/>
                      </a:lnTo>
                      <a:lnTo>
                        <a:pt x="28575" y="133350"/>
                      </a:lnTo>
                      <a:cubicBezTo>
                        <a:pt x="12793" y="133350"/>
                        <a:pt x="0" y="120557"/>
                        <a:pt x="0" y="104775"/>
                      </a:cubicBezTo>
                      <a:lnTo>
                        <a:pt x="0" y="28575"/>
                      </a:lnTo>
                      <a:cubicBezTo>
                        <a:pt x="0" y="12793"/>
                        <a:pt x="12793" y="0"/>
                        <a:pt x="28575" y="0"/>
                      </a:cubicBezTo>
                      <a:lnTo>
                        <a:pt x="142875" y="0"/>
                      </a:lnTo>
                    </a:path>
                  </a:pathLst>
                </a:custGeom>
                <a:noFill/>
                <a:ln w="19050">
                  <a:solidFill>
                    <a:srgbClr val="92301C"/>
                  </a:solidFill>
                </a:ln>
              </p:spPr>
            </p:sp>
            <p:sp>
              <p:nvSpPr>
                <p:cNvPr id="204" name="Freeform 204"/>
                <p:cNvSpPr/>
                <p:nvPr/>
              </p:nvSpPr>
              <p:spPr>
                <a:xfrm>
                  <a:off x="8534400" y="3409950"/>
                  <a:ext cx="9525" cy="28575"/>
                </a:xfrm>
                <a:custGeom>
                  <a:avLst/>
                  <a:gdLst/>
                  <a:ahLst/>
                  <a:cxnLst/>
                  <a:rect l="l" t="t" r="r" b="b"/>
                  <a:pathLst>
                    <a:path w="9525" h="28575">
                      <a:moveTo>
                        <a:pt x="0" y="0"/>
                      </a:moveTo>
                      <a:lnTo>
                        <a:pt x="0" y="28575"/>
                      </a:lnTo>
                    </a:path>
                  </a:pathLst>
                </a:custGeom>
                <a:noFill/>
                <a:ln w="19050">
                  <a:solidFill>
                    <a:srgbClr val="92301C"/>
                  </a:solidFill>
                </a:ln>
              </p:spPr>
            </p:sp>
            <p:sp>
              <p:nvSpPr>
                <p:cNvPr id="205" name="Freeform 205"/>
                <p:cNvSpPr/>
                <p:nvPr/>
              </p:nvSpPr>
              <p:spPr>
                <a:xfrm>
                  <a:off x="8534400" y="3467100"/>
                  <a:ext cx="9525" cy="9525"/>
                </a:xfrm>
                <a:custGeom>
                  <a:avLst/>
                  <a:gdLst/>
                  <a:ahLst/>
                  <a:cxnLst/>
                  <a:rect l="l" t="t" r="r" b="b"/>
                  <a:pathLst>
                    <a:path w="9525" h="9525">
                      <a:moveTo>
                        <a:pt x="0" y="0"/>
                      </a:moveTo>
                      <a:lnTo>
                        <a:pt x="0" y="95"/>
                      </a:lnTo>
                    </a:path>
                  </a:pathLst>
                </a:custGeom>
                <a:noFill/>
                <a:ln w="19050">
                  <a:solidFill>
                    <a:srgbClr val="92301C"/>
                  </a:solidFill>
                </a:ln>
              </p:spPr>
            </p:sp>
          </p:grpSp>
          <p:sp>
            <p:nvSpPr>
              <p:cNvPr id="207" name="TextBox 207"/>
              <p:cNvSpPr txBox="1"/>
              <p:nvPr/>
            </p:nvSpPr>
            <p:spPr>
              <a:xfrm>
                <a:off x="8129588" y="3655695"/>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投诉</a:t>
                </a:r>
              </a:p>
            </p:txBody>
          </p:sp>
          <p:sp>
            <p:nvSpPr>
              <p:cNvPr id="208" name="TextBox 208"/>
              <p:cNvSpPr txBox="1"/>
              <p:nvPr/>
            </p:nvSpPr>
            <p:spPr>
              <a:xfrm>
                <a:off x="8129588" y="384738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（服务问题）</a:t>
                </a:r>
              </a:p>
            </p:txBody>
          </p:sp>
          <p:sp>
            <p:nvSpPr>
              <p:cNvPr id="209" name="TextBox 209"/>
              <p:cNvSpPr txBox="1"/>
              <p:nvPr/>
            </p:nvSpPr>
            <p:spPr>
              <a:xfrm>
                <a:off x="9063038" y="33330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服务态度投诉</a:t>
                </a:r>
              </a:p>
            </p:txBody>
          </p:sp>
          <p:sp>
            <p:nvSpPr>
              <p:cNvPr id="210" name="TextBox 210"/>
              <p:cNvSpPr txBox="1"/>
              <p:nvPr/>
            </p:nvSpPr>
            <p:spPr>
              <a:xfrm>
                <a:off x="9063038" y="3523536"/>
                <a:ext cx="46849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费用争议</a:t>
                </a:r>
              </a:p>
            </p:txBody>
          </p:sp>
          <p:sp>
            <p:nvSpPr>
              <p:cNvPr id="211" name="TextBox 211"/>
              <p:cNvSpPr txBox="1"/>
              <p:nvPr/>
            </p:nvSpPr>
            <p:spPr>
              <a:xfrm>
                <a:off x="9063038" y="37140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处理进度催办</a:t>
                </a:r>
              </a:p>
            </p:txBody>
          </p:sp>
          <p:sp>
            <p:nvSpPr>
              <p:cNvPr id="212" name="TextBox 212"/>
              <p:cNvSpPr txBox="1"/>
              <p:nvPr/>
            </p:nvSpPr>
            <p:spPr>
              <a:xfrm>
                <a:off x="10263188" y="3656886"/>
                <a:ext cx="67858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记录受理并流转</a:t>
                </a:r>
              </a:p>
            </p:txBody>
          </p:sp>
          <p:sp>
            <p:nvSpPr>
              <p:cNvPr id="213" name="TextBox 213"/>
              <p:cNvSpPr txBox="1"/>
              <p:nvPr/>
            </p:nvSpPr>
            <p:spPr>
              <a:xfrm>
                <a:off x="11234738" y="3656886"/>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必须人工处理</a:t>
                </a:r>
              </a:p>
            </p:txBody>
          </p:sp>
          <p:sp>
            <p:nvSpPr>
              <p:cNvPr id="214" name="TextBox 214"/>
              <p:cNvSpPr txBox="1"/>
              <p:nvPr/>
            </p:nvSpPr>
            <p:spPr>
              <a:xfrm>
                <a:off x="11234738" y="3828336"/>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（立即转接）</a:t>
                </a:r>
              </a:p>
            </p:txBody>
          </p:sp>
        </p:grpSp>
        <p:grpSp>
          <p:nvGrpSpPr>
            <p:cNvPr id="233" name="rt-4"/>
            <p:cNvGrpSpPr/>
            <p:nvPr/>
          </p:nvGrpSpPr>
          <p:grpSpPr>
            <a:xfrm>
              <a:off x="8001000" y="4181475"/>
              <a:ext cx="4007905" cy="981075"/>
              <a:chOff x="8001000" y="4181475"/>
              <a:chExt cx="4007905" cy="981075"/>
            </a:xfrm>
          </p:grpSpPr>
          <p:sp>
            <p:nvSpPr>
              <p:cNvPr id="216" name="Rectangle 216"/>
              <p:cNvSpPr/>
              <p:nvPr/>
            </p:nvSpPr>
            <p:spPr>
              <a:xfrm>
                <a:off x="8001000" y="4181475"/>
                <a:ext cx="4000500" cy="981075"/>
              </a:xfrm>
              <a:prstGeom prst="rect">
                <a:avLst/>
              </a:prstGeom>
              <a:solidFill>
                <a:srgbClr val="FFFFFF"/>
              </a:solidFill>
              <a:ln>
                <a:noFill/>
              </a:ln>
            </p:spPr>
          </p:sp>
          <p:grpSp>
            <p:nvGrpSpPr>
              <p:cNvPr id="221" name="Group 221"/>
              <p:cNvGrpSpPr/>
              <p:nvPr/>
            </p:nvGrpSpPr>
            <p:grpSpPr>
              <a:xfrm>
                <a:off x="8448675" y="4343400"/>
                <a:ext cx="171450" cy="161925"/>
                <a:chOff x="8448675" y="4343400"/>
                <a:chExt cx="171450" cy="161925"/>
              </a:xfrm>
            </p:grpSpPr>
            <p:sp>
              <p:nvSpPr>
                <p:cNvPr id="217" name="Freeform 217"/>
                <p:cNvSpPr/>
                <p:nvPr/>
              </p:nvSpPr>
              <p:spPr>
                <a:xfrm>
                  <a:off x="8448675" y="4381500"/>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92301C"/>
                  </a:solidFill>
                </a:ln>
              </p:spPr>
            </p:sp>
            <p:sp>
              <p:nvSpPr>
                <p:cNvPr id="218" name="Freeform 218"/>
                <p:cNvSpPr/>
                <p:nvPr/>
              </p:nvSpPr>
              <p:spPr>
                <a:xfrm>
                  <a:off x="8496300" y="4343400"/>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92301C"/>
                  </a:solidFill>
                </a:ln>
              </p:spPr>
            </p:sp>
            <p:sp>
              <p:nvSpPr>
                <p:cNvPr id="219" name="Freeform 219"/>
                <p:cNvSpPr/>
                <p:nvPr/>
              </p:nvSpPr>
              <p:spPr>
                <a:xfrm>
                  <a:off x="8534400" y="4429125"/>
                  <a:ext cx="9525" cy="9525"/>
                </a:xfrm>
                <a:custGeom>
                  <a:avLst/>
                  <a:gdLst/>
                  <a:ahLst/>
                  <a:cxnLst/>
                  <a:rect l="l" t="t" r="r" b="b"/>
                  <a:pathLst>
                    <a:path w="9525" h="9525">
                      <a:moveTo>
                        <a:pt x="0" y="0"/>
                      </a:moveTo>
                      <a:lnTo>
                        <a:pt x="0" y="95"/>
                      </a:lnTo>
                    </a:path>
                  </a:pathLst>
                </a:custGeom>
                <a:noFill/>
                <a:ln w="19050">
                  <a:solidFill>
                    <a:srgbClr val="92301C"/>
                  </a:solidFill>
                </a:ln>
              </p:spPr>
            </p:sp>
            <p:sp>
              <p:nvSpPr>
                <p:cNvPr id="220" name="Freeform 220"/>
                <p:cNvSpPr/>
                <p:nvPr/>
              </p:nvSpPr>
              <p:spPr>
                <a:xfrm>
                  <a:off x="8448675" y="4438650"/>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92301C"/>
                  </a:solidFill>
                </a:ln>
              </p:spPr>
            </p:sp>
          </p:grpSp>
          <p:sp>
            <p:nvSpPr>
              <p:cNvPr id="222" name="TextBox 222"/>
              <p:cNvSpPr txBox="1"/>
              <p:nvPr/>
            </p:nvSpPr>
            <p:spPr>
              <a:xfrm>
                <a:off x="8129588" y="46367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复杂业务</a:t>
                </a:r>
              </a:p>
            </p:txBody>
          </p:sp>
          <p:sp>
            <p:nvSpPr>
              <p:cNvPr id="223" name="TextBox 223"/>
              <p:cNvSpPr txBox="1"/>
              <p:nvPr/>
            </p:nvSpPr>
            <p:spPr>
              <a:xfrm>
                <a:off x="8129588" y="4828461"/>
                <a:ext cx="73115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（高价值/对公）</a:t>
                </a:r>
              </a:p>
            </p:txBody>
          </p:sp>
          <p:sp>
            <p:nvSpPr>
              <p:cNvPr id="224" name="TextBox 224"/>
              <p:cNvSpPr txBox="1"/>
              <p:nvPr/>
            </p:nvSpPr>
            <p:spPr>
              <a:xfrm>
                <a:off x="9063038" y="431411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授信申请咨询</a:t>
                </a:r>
              </a:p>
            </p:txBody>
          </p:sp>
          <p:sp>
            <p:nvSpPr>
              <p:cNvPr id="225" name="TextBox 225"/>
              <p:cNvSpPr txBox="1"/>
              <p:nvPr/>
            </p:nvSpPr>
            <p:spPr>
              <a:xfrm>
                <a:off x="9063038" y="450461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大额交易办理</a:t>
                </a:r>
              </a:p>
            </p:txBody>
          </p:sp>
          <p:sp>
            <p:nvSpPr>
              <p:cNvPr id="226" name="TextBox 226"/>
              <p:cNvSpPr txBox="1"/>
              <p:nvPr/>
            </p:nvSpPr>
            <p:spPr>
              <a:xfrm>
                <a:off x="9063038" y="4695111"/>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对公复杂产品</a:t>
                </a:r>
              </a:p>
            </p:txBody>
          </p:sp>
          <p:sp>
            <p:nvSpPr>
              <p:cNvPr id="227" name="TextBox 227"/>
              <p:cNvSpPr txBox="1"/>
              <p:nvPr/>
            </p:nvSpPr>
            <p:spPr>
              <a:xfrm>
                <a:off x="9063038" y="4885611"/>
                <a:ext cx="71222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理赔/反洗钱类</a:t>
                </a:r>
              </a:p>
            </p:txBody>
          </p:sp>
          <p:sp>
            <p:nvSpPr>
              <p:cNvPr id="228" name="TextBox 228"/>
              <p:cNvSpPr txBox="1"/>
              <p:nvPr/>
            </p:nvSpPr>
            <p:spPr>
              <a:xfrm>
                <a:off x="10263188" y="4657011"/>
                <a:ext cx="67858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仅提供流程指引</a:t>
                </a:r>
              </a:p>
            </p:txBody>
          </p:sp>
          <p:sp>
            <p:nvSpPr>
              <p:cNvPr id="229" name="TextBox 229"/>
              <p:cNvSpPr txBox="1"/>
              <p:nvPr/>
            </p:nvSpPr>
            <p:spPr>
              <a:xfrm>
                <a:off x="10263188" y="4828461"/>
                <a:ext cx="48742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与材料清单</a:t>
                </a:r>
              </a:p>
            </p:txBody>
          </p:sp>
          <p:sp>
            <p:nvSpPr>
              <p:cNvPr id="230" name="TextBox 230"/>
              <p:cNvSpPr txBox="1"/>
              <p:nvPr/>
            </p:nvSpPr>
            <p:spPr>
              <a:xfrm>
                <a:off x="10263188" y="4999911"/>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（辅助建议）</a:t>
                </a:r>
              </a:p>
            </p:txBody>
          </p:sp>
          <p:sp>
            <p:nvSpPr>
              <p:cNvPr id="231" name="TextBox 231"/>
              <p:cNvSpPr txBox="1"/>
              <p:nvPr/>
            </p:nvSpPr>
            <p:spPr>
              <a:xfrm>
                <a:off x="11234738" y="4657011"/>
                <a:ext cx="58300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必须人工处理</a:t>
                </a:r>
              </a:p>
            </p:txBody>
          </p:sp>
          <p:sp>
            <p:nvSpPr>
              <p:cNvPr id="232" name="TextBox 232"/>
              <p:cNvSpPr txBox="1"/>
              <p:nvPr/>
            </p:nvSpPr>
            <p:spPr>
              <a:xfrm>
                <a:off x="11234738" y="4828461"/>
                <a:ext cx="77416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（授权人员确认）</a:t>
                </a:r>
              </a:p>
            </p:txBody>
          </p:sp>
        </p:grpSp>
      </p:grpSp>
      <p:grpSp>
        <p:nvGrpSpPr>
          <p:cNvPr id="237" name="bottom-head"/>
          <p:cNvGrpSpPr/>
          <p:nvPr/>
        </p:nvGrpSpPr>
        <p:grpSpPr>
          <a:xfrm>
            <a:off x="190500" y="5295900"/>
            <a:ext cx="7715250" cy="272987"/>
            <a:chOff x="190500" y="5295900"/>
            <a:chExt cx="7715250" cy="272987"/>
          </a:xfrm>
        </p:grpSpPr>
        <p:sp>
          <p:nvSpPr>
            <p:cNvPr id="235" name="Rectangle 235"/>
            <p:cNvSpPr/>
            <p:nvPr/>
          </p:nvSpPr>
          <p:spPr>
            <a:xfrm>
              <a:off x="190500" y="5295900"/>
              <a:ext cx="7715250" cy="266700"/>
            </a:xfrm>
            <a:prstGeom prst="rect">
              <a:avLst/>
            </a:prstGeom>
            <a:gradFill>
              <a:gsLst>
                <a:gs pos="0">
                  <a:srgbClr val="92301C"/>
                </a:gs>
                <a:gs pos="100000">
                  <a:srgbClr val="B7533F"/>
                </a:gs>
              </a:gsLst>
              <a:lin ang="0" scaled="1"/>
            </a:gradFill>
            <a:ln>
              <a:noFill/>
            </a:ln>
          </p:spPr>
        </p:sp>
        <p:sp>
          <p:nvSpPr>
            <p:cNvPr id="236" name="TextBox 236"/>
            <p:cNvSpPr txBox="1"/>
            <p:nvPr/>
          </p:nvSpPr>
          <p:spPr>
            <a:xfrm>
              <a:off x="318516" y="5363528"/>
              <a:ext cx="1424178"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关键成效（示例测算）</a:t>
              </a:r>
            </a:p>
          </p:txBody>
        </p:sp>
      </p:grpSp>
      <p:grpSp>
        <p:nvGrpSpPr>
          <p:cNvPr id="268" name="kpi-cards"/>
          <p:cNvGrpSpPr/>
          <p:nvPr/>
        </p:nvGrpSpPr>
        <p:grpSpPr>
          <a:xfrm>
            <a:off x="304800" y="5772150"/>
            <a:ext cx="7232108" cy="752476"/>
            <a:chOff x="304800" y="5772150"/>
            <a:chExt cx="7232108" cy="752476"/>
          </a:xfrm>
        </p:grpSpPr>
        <p:grpSp>
          <p:nvGrpSpPr>
            <p:cNvPr id="245" name="kpi-1"/>
            <p:cNvGrpSpPr/>
            <p:nvPr/>
          </p:nvGrpSpPr>
          <p:grpSpPr>
            <a:xfrm>
              <a:off x="304800" y="5772150"/>
              <a:ext cx="1431383" cy="752476"/>
              <a:chOff x="304800" y="5772150"/>
              <a:chExt cx="1431383" cy="752476"/>
            </a:xfrm>
          </p:grpSpPr>
          <p:sp>
            <p:nvSpPr>
              <p:cNvPr id="238" name="Ellipse 238"/>
              <p:cNvSpPr/>
              <p:nvPr/>
            </p:nvSpPr>
            <p:spPr>
              <a:xfrm>
                <a:off x="304800" y="5772150"/>
                <a:ext cx="495300" cy="495300"/>
              </a:xfrm>
              <a:prstGeom prst="ellipse">
                <a:avLst/>
              </a:prstGeom>
              <a:solidFill>
                <a:srgbClr val="FFFFFF"/>
              </a:solidFill>
              <a:ln w="14288">
                <a:solidFill>
                  <a:srgbClr val="92301C"/>
                </a:solidFill>
              </a:ln>
            </p:spPr>
          </p:sp>
          <p:grpSp>
            <p:nvGrpSpPr>
              <p:cNvPr id="241" name="Group 241"/>
              <p:cNvGrpSpPr/>
              <p:nvPr/>
            </p:nvGrpSpPr>
            <p:grpSpPr>
              <a:xfrm>
                <a:off x="452438" y="5919788"/>
                <a:ext cx="200026" cy="200026"/>
                <a:chOff x="452438" y="5919788"/>
                <a:chExt cx="200026" cy="200026"/>
              </a:xfrm>
            </p:grpSpPr>
            <p:sp>
              <p:nvSpPr>
                <p:cNvPr id="239" name="Freeform 239"/>
                <p:cNvSpPr/>
                <p:nvPr/>
              </p:nvSpPr>
              <p:spPr>
                <a:xfrm>
                  <a:off x="452438" y="59197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92301C"/>
                  </a:solidFill>
                </a:ln>
              </p:spPr>
            </p:sp>
            <p:sp>
              <p:nvSpPr>
                <p:cNvPr id="240" name="Freeform 240"/>
                <p:cNvSpPr/>
                <p:nvPr/>
              </p:nvSpPr>
              <p:spPr>
                <a:xfrm>
                  <a:off x="519113" y="5997575"/>
                  <a:ext cx="66675" cy="44450"/>
                </a:xfrm>
                <a:custGeom>
                  <a:avLst/>
                  <a:gdLst/>
                  <a:ahLst/>
                  <a:cxnLst/>
                  <a:rect l="l" t="t" r="r" b="b"/>
                  <a:pathLst>
                    <a:path w="66675" h="44450">
                      <a:moveTo>
                        <a:pt x="0" y="22225"/>
                      </a:moveTo>
                      <a:lnTo>
                        <a:pt x="22225" y="44450"/>
                      </a:lnTo>
                      <a:lnTo>
                        <a:pt x="66675" y="0"/>
                      </a:lnTo>
                    </a:path>
                  </a:pathLst>
                </a:custGeom>
                <a:noFill/>
                <a:ln w="22225">
                  <a:solidFill>
                    <a:srgbClr val="92301C"/>
                  </a:solidFill>
                </a:ln>
              </p:spPr>
            </p:sp>
          </p:grpSp>
          <p:sp>
            <p:nvSpPr>
              <p:cNvPr id="242" name="TextBox 242"/>
              <p:cNvSpPr txBox="1"/>
              <p:nvPr/>
            </p:nvSpPr>
            <p:spPr>
              <a:xfrm>
                <a:off x="947738" y="5865495"/>
                <a:ext cx="615315"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一次解决率</a:t>
                </a:r>
              </a:p>
            </p:txBody>
          </p:sp>
          <p:sp>
            <p:nvSpPr>
              <p:cNvPr id="243" name="TextBox 243"/>
              <p:cNvSpPr txBox="1"/>
              <p:nvPr/>
            </p:nvSpPr>
            <p:spPr>
              <a:xfrm>
                <a:off x="943356" y="6073140"/>
                <a:ext cx="792827" cy="352044"/>
              </a:xfrm>
              <a:prstGeom prst="rect">
                <a:avLst/>
              </a:prstGeom>
              <a:noFill/>
              <a:ln>
                <a:noFill/>
              </a:ln>
            </p:spPr>
            <p:txBody>
              <a:bodyPr wrap="none" lIns="0" tIns="0" rIns="0" bIns="0" anchor="t" anchorCtr="0">
                <a:spAutoFit/>
              </a:bodyPr>
              <a:lstStyle/>
              <a:p>
                <a:pPr algn="l"/>
                <a:r>
                  <a:rPr lang="en-US" sz="1800" b="1" dirty="0">
                    <a:solidFill>
                      <a:srgbClr val="92301C"/>
                    </a:solidFill>
                    <a:latin typeface="+mj-lt"/>
                    <a:ea typeface="+mj-ea"/>
                    <a:cs typeface="+mj-cs"/>
                  </a:rPr>
                  <a:t>+18pct</a:t>
                </a:r>
              </a:p>
            </p:txBody>
          </p:sp>
          <p:sp>
            <p:nvSpPr>
              <p:cNvPr id="244" name="TextBox 244"/>
              <p:cNvSpPr txBox="1"/>
              <p:nvPr/>
            </p:nvSpPr>
            <p:spPr>
              <a:xfrm>
                <a:off x="947738" y="6376988"/>
                <a:ext cx="615315"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（示例测算）</a:t>
                </a:r>
              </a:p>
            </p:txBody>
          </p:sp>
        </p:grpSp>
        <p:grpSp>
          <p:nvGrpSpPr>
            <p:cNvPr id="251" name="kpi-2"/>
            <p:cNvGrpSpPr/>
            <p:nvPr/>
          </p:nvGrpSpPr>
          <p:grpSpPr>
            <a:xfrm>
              <a:off x="2238375" y="5772150"/>
              <a:ext cx="1379410" cy="752476"/>
              <a:chOff x="2238375" y="5772150"/>
              <a:chExt cx="1379410" cy="752476"/>
            </a:xfrm>
          </p:grpSpPr>
          <p:sp>
            <p:nvSpPr>
              <p:cNvPr id="246" name="Ellipse 246"/>
              <p:cNvSpPr/>
              <p:nvPr/>
            </p:nvSpPr>
            <p:spPr>
              <a:xfrm>
                <a:off x="2238375" y="5772150"/>
                <a:ext cx="495300" cy="495300"/>
              </a:xfrm>
              <a:prstGeom prst="ellipse">
                <a:avLst/>
              </a:prstGeom>
              <a:solidFill>
                <a:srgbClr val="FFFFFF"/>
              </a:solidFill>
              <a:ln w="14288">
                <a:solidFill>
                  <a:srgbClr val="92301C"/>
                </a:solidFill>
              </a:ln>
            </p:spPr>
          </p:sp>
          <p:sp>
            <p:nvSpPr>
              <p:cNvPr id="247" name="Freeform 247"/>
              <p:cNvSpPr/>
              <p:nvPr/>
            </p:nvSpPr>
            <p:spPr>
              <a:xfrm>
                <a:off x="2408238" y="5919788"/>
                <a:ext cx="155575" cy="200026"/>
              </a:xfrm>
              <a:custGeom>
                <a:avLst/>
                <a:gdLst/>
                <a:ahLst/>
                <a:cxnLst/>
                <a:rect l="l" t="t" r="r" b="b"/>
                <a:pathLst>
                  <a:path w="155575" h="200026">
                    <a:moveTo>
                      <a:pt x="88900" y="0"/>
                    </a:moveTo>
                    <a:lnTo>
                      <a:pt x="88900" y="77788"/>
                    </a:lnTo>
                    <a:lnTo>
                      <a:pt x="155575" y="77788"/>
                    </a:lnTo>
                    <a:lnTo>
                      <a:pt x="66675" y="200026"/>
                    </a:lnTo>
                    <a:lnTo>
                      <a:pt x="66675" y="122238"/>
                    </a:lnTo>
                    <a:lnTo>
                      <a:pt x="0" y="122238"/>
                    </a:lnTo>
                    <a:lnTo>
                      <a:pt x="88900" y="0"/>
                    </a:lnTo>
                  </a:path>
                </a:pathLst>
              </a:custGeom>
              <a:noFill/>
              <a:ln w="22225">
                <a:solidFill>
                  <a:srgbClr val="92301C"/>
                </a:solidFill>
              </a:ln>
            </p:spPr>
          </p:sp>
          <p:sp>
            <p:nvSpPr>
              <p:cNvPr id="248" name="TextBox 248"/>
              <p:cNvSpPr txBox="1"/>
              <p:nvPr/>
            </p:nvSpPr>
            <p:spPr>
              <a:xfrm>
                <a:off x="2881312" y="5865495"/>
                <a:ext cx="736473"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平均响应时间</a:t>
                </a:r>
              </a:p>
            </p:txBody>
          </p:sp>
          <p:sp>
            <p:nvSpPr>
              <p:cNvPr id="249" name="TextBox 249"/>
              <p:cNvSpPr txBox="1"/>
              <p:nvPr/>
            </p:nvSpPr>
            <p:spPr>
              <a:xfrm>
                <a:off x="2876931" y="6073140"/>
                <a:ext cx="680416" cy="352044"/>
              </a:xfrm>
              <a:prstGeom prst="rect">
                <a:avLst/>
              </a:prstGeom>
              <a:noFill/>
              <a:ln>
                <a:noFill/>
              </a:ln>
            </p:spPr>
            <p:txBody>
              <a:bodyPr wrap="none" lIns="0" tIns="0" rIns="0" bIns="0" anchor="t" anchorCtr="0">
                <a:spAutoFit/>
              </a:bodyPr>
              <a:lstStyle/>
              <a:p>
                <a:pPr algn="l"/>
                <a:r>
                  <a:rPr lang="zh-CN" sz="1800" b="1" dirty="0">
                    <a:solidFill>
                      <a:srgbClr val="92301C"/>
                    </a:solidFill>
                    <a:latin typeface="+mn-lt"/>
                    <a:ea typeface="+mn-ea"/>
                    <a:cs typeface="+mn-cs"/>
                  </a:rPr>
                  <a:t>≤10秒</a:t>
                </a:r>
              </a:p>
            </p:txBody>
          </p:sp>
          <p:sp>
            <p:nvSpPr>
              <p:cNvPr id="250" name="TextBox 250"/>
              <p:cNvSpPr txBox="1"/>
              <p:nvPr/>
            </p:nvSpPr>
            <p:spPr>
              <a:xfrm>
                <a:off x="2881312" y="6376988"/>
                <a:ext cx="615315"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（示例测算）</a:t>
                </a:r>
              </a:p>
            </p:txBody>
          </p:sp>
        </p:grpSp>
        <p:grpSp>
          <p:nvGrpSpPr>
            <p:cNvPr id="261" name="kpi-3"/>
            <p:cNvGrpSpPr/>
            <p:nvPr/>
          </p:nvGrpSpPr>
          <p:grpSpPr>
            <a:xfrm>
              <a:off x="4171950" y="5772150"/>
              <a:ext cx="1379411" cy="752476"/>
              <a:chOff x="4171950" y="5772150"/>
              <a:chExt cx="1379411" cy="752476"/>
            </a:xfrm>
          </p:grpSpPr>
          <p:sp>
            <p:nvSpPr>
              <p:cNvPr id="252" name="Ellipse 252"/>
              <p:cNvSpPr/>
              <p:nvPr/>
            </p:nvSpPr>
            <p:spPr>
              <a:xfrm>
                <a:off x="4171950" y="5772150"/>
                <a:ext cx="495300" cy="495300"/>
              </a:xfrm>
              <a:prstGeom prst="ellipse">
                <a:avLst/>
              </a:prstGeom>
              <a:solidFill>
                <a:srgbClr val="FFFFFF"/>
              </a:solidFill>
              <a:ln w="14288">
                <a:solidFill>
                  <a:srgbClr val="92301C"/>
                </a:solidFill>
              </a:ln>
            </p:spPr>
          </p:sp>
          <p:grpSp>
            <p:nvGrpSpPr>
              <p:cNvPr id="257" name="Group 257"/>
              <p:cNvGrpSpPr/>
              <p:nvPr/>
            </p:nvGrpSpPr>
            <p:grpSpPr>
              <a:xfrm>
                <a:off x="4330700" y="5919788"/>
                <a:ext cx="177801" cy="211138"/>
                <a:chOff x="4330700" y="5919788"/>
                <a:chExt cx="177801" cy="211138"/>
              </a:xfrm>
            </p:grpSpPr>
            <p:sp>
              <p:nvSpPr>
                <p:cNvPr id="253" name="Freeform 253"/>
                <p:cNvSpPr/>
                <p:nvPr/>
              </p:nvSpPr>
              <p:spPr>
                <a:xfrm>
                  <a:off x="4330700" y="5919788"/>
                  <a:ext cx="177801" cy="122238"/>
                </a:xfrm>
                <a:custGeom>
                  <a:avLst/>
                  <a:gdLst/>
                  <a:ahLst/>
                  <a:cxnLst/>
                  <a:rect l="l" t="t" r="r" b="b"/>
                  <a:pathLst>
                    <a:path w="177801" h="122238">
                      <a:moveTo>
                        <a:pt x="0" y="122238"/>
                      </a:moveTo>
                      <a:lnTo>
                        <a:pt x="0" y="88900"/>
                      </a:lnTo>
                      <a:cubicBezTo>
                        <a:pt x="0" y="39802"/>
                        <a:pt x="39802" y="0"/>
                        <a:pt x="88900" y="0"/>
                      </a:cubicBezTo>
                      <a:cubicBezTo>
                        <a:pt x="137999" y="0"/>
                        <a:pt x="177801" y="39802"/>
                        <a:pt x="177801" y="88900"/>
                      </a:cubicBezTo>
                      <a:lnTo>
                        <a:pt x="177801" y="122238"/>
                      </a:lnTo>
                    </a:path>
                  </a:pathLst>
                </a:custGeom>
                <a:noFill/>
                <a:ln w="22225">
                  <a:solidFill>
                    <a:srgbClr val="92301C"/>
                  </a:solidFill>
                </a:ln>
              </p:spPr>
            </p:sp>
            <p:sp>
              <p:nvSpPr>
                <p:cNvPr id="254" name="Freeform 254"/>
                <p:cNvSpPr/>
                <p:nvPr/>
              </p:nvSpPr>
              <p:spPr>
                <a:xfrm>
                  <a:off x="4419600" y="6097588"/>
                  <a:ext cx="66675" cy="33338"/>
                </a:xfrm>
                <a:custGeom>
                  <a:avLst/>
                  <a:gdLst/>
                  <a:ahLst/>
                  <a:cxnLst/>
                  <a:rect l="l" t="t" r="r" b="b"/>
                  <a:pathLst>
                    <a:path w="66675" h="33338">
                      <a:moveTo>
                        <a:pt x="66675" y="0"/>
                      </a:moveTo>
                      <a:cubicBezTo>
                        <a:pt x="66675" y="18413"/>
                        <a:pt x="36827" y="33338"/>
                        <a:pt x="0" y="33338"/>
                      </a:cubicBezTo>
                    </a:path>
                  </a:pathLst>
                </a:custGeom>
                <a:noFill/>
                <a:ln w="22225">
                  <a:solidFill>
                    <a:srgbClr val="92301C"/>
                  </a:solidFill>
                </a:ln>
              </p:spPr>
            </p:sp>
            <p:sp>
              <p:nvSpPr>
                <p:cNvPr id="255" name="Freeform 255"/>
                <p:cNvSpPr/>
                <p:nvPr/>
              </p:nvSpPr>
              <p:spPr>
                <a:xfrm>
                  <a:off x="4330700" y="6019800"/>
                  <a:ext cx="55563" cy="77788"/>
                </a:xfrm>
                <a:custGeom>
                  <a:avLst/>
                  <a:gdLst/>
                  <a:ahLst/>
                  <a:cxnLst/>
                  <a:rect l="l" t="t" r="r" b="b"/>
                  <a:pathLst>
                    <a:path w="55563" h="77788">
                      <a:moveTo>
                        <a:pt x="0" y="22225"/>
                      </a:moveTo>
                      <a:cubicBezTo>
                        <a:pt x="0" y="9950"/>
                        <a:pt x="9950" y="0"/>
                        <a:pt x="22225" y="0"/>
                      </a:cubicBezTo>
                      <a:lnTo>
                        <a:pt x="33338" y="0"/>
                      </a:lnTo>
                      <a:cubicBezTo>
                        <a:pt x="45612" y="0"/>
                        <a:pt x="55563" y="9950"/>
                        <a:pt x="55563" y="22225"/>
                      </a:cubicBezTo>
                      <a:lnTo>
                        <a:pt x="55563" y="55563"/>
                      </a:lnTo>
                      <a:cubicBezTo>
                        <a:pt x="55563" y="67837"/>
                        <a:pt x="45612" y="77788"/>
                        <a:pt x="33338" y="77788"/>
                      </a:cubicBezTo>
                      <a:lnTo>
                        <a:pt x="22225" y="77788"/>
                      </a:lnTo>
                      <a:cubicBezTo>
                        <a:pt x="9950" y="77788"/>
                        <a:pt x="0" y="67837"/>
                        <a:pt x="0" y="55563"/>
                      </a:cubicBezTo>
                      <a:lnTo>
                        <a:pt x="0" y="22225"/>
                      </a:lnTo>
                    </a:path>
                  </a:pathLst>
                </a:custGeom>
                <a:noFill/>
                <a:ln w="22225">
                  <a:solidFill>
                    <a:srgbClr val="92301C"/>
                  </a:solidFill>
                </a:ln>
              </p:spPr>
            </p:sp>
            <p:sp>
              <p:nvSpPr>
                <p:cNvPr id="256" name="Freeform 256"/>
                <p:cNvSpPr/>
                <p:nvPr/>
              </p:nvSpPr>
              <p:spPr>
                <a:xfrm>
                  <a:off x="4452938" y="6019800"/>
                  <a:ext cx="55563" cy="77788"/>
                </a:xfrm>
                <a:custGeom>
                  <a:avLst/>
                  <a:gdLst/>
                  <a:ahLst/>
                  <a:cxnLst/>
                  <a:rect l="l" t="t" r="r" b="b"/>
                  <a:pathLst>
                    <a:path w="55563" h="77788">
                      <a:moveTo>
                        <a:pt x="0" y="22225"/>
                      </a:moveTo>
                      <a:cubicBezTo>
                        <a:pt x="0" y="9950"/>
                        <a:pt x="9950" y="0"/>
                        <a:pt x="22225" y="0"/>
                      </a:cubicBezTo>
                      <a:lnTo>
                        <a:pt x="33338" y="0"/>
                      </a:lnTo>
                      <a:cubicBezTo>
                        <a:pt x="45612" y="0"/>
                        <a:pt x="55563" y="9950"/>
                        <a:pt x="55563" y="22225"/>
                      </a:cubicBezTo>
                      <a:lnTo>
                        <a:pt x="55563" y="55563"/>
                      </a:lnTo>
                      <a:cubicBezTo>
                        <a:pt x="55563" y="67837"/>
                        <a:pt x="45612" y="77788"/>
                        <a:pt x="33338" y="77788"/>
                      </a:cubicBezTo>
                      <a:lnTo>
                        <a:pt x="22225" y="77788"/>
                      </a:lnTo>
                      <a:cubicBezTo>
                        <a:pt x="9950" y="77788"/>
                        <a:pt x="0" y="67837"/>
                        <a:pt x="0" y="55563"/>
                      </a:cubicBezTo>
                      <a:lnTo>
                        <a:pt x="0" y="22225"/>
                      </a:lnTo>
                    </a:path>
                  </a:pathLst>
                </a:custGeom>
                <a:noFill/>
                <a:ln w="22225">
                  <a:solidFill>
                    <a:srgbClr val="92301C"/>
                  </a:solidFill>
                </a:ln>
              </p:spPr>
            </p:sp>
          </p:grpSp>
          <p:sp>
            <p:nvSpPr>
              <p:cNvPr id="258" name="TextBox 258"/>
              <p:cNvSpPr txBox="1"/>
              <p:nvPr/>
            </p:nvSpPr>
            <p:spPr>
              <a:xfrm>
                <a:off x="4814888" y="5865495"/>
                <a:ext cx="736473"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人工坐席压力</a:t>
                </a:r>
              </a:p>
            </p:txBody>
          </p:sp>
          <p:sp>
            <p:nvSpPr>
              <p:cNvPr id="259" name="TextBox 259"/>
              <p:cNvSpPr txBox="1"/>
              <p:nvPr/>
            </p:nvSpPr>
            <p:spPr>
              <a:xfrm>
                <a:off x="4810506" y="6073140"/>
                <a:ext cx="583999" cy="352044"/>
              </a:xfrm>
              <a:prstGeom prst="rect">
                <a:avLst/>
              </a:prstGeom>
              <a:noFill/>
              <a:ln>
                <a:noFill/>
              </a:ln>
            </p:spPr>
            <p:txBody>
              <a:bodyPr wrap="none" lIns="0" tIns="0" rIns="0" bIns="0" anchor="t" anchorCtr="0">
                <a:spAutoFit/>
              </a:bodyPr>
              <a:lstStyle/>
              <a:p>
                <a:pPr algn="l"/>
                <a:r>
                  <a:rPr lang="zh-CN" sz="1800" b="1" dirty="0">
                    <a:solidFill>
                      <a:srgbClr val="92301C"/>
                    </a:solidFill>
                    <a:latin typeface="+mj-lt"/>
                    <a:ea typeface="+mj-ea"/>
                    <a:cs typeface="+mj-cs"/>
                  </a:rPr>
                  <a:t>-30%</a:t>
                </a:r>
              </a:p>
            </p:txBody>
          </p:sp>
          <p:sp>
            <p:nvSpPr>
              <p:cNvPr id="260" name="TextBox 260"/>
              <p:cNvSpPr txBox="1"/>
              <p:nvPr/>
            </p:nvSpPr>
            <p:spPr>
              <a:xfrm>
                <a:off x="4814888" y="6376988"/>
                <a:ext cx="615315"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（示例测算）</a:t>
                </a:r>
              </a:p>
            </p:txBody>
          </p:sp>
        </p:grpSp>
        <p:grpSp>
          <p:nvGrpSpPr>
            <p:cNvPr id="267" name="kpi-4"/>
            <p:cNvGrpSpPr/>
            <p:nvPr/>
          </p:nvGrpSpPr>
          <p:grpSpPr>
            <a:xfrm>
              <a:off x="6105525" y="5772150"/>
              <a:ext cx="1431383" cy="752476"/>
              <a:chOff x="6105525" y="5772150"/>
              <a:chExt cx="1431383" cy="752476"/>
            </a:xfrm>
          </p:grpSpPr>
          <p:sp>
            <p:nvSpPr>
              <p:cNvPr id="262" name="Ellipse 262"/>
              <p:cNvSpPr/>
              <p:nvPr/>
            </p:nvSpPr>
            <p:spPr>
              <a:xfrm>
                <a:off x="6105525" y="5772150"/>
                <a:ext cx="495300" cy="495300"/>
              </a:xfrm>
              <a:prstGeom prst="ellipse">
                <a:avLst/>
              </a:prstGeom>
              <a:solidFill>
                <a:srgbClr val="FFFFFF"/>
              </a:solidFill>
              <a:ln w="14288">
                <a:solidFill>
                  <a:srgbClr val="92301C"/>
                </a:solidFill>
              </a:ln>
            </p:spPr>
          </p:sp>
          <p:sp>
            <p:nvSpPr>
              <p:cNvPr id="263" name="Freeform 263"/>
              <p:cNvSpPr/>
              <p:nvPr/>
            </p:nvSpPr>
            <p:spPr>
              <a:xfrm>
                <a:off x="6253163" y="5930900"/>
                <a:ext cx="188913" cy="178641"/>
              </a:xfrm>
              <a:custGeom>
                <a:avLst/>
                <a:gdLst/>
                <a:ahLst/>
                <a:cxnLst/>
                <a:rect l="l" t="t" r="r" b="b"/>
                <a:pathLst>
                  <a:path w="188913" h="178641">
                    <a:moveTo>
                      <a:pt x="44450" y="77788"/>
                    </a:moveTo>
                    <a:lnTo>
                      <a:pt x="44450" y="166688"/>
                    </a:lnTo>
                    <a:cubicBezTo>
                      <a:pt x="44450" y="172825"/>
                      <a:pt x="39475" y="177801"/>
                      <a:pt x="33338" y="177801"/>
                    </a:cubicBezTo>
                    <a:lnTo>
                      <a:pt x="11113" y="177801"/>
                    </a:lnTo>
                    <a:cubicBezTo>
                      <a:pt x="4975" y="177801"/>
                      <a:pt x="0" y="172825"/>
                      <a:pt x="0" y="166688"/>
                    </a:cubicBezTo>
                    <a:lnTo>
                      <a:pt x="0" y="88900"/>
                    </a:lnTo>
                    <a:cubicBezTo>
                      <a:pt x="0" y="82763"/>
                      <a:pt x="4975" y="77788"/>
                      <a:pt x="11113" y="77788"/>
                    </a:cubicBezTo>
                    <a:lnTo>
                      <a:pt x="44450" y="77788"/>
                    </a:lnTo>
                    <a:cubicBezTo>
                      <a:pt x="68999" y="77788"/>
                      <a:pt x="88900" y="57887"/>
                      <a:pt x="88900" y="33338"/>
                    </a:cubicBezTo>
                    <a:lnTo>
                      <a:pt x="88900" y="22225"/>
                    </a:lnTo>
                    <a:cubicBezTo>
                      <a:pt x="88900" y="9950"/>
                      <a:pt x="98851" y="0"/>
                      <a:pt x="111125" y="0"/>
                    </a:cubicBezTo>
                    <a:cubicBezTo>
                      <a:pt x="123400" y="0"/>
                      <a:pt x="133350" y="9950"/>
                      <a:pt x="133350" y="22225"/>
                    </a:cubicBezTo>
                    <a:lnTo>
                      <a:pt x="133350" y="77788"/>
                    </a:lnTo>
                    <a:lnTo>
                      <a:pt x="166688" y="77788"/>
                    </a:lnTo>
                    <a:cubicBezTo>
                      <a:pt x="178963" y="77788"/>
                      <a:pt x="188913" y="87738"/>
                      <a:pt x="188913" y="100013"/>
                    </a:cubicBezTo>
                    <a:lnTo>
                      <a:pt x="177801" y="155575"/>
                    </a:lnTo>
                    <a:cubicBezTo>
                      <a:pt x="174517" y="169580"/>
                      <a:pt x="165456" y="178641"/>
                      <a:pt x="155575" y="177801"/>
                    </a:cubicBezTo>
                    <a:lnTo>
                      <a:pt x="77788" y="177801"/>
                    </a:lnTo>
                    <a:cubicBezTo>
                      <a:pt x="59376" y="177801"/>
                      <a:pt x="44450" y="162875"/>
                      <a:pt x="44450" y="144463"/>
                    </a:cubicBezTo>
                  </a:path>
                </a:pathLst>
              </a:custGeom>
              <a:noFill/>
              <a:ln w="22225">
                <a:solidFill>
                  <a:srgbClr val="92301C"/>
                </a:solidFill>
              </a:ln>
            </p:spPr>
          </p:sp>
          <p:sp>
            <p:nvSpPr>
              <p:cNvPr id="264" name="TextBox 264"/>
              <p:cNvSpPr txBox="1"/>
              <p:nvPr/>
            </p:nvSpPr>
            <p:spPr>
              <a:xfrm>
                <a:off x="6748462" y="5865495"/>
                <a:ext cx="615315"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客户满意度</a:t>
                </a:r>
              </a:p>
            </p:txBody>
          </p:sp>
          <p:sp>
            <p:nvSpPr>
              <p:cNvPr id="265" name="TextBox 265"/>
              <p:cNvSpPr txBox="1"/>
              <p:nvPr/>
            </p:nvSpPr>
            <p:spPr>
              <a:xfrm>
                <a:off x="6744081" y="6073140"/>
                <a:ext cx="792827" cy="352044"/>
              </a:xfrm>
              <a:prstGeom prst="rect">
                <a:avLst/>
              </a:prstGeom>
              <a:noFill/>
              <a:ln>
                <a:noFill/>
              </a:ln>
            </p:spPr>
            <p:txBody>
              <a:bodyPr wrap="none" lIns="0" tIns="0" rIns="0" bIns="0" anchor="t" anchorCtr="0">
                <a:spAutoFit/>
              </a:bodyPr>
              <a:lstStyle/>
              <a:p>
                <a:pPr algn="l"/>
                <a:r>
                  <a:rPr lang="en-US" sz="1800" b="1" dirty="0">
                    <a:solidFill>
                      <a:srgbClr val="92301C"/>
                    </a:solidFill>
                    <a:latin typeface="+mj-lt"/>
                    <a:ea typeface="+mj-ea"/>
                    <a:cs typeface="+mj-cs"/>
                  </a:rPr>
                  <a:t>+15pct</a:t>
                </a:r>
              </a:p>
            </p:txBody>
          </p:sp>
          <p:sp>
            <p:nvSpPr>
              <p:cNvPr id="266" name="TextBox 266"/>
              <p:cNvSpPr txBox="1"/>
              <p:nvPr/>
            </p:nvSpPr>
            <p:spPr>
              <a:xfrm>
                <a:off x="6748462" y="6376988"/>
                <a:ext cx="615315" cy="147638"/>
              </a:xfrm>
              <a:prstGeom prst="rect">
                <a:avLst/>
              </a:prstGeom>
              <a:noFill/>
              <a:ln>
                <a:noFill/>
              </a:ln>
            </p:spPr>
            <p:txBody>
              <a:bodyPr wrap="none" lIns="0" tIns="0" rIns="0" bIns="0" anchor="t" anchorCtr="0">
                <a:spAutoFit/>
              </a:bodyPr>
              <a:lstStyle/>
              <a:p>
                <a:pPr algn="l"/>
                <a:r>
                  <a:rPr lang="zh-CN" sz="750" dirty="0">
                    <a:solidFill>
                      <a:srgbClr val="8C716B"/>
                    </a:solidFill>
                    <a:latin typeface="+mn-lt"/>
                    <a:ea typeface="+mn-ea"/>
                    <a:cs typeface="+mn-cs"/>
                  </a:rPr>
                  <a:t>（示例测算）</a:t>
                </a:r>
              </a:p>
            </p:txBody>
          </p:sp>
        </p:grpSp>
      </p:grpSp>
      <p:grpSp>
        <p:nvGrpSpPr>
          <p:cNvPr id="276" name="warn-box"/>
          <p:cNvGrpSpPr/>
          <p:nvPr/>
        </p:nvGrpSpPr>
        <p:grpSpPr>
          <a:xfrm>
            <a:off x="8001000" y="5295900"/>
            <a:ext cx="4000500" cy="1276350"/>
            <a:chOff x="8001000" y="5295900"/>
            <a:chExt cx="4000500" cy="1276350"/>
          </a:xfrm>
        </p:grpSpPr>
        <p:sp>
          <p:nvSpPr>
            <p:cNvPr id="269" name="Rectangle 269"/>
            <p:cNvSpPr/>
            <p:nvPr/>
          </p:nvSpPr>
          <p:spPr>
            <a:xfrm>
              <a:off x="8001000" y="5295900"/>
              <a:ext cx="4000500" cy="1276350"/>
            </a:xfrm>
            <a:prstGeom prst="roundRect">
              <a:avLst>
                <a:gd name="adj" fmla="val 5970"/>
              </a:avLst>
            </a:prstGeom>
            <a:solidFill>
              <a:srgbClr val="EEF5FB"/>
            </a:solidFill>
            <a:ln>
              <a:noFill/>
            </a:ln>
          </p:spPr>
        </p:sp>
        <p:sp>
          <p:nvSpPr>
            <p:cNvPr id="270" name="Ellipse 270"/>
            <p:cNvSpPr/>
            <p:nvPr/>
          </p:nvSpPr>
          <p:spPr>
            <a:xfrm>
              <a:off x="8153400" y="5429250"/>
              <a:ext cx="304800" cy="304800"/>
            </a:xfrm>
            <a:prstGeom prst="ellipse">
              <a:avLst/>
            </a:prstGeom>
            <a:solidFill>
              <a:srgbClr val="92301C"/>
            </a:solidFill>
            <a:ln>
              <a:noFill/>
            </a:ln>
          </p:spPr>
        </p:sp>
        <p:sp>
          <p:nvSpPr>
            <p:cNvPr id="271" name="TextBox 271"/>
            <p:cNvSpPr txBox="1"/>
            <p:nvPr/>
          </p:nvSpPr>
          <p:spPr>
            <a:xfrm>
              <a:off x="8272807" y="5509260"/>
              <a:ext cx="6598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j-lt"/>
                  <a:ea typeface="+mj-ea"/>
                  <a:cs typeface="+mj-cs"/>
                </a:rPr>
                <a:t>!</a:t>
              </a:r>
            </a:p>
          </p:txBody>
        </p:sp>
        <p:sp>
          <p:nvSpPr>
            <p:cNvPr id="272" name="TextBox 272"/>
            <p:cNvSpPr txBox="1"/>
            <p:nvPr/>
          </p:nvSpPr>
          <p:spPr>
            <a:xfrm>
              <a:off x="8548497" y="553354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重要提示</a:t>
              </a:r>
            </a:p>
          </p:txBody>
        </p:sp>
        <p:sp>
          <p:nvSpPr>
            <p:cNvPr id="273" name="TextBox 273"/>
            <p:cNvSpPr txBox="1"/>
            <p:nvPr/>
          </p:nvSpPr>
          <p:spPr>
            <a:xfrm>
              <a:off x="8301038" y="5824538"/>
              <a:ext cx="281654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敏感交易（如大额转账、账户信息变更等）必须由人工处理。</a:t>
              </a:r>
            </a:p>
          </p:txBody>
        </p:sp>
        <p:sp>
          <p:nvSpPr>
            <p:cNvPr id="274" name="TextBox 274"/>
            <p:cNvSpPr txBox="1"/>
            <p:nvPr/>
          </p:nvSpPr>
          <p:spPr>
            <a:xfrm>
              <a:off x="8301038" y="6015038"/>
              <a:ext cx="140303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投诉类问题必须由人工处理。</a:t>
              </a:r>
            </a:p>
          </p:txBody>
        </p:sp>
        <p:sp>
          <p:nvSpPr>
            <p:cNvPr id="275" name="TextBox 275"/>
            <p:cNvSpPr txBox="1"/>
            <p:nvPr/>
          </p:nvSpPr>
          <p:spPr>
            <a:xfrm>
              <a:off x="8301038" y="6224588"/>
              <a:ext cx="2757488" cy="300038"/>
            </a:xfrm>
            <a:prstGeom prst="rect">
              <a:avLst/>
            </a:prstGeom>
            <a:noFill/>
            <a:ln>
              <a:noFill/>
            </a:ln>
          </p:spPr>
          <p:txBody>
            <a:bodyPr wrap="none" lIns="0" tIns="0" rIns="0" bIns="0" anchor="t" anchorCtr="0">
              <a:spAutoFit/>
            </a:bodyPr>
            <a:lstStyle/>
            <a:p>
              <a:pPr algn="l" marL="80962" indent="-80962">
                <a:lnSpc>
                  <a:spcPts val="1200"/>
                </a:lnSpc>
                <a:buClr>
                  <a:srgbClr val="52352F"/>
                </a:buClr>
                <a:buSzTx/>
                <a:buFontTx/>
                <a:buChar char="•"/>
              </a:pPr>
              <a:r>
                <a:rPr lang="zh-CN" sz="750" dirty="0">
                  <a:solidFill>
                    <a:srgbClr val="52352F"/>
                  </a:solidFill>
                  <a:latin typeface="+mn-lt"/>
                  <a:ea typeface="+mn-ea"/>
                  <a:cs typeface="+mn-cs"/>
                </a:rPr>
                <a:t>授信、交易、投资、理财、反洗钱处置等场景仅提供辅助建议，</a:t>
              </a:r>
              <a:br/>
              <a:r>
                <a:rPr lang="zh-CN" sz="750" dirty="0">
                  <a:solidFill>
                    <a:srgbClr val="52352F"/>
                  </a:solidFill>
                  <a:latin typeface="+mn-lt"/>
                  <a:ea typeface="+mn-ea"/>
                  <a:cs typeface="+mn-cs"/>
                </a:rPr>
                <a:t xml:space="preserve">　须由授权人员确认后方可办理。</a:t>
              </a:r>
            </a:p>
          </p:txBody>
        </p:sp>
      </p:grpSp>
      <p:sp>
        <p:nvSpPr>
          <p:cNvPr id="277" name="TextBox 277"/>
          <p:cNvSpPr txBox="1"/>
          <p:nvPr/>
        </p:nvSpPr>
        <p:spPr>
          <a:xfrm>
            <a:off x="185738" y="6702266"/>
            <a:ext cx="1494249" cy="161925"/>
          </a:xfrm>
          <a:prstGeom prst="rect">
            <a:avLst/>
          </a:prstGeom>
          <a:noFill/>
          <a:ln>
            <a:noFill/>
          </a:ln>
        </p:spPr>
        <p:txBody>
          <a:bodyPr wrap="none" lIns="0" tIns="0" rIns="0" bIns="0" anchor="t" anchorCtr="0">
            <a:spAutoFit/>
          </a:bodyPr>
          <a:lstStyle/>
          <a:p>
            <a:pPr algn="l"/>
            <a:r>
              <a:rPr lang="zh-CN" sz="820" dirty="0">
                <a:solidFill>
                  <a:srgbClr val="8C716B"/>
                </a:solidFill>
                <a:latin typeface="+mn-lt"/>
                <a:ea typeface="+mn-ea"/>
                <a:cs typeface="+mn-cs"/>
              </a:rPr>
              <a:t>专业 · 独立 · 务实 · 创造价值</a:t>
            </a:r>
          </a:p>
        </p:txBody>
      </p:sp>
      <p:sp>
        <p:nvSpPr>
          <p:cNvPr id="278" name="TextBox 278"/>
          <p:cNvSpPr txBox="1"/>
          <p:nvPr/>
        </p:nvSpPr>
        <p:spPr>
          <a:xfrm>
            <a:off x="11754541" y="6686074"/>
            <a:ext cx="156662" cy="190690"/>
          </a:xfrm>
          <a:prstGeom prst="rect">
            <a:avLst/>
          </a:prstGeom>
          <a:noFill/>
          <a:ln>
            <a:noFill/>
          </a:ln>
        </p:spPr>
        <p:txBody>
          <a:bodyPr wrap="none" lIns="0" tIns="0" rIns="0" bIns="0" anchor="t" anchorCtr="0">
            <a:spAutoFit/>
          </a:bodyPr>
          <a:lstStyle/>
          <a:p>
            <a:pPr algn="r"/>
            <a:r>
              <a:rPr lang="zh-CN" sz="980" b="1" dirty="0">
                <a:solidFill>
                  <a:srgbClr val="6B1B0B"/>
                </a:solidFill>
                <a:latin typeface="+mj-lt"/>
                <a:ea typeface="+mj-ea"/>
                <a:cs typeface="+mj-cs"/>
              </a:rPr>
              <a:t>03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03</a:t>
              </a:r>
            </a:p>
          </p:txBody>
        </p:sp>
        <p:sp>
          <p:nvSpPr>
            <p:cNvPr id="4" name="TextBox 4"/>
            <p:cNvSpPr txBox="1"/>
            <p:nvPr/>
          </p:nvSpPr>
          <p:spPr>
            <a:xfrm>
              <a:off x="942594" y="170498"/>
              <a:ext cx="6643154"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j-lt"/>
                  <a:ea typeface="+mj-ea"/>
                  <a:cs typeface="+mj-cs"/>
                </a:rPr>
                <a:t>KYC尽调智能体</a:t>
              </a:r>
              <a:r>
                <a:rPr lang="zh-CN" sz="1950" b="1" dirty="0">
                  <a:solidFill>
                    <a:srgbClr val="92301C"/>
                  </a:solidFill>
                  <a:latin typeface="+mj-lt"/>
                  <a:ea typeface="+mj-ea"/>
                  <a:cs typeface="+mj-cs"/>
                </a:rPr>
                <a:t>｜贯通身份核验、关系穿透与风险评级</a:t>
              </a:r>
              <a:r>
                <a:rPr lang="zh-CN" sz="1950" b="1" dirty="0">
                  <a:solidFill>
                    <a:srgbClr val="47180F"/>
                  </a:solidFill>
                  <a:latin typeface="+mj-lt"/>
                  <a:ea typeface="+mj-ea"/>
                  <a:cs typeface="+mj-cs"/>
                </a:rPr>
                <a:t xml:space="preserve">　</a:t>
              </a:r>
            </a:p>
          </p:txBody>
        </p:sp>
        <p:sp>
          <p:nvSpPr>
            <p:cNvPr id="5" name="TextBox 5"/>
            <p:cNvSpPr txBox="1"/>
            <p:nvPr/>
          </p:nvSpPr>
          <p:spPr>
            <a:xfrm>
              <a:off x="8511776" y="120491"/>
              <a:ext cx="3494487"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客户准入 · 03　｜　建立更安全的客户关系 · 让合规成为业务的助推力</a:t>
              </a:r>
            </a:p>
          </p:txBody>
        </p:sp>
        <p:sp>
          <p:nvSpPr>
            <p:cNvPr id="6" name="TextBox 6"/>
            <p:cNvSpPr txBox="1"/>
            <p:nvPr/>
          </p:nvSpPr>
          <p:spPr>
            <a:xfrm>
              <a:off x="10353633" y="334089"/>
              <a:ext cx="1652629"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专业 · 独立 · 客观 · 创造长期价值</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2" name="col1-head"/>
          <p:cNvGrpSpPr/>
          <p:nvPr/>
        </p:nvGrpSpPr>
        <p:grpSpPr>
          <a:xfrm>
            <a:off x="190500" y="628650"/>
            <a:ext cx="2667000" cy="279559"/>
            <a:chOff x="190500" y="628650"/>
            <a:chExt cx="2667000" cy="279559"/>
          </a:xfrm>
        </p:grpSpPr>
        <p:sp>
          <p:nvSpPr>
            <p:cNvPr id="9" name="Rectangle 9"/>
            <p:cNvSpPr/>
            <p:nvPr/>
          </p:nvSpPr>
          <p:spPr>
            <a:xfrm>
              <a:off x="190500" y="628650"/>
              <a:ext cx="2667000" cy="266700"/>
            </a:xfrm>
            <a:prstGeom prst="rect">
              <a:avLst/>
            </a:prstGeom>
            <a:gradFill>
              <a:gsLst>
                <a:gs pos="0">
                  <a:srgbClr val="92301C"/>
                </a:gs>
                <a:gs pos="100000">
                  <a:srgbClr val="B7533F"/>
                </a:gs>
              </a:gsLst>
              <a:lin ang="0" scaled="1"/>
            </a:gradFill>
            <a:ln>
              <a:noFill/>
            </a:ln>
          </p:spPr>
        </p:sp>
        <p:sp>
          <p:nvSpPr>
            <p:cNvPr id="10" name="TextBox 10"/>
            <p:cNvSpPr txBox="1"/>
            <p:nvPr/>
          </p:nvSpPr>
          <p:spPr>
            <a:xfrm>
              <a:off x="31813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多源数据接入</a:t>
              </a:r>
            </a:p>
          </p:txBody>
        </p:sp>
        <p:sp>
          <p:nvSpPr>
            <p:cNvPr id="11" name="TextBox 11"/>
            <p:cNvSpPr txBox="1"/>
            <p:nvPr/>
          </p:nvSpPr>
          <p:spPr>
            <a:xfrm>
              <a:off x="1328738" y="720566"/>
              <a:ext cx="892632"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构建全面尽调视图</a:t>
              </a:r>
            </a:p>
          </p:txBody>
        </p:sp>
      </p:grpSp>
      <p:grpSp>
        <p:nvGrpSpPr>
          <p:cNvPr id="16" name="col2-head"/>
          <p:cNvGrpSpPr/>
          <p:nvPr/>
        </p:nvGrpSpPr>
        <p:grpSpPr>
          <a:xfrm>
            <a:off x="2952750" y="628650"/>
            <a:ext cx="4667250" cy="279559"/>
            <a:chOff x="2952750" y="628650"/>
            <a:chExt cx="4667250" cy="279559"/>
          </a:xfrm>
        </p:grpSpPr>
        <p:sp>
          <p:nvSpPr>
            <p:cNvPr id="13" name="Rectangle 13"/>
            <p:cNvSpPr/>
            <p:nvPr/>
          </p:nvSpPr>
          <p:spPr>
            <a:xfrm>
              <a:off x="2952750" y="628650"/>
              <a:ext cx="4667250" cy="266700"/>
            </a:xfrm>
            <a:prstGeom prst="rect">
              <a:avLst/>
            </a:prstGeom>
            <a:gradFill>
              <a:gsLst>
                <a:gs pos="0">
                  <a:srgbClr val="92301C"/>
                </a:gs>
                <a:gs pos="100000">
                  <a:srgbClr val="B7533F"/>
                </a:gs>
              </a:gsLst>
              <a:lin ang="0" scaled="1"/>
            </a:gradFill>
            <a:ln>
              <a:noFill/>
            </a:ln>
          </p:spPr>
        </p:sp>
        <p:sp>
          <p:nvSpPr>
            <p:cNvPr id="14" name="TextBox 14"/>
            <p:cNvSpPr txBox="1"/>
            <p:nvPr/>
          </p:nvSpPr>
          <p:spPr>
            <a:xfrm>
              <a:off x="3080385" y="6881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关系图谱</a:t>
              </a:r>
            </a:p>
          </p:txBody>
        </p:sp>
        <p:sp>
          <p:nvSpPr>
            <p:cNvPr id="15" name="TextBox 15"/>
            <p:cNvSpPr txBox="1"/>
            <p:nvPr/>
          </p:nvSpPr>
          <p:spPr>
            <a:xfrm>
              <a:off x="3786188" y="720566"/>
              <a:ext cx="1444574"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穿透识别复杂股权与关联关系</a:t>
              </a:r>
            </a:p>
          </p:txBody>
        </p:sp>
      </p:grpSp>
      <p:grpSp>
        <p:nvGrpSpPr>
          <p:cNvPr id="20" name="col3-head"/>
          <p:cNvGrpSpPr/>
          <p:nvPr/>
        </p:nvGrpSpPr>
        <p:grpSpPr>
          <a:xfrm>
            <a:off x="7715250" y="628650"/>
            <a:ext cx="4286250" cy="279559"/>
            <a:chOff x="7715250" y="628650"/>
            <a:chExt cx="4286250" cy="279559"/>
          </a:xfrm>
        </p:grpSpPr>
        <p:sp>
          <p:nvSpPr>
            <p:cNvPr id="17" name="Rectangle 17"/>
            <p:cNvSpPr/>
            <p:nvPr/>
          </p:nvSpPr>
          <p:spPr>
            <a:xfrm>
              <a:off x="7715250" y="628650"/>
              <a:ext cx="4286250" cy="266700"/>
            </a:xfrm>
            <a:prstGeom prst="rect">
              <a:avLst/>
            </a:prstGeom>
            <a:gradFill>
              <a:gsLst>
                <a:gs pos="0">
                  <a:srgbClr val="92301C"/>
                </a:gs>
                <a:gs pos="100000">
                  <a:srgbClr val="B7533F"/>
                </a:gs>
              </a:gsLst>
              <a:lin ang="0" scaled="1"/>
            </a:gradFill>
            <a:ln>
              <a:noFill/>
            </a:ln>
          </p:spPr>
        </p:sp>
        <p:sp>
          <p:nvSpPr>
            <p:cNvPr id="18" name="TextBox 18"/>
            <p:cNvSpPr txBox="1"/>
            <p:nvPr/>
          </p:nvSpPr>
          <p:spPr>
            <a:xfrm>
              <a:off x="7842885" y="688181"/>
              <a:ext cx="1066851"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智能化尽调流程</a:t>
              </a:r>
            </a:p>
          </p:txBody>
        </p:sp>
        <p:sp>
          <p:nvSpPr>
            <p:cNvPr id="19" name="TextBox 19"/>
            <p:cNvSpPr txBox="1"/>
            <p:nvPr/>
          </p:nvSpPr>
          <p:spPr>
            <a:xfrm>
              <a:off x="9005888" y="720566"/>
              <a:ext cx="1223797"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标准化、可追溯、可复用</a:t>
              </a:r>
            </a:p>
          </p:txBody>
        </p:sp>
      </p:grpSp>
      <p:grpSp>
        <p:nvGrpSpPr>
          <p:cNvPr id="80" name="left-cards"/>
          <p:cNvGrpSpPr/>
          <p:nvPr/>
        </p:nvGrpSpPr>
        <p:grpSpPr>
          <a:xfrm>
            <a:off x="190500" y="990600"/>
            <a:ext cx="2667000" cy="4076700"/>
            <a:chOff x="190500" y="990600"/>
            <a:chExt cx="2667000" cy="4076700"/>
          </a:xfrm>
        </p:grpSpPr>
        <p:grpSp>
          <p:nvGrpSpPr>
            <p:cNvPr id="29" name="lc-1"/>
            <p:cNvGrpSpPr/>
            <p:nvPr/>
          </p:nvGrpSpPr>
          <p:grpSpPr>
            <a:xfrm>
              <a:off x="190500" y="990600"/>
              <a:ext cx="2667000" cy="647700"/>
              <a:chOff x="190500" y="990600"/>
              <a:chExt cx="2667000" cy="647700"/>
            </a:xfrm>
          </p:grpSpPr>
          <p:sp>
            <p:nvSpPr>
              <p:cNvPr id="21" name="Rectangle 21"/>
              <p:cNvSpPr/>
              <p:nvPr/>
            </p:nvSpPr>
            <p:spPr>
              <a:xfrm>
                <a:off x="190500" y="990600"/>
                <a:ext cx="2667000" cy="647700"/>
              </a:xfrm>
              <a:prstGeom prst="roundRect">
                <a:avLst>
                  <a:gd name="adj" fmla="val 8824"/>
                </a:avLst>
              </a:prstGeom>
              <a:solidFill>
                <a:srgbClr val="F6F9FD"/>
              </a:solidFill>
              <a:ln w="9525">
                <a:solidFill>
                  <a:srgbClr val="CFDFEE"/>
                </a:solidFill>
              </a:ln>
            </p:spPr>
          </p:sp>
          <p:grpSp>
            <p:nvGrpSpPr>
              <p:cNvPr id="26" name="Group 26"/>
              <p:cNvGrpSpPr/>
              <p:nvPr/>
            </p:nvGrpSpPr>
            <p:grpSpPr>
              <a:xfrm>
                <a:off x="316706" y="1212056"/>
                <a:ext cx="165100" cy="196056"/>
                <a:chOff x="316706" y="1212056"/>
                <a:chExt cx="165100" cy="196056"/>
              </a:xfrm>
            </p:grpSpPr>
            <p:sp>
              <p:nvSpPr>
                <p:cNvPr id="22" name="Freeform 22"/>
                <p:cNvSpPr/>
                <p:nvPr/>
              </p:nvSpPr>
              <p:spPr>
                <a:xfrm>
                  <a:off x="430212" y="121205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23" name="Freeform 23"/>
                <p:cNvSpPr/>
                <p:nvPr/>
              </p:nvSpPr>
              <p:spPr>
                <a:xfrm>
                  <a:off x="337344" y="1212056"/>
                  <a:ext cx="144462" cy="185737"/>
                </a:xfrm>
                <a:custGeom>
                  <a:avLst/>
                  <a:gdLst/>
                  <a:ahLst/>
                  <a:cxnLst/>
                  <a:rect l="l" t="t" r="r" b="b"/>
                  <a:pathLst>
                    <a:path w="144462" h="185737">
                      <a:moveTo>
                        <a:pt x="0" y="51594"/>
                      </a:moveTo>
                      <a:lnTo>
                        <a:pt x="0" y="20637"/>
                      </a:lnTo>
                      <a:cubicBezTo>
                        <a:pt x="0" y="9240"/>
                        <a:pt x="9240" y="0"/>
                        <a:pt x="20637" y="0"/>
                      </a:cubicBezTo>
                      <a:lnTo>
                        <a:pt x="92868" y="0"/>
                      </a:lnTo>
                      <a:lnTo>
                        <a:pt x="144462" y="51594"/>
                      </a:lnTo>
                      <a:lnTo>
                        <a:pt x="144462" y="165099"/>
                      </a:lnTo>
                      <a:cubicBezTo>
                        <a:pt x="144462" y="176497"/>
                        <a:pt x="135222" y="185737"/>
                        <a:pt x="123825" y="185737"/>
                      </a:cubicBezTo>
                      <a:lnTo>
                        <a:pt x="72231" y="185737"/>
                      </a:lnTo>
                    </a:path>
                  </a:pathLst>
                </a:custGeom>
                <a:noFill/>
                <a:ln w="20637">
                  <a:solidFill>
                    <a:srgbClr val="92301C"/>
                  </a:solidFill>
                </a:ln>
              </p:spPr>
            </p:sp>
            <p:sp>
              <p:nvSpPr>
                <p:cNvPr id="24" name="Freeform 24"/>
                <p:cNvSpPr/>
                <p:nvPr/>
              </p:nvSpPr>
              <p:spPr>
                <a:xfrm>
                  <a:off x="316706" y="1294606"/>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92301C"/>
                  </a:solidFill>
                </a:ln>
              </p:spPr>
            </p:sp>
            <p:sp>
              <p:nvSpPr>
                <p:cNvPr id="25" name="Freeform 25"/>
                <p:cNvSpPr/>
                <p:nvPr/>
              </p:nvSpPr>
              <p:spPr>
                <a:xfrm>
                  <a:off x="316706" y="1356518"/>
                  <a:ext cx="61912" cy="51594"/>
                </a:xfrm>
                <a:custGeom>
                  <a:avLst/>
                  <a:gdLst/>
                  <a:ahLst/>
                  <a:cxnLst/>
                  <a:rect l="l" t="t" r="r" b="b"/>
                  <a:pathLst>
                    <a:path w="61912" h="51594">
                      <a:moveTo>
                        <a:pt x="15478" y="0"/>
                      </a:moveTo>
                      <a:lnTo>
                        <a:pt x="0" y="51594"/>
                      </a:lnTo>
                      <a:lnTo>
                        <a:pt x="30956" y="36116"/>
                      </a:lnTo>
                      <a:lnTo>
                        <a:pt x="61912" y="51594"/>
                      </a:lnTo>
                      <a:lnTo>
                        <a:pt x="46434" y="0"/>
                      </a:lnTo>
                    </a:path>
                  </a:pathLst>
                </a:custGeom>
                <a:noFill/>
                <a:ln w="20637">
                  <a:solidFill>
                    <a:srgbClr val="92301C"/>
                  </a:solidFill>
                </a:ln>
              </p:spPr>
            </p:sp>
          </p:grpSp>
          <p:sp>
            <p:nvSpPr>
              <p:cNvPr id="27" name="TextBox 27"/>
              <p:cNvSpPr txBox="1"/>
              <p:nvPr/>
            </p:nvSpPr>
            <p:spPr>
              <a:xfrm>
                <a:off x="623697" y="10948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证照数据</a:t>
                </a:r>
              </a:p>
            </p:txBody>
          </p:sp>
          <p:sp>
            <p:nvSpPr>
              <p:cNvPr id="28" name="TextBox 28"/>
              <p:cNvSpPr txBox="1"/>
              <p:nvPr/>
            </p:nvSpPr>
            <p:spPr>
              <a:xfrm>
                <a:off x="623888" y="1309688"/>
                <a:ext cx="1725930"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营业执照、身份证、护照、行业资质等</a:t>
                </a:r>
              </a:p>
            </p:txBody>
          </p:sp>
        </p:grpSp>
        <p:grpSp>
          <p:nvGrpSpPr>
            <p:cNvPr id="42" name="lc-2"/>
            <p:cNvGrpSpPr/>
            <p:nvPr/>
          </p:nvGrpSpPr>
          <p:grpSpPr>
            <a:xfrm>
              <a:off x="190500" y="1676400"/>
              <a:ext cx="2667000" cy="647700"/>
              <a:chOff x="190500" y="1676400"/>
              <a:chExt cx="2667000" cy="647700"/>
            </a:xfrm>
          </p:grpSpPr>
          <p:sp>
            <p:nvSpPr>
              <p:cNvPr id="30" name="Rectangle 30"/>
              <p:cNvSpPr/>
              <p:nvPr/>
            </p:nvSpPr>
            <p:spPr>
              <a:xfrm>
                <a:off x="190500" y="1676400"/>
                <a:ext cx="2667000" cy="647700"/>
              </a:xfrm>
              <a:prstGeom prst="roundRect">
                <a:avLst>
                  <a:gd name="adj" fmla="val 8824"/>
                </a:avLst>
              </a:prstGeom>
              <a:solidFill>
                <a:srgbClr val="F6F9FD"/>
              </a:solidFill>
              <a:ln w="9525">
                <a:solidFill>
                  <a:srgbClr val="CFDFEE"/>
                </a:solidFill>
              </a:ln>
            </p:spPr>
          </p:sp>
          <p:grpSp>
            <p:nvGrpSpPr>
              <p:cNvPr id="39" name="Group 39"/>
              <p:cNvGrpSpPr/>
              <p:nvPr/>
            </p:nvGrpSpPr>
            <p:grpSpPr>
              <a:xfrm>
                <a:off x="316706" y="1897856"/>
                <a:ext cx="185737" cy="195262"/>
                <a:chOff x="316706" y="1897856"/>
                <a:chExt cx="185737" cy="195262"/>
              </a:xfrm>
            </p:grpSpPr>
            <p:sp>
              <p:nvSpPr>
                <p:cNvPr id="31" name="Freeform 31"/>
                <p:cNvSpPr/>
                <p:nvPr/>
              </p:nvSpPr>
              <p:spPr>
                <a:xfrm>
                  <a:off x="316706" y="2083593"/>
                  <a:ext cx="185737" cy="9525"/>
                </a:xfrm>
                <a:custGeom>
                  <a:avLst/>
                  <a:gdLst/>
                  <a:ahLst/>
                  <a:cxnLst/>
                  <a:rect l="l" t="t" r="r" b="b"/>
                  <a:pathLst>
                    <a:path w="185737" h="9525">
                      <a:moveTo>
                        <a:pt x="0" y="0"/>
                      </a:moveTo>
                      <a:lnTo>
                        <a:pt x="185737" y="0"/>
                      </a:lnTo>
                    </a:path>
                  </a:pathLst>
                </a:custGeom>
                <a:noFill/>
                <a:ln w="20637">
                  <a:solidFill>
                    <a:srgbClr val="92301C"/>
                  </a:solidFill>
                </a:ln>
              </p:spPr>
            </p:sp>
            <p:sp>
              <p:nvSpPr>
                <p:cNvPr id="32" name="Freeform 32"/>
                <p:cNvSpPr/>
                <p:nvPr/>
              </p:nvSpPr>
              <p:spPr>
                <a:xfrm>
                  <a:off x="378618" y="1949450"/>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33" name="Freeform 33"/>
                <p:cNvSpPr/>
                <p:nvPr/>
              </p:nvSpPr>
              <p:spPr>
                <a:xfrm>
                  <a:off x="378618" y="1990725"/>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34" name="Freeform 34"/>
                <p:cNvSpPr/>
                <p:nvPr/>
              </p:nvSpPr>
              <p:spPr>
                <a:xfrm>
                  <a:off x="378618" y="2031999"/>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35" name="Freeform 35"/>
                <p:cNvSpPr/>
                <p:nvPr/>
              </p:nvSpPr>
              <p:spPr>
                <a:xfrm>
                  <a:off x="430212" y="1949450"/>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36" name="Freeform 36"/>
                <p:cNvSpPr/>
                <p:nvPr/>
              </p:nvSpPr>
              <p:spPr>
                <a:xfrm>
                  <a:off x="430212" y="1990725"/>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37" name="Freeform 37"/>
                <p:cNvSpPr/>
                <p:nvPr/>
              </p:nvSpPr>
              <p:spPr>
                <a:xfrm>
                  <a:off x="430212" y="2031999"/>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38" name="Freeform 38"/>
                <p:cNvSpPr/>
                <p:nvPr/>
              </p:nvSpPr>
              <p:spPr>
                <a:xfrm>
                  <a:off x="337344" y="1897856"/>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path>
                  </a:pathLst>
                </a:custGeom>
                <a:noFill/>
                <a:ln w="20637">
                  <a:solidFill>
                    <a:srgbClr val="92301C"/>
                  </a:solidFill>
                </a:ln>
              </p:spPr>
            </p:sp>
          </p:grpSp>
          <p:sp>
            <p:nvSpPr>
              <p:cNvPr id="40" name="TextBox 40"/>
              <p:cNvSpPr txBox="1"/>
              <p:nvPr/>
            </p:nvSpPr>
            <p:spPr>
              <a:xfrm>
                <a:off x="623697" y="17806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工商信息</a:t>
                </a:r>
              </a:p>
            </p:txBody>
          </p:sp>
          <p:sp>
            <p:nvSpPr>
              <p:cNvPr id="41" name="TextBox 41"/>
              <p:cNvSpPr txBox="1"/>
              <p:nvPr/>
            </p:nvSpPr>
            <p:spPr>
              <a:xfrm>
                <a:off x="623888" y="1995488"/>
                <a:ext cx="182689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企业登记、股东变更、对外投资、年报等</a:t>
                </a:r>
              </a:p>
            </p:txBody>
          </p:sp>
        </p:grpSp>
        <p:grpSp>
          <p:nvGrpSpPr>
            <p:cNvPr id="52" name="lc-3"/>
            <p:cNvGrpSpPr/>
            <p:nvPr/>
          </p:nvGrpSpPr>
          <p:grpSpPr>
            <a:xfrm>
              <a:off x="190500" y="2362200"/>
              <a:ext cx="2667000" cy="647700"/>
              <a:chOff x="190500" y="2362200"/>
              <a:chExt cx="2667000" cy="647700"/>
            </a:xfrm>
          </p:grpSpPr>
          <p:sp>
            <p:nvSpPr>
              <p:cNvPr id="43" name="Rectangle 43"/>
              <p:cNvSpPr/>
              <p:nvPr/>
            </p:nvSpPr>
            <p:spPr>
              <a:xfrm>
                <a:off x="190500" y="2362200"/>
                <a:ext cx="2667000" cy="647700"/>
              </a:xfrm>
              <a:prstGeom prst="roundRect">
                <a:avLst>
                  <a:gd name="adj" fmla="val 8824"/>
                </a:avLst>
              </a:prstGeom>
              <a:solidFill>
                <a:srgbClr val="F6F9FD"/>
              </a:solidFill>
              <a:ln w="9525">
                <a:solidFill>
                  <a:srgbClr val="CFDFEE"/>
                </a:solidFill>
              </a:ln>
            </p:spPr>
          </p:sp>
          <p:grpSp>
            <p:nvGrpSpPr>
              <p:cNvPr id="49" name="Group 49"/>
              <p:cNvGrpSpPr/>
              <p:nvPr/>
            </p:nvGrpSpPr>
            <p:grpSpPr>
              <a:xfrm>
                <a:off x="314814" y="2581764"/>
                <a:ext cx="189755" cy="197154"/>
                <a:chOff x="314814" y="2581764"/>
                <a:chExt cx="189755" cy="197154"/>
              </a:xfrm>
            </p:grpSpPr>
            <p:sp>
              <p:nvSpPr>
                <p:cNvPr id="44" name="Freeform 44"/>
                <p:cNvSpPr/>
                <p:nvPr/>
              </p:nvSpPr>
              <p:spPr>
                <a:xfrm>
                  <a:off x="388937" y="2655887"/>
                  <a:ext cx="115632" cy="115608"/>
                </a:xfrm>
                <a:custGeom>
                  <a:avLst/>
                  <a:gdLst/>
                  <a:ahLst/>
                  <a:cxnLst/>
                  <a:rect l="l" t="t" r="r" b="b"/>
                  <a:pathLst>
                    <a:path w="115632" h="115608">
                      <a:moveTo>
                        <a:pt x="30956" y="0"/>
                      </a:moveTo>
                      <a:lnTo>
                        <a:pt x="107139" y="76544"/>
                      </a:lnTo>
                      <a:cubicBezTo>
                        <a:pt x="115632" y="85006"/>
                        <a:pt x="115632" y="98709"/>
                        <a:pt x="107139" y="107160"/>
                      </a:cubicBezTo>
                      <a:cubicBezTo>
                        <a:pt x="98646" y="115608"/>
                        <a:pt x="84924" y="115608"/>
                        <a:pt x="76431" y="107160"/>
                      </a:cubicBezTo>
                      <a:lnTo>
                        <a:pt x="0" y="30956"/>
                      </a:lnTo>
                    </a:path>
                  </a:pathLst>
                </a:custGeom>
                <a:noFill/>
                <a:ln w="20637">
                  <a:solidFill>
                    <a:srgbClr val="92301C"/>
                  </a:solidFill>
                </a:ln>
              </p:spPr>
            </p:sp>
            <p:sp>
              <p:nvSpPr>
                <p:cNvPr id="45" name="Freeform 45"/>
                <p:cNvSpPr/>
                <p:nvPr/>
              </p:nvSpPr>
              <p:spPr>
                <a:xfrm>
                  <a:off x="347662" y="2645568"/>
                  <a:ext cx="41275" cy="41275"/>
                </a:xfrm>
                <a:custGeom>
                  <a:avLst/>
                  <a:gdLst/>
                  <a:ahLst/>
                  <a:cxnLst/>
                  <a:rect l="l" t="t" r="r" b="b"/>
                  <a:pathLst>
                    <a:path w="41275" h="41275">
                      <a:moveTo>
                        <a:pt x="0" y="0"/>
                      </a:moveTo>
                      <a:lnTo>
                        <a:pt x="41275" y="41275"/>
                      </a:lnTo>
                    </a:path>
                  </a:pathLst>
                </a:custGeom>
                <a:noFill/>
                <a:ln w="20637">
                  <a:solidFill>
                    <a:srgbClr val="92301C"/>
                  </a:solidFill>
                </a:ln>
              </p:spPr>
            </p:sp>
            <p:sp>
              <p:nvSpPr>
                <p:cNvPr id="46" name="Freeform 46"/>
                <p:cNvSpPr/>
                <p:nvPr/>
              </p:nvSpPr>
              <p:spPr>
                <a:xfrm>
                  <a:off x="378618" y="2614612"/>
                  <a:ext cx="41275" cy="41275"/>
                </a:xfrm>
                <a:custGeom>
                  <a:avLst/>
                  <a:gdLst/>
                  <a:ahLst/>
                  <a:cxnLst/>
                  <a:rect l="l" t="t" r="r" b="b"/>
                  <a:pathLst>
                    <a:path w="41275" h="41275">
                      <a:moveTo>
                        <a:pt x="41275" y="41275"/>
                      </a:moveTo>
                      <a:lnTo>
                        <a:pt x="0" y="0"/>
                      </a:lnTo>
                    </a:path>
                  </a:pathLst>
                </a:custGeom>
                <a:noFill/>
                <a:ln w="20637">
                  <a:solidFill>
                    <a:srgbClr val="92301C"/>
                  </a:solidFill>
                </a:ln>
              </p:spPr>
            </p:sp>
            <p:sp>
              <p:nvSpPr>
                <p:cNvPr id="47" name="Freeform 47"/>
                <p:cNvSpPr/>
                <p:nvPr/>
              </p:nvSpPr>
              <p:spPr>
                <a:xfrm>
                  <a:off x="316706" y="2769393"/>
                  <a:ext cx="72231" cy="9525"/>
                </a:xfrm>
                <a:custGeom>
                  <a:avLst/>
                  <a:gdLst/>
                  <a:ahLst/>
                  <a:cxnLst/>
                  <a:rect l="l" t="t" r="r" b="b"/>
                  <a:pathLst>
                    <a:path w="72231" h="9525">
                      <a:moveTo>
                        <a:pt x="0" y="0"/>
                      </a:moveTo>
                      <a:lnTo>
                        <a:pt x="72231" y="0"/>
                      </a:lnTo>
                    </a:path>
                  </a:pathLst>
                </a:custGeom>
                <a:noFill/>
                <a:ln w="20637">
                  <a:solidFill>
                    <a:srgbClr val="92301C"/>
                  </a:solidFill>
                </a:ln>
              </p:spPr>
            </p:sp>
            <p:sp>
              <p:nvSpPr>
                <p:cNvPr id="48" name="Freeform 48"/>
                <p:cNvSpPr/>
                <p:nvPr/>
              </p:nvSpPr>
              <p:spPr>
                <a:xfrm>
                  <a:off x="314814" y="2581764"/>
                  <a:ext cx="137928" cy="137928"/>
                </a:xfrm>
                <a:custGeom>
                  <a:avLst/>
                  <a:gdLst/>
                  <a:ahLst/>
                  <a:cxnLst/>
                  <a:rect l="l" t="t" r="r" b="b"/>
                  <a:pathLst>
                    <a:path w="137928" h="137928">
                      <a:moveTo>
                        <a:pt x="41031" y="133900"/>
                      </a:moveTo>
                      <a:lnTo>
                        <a:pt x="4028" y="96897"/>
                      </a:lnTo>
                      <a:cubicBezTo>
                        <a:pt x="0" y="92867"/>
                        <a:pt x="0" y="86335"/>
                        <a:pt x="4028" y="82306"/>
                      </a:cubicBezTo>
                      <a:lnTo>
                        <a:pt x="27689" y="58645"/>
                      </a:lnTo>
                      <a:lnTo>
                        <a:pt x="32848" y="63805"/>
                      </a:lnTo>
                      <a:lnTo>
                        <a:pt x="63805" y="32848"/>
                      </a:lnTo>
                      <a:lnTo>
                        <a:pt x="58645" y="27689"/>
                      </a:lnTo>
                      <a:lnTo>
                        <a:pt x="82306" y="4028"/>
                      </a:lnTo>
                      <a:cubicBezTo>
                        <a:pt x="86335" y="0"/>
                        <a:pt x="92867" y="0"/>
                        <a:pt x="96897" y="4028"/>
                      </a:cubicBezTo>
                      <a:lnTo>
                        <a:pt x="133900" y="41031"/>
                      </a:lnTo>
                      <a:cubicBezTo>
                        <a:pt x="137928" y="45061"/>
                        <a:pt x="137928" y="51592"/>
                        <a:pt x="133900" y="55622"/>
                      </a:cubicBezTo>
                      <a:lnTo>
                        <a:pt x="110239" y="79283"/>
                      </a:lnTo>
                      <a:lnTo>
                        <a:pt x="105079" y="74123"/>
                      </a:lnTo>
                      <a:lnTo>
                        <a:pt x="74123" y="105079"/>
                      </a:lnTo>
                      <a:lnTo>
                        <a:pt x="79283" y="110239"/>
                      </a:lnTo>
                      <a:lnTo>
                        <a:pt x="55622" y="133900"/>
                      </a:lnTo>
                      <a:cubicBezTo>
                        <a:pt x="51592" y="137928"/>
                        <a:pt x="45061" y="137928"/>
                        <a:pt x="41031" y="133900"/>
                      </a:cubicBezTo>
                    </a:path>
                  </a:pathLst>
                </a:custGeom>
                <a:noFill/>
                <a:ln w="20637">
                  <a:solidFill>
                    <a:srgbClr val="92301C"/>
                  </a:solidFill>
                </a:ln>
              </p:spPr>
            </p:sp>
          </p:grpSp>
          <p:sp>
            <p:nvSpPr>
              <p:cNvPr id="50" name="TextBox 50"/>
              <p:cNvSpPr txBox="1"/>
              <p:nvPr/>
            </p:nvSpPr>
            <p:spPr>
              <a:xfrm>
                <a:off x="623697" y="24664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司法信息</a:t>
                </a:r>
              </a:p>
            </p:txBody>
          </p:sp>
          <p:sp>
            <p:nvSpPr>
              <p:cNvPr id="51" name="TextBox 51"/>
              <p:cNvSpPr txBox="1"/>
              <p:nvPr/>
            </p:nvSpPr>
            <p:spPr>
              <a:xfrm>
                <a:off x="623888" y="2681288"/>
                <a:ext cx="1725930"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涉诉案件、失信被执行人、行政处罚等</a:t>
                </a:r>
              </a:p>
            </p:txBody>
          </p:sp>
        </p:grpSp>
        <p:grpSp>
          <p:nvGrpSpPr>
            <p:cNvPr id="59" name="lc-4"/>
            <p:cNvGrpSpPr/>
            <p:nvPr/>
          </p:nvGrpSpPr>
          <p:grpSpPr>
            <a:xfrm>
              <a:off x="190500" y="3048000"/>
              <a:ext cx="2667000" cy="647700"/>
              <a:chOff x="190500" y="3048000"/>
              <a:chExt cx="2667000" cy="647700"/>
            </a:xfrm>
          </p:grpSpPr>
          <p:sp>
            <p:nvSpPr>
              <p:cNvPr id="53" name="Rectangle 53"/>
              <p:cNvSpPr/>
              <p:nvPr/>
            </p:nvSpPr>
            <p:spPr>
              <a:xfrm>
                <a:off x="190500" y="3048000"/>
                <a:ext cx="2667000" cy="647700"/>
              </a:xfrm>
              <a:prstGeom prst="roundRect">
                <a:avLst>
                  <a:gd name="adj" fmla="val 8824"/>
                </a:avLst>
              </a:prstGeom>
              <a:solidFill>
                <a:srgbClr val="F6F9FD"/>
              </a:solidFill>
              <a:ln w="9525">
                <a:solidFill>
                  <a:srgbClr val="CFDFEE"/>
                </a:solidFill>
              </a:ln>
            </p:spPr>
          </p:sp>
          <p:grpSp>
            <p:nvGrpSpPr>
              <p:cNvPr id="56" name="Group 56"/>
              <p:cNvGrpSpPr/>
              <p:nvPr/>
            </p:nvGrpSpPr>
            <p:grpSpPr>
              <a:xfrm>
                <a:off x="316706" y="3269456"/>
                <a:ext cx="185737" cy="185737"/>
                <a:chOff x="316706" y="3269456"/>
                <a:chExt cx="185737" cy="185737"/>
              </a:xfrm>
            </p:grpSpPr>
            <p:sp>
              <p:nvSpPr>
                <p:cNvPr id="54" name="Freeform 54"/>
                <p:cNvSpPr/>
                <p:nvPr/>
              </p:nvSpPr>
              <p:spPr>
                <a:xfrm>
                  <a:off x="316706" y="32694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92301C"/>
                  </a:solidFill>
                </a:ln>
              </p:spPr>
            </p:sp>
            <p:sp>
              <p:nvSpPr>
                <p:cNvPr id="55" name="Freeform 55"/>
                <p:cNvSpPr/>
                <p:nvPr/>
              </p:nvSpPr>
              <p:spPr>
                <a:xfrm>
                  <a:off x="344567" y="3297317"/>
                  <a:ext cx="130016" cy="130016"/>
                </a:xfrm>
                <a:custGeom>
                  <a:avLst/>
                  <a:gdLst/>
                  <a:ahLst/>
                  <a:cxnLst/>
                  <a:rect l="l" t="t" r="r" b="b"/>
                  <a:pathLst>
                    <a:path w="130016" h="130016">
                      <a:moveTo>
                        <a:pt x="0" y="0"/>
                      </a:moveTo>
                      <a:lnTo>
                        <a:pt x="130016" y="130016"/>
                      </a:lnTo>
                    </a:path>
                  </a:pathLst>
                </a:custGeom>
                <a:noFill/>
                <a:ln w="20637">
                  <a:solidFill>
                    <a:srgbClr val="92301C"/>
                  </a:solidFill>
                </a:ln>
              </p:spPr>
            </p:sp>
          </p:grpSp>
          <p:sp>
            <p:nvSpPr>
              <p:cNvPr id="57" name="TextBox 57"/>
              <p:cNvSpPr txBox="1"/>
              <p:nvPr/>
            </p:nvSpPr>
            <p:spPr>
              <a:xfrm>
                <a:off x="623697" y="31522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制裁名单</a:t>
                </a:r>
              </a:p>
            </p:txBody>
          </p:sp>
          <p:sp>
            <p:nvSpPr>
              <p:cNvPr id="58" name="TextBox 58"/>
              <p:cNvSpPr txBox="1"/>
              <p:nvPr/>
            </p:nvSpPr>
            <p:spPr>
              <a:xfrm>
                <a:off x="623888" y="3367088"/>
                <a:ext cx="2022266"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j-lt"/>
                    <a:ea typeface="+mj-ea"/>
                    <a:cs typeface="+mj-cs"/>
                  </a:rPr>
                  <a:t xml:space="preserve">联合国、OFAC、欧盟、境内外制裁名单等　</a:t>
                </a:r>
              </a:p>
            </p:txBody>
          </p:sp>
        </p:grpSp>
        <p:grpSp>
          <p:nvGrpSpPr>
            <p:cNvPr id="70" name="lc-5"/>
            <p:cNvGrpSpPr/>
            <p:nvPr/>
          </p:nvGrpSpPr>
          <p:grpSpPr>
            <a:xfrm>
              <a:off x="190500" y="3733800"/>
              <a:ext cx="2667000" cy="647700"/>
              <a:chOff x="190500" y="3733800"/>
              <a:chExt cx="2667000" cy="647700"/>
            </a:xfrm>
          </p:grpSpPr>
          <p:sp>
            <p:nvSpPr>
              <p:cNvPr id="60" name="Rectangle 60"/>
              <p:cNvSpPr/>
              <p:nvPr/>
            </p:nvSpPr>
            <p:spPr>
              <a:xfrm>
                <a:off x="190500" y="3733800"/>
                <a:ext cx="2667000" cy="647700"/>
              </a:xfrm>
              <a:prstGeom prst="roundRect">
                <a:avLst>
                  <a:gd name="adj" fmla="val 8824"/>
                </a:avLst>
              </a:prstGeom>
              <a:solidFill>
                <a:srgbClr val="F6F9FD"/>
              </a:solidFill>
              <a:ln w="9525">
                <a:solidFill>
                  <a:srgbClr val="CFDFEE"/>
                </a:solidFill>
              </a:ln>
            </p:spPr>
          </p:sp>
          <p:grpSp>
            <p:nvGrpSpPr>
              <p:cNvPr id="67" name="Group 67"/>
              <p:cNvGrpSpPr/>
              <p:nvPr/>
            </p:nvGrpSpPr>
            <p:grpSpPr>
              <a:xfrm>
                <a:off x="316706" y="3955256"/>
                <a:ext cx="185737" cy="185737"/>
                <a:chOff x="316706" y="3955256"/>
                <a:chExt cx="185737" cy="185737"/>
              </a:xfrm>
            </p:grpSpPr>
            <p:sp>
              <p:nvSpPr>
                <p:cNvPr id="61" name="Freeform 61"/>
                <p:cNvSpPr/>
                <p:nvPr/>
              </p:nvSpPr>
              <p:spPr>
                <a:xfrm>
                  <a:off x="388937" y="40378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62" name="Freeform 62"/>
                <p:cNvSpPr/>
                <p:nvPr/>
              </p:nvSpPr>
              <p:spPr>
                <a:xfrm>
                  <a:off x="368300" y="411003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92301C"/>
                  </a:solidFill>
                </a:ln>
              </p:spPr>
            </p:sp>
            <p:sp>
              <p:nvSpPr>
                <p:cNvPr id="63" name="Freeform 63"/>
                <p:cNvSpPr/>
                <p:nvPr/>
              </p:nvSpPr>
              <p:spPr>
                <a:xfrm>
                  <a:off x="440531" y="39552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64" name="Freeform 64"/>
                <p:cNvSpPr/>
                <p:nvPr/>
              </p:nvSpPr>
              <p:spPr>
                <a:xfrm>
                  <a:off x="461168" y="402748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92301C"/>
                  </a:solidFill>
                </a:ln>
              </p:spPr>
            </p:sp>
            <p:sp>
              <p:nvSpPr>
                <p:cNvPr id="65" name="Freeform 65"/>
                <p:cNvSpPr/>
                <p:nvPr/>
              </p:nvSpPr>
              <p:spPr>
                <a:xfrm>
                  <a:off x="337344" y="39552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66" name="Freeform 66"/>
                <p:cNvSpPr/>
                <p:nvPr/>
              </p:nvSpPr>
              <p:spPr>
                <a:xfrm>
                  <a:off x="316706" y="402748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92301C"/>
                  </a:solidFill>
                </a:ln>
              </p:spPr>
            </p:sp>
          </p:grpSp>
          <p:sp>
            <p:nvSpPr>
              <p:cNvPr id="68" name="TextBox 68"/>
              <p:cNvSpPr txBox="1"/>
              <p:nvPr/>
            </p:nvSpPr>
            <p:spPr>
              <a:xfrm>
                <a:off x="623697" y="3838099"/>
                <a:ext cx="669544"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受益所有人</a:t>
                </a:r>
              </a:p>
            </p:txBody>
          </p:sp>
          <p:sp>
            <p:nvSpPr>
              <p:cNvPr id="69" name="TextBox 69"/>
              <p:cNvSpPr txBox="1"/>
              <p:nvPr/>
            </p:nvSpPr>
            <p:spPr>
              <a:xfrm>
                <a:off x="623888" y="4052888"/>
                <a:ext cx="1826895"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最终受益人、实际控制人、股权穿透信息</a:t>
                </a:r>
              </a:p>
            </p:txBody>
          </p:sp>
        </p:grpSp>
        <p:grpSp>
          <p:nvGrpSpPr>
            <p:cNvPr id="79" name="lc-6"/>
            <p:cNvGrpSpPr/>
            <p:nvPr/>
          </p:nvGrpSpPr>
          <p:grpSpPr>
            <a:xfrm>
              <a:off x="190500" y="4419600"/>
              <a:ext cx="2667000" cy="647700"/>
              <a:chOff x="190500" y="4419600"/>
              <a:chExt cx="2667000" cy="647700"/>
            </a:xfrm>
          </p:grpSpPr>
          <p:sp>
            <p:nvSpPr>
              <p:cNvPr id="71" name="Rectangle 71"/>
              <p:cNvSpPr/>
              <p:nvPr/>
            </p:nvSpPr>
            <p:spPr>
              <a:xfrm>
                <a:off x="190500" y="4419600"/>
                <a:ext cx="2667000" cy="647700"/>
              </a:xfrm>
              <a:prstGeom prst="roundRect">
                <a:avLst>
                  <a:gd name="adj" fmla="val 8824"/>
                </a:avLst>
              </a:prstGeom>
              <a:solidFill>
                <a:srgbClr val="F6F9FD"/>
              </a:solidFill>
              <a:ln w="9525">
                <a:solidFill>
                  <a:srgbClr val="CFDFEE"/>
                </a:solidFill>
              </a:ln>
            </p:spPr>
          </p:sp>
          <p:grpSp>
            <p:nvGrpSpPr>
              <p:cNvPr id="76" name="Group 76"/>
              <p:cNvGrpSpPr/>
              <p:nvPr/>
            </p:nvGrpSpPr>
            <p:grpSpPr>
              <a:xfrm>
                <a:off x="316706" y="4661694"/>
                <a:ext cx="185737" cy="144462"/>
                <a:chOff x="316706" y="4661694"/>
                <a:chExt cx="185737" cy="144462"/>
              </a:xfrm>
            </p:grpSpPr>
            <p:sp>
              <p:nvSpPr>
                <p:cNvPr id="72" name="Freeform 72"/>
                <p:cNvSpPr/>
                <p:nvPr/>
              </p:nvSpPr>
              <p:spPr>
                <a:xfrm>
                  <a:off x="316706" y="4661694"/>
                  <a:ext cx="185737" cy="144462"/>
                </a:xfrm>
                <a:custGeom>
                  <a:avLst/>
                  <a:gdLst/>
                  <a:ahLst/>
                  <a:cxnLst/>
                  <a:rect l="l" t="t" r="r" b="b"/>
                  <a:pathLst>
                    <a:path w="185737" h="144462">
                      <a:moveTo>
                        <a:pt x="0" y="30956"/>
                      </a:moveTo>
                      <a:cubicBezTo>
                        <a:pt x="0" y="13860"/>
                        <a:pt x="13860" y="0"/>
                        <a:pt x="30956" y="0"/>
                      </a:cubicBezTo>
                      <a:lnTo>
                        <a:pt x="154781" y="0"/>
                      </a:lnTo>
                      <a:cubicBezTo>
                        <a:pt x="171877" y="0"/>
                        <a:pt x="185737" y="13860"/>
                        <a:pt x="185737" y="30956"/>
                      </a:cubicBezTo>
                      <a:lnTo>
                        <a:pt x="185737" y="113506"/>
                      </a:lnTo>
                      <a:cubicBezTo>
                        <a:pt x="185737" y="130603"/>
                        <a:pt x="171877" y="144462"/>
                        <a:pt x="154781" y="144462"/>
                      </a:cubicBezTo>
                      <a:lnTo>
                        <a:pt x="30956" y="144462"/>
                      </a:lnTo>
                      <a:cubicBezTo>
                        <a:pt x="13860" y="144462"/>
                        <a:pt x="0" y="130603"/>
                        <a:pt x="0" y="113506"/>
                      </a:cubicBezTo>
                      <a:lnTo>
                        <a:pt x="0" y="30956"/>
                      </a:lnTo>
                    </a:path>
                  </a:pathLst>
                </a:custGeom>
                <a:noFill/>
                <a:ln w="20637">
                  <a:solidFill>
                    <a:srgbClr val="92301C"/>
                  </a:solidFill>
                </a:ln>
              </p:spPr>
            </p:sp>
            <p:sp>
              <p:nvSpPr>
                <p:cNvPr id="73" name="Freeform 73"/>
                <p:cNvSpPr/>
                <p:nvPr/>
              </p:nvSpPr>
              <p:spPr>
                <a:xfrm>
                  <a:off x="316706" y="4713287"/>
                  <a:ext cx="185737" cy="9525"/>
                </a:xfrm>
                <a:custGeom>
                  <a:avLst/>
                  <a:gdLst/>
                  <a:ahLst/>
                  <a:cxnLst/>
                  <a:rect l="l" t="t" r="r" b="b"/>
                  <a:pathLst>
                    <a:path w="185737" h="9525">
                      <a:moveTo>
                        <a:pt x="0" y="0"/>
                      </a:moveTo>
                      <a:lnTo>
                        <a:pt x="185737" y="0"/>
                      </a:lnTo>
                    </a:path>
                  </a:pathLst>
                </a:custGeom>
                <a:noFill/>
                <a:ln w="20637">
                  <a:solidFill>
                    <a:srgbClr val="92301C"/>
                  </a:solidFill>
                </a:ln>
              </p:spPr>
            </p:sp>
            <p:sp>
              <p:nvSpPr>
                <p:cNvPr id="74" name="Freeform 74"/>
                <p:cNvSpPr/>
                <p:nvPr/>
              </p:nvSpPr>
              <p:spPr>
                <a:xfrm>
                  <a:off x="357981" y="4764881"/>
                  <a:ext cx="9525" cy="9525"/>
                </a:xfrm>
                <a:custGeom>
                  <a:avLst/>
                  <a:gdLst/>
                  <a:ahLst/>
                  <a:cxnLst/>
                  <a:rect l="l" t="t" r="r" b="b"/>
                  <a:pathLst>
                    <a:path w="9525" h="9525">
                      <a:moveTo>
                        <a:pt x="0" y="0"/>
                      </a:moveTo>
                      <a:lnTo>
                        <a:pt x="103" y="0"/>
                      </a:lnTo>
                    </a:path>
                  </a:pathLst>
                </a:custGeom>
                <a:noFill/>
                <a:ln w="20637">
                  <a:solidFill>
                    <a:srgbClr val="92301C"/>
                  </a:solidFill>
                </a:ln>
              </p:spPr>
            </p:sp>
            <p:sp>
              <p:nvSpPr>
                <p:cNvPr id="75" name="Freeform 75"/>
                <p:cNvSpPr/>
                <p:nvPr/>
              </p:nvSpPr>
              <p:spPr>
                <a:xfrm>
                  <a:off x="399256" y="4764881"/>
                  <a:ext cx="20637" cy="9525"/>
                </a:xfrm>
                <a:custGeom>
                  <a:avLst/>
                  <a:gdLst/>
                  <a:ahLst/>
                  <a:cxnLst/>
                  <a:rect l="l" t="t" r="r" b="b"/>
                  <a:pathLst>
                    <a:path w="20637" h="9525">
                      <a:moveTo>
                        <a:pt x="0" y="0"/>
                      </a:moveTo>
                      <a:lnTo>
                        <a:pt x="20637" y="0"/>
                      </a:lnTo>
                    </a:path>
                  </a:pathLst>
                </a:custGeom>
                <a:noFill/>
                <a:ln w="20637">
                  <a:solidFill>
                    <a:srgbClr val="92301C"/>
                  </a:solidFill>
                </a:ln>
              </p:spPr>
            </p:sp>
          </p:grpSp>
          <p:sp>
            <p:nvSpPr>
              <p:cNvPr id="77" name="TextBox 77"/>
              <p:cNvSpPr txBox="1"/>
              <p:nvPr/>
            </p:nvSpPr>
            <p:spPr>
              <a:xfrm>
                <a:off x="623697" y="45238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交易账户</a:t>
                </a:r>
              </a:p>
            </p:txBody>
          </p:sp>
          <p:sp>
            <p:nvSpPr>
              <p:cNvPr id="78" name="TextBox 78"/>
              <p:cNvSpPr txBox="1"/>
              <p:nvPr/>
            </p:nvSpPr>
            <p:spPr>
              <a:xfrm>
                <a:off x="623888" y="4738688"/>
                <a:ext cx="1725930" cy="147638"/>
              </a:xfrm>
              <a:prstGeom prst="rect">
                <a:avLst/>
              </a:prstGeom>
              <a:noFill/>
              <a:ln>
                <a:noFill/>
              </a:ln>
            </p:spPr>
            <p:txBody>
              <a:bodyPr wrap="none" lIns="0" tIns="0" rIns="0" bIns="0" anchor="t" anchorCtr="0">
                <a:spAutoFit/>
              </a:bodyPr>
              <a:lstStyle/>
              <a:p>
                <a:pPr algn="l"/>
                <a:r>
                  <a:rPr lang="zh-CN" sz="750" dirty="0">
                    <a:solidFill>
                      <a:srgbClr val="52352F"/>
                    </a:solidFill>
                    <a:latin typeface="+mn-lt"/>
                    <a:ea typeface="+mn-ea"/>
                    <a:cs typeface="+mn-cs"/>
                  </a:rPr>
                  <a:t>银行账户、支付账户、历史交易流水等</a:t>
                </a:r>
              </a:p>
            </p:txBody>
          </p:sp>
        </p:grpSp>
      </p:grpSp>
      <p:grpSp>
        <p:nvGrpSpPr>
          <p:cNvPr id="150" name="mid-graph"/>
          <p:cNvGrpSpPr/>
          <p:nvPr/>
        </p:nvGrpSpPr>
        <p:grpSpPr>
          <a:xfrm>
            <a:off x="2952750" y="990600"/>
            <a:ext cx="4667250" cy="4191000"/>
            <a:chOff x="2952750" y="990600"/>
            <a:chExt cx="4667250" cy="4191000"/>
          </a:xfrm>
        </p:grpSpPr>
        <p:sp>
          <p:nvSpPr>
            <p:cNvPr id="81" name="Rectangle 81"/>
            <p:cNvSpPr/>
            <p:nvPr/>
          </p:nvSpPr>
          <p:spPr>
            <a:xfrm>
              <a:off x="2952750" y="990600"/>
              <a:ext cx="4667250" cy="4191000"/>
            </a:xfrm>
            <a:prstGeom prst="roundRect">
              <a:avLst>
                <a:gd name="adj" fmla="val 1818"/>
              </a:avLst>
            </a:prstGeom>
            <a:solidFill>
              <a:srgbClr val="F6F9FD"/>
            </a:solidFill>
            <a:ln w="9525">
              <a:solidFill>
                <a:srgbClr val="CFDFEE"/>
              </a:solidFill>
            </a:ln>
          </p:spPr>
        </p:sp>
        <p:sp>
          <p:nvSpPr>
            <p:cNvPr id="82" name="Line 82"/>
            <p:cNvSpPr/>
            <p:nvPr/>
          </p:nvSpPr>
          <p:spPr>
            <a:xfrm>
              <a:off x="5286375" y="2057400"/>
              <a:ext cx="1" cy="609600"/>
            </a:xfrm>
            <a:prstGeom prst="line">
              <a:avLst/>
            </a:prstGeom>
            <a:noFill/>
            <a:ln w="14288">
              <a:solidFill>
                <a:srgbClr val="92301C"/>
              </a:solidFill>
              <a:tailEnd type="triangle" w="lg" len="lg"/>
            </a:ln>
          </p:spPr>
        </p:sp>
        <p:sp>
          <p:nvSpPr>
            <p:cNvPr id="83" name="TextBox 83"/>
            <p:cNvSpPr txBox="1"/>
            <p:nvPr/>
          </p:nvSpPr>
          <p:spPr>
            <a:xfrm>
              <a:off x="5386388" y="2315289"/>
              <a:ext cx="222225" cy="154781"/>
            </a:xfrm>
            <a:prstGeom prst="rect">
              <a:avLst/>
            </a:prstGeom>
            <a:noFill/>
            <a:ln>
              <a:noFill/>
            </a:ln>
          </p:spPr>
          <p:txBody>
            <a:bodyPr wrap="none" lIns="0" tIns="0" rIns="0" bIns="0" anchor="t" anchorCtr="0">
              <a:spAutoFit/>
            </a:bodyPr>
            <a:lstStyle/>
            <a:p>
              <a:pPr algn="l"/>
              <a:r>
                <a:rPr lang="zh-CN" sz="790" dirty="0">
                  <a:solidFill>
                    <a:srgbClr val="52352F"/>
                  </a:solidFill>
                  <a:latin typeface="+mn-lt"/>
                  <a:ea typeface="+mn-ea"/>
                  <a:cs typeface="+mn-cs"/>
                </a:rPr>
                <a:t>控制</a:t>
              </a:r>
            </a:p>
          </p:txBody>
        </p:sp>
        <p:sp>
          <p:nvSpPr>
            <p:cNvPr id="84" name="Line 84"/>
            <p:cNvSpPr/>
            <p:nvPr/>
          </p:nvSpPr>
          <p:spPr>
            <a:xfrm>
              <a:off x="4095750" y="3143250"/>
              <a:ext cx="704850" cy="1"/>
            </a:xfrm>
            <a:prstGeom prst="line">
              <a:avLst/>
            </a:prstGeom>
            <a:noFill/>
            <a:ln w="14288">
              <a:solidFill>
                <a:srgbClr val="92301C"/>
              </a:solidFill>
              <a:tailEnd type="triangle" w="lg" len="lg"/>
            </a:ln>
          </p:spPr>
        </p:sp>
        <p:sp>
          <p:nvSpPr>
            <p:cNvPr id="85" name="TextBox 85"/>
            <p:cNvSpPr txBox="1"/>
            <p:nvPr/>
          </p:nvSpPr>
          <p:spPr>
            <a:xfrm>
              <a:off x="4327538" y="2982039"/>
              <a:ext cx="222225" cy="154781"/>
            </a:xfrm>
            <a:prstGeom prst="rect">
              <a:avLst/>
            </a:prstGeom>
            <a:noFill/>
            <a:ln>
              <a:noFill/>
            </a:ln>
          </p:spPr>
          <p:txBody>
            <a:bodyPr wrap="none" lIns="0" tIns="0" rIns="0" bIns="0" anchor="t" anchorCtr="0">
              <a:spAutoFit/>
            </a:bodyPr>
            <a:lstStyle/>
            <a:p>
              <a:pPr algn="ctr"/>
              <a:r>
                <a:rPr lang="zh-CN" sz="790" dirty="0">
                  <a:solidFill>
                    <a:srgbClr val="52352F"/>
                  </a:solidFill>
                  <a:latin typeface="+mn-lt"/>
                  <a:ea typeface="+mn-ea"/>
                  <a:cs typeface="+mn-cs"/>
                </a:rPr>
                <a:t>持股</a:t>
              </a:r>
            </a:p>
          </p:txBody>
        </p:sp>
        <p:sp>
          <p:nvSpPr>
            <p:cNvPr id="86" name="Line 86"/>
            <p:cNvSpPr/>
            <p:nvPr/>
          </p:nvSpPr>
          <p:spPr>
            <a:xfrm flipH="1">
              <a:off x="5772150" y="3143250"/>
              <a:ext cx="704850" cy="1"/>
            </a:xfrm>
            <a:prstGeom prst="line">
              <a:avLst/>
            </a:prstGeom>
            <a:noFill/>
            <a:ln w="14288">
              <a:solidFill>
                <a:srgbClr val="92301C"/>
              </a:solidFill>
              <a:tailEnd type="triangle" w="lg" len="lg"/>
            </a:ln>
          </p:spPr>
        </p:sp>
        <p:sp>
          <p:nvSpPr>
            <p:cNvPr id="87" name="TextBox 87"/>
            <p:cNvSpPr txBox="1"/>
            <p:nvPr/>
          </p:nvSpPr>
          <p:spPr>
            <a:xfrm>
              <a:off x="5916638" y="2982039"/>
              <a:ext cx="434924" cy="154781"/>
            </a:xfrm>
            <a:prstGeom prst="rect">
              <a:avLst/>
            </a:prstGeom>
            <a:noFill/>
            <a:ln>
              <a:noFill/>
            </a:ln>
          </p:spPr>
          <p:txBody>
            <a:bodyPr wrap="none" lIns="0" tIns="0" rIns="0" bIns="0" anchor="t" anchorCtr="0">
              <a:spAutoFit/>
            </a:bodyPr>
            <a:lstStyle/>
            <a:p>
              <a:pPr algn="ctr"/>
              <a:r>
                <a:rPr lang="zh-CN" sz="790" dirty="0">
                  <a:solidFill>
                    <a:srgbClr val="52352F"/>
                  </a:solidFill>
                  <a:latin typeface="+mn-lt"/>
                  <a:ea typeface="+mn-ea"/>
                  <a:cs typeface="+mn-cs"/>
                </a:rPr>
                <a:t>业务往来</a:t>
              </a:r>
            </a:p>
          </p:txBody>
        </p:sp>
        <p:sp>
          <p:nvSpPr>
            <p:cNvPr id="88" name="Line 88"/>
            <p:cNvSpPr/>
            <p:nvPr/>
          </p:nvSpPr>
          <p:spPr>
            <a:xfrm>
              <a:off x="3733800" y="3543300"/>
              <a:ext cx="1" cy="628650"/>
            </a:xfrm>
            <a:prstGeom prst="line">
              <a:avLst/>
            </a:prstGeom>
            <a:noFill/>
            <a:ln w="14288">
              <a:solidFill>
                <a:srgbClr val="C87C6C"/>
              </a:solidFill>
              <a:custDash>
                <a:ds d="266667" sp="200000"/>
              </a:custDash>
              <a:headEnd type="triangle" w="lg" len="lg"/>
              <a:tailEnd type="triangle" w="lg" len="lg"/>
            </a:ln>
          </p:spPr>
        </p:sp>
        <p:sp>
          <p:nvSpPr>
            <p:cNvPr id="89" name="TextBox 89"/>
            <p:cNvSpPr txBox="1"/>
            <p:nvPr/>
          </p:nvSpPr>
          <p:spPr>
            <a:xfrm>
              <a:off x="3824288" y="3810714"/>
              <a:ext cx="222225" cy="154781"/>
            </a:xfrm>
            <a:prstGeom prst="rect">
              <a:avLst/>
            </a:prstGeom>
            <a:noFill/>
            <a:ln>
              <a:noFill/>
            </a:ln>
          </p:spPr>
          <p:txBody>
            <a:bodyPr wrap="none" lIns="0" tIns="0" rIns="0" bIns="0" anchor="t" anchorCtr="0">
              <a:spAutoFit/>
            </a:bodyPr>
            <a:lstStyle/>
            <a:p>
              <a:pPr algn="l"/>
              <a:r>
                <a:rPr lang="zh-CN" sz="790" dirty="0">
                  <a:solidFill>
                    <a:srgbClr val="52352F"/>
                  </a:solidFill>
                  <a:latin typeface="+mn-lt"/>
                  <a:ea typeface="+mn-ea"/>
                  <a:cs typeface="+mn-cs"/>
                </a:rPr>
                <a:t>参股</a:t>
              </a:r>
            </a:p>
          </p:txBody>
        </p:sp>
        <p:sp>
          <p:nvSpPr>
            <p:cNvPr id="90" name="Line 90"/>
            <p:cNvSpPr/>
            <p:nvPr/>
          </p:nvSpPr>
          <p:spPr>
            <a:xfrm>
              <a:off x="6838950" y="3543300"/>
              <a:ext cx="1" cy="628650"/>
            </a:xfrm>
            <a:prstGeom prst="line">
              <a:avLst/>
            </a:prstGeom>
            <a:noFill/>
            <a:ln w="14288">
              <a:solidFill>
                <a:srgbClr val="C87C6C"/>
              </a:solidFill>
              <a:custDash>
                <a:ds d="266667" sp="200000"/>
              </a:custDash>
              <a:headEnd type="triangle" w="lg" len="lg"/>
              <a:tailEnd type="triangle" w="lg" len="lg"/>
            </a:ln>
          </p:spPr>
        </p:sp>
        <p:sp>
          <p:nvSpPr>
            <p:cNvPr id="91" name="TextBox 91"/>
            <p:cNvSpPr txBox="1"/>
            <p:nvPr/>
          </p:nvSpPr>
          <p:spPr>
            <a:xfrm>
              <a:off x="6929438" y="3810714"/>
              <a:ext cx="222225" cy="154781"/>
            </a:xfrm>
            <a:prstGeom prst="rect">
              <a:avLst/>
            </a:prstGeom>
            <a:noFill/>
            <a:ln>
              <a:noFill/>
            </a:ln>
          </p:spPr>
          <p:txBody>
            <a:bodyPr wrap="none" lIns="0" tIns="0" rIns="0" bIns="0" anchor="t" anchorCtr="0">
              <a:spAutoFit/>
            </a:bodyPr>
            <a:lstStyle/>
            <a:p>
              <a:pPr algn="l"/>
              <a:r>
                <a:rPr lang="zh-CN" sz="790" dirty="0">
                  <a:solidFill>
                    <a:srgbClr val="52352F"/>
                  </a:solidFill>
                  <a:latin typeface="+mn-lt"/>
                  <a:ea typeface="+mn-ea"/>
                  <a:cs typeface="+mn-cs"/>
                </a:rPr>
                <a:t>任职</a:t>
              </a:r>
            </a:p>
          </p:txBody>
        </p:sp>
        <p:sp>
          <p:nvSpPr>
            <p:cNvPr id="92" name="Line 92"/>
            <p:cNvSpPr/>
            <p:nvPr/>
          </p:nvSpPr>
          <p:spPr>
            <a:xfrm flipH="1">
              <a:off x="4152900" y="4572000"/>
              <a:ext cx="2286000" cy="1"/>
            </a:xfrm>
            <a:prstGeom prst="line">
              <a:avLst/>
            </a:prstGeom>
            <a:noFill/>
            <a:ln w="14288">
              <a:solidFill>
                <a:srgbClr val="C87C6C"/>
              </a:solidFill>
              <a:custDash>
                <a:ds d="266667" sp="200000"/>
              </a:custDash>
              <a:tailEnd type="triangle" w="lg" len="lg"/>
            </a:ln>
          </p:spPr>
        </p:sp>
        <p:sp>
          <p:nvSpPr>
            <p:cNvPr id="93" name="TextBox 93"/>
            <p:cNvSpPr txBox="1"/>
            <p:nvPr/>
          </p:nvSpPr>
          <p:spPr>
            <a:xfrm>
              <a:off x="5068913" y="4658439"/>
              <a:ext cx="434924" cy="154781"/>
            </a:xfrm>
            <a:prstGeom prst="rect">
              <a:avLst/>
            </a:prstGeom>
            <a:noFill/>
            <a:ln>
              <a:noFill/>
            </a:ln>
          </p:spPr>
          <p:txBody>
            <a:bodyPr wrap="none" lIns="0" tIns="0" rIns="0" bIns="0" anchor="t" anchorCtr="0">
              <a:spAutoFit/>
            </a:bodyPr>
            <a:lstStyle/>
            <a:p>
              <a:pPr algn="ctr"/>
              <a:r>
                <a:rPr lang="zh-CN" sz="790" dirty="0">
                  <a:solidFill>
                    <a:srgbClr val="52352F"/>
                  </a:solidFill>
                  <a:latin typeface="+mn-lt"/>
                  <a:ea typeface="+mn-ea"/>
                  <a:cs typeface="+mn-cs"/>
                </a:rPr>
                <a:t>关联交易</a:t>
              </a:r>
            </a:p>
          </p:txBody>
        </p:sp>
        <p:sp>
          <p:nvSpPr>
            <p:cNvPr id="94" name="Freeform 94"/>
            <p:cNvSpPr/>
            <p:nvPr/>
          </p:nvSpPr>
          <p:spPr>
            <a:xfrm>
              <a:off x="3905250" y="1695450"/>
              <a:ext cx="1047750" cy="1162050"/>
            </a:xfrm>
            <a:custGeom>
              <a:avLst/>
              <a:gdLst/>
              <a:ahLst/>
              <a:cxnLst/>
              <a:rect l="l" t="t" r="r" b="b"/>
              <a:pathLst>
                <a:path w="1047750" h="1162050">
                  <a:moveTo>
                    <a:pt x="0" y="1162050"/>
                  </a:moveTo>
                  <a:cubicBezTo>
                    <a:pt x="222250" y="527050"/>
                    <a:pt x="571500" y="139700"/>
                    <a:pt x="1047750" y="0"/>
                  </a:cubicBezTo>
                </a:path>
              </a:pathLst>
            </a:custGeom>
            <a:noFill/>
            <a:ln w="14288">
              <a:solidFill>
                <a:srgbClr val="C87C6C"/>
              </a:solidFill>
              <a:custDash>
                <a:ds d="266667" sp="200000"/>
              </a:custDash>
              <a:headEnd type="triangle" w="lg" len="lg"/>
              <a:tailEnd type="triangle" w="lg" len="lg"/>
            </a:ln>
          </p:spPr>
        </p:sp>
        <p:sp>
          <p:nvSpPr>
            <p:cNvPr id="95" name="TextBox 95"/>
            <p:cNvSpPr txBox="1"/>
            <p:nvPr/>
          </p:nvSpPr>
          <p:spPr>
            <a:xfrm>
              <a:off x="3973538" y="1819989"/>
              <a:ext cx="434924" cy="154781"/>
            </a:xfrm>
            <a:prstGeom prst="rect">
              <a:avLst/>
            </a:prstGeom>
            <a:noFill/>
            <a:ln>
              <a:noFill/>
            </a:ln>
          </p:spPr>
          <p:txBody>
            <a:bodyPr wrap="none" lIns="0" tIns="0" rIns="0" bIns="0" anchor="t" anchorCtr="0">
              <a:spAutoFit/>
            </a:bodyPr>
            <a:lstStyle/>
            <a:p>
              <a:pPr algn="ctr"/>
              <a:r>
                <a:rPr lang="zh-CN" sz="790" dirty="0">
                  <a:solidFill>
                    <a:srgbClr val="52352F"/>
                  </a:solidFill>
                  <a:latin typeface="+mn-lt"/>
                  <a:ea typeface="+mn-ea"/>
                  <a:cs typeface="+mn-cs"/>
                </a:rPr>
                <a:t>一致行动</a:t>
              </a:r>
            </a:p>
          </p:txBody>
        </p:sp>
        <p:sp>
          <p:nvSpPr>
            <p:cNvPr id="96" name="Freeform 96"/>
            <p:cNvSpPr/>
            <p:nvPr/>
          </p:nvSpPr>
          <p:spPr>
            <a:xfrm>
              <a:off x="5619750" y="1695450"/>
              <a:ext cx="1047750" cy="1162050"/>
            </a:xfrm>
            <a:custGeom>
              <a:avLst/>
              <a:gdLst/>
              <a:ahLst/>
              <a:cxnLst/>
              <a:rect l="l" t="t" r="r" b="b"/>
              <a:pathLst>
                <a:path w="1047750" h="1162050">
                  <a:moveTo>
                    <a:pt x="0" y="0"/>
                  </a:moveTo>
                  <a:cubicBezTo>
                    <a:pt x="476250" y="139700"/>
                    <a:pt x="825500" y="527050"/>
                    <a:pt x="1047750" y="1162050"/>
                  </a:cubicBezTo>
                </a:path>
              </a:pathLst>
            </a:custGeom>
            <a:noFill/>
            <a:ln w="14288">
              <a:solidFill>
                <a:srgbClr val="C87C6C"/>
              </a:solidFill>
              <a:custDash>
                <a:ds d="266667" sp="200000"/>
              </a:custDash>
              <a:headEnd type="triangle" w="lg" len="lg"/>
              <a:tailEnd type="triangle" w="lg" len="lg"/>
            </a:ln>
          </p:spPr>
        </p:sp>
        <p:sp>
          <p:nvSpPr>
            <p:cNvPr id="97" name="TextBox 97"/>
            <p:cNvSpPr txBox="1"/>
            <p:nvPr/>
          </p:nvSpPr>
          <p:spPr>
            <a:xfrm>
              <a:off x="6183338" y="1819989"/>
              <a:ext cx="434924" cy="154781"/>
            </a:xfrm>
            <a:prstGeom prst="rect">
              <a:avLst/>
            </a:prstGeom>
            <a:noFill/>
            <a:ln>
              <a:noFill/>
            </a:ln>
          </p:spPr>
          <p:txBody>
            <a:bodyPr wrap="none" lIns="0" tIns="0" rIns="0" bIns="0" anchor="t" anchorCtr="0">
              <a:spAutoFit/>
            </a:bodyPr>
            <a:lstStyle/>
            <a:p>
              <a:pPr algn="ctr"/>
              <a:r>
                <a:rPr lang="zh-CN" sz="790" dirty="0">
                  <a:solidFill>
                    <a:srgbClr val="52352F"/>
                  </a:solidFill>
                  <a:latin typeface="+mn-lt"/>
                  <a:ea typeface="+mn-ea"/>
                  <a:cs typeface="+mn-cs"/>
                </a:rPr>
                <a:t>亲属关系</a:t>
              </a:r>
            </a:p>
          </p:txBody>
        </p:sp>
        <p:sp>
          <p:nvSpPr>
            <p:cNvPr id="98" name="Ellipse 98"/>
            <p:cNvSpPr/>
            <p:nvPr/>
          </p:nvSpPr>
          <p:spPr>
            <a:xfrm>
              <a:off x="4848225" y="2705100"/>
              <a:ext cx="876300" cy="876300"/>
            </a:xfrm>
            <a:prstGeom prst="ellipse">
              <a:avLst/>
            </a:prstGeom>
            <a:solidFill>
              <a:srgbClr val="6B1B0B"/>
            </a:solidFill>
            <a:ln>
              <a:noFill/>
            </a:ln>
          </p:spPr>
        </p:sp>
        <p:grpSp>
          <p:nvGrpSpPr>
            <p:cNvPr id="107" name="Group 107"/>
            <p:cNvGrpSpPr/>
            <p:nvPr/>
          </p:nvGrpSpPr>
          <p:grpSpPr>
            <a:xfrm>
              <a:off x="5200650" y="2867025"/>
              <a:ext cx="171450" cy="180975"/>
              <a:chOff x="5200650" y="2867025"/>
              <a:chExt cx="171450" cy="180975"/>
            </a:xfrm>
          </p:grpSpPr>
          <p:sp>
            <p:nvSpPr>
              <p:cNvPr id="99" name="Freeform 99"/>
              <p:cNvSpPr/>
              <p:nvPr/>
            </p:nvSpPr>
            <p:spPr>
              <a:xfrm>
                <a:off x="5200650" y="303847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00" name="Freeform 100"/>
              <p:cNvSpPr/>
              <p:nvPr/>
            </p:nvSpPr>
            <p:spPr>
              <a:xfrm>
                <a:off x="5257800" y="2914650"/>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101" name="Freeform 101"/>
              <p:cNvSpPr/>
              <p:nvPr/>
            </p:nvSpPr>
            <p:spPr>
              <a:xfrm>
                <a:off x="5257800" y="2952750"/>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102" name="Freeform 102"/>
              <p:cNvSpPr/>
              <p:nvPr/>
            </p:nvSpPr>
            <p:spPr>
              <a:xfrm>
                <a:off x="5257800" y="2990850"/>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103" name="Freeform 103"/>
              <p:cNvSpPr/>
              <p:nvPr/>
            </p:nvSpPr>
            <p:spPr>
              <a:xfrm>
                <a:off x="5305425" y="2914650"/>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104" name="Freeform 104"/>
              <p:cNvSpPr/>
              <p:nvPr/>
            </p:nvSpPr>
            <p:spPr>
              <a:xfrm>
                <a:off x="5305425" y="2952750"/>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105" name="Freeform 105"/>
              <p:cNvSpPr/>
              <p:nvPr/>
            </p:nvSpPr>
            <p:spPr>
              <a:xfrm>
                <a:off x="5305425" y="2990850"/>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106" name="Freeform 106"/>
              <p:cNvSpPr/>
              <p:nvPr/>
            </p:nvSpPr>
            <p:spPr>
              <a:xfrm>
                <a:off x="5219700" y="2867025"/>
                <a:ext cx="133350" cy="171450"/>
              </a:xfrm>
              <a:custGeom>
                <a:avLst/>
                <a:gdLst/>
                <a:ahLst/>
                <a:cxnLst/>
                <a:rect l="l" t="t" r="r" b="b"/>
                <a:pathLst>
                  <a:path w="133350" h="171450">
                    <a:moveTo>
                      <a:pt x="0" y="171450"/>
                    </a:moveTo>
                    <a:lnTo>
                      <a:pt x="0" y="19050"/>
                    </a:lnTo>
                    <a:cubicBezTo>
                      <a:pt x="0" y="8529"/>
                      <a:pt x="8529" y="0"/>
                      <a:pt x="19050" y="0"/>
                    </a:cubicBezTo>
                    <a:lnTo>
                      <a:pt x="114300" y="0"/>
                    </a:lnTo>
                    <a:cubicBezTo>
                      <a:pt x="124821" y="0"/>
                      <a:pt x="133350" y="8529"/>
                      <a:pt x="133350" y="19050"/>
                    </a:cubicBezTo>
                    <a:lnTo>
                      <a:pt x="133350" y="171450"/>
                    </a:lnTo>
                  </a:path>
                </a:pathLst>
              </a:custGeom>
              <a:noFill/>
              <a:ln w="19050">
                <a:solidFill>
                  <a:srgbClr val="FFFFFF"/>
                </a:solidFill>
              </a:ln>
            </p:spPr>
          </p:sp>
        </p:grpSp>
        <p:sp>
          <p:nvSpPr>
            <p:cNvPr id="108" name="TextBox 108"/>
            <p:cNvSpPr txBox="1"/>
            <p:nvPr/>
          </p:nvSpPr>
          <p:spPr>
            <a:xfrm>
              <a:off x="5060836" y="31303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目标企业</a:t>
              </a:r>
            </a:p>
          </p:txBody>
        </p:sp>
        <p:sp>
          <p:nvSpPr>
            <p:cNvPr id="109" name="TextBox 109"/>
            <p:cNvSpPr txBox="1"/>
            <p:nvPr/>
          </p:nvSpPr>
          <p:spPr>
            <a:xfrm>
              <a:off x="5079682" y="3281362"/>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（客户）</a:t>
              </a:r>
            </a:p>
          </p:txBody>
        </p:sp>
        <p:sp>
          <p:nvSpPr>
            <p:cNvPr id="110" name="Ellipse 110"/>
            <p:cNvSpPr/>
            <p:nvPr/>
          </p:nvSpPr>
          <p:spPr>
            <a:xfrm>
              <a:off x="4924425" y="1333500"/>
              <a:ext cx="723900" cy="723900"/>
            </a:xfrm>
            <a:prstGeom prst="ellipse">
              <a:avLst/>
            </a:prstGeom>
            <a:solidFill>
              <a:srgbClr val="D6E6F3"/>
            </a:solidFill>
            <a:ln>
              <a:noFill/>
            </a:ln>
          </p:spPr>
        </p:sp>
        <p:grpSp>
          <p:nvGrpSpPr>
            <p:cNvPr id="113" name="Group 113"/>
            <p:cNvGrpSpPr/>
            <p:nvPr/>
          </p:nvGrpSpPr>
          <p:grpSpPr>
            <a:xfrm>
              <a:off x="5233988" y="1454944"/>
              <a:ext cx="104775" cy="157163"/>
              <a:chOff x="5233988" y="1454944"/>
              <a:chExt cx="104775" cy="157163"/>
            </a:xfrm>
          </p:grpSpPr>
          <p:sp>
            <p:nvSpPr>
              <p:cNvPr id="111" name="Freeform 111"/>
              <p:cNvSpPr/>
              <p:nvPr/>
            </p:nvSpPr>
            <p:spPr>
              <a:xfrm>
                <a:off x="5251450" y="14549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92301C"/>
                </a:solidFill>
              </a:ln>
            </p:spPr>
          </p:sp>
          <p:sp>
            <p:nvSpPr>
              <p:cNvPr id="112" name="Freeform 112"/>
              <p:cNvSpPr/>
              <p:nvPr/>
            </p:nvSpPr>
            <p:spPr>
              <a:xfrm>
                <a:off x="5233988" y="15597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92301C"/>
                </a:solidFill>
              </a:ln>
            </p:spPr>
          </p:sp>
        </p:grpSp>
        <p:sp>
          <p:nvSpPr>
            <p:cNvPr id="114" name="TextBox 114"/>
            <p:cNvSpPr txBox="1"/>
            <p:nvPr/>
          </p:nvSpPr>
          <p:spPr>
            <a:xfrm>
              <a:off x="5015738" y="1686639"/>
              <a:ext cx="54127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实际控制人</a:t>
              </a:r>
            </a:p>
          </p:txBody>
        </p:sp>
        <p:sp>
          <p:nvSpPr>
            <p:cNvPr id="115" name="TextBox 115"/>
            <p:cNvSpPr txBox="1"/>
            <p:nvPr/>
          </p:nvSpPr>
          <p:spPr>
            <a:xfrm>
              <a:off x="5042662" y="1828086"/>
              <a:ext cx="487426"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n-lt"/>
                  <a:ea typeface="+mn-ea"/>
                  <a:cs typeface="+mn-cs"/>
                </a:rPr>
                <a:t>（自然人）</a:t>
              </a:r>
            </a:p>
          </p:txBody>
        </p:sp>
        <p:sp>
          <p:nvSpPr>
            <p:cNvPr id="116" name="Ellipse 116"/>
            <p:cNvSpPr/>
            <p:nvPr/>
          </p:nvSpPr>
          <p:spPr>
            <a:xfrm>
              <a:off x="3371850" y="2781300"/>
              <a:ext cx="723900" cy="723900"/>
            </a:xfrm>
            <a:prstGeom prst="ellipse">
              <a:avLst/>
            </a:prstGeom>
            <a:solidFill>
              <a:srgbClr val="D6E6F3"/>
            </a:solidFill>
            <a:ln>
              <a:noFill/>
            </a:ln>
          </p:spPr>
        </p:sp>
        <p:grpSp>
          <p:nvGrpSpPr>
            <p:cNvPr id="121" name="Group 121"/>
            <p:cNvGrpSpPr/>
            <p:nvPr/>
          </p:nvGrpSpPr>
          <p:grpSpPr>
            <a:xfrm>
              <a:off x="3655219" y="2902744"/>
              <a:ext cx="157163" cy="157163"/>
              <a:chOff x="3655219" y="2902744"/>
              <a:chExt cx="157163" cy="157163"/>
            </a:xfrm>
          </p:grpSpPr>
          <p:sp>
            <p:nvSpPr>
              <p:cNvPr id="117" name="Freeform 117"/>
              <p:cNvSpPr/>
              <p:nvPr/>
            </p:nvSpPr>
            <p:spPr>
              <a:xfrm>
                <a:off x="3672681" y="29027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92301C"/>
                </a:solidFill>
              </a:ln>
            </p:spPr>
          </p:sp>
          <p:sp>
            <p:nvSpPr>
              <p:cNvPr id="118" name="Freeform 118"/>
              <p:cNvSpPr/>
              <p:nvPr/>
            </p:nvSpPr>
            <p:spPr>
              <a:xfrm>
                <a:off x="3655219" y="30075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92301C"/>
                </a:solidFill>
              </a:ln>
            </p:spPr>
          </p:sp>
          <p:sp>
            <p:nvSpPr>
              <p:cNvPr id="119" name="Freeform 119"/>
              <p:cNvSpPr/>
              <p:nvPr/>
            </p:nvSpPr>
            <p:spPr>
              <a:xfrm>
                <a:off x="3768725" y="29038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92301C"/>
                </a:solidFill>
              </a:ln>
            </p:spPr>
          </p:sp>
          <p:sp>
            <p:nvSpPr>
              <p:cNvPr id="120" name="Freeform 120"/>
              <p:cNvSpPr/>
              <p:nvPr/>
            </p:nvSpPr>
            <p:spPr>
              <a:xfrm>
                <a:off x="3786188" y="30088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92301C"/>
                </a:solidFill>
              </a:ln>
            </p:spPr>
          </p:sp>
        </p:grpSp>
        <p:sp>
          <p:nvSpPr>
            <p:cNvPr id="122" name="TextBox 122"/>
            <p:cNvSpPr txBox="1"/>
            <p:nvPr/>
          </p:nvSpPr>
          <p:spPr>
            <a:xfrm>
              <a:off x="3622688" y="3134439"/>
              <a:ext cx="222225"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股东</a:t>
              </a:r>
            </a:p>
          </p:txBody>
        </p:sp>
        <p:sp>
          <p:nvSpPr>
            <p:cNvPr id="123" name="TextBox 123"/>
            <p:cNvSpPr txBox="1"/>
            <p:nvPr/>
          </p:nvSpPr>
          <p:spPr>
            <a:xfrm>
              <a:off x="3368222" y="3275886"/>
              <a:ext cx="731156"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n-lt"/>
                  <a:ea typeface="+mn-ea"/>
                  <a:cs typeface="+mn-cs"/>
                </a:rPr>
                <a:t>（自然人/企业）</a:t>
              </a:r>
            </a:p>
          </p:txBody>
        </p:sp>
        <p:sp>
          <p:nvSpPr>
            <p:cNvPr id="124" name="Ellipse 124"/>
            <p:cNvSpPr/>
            <p:nvPr/>
          </p:nvSpPr>
          <p:spPr>
            <a:xfrm>
              <a:off x="6477000" y="2781300"/>
              <a:ext cx="723900" cy="723900"/>
            </a:xfrm>
            <a:prstGeom prst="ellipse">
              <a:avLst/>
            </a:prstGeom>
            <a:solidFill>
              <a:srgbClr val="D6E6F3"/>
            </a:solidFill>
            <a:ln>
              <a:noFill/>
            </a:ln>
          </p:spPr>
        </p:sp>
        <p:grpSp>
          <p:nvGrpSpPr>
            <p:cNvPr id="131" name="Group 131"/>
            <p:cNvGrpSpPr/>
            <p:nvPr/>
          </p:nvGrpSpPr>
          <p:grpSpPr>
            <a:xfrm>
              <a:off x="6760369" y="2902744"/>
              <a:ext cx="157162" cy="157163"/>
              <a:chOff x="6760369" y="2902744"/>
              <a:chExt cx="157162" cy="157163"/>
            </a:xfrm>
          </p:grpSpPr>
          <p:sp>
            <p:nvSpPr>
              <p:cNvPr id="125" name="Freeform 125"/>
              <p:cNvSpPr/>
              <p:nvPr/>
            </p:nvSpPr>
            <p:spPr>
              <a:xfrm>
                <a:off x="6821488" y="29725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92301C"/>
                </a:solidFill>
              </a:ln>
            </p:spPr>
          </p:sp>
          <p:sp>
            <p:nvSpPr>
              <p:cNvPr id="126" name="Freeform 126"/>
              <p:cNvSpPr/>
              <p:nvPr/>
            </p:nvSpPr>
            <p:spPr>
              <a:xfrm>
                <a:off x="6804025" y="303371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92301C"/>
                </a:solidFill>
              </a:ln>
            </p:spPr>
          </p:sp>
          <p:sp>
            <p:nvSpPr>
              <p:cNvPr id="127" name="Freeform 127"/>
              <p:cNvSpPr/>
              <p:nvPr/>
            </p:nvSpPr>
            <p:spPr>
              <a:xfrm>
                <a:off x="6865144" y="29027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92301C"/>
                </a:solidFill>
              </a:ln>
            </p:spPr>
          </p:sp>
          <p:sp>
            <p:nvSpPr>
              <p:cNvPr id="128" name="Freeform 128"/>
              <p:cNvSpPr/>
              <p:nvPr/>
            </p:nvSpPr>
            <p:spPr>
              <a:xfrm>
                <a:off x="6882606" y="296386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92301C"/>
                </a:solidFill>
              </a:ln>
            </p:spPr>
          </p:sp>
          <p:sp>
            <p:nvSpPr>
              <p:cNvPr id="129" name="Freeform 129"/>
              <p:cNvSpPr/>
              <p:nvPr/>
            </p:nvSpPr>
            <p:spPr>
              <a:xfrm>
                <a:off x="6777831" y="29027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92301C"/>
                </a:solidFill>
              </a:ln>
            </p:spPr>
          </p:sp>
          <p:sp>
            <p:nvSpPr>
              <p:cNvPr id="130" name="Freeform 130"/>
              <p:cNvSpPr/>
              <p:nvPr/>
            </p:nvSpPr>
            <p:spPr>
              <a:xfrm>
                <a:off x="6760369" y="296386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92301C"/>
                </a:solidFill>
              </a:ln>
            </p:spPr>
          </p:sp>
        </p:grpSp>
        <p:sp>
          <p:nvSpPr>
            <p:cNvPr id="132" name="TextBox 132"/>
            <p:cNvSpPr txBox="1"/>
            <p:nvPr/>
          </p:nvSpPr>
          <p:spPr>
            <a:xfrm>
              <a:off x="6674663" y="3134439"/>
              <a:ext cx="32857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关联方</a:t>
              </a:r>
            </a:p>
          </p:txBody>
        </p:sp>
        <p:sp>
          <p:nvSpPr>
            <p:cNvPr id="133" name="TextBox 133"/>
            <p:cNvSpPr txBox="1"/>
            <p:nvPr/>
          </p:nvSpPr>
          <p:spPr>
            <a:xfrm>
              <a:off x="6473372" y="3275886"/>
              <a:ext cx="731156"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n-lt"/>
                  <a:ea typeface="+mn-ea"/>
                  <a:cs typeface="+mn-cs"/>
                </a:rPr>
                <a:t>（供应商/客户）</a:t>
              </a:r>
            </a:p>
          </p:txBody>
        </p:sp>
        <p:sp>
          <p:nvSpPr>
            <p:cNvPr id="134" name="Ellipse 134"/>
            <p:cNvSpPr/>
            <p:nvPr/>
          </p:nvSpPr>
          <p:spPr>
            <a:xfrm>
              <a:off x="3371850" y="4210050"/>
              <a:ext cx="723900" cy="723900"/>
            </a:xfrm>
            <a:prstGeom prst="ellipse">
              <a:avLst/>
            </a:prstGeom>
            <a:solidFill>
              <a:srgbClr val="D6E6F3"/>
            </a:solidFill>
            <a:ln>
              <a:noFill/>
            </a:ln>
          </p:spPr>
        </p:sp>
        <p:grpSp>
          <p:nvGrpSpPr>
            <p:cNvPr id="140" name="Group 140"/>
            <p:cNvGrpSpPr/>
            <p:nvPr/>
          </p:nvGrpSpPr>
          <p:grpSpPr>
            <a:xfrm>
              <a:off x="3655219" y="4331494"/>
              <a:ext cx="157163" cy="166687"/>
              <a:chOff x="3655219" y="4331494"/>
              <a:chExt cx="157163" cy="166687"/>
            </a:xfrm>
          </p:grpSpPr>
          <p:sp>
            <p:nvSpPr>
              <p:cNvPr id="135" name="Freeform 135"/>
              <p:cNvSpPr/>
              <p:nvPr/>
            </p:nvSpPr>
            <p:spPr>
              <a:xfrm>
                <a:off x="3655219" y="4488656"/>
                <a:ext cx="157163" cy="9525"/>
              </a:xfrm>
              <a:custGeom>
                <a:avLst/>
                <a:gdLst/>
                <a:ahLst/>
                <a:cxnLst/>
                <a:rect l="l" t="t" r="r" b="b"/>
                <a:pathLst>
                  <a:path w="157163" h="9525">
                    <a:moveTo>
                      <a:pt x="0" y="0"/>
                    </a:moveTo>
                    <a:lnTo>
                      <a:pt x="157163" y="0"/>
                    </a:lnTo>
                  </a:path>
                </a:pathLst>
              </a:custGeom>
              <a:noFill/>
              <a:ln w="17463">
                <a:solidFill>
                  <a:srgbClr val="92301C"/>
                </a:solidFill>
              </a:ln>
            </p:spPr>
          </p:sp>
          <p:sp>
            <p:nvSpPr>
              <p:cNvPr id="136" name="Freeform 136"/>
              <p:cNvSpPr/>
              <p:nvPr/>
            </p:nvSpPr>
            <p:spPr>
              <a:xfrm>
                <a:off x="3655219" y="4331494"/>
                <a:ext cx="157163" cy="69850"/>
              </a:xfrm>
              <a:custGeom>
                <a:avLst/>
                <a:gdLst/>
                <a:ahLst/>
                <a:cxnLst/>
                <a:rect l="l" t="t" r="r" b="b"/>
                <a:pathLst>
                  <a:path w="157163" h="69850">
                    <a:moveTo>
                      <a:pt x="0" y="34925"/>
                    </a:moveTo>
                    <a:lnTo>
                      <a:pt x="0" y="43656"/>
                    </a:lnTo>
                    <a:cubicBezTo>
                      <a:pt x="0" y="58123"/>
                      <a:pt x="11727" y="69850"/>
                      <a:pt x="26194" y="69850"/>
                    </a:cubicBezTo>
                    <a:cubicBezTo>
                      <a:pt x="40660" y="69850"/>
                      <a:pt x="52388" y="58123"/>
                      <a:pt x="52388" y="43656"/>
                    </a:cubicBezTo>
                    <a:lnTo>
                      <a:pt x="52388" y="34925"/>
                    </a:lnTo>
                    <a:moveTo>
                      <a:pt x="52388" y="43656"/>
                    </a:moveTo>
                    <a:cubicBezTo>
                      <a:pt x="52388" y="58123"/>
                      <a:pt x="64115" y="69850"/>
                      <a:pt x="78581" y="69850"/>
                    </a:cubicBezTo>
                    <a:cubicBezTo>
                      <a:pt x="93048" y="69850"/>
                      <a:pt x="104775" y="58123"/>
                      <a:pt x="104775" y="43656"/>
                    </a:cubicBezTo>
                    <a:lnTo>
                      <a:pt x="104775" y="34925"/>
                    </a:lnTo>
                    <a:moveTo>
                      <a:pt x="104775" y="43656"/>
                    </a:moveTo>
                    <a:cubicBezTo>
                      <a:pt x="104775" y="58123"/>
                      <a:pt x="116502" y="69850"/>
                      <a:pt x="130969" y="69850"/>
                    </a:cubicBezTo>
                    <a:cubicBezTo>
                      <a:pt x="145435" y="69850"/>
                      <a:pt x="157163" y="58123"/>
                      <a:pt x="157163" y="43656"/>
                    </a:cubicBezTo>
                    <a:lnTo>
                      <a:pt x="157163" y="34925"/>
                    </a:lnTo>
                    <a:lnTo>
                      <a:pt x="0" y="34925"/>
                    </a:lnTo>
                    <a:lnTo>
                      <a:pt x="17463" y="0"/>
                    </a:lnTo>
                    <a:lnTo>
                      <a:pt x="139700" y="0"/>
                    </a:lnTo>
                    <a:lnTo>
                      <a:pt x="157163" y="34925"/>
                    </a:lnTo>
                  </a:path>
                </a:pathLst>
              </a:custGeom>
              <a:noFill/>
              <a:ln w="17463">
                <a:solidFill>
                  <a:srgbClr val="92301C"/>
                </a:solidFill>
              </a:ln>
            </p:spPr>
          </p:sp>
          <p:sp>
            <p:nvSpPr>
              <p:cNvPr id="137" name="Freeform 137"/>
              <p:cNvSpPr/>
              <p:nvPr/>
            </p:nvSpPr>
            <p:spPr>
              <a:xfrm>
                <a:off x="3672681" y="4400034"/>
                <a:ext cx="9525" cy="88622"/>
              </a:xfrm>
              <a:custGeom>
                <a:avLst/>
                <a:gdLst/>
                <a:ahLst/>
                <a:cxnLst/>
                <a:rect l="l" t="t" r="r" b="b"/>
                <a:pathLst>
                  <a:path w="9525" h="88622">
                    <a:moveTo>
                      <a:pt x="0" y="88622"/>
                    </a:moveTo>
                    <a:lnTo>
                      <a:pt x="0" y="0"/>
                    </a:lnTo>
                  </a:path>
                </a:pathLst>
              </a:custGeom>
              <a:noFill/>
              <a:ln w="17463">
                <a:solidFill>
                  <a:srgbClr val="92301C"/>
                </a:solidFill>
              </a:ln>
            </p:spPr>
          </p:sp>
          <p:sp>
            <p:nvSpPr>
              <p:cNvPr id="138" name="Freeform 138"/>
              <p:cNvSpPr/>
              <p:nvPr/>
            </p:nvSpPr>
            <p:spPr>
              <a:xfrm>
                <a:off x="3794919" y="4400034"/>
                <a:ext cx="9525" cy="88622"/>
              </a:xfrm>
              <a:custGeom>
                <a:avLst/>
                <a:gdLst/>
                <a:ahLst/>
                <a:cxnLst/>
                <a:rect l="l" t="t" r="r" b="b"/>
                <a:pathLst>
                  <a:path w="9525" h="88622">
                    <a:moveTo>
                      <a:pt x="0" y="88622"/>
                    </a:moveTo>
                    <a:lnTo>
                      <a:pt x="0" y="0"/>
                    </a:lnTo>
                  </a:path>
                </a:pathLst>
              </a:custGeom>
              <a:noFill/>
              <a:ln w="17463">
                <a:solidFill>
                  <a:srgbClr val="92301C"/>
                </a:solidFill>
              </a:ln>
            </p:spPr>
          </p:sp>
          <p:sp>
            <p:nvSpPr>
              <p:cNvPr id="139" name="Freeform 139"/>
              <p:cNvSpPr/>
              <p:nvPr/>
            </p:nvSpPr>
            <p:spPr>
              <a:xfrm>
                <a:off x="3707606" y="4436269"/>
                <a:ext cx="52388" cy="52388"/>
              </a:xfrm>
              <a:custGeom>
                <a:avLst/>
                <a:gdLst/>
                <a:ahLst/>
                <a:cxnLst/>
                <a:rect l="l" t="t" r="r" b="b"/>
                <a:pathLst>
                  <a:path w="52388" h="52388">
                    <a:moveTo>
                      <a:pt x="0" y="52388"/>
                    </a:moveTo>
                    <a:lnTo>
                      <a:pt x="0" y="17463"/>
                    </a:lnTo>
                    <a:cubicBezTo>
                      <a:pt x="0" y="7818"/>
                      <a:pt x="7818" y="0"/>
                      <a:pt x="17463" y="0"/>
                    </a:cubicBezTo>
                    <a:lnTo>
                      <a:pt x="34925" y="0"/>
                    </a:lnTo>
                    <a:cubicBezTo>
                      <a:pt x="44569" y="0"/>
                      <a:pt x="52388" y="7818"/>
                      <a:pt x="52388" y="17463"/>
                    </a:cubicBezTo>
                    <a:lnTo>
                      <a:pt x="52388" y="52388"/>
                    </a:lnTo>
                  </a:path>
                </a:pathLst>
              </a:custGeom>
              <a:noFill/>
              <a:ln w="17463">
                <a:solidFill>
                  <a:srgbClr val="92301C"/>
                </a:solidFill>
              </a:ln>
            </p:spPr>
          </p:sp>
        </p:grpSp>
        <p:sp>
          <p:nvSpPr>
            <p:cNvPr id="141" name="TextBox 141"/>
            <p:cNvSpPr txBox="1"/>
            <p:nvPr/>
          </p:nvSpPr>
          <p:spPr>
            <a:xfrm>
              <a:off x="3516338" y="456318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关联企业</a:t>
              </a:r>
            </a:p>
          </p:txBody>
        </p:sp>
        <p:sp>
          <p:nvSpPr>
            <p:cNvPr id="142" name="TextBox 142"/>
            <p:cNvSpPr txBox="1"/>
            <p:nvPr/>
          </p:nvSpPr>
          <p:spPr>
            <a:xfrm>
              <a:off x="3442297" y="4704636"/>
              <a:ext cx="583006"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n-lt"/>
                  <a:ea typeface="+mn-ea"/>
                  <a:cs typeface="+mn-cs"/>
                </a:rPr>
                <a:t>（同一控制）</a:t>
              </a:r>
            </a:p>
          </p:txBody>
        </p:sp>
        <p:sp>
          <p:nvSpPr>
            <p:cNvPr id="143" name="Ellipse 143"/>
            <p:cNvSpPr/>
            <p:nvPr/>
          </p:nvSpPr>
          <p:spPr>
            <a:xfrm>
              <a:off x="6477000" y="4210050"/>
              <a:ext cx="723900" cy="723900"/>
            </a:xfrm>
            <a:prstGeom prst="ellipse">
              <a:avLst/>
            </a:prstGeom>
            <a:solidFill>
              <a:srgbClr val="D6E6F3"/>
            </a:solidFill>
            <a:ln>
              <a:noFill/>
            </a:ln>
          </p:spPr>
        </p:sp>
        <p:grpSp>
          <p:nvGrpSpPr>
            <p:cNvPr id="147" name="Group 147"/>
            <p:cNvGrpSpPr/>
            <p:nvPr/>
          </p:nvGrpSpPr>
          <p:grpSpPr>
            <a:xfrm>
              <a:off x="6786563" y="4331494"/>
              <a:ext cx="130969" cy="157163"/>
              <a:chOff x="6786563" y="4331494"/>
              <a:chExt cx="130969" cy="157163"/>
            </a:xfrm>
          </p:grpSpPr>
          <p:sp>
            <p:nvSpPr>
              <p:cNvPr id="144" name="Freeform 144"/>
              <p:cNvSpPr/>
              <p:nvPr/>
            </p:nvSpPr>
            <p:spPr>
              <a:xfrm>
                <a:off x="6804025" y="43314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92301C"/>
                </a:solidFill>
              </a:ln>
            </p:spPr>
          </p:sp>
          <p:sp>
            <p:nvSpPr>
              <p:cNvPr id="145" name="Freeform 145"/>
              <p:cNvSpPr/>
              <p:nvPr/>
            </p:nvSpPr>
            <p:spPr>
              <a:xfrm>
                <a:off x="6786563" y="44362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92301C"/>
                </a:solidFill>
              </a:ln>
            </p:spPr>
          </p:sp>
          <p:sp>
            <p:nvSpPr>
              <p:cNvPr id="146" name="Freeform 146"/>
              <p:cNvSpPr/>
              <p:nvPr/>
            </p:nvSpPr>
            <p:spPr>
              <a:xfrm>
                <a:off x="6865144" y="4453731"/>
                <a:ext cx="52388" cy="34925"/>
              </a:xfrm>
              <a:custGeom>
                <a:avLst/>
                <a:gdLst/>
                <a:ahLst/>
                <a:cxnLst/>
                <a:rect l="l" t="t" r="r" b="b"/>
                <a:pathLst>
                  <a:path w="52388" h="34925">
                    <a:moveTo>
                      <a:pt x="0" y="17463"/>
                    </a:moveTo>
                    <a:lnTo>
                      <a:pt x="17463" y="34925"/>
                    </a:lnTo>
                    <a:lnTo>
                      <a:pt x="52388" y="0"/>
                    </a:lnTo>
                  </a:path>
                </a:pathLst>
              </a:custGeom>
              <a:noFill/>
              <a:ln w="17463">
                <a:solidFill>
                  <a:srgbClr val="92301C"/>
                </a:solidFill>
              </a:ln>
            </p:spPr>
          </p:sp>
        </p:grpSp>
        <p:sp>
          <p:nvSpPr>
            <p:cNvPr id="148" name="TextBox 148"/>
            <p:cNvSpPr txBox="1"/>
            <p:nvPr/>
          </p:nvSpPr>
          <p:spPr>
            <a:xfrm>
              <a:off x="6621488" y="456318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关键人员</a:t>
              </a:r>
            </a:p>
          </p:txBody>
        </p:sp>
        <p:sp>
          <p:nvSpPr>
            <p:cNvPr id="149" name="TextBox 149"/>
            <p:cNvSpPr txBox="1"/>
            <p:nvPr/>
          </p:nvSpPr>
          <p:spPr>
            <a:xfrm>
              <a:off x="6595237" y="4704636"/>
              <a:ext cx="487426"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n-lt"/>
                  <a:ea typeface="+mn-ea"/>
                  <a:cs typeface="+mn-cs"/>
                </a:rPr>
                <a:t>（董监高）</a:t>
              </a:r>
            </a:p>
          </p:txBody>
        </p:sp>
      </p:grpSp>
      <p:grpSp>
        <p:nvGrpSpPr>
          <p:cNvPr id="221" name="right-steps"/>
          <p:cNvGrpSpPr/>
          <p:nvPr/>
        </p:nvGrpSpPr>
        <p:grpSpPr>
          <a:xfrm>
            <a:off x="7715250" y="990600"/>
            <a:ext cx="4286250" cy="4191000"/>
            <a:chOff x="7715250" y="990600"/>
            <a:chExt cx="4286250" cy="4191000"/>
          </a:xfrm>
        </p:grpSpPr>
        <p:grpSp>
          <p:nvGrpSpPr>
            <p:cNvPr id="163" name="rs-1"/>
            <p:cNvGrpSpPr/>
            <p:nvPr/>
          </p:nvGrpSpPr>
          <p:grpSpPr>
            <a:xfrm>
              <a:off x="7715250" y="990600"/>
              <a:ext cx="4286250" cy="666750"/>
              <a:chOff x="7715250" y="990600"/>
              <a:chExt cx="4286250" cy="666750"/>
            </a:xfrm>
          </p:grpSpPr>
          <p:sp>
            <p:nvSpPr>
              <p:cNvPr id="151" name="Rectangle 151"/>
              <p:cNvSpPr/>
              <p:nvPr/>
            </p:nvSpPr>
            <p:spPr>
              <a:xfrm>
                <a:off x="7715250" y="990600"/>
                <a:ext cx="4286250" cy="666750"/>
              </a:xfrm>
              <a:prstGeom prst="roundRect">
                <a:avLst>
                  <a:gd name="adj" fmla="val 8571"/>
                </a:avLst>
              </a:prstGeom>
              <a:solidFill>
                <a:srgbClr val="F6F9FD"/>
              </a:solidFill>
              <a:ln w="9525">
                <a:solidFill>
                  <a:srgbClr val="CFDFEE"/>
                </a:solidFill>
              </a:ln>
            </p:spPr>
          </p:sp>
          <p:sp>
            <p:nvSpPr>
              <p:cNvPr id="152" name="Ellipse 152"/>
              <p:cNvSpPr/>
              <p:nvPr/>
            </p:nvSpPr>
            <p:spPr>
              <a:xfrm>
                <a:off x="7810500" y="1171575"/>
                <a:ext cx="304800" cy="304800"/>
              </a:xfrm>
              <a:prstGeom prst="ellipse">
                <a:avLst/>
              </a:prstGeom>
              <a:solidFill>
                <a:srgbClr val="92301C"/>
              </a:solidFill>
              <a:ln>
                <a:noFill/>
              </a:ln>
            </p:spPr>
          </p:sp>
          <p:sp>
            <p:nvSpPr>
              <p:cNvPr id="153" name="TextBox 153"/>
              <p:cNvSpPr txBox="1"/>
              <p:nvPr/>
            </p:nvSpPr>
            <p:spPr>
              <a:xfrm>
                <a:off x="7890749" y="1274445"/>
                <a:ext cx="14430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j-lt"/>
                    <a:ea typeface="+mj-ea"/>
                    <a:cs typeface="+mj-cs"/>
                  </a:rPr>
                  <a:t>01</a:t>
                </a:r>
              </a:p>
            </p:txBody>
          </p:sp>
          <p:grpSp>
            <p:nvGrpSpPr>
              <p:cNvPr id="159" name="Group 159"/>
              <p:cNvGrpSpPr/>
              <p:nvPr/>
            </p:nvGrpSpPr>
            <p:grpSpPr>
              <a:xfrm>
                <a:off x="8281194" y="1231106"/>
                <a:ext cx="144462" cy="185737"/>
                <a:chOff x="8281194" y="1231106"/>
                <a:chExt cx="144462" cy="185737"/>
              </a:xfrm>
            </p:grpSpPr>
            <p:sp>
              <p:nvSpPr>
                <p:cNvPr id="154" name="Freeform 154"/>
                <p:cNvSpPr/>
                <p:nvPr/>
              </p:nvSpPr>
              <p:spPr>
                <a:xfrm>
                  <a:off x="8374062" y="123110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155" name="Freeform 155"/>
                <p:cNvSpPr/>
                <p:nvPr/>
              </p:nvSpPr>
              <p:spPr>
                <a:xfrm>
                  <a:off x="8281194" y="1231106"/>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92301C"/>
                  </a:solidFill>
                </a:ln>
              </p:spPr>
            </p:sp>
            <p:sp>
              <p:nvSpPr>
                <p:cNvPr id="156" name="Freeform 156"/>
                <p:cNvSpPr/>
                <p:nvPr/>
              </p:nvSpPr>
              <p:spPr>
                <a:xfrm>
                  <a:off x="8322468" y="1293018"/>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157" name="Freeform 157"/>
                <p:cNvSpPr/>
                <p:nvPr/>
              </p:nvSpPr>
              <p:spPr>
                <a:xfrm>
                  <a:off x="8322468" y="1334293"/>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158" name="Freeform 158"/>
                <p:cNvSpPr/>
                <p:nvPr/>
              </p:nvSpPr>
              <p:spPr>
                <a:xfrm>
                  <a:off x="8322468" y="1375568"/>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160" name="TextBox 160"/>
              <p:cNvSpPr txBox="1"/>
              <p:nvPr/>
            </p:nvSpPr>
            <p:spPr>
              <a:xfrm>
                <a:off x="8586597" y="126634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材料解析</a:t>
                </a:r>
              </a:p>
            </p:txBody>
          </p:sp>
          <p:sp>
            <p:nvSpPr>
              <p:cNvPr id="161" name="TextBox 161"/>
              <p:cNvSpPr txBox="1"/>
              <p:nvPr/>
            </p:nvSpPr>
            <p:spPr>
              <a:xfrm>
                <a:off x="9482138" y="1199436"/>
                <a:ext cx="1825549"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智能识别证照、合同、章程等多类型材料，</a:t>
                </a:r>
              </a:p>
            </p:txBody>
          </p:sp>
          <p:sp>
            <p:nvSpPr>
              <p:cNvPr id="162" name="TextBox 162"/>
              <p:cNvSpPr txBox="1"/>
              <p:nvPr/>
            </p:nvSpPr>
            <p:spPr>
              <a:xfrm>
                <a:off x="9482138" y="137088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结构化提取关键信息</a:t>
                </a:r>
              </a:p>
            </p:txBody>
          </p:sp>
        </p:grpSp>
        <p:grpSp>
          <p:nvGrpSpPr>
            <p:cNvPr id="173" name="rs-2"/>
            <p:cNvGrpSpPr/>
            <p:nvPr/>
          </p:nvGrpSpPr>
          <p:grpSpPr>
            <a:xfrm>
              <a:off x="7715250" y="1695450"/>
              <a:ext cx="4286250" cy="666750"/>
              <a:chOff x="7715250" y="1695450"/>
              <a:chExt cx="4286250" cy="666750"/>
            </a:xfrm>
          </p:grpSpPr>
          <p:sp>
            <p:nvSpPr>
              <p:cNvPr id="164" name="Rectangle 164"/>
              <p:cNvSpPr/>
              <p:nvPr/>
            </p:nvSpPr>
            <p:spPr>
              <a:xfrm>
                <a:off x="7715250" y="1695450"/>
                <a:ext cx="4286250" cy="666750"/>
              </a:xfrm>
              <a:prstGeom prst="roundRect">
                <a:avLst>
                  <a:gd name="adj" fmla="val 8571"/>
                </a:avLst>
              </a:prstGeom>
              <a:solidFill>
                <a:srgbClr val="F6F9FD"/>
              </a:solidFill>
              <a:ln w="9525">
                <a:solidFill>
                  <a:srgbClr val="CFDFEE"/>
                </a:solidFill>
              </a:ln>
            </p:spPr>
          </p:sp>
          <p:sp>
            <p:nvSpPr>
              <p:cNvPr id="165" name="Ellipse 165"/>
              <p:cNvSpPr/>
              <p:nvPr/>
            </p:nvSpPr>
            <p:spPr>
              <a:xfrm>
                <a:off x="7810500" y="1876425"/>
                <a:ext cx="304800" cy="304800"/>
              </a:xfrm>
              <a:prstGeom prst="ellipse">
                <a:avLst/>
              </a:prstGeom>
              <a:solidFill>
                <a:srgbClr val="92301C"/>
              </a:solidFill>
              <a:ln>
                <a:noFill/>
              </a:ln>
            </p:spPr>
          </p:sp>
          <p:sp>
            <p:nvSpPr>
              <p:cNvPr id="166" name="TextBox 166"/>
              <p:cNvSpPr txBox="1"/>
              <p:nvPr/>
            </p:nvSpPr>
            <p:spPr>
              <a:xfrm>
                <a:off x="7890749" y="1979295"/>
                <a:ext cx="14430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j-lt"/>
                    <a:ea typeface="+mj-ea"/>
                    <a:cs typeface="+mj-cs"/>
                  </a:rPr>
                  <a:t>02</a:t>
                </a:r>
              </a:p>
            </p:txBody>
          </p:sp>
          <p:grpSp>
            <p:nvGrpSpPr>
              <p:cNvPr id="169" name="Group 169"/>
              <p:cNvGrpSpPr/>
              <p:nvPr/>
            </p:nvGrpSpPr>
            <p:grpSpPr>
              <a:xfrm>
                <a:off x="8260556" y="1935956"/>
                <a:ext cx="185737" cy="185737"/>
                <a:chOff x="8260556" y="1935956"/>
                <a:chExt cx="185737" cy="185737"/>
              </a:xfrm>
            </p:grpSpPr>
            <p:sp>
              <p:nvSpPr>
                <p:cNvPr id="167" name="Freeform 167"/>
                <p:cNvSpPr/>
                <p:nvPr/>
              </p:nvSpPr>
              <p:spPr>
                <a:xfrm>
                  <a:off x="8260556" y="1935956"/>
                  <a:ext cx="144462" cy="144462"/>
                </a:xfrm>
                <a:custGeom>
                  <a:avLst/>
                  <a:gdLst/>
                  <a:ahLst/>
                  <a:cxnLst/>
                  <a:rect l="l" t="t" r="r" b="b"/>
                  <a:pathLst>
                    <a:path w="144462" h="144462">
                      <a:moveTo>
                        <a:pt x="0" y="72231"/>
                      </a:moveTo>
                      <a:cubicBezTo>
                        <a:pt x="0" y="112123"/>
                        <a:pt x="32339" y="144462"/>
                        <a:pt x="72231" y="144462"/>
                      </a:cubicBezTo>
                      <a:cubicBezTo>
                        <a:pt x="112123" y="144462"/>
                        <a:pt x="144462" y="112123"/>
                        <a:pt x="144462" y="72231"/>
                      </a:cubicBezTo>
                      <a:cubicBezTo>
                        <a:pt x="144462" y="32339"/>
                        <a:pt x="112123" y="0"/>
                        <a:pt x="72231" y="0"/>
                      </a:cubicBezTo>
                      <a:cubicBezTo>
                        <a:pt x="32339" y="0"/>
                        <a:pt x="0" y="32339"/>
                        <a:pt x="0" y="72231"/>
                      </a:cubicBezTo>
                    </a:path>
                  </a:pathLst>
                </a:custGeom>
                <a:noFill/>
                <a:ln w="20637">
                  <a:solidFill>
                    <a:srgbClr val="92301C"/>
                  </a:solidFill>
                </a:ln>
              </p:spPr>
            </p:sp>
            <p:sp>
              <p:nvSpPr>
                <p:cNvPr id="168" name="Freeform 168"/>
                <p:cNvSpPr/>
                <p:nvPr/>
              </p:nvSpPr>
              <p:spPr>
                <a:xfrm>
                  <a:off x="8384381" y="2059781"/>
                  <a:ext cx="61912" cy="61912"/>
                </a:xfrm>
                <a:custGeom>
                  <a:avLst/>
                  <a:gdLst/>
                  <a:ahLst/>
                  <a:cxnLst/>
                  <a:rect l="l" t="t" r="r" b="b"/>
                  <a:pathLst>
                    <a:path w="61912" h="61912">
                      <a:moveTo>
                        <a:pt x="61912" y="61912"/>
                      </a:moveTo>
                      <a:lnTo>
                        <a:pt x="0" y="0"/>
                      </a:lnTo>
                    </a:path>
                  </a:pathLst>
                </a:custGeom>
                <a:noFill/>
                <a:ln w="20637">
                  <a:solidFill>
                    <a:srgbClr val="92301C"/>
                  </a:solidFill>
                </a:ln>
              </p:spPr>
            </p:sp>
          </p:grpSp>
          <p:sp>
            <p:nvSpPr>
              <p:cNvPr id="170" name="TextBox 170"/>
              <p:cNvSpPr txBox="1"/>
              <p:nvPr/>
            </p:nvSpPr>
            <p:spPr>
              <a:xfrm>
                <a:off x="8586597" y="1971199"/>
                <a:ext cx="669544"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真实性校验</a:t>
                </a:r>
              </a:p>
            </p:txBody>
          </p:sp>
          <p:sp>
            <p:nvSpPr>
              <p:cNvPr id="171" name="TextBox 171"/>
              <p:cNvSpPr txBox="1"/>
              <p:nvPr/>
            </p:nvSpPr>
            <p:spPr>
              <a:xfrm>
                <a:off x="9482138" y="1904286"/>
                <a:ext cx="153880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多数据源交叉验证，核验主体真实性</a:t>
                </a:r>
              </a:p>
            </p:txBody>
          </p:sp>
          <p:sp>
            <p:nvSpPr>
              <p:cNvPr id="172" name="TextBox 172"/>
              <p:cNvSpPr txBox="1"/>
              <p:nvPr/>
            </p:nvSpPr>
            <p:spPr>
              <a:xfrm>
                <a:off x="9482138" y="20757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识别异常与伪造风险</a:t>
                </a:r>
              </a:p>
            </p:txBody>
          </p:sp>
        </p:grpSp>
        <p:grpSp>
          <p:nvGrpSpPr>
            <p:cNvPr id="184" name="rs-3"/>
            <p:cNvGrpSpPr/>
            <p:nvPr/>
          </p:nvGrpSpPr>
          <p:grpSpPr>
            <a:xfrm>
              <a:off x="7715250" y="2400300"/>
              <a:ext cx="4286250" cy="666750"/>
              <a:chOff x="7715250" y="2400300"/>
              <a:chExt cx="4286250" cy="666750"/>
            </a:xfrm>
          </p:grpSpPr>
          <p:sp>
            <p:nvSpPr>
              <p:cNvPr id="174" name="Rectangle 174"/>
              <p:cNvSpPr/>
              <p:nvPr/>
            </p:nvSpPr>
            <p:spPr>
              <a:xfrm>
                <a:off x="7715250" y="2400300"/>
                <a:ext cx="4286250" cy="666750"/>
              </a:xfrm>
              <a:prstGeom prst="roundRect">
                <a:avLst>
                  <a:gd name="adj" fmla="val 8571"/>
                </a:avLst>
              </a:prstGeom>
              <a:solidFill>
                <a:srgbClr val="F6F9FD"/>
              </a:solidFill>
              <a:ln w="9525">
                <a:solidFill>
                  <a:srgbClr val="CFDFEE"/>
                </a:solidFill>
              </a:ln>
            </p:spPr>
          </p:sp>
          <p:sp>
            <p:nvSpPr>
              <p:cNvPr id="175" name="Ellipse 175"/>
              <p:cNvSpPr/>
              <p:nvPr/>
            </p:nvSpPr>
            <p:spPr>
              <a:xfrm>
                <a:off x="7810500" y="2581275"/>
                <a:ext cx="304800" cy="304800"/>
              </a:xfrm>
              <a:prstGeom prst="ellipse">
                <a:avLst/>
              </a:prstGeom>
              <a:solidFill>
                <a:srgbClr val="92301C"/>
              </a:solidFill>
              <a:ln>
                <a:noFill/>
              </a:ln>
            </p:spPr>
          </p:sp>
          <p:sp>
            <p:nvSpPr>
              <p:cNvPr id="176" name="TextBox 176"/>
              <p:cNvSpPr txBox="1"/>
              <p:nvPr/>
            </p:nvSpPr>
            <p:spPr>
              <a:xfrm>
                <a:off x="7890749" y="2684145"/>
                <a:ext cx="14430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j-lt"/>
                    <a:ea typeface="+mj-ea"/>
                    <a:cs typeface="+mj-cs"/>
                  </a:rPr>
                  <a:t>03</a:t>
                </a:r>
              </a:p>
            </p:txBody>
          </p:sp>
          <p:grpSp>
            <p:nvGrpSpPr>
              <p:cNvPr id="180" name="Group 180"/>
              <p:cNvGrpSpPr/>
              <p:nvPr/>
            </p:nvGrpSpPr>
            <p:grpSpPr>
              <a:xfrm>
                <a:off x="8281194" y="2640806"/>
                <a:ext cx="144462" cy="185737"/>
                <a:chOff x="8281194" y="2640806"/>
                <a:chExt cx="144462" cy="185737"/>
              </a:xfrm>
            </p:grpSpPr>
            <p:sp>
              <p:nvSpPr>
                <p:cNvPr id="177" name="Freeform 177"/>
                <p:cNvSpPr/>
                <p:nvPr/>
              </p:nvSpPr>
              <p:spPr>
                <a:xfrm>
                  <a:off x="8281194" y="2702718"/>
                  <a:ext cx="144462" cy="123825"/>
                </a:xfrm>
                <a:custGeom>
                  <a:avLst/>
                  <a:gdLst/>
                  <a:ahLst/>
                  <a:cxnLst/>
                  <a:rect l="l" t="t" r="r" b="b"/>
                  <a:pathLst>
                    <a:path w="144462" h="123825">
                      <a:moveTo>
                        <a:pt x="30956" y="0"/>
                      </a:moveTo>
                      <a:lnTo>
                        <a:pt x="20637" y="0"/>
                      </a:lnTo>
                      <a:cubicBezTo>
                        <a:pt x="9240" y="0"/>
                        <a:pt x="0" y="9240"/>
                        <a:pt x="0" y="20637"/>
                      </a:cubicBezTo>
                      <a:lnTo>
                        <a:pt x="0" y="103187"/>
                      </a:lnTo>
                      <a:cubicBezTo>
                        <a:pt x="0" y="114585"/>
                        <a:pt x="9240" y="123825"/>
                        <a:pt x="20637" y="123825"/>
                      </a:cubicBezTo>
                      <a:lnTo>
                        <a:pt x="123825" y="123825"/>
                      </a:lnTo>
                      <a:cubicBezTo>
                        <a:pt x="135222" y="123825"/>
                        <a:pt x="144462" y="114585"/>
                        <a:pt x="144462" y="103187"/>
                      </a:cubicBezTo>
                      <a:lnTo>
                        <a:pt x="144462" y="20637"/>
                      </a:lnTo>
                      <a:cubicBezTo>
                        <a:pt x="144462" y="9240"/>
                        <a:pt x="135222" y="0"/>
                        <a:pt x="123825" y="0"/>
                      </a:cubicBezTo>
                      <a:lnTo>
                        <a:pt x="113506" y="0"/>
                      </a:lnTo>
                    </a:path>
                  </a:pathLst>
                </a:custGeom>
                <a:noFill/>
                <a:ln w="20637">
                  <a:solidFill>
                    <a:srgbClr val="92301C"/>
                  </a:solidFill>
                </a:ln>
              </p:spPr>
            </p:sp>
            <p:sp>
              <p:nvSpPr>
                <p:cNvPr id="178" name="Freeform 178"/>
                <p:cNvSpPr/>
                <p:nvPr/>
              </p:nvSpPr>
              <p:spPr>
                <a:xfrm>
                  <a:off x="8353425" y="2640806"/>
                  <a:ext cx="9525" cy="113506"/>
                </a:xfrm>
                <a:custGeom>
                  <a:avLst/>
                  <a:gdLst/>
                  <a:ahLst/>
                  <a:cxnLst/>
                  <a:rect l="l" t="t" r="r" b="b"/>
                  <a:pathLst>
                    <a:path w="9525" h="113506">
                      <a:moveTo>
                        <a:pt x="0" y="113506"/>
                      </a:moveTo>
                      <a:lnTo>
                        <a:pt x="0" y="0"/>
                      </a:lnTo>
                    </a:path>
                  </a:pathLst>
                </a:custGeom>
                <a:noFill/>
                <a:ln w="20637">
                  <a:solidFill>
                    <a:srgbClr val="92301C"/>
                  </a:solidFill>
                </a:ln>
              </p:spPr>
            </p:sp>
            <p:sp>
              <p:nvSpPr>
                <p:cNvPr id="179" name="Freeform 179"/>
                <p:cNvSpPr/>
                <p:nvPr/>
              </p:nvSpPr>
              <p:spPr>
                <a:xfrm>
                  <a:off x="8322468" y="2640806"/>
                  <a:ext cx="61912" cy="30956"/>
                </a:xfrm>
                <a:custGeom>
                  <a:avLst/>
                  <a:gdLst/>
                  <a:ahLst/>
                  <a:cxnLst/>
                  <a:rect l="l" t="t" r="r" b="b"/>
                  <a:pathLst>
                    <a:path w="61912" h="30956">
                      <a:moveTo>
                        <a:pt x="0" y="30956"/>
                      </a:moveTo>
                      <a:lnTo>
                        <a:pt x="30956" y="0"/>
                      </a:lnTo>
                      <a:lnTo>
                        <a:pt x="61912" y="30956"/>
                      </a:lnTo>
                    </a:path>
                  </a:pathLst>
                </a:custGeom>
                <a:noFill/>
                <a:ln w="20637">
                  <a:solidFill>
                    <a:srgbClr val="92301C"/>
                  </a:solidFill>
                </a:ln>
              </p:spPr>
            </p:sp>
          </p:grpSp>
          <p:sp>
            <p:nvSpPr>
              <p:cNvPr id="181" name="TextBox 181"/>
              <p:cNvSpPr txBox="1"/>
              <p:nvPr/>
            </p:nvSpPr>
            <p:spPr>
              <a:xfrm>
                <a:off x="8586597" y="267604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关系穿透</a:t>
                </a:r>
              </a:p>
            </p:txBody>
          </p:sp>
          <p:sp>
            <p:nvSpPr>
              <p:cNvPr id="182" name="TextBox 182"/>
              <p:cNvSpPr txBox="1"/>
              <p:nvPr/>
            </p:nvSpPr>
            <p:spPr>
              <a:xfrm>
                <a:off x="9482138" y="2609136"/>
                <a:ext cx="134764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穿透股权结构，识别实际控制人</a:t>
                </a:r>
              </a:p>
            </p:txBody>
          </p:sp>
          <p:sp>
            <p:nvSpPr>
              <p:cNvPr id="183" name="TextBox 183"/>
              <p:cNvSpPr txBox="1"/>
              <p:nvPr/>
            </p:nvSpPr>
            <p:spPr>
              <a:xfrm>
                <a:off x="9482138" y="2780586"/>
                <a:ext cx="106090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挖掘关联方与一致行动人</a:t>
                </a:r>
              </a:p>
            </p:txBody>
          </p:sp>
        </p:grpSp>
        <p:grpSp>
          <p:nvGrpSpPr>
            <p:cNvPr id="198" name="rs-4"/>
            <p:cNvGrpSpPr/>
            <p:nvPr/>
          </p:nvGrpSpPr>
          <p:grpSpPr>
            <a:xfrm>
              <a:off x="7715250" y="3105150"/>
              <a:ext cx="4286250" cy="666750"/>
              <a:chOff x="7715250" y="3105150"/>
              <a:chExt cx="4286250" cy="666750"/>
            </a:xfrm>
          </p:grpSpPr>
          <p:sp>
            <p:nvSpPr>
              <p:cNvPr id="185" name="Rectangle 185"/>
              <p:cNvSpPr/>
              <p:nvPr/>
            </p:nvSpPr>
            <p:spPr>
              <a:xfrm>
                <a:off x="7715250" y="3105150"/>
                <a:ext cx="4286250" cy="666750"/>
              </a:xfrm>
              <a:prstGeom prst="roundRect">
                <a:avLst>
                  <a:gd name="adj" fmla="val 8571"/>
                </a:avLst>
              </a:prstGeom>
              <a:solidFill>
                <a:srgbClr val="F6F9FD"/>
              </a:solidFill>
              <a:ln w="9525">
                <a:solidFill>
                  <a:srgbClr val="CFDFEE"/>
                </a:solidFill>
              </a:ln>
            </p:spPr>
          </p:sp>
          <p:sp>
            <p:nvSpPr>
              <p:cNvPr id="186" name="Ellipse 186"/>
              <p:cNvSpPr/>
              <p:nvPr/>
            </p:nvSpPr>
            <p:spPr>
              <a:xfrm>
                <a:off x="7810500" y="3286125"/>
                <a:ext cx="304800" cy="304800"/>
              </a:xfrm>
              <a:prstGeom prst="ellipse">
                <a:avLst/>
              </a:prstGeom>
              <a:solidFill>
                <a:srgbClr val="92301C"/>
              </a:solidFill>
              <a:ln>
                <a:noFill/>
              </a:ln>
            </p:spPr>
          </p:sp>
          <p:sp>
            <p:nvSpPr>
              <p:cNvPr id="187" name="TextBox 187"/>
              <p:cNvSpPr txBox="1"/>
              <p:nvPr/>
            </p:nvSpPr>
            <p:spPr>
              <a:xfrm>
                <a:off x="7890749" y="3388995"/>
                <a:ext cx="14430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j-lt"/>
                    <a:ea typeface="+mj-ea"/>
                    <a:cs typeface="+mj-cs"/>
                  </a:rPr>
                  <a:t>04</a:t>
                </a:r>
              </a:p>
            </p:txBody>
          </p:sp>
          <p:grpSp>
            <p:nvGrpSpPr>
              <p:cNvPr id="194" name="Group 194"/>
              <p:cNvGrpSpPr/>
              <p:nvPr/>
            </p:nvGrpSpPr>
            <p:grpSpPr>
              <a:xfrm>
                <a:off x="8265716" y="3361134"/>
                <a:ext cx="170258" cy="149622"/>
                <a:chOff x="8265716" y="3361134"/>
                <a:chExt cx="170258" cy="149622"/>
              </a:xfrm>
            </p:grpSpPr>
            <p:sp>
              <p:nvSpPr>
                <p:cNvPr id="188" name="Freeform 188"/>
                <p:cNvSpPr/>
                <p:nvPr/>
              </p:nvSpPr>
              <p:spPr>
                <a:xfrm>
                  <a:off x="8265716" y="3361134"/>
                  <a:ext cx="41275" cy="25797"/>
                </a:xfrm>
                <a:custGeom>
                  <a:avLst/>
                  <a:gdLst/>
                  <a:ahLst/>
                  <a:cxnLst/>
                  <a:rect l="l" t="t" r="r" b="b"/>
                  <a:pathLst>
                    <a:path w="41275" h="25797">
                      <a:moveTo>
                        <a:pt x="0" y="10319"/>
                      </a:moveTo>
                      <a:lnTo>
                        <a:pt x="15478" y="25797"/>
                      </a:lnTo>
                      <a:lnTo>
                        <a:pt x="41275" y="0"/>
                      </a:lnTo>
                    </a:path>
                  </a:pathLst>
                </a:custGeom>
                <a:noFill/>
                <a:ln w="20637">
                  <a:solidFill>
                    <a:srgbClr val="92301C"/>
                  </a:solidFill>
                </a:ln>
              </p:spPr>
            </p:sp>
            <p:sp>
              <p:nvSpPr>
                <p:cNvPr id="189" name="Freeform 189"/>
                <p:cNvSpPr/>
                <p:nvPr/>
              </p:nvSpPr>
              <p:spPr>
                <a:xfrm>
                  <a:off x="8265716" y="3423047"/>
                  <a:ext cx="41275" cy="25797"/>
                </a:xfrm>
                <a:custGeom>
                  <a:avLst/>
                  <a:gdLst/>
                  <a:ahLst/>
                  <a:cxnLst/>
                  <a:rect l="l" t="t" r="r" b="b"/>
                  <a:pathLst>
                    <a:path w="41275" h="25797">
                      <a:moveTo>
                        <a:pt x="0" y="10319"/>
                      </a:moveTo>
                      <a:lnTo>
                        <a:pt x="15478" y="25797"/>
                      </a:lnTo>
                      <a:lnTo>
                        <a:pt x="41275" y="0"/>
                      </a:lnTo>
                    </a:path>
                  </a:pathLst>
                </a:custGeom>
                <a:noFill/>
                <a:ln w="20637">
                  <a:solidFill>
                    <a:srgbClr val="92301C"/>
                  </a:solidFill>
                </a:ln>
              </p:spPr>
            </p:sp>
            <p:sp>
              <p:nvSpPr>
                <p:cNvPr id="190" name="Freeform 190"/>
                <p:cNvSpPr/>
                <p:nvPr/>
              </p:nvSpPr>
              <p:spPr>
                <a:xfrm>
                  <a:off x="8265716" y="3484959"/>
                  <a:ext cx="41275" cy="25797"/>
                </a:xfrm>
                <a:custGeom>
                  <a:avLst/>
                  <a:gdLst/>
                  <a:ahLst/>
                  <a:cxnLst/>
                  <a:rect l="l" t="t" r="r" b="b"/>
                  <a:pathLst>
                    <a:path w="41275" h="25797">
                      <a:moveTo>
                        <a:pt x="0" y="10319"/>
                      </a:moveTo>
                      <a:lnTo>
                        <a:pt x="15478" y="25797"/>
                      </a:lnTo>
                      <a:lnTo>
                        <a:pt x="41275" y="0"/>
                      </a:lnTo>
                    </a:path>
                  </a:pathLst>
                </a:custGeom>
                <a:noFill/>
                <a:ln w="20637">
                  <a:solidFill>
                    <a:srgbClr val="92301C"/>
                  </a:solidFill>
                </a:ln>
              </p:spPr>
            </p:sp>
            <p:sp>
              <p:nvSpPr>
                <p:cNvPr id="191" name="Freeform 191"/>
                <p:cNvSpPr/>
                <p:nvPr/>
              </p:nvSpPr>
              <p:spPr>
                <a:xfrm>
                  <a:off x="8343106" y="3376612"/>
                  <a:ext cx="92868" cy="9525"/>
                </a:xfrm>
                <a:custGeom>
                  <a:avLst/>
                  <a:gdLst/>
                  <a:ahLst/>
                  <a:cxnLst/>
                  <a:rect l="l" t="t" r="r" b="b"/>
                  <a:pathLst>
                    <a:path w="92868" h="9525">
                      <a:moveTo>
                        <a:pt x="0" y="0"/>
                      </a:moveTo>
                      <a:lnTo>
                        <a:pt x="92868" y="0"/>
                      </a:lnTo>
                    </a:path>
                  </a:pathLst>
                </a:custGeom>
                <a:noFill/>
                <a:ln w="20637">
                  <a:solidFill>
                    <a:srgbClr val="92301C"/>
                  </a:solidFill>
                </a:ln>
              </p:spPr>
            </p:sp>
            <p:sp>
              <p:nvSpPr>
                <p:cNvPr id="192" name="Freeform 192"/>
                <p:cNvSpPr/>
                <p:nvPr/>
              </p:nvSpPr>
              <p:spPr>
                <a:xfrm>
                  <a:off x="8343106" y="3438525"/>
                  <a:ext cx="92868" cy="9525"/>
                </a:xfrm>
                <a:custGeom>
                  <a:avLst/>
                  <a:gdLst/>
                  <a:ahLst/>
                  <a:cxnLst/>
                  <a:rect l="l" t="t" r="r" b="b"/>
                  <a:pathLst>
                    <a:path w="92868" h="9525">
                      <a:moveTo>
                        <a:pt x="0" y="0"/>
                      </a:moveTo>
                      <a:lnTo>
                        <a:pt x="92868" y="0"/>
                      </a:lnTo>
                    </a:path>
                  </a:pathLst>
                </a:custGeom>
                <a:noFill/>
                <a:ln w="20637">
                  <a:solidFill>
                    <a:srgbClr val="92301C"/>
                  </a:solidFill>
                </a:ln>
              </p:spPr>
            </p:sp>
            <p:sp>
              <p:nvSpPr>
                <p:cNvPr id="193" name="Freeform 193"/>
                <p:cNvSpPr/>
                <p:nvPr/>
              </p:nvSpPr>
              <p:spPr>
                <a:xfrm>
                  <a:off x="8343106" y="3500437"/>
                  <a:ext cx="92868" cy="9525"/>
                </a:xfrm>
                <a:custGeom>
                  <a:avLst/>
                  <a:gdLst/>
                  <a:ahLst/>
                  <a:cxnLst/>
                  <a:rect l="l" t="t" r="r" b="b"/>
                  <a:pathLst>
                    <a:path w="92868" h="9525">
                      <a:moveTo>
                        <a:pt x="0" y="0"/>
                      </a:moveTo>
                      <a:lnTo>
                        <a:pt x="92868" y="0"/>
                      </a:lnTo>
                    </a:path>
                  </a:pathLst>
                </a:custGeom>
                <a:noFill/>
                <a:ln w="20637">
                  <a:solidFill>
                    <a:srgbClr val="92301C"/>
                  </a:solidFill>
                </a:ln>
              </p:spPr>
            </p:sp>
          </p:grpSp>
          <p:sp>
            <p:nvSpPr>
              <p:cNvPr id="195" name="TextBox 195"/>
              <p:cNvSpPr txBox="1"/>
              <p:nvPr/>
            </p:nvSpPr>
            <p:spPr>
              <a:xfrm>
                <a:off x="8586597" y="33808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名单筛查</a:t>
                </a:r>
              </a:p>
            </p:txBody>
          </p:sp>
          <p:sp>
            <p:nvSpPr>
              <p:cNvPr id="196" name="TextBox 196"/>
              <p:cNvSpPr txBox="1"/>
              <p:nvPr/>
            </p:nvSpPr>
            <p:spPr>
              <a:xfrm>
                <a:off x="9482138" y="3313986"/>
                <a:ext cx="1836470"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j-lt"/>
                    <a:ea typeface="+mj-ea"/>
                    <a:cs typeface="+mj-cs"/>
                  </a:rPr>
                  <a:t xml:space="preserve">比对境内外制裁、PEP、负面舆情等名单　</a:t>
                </a:r>
              </a:p>
            </p:txBody>
          </p:sp>
          <p:sp>
            <p:nvSpPr>
              <p:cNvPr id="197" name="TextBox 197"/>
              <p:cNvSpPr txBox="1"/>
              <p:nvPr/>
            </p:nvSpPr>
            <p:spPr>
              <a:xfrm>
                <a:off x="9482138" y="3485436"/>
                <a:ext cx="115648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识别潜在制裁与高风险主体</a:t>
                </a:r>
              </a:p>
            </p:txBody>
          </p:sp>
        </p:grpSp>
        <p:grpSp>
          <p:nvGrpSpPr>
            <p:cNvPr id="210" name="rs-5"/>
            <p:cNvGrpSpPr/>
            <p:nvPr/>
          </p:nvGrpSpPr>
          <p:grpSpPr>
            <a:xfrm>
              <a:off x="7715250" y="3810000"/>
              <a:ext cx="4286250" cy="666750"/>
              <a:chOff x="7715250" y="3810000"/>
              <a:chExt cx="4286250" cy="666750"/>
            </a:xfrm>
          </p:grpSpPr>
          <p:sp>
            <p:nvSpPr>
              <p:cNvPr id="199" name="Rectangle 199"/>
              <p:cNvSpPr/>
              <p:nvPr/>
            </p:nvSpPr>
            <p:spPr>
              <a:xfrm>
                <a:off x="7715250" y="3810000"/>
                <a:ext cx="4286250" cy="666750"/>
              </a:xfrm>
              <a:prstGeom prst="roundRect">
                <a:avLst>
                  <a:gd name="adj" fmla="val 8571"/>
                </a:avLst>
              </a:prstGeom>
              <a:solidFill>
                <a:srgbClr val="F6F9FD"/>
              </a:solidFill>
              <a:ln w="9525">
                <a:solidFill>
                  <a:srgbClr val="CFDFEE"/>
                </a:solidFill>
              </a:ln>
            </p:spPr>
          </p:sp>
          <p:sp>
            <p:nvSpPr>
              <p:cNvPr id="200" name="Ellipse 200"/>
              <p:cNvSpPr/>
              <p:nvPr/>
            </p:nvSpPr>
            <p:spPr>
              <a:xfrm>
                <a:off x="7810500" y="3990975"/>
                <a:ext cx="304800" cy="304800"/>
              </a:xfrm>
              <a:prstGeom prst="ellipse">
                <a:avLst/>
              </a:prstGeom>
              <a:solidFill>
                <a:srgbClr val="92301C"/>
              </a:solidFill>
              <a:ln>
                <a:noFill/>
              </a:ln>
            </p:spPr>
          </p:sp>
          <p:sp>
            <p:nvSpPr>
              <p:cNvPr id="201" name="TextBox 201"/>
              <p:cNvSpPr txBox="1"/>
              <p:nvPr/>
            </p:nvSpPr>
            <p:spPr>
              <a:xfrm>
                <a:off x="7890749" y="4093845"/>
                <a:ext cx="14430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j-lt"/>
                    <a:ea typeface="+mj-ea"/>
                    <a:cs typeface="+mj-cs"/>
                  </a:rPr>
                  <a:t>05</a:t>
                </a:r>
              </a:p>
            </p:txBody>
          </p:sp>
          <p:grpSp>
            <p:nvGrpSpPr>
              <p:cNvPr id="206" name="Group 206"/>
              <p:cNvGrpSpPr/>
              <p:nvPr/>
            </p:nvGrpSpPr>
            <p:grpSpPr>
              <a:xfrm>
                <a:off x="8260556" y="4060825"/>
                <a:ext cx="185737" cy="174624"/>
                <a:chOff x="8260556" y="4060825"/>
                <a:chExt cx="185737" cy="174624"/>
              </a:xfrm>
            </p:grpSpPr>
            <p:sp>
              <p:nvSpPr>
                <p:cNvPr id="202" name="Freeform 202"/>
                <p:cNvSpPr/>
                <p:nvPr/>
              </p:nvSpPr>
              <p:spPr>
                <a:xfrm>
                  <a:off x="8260556" y="414337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92301C"/>
                  </a:solidFill>
                </a:ln>
              </p:spPr>
            </p:sp>
            <p:sp>
              <p:nvSpPr>
                <p:cNvPr id="203" name="Freeform 203"/>
                <p:cNvSpPr/>
                <p:nvPr/>
              </p:nvSpPr>
              <p:spPr>
                <a:xfrm>
                  <a:off x="8384381" y="410210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92301C"/>
                  </a:solidFill>
                </a:ln>
              </p:spPr>
            </p:sp>
            <p:sp>
              <p:nvSpPr>
                <p:cNvPr id="204" name="Freeform 204"/>
                <p:cNvSpPr/>
                <p:nvPr/>
              </p:nvSpPr>
              <p:spPr>
                <a:xfrm>
                  <a:off x="8322468" y="406082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92301C"/>
                  </a:solidFill>
                </a:ln>
              </p:spPr>
            </p:sp>
            <p:sp>
              <p:nvSpPr>
                <p:cNvPr id="205" name="Freeform 205"/>
                <p:cNvSpPr/>
                <p:nvPr/>
              </p:nvSpPr>
              <p:spPr>
                <a:xfrm>
                  <a:off x="8270875" y="4225924"/>
                  <a:ext cx="144462" cy="9525"/>
                </a:xfrm>
                <a:custGeom>
                  <a:avLst/>
                  <a:gdLst/>
                  <a:ahLst/>
                  <a:cxnLst/>
                  <a:rect l="l" t="t" r="r" b="b"/>
                  <a:pathLst>
                    <a:path w="144462" h="9525">
                      <a:moveTo>
                        <a:pt x="0" y="0"/>
                      </a:moveTo>
                      <a:lnTo>
                        <a:pt x="144462" y="0"/>
                      </a:lnTo>
                    </a:path>
                  </a:pathLst>
                </a:custGeom>
                <a:noFill/>
                <a:ln w="20637">
                  <a:solidFill>
                    <a:srgbClr val="92301C"/>
                  </a:solidFill>
                </a:ln>
              </p:spPr>
            </p:sp>
          </p:grpSp>
          <p:sp>
            <p:nvSpPr>
              <p:cNvPr id="207" name="TextBox 207"/>
              <p:cNvSpPr txBox="1"/>
              <p:nvPr/>
            </p:nvSpPr>
            <p:spPr>
              <a:xfrm>
                <a:off x="8586597" y="408574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风险评级</a:t>
                </a:r>
              </a:p>
            </p:txBody>
          </p:sp>
          <p:sp>
            <p:nvSpPr>
              <p:cNvPr id="208" name="TextBox 208"/>
              <p:cNvSpPr txBox="1"/>
              <p:nvPr/>
            </p:nvSpPr>
            <p:spPr>
              <a:xfrm>
                <a:off x="9482138" y="4018836"/>
                <a:ext cx="125206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基于多因子进行客户风险评级</a:t>
                </a:r>
              </a:p>
            </p:txBody>
          </p:sp>
          <p:sp>
            <p:nvSpPr>
              <p:cNvPr id="209" name="TextBox 209"/>
              <p:cNvSpPr txBox="1"/>
              <p:nvPr/>
            </p:nvSpPr>
            <p:spPr>
              <a:xfrm>
                <a:off x="9482138" y="4190286"/>
                <a:ext cx="106090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输出风险标签与关注要点</a:t>
                </a:r>
              </a:p>
            </p:txBody>
          </p:sp>
        </p:grpSp>
        <p:grpSp>
          <p:nvGrpSpPr>
            <p:cNvPr id="220" name="rs-6"/>
            <p:cNvGrpSpPr/>
            <p:nvPr/>
          </p:nvGrpSpPr>
          <p:grpSpPr>
            <a:xfrm>
              <a:off x="7715250" y="4514850"/>
              <a:ext cx="4286250" cy="666750"/>
              <a:chOff x="7715250" y="4514850"/>
              <a:chExt cx="4286250" cy="666750"/>
            </a:xfrm>
          </p:grpSpPr>
          <p:sp>
            <p:nvSpPr>
              <p:cNvPr id="211" name="Rectangle 211"/>
              <p:cNvSpPr/>
              <p:nvPr/>
            </p:nvSpPr>
            <p:spPr>
              <a:xfrm>
                <a:off x="7715250" y="4514850"/>
                <a:ext cx="4286250" cy="666750"/>
              </a:xfrm>
              <a:prstGeom prst="roundRect">
                <a:avLst>
                  <a:gd name="adj" fmla="val 8571"/>
                </a:avLst>
              </a:prstGeom>
              <a:solidFill>
                <a:srgbClr val="F6F9FD"/>
              </a:solidFill>
              <a:ln w="9525">
                <a:solidFill>
                  <a:srgbClr val="CFDFEE"/>
                </a:solidFill>
              </a:ln>
            </p:spPr>
          </p:sp>
          <p:sp>
            <p:nvSpPr>
              <p:cNvPr id="212" name="Ellipse 212"/>
              <p:cNvSpPr/>
              <p:nvPr/>
            </p:nvSpPr>
            <p:spPr>
              <a:xfrm>
                <a:off x="7810500" y="4695825"/>
                <a:ext cx="304800" cy="304800"/>
              </a:xfrm>
              <a:prstGeom prst="ellipse">
                <a:avLst/>
              </a:prstGeom>
              <a:solidFill>
                <a:srgbClr val="92301C"/>
              </a:solidFill>
              <a:ln>
                <a:noFill/>
              </a:ln>
            </p:spPr>
          </p:sp>
          <p:sp>
            <p:nvSpPr>
              <p:cNvPr id="213" name="TextBox 213"/>
              <p:cNvSpPr txBox="1"/>
              <p:nvPr/>
            </p:nvSpPr>
            <p:spPr>
              <a:xfrm>
                <a:off x="7890749" y="4798695"/>
                <a:ext cx="14430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j-lt"/>
                    <a:ea typeface="+mj-ea"/>
                    <a:cs typeface="+mj-cs"/>
                  </a:rPr>
                  <a:t>06</a:t>
                </a:r>
              </a:p>
            </p:txBody>
          </p:sp>
          <p:grpSp>
            <p:nvGrpSpPr>
              <p:cNvPr id="216" name="Group 216"/>
              <p:cNvGrpSpPr/>
              <p:nvPr/>
            </p:nvGrpSpPr>
            <p:grpSpPr>
              <a:xfrm>
                <a:off x="8246631" y="4755356"/>
                <a:ext cx="201506" cy="185737"/>
                <a:chOff x="8246631" y="4755356"/>
                <a:chExt cx="201506" cy="185737"/>
              </a:xfrm>
            </p:grpSpPr>
            <p:sp>
              <p:nvSpPr>
                <p:cNvPr id="214" name="Freeform 214"/>
                <p:cNvSpPr/>
                <p:nvPr/>
              </p:nvSpPr>
              <p:spPr>
                <a:xfrm>
                  <a:off x="8246631" y="475535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92301C"/>
                  </a:solidFill>
                </a:ln>
              </p:spPr>
            </p:sp>
            <p:sp>
              <p:nvSpPr>
                <p:cNvPr id="215" name="Freeform 215"/>
                <p:cNvSpPr/>
                <p:nvPr/>
              </p:nvSpPr>
              <p:spPr>
                <a:xfrm>
                  <a:off x="8384381" y="4899818"/>
                  <a:ext cx="61912" cy="41275"/>
                </a:xfrm>
                <a:custGeom>
                  <a:avLst/>
                  <a:gdLst/>
                  <a:ahLst/>
                  <a:cxnLst/>
                  <a:rect l="l" t="t" r="r" b="b"/>
                  <a:pathLst>
                    <a:path w="61912" h="41275">
                      <a:moveTo>
                        <a:pt x="0" y="20637"/>
                      </a:moveTo>
                      <a:lnTo>
                        <a:pt x="20637" y="41275"/>
                      </a:lnTo>
                      <a:lnTo>
                        <a:pt x="61912" y="0"/>
                      </a:lnTo>
                    </a:path>
                  </a:pathLst>
                </a:custGeom>
                <a:noFill/>
                <a:ln w="20637">
                  <a:solidFill>
                    <a:srgbClr val="92301C"/>
                  </a:solidFill>
                </a:ln>
              </p:spPr>
            </p:sp>
          </p:grpSp>
          <p:sp>
            <p:nvSpPr>
              <p:cNvPr id="217" name="TextBox 217"/>
              <p:cNvSpPr txBox="1"/>
              <p:nvPr/>
            </p:nvSpPr>
            <p:spPr>
              <a:xfrm>
                <a:off x="8586597" y="479059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合规复核</a:t>
                </a:r>
              </a:p>
            </p:txBody>
          </p:sp>
          <p:sp>
            <p:nvSpPr>
              <p:cNvPr id="218" name="TextBox 218"/>
              <p:cNvSpPr txBox="1"/>
              <p:nvPr/>
            </p:nvSpPr>
            <p:spPr>
              <a:xfrm>
                <a:off x="9482138" y="4723686"/>
                <a:ext cx="106090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生成尽调报告与辅助建议</a:t>
                </a:r>
              </a:p>
            </p:txBody>
          </p:sp>
          <p:sp>
            <p:nvSpPr>
              <p:cNvPr id="219" name="TextBox 219"/>
              <p:cNvSpPr txBox="1"/>
              <p:nvPr/>
            </p:nvSpPr>
            <p:spPr>
              <a:xfrm>
                <a:off x="9482138" y="4895136"/>
                <a:ext cx="1921129"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由授权人员确认后方可用于授信、交易等决策</a:t>
                </a:r>
              </a:p>
            </p:txBody>
          </p:sp>
        </p:grpSp>
      </p:grpSp>
      <p:grpSp>
        <p:nvGrpSpPr>
          <p:cNvPr id="254" name="bottom-cards"/>
          <p:cNvGrpSpPr/>
          <p:nvPr/>
        </p:nvGrpSpPr>
        <p:grpSpPr>
          <a:xfrm>
            <a:off x="190500" y="5295900"/>
            <a:ext cx="7419975" cy="1276350"/>
            <a:chOff x="190500" y="5295900"/>
            <a:chExt cx="7419975" cy="1276350"/>
          </a:xfrm>
        </p:grpSpPr>
        <p:grpSp>
          <p:nvGrpSpPr>
            <p:cNvPr id="231" name="bc-1"/>
            <p:cNvGrpSpPr/>
            <p:nvPr/>
          </p:nvGrpSpPr>
          <p:grpSpPr>
            <a:xfrm>
              <a:off x="190500" y="5295900"/>
              <a:ext cx="2409825" cy="1276350"/>
              <a:chOff x="190500" y="5295900"/>
              <a:chExt cx="2409825" cy="1276350"/>
            </a:xfrm>
          </p:grpSpPr>
          <p:sp>
            <p:nvSpPr>
              <p:cNvPr id="222" name="Rectangle 222"/>
              <p:cNvSpPr/>
              <p:nvPr/>
            </p:nvSpPr>
            <p:spPr>
              <a:xfrm>
                <a:off x="190500" y="5295900"/>
                <a:ext cx="2409825" cy="1276350"/>
              </a:xfrm>
              <a:prstGeom prst="roundRect">
                <a:avLst>
                  <a:gd name="adj" fmla="val 4478"/>
                </a:avLst>
              </a:prstGeom>
              <a:solidFill>
                <a:srgbClr val="F6F9FD"/>
              </a:solidFill>
              <a:ln w="9525">
                <a:solidFill>
                  <a:srgbClr val="CFDFEE"/>
                </a:solidFill>
              </a:ln>
            </p:spPr>
          </p:sp>
          <p:sp>
            <p:nvSpPr>
              <p:cNvPr id="223" name="Ellipse 223"/>
              <p:cNvSpPr/>
              <p:nvPr/>
            </p:nvSpPr>
            <p:spPr>
              <a:xfrm>
                <a:off x="304800" y="5410200"/>
                <a:ext cx="342900" cy="342900"/>
              </a:xfrm>
              <a:prstGeom prst="ellipse">
                <a:avLst/>
              </a:prstGeom>
              <a:solidFill>
                <a:srgbClr val="92301C"/>
              </a:solidFill>
              <a:ln>
                <a:noFill/>
              </a:ln>
            </p:spPr>
          </p:sp>
          <p:grpSp>
            <p:nvGrpSpPr>
              <p:cNvPr id="226" name="Group 226"/>
              <p:cNvGrpSpPr/>
              <p:nvPr/>
            </p:nvGrpSpPr>
            <p:grpSpPr>
              <a:xfrm>
                <a:off x="412750" y="5515087"/>
                <a:ext cx="127000" cy="133125"/>
                <a:chOff x="412750" y="5515087"/>
                <a:chExt cx="127000" cy="133125"/>
              </a:xfrm>
            </p:grpSpPr>
            <p:sp>
              <p:nvSpPr>
                <p:cNvPr id="224" name="Freeform 224"/>
                <p:cNvSpPr/>
                <p:nvPr/>
              </p:nvSpPr>
              <p:spPr>
                <a:xfrm>
                  <a:off x="412750" y="551508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FFFFFF"/>
                  </a:solidFill>
                </a:ln>
              </p:spPr>
            </p:sp>
            <p:sp>
              <p:nvSpPr>
                <p:cNvPr id="225" name="Freeform 225"/>
                <p:cNvSpPr/>
                <p:nvPr/>
              </p:nvSpPr>
              <p:spPr>
                <a:xfrm>
                  <a:off x="412750" y="558958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FFFFFF"/>
                  </a:solidFill>
                </a:ln>
              </p:spPr>
            </p:sp>
          </p:grpSp>
          <p:sp>
            <p:nvSpPr>
              <p:cNvPr id="227" name="TextBox 227"/>
              <p:cNvSpPr txBox="1"/>
              <p:nvPr/>
            </p:nvSpPr>
            <p:spPr>
              <a:xfrm>
                <a:off x="737997" y="553354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信息更新</a:t>
                </a:r>
              </a:p>
            </p:txBody>
          </p:sp>
          <p:sp>
            <p:nvSpPr>
              <p:cNvPr id="228" name="TextBox 228"/>
              <p:cNvSpPr txBox="1"/>
              <p:nvPr/>
            </p:nvSpPr>
            <p:spPr>
              <a:xfrm>
                <a:off x="376238" y="5843588"/>
                <a:ext cx="160496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建立定期更新与重大事项触发机制</a:t>
                </a:r>
              </a:p>
            </p:txBody>
          </p:sp>
          <p:sp>
            <p:nvSpPr>
              <p:cNvPr id="229" name="TextBox 229"/>
              <p:cNvSpPr txBox="1"/>
              <p:nvPr/>
            </p:nvSpPr>
            <p:spPr>
              <a:xfrm>
                <a:off x="376238" y="6015038"/>
                <a:ext cx="130206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持续监测客户与关联方动态</a:t>
                </a:r>
              </a:p>
            </p:txBody>
          </p:sp>
          <p:sp>
            <p:nvSpPr>
              <p:cNvPr id="230" name="TextBox 230"/>
              <p:cNvSpPr txBox="1"/>
              <p:nvPr/>
            </p:nvSpPr>
            <p:spPr>
              <a:xfrm>
                <a:off x="376238" y="6186488"/>
                <a:ext cx="120110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自动提示重检与风险变化</a:t>
                </a:r>
              </a:p>
            </p:txBody>
          </p:sp>
        </p:grpSp>
        <p:grpSp>
          <p:nvGrpSpPr>
            <p:cNvPr id="242" name="bc-2"/>
            <p:cNvGrpSpPr/>
            <p:nvPr/>
          </p:nvGrpSpPr>
          <p:grpSpPr>
            <a:xfrm>
              <a:off x="2695575" y="5295900"/>
              <a:ext cx="2409825" cy="1276350"/>
              <a:chOff x="2695575" y="5295900"/>
              <a:chExt cx="2409825" cy="1276350"/>
            </a:xfrm>
          </p:grpSpPr>
          <p:sp>
            <p:nvSpPr>
              <p:cNvPr id="232" name="Rectangle 232"/>
              <p:cNvSpPr/>
              <p:nvPr/>
            </p:nvSpPr>
            <p:spPr>
              <a:xfrm>
                <a:off x="2695575" y="5295900"/>
                <a:ext cx="2409825" cy="1276350"/>
              </a:xfrm>
              <a:prstGeom prst="roundRect">
                <a:avLst>
                  <a:gd name="adj" fmla="val 4478"/>
                </a:avLst>
              </a:prstGeom>
              <a:solidFill>
                <a:srgbClr val="F6F9FD"/>
              </a:solidFill>
              <a:ln w="9525">
                <a:solidFill>
                  <a:srgbClr val="CFDFEE"/>
                </a:solidFill>
              </a:ln>
            </p:spPr>
          </p:sp>
          <p:sp>
            <p:nvSpPr>
              <p:cNvPr id="233" name="Ellipse 233"/>
              <p:cNvSpPr/>
              <p:nvPr/>
            </p:nvSpPr>
            <p:spPr>
              <a:xfrm>
                <a:off x="2809875" y="5410200"/>
                <a:ext cx="342900" cy="342900"/>
              </a:xfrm>
              <a:prstGeom prst="ellipse">
                <a:avLst/>
              </a:prstGeom>
              <a:solidFill>
                <a:srgbClr val="92301C"/>
              </a:solidFill>
              <a:ln>
                <a:noFill/>
              </a:ln>
            </p:spPr>
          </p:sp>
          <p:grpSp>
            <p:nvGrpSpPr>
              <p:cNvPr id="237" name="Group 237"/>
              <p:cNvGrpSpPr/>
              <p:nvPr/>
            </p:nvGrpSpPr>
            <p:grpSpPr>
              <a:xfrm>
                <a:off x="2917825" y="5510212"/>
                <a:ext cx="127000" cy="142875"/>
                <a:chOff x="2917825" y="5510212"/>
                <a:chExt cx="127000" cy="142875"/>
              </a:xfrm>
            </p:grpSpPr>
            <p:sp>
              <p:nvSpPr>
                <p:cNvPr id="234" name="Freeform 234"/>
                <p:cNvSpPr/>
                <p:nvPr/>
              </p:nvSpPr>
              <p:spPr>
                <a:xfrm>
                  <a:off x="2917825" y="55102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FFFFFF"/>
                  </a:solidFill>
                </a:ln>
              </p:spPr>
            </p:sp>
            <p:sp>
              <p:nvSpPr>
                <p:cNvPr id="235" name="Freeform 235"/>
                <p:cNvSpPr/>
                <p:nvPr/>
              </p:nvSpPr>
              <p:spPr>
                <a:xfrm>
                  <a:off x="2917825" y="55340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sp>
              <p:nvSpPr>
                <p:cNvPr id="236" name="Freeform 236"/>
                <p:cNvSpPr/>
                <p:nvPr/>
              </p:nvSpPr>
              <p:spPr>
                <a:xfrm>
                  <a:off x="2917825" y="55816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grpSp>
          <p:sp>
            <p:nvSpPr>
              <p:cNvPr id="238" name="TextBox 238"/>
              <p:cNvSpPr txBox="1"/>
              <p:nvPr/>
            </p:nvSpPr>
            <p:spPr>
              <a:xfrm>
                <a:off x="3243072" y="553354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数据溯源</a:t>
                </a:r>
              </a:p>
            </p:txBody>
          </p:sp>
          <p:sp>
            <p:nvSpPr>
              <p:cNvPr id="239" name="TextBox 239"/>
              <p:cNvSpPr txBox="1"/>
              <p:nvPr/>
            </p:nvSpPr>
            <p:spPr>
              <a:xfrm>
                <a:off x="2881312" y="5843588"/>
                <a:ext cx="150399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记录数据来源、获取时间与版本</a:t>
                </a:r>
              </a:p>
            </p:txBody>
          </p:sp>
          <p:sp>
            <p:nvSpPr>
              <p:cNvPr id="240" name="TextBox 240"/>
              <p:cNvSpPr txBox="1"/>
              <p:nvPr/>
            </p:nvSpPr>
            <p:spPr>
              <a:xfrm>
                <a:off x="2881312" y="6015038"/>
                <a:ext cx="120110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保留原始文件与分析结果</a:t>
                </a:r>
              </a:p>
            </p:txBody>
          </p:sp>
          <p:sp>
            <p:nvSpPr>
              <p:cNvPr id="241" name="TextBox 241"/>
              <p:cNvSpPr txBox="1"/>
              <p:nvPr/>
            </p:nvSpPr>
            <p:spPr>
              <a:xfrm>
                <a:off x="2881312" y="6186488"/>
                <a:ext cx="1302068"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支持全链路追溯与审计检查</a:t>
                </a:r>
              </a:p>
            </p:txBody>
          </p:sp>
        </p:grpSp>
        <p:grpSp>
          <p:nvGrpSpPr>
            <p:cNvPr id="253" name="bc-3"/>
            <p:cNvGrpSpPr/>
            <p:nvPr/>
          </p:nvGrpSpPr>
          <p:grpSpPr>
            <a:xfrm>
              <a:off x="5200650" y="5295900"/>
              <a:ext cx="2409825" cy="1276350"/>
              <a:chOff x="5200650" y="5295900"/>
              <a:chExt cx="2409825" cy="1276350"/>
            </a:xfrm>
          </p:grpSpPr>
          <p:sp>
            <p:nvSpPr>
              <p:cNvPr id="243" name="Rectangle 243"/>
              <p:cNvSpPr/>
              <p:nvPr/>
            </p:nvSpPr>
            <p:spPr>
              <a:xfrm>
                <a:off x="5200650" y="5295900"/>
                <a:ext cx="2409825" cy="1276350"/>
              </a:xfrm>
              <a:prstGeom prst="roundRect">
                <a:avLst>
                  <a:gd name="adj" fmla="val 4478"/>
                </a:avLst>
              </a:prstGeom>
              <a:solidFill>
                <a:srgbClr val="F6F9FD"/>
              </a:solidFill>
              <a:ln w="9525">
                <a:solidFill>
                  <a:srgbClr val="CFDFEE"/>
                </a:solidFill>
              </a:ln>
            </p:spPr>
          </p:sp>
          <p:sp>
            <p:nvSpPr>
              <p:cNvPr id="244" name="Ellipse 244"/>
              <p:cNvSpPr/>
              <p:nvPr/>
            </p:nvSpPr>
            <p:spPr>
              <a:xfrm>
                <a:off x="5314950" y="5410200"/>
                <a:ext cx="342900" cy="342900"/>
              </a:xfrm>
              <a:prstGeom prst="ellipse">
                <a:avLst/>
              </a:prstGeom>
              <a:solidFill>
                <a:srgbClr val="92301C"/>
              </a:solidFill>
              <a:ln>
                <a:noFill/>
              </a:ln>
            </p:spPr>
          </p:sp>
          <p:grpSp>
            <p:nvGrpSpPr>
              <p:cNvPr id="249" name="Group 249"/>
              <p:cNvGrpSpPr/>
              <p:nvPr/>
            </p:nvGrpSpPr>
            <p:grpSpPr>
              <a:xfrm>
                <a:off x="5438775" y="5510212"/>
                <a:ext cx="126999" cy="150812"/>
                <a:chOff x="5438775" y="5510212"/>
                <a:chExt cx="126999" cy="150812"/>
              </a:xfrm>
            </p:grpSpPr>
            <p:sp>
              <p:nvSpPr>
                <p:cNvPr id="245" name="Freeform 245"/>
                <p:cNvSpPr/>
                <p:nvPr/>
              </p:nvSpPr>
              <p:spPr>
                <a:xfrm>
                  <a:off x="5454650" y="55102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246" name="Freeform 246"/>
                <p:cNvSpPr/>
                <p:nvPr/>
              </p:nvSpPr>
              <p:spPr>
                <a:xfrm>
                  <a:off x="5438775" y="5605462"/>
                  <a:ext cx="43656" cy="47625"/>
                </a:xfrm>
                <a:custGeom>
                  <a:avLst/>
                  <a:gdLst/>
                  <a:ahLst/>
                  <a:cxnLst/>
                  <a:rect l="l" t="t" r="r" b="b"/>
                  <a:pathLst>
                    <a:path w="43656" h="47625">
                      <a:moveTo>
                        <a:pt x="0" y="47625"/>
                      </a:moveTo>
                      <a:lnTo>
                        <a:pt x="0" y="31750"/>
                      </a:lnTo>
                      <a:cubicBezTo>
                        <a:pt x="0" y="14215"/>
                        <a:pt x="14215" y="0"/>
                        <a:pt x="31750" y="0"/>
                      </a:cubicBezTo>
                      <a:lnTo>
                        <a:pt x="43656" y="0"/>
                      </a:lnTo>
                    </a:path>
                  </a:pathLst>
                </a:custGeom>
                <a:noFill/>
                <a:ln w="15875">
                  <a:solidFill>
                    <a:srgbClr val="FFFFFF"/>
                  </a:solidFill>
                </a:ln>
              </p:spPr>
            </p:sp>
            <p:sp>
              <p:nvSpPr>
                <p:cNvPr id="247" name="Freeform 247"/>
                <p:cNvSpPr/>
                <p:nvPr/>
              </p:nvSpPr>
              <p:spPr>
                <a:xfrm>
                  <a:off x="5510212" y="56054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sp>
              <p:nvSpPr>
                <p:cNvPr id="248" name="Freeform 248"/>
                <p:cNvSpPr/>
                <p:nvPr/>
              </p:nvSpPr>
              <p:spPr>
                <a:xfrm>
                  <a:off x="5551487" y="5646737"/>
                  <a:ext cx="14287" cy="14287"/>
                </a:xfrm>
                <a:custGeom>
                  <a:avLst/>
                  <a:gdLst/>
                  <a:ahLst/>
                  <a:cxnLst/>
                  <a:rect l="l" t="t" r="r" b="b"/>
                  <a:pathLst>
                    <a:path w="14287" h="14287">
                      <a:moveTo>
                        <a:pt x="0" y="0"/>
                      </a:moveTo>
                      <a:lnTo>
                        <a:pt x="14287" y="14287"/>
                      </a:lnTo>
                    </a:path>
                  </a:pathLst>
                </a:custGeom>
                <a:noFill/>
                <a:ln w="15875">
                  <a:solidFill>
                    <a:srgbClr val="FFFFFF"/>
                  </a:solidFill>
                </a:ln>
              </p:spPr>
            </p:sp>
          </p:grpSp>
          <p:sp>
            <p:nvSpPr>
              <p:cNvPr id="250" name="TextBox 250"/>
              <p:cNvSpPr txBox="1"/>
              <p:nvPr/>
            </p:nvSpPr>
            <p:spPr>
              <a:xfrm>
                <a:off x="5748147" y="5533549"/>
                <a:ext cx="537616"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误报复核</a:t>
                </a:r>
              </a:p>
            </p:txBody>
          </p:sp>
          <p:sp>
            <p:nvSpPr>
              <p:cNvPr id="251" name="TextBox 251"/>
              <p:cNvSpPr txBox="1"/>
              <p:nvPr/>
            </p:nvSpPr>
            <p:spPr>
              <a:xfrm>
                <a:off x="5386388" y="5843588"/>
                <a:ext cx="1614488" cy="319088"/>
              </a:xfrm>
              <a:prstGeom prst="rect">
                <a:avLst/>
              </a:prstGeom>
              <a:noFill/>
              <a:ln>
                <a:noFill/>
              </a:ln>
            </p:spPr>
            <p:txBody>
              <a:bodyPr wrap="none" lIns="0" tIns="0" rIns="0" bIns="0" anchor="t" anchorCtr="0">
                <a:spAutoFit/>
              </a:bodyPr>
              <a:lstStyle/>
              <a:p>
                <a:pPr algn="l" marL="80962" indent="-80962">
                  <a:lnSpc>
                    <a:spcPts val="1350"/>
                  </a:lnSpc>
                  <a:buClr>
                    <a:srgbClr val="52352F"/>
                  </a:buClr>
                  <a:buSzTx/>
                  <a:buFontTx/>
                  <a:buChar char="•"/>
                </a:pPr>
                <a:r>
                  <a:rPr lang="zh-CN" sz="750" dirty="0">
                    <a:solidFill>
                      <a:srgbClr val="52352F"/>
                    </a:solidFill>
                    <a:latin typeface="+mn-lt"/>
                    <a:ea typeface="+mn-ea"/>
                    <a:cs typeface="+mn-cs"/>
                  </a:rPr>
                  <a:t>针对名单筛查、关系识别的疑似结果</a:t>
                </a:r>
                <a:br/>
                <a:r>
                  <a:rPr lang="zh-CN" sz="750" dirty="0">
                    <a:solidFill>
                      <a:srgbClr val="52352F"/>
                    </a:solidFill>
                    <a:latin typeface="+mn-lt"/>
                    <a:ea typeface="+mn-ea"/>
                    <a:cs typeface="+mn-cs"/>
                  </a:rPr>
                  <a:t xml:space="preserve">　建立人工复核机制</a:t>
                </a:r>
              </a:p>
            </p:txBody>
          </p:sp>
          <p:sp>
            <p:nvSpPr>
              <p:cNvPr id="252" name="TextBox 252"/>
              <p:cNvSpPr txBox="1"/>
              <p:nvPr/>
            </p:nvSpPr>
            <p:spPr>
              <a:xfrm>
                <a:off x="5386388" y="6186488"/>
                <a:ext cx="1403032" cy="147638"/>
              </a:xfrm>
              <a:prstGeom prst="rect">
                <a:avLst/>
              </a:prstGeom>
              <a:noFill/>
              <a:ln>
                <a:noFill/>
              </a:ln>
            </p:spPr>
            <p:txBody>
              <a:bodyPr wrap="none" lIns="0" tIns="0" rIns="0" bIns="0" anchor="t" anchorCtr="0">
                <a:spAutoFit/>
              </a:bodyPr>
              <a:lstStyle/>
              <a:p>
                <a:pPr algn="l" marL="80962" indent="-80962">
                  <a:buClr>
                    <a:srgbClr val="52352F"/>
                  </a:buClr>
                  <a:buSzTx/>
                  <a:buFontTx/>
                  <a:buChar char="•"/>
                </a:pPr>
                <a:r>
                  <a:rPr lang="zh-CN" sz="750" dirty="0">
                    <a:solidFill>
                      <a:srgbClr val="52352F"/>
                    </a:solidFill>
                    <a:latin typeface="+mn-lt"/>
                    <a:ea typeface="+mn-ea"/>
                    <a:cs typeface="+mn-cs"/>
                  </a:rPr>
                  <a:t>留存复核记录并持续优化模型</a:t>
                </a:r>
              </a:p>
            </p:txBody>
          </p:sp>
        </p:grpSp>
      </p:grpSp>
      <p:grpSp>
        <p:nvGrpSpPr>
          <p:cNvPr id="272" name="kpi-block"/>
          <p:cNvGrpSpPr/>
          <p:nvPr/>
        </p:nvGrpSpPr>
        <p:grpSpPr>
          <a:xfrm>
            <a:off x="7715250" y="5295900"/>
            <a:ext cx="4286250" cy="1276350"/>
            <a:chOff x="7715250" y="5295900"/>
            <a:chExt cx="4286250" cy="1276350"/>
          </a:xfrm>
        </p:grpSpPr>
        <p:sp>
          <p:nvSpPr>
            <p:cNvPr id="255" name="Rectangle 255"/>
            <p:cNvSpPr/>
            <p:nvPr/>
          </p:nvSpPr>
          <p:spPr>
            <a:xfrm>
              <a:off x="7715250" y="5295900"/>
              <a:ext cx="4286250" cy="1276350"/>
            </a:xfrm>
            <a:prstGeom prst="roundRect">
              <a:avLst>
                <a:gd name="adj" fmla="val 4478"/>
              </a:avLst>
            </a:prstGeom>
            <a:solidFill>
              <a:srgbClr val="EEF5FB"/>
            </a:solidFill>
            <a:ln>
              <a:noFill/>
            </a:ln>
          </p:spPr>
        </p:sp>
        <p:sp>
          <p:nvSpPr>
            <p:cNvPr id="256" name="TextBox 256"/>
            <p:cNvSpPr txBox="1"/>
            <p:nvPr/>
          </p:nvSpPr>
          <p:spPr>
            <a:xfrm>
              <a:off x="7862697" y="5400199"/>
              <a:ext cx="1329182"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关键成效（示例测算）</a:t>
              </a:r>
            </a:p>
          </p:txBody>
        </p:sp>
        <p:sp>
          <p:nvSpPr>
            <p:cNvPr id="257" name="Ellipse 257"/>
            <p:cNvSpPr/>
            <p:nvPr/>
          </p:nvSpPr>
          <p:spPr>
            <a:xfrm>
              <a:off x="7924800" y="5829300"/>
              <a:ext cx="457200" cy="457200"/>
            </a:xfrm>
            <a:prstGeom prst="ellipse">
              <a:avLst/>
            </a:prstGeom>
            <a:solidFill>
              <a:srgbClr val="92301C"/>
            </a:solidFill>
            <a:ln>
              <a:noFill/>
            </a:ln>
          </p:spPr>
        </p:sp>
        <p:grpSp>
          <p:nvGrpSpPr>
            <p:cNvPr id="260" name="Group 260"/>
            <p:cNvGrpSpPr/>
            <p:nvPr/>
          </p:nvGrpSpPr>
          <p:grpSpPr>
            <a:xfrm>
              <a:off x="8060531" y="5965031"/>
              <a:ext cx="185737" cy="185737"/>
              <a:chOff x="8060531" y="5965031"/>
              <a:chExt cx="185737" cy="185737"/>
            </a:xfrm>
          </p:grpSpPr>
          <p:sp>
            <p:nvSpPr>
              <p:cNvPr id="258" name="Freeform 258"/>
              <p:cNvSpPr/>
              <p:nvPr/>
            </p:nvSpPr>
            <p:spPr>
              <a:xfrm>
                <a:off x="8060531" y="59650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sp>
            <p:nvSpPr>
              <p:cNvPr id="259" name="Freeform 259"/>
              <p:cNvSpPr/>
              <p:nvPr/>
            </p:nvSpPr>
            <p:spPr>
              <a:xfrm>
                <a:off x="8153400" y="6006306"/>
                <a:ext cx="30956" cy="82550"/>
              </a:xfrm>
              <a:custGeom>
                <a:avLst/>
                <a:gdLst/>
                <a:ahLst/>
                <a:cxnLst/>
                <a:rect l="l" t="t" r="r" b="b"/>
                <a:pathLst>
                  <a:path w="30956" h="82550">
                    <a:moveTo>
                      <a:pt x="0" y="0"/>
                    </a:moveTo>
                    <a:lnTo>
                      <a:pt x="0" y="51594"/>
                    </a:lnTo>
                    <a:lnTo>
                      <a:pt x="30956" y="82550"/>
                    </a:lnTo>
                  </a:path>
                </a:pathLst>
              </a:custGeom>
              <a:noFill/>
              <a:ln w="20637">
                <a:solidFill>
                  <a:srgbClr val="FFFFFF"/>
                </a:solidFill>
              </a:ln>
            </p:spPr>
          </p:sp>
        </p:grpSp>
        <p:sp>
          <p:nvSpPr>
            <p:cNvPr id="261" name="TextBox 261"/>
            <p:cNvSpPr txBox="1"/>
            <p:nvPr/>
          </p:nvSpPr>
          <p:spPr>
            <a:xfrm>
              <a:off x="8510588" y="5827395"/>
              <a:ext cx="494157" cy="176212"/>
            </a:xfrm>
            <a:prstGeom prst="rect">
              <a:avLst/>
            </a:prstGeom>
            <a:noFill/>
            <a:ln>
              <a:noFill/>
            </a:ln>
          </p:spPr>
          <p:txBody>
            <a:bodyPr wrap="none" lIns="0" tIns="0" rIns="0" bIns="0" anchor="t" anchorCtr="0">
              <a:spAutoFit/>
            </a:bodyPr>
            <a:lstStyle/>
            <a:p>
              <a:pPr algn="l"/>
              <a:r>
                <a:rPr lang="zh-CN" sz="900" dirty="0">
                  <a:solidFill>
                    <a:srgbClr val="52352F"/>
                  </a:solidFill>
                  <a:latin typeface="+mn-lt"/>
                  <a:ea typeface="+mn-ea"/>
                  <a:cs typeface="+mn-cs"/>
                </a:rPr>
                <a:t>尽调时间</a:t>
              </a:r>
            </a:p>
          </p:txBody>
        </p:sp>
        <p:sp>
          <p:nvSpPr>
            <p:cNvPr id="262" name="TextBox 262"/>
            <p:cNvSpPr txBox="1"/>
            <p:nvPr/>
          </p:nvSpPr>
          <p:spPr>
            <a:xfrm>
              <a:off x="8505444" y="6037898"/>
              <a:ext cx="632666"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-55%</a:t>
              </a:r>
            </a:p>
          </p:txBody>
        </p:sp>
        <p:sp>
          <p:nvSpPr>
            <p:cNvPr id="263" name="TextBox 263"/>
            <p:cNvSpPr txBox="1"/>
            <p:nvPr/>
          </p:nvSpPr>
          <p:spPr>
            <a:xfrm>
              <a:off x="8510588" y="636198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264" name="Ellipse 264"/>
            <p:cNvSpPr/>
            <p:nvPr/>
          </p:nvSpPr>
          <p:spPr>
            <a:xfrm>
              <a:off x="9791700" y="5829300"/>
              <a:ext cx="457200" cy="457200"/>
            </a:xfrm>
            <a:prstGeom prst="ellipse">
              <a:avLst/>
            </a:prstGeom>
            <a:solidFill>
              <a:srgbClr val="92301C"/>
            </a:solidFill>
            <a:ln>
              <a:noFill/>
            </a:ln>
          </p:spPr>
        </p:sp>
        <p:grpSp>
          <p:nvGrpSpPr>
            <p:cNvPr id="268" name="Group 268"/>
            <p:cNvGrpSpPr/>
            <p:nvPr/>
          </p:nvGrpSpPr>
          <p:grpSpPr>
            <a:xfrm>
              <a:off x="9948069" y="5965031"/>
              <a:ext cx="144462" cy="185737"/>
              <a:chOff x="9948069" y="5965031"/>
              <a:chExt cx="144462" cy="185737"/>
            </a:xfrm>
          </p:grpSpPr>
          <p:sp>
            <p:nvSpPr>
              <p:cNvPr id="265" name="Freeform 265"/>
              <p:cNvSpPr/>
              <p:nvPr/>
            </p:nvSpPr>
            <p:spPr>
              <a:xfrm>
                <a:off x="9948069" y="6026943"/>
                <a:ext cx="144462" cy="123825"/>
              </a:xfrm>
              <a:custGeom>
                <a:avLst/>
                <a:gdLst/>
                <a:ahLst/>
                <a:cxnLst/>
                <a:rect l="l" t="t" r="r" b="b"/>
                <a:pathLst>
                  <a:path w="144462" h="123825">
                    <a:moveTo>
                      <a:pt x="30956" y="0"/>
                    </a:moveTo>
                    <a:lnTo>
                      <a:pt x="20637" y="0"/>
                    </a:lnTo>
                    <a:cubicBezTo>
                      <a:pt x="9240" y="0"/>
                      <a:pt x="0" y="9240"/>
                      <a:pt x="0" y="20637"/>
                    </a:cubicBezTo>
                    <a:lnTo>
                      <a:pt x="0" y="103187"/>
                    </a:lnTo>
                    <a:cubicBezTo>
                      <a:pt x="0" y="114585"/>
                      <a:pt x="9240" y="123825"/>
                      <a:pt x="20637" y="123825"/>
                    </a:cubicBezTo>
                    <a:lnTo>
                      <a:pt x="123825" y="123825"/>
                    </a:lnTo>
                    <a:cubicBezTo>
                      <a:pt x="135222" y="123825"/>
                      <a:pt x="144462" y="114585"/>
                      <a:pt x="144462" y="103187"/>
                    </a:cubicBezTo>
                    <a:lnTo>
                      <a:pt x="144462" y="20637"/>
                    </a:lnTo>
                    <a:cubicBezTo>
                      <a:pt x="144462" y="9240"/>
                      <a:pt x="135222" y="0"/>
                      <a:pt x="123825" y="0"/>
                    </a:cubicBezTo>
                    <a:lnTo>
                      <a:pt x="113506" y="0"/>
                    </a:lnTo>
                  </a:path>
                </a:pathLst>
              </a:custGeom>
              <a:noFill/>
              <a:ln w="20637">
                <a:solidFill>
                  <a:srgbClr val="FFFFFF"/>
                </a:solidFill>
              </a:ln>
            </p:spPr>
          </p:sp>
          <p:sp>
            <p:nvSpPr>
              <p:cNvPr id="266" name="Freeform 266"/>
              <p:cNvSpPr/>
              <p:nvPr/>
            </p:nvSpPr>
            <p:spPr>
              <a:xfrm>
                <a:off x="10020300" y="5965031"/>
                <a:ext cx="9525" cy="113506"/>
              </a:xfrm>
              <a:custGeom>
                <a:avLst/>
                <a:gdLst/>
                <a:ahLst/>
                <a:cxnLst/>
                <a:rect l="l" t="t" r="r" b="b"/>
                <a:pathLst>
                  <a:path w="9525" h="113506">
                    <a:moveTo>
                      <a:pt x="0" y="113506"/>
                    </a:moveTo>
                    <a:lnTo>
                      <a:pt x="0" y="0"/>
                    </a:lnTo>
                  </a:path>
                </a:pathLst>
              </a:custGeom>
              <a:noFill/>
              <a:ln w="20637">
                <a:solidFill>
                  <a:srgbClr val="FFFFFF"/>
                </a:solidFill>
              </a:ln>
            </p:spPr>
          </p:sp>
          <p:sp>
            <p:nvSpPr>
              <p:cNvPr id="267" name="Freeform 267"/>
              <p:cNvSpPr/>
              <p:nvPr/>
            </p:nvSpPr>
            <p:spPr>
              <a:xfrm>
                <a:off x="9989343" y="5965031"/>
                <a:ext cx="61912" cy="30956"/>
              </a:xfrm>
              <a:custGeom>
                <a:avLst/>
                <a:gdLst/>
                <a:ahLst/>
                <a:cxnLst/>
                <a:rect l="l" t="t" r="r" b="b"/>
                <a:pathLst>
                  <a:path w="61912" h="30956">
                    <a:moveTo>
                      <a:pt x="0" y="30956"/>
                    </a:moveTo>
                    <a:lnTo>
                      <a:pt x="30956" y="0"/>
                    </a:lnTo>
                    <a:lnTo>
                      <a:pt x="61912" y="30956"/>
                    </a:lnTo>
                  </a:path>
                </a:pathLst>
              </a:custGeom>
              <a:noFill/>
              <a:ln w="20637">
                <a:solidFill>
                  <a:srgbClr val="FFFFFF"/>
                </a:solidFill>
              </a:ln>
            </p:spPr>
          </p:sp>
        </p:grpSp>
        <p:sp>
          <p:nvSpPr>
            <p:cNvPr id="269" name="TextBox 269"/>
            <p:cNvSpPr txBox="1"/>
            <p:nvPr/>
          </p:nvSpPr>
          <p:spPr>
            <a:xfrm>
              <a:off x="10377488" y="5827395"/>
              <a:ext cx="857631" cy="176212"/>
            </a:xfrm>
            <a:prstGeom prst="rect">
              <a:avLst/>
            </a:prstGeom>
            <a:noFill/>
            <a:ln>
              <a:noFill/>
            </a:ln>
          </p:spPr>
          <p:txBody>
            <a:bodyPr wrap="none" lIns="0" tIns="0" rIns="0" bIns="0" anchor="t" anchorCtr="0">
              <a:spAutoFit/>
            </a:bodyPr>
            <a:lstStyle/>
            <a:p>
              <a:pPr algn="l"/>
              <a:r>
                <a:rPr lang="zh-CN" sz="900" dirty="0">
                  <a:solidFill>
                    <a:srgbClr val="52352F"/>
                  </a:solidFill>
                  <a:latin typeface="+mn-lt"/>
                  <a:ea typeface="+mn-ea"/>
                  <a:cs typeface="+mn-cs"/>
                </a:rPr>
                <a:t>关系穿透覆盖率</a:t>
              </a:r>
            </a:p>
          </p:txBody>
        </p:sp>
        <p:sp>
          <p:nvSpPr>
            <p:cNvPr id="270" name="TextBox 270"/>
            <p:cNvSpPr txBox="1"/>
            <p:nvPr/>
          </p:nvSpPr>
          <p:spPr>
            <a:xfrm>
              <a:off x="10372344" y="6037898"/>
              <a:ext cx="68931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≥95%</a:t>
              </a:r>
            </a:p>
          </p:txBody>
        </p:sp>
        <p:sp>
          <p:nvSpPr>
            <p:cNvPr id="271" name="TextBox 271"/>
            <p:cNvSpPr txBox="1"/>
            <p:nvPr/>
          </p:nvSpPr>
          <p:spPr>
            <a:xfrm>
              <a:off x="10377488" y="636198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grpSp>
      <p:sp>
        <p:nvSpPr>
          <p:cNvPr id="273" name="TextBox 273"/>
          <p:cNvSpPr txBox="1"/>
          <p:nvPr/>
        </p:nvSpPr>
        <p:spPr>
          <a:xfrm>
            <a:off x="185738" y="6702266"/>
            <a:ext cx="1902686" cy="161925"/>
          </a:xfrm>
          <a:prstGeom prst="rect">
            <a:avLst/>
          </a:prstGeom>
          <a:noFill/>
          <a:ln>
            <a:noFill/>
          </a:ln>
        </p:spPr>
        <p:txBody>
          <a:bodyPr wrap="none" lIns="0" tIns="0" rIns="0" bIns="0" anchor="t" anchorCtr="0">
            <a:spAutoFit/>
          </a:bodyPr>
          <a:lstStyle/>
          <a:p>
            <a:pPr algn="l"/>
            <a:r>
              <a:rPr lang="zh-CN" sz="820" dirty="0">
                <a:solidFill>
                  <a:srgbClr val="8C716B"/>
                </a:solidFill>
                <a:latin typeface="+mn-lt"/>
                <a:ea typeface="+mn-ea"/>
                <a:cs typeface="+mn-cs"/>
              </a:rPr>
              <a:t>数据驱动风险识别 · 科技赋能合规经营</a:t>
            </a:r>
          </a:p>
        </p:txBody>
      </p:sp>
      <p:grpSp>
        <p:nvGrpSpPr>
          <p:cNvPr id="277" name="footer-right"/>
          <p:cNvGrpSpPr/>
          <p:nvPr/>
        </p:nvGrpSpPr>
        <p:grpSpPr>
          <a:xfrm>
            <a:off x="6034646" y="6686074"/>
            <a:ext cx="5876557" cy="190690"/>
            <a:chOff x="6034646" y="6686074"/>
            <a:chExt cx="5876557" cy="190690"/>
          </a:xfrm>
        </p:grpSpPr>
        <p:sp>
          <p:nvSpPr>
            <p:cNvPr id="274" name="TextBox 274"/>
            <p:cNvSpPr txBox="1"/>
            <p:nvPr/>
          </p:nvSpPr>
          <p:spPr>
            <a:xfrm>
              <a:off x="6034646" y="6714411"/>
              <a:ext cx="5362016" cy="140494"/>
            </a:xfrm>
            <a:prstGeom prst="rect">
              <a:avLst/>
            </a:prstGeom>
            <a:noFill/>
            <a:ln>
              <a:noFill/>
            </a:ln>
          </p:spPr>
          <p:txBody>
            <a:bodyPr wrap="none" lIns="0" tIns="0" rIns="0" bIns="0" anchor="t" anchorCtr="0">
              <a:spAutoFit/>
            </a:bodyPr>
            <a:lstStyle/>
            <a:p>
              <a:pPr algn="r"/>
              <a:r>
                <a:rPr lang="zh-CN" sz="710" dirty="0">
                  <a:solidFill>
                    <a:srgbClr val="8C716B"/>
                  </a:solidFill>
                  <a:latin typeface="+mn-lt"/>
                  <a:ea typeface="+mn-ea"/>
                  <a:cs typeface="+mn-cs"/>
                </a:rPr>
                <a:t>本页所示为系统功能与方案示例，相关授信、交易、投资、理赔、反洗钱处置等均为辅助建议，须由授权人员确认后方可实施。</a:t>
              </a:r>
            </a:p>
          </p:txBody>
        </p:sp>
        <p:sp>
          <p:nvSpPr>
            <p:cNvPr id="275" name="Line 275"/>
            <p:cNvSpPr/>
            <p:nvPr/>
          </p:nvSpPr>
          <p:spPr>
            <a:xfrm>
              <a:off x="11544300" y="6686550"/>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276" name="TextBox 276"/>
            <p:cNvSpPr txBox="1"/>
            <p:nvPr/>
          </p:nvSpPr>
          <p:spPr>
            <a:xfrm>
              <a:off x="11754541" y="6686074"/>
              <a:ext cx="156662" cy="190690"/>
            </a:xfrm>
            <a:prstGeom prst="rect">
              <a:avLst/>
            </a:prstGeom>
            <a:noFill/>
            <a:ln>
              <a:noFill/>
            </a:ln>
          </p:spPr>
          <p:txBody>
            <a:bodyPr wrap="none" lIns="0" tIns="0" rIns="0" bIns="0" anchor="t" anchorCtr="0">
              <a:spAutoFit/>
            </a:bodyPr>
            <a:lstStyle/>
            <a:p>
              <a:pPr algn="r"/>
              <a:r>
                <a:rPr lang="zh-CN" sz="980" b="1" dirty="0">
                  <a:solidFill>
                    <a:srgbClr val="6B1B0B"/>
                  </a:solidFill>
                  <a:latin typeface="+mj-lt"/>
                  <a:ea typeface="+mj-ea"/>
                  <a:cs typeface="+mj-cs"/>
                </a:rPr>
                <a:t>04</a:t>
              </a:r>
            </a:p>
          </p:txBody>
        </p:sp>
      </p:gr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04</a:t>
              </a:r>
            </a:p>
          </p:txBody>
        </p:sp>
        <p:sp>
          <p:nvSpPr>
            <p:cNvPr id="4" name="TextBox 4"/>
            <p:cNvSpPr txBox="1"/>
            <p:nvPr/>
          </p:nvSpPr>
          <p:spPr>
            <a:xfrm>
              <a:off x="942594" y="170498"/>
              <a:ext cx="6320028"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信贷调查智能体</a:t>
              </a:r>
              <a:r>
                <a:rPr lang="zh-CN" sz="1950" b="1" dirty="0">
                  <a:solidFill>
                    <a:srgbClr val="92301C"/>
                  </a:solidFill>
                  <a:latin typeface="+mn-lt"/>
                  <a:ea typeface="+mn-ea"/>
                  <a:cs typeface="+mn-cs"/>
                </a:rPr>
                <a:t>｜把多源材料转化为可验证的风险证据</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信贷风控 · 04</a:t>
              </a:r>
            </a:p>
          </p:txBody>
        </p:sp>
        <p:sp>
          <p:nvSpPr>
            <p:cNvPr id="6" name="TextBox 6"/>
            <p:cNvSpPr txBox="1"/>
            <p:nvPr/>
          </p:nvSpPr>
          <p:spPr>
            <a:xfrm>
              <a:off x="10614190" y="334089"/>
              <a:ext cx="1392072"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数据洞察风险　专业创造价值</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1" name="col1-head"/>
          <p:cNvGrpSpPr/>
          <p:nvPr/>
        </p:nvGrpSpPr>
        <p:grpSpPr>
          <a:xfrm>
            <a:off x="190500" y="628650"/>
            <a:ext cx="1714500" cy="279559"/>
            <a:chOff x="190500" y="628650"/>
            <a:chExt cx="1714500" cy="279559"/>
          </a:xfrm>
        </p:grpSpPr>
        <p:sp>
          <p:nvSpPr>
            <p:cNvPr id="9" name="Rectangle 9"/>
            <p:cNvSpPr/>
            <p:nvPr/>
          </p:nvSpPr>
          <p:spPr>
            <a:xfrm>
              <a:off x="190500" y="628650"/>
              <a:ext cx="1714500" cy="266700"/>
            </a:xfrm>
            <a:prstGeom prst="rect">
              <a:avLst/>
            </a:prstGeom>
            <a:gradFill>
              <a:gsLst>
                <a:gs pos="0">
                  <a:srgbClr val="92301C"/>
                </a:gs>
                <a:gs pos="100000">
                  <a:srgbClr val="B7533F"/>
                </a:gs>
              </a:gsLst>
              <a:lin ang="0" scaled="1"/>
            </a:gradFill>
            <a:ln>
              <a:noFill/>
            </a:ln>
          </p:spPr>
        </p:sp>
        <p:sp>
          <p:nvSpPr>
            <p:cNvPr id="10" name="TextBox 10"/>
            <p:cNvSpPr txBox="1"/>
            <p:nvPr/>
          </p:nvSpPr>
          <p:spPr>
            <a:xfrm>
              <a:off x="31813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多源材料输入</a:t>
              </a:r>
            </a:p>
          </p:txBody>
        </p:sp>
      </p:grpSp>
      <p:grpSp>
        <p:nvGrpSpPr>
          <p:cNvPr id="14" name="col2-head"/>
          <p:cNvGrpSpPr/>
          <p:nvPr/>
        </p:nvGrpSpPr>
        <p:grpSpPr>
          <a:xfrm>
            <a:off x="2286000" y="628650"/>
            <a:ext cx="5715000" cy="279559"/>
            <a:chOff x="2286000" y="628650"/>
            <a:chExt cx="5715000" cy="279559"/>
          </a:xfrm>
        </p:grpSpPr>
        <p:sp>
          <p:nvSpPr>
            <p:cNvPr id="12" name="Rectangle 12"/>
            <p:cNvSpPr/>
            <p:nvPr/>
          </p:nvSpPr>
          <p:spPr>
            <a:xfrm>
              <a:off x="2286000" y="628650"/>
              <a:ext cx="5715000" cy="266700"/>
            </a:xfrm>
            <a:prstGeom prst="rect">
              <a:avLst/>
            </a:prstGeom>
            <a:gradFill>
              <a:gsLst>
                <a:gs pos="0">
                  <a:srgbClr val="92301C"/>
                </a:gs>
                <a:gs pos="100000">
                  <a:srgbClr val="B7533F"/>
                </a:gs>
              </a:gsLst>
              <a:lin ang="0" scaled="1"/>
            </a:gradFill>
            <a:ln>
              <a:noFill/>
            </a:ln>
          </p:spPr>
        </p:sp>
        <p:sp>
          <p:nvSpPr>
            <p:cNvPr id="13" name="TextBox 13"/>
            <p:cNvSpPr txBox="1"/>
            <p:nvPr/>
          </p:nvSpPr>
          <p:spPr>
            <a:xfrm>
              <a:off x="2413635" y="688181"/>
              <a:ext cx="230433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信贷调查智能体 · 证据链构建流程</a:t>
              </a:r>
            </a:p>
          </p:txBody>
        </p:sp>
      </p:grpSp>
      <p:grpSp>
        <p:nvGrpSpPr>
          <p:cNvPr id="17" name="col3-head"/>
          <p:cNvGrpSpPr/>
          <p:nvPr/>
        </p:nvGrpSpPr>
        <p:grpSpPr>
          <a:xfrm>
            <a:off x="8096250" y="628650"/>
            <a:ext cx="3905250" cy="279559"/>
            <a:chOff x="8096250" y="628650"/>
            <a:chExt cx="3905250" cy="279559"/>
          </a:xfrm>
        </p:grpSpPr>
        <p:sp>
          <p:nvSpPr>
            <p:cNvPr id="15" name="Rectangle 15"/>
            <p:cNvSpPr/>
            <p:nvPr/>
          </p:nvSpPr>
          <p:spPr>
            <a:xfrm>
              <a:off x="8096250" y="628650"/>
              <a:ext cx="3905250" cy="266700"/>
            </a:xfrm>
            <a:prstGeom prst="rect">
              <a:avLst/>
            </a:prstGeom>
            <a:gradFill>
              <a:gsLst>
                <a:gs pos="0">
                  <a:srgbClr val="92301C"/>
                </a:gs>
                <a:gs pos="100000">
                  <a:srgbClr val="B7533F"/>
                </a:gs>
              </a:gsLst>
              <a:lin ang="0" scaled="1"/>
            </a:gradFill>
            <a:ln>
              <a:noFill/>
            </a:ln>
          </p:spPr>
        </p:sp>
        <p:sp>
          <p:nvSpPr>
            <p:cNvPr id="16" name="TextBox 16"/>
            <p:cNvSpPr txBox="1"/>
            <p:nvPr/>
          </p:nvSpPr>
          <p:spPr>
            <a:xfrm>
              <a:off x="8223885" y="688181"/>
              <a:ext cx="1519174"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关键分析结果（示例）</a:t>
              </a:r>
            </a:p>
          </p:txBody>
        </p:sp>
      </p:grpSp>
      <p:grpSp>
        <p:nvGrpSpPr>
          <p:cNvPr id="83" name="left-cards"/>
          <p:cNvGrpSpPr/>
          <p:nvPr/>
        </p:nvGrpSpPr>
        <p:grpSpPr>
          <a:xfrm>
            <a:off x="190500" y="990600"/>
            <a:ext cx="1714500" cy="4076700"/>
            <a:chOff x="190500" y="990600"/>
            <a:chExt cx="1714500" cy="4076700"/>
          </a:xfrm>
        </p:grpSpPr>
        <p:grpSp>
          <p:nvGrpSpPr>
            <p:cNvPr id="31" name="lc-1"/>
            <p:cNvGrpSpPr/>
            <p:nvPr/>
          </p:nvGrpSpPr>
          <p:grpSpPr>
            <a:xfrm>
              <a:off x="190500" y="990600"/>
              <a:ext cx="1714500" cy="647700"/>
              <a:chOff x="190500" y="990600"/>
              <a:chExt cx="1714500" cy="647700"/>
            </a:xfrm>
          </p:grpSpPr>
          <p:sp>
            <p:nvSpPr>
              <p:cNvPr id="18" name="Rectangle 18"/>
              <p:cNvSpPr/>
              <p:nvPr/>
            </p:nvSpPr>
            <p:spPr>
              <a:xfrm>
                <a:off x="190500" y="990600"/>
                <a:ext cx="1714500" cy="647700"/>
              </a:xfrm>
              <a:prstGeom prst="roundRect">
                <a:avLst>
                  <a:gd name="adj" fmla="val 8824"/>
                </a:avLst>
              </a:prstGeom>
              <a:solidFill>
                <a:srgbClr val="F6F9FD"/>
              </a:solidFill>
              <a:ln w="9525">
                <a:solidFill>
                  <a:srgbClr val="CFDFEE"/>
                </a:solidFill>
              </a:ln>
            </p:spPr>
          </p:sp>
          <p:grpSp>
            <p:nvGrpSpPr>
              <p:cNvPr id="27" name="Group 27"/>
              <p:cNvGrpSpPr/>
              <p:nvPr/>
            </p:nvGrpSpPr>
            <p:grpSpPr>
              <a:xfrm>
                <a:off x="316706" y="1221581"/>
                <a:ext cx="185737" cy="195262"/>
                <a:chOff x="316706" y="1221581"/>
                <a:chExt cx="185737" cy="195262"/>
              </a:xfrm>
            </p:grpSpPr>
            <p:sp>
              <p:nvSpPr>
                <p:cNvPr id="19" name="Freeform 19"/>
                <p:cNvSpPr/>
                <p:nvPr/>
              </p:nvSpPr>
              <p:spPr>
                <a:xfrm>
                  <a:off x="316706" y="1407318"/>
                  <a:ext cx="185737" cy="9525"/>
                </a:xfrm>
                <a:custGeom>
                  <a:avLst/>
                  <a:gdLst/>
                  <a:ahLst/>
                  <a:cxnLst/>
                  <a:rect l="l" t="t" r="r" b="b"/>
                  <a:pathLst>
                    <a:path w="185737" h="9525">
                      <a:moveTo>
                        <a:pt x="0" y="0"/>
                      </a:moveTo>
                      <a:lnTo>
                        <a:pt x="185737" y="0"/>
                      </a:lnTo>
                    </a:path>
                  </a:pathLst>
                </a:custGeom>
                <a:noFill/>
                <a:ln w="20637">
                  <a:solidFill>
                    <a:srgbClr val="92301C"/>
                  </a:solidFill>
                </a:ln>
              </p:spPr>
            </p:sp>
            <p:sp>
              <p:nvSpPr>
                <p:cNvPr id="20" name="Freeform 20"/>
                <p:cNvSpPr/>
                <p:nvPr/>
              </p:nvSpPr>
              <p:spPr>
                <a:xfrm>
                  <a:off x="378618" y="1273175"/>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1" name="Freeform 21"/>
                <p:cNvSpPr/>
                <p:nvPr/>
              </p:nvSpPr>
              <p:spPr>
                <a:xfrm>
                  <a:off x="378618" y="1314450"/>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2" name="Freeform 22"/>
                <p:cNvSpPr/>
                <p:nvPr/>
              </p:nvSpPr>
              <p:spPr>
                <a:xfrm>
                  <a:off x="378618" y="1355724"/>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3" name="Freeform 23"/>
                <p:cNvSpPr/>
                <p:nvPr/>
              </p:nvSpPr>
              <p:spPr>
                <a:xfrm>
                  <a:off x="430212" y="1273175"/>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4" name="Freeform 24"/>
                <p:cNvSpPr/>
                <p:nvPr/>
              </p:nvSpPr>
              <p:spPr>
                <a:xfrm>
                  <a:off x="430212" y="1314450"/>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5" name="Freeform 25"/>
                <p:cNvSpPr/>
                <p:nvPr/>
              </p:nvSpPr>
              <p:spPr>
                <a:xfrm>
                  <a:off x="430212" y="1355724"/>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6" name="Freeform 26"/>
                <p:cNvSpPr/>
                <p:nvPr/>
              </p:nvSpPr>
              <p:spPr>
                <a:xfrm>
                  <a:off x="337344" y="1221581"/>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path>
                  </a:pathLst>
                </a:custGeom>
                <a:noFill/>
                <a:ln w="20637">
                  <a:solidFill>
                    <a:srgbClr val="92301C"/>
                  </a:solidFill>
                </a:ln>
              </p:spPr>
            </p:sp>
          </p:grpSp>
          <p:sp>
            <p:nvSpPr>
              <p:cNvPr id="28" name="TextBox 28"/>
              <p:cNvSpPr txBox="1"/>
              <p:nvPr/>
            </p:nvSpPr>
            <p:spPr>
              <a:xfrm>
                <a:off x="623888" y="10798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企业资料</a:t>
                </a:r>
              </a:p>
            </p:txBody>
          </p:sp>
          <p:sp>
            <p:nvSpPr>
              <p:cNvPr id="29" name="TextBox 29"/>
              <p:cNvSpPr txBox="1"/>
              <p:nvPr/>
            </p:nvSpPr>
            <p:spPr>
              <a:xfrm>
                <a:off x="623888" y="12756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工商信息、股权结构</a:t>
                </a:r>
              </a:p>
            </p:txBody>
          </p:sp>
          <p:sp>
            <p:nvSpPr>
              <p:cNvPr id="30" name="TextBox 30"/>
              <p:cNvSpPr txBox="1"/>
              <p:nvPr/>
            </p:nvSpPr>
            <p:spPr>
              <a:xfrm>
                <a:off x="623888" y="1418511"/>
                <a:ext cx="96532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组织架构、对外投资等</a:t>
                </a:r>
              </a:p>
            </p:txBody>
          </p:sp>
        </p:grpSp>
        <p:grpSp>
          <p:nvGrpSpPr>
            <p:cNvPr id="41" name="lc-2"/>
            <p:cNvGrpSpPr/>
            <p:nvPr/>
          </p:nvGrpSpPr>
          <p:grpSpPr>
            <a:xfrm>
              <a:off x="190500" y="1676400"/>
              <a:ext cx="1714500" cy="647700"/>
              <a:chOff x="190500" y="1676400"/>
              <a:chExt cx="1714500" cy="647700"/>
            </a:xfrm>
          </p:grpSpPr>
          <p:sp>
            <p:nvSpPr>
              <p:cNvPr id="32" name="Rectangle 32"/>
              <p:cNvSpPr/>
              <p:nvPr/>
            </p:nvSpPr>
            <p:spPr>
              <a:xfrm>
                <a:off x="190500" y="1676400"/>
                <a:ext cx="1714500" cy="647700"/>
              </a:xfrm>
              <a:prstGeom prst="roundRect">
                <a:avLst>
                  <a:gd name="adj" fmla="val 8824"/>
                </a:avLst>
              </a:prstGeom>
              <a:solidFill>
                <a:srgbClr val="F6F9FD"/>
              </a:solidFill>
              <a:ln w="9525">
                <a:solidFill>
                  <a:srgbClr val="CFDFEE"/>
                </a:solidFill>
              </a:ln>
            </p:spPr>
          </p:sp>
          <p:grpSp>
            <p:nvGrpSpPr>
              <p:cNvPr id="37" name="Group 37"/>
              <p:cNvGrpSpPr/>
              <p:nvPr/>
            </p:nvGrpSpPr>
            <p:grpSpPr>
              <a:xfrm>
                <a:off x="337344" y="1907381"/>
                <a:ext cx="144462" cy="185737"/>
                <a:chOff x="337344" y="1907381"/>
                <a:chExt cx="144462" cy="185737"/>
              </a:xfrm>
            </p:grpSpPr>
            <p:sp>
              <p:nvSpPr>
                <p:cNvPr id="33" name="Freeform 33"/>
                <p:cNvSpPr/>
                <p:nvPr/>
              </p:nvSpPr>
              <p:spPr>
                <a:xfrm>
                  <a:off x="337344" y="1928019"/>
                  <a:ext cx="144462" cy="165099"/>
                </a:xfrm>
                <a:custGeom>
                  <a:avLst/>
                  <a:gdLst/>
                  <a:ahLst/>
                  <a:cxnLst/>
                  <a:rect l="l" t="t" r="r" b="b"/>
                  <a:pathLst>
                    <a:path w="144462" h="165099">
                      <a:moveTo>
                        <a:pt x="41275" y="0"/>
                      </a:moveTo>
                      <a:lnTo>
                        <a:pt x="20637" y="0"/>
                      </a:lnTo>
                      <a:cubicBezTo>
                        <a:pt x="9240" y="0"/>
                        <a:pt x="0" y="9240"/>
                        <a:pt x="0" y="20637"/>
                      </a:cubicBezTo>
                      <a:lnTo>
                        <a:pt x="0" y="144462"/>
                      </a:lnTo>
                      <a:cubicBezTo>
                        <a:pt x="0" y="155860"/>
                        <a:pt x="9240" y="165099"/>
                        <a:pt x="20637" y="165099"/>
                      </a:cubicBezTo>
                      <a:lnTo>
                        <a:pt x="123825" y="165099"/>
                      </a:lnTo>
                      <a:cubicBezTo>
                        <a:pt x="135222" y="165099"/>
                        <a:pt x="144462" y="155860"/>
                        <a:pt x="144462" y="144462"/>
                      </a:cubicBezTo>
                      <a:lnTo>
                        <a:pt x="144462" y="20637"/>
                      </a:lnTo>
                      <a:cubicBezTo>
                        <a:pt x="144462" y="9240"/>
                        <a:pt x="135222" y="0"/>
                        <a:pt x="123825" y="0"/>
                      </a:cubicBezTo>
                      <a:lnTo>
                        <a:pt x="103187" y="0"/>
                      </a:lnTo>
                    </a:path>
                  </a:pathLst>
                </a:custGeom>
                <a:noFill/>
                <a:ln w="20637">
                  <a:solidFill>
                    <a:srgbClr val="92301C"/>
                  </a:solidFill>
                </a:ln>
              </p:spPr>
            </p:sp>
            <p:sp>
              <p:nvSpPr>
                <p:cNvPr id="34" name="Freeform 34"/>
                <p:cNvSpPr/>
                <p:nvPr/>
              </p:nvSpPr>
              <p:spPr>
                <a:xfrm>
                  <a:off x="378618" y="1907381"/>
                  <a:ext cx="61912" cy="41275"/>
                </a:xfrm>
                <a:custGeom>
                  <a:avLst/>
                  <a:gdLst/>
                  <a:ahLst/>
                  <a:cxnLst/>
                  <a:rect l="l" t="t" r="r" b="b"/>
                  <a:pathLst>
                    <a:path w="61912" h="41275">
                      <a:moveTo>
                        <a:pt x="0" y="20637"/>
                      </a:moveTo>
                      <a:cubicBezTo>
                        <a:pt x="0" y="9240"/>
                        <a:pt x="9240" y="0"/>
                        <a:pt x="20637" y="0"/>
                      </a:cubicBezTo>
                      <a:lnTo>
                        <a:pt x="41275" y="0"/>
                      </a:lnTo>
                      <a:cubicBezTo>
                        <a:pt x="52673" y="0"/>
                        <a:pt x="61912" y="9240"/>
                        <a:pt x="61912" y="20637"/>
                      </a:cubicBezTo>
                      <a:cubicBezTo>
                        <a:pt x="61912" y="32035"/>
                        <a:pt x="52673" y="41275"/>
                        <a:pt x="41275" y="41275"/>
                      </a:cubicBezTo>
                      <a:lnTo>
                        <a:pt x="20637" y="41275"/>
                      </a:lnTo>
                      <a:cubicBezTo>
                        <a:pt x="9240" y="41275"/>
                        <a:pt x="0" y="32035"/>
                        <a:pt x="0" y="20637"/>
                      </a:cubicBezTo>
                    </a:path>
                  </a:pathLst>
                </a:custGeom>
                <a:noFill/>
                <a:ln w="20637">
                  <a:solidFill>
                    <a:srgbClr val="92301C"/>
                  </a:solidFill>
                </a:ln>
              </p:spPr>
            </p:sp>
            <p:sp>
              <p:nvSpPr>
                <p:cNvPr id="35" name="Freeform 35"/>
                <p:cNvSpPr/>
                <p:nvPr/>
              </p:nvSpPr>
              <p:spPr>
                <a:xfrm>
                  <a:off x="388937" y="1989931"/>
                  <a:ext cx="41275" cy="61912"/>
                </a:xfrm>
                <a:custGeom>
                  <a:avLst/>
                  <a:gdLst/>
                  <a:ahLst/>
                  <a:cxnLst/>
                  <a:rect l="l" t="t" r="r" b="b"/>
                  <a:pathLst>
                    <a:path w="41275" h="61912">
                      <a:moveTo>
                        <a:pt x="41275" y="0"/>
                      </a:moveTo>
                      <a:lnTo>
                        <a:pt x="15478" y="0"/>
                      </a:lnTo>
                      <a:cubicBezTo>
                        <a:pt x="6930" y="0"/>
                        <a:pt x="0" y="6930"/>
                        <a:pt x="0" y="15478"/>
                      </a:cubicBezTo>
                      <a:cubicBezTo>
                        <a:pt x="0" y="24026"/>
                        <a:pt x="6930" y="30956"/>
                        <a:pt x="15478" y="30956"/>
                      </a:cubicBezTo>
                      <a:lnTo>
                        <a:pt x="25797" y="30956"/>
                      </a:lnTo>
                      <a:cubicBezTo>
                        <a:pt x="34345" y="30956"/>
                        <a:pt x="41275" y="37886"/>
                        <a:pt x="41275" y="46434"/>
                      </a:cubicBezTo>
                      <a:cubicBezTo>
                        <a:pt x="41275" y="54983"/>
                        <a:pt x="34345" y="61912"/>
                        <a:pt x="25797" y="61912"/>
                      </a:cubicBezTo>
                      <a:lnTo>
                        <a:pt x="0" y="61912"/>
                      </a:lnTo>
                    </a:path>
                  </a:pathLst>
                </a:custGeom>
                <a:noFill/>
                <a:ln w="20637">
                  <a:solidFill>
                    <a:srgbClr val="92301C"/>
                  </a:solidFill>
                </a:ln>
              </p:spPr>
            </p:sp>
            <p:sp>
              <p:nvSpPr>
                <p:cNvPr id="36" name="Freeform 36"/>
                <p:cNvSpPr/>
                <p:nvPr/>
              </p:nvSpPr>
              <p:spPr>
                <a:xfrm>
                  <a:off x="409575" y="1979612"/>
                  <a:ext cx="9525" cy="82550"/>
                </a:xfrm>
                <a:custGeom>
                  <a:avLst/>
                  <a:gdLst/>
                  <a:ahLst/>
                  <a:cxnLst/>
                  <a:rect l="l" t="t" r="r" b="b"/>
                  <a:pathLst>
                    <a:path w="9525" h="82550">
                      <a:moveTo>
                        <a:pt x="0" y="72231"/>
                      </a:moveTo>
                      <a:lnTo>
                        <a:pt x="0" y="82550"/>
                      </a:lnTo>
                      <a:moveTo>
                        <a:pt x="0" y="0"/>
                      </a:moveTo>
                      <a:lnTo>
                        <a:pt x="0" y="10319"/>
                      </a:lnTo>
                    </a:path>
                  </a:pathLst>
                </a:custGeom>
                <a:noFill/>
                <a:ln w="20637">
                  <a:solidFill>
                    <a:srgbClr val="92301C"/>
                  </a:solidFill>
                </a:ln>
              </p:spPr>
            </p:sp>
          </p:grpSp>
          <p:sp>
            <p:nvSpPr>
              <p:cNvPr id="38" name="TextBox 38"/>
              <p:cNvSpPr txBox="1"/>
              <p:nvPr/>
            </p:nvSpPr>
            <p:spPr>
              <a:xfrm>
                <a:off x="623888" y="17656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财务报表</a:t>
                </a:r>
              </a:p>
            </p:txBody>
          </p:sp>
          <p:sp>
            <p:nvSpPr>
              <p:cNvPr id="39" name="TextBox 39"/>
              <p:cNvSpPr txBox="1"/>
              <p:nvPr/>
            </p:nvSpPr>
            <p:spPr>
              <a:xfrm>
                <a:off x="623888" y="19614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资产负债表、利润表</a:t>
                </a:r>
              </a:p>
            </p:txBody>
          </p:sp>
          <p:sp>
            <p:nvSpPr>
              <p:cNvPr id="40" name="TextBox 40"/>
              <p:cNvSpPr txBox="1"/>
              <p:nvPr/>
            </p:nvSpPr>
            <p:spPr>
              <a:xfrm>
                <a:off x="623888" y="2104311"/>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现金流量表、附注等</a:t>
                </a:r>
              </a:p>
            </p:txBody>
          </p:sp>
        </p:grpSp>
        <p:grpSp>
          <p:nvGrpSpPr>
            <p:cNvPr id="55" name="lc-3"/>
            <p:cNvGrpSpPr/>
            <p:nvPr/>
          </p:nvGrpSpPr>
          <p:grpSpPr>
            <a:xfrm>
              <a:off x="190500" y="2362200"/>
              <a:ext cx="1714500" cy="647700"/>
              <a:chOff x="190500" y="2362200"/>
              <a:chExt cx="1714500" cy="647700"/>
            </a:xfrm>
          </p:grpSpPr>
          <p:sp>
            <p:nvSpPr>
              <p:cNvPr id="42" name="Rectangle 42"/>
              <p:cNvSpPr/>
              <p:nvPr/>
            </p:nvSpPr>
            <p:spPr>
              <a:xfrm>
                <a:off x="190500" y="2362200"/>
                <a:ext cx="1714500" cy="647700"/>
              </a:xfrm>
              <a:prstGeom prst="roundRect">
                <a:avLst>
                  <a:gd name="adj" fmla="val 8824"/>
                </a:avLst>
              </a:prstGeom>
              <a:solidFill>
                <a:srgbClr val="F6F9FD"/>
              </a:solidFill>
              <a:ln w="9525">
                <a:solidFill>
                  <a:srgbClr val="CFDFEE"/>
                </a:solidFill>
              </a:ln>
            </p:spPr>
          </p:sp>
          <p:grpSp>
            <p:nvGrpSpPr>
              <p:cNvPr id="51" name="Group 51"/>
              <p:cNvGrpSpPr/>
              <p:nvPr/>
            </p:nvGrpSpPr>
            <p:grpSpPr>
              <a:xfrm>
                <a:off x="316706" y="2593181"/>
                <a:ext cx="185737" cy="195262"/>
                <a:chOff x="316706" y="2593181"/>
                <a:chExt cx="185737" cy="195262"/>
              </a:xfrm>
            </p:grpSpPr>
            <p:sp>
              <p:nvSpPr>
                <p:cNvPr id="43" name="Freeform 43"/>
                <p:cNvSpPr/>
                <p:nvPr/>
              </p:nvSpPr>
              <p:spPr>
                <a:xfrm>
                  <a:off x="316706" y="2778918"/>
                  <a:ext cx="185737" cy="9525"/>
                </a:xfrm>
                <a:custGeom>
                  <a:avLst/>
                  <a:gdLst/>
                  <a:ahLst/>
                  <a:cxnLst/>
                  <a:rect l="l" t="t" r="r" b="b"/>
                  <a:pathLst>
                    <a:path w="185737" h="9525">
                      <a:moveTo>
                        <a:pt x="0" y="0"/>
                      </a:moveTo>
                      <a:lnTo>
                        <a:pt x="185737" y="0"/>
                      </a:lnTo>
                    </a:path>
                  </a:pathLst>
                </a:custGeom>
                <a:noFill/>
                <a:ln w="20637">
                  <a:solidFill>
                    <a:srgbClr val="92301C"/>
                  </a:solidFill>
                </a:ln>
              </p:spPr>
            </p:sp>
            <p:sp>
              <p:nvSpPr>
                <p:cNvPr id="44" name="Freeform 44"/>
                <p:cNvSpPr/>
                <p:nvPr/>
              </p:nvSpPr>
              <p:spPr>
                <a:xfrm>
                  <a:off x="316706" y="2665412"/>
                  <a:ext cx="185737" cy="9525"/>
                </a:xfrm>
                <a:custGeom>
                  <a:avLst/>
                  <a:gdLst/>
                  <a:ahLst/>
                  <a:cxnLst/>
                  <a:rect l="l" t="t" r="r" b="b"/>
                  <a:pathLst>
                    <a:path w="185737" h="9525">
                      <a:moveTo>
                        <a:pt x="0" y="0"/>
                      </a:moveTo>
                      <a:lnTo>
                        <a:pt x="185737" y="0"/>
                      </a:lnTo>
                    </a:path>
                  </a:pathLst>
                </a:custGeom>
                <a:noFill/>
                <a:ln w="20637">
                  <a:solidFill>
                    <a:srgbClr val="92301C"/>
                  </a:solidFill>
                </a:ln>
              </p:spPr>
            </p:sp>
            <p:sp>
              <p:nvSpPr>
                <p:cNvPr id="45" name="Freeform 45"/>
                <p:cNvSpPr/>
                <p:nvPr/>
              </p:nvSpPr>
              <p:spPr>
                <a:xfrm>
                  <a:off x="337344" y="2593181"/>
                  <a:ext cx="144462" cy="30956"/>
                </a:xfrm>
                <a:custGeom>
                  <a:avLst/>
                  <a:gdLst/>
                  <a:ahLst/>
                  <a:cxnLst/>
                  <a:rect l="l" t="t" r="r" b="b"/>
                  <a:pathLst>
                    <a:path w="144462" h="30956">
                      <a:moveTo>
                        <a:pt x="0" y="30956"/>
                      </a:moveTo>
                      <a:lnTo>
                        <a:pt x="72231" y="0"/>
                      </a:lnTo>
                      <a:lnTo>
                        <a:pt x="144462" y="30956"/>
                      </a:lnTo>
                    </a:path>
                  </a:pathLst>
                </a:custGeom>
                <a:noFill/>
                <a:ln w="20637">
                  <a:solidFill>
                    <a:srgbClr val="92301C"/>
                  </a:solidFill>
                </a:ln>
              </p:spPr>
            </p:sp>
            <p:sp>
              <p:nvSpPr>
                <p:cNvPr id="46" name="Freeform 46"/>
                <p:cNvSpPr/>
                <p:nvPr/>
              </p:nvSpPr>
              <p:spPr>
                <a:xfrm>
                  <a:off x="327025" y="2665412"/>
                  <a:ext cx="9525" cy="113506"/>
                </a:xfrm>
                <a:custGeom>
                  <a:avLst/>
                  <a:gdLst/>
                  <a:ahLst/>
                  <a:cxnLst/>
                  <a:rect l="l" t="t" r="r" b="b"/>
                  <a:pathLst>
                    <a:path w="9525" h="113506">
                      <a:moveTo>
                        <a:pt x="0" y="0"/>
                      </a:moveTo>
                      <a:lnTo>
                        <a:pt x="0" y="113506"/>
                      </a:lnTo>
                    </a:path>
                  </a:pathLst>
                </a:custGeom>
                <a:noFill/>
                <a:ln w="20637">
                  <a:solidFill>
                    <a:srgbClr val="92301C"/>
                  </a:solidFill>
                </a:ln>
              </p:spPr>
            </p:sp>
            <p:sp>
              <p:nvSpPr>
                <p:cNvPr id="47" name="Freeform 47"/>
                <p:cNvSpPr/>
                <p:nvPr/>
              </p:nvSpPr>
              <p:spPr>
                <a:xfrm>
                  <a:off x="492124" y="2665412"/>
                  <a:ext cx="9525" cy="113506"/>
                </a:xfrm>
                <a:custGeom>
                  <a:avLst/>
                  <a:gdLst/>
                  <a:ahLst/>
                  <a:cxnLst/>
                  <a:rect l="l" t="t" r="r" b="b"/>
                  <a:pathLst>
                    <a:path w="9525" h="113506">
                      <a:moveTo>
                        <a:pt x="0" y="0"/>
                      </a:moveTo>
                      <a:lnTo>
                        <a:pt x="0" y="113506"/>
                      </a:lnTo>
                    </a:path>
                  </a:pathLst>
                </a:custGeom>
                <a:noFill/>
                <a:ln w="20637">
                  <a:solidFill>
                    <a:srgbClr val="92301C"/>
                  </a:solidFill>
                </a:ln>
              </p:spPr>
            </p:sp>
            <p:sp>
              <p:nvSpPr>
                <p:cNvPr id="48" name="Freeform 48"/>
                <p:cNvSpPr/>
                <p:nvPr/>
              </p:nvSpPr>
              <p:spPr>
                <a:xfrm>
                  <a:off x="368300" y="2706687"/>
                  <a:ext cx="9525" cy="30956"/>
                </a:xfrm>
                <a:custGeom>
                  <a:avLst/>
                  <a:gdLst/>
                  <a:ahLst/>
                  <a:cxnLst/>
                  <a:rect l="l" t="t" r="r" b="b"/>
                  <a:pathLst>
                    <a:path w="9525" h="30956">
                      <a:moveTo>
                        <a:pt x="0" y="0"/>
                      </a:moveTo>
                      <a:lnTo>
                        <a:pt x="0" y="30956"/>
                      </a:lnTo>
                    </a:path>
                  </a:pathLst>
                </a:custGeom>
                <a:noFill/>
                <a:ln w="20637">
                  <a:solidFill>
                    <a:srgbClr val="92301C"/>
                  </a:solidFill>
                </a:ln>
              </p:spPr>
            </p:sp>
            <p:sp>
              <p:nvSpPr>
                <p:cNvPr id="49" name="Freeform 49"/>
                <p:cNvSpPr/>
                <p:nvPr/>
              </p:nvSpPr>
              <p:spPr>
                <a:xfrm>
                  <a:off x="409575" y="2706687"/>
                  <a:ext cx="9525" cy="30956"/>
                </a:xfrm>
                <a:custGeom>
                  <a:avLst/>
                  <a:gdLst/>
                  <a:ahLst/>
                  <a:cxnLst/>
                  <a:rect l="l" t="t" r="r" b="b"/>
                  <a:pathLst>
                    <a:path w="9525" h="30956">
                      <a:moveTo>
                        <a:pt x="0" y="0"/>
                      </a:moveTo>
                      <a:lnTo>
                        <a:pt x="0" y="30956"/>
                      </a:lnTo>
                    </a:path>
                  </a:pathLst>
                </a:custGeom>
                <a:noFill/>
                <a:ln w="20637">
                  <a:solidFill>
                    <a:srgbClr val="92301C"/>
                  </a:solidFill>
                </a:ln>
              </p:spPr>
            </p:sp>
            <p:sp>
              <p:nvSpPr>
                <p:cNvPr id="50" name="Freeform 50"/>
                <p:cNvSpPr/>
                <p:nvPr/>
              </p:nvSpPr>
              <p:spPr>
                <a:xfrm>
                  <a:off x="450849" y="2706687"/>
                  <a:ext cx="9525" cy="30956"/>
                </a:xfrm>
                <a:custGeom>
                  <a:avLst/>
                  <a:gdLst/>
                  <a:ahLst/>
                  <a:cxnLst/>
                  <a:rect l="l" t="t" r="r" b="b"/>
                  <a:pathLst>
                    <a:path w="9525" h="30956">
                      <a:moveTo>
                        <a:pt x="0" y="0"/>
                      </a:moveTo>
                      <a:lnTo>
                        <a:pt x="0" y="30956"/>
                      </a:lnTo>
                    </a:path>
                  </a:pathLst>
                </a:custGeom>
                <a:noFill/>
                <a:ln w="20637">
                  <a:solidFill>
                    <a:srgbClr val="92301C"/>
                  </a:solidFill>
                </a:ln>
              </p:spPr>
            </p:sp>
          </p:grpSp>
          <p:sp>
            <p:nvSpPr>
              <p:cNvPr id="52" name="TextBox 52"/>
              <p:cNvSpPr txBox="1"/>
              <p:nvPr/>
            </p:nvSpPr>
            <p:spPr>
              <a:xfrm>
                <a:off x="623888" y="24514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银行流水</a:t>
                </a:r>
              </a:p>
            </p:txBody>
          </p:sp>
          <p:sp>
            <p:nvSpPr>
              <p:cNvPr id="53" name="TextBox 53"/>
              <p:cNvSpPr txBox="1"/>
              <p:nvPr/>
            </p:nvSpPr>
            <p:spPr>
              <a:xfrm>
                <a:off x="623888" y="2647236"/>
                <a:ext cx="77416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企业及关联方流水</a:t>
                </a:r>
              </a:p>
            </p:txBody>
          </p:sp>
          <p:sp>
            <p:nvSpPr>
              <p:cNvPr id="54" name="TextBox 54"/>
              <p:cNvSpPr txBox="1"/>
              <p:nvPr/>
            </p:nvSpPr>
            <p:spPr>
              <a:xfrm>
                <a:off x="623888" y="2790111"/>
                <a:ext cx="96532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收支明细、账户关系等</a:t>
                </a:r>
              </a:p>
            </p:txBody>
          </p:sp>
        </p:grpSp>
        <p:grpSp>
          <p:nvGrpSpPr>
            <p:cNvPr id="61" name="lc-4"/>
            <p:cNvGrpSpPr/>
            <p:nvPr/>
          </p:nvGrpSpPr>
          <p:grpSpPr>
            <a:xfrm>
              <a:off x="190500" y="3048000"/>
              <a:ext cx="1714500" cy="647700"/>
              <a:chOff x="190500" y="3048000"/>
              <a:chExt cx="1714500" cy="647700"/>
            </a:xfrm>
          </p:grpSpPr>
          <p:sp>
            <p:nvSpPr>
              <p:cNvPr id="56" name="Rectangle 56"/>
              <p:cNvSpPr/>
              <p:nvPr/>
            </p:nvSpPr>
            <p:spPr>
              <a:xfrm>
                <a:off x="190500" y="3048000"/>
                <a:ext cx="1714500" cy="647700"/>
              </a:xfrm>
              <a:prstGeom prst="roundRect">
                <a:avLst>
                  <a:gd name="adj" fmla="val 8824"/>
                </a:avLst>
              </a:prstGeom>
              <a:solidFill>
                <a:srgbClr val="F6F9FD"/>
              </a:solidFill>
              <a:ln w="9525">
                <a:solidFill>
                  <a:srgbClr val="CFDFEE"/>
                </a:solidFill>
              </a:ln>
            </p:spPr>
          </p:sp>
          <p:sp>
            <p:nvSpPr>
              <p:cNvPr id="57" name="Freeform 57"/>
              <p:cNvSpPr/>
              <p:nvPr/>
            </p:nvSpPr>
            <p:spPr>
              <a:xfrm>
                <a:off x="337344" y="3278981"/>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lnTo>
                      <a:pt x="113506" y="165099"/>
                    </a:lnTo>
                    <a:lnTo>
                      <a:pt x="92868" y="185737"/>
                    </a:lnTo>
                    <a:lnTo>
                      <a:pt x="72231" y="165099"/>
                    </a:lnTo>
                    <a:lnTo>
                      <a:pt x="51594" y="185737"/>
                    </a:lnTo>
                    <a:lnTo>
                      <a:pt x="30956" y="165099"/>
                    </a:lnTo>
                    <a:lnTo>
                      <a:pt x="0" y="185737"/>
                    </a:lnTo>
                    <a:moveTo>
                      <a:pt x="41275" y="41275"/>
                    </a:moveTo>
                    <a:lnTo>
                      <a:pt x="103187" y="41275"/>
                    </a:lnTo>
                    <a:moveTo>
                      <a:pt x="41275" y="82550"/>
                    </a:moveTo>
                    <a:lnTo>
                      <a:pt x="103187" y="82550"/>
                    </a:lnTo>
                    <a:moveTo>
                      <a:pt x="82550" y="123825"/>
                    </a:moveTo>
                    <a:lnTo>
                      <a:pt x="103187" y="123825"/>
                    </a:lnTo>
                  </a:path>
                </a:pathLst>
              </a:custGeom>
              <a:noFill/>
              <a:ln w="20637">
                <a:solidFill>
                  <a:srgbClr val="92301C"/>
                </a:solidFill>
              </a:ln>
            </p:spPr>
          </p:sp>
          <p:sp>
            <p:nvSpPr>
              <p:cNvPr id="58" name="TextBox 58"/>
              <p:cNvSpPr txBox="1"/>
              <p:nvPr/>
            </p:nvSpPr>
            <p:spPr>
              <a:xfrm>
                <a:off x="623888" y="31372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税票信息</a:t>
                </a:r>
              </a:p>
            </p:txBody>
          </p:sp>
          <p:sp>
            <p:nvSpPr>
              <p:cNvPr id="59" name="TextBox 59"/>
              <p:cNvSpPr txBox="1"/>
              <p:nvPr/>
            </p:nvSpPr>
            <p:spPr>
              <a:xfrm>
                <a:off x="623888" y="3333036"/>
                <a:ext cx="96532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纳税申报、增值税发票</a:t>
                </a:r>
              </a:p>
            </p:txBody>
          </p:sp>
          <p:sp>
            <p:nvSpPr>
              <p:cNvPr id="60" name="TextBox 60"/>
              <p:cNvSpPr txBox="1"/>
              <p:nvPr/>
            </p:nvSpPr>
            <p:spPr>
              <a:xfrm>
                <a:off x="623888" y="3475911"/>
                <a:ext cx="96532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税务处罚、税收优惠等</a:t>
                </a:r>
              </a:p>
            </p:txBody>
          </p:sp>
        </p:grpSp>
        <p:grpSp>
          <p:nvGrpSpPr>
            <p:cNvPr id="72" name="lc-5"/>
            <p:cNvGrpSpPr/>
            <p:nvPr/>
          </p:nvGrpSpPr>
          <p:grpSpPr>
            <a:xfrm>
              <a:off x="190500" y="3733800"/>
              <a:ext cx="1714500" cy="647700"/>
              <a:chOff x="190500" y="3733800"/>
              <a:chExt cx="1714500" cy="647700"/>
            </a:xfrm>
          </p:grpSpPr>
          <p:sp>
            <p:nvSpPr>
              <p:cNvPr id="62" name="Rectangle 62"/>
              <p:cNvSpPr/>
              <p:nvPr/>
            </p:nvSpPr>
            <p:spPr>
              <a:xfrm>
                <a:off x="190500" y="3733800"/>
                <a:ext cx="1714500" cy="647700"/>
              </a:xfrm>
              <a:prstGeom prst="roundRect">
                <a:avLst>
                  <a:gd name="adj" fmla="val 8824"/>
                </a:avLst>
              </a:prstGeom>
              <a:solidFill>
                <a:srgbClr val="F6F9FD"/>
              </a:solidFill>
              <a:ln w="9525">
                <a:solidFill>
                  <a:srgbClr val="CFDFEE"/>
                </a:solidFill>
              </a:ln>
            </p:spPr>
          </p:sp>
          <p:grpSp>
            <p:nvGrpSpPr>
              <p:cNvPr id="68" name="Group 68"/>
              <p:cNvGrpSpPr/>
              <p:nvPr/>
            </p:nvGrpSpPr>
            <p:grpSpPr>
              <a:xfrm>
                <a:off x="337344" y="3964781"/>
                <a:ext cx="144462" cy="185737"/>
                <a:chOff x="337344" y="3964781"/>
                <a:chExt cx="144462" cy="185737"/>
              </a:xfrm>
            </p:grpSpPr>
            <p:sp>
              <p:nvSpPr>
                <p:cNvPr id="63" name="Freeform 63"/>
                <p:cNvSpPr/>
                <p:nvPr/>
              </p:nvSpPr>
              <p:spPr>
                <a:xfrm>
                  <a:off x="430212" y="3964781"/>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64" name="Freeform 64"/>
                <p:cNvSpPr/>
                <p:nvPr/>
              </p:nvSpPr>
              <p:spPr>
                <a:xfrm>
                  <a:off x="337344" y="3964781"/>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92301C"/>
                  </a:solidFill>
                </a:ln>
              </p:spPr>
            </p:sp>
            <p:sp>
              <p:nvSpPr>
                <p:cNvPr id="65" name="Freeform 65"/>
                <p:cNvSpPr/>
                <p:nvPr/>
              </p:nvSpPr>
              <p:spPr>
                <a:xfrm>
                  <a:off x="378618" y="4026693"/>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66" name="Freeform 66"/>
                <p:cNvSpPr/>
                <p:nvPr/>
              </p:nvSpPr>
              <p:spPr>
                <a:xfrm>
                  <a:off x="378618" y="4067968"/>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67" name="Freeform 67"/>
                <p:cNvSpPr/>
                <p:nvPr/>
              </p:nvSpPr>
              <p:spPr>
                <a:xfrm>
                  <a:off x="378618" y="4109243"/>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69" name="TextBox 69"/>
              <p:cNvSpPr txBox="1"/>
              <p:nvPr/>
            </p:nvSpPr>
            <p:spPr>
              <a:xfrm>
                <a:off x="623888" y="38230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合同资料</a:t>
                </a:r>
              </a:p>
            </p:txBody>
          </p:sp>
          <p:sp>
            <p:nvSpPr>
              <p:cNvPr id="70" name="TextBox 70"/>
              <p:cNvSpPr txBox="1"/>
              <p:nvPr/>
            </p:nvSpPr>
            <p:spPr>
              <a:xfrm>
                <a:off x="623888" y="40188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销售合同、采购合同</a:t>
                </a:r>
              </a:p>
            </p:txBody>
          </p:sp>
          <p:sp>
            <p:nvSpPr>
              <p:cNvPr id="71" name="TextBox 71"/>
              <p:cNvSpPr txBox="1"/>
              <p:nvPr/>
            </p:nvSpPr>
            <p:spPr>
              <a:xfrm>
                <a:off x="623888" y="4161711"/>
                <a:ext cx="96532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担保合同、重大协议等</a:t>
                </a:r>
              </a:p>
            </p:txBody>
          </p:sp>
        </p:grpSp>
        <p:grpSp>
          <p:nvGrpSpPr>
            <p:cNvPr id="82" name="lc-6"/>
            <p:cNvGrpSpPr/>
            <p:nvPr/>
          </p:nvGrpSpPr>
          <p:grpSpPr>
            <a:xfrm>
              <a:off x="190500" y="4419600"/>
              <a:ext cx="1714500" cy="647700"/>
              <a:chOff x="190500" y="4419600"/>
              <a:chExt cx="1714500" cy="647700"/>
            </a:xfrm>
          </p:grpSpPr>
          <p:sp>
            <p:nvSpPr>
              <p:cNvPr id="73" name="Rectangle 73"/>
              <p:cNvSpPr/>
              <p:nvPr/>
            </p:nvSpPr>
            <p:spPr>
              <a:xfrm>
                <a:off x="190500" y="4419600"/>
                <a:ext cx="1714500" cy="647700"/>
              </a:xfrm>
              <a:prstGeom prst="roundRect">
                <a:avLst>
                  <a:gd name="adj" fmla="val 8824"/>
                </a:avLst>
              </a:prstGeom>
              <a:solidFill>
                <a:srgbClr val="F6F9FD"/>
              </a:solidFill>
              <a:ln w="9525">
                <a:solidFill>
                  <a:srgbClr val="CFDFEE"/>
                </a:solidFill>
              </a:ln>
            </p:spPr>
          </p:sp>
          <p:grpSp>
            <p:nvGrpSpPr>
              <p:cNvPr id="78" name="Group 78"/>
              <p:cNvGrpSpPr/>
              <p:nvPr/>
            </p:nvGrpSpPr>
            <p:grpSpPr>
              <a:xfrm>
                <a:off x="327025" y="4660900"/>
                <a:ext cx="165099" cy="165099"/>
                <a:chOff x="327025" y="4660900"/>
                <a:chExt cx="165099" cy="165099"/>
              </a:xfrm>
            </p:grpSpPr>
            <p:sp>
              <p:nvSpPr>
                <p:cNvPr id="74" name="Freeform 74"/>
                <p:cNvSpPr/>
                <p:nvPr/>
              </p:nvSpPr>
              <p:spPr>
                <a:xfrm>
                  <a:off x="327025" y="4660900"/>
                  <a:ext cx="165099" cy="165099"/>
                </a:xfrm>
                <a:custGeom>
                  <a:avLst/>
                  <a:gdLst/>
                  <a:ahLst/>
                  <a:cxnLst/>
                  <a:rect l="l" t="t" r="r" b="b"/>
                  <a:pathLst>
                    <a:path w="165099" h="165099">
                      <a:moveTo>
                        <a:pt x="123825" y="20637"/>
                      </a:moveTo>
                      <a:lnTo>
                        <a:pt x="154781" y="20637"/>
                      </a:lnTo>
                      <a:cubicBezTo>
                        <a:pt x="160480" y="20637"/>
                        <a:pt x="165099" y="25257"/>
                        <a:pt x="165099" y="30956"/>
                      </a:cubicBezTo>
                      <a:lnTo>
                        <a:pt x="165099" y="144462"/>
                      </a:lnTo>
                      <a:cubicBezTo>
                        <a:pt x="165099" y="155860"/>
                        <a:pt x="155860" y="165099"/>
                        <a:pt x="144462" y="165099"/>
                      </a:cubicBezTo>
                      <a:cubicBezTo>
                        <a:pt x="133064" y="165099"/>
                        <a:pt x="123825" y="155860"/>
                        <a:pt x="123825" y="144462"/>
                      </a:cubicBezTo>
                      <a:lnTo>
                        <a:pt x="123825" y="10319"/>
                      </a:lnTo>
                      <a:cubicBezTo>
                        <a:pt x="123825" y="4620"/>
                        <a:pt x="119205" y="0"/>
                        <a:pt x="113506" y="0"/>
                      </a:cubicBezTo>
                      <a:lnTo>
                        <a:pt x="10319" y="0"/>
                      </a:lnTo>
                      <a:cubicBezTo>
                        <a:pt x="4620" y="0"/>
                        <a:pt x="0" y="4620"/>
                        <a:pt x="0" y="10319"/>
                      </a:cubicBezTo>
                      <a:lnTo>
                        <a:pt x="0" y="134143"/>
                      </a:lnTo>
                      <a:cubicBezTo>
                        <a:pt x="0" y="151240"/>
                        <a:pt x="13860" y="165099"/>
                        <a:pt x="30956" y="165099"/>
                      </a:cubicBezTo>
                      <a:lnTo>
                        <a:pt x="144462" y="165099"/>
                      </a:lnTo>
                    </a:path>
                  </a:pathLst>
                </a:custGeom>
                <a:noFill/>
                <a:ln w="20637">
                  <a:solidFill>
                    <a:srgbClr val="92301C"/>
                  </a:solidFill>
                </a:ln>
              </p:spPr>
            </p:sp>
            <p:sp>
              <p:nvSpPr>
                <p:cNvPr id="75" name="Freeform 75"/>
                <p:cNvSpPr/>
                <p:nvPr/>
              </p:nvSpPr>
              <p:spPr>
                <a:xfrm>
                  <a:off x="368300" y="4702175"/>
                  <a:ext cx="41275" cy="9525"/>
                </a:xfrm>
                <a:custGeom>
                  <a:avLst/>
                  <a:gdLst/>
                  <a:ahLst/>
                  <a:cxnLst/>
                  <a:rect l="l" t="t" r="r" b="b"/>
                  <a:pathLst>
                    <a:path w="41275" h="9525">
                      <a:moveTo>
                        <a:pt x="0" y="0"/>
                      </a:moveTo>
                      <a:lnTo>
                        <a:pt x="41275" y="0"/>
                      </a:lnTo>
                    </a:path>
                  </a:pathLst>
                </a:custGeom>
                <a:noFill/>
                <a:ln w="20637">
                  <a:solidFill>
                    <a:srgbClr val="92301C"/>
                  </a:solidFill>
                </a:ln>
              </p:spPr>
            </p:sp>
            <p:sp>
              <p:nvSpPr>
                <p:cNvPr id="76" name="Freeform 76"/>
                <p:cNvSpPr/>
                <p:nvPr/>
              </p:nvSpPr>
              <p:spPr>
                <a:xfrm>
                  <a:off x="368300" y="4743450"/>
                  <a:ext cx="41275" cy="9525"/>
                </a:xfrm>
                <a:custGeom>
                  <a:avLst/>
                  <a:gdLst/>
                  <a:ahLst/>
                  <a:cxnLst/>
                  <a:rect l="l" t="t" r="r" b="b"/>
                  <a:pathLst>
                    <a:path w="41275" h="9525">
                      <a:moveTo>
                        <a:pt x="0" y="0"/>
                      </a:moveTo>
                      <a:lnTo>
                        <a:pt x="41275" y="0"/>
                      </a:lnTo>
                    </a:path>
                  </a:pathLst>
                </a:custGeom>
                <a:noFill/>
                <a:ln w="20637">
                  <a:solidFill>
                    <a:srgbClr val="92301C"/>
                  </a:solidFill>
                </a:ln>
              </p:spPr>
            </p:sp>
            <p:sp>
              <p:nvSpPr>
                <p:cNvPr id="77" name="Freeform 77"/>
                <p:cNvSpPr/>
                <p:nvPr/>
              </p:nvSpPr>
              <p:spPr>
                <a:xfrm>
                  <a:off x="368300" y="4784724"/>
                  <a:ext cx="41275" cy="9525"/>
                </a:xfrm>
                <a:custGeom>
                  <a:avLst/>
                  <a:gdLst/>
                  <a:ahLst/>
                  <a:cxnLst/>
                  <a:rect l="l" t="t" r="r" b="b"/>
                  <a:pathLst>
                    <a:path w="41275" h="9525">
                      <a:moveTo>
                        <a:pt x="0" y="0"/>
                      </a:moveTo>
                      <a:lnTo>
                        <a:pt x="41275" y="0"/>
                      </a:lnTo>
                    </a:path>
                  </a:pathLst>
                </a:custGeom>
                <a:noFill/>
                <a:ln w="20637">
                  <a:solidFill>
                    <a:srgbClr val="92301C"/>
                  </a:solidFill>
                </a:ln>
              </p:spPr>
            </p:sp>
          </p:grpSp>
          <p:sp>
            <p:nvSpPr>
              <p:cNvPr id="79" name="TextBox 79"/>
              <p:cNvSpPr txBox="1"/>
              <p:nvPr/>
            </p:nvSpPr>
            <p:spPr>
              <a:xfrm>
                <a:off x="623888" y="45088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舆情信息</a:t>
                </a:r>
              </a:p>
            </p:txBody>
          </p:sp>
          <p:sp>
            <p:nvSpPr>
              <p:cNvPr id="80" name="TextBox 80"/>
              <p:cNvSpPr txBox="1"/>
              <p:nvPr/>
            </p:nvSpPr>
            <p:spPr>
              <a:xfrm>
                <a:off x="623888" y="47046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新闻报道、司法诉讼</a:t>
                </a:r>
              </a:p>
            </p:txBody>
          </p:sp>
          <p:sp>
            <p:nvSpPr>
              <p:cNvPr id="81" name="TextBox 81"/>
              <p:cNvSpPr txBox="1"/>
              <p:nvPr/>
            </p:nvSpPr>
            <p:spPr>
              <a:xfrm>
                <a:off x="623888" y="4847511"/>
                <a:ext cx="96532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行政处罚、行业舆情等</a:t>
                </a:r>
              </a:p>
            </p:txBody>
          </p:sp>
        </p:grpSp>
      </p:grpSp>
      <p:grpSp>
        <p:nvGrpSpPr>
          <p:cNvPr id="87" name="side-label"/>
          <p:cNvGrpSpPr/>
          <p:nvPr/>
        </p:nvGrpSpPr>
        <p:grpSpPr>
          <a:xfrm>
            <a:off x="1276831" y="990600"/>
            <a:ext cx="1565900" cy="4076700"/>
            <a:chOff x="1276831" y="990600"/>
            <a:chExt cx="1565900" cy="4076700"/>
          </a:xfrm>
        </p:grpSpPr>
        <p:sp>
          <p:nvSpPr>
            <p:cNvPr id="84" name="Rectangle 84"/>
            <p:cNvSpPr/>
            <p:nvPr/>
          </p:nvSpPr>
          <p:spPr>
            <a:xfrm>
              <a:off x="1962150" y="990600"/>
              <a:ext cx="209550" cy="4076700"/>
            </a:xfrm>
            <a:prstGeom prst="roundRect">
              <a:avLst>
                <a:gd name="adj" fmla="val 18182"/>
              </a:avLst>
            </a:prstGeom>
            <a:solidFill>
              <a:srgbClr val="EEF5FB"/>
            </a:solidFill>
            <a:ln>
              <a:noFill/>
            </a:ln>
          </p:spPr>
        </p:sp>
        <p:sp>
          <p:nvSpPr>
            <p:cNvPr id="85" name="TextBox 85"/>
            <p:cNvSpPr txBox="1"/>
            <p:nvPr/>
          </p:nvSpPr>
          <p:spPr>
            <a:xfrm rot="-5400000">
              <a:off x="1276831" y="2955131"/>
              <a:ext cx="1565900" cy="147638"/>
            </a:xfrm>
            <a:prstGeom prst="rect">
              <a:avLst/>
            </a:prstGeom>
            <a:noFill/>
            <a:ln>
              <a:noFill/>
            </a:ln>
          </p:spPr>
          <p:txBody>
            <a:bodyPr wrap="none" lIns="0" tIns="0" rIns="0" bIns="0" anchor="t" anchorCtr="0">
              <a:spAutoFit/>
            </a:bodyPr>
            <a:lstStyle/>
            <a:p>
              <a:pPr algn="ctr"/>
              <a:r>
                <a:rPr lang="zh-CN" sz="750" b="1" dirty="0">
                  <a:solidFill>
                    <a:srgbClr val="92301C"/>
                  </a:solidFill>
                  <a:latin typeface="+mn-lt"/>
                  <a:ea typeface="+mn-ea"/>
                  <a:cs typeface="+mn-cs"/>
                </a:rPr>
                <a:t>统一接入 · 智能解析 · 标准化处理</a:t>
              </a:r>
            </a:p>
          </p:txBody>
        </p:sp>
        <p:sp>
          <p:nvSpPr>
            <p:cNvPr id="86" name="Polygon 86"/>
            <p:cNvSpPr/>
            <p:nvPr/>
          </p:nvSpPr>
          <p:spPr>
            <a:xfrm>
              <a:off x="2190750" y="2971800"/>
              <a:ext cx="66675" cy="114300"/>
            </a:xfrm>
            <a:custGeom>
              <a:avLst/>
              <a:gdLst/>
              <a:ahLst/>
              <a:cxnLst/>
              <a:rect l="l" t="t" r="r" b="b"/>
              <a:pathLst>
                <a:path w="66675" h="114300">
                  <a:moveTo>
                    <a:pt x="0" y="0"/>
                  </a:moveTo>
                  <a:lnTo>
                    <a:pt x="0" y="114300"/>
                  </a:lnTo>
                  <a:lnTo>
                    <a:pt x="66675" y="57150"/>
                  </a:lnTo>
                  <a:close/>
                </a:path>
              </a:pathLst>
            </a:custGeom>
            <a:solidFill>
              <a:srgbClr val="B7533F"/>
            </a:solidFill>
            <a:ln>
              <a:noFill/>
            </a:ln>
          </p:spPr>
        </p:sp>
      </p:grpSp>
      <p:grpSp>
        <p:nvGrpSpPr>
          <p:cNvPr id="179" name="mid-flow"/>
          <p:cNvGrpSpPr/>
          <p:nvPr/>
        </p:nvGrpSpPr>
        <p:grpSpPr>
          <a:xfrm>
            <a:off x="2343150" y="990600"/>
            <a:ext cx="5619750" cy="3143250"/>
            <a:chOff x="2343150" y="990600"/>
            <a:chExt cx="5619750" cy="3143250"/>
          </a:xfrm>
        </p:grpSpPr>
        <p:grpSp>
          <p:nvGrpSpPr>
            <p:cNvPr id="102" name="mf-1"/>
            <p:cNvGrpSpPr/>
            <p:nvPr/>
          </p:nvGrpSpPr>
          <p:grpSpPr>
            <a:xfrm>
              <a:off x="2343150" y="990600"/>
              <a:ext cx="857250" cy="3143250"/>
              <a:chOff x="2343150" y="990600"/>
              <a:chExt cx="857250" cy="3143250"/>
            </a:xfrm>
          </p:grpSpPr>
          <p:sp>
            <p:nvSpPr>
              <p:cNvPr id="88" name="Rectangle 88"/>
              <p:cNvSpPr/>
              <p:nvPr/>
            </p:nvSpPr>
            <p:spPr>
              <a:xfrm>
                <a:off x="2343150" y="990600"/>
                <a:ext cx="857250" cy="3143250"/>
              </a:xfrm>
              <a:prstGeom prst="roundRect">
                <a:avLst>
                  <a:gd name="adj" fmla="val 6667"/>
                </a:avLst>
              </a:prstGeom>
              <a:solidFill>
                <a:srgbClr val="EEF5FB"/>
              </a:solidFill>
              <a:ln>
                <a:noFill/>
              </a:ln>
            </p:spPr>
          </p:sp>
          <p:sp>
            <p:nvSpPr>
              <p:cNvPr id="89" name="Ellipse 89"/>
              <p:cNvSpPr/>
              <p:nvPr/>
            </p:nvSpPr>
            <p:spPr>
              <a:xfrm>
                <a:off x="2628900" y="1133475"/>
                <a:ext cx="285750" cy="285750"/>
              </a:xfrm>
              <a:prstGeom prst="ellipse">
                <a:avLst/>
              </a:prstGeom>
              <a:solidFill>
                <a:srgbClr val="92301C"/>
              </a:solidFill>
              <a:ln>
                <a:noFill/>
              </a:ln>
            </p:spPr>
          </p:sp>
          <p:sp>
            <p:nvSpPr>
              <p:cNvPr id="90" name="TextBox 90"/>
              <p:cNvSpPr txBox="1"/>
              <p:nvPr/>
            </p:nvSpPr>
            <p:spPr>
              <a:xfrm>
                <a:off x="2730133" y="1218724"/>
                <a:ext cx="8328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1</a:t>
                </a:r>
              </a:p>
            </p:txBody>
          </p:sp>
          <p:grpSp>
            <p:nvGrpSpPr>
              <p:cNvPr id="96" name="Group 96"/>
              <p:cNvGrpSpPr/>
              <p:nvPr/>
            </p:nvGrpSpPr>
            <p:grpSpPr>
              <a:xfrm>
                <a:off x="2671762" y="1738312"/>
                <a:ext cx="200026" cy="257175"/>
                <a:chOff x="2671762" y="1738312"/>
                <a:chExt cx="200026" cy="257175"/>
              </a:xfrm>
            </p:grpSpPr>
            <p:sp>
              <p:nvSpPr>
                <p:cNvPr id="91" name="Freeform 91"/>
                <p:cNvSpPr/>
                <p:nvPr/>
              </p:nvSpPr>
              <p:spPr>
                <a:xfrm>
                  <a:off x="2800350" y="1738312"/>
                  <a:ext cx="71438" cy="71438"/>
                </a:xfrm>
                <a:custGeom>
                  <a:avLst/>
                  <a:gdLst/>
                  <a:ahLst/>
                  <a:cxnLst/>
                  <a:rect l="l" t="t" r="r" b="b"/>
                  <a:pathLst>
                    <a:path w="71438" h="71438">
                      <a:moveTo>
                        <a:pt x="0" y="0"/>
                      </a:moveTo>
                      <a:lnTo>
                        <a:pt x="0" y="57150"/>
                      </a:lnTo>
                      <a:cubicBezTo>
                        <a:pt x="0" y="65041"/>
                        <a:pt x="6397" y="71438"/>
                        <a:pt x="14288" y="71438"/>
                      </a:cubicBezTo>
                      <a:lnTo>
                        <a:pt x="71438" y="71438"/>
                      </a:lnTo>
                    </a:path>
                  </a:pathLst>
                </a:custGeom>
                <a:noFill/>
                <a:ln w="28575">
                  <a:solidFill>
                    <a:srgbClr val="92301C"/>
                  </a:solidFill>
                </a:ln>
              </p:spPr>
            </p:sp>
            <p:sp>
              <p:nvSpPr>
                <p:cNvPr id="92" name="Freeform 92"/>
                <p:cNvSpPr/>
                <p:nvPr/>
              </p:nvSpPr>
              <p:spPr>
                <a:xfrm>
                  <a:off x="2671762" y="1738312"/>
                  <a:ext cx="200025" cy="257175"/>
                </a:xfrm>
                <a:custGeom>
                  <a:avLst/>
                  <a:gdLst/>
                  <a:ahLst/>
                  <a:cxnLst/>
                  <a:rect l="l" t="t" r="r" b="b"/>
                  <a:pathLst>
                    <a:path w="200025" h="257175">
                      <a:moveTo>
                        <a:pt x="171450" y="257175"/>
                      </a:moveTo>
                      <a:lnTo>
                        <a:pt x="28575" y="257175"/>
                      </a:lnTo>
                      <a:cubicBezTo>
                        <a:pt x="12793" y="257175"/>
                        <a:pt x="0" y="244382"/>
                        <a:pt x="0" y="228600"/>
                      </a:cubicBezTo>
                      <a:lnTo>
                        <a:pt x="0" y="28575"/>
                      </a:lnTo>
                      <a:cubicBezTo>
                        <a:pt x="0" y="12793"/>
                        <a:pt x="12793" y="0"/>
                        <a:pt x="28575" y="0"/>
                      </a:cubicBezTo>
                      <a:lnTo>
                        <a:pt x="128588" y="0"/>
                      </a:lnTo>
                      <a:lnTo>
                        <a:pt x="200025" y="71438"/>
                      </a:lnTo>
                      <a:lnTo>
                        <a:pt x="200025" y="228600"/>
                      </a:lnTo>
                      <a:cubicBezTo>
                        <a:pt x="200025" y="244382"/>
                        <a:pt x="187232" y="257175"/>
                        <a:pt x="171450" y="257175"/>
                      </a:cubicBezTo>
                    </a:path>
                  </a:pathLst>
                </a:custGeom>
                <a:noFill/>
                <a:ln w="28575">
                  <a:solidFill>
                    <a:srgbClr val="92301C"/>
                  </a:solidFill>
                </a:ln>
              </p:spPr>
            </p:sp>
            <p:sp>
              <p:nvSpPr>
                <p:cNvPr id="93" name="Freeform 93"/>
                <p:cNvSpPr/>
                <p:nvPr/>
              </p:nvSpPr>
              <p:spPr>
                <a:xfrm>
                  <a:off x="2728912" y="1824038"/>
                  <a:ext cx="14288" cy="9525"/>
                </a:xfrm>
                <a:custGeom>
                  <a:avLst/>
                  <a:gdLst/>
                  <a:ahLst/>
                  <a:cxnLst/>
                  <a:rect l="l" t="t" r="r" b="b"/>
                  <a:pathLst>
                    <a:path w="14288" h="9525">
                      <a:moveTo>
                        <a:pt x="0" y="0"/>
                      </a:moveTo>
                      <a:lnTo>
                        <a:pt x="14288" y="0"/>
                      </a:lnTo>
                    </a:path>
                  </a:pathLst>
                </a:custGeom>
                <a:noFill/>
                <a:ln w="28575">
                  <a:solidFill>
                    <a:srgbClr val="92301C"/>
                  </a:solidFill>
                </a:ln>
              </p:spPr>
            </p:sp>
            <p:sp>
              <p:nvSpPr>
                <p:cNvPr id="94" name="Freeform 94"/>
                <p:cNvSpPr/>
                <p:nvPr/>
              </p:nvSpPr>
              <p:spPr>
                <a:xfrm>
                  <a:off x="2728912" y="1881188"/>
                  <a:ext cx="85725" cy="9525"/>
                </a:xfrm>
                <a:custGeom>
                  <a:avLst/>
                  <a:gdLst/>
                  <a:ahLst/>
                  <a:cxnLst/>
                  <a:rect l="l" t="t" r="r" b="b"/>
                  <a:pathLst>
                    <a:path w="85725" h="9525">
                      <a:moveTo>
                        <a:pt x="0" y="0"/>
                      </a:moveTo>
                      <a:lnTo>
                        <a:pt x="85725" y="0"/>
                      </a:lnTo>
                    </a:path>
                  </a:pathLst>
                </a:custGeom>
                <a:noFill/>
                <a:ln w="28575">
                  <a:solidFill>
                    <a:srgbClr val="92301C"/>
                  </a:solidFill>
                </a:ln>
              </p:spPr>
            </p:sp>
            <p:sp>
              <p:nvSpPr>
                <p:cNvPr id="95" name="Freeform 95"/>
                <p:cNvSpPr/>
                <p:nvPr/>
              </p:nvSpPr>
              <p:spPr>
                <a:xfrm>
                  <a:off x="2728912" y="1938338"/>
                  <a:ext cx="85725" cy="9525"/>
                </a:xfrm>
                <a:custGeom>
                  <a:avLst/>
                  <a:gdLst/>
                  <a:ahLst/>
                  <a:cxnLst/>
                  <a:rect l="l" t="t" r="r" b="b"/>
                  <a:pathLst>
                    <a:path w="85725" h="9525">
                      <a:moveTo>
                        <a:pt x="0" y="0"/>
                      </a:moveTo>
                      <a:lnTo>
                        <a:pt x="85725" y="0"/>
                      </a:lnTo>
                    </a:path>
                  </a:pathLst>
                </a:custGeom>
                <a:noFill/>
                <a:ln w="28575">
                  <a:solidFill>
                    <a:srgbClr val="92301C"/>
                  </a:solidFill>
                </a:ln>
              </p:spPr>
            </p:sp>
          </p:grpSp>
          <p:sp>
            <p:nvSpPr>
              <p:cNvPr id="97" name="TextBox 97"/>
              <p:cNvSpPr txBox="1"/>
              <p:nvPr/>
            </p:nvSpPr>
            <p:spPr>
              <a:xfrm>
                <a:off x="2502967" y="23331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材料抽取</a:t>
                </a:r>
              </a:p>
            </p:txBody>
          </p:sp>
          <p:sp>
            <p:nvSpPr>
              <p:cNvPr id="98" name="TextBox 98"/>
              <p:cNvSpPr txBox="1"/>
              <p:nvPr/>
            </p:nvSpPr>
            <p:spPr>
              <a:xfrm>
                <a:off x="2414588" y="2628186"/>
                <a:ext cx="56407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多模态识别</a:t>
                </a:r>
              </a:p>
            </p:txBody>
          </p:sp>
          <p:sp>
            <p:nvSpPr>
              <p:cNvPr id="99" name="TextBox 99"/>
              <p:cNvSpPr txBox="1"/>
              <p:nvPr/>
            </p:nvSpPr>
            <p:spPr>
              <a:xfrm>
                <a:off x="2414588" y="2837736"/>
                <a:ext cx="56407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结构化抽取</a:t>
                </a:r>
              </a:p>
            </p:txBody>
          </p:sp>
          <p:sp>
            <p:nvSpPr>
              <p:cNvPr id="100" name="TextBox 100"/>
              <p:cNvSpPr txBox="1"/>
              <p:nvPr/>
            </p:nvSpPr>
            <p:spPr>
              <a:xfrm>
                <a:off x="2414588" y="30472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关键字段提取</a:t>
                </a:r>
              </a:p>
            </p:txBody>
          </p:sp>
          <p:sp>
            <p:nvSpPr>
              <p:cNvPr id="101" name="TextBox 101"/>
              <p:cNvSpPr txBox="1"/>
              <p:nvPr/>
            </p:nvSpPr>
            <p:spPr>
              <a:xfrm>
                <a:off x="2414588" y="32568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形成证据片段</a:t>
                </a:r>
              </a:p>
            </p:txBody>
          </p:sp>
        </p:grpSp>
        <p:grpSp>
          <p:nvGrpSpPr>
            <p:cNvPr id="115" name="mf-2"/>
            <p:cNvGrpSpPr/>
            <p:nvPr/>
          </p:nvGrpSpPr>
          <p:grpSpPr>
            <a:xfrm>
              <a:off x="3295650" y="990600"/>
              <a:ext cx="857250" cy="3143250"/>
              <a:chOff x="3295650" y="990600"/>
              <a:chExt cx="857250" cy="3143250"/>
            </a:xfrm>
          </p:grpSpPr>
          <p:sp>
            <p:nvSpPr>
              <p:cNvPr id="103" name="Rectangle 103"/>
              <p:cNvSpPr/>
              <p:nvPr/>
            </p:nvSpPr>
            <p:spPr>
              <a:xfrm>
                <a:off x="3295650" y="990600"/>
                <a:ext cx="857250" cy="3143250"/>
              </a:xfrm>
              <a:prstGeom prst="roundRect">
                <a:avLst>
                  <a:gd name="adj" fmla="val 6667"/>
                </a:avLst>
              </a:prstGeom>
              <a:solidFill>
                <a:srgbClr val="EEF5FB"/>
              </a:solidFill>
              <a:ln>
                <a:noFill/>
              </a:ln>
            </p:spPr>
          </p:sp>
          <p:sp>
            <p:nvSpPr>
              <p:cNvPr id="104" name="Ellipse 104"/>
              <p:cNvSpPr/>
              <p:nvPr/>
            </p:nvSpPr>
            <p:spPr>
              <a:xfrm>
                <a:off x="3581400" y="1133475"/>
                <a:ext cx="285750" cy="285750"/>
              </a:xfrm>
              <a:prstGeom prst="ellipse">
                <a:avLst/>
              </a:prstGeom>
              <a:solidFill>
                <a:srgbClr val="92301C"/>
              </a:solidFill>
              <a:ln>
                <a:noFill/>
              </a:ln>
            </p:spPr>
          </p:sp>
          <p:sp>
            <p:nvSpPr>
              <p:cNvPr id="105" name="TextBox 105"/>
              <p:cNvSpPr txBox="1"/>
              <p:nvPr/>
            </p:nvSpPr>
            <p:spPr>
              <a:xfrm>
                <a:off x="3682633" y="1218724"/>
                <a:ext cx="8328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2</a:t>
                </a:r>
              </a:p>
            </p:txBody>
          </p:sp>
          <p:grpSp>
            <p:nvGrpSpPr>
              <p:cNvPr id="109" name="Group 109"/>
              <p:cNvGrpSpPr/>
              <p:nvPr/>
            </p:nvGrpSpPr>
            <p:grpSpPr>
              <a:xfrm>
                <a:off x="3624262" y="1738312"/>
                <a:ext cx="200025" cy="257176"/>
                <a:chOff x="3624262" y="1738312"/>
                <a:chExt cx="200025" cy="257176"/>
              </a:xfrm>
            </p:grpSpPr>
            <p:sp>
              <p:nvSpPr>
                <p:cNvPr id="106" name="Freeform 106"/>
                <p:cNvSpPr/>
                <p:nvPr/>
              </p:nvSpPr>
              <p:spPr>
                <a:xfrm>
                  <a:off x="3624262" y="1824038"/>
                  <a:ext cx="200025" cy="171450"/>
                </a:xfrm>
                <a:custGeom>
                  <a:avLst/>
                  <a:gdLst/>
                  <a:ahLst/>
                  <a:cxnLst/>
                  <a:rect l="l" t="t" r="r" b="b"/>
                  <a:pathLst>
                    <a:path w="200025" h="171450">
                      <a:moveTo>
                        <a:pt x="42862" y="0"/>
                      </a:moveTo>
                      <a:lnTo>
                        <a:pt x="28575" y="0"/>
                      </a:lnTo>
                      <a:cubicBezTo>
                        <a:pt x="12793" y="0"/>
                        <a:pt x="0" y="12793"/>
                        <a:pt x="0" y="28575"/>
                      </a:cubicBezTo>
                      <a:lnTo>
                        <a:pt x="0" y="142875"/>
                      </a:lnTo>
                      <a:cubicBezTo>
                        <a:pt x="0" y="158657"/>
                        <a:pt x="12793" y="171450"/>
                        <a:pt x="28575" y="171450"/>
                      </a:cubicBezTo>
                      <a:lnTo>
                        <a:pt x="171450" y="171450"/>
                      </a:lnTo>
                      <a:cubicBezTo>
                        <a:pt x="187232" y="171450"/>
                        <a:pt x="200025" y="158657"/>
                        <a:pt x="200025" y="142875"/>
                      </a:cubicBezTo>
                      <a:lnTo>
                        <a:pt x="200025" y="28575"/>
                      </a:lnTo>
                      <a:cubicBezTo>
                        <a:pt x="200025" y="12793"/>
                        <a:pt x="187232" y="0"/>
                        <a:pt x="171450" y="0"/>
                      </a:cubicBezTo>
                      <a:lnTo>
                        <a:pt x="157162" y="0"/>
                      </a:lnTo>
                    </a:path>
                  </a:pathLst>
                </a:custGeom>
                <a:noFill/>
                <a:ln w="28575">
                  <a:solidFill>
                    <a:srgbClr val="92301C"/>
                  </a:solidFill>
                </a:ln>
              </p:spPr>
            </p:sp>
            <p:sp>
              <p:nvSpPr>
                <p:cNvPr id="107" name="Freeform 107"/>
                <p:cNvSpPr/>
                <p:nvPr/>
              </p:nvSpPr>
              <p:spPr>
                <a:xfrm>
                  <a:off x="3724275" y="1738312"/>
                  <a:ext cx="9525" cy="157162"/>
                </a:xfrm>
                <a:custGeom>
                  <a:avLst/>
                  <a:gdLst/>
                  <a:ahLst/>
                  <a:cxnLst/>
                  <a:rect l="l" t="t" r="r" b="b"/>
                  <a:pathLst>
                    <a:path w="9525" h="157162">
                      <a:moveTo>
                        <a:pt x="0" y="157162"/>
                      </a:moveTo>
                      <a:lnTo>
                        <a:pt x="0" y="0"/>
                      </a:lnTo>
                    </a:path>
                  </a:pathLst>
                </a:custGeom>
                <a:noFill/>
                <a:ln w="28575">
                  <a:solidFill>
                    <a:srgbClr val="92301C"/>
                  </a:solidFill>
                </a:ln>
              </p:spPr>
            </p:sp>
            <p:sp>
              <p:nvSpPr>
                <p:cNvPr id="108" name="Freeform 108"/>
                <p:cNvSpPr/>
                <p:nvPr/>
              </p:nvSpPr>
              <p:spPr>
                <a:xfrm>
                  <a:off x="3681412" y="1738312"/>
                  <a:ext cx="85725" cy="42862"/>
                </a:xfrm>
                <a:custGeom>
                  <a:avLst/>
                  <a:gdLst/>
                  <a:ahLst/>
                  <a:cxnLst/>
                  <a:rect l="l" t="t" r="r" b="b"/>
                  <a:pathLst>
                    <a:path w="85725" h="42862">
                      <a:moveTo>
                        <a:pt x="0" y="42862"/>
                      </a:moveTo>
                      <a:lnTo>
                        <a:pt x="42862" y="0"/>
                      </a:lnTo>
                      <a:lnTo>
                        <a:pt x="85725" y="42862"/>
                      </a:lnTo>
                    </a:path>
                  </a:pathLst>
                </a:custGeom>
                <a:noFill/>
                <a:ln w="28575">
                  <a:solidFill>
                    <a:srgbClr val="92301C"/>
                  </a:solidFill>
                </a:ln>
              </p:spPr>
            </p:sp>
          </p:grpSp>
          <p:sp>
            <p:nvSpPr>
              <p:cNvPr id="110" name="TextBox 110"/>
              <p:cNvSpPr txBox="1"/>
              <p:nvPr/>
            </p:nvSpPr>
            <p:spPr>
              <a:xfrm>
                <a:off x="3455467" y="23331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交叉验证</a:t>
                </a:r>
              </a:p>
            </p:txBody>
          </p:sp>
          <p:sp>
            <p:nvSpPr>
              <p:cNvPr id="111" name="TextBox 111"/>
              <p:cNvSpPr txBox="1"/>
              <p:nvPr/>
            </p:nvSpPr>
            <p:spPr>
              <a:xfrm>
                <a:off x="3367088" y="26281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多源数据比对</a:t>
                </a:r>
              </a:p>
            </p:txBody>
          </p:sp>
          <p:sp>
            <p:nvSpPr>
              <p:cNvPr id="112" name="TextBox 112"/>
              <p:cNvSpPr txBox="1"/>
              <p:nvPr/>
            </p:nvSpPr>
            <p:spPr>
              <a:xfrm>
                <a:off x="3367088" y="2837736"/>
                <a:ext cx="56407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一致性校验</a:t>
                </a:r>
              </a:p>
            </p:txBody>
          </p:sp>
          <p:sp>
            <p:nvSpPr>
              <p:cNvPr id="113" name="TextBox 113"/>
              <p:cNvSpPr txBox="1"/>
              <p:nvPr/>
            </p:nvSpPr>
            <p:spPr>
              <a:xfrm>
                <a:off x="3367088" y="30472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异常差异识别</a:t>
                </a:r>
              </a:p>
            </p:txBody>
          </p:sp>
          <p:sp>
            <p:nvSpPr>
              <p:cNvPr id="114" name="TextBox 114"/>
              <p:cNvSpPr txBox="1"/>
              <p:nvPr/>
            </p:nvSpPr>
            <p:spPr>
              <a:xfrm>
                <a:off x="3367088" y="3256836"/>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证据置信度评分</a:t>
                </a:r>
              </a:p>
            </p:txBody>
          </p:sp>
        </p:grpSp>
        <p:grpSp>
          <p:nvGrpSpPr>
            <p:cNvPr id="129" name="mf-3"/>
            <p:cNvGrpSpPr/>
            <p:nvPr/>
          </p:nvGrpSpPr>
          <p:grpSpPr>
            <a:xfrm>
              <a:off x="4248150" y="990600"/>
              <a:ext cx="857250" cy="3143250"/>
              <a:chOff x="4248150" y="990600"/>
              <a:chExt cx="857250" cy="3143250"/>
            </a:xfrm>
          </p:grpSpPr>
          <p:sp>
            <p:nvSpPr>
              <p:cNvPr id="116" name="Rectangle 116"/>
              <p:cNvSpPr/>
              <p:nvPr/>
            </p:nvSpPr>
            <p:spPr>
              <a:xfrm>
                <a:off x="4248150" y="990600"/>
                <a:ext cx="857250" cy="3143250"/>
              </a:xfrm>
              <a:prstGeom prst="roundRect">
                <a:avLst>
                  <a:gd name="adj" fmla="val 6667"/>
                </a:avLst>
              </a:prstGeom>
              <a:solidFill>
                <a:srgbClr val="EEF5FB"/>
              </a:solidFill>
              <a:ln>
                <a:noFill/>
              </a:ln>
            </p:spPr>
          </p:sp>
          <p:sp>
            <p:nvSpPr>
              <p:cNvPr id="117" name="Ellipse 117"/>
              <p:cNvSpPr/>
              <p:nvPr/>
            </p:nvSpPr>
            <p:spPr>
              <a:xfrm>
                <a:off x="4533900" y="1133475"/>
                <a:ext cx="285750" cy="285750"/>
              </a:xfrm>
              <a:prstGeom prst="ellipse">
                <a:avLst/>
              </a:prstGeom>
              <a:solidFill>
                <a:srgbClr val="92301C"/>
              </a:solidFill>
              <a:ln>
                <a:noFill/>
              </a:ln>
            </p:spPr>
          </p:sp>
          <p:sp>
            <p:nvSpPr>
              <p:cNvPr id="118" name="TextBox 118"/>
              <p:cNvSpPr txBox="1"/>
              <p:nvPr/>
            </p:nvSpPr>
            <p:spPr>
              <a:xfrm>
                <a:off x="4635133" y="1218724"/>
                <a:ext cx="8328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3</a:t>
                </a:r>
              </a:p>
            </p:txBody>
          </p:sp>
          <p:grpSp>
            <p:nvGrpSpPr>
              <p:cNvPr id="123" name="Group 123"/>
              <p:cNvGrpSpPr/>
              <p:nvPr/>
            </p:nvGrpSpPr>
            <p:grpSpPr>
              <a:xfrm>
                <a:off x="4548188" y="1752600"/>
                <a:ext cx="257175" cy="238125"/>
                <a:chOff x="4548188" y="1752600"/>
                <a:chExt cx="257175" cy="238125"/>
              </a:xfrm>
            </p:grpSpPr>
            <p:sp>
              <p:nvSpPr>
                <p:cNvPr id="119" name="Freeform 119"/>
                <p:cNvSpPr/>
                <p:nvPr/>
              </p:nvSpPr>
              <p:spPr>
                <a:xfrm>
                  <a:off x="4548188" y="1866900"/>
                  <a:ext cx="85725" cy="114300"/>
                </a:xfrm>
                <a:custGeom>
                  <a:avLst/>
                  <a:gdLst/>
                  <a:ahLst/>
                  <a:cxnLst/>
                  <a:rect l="l" t="t" r="r" b="b"/>
                  <a:pathLst>
                    <a:path w="85725" h="114300">
                      <a:moveTo>
                        <a:pt x="0" y="14288"/>
                      </a:moveTo>
                      <a:cubicBezTo>
                        <a:pt x="0" y="6397"/>
                        <a:pt x="6397" y="0"/>
                        <a:pt x="14288" y="0"/>
                      </a:cubicBezTo>
                      <a:lnTo>
                        <a:pt x="71438" y="0"/>
                      </a:lnTo>
                      <a:cubicBezTo>
                        <a:pt x="79328" y="0"/>
                        <a:pt x="85725" y="6397"/>
                        <a:pt x="85725" y="14288"/>
                      </a:cubicBezTo>
                      <a:lnTo>
                        <a:pt x="85725" y="100012"/>
                      </a:lnTo>
                      <a:cubicBezTo>
                        <a:pt x="85725" y="107903"/>
                        <a:pt x="79328" y="114300"/>
                        <a:pt x="71438" y="114300"/>
                      </a:cubicBezTo>
                      <a:lnTo>
                        <a:pt x="14288" y="114300"/>
                      </a:lnTo>
                      <a:cubicBezTo>
                        <a:pt x="6397" y="114300"/>
                        <a:pt x="0" y="107903"/>
                        <a:pt x="0" y="100012"/>
                      </a:cubicBezTo>
                      <a:lnTo>
                        <a:pt x="0" y="14288"/>
                      </a:lnTo>
                    </a:path>
                  </a:pathLst>
                </a:custGeom>
                <a:noFill/>
                <a:ln w="28575">
                  <a:solidFill>
                    <a:srgbClr val="92301C"/>
                  </a:solidFill>
                </a:ln>
              </p:spPr>
            </p:sp>
            <p:sp>
              <p:nvSpPr>
                <p:cNvPr id="120" name="Freeform 120"/>
                <p:cNvSpPr/>
                <p:nvPr/>
              </p:nvSpPr>
              <p:spPr>
                <a:xfrm>
                  <a:off x="4719638" y="1809750"/>
                  <a:ext cx="85725" cy="171450"/>
                </a:xfrm>
                <a:custGeom>
                  <a:avLst/>
                  <a:gdLst/>
                  <a:ahLst/>
                  <a:cxnLst/>
                  <a:rect l="l" t="t" r="r" b="b"/>
                  <a:pathLst>
                    <a:path w="85725" h="171450">
                      <a:moveTo>
                        <a:pt x="0" y="14288"/>
                      </a:moveTo>
                      <a:cubicBezTo>
                        <a:pt x="0" y="6397"/>
                        <a:pt x="6397" y="0"/>
                        <a:pt x="14288" y="0"/>
                      </a:cubicBezTo>
                      <a:lnTo>
                        <a:pt x="71438" y="0"/>
                      </a:lnTo>
                      <a:cubicBezTo>
                        <a:pt x="79328" y="0"/>
                        <a:pt x="85725" y="6397"/>
                        <a:pt x="85725" y="14288"/>
                      </a:cubicBezTo>
                      <a:lnTo>
                        <a:pt x="85725" y="157162"/>
                      </a:lnTo>
                      <a:cubicBezTo>
                        <a:pt x="85725" y="165053"/>
                        <a:pt x="79328" y="171450"/>
                        <a:pt x="71438" y="171450"/>
                      </a:cubicBezTo>
                      <a:lnTo>
                        <a:pt x="14288" y="171450"/>
                      </a:lnTo>
                      <a:cubicBezTo>
                        <a:pt x="6397" y="171450"/>
                        <a:pt x="0" y="165053"/>
                        <a:pt x="0" y="157162"/>
                      </a:cubicBezTo>
                      <a:lnTo>
                        <a:pt x="0" y="14288"/>
                      </a:lnTo>
                    </a:path>
                  </a:pathLst>
                </a:custGeom>
                <a:noFill/>
                <a:ln w="28575">
                  <a:solidFill>
                    <a:srgbClr val="92301C"/>
                  </a:solidFill>
                </a:ln>
              </p:spPr>
            </p:sp>
            <p:sp>
              <p:nvSpPr>
                <p:cNvPr id="121" name="Freeform 121"/>
                <p:cNvSpPr/>
                <p:nvPr/>
              </p:nvSpPr>
              <p:spPr>
                <a:xfrm>
                  <a:off x="4633912" y="1752600"/>
                  <a:ext cx="85725" cy="228600"/>
                </a:xfrm>
                <a:custGeom>
                  <a:avLst/>
                  <a:gdLst/>
                  <a:ahLst/>
                  <a:cxnLst/>
                  <a:rect l="l" t="t" r="r" b="b"/>
                  <a:pathLst>
                    <a:path w="85725" h="228600">
                      <a:moveTo>
                        <a:pt x="0" y="14288"/>
                      </a:moveTo>
                      <a:cubicBezTo>
                        <a:pt x="0" y="6397"/>
                        <a:pt x="6397" y="0"/>
                        <a:pt x="14288" y="0"/>
                      </a:cubicBezTo>
                      <a:lnTo>
                        <a:pt x="71438" y="0"/>
                      </a:lnTo>
                      <a:cubicBezTo>
                        <a:pt x="79328" y="0"/>
                        <a:pt x="85725" y="6397"/>
                        <a:pt x="85725" y="14288"/>
                      </a:cubicBezTo>
                      <a:lnTo>
                        <a:pt x="85725" y="214312"/>
                      </a:lnTo>
                      <a:cubicBezTo>
                        <a:pt x="85725" y="222203"/>
                        <a:pt x="79328" y="228600"/>
                        <a:pt x="71438" y="228600"/>
                      </a:cubicBezTo>
                      <a:lnTo>
                        <a:pt x="14288" y="228600"/>
                      </a:lnTo>
                      <a:cubicBezTo>
                        <a:pt x="6397" y="228600"/>
                        <a:pt x="0" y="222203"/>
                        <a:pt x="0" y="214312"/>
                      </a:cubicBezTo>
                      <a:lnTo>
                        <a:pt x="0" y="14288"/>
                      </a:lnTo>
                    </a:path>
                  </a:pathLst>
                </a:custGeom>
                <a:noFill/>
                <a:ln w="28575">
                  <a:solidFill>
                    <a:srgbClr val="92301C"/>
                  </a:solidFill>
                </a:ln>
              </p:spPr>
            </p:sp>
            <p:sp>
              <p:nvSpPr>
                <p:cNvPr id="122" name="Freeform 122"/>
                <p:cNvSpPr/>
                <p:nvPr/>
              </p:nvSpPr>
              <p:spPr>
                <a:xfrm>
                  <a:off x="4562475" y="1981200"/>
                  <a:ext cx="200025" cy="9525"/>
                </a:xfrm>
                <a:custGeom>
                  <a:avLst/>
                  <a:gdLst/>
                  <a:ahLst/>
                  <a:cxnLst/>
                  <a:rect l="l" t="t" r="r" b="b"/>
                  <a:pathLst>
                    <a:path w="200025" h="9525">
                      <a:moveTo>
                        <a:pt x="0" y="0"/>
                      </a:moveTo>
                      <a:lnTo>
                        <a:pt x="200025" y="0"/>
                      </a:lnTo>
                    </a:path>
                  </a:pathLst>
                </a:custGeom>
                <a:noFill/>
                <a:ln w="28575">
                  <a:solidFill>
                    <a:srgbClr val="92301C"/>
                  </a:solidFill>
                </a:ln>
              </p:spPr>
            </p:sp>
          </p:grpSp>
          <p:sp>
            <p:nvSpPr>
              <p:cNvPr id="124" name="TextBox 124"/>
              <p:cNvSpPr txBox="1"/>
              <p:nvPr/>
            </p:nvSpPr>
            <p:spPr>
              <a:xfrm>
                <a:off x="4407967" y="23331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经营还原</a:t>
                </a:r>
              </a:p>
            </p:txBody>
          </p:sp>
          <p:sp>
            <p:nvSpPr>
              <p:cNvPr id="125" name="TextBox 125"/>
              <p:cNvSpPr txBox="1"/>
              <p:nvPr/>
            </p:nvSpPr>
            <p:spPr>
              <a:xfrm>
                <a:off x="4319588" y="26281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业务模式梳理</a:t>
                </a:r>
              </a:p>
            </p:txBody>
          </p:sp>
          <p:sp>
            <p:nvSpPr>
              <p:cNvPr id="126" name="TextBox 126"/>
              <p:cNvSpPr txBox="1"/>
              <p:nvPr/>
            </p:nvSpPr>
            <p:spPr>
              <a:xfrm>
                <a:off x="4319588" y="28377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收入结构分析</a:t>
                </a:r>
              </a:p>
            </p:txBody>
          </p:sp>
          <p:sp>
            <p:nvSpPr>
              <p:cNvPr id="127" name="TextBox 127"/>
              <p:cNvSpPr txBox="1"/>
              <p:nvPr/>
            </p:nvSpPr>
            <p:spPr>
              <a:xfrm>
                <a:off x="4319588" y="3047286"/>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上下游关系还原</a:t>
                </a:r>
              </a:p>
            </p:txBody>
          </p:sp>
          <p:sp>
            <p:nvSpPr>
              <p:cNvPr id="128" name="TextBox 128"/>
              <p:cNvSpPr txBox="1"/>
              <p:nvPr/>
            </p:nvSpPr>
            <p:spPr>
              <a:xfrm>
                <a:off x="4319588" y="3256836"/>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经营稳定性评估</a:t>
                </a:r>
              </a:p>
            </p:txBody>
          </p:sp>
        </p:grpSp>
        <p:grpSp>
          <p:nvGrpSpPr>
            <p:cNvPr id="147" name="mf-4"/>
            <p:cNvGrpSpPr/>
            <p:nvPr/>
          </p:nvGrpSpPr>
          <p:grpSpPr>
            <a:xfrm>
              <a:off x="5200650" y="990600"/>
              <a:ext cx="857250" cy="3143250"/>
              <a:chOff x="5200650" y="990600"/>
              <a:chExt cx="857250" cy="3143250"/>
            </a:xfrm>
          </p:grpSpPr>
          <p:sp>
            <p:nvSpPr>
              <p:cNvPr id="130" name="Rectangle 130"/>
              <p:cNvSpPr/>
              <p:nvPr/>
            </p:nvSpPr>
            <p:spPr>
              <a:xfrm>
                <a:off x="5200650" y="990600"/>
                <a:ext cx="857250" cy="3143250"/>
              </a:xfrm>
              <a:prstGeom prst="roundRect">
                <a:avLst>
                  <a:gd name="adj" fmla="val 6667"/>
                </a:avLst>
              </a:prstGeom>
              <a:solidFill>
                <a:srgbClr val="EEF5FB"/>
              </a:solidFill>
              <a:ln>
                <a:noFill/>
              </a:ln>
            </p:spPr>
          </p:sp>
          <p:sp>
            <p:nvSpPr>
              <p:cNvPr id="131" name="Ellipse 131"/>
              <p:cNvSpPr/>
              <p:nvPr/>
            </p:nvSpPr>
            <p:spPr>
              <a:xfrm>
                <a:off x="5486400" y="1133475"/>
                <a:ext cx="285750" cy="285750"/>
              </a:xfrm>
              <a:prstGeom prst="ellipse">
                <a:avLst/>
              </a:prstGeom>
              <a:solidFill>
                <a:srgbClr val="92301C"/>
              </a:solidFill>
              <a:ln>
                <a:noFill/>
              </a:ln>
            </p:spPr>
          </p:sp>
          <p:sp>
            <p:nvSpPr>
              <p:cNvPr id="132" name="TextBox 132"/>
              <p:cNvSpPr txBox="1"/>
              <p:nvPr/>
            </p:nvSpPr>
            <p:spPr>
              <a:xfrm>
                <a:off x="5587633" y="1218724"/>
                <a:ext cx="8328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4</a:t>
                </a:r>
              </a:p>
            </p:txBody>
          </p:sp>
          <p:grpSp>
            <p:nvGrpSpPr>
              <p:cNvPr id="141" name="Group 141"/>
              <p:cNvGrpSpPr/>
              <p:nvPr/>
            </p:nvGrpSpPr>
            <p:grpSpPr>
              <a:xfrm>
                <a:off x="5514975" y="1738312"/>
                <a:ext cx="228600" cy="257175"/>
                <a:chOff x="5514975" y="1738312"/>
                <a:chExt cx="228600" cy="257175"/>
              </a:xfrm>
            </p:grpSpPr>
            <p:sp>
              <p:nvSpPr>
                <p:cNvPr id="133" name="Freeform 133"/>
                <p:cNvSpPr/>
                <p:nvPr/>
              </p:nvSpPr>
              <p:spPr>
                <a:xfrm>
                  <a:off x="5514975" y="1738312"/>
                  <a:ext cx="228600" cy="257175"/>
                </a:xfrm>
                <a:custGeom>
                  <a:avLst/>
                  <a:gdLst/>
                  <a:ahLst/>
                  <a:cxnLst/>
                  <a:rect l="l" t="t" r="r" b="b"/>
                  <a:pathLst>
                    <a:path w="228600" h="257175">
                      <a:moveTo>
                        <a:pt x="0" y="28575"/>
                      </a:moveTo>
                      <a:cubicBezTo>
                        <a:pt x="0" y="12793"/>
                        <a:pt x="12793" y="0"/>
                        <a:pt x="28575" y="0"/>
                      </a:cubicBezTo>
                      <a:lnTo>
                        <a:pt x="200025" y="0"/>
                      </a:lnTo>
                      <a:cubicBezTo>
                        <a:pt x="215807" y="0"/>
                        <a:pt x="228600" y="12793"/>
                        <a:pt x="228600" y="28575"/>
                      </a:cubicBezTo>
                      <a:lnTo>
                        <a:pt x="228600" y="228600"/>
                      </a:lnTo>
                      <a:cubicBezTo>
                        <a:pt x="228600" y="244382"/>
                        <a:pt x="215807" y="257175"/>
                        <a:pt x="200025" y="257175"/>
                      </a:cubicBezTo>
                      <a:lnTo>
                        <a:pt x="28575" y="257175"/>
                      </a:lnTo>
                      <a:cubicBezTo>
                        <a:pt x="12793" y="257175"/>
                        <a:pt x="0" y="244382"/>
                        <a:pt x="0" y="228600"/>
                      </a:cubicBezTo>
                      <a:lnTo>
                        <a:pt x="0" y="28575"/>
                      </a:lnTo>
                    </a:path>
                  </a:pathLst>
                </a:custGeom>
                <a:noFill/>
                <a:ln w="28575">
                  <a:solidFill>
                    <a:srgbClr val="92301C"/>
                  </a:solidFill>
                </a:ln>
              </p:spPr>
            </p:sp>
            <p:sp>
              <p:nvSpPr>
                <p:cNvPr id="134" name="Freeform 134"/>
                <p:cNvSpPr/>
                <p:nvPr/>
              </p:nvSpPr>
              <p:spPr>
                <a:xfrm>
                  <a:off x="5572125" y="1795462"/>
                  <a:ext cx="114300" cy="42862"/>
                </a:xfrm>
                <a:custGeom>
                  <a:avLst/>
                  <a:gdLst/>
                  <a:ahLst/>
                  <a:cxnLst/>
                  <a:rect l="l" t="t" r="r" b="b"/>
                  <a:pathLst>
                    <a:path w="114300" h="42862">
                      <a:moveTo>
                        <a:pt x="0" y="14288"/>
                      </a:moveTo>
                      <a:cubicBezTo>
                        <a:pt x="0" y="6397"/>
                        <a:pt x="6397" y="0"/>
                        <a:pt x="14288" y="0"/>
                      </a:cubicBezTo>
                      <a:lnTo>
                        <a:pt x="100012" y="0"/>
                      </a:lnTo>
                      <a:cubicBezTo>
                        <a:pt x="107903" y="0"/>
                        <a:pt x="114300" y="6397"/>
                        <a:pt x="114300" y="14288"/>
                      </a:cubicBezTo>
                      <a:lnTo>
                        <a:pt x="114300" y="28575"/>
                      </a:lnTo>
                      <a:cubicBezTo>
                        <a:pt x="114300" y="36466"/>
                        <a:pt x="107903" y="42862"/>
                        <a:pt x="100012" y="42862"/>
                      </a:cubicBezTo>
                      <a:lnTo>
                        <a:pt x="14288" y="42862"/>
                      </a:lnTo>
                      <a:cubicBezTo>
                        <a:pt x="6397" y="42862"/>
                        <a:pt x="0" y="36466"/>
                        <a:pt x="0" y="28575"/>
                      </a:cubicBezTo>
                      <a:lnTo>
                        <a:pt x="0" y="14288"/>
                      </a:lnTo>
                    </a:path>
                  </a:pathLst>
                </a:custGeom>
                <a:noFill/>
                <a:ln w="28575">
                  <a:solidFill>
                    <a:srgbClr val="92301C"/>
                  </a:solidFill>
                </a:ln>
              </p:spPr>
            </p:sp>
            <p:sp>
              <p:nvSpPr>
                <p:cNvPr id="135" name="Freeform 135"/>
                <p:cNvSpPr/>
                <p:nvPr/>
              </p:nvSpPr>
              <p:spPr>
                <a:xfrm>
                  <a:off x="5572125" y="1895475"/>
                  <a:ext cx="9525" cy="9525"/>
                </a:xfrm>
                <a:custGeom>
                  <a:avLst/>
                  <a:gdLst/>
                  <a:ahLst/>
                  <a:cxnLst/>
                  <a:rect l="l" t="t" r="r" b="b"/>
                  <a:pathLst>
                    <a:path w="9525" h="9525">
                      <a:moveTo>
                        <a:pt x="0" y="0"/>
                      </a:moveTo>
                      <a:lnTo>
                        <a:pt x="0" y="143"/>
                      </a:lnTo>
                    </a:path>
                  </a:pathLst>
                </a:custGeom>
                <a:noFill/>
                <a:ln w="28575">
                  <a:solidFill>
                    <a:srgbClr val="92301C"/>
                  </a:solidFill>
                </a:ln>
              </p:spPr>
            </p:sp>
            <p:sp>
              <p:nvSpPr>
                <p:cNvPr id="136" name="Freeform 136"/>
                <p:cNvSpPr/>
                <p:nvPr/>
              </p:nvSpPr>
              <p:spPr>
                <a:xfrm>
                  <a:off x="5629275" y="1895475"/>
                  <a:ext cx="9525" cy="9525"/>
                </a:xfrm>
                <a:custGeom>
                  <a:avLst/>
                  <a:gdLst/>
                  <a:ahLst/>
                  <a:cxnLst/>
                  <a:rect l="l" t="t" r="r" b="b"/>
                  <a:pathLst>
                    <a:path w="9525" h="9525">
                      <a:moveTo>
                        <a:pt x="0" y="0"/>
                      </a:moveTo>
                      <a:lnTo>
                        <a:pt x="0" y="143"/>
                      </a:lnTo>
                    </a:path>
                  </a:pathLst>
                </a:custGeom>
                <a:noFill/>
                <a:ln w="28575">
                  <a:solidFill>
                    <a:srgbClr val="92301C"/>
                  </a:solidFill>
                </a:ln>
              </p:spPr>
            </p:sp>
            <p:sp>
              <p:nvSpPr>
                <p:cNvPr id="137" name="Freeform 137"/>
                <p:cNvSpPr/>
                <p:nvPr/>
              </p:nvSpPr>
              <p:spPr>
                <a:xfrm>
                  <a:off x="5686425" y="1895475"/>
                  <a:ext cx="9525" cy="9525"/>
                </a:xfrm>
                <a:custGeom>
                  <a:avLst/>
                  <a:gdLst/>
                  <a:ahLst/>
                  <a:cxnLst/>
                  <a:rect l="l" t="t" r="r" b="b"/>
                  <a:pathLst>
                    <a:path w="9525" h="9525">
                      <a:moveTo>
                        <a:pt x="0" y="0"/>
                      </a:moveTo>
                      <a:lnTo>
                        <a:pt x="0" y="143"/>
                      </a:lnTo>
                    </a:path>
                  </a:pathLst>
                </a:custGeom>
                <a:noFill/>
                <a:ln w="28575">
                  <a:solidFill>
                    <a:srgbClr val="92301C"/>
                  </a:solidFill>
                </a:ln>
              </p:spPr>
            </p:sp>
            <p:sp>
              <p:nvSpPr>
                <p:cNvPr id="138" name="Freeform 138"/>
                <p:cNvSpPr/>
                <p:nvPr/>
              </p:nvSpPr>
              <p:spPr>
                <a:xfrm>
                  <a:off x="5572125" y="1938338"/>
                  <a:ext cx="9525" cy="9525"/>
                </a:xfrm>
                <a:custGeom>
                  <a:avLst/>
                  <a:gdLst/>
                  <a:ahLst/>
                  <a:cxnLst/>
                  <a:rect l="l" t="t" r="r" b="b"/>
                  <a:pathLst>
                    <a:path w="9525" h="9525">
                      <a:moveTo>
                        <a:pt x="0" y="0"/>
                      </a:moveTo>
                      <a:lnTo>
                        <a:pt x="0" y="143"/>
                      </a:lnTo>
                    </a:path>
                  </a:pathLst>
                </a:custGeom>
                <a:noFill/>
                <a:ln w="28575">
                  <a:solidFill>
                    <a:srgbClr val="92301C"/>
                  </a:solidFill>
                </a:ln>
              </p:spPr>
            </p:sp>
            <p:sp>
              <p:nvSpPr>
                <p:cNvPr id="139" name="Freeform 139"/>
                <p:cNvSpPr/>
                <p:nvPr/>
              </p:nvSpPr>
              <p:spPr>
                <a:xfrm>
                  <a:off x="5629275" y="1938338"/>
                  <a:ext cx="9525" cy="9525"/>
                </a:xfrm>
                <a:custGeom>
                  <a:avLst/>
                  <a:gdLst/>
                  <a:ahLst/>
                  <a:cxnLst/>
                  <a:rect l="l" t="t" r="r" b="b"/>
                  <a:pathLst>
                    <a:path w="9525" h="9525">
                      <a:moveTo>
                        <a:pt x="0" y="0"/>
                      </a:moveTo>
                      <a:lnTo>
                        <a:pt x="0" y="143"/>
                      </a:lnTo>
                    </a:path>
                  </a:pathLst>
                </a:custGeom>
                <a:noFill/>
                <a:ln w="28575">
                  <a:solidFill>
                    <a:srgbClr val="92301C"/>
                  </a:solidFill>
                </a:ln>
              </p:spPr>
            </p:sp>
            <p:sp>
              <p:nvSpPr>
                <p:cNvPr id="140" name="Freeform 140"/>
                <p:cNvSpPr/>
                <p:nvPr/>
              </p:nvSpPr>
              <p:spPr>
                <a:xfrm>
                  <a:off x="5686425" y="1938338"/>
                  <a:ext cx="9525" cy="9525"/>
                </a:xfrm>
                <a:custGeom>
                  <a:avLst/>
                  <a:gdLst/>
                  <a:ahLst/>
                  <a:cxnLst/>
                  <a:rect l="l" t="t" r="r" b="b"/>
                  <a:pathLst>
                    <a:path w="9525" h="9525">
                      <a:moveTo>
                        <a:pt x="0" y="0"/>
                      </a:moveTo>
                      <a:lnTo>
                        <a:pt x="0" y="143"/>
                      </a:lnTo>
                    </a:path>
                  </a:pathLst>
                </a:custGeom>
                <a:noFill/>
                <a:ln w="28575">
                  <a:solidFill>
                    <a:srgbClr val="92301C"/>
                  </a:solidFill>
                </a:ln>
              </p:spPr>
            </p:sp>
          </p:grpSp>
          <p:sp>
            <p:nvSpPr>
              <p:cNvPr id="142" name="TextBox 142"/>
              <p:cNvSpPr txBox="1"/>
              <p:nvPr/>
            </p:nvSpPr>
            <p:spPr>
              <a:xfrm>
                <a:off x="5360467" y="23331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偿债测算</a:t>
                </a:r>
              </a:p>
            </p:txBody>
          </p:sp>
          <p:sp>
            <p:nvSpPr>
              <p:cNvPr id="143" name="TextBox 143"/>
              <p:cNvSpPr txBox="1"/>
              <p:nvPr/>
            </p:nvSpPr>
            <p:spPr>
              <a:xfrm>
                <a:off x="5272088" y="2628186"/>
                <a:ext cx="56407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现金流预测</a:t>
                </a:r>
              </a:p>
            </p:txBody>
          </p:sp>
          <p:sp>
            <p:nvSpPr>
              <p:cNvPr id="144" name="TextBox 144"/>
              <p:cNvSpPr txBox="1"/>
              <p:nvPr/>
            </p:nvSpPr>
            <p:spPr>
              <a:xfrm>
                <a:off x="5272088" y="28377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偿债能力测算</a:t>
                </a:r>
              </a:p>
            </p:txBody>
          </p:sp>
          <p:sp>
            <p:nvSpPr>
              <p:cNvPr id="145" name="TextBox 145"/>
              <p:cNvSpPr txBox="1"/>
              <p:nvPr/>
            </p:nvSpPr>
            <p:spPr>
              <a:xfrm>
                <a:off x="5272088" y="30472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压力情景分析</a:t>
                </a:r>
              </a:p>
            </p:txBody>
          </p:sp>
          <p:sp>
            <p:nvSpPr>
              <p:cNvPr id="146" name="TextBox 146"/>
              <p:cNvSpPr txBox="1"/>
              <p:nvPr/>
            </p:nvSpPr>
            <p:spPr>
              <a:xfrm>
                <a:off x="5272088" y="3256836"/>
                <a:ext cx="564070"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敏感性测试</a:t>
                </a:r>
              </a:p>
            </p:txBody>
          </p:sp>
        </p:grpSp>
        <p:grpSp>
          <p:nvGrpSpPr>
            <p:cNvPr id="160" name="mf-5"/>
            <p:cNvGrpSpPr/>
            <p:nvPr/>
          </p:nvGrpSpPr>
          <p:grpSpPr>
            <a:xfrm>
              <a:off x="6153150" y="990600"/>
              <a:ext cx="857250" cy="3143250"/>
              <a:chOff x="6153150" y="990600"/>
              <a:chExt cx="857250" cy="3143250"/>
            </a:xfrm>
          </p:grpSpPr>
          <p:sp>
            <p:nvSpPr>
              <p:cNvPr id="148" name="Rectangle 148"/>
              <p:cNvSpPr/>
              <p:nvPr/>
            </p:nvSpPr>
            <p:spPr>
              <a:xfrm>
                <a:off x="6153150" y="990600"/>
                <a:ext cx="857250" cy="3143250"/>
              </a:xfrm>
              <a:prstGeom prst="roundRect">
                <a:avLst>
                  <a:gd name="adj" fmla="val 6667"/>
                </a:avLst>
              </a:prstGeom>
              <a:solidFill>
                <a:srgbClr val="EEF5FB"/>
              </a:solidFill>
              <a:ln>
                <a:noFill/>
              </a:ln>
            </p:spPr>
          </p:sp>
          <p:sp>
            <p:nvSpPr>
              <p:cNvPr id="149" name="Ellipse 149"/>
              <p:cNvSpPr/>
              <p:nvPr/>
            </p:nvSpPr>
            <p:spPr>
              <a:xfrm>
                <a:off x="6438900" y="1133475"/>
                <a:ext cx="285750" cy="285750"/>
              </a:xfrm>
              <a:prstGeom prst="ellipse">
                <a:avLst/>
              </a:prstGeom>
              <a:solidFill>
                <a:srgbClr val="92301C"/>
              </a:solidFill>
              <a:ln>
                <a:noFill/>
              </a:ln>
            </p:spPr>
          </p:sp>
          <p:sp>
            <p:nvSpPr>
              <p:cNvPr id="150" name="TextBox 150"/>
              <p:cNvSpPr txBox="1"/>
              <p:nvPr/>
            </p:nvSpPr>
            <p:spPr>
              <a:xfrm>
                <a:off x="6540133" y="1218724"/>
                <a:ext cx="8328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5</a:t>
                </a:r>
              </a:p>
            </p:txBody>
          </p:sp>
          <p:grpSp>
            <p:nvGrpSpPr>
              <p:cNvPr id="154" name="Group 154"/>
              <p:cNvGrpSpPr/>
              <p:nvPr/>
            </p:nvGrpSpPr>
            <p:grpSpPr>
              <a:xfrm>
                <a:off x="6437684" y="1733566"/>
                <a:ext cx="288171" cy="247577"/>
                <a:chOff x="6437684" y="1733566"/>
                <a:chExt cx="288171" cy="247577"/>
              </a:xfrm>
            </p:grpSpPr>
            <p:sp>
              <p:nvSpPr>
                <p:cNvPr id="151" name="Freeform 151"/>
                <p:cNvSpPr/>
                <p:nvPr/>
              </p:nvSpPr>
              <p:spPr>
                <a:xfrm>
                  <a:off x="6581775" y="1824038"/>
                  <a:ext cx="9525" cy="57150"/>
                </a:xfrm>
                <a:custGeom>
                  <a:avLst/>
                  <a:gdLst/>
                  <a:ahLst/>
                  <a:cxnLst/>
                  <a:rect l="l" t="t" r="r" b="b"/>
                  <a:pathLst>
                    <a:path w="9525" h="57150">
                      <a:moveTo>
                        <a:pt x="0" y="0"/>
                      </a:moveTo>
                      <a:lnTo>
                        <a:pt x="0" y="57150"/>
                      </a:lnTo>
                    </a:path>
                  </a:pathLst>
                </a:custGeom>
                <a:noFill/>
                <a:ln w="28575">
                  <a:solidFill>
                    <a:srgbClr val="92301C"/>
                  </a:solidFill>
                </a:ln>
              </p:spPr>
            </p:sp>
            <p:sp>
              <p:nvSpPr>
                <p:cNvPr id="152" name="Freeform 152"/>
                <p:cNvSpPr/>
                <p:nvPr/>
              </p:nvSpPr>
              <p:spPr>
                <a:xfrm>
                  <a:off x="6437684" y="1733566"/>
                  <a:ext cx="288171" cy="247577"/>
                </a:xfrm>
                <a:custGeom>
                  <a:avLst/>
                  <a:gdLst/>
                  <a:ahLst/>
                  <a:cxnLst/>
                  <a:rect l="l" t="t" r="r" b="b"/>
                  <a:pathLst>
                    <a:path w="288171" h="247577">
                      <a:moveTo>
                        <a:pt x="120702" y="13191"/>
                      </a:moveTo>
                      <a:lnTo>
                        <a:pt x="4888" y="206558"/>
                      </a:lnTo>
                      <a:cubicBezTo>
                        <a:pt x="30" y="214971"/>
                        <a:pt x="0" y="225330"/>
                        <a:pt x="4810" y="233771"/>
                      </a:cubicBezTo>
                      <a:cubicBezTo>
                        <a:pt x="9620" y="242213"/>
                        <a:pt x="18548" y="247468"/>
                        <a:pt x="28262" y="247577"/>
                      </a:cubicBezTo>
                      <a:lnTo>
                        <a:pt x="259920" y="247577"/>
                      </a:lnTo>
                      <a:cubicBezTo>
                        <a:pt x="269630" y="247465"/>
                        <a:pt x="278553" y="242212"/>
                        <a:pt x="283362" y="233775"/>
                      </a:cubicBezTo>
                      <a:cubicBezTo>
                        <a:pt x="288171" y="225339"/>
                        <a:pt x="288145" y="214984"/>
                        <a:pt x="283294" y="206572"/>
                      </a:cubicBezTo>
                      <a:lnTo>
                        <a:pt x="167480" y="13176"/>
                      </a:lnTo>
                      <a:cubicBezTo>
                        <a:pt x="162524" y="4996"/>
                        <a:pt x="153655" y="0"/>
                        <a:pt x="144091" y="0"/>
                      </a:cubicBezTo>
                      <a:cubicBezTo>
                        <a:pt x="134527" y="0"/>
                        <a:pt x="125658" y="4996"/>
                        <a:pt x="120702" y="13176"/>
                      </a:cubicBezTo>
                    </a:path>
                  </a:pathLst>
                </a:custGeom>
                <a:noFill/>
                <a:ln w="28575">
                  <a:solidFill>
                    <a:srgbClr val="92301C"/>
                  </a:solidFill>
                </a:ln>
              </p:spPr>
            </p:sp>
            <p:sp>
              <p:nvSpPr>
                <p:cNvPr id="153" name="Freeform 153"/>
                <p:cNvSpPr/>
                <p:nvPr/>
              </p:nvSpPr>
              <p:spPr>
                <a:xfrm>
                  <a:off x="6581775" y="1924050"/>
                  <a:ext cx="9525" cy="9525"/>
                </a:xfrm>
                <a:custGeom>
                  <a:avLst/>
                  <a:gdLst/>
                  <a:ahLst/>
                  <a:cxnLst/>
                  <a:rect l="l" t="t" r="r" b="b"/>
                  <a:pathLst>
                    <a:path w="9525" h="9525">
                      <a:moveTo>
                        <a:pt x="0" y="0"/>
                      </a:moveTo>
                      <a:lnTo>
                        <a:pt x="143" y="0"/>
                      </a:lnTo>
                    </a:path>
                  </a:pathLst>
                </a:custGeom>
                <a:noFill/>
                <a:ln w="28575">
                  <a:solidFill>
                    <a:srgbClr val="92301C"/>
                  </a:solidFill>
                </a:ln>
              </p:spPr>
            </p:sp>
          </p:grpSp>
          <p:sp>
            <p:nvSpPr>
              <p:cNvPr id="155" name="TextBox 155"/>
              <p:cNvSpPr txBox="1"/>
              <p:nvPr/>
            </p:nvSpPr>
            <p:spPr>
              <a:xfrm>
                <a:off x="6312967" y="2333149"/>
                <a:ext cx="537616"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风险疑点</a:t>
                </a:r>
              </a:p>
            </p:txBody>
          </p:sp>
          <p:sp>
            <p:nvSpPr>
              <p:cNvPr id="156" name="TextBox 156"/>
              <p:cNvSpPr txBox="1"/>
              <p:nvPr/>
            </p:nvSpPr>
            <p:spPr>
              <a:xfrm>
                <a:off x="6224588" y="26281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识别异常事项</a:t>
                </a:r>
              </a:p>
            </p:txBody>
          </p:sp>
          <p:sp>
            <p:nvSpPr>
              <p:cNvPr id="157" name="TextBox 157"/>
              <p:cNvSpPr txBox="1"/>
              <p:nvPr/>
            </p:nvSpPr>
            <p:spPr>
              <a:xfrm>
                <a:off x="6224588" y="28377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量化风险影响</a:t>
                </a:r>
              </a:p>
            </p:txBody>
          </p:sp>
          <p:sp>
            <p:nvSpPr>
              <p:cNvPr id="158" name="TextBox 158"/>
              <p:cNvSpPr txBox="1"/>
              <p:nvPr/>
            </p:nvSpPr>
            <p:spPr>
              <a:xfrm>
                <a:off x="6224588" y="30472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形成问题清单</a:t>
                </a:r>
              </a:p>
            </p:txBody>
          </p:sp>
          <p:sp>
            <p:nvSpPr>
              <p:cNvPr id="159" name="TextBox 159"/>
              <p:cNvSpPr txBox="1"/>
              <p:nvPr/>
            </p:nvSpPr>
            <p:spPr>
              <a:xfrm>
                <a:off x="6224588" y="32568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提示核实方向</a:t>
                </a:r>
              </a:p>
            </p:txBody>
          </p:sp>
        </p:grpSp>
        <p:grpSp>
          <p:nvGrpSpPr>
            <p:cNvPr id="173" name="mf-6"/>
            <p:cNvGrpSpPr/>
            <p:nvPr/>
          </p:nvGrpSpPr>
          <p:grpSpPr>
            <a:xfrm>
              <a:off x="7105650" y="990600"/>
              <a:ext cx="857250" cy="3143250"/>
              <a:chOff x="7105650" y="990600"/>
              <a:chExt cx="857250" cy="3143250"/>
            </a:xfrm>
          </p:grpSpPr>
          <p:sp>
            <p:nvSpPr>
              <p:cNvPr id="161" name="Rectangle 161"/>
              <p:cNvSpPr/>
              <p:nvPr/>
            </p:nvSpPr>
            <p:spPr>
              <a:xfrm>
                <a:off x="7105650" y="990600"/>
                <a:ext cx="857250" cy="3143250"/>
              </a:xfrm>
              <a:prstGeom prst="roundRect">
                <a:avLst>
                  <a:gd name="adj" fmla="val 6667"/>
                </a:avLst>
              </a:prstGeom>
              <a:solidFill>
                <a:srgbClr val="EEF5FB"/>
              </a:solidFill>
              <a:ln>
                <a:noFill/>
              </a:ln>
            </p:spPr>
          </p:sp>
          <p:sp>
            <p:nvSpPr>
              <p:cNvPr id="162" name="Ellipse 162"/>
              <p:cNvSpPr/>
              <p:nvPr/>
            </p:nvSpPr>
            <p:spPr>
              <a:xfrm>
                <a:off x="7391400" y="1133475"/>
                <a:ext cx="285750" cy="285750"/>
              </a:xfrm>
              <a:prstGeom prst="ellipse">
                <a:avLst/>
              </a:prstGeom>
              <a:solidFill>
                <a:srgbClr val="92301C"/>
              </a:solidFill>
              <a:ln>
                <a:noFill/>
              </a:ln>
            </p:spPr>
          </p:sp>
          <p:sp>
            <p:nvSpPr>
              <p:cNvPr id="163" name="TextBox 163"/>
              <p:cNvSpPr txBox="1"/>
              <p:nvPr/>
            </p:nvSpPr>
            <p:spPr>
              <a:xfrm>
                <a:off x="7492633" y="1218724"/>
                <a:ext cx="8328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6</a:t>
                </a:r>
              </a:p>
            </p:txBody>
          </p:sp>
          <p:grpSp>
            <p:nvGrpSpPr>
              <p:cNvPr id="167" name="Group 167"/>
              <p:cNvGrpSpPr/>
              <p:nvPr/>
            </p:nvGrpSpPr>
            <p:grpSpPr>
              <a:xfrm>
                <a:off x="7434262" y="1738312"/>
                <a:ext cx="214314" cy="257175"/>
                <a:chOff x="7434262" y="1738312"/>
                <a:chExt cx="214314" cy="257175"/>
              </a:xfrm>
            </p:grpSpPr>
            <p:sp>
              <p:nvSpPr>
                <p:cNvPr id="164" name="Freeform 164"/>
                <p:cNvSpPr/>
                <p:nvPr/>
              </p:nvSpPr>
              <p:spPr>
                <a:xfrm>
                  <a:off x="7577138" y="1738312"/>
                  <a:ext cx="71438" cy="71438"/>
                </a:xfrm>
                <a:custGeom>
                  <a:avLst/>
                  <a:gdLst/>
                  <a:ahLst/>
                  <a:cxnLst/>
                  <a:rect l="l" t="t" r="r" b="b"/>
                  <a:pathLst>
                    <a:path w="71438" h="71438">
                      <a:moveTo>
                        <a:pt x="0" y="0"/>
                      </a:moveTo>
                      <a:lnTo>
                        <a:pt x="0" y="57150"/>
                      </a:lnTo>
                      <a:cubicBezTo>
                        <a:pt x="0" y="65041"/>
                        <a:pt x="6397" y="71438"/>
                        <a:pt x="14288" y="71438"/>
                      </a:cubicBezTo>
                      <a:lnTo>
                        <a:pt x="71438" y="71438"/>
                      </a:lnTo>
                    </a:path>
                  </a:pathLst>
                </a:custGeom>
                <a:noFill/>
                <a:ln w="28575">
                  <a:solidFill>
                    <a:srgbClr val="92301C"/>
                  </a:solidFill>
                </a:ln>
              </p:spPr>
            </p:sp>
            <p:sp>
              <p:nvSpPr>
                <p:cNvPr id="165" name="Freeform 165"/>
                <p:cNvSpPr/>
                <p:nvPr/>
              </p:nvSpPr>
              <p:spPr>
                <a:xfrm>
                  <a:off x="7491412" y="1738312"/>
                  <a:ext cx="157162" cy="200025"/>
                </a:xfrm>
                <a:custGeom>
                  <a:avLst/>
                  <a:gdLst/>
                  <a:ahLst/>
                  <a:cxnLst/>
                  <a:rect l="l" t="t" r="r" b="b"/>
                  <a:pathLst>
                    <a:path w="157162" h="200025">
                      <a:moveTo>
                        <a:pt x="128588" y="200025"/>
                      </a:moveTo>
                      <a:lnTo>
                        <a:pt x="28575" y="200025"/>
                      </a:lnTo>
                      <a:cubicBezTo>
                        <a:pt x="12793" y="200025"/>
                        <a:pt x="0" y="187232"/>
                        <a:pt x="0" y="171450"/>
                      </a:cubicBezTo>
                      <a:lnTo>
                        <a:pt x="0" y="28575"/>
                      </a:lnTo>
                      <a:cubicBezTo>
                        <a:pt x="0" y="12793"/>
                        <a:pt x="12793" y="0"/>
                        <a:pt x="28575" y="0"/>
                      </a:cubicBezTo>
                      <a:lnTo>
                        <a:pt x="85725" y="0"/>
                      </a:lnTo>
                      <a:lnTo>
                        <a:pt x="157162" y="71438"/>
                      </a:lnTo>
                      <a:lnTo>
                        <a:pt x="157162" y="171450"/>
                      </a:lnTo>
                      <a:cubicBezTo>
                        <a:pt x="157162" y="187232"/>
                        <a:pt x="144369" y="200025"/>
                        <a:pt x="128588" y="200025"/>
                      </a:cubicBezTo>
                    </a:path>
                  </a:pathLst>
                </a:custGeom>
                <a:noFill/>
                <a:ln w="28575">
                  <a:solidFill>
                    <a:srgbClr val="92301C"/>
                  </a:solidFill>
                </a:ln>
              </p:spPr>
            </p:sp>
            <p:sp>
              <p:nvSpPr>
                <p:cNvPr id="166" name="Freeform 166"/>
                <p:cNvSpPr/>
                <p:nvPr/>
              </p:nvSpPr>
              <p:spPr>
                <a:xfrm>
                  <a:off x="7434262" y="1795462"/>
                  <a:ext cx="157162" cy="200025"/>
                </a:xfrm>
                <a:custGeom>
                  <a:avLst/>
                  <a:gdLst/>
                  <a:ahLst/>
                  <a:cxnLst/>
                  <a:rect l="l" t="t" r="r" b="b"/>
                  <a:pathLst>
                    <a:path w="157162" h="200025">
                      <a:moveTo>
                        <a:pt x="157162" y="142875"/>
                      </a:moveTo>
                      <a:lnTo>
                        <a:pt x="157162" y="171450"/>
                      </a:lnTo>
                      <a:cubicBezTo>
                        <a:pt x="157162" y="187232"/>
                        <a:pt x="144369" y="200025"/>
                        <a:pt x="128588" y="200025"/>
                      </a:cubicBezTo>
                      <a:lnTo>
                        <a:pt x="28575" y="200025"/>
                      </a:lnTo>
                      <a:cubicBezTo>
                        <a:pt x="12793" y="200025"/>
                        <a:pt x="0" y="187232"/>
                        <a:pt x="0" y="171450"/>
                      </a:cubicBezTo>
                      <a:lnTo>
                        <a:pt x="0" y="28575"/>
                      </a:lnTo>
                      <a:cubicBezTo>
                        <a:pt x="0" y="12793"/>
                        <a:pt x="12793" y="0"/>
                        <a:pt x="28575" y="0"/>
                      </a:cubicBezTo>
                      <a:lnTo>
                        <a:pt x="57150" y="0"/>
                      </a:lnTo>
                    </a:path>
                  </a:pathLst>
                </a:custGeom>
                <a:noFill/>
                <a:ln w="28575">
                  <a:solidFill>
                    <a:srgbClr val="92301C"/>
                  </a:solidFill>
                </a:ln>
              </p:spPr>
            </p:sp>
          </p:grpSp>
          <p:sp>
            <p:nvSpPr>
              <p:cNvPr id="168" name="TextBox 168"/>
              <p:cNvSpPr txBox="1"/>
              <p:nvPr/>
            </p:nvSpPr>
            <p:spPr>
              <a:xfrm>
                <a:off x="7133539" y="2333149"/>
                <a:ext cx="801472"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调查报告草稿</a:t>
                </a:r>
              </a:p>
            </p:txBody>
          </p:sp>
          <p:sp>
            <p:nvSpPr>
              <p:cNvPr id="169" name="TextBox 169"/>
              <p:cNvSpPr txBox="1"/>
              <p:nvPr/>
            </p:nvSpPr>
            <p:spPr>
              <a:xfrm>
                <a:off x="7177088" y="26281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自动生成初稿</a:t>
                </a:r>
              </a:p>
            </p:txBody>
          </p:sp>
          <p:sp>
            <p:nvSpPr>
              <p:cNvPr id="170" name="TextBox 170"/>
              <p:cNvSpPr txBox="1"/>
              <p:nvPr/>
            </p:nvSpPr>
            <p:spPr>
              <a:xfrm>
                <a:off x="7177088" y="283773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证据链条清晰</a:t>
                </a:r>
              </a:p>
            </p:txBody>
          </p:sp>
          <p:sp>
            <p:nvSpPr>
              <p:cNvPr id="171" name="TextBox 171"/>
              <p:cNvSpPr txBox="1"/>
              <p:nvPr/>
            </p:nvSpPr>
            <p:spPr>
              <a:xfrm>
                <a:off x="7177088" y="3047286"/>
                <a:ext cx="65965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支持问题引用</a:t>
                </a:r>
              </a:p>
            </p:txBody>
          </p:sp>
          <p:sp>
            <p:nvSpPr>
              <p:cNvPr id="172" name="TextBox 172"/>
              <p:cNvSpPr txBox="1"/>
              <p:nvPr/>
            </p:nvSpPr>
            <p:spPr>
              <a:xfrm>
                <a:off x="7177088" y="3256836"/>
                <a:ext cx="75523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供授权人员审核</a:t>
                </a:r>
              </a:p>
            </p:txBody>
          </p:sp>
        </p:grpSp>
        <p:sp>
          <p:nvSpPr>
            <p:cNvPr id="174" name="mf-arrow-1"/>
            <p:cNvSpPr/>
            <p:nvPr/>
          </p:nvSpPr>
          <p:spPr>
            <a:xfrm>
              <a:off x="3209925" y="1800225"/>
              <a:ext cx="76200" cy="133350"/>
            </a:xfrm>
            <a:custGeom>
              <a:avLst/>
              <a:gdLst/>
              <a:ahLst/>
              <a:cxnLst/>
              <a:rect l="l" t="t" r="r" b="b"/>
              <a:pathLst>
                <a:path w="76200" h="133350">
                  <a:moveTo>
                    <a:pt x="0" y="0"/>
                  </a:moveTo>
                  <a:lnTo>
                    <a:pt x="0" y="133350"/>
                  </a:lnTo>
                  <a:lnTo>
                    <a:pt x="76200" y="66675"/>
                  </a:lnTo>
                  <a:close/>
                </a:path>
              </a:pathLst>
            </a:custGeom>
            <a:solidFill>
              <a:srgbClr val="B7533F"/>
            </a:solidFill>
            <a:ln>
              <a:noFill/>
            </a:ln>
          </p:spPr>
        </p:sp>
        <p:sp>
          <p:nvSpPr>
            <p:cNvPr id="175" name="mf-arrow-2"/>
            <p:cNvSpPr/>
            <p:nvPr/>
          </p:nvSpPr>
          <p:spPr>
            <a:xfrm>
              <a:off x="4162425" y="1800225"/>
              <a:ext cx="76200" cy="133350"/>
            </a:xfrm>
            <a:custGeom>
              <a:avLst/>
              <a:gdLst/>
              <a:ahLst/>
              <a:cxnLst/>
              <a:rect l="l" t="t" r="r" b="b"/>
              <a:pathLst>
                <a:path w="76200" h="133350">
                  <a:moveTo>
                    <a:pt x="0" y="0"/>
                  </a:moveTo>
                  <a:lnTo>
                    <a:pt x="0" y="133350"/>
                  </a:lnTo>
                  <a:lnTo>
                    <a:pt x="76200" y="66675"/>
                  </a:lnTo>
                  <a:close/>
                </a:path>
              </a:pathLst>
            </a:custGeom>
            <a:solidFill>
              <a:srgbClr val="B7533F"/>
            </a:solidFill>
            <a:ln>
              <a:noFill/>
            </a:ln>
          </p:spPr>
        </p:sp>
        <p:sp>
          <p:nvSpPr>
            <p:cNvPr id="176" name="mf-arrow-3"/>
            <p:cNvSpPr/>
            <p:nvPr/>
          </p:nvSpPr>
          <p:spPr>
            <a:xfrm>
              <a:off x="5114925" y="1800225"/>
              <a:ext cx="76200" cy="133350"/>
            </a:xfrm>
            <a:custGeom>
              <a:avLst/>
              <a:gdLst/>
              <a:ahLst/>
              <a:cxnLst/>
              <a:rect l="l" t="t" r="r" b="b"/>
              <a:pathLst>
                <a:path w="76200" h="133350">
                  <a:moveTo>
                    <a:pt x="0" y="0"/>
                  </a:moveTo>
                  <a:lnTo>
                    <a:pt x="0" y="133350"/>
                  </a:lnTo>
                  <a:lnTo>
                    <a:pt x="76200" y="66675"/>
                  </a:lnTo>
                  <a:close/>
                </a:path>
              </a:pathLst>
            </a:custGeom>
            <a:solidFill>
              <a:srgbClr val="B7533F"/>
            </a:solidFill>
            <a:ln>
              <a:noFill/>
            </a:ln>
          </p:spPr>
        </p:sp>
        <p:sp>
          <p:nvSpPr>
            <p:cNvPr id="177" name="mf-arrow-4"/>
            <p:cNvSpPr/>
            <p:nvPr/>
          </p:nvSpPr>
          <p:spPr>
            <a:xfrm>
              <a:off x="6067425" y="1800225"/>
              <a:ext cx="76200" cy="133350"/>
            </a:xfrm>
            <a:custGeom>
              <a:avLst/>
              <a:gdLst/>
              <a:ahLst/>
              <a:cxnLst/>
              <a:rect l="l" t="t" r="r" b="b"/>
              <a:pathLst>
                <a:path w="76200" h="133350">
                  <a:moveTo>
                    <a:pt x="0" y="0"/>
                  </a:moveTo>
                  <a:lnTo>
                    <a:pt x="0" y="133350"/>
                  </a:lnTo>
                  <a:lnTo>
                    <a:pt x="76200" y="66675"/>
                  </a:lnTo>
                  <a:close/>
                </a:path>
              </a:pathLst>
            </a:custGeom>
            <a:solidFill>
              <a:srgbClr val="B7533F"/>
            </a:solidFill>
            <a:ln>
              <a:noFill/>
            </a:ln>
          </p:spPr>
        </p:sp>
        <p:sp>
          <p:nvSpPr>
            <p:cNvPr id="178" name="mf-arrow-5"/>
            <p:cNvSpPr/>
            <p:nvPr/>
          </p:nvSpPr>
          <p:spPr>
            <a:xfrm>
              <a:off x="7019925" y="1800225"/>
              <a:ext cx="76200" cy="133350"/>
            </a:xfrm>
            <a:custGeom>
              <a:avLst/>
              <a:gdLst/>
              <a:ahLst/>
              <a:cxnLst/>
              <a:rect l="l" t="t" r="r" b="b"/>
              <a:pathLst>
                <a:path w="76200" h="133350">
                  <a:moveTo>
                    <a:pt x="0" y="0"/>
                  </a:moveTo>
                  <a:lnTo>
                    <a:pt x="0" y="133350"/>
                  </a:lnTo>
                  <a:lnTo>
                    <a:pt x="76200" y="66675"/>
                  </a:lnTo>
                  <a:close/>
                </a:path>
              </a:pathLst>
            </a:custGeom>
            <a:solidFill>
              <a:srgbClr val="B7533F"/>
            </a:solidFill>
            <a:ln>
              <a:noFill/>
            </a:ln>
          </p:spPr>
        </p:sp>
      </p:grpSp>
      <p:grpSp>
        <p:nvGrpSpPr>
          <p:cNvPr id="186" name="mid-banner"/>
          <p:cNvGrpSpPr/>
          <p:nvPr/>
        </p:nvGrpSpPr>
        <p:grpSpPr>
          <a:xfrm>
            <a:off x="2343150" y="4286250"/>
            <a:ext cx="5619750" cy="495300"/>
            <a:chOff x="2343150" y="4286250"/>
            <a:chExt cx="5619750" cy="495300"/>
          </a:xfrm>
        </p:grpSpPr>
        <p:sp>
          <p:nvSpPr>
            <p:cNvPr id="180" name="Rectangle 180"/>
            <p:cNvSpPr/>
            <p:nvPr/>
          </p:nvSpPr>
          <p:spPr>
            <a:xfrm>
              <a:off x="2343150" y="4286250"/>
              <a:ext cx="5619750" cy="495300"/>
            </a:xfrm>
            <a:prstGeom prst="roundRect">
              <a:avLst>
                <a:gd name="adj" fmla="val 15385"/>
              </a:avLst>
            </a:prstGeom>
            <a:solidFill>
              <a:srgbClr val="D6E6F3"/>
            </a:solidFill>
            <a:ln>
              <a:noFill/>
            </a:ln>
          </p:spPr>
        </p:sp>
        <p:grpSp>
          <p:nvGrpSpPr>
            <p:cNvPr id="184" name="Group 184"/>
            <p:cNvGrpSpPr/>
            <p:nvPr/>
          </p:nvGrpSpPr>
          <p:grpSpPr>
            <a:xfrm>
              <a:off x="2768600" y="4433888"/>
              <a:ext cx="177801" cy="200025"/>
              <a:chOff x="2768600" y="4433888"/>
              <a:chExt cx="177801" cy="200025"/>
            </a:xfrm>
          </p:grpSpPr>
          <p:sp>
            <p:nvSpPr>
              <p:cNvPr id="181" name="Freeform 181"/>
              <p:cNvSpPr/>
              <p:nvPr/>
            </p:nvSpPr>
            <p:spPr>
              <a:xfrm>
                <a:off x="2768600" y="443388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22225">
                <a:solidFill>
                  <a:srgbClr val="92301C"/>
                </a:solidFill>
              </a:ln>
            </p:spPr>
          </p:sp>
          <p:sp>
            <p:nvSpPr>
              <p:cNvPr id="182" name="Freeform 182"/>
              <p:cNvSpPr/>
              <p:nvPr/>
            </p:nvSpPr>
            <p:spPr>
              <a:xfrm>
                <a:off x="2768600" y="446722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92301C"/>
                </a:solidFill>
              </a:ln>
            </p:spPr>
          </p:sp>
          <p:sp>
            <p:nvSpPr>
              <p:cNvPr id="183" name="Freeform 183"/>
              <p:cNvSpPr/>
              <p:nvPr/>
            </p:nvSpPr>
            <p:spPr>
              <a:xfrm>
                <a:off x="2768600" y="45339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92301C"/>
                </a:solidFill>
              </a:ln>
            </p:spPr>
          </p:sp>
        </p:grpSp>
        <p:sp>
          <p:nvSpPr>
            <p:cNvPr id="185" name="TextBox 185"/>
            <p:cNvSpPr txBox="1"/>
            <p:nvPr/>
          </p:nvSpPr>
          <p:spPr>
            <a:xfrm>
              <a:off x="3138297" y="4485799"/>
              <a:ext cx="4027101"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知识图谱与规则引擎</a:t>
              </a:r>
              <a:r>
                <a:rPr lang="zh-CN" sz="980" dirty="0">
                  <a:solidFill>
                    <a:srgbClr val="52352F"/>
                  </a:solidFill>
                  <a:latin typeface="+mn-lt"/>
                  <a:ea typeface="+mn-ea"/>
                  <a:cs typeface="+mn-cs"/>
                </a:rPr>
                <a:t>（行业知识 · 风险规则 · 模型分析 · 证据溯源）</a:t>
              </a:r>
            </a:p>
          </p:txBody>
        </p:sp>
      </p:grpSp>
      <p:grpSp>
        <p:nvGrpSpPr>
          <p:cNvPr id="243" name="chart-cashflow"/>
          <p:cNvGrpSpPr/>
          <p:nvPr/>
        </p:nvGrpSpPr>
        <p:grpSpPr>
          <a:xfrm>
            <a:off x="8096250" y="990600"/>
            <a:ext cx="3905250" cy="1873330"/>
            <a:chOff x="8096250" y="990600"/>
            <a:chExt cx="3905250" cy="1873330"/>
          </a:xfrm>
        </p:grpSpPr>
        <p:sp>
          <p:nvSpPr>
            <p:cNvPr id="187" name="Rectangle 187"/>
            <p:cNvSpPr/>
            <p:nvPr/>
          </p:nvSpPr>
          <p:spPr>
            <a:xfrm>
              <a:off x="8096250" y="990600"/>
              <a:ext cx="3905250" cy="1847850"/>
            </a:xfrm>
            <a:prstGeom prst="roundRect">
              <a:avLst>
                <a:gd name="adj" fmla="val 3093"/>
              </a:avLst>
            </a:prstGeom>
            <a:solidFill>
              <a:srgbClr val="F6F9FD"/>
            </a:solidFill>
            <a:ln w="9525">
              <a:solidFill>
                <a:srgbClr val="CFDFEE"/>
              </a:solidFill>
            </a:ln>
          </p:spPr>
        </p:sp>
        <p:sp>
          <p:nvSpPr>
            <p:cNvPr id="188" name="Rectangle 188"/>
            <p:cNvSpPr/>
            <p:nvPr/>
          </p:nvSpPr>
          <p:spPr>
            <a:xfrm>
              <a:off x="8172450" y="1066800"/>
              <a:ext cx="28575" cy="133350"/>
            </a:xfrm>
            <a:prstGeom prst="rect">
              <a:avLst/>
            </a:prstGeom>
            <a:solidFill>
              <a:srgbClr val="92301C"/>
            </a:solidFill>
            <a:ln>
              <a:noFill/>
            </a:ln>
          </p:spPr>
        </p:sp>
        <p:sp>
          <p:nvSpPr>
            <p:cNvPr id="189" name="TextBox 189"/>
            <p:cNvSpPr txBox="1"/>
            <p:nvPr/>
          </p:nvSpPr>
          <p:spPr>
            <a:xfrm>
              <a:off x="8262938" y="1087993"/>
              <a:ext cx="1630350"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现金流瀑布图（近三年，亿元）</a:t>
              </a:r>
            </a:p>
          </p:txBody>
        </p:sp>
        <p:sp>
          <p:nvSpPr>
            <p:cNvPr id="190" name="Rectangle 190"/>
            <p:cNvSpPr/>
            <p:nvPr/>
          </p:nvSpPr>
          <p:spPr>
            <a:xfrm>
              <a:off x="10191750" y="1085850"/>
              <a:ext cx="76200" cy="76200"/>
            </a:xfrm>
            <a:prstGeom prst="rect">
              <a:avLst/>
            </a:prstGeom>
            <a:solidFill>
              <a:srgbClr val="92301C"/>
            </a:solidFill>
            <a:ln>
              <a:noFill/>
            </a:ln>
          </p:spPr>
        </p:sp>
        <p:sp>
          <p:nvSpPr>
            <p:cNvPr id="191" name="TextBox 191"/>
            <p:cNvSpPr txBox="1"/>
            <p:nvPr/>
          </p:nvSpPr>
          <p:spPr>
            <a:xfrm>
              <a:off x="10301288" y="10891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经营活动</a:t>
              </a:r>
            </a:p>
          </p:txBody>
        </p:sp>
        <p:sp>
          <p:nvSpPr>
            <p:cNvPr id="192" name="Rectangle 192"/>
            <p:cNvSpPr/>
            <p:nvPr/>
          </p:nvSpPr>
          <p:spPr>
            <a:xfrm>
              <a:off x="10858500" y="1085850"/>
              <a:ext cx="76200" cy="76200"/>
            </a:xfrm>
            <a:prstGeom prst="rect">
              <a:avLst/>
            </a:prstGeom>
            <a:solidFill>
              <a:srgbClr val="C87C6C"/>
            </a:solidFill>
            <a:ln>
              <a:noFill/>
            </a:ln>
          </p:spPr>
        </p:sp>
        <p:sp>
          <p:nvSpPr>
            <p:cNvPr id="193" name="TextBox 193"/>
            <p:cNvSpPr txBox="1"/>
            <p:nvPr/>
          </p:nvSpPr>
          <p:spPr>
            <a:xfrm>
              <a:off x="10968038" y="10891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投资活动</a:t>
              </a:r>
            </a:p>
          </p:txBody>
        </p:sp>
        <p:sp>
          <p:nvSpPr>
            <p:cNvPr id="194" name="Rectangle 194"/>
            <p:cNvSpPr/>
            <p:nvPr/>
          </p:nvSpPr>
          <p:spPr>
            <a:xfrm>
              <a:off x="10191750" y="1219200"/>
              <a:ext cx="76200" cy="76200"/>
            </a:xfrm>
            <a:prstGeom prst="rect">
              <a:avLst/>
            </a:prstGeom>
            <a:solidFill>
              <a:srgbClr val="E3B3A9"/>
            </a:solidFill>
            <a:ln>
              <a:noFill/>
            </a:ln>
          </p:spPr>
        </p:sp>
        <p:sp>
          <p:nvSpPr>
            <p:cNvPr id="195" name="TextBox 195"/>
            <p:cNvSpPr txBox="1"/>
            <p:nvPr/>
          </p:nvSpPr>
          <p:spPr>
            <a:xfrm>
              <a:off x="10301288" y="12225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筹资活动</a:t>
              </a:r>
            </a:p>
          </p:txBody>
        </p:sp>
        <p:sp>
          <p:nvSpPr>
            <p:cNvPr id="196" name="Rectangle 196"/>
            <p:cNvSpPr/>
            <p:nvPr/>
          </p:nvSpPr>
          <p:spPr>
            <a:xfrm>
              <a:off x="10858500" y="1219200"/>
              <a:ext cx="76200" cy="76200"/>
            </a:xfrm>
            <a:prstGeom prst="rect">
              <a:avLst/>
            </a:prstGeom>
            <a:solidFill>
              <a:srgbClr val="B7533F"/>
            </a:solidFill>
            <a:ln>
              <a:noFill/>
            </a:ln>
          </p:spPr>
        </p:sp>
        <p:sp>
          <p:nvSpPr>
            <p:cNvPr id="197" name="TextBox 197"/>
            <p:cNvSpPr txBox="1"/>
            <p:nvPr/>
          </p:nvSpPr>
          <p:spPr>
            <a:xfrm>
              <a:off x="10968038" y="122253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现金净增加额</a:t>
              </a:r>
            </a:p>
          </p:txBody>
        </p:sp>
        <p:grpSp>
          <p:nvGrpSpPr>
            <p:cNvPr id="205" name="cf-axis"/>
            <p:cNvGrpSpPr/>
            <p:nvPr/>
          </p:nvGrpSpPr>
          <p:grpSpPr>
            <a:xfrm>
              <a:off x="8338727" y="1388507"/>
              <a:ext cx="86136" cy="1364456"/>
              <a:chOff x="8338727" y="1388507"/>
              <a:chExt cx="86136" cy="1364456"/>
            </a:xfrm>
          </p:grpSpPr>
          <p:sp>
            <p:nvSpPr>
              <p:cNvPr id="198" name="TextBox 198"/>
              <p:cNvSpPr txBox="1"/>
              <p:nvPr/>
            </p:nvSpPr>
            <p:spPr>
              <a:xfrm>
                <a:off x="8367417" y="1388507"/>
                <a:ext cx="57445"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8</a:t>
                </a:r>
              </a:p>
            </p:txBody>
          </p:sp>
          <p:sp>
            <p:nvSpPr>
              <p:cNvPr id="199" name="TextBox 199"/>
              <p:cNvSpPr txBox="1"/>
              <p:nvPr/>
            </p:nvSpPr>
            <p:spPr>
              <a:xfrm>
                <a:off x="8367417" y="1598057"/>
                <a:ext cx="57445"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6</a:t>
                </a:r>
              </a:p>
            </p:txBody>
          </p:sp>
          <p:sp>
            <p:nvSpPr>
              <p:cNvPr id="200" name="TextBox 200"/>
              <p:cNvSpPr txBox="1"/>
              <p:nvPr/>
            </p:nvSpPr>
            <p:spPr>
              <a:xfrm>
                <a:off x="8367417" y="1798082"/>
                <a:ext cx="57445"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4</a:t>
                </a:r>
              </a:p>
            </p:txBody>
          </p:sp>
          <p:sp>
            <p:nvSpPr>
              <p:cNvPr id="201" name="TextBox 201"/>
              <p:cNvSpPr txBox="1"/>
              <p:nvPr/>
            </p:nvSpPr>
            <p:spPr>
              <a:xfrm>
                <a:off x="8367417" y="2007632"/>
                <a:ext cx="57445"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2</a:t>
                </a:r>
              </a:p>
            </p:txBody>
          </p:sp>
          <p:sp>
            <p:nvSpPr>
              <p:cNvPr id="202" name="TextBox 202"/>
              <p:cNvSpPr txBox="1"/>
              <p:nvPr/>
            </p:nvSpPr>
            <p:spPr>
              <a:xfrm>
                <a:off x="8367417" y="2217182"/>
                <a:ext cx="57445"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0</a:t>
                </a:r>
              </a:p>
            </p:txBody>
          </p:sp>
          <p:sp>
            <p:nvSpPr>
              <p:cNvPr id="203" name="TextBox 203"/>
              <p:cNvSpPr txBox="1"/>
              <p:nvPr/>
            </p:nvSpPr>
            <p:spPr>
              <a:xfrm>
                <a:off x="8338727" y="2417207"/>
                <a:ext cx="86136"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-2</a:t>
                </a:r>
              </a:p>
            </p:txBody>
          </p:sp>
          <p:sp>
            <p:nvSpPr>
              <p:cNvPr id="204" name="TextBox 204"/>
              <p:cNvSpPr txBox="1"/>
              <p:nvPr/>
            </p:nvSpPr>
            <p:spPr>
              <a:xfrm>
                <a:off x="8338727" y="2626757"/>
                <a:ext cx="86136"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-4</a:t>
                </a:r>
              </a:p>
            </p:txBody>
          </p:sp>
        </p:grpSp>
        <p:sp>
          <p:nvSpPr>
            <p:cNvPr id="206" name="Line 206"/>
            <p:cNvSpPr/>
            <p:nvPr/>
          </p:nvSpPr>
          <p:spPr>
            <a:xfrm>
              <a:off x="8477250" y="1428750"/>
              <a:ext cx="3390900" cy="9525"/>
            </a:xfrm>
            <a:custGeom>
              <a:avLst/>
              <a:gdLst/>
              <a:ahLst/>
              <a:cxnLst/>
              <a:rect l="l" t="t" r="r" b="b"/>
              <a:pathLst>
                <a:path w="3390900" h="9525">
                  <a:moveTo>
                    <a:pt x="0" y="0"/>
                  </a:moveTo>
                  <a:lnTo>
                    <a:pt x="3390900" y="0"/>
                  </a:lnTo>
                </a:path>
              </a:pathLst>
            </a:custGeom>
            <a:noFill/>
            <a:ln w="9525">
              <a:solidFill>
                <a:srgbClr val="E3ECF5"/>
              </a:solidFill>
            </a:ln>
          </p:spPr>
        </p:sp>
        <p:sp>
          <p:nvSpPr>
            <p:cNvPr id="207" name="Line 207"/>
            <p:cNvSpPr/>
            <p:nvPr/>
          </p:nvSpPr>
          <p:spPr>
            <a:xfrm>
              <a:off x="8477250" y="1638300"/>
              <a:ext cx="3390900" cy="9525"/>
            </a:xfrm>
            <a:custGeom>
              <a:avLst/>
              <a:gdLst/>
              <a:ahLst/>
              <a:cxnLst/>
              <a:rect l="l" t="t" r="r" b="b"/>
              <a:pathLst>
                <a:path w="3390900" h="9525">
                  <a:moveTo>
                    <a:pt x="0" y="0"/>
                  </a:moveTo>
                  <a:lnTo>
                    <a:pt x="3390900" y="0"/>
                  </a:lnTo>
                </a:path>
              </a:pathLst>
            </a:custGeom>
            <a:noFill/>
            <a:ln w="9525">
              <a:solidFill>
                <a:srgbClr val="E3ECF5"/>
              </a:solidFill>
            </a:ln>
          </p:spPr>
        </p:sp>
        <p:sp>
          <p:nvSpPr>
            <p:cNvPr id="208" name="Line 208"/>
            <p:cNvSpPr/>
            <p:nvPr/>
          </p:nvSpPr>
          <p:spPr>
            <a:xfrm>
              <a:off x="8477250" y="1838325"/>
              <a:ext cx="3390900" cy="9525"/>
            </a:xfrm>
            <a:custGeom>
              <a:avLst/>
              <a:gdLst/>
              <a:ahLst/>
              <a:cxnLst/>
              <a:rect l="l" t="t" r="r" b="b"/>
              <a:pathLst>
                <a:path w="3390900" h="9525">
                  <a:moveTo>
                    <a:pt x="0" y="0"/>
                  </a:moveTo>
                  <a:lnTo>
                    <a:pt x="3390900" y="0"/>
                  </a:lnTo>
                </a:path>
              </a:pathLst>
            </a:custGeom>
            <a:noFill/>
            <a:ln w="9525">
              <a:solidFill>
                <a:srgbClr val="E3ECF5"/>
              </a:solidFill>
            </a:ln>
          </p:spPr>
        </p:sp>
        <p:sp>
          <p:nvSpPr>
            <p:cNvPr id="209" name="Line 209"/>
            <p:cNvSpPr/>
            <p:nvPr/>
          </p:nvSpPr>
          <p:spPr>
            <a:xfrm>
              <a:off x="8477250" y="2047875"/>
              <a:ext cx="3390900" cy="9525"/>
            </a:xfrm>
            <a:custGeom>
              <a:avLst/>
              <a:gdLst/>
              <a:ahLst/>
              <a:cxnLst/>
              <a:rect l="l" t="t" r="r" b="b"/>
              <a:pathLst>
                <a:path w="3390900" h="9525">
                  <a:moveTo>
                    <a:pt x="0" y="0"/>
                  </a:moveTo>
                  <a:lnTo>
                    <a:pt x="3390900" y="0"/>
                  </a:lnTo>
                </a:path>
              </a:pathLst>
            </a:custGeom>
            <a:noFill/>
            <a:ln w="9525">
              <a:solidFill>
                <a:srgbClr val="E3ECF5"/>
              </a:solidFill>
            </a:ln>
          </p:spPr>
        </p:sp>
        <p:sp>
          <p:nvSpPr>
            <p:cNvPr id="210" name="Line 210"/>
            <p:cNvSpPr/>
            <p:nvPr/>
          </p:nvSpPr>
          <p:spPr>
            <a:xfrm>
              <a:off x="8477250" y="2457450"/>
              <a:ext cx="3390900" cy="9525"/>
            </a:xfrm>
            <a:custGeom>
              <a:avLst/>
              <a:gdLst/>
              <a:ahLst/>
              <a:cxnLst/>
              <a:rect l="l" t="t" r="r" b="b"/>
              <a:pathLst>
                <a:path w="3390900" h="9525">
                  <a:moveTo>
                    <a:pt x="0" y="0"/>
                  </a:moveTo>
                  <a:lnTo>
                    <a:pt x="3390900" y="0"/>
                  </a:lnTo>
                </a:path>
              </a:pathLst>
            </a:custGeom>
            <a:noFill/>
            <a:ln w="9525">
              <a:solidFill>
                <a:srgbClr val="E3ECF5"/>
              </a:solidFill>
            </a:ln>
          </p:spPr>
        </p:sp>
        <p:sp>
          <p:nvSpPr>
            <p:cNvPr id="211" name="Line 211"/>
            <p:cNvSpPr/>
            <p:nvPr/>
          </p:nvSpPr>
          <p:spPr>
            <a:xfrm>
              <a:off x="8477250" y="2667000"/>
              <a:ext cx="3390900" cy="9525"/>
            </a:xfrm>
            <a:custGeom>
              <a:avLst/>
              <a:gdLst/>
              <a:ahLst/>
              <a:cxnLst/>
              <a:rect l="l" t="t" r="r" b="b"/>
              <a:pathLst>
                <a:path w="3390900" h="9525">
                  <a:moveTo>
                    <a:pt x="0" y="0"/>
                  </a:moveTo>
                  <a:lnTo>
                    <a:pt x="3390900" y="0"/>
                  </a:lnTo>
                </a:path>
              </a:pathLst>
            </a:custGeom>
            <a:noFill/>
            <a:ln w="9525">
              <a:solidFill>
                <a:srgbClr val="E3ECF5"/>
              </a:solidFill>
            </a:ln>
          </p:spPr>
        </p:sp>
        <p:sp>
          <p:nvSpPr>
            <p:cNvPr id="212" name="Line 212"/>
            <p:cNvSpPr/>
            <p:nvPr/>
          </p:nvSpPr>
          <p:spPr>
            <a:xfrm>
              <a:off x="8477250" y="2257425"/>
              <a:ext cx="3390900" cy="9525"/>
            </a:xfrm>
            <a:custGeom>
              <a:avLst/>
              <a:gdLst/>
              <a:ahLst/>
              <a:cxnLst/>
              <a:rect l="l" t="t" r="r" b="b"/>
              <a:pathLst>
                <a:path w="3390900" h="9525">
                  <a:moveTo>
                    <a:pt x="0" y="0"/>
                  </a:moveTo>
                  <a:lnTo>
                    <a:pt x="3390900" y="0"/>
                  </a:lnTo>
                </a:path>
              </a:pathLst>
            </a:custGeom>
            <a:noFill/>
            <a:ln w="9525">
              <a:solidFill>
                <a:srgbClr val="E3B3A9"/>
              </a:solidFill>
            </a:ln>
          </p:spPr>
        </p:sp>
        <p:grpSp>
          <p:nvGrpSpPr>
            <p:cNvPr id="222" name="cf-2021"/>
            <p:cNvGrpSpPr/>
            <p:nvPr/>
          </p:nvGrpSpPr>
          <p:grpSpPr>
            <a:xfrm>
              <a:off x="8648700" y="1498759"/>
              <a:ext cx="876300" cy="1365171"/>
              <a:chOff x="8648700" y="1498759"/>
              <a:chExt cx="876300" cy="1365171"/>
            </a:xfrm>
          </p:grpSpPr>
          <p:sp>
            <p:nvSpPr>
              <p:cNvPr id="213" name="Rectangle 213"/>
              <p:cNvSpPr/>
              <p:nvPr/>
            </p:nvSpPr>
            <p:spPr>
              <a:xfrm>
                <a:off x="8648700" y="1619250"/>
                <a:ext cx="190500" cy="638175"/>
              </a:xfrm>
              <a:prstGeom prst="rect">
                <a:avLst/>
              </a:prstGeom>
              <a:solidFill>
                <a:srgbClr val="92301C"/>
              </a:solidFill>
              <a:ln>
                <a:noFill/>
              </a:ln>
            </p:spPr>
          </p:sp>
          <p:sp>
            <p:nvSpPr>
              <p:cNvPr id="214" name="Rectangle 214"/>
              <p:cNvSpPr/>
              <p:nvPr/>
            </p:nvSpPr>
            <p:spPr>
              <a:xfrm>
                <a:off x="8877300" y="2257425"/>
                <a:ext cx="190500" cy="323850"/>
              </a:xfrm>
              <a:prstGeom prst="rect">
                <a:avLst/>
              </a:prstGeom>
              <a:solidFill>
                <a:srgbClr val="C87C6C"/>
              </a:solidFill>
              <a:ln>
                <a:noFill/>
              </a:ln>
            </p:spPr>
          </p:sp>
          <p:sp>
            <p:nvSpPr>
              <p:cNvPr id="215" name="Rectangle 215"/>
              <p:cNvSpPr/>
              <p:nvPr/>
            </p:nvSpPr>
            <p:spPr>
              <a:xfrm>
                <a:off x="9105900" y="2257425"/>
                <a:ext cx="190500" cy="190500"/>
              </a:xfrm>
              <a:prstGeom prst="rect">
                <a:avLst/>
              </a:prstGeom>
              <a:solidFill>
                <a:srgbClr val="E3B3A9"/>
              </a:solidFill>
              <a:ln>
                <a:noFill/>
              </a:ln>
            </p:spPr>
          </p:sp>
          <p:sp>
            <p:nvSpPr>
              <p:cNvPr id="216" name="Rectangle 216"/>
              <p:cNvSpPr/>
              <p:nvPr/>
            </p:nvSpPr>
            <p:spPr>
              <a:xfrm>
                <a:off x="9334500" y="2124075"/>
                <a:ext cx="190500" cy="133350"/>
              </a:xfrm>
              <a:prstGeom prst="rect">
                <a:avLst/>
              </a:prstGeom>
              <a:solidFill>
                <a:srgbClr val="B7533F"/>
              </a:solidFill>
              <a:ln>
                <a:noFill/>
              </a:ln>
            </p:spPr>
          </p:sp>
          <p:sp>
            <p:nvSpPr>
              <p:cNvPr id="217" name="TextBox 217"/>
              <p:cNvSpPr txBox="1"/>
              <p:nvPr/>
            </p:nvSpPr>
            <p:spPr>
              <a:xfrm>
                <a:off x="8675557" y="1498759"/>
                <a:ext cx="136786"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6.2</a:t>
                </a:r>
              </a:p>
            </p:txBody>
          </p:sp>
          <p:sp>
            <p:nvSpPr>
              <p:cNvPr id="218" name="TextBox 218"/>
              <p:cNvSpPr txBox="1"/>
              <p:nvPr/>
            </p:nvSpPr>
            <p:spPr>
              <a:xfrm>
                <a:off x="8888915" y="2603659"/>
                <a:ext cx="167269"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-3.1</a:t>
                </a:r>
              </a:p>
            </p:txBody>
          </p:sp>
          <p:sp>
            <p:nvSpPr>
              <p:cNvPr id="219" name="TextBox 219"/>
              <p:cNvSpPr txBox="1"/>
              <p:nvPr/>
            </p:nvSpPr>
            <p:spPr>
              <a:xfrm>
                <a:off x="9117515" y="2470309"/>
                <a:ext cx="167269"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-1.8</a:t>
                </a:r>
              </a:p>
            </p:txBody>
          </p:sp>
          <p:sp>
            <p:nvSpPr>
              <p:cNvPr id="220" name="TextBox 220"/>
              <p:cNvSpPr txBox="1"/>
              <p:nvPr/>
            </p:nvSpPr>
            <p:spPr>
              <a:xfrm>
                <a:off x="9361357" y="2003584"/>
                <a:ext cx="136786"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1.3</a:t>
                </a:r>
              </a:p>
            </p:txBody>
          </p:sp>
          <p:sp>
            <p:nvSpPr>
              <p:cNvPr id="221" name="TextBox 221"/>
              <p:cNvSpPr txBox="1"/>
              <p:nvPr/>
            </p:nvSpPr>
            <p:spPr>
              <a:xfrm>
                <a:off x="8975764" y="2723436"/>
                <a:ext cx="22217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2021</a:t>
                </a:r>
              </a:p>
            </p:txBody>
          </p:sp>
        </p:grpSp>
        <p:grpSp>
          <p:nvGrpSpPr>
            <p:cNvPr id="232" name="cf-2022"/>
            <p:cNvGrpSpPr/>
            <p:nvPr/>
          </p:nvGrpSpPr>
          <p:grpSpPr>
            <a:xfrm>
              <a:off x="9744075" y="1670209"/>
              <a:ext cx="876300" cy="1193721"/>
              <a:chOff x="9744075" y="1670209"/>
              <a:chExt cx="876300" cy="1193721"/>
            </a:xfrm>
          </p:grpSpPr>
          <p:sp>
            <p:nvSpPr>
              <p:cNvPr id="223" name="Rectangle 223"/>
              <p:cNvSpPr/>
              <p:nvPr/>
            </p:nvSpPr>
            <p:spPr>
              <a:xfrm>
                <a:off x="9744075" y="1790700"/>
                <a:ext cx="190500" cy="466725"/>
              </a:xfrm>
              <a:prstGeom prst="rect">
                <a:avLst/>
              </a:prstGeom>
              <a:solidFill>
                <a:srgbClr val="92301C"/>
              </a:solidFill>
              <a:ln>
                <a:noFill/>
              </a:ln>
            </p:spPr>
          </p:sp>
          <p:sp>
            <p:nvSpPr>
              <p:cNvPr id="224" name="Rectangle 224"/>
              <p:cNvSpPr/>
              <p:nvPr/>
            </p:nvSpPr>
            <p:spPr>
              <a:xfrm>
                <a:off x="9972675" y="2257425"/>
                <a:ext cx="190500" cy="209550"/>
              </a:xfrm>
              <a:prstGeom prst="rect">
                <a:avLst/>
              </a:prstGeom>
              <a:solidFill>
                <a:srgbClr val="C87C6C"/>
              </a:solidFill>
              <a:ln>
                <a:noFill/>
              </a:ln>
            </p:spPr>
          </p:sp>
          <p:sp>
            <p:nvSpPr>
              <p:cNvPr id="225" name="Rectangle 225"/>
              <p:cNvSpPr/>
              <p:nvPr/>
            </p:nvSpPr>
            <p:spPr>
              <a:xfrm>
                <a:off x="10201275" y="2257425"/>
                <a:ext cx="190500" cy="123825"/>
              </a:xfrm>
              <a:prstGeom prst="rect">
                <a:avLst/>
              </a:prstGeom>
              <a:solidFill>
                <a:srgbClr val="E3B3A9"/>
              </a:solidFill>
              <a:ln>
                <a:noFill/>
              </a:ln>
            </p:spPr>
          </p:sp>
          <p:sp>
            <p:nvSpPr>
              <p:cNvPr id="226" name="Rectangle 226"/>
              <p:cNvSpPr/>
              <p:nvPr/>
            </p:nvSpPr>
            <p:spPr>
              <a:xfrm>
                <a:off x="10429875" y="2124075"/>
                <a:ext cx="190500" cy="133350"/>
              </a:xfrm>
              <a:prstGeom prst="rect">
                <a:avLst/>
              </a:prstGeom>
              <a:solidFill>
                <a:srgbClr val="B7533F"/>
              </a:solidFill>
              <a:ln>
                <a:noFill/>
              </a:ln>
            </p:spPr>
          </p:sp>
          <p:sp>
            <p:nvSpPr>
              <p:cNvPr id="227" name="TextBox 227"/>
              <p:cNvSpPr txBox="1"/>
              <p:nvPr/>
            </p:nvSpPr>
            <p:spPr>
              <a:xfrm>
                <a:off x="9770932" y="1670209"/>
                <a:ext cx="136786"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4.5</a:t>
                </a:r>
              </a:p>
            </p:txBody>
          </p:sp>
          <p:sp>
            <p:nvSpPr>
              <p:cNvPr id="228" name="TextBox 228"/>
              <p:cNvSpPr txBox="1"/>
              <p:nvPr/>
            </p:nvSpPr>
            <p:spPr>
              <a:xfrm>
                <a:off x="9984290" y="2489359"/>
                <a:ext cx="167269"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-2.0</a:t>
                </a:r>
              </a:p>
            </p:txBody>
          </p:sp>
          <p:sp>
            <p:nvSpPr>
              <p:cNvPr id="229" name="TextBox 229"/>
              <p:cNvSpPr txBox="1"/>
              <p:nvPr/>
            </p:nvSpPr>
            <p:spPr>
              <a:xfrm>
                <a:off x="10212890" y="2403634"/>
                <a:ext cx="167269"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-1.2</a:t>
                </a:r>
              </a:p>
            </p:txBody>
          </p:sp>
          <p:sp>
            <p:nvSpPr>
              <p:cNvPr id="230" name="TextBox 230"/>
              <p:cNvSpPr txBox="1"/>
              <p:nvPr/>
            </p:nvSpPr>
            <p:spPr>
              <a:xfrm>
                <a:off x="10456732" y="2003584"/>
                <a:ext cx="136786"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1.3</a:t>
                </a:r>
              </a:p>
            </p:txBody>
          </p:sp>
          <p:sp>
            <p:nvSpPr>
              <p:cNvPr id="231" name="TextBox 231"/>
              <p:cNvSpPr txBox="1"/>
              <p:nvPr/>
            </p:nvSpPr>
            <p:spPr>
              <a:xfrm>
                <a:off x="10071139" y="2723436"/>
                <a:ext cx="22217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2022</a:t>
                </a:r>
              </a:p>
            </p:txBody>
          </p:sp>
        </p:grpSp>
        <p:grpSp>
          <p:nvGrpSpPr>
            <p:cNvPr id="242" name="cf-2023"/>
            <p:cNvGrpSpPr/>
            <p:nvPr/>
          </p:nvGrpSpPr>
          <p:grpSpPr>
            <a:xfrm>
              <a:off x="10839450" y="1746409"/>
              <a:ext cx="876300" cy="1117521"/>
              <a:chOff x="10839450" y="1746409"/>
              <a:chExt cx="876300" cy="1117521"/>
            </a:xfrm>
          </p:grpSpPr>
          <p:sp>
            <p:nvSpPr>
              <p:cNvPr id="233" name="Rectangle 233"/>
              <p:cNvSpPr/>
              <p:nvPr/>
            </p:nvSpPr>
            <p:spPr>
              <a:xfrm>
                <a:off x="10839450" y="1866900"/>
                <a:ext cx="190500" cy="390525"/>
              </a:xfrm>
              <a:prstGeom prst="rect">
                <a:avLst/>
              </a:prstGeom>
              <a:solidFill>
                <a:srgbClr val="92301C"/>
              </a:solidFill>
              <a:ln>
                <a:noFill/>
              </a:ln>
            </p:spPr>
          </p:sp>
          <p:sp>
            <p:nvSpPr>
              <p:cNvPr id="234" name="Rectangle 234"/>
              <p:cNvSpPr/>
              <p:nvPr/>
            </p:nvSpPr>
            <p:spPr>
              <a:xfrm>
                <a:off x="11068050" y="2257425"/>
                <a:ext cx="190500" cy="152400"/>
              </a:xfrm>
              <a:prstGeom prst="rect">
                <a:avLst/>
              </a:prstGeom>
              <a:solidFill>
                <a:srgbClr val="C87C6C"/>
              </a:solidFill>
              <a:ln>
                <a:noFill/>
              </a:ln>
            </p:spPr>
          </p:sp>
          <p:sp>
            <p:nvSpPr>
              <p:cNvPr id="235" name="Rectangle 235"/>
              <p:cNvSpPr/>
              <p:nvPr/>
            </p:nvSpPr>
            <p:spPr>
              <a:xfrm>
                <a:off x="11296650" y="2257425"/>
                <a:ext cx="190500" cy="104775"/>
              </a:xfrm>
              <a:prstGeom prst="rect">
                <a:avLst/>
              </a:prstGeom>
              <a:solidFill>
                <a:srgbClr val="E3B3A9"/>
              </a:solidFill>
              <a:ln>
                <a:noFill/>
              </a:ln>
            </p:spPr>
          </p:sp>
          <p:sp>
            <p:nvSpPr>
              <p:cNvPr id="236" name="Rectangle 236"/>
              <p:cNvSpPr/>
              <p:nvPr/>
            </p:nvSpPr>
            <p:spPr>
              <a:xfrm>
                <a:off x="11525250" y="2124075"/>
                <a:ext cx="190500" cy="133350"/>
              </a:xfrm>
              <a:prstGeom prst="rect">
                <a:avLst/>
              </a:prstGeom>
              <a:solidFill>
                <a:srgbClr val="B7533F"/>
              </a:solidFill>
              <a:ln>
                <a:noFill/>
              </a:ln>
            </p:spPr>
          </p:sp>
          <p:sp>
            <p:nvSpPr>
              <p:cNvPr id="237" name="TextBox 237"/>
              <p:cNvSpPr txBox="1"/>
              <p:nvPr/>
            </p:nvSpPr>
            <p:spPr>
              <a:xfrm>
                <a:off x="10866307" y="1746409"/>
                <a:ext cx="136786"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3.8</a:t>
                </a:r>
              </a:p>
            </p:txBody>
          </p:sp>
          <p:sp>
            <p:nvSpPr>
              <p:cNvPr id="238" name="TextBox 238"/>
              <p:cNvSpPr txBox="1"/>
              <p:nvPr/>
            </p:nvSpPr>
            <p:spPr>
              <a:xfrm>
                <a:off x="11079665" y="2432209"/>
                <a:ext cx="167269"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-1.5</a:t>
                </a:r>
              </a:p>
            </p:txBody>
          </p:sp>
          <p:sp>
            <p:nvSpPr>
              <p:cNvPr id="239" name="TextBox 239"/>
              <p:cNvSpPr txBox="1"/>
              <p:nvPr/>
            </p:nvSpPr>
            <p:spPr>
              <a:xfrm>
                <a:off x="11308265" y="2384584"/>
                <a:ext cx="167269"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-1.0</a:t>
                </a:r>
              </a:p>
            </p:txBody>
          </p:sp>
          <p:sp>
            <p:nvSpPr>
              <p:cNvPr id="240" name="TextBox 240"/>
              <p:cNvSpPr txBox="1"/>
              <p:nvPr/>
            </p:nvSpPr>
            <p:spPr>
              <a:xfrm>
                <a:off x="11552107" y="2003584"/>
                <a:ext cx="136786"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1.3</a:t>
                </a:r>
              </a:p>
            </p:txBody>
          </p:sp>
          <p:sp>
            <p:nvSpPr>
              <p:cNvPr id="241" name="TextBox 241"/>
              <p:cNvSpPr txBox="1"/>
              <p:nvPr/>
            </p:nvSpPr>
            <p:spPr>
              <a:xfrm>
                <a:off x="11166514" y="2723436"/>
                <a:ext cx="22217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2023</a:t>
                </a:r>
              </a:p>
            </p:txBody>
          </p:sp>
        </p:grpSp>
      </p:grpSp>
      <p:grpSp>
        <p:nvGrpSpPr>
          <p:cNvPr id="258" name="chart-concentration"/>
          <p:cNvGrpSpPr/>
          <p:nvPr/>
        </p:nvGrpSpPr>
        <p:grpSpPr>
          <a:xfrm>
            <a:off x="8096250" y="2914650"/>
            <a:ext cx="3905250" cy="895350"/>
            <a:chOff x="8096250" y="2914650"/>
            <a:chExt cx="3905250" cy="895350"/>
          </a:xfrm>
        </p:grpSpPr>
        <p:sp>
          <p:nvSpPr>
            <p:cNvPr id="244" name="Rectangle 244"/>
            <p:cNvSpPr/>
            <p:nvPr/>
          </p:nvSpPr>
          <p:spPr>
            <a:xfrm>
              <a:off x="8096250" y="2914650"/>
              <a:ext cx="3905250" cy="895350"/>
            </a:xfrm>
            <a:prstGeom prst="roundRect">
              <a:avLst>
                <a:gd name="adj" fmla="val 6383"/>
              </a:avLst>
            </a:prstGeom>
            <a:solidFill>
              <a:srgbClr val="F6F9FD"/>
            </a:solidFill>
            <a:ln w="9525">
              <a:solidFill>
                <a:srgbClr val="CFDFEE"/>
              </a:solidFill>
            </a:ln>
          </p:spPr>
        </p:sp>
        <p:sp>
          <p:nvSpPr>
            <p:cNvPr id="245" name="Rectangle 245"/>
            <p:cNvSpPr/>
            <p:nvPr/>
          </p:nvSpPr>
          <p:spPr>
            <a:xfrm>
              <a:off x="8172450" y="2990850"/>
              <a:ext cx="28575" cy="133350"/>
            </a:xfrm>
            <a:prstGeom prst="rect">
              <a:avLst/>
            </a:prstGeom>
            <a:solidFill>
              <a:srgbClr val="92301C"/>
            </a:solidFill>
            <a:ln>
              <a:noFill/>
            </a:ln>
          </p:spPr>
        </p:sp>
        <p:sp>
          <p:nvSpPr>
            <p:cNvPr id="246" name="TextBox 246"/>
            <p:cNvSpPr txBox="1"/>
            <p:nvPr/>
          </p:nvSpPr>
          <p:spPr>
            <a:xfrm>
              <a:off x="8262938" y="3012043"/>
              <a:ext cx="1643548"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j-lt"/>
                  <a:ea typeface="+mj-ea"/>
                  <a:cs typeface="+mj-cs"/>
                </a:rPr>
                <a:t xml:space="preserve">上下游集中度（2023年，%）　</a:t>
              </a:r>
            </a:p>
          </p:txBody>
        </p:sp>
        <p:sp>
          <p:nvSpPr>
            <p:cNvPr id="247" name="TextBox 247"/>
            <p:cNvSpPr txBox="1"/>
            <p:nvPr/>
          </p:nvSpPr>
          <p:spPr>
            <a:xfrm>
              <a:off x="8205788" y="32187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前五大供应商集中度</a:t>
              </a:r>
            </a:p>
          </p:txBody>
        </p:sp>
        <p:sp>
          <p:nvSpPr>
            <p:cNvPr id="248" name="Rectangle 248"/>
            <p:cNvSpPr/>
            <p:nvPr/>
          </p:nvSpPr>
          <p:spPr>
            <a:xfrm>
              <a:off x="8210550" y="3352800"/>
              <a:ext cx="1162050" cy="133350"/>
            </a:xfrm>
            <a:prstGeom prst="rect">
              <a:avLst/>
            </a:prstGeom>
            <a:solidFill>
              <a:srgbClr val="92301C"/>
            </a:solidFill>
            <a:ln>
              <a:noFill/>
            </a:ln>
          </p:spPr>
        </p:sp>
        <p:sp>
          <p:nvSpPr>
            <p:cNvPr id="249" name="TextBox 249"/>
            <p:cNvSpPr txBox="1"/>
            <p:nvPr/>
          </p:nvSpPr>
          <p:spPr>
            <a:xfrm>
              <a:off x="9424988" y="3360420"/>
              <a:ext cx="252035"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j-lt"/>
                  <a:ea typeface="+mj-ea"/>
                  <a:cs typeface="+mj-cs"/>
                </a:rPr>
                <a:t>68%</a:t>
              </a:r>
            </a:p>
          </p:txBody>
        </p:sp>
        <p:sp>
          <p:nvSpPr>
            <p:cNvPr id="250" name="Rectangle 250"/>
            <p:cNvSpPr/>
            <p:nvPr/>
          </p:nvSpPr>
          <p:spPr>
            <a:xfrm>
              <a:off x="8210550" y="3543300"/>
              <a:ext cx="723900" cy="133350"/>
            </a:xfrm>
            <a:prstGeom prst="rect">
              <a:avLst/>
            </a:prstGeom>
            <a:solidFill>
              <a:srgbClr val="E3B3A9"/>
            </a:solidFill>
            <a:ln>
              <a:noFill/>
            </a:ln>
          </p:spPr>
        </p:sp>
        <p:sp>
          <p:nvSpPr>
            <p:cNvPr id="251" name="TextBox 251"/>
            <p:cNvSpPr txBox="1"/>
            <p:nvPr/>
          </p:nvSpPr>
          <p:spPr>
            <a:xfrm>
              <a:off x="8986838" y="3575209"/>
              <a:ext cx="467233"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行业中位数</a:t>
              </a:r>
            </a:p>
          </p:txBody>
        </p:sp>
        <p:sp>
          <p:nvSpPr>
            <p:cNvPr id="252" name="Line 252"/>
            <p:cNvSpPr/>
            <p:nvPr/>
          </p:nvSpPr>
          <p:spPr>
            <a:xfrm>
              <a:off x="10020300" y="3238500"/>
              <a:ext cx="9525" cy="476250"/>
            </a:xfrm>
            <a:custGeom>
              <a:avLst/>
              <a:gdLst/>
              <a:ahLst/>
              <a:cxnLst/>
              <a:rect l="l" t="t" r="r" b="b"/>
              <a:pathLst>
                <a:path w="9525" h="476250">
                  <a:moveTo>
                    <a:pt x="0" y="0"/>
                  </a:moveTo>
                  <a:lnTo>
                    <a:pt x="0" y="476250"/>
                  </a:lnTo>
                </a:path>
              </a:pathLst>
            </a:custGeom>
            <a:noFill/>
            <a:ln w="9525">
              <a:solidFill>
                <a:srgbClr val="CFDFEE"/>
              </a:solidFill>
              <a:custDash>
                <a:ds d="300000" sp="300000"/>
              </a:custDash>
            </a:ln>
          </p:spPr>
        </p:sp>
        <p:sp>
          <p:nvSpPr>
            <p:cNvPr id="253" name="TextBox 253"/>
            <p:cNvSpPr txBox="1"/>
            <p:nvPr/>
          </p:nvSpPr>
          <p:spPr>
            <a:xfrm>
              <a:off x="10148888" y="3218736"/>
              <a:ext cx="77416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前五大客户集中度</a:t>
              </a:r>
            </a:p>
          </p:txBody>
        </p:sp>
        <p:sp>
          <p:nvSpPr>
            <p:cNvPr id="254" name="Rectangle 254"/>
            <p:cNvSpPr/>
            <p:nvPr/>
          </p:nvSpPr>
          <p:spPr>
            <a:xfrm>
              <a:off x="10153650" y="3352800"/>
              <a:ext cx="942975" cy="133350"/>
            </a:xfrm>
            <a:prstGeom prst="rect">
              <a:avLst/>
            </a:prstGeom>
            <a:solidFill>
              <a:srgbClr val="92301C"/>
            </a:solidFill>
            <a:ln>
              <a:noFill/>
            </a:ln>
          </p:spPr>
        </p:sp>
        <p:sp>
          <p:nvSpPr>
            <p:cNvPr id="255" name="TextBox 255"/>
            <p:cNvSpPr txBox="1"/>
            <p:nvPr/>
          </p:nvSpPr>
          <p:spPr>
            <a:xfrm>
              <a:off x="11149012" y="3360420"/>
              <a:ext cx="252035"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j-lt"/>
                  <a:ea typeface="+mj-ea"/>
                  <a:cs typeface="+mj-cs"/>
                </a:rPr>
                <a:t>55%</a:t>
              </a:r>
            </a:p>
          </p:txBody>
        </p:sp>
        <p:sp>
          <p:nvSpPr>
            <p:cNvPr id="256" name="Rectangle 256"/>
            <p:cNvSpPr/>
            <p:nvPr/>
          </p:nvSpPr>
          <p:spPr>
            <a:xfrm>
              <a:off x="10153650" y="3543300"/>
              <a:ext cx="666750" cy="133350"/>
            </a:xfrm>
            <a:prstGeom prst="rect">
              <a:avLst/>
            </a:prstGeom>
            <a:solidFill>
              <a:srgbClr val="E3B3A9"/>
            </a:solidFill>
            <a:ln>
              <a:noFill/>
            </a:ln>
          </p:spPr>
        </p:sp>
        <p:sp>
          <p:nvSpPr>
            <p:cNvPr id="257" name="TextBox 257"/>
            <p:cNvSpPr txBox="1"/>
            <p:nvPr/>
          </p:nvSpPr>
          <p:spPr>
            <a:xfrm>
              <a:off x="10872788" y="3575209"/>
              <a:ext cx="467233"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行业中位数</a:t>
              </a:r>
            </a:p>
          </p:txBody>
        </p:sp>
      </p:grpSp>
      <p:grpSp>
        <p:nvGrpSpPr>
          <p:cNvPr id="294" name="table-anomaly"/>
          <p:cNvGrpSpPr/>
          <p:nvPr/>
        </p:nvGrpSpPr>
        <p:grpSpPr>
          <a:xfrm>
            <a:off x="8096250" y="3886200"/>
            <a:ext cx="3905250" cy="1333500"/>
            <a:chOff x="8096250" y="3886200"/>
            <a:chExt cx="3905250" cy="1333500"/>
          </a:xfrm>
        </p:grpSpPr>
        <p:sp>
          <p:nvSpPr>
            <p:cNvPr id="259" name="Rectangle 259"/>
            <p:cNvSpPr/>
            <p:nvPr/>
          </p:nvSpPr>
          <p:spPr>
            <a:xfrm>
              <a:off x="8096250" y="3886200"/>
              <a:ext cx="3905250" cy="1333500"/>
            </a:xfrm>
            <a:prstGeom prst="roundRect">
              <a:avLst>
                <a:gd name="adj" fmla="val 4286"/>
              </a:avLst>
            </a:prstGeom>
            <a:solidFill>
              <a:srgbClr val="F6F9FD"/>
            </a:solidFill>
            <a:ln w="9525">
              <a:solidFill>
                <a:srgbClr val="CFDFEE"/>
              </a:solidFill>
            </a:ln>
          </p:spPr>
        </p:sp>
        <p:sp>
          <p:nvSpPr>
            <p:cNvPr id="260" name="Rectangle 260"/>
            <p:cNvSpPr/>
            <p:nvPr/>
          </p:nvSpPr>
          <p:spPr>
            <a:xfrm>
              <a:off x="8172450" y="3962400"/>
              <a:ext cx="28575" cy="133350"/>
            </a:xfrm>
            <a:prstGeom prst="rect">
              <a:avLst/>
            </a:prstGeom>
            <a:solidFill>
              <a:srgbClr val="92301C"/>
            </a:solidFill>
            <a:ln>
              <a:noFill/>
            </a:ln>
          </p:spPr>
        </p:sp>
        <p:sp>
          <p:nvSpPr>
            <p:cNvPr id="261" name="TextBox 261"/>
            <p:cNvSpPr txBox="1"/>
            <p:nvPr/>
          </p:nvSpPr>
          <p:spPr>
            <a:xfrm>
              <a:off x="8262938" y="3983593"/>
              <a:ext cx="935711"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异常清单（示例）</a:t>
              </a:r>
            </a:p>
          </p:txBody>
        </p:sp>
        <p:sp>
          <p:nvSpPr>
            <p:cNvPr id="262" name="Rectangle 262"/>
            <p:cNvSpPr/>
            <p:nvPr/>
          </p:nvSpPr>
          <p:spPr>
            <a:xfrm>
              <a:off x="8153400" y="4152900"/>
              <a:ext cx="3790950" cy="171450"/>
            </a:xfrm>
            <a:prstGeom prst="rect">
              <a:avLst/>
            </a:prstGeom>
            <a:solidFill>
              <a:srgbClr val="92301C"/>
            </a:solidFill>
            <a:ln>
              <a:noFill/>
            </a:ln>
          </p:spPr>
        </p:sp>
        <p:grpSp>
          <p:nvGrpSpPr>
            <p:cNvPr id="268" name="ta-head"/>
            <p:cNvGrpSpPr/>
            <p:nvPr/>
          </p:nvGrpSpPr>
          <p:grpSpPr>
            <a:xfrm>
              <a:off x="8186738" y="4203859"/>
              <a:ext cx="3107258" cy="133350"/>
              <a:chOff x="8186738" y="4203859"/>
              <a:chExt cx="3107258" cy="133350"/>
            </a:xfrm>
          </p:grpSpPr>
          <p:sp>
            <p:nvSpPr>
              <p:cNvPr id="263" name="TextBox 263"/>
              <p:cNvSpPr txBox="1"/>
              <p:nvPr/>
            </p:nvSpPr>
            <p:spPr>
              <a:xfrm>
                <a:off x="8186738" y="4203859"/>
                <a:ext cx="192608" cy="133350"/>
              </a:xfrm>
              <a:prstGeom prst="rect">
                <a:avLst/>
              </a:prstGeom>
              <a:noFill/>
              <a:ln>
                <a:noFill/>
              </a:ln>
            </p:spPr>
            <p:txBody>
              <a:bodyPr wrap="none" lIns="0" tIns="0" rIns="0" bIns="0" anchor="t" anchorCtr="0">
                <a:spAutoFit/>
              </a:bodyPr>
              <a:lstStyle/>
              <a:p>
                <a:pPr algn="l"/>
                <a:r>
                  <a:rPr lang="zh-CN" sz="680" b="1" dirty="0">
                    <a:solidFill>
                      <a:srgbClr val="FFFFFF"/>
                    </a:solidFill>
                    <a:latin typeface="+mn-lt"/>
                    <a:ea typeface="+mn-ea"/>
                    <a:cs typeface="+mn-cs"/>
                  </a:rPr>
                  <a:t>序号</a:t>
                </a:r>
              </a:p>
            </p:txBody>
          </p:sp>
          <p:sp>
            <p:nvSpPr>
              <p:cNvPr id="264" name="TextBox 264"/>
              <p:cNvSpPr txBox="1"/>
              <p:nvPr/>
            </p:nvSpPr>
            <p:spPr>
              <a:xfrm>
                <a:off x="8491538" y="4203859"/>
                <a:ext cx="375691" cy="133350"/>
              </a:xfrm>
              <a:prstGeom prst="rect">
                <a:avLst/>
              </a:prstGeom>
              <a:noFill/>
              <a:ln>
                <a:noFill/>
              </a:ln>
            </p:spPr>
            <p:txBody>
              <a:bodyPr wrap="none" lIns="0" tIns="0" rIns="0" bIns="0" anchor="t" anchorCtr="0">
                <a:spAutoFit/>
              </a:bodyPr>
              <a:lstStyle/>
              <a:p>
                <a:pPr algn="l"/>
                <a:r>
                  <a:rPr lang="zh-CN" sz="680" b="1" dirty="0">
                    <a:solidFill>
                      <a:srgbClr val="FFFFFF"/>
                    </a:solidFill>
                    <a:latin typeface="+mn-lt"/>
                    <a:ea typeface="+mn-ea"/>
                    <a:cs typeface="+mn-cs"/>
                  </a:rPr>
                  <a:t>异常事项</a:t>
                </a:r>
              </a:p>
            </p:txBody>
          </p:sp>
          <p:sp>
            <p:nvSpPr>
              <p:cNvPr id="265" name="TextBox 265"/>
              <p:cNvSpPr txBox="1"/>
              <p:nvPr/>
            </p:nvSpPr>
            <p:spPr>
              <a:xfrm>
                <a:off x="9463088" y="4203859"/>
                <a:ext cx="375691" cy="133350"/>
              </a:xfrm>
              <a:prstGeom prst="rect">
                <a:avLst/>
              </a:prstGeom>
              <a:noFill/>
              <a:ln>
                <a:noFill/>
              </a:ln>
            </p:spPr>
            <p:txBody>
              <a:bodyPr wrap="none" lIns="0" tIns="0" rIns="0" bIns="0" anchor="t" anchorCtr="0">
                <a:spAutoFit/>
              </a:bodyPr>
              <a:lstStyle/>
              <a:p>
                <a:pPr algn="l"/>
                <a:r>
                  <a:rPr lang="zh-CN" sz="680" b="1" dirty="0">
                    <a:solidFill>
                      <a:srgbClr val="FFFFFF"/>
                    </a:solidFill>
                    <a:latin typeface="+mn-lt"/>
                    <a:ea typeface="+mn-ea"/>
                    <a:cs typeface="+mn-cs"/>
                  </a:rPr>
                  <a:t>发现依据</a:t>
                </a:r>
              </a:p>
            </p:txBody>
          </p:sp>
          <p:sp>
            <p:nvSpPr>
              <p:cNvPr id="266" name="TextBox 266"/>
              <p:cNvSpPr txBox="1"/>
              <p:nvPr/>
            </p:nvSpPr>
            <p:spPr>
              <a:xfrm>
                <a:off x="10129838" y="4203859"/>
                <a:ext cx="375691" cy="133350"/>
              </a:xfrm>
              <a:prstGeom prst="rect">
                <a:avLst/>
              </a:prstGeom>
              <a:noFill/>
              <a:ln>
                <a:noFill/>
              </a:ln>
            </p:spPr>
            <p:txBody>
              <a:bodyPr wrap="none" lIns="0" tIns="0" rIns="0" bIns="0" anchor="t" anchorCtr="0">
                <a:spAutoFit/>
              </a:bodyPr>
              <a:lstStyle/>
              <a:p>
                <a:pPr algn="l"/>
                <a:r>
                  <a:rPr lang="zh-CN" sz="680" b="1" dirty="0">
                    <a:solidFill>
                      <a:srgbClr val="FFFFFF"/>
                    </a:solidFill>
                    <a:latin typeface="+mn-lt"/>
                    <a:ea typeface="+mn-ea"/>
                    <a:cs typeface="+mn-cs"/>
                  </a:rPr>
                  <a:t>风险提示</a:t>
                </a:r>
              </a:p>
            </p:txBody>
          </p:sp>
          <p:sp>
            <p:nvSpPr>
              <p:cNvPr id="267" name="TextBox 267"/>
              <p:cNvSpPr txBox="1"/>
              <p:nvPr/>
            </p:nvSpPr>
            <p:spPr>
              <a:xfrm>
                <a:off x="11101388" y="4203859"/>
                <a:ext cx="192608" cy="133350"/>
              </a:xfrm>
              <a:prstGeom prst="rect">
                <a:avLst/>
              </a:prstGeom>
              <a:noFill/>
              <a:ln>
                <a:noFill/>
              </a:ln>
            </p:spPr>
            <p:txBody>
              <a:bodyPr wrap="none" lIns="0" tIns="0" rIns="0" bIns="0" anchor="t" anchorCtr="0">
                <a:spAutoFit/>
              </a:bodyPr>
              <a:lstStyle/>
              <a:p>
                <a:pPr algn="l"/>
                <a:r>
                  <a:rPr lang="zh-CN" sz="680" b="1" dirty="0">
                    <a:solidFill>
                      <a:srgbClr val="FFFFFF"/>
                    </a:solidFill>
                    <a:latin typeface="+mn-lt"/>
                    <a:ea typeface="+mn-ea"/>
                    <a:cs typeface="+mn-cs"/>
                  </a:rPr>
                  <a:t>建议</a:t>
                </a:r>
              </a:p>
            </p:txBody>
          </p:sp>
        </p:grpSp>
        <p:grpSp>
          <p:nvGrpSpPr>
            <p:cNvPr id="293" name="ta-rows"/>
            <p:cNvGrpSpPr/>
            <p:nvPr/>
          </p:nvGrpSpPr>
          <p:grpSpPr>
            <a:xfrm>
              <a:off x="8153400" y="4324350"/>
              <a:ext cx="3790950" cy="838200"/>
              <a:chOff x="8153400" y="4324350"/>
              <a:chExt cx="3790950" cy="838200"/>
            </a:xfrm>
          </p:grpSpPr>
          <p:sp>
            <p:nvSpPr>
              <p:cNvPr id="269" name="Rectangle 269"/>
              <p:cNvSpPr/>
              <p:nvPr/>
            </p:nvSpPr>
            <p:spPr>
              <a:xfrm>
                <a:off x="8153400" y="4324350"/>
                <a:ext cx="3790950" cy="209550"/>
              </a:xfrm>
              <a:prstGeom prst="rect">
                <a:avLst/>
              </a:prstGeom>
              <a:solidFill>
                <a:srgbClr val="FFFFFF"/>
              </a:solidFill>
              <a:ln>
                <a:noFill/>
              </a:ln>
            </p:spPr>
          </p:sp>
          <p:sp>
            <p:nvSpPr>
              <p:cNvPr id="270" name="TextBox 270"/>
              <p:cNvSpPr txBox="1"/>
              <p:nvPr/>
            </p:nvSpPr>
            <p:spPr>
              <a:xfrm>
                <a:off x="8237480" y="4394359"/>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a:t>
                </a:r>
              </a:p>
            </p:txBody>
          </p:sp>
          <p:sp>
            <p:nvSpPr>
              <p:cNvPr id="271" name="TextBox 271"/>
              <p:cNvSpPr txBox="1"/>
              <p:nvPr/>
            </p:nvSpPr>
            <p:spPr>
              <a:xfrm>
                <a:off x="8491538" y="4394359"/>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关联交易占比高</a:t>
                </a:r>
              </a:p>
            </p:txBody>
          </p:sp>
          <p:sp>
            <p:nvSpPr>
              <p:cNvPr id="272" name="TextBox 272"/>
              <p:cNvSpPr txBox="1"/>
              <p:nvPr/>
            </p:nvSpPr>
            <p:spPr>
              <a:xfrm>
                <a:off x="9463088" y="4394359"/>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合同、流水</a:t>
                </a:r>
              </a:p>
            </p:txBody>
          </p:sp>
          <p:sp>
            <p:nvSpPr>
              <p:cNvPr id="273" name="TextBox 273"/>
              <p:cNvSpPr txBox="1"/>
              <p:nvPr/>
            </p:nvSpPr>
            <p:spPr>
              <a:xfrm>
                <a:off x="10129838" y="4394359"/>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可能存在利益输送</a:t>
                </a:r>
              </a:p>
            </p:txBody>
          </p:sp>
          <p:sp>
            <p:nvSpPr>
              <p:cNvPr id="274" name="TextBox 274"/>
              <p:cNvSpPr txBox="1"/>
              <p:nvPr/>
            </p:nvSpPr>
            <p:spPr>
              <a:xfrm>
                <a:off x="11101388" y="4394359"/>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进一步核实</a:t>
                </a:r>
              </a:p>
            </p:txBody>
          </p:sp>
          <p:sp>
            <p:nvSpPr>
              <p:cNvPr id="275" name="Rectangle 275"/>
              <p:cNvSpPr/>
              <p:nvPr/>
            </p:nvSpPr>
            <p:spPr>
              <a:xfrm>
                <a:off x="8153400" y="4533900"/>
                <a:ext cx="3790950" cy="209550"/>
              </a:xfrm>
              <a:prstGeom prst="rect">
                <a:avLst/>
              </a:prstGeom>
              <a:solidFill>
                <a:srgbClr val="EEF5FB"/>
              </a:solidFill>
              <a:ln>
                <a:noFill/>
              </a:ln>
            </p:spPr>
          </p:sp>
          <p:sp>
            <p:nvSpPr>
              <p:cNvPr id="276" name="TextBox 276"/>
              <p:cNvSpPr txBox="1"/>
              <p:nvPr/>
            </p:nvSpPr>
            <p:spPr>
              <a:xfrm>
                <a:off x="8237480" y="4603909"/>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2</a:t>
                </a:r>
              </a:p>
            </p:txBody>
          </p:sp>
          <p:sp>
            <p:nvSpPr>
              <p:cNvPr id="277" name="TextBox 277"/>
              <p:cNvSpPr txBox="1"/>
              <p:nvPr/>
            </p:nvSpPr>
            <p:spPr>
              <a:xfrm>
                <a:off x="8491538" y="4603909"/>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应收账款增长快</a:t>
                </a:r>
              </a:p>
            </p:txBody>
          </p:sp>
          <p:sp>
            <p:nvSpPr>
              <p:cNvPr id="278" name="TextBox 278"/>
              <p:cNvSpPr txBox="1"/>
              <p:nvPr/>
            </p:nvSpPr>
            <p:spPr>
              <a:xfrm>
                <a:off x="9463088" y="4603909"/>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财报、流水</a:t>
                </a:r>
              </a:p>
            </p:txBody>
          </p:sp>
          <p:sp>
            <p:nvSpPr>
              <p:cNvPr id="279" name="TextBox 279"/>
              <p:cNvSpPr txBox="1"/>
              <p:nvPr/>
            </p:nvSpPr>
            <p:spPr>
              <a:xfrm>
                <a:off x="10129838" y="4603909"/>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存在回款不确定性</a:t>
                </a:r>
              </a:p>
            </p:txBody>
          </p:sp>
          <p:sp>
            <p:nvSpPr>
              <p:cNvPr id="280" name="TextBox 280"/>
              <p:cNvSpPr txBox="1"/>
              <p:nvPr/>
            </p:nvSpPr>
            <p:spPr>
              <a:xfrm>
                <a:off x="11101388" y="4603909"/>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核查客户资质</a:t>
                </a:r>
              </a:p>
            </p:txBody>
          </p:sp>
          <p:sp>
            <p:nvSpPr>
              <p:cNvPr id="281" name="Rectangle 281"/>
              <p:cNvSpPr/>
              <p:nvPr/>
            </p:nvSpPr>
            <p:spPr>
              <a:xfrm>
                <a:off x="8153400" y="4743450"/>
                <a:ext cx="3790950" cy="209550"/>
              </a:xfrm>
              <a:prstGeom prst="rect">
                <a:avLst/>
              </a:prstGeom>
              <a:solidFill>
                <a:srgbClr val="FFFFFF"/>
              </a:solidFill>
              <a:ln>
                <a:noFill/>
              </a:ln>
            </p:spPr>
          </p:sp>
          <p:sp>
            <p:nvSpPr>
              <p:cNvPr id="282" name="TextBox 282"/>
              <p:cNvSpPr txBox="1"/>
              <p:nvPr/>
            </p:nvSpPr>
            <p:spPr>
              <a:xfrm>
                <a:off x="8237480" y="4813459"/>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3</a:t>
                </a:r>
              </a:p>
            </p:txBody>
          </p:sp>
          <p:sp>
            <p:nvSpPr>
              <p:cNvPr id="283" name="TextBox 283"/>
              <p:cNvSpPr txBox="1"/>
              <p:nvPr/>
            </p:nvSpPr>
            <p:spPr>
              <a:xfrm>
                <a:off x="8491538" y="4813459"/>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现金流与利润背离</a:t>
                </a:r>
              </a:p>
            </p:txBody>
          </p:sp>
          <p:sp>
            <p:nvSpPr>
              <p:cNvPr id="284" name="TextBox 284"/>
              <p:cNvSpPr txBox="1"/>
              <p:nvPr/>
            </p:nvSpPr>
            <p:spPr>
              <a:xfrm>
                <a:off x="9463088" y="4813459"/>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财报、流水</a:t>
                </a:r>
              </a:p>
            </p:txBody>
          </p:sp>
          <p:sp>
            <p:nvSpPr>
              <p:cNvPr id="285" name="TextBox 285"/>
              <p:cNvSpPr txBox="1"/>
              <p:nvPr/>
            </p:nvSpPr>
            <p:spPr>
              <a:xfrm>
                <a:off x="10129838" y="4813459"/>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盈利质量待验证</a:t>
                </a:r>
              </a:p>
            </p:txBody>
          </p:sp>
          <p:sp>
            <p:nvSpPr>
              <p:cNvPr id="286" name="TextBox 286"/>
              <p:cNvSpPr txBox="1"/>
              <p:nvPr/>
            </p:nvSpPr>
            <p:spPr>
              <a:xfrm>
                <a:off x="11101388" y="4813459"/>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分析非经常性因素</a:t>
                </a:r>
              </a:p>
            </p:txBody>
          </p:sp>
          <p:sp>
            <p:nvSpPr>
              <p:cNvPr id="287" name="Rectangle 287"/>
              <p:cNvSpPr/>
              <p:nvPr/>
            </p:nvSpPr>
            <p:spPr>
              <a:xfrm>
                <a:off x="8153400" y="4953000"/>
                <a:ext cx="3790950" cy="209550"/>
              </a:xfrm>
              <a:prstGeom prst="rect">
                <a:avLst/>
              </a:prstGeom>
              <a:solidFill>
                <a:srgbClr val="EEF5FB"/>
              </a:solidFill>
              <a:ln>
                <a:noFill/>
              </a:ln>
            </p:spPr>
          </p:sp>
          <p:sp>
            <p:nvSpPr>
              <p:cNvPr id="288" name="TextBox 288"/>
              <p:cNvSpPr txBox="1"/>
              <p:nvPr/>
            </p:nvSpPr>
            <p:spPr>
              <a:xfrm>
                <a:off x="8237480" y="5023009"/>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4</a:t>
                </a:r>
              </a:p>
            </p:txBody>
          </p:sp>
          <p:sp>
            <p:nvSpPr>
              <p:cNvPr id="289" name="TextBox 289"/>
              <p:cNvSpPr txBox="1"/>
              <p:nvPr/>
            </p:nvSpPr>
            <p:spPr>
              <a:xfrm>
                <a:off x="8491538" y="5023009"/>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涉及诉讼事项</a:t>
                </a:r>
              </a:p>
            </p:txBody>
          </p:sp>
          <p:sp>
            <p:nvSpPr>
              <p:cNvPr id="290" name="TextBox 290"/>
              <p:cNvSpPr txBox="1"/>
              <p:nvPr/>
            </p:nvSpPr>
            <p:spPr>
              <a:xfrm>
                <a:off x="9463088" y="5023009"/>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司法、舆情</a:t>
                </a:r>
              </a:p>
            </p:txBody>
          </p:sp>
          <p:sp>
            <p:nvSpPr>
              <p:cNvPr id="291" name="TextBox 291"/>
              <p:cNvSpPr txBox="1"/>
              <p:nvPr/>
            </p:nvSpPr>
            <p:spPr>
              <a:xfrm>
                <a:off x="10129838" y="5023009"/>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可能产生或有负债</a:t>
                </a:r>
              </a:p>
            </p:txBody>
          </p:sp>
          <p:sp>
            <p:nvSpPr>
              <p:cNvPr id="292" name="TextBox 292"/>
              <p:cNvSpPr txBox="1"/>
              <p:nvPr/>
            </p:nvSpPr>
            <p:spPr>
              <a:xfrm>
                <a:off x="11101388" y="5023009"/>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关注进展并核实</a:t>
                </a:r>
              </a:p>
            </p:txBody>
          </p:sp>
        </p:grpSp>
      </p:grpSp>
      <p:grpSp>
        <p:nvGrpSpPr>
          <p:cNvPr id="297" name="bottom-head"/>
          <p:cNvGrpSpPr/>
          <p:nvPr/>
        </p:nvGrpSpPr>
        <p:grpSpPr>
          <a:xfrm>
            <a:off x="190500" y="5295900"/>
            <a:ext cx="7810500" cy="272987"/>
            <a:chOff x="190500" y="5295900"/>
            <a:chExt cx="7810500" cy="272987"/>
          </a:xfrm>
        </p:grpSpPr>
        <p:sp>
          <p:nvSpPr>
            <p:cNvPr id="295" name="Rectangle 295"/>
            <p:cNvSpPr/>
            <p:nvPr/>
          </p:nvSpPr>
          <p:spPr>
            <a:xfrm>
              <a:off x="190500" y="5295900"/>
              <a:ext cx="7810500" cy="266700"/>
            </a:xfrm>
            <a:prstGeom prst="rect">
              <a:avLst/>
            </a:prstGeom>
            <a:gradFill>
              <a:gsLst>
                <a:gs pos="0">
                  <a:srgbClr val="92301C"/>
                </a:gs>
                <a:gs pos="100000">
                  <a:srgbClr val="B7533F"/>
                </a:gs>
              </a:gsLst>
              <a:lin ang="0" scaled="1"/>
            </a:gradFill>
            <a:ln>
              <a:noFill/>
            </a:ln>
          </p:spPr>
        </p:sp>
        <p:sp>
          <p:nvSpPr>
            <p:cNvPr id="296" name="TextBox 296"/>
            <p:cNvSpPr txBox="1"/>
            <p:nvPr/>
          </p:nvSpPr>
          <p:spPr>
            <a:xfrm>
              <a:off x="318516" y="5363528"/>
              <a:ext cx="1000125"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关键保障与控制</a:t>
              </a:r>
            </a:p>
          </p:txBody>
        </p:sp>
      </p:grpSp>
      <p:grpSp>
        <p:nvGrpSpPr>
          <p:cNvPr id="331" name="bottom-cards"/>
          <p:cNvGrpSpPr/>
          <p:nvPr/>
        </p:nvGrpSpPr>
        <p:grpSpPr>
          <a:xfrm>
            <a:off x="190500" y="5600700"/>
            <a:ext cx="7810500" cy="971550"/>
            <a:chOff x="190500" y="5600700"/>
            <a:chExt cx="7810500" cy="971550"/>
          </a:xfrm>
        </p:grpSpPr>
        <p:grpSp>
          <p:nvGrpSpPr>
            <p:cNvPr id="308" name="bc-1"/>
            <p:cNvGrpSpPr/>
            <p:nvPr/>
          </p:nvGrpSpPr>
          <p:grpSpPr>
            <a:xfrm>
              <a:off x="190500" y="5600700"/>
              <a:ext cx="2552700" cy="971550"/>
              <a:chOff x="190500" y="5600700"/>
              <a:chExt cx="2552700" cy="971550"/>
            </a:xfrm>
          </p:grpSpPr>
          <p:sp>
            <p:nvSpPr>
              <p:cNvPr id="298" name="Rectangle 298"/>
              <p:cNvSpPr/>
              <p:nvPr/>
            </p:nvSpPr>
            <p:spPr>
              <a:xfrm>
                <a:off x="190500" y="5600700"/>
                <a:ext cx="2552700" cy="971550"/>
              </a:xfrm>
              <a:prstGeom prst="roundRect">
                <a:avLst>
                  <a:gd name="adj" fmla="val 5882"/>
                </a:avLst>
              </a:prstGeom>
              <a:solidFill>
                <a:srgbClr val="F6F9FD"/>
              </a:solidFill>
              <a:ln w="9525">
                <a:solidFill>
                  <a:srgbClr val="CFDFEE"/>
                </a:solidFill>
              </a:ln>
            </p:spPr>
          </p:sp>
          <p:grpSp>
            <p:nvGrpSpPr>
              <p:cNvPr id="303" name="Group 303"/>
              <p:cNvGrpSpPr/>
              <p:nvPr/>
            </p:nvGrpSpPr>
            <p:grpSpPr>
              <a:xfrm>
                <a:off x="390525" y="5948362"/>
                <a:ext cx="228601" cy="271464"/>
                <a:chOff x="390525" y="5948362"/>
                <a:chExt cx="228601" cy="271464"/>
              </a:xfrm>
            </p:grpSpPr>
            <p:sp>
              <p:nvSpPr>
                <p:cNvPr id="299" name="Freeform 299"/>
                <p:cNvSpPr/>
                <p:nvPr/>
              </p:nvSpPr>
              <p:spPr>
                <a:xfrm>
                  <a:off x="419100" y="59483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92301C"/>
                  </a:solidFill>
                </a:ln>
              </p:spPr>
            </p:sp>
            <p:sp>
              <p:nvSpPr>
                <p:cNvPr id="300" name="Freeform 300"/>
                <p:cNvSpPr/>
                <p:nvPr/>
              </p:nvSpPr>
              <p:spPr>
                <a:xfrm>
                  <a:off x="390525" y="6119812"/>
                  <a:ext cx="78581" cy="85725"/>
                </a:xfrm>
                <a:custGeom>
                  <a:avLst/>
                  <a:gdLst/>
                  <a:ahLst/>
                  <a:cxnLst/>
                  <a:rect l="l" t="t" r="r" b="b"/>
                  <a:pathLst>
                    <a:path w="78581" h="85725">
                      <a:moveTo>
                        <a:pt x="0" y="85725"/>
                      </a:moveTo>
                      <a:lnTo>
                        <a:pt x="0" y="57150"/>
                      </a:lnTo>
                      <a:cubicBezTo>
                        <a:pt x="0" y="25587"/>
                        <a:pt x="25587" y="0"/>
                        <a:pt x="57150" y="0"/>
                      </a:cubicBezTo>
                      <a:lnTo>
                        <a:pt x="78581" y="0"/>
                      </a:lnTo>
                    </a:path>
                  </a:pathLst>
                </a:custGeom>
                <a:noFill/>
                <a:ln w="28575">
                  <a:solidFill>
                    <a:srgbClr val="92301C"/>
                  </a:solidFill>
                </a:ln>
              </p:spPr>
            </p:sp>
            <p:sp>
              <p:nvSpPr>
                <p:cNvPr id="301" name="Freeform 301"/>
                <p:cNvSpPr/>
                <p:nvPr/>
              </p:nvSpPr>
              <p:spPr>
                <a:xfrm>
                  <a:off x="519112" y="6119812"/>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28575">
                  <a:solidFill>
                    <a:srgbClr val="92301C"/>
                  </a:solidFill>
                </a:ln>
              </p:spPr>
            </p:sp>
            <p:sp>
              <p:nvSpPr>
                <p:cNvPr id="302" name="Freeform 302"/>
                <p:cNvSpPr/>
                <p:nvPr/>
              </p:nvSpPr>
              <p:spPr>
                <a:xfrm>
                  <a:off x="593408" y="6194108"/>
                  <a:ext cx="25718" cy="25718"/>
                </a:xfrm>
                <a:custGeom>
                  <a:avLst/>
                  <a:gdLst/>
                  <a:ahLst/>
                  <a:cxnLst/>
                  <a:rect l="l" t="t" r="r" b="b"/>
                  <a:pathLst>
                    <a:path w="25718" h="25718">
                      <a:moveTo>
                        <a:pt x="0" y="0"/>
                      </a:moveTo>
                      <a:lnTo>
                        <a:pt x="25718" y="25718"/>
                      </a:lnTo>
                    </a:path>
                  </a:pathLst>
                </a:custGeom>
                <a:noFill/>
                <a:ln w="28575">
                  <a:solidFill>
                    <a:srgbClr val="92301C"/>
                  </a:solidFill>
                </a:ln>
              </p:spPr>
            </p:sp>
          </p:grpSp>
          <p:sp>
            <p:nvSpPr>
              <p:cNvPr id="304" name="TextBox 304"/>
              <p:cNvSpPr txBox="1"/>
              <p:nvPr/>
            </p:nvSpPr>
            <p:spPr>
              <a:xfrm>
                <a:off x="776288" y="5728097"/>
                <a:ext cx="1021867"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客户经理现场核验</a:t>
                </a:r>
              </a:p>
            </p:txBody>
          </p:sp>
          <p:sp>
            <p:nvSpPr>
              <p:cNvPr id="305" name="TextBox 305"/>
              <p:cNvSpPr txBox="1"/>
              <p:nvPr/>
            </p:nvSpPr>
            <p:spPr>
              <a:xfrm>
                <a:off x="776288" y="5961936"/>
                <a:ext cx="1233132"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核实经营场所、产能与实物</a:t>
                </a:r>
              </a:p>
            </p:txBody>
          </p:sp>
          <p:sp>
            <p:nvSpPr>
              <p:cNvPr id="306" name="TextBox 306"/>
              <p:cNvSpPr txBox="1"/>
              <p:nvPr/>
            </p:nvSpPr>
            <p:spPr>
              <a:xfrm>
                <a:off x="776288" y="6133386"/>
                <a:ext cx="1328712"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访谈核心人员，了解经营情况</a:t>
                </a:r>
              </a:p>
            </p:txBody>
          </p:sp>
          <p:sp>
            <p:nvSpPr>
              <p:cNvPr id="307" name="TextBox 307"/>
              <p:cNvSpPr txBox="1"/>
              <p:nvPr/>
            </p:nvSpPr>
            <p:spPr>
              <a:xfrm>
                <a:off x="776288" y="6304836"/>
                <a:ext cx="1137552"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形成现场核验记录并上传</a:t>
                </a:r>
              </a:p>
            </p:txBody>
          </p:sp>
        </p:grpSp>
        <p:grpSp>
          <p:nvGrpSpPr>
            <p:cNvPr id="320" name="bc-2"/>
            <p:cNvGrpSpPr/>
            <p:nvPr/>
          </p:nvGrpSpPr>
          <p:grpSpPr>
            <a:xfrm>
              <a:off x="2819400" y="5600700"/>
              <a:ext cx="2552700" cy="971550"/>
              <a:chOff x="2819400" y="5600700"/>
              <a:chExt cx="2552700" cy="971550"/>
            </a:xfrm>
          </p:grpSpPr>
          <p:sp>
            <p:nvSpPr>
              <p:cNvPr id="309" name="Rectangle 309"/>
              <p:cNvSpPr/>
              <p:nvPr/>
            </p:nvSpPr>
            <p:spPr>
              <a:xfrm>
                <a:off x="2819400" y="5600700"/>
                <a:ext cx="2552700" cy="971550"/>
              </a:xfrm>
              <a:prstGeom prst="roundRect">
                <a:avLst>
                  <a:gd name="adj" fmla="val 5882"/>
                </a:avLst>
              </a:prstGeom>
              <a:solidFill>
                <a:srgbClr val="F6F9FD"/>
              </a:solidFill>
              <a:ln w="9525">
                <a:solidFill>
                  <a:srgbClr val="CFDFEE"/>
                </a:solidFill>
              </a:ln>
            </p:spPr>
          </p:sp>
          <p:grpSp>
            <p:nvGrpSpPr>
              <p:cNvPr id="315" name="Group 315"/>
              <p:cNvGrpSpPr/>
              <p:nvPr/>
            </p:nvGrpSpPr>
            <p:grpSpPr>
              <a:xfrm>
                <a:off x="3005138" y="5948362"/>
                <a:ext cx="200025" cy="257175"/>
                <a:chOff x="3005138" y="5948362"/>
                <a:chExt cx="200025" cy="257175"/>
              </a:xfrm>
            </p:grpSpPr>
            <p:sp>
              <p:nvSpPr>
                <p:cNvPr id="310" name="Freeform 310"/>
                <p:cNvSpPr/>
                <p:nvPr/>
              </p:nvSpPr>
              <p:spPr>
                <a:xfrm>
                  <a:off x="3133725" y="5948362"/>
                  <a:ext cx="71438" cy="71438"/>
                </a:xfrm>
                <a:custGeom>
                  <a:avLst/>
                  <a:gdLst/>
                  <a:ahLst/>
                  <a:cxnLst/>
                  <a:rect l="l" t="t" r="r" b="b"/>
                  <a:pathLst>
                    <a:path w="71438" h="71438">
                      <a:moveTo>
                        <a:pt x="0" y="0"/>
                      </a:moveTo>
                      <a:lnTo>
                        <a:pt x="0" y="57150"/>
                      </a:lnTo>
                      <a:cubicBezTo>
                        <a:pt x="0" y="65041"/>
                        <a:pt x="6397" y="71438"/>
                        <a:pt x="14288" y="71438"/>
                      </a:cubicBezTo>
                      <a:lnTo>
                        <a:pt x="71438" y="71438"/>
                      </a:lnTo>
                    </a:path>
                  </a:pathLst>
                </a:custGeom>
                <a:noFill/>
                <a:ln w="28575">
                  <a:solidFill>
                    <a:srgbClr val="92301C"/>
                  </a:solidFill>
                </a:ln>
              </p:spPr>
            </p:sp>
            <p:sp>
              <p:nvSpPr>
                <p:cNvPr id="311" name="Freeform 311"/>
                <p:cNvSpPr/>
                <p:nvPr/>
              </p:nvSpPr>
              <p:spPr>
                <a:xfrm>
                  <a:off x="3005138" y="5948362"/>
                  <a:ext cx="200025" cy="257175"/>
                </a:xfrm>
                <a:custGeom>
                  <a:avLst/>
                  <a:gdLst/>
                  <a:ahLst/>
                  <a:cxnLst/>
                  <a:rect l="l" t="t" r="r" b="b"/>
                  <a:pathLst>
                    <a:path w="200025" h="257175">
                      <a:moveTo>
                        <a:pt x="171450" y="257175"/>
                      </a:moveTo>
                      <a:lnTo>
                        <a:pt x="28575" y="257175"/>
                      </a:lnTo>
                      <a:cubicBezTo>
                        <a:pt x="12793" y="257175"/>
                        <a:pt x="0" y="244382"/>
                        <a:pt x="0" y="228600"/>
                      </a:cubicBezTo>
                      <a:lnTo>
                        <a:pt x="0" y="28575"/>
                      </a:lnTo>
                      <a:cubicBezTo>
                        <a:pt x="0" y="12793"/>
                        <a:pt x="12793" y="0"/>
                        <a:pt x="28575" y="0"/>
                      </a:cubicBezTo>
                      <a:lnTo>
                        <a:pt x="128588" y="0"/>
                      </a:lnTo>
                      <a:lnTo>
                        <a:pt x="200025" y="71438"/>
                      </a:lnTo>
                      <a:lnTo>
                        <a:pt x="200025" y="228600"/>
                      </a:lnTo>
                      <a:cubicBezTo>
                        <a:pt x="200025" y="244382"/>
                        <a:pt x="187232" y="257175"/>
                        <a:pt x="171450" y="257175"/>
                      </a:cubicBezTo>
                    </a:path>
                  </a:pathLst>
                </a:custGeom>
                <a:noFill/>
                <a:ln w="28575">
                  <a:solidFill>
                    <a:srgbClr val="92301C"/>
                  </a:solidFill>
                </a:ln>
              </p:spPr>
            </p:sp>
            <p:sp>
              <p:nvSpPr>
                <p:cNvPr id="312" name="Freeform 312"/>
                <p:cNvSpPr/>
                <p:nvPr/>
              </p:nvSpPr>
              <p:spPr>
                <a:xfrm>
                  <a:off x="3062288" y="6034088"/>
                  <a:ext cx="14288" cy="9525"/>
                </a:xfrm>
                <a:custGeom>
                  <a:avLst/>
                  <a:gdLst/>
                  <a:ahLst/>
                  <a:cxnLst/>
                  <a:rect l="l" t="t" r="r" b="b"/>
                  <a:pathLst>
                    <a:path w="14288" h="9525">
                      <a:moveTo>
                        <a:pt x="0" y="0"/>
                      </a:moveTo>
                      <a:lnTo>
                        <a:pt x="14288" y="0"/>
                      </a:lnTo>
                    </a:path>
                  </a:pathLst>
                </a:custGeom>
                <a:noFill/>
                <a:ln w="28575">
                  <a:solidFill>
                    <a:srgbClr val="92301C"/>
                  </a:solidFill>
                </a:ln>
              </p:spPr>
            </p:sp>
            <p:sp>
              <p:nvSpPr>
                <p:cNvPr id="313" name="Freeform 313"/>
                <p:cNvSpPr/>
                <p:nvPr/>
              </p:nvSpPr>
              <p:spPr>
                <a:xfrm>
                  <a:off x="3062288" y="6091238"/>
                  <a:ext cx="85725" cy="9525"/>
                </a:xfrm>
                <a:custGeom>
                  <a:avLst/>
                  <a:gdLst/>
                  <a:ahLst/>
                  <a:cxnLst/>
                  <a:rect l="l" t="t" r="r" b="b"/>
                  <a:pathLst>
                    <a:path w="85725" h="9525">
                      <a:moveTo>
                        <a:pt x="0" y="0"/>
                      </a:moveTo>
                      <a:lnTo>
                        <a:pt x="85725" y="0"/>
                      </a:lnTo>
                    </a:path>
                  </a:pathLst>
                </a:custGeom>
                <a:noFill/>
                <a:ln w="28575">
                  <a:solidFill>
                    <a:srgbClr val="92301C"/>
                  </a:solidFill>
                </a:ln>
              </p:spPr>
            </p:sp>
            <p:sp>
              <p:nvSpPr>
                <p:cNvPr id="314" name="Freeform 314"/>
                <p:cNvSpPr/>
                <p:nvPr/>
              </p:nvSpPr>
              <p:spPr>
                <a:xfrm>
                  <a:off x="3062288" y="6148388"/>
                  <a:ext cx="85725" cy="9525"/>
                </a:xfrm>
                <a:custGeom>
                  <a:avLst/>
                  <a:gdLst/>
                  <a:ahLst/>
                  <a:cxnLst/>
                  <a:rect l="l" t="t" r="r" b="b"/>
                  <a:pathLst>
                    <a:path w="85725" h="9525">
                      <a:moveTo>
                        <a:pt x="0" y="0"/>
                      </a:moveTo>
                      <a:lnTo>
                        <a:pt x="85725" y="0"/>
                      </a:lnTo>
                    </a:path>
                  </a:pathLst>
                </a:custGeom>
                <a:noFill/>
                <a:ln w="28575">
                  <a:solidFill>
                    <a:srgbClr val="92301C"/>
                  </a:solidFill>
                </a:ln>
              </p:spPr>
            </p:sp>
          </p:grpSp>
          <p:sp>
            <p:nvSpPr>
              <p:cNvPr id="316" name="TextBox 316"/>
              <p:cNvSpPr txBox="1"/>
              <p:nvPr/>
            </p:nvSpPr>
            <p:spPr>
              <a:xfrm>
                <a:off x="3405188" y="5728097"/>
                <a:ext cx="1148410"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引用溯源与证据留痕</a:t>
                </a:r>
              </a:p>
            </p:txBody>
          </p:sp>
          <p:sp>
            <p:nvSpPr>
              <p:cNvPr id="317" name="TextBox 317"/>
              <p:cNvSpPr txBox="1"/>
              <p:nvPr/>
            </p:nvSpPr>
            <p:spPr>
              <a:xfrm>
                <a:off x="3405188" y="5961936"/>
                <a:ext cx="1137552"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每一结论均标注数据来源</a:t>
                </a:r>
              </a:p>
            </p:txBody>
          </p:sp>
          <p:sp>
            <p:nvSpPr>
              <p:cNvPr id="318" name="TextBox 318"/>
              <p:cNvSpPr txBox="1"/>
              <p:nvPr/>
            </p:nvSpPr>
            <p:spPr>
              <a:xfrm>
                <a:off x="3405188" y="6133386"/>
                <a:ext cx="1137552"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支持查看原始文件与字段</a:t>
                </a:r>
              </a:p>
            </p:txBody>
          </p:sp>
          <p:sp>
            <p:nvSpPr>
              <p:cNvPr id="319" name="TextBox 319"/>
              <p:cNvSpPr txBox="1"/>
              <p:nvPr/>
            </p:nvSpPr>
            <p:spPr>
              <a:xfrm>
                <a:off x="3405188" y="6304836"/>
                <a:ext cx="1424292"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形成完整证据链，便于后续复核</a:t>
                </a:r>
              </a:p>
            </p:txBody>
          </p:sp>
        </p:grpSp>
        <p:grpSp>
          <p:nvGrpSpPr>
            <p:cNvPr id="330" name="bc-3"/>
            <p:cNvGrpSpPr/>
            <p:nvPr/>
          </p:nvGrpSpPr>
          <p:grpSpPr>
            <a:xfrm>
              <a:off x="5448300" y="5600700"/>
              <a:ext cx="2552700" cy="971550"/>
              <a:chOff x="5448300" y="5600700"/>
              <a:chExt cx="2552700" cy="971550"/>
            </a:xfrm>
          </p:grpSpPr>
          <p:sp>
            <p:nvSpPr>
              <p:cNvPr id="321" name="Rectangle 321"/>
              <p:cNvSpPr/>
              <p:nvPr/>
            </p:nvSpPr>
            <p:spPr>
              <a:xfrm>
                <a:off x="5448300" y="5600700"/>
                <a:ext cx="2552700" cy="971550"/>
              </a:xfrm>
              <a:prstGeom prst="roundRect">
                <a:avLst>
                  <a:gd name="adj" fmla="val 5882"/>
                </a:avLst>
              </a:prstGeom>
              <a:solidFill>
                <a:srgbClr val="F6F9FD"/>
              </a:solidFill>
              <a:ln w="9525">
                <a:solidFill>
                  <a:srgbClr val="CFDFEE"/>
                </a:solidFill>
              </a:ln>
            </p:spPr>
          </p:sp>
          <p:grpSp>
            <p:nvGrpSpPr>
              <p:cNvPr id="325" name="Group 325"/>
              <p:cNvGrpSpPr/>
              <p:nvPr/>
            </p:nvGrpSpPr>
            <p:grpSpPr>
              <a:xfrm>
                <a:off x="5634038" y="5948362"/>
                <a:ext cx="200025" cy="257175"/>
                <a:chOff x="5634038" y="5948362"/>
                <a:chExt cx="200025" cy="257175"/>
              </a:xfrm>
            </p:grpSpPr>
            <p:sp>
              <p:nvSpPr>
                <p:cNvPr id="322" name="Freeform 322"/>
                <p:cNvSpPr/>
                <p:nvPr/>
              </p:nvSpPr>
              <p:spPr>
                <a:xfrm>
                  <a:off x="5634038" y="6062662"/>
                  <a:ext cx="200025" cy="142875"/>
                </a:xfrm>
                <a:custGeom>
                  <a:avLst/>
                  <a:gdLst/>
                  <a:ahLst/>
                  <a:cxnLst/>
                  <a:rect l="l" t="t" r="r" b="b"/>
                  <a:pathLst>
                    <a:path w="200025" h="142875">
                      <a:moveTo>
                        <a:pt x="0" y="28575"/>
                      </a:moveTo>
                      <a:cubicBezTo>
                        <a:pt x="0" y="12793"/>
                        <a:pt x="12793" y="0"/>
                        <a:pt x="28575" y="0"/>
                      </a:cubicBezTo>
                      <a:lnTo>
                        <a:pt x="171450" y="0"/>
                      </a:lnTo>
                      <a:cubicBezTo>
                        <a:pt x="187232" y="0"/>
                        <a:pt x="200025" y="12793"/>
                        <a:pt x="200025" y="28575"/>
                      </a:cubicBezTo>
                      <a:lnTo>
                        <a:pt x="200025" y="114300"/>
                      </a:lnTo>
                      <a:cubicBezTo>
                        <a:pt x="200025" y="130082"/>
                        <a:pt x="187232" y="142875"/>
                        <a:pt x="171450" y="142875"/>
                      </a:cubicBezTo>
                      <a:lnTo>
                        <a:pt x="28575" y="142875"/>
                      </a:lnTo>
                      <a:cubicBezTo>
                        <a:pt x="12793" y="142875"/>
                        <a:pt x="0" y="130082"/>
                        <a:pt x="0" y="114300"/>
                      </a:cubicBezTo>
                      <a:lnTo>
                        <a:pt x="0" y="28575"/>
                      </a:lnTo>
                    </a:path>
                  </a:pathLst>
                </a:custGeom>
                <a:noFill/>
                <a:ln w="28575">
                  <a:solidFill>
                    <a:srgbClr val="92301C"/>
                  </a:solidFill>
                </a:ln>
              </p:spPr>
            </p:sp>
            <p:sp>
              <p:nvSpPr>
                <p:cNvPr id="323" name="Freeform 323"/>
                <p:cNvSpPr/>
                <p:nvPr/>
              </p:nvSpPr>
              <p:spPr>
                <a:xfrm>
                  <a:off x="5719762" y="61198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92301C"/>
                  </a:solidFill>
                </a:ln>
              </p:spPr>
            </p:sp>
            <p:sp>
              <p:nvSpPr>
                <p:cNvPr id="324" name="Freeform 324"/>
                <p:cNvSpPr/>
                <p:nvPr/>
              </p:nvSpPr>
              <p:spPr>
                <a:xfrm>
                  <a:off x="5676900" y="5948362"/>
                  <a:ext cx="114300" cy="114300"/>
                </a:xfrm>
                <a:custGeom>
                  <a:avLst/>
                  <a:gdLst/>
                  <a:ahLst/>
                  <a:cxnLst/>
                  <a:rect l="l" t="t" r="r" b="b"/>
                  <a:pathLst>
                    <a:path w="114300" h="114300">
                      <a:moveTo>
                        <a:pt x="0" y="114300"/>
                      </a:moveTo>
                      <a:lnTo>
                        <a:pt x="0" y="57150"/>
                      </a:lnTo>
                      <a:cubicBezTo>
                        <a:pt x="0" y="25587"/>
                        <a:pt x="25587" y="0"/>
                        <a:pt x="57150" y="0"/>
                      </a:cubicBezTo>
                      <a:cubicBezTo>
                        <a:pt x="88713" y="0"/>
                        <a:pt x="114300" y="25587"/>
                        <a:pt x="114300" y="57150"/>
                      </a:cubicBezTo>
                      <a:lnTo>
                        <a:pt x="114300" y="114300"/>
                      </a:lnTo>
                    </a:path>
                  </a:pathLst>
                </a:custGeom>
                <a:noFill/>
                <a:ln w="28575">
                  <a:solidFill>
                    <a:srgbClr val="92301C"/>
                  </a:solidFill>
                </a:ln>
              </p:spPr>
            </p:sp>
          </p:grpSp>
          <p:sp>
            <p:nvSpPr>
              <p:cNvPr id="326" name="TextBox 326"/>
              <p:cNvSpPr txBox="1"/>
              <p:nvPr/>
            </p:nvSpPr>
            <p:spPr>
              <a:xfrm>
                <a:off x="6034088" y="5728097"/>
                <a:ext cx="1148410"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数据授权与合规使用</a:t>
                </a:r>
              </a:p>
            </p:txBody>
          </p:sp>
          <p:sp>
            <p:nvSpPr>
              <p:cNvPr id="327" name="TextBox 327"/>
              <p:cNvSpPr txBox="1"/>
              <p:nvPr/>
            </p:nvSpPr>
            <p:spPr>
              <a:xfrm>
                <a:off x="6034088" y="5961936"/>
                <a:ext cx="1041972"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按需授权、最小化使用</a:t>
                </a:r>
              </a:p>
            </p:txBody>
          </p:sp>
          <p:sp>
            <p:nvSpPr>
              <p:cNvPr id="328" name="TextBox 328"/>
              <p:cNvSpPr txBox="1"/>
              <p:nvPr/>
            </p:nvSpPr>
            <p:spPr>
              <a:xfrm>
                <a:off x="6034088" y="6133386"/>
                <a:ext cx="850811"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敏感数据脱敏处理</a:t>
                </a:r>
              </a:p>
            </p:txBody>
          </p:sp>
          <p:sp>
            <p:nvSpPr>
              <p:cNvPr id="329" name="TextBox 329"/>
              <p:cNvSpPr txBox="1"/>
              <p:nvPr/>
            </p:nvSpPr>
            <p:spPr>
              <a:xfrm>
                <a:off x="6034088" y="6304836"/>
                <a:ext cx="1137552" cy="140494"/>
              </a:xfrm>
              <a:prstGeom prst="rect">
                <a:avLst/>
              </a:prstGeom>
              <a:noFill/>
              <a:ln>
                <a:noFill/>
              </a:ln>
            </p:spPr>
            <p:txBody>
              <a:bodyPr wrap="none" lIns="0" tIns="0" rIns="0" bIns="0" anchor="t" anchorCtr="0">
                <a:spAutoFit/>
              </a:bodyPr>
              <a:lstStyle/>
              <a:p>
                <a:pPr algn="l" marL="76644" indent="-76644">
                  <a:buClr>
                    <a:srgbClr val="52352F"/>
                  </a:buClr>
                  <a:buSzTx/>
                  <a:buFontTx/>
                  <a:buChar char="•"/>
                </a:pPr>
                <a:r>
                  <a:rPr lang="zh-CN" sz="710" dirty="0">
                    <a:solidFill>
                      <a:srgbClr val="52352F"/>
                    </a:solidFill>
                    <a:latin typeface="+mn-lt"/>
                    <a:ea typeface="+mn-ea"/>
                    <a:cs typeface="+mn-cs"/>
                  </a:rPr>
                  <a:t>仅限授权人员访问与使用</a:t>
                </a:r>
              </a:p>
            </p:txBody>
          </p:sp>
        </p:grpSp>
      </p:grpSp>
      <p:grpSp>
        <p:nvGrpSpPr>
          <p:cNvPr id="355" name="kpi-block"/>
          <p:cNvGrpSpPr/>
          <p:nvPr/>
        </p:nvGrpSpPr>
        <p:grpSpPr>
          <a:xfrm>
            <a:off x="8096250" y="5295900"/>
            <a:ext cx="3905250" cy="1276350"/>
            <a:chOff x="8096250" y="5295900"/>
            <a:chExt cx="3905250" cy="1276350"/>
          </a:xfrm>
        </p:grpSpPr>
        <p:sp>
          <p:nvSpPr>
            <p:cNvPr id="332" name="Rectangle 332"/>
            <p:cNvSpPr/>
            <p:nvPr/>
          </p:nvSpPr>
          <p:spPr>
            <a:xfrm>
              <a:off x="8096250" y="5295900"/>
              <a:ext cx="3905250" cy="1276350"/>
            </a:xfrm>
            <a:prstGeom prst="roundRect">
              <a:avLst>
                <a:gd name="adj" fmla="val 4478"/>
              </a:avLst>
            </a:prstGeom>
            <a:solidFill>
              <a:srgbClr val="EEF5FB"/>
            </a:solidFill>
            <a:ln>
              <a:noFill/>
            </a:ln>
          </p:spPr>
        </p:sp>
        <p:sp>
          <p:nvSpPr>
            <p:cNvPr id="333" name="TextBox 333"/>
            <p:cNvSpPr txBox="1"/>
            <p:nvPr/>
          </p:nvSpPr>
          <p:spPr>
            <a:xfrm>
              <a:off x="8224647" y="5381149"/>
              <a:ext cx="1329182"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效率提升（示例测算）</a:t>
              </a:r>
            </a:p>
          </p:txBody>
        </p:sp>
        <p:sp>
          <p:nvSpPr>
            <p:cNvPr id="334" name="TextBox 334"/>
            <p:cNvSpPr txBox="1"/>
            <p:nvPr/>
          </p:nvSpPr>
          <p:spPr>
            <a:xfrm>
              <a:off x="8243888" y="5614988"/>
              <a:ext cx="615315" cy="147638"/>
            </a:xfrm>
            <a:prstGeom prst="rect">
              <a:avLst/>
            </a:prstGeom>
            <a:noFill/>
            <a:ln>
              <a:noFill/>
            </a:ln>
          </p:spPr>
          <p:txBody>
            <a:bodyPr wrap="none" lIns="0" tIns="0" rIns="0" bIns="0" anchor="t" anchorCtr="0">
              <a:spAutoFit/>
            </a:bodyPr>
            <a:lstStyle/>
            <a:p>
              <a:pPr algn="l"/>
              <a:r>
                <a:rPr lang="zh-CN" sz="750" b="1" dirty="0">
                  <a:solidFill>
                    <a:srgbClr val="52352F"/>
                  </a:solidFill>
                  <a:latin typeface="+mn-lt"/>
                  <a:ea typeface="+mn-ea"/>
                  <a:cs typeface="+mn-cs"/>
                </a:rPr>
                <a:t>报告准备时间</a:t>
              </a:r>
            </a:p>
          </p:txBody>
        </p:sp>
        <p:sp>
          <p:nvSpPr>
            <p:cNvPr id="335" name="TextBox 335"/>
            <p:cNvSpPr txBox="1"/>
            <p:nvPr/>
          </p:nvSpPr>
          <p:spPr>
            <a:xfrm>
              <a:off x="9518142" y="5607368"/>
              <a:ext cx="437999" cy="264033"/>
            </a:xfrm>
            <a:prstGeom prst="rect">
              <a:avLst/>
            </a:prstGeom>
            <a:noFill/>
            <a:ln>
              <a:noFill/>
            </a:ln>
          </p:spPr>
          <p:txBody>
            <a:bodyPr wrap="none" lIns="0" tIns="0" rIns="0" bIns="0" anchor="t" anchorCtr="0">
              <a:spAutoFit/>
            </a:bodyPr>
            <a:lstStyle/>
            <a:p>
              <a:pPr algn="l"/>
              <a:r>
                <a:rPr lang="zh-CN" sz="1350" b="1" dirty="0">
                  <a:solidFill>
                    <a:srgbClr val="92301C"/>
                  </a:solidFill>
                  <a:latin typeface="+mj-lt"/>
                  <a:ea typeface="+mj-ea"/>
                  <a:cs typeface="+mj-cs"/>
                </a:rPr>
                <a:t>-50%</a:t>
              </a:r>
            </a:p>
          </p:txBody>
        </p:sp>
        <p:sp>
          <p:nvSpPr>
            <p:cNvPr id="336" name="Rectangle 336"/>
            <p:cNvSpPr/>
            <p:nvPr/>
          </p:nvSpPr>
          <p:spPr>
            <a:xfrm>
              <a:off x="8343900" y="5981700"/>
              <a:ext cx="419100" cy="361950"/>
            </a:xfrm>
            <a:prstGeom prst="rect">
              <a:avLst/>
            </a:prstGeom>
            <a:solidFill>
              <a:srgbClr val="92301C"/>
            </a:solidFill>
            <a:ln>
              <a:noFill/>
            </a:ln>
          </p:spPr>
        </p:sp>
        <p:sp>
          <p:nvSpPr>
            <p:cNvPr id="337" name="TextBox 337"/>
            <p:cNvSpPr txBox="1"/>
            <p:nvPr/>
          </p:nvSpPr>
          <p:spPr>
            <a:xfrm>
              <a:off x="8434460" y="5857161"/>
              <a:ext cx="23798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4.0天</a:t>
              </a:r>
            </a:p>
          </p:txBody>
        </p:sp>
        <p:sp>
          <p:nvSpPr>
            <p:cNvPr id="338" name="Rectangle 338"/>
            <p:cNvSpPr/>
            <p:nvPr/>
          </p:nvSpPr>
          <p:spPr>
            <a:xfrm>
              <a:off x="9029700" y="6162675"/>
              <a:ext cx="419100" cy="180975"/>
            </a:xfrm>
            <a:prstGeom prst="rect">
              <a:avLst/>
            </a:prstGeom>
            <a:solidFill>
              <a:srgbClr val="C87C6C"/>
            </a:solidFill>
            <a:ln>
              <a:noFill/>
            </a:ln>
          </p:spPr>
        </p:sp>
        <p:sp>
          <p:nvSpPr>
            <p:cNvPr id="339" name="TextBox 339"/>
            <p:cNvSpPr txBox="1"/>
            <p:nvPr/>
          </p:nvSpPr>
          <p:spPr>
            <a:xfrm>
              <a:off x="9120260" y="6038136"/>
              <a:ext cx="23798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2.0天</a:t>
              </a:r>
            </a:p>
          </p:txBody>
        </p:sp>
        <p:sp>
          <p:nvSpPr>
            <p:cNvPr id="340" name="Freeform 340"/>
            <p:cNvSpPr/>
            <p:nvPr/>
          </p:nvSpPr>
          <p:spPr>
            <a:xfrm>
              <a:off x="8763000" y="5810250"/>
              <a:ext cx="400050" cy="228600"/>
            </a:xfrm>
            <a:custGeom>
              <a:avLst/>
              <a:gdLst/>
              <a:ahLst/>
              <a:cxnLst/>
              <a:rect l="l" t="t" r="r" b="b"/>
              <a:pathLst>
                <a:path w="400050" h="228600">
                  <a:moveTo>
                    <a:pt x="0" y="76200"/>
                  </a:moveTo>
                  <a:cubicBezTo>
                    <a:pt x="158750" y="0"/>
                    <a:pt x="292100" y="50800"/>
                    <a:pt x="400050" y="228600"/>
                  </a:cubicBezTo>
                </a:path>
              </a:pathLst>
            </a:custGeom>
            <a:noFill/>
            <a:ln w="14288">
              <a:solidFill>
                <a:srgbClr val="B7533F"/>
              </a:solidFill>
              <a:tailEnd type="triangle" w="lg" len="lg"/>
            </a:ln>
          </p:spPr>
        </p:sp>
        <p:sp>
          <p:nvSpPr>
            <p:cNvPr id="341" name="Line 341"/>
            <p:cNvSpPr/>
            <p:nvPr/>
          </p:nvSpPr>
          <p:spPr>
            <a:xfrm>
              <a:off x="8267700" y="6353175"/>
              <a:ext cx="1638300" cy="9525"/>
            </a:xfrm>
            <a:custGeom>
              <a:avLst/>
              <a:gdLst/>
              <a:ahLst/>
              <a:cxnLst/>
              <a:rect l="l" t="t" r="r" b="b"/>
              <a:pathLst>
                <a:path w="1638300" h="9525">
                  <a:moveTo>
                    <a:pt x="0" y="0"/>
                  </a:moveTo>
                  <a:lnTo>
                    <a:pt x="1638300" y="0"/>
                  </a:lnTo>
                </a:path>
              </a:pathLst>
            </a:custGeom>
            <a:noFill/>
            <a:ln w="9525">
              <a:solidFill>
                <a:srgbClr val="E3B3A9"/>
              </a:solidFill>
            </a:ln>
          </p:spPr>
        </p:sp>
        <p:sp>
          <p:nvSpPr>
            <p:cNvPr id="342" name="TextBox 342"/>
            <p:cNvSpPr txBox="1"/>
            <p:nvPr/>
          </p:nvSpPr>
          <p:spPr>
            <a:xfrm>
              <a:off x="8405317" y="6400086"/>
              <a:ext cx="296266" cy="140494"/>
            </a:xfrm>
            <a:prstGeom prst="rect">
              <a:avLst/>
            </a:prstGeom>
            <a:noFill/>
            <a:ln>
              <a:noFill/>
            </a:ln>
          </p:spPr>
          <p:txBody>
            <a:bodyPr wrap="none" lIns="0" tIns="0" rIns="0" bIns="0" anchor="t" anchorCtr="0">
              <a:spAutoFit/>
            </a:bodyPr>
            <a:lstStyle/>
            <a:p>
              <a:pPr algn="ctr"/>
              <a:r>
                <a:rPr lang="zh-CN" sz="710" dirty="0">
                  <a:solidFill>
                    <a:srgbClr val="8C716B"/>
                  </a:solidFill>
                  <a:latin typeface="+mn-lt"/>
                  <a:ea typeface="+mn-ea"/>
                  <a:cs typeface="+mn-cs"/>
                </a:rPr>
                <a:t>优化前</a:t>
              </a:r>
            </a:p>
          </p:txBody>
        </p:sp>
        <p:sp>
          <p:nvSpPr>
            <p:cNvPr id="343" name="TextBox 343"/>
            <p:cNvSpPr txBox="1"/>
            <p:nvPr/>
          </p:nvSpPr>
          <p:spPr>
            <a:xfrm>
              <a:off x="9091117" y="6400086"/>
              <a:ext cx="296266" cy="140494"/>
            </a:xfrm>
            <a:prstGeom prst="rect">
              <a:avLst/>
            </a:prstGeom>
            <a:noFill/>
            <a:ln>
              <a:noFill/>
            </a:ln>
          </p:spPr>
          <p:txBody>
            <a:bodyPr wrap="none" lIns="0" tIns="0" rIns="0" bIns="0" anchor="t" anchorCtr="0">
              <a:spAutoFit/>
            </a:bodyPr>
            <a:lstStyle/>
            <a:p>
              <a:pPr algn="ctr"/>
              <a:r>
                <a:rPr lang="zh-CN" sz="710" dirty="0">
                  <a:solidFill>
                    <a:srgbClr val="8C716B"/>
                  </a:solidFill>
                  <a:latin typeface="+mn-lt"/>
                  <a:ea typeface="+mn-ea"/>
                  <a:cs typeface="+mn-cs"/>
                </a:rPr>
                <a:t>优化后</a:t>
              </a:r>
            </a:p>
          </p:txBody>
        </p:sp>
        <p:sp>
          <p:nvSpPr>
            <p:cNvPr id="344" name="Line 344"/>
            <p:cNvSpPr/>
            <p:nvPr/>
          </p:nvSpPr>
          <p:spPr>
            <a:xfrm>
              <a:off x="10020300" y="5619750"/>
              <a:ext cx="9525" cy="895350"/>
            </a:xfrm>
            <a:custGeom>
              <a:avLst/>
              <a:gdLst/>
              <a:ahLst/>
              <a:cxnLst/>
              <a:rect l="l" t="t" r="r" b="b"/>
              <a:pathLst>
                <a:path w="9525" h="895350">
                  <a:moveTo>
                    <a:pt x="0" y="0"/>
                  </a:moveTo>
                  <a:lnTo>
                    <a:pt x="0" y="895350"/>
                  </a:lnTo>
                </a:path>
              </a:pathLst>
            </a:custGeom>
            <a:noFill/>
            <a:ln w="9525">
              <a:solidFill>
                <a:srgbClr val="CFDFEE"/>
              </a:solidFill>
              <a:custDash>
                <a:ds d="300000" sp="300000"/>
              </a:custDash>
            </a:ln>
          </p:spPr>
        </p:sp>
        <p:sp>
          <p:nvSpPr>
            <p:cNvPr id="345" name="TextBox 345"/>
            <p:cNvSpPr txBox="1"/>
            <p:nvPr/>
          </p:nvSpPr>
          <p:spPr>
            <a:xfrm>
              <a:off x="10148888" y="5614988"/>
              <a:ext cx="716280" cy="147638"/>
            </a:xfrm>
            <a:prstGeom prst="rect">
              <a:avLst/>
            </a:prstGeom>
            <a:noFill/>
            <a:ln>
              <a:noFill/>
            </a:ln>
          </p:spPr>
          <p:txBody>
            <a:bodyPr wrap="none" lIns="0" tIns="0" rIns="0" bIns="0" anchor="t" anchorCtr="0">
              <a:spAutoFit/>
            </a:bodyPr>
            <a:lstStyle/>
            <a:p>
              <a:pPr algn="l"/>
              <a:r>
                <a:rPr lang="zh-CN" sz="750" b="1" dirty="0">
                  <a:solidFill>
                    <a:srgbClr val="52352F"/>
                  </a:solidFill>
                  <a:latin typeface="+mn-lt"/>
                  <a:ea typeface="+mn-ea"/>
                  <a:cs typeface="+mn-cs"/>
                </a:rPr>
                <a:t>数据核验覆盖率</a:t>
              </a:r>
            </a:p>
          </p:txBody>
        </p:sp>
        <p:sp>
          <p:nvSpPr>
            <p:cNvPr id="346" name="TextBox 346"/>
            <p:cNvSpPr txBox="1"/>
            <p:nvPr/>
          </p:nvSpPr>
          <p:spPr>
            <a:xfrm>
              <a:off x="11213592" y="5607368"/>
              <a:ext cx="594620" cy="264033"/>
            </a:xfrm>
            <a:prstGeom prst="rect">
              <a:avLst/>
            </a:prstGeom>
            <a:noFill/>
            <a:ln>
              <a:noFill/>
            </a:ln>
          </p:spPr>
          <p:txBody>
            <a:bodyPr wrap="none" lIns="0" tIns="0" rIns="0" bIns="0" anchor="t" anchorCtr="0">
              <a:spAutoFit/>
            </a:bodyPr>
            <a:lstStyle/>
            <a:p>
              <a:pPr algn="l"/>
              <a:r>
                <a:rPr lang="en-US" sz="1350" b="1" dirty="0">
                  <a:solidFill>
                    <a:srgbClr val="92301C"/>
                  </a:solidFill>
                  <a:latin typeface="+mj-lt"/>
                  <a:ea typeface="+mj-ea"/>
                  <a:cs typeface="+mj-cs"/>
                </a:rPr>
                <a:t>+20pct</a:t>
              </a:r>
            </a:p>
          </p:txBody>
        </p:sp>
        <p:sp>
          <p:nvSpPr>
            <p:cNvPr id="347" name="Rectangle 347"/>
            <p:cNvSpPr/>
            <p:nvPr/>
          </p:nvSpPr>
          <p:spPr>
            <a:xfrm>
              <a:off x="10248900" y="6124575"/>
              <a:ext cx="419100" cy="219075"/>
            </a:xfrm>
            <a:prstGeom prst="rect">
              <a:avLst/>
            </a:prstGeom>
            <a:solidFill>
              <a:srgbClr val="92301C"/>
            </a:solidFill>
            <a:ln>
              <a:noFill/>
            </a:ln>
          </p:spPr>
        </p:sp>
        <p:sp>
          <p:nvSpPr>
            <p:cNvPr id="348" name="TextBox 348"/>
            <p:cNvSpPr txBox="1"/>
            <p:nvPr/>
          </p:nvSpPr>
          <p:spPr>
            <a:xfrm>
              <a:off x="10358031" y="6000036"/>
              <a:ext cx="200838"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60%</a:t>
              </a:r>
            </a:p>
          </p:txBody>
        </p:sp>
        <p:sp>
          <p:nvSpPr>
            <p:cNvPr id="349" name="Rectangle 349"/>
            <p:cNvSpPr/>
            <p:nvPr/>
          </p:nvSpPr>
          <p:spPr>
            <a:xfrm>
              <a:off x="10934700" y="6057900"/>
              <a:ext cx="419100" cy="285750"/>
            </a:xfrm>
            <a:prstGeom prst="rect">
              <a:avLst/>
            </a:prstGeom>
            <a:solidFill>
              <a:srgbClr val="C87C6C"/>
            </a:solidFill>
            <a:ln>
              <a:noFill/>
            </a:ln>
          </p:spPr>
        </p:sp>
        <p:sp>
          <p:nvSpPr>
            <p:cNvPr id="350" name="TextBox 350"/>
            <p:cNvSpPr txBox="1"/>
            <p:nvPr/>
          </p:nvSpPr>
          <p:spPr>
            <a:xfrm>
              <a:off x="11043831" y="5933361"/>
              <a:ext cx="200838"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80%</a:t>
              </a:r>
            </a:p>
          </p:txBody>
        </p:sp>
        <p:sp>
          <p:nvSpPr>
            <p:cNvPr id="351" name="Freeform 351"/>
            <p:cNvSpPr/>
            <p:nvPr/>
          </p:nvSpPr>
          <p:spPr>
            <a:xfrm>
              <a:off x="10668000" y="5854700"/>
              <a:ext cx="381000" cy="107950"/>
            </a:xfrm>
            <a:custGeom>
              <a:avLst/>
              <a:gdLst/>
              <a:ahLst/>
              <a:cxnLst/>
              <a:rect l="l" t="t" r="r" b="b"/>
              <a:pathLst>
                <a:path w="381000" h="107950">
                  <a:moveTo>
                    <a:pt x="0" y="107950"/>
                  </a:moveTo>
                  <a:cubicBezTo>
                    <a:pt x="127000" y="6350"/>
                    <a:pt x="254000" y="0"/>
                    <a:pt x="381000" y="88900"/>
                  </a:cubicBezTo>
                </a:path>
              </a:pathLst>
            </a:custGeom>
            <a:noFill/>
            <a:ln w="14288">
              <a:solidFill>
                <a:srgbClr val="B7533F"/>
              </a:solidFill>
              <a:tailEnd type="triangle" w="lg" len="lg"/>
            </a:ln>
          </p:spPr>
        </p:sp>
        <p:sp>
          <p:nvSpPr>
            <p:cNvPr id="352" name="Line 352"/>
            <p:cNvSpPr/>
            <p:nvPr/>
          </p:nvSpPr>
          <p:spPr>
            <a:xfrm>
              <a:off x="10172700" y="6353175"/>
              <a:ext cx="1638300" cy="9525"/>
            </a:xfrm>
            <a:custGeom>
              <a:avLst/>
              <a:gdLst/>
              <a:ahLst/>
              <a:cxnLst/>
              <a:rect l="l" t="t" r="r" b="b"/>
              <a:pathLst>
                <a:path w="1638300" h="9525">
                  <a:moveTo>
                    <a:pt x="0" y="0"/>
                  </a:moveTo>
                  <a:lnTo>
                    <a:pt x="1638300" y="0"/>
                  </a:lnTo>
                </a:path>
              </a:pathLst>
            </a:custGeom>
            <a:noFill/>
            <a:ln w="9525">
              <a:solidFill>
                <a:srgbClr val="E3B3A9"/>
              </a:solidFill>
            </a:ln>
          </p:spPr>
        </p:sp>
        <p:sp>
          <p:nvSpPr>
            <p:cNvPr id="353" name="TextBox 353"/>
            <p:cNvSpPr txBox="1"/>
            <p:nvPr/>
          </p:nvSpPr>
          <p:spPr>
            <a:xfrm>
              <a:off x="10310317" y="6400086"/>
              <a:ext cx="296266" cy="140494"/>
            </a:xfrm>
            <a:prstGeom prst="rect">
              <a:avLst/>
            </a:prstGeom>
            <a:noFill/>
            <a:ln>
              <a:noFill/>
            </a:ln>
          </p:spPr>
          <p:txBody>
            <a:bodyPr wrap="none" lIns="0" tIns="0" rIns="0" bIns="0" anchor="t" anchorCtr="0">
              <a:spAutoFit/>
            </a:bodyPr>
            <a:lstStyle/>
            <a:p>
              <a:pPr algn="ctr"/>
              <a:r>
                <a:rPr lang="zh-CN" sz="710" dirty="0">
                  <a:solidFill>
                    <a:srgbClr val="8C716B"/>
                  </a:solidFill>
                  <a:latin typeface="+mn-lt"/>
                  <a:ea typeface="+mn-ea"/>
                  <a:cs typeface="+mn-cs"/>
                </a:rPr>
                <a:t>优化前</a:t>
              </a:r>
            </a:p>
          </p:txBody>
        </p:sp>
        <p:sp>
          <p:nvSpPr>
            <p:cNvPr id="354" name="TextBox 354"/>
            <p:cNvSpPr txBox="1"/>
            <p:nvPr/>
          </p:nvSpPr>
          <p:spPr>
            <a:xfrm>
              <a:off x="10996117" y="6400086"/>
              <a:ext cx="296266" cy="140494"/>
            </a:xfrm>
            <a:prstGeom prst="rect">
              <a:avLst/>
            </a:prstGeom>
            <a:noFill/>
            <a:ln>
              <a:noFill/>
            </a:ln>
          </p:spPr>
          <p:txBody>
            <a:bodyPr wrap="none" lIns="0" tIns="0" rIns="0" bIns="0" anchor="t" anchorCtr="0">
              <a:spAutoFit/>
            </a:bodyPr>
            <a:lstStyle/>
            <a:p>
              <a:pPr algn="ctr"/>
              <a:r>
                <a:rPr lang="zh-CN" sz="710" dirty="0">
                  <a:solidFill>
                    <a:srgbClr val="8C716B"/>
                  </a:solidFill>
                  <a:latin typeface="+mn-lt"/>
                  <a:ea typeface="+mn-ea"/>
                  <a:cs typeface="+mn-cs"/>
                </a:rPr>
                <a:t>优化后</a:t>
              </a:r>
            </a:p>
          </p:txBody>
        </p:sp>
      </p:grpSp>
      <p:grpSp>
        <p:nvGrpSpPr>
          <p:cNvPr id="359" name="footer-right"/>
          <p:cNvGrpSpPr/>
          <p:nvPr/>
        </p:nvGrpSpPr>
        <p:grpSpPr>
          <a:xfrm>
            <a:off x="7755090" y="6686074"/>
            <a:ext cx="4156113" cy="190690"/>
            <a:chOff x="7755090" y="6686074"/>
            <a:chExt cx="4156113" cy="190690"/>
          </a:xfrm>
        </p:grpSpPr>
        <p:sp>
          <p:nvSpPr>
            <p:cNvPr id="356" name="TextBox 356"/>
            <p:cNvSpPr txBox="1"/>
            <p:nvPr/>
          </p:nvSpPr>
          <p:spPr>
            <a:xfrm>
              <a:off x="7755090" y="6714411"/>
              <a:ext cx="3641573" cy="140494"/>
            </a:xfrm>
            <a:prstGeom prst="rect">
              <a:avLst/>
            </a:prstGeom>
            <a:noFill/>
            <a:ln>
              <a:noFill/>
            </a:ln>
          </p:spPr>
          <p:txBody>
            <a:bodyPr wrap="none" lIns="0" tIns="0" rIns="0" bIns="0" anchor="t" anchorCtr="0">
              <a:spAutoFit/>
            </a:bodyPr>
            <a:lstStyle/>
            <a:p>
              <a:pPr algn="r"/>
              <a:r>
                <a:rPr lang="zh-CN" sz="710" dirty="0">
                  <a:solidFill>
                    <a:srgbClr val="8C716B"/>
                  </a:solidFill>
                  <a:latin typeface="+mn-lt"/>
                  <a:ea typeface="+mn-ea"/>
                  <a:cs typeface="+mn-cs"/>
                </a:rPr>
                <a:t>注：以上为示例测算，实际效果以具体项目为准；授信等决策建议需由授权人员确认。</a:t>
              </a:r>
            </a:p>
          </p:txBody>
        </p:sp>
        <p:sp>
          <p:nvSpPr>
            <p:cNvPr id="357" name="Line 357"/>
            <p:cNvSpPr/>
            <p:nvPr/>
          </p:nvSpPr>
          <p:spPr>
            <a:xfrm>
              <a:off x="11544300" y="6686550"/>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58" name="TextBox 358"/>
            <p:cNvSpPr txBox="1"/>
            <p:nvPr/>
          </p:nvSpPr>
          <p:spPr>
            <a:xfrm>
              <a:off x="11754541" y="6686074"/>
              <a:ext cx="156662" cy="190690"/>
            </a:xfrm>
            <a:prstGeom prst="rect">
              <a:avLst/>
            </a:prstGeom>
            <a:noFill/>
            <a:ln>
              <a:noFill/>
            </a:ln>
          </p:spPr>
          <p:txBody>
            <a:bodyPr wrap="none" lIns="0" tIns="0" rIns="0" bIns="0" anchor="t" anchorCtr="0">
              <a:spAutoFit/>
            </a:bodyPr>
            <a:lstStyle/>
            <a:p>
              <a:pPr algn="r"/>
              <a:r>
                <a:rPr lang="zh-CN" sz="980" b="1" dirty="0">
                  <a:solidFill>
                    <a:srgbClr val="6B1B0B"/>
                  </a:solidFill>
                  <a:latin typeface="+mj-lt"/>
                  <a:ea typeface="+mj-ea"/>
                  <a:cs typeface="+mj-cs"/>
                </a:rPr>
                <a:t>05</a:t>
              </a:r>
            </a:p>
          </p:txBody>
        </p:sp>
      </p:gr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05</a:t>
              </a:r>
            </a:p>
          </p:txBody>
        </p:sp>
        <p:sp>
          <p:nvSpPr>
            <p:cNvPr id="4" name="TextBox 4"/>
            <p:cNvSpPr txBox="1"/>
            <p:nvPr/>
          </p:nvSpPr>
          <p:spPr>
            <a:xfrm>
              <a:off x="942594" y="170498"/>
              <a:ext cx="5795010"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授信审批智能体</a:t>
              </a:r>
              <a:r>
                <a:rPr lang="zh-CN" sz="1950" b="1" dirty="0">
                  <a:solidFill>
                    <a:srgbClr val="92301C"/>
                  </a:solidFill>
                  <a:latin typeface="+mn-lt"/>
                  <a:ea typeface="+mn-ea"/>
                  <a:cs typeface="+mn-cs"/>
                </a:rPr>
                <a:t>｜统一政策、评分与例外事项审查</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信贷风控 · 05</a:t>
              </a:r>
            </a:p>
          </p:txBody>
        </p:sp>
        <p:sp>
          <p:nvSpPr>
            <p:cNvPr id="6" name="TextBox 6"/>
            <p:cNvSpPr txBox="1"/>
            <p:nvPr/>
          </p:nvSpPr>
          <p:spPr>
            <a:xfrm>
              <a:off x="10401490" y="334089"/>
              <a:ext cx="1604772"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以数据驱动风控　以专业创造价值</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1" name="col1-head"/>
          <p:cNvGrpSpPr/>
          <p:nvPr/>
        </p:nvGrpSpPr>
        <p:grpSpPr>
          <a:xfrm>
            <a:off x="190500" y="628650"/>
            <a:ext cx="3048000" cy="279559"/>
            <a:chOff x="190500" y="628650"/>
            <a:chExt cx="3048000" cy="279559"/>
          </a:xfrm>
        </p:grpSpPr>
        <p:sp>
          <p:nvSpPr>
            <p:cNvPr id="9" name="Rectangle 9"/>
            <p:cNvSpPr/>
            <p:nvPr/>
          </p:nvSpPr>
          <p:spPr>
            <a:xfrm>
              <a:off x="190500" y="628650"/>
              <a:ext cx="3048000" cy="266700"/>
            </a:xfrm>
            <a:prstGeom prst="rect">
              <a:avLst/>
            </a:prstGeom>
            <a:gradFill>
              <a:gsLst>
                <a:gs pos="0">
                  <a:srgbClr val="92301C"/>
                </a:gs>
                <a:gs pos="100000">
                  <a:srgbClr val="B7533F"/>
                </a:gs>
              </a:gsLst>
              <a:lin ang="0" scaled="1"/>
            </a:gradFill>
            <a:ln>
              <a:noFill/>
            </a:ln>
          </p:spPr>
        </p:sp>
        <p:sp>
          <p:nvSpPr>
            <p:cNvPr id="10" name="TextBox 10"/>
            <p:cNvSpPr txBox="1"/>
            <p:nvPr/>
          </p:nvSpPr>
          <p:spPr>
            <a:xfrm>
              <a:off x="318135" y="688181"/>
              <a:ext cx="13684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多维数据与规则输入</a:t>
              </a:r>
            </a:p>
          </p:txBody>
        </p:sp>
      </p:grpSp>
      <p:grpSp>
        <p:nvGrpSpPr>
          <p:cNvPr id="14" name="col2-head"/>
          <p:cNvGrpSpPr/>
          <p:nvPr/>
        </p:nvGrpSpPr>
        <p:grpSpPr>
          <a:xfrm>
            <a:off x="3333750" y="628650"/>
            <a:ext cx="5143500" cy="279559"/>
            <a:chOff x="3333750" y="628650"/>
            <a:chExt cx="5143500" cy="279559"/>
          </a:xfrm>
        </p:grpSpPr>
        <p:sp>
          <p:nvSpPr>
            <p:cNvPr id="12" name="Rectangle 12"/>
            <p:cNvSpPr/>
            <p:nvPr/>
          </p:nvSpPr>
          <p:spPr>
            <a:xfrm>
              <a:off x="3333750" y="628650"/>
              <a:ext cx="5143500" cy="266700"/>
            </a:xfrm>
            <a:prstGeom prst="rect">
              <a:avLst/>
            </a:prstGeom>
            <a:gradFill>
              <a:gsLst>
                <a:gs pos="0">
                  <a:srgbClr val="92301C"/>
                </a:gs>
                <a:gs pos="100000">
                  <a:srgbClr val="B7533F"/>
                </a:gs>
              </a:gsLst>
              <a:lin ang="0" scaled="1"/>
            </a:gradFill>
            <a:ln>
              <a:noFill/>
            </a:ln>
          </p:spPr>
        </p:sp>
        <p:sp>
          <p:nvSpPr>
            <p:cNvPr id="13" name="TextBox 13"/>
            <p:cNvSpPr txBox="1"/>
            <p:nvPr/>
          </p:nvSpPr>
          <p:spPr>
            <a:xfrm>
              <a:off x="3461385" y="688181"/>
              <a:ext cx="13684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授信审批智能体流程</a:t>
              </a:r>
            </a:p>
          </p:txBody>
        </p:sp>
      </p:grpSp>
      <p:grpSp>
        <p:nvGrpSpPr>
          <p:cNvPr id="17" name="col3-head"/>
          <p:cNvGrpSpPr/>
          <p:nvPr/>
        </p:nvGrpSpPr>
        <p:grpSpPr>
          <a:xfrm>
            <a:off x="8572500" y="628650"/>
            <a:ext cx="3429000" cy="279559"/>
            <a:chOff x="8572500" y="628650"/>
            <a:chExt cx="3429000" cy="279559"/>
          </a:xfrm>
        </p:grpSpPr>
        <p:sp>
          <p:nvSpPr>
            <p:cNvPr id="15" name="Rectangle 15"/>
            <p:cNvSpPr/>
            <p:nvPr/>
          </p:nvSpPr>
          <p:spPr>
            <a:xfrm>
              <a:off x="8572500" y="628650"/>
              <a:ext cx="3429000" cy="266700"/>
            </a:xfrm>
            <a:prstGeom prst="rect">
              <a:avLst/>
            </a:prstGeom>
            <a:gradFill>
              <a:gsLst>
                <a:gs pos="0">
                  <a:srgbClr val="92301C"/>
                </a:gs>
                <a:gs pos="100000">
                  <a:srgbClr val="B7533F"/>
                </a:gs>
              </a:gsLst>
              <a:lin ang="0" scaled="1"/>
            </a:gradFill>
            <a:ln>
              <a:noFill/>
            </a:ln>
          </p:spPr>
        </p:sp>
        <p:sp>
          <p:nvSpPr>
            <p:cNvPr id="16" name="TextBox 16"/>
            <p:cNvSpPr txBox="1"/>
            <p:nvPr/>
          </p:nvSpPr>
          <p:spPr>
            <a:xfrm>
              <a:off x="8700135" y="688181"/>
              <a:ext cx="1519174"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风险收益矩阵（示例）</a:t>
              </a:r>
            </a:p>
          </p:txBody>
        </p:sp>
      </p:grpSp>
      <p:grpSp>
        <p:nvGrpSpPr>
          <p:cNvPr id="131" name="left-blocks"/>
          <p:cNvGrpSpPr/>
          <p:nvPr/>
        </p:nvGrpSpPr>
        <p:grpSpPr>
          <a:xfrm>
            <a:off x="190500" y="990600"/>
            <a:ext cx="3048000" cy="4152900"/>
            <a:chOff x="190500" y="990600"/>
            <a:chExt cx="3048000" cy="4152900"/>
          </a:xfrm>
        </p:grpSpPr>
        <p:grpSp>
          <p:nvGrpSpPr>
            <p:cNvPr id="47" name="lb-1"/>
            <p:cNvGrpSpPr/>
            <p:nvPr/>
          </p:nvGrpSpPr>
          <p:grpSpPr>
            <a:xfrm>
              <a:off x="190500" y="990600"/>
              <a:ext cx="3048000" cy="1012984"/>
              <a:chOff x="190500" y="990600"/>
              <a:chExt cx="3048000" cy="1012984"/>
            </a:xfrm>
          </p:grpSpPr>
          <p:sp>
            <p:nvSpPr>
              <p:cNvPr id="18" name="Rectangle 18"/>
              <p:cNvSpPr/>
              <p:nvPr/>
            </p:nvSpPr>
            <p:spPr>
              <a:xfrm>
                <a:off x="190500" y="990600"/>
                <a:ext cx="3048000" cy="1009650"/>
              </a:xfrm>
              <a:prstGeom prst="roundRect">
                <a:avLst>
                  <a:gd name="adj" fmla="val 5660"/>
                </a:avLst>
              </a:prstGeom>
              <a:solidFill>
                <a:srgbClr val="F6F9FD"/>
              </a:solidFill>
              <a:ln w="9525">
                <a:solidFill>
                  <a:srgbClr val="CFDFEE"/>
                </a:solidFill>
              </a:ln>
            </p:spPr>
          </p:sp>
          <p:grpSp>
            <p:nvGrpSpPr>
              <p:cNvPr id="24" name="Group 24"/>
              <p:cNvGrpSpPr/>
              <p:nvPr/>
            </p:nvGrpSpPr>
            <p:grpSpPr>
              <a:xfrm>
                <a:off x="459581" y="1197769"/>
                <a:ext cx="166688" cy="214312"/>
                <a:chOff x="459581" y="1197769"/>
                <a:chExt cx="166688" cy="214312"/>
              </a:xfrm>
            </p:grpSpPr>
            <p:sp>
              <p:nvSpPr>
                <p:cNvPr id="19" name="Freeform 19"/>
                <p:cNvSpPr/>
                <p:nvPr/>
              </p:nvSpPr>
              <p:spPr>
                <a:xfrm>
                  <a:off x="566738" y="1197769"/>
                  <a:ext cx="59531" cy="59531"/>
                </a:xfrm>
                <a:custGeom>
                  <a:avLst/>
                  <a:gdLst/>
                  <a:ahLst/>
                  <a:cxnLst/>
                  <a:rect l="l" t="t" r="r" b="b"/>
                  <a:pathLst>
                    <a:path w="59531" h="59531">
                      <a:moveTo>
                        <a:pt x="0" y="0"/>
                      </a:moveTo>
                      <a:lnTo>
                        <a:pt x="0" y="47625"/>
                      </a:lnTo>
                      <a:cubicBezTo>
                        <a:pt x="0" y="54201"/>
                        <a:pt x="5331" y="59531"/>
                        <a:pt x="11906" y="59531"/>
                      </a:cubicBezTo>
                      <a:lnTo>
                        <a:pt x="59531" y="59531"/>
                      </a:lnTo>
                    </a:path>
                  </a:pathLst>
                </a:custGeom>
                <a:noFill/>
                <a:ln w="23812">
                  <a:solidFill>
                    <a:srgbClr val="92301C"/>
                  </a:solidFill>
                </a:ln>
              </p:spPr>
            </p:sp>
            <p:sp>
              <p:nvSpPr>
                <p:cNvPr id="20" name="Freeform 20"/>
                <p:cNvSpPr/>
                <p:nvPr/>
              </p:nvSpPr>
              <p:spPr>
                <a:xfrm>
                  <a:off x="459581" y="1197769"/>
                  <a:ext cx="166688" cy="214312"/>
                </a:xfrm>
                <a:custGeom>
                  <a:avLst/>
                  <a:gdLst/>
                  <a:ahLst/>
                  <a:cxnLst/>
                  <a:rect l="l" t="t" r="r" b="b"/>
                  <a:pathLst>
                    <a:path w="166688" h="214312">
                      <a:moveTo>
                        <a:pt x="142875" y="214312"/>
                      </a:moveTo>
                      <a:lnTo>
                        <a:pt x="23812" y="214312"/>
                      </a:lnTo>
                      <a:cubicBezTo>
                        <a:pt x="10661" y="214312"/>
                        <a:pt x="0" y="203651"/>
                        <a:pt x="0" y="190500"/>
                      </a:cubicBezTo>
                      <a:lnTo>
                        <a:pt x="0" y="23812"/>
                      </a:lnTo>
                      <a:cubicBezTo>
                        <a:pt x="0" y="10661"/>
                        <a:pt x="10661" y="0"/>
                        <a:pt x="23812" y="0"/>
                      </a:cubicBezTo>
                      <a:lnTo>
                        <a:pt x="107156" y="0"/>
                      </a:lnTo>
                      <a:lnTo>
                        <a:pt x="166688" y="59531"/>
                      </a:lnTo>
                      <a:lnTo>
                        <a:pt x="166688" y="190500"/>
                      </a:lnTo>
                      <a:cubicBezTo>
                        <a:pt x="166688" y="203651"/>
                        <a:pt x="156026" y="214312"/>
                        <a:pt x="142875" y="214312"/>
                      </a:cubicBezTo>
                    </a:path>
                  </a:pathLst>
                </a:custGeom>
                <a:noFill/>
                <a:ln w="23812">
                  <a:solidFill>
                    <a:srgbClr val="92301C"/>
                  </a:solidFill>
                </a:ln>
              </p:spPr>
            </p:sp>
            <p:sp>
              <p:nvSpPr>
                <p:cNvPr id="21" name="Freeform 21"/>
                <p:cNvSpPr/>
                <p:nvPr/>
              </p:nvSpPr>
              <p:spPr>
                <a:xfrm>
                  <a:off x="507206" y="1269206"/>
                  <a:ext cx="11906" cy="9525"/>
                </a:xfrm>
                <a:custGeom>
                  <a:avLst/>
                  <a:gdLst/>
                  <a:ahLst/>
                  <a:cxnLst/>
                  <a:rect l="l" t="t" r="r" b="b"/>
                  <a:pathLst>
                    <a:path w="11906" h="9525">
                      <a:moveTo>
                        <a:pt x="0" y="0"/>
                      </a:moveTo>
                      <a:lnTo>
                        <a:pt x="11906" y="0"/>
                      </a:lnTo>
                    </a:path>
                  </a:pathLst>
                </a:custGeom>
                <a:noFill/>
                <a:ln w="23812">
                  <a:solidFill>
                    <a:srgbClr val="92301C"/>
                  </a:solidFill>
                </a:ln>
              </p:spPr>
            </p:sp>
            <p:sp>
              <p:nvSpPr>
                <p:cNvPr id="22" name="Freeform 22"/>
                <p:cNvSpPr/>
                <p:nvPr/>
              </p:nvSpPr>
              <p:spPr>
                <a:xfrm>
                  <a:off x="507206" y="1316831"/>
                  <a:ext cx="71438" cy="9525"/>
                </a:xfrm>
                <a:custGeom>
                  <a:avLst/>
                  <a:gdLst/>
                  <a:ahLst/>
                  <a:cxnLst/>
                  <a:rect l="l" t="t" r="r" b="b"/>
                  <a:pathLst>
                    <a:path w="71438" h="9525">
                      <a:moveTo>
                        <a:pt x="0" y="0"/>
                      </a:moveTo>
                      <a:lnTo>
                        <a:pt x="71438" y="0"/>
                      </a:lnTo>
                    </a:path>
                  </a:pathLst>
                </a:custGeom>
                <a:noFill/>
                <a:ln w="23812">
                  <a:solidFill>
                    <a:srgbClr val="92301C"/>
                  </a:solidFill>
                </a:ln>
              </p:spPr>
            </p:sp>
            <p:sp>
              <p:nvSpPr>
                <p:cNvPr id="23" name="Freeform 23"/>
                <p:cNvSpPr/>
                <p:nvPr/>
              </p:nvSpPr>
              <p:spPr>
                <a:xfrm>
                  <a:off x="507206" y="1364456"/>
                  <a:ext cx="71438" cy="9525"/>
                </a:xfrm>
                <a:custGeom>
                  <a:avLst/>
                  <a:gdLst/>
                  <a:ahLst/>
                  <a:cxnLst/>
                  <a:rect l="l" t="t" r="r" b="b"/>
                  <a:pathLst>
                    <a:path w="71438" h="9525">
                      <a:moveTo>
                        <a:pt x="0" y="0"/>
                      </a:moveTo>
                      <a:lnTo>
                        <a:pt x="71438" y="0"/>
                      </a:lnTo>
                    </a:path>
                  </a:pathLst>
                </a:custGeom>
                <a:noFill/>
                <a:ln w="23812">
                  <a:solidFill>
                    <a:srgbClr val="92301C"/>
                  </a:solidFill>
                </a:ln>
              </p:spPr>
            </p:sp>
          </p:grpSp>
          <p:sp>
            <p:nvSpPr>
              <p:cNvPr id="25" name="TextBox 25"/>
              <p:cNvSpPr txBox="1"/>
              <p:nvPr/>
            </p:nvSpPr>
            <p:spPr>
              <a:xfrm>
                <a:off x="248729" y="1602343"/>
                <a:ext cx="588391" cy="169069"/>
              </a:xfrm>
              <a:prstGeom prst="rect">
                <a:avLst/>
              </a:prstGeom>
              <a:noFill/>
              <a:ln>
                <a:noFill/>
              </a:ln>
            </p:spPr>
            <p:txBody>
              <a:bodyPr wrap="none" lIns="0" tIns="0" rIns="0" bIns="0" anchor="t" anchorCtr="0">
                <a:spAutoFit/>
              </a:bodyPr>
              <a:lstStyle/>
              <a:p>
                <a:pPr algn="ctr"/>
                <a:r>
                  <a:rPr lang="zh-CN" sz="860" b="1" dirty="0">
                    <a:solidFill>
                      <a:srgbClr val="6B1B0B"/>
                    </a:solidFill>
                    <a:latin typeface="+mn-lt"/>
                    <a:ea typeface="+mn-ea"/>
                    <a:cs typeface="+mn-cs"/>
                  </a:rPr>
                  <a:t>授信政策树</a:t>
                </a:r>
              </a:p>
            </p:txBody>
          </p:sp>
          <p:sp>
            <p:nvSpPr>
              <p:cNvPr id="26" name="Line 26"/>
              <p:cNvSpPr/>
              <p:nvPr/>
            </p:nvSpPr>
            <p:spPr>
              <a:xfrm>
                <a:off x="971550" y="1162050"/>
                <a:ext cx="9525" cy="742950"/>
              </a:xfrm>
              <a:custGeom>
                <a:avLst/>
                <a:gdLst/>
                <a:ahLst/>
                <a:cxnLst/>
                <a:rect l="l" t="t" r="r" b="b"/>
                <a:pathLst>
                  <a:path w="9525" h="742950">
                    <a:moveTo>
                      <a:pt x="0" y="0"/>
                    </a:moveTo>
                    <a:lnTo>
                      <a:pt x="0" y="742950"/>
                    </a:lnTo>
                  </a:path>
                </a:pathLst>
              </a:custGeom>
              <a:noFill/>
              <a:ln w="9525">
                <a:solidFill>
                  <a:srgbClr val="E3B3A9"/>
                </a:solidFill>
              </a:ln>
            </p:spPr>
          </p:sp>
          <p:sp>
            <p:nvSpPr>
              <p:cNvPr id="27" name="TextBox 27"/>
              <p:cNvSpPr txBox="1"/>
              <p:nvPr/>
            </p:nvSpPr>
            <p:spPr>
              <a:xfrm>
                <a:off x="1023938" y="1070134"/>
                <a:ext cx="558775"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总行授信政策</a:t>
                </a:r>
              </a:p>
            </p:txBody>
          </p:sp>
          <p:sp>
            <p:nvSpPr>
              <p:cNvPr id="28" name="TextBox 28"/>
              <p:cNvSpPr txBox="1"/>
              <p:nvPr/>
            </p:nvSpPr>
            <p:spPr>
              <a:xfrm>
                <a:off x="1023938" y="1203484"/>
                <a:ext cx="451891"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行业政策</a:t>
                </a:r>
              </a:p>
            </p:txBody>
          </p:sp>
          <p:sp>
            <p:nvSpPr>
              <p:cNvPr id="29" name="TextBox 29"/>
              <p:cNvSpPr txBox="1"/>
              <p:nvPr/>
            </p:nvSpPr>
            <p:spPr>
              <a:xfrm>
                <a:off x="1023938" y="133683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客户准入政策</a:t>
                </a:r>
              </a:p>
            </p:txBody>
          </p:sp>
          <p:sp>
            <p:nvSpPr>
              <p:cNvPr id="30" name="TextBox 30"/>
              <p:cNvSpPr txBox="1"/>
              <p:nvPr/>
            </p:nvSpPr>
            <p:spPr>
              <a:xfrm>
                <a:off x="1023938" y="1470184"/>
                <a:ext cx="451891"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产品政策</a:t>
                </a:r>
              </a:p>
            </p:txBody>
          </p:sp>
          <p:sp>
            <p:nvSpPr>
              <p:cNvPr id="31" name="TextBox 31"/>
              <p:cNvSpPr txBox="1"/>
              <p:nvPr/>
            </p:nvSpPr>
            <p:spPr>
              <a:xfrm>
                <a:off x="1023938" y="160353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区域与名单管理</a:t>
                </a:r>
              </a:p>
            </p:txBody>
          </p:sp>
          <p:sp>
            <p:nvSpPr>
              <p:cNvPr id="32" name="TextBox 32"/>
              <p:cNvSpPr txBox="1"/>
              <p:nvPr/>
            </p:nvSpPr>
            <p:spPr>
              <a:xfrm>
                <a:off x="1023938" y="173688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风险偏好与限额</a:t>
                </a:r>
              </a:p>
            </p:txBody>
          </p:sp>
          <p:sp>
            <p:nvSpPr>
              <p:cNvPr id="33" name="TextBox 33"/>
              <p:cNvSpPr txBox="1"/>
              <p:nvPr/>
            </p:nvSpPr>
            <p:spPr>
              <a:xfrm>
                <a:off x="1023938" y="187023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其他专项政策</a:t>
                </a:r>
              </a:p>
            </p:txBody>
          </p:sp>
          <p:sp>
            <p:nvSpPr>
              <p:cNvPr id="34" name="Rectangle 34"/>
              <p:cNvSpPr/>
              <p:nvPr/>
            </p:nvSpPr>
            <p:spPr>
              <a:xfrm>
                <a:off x="2400300" y="1123950"/>
                <a:ext cx="781050" cy="762000"/>
              </a:xfrm>
              <a:prstGeom prst="roundRect">
                <a:avLst>
                  <a:gd name="adj" fmla="val 5000"/>
                </a:avLst>
              </a:prstGeom>
              <a:solidFill>
                <a:srgbClr val="EEF5FB"/>
              </a:solidFill>
              <a:ln>
                <a:noFill/>
              </a:ln>
            </p:spPr>
          </p:sp>
          <p:grpSp>
            <p:nvGrpSpPr>
              <p:cNvPr id="37" name="Group 37"/>
              <p:cNvGrpSpPr/>
              <p:nvPr/>
            </p:nvGrpSpPr>
            <p:grpSpPr>
              <a:xfrm>
                <a:off x="2471738" y="1233488"/>
                <a:ext cx="85725" cy="85725"/>
                <a:chOff x="2471738" y="1233488"/>
                <a:chExt cx="85725" cy="85725"/>
              </a:xfrm>
            </p:grpSpPr>
            <p:sp>
              <p:nvSpPr>
                <p:cNvPr id="35" name="Freeform 35"/>
                <p:cNvSpPr/>
                <p:nvPr/>
              </p:nvSpPr>
              <p:spPr>
                <a:xfrm>
                  <a:off x="2471738" y="12334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36" name="Freeform 36"/>
                <p:cNvSpPr/>
                <p:nvPr/>
              </p:nvSpPr>
              <p:spPr>
                <a:xfrm>
                  <a:off x="2500312" y="126682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38" name="TextBox 38"/>
              <p:cNvSpPr txBox="1"/>
              <p:nvPr/>
            </p:nvSpPr>
            <p:spPr>
              <a:xfrm>
                <a:off x="2605088" y="12415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分层分级</a:t>
                </a:r>
              </a:p>
            </p:txBody>
          </p:sp>
          <p:grpSp>
            <p:nvGrpSpPr>
              <p:cNvPr id="41" name="Group 41"/>
              <p:cNvGrpSpPr/>
              <p:nvPr/>
            </p:nvGrpSpPr>
            <p:grpSpPr>
              <a:xfrm>
                <a:off x="2471738" y="1462088"/>
                <a:ext cx="85725" cy="85725"/>
                <a:chOff x="2471738" y="1462088"/>
                <a:chExt cx="85725" cy="85725"/>
              </a:xfrm>
            </p:grpSpPr>
            <p:sp>
              <p:nvSpPr>
                <p:cNvPr id="39" name="Freeform 39"/>
                <p:cNvSpPr/>
                <p:nvPr/>
              </p:nvSpPr>
              <p:spPr>
                <a:xfrm>
                  <a:off x="2471738" y="14620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40" name="Freeform 40"/>
                <p:cNvSpPr/>
                <p:nvPr/>
              </p:nvSpPr>
              <p:spPr>
                <a:xfrm>
                  <a:off x="2500312" y="149542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42" name="TextBox 42"/>
              <p:cNvSpPr txBox="1"/>
              <p:nvPr/>
            </p:nvSpPr>
            <p:spPr>
              <a:xfrm>
                <a:off x="2605088" y="1470184"/>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规则可追溯</a:t>
                </a:r>
              </a:p>
            </p:txBody>
          </p:sp>
          <p:grpSp>
            <p:nvGrpSpPr>
              <p:cNvPr id="45" name="Group 45"/>
              <p:cNvGrpSpPr/>
              <p:nvPr/>
            </p:nvGrpSpPr>
            <p:grpSpPr>
              <a:xfrm>
                <a:off x="2471738" y="1690688"/>
                <a:ext cx="85725" cy="85725"/>
                <a:chOff x="2471738" y="1690688"/>
                <a:chExt cx="85725" cy="85725"/>
              </a:xfrm>
            </p:grpSpPr>
            <p:sp>
              <p:nvSpPr>
                <p:cNvPr id="43" name="Freeform 43"/>
                <p:cNvSpPr/>
                <p:nvPr/>
              </p:nvSpPr>
              <p:spPr>
                <a:xfrm>
                  <a:off x="2471738" y="1690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44" name="Freeform 44"/>
                <p:cNvSpPr/>
                <p:nvPr/>
              </p:nvSpPr>
              <p:spPr>
                <a:xfrm>
                  <a:off x="2500312" y="172402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46" name="TextBox 46"/>
              <p:cNvSpPr txBox="1"/>
              <p:nvPr/>
            </p:nvSpPr>
            <p:spPr>
              <a:xfrm>
                <a:off x="2605088" y="16987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实时更新</a:t>
                </a:r>
              </a:p>
            </p:txBody>
          </p:sp>
        </p:grpSp>
        <p:grpSp>
          <p:nvGrpSpPr>
            <p:cNvPr id="75" name="lb-2"/>
            <p:cNvGrpSpPr/>
            <p:nvPr/>
          </p:nvGrpSpPr>
          <p:grpSpPr>
            <a:xfrm>
              <a:off x="190500" y="2038350"/>
              <a:ext cx="3048000" cy="1009650"/>
              <a:chOff x="190500" y="2038350"/>
              <a:chExt cx="3048000" cy="1009650"/>
            </a:xfrm>
          </p:grpSpPr>
          <p:sp>
            <p:nvSpPr>
              <p:cNvPr id="48" name="Rectangle 48"/>
              <p:cNvSpPr/>
              <p:nvPr/>
            </p:nvSpPr>
            <p:spPr>
              <a:xfrm>
                <a:off x="190500" y="2038350"/>
                <a:ext cx="3048000" cy="1009650"/>
              </a:xfrm>
              <a:prstGeom prst="roundRect">
                <a:avLst>
                  <a:gd name="adj" fmla="val 5660"/>
                </a:avLst>
              </a:prstGeom>
              <a:solidFill>
                <a:srgbClr val="F6F9FD"/>
              </a:solidFill>
              <a:ln w="9525">
                <a:solidFill>
                  <a:srgbClr val="CFDFEE"/>
                </a:solidFill>
              </a:ln>
            </p:spPr>
          </p:sp>
          <p:grpSp>
            <p:nvGrpSpPr>
              <p:cNvPr id="54" name="Group 54"/>
              <p:cNvGrpSpPr/>
              <p:nvPr/>
            </p:nvGrpSpPr>
            <p:grpSpPr>
              <a:xfrm>
                <a:off x="459581" y="2245519"/>
                <a:ext cx="166688" cy="214312"/>
                <a:chOff x="459581" y="2245519"/>
                <a:chExt cx="166688" cy="214312"/>
              </a:xfrm>
            </p:grpSpPr>
            <p:sp>
              <p:nvSpPr>
                <p:cNvPr id="49" name="Freeform 49"/>
                <p:cNvSpPr/>
                <p:nvPr/>
              </p:nvSpPr>
              <p:spPr>
                <a:xfrm>
                  <a:off x="566738" y="2245519"/>
                  <a:ext cx="59531" cy="59531"/>
                </a:xfrm>
                <a:custGeom>
                  <a:avLst/>
                  <a:gdLst/>
                  <a:ahLst/>
                  <a:cxnLst/>
                  <a:rect l="l" t="t" r="r" b="b"/>
                  <a:pathLst>
                    <a:path w="59531" h="59531">
                      <a:moveTo>
                        <a:pt x="0" y="0"/>
                      </a:moveTo>
                      <a:lnTo>
                        <a:pt x="0" y="47625"/>
                      </a:lnTo>
                      <a:cubicBezTo>
                        <a:pt x="0" y="54201"/>
                        <a:pt x="5331" y="59531"/>
                        <a:pt x="11906" y="59531"/>
                      </a:cubicBezTo>
                      <a:lnTo>
                        <a:pt x="59531" y="59531"/>
                      </a:lnTo>
                    </a:path>
                  </a:pathLst>
                </a:custGeom>
                <a:noFill/>
                <a:ln w="23812">
                  <a:solidFill>
                    <a:srgbClr val="92301C"/>
                  </a:solidFill>
                </a:ln>
              </p:spPr>
            </p:sp>
            <p:sp>
              <p:nvSpPr>
                <p:cNvPr id="50" name="Freeform 50"/>
                <p:cNvSpPr/>
                <p:nvPr/>
              </p:nvSpPr>
              <p:spPr>
                <a:xfrm>
                  <a:off x="459581" y="2245519"/>
                  <a:ext cx="166688" cy="214312"/>
                </a:xfrm>
                <a:custGeom>
                  <a:avLst/>
                  <a:gdLst/>
                  <a:ahLst/>
                  <a:cxnLst/>
                  <a:rect l="l" t="t" r="r" b="b"/>
                  <a:pathLst>
                    <a:path w="166688" h="214312">
                      <a:moveTo>
                        <a:pt x="142875" y="214312"/>
                      </a:moveTo>
                      <a:lnTo>
                        <a:pt x="23812" y="214312"/>
                      </a:lnTo>
                      <a:cubicBezTo>
                        <a:pt x="10661" y="214312"/>
                        <a:pt x="0" y="203651"/>
                        <a:pt x="0" y="190500"/>
                      </a:cubicBezTo>
                      <a:lnTo>
                        <a:pt x="0" y="23812"/>
                      </a:lnTo>
                      <a:cubicBezTo>
                        <a:pt x="0" y="10661"/>
                        <a:pt x="10661" y="0"/>
                        <a:pt x="23812" y="0"/>
                      </a:cubicBezTo>
                      <a:lnTo>
                        <a:pt x="107156" y="0"/>
                      </a:lnTo>
                      <a:lnTo>
                        <a:pt x="166688" y="59531"/>
                      </a:lnTo>
                      <a:lnTo>
                        <a:pt x="166688" y="190500"/>
                      </a:lnTo>
                      <a:cubicBezTo>
                        <a:pt x="166688" y="203651"/>
                        <a:pt x="156026" y="214312"/>
                        <a:pt x="142875" y="214312"/>
                      </a:cubicBezTo>
                    </a:path>
                  </a:pathLst>
                </a:custGeom>
                <a:noFill/>
                <a:ln w="23812">
                  <a:solidFill>
                    <a:srgbClr val="92301C"/>
                  </a:solidFill>
                </a:ln>
              </p:spPr>
            </p:sp>
            <p:sp>
              <p:nvSpPr>
                <p:cNvPr id="51" name="Freeform 51"/>
                <p:cNvSpPr/>
                <p:nvPr/>
              </p:nvSpPr>
              <p:spPr>
                <a:xfrm>
                  <a:off x="507206" y="2293144"/>
                  <a:ext cx="11906" cy="9525"/>
                </a:xfrm>
                <a:custGeom>
                  <a:avLst/>
                  <a:gdLst/>
                  <a:ahLst/>
                  <a:cxnLst/>
                  <a:rect l="l" t="t" r="r" b="b"/>
                  <a:pathLst>
                    <a:path w="11906" h="9525">
                      <a:moveTo>
                        <a:pt x="0" y="0"/>
                      </a:moveTo>
                      <a:lnTo>
                        <a:pt x="11906" y="0"/>
                      </a:lnTo>
                    </a:path>
                  </a:pathLst>
                </a:custGeom>
                <a:noFill/>
                <a:ln w="23812">
                  <a:solidFill>
                    <a:srgbClr val="92301C"/>
                  </a:solidFill>
                </a:ln>
              </p:spPr>
            </p:sp>
            <p:sp>
              <p:nvSpPr>
                <p:cNvPr id="52" name="Freeform 52"/>
                <p:cNvSpPr/>
                <p:nvPr/>
              </p:nvSpPr>
              <p:spPr>
                <a:xfrm>
                  <a:off x="507206" y="2364581"/>
                  <a:ext cx="71438" cy="9525"/>
                </a:xfrm>
                <a:custGeom>
                  <a:avLst/>
                  <a:gdLst/>
                  <a:ahLst/>
                  <a:cxnLst/>
                  <a:rect l="l" t="t" r="r" b="b"/>
                  <a:pathLst>
                    <a:path w="71438" h="9525">
                      <a:moveTo>
                        <a:pt x="0" y="0"/>
                      </a:moveTo>
                      <a:lnTo>
                        <a:pt x="71438" y="0"/>
                      </a:lnTo>
                    </a:path>
                  </a:pathLst>
                </a:custGeom>
                <a:noFill/>
                <a:ln w="23812">
                  <a:solidFill>
                    <a:srgbClr val="92301C"/>
                  </a:solidFill>
                </a:ln>
              </p:spPr>
            </p:sp>
            <p:sp>
              <p:nvSpPr>
                <p:cNvPr id="53" name="Freeform 53"/>
                <p:cNvSpPr/>
                <p:nvPr/>
              </p:nvSpPr>
              <p:spPr>
                <a:xfrm>
                  <a:off x="554831" y="2412206"/>
                  <a:ext cx="23812" cy="9525"/>
                </a:xfrm>
                <a:custGeom>
                  <a:avLst/>
                  <a:gdLst/>
                  <a:ahLst/>
                  <a:cxnLst/>
                  <a:rect l="l" t="t" r="r" b="b"/>
                  <a:pathLst>
                    <a:path w="23812" h="9525">
                      <a:moveTo>
                        <a:pt x="0" y="0"/>
                      </a:moveTo>
                      <a:lnTo>
                        <a:pt x="23812" y="0"/>
                      </a:lnTo>
                    </a:path>
                  </a:pathLst>
                </a:custGeom>
                <a:noFill/>
                <a:ln w="23812">
                  <a:solidFill>
                    <a:srgbClr val="92301C"/>
                  </a:solidFill>
                </a:ln>
              </p:spPr>
            </p:sp>
          </p:grpSp>
          <p:sp>
            <p:nvSpPr>
              <p:cNvPr id="55" name="TextBox 55"/>
              <p:cNvSpPr txBox="1"/>
              <p:nvPr/>
            </p:nvSpPr>
            <p:spPr>
              <a:xfrm>
                <a:off x="306616" y="2650093"/>
                <a:ext cx="472618" cy="169069"/>
              </a:xfrm>
              <a:prstGeom prst="rect">
                <a:avLst/>
              </a:prstGeom>
              <a:noFill/>
              <a:ln>
                <a:noFill/>
              </a:ln>
            </p:spPr>
            <p:txBody>
              <a:bodyPr wrap="none" lIns="0" tIns="0" rIns="0" bIns="0" anchor="t" anchorCtr="0">
                <a:spAutoFit/>
              </a:bodyPr>
              <a:lstStyle/>
              <a:p>
                <a:pPr algn="ctr"/>
                <a:r>
                  <a:rPr lang="zh-CN" sz="860" b="1" dirty="0">
                    <a:solidFill>
                      <a:srgbClr val="6B1B0B"/>
                    </a:solidFill>
                    <a:latin typeface="+mn-lt"/>
                    <a:ea typeface="+mn-ea"/>
                    <a:cs typeface="+mn-cs"/>
                  </a:rPr>
                  <a:t>产品规则</a:t>
                </a:r>
              </a:p>
            </p:txBody>
          </p:sp>
          <p:sp>
            <p:nvSpPr>
              <p:cNvPr id="56" name="Line 56"/>
              <p:cNvSpPr/>
              <p:nvPr/>
            </p:nvSpPr>
            <p:spPr>
              <a:xfrm>
                <a:off x="971550" y="2247900"/>
                <a:ext cx="9525" cy="590550"/>
              </a:xfrm>
              <a:custGeom>
                <a:avLst/>
                <a:gdLst/>
                <a:ahLst/>
                <a:cxnLst/>
                <a:rect l="l" t="t" r="r" b="b"/>
                <a:pathLst>
                  <a:path w="9525" h="590550">
                    <a:moveTo>
                      <a:pt x="0" y="0"/>
                    </a:moveTo>
                    <a:lnTo>
                      <a:pt x="0" y="590550"/>
                    </a:lnTo>
                  </a:path>
                </a:pathLst>
              </a:custGeom>
              <a:noFill/>
              <a:ln w="9525">
                <a:solidFill>
                  <a:srgbClr val="E3B3A9"/>
                </a:solidFill>
              </a:ln>
            </p:spPr>
          </p:sp>
          <p:sp>
            <p:nvSpPr>
              <p:cNvPr id="57" name="TextBox 57"/>
              <p:cNvSpPr txBox="1"/>
              <p:nvPr/>
            </p:nvSpPr>
            <p:spPr>
              <a:xfrm>
                <a:off x="1023938" y="2213134"/>
                <a:ext cx="1367307"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产品要素（期限、币种、用途）</a:t>
                </a:r>
              </a:p>
            </p:txBody>
          </p:sp>
          <p:sp>
            <p:nvSpPr>
              <p:cNvPr id="58" name="TextBox 58"/>
              <p:cNvSpPr txBox="1"/>
              <p:nvPr/>
            </p:nvSpPr>
            <p:spPr>
              <a:xfrm>
                <a:off x="1023938" y="2365534"/>
                <a:ext cx="90959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准入条件与负面清单</a:t>
                </a:r>
              </a:p>
            </p:txBody>
          </p:sp>
          <p:sp>
            <p:nvSpPr>
              <p:cNvPr id="59" name="TextBox 59"/>
              <p:cNvSpPr txBox="1"/>
              <p:nvPr/>
            </p:nvSpPr>
            <p:spPr>
              <a:xfrm>
                <a:off x="1023938" y="251793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额度计算规则</a:t>
                </a:r>
              </a:p>
            </p:txBody>
          </p:sp>
          <p:sp>
            <p:nvSpPr>
              <p:cNvPr id="60" name="TextBox 60"/>
              <p:cNvSpPr txBox="1"/>
              <p:nvPr/>
            </p:nvSpPr>
            <p:spPr>
              <a:xfrm>
                <a:off x="1023938" y="2670334"/>
                <a:ext cx="818058"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利率定价参考区间</a:t>
                </a:r>
              </a:p>
            </p:txBody>
          </p:sp>
          <p:sp>
            <p:nvSpPr>
              <p:cNvPr id="61" name="TextBox 61"/>
              <p:cNvSpPr txBox="1"/>
              <p:nvPr/>
            </p:nvSpPr>
            <p:spPr>
              <a:xfrm>
                <a:off x="1023938" y="2822734"/>
                <a:ext cx="1001141"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还款方式与现金流要求</a:t>
                </a:r>
              </a:p>
            </p:txBody>
          </p:sp>
          <p:sp>
            <p:nvSpPr>
              <p:cNvPr id="62" name="Rectangle 62"/>
              <p:cNvSpPr/>
              <p:nvPr/>
            </p:nvSpPr>
            <p:spPr>
              <a:xfrm>
                <a:off x="2400300" y="2171700"/>
                <a:ext cx="781050" cy="762000"/>
              </a:xfrm>
              <a:prstGeom prst="roundRect">
                <a:avLst>
                  <a:gd name="adj" fmla="val 5000"/>
                </a:avLst>
              </a:prstGeom>
              <a:solidFill>
                <a:srgbClr val="EEF5FB"/>
              </a:solidFill>
              <a:ln>
                <a:noFill/>
              </a:ln>
            </p:spPr>
          </p:sp>
          <p:grpSp>
            <p:nvGrpSpPr>
              <p:cNvPr id="65" name="Group 65"/>
              <p:cNvGrpSpPr/>
              <p:nvPr/>
            </p:nvGrpSpPr>
            <p:grpSpPr>
              <a:xfrm>
                <a:off x="2471738" y="2281238"/>
                <a:ext cx="85725" cy="85725"/>
                <a:chOff x="2471738" y="2281238"/>
                <a:chExt cx="85725" cy="85725"/>
              </a:xfrm>
            </p:grpSpPr>
            <p:sp>
              <p:nvSpPr>
                <p:cNvPr id="63" name="Freeform 63"/>
                <p:cNvSpPr/>
                <p:nvPr/>
              </p:nvSpPr>
              <p:spPr>
                <a:xfrm>
                  <a:off x="2471738" y="22812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64" name="Freeform 64"/>
                <p:cNvSpPr/>
                <p:nvPr/>
              </p:nvSpPr>
              <p:spPr>
                <a:xfrm>
                  <a:off x="2500312" y="231457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66" name="TextBox 66"/>
              <p:cNvSpPr txBox="1"/>
              <p:nvPr/>
            </p:nvSpPr>
            <p:spPr>
              <a:xfrm>
                <a:off x="2605088" y="2289334"/>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参数化配置</a:t>
                </a:r>
              </a:p>
            </p:txBody>
          </p:sp>
          <p:grpSp>
            <p:nvGrpSpPr>
              <p:cNvPr id="69" name="Group 69"/>
              <p:cNvGrpSpPr/>
              <p:nvPr/>
            </p:nvGrpSpPr>
            <p:grpSpPr>
              <a:xfrm>
                <a:off x="2471738" y="2509838"/>
                <a:ext cx="85725" cy="85725"/>
                <a:chOff x="2471738" y="2509838"/>
                <a:chExt cx="85725" cy="85725"/>
              </a:xfrm>
            </p:grpSpPr>
            <p:sp>
              <p:nvSpPr>
                <p:cNvPr id="67" name="Freeform 67"/>
                <p:cNvSpPr/>
                <p:nvPr/>
              </p:nvSpPr>
              <p:spPr>
                <a:xfrm>
                  <a:off x="2471738" y="25098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68" name="Freeform 68"/>
                <p:cNvSpPr/>
                <p:nvPr/>
              </p:nvSpPr>
              <p:spPr>
                <a:xfrm>
                  <a:off x="2500312" y="254317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70" name="TextBox 70"/>
              <p:cNvSpPr txBox="1"/>
              <p:nvPr/>
            </p:nvSpPr>
            <p:spPr>
              <a:xfrm>
                <a:off x="2605088" y="25179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快速迭代</a:t>
                </a:r>
              </a:p>
            </p:txBody>
          </p:sp>
          <p:grpSp>
            <p:nvGrpSpPr>
              <p:cNvPr id="73" name="Group 73"/>
              <p:cNvGrpSpPr/>
              <p:nvPr/>
            </p:nvGrpSpPr>
            <p:grpSpPr>
              <a:xfrm>
                <a:off x="2471738" y="2738438"/>
                <a:ext cx="85725" cy="85725"/>
                <a:chOff x="2471738" y="2738438"/>
                <a:chExt cx="85725" cy="85725"/>
              </a:xfrm>
            </p:grpSpPr>
            <p:sp>
              <p:nvSpPr>
                <p:cNvPr id="71" name="Freeform 71"/>
                <p:cNvSpPr/>
                <p:nvPr/>
              </p:nvSpPr>
              <p:spPr>
                <a:xfrm>
                  <a:off x="2471738" y="27384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72" name="Freeform 72"/>
                <p:cNvSpPr/>
                <p:nvPr/>
              </p:nvSpPr>
              <p:spPr>
                <a:xfrm>
                  <a:off x="2500312" y="277177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74" name="TextBox 74"/>
              <p:cNvSpPr txBox="1"/>
              <p:nvPr/>
            </p:nvSpPr>
            <p:spPr>
              <a:xfrm>
                <a:off x="2605088" y="2746534"/>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全产品覆盖</a:t>
                </a:r>
              </a:p>
            </p:txBody>
          </p:sp>
        </p:grpSp>
        <p:grpSp>
          <p:nvGrpSpPr>
            <p:cNvPr id="103" name="lb-3"/>
            <p:cNvGrpSpPr/>
            <p:nvPr/>
          </p:nvGrpSpPr>
          <p:grpSpPr>
            <a:xfrm>
              <a:off x="190500" y="3086100"/>
              <a:ext cx="3048000" cy="1009650"/>
              <a:chOff x="190500" y="3086100"/>
              <a:chExt cx="3048000" cy="1009650"/>
            </a:xfrm>
          </p:grpSpPr>
          <p:sp>
            <p:nvSpPr>
              <p:cNvPr id="76" name="Rectangle 76"/>
              <p:cNvSpPr/>
              <p:nvPr/>
            </p:nvSpPr>
            <p:spPr>
              <a:xfrm>
                <a:off x="190500" y="3086100"/>
                <a:ext cx="3048000" cy="1009650"/>
              </a:xfrm>
              <a:prstGeom prst="roundRect">
                <a:avLst>
                  <a:gd name="adj" fmla="val 5660"/>
                </a:avLst>
              </a:prstGeom>
              <a:solidFill>
                <a:srgbClr val="F6F9FD"/>
              </a:solidFill>
              <a:ln w="9525">
                <a:solidFill>
                  <a:srgbClr val="CFDFEE"/>
                </a:solidFill>
              </a:ln>
            </p:spPr>
          </p:sp>
          <p:grpSp>
            <p:nvGrpSpPr>
              <p:cNvPr id="81" name="Group 81"/>
              <p:cNvGrpSpPr/>
              <p:nvPr/>
            </p:nvGrpSpPr>
            <p:grpSpPr>
              <a:xfrm>
                <a:off x="435769" y="3305175"/>
                <a:ext cx="214313" cy="200025"/>
                <a:chOff x="435769" y="3305175"/>
                <a:chExt cx="214313" cy="200025"/>
              </a:xfrm>
            </p:grpSpPr>
            <p:sp>
              <p:nvSpPr>
                <p:cNvPr id="77" name="Freeform 77"/>
                <p:cNvSpPr/>
                <p:nvPr/>
              </p:nvSpPr>
              <p:spPr>
                <a:xfrm>
                  <a:off x="435769" y="3400425"/>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92301C"/>
                  </a:solidFill>
                </a:ln>
              </p:spPr>
            </p:sp>
            <p:sp>
              <p:nvSpPr>
                <p:cNvPr id="78" name="Freeform 78"/>
                <p:cNvSpPr/>
                <p:nvPr/>
              </p:nvSpPr>
              <p:spPr>
                <a:xfrm>
                  <a:off x="578644" y="3352800"/>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92301C"/>
                  </a:solidFill>
                </a:ln>
              </p:spPr>
            </p:sp>
            <p:sp>
              <p:nvSpPr>
                <p:cNvPr id="79" name="Freeform 79"/>
                <p:cNvSpPr/>
                <p:nvPr/>
              </p:nvSpPr>
              <p:spPr>
                <a:xfrm>
                  <a:off x="507206" y="3305175"/>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92301C"/>
                  </a:solidFill>
                </a:ln>
              </p:spPr>
            </p:sp>
            <p:sp>
              <p:nvSpPr>
                <p:cNvPr id="80" name="Freeform 80"/>
                <p:cNvSpPr/>
                <p:nvPr/>
              </p:nvSpPr>
              <p:spPr>
                <a:xfrm>
                  <a:off x="447675" y="3495675"/>
                  <a:ext cx="166688" cy="9525"/>
                </a:xfrm>
                <a:custGeom>
                  <a:avLst/>
                  <a:gdLst/>
                  <a:ahLst/>
                  <a:cxnLst/>
                  <a:rect l="l" t="t" r="r" b="b"/>
                  <a:pathLst>
                    <a:path w="166688" h="9525">
                      <a:moveTo>
                        <a:pt x="0" y="0"/>
                      </a:moveTo>
                      <a:lnTo>
                        <a:pt x="166688" y="0"/>
                      </a:lnTo>
                    </a:path>
                  </a:pathLst>
                </a:custGeom>
                <a:noFill/>
                <a:ln w="23812">
                  <a:solidFill>
                    <a:srgbClr val="92301C"/>
                  </a:solidFill>
                </a:ln>
              </p:spPr>
            </p:sp>
          </p:grpSp>
          <p:sp>
            <p:nvSpPr>
              <p:cNvPr id="82" name="TextBox 82"/>
              <p:cNvSpPr txBox="1"/>
              <p:nvPr/>
            </p:nvSpPr>
            <p:spPr>
              <a:xfrm>
                <a:off x="306616" y="3697843"/>
                <a:ext cx="472618" cy="169069"/>
              </a:xfrm>
              <a:prstGeom prst="rect">
                <a:avLst/>
              </a:prstGeom>
              <a:noFill/>
              <a:ln>
                <a:noFill/>
              </a:ln>
            </p:spPr>
            <p:txBody>
              <a:bodyPr wrap="none" lIns="0" tIns="0" rIns="0" bIns="0" anchor="t" anchorCtr="0">
                <a:spAutoFit/>
              </a:bodyPr>
              <a:lstStyle/>
              <a:p>
                <a:pPr algn="ctr"/>
                <a:r>
                  <a:rPr lang="zh-CN" sz="860" b="1" dirty="0">
                    <a:solidFill>
                      <a:srgbClr val="6B1B0B"/>
                    </a:solidFill>
                    <a:latin typeface="+mn-lt"/>
                    <a:ea typeface="+mn-ea"/>
                    <a:cs typeface="+mn-cs"/>
                  </a:rPr>
                  <a:t>评级模型</a:t>
                </a:r>
              </a:p>
            </p:txBody>
          </p:sp>
          <p:sp>
            <p:nvSpPr>
              <p:cNvPr id="83" name="Line 83"/>
              <p:cNvSpPr/>
              <p:nvPr/>
            </p:nvSpPr>
            <p:spPr>
              <a:xfrm>
                <a:off x="971550" y="3257550"/>
                <a:ext cx="9525" cy="742950"/>
              </a:xfrm>
              <a:custGeom>
                <a:avLst/>
                <a:gdLst/>
                <a:ahLst/>
                <a:cxnLst/>
                <a:rect l="l" t="t" r="r" b="b"/>
                <a:pathLst>
                  <a:path w="9525" h="742950">
                    <a:moveTo>
                      <a:pt x="0" y="0"/>
                    </a:moveTo>
                    <a:lnTo>
                      <a:pt x="0" y="742950"/>
                    </a:lnTo>
                  </a:path>
                </a:pathLst>
              </a:custGeom>
              <a:noFill/>
              <a:ln w="9525">
                <a:solidFill>
                  <a:srgbClr val="E3B3A9"/>
                </a:solidFill>
              </a:ln>
            </p:spPr>
          </p:sp>
          <p:sp>
            <p:nvSpPr>
              <p:cNvPr id="84" name="TextBox 84"/>
              <p:cNvSpPr txBox="1"/>
              <p:nvPr/>
            </p:nvSpPr>
            <p:spPr>
              <a:xfrm>
                <a:off x="1023938" y="31846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财务指标模型</a:t>
                </a:r>
              </a:p>
            </p:txBody>
          </p:sp>
          <p:sp>
            <p:nvSpPr>
              <p:cNvPr id="85" name="TextBox 85"/>
              <p:cNvSpPr txBox="1"/>
              <p:nvPr/>
            </p:nvSpPr>
            <p:spPr>
              <a:xfrm>
                <a:off x="1023938" y="331803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非财务指标模型</a:t>
                </a:r>
              </a:p>
            </p:txBody>
          </p:sp>
          <p:sp>
            <p:nvSpPr>
              <p:cNvPr id="86" name="TextBox 86"/>
              <p:cNvSpPr txBox="1"/>
              <p:nvPr/>
            </p:nvSpPr>
            <p:spPr>
              <a:xfrm>
                <a:off x="1023938" y="3451384"/>
                <a:ext cx="99841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 xml:space="preserve">　（行业/治理/ESG）　</a:t>
                </a:r>
              </a:p>
            </p:txBody>
          </p:sp>
          <p:sp>
            <p:nvSpPr>
              <p:cNvPr id="87" name="TextBox 87"/>
              <p:cNvSpPr txBox="1"/>
              <p:nvPr/>
            </p:nvSpPr>
            <p:spPr>
              <a:xfrm>
                <a:off x="1023938" y="358473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行为评分与预警</a:t>
                </a:r>
              </a:p>
            </p:txBody>
          </p:sp>
          <p:sp>
            <p:nvSpPr>
              <p:cNvPr id="88" name="TextBox 88"/>
              <p:cNvSpPr txBox="1"/>
              <p:nvPr/>
            </p:nvSpPr>
            <p:spPr>
              <a:xfrm>
                <a:off x="1023938" y="3718084"/>
                <a:ext cx="90959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模型结果与等级映射</a:t>
                </a:r>
              </a:p>
            </p:txBody>
          </p:sp>
          <p:sp>
            <p:nvSpPr>
              <p:cNvPr id="89" name="TextBox 89"/>
              <p:cNvSpPr txBox="1"/>
              <p:nvPr/>
            </p:nvSpPr>
            <p:spPr>
              <a:xfrm>
                <a:off x="1023938" y="385143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模型监控与回溯</a:t>
                </a:r>
              </a:p>
            </p:txBody>
          </p:sp>
          <p:sp>
            <p:nvSpPr>
              <p:cNvPr id="90" name="Rectangle 90"/>
              <p:cNvSpPr/>
              <p:nvPr/>
            </p:nvSpPr>
            <p:spPr>
              <a:xfrm>
                <a:off x="2400300" y="3219450"/>
                <a:ext cx="781050" cy="762000"/>
              </a:xfrm>
              <a:prstGeom prst="roundRect">
                <a:avLst>
                  <a:gd name="adj" fmla="val 5000"/>
                </a:avLst>
              </a:prstGeom>
              <a:solidFill>
                <a:srgbClr val="EEF5FB"/>
              </a:solidFill>
              <a:ln>
                <a:noFill/>
              </a:ln>
            </p:spPr>
          </p:sp>
          <p:grpSp>
            <p:nvGrpSpPr>
              <p:cNvPr id="93" name="Group 93"/>
              <p:cNvGrpSpPr/>
              <p:nvPr/>
            </p:nvGrpSpPr>
            <p:grpSpPr>
              <a:xfrm>
                <a:off x="2471738" y="3328988"/>
                <a:ext cx="85725" cy="85725"/>
                <a:chOff x="2471738" y="3328988"/>
                <a:chExt cx="85725" cy="85725"/>
              </a:xfrm>
            </p:grpSpPr>
            <p:sp>
              <p:nvSpPr>
                <p:cNvPr id="91" name="Freeform 91"/>
                <p:cNvSpPr/>
                <p:nvPr/>
              </p:nvSpPr>
              <p:spPr>
                <a:xfrm>
                  <a:off x="2471738" y="33289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92" name="Freeform 92"/>
                <p:cNvSpPr/>
                <p:nvPr/>
              </p:nvSpPr>
              <p:spPr>
                <a:xfrm>
                  <a:off x="2500312" y="336232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94" name="TextBox 94"/>
              <p:cNvSpPr txBox="1"/>
              <p:nvPr/>
            </p:nvSpPr>
            <p:spPr>
              <a:xfrm>
                <a:off x="2605088" y="333708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多维数据融合</a:t>
                </a:r>
              </a:p>
            </p:txBody>
          </p:sp>
          <p:grpSp>
            <p:nvGrpSpPr>
              <p:cNvPr id="97" name="Group 97"/>
              <p:cNvGrpSpPr/>
              <p:nvPr/>
            </p:nvGrpSpPr>
            <p:grpSpPr>
              <a:xfrm>
                <a:off x="2471738" y="3557588"/>
                <a:ext cx="85725" cy="85725"/>
                <a:chOff x="2471738" y="3557588"/>
                <a:chExt cx="85725" cy="85725"/>
              </a:xfrm>
            </p:grpSpPr>
            <p:sp>
              <p:nvSpPr>
                <p:cNvPr id="95" name="Freeform 95"/>
                <p:cNvSpPr/>
                <p:nvPr/>
              </p:nvSpPr>
              <p:spPr>
                <a:xfrm>
                  <a:off x="2471738" y="3557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96" name="Freeform 96"/>
                <p:cNvSpPr/>
                <p:nvPr/>
              </p:nvSpPr>
              <p:spPr>
                <a:xfrm>
                  <a:off x="2500312" y="359092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98" name="TextBox 98"/>
              <p:cNvSpPr txBox="1"/>
              <p:nvPr/>
            </p:nvSpPr>
            <p:spPr>
              <a:xfrm>
                <a:off x="2605088" y="3565684"/>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可解释输出</a:t>
                </a:r>
              </a:p>
            </p:txBody>
          </p:sp>
          <p:grpSp>
            <p:nvGrpSpPr>
              <p:cNvPr id="101" name="Group 101"/>
              <p:cNvGrpSpPr/>
              <p:nvPr/>
            </p:nvGrpSpPr>
            <p:grpSpPr>
              <a:xfrm>
                <a:off x="2471738" y="3786188"/>
                <a:ext cx="85725" cy="85725"/>
                <a:chOff x="2471738" y="3786188"/>
                <a:chExt cx="85725" cy="85725"/>
              </a:xfrm>
            </p:grpSpPr>
            <p:sp>
              <p:nvSpPr>
                <p:cNvPr id="99" name="Freeform 99"/>
                <p:cNvSpPr/>
                <p:nvPr/>
              </p:nvSpPr>
              <p:spPr>
                <a:xfrm>
                  <a:off x="2471738" y="37861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100" name="Freeform 100"/>
                <p:cNvSpPr/>
                <p:nvPr/>
              </p:nvSpPr>
              <p:spPr>
                <a:xfrm>
                  <a:off x="2500312" y="381952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102" name="TextBox 102"/>
              <p:cNvSpPr txBox="1"/>
              <p:nvPr/>
            </p:nvSpPr>
            <p:spPr>
              <a:xfrm>
                <a:off x="2605088" y="37942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定期验证</a:t>
                </a:r>
              </a:p>
            </p:txBody>
          </p:sp>
        </p:grpSp>
        <p:grpSp>
          <p:nvGrpSpPr>
            <p:cNvPr id="130" name="lb-4"/>
            <p:cNvGrpSpPr/>
            <p:nvPr/>
          </p:nvGrpSpPr>
          <p:grpSpPr>
            <a:xfrm>
              <a:off x="190500" y="4133850"/>
              <a:ext cx="3048000" cy="1009650"/>
              <a:chOff x="190500" y="4133850"/>
              <a:chExt cx="3048000" cy="1009650"/>
            </a:xfrm>
          </p:grpSpPr>
          <p:sp>
            <p:nvSpPr>
              <p:cNvPr id="104" name="Rectangle 104"/>
              <p:cNvSpPr/>
              <p:nvPr/>
            </p:nvSpPr>
            <p:spPr>
              <a:xfrm>
                <a:off x="190500" y="4133850"/>
                <a:ext cx="3048000" cy="1009650"/>
              </a:xfrm>
              <a:prstGeom prst="roundRect">
                <a:avLst>
                  <a:gd name="adj" fmla="val 5660"/>
                </a:avLst>
              </a:prstGeom>
              <a:solidFill>
                <a:srgbClr val="F6F9FD"/>
              </a:solidFill>
              <a:ln w="9525">
                <a:solidFill>
                  <a:srgbClr val="CFDFEE"/>
                </a:solidFill>
              </a:ln>
            </p:spPr>
          </p:sp>
          <p:grpSp>
            <p:nvGrpSpPr>
              <p:cNvPr id="108" name="Group 108"/>
              <p:cNvGrpSpPr/>
              <p:nvPr/>
            </p:nvGrpSpPr>
            <p:grpSpPr>
              <a:xfrm>
                <a:off x="435769" y="4341019"/>
                <a:ext cx="214312" cy="214312"/>
                <a:chOff x="435769" y="4341019"/>
                <a:chExt cx="214312" cy="214312"/>
              </a:xfrm>
            </p:grpSpPr>
            <p:sp>
              <p:nvSpPr>
                <p:cNvPr id="105" name="Freeform 105"/>
                <p:cNvSpPr/>
                <p:nvPr/>
              </p:nvSpPr>
              <p:spPr>
                <a:xfrm>
                  <a:off x="435769" y="4341019"/>
                  <a:ext cx="214312" cy="107156"/>
                </a:xfrm>
                <a:custGeom>
                  <a:avLst/>
                  <a:gdLst/>
                  <a:ahLst/>
                  <a:cxnLst/>
                  <a:rect l="l" t="t" r="r" b="b"/>
                  <a:pathLst>
                    <a:path w="214312" h="107156">
                      <a:moveTo>
                        <a:pt x="23812" y="107156"/>
                      </a:moveTo>
                      <a:lnTo>
                        <a:pt x="0" y="107156"/>
                      </a:lnTo>
                      <a:lnTo>
                        <a:pt x="107156" y="0"/>
                      </a:lnTo>
                      <a:lnTo>
                        <a:pt x="214312" y="107156"/>
                      </a:lnTo>
                      <a:lnTo>
                        <a:pt x="190500" y="107156"/>
                      </a:lnTo>
                    </a:path>
                  </a:pathLst>
                </a:custGeom>
                <a:noFill/>
                <a:ln w="23812">
                  <a:solidFill>
                    <a:srgbClr val="92301C"/>
                  </a:solidFill>
                </a:ln>
              </p:spPr>
            </p:sp>
            <p:sp>
              <p:nvSpPr>
                <p:cNvPr id="106" name="Freeform 106"/>
                <p:cNvSpPr/>
                <p:nvPr/>
              </p:nvSpPr>
              <p:spPr>
                <a:xfrm>
                  <a:off x="459581" y="4448175"/>
                  <a:ext cx="166688" cy="107156"/>
                </a:xfrm>
                <a:custGeom>
                  <a:avLst/>
                  <a:gdLst/>
                  <a:ahLst/>
                  <a:cxnLst/>
                  <a:rect l="l" t="t" r="r" b="b"/>
                  <a:pathLst>
                    <a:path w="166688" h="107156">
                      <a:moveTo>
                        <a:pt x="0" y="0"/>
                      </a:moveTo>
                      <a:lnTo>
                        <a:pt x="0" y="83344"/>
                      </a:lnTo>
                      <a:cubicBezTo>
                        <a:pt x="0" y="96495"/>
                        <a:pt x="10661" y="107156"/>
                        <a:pt x="23812" y="107156"/>
                      </a:cubicBezTo>
                      <a:lnTo>
                        <a:pt x="142875" y="107156"/>
                      </a:lnTo>
                      <a:cubicBezTo>
                        <a:pt x="156026" y="107156"/>
                        <a:pt x="166688" y="96495"/>
                        <a:pt x="166688" y="83344"/>
                      </a:cubicBezTo>
                      <a:lnTo>
                        <a:pt x="166688" y="0"/>
                      </a:lnTo>
                    </a:path>
                  </a:pathLst>
                </a:custGeom>
                <a:noFill/>
                <a:ln w="23812">
                  <a:solidFill>
                    <a:srgbClr val="92301C"/>
                  </a:solidFill>
                </a:ln>
              </p:spPr>
            </p:sp>
            <p:sp>
              <p:nvSpPr>
                <p:cNvPr id="107" name="Freeform 107"/>
                <p:cNvSpPr/>
                <p:nvPr/>
              </p:nvSpPr>
              <p:spPr>
                <a:xfrm>
                  <a:off x="507206" y="4460081"/>
                  <a:ext cx="71438" cy="95250"/>
                </a:xfrm>
                <a:custGeom>
                  <a:avLst/>
                  <a:gdLst/>
                  <a:ahLst/>
                  <a:cxnLst/>
                  <a:rect l="l" t="t" r="r" b="b"/>
                  <a:pathLst>
                    <a:path w="71438" h="95250">
                      <a:moveTo>
                        <a:pt x="0" y="95250"/>
                      </a:moveTo>
                      <a:lnTo>
                        <a:pt x="0" y="23812"/>
                      </a:lnTo>
                      <a:cubicBezTo>
                        <a:pt x="0" y="10661"/>
                        <a:pt x="10661" y="0"/>
                        <a:pt x="23812" y="0"/>
                      </a:cubicBezTo>
                      <a:lnTo>
                        <a:pt x="47625" y="0"/>
                      </a:lnTo>
                      <a:cubicBezTo>
                        <a:pt x="60776" y="0"/>
                        <a:pt x="71438" y="10661"/>
                        <a:pt x="71438" y="23812"/>
                      </a:cubicBezTo>
                      <a:lnTo>
                        <a:pt x="71438" y="95250"/>
                      </a:lnTo>
                    </a:path>
                  </a:pathLst>
                </a:custGeom>
                <a:noFill/>
                <a:ln w="23812">
                  <a:solidFill>
                    <a:srgbClr val="92301C"/>
                  </a:solidFill>
                </a:ln>
              </p:spPr>
            </p:sp>
          </p:grpSp>
          <p:sp>
            <p:nvSpPr>
              <p:cNvPr id="109" name="TextBox 109"/>
              <p:cNvSpPr txBox="1"/>
              <p:nvPr/>
            </p:nvSpPr>
            <p:spPr>
              <a:xfrm>
                <a:off x="248729" y="4745593"/>
                <a:ext cx="588391" cy="169069"/>
              </a:xfrm>
              <a:prstGeom prst="rect">
                <a:avLst/>
              </a:prstGeom>
              <a:noFill/>
              <a:ln>
                <a:noFill/>
              </a:ln>
            </p:spPr>
            <p:txBody>
              <a:bodyPr wrap="none" lIns="0" tIns="0" rIns="0" bIns="0" anchor="t" anchorCtr="0">
                <a:spAutoFit/>
              </a:bodyPr>
              <a:lstStyle/>
              <a:p>
                <a:pPr algn="ctr"/>
                <a:r>
                  <a:rPr lang="zh-CN" sz="860" b="1" dirty="0">
                    <a:solidFill>
                      <a:srgbClr val="6B1B0B"/>
                    </a:solidFill>
                    <a:latin typeface="+mn-lt"/>
                    <a:ea typeface="+mn-ea"/>
                    <a:cs typeface="+mn-cs"/>
                  </a:rPr>
                  <a:t>抵质押信息</a:t>
                </a:r>
              </a:p>
            </p:txBody>
          </p:sp>
          <p:sp>
            <p:nvSpPr>
              <p:cNvPr id="110" name="Line 110"/>
              <p:cNvSpPr/>
              <p:nvPr/>
            </p:nvSpPr>
            <p:spPr>
              <a:xfrm>
                <a:off x="971550" y="4305300"/>
                <a:ext cx="9525" cy="742950"/>
              </a:xfrm>
              <a:custGeom>
                <a:avLst/>
                <a:gdLst/>
                <a:ahLst/>
                <a:cxnLst/>
                <a:rect l="l" t="t" r="r" b="b"/>
                <a:pathLst>
                  <a:path w="9525" h="742950">
                    <a:moveTo>
                      <a:pt x="0" y="0"/>
                    </a:moveTo>
                    <a:lnTo>
                      <a:pt x="0" y="742950"/>
                    </a:lnTo>
                  </a:path>
                </a:pathLst>
              </a:custGeom>
              <a:noFill/>
              <a:ln w="9525">
                <a:solidFill>
                  <a:srgbClr val="E3B3A9"/>
                </a:solidFill>
              </a:ln>
            </p:spPr>
          </p:sp>
          <p:sp>
            <p:nvSpPr>
              <p:cNvPr id="111" name="TextBox 111"/>
              <p:cNvSpPr txBox="1"/>
              <p:nvPr/>
            </p:nvSpPr>
            <p:spPr>
              <a:xfrm>
                <a:off x="1023938" y="4232434"/>
                <a:ext cx="543433"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抵押物类型</a:t>
                </a:r>
              </a:p>
            </p:txBody>
          </p:sp>
          <p:sp>
            <p:nvSpPr>
              <p:cNvPr id="112" name="TextBox 112"/>
              <p:cNvSpPr txBox="1"/>
              <p:nvPr/>
            </p:nvSpPr>
            <p:spPr>
              <a:xfrm>
                <a:off x="1023938" y="4365784"/>
                <a:ext cx="111717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 xml:space="preserve">　（不动产/设备/存货等）</a:t>
                </a:r>
              </a:p>
            </p:txBody>
          </p:sp>
          <p:sp>
            <p:nvSpPr>
              <p:cNvPr id="113" name="TextBox 113"/>
              <p:cNvSpPr txBox="1"/>
              <p:nvPr/>
            </p:nvSpPr>
            <p:spPr>
              <a:xfrm>
                <a:off x="1023938" y="449913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权属与法律状态</a:t>
                </a:r>
              </a:p>
            </p:txBody>
          </p:sp>
          <p:sp>
            <p:nvSpPr>
              <p:cNvPr id="114" name="TextBox 114"/>
              <p:cNvSpPr txBox="1"/>
              <p:nvPr/>
            </p:nvSpPr>
            <p:spPr>
              <a:xfrm>
                <a:off x="1023938" y="4632484"/>
                <a:ext cx="90959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估值方法与估值结果</a:t>
                </a:r>
              </a:p>
            </p:txBody>
          </p:sp>
          <p:sp>
            <p:nvSpPr>
              <p:cNvPr id="115" name="TextBox 115"/>
              <p:cNvSpPr txBox="1"/>
              <p:nvPr/>
            </p:nvSpPr>
            <p:spPr>
              <a:xfrm>
                <a:off x="1023938" y="4765834"/>
                <a:ext cx="90959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处置难度与变现周期</a:t>
                </a:r>
              </a:p>
            </p:txBody>
          </p:sp>
          <p:sp>
            <p:nvSpPr>
              <p:cNvPr id="116" name="TextBox 116"/>
              <p:cNvSpPr txBox="1"/>
              <p:nvPr/>
            </p:nvSpPr>
            <p:spPr>
              <a:xfrm>
                <a:off x="1023938" y="4899184"/>
                <a:ext cx="1001141"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担保人信息与增信措施</a:t>
                </a:r>
              </a:p>
            </p:txBody>
          </p:sp>
          <p:sp>
            <p:nvSpPr>
              <p:cNvPr id="117" name="Rectangle 117"/>
              <p:cNvSpPr/>
              <p:nvPr/>
            </p:nvSpPr>
            <p:spPr>
              <a:xfrm>
                <a:off x="2400300" y="4267200"/>
                <a:ext cx="781050" cy="762000"/>
              </a:xfrm>
              <a:prstGeom prst="roundRect">
                <a:avLst>
                  <a:gd name="adj" fmla="val 5000"/>
                </a:avLst>
              </a:prstGeom>
              <a:solidFill>
                <a:srgbClr val="EEF5FB"/>
              </a:solidFill>
              <a:ln>
                <a:noFill/>
              </a:ln>
            </p:spPr>
          </p:sp>
          <p:grpSp>
            <p:nvGrpSpPr>
              <p:cNvPr id="120" name="Group 120"/>
              <p:cNvGrpSpPr/>
              <p:nvPr/>
            </p:nvGrpSpPr>
            <p:grpSpPr>
              <a:xfrm>
                <a:off x="2471738" y="4376738"/>
                <a:ext cx="85725" cy="85725"/>
                <a:chOff x="2471738" y="4376738"/>
                <a:chExt cx="85725" cy="85725"/>
              </a:xfrm>
            </p:grpSpPr>
            <p:sp>
              <p:nvSpPr>
                <p:cNvPr id="118" name="Freeform 118"/>
                <p:cNvSpPr/>
                <p:nvPr/>
              </p:nvSpPr>
              <p:spPr>
                <a:xfrm>
                  <a:off x="2471738" y="43767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119" name="Freeform 119"/>
                <p:cNvSpPr/>
                <p:nvPr/>
              </p:nvSpPr>
              <p:spPr>
                <a:xfrm>
                  <a:off x="2500312" y="441007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121" name="TextBox 121"/>
              <p:cNvSpPr txBox="1"/>
              <p:nvPr/>
            </p:nvSpPr>
            <p:spPr>
              <a:xfrm>
                <a:off x="2605088" y="4384834"/>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估值标准化</a:t>
                </a:r>
              </a:p>
            </p:txBody>
          </p:sp>
          <p:grpSp>
            <p:nvGrpSpPr>
              <p:cNvPr id="124" name="Group 124"/>
              <p:cNvGrpSpPr/>
              <p:nvPr/>
            </p:nvGrpSpPr>
            <p:grpSpPr>
              <a:xfrm>
                <a:off x="2471738" y="4605338"/>
                <a:ext cx="85725" cy="85725"/>
                <a:chOff x="2471738" y="4605338"/>
                <a:chExt cx="85725" cy="85725"/>
              </a:xfrm>
            </p:grpSpPr>
            <p:sp>
              <p:nvSpPr>
                <p:cNvPr id="122" name="Freeform 122"/>
                <p:cNvSpPr/>
                <p:nvPr/>
              </p:nvSpPr>
              <p:spPr>
                <a:xfrm>
                  <a:off x="2471738" y="46053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123" name="Freeform 123"/>
                <p:cNvSpPr/>
                <p:nvPr/>
              </p:nvSpPr>
              <p:spPr>
                <a:xfrm>
                  <a:off x="2500312" y="463867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125" name="TextBox 125"/>
              <p:cNvSpPr txBox="1"/>
              <p:nvPr/>
            </p:nvSpPr>
            <p:spPr>
              <a:xfrm>
                <a:off x="2605088" y="46134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权属核验</a:t>
                </a:r>
              </a:p>
            </p:txBody>
          </p:sp>
          <p:grpSp>
            <p:nvGrpSpPr>
              <p:cNvPr id="128" name="Group 128"/>
              <p:cNvGrpSpPr/>
              <p:nvPr/>
            </p:nvGrpSpPr>
            <p:grpSpPr>
              <a:xfrm>
                <a:off x="2471738" y="4833938"/>
                <a:ext cx="85725" cy="85725"/>
                <a:chOff x="2471738" y="4833938"/>
                <a:chExt cx="85725" cy="85725"/>
              </a:xfrm>
            </p:grpSpPr>
            <p:sp>
              <p:nvSpPr>
                <p:cNvPr id="126" name="Freeform 126"/>
                <p:cNvSpPr/>
                <p:nvPr/>
              </p:nvSpPr>
              <p:spPr>
                <a:xfrm>
                  <a:off x="2471738" y="48339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92301C"/>
                  </a:solidFill>
                </a:ln>
              </p:spPr>
            </p:sp>
            <p:sp>
              <p:nvSpPr>
                <p:cNvPr id="127" name="Freeform 127"/>
                <p:cNvSpPr/>
                <p:nvPr/>
              </p:nvSpPr>
              <p:spPr>
                <a:xfrm>
                  <a:off x="2500312" y="4867275"/>
                  <a:ext cx="28575" cy="19050"/>
                </a:xfrm>
                <a:custGeom>
                  <a:avLst/>
                  <a:gdLst/>
                  <a:ahLst/>
                  <a:cxnLst/>
                  <a:rect l="l" t="t" r="r" b="b"/>
                  <a:pathLst>
                    <a:path w="28575" h="19050">
                      <a:moveTo>
                        <a:pt x="0" y="9525"/>
                      </a:moveTo>
                      <a:lnTo>
                        <a:pt x="9525" y="19050"/>
                      </a:lnTo>
                      <a:lnTo>
                        <a:pt x="28575" y="0"/>
                      </a:lnTo>
                    </a:path>
                  </a:pathLst>
                </a:custGeom>
                <a:noFill/>
                <a:ln w="9525">
                  <a:solidFill>
                    <a:srgbClr val="92301C"/>
                  </a:solidFill>
                </a:ln>
              </p:spPr>
            </p:sp>
          </p:grpSp>
          <p:sp>
            <p:nvSpPr>
              <p:cNvPr id="129" name="TextBox 129"/>
              <p:cNvSpPr txBox="1"/>
              <p:nvPr/>
            </p:nvSpPr>
            <p:spPr>
              <a:xfrm>
                <a:off x="2605088" y="48420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动态监控</a:t>
                </a:r>
              </a:p>
            </p:txBody>
          </p:sp>
        </p:grpSp>
      </p:grpSp>
      <p:grpSp>
        <p:nvGrpSpPr>
          <p:cNvPr id="275" name="mid-flow"/>
          <p:cNvGrpSpPr/>
          <p:nvPr/>
        </p:nvGrpSpPr>
        <p:grpSpPr>
          <a:xfrm>
            <a:off x="3352800" y="990600"/>
            <a:ext cx="5086350" cy="3238500"/>
            <a:chOff x="3352800" y="990600"/>
            <a:chExt cx="5086350" cy="3238500"/>
          </a:xfrm>
        </p:grpSpPr>
        <p:grpSp>
          <p:nvGrpSpPr>
            <p:cNvPr id="150" name="mf-1"/>
            <p:cNvGrpSpPr/>
            <p:nvPr/>
          </p:nvGrpSpPr>
          <p:grpSpPr>
            <a:xfrm>
              <a:off x="3352800" y="990600"/>
              <a:ext cx="685800" cy="3238500"/>
              <a:chOff x="3352800" y="990600"/>
              <a:chExt cx="685800" cy="3238500"/>
            </a:xfrm>
          </p:grpSpPr>
          <p:sp>
            <p:nvSpPr>
              <p:cNvPr id="132" name="Rectangle 132"/>
              <p:cNvSpPr/>
              <p:nvPr/>
            </p:nvSpPr>
            <p:spPr>
              <a:xfrm>
                <a:off x="3352800" y="990600"/>
                <a:ext cx="685800" cy="3238500"/>
              </a:xfrm>
              <a:prstGeom prst="roundRect">
                <a:avLst>
                  <a:gd name="adj" fmla="val 8333"/>
                </a:avLst>
              </a:prstGeom>
              <a:solidFill>
                <a:srgbClr val="EEF5FB"/>
              </a:solidFill>
              <a:ln>
                <a:noFill/>
              </a:ln>
            </p:spPr>
          </p:sp>
          <p:sp>
            <p:nvSpPr>
              <p:cNvPr id="133" name="Rectangle 133"/>
              <p:cNvSpPr/>
              <p:nvPr/>
            </p:nvSpPr>
            <p:spPr>
              <a:xfrm>
                <a:off x="3505200" y="1047750"/>
                <a:ext cx="381000" cy="171450"/>
              </a:xfrm>
              <a:prstGeom prst="roundRect">
                <a:avLst>
                  <a:gd name="adj" fmla="val 22222"/>
                </a:avLst>
              </a:prstGeom>
              <a:solidFill>
                <a:srgbClr val="92301C"/>
              </a:solidFill>
              <a:ln>
                <a:noFill/>
              </a:ln>
            </p:spPr>
          </p:sp>
          <p:sp>
            <p:nvSpPr>
              <p:cNvPr id="134" name="TextBox 134"/>
              <p:cNvSpPr txBox="1"/>
              <p:nvPr/>
            </p:nvSpPr>
            <p:spPr>
              <a:xfrm>
                <a:off x="3629539" y="1082516"/>
                <a:ext cx="1323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01</a:t>
                </a:r>
              </a:p>
            </p:txBody>
          </p:sp>
          <p:grpSp>
            <p:nvGrpSpPr>
              <p:cNvPr id="138" name="Group 138"/>
              <p:cNvGrpSpPr/>
              <p:nvPr/>
            </p:nvGrpSpPr>
            <p:grpSpPr>
              <a:xfrm>
                <a:off x="3612356" y="1369219"/>
                <a:ext cx="166688" cy="214312"/>
                <a:chOff x="3612356" y="1369219"/>
                <a:chExt cx="166688" cy="214312"/>
              </a:xfrm>
            </p:grpSpPr>
            <p:sp>
              <p:nvSpPr>
                <p:cNvPr id="135" name="Freeform 135"/>
                <p:cNvSpPr/>
                <p:nvPr/>
              </p:nvSpPr>
              <p:spPr>
                <a:xfrm>
                  <a:off x="3612356" y="1393031"/>
                  <a:ext cx="166688" cy="190500"/>
                </a:xfrm>
                <a:custGeom>
                  <a:avLst/>
                  <a:gdLst/>
                  <a:ahLst/>
                  <a:cxnLst/>
                  <a:rect l="l" t="t" r="r" b="b"/>
                  <a:pathLst>
                    <a:path w="166688" h="190500">
                      <a:moveTo>
                        <a:pt x="47625" y="0"/>
                      </a:moveTo>
                      <a:lnTo>
                        <a:pt x="23812" y="0"/>
                      </a:lnTo>
                      <a:cubicBezTo>
                        <a:pt x="10661" y="0"/>
                        <a:pt x="0" y="10661"/>
                        <a:pt x="0" y="23812"/>
                      </a:cubicBezTo>
                      <a:lnTo>
                        <a:pt x="0" y="166688"/>
                      </a:lnTo>
                      <a:cubicBezTo>
                        <a:pt x="0" y="179839"/>
                        <a:pt x="10661" y="190500"/>
                        <a:pt x="23812" y="190500"/>
                      </a:cubicBezTo>
                      <a:lnTo>
                        <a:pt x="142875" y="190500"/>
                      </a:lnTo>
                      <a:cubicBezTo>
                        <a:pt x="156026" y="190500"/>
                        <a:pt x="166688" y="179839"/>
                        <a:pt x="166688" y="166688"/>
                      </a:cubicBezTo>
                      <a:lnTo>
                        <a:pt x="166688" y="23812"/>
                      </a:lnTo>
                      <a:cubicBezTo>
                        <a:pt x="166688" y="10661"/>
                        <a:pt x="156026" y="0"/>
                        <a:pt x="142875" y="0"/>
                      </a:cubicBezTo>
                      <a:lnTo>
                        <a:pt x="119062" y="0"/>
                      </a:lnTo>
                    </a:path>
                  </a:pathLst>
                </a:custGeom>
                <a:noFill/>
                <a:ln w="23812">
                  <a:solidFill>
                    <a:srgbClr val="92301C"/>
                  </a:solidFill>
                </a:ln>
              </p:spPr>
            </p:sp>
            <p:sp>
              <p:nvSpPr>
                <p:cNvPr id="136" name="Freeform 136"/>
                <p:cNvSpPr/>
                <p:nvPr/>
              </p:nvSpPr>
              <p:spPr>
                <a:xfrm>
                  <a:off x="3659981" y="1369219"/>
                  <a:ext cx="71438" cy="47625"/>
                </a:xfrm>
                <a:custGeom>
                  <a:avLst/>
                  <a:gdLst/>
                  <a:ahLst/>
                  <a:cxnLst/>
                  <a:rect l="l" t="t" r="r" b="b"/>
                  <a:pathLst>
                    <a:path w="71438" h="47625">
                      <a:moveTo>
                        <a:pt x="0" y="23812"/>
                      </a:moveTo>
                      <a:cubicBezTo>
                        <a:pt x="0" y="10661"/>
                        <a:pt x="10661" y="0"/>
                        <a:pt x="23812" y="0"/>
                      </a:cubicBezTo>
                      <a:lnTo>
                        <a:pt x="47625" y="0"/>
                      </a:lnTo>
                      <a:cubicBezTo>
                        <a:pt x="60776" y="0"/>
                        <a:pt x="71438" y="10661"/>
                        <a:pt x="71438" y="23812"/>
                      </a:cubicBezTo>
                      <a:cubicBezTo>
                        <a:pt x="71438" y="36964"/>
                        <a:pt x="60776" y="47625"/>
                        <a:pt x="47625" y="47625"/>
                      </a:cubicBezTo>
                      <a:lnTo>
                        <a:pt x="23812" y="47625"/>
                      </a:lnTo>
                      <a:cubicBezTo>
                        <a:pt x="10661" y="47625"/>
                        <a:pt x="0" y="36964"/>
                        <a:pt x="0" y="23812"/>
                      </a:cubicBezTo>
                    </a:path>
                  </a:pathLst>
                </a:custGeom>
                <a:noFill/>
                <a:ln w="23812">
                  <a:solidFill>
                    <a:srgbClr val="92301C"/>
                  </a:solidFill>
                </a:ln>
              </p:spPr>
            </p:sp>
            <p:sp>
              <p:nvSpPr>
                <p:cNvPr id="137" name="Freeform 137"/>
                <p:cNvSpPr/>
                <p:nvPr/>
              </p:nvSpPr>
              <p:spPr>
                <a:xfrm>
                  <a:off x="3659981" y="1476375"/>
                  <a:ext cx="71438" cy="47625"/>
                </a:xfrm>
                <a:custGeom>
                  <a:avLst/>
                  <a:gdLst/>
                  <a:ahLst/>
                  <a:cxnLst/>
                  <a:rect l="l" t="t" r="r" b="b"/>
                  <a:pathLst>
                    <a:path w="71438" h="47625">
                      <a:moveTo>
                        <a:pt x="0" y="23812"/>
                      </a:moveTo>
                      <a:lnTo>
                        <a:pt x="23812" y="47625"/>
                      </a:lnTo>
                      <a:lnTo>
                        <a:pt x="71438" y="0"/>
                      </a:lnTo>
                    </a:path>
                  </a:pathLst>
                </a:custGeom>
                <a:noFill/>
                <a:ln w="23812">
                  <a:solidFill>
                    <a:srgbClr val="92301C"/>
                  </a:solidFill>
                </a:ln>
              </p:spPr>
            </p:sp>
          </p:grpSp>
          <p:sp>
            <p:nvSpPr>
              <p:cNvPr id="139" name="TextBox 139"/>
              <p:cNvSpPr txBox="1"/>
              <p:nvPr/>
            </p:nvSpPr>
            <p:spPr>
              <a:xfrm>
                <a:off x="3448622" y="1769745"/>
                <a:ext cx="494157" cy="176212"/>
              </a:xfrm>
              <a:prstGeom prst="rect">
                <a:avLst/>
              </a:prstGeom>
              <a:noFill/>
              <a:ln>
                <a:noFill/>
              </a:ln>
            </p:spPr>
            <p:txBody>
              <a:bodyPr wrap="none" lIns="0" tIns="0" rIns="0" bIns="0" anchor="t" anchorCtr="0">
                <a:spAutoFit/>
              </a:bodyPr>
              <a:lstStyle/>
              <a:p>
                <a:pPr algn="ctr"/>
                <a:r>
                  <a:rPr lang="zh-CN" sz="900" b="1" dirty="0">
                    <a:solidFill>
                      <a:srgbClr val="6B1B0B"/>
                    </a:solidFill>
                    <a:latin typeface="+mn-lt"/>
                    <a:ea typeface="+mn-ea"/>
                    <a:cs typeface="+mn-cs"/>
                  </a:rPr>
                  <a:t>准入校验</a:t>
                </a:r>
              </a:p>
            </p:txBody>
          </p:sp>
          <p:sp>
            <p:nvSpPr>
              <p:cNvPr id="140" name="Rectangle 140"/>
              <p:cNvSpPr/>
              <p:nvPr/>
            </p:nvSpPr>
            <p:spPr>
              <a:xfrm>
                <a:off x="3371850" y="2019300"/>
                <a:ext cx="647700" cy="209550"/>
              </a:xfrm>
              <a:prstGeom prst="roundRect">
                <a:avLst>
                  <a:gd name="adj" fmla="val 13636"/>
                </a:avLst>
              </a:prstGeom>
              <a:solidFill>
                <a:srgbClr val="FFFFFF"/>
              </a:solidFill>
              <a:ln>
                <a:noFill/>
              </a:ln>
            </p:spPr>
          </p:sp>
          <p:sp>
            <p:nvSpPr>
              <p:cNvPr id="141" name="TextBox 141"/>
              <p:cNvSpPr txBox="1"/>
              <p:nvPr/>
            </p:nvSpPr>
            <p:spPr>
              <a:xfrm>
                <a:off x="3448622" y="2097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客户资质核验</a:t>
                </a:r>
              </a:p>
            </p:txBody>
          </p:sp>
          <p:sp>
            <p:nvSpPr>
              <p:cNvPr id="142" name="Rectangle 142"/>
              <p:cNvSpPr/>
              <p:nvPr/>
            </p:nvSpPr>
            <p:spPr>
              <a:xfrm>
                <a:off x="3371850" y="2400300"/>
                <a:ext cx="647700" cy="209550"/>
              </a:xfrm>
              <a:prstGeom prst="roundRect">
                <a:avLst>
                  <a:gd name="adj" fmla="val 13636"/>
                </a:avLst>
              </a:prstGeom>
              <a:solidFill>
                <a:srgbClr val="FFFFFF"/>
              </a:solidFill>
              <a:ln>
                <a:noFill/>
              </a:ln>
            </p:spPr>
          </p:sp>
          <p:sp>
            <p:nvSpPr>
              <p:cNvPr id="143" name="TextBox 143"/>
              <p:cNvSpPr txBox="1"/>
              <p:nvPr/>
            </p:nvSpPr>
            <p:spPr>
              <a:xfrm>
                <a:off x="3408236" y="2478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行业与区域限制</a:t>
                </a:r>
              </a:p>
            </p:txBody>
          </p:sp>
          <p:sp>
            <p:nvSpPr>
              <p:cNvPr id="144" name="Rectangle 144"/>
              <p:cNvSpPr/>
              <p:nvPr/>
            </p:nvSpPr>
            <p:spPr>
              <a:xfrm>
                <a:off x="3371850" y="2781300"/>
                <a:ext cx="647700" cy="209550"/>
              </a:xfrm>
              <a:prstGeom prst="roundRect">
                <a:avLst>
                  <a:gd name="adj" fmla="val 13636"/>
                </a:avLst>
              </a:prstGeom>
              <a:solidFill>
                <a:srgbClr val="FFFFFF"/>
              </a:solidFill>
              <a:ln>
                <a:noFill/>
              </a:ln>
            </p:spPr>
          </p:sp>
          <p:sp>
            <p:nvSpPr>
              <p:cNvPr id="145" name="TextBox 145"/>
              <p:cNvSpPr txBox="1"/>
              <p:nvPr/>
            </p:nvSpPr>
            <p:spPr>
              <a:xfrm>
                <a:off x="3408236" y="2859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名单与合规检查</a:t>
                </a:r>
              </a:p>
            </p:txBody>
          </p:sp>
          <p:sp>
            <p:nvSpPr>
              <p:cNvPr id="146" name="Rectangle 146"/>
              <p:cNvSpPr/>
              <p:nvPr/>
            </p:nvSpPr>
            <p:spPr>
              <a:xfrm>
                <a:off x="3371850" y="3162300"/>
                <a:ext cx="647700" cy="209550"/>
              </a:xfrm>
              <a:prstGeom prst="roundRect">
                <a:avLst>
                  <a:gd name="adj" fmla="val 13636"/>
                </a:avLst>
              </a:prstGeom>
              <a:solidFill>
                <a:srgbClr val="FFFFFF"/>
              </a:solidFill>
              <a:ln>
                <a:noFill/>
              </a:ln>
            </p:spPr>
          </p:sp>
          <p:sp>
            <p:nvSpPr>
              <p:cNvPr id="147" name="TextBox 147"/>
              <p:cNvSpPr txBox="1"/>
              <p:nvPr/>
            </p:nvSpPr>
            <p:spPr>
              <a:xfrm>
                <a:off x="3448622" y="3240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历史授信情况</a:t>
                </a:r>
              </a:p>
            </p:txBody>
          </p:sp>
          <p:sp>
            <p:nvSpPr>
              <p:cNvPr id="148" name="Rectangle 148"/>
              <p:cNvSpPr/>
              <p:nvPr/>
            </p:nvSpPr>
            <p:spPr>
              <a:xfrm>
                <a:off x="3371850" y="3543300"/>
                <a:ext cx="647700" cy="209550"/>
              </a:xfrm>
              <a:prstGeom prst="roundRect">
                <a:avLst>
                  <a:gd name="adj" fmla="val 13636"/>
                </a:avLst>
              </a:prstGeom>
              <a:solidFill>
                <a:srgbClr val="FFFFFF"/>
              </a:solidFill>
              <a:ln>
                <a:noFill/>
              </a:ln>
            </p:spPr>
          </p:sp>
          <p:sp>
            <p:nvSpPr>
              <p:cNvPr id="149" name="TextBox 149"/>
              <p:cNvSpPr txBox="1"/>
              <p:nvPr/>
            </p:nvSpPr>
            <p:spPr>
              <a:xfrm>
                <a:off x="3448622" y="3621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准入结果输出</a:t>
                </a:r>
              </a:p>
            </p:txBody>
          </p:sp>
        </p:grpSp>
        <p:grpSp>
          <p:nvGrpSpPr>
            <p:cNvPr id="174" name="mf-2"/>
            <p:cNvGrpSpPr/>
            <p:nvPr/>
          </p:nvGrpSpPr>
          <p:grpSpPr>
            <a:xfrm>
              <a:off x="4086225" y="990600"/>
              <a:ext cx="685800" cy="3238500"/>
              <a:chOff x="4086225" y="990600"/>
              <a:chExt cx="685800" cy="3238500"/>
            </a:xfrm>
          </p:grpSpPr>
          <p:sp>
            <p:nvSpPr>
              <p:cNvPr id="151" name="Rectangle 151"/>
              <p:cNvSpPr/>
              <p:nvPr/>
            </p:nvSpPr>
            <p:spPr>
              <a:xfrm>
                <a:off x="4086225" y="990600"/>
                <a:ext cx="685800" cy="3238500"/>
              </a:xfrm>
              <a:prstGeom prst="roundRect">
                <a:avLst>
                  <a:gd name="adj" fmla="val 8333"/>
                </a:avLst>
              </a:prstGeom>
              <a:solidFill>
                <a:srgbClr val="EEF5FB"/>
              </a:solidFill>
              <a:ln>
                <a:noFill/>
              </a:ln>
            </p:spPr>
          </p:sp>
          <p:sp>
            <p:nvSpPr>
              <p:cNvPr id="152" name="Rectangle 152"/>
              <p:cNvSpPr/>
              <p:nvPr/>
            </p:nvSpPr>
            <p:spPr>
              <a:xfrm>
                <a:off x="4238625" y="1047750"/>
                <a:ext cx="381000" cy="171450"/>
              </a:xfrm>
              <a:prstGeom prst="roundRect">
                <a:avLst>
                  <a:gd name="adj" fmla="val 22222"/>
                </a:avLst>
              </a:prstGeom>
              <a:solidFill>
                <a:srgbClr val="92301C"/>
              </a:solidFill>
              <a:ln>
                <a:noFill/>
              </a:ln>
            </p:spPr>
          </p:sp>
          <p:sp>
            <p:nvSpPr>
              <p:cNvPr id="153" name="TextBox 153"/>
              <p:cNvSpPr txBox="1"/>
              <p:nvPr/>
            </p:nvSpPr>
            <p:spPr>
              <a:xfrm>
                <a:off x="4362964" y="1082516"/>
                <a:ext cx="1323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02</a:t>
                </a:r>
              </a:p>
            </p:txBody>
          </p:sp>
          <p:grpSp>
            <p:nvGrpSpPr>
              <p:cNvPr id="162" name="Group 162"/>
              <p:cNvGrpSpPr/>
              <p:nvPr/>
            </p:nvGrpSpPr>
            <p:grpSpPr>
              <a:xfrm>
                <a:off x="4333875" y="1369219"/>
                <a:ext cx="190500" cy="214312"/>
                <a:chOff x="4333875" y="1369219"/>
                <a:chExt cx="190500" cy="214312"/>
              </a:xfrm>
            </p:grpSpPr>
            <p:sp>
              <p:nvSpPr>
                <p:cNvPr id="154" name="Freeform 154"/>
                <p:cNvSpPr/>
                <p:nvPr/>
              </p:nvSpPr>
              <p:spPr>
                <a:xfrm>
                  <a:off x="4333875" y="1369219"/>
                  <a:ext cx="190500" cy="214312"/>
                </a:xfrm>
                <a:custGeom>
                  <a:avLst/>
                  <a:gdLst/>
                  <a:ahLst/>
                  <a:cxnLst/>
                  <a:rect l="l" t="t" r="r" b="b"/>
                  <a:pathLst>
                    <a:path w="190500" h="214312">
                      <a:moveTo>
                        <a:pt x="0" y="23812"/>
                      </a:moveTo>
                      <a:cubicBezTo>
                        <a:pt x="0" y="10661"/>
                        <a:pt x="10661" y="0"/>
                        <a:pt x="23812" y="0"/>
                      </a:cubicBezTo>
                      <a:lnTo>
                        <a:pt x="166688" y="0"/>
                      </a:lnTo>
                      <a:cubicBezTo>
                        <a:pt x="179839" y="0"/>
                        <a:pt x="190500" y="10661"/>
                        <a:pt x="190500" y="23812"/>
                      </a:cubicBezTo>
                      <a:lnTo>
                        <a:pt x="190500" y="190500"/>
                      </a:lnTo>
                      <a:cubicBezTo>
                        <a:pt x="190500" y="203651"/>
                        <a:pt x="179839" y="214312"/>
                        <a:pt x="166688" y="214312"/>
                      </a:cubicBezTo>
                      <a:lnTo>
                        <a:pt x="23812" y="214312"/>
                      </a:lnTo>
                      <a:cubicBezTo>
                        <a:pt x="10661" y="214312"/>
                        <a:pt x="0" y="203651"/>
                        <a:pt x="0" y="190500"/>
                      </a:cubicBezTo>
                      <a:lnTo>
                        <a:pt x="0" y="23812"/>
                      </a:lnTo>
                    </a:path>
                  </a:pathLst>
                </a:custGeom>
                <a:noFill/>
                <a:ln w="23812">
                  <a:solidFill>
                    <a:srgbClr val="92301C"/>
                  </a:solidFill>
                </a:ln>
              </p:spPr>
            </p:sp>
            <p:sp>
              <p:nvSpPr>
                <p:cNvPr id="155" name="Freeform 155"/>
                <p:cNvSpPr/>
                <p:nvPr/>
              </p:nvSpPr>
              <p:spPr>
                <a:xfrm>
                  <a:off x="4381500" y="1416844"/>
                  <a:ext cx="95250" cy="35719"/>
                </a:xfrm>
                <a:custGeom>
                  <a:avLst/>
                  <a:gdLst/>
                  <a:ahLst/>
                  <a:cxnLst/>
                  <a:rect l="l" t="t" r="r" b="b"/>
                  <a:pathLst>
                    <a:path w="95250" h="35719">
                      <a:moveTo>
                        <a:pt x="0" y="11906"/>
                      </a:moveTo>
                      <a:cubicBezTo>
                        <a:pt x="0" y="5331"/>
                        <a:pt x="5331" y="0"/>
                        <a:pt x="11906" y="0"/>
                      </a:cubicBezTo>
                      <a:lnTo>
                        <a:pt x="83344" y="0"/>
                      </a:lnTo>
                      <a:cubicBezTo>
                        <a:pt x="89919" y="0"/>
                        <a:pt x="95250" y="5331"/>
                        <a:pt x="95250" y="11906"/>
                      </a:cubicBezTo>
                      <a:lnTo>
                        <a:pt x="95250" y="23812"/>
                      </a:lnTo>
                      <a:cubicBezTo>
                        <a:pt x="95250" y="30388"/>
                        <a:pt x="89919" y="35719"/>
                        <a:pt x="83344" y="35719"/>
                      </a:cubicBezTo>
                      <a:lnTo>
                        <a:pt x="11906" y="35719"/>
                      </a:lnTo>
                      <a:cubicBezTo>
                        <a:pt x="5331" y="35719"/>
                        <a:pt x="0" y="30388"/>
                        <a:pt x="0" y="23812"/>
                      </a:cubicBezTo>
                      <a:lnTo>
                        <a:pt x="0" y="11906"/>
                      </a:lnTo>
                    </a:path>
                  </a:pathLst>
                </a:custGeom>
                <a:noFill/>
                <a:ln w="23812">
                  <a:solidFill>
                    <a:srgbClr val="92301C"/>
                  </a:solidFill>
                </a:ln>
              </p:spPr>
            </p:sp>
            <p:sp>
              <p:nvSpPr>
                <p:cNvPr id="156" name="Freeform 156"/>
                <p:cNvSpPr/>
                <p:nvPr/>
              </p:nvSpPr>
              <p:spPr>
                <a:xfrm>
                  <a:off x="4381500" y="1500188"/>
                  <a:ext cx="9525" cy="9525"/>
                </a:xfrm>
                <a:custGeom>
                  <a:avLst/>
                  <a:gdLst/>
                  <a:ahLst/>
                  <a:cxnLst/>
                  <a:rect l="l" t="t" r="r" b="b"/>
                  <a:pathLst>
                    <a:path w="9525" h="9525">
                      <a:moveTo>
                        <a:pt x="0" y="0"/>
                      </a:moveTo>
                      <a:lnTo>
                        <a:pt x="0" y="119"/>
                      </a:lnTo>
                    </a:path>
                  </a:pathLst>
                </a:custGeom>
                <a:noFill/>
                <a:ln w="23812">
                  <a:solidFill>
                    <a:srgbClr val="92301C"/>
                  </a:solidFill>
                </a:ln>
              </p:spPr>
            </p:sp>
            <p:sp>
              <p:nvSpPr>
                <p:cNvPr id="157" name="Freeform 157"/>
                <p:cNvSpPr/>
                <p:nvPr/>
              </p:nvSpPr>
              <p:spPr>
                <a:xfrm>
                  <a:off x="4429125" y="1500188"/>
                  <a:ext cx="9525" cy="9525"/>
                </a:xfrm>
                <a:custGeom>
                  <a:avLst/>
                  <a:gdLst/>
                  <a:ahLst/>
                  <a:cxnLst/>
                  <a:rect l="l" t="t" r="r" b="b"/>
                  <a:pathLst>
                    <a:path w="9525" h="9525">
                      <a:moveTo>
                        <a:pt x="0" y="0"/>
                      </a:moveTo>
                      <a:lnTo>
                        <a:pt x="0" y="119"/>
                      </a:lnTo>
                    </a:path>
                  </a:pathLst>
                </a:custGeom>
                <a:noFill/>
                <a:ln w="23812">
                  <a:solidFill>
                    <a:srgbClr val="92301C"/>
                  </a:solidFill>
                </a:ln>
              </p:spPr>
            </p:sp>
            <p:sp>
              <p:nvSpPr>
                <p:cNvPr id="158" name="Freeform 158"/>
                <p:cNvSpPr/>
                <p:nvPr/>
              </p:nvSpPr>
              <p:spPr>
                <a:xfrm>
                  <a:off x="4476750" y="1500188"/>
                  <a:ext cx="9525" cy="9525"/>
                </a:xfrm>
                <a:custGeom>
                  <a:avLst/>
                  <a:gdLst/>
                  <a:ahLst/>
                  <a:cxnLst/>
                  <a:rect l="l" t="t" r="r" b="b"/>
                  <a:pathLst>
                    <a:path w="9525" h="9525">
                      <a:moveTo>
                        <a:pt x="0" y="0"/>
                      </a:moveTo>
                      <a:lnTo>
                        <a:pt x="0" y="119"/>
                      </a:lnTo>
                    </a:path>
                  </a:pathLst>
                </a:custGeom>
                <a:noFill/>
                <a:ln w="23812">
                  <a:solidFill>
                    <a:srgbClr val="92301C"/>
                  </a:solidFill>
                </a:ln>
              </p:spPr>
            </p:sp>
            <p:sp>
              <p:nvSpPr>
                <p:cNvPr id="159" name="Freeform 159"/>
                <p:cNvSpPr/>
                <p:nvPr/>
              </p:nvSpPr>
              <p:spPr>
                <a:xfrm>
                  <a:off x="4381500" y="1535906"/>
                  <a:ext cx="9525" cy="9525"/>
                </a:xfrm>
                <a:custGeom>
                  <a:avLst/>
                  <a:gdLst/>
                  <a:ahLst/>
                  <a:cxnLst/>
                  <a:rect l="l" t="t" r="r" b="b"/>
                  <a:pathLst>
                    <a:path w="9525" h="9525">
                      <a:moveTo>
                        <a:pt x="0" y="0"/>
                      </a:moveTo>
                      <a:lnTo>
                        <a:pt x="0" y="119"/>
                      </a:lnTo>
                    </a:path>
                  </a:pathLst>
                </a:custGeom>
                <a:noFill/>
                <a:ln w="23812">
                  <a:solidFill>
                    <a:srgbClr val="92301C"/>
                  </a:solidFill>
                </a:ln>
              </p:spPr>
            </p:sp>
            <p:sp>
              <p:nvSpPr>
                <p:cNvPr id="160" name="Freeform 160"/>
                <p:cNvSpPr/>
                <p:nvPr/>
              </p:nvSpPr>
              <p:spPr>
                <a:xfrm>
                  <a:off x="4429125" y="1535906"/>
                  <a:ext cx="9525" cy="9525"/>
                </a:xfrm>
                <a:custGeom>
                  <a:avLst/>
                  <a:gdLst/>
                  <a:ahLst/>
                  <a:cxnLst/>
                  <a:rect l="l" t="t" r="r" b="b"/>
                  <a:pathLst>
                    <a:path w="9525" h="9525">
                      <a:moveTo>
                        <a:pt x="0" y="0"/>
                      </a:moveTo>
                      <a:lnTo>
                        <a:pt x="0" y="119"/>
                      </a:lnTo>
                    </a:path>
                  </a:pathLst>
                </a:custGeom>
                <a:noFill/>
                <a:ln w="23812">
                  <a:solidFill>
                    <a:srgbClr val="92301C"/>
                  </a:solidFill>
                </a:ln>
              </p:spPr>
            </p:sp>
            <p:sp>
              <p:nvSpPr>
                <p:cNvPr id="161" name="Freeform 161"/>
                <p:cNvSpPr/>
                <p:nvPr/>
              </p:nvSpPr>
              <p:spPr>
                <a:xfrm>
                  <a:off x="4476750" y="1535906"/>
                  <a:ext cx="9525" cy="9525"/>
                </a:xfrm>
                <a:custGeom>
                  <a:avLst/>
                  <a:gdLst/>
                  <a:ahLst/>
                  <a:cxnLst/>
                  <a:rect l="l" t="t" r="r" b="b"/>
                  <a:pathLst>
                    <a:path w="9525" h="9525">
                      <a:moveTo>
                        <a:pt x="0" y="0"/>
                      </a:moveTo>
                      <a:lnTo>
                        <a:pt x="0" y="119"/>
                      </a:lnTo>
                    </a:path>
                  </a:pathLst>
                </a:custGeom>
                <a:noFill/>
                <a:ln w="23812">
                  <a:solidFill>
                    <a:srgbClr val="92301C"/>
                  </a:solidFill>
                </a:ln>
              </p:spPr>
            </p:sp>
          </p:grpSp>
          <p:sp>
            <p:nvSpPr>
              <p:cNvPr id="163" name="TextBox 163"/>
              <p:cNvSpPr txBox="1"/>
              <p:nvPr/>
            </p:nvSpPr>
            <p:spPr>
              <a:xfrm>
                <a:off x="4182046" y="1769745"/>
                <a:ext cx="494157" cy="176212"/>
              </a:xfrm>
              <a:prstGeom prst="rect">
                <a:avLst/>
              </a:prstGeom>
              <a:noFill/>
              <a:ln>
                <a:noFill/>
              </a:ln>
            </p:spPr>
            <p:txBody>
              <a:bodyPr wrap="none" lIns="0" tIns="0" rIns="0" bIns="0" anchor="t" anchorCtr="0">
                <a:spAutoFit/>
              </a:bodyPr>
              <a:lstStyle/>
              <a:p>
                <a:pPr algn="ctr"/>
                <a:r>
                  <a:rPr lang="zh-CN" sz="900" b="1" dirty="0">
                    <a:solidFill>
                      <a:srgbClr val="6B1B0B"/>
                    </a:solidFill>
                    <a:latin typeface="+mn-lt"/>
                    <a:ea typeface="+mn-ea"/>
                    <a:cs typeface="+mn-cs"/>
                  </a:rPr>
                  <a:t>额度测算</a:t>
                </a:r>
              </a:p>
            </p:txBody>
          </p:sp>
          <p:sp>
            <p:nvSpPr>
              <p:cNvPr id="164" name="Rectangle 164"/>
              <p:cNvSpPr/>
              <p:nvPr/>
            </p:nvSpPr>
            <p:spPr>
              <a:xfrm>
                <a:off x="4105275" y="2019300"/>
                <a:ext cx="647700" cy="209550"/>
              </a:xfrm>
              <a:prstGeom prst="roundRect">
                <a:avLst>
                  <a:gd name="adj" fmla="val 13636"/>
                </a:avLst>
              </a:prstGeom>
              <a:solidFill>
                <a:srgbClr val="FFFFFF"/>
              </a:solidFill>
              <a:ln>
                <a:noFill/>
              </a:ln>
            </p:spPr>
          </p:sp>
          <p:sp>
            <p:nvSpPr>
              <p:cNvPr id="165" name="TextBox 165"/>
              <p:cNvSpPr txBox="1"/>
              <p:nvPr/>
            </p:nvSpPr>
            <p:spPr>
              <a:xfrm>
                <a:off x="4182046" y="2097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基于评级结果</a:t>
                </a:r>
              </a:p>
            </p:txBody>
          </p:sp>
          <p:sp>
            <p:nvSpPr>
              <p:cNvPr id="166" name="Rectangle 166"/>
              <p:cNvSpPr/>
              <p:nvPr/>
            </p:nvSpPr>
            <p:spPr>
              <a:xfrm>
                <a:off x="4105275" y="2400300"/>
                <a:ext cx="647700" cy="209550"/>
              </a:xfrm>
              <a:prstGeom prst="roundRect">
                <a:avLst>
                  <a:gd name="adj" fmla="val 13636"/>
                </a:avLst>
              </a:prstGeom>
              <a:solidFill>
                <a:srgbClr val="FFFFFF"/>
              </a:solidFill>
              <a:ln>
                <a:noFill/>
              </a:ln>
            </p:spPr>
          </p:sp>
          <p:sp>
            <p:nvSpPr>
              <p:cNvPr id="167" name="TextBox 167"/>
              <p:cNvSpPr txBox="1"/>
              <p:nvPr/>
            </p:nvSpPr>
            <p:spPr>
              <a:xfrm>
                <a:off x="4101274" y="2478405"/>
                <a:ext cx="655701"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现金流与偿债能力</a:t>
                </a:r>
              </a:p>
            </p:txBody>
          </p:sp>
          <p:sp>
            <p:nvSpPr>
              <p:cNvPr id="168" name="Rectangle 168"/>
              <p:cNvSpPr/>
              <p:nvPr/>
            </p:nvSpPr>
            <p:spPr>
              <a:xfrm>
                <a:off x="4105275" y="2781300"/>
                <a:ext cx="647700" cy="209550"/>
              </a:xfrm>
              <a:prstGeom prst="roundRect">
                <a:avLst>
                  <a:gd name="adj" fmla="val 13636"/>
                </a:avLst>
              </a:prstGeom>
              <a:solidFill>
                <a:srgbClr val="FFFFFF"/>
              </a:solidFill>
              <a:ln>
                <a:noFill/>
              </a:ln>
            </p:spPr>
          </p:sp>
          <p:sp>
            <p:nvSpPr>
              <p:cNvPr id="169" name="TextBox 169"/>
              <p:cNvSpPr txBox="1"/>
              <p:nvPr/>
            </p:nvSpPr>
            <p:spPr>
              <a:xfrm>
                <a:off x="4182046" y="2859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抵质押覆盖率</a:t>
                </a:r>
              </a:p>
            </p:txBody>
          </p:sp>
          <p:sp>
            <p:nvSpPr>
              <p:cNvPr id="170" name="Rectangle 170"/>
              <p:cNvSpPr/>
              <p:nvPr/>
            </p:nvSpPr>
            <p:spPr>
              <a:xfrm>
                <a:off x="4105275" y="3162300"/>
                <a:ext cx="647700" cy="209550"/>
              </a:xfrm>
              <a:prstGeom prst="roundRect">
                <a:avLst>
                  <a:gd name="adj" fmla="val 13636"/>
                </a:avLst>
              </a:prstGeom>
              <a:solidFill>
                <a:srgbClr val="FFFFFF"/>
              </a:solidFill>
              <a:ln>
                <a:noFill/>
              </a:ln>
            </p:spPr>
          </p:sp>
          <p:sp>
            <p:nvSpPr>
              <p:cNvPr id="171" name="TextBox 171"/>
              <p:cNvSpPr txBox="1"/>
              <p:nvPr/>
            </p:nvSpPr>
            <p:spPr>
              <a:xfrm>
                <a:off x="4141660" y="3240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集团与关联限额</a:t>
                </a:r>
              </a:p>
            </p:txBody>
          </p:sp>
          <p:sp>
            <p:nvSpPr>
              <p:cNvPr id="172" name="Rectangle 172"/>
              <p:cNvSpPr/>
              <p:nvPr/>
            </p:nvSpPr>
            <p:spPr>
              <a:xfrm>
                <a:off x="4105275" y="3543300"/>
                <a:ext cx="647700" cy="209550"/>
              </a:xfrm>
              <a:prstGeom prst="roundRect">
                <a:avLst>
                  <a:gd name="adj" fmla="val 13636"/>
                </a:avLst>
              </a:prstGeom>
              <a:solidFill>
                <a:srgbClr val="FFFFFF"/>
              </a:solidFill>
              <a:ln>
                <a:noFill/>
              </a:ln>
            </p:spPr>
          </p:sp>
          <p:sp>
            <p:nvSpPr>
              <p:cNvPr id="173" name="TextBox 173"/>
              <p:cNvSpPr txBox="1"/>
              <p:nvPr/>
            </p:nvSpPr>
            <p:spPr>
              <a:xfrm>
                <a:off x="4182046" y="3621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建议授信额度</a:t>
                </a:r>
              </a:p>
            </p:txBody>
          </p:sp>
        </p:grpSp>
        <p:grpSp>
          <p:nvGrpSpPr>
            <p:cNvPr id="192" name="mf-3"/>
            <p:cNvGrpSpPr/>
            <p:nvPr/>
          </p:nvGrpSpPr>
          <p:grpSpPr>
            <a:xfrm>
              <a:off x="4819650" y="990600"/>
              <a:ext cx="685800" cy="3238500"/>
              <a:chOff x="4819650" y="990600"/>
              <a:chExt cx="685800" cy="3238500"/>
            </a:xfrm>
          </p:grpSpPr>
          <p:sp>
            <p:nvSpPr>
              <p:cNvPr id="175" name="Rectangle 175"/>
              <p:cNvSpPr/>
              <p:nvPr/>
            </p:nvSpPr>
            <p:spPr>
              <a:xfrm>
                <a:off x="4819650" y="990600"/>
                <a:ext cx="685800" cy="3238500"/>
              </a:xfrm>
              <a:prstGeom prst="roundRect">
                <a:avLst>
                  <a:gd name="adj" fmla="val 8333"/>
                </a:avLst>
              </a:prstGeom>
              <a:solidFill>
                <a:srgbClr val="EEF5FB"/>
              </a:solidFill>
              <a:ln>
                <a:noFill/>
              </a:ln>
            </p:spPr>
          </p:sp>
          <p:sp>
            <p:nvSpPr>
              <p:cNvPr id="176" name="Rectangle 176"/>
              <p:cNvSpPr/>
              <p:nvPr/>
            </p:nvSpPr>
            <p:spPr>
              <a:xfrm>
                <a:off x="4972050" y="1047750"/>
                <a:ext cx="381000" cy="171450"/>
              </a:xfrm>
              <a:prstGeom prst="roundRect">
                <a:avLst>
                  <a:gd name="adj" fmla="val 22222"/>
                </a:avLst>
              </a:prstGeom>
              <a:solidFill>
                <a:srgbClr val="92301C"/>
              </a:solidFill>
              <a:ln>
                <a:noFill/>
              </a:ln>
            </p:spPr>
          </p:sp>
          <p:sp>
            <p:nvSpPr>
              <p:cNvPr id="177" name="TextBox 177"/>
              <p:cNvSpPr txBox="1"/>
              <p:nvPr/>
            </p:nvSpPr>
            <p:spPr>
              <a:xfrm>
                <a:off x="5096389" y="1082516"/>
                <a:ext cx="1323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03</a:t>
                </a:r>
              </a:p>
            </p:txBody>
          </p:sp>
          <p:grpSp>
            <p:nvGrpSpPr>
              <p:cNvPr id="180" name="Group 180"/>
              <p:cNvGrpSpPr/>
              <p:nvPr/>
            </p:nvGrpSpPr>
            <p:grpSpPr>
              <a:xfrm>
                <a:off x="5067300" y="1404938"/>
                <a:ext cx="190500" cy="164306"/>
                <a:chOff x="5067300" y="1404938"/>
                <a:chExt cx="190500" cy="164306"/>
              </a:xfrm>
            </p:grpSpPr>
            <p:sp>
              <p:nvSpPr>
                <p:cNvPr id="178" name="Freeform 178"/>
                <p:cNvSpPr/>
                <p:nvPr/>
              </p:nvSpPr>
              <p:spPr>
                <a:xfrm>
                  <a:off x="5067300" y="1559719"/>
                  <a:ext cx="190500" cy="9525"/>
                </a:xfrm>
                <a:custGeom>
                  <a:avLst/>
                  <a:gdLst/>
                  <a:ahLst/>
                  <a:cxnLst/>
                  <a:rect l="l" t="t" r="r" b="b"/>
                  <a:pathLst>
                    <a:path w="190500" h="9525">
                      <a:moveTo>
                        <a:pt x="0" y="0"/>
                      </a:moveTo>
                      <a:lnTo>
                        <a:pt x="190500" y="0"/>
                      </a:lnTo>
                    </a:path>
                  </a:pathLst>
                </a:custGeom>
                <a:noFill/>
                <a:ln w="23812">
                  <a:solidFill>
                    <a:srgbClr val="92301C"/>
                  </a:solidFill>
                </a:ln>
              </p:spPr>
            </p:sp>
            <p:sp>
              <p:nvSpPr>
                <p:cNvPr id="179" name="Freeform 179"/>
                <p:cNvSpPr/>
                <p:nvPr/>
              </p:nvSpPr>
              <p:spPr>
                <a:xfrm>
                  <a:off x="5067300" y="1404938"/>
                  <a:ext cx="190500" cy="107156"/>
                </a:xfrm>
                <a:custGeom>
                  <a:avLst/>
                  <a:gdLst/>
                  <a:ahLst/>
                  <a:cxnLst/>
                  <a:rect l="l" t="t" r="r" b="b"/>
                  <a:pathLst>
                    <a:path w="190500" h="107156">
                      <a:moveTo>
                        <a:pt x="0" y="107156"/>
                      </a:moveTo>
                      <a:lnTo>
                        <a:pt x="47625" y="35719"/>
                      </a:lnTo>
                      <a:lnTo>
                        <a:pt x="95250" y="59531"/>
                      </a:lnTo>
                      <a:lnTo>
                        <a:pt x="142875" y="0"/>
                      </a:lnTo>
                      <a:lnTo>
                        <a:pt x="190500" y="47625"/>
                      </a:lnTo>
                    </a:path>
                  </a:pathLst>
                </a:custGeom>
                <a:noFill/>
                <a:ln w="23812">
                  <a:solidFill>
                    <a:srgbClr val="92301C"/>
                  </a:solidFill>
                </a:ln>
              </p:spPr>
            </p:sp>
          </p:grpSp>
          <p:sp>
            <p:nvSpPr>
              <p:cNvPr id="181" name="TextBox 181"/>
              <p:cNvSpPr txBox="1"/>
              <p:nvPr/>
            </p:nvSpPr>
            <p:spPr>
              <a:xfrm>
                <a:off x="4915471" y="1769745"/>
                <a:ext cx="494157" cy="176212"/>
              </a:xfrm>
              <a:prstGeom prst="rect">
                <a:avLst/>
              </a:prstGeom>
              <a:noFill/>
              <a:ln>
                <a:noFill/>
              </a:ln>
            </p:spPr>
            <p:txBody>
              <a:bodyPr wrap="none" lIns="0" tIns="0" rIns="0" bIns="0" anchor="t" anchorCtr="0">
                <a:spAutoFit/>
              </a:bodyPr>
              <a:lstStyle/>
              <a:p>
                <a:pPr algn="ctr"/>
                <a:r>
                  <a:rPr lang="zh-CN" sz="900" b="1" dirty="0">
                    <a:solidFill>
                      <a:srgbClr val="6B1B0B"/>
                    </a:solidFill>
                    <a:latin typeface="+mn-lt"/>
                    <a:ea typeface="+mn-ea"/>
                    <a:cs typeface="+mn-cs"/>
                  </a:rPr>
                  <a:t>风险定价</a:t>
                </a:r>
              </a:p>
            </p:txBody>
          </p:sp>
          <p:sp>
            <p:nvSpPr>
              <p:cNvPr id="182" name="Rectangle 182"/>
              <p:cNvSpPr/>
              <p:nvPr/>
            </p:nvSpPr>
            <p:spPr>
              <a:xfrm>
                <a:off x="4838700" y="2019300"/>
                <a:ext cx="647700" cy="209550"/>
              </a:xfrm>
              <a:prstGeom prst="roundRect">
                <a:avLst>
                  <a:gd name="adj" fmla="val 13636"/>
                </a:avLst>
              </a:prstGeom>
              <a:solidFill>
                <a:srgbClr val="FFFFFF"/>
              </a:solidFill>
              <a:ln>
                <a:noFill/>
              </a:ln>
            </p:spPr>
          </p:sp>
          <p:sp>
            <p:nvSpPr>
              <p:cNvPr id="183" name="TextBox 183"/>
              <p:cNvSpPr txBox="1"/>
              <p:nvPr/>
            </p:nvSpPr>
            <p:spPr>
              <a:xfrm>
                <a:off x="4915471" y="2097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风险成本计量</a:t>
                </a:r>
              </a:p>
            </p:txBody>
          </p:sp>
          <p:sp>
            <p:nvSpPr>
              <p:cNvPr id="184" name="Rectangle 184"/>
              <p:cNvSpPr/>
              <p:nvPr/>
            </p:nvSpPr>
            <p:spPr>
              <a:xfrm>
                <a:off x="4838700" y="2400300"/>
                <a:ext cx="647700" cy="209550"/>
              </a:xfrm>
              <a:prstGeom prst="roundRect">
                <a:avLst>
                  <a:gd name="adj" fmla="val 13636"/>
                </a:avLst>
              </a:prstGeom>
              <a:solidFill>
                <a:srgbClr val="FFFFFF"/>
              </a:solidFill>
              <a:ln>
                <a:noFill/>
              </a:ln>
            </p:spPr>
          </p:sp>
          <p:sp>
            <p:nvSpPr>
              <p:cNvPr id="185" name="TextBox 185"/>
              <p:cNvSpPr txBox="1"/>
              <p:nvPr/>
            </p:nvSpPr>
            <p:spPr>
              <a:xfrm>
                <a:off x="4875086" y="2478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资本占用与回报</a:t>
                </a:r>
              </a:p>
            </p:txBody>
          </p:sp>
          <p:sp>
            <p:nvSpPr>
              <p:cNvPr id="186" name="Rectangle 186"/>
              <p:cNvSpPr/>
              <p:nvPr/>
            </p:nvSpPr>
            <p:spPr>
              <a:xfrm>
                <a:off x="4838700" y="2781300"/>
                <a:ext cx="647700" cy="209550"/>
              </a:xfrm>
              <a:prstGeom prst="roundRect">
                <a:avLst>
                  <a:gd name="adj" fmla="val 13636"/>
                </a:avLst>
              </a:prstGeom>
              <a:solidFill>
                <a:srgbClr val="FFFFFF"/>
              </a:solidFill>
              <a:ln>
                <a:noFill/>
              </a:ln>
            </p:spPr>
          </p:sp>
          <p:sp>
            <p:nvSpPr>
              <p:cNvPr id="187" name="TextBox 187"/>
              <p:cNvSpPr txBox="1"/>
              <p:nvPr/>
            </p:nvSpPr>
            <p:spPr>
              <a:xfrm>
                <a:off x="4915471" y="2859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利率定价建议</a:t>
                </a:r>
              </a:p>
            </p:txBody>
          </p:sp>
          <p:sp>
            <p:nvSpPr>
              <p:cNvPr id="188" name="Rectangle 188"/>
              <p:cNvSpPr/>
              <p:nvPr/>
            </p:nvSpPr>
            <p:spPr>
              <a:xfrm>
                <a:off x="4838700" y="3162300"/>
                <a:ext cx="647700" cy="209550"/>
              </a:xfrm>
              <a:prstGeom prst="roundRect">
                <a:avLst>
                  <a:gd name="adj" fmla="val 13636"/>
                </a:avLst>
              </a:prstGeom>
              <a:solidFill>
                <a:srgbClr val="FFFFFF"/>
              </a:solidFill>
              <a:ln>
                <a:noFill/>
              </a:ln>
            </p:spPr>
          </p:sp>
          <p:sp>
            <p:nvSpPr>
              <p:cNvPr id="189" name="TextBox 189"/>
              <p:cNvSpPr txBox="1"/>
              <p:nvPr/>
            </p:nvSpPr>
            <p:spPr>
              <a:xfrm>
                <a:off x="4875086" y="3240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费用与条款组合</a:t>
                </a:r>
              </a:p>
            </p:txBody>
          </p:sp>
          <p:sp>
            <p:nvSpPr>
              <p:cNvPr id="190" name="Rectangle 190"/>
              <p:cNvSpPr/>
              <p:nvPr/>
            </p:nvSpPr>
            <p:spPr>
              <a:xfrm>
                <a:off x="4838700" y="3543300"/>
                <a:ext cx="647700" cy="209550"/>
              </a:xfrm>
              <a:prstGeom prst="roundRect">
                <a:avLst>
                  <a:gd name="adj" fmla="val 13636"/>
                </a:avLst>
              </a:prstGeom>
              <a:solidFill>
                <a:srgbClr val="FFFFFF"/>
              </a:solidFill>
              <a:ln>
                <a:noFill/>
              </a:ln>
            </p:spPr>
          </p:sp>
          <p:sp>
            <p:nvSpPr>
              <p:cNvPr id="191" name="TextBox 191"/>
              <p:cNvSpPr txBox="1"/>
              <p:nvPr/>
            </p:nvSpPr>
            <p:spPr>
              <a:xfrm>
                <a:off x="4915471" y="3621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定价区间输出</a:t>
                </a:r>
              </a:p>
            </p:txBody>
          </p:sp>
        </p:grpSp>
        <p:grpSp>
          <p:nvGrpSpPr>
            <p:cNvPr id="210" name="mf-4"/>
            <p:cNvGrpSpPr/>
            <p:nvPr/>
          </p:nvGrpSpPr>
          <p:grpSpPr>
            <a:xfrm>
              <a:off x="5553075" y="990600"/>
              <a:ext cx="685800" cy="3238500"/>
              <a:chOff x="5553075" y="990600"/>
              <a:chExt cx="685800" cy="3238500"/>
            </a:xfrm>
          </p:grpSpPr>
          <p:sp>
            <p:nvSpPr>
              <p:cNvPr id="193" name="Rectangle 193"/>
              <p:cNvSpPr/>
              <p:nvPr/>
            </p:nvSpPr>
            <p:spPr>
              <a:xfrm>
                <a:off x="5553075" y="990600"/>
                <a:ext cx="685800" cy="3238500"/>
              </a:xfrm>
              <a:prstGeom prst="roundRect">
                <a:avLst>
                  <a:gd name="adj" fmla="val 8333"/>
                </a:avLst>
              </a:prstGeom>
              <a:solidFill>
                <a:srgbClr val="EEF5FB"/>
              </a:solidFill>
              <a:ln>
                <a:noFill/>
              </a:ln>
            </p:spPr>
          </p:sp>
          <p:sp>
            <p:nvSpPr>
              <p:cNvPr id="194" name="Rectangle 194"/>
              <p:cNvSpPr/>
              <p:nvPr/>
            </p:nvSpPr>
            <p:spPr>
              <a:xfrm>
                <a:off x="5705475" y="1047750"/>
                <a:ext cx="381000" cy="171450"/>
              </a:xfrm>
              <a:prstGeom prst="roundRect">
                <a:avLst>
                  <a:gd name="adj" fmla="val 22222"/>
                </a:avLst>
              </a:prstGeom>
              <a:solidFill>
                <a:srgbClr val="92301C"/>
              </a:solidFill>
              <a:ln>
                <a:noFill/>
              </a:ln>
            </p:spPr>
          </p:sp>
          <p:sp>
            <p:nvSpPr>
              <p:cNvPr id="195" name="TextBox 195"/>
              <p:cNvSpPr txBox="1"/>
              <p:nvPr/>
            </p:nvSpPr>
            <p:spPr>
              <a:xfrm>
                <a:off x="5829814" y="1082516"/>
                <a:ext cx="1323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04</a:t>
                </a:r>
              </a:p>
            </p:txBody>
          </p:sp>
          <p:grpSp>
            <p:nvGrpSpPr>
              <p:cNvPr id="198" name="Group 198"/>
              <p:cNvGrpSpPr/>
              <p:nvPr/>
            </p:nvGrpSpPr>
            <p:grpSpPr>
              <a:xfrm>
                <a:off x="5772751" y="1369219"/>
                <a:ext cx="232508" cy="214312"/>
                <a:chOff x="5772751" y="1369219"/>
                <a:chExt cx="232508" cy="214312"/>
              </a:xfrm>
            </p:grpSpPr>
            <p:sp>
              <p:nvSpPr>
                <p:cNvPr id="196" name="Freeform 196"/>
                <p:cNvSpPr/>
                <p:nvPr/>
              </p:nvSpPr>
              <p:spPr>
                <a:xfrm>
                  <a:off x="5772751" y="136921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92301C"/>
                  </a:solidFill>
                </a:ln>
              </p:spPr>
            </p:sp>
            <p:sp>
              <p:nvSpPr>
                <p:cNvPr id="197" name="Freeform 197"/>
                <p:cNvSpPr/>
                <p:nvPr/>
              </p:nvSpPr>
              <p:spPr>
                <a:xfrm>
                  <a:off x="5931694" y="1535906"/>
                  <a:ext cx="71438" cy="47625"/>
                </a:xfrm>
                <a:custGeom>
                  <a:avLst/>
                  <a:gdLst/>
                  <a:ahLst/>
                  <a:cxnLst/>
                  <a:rect l="l" t="t" r="r" b="b"/>
                  <a:pathLst>
                    <a:path w="71438" h="47625">
                      <a:moveTo>
                        <a:pt x="0" y="23812"/>
                      </a:moveTo>
                      <a:lnTo>
                        <a:pt x="23812" y="47625"/>
                      </a:lnTo>
                      <a:lnTo>
                        <a:pt x="71438" y="0"/>
                      </a:lnTo>
                    </a:path>
                  </a:pathLst>
                </a:custGeom>
                <a:noFill/>
                <a:ln w="23812">
                  <a:solidFill>
                    <a:srgbClr val="92301C"/>
                  </a:solidFill>
                </a:ln>
              </p:spPr>
            </p:sp>
          </p:grpSp>
          <p:sp>
            <p:nvSpPr>
              <p:cNvPr id="199" name="TextBox 199"/>
              <p:cNvSpPr txBox="1"/>
              <p:nvPr/>
            </p:nvSpPr>
            <p:spPr>
              <a:xfrm>
                <a:off x="5648896" y="1769745"/>
                <a:ext cx="494157" cy="176212"/>
              </a:xfrm>
              <a:prstGeom prst="rect">
                <a:avLst/>
              </a:prstGeom>
              <a:noFill/>
              <a:ln>
                <a:noFill/>
              </a:ln>
            </p:spPr>
            <p:txBody>
              <a:bodyPr wrap="none" lIns="0" tIns="0" rIns="0" bIns="0" anchor="t" anchorCtr="0">
                <a:spAutoFit/>
              </a:bodyPr>
              <a:lstStyle/>
              <a:p>
                <a:pPr algn="ctr"/>
                <a:r>
                  <a:rPr lang="zh-CN" sz="900" b="1" dirty="0">
                    <a:solidFill>
                      <a:srgbClr val="6B1B0B"/>
                    </a:solidFill>
                    <a:latin typeface="+mn-lt"/>
                    <a:ea typeface="+mn-ea"/>
                    <a:cs typeface="+mn-cs"/>
                  </a:rPr>
                  <a:t>担保评价</a:t>
                </a:r>
              </a:p>
            </p:txBody>
          </p:sp>
          <p:sp>
            <p:nvSpPr>
              <p:cNvPr id="200" name="Rectangle 200"/>
              <p:cNvSpPr/>
              <p:nvPr/>
            </p:nvSpPr>
            <p:spPr>
              <a:xfrm>
                <a:off x="5572125" y="2019300"/>
                <a:ext cx="647700" cy="209550"/>
              </a:xfrm>
              <a:prstGeom prst="roundRect">
                <a:avLst>
                  <a:gd name="adj" fmla="val 13636"/>
                </a:avLst>
              </a:prstGeom>
              <a:solidFill>
                <a:srgbClr val="FFFFFF"/>
              </a:solidFill>
              <a:ln>
                <a:noFill/>
              </a:ln>
            </p:spPr>
          </p:sp>
          <p:sp>
            <p:nvSpPr>
              <p:cNvPr id="201" name="TextBox 201"/>
              <p:cNvSpPr txBox="1"/>
              <p:nvPr/>
            </p:nvSpPr>
            <p:spPr>
              <a:xfrm>
                <a:off x="5608511" y="2097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抵质押价值评估</a:t>
                </a:r>
              </a:p>
            </p:txBody>
          </p:sp>
          <p:sp>
            <p:nvSpPr>
              <p:cNvPr id="202" name="Rectangle 202"/>
              <p:cNvSpPr/>
              <p:nvPr/>
            </p:nvSpPr>
            <p:spPr>
              <a:xfrm>
                <a:off x="5572125" y="2400300"/>
                <a:ext cx="647700" cy="209550"/>
              </a:xfrm>
              <a:prstGeom prst="roundRect">
                <a:avLst>
                  <a:gd name="adj" fmla="val 13636"/>
                </a:avLst>
              </a:prstGeom>
              <a:solidFill>
                <a:srgbClr val="FFFFFF"/>
              </a:solidFill>
              <a:ln>
                <a:noFill/>
              </a:ln>
            </p:spPr>
          </p:sp>
          <p:sp>
            <p:nvSpPr>
              <p:cNvPr id="203" name="TextBox 203"/>
              <p:cNvSpPr txBox="1"/>
              <p:nvPr/>
            </p:nvSpPr>
            <p:spPr>
              <a:xfrm>
                <a:off x="5608511" y="2478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担保人信用分析</a:t>
                </a:r>
              </a:p>
            </p:txBody>
          </p:sp>
          <p:sp>
            <p:nvSpPr>
              <p:cNvPr id="204" name="Rectangle 204"/>
              <p:cNvSpPr/>
              <p:nvPr/>
            </p:nvSpPr>
            <p:spPr>
              <a:xfrm>
                <a:off x="5572125" y="2781300"/>
                <a:ext cx="647700" cy="209550"/>
              </a:xfrm>
              <a:prstGeom prst="roundRect">
                <a:avLst>
                  <a:gd name="adj" fmla="val 13636"/>
                </a:avLst>
              </a:prstGeom>
              <a:solidFill>
                <a:srgbClr val="FFFFFF"/>
              </a:solidFill>
              <a:ln>
                <a:noFill/>
              </a:ln>
            </p:spPr>
          </p:sp>
          <p:sp>
            <p:nvSpPr>
              <p:cNvPr id="205" name="TextBox 205"/>
              <p:cNvSpPr txBox="1"/>
              <p:nvPr/>
            </p:nvSpPr>
            <p:spPr>
              <a:xfrm>
                <a:off x="5608511" y="2859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担保结构合理性</a:t>
                </a:r>
              </a:p>
            </p:txBody>
          </p:sp>
          <p:sp>
            <p:nvSpPr>
              <p:cNvPr id="206" name="Rectangle 206"/>
              <p:cNvSpPr/>
              <p:nvPr/>
            </p:nvSpPr>
            <p:spPr>
              <a:xfrm>
                <a:off x="5572125" y="3162300"/>
                <a:ext cx="647700" cy="209550"/>
              </a:xfrm>
              <a:prstGeom prst="roundRect">
                <a:avLst>
                  <a:gd name="adj" fmla="val 13636"/>
                </a:avLst>
              </a:prstGeom>
              <a:solidFill>
                <a:srgbClr val="FFFFFF"/>
              </a:solidFill>
              <a:ln>
                <a:noFill/>
              </a:ln>
            </p:spPr>
          </p:sp>
          <p:sp>
            <p:nvSpPr>
              <p:cNvPr id="207" name="TextBox 207"/>
              <p:cNvSpPr txBox="1"/>
              <p:nvPr/>
            </p:nvSpPr>
            <p:spPr>
              <a:xfrm>
                <a:off x="5608511" y="3240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法律有效性检查</a:t>
                </a:r>
              </a:p>
            </p:txBody>
          </p:sp>
          <p:sp>
            <p:nvSpPr>
              <p:cNvPr id="208" name="Rectangle 208"/>
              <p:cNvSpPr/>
              <p:nvPr/>
            </p:nvSpPr>
            <p:spPr>
              <a:xfrm>
                <a:off x="5572125" y="3543300"/>
                <a:ext cx="647700" cy="209550"/>
              </a:xfrm>
              <a:prstGeom prst="roundRect">
                <a:avLst>
                  <a:gd name="adj" fmla="val 13636"/>
                </a:avLst>
              </a:prstGeom>
              <a:solidFill>
                <a:srgbClr val="FFFFFF"/>
              </a:solidFill>
              <a:ln>
                <a:noFill/>
              </a:ln>
            </p:spPr>
          </p:sp>
          <p:sp>
            <p:nvSpPr>
              <p:cNvPr id="209" name="TextBox 209"/>
              <p:cNvSpPr txBox="1"/>
              <p:nvPr/>
            </p:nvSpPr>
            <p:spPr>
              <a:xfrm>
                <a:off x="5648896" y="3621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担保评价结论</a:t>
                </a:r>
              </a:p>
            </p:txBody>
          </p:sp>
        </p:grpSp>
        <p:grpSp>
          <p:nvGrpSpPr>
            <p:cNvPr id="229" name="mf-5"/>
            <p:cNvGrpSpPr/>
            <p:nvPr/>
          </p:nvGrpSpPr>
          <p:grpSpPr>
            <a:xfrm>
              <a:off x="6286500" y="990600"/>
              <a:ext cx="685800" cy="3238500"/>
              <a:chOff x="6286500" y="990600"/>
              <a:chExt cx="685800" cy="3238500"/>
            </a:xfrm>
          </p:grpSpPr>
          <p:sp>
            <p:nvSpPr>
              <p:cNvPr id="211" name="Rectangle 211"/>
              <p:cNvSpPr/>
              <p:nvPr/>
            </p:nvSpPr>
            <p:spPr>
              <a:xfrm>
                <a:off x="6286500" y="990600"/>
                <a:ext cx="685800" cy="3238500"/>
              </a:xfrm>
              <a:prstGeom prst="roundRect">
                <a:avLst>
                  <a:gd name="adj" fmla="val 8333"/>
                </a:avLst>
              </a:prstGeom>
              <a:solidFill>
                <a:srgbClr val="EEF5FB"/>
              </a:solidFill>
              <a:ln>
                <a:noFill/>
              </a:ln>
            </p:spPr>
          </p:sp>
          <p:sp>
            <p:nvSpPr>
              <p:cNvPr id="212" name="Rectangle 212"/>
              <p:cNvSpPr/>
              <p:nvPr/>
            </p:nvSpPr>
            <p:spPr>
              <a:xfrm>
                <a:off x="6438900" y="1047750"/>
                <a:ext cx="381000" cy="171450"/>
              </a:xfrm>
              <a:prstGeom prst="roundRect">
                <a:avLst>
                  <a:gd name="adj" fmla="val 22222"/>
                </a:avLst>
              </a:prstGeom>
              <a:solidFill>
                <a:srgbClr val="92301C"/>
              </a:solidFill>
              <a:ln>
                <a:noFill/>
              </a:ln>
            </p:spPr>
          </p:sp>
          <p:sp>
            <p:nvSpPr>
              <p:cNvPr id="213" name="TextBox 213"/>
              <p:cNvSpPr txBox="1"/>
              <p:nvPr/>
            </p:nvSpPr>
            <p:spPr>
              <a:xfrm>
                <a:off x="6563239" y="1082516"/>
                <a:ext cx="1323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05</a:t>
                </a:r>
              </a:p>
            </p:txBody>
          </p:sp>
          <p:grpSp>
            <p:nvGrpSpPr>
              <p:cNvPr id="217" name="Group 217"/>
              <p:cNvGrpSpPr/>
              <p:nvPr/>
            </p:nvGrpSpPr>
            <p:grpSpPr>
              <a:xfrm>
                <a:off x="6522244" y="1381125"/>
                <a:ext cx="214312" cy="202406"/>
                <a:chOff x="6522244" y="1381125"/>
                <a:chExt cx="214312" cy="202406"/>
              </a:xfrm>
            </p:grpSpPr>
            <p:sp>
              <p:nvSpPr>
                <p:cNvPr id="214" name="Freeform 214"/>
                <p:cNvSpPr/>
                <p:nvPr/>
              </p:nvSpPr>
              <p:spPr>
                <a:xfrm>
                  <a:off x="6522244" y="1381125"/>
                  <a:ext cx="214312" cy="202406"/>
                </a:xfrm>
                <a:custGeom>
                  <a:avLst/>
                  <a:gdLst/>
                  <a:ahLst/>
                  <a:cxnLst/>
                  <a:rect l="l" t="t" r="r" b="b"/>
                  <a:pathLst>
                    <a:path w="214312" h="202406">
                      <a:moveTo>
                        <a:pt x="178594" y="0"/>
                      </a:moveTo>
                      <a:cubicBezTo>
                        <a:pt x="198321" y="0"/>
                        <a:pt x="214312" y="15992"/>
                        <a:pt x="214312" y="35719"/>
                      </a:cubicBezTo>
                      <a:lnTo>
                        <a:pt x="214312" y="130969"/>
                      </a:lnTo>
                      <a:cubicBezTo>
                        <a:pt x="214312" y="150696"/>
                        <a:pt x="198321" y="166688"/>
                        <a:pt x="178594" y="166688"/>
                      </a:cubicBezTo>
                      <a:lnTo>
                        <a:pt x="119062" y="166688"/>
                      </a:lnTo>
                      <a:lnTo>
                        <a:pt x="59531" y="202406"/>
                      </a:lnTo>
                      <a:lnTo>
                        <a:pt x="59531" y="166688"/>
                      </a:lnTo>
                      <a:lnTo>
                        <a:pt x="35719" y="166688"/>
                      </a:lnTo>
                      <a:cubicBezTo>
                        <a:pt x="15992" y="166688"/>
                        <a:pt x="0" y="150696"/>
                        <a:pt x="0" y="130969"/>
                      </a:cubicBezTo>
                      <a:lnTo>
                        <a:pt x="0" y="35719"/>
                      </a:lnTo>
                      <a:cubicBezTo>
                        <a:pt x="0" y="15992"/>
                        <a:pt x="15992" y="0"/>
                        <a:pt x="35719" y="0"/>
                      </a:cubicBezTo>
                      <a:lnTo>
                        <a:pt x="178594" y="0"/>
                      </a:lnTo>
                    </a:path>
                  </a:pathLst>
                </a:custGeom>
                <a:noFill/>
                <a:ln w="23812">
                  <a:solidFill>
                    <a:srgbClr val="92301C"/>
                  </a:solidFill>
                </a:ln>
              </p:spPr>
            </p:sp>
            <p:sp>
              <p:nvSpPr>
                <p:cNvPr id="215" name="Freeform 215"/>
                <p:cNvSpPr/>
                <p:nvPr/>
              </p:nvSpPr>
              <p:spPr>
                <a:xfrm>
                  <a:off x="6629400" y="1428750"/>
                  <a:ext cx="9525" cy="35719"/>
                </a:xfrm>
                <a:custGeom>
                  <a:avLst/>
                  <a:gdLst/>
                  <a:ahLst/>
                  <a:cxnLst/>
                  <a:rect l="l" t="t" r="r" b="b"/>
                  <a:pathLst>
                    <a:path w="9525" h="35719">
                      <a:moveTo>
                        <a:pt x="0" y="0"/>
                      </a:moveTo>
                      <a:lnTo>
                        <a:pt x="0" y="35719"/>
                      </a:lnTo>
                    </a:path>
                  </a:pathLst>
                </a:custGeom>
                <a:noFill/>
                <a:ln w="23812">
                  <a:solidFill>
                    <a:srgbClr val="92301C"/>
                  </a:solidFill>
                </a:ln>
              </p:spPr>
            </p:sp>
            <p:sp>
              <p:nvSpPr>
                <p:cNvPr id="216" name="Freeform 216"/>
                <p:cNvSpPr/>
                <p:nvPr/>
              </p:nvSpPr>
              <p:spPr>
                <a:xfrm>
                  <a:off x="6629400" y="1500188"/>
                  <a:ext cx="9525" cy="9525"/>
                </a:xfrm>
                <a:custGeom>
                  <a:avLst/>
                  <a:gdLst/>
                  <a:ahLst/>
                  <a:cxnLst/>
                  <a:rect l="l" t="t" r="r" b="b"/>
                  <a:pathLst>
                    <a:path w="9525" h="9525">
                      <a:moveTo>
                        <a:pt x="0" y="0"/>
                      </a:moveTo>
                      <a:lnTo>
                        <a:pt x="0" y="119"/>
                      </a:lnTo>
                    </a:path>
                  </a:pathLst>
                </a:custGeom>
                <a:noFill/>
                <a:ln w="23812">
                  <a:solidFill>
                    <a:srgbClr val="92301C"/>
                  </a:solidFill>
                </a:ln>
              </p:spPr>
            </p:sp>
          </p:grpSp>
          <p:sp>
            <p:nvSpPr>
              <p:cNvPr id="218" name="TextBox 218"/>
              <p:cNvSpPr txBox="1"/>
              <p:nvPr/>
            </p:nvSpPr>
            <p:spPr>
              <a:xfrm>
                <a:off x="6382321" y="1769745"/>
                <a:ext cx="494157" cy="176212"/>
              </a:xfrm>
              <a:prstGeom prst="rect">
                <a:avLst/>
              </a:prstGeom>
              <a:noFill/>
              <a:ln>
                <a:noFill/>
              </a:ln>
            </p:spPr>
            <p:txBody>
              <a:bodyPr wrap="none" lIns="0" tIns="0" rIns="0" bIns="0" anchor="t" anchorCtr="0">
                <a:spAutoFit/>
              </a:bodyPr>
              <a:lstStyle/>
              <a:p>
                <a:pPr algn="ctr"/>
                <a:r>
                  <a:rPr lang="zh-CN" sz="900" b="1" dirty="0">
                    <a:solidFill>
                      <a:srgbClr val="6B1B0B"/>
                    </a:solidFill>
                    <a:latin typeface="+mn-lt"/>
                    <a:ea typeface="+mn-ea"/>
                    <a:cs typeface="+mn-cs"/>
                  </a:rPr>
                  <a:t>例外识别</a:t>
                </a:r>
              </a:p>
            </p:txBody>
          </p:sp>
          <p:sp>
            <p:nvSpPr>
              <p:cNvPr id="219" name="Rectangle 219"/>
              <p:cNvSpPr/>
              <p:nvPr/>
            </p:nvSpPr>
            <p:spPr>
              <a:xfrm>
                <a:off x="6305550" y="2019300"/>
                <a:ext cx="647700" cy="209550"/>
              </a:xfrm>
              <a:prstGeom prst="roundRect">
                <a:avLst>
                  <a:gd name="adj" fmla="val 13636"/>
                </a:avLst>
              </a:prstGeom>
              <a:solidFill>
                <a:srgbClr val="FFFFFF"/>
              </a:solidFill>
              <a:ln>
                <a:noFill/>
              </a:ln>
            </p:spPr>
          </p:sp>
          <p:sp>
            <p:nvSpPr>
              <p:cNvPr id="220" name="TextBox 220"/>
              <p:cNvSpPr txBox="1"/>
              <p:nvPr/>
            </p:nvSpPr>
            <p:spPr>
              <a:xfrm>
                <a:off x="6382321" y="2097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政策偏离识别</a:t>
                </a:r>
              </a:p>
            </p:txBody>
          </p:sp>
          <p:sp>
            <p:nvSpPr>
              <p:cNvPr id="221" name="Rectangle 221"/>
              <p:cNvSpPr/>
              <p:nvPr/>
            </p:nvSpPr>
            <p:spPr>
              <a:xfrm>
                <a:off x="6305550" y="2400300"/>
                <a:ext cx="647700" cy="209550"/>
              </a:xfrm>
              <a:prstGeom prst="roundRect">
                <a:avLst>
                  <a:gd name="adj" fmla="val 13636"/>
                </a:avLst>
              </a:prstGeom>
              <a:solidFill>
                <a:srgbClr val="FFFFFF"/>
              </a:solidFill>
              <a:ln>
                <a:noFill/>
              </a:ln>
            </p:spPr>
          </p:sp>
          <p:sp>
            <p:nvSpPr>
              <p:cNvPr id="222" name="TextBox 222"/>
              <p:cNvSpPr txBox="1"/>
              <p:nvPr/>
            </p:nvSpPr>
            <p:spPr>
              <a:xfrm>
                <a:off x="6382321" y="2478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异常指标预警</a:t>
                </a:r>
              </a:p>
            </p:txBody>
          </p:sp>
          <p:sp>
            <p:nvSpPr>
              <p:cNvPr id="223" name="Rectangle 223"/>
              <p:cNvSpPr/>
              <p:nvPr/>
            </p:nvSpPr>
            <p:spPr>
              <a:xfrm>
                <a:off x="6305550" y="2781300"/>
                <a:ext cx="647700" cy="209550"/>
              </a:xfrm>
              <a:prstGeom prst="roundRect">
                <a:avLst>
                  <a:gd name="adj" fmla="val 13636"/>
                </a:avLst>
              </a:prstGeom>
              <a:solidFill>
                <a:srgbClr val="FFFFFF"/>
              </a:solidFill>
              <a:ln>
                <a:noFill/>
              </a:ln>
            </p:spPr>
          </p:sp>
          <p:sp>
            <p:nvSpPr>
              <p:cNvPr id="224" name="TextBox 224"/>
              <p:cNvSpPr txBox="1"/>
              <p:nvPr/>
            </p:nvSpPr>
            <p:spPr>
              <a:xfrm>
                <a:off x="6382321" y="2859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特殊交易情形</a:t>
                </a:r>
              </a:p>
            </p:txBody>
          </p:sp>
          <p:sp>
            <p:nvSpPr>
              <p:cNvPr id="225" name="Rectangle 225"/>
              <p:cNvSpPr/>
              <p:nvPr/>
            </p:nvSpPr>
            <p:spPr>
              <a:xfrm>
                <a:off x="6305550" y="3162300"/>
                <a:ext cx="647700" cy="209550"/>
              </a:xfrm>
              <a:prstGeom prst="roundRect">
                <a:avLst>
                  <a:gd name="adj" fmla="val 13636"/>
                </a:avLst>
              </a:prstGeom>
              <a:solidFill>
                <a:srgbClr val="FFFFFF"/>
              </a:solidFill>
              <a:ln>
                <a:noFill/>
              </a:ln>
            </p:spPr>
          </p:sp>
          <p:sp>
            <p:nvSpPr>
              <p:cNvPr id="226" name="TextBox 226"/>
              <p:cNvSpPr txBox="1"/>
              <p:nvPr/>
            </p:nvSpPr>
            <p:spPr>
              <a:xfrm>
                <a:off x="6319723" y="3240405"/>
                <a:ext cx="619354"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需上会/上级审批</a:t>
                </a:r>
              </a:p>
            </p:txBody>
          </p:sp>
          <p:sp>
            <p:nvSpPr>
              <p:cNvPr id="227" name="Rectangle 227"/>
              <p:cNvSpPr/>
              <p:nvPr/>
            </p:nvSpPr>
            <p:spPr>
              <a:xfrm>
                <a:off x="6305550" y="3543300"/>
                <a:ext cx="647700" cy="209550"/>
              </a:xfrm>
              <a:prstGeom prst="roundRect">
                <a:avLst>
                  <a:gd name="adj" fmla="val 13636"/>
                </a:avLst>
              </a:prstGeom>
              <a:solidFill>
                <a:srgbClr val="FFFFFF"/>
              </a:solidFill>
              <a:ln>
                <a:noFill/>
              </a:ln>
            </p:spPr>
          </p:sp>
          <p:sp>
            <p:nvSpPr>
              <p:cNvPr id="228" name="TextBox 228"/>
              <p:cNvSpPr txBox="1"/>
              <p:nvPr/>
            </p:nvSpPr>
            <p:spPr>
              <a:xfrm>
                <a:off x="6382321" y="3621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例外事项清单</a:t>
                </a:r>
              </a:p>
            </p:txBody>
          </p:sp>
        </p:grpSp>
        <p:grpSp>
          <p:nvGrpSpPr>
            <p:cNvPr id="250" name="mf-6"/>
            <p:cNvGrpSpPr/>
            <p:nvPr/>
          </p:nvGrpSpPr>
          <p:grpSpPr>
            <a:xfrm>
              <a:off x="7019925" y="990600"/>
              <a:ext cx="685800" cy="3238500"/>
              <a:chOff x="7019925" y="990600"/>
              <a:chExt cx="685800" cy="3238500"/>
            </a:xfrm>
          </p:grpSpPr>
          <p:sp>
            <p:nvSpPr>
              <p:cNvPr id="230" name="Rectangle 230"/>
              <p:cNvSpPr/>
              <p:nvPr/>
            </p:nvSpPr>
            <p:spPr>
              <a:xfrm>
                <a:off x="7019925" y="990600"/>
                <a:ext cx="685800" cy="3238500"/>
              </a:xfrm>
              <a:prstGeom prst="roundRect">
                <a:avLst>
                  <a:gd name="adj" fmla="val 8333"/>
                </a:avLst>
              </a:prstGeom>
              <a:solidFill>
                <a:srgbClr val="EEF5FB"/>
              </a:solidFill>
              <a:ln>
                <a:noFill/>
              </a:ln>
            </p:spPr>
          </p:sp>
          <p:sp>
            <p:nvSpPr>
              <p:cNvPr id="231" name="Rectangle 231"/>
              <p:cNvSpPr/>
              <p:nvPr/>
            </p:nvSpPr>
            <p:spPr>
              <a:xfrm>
                <a:off x="7172325" y="1047750"/>
                <a:ext cx="381000" cy="171450"/>
              </a:xfrm>
              <a:prstGeom prst="roundRect">
                <a:avLst>
                  <a:gd name="adj" fmla="val 22222"/>
                </a:avLst>
              </a:prstGeom>
              <a:solidFill>
                <a:srgbClr val="92301C"/>
              </a:solidFill>
              <a:ln>
                <a:noFill/>
              </a:ln>
            </p:spPr>
          </p:sp>
          <p:sp>
            <p:nvSpPr>
              <p:cNvPr id="232" name="TextBox 232"/>
              <p:cNvSpPr txBox="1"/>
              <p:nvPr/>
            </p:nvSpPr>
            <p:spPr>
              <a:xfrm>
                <a:off x="7296664" y="1082516"/>
                <a:ext cx="1323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06</a:t>
                </a:r>
              </a:p>
            </p:txBody>
          </p:sp>
          <p:grpSp>
            <p:nvGrpSpPr>
              <p:cNvPr id="238" name="Group 238"/>
              <p:cNvGrpSpPr/>
              <p:nvPr/>
            </p:nvGrpSpPr>
            <p:grpSpPr>
              <a:xfrm>
                <a:off x="7279481" y="1369219"/>
                <a:ext cx="166688" cy="214312"/>
                <a:chOff x="7279481" y="1369219"/>
                <a:chExt cx="166688" cy="214312"/>
              </a:xfrm>
            </p:grpSpPr>
            <p:sp>
              <p:nvSpPr>
                <p:cNvPr id="233" name="Freeform 233"/>
                <p:cNvSpPr/>
                <p:nvPr/>
              </p:nvSpPr>
              <p:spPr>
                <a:xfrm>
                  <a:off x="7386638" y="1369219"/>
                  <a:ext cx="59531" cy="59531"/>
                </a:xfrm>
                <a:custGeom>
                  <a:avLst/>
                  <a:gdLst/>
                  <a:ahLst/>
                  <a:cxnLst/>
                  <a:rect l="l" t="t" r="r" b="b"/>
                  <a:pathLst>
                    <a:path w="59531" h="59531">
                      <a:moveTo>
                        <a:pt x="0" y="0"/>
                      </a:moveTo>
                      <a:lnTo>
                        <a:pt x="0" y="47625"/>
                      </a:lnTo>
                      <a:cubicBezTo>
                        <a:pt x="0" y="54201"/>
                        <a:pt x="5331" y="59531"/>
                        <a:pt x="11906" y="59531"/>
                      </a:cubicBezTo>
                      <a:lnTo>
                        <a:pt x="59531" y="59531"/>
                      </a:lnTo>
                    </a:path>
                  </a:pathLst>
                </a:custGeom>
                <a:noFill/>
                <a:ln w="23812">
                  <a:solidFill>
                    <a:srgbClr val="92301C"/>
                  </a:solidFill>
                </a:ln>
              </p:spPr>
            </p:sp>
            <p:sp>
              <p:nvSpPr>
                <p:cNvPr id="234" name="Freeform 234"/>
                <p:cNvSpPr/>
                <p:nvPr/>
              </p:nvSpPr>
              <p:spPr>
                <a:xfrm>
                  <a:off x="7279481" y="1369219"/>
                  <a:ext cx="166688" cy="214312"/>
                </a:xfrm>
                <a:custGeom>
                  <a:avLst/>
                  <a:gdLst/>
                  <a:ahLst/>
                  <a:cxnLst/>
                  <a:rect l="l" t="t" r="r" b="b"/>
                  <a:pathLst>
                    <a:path w="166688" h="214312">
                      <a:moveTo>
                        <a:pt x="142875" y="214312"/>
                      </a:moveTo>
                      <a:lnTo>
                        <a:pt x="23812" y="214312"/>
                      </a:lnTo>
                      <a:cubicBezTo>
                        <a:pt x="10661" y="214312"/>
                        <a:pt x="0" y="203651"/>
                        <a:pt x="0" y="190500"/>
                      </a:cubicBezTo>
                      <a:lnTo>
                        <a:pt x="0" y="23812"/>
                      </a:lnTo>
                      <a:cubicBezTo>
                        <a:pt x="0" y="10661"/>
                        <a:pt x="10661" y="0"/>
                        <a:pt x="23812" y="0"/>
                      </a:cubicBezTo>
                      <a:lnTo>
                        <a:pt x="107156" y="0"/>
                      </a:lnTo>
                      <a:lnTo>
                        <a:pt x="166688" y="59531"/>
                      </a:lnTo>
                      <a:lnTo>
                        <a:pt x="166688" y="190500"/>
                      </a:lnTo>
                      <a:cubicBezTo>
                        <a:pt x="166688" y="203651"/>
                        <a:pt x="156026" y="214312"/>
                        <a:pt x="142875" y="214312"/>
                      </a:cubicBezTo>
                    </a:path>
                  </a:pathLst>
                </a:custGeom>
                <a:noFill/>
                <a:ln w="23812">
                  <a:solidFill>
                    <a:srgbClr val="92301C"/>
                  </a:solidFill>
                </a:ln>
              </p:spPr>
            </p:sp>
            <p:sp>
              <p:nvSpPr>
                <p:cNvPr id="235" name="Freeform 235"/>
                <p:cNvSpPr/>
                <p:nvPr/>
              </p:nvSpPr>
              <p:spPr>
                <a:xfrm>
                  <a:off x="7327106" y="1440656"/>
                  <a:ext cx="11906" cy="9525"/>
                </a:xfrm>
                <a:custGeom>
                  <a:avLst/>
                  <a:gdLst/>
                  <a:ahLst/>
                  <a:cxnLst/>
                  <a:rect l="l" t="t" r="r" b="b"/>
                  <a:pathLst>
                    <a:path w="11906" h="9525">
                      <a:moveTo>
                        <a:pt x="0" y="0"/>
                      </a:moveTo>
                      <a:lnTo>
                        <a:pt x="11906" y="0"/>
                      </a:lnTo>
                    </a:path>
                  </a:pathLst>
                </a:custGeom>
                <a:noFill/>
                <a:ln w="23812">
                  <a:solidFill>
                    <a:srgbClr val="92301C"/>
                  </a:solidFill>
                </a:ln>
              </p:spPr>
            </p:sp>
            <p:sp>
              <p:nvSpPr>
                <p:cNvPr id="236" name="Freeform 236"/>
                <p:cNvSpPr/>
                <p:nvPr/>
              </p:nvSpPr>
              <p:spPr>
                <a:xfrm>
                  <a:off x="7327106" y="1488281"/>
                  <a:ext cx="71438" cy="9525"/>
                </a:xfrm>
                <a:custGeom>
                  <a:avLst/>
                  <a:gdLst/>
                  <a:ahLst/>
                  <a:cxnLst/>
                  <a:rect l="l" t="t" r="r" b="b"/>
                  <a:pathLst>
                    <a:path w="71438" h="9525">
                      <a:moveTo>
                        <a:pt x="0" y="0"/>
                      </a:moveTo>
                      <a:lnTo>
                        <a:pt x="71438" y="0"/>
                      </a:lnTo>
                    </a:path>
                  </a:pathLst>
                </a:custGeom>
                <a:noFill/>
                <a:ln w="23812">
                  <a:solidFill>
                    <a:srgbClr val="92301C"/>
                  </a:solidFill>
                </a:ln>
              </p:spPr>
            </p:sp>
            <p:sp>
              <p:nvSpPr>
                <p:cNvPr id="237" name="Freeform 237"/>
                <p:cNvSpPr/>
                <p:nvPr/>
              </p:nvSpPr>
              <p:spPr>
                <a:xfrm>
                  <a:off x="7327106" y="1535906"/>
                  <a:ext cx="71438" cy="9525"/>
                </a:xfrm>
                <a:custGeom>
                  <a:avLst/>
                  <a:gdLst/>
                  <a:ahLst/>
                  <a:cxnLst/>
                  <a:rect l="l" t="t" r="r" b="b"/>
                  <a:pathLst>
                    <a:path w="71438" h="9525">
                      <a:moveTo>
                        <a:pt x="0" y="0"/>
                      </a:moveTo>
                      <a:lnTo>
                        <a:pt x="71438" y="0"/>
                      </a:lnTo>
                    </a:path>
                  </a:pathLst>
                </a:custGeom>
                <a:noFill/>
                <a:ln w="23812">
                  <a:solidFill>
                    <a:srgbClr val="92301C"/>
                  </a:solidFill>
                </a:ln>
              </p:spPr>
            </p:sp>
          </p:grpSp>
          <p:sp>
            <p:nvSpPr>
              <p:cNvPr id="239" name="TextBox 239"/>
              <p:cNvSpPr txBox="1"/>
              <p:nvPr/>
            </p:nvSpPr>
            <p:spPr>
              <a:xfrm>
                <a:off x="7115746" y="1769745"/>
                <a:ext cx="494157" cy="176212"/>
              </a:xfrm>
              <a:prstGeom prst="rect">
                <a:avLst/>
              </a:prstGeom>
              <a:noFill/>
              <a:ln>
                <a:noFill/>
              </a:ln>
            </p:spPr>
            <p:txBody>
              <a:bodyPr wrap="none" lIns="0" tIns="0" rIns="0" bIns="0" anchor="t" anchorCtr="0">
                <a:spAutoFit/>
              </a:bodyPr>
              <a:lstStyle/>
              <a:p>
                <a:pPr algn="ctr"/>
                <a:r>
                  <a:rPr lang="zh-CN" sz="900" b="1" dirty="0">
                    <a:solidFill>
                      <a:srgbClr val="6B1B0B"/>
                    </a:solidFill>
                    <a:latin typeface="+mn-lt"/>
                    <a:ea typeface="+mn-ea"/>
                    <a:cs typeface="+mn-cs"/>
                  </a:rPr>
                  <a:t>审批建议</a:t>
                </a:r>
              </a:p>
            </p:txBody>
          </p:sp>
          <p:sp>
            <p:nvSpPr>
              <p:cNvPr id="240" name="Rectangle 240"/>
              <p:cNvSpPr/>
              <p:nvPr/>
            </p:nvSpPr>
            <p:spPr>
              <a:xfrm>
                <a:off x="7038975" y="2019300"/>
                <a:ext cx="647700" cy="209550"/>
              </a:xfrm>
              <a:prstGeom prst="roundRect">
                <a:avLst>
                  <a:gd name="adj" fmla="val 13636"/>
                </a:avLst>
              </a:prstGeom>
              <a:solidFill>
                <a:srgbClr val="FFFFFF"/>
              </a:solidFill>
              <a:ln>
                <a:noFill/>
              </a:ln>
            </p:spPr>
          </p:sp>
          <p:sp>
            <p:nvSpPr>
              <p:cNvPr id="241" name="TextBox 241"/>
              <p:cNvSpPr txBox="1"/>
              <p:nvPr/>
            </p:nvSpPr>
            <p:spPr>
              <a:xfrm>
                <a:off x="7115746" y="2097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综合风险评估</a:t>
                </a:r>
              </a:p>
            </p:txBody>
          </p:sp>
          <p:sp>
            <p:nvSpPr>
              <p:cNvPr id="242" name="Rectangle 242"/>
              <p:cNvSpPr/>
              <p:nvPr/>
            </p:nvSpPr>
            <p:spPr>
              <a:xfrm>
                <a:off x="7038975" y="2400300"/>
                <a:ext cx="647700" cy="209550"/>
              </a:xfrm>
              <a:prstGeom prst="roundRect">
                <a:avLst>
                  <a:gd name="adj" fmla="val 13636"/>
                </a:avLst>
              </a:prstGeom>
              <a:solidFill>
                <a:srgbClr val="FFFFFF"/>
              </a:solidFill>
              <a:ln>
                <a:noFill/>
              </a:ln>
            </p:spPr>
          </p:sp>
          <p:sp>
            <p:nvSpPr>
              <p:cNvPr id="243" name="TextBox 243"/>
              <p:cNvSpPr txBox="1"/>
              <p:nvPr/>
            </p:nvSpPr>
            <p:spPr>
              <a:xfrm>
                <a:off x="7115746" y="2478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授信方案生成</a:t>
                </a:r>
              </a:p>
            </p:txBody>
          </p:sp>
          <p:sp>
            <p:nvSpPr>
              <p:cNvPr id="244" name="Rectangle 244"/>
              <p:cNvSpPr/>
              <p:nvPr/>
            </p:nvSpPr>
            <p:spPr>
              <a:xfrm>
                <a:off x="7038975" y="2781300"/>
                <a:ext cx="647700" cy="209550"/>
              </a:xfrm>
              <a:prstGeom prst="roundRect">
                <a:avLst>
                  <a:gd name="adj" fmla="val 13636"/>
                </a:avLst>
              </a:prstGeom>
              <a:solidFill>
                <a:srgbClr val="FFFFFF"/>
              </a:solidFill>
              <a:ln>
                <a:noFill/>
              </a:ln>
            </p:spPr>
          </p:sp>
          <p:sp>
            <p:nvSpPr>
              <p:cNvPr id="245" name="TextBox 245"/>
              <p:cNvSpPr txBox="1"/>
              <p:nvPr/>
            </p:nvSpPr>
            <p:spPr>
              <a:xfrm>
                <a:off x="7115746" y="2859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关键风险提示</a:t>
                </a:r>
              </a:p>
            </p:txBody>
          </p:sp>
          <p:sp>
            <p:nvSpPr>
              <p:cNvPr id="246" name="Rectangle 246"/>
              <p:cNvSpPr/>
              <p:nvPr/>
            </p:nvSpPr>
            <p:spPr>
              <a:xfrm>
                <a:off x="7038975" y="3162300"/>
                <a:ext cx="647700" cy="209550"/>
              </a:xfrm>
              <a:prstGeom prst="roundRect">
                <a:avLst>
                  <a:gd name="adj" fmla="val 13636"/>
                </a:avLst>
              </a:prstGeom>
              <a:solidFill>
                <a:srgbClr val="FFFFFF"/>
              </a:solidFill>
              <a:ln>
                <a:noFill/>
              </a:ln>
            </p:spPr>
          </p:sp>
          <p:sp>
            <p:nvSpPr>
              <p:cNvPr id="247" name="TextBox 247"/>
              <p:cNvSpPr txBox="1"/>
              <p:nvPr/>
            </p:nvSpPr>
            <p:spPr>
              <a:xfrm>
                <a:off x="7115746" y="3240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审批层级建议</a:t>
                </a:r>
              </a:p>
            </p:txBody>
          </p:sp>
          <p:sp>
            <p:nvSpPr>
              <p:cNvPr id="248" name="Rectangle 248"/>
              <p:cNvSpPr/>
              <p:nvPr/>
            </p:nvSpPr>
            <p:spPr>
              <a:xfrm>
                <a:off x="7038975" y="3543300"/>
                <a:ext cx="647700" cy="209550"/>
              </a:xfrm>
              <a:prstGeom prst="roundRect">
                <a:avLst>
                  <a:gd name="adj" fmla="val 13636"/>
                </a:avLst>
              </a:prstGeom>
              <a:solidFill>
                <a:srgbClr val="FFFFFF"/>
              </a:solidFill>
              <a:ln>
                <a:noFill/>
              </a:ln>
            </p:spPr>
          </p:sp>
          <p:sp>
            <p:nvSpPr>
              <p:cNvPr id="249" name="TextBox 249"/>
              <p:cNvSpPr txBox="1"/>
              <p:nvPr/>
            </p:nvSpPr>
            <p:spPr>
              <a:xfrm>
                <a:off x="7115746" y="3621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形成审批建议</a:t>
                </a:r>
              </a:p>
            </p:txBody>
          </p:sp>
        </p:grpSp>
        <p:grpSp>
          <p:nvGrpSpPr>
            <p:cNvPr id="268" name="mf-7"/>
            <p:cNvGrpSpPr/>
            <p:nvPr/>
          </p:nvGrpSpPr>
          <p:grpSpPr>
            <a:xfrm>
              <a:off x="7753350" y="990600"/>
              <a:ext cx="685800" cy="3238500"/>
              <a:chOff x="7753350" y="990600"/>
              <a:chExt cx="685800" cy="3238500"/>
            </a:xfrm>
          </p:grpSpPr>
          <p:sp>
            <p:nvSpPr>
              <p:cNvPr id="251" name="Rectangle 251"/>
              <p:cNvSpPr/>
              <p:nvPr/>
            </p:nvSpPr>
            <p:spPr>
              <a:xfrm>
                <a:off x="7753350" y="990600"/>
                <a:ext cx="685800" cy="3238500"/>
              </a:xfrm>
              <a:prstGeom prst="roundRect">
                <a:avLst>
                  <a:gd name="adj" fmla="val 8333"/>
                </a:avLst>
              </a:prstGeom>
              <a:solidFill>
                <a:srgbClr val="EEF5FB"/>
              </a:solidFill>
              <a:ln>
                <a:noFill/>
              </a:ln>
            </p:spPr>
          </p:sp>
          <p:sp>
            <p:nvSpPr>
              <p:cNvPr id="252" name="Rectangle 252"/>
              <p:cNvSpPr/>
              <p:nvPr/>
            </p:nvSpPr>
            <p:spPr>
              <a:xfrm>
                <a:off x="7905750" y="1047750"/>
                <a:ext cx="381000" cy="171450"/>
              </a:xfrm>
              <a:prstGeom prst="roundRect">
                <a:avLst>
                  <a:gd name="adj" fmla="val 22222"/>
                </a:avLst>
              </a:prstGeom>
              <a:solidFill>
                <a:srgbClr val="92301C"/>
              </a:solidFill>
              <a:ln>
                <a:noFill/>
              </a:ln>
            </p:spPr>
          </p:sp>
          <p:sp>
            <p:nvSpPr>
              <p:cNvPr id="253" name="TextBox 253"/>
              <p:cNvSpPr txBox="1"/>
              <p:nvPr/>
            </p:nvSpPr>
            <p:spPr>
              <a:xfrm>
                <a:off x="8030089" y="1082516"/>
                <a:ext cx="1323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07</a:t>
                </a:r>
              </a:p>
            </p:txBody>
          </p:sp>
          <p:grpSp>
            <p:nvGrpSpPr>
              <p:cNvPr id="256" name="Group 256"/>
              <p:cNvGrpSpPr/>
              <p:nvPr/>
            </p:nvGrpSpPr>
            <p:grpSpPr>
              <a:xfrm>
                <a:off x="8024812" y="1369219"/>
                <a:ext cx="142875" cy="214313"/>
                <a:chOff x="8024812" y="1369219"/>
                <a:chExt cx="142875" cy="214313"/>
              </a:xfrm>
            </p:grpSpPr>
            <p:sp>
              <p:nvSpPr>
                <p:cNvPr id="254" name="Freeform 254"/>
                <p:cNvSpPr/>
                <p:nvPr/>
              </p:nvSpPr>
              <p:spPr>
                <a:xfrm>
                  <a:off x="8048625" y="136921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92301C"/>
                  </a:solidFill>
                </a:ln>
              </p:spPr>
            </p:sp>
            <p:sp>
              <p:nvSpPr>
                <p:cNvPr id="255" name="Freeform 255"/>
                <p:cNvSpPr/>
                <p:nvPr/>
              </p:nvSpPr>
              <p:spPr>
                <a:xfrm>
                  <a:off x="8024812" y="1512094"/>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23812">
                  <a:solidFill>
                    <a:srgbClr val="92301C"/>
                  </a:solidFill>
                </a:ln>
              </p:spPr>
            </p:sp>
          </p:grpSp>
          <p:sp>
            <p:nvSpPr>
              <p:cNvPr id="257" name="TextBox 257"/>
              <p:cNvSpPr txBox="1"/>
              <p:nvPr/>
            </p:nvSpPr>
            <p:spPr>
              <a:xfrm>
                <a:off x="7849171" y="1769745"/>
                <a:ext cx="494157" cy="176212"/>
              </a:xfrm>
              <a:prstGeom prst="rect">
                <a:avLst/>
              </a:prstGeom>
              <a:noFill/>
              <a:ln>
                <a:noFill/>
              </a:ln>
            </p:spPr>
            <p:txBody>
              <a:bodyPr wrap="none" lIns="0" tIns="0" rIns="0" bIns="0" anchor="t" anchorCtr="0">
                <a:spAutoFit/>
              </a:bodyPr>
              <a:lstStyle/>
              <a:p>
                <a:pPr algn="ctr"/>
                <a:r>
                  <a:rPr lang="zh-CN" sz="900" b="1" dirty="0">
                    <a:solidFill>
                      <a:srgbClr val="6B1B0B"/>
                    </a:solidFill>
                    <a:latin typeface="+mn-lt"/>
                    <a:ea typeface="+mn-ea"/>
                    <a:cs typeface="+mn-cs"/>
                  </a:rPr>
                  <a:t>有权审批</a:t>
                </a:r>
              </a:p>
            </p:txBody>
          </p:sp>
          <p:sp>
            <p:nvSpPr>
              <p:cNvPr id="258" name="Rectangle 258"/>
              <p:cNvSpPr/>
              <p:nvPr/>
            </p:nvSpPr>
            <p:spPr>
              <a:xfrm>
                <a:off x="7772400" y="2019300"/>
                <a:ext cx="647700" cy="209550"/>
              </a:xfrm>
              <a:prstGeom prst="roundRect">
                <a:avLst>
                  <a:gd name="adj" fmla="val 13636"/>
                </a:avLst>
              </a:prstGeom>
              <a:solidFill>
                <a:srgbClr val="FFFFFF"/>
              </a:solidFill>
              <a:ln>
                <a:noFill/>
              </a:ln>
            </p:spPr>
          </p:sp>
          <p:sp>
            <p:nvSpPr>
              <p:cNvPr id="259" name="TextBox 259"/>
              <p:cNvSpPr txBox="1"/>
              <p:nvPr/>
            </p:nvSpPr>
            <p:spPr>
              <a:xfrm>
                <a:off x="7808786" y="2097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按授权体系流转</a:t>
                </a:r>
              </a:p>
            </p:txBody>
          </p:sp>
          <p:sp>
            <p:nvSpPr>
              <p:cNvPr id="260" name="Rectangle 260"/>
              <p:cNvSpPr/>
              <p:nvPr/>
            </p:nvSpPr>
            <p:spPr>
              <a:xfrm>
                <a:off x="7772400" y="2400300"/>
                <a:ext cx="647700" cy="209550"/>
              </a:xfrm>
              <a:prstGeom prst="roundRect">
                <a:avLst>
                  <a:gd name="adj" fmla="val 13636"/>
                </a:avLst>
              </a:prstGeom>
              <a:solidFill>
                <a:srgbClr val="FFFFFF"/>
              </a:solidFill>
              <a:ln>
                <a:noFill/>
              </a:ln>
            </p:spPr>
          </p:sp>
          <p:sp>
            <p:nvSpPr>
              <p:cNvPr id="261" name="TextBox 261"/>
              <p:cNvSpPr txBox="1"/>
              <p:nvPr/>
            </p:nvSpPr>
            <p:spPr>
              <a:xfrm>
                <a:off x="7849171" y="2478405"/>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授权人员审阅</a:t>
                </a:r>
              </a:p>
            </p:txBody>
          </p:sp>
          <p:sp>
            <p:nvSpPr>
              <p:cNvPr id="262" name="Rectangle 262"/>
              <p:cNvSpPr/>
              <p:nvPr/>
            </p:nvSpPr>
            <p:spPr>
              <a:xfrm>
                <a:off x="7772400" y="2781300"/>
                <a:ext cx="647700" cy="209550"/>
              </a:xfrm>
              <a:prstGeom prst="roundRect">
                <a:avLst>
                  <a:gd name="adj" fmla="val 13636"/>
                </a:avLst>
              </a:prstGeom>
              <a:solidFill>
                <a:srgbClr val="FFFFFF"/>
              </a:solidFill>
              <a:ln>
                <a:noFill/>
              </a:ln>
            </p:spPr>
          </p:sp>
          <p:sp>
            <p:nvSpPr>
              <p:cNvPr id="263" name="TextBox 263"/>
              <p:cNvSpPr txBox="1"/>
              <p:nvPr/>
            </p:nvSpPr>
            <p:spPr>
              <a:xfrm>
                <a:off x="7808786" y="2859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必要时上会审议</a:t>
                </a:r>
              </a:p>
            </p:txBody>
          </p:sp>
          <p:sp>
            <p:nvSpPr>
              <p:cNvPr id="264" name="Rectangle 264"/>
              <p:cNvSpPr/>
              <p:nvPr/>
            </p:nvSpPr>
            <p:spPr>
              <a:xfrm>
                <a:off x="7772400" y="3162300"/>
                <a:ext cx="647700" cy="209550"/>
              </a:xfrm>
              <a:prstGeom prst="roundRect">
                <a:avLst>
                  <a:gd name="adj" fmla="val 13636"/>
                </a:avLst>
              </a:prstGeom>
              <a:solidFill>
                <a:srgbClr val="FFFFFF"/>
              </a:solidFill>
              <a:ln>
                <a:noFill/>
              </a:ln>
            </p:spPr>
          </p:sp>
          <p:sp>
            <p:nvSpPr>
              <p:cNvPr id="265" name="TextBox 265"/>
              <p:cNvSpPr txBox="1"/>
              <p:nvPr/>
            </p:nvSpPr>
            <p:spPr>
              <a:xfrm>
                <a:off x="7808786" y="3240405"/>
                <a:ext cx="574929"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确认后完成审批</a:t>
                </a:r>
              </a:p>
            </p:txBody>
          </p:sp>
          <p:sp>
            <p:nvSpPr>
              <p:cNvPr id="266" name="Rectangle 266"/>
              <p:cNvSpPr/>
              <p:nvPr/>
            </p:nvSpPr>
            <p:spPr>
              <a:xfrm>
                <a:off x="7772400" y="3543300"/>
                <a:ext cx="647700" cy="209550"/>
              </a:xfrm>
              <a:prstGeom prst="roundRect">
                <a:avLst>
                  <a:gd name="adj" fmla="val 13636"/>
                </a:avLst>
              </a:prstGeom>
              <a:solidFill>
                <a:srgbClr val="FFFFFF"/>
              </a:solidFill>
              <a:ln>
                <a:noFill/>
              </a:ln>
            </p:spPr>
          </p:sp>
          <p:sp>
            <p:nvSpPr>
              <p:cNvPr id="267" name="TextBox 267"/>
              <p:cNvSpPr txBox="1"/>
              <p:nvPr/>
            </p:nvSpPr>
            <p:spPr>
              <a:xfrm>
                <a:off x="7768400" y="3621405"/>
                <a:ext cx="655701"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生成正式授信文件</a:t>
                </a:r>
              </a:p>
            </p:txBody>
          </p:sp>
        </p:grpSp>
        <p:sp>
          <p:nvSpPr>
            <p:cNvPr id="269" name="mf-arrow-1"/>
            <p:cNvSpPr/>
            <p:nvPr/>
          </p:nvSpPr>
          <p:spPr>
            <a:xfrm>
              <a:off x="4038600" y="1447800"/>
              <a:ext cx="47625" cy="95250"/>
            </a:xfrm>
            <a:custGeom>
              <a:avLst/>
              <a:gdLst/>
              <a:ahLst/>
              <a:cxnLst/>
              <a:rect l="l" t="t" r="r" b="b"/>
              <a:pathLst>
                <a:path w="47625" h="95250">
                  <a:moveTo>
                    <a:pt x="0" y="0"/>
                  </a:moveTo>
                  <a:lnTo>
                    <a:pt x="0" y="95250"/>
                  </a:lnTo>
                  <a:lnTo>
                    <a:pt x="47625" y="47625"/>
                  </a:lnTo>
                  <a:close/>
                </a:path>
              </a:pathLst>
            </a:custGeom>
            <a:solidFill>
              <a:srgbClr val="B7533F"/>
            </a:solidFill>
            <a:ln>
              <a:noFill/>
            </a:ln>
          </p:spPr>
        </p:sp>
        <p:sp>
          <p:nvSpPr>
            <p:cNvPr id="270" name="mf-arrow-2"/>
            <p:cNvSpPr/>
            <p:nvPr/>
          </p:nvSpPr>
          <p:spPr>
            <a:xfrm>
              <a:off x="4772025" y="1447800"/>
              <a:ext cx="47625" cy="95250"/>
            </a:xfrm>
            <a:custGeom>
              <a:avLst/>
              <a:gdLst/>
              <a:ahLst/>
              <a:cxnLst/>
              <a:rect l="l" t="t" r="r" b="b"/>
              <a:pathLst>
                <a:path w="47625" h="95250">
                  <a:moveTo>
                    <a:pt x="0" y="0"/>
                  </a:moveTo>
                  <a:lnTo>
                    <a:pt x="0" y="95250"/>
                  </a:lnTo>
                  <a:lnTo>
                    <a:pt x="47625" y="47625"/>
                  </a:lnTo>
                  <a:close/>
                </a:path>
              </a:pathLst>
            </a:custGeom>
            <a:solidFill>
              <a:srgbClr val="B7533F"/>
            </a:solidFill>
            <a:ln>
              <a:noFill/>
            </a:ln>
          </p:spPr>
        </p:sp>
        <p:sp>
          <p:nvSpPr>
            <p:cNvPr id="271" name="mf-arrow-3"/>
            <p:cNvSpPr/>
            <p:nvPr/>
          </p:nvSpPr>
          <p:spPr>
            <a:xfrm>
              <a:off x="5505450" y="1447800"/>
              <a:ext cx="47625" cy="95250"/>
            </a:xfrm>
            <a:custGeom>
              <a:avLst/>
              <a:gdLst/>
              <a:ahLst/>
              <a:cxnLst/>
              <a:rect l="l" t="t" r="r" b="b"/>
              <a:pathLst>
                <a:path w="47625" h="95250">
                  <a:moveTo>
                    <a:pt x="0" y="0"/>
                  </a:moveTo>
                  <a:lnTo>
                    <a:pt x="0" y="95250"/>
                  </a:lnTo>
                  <a:lnTo>
                    <a:pt x="47625" y="47625"/>
                  </a:lnTo>
                  <a:close/>
                </a:path>
              </a:pathLst>
            </a:custGeom>
            <a:solidFill>
              <a:srgbClr val="B7533F"/>
            </a:solidFill>
            <a:ln>
              <a:noFill/>
            </a:ln>
          </p:spPr>
        </p:sp>
        <p:sp>
          <p:nvSpPr>
            <p:cNvPr id="272" name="mf-arrow-4"/>
            <p:cNvSpPr/>
            <p:nvPr/>
          </p:nvSpPr>
          <p:spPr>
            <a:xfrm>
              <a:off x="6238875" y="1447800"/>
              <a:ext cx="47625" cy="95250"/>
            </a:xfrm>
            <a:custGeom>
              <a:avLst/>
              <a:gdLst/>
              <a:ahLst/>
              <a:cxnLst/>
              <a:rect l="l" t="t" r="r" b="b"/>
              <a:pathLst>
                <a:path w="47625" h="95250">
                  <a:moveTo>
                    <a:pt x="0" y="0"/>
                  </a:moveTo>
                  <a:lnTo>
                    <a:pt x="0" y="95250"/>
                  </a:lnTo>
                  <a:lnTo>
                    <a:pt x="47625" y="47625"/>
                  </a:lnTo>
                  <a:close/>
                </a:path>
              </a:pathLst>
            </a:custGeom>
            <a:solidFill>
              <a:srgbClr val="B7533F"/>
            </a:solidFill>
            <a:ln>
              <a:noFill/>
            </a:ln>
          </p:spPr>
        </p:sp>
        <p:sp>
          <p:nvSpPr>
            <p:cNvPr id="273" name="mf-arrow-5"/>
            <p:cNvSpPr/>
            <p:nvPr/>
          </p:nvSpPr>
          <p:spPr>
            <a:xfrm>
              <a:off x="6972300" y="1447800"/>
              <a:ext cx="47625" cy="95250"/>
            </a:xfrm>
            <a:custGeom>
              <a:avLst/>
              <a:gdLst/>
              <a:ahLst/>
              <a:cxnLst/>
              <a:rect l="l" t="t" r="r" b="b"/>
              <a:pathLst>
                <a:path w="47625" h="95250">
                  <a:moveTo>
                    <a:pt x="0" y="0"/>
                  </a:moveTo>
                  <a:lnTo>
                    <a:pt x="0" y="95250"/>
                  </a:lnTo>
                  <a:lnTo>
                    <a:pt x="47625" y="47625"/>
                  </a:lnTo>
                  <a:close/>
                </a:path>
              </a:pathLst>
            </a:custGeom>
            <a:solidFill>
              <a:srgbClr val="B7533F"/>
            </a:solidFill>
            <a:ln>
              <a:noFill/>
            </a:ln>
          </p:spPr>
        </p:sp>
        <p:sp>
          <p:nvSpPr>
            <p:cNvPr id="274" name="mf-arrow-6"/>
            <p:cNvSpPr/>
            <p:nvPr/>
          </p:nvSpPr>
          <p:spPr>
            <a:xfrm>
              <a:off x="7705725" y="1447800"/>
              <a:ext cx="47625" cy="95250"/>
            </a:xfrm>
            <a:custGeom>
              <a:avLst/>
              <a:gdLst/>
              <a:ahLst/>
              <a:cxnLst/>
              <a:rect l="l" t="t" r="r" b="b"/>
              <a:pathLst>
                <a:path w="47625" h="95250">
                  <a:moveTo>
                    <a:pt x="0" y="0"/>
                  </a:moveTo>
                  <a:lnTo>
                    <a:pt x="0" y="95250"/>
                  </a:lnTo>
                  <a:lnTo>
                    <a:pt x="47625" y="47625"/>
                  </a:lnTo>
                  <a:close/>
                </a:path>
              </a:pathLst>
            </a:custGeom>
            <a:solidFill>
              <a:srgbClr val="B7533F"/>
            </a:solidFill>
            <a:ln>
              <a:noFill/>
            </a:ln>
          </p:spPr>
        </p:sp>
      </p:grpSp>
      <p:grpSp>
        <p:nvGrpSpPr>
          <p:cNvPr id="278" name="mid-banner"/>
          <p:cNvGrpSpPr/>
          <p:nvPr/>
        </p:nvGrpSpPr>
        <p:grpSpPr>
          <a:xfrm>
            <a:off x="3352800" y="4362450"/>
            <a:ext cx="5086350" cy="400050"/>
            <a:chOff x="3352800" y="4362450"/>
            <a:chExt cx="5086350" cy="400050"/>
          </a:xfrm>
        </p:grpSpPr>
        <p:sp>
          <p:nvSpPr>
            <p:cNvPr id="276" name="Freeform 276"/>
            <p:cNvSpPr/>
            <p:nvPr/>
          </p:nvSpPr>
          <p:spPr>
            <a:xfrm>
              <a:off x="3352800" y="4362450"/>
              <a:ext cx="5086350" cy="400050"/>
            </a:xfrm>
            <a:prstGeom prst="leftRightArrow">
              <a:avLst>
                <a:gd name="adj1" fmla="val 60000"/>
                <a:gd name="adj2" fmla="val 40000"/>
              </a:avLst>
            </a:prstGeom>
            <a:solidFill>
              <a:srgbClr val="92301C"/>
            </a:solidFill>
            <a:ln>
              <a:noFill/>
            </a:ln>
          </p:spPr>
        </p:sp>
        <p:sp>
          <p:nvSpPr>
            <p:cNvPr id="277" name="TextBox 277"/>
            <p:cNvSpPr txBox="1"/>
            <p:nvPr/>
          </p:nvSpPr>
          <p:spPr>
            <a:xfrm>
              <a:off x="4596647" y="4504849"/>
              <a:ext cx="259865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数据贯通 · 规则统一 · 模型驱动 · 全程留痕</a:t>
              </a:r>
            </a:p>
          </p:txBody>
        </p:sp>
      </p:grpSp>
      <p:grpSp>
        <p:nvGrpSpPr>
          <p:cNvPr id="316" name="chart-scatter"/>
          <p:cNvGrpSpPr/>
          <p:nvPr/>
        </p:nvGrpSpPr>
        <p:grpSpPr>
          <a:xfrm>
            <a:off x="8304997" y="990600"/>
            <a:ext cx="3696503" cy="2079784"/>
            <a:chOff x="8304997" y="990600"/>
            <a:chExt cx="3696503" cy="2079784"/>
          </a:xfrm>
        </p:grpSpPr>
        <p:sp>
          <p:nvSpPr>
            <p:cNvPr id="279" name="Rectangle 279"/>
            <p:cNvSpPr/>
            <p:nvPr/>
          </p:nvSpPr>
          <p:spPr>
            <a:xfrm>
              <a:off x="8572500" y="990600"/>
              <a:ext cx="3429000" cy="2057400"/>
            </a:xfrm>
            <a:prstGeom prst="roundRect">
              <a:avLst>
                <a:gd name="adj" fmla="val 2778"/>
              </a:avLst>
            </a:prstGeom>
            <a:solidFill>
              <a:srgbClr val="F6F9FD"/>
            </a:solidFill>
            <a:ln w="9525">
              <a:solidFill>
                <a:srgbClr val="CFDFEE"/>
              </a:solidFill>
            </a:ln>
          </p:spPr>
        </p:sp>
        <p:sp>
          <p:nvSpPr>
            <p:cNvPr id="280" name="Rectangle 280"/>
            <p:cNvSpPr/>
            <p:nvPr/>
          </p:nvSpPr>
          <p:spPr>
            <a:xfrm>
              <a:off x="9048750" y="1123950"/>
              <a:ext cx="2762250" cy="1638300"/>
            </a:xfrm>
            <a:prstGeom prst="rect">
              <a:avLst/>
            </a:prstGeom>
            <a:solidFill>
              <a:srgbClr val="FFFFFF"/>
            </a:solidFill>
            <a:ln w="9525">
              <a:solidFill>
                <a:srgbClr val="DCE6F2"/>
              </a:solidFill>
            </a:ln>
          </p:spPr>
        </p:sp>
        <p:sp>
          <p:nvSpPr>
            <p:cNvPr id="281" name="Line 281"/>
            <p:cNvSpPr/>
            <p:nvPr/>
          </p:nvSpPr>
          <p:spPr>
            <a:xfrm>
              <a:off x="10706100" y="1123950"/>
              <a:ext cx="9525" cy="1638300"/>
            </a:xfrm>
            <a:custGeom>
              <a:avLst/>
              <a:gdLst/>
              <a:ahLst/>
              <a:cxnLst/>
              <a:rect l="l" t="t" r="r" b="b"/>
              <a:pathLst>
                <a:path w="9525" h="1638300">
                  <a:moveTo>
                    <a:pt x="0" y="0"/>
                  </a:moveTo>
                  <a:lnTo>
                    <a:pt x="0" y="1638300"/>
                  </a:lnTo>
                </a:path>
              </a:pathLst>
            </a:custGeom>
            <a:noFill/>
            <a:ln w="9525">
              <a:solidFill>
                <a:srgbClr val="DCE6F2"/>
              </a:solidFill>
              <a:custDash>
                <a:ds d="300000" sp="300000"/>
              </a:custDash>
            </a:ln>
          </p:spPr>
        </p:sp>
        <p:sp>
          <p:nvSpPr>
            <p:cNvPr id="282" name="Line 282"/>
            <p:cNvSpPr/>
            <p:nvPr/>
          </p:nvSpPr>
          <p:spPr>
            <a:xfrm>
              <a:off x="9048750" y="1943100"/>
              <a:ext cx="2762250" cy="9525"/>
            </a:xfrm>
            <a:custGeom>
              <a:avLst/>
              <a:gdLst/>
              <a:ahLst/>
              <a:cxnLst/>
              <a:rect l="l" t="t" r="r" b="b"/>
              <a:pathLst>
                <a:path w="2762250" h="9525">
                  <a:moveTo>
                    <a:pt x="0" y="0"/>
                  </a:moveTo>
                  <a:lnTo>
                    <a:pt x="2762250" y="0"/>
                  </a:lnTo>
                </a:path>
              </a:pathLst>
            </a:custGeom>
            <a:noFill/>
            <a:ln w="9525">
              <a:solidFill>
                <a:srgbClr val="DCE6F2"/>
              </a:solidFill>
              <a:custDash>
                <a:ds d="300000" sp="300000"/>
              </a:custDash>
            </a:ln>
          </p:spPr>
        </p:sp>
        <p:sp>
          <p:nvSpPr>
            <p:cNvPr id="283" name="TextBox 283"/>
            <p:cNvSpPr txBox="1"/>
            <p:nvPr/>
          </p:nvSpPr>
          <p:spPr>
            <a:xfrm rot="-5400000">
              <a:off x="8304997" y="1872853"/>
              <a:ext cx="75027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n-lt"/>
                  <a:ea typeface="+mn-ea"/>
                  <a:cs typeface="+mn-cs"/>
                </a:rPr>
                <a:t>预期收益率（%）</a:t>
              </a:r>
            </a:p>
          </p:txBody>
        </p:sp>
        <p:grpSp>
          <p:nvGrpSpPr>
            <p:cNvPr id="290" name="sc-yaxis"/>
            <p:cNvGrpSpPr/>
            <p:nvPr/>
          </p:nvGrpSpPr>
          <p:grpSpPr>
            <a:xfrm>
              <a:off x="8890997" y="1102757"/>
              <a:ext cx="105366" cy="1745456"/>
              <a:chOff x="8890997" y="1102757"/>
              <a:chExt cx="105366" cy="1745456"/>
            </a:xfrm>
          </p:grpSpPr>
          <p:sp>
            <p:nvSpPr>
              <p:cNvPr id="284" name="TextBox 284"/>
              <p:cNvSpPr txBox="1"/>
              <p:nvPr/>
            </p:nvSpPr>
            <p:spPr>
              <a:xfrm>
                <a:off x="8938917" y="2722007"/>
                <a:ext cx="57445"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0</a:t>
                </a:r>
              </a:p>
            </p:txBody>
          </p:sp>
          <p:sp>
            <p:nvSpPr>
              <p:cNvPr id="285" name="TextBox 285"/>
              <p:cNvSpPr txBox="1"/>
              <p:nvPr/>
            </p:nvSpPr>
            <p:spPr>
              <a:xfrm>
                <a:off x="8938917" y="2398157"/>
                <a:ext cx="57445"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5</a:t>
                </a:r>
              </a:p>
            </p:txBody>
          </p:sp>
          <p:sp>
            <p:nvSpPr>
              <p:cNvPr id="286" name="TextBox 286"/>
              <p:cNvSpPr txBox="1"/>
              <p:nvPr/>
            </p:nvSpPr>
            <p:spPr>
              <a:xfrm>
                <a:off x="8890997" y="2074307"/>
                <a:ext cx="105366"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10</a:t>
                </a:r>
              </a:p>
            </p:txBody>
          </p:sp>
          <p:sp>
            <p:nvSpPr>
              <p:cNvPr id="287" name="TextBox 287"/>
              <p:cNvSpPr txBox="1"/>
              <p:nvPr/>
            </p:nvSpPr>
            <p:spPr>
              <a:xfrm>
                <a:off x="8890997" y="1750457"/>
                <a:ext cx="105366"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15</a:t>
                </a:r>
              </a:p>
            </p:txBody>
          </p:sp>
          <p:sp>
            <p:nvSpPr>
              <p:cNvPr id="288" name="TextBox 288"/>
              <p:cNvSpPr txBox="1"/>
              <p:nvPr/>
            </p:nvSpPr>
            <p:spPr>
              <a:xfrm>
                <a:off x="8890997" y="1426607"/>
                <a:ext cx="105366"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20</a:t>
                </a:r>
              </a:p>
            </p:txBody>
          </p:sp>
          <p:sp>
            <p:nvSpPr>
              <p:cNvPr id="289" name="TextBox 289"/>
              <p:cNvSpPr txBox="1"/>
              <p:nvPr/>
            </p:nvSpPr>
            <p:spPr>
              <a:xfrm>
                <a:off x="8890997" y="1102757"/>
                <a:ext cx="105366"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j-lt"/>
                    <a:ea typeface="+mj-ea"/>
                    <a:cs typeface="+mj-cs"/>
                  </a:rPr>
                  <a:t>25</a:t>
                </a:r>
              </a:p>
            </p:txBody>
          </p:sp>
        </p:grpSp>
        <p:grpSp>
          <p:nvGrpSpPr>
            <p:cNvPr id="297" name="sc-xaxis"/>
            <p:cNvGrpSpPr/>
            <p:nvPr/>
          </p:nvGrpSpPr>
          <p:grpSpPr>
            <a:xfrm>
              <a:off x="9020027" y="2807732"/>
              <a:ext cx="2843656" cy="126206"/>
              <a:chOff x="9020027" y="2807732"/>
              <a:chExt cx="2843656" cy="126206"/>
            </a:xfrm>
          </p:grpSpPr>
          <p:sp>
            <p:nvSpPr>
              <p:cNvPr id="291" name="TextBox 291"/>
              <p:cNvSpPr txBox="1"/>
              <p:nvPr/>
            </p:nvSpPr>
            <p:spPr>
              <a:xfrm>
                <a:off x="9020027" y="2807732"/>
                <a:ext cx="57445"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0</a:t>
                </a:r>
              </a:p>
            </p:txBody>
          </p:sp>
          <p:sp>
            <p:nvSpPr>
              <p:cNvPr id="292" name="TextBox 292"/>
              <p:cNvSpPr txBox="1"/>
              <p:nvPr/>
            </p:nvSpPr>
            <p:spPr>
              <a:xfrm>
                <a:off x="9572477" y="2807732"/>
                <a:ext cx="57445"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1</a:t>
                </a:r>
              </a:p>
            </p:txBody>
          </p:sp>
          <p:sp>
            <p:nvSpPr>
              <p:cNvPr id="293" name="TextBox 293"/>
              <p:cNvSpPr txBox="1"/>
              <p:nvPr/>
            </p:nvSpPr>
            <p:spPr>
              <a:xfrm>
                <a:off x="10124927" y="2807732"/>
                <a:ext cx="57445"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2</a:t>
                </a:r>
              </a:p>
            </p:txBody>
          </p:sp>
          <p:sp>
            <p:nvSpPr>
              <p:cNvPr id="294" name="TextBox 294"/>
              <p:cNvSpPr txBox="1"/>
              <p:nvPr/>
            </p:nvSpPr>
            <p:spPr>
              <a:xfrm>
                <a:off x="10677377" y="2807732"/>
                <a:ext cx="57445"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3</a:t>
                </a:r>
              </a:p>
            </p:txBody>
          </p:sp>
          <p:sp>
            <p:nvSpPr>
              <p:cNvPr id="295" name="TextBox 295"/>
              <p:cNvSpPr txBox="1"/>
              <p:nvPr/>
            </p:nvSpPr>
            <p:spPr>
              <a:xfrm>
                <a:off x="11229827" y="2807732"/>
                <a:ext cx="57445"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5</a:t>
                </a:r>
              </a:p>
            </p:txBody>
          </p:sp>
          <p:sp>
            <p:nvSpPr>
              <p:cNvPr id="296" name="TextBox 296"/>
              <p:cNvSpPr txBox="1"/>
              <p:nvPr/>
            </p:nvSpPr>
            <p:spPr>
              <a:xfrm>
                <a:off x="11758317" y="2807732"/>
                <a:ext cx="105366"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10</a:t>
                </a:r>
              </a:p>
            </p:txBody>
          </p:sp>
        </p:grpSp>
        <p:sp>
          <p:nvSpPr>
            <p:cNvPr id="298" name="TextBox 298"/>
            <p:cNvSpPr txBox="1"/>
            <p:nvPr/>
          </p:nvSpPr>
          <p:spPr>
            <a:xfrm>
              <a:off x="10858138" y="2937034"/>
              <a:ext cx="957624" cy="133350"/>
            </a:xfrm>
            <a:prstGeom prst="rect">
              <a:avLst/>
            </a:prstGeom>
            <a:noFill/>
            <a:ln>
              <a:noFill/>
            </a:ln>
          </p:spPr>
          <p:txBody>
            <a:bodyPr wrap="none" lIns="0" tIns="0" rIns="0" bIns="0" anchor="t" anchorCtr="0">
              <a:spAutoFit/>
            </a:bodyPr>
            <a:lstStyle/>
            <a:p>
              <a:pPr algn="r"/>
              <a:r>
                <a:rPr lang="zh-CN" sz="680" dirty="0">
                  <a:solidFill>
                    <a:srgbClr val="52352F"/>
                  </a:solidFill>
                  <a:latin typeface="+mj-lt"/>
                  <a:ea typeface="+mj-ea"/>
                  <a:cs typeface="+mj-cs"/>
                </a:rPr>
                <a:t xml:space="preserve">预期风险（PD，%）　</a:t>
              </a:r>
            </a:p>
          </p:txBody>
        </p:sp>
        <p:sp>
          <p:nvSpPr>
            <p:cNvPr id="299" name="TextBox 299"/>
            <p:cNvSpPr txBox="1"/>
            <p:nvPr/>
          </p:nvSpPr>
          <p:spPr>
            <a:xfrm>
              <a:off x="8624888" y="2941082"/>
              <a:ext cx="1474191" cy="126206"/>
            </a:xfrm>
            <a:prstGeom prst="rect">
              <a:avLst/>
            </a:prstGeom>
            <a:noFill/>
            <a:ln>
              <a:noFill/>
            </a:ln>
          </p:spPr>
          <p:txBody>
            <a:bodyPr wrap="none" lIns="0" tIns="0" rIns="0" bIns="0" anchor="t" anchorCtr="0">
              <a:spAutoFit/>
            </a:bodyPr>
            <a:lstStyle/>
            <a:p>
              <a:pPr algn="l"/>
              <a:r>
                <a:rPr lang="zh-CN" sz="640" dirty="0">
                  <a:solidFill>
                    <a:srgbClr val="8C716B"/>
                  </a:solidFill>
                  <a:latin typeface="+mn-lt"/>
                  <a:ea typeface="+mn-ea"/>
                  <a:cs typeface="+mn-cs"/>
                </a:rPr>
                <a:t>注：气泡大小表示授信规模（示例）。</a:t>
              </a:r>
            </a:p>
          </p:txBody>
        </p:sp>
        <p:sp>
          <p:nvSpPr>
            <p:cNvPr id="300" name="TextBox 300"/>
            <p:cNvSpPr txBox="1"/>
            <p:nvPr/>
          </p:nvSpPr>
          <p:spPr>
            <a:xfrm>
              <a:off x="9120188" y="1199436"/>
              <a:ext cx="583006" cy="140494"/>
            </a:xfrm>
            <a:prstGeom prst="rect">
              <a:avLst/>
            </a:prstGeom>
            <a:noFill/>
            <a:ln>
              <a:noFill/>
            </a:ln>
          </p:spPr>
          <p:txBody>
            <a:bodyPr wrap="none" lIns="0" tIns="0" rIns="0" bIns="0" anchor="t" anchorCtr="0">
              <a:spAutoFit/>
            </a:bodyPr>
            <a:lstStyle/>
            <a:p>
              <a:pPr algn="l"/>
              <a:r>
                <a:rPr lang="zh-CN" sz="710" b="1" dirty="0">
                  <a:solidFill>
                    <a:srgbClr val="6B1B0B"/>
                  </a:solidFill>
                  <a:latin typeface="+mn-lt"/>
                  <a:ea typeface="+mn-ea"/>
                  <a:cs typeface="+mn-cs"/>
                </a:rPr>
                <a:t>低风险高收益</a:t>
              </a:r>
            </a:p>
          </p:txBody>
        </p:sp>
        <p:sp>
          <p:nvSpPr>
            <p:cNvPr id="301" name="TextBox 301"/>
            <p:cNvSpPr txBox="1"/>
            <p:nvPr/>
          </p:nvSpPr>
          <p:spPr>
            <a:xfrm>
              <a:off x="9120188" y="1323261"/>
              <a:ext cx="391846" cy="140494"/>
            </a:xfrm>
            <a:prstGeom prst="rect">
              <a:avLst/>
            </a:prstGeom>
            <a:noFill/>
            <a:ln>
              <a:noFill/>
            </a:ln>
          </p:spPr>
          <p:txBody>
            <a:bodyPr wrap="none" lIns="0" tIns="0" rIns="0" bIns="0" anchor="t" anchorCtr="0">
              <a:spAutoFit/>
            </a:bodyPr>
            <a:lstStyle/>
            <a:p>
              <a:pPr algn="l"/>
              <a:r>
                <a:rPr lang="zh-CN" sz="710" dirty="0">
                  <a:solidFill>
                    <a:srgbClr val="92301C"/>
                  </a:solidFill>
                  <a:latin typeface="+mn-lt"/>
                  <a:ea typeface="+mn-ea"/>
                  <a:cs typeface="+mn-cs"/>
                </a:rPr>
                <a:t>优先发展</a:t>
              </a:r>
            </a:p>
          </p:txBody>
        </p:sp>
        <p:sp>
          <p:nvSpPr>
            <p:cNvPr id="302" name="TextBox 302"/>
            <p:cNvSpPr txBox="1"/>
            <p:nvPr/>
          </p:nvSpPr>
          <p:spPr>
            <a:xfrm>
              <a:off x="11175606" y="1199436"/>
              <a:ext cx="583006" cy="140494"/>
            </a:xfrm>
            <a:prstGeom prst="rect">
              <a:avLst/>
            </a:prstGeom>
            <a:noFill/>
            <a:ln>
              <a:noFill/>
            </a:ln>
          </p:spPr>
          <p:txBody>
            <a:bodyPr wrap="none" lIns="0" tIns="0" rIns="0" bIns="0" anchor="t" anchorCtr="0">
              <a:spAutoFit/>
            </a:bodyPr>
            <a:lstStyle/>
            <a:p>
              <a:pPr algn="r"/>
              <a:r>
                <a:rPr lang="zh-CN" sz="710" b="1" dirty="0">
                  <a:solidFill>
                    <a:srgbClr val="6B1B0B"/>
                  </a:solidFill>
                  <a:latin typeface="+mn-lt"/>
                  <a:ea typeface="+mn-ea"/>
                  <a:cs typeface="+mn-cs"/>
                </a:rPr>
                <a:t>高风险高收益</a:t>
              </a:r>
            </a:p>
          </p:txBody>
        </p:sp>
        <p:sp>
          <p:nvSpPr>
            <p:cNvPr id="303" name="TextBox 303"/>
            <p:cNvSpPr txBox="1"/>
            <p:nvPr/>
          </p:nvSpPr>
          <p:spPr>
            <a:xfrm>
              <a:off x="11366767" y="1323261"/>
              <a:ext cx="391846" cy="140494"/>
            </a:xfrm>
            <a:prstGeom prst="rect">
              <a:avLst/>
            </a:prstGeom>
            <a:noFill/>
            <a:ln>
              <a:noFill/>
            </a:ln>
          </p:spPr>
          <p:txBody>
            <a:bodyPr wrap="none" lIns="0" tIns="0" rIns="0" bIns="0" anchor="t" anchorCtr="0">
              <a:spAutoFit/>
            </a:bodyPr>
            <a:lstStyle/>
            <a:p>
              <a:pPr algn="r"/>
              <a:r>
                <a:rPr lang="zh-CN" sz="710" dirty="0">
                  <a:solidFill>
                    <a:srgbClr val="92301C"/>
                  </a:solidFill>
                  <a:latin typeface="+mn-lt"/>
                  <a:ea typeface="+mn-ea"/>
                  <a:cs typeface="+mn-cs"/>
                </a:rPr>
                <a:t>审慎选择</a:t>
              </a:r>
            </a:p>
          </p:txBody>
        </p:sp>
        <p:sp>
          <p:nvSpPr>
            <p:cNvPr id="304" name="TextBox 304"/>
            <p:cNvSpPr txBox="1"/>
            <p:nvPr/>
          </p:nvSpPr>
          <p:spPr>
            <a:xfrm>
              <a:off x="9120188" y="2456736"/>
              <a:ext cx="583006" cy="140494"/>
            </a:xfrm>
            <a:prstGeom prst="rect">
              <a:avLst/>
            </a:prstGeom>
            <a:noFill/>
            <a:ln>
              <a:noFill/>
            </a:ln>
          </p:spPr>
          <p:txBody>
            <a:bodyPr wrap="none" lIns="0" tIns="0" rIns="0" bIns="0" anchor="t" anchorCtr="0">
              <a:spAutoFit/>
            </a:bodyPr>
            <a:lstStyle/>
            <a:p>
              <a:pPr algn="l"/>
              <a:r>
                <a:rPr lang="zh-CN" sz="710" b="1" dirty="0">
                  <a:solidFill>
                    <a:srgbClr val="6B1B0B"/>
                  </a:solidFill>
                  <a:latin typeface="+mn-lt"/>
                  <a:ea typeface="+mn-ea"/>
                  <a:cs typeface="+mn-cs"/>
                </a:rPr>
                <a:t>低风险低收益</a:t>
              </a:r>
            </a:p>
          </p:txBody>
        </p:sp>
        <p:sp>
          <p:nvSpPr>
            <p:cNvPr id="305" name="TextBox 305"/>
            <p:cNvSpPr txBox="1"/>
            <p:nvPr/>
          </p:nvSpPr>
          <p:spPr>
            <a:xfrm>
              <a:off x="9120188" y="2580561"/>
              <a:ext cx="391846" cy="140494"/>
            </a:xfrm>
            <a:prstGeom prst="rect">
              <a:avLst/>
            </a:prstGeom>
            <a:noFill/>
            <a:ln>
              <a:noFill/>
            </a:ln>
          </p:spPr>
          <p:txBody>
            <a:bodyPr wrap="none" lIns="0" tIns="0" rIns="0" bIns="0" anchor="t" anchorCtr="0">
              <a:spAutoFit/>
            </a:bodyPr>
            <a:lstStyle/>
            <a:p>
              <a:pPr algn="l"/>
              <a:r>
                <a:rPr lang="zh-CN" sz="710" dirty="0">
                  <a:solidFill>
                    <a:srgbClr val="92301C"/>
                  </a:solidFill>
                  <a:latin typeface="+mn-lt"/>
                  <a:ea typeface="+mn-ea"/>
                  <a:cs typeface="+mn-cs"/>
                </a:rPr>
                <a:t>稳健经营</a:t>
              </a:r>
            </a:p>
          </p:txBody>
        </p:sp>
        <p:sp>
          <p:nvSpPr>
            <p:cNvPr id="306" name="TextBox 306"/>
            <p:cNvSpPr txBox="1"/>
            <p:nvPr/>
          </p:nvSpPr>
          <p:spPr>
            <a:xfrm>
              <a:off x="11175606" y="2456736"/>
              <a:ext cx="583006" cy="140494"/>
            </a:xfrm>
            <a:prstGeom prst="rect">
              <a:avLst/>
            </a:prstGeom>
            <a:noFill/>
            <a:ln>
              <a:noFill/>
            </a:ln>
          </p:spPr>
          <p:txBody>
            <a:bodyPr wrap="none" lIns="0" tIns="0" rIns="0" bIns="0" anchor="t" anchorCtr="0">
              <a:spAutoFit/>
            </a:bodyPr>
            <a:lstStyle/>
            <a:p>
              <a:pPr algn="r"/>
              <a:r>
                <a:rPr lang="zh-CN" sz="710" b="1" dirty="0">
                  <a:solidFill>
                    <a:srgbClr val="6B1B0B"/>
                  </a:solidFill>
                  <a:latin typeface="+mn-lt"/>
                  <a:ea typeface="+mn-ea"/>
                  <a:cs typeface="+mn-cs"/>
                </a:rPr>
                <a:t>高风险低收益</a:t>
              </a:r>
            </a:p>
          </p:txBody>
        </p:sp>
        <p:sp>
          <p:nvSpPr>
            <p:cNvPr id="307" name="TextBox 307"/>
            <p:cNvSpPr txBox="1"/>
            <p:nvPr/>
          </p:nvSpPr>
          <p:spPr>
            <a:xfrm>
              <a:off x="11366767" y="2580561"/>
              <a:ext cx="391846" cy="140494"/>
            </a:xfrm>
            <a:prstGeom prst="rect">
              <a:avLst/>
            </a:prstGeom>
            <a:noFill/>
            <a:ln>
              <a:noFill/>
            </a:ln>
          </p:spPr>
          <p:txBody>
            <a:bodyPr wrap="none" lIns="0" tIns="0" rIns="0" bIns="0" anchor="t" anchorCtr="0">
              <a:spAutoFit/>
            </a:bodyPr>
            <a:lstStyle/>
            <a:p>
              <a:pPr algn="r"/>
              <a:r>
                <a:rPr lang="zh-CN" sz="710" dirty="0">
                  <a:solidFill>
                    <a:srgbClr val="92301C"/>
                  </a:solidFill>
                  <a:latin typeface="+mn-lt"/>
                  <a:ea typeface="+mn-ea"/>
                  <a:cs typeface="+mn-cs"/>
                </a:rPr>
                <a:t>限制进入</a:t>
              </a:r>
            </a:p>
          </p:txBody>
        </p:sp>
        <p:sp>
          <p:nvSpPr>
            <p:cNvPr id="308" name="Ellipse 308"/>
            <p:cNvSpPr/>
            <p:nvPr/>
          </p:nvSpPr>
          <p:spPr>
            <a:xfrm>
              <a:off x="9496425" y="1924050"/>
              <a:ext cx="95250" cy="95250"/>
            </a:xfrm>
            <a:prstGeom prst="ellipse">
              <a:avLst/>
            </a:prstGeom>
            <a:solidFill>
              <a:srgbClr val="C87C6C">
                <a:alpha val="80000"/>
              </a:srgbClr>
            </a:solidFill>
            <a:ln>
              <a:noFill/>
            </a:ln>
          </p:spPr>
        </p:sp>
        <p:sp>
          <p:nvSpPr>
            <p:cNvPr id="309" name="Ellipse 309"/>
            <p:cNvSpPr/>
            <p:nvPr/>
          </p:nvSpPr>
          <p:spPr>
            <a:xfrm>
              <a:off x="9791700" y="1562100"/>
              <a:ext cx="171450" cy="171450"/>
            </a:xfrm>
            <a:prstGeom prst="ellipse">
              <a:avLst/>
            </a:prstGeom>
            <a:solidFill>
              <a:srgbClr val="C87C6C">
                <a:alpha val="80000"/>
              </a:srgbClr>
            </a:solidFill>
            <a:ln>
              <a:noFill/>
            </a:ln>
          </p:spPr>
        </p:sp>
        <p:sp>
          <p:nvSpPr>
            <p:cNvPr id="310" name="Ellipse 310"/>
            <p:cNvSpPr/>
            <p:nvPr/>
          </p:nvSpPr>
          <p:spPr>
            <a:xfrm>
              <a:off x="10191750" y="1343025"/>
              <a:ext cx="152400" cy="152400"/>
            </a:xfrm>
            <a:prstGeom prst="ellipse">
              <a:avLst/>
            </a:prstGeom>
            <a:solidFill>
              <a:srgbClr val="E3B3A9">
                <a:alpha val="90000"/>
              </a:srgbClr>
            </a:solidFill>
            <a:ln>
              <a:noFill/>
            </a:ln>
          </p:spPr>
        </p:sp>
        <p:sp>
          <p:nvSpPr>
            <p:cNvPr id="311" name="Ellipse 311"/>
            <p:cNvSpPr/>
            <p:nvPr/>
          </p:nvSpPr>
          <p:spPr>
            <a:xfrm>
              <a:off x="9991725" y="2152650"/>
              <a:ext cx="95250" cy="95250"/>
            </a:xfrm>
            <a:prstGeom prst="ellipse">
              <a:avLst/>
            </a:prstGeom>
            <a:solidFill>
              <a:srgbClr val="C87C6C">
                <a:alpha val="80000"/>
              </a:srgbClr>
            </a:solidFill>
            <a:ln>
              <a:noFill/>
            </a:ln>
          </p:spPr>
        </p:sp>
        <p:sp>
          <p:nvSpPr>
            <p:cNvPr id="312" name="Ellipse 312"/>
            <p:cNvSpPr/>
            <p:nvPr/>
          </p:nvSpPr>
          <p:spPr>
            <a:xfrm>
              <a:off x="10420350" y="1971675"/>
              <a:ext cx="133350" cy="133350"/>
            </a:xfrm>
            <a:prstGeom prst="ellipse">
              <a:avLst/>
            </a:prstGeom>
            <a:solidFill>
              <a:srgbClr val="92301C">
                <a:alpha val="90000"/>
              </a:srgbClr>
            </a:solidFill>
            <a:ln>
              <a:noFill/>
            </a:ln>
          </p:spPr>
        </p:sp>
        <p:sp>
          <p:nvSpPr>
            <p:cNvPr id="313" name="Ellipse 313"/>
            <p:cNvSpPr/>
            <p:nvPr/>
          </p:nvSpPr>
          <p:spPr>
            <a:xfrm>
              <a:off x="10839450" y="2057400"/>
              <a:ext cx="152400" cy="152400"/>
            </a:xfrm>
            <a:prstGeom prst="ellipse">
              <a:avLst/>
            </a:prstGeom>
            <a:solidFill>
              <a:srgbClr val="C87C6C">
                <a:alpha val="80000"/>
              </a:srgbClr>
            </a:solidFill>
            <a:ln>
              <a:noFill/>
            </a:ln>
          </p:spPr>
        </p:sp>
        <p:sp>
          <p:nvSpPr>
            <p:cNvPr id="314" name="Ellipse 314"/>
            <p:cNvSpPr/>
            <p:nvPr/>
          </p:nvSpPr>
          <p:spPr>
            <a:xfrm>
              <a:off x="11029950" y="1400175"/>
              <a:ext cx="228600" cy="228600"/>
            </a:xfrm>
            <a:prstGeom prst="ellipse">
              <a:avLst/>
            </a:prstGeom>
            <a:solidFill>
              <a:srgbClr val="B7533F">
                <a:alpha val="80000"/>
              </a:srgbClr>
            </a:solidFill>
            <a:ln>
              <a:noFill/>
            </a:ln>
          </p:spPr>
        </p:sp>
        <p:sp>
          <p:nvSpPr>
            <p:cNvPr id="315" name="Ellipse 315"/>
            <p:cNvSpPr/>
            <p:nvPr/>
          </p:nvSpPr>
          <p:spPr>
            <a:xfrm>
              <a:off x="11496675" y="1666875"/>
              <a:ext cx="285750" cy="285750"/>
            </a:xfrm>
            <a:prstGeom prst="ellipse">
              <a:avLst/>
            </a:prstGeom>
            <a:solidFill>
              <a:srgbClr val="B7533F">
                <a:alpha val="80000"/>
              </a:srgbClr>
            </a:solidFill>
            <a:ln>
              <a:noFill/>
            </a:ln>
          </p:spPr>
        </p:sp>
      </p:grpSp>
      <p:grpSp>
        <p:nvGrpSpPr>
          <p:cNvPr id="363" name="table-exceptions"/>
          <p:cNvGrpSpPr/>
          <p:nvPr/>
        </p:nvGrpSpPr>
        <p:grpSpPr>
          <a:xfrm>
            <a:off x="8572500" y="3105150"/>
            <a:ext cx="3429000" cy="1885950"/>
            <a:chOff x="8572500" y="3105150"/>
            <a:chExt cx="3429000" cy="1885950"/>
          </a:xfrm>
        </p:grpSpPr>
        <p:sp>
          <p:nvSpPr>
            <p:cNvPr id="317" name="Rectangle 317"/>
            <p:cNvSpPr/>
            <p:nvPr/>
          </p:nvSpPr>
          <p:spPr>
            <a:xfrm>
              <a:off x="8572500" y="3105150"/>
              <a:ext cx="3429000" cy="228600"/>
            </a:xfrm>
            <a:prstGeom prst="rect">
              <a:avLst/>
            </a:prstGeom>
            <a:gradFill>
              <a:gsLst>
                <a:gs pos="0">
                  <a:srgbClr val="92301C"/>
                </a:gs>
                <a:gs pos="100000">
                  <a:srgbClr val="B7533F"/>
                </a:gs>
              </a:gsLst>
              <a:lin ang="0" scaled="1"/>
            </a:gradFill>
            <a:ln>
              <a:noFill/>
            </a:ln>
          </p:spPr>
        </p:sp>
        <p:sp>
          <p:nvSpPr>
            <p:cNvPr id="318" name="TextBox 318"/>
            <p:cNvSpPr txBox="1"/>
            <p:nvPr/>
          </p:nvSpPr>
          <p:spPr>
            <a:xfrm>
              <a:off x="8701088" y="3169920"/>
              <a:ext cx="1140333"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例外事项清单</a:t>
              </a:r>
              <a:r>
                <a:rPr lang="zh-CN" sz="750" dirty="0">
                  <a:solidFill>
                    <a:srgbClr val="FFFFFF"/>
                  </a:solidFill>
                  <a:latin typeface="+mn-lt"/>
                  <a:ea typeface="+mn-ea"/>
                  <a:cs typeface="+mn-cs"/>
                </a:rPr>
                <a:t>（示例）</a:t>
              </a:r>
            </a:p>
          </p:txBody>
        </p:sp>
        <p:sp>
          <p:nvSpPr>
            <p:cNvPr id="319" name="Rectangle 319"/>
            <p:cNvSpPr/>
            <p:nvPr/>
          </p:nvSpPr>
          <p:spPr>
            <a:xfrm>
              <a:off x="8572500" y="3333750"/>
              <a:ext cx="3429000" cy="171450"/>
            </a:xfrm>
            <a:prstGeom prst="rect">
              <a:avLst/>
            </a:prstGeom>
            <a:solidFill>
              <a:srgbClr val="D6E6F3"/>
            </a:solidFill>
            <a:ln>
              <a:noFill/>
            </a:ln>
          </p:spPr>
        </p:sp>
        <p:grpSp>
          <p:nvGrpSpPr>
            <p:cNvPr id="325" name="te-head"/>
            <p:cNvGrpSpPr/>
            <p:nvPr/>
          </p:nvGrpSpPr>
          <p:grpSpPr>
            <a:xfrm>
              <a:off x="8643938" y="3384709"/>
              <a:ext cx="3126308" cy="133350"/>
              <a:chOff x="8643938" y="3384709"/>
              <a:chExt cx="3126308" cy="133350"/>
            </a:xfrm>
          </p:grpSpPr>
          <p:sp>
            <p:nvSpPr>
              <p:cNvPr id="320" name="TextBox 320"/>
              <p:cNvSpPr txBox="1"/>
              <p:nvPr/>
            </p:nvSpPr>
            <p:spPr>
              <a:xfrm>
                <a:off x="8643938" y="3384709"/>
                <a:ext cx="192608"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序号</a:t>
                </a:r>
              </a:p>
            </p:txBody>
          </p:sp>
          <p:sp>
            <p:nvSpPr>
              <p:cNvPr id="321" name="TextBox 321"/>
              <p:cNvSpPr txBox="1"/>
              <p:nvPr/>
            </p:nvSpPr>
            <p:spPr>
              <a:xfrm>
                <a:off x="8910638" y="338470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例外事项</a:t>
                </a:r>
              </a:p>
            </p:txBody>
          </p:sp>
          <p:sp>
            <p:nvSpPr>
              <p:cNvPr id="322" name="TextBox 322"/>
              <p:cNvSpPr txBox="1"/>
              <p:nvPr/>
            </p:nvSpPr>
            <p:spPr>
              <a:xfrm>
                <a:off x="9805988" y="338470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触发原因</a:t>
                </a:r>
              </a:p>
            </p:txBody>
          </p:sp>
          <p:sp>
            <p:nvSpPr>
              <p:cNvPr id="323" name="TextBox 323"/>
              <p:cNvSpPr txBox="1"/>
              <p:nvPr/>
            </p:nvSpPr>
            <p:spPr>
              <a:xfrm>
                <a:off x="10587038" y="338470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处理建议</a:t>
                </a:r>
              </a:p>
            </p:txBody>
          </p:sp>
          <p:sp>
            <p:nvSpPr>
              <p:cNvPr id="324" name="TextBox 324"/>
              <p:cNvSpPr txBox="1"/>
              <p:nvPr/>
            </p:nvSpPr>
            <p:spPr>
              <a:xfrm>
                <a:off x="11577638" y="3384709"/>
                <a:ext cx="192608"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状态</a:t>
                </a:r>
              </a:p>
            </p:txBody>
          </p:sp>
        </p:grpSp>
        <p:grpSp>
          <p:nvGrpSpPr>
            <p:cNvPr id="362" name="te-rows"/>
            <p:cNvGrpSpPr/>
            <p:nvPr/>
          </p:nvGrpSpPr>
          <p:grpSpPr>
            <a:xfrm>
              <a:off x="8572500" y="3505200"/>
              <a:ext cx="3429000" cy="1485900"/>
              <a:chOff x="8572500" y="3505200"/>
              <a:chExt cx="3429000" cy="1485900"/>
            </a:xfrm>
          </p:grpSpPr>
          <p:sp>
            <p:nvSpPr>
              <p:cNvPr id="326" name="Rectangle 326"/>
              <p:cNvSpPr/>
              <p:nvPr/>
            </p:nvSpPr>
            <p:spPr>
              <a:xfrm>
                <a:off x="8572500" y="3505200"/>
                <a:ext cx="3429000" cy="247650"/>
              </a:xfrm>
              <a:prstGeom prst="rect">
                <a:avLst/>
              </a:prstGeom>
              <a:solidFill>
                <a:srgbClr val="FFFFFF"/>
              </a:solidFill>
              <a:ln>
                <a:noFill/>
              </a:ln>
            </p:spPr>
          </p:sp>
          <p:sp>
            <p:nvSpPr>
              <p:cNvPr id="327" name="TextBox 327"/>
              <p:cNvSpPr txBox="1"/>
              <p:nvPr/>
            </p:nvSpPr>
            <p:spPr>
              <a:xfrm>
                <a:off x="8694680" y="3594259"/>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a:t>
                </a:r>
              </a:p>
            </p:txBody>
          </p:sp>
          <p:sp>
            <p:nvSpPr>
              <p:cNvPr id="328" name="TextBox 328"/>
              <p:cNvSpPr txBox="1"/>
              <p:nvPr/>
            </p:nvSpPr>
            <p:spPr>
              <a:xfrm>
                <a:off x="8910638" y="3594259"/>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行业限制例外</a:t>
                </a:r>
              </a:p>
            </p:txBody>
          </p:sp>
          <p:sp>
            <p:nvSpPr>
              <p:cNvPr id="329" name="TextBox 329"/>
              <p:cNvSpPr txBox="1"/>
              <p:nvPr/>
            </p:nvSpPr>
            <p:spPr>
              <a:xfrm>
                <a:off x="9805988" y="3594259"/>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属于限制行业</a:t>
                </a:r>
              </a:p>
            </p:txBody>
          </p:sp>
          <p:sp>
            <p:nvSpPr>
              <p:cNvPr id="330" name="TextBox 330"/>
              <p:cNvSpPr txBox="1"/>
              <p:nvPr/>
            </p:nvSpPr>
            <p:spPr>
              <a:xfrm>
                <a:off x="10587038" y="3594259"/>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提请上级审批</a:t>
                </a:r>
              </a:p>
            </p:txBody>
          </p:sp>
          <p:sp>
            <p:nvSpPr>
              <p:cNvPr id="331" name="TextBox 331"/>
              <p:cNvSpPr txBox="1"/>
              <p:nvPr/>
            </p:nvSpPr>
            <p:spPr>
              <a:xfrm>
                <a:off x="11577638" y="3594259"/>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待确认</a:t>
                </a:r>
              </a:p>
            </p:txBody>
          </p:sp>
          <p:sp>
            <p:nvSpPr>
              <p:cNvPr id="332" name="Rectangle 332"/>
              <p:cNvSpPr/>
              <p:nvPr/>
            </p:nvSpPr>
            <p:spPr>
              <a:xfrm>
                <a:off x="8572500" y="3752850"/>
                <a:ext cx="3429000" cy="247650"/>
              </a:xfrm>
              <a:prstGeom prst="rect">
                <a:avLst/>
              </a:prstGeom>
              <a:solidFill>
                <a:srgbClr val="F6F9FD"/>
              </a:solidFill>
              <a:ln>
                <a:noFill/>
              </a:ln>
            </p:spPr>
          </p:sp>
          <p:sp>
            <p:nvSpPr>
              <p:cNvPr id="333" name="TextBox 333"/>
              <p:cNvSpPr txBox="1"/>
              <p:nvPr/>
            </p:nvSpPr>
            <p:spPr>
              <a:xfrm>
                <a:off x="8694680" y="3841909"/>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2</a:t>
                </a:r>
              </a:p>
            </p:txBody>
          </p:sp>
          <p:sp>
            <p:nvSpPr>
              <p:cNvPr id="334" name="TextBox 334"/>
              <p:cNvSpPr txBox="1"/>
              <p:nvPr/>
            </p:nvSpPr>
            <p:spPr>
              <a:xfrm>
                <a:off x="8910638" y="3841909"/>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额度超标</a:t>
                </a:r>
              </a:p>
            </p:txBody>
          </p:sp>
          <p:sp>
            <p:nvSpPr>
              <p:cNvPr id="335" name="TextBox 335"/>
              <p:cNvSpPr txBox="1"/>
              <p:nvPr/>
            </p:nvSpPr>
            <p:spPr>
              <a:xfrm>
                <a:off x="9805988" y="3841909"/>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超出客户限额</a:t>
                </a:r>
              </a:p>
            </p:txBody>
          </p:sp>
          <p:sp>
            <p:nvSpPr>
              <p:cNvPr id="336" name="TextBox 336"/>
              <p:cNvSpPr txBox="1"/>
              <p:nvPr/>
            </p:nvSpPr>
            <p:spPr>
              <a:xfrm>
                <a:off x="10587038" y="3841909"/>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上会审议</a:t>
                </a:r>
              </a:p>
            </p:txBody>
          </p:sp>
          <p:sp>
            <p:nvSpPr>
              <p:cNvPr id="337" name="TextBox 337"/>
              <p:cNvSpPr txBox="1"/>
              <p:nvPr/>
            </p:nvSpPr>
            <p:spPr>
              <a:xfrm>
                <a:off x="11577638" y="3841909"/>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待确认</a:t>
                </a:r>
              </a:p>
            </p:txBody>
          </p:sp>
          <p:sp>
            <p:nvSpPr>
              <p:cNvPr id="338" name="Rectangle 338"/>
              <p:cNvSpPr/>
              <p:nvPr/>
            </p:nvSpPr>
            <p:spPr>
              <a:xfrm>
                <a:off x="8572500" y="4000500"/>
                <a:ext cx="3429000" cy="247650"/>
              </a:xfrm>
              <a:prstGeom prst="rect">
                <a:avLst/>
              </a:prstGeom>
              <a:solidFill>
                <a:srgbClr val="FFFFFF"/>
              </a:solidFill>
              <a:ln>
                <a:noFill/>
              </a:ln>
            </p:spPr>
          </p:sp>
          <p:sp>
            <p:nvSpPr>
              <p:cNvPr id="339" name="TextBox 339"/>
              <p:cNvSpPr txBox="1"/>
              <p:nvPr/>
            </p:nvSpPr>
            <p:spPr>
              <a:xfrm>
                <a:off x="8694680" y="4089559"/>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3</a:t>
                </a:r>
              </a:p>
            </p:txBody>
          </p:sp>
          <p:sp>
            <p:nvSpPr>
              <p:cNvPr id="340" name="TextBox 340"/>
              <p:cNvSpPr txBox="1"/>
              <p:nvPr/>
            </p:nvSpPr>
            <p:spPr>
              <a:xfrm>
                <a:off x="8910638" y="4089559"/>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评级下调</a:t>
                </a:r>
              </a:p>
            </p:txBody>
          </p:sp>
          <p:sp>
            <p:nvSpPr>
              <p:cNvPr id="341" name="TextBox 341"/>
              <p:cNvSpPr txBox="1"/>
              <p:nvPr/>
            </p:nvSpPr>
            <p:spPr>
              <a:xfrm>
                <a:off x="9805988" y="4089559"/>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近期评级下调</a:t>
                </a:r>
              </a:p>
            </p:txBody>
          </p:sp>
          <p:sp>
            <p:nvSpPr>
              <p:cNvPr id="342" name="TextBox 342"/>
              <p:cNvSpPr txBox="1"/>
              <p:nvPr/>
            </p:nvSpPr>
            <p:spPr>
              <a:xfrm>
                <a:off x="10587038" y="4089559"/>
                <a:ext cx="79220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加强担保/压降额度</a:t>
                </a:r>
              </a:p>
            </p:txBody>
          </p:sp>
          <p:sp>
            <p:nvSpPr>
              <p:cNvPr id="343" name="TextBox 343"/>
              <p:cNvSpPr txBox="1"/>
              <p:nvPr/>
            </p:nvSpPr>
            <p:spPr>
              <a:xfrm>
                <a:off x="11577638" y="4089559"/>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待确认</a:t>
                </a:r>
              </a:p>
            </p:txBody>
          </p:sp>
          <p:sp>
            <p:nvSpPr>
              <p:cNvPr id="344" name="Rectangle 344"/>
              <p:cNvSpPr/>
              <p:nvPr/>
            </p:nvSpPr>
            <p:spPr>
              <a:xfrm>
                <a:off x="8572500" y="4248150"/>
                <a:ext cx="3429000" cy="247650"/>
              </a:xfrm>
              <a:prstGeom prst="rect">
                <a:avLst/>
              </a:prstGeom>
              <a:solidFill>
                <a:srgbClr val="F6F9FD"/>
              </a:solidFill>
              <a:ln>
                <a:noFill/>
              </a:ln>
            </p:spPr>
          </p:sp>
          <p:sp>
            <p:nvSpPr>
              <p:cNvPr id="345" name="TextBox 345"/>
              <p:cNvSpPr txBox="1"/>
              <p:nvPr/>
            </p:nvSpPr>
            <p:spPr>
              <a:xfrm>
                <a:off x="8694680" y="4337209"/>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4</a:t>
                </a:r>
              </a:p>
            </p:txBody>
          </p:sp>
          <p:sp>
            <p:nvSpPr>
              <p:cNvPr id="346" name="TextBox 346"/>
              <p:cNvSpPr txBox="1"/>
              <p:nvPr/>
            </p:nvSpPr>
            <p:spPr>
              <a:xfrm>
                <a:off x="8910638" y="4337209"/>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抵押物估值偏低</a:t>
                </a:r>
              </a:p>
            </p:txBody>
          </p:sp>
          <p:sp>
            <p:nvSpPr>
              <p:cNvPr id="347" name="TextBox 347"/>
              <p:cNvSpPr txBox="1"/>
              <p:nvPr/>
            </p:nvSpPr>
            <p:spPr>
              <a:xfrm>
                <a:off x="9805988" y="4337209"/>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估值低于要求</a:t>
                </a:r>
              </a:p>
            </p:txBody>
          </p:sp>
          <p:sp>
            <p:nvSpPr>
              <p:cNvPr id="348" name="TextBox 348"/>
              <p:cNvSpPr txBox="1"/>
              <p:nvPr/>
            </p:nvSpPr>
            <p:spPr>
              <a:xfrm>
                <a:off x="10587038" y="4337209"/>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补充担保或调整方案</a:t>
                </a:r>
              </a:p>
            </p:txBody>
          </p:sp>
          <p:sp>
            <p:nvSpPr>
              <p:cNvPr id="349" name="TextBox 349"/>
              <p:cNvSpPr txBox="1"/>
              <p:nvPr/>
            </p:nvSpPr>
            <p:spPr>
              <a:xfrm>
                <a:off x="11577638" y="4337209"/>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待确认</a:t>
                </a:r>
              </a:p>
            </p:txBody>
          </p:sp>
          <p:sp>
            <p:nvSpPr>
              <p:cNvPr id="350" name="Rectangle 350"/>
              <p:cNvSpPr/>
              <p:nvPr/>
            </p:nvSpPr>
            <p:spPr>
              <a:xfrm>
                <a:off x="8572500" y="4495800"/>
                <a:ext cx="3429000" cy="247650"/>
              </a:xfrm>
              <a:prstGeom prst="rect">
                <a:avLst/>
              </a:prstGeom>
              <a:solidFill>
                <a:srgbClr val="FFFFFF"/>
              </a:solidFill>
              <a:ln>
                <a:noFill/>
              </a:ln>
            </p:spPr>
          </p:sp>
          <p:sp>
            <p:nvSpPr>
              <p:cNvPr id="351" name="TextBox 351"/>
              <p:cNvSpPr txBox="1"/>
              <p:nvPr/>
            </p:nvSpPr>
            <p:spPr>
              <a:xfrm>
                <a:off x="8694680" y="4584859"/>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5</a:t>
                </a:r>
              </a:p>
            </p:txBody>
          </p:sp>
          <p:sp>
            <p:nvSpPr>
              <p:cNvPr id="352" name="TextBox 352"/>
              <p:cNvSpPr txBox="1"/>
              <p:nvPr/>
            </p:nvSpPr>
            <p:spPr>
              <a:xfrm>
                <a:off x="8910638" y="4584859"/>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关联交易</a:t>
                </a:r>
              </a:p>
            </p:txBody>
          </p:sp>
          <p:sp>
            <p:nvSpPr>
              <p:cNvPr id="353" name="TextBox 353"/>
              <p:cNvSpPr txBox="1"/>
              <p:nvPr/>
            </p:nvSpPr>
            <p:spPr>
              <a:xfrm>
                <a:off x="9805988" y="4584859"/>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存在关联关系</a:t>
                </a:r>
              </a:p>
            </p:txBody>
          </p:sp>
          <p:sp>
            <p:nvSpPr>
              <p:cNvPr id="354" name="TextBox 354"/>
              <p:cNvSpPr txBox="1"/>
              <p:nvPr/>
            </p:nvSpPr>
            <p:spPr>
              <a:xfrm>
                <a:off x="10587038" y="4584859"/>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强化审查、上级审批</a:t>
                </a:r>
              </a:p>
            </p:txBody>
          </p:sp>
          <p:sp>
            <p:nvSpPr>
              <p:cNvPr id="355" name="TextBox 355"/>
              <p:cNvSpPr txBox="1"/>
              <p:nvPr/>
            </p:nvSpPr>
            <p:spPr>
              <a:xfrm>
                <a:off x="11577638" y="4584859"/>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待确认</a:t>
                </a:r>
              </a:p>
            </p:txBody>
          </p:sp>
          <p:sp>
            <p:nvSpPr>
              <p:cNvPr id="356" name="Rectangle 356"/>
              <p:cNvSpPr/>
              <p:nvPr/>
            </p:nvSpPr>
            <p:spPr>
              <a:xfrm>
                <a:off x="8572500" y="4743450"/>
                <a:ext cx="3429000" cy="247650"/>
              </a:xfrm>
              <a:prstGeom prst="rect">
                <a:avLst/>
              </a:prstGeom>
              <a:solidFill>
                <a:srgbClr val="F6F9FD"/>
              </a:solidFill>
              <a:ln>
                <a:noFill/>
              </a:ln>
            </p:spPr>
          </p:sp>
          <p:sp>
            <p:nvSpPr>
              <p:cNvPr id="357" name="TextBox 357"/>
              <p:cNvSpPr txBox="1"/>
              <p:nvPr/>
            </p:nvSpPr>
            <p:spPr>
              <a:xfrm>
                <a:off x="8694964" y="4832509"/>
                <a:ext cx="59873"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a:t>
                </a:r>
              </a:p>
            </p:txBody>
          </p:sp>
          <p:sp>
            <p:nvSpPr>
              <p:cNvPr id="358" name="TextBox 358"/>
              <p:cNvSpPr txBox="1"/>
              <p:nvPr/>
            </p:nvSpPr>
            <p:spPr>
              <a:xfrm>
                <a:off x="8910638" y="4832509"/>
                <a:ext cx="5987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a:t>
                </a:r>
              </a:p>
            </p:txBody>
          </p:sp>
          <p:sp>
            <p:nvSpPr>
              <p:cNvPr id="359" name="TextBox 359"/>
              <p:cNvSpPr txBox="1"/>
              <p:nvPr/>
            </p:nvSpPr>
            <p:spPr>
              <a:xfrm>
                <a:off x="9805988" y="4832509"/>
                <a:ext cx="5987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a:t>
                </a:r>
              </a:p>
            </p:txBody>
          </p:sp>
          <p:sp>
            <p:nvSpPr>
              <p:cNvPr id="360" name="TextBox 360"/>
              <p:cNvSpPr txBox="1"/>
              <p:nvPr/>
            </p:nvSpPr>
            <p:spPr>
              <a:xfrm>
                <a:off x="10587038" y="4832509"/>
                <a:ext cx="5987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a:t>
                </a:r>
              </a:p>
            </p:txBody>
          </p:sp>
          <p:sp>
            <p:nvSpPr>
              <p:cNvPr id="361" name="TextBox 361"/>
              <p:cNvSpPr txBox="1"/>
              <p:nvPr/>
            </p:nvSpPr>
            <p:spPr>
              <a:xfrm>
                <a:off x="11577638" y="4832509"/>
                <a:ext cx="5987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a:t>
                </a:r>
              </a:p>
            </p:txBody>
          </p:sp>
        </p:grpSp>
      </p:grpSp>
      <p:grpSp>
        <p:nvGrpSpPr>
          <p:cNvPr id="428" name="bottom-cards"/>
          <p:cNvGrpSpPr/>
          <p:nvPr/>
        </p:nvGrpSpPr>
        <p:grpSpPr>
          <a:xfrm>
            <a:off x="190500" y="5295900"/>
            <a:ext cx="11811000" cy="1276350"/>
            <a:chOff x="190500" y="5295900"/>
            <a:chExt cx="11811000" cy="1276350"/>
          </a:xfrm>
        </p:grpSpPr>
        <p:grpSp>
          <p:nvGrpSpPr>
            <p:cNvPr id="374" name="bc-1"/>
            <p:cNvGrpSpPr/>
            <p:nvPr/>
          </p:nvGrpSpPr>
          <p:grpSpPr>
            <a:xfrm>
              <a:off x="190500" y="5295900"/>
              <a:ext cx="2286000" cy="1276350"/>
              <a:chOff x="190500" y="5295900"/>
              <a:chExt cx="2286000" cy="1276350"/>
            </a:xfrm>
          </p:grpSpPr>
          <p:sp>
            <p:nvSpPr>
              <p:cNvPr id="364" name="Rectangle 364"/>
              <p:cNvSpPr/>
              <p:nvPr/>
            </p:nvSpPr>
            <p:spPr>
              <a:xfrm>
                <a:off x="190500" y="5295900"/>
                <a:ext cx="2286000" cy="1276350"/>
              </a:xfrm>
              <a:prstGeom prst="roundRect">
                <a:avLst>
                  <a:gd name="adj" fmla="val 4478"/>
                </a:avLst>
              </a:prstGeom>
              <a:solidFill>
                <a:srgbClr val="F6F9FD"/>
              </a:solidFill>
              <a:ln w="9525">
                <a:solidFill>
                  <a:srgbClr val="CFDFEE"/>
                </a:solidFill>
              </a:ln>
            </p:spPr>
          </p:sp>
          <p:sp>
            <p:nvSpPr>
              <p:cNvPr id="365" name="Ellipse 365"/>
              <p:cNvSpPr/>
              <p:nvPr/>
            </p:nvSpPr>
            <p:spPr>
              <a:xfrm>
                <a:off x="295275" y="5419725"/>
                <a:ext cx="285750" cy="285750"/>
              </a:xfrm>
              <a:prstGeom prst="ellipse">
                <a:avLst/>
              </a:prstGeom>
              <a:solidFill>
                <a:srgbClr val="92301C"/>
              </a:solidFill>
              <a:ln>
                <a:noFill/>
              </a:ln>
            </p:spPr>
          </p:sp>
          <p:grpSp>
            <p:nvGrpSpPr>
              <p:cNvPr id="369" name="Group 369"/>
              <p:cNvGrpSpPr/>
              <p:nvPr/>
            </p:nvGrpSpPr>
            <p:grpSpPr>
              <a:xfrm>
                <a:off x="373856" y="5498306"/>
                <a:ext cx="128588" cy="128587"/>
                <a:chOff x="373856" y="5498306"/>
                <a:chExt cx="128588" cy="128587"/>
              </a:xfrm>
            </p:grpSpPr>
            <p:sp>
              <p:nvSpPr>
                <p:cNvPr id="366" name="Freeform 366"/>
                <p:cNvSpPr/>
                <p:nvPr/>
              </p:nvSpPr>
              <p:spPr>
                <a:xfrm>
                  <a:off x="373856" y="5498306"/>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FFFFFF"/>
                  </a:solidFill>
                </a:ln>
              </p:spPr>
            </p:sp>
            <p:sp>
              <p:nvSpPr>
                <p:cNvPr id="367" name="Freeform 367"/>
                <p:cNvSpPr/>
                <p:nvPr/>
              </p:nvSpPr>
              <p:spPr>
                <a:xfrm>
                  <a:off x="399402" y="5526881"/>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FFFFFF"/>
                  </a:solidFill>
                </a:ln>
              </p:spPr>
            </p:sp>
            <p:sp>
              <p:nvSpPr>
                <p:cNvPr id="368" name="Freeform 368"/>
                <p:cNvSpPr/>
                <p:nvPr/>
              </p:nvSpPr>
              <p:spPr>
                <a:xfrm>
                  <a:off x="421719" y="5598319"/>
                  <a:ext cx="32861" cy="9525"/>
                </a:xfrm>
                <a:custGeom>
                  <a:avLst/>
                  <a:gdLst/>
                  <a:ahLst/>
                  <a:cxnLst/>
                  <a:rect l="l" t="t" r="r" b="b"/>
                  <a:pathLst>
                    <a:path w="32861" h="9525">
                      <a:moveTo>
                        <a:pt x="0" y="0"/>
                      </a:moveTo>
                      <a:lnTo>
                        <a:pt x="32861" y="0"/>
                      </a:lnTo>
                    </a:path>
                  </a:pathLst>
                </a:custGeom>
                <a:noFill/>
                <a:ln w="14288">
                  <a:solidFill>
                    <a:srgbClr val="FFFFFF"/>
                  </a:solidFill>
                </a:ln>
              </p:spPr>
            </p:sp>
          </p:grpSp>
          <p:sp>
            <p:nvSpPr>
              <p:cNvPr id="370" name="TextBox 370"/>
              <p:cNvSpPr txBox="1"/>
              <p:nvPr/>
            </p:nvSpPr>
            <p:spPr>
              <a:xfrm>
                <a:off x="661988" y="550902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模型解释</a:t>
                </a:r>
              </a:p>
            </p:txBody>
          </p:sp>
          <p:sp>
            <p:nvSpPr>
              <p:cNvPr id="371" name="TextBox 371"/>
              <p:cNvSpPr txBox="1"/>
              <p:nvPr/>
            </p:nvSpPr>
            <p:spPr>
              <a:xfrm>
                <a:off x="300038" y="5813584"/>
                <a:ext cx="1367307"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提供关键变量贡献度与影响方向</a:t>
                </a:r>
              </a:p>
            </p:txBody>
          </p:sp>
          <p:sp>
            <p:nvSpPr>
              <p:cNvPr id="372" name="TextBox 372"/>
              <p:cNvSpPr txBox="1"/>
              <p:nvPr/>
            </p:nvSpPr>
            <p:spPr>
              <a:xfrm>
                <a:off x="300038" y="6004084"/>
                <a:ext cx="141765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展示评分卡/模型逻辑与适用范围</a:t>
                </a:r>
              </a:p>
            </p:txBody>
          </p:sp>
          <p:sp>
            <p:nvSpPr>
              <p:cNvPr id="373" name="TextBox 373"/>
              <p:cNvSpPr txBox="1"/>
              <p:nvPr/>
            </p:nvSpPr>
            <p:spPr>
              <a:xfrm>
                <a:off x="300038" y="6194584"/>
                <a:ext cx="1367307"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支持单笔授信结果的可解释说明</a:t>
                </a:r>
              </a:p>
            </p:txBody>
          </p:sp>
        </p:grpSp>
        <p:grpSp>
          <p:nvGrpSpPr>
            <p:cNvPr id="384" name="bc-2"/>
            <p:cNvGrpSpPr/>
            <p:nvPr/>
          </p:nvGrpSpPr>
          <p:grpSpPr>
            <a:xfrm>
              <a:off x="2571750" y="5295900"/>
              <a:ext cx="2286000" cy="1276350"/>
              <a:chOff x="2571750" y="5295900"/>
              <a:chExt cx="2286000" cy="1276350"/>
            </a:xfrm>
          </p:grpSpPr>
          <p:sp>
            <p:nvSpPr>
              <p:cNvPr id="375" name="Rectangle 375"/>
              <p:cNvSpPr/>
              <p:nvPr/>
            </p:nvSpPr>
            <p:spPr>
              <a:xfrm>
                <a:off x="2571750" y="5295900"/>
                <a:ext cx="2286000" cy="1276350"/>
              </a:xfrm>
              <a:prstGeom prst="roundRect">
                <a:avLst>
                  <a:gd name="adj" fmla="val 4478"/>
                </a:avLst>
              </a:prstGeom>
              <a:solidFill>
                <a:srgbClr val="F6F9FD"/>
              </a:solidFill>
              <a:ln w="9525">
                <a:solidFill>
                  <a:srgbClr val="CFDFEE"/>
                </a:solidFill>
              </a:ln>
            </p:spPr>
          </p:sp>
          <p:sp>
            <p:nvSpPr>
              <p:cNvPr id="376" name="Ellipse 376"/>
              <p:cNvSpPr/>
              <p:nvPr/>
            </p:nvSpPr>
            <p:spPr>
              <a:xfrm>
                <a:off x="2676525" y="5419725"/>
                <a:ext cx="285750" cy="285750"/>
              </a:xfrm>
              <a:prstGeom prst="ellipse">
                <a:avLst/>
              </a:prstGeom>
              <a:solidFill>
                <a:srgbClr val="92301C"/>
              </a:solidFill>
              <a:ln>
                <a:noFill/>
              </a:ln>
            </p:spPr>
          </p:sp>
          <p:grpSp>
            <p:nvGrpSpPr>
              <p:cNvPr id="379" name="Group 379"/>
              <p:cNvGrpSpPr/>
              <p:nvPr/>
            </p:nvGrpSpPr>
            <p:grpSpPr>
              <a:xfrm>
                <a:off x="2755106" y="5498306"/>
                <a:ext cx="128587" cy="128587"/>
                <a:chOff x="2755106" y="5498306"/>
                <a:chExt cx="128587" cy="128587"/>
              </a:xfrm>
            </p:grpSpPr>
            <p:sp>
              <p:nvSpPr>
                <p:cNvPr id="377" name="Freeform 377"/>
                <p:cNvSpPr/>
                <p:nvPr/>
              </p:nvSpPr>
              <p:spPr>
                <a:xfrm>
                  <a:off x="2755106" y="5498306"/>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FFFFFF"/>
                  </a:solidFill>
                </a:ln>
              </p:spPr>
            </p:sp>
            <p:sp>
              <p:nvSpPr>
                <p:cNvPr id="378" name="Freeform 378"/>
                <p:cNvSpPr/>
                <p:nvPr/>
              </p:nvSpPr>
              <p:spPr>
                <a:xfrm>
                  <a:off x="2840831" y="5584031"/>
                  <a:ext cx="42862" cy="42862"/>
                </a:xfrm>
                <a:custGeom>
                  <a:avLst/>
                  <a:gdLst/>
                  <a:ahLst/>
                  <a:cxnLst/>
                  <a:rect l="l" t="t" r="r" b="b"/>
                  <a:pathLst>
                    <a:path w="42862" h="42862">
                      <a:moveTo>
                        <a:pt x="42862" y="42862"/>
                      </a:moveTo>
                      <a:lnTo>
                        <a:pt x="0" y="0"/>
                      </a:lnTo>
                    </a:path>
                  </a:pathLst>
                </a:custGeom>
                <a:noFill/>
                <a:ln w="14288">
                  <a:solidFill>
                    <a:srgbClr val="FFFFFF"/>
                  </a:solidFill>
                </a:ln>
              </p:spPr>
            </p:sp>
          </p:grpSp>
          <p:sp>
            <p:nvSpPr>
              <p:cNvPr id="380" name="TextBox 380"/>
              <p:cNvSpPr txBox="1"/>
              <p:nvPr/>
            </p:nvSpPr>
            <p:spPr>
              <a:xfrm>
                <a:off x="3043238" y="5509022"/>
                <a:ext cx="642239"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反歧视检查</a:t>
                </a:r>
              </a:p>
            </p:txBody>
          </p:sp>
          <p:sp>
            <p:nvSpPr>
              <p:cNvPr id="381" name="TextBox 381"/>
              <p:cNvSpPr txBox="1"/>
              <p:nvPr/>
            </p:nvSpPr>
            <p:spPr>
              <a:xfrm>
                <a:off x="2681288" y="5813584"/>
                <a:ext cx="1733474"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识别并排除敏感属性（如性别、民族等）</a:t>
                </a:r>
              </a:p>
            </p:txBody>
          </p:sp>
          <p:sp>
            <p:nvSpPr>
              <p:cNvPr id="382" name="TextBox 382"/>
              <p:cNvSpPr txBox="1"/>
              <p:nvPr/>
            </p:nvSpPr>
            <p:spPr>
              <a:xfrm>
                <a:off x="2681288" y="6004084"/>
                <a:ext cx="1367307"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检测模型与规则的潜在歧视风险</a:t>
                </a:r>
              </a:p>
            </p:txBody>
          </p:sp>
          <p:sp>
            <p:nvSpPr>
              <p:cNvPr id="383" name="TextBox 383"/>
              <p:cNvSpPr txBox="1"/>
              <p:nvPr/>
            </p:nvSpPr>
            <p:spPr>
              <a:xfrm>
                <a:off x="2681288" y="6194584"/>
                <a:ext cx="1367307"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定期开展公平性评估并留存报告</a:t>
                </a:r>
              </a:p>
            </p:txBody>
          </p:sp>
        </p:grpSp>
        <p:grpSp>
          <p:nvGrpSpPr>
            <p:cNvPr id="398" name="bc-3"/>
            <p:cNvGrpSpPr/>
            <p:nvPr/>
          </p:nvGrpSpPr>
          <p:grpSpPr>
            <a:xfrm>
              <a:off x="4953000" y="5295900"/>
              <a:ext cx="2286000" cy="1276350"/>
              <a:chOff x="4953000" y="5295900"/>
              <a:chExt cx="2286000" cy="1276350"/>
            </a:xfrm>
          </p:grpSpPr>
          <p:sp>
            <p:nvSpPr>
              <p:cNvPr id="385" name="Rectangle 385"/>
              <p:cNvSpPr/>
              <p:nvPr/>
            </p:nvSpPr>
            <p:spPr>
              <a:xfrm>
                <a:off x="4953000" y="5295900"/>
                <a:ext cx="2286000" cy="1276350"/>
              </a:xfrm>
              <a:prstGeom prst="roundRect">
                <a:avLst>
                  <a:gd name="adj" fmla="val 4478"/>
                </a:avLst>
              </a:prstGeom>
              <a:solidFill>
                <a:srgbClr val="F6F9FD"/>
              </a:solidFill>
              <a:ln w="9525">
                <a:solidFill>
                  <a:srgbClr val="CFDFEE"/>
                </a:solidFill>
              </a:ln>
            </p:spPr>
          </p:sp>
          <p:sp>
            <p:nvSpPr>
              <p:cNvPr id="386" name="Ellipse 386"/>
              <p:cNvSpPr/>
              <p:nvPr/>
            </p:nvSpPr>
            <p:spPr>
              <a:xfrm>
                <a:off x="5057775" y="5419725"/>
                <a:ext cx="285750" cy="285750"/>
              </a:xfrm>
              <a:prstGeom prst="ellipse">
                <a:avLst/>
              </a:prstGeom>
              <a:solidFill>
                <a:srgbClr val="92301C"/>
              </a:solidFill>
              <a:ln>
                <a:noFill/>
              </a:ln>
            </p:spPr>
          </p:sp>
          <p:grpSp>
            <p:nvGrpSpPr>
              <p:cNvPr id="393" name="Group 393"/>
              <p:cNvGrpSpPr/>
              <p:nvPr/>
            </p:nvGrpSpPr>
            <p:grpSpPr>
              <a:xfrm>
                <a:off x="5136356" y="5498306"/>
                <a:ext cx="128588" cy="128587"/>
                <a:chOff x="5136356" y="5498306"/>
                <a:chExt cx="128588" cy="128587"/>
              </a:xfrm>
            </p:grpSpPr>
            <p:sp>
              <p:nvSpPr>
                <p:cNvPr id="387" name="Freeform 387"/>
                <p:cNvSpPr/>
                <p:nvPr/>
              </p:nvSpPr>
              <p:spPr>
                <a:xfrm>
                  <a:off x="5186362" y="55554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388" name="Freeform 388"/>
                <p:cNvSpPr/>
                <p:nvPr/>
              </p:nvSpPr>
              <p:spPr>
                <a:xfrm>
                  <a:off x="5172075" y="560546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FFFFFF"/>
                  </a:solidFill>
                </a:ln>
              </p:spPr>
            </p:sp>
            <p:sp>
              <p:nvSpPr>
                <p:cNvPr id="389" name="Freeform 389"/>
                <p:cNvSpPr/>
                <p:nvPr/>
              </p:nvSpPr>
              <p:spPr>
                <a:xfrm>
                  <a:off x="5222081" y="54983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390" name="Freeform 390"/>
                <p:cNvSpPr/>
                <p:nvPr/>
              </p:nvSpPr>
              <p:spPr>
                <a:xfrm>
                  <a:off x="5236369" y="554831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FFFFFF"/>
                  </a:solidFill>
                </a:ln>
              </p:spPr>
            </p:sp>
            <p:sp>
              <p:nvSpPr>
                <p:cNvPr id="391" name="Freeform 391"/>
                <p:cNvSpPr/>
                <p:nvPr/>
              </p:nvSpPr>
              <p:spPr>
                <a:xfrm>
                  <a:off x="5150644" y="54983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392" name="Freeform 392"/>
                <p:cNvSpPr/>
                <p:nvPr/>
              </p:nvSpPr>
              <p:spPr>
                <a:xfrm>
                  <a:off x="5136356" y="554831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FFFFFF"/>
                  </a:solidFill>
                </a:ln>
              </p:spPr>
            </p:sp>
          </p:grpSp>
          <p:sp>
            <p:nvSpPr>
              <p:cNvPr id="394" name="TextBox 394"/>
              <p:cNvSpPr txBox="1"/>
              <p:nvPr/>
            </p:nvSpPr>
            <p:spPr>
              <a:xfrm>
                <a:off x="5424488" y="550902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双人复核</a:t>
                </a:r>
              </a:p>
            </p:txBody>
          </p:sp>
          <p:sp>
            <p:nvSpPr>
              <p:cNvPr id="395" name="TextBox 395"/>
              <p:cNvSpPr txBox="1"/>
              <p:nvPr/>
            </p:nvSpPr>
            <p:spPr>
              <a:xfrm>
                <a:off x="5062538" y="5813584"/>
                <a:ext cx="1916557"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系统生成审批建议后需两名授权人员独立复核</a:t>
                </a:r>
              </a:p>
            </p:txBody>
          </p:sp>
          <p:sp>
            <p:nvSpPr>
              <p:cNvPr id="396" name="TextBox 396"/>
              <p:cNvSpPr txBox="1"/>
              <p:nvPr/>
            </p:nvSpPr>
            <p:spPr>
              <a:xfrm>
                <a:off x="5062538" y="6004084"/>
                <a:ext cx="1326114"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重大/例外事项需更高层级复核</a:t>
                </a:r>
              </a:p>
            </p:txBody>
          </p:sp>
          <p:sp>
            <p:nvSpPr>
              <p:cNvPr id="397" name="TextBox 397"/>
              <p:cNvSpPr txBox="1"/>
              <p:nvPr/>
            </p:nvSpPr>
            <p:spPr>
              <a:xfrm>
                <a:off x="5062538" y="6194584"/>
                <a:ext cx="145884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复核意见与结论均需在系统中记录</a:t>
                </a:r>
              </a:p>
            </p:txBody>
          </p:sp>
        </p:grpSp>
        <p:grpSp>
          <p:nvGrpSpPr>
            <p:cNvPr id="411" name="bc-4"/>
            <p:cNvGrpSpPr/>
            <p:nvPr/>
          </p:nvGrpSpPr>
          <p:grpSpPr>
            <a:xfrm>
              <a:off x="7334250" y="5295900"/>
              <a:ext cx="2286000" cy="1276350"/>
              <a:chOff x="7334250" y="5295900"/>
              <a:chExt cx="2286000" cy="1276350"/>
            </a:xfrm>
          </p:grpSpPr>
          <p:sp>
            <p:nvSpPr>
              <p:cNvPr id="399" name="Rectangle 399"/>
              <p:cNvSpPr/>
              <p:nvPr/>
            </p:nvSpPr>
            <p:spPr>
              <a:xfrm>
                <a:off x="7334250" y="5295900"/>
                <a:ext cx="2286000" cy="1276350"/>
              </a:xfrm>
              <a:prstGeom prst="roundRect">
                <a:avLst>
                  <a:gd name="adj" fmla="val 4478"/>
                </a:avLst>
              </a:prstGeom>
              <a:solidFill>
                <a:srgbClr val="F6F9FD"/>
              </a:solidFill>
              <a:ln w="9525">
                <a:solidFill>
                  <a:srgbClr val="CFDFEE"/>
                </a:solidFill>
              </a:ln>
            </p:spPr>
          </p:sp>
          <p:sp>
            <p:nvSpPr>
              <p:cNvPr id="400" name="Ellipse 400"/>
              <p:cNvSpPr/>
              <p:nvPr/>
            </p:nvSpPr>
            <p:spPr>
              <a:xfrm>
                <a:off x="7439025" y="5419725"/>
                <a:ext cx="285750" cy="285750"/>
              </a:xfrm>
              <a:prstGeom prst="ellipse">
                <a:avLst/>
              </a:prstGeom>
              <a:solidFill>
                <a:srgbClr val="92301C"/>
              </a:solidFill>
              <a:ln>
                <a:noFill/>
              </a:ln>
            </p:spPr>
          </p:sp>
          <p:grpSp>
            <p:nvGrpSpPr>
              <p:cNvPr id="406" name="Group 406"/>
              <p:cNvGrpSpPr/>
              <p:nvPr/>
            </p:nvGrpSpPr>
            <p:grpSpPr>
              <a:xfrm>
                <a:off x="7531894" y="5498306"/>
                <a:ext cx="100013" cy="128588"/>
                <a:chOff x="7531894" y="5498306"/>
                <a:chExt cx="100013" cy="128588"/>
              </a:xfrm>
            </p:grpSpPr>
            <p:sp>
              <p:nvSpPr>
                <p:cNvPr id="401" name="Freeform 401"/>
                <p:cNvSpPr/>
                <p:nvPr/>
              </p:nvSpPr>
              <p:spPr>
                <a:xfrm>
                  <a:off x="7596188" y="549830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402" name="Freeform 402"/>
                <p:cNvSpPr/>
                <p:nvPr/>
              </p:nvSpPr>
              <p:spPr>
                <a:xfrm>
                  <a:off x="7531894" y="549830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403" name="Freeform 403"/>
                <p:cNvSpPr/>
                <p:nvPr/>
              </p:nvSpPr>
              <p:spPr>
                <a:xfrm>
                  <a:off x="7560469" y="5541169"/>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404" name="Freeform 404"/>
                <p:cNvSpPr/>
                <p:nvPr/>
              </p:nvSpPr>
              <p:spPr>
                <a:xfrm>
                  <a:off x="7560469" y="5569744"/>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405" name="Freeform 405"/>
                <p:cNvSpPr/>
                <p:nvPr/>
              </p:nvSpPr>
              <p:spPr>
                <a:xfrm>
                  <a:off x="7560469" y="5598319"/>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407" name="TextBox 407"/>
              <p:cNvSpPr txBox="1"/>
              <p:nvPr/>
            </p:nvSpPr>
            <p:spPr>
              <a:xfrm>
                <a:off x="7805738" y="550902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审批留痕</a:t>
                </a:r>
              </a:p>
            </p:txBody>
          </p:sp>
          <p:sp>
            <p:nvSpPr>
              <p:cNvPr id="408" name="TextBox 408"/>
              <p:cNvSpPr txBox="1"/>
              <p:nvPr/>
            </p:nvSpPr>
            <p:spPr>
              <a:xfrm>
                <a:off x="7443788" y="5813584"/>
                <a:ext cx="1184224"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全流程操作记录、版本留存</a:t>
                </a:r>
              </a:p>
            </p:txBody>
          </p:sp>
          <p:sp>
            <p:nvSpPr>
              <p:cNvPr id="409" name="TextBox 409"/>
              <p:cNvSpPr txBox="1"/>
              <p:nvPr/>
            </p:nvSpPr>
            <p:spPr>
              <a:xfrm>
                <a:off x="7443788" y="6004084"/>
                <a:ext cx="127576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关键节点、意见与附件可追溯</a:t>
                </a:r>
              </a:p>
            </p:txBody>
          </p:sp>
          <p:sp>
            <p:nvSpPr>
              <p:cNvPr id="410" name="TextBox 410"/>
              <p:cNvSpPr txBox="1"/>
              <p:nvPr/>
            </p:nvSpPr>
            <p:spPr>
              <a:xfrm>
                <a:off x="7443788" y="6194584"/>
                <a:ext cx="1092683"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满足内审、监管检查要求</a:t>
                </a:r>
              </a:p>
            </p:txBody>
          </p:sp>
        </p:grpSp>
        <p:grpSp>
          <p:nvGrpSpPr>
            <p:cNvPr id="427" name="bc-kpi"/>
            <p:cNvGrpSpPr/>
            <p:nvPr/>
          </p:nvGrpSpPr>
          <p:grpSpPr>
            <a:xfrm>
              <a:off x="9715500" y="5295900"/>
              <a:ext cx="2286000" cy="1276350"/>
              <a:chOff x="9715500" y="5295900"/>
              <a:chExt cx="2286000" cy="1276350"/>
            </a:xfrm>
          </p:grpSpPr>
          <p:sp>
            <p:nvSpPr>
              <p:cNvPr id="412" name="Rectangle 412"/>
              <p:cNvSpPr/>
              <p:nvPr/>
            </p:nvSpPr>
            <p:spPr>
              <a:xfrm>
                <a:off x="9715500" y="5295900"/>
                <a:ext cx="2286000" cy="1276350"/>
              </a:xfrm>
              <a:prstGeom prst="roundRect">
                <a:avLst>
                  <a:gd name="adj" fmla="val 4478"/>
                </a:avLst>
              </a:prstGeom>
              <a:solidFill>
                <a:srgbClr val="EEF5FB"/>
              </a:solidFill>
              <a:ln>
                <a:noFill/>
              </a:ln>
            </p:spPr>
          </p:sp>
          <p:sp>
            <p:nvSpPr>
              <p:cNvPr id="413" name="Ellipse 413"/>
              <p:cNvSpPr/>
              <p:nvPr/>
            </p:nvSpPr>
            <p:spPr>
              <a:xfrm>
                <a:off x="9820275" y="5419725"/>
                <a:ext cx="285750" cy="285750"/>
              </a:xfrm>
              <a:prstGeom prst="ellipse">
                <a:avLst/>
              </a:prstGeom>
              <a:solidFill>
                <a:srgbClr val="92301C"/>
              </a:solidFill>
              <a:ln>
                <a:noFill/>
              </a:ln>
            </p:spPr>
          </p:sp>
          <p:grpSp>
            <p:nvGrpSpPr>
              <p:cNvPr id="418" name="Group 418"/>
              <p:cNvGrpSpPr/>
              <p:nvPr/>
            </p:nvGrpSpPr>
            <p:grpSpPr>
              <a:xfrm>
                <a:off x="9898856" y="5505450"/>
                <a:ext cx="128587" cy="123825"/>
                <a:chOff x="9898856" y="5505450"/>
                <a:chExt cx="128587" cy="123825"/>
              </a:xfrm>
            </p:grpSpPr>
            <p:sp>
              <p:nvSpPr>
                <p:cNvPr id="414" name="Freeform 414"/>
                <p:cNvSpPr/>
                <p:nvPr/>
              </p:nvSpPr>
              <p:spPr>
                <a:xfrm>
                  <a:off x="9898856" y="556260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FFFFFF"/>
                  </a:solidFill>
                </a:ln>
              </p:spPr>
            </p:sp>
            <p:sp>
              <p:nvSpPr>
                <p:cNvPr id="415" name="Freeform 415"/>
                <p:cNvSpPr/>
                <p:nvPr/>
              </p:nvSpPr>
              <p:spPr>
                <a:xfrm>
                  <a:off x="9984581" y="553402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FFFFFF"/>
                  </a:solidFill>
                </a:ln>
              </p:spPr>
            </p:sp>
            <p:sp>
              <p:nvSpPr>
                <p:cNvPr id="416" name="Freeform 416"/>
                <p:cNvSpPr/>
                <p:nvPr/>
              </p:nvSpPr>
              <p:spPr>
                <a:xfrm>
                  <a:off x="9941719" y="550545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FFFFFF"/>
                  </a:solidFill>
                </a:ln>
              </p:spPr>
            </p:sp>
            <p:sp>
              <p:nvSpPr>
                <p:cNvPr id="417" name="Freeform 417"/>
                <p:cNvSpPr/>
                <p:nvPr/>
              </p:nvSpPr>
              <p:spPr>
                <a:xfrm>
                  <a:off x="9906000" y="5619750"/>
                  <a:ext cx="100012" cy="9525"/>
                </a:xfrm>
                <a:custGeom>
                  <a:avLst/>
                  <a:gdLst/>
                  <a:ahLst/>
                  <a:cxnLst/>
                  <a:rect l="l" t="t" r="r" b="b"/>
                  <a:pathLst>
                    <a:path w="100012" h="9525">
                      <a:moveTo>
                        <a:pt x="0" y="0"/>
                      </a:moveTo>
                      <a:lnTo>
                        <a:pt x="100012" y="0"/>
                      </a:lnTo>
                    </a:path>
                  </a:pathLst>
                </a:custGeom>
                <a:noFill/>
                <a:ln w="14288">
                  <a:solidFill>
                    <a:srgbClr val="FFFFFF"/>
                  </a:solidFill>
                </a:ln>
              </p:spPr>
            </p:sp>
          </p:grpSp>
          <p:sp>
            <p:nvSpPr>
              <p:cNvPr id="419" name="TextBox 419"/>
              <p:cNvSpPr txBox="1"/>
              <p:nvPr/>
            </p:nvSpPr>
            <p:spPr>
              <a:xfrm>
                <a:off x="10186988" y="5509022"/>
                <a:ext cx="969580" cy="183356"/>
              </a:xfrm>
              <a:prstGeom prst="rect">
                <a:avLst/>
              </a:prstGeom>
              <a:noFill/>
              <a:ln>
                <a:noFill/>
              </a:ln>
            </p:spPr>
            <p:txBody>
              <a:bodyPr wrap="none" lIns="0" tIns="0" rIns="0" bIns="0" anchor="t" anchorCtr="0">
                <a:spAutoFit/>
              </a:bodyPr>
              <a:lstStyle/>
              <a:p>
                <a:pPr algn="l"/>
                <a:r>
                  <a:rPr lang="en-US" sz="940" b="1" dirty="0">
                    <a:solidFill>
                      <a:srgbClr val="6B1B0B"/>
                    </a:solidFill>
                    <a:latin typeface="+mj-lt"/>
                    <a:ea typeface="+mj-ea"/>
                    <a:cs typeface="+mj-cs"/>
                  </a:rPr>
                  <a:t xml:space="preserve">KPI </a:t>
                </a:r>
                <a:r>
                  <a:rPr lang="zh-CN" sz="710" dirty="0">
                    <a:solidFill>
                      <a:srgbClr val="8C716B"/>
                    </a:solidFill>
                    <a:latin typeface="+mj-lt"/>
                    <a:ea typeface="+mj-ea"/>
                    <a:cs typeface="+mj-cs"/>
                  </a:rPr>
                  <a:t>（示例测算）</a:t>
                </a:r>
                <a:r>
                  <a:rPr lang="zh-CN" sz="940" b="1" dirty="0">
                    <a:solidFill>
                      <a:srgbClr val="6B1B0B"/>
                    </a:solidFill>
                    <a:latin typeface="+mj-lt"/>
                    <a:ea typeface="+mj-ea"/>
                    <a:cs typeface="+mj-cs"/>
                  </a:rPr>
                  <a:t xml:space="preserve">　</a:t>
                </a:r>
              </a:p>
            </p:txBody>
          </p:sp>
          <p:sp>
            <p:nvSpPr>
              <p:cNvPr id="420" name="TextBox 420"/>
              <p:cNvSpPr txBox="1"/>
              <p:nvPr/>
            </p:nvSpPr>
            <p:spPr>
              <a:xfrm>
                <a:off x="9979342" y="5786438"/>
                <a:ext cx="615315" cy="147638"/>
              </a:xfrm>
              <a:prstGeom prst="rect">
                <a:avLst/>
              </a:prstGeom>
              <a:noFill/>
              <a:ln>
                <a:noFill/>
              </a:ln>
            </p:spPr>
            <p:txBody>
              <a:bodyPr wrap="none" lIns="0" tIns="0" rIns="0" bIns="0" anchor="t" anchorCtr="0">
                <a:spAutoFit/>
              </a:bodyPr>
              <a:lstStyle/>
              <a:p>
                <a:pPr algn="ctr"/>
                <a:r>
                  <a:rPr lang="zh-CN" sz="750" b="1" dirty="0">
                    <a:solidFill>
                      <a:srgbClr val="52352F"/>
                    </a:solidFill>
                    <a:latin typeface="+mn-lt"/>
                    <a:ea typeface="+mn-ea"/>
                    <a:cs typeface="+mn-cs"/>
                  </a:rPr>
                  <a:t>审批准备时间</a:t>
                </a:r>
              </a:p>
            </p:txBody>
          </p:sp>
          <p:sp>
            <p:nvSpPr>
              <p:cNvPr id="421" name="TextBox 421"/>
              <p:cNvSpPr txBox="1"/>
              <p:nvPr/>
            </p:nvSpPr>
            <p:spPr>
              <a:xfrm>
                <a:off x="9995001" y="5977890"/>
                <a:ext cx="583999" cy="352044"/>
              </a:xfrm>
              <a:prstGeom prst="rect">
                <a:avLst/>
              </a:prstGeom>
              <a:noFill/>
              <a:ln>
                <a:noFill/>
              </a:ln>
            </p:spPr>
            <p:txBody>
              <a:bodyPr wrap="none" lIns="0" tIns="0" rIns="0" bIns="0" anchor="t" anchorCtr="0">
                <a:spAutoFit/>
              </a:bodyPr>
              <a:lstStyle/>
              <a:p>
                <a:pPr algn="ctr"/>
                <a:r>
                  <a:rPr lang="zh-CN" sz="1800" b="1" dirty="0">
                    <a:solidFill>
                      <a:srgbClr val="92301C"/>
                    </a:solidFill>
                    <a:latin typeface="+mj-lt"/>
                    <a:ea typeface="+mj-ea"/>
                    <a:cs typeface="+mj-cs"/>
                  </a:rPr>
                  <a:t>-40%</a:t>
                </a:r>
              </a:p>
            </p:txBody>
          </p:sp>
          <p:sp>
            <p:nvSpPr>
              <p:cNvPr id="422" name="TextBox 422"/>
              <p:cNvSpPr txBox="1"/>
              <p:nvPr/>
            </p:nvSpPr>
            <p:spPr>
              <a:xfrm>
                <a:off x="10007613" y="6289834"/>
                <a:ext cx="558775" cy="133350"/>
              </a:xfrm>
              <a:prstGeom prst="rect">
                <a:avLst/>
              </a:prstGeom>
              <a:noFill/>
              <a:ln>
                <a:noFill/>
              </a:ln>
            </p:spPr>
            <p:txBody>
              <a:bodyPr wrap="none" lIns="0" tIns="0" rIns="0" bIns="0" anchor="t" anchorCtr="0">
                <a:spAutoFit/>
              </a:bodyPr>
              <a:lstStyle/>
              <a:p>
                <a:pPr algn="ctr"/>
                <a:r>
                  <a:rPr lang="zh-CN" sz="680" dirty="0">
                    <a:solidFill>
                      <a:srgbClr val="8C716B"/>
                    </a:solidFill>
                    <a:latin typeface="+mn-lt"/>
                    <a:ea typeface="+mn-ea"/>
                    <a:cs typeface="+mn-cs"/>
                  </a:rPr>
                  <a:t>（示例测算）</a:t>
                </a:r>
              </a:p>
            </p:txBody>
          </p:sp>
          <p:sp>
            <p:nvSpPr>
              <p:cNvPr id="423" name="Line 423"/>
              <p:cNvSpPr/>
              <p:nvPr/>
            </p:nvSpPr>
            <p:spPr>
              <a:xfrm>
                <a:off x="10858500" y="5772150"/>
                <a:ext cx="9525" cy="666750"/>
              </a:xfrm>
              <a:custGeom>
                <a:avLst/>
                <a:gdLst/>
                <a:ahLst/>
                <a:cxnLst/>
                <a:rect l="l" t="t" r="r" b="b"/>
                <a:pathLst>
                  <a:path w="9525" h="666750">
                    <a:moveTo>
                      <a:pt x="0" y="0"/>
                    </a:moveTo>
                    <a:lnTo>
                      <a:pt x="0" y="666750"/>
                    </a:lnTo>
                  </a:path>
                </a:pathLst>
              </a:custGeom>
              <a:noFill/>
              <a:ln w="9525">
                <a:solidFill>
                  <a:srgbClr val="CFDFEE"/>
                </a:solidFill>
              </a:ln>
            </p:spPr>
          </p:sp>
          <p:sp>
            <p:nvSpPr>
              <p:cNvPr id="424" name="TextBox 424"/>
              <p:cNvSpPr txBox="1"/>
              <p:nvPr/>
            </p:nvSpPr>
            <p:spPr>
              <a:xfrm>
                <a:off x="11071860" y="5786438"/>
                <a:ext cx="716280" cy="147638"/>
              </a:xfrm>
              <a:prstGeom prst="rect">
                <a:avLst/>
              </a:prstGeom>
              <a:noFill/>
              <a:ln>
                <a:noFill/>
              </a:ln>
            </p:spPr>
            <p:txBody>
              <a:bodyPr wrap="none" lIns="0" tIns="0" rIns="0" bIns="0" anchor="t" anchorCtr="0">
                <a:spAutoFit/>
              </a:bodyPr>
              <a:lstStyle/>
              <a:p>
                <a:pPr algn="ctr"/>
                <a:r>
                  <a:rPr lang="zh-CN" sz="750" b="1" dirty="0">
                    <a:solidFill>
                      <a:srgbClr val="52352F"/>
                    </a:solidFill>
                    <a:latin typeface="+mn-lt"/>
                    <a:ea typeface="+mn-ea"/>
                    <a:cs typeface="+mn-cs"/>
                  </a:rPr>
                  <a:t>政策执行一致性</a:t>
                </a:r>
              </a:p>
            </p:txBody>
          </p:sp>
          <p:sp>
            <p:nvSpPr>
              <p:cNvPr id="425" name="TextBox 425"/>
              <p:cNvSpPr txBox="1"/>
              <p:nvPr/>
            </p:nvSpPr>
            <p:spPr>
              <a:xfrm>
                <a:off x="11033587" y="5977890"/>
                <a:ext cx="792827" cy="352044"/>
              </a:xfrm>
              <a:prstGeom prst="rect">
                <a:avLst/>
              </a:prstGeom>
              <a:noFill/>
              <a:ln>
                <a:noFill/>
              </a:ln>
            </p:spPr>
            <p:txBody>
              <a:bodyPr wrap="none" lIns="0" tIns="0" rIns="0" bIns="0" anchor="t" anchorCtr="0">
                <a:spAutoFit/>
              </a:bodyPr>
              <a:lstStyle/>
              <a:p>
                <a:pPr algn="ctr"/>
                <a:r>
                  <a:rPr lang="en-US" sz="1800" b="1" dirty="0">
                    <a:solidFill>
                      <a:srgbClr val="92301C"/>
                    </a:solidFill>
                    <a:latin typeface="+mj-lt"/>
                    <a:ea typeface="+mj-ea"/>
                    <a:cs typeface="+mj-cs"/>
                  </a:rPr>
                  <a:t>+15pct</a:t>
                </a:r>
              </a:p>
            </p:txBody>
          </p:sp>
          <p:sp>
            <p:nvSpPr>
              <p:cNvPr id="426" name="TextBox 426"/>
              <p:cNvSpPr txBox="1"/>
              <p:nvPr/>
            </p:nvSpPr>
            <p:spPr>
              <a:xfrm>
                <a:off x="11150613" y="6289834"/>
                <a:ext cx="558775" cy="133350"/>
              </a:xfrm>
              <a:prstGeom prst="rect">
                <a:avLst/>
              </a:prstGeom>
              <a:noFill/>
              <a:ln>
                <a:noFill/>
              </a:ln>
            </p:spPr>
            <p:txBody>
              <a:bodyPr wrap="none" lIns="0" tIns="0" rIns="0" bIns="0" anchor="t" anchorCtr="0">
                <a:spAutoFit/>
              </a:bodyPr>
              <a:lstStyle/>
              <a:p>
                <a:pPr algn="ctr"/>
                <a:r>
                  <a:rPr lang="zh-CN" sz="680" dirty="0">
                    <a:solidFill>
                      <a:srgbClr val="8C716B"/>
                    </a:solidFill>
                    <a:latin typeface="+mn-lt"/>
                    <a:ea typeface="+mn-ea"/>
                    <a:cs typeface="+mn-cs"/>
                  </a:rPr>
                  <a:t>（示例测算）</a:t>
                </a:r>
              </a:p>
            </p:txBody>
          </p:sp>
        </p:grpSp>
      </p:grpSp>
      <p:sp>
        <p:nvSpPr>
          <p:cNvPr id="429" name="TextBox 429"/>
          <p:cNvSpPr txBox="1"/>
          <p:nvPr/>
        </p:nvSpPr>
        <p:spPr>
          <a:xfrm>
            <a:off x="185738" y="6702266"/>
            <a:ext cx="2156579" cy="161925"/>
          </a:xfrm>
          <a:prstGeom prst="rect">
            <a:avLst/>
          </a:prstGeom>
          <a:noFill/>
          <a:ln>
            <a:noFill/>
          </a:ln>
        </p:spPr>
        <p:txBody>
          <a:bodyPr wrap="none" lIns="0" tIns="0" rIns="0" bIns="0" anchor="t" anchorCtr="0">
            <a:spAutoFit/>
          </a:bodyPr>
          <a:lstStyle/>
          <a:p>
            <a:pPr algn="l"/>
            <a:r>
              <a:rPr lang="zh-CN" sz="820" dirty="0">
                <a:solidFill>
                  <a:srgbClr val="8C716B"/>
                </a:solidFill>
                <a:latin typeface="+mn-lt"/>
                <a:ea typeface="+mn-ea"/>
                <a:cs typeface="+mn-cs"/>
              </a:rPr>
              <a:t>审慎授信 · 稳健经营 · 科技赋能 · 防控风险</a:t>
            </a:r>
          </a:p>
        </p:txBody>
      </p:sp>
      <p:grpSp>
        <p:nvGrpSpPr>
          <p:cNvPr id="433" name="footer-right"/>
          <p:cNvGrpSpPr/>
          <p:nvPr/>
        </p:nvGrpSpPr>
        <p:grpSpPr>
          <a:xfrm>
            <a:off x="7755090" y="6686074"/>
            <a:ext cx="4156113" cy="190690"/>
            <a:chOff x="7755090" y="6686074"/>
            <a:chExt cx="4156113" cy="190690"/>
          </a:xfrm>
        </p:grpSpPr>
        <p:sp>
          <p:nvSpPr>
            <p:cNvPr id="430" name="TextBox 430"/>
            <p:cNvSpPr txBox="1"/>
            <p:nvPr/>
          </p:nvSpPr>
          <p:spPr>
            <a:xfrm>
              <a:off x="7755090" y="6714411"/>
              <a:ext cx="3641573" cy="140494"/>
            </a:xfrm>
            <a:prstGeom prst="rect">
              <a:avLst/>
            </a:prstGeom>
            <a:noFill/>
            <a:ln>
              <a:noFill/>
            </a:ln>
          </p:spPr>
          <p:txBody>
            <a:bodyPr wrap="none" lIns="0" tIns="0" rIns="0" bIns="0" anchor="t" anchorCtr="0">
              <a:spAutoFit/>
            </a:bodyPr>
            <a:lstStyle/>
            <a:p>
              <a:pPr algn="r"/>
              <a:r>
                <a:rPr lang="zh-CN" sz="710" dirty="0">
                  <a:solidFill>
                    <a:srgbClr val="8C716B"/>
                  </a:solidFill>
                  <a:latin typeface="+mn-lt"/>
                  <a:ea typeface="+mn-ea"/>
                  <a:cs typeface="+mn-cs"/>
                </a:rPr>
                <a:t>注：授信审批、额度、定价、担保等为系统辅助建议，须由有权人员确认后方可生效。</a:t>
              </a:r>
            </a:p>
          </p:txBody>
        </p:sp>
        <p:sp>
          <p:nvSpPr>
            <p:cNvPr id="431" name="Line 431"/>
            <p:cNvSpPr/>
            <p:nvPr/>
          </p:nvSpPr>
          <p:spPr>
            <a:xfrm>
              <a:off x="11544300" y="6686550"/>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432" name="TextBox 432"/>
            <p:cNvSpPr txBox="1"/>
            <p:nvPr/>
          </p:nvSpPr>
          <p:spPr>
            <a:xfrm>
              <a:off x="11754541" y="6686074"/>
              <a:ext cx="156662" cy="190690"/>
            </a:xfrm>
            <a:prstGeom prst="rect">
              <a:avLst/>
            </a:prstGeom>
            <a:noFill/>
            <a:ln>
              <a:noFill/>
            </a:ln>
          </p:spPr>
          <p:txBody>
            <a:bodyPr wrap="none" lIns="0" tIns="0" rIns="0" bIns="0" anchor="t" anchorCtr="0">
              <a:spAutoFit/>
            </a:bodyPr>
            <a:lstStyle/>
            <a:p>
              <a:pPr algn="r"/>
              <a:r>
                <a:rPr lang="zh-CN" sz="980" b="1" dirty="0">
                  <a:solidFill>
                    <a:srgbClr val="6B1B0B"/>
                  </a:solidFill>
                  <a:latin typeface="+mj-lt"/>
                  <a:ea typeface="+mj-ea"/>
                  <a:cs typeface="+mj-cs"/>
                </a:rPr>
                <a:t>06</a:t>
              </a:r>
            </a:p>
          </p:txBody>
        </p:sp>
      </p:gr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06</a:t>
              </a:r>
            </a:p>
          </p:txBody>
        </p:sp>
        <p:sp>
          <p:nvSpPr>
            <p:cNvPr id="4" name="TextBox 4"/>
            <p:cNvSpPr txBox="1"/>
            <p:nvPr/>
          </p:nvSpPr>
          <p:spPr>
            <a:xfrm>
              <a:off x="942594" y="170498"/>
              <a:ext cx="5532501"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贷后监测智能体</a:t>
              </a:r>
              <a:r>
                <a:rPr lang="zh-CN" sz="1950" b="1" dirty="0">
                  <a:solidFill>
                    <a:srgbClr val="92301C"/>
                  </a:solidFill>
                  <a:latin typeface="+mn-lt"/>
                  <a:ea typeface="+mn-ea"/>
                  <a:cs typeface="+mn-cs"/>
                </a:rPr>
                <a:t>｜从定期检查转向持续风险感知</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信贷风控 · 06</a:t>
              </a:r>
            </a:p>
          </p:txBody>
        </p:sp>
        <p:sp>
          <p:nvSpPr>
            <p:cNvPr id="6" name="TextBox 6"/>
            <p:cNvSpPr txBox="1"/>
            <p:nvPr/>
          </p:nvSpPr>
          <p:spPr>
            <a:xfrm>
              <a:off x="10172838" y="334089"/>
              <a:ext cx="1833424"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数据驱动风险识别 · 智能赋能信贷管理</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1" name="col1-head"/>
          <p:cNvGrpSpPr/>
          <p:nvPr/>
        </p:nvGrpSpPr>
        <p:grpSpPr>
          <a:xfrm>
            <a:off x="190500" y="628650"/>
            <a:ext cx="2095500" cy="279559"/>
            <a:chOff x="190500" y="628650"/>
            <a:chExt cx="2095500" cy="279559"/>
          </a:xfrm>
        </p:grpSpPr>
        <p:sp>
          <p:nvSpPr>
            <p:cNvPr id="9" name="Rectangle 9"/>
            <p:cNvSpPr/>
            <p:nvPr/>
          </p:nvSpPr>
          <p:spPr>
            <a:xfrm>
              <a:off x="190500" y="628650"/>
              <a:ext cx="2095500" cy="266700"/>
            </a:xfrm>
            <a:prstGeom prst="rect">
              <a:avLst/>
            </a:prstGeom>
            <a:gradFill>
              <a:gsLst>
                <a:gs pos="0">
                  <a:srgbClr val="92301C"/>
                </a:gs>
                <a:gs pos="100000">
                  <a:srgbClr val="B7533F"/>
                </a:gs>
              </a:gsLst>
              <a:lin ang="0" scaled="1"/>
            </a:gradFill>
            <a:ln>
              <a:noFill/>
            </a:ln>
          </p:spPr>
        </p:sp>
        <p:sp>
          <p:nvSpPr>
            <p:cNvPr id="10" name="TextBox 10"/>
            <p:cNvSpPr txBox="1"/>
            <p:nvPr/>
          </p:nvSpPr>
          <p:spPr>
            <a:xfrm>
              <a:off x="31813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多源数据监测</a:t>
              </a:r>
            </a:p>
          </p:txBody>
        </p:sp>
      </p:grpSp>
      <p:grpSp>
        <p:nvGrpSpPr>
          <p:cNvPr id="14" name="col2-head"/>
          <p:cNvGrpSpPr/>
          <p:nvPr/>
        </p:nvGrpSpPr>
        <p:grpSpPr>
          <a:xfrm>
            <a:off x="2381250" y="628650"/>
            <a:ext cx="5524500" cy="279559"/>
            <a:chOff x="2381250" y="628650"/>
            <a:chExt cx="5524500" cy="279559"/>
          </a:xfrm>
        </p:grpSpPr>
        <p:sp>
          <p:nvSpPr>
            <p:cNvPr id="12" name="Rectangle 12"/>
            <p:cNvSpPr/>
            <p:nvPr/>
          </p:nvSpPr>
          <p:spPr>
            <a:xfrm>
              <a:off x="2381250" y="628650"/>
              <a:ext cx="5524500" cy="266700"/>
            </a:xfrm>
            <a:prstGeom prst="rect">
              <a:avLst/>
            </a:prstGeom>
            <a:gradFill>
              <a:gsLst>
                <a:gs pos="0">
                  <a:srgbClr val="92301C"/>
                </a:gs>
                <a:gs pos="100000">
                  <a:srgbClr val="B7533F"/>
                </a:gs>
              </a:gsLst>
              <a:lin ang="0" scaled="1"/>
            </a:gradFill>
            <a:ln>
              <a:noFill/>
            </a:ln>
          </p:spPr>
        </p:sp>
        <p:sp>
          <p:nvSpPr>
            <p:cNvPr id="13" name="TextBox 13"/>
            <p:cNvSpPr txBox="1"/>
            <p:nvPr/>
          </p:nvSpPr>
          <p:spPr>
            <a:xfrm>
              <a:off x="2508885" y="688181"/>
              <a:ext cx="166994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贷后监测智能体运行流程</a:t>
              </a:r>
            </a:p>
          </p:txBody>
        </p:sp>
      </p:grpSp>
      <p:grpSp>
        <p:nvGrpSpPr>
          <p:cNvPr id="17" name="col3-head"/>
          <p:cNvGrpSpPr/>
          <p:nvPr/>
        </p:nvGrpSpPr>
        <p:grpSpPr>
          <a:xfrm>
            <a:off x="8001000" y="628650"/>
            <a:ext cx="4000500" cy="279559"/>
            <a:chOff x="8001000" y="628650"/>
            <a:chExt cx="4000500" cy="279559"/>
          </a:xfrm>
        </p:grpSpPr>
        <p:sp>
          <p:nvSpPr>
            <p:cNvPr id="15" name="Rectangle 15"/>
            <p:cNvSpPr/>
            <p:nvPr/>
          </p:nvSpPr>
          <p:spPr>
            <a:xfrm>
              <a:off x="8001000" y="628650"/>
              <a:ext cx="4000500" cy="266700"/>
            </a:xfrm>
            <a:prstGeom prst="rect">
              <a:avLst/>
            </a:prstGeom>
            <a:gradFill>
              <a:gsLst>
                <a:gs pos="0">
                  <a:srgbClr val="92301C"/>
                </a:gs>
                <a:gs pos="100000">
                  <a:srgbClr val="B7533F"/>
                </a:gs>
              </a:gsLst>
              <a:lin ang="0" scaled="1"/>
            </a:gradFill>
            <a:ln>
              <a:noFill/>
            </a:ln>
          </p:spPr>
        </p:sp>
        <p:sp>
          <p:nvSpPr>
            <p:cNvPr id="16" name="TextBox 16"/>
            <p:cNvSpPr txBox="1"/>
            <p:nvPr/>
          </p:nvSpPr>
          <p:spPr>
            <a:xfrm>
              <a:off x="8128635" y="688181"/>
              <a:ext cx="2117291"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客户风险迁徙矩阵</a:t>
              </a:r>
              <a:r>
                <a:rPr lang="zh-CN" sz="820" dirty="0">
                  <a:solidFill>
                    <a:srgbClr val="FFFFFF"/>
                  </a:solidFill>
                  <a:latin typeface="+mn-lt"/>
                  <a:ea typeface="+mn-ea"/>
                  <a:cs typeface="+mn-cs"/>
                </a:rPr>
                <a:t>（近一期 → 本期）</a:t>
              </a:r>
            </a:p>
          </p:txBody>
        </p:sp>
      </p:grpSp>
      <p:grpSp>
        <p:nvGrpSpPr>
          <p:cNvPr id="77" name="left-cards"/>
          <p:cNvGrpSpPr/>
          <p:nvPr/>
        </p:nvGrpSpPr>
        <p:grpSpPr>
          <a:xfrm>
            <a:off x="190500" y="990600"/>
            <a:ext cx="2095500" cy="4076700"/>
            <a:chOff x="190500" y="990600"/>
            <a:chExt cx="2095500" cy="4076700"/>
          </a:xfrm>
        </p:grpSpPr>
        <p:grpSp>
          <p:nvGrpSpPr>
            <p:cNvPr id="31" name="lc-1"/>
            <p:cNvGrpSpPr/>
            <p:nvPr/>
          </p:nvGrpSpPr>
          <p:grpSpPr>
            <a:xfrm>
              <a:off x="190500" y="990600"/>
              <a:ext cx="2095500" cy="647700"/>
              <a:chOff x="190500" y="990600"/>
              <a:chExt cx="2095500" cy="647700"/>
            </a:xfrm>
          </p:grpSpPr>
          <p:sp>
            <p:nvSpPr>
              <p:cNvPr id="18" name="Rectangle 18"/>
              <p:cNvSpPr/>
              <p:nvPr/>
            </p:nvSpPr>
            <p:spPr>
              <a:xfrm>
                <a:off x="190500" y="990600"/>
                <a:ext cx="2095500" cy="647700"/>
              </a:xfrm>
              <a:prstGeom prst="roundRect">
                <a:avLst>
                  <a:gd name="adj" fmla="val 8824"/>
                </a:avLst>
              </a:prstGeom>
              <a:solidFill>
                <a:srgbClr val="F6F9FD"/>
              </a:solidFill>
              <a:ln w="9525">
                <a:solidFill>
                  <a:srgbClr val="CFDFEE"/>
                </a:solidFill>
              </a:ln>
            </p:spPr>
          </p:sp>
          <p:grpSp>
            <p:nvGrpSpPr>
              <p:cNvPr id="27" name="Group 27"/>
              <p:cNvGrpSpPr/>
              <p:nvPr/>
            </p:nvGrpSpPr>
            <p:grpSpPr>
              <a:xfrm>
                <a:off x="316706" y="1221581"/>
                <a:ext cx="185737" cy="195262"/>
                <a:chOff x="316706" y="1221581"/>
                <a:chExt cx="185737" cy="195262"/>
              </a:xfrm>
            </p:grpSpPr>
            <p:sp>
              <p:nvSpPr>
                <p:cNvPr id="19" name="Freeform 19"/>
                <p:cNvSpPr/>
                <p:nvPr/>
              </p:nvSpPr>
              <p:spPr>
                <a:xfrm>
                  <a:off x="316706" y="1407318"/>
                  <a:ext cx="185737" cy="9525"/>
                </a:xfrm>
                <a:custGeom>
                  <a:avLst/>
                  <a:gdLst/>
                  <a:ahLst/>
                  <a:cxnLst/>
                  <a:rect l="l" t="t" r="r" b="b"/>
                  <a:pathLst>
                    <a:path w="185737" h="9525">
                      <a:moveTo>
                        <a:pt x="0" y="0"/>
                      </a:moveTo>
                      <a:lnTo>
                        <a:pt x="185737" y="0"/>
                      </a:lnTo>
                    </a:path>
                  </a:pathLst>
                </a:custGeom>
                <a:noFill/>
                <a:ln w="20637">
                  <a:solidFill>
                    <a:srgbClr val="92301C"/>
                  </a:solidFill>
                </a:ln>
              </p:spPr>
            </p:sp>
            <p:sp>
              <p:nvSpPr>
                <p:cNvPr id="20" name="Freeform 20"/>
                <p:cNvSpPr/>
                <p:nvPr/>
              </p:nvSpPr>
              <p:spPr>
                <a:xfrm>
                  <a:off x="316706" y="1293812"/>
                  <a:ext cx="185737" cy="9525"/>
                </a:xfrm>
                <a:custGeom>
                  <a:avLst/>
                  <a:gdLst/>
                  <a:ahLst/>
                  <a:cxnLst/>
                  <a:rect l="l" t="t" r="r" b="b"/>
                  <a:pathLst>
                    <a:path w="185737" h="9525">
                      <a:moveTo>
                        <a:pt x="0" y="0"/>
                      </a:moveTo>
                      <a:lnTo>
                        <a:pt x="185737" y="0"/>
                      </a:lnTo>
                    </a:path>
                  </a:pathLst>
                </a:custGeom>
                <a:noFill/>
                <a:ln w="20637">
                  <a:solidFill>
                    <a:srgbClr val="92301C"/>
                  </a:solidFill>
                </a:ln>
              </p:spPr>
            </p:sp>
            <p:sp>
              <p:nvSpPr>
                <p:cNvPr id="21" name="Freeform 21"/>
                <p:cNvSpPr/>
                <p:nvPr/>
              </p:nvSpPr>
              <p:spPr>
                <a:xfrm>
                  <a:off x="337344" y="1221581"/>
                  <a:ext cx="144462" cy="30956"/>
                </a:xfrm>
                <a:custGeom>
                  <a:avLst/>
                  <a:gdLst/>
                  <a:ahLst/>
                  <a:cxnLst/>
                  <a:rect l="l" t="t" r="r" b="b"/>
                  <a:pathLst>
                    <a:path w="144462" h="30956">
                      <a:moveTo>
                        <a:pt x="0" y="30956"/>
                      </a:moveTo>
                      <a:lnTo>
                        <a:pt x="72231" y="0"/>
                      </a:lnTo>
                      <a:lnTo>
                        <a:pt x="144462" y="30956"/>
                      </a:lnTo>
                    </a:path>
                  </a:pathLst>
                </a:custGeom>
                <a:noFill/>
                <a:ln w="20637">
                  <a:solidFill>
                    <a:srgbClr val="92301C"/>
                  </a:solidFill>
                </a:ln>
              </p:spPr>
            </p:sp>
            <p:sp>
              <p:nvSpPr>
                <p:cNvPr id="22" name="Freeform 22"/>
                <p:cNvSpPr/>
                <p:nvPr/>
              </p:nvSpPr>
              <p:spPr>
                <a:xfrm>
                  <a:off x="327025" y="1293812"/>
                  <a:ext cx="9525" cy="113506"/>
                </a:xfrm>
                <a:custGeom>
                  <a:avLst/>
                  <a:gdLst/>
                  <a:ahLst/>
                  <a:cxnLst/>
                  <a:rect l="l" t="t" r="r" b="b"/>
                  <a:pathLst>
                    <a:path w="9525" h="113506">
                      <a:moveTo>
                        <a:pt x="0" y="0"/>
                      </a:moveTo>
                      <a:lnTo>
                        <a:pt x="0" y="113506"/>
                      </a:lnTo>
                    </a:path>
                  </a:pathLst>
                </a:custGeom>
                <a:noFill/>
                <a:ln w="20637">
                  <a:solidFill>
                    <a:srgbClr val="92301C"/>
                  </a:solidFill>
                </a:ln>
              </p:spPr>
            </p:sp>
            <p:sp>
              <p:nvSpPr>
                <p:cNvPr id="23" name="Freeform 23"/>
                <p:cNvSpPr/>
                <p:nvPr/>
              </p:nvSpPr>
              <p:spPr>
                <a:xfrm>
                  <a:off x="492124" y="1293812"/>
                  <a:ext cx="9525" cy="113506"/>
                </a:xfrm>
                <a:custGeom>
                  <a:avLst/>
                  <a:gdLst/>
                  <a:ahLst/>
                  <a:cxnLst/>
                  <a:rect l="l" t="t" r="r" b="b"/>
                  <a:pathLst>
                    <a:path w="9525" h="113506">
                      <a:moveTo>
                        <a:pt x="0" y="0"/>
                      </a:moveTo>
                      <a:lnTo>
                        <a:pt x="0" y="113506"/>
                      </a:lnTo>
                    </a:path>
                  </a:pathLst>
                </a:custGeom>
                <a:noFill/>
                <a:ln w="20637">
                  <a:solidFill>
                    <a:srgbClr val="92301C"/>
                  </a:solidFill>
                </a:ln>
              </p:spPr>
            </p:sp>
            <p:sp>
              <p:nvSpPr>
                <p:cNvPr id="24" name="Freeform 24"/>
                <p:cNvSpPr/>
                <p:nvPr/>
              </p:nvSpPr>
              <p:spPr>
                <a:xfrm>
                  <a:off x="368300" y="1335087"/>
                  <a:ext cx="9525" cy="30956"/>
                </a:xfrm>
                <a:custGeom>
                  <a:avLst/>
                  <a:gdLst/>
                  <a:ahLst/>
                  <a:cxnLst/>
                  <a:rect l="l" t="t" r="r" b="b"/>
                  <a:pathLst>
                    <a:path w="9525" h="30956">
                      <a:moveTo>
                        <a:pt x="0" y="0"/>
                      </a:moveTo>
                      <a:lnTo>
                        <a:pt x="0" y="30956"/>
                      </a:lnTo>
                    </a:path>
                  </a:pathLst>
                </a:custGeom>
                <a:noFill/>
                <a:ln w="20637">
                  <a:solidFill>
                    <a:srgbClr val="92301C"/>
                  </a:solidFill>
                </a:ln>
              </p:spPr>
            </p:sp>
            <p:sp>
              <p:nvSpPr>
                <p:cNvPr id="25" name="Freeform 25"/>
                <p:cNvSpPr/>
                <p:nvPr/>
              </p:nvSpPr>
              <p:spPr>
                <a:xfrm>
                  <a:off x="409575" y="1335087"/>
                  <a:ext cx="9525" cy="30956"/>
                </a:xfrm>
                <a:custGeom>
                  <a:avLst/>
                  <a:gdLst/>
                  <a:ahLst/>
                  <a:cxnLst/>
                  <a:rect l="l" t="t" r="r" b="b"/>
                  <a:pathLst>
                    <a:path w="9525" h="30956">
                      <a:moveTo>
                        <a:pt x="0" y="0"/>
                      </a:moveTo>
                      <a:lnTo>
                        <a:pt x="0" y="30956"/>
                      </a:lnTo>
                    </a:path>
                  </a:pathLst>
                </a:custGeom>
                <a:noFill/>
                <a:ln w="20637">
                  <a:solidFill>
                    <a:srgbClr val="92301C"/>
                  </a:solidFill>
                </a:ln>
              </p:spPr>
            </p:sp>
            <p:sp>
              <p:nvSpPr>
                <p:cNvPr id="26" name="Freeform 26"/>
                <p:cNvSpPr/>
                <p:nvPr/>
              </p:nvSpPr>
              <p:spPr>
                <a:xfrm>
                  <a:off x="450849" y="1335087"/>
                  <a:ext cx="9525" cy="30956"/>
                </a:xfrm>
                <a:custGeom>
                  <a:avLst/>
                  <a:gdLst/>
                  <a:ahLst/>
                  <a:cxnLst/>
                  <a:rect l="l" t="t" r="r" b="b"/>
                  <a:pathLst>
                    <a:path w="9525" h="30956">
                      <a:moveTo>
                        <a:pt x="0" y="0"/>
                      </a:moveTo>
                      <a:lnTo>
                        <a:pt x="0" y="30956"/>
                      </a:lnTo>
                    </a:path>
                  </a:pathLst>
                </a:custGeom>
                <a:noFill/>
                <a:ln w="20637">
                  <a:solidFill>
                    <a:srgbClr val="92301C"/>
                  </a:solidFill>
                </a:ln>
              </p:spPr>
            </p:sp>
          </p:grpSp>
          <p:sp>
            <p:nvSpPr>
              <p:cNvPr id="28" name="TextBox 28"/>
              <p:cNvSpPr txBox="1"/>
              <p:nvPr/>
            </p:nvSpPr>
            <p:spPr>
              <a:xfrm>
                <a:off x="623888" y="10798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账户流水</a:t>
                </a:r>
              </a:p>
            </p:txBody>
          </p:sp>
          <p:sp>
            <p:nvSpPr>
              <p:cNvPr id="29" name="TextBox 29"/>
              <p:cNvSpPr txBox="1"/>
              <p:nvPr/>
            </p:nvSpPr>
            <p:spPr>
              <a:xfrm>
                <a:off x="623888" y="12756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收支变化、资金流向</a:t>
                </a:r>
              </a:p>
            </p:txBody>
          </p:sp>
          <p:sp>
            <p:nvSpPr>
              <p:cNvPr id="30" name="TextBox 30"/>
              <p:cNvSpPr txBox="1"/>
              <p:nvPr/>
            </p:nvSpPr>
            <p:spPr>
              <a:xfrm>
                <a:off x="623888" y="1418511"/>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关联交易、异常波动</a:t>
                </a:r>
              </a:p>
            </p:txBody>
          </p:sp>
        </p:grpSp>
        <p:grpSp>
          <p:nvGrpSpPr>
            <p:cNvPr id="42" name="lc-2"/>
            <p:cNvGrpSpPr/>
            <p:nvPr/>
          </p:nvGrpSpPr>
          <p:grpSpPr>
            <a:xfrm>
              <a:off x="190500" y="1676400"/>
              <a:ext cx="2095500" cy="647700"/>
              <a:chOff x="190500" y="1676400"/>
              <a:chExt cx="2095500" cy="647700"/>
            </a:xfrm>
          </p:grpSpPr>
          <p:sp>
            <p:nvSpPr>
              <p:cNvPr id="32" name="Rectangle 32"/>
              <p:cNvSpPr/>
              <p:nvPr/>
            </p:nvSpPr>
            <p:spPr>
              <a:xfrm>
                <a:off x="190500" y="1676400"/>
                <a:ext cx="2095500" cy="647700"/>
              </a:xfrm>
              <a:prstGeom prst="roundRect">
                <a:avLst>
                  <a:gd name="adj" fmla="val 8824"/>
                </a:avLst>
              </a:prstGeom>
              <a:solidFill>
                <a:srgbClr val="F6F9FD"/>
              </a:solidFill>
              <a:ln w="9525">
                <a:solidFill>
                  <a:srgbClr val="CFDFEE"/>
                </a:solidFill>
              </a:ln>
            </p:spPr>
          </p:sp>
          <p:grpSp>
            <p:nvGrpSpPr>
              <p:cNvPr id="38" name="Group 38"/>
              <p:cNvGrpSpPr/>
              <p:nvPr/>
            </p:nvGrpSpPr>
            <p:grpSpPr>
              <a:xfrm>
                <a:off x="316706" y="1905998"/>
                <a:ext cx="185737" cy="187120"/>
                <a:chOff x="316706" y="1905998"/>
                <a:chExt cx="185737" cy="187120"/>
              </a:xfrm>
            </p:grpSpPr>
            <p:sp>
              <p:nvSpPr>
                <p:cNvPr id="33" name="Freeform 33"/>
                <p:cNvSpPr/>
                <p:nvPr/>
              </p:nvSpPr>
              <p:spPr>
                <a:xfrm>
                  <a:off x="378618" y="1989931"/>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92301C"/>
                  </a:solidFill>
                </a:ln>
              </p:spPr>
            </p:sp>
            <p:sp>
              <p:nvSpPr>
                <p:cNvPr id="34" name="Freeform 34"/>
                <p:cNvSpPr/>
                <p:nvPr/>
              </p:nvSpPr>
              <p:spPr>
                <a:xfrm>
                  <a:off x="378618" y="2020887"/>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92301C"/>
                  </a:solidFill>
                </a:ln>
              </p:spPr>
            </p:sp>
            <p:sp>
              <p:nvSpPr>
                <p:cNvPr id="35" name="Freeform 35"/>
                <p:cNvSpPr/>
                <p:nvPr/>
              </p:nvSpPr>
              <p:spPr>
                <a:xfrm>
                  <a:off x="316706" y="1905998"/>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92301C"/>
                  </a:solidFill>
                </a:ln>
              </p:spPr>
            </p:sp>
            <p:sp>
              <p:nvSpPr>
                <p:cNvPr id="36" name="Freeform 36"/>
                <p:cNvSpPr/>
                <p:nvPr/>
              </p:nvSpPr>
              <p:spPr>
                <a:xfrm>
                  <a:off x="316706" y="1938337"/>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92301C"/>
                  </a:solidFill>
                </a:ln>
              </p:spPr>
            </p:sp>
            <p:sp>
              <p:nvSpPr>
                <p:cNvPr id="37" name="Freeform 37"/>
                <p:cNvSpPr/>
                <p:nvPr/>
              </p:nvSpPr>
              <p:spPr>
                <a:xfrm>
                  <a:off x="316706" y="1989931"/>
                  <a:ext cx="20637" cy="20637"/>
                </a:xfrm>
                <a:custGeom>
                  <a:avLst/>
                  <a:gdLst/>
                  <a:ahLst/>
                  <a:cxnLst/>
                  <a:rect l="l" t="t" r="r" b="b"/>
                  <a:pathLst>
                    <a:path w="20637" h="20637">
                      <a:moveTo>
                        <a:pt x="0" y="0"/>
                      </a:moveTo>
                      <a:cubicBezTo>
                        <a:pt x="0" y="9163"/>
                        <a:pt x="7966" y="14962"/>
                        <a:pt x="20637" y="20637"/>
                      </a:cubicBezTo>
                    </a:path>
                  </a:pathLst>
                </a:custGeom>
                <a:noFill/>
                <a:ln w="20637">
                  <a:solidFill>
                    <a:srgbClr val="92301C"/>
                  </a:solidFill>
                </a:ln>
              </p:spPr>
            </p:sp>
          </p:grpSp>
          <p:sp>
            <p:nvSpPr>
              <p:cNvPr id="39" name="TextBox 39"/>
              <p:cNvSpPr txBox="1"/>
              <p:nvPr/>
            </p:nvSpPr>
            <p:spPr>
              <a:xfrm>
                <a:off x="623888" y="17656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还款行为</a:t>
                </a:r>
              </a:p>
            </p:txBody>
          </p:sp>
          <p:sp>
            <p:nvSpPr>
              <p:cNvPr id="40" name="TextBox 40"/>
              <p:cNvSpPr txBox="1"/>
              <p:nvPr/>
            </p:nvSpPr>
            <p:spPr>
              <a:xfrm>
                <a:off x="623888" y="19614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逾期记录、息费情况</a:t>
                </a:r>
              </a:p>
            </p:txBody>
          </p:sp>
          <p:sp>
            <p:nvSpPr>
              <p:cNvPr id="41" name="TextBox 41"/>
              <p:cNvSpPr txBox="1"/>
              <p:nvPr/>
            </p:nvSpPr>
            <p:spPr>
              <a:xfrm>
                <a:off x="623888" y="2104311"/>
                <a:ext cx="106090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提前还款、还款能力变化</a:t>
                </a:r>
              </a:p>
            </p:txBody>
          </p:sp>
        </p:grpSp>
        <p:grpSp>
          <p:nvGrpSpPr>
            <p:cNvPr id="48" name="lc-3"/>
            <p:cNvGrpSpPr/>
            <p:nvPr/>
          </p:nvGrpSpPr>
          <p:grpSpPr>
            <a:xfrm>
              <a:off x="190500" y="2362200"/>
              <a:ext cx="2095500" cy="647700"/>
              <a:chOff x="190500" y="2362200"/>
              <a:chExt cx="2095500" cy="647700"/>
            </a:xfrm>
          </p:grpSpPr>
          <p:sp>
            <p:nvSpPr>
              <p:cNvPr id="43" name="Rectangle 43"/>
              <p:cNvSpPr/>
              <p:nvPr/>
            </p:nvSpPr>
            <p:spPr>
              <a:xfrm>
                <a:off x="190500" y="2362200"/>
                <a:ext cx="2095500" cy="647700"/>
              </a:xfrm>
              <a:prstGeom prst="roundRect">
                <a:avLst>
                  <a:gd name="adj" fmla="val 8824"/>
                </a:avLst>
              </a:prstGeom>
              <a:solidFill>
                <a:srgbClr val="F6F9FD"/>
              </a:solidFill>
              <a:ln w="9525">
                <a:solidFill>
                  <a:srgbClr val="CFDFEE"/>
                </a:solidFill>
              </a:ln>
            </p:spPr>
          </p:sp>
          <p:sp>
            <p:nvSpPr>
              <p:cNvPr id="44" name="Freeform 44"/>
              <p:cNvSpPr/>
              <p:nvPr/>
            </p:nvSpPr>
            <p:spPr>
              <a:xfrm>
                <a:off x="337344" y="2593181"/>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lnTo>
                      <a:pt x="113506" y="165099"/>
                    </a:lnTo>
                    <a:lnTo>
                      <a:pt x="92868" y="185737"/>
                    </a:lnTo>
                    <a:lnTo>
                      <a:pt x="72231" y="165099"/>
                    </a:lnTo>
                    <a:lnTo>
                      <a:pt x="51594" y="185737"/>
                    </a:lnTo>
                    <a:lnTo>
                      <a:pt x="30956" y="165099"/>
                    </a:lnTo>
                    <a:lnTo>
                      <a:pt x="0" y="185737"/>
                    </a:lnTo>
                    <a:moveTo>
                      <a:pt x="41275" y="41275"/>
                    </a:moveTo>
                    <a:lnTo>
                      <a:pt x="103187" y="41275"/>
                    </a:lnTo>
                    <a:moveTo>
                      <a:pt x="41275" y="82550"/>
                    </a:moveTo>
                    <a:lnTo>
                      <a:pt x="103187" y="82550"/>
                    </a:lnTo>
                    <a:moveTo>
                      <a:pt x="82550" y="123825"/>
                    </a:moveTo>
                    <a:lnTo>
                      <a:pt x="103187" y="123825"/>
                    </a:lnTo>
                  </a:path>
                </a:pathLst>
              </a:custGeom>
              <a:noFill/>
              <a:ln w="20637">
                <a:solidFill>
                  <a:srgbClr val="92301C"/>
                </a:solidFill>
              </a:ln>
            </p:spPr>
          </p:sp>
          <p:sp>
            <p:nvSpPr>
              <p:cNvPr id="45" name="TextBox 45"/>
              <p:cNvSpPr txBox="1"/>
              <p:nvPr/>
            </p:nvSpPr>
            <p:spPr>
              <a:xfrm>
                <a:off x="623888" y="24514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发票税务</a:t>
                </a:r>
              </a:p>
            </p:txBody>
          </p:sp>
          <p:sp>
            <p:nvSpPr>
              <p:cNvPr id="46" name="TextBox 46"/>
              <p:cNvSpPr txBox="1"/>
              <p:nvPr/>
            </p:nvSpPr>
            <p:spPr>
              <a:xfrm>
                <a:off x="623888" y="26472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开票金额、税负变化</a:t>
                </a:r>
              </a:p>
            </p:txBody>
          </p:sp>
          <p:sp>
            <p:nvSpPr>
              <p:cNvPr id="47" name="TextBox 47"/>
              <p:cNvSpPr txBox="1"/>
              <p:nvPr/>
            </p:nvSpPr>
            <p:spPr>
              <a:xfrm>
                <a:off x="623888" y="2790111"/>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发票异常、纳税评级</a:t>
                </a:r>
              </a:p>
            </p:txBody>
          </p:sp>
        </p:grpSp>
        <p:grpSp>
          <p:nvGrpSpPr>
            <p:cNvPr id="62" name="lc-4"/>
            <p:cNvGrpSpPr/>
            <p:nvPr/>
          </p:nvGrpSpPr>
          <p:grpSpPr>
            <a:xfrm>
              <a:off x="190500" y="3048000"/>
              <a:ext cx="2095500" cy="647700"/>
              <a:chOff x="190500" y="3048000"/>
              <a:chExt cx="2095500" cy="647700"/>
            </a:xfrm>
          </p:grpSpPr>
          <p:sp>
            <p:nvSpPr>
              <p:cNvPr id="49" name="Rectangle 49"/>
              <p:cNvSpPr/>
              <p:nvPr/>
            </p:nvSpPr>
            <p:spPr>
              <a:xfrm>
                <a:off x="190500" y="3048000"/>
                <a:ext cx="2095500" cy="647700"/>
              </a:xfrm>
              <a:prstGeom prst="roundRect">
                <a:avLst>
                  <a:gd name="adj" fmla="val 8824"/>
                </a:avLst>
              </a:prstGeom>
              <a:solidFill>
                <a:srgbClr val="F6F9FD"/>
              </a:solidFill>
              <a:ln w="9525">
                <a:solidFill>
                  <a:srgbClr val="CFDFEE"/>
                </a:solidFill>
              </a:ln>
            </p:spPr>
          </p:sp>
          <p:grpSp>
            <p:nvGrpSpPr>
              <p:cNvPr id="58" name="Group 58"/>
              <p:cNvGrpSpPr/>
              <p:nvPr/>
            </p:nvGrpSpPr>
            <p:grpSpPr>
              <a:xfrm>
                <a:off x="316706" y="3278981"/>
                <a:ext cx="185737" cy="195262"/>
                <a:chOff x="316706" y="3278981"/>
                <a:chExt cx="185737" cy="195262"/>
              </a:xfrm>
            </p:grpSpPr>
            <p:sp>
              <p:nvSpPr>
                <p:cNvPr id="50" name="Freeform 50"/>
                <p:cNvSpPr/>
                <p:nvPr/>
              </p:nvSpPr>
              <p:spPr>
                <a:xfrm>
                  <a:off x="316706" y="3464718"/>
                  <a:ext cx="185737" cy="9525"/>
                </a:xfrm>
                <a:custGeom>
                  <a:avLst/>
                  <a:gdLst/>
                  <a:ahLst/>
                  <a:cxnLst/>
                  <a:rect l="l" t="t" r="r" b="b"/>
                  <a:pathLst>
                    <a:path w="185737" h="9525">
                      <a:moveTo>
                        <a:pt x="0" y="0"/>
                      </a:moveTo>
                      <a:lnTo>
                        <a:pt x="185737" y="0"/>
                      </a:lnTo>
                    </a:path>
                  </a:pathLst>
                </a:custGeom>
                <a:noFill/>
                <a:ln w="20637">
                  <a:solidFill>
                    <a:srgbClr val="92301C"/>
                  </a:solidFill>
                </a:ln>
              </p:spPr>
            </p:sp>
            <p:sp>
              <p:nvSpPr>
                <p:cNvPr id="51" name="Freeform 51"/>
                <p:cNvSpPr/>
                <p:nvPr/>
              </p:nvSpPr>
              <p:spPr>
                <a:xfrm>
                  <a:off x="378618" y="3330575"/>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52" name="Freeform 52"/>
                <p:cNvSpPr/>
                <p:nvPr/>
              </p:nvSpPr>
              <p:spPr>
                <a:xfrm>
                  <a:off x="378618" y="3371850"/>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53" name="Freeform 53"/>
                <p:cNvSpPr/>
                <p:nvPr/>
              </p:nvSpPr>
              <p:spPr>
                <a:xfrm>
                  <a:off x="378618" y="3413124"/>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54" name="Freeform 54"/>
                <p:cNvSpPr/>
                <p:nvPr/>
              </p:nvSpPr>
              <p:spPr>
                <a:xfrm>
                  <a:off x="430212" y="3330575"/>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55" name="Freeform 55"/>
                <p:cNvSpPr/>
                <p:nvPr/>
              </p:nvSpPr>
              <p:spPr>
                <a:xfrm>
                  <a:off x="430212" y="3371850"/>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56" name="Freeform 56"/>
                <p:cNvSpPr/>
                <p:nvPr/>
              </p:nvSpPr>
              <p:spPr>
                <a:xfrm>
                  <a:off x="430212" y="3413124"/>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57" name="Freeform 57"/>
                <p:cNvSpPr/>
                <p:nvPr/>
              </p:nvSpPr>
              <p:spPr>
                <a:xfrm>
                  <a:off x="337344" y="3278981"/>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path>
                  </a:pathLst>
                </a:custGeom>
                <a:noFill/>
                <a:ln w="20637">
                  <a:solidFill>
                    <a:srgbClr val="92301C"/>
                  </a:solidFill>
                </a:ln>
              </p:spPr>
            </p:sp>
          </p:grpSp>
          <p:sp>
            <p:nvSpPr>
              <p:cNvPr id="59" name="TextBox 59"/>
              <p:cNvSpPr txBox="1"/>
              <p:nvPr/>
            </p:nvSpPr>
            <p:spPr>
              <a:xfrm>
                <a:off x="623888" y="31372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工商司法</a:t>
                </a:r>
              </a:p>
            </p:txBody>
          </p:sp>
          <p:sp>
            <p:nvSpPr>
              <p:cNvPr id="60" name="TextBox 60"/>
              <p:cNvSpPr txBox="1"/>
              <p:nvPr/>
            </p:nvSpPr>
            <p:spPr>
              <a:xfrm>
                <a:off x="623888" y="33330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股权变更、质押抵押</a:t>
                </a:r>
              </a:p>
            </p:txBody>
          </p:sp>
          <p:sp>
            <p:nvSpPr>
              <p:cNvPr id="61" name="TextBox 61"/>
              <p:cNvSpPr txBox="1"/>
              <p:nvPr/>
            </p:nvSpPr>
            <p:spPr>
              <a:xfrm>
                <a:off x="623888" y="3475911"/>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司法诉讼、诚信信息</a:t>
                </a:r>
              </a:p>
            </p:txBody>
          </p:sp>
        </p:grpSp>
        <p:grpSp>
          <p:nvGrpSpPr>
            <p:cNvPr id="68" name="lc-5"/>
            <p:cNvGrpSpPr/>
            <p:nvPr/>
          </p:nvGrpSpPr>
          <p:grpSpPr>
            <a:xfrm>
              <a:off x="190500" y="3733800"/>
              <a:ext cx="2095500" cy="647700"/>
              <a:chOff x="190500" y="3733800"/>
              <a:chExt cx="2095500" cy="647700"/>
            </a:xfrm>
          </p:grpSpPr>
          <p:sp>
            <p:nvSpPr>
              <p:cNvPr id="63" name="Rectangle 63"/>
              <p:cNvSpPr/>
              <p:nvPr/>
            </p:nvSpPr>
            <p:spPr>
              <a:xfrm>
                <a:off x="190500" y="3733800"/>
                <a:ext cx="2095500" cy="647700"/>
              </a:xfrm>
              <a:prstGeom prst="roundRect">
                <a:avLst>
                  <a:gd name="adj" fmla="val 8824"/>
                </a:avLst>
              </a:prstGeom>
              <a:solidFill>
                <a:srgbClr val="F6F9FD"/>
              </a:solidFill>
              <a:ln w="9525">
                <a:solidFill>
                  <a:srgbClr val="CFDFEE"/>
                </a:solidFill>
              </a:ln>
            </p:spPr>
          </p:sp>
          <p:sp>
            <p:nvSpPr>
              <p:cNvPr id="64" name="Freeform 64"/>
              <p:cNvSpPr/>
              <p:nvPr/>
            </p:nvSpPr>
            <p:spPr>
              <a:xfrm>
                <a:off x="306140" y="3967103"/>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92301C"/>
                </a:solidFill>
              </a:ln>
            </p:spPr>
          </p:sp>
          <p:sp>
            <p:nvSpPr>
              <p:cNvPr id="65" name="TextBox 65"/>
              <p:cNvSpPr txBox="1"/>
              <p:nvPr/>
            </p:nvSpPr>
            <p:spPr>
              <a:xfrm>
                <a:off x="623888" y="38230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舆情信息</a:t>
                </a:r>
              </a:p>
            </p:txBody>
          </p:sp>
          <p:sp>
            <p:nvSpPr>
              <p:cNvPr id="66" name="TextBox 66"/>
              <p:cNvSpPr txBox="1"/>
              <p:nvPr/>
            </p:nvSpPr>
            <p:spPr>
              <a:xfrm>
                <a:off x="623888" y="40188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媒体报道、行业舆情</a:t>
                </a:r>
              </a:p>
            </p:txBody>
          </p:sp>
          <p:sp>
            <p:nvSpPr>
              <p:cNvPr id="67" name="TextBox 67"/>
              <p:cNvSpPr txBox="1"/>
              <p:nvPr/>
            </p:nvSpPr>
            <p:spPr>
              <a:xfrm>
                <a:off x="623888" y="4161711"/>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负面事件、市场情绪</a:t>
                </a:r>
              </a:p>
            </p:txBody>
          </p:sp>
        </p:grpSp>
        <p:grpSp>
          <p:nvGrpSpPr>
            <p:cNvPr id="76" name="lc-6"/>
            <p:cNvGrpSpPr/>
            <p:nvPr/>
          </p:nvGrpSpPr>
          <p:grpSpPr>
            <a:xfrm>
              <a:off x="190500" y="4419600"/>
              <a:ext cx="2095500" cy="647700"/>
              <a:chOff x="190500" y="4419600"/>
              <a:chExt cx="2095500" cy="647700"/>
            </a:xfrm>
          </p:grpSpPr>
          <p:sp>
            <p:nvSpPr>
              <p:cNvPr id="69" name="Rectangle 69"/>
              <p:cNvSpPr/>
              <p:nvPr/>
            </p:nvSpPr>
            <p:spPr>
              <a:xfrm>
                <a:off x="190500" y="4419600"/>
                <a:ext cx="2095500" cy="647700"/>
              </a:xfrm>
              <a:prstGeom prst="roundRect">
                <a:avLst>
                  <a:gd name="adj" fmla="val 8824"/>
                </a:avLst>
              </a:prstGeom>
              <a:solidFill>
                <a:srgbClr val="F6F9FD"/>
              </a:solidFill>
              <a:ln w="9525">
                <a:solidFill>
                  <a:srgbClr val="CFDFEE"/>
                </a:solidFill>
              </a:ln>
            </p:spPr>
          </p:sp>
          <p:grpSp>
            <p:nvGrpSpPr>
              <p:cNvPr id="72" name="Group 72"/>
              <p:cNvGrpSpPr/>
              <p:nvPr/>
            </p:nvGrpSpPr>
            <p:grpSpPr>
              <a:xfrm>
                <a:off x="316706" y="4671219"/>
                <a:ext cx="185737" cy="151789"/>
                <a:chOff x="316706" y="4671219"/>
                <a:chExt cx="185737" cy="151789"/>
              </a:xfrm>
            </p:grpSpPr>
            <p:sp>
              <p:nvSpPr>
                <p:cNvPr id="70" name="Freeform 70"/>
                <p:cNvSpPr/>
                <p:nvPr/>
              </p:nvSpPr>
              <p:spPr>
                <a:xfrm>
                  <a:off x="316706" y="4671219"/>
                  <a:ext cx="185737" cy="151789"/>
                </a:xfrm>
                <a:custGeom>
                  <a:avLst/>
                  <a:gdLst/>
                  <a:ahLst/>
                  <a:cxnLst/>
                  <a:rect l="l" t="t" r="r" b="b"/>
                  <a:pathLst>
                    <a:path w="185737" h="151789">
                      <a:moveTo>
                        <a:pt x="30956" y="0"/>
                      </a:moveTo>
                      <a:lnTo>
                        <a:pt x="154781" y="0"/>
                      </a:lnTo>
                      <a:lnTo>
                        <a:pt x="185737" y="51594"/>
                      </a:lnTo>
                      <a:lnTo>
                        <a:pt x="98028" y="149621"/>
                      </a:lnTo>
                      <a:cubicBezTo>
                        <a:pt x="96669" y="151008"/>
                        <a:pt x="94810" y="151789"/>
                        <a:pt x="92868" y="151789"/>
                      </a:cubicBezTo>
                      <a:cubicBezTo>
                        <a:pt x="90927" y="151789"/>
                        <a:pt x="89068" y="151008"/>
                        <a:pt x="87709" y="149621"/>
                      </a:cubicBezTo>
                      <a:lnTo>
                        <a:pt x="0" y="51594"/>
                      </a:lnTo>
                      <a:lnTo>
                        <a:pt x="30956" y="0"/>
                      </a:lnTo>
                    </a:path>
                  </a:pathLst>
                </a:custGeom>
                <a:noFill/>
                <a:ln w="20637">
                  <a:solidFill>
                    <a:srgbClr val="92301C"/>
                  </a:solidFill>
                </a:ln>
              </p:spPr>
            </p:sp>
            <p:sp>
              <p:nvSpPr>
                <p:cNvPr id="71" name="Freeform 71"/>
                <p:cNvSpPr/>
                <p:nvPr/>
              </p:nvSpPr>
              <p:spPr>
                <a:xfrm>
                  <a:off x="368300" y="4710430"/>
                  <a:ext cx="20637" cy="33020"/>
                </a:xfrm>
                <a:custGeom>
                  <a:avLst/>
                  <a:gdLst/>
                  <a:ahLst/>
                  <a:cxnLst/>
                  <a:rect l="l" t="t" r="r" b="b"/>
                  <a:pathLst>
                    <a:path w="20637" h="33020">
                      <a:moveTo>
                        <a:pt x="20637" y="33020"/>
                      </a:moveTo>
                      <a:lnTo>
                        <a:pt x="0" y="10319"/>
                      </a:lnTo>
                      <a:lnTo>
                        <a:pt x="6191" y="0"/>
                      </a:lnTo>
                    </a:path>
                  </a:pathLst>
                </a:custGeom>
                <a:noFill/>
                <a:ln w="20637">
                  <a:solidFill>
                    <a:srgbClr val="92301C"/>
                  </a:solidFill>
                </a:ln>
              </p:spPr>
            </p:sp>
          </p:grpSp>
          <p:sp>
            <p:nvSpPr>
              <p:cNvPr id="73" name="TextBox 73"/>
              <p:cNvSpPr txBox="1"/>
              <p:nvPr/>
            </p:nvSpPr>
            <p:spPr>
              <a:xfrm>
                <a:off x="623888" y="4508897"/>
                <a:ext cx="642239"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担保物信息</a:t>
                </a:r>
              </a:p>
            </p:txBody>
          </p:sp>
          <p:sp>
            <p:nvSpPr>
              <p:cNvPr id="74" name="TextBox 74"/>
              <p:cNvSpPr txBox="1"/>
              <p:nvPr/>
            </p:nvSpPr>
            <p:spPr>
              <a:xfrm>
                <a:off x="623888" y="4704636"/>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价值变化、权属状态</a:t>
                </a:r>
              </a:p>
            </p:txBody>
          </p:sp>
          <p:sp>
            <p:nvSpPr>
              <p:cNvPr id="75" name="TextBox 75"/>
              <p:cNvSpPr txBox="1"/>
              <p:nvPr/>
            </p:nvSpPr>
            <p:spPr>
              <a:xfrm>
                <a:off x="623888" y="4847511"/>
                <a:ext cx="96532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处置难度、流动性状况</a:t>
                </a:r>
              </a:p>
            </p:txBody>
          </p:sp>
        </p:grpSp>
      </p:grpSp>
      <p:grpSp>
        <p:nvGrpSpPr>
          <p:cNvPr id="165" name="mid-flow"/>
          <p:cNvGrpSpPr/>
          <p:nvPr/>
        </p:nvGrpSpPr>
        <p:grpSpPr>
          <a:xfrm>
            <a:off x="2381250" y="990600"/>
            <a:ext cx="5524500" cy="3105150"/>
            <a:chOff x="2381250" y="990600"/>
            <a:chExt cx="5524500" cy="3105150"/>
          </a:xfrm>
        </p:grpSpPr>
        <p:sp>
          <p:nvSpPr>
            <p:cNvPr id="78" name="Freeform 78"/>
            <p:cNvSpPr/>
            <p:nvPr/>
          </p:nvSpPr>
          <p:spPr>
            <a:xfrm>
              <a:off x="2381250" y="990600"/>
              <a:ext cx="952500" cy="647700"/>
            </a:xfrm>
            <a:prstGeom prst="homePlate">
              <a:avLst>
                <a:gd name="adj" fmla="val 30000"/>
              </a:avLst>
            </a:prstGeom>
            <a:solidFill>
              <a:srgbClr val="BB5D4A"/>
            </a:solidFill>
            <a:ln>
              <a:noFill/>
            </a:ln>
          </p:spPr>
        </p:sp>
        <p:sp>
          <p:nvSpPr>
            <p:cNvPr id="79" name="Freeform 79"/>
            <p:cNvSpPr/>
            <p:nvPr/>
          </p:nvSpPr>
          <p:spPr>
            <a:xfrm>
              <a:off x="3295650" y="990600"/>
              <a:ext cx="952500" cy="647700"/>
            </a:xfrm>
            <a:prstGeom prst="chevron">
              <a:avLst>
                <a:gd name="adj" fmla="val 30000"/>
              </a:avLst>
            </a:prstGeom>
            <a:solidFill>
              <a:srgbClr val="B7533F"/>
            </a:solidFill>
            <a:ln>
              <a:noFill/>
            </a:ln>
          </p:spPr>
        </p:sp>
        <p:sp>
          <p:nvSpPr>
            <p:cNvPr id="80" name="Freeform 80"/>
            <p:cNvSpPr/>
            <p:nvPr/>
          </p:nvSpPr>
          <p:spPr>
            <a:xfrm>
              <a:off x="4210050" y="990600"/>
              <a:ext cx="952500" cy="647700"/>
            </a:xfrm>
            <a:prstGeom prst="chevron">
              <a:avLst>
                <a:gd name="adj" fmla="val 30000"/>
              </a:avLst>
            </a:prstGeom>
            <a:solidFill>
              <a:srgbClr val="AB4935"/>
            </a:solidFill>
            <a:ln>
              <a:noFill/>
            </a:ln>
          </p:spPr>
        </p:sp>
        <p:sp>
          <p:nvSpPr>
            <p:cNvPr id="81" name="Freeform 81"/>
            <p:cNvSpPr/>
            <p:nvPr/>
          </p:nvSpPr>
          <p:spPr>
            <a:xfrm>
              <a:off x="5124450" y="990600"/>
              <a:ext cx="952500" cy="647700"/>
            </a:xfrm>
            <a:prstGeom prst="chevron">
              <a:avLst>
                <a:gd name="adj" fmla="val 30000"/>
              </a:avLst>
            </a:prstGeom>
            <a:solidFill>
              <a:srgbClr val="9F3F2B"/>
            </a:solidFill>
            <a:ln>
              <a:noFill/>
            </a:ln>
          </p:spPr>
        </p:sp>
        <p:sp>
          <p:nvSpPr>
            <p:cNvPr id="82" name="Freeform 82"/>
            <p:cNvSpPr/>
            <p:nvPr/>
          </p:nvSpPr>
          <p:spPr>
            <a:xfrm>
              <a:off x="6038850" y="990600"/>
              <a:ext cx="952500" cy="647700"/>
            </a:xfrm>
            <a:prstGeom prst="chevron">
              <a:avLst>
                <a:gd name="adj" fmla="val 30000"/>
              </a:avLst>
            </a:prstGeom>
            <a:solidFill>
              <a:srgbClr val="963622"/>
            </a:solidFill>
            <a:ln>
              <a:noFill/>
            </a:ln>
          </p:spPr>
        </p:sp>
        <p:sp>
          <p:nvSpPr>
            <p:cNvPr id="83" name="Freeform 83"/>
            <p:cNvSpPr/>
            <p:nvPr/>
          </p:nvSpPr>
          <p:spPr>
            <a:xfrm>
              <a:off x="6953250" y="990600"/>
              <a:ext cx="952500" cy="647700"/>
            </a:xfrm>
            <a:prstGeom prst="chevron">
              <a:avLst>
                <a:gd name="adj" fmla="val 30000"/>
              </a:avLst>
            </a:prstGeom>
            <a:solidFill>
              <a:srgbClr val="92301C"/>
            </a:solidFill>
            <a:ln>
              <a:noFill/>
            </a:ln>
          </p:spPr>
        </p:sp>
        <p:grpSp>
          <p:nvGrpSpPr>
            <p:cNvPr id="111" name="mf-labels"/>
            <p:cNvGrpSpPr/>
            <p:nvPr/>
          </p:nvGrpSpPr>
          <p:grpSpPr>
            <a:xfrm>
              <a:off x="2573566" y="1091194"/>
              <a:ext cx="5158918" cy="508768"/>
              <a:chOff x="2573566" y="1091194"/>
              <a:chExt cx="5158918" cy="508768"/>
            </a:xfrm>
          </p:grpSpPr>
          <p:grpSp>
            <p:nvGrpSpPr>
              <p:cNvPr id="87" name="Group 87"/>
              <p:cNvGrpSpPr/>
              <p:nvPr/>
            </p:nvGrpSpPr>
            <p:grpSpPr>
              <a:xfrm>
                <a:off x="2733675" y="1095375"/>
                <a:ext cx="152400" cy="171450"/>
                <a:chOff x="2733675" y="1095375"/>
                <a:chExt cx="152400" cy="171450"/>
              </a:xfrm>
            </p:grpSpPr>
            <p:sp>
              <p:nvSpPr>
                <p:cNvPr id="84" name="Freeform 84"/>
                <p:cNvSpPr/>
                <p:nvPr/>
              </p:nvSpPr>
              <p:spPr>
                <a:xfrm>
                  <a:off x="2733675" y="109537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FFFFFF"/>
                  </a:solidFill>
                </a:ln>
              </p:spPr>
            </p:sp>
            <p:sp>
              <p:nvSpPr>
                <p:cNvPr id="85" name="Freeform 85"/>
                <p:cNvSpPr/>
                <p:nvPr/>
              </p:nvSpPr>
              <p:spPr>
                <a:xfrm>
                  <a:off x="2733675" y="11239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sp>
              <p:nvSpPr>
                <p:cNvPr id="86" name="Freeform 86"/>
                <p:cNvSpPr/>
                <p:nvPr/>
              </p:nvSpPr>
              <p:spPr>
                <a:xfrm>
                  <a:off x="2733675" y="11811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grpSp>
          <p:sp>
            <p:nvSpPr>
              <p:cNvPr id="88" name="TextBox 88"/>
              <p:cNvSpPr txBox="1"/>
              <p:nvPr/>
            </p:nvSpPr>
            <p:spPr>
              <a:xfrm>
                <a:off x="2573566" y="14308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信号采集</a:t>
                </a:r>
              </a:p>
            </p:txBody>
          </p:sp>
          <p:grpSp>
            <p:nvGrpSpPr>
              <p:cNvPr id="91" name="Group 91"/>
              <p:cNvGrpSpPr/>
              <p:nvPr/>
            </p:nvGrpSpPr>
            <p:grpSpPr>
              <a:xfrm>
                <a:off x="3762375" y="1123950"/>
                <a:ext cx="152400" cy="133350"/>
                <a:chOff x="3762375" y="1123950"/>
                <a:chExt cx="152400" cy="133350"/>
              </a:xfrm>
            </p:grpSpPr>
            <p:sp>
              <p:nvSpPr>
                <p:cNvPr id="89" name="Freeform 89"/>
                <p:cNvSpPr/>
                <p:nvPr/>
              </p:nvSpPr>
              <p:spPr>
                <a:xfrm>
                  <a:off x="3762375" y="1247775"/>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90" name="Freeform 90"/>
                <p:cNvSpPr/>
                <p:nvPr/>
              </p:nvSpPr>
              <p:spPr>
                <a:xfrm>
                  <a:off x="3762375" y="11239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FFFF"/>
                  </a:solidFill>
                </a:ln>
              </p:spPr>
            </p:sp>
          </p:grpSp>
          <p:sp>
            <p:nvSpPr>
              <p:cNvPr id="92" name="TextBox 92"/>
              <p:cNvSpPr txBox="1"/>
              <p:nvPr/>
            </p:nvSpPr>
            <p:spPr>
              <a:xfrm>
                <a:off x="3602266" y="14308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异常识别</a:t>
                </a:r>
              </a:p>
            </p:txBody>
          </p:sp>
          <p:grpSp>
            <p:nvGrpSpPr>
              <p:cNvPr id="95" name="Group 95"/>
              <p:cNvGrpSpPr/>
              <p:nvPr/>
            </p:nvGrpSpPr>
            <p:grpSpPr>
              <a:xfrm>
                <a:off x="4667250" y="1095375"/>
                <a:ext cx="171450" cy="171450"/>
                <a:chOff x="4667250" y="1095375"/>
                <a:chExt cx="171450" cy="171450"/>
              </a:xfrm>
            </p:grpSpPr>
            <p:sp>
              <p:nvSpPr>
                <p:cNvPr id="93" name="Freeform 93"/>
                <p:cNvSpPr/>
                <p:nvPr/>
              </p:nvSpPr>
              <p:spPr>
                <a:xfrm>
                  <a:off x="4667250" y="1095375"/>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19050">
                  <a:solidFill>
                    <a:srgbClr val="FFFFFF"/>
                  </a:solidFill>
                </a:ln>
              </p:spPr>
            </p:sp>
            <p:sp>
              <p:nvSpPr>
                <p:cNvPr id="94" name="Freeform 94"/>
                <p:cNvSpPr/>
                <p:nvPr/>
              </p:nvSpPr>
              <p:spPr>
                <a:xfrm>
                  <a:off x="4781550" y="1209675"/>
                  <a:ext cx="57150" cy="57150"/>
                </a:xfrm>
                <a:custGeom>
                  <a:avLst/>
                  <a:gdLst/>
                  <a:ahLst/>
                  <a:cxnLst/>
                  <a:rect l="l" t="t" r="r" b="b"/>
                  <a:pathLst>
                    <a:path w="57150" h="57150">
                      <a:moveTo>
                        <a:pt x="57150" y="57150"/>
                      </a:moveTo>
                      <a:lnTo>
                        <a:pt x="0" y="0"/>
                      </a:lnTo>
                    </a:path>
                  </a:pathLst>
                </a:custGeom>
                <a:noFill/>
                <a:ln w="19050">
                  <a:solidFill>
                    <a:srgbClr val="FFFFFF"/>
                  </a:solidFill>
                </a:ln>
              </p:spPr>
            </p:sp>
          </p:grpSp>
          <p:sp>
            <p:nvSpPr>
              <p:cNvPr id="96" name="TextBox 96"/>
              <p:cNvSpPr txBox="1"/>
              <p:nvPr/>
            </p:nvSpPr>
            <p:spPr>
              <a:xfrm>
                <a:off x="4516666" y="14308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风险归因</a:t>
                </a:r>
              </a:p>
            </p:txBody>
          </p:sp>
          <p:grpSp>
            <p:nvGrpSpPr>
              <p:cNvPr id="100" name="Group 100"/>
              <p:cNvGrpSpPr/>
              <p:nvPr/>
            </p:nvGrpSpPr>
            <p:grpSpPr>
              <a:xfrm>
                <a:off x="5571314" y="1092211"/>
                <a:ext cx="192114" cy="165051"/>
                <a:chOff x="5571314" y="1092211"/>
                <a:chExt cx="192114" cy="165051"/>
              </a:xfrm>
            </p:grpSpPr>
            <p:sp>
              <p:nvSpPr>
                <p:cNvPr id="97" name="Freeform 97"/>
                <p:cNvSpPr/>
                <p:nvPr/>
              </p:nvSpPr>
              <p:spPr>
                <a:xfrm>
                  <a:off x="5667375" y="1152525"/>
                  <a:ext cx="9525" cy="38100"/>
                </a:xfrm>
                <a:custGeom>
                  <a:avLst/>
                  <a:gdLst/>
                  <a:ahLst/>
                  <a:cxnLst/>
                  <a:rect l="l" t="t" r="r" b="b"/>
                  <a:pathLst>
                    <a:path w="9525" h="38100">
                      <a:moveTo>
                        <a:pt x="0" y="0"/>
                      </a:moveTo>
                      <a:lnTo>
                        <a:pt x="0" y="38100"/>
                      </a:lnTo>
                    </a:path>
                  </a:pathLst>
                </a:custGeom>
                <a:noFill/>
                <a:ln w="19050">
                  <a:solidFill>
                    <a:srgbClr val="FFFFFF"/>
                  </a:solidFill>
                </a:ln>
              </p:spPr>
            </p:sp>
            <p:sp>
              <p:nvSpPr>
                <p:cNvPr id="98" name="Freeform 98"/>
                <p:cNvSpPr/>
                <p:nvPr/>
              </p:nvSpPr>
              <p:spPr>
                <a:xfrm>
                  <a:off x="5571314" y="1092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FFFFFF"/>
                  </a:solidFill>
                </a:ln>
              </p:spPr>
            </p:sp>
            <p:sp>
              <p:nvSpPr>
                <p:cNvPr id="99" name="Freeform 99"/>
                <p:cNvSpPr/>
                <p:nvPr/>
              </p:nvSpPr>
              <p:spPr>
                <a:xfrm>
                  <a:off x="5667375" y="1219200"/>
                  <a:ext cx="9525" cy="9525"/>
                </a:xfrm>
                <a:custGeom>
                  <a:avLst/>
                  <a:gdLst/>
                  <a:ahLst/>
                  <a:cxnLst/>
                  <a:rect l="l" t="t" r="r" b="b"/>
                  <a:pathLst>
                    <a:path w="9525" h="9525">
                      <a:moveTo>
                        <a:pt x="0" y="0"/>
                      </a:moveTo>
                      <a:lnTo>
                        <a:pt x="95" y="0"/>
                      </a:lnTo>
                    </a:path>
                  </a:pathLst>
                </a:custGeom>
                <a:noFill/>
                <a:ln w="19050">
                  <a:solidFill>
                    <a:srgbClr val="FFFFFF"/>
                  </a:solidFill>
                </a:ln>
              </p:spPr>
            </p:sp>
          </p:grpSp>
          <p:sp>
            <p:nvSpPr>
              <p:cNvPr id="101" name="TextBox 101"/>
              <p:cNvSpPr txBox="1"/>
              <p:nvPr/>
            </p:nvSpPr>
            <p:spPr>
              <a:xfrm>
                <a:off x="5431066" y="14308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预警分级</a:t>
                </a:r>
              </a:p>
            </p:txBody>
          </p:sp>
          <p:grpSp>
            <p:nvGrpSpPr>
              <p:cNvPr id="105" name="Group 105"/>
              <p:cNvGrpSpPr/>
              <p:nvPr/>
            </p:nvGrpSpPr>
            <p:grpSpPr>
              <a:xfrm>
                <a:off x="6515100" y="1095375"/>
                <a:ext cx="133350" cy="171450"/>
                <a:chOff x="6515100" y="1095375"/>
                <a:chExt cx="133350" cy="171450"/>
              </a:xfrm>
            </p:grpSpPr>
            <p:sp>
              <p:nvSpPr>
                <p:cNvPr id="102" name="Freeform 102"/>
                <p:cNvSpPr/>
                <p:nvPr/>
              </p:nvSpPr>
              <p:spPr>
                <a:xfrm>
                  <a:off x="6515100" y="1114425"/>
                  <a:ext cx="133350" cy="152400"/>
                </a:xfrm>
                <a:custGeom>
                  <a:avLst/>
                  <a:gdLst/>
                  <a:ahLst/>
                  <a:cxnLst/>
                  <a:rect l="l" t="t" r="r" b="b"/>
                  <a:pathLst>
                    <a:path w="133350" h="152400">
                      <a:moveTo>
                        <a:pt x="38100" y="0"/>
                      </a:moveTo>
                      <a:lnTo>
                        <a:pt x="19050" y="0"/>
                      </a:lnTo>
                      <a:cubicBezTo>
                        <a:pt x="8529" y="0"/>
                        <a:pt x="0" y="8529"/>
                        <a:pt x="0" y="19050"/>
                      </a:cubicBezTo>
                      <a:lnTo>
                        <a:pt x="0" y="133350"/>
                      </a:lnTo>
                      <a:cubicBezTo>
                        <a:pt x="0" y="143871"/>
                        <a:pt x="8529" y="152400"/>
                        <a:pt x="19050" y="152400"/>
                      </a:cubicBezTo>
                      <a:lnTo>
                        <a:pt x="114300" y="152400"/>
                      </a:lnTo>
                      <a:cubicBezTo>
                        <a:pt x="124821" y="152400"/>
                        <a:pt x="133350" y="143871"/>
                        <a:pt x="133350" y="133350"/>
                      </a:cubicBezTo>
                      <a:lnTo>
                        <a:pt x="133350" y="19050"/>
                      </a:lnTo>
                      <a:cubicBezTo>
                        <a:pt x="133350" y="8529"/>
                        <a:pt x="124821" y="0"/>
                        <a:pt x="114300" y="0"/>
                      </a:cubicBezTo>
                      <a:lnTo>
                        <a:pt x="95250" y="0"/>
                      </a:lnTo>
                    </a:path>
                  </a:pathLst>
                </a:custGeom>
                <a:noFill/>
                <a:ln w="19050">
                  <a:solidFill>
                    <a:srgbClr val="FFFFFF"/>
                  </a:solidFill>
                </a:ln>
              </p:spPr>
            </p:sp>
            <p:sp>
              <p:nvSpPr>
                <p:cNvPr id="103" name="Freeform 103"/>
                <p:cNvSpPr/>
                <p:nvPr/>
              </p:nvSpPr>
              <p:spPr>
                <a:xfrm>
                  <a:off x="6553200" y="1095375"/>
                  <a:ext cx="57150" cy="38100"/>
                </a:xfrm>
                <a:custGeom>
                  <a:avLst/>
                  <a:gdLst/>
                  <a:ahLst/>
                  <a:cxnLst/>
                  <a:rect l="l" t="t" r="r" b="b"/>
                  <a:pathLst>
                    <a:path w="57150" h="38100">
                      <a:moveTo>
                        <a:pt x="0" y="19050"/>
                      </a:moveTo>
                      <a:cubicBezTo>
                        <a:pt x="0" y="8529"/>
                        <a:pt x="8529" y="0"/>
                        <a:pt x="19050" y="0"/>
                      </a:cubicBezTo>
                      <a:lnTo>
                        <a:pt x="38100" y="0"/>
                      </a:lnTo>
                      <a:cubicBezTo>
                        <a:pt x="48621" y="0"/>
                        <a:pt x="57150" y="8529"/>
                        <a:pt x="57150" y="19050"/>
                      </a:cubicBezTo>
                      <a:cubicBezTo>
                        <a:pt x="57150" y="29571"/>
                        <a:pt x="48621" y="38100"/>
                        <a:pt x="38100" y="38100"/>
                      </a:cubicBezTo>
                      <a:lnTo>
                        <a:pt x="19050" y="38100"/>
                      </a:lnTo>
                      <a:cubicBezTo>
                        <a:pt x="8529" y="38100"/>
                        <a:pt x="0" y="29571"/>
                        <a:pt x="0" y="19050"/>
                      </a:cubicBezTo>
                    </a:path>
                  </a:pathLst>
                </a:custGeom>
                <a:noFill/>
                <a:ln w="19050">
                  <a:solidFill>
                    <a:srgbClr val="FFFFFF"/>
                  </a:solidFill>
                </a:ln>
              </p:spPr>
            </p:sp>
            <p:sp>
              <p:nvSpPr>
                <p:cNvPr id="104" name="Freeform 104"/>
                <p:cNvSpPr/>
                <p:nvPr/>
              </p:nvSpPr>
              <p:spPr>
                <a:xfrm>
                  <a:off x="6553200" y="1181100"/>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106" name="TextBox 106"/>
              <p:cNvSpPr txBox="1"/>
              <p:nvPr/>
            </p:nvSpPr>
            <p:spPr>
              <a:xfrm>
                <a:off x="6345466" y="14308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检查任务</a:t>
                </a:r>
              </a:p>
            </p:txBody>
          </p:sp>
          <p:grpSp>
            <p:nvGrpSpPr>
              <p:cNvPr id="109" name="Group 109"/>
              <p:cNvGrpSpPr/>
              <p:nvPr/>
            </p:nvGrpSpPr>
            <p:grpSpPr>
              <a:xfrm>
                <a:off x="7406269" y="1091194"/>
                <a:ext cx="179813" cy="179813"/>
                <a:chOff x="7406269" y="1091194"/>
                <a:chExt cx="179813" cy="179813"/>
              </a:xfrm>
            </p:grpSpPr>
            <p:sp>
              <p:nvSpPr>
                <p:cNvPr id="107" name="Freeform 107"/>
                <p:cNvSpPr/>
                <p:nvPr/>
              </p:nvSpPr>
              <p:spPr>
                <a:xfrm>
                  <a:off x="7406269" y="109119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FFFFFF"/>
                  </a:solidFill>
                </a:ln>
              </p:spPr>
            </p:sp>
            <p:sp>
              <p:nvSpPr>
                <p:cNvPr id="108" name="Freeform 108"/>
                <p:cNvSpPr/>
                <p:nvPr/>
              </p:nvSpPr>
              <p:spPr>
                <a:xfrm>
                  <a:off x="7467600" y="11525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FFFFFF"/>
                  </a:solidFill>
                </a:ln>
              </p:spPr>
            </p:sp>
          </p:grpSp>
          <p:sp>
            <p:nvSpPr>
              <p:cNvPr id="110" name="TextBox 110"/>
              <p:cNvSpPr txBox="1"/>
              <p:nvPr/>
            </p:nvSpPr>
            <p:spPr>
              <a:xfrm>
                <a:off x="7259866" y="14308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处置跟踪</a:t>
                </a:r>
              </a:p>
            </p:txBody>
          </p:sp>
        </p:grpSp>
        <p:grpSp>
          <p:nvGrpSpPr>
            <p:cNvPr id="136" name="mf-bullets"/>
            <p:cNvGrpSpPr/>
            <p:nvPr/>
          </p:nvGrpSpPr>
          <p:grpSpPr>
            <a:xfrm>
              <a:off x="2414588" y="1813084"/>
              <a:ext cx="5264125" cy="819150"/>
              <a:chOff x="2414588" y="1813084"/>
              <a:chExt cx="5264125" cy="819150"/>
            </a:xfrm>
          </p:grpSpPr>
          <p:sp>
            <p:nvSpPr>
              <p:cNvPr id="112" name="TextBox 112"/>
              <p:cNvSpPr txBox="1"/>
              <p:nvPr/>
            </p:nvSpPr>
            <p:spPr>
              <a:xfrm>
                <a:off x="2414588" y="18130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多源数据接入</a:t>
                </a:r>
              </a:p>
            </p:txBody>
          </p:sp>
          <p:sp>
            <p:nvSpPr>
              <p:cNvPr id="113" name="TextBox 113"/>
              <p:cNvSpPr txBox="1"/>
              <p:nvPr/>
            </p:nvSpPr>
            <p:spPr>
              <a:xfrm>
                <a:off x="2414588" y="2041684"/>
                <a:ext cx="685322"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实时/定期采集</a:t>
                </a:r>
              </a:p>
            </p:txBody>
          </p:sp>
          <p:sp>
            <p:nvSpPr>
              <p:cNvPr id="114" name="TextBox 114"/>
              <p:cNvSpPr txBox="1"/>
              <p:nvPr/>
            </p:nvSpPr>
            <p:spPr>
              <a:xfrm>
                <a:off x="2414588" y="22702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数据清洗整合</a:t>
                </a:r>
              </a:p>
            </p:txBody>
          </p:sp>
          <p:sp>
            <p:nvSpPr>
              <p:cNvPr id="115" name="TextBox 115"/>
              <p:cNvSpPr txBox="1"/>
              <p:nvPr/>
            </p:nvSpPr>
            <p:spPr>
              <a:xfrm>
                <a:off x="2414588" y="24988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构建客户画像</a:t>
                </a:r>
              </a:p>
            </p:txBody>
          </p:sp>
          <p:sp>
            <p:nvSpPr>
              <p:cNvPr id="116" name="TextBox 116"/>
              <p:cNvSpPr txBox="1"/>
              <p:nvPr/>
            </p:nvSpPr>
            <p:spPr>
              <a:xfrm>
                <a:off x="3386138" y="1813084"/>
                <a:ext cx="691303"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j-lt"/>
                    <a:ea typeface="+mj-ea"/>
                    <a:cs typeface="+mj-cs"/>
                  </a:rPr>
                  <a:t xml:space="preserve">规则+AI模型　</a:t>
                </a:r>
              </a:p>
            </p:txBody>
          </p:sp>
          <p:sp>
            <p:nvSpPr>
              <p:cNvPr id="117" name="TextBox 117"/>
              <p:cNvSpPr txBox="1"/>
              <p:nvPr/>
            </p:nvSpPr>
            <p:spPr>
              <a:xfrm>
                <a:off x="3386138" y="20416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识别异常信号</a:t>
                </a:r>
              </a:p>
            </p:txBody>
          </p:sp>
          <p:sp>
            <p:nvSpPr>
              <p:cNvPr id="118" name="TextBox 118"/>
              <p:cNvSpPr txBox="1"/>
              <p:nvPr/>
            </p:nvSpPr>
            <p:spPr>
              <a:xfrm>
                <a:off x="3386138" y="227028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多维度交叉验证</a:t>
                </a:r>
              </a:p>
            </p:txBody>
          </p:sp>
          <p:sp>
            <p:nvSpPr>
              <p:cNvPr id="119" name="TextBox 119"/>
              <p:cNvSpPr txBox="1"/>
              <p:nvPr/>
            </p:nvSpPr>
            <p:spPr>
              <a:xfrm>
                <a:off x="3386138" y="24988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过滤噪声干扰</a:t>
                </a:r>
              </a:p>
            </p:txBody>
          </p:sp>
          <p:sp>
            <p:nvSpPr>
              <p:cNvPr id="120" name="TextBox 120"/>
              <p:cNvSpPr txBox="1"/>
              <p:nvPr/>
            </p:nvSpPr>
            <p:spPr>
              <a:xfrm>
                <a:off x="4300538" y="18130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定位风险来源</a:t>
                </a:r>
              </a:p>
            </p:txBody>
          </p:sp>
          <p:sp>
            <p:nvSpPr>
              <p:cNvPr id="121" name="TextBox 121"/>
              <p:cNvSpPr txBox="1"/>
              <p:nvPr/>
            </p:nvSpPr>
            <p:spPr>
              <a:xfrm>
                <a:off x="4300538" y="20416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识别异常路径</a:t>
                </a:r>
              </a:p>
            </p:txBody>
          </p:sp>
          <p:sp>
            <p:nvSpPr>
              <p:cNvPr id="122" name="TextBox 122"/>
              <p:cNvSpPr txBox="1"/>
              <p:nvPr/>
            </p:nvSpPr>
            <p:spPr>
              <a:xfrm>
                <a:off x="4300538" y="22702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评估潜在影响</a:t>
                </a:r>
              </a:p>
            </p:txBody>
          </p:sp>
          <p:sp>
            <p:nvSpPr>
              <p:cNvPr id="123" name="TextBox 123"/>
              <p:cNvSpPr txBox="1"/>
              <p:nvPr/>
            </p:nvSpPr>
            <p:spPr>
              <a:xfrm>
                <a:off x="4300538" y="24988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形成风险标签</a:t>
                </a:r>
              </a:p>
            </p:txBody>
          </p:sp>
          <p:sp>
            <p:nvSpPr>
              <p:cNvPr id="124" name="TextBox 124"/>
              <p:cNvSpPr txBox="1"/>
              <p:nvPr/>
            </p:nvSpPr>
            <p:spPr>
              <a:xfrm>
                <a:off x="5214938" y="1813084"/>
                <a:ext cx="64412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低/中/高三级</a:t>
                </a:r>
              </a:p>
            </p:txBody>
          </p:sp>
          <p:sp>
            <p:nvSpPr>
              <p:cNvPr id="125" name="TextBox 125"/>
              <p:cNvSpPr txBox="1"/>
              <p:nvPr/>
            </p:nvSpPr>
            <p:spPr>
              <a:xfrm>
                <a:off x="5214938" y="20416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设定预警阈值</a:t>
                </a:r>
              </a:p>
            </p:txBody>
          </p:sp>
          <p:sp>
            <p:nvSpPr>
              <p:cNvPr id="126" name="TextBox 126"/>
              <p:cNvSpPr txBox="1"/>
              <p:nvPr/>
            </p:nvSpPr>
            <p:spPr>
              <a:xfrm>
                <a:off x="5214938" y="22702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匹配处置策略</a:t>
                </a:r>
              </a:p>
            </p:txBody>
          </p:sp>
          <p:sp>
            <p:nvSpPr>
              <p:cNvPr id="127" name="TextBox 127"/>
              <p:cNvSpPr txBox="1"/>
              <p:nvPr/>
            </p:nvSpPr>
            <p:spPr>
              <a:xfrm>
                <a:off x="5214938" y="24988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推送责任人员</a:t>
                </a:r>
              </a:p>
            </p:txBody>
          </p:sp>
          <p:sp>
            <p:nvSpPr>
              <p:cNvPr id="128" name="TextBox 128"/>
              <p:cNvSpPr txBox="1"/>
              <p:nvPr/>
            </p:nvSpPr>
            <p:spPr>
              <a:xfrm>
                <a:off x="6129338" y="18130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自动生成任务</a:t>
                </a:r>
              </a:p>
            </p:txBody>
          </p:sp>
          <p:sp>
            <p:nvSpPr>
              <p:cNvPr id="129" name="TextBox 129"/>
              <p:cNvSpPr txBox="1"/>
              <p:nvPr/>
            </p:nvSpPr>
            <p:spPr>
              <a:xfrm>
                <a:off x="6129338" y="20416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设定核查重点</a:t>
                </a:r>
              </a:p>
            </p:txBody>
          </p:sp>
          <p:sp>
            <p:nvSpPr>
              <p:cNvPr id="130" name="TextBox 130"/>
              <p:cNvSpPr txBox="1"/>
              <p:nvPr/>
            </p:nvSpPr>
            <p:spPr>
              <a:xfrm>
                <a:off x="6129338" y="22702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设定完成时限</a:t>
                </a:r>
              </a:p>
            </p:txBody>
          </p:sp>
          <p:sp>
            <p:nvSpPr>
              <p:cNvPr id="131" name="TextBox 131"/>
              <p:cNvSpPr txBox="1"/>
              <p:nvPr/>
            </p:nvSpPr>
            <p:spPr>
              <a:xfrm>
                <a:off x="6129338" y="24988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跟进任务进度</a:t>
                </a:r>
              </a:p>
            </p:txBody>
          </p:sp>
          <p:sp>
            <p:nvSpPr>
              <p:cNvPr id="132" name="TextBox 132"/>
              <p:cNvSpPr txBox="1"/>
              <p:nvPr/>
            </p:nvSpPr>
            <p:spPr>
              <a:xfrm>
                <a:off x="7043738" y="18130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记录处置措施</a:t>
                </a:r>
              </a:p>
            </p:txBody>
          </p:sp>
          <p:sp>
            <p:nvSpPr>
              <p:cNvPr id="133" name="TextBox 133"/>
              <p:cNvSpPr txBox="1"/>
              <p:nvPr/>
            </p:nvSpPr>
            <p:spPr>
              <a:xfrm>
                <a:off x="7043738" y="20416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跟踪整改进展</a:t>
                </a:r>
              </a:p>
            </p:txBody>
          </p:sp>
          <p:sp>
            <p:nvSpPr>
              <p:cNvPr id="134" name="TextBox 134"/>
              <p:cNvSpPr txBox="1"/>
              <p:nvPr/>
            </p:nvSpPr>
            <p:spPr>
              <a:xfrm>
                <a:off x="7043738" y="22702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评估处置效果</a:t>
                </a:r>
              </a:p>
            </p:txBody>
          </p:sp>
          <p:sp>
            <p:nvSpPr>
              <p:cNvPr id="135" name="TextBox 135"/>
              <p:cNvSpPr txBox="1"/>
              <p:nvPr/>
            </p:nvSpPr>
            <p:spPr>
              <a:xfrm>
                <a:off x="7043738" y="24988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闭环管理归档</a:t>
                </a:r>
              </a:p>
            </p:txBody>
          </p:sp>
        </p:grpSp>
        <p:sp>
          <p:nvSpPr>
            <p:cNvPr id="137" name="Line 137"/>
            <p:cNvSpPr/>
            <p:nvPr/>
          </p:nvSpPr>
          <p:spPr>
            <a:xfrm>
              <a:off x="2495550" y="2914650"/>
              <a:ext cx="1695450" cy="1"/>
            </a:xfrm>
            <a:prstGeom prst="line">
              <a:avLst/>
            </a:prstGeom>
            <a:noFill/>
            <a:ln w="14288">
              <a:solidFill>
                <a:srgbClr val="92301C"/>
              </a:solidFill>
              <a:headEnd type="triangle" w="lg" len="lg"/>
            </a:ln>
          </p:spPr>
        </p:sp>
        <p:sp>
          <p:nvSpPr>
            <p:cNvPr id="138" name="Line 138"/>
            <p:cNvSpPr/>
            <p:nvPr/>
          </p:nvSpPr>
          <p:spPr>
            <a:xfrm>
              <a:off x="6096000" y="2914650"/>
              <a:ext cx="1695450" cy="1"/>
            </a:xfrm>
            <a:prstGeom prst="line">
              <a:avLst/>
            </a:prstGeom>
            <a:noFill/>
            <a:ln w="14288">
              <a:solidFill>
                <a:srgbClr val="92301C"/>
              </a:solidFill>
              <a:tailEnd type="triangle" w="lg" len="lg"/>
            </a:ln>
          </p:spPr>
        </p:sp>
        <p:sp>
          <p:nvSpPr>
            <p:cNvPr id="139" name="TextBox 139"/>
            <p:cNvSpPr txBox="1"/>
            <p:nvPr/>
          </p:nvSpPr>
          <p:spPr>
            <a:xfrm>
              <a:off x="4187679" y="2857024"/>
              <a:ext cx="1911642" cy="190690"/>
            </a:xfrm>
            <a:prstGeom prst="rect">
              <a:avLst/>
            </a:prstGeom>
            <a:noFill/>
            <a:ln>
              <a:noFill/>
            </a:ln>
          </p:spPr>
          <p:txBody>
            <a:bodyPr wrap="none" lIns="0" tIns="0" rIns="0" bIns="0" anchor="t" anchorCtr="0">
              <a:spAutoFit/>
            </a:bodyPr>
            <a:lstStyle/>
            <a:p>
              <a:pPr algn="ctr"/>
              <a:r>
                <a:rPr lang="zh-CN" sz="980" b="1" dirty="0">
                  <a:solidFill>
                    <a:srgbClr val="6B1B0B"/>
                  </a:solidFill>
                  <a:latin typeface="+mn-lt"/>
                  <a:ea typeface="+mn-ea"/>
                  <a:cs typeface="+mn-cs"/>
                </a:rPr>
                <a:t>数据驱动 · 智能识别 · 闭环管理</a:t>
              </a:r>
            </a:p>
          </p:txBody>
        </p:sp>
        <p:sp>
          <p:nvSpPr>
            <p:cNvPr id="140" name="Rectangle 140"/>
            <p:cNvSpPr/>
            <p:nvPr/>
          </p:nvSpPr>
          <p:spPr>
            <a:xfrm>
              <a:off x="2381250" y="3143250"/>
              <a:ext cx="5524500" cy="952500"/>
            </a:xfrm>
            <a:prstGeom prst="roundRect">
              <a:avLst>
                <a:gd name="adj" fmla="val 8000"/>
              </a:avLst>
            </a:prstGeom>
            <a:solidFill>
              <a:srgbClr val="EEF5FB"/>
            </a:solidFill>
            <a:ln>
              <a:noFill/>
            </a:ln>
          </p:spPr>
        </p:sp>
        <p:grpSp>
          <p:nvGrpSpPr>
            <p:cNvPr id="147" name="Group 147"/>
            <p:cNvGrpSpPr/>
            <p:nvPr/>
          </p:nvGrpSpPr>
          <p:grpSpPr>
            <a:xfrm>
              <a:off x="2638425" y="3476625"/>
              <a:ext cx="285751" cy="285750"/>
              <a:chOff x="2638425" y="3476625"/>
              <a:chExt cx="285751" cy="285750"/>
            </a:xfrm>
          </p:grpSpPr>
          <p:sp>
            <p:nvSpPr>
              <p:cNvPr id="141" name="Freeform 141"/>
              <p:cNvSpPr/>
              <p:nvPr/>
            </p:nvSpPr>
            <p:spPr>
              <a:xfrm>
                <a:off x="2781300" y="3635375"/>
                <a:ext cx="111125" cy="127000"/>
              </a:xfrm>
              <a:custGeom>
                <a:avLst/>
                <a:gdLst/>
                <a:ahLst/>
                <a:cxnLst/>
                <a:rect l="l" t="t" r="r" b="b"/>
                <a:pathLst>
                  <a:path w="111125" h="127000">
                    <a:moveTo>
                      <a:pt x="55563" y="0"/>
                    </a:moveTo>
                    <a:cubicBezTo>
                      <a:pt x="24876" y="0"/>
                      <a:pt x="0" y="24876"/>
                      <a:pt x="0" y="55563"/>
                    </a:cubicBezTo>
                    <a:lnTo>
                      <a:pt x="0" y="71438"/>
                    </a:lnTo>
                    <a:cubicBezTo>
                      <a:pt x="0" y="102124"/>
                      <a:pt x="24876" y="127000"/>
                      <a:pt x="55563" y="127000"/>
                    </a:cubicBezTo>
                    <a:cubicBezTo>
                      <a:pt x="86249" y="127000"/>
                      <a:pt x="111125" y="102124"/>
                      <a:pt x="111125" y="71438"/>
                    </a:cubicBezTo>
                    <a:lnTo>
                      <a:pt x="111125" y="42863"/>
                    </a:lnTo>
                  </a:path>
                </a:pathLst>
              </a:custGeom>
              <a:noFill/>
              <a:ln w="31750">
                <a:solidFill>
                  <a:srgbClr val="92301C"/>
                </a:solidFill>
              </a:ln>
            </p:spPr>
          </p:sp>
          <p:sp>
            <p:nvSpPr>
              <p:cNvPr id="142" name="Freeform 142"/>
              <p:cNvSpPr/>
              <p:nvPr/>
            </p:nvSpPr>
            <p:spPr>
              <a:xfrm>
                <a:off x="2670175" y="3635375"/>
                <a:ext cx="111125" cy="127000"/>
              </a:xfrm>
              <a:custGeom>
                <a:avLst/>
                <a:gdLst/>
                <a:ahLst/>
                <a:cxnLst/>
                <a:rect l="l" t="t" r="r" b="b"/>
                <a:pathLst>
                  <a:path w="111125" h="127000">
                    <a:moveTo>
                      <a:pt x="55563" y="0"/>
                    </a:moveTo>
                    <a:cubicBezTo>
                      <a:pt x="86249" y="0"/>
                      <a:pt x="111125" y="24876"/>
                      <a:pt x="111125" y="55563"/>
                    </a:cubicBezTo>
                    <a:lnTo>
                      <a:pt x="111125" y="71438"/>
                    </a:lnTo>
                    <a:cubicBezTo>
                      <a:pt x="111125" y="102124"/>
                      <a:pt x="86249" y="127000"/>
                      <a:pt x="55563" y="127000"/>
                    </a:cubicBezTo>
                    <a:cubicBezTo>
                      <a:pt x="24876" y="127000"/>
                      <a:pt x="0" y="102124"/>
                      <a:pt x="0" y="71438"/>
                    </a:cubicBezTo>
                    <a:lnTo>
                      <a:pt x="0" y="42863"/>
                    </a:lnTo>
                  </a:path>
                </a:pathLst>
              </a:custGeom>
              <a:noFill/>
              <a:ln w="31750">
                <a:solidFill>
                  <a:srgbClr val="92301C"/>
                </a:solidFill>
              </a:ln>
            </p:spPr>
          </p:sp>
          <p:sp>
            <p:nvSpPr>
              <p:cNvPr id="143" name="Freeform 143"/>
              <p:cNvSpPr/>
              <p:nvPr/>
            </p:nvSpPr>
            <p:spPr>
              <a:xfrm>
                <a:off x="2860676" y="3571875"/>
                <a:ext cx="63500" cy="111125"/>
              </a:xfrm>
              <a:custGeom>
                <a:avLst/>
                <a:gdLst/>
                <a:ahLst/>
                <a:cxnLst/>
                <a:rect l="l" t="t" r="r" b="b"/>
                <a:pathLst>
                  <a:path w="63500" h="111125">
                    <a:moveTo>
                      <a:pt x="7938" y="111125"/>
                    </a:moveTo>
                    <a:cubicBezTo>
                      <a:pt x="38624" y="111125"/>
                      <a:pt x="63500" y="86249"/>
                      <a:pt x="63500" y="55563"/>
                    </a:cubicBezTo>
                    <a:cubicBezTo>
                      <a:pt x="63500" y="24876"/>
                      <a:pt x="38624" y="0"/>
                      <a:pt x="7938" y="0"/>
                    </a:cubicBezTo>
                    <a:lnTo>
                      <a:pt x="0" y="0"/>
                    </a:lnTo>
                  </a:path>
                </a:pathLst>
              </a:custGeom>
              <a:noFill/>
              <a:ln w="31750">
                <a:solidFill>
                  <a:srgbClr val="92301C"/>
                </a:solidFill>
              </a:ln>
            </p:spPr>
          </p:sp>
          <p:sp>
            <p:nvSpPr>
              <p:cNvPr id="144" name="Freeform 144"/>
              <p:cNvSpPr/>
              <p:nvPr/>
            </p:nvSpPr>
            <p:spPr>
              <a:xfrm>
                <a:off x="2781300" y="3476625"/>
                <a:ext cx="111125" cy="100013"/>
              </a:xfrm>
              <a:custGeom>
                <a:avLst/>
                <a:gdLst/>
                <a:ahLst/>
                <a:cxnLst/>
                <a:rect l="l" t="t" r="r" b="b"/>
                <a:pathLst>
                  <a:path w="111125" h="100013">
                    <a:moveTo>
                      <a:pt x="111125" y="100013"/>
                    </a:moveTo>
                    <a:lnTo>
                      <a:pt x="111125" y="55563"/>
                    </a:lnTo>
                    <a:cubicBezTo>
                      <a:pt x="111125" y="24876"/>
                      <a:pt x="86249" y="0"/>
                      <a:pt x="55563" y="0"/>
                    </a:cubicBezTo>
                    <a:cubicBezTo>
                      <a:pt x="24876" y="0"/>
                      <a:pt x="0" y="24876"/>
                      <a:pt x="0" y="55563"/>
                    </a:cubicBezTo>
                  </a:path>
                </a:pathLst>
              </a:custGeom>
              <a:noFill/>
              <a:ln w="31750">
                <a:solidFill>
                  <a:srgbClr val="92301C"/>
                </a:solidFill>
              </a:ln>
            </p:spPr>
          </p:sp>
          <p:sp>
            <p:nvSpPr>
              <p:cNvPr id="145" name="Freeform 145"/>
              <p:cNvSpPr/>
              <p:nvPr/>
            </p:nvSpPr>
            <p:spPr>
              <a:xfrm>
                <a:off x="2638425" y="3571875"/>
                <a:ext cx="63500" cy="111125"/>
              </a:xfrm>
              <a:custGeom>
                <a:avLst/>
                <a:gdLst/>
                <a:ahLst/>
                <a:cxnLst/>
                <a:rect l="l" t="t" r="r" b="b"/>
                <a:pathLst>
                  <a:path w="63500" h="111125">
                    <a:moveTo>
                      <a:pt x="55563" y="111125"/>
                    </a:moveTo>
                    <a:cubicBezTo>
                      <a:pt x="24876" y="111125"/>
                      <a:pt x="0" y="86249"/>
                      <a:pt x="0" y="55563"/>
                    </a:cubicBezTo>
                    <a:cubicBezTo>
                      <a:pt x="0" y="24876"/>
                      <a:pt x="24876" y="0"/>
                      <a:pt x="55563" y="0"/>
                    </a:cubicBezTo>
                    <a:lnTo>
                      <a:pt x="63500" y="0"/>
                    </a:lnTo>
                  </a:path>
                </a:pathLst>
              </a:custGeom>
              <a:noFill/>
              <a:ln w="31750">
                <a:solidFill>
                  <a:srgbClr val="92301C"/>
                </a:solidFill>
              </a:ln>
            </p:spPr>
          </p:sp>
          <p:sp>
            <p:nvSpPr>
              <p:cNvPr id="146" name="Freeform 146"/>
              <p:cNvSpPr/>
              <p:nvPr/>
            </p:nvSpPr>
            <p:spPr>
              <a:xfrm>
                <a:off x="2670175" y="3476625"/>
                <a:ext cx="111125" cy="214313"/>
              </a:xfrm>
              <a:custGeom>
                <a:avLst/>
                <a:gdLst/>
                <a:ahLst/>
                <a:cxnLst/>
                <a:rect l="l" t="t" r="r" b="b"/>
                <a:pathLst>
                  <a:path w="111125" h="214313">
                    <a:moveTo>
                      <a:pt x="0" y="100013"/>
                    </a:moveTo>
                    <a:lnTo>
                      <a:pt x="0" y="55563"/>
                    </a:lnTo>
                    <a:cubicBezTo>
                      <a:pt x="0" y="24876"/>
                      <a:pt x="24876" y="0"/>
                      <a:pt x="55563" y="0"/>
                    </a:cubicBezTo>
                    <a:cubicBezTo>
                      <a:pt x="86249" y="0"/>
                      <a:pt x="111125" y="24876"/>
                      <a:pt x="111125" y="55563"/>
                    </a:cubicBezTo>
                    <a:lnTo>
                      <a:pt x="111125" y="214313"/>
                    </a:lnTo>
                  </a:path>
                </a:pathLst>
              </a:custGeom>
              <a:noFill/>
              <a:ln w="31750">
                <a:solidFill>
                  <a:srgbClr val="92301C"/>
                </a:solidFill>
              </a:ln>
            </p:spPr>
          </p:sp>
        </p:grpSp>
        <p:sp>
          <p:nvSpPr>
            <p:cNvPr id="148" name="TextBox 148"/>
            <p:cNvSpPr txBox="1"/>
            <p:nvPr/>
          </p:nvSpPr>
          <p:spPr>
            <a:xfrm>
              <a:off x="3081338" y="34651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机器学习</a:t>
              </a:r>
            </a:p>
          </p:txBody>
        </p:sp>
        <p:sp>
          <p:nvSpPr>
            <p:cNvPr id="149" name="TextBox 149"/>
            <p:cNvSpPr txBox="1"/>
            <p:nvPr/>
          </p:nvSpPr>
          <p:spPr>
            <a:xfrm>
              <a:off x="3081338" y="3656886"/>
              <a:ext cx="77416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持续优化识别模型</a:t>
              </a:r>
            </a:p>
          </p:txBody>
        </p:sp>
        <p:sp>
          <p:nvSpPr>
            <p:cNvPr id="150" name="Line 150"/>
            <p:cNvSpPr/>
            <p:nvPr/>
          </p:nvSpPr>
          <p:spPr>
            <a:xfrm>
              <a:off x="4191000" y="3314700"/>
              <a:ext cx="9525" cy="609600"/>
            </a:xfrm>
            <a:custGeom>
              <a:avLst/>
              <a:gdLst/>
              <a:ahLst/>
              <a:cxnLst/>
              <a:rect l="l" t="t" r="r" b="b"/>
              <a:pathLst>
                <a:path w="9525" h="609600">
                  <a:moveTo>
                    <a:pt x="0" y="0"/>
                  </a:moveTo>
                  <a:lnTo>
                    <a:pt x="0" y="609600"/>
                  </a:lnTo>
                </a:path>
              </a:pathLst>
            </a:custGeom>
            <a:noFill/>
            <a:ln w="9525">
              <a:solidFill>
                <a:srgbClr val="CFDFEE"/>
              </a:solidFill>
            </a:ln>
          </p:spPr>
        </p:sp>
        <p:grpSp>
          <p:nvGrpSpPr>
            <p:cNvPr id="154" name="Group 154"/>
            <p:cNvGrpSpPr/>
            <p:nvPr/>
          </p:nvGrpSpPr>
          <p:grpSpPr>
            <a:xfrm>
              <a:off x="4479925" y="3476625"/>
              <a:ext cx="222250" cy="285750"/>
              <a:chOff x="4479925" y="3476625"/>
              <a:chExt cx="222250" cy="285750"/>
            </a:xfrm>
          </p:grpSpPr>
          <p:sp>
            <p:nvSpPr>
              <p:cNvPr id="151" name="Freeform 151"/>
              <p:cNvSpPr/>
              <p:nvPr/>
            </p:nvSpPr>
            <p:spPr>
              <a:xfrm>
                <a:off x="4479925" y="3571875"/>
                <a:ext cx="222250" cy="190500"/>
              </a:xfrm>
              <a:custGeom>
                <a:avLst/>
                <a:gdLst/>
                <a:ahLst/>
                <a:cxnLst/>
                <a:rect l="l" t="t" r="r" b="b"/>
                <a:pathLst>
                  <a:path w="222250" h="190500">
                    <a:moveTo>
                      <a:pt x="47625" y="0"/>
                    </a:moveTo>
                    <a:lnTo>
                      <a:pt x="31750" y="0"/>
                    </a:lnTo>
                    <a:cubicBezTo>
                      <a:pt x="14215" y="0"/>
                      <a:pt x="0" y="14215"/>
                      <a:pt x="0" y="31750"/>
                    </a:cubicBezTo>
                    <a:lnTo>
                      <a:pt x="0" y="158750"/>
                    </a:lnTo>
                    <a:cubicBezTo>
                      <a:pt x="0" y="176285"/>
                      <a:pt x="14215" y="190500"/>
                      <a:pt x="31750" y="190500"/>
                    </a:cubicBezTo>
                    <a:lnTo>
                      <a:pt x="190500" y="190500"/>
                    </a:lnTo>
                    <a:cubicBezTo>
                      <a:pt x="208035" y="190500"/>
                      <a:pt x="222250" y="176285"/>
                      <a:pt x="222250" y="158750"/>
                    </a:cubicBezTo>
                    <a:lnTo>
                      <a:pt x="222250" y="31750"/>
                    </a:lnTo>
                    <a:cubicBezTo>
                      <a:pt x="222250" y="14215"/>
                      <a:pt x="208035" y="0"/>
                      <a:pt x="190500" y="0"/>
                    </a:cubicBezTo>
                    <a:lnTo>
                      <a:pt x="174625" y="0"/>
                    </a:lnTo>
                  </a:path>
                </a:pathLst>
              </a:custGeom>
              <a:noFill/>
              <a:ln w="31750">
                <a:solidFill>
                  <a:srgbClr val="92301C"/>
                </a:solidFill>
              </a:ln>
            </p:spPr>
          </p:sp>
          <p:sp>
            <p:nvSpPr>
              <p:cNvPr id="152" name="Freeform 152"/>
              <p:cNvSpPr/>
              <p:nvPr/>
            </p:nvSpPr>
            <p:spPr>
              <a:xfrm>
                <a:off x="4591050" y="3476625"/>
                <a:ext cx="9525" cy="174625"/>
              </a:xfrm>
              <a:custGeom>
                <a:avLst/>
                <a:gdLst/>
                <a:ahLst/>
                <a:cxnLst/>
                <a:rect l="l" t="t" r="r" b="b"/>
                <a:pathLst>
                  <a:path w="9525" h="174625">
                    <a:moveTo>
                      <a:pt x="0" y="174625"/>
                    </a:moveTo>
                    <a:lnTo>
                      <a:pt x="0" y="0"/>
                    </a:lnTo>
                  </a:path>
                </a:pathLst>
              </a:custGeom>
              <a:noFill/>
              <a:ln w="31750">
                <a:solidFill>
                  <a:srgbClr val="92301C"/>
                </a:solidFill>
              </a:ln>
            </p:spPr>
          </p:sp>
          <p:sp>
            <p:nvSpPr>
              <p:cNvPr id="153" name="Freeform 153"/>
              <p:cNvSpPr/>
              <p:nvPr/>
            </p:nvSpPr>
            <p:spPr>
              <a:xfrm>
                <a:off x="4543425" y="3476625"/>
                <a:ext cx="95250" cy="47625"/>
              </a:xfrm>
              <a:custGeom>
                <a:avLst/>
                <a:gdLst/>
                <a:ahLst/>
                <a:cxnLst/>
                <a:rect l="l" t="t" r="r" b="b"/>
                <a:pathLst>
                  <a:path w="95250" h="47625">
                    <a:moveTo>
                      <a:pt x="0" y="47625"/>
                    </a:moveTo>
                    <a:lnTo>
                      <a:pt x="47625" y="0"/>
                    </a:lnTo>
                    <a:lnTo>
                      <a:pt x="95250" y="47625"/>
                    </a:lnTo>
                  </a:path>
                </a:pathLst>
              </a:custGeom>
              <a:noFill/>
              <a:ln w="31750">
                <a:solidFill>
                  <a:srgbClr val="92301C"/>
                </a:solidFill>
              </a:ln>
            </p:spPr>
          </p:sp>
        </p:grpSp>
        <p:sp>
          <p:nvSpPr>
            <p:cNvPr id="155" name="TextBox 155"/>
            <p:cNvSpPr txBox="1"/>
            <p:nvPr/>
          </p:nvSpPr>
          <p:spPr>
            <a:xfrm>
              <a:off x="4891088" y="34651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知识图谱</a:t>
              </a:r>
            </a:p>
          </p:txBody>
        </p:sp>
        <p:sp>
          <p:nvSpPr>
            <p:cNvPr id="156" name="TextBox 156"/>
            <p:cNvSpPr txBox="1"/>
            <p:nvPr/>
          </p:nvSpPr>
          <p:spPr>
            <a:xfrm>
              <a:off x="4891088" y="3656886"/>
              <a:ext cx="783725"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关联企业/人/事件</a:t>
              </a:r>
            </a:p>
          </p:txBody>
        </p:sp>
        <p:sp>
          <p:nvSpPr>
            <p:cNvPr id="157" name="Line 157"/>
            <p:cNvSpPr/>
            <p:nvPr/>
          </p:nvSpPr>
          <p:spPr>
            <a:xfrm>
              <a:off x="6038850" y="3314700"/>
              <a:ext cx="9525" cy="609600"/>
            </a:xfrm>
            <a:custGeom>
              <a:avLst/>
              <a:gdLst/>
              <a:ahLst/>
              <a:cxnLst/>
              <a:rect l="l" t="t" r="r" b="b"/>
              <a:pathLst>
                <a:path w="9525" h="609600">
                  <a:moveTo>
                    <a:pt x="0" y="0"/>
                  </a:moveTo>
                  <a:lnTo>
                    <a:pt x="0" y="609600"/>
                  </a:lnTo>
                </a:path>
              </a:pathLst>
            </a:custGeom>
            <a:noFill/>
            <a:ln w="9525">
              <a:solidFill>
                <a:srgbClr val="CFDFEE"/>
              </a:solidFill>
            </a:ln>
          </p:spPr>
        </p:sp>
        <p:grpSp>
          <p:nvGrpSpPr>
            <p:cNvPr id="162" name="Group 162"/>
            <p:cNvGrpSpPr/>
            <p:nvPr/>
          </p:nvGrpSpPr>
          <p:grpSpPr>
            <a:xfrm>
              <a:off x="6296025" y="3492500"/>
              <a:ext cx="285750" cy="263526"/>
              <a:chOff x="6296025" y="3492500"/>
              <a:chExt cx="285750" cy="263526"/>
            </a:xfrm>
          </p:grpSpPr>
          <p:sp>
            <p:nvSpPr>
              <p:cNvPr id="158" name="Freeform 158"/>
              <p:cNvSpPr/>
              <p:nvPr/>
            </p:nvSpPr>
            <p:spPr>
              <a:xfrm>
                <a:off x="6296025" y="3619500"/>
                <a:ext cx="95250" cy="127000"/>
              </a:xfrm>
              <a:custGeom>
                <a:avLst/>
                <a:gdLst/>
                <a:ahLst/>
                <a:cxnLst/>
                <a:rect l="l" t="t" r="r" b="b"/>
                <a:pathLst>
                  <a:path w="95250" h="127000">
                    <a:moveTo>
                      <a:pt x="0" y="15875"/>
                    </a:moveTo>
                    <a:cubicBezTo>
                      <a:pt x="0" y="7107"/>
                      <a:pt x="7107" y="0"/>
                      <a:pt x="15875" y="0"/>
                    </a:cubicBezTo>
                    <a:lnTo>
                      <a:pt x="79375" y="0"/>
                    </a:lnTo>
                    <a:cubicBezTo>
                      <a:pt x="88143" y="0"/>
                      <a:pt x="95250" y="7107"/>
                      <a:pt x="95250" y="15875"/>
                    </a:cubicBezTo>
                    <a:lnTo>
                      <a:pt x="95250" y="111125"/>
                    </a:lnTo>
                    <a:cubicBezTo>
                      <a:pt x="95250" y="119893"/>
                      <a:pt x="88143" y="127000"/>
                      <a:pt x="79375" y="127000"/>
                    </a:cubicBezTo>
                    <a:lnTo>
                      <a:pt x="15875" y="127000"/>
                    </a:lnTo>
                    <a:cubicBezTo>
                      <a:pt x="7107" y="127000"/>
                      <a:pt x="0" y="119893"/>
                      <a:pt x="0" y="111125"/>
                    </a:cubicBezTo>
                    <a:lnTo>
                      <a:pt x="0" y="15875"/>
                    </a:lnTo>
                  </a:path>
                </a:pathLst>
              </a:custGeom>
              <a:noFill/>
              <a:ln w="31750">
                <a:solidFill>
                  <a:srgbClr val="92301C"/>
                </a:solidFill>
              </a:ln>
            </p:spPr>
          </p:sp>
          <p:sp>
            <p:nvSpPr>
              <p:cNvPr id="159" name="Freeform 159"/>
              <p:cNvSpPr/>
              <p:nvPr/>
            </p:nvSpPr>
            <p:spPr>
              <a:xfrm>
                <a:off x="6486525" y="3556000"/>
                <a:ext cx="95250" cy="190500"/>
              </a:xfrm>
              <a:custGeom>
                <a:avLst/>
                <a:gdLst/>
                <a:ahLst/>
                <a:cxnLst/>
                <a:rect l="l" t="t" r="r" b="b"/>
                <a:pathLst>
                  <a:path w="95250" h="190500">
                    <a:moveTo>
                      <a:pt x="0" y="15875"/>
                    </a:moveTo>
                    <a:cubicBezTo>
                      <a:pt x="0" y="7107"/>
                      <a:pt x="7107" y="0"/>
                      <a:pt x="15875" y="0"/>
                    </a:cubicBezTo>
                    <a:lnTo>
                      <a:pt x="79375" y="0"/>
                    </a:lnTo>
                    <a:cubicBezTo>
                      <a:pt x="88143" y="0"/>
                      <a:pt x="95250" y="7107"/>
                      <a:pt x="95250" y="15875"/>
                    </a:cubicBezTo>
                    <a:lnTo>
                      <a:pt x="95250" y="174625"/>
                    </a:lnTo>
                    <a:cubicBezTo>
                      <a:pt x="95250" y="183393"/>
                      <a:pt x="88143" y="190500"/>
                      <a:pt x="79375" y="190500"/>
                    </a:cubicBezTo>
                    <a:lnTo>
                      <a:pt x="15875" y="190500"/>
                    </a:lnTo>
                    <a:cubicBezTo>
                      <a:pt x="7107" y="190500"/>
                      <a:pt x="0" y="183393"/>
                      <a:pt x="0" y="174625"/>
                    </a:cubicBezTo>
                    <a:lnTo>
                      <a:pt x="0" y="15875"/>
                    </a:lnTo>
                  </a:path>
                </a:pathLst>
              </a:custGeom>
              <a:noFill/>
              <a:ln w="31750">
                <a:solidFill>
                  <a:srgbClr val="92301C"/>
                </a:solidFill>
              </a:ln>
            </p:spPr>
          </p:sp>
          <p:sp>
            <p:nvSpPr>
              <p:cNvPr id="160" name="Freeform 160"/>
              <p:cNvSpPr/>
              <p:nvPr/>
            </p:nvSpPr>
            <p:spPr>
              <a:xfrm>
                <a:off x="6391275" y="3492500"/>
                <a:ext cx="95250" cy="254001"/>
              </a:xfrm>
              <a:custGeom>
                <a:avLst/>
                <a:gdLst/>
                <a:ahLst/>
                <a:cxnLst/>
                <a:rect l="l" t="t" r="r" b="b"/>
                <a:pathLst>
                  <a:path w="95250" h="254001">
                    <a:moveTo>
                      <a:pt x="0" y="15875"/>
                    </a:moveTo>
                    <a:cubicBezTo>
                      <a:pt x="0" y="7107"/>
                      <a:pt x="7107" y="0"/>
                      <a:pt x="15875" y="0"/>
                    </a:cubicBezTo>
                    <a:lnTo>
                      <a:pt x="79375" y="0"/>
                    </a:lnTo>
                    <a:cubicBezTo>
                      <a:pt x="88143" y="0"/>
                      <a:pt x="95250" y="7107"/>
                      <a:pt x="95250" y="15875"/>
                    </a:cubicBezTo>
                    <a:lnTo>
                      <a:pt x="95250" y="238125"/>
                    </a:lnTo>
                    <a:cubicBezTo>
                      <a:pt x="95250" y="246893"/>
                      <a:pt x="88143" y="254001"/>
                      <a:pt x="79375" y="254001"/>
                    </a:cubicBezTo>
                    <a:lnTo>
                      <a:pt x="15875" y="254001"/>
                    </a:lnTo>
                    <a:cubicBezTo>
                      <a:pt x="7107" y="254001"/>
                      <a:pt x="0" y="246893"/>
                      <a:pt x="0" y="238125"/>
                    </a:cubicBezTo>
                    <a:lnTo>
                      <a:pt x="0" y="15875"/>
                    </a:lnTo>
                  </a:path>
                </a:pathLst>
              </a:custGeom>
              <a:noFill/>
              <a:ln w="31750">
                <a:solidFill>
                  <a:srgbClr val="92301C"/>
                </a:solidFill>
              </a:ln>
            </p:spPr>
          </p:sp>
          <p:sp>
            <p:nvSpPr>
              <p:cNvPr id="161" name="Freeform 161"/>
              <p:cNvSpPr/>
              <p:nvPr/>
            </p:nvSpPr>
            <p:spPr>
              <a:xfrm>
                <a:off x="6311900" y="3746501"/>
                <a:ext cx="222250" cy="9525"/>
              </a:xfrm>
              <a:custGeom>
                <a:avLst/>
                <a:gdLst/>
                <a:ahLst/>
                <a:cxnLst/>
                <a:rect l="l" t="t" r="r" b="b"/>
                <a:pathLst>
                  <a:path w="222250" h="9525">
                    <a:moveTo>
                      <a:pt x="0" y="0"/>
                    </a:moveTo>
                    <a:lnTo>
                      <a:pt x="222250" y="0"/>
                    </a:lnTo>
                  </a:path>
                </a:pathLst>
              </a:custGeom>
              <a:noFill/>
              <a:ln w="31750">
                <a:solidFill>
                  <a:srgbClr val="92301C"/>
                </a:solidFill>
              </a:ln>
            </p:spPr>
          </p:sp>
        </p:grpSp>
        <p:sp>
          <p:nvSpPr>
            <p:cNvPr id="163" name="TextBox 163"/>
            <p:cNvSpPr txBox="1"/>
            <p:nvPr/>
          </p:nvSpPr>
          <p:spPr>
            <a:xfrm>
              <a:off x="6738938" y="34651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动态阈值</a:t>
              </a:r>
            </a:p>
          </p:txBody>
        </p:sp>
        <p:sp>
          <p:nvSpPr>
            <p:cNvPr id="164" name="TextBox 164"/>
            <p:cNvSpPr txBox="1"/>
            <p:nvPr/>
          </p:nvSpPr>
          <p:spPr>
            <a:xfrm>
              <a:off x="6738938" y="3656886"/>
              <a:ext cx="115648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基于行业与客户特征自适应</a:t>
              </a:r>
            </a:p>
          </p:txBody>
        </p:sp>
      </p:grpSp>
      <p:grpSp>
        <p:nvGrpSpPr>
          <p:cNvPr id="232" name="matrix"/>
          <p:cNvGrpSpPr/>
          <p:nvPr/>
        </p:nvGrpSpPr>
        <p:grpSpPr>
          <a:xfrm>
            <a:off x="7845704" y="990600"/>
            <a:ext cx="4155796" cy="2019300"/>
            <a:chOff x="7845704" y="990600"/>
            <a:chExt cx="4155796" cy="2019300"/>
          </a:xfrm>
        </p:grpSpPr>
        <p:sp>
          <p:nvSpPr>
            <p:cNvPr id="166" name="Rectangle 166"/>
            <p:cNvSpPr/>
            <p:nvPr/>
          </p:nvSpPr>
          <p:spPr>
            <a:xfrm>
              <a:off x="8001000" y="990600"/>
              <a:ext cx="4000500" cy="2019300"/>
            </a:xfrm>
            <a:prstGeom prst="roundRect">
              <a:avLst>
                <a:gd name="adj" fmla="val 2830"/>
              </a:avLst>
            </a:prstGeom>
            <a:solidFill>
              <a:srgbClr val="F6F9FD"/>
            </a:solidFill>
            <a:ln w="9525">
              <a:solidFill>
                <a:srgbClr val="CFDFEE"/>
              </a:solidFill>
            </a:ln>
          </p:spPr>
        </p:sp>
        <p:sp>
          <p:nvSpPr>
            <p:cNvPr id="167" name="Rectangle 167"/>
            <p:cNvSpPr/>
            <p:nvPr/>
          </p:nvSpPr>
          <p:spPr>
            <a:xfrm>
              <a:off x="8629650" y="1066800"/>
              <a:ext cx="3314700" cy="171450"/>
            </a:xfrm>
            <a:prstGeom prst="rect">
              <a:avLst/>
            </a:prstGeom>
            <a:solidFill>
              <a:srgbClr val="D6E6F3"/>
            </a:solidFill>
            <a:ln>
              <a:noFill/>
            </a:ln>
          </p:spPr>
        </p:sp>
        <p:sp>
          <p:nvSpPr>
            <p:cNvPr id="168" name="TextBox 168"/>
            <p:cNvSpPr txBox="1"/>
            <p:nvPr/>
          </p:nvSpPr>
          <p:spPr>
            <a:xfrm>
              <a:off x="9995497" y="1113711"/>
              <a:ext cx="583006"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当前风险等级</a:t>
              </a:r>
            </a:p>
          </p:txBody>
        </p:sp>
        <p:sp>
          <p:nvSpPr>
            <p:cNvPr id="169" name="Rectangle 169"/>
            <p:cNvSpPr/>
            <p:nvPr/>
          </p:nvSpPr>
          <p:spPr>
            <a:xfrm>
              <a:off x="8629650" y="1238250"/>
              <a:ext cx="3314700" cy="190500"/>
            </a:xfrm>
            <a:prstGeom prst="rect">
              <a:avLst/>
            </a:prstGeom>
            <a:solidFill>
              <a:srgbClr val="E6EFF8"/>
            </a:solidFill>
            <a:ln>
              <a:noFill/>
            </a:ln>
          </p:spPr>
        </p:sp>
        <p:grpSp>
          <p:nvGrpSpPr>
            <p:cNvPr id="176" name="mx-cols"/>
            <p:cNvGrpSpPr/>
            <p:nvPr/>
          </p:nvGrpSpPr>
          <p:grpSpPr>
            <a:xfrm>
              <a:off x="8805532" y="1294686"/>
              <a:ext cx="2962935" cy="140494"/>
              <a:chOff x="8805532" y="1294686"/>
              <a:chExt cx="2962935" cy="140494"/>
            </a:xfrm>
          </p:grpSpPr>
          <p:sp>
            <p:nvSpPr>
              <p:cNvPr id="170" name="TextBox 170"/>
              <p:cNvSpPr txBox="1"/>
              <p:nvPr/>
            </p:nvSpPr>
            <p:spPr>
              <a:xfrm>
                <a:off x="8805532" y="129468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正常</a:t>
                </a:r>
              </a:p>
            </p:txBody>
          </p:sp>
          <p:sp>
            <p:nvSpPr>
              <p:cNvPr id="171" name="TextBox 171"/>
              <p:cNvSpPr txBox="1"/>
              <p:nvPr/>
            </p:nvSpPr>
            <p:spPr>
              <a:xfrm>
                <a:off x="9357982" y="129468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关注</a:t>
                </a:r>
              </a:p>
            </p:txBody>
          </p:sp>
          <p:sp>
            <p:nvSpPr>
              <p:cNvPr id="172" name="TextBox 172"/>
              <p:cNvSpPr txBox="1"/>
              <p:nvPr/>
            </p:nvSpPr>
            <p:spPr>
              <a:xfrm>
                <a:off x="9910432" y="129468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次级</a:t>
                </a:r>
              </a:p>
            </p:txBody>
          </p:sp>
          <p:sp>
            <p:nvSpPr>
              <p:cNvPr id="173" name="TextBox 173"/>
              <p:cNvSpPr txBox="1"/>
              <p:nvPr/>
            </p:nvSpPr>
            <p:spPr>
              <a:xfrm>
                <a:off x="10462882" y="129468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可疑</a:t>
                </a:r>
              </a:p>
            </p:txBody>
          </p:sp>
          <p:sp>
            <p:nvSpPr>
              <p:cNvPr id="174" name="TextBox 174"/>
              <p:cNvSpPr txBox="1"/>
              <p:nvPr/>
            </p:nvSpPr>
            <p:spPr>
              <a:xfrm>
                <a:off x="11015332" y="129468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损失</a:t>
                </a:r>
              </a:p>
            </p:txBody>
          </p:sp>
          <p:sp>
            <p:nvSpPr>
              <p:cNvPr id="175" name="TextBox 175"/>
              <p:cNvSpPr txBox="1"/>
              <p:nvPr/>
            </p:nvSpPr>
            <p:spPr>
              <a:xfrm>
                <a:off x="11567782" y="129468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合计</a:t>
                </a:r>
              </a:p>
            </p:txBody>
          </p:sp>
        </p:grpSp>
        <p:sp>
          <p:nvSpPr>
            <p:cNvPr id="177" name="Rectangle 177"/>
            <p:cNvSpPr/>
            <p:nvPr/>
          </p:nvSpPr>
          <p:spPr>
            <a:xfrm>
              <a:off x="8058150" y="1428750"/>
              <a:ext cx="171450" cy="1524000"/>
            </a:xfrm>
            <a:prstGeom prst="rect">
              <a:avLst/>
            </a:prstGeom>
            <a:solidFill>
              <a:srgbClr val="E6EFF8"/>
            </a:solidFill>
            <a:ln>
              <a:noFill/>
            </a:ln>
          </p:spPr>
        </p:sp>
        <p:sp>
          <p:nvSpPr>
            <p:cNvPr id="178" name="TextBox 178"/>
            <p:cNvSpPr txBox="1"/>
            <p:nvPr/>
          </p:nvSpPr>
          <p:spPr>
            <a:xfrm rot="-5400000">
              <a:off x="7845704" y="2120503"/>
              <a:ext cx="583006"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上期风险等级</a:t>
              </a:r>
            </a:p>
          </p:txBody>
        </p:sp>
        <p:grpSp>
          <p:nvGrpSpPr>
            <p:cNvPr id="184" name="mx-rowlabels"/>
            <p:cNvGrpSpPr/>
            <p:nvPr/>
          </p:nvGrpSpPr>
          <p:grpSpPr>
            <a:xfrm>
              <a:off x="8329282" y="1542336"/>
              <a:ext cx="200685" cy="1359694"/>
              <a:chOff x="8329282" y="1542336"/>
              <a:chExt cx="200685" cy="1359694"/>
            </a:xfrm>
          </p:grpSpPr>
          <p:sp>
            <p:nvSpPr>
              <p:cNvPr id="179" name="TextBox 179"/>
              <p:cNvSpPr txBox="1"/>
              <p:nvPr/>
            </p:nvSpPr>
            <p:spPr>
              <a:xfrm>
                <a:off x="8329282" y="154233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正常</a:t>
                </a:r>
              </a:p>
            </p:txBody>
          </p:sp>
          <p:sp>
            <p:nvSpPr>
              <p:cNvPr id="180" name="TextBox 180"/>
              <p:cNvSpPr txBox="1"/>
              <p:nvPr/>
            </p:nvSpPr>
            <p:spPr>
              <a:xfrm>
                <a:off x="8329282" y="184713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关注</a:t>
                </a:r>
              </a:p>
            </p:txBody>
          </p:sp>
          <p:sp>
            <p:nvSpPr>
              <p:cNvPr id="181" name="TextBox 181"/>
              <p:cNvSpPr txBox="1"/>
              <p:nvPr/>
            </p:nvSpPr>
            <p:spPr>
              <a:xfrm>
                <a:off x="8329282" y="215193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次级</a:t>
                </a:r>
              </a:p>
            </p:txBody>
          </p:sp>
          <p:sp>
            <p:nvSpPr>
              <p:cNvPr id="182" name="TextBox 182"/>
              <p:cNvSpPr txBox="1"/>
              <p:nvPr/>
            </p:nvSpPr>
            <p:spPr>
              <a:xfrm>
                <a:off x="8329282" y="245673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可疑</a:t>
                </a:r>
              </a:p>
            </p:txBody>
          </p:sp>
          <p:sp>
            <p:nvSpPr>
              <p:cNvPr id="183" name="TextBox 183"/>
              <p:cNvSpPr txBox="1"/>
              <p:nvPr/>
            </p:nvSpPr>
            <p:spPr>
              <a:xfrm>
                <a:off x="8329282" y="2761536"/>
                <a:ext cx="200685"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损失</a:t>
                </a:r>
              </a:p>
            </p:txBody>
          </p:sp>
        </p:grpSp>
        <p:sp>
          <p:nvSpPr>
            <p:cNvPr id="185" name="Rectangle 185"/>
            <p:cNvSpPr/>
            <p:nvPr/>
          </p:nvSpPr>
          <p:spPr>
            <a:xfrm>
              <a:off x="8629650" y="1428750"/>
              <a:ext cx="552450" cy="304800"/>
            </a:xfrm>
            <a:prstGeom prst="rect">
              <a:avLst/>
            </a:prstGeom>
            <a:solidFill>
              <a:srgbClr val="E3B3A9"/>
            </a:solidFill>
            <a:ln>
              <a:noFill/>
            </a:ln>
          </p:spPr>
        </p:sp>
        <p:sp>
          <p:nvSpPr>
            <p:cNvPr id="186" name="Rectangle 186"/>
            <p:cNvSpPr/>
            <p:nvPr/>
          </p:nvSpPr>
          <p:spPr>
            <a:xfrm>
              <a:off x="9182100" y="1733550"/>
              <a:ext cx="552450" cy="304800"/>
            </a:xfrm>
            <a:prstGeom prst="rect">
              <a:avLst/>
            </a:prstGeom>
            <a:solidFill>
              <a:srgbClr val="E3B3A9"/>
            </a:solidFill>
            <a:ln>
              <a:noFill/>
            </a:ln>
          </p:spPr>
        </p:sp>
        <p:sp>
          <p:nvSpPr>
            <p:cNvPr id="187" name="Rectangle 187"/>
            <p:cNvSpPr/>
            <p:nvPr/>
          </p:nvSpPr>
          <p:spPr>
            <a:xfrm>
              <a:off x="9734550" y="2038350"/>
              <a:ext cx="552450" cy="304800"/>
            </a:xfrm>
            <a:prstGeom prst="rect">
              <a:avLst/>
            </a:prstGeom>
            <a:solidFill>
              <a:srgbClr val="E3B3A9"/>
            </a:solidFill>
            <a:ln>
              <a:noFill/>
            </a:ln>
          </p:spPr>
        </p:sp>
        <p:sp>
          <p:nvSpPr>
            <p:cNvPr id="188" name="Rectangle 188"/>
            <p:cNvSpPr/>
            <p:nvPr/>
          </p:nvSpPr>
          <p:spPr>
            <a:xfrm>
              <a:off x="10287000" y="2343150"/>
              <a:ext cx="552450" cy="304800"/>
            </a:xfrm>
            <a:prstGeom prst="rect">
              <a:avLst/>
            </a:prstGeom>
            <a:solidFill>
              <a:srgbClr val="E3B3A9"/>
            </a:solidFill>
            <a:ln>
              <a:noFill/>
            </a:ln>
          </p:spPr>
        </p:sp>
        <p:sp>
          <p:nvSpPr>
            <p:cNvPr id="189" name="Rectangle 189"/>
            <p:cNvSpPr/>
            <p:nvPr/>
          </p:nvSpPr>
          <p:spPr>
            <a:xfrm>
              <a:off x="10839450" y="2647950"/>
              <a:ext cx="552450" cy="304800"/>
            </a:xfrm>
            <a:prstGeom prst="rect">
              <a:avLst/>
            </a:prstGeom>
            <a:solidFill>
              <a:srgbClr val="E3B3A9"/>
            </a:solidFill>
            <a:ln>
              <a:noFill/>
            </a:ln>
          </p:spPr>
        </p:sp>
        <p:grpSp>
          <p:nvGrpSpPr>
            <p:cNvPr id="200" name="mx-grid"/>
            <p:cNvGrpSpPr/>
            <p:nvPr/>
          </p:nvGrpSpPr>
          <p:grpSpPr>
            <a:xfrm>
              <a:off x="8629650" y="1428750"/>
              <a:ext cx="3314700" cy="1533525"/>
              <a:chOff x="8629650" y="1428750"/>
              <a:chExt cx="3314700" cy="1533525"/>
            </a:xfrm>
          </p:grpSpPr>
          <p:sp>
            <p:nvSpPr>
              <p:cNvPr id="190" name="Line 190"/>
              <p:cNvSpPr/>
              <p:nvPr/>
            </p:nvSpPr>
            <p:spPr>
              <a:xfrm>
                <a:off x="8629650" y="1733550"/>
                <a:ext cx="3314700" cy="9525"/>
              </a:xfrm>
              <a:custGeom>
                <a:avLst/>
                <a:gdLst/>
                <a:ahLst/>
                <a:cxnLst/>
                <a:rect l="l" t="t" r="r" b="b"/>
                <a:pathLst>
                  <a:path w="3314700" h="9525">
                    <a:moveTo>
                      <a:pt x="0" y="0"/>
                    </a:moveTo>
                    <a:lnTo>
                      <a:pt x="3314700" y="0"/>
                    </a:lnTo>
                  </a:path>
                </a:pathLst>
              </a:custGeom>
              <a:noFill/>
              <a:ln w="9525">
                <a:solidFill>
                  <a:srgbClr val="DCE6F2"/>
                </a:solidFill>
              </a:ln>
            </p:spPr>
          </p:sp>
          <p:sp>
            <p:nvSpPr>
              <p:cNvPr id="191" name="Line 191"/>
              <p:cNvSpPr/>
              <p:nvPr/>
            </p:nvSpPr>
            <p:spPr>
              <a:xfrm>
                <a:off x="8629650" y="2038350"/>
                <a:ext cx="3314700" cy="9525"/>
              </a:xfrm>
              <a:custGeom>
                <a:avLst/>
                <a:gdLst/>
                <a:ahLst/>
                <a:cxnLst/>
                <a:rect l="l" t="t" r="r" b="b"/>
                <a:pathLst>
                  <a:path w="3314700" h="9525">
                    <a:moveTo>
                      <a:pt x="0" y="0"/>
                    </a:moveTo>
                    <a:lnTo>
                      <a:pt x="3314700" y="0"/>
                    </a:lnTo>
                  </a:path>
                </a:pathLst>
              </a:custGeom>
              <a:noFill/>
              <a:ln w="9525">
                <a:solidFill>
                  <a:srgbClr val="DCE6F2"/>
                </a:solidFill>
              </a:ln>
            </p:spPr>
          </p:sp>
          <p:sp>
            <p:nvSpPr>
              <p:cNvPr id="192" name="Line 192"/>
              <p:cNvSpPr/>
              <p:nvPr/>
            </p:nvSpPr>
            <p:spPr>
              <a:xfrm>
                <a:off x="8629650" y="2343150"/>
                <a:ext cx="3314700" cy="9525"/>
              </a:xfrm>
              <a:custGeom>
                <a:avLst/>
                <a:gdLst/>
                <a:ahLst/>
                <a:cxnLst/>
                <a:rect l="l" t="t" r="r" b="b"/>
                <a:pathLst>
                  <a:path w="3314700" h="9525">
                    <a:moveTo>
                      <a:pt x="0" y="0"/>
                    </a:moveTo>
                    <a:lnTo>
                      <a:pt x="3314700" y="0"/>
                    </a:lnTo>
                  </a:path>
                </a:pathLst>
              </a:custGeom>
              <a:noFill/>
              <a:ln w="9525">
                <a:solidFill>
                  <a:srgbClr val="DCE6F2"/>
                </a:solidFill>
              </a:ln>
            </p:spPr>
          </p:sp>
          <p:sp>
            <p:nvSpPr>
              <p:cNvPr id="193" name="Line 193"/>
              <p:cNvSpPr/>
              <p:nvPr/>
            </p:nvSpPr>
            <p:spPr>
              <a:xfrm>
                <a:off x="8629650" y="2647950"/>
                <a:ext cx="3314700" cy="9525"/>
              </a:xfrm>
              <a:custGeom>
                <a:avLst/>
                <a:gdLst/>
                <a:ahLst/>
                <a:cxnLst/>
                <a:rect l="l" t="t" r="r" b="b"/>
                <a:pathLst>
                  <a:path w="3314700" h="9525">
                    <a:moveTo>
                      <a:pt x="0" y="0"/>
                    </a:moveTo>
                    <a:lnTo>
                      <a:pt x="3314700" y="0"/>
                    </a:lnTo>
                  </a:path>
                </a:pathLst>
              </a:custGeom>
              <a:noFill/>
              <a:ln w="9525">
                <a:solidFill>
                  <a:srgbClr val="DCE6F2"/>
                </a:solidFill>
              </a:ln>
            </p:spPr>
          </p:sp>
          <p:sp>
            <p:nvSpPr>
              <p:cNvPr id="194" name="Line 194"/>
              <p:cNvSpPr/>
              <p:nvPr/>
            </p:nvSpPr>
            <p:spPr>
              <a:xfrm>
                <a:off x="8629650" y="2952750"/>
                <a:ext cx="3314700" cy="9525"/>
              </a:xfrm>
              <a:custGeom>
                <a:avLst/>
                <a:gdLst/>
                <a:ahLst/>
                <a:cxnLst/>
                <a:rect l="l" t="t" r="r" b="b"/>
                <a:pathLst>
                  <a:path w="3314700" h="9525">
                    <a:moveTo>
                      <a:pt x="0" y="0"/>
                    </a:moveTo>
                    <a:lnTo>
                      <a:pt x="3314700" y="0"/>
                    </a:lnTo>
                  </a:path>
                </a:pathLst>
              </a:custGeom>
              <a:noFill/>
              <a:ln w="9525">
                <a:solidFill>
                  <a:srgbClr val="DCE6F2"/>
                </a:solidFill>
              </a:ln>
            </p:spPr>
          </p:sp>
          <p:sp>
            <p:nvSpPr>
              <p:cNvPr id="195" name="Line 195"/>
              <p:cNvSpPr/>
              <p:nvPr/>
            </p:nvSpPr>
            <p:spPr>
              <a:xfrm>
                <a:off x="9182100" y="1428750"/>
                <a:ext cx="9525" cy="1524000"/>
              </a:xfrm>
              <a:custGeom>
                <a:avLst/>
                <a:gdLst/>
                <a:ahLst/>
                <a:cxnLst/>
                <a:rect l="l" t="t" r="r" b="b"/>
                <a:pathLst>
                  <a:path w="9525" h="1524000">
                    <a:moveTo>
                      <a:pt x="0" y="0"/>
                    </a:moveTo>
                    <a:lnTo>
                      <a:pt x="0" y="1524000"/>
                    </a:lnTo>
                  </a:path>
                </a:pathLst>
              </a:custGeom>
              <a:noFill/>
              <a:ln w="9525">
                <a:solidFill>
                  <a:srgbClr val="DCE6F2"/>
                </a:solidFill>
              </a:ln>
            </p:spPr>
          </p:sp>
          <p:sp>
            <p:nvSpPr>
              <p:cNvPr id="196" name="Line 196"/>
              <p:cNvSpPr/>
              <p:nvPr/>
            </p:nvSpPr>
            <p:spPr>
              <a:xfrm>
                <a:off x="9734550" y="1428750"/>
                <a:ext cx="9525" cy="1524000"/>
              </a:xfrm>
              <a:custGeom>
                <a:avLst/>
                <a:gdLst/>
                <a:ahLst/>
                <a:cxnLst/>
                <a:rect l="l" t="t" r="r" b="b"/>
                <a:pathLst>
                  <a:path w="9525" h="1524000">
                    <a:moveTo>
                      <a:pt x="0" y="0"/>
                    </a:moveTo>
                    <a:lnTo>
                      <a:pt x="0" y="1524000"/>
                    </a:lnTo>
                  </a:path>
                </a:pathLst>
              </a:custGeom>
              <a:noFill/>
              <a:ln w="9525">
                <a:solidFill>
                  <a:srgbClr val="DCE6F2"/>
                </a:solidFill>
              </a:ln>
            </p:spPr>
          </p:sp>
          <p:sp>
            <p:nvSpPr>
              <p:cNvPr id="197" name="Line 197"/>
              <p:cNvSpPr/>
              <p:nvPr/>
            </p:nvSpPr>
            <p:spPr>
              <a:xfrm>
                <a:off x="10287000" y="1428750"/>
                <a:ext cx="9525" cy="1524000"/>
              </a:xfrm>
              <a:custGeom>
                <a:avLst/>
                <a:gdLst/>
                <a:ahLst/>
                <a:cxnLst/>
                <a:rect l="l" t="t" r="r" b="b"/>
                <a:pathLst>
                  <a:path w="9525" h="1524000">
                    <a:moveTo>
                      <a:pt x="0" y="0"/>
                    </a:moveTo>
                    <a:lnTo>
                      <a:pt x="0" y="1524000"/>
                    </a:lnTo>
                  </a:path>
                </a:pathLst>
              </a:custGeom>
              <a:noFill/>
              <a:ln w="9525">
                <a:solidFill>
                  <a:srgbClr val="DCE6F2"/>
                </a:solidFill>
              </a:ln>
            </p:spPr>
          </p:sp>
          <p:sp>
            <p:nvSpPr>
              <p:cNvPr id="198" name="Line 198"/>
              <p:cNvSpPr/>
              <p:nvPr/>
            </p:nvSpPr>
            <p:spPr>
              <a:xfrm>
                <a:off x="10839450" y="1428750"/>
                <a:ext cx="9525" cy="1524000"/>
              </a:xfrm>
              <a:custGeom>
                <a:avLst/>
                <a:gdLst/>
                <a:ahLst/>
                <a:cxnLst/>
                <a:rect l="l" t="t" r="r" b="b"/>
                <a:pathLst>
                  <a:path w="9525" h="1524000">
                    <a:moveTo>
                      <a:pt x="0" y="0"/>
                    </a:moveTo>
                    <a:lnTo>
                      <a:pt x="0" y="1524000"/>
                    </a:lnTo>
                  </a:path>
                </a:pathLst>
              </a:custGeom>
              <a:noFill/>
              <a:ln w="9525">
                <a:solidFill>
                  <a:srgbClr val="DCE6F2"/>
                </a:solidFill>
              </a:ln>
            </p:spPr>
          </p:sp>
          <p:sp>
            <p:nvSpPr>
              <p:cNvPr id="199" name="Line 199"/>
              <p:cNvSpPr/>
              <p:nvPr/>
            </p:nvSpPr>
            <p:spPr>
              <a:xfrm>
                <a:off x="11391900" y="1428750"/>
                <a:ext cx="9525" cy="1524000"/>
              </a:xfrm>
              <a:custGeom>
                <a:avLst/>
                <a:gdLst/>
                <a:ahLst/>
                <a:cxnLst/>
                <a:rect l="l" t="t" r="r" b="b"/>
                <a:pathLst>
                  <a:path w="9525" h="1524000">
                    <a:moveTo>
                      <a:pt x="0" y="0"/>
                    </a:moveTo>
                    <a:lnTo>
                      <a:pt x="0" y="1524000"/>
                    </a:lnTo>
                  </a:path>
                </a:pathLst>
              </a:custGeom>
              <a:noFill/>
              <a:ln w="9525">
                <a:solidFill>
                  <a:srgbClr val="DCE6F2"/>
                </a:solidFill>
              </a:ln>
            </p:spPr>
          </p:sp>
        </p:grpSp>
        <p:grpSp>
          <p:nvGrpSpPr>
            <p:cNvPr id="231" name="mx-values"/>
            <p:cNvGrpSpPr/>
            <p:nvPr/>
          </p:nvGrpSpPr>
          <p:grpSpPr>
            <a:xfrm>
              <a:off x="8808094" y="1542336"/>
              <a:ext cx="2984393" cy="1359694"/>
              <a:chOff x="8808094" y="1542336"/>
              <a:chExt cx="2984393" cy="1359694"/>
            </a:xfrm>
          </p:grpSpPr>
          <p:sp>
            <p:nvSpPr>
              <p:cNvPr id="201" name="TextBox 201"/>
              <p:cNvSpPr txBox="1"/>
              <p:nvPr/>
            </p:nvSpPr>
            <p:spPr>
              <a:xfrm>
                <a:off x="8808094" y="1542336"/>
                <a:ext cx="195562"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j-lt"/>
                    <a:ea typeface="+mj-ea"/>
                    <a:cs typeface="+mj-cs"/>
                  </a:rPr>
                  <a:t>92.0</a:t>
                </a:r>
              </a:p>
            </p:txBody>
          </p:sp>
          <p:sp>
            <p:nvSpPr>
              <p:cNvPr id="202" name="TextBox 202"/>
              <p:cNvSpPr txBox="1"/>
              <p:nvPr/>
            </p:nvSpPr>
            <p:spPr>
              <a:xfrm>
                <a:off x="9387125" y="15423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6.5</a:t>
                </a:r>
              </a:p>
            </p:txBody>
          </p:sp>
          <p:sp>
            <p:nvSpPr>
              <p:cNvPr id="203" name="TextBox 203"/>
              <p:cNvSpPr txBox="1"/>
              <p:nvPr/>
            </p:nvSpPr>
            <p:spPr>
              <a:xfrm>
                <a:off x="9939575" y="15423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1.0</a:t>
                </a:r>
              </a:p>
            </p:txBody>
          </p:sp>
          <p:sp>
            <p:nvSpPr>
              <p:cNvPr id="204" name="TextBox 204"/>
              <p:cNvSpPr txBox="1"/>
              <p:nvPr/>
            </p:nvSpPr>
            <p:spPr>
              <a:xfrm>
                <a:off x="10492025" y="15423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0.4</a:t>
                </a:r>
              </a:p>
            </p:txBody>
          </p:sp>
          <p:sp>
            <p:nvSpPr>
              <p:cNvPr id="205" name="TextBox 205"/>
              <p:cNvSpPr txBox="1"/>
              <p:nvPr/>
            </p:nvSpPr>
            <p:spPr>
              <a:xfrm>
                <a:off x="11044475" y="15423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0.1</a:t>
                </a:r>
              </a:p>
            </p:txBody>
          </p:sp>
          <p:sp>
            <p:nvSpPr>
              <p:cNvPr id="206" name="TextBox 206"/>
              <p:cNvSpPr txBox="1"/>
              <p:nvPr/>
            </p:nvSpPr>
            <p:spPr>
              <a:xfrm>
                <a:off x="11543763" y="1542336"/>
                <a:ext cx="248724"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100.0</a:t>
                </a:r>
              </a:p>
            </p:txBody>
          </p:sp>
          <p:sp>
            <p:nvSpPr>
              <p:cNvPr id="207" name="TextBox 207"/>
              <p:cNvSpPr txBox="1"/>
              <p:nvPr/>
            </p:nvSpPr>
            <p:spPr>
              <a:xfrm>
                <a:off x="8808094" y="1847136"/>
                <a:ext cx="19556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18.0</a:t>
                </a:r>
              </a:p>
            </p:txBody>
          </p:sp>
          <p:sp>
            <p:nvSpPr>
              <p:cNvPr id="208" name="TextBox 208"/>
              <p:cNvSpPr txBox="1"/>
              <p:nvPr/>
            </p:nvSpPr>
            <p:spPr>
              <a:xfrm>
                <a:off x="9360544" y="1847136"/>
                <a:ext cx="195562"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j-lt"/>
                    <a:ea typeface="+mj-ea"/>
                    <a:cs typeface="+mj-cs"/>
                  </a:rPr>
                  <a:t>70.0</a:t>
                </a:r>
              </a:p>
            </p:txBody>
          </p:sp>
          <p:sp>
            <p:nvSpPr>
              <p:cNvPr id="209" name="TextBox 209"/>
              <p:cNvSpPr txBox="1"/>
              <p:nvPr/>
            </p:nvSpPr>
            <p:spPr>
              <a:xfrm>
                <a:off x="9939575" y="18471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8.0</a:t>
                </a:r>
              </a:p>
            </p:txBody>
          </p:sp>
          <p:sp>
            <p:nvSpPr>
              <p:cNvPr id="210" name="TextBox 210"/>
              <p:cNvSpPr txBox="1"/>
              <p:nvPr/>
            </p:nvSpPr>
            <p:spPr>
              <a:xfrm>
                <a:off x="10492025" y="18471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3.0</a:t>
                </a:r>
              </a:p>
            </p:txBody>
          </p:sp>
          <p:sp>
            <p:nvSpPr>
              <p:cNvPr id="211" name="TextBox 211"/>
              <p:cNvSpPr txBox="1"/>
              <p:nvPr/>
            </p:nvSpPr>
            <p:spPr>
              <a:xfrm>
                <a:off x="11044475" y="18471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1.0</a:t>
                </a:r>
              </a:p>
            </p:txBody>
          </p:sp>
          <p:sp>
            <p:nvSpPr>
              <p:cNvPr id="212" name="TextBox 212"/>
              <p:cNvSpPr txBox="1"/>
              <p:nvPr/>
            </p:nvSpPr>
            <p:spPr>
              <a:xfrm>
                <a:off x="11543763" y="1847136"/>
                <a:ext cx="248724"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100.0</a:t>
                </a:r>
              </a:p>
            </p:txBody>
          </p:sp>
          <p:sp>
            <p:nvSpPr>
              <p:cNvPr id="213" name="TextBox 213"/>
              <p:cNvSpPr txBox="1"/>
              <p:nvPr/>
            </p:nvSpPr>
            <p:spPr>
              <a:xfrm>
                <a:off x="8834675" y="21519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5.0</a:t>
                </a:r>
              </a:p>
            </p:txBody>
          </p:sp>
          <p:sp>
            <p:nvSpPr>
              <p:cNvPr id="214" name="TextBox 214"/>
              <p:cNvSpPr txBox="1"/>
              <p:nvPr/>
            </p:nvSpPr>
            <p:spPr>
              <a:xfrm>
                <a:off x="9360544" y="2151936"/>
                <a:ext cx="19556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22.0</a:t>
                </a:r>
              </a:p>
            </p:txBody>
          </p:sp>
          <p:sp>
            <p:nvSpPr>
              <p:cNvPr id="215" name="TextBox 215"/>
              <p:cNvSpPr txBox="1"/>
              <p:nvPr/>
            </p:nvSpPr>
            <p:spPr>
              <a:xfrm>
                <a:off x="9912994" y="2151936"/>
                <a:ext cx="195562"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j-lt"/>
                    <a:ea typeface="+mj-ea"/>
                    <a:cs typeface="+mj-cs"/>
                  </a:rPr>
                  <a:t>60.0</a:t>
                </a:r>
              </a:p>
            </p:txBody>
          </p:sp>
          <p:sp>
            <p:nvSpPr>
              <p:cNvPr id="216" name="TextBox 216"/>
              <p:cNvSpPr txBox="1"/>
              <p:nvPr/>
            </p:nvSpPr>
            <p:spPr>
              <a:xfrm>
                <a:off x="10465444" y="2151936"/>
                <a:ext cx="19556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10.0</a:t>
                </a:r>
              </a:p>
            </p:txBody>
          </p:sp>
          <p:sp>
            <p:nvSpPr>
              <p:cNvPr id="217" name="TextBox 217"/>
              <p:cNvSpPr txBox="1"/>
              <p:nvPr/>
            </p:nvSpPr>
            <p:spPr>
              <a:xfrm>
                <a:off x="11044475" y="21519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3.0</a:t>
                </a:r>
              </a:p>
            </p:txBody>
          </p:sp>
          <p:sp>
            <p:nvSpPr>
              <p:cNvPr id="218" name="TextBox 218"/>
              <p:cNvSpPr txBox="1"/>
              <p:nvPr/>
            </p:nvSpPr>
            <p:spPr>
              <a:xfrm>
                <a:off x="11543763" y="2151936"/>
                <a:ext cx="248724"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100.0</a:t>
                </a:r>
              </a:p>
            </p:txBody>
          </p:sp>
          <p:sp>
            <p:nvSpPr>
              <p:cNvPr id="219" name="TextBox 219"/>
              <p:cNvSpPr txBox="1"/>
              <p:nvPr/>
            </p:nvSpPr>
            <p:spPr>
              <a:xfrm>
                <a:off x="8834675" y="24567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2.0</a:t>
                </a:r>
              </a:p>
            </p:txBody>
          </p:sp>
          <p:sp>
            <p:nvSpPr>
              <p:cNvPr id="220" name="TextBox 220"/>
              <p:cNvSpPr txBox="1"/>
              <p:nvPr/>
            </p:nvSpPr>
            <p:spPr>
              <a:xfrm>
                <a:off x="9387125" y="24567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8.0</a:t>
                </a:r>
              </a:p>
            </p:txBody>
          </p:sp>
          <p:sp>
            <p:nvSpPr>
              <p:cNvPr id="221" name="TextBox 221"/>
              <p:cNvSpPr txBox="1"/>
              <p:nvPr/>
            </p:nvSpPr>
            <p:spPr>
              <a:xfrm>
                <a:off x="9912994" y="2456736"/>
                <a:ext cx="19556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25.0</a:t>
                </a:r>
              </a:p>
            </p:txBody>
          </p:sp>
          <p:sp>
            <p:nvSpPr>
              <p:cNvPr id="222" name="TextBox 222"/>
              <p:cNvSpPr txBox="1"/>
              <p:nvPr/>
            </p:nvSpPr>
            <p:spPr>
              <a:xfrm>
                <a:off x="10465444" y="2456736"/>
                <a:ext cx="195562"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j-lt"/>
                    <a:ea typeface="+mj-ea"/>
                    <a:cs typeface="+mj-cs"/>
                  </a:rPr>
                  <a:t>55.0</a:t>
                </a:r>
              </a:p>
            </p:txBody>
          </p:sp>
          <p:sp>
            <p:nvSpPr>
              <p:cNvPr id="223" name="TextBox 223"/>
              <p:cNvSpPr txBox="1"/>
              <p:nvPr/>
            </p:nvSpPr>
            <p:spPr>
              <a:xfrm>
                <a:off x="11017894" y="2456736"/>
                <a:ext cx="19556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10.0</a:t>
                </a:r>
              </a:p>
            </p:txBody>
          </p:sp>
          <p:sp>
            <p:nvSpPr>
              <p:cNvPr id="224" name="TextBox 224"/>
              <p:cNvSpPr txBox="1"/>
              <p:nvPr/>
            </p:nvSpPr>
            <p:spPr>
              <a:xfrm>
                <a:off x="11543763" y="2456736"/>
                <a:ext cx="248724"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100.0</a:t>
                </a:r>
              </a:p>
            </p:txBody>
          </p:sp>
          <p:sp>
            <p:nvSpPr>
              <p:cNvPr id="225" name="TextBox 225"/>
              <p:cNvSpPr txBox="1"/>
              <p:nvPr/>
            </p:nvSpPr>
            <p:spPr>
              <a:xfrm>
                <a:off x="8834675" y="27615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0.5</a:t>
                </a:r>
              </a:p>
            </p:txBody>
          </p:sp>
          <p:sp>
            <p:nvSpPr>
              <p:cNvPr id="226" name="TextBox 226"/>
              <p:cNvSpPr txBox="1"/>
              <p:nvPr/>
            </p:nvSpPr>
            <p:spPr>
              <a:xfrm>
                <a:off x="9387125" y="27615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1.5</a:t>
                </a:r>
              </a:p>
            </p:txBody>
          </p:sp>
          <p:sp>
            <p:nvSpPr>
              <p:cNvPr id="227" name="TextBox 227"/>
              <p:cNvSpPr txBox="1"/>
              <p:nvPr/>
            </p:nvSpPr>
            <p:spPr>
              <a:xfrm>
                <a:off x="9939575" y="2761536"/>
                <a:ext cx="142401"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8.0</a:t>
                </a:r>
              </a:p>
            </p:txBody>
          </p:sp>
          <p:sp>
            <p:nvSpPr>
              <p:cNvPr id="228" name="TextBox 228"/>
              <p:cNvSpPr txBox="1"/>
              <p:nvPr/>
            </p:nvSpPr>
            <p:spPr>
              <a:xfrm>
                <a:off x="10465444" y="2761536"/>
                <a:ext cx="195562"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20.0</a:t>
                </a:r>
              </a:p>
            </p:txBody>
          </p:sp>
          <p:sp>
            <p:nvSpPr>
              <p:cNvPr id="229" name="TextBox 229"/>
              <p:cNvSpPr txBox="1"/>
              <p:nvPr/>
            </p:nvSpPr>
            <p:spPr>
              <a:xfrm>
                <a:off x="11017894" y="2761536"/>
                <a:ext cx="195562"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j-lt"/>
                    <a:ea typeface="+mj-ea"/>
                    <a:cs typeface="+mj-cs"/>
                  </a:rPr>
                  <a:t>70.0</a:t>
                </a:r>
              </a:p>
            </p:txBody>
          </p:sp>
          <p:sp>
            <p:nvSpPr>
              <p:cNvPr id="230" name="TextBox 230"/>
              <p:cNvSpPr txBox="1"/>
              <p:nvPr/>
            </p:nvSpPr>
            <p:spPr>
              <a:xfrm>
                <a:off x="11543763" y="2761536"/>
                <a:ext cx="248724" cy="140494"/>
              </a:xfrm>
              <a:prstGeom prst="rect">
                <a:avLst/>
              </a:prstGeom>
              <a:noFill/>
              <a:ln>
                <a:noFill/>
              </a:ln>
            </p:spPr>
            <p:txBody>
              <a:bodyPr wrap="none" lIns="0" tIns="0" rIns="0" bIns="0" anchor="t" anchorCtr="0">
                <a:spAutoFit/>
              </a:bodyPr>
              <a:lstStyle/>
              <a:p>
                <a:pPr algn="ctr"/>
                <a:r>
                  <a:rPr lang="zh-CN" sz="710" dirty="0">
                    <a:solidFill>
                      <a:srgbClr val="52352F"/>
                    </a:solidFill>
                    <a:latin typeface="+mj-lt"/>
                    <a:ea typeface="+mj-ea"/>
                    <a:cs typeface="+mj-cs"/>
                  </a:rPr>
                  <a:t>100.0</a:t>
                </a:r>
              </a:p>
            </p:txBody>
          </p:sp>
        </p:grpSp>
      </p:grpSp>
      <p:grpSp>
        <p:nvGrpSpPr>
          <p:cNvPr id="273" name="alerts"/>
          <p:cNvGrpSpPr/>
          <p:nvPr/>
        </p:nvGrpSpPr>
        <p:grpSpPr>
          <a:xfrm>
            <a:off x="8001000" y="3086100"/>
            <a:ext cx="4000500" cy="1771650"/>
            <a:chOff x="8001000" y="3086100"/>
            <a:chExt cx="4000500" cy="1771650"/>
          </a:xfrm>
        </p:grpSpPr>
        <p:sp>
          <p:nvSpPr>
            <p:cNvPr id="233" name="Rectangle 233"/>
            <p:cNvSpPr/>
            <p:nvPr/>
          </p:nvSpPr>
          <p:spPr>
            <a:xfrm>
              <a:off x="8001000" y="3086100"/>
              <a:ext cx="4000500" cy="228600"/>
            </a:xfrm>
            <a:prstGeom prst="rect">
              <a:avLst/>
            </a:prstGeom>
            <a:gradFill>
              <a:gsLst>
                <a:gs pos="0">
                  <a:srgbClr val="92301C"/>
                </a:gs>
                <a:gs pos="100000">
                  <a:srgbClr val="B7533F"/>
                </a:gs>
              </a:gsLst>
              <a:lin ang="0" scaled="1"/>
            </a:gradFill>
            <a:ln>
              <a:noFill/>
            </a:ln>
          </p:spPr>
        </p:sp>
        <p:sp>
          <p:nvSpPr>
            <p:cNvPr id="234" name="TextBox 234"/>
            <p:cNvSpPr txBox="1"/>
            <p:nvPr/>
          </p:nvSpPr>
          <p:spPr>
            <a:xfrm>
              <a:off x="8129588" y="3150870"/>
              <a:ext cx="89801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预警清单</a:t>
              </a:r>
              <a:r>
                <a:rPr lang="zh-CN" sz="750" dirty="0">
                  <a:solidFill>
                    <a:srgbClr val="FFFFFF"/>
                  </a:solidFill>
                  <a:latin typeface="+mn-lt"/>
                  <a:ea typeface="+mn-ea"/>
                  <a:cs typeface="+mn-cs"/>
                </a:rPr>
                <a:t>（示例）</a:t>
              </a:r>
            </a:p>
          </p:txBody>
        </p:sp>
        <p:sp>
          <p:nvSpPr>
            <p:cNvPr id="235" name="Rectangle 235"/>
            <p:cNvSpPr/>
            <p:nvPr/>
          </p:nvSpPr>
          <p:spPr>
            <a:xfrm>
              <a:off x="8001000" y="3352800"/>
              <a:ext cx="4000500" cy="171450"/>
            </a:xfrm>
            <a:prstGeom prst="rect">
              <a:avLst/>
            </a:prstGeom>
            <a:solidFill>
              <a:srgbClr val="D6E6F3"/>
            </a:solidFill>
            <a:ln>
              <a:noFill/>
            </a:ln>
          </p:spPr>
        </p:sp>
        <p:grpSp>
          <p:nvGrpSpPr>
            <p:cNvPr id="241" name="al-head"/>
            <p:cNvGrpSpPr/>
            <p:nvPr/>
          </p:nvGrpSpPr>
          <p:grpSpPr>
            <a:xfrm>
              <a:off x="8072438" y="3403759"/>
              <a:ext cx="3671341" cy="133350"/>
              <a:chOff x="8072438" y="3403759"/>
              <a:chExt cx="3671341" cy="133350"/>
            </a:xfrm>
          </p:grpSpPr>
          <p:sp>
            <p:nvSpPr>
              <p:cNvPr id="236" name="TextBox 236"/>
              <p:cNvSpPr txBox="1"/>
              <p:nvPr/>
            </p:nvSpPr>
            <p:spPr>
              <a:xfrm>
                <a:off x="8072438" y="340375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预警日期</a:t>
                </a:r>
              </a:p>
            </p:txBody>
          </p:sp>
          <p:sp>
            <p:nvSpPr>
              <p:cNvPr id="237" name="TextBox 237"/>
              <p:cNvSpPr txBox="1"/>
              <p:nvPr/>
            </p:nvSpPr>
            <p:spPr>
              <a:xfrm>
                <a:off x="8796338" y="340375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客户名称</a:t>
                </a:r>
              </a:p>
            </p:txBody>
          </p:sp>
          <p:sp>
            <p:nvSpPr>
              <p:cNvPr id="238" name="TextBox 238"/>
              <p:cNvSpPr txBox="1"/>
              <p:nvPr/>
            </p:nvSpPr>
            <p:spPr>
              <a:xfrm>
                <a:off x="9748838" y="340375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预警信号</a:t>
                </a:r>
              </a:p>
            </p:txBody>
          </p:sp>
          <p:sp>
            <p:nvSpPr>
              <p:cNvPr id="239" name="TextBox 239"/>
              <p:cNvSpPr txBox="1"/>
              <p:nvPr/>
            </p:nvSpPr>
            <p:spPr>
              <a:xfrm>
                <a:off x="10851629" y="3403759"/>
                <a:ext cx="375691"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n-lt"/>
                    <a:ea typeface="+mn-ea"/>
                    <a:cs typeface="+mn-cs"/>
                  </a:rPr>
                  <a:t>风险等级</a:t>
                </a:r>
              </a:p>
            </p:txBody>
          </p:sp>
          <p:sp>
            <p:nvSpPr>
              <p:cNvPr id="240" name="TextBox 240"/>
              <p:cNvSpPr txBox="1"/>
              <p:nvPr/>
            </p:nvSpPr>
            <p:spPr>
              <a:xfrm>
                <a:off x="11368088" y="340375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处理状态</a:t>
                </a:r>
              </a:p>
            </p:txBody>
          </p:sp>
        </p:grpSp>
        <p:grpSp>
          <p:nvGrpSpPr>
            <p:cNvPr id="272" name="al-rows"/>
            <p:cNvGrpSpPr/>
            <p:nvPr/>
          </p:nvGrpSpPr>
          <p:grpSpPr>
            <a:xfrm>
              <a:off x="8001000" y="3524250"/>
              <a:ext cx="4000500" cy="1333500"/>
              <a:chOff x="8001000" y="3524250"/>
              <a:chExt cx="4000500" cy="1333500"/>
            </a:xfrm>
          </p:grpSpPr>
          <p:sp>
            <p:nvSpPr>
              <p:cNvPr id="242" name="Rectangle 242"/>
              <p:cNvSpPr/>
              <p:nvPr/>
            </p:nvSpPr>
            <p:spPr>
              <a:xfrm>
                <a:off x="8001000" y="3524250"/>
                <a:ext cx="4000500" cy="266700"/>
              </a:xfrm>
              <a:prstGeom prst="rect">
                <a:avLst/>
              </a:prstGeom>
              <a:solidFill>
                <a:srgbClr val="FFFFFF"/>
              </a:solidFill>
              <a:ln>
                <a:noFill/>
              </a:ln>
            </p:spPr>
          </p:sp>
          <p:sp>
            <p:nvSpPr>
              <p:cNvPr id="243" name="TextBox 243"/>
              <p:cNvSpPr txBox="1"/>
              <p:nvPr/>
            </p:nvSpPr>
            <p:spPr>
              <a:xfrm>
                <a:off x="8072438" y="3622834"/>
                <a:ext cx="47781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2025-04-10</a:t>
                </a:r>
              </a:p>
            </p:txBody>
          </p:sp>
          <p:sp>
            <p:nvSpPr>
              <p:cNvPr id="244" name="TextBox 244"/>
              <p:cNvSpPr txBox="1"/>
              <p:nvPr/>
            </p:nvSpPr>
            <p:spPr>
              <a:xfrm>
                <a:off x="8796338" y="3622834"/>
                <a:ext cx="77934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 xml:space="preserve">XX科技有限公司　</a:t>
                </a:r>
              </a:p>
            </p:txBody>
          </p:sp>
          <p:sp>
            <p:nvSpPr>
              <p:cNvPr id="245" name="TextBox 245"/>
              <p:cNvSpPr txBox="1"/>
              <p:nvPr/>
            </p:nvSpPr>
            <p:spPr>
              <a:xfrm>
                <a:off x="9748838" y="3622834"/>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账户流水异常下降</a:t>
                </a:r>
              </a:p>
            </p:txBody>
          </p:sp>
          <p:sp>
            <p:nvSpPr>
              <p:cNvPr id="246" name="TextBox 246"/>
              <p:cNvSpPr txBox="1"/>
              <p:nvPr/>
            </p:nvSpPr>
            <p:spPr>
              <a:xfrm>
                <a:off x="10988942" y="3622834"/>
                <a:ext cx="101067" cy="133350"/>
              </a:xfrm>
              <a:prstGeom prst="rect">
                <a:avLst/>
              </a:prstGeom>
              <a:noFill/>
              <a:ln>
                <a:noFill/>
              </a:ln>
            </p:spPr>
            <p:txBody>
              <a:bodyPr wrap="none" lIns="0" tIns="0" rIns="0" bIns="0" anchor="t" anchorCtr="0">
                <a:spAutoFit/>
              </a:bodyPr>
              <a:lstStyle/>
              <a:p>
                <a:pPr algn="ctr"/>
                <a:r>
                  <a:rPr lang="zh-CN" sz="680" b="1" dirty="0">
                    <a:solidFill>
                      <a:srgbClr val="C8452F"/>
                    </a:solidFill>
                    <a:latin typeface="+mn-lt"/>
                    <a:ea typeface="+mn-ea"/>
                    <a:cs typeface="+mn-cs"/>
                  </a:rPr>
                  <a:t>高</a:t>
                </a:r>
              </a:p>
            </p:txBody>
          </p:sp>
          <p:sp>
            <p:nvSpPr>
              <p:cNvPr id="247" name="TextBox 247"/>
              <p:cNvSpPr txBox="1"/>
              <p:nvPr/>
            </p:nvSpPr>
            <p:spPr>
              <a:xfrm>
                <a:off x="11368088" y="362283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待检查</a:t>
                </a:r>
              </a:p>
            </p:txBody>
          </p:sp>
          <p:sp>
            <p:nvSpPr>
              <p:cNvPr id="248" name="Rectangle 248"/>
              <p:cNvSpPr/>
              <p:nvPr/>
            </p:nvSpPr>
            <p:spPr>
              <a:xfrm>
                <a:off x="8001000" y="3790950"/>
                <a:ext cx="4000500" cy="266700"/>
              </a:xfrm>
              <a:prstGeom prst="rect">
                <a:avLst/>
              </a:prstGeom>
              <a:solidFill>
                <a:srgbClr val="F6F9FD"/>
              </a:solidFill>
              <a:ln>
                <a:noFill/>
              </a:ln>
            </p:spPr>
          </p:sp>
          <p:sp>
            <p:nvSpPr>
              <p:cNvPr id="249" name="TextBox 249"/>
              <p:cNvSpPr txBox="1"/>
              <p:nvPr/>
            </p:nvSpPr>
            <p:spPr>
              <a:xfrm>
                <a:off x="8072438" y="3889534"/>
                <a:ext cx="47781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2025-04-09</a:t>
                </a:r>
              </a:p>
            </p:txBody>
          </p:sp>
          <p:sp>
            <p:nvSpPr>
              <p:cNvPr id="250" name="TextBox 250"/>
              <p:cNvSpPr txBox="1"/>
              <p:nvPr/>
            </p:nvSpPr>
            <p:spPr>
              <a:xfrm>
                <a:off x="8796338" y="3889534"/>
                <a:ext cx="77934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 xml:space="preserve">XX商贸有限公司　</a:t>
                </a:r>
              </a:p>
            </p:txBody>
          </p:sp>
          <p:sp>
            <p:nvSpPr>
              <p:cNvPr id="251" name="TextBox 251"/>
              <p:cNvSpPr txBox="1"/>
              <p:nvPr/>
            </p:nvSpPr>
            <p:spPr>
              <a:xfrm>
                <a:off x="9748838" y="3889534"/>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发票金额大幅减少</a:t>
                </a:r>
              </a:p>
            </p:txBody>
          </p:sp>
          <p:sp>
            <p:nvSpPr>
              <p:cNvPr id="252" name="TextBox 252"/>
              <p:cNvSpPr txBox="1"/>
              <p:nvPr/>
            </p:nvSpPr>
            <p:spPr>
              <a:xfrm>
                <a:off x="10988942" y="3889534"/>
                <a:ext cx="101067" cy="133350"/>
              </a:xfrm>
              <a:prstGeom prst="rect">
                <a:avLst/>
              </a:prstGeom>
              <a:noFill/>
              <a:ln>
                <a:noFill/>
              </a:ln>
            </p:spPr>
            <p:txBody>
              <a:bodyPr wrap="none" lIns="0" tIns="0" rIns="0" bIns="0" anchor="t" anchorCtr="0">
                <a:spAutoFit/>
              </a:bodyPr>
              <a:lstStyle/>
              <a:p>
                <a:pPr algn="ctr"/>
                <a:r>
                  <a:rPr lang="zh-CN" sz="680" b="1" dirty="0">
                    <a:solidFill>
                      <a:srgbClr val="C8452F"/>
                    </a:solidFill>
                    <a:latin typeface="+mn-lt"/>
                    <a:ea typeface="+mn-ea"/>
                    <a:cs typeface="+mn-cs"/>
                  </a:rPr>
                  <a:t>高</a:t>
                </a:r>
              </a:p>
            </p:txBody>
          </p:sp>
          <p:sp>
            <p:nvSpPr>
              <p:cNvPr id="253" name="TextBox 253"/>
              <p:cNvSpPr txBox="1"/>
              <p:nvPr/>
            </p:nvSpPr>
            <p:spPr>
              <a:xfrm>
                <a:off x="11368088" y="388953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已下发</a:t>
                </a:r>
              </a:p>
            </p:txBody>
          </p:sp>
          <p:sp>
            <p:nvSpPr>
              <p:cNvPr id="254" name="Rectangle 254"/>
              <p:cNvSpPr/>
              <p:nvPr/>
            </p:nvSpPr>
            <p:spPr>
              <a:xfrm>
                <a:off x="8001000" y="4057650"/>
                <a:ext cx="4000500" cy="266700"/>
              </a:xfrm>
              <a:prstGeom prst="rect">
                <a:avLst/>
              </a:prstGeom>
              <a:solidFill>
                <a:srgbClr val="FFFFFF"/>
              </a:solidFill>
              <a:ln>
                <a:noFill/>
              </a:ln>
            </p:spPr>
          </p:sp>
          <p:sp>
            <p:nvSpPr>
              <p:cNvPr id="255" name="TextBox 255"/>
              <p:cNvSpPr txBox="1"/>
              <p:nvPr/>
            </p:nvSpPr>
            <p:spPr>
              <a:xfrm>
                <a:off x="8072438" y="4156234"/>
                <a:ext cx="47781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2025-04-08</a:t>
                </a:r>
              </a:p>
            </p:txBody>
          </p:sp>
          <p:sp>
            <p:nvSpPr>
              <p:cNvPr id="256" name="TextBox 256"/>
              <p:cNvSpPr txBox="1"/>
              <p:nvPr/>
            </p:nvSpPr>
            <p:spPr>
              <a:xfrm>
                <a:off x="8796338" y="4156234"/>
                <a:ext cx="77934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 xml:space="preserve">XX实业有限公司　</a:t>
                </a:r>
              </a:p>
            </p:txBody>
          </p:sp>
          <p:sp>
            <p:nvSpPr>
              <p:cNvPr id="257" name="TextBox 257"/>
              <p:cNvSpPr txBox="1"/>
              <p:nvPr/>
            </p:nvSpPr>
            <p:spPr>
              <a:xfrm>
                <a:off x="9748838" y="415623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涉诉信息新增</a:t>
                </a:r>
              </a:p>
            </p:txBody>
          </p:sp>
          <p:sp>
            <p:nvSpPr>
              <p:cNvPr id="258" name="TextBox 258"/>
              <p:cNvSpPr txBox="1"/>
              <p:nvPr/>
            </p:nvSpPr>
            <p:spPr>
              <a:xfrm>
                <a:off x="10988942" y="4156234"/>
                <a:ext cx="101067" cy="133350"/>
              </a:xfrm>
              <a:prstGeom prst="rect">
                <a:avLst/>
              </a:prstGeom>
              <a:noFill/>
              <a:ln>
                <a:noFill/>
              </a:ln>
            </p:spPr>
            <p:txBody>
              <a:bodyPr wrap="none" lIns="0" tIns="0" rIns="0" bIns="0" anchor="t" anchorCtr="0">
                <a:spAutoFit/>
              </a:bodyPr>
              <a:lstStyle/>
              <a:p>
                <a:pPr algn="ctr"/>
                <a:r>
                  <a:rPr lang="zh-CN" sz="680" b="1" dirty="0">
                    <a:solidFill>
                      <a:srgbClr val="92301C"/>
                    </a:solidFill>
                    <a:latin typeface="+mn-lt"/>
                    <a:ea typeface="+mn-ea"/>
                    <a:cs typeface="+mn-cs"/>
                  </a:rPr>
                  <a:t>中</a:t>
                </a:r>
              </a:p>
            </p:txBody>
          </p:sp>
          <p:sp>
            <p:nvSpPr>
              <p:cNvPr id="259" name="TextBox 259"/>
              <p:cNvSpPr txBox="1"/>
              <p:nvPr/>
            </p:nvSpPr>
            <p:spPr>
              <a:xfrm>
                <a:off x="11368088" y="415623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核查中</a:t>
                </a:r>
              </a:p>
            </p:txBody>
          </p:sp>
          <p:sp>
            <p:nvSpPr>
              <p:cNvPr id="260" name="Rectangle 260"/>
              <p:cNvSpPr/>
              <p:nvPr/>
            </p:nvSpPr>
            <p:spPr>
              <a:xfrm>
                <a:off x="8001000" y="4324350"/>
                <a:ext cx="4000500" cy="266700"/>
              </a:xfrm>
              <a:prstGeom prst="rect">
                <a:avLst/>
              </a:prstGeom>
              <a:solidFill>
                <a:srgbClr val="F6F9FD"/>
              </a:solidFill>
              <a:ln>
                <a:noFill/>
              </a:ln>
            </p:spPr>
          </p:sp>
          <p:sp>
            <p:nvSpPr>
              <p:cNvPr id="261" name="TextBox 261"/>
              <p:cNvSpPr txBox="1"/>
              <p:nvPr/>
            </p:nvSpPr>
            <p:spPr>
              <a:xfrm>
                <a:off x="8072438" y="4422934"/>
                <a:ext cx="47781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2025-04-07</a:t>
                </a:r>
              </a:p>
            </p:txBody>
          </p:sp>
          <p:sp>
            <p:nvSpPr>
              <p:cNvPr id="262" name="TextBox 262"/>
              <p:cNvSpPr txBox="1"/>
              <p:nvPr/>
            </p:nvSpPr>
            <p:spPr>
              <a:xfrm>
                <a:off x="8796338" y="4422934"/>
                <a:ext cx="77934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 xml:space="preserve">XX建设有限公司　</a:t>
                </a:r>
              </a:p>
            </p:txBody>
          </p:sp>
          <p:sp>
            <p:nvSpPr>
              <p:cNvPr id="263" name="TextBox 263"/>
              <p:cNvSpPr txBox="1"/>
              <p:nvPr/>
            </p:nvSpPr>
            <p:spPr>
              <a:xfrm>
                <a:off x="9748838" y="4422934"/>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担保物估值下调</a:t>
                </a:r>
              </a:p>
            </p:txBody>
          </p:sp>
          <p:sp>
            <p:nvSpPr>
              <p:cNvPr id="264" name="TextBox 264"/>
              <p:cNvSpPr txBox="1"/>
              <p:nvPr/>
            </p:nvSpPr>
            <p:spPr>
              <a:xfrm>
                <a:off x="10988942" y="4422934"/>
                <a:ext cx="101067" cy="133350"/>
              </a:xfrm>
              <a:prstGeom prst="rect">
                <a:avLst/>
              </a:prstGeom>
              <a:noFill/>
              <a:ln>
                <a:noFill/>
              </a:ln>
            </p:spPr>
            <p:txBody>
              <a:bodyPr wrap="none" lIns="0" tIns="0" rIns="0" bIns="0" anchor="t" anchorCtr="0">
                <a:spAutoFit/>
              </a:bodyPr>
              <a:lstStyle/>
              <a:p>
                <a:pPr algn="ctr"/>
                <a:r>
                  <a:rPr lang="zh-CN" sz="680" b="1" dirty="0">
                    <a:solidFill>
                      <a:srgbClr val="92301C"/>
                    </a:solidFill>
                    <a:latin typeface="+mn-lt"/>
                    <a:ea typeface="+mn-ea"/>
                    <a:cs typeface="+mn-cs"/>
                  </a:rPr>
                  <a:t>中</a:t>
                </a:r>
              </a:p>
            </p:txBody>
          </p:sp>
          <p:sp>
            <p:nvSpPr>
              <p:cNvPr id="265" name="TextBox 265"/>
              <p:cNvSpPr txBox="1"/>
              <p:nvPr/>
            </p:nvSpPr>
            <p:spPr>
              <a:xfrm>
                <a:off x="11368088" y="442293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待检查</a:t>
                </a:r>
              </a:p>
            </p:txBody>
          </p:sp>
          <p:sp>
            <p:nvSpPr>
              <p:cNvPr id="266" name="Rectangle 266"/>
              <p:cNvSpPr/>
              <p:nvPr/>
            </p:nvSpPr>
            <p:spPr>
              <a:xfrm>
                <a:off x="8001000" y="4591050"/>
                <a:ext cx="4000500" cy="266700"/>
              </a:xfrm>
              <a:prstGeom prst="rect">
                <a:avLst/>
              </a:prstGeom>
              <a:solidFill>
                <a:srgbClr val="FFFFFF"/>
              </a:solidFill>
              <a:ln>
                <a:noFill/>
              </a:ln>
            </p:spPr>
          </p:sp>
          <p:sp>
            <p:nvSpPr>
              <p:cNvPr id="267" name="TextBox 267"/>
              <p:cNvSpPr txBox="1"/>
              <p:nvPr/>
            </p:nvSpPr>
            <p:spPr>
              <a:xfrm>
                <a:off x="8072438" y="4689634"/>
                <a:ext cx="47781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2025-04-06</a:t>
                </a:r>
              </a:p>
            </p:txBody>
          </p:sp>
          <p:sp>
            <p:nvSpPr>
              <p:cNvPr id="268" name="TextBox 268"/>
              <p:cNvSpPr txBox="1"/>
              <p:nvPr/>
            </p:nvSpPr>
            <p:spPr>
              <a:xfrm>
                <a:off x="8796338" y="4689634"/>
                <a:ext cx="77934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 xml:space="preserve">XX食品有限公司　</a:t>
                </a:r>
              </a:p>
            </p:txBody>
          </p:sp>
          <p:sp>
            <p:nvSpPr>
              <p:cNvPr id="269" name="TextBox 269"/>
              <p:cNvSpPr txBox="1"/>
              <p:nvPr/>
            </p:nvSpPr>
            <p:spPr>
              <a:xfrm>
                <a:off x="9748838" y="468963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纳税评级下调</a:t>
                </a:r>
              </a:p>
            </p:txBody>
          </p:sp>
          <p:sp>
            <p:nvSpPr>
              <p:cNvPr id="270" name="TextBox 270"/>
              <p:cNvSpPr txBox="1"/>
              <p:nvPr/>
            </p:nvSpPr>
            <p:spPr>
              <a:xfrm>
                <a:off x="10988942" y="4689634"/>
                <a:ext cx="101067" cy="133350"/>
              </a:xfrm>
              <a:prstGeom prst="rect">
                <a:avLst/>
              </a:prstGeom>
              <a:noFill/>
              <a:ln>
                <a:noFill/>
              </a:ln>
            </p:spPr>
            <p:txBody>
              <a:bodyPr wrap="none" lIns="0" tIns="0" rIns="0" bIns="0" anchor="t" anchorCtr="0">
                <a:spAutoFit/>
              </a:bodyPr>
              <a:lstStyle/>
              <a:p>
                <a:pPr algn="ctr"/>
                <a:r>
                  <a:rPr lang="zh-CN" sz="680" b="1" dirty="0">
                    <a:solidFill>
                      <a:srgbClr val="9D331F"/>
                    </a:solidFill>
                    <a:latin typeface="+mn-lt"/>
                    <a:ea typeface="+mn-ea"/>
                    <a:cs typeface="+mn-cs"/>
                  </a:rPr>
                  <a:t>低</a:t>
                </a:r>
              </a:p>
            </p:txBody>
          </p:sp>
          <p:sp>
            <p:nvSpPr>
              <p:cNvPr id="271" name="TextBox 271"/>
              <p:cNvSpPr txBox="1"/>
              <p:nvPr/>
            </p:nvSpPr>
            <p:spPr>
              <a:xfrm>
                <a:off x="11368088" y="468963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已完成</a:t>
                </a:r>
              </a:p>
            </p:txBody>
          </p:sp>
        </p:grpSp>
      </p:grpSp>
      <p:grpSp>
        <p:nvGrpSpPr>
          <p:cNvPr id="276" name="bottom-head"/>
          <p:cNvGrpSpPr/>
          <p:nvPr/>
        </p:nvGrpSpPr>
        <p:grpSpPr>
          <a:xfrm>
            <a:off x="190500" y="5257800"/>
            <a:ext cx="7715250" cy="272987"/>
            <a:chOff x="190500" y="5257800"/>
            <a:chExt cx="7715250" cy="272987"/>
          </a:xfrm>
        </p:grpSpPr>
        <p:sp>
          <p:nvSpPr>
            <p:cNvPr id="274" name="Rectangle 274"/>
            <p:cNvSpPr/>
            <p:nvPr/>
          </p:nvSpPr>
          <p:spPr>
            <a:xfrm>
              <a:off x="190500" y="5257800"/>
              <a:ext cx="7715250" cy="266700"/>
            </a:xfrm>
            <a:prstGeom prst="rect">
              <a:avLst/>
            </a:prstGeom>
            <a:gradFill>
              <a:gsLst>
                <a:gs pos="0">
                  <a:srgbClr val="92301C"/>
                </a:gs>
                <a:gs pos="100000">
                  <a:srgbClr val="B7533F"/>
                </a:gs>
              </a:gsLst>
              <a:lin ang="0" scaled="1"/>
            </a:gradFill>
            <a:ln>
              <a:noFill/>
            </a:ln>
          </p:spPr>
        </p:sp>
        <p:sp>
          <p:nvSpPr>
            <p:cNvPr id="275" name="TextBox 275"/>
            <p:cNvSpPr txBox="1"/>
            <p:nvPr/>
          </p:nvSpPr>
          <p:spPr>
            <a:xfrm>
              <a:off x="318516" y="5325428"/>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关键控制环节</a:t>
              </a:r>
            </a:p>
          </p:txBody>
        </p:sp>
      </p:grpSp>
      <p:grpSp>
        <p:nvGrpSpPr>
          <p:cNvPr id="329" name="bottom-cards"/>
          <p:cNvGrpSpPr/>
          <p:nvPr/>
        </p:nvGrpSpPr>
        <p:grpSpPr>
          <a:xfrm>
            <a:off x="190500" y="5562600"/>
            <a:ext cx="7715250" cy="1009650"/>
            <a:chOff x="190500" y="5562600"/>
            <a:chExt cx="7715250" cy="1009650"/>
          </a:xfrm>
        </p:grpSpPr>
        <p:grpSp>
          <p:nvGrpSpPr>
            <p:cNvPr id="291" name="bc-1"/>
            <p:cNvGrpSpPr/>
            <p:nvPr/>
          </p:nvGrpSpPr>
          <p:grpSpPr>
            <a:xfrm>
              <a:off x="190500" y="5562600"/>
              <a:ext cx="1828800" cy="1009650"/>
              <a:chOff x="190500" y="5562600"/>
              <a:chExt cx="1828800" cy="1009650"/>
            </a:xfrm>
          </p:grpSpPr>
          <p:sp>
            <p:nvSpPr>
              <p:cNvPr id="277" name="Rectangle 277"/>
              <p:cNvSpPr/>
              <p:nvPr/>
            </p:nvSpPr>
            <p:spPr>
              <a:xfrm>
                <a:off x="190500" y="5562600"/>
                <a:ext cx="1828800" cy="1009650"/>
              </a:xfrm>
              <a:prstGeom prst="roundRect">
                <a:avLst>
                  <a:gd name="adj" fmla="val 5660"/>
                </a:avLst>
              </a:prstGeom>
              <a:solidFill>
                <a:srgbClr val="F6F9FD"/>
              </a:solidFill>
              <a:ln w="9525">
                <a:solidFill>
                  <a:srgbClr val="CFDFEE"/>
                </a:solidFill>
              </a:ln>
            </p:spPr>
          </p:sp>
          <p:sp>
            <p:nvSpPr>
              <p:cNvPr id="278" name="Ellipse 278"/>
              <p:cNvSpPr/>
              <p:nvPr/>
            </p:nvSpPr>
            <p:spPr>
              <a:xfrm>
                <a:off x="266700" y="5619750"/>
                <a:ext cx="228600" cy="228600"/>
              </a:xfrm>
              <a:prstGeom prst="ellipse">
                <a:avLst/>
              </a:prstGeom>
              <a:solidFill>
                <a:srgbClr val="92301C"/>
              </a:solidFill>
              <a:ln>
                <a:noFill/>
              </a:ln>
            </p:spPr>
          </p:sp>
          <p:sp>
            <p:nvSpPr>
              <p:cNvPr id="279" name="TextBox 279"/>
              <p:cNvSpPr txBox="1"/>
              <p:nvPr/>
            </p:nvSpPr>
            <p:spPr>
              <a:xfrm>
                <a:off x="345538" y="5683091"/>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1</a:t>
                </a:r>
              </a:p>
            </p:txBody>
          </p:sp>
          <p:sp>
            <p:nvSpPr>
              <p:cNvPr id="280" name="TextBox 280"/>
              <p:cNvSpPr txBox="1"/>
              <p:nvPr/>
            </p:nvSpPr>
            <p:spPr>
              <a:xfrm>
                <a:off x="566738" y="56749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触发规则</a:t>
                </a:r>
              </a:p>
            </p:txBody>
          </p:sp>
          <p:grpSp>
            <p:nvGrpSpPr>
              <p:cNvPr id="286" name="Group 286"/>
              <p:cNvGrpSpPr/>
              <p:nvPr/>
            </p:nvGrpSpPr>
            <p:grpSpPr>
              <a:xfrm>
                <a:off x="318294" y="6050756"/>
                <a:ext cx="144462" cy="185737"/>
                <a:chOff x="318294" y="6050756"/>
                <a:chExt cx="144462" cy="185737"/>
              </a:xfrm>
            </p:grpSpPr>
            <p:sp>
              <p:nvSpPr>
                <p:cNvPr id="281" name="Freeform 281"/>
                <p:cNvSpPr/>
                <p:nvPr/>
              </p:nvSpPr>
              <p:spPr>
                <a:xfrm>
                  <a:off x="411162" y="605075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282" name="Freeform 282"/>
                <p:cNvSpPr/>
                <p:nvPr/>
              </p:nvSpPr>
              <p:spPr>
                <a:xfrm>
                  <a:off x="318294" y="6050756"/>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92301C"/>
                  </a:solidFill>
                </a:ln>
              </p:spPr>
            </p:sp>
            <p:sp>
              <p:nvSpPr>
                <p:cNvPr id="283" name="Freeform 283"/>
                <p:cNvSpPr/>
                <p:nvPr/>
              </p:nvSpPr>
              <p:spPr>
                <a:xfrm>
                  <a:off x="359568" y="6112668"/>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84" name="Freeform 284"/>
                <p:cNvSpPr/>
                <p:nvPr/>
              </p:nvSpPr>
              <p:spPr>
                <a:xfrm>
                  <a:off x="359568" y="6153943"/>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285" name="Freeform 285"/>
                <p:cNvSpPr/>
                <p:nvPr/>
              </p:nvSpPr>
              <p:spPr>
                <a:xfrm>
                  <a:off x="359568" y="6195218"/>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287" name="TextBox 287"/>
              <p:cNvSpPr txBox="1"/>
              <p:nvPr/>
            </p:nvSpPr>
            <p:spPr>
              <a:xfrm>
                <a:off x="585788" y="5912882"/>
                <a:ext cx="137807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设置多维度触发规则（示例测算）</a:t>
                </a:r>
              </a:p>
            </p:txBody>
          </p:sp>
          <p:sp>
            <p:nvSpPr>
              <p:cNvPr id="288" name="TextBox 288"/>
              <p:cNvSpPr txBox="1"/>
              <p:nvPr/>
            </p:nvSpPr>
            <p:spPr>
              <a:xfrm>
                <a:off x="585788" y="6065282"/>
                <a:ext cx="8223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单一/组合指标阈值</a:t>
                </a:r>
              </a:p>
            </p:txBody>
          </p:sp>
          <p:sp>
            <p:nvSpPr>
              <p:cNvPr id="289" name="TextBox 289"/>
              <p:cNvSpPr txBox="1"/>
              <p:nvPr/>
            </p:nvSpPr>
            <p:spPr>
              <a:xfrm>
                <a:off x="585788" y="6217682"/>
                <a:ext cx="90852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行业/区域差异化参数</a:t>
                </a:r>
              </a:p>
            </p:txBody>
          </p:sp>
          <p:sp>
            <p:nvSpPr>
              <p:cNvPr id="290" name="TextBox 290"/>
              <p:cNvSpPr txBox="1"/>
              <p:nvPr/>
            </p:nvSpPr>
            <p:spPr>
              <a:xfrm>
                <a:off x="585788" y="6370082"/>
                <a:ext cx="77497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实时监测自动触发</a:t>
                </a:r>
              </a:p>
            </p:txBody>
          </p:sp>
        </p:grpSp>
        <p:sp>
          <p:nvSpPr>
            <p:cNvPr id="292" name="Polygon 292"/>
            <p:cNvSpPr/>
            <p:nvPr/>
          </p:nvSpPr>
          <p:spPr>
            <a:xfrm>
              <a:off x="2057400" y="6019800"/>
              <a:ext cx="76200" cy="133350"/>
            </a:xfrm>
            <a:custGeom>
              <a:avLst/>
              <a:gdLst/>
              <a:ahLst/>
              <a:cxnLst/>
              <a:rect l="l" t="t" r="r" b="b"/>
              <a:pathLst>
                <a:path w="76200" h="133350">
                  <a:moveTo>
                    <a:pt x="0" y="0"/>
                  </a:moveTo>
                  <a:lnTo>
                    <a:pt x="0" y="133350"/>
                  </a:lnTo>
                  <a:lnTo>
                    <a:pt x="76200" y="66675"/>
                  </a:lnTo>
                  <a:close/>
                </a:path>
              </a:pathLst>
            </a:custGeom>
            <a:solidFill>
              <a:srgbClr val="E3B3A9"/>
            </a:solidFill>
            <a:ln>
              <a:noFill/>
            </a:ln>
          </p:spPr>
        </p:sp>
        <p:grpSp>
          <p:nvGrpSpPr>
            <p:cNvPr id="304" name="bc-2"/>
            <p:cNvGrpSpPr/>
            <p:nvPr/>
          </p:nvGrpSpPr>
          <p:grpSpPr>
            <a:xfrm>
              <a:off x="2152650" y="5562600"/>
              <a:ext cx="1828800" cy="1009650"/>
              <a:chOff x="2152650" y="5562600"/>
              <a:chExt cx="1828800" cy="1009650"/>
            </a:xfrm>
          </p:grpSpPr>
          <p:sp>
            <p:nvSpPr>
              <p:cNvPr id="293" name="Rectangle 293"/>
              <p:cNvSpPr/>
              <p:nvPr/>
            </p:nvSpPr>
            <p:spPr>
              <a:xfrm>
                <a:off x="2152650" y="5562600"/>
                <a:ext cx="1828800" cy="1009650"/>
              </a:xfrm>
              <a:prstGeom prst="roundRect">
                <a:avLst>
                  <a:gd name="adj" fmla="val 5660"/>
                </a:avLst>
              </a:prstGeom>
              <a:solidFill>
                <a:srgbClr val="F6F9FD"/>
              </a:solidFill>
              <a:ln w="9525">
                <a:solidFill>
                  <a:srgbClr val="CFDFEE"/>
                </a:solidFill>
              </a:ln>
            </p:spPr>
          </p:sp>
          <p:sp>
            <p:nvSpPr>
              <p:cNvPr id="294" name="Ellipse 294"/>
              <p:cNvSpPr/>
              <p:nvPr/>
            </p:nvSpPr>
            <p:spPr>
              <a:xfrm>
                <a:off x="2228850" y="5619750"/>
                <a:ext cx="228600" cy="228600"/>
              </a:xfrm>
              <a:prstGeom prst="ellipse">
                <a:avLst/>
              </a:prstGeom>
              <a:solidFill>
                <a:srgbClr val="92301C"/>
              </a:solidFill>
              <a:ln>
                <a:noFill/>
              </a:ln>
            </p:spPr>
          </p:sp>
          <p:sp>
            <p:nvSpPr>
              <p:cNvPr id="295" name="TextBox 295"/>
              <p:cNvSpPr txBox="1"/>
              <p:nvPr/>
            </p:nvSpPr>
            <p:spPr>
              <a:xfrm>
                <a:off x="2307688" y="5683091"/>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2</a:t>
                </a:r>
              </a:p>
            </p:txBody>
          </p:sp>
          <p:sp>
            <p:nvSpPr>
              <p:cNvPr id="296" name="TextBox 296"/>
              <p:cNvSpPr txBox="1"/>
              <p:nvPr/>
            </p:nvSpPr>
            <p:spPr>
              <a:xfrm>
                <a:off x="2528888" y="56749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误报复核</a:t>
                </a:r>
              </a:p>
            </p:txBody>
          </p:sp>
          <p:grpSp>
            <p:nvGrpSpPr>
              <p:cNvPr id="299" name="Group 299"/>
              <p:cNvGrpSpPr/>
              <p:nvPr/>
            </p:nvGrpSpPr>
            <p:grpSpPr>
              <a:xfrm>
                <a:off x="2259806" y="6050756"/>
                <a:ext cx="185737" cy="185737"/>
                <a:chOff x="2259806" y="6050756"/>
                <a:chExt cx="185737" cy="185737"/>
              </a:xfrm>
            </p:grpSpPr>
            <p:sp>
              <p:nvSpPr>
                <p:cNvPr id="297" name="Freeform 297"/>
                <p:cNvSpPr/>
                <p:nvPr/>
              </p:nvSpPr>
              <p:spPr>
                <a:xfrm>
                  <a:off x="2259806" y="6050756"/>
                  <a:ext cx="144462" cy="144462"/>
                </a:xfrm>
                <a:custGeom>
                  <a:avLst/>
                  <a:gdLst/>
                  <a:ahLst/>
                  <a:cxnLst/>
                  <a:rect l="l" t="t" r="r" b="b"/>
                  <a:pathLst>
                    <a:path w="144462" h="144462">
                      <a:moveTo>
                        <a:pt x="0" y="72231"/>
                      </a:moveTo>
                      <a:cubicBezTo>
                        <a:pt x="0" y="112123"/>
                        <a:pt x="32339" y="144462"/>
                        <a:pt x="72231" y="144462"/>
                      </a:cubicBezTo>
                      <a:cubicBezTo>
                        <a:pt x="112123" y="144462"/>
                        <a:pt x="144462" y="112123"/>
                        <a:pt x="144462" y="72231"/>
                      </a:cubicBezTo>
                      <a:cubicBezTo>
                        <a:pt x="144462" y="32339"/>
                        <a:pt x="112123" y="0"/>
                        <a:pt x="72231" y="0"/>
                      </a:cubicBezTo>
                      <a:cubicBezTo>
                        <a:pt x="32339" y="0"/>
                        <a:pt x="0" y="32339"/>
                        <a:pt x="0" y="72231"/>
                      </a:cubicBezTo>
                    </a:path>
                  </a:pathLst>
                </a:custGeom>
                <a:noFill/>
                <a:ln w="20637">
                  <a:solidFill>
                    <a:srgbClr val="92301C"/>
                  </a:solidFill>
                </a:ln>
              </p:spPr>
            </p:sp>
            <p:sp>
              <p:nvSpPr>
                <p:cNvPr id="298" name="Freeform 298"/>
                <p:cNvSpPr/>
                <p:nvPr/>
              </p:nvSpPr>
              <p:spPr>
                <a:xfrm>
                  <a:off x="2383631" y="6174581"/>
                  <a:ext cx="61912" cy="61912"/>
                </a:xfrm>
                <a:custGeom>
                  <a:avLst/>
                  <a:gdLst/>
                  <a:ahLst/>
                  <a:cxnLst/>
                  <a:rect l="l" t="t" r="r" b="b"/>
                  <a:pathLst>
                    <a:path w="61912" h="61912">
                      <a:moveTo>
                        <a:pt x="61912" y="61912"/>
                      </a:moveTo>
                      <a:lnTo>
                        <a:pt x="0" y="0"/>
                      </a:lnTo>
                    </a:path>
                  </a:pathLst>
                </a:custGeom>
                <a:noFill/>
                <a:ln w="20637">
                  <a:solidFill>
                    <a:srgbClr val="92301C"/>
                  </a:solidFill>
                </a:ln>
              </p:spPr>
            </p:sp>
          </p:grpSp>
          <p:sp>
            <p:nvSpPr>
              <p:cNvPr id="300" name="TextBox 300"/>
              <p:cNvSpPr txBox="1"/>
              <p:nvPr/>
            </p:nvSpPr>
            <p:spPr>
              <a:xfrm>
                <a:off x="2547938" y="5912882"/>
                <a:ext cx="77497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系统自动过滤噪声</a:t>
                </a:r>
              </a:p>
            </p:txBody>
          </p:sp>
          <p:sp>
            <p:nvSpPr>
              <p:cNvPr id="301" name="TextBox 301"/>
              <p:cNvSpPr txBox="1"/>
              <p:nvPr/>
            </p:nvSpPr>
            <p:spPr>
              <a:xfrm>
                <a:off x="2547938" y="6065282"/>
                <a:ext cx="77497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人工复核异常信号</a:t>
                </a:r>
              </a:p>
            </p:txBody>
          </p:sp>
          <p:sp>
            <p:nvSpPr>
              <p:cNvPr id="302" name="TextBox 302"/>
              <p:cNvSpPr txBox="1"/>
              <p:nvPr/>
            </p:nvSpPr>
            <p:spPr>
              <a:xfrm>
                <a:off x="2547938" y="6217682"/>
                <a:ext cx="77497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结合历史数据验证</a:t>
                </a:r>
              </a:p>
            </p:txBody>
          </p:sp>
          <p:sp>
            <p:nvSpPr>
              <p:cNvPr id="303" name="TextBox 303"/>
              <p:cNvSpPr txBox="1"/>
              <p:nvPr/>
            </p:nvSpPr>
            <p:spPr>
              <a:xfrm>
                <a:off x="2547938" y="6370082"/>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降低误报率</a:t>
                </a:r>
              </a:p>
            </p:txBody>
          </p:sp>
        </p:grpSp>
        <p:sp>
          <p:nvSpPr>
            <p:cNvPr id="305" name="Polygon 305"/>
            <p:cNvSpPr/>
            <p:nvPr/>
          </p:nvSpPr>
          <p:spPr>
            <a:xfrm>
              <a:off x="4019550" y="6019800"/>
              <a:ext cx="76200" cy="133350"/>
            </a:xfrm>
            <a:custGeom>
              <a:avLst/>
              <a:gdLst/>
              <a:ahLst/>
              <a:cxnLst/>
              <a:rect l="l" t="t" r="r" b="b"/>
              <a:pathLst>
                <a:path w="76200" h="133350">
                  <a:moveTo>
                    <a:pt x="0" y="0"/>
                  </a:moveTo>
                  <a:lnTo>
                    <a:pt x="0" y="133350"/>
                  </a:lnTo>
                  <a:lnTo>
                    <a:pt x="76200" y="66675"/>
                  </a:lnTo>
                  <a:close/>
                </a:path>
              </a:pathLst>
            </a:custGeom>
            <a:solidFill>
              <a:srgbClr val="E3B3A9"/>
            </a:solidFill>
            <a:ln>
              <a:noFill/>
            </a:ln>
          </p:spPr>
        </p:sp>
        <p:grpSp>
          <p:nvGrpSpPr>
            <p:cNvPr id="317" name="bc-3"/>
            <p:cNvGrpSpPr/>
            <p:nvPr/>
          </p:nvGrpSpPr>
          <p:grpSpPr>
            <a:xfrm>
              <a:off x="4114800" y="5562600"/>
              <a:ext cx="1828800" cy="1009650"/>
              <a:chOff x="4114800" y="5562600"/>
              <a:chExt cx="1828800" cy="1009650"/>
            </a:xfrm>
          </p:grpSpPr>
          <p:sp>
            <p:nvSpPr>
              <p:cNvPr id="306" name="Rectangle 306"/>
              <p:cNvSpPr/>
              <p:nvPr/>
            </p:nvSpPr>
            <p:spPr>
              <a:xfrm>
                <a:off x="4114800" y="5562600"/>
                <a:ext cx="1828800" cy="1009650"/>
              </a:xfrm>
              <a:prstGeom prst="roundRect">
                <a:avLst>
                  <a:gd name="adj" fmla="val 5660"/>
                </a:avLst>
              </a:prstGeom>
              <a:solidFill>
                <a:srgbClr val="F6F9FD"/>
              </a:solidFill>
              <a:ln w="9525">
                <a:solidFill>
                  <a:srgbClr val="CFDFEE"/>
                </a:solidFill>
              </a:ln>
            </p:spPr>
          </p:sp>
          <p:sp>
            <p:nvSpPr>
              <p:cNvPr id="307" name="Ellipse 307"/>
              <p:cNvSpPr/>
              <p:nvPr/>
            </p:nvSpPr>
            <p:spPr>
              <a:xfrm>
                <a:off x="4191000" y="5619750"/>
                <a:ext cx="228600" cy="228600"/>
              </a:xfrm>
              <a:prstGeom prst="ellipse">
                <a:avLst/>
              </a:prstGeom>
              <a:solidFill>
                <a:srgbClr val="92301C"/>
              </a:solidFill>
              <a:ln>
                <a:noFill/>
              </a:ln>
            </p:spPr>
          </p:sp>
          <p:sp>
            <p:nvSpPr>
              <p:cNvPr id="308" name="TextBox 308"/>
              <p:cNvSpPr txBox="1"/>
              <p:nvPr/>
            </p:nvSpPr>
            <p:spPr>
              <a:xfrm>
                <a:off x="4269838" y="5683091"/>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3</a:t>
                </a:r>
              </a:p>
            </p:txBody>
          </p:sp>
          <p:sp>
            <p:nvSpPr>
              <p:cNvPr id="309" name="TextBox 309"/>
              <p:cNvSpPr txBox="1"/>
              <p:nvPr/>
            </p:nvSpPr>
            <p:spPr>
              <a:xfrm>
                <a:off x="4491038" y="5674995"/>
                <a:ext cx="736473"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客户经理核查</a:t>
                </a:r>
              </a:p>
            </p:txBody>
          </p:sp>
          <p:grpSp>
            <p:nvGrpSpPr>
              <p:cNvPr id="312" name="Group 312"/>
              <p:cNvGrpSpPr/>
              <p:nvPr/>
            </p:nvGrpSpPr>
            <p:grpSpPr>
              <a:xfrm>
                <a:off x="4252912" y="6050756"/>
                <a:ext cx="123825" cy="185737"/>
                <a:chOff x="4252912" y="6050756"/>
                <a:chExt cx="123825" cy="185737"/>
              </a:xfrm>
            </p:grpSpPr>
            <p:sp>
              <p:nvSpPr>
                <p:cNvPr id="310" name="Freeform 310"/>
                <p:cNvSpPr/>
                <p:nvPr/>
              </p:nvSpPr>
              <p:spPr>
                <a:xfrm>
                  <a:off x="4273550" y="60507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2301C"/>
                  </a:solidFill>
                </a:ln>
              </p:spPr>
            </p:sp>
            <p:sp>
              <p:nvSpPr>
                <p:cNvPr id="311" name="Freeform 311"/>
                <p:cNvSpPr/>
                <p:nvPr/>
              </p:nvSpPr>
              <p:spPr>
                <a:xfrm>
                  <a:off x="4252912" y="61745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92301C"/>
                  </a:solidFill>
                </a:ln>
              </p:spPr>
            </p:sp>
          </p:grpSp>
          <p:sp>
            <p:nvSpPr>
              <p:cNvPr id="313" name="TextBox 313"/>
              <p:cNvSpPr txBox="1"/>
              <p:nvPr/>
            </p:nvSpPr>
            <p:spPr>
              <a:xfrm>
                <a:off x="4510088" y="591288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获取客户说明与证明材料</a:t>
                </a:r>
              </a:p>
            </p:txBody>
          </p:sp>
          <p:sp>
            <p:nvSpPr>
              <p:cNvPr id="314" name="TextBox 314"/>
              <p:cNvSpPr txBox="1"/>
              <p:nvPr/>
            </p:nvSpPr>
            <p:spPr>
              <a:xfrm>
                <a:off x="4510088" y="6065282"/>
                <a:ext cx="99467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现场/远程核实重点事项</a:t>
                </a:r>
              </a:p>
            </p:txBody>
          </p:sp>
          <p:sp>
            <p:nvSpPr>
              <p:cNvPr id="315" name="TextBox 315"/>
              <p:cNvSpPr txBox="1"/>
              <p:nvPr/>
            </p:nvSpPr>
            <p:spPr>
              <a:xfrm>
                <a:off x="4510088" y="62176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形成核查报告</a:t>
                </a:r>
              </a:p>
            </p:txBody>
          </p:sp>
          <p:sp>
            <p:nvSpPr>
              <p:cNvPr id="316" name="TextBox 316"/>
              <p:cNvSpPr txBox="1"/>
              <p:nvPr/>
            </p:nvSpPr>
            <p:spPr>
              <a:xfrm>
                <a:off x="4510088" y="63700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提出处置建议</a:t>
                </a:r>
              </a:p>
            </p:txBody>
          </p:sp>
        </p:grpSp>
        <p:sp>
          <p:nvSpPr>
            <p:cNvPr id="318" name="Polygon 318"/>
            <p:cNvSpPr/>
            <p:nvPr/>
          </p:nvSpPr>
          <p:spPr>
            <a:xfrm>
              <a:off x="5981700" y="6019800"/>
              <a:ext cx="76200" cy="133350"/>
            </a:xfrm>
            <a:custGeom>
              <a:avLst/>
              <a:gdLst/>
              <a:ahLst/>
              <a:cxnLst/>
              <a:rect l="l" t="t" r="r" b="b"/>
              <a:pathLst>
                <a:path w="76200" h="133350">
                  <a:moveTo>
                    <a:pt x="0" y="0"/>
                  </a:moveTo>
                  <a:lnTo>
                    <a:pt x="0" y="133350"/>
                  </a:lnTo>
                  <a:lnTo>
                    <a:pt x="76200" y="66675"/>
                  </a:lnTo>
                  <a:close/>
                </a:path>
              </a:pathLst>
            </a:custGeom>
            <a:solidFill>
              <a:srgbClr val="E3B3A9"/>
            </a:solidFill>
            <a:ln>
              <a:noFill/>
            </a:ln>
          </p:spPr>
        </p:sp>
        <p:grpSp>
          <p:nvGrpSpPr>
            <p:cNvPr id="328" name="bc-4"/>
            <p:cNvGrpSpPr/>
            <p:nvPr/>
          </p:nvGrpSpPr>
          <p:grpSpPr>
            <a:xfrm>
              <a:off x="6076950" y="5562600"/>
              <a:ext cx="1828800" cy="1009650"/>
              <a:chOff x="6076950" y="5562600"/>
              <a:chExt cx="1828800" cy="1009650"/>
            </a:xfrm>
          </p:grpSpPr>
          <p:sp>
            <p:nvSpPr>
              <p:cNvPr id="319" name="Rectangle 319"/>
              <p:cNvSpPr/>
              <p:nvPr/>
            </p:nvSpPr>
            <p:spPr>
              <a:xfrm>
                <a:off x="6076950" y="5562600"/>
                <a:ext cx="1828800" cy="1009650"/>
              </a:xfrm>
              <a:prstGeom prst="roundRect">
                <a:avLst>
                  <a:gd name="adj" fmla="val 5660"/>
                </a:avLst>
              </a:prstGeom>
              <a:solidFill>
                <a:srgbClr val="F6F9FD"/>
              </a:solidFill>
              <a:ln w="9525">
                <a:solidFill>
                  <a:srgbClr val="CFDFEE"/>
                </a:solidFill>
              </a:ln>
            </p:spPr>
          </p:sp>
          <p:sp>
            <p:nvSpPr>
              <p:cNvPr id="320" name="Ellipse 320"/>
              <p:cNvSpPr/>
              <p:nvPr/>
            </p:nvSpPr>
            <p:spPr>
              <a:xfrm>
                <a:off x="6153150" y="5619750"/>
                <a:ext cx="228600" cy="228600"/>
              </a:xfrm>
              <a:prstGeom prst="ellipse">
                <a:avLst/>
              </a:prstGeom>
              <a:solidFill>
                <a:srgbClr val="92301C"/>
              </a:solidFill>
              <a:ln>
                <a:noFill/>
              </a:ln>
            </p:spPr>
          </p:sp>
          <p:sp>
            <p:nvSpPr>
              <p:cNvPr id="321" name="TextBox 321"/>
              <p:cNvSpPr txBox="1"/>
              <p:nvPr/>
            </p:nvSpPr>
            <p:spPr>
              <a:xfrm>
                <a:off x="6231988" y="5683091"/>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4</a:t>
                </a:r>
              </a:p>
            </p:txBody>
          </p:sp>
          <p:sp>
            <p:nvSpPr>
              <p:cNvPr id="322" name="TextBox 322"/>
              <p:cNvSpPr txBox="1"/>
              <p:nvPr/>
            </p:nvSpPr>
            <p:spPr>
              <a:xfrm>
                <a:off x="6453188" y="5674995"/>
                <a:ext cx="736473"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风险经理审批</a:t>
                </a:r>
              </a:p>
            </p:txBody>
          </p:sp>
          <p:sp>
            <p:nvSpPr>
              <p:cNvPr id="323" name="Freeform 323"/>
              <p:cNvSpPr/>
              <p:nvPr/>
            </p:nvSpPr>
            <p:spPr>
              <a:xfrm>
                <a:off x="6225381" y="6061075"/>
                <a:ext cx="103187" cy="165099"/>
              </a:xfrm>
              <a:custGeom>
                <a:avLst/>
                <a:gdLst/>
                <a:ahLst/>
                <a:cxnLst/>
                <a:rect l="l" t="t" r="r" b="b"/>
                <a:pathLst>
                  <a:path w="103187" h="165099">
                    <a:moveTo>
                      <a:pt x="103187" y="134143"/>
                    </a:moveTo>
                    <a:lnTo>
                      <a:pt x="103187" y="0"/>
                    </a:lnTo>
                    <a:lnTo>
                      <a:pt x="51594" y="30956"/>
                    </a:lnTo>
                    <a:lnTo>
                      <a:pt x="0" y="0"/>
                    </a:lnTo>
                    <a:lnTo>
                      <a:pt x="0" y="134143"/>
                    </a:lnTo>
                    <a:lnTo>
                      <a:pt x="51594" y="165099"/>
                    </a:lnTo>
                    <a:lnTo>
                      <a:pt x="103187" y="134143"/>
                    </a:lnTo>
                  </a:path>
                </a:pathLst>
              </a:custGeom>
              <a:noFill/>
              <a:ln w="20637">
                <a:solidFill>
                  <a:srgbClr val="92301C"/>
                </a:solidFill>
              </a:ln>
            </p:spPr>
          </p:sp>
          <p:sp>
            <p:nvSpPr>
              <p:cNvPr id="324" name="TextBox 324"/>
              <p:cNvSpPr txBox="1"/>
              <p:nvPr/>
            </p:nvSpPr>
            <p:spPr>
              <a:xfrm>
                <a:off x="6472238" y="5912882"/>
                <a:ext cx="86113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评估风险等级与影响</a:t>
                </a:r>
              </a:p>
            </p:txBody>
          </p:sp>
          <p:sp>
            <p:nvSpPr>
              <p:cNvPr id="325" name="TextBox 325"/>
              <p:cNvSpPr txBox="1"/>
              <p:nvPr/>
            </p:nvSpPr>
            <p:spPr>
              <a:xfrm>
                <a:off x="6472238" y="60652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确认处置措施</a:t>
                </a:r>
              </a:p>
            </p:txBody>
          </p:sp>
          <p:sp>
            <p:nvSpPr>
              <p:cNvPr id="326" name="TextBox 326"/>
              <p:cNvSpPr txBox="1"/>
              <p:nvPr/>
            </p:nvSpPr>
            <p:spPr>
              <a:xfrm>
                <a:off x="6472238" y="6217682"/>
                <a:ext cx="86113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重大风险需授权确认</a:t>
                </a:r>
              </a:p>
            </p:txBody>
          </p:sp>
          <p:sp>
            <p:nvSpPr>
              <p:cNvPr id="327" name="TextBox 327"/>
              <p:cNvSpPr txBox="1"/>
              <p:nvPr/>
            </p:nvSpPr>
            <p:spPr>
              <a:xfrm>
                <a:off x="6472238" y="63700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形成审批意见</a:t>
                </a:r>
              </a:p>
            </p:txBody>
          </p:sp>
        </p:grpSp>
      </p:grpSp>
      <p:grpSp>
        <p:nvGrpSpPr>
          <p:cNvPr id="332" name="kpi-head"/>
          <p:cNvGrpSpPr/>
          <p:nvPr/>
        </p:nvGrpSpPr>
        <p:grpSpPr>
          <a:xfrm>
            <a:off x="8001000" y="5257800"/>
            <a:ext cx="4000500" cy="272987"/>
            <a:chOff x="8001000" y="5257800"/>
            <a:chExt cx="4000500" cy="272987"/>
          </a:xfrm>
        </p:grpSpPr>
        <p:sp>
          <p:nvSpPr>
            <p:cNvPr id="330" name="Rectangle 330"/>
            <p:cNvSpPr/>
            <p:nvPr/>
          </p:nvSpPr>
          <p:spPr>
            <a:xfrm>
              <a:off x="8001000" y="5257800"/>
              <a:ext cx="4000500" cy="266700"/>
            </a:xfrm>
            <a:prstGeom prst="rect">
              <a:avLst/>
            </a:prstGeom>
            <a:gradFill>
              <a:gsLst>
                <a:gs pos="0">
                  <a:srgbClr val="92301C"/>
                </a:gs>
                <a:gs pos="100000">
                  <a:srgbClr val="B7533F"/>
                </a:gs>
              </a:gsLst>
              <a:lin ang="0" scaled="1"/>
            </a:gradFill>
            <a:ln>
              <a:noFill/>
            </a:ln>
          </p:spPr>
        </p:sp>
        <p:sp>
          <p:nvSpPr>
            <p:cNvPr id="331" name="TextBox 331"/>
            <p:cNvSpPr txBox="1"/>
            <p:nvPr/>
          </p:nvSpPr>
          <p:spPr>
            <a:xfrm>
              <a:off x="8129016" y="5325428"/>
              <a:ext cx="123840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关键成效</a:t>
              </a:r>
              <a:r>
                <a:rPr lang="zh-CN" sz="820" dirty="0">
                  <a:solidFill>
                    <a:srgbClr val="FFFFFF"/>
                  </a:solidFill>
                  <a:latin typeface="+mn-lt"/>
                  <a:ea typeface="+mn-ea"/>
                  <a:cs typeface="+mn-cs"/>
                </a:rPr>
                <a:t>（示例测算）</a:t>
              </a:r>
            </a:p>
          </p:txBody>
        </p:sp>
      </p:grpSp>
      <p:grpSp>
        <p:nvGrpSpPr>
          <p:cNvPr id="352" name="kpi-cards"/>
          <p:cNvGrpSpPr/>
          <p:nvPr/>
        </p:nvGrpSpPr>
        <p:grpSpPr>
          <a:xfrm>
            <a:off x="8001000" y="5562600"/>
            <a:ext cx="4000500" cy="1009650"/>
            <a:chOff x="8001000" y="5562600"/>
            <a:chExt cx="4000500" cy="1009650"/>
          </a:xfrm>
        </p:grpSpPr>
        <p:sp>
          <p:nvSpPr>
            <p:cNvPr id="333" name="Rectangle 333"/>
            <p:cNvSpPr/>
            <p:nvPr/>
          </p:nvSpPr>
          <p:spPr>
            <a:xfrm>
              <a:off x="8001000" y="5562600"/>
              <a:ext cx="1943100" cy="1009650"/>
            </a:xfrm>
            <a:prstGeom prst="roundRect">
              <a:avLst>
                <a:gd name="adj" fmla="val 5660"/>
              </a:avLst>
            </a:prstGeom>
            <a:solidFill>
              <a:srgbClr val="EEF5FB"/>
            </a:solidFill>
            <a:ln>
              <a:noFill/>
            </a:ln>
          </p:spPr>
        </p:sp>
        <p:sp>
          <p:nvSpPr>
            <p:cNvPr id="334" name="Ellipse 334"/>
            <p:cNvSpPr/>
            <p:nvPr/>
          </p:nvSpPr>
          <p:spPr>
            <a:xfrm>
              <a:off x="8096250" y="5695950"/>
              <a:ext cx="304800" cy="304800"/>
            </a:xfrm>
            <a:prstGeom prst="ellipse">
              <a:avLst/>
            </a:prstGeom>
            <a:solidFill>
              <a:srgbClr val="92301C"/>
            </a:solidFill>
            <a:ln>
              <a:noFill/>
            </a:ln>
          </p:spPr>
        </p:sp>
        <p:grpSp>
          <p:nvGrpSpPr>
            <p:cNvPr id="337" name="Group 337"/>
            <p:cNvGrpSpPr/>
            <p:nvPr/>
          </p:nvGrpSpPr>
          <p:grpSpPr>
            <a:xfrm>
              <a:off x="8177212" y="5776912"/>
              <a:ext cx="142875" cy="142875"/>
              <a:chOff x="8177212" y="5776912"/>
              <a:chExt cx="142875" cy="142875"/>
            </a:xfrm>
          </p:grpSpPr>
          <p:sp>
            <p:nvSpPr>
              <p:cNvPr id="335" name="Freeform 335"/>
              <p:cNvSpPr/>
              <p:nvPr/>
            </p:nvSpPr>
            <p:spPr>
              <a:xfrm>
                <a:off x="8177212" y="57769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sp>
            <p:nvSpPr>
              <p:cNvPr id="336" name="Freeform 336"/>
              <p:cNvSpPr/>
              <p:nvPr/>
            </p:nvSpPr>
            <p:spPr>
              <a:xfrm>
                <a:off x="8248650" y="5808662"/>
                <a:ext cx="23812" cy="63500"/>
              </a:xfrm>
              <a:custGeom>
                <a:avLst/>
                <a:gdLst/>
                <a:ahLst/>
                <a:cxnLst/>
                <a:rect l="l" t="t" r="r" b="b"/>
                <a:pathLst>
                  <a:path w="23812" h="63500">
                    <a:moveTo>
                      <a:pt x="0" y="0"/>
                    </a:moveTo>
                    <a:lnTo>
                      <a:pt x="0" y="39687"/>
                    </a:lnTo>
                    <a:lnTo>
                      <a:pt x="23812" y="63500"/>
                    </a:lnTo>
                  </a:path>
                </a:pathLst>
              </a:custGeom>
              <a:noFill/>
              <a:ln w="15875">
                <a:solidFill>
                  <a:srgbClr val="FFFFFF"/>
                </a:solidFill>
              </a:ln>
            </p:spPr>
          </p:sp>
        </p:grpSp>
        <p:sp>
          <p:nvSpPr>
            <p:cNvPr id="338" name="TextBox 338"/>
            <p:cNvSpPr txBox="1"/>
            <p:nvPr/>
          </p:nvSpPr>
          <p:spPr>
            <a:xfrm>
              <a:off x="8491538" y="5789295"/>
              <a:ext cx="615315"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预警提前量</a:t>
              </a:r>
            </a:p>
          </p:txBody>
        </p:sp>
        <p:sp>
          <p:nvSpPr>
            <p:cNvPr id="339" name="TextBox 339"/>
            <p:cNvSpPr txBox="1"/>
            <p:nvPr/>
          </p:nvSpPr>
          <p:spPr>
            <a:xfrm>
              <a:off x="8486394" y="6018848"/>
              <a:ext cx="990150"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+20天　</a:t>
              </a:r>
            </a:p>
          </p:txBody>
        </p:sp>
        <p:sp>
          <p:nvSpPr>
            <p:cNvPr id="340" name="TextBox 340"/>
            <p:cNvSpPr txBox="1"/>
            <p:nvPr/>
          </p:nvSpPr>
          <p:spPr>
            <a:xfrm>
              <a:off x="849153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341" name="Rectangle 341"/>
            <p:cNvSpPr/>
            <p:nvPr/>
          </p:nvSpPr>
          <p:spPr>
            <a:xfrm>
              <a:off x="10058400" y="5562600"/>
              <a:ext cx="1943100" cy="1009650"/>
            </a:xfrm>
            <a:prstGeom prst="roundRect">
              <a:avLst>
                <a:gd name="adj" fmla="val 5660"/>
              </a:avLst>
            </a:prstGeom>
            <a:solidFill>
              <a:srgbClr val="EEF5FB"/>
            </a:solidFill>
            <a:ln>
              <a:noFill/>
            </a:ln>
          </p:spPr>
        </p:sp>
        <p:sp>
          <p:nvSpPr>
            <p:cNvPr id="342" name="Ellipse 342"/>
            <p:cNvSpPr/>
            <p:nvPr/>
          </p:nvSpPr>
          <p:spPr>
            <a:xfrm>
              <a:off x="10153650" y="5695950"/>
              <a:ext cx="304800" cy="304800"/>
            </a:xfrm>
            <a:prstGeom prst="ellipse">
              <a:avLst/>
            </a:prstGeom>
            <a:solidFill>
              <a:srgbClr val="92301C"/>
            </a:solidFill>
            <a:ln>
              <a:noFill/>
            </a:ln>
          </p:spPr>
        </p:sp>
        <p:grpSp>
          <p:nvGrpSpPr>
            <p:cNvPr id="348" name="Group 348"/>
            <p:cNvGrpSpPr/>
            <p:nvPr/>
          </p:nvGrpSpPr>
          <p:grpSpPr>
            <a:xfrm>
              <a:off x="10250487" y="5776912"/>
              <a:ext cx="111125" cy="142875"/>
              <a:chOff x="10250487" y="5776912"/>
              <a:chExt cx="111125" cy="142875"/>
            </a:xfrm>
          </p:grpSpPr>
          <p:sp>
            <p:nvSpPr>
              <p:cNvPr id="343" name="Freeform 343"/>
              <p:cNvSpPr/>
              <p:nvPr/>
            </p:nvSpPr>
            <p:spPr>
              <a:xfrm>
                <a:off x="10321925" y="57769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344" name="Freeform 344"/>
              <p:cNvSpPr/>
              <p:nvPr/>
            </p:nvSpPr>
            <p:spPr>
              <a:xfrm>
                <a:off x="10250487" y="57769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345" name="Freeform 345"/>
              <p:cNvSpPr/>
              <p:nvPr/>
            </p:nvSpPr>
            <p:spPr>
              <a:xfrm>
                <a:off x="10282237" y="582453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346" name="Freeform 346"/>
              <p:cNvSpPr/>
              <p:nvPr/>
            </p:nvSpPr>
            <p:spPr>
              <a:xfrm>
                <a:off x="10282237" y="585628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347" name="Freeform 347"/>
              <p:cNvSpPr/>
              <p:nvPr/>
            </p:nvSpPr>
            <p:spPr>
              <a:xfrm>
                <a:off x="10282237" y="588803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349" name="TextBox 349"/>
            <p:cNvSpPr txBox="1"/>
            <p:nvPr/>
          </p:nvSpPr>
          <p:spPr>
            <a:xfrm>
              <a:off x="10548938" y="5789295"/>
              <a:ext cx="978789"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贷后检查准备时间</a:t>
              </a:r>
            </a:p>
          </p:txBody>
        </p:sp>
        <p:sp>
          <p:nvSpPr>
            <p:cNvPr id="350" name="TextBox 350"/>
            <p:cNvSpPr txBox="1"/>
            <p:nvPr/>
          </p:nvSpPr>
          <p:spPr>
            <a:xfrm>
              <a:off x="10543794" y="6018848"/>
              <a:ext cx="632666"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-45%</a:t>
              </a:r>
            </a:p>
          </p:txBody>
        </p:sp>
        <p:sp>
          <p:nvSpPr>
            <p:cNvPr id="351" name="TextBox 351"/>
            <p:cNvSpPr txBox="1"/>
            <p:nvPr/>
          </p:nvSpPr>
          <p:spPr>
            <a:xfrm>
              <a:off x="1054893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grpSp>
      <p:grpSp>
        <p:nvGrpSpPr>
          <p:cNvPr id="360" name="footer-band"/>
          <p:cNvGrpSpPr/>
          <p:nvPr/>
        </p:nvGrpSpPr>
        <p:grpSpPr>
          <a:xfrm>
            <a:off x="190500" y="6610350"/>
            <a:ext cx="11811000" cy="231457"/>
            <a:chOff x="190500" y="6610350"/>
            <a:chExt cx="11811000" cy="231457"/>
          </a:xfrm>
        </p:grpSpPr>
        <p:sp>
          <p:nvSpPr>
            <p:cNvPr id="353" name="Rectangle 353"/>
            <p:cNvSpPr/>
            <p:nvPr/>
          </p:nvSpPr>
          <p:spPr>
            <a:xfrm>
              <a:off x="190500" y="6610350"/>
              <a:ext cx="11811000" cy="228600"/>
            </a:xfrm>
            <a:prstGeom prst="roundRect">
              <a:avLst>
                <a:gd name="adj" fmla="val 50000"/>
              </a:avLst>
            </a:prstGeom>
            <a:solidFill>
              <a:srgbClr val="EEF5FB"/>
            </a:solidFill>
            <a:ln>
              <a:noFill/>
            </a:ln>
          </p:spPr>
        </p:sp>
        <p:sp>
          <p:nvSpPr>
            <p:cNvPr id="354" name="Ellipse 354"/>
            <p:cNvSpPr/>
            <p:nvPr/>
          </p:nvSpPr>
          <p:spPr>
            <a:xfrm>
              <a:off x="304800" y="6648450"/>
              <a:ext cx="152400" cy="152400"/>
            </a:xfrm>
            <a:prstGeom prst="ellipse">
              <a:avLst/>
            </a:prstGeom>
            <a:solidFill>
              <a:srgbClr val="92301C"/>
            </a:solidFill>
            <a:ln>
              <a:noFill/>
            </a:ln>
          </p:spPr>
        </p:sp>
        <p:sp>
          <p:nvSpPr>
            <p:cNvPr id="355" name="TextBox 355"/>
            <p:cNvSpPr txBox="1"/>
            <p:nvPr/>
          </p:nvSpPr>
          <p:spPr>
            <a:xfrm>
              <a:off x="359427" y="6681788"/>
              <a:ext cx="43146"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a:t>
              </a:r>
            </a:p>
          </p:txBody>
        </p:sp>
        <p:sp>
          <p:nvSpPr>
            <p:cNvPr id="356" name="TextBox 356"/>
            <p:cNvSpPr txBox="1"/>
            <p:nvPr/>
          </p:nvSpPr>
          <p:spPr>
            <a:xfrm>
              <a:off x="528638" y="6681788"/>
              <a:ext cx="2533650" cy="147638"/>
            </a:xfrm>
            <a:prstGeom prst="rect">
              <a:avLst/>
            </a:prstGeom>
            <a:noFill/>
            <a:ln>
              <a:noFill/>
            </a:ln>
          </p:spPr>
          <p:txBody>
            <a:bodyPr wrap="none" lIns="0" tIns="0" rIns="0" bIns="0" anchor="t" anchorCtr="0">
              <a:spAutoFit/>
            </a:bodyPr>
            <a:lstStyle/>
            <a:p>
              <a:pPr algn="l"/>
              <a:r>
                <a:rPr lang="zh-CN" sz="750" dirty="0">
                  <a:solidFill>
                    <a:srgbClr val="6B1B0B"/>
                  </a:solidFill>
                  <a:latin typeface="+mn-lt"/>
                  <a:ea typeface="+mn-ea"/>
                  <a:cs typeface="+mn-cs"/>
                </a:rPr>
                <a:t>重大风险识别、交易、投资、承保必须由授权人员确认。</a:t>
              </a:r>
            </a:p>
          </p:txBody>
        </p:sp>
        <p:sp>
          <p:nvSpPr>
            <p:cNvPr id="357" name="TextBox 357"/>
            <p:cNvSpPr txBox="1"/>
            <p:nvPr/>
          </p:nvSpPr>
          <p:spPr>
            <a:xfrm>
              <a:off x="8806472" y="6685836"/>
              <a:ext cx="2590190" cy="140494"/>
            </a:xfrm>
            <a:prstGeom prst="rect">
              <a:avLst/>
            </a:prstGeom>
            <a:noFill/>
            <a:ln>
              <a:noFill/>
            </a:ln>
          </p:spPr>
          <p:txBody>
            <a:bodyPr wrap="none" lIns="0" tIns="0" rIns="0" bIns="0" anchor="t" anchorCtr="0">
              <a:spAutoFit/>
            </a:bodyPr>
            <a:lstStyle/>
            <a:p>
              <a:pPr algn="r"/>
              <a:r>
                <a:rPr lang="zh-CN" sz="710" dirty="0">
                  <a:solidFill>
                    <a:srgbClr val="8C716B"/>
                  </a:solidFill>
                  <a:latin typeface="+mn-lt"/>
                  <a:ea typeface="+mn-ea"/>
                  <a:cs typeface="+mn-cs"/>
                </a:rPr>
                <a:t>数据仅用于内部管理，均为示例测算，不构成任何投资建议。</a:t>
              </a:r>
            </a:p>
          </p:txBody>
        </p:sp>
        <p:sp>
          <p:nvSpPr>
            <p:cNvPr id="358" name="Line 358"/>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59" name="TextBox 359"/>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07</a:t>
              </a:r>
            </a:p>
          </p:txBody>
        </p:sp>
      </p:gr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07</a:t>
              </a:r>
            </a:p>
          </p:txBody>
        </p:sp>
        <p:sp>
          <p:nvSpPr>
            <p:cNvPr id="4" name="TextBox 4"/>
            <p:cNvSpPr txBox="1"/>
            <p:nvPr/>
          </p:nvSpPr>
          <p:spPr>
            <a:xfrm>
              <a:off x="942594" y="170498"/>
              <a:ext cx="6320028"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实时反欺诈智能体</a:t>
              </a:r>
              <a:r>
                <a:rPr lang="zh-CN" sz="1950" b="1" dirty="0">
                  <a:solidFill>
                    <a:srgbClr val="92301C"/>
                  </a:solidFill>
                  <a:latin typeface="+mn-lt"/>
                  <a:ea typeface="+mn-ea"/>
                  <a:cs typeface="+mn-cs"/>
                </a:rPr>
                <a:t>｜在交易毫秒级决策中识别异常网络</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风险防控 · 07</a:t>
              </a:r>
            </a:p>
          </p:txBody>
        </p:sp>
        <p:sp>
          <p:nvSpPr>
            <p:cNvPr id="6" name="TextBox 6"/>
            <p:cNvSpPr txBox="1"/>
            <p:nvPr/>
          </p:nvSpPr>
          <p:spPr>
            <a:xfrm>
              <a:off x="9928234" y="334089"/>
              <a:ext cx="2078029"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稳健经营 · 合规先行 · 科技赋能 · 守护价值</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1" name="col1-head"/>
          <p:cNvGrpSpPr/>
          <p:nvPr/>
        </p:nvGrpSpPr>
        <p:grpSpPr>
          <a:xfrm>
            <a:off x="190500" y="628650"/>
            <a:ext cx="2019300" cy="279559"/>
            <a:chOff x="190500" y="628650"/>
            <a:chExt cx="2019300" cy="279559"/>
          </a:xfrm>
        </p:grpSpPr>
        <p:sp>
          <p:nvSpPr>
            <p:cNvPr id="9" name="Rectangle 9"/>
            <p:cNvSpPr/>
            <p:nvPr/>
          </p:nvSpPr>
          <p:spPr>
            <a:xfrm>
              <a:off x="190500" y="628650"/>
              <a:ext cx="2019300" cy="266700"/>
            </a:xfrm>
            <a:prstGeom prst="rect">
              <a:avLst/>
            </a:prstGeom>
            <a:gradFill>
              <a:gsLst>
                <a:gs pos="0">
                  <a:srgbClr val="92301C"/>
                </a:gs>
                <a:gs pos="100000">
                  <a:srgbClr val="B7533F"/>
                </a:gs>
              </a:gsLst>
              <a:lin ang="0" scaled="1"/>
            </a:gradFill>
            <a:ln>
              <a:noFill/>
            </a:ln>
          </p:spPr>
        </p:sp>
        <p:sp>
          <p:nvSpPr>
            <p:cNvPr id="10" name="TextBox 10"/>
            <p:cNvSpPr txBox="1"/>
            <p:nvPr/>
          </p:nvSpPr>
          <p:spPr>
            <a:xfrm>
              <a:off x="318135" y="688181"/>
              <a:ext cx="121762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多源数据实时接入</a:t>
              </a:r>
            </a:p>
          </p:txBody>
        </p:sp>
      </p:grpSp>
      <p:grpSp>
        <p:nvGrpSpPr>
          <p:cNvPr id="14" name="col2-head"/>
          <p:cNvGrpSpPr/>
          <p:nvPr/>
        </p:nvGrpSpPr>
        <p:grpSpPr>
          <a:xfrm>
            <a:off x="2381250" y="628650"/>
            <a:ext cx="5524500" cy="279559"/>
            <a:chOff x="2381250" y="628650"/>
            <a:chExt cx="5524500" cy="279559"/>
          </a:xfrm>
        </p:grpSpPr>
        <p:sp>
          <p:nvSpPr>
            <p:cNvPr id="12" name="Rectangle 12"/>
            <p:cNvSpPr/>
            <p:nvPr/>
          </p:nvSpPr>
          <p:spPr>
            <a:xfrm>
              <a:off x="2381250" y="628650"/>
              <a:ext cx="5524500" cy="266700"/>
            </a:xfrm>
            <a:prstGeom prst="rect">
              <a:avLst/>
            </a:prstGeom>
            <a:gradFill>
              <a:gsLst>
                <a:gs pos="0">
                  <a:srgbClr val="92301C"/>
                </a:gs>
                <a:gs pos="100000">
                  <a:srgbClr val="B7533F"/>
                </a:gs>
              </a:gsLst>
              <a:lin ang="0" scaled="1"/>
            </a:gradFill>
            <a:ln>
              <a:noFill/>
            </a:ln>
          </p:spPr>
        </p:sp>
        <p:sp>
          <p:nvSpPr>
            <p:cNvPr id="13" name="TextBox 13"/>
            <p:cNvSpPr txBox="1"/>
            <p:nvPr/>
          </p:nvSpPr>
          <p:spPr>
            <a:xfrm>
              <a:off x="2508885" y="688181"/>
              <a:ext cx="1659179"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欺诈关系网络图谱</a:t>
              </a:r>
              <a:r>
                <a:rPr lang="zh-CN" sz="820" dirty="0">
                  <a:solidFill>
                    <a:srgbClr val="FFFFFF"/>
                  </a:solidFill>
                  <a:latin typeface="+mn-lt"/>
                  <a:ea typeface="+mn-ea"/>
                  <a:cs typeface="+mn-cs"/>
                </a:rPr>
                <a:t>（示例）</a:t>
              </a:r>
            </a:p>
          </p:txBody>
        </p:sp>
      </p:grpSp>
      <p:grpSp>
        <p:nvGrpSpPr>
          <p:cNvPr id="17" name="col3-head"/>
          <p:cNvGrpSpPr/>
          <p:nvPr/>
        </p:nvGrpSpPr>
        <p:grpSpPr>
          <a:xfrm>
            <a:off x="8001000" y="628650"/>
            <a:ext cx="4000500" cy="279559"/>
            <a:chOff x="8001000" y="628650"/>
            <a:chExt cx="4000500" cy="279559"/>
          </a:xfrm>
        </p:grpSpPr>
        <p:sp>
          <p:nvSpPr>
            <p:cNvPr id="15" name="Rectangle 15"/>
            <p:cNvSpPr/>
            <p:nvPr/>
          </p:nvSpPr>
          <p:spPr>
            <a:xfrm>
              <a:off x="8001000" y="628650"/>
              <a:ext cx="4000500" cy="266700"/>
            </a:xfrm>
            <a:prstGeom prst="rect">
              <a:avLst/>
            </a:prstGeom>
            <a:gradFill>
              <a:gsLst>
                <a:gs pos="0">
                  <a:srgbClr val="92301C"/>
                </a:gs>
                <a:gs pos="100000">
                  <a:srgbClr val="B7533F"/>
                </a:gs>
              </a:gsLst>
              <a:lin ang="0" scaled="1"/>
            </a:gradFill>
            <a:ln>
              <a:noFill/>
            </a:ln>
          </p:spPr>
        </p:sp>
        <p:sp>
          <p:nvSpPr>
            <p:cNvPr id="16" name="TextBox 16"/>
            <p:cNvSpPr txBox="1"/>
            <p:nvPr/>
          </p:nvSpPr>
          <p:spPr>
            <a:xfrm>
              <a:off x="812863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实时决策链路</a:t>
              </a:r>
            </a:p>
          </p:txBody>
        </p:sp>
      </p:grpSp>
      <p:grpSp>
        <p:nvGrpSpPr>
          <p:cNvPr id="73" name="left-cards"/>
          <p:cNvGrpSpPr/>
          <p:nvPr/>
        </p:nvGrpSpPr>
        <p:grpSpPr>
          <a:xfrm>
            <a:off x="190500" y="990600"/>
            <a:ext cx="2624391" cy="4076700"/>
            <a:chOff x="190500" y="990600"/>
            <a:chExt cx="2624391" cy="4076700"/>
          </a:xfrm>
        </p:grpSpPr>
        <p:grpSp>
          <p:nvGrpSpPr>
            <p:cNvPr id="26" name="lc-1"/>
            <p:cNvGrpSpPr/>
            <p:nvPr/>
          </p:nvGrpSpPr>
          <p:grpSpPr>
            <a:xfrm>
              <a:off x="190500" y="990600"/>
              <a:ext cx="2019300" cy="647700"/>
              <a:chOff x="190500" y="990600"/>
              <a:chExt cx="2019300" cy="647700"/>
            </a:xfrm>
          </p:grpSpPr>
          <p:sp>
            <p:nvSpPr>
              <p:cNvPr id="18" name="Rectangle 18"/>
              <p:cNvSpPr/>
              <p:nvPr/>
            </p:nvSpPr>
            <p:spPr>
              <a:xfrm>
                <a:off x="190500" y="990600"/>
                <a:ext cx="2019300" cy="647700"/>
              </a:xfrm>
              <a:prstGeom prst="roundRect">
                <a:avLst>
                  <a:gd name="adj" fmla="val 8824"/>
                </a:avLst>
              </a:prstGeom>
              <a:solidFill>
                <a:srgbClr val="F6F9FD"/>
              </a:solidFill>
              <a:ln w="9525">
                <a:solidFill>
                  <a:srgbClr val="CFDFEE"/>
                </a:solidFill>
              </a:ln>
            </p:spPr>
          </p:sp>
          <p:grpSp>
            <p:nvGrpSpPr>
              <p:cNvPr id="22" name="Group 22"/>
              <p:cNvGrpSpPr/>
              <p:nvPr/>
            </p:nvGrpSpPr>
            <p:grpSpPr>
              <a:xfrm>
                <a:off x="316706" y="1231900"/>
                <a:ext cx="185737" cy="165100"/>
                <a:chOff x="316706" y="1231900"/>
                <a:chExt cx="185737" cy="165100"/>
              </a:xfrm>
            </p:grpSpPr>
            <p:sp>
              <p:nvSpPr>
                <p:cNvPr id="19" name="Freeform 19"/>
                <p:cNvSpPr/>
                <p:nvPr/>
              </p:nvSpPr>
              <p:spPr>
                <a:xfrm>
                  <a:off x="419893" y="1273175"/>
                  <a:ext cx="82550" cy="123825"/>
                </a:xfrm>
                <a:custGeom>
                  <a:avLst/>
                  <a:gdLst/>
                  <a:ahLst/>
                  <a:cxnLst/>
                  <a:rect l="l" t="t" r="r" b="b"/>
                  <a:pathLst>
                    <a:path w="82550" h="123825">
                      <a:moveTo>
                        <a:pt x="0" y="10319"/>
                      </a:moveTo>
                      <a:cubicBezTo>
                        <a:pt x="0" y="4620"/>
                        <a:pt x="4620" y="0"/>
                        <a:pt x="10319" y="0"/>
                      </a:cubicBezTo>
                      <a:lnTo>
                        <a:pt x="72231" y="0"/>
                      </a:lnTo>
                      <a:cubicBezTo>
                        <a:pt x="77930" y="0"/>
                        <a:pt x="82550" y="4620"/>
                        <a:pt x="82550" y="10319"/>
                      </a:cubicBezTo>
                      <a:lnTo>
                        <a:pt x="82550" y="113506"/>
                      </a:lnTo>
                      <a:cubicBezTo>
                        <a:pt x="82550" y="119205"/>
                        <a:pt x="77930" y="123825"/>
                        <a:pt x="72231" y="123825"/>
                      </a:cubicBezTo>
                      <a:lnTo>
                        <a:pt x="10319" y="123825"/>
                      </a:lnTo>
                      <a:cubicBezTo>
                        <a:pt x="4620" y="123825"/>
                        <a:pt x="0" y="119205"/>
                        <a:pt x="0" y="113506"/>
                      </a:cubicBezTo>
                      <a:lnTo>
                        <a:pt x="0" y="10319"/>
                      </a:lnTo>
                    </a:path>
                  </a:pathLst>
                </a:custGeom>
                <a:noFill/>
                <a:ln w="20637">
                  <a:solidFill>
                    <a:srgbClr val="92301C"/>
                  </a:solidFill>
                </a:ln>
              </p:spPr>
            </p:sp>
            <p:sp>
              <p:nvSpPr>
                <p:cNvPr id="20" name="Freeform 20"/>
                <p:cNvSpPr/>
                <p:nvPr/>
              </p:nvSpPr>
              <p:spPr>
                <a:xfrm>
                  <a:off x="316706" y="1231900"/>
                  <a:ext cx="154781" cy="144462"/>
                </a:xfrm>
                <a:custGeom>
                  <a:avLst/>
                  <a:gdLst/>
                  <a:ahLst/>
                  <a:cxnLst/>
                  <a:rect l="l" t="t" r="r" b="b"/>
                  <a:pathLst>
                    <a:path w="154781" h="144462">
                      <a:moveTo>
                        <a:pt x="154781" y="41275"/>
                      </a:moveTo>
                      <a:lnTo>
                        <a:pt x="154781" y="10319"/>
                      </a:lnTo>
                      <a:cubicBezTo>
                        <a:pt x="154781" y="4620"/>
                        <a:pt x="150161" y="0"/>
                        <a:pt x="144462" y="0"/>
                      </a:cubicBezTo>
                      <a:lnTo>
                        <a:pt x="10319" y="0"/>
                      </a:lnTo>
                      <a:cubicBezTo>
                        <a:pt x="4620" y="0"/>
                        <a:pt x="0" y="4620"/>
                        <a:pt x="0" y="10319"/>
                      </a:cubicBezTo>
                      <a:lnTo>
                        <a:pt x="0" y="134143"/>
                      </a:lnTo>
                      <a:cubicBezTo>
                        <a:pt x="0" y="139842"/>
                        <a:pt x="4620" y="144462"/>
                        <a:pt x="10319" y="144462"/>
                      </a:cubicBezTo>
                      <a:lnTo>
                        <a:pt x="103187" y="144462"/>
                      </a:lnTo>
                    </a:path>
                  </a:pathLst>
                </a:custGeom>
                <a:noFill/>
                <a:ln w="20637">
                  <a:solidFill>
                    <a:srgbClr val="92301C"/>
                  </a:solidFill>
                </a:ln>
              </p:spPr>
            </p:sp>
            <p:sp>
              <p:nvSpPr>
                <p:cNvPr id="21" name="Freeform 21"/>
                <p:cNvSpPr/>
                <p:nvPr/>
              </p:nvSpPr>
              <p:spPr>
                <a:xfrm>
                  <a:off x="450849" y="1283493"/>
                  <a:ext cx="20637" cy="9525"/>
                </a:xfrm>
                <a:custGeom>
                  <a:avLst/>
                  <a:gdLst/>
                  <a:ahLst/>
                  <a:cxnLst/>
                  <a:rect l="l" t="t" r="r" b="b"/>
                  <a:pathLst>
                    <a:path w="20637" h="9525">
                      <a:moveTo>
                        <a:pt x="0" y="0"/>
                      </a:moveTo>
                      <a:lnTo>
                        <a:pt x="20637" y="0"/>
                      </a:lnTo>
                    </a:path>
                  </a:pathLst>
                </a:custGeom>
                <a:noFill/>
                <a:ln w="20637">
                  <a:solidFill>
                    <a:srgbClr val="92301C"/>
                  </a:solidFill>
                </a:ln>
              </p:spPr>
            </p:sp>
          </p:grpSp>
          <p:sp>
            <p:nvSpPr>
              <p:cNvPr id="23" name="TextBox 23"/>
              <p:cNvSpPr txBox="1"/>
              <p:nvPr/>
            </p:nvSpPr>
            <p:spPr>
              <a:xfrm>
                <a:off x="604838" y="10798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设备数据</a:t>
                </a:r>
              </a:p>
            </p:txBody>
          </p:sp>
          <p:sp>
            <p:nvSpPr>
              <p:cNvPr id="24" name="TextBox 24"/>
              <p:cNvSpPr txBox="1"/>
              <p:nvPr/>
            </p:nvSpPr>
            <p:spPr>
              <a:xfrm>
                <a:off x="604838" y="1275636"/>
                <a:ext cx="1242329"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设备ID、设备指纹、系统环境</a:t>
                </a:r>
              </a:p>
            </p:txBody>
          </p:sp>
          <p:sp>
            <p:nvSpPr>
              <p:cNvPr id="25" name="TextBox 25"/>
              <p:cNvSpPr txBox="1"/>
              <p:nvPr/>
            </p:nvSpPr>
            <p:spPr>
              <a:xfrm>
                <a:off x="604838" y="1418511"/>
                <a:ext cx="1197016"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j-lt"/>
                    <a:ea typeface="+mj-ea"/>
                    <a:cs typeface="+mj-cs"/>
                  </a:rPr>
                  <a:t xml:space="preserve">应用列表、是否越狱/Root　</a:t>
                </a:r>
              </a:p>
            </p:txBody>
          </p:sp>
        </p:grpSp>
        <p:grpSp>
          <p:nvGrpSpPr>
            <p:cNvPr id="37" name="lc-2"/>
            <p:cNvGrpSpPr/>
            <p:nvPr/>
          </p:nvGrpSpPr>
          <p:grpSpPr>
            <a:xfrm>
              <a:off x="190500" y="1676400"/>
              <a:ext cx="2019300" cy="647700"/>
              <a:chOff x="190500" y="1676400"/>
              <a:chExt cx="2019300" cy="647700"/>
            </a:xfrm>
          </p:grpSpPr>
          <p:sp>
            <p:nvSpPr>
              <p:cNvPr id="27" name="Rectangle 27"/>
              <p:cNvSpPr/>
              <p:nvPr/>
            </p:nvSpPr>
            <p:spPr>
              <a:xfrm>
                <a:off x="190500" y="1676400"/>
                <a:ext cx="2019300" cy="647700"/>
              </a:xfrm>
              <a:prstGeom prst="roundRect">
                <a:avLst>
                  <a:gd name="adj" fmla="val 8824"/>
                </a:avLst>
              </a:prstGeom>
              <a:solidFill>
                <a:srgbClr val="F6F9FD"/>
              </a:solidFill>
              <a:ln w="9525">
                <a:solidFill>
                  <a:srgbClr val="CFDFEE"/>
                </a:solidFill>
              </a:ln>
            </p:spPr>
          </p:sp>
          <p:grpSp>
            <p:nvGrpSpPr>
              <p:cNvPr id="33" name="Group 33"/>
              <p:cNvGrpSpPr/>
              <p:nvPr/>
            </p:nvGrpSpPr>
            <p:grpSpPr>
              <a:xfrm>
                <a:off x="316706" y="1907381"/>
                <a:ext cx="185737" cy="185737"/>
                <a:chOff x="316706" y="1907381"/>
                <a:chExt cx="185737" cy="185737"/>
              </a:xfrm>
            </p:grpSpPr>
            <p:sp>
              <p:nvSpPr>
                <p:cNvPr id="28" name="Freeform 28"/>
                <p:cNvSpPr/>
                <p:nvPr/>
              </p:nvSpPr>
              <p:spPr>
                <a:xfrm>
                  <a:off x="316706" y="19073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92301C"/>
                  </a:solidFill>
                </a:ln>
              </p:spPr>
            </p:sp>
            <p:sp>
              <p:nvSpPr>
                <p:cNvPr id="29" name="Freeform 29"/>
                <p:cNvSpPr/>
                <p:nvPr/>
              </p:nvSpPr>
              <p:spPr>
                <a:xfrm>
                  <a:off x="322897" y="1969293"/>
                  <a:ext cx="173354" cy="9525"/>
                </a:xfrm>
                <a:custGeom>
                  <a:avLst/>
                  <a:gdLst/>
                  <a:ahLst/>
                  <a:cxnLst/>
                  <a:rect l="l" t="t" r="r" b="b"/>
                  <a:pathLst>
                    <a:path w="173354" h="9525">
                      <a:moveTo>
                        <a:pt x="0" y="0"/>
                      </a:moveTo>
                      <a:lnTo>
                        <a:pt x="173354" y="0"/>
                      </a:lnTo>
                    </a:path>
                  </a:pathLst>
                </a:custGeom>
                <a:noFill/>
                <a:ln w="20637">
                  <a:solidFill>
                    <a:srgbClr val="92301C"/>
                  </a:solidFill>
                </a:ln>
              </p:spPr>
            </p:sp>
            <p:sp>
              <p:nvSpPr>
                <p:cNvPr id="30" name="Freeform 30"/>
                <p:cNvSpPr/>
                <p:nvPr/>
              </p:nvSpPr>
              <p:spPr>
                <a:xfrm>
                  <a:off x="322897" y="2031206"/>
                  <a:ext cx="173354" cy="9525"/>
                </a:xfrm>
                <a:custGeom>
                  <a:avLst/>
                  <a:gdLst/>
                  <a:ahLst/>
                  <a:cxnLst/>
                  <a:rect l="l" t="t" r="r" b="b"/>
                  <a:pathLst>
                    <a:path w="173354" h="9525">
                      <a:moveTo>
                        <a:pt x="0" y="0"/>
                      </a:moveTo>
                      <a:lnTo>
                        <a:pt x="173354" y="0"/>
                      </a:lnTo>
                    </a:path>
                  </a:pathLst>
                </a:custGeom>
                <a:noFill/>
                <a:ln w="20637">
                  <a:solidFill>
                    <a:srgbClr val="92301C"/>
                  </a:solidFill>
                </a:ln>
              </p:spPr>
            </p:sp>
            <p:sp>
              <p:nvSpPr>
                <p:cNvPr id="31" name="Freeform 31"/>
                <p:cNvSpPr/>
                <p:nvPr/>
              </p:nvSpPr>
              <p:spPr>
                <a:xfrm>
                  <a:off x="368949" y="1907381"/>
                  <a:ext cx="35466" cy="185737"/>
                </a:xfrm>
                <a:custGeom>
                  <a:avLst/>
                  <a:gdLst/>
                  <a:ahLst/>
                  <a:cxnLst/>
                  <a:rect l="l" t="t" r="r" b="b"/>
                  <a:pathLst>
                    <a:path w="35466" h="185737">
                      <a:moveTo>
                        <a:pt x="35466" y="0"/>
                      </a:moveTo>
                      <a:cubicBezTo>
                        <a:pt x="0" y="56833"/>
                        <a:pt x="0" y="128904"/>
                        <a:pt x="35466" y="185737"/>
                      </a:cubicBezTo>
                    </a:path>
                  </a:pathLst>
                </a:custGeom>
                <a:noFill/>
                <a:ln w="20637">
                  <a:solidFill>
                    <a:srgbClr val="92301C"/>
                  </a:solidFill>
                </a:ln>
              </p:spPr>
            </p:sp>
            <p:sp>
              <p:nvSpPr>
                <p:cNvPr id="32" name="Freeform 32"/>
                <p:cNvSpPr/>
                <p:nvPr/>
              </p:nvSpPr>
              <p:spPr>
                <a:xfrm>
                  <a:off x="414734" y="1907381"/>
                  <a:ext cx="35466" cy="185737"/>
                </a:xfrm>
                <a:custGeom>
                  <a:avLst/>
                  <a:gdLst/>
                  <a:ahLst/>
                  <a:cxnLst/>
                  <a:rect l="l" t="t" r="r" b="b"/>
                  <a:pathLst>
                    <a:path w="35466" h="185737">
                      <a:moveTo>
                        <a:pt x="0" y="0"/>
                      </a:moveTo>
                      <a:cubicBezTo>
                        <a:pt x="35466" y="56833"/>
                        <a:pt x="35466" y="128904"/>
                        <a:pt x="0" y="185737"/>
                      </a:cubicBezTo>
                    </a:path>
                  </a:pathLst>
                </a:custGeom>
                <a:noFill/>
                <a:ln w="20637">
                  <a:solidFill>
                    <a:srgbClr val="92301C"/>
                  </a:solidFill>
                </a:ln>
              </p:spPr>
            </p:sp>
          </p:grpSp>
          <p:sp>
            <p:nvSpPr>
              <p:cNvPr id="34" name="TextBox 34"/>
              <p:cNvSpPr txBox="1"/>
              <p:nvPr/>
            </p:nvSpPr>
            <p:spPr>
              <a:xfrm>
                <a:off x="604838" y="1765697"/>
                <a:ext cx="515478"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j-lt"/>
                    <a:ea typeface="+mj-ea"/>
                    <a:cs typeface="+mj-cs"/>
                  </a:rPr>
                  <a:t xml:space="preserve">IP数据　</a:t>
                </a:r>
              </a:p>
            </p:txBody>
          </p:sp>
          <p:sp>
            <p:nvSpPr>
              <p:cNvPr id="35" name="TextBox 35"/>
              <p:cNvSpPr txBox="1"/>
              <p:nvPr/>
            </p:nvSpPr>
            <p:spPr>
              <a:xfrm>
                <a:off x="604838" y="1961436"/>
                <a:ext cx="1156323"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j-lt"/>
                    <a:ea typeface="+mj-ea"/>
                    <a:cs typeface="+mj-cs"/>
                  </a:rPr>
                  <a:t xml:space="preserve">IP地址、归属地、运营商　</a:t>
                </a:r>
              </a:p>
            </p:txBody>
          </p:sp>
          <p:sp>
            <p:nvSpPr>
              <p:cNvPr id="36" name="TextBox 36"/>
              <p:cNvSpPr txBox="1"/>
              <p:nvPr/>
            </p:nvSpPr>
            <p:spPr>
              <a:xfrm>
                <a:off x="604838" y="2104311"/>
                <a:ext cx="77416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代理类型、风险库</a:t>
                </a:r>
              </a:p>
            </p:txBody>
          </p:sp>
        </p:grpSp>
        <p:grpSp>
          <p:nvGrpSpPr>
            <p:cNvPr id="45" name="lc-3"/>
            <p:cNvGrpSpPr/>
            <p:nvPr/>
          </p:nvGrpSpPr>
          <p:grpSpPr>
            <a:xfrm>
              <a:off x="190500" y="2362200"/>
              <a:ext cx="2019300" cy="647700"/>
              <a:chOff x="190500" y="2362200"/>
              <a:chExt cx="2019300" cy="647700"/>
            </a:xfrm>
          </p:grpSpPr>
          <p:sp>
            <p:nvSpPr>
              <p:cNvPr id="38" name="Rectangle 38"/>
              <p:cNvSpPr/>
              <p:nvPr/>
            </p:nvSpPr>
            <p:spPr>
              <a:xfrm>
                <a:off x="190500" y="2362200"/>
                <a:ext cx="2019300" cy="647700"/>
              </a:xfrm>
              <a:prstGeom prst="roundRect">
                <a:avLst>
                  <a:gd name="adj" fmla="val 8824"/>
                </a:avLst>
              </a:prstGeom>
              <a:solidFill>
                <a:srgbClr val="F6F9FD"/>
              </a:solidFill>
              <a:ln w="9525">
                <a:solidFill>
                  <a:srgbClr val="CFDFEE"/>
                </a:solidFill>
              </a:ln>
            </p:spPr>
          </p:sp>
          <p:grpSp>
            <p:nvGrpSpPr>
              <p:cNvPr id="41" name="Group 41"/>
              <p:cNvGrpSpPr/>
              <p:nvPr/>
            </p:nvGrpSpPr>
            <p:grpSpPr>
              <a:xfrm>
                <a:off x="318965" y="2585125"/>
                <a:ext cx="181219" cy="200811"/>
                <a:chOff x="318965" y="2585125"/>
                <a:chExt cx="181219" cy="200811"/>
              </a:xfrm>
            </p:grpSpPr>
            <p:sp>
              <p:nvSpPr>
                <p:cNvPr id="39" name="Freeform 39"/>
                <p:cNvSpPr/>
                <p:nvPr/>
              </p:nvSpPr>
              <p:spPr>
                <a:xfrm>
                  <a:off x="378618" y="2644775"/>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92301C"/>
                  </a:solidFill>
                </a:ln>
              </p:spPr>
            </p:sp>
            <p:sp>
              <p:nvSpPr>
                <p:cNvPr id="40" name="Freeform 40"/>
                <p:cNvSpPr/>
                <p:nvPr/>
              </p:nvSpPr>
              <p:spPr>
                <a:xfrm>
                  <a:off x="318965" y="2585125"/>
                  <a:ext cx="181219" cy="200811"/>
                </a:xfrm>
                <a:custGeom>
                  <a:avLst/>
                  <a:gdLst/>
                  <a:ahLst/>
                  <a:cxnLst/>
                  <a:rect l="l" t="t" r="r" b="b"/>
                  <a:pathLst>
                    <a:path w="181219" h="200811">
                      <a:moveTo>
                        <a:pt x="148982" y="148979"/>
                      </a:moveTo>
                      <a:lnTo>
                        <a:pt x="105200" y="192761"/>
                      </a:lnTo>
                      <a:cubicBezTo>
                        <a:pt x="97142" y="200811"/>
                        <a:pt x="84087" y="200811"/>
                        <a:pt x="76029" y="192761"/>
                      </a:cubicBezTo>
                      <a:lnTo>
                        <a:pt x="32236" y="148979"/>
                      </a:lnTo>
                      <a:cubicBezTo>
                        <a:pt x="0" y="116741"/>
                        <a:pt x="1" y="64474"/>
                        <a:pt x="32238" y="32237"/>
                      </a:cubicBezTo>
                      <a:cubicBezTo>
                        <a:pt x="64476" y="0"/>
                        <a:pt x="116743" y="0"/>
                        <a:pt x="148980" y="32237"/>
                      </a:cubicBezTo>
                      <a:cubicBezTo>
                        <a:pt x="181218" y="64474"/>
                        <a:pt x="181219" y="116741"/>
                        <a:pt x="148982" y="148979"/>
                      </a:cubicBezTo>
                    </a:path>
                  </a:pathLst>
                </a:custGeom>
                <a:noFill/>
                <a:ln w="20637">
                  <a:solidFill>
                    <a:srgbClr val="92301C"/>
                  </a:solidFill>
                </a:ln>
              </p:spPr>
            </p:sp>
          </p:grpSp>
          <p:sp>
            <p:nvSpPr>
              <p:cNvPr id="42" name="TextBox 42"/>
              <p:cNvSpPr txBox="1"/>
              <p:nvPr/>
            </p:nvSpPr>
            <p:spPr>
              <a:xfrm>
                <a:off x="604838" y="24514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位置数据</a:t>
                </a:r>
              </a:p>
            </p:txBody>
          </p:sp>
          <p:sp>
            <p:nvSpPr>
              <p:cNvPr id="43" name="TextBox 43"/>
              <p:cNvSpPr txBox="1"/>
              <p:nvPr/>
            </p:nvSpPr>
            <p:spPr>
              <a:xfrm>
                <a:off x="604838" y="2647236"/>
                <a:ext cx="1312220"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j-lt"/>
                    <a:ea typeface="+mj-ea"/>
                    <a:cs typeface="+mj-cs"/>
                  </a:rPr>
                  <a:t xml:space="preserve">GPS位置、基站定位、Wi-Fi　</a:t>
                </a:r>
              </a:p>
            </p:txBody>
          </p:sp>
          <p:sp>
            <p:nvSpPr>
              <p:cNvPr id="44" name="TextBox 44"/>
              <p:cNvSpPr txBox="1"/>
              <p:nvPr/>
            </p:nvSpPr>
            <p:spPr>
              <a:xfrm>
                <a:off x="604838" y="2790111"/>
                <a:ext cx="106090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地理围栏、异常位置跳变</a:t>
                </a:r>
              </a:p>
            </p:txBody>
          </p:sp>
        </p:grpSp>
        <p:grpSp>
          <p:nvGrpSpPr>
            <p:cNvPr id="53" name="lc-4"/>
            <p:cNvGrpSpPr/>
            <p:nvPr/>
          </p:nvGrpSpPr>
          <p:grpSpPr>
            <a:xfrm>
              <a:off x="190500" y="3048000"/>
              <a:ext cx="2019300" cy="647700"/>
              <a:chOff x="190500" y="3048000"/>
              <a:chExt cx="2019300" cy="647700"/>
            </a:xfrm>
          </p:grpSpPr>
          <p:sp>
            <p:nvSpPr>
              <p:cNvPr id="46" name="Rectangle 46"/>
              <p:cNvSpPr/>
              <p:nvPr/>
            </p:nvSpPr>
            <p:spPr>
              <a:xfrm>
                <a:off x="190500" y="3048000"/>
                <a:ext cx="2019300" cy="647700"/>
              </a:xfrm>
              <a:prstGeom prst="roundRect">
                <a:avLst>
                  <a:gd name="adj" fmla="val 8824"/>
                </a:avLst>
              </a:prstGeom>
              <a:solidFill>
                <a:srgbClr val="F6F9FD"/>
              </a:solidFill>
              <a:ln w="9525">
                <a:solidFill>
                  <a:srgbClr val="CFDFEE"/>
                </a:solidFill>
              </a:ln>
            </p:spPr>
          </p:sp>
          <p:grpSp>
            <p:nvGrpSpPr>
              <p:cNvPr id="49" name="Group 49"/>
              <p:cNvGrpSpPr/>
              <p:nvPr/>
            </p:nvGrpSpPr>
            <p:grpSpPr>
              <a:xfrm>
                <a:off x="347662" y="3278981"/>
                <a:ext cx="123825" cy="185737"/>
                <a:chOff x="347662" y="3278981"/>
                <a:chExt cx="123825" cy="185737"/>
              </a:xfrm>
            </p:grpSpPr>
            <p:sp>
              <p:nvSpPr>
                <p:cNvPr id="47" name="Freeform 47"/>
                <p:cNvSpPr/>
                <p:nvPr/>
              </p:nvSpPr>
              <p:spPr>
                <a:xfrm>
                  <a:off x="368300" y="32789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2301C"/>
                  </a:solidFill>
                </a:ln>
              </p:spPr>
            </p:sp>
            <p:sp>
              <p:nvSpPr>
                <p:cNvPr id="48" name="Freeform 48"/>
                <p:cNvSpPr/>
                <p:nvPr/>
              </p:nvSpPr>
              <p:spPr>
                <a:xfrm>
                  <a:off x="347662" y="34028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92301C"/>
                  </a:solidFill>
                </a:ln>
              </p:spPr>
            </p:sp>
          </p:grpSp>
          <p:sp>
            <p:nvSpPr>
              <p:cNvPr id="50" name="TextBox 50"/>
              <p:cNvSpPr txBox="1"/>
              <p:nvPr/>
            </p:nvSpPr>
            <p:spPr>
              <a:xfrm>
                <a:off x="604838" y="31372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账户数据</a:t>
                </a:r>
              </a:p>
            </p:txBody>
          </p:sp>
          <p:sp>
            <p:nvSpPr>
              <p:cNvPr id="51" name="TextBox 51"/>
              <p:cNvSpPr txBox="1"/>
              <p:nvPr/>
            </p:nvSpPr>
            <p:spPr>
              <a:xfrm>
                <a:off x="604838" y="3333036"/>
                <a:ext cx="1242329"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账户ID、开户时间、账户等级</a:t>
                </a:r>
              </a:p>
            </p:txBody>
          </p:sp>
          <p:sp>
            <p:nvSpPr>
              <p:cNvPr id="52" name="TextBox 52"/>
              <p:cNvSpPr txBox="1"/>
              <p:nvPr/>
            </p:nvSpPr>
            <p:spPr>
              <a:xfrm>
                <a:off x="604838" y="3475911"/>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历史交易、关联账户</a:t>
                </a:r>
              </a:p>
            </p:txBody>
          </p:sp>
        </p:grpSp>
        <p:grpSp>
          <p:nvGrpSpPr>
            <p:cNvPr id="64" name="lc-5"/>
            <p:cNvGrpSpPr/>
            <p:nvPr/>
          </p:nvGrpSpPr>
          <p:grpSpPr>
            <a:xfrm>
              <a:off x="190500" y="3733800"/>
              <a:ext cx="2019300" cy="647700"/>
              <a:chOff x="190500" y="3733800"/>
              <a:chExt cx="2019300" cy="647700"/>
            </a:xfrm>
          </p:grpSpPr>
          <p:sp>
            <p:nvSpPr>
              <p:cNvPr id="54" name="Rectangle 54"/>
              <p:cNvSpPr/>
              <p:nvPr/>
            </p:nvSpPr>
            <p:spPr>
              <a:xfrm>
                <a:off x="190500" y="3733800"/>
                <a:ext cx="2019300" cy="647700"/>
              </a:xfrm>
              <a:prstGeom prst="roundRect">
                <a:avLst>
                  <a:gd name="adj" fmla="val 8824"/>
                </a:avLst>
              </a:prstGeom>
              <a:solidFill>
                <a:srgbClr val="F6F9FD"/>
              </a:solidFill>
              <a:ln w="9525">
                <a:solidFill>
                  <a:srgbClr val="CFDFEE"/>
                </a:solidFill>
              </a:ln>
            </p:spPr>
          </p:sp>
          <p:grpSp>
            <p:nvGrpSpPr>
              <p:cNvPr id="60" name="Group 60"/>
              <p:cNvGrpSpPr/>
              <p:nvPr/>
            </p:nvGrpSpPr>
            <p:grpSpPr>
              <a:xfrm>
                <a:off x="316706" y="3964781"/>
                <a:ext cx="185737" cy="195262"/>
                <a:chOff x="316706" y="3964781"/>
                <a:chExt cx="185737" cy="195262"/>
              </a:xfrm>
            </p:grpSpPr>
            <p:sp>
              <p:nvSpPr>
                <p:cNvPr id="55" name="Freeform 55"/>
                <p:cNvSpPr/>
                <p:nvPr/>
              </p:nvSpPr>
              <p:spPr>
                <a:xfrm>
                  <a:off x="316706" y="4150518"/>
                  <a:ext cx="185737" cy="9525"/>
                </a:xfrm>
                <a:custGeom>
                  <a:avLst/>
                  <a:gdLst/>
                  <a:ahLst/>
                  <a:cxnLst/>
                  <a:rect l="l" t="t" r="r" b="b"/>
                  <a:pathLst>
                    <a:path w="185737" h="9525">
                      <a:moveTo>
                        <a:pt x="0" y="0"/>
                      </a:moveTo>
                      <a:lnTo>
                        <a:pt x="185737" y="0"/>
                      </a:lnTo>
                    </a:path>
                  </a:pathLst>
                </a:custGeom>
                <a:noFill/>
                <a:ln w="20637">
                  <a:solidFill>
                    <a:srgbClr val="92301C"/>
                  </a:solidFill>
                </a:ln>
              </p:spPr>
            </p:sp>
            <p:sp>
              <p:nvSpPr>
                <p:cNvPr id="56" name="Freeform 56"/>
                <p:cNvSpPr/>
                <p:nvPr/>
              </p:nvSpPr>
              <p:spPr>
                <a:xfrm>
                  <a:off x="316706" y="3964781"/>
                  <a:ext cx="185737" cy="82550"/>
                </a:xfrm>
                <a:custGeom>
                  <a:avLst/>
                  <a:gdLst/>
                  <a:ahLst/>
                  <a:cxnLst/>
                  <a:rect l="l" t="t" r="r" b="b"/>
                  <a:pathLst>
                    <a:path w="185737" h="82550">
                      <a:moveTo>
                        <a:pt x="0" y="41275"/>
                      </a:moveTo>
                      <a:lnTo>
                        <a:pt x="0" y="51594"/>
                      </a:lnTo>
                      <a:cubicBezTo>
                        <a:pt x="0" y="68690"/>
                        <a:pt x="13860" y="82550"/>
                        <a:pt x="30956" y="82550"/>
                      </a:cubicBezTo>
                      <a:cubicBezTo>
                        <a:pt x="48053" y="82550"/>
                        <a:pt x="61912" y="68690"/>
                        <a:pt x="61912" y="51594"/>
                      </a:cubicBezTo>
                      <a:lnTo>
                        <a:pt x="61912" y="41275"/>
                      </a:lnTo>
                      <a:moveTo>
                        <a:pt x="61912" y="51594"/>
                      </a:moveTo>
                      <a:cubicBezTo>
                        <a:pt x="61912" y="68690"/>
                        <a:pt x="75772" y="82550"/>
                        <a:pt x="92868" y="82550"/>
                      </a:cubicBezTo>
                      <a:cubicBezTo>
                        <a:pt x="109965" y="82550"/>
                        <a:pt x="123825" y="68690"/>
                        <a:pt x="123825" y="51594"/>
                      </a:cubicBezTo>
                      <a:lnTo>
                        <a:pt x="123825" y="41275"/>
                      </a:lnTo>
                      <a:moveTo>
                        <a:pt x="123825" y="51594"/>
                      </a:moveTo>
                      <a:cubicBezTo>
                        <a:pt x="123825" y="68690"/>
                        <a:pt x="137684" y="82550"/>
                        <a:pt x="154781" y="82550"/>
                      </a:cubicBezTo>
                      <a:cubicBezTo>
                        <a:pt x="171877" y="82550"/>
                        <a:pt x="185737" y="68690"/>
                        <a:pt x="185737" y="51594"/>
                      </a:cubicBezTo>
                      <a:lnTo>
                        <a:pt x="185737" y="41275"/>
                      </a:lnTo>
                      <a:lnTo>
                        <a:pt x="0" y="41275"/>
                      </a:lnTo>
                      <a:lnTo>
                        <a:pt x="20637" y="0"/>
                      </a:lnTo>
                      <a:lnTo>
                        <a:pt x="165099" y="0"/>
                      </a:lnTo>
                      <a:lnTo>
                        <a:pt x="185737" y="41275"/>
                      </a:lnTo>
                    </a:path>
                  </a:pathLst>
                </a:custGeom>
                <a:noFill/>
                <a:ln w="20637">
                  <a:solidFill>
                    <a:srgbClr val="92301C"/>
                  </a:solidFill>
                </a:ln>
              </p:spPr>
            </p:sp>
            <p:sp>
              <p:nvSpPr>
                <p:cNvPr id="57" name="Freeform 57"/>
                <p:cNvSpPr/>
                <p:nvPr/>
              </p:nvSpPr>
              <p:spPr>
                <a:xfrm>
                  <a:off x="337344" y="4045783"/>
                  <a:ext cx="9525" cy="104735"/>
                </a:xfrm>
                <a:custGeom>
                  <a:avLst/>
                  <a:gdLst/>
                  <a:ahLst/>
                  <a:cxnLst/>
                  <a:rect l="l" t="t" r="r" b="b"/>
                  <a:pathLst>
                    <a:path w="9525" h="104735">
                      <a:moveTo>
                        <a:pt x="0" y="104735"/>
                      </a:moveTo>
                      <a:lnTo>
                        <a:pt x="0" y="0"/>
                      </a:lnTo>
                    </a:path>
                  </a:pathLst>
                </a:custGeom>
                <a:noFill/>
                <a:ln w="20637">
                  <a:solidFill>
                    <a:srgbClr val="92301C"/>
                  </a:solidFill>
                </a:ln>
              </p:spPr>
            </p:sp>
            <p:sp>
              <p:nvSpPr>
                <p:cNvPr id="58" name="Freeform 58"/>
                <p:cNvSpPr/>
                <p:nvPr/>
              </p:nvSpPr>
              <p:spPr>
                <a:xfrm>
                  <a:off x="481806" y="4045783"/>
                  <a:ext cx="9525" cy="104735"/>
                </a:xfrm>
                <a:custGeom>
                  <a:avLst/>
                  <a:gdLst/>
                  <a:ahLst/>
                  <a:cxnLst/>
                  <a:rect l="l" t="t" r="r" b="b"/>
                  <a:pathLst>
                    <a:path w="9525" h="104735">
                      <a:moveTo>
                        <a:pt x="0" y="104735"/>
                      </a:moveTo>
                      <a:lnTo>
                        <a:pt x="0" y="0"/>
                      </a:lnTo>
                    </a:path>
                  </a:pathLst>
                </a:custGeom>
                <a:noFill/>
                <a:ln w="20637">
                  <a:solidFill>
                    <a:srgbClr val="92301C"/>
                  </a:solidFill>
                </a:ln>
              </p:spPr>
            </p:sp>
            <p:sp>
              <p:nvSpPr>
                <p:cNvPr id="59" name="Freeform 59"/>
                <p:cNvSpPr/>
                <p:nvPr/>
              </p:nvSpPr>
              <p:spPr>
                <a:xfrm>
                  <a:off x="378618" y="4088606"/>
                  <a:ext cx="61912" cy="61912"/>
                </a:xfrm>
                <a:custGeom>
                  <a:avLst/>
                  <a:gdLst/>
                  <a:ahLst/>
                  <a:cxnLst/>
                  <a:rect l="l" t="t" r="r" b="b"/>
                  <a:pathLst>
                    <a:path w="61912" h="61912">
                      <a:moveTo>
                        <a:pt x="0" y="61912"/>
                      </a:moveTo>
                      <a:lnTo>
                        <a:pt x="0" y="20637"/>
                      </a:lnTo>
                      <a:cubicBezTo>
                        <a:pt x="0" y="9240"/>
                        <a:pt x="9240" y="0"/>
                        <a:pt x="20637" y="0"/>
                      </a:cubicBezTo>
                      <a:lnTo>
                        <a:pt x="41275" y="0"/>
                      </a:lnTo>
                      <a:cubicBezTo>
                        <a:pt x="52673" y="0"/>
                        <a:pt x="61912" y="9240"/>
                        <a:pt x="61912" y="20637"/>
                      </a:cubicBezTo>
                      <a:lnTo>
                        <a:pt x="61912" y="61912"/>
                      </a:lnTo>
                    </a:path>
                  </a:pathLst>
                </a:custGeom>
                <a:noFill/>
                <a:ln w="20637">
                  <a:solidFill>
                    <a:srgbClr val="92301C"/>
                  </a:solidFill>
                </a:ln>
              </p:spPr>
            </p:sp>
          </p:grpSp>
          <p:sp>
            <p:nvSpPr>
              <p:cNvPr id="61" name="TextBox 61"/>
              <p:cNvSpPr txBox="1"/>
              <p:nvPr/>
            </p:nvSpPr>
            <p:spPr>
              <a:xfrm>
                <a:off x="604838" y="38230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商户数据</a:t>
                </a:r>
              </a:p>
            </p:txBody>
          </p:sp>
          <p:sp>
            <p:nvSpPr>
              <p:cNvPr id="62" name="TextBox 62"/>
              <p:cNvSpPr txBox="1"/>
              <p:nvPr/>
            </p:nvSpPr>
            <p:spPr>
              <a:xfrm>
                <a:off x="604838" y="4018836"/>
                <a:ext cx="1242329"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商户ID、行业类别、结算账户</a:t>
                </a:r>
              </a:p>
            </p:txBody>
          </p:sp>
          <p:sp>
            <p:nvSpPr>
              <p:cNvPr id="63" name="TextBox 63"/>
              <p:cNvSpPr txBox="1"/>
              <p:nvPr/>
            </p:nvSpPr>
            <p:spPr>
              <a:xfrm>
                <a:off x="604838" y="4161711"/>
                <a:ext cx="86974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历史交易、关联商户</a:t>
                </a:r>
              </a:p>
            </p:txBody>
          </p:sp>
        </p:grpSp>
        <p:grpSp>
          <p:nvGrpSpPr>
            <p:cNvPr id="70" name="lc-6"/>
            <p:cNvGrpSpPr/>
            <p:nvPr/>
          </p:nvGrpSpPr>
          <p:grpSpPr>
            <a:xfrm>
              <a:off x="190500" y="4419600"/>
              <a:ext cx="2019300" cy="647700"/>
              <a:chOff x="190500" y="4419600"/>
              <a:chExt cx="2019300" cy="647700"/>
            </a:xfrm>
          </p:grpSpPr>
          <p:sp>
            <p:nvSpPr>
              <p:cNvPr id="65" name="Rectangle 65"/>
              <p:cNvSpPr/>
              <p:nvPr/>
            </p:nvSpPr>
            <p:spPr>
              <a:xfrm>
                <a:off x="190500" y="4419600"/>
                <a:ext cx="2019300" cy="647700"/>
              </a:xfrm>
              <a:prstGeom prst="roundRect">
                <a:avLst>
                  <a:gd name="adj" fmla="val 8824"/>
                </a:avLst>
              </a:prstGeom>
              <a:solidFill>
                <a:srgbClr val="F6F9FD"/>
              </a:solidFill>
              <a:ln w="9525">
                <a:solidFill>
                  <a:srgbClr val="CFDFEE"/>
                </a:solidFill>
              </a:ln>
            </p:spPr>
          </p:sp>
          <p:sp>
            <p:nvSpPr>
              <p:cNvPr id="66" name="Freeform 66"/>
              <p:cNvSpPr/>
              <p:nvPr/>
            </p:nvSpPr>
            <p:spPr>
              <a:xfrm>
                <a:off x="316706" y="4660900"/>
                <a:ext cx="185737" cy="165099"/>
              </a:xfrm>
              <a:custGeom>
                <a:avLst/>
                <a:gdLst/>
                <a:ahLst/>
                <a:cxnLst/>
                <a:rect l="l" t="t" r="r" b="b"/>
                <a:pathLst>
                  <a:path w="185737" h="165099">
                    <a:moveTo>
                      <a:pt x="0" y="82550"/>
                    </a:moveTo>
                    <a:lnTo>
                      <a:pt x="41275" y="82550"/>
                    </a:lnTo>
                    <a:lnTo>
                      <a:pt x="72231" y="165099"/>
                    </a:lnTo>
                    <a:lnTo>
                      <a:pt x="113506" y="0"/>
                    </a:lnTo>
                    <a:lnTo>
                      <a:pt x="144462" y="82550"/>
                    </a:lnTo>
                    <a:lnTo>
                      <a:pt x="185737" y="82550"/>
                    </a:lnTo>
                  </a:path>
                </a:pathLst>
              </a:custGeom>
              <a:noFill/>
              <a:ln w="20637">
                <a:solidFill>
                  <a:srgbClr val="92301C"/>
                </a:solidFill>
              </a:ln>
            </p:spPr>
          </p:sp>
          <p:sp>
            <p:nvSpPr>
              <p:cNvPr id="67" name="TextBox 67"/>
              <p:cNvSpPr txBox="1"/>
              <p:nvPr/>
            </p:nvSpPr>
            <p:spPr>
              <a:xfrm>
                <a:off x="604838" y="45088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行为序列</a:t>
                </a:r>
              </a:p>
            </p:txBody>
          </p:sp>
          <p:sp>
            <p:nvSpPr>
              <p:cNvPr id="68" name="TextBox 68"/>
              <p:cNvSpPr txBox="1"/>
              <p:nvPr/>
            </p:nvSpPr>
            <p:spPr>
              <a:xfrm>
                <a:off x="604838" y="4704636"/>
                <a:ext cx="134764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交易时间、交易金额、交易频次</a:t>
                </a:r>
              </a:p>
            </p:txBody>
          </p:sp>
          <p:sp>
            <p:nvSpPr>
              <p:cNvPr id="69" name="TextBox 69"/>
              <p:cNvSpPr txBox="1"/>
              <p:nvPr/>
            </p:nvSpPr>
            <p:spPr>
              <a:xfrm>
                <a:off x="604838" y="4847511"/>
                <a:ext cx="134764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操作路径、设备切换、行为习惯</a:t>
                </a:r>
              </a:p>
            </p:txBody>
          </p:sp>
        </p:grpSp>
        <p:sp>
          <p:nvSpPr>
            <p:cNvPr id="71" name="Polygon 71"/>
            <p:cNvSpPr/>
            <p:nvPr/>
          </p:nvSpPr>
          <p:spPr>
            <a:xfrm>
              <a:off x="2228850" y="2857500"/>
              <a:ext cx="114300" cy="571500"/>
            </a:xfrm>
            <a:custGeom>
              <a:avLst/>
              <a:gdLst/>
              <a:ahLst/>
              <a:cxnLst/>
              <a:rect l="l" t="t" r="r" b="b"/>
              <a:pathLst>
                <a:path w="114300" h="571500">
                  <a:moveTo>
                    <a:pt x="0" y="0"/>
                  </a:moveTo>
                  <a:lnTo>
                    <a:pt x="0" y="571500"/>
                  </a:lnTo>
                  <a:lnTo>
                    <a:pt x="114300" y="285750"/>
                  </a:lnTo>
                  <a:close/>
                </a:path>
              </a:pathLst>
            </a:custGeom>
            <a:solidFill>
              <a:srgbClr val="D6E6F3"/>
            </a:solidFill>
            <a:ln>
              <a:noFill/>
            </a:ln>
          </p:spPr>
        </p:sp>
        <p:sp>
          <p:nvSpPr>
            <p:cNvPr id="72" name="TextBox 72"/>
            <p:cNvSpPr txBox="1"/>
            <p:nvPr/>
          </p:nvSpPr>
          <p:spPr>
            <a:xfrm rot="-5400000">
              <a:off x="1741868" y="3065859"/>
              <a:ext cx="1073023" cy="154781"/>
            </a:xfrm>
            <a:prstGeom prst="rect">
              <a:avLst/>
            </a:prstGeom>
            <a:noFill/>
            <a:ln>
              <a:noFill/>
            </a:ln>
          </p:spPr>
          <p:txBody>
            <a:bodyPr wrap="none" lIns="0" tIns="0" rIns="0" bIns="0" anchor="t" anchorCtr="0">
              <a:spAutoFit/>
            </a:bodyPr>
            <a:lstStyle/>
            <a:p>
              <a:pPr algn="ctr"/>
              <a:r>
                <a:rPr lang="zh-CN" sz="790" b="1" dirty="0">
                  <a:solidFill>
                    <a:srgbClr val="92301C"/>
                  </a:solidFill>
                  <a:latin typeface="+mn-lt"/>
                  <a:ea typeface="+mn-ea"/>
                  <a:cs typeface="+mn-cs"/>
                </a:rPr>
                <a:t>数据清洗融合实时计算</a:t>
              </a:r>
            </a:p>
          </p:txBody>
        </p:sp>
      </p:grpSp>
      <p:grpSp>
        <p:nvGrpSpPr>
          <p:cNvPr id="172" name="mid-graph"/>
          <p:cNvGrpSpPr/>
          <p:nvPr/>
        </p:nvGrpSpPr>
        <p:grpSpPr>
          <a:xfrm>
            <a:off x="2381250" y="952500"/>
            <a:ext cx="5524500" cy="4267200"/>
            <a:chOff x="2381250" y="952500"/>
            <a:chExt cx="5524500" cy="4267200"/>
          </a:xfrm>
        </p:grpSpPr>
        <p:sp>
          <p:nvSpPr>
            <p:cNvPr id="74" name="Rectangle 74"/>
            <p:cNvSpPr/>
            <p:nvPr/>
          </p:nvSpPr>
          <p:spPr>
            <a:xfrm>
              <a:off x="2381250" y="952500"/>
              <a:ext cx="5524500" cy="4267200"/>
            </a:xfrm>
            <a:prstGeom prst="roundRect">
              <a:avLst>
                <a:gd name="adj" fmla="val 1339"/>
              </a:avLst>
            </a:prstGeom>
            <a:solidFill>
              <a:srgbClr val="FCFDFE"/>
            </a:solidFill>
            <a:ln w="9525">
              <a:solidFill>
                <a:srgbClr val="CFDFEE"/>
              </a:solidFill>
            </a:ln>
          </p:spPr>
        </p:sp>
        <p:grpSp>
          <p:nvGrpSpPr>
            <p:cNvPr id="87" name="mg-legend"/>
            <p:cNvGrpSpPr/>
            <p:nvPr/>
          </p:nvGrpSpPr>
          <p:grpSpPr>
            <a:xfrm>
              <a:off x="3095625" y="1066800"/>
              <a:ext cx="3980904" cy="136684"/>
              <a:chOff x="3095625" y="1066800"/>
              <a:chExt cx="3980904" cy="136684"/>
            </a:xfrm>
          </p:grpSpPr>
          <p:sp>
            <p:nvSpPr>
              <p:cNvPr id="75" name="Ellipse 75"/>
              <p:cNvSpPr/>
              <p:nvPr/>
            </p:nvSpPr>
            <p:spPr>
              <a:xfrm>
                <a:off x="3095625" y="1066800"/>
                <a:ext cx="95250" cy="95250"/>
              </a:xfrm>
              <a:prstGeom prst="ellipse">
                <a:avLst/>
              </a:prstGeom>
              <a:solidFill>
                <a:srgbClr val="6B1B0B"/>
              </a:solidFill>
              <a:ln>
                <a:noFill/>
              </a:ln>
            </p:spPr>
          </p:sp>
          <p:sp>
            <p:nvSpPr>
              <p:cNvPr id="76" name="TextBox 76"/>
              <p:cNvSpPr txBox="1"/>
              <p:nvPr/>
            </p:nvSpPr>
            <p:spPr>
              <a:xfrm>
                <a:off x="3233738" y="1070134"/>
                <a:ext cx="19260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账户</a:t>
                </a:r>
              </a:p>
            </p:txBody>
          </p:sp>
          <p:sp>
            <p:nvSpPr>
              <p:cNvPr id="77" name="Ellipse 77"/>
              <p:cNvSpPr/>
              <p:nvPr/>
            </p:nvSpPr>
            <p:spPr>
              <a:xfrm>
                <a:off x="3590925" y="1066800"/>
                <a:ext cx="95250" cy="95250"/>
              </a:xfrm>
              <a:prstGeom prst="ellipse">
                <a:avLst/>
              </a:prstGeom>
              <a:solidFill>
                <a:srgbClr val="92301C"/>
              </a:solidFill>
              <a:ln>
                <a:noFill/>
              </a:ln>
            </p:spPr>
          </p:sp>
          <p:sp>
            <p:nvSpPr>
              <p:cNvPr id="78" name="TextBox 78"/>
              <p:cNvSpPr txBox="1"/>
              <p:nvPr/>
            </p:nvSpPr>
            <p:spPr>
              <a:xfrm>
                <a:off x="3729038" y="1070134"/>
                <a:ext cx="19260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设备</a:t>
                </a:r>
              </a:p>
            </p:txBody>
          </p:sp>
          <p:sp>
            <p:nvSpPr>
              <p:cNvPr id="79" name="Ellipse 79"/>
              <p:cNvSpPr/>
              <p:nvPr/>
            </p:nvSpPr>
            <p:spPr>
              <a:xfrm>
                <a:off x="4086225" y="1066800"/>
                <a:ext cx="95250" cy="95250"/>
              </a:xfrm>
              <a:prstGeom prst="ellipse">
                <a:avLst/>
              </a:prstGeom>
              <a:solidFill>
                <a:srgbClr val="C87C6C"/>
              </a:solidFill>
              <a:ln>
                <a:noFill/>
              </a:ln>
            </p:spPr>
          </p:sp>
          <p:sp>
            <p:nvSpPr>
              <p:cNvPr id="80" name="TextBox 80"/>
              <p:cNvSpPr txBox="1"/>
              <p:nvPr/>
            </p:nvSpPr>
            <p:spPr>
              <a:xfrm>
                <a:off x="4224338" y="107013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手机号</a:t>
                </a:r>
              </a:p>
            </p:txBody>
          </p:sp>
          <p:sp>
            <p:nvSpPr>
              <p:cNvPr id="81" name="Ellipse 81"/>
              <p:cNvSpPr/>
              <p:nvPr/>
            </p:nvSpPr>
            <p:spPr>
              <a:xfrm>
                <a:off x="4638675" y="1066800"/>
                <a:ext cx="95250" cy="95250"/>
              </a:xfrm>
              <a:prstGeom prst="ellipse">
                <a:avLst/>
              </a:prstGeom>
              <a:solidFill>
                <a:srgbClr val="E3B3A9"/>
              </a:solidFill>
              <a:ln>
                <a:noFill/>
              </a:ln>
            </p:spPr>
          </p:sp>
          <p:sp>
            <p:nvSpPr>
              <p:cNvPr id="82" name="TextBox 82"/>
              <p:cNvSpPr txBox="1"/>
              <p:nvPr/>
            </p:nvSpPr>
            <p:spPr>
              <a:xfrm>
                <a:off x="4776788" y="1070134"/>
                <a:ext cx="19260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商户</a:t>
                </a:r>
              </a:p>
            </p:txBody>
          </p:sp>
          <p:sp>
            <p:nvSpPr>
              <p:cNvPr id="83" name="Line 83"/>
              <p:cNvSpPr/>
              <p:nvPr/>
            </p:nvSpPr>
            <p:spPr>
              <a:xfrm>
                <a:off x="5295900" y="1114425"/>
                <a:ext cx="342900" cy="9525"/>
              </a:xfrm>
              <a:custGeom>
                <a:avLst/>
                <a:gdLst/>
                <a:ahLst/>
                <a:cxnLst/>
                <a:rect l="l" t="t" r="r" b="b"/>
                <a:pathLst>
                  <a:path w="342900" h="9525">
                    <a:moveTo>
                      <a:pt x="0" y="0"/>
                    </a:moveTo>
                    <a:lnTo>
                      <a:pt x="342900" y="0"/>
                    </a:lnTo>
                  </a:path>
                </a:pathLst>
              </a:custGeom>
              <a:noFill/>
              <a:ln w="14288">
                <a:solidFill>
                  <a:srgbClr val="8C716B"/>
                </a:solidFill>
              </a:ln>
            </p:spPr>
          </p:sp>
          <p:sp>
            <p:nvSpPr>
              <p:cNvPr id="84" name="TextBox 84"/>
              <p:cNvSpPr txBox="1"/>
              <p:nvPr/>
            </p:nvSpPr>
            <p:spPr>
              <a:xfrm>
                <a:off x="5691188" y="10701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关联关系</a:t>
                </a:r>
              </a:p>
            </p:txBody>
          </p:sp>
          <p:sp>
            <p:nvSpPr>
              <p:cNvPr id="85" name="Line 85"/>
              <p:cNvSpPr/>
              <p:nvPr/>
            </p:nvSpPr>
            <p:spPr>
              <a:xfrm>
                <a:off x="6305550" y="1114425"/>
                <a:ext cx="342900" cy="9525"/>
              </a:xfrm>
              <a:custGeom>
                <a:avLst/>
                <a:gdLst/>
                <a:ahLst/>
                <a:cxnLst/>
                <a:rect l="l" t="t" r="r" b="b"/>
                <a:pathLst>
                  <a:path w="342900" h="9525">
                    <a:moveTo>
                      <a:pt x="0" y="0"/>
                    </a:moveTo>
                    <a:lnTo>
                      <a:pt x="342900" y="0"/>
                    </a:lnTo>
                  </a:path>
                </a:pathLst>
              </a:custGeom>
              <a:noFill/>
              <a:ln w="14288">
                <a:solidFill>
                  <a:srgbClr val="8C716B"/>
                </a:solidFill>
                <a:custDash>
                  <a:ds d="266667" sp="200000"/>
                </a:custDash>
              </a:ln>
            </p:spPr>
          </p:sp>
          <p:sp>
            <p:nvSpPr>
              <p:cNvPr id="86" name="TextBox 86"/>
              <p:cNvSpPr txBox="1"/>
              <p:nvPr/>
            </p:nvSpPr>
            <p:spPr>
              <a:xfrm>
                <a:off x="6700838" y="10701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可疑关系</a:t>
                </a:r>
              </a:p>
            </p:txBody>
          </p:sp>
        </p:grpSp>
        <p:grpSp>
          <p:nvGrpSpPr>
            <p:cNvPr id="99" name="mg-links"/>
            <p:cNvGrpSpPr/>
            <p:nvPr/>
          </p:nvGrpSpPr>
          <p:grpSpPr>
            <a:xfrm>
              <a:off x="3048000" y="1638300"/>
              <a:ext cx="3467100" cy="2800350"/>
              <a:chOff x="3048000" y="1638300"/>
              <a:chExt cx="3467100" cy="2800350"/>
            </a:xfrm>
          </p:grpSpPr>
          <p:sp>
            <p:nvSpPr>
              <p:cNvPr id="88" name="Line 88"/>
              <p:cNvSpPr/>
              <p:nvPr/>
            </p:nvSpPr>
            <p:spPr>
              <a:xfrm>
                <a:off x="3048000" y="1905000"/>
                <a:ext cx="2143125" cy="952500"/>
              </a:xfrm>
              <a:custGeom>
                <a:avLst/>
                <a:gdLst/>
                <a:ahLst/>
                <a:cxnLst/>
                <a:rect l="l" t="t" r="r" b="b"/>
                <a:pathLst>
                  <a:path w="2143125" h="952500">
                    <a:moveTo>
                      <a:pt x="2143125" y="952500"/>
                    </a:moveTo>
                    <a:lnTo>
                      <a:pt x="0" y="0"/>
                    </a:lnTo>
                  </a:path>
                </a:pathLst>
              </a:custGeom>
              <a:noFill/>
              <a:ln w="12382">
                <a:solidFill>
                  <a:srgbClr val="D2A89F"/>
                </a:solidFill>
              </a:ln>
            </p:spPr>
          </p:sp>
          <p:sp>
            <p:nvSpPr>
              <p:cNvPr id="89" name="Line 89"/>
              <p:cNvSpPr/>
              <p:nvPr/>
            </p:nvSpPr>
            <p:spPr>
              <a:xfrm>
                <a:off x="4552950" y="1638300"/>
                <a:ext cx="638175" cy="1219200"/>
              </a:xfrm>
              <a:custGeom>
                <a:avLst/>
                <a:gdLst/>
                <a:ahLst/>
                <a:cxnLst/>
                <a:rect l="l" t="t" r="r" b="b"/>
                <a:pathLst>
                  <a:path w="638175" h="1219200">
                    <a:moveTo>
                      <a:pt x="638175" y="1219200"/>
                    </a:moveTo>
                    <a:lnTo>
                      <a:pt x="0" y="0"/>
                    </a:lnTo>
                  </a:path>
                </a:pathLst>
              </a:custGeom>
              <a:noFill/>
              <a:ln w="12382">
                <a:solidFill>
                  <a:srgbClr val="D2A89F"/>
                </a:solidFill>
              </a:ln>
            </p:spPr>
          </p:sp>
          <p:sp>
            <p:nvSpPr>
              <p:cNvPr id="90" name="Line 90"/>
              <p:cNvSpPr/>
              <p:nvPr/>
            </p:nvSpPr>
            <p:spPr>
              <a:xfrm>
                <a:off x="5191125" y="1809750"/>
                <a:ext cx="981075" cy="1047750"/>
              </a:xfrm>
              <a:custGeom>
                <a:avLst/>
                <a:gdLst/>
                <a:ahLst/>
                <a:cxnLst/>
                <a:rect l="l" t="t" r="r" b="b"/>
                <a:pathLst>
                  <a:path w="981075" h="1047750">
                    <a:moveTo>
                      <a:pt x="0" y="1047750"/>
                    </a:moveTo>
                    <a:lnTo>
                      <a:pt x="981075" y="0"/>
                    </a:lnTo>
                  </a:path>
                </a:pathLst>
              </a:custGeom>
              <a:noFill/>
              <a:ln w="12382">
                <a:solidFill>
                  <a:srgbClr val="D2A89F"/>
                </a:solidFill>
                <a:custDash>
                  <a:ds d="307692" sp="230769"/>
                </a:custDash>
              </a:ln>
            </p:spPr>
          </p:sp>
          <p:sp>
            <p:nvSpPr>
              <p:cNvPr id="91" name="Line 91"/>
              <p:cNvSpPr/>
              <p:nvPr/>
            </p:nvSpPr>
            <p:spPr>
              <a:xfrm>
                <a:off x="3067050" y="2857500"/>
                <a:ext cx="2124075" cy="9525"/>
              </a:xfrm>
              <a:custGeom>
                <a:avLst/>
                <a:gdLst/>
                <a:ahLst/>
                <a:cxnLst/>
                <a:rect l="l" t="t" r="r" b="b"/>
                <a:pathLst>
                  <a:path w="2124075" h="9525">
                    <a:moveTo>
                      <a:pt x="2124075" y="0"/>
                    </a:moveTo>
                    <a:lnTo>
                      <a:pt x="0" y="0"/>
                    </a:lnTo>
                  </a:path>
                </a:pathLst>
              </a:custGeom>
              <a:noFill/>
              <a:ln w="12382">
                <a:solidFill>
                  <a:srgbClr val="D2A89F"/>
                </a:solidFill>
              </a:ln>
            </p:spPr>
          </p:sp>
          <p:sp>
            <p:nvSpPr>
              <p:cNvPr id="92" name="Line 92"/>
              <p:cNvSpPr/>
              <p:nvPr/>
            </p:nvSpPr>
            <p:spPr>
              <a:xfrm>
                <a:off x="5191125" y="2857500"/>
                <a:ext cx="1323975" cy="47625"/>
              </a:xfrm>
              <a:custGeom>
                <a:avLst/>
                <a:gdLst/>
                <a:ahLst/>
                <a:cxnLst/>
                <a:rect l="l" t="t" r="r" b="b"/>
                <a:pathLst>
                  <a:path w="1323975" h="47625">
                    <a:moveTo>
                      <a:pt x="0" y="0"/>
                    </a:moveTo>
                    <a:lnTo>
                      <a:pt x="1323975" y="47625"/>
                    </a:lnTo>
                  </a:path>
                </a:pathLst>
              </a:custGeom>
              <a:noFill/>
              <a:ln w="12382">
                <a:solidFill>
                  <a:srgbClr val="D2A89F"/>
                </a:solidFill>
                <a:custDash>
                  <a:ds d="307692" sp="230769"/>
                </a:custDash>
              </a:ln>
            </p:spPr>
          </p:sp>
          <p:sp>
            <p:nvSpPr>
              <p:cNvPr id="93" name="Line 93"/>
              <p:cNvSpPr/>
              <p:nvPr/>
            </p:nvSpPr>
            <p:spPr>
              <a:xfrm>
                <a:off x="3067050" y="2857500"/>
                <a:ext cx="2124075" cy="1123950"/>
              </a:xfrm>
              <a:custGeom>
                <a:avLst/>
                <a:gdLst/>
                <a:ahLst/>
                <a:cxnLst/>
                <a:rect l="l" t="t" r="r" b="b"/>
                <a:pathLst>
                  <a:path w="2124075" h="1123950">
                    <a:moveTo>
                      <a:pt x="2124075" y="0"/>
                    </a:moveTo>
                    <a:lnTo>
                      <a:pt x="0" y="1123950"/>
                    </a:lnTo>
                  </a:path>
                </a:pathLst>
              </a:custGeom>
              <a:noFill/>
              <a:ln w="12382">
                <a:solidFill>
                  <a:srgbClr val="D2A89F"/>
                </a:solidFill>
              </a:ln>
            </p:spPr>
          </p:sp>
          <p:sp>
            <p:nvSpPr>
              <p:cNvPr id="94" name="Line 94"/>
              <p:cNvSpPr/>
              <p:nvPr/>
            </p:nvSpPr>
            <p:spPr>
              <a:xfrm>
                <a:off x="4267200" y="2857500"/>
                <a:ext cx="923925" cy="1447800"/>
              </a:xfrm>
              <a:custGeom>
                <a:avLst/>
                <a:gdLst/>
                <a:ahLst/>
                <a:cxnLst/>
                <a:rect l="l" t="t" r="r" b="b"/>
                <a:pathLst>
                  <a:path w="923925" h="1447800">
                    <a:moveTo>
                      <a:pt x="923925" y="0"/>
                    </a:moveTo>
                    <a:lnTo>
                      <a:pt x="0" y="1447800"/>
                    </a:lnTo>
                  </a:path>
                </a:pathLst>
              </a:custGeom>
              <a:noFill/>
              <a:ln w="12382">
                <a:solidFill>
                  <a:srgbClr val="D2A89F"/>
                </a:solidFill>
              </a:ln>
            </p:spPr>
          </p:sp>
          <p:sp>
            <p:nvSpPr>
              <p:cNvPr id="95" name="Line 95"/>
              <p:cNvSpPr/>
              <p:nvPr/>
            </p:nvSpPr>
            <p:spPr>
              <a:xfrm>
                <a:off x="5191125" y="2857500"/>
                <a:ext cx="28575" cy="1581150"/>
              </a:xfrm>
              <a:custGeom>
                <a:avLst/>
                <a:gdLst/>
                <a:ahLst/>
                <a:cxnLst/>
                <a:rect l="l" t="t" r="r" b="b"/>
                <a:pathLst>
                  <a:path w="28575" h="1581150">
                    <a:moveTo>
                      <a:pt x="0" y="0"/>
                    </a:moveTo>
                    <a:lnTo>
                      <a:pt x="28575" y="1581150"/>
                    </a:lnTo>
                  </a:path>
                </a:pathLst>
              </a:custGeom>
              <a:noFill/>
              <a:ln w="12382">
                <a:solidFill>
                  <a:srgbClr val="D2A89F"/>
                </a:solidFill>
                <a:custDash>
                  <a:ds d="307692" sp="230769"/>
                </a:custDash>
              </a:ln>
            </p:spPr>
          </p:sp>
          <p:sp>
            <p:nvSpPr>
              <p:cNvPr id="96" name="Line 96"/>
              <p:cNvSpPr/>
              <p:nvPr/>
            </p:nvSpPr>
            <p:spPr>
              <a:xfrm>
                <a:off x="5191125" y="2857500"/>
                <a:ext cx="1171575" cy="1257300"/>
              </a:xfrm>
              <a:custGeom>
                <a:avLst/>
                <a:gdLst/>
                <a:ahLst/>
                <a:cxnLst/>
                <a:rect l="l" t="t" r="r" b="b"/>
                <a:pathLst>
                  <a:path w="1171575" h="1257300">
                    <a:moveTo>
                      <a:pt x="0" y="0"/>
                    </a:moveTo>
                    <a:lnTo>
                      <a:pt x="1171575" y="1257300"/>
                    </a:lnTo>
                  </a:path>
                </a:pathLst>
              </a:custGeom>
              <a:noFill/>
              <a:ln w="12382">
                <a:solidFill>
                  <a:srgbClr val="D2A89F"/>
                </a:solidFill>
                <a:custDash>
                  <a:ds d="307692" sp="230769"/>
                </a:custDash>
              </a:ln>
            </p:spPr>
          </p:sp>
          <p:sp>
            <p:nvSpPr>
              <p:cNvPr id="97" name="Line 97"/>
              <p:cNvSpPr/>
              <p:nvPr/>
            </p:nvSpPr>
            <p:spPr>
              <a:xfrm>
                <a:off x="3048000" y="1905000"/>
                <a:ext cx="19050" cy="952500"/>
              </a:xfrm>
              <a:custGeom>
                <a:avLst/>
                <a:gdLst/>
                <a:ahLst/>
                <a:cxnLst/>
                <a:rect l="l" t="t" r="r" b="b"/>
                <a:pathLst>
                  <a:path w="19050" h="952500">
                    <a:moveTo>
                      <a:pt x="19050" y="952500"/>
                    </a:moveTo>
                    <a:lnTo>
                      <a:pt x="0" y="0"/>
                    </a:lnTo>
                  </a:path>
                </a:pathLst>
              </a:custGeom>
              <a:noFill/>
              <a:ln w="12382">
                <a:solidFill>
                  <a:srgbClr val="C4D6E8"/>
                </a:solidFill>
                <a:custDash>
                  <a:ds d="153846" sp="230769"/>
                </a:custDash>
              </a:ln>
            </p:spPr>
          </p:sp>
          <p:sp>
            <p:nvSpPr>
              <p:cNvPr id="98" name="Line 98"/>
              <p:cNvSpPr/>
              <p:nvPr/>
            </p:nvSpPr>
            <p:spPr>
              <a:xfrm>
                <a:off x="3067050" y="3981450"/>
                <a:ext cx="1200150" cy="323850"/>
              </a:xfrm>
              <a:custGeom>
                <a:avLst/>
                <a:gdLst/>
                <a:ahLst/>
                <a:cxnLst/>
                <a:rect l="l" t="t" r="r" b="b"/>
                <a:pathLst>
                  <a:path w="1200150" h="323850">
                    <a:moveTo>
                      <a:pt x="1200150" y="323850"/>
                    </a:moveTo>
                    <a:lnTo>
                      <a:pt x="0" y="0"/>
                    </a:lnTo>
                  </a:path>
                </a:pathLst>
              </a:custGeom>
              <a:noFill/>
              <a:ln w="12382">
                <a:solidFill>
                  <a:srgbClr val="C4D6E8"/>
                </a:solidFill>
                <a:custDash>
                  <a:ds d="153846" sp="230769"/>
                </a:custDash>
              </a:ln>
            </p:spPr>
          </p:sp>
        </p:grpSp>
        <p:grpSp>
          <p:nvGrpSpPr>
            <p:cNvPr id="164" name="mg-nodes"/>
            <p:cNvGrpSpPr/>
            <p:nvPr/>
          </p:nvGrpSpPr>
          <p:grpSpPr>
            <a:xfrm>
              <a:off x="2722049" y="1495425"/>
              <a:ext cx="4142440" cy="3410188"/>
              <a:chOff x="2722049" y="1495425"/>
              <a:chExt cx="4142440" cy="3410188"/>
            </a:xfrm>
          </p:grpSpPr>
          <p:sp>
            <p:nvSpPr>
              <p:cNvPr id="100" name="Ellipse 100"/>
              <p:cNvSpPr/>
              <p:nvPr/>
            </p:nvSpPr>
            <p:spPr>
              <a:xfrm>
                <a:off x="2905125" y="1762125"/>
                <a:ext cx="285750" cy="285750"/>
              </a:xfrm>
              <a:prstGeom prst="ellipse">
                <a:avLst/>
              </a:prstGeom>
              <a:solidFill>
                <a:srgbClr val="92301C"/>
              </a:solidFill>
              <a:ln>
                <a:noFill/>
              </a:ln>
            </p:spPr>
          </p:sp>
          <p:grpSp>
            <p:nvGrpSpPr>
              <p:cNvPr id="104" name="Group 104"/>
              <p:cNvGrpSpPr/>
              <p:nvPr/>
            </p:nvGrpSpPr>
            <p:grpSpPr>
              <a:xfrm>
                <a:off x="2990850" y="1854200"/>
                <a:ext cx="114300" cy="101600"/>
                <a:chOff x="2990850" y="1854200"/>
                <a:chExt cx="114300" cy="101600"/>
              </a:xfrm>
            </p:grpSpPr>
            <p:sp>
              <p:nvSpPr>
                <p:cNvPr id="101" name="Freeform 101"/>
                <p:cNvSpPr/>
                <p:nvPr/>
              </p:nvSpPr>
              <p:spPr>
                <a:xfrm>
                  <a:off x="3054350" y="1879600"/>
                  <a:ext cx="50800" cy="76200"/>
                </a:xfrm>
                <a:custGeom>
                  <a:avLst/>
                  <a:gdLst/>
                  <a:ahLst/>
                  <a:cxnLst/>
                  <a:rect l="l" t="t" r="r" b="b"/>
                  <a:pathLst>
                    <a:path w="50800" h="76200">
                      <a:moveTo>
                        <a:pt x="0" y="6350"/>
                      </a:moveTo>
                      <a:cubicBezTo>
                        <a:pt x="0" y="2843"/>
                        <a:pt x="2843" y="0"/>
                        <a:pt x="6350" y="0"/>
                      </a:cubicBezTo>
                      <a:lnTo>
                        <a:pt x="44450" y="0"/>
                      </a:lnTo>
                      <a:cubicBezTo>
                        <a:pt x="47957" y="0"/>
                        <a:pt x="50800" y="2843"/>
                        <a:pt x="50800" y="6350"/>
                      </a:cubicBezTo>
                      <a:lnTo>
                        <a:pt x="50800" y="69850"/>
                      </a:lnTo>
                      <a:cubicBezTo>
                        <a:pt x="50800" y="73357"/>
                        <a:pt x="47957" y="76200"/>
                        <a:pt x="44450" y="76200"/>
                      </a:cubicBezTo>
                      <a:lnTo>
                        <a:pt x="6350" y="76200"/>
                      </a:lnTo>
                      <a:cubicBezTo>
                        <a:pt x="2843" y="76200"/>
                        <a:pt x="0" y="73357"/>
                        <a:pt x="0" y="69850"/>
                      </a:cubicBezTo>
                      <a:lnTo>
                        <a:pt x="0" y="6350"/>
                      </a:lnTo>
                    </a:path>
                  </a:pathLst>
                </a:custGeom>
                <a:noFill/>
                <a:ln w="12700">
                  <a:solidFill>
                    <a:srgbClr val="FFFFFF"/>
                  </a:solidFill>
                </a:ln>
              </p:spPr>
            </p:sp>
            <p:sp>
              <p:nvSpPr>
                <p:cNvPr id="102" name="Freeform 102"/>
                <p:cNvSpPr/>
                <p:nvPr/>
              </p:nvSpPr>
              <p:spPr>
                <a:xfrm>
                  <a:off x="2990850" y="1854200"/>
                  <a:ext cx="95250" cy="88900"/>
                </a:xfrm>
                <a:custGeom>
                  <a:avLst/>
                  <a:gdLst/>
                  <a:ahLst/>
                  <a:cxnLst/>
                  <a:rect l="l" t="t" r="r" b="b"/>
                  <a:pathLst>
                    <a:path w="95250" h="88900">
                      <a:moveTo>
                        <a:pt x="95250" y="25400"/>
                      </a:moveTo>
                      <a:lnTo>
                        <a:pt x="95250" y="6350"/>
                      </a:lnTo>
                      <a:cubicBezTo>
                        <a:pt x="95250" y="2843"/>
                        <a:pt x="92407" y="0"/>
                        <a:pt x="88900" y="0"/>
                      </a:cubicBezTo>
                      <a:lnTo>
                        <a:pt x="6350" y="0"/>
                      </a:lnTo>
                      <a:cubicBezTo>
                        <a:pt x="2843" y="0"/>
                        <a:pt x="0" y="2843"/>
                        <a:pt x="0" y="6350"/>
                      </a:cubicBezTo>
                      <a:lnTo>
                        <a:pt x="0" y="82550"/>
                      </a:lnTo>
                      <a:cubicBezTo>
                        <a:pt x="0" y="86057"/>
                        <a:pt x="2843" y="88900"/>
                        <a:pt x="6350" y="88900"/>
                      </a:cubicBezTo>
                      <a:lnTo>
                        <a:pt x="63500" y="88900"/>
                      </a:lnTo>
                    </a:path>
                  </a:pathLst>
                </a:custGeom>
                <a:noFill/>
                <a:ln w="12700">
                  <a:solidFill>
                    <a:srgbClr val="FFFFFF"/>
                  </a:solidFill>
                </a:ln>
              </p:spPr>
            </p:sp>
            <p:sp>
              <p:nvSpPr>
                <p:cNvPr id="103" name="Freeform 103"/>
                <p:cNvSpPr/>
                <p:nvPr/>
              </p:nvSpPr>
              <p:spPr>
                <a:xfrm>
                  <a:off x="3073400" y="1885950"/>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105" name="TextBox 105"/>
              <p:cNvSpPr txBox="1"/>
              <p:nvPr/>
            </p:nvSpPr>
            <p:spPr>
              <a:xfrm>
                <a:off x="2879408" y="2109788"/>
                <a:ext cx="211455" cy="147638"/>
              </a:xfrm>
              <a:prstGeom prst="rect">
                <a:avLst/>
              </a:prstGeom>
              <a:noFill/>
              <a:ln>
                <a:noFill/>
              </a:ln>
            </p:spPr>
            <p:txBody>
              <a:bodyPr wrap="none" lIns="0" tIns="0" rIns="0" bIns="0" anchor="t" anchorCtr="0">
                <a:spAutoFit/>
              </a:bodyPr>
              <a:lstStyle/>
              <a:p>
                <a:pPr algn="r"/>
                <a:r>
                  <a:rPr lang="zh-CN" sz="750" b="1" dirty="0">
                    <a:solidFill>
                      <a:srgbClr val="6B1B0B"/>
                    </a:solidFill>
                    <a:latin typeface="+mn-lt"/>
                    <a:ea typeface="+mn-ea"/>
                    <a:cs typeface="+mn-cs"/>
                  </a:rPr>
                  <a:t>设备</a:t>
                </a:r>
              </a:p>
            </p:txBody>
          </p:sp>
          <p:sp>
            <p:nvSpPr>
              <p:cNvPr id="106" name="TextBox 106"/>
              <p:cNvSpPr txBox="1"/>
              <p:nvPr/>
            </p:nvSpPr>
            <p:spPr>
              <a:xfrm>
                <a:off x="3081338" y="2109788"/>
                <a:ext cx="145905" cy="147638"/>
              </a:xfrm>
              <a:prstGeom prst="rect">
                <a:avLst/>
              </a:prstGeom>
              <a:noFill/>
              <a:ln>
                <a:noFill/>
              </a:ln>
            </p:spPr>
            <p:txBody>
              <a:bodyPr wrap="none" lIns="0" tIns="0" rIns="0" bIns="0" anchor="t" anchorCtr="0">
                <a:spAutoFit/>
              </a:bodyPr>
              <a:lstStyle/>
              <a:p>
                <a:pPr algn="l"/>
                <a:r>
                  <a:rPr lang="en-US" sz="750" b="1" dirty="0">
                    <a:solidFill>
                      <a:srgbClr val="6B1B0B"/>
                    </a:solidFill>
                    <a:latin typeface="+mj-lt"/>
                    <a:ea typeface="+mj-ea"/>
                    <a:cs typeface="+mj-cs"/>
                  </a:rPr>
                  <a:t>D1</a:t>
                </a:r>
              </a:p>
            </p:txBody>
          </p:sp>
          <p:sp>
            <p:nvSpPr>
              <p:cNvPr id="107" name="TextBox 107"/>
              <p:cNvSpPr txBox="1"/>
              <p:nvPr/>
            </p:nvSpPr>
            <p:spPr>
              <a:xfrm>
                <a:off x="2741689" y="2245757"/>
                <a:ext cx="612623"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（多账户登录）</a:t>
                </a:r>
              </a:p>
            </p:txBody>
          </p:sp>
          <p:sp>
            <p:nvSpPr>
              <p:cNvPr id="108" name="Ellipse 108"/>
              <p:cNvSpPr/>
              <p:nvPr/>
            </p:nvSpPr>
            <p:spPr>
              <a:xfrm>
                <a:off x="4410075" y="1495425"/>
                <a:ext cx="285750" cy="285750"/>
              </a:xfrm>
              <a:prstGeom prst="ellipse">
                <a:avLst/>
              </a:prstGeom>
              <a:solidFill>
                <a:srgbClr val="C87C6C"/>
              </a:solidFill>
              <a:ln>
                <a:noFill/>
              </a:ln>
            </p:spPr>
          </p:sp>
          <p:sp>
            <p:nvSpPr>
              <p:cNvPr id="109" name="Freeform 109"/>
              <p:cNvSpPr/>
              <p:nvPr/>
            </p:nvSpPr>
            <p:spPr>
              <a:xfrm>
                <a:off x="4495800" y="1587500"/>
                <a:ext cx="107950" cy="107950"/>
              </a:xfrm>
              <a:custGeom>
                <a:avLst/>
                <a:gdLst/>
                <a:ahLst/>
                <a:cxnLst/>
                <a:rect l="l" t="t" r="r" b="b"/>
                <a:pathLst>
                  <a:path w="107950" h="107950">
                    <a:moveTo>
                      <a:pt x="12700" y="0"/>
                    </a:moveTo>
                    <a:lnTo>
                      <a:pt x="38100" y="0"/>
                    </a:lnTo>
                    <a:lnTo>
                      <a:pt x="50800" y="31750"/>
                    </a:lnTo>
                    <a:lnTo>
                      <a:pt x="34925" y="41275"/>
                    </a:lnTo>
                    <a:cubicBezTo>
                      <a:pt x="41726" y="55064"/>
                      <a:pt x="52886" y="66224"/>
                      <a:pt x="66675" y="73025"/>
                    </a:cubicBezTo>
                    <a:lnTo>
                      <a:pt x="76200" y="57150"/>
                    </a:lnTo>
                    <a:lnTo>
                      <a:pt x="107950" y="69850"/>
                    </a:lnTo>
                    <a:lnTo>
                      <a:pt x="107950" y="95250"/>
                    </a:lnTo>
                    <a:cubicBezTo>
                      <a:pt x="107950" y="102264"/>
                      <a:pt x="102264" y="107950"/>
                      <a:pt x="95250" y="107950"/>
                    </a:cubicBezTo>
                    <a:cubicBezTo>
                      <a:pt x="43991" y="104835"/>
                      <a:pt x="3115" y="63959"/>
                      <a:pt x="0" y="12700"/>
                    </a:cubicBezTo>
                    <a:cubicBezTo>
                      <a:pt x="0" y="5686"/>
                      <a:pt x="5686" y="0"/>
                      <a:pt x="12700" y="0"/>
                    </a:cubicBezTo>
                  </a:path>
                </a:pathLst>
              </a:custGeom>
              <a:noFill/>
              <a:ln w="12700">
                <a:solidFill>
                  <a:srgbClr val="FFFFFF"/>
                </a:solidFill>
              </a:ln>
            </p:spPr>
          </p:sp>
          <p:sp>
            <p:nvSpPr>
              <p:cNvPr id="110" name="TextBox 110"/>
              <p:cNvSpPr txBox="1"/>
              <p:nvPr/>
            </p:nvSpPr>
            <p:spPr>
              <a:xfrm>
                <a:off x="4221675" y="1843088"/>
                <a:ext cx="662550"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j-lt"/>
                    <a:ea typeface="+mj-ea"/>
                    <a:cs typeface="+mj-cs"/>
                  </a:rPr>
                  <a:t xml:space="preserve">　手机号M1　</a:t>
                </a:r>
              </a:p>
            </p:txBody>
          </p:sp>
          <p:sp>
            <p:nvSpPr>
              <p:cNvPr id="111" name="TextBox 111"/>
              <p:cNvSpPr txBox="1"/>
              <p:nvPr/>
            </p:nvSpPr>
            <p:spPr>
              <a:xfrm>
                <a:off x="4246639" y="1979057"/>
                <a:ext cx="612623"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（多账户绑定）</a:t>
                </a:r>
              </a:p>
            </p:txBody>
          </p:sp>
          <p:sp>
            <p:nvSpPr>
              <p:cNvPr id="112" name="Ellipse 112"/>
              <p:cNvSpPr/>
              <p:nvPr/>
            </p:nvSpPr>
            <p:spPr>
              <a:xfrm>
                <a:off x="6029325" y="1666875"/>
                <a:ext cx="285750" cy="285750"/>
              </a:xfrm>
              <a:prstGeom prst="ellipse">
                <a:avLst/>
              </a:prstGeom>
              <a:solidFill>
                <a:srgbClr val="E3B3A9"/>
              </a:solidFill>
              <a:ln>
                <a:noFill/>
              </a:ln>
            </p:spPr>
          </p:sp>
          <p:grpSp>
            <p:nvGrpSpPr>
              <p:cNvPr id="118" name="Group 118"/>
              <p:cNvGrpSpPr/>
              <p:nvPr/>
            </p:nvGrpSpPr>
            <p:grpSpPr>
              <a:xfrm>
                <a:off x="6115050" y="1752600"/>
                <a:ext cx="114300" cy="123825"/>
                <a:chOff x="6115050" y="1752600"/>
                <a:chExt cx="114300" cy="123825"/>
              </a:xfrm>
            </p:grpSpPr>
            <p:sp>
              <p:nvSpPr>
                <p:cNvPr id="113" name="Freeform 113"/>
                <p:cNvSpPr/>
                <p:nvPr/>
              </p:nvSpPr>
              <p:spPr>
                <a:xfrm>
                  <a:off x="6115050" y="1866900"/>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114" name="Freeform 114"/>
                <p:cNvSpPr/>
                <p:nvPr/>
              </p:nvSpPr>
              <p:spPr>
                <a:xfrm>
                  <a:off x="6115050" y="1752600"/>
                  <a:ext cx="114300" cy="50800"/>
                </a:xfrm>
                <a:custGeom>
                  <a:avLst/>
                  <a:gdLst/>
                  <a:ahLst/>
                  <a:cxnLst/>
                  <a:rect l="l" t="t" r="r" b="b"/>
                  <a:pathLst>
                    <a:path w="114300" h="50800">
                      <a:moveTo>
                        <a:pt x="0" y="25400"/>
                      </a:moveTo>
                      <a:lnTo>
                        <a:pt x="0" y="31750"/>
                      </a:lnTo>
                      <a:cubicBezTo>
                        <a:pt x="0" y="42271"/>
                        <a:pt x="8529" y="50800"/>
                        <a:pt x="19050" y="50800"/>
                      </a:cubicBezTo>
                      <a:cubicBezTo>
                        <a:pt x="29571" y="50800"/>
                        <a:pt x="38100" y="42271"/>
                        <a:pt x="38100" y="31750"/>
                      </a:cubicBezTo>
                      <a:lnTo>
                        <a:pt x="38100" y="25400"/>
                      </a:lnTo>
                      <a:moveTo>
                        <a:pt x="38100" y="31750"/>
                      </a:moveTo>
                      <a:cubicBezTo>
                        <a:pt x="38100" y="42271"/>
                        <a:pt x="46629" y="50800"/>
                        <a:pt x="57150" y="50800"/>
                      </a:cubicBezTo>
                      <a:cubicBezTo>
                        <a:pt x="67671" y="50800"/>
                        <a:pt x="76200" y="42271"/>
                        <a:pt x="76200" y="31750"/>
                      </a:cubicBezTo>
                      <a:lnTo>
                        <a:pt x="76200" y="25400"/>
                      </a:lnTo>
                      <a:moveTo>
                        <a:pt x="76200" y="31750"/>
                      </a:moveTo>
                      <a:cubicBezTo>
                        <a:pt x="76200" y="42271"/>
                        <a:pt x="84729" y="50800"/>
                        <a:pt x="95250" y="50800"/>
                      </a:cubicBezTo>
                      <a:cubicBezTo>
                        <a:pt x="105771" y="50800"/>
                        <a:pt x="114300" y="42271"/>
                        <a:pt x="114300" y="31750"/>
                      </a:cubicBezTo>
                      <a:lnTo>
                        <a:pt x="114300" y="25400"/>
                      </a:lnTo>
                      <a:lnTo>
                        <a:pt x="0" y="25400"/>
                      </a:lnTo>
                      <a:lnTo>
                        <a:pt x="12700" y="0"/>
                      </a:lnTo>
                      <a:lnTo>
                        <a:pt x="101600" y="0"/>
                      </a:lnTo>
                      <a:lnTo>
                        <a:pt x="114300" y="25400"/>
                      </a:lnTo>
                    </a:path>
                  </a:pathLst>
                </a:custGeom>
                <a:noFill/>
                <a:ln w="12700">
                  <a:solidFill>
                    <a:srgbClr val="FFFFFF"/>
                  </a:solidFill>
                </a:ln>
              </p:spPr>
            </p:sp>
            <p:sp>
              <p:nvSpPr>
                <p:cNvPr id="115" name="Freeform 115"/>
                <p:cNvSpPr/>
                <p:nvPr/>
              </p:nvSpPr>
              <p:spPr>
                <a:xfrm>
                  <a:off x="6127750" y="1802448"/>
                  <a:ext cx="9525" cy="64453"/>
                </a:xfrm>
                <a:custGeom>
                  <a:avLst/>
                  <a:gdLst/>
                  <a:ahLst/>
                  <a:cxnLst/>
                  <a:rect l="l" t="t" r="r" b="b"/>
                  <a:pathLst>
                    <a:path w="9525" h="64453">
                      <a:moveTo>
                        <a:pt x="0" y="64453"/>
                      </a:moveTo>
                      <a:lnTo>
                        <a:pt x="0" y="0"/>
                      </a:lnTo>
                    </a:path>
                  </a:pathLst>
                </a:custGeom>
                <a:noFill/>
                <a:ln w="12700">
                  <a:solidFill>
                    <a:srgbClr val="FFFFFF"/>
                  </a:solidFill>
                </a:ln>
              </p:spPr>
            </p:sp>
            <p:sp>
              <p:nvSpPr>
                <p:cNvPr id="116" name="Freeform 116"/>
                <p:cNvSpPr/>
                <p:nvPr/>
              </p:nvSpPr>
              <p:spPr>
                <a:xfrm>
                  <a:off x="6216650" y="1802448"/>
                  <a:ext cx="9525" cy="64453"/>
                </a:xfrm>
                <a:custGeom>
                  <a:avLst/>
                  <a:gdLst/>
                  <a:ahLst/>
                  <a:cxnLst/>
                  <a:rect l="l" t="t" r="r" b="b"/>
                  <a:pathLst>
                    <a:path w="9525" h="64453">
                      <a:moveTo>
                        <a:pt x="0" y="64453"/>
                      </a:moveTo>
                      <a:lnTo>
                        <a:pt x="0" y="0"/>
                      </a:lnTo>
                    </a:path>
                  </a:pathLst>
                </a:custGeom>
                <a:noFill/>
                <a:ln w="12700">
                  <a:solidFill>
                    <a:srgbClr val="FFFFFF"/>
                  </a:solidFill>
                </a:ln>
              </p:spPr>
            </p:sp>
            <p:sp>
              <p:nvSpPr>
                <p:cNvPr id="117" name="Freeform 117"/>
                <p:cNvSpPr/>
                <p:nvPr/>
              </p:nvSpPr>
              <p:spPr>
                <a:xfrm>
                  <a:off x="6153150" y="1828800"/>
                  <a:ext cx="38100" cy="38100"/>
                </a:xfrm>
                <a:custGeom>
                  <a:avLst/>
                  <a:gdLst/>
                  <a:ahLst/>
                  <a:cxnLst/>
                  <a:rect l="l" t="t" r="r" b="b"/>
                  <a:pathLst>
                    <a:path w="38100" h="38100">
                      <a:moveTo>
                        <a:pt x="0" y="38100"/>
                      </a:moveTo>
                      <a:lnTo>
                        <a:pt x="0" y="12700"/>
                      </a:lnTo>
                      <a:cubicBezTo>
                        <a:pt x="0" y="5686"/>
                        <a:pt x="5686" y="0"/>
                        <a:pt x="12700" y="0"/>
                      </a:cubicBezTo>
                      <a:lnTo>
                        <a:pt x="25400" y="0"/>
                      </a:lnTo>
                      <a:cubicBezTo>
                        <a:pt x="32414" y="0"/>
                        <a:pt x="38100" y="5686"/>
                        <a:pt x="38100" y="12700"/>
                      </a:cubicBezTo>
                      <a:lnTo>
                        <a:pt x="38100" y="38100"/>
                      </a:lnTo>
                    </a:path>
                  </a:pathLst>
                </a:custGeom>
                <a:noFill/>
                <a:ln w="12700">
                  <a:solidFill>
                    <a:srgbClr val="FFFFFF"/>
                  </a:solidFill>
                </a:ln>
              </p:spPr>
            </p:sp>
          </p:grpSp>
          <p:sp>
            <p:nvSpPr>
              <p:cNvPr id="119" name="TextBox 119"/>
              <p:cNvSpPr txBox="1"/>
              <p:nvPr/>
            </p:nvSpPr>
            <p:spPr>
              <a:xfrm>
                <a:off x="5870594" y="2014538"/>
                <a:ext cx="603211"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j-lt"/>
                    <a:ea typeface="+mj-ea"/>
                    <a:cs typeface="+mj-cs"/>
                  </a:rPr>
                  <a:t xml:space="preserve">　商户P51　</a:t>
                </a:r>
              </a:p>
            </p:txBody>
          </p:sp>
          <p:sp>
            <p:nvSpPr>
              <p:cNvPr id="120" name="TextBox 120"/>
              <p:cNvSpPr txBox="1"/>
              <p:nvPr/>
            </p:nvSpPr>
            <p:spPr>
              <a:xfrm>
                <a:off x="5908967" y="2150507"/>
                <a:ext cx="526466"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（可疑交易）</a:t>
                </a:r>
              </a:p>
            </p:txBody>
          </p:sp>
          <p:sp>
            <p:nvSpPr>
              <p:cNvPr id="121" name="Ellipse 121"/>
              <p:cNvSpPr/>
              <p:nvPr/>
            </p:nvSpPr>
            <p:spPr>
              <a:xfrm>
                <a:off x="2924175" y="2714625"/>
                <a:ext cx="285750" cy="285750"/>
              </a:xfrm>
              <a:prstGeom prst="ellipse">
                <a:avLst/>
              </a:prstGeom>
              <a:solidFill>
                <a:srgbClr val="6B1B0B"/>
              </a:solidFill>
              <a:ln>
                <a:noFill/>
              </a:ln>
            </p:spPr>
          </p:sp>
          <p:grpSp>
            <p:nvGrpSpPr>
              <p:cNvPr id="124" name="Group 124"/>
              <p:cNvGrpSpPr/>
              <p:nvPr/>
            </p:nvGrpSpPr>
            <p:grpSpPr>
              <a:xfrm>
                <a:off x="3028950" y="2800350"/>
                <a:ext cx="76200" cy="114300"/>
                <a:chOff x="3028950" y="2800350"/>
                <a:chExt cx="76200" cy="114300"/>
              </a:xfrm>
            </p:grpSpPr>
            <p:sp>
              <p:nvSpPr>
                <p:cNvPr id="122" name="Freeform 122"/>
                <p:cNvSpPr/>
                <p:nvPr/>
              </p:nvSpPr>
              <p:spPr>
                <a:xfrm>
                  <a:off x="3041650" y="2800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23" name="Freeform 123"/>
                <p:cNvSpPr/>
                <p:nvPr/>
              </p:nvSpPr>
              <p:spPr>
                <a:xfrm>
                  <a:off x="3028950" y="28765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grpSp>
          <p:sp>
            <p:nvSpPr>
              <p:cNvPr id="125" name="TextBox 125"/>
              <p:cNvSpPr txBox="1"/>
              <p:nvPr/>
            </p:nvSpPr>
            <p:spPr>
              <a:xfrm>
                <a:off x="2898458" y="3062288"/>
                <a:ext cx="211455" cy="147638"/>
              </a:xfrm>
              <a:prstGeom prst="rect">
                <a:avLst/>
              </a:prstGeom>
              <a:noFill/>
              <a:ln>
                <a:noFill/>
              </a:ln>
            </p:spPr>
            <p:txBody>
              <a:bodyPr wrap="none" lIns="0" tIns="0" rIns="0" bIns="0" anchor="t" anchorCtr="0">
                <a:spAutoFit/>
              </a:bodyPr>
              <a:lstStyle/>
              <a:p>
                <a:pPr algn="r"/>
                <a:r>
                  <a:rPr lang="zh-CN" sz="750" b="1" dirty="0">
                    <a:solidFill>
                      <a:srgbClr val="6B1B0B"/>
                    </a:solidFill>
                    <a:latin typeface="+mn-lt"/>
                    <a:ea typeface="+mn-ea"/>
                    <a:cs typeface="+mn-cs"/>
                  </a:rPr>
                  <a:t>账户</a:t>
                </a:r>
              </a:p>
            </p:txBody>
          </p:sp>
          <p:sp>
            <p:nvSpPr>
              <p:cNvPr id="126" name="TextBox 126"/>
              <p:cNvSpPr txBox="1"/>
              <p:nvPr/>
            </p:nvSpPr>
            <p:spPr>
              <a:xfrm>
                <a:off x="3100388" y="3062288"/>
                <a:ext cx="145905" cy="147638"/>
              </a:xfrm>
              <a:prstGeom prst="rect">
                <a:avLst/>
              </a:prstGeom>
              <a:noFill/>
              <a:ln>
                <a:noFill/>
              </a:ln>
            </p:spPr>
            <p:txBody>
              <a:bodyPr wrap="none" lIns="0" tIns="0" rIns="0" bIns="0" anchor="t" anchorCtr="0">
                <a:spAutoFit/>
              </a:bodyPr>
              <a:lstStyle/>
              <a:p>
                <a:pPr algn="l"/>
                <a:r>
                  <a:rPr lang="en-US" sz="750" b="1" dirty="0">
                    <a:solidFill>
                      <a:srgbClr val="6B1B0B"/>
                    </a:solidFill>
                    <a:latin typeface="+mj-lt"/>
                    <a:ea typeface="+mj-ea"/>
                    <a:cs typeface="+mj-cs"/>
                  </a:rPr>
                  <a:t>A1</a:t>
                </a:r>
              </a:p>
            </p:txBody>
          </p:sp>
          <p:sp>
            <p:nvSpPr>
              <p:cNvPr id="127" name="TextBox 127"/>
              <p:cNvSpPr txBox="1"/>
              <p:nvPr/>
            </p:nvSpPr>
            <p:spPr>
              <a:xfrm>
                <a:off x="2803817" y="3198257"/>
                <a:ext cx="526466"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（关联标识）</a:t>
                </a:r>
              </a:p>
            </p:txBody>
          </p:sp>
          <p:sp>
            <p:nvSpPr>
              <p:cNvPr id="128" name="Ellipse 128"/>
              <p:cNvSpPr/>
              <p:nvPr/>
            </p:nvSpPr>
            <p:spPr>
              <a:xfrm>
                <a:off x="6372225" y="2762250"/>
                <a:ext cx="285750" cy="285750"/>
              </a:xfrm>
              <a:prstGeom prst="ellipse">
                <a:avLst/>
              </a:prstGeom>
              <a:solidFill>
                <a:srgbClr val="6B1B0B"/>
              </a:solidFill>
              <a:ln>
                <a:noFill/>
              </a:ln>
            </p:spPr>
          </p:sp>
          <p:grpSp>
            <p:nvGrpSpPr>
              <p:cNvPr id="131" name="Group 131"/>
              <p:cNvGrpSpPr/>
              <p:nvPr/>
            </p:nvGrpSpPr>
            <p:grpSpPr>
              <a:xfrm>
                <a:off x="6477000" y="2847975"/>
                <a:ext cx="76200" cy="114300"/>
                <a:chOff x="6477000" y="2847975"/>
                <a:chExt cx="76200" cy="114300"/>
              </a:xfrm>
            </p:grpSpPr>
            <p:sp>
              <p:nvSpPr>
                <p:cNvPr id="129" name="Freeform 129"/>
                <p:cNvSpPr/>
                <p:nvPr/>
              </p:nvSpPr>
              <p:spPr>
                <a:xfrm>
                  <a:off x="6489700" y="28479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30" name="Freeform 130"/>
                <p:cNvSpPr/>
                <p:nvPr/>
              </p:nvSpPr>
              <p:spPr>
                <a:xfrm>
                  <a:off x="6477000" y="292417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grpSp>
          <p:sp>
            <p:nvSpPr>
              <p:cNvPr id="132" name="TextBox 132"/>
              <p:cNvSpPr txBox="1"/>
              <p:nvPr/>
            </p:nvSpPr>
            <p:spPr>
              <a:xfrm>
                <a:off x="6346508" y="3109912"/>
                <a:ext cx="211455" cy="147638"/>
              </a:xfrm>
              <a:prstGeom prst="rect">
                <a:avLst/>
              </a:prstGeom>
              <a:noFill/>
              <a:ln>
                <a:noFill/>
              </a:ln>
            </p:spPr>
            <p:txBody>
              <a:bodyPr wrap="none" lIns="0" tIns="0" rIns="0" bIns="0" anchor="t" anchorCtr="0">
                <a:spAutoFit/>
              </a:bodyPr>
              <a:lstStyle/>
              <a:p>
                <a:pPr algn="r"/>
                <a:r>
                  <a:rPr lang="zh-CN" sz="750" b="1" dirty="0">
                    <a:solidFill>
                      <a:srgbClr val="6B1B0B"/>
                    </a:solidFill>
                    <a:latin typeface="+mn-lt"/>
                    <a:ea typeface="+mn-ea"/>
                    <a:cs typeface="+mn-cs"/>
                  </a:rPr>
                  <a:t>账户</a:t>
                </a:r>
              </a:p>
            </p:txBody>
          </p:sp>
          <p:sp>
            <p:nvSpPr>
              <p:cNvPr id="133" name="TextBox 133"/>
              <p:cNvSpPr txBox="1"/>
              <p:nvPr/>
            </p:nvSpPr>
            <p:spPr>
              <a:xfrm>
                <a:off x="6548438" y="3109912"/>
                <a:ext cx="145905" cy="147638"/>
              </a:xfrm>
              <a:prstGeom prst="rect">
                <a:avLst/>
              </a:prstGeom>
              <a:noFill/>
              <a:ln>
                <a:noFill/>
              </a:ln>
            </p:spPr>
            <p:txBody>
              <a:bodyPr wrap="none" lIns="0" tIns="0" rIns="0" bIns="0" anchor="t" anchorCtr="0">
                <a:spAutoFit/>
              </a:bodyPr>
              <a:lstStyle/>
              <a:p>
                <a:pPr algn="l"/>
                <a:r>
                  <a:rPr lang="en-US" sz="750" b="1" dirty="0">
                    <a:solidFill>
                      <a:srgbClr val="6B1B0B"/>
                    </a:solidFill>
                    <a:latin typeface="+mj-lt"/>
                    <a:ea typeface="+mj-ea"/>
                    <a:cs typeface="+mj-cs"/>
                  </a:rPr>
                  <a:t>A3</a:t>
                </a:r>
              </a:p>
            </p:txBody>
          </p:sp>
          <p:sp>
            <p:nvSpPr>
              <p:cNvPr id="134" name="TextBox 134"/>
              <p:cNvSpPr txBox="1"/>
              <p:nvPr/>
            </p:nvSpPr>
            <p:spPr>
              <a:xfrm>
                <a:off x="6165710" y="3245882"/>
                <a:ext cx="698779"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（与黑名单关联）</a:t>
                </a:r>
              </a:p>
            </p:txBody>
          </p:sp>
          <p:sp>
            <p:nvSpPr>
              <p:cNvPr id="135" name="Ellipse 135"/>
              <p:cNvSpPr/>
              <p:nvPr/>
            </p:nvSpPr>
            <p:spPr>
              <a:xfrm>
                <a:off x="2924175" y="3838575"/>
                <a:ext cx="285750" cy="285750"/>
              </a:xfrm>
              <a:prstGeom prst="ellipse">
                <a:avLst/>
              </a:prstGeom>
              <a:solidFill>
                <a:srgbClr val="E3B3A9"/>
              </a:solidFill>
              <a:ln>
                <a:noFill/>
              </a:ln>
            </p:spPr>
          </p:sp>
          <p:grpSp>
            <p:nvGrpSpPr>
              <p:cNvPr id="141" name="Group 141"/>
              <p:cNvGrpSpPr/>
              <p:nvPr/>
            </p:nvGrpSpPr>
            <p:grpSpPr>
              <a:xfrm>
                <a:off x="3009900" y="3924300"/>
                <a:ext cx="114300" cy="123825"/>
                <a:chOff x="3009900" y="3924300"/>
                <a:chExt cx="114300" cy="123825"/>
              </a:xfrm>
            </p:grpSpPr>
            <p:sp>
              <p:nvSpPr>
                <p:cNvPr id="136" name="Freeform 136"/>
                <p:cNvSpPr/>
                <p:nvPr/>
              </p:nvSpPr>
              <p:spPr>
                <a:xfrm>
                  <a:off x="3009900" y="4038600"/>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137" name="Freeform 137"/>
                <p:cNvSpPr/>
                <p:nvPr/>
              </p:nvSpPr>
              <p:spPr>
                <a:xfrm>
                  <a:off x="3009900" y="3924300"/>
                  <a:ext cx="114300" cy="50800"/>
                </a:xfrm>
                <a:custGeom>
                  <a:avLst/>
                  <a:gdLst/>
                  <a:ahLst/>
                  <a:cxnLst/>
                  <a:rect l="l" t="t" r="r" b="b"/>
                  <a:pathLst>
                    <a:path w="114300" h="50800">
                      <a:moveTo>
                        <a:pt x="0" y="25400"/>
                      </a:moveTo>
                      <a:lnTo>
                        <a:pt x="0" y="31750"/>
                      </a:lnTo>
                      <a:cubicBezTo>
                        <a:pt x="0" y="42271"/>
                        <a:pt x="8529" y="50800"/>
                        <a:pt x="19050" y="50800"/>
                      </a:cubicBezTo>
                      <a:cubicBezTo>
                        <a:pt x="29571" y="50800"/>
                        <a:pt x="38100" y="42271"/>
                        <a:pt x="38100" y="31750"/>
                      </a:cubicBezTo>
                      <a:lnTo>
                        <a:pt x="38100" y="25400"/>
                      </a:lnTo>
                      <a:moveTo>
                        <a:pt x="38100" y="31750"/>
                      </a:moveTo>
                      <a:cubicBezTo>
                        <a:pt x="38100" y="42271"/>
                        <a:pt x="46629" y="50800"/>
                        <a:pt x="57150" y="50800"/>
                      </a:cubicBezTo>
                      <a:cubicBezTo>
                        <a:pt x="67671" y="50800"/>
                        <a:pt x="76200" y="42271"/>
                        <a:pt x="76200" y="31750"/>
                      </a:cubicBezTo>
                      <a:lnTo>
                        <a:pt x="76200" y="25400"/>
                      </a:lnTo>
                      <a:moveTo>
                        <a:pt x="76200" y="31750"/>
                      </a:moveTo>
                      <a:cubicBezTo>
                        <a:pt x="76200" y="42271"/>
                        <a:pt x="84729" y="50800"/>
                        <a:pt x="95250" y="50800"/>
                      </a:cubicBezTo>
                      <a:cubicBezTo>
                        <a:pt x="105771" y="50800"/>
                        <a:pt x="114300" y="42271"/>
                        <a:pt x="114300" y="31750"/>
                      </a:cubicBezTo>
                      <a:lnTo>
                        <a:pt x="114300" y="25400"/>
                      </a:lnTo>
                      <a:lnTo>
                        <a:pt x="0" y="25400"/>
                      </a:lnTo>
                      <a:lnTo>
                        <a:pt x="12700" y="0"/>
                      </a:lnTo>
                      <a:lnTo>
                        <a:pt x="101600" y="0"/>
                      </a:lnTo>
                      <a:lnTo>
                        <a:pt x="114300" y="25400"/>
                      </a:lnTo>
                    </a:path>
                  </a:pathLst>
                </a:custGeom>
                <a:noFill/>
                <a:ln w="12700">
                  <a:solidFill>
                    <a:srgbClr val="FFFFFF"/>
                  </a:solidFill>
                </a:ln>
              </p:spPr>
            </p:sp>
            <p:sp>
              <p:nvSpPr>
                <p:cNvPr id="138" name="Freeform 138"/>
                <p:cNvSpPr/>
                <p:nvPr/>
              </p:nvSpPr>
              <p:spPr>
                <a:xfrm>
                  <a:off x="3022600" y="3974148"/>
                  <a:ext cx="9525" cy="64453"/>
                </a:xfrm>
                <a:custGeom>
                  <a:avLst/>
                  <a:gdLst/>
                  <a:ahLst/>
                  <a:cxnLst/>
                  <a:rect l="l" t="t" r="r" b="b"/>
                  <a:pathLst>
                    <a:path w="9525" h="64453">
                      <a:moveTo>
                        <a:pt x="0" y="64453"/>
                      </a:moveTo>
                      <a:lnTo>
                        <a:pt x="0" y="0"/>
                      </a:lnTo>
                    </a:path>
                  </a:pathLst>
                </a:custGeom>
                <a:noFill/>
                <a:ln w="12700">
                  <a:solidFill>
                    <a:srgbClr val="FFFFFF"/>
                  </a:solidFill>
                </a:ln>
              </p:spPr>
            </p:sp>
            <p:sp>
              <p:nvSpPr>
                <p:cNvPr id="139" name="Freeform 139"/>
                <p:cNvSpPr/>
                <p:nvPr/>
              </p:nvSpPr>
              <p:spPr>
                <a:xfrm>
                  <a:off x="3111500" y="3974148"/>
                  <a:ext cx="9525" cy="64453"/>
                </a:xfrm>
                <a:custGeom>
                  <a:avLst/>
                  <a:gdLst/>
                  <a:ahLst/>
                  <a:cxnLst/>
                  <a:rect l="l" t="t" r="r" b="b"/>
                  <a:pathLst>
                    <a:path w="9525" h="64453">
                      <a:moveTo>
                        <a:pt x="0" y="64453"/>
                      </a:moveTo>
                      <a:lnTo>
                        <a:pt x="0" y="0"/>
                      </a:lnTo>
                    </a:path>
                  </a:pathLst>
                </a:custGeom>
                <a:noFill/>
                <a:ln w="12700">
                  <a:solidFill>
                    <a:srgbClr val="FFFFFF"/>
                  </a:solidFill>
                </a:ln>
              </p:spPr>
            </p:sp>
            <p:sp>
              <p:nvSpPr>
                <p:cNvPr id="140" name="Freeform 140"/>
                <p:cNvSpPr/>
                <p:nvPr/>
              </p:nvSpPr>
              <p:spPr>
                <a:xfrm>
                  <a:off x="3048000" y="4000500"/>
                  <a:ext cx="38100" cy="38100"/>
                </a:xfrm>
                <a:custGeom>
                  <a:avLst/>
                  <a:gdLst/>
                  <a:ahLst/>
                  <a:cxnLst/>
                  <a:rect l="l" t="t" r="r" b="b"/>
                  <a:pathLst>
                    <a:path w="38100" h="38100">
                      <a:moveTo>
                        <a:pt x="0" y="38100"/>
                      </a:moveTo>
                      <a:lnTo>
                        <a:pt x="0" y="12700"/>
                      </a:lnTo>
                      <a:cubicBezTo>
                        <a:pt x="0" y="5686"/>
                        <a:pt x="5686" y="0"/>
                        <a:pt x="12700" y="0"/>
                      </a:cubicBezTo>
                      <a:lnTo>
                        <a:pt x="25400" y="0"/>
                      </a:lnTo>
                      <a:cubicBezTo>
                        <a:pt x="32414" y="0"/>
                        <a:pt x="38100" y="5686"/>
                        <a:pt x="38100" y="12700"/>
                      </a:cubicBezTo>
                      <a:lnTo>
                        <a:pt x="38100" y="38100"/>
                      </a:lnTo>
                    </a:path>
                  </a:pathLst>
                </a:custGeom>
                <a:noFill/>
                <a:ln w="12700">
                  <a:solidFill>
                    <a:srgbClr val="FFFFFF"/>
                  </a:solidFill>
                </a:ln>
              </p:spPr>
            </p:sp>
          </p:grpSp>
          <p:sp>
            <p:nvSpPr>
              <p:cNvPr id="142" name="TextBox 142"/>
              <p:cNvSpPr txBox="1"/>
              <p:nvPr/>
            </p:nvSpPr>
            <p:spPr>
              <a:xfrm>
                <a:off x="2898458" y="4186238"/>
                <a:ext cx="211455" cy="147638"/>
              </a:xfrm>
              <a:prstGeom prst="rect">
                <a:avLst/>
              </a:prstGeom>
              <a:noFill/>
              <a:ln>
                <a:noFill/>
              </a:ln>
            </p:spPr>
            <p:txBody>
              <a:bodyPr wrap="none" lIns="0" tIns="0" rIns="0" bIns="0" anchor="t" anchorCtr="0">
                <a:spAutoFit/>
              </a:bodyPr>
              <a:lstStyle/>
              <a:p>
                <a:pPr algn="r"/>
                <a:r>
                  <a:rPr lang="zh-CN" sz="750" b="1" dirty="0">
                    <a:solidFill>
                      <a:srgbClr val="6B1B0B"/>
                    </a:solidFill>
                    <a:latin typeface="+mn-lt"/>
                    <a:ea typeface="+mn-ea"/>
                    <a:cs typeface="+mn-cs"/>
                  </a:rPr>
                  <a:t>商户</a:t>
                </a:r>
              </a:p>
            </p:txBody>
          </p:sp>
          <p:sp>
            <p:nvSpPr>
              <p:cNvPr id="143" name="TextBox 143"/>
              <p:cNvSpPr txBox="1"/>
              <p:nvPr/>
            </p:nvSpPr>
            <p:spPr>
              <a:xfrm>
                <a:off x="3100388" y="4186238"/>
                <a:ext cx="140016" cy="147638"/>
              </a:xfrm>
              <a:prstGeom prst="rect">
                <a:avLst/>
              </a:prstGeom>
              <a:noFill/>
              <a:ln>
                <a:noFill/>
              </a:ln>
            </p:spPr>
            <p:txBody>
              <a:bodyPr wrap="none" lIns="0" tIns="0" rIns="0" bIns="0" anchor="t" anchorCtr="0">
                <a:spAutoFit/>
              </a:bodyPr>
              <a:lstStyle/>
              <a:p>
                <a:pPr algn="l"/>
                <a:r>
                  <a:rPr lang="en-US" sz="750" b="1" dirty="0">
                    <a:solidFill>
                      <a:srgbClr val="6B1B0B"/>
                    </a:solidFill>
                    <a:latin typeface="+mj-lt"/>
                    <a:ea typeface="+mj-ea"/>
                    <a:cs typeface="+mj-cs"/>
                  </a:rPr>
                  <a:t>S2</a:t>
                </a:r>
              </a:p>
            </p:txBody>
          </p:sp>
          <p:sp>
            <p:nvSpPr>
              <p:cNvPr id="144" name="TextBox 144"/>
              <p:cNvSpPr txBox="1"/>
              <p:nvPr/>
            </p:nvSpPr>
            <p:spPr>
              <a:xfrm>
                <a:off x="2722049" y="4322207"/>
                <a:ext cx="690001"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（同IP集中交易）</a:t>
                </a:r>
              </a:p>
            </p:txBody>
          </p:sp>
          <p:sp>
            <p:nvSpPr>
              <p:cNvPr id="145" name="Ellipse 145"/>
              <p:cNvSpPr/>
              <p:nvPr/>
            </p:nvSpPr>
            <p:spPr>
              <a:xfrm>
                <a:off x="4124325" y="4162425"/>
                <a:ext cx="285750" cy="285750"/>
              </a:xfrm>
              <a:prstGeom prst="ellipse">
                <a:avLst/>
              </a:prstGeom>
              <a:solidFill>
                <a:srgbClr val="92301C"/>
              </a:solidFill>
              <a:ln>
                <a:noFill/>
              </a:ln>
            </p:spPr>
          </p:sp>
          <p:grpSp>
            <p:nvGrpSpPr>
              <p:cNvPr id="149" name="Group 149"/>
              <p:cNvGrpSpPr/>
              <p:nvPr/>
            </p:nvGrpSpPr>
            <p:grpSpPr>
              <a:xfrm>
                <a:off x="4210050" y="4254500"/>
                <a:ext cx="114300" cy="101600"/>
                <a:chOff x="4210050" y="4254500"/>
                <a:chExt cx="114300" cy="101600"/>
              </a:xfrm>
            </p:grpSpPr>
            <p:sp>
              <p:nvSpPr>
                <p:cNvPr id="146" name="Freeform 146"/>
                <p:cNvSpPr/>
                <p:nvPr/>
              </p:nvSpPr>
              <p:spPr>
                <a:xfrm>
                  <a:off x="4273550" y="4279900"/>
                  <a:ext cx="50800" cy="76200"/>
                </a:xfrm>
                <a:custGeom>
                  <a:avLst/>
                  <a:gdLst/>
                  <a:ahLst/>
                  <a:cxnLst/>
                  <a:rect l="l" t="t" r="r" b="b"/>
                  <a:pathLst>
                    <a:path w="50800" h="76200">
                      <a:moveTo>
                        <a:pt x="0" y="6350"/>
                      </a:moveTo>
                      <a:cubicBezTo>
                        <a:pt x="0" y="2843"/>
                        <a:pt x="2843" y="0"/>
                        <a:pt x="6350" y="0"/>
                      </a:cubicBezTo>
                      <a:lnTo>
                        <a:pt x="44450" y="0"/>
                      </a:lnTo>
                      <a:cubicBezTo>
                        <a:pt x="47957" y="0"/>
                        <a:pt x="50800" y="2843"/>
                        <a:pt x="50800" y="6350"/>
                      </a:cubicBezTo>
                      <a:lnTo>
                        <a:pt x="50800" y="69850"/>
                      </a:lnTo>
                      <a:cubicBezTo>
                        <a:pt x="50800" y="73357"/>
                        <a:pt x="47957" y="76200"/>
                        <a:pt x="44450" y="76200"/>
                      </a:cubicBezTo>
                      <a:lnTo>
                        <a:pt x="6350" y="76200"/>
                      </a:lnTo>
                      <a:cubicBezTo>
                        <a:pt x="2843" y="76200"/>
                        <a:pt x="0" y="73357"/>
                        <a:pt x="0" y="69850"/>
                      </a:cubicBezTo>
                      <a:lnTo>
                        <a:pt x="0" y="6350"/>
                      </a:lnTo>
                    </a:path>
                  </a:pathLst>
                </a:custGeom>
                <a:noFill/>
                <a:ln w="12700">
                  <a:solidFill>
                    <a:srgbClr val="FFFFFF"/>
                  </a:solidFill>
                </a:ln>
              </p:spPr>
            </p:sp>
            <p:sp>
              <p:nvSpPr>
                <p:cNvPr id="147" name="Freeform 147"/>
                <p:cNvSpPr/>
                <p:nvPr/>
              </p:nvSpPr>
              <p:spPr>
                <a:xfrm>
                  <a:off x="4210050" y="4254500"/>
                  <a:ext cx="95250" cy="88900"/>
                </a:xfrm>
                <a:custGeom>
                  <a:avLst/>
                  <a:gdLst/>
                  <a:ahLst/>
                  <a:cxnLst/>
                  <a:rect l="l" t="t" r="r" b="b"/>
                  <a:pathLst>
                    <a:path w="95250" h="88900">
                      <a:moveTo>
                        <a:pt x="95250" y="25400"/>
                      </a:moveTo>
                      <a:lnTo>
                        <a:pt x="95250" y="6350"/>
                      </a:lnTo>
                      <a:cubicBezTo>
                        <a:pt x="95250" y="2843"/>
                        <a:pt x="92407" y="0"/>
                        <a:pt x="88900" y="0"/>
                      </a:cubicBezTo>
                      <a:lnTo>
                        <a:pt x="6350" y="0"/>
                      </a:lnTo>
                      <a:cubicBezTo>
                        <a:pt x="2843" y="0"/>
                        <a:pt x="0" y="2843"/>
                        <a:pt x="0" y="6350"/>
                      </a:cubicBezTo>
                      <a:lnTo>
                        <a:pt x="0" y="82550"/>
                      </a:lnTo>
                      <a:cubicBezTo>
                        <a:pt x="0" y="86057"/>
                        <a:pt x="2843" y="88900"/>
                        <a:pt x="6350" y="88900"/>
                      </a:cubicBezTo>
                      <a:lnTo>
                        <a:pt x="63500" y="88900"/>
                      </a:lnTo>
                    </a:path>
                  </a:pathLst>
                </a:custGeom>
                <a:noFill/>
                <a:ln w="12700">
                  <a:solidFill>
                    <a:srgbClr val="FFFFFF"/>
                  </a:solidFill>
                </a:ln>
              </p:spPr>
            </p:sp>
            <p:sp>
              <p:nvSpPr>
                <p:cNvPr id="148" name="Freeform 148"/>
                <p:cNvSpPr/>
                <p:nvPr/>
              </p:nvSpPr>
              <p:spPr>
                <a:xfrm>
                  <a:off x="4292600" y="4286250"/>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150" name="TextBox 150"/>
              <p:cNvSpPr txBox="1"/>
              <p:nvPr/>
            </p:nvSpPr>
            <p:spPr>
              <a:xfrm>
                <a:off x="4098608" y="4510088"/>
                <a:ext cx="211455" cy="147638"/>
              </a:xfrm>
              <a:prstGeom prst="rect">
                <a:avLst/>
              </a:prstGeom>
              <a:noFill/>
              <a:ln>
                <a:noFill/>
              </a:ln>
            </p:spPr>
            <p:txBody>
              <a:bodyPr wrap="none" lIns="0" tIns="0" rIns="0" bIns="0" anchor="t" anchorCtr="0">
                <a:spAutoFit/>
              </a:bodyPr>
              <a:lstStyle/>
              <a:p>
                <a:pPr algn="r"/>
                <a:r>
                  <a:rPr lang="zh-CN" sz="750" b="1" dirty="0">
                    <a:solidFill>
                      <a:srgbClr val="6B1B0B"/>
                    </a:solidFill>
                    <a:latin typeface="+mn-lt"/>
                    <a:ea typeface="+mn-ea"/>
                    <a:cs typeface="+mn-cs"/>
                  </a:rPr>
                  <a:t>设备</a:t>
                </a:r>
              </a:p>
            </p:txBody>
          </p:sp>
          <p:sp>
            <p:nvSpPr>
              <p:cNvPr id="151" name="TextBox 151"/>
              <p:cNvSpPr txBox="1"/>
              <p:nvPr/>
            </p:nvSpPr>
            <p:spPr>
              <a:xfrm>
                <a:off x="4300538" y="4510088"/>
                <a:ext cx="145905" cy="147638"/>
              </a:xfrm>
              <a:prstGeom prst="rect">
                <a:avLst/>
              </a:prstGeom>
              <a:noFill/>
              <a:ln>
                <a:noFill/>
              </a:ln>
            </p:spPr>
            <p:txBody>
              <a:bodyPr wrap="none" lIns="0" tIns="0" rIns="0" bIns="0" anchor="t" anchorCtr="0">
                <a:spAutoFit/>
              </a:bodyPr>
              <a:lstStyle/>
              <a:p>
                <a:pPr algn="l"/>
                <a:r>
                  <a:rPr lang="en-US" sz="750" b="1" dirty="0">
                    <a:solidFill>
                      <a:srgbClr val="6B1B0B"/>
                    </a:solidFill>
                    <a:latin typeface="+mj-lt"/>
                    <a:ea typeface="+mj-ea"/>
                    <a:cs typeface="+mj-cs"/>
                  </a:rPr>
                  <a:t>D2</a:t>
                </a:r>
              </a:p>
            </p:txBody>
          </p:sp>
          <p:sp>
            <p:nvSpPr>
              <p:cNvPr id="152" name="TextBox 152"/>
              <p:cNvSpPr txBox="1"/>
              <p:nvPr/>
            </p:nvSpPr>
            <p:spPr>
              <a:xfrm>
                <a:off x="4003967" y="4646057"/>
                <a:ext cx="526466"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（频繁切换）</a:t>
                </a:r>
              </a:p>
            </p:txBody>
          </p:sp>
          <p:sp>
            <p:nvSpPr>
              <p:cNvPr id="153" name="Ellipse 153"/>
              <p:cNvSpPr/>
              <p:nvPr/>
            </p:nvSpPr>
            <p:spPr>
              <a:xfrm>
                <a:off x="5076825" y="4295775"/>
                <a:ext cx="285750" cy="285750"/>
              </a:xfrm>
              <a:prstGeom prst="ellipse">
                <a:avLst/>
              </a:prstGeom>
              <a:solidFill>
                <a:srgbClr val="6B1B0B"/>
              </a:solidFill>
              <a:ln>
                <a:noFill/>
              </a:ln>
            </p:spPr>
          </p:sp>
          <p:grpSp>
            <p:nvGrpSpPr>
              <p:cNvPr id="156" name="Group 156"/>
              <p:cNvGrpSpPr/>
              <p:nvPr/>
            </p:nvGrpSpPr>
            <p:grpSpPr>
              <a:xfrm>
                <a:off x="5181600" y="4381500"/>
                <a:ext cx="76200" cy="114300"/>
                <a:chOff x="5181600" y="4381500"/>
                <a:chExt cx="76200" cy="114300"/>
              </a:xfrm>
            </p:grpSpPr>
            <p:sp>
              <p:nvSpPr>
                <p:cNvPr id="154" name="Freeform 154"/>
                <p:cNvSpPr/>
                <p:nvPr/>
              </p:nvSpPr>
              <p:spPr>
                <a:xfrm>
                  <a:off x="5194300" y="43815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55" name="Freeform 155"/>
                <p:cNvSpPr/>
                <p:nvPr/>
              </p:nvSpPr>
              <p:spPr>
                <a:xfrm>
                  <a:off x="5181600" y="44577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grpSp>
          <p:sp>
            <p:nvSpPr>
              <p:cNvPr id="157" name="TextBox 157"/>
              <p:cNvSpPr txBox="1"/>
              <p:nvPr/>
            </p:nvSpPr>
            <p:spPr>
              <a:xfrm>
                <a:off x="5051108" y="4643438"/>
                <a:ext cx="211455" cy="147638"/>
              </a:xfrm>
              <a:prstGeom prst="rect">
                <a:avLst/>
              </a:prstGeom>
              <a:noFill/>
              <a:ln>
                <a:noFill/>
              </a:ln>
            </p:spPr>
            <p:txBody>
              <a:bodyPr wrap="none" lIns="0" tIns="0" rIns="0" bIns="0" anchor="t" anchorCtr="0">
                <a:spAutoFit/>
              </a:bodyPr>
              <a:lstStyle/>
              <a:p>
                <a:pPr algn="r"/>
                <a:r>
                  <a:rPr lang="zh-CN" sz="750" b="1" dirty="0">
                    <a:solidFill>
                      <a:srgbClr val="6B1B0B"/>
                    </a:solidFill>
                    <a:latin typeface="+mn-lt"/>
                    <a:ea typeface="+mn-ea"/>
                    <a:cs typeface="+mn-cs"/>
                  </a:rPr>
                  <a:t>账户</a:t>
                </a:r>
              </a:p>
            </p:txBody>
          </p:sp>
          <p:sp>
            <p:nvSpPr>
              <p:cNvPr id="158" name="TextBox 158"/>
              <p:cNvSpPr txBox="1"/>
              <p:nvPr/>
            </p:nvSpPr>
            <p:spPr>
              <a:xfrm>
                <a:off x="5253038" y="4643438"/>
                <a:ext cx="145905" cy="147638"/>
              </a:xfrm>
              <a:prstGeom prst="rect">
                <a:avLst/>
              </a:prstGeom>
              <a:noFill/>
              <a:ln>
                <a:noFill/>
              </a:ln>
            </p:spPr>
            <p:txBody>
              <a:bodyPr wrap="none" lIns="0" tIns="0" rIns="0" bIns="0" anchor="t" anchorCtr="0">
                <a:spAutoFit/>
              </a:bodyPr>
              <a:lstStyle/>
              <a:p>
                <a:pPr algn="l"/>
                <a:r>
                  <a:rPr lang="en-US" sz="750" b="1" dirty="0">
                    <a:solidFill>
                      <a:srgbClr val="6B1B0B"/>
                    </a:solidFill>
                    <a:latin typeface="+mj-lt"/>
                    <a:ea typeface="+mj-ea"/>
                    <a:cs typeface="+mj-cs"/>
                  </a:rPr>
                  <a:t>A2</a:t>
                </a:r>
              </a:p>
            </p:txBody>
          </p:sp>
          <p:sp>
            <p:nvSpPr>
              <p:cNvPr id="159" name="TextBox 159"/>
              <p:cNvSpPr txBox="1"/>
              <p:nvPr/>
            </p:nvSpPr>
            <p:spPr>
              <a:xfrm>
                <a:off x="4870310" y="4779407"/>
                <a:ext cx="698779"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（资金快进快出）</a:t>
                </a:r>
              </a:p>
            </p:txBody>
          </p:sp>
          <p:sp>
            <p:nvSpPr>
              <p:cNvPr id="160" name="Ellipse 160"/>
              <p:cNvSpPr/>
              <p:nvPr/>
            </p:nvSpPr>
            <p:spPr>
              <a:xfrm>
                <a:off x="6219825" y="3971925"/>
                <a:ext cx="285750" cy="285750"/>
              </a:xfrm>
              <a:prstGeom prst="ellipse">
                <a:avLst/>
              </a:prstGeom>
              <a:solidFill>
                <a:srgbClr val="C87C6C"/>
              </a:solidFill>
              <a:ln>
                <a:noFill/>
              </a:ln>
            </p:spPr>
          </p:sp>
          <p:sp>
            <p:nvSpPr>
              <p:cNvPr id="161" name="Freeform 161"/>
              <p:cNvSpPr/>
              <p:nvPr/>
            </p:nvSpPr>
            <p:spPr>
              <a:xfrm>
                <a:off x="6305550" y="4064000"/>
                <a:ext cx="107950" cy="107950"/>
              </a:xfrm>
              <a:custGeom>
                <a:avLst/>
                <a:gdLst/>
                <a:ahLst/>
                <a:cxnLst/>
                <a:rect l="l" t="t" r="r" b="b"/>
                <a:pathLst>
                  <a:path w="107950" h="107950">
                    <a:moveTo>
                      <a:pt x="12700" y="0"/>
                    </a:moveTo>
                    <a:lnTo>
                      <a:pt x="38100" y="0"/>
                    </a:lnTo>
                    <a:lnTo>
                      <a:pt x="50800" y="31750"/>
                    </a:lnTo>
                    <a:lnTo>
                      <a:pt x="34925" y="41275"/>
                    </a:lnTo>
                    <a:cubicBezTo>
                      <a:pt x="41726" y="55064"/>
                      <a:pt x="52886" y="66224"/>
                      <a:pt x="66675" y="73025"/>
                    </a:cubicBezTo>
                    <a:lnTo>
                      <a:pt x="76200" y="57150"/>
                    </a:lnTo>
                    <a:lnTo>
                      <a:pt x="107950" y="69850"/>
                    </a:lnTo>
                    <a:lnTo>
                      <a:pt x="107950" y="95250"/>
                    </a:lnTo>
                    <a:cubicBezTo>
                      <a:pt x="107950" y="102264"/>
                      <a:pt x="102264" y="107950"/>
                      <a:pt x="95250" y="107950"/>
                    </a:cubicBezTo>
                    <a:cubicBezTo>
                      <a:pt x="43991" y="104835"/>
                      <a:pt x="3115" y="63959"/>
                      <a:pt x="0" y="12700"/>
                    </a:cubicBezTo>
                    <a:cubicBezTo>
                      <a:pt x="0" y="5686"/>
                      <a:pt x="5686" y="0"/>
                      <a:pt x="12700" y="0"/>
                    </a:cubicBezTo>
                  </a:path>
                </a:pathLst>
              </a:custGeom>
              <a:noFill/>
              <a:ln w="12700">
                <a:solidFill>
                  <a:srgbClr val="FFFFFF"/>
                </a:solidFill>
              </a:ln>
            </p:spPr>
          </p:sp>
          <p:sp>
            <p:nvSpPr>
              <p:cNvPr id="162" name="TextBox 162"/>
              <p:cNvSpPr txBox="1"/>
              <p:nvPr/>
            </p:nvSpPr>
            <p:spPr>
              <a:xfrm>
                <a:off x="6031425" y="4319588"/>
                <a:ext cx="662550"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j-lt"/>
                    <a:ea typeface="+mj-ea"/>
                    <a:cs typeface="+mj-cs"/>
                  </a:rPr>
                  <a:t xml:space="preserve">　手机号M2　</a:t>
                </a:r>
              </a:p>
            </p:txBody>
          </p:sp>
          <p:sp>
            <p:nvSpPr>
              <p:cNvPr id="163" name="TextBox 163"/>
              <p:cNvSpPr txBox="1"/>
              <p:nvPr/>
            </p:nvSpPr>
            <p:spPr>
              <a:xfrm>
                <a:off x="6056389" y="4455557"/>
                <a:ext cx="612623"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（同设备使用）</a:t>
                </a:r>
              </a:p>
            </p:txBody>
          </p:sp>
        </p:grpSp>
        <p:grpSp>
          <p:nvGrpSpPr>
            <p:cNvPr id="171" name="mg-center"/>
            <p:cNvGrpSpPr/>
            <p:nvPr/>
          </p:nvGrpSpPr>
          <p:grpSpPr>
            <a:xfrm>
              <a:off x="4905375" y="2571750"/>
              <a:ext cx="571500" cy="593884"/>
              <a:chOff x="4905375" y="2571750"/>
              <a:chExt cx="571500" cy="593884"/>
            </a:xfrm>
          </p:grpSpPr>
          <p:sp>
            <p:nvSpPr>
              <p:cNvPr id="165" name="Ellipse 165"/>
              <p:cNvSpPr/>
              <p:nvPr/>
            </p:nvSpPr>
            <p:spPr>
              <a:xfrm>
                <a:off x="4905375" y="2571750"/>
                <a:ext cx="571500" cy="571500"/>
              </a:xfrm>
              <a:prstGeom prst="ellipse">
                <a:avLst/>
              </a:prstGeom>
              <a:solidFill>
                <a:srgbClr val="6B1B0B"/>
              </a:solidFill>
              <a:ln>
                <a:noFill/>
              </a:ln>
            </p:spPr>
          </p:sp>
          <p:grpSp>
            <p:nvGrpSpPr>
              <p:cNvPr id="168" name="Group 168"/>
              <p:cNvGrpSpPr/>
              <p:nvPr/>
            </p:nvGrpSpPr>
            <p:grpSpPr>
              <a:xfrm>
                <a:off x="5119688" y="2669381"/>
                <a:ext cx="85725" cy="128587"/>
                <a:chOff x="5119688" y="2669381"/>
                <a:chExt cx="85725" cy="128587"/>
              </a:xfrm>
            </p:grpSpPr>
            <p:sp>
              <p:nvSpPr>
                <p:cNvPr id="166" name="Freeform 166"/>
                <p:cNvSpPr/>
                <p:nvPr/>
              </p:nvSpPr>
              <p:spPr>
                <a:xfrm>
                  <a:off x="5133975" y="26693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67" name="Freeform 167"/>
                <p:cNvSpPr/>
                <p:nvPr/>
              </p:nvSpPr>
              <p:spPr>
                <a:xfrm>
                  <a:off x="5119688" y="27551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grpSp>
          <p:sp>
            <p:nvSpPr>
              <p:cNvPr id="169" name="TextBox 169"/>
              <p:cNvSpPr txBox="1"/>
              <p:nvPr/>
            </p:nvSpPr>
            <p:spPr>
              <a:xfrm>
                <a:off x="4973663" y="28867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核心账户</a:t>
                </a:r>
              </a:p>
            </p:txBody>
          </p:sp>
          <p:sp>
            <p:nvSpPr>
              <p:cNvPr id="170" name="TextBox 170"/>
              <p:cNvSpPr txBox="1"/>
              <p:nvPr/>
            </p:nvSpPr>
            <p:spPr>
              <a:xfrm>
                <a:off x="4957508" y="3032284"/>
                <a:ext cx="467233" cy="133350"/>
              </a:xfrm>
              <a:prstGeom prst="rect">
                <a:avLst/>
              </a:prstGeom>
              <a:noFill/>
              <a:ln>
                <a:noFill/>
              </a:ln>
            </p:spPr>
            <p:txBody>
              <a:bodyPr wrap="none" lIns="0" tIns="0" rIns="0" bIns="0" anchor="t" anchorCtr="0">
                <a:spAutoFit/>
              </a:bodyPr>
              <a:lstStyle/>
              <a:p>
                <a:pPr algn="ctr"/>
                <a:r>
                  <a:rPr lang="zh-CN" sz="680" dirty="0">
                    <a:solidFill>
                      <a:srgbClr val="D6E6F3"/>
                    </a:solidFill>
                    <a:latin typeface="+mn-lt"/>
                    <a:ea typeface="+mn-ea"/>
                    <a:cs typeface="+mn-cs"/>
                  </a:rPr>
                  <a:t>（高风险）</a:t>
                </a:r>
              </a:p>
            </p:txBody>
          </p:sp>
        </p:grpSp>
      </p:grpSp>
      <p:grpSp>
        <p:nvGrpSpPr>
          <p:cNvPr id="259" name="right-chain"/>
          <p:cNvGrpSpPr/>
          <p:nvPr/>
        </p:nvGrpSpPr>
        <p:grpSpPr>
          <a:xfrm>
            <a:off x="8001000" y="990600"/>
            <a:ext cx="4000500" cy="2362200"/>
            <a:chOff x="8001000" y="990600"/>
            <a:chExt cx="4000500" cy="2362200"/>
          </a:xfrm>
        </p:grpSpPr>
        <p:sp>
          <p:nvSpPr>
            <p:cNvPr id="173" name="Freeform 173"/>
            <p:cNvSpPr/>
            <p:nvPr/>
          </p:nvSpPr>
          <p:spPr>
            <a:xfrm>
              <a:off x="8001000" y="990600"/>
              <a:ext cx="704850" cy="419100"/>
            </a:xfrm>
            <a:prstGeom prst="homePlate">
              <a:avLst>
                <a:gd name="adj" fmla="val 30000"/>
              </a:avLst>
            </a:prstGeom>
            <a:solidFill>
              <a:srgbClr val="BB5D4A"/>
            </a:solidFill>
            <a:ln>
              <a:noFill/>
            </a:ln>
          </p:spPr>
        </p:sp>
        <p:sp>
          <p:nvSpPr>
            <p:cNvPr id="174" name="Freeform 174"/>
            <p:cNvSpPr/>
            <p:nvPr/>
          </p:nvSpPr>
          <p:spPr>
            <a:xfrm>
              <a:off x="8658225" y="990600"/>
              <a:ext cx="704850" cy="419100"/>
            </a:xfrm>
            <a:prstGeom prst="chevron">
              <a:avLst>
                <a:gd name="adj" fmla="val 30000"/>
              </a:avLst>
            </a:prstGeom>
            <a:solidFill>
              <a:srgbClr val="B7533F"/>
            </a:solidFill>
            <a:ln>
              <a:noFill/>
            </a:ln>
          </p:spPr>
        </p:sp>
        <p:sp>
          <p:nvSpPr>
            <p:cNvPr id="175" name="Freeform 175"/>
            <p:cNvSpPr/>
            <p:nvPr/>
          </p:nvSpPr>
          <p:spPr>
            <a:xfrm>
              <a:off x="9315450" y="990600"/>
              <a:ext cx="704850" cy="419100"/>
            </a:xfrm>
            <a:prstGeom prst="chevron">
              <a:avLst>
                <a:gd name="adj" fmla="val 30000"/>
              </a:avLst>
            </a:prstGeom>
            <a:solidFill>
              <a:srgbClr val="AB4935"/>
            </a:solidFill>
            <a:ln>
              <a:noFill/>
            </a:ln>
          </p:spPr>
        </p:sp>
        <p:sp>
          <p:nvSpPr>
            <p:cNvPr id="176" name="Freeform 176"/>
            <p:cNvSpPr/>
            <p:nvPr/>
          </p:nvSpPr>
          <p:spPr>
            <a:xfrm>
              <a:off x="9972675" y="990600"/>
              <a:ext cx="704850" cy="419100"/>
            </a:xfrm>
            <a:prstGeom prst="chevron">
              <a:avLst>
                <a:gd name="adj" fmla="val 30000"/>
              </a:avLst>
            </a:prstGeom>
            <a:solidFill>
              <a:srgbClr val="9F3F2B"/>
            </a:solidFill>
            <a:ln>
              <a:noFill/>
            </a:ln>
          </p:spPr>
        </p:sp>
        <p:sp>
          <p:nvSpPr>
            <p:cNvPr id="177" name="Freeform 177"/>
            <p:cNvSpPr/>
            <p:nvPr/>
          </p:nvSpPr>
          <p:spPr>
            <a:xfrm>
              <a:off x="10629900" y="990600"/>
              <a:ext cx="704850" cy="419100"/>
            </a:xfrm>
            <a:prstGeom prst="chevron">
              <a:avLst>
                <a:gd name="adj" fmla="val 30000"/>
              </a:avLst>
            </a:prstGeom>
            <a:solidFill>
              <a:srgbClr val="963622"/>
            </a:solidFill>
            <a:ln>
              <a:noFill/>
            </a:ln>
          </p:spPr>
        </p:sp>
        <p:sp>
          <p:nvSpPr>
            <p:cNvPr id="178" name="Freeform 178"/>
            <p:cNvSpPr/>
            <p:nvPr/>
          </p:nvSpPr>
          <p:spPr>
            <a:xfrm>
              <a:off x="11287125" y="990600"/>
              <a:ext cx="704850" cy="419100"/>
            </a:xfrm>
            <a:prstGeom prst="chevron">
              <a:avLst>
                <a:gd name="adj" fmla="val 30000"/>
              </a:avLst>
            </a:prstGeom>
            <a:solidFill>
              <a:srgbClr val="92301C"/>
            </a:solidFill>
            <a:ln>
              <a:noFill/>
            </a:ln>
          </p:spPr>
        </p:sp>
        <p:grpSp>
          <p:nvGrpSpPr>
            <p:cNvPr id="208" name="rc-icons"/>
            <p:cNvGrpSpPr/>
            <p:nvPr/>
          </p:nvGrpSpPr>
          <p:grpSpPr>
            <a:xfrm>
              <a:off x="8255000" y="1114425"/>
              <a:ext cx="3394075" cy="120650"/>
              <a:chOff x="8255000" y="1114425"/>
              <a:chExt cx="3394075" cy="120650"/>
            </a:xfrm>
          </p:grpSpPr>
          <p:sp>
            <p:nvSpPr>
              <p:cNvPr id="179" name="Freeform 179"/>
              <p:cNvSpPr/>
              <p:nvPr/>
            </p:nvSpPr>
            <p:spPr>
              <a:xfrm>
                <a:off x="8255000" y="1120775"/>
                <a:ext cx="101600" cy="107950"/>
              </a:xfrm>
              <a:custGeom>
                <a:avLst/>
                <a:gdLst/>
                <a:ahLst/>
                <a:cxnLst/>
                <a:rect l="l" t="t" r="r" b="b"/>
                <a:pathLst>
                  <a:path w="101600" h="107950">
                    <a:moveTo>
                      <a:pt x="0" y="0"/>
                    </a:moveTo>
                    <a:lnTo>
                      <a:pt x="101600" y="0"/>
                    </a:lnTo>
                    <a:lnTo>
                      <a:pt x="101600" y="13792"/>
                    </a:lnTo>
                    <a:cubicBezTo>
                      <a:pt x="101599" y="17160"/>
                      <a:pt x="100261" y="20390"/>
                      <a:pt x="97879" y="22771"/>
                    </a:cubicBezTo>
                    <a:lnTo>
                      <a:pt x="69850" y="50800"/>
                    </a:lnTo>
                    <a:lnTo>
                      <a:pt x="69850" y="95250"/>
                    </a:lnTo>
                    <a:lnTo>
                      <a:pt x="31750" y="107950"/>
                    </a:lnTo>
                    <a:lnTo>
                      <a:pt x="31750" y="53975"/>
                    </a:lnTo>
                    <a:lnTo>
                      <a:pt x="3302" y="22682"/>
                    </a:lnTo>
                    <a:cubicBezTo>
                      <a:pt x="1178" y="20345"/>
                      <a:pt x="0" y="17300"/>
                      <a:pt x="0" y="14141"/>
                    </a:cubicBezTo>
                    <a:lnTo>
                      <a:pt x="0" y="0"/>
                    </a:lnTo>
                  </a:path>
                </a:pathLst>
              </a:custGeom>
              <a:noFill/>
              <a:ln w="12700">
                <a:solidFill>
                  <a:srgbClr val="FFFFFF"/>
                </a:solidFill>
              </a:ln>
            </p:spPr>
          </p:sp>
          <p:grpSp>
            <p:nvGrpSpPr>
              <p:cNvPr id="186" name="Group 186"/>
              <p:cNvGrpSpPr/>
              <p:nvPr/>
            </p:nvGrpSpPr>
            <p:grpSpPr>
              <a:xfrm>
                <a:off x="8909050" y="1123950"/>
                <a:ext cx="104775" cy="95250"/>
                <a:chOff x="8909050" y="1123950"/>
                <a:chExt cx="104775" cy="95250"/>
              </a:xfrm>
            </p:grpSpPr>
            <p:sp>
              <p:nvSpPr>
                <p:cNvPr id="180" name="Freeform 180"/>
                <p:cNvSpPr/>
                <p:nvPr/>
              </p:nvSpPr>
              <p:spPr>
                <a:xfrm>
                  <a:off x="8909050" y="1123950"/>
                  <a:ext cx="25400" cy="15875"/>
                </a:xfrm>
                <a:custGeom>
                  <a:avLst/>
                  <a:gdLst/>
                  <a:ahLst/>
                  <a:cxnLst/>
                  <a:rect l="l" t="t" r="r" b="b"/>
                  <a:pathLst>
                    <a:path w="25400" h="15875">
                      <a:moveTo>
                        <a:pt x="0" y="6350"/>
                      </a:moveTo>
                      <a:lnTo>
                        <a:pt x="9525" y="15875"/>
                      </a:lnTo>
                      <a:lnTo>
                        <a:pt x="25400" y="0"/>
                      </a:lnTo>
                    </a:path>
                  </a:pathLst>
                </a:custGeom>
                <a:noFill/>
                <a:ln w="12700">
                  <a:solidFill>
                    <a:srgbClr val="FFFFFF"/>
                  </a:solidFill>
                </a:ln>
              </p:spPr>
            </p:sp>
            <p:sp>
              <p:nvSpPr>
                <p:cNvPr id="181" name="Freeform 181"/>
                <p:cNvSpPr/>
                <p:nvPr/>
              </p:nvSpPr>
              <p:spPr>
                <a:xfrm>
                  <a:off x="8909050" y="1162050"/>
                  <a:ext cx="25400" cy="15875"/>
                </a:xfrm>
                <a:custGeom>
                  <a:avLst/>
                  <a:gdLst/>
                  <a:ahLst/>
                  <a:cxnLst/>
                  <a:rect l="l" t="t" r="r" b="b"/>
                  <a:pathLst>
                    <a:path w="25400" h="15875">
                      <a:moveTo>
                        <a:pt x="0" y="6350"/>
                      </a:moveTo>
                      <a:lnTo>
                        <a:pt x="9525" y="15875"/>
                      </a:lnTo>
                      <a:lnTo>
                        <a:pt x="25400" y="0"/>
                      </a:lnTo>
                    </a:path>
                  </a:pathLst>
                </a:custGeom>
                <a:noFill/>
                <a:ln w="12700">
                  <a:solidFill>
                    <a:srgbClr val="FFFFFF"/>
                  </a:solidFill>
                </a:ln>
              </p:spPr>
            </p:sp>
            <p:sp>
              <p:nvSpPr>
                <p:cNvPr id="182" name="Freeform 182"/>
                <p:cNvSpPr/>
                <p:nvPr/>
              </p:nvSpPr>
              <p:spPr>
                <a:xfrm>
                  <a:off x="8909050" y="1200150"/>
                  <a:ext cx="25400" cy="15875"/>
                </a:xfrm>
                <a:custGeom>
                  <a:avLst/>
                  <a:gdLst/>
                  <a:ahLst/>
                  <a:cxnLst/>
                  <a:rect l="l" t="t" r="r" b="b"/>
                  <a:pathLst>
                    <a:path w="25400" h="15875">
                      <a:moveTo>
                        <a:pt x="0" y="6350"/>
                      </a:moveTo>
                      <a:lnTo>
                        <a:pt x="9525" y="15875"/>
                      </a:lnTo>
                      <a:lnTo>
                        <a:pt x="25400" y="0"/>
                      </a:lnTo>
                    </a:path>
                  </a:pathLst>
                </a:custGeom>
                <a:noFill/>
                <a:ln w="12700">
                  <a:solidFill>
                    <a:srgbClr val="FFFFFF"/>
                  </a:solidFill>
                </a:ln>
              </p:spPr>
            </p:sp>
            <p:sp>
              <p:nvSpPr>
                <p:cNvPr id="183" name="Freeform 183"/>
                <p:cNvSpPr/>
                <p:nvPr/>
              </p:nvSpPr>
              <p:spPr>
                <a:xfrm>
                  <a:off x="8956675" y="1133475"/>
                  <a:ext cx="57150" cy="9525"/>
                </a:xfrm>
                <a:custGeom>
                  <a:avLst/>
                  <a:gdLst/>
                  <a:ahLst/>
                  <a:cxnLst/>
                  <a:rect l="l" t="t" r="r" b="b"/>
                  <a:pathLst>
                    <a:path w="57150" h="9525">
                      <a:moveTo>
                        <a:pt x="0" y="0"/>
                      </a:moveTo>
                      <a:lnTo>
                        <a:pt x="57150" y="0"/>
                      </a:lnTo>
                    </a:path>
                  </a:pathLst>
                </a:custGeom>
                <a:noFill/>
                <a:ln w="12700">
                  <a:solidFill>
                    <a:srgbClr val="FFFFFF"/>
                  </a:solidFill>
                </a:ln>
              </p:spPr>
            </p:sp>
            <p:sp>
              <p:nvSpPr>
                <p:cNvPr id="184" name="Freeform 184"/>
                <p:cNvSpPr/>
                <p:nvPr/>
              </p:nvSpPr>
              <p:spPr>
                <a:xfrm>
                  <a:off x="8956675" y="1171575"/>
                  <a:ext cx="57150" cy="9525"/>
                </a:xfrm>
                <a:custGeom>
                  <a:avLst/>
                  <a:gdLst/>
                  <a:ahLst/>
                  <a:cxnLst/>
                  <a:rect l="l" t="t" r="r" b="b"/>
                  <a:pathLst>
                    <a:path w="57150" h="9525">
                      <a:moveTo>
                        <a:pt x="0" y="0"/>
                      </a:moveTo>
                      <a:lnTo>
                        <a:pt x="57150" y="0"/>
                      </a:lnTo>
                    </a:path>
                  </a:pathLst>
                </a:custGeom>
                <a:noFill/>
                <a:ln w="12700">
                  <a:solidFill>
                    <a:srgbClr val="FFFFFF"/>
                  </a:solidFill>
                </a:ln>
              </p:spPr>
            </p:sp>
            <p:sp>
              <p:nvSpPr>
                <p:cNvPr id="185" name="Freeform 185"/>
                <p:cNvSpPr/>
                <p:nvPr/>
              </p:nvSpPr>
              <p:spPr>
                <a:xfrm>
                  <a:off x="8956675" y="1209675"/>
                  <a:ext cx="57150" cy="9525"/>
                </a:xfrm>
                <a:custGeom>
                  <a:avLst/>
                  <a:gdLst/>
                  <a:ahLst/>
                  <a:cxnLst/>
                  <a:rect l="l" t="t" r="r" b="b"/>
                  <a:pathLst>
                    <a:path w="57150" h="9525">
                      <a:moveTo>
                        <a:pt x="0" y="0"/>
                      </a:moveTo>
                      <a:lnTo>
                        <a:pt x="57150" y="0"/>
                      </a:lnTo>
                    </a:path>
                  </a:pathLst>
                </a:custGeom>
                <a:noFill/>
                <a:ln w="12700">
                  <a:solidFill>
                    <a:srgbClr val="FFFFFF"/>
                  </a:solidFill>
                </a:ln>
              </p:spPr>
            </p:sp>
          </p:grpSp>
          <p:grpSp>
            <p:nvGrpSpPr>
              <p:cNvPr id="191" name="Group 191"/>
              <p:cNvGrpSpPr/>
              <p:nvPr/>
            </p:nvGrpSpPr>
            <p:grpSpPr>
              <a:xfrm>
                <a:off x="9563100" y="1114425"/>
                <a:ext cx="114300" cy="114300"/>
                <a:chOff x="9563100" y="1114425"/>
                <a:chExt cx="114300" cy="114300"/>
              </a:xfrm>
            </p:grpSpPr>
            <p:sp>
              <p:nvSpPr>
                <p:cNvPr id="187" name="Freeform 187"/>
                <p:cNvSpPr/>
                <p:nvPr/>
              </p:nvSpPr>
              <p:spPr>
                <a:xfrm>
                  <a:off x="9563100" y="11144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sp>
              <p:nvSpPr>
                <p:cNvPr id="188" name="Freeform 188"/>
                <p:cNvSpPr/>
                <p:nvPr/>
              </p:nvSpPr>
              <p:spPr>
                <a:xfrm>
                  <a:off x="9613900" y="1165225"/>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189" name="Freeform 189"/>
                <p:cNvSpPr/>
                <p:nvPr/>
              </p:nvSpPr>
              <p:spPr>
                <a:xfrm>
                  <a:off x="9629204" y="1146175"/>
                  <a:ext cx="16447" cy="16447"/>
                </a:xfrm>
                <a:custGeom>
                  <a:avLst/>
                  <a:gdLst/>
                  <a:ahLst/>
                  <a:cxnLst/>
                  <a:rect l="l" t="t" r="r" b="b"/>
                  <a:pathLst>
                    <a:path w="16447" h="16447">
                      <a:moveTo>
                        <a:pt x="0" y="16447"/>
                      </a:moveTo>
                      <a:lnTo>
                        <a:pt x="16447" y="0"/>
                      </a:lnTo>
                    </a:path>
                  </a:pathLst>
                </a:custGeom>
                <a:noFill/>
                <a:ln w="12700">
                  <a:solidFill>
                    <a:srgbClr val="FFFFFF"/>
                  </a:solidFill>
                </a:ln>
              </p:spPr>
            </p:sp>
            <p:sp>
              <p:nvSpPr>
                <p:cNvPr id="190" name="Freeform 190"/>
                <p:cNvSpPr/>
                <p:nvPr/>
              </p:nvSpPr>
              <p:spPr>
                <a:xfrm>
                  <a:off x="9588500" y="1139825"/>
                  <a:ext cx="31750" cy="31750"/>
                </a:xfrm>
                <a:custGeom>
                  <a:avLst/>
                  <a:gdLst/>
                  <a:ahLst/>
                  <a:cxnLst/>
                  <a:rect l="l" t="t" r="r" b="b"/>
                  <a:pathLst>
                    <a:path w="31750" h="31750">
                      <a:moveTo>
                        <a:pt x="0" y="31750"/>
                      </a:moveTo>
                      <a:cubicBezTo>
                        <a:pt x="0" y="14215"/>
                        <a:pt x="14215" y="0"/>
                        <a:pt x="31750" y="0"/>
                      </a:cubicBezTo>
                    </a:path>
                  </a:pathLst>
                </a:custGeom>
                <a:noFill/>
                <a:ln w="12700">
                  <a:solidFill>
                    <a:srgbClr val="FFFFFF"/>
                  </a:solidFill>
                </a:ln>
              </p:spPr>
            </p:sp>
          </p:grpSp>
          <p:grpSp>
            <p:nvGrpSpPr>
              <p:cNvPr id="200" name="Group 200"/>
              <p:cNvGrpSpPr/>
              <p:nvPr/>
            </p:nvGrpSpPr>
            <p:grpSpPr>
              <a:xfrm>
                <a:off x="10220325" y="1114425"/>
                <a:ext cx="114300" cy="120650"/>
                <a:chOff x="10220325" y="1114425"/>
                <a:chExt cx="114300" cy="120650"/>
              </a:xfrm>
            </p:grpSpPr>
            <p:sp>
              <p:nvSpPr>
                <p:cNvPr id="192" name="Freeform 192"/>
                <p:cNvSpPr/>
                <p:nvPr/>
              </p:nvSpPr>
              <p:spPr>
                <a:xfrm>
                  <a:off x="10239375" y="11144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FFFFFF"/>
                  </a:solidFill>
                </a:ln>
              </p:spPr>
            </p:sp>
            <p:sp>
              <p:nvSpPr>
                <p:cNvPr id="193" name="Freeform 193"/>
                <p:cNvSpPr/>
                <p:nvPr/>
              </p:nvSpPr>
              <p:spPr>
                <a:xfrm>
                  <a:off x="10277475" y="1114425"/>
                  <a:ext cx="12700" cy="76200"/>
                </a:xfrm>
                <a:custGeom>
                  <a:avLst/>
                  <a:gdLst/>
                  <a:ahLst/>
                  <a:cxnLst/>
                  <a:rect l="l" t="t" r="r" b="b"/>
                  <a:pathLst>
                    <a:path w="12700" h="76200">
                      <a:moveTo>
                        <a:pt x="0" y="0"/>
                      </a:moveTo>
                      <a:cubicBezTo>
                        <a:pt x="8465" y="2115"/>
                        <a:pt x="12700" y="14815"/>
                        <a:pt x="12700" y="38100"/>
                      </a:cubicBezTo>
                      <a:cubicBezTo>
                        <a:pt x="12700" y="61385"/>
                        <a:pt x="8465" y="74085"/>
                        <a:pt x="0" y="76200"/>
                      </a:cubicBezTo>
                    </a:path>
                  </a:pathLst>
                </a:custGeom>
                <a:noFill/>
                <a:ln w="12700">
                  <a:solidFill>
                    <a:srgbClr val="FFFFFF"/>
                  </a:solidFill>
                </a:ln>
              </p:spPr>
            </p:sp>
            <p:sp>
              <p:nvSpPr>
                <p:cNvPr id="194" name="Freeform 194"/>
                <p:cNvSpPr/>
                <p:nvPr/>
              </p:nvSpPr>
              <p:spPr>
                <a:xfrm>
                  <a:off x="10264775" y="1114425"/>
                  <a:ext cx="12700" cy="76200"/>
                </a:xfrm>
                <a:custGeom>
                  <a:avLst/>
                  <a:gdLst/>
                  <a:ahLst/>
                  <a:cxnLst/>
                  <a:rect l="l" t="t" r="r" b="b"/>
                  <a:pathLst>
                    <a:path w="12700" h="76200">
                      <a:moveTo>
                        <a:pt x="12700" y="0"/>
                      </a:moveTo>
                      <a:cubicBezTo>
                        <a:pt x="4235" y="2115"/>
                        <a:pt x="0" y="14815"/>
                        <a:pt x="0" y="38100"/>
                      </a:cubicBezTo>
                      <a:cubicBezTo>
                        <a:pt x="0" y="61385"/>
                        <a:pt x="4235" y="74085"/>
                        <a:pt x="12700" y="76200"/>
                      </a:cubicBezTo>
                    </a:path>
                  </a:pathLst>
                </a:custGeom>
                <a:noFill/>
                <a:ln w="12700">
                  <a:solidFill>
                    <a:srgbClr val="FFFFFF"/>
                  </a:solidFill>
                </a:ln>
              </p:spPr>
            </p:sp>
            <p:sp>
              <p:nvSpPr>
                <p:cNvPr id="195" name="Freeform 195"/>
                <p:cNvSpPr/>
                <p:nvPr/>
              </p:nvSpPr>
              <p:spPr>
                <a:xfrm>
                  <a:off x="10239375" y="1152525"/>
                  <a:ext cx="76200" cy="9525"/>
                </a:xfrm>
                <a:custGeom>
                  <a:avLst/>
                  <a:gdLst/>
                  <a:ahLst/>
                  <a:cxnLst/>
                  <a:rect l="l" t="t" r="r" b="b"/>
                  <a:pathLst>
                    <a:path w="76200" h="9525">
                      <a:moveTo>
                        <a:pt x="0" y="0"/>
                      </a:moveTo>
                      <a:lnTo>
                        <a:pt x="76200" y="0"/>
                      </a:lnTo>
                    </a:path>
                  </a:pathLst>
                </a:custGeom>
                <a:noFill/>
                <a:ln w="12700">
                  <a:solidFill>
                    <a:srgbClr val="FFFFFF"/>
                  </a:solidFill>
                </a:ln>
              </p:spPr>
            </p:sp>
            <p:sp>
              <p:nvSpPr>
                <p:cNvPr id="196" name="Freeform 196"/>
                <p:cNvSpPr/>
                <p:nvPr/>
              </p:nvSpPr>
              <p:spPr>
                <a:xfrm>
                  <a:off x="10220325" y="1222375"/>
                  <a:ext cx="44450" cy="9525"/>
                </a:xfrm>
                <a:custGeom>
                  <a:avLst/>
                  <a:gdLst/>
                  <a:ahLst/>
                  <a:cxnLst/>
                  <a:rect l="l" t="t" r="r" b="b"/>
                  <a:pathLst>
                    <a:path w="44450" h="9525">
                      <a:moveTo>
                        <a:pt x="0" y="0"/>
                      </a:moveTo>
                      <a:lnTo>
                        <a:pt x="44450" y="0"/>
                      </a:lnTo>
                    </a:path>
                  </a:pathLst>
                </a:custGeom>
                <a:noFill/>
                <a:ln w="12700">
                  <a:solidFill>
                    <a:srgbClr val="FFFFFF"/>
                  </a:solidFill>
                </a:ln>
              </p:spPr>
            </p:sp>
            <p:sp>
              <p:nvSpPr>
                <p:cNvPr id="197" name="Freeform 197"/>
                <p:cNvSpPr/>
                <p:nvPr/>
              </p:nvSpPr>
              <p:spPr>
                <a:xfrm>
                  <a:off x="10290175" y="1222375"/>
                  <a:ext cx="44450" cy="9525"/>
                </a:xfrm>
                <a:custGeom>
                  <a:avLst/>
                  <a:gdLst/>
                  <a:ahLst/>
                  <a:cxnLst/>
                  <a:rect l="l" t="t" r="r" b="b"/>
                  <a:pathLst>
                    <a:path w="44450" h="9525">
                      <a:moveTo>
                        <a:pt x="0" y="0"/>
                      </a:moveTo>
                      <a:lnTo>
                        <a:pt x="44450" y="0"/>
                      </a:lnTo>
                    </a:path>
                  </a:pathLst>
                </a:custGeom>
                <a:noFill/>
                <a:ln w="12700">
                  <a:solidFill>
                    <a:srgbClr val="FFFFFF"/>
                  </a:solidFill>
                </a:ln>
              </p:spPr>
            </p:sp>
            <p:sp>
              <p:nvSpPr>
                <p:cNvPr id="198" name="Freeform 198"/>
                <p:cNvSpPr/>
                <p:nvPr/>
              </p:nvSpPr>
              <p:spPr>
                <a:xfrm>
                  <a:off x="10264775" y="12096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99" name="Freeform 199"/>
                <p:cNvSpPr/>
                <p:nvPr/>
              </p:nvSpPr>
              <p:spPr>
                <a:xfrm>
                  <a:off x="10277475" y="1190625"/>
                  <a:ext cx="9525" cy="19050"/>
                </a:xfrm>
                <a:custGeom>
                  <a:avLst/>
                  <a:gdLst/>
                  <a:ahLst/>
                  <a:cxnLst/>
                  <a:rect l="l" t="t" r="r" b="b"/>
                  <a:pathLst>
                    <a:path w="9525" h="19050">
                      <a:moveTo>
                        <a:pt x="0" y="0"/>
                      </a:moveTo>
                      <a:lnTo>
                        <a:pt x="0" y="19050"/>
                      </a:lnTo>
                    </a:path>
                  </a:pathLst>
                </a:custGeom>
                <a:noFill/>
                <a:ln w="12700">
                  <a:solidFill>
                    <a:srgbClr val="FFFFFF"/>
                  </a:solidFill>
                </a:ln>
              </p:spPr>
            </p:sp>
          </p:grpSp>
          <p:grpSp>
            <p:nvGrpSpPr>
              <p:cNvPr id="203" name="Group 203"/>
              <p:cNvGrpSpPr/>
              <p:nvPr/>
            </p:nvGrpSpPr>
            <p:grpSpPr>
              <a:xfrm>
                <a:off x="10868980" y="1114425"/>
                <a:ext cx="124004" cy="114300"/>
                <a:chOff x="10868980" y="1114425"/>
                <a:chExt cx="124004" cy="114300"/>
              </a:xfrm>
            </p:grpSpPr>
            <p:sp>
              <p:nvSpPr>
                <p:cNvPr id="201" name="Freeform 201"/>
                <p:cNvSpPr/>
                <p:nvPr/>
              </p:nvSpPr>
              <p:spPr>
                <a:xfrm>
                  <a:off x="10868980" y="1114425"/>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FFFFFF"/>
                  </a:solidFill>
                </a:ln>
              </p:spPr>
            </p:sp>
            <p:sp>
              <p:nvSpPr>
                <p:cNvPr id="202" name="Freeform 202"/>
                <p:cNvSpPr/>
                <p:nvPr/>
              </p:nvSpPr>
              <p:spPr>
                <a:xfrm>
                  <a:off x="10953750" y="1203325"/>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grpSp>
            <p:nvGrpSpPr>
              <p:cNvPr id="207" name="Group 207"/>
              <p:cNvGrpSpPr/>
              <p:nvPr/>
            </p:nvGrpSpPr>
            <p:grpSpPr>
              <a:xfrm>
                <a:off x="11553825" y="1114425"/>
                <a:ext cx="95250" cy="114300"/>
                <a:chOff x="11553825" y="1114425"/>
                <a:chExt cx="95250" cy="114300"/>
              </a:xfrm>
            </p:grpSpPr>
            <p:sp>
              <p:nvSpPr>
                <p:cNvPr id="204" name="Freeform 204"/>
                <p:cNvSpPr/>
                <p:nvPr/>
              </p:nvSpPr>
              <p:spPr>
                <a:xfrm>
                  <a:off x="11566525" y="11144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205" name="Freeform 205"/>
                <p:cNvSpPr/>
                <p:nvPr/>
              </p:nvSpPr>
              <p:spPr>
                <a:xfrm>
                  <a:off x="11553825" y="1190625"/>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FFFFFF"/>
                  </a:solidFill>
                </a:ln>
              </p:spPr>
            </p:sp>
            <p:sp>
              <p:nvSpPr>
                <p:cNvPr id="206" name="Freeform 206"/>
                <p:cNvSpPr/>
                <p:nvPr/>
              </p:nvSpPr>
              <p:spPr>
                <a:xfrm>
                  <a:off x="11610975" y="1203325"/>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grpSp>
        <p:grpSp>
          <p:nvGrpSpPr>
            <p:cNvPr id="215" name="rc-labels"/>
            <p:cNvGrpSpPr/>
            <p:nvPr/>
          </p:nvGrpSpPr>
          <p:grpSpPr>
            <a:xfrm>
              <a:off x="8088338" y="1496139"/>
              <a:ext cx="3721049" cy="154781"/>
              <a:chOff x="8088338" y="1496139"/>
              <a:chExt cx="3721049" cy="154781"/>
            </a:xfrm>
          </p:grpSpPr>
          <p:sp>
            <p:nvSpPr>
              <p:cNvPr id="209" name="TextBox 209"/>
              <p:cNvSpPr txBox="1"/>
              <p:nvPr/>
            </p:nvSpPr>
            <p:spPr>
              <a:xfrm>
                <a:off x="8088338" y="149613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特征生成</a:t>
                </a:r>
              </a:p>
            </p:txBody>
          </p:sp>
          <p:sp>
            <p:nvSpPr>
              <p:cNvPr id="210" name="TextBox 210"/>
              <p:cNvSpPr txBox="1"/>
              <p:nvPr/>
            </p:nvSpPr>
            <p:spPr>
              <a:xfrm>
                <a:off x="8745563" y="149613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规则命中</a:t>
                </a:r>
              </a:p>
            </p:txBody>
          </p:sp>
          <p:sp>
            <p:nvSpPr>
              <p:cNvPr id="211" name="TextBox 211"/>
              <p:cNvSpPr txBox="1"/>
              <p:nvPr/>
            </p:nvSpPr>
            <p:spPr>
              <a:xfrm>
                <a:off x="9402788" y="149613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模型评分</a:t>
                </a:r>
              </a:p>
            </p:txBody>
          </p:sp>
          <p:sp>
            <p:nvSpPr>
              <p:cNvPr id="212" name="TextBox 212"/>
              <p:cNvSpPr txBox="1"/>
              <p:nvPr/>
            </p:nvSpPr>
            <p:spPr>
              <a:xfrm>
                <a:off x="10060013" y="149613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图谱增强</a:t>
                </a:r>
              </a:p>
            </p:txBody>
          </p:sp>
          <p:sp>
            <p:nvSpPr>
              <p:cNvPr id="213" name="TextBox 213"/>
              <p:cNvSpPr txBox="1"/>
              <p:nvPr/>
            </p:nvSpPr>
            <p:spPr>
              <a:xfrm>
                <a:off x="10717238" y="149613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风险决策</a:t>
                </a:r>
              </a:p>
            </p:txBody>
          </p:sp>
          <p:sp>
            <p:nvSpPr>
              <p:cNvPr id="214" name="TextBox 214"/>
              <p:cNvSpPr txBox="1"/>
              <p:nvPr/>
            </p:nvSpPr>
            <p:spPr>
              <a:xfrm>
                <a:off x="11374463" y="149613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人工复核</a:t>
                </a:r>
              </a:p>
            </p:txBody>
          </p:sp>
        </p:grpSp>
        <p:grpSp>
          <p:nvGrpSpPr>
            <p:cNvPr id="234" name="rc-bullets"/>
            <p:cNvGrpSpPr/>
            <p:nvPr/>
          </p:nvGrpSpPr>
          <p:grpSpPr>
            <a:xfrm>
              <a:off x="8058721" y="1687830"/>
              <a:ext cx="3780282" cy="385762"/>
              <a:chOff x="8058721" y="1687830"/>
              <a:chExt cx="3780282" cy="385762"/>
            </a:xfrm>
          </p:grpSpPr>
          <p:sp>
            <p:nvSpPr>
              <p:cNvPr id="216" name="TextBox 216"/>
              <p:cNvSpPr txBox="1"/>
              <p:nvPr/>
            </p:nvSpPr>
            <p:spPr>
              <a:xfrm>
                <a:off x="8058721" y="1687830"/>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实时提取多维</a:t>
                </a:r>
              </a:p>
            </p:txBody>
          </p:sp>
          <p:sp>
            <p:nvSpPr>
              <p:cNvPr id="217" name="TextBox 217"/>
              <p:cNvSpPr txBox="1"/>
              <p:nvPr/>
            </p:nvSpPr>
            <p:spPr>
              <a:xfrm>
                <a:off x="8099108" y="182118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特征、构建</a:t>
                </a:r>
              </a:p>
            </p:txBody>
          </p:sp>
          <p:sp>
            <p:nvSpPr>
              <p:cNvPr id="218" name="TextBox 218"/>
              <p:cNvSpPr txBox="1"/>
              <p:nvPr/>
            </p:nvSpPr>
            <p:spPr>
              <a:xfrm>
                <a:off x="8139494" y="1954530"/>
                <a:ext cx="332613"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用户画像</a:t>
                </a:r>
              </a:p>
            </p:txBody>
          </p:sp>
          <p:sp>
            <p:nvSpPr>
              <p:cNvPr id="219" name="TextBox 219"/>
              <p:cNvSpPr txBox="1"/>
              <p:nvPr/>
            </p:nvSpPr>
            <p:spPr>
              <a:xfrm>
                <a:off x="8756332" y="168783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业务规则、</a:t>
                </a:r>
              </a:p>
            </p:txBody>
          </p:sp>
          <p:sp>
            <p:nvSpPr>
              <p:cNvPr id="220" name="TextBox 220"/>
              <p:cNvSpPr txBox="1"/>
              <p:nvPr/>
            </p:nvSpPr>
            <p:spPr>
              <a:xfrm>
                <a:off x="8756332" y="182118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黑白名单、</a:t>
                </a:r>
              </a:p>
            </p:txBody>
          </p:sp>
          <p:sp>
            <p:nvSpPr>
              <p:cNvPr id="221" name="TextBox 221"/>
              <p:cNvSpPr txBox="1"/>
              <p:nvPr/>
            </p:nvSpPr>
            <p:spPr>
              <a:xfrm>
                <a:off x="8796718" y="1954530"/>
                <a:ext cx="332613"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场景匹配</a:t>
                </a:r>
              </a:p>
            </p:txBody>
          </p:sp>
          <p:sp>
            <p:nvSpPr>
              <p:cNvPr id="222" name="TextBox 222"/>
              <p:cNvSpPr txBox="1"/>
              <p:nvPr/>
            </p:nvSpPr>
            <p:spPr>
              <a:xfrm>
                <a:off x="9373172" y="1687830"/>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多模型融合、</a:t>
                </a:r>
              </a:p>
            </p:txBody>
          </p:sp>
          <p:sp>
            <p:nvSpPr>
              <p:cNvPr id="223" name="TextBox 223"/>
              <p:cNvSpPr txBox="1"/>
              <p:nvPr/>
            </p:nvSpPr>
            <p:spPr>
              <a:xfrm>
                <a:off x="9413558" y="182118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实时打分、</a:t>
                </a:r>
              </a:p>
            </p:txBody>
          </p:sp>
          <p:sp>
            <p:nvSpPr>
              <p:cNvPr id="224" name="TextBox 224"/>
              <p:cNvSpPr txBox="1"/>
              <p:nvPr/>
            </p:nvSpPr>
            <p:spPr>
              <a:xfrm>
                <a:off x="9413558" y="195453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输出风险分</a:t>
                </a:r>
              </a:p>
            </p:txBody>
          </p:sp>
          <p:sp>
            <p:nvSpPr>
              <p:cNvPr id="225" name="TextBox 225"/>
              <p:cNvSpPr txBox="1"/>
              <p:nvPr/>
            </p:nvSpPr>
            <p:spPr>
              <a:xfrm>
                <a:off x="10070782" y="168783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关联分析、</a:t>
                </a:r>
              </a:p>
            </p:txBody>
          </p:sp>
          <p:sp>
            <p:nvSpPr>
              <p:cNvPr id="226" name="TextBox 226"/>
              <p:cNvSpPr txBox="1"/>
              <p:nvPr/>
            </p:nvSpPr>
            <p:spPr>
              <a:xfrm>
                <a:off x="10070782" y="182118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团体识别、</a:t>
                </a:r>
              </a:p>
            </p:txBody>
          </p:sp>
          <p:sp>
            <p:nvSpPr>
              <p:cNvPr id="227" name="TextBox 227"/>
              <p:cNvSpPr txBox="1"/>
              <p:nvPr/>
            </p:nvSpPr>
            <p:spPr>
              <a:xfrm>
                <a:off x="10111168" y="1954530"/>
                <a:ext cx="332613"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传播评估</a:t>
                </a:r>
              </a:p>
            </p:txBody>
          </p:sp>
          <p:sp>
            <p:nvSpPr>
              <p:cNvPr id="228" name="TextBox 228"/>
              <p:cNvSpPr txBox="1"/>
              <p:nvPr/>
            </p:nvSpPr>
            <p:spPr>
              <a:xfrm>
                <a:off x="10728008" y="168783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基于阈值、</a:t>
                </a:r>
              </a:p>
            </p:txBody>
          </p:sp>
          <p:sp>
            <p:nvSpPr>
              <p:cNvPr id="229" name="TextBox 229"/>
              <p:cNvSpPr txBox="1"/>
              <p:nvPr/>
            </p:nvSpPr>
            <p:spPr>
              <a:xfrm>
                <a:off x="10728008" y="182118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动态策略、</a:t>
                </a:r>
              </a:p>
            </p:txBody>
          </p:sp>
          <p:sp>
            <p:nvSpPr>
              <p:cNvPr id="230" name="TextBox 230"/>
              <p:cNvSpPr txBox="1"/>
              <p:nvPr/>
            </p:nvSpPr>
            <p:spPr>
              <a:xfrm>
                <a:off x="10728008" y="195453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毫秒级响应</a:t>
                </a:r>
              </a:p>
            </p:txBody>
          </p:sp>
          <p:sp>
            <p:nvSpPr>
              <p:cNvPr id="231" name="TextBox 231"/>
              <p:cNvSpPr txBox="1"/>
              <p:nvPr/>
            </p:nvSpPr>
            <p:spPr>
              <a:xfrm>
                <a:off x="11385232" y="168783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高风险交易</a:t>
                </a:r>
              </a:p>
            </p:txBody>
          </p:sp>
          <p:sp>
            <p:nvSpPr>
              <p:cNvPr id="232" name="TextBox 232"/>
              <p:cNvSpPr txBox="1"/>
              <p:nvPr/>
            </p:nvSpPr>
            <p:spPr>
              <a:xfrm>
                <a:off x="11344846" y="1821180"/>
                <a:ext cx="494157"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授权人员审核</a:t>
                </a:r>
              </a:p>
            </p:txBody>
          </p:sp>
          <p:sp>
            <p:nvSpPr>
              <p:cNvPr id="233" name="TextBox 233"/>
              <p:cNvSpPr txBox="1"/>
              <p:nvPr/>
            </p:nvSpPr>
            <p:spPr>
              <a:xfrm>
                <a:off x="11385232" y="1954530"/>
                <a:ext cx="41338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n-lt"/>
                    <a:ea typeface="+mn-ea"/>
                    <a:cs typeface="+mn-cs"/>
                  </a:rPr>
                  <a:t>并记录审计</a:t>
                </a:r>
              </a:p>
            </p:txBody>
          </p:sp>
        </p:grpSp>
        <p:grpSp>
          <p:nvGrpSpPr>
            <p:cNvPr id="247" name="rc-score"/>
            <p:cNvGrpSpPr/>
            <p:nvPr/>
          </p:nvGrpSpPr>
          <p:grpSpPr>
            <a:xfrm>
              <a:off x="8010377" y="2455545"/>
              <a:ext cx="2651261" cy="687943"/>
              <a:chOff x="8010377" y="2455545"/>
              <a:chExt cx="2651261" cy="687943"/>
            </a:xfrm>
          </p:grpSpPr>
          <p:sp>
            <p:nvSpPr>
              <p:cNvPr id="235" name="TextBox 235"/>
              <p:cNvSpPr txBox="1"/>
              <p:nvPr/>
            </p:nvSpPr>
            <p:spPr>
              <a:xfrm>
                <a:off x="8034338" y="2455545"/>
                <a:ext cx="736473"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风险评分示例</a:t>
                </a:r>
              </a:p>
            </p:txBody>
          </p:sp>
          <p:sp>
            <p:nvSpPr>
              <p:cNvPr id="236" name="TextBox 236"/>
              <p:cNvSpPr txBox="1"/>
              <p:nvPr/>
            </p:nvSpPr>
            <p:spPr>
              <a:xfrm>
                <a:off x="8377238" y="268938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低风险</a:t>
                </a:r>
              </a:p>
            </p:txBody>
          </p:sp>
          <p:sp>
            <p:nvSpPr>
              <p:cNvPr id="237" name="TextBox 237"/>
              <p:cNvSpPr txBox="1"/>
              <p:nvPr/>
            </p:nvSpPr>
            <p:spPr>
              <a:xfrm>
                <a:off x="9001925" y="2689384"/>
                <a:ext cx="28415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中风险</a:t>
                </a:r>
              </a:p>
            </p:txBody>
          </p:sp>
          <p:sp>
            <p:nvSpPr>
              <p:cNvPr id="238" name="TextBox 238"/>
              <p:cNvSpPr txBox="1"/>
              <p:nvPr/>
            </p:nvSpPr>
            <p:spPr>
              <a:xfrm>
                <a:off x="10377488" y="268938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高风险</a:t>
                </a:r>
              </a:p>
            </p:txBody>
          </p:sp>
          <p:sp>
            <p:nvSpPr>
              <p:cNvPr id="239" name="Rectangle 239"/>
              <p:cNvSpPr/>
              <p:nvPr/>
            </p:nvSpPr>
            <p:spPr>
              <a:xfrm>
                <a:off x="8039100" y="2819400"/>
                <a:ext cx="2514600" cy="133350"/>
              </a:xfrm>
              <a:prstGeom prst="roundRect">
                <a:avLst>
                  <a:gd name="adj" fmla="val 21429"/>
                </a:avLst>
              </a:prstGeom>
              <a:gradFill>
                <a:gsLst>
                  <a:gs pos="0">
                    <a:srgbClr val="D6E6F3"/>
                  </a:gs>
                  <a:gs pos="50000">
                    <a:srgbClr val="C87C6C"/>
                  </a:gs>
                  <a:gs pos="100000">
                    <a:srgbClr val="6B1B0B"/>
                  </a:gs>
                </a:gsLst>
                <a:lin ang="0" scaled="1"/>
              </a:gradFill>
              <a:ln>
                <a:noFill/>
              </a:ln>
            </p:spPr>
          </p:sp>
          <p:grpSp>
            <p:nvGrpSpPr>
              <p:cNvPr id="246" name="rc-ticks"/>
              <p:cNvGrpSpPr/>
              <p:nvPr/>
            </p:nvGrpSpPr>
            <p:grpSpPr>
              <a:xfrm>
                <a:off x="8010377" y="3017282"/>
                <a:ext cx="2619966" cy="126206"/>
                <a:chOff x="8010377" y="3017282"/>
                <a:chExt cx="2619966" cy="126206"/>
              </a:xfrm>
            </p:grpSpPr>
            <p:sp>
              <p:nvSpPr>
                <p:cNvPr id="240" name="TextBox 240"/>
                <p:cNvSpPr txBox="1"/>
                <p:nvPr/>
              </p:nvSpPr>
              <p:spPr>
                <a:xfrm>
                  <a:off x="8010377" y="3017282"/>
                  <a:ext cx="57445"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0</a:t>
                  </a:r>
                </a:p>
              </p:txBody>
            </p:sp>
            <p:sp>
              <p:nvSpPr>
                <p:cNvPr id="241" name="TextBox 241"/>
                <p:cNvSpPr txBox="1"/>
                <p:nvPr/>
              </p:nvSpPr>
              <p:spPr>
                <a:xfrm>
                  <a:off x="8491242" y="3017282"/>
                  <a:ext cx="105366"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20</a:t>
                  </a:r>
                </a:p>
              </p:txBody>
            </p:sp>
            <p:sp>
              <p:nvSpPr>
                <p:cNvPr id="242" name="TextBox 242"/>
                <p:cNvSpPr txBox="1"/>
                <p:nvPr/>
              </p:nvSpPr>
              <p:spPr>
                <a:xfrm>
                  <a:off x="8996067" y="3017282"/>
                  <a:ext cx="105366"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40</a:t>
                  </a:r>
                </a:p>
              </p:txBody>
            </p:sp>
            <p:sp>
              <p:nvSpPr>
                <p:cNvPr id="243" name="TextBox 243"/>
                <p:cNvSpPr txBox="1"/>
                <p:nvPr/>
              </p:nvSpPr>
              <p:spPr>
                <a:xfrm>
                  <a:off x="9500892" y="3017282"/>
                  <a:ext cx="105366"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60</a:t>
                  </a:r>
                </a:p>
              </p:txBody>
            </p:sp>
            <p:sp>
              <p:nvSpPr>
                <p:cNvPr id="244" name="TextBox 244"/>
                <p:cNvSpPr txBox="1"/>
                <p:nvPr/>
              </p:nvSpPr>
              <p:spPr>
                <a:xfrm>
                  <a:off x="10005717" y="3017282"/>
                  <a:ext cx="105366"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80</a:t>
                  </a:r>
                </a:p>
              </p:txBody>
            </p:sp>
            <p:sp>
              <p:nvSpPr>
                <p:cNvPr id="245" name="TextBox 245"/>
                <p:cNvSpPr txBox="1"/>
                <p:nvPr/>
              </p:nvSpPr>
              <p:spPr>
                <a:xfrm>
                  <a:off x="10477057" y="3017282"/>
                  <a:ext cx="153286"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j-lt"/>
                      <a:ea typeface="+mj-ea"/>
                      <a:cs typeface="+mj-cs"/>
                    </a:rPr>
                    <a:t>100</a:t>
                  </a:r>
                </a:p>
              </p:txBody>
            </p:sp>
          </p:grpSp>
        </p:grpSp>
        <p:grpSp>
          <p:nvGrpSpPr>
            <p:cNvPr id="258" name="rc-sample"/>
            <p:cNvGrpSpPr/>
            <p:nvPr/>
          </p:nvGrpSpPr>
          <p:grpSpPr>
            <a:xfrm>
              <a:off x="10744200" y="2400300"/>
              <a:ext cx="1257300" cy="952500"/>
              <a:chOff x="10744200" y="2400300"/>
              <a:chExt cx="1257300" cy="952500"/>
            </a:xfrm>
          </p:grpSpPr>
          <p:sp>
            <p:nvSpPr>
              <p:cNvPr id="248" name="Rectangle 248"/>
              <p:cNvSpPr/>
              <p:nvPr/>
            </p:nvSpPr>
            <p:spPr>
              <a:xfrm>
                <a:off x="10744200" y="2400300"/>
                <a:ext cx="1257300" cy="952500"/>
              </a:xfrm>
              <a:prstGeom prst="roundRect">
                <a:avLst>
                  <a:gd name="adj" fmla="val 6000"/>
                </a:avLst>
              </a:prstGeom>
              <a:solidFill>
                <a:srgbClr val="F6F9FD"/>
              </a:solidFill>
              <a:ln w="11430">
                <a:solidFill>
                  <a:srgbClr val="C87C6C"/>
                </a:solidFill>
                <a:custDash>
                  <a:ds d="333333" sp="250000"/>
                </a:custDash>
              </a:ln>
            </p:spPr>
          </p:sp>
          <p:sp>
            <p:nvSpPr>
              <p:cNvPr id="249" name="TextBox 249"/>
              <p:cNvSpPr txBox="1"/>
              <p:nvPr/>
            </p:nvSpPr>
            <p:spPr>
              <a:xfrm>
                <a:off x="11155388" y="248673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示例交易</a:t>
                </a:r>
              </a:p>
            </p:txBody>
          </p:sp>
          <p:sp>
            <p:nvSpPr>
              <p:cNvPr id="250" name="TextBox 250"/>
              <p:cNvSpPr txBox="1"/>
              <p:nvPr/>
            </p:nvSpPr>
            <p:spPr>
              <a:xfrm>
                <a:off x="10834688" y="2689384"/>
                <a:ext cx="467233"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风险评分：</a:t>
                </a:r>
              </a:p>
            </p:txBody>
          </p:sp>
          <p:sp>
            <p:nvSpPr>
              <p:cNvPr id="251" name="TextBox 251"/>
              <p:cNvSpPr txBox="1"/>
              <p:nvPr/>
            </p:nvSpPr>
            <p:spPr>
              <a:xfrm>
                <a:off x="11688209" y="2681288"/>
                <a:ext cx="222803" cy="147638"/>
              </a:xfrm>
              <a:prstGeom prst="rect">
                <a:avLst/>
              </a:prstGeom>
              <a:noFill/>
              <a:ln>
                <a:noFill/>
              </a:ln>
            </p:spPr>
            <p:txBody>
              <a:bodyPr wrap="none" lIns="0" tIns="0" rIns="0" bIns="0" anchor="t" anchorCtr="0">
                <a:spAutoFit/>
              </a:bodyPr>
              <a:lstStyle/>
              <a:p>
                <a:pPr algn="r"/>
                <a:r>
                  <a:rPr lang="zh-CN" sz="750" b="1" dirty="0">
                    <a:solidFill>
                      <a:srgbClr val="C8452F"/>
                    </a:solidFill>
                    <a:latin typeface="+mj-lt"/>
                    <a:ea typeface="+mj-ea"/>
                    <a:cs typeface="+mj-cs"/>
                  </a:rPr>
                  <a:t xml:space="preserve">92　</a:t>
                </a:r>
              </a:p>
            </p:txBody>
          </p:sp>
          <p:sp>
            <p:nvSpPr>
              <p:cNvPr id="252" name="TextBox 252"/>
              <p:cNvSpPr txBox="1"/>
              <p:nvPr/>
            </p:nvSpPr>
            <p:spPr>
              <a:xfrm>
                <a:off x="10834688" y="2860834"/>
                <a:ext cx="467233"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风险等级：</a:t>
                </a:r>
              </a:p>
            </p:txBody>
          </p:sp>
          <p:sp>
            <p:nvSpPr>
              <p:cNvPr id="253" name="TextBox 253"/>
              <p:cNvSpPr txBox="1"/>
              <p:nvPr/>
            </p:nvSpPr>
            <p:spPr>
              <a:xfrm>
                <a:off x="11598592" y="2852738"/>
                <a:ext cx="312420" cy="147638"/>
              </a:xfrm>
              <a:prstGeom prst="rect">
                <a:avLst/>
              </a:prstGeom>
              <a:noFill/>
              <a:ln>
                <a:noFill/>
              </a:ln>
            </p:spPr>
            <p:txBody>
              <a:bodyPr wrap="none" lIns="0" tIns="0" rIns="0" bIns="0" anchor="t" anchorCtr="0">
                <a:spAutoFit/>
              </a:bodyPr>
              <a:lstStyle/>
              <a:p>
                <a:pPr algn="r"/>
                <a:r>
                  <a:rPr lang="zh-CN" sz="750" b="1" dirty="0">
                    <a:solidFill>
                      <a:srgbClr val="C8452F"/>
                    </a:solidFill>
                    <a:latin typeface="+mn-lt"/>
                    <a:ea typeface="+mn-ea"/>
                    <a:cs typeface="+mn-cs"/>
                  </a:rPr>
                  <a:t>高风险</a:t>
                </a:r>
              </a:p>
            </p:txBody>
          </p:sp>
          <p:sp>
            <p:nvSpPr>
              <p:cNvPr id="254" name="TextBox 254"/>
              <p:cNvSpPr txBox="1"/>
              <p:nvPr/>
            </p:nvSpPr>
            <p:spPr>
              <a:xfrm>
                <a:off x="10834688" y="3032284"/>
                <a:ext cx="467233"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建议策略：</a:t>
                </a:r>
              </a:p>
            </p:txBody>
          </p:sp>
          <p:sp>
            <p:nvSpPr>
              <p:cNvPr id="255" name="TextBox 255"/>
              <p:cNvSpPr txBox="1"/>
              <p:nvPr/>
            </p:nvSpPr>
            <p:spPr>
              <a:xfrm>
                <a:off x="11699558" y="3024188"/>
                <a:ext cx="211455" cy="147638"/>
              </a:xfrm>
              <a:prstGeom prst="rect">
                <a:avLst/>
              </a:prstGeom>
              <a:noFill/>
              <a:ln>
                <a:noFill/>
              </a:ln>
            </p:spPr>
            <p:txBody>
              <a:bodyPr wrap="none" lIns="0" tIns="0" rIns="0" bIns="0" anchor="t" anchorCtr="0">
                <a:spAutoFit/>
              </a:bodyPr>
              <a:lstStyle/>
              <a:p>
                <a:pPr algn="r"/>
                <a:r>
                  <a:rPr lang="zh-CN" sz="750" b="1" dirty="0">
                    <a:solidFill>
                      <a:srgbClr val="6B1B0B"/>
                    </a:solidFill>
                    <a:latin typeface="+mn-lt"/>
                    <a:ea typeface="+mn-ea"/>
                    <a:cs typeface="+mn-cs"/>
                  </a:rPr>
                  <a:t>拦截</a:t>
                </a:r>
              </a:p>
            </p:txBody>
          </p:sp>
          <p:sp>
            <p:nvSpPr>
              <p:cNvPr id="256" name="TextBox 256"/>
              <p:cNvSpPr txBox="1"/>
              <p:nvPr/>
            </p:nvSpPr>
            <p:spPr>
              <a:xfrm>
                <a:off x="10834688" y="3203734"/>
                <a:ext cx="558775"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需人工复核：</a:t>
                </a:r>
              </a:p>
            </p:txBody>
          </p:sp>
          <p:sp>
            <p:nvSpPr>
              <p:cNvPr id="257" name="TextBox 257"/>
              <p:cNvSpPr txBox="1"/>
              <p:nvPr/>
            </p:nvSpPr>
            <p:spPr>
              <a:xfrm>
                <a:off x="11800522" y="3195638"/>
                <a:ext cx="110490" cy="147638"/>
              </a:xfrm>
              <a:prstGeom prst="rect">
                <a:avLst/>
              </a:prstGeom>
              <a:noFill/>
              <a:ln>
                <a:noFill/>
              </a:ln>
            </p:spPr>
            <p:txBody>
              <a:bodyPr wrap="none" lIns="0" tIns="0" rIns="0" bIns="0" anchor="t" anchorCtr="0">
                <a:spAutoFit/>
              </a:bodyPr>
              <a:lstStyle/>
              <a:p>
                <a:pPr algn="r"/>
                <a:r>
                  <a:rPr lang="zh-CN" sz="750" b="1" dirty="0">
                    <a:solidFill>
                      <a:srgbClr val="6B1B0B"/>
                    </a:solidFill>
                    <a:latin typeface="+mn-lt"/>
                    <a:ea typeface="+mn-ea"/>
                    <a:cs typeface="+mn-cs"/>
                  </a:rPr>
                  <a:t>是</a:t>
                </a:r>
              </a:p>
            </p:txBody>
          </p:sp>
        </p:grpSp>
      </p:grpSp>
      <p:grpSp>
        <p:nvGrpSpPr>
          <p:cNvPr id="262" name="bottom-head"/>
          <p:cNvGrpSpPr/>
          <p:nvPr/>
        </p:nvGrpSpPr>
        <p:grpSpPr>
          <a:xfrm>
            <a:off x="190500" y="5257800"/>
            <a:ext cx="7715250" cy="272987"/>
            <a:chOff x="190500" y="5257800"/>
            <a:chExt cx="7715250" cy="272987"/>
          </a:xfrm>
        </p:grpSpPr>
        <p:sp>
          <p:nvSpPr>
            <p:cNvPr id="260" name="Rectangle 260"/>
            <p:cNvSpPr/>
            <p:nvPr/>
          </p:nvSpPr>
          <p:spPr>
            <a:xfrm>
              <a:off x="190500" y="5257800"/>
              <a:ext cx="7715250" cy="266700"/>
            </a:xfrm>
            <a:prstGeom prst="rect">
              <a:avLst/>
            </a:prstGeom>
            <a:gradFill>
              <a:gsLst>
                <a:gs pos="0">
                  <a:srgbClr val="92301C"/>
                </a:gs>
                <a:gs pos="100000">
                  <a:srgbClr val="B7533F"/>
                </a:gs>
              </a:gsLst>
              <a:lin ang="0" scaled="1"/>
            </a:gradFill>
            <a:ln>
              <a:noFill/>
            </a:ln>
          </p:spPr>
        </p:sp>
        <p:sp>
          <p:nvSpPr>
            <p:cNvPr id="261" name="TextBox 261"/>
            <p:cNvSpPr txBox="1"/>
            <p:nvPr/>
          </p:nvSpPr>
          <p:spPr>
            <a:xfrm>
              <a:off x="318516" y="5325428"/>
              <a:ext cx="194515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四类处置策略与效果</a:t>
              </a:r>
              <a:r>
                <a:rPr lang="zh-CN" sz="820" dirty="0">
                  <a:solidFill>
                    <a:srgbClr val="FFFFFF"/>
                  </a:solidFill>
                  <a:latin typeface="+mn-lt"/>
                  <a:ea typeface="+mn-ea"/>
                  <a:cs typeface="+mn-cs"/>
                </a:rPr>
                <a:t>（示例测算）</a:t>
              </a:r>
            </a:p>
          </p:txBody>
        </p:sp>
      </p:grpSp>
      <p:grpSp>
        <p:nvGrpSpPr>
          <p:cNvPr id="302" name="bottom-cards"/>
          <p:cNvGrpSpPr/>
          <p:nvPr/>
        </p:nvGrpSpPr>
        <p:grpSpPr>
          <a:xfrm>
            <a:off x="190500" y="5562600"/>
            <a:ext cx="7715250" cy="1009650"/>
            <a:chOff x="190500" y="5562600"/>
            <a:chExt cx="7715250" cy="1009650"/>
          </a:xfrm>
        </p:grpSpPr>
        <p:grpSp>
          <p:nvGrpSpPr>
            <p:cNvPr id="271" name="bc-1"/>
            <p:cNvGrpSpPr/>
            <p:nvPr/>
          </p:nvGrpSpPr>
          <p:grpSpPr>
            <a:xfrm>
              <a:off x="190500" y="5562600"/>
              <a:ext cx="1866900" cy="1009650"/>
              <a:chOff x="190500" y="5562600"/>
              <a:chExt cx="1866900" cy="1009650"/>
            </a:xfrm>
          </p:grpSpPr>
          <p:sp>
            <p:nvSpPr>
              <p:cNvPr id="263" name="Rectangle 263"/>
              <p:cNvSpPr/>
              <p:nvPr/>
            </p:nvSpPr>
            <p:spPr>
              <a:xfrm>
                <a:off x="190500" y="5562600"/>
                <a:ext cx="1866900" cy="1009650"/>
              </a:xfrm>
              <a:prstGeom prst="roundRect">
                <a:avLst>
                  <a:gd name="adj" fmla="val 5660"/>
                </a:avLst>
              </a:prstGeom>
              <a:solidFill>
                <a:srgbClr val="F6F9FD"/>
              </a:solidFill>
              <a:ln w="9525">
                <a:solidFill>
                  <a:srgbClr val="CFDFEE"/>
                </a:solidFill>
              </a:ln>
            </p:spPr>
          </p:sp>
          <p:grpSp>
            <p:nvGrpSpPr>
              <p:cNvPr id="266" name="Group 266"/>
              <p:cNvGrpSpPr/>
              <p:nvPr/>
            </p:nvGrpSpPr>
            <p:grpSpPr>
              <a:xfrm>
                <a:off x="314325" y="5686425"/>
                <a:ext cx="171450" cy="171450"/>
                <a:chOff x="314325" y="5686425"/>
                <a:chExt cx="171450" cy="171450"/>
              </a:xfrm>
            </p:grpSpPr>
            <p:sp>
              <p:nvSpPr>
                <p:cNvPr id="264" name="Freeform 264"/>
                <p:cNvSpPr/>
                <p:nvPr/>
              </p:nvSpPr>
              <p:spPr>
                <a:xfrm>
                  <a:off x="314325" y="56864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8452F"/>
                  </a:solidFill>
                </a:ln>
              </p:spPr>
            </p:sp>
            <p:sp>
              <p:nvSpPr>
                <p:cNvPr id="265" name="Freeform 265"/>
                <p:cNvSpPr/>
                <p:nvPr/>
              </p:nvSpPr>
              <p:spPr>
                <a:xfrm>
                  <a:off x="340042" y="5712142"/>
                  <a:ext cx="120015" cy="120015"/>
                </a:xfrm>
                <a:custGeom>
                  <a:avLst/>
                  <a:gdLst/>
                  <a:ahLst/>
                  <a:cxnLst/>
                  <a:rect l="l" t="t" r="r" b="b"/>
                  <a:pathLst>
                    <a:path w="120015" h="120015">
                      <a:moveTo>
                        <a:pt x="0" y="0"/>
                      </a:moveTo>
                      <a:lnTo>
                        <a:pt x="120015" y="120015"/>
                      </a:lnTo>
                    </a:path>
                  </a:pathLst>
                </a:custGeom>
                <a:noFill/>
                <a:ln w="19050">
                  <a:solidFill>
                    <a:srgbClr val="C8452F"/>
                  </a:solidFill>
                </a:ln>
              </p:spPr>
            </p:sp>
          </p:grpSp>
          <p:sp>
            <p:nvSpPr>
              <p:cNvPr id="267" name="TextBox 267"/>
              <p:cNvSpPr txBox="1"/>
              <p:nvPr/>
            </p:nvSpPr>
            <p:spPr>
              <a:xfrm>
                <a:off x="585788" y="5718572"/>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拦截</a:t>
                </a:r>
              </a:p>
            </p:txBody>
          </p:sp>
          <p:sp>
            <p:nvSpPr>
              <p:cNvPr id="268" name="TextBox 268"/>
              <p:cNvSpPr txBox="1"/>
              <p:nvPr/>
            </p:nvSpPr>
            <p:spPr>
              <a:xfrm>
                <a:off x="261938" y="5989082"/>
                <a:ext cx="94729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对高风险交易直接拦截</a:t>
                </a:r>
              </a:p>
            </p:txBody>
          </p:sp>
          <p:sp>
            <p:nvSpPr>
              <p:cNvPr id="269" name="TextBox 269"/>
              <p:cNvSpPr txBox="1"/>
              <p:nvPr/>
            </p:nvSpPr>
            <p:spPr>
              <a:xfrm>
                <a:off x="261938" y="61414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阻断资金损失</a:t>
                </a:r>
              </a:p>
            </p:txBody>
          </p:sp>
          <p:sp>
            <p:nvSpPr>
              <p:cNvPr id="270" name="TextBox 270"/>
              <p:cNvSpPr txBox="1"/>
              <p:nvPr/>
            </p:nvSpPr>
            <p:spPr>
              <a:xfrm>
                <a:off x="261938" y="6357938"/>
                <a:ext cx="1535449" cy="147638"/>
              </a:xfrm>
              <a:prstGeom prst="rect">
                <a:avLst/>
              </a:prstGeom>
              <a:noFill/>
              <a:ln>
                <a:noFill/>
              </a:ln>
            </p:spPr>
            <p:txBody>
              <a:bodyPr wrap="none" lIns="0" tIns="0" rIns="0" bIns="0" anchor="t" anchorCtr="0">
                <a:spAutoFit/>
              </a:bodyPr>
              <a:lstStyle/>
              <a:p>
                <a:pPr algn="l"/>
                <a:r>
                  <a:rPr lang="zh-CN" sz="750" b="1" dirty="0">
                    <a:solidFill>
                      <a:srgbClr val="6B1B0B"/>
                    </a:solidFill>
                    <a:latin typeface="+mj-lt"/>
                    <a:ea typeface="+mj-ea"/>
                    <a:cs typeface="+mj-cs"/>
                  </a:rPr>
                  <a:t xml:space="preserve">拦截成功率 98.5%（示例测算）　</a:t>
                </a:r>
              </a:p>
            </p:txBody>
          </p:sp>
        </p:grpSp>
        <p:grpSp>
          <p:nvGrpSpPr>
            <p:cNvPr id="283" name="bc-2"/>
            <p:cNvGrpSpPr/>
            <p:nvPr/>
          </p:nvGrpSpPr>
          <p:grpSpPr>
            <a:xfrm>
              <a:off x="2171700" y="5562600"/>
              <a:ext cx="1866900" cy="1009650"/>
              <a:chOff x="2171700" y="5562600"/>
              <a:chExt cx="1866900" cy="1009650"/>
            </a:xfrm>
          </p:grpSpPr>
          <p:sp>
            <p:nvSpPr>
              <p:cNvPr id="272" name="Rectangle 272"/>
              <p:cNvSpPr/>
              <p:nvPr/>
            </p:nvSpPr>
            <p:spPr>
              <a:xfrm>
                <a:off x="2171700" y="5562600"/>
                <a:ext cx="1866900" cy="1009650"/>
              </a:xfrm>
              <a:prstGeom prst="roundRect">
                <a:avLst>
                  <a:gd name="adj" fmla="val 5660"/>
                </a:avLst>
              </a:prstGeom>
              <a:solidFill>
                <a:srgbClr val="F6F9FD"/>
              </a:solidFill>
              <a:ln w="9525">
                <a:solidFill>
                  <a:srgbClr val="CFDFEE"/>
                </a:solidFill>
              </a:ln>
            </p:spPr>
          </p:sp>
          <p:grpSp>
            <p:nvGrpSpPr>
              <p:cNvPr id="278" name="Group 278"/>
              <p:cNvGrpSpPr/>
              <p:nvPr/>
            </p:nvGrpSpPr>
            <p:grpSpPr>
              <a:xfrm>
                <a:off x="2304301" y="5682796"/>
                <a:ext cx="160769" cy="175079"/>
                <a:chOff x="2304301" y="5682796"/>
                <a:chExt cx="160769" cy="175079"/>
              </a:xfrm>
            </p:grpSpPr>
            <p:sp>
              <p:nvSpPr>
                <p:cNvPr id="273" name="Freeform 273"/>
                <p:cNvSpPr/>
                <p:nvPr/>
              </p:nvSpPr>
              <p:spPr>
                <a:xfrm>
                  <a:off x="2446972" y="5724525"/>
                  <a:ext cx="18098" cy="85725"/>
                </a:xfrm>
                <a:custGeom>
                  <a:avLst/>
                  <a:gdLst/>
                  <a:ahLst/>
                  <a:cxnLst/>
                  <a:rect l="l" t="t" r="r" b="b"/>
                  <a:pathLst>
                    <a:path w="18098" h="85725">
                      <a:moveTo>
                        <a:pt x="0" y="0"/>
                      </a:moveTo>
                      <a:cubicBezTo>
                        <a:pt x="8615" y="14299"/>
                        <a:pt x="12296" y="31031"/>
                        <a:pt x="10478" y="47625"/>
                      </a:cubicBezTo>
                      <a:lnTo>
                        <a:pt x="10478" y="57150"/>
                      </a:lnTo>
                      <a:cubicBezTo>
                        <a:pt x="10466" y="67179"/>
                        <a:pt x="13094" y="77034"/>
                        <a:pt x="18098" y="85725"/>
                      </a:cubicBezTo>
                    </a:path>
                  </a:pathLst>
                </a:custGeom>
                <a:noFill/>
                <a:ln w="19050">
                  <a:solidFill>
                    <a:srgbClr val="92301C"/>
                  </a:solidFill>
                </a:ln>
              </p:spPr>
            </p:sp>
            <p:sp>
              <p:nvSpPr>
                <p:cNvPr id="274" name="Freeform 274"/>
                <p:cNvSpPr/>
                <p:nvPr/>
              </p:nvSpPr>
              <p:spPr>
                <a:xfrm>
                  <a:off x="2343150" y="5724525"/>
                  <a:ext cx="95250" cy="104775"/>
                </a:xfrm>
                <a:custGeom>
                  <a:avLst/>
                  <a:gdLst/>
                  <a:ahLst/>
                  <a:cxnLst/>
                  <a:rect l="l" t="t" r="r" b="b"/>
                  <a:pathLst>
                    <a:path w="95250" h="104775">
                      <a:moveTo>
                        <a:pt x="0" y="38100"/>
                      </a:moveTo>
                      <a:cubicBezTo>
                        <a:pt x="0" y="17058"/>
                        <a:pt x="17058" y="0"/>
                        <a:pt x="38100" y="0"/>
                      </a:cubicBezTo>
                      <a:cubicBezTo>
                        <a:pt x="59142" y="0"/>
                        <a:pt x="76200" y="17058"/>
                        <a:pt x="76200" y="38100"/>
                      </a:cubicBezTo>
                      <a:lnTo>
                        <a:pt x="76200" y="47625"/>
                      </a:lnTo>
                      <a:cubicBezTo>
                        <a:pt x="76200" y="68234"/>
                        <a:pt x="82884" y="88288"/>
                        <a:pt x="95250" y="104775"/>
                      </a:cubicBezTo>
                    </a:path>
                  </a:pathLst>
                </a:custGeom>
                <a:noFill/>
                <a:ln w="19050">
                  <a:solidFill>
                    <a:srgbClr val="92301C"/>
                  </a:solidFill>
                </a:ln>
              </p:spPr>
            </p:sp>
            <p:sp>
              <p:nvSpPr>
                <p:cNvPr id="275" name="Freeform 275"/>
                <p:cNvSpPr/>
                <p:nvPr/>
              </p:nvSpPr>
              <p:spPr>
                <a:xfrm>
                  <a:off x="2381220" y="5762625"/>
                  <a:ext cx="23843" cy="95250"/>
                </a:xfrm>
                <a:custGeom>
                  <a:avLst/>
                  <a:gdLst/>
                  <a:ahLst/>
                  <a:cxnLst/>
                  <a:rect l="l" t="t" r="r" b="b"/>
                  <a:pathLst>
                    <a:path w="23843" h="95250">
                      <a:moveTo>
                        <a:pt x="30" y="0"/>
                      </a:moveTo>
                      <a:lnTo>
                        <a:pt x="30" y="19050"/>
                      </a:lnTo>
                      <a:cubicBezTo>
                        <a:pt x="0" y="46286"/>
                        <a:pt x="8310" y="72878"/>
                        <a:pt x="23843" y="95250"/>
                      </a:cubicBezTo>
                    </a:path>
                  </a:pathLst>
                </a:custGeom>
                <a:noFill/>
                <a:ln w="19050">
                  <a:solidFill>
                    <a:srgbClr val="92301C"/>
                  </a:solidFill>
                </a:ln>
              </p:spPr>
            </p:sp>
            <p:sp>
              <p:nvSpPr>
                <p:cNvPr id="276" name="Freeform 276"/>
                <p:cNvSpPr/>
                <p:nvPr/>
              </p:nvSpPr>
              <p:spPr>
                <a:xfrm>
                  <a:off x="2343150" y="5800725"/>
                  <a:ext cx="17145" cy="57150"/>
                </a:xfrm>
                <a:custGeom>
                  <a:avLst/>
                  <a:gdLst/>
                  <a:ahLst/>
                  <a:cxnLst/>
                  <a:rect l="l" t="t" r="r" b="b"/>
                  <a:pathLst>
                    <a:path w="17145" h="57150">
                      <a:moveTo>
                        <a:pt x="0" y="0"/>
                      </a:moveTo>
                      <a:cubicBezTo>
                        <a:pt x="2331" y="19906"/>
                        <a:pt x="8134" y="39249"/>
                        <a:pt x="17145" y="57150"/>
                      </a:cubicBezTo>
                    </a:path>
                  </a:pathLst>
                </a:custGeom>
                <a:noFill/>
                <a:ln w="19050">
                  <a:solidFill>
                    <a:srgbClr val="92301C"/>
                  </a:solidFill>
                </a:ln>
              </p:spPr>
            </p:sp>
            <p:sp>
              <p:nvSpPr>
                <p:cNvPr id="277" name="Freeform 277"/>
                <p:cNvSpPr/>
                <p:nvPr/>
              </p:nvSpPr>
              <p:spPr>
                <a:xfrm>
                  <a:off x="2304301" y="5682796"/>
                  <a:ext cx="115049" cy="156029"/>
                </a:xfrm>
                <a:custGeom>
                  <a:avLst/>
                  <a:gdLst/>
                  <a:ahLst/>
                  <a:cxnLst/>
                  <a:rect l="l" t="t" r="r" b="b"/>
                  <a:pathLst>
                    <a:path w="115049" h="156029">
                      <a:moveTo>
                        <a:pt x="9322" y="156029"/>
                      </a:moveTo>
                      <a:cubicBezTo>
                        <a:pt x="2895" y="134410"/>
                        <a:pt x="0" y="111896"/>
                        <a:pt x="749" y="89354"/>
                      </a:cubicBezTo>
                      <a:lnTo>
                        <a:pt x="749" y="79829"/>
                      </a:lnTo>
                      <a:cubicBezTo>
                        <a:pt x="675" y="52569"/>
                        <a:pt x="15169" y="27345"/>
                        <a:pt x="38759" y="13682"/>
                      </a:cubicBezTo>
                      <a:cubicBezTo>
                        <a:pt x="62349" y="20"/>
                        <a:pt x="91441" y="0"/>
                        <a:pt x="115049" y="13631"/>
                      </a:cubicBezTo>
                    </a:path>
                  </a:pathLst>
                </a:custGeom>
                <a:noFill/>
                <a:ln w="19050">
                  <a:solidFill>
                    <a:srgbClr val="92301C"/>
                  </a:solidFill>
                </a:ln>
              </p:spPr>
            </p:sp>
          </p:grpSp>
          <p:sp>
            <p:nvSpPr>
              <p:cNvPr id="279" name="TextBox 279"/>
              <p:cNvSpPr txBox="1"/>
              <p:nvPr/>
            </p:nvSpPr>
            <p:spPr>
              <a:xfrm>
                <a:off x="2566988" y="571857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增强认证</a:t>
                </a:r>
              </a:p>
            </p:txBody>
          </p:sp>
          <p:sp>
            <p:nvSpPr>
              <p:cNvPr id="280" name="TextBox 280"/>
              <p:cNvSpPr txBox="1"/>
              <p:nvPr/>
            </p:nvSpPr>
            <p:spPr>
              <a:xfrm>
                <a:off x="2243138" y="5989082"/>
                <a:ext cx="116699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 xml:space="preserve">触发二次验证短信/人脸等　</a:t>
                </a:r>
              </a:p>
            </p:txBody>
          </p:sp>
          <p:sp>
            <p:nvSpPr>
              <p:cNvPr id="281" name="TextBox 281"/>
              <p:cNvSpPr txBox="1"/>
              <p:nvPr/>
            </p:nvSpPr>
            <p:spPr>
              <a:xfrm>
                <a:off x="2243138" y="614148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确认用户真实性</a:t>
                </a:r>
              </a:p>
            </p:txBody>
          </p:sp>
          <p:sp>
            <p:nvSpPr>
              <p:cNvPr id="282" name="TextBox 282"/>
              <p:cNvSpPr txBox="1"/>
              <p:nvPr/>
            </p:nvSpPr>
            <p:spPr>
              <a:xfrm>
                <a:off x="2243138" y="6357938"/>
                <a:ext cx="1350280" cy="147638"/>
              </a:xfrm>
              <a:prstGeom prst="rect">
                <a:avLst/>
              </a:prstGeom>
              <a:noFill/>
              <a:ln>
                <a:noFill/>
              </a:ln>
            </p:spPr>
            <p:txBody>
              <a:bodyPr wrap="none" lIns="0" tIns="0" rIns="0" bIns="0" anchor="t" anchorCtr="0">
                <a:spAutoFit/>
              </a:bodyPr>
              <a:lstStyle/>
              <a:p>
                <a:pPr algn="l"/>
                <a:r>
                  <a:rPr lang="zh-CN" sz="750" b="1" dirty="0">
                    <a:solidFill>
                      <a:srgbClr val="6B1B0B"/>
                    </a:solidFill>
                    <a:latin typeface="+mj-lt"/>
                    <a:ea typeface="+mj-ea"/>
                    <a:cs typeface="+mj-cs"/>
                  </a:rPr>
                  <a:t xml:space="preserve">风险下降 72%（示例测算）　</a:t>
                </a:r>
              </a:p>
            </p:txBody>
          </p:sp>
        </p:grpSp>
        <p:grpSp>
          <p:nvGrpSpPr>
            <p:cNvPr id="292" name="bc-3"/>
            <p:cNvGrpSpPr/>
            <p:nvPr/>
          </p:nvGrpSpPr>
          <p:grpSpPr>
            <a:xfrm>
              <a:off x="4152900" y="5562600"/>
              <a:ext cx="1866900" cy="1009650"/>
              <a:chOff x="4152900" y="5562600"/>
              <a:chExt cx="1866900" cy="1009650"/>
            </a:xfrm>
          </p:grpSpPr>
          <p:sp>
            <p:nvSpPr>
              <p:cNvPr id="284" name="Rectangle 284"/>
              <p:cNvSpPr/>
              <p:nvPr/>
            </p:nvSpPr>
            <p:spPr>
              <a:xfrm>
                <a:off x="4152900" y="5562600"/>
                <a:ext cx="1866900" cy="1009650"/>
              </a:xfrm>
              <a:prstGeom prst="roundRect">
                <a:avLst>
                  <a:gd name="adj" fmla="val 5660"/>
                </a:avLst>
              </a:prstGeom>
              <a:solidFill>
                <a:srgbClr val="F6F9FD"/>
              </a:solidFill>
              <a:ln w="9525">
                <a:solidFill>
                  <a:srgbClr val="CFDFEE"/>
                </a:solidFill>
              </a:ln>
            </p:spPr>
          </p:sp>
          <p:grpSp>
            <p:nvGrpSpPr>
              <p:cNvPr id="287" name="Group 287"/>
              <p:cNvGrpSpPr/>
              <p:nvPr/>
            </p:nvGrpSpPr>
            <p:grpSpPr>
              <a:xfrm>
                <a:off x="4276725" y="5686425"/>
                <a:ext cx="171450" cy="171450"/>
                <a:chOff x="4276725" y="5686425"/>
                <a:chExt cx="171450" cy="171450"/>
              </a:xfrm>
            </p:grpSpPr>
            <p:sp>
              <p:nvSpPr>
                <p:cNvPr id="285" name="Freeform 285"/>
                <p:cNvSpPr/>
                <p:nvPr/>
              </p:nvSpPr>
              <p:spPr>
                <a:xfrm>
                  <a:off x="4276725" y="56864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9D331F"/>
                  </a:solidFill>
                </a:ln>
              </p:spPr>
            </p:sp>
            <p:sp>
              <p:nvSpPr>
                <p:cNvPr id="286" name="Freeform 286"/>
                <p:cNvSpPr/>
                <p:nvPr/>
              </p:nvSpPr>
              <p:spPr>
                <a:xfrm>
                  <a:off x="4333875" y="5753100"/>
                  <a:ext cx="57150" cy="38100"/>
                </a:xfrm>
                <a:custGeom>
                  <a:avLst/>
                  <a:gdLst/>
                  <a:ahLst/>
                  <a:cxnLst/>
                  <a:rect l="l" t="t" r="r" b="b"/>
                  <a:pathLst>
                    <a:path w="57150" h="38100">
                      <a:moveTo>
                        <a:pt x="0" y="19050"/>
                      </a:moveTo>
                      <a:lnTo>
                        <a:pt x="19050" y="38100"/>
                      </a:lnTo>
                      <a:lnTo>
                        <a:pt x="57150" y="0"/>
                      </a:lnTo>
                    </a:path>
                  </a:pathLst>
                </a:custGeom>
                <a:noFill/>
                <a:ln w="19050">
                  <a:solidFill>
                    <a:srgbClr val="9D331F"/>
                  </a:solidFill>
                </a:ln>
              </p:spPr>
            </p:sp>
          </p:grpSp>
          <p:sp>
            <p:nvSpPr>
              <p:cNvPr id="288" name="TextBox 288"/>
              <p:cNvSpPr txBox="1"/>
              <p:nvPr/>
            </p:nvSpPr>
            <p:spPr>
              <a:xfrm>
                <a:off x="4548188" y="5718572"/>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放行</a:t>
                </a:r>
              </a:p>
            </p:txBody>
          </p:sp>
          <p:sp>
            <p:nvSpPr>
              <p:cNvPr id="289" name="TextBox 289"/>
              <p:cNvSpPr txBox="1"/>
              <p:nvPr/>
            </p:nvSpPr>
            <p:spPr>
              <a:xfrm>
                <a:off x="4224338" y="5989082"/>
                <a:ext cx="94729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对低风险交易快速放行</a:t>
                </a:r>
              </a:p>
            </p:txBody>
          </p:sp>
          <p:sp>
            <p:nvSpPr>
              <p:cNvPr id="290" name="TextBox 290"/>
              <p:cNvSpPr txBox="1"/>
              <p:nvPr/>
            </p:nvSpPr>
            <p:spPr>
              <a:xfrm>
                <a:off x="4224338" y="61414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保障用户体验</a:t>
                </a:r>
              </a:p>
            </p:txBody>
          </p:sp>
          <p:sp>
            <p:nvSpPr>
              <p:cNvPr id="291" name="TextBox 291"/>
              <p:cNvSpPr txBox="1"/>
              <p:nvPr/>
            </p:nvSpPr>
            <p:spPr>
              <a:xfrm>
                <a:off x="4224338" y="6357938"/>
                <a:ext cx="1681283" cy="147638"/>
              </a:xfrm>
              <a:prstGeom prst="rect">
                <a:avLst/>
              </a:prstGeom>
              <a:noFill/>
              <a:ln>
                <a:noFill/>
              </a:ln>
            </p:spPr>
            <p:txBody>
              <a:bodyPr wrap="none" lIns="0" tIns="0" rIns="0" bIns="0" anchor="t" anchorCtr="0">
                <a:spAutoFit/>
              </a:bodyPr>
              <a:lstStyle/>
              <a:p>
                <a:pPr algn="l"/>
                <a:r>
                  <a:rPr lang="zh-CN" sz="750" b="1" dirty="0">
                    <a:solidFill>
                      <a:srgbClr val="6B1B0B"/>
                    </a:solidFill>
                    <a:latin typeface="+mj-lt"/>
                    <a:ea typeface="+mj-ea"/>
                    <a:cs typeface="+mj-cs"/>
                  </a:rPr>
                  <a:t xml:space="preserve">平均决策时延＜50ms（示例测算）　</a:t>
                </a:r>
              </a:p>
            </p:txBody>
          </p:sp>
        </p:grpSp>
        <p:grpSp>
          <p:nvGrpSpPr>
            <p:cNvPr id="301" name="bc-4"/>
            <p:cNvGrpSpPr/>
            <p:nvPr/>
          </p:nvGrpSpPr>
          <p:grpSpPr>
            <a:xfrm>
              <a:off x="6134100" y="5562600"/>
              <a:ext cx="1771650" cy="1009650"/>
              <a:chOff x="6134100" y="5562600"/>
              <a:chExt cx="1771650" cy="1009650"/>
            </a:xfrm>
          </p:grpSpPr>
          <p:sp>
            <p:nvSpPr>
              <p:cNvPr id="293" name="Rectangle 293"/>
              <p:cNvSpPr/>
              <p:nvPr/>
            </p:nvSpPr>
            <p:spPr>
              <a:xfrm>
                <a:off x="6134100" y="5562600"/>
                <a:ext cx="1771650" cy="1009650"/>
              </a:xfrm>
              <a:prstGeom prst="roundRect">
                <a:avLst>
                  <a:gd name="adj" fmla="val 5660"/>
                </a:avLst>
              </a:prstGeom>
              <a:solidFill>
                <a:srgbClr val="F6F9FD"/>
              </a:solidFill>
              <a:ln w="9525">
                <a:solidFill>
                  <a:srgbClr val="CFDFEE"/>
                </a:solidFill>
              </a:ln>
            </p:spPr>
          </p:sp>
          <p:grpSp>
            <p:nvGrpSpPr>
              <p:cNvPr id="296" name="Group 296"/>
              <p:cNvGrpSpPr/>
              <p:nvPr/>
            </p:nvGrpSpPr>
            <p:grpSpPr>
              <a:xfrm>
                <a:off x="6257925" y="5686425"/>
                <a:ext cx="171450" cy="171450"/>
                <a:chOff x="6257925" y="5686425"/>
                <a:chExt cx="171450" cy="171450"/>
              </a:xfrm>
            </p:grpSpPr>
            <p:sp>
              <p:nvSpPr>
                <p:cNvPr id="294" name="Freeform 294"/>
                <p:cNvSpPr/>
                <p:nvPr/>
              </p:nvSpPr>
              <p:spPr>
                <a:xfrm>
                  <a:off x="6257925" y="5686425"/>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19050">
                  <a:solidFill>
                    <a:srgbClr val="92301C"/>
                  </a:solidFill>
                </a:ln>
              </p:spPr>
            </p:sp>
            <p:sp>
              <p:nvSpPr>
                <p:cNvPr id="295" name="Freeform 295"/>
                <p:cNvSpPr/>
                <p:nvPr/>
              </p:nvSpPr>
              <p:spPr>
                <a:xfrm>
                  <a:off x="6372225" y="5800725"/>
                  <a:ext cx="57150" cy="57150"/>
                </a:xfrm>
                <a:custGeom>
                  <a:avLst/>
                  <a:gdLst/>
                  <a:ahLst/>
                  <a:cxnLst/>
                  <a:rect l="l" t="t" r="r" b="b"/>
                  <a:pathLst>
                    <a:path w="57150" h="57150">
                      <a:moveTo>
                        <a:pt x="57150" y="57150"/>
                      </a:moveTo>
                      <a:lnTo>
                        <a:pt x="0" y="0"/>
                      </a:lnTo>
                    </a:path>
                  </a:pathLst>
                </a:custGeom>
                <a:noFill/>
                <a:ln w="19050">
                  <a:solidFill>
                    <a:srgbClr val="92301C"/>
                  </a:solidFill>
                </a:ln>
              </p:spPr>
            </p:sp>
          </p:grpSp>
          <p:sp>
            <p:nvSpPr>
              <p:cNvPr id="297" name="TextBox 297"/>
              <p:cNvSpPr txBox="1"/>
              <p:nvPr/>
            </p:nvSpPr>
            <p:spPr>
              <a:xfrm>
                <a:off x="6529388" y="571857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事后调查</a:t>
                </a:r>
              </a:p>
            </p:txBody>
          </p:sp>
          <p:sp>
            <p:nvSpPr>
              <p:cNvPr id="298" name="TextBox 298"/>
              <p:cNvSpPr txBox="1"/>
              <p:nvPr/>
            </p:nvSpPr>
            <p:spPr>
              <a:xfrm>
                <a:off x="6205538" y="5989082"/>
                <a:ext cx="112822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 xml:space="preserve">漏报/误报/放行交易溯源　</a:t>
                </a:r>
              </a:p>
            </p:txBody>
          </p:sp>
          <p:sp>
            <p:nvSpPr>
              <p:cNvPr id="299" name="TextBox 299"/>
              <p:cNvSpPr txBox="1"/>
              <p:nvPr/>
            </p:nvSpPr>
            <p:spPr>
              <a:xfrm>
                <a:off x="6205538" y="614148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特征迭代堵漏洞</a:t>
                </a:r>
              </a:p>
            </p:txBody>
          </p:sp>
          <p:sp>
            <p:nvSpPr>
              <p:cNvPr id="300" name="TextBox 300"/>
              <p:cNvSpPr txBox="1"/>
              <p:nvPr/>
            </p:nvSpPr>
            <p:spPr>
              <a:xfrm>
                <a:off x="6205538" y="6357938"/>
                <a:ext cx="1510208" cy="147638"/>
              </a:xfrm>
              <a:prstGeom prst="rect">
                <a:avLst/>
              </a:prstGeom>
              <a:noFill/>
              <a:ln>
                <a:noFill/>
              </a:ln>
            </p:spPr>
            <p:txBody>
              <a:bodyPr wrap="none" lIns="0" tIns="0" rIns="0" bIns="0" anchor="t" anchorCtr="0">
                <a:spAutoFit/>
              </a:bodyPr>
              <a:lstStyle/>
              <a:p>
                <a:pPr algn="l"/>
                <a:r>
                  <a:rPr lang="zh-CN" sz="750" b="1" dirty="0">
                    <a:solidFill>
                      <a:srgbClr val="6B1B0B"/>
                    </a:solidFill>
                    <a:latin typeface="+mj-lt"/>
                    <a:ea typeface="+mj-ea"/>
                    <a:cs typeface="+mj-cs"/>
                  </a:rPr>
                  <a:t xml:space="preserve">发现新风险 +38%（示例测算）　</a:t>
                </a:r>
              </a:p>
            </p:txBody>
          </p:sp>
        </p:grpSp>
      </p:grpSp>
      <p:grpSp>
        <p:nvGrpSpPr>
          <p:cNvPr id="305" name="kpi-head"/>
          <p:cNvGrpSpPr/>
          <p:nvPr/>
        </p:nvGrpSpPr>
        <p:grpSpPr>
          <a:xfrm>
            <a:off x="8001000" y="5257800"/>
            <a:ext cx="4000500" cy="272987"/>
            <a:chOff x="8001000" y="5257800"/>
            <a:chExt cx="4000500" cy="272987"/>
          </a:xfrm>
        </p:grpSpPr>
        <p:sp>
          <p:nvSpPr>
            <p:cNvPr id="303" name="Rectangle 303"/>
            <p:cNvSpPr/>
            <p:nvPr/>
          </p:nvSpPr>
          <p:spPr>
            <a:xfrm>
              <a:off x="8001000" y="5257800"/>
              <a:ext cx="4000500" cy="266700"/>
            </a:xfrm>
            <a:prstGeom prst="rect">
              <a:avLst/>
            </a:prstGeom>
            <a:gradFill>
              <a:gsLst>
                <a:gs pos="0">
                  <a:srgbClr val="92301C"/>
                </a:gs>
                <a:gs pos="100000">
                  <a:srgbClr val="B7533F"/>
                </a:gs>
              </a:gsLst>
              <a:lin ang="0" scaled="1"/>
            </a:gradFill>
            <a:ln>
              <a:noFill/>
            </a:ln>
          </p:spPr>
        </p:sp>
        <p:sp>
          <p:nvSpPr>
            <p:cNvPr id="304" name="TextBox 304"/>
            <p:cNvSpPr txBox="1"/>
            <p:nvPr/>
          </p:nvSpPr>
          <p:spPr>
            <a:xfrm>
              <a:off x="8129016" y="5325428"/>
              <a:ext cx="123840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核心效果</a:t>
              </a:r>
              <a:r>
                <a:rPr lang="zh-CN" sz="820" dirty="0">
                  <a:solidFill>
                    <a:srgbClr val="FFFFFF"/>
                  </a:solidFill>
                  <a:latin typeface="+mn-lt"/>
                  <a:ea typeface="+mn-ea"/>
                  <a:cs typeface="+mn-cs"/>
                </a:rPr>
                <a:t>（示例测算）</a:t>
              </a:r>
            </a:p>
          </p:txBody>
        </p:sp>
      </p:grpSp>
      <p:grpSp>
        <p:nvGrpSpPr>
          <p:cNvPr id="323" name="kpi-cards"/>
          <p:cNvGrpSpPr/>
          <p:nvPr/>
        </p:nvGrpSpPr>
        <p:grpSpPr>
          <a:xfrm>
            <a:off x="8001000" y="5562600"/>
            <a:ext cx="4000500" cy="1009650"/>
            <a:chOff x="8001000" y="5562600"/>
            <a:chExt cx="4000500" cy="1009650"/>
          </a:xfrm>
        </p:grpSpPr>
        <p:sp>
          <p:nvSpPr>
            <p:cNvPr id="306" name="Rectangle 306"/>
            <p:cNvSpPr/>
            <p:nvPr/>
          </p:nvSpPr>
          <p:spPr>
            <a:xfrm>
              <a:off x="8001000" y="5562600"/>
              <a:ext cx="1943100" cy="1009650"/>
            </a:xfrm>
            <a:prstGeom prst="roundRect">
              <a:avLst>
                <a:gd name="adj" fmla="val 5660"/>
              </a:avLst>
            </a:prstGeom>
            <a:solidFill>
              <a:srgbClr val="EEF5FB"/>
            </a:solidFill>
            <a:ln>
              <a:noFill/>
            </a:ln>
          </p:spPr>
        </p:sp>
        <p:sp>
          <p:nvSpPr>
            <p:cNvPr id="307" name="Ellipse 307"/>
            <p:cNvSpPr/>
            <p:nvPr/>
          </p:nvSpPr>
          <p:spPr>
            <a:xfrm>
              <a:off x="8096250" y="5695950"/>
              <a:ext cx="304800" cy="304800"/>
            </a:xfrm>
            <a:prstGeom prst="ellipse">
              <a:avLst/>
            </a:prstGeom>
            <a:solidFill>
              <a:srgbClr val="92301C"/>
            </a:solidFill>
            <a:ln>
              <a:noFill/>
            </a:ln>
          </p:spPr>
        </p:sp>
        <p:grpSp>
          <p:nvGrpSpPr>
            <p:cNvPr id="310" name="Group 310"/>
            <p:cNvGrpSpPr/>
            <p:nvPr/>
          </p:nvGrpSpPr>
          <p:grpSpPr>
            <a:xfrm>
              <a:off x="8177212" y="5808662"/>
              <a:ext cx="142875" cy="79375"/>
              <a:chOff x="8177212" y="5808662"/>
              <a:chExt cx="142875" cy="79375"/>
            </a:xfrm>
          </p:grpSpPr>
          <p:sp>
            <p:nvSpPr>
              <p:cNvPr id="308" name="Freeform 308"/>
              <p:cNvSpPr/>
              <p:nvPr/>
            </p:nvSpPr>
            <p:spPr>
              <a:xfrm>
                <a:off x="8177212" y="5808662"/>
                <a:ext cx="142875" cy="79375"/>
              </a:xfrm>
              <a:custGeom>
                <a:avLst/>
                <a:gdLst/>
                <a:ahLst/>
                <a:cxnLst/>
                <a:rect l="l" t="t" r="r" b="b"/>
                <a:pathLst>
                  <a:path w="142875" h="79375">
                    <a:moveTo>
                      <a:pt x="0" y="0"/>
                    </a:moveTo>
                    <a:lnTo>
                      <a:pt x="47625" y="47625"/>
                    </a:lnTo>
                    <a:lnTo>
                      <a:pt x="79375" y="15875"/>
                    </a:lnTo>
                    <a:lnTo>
                      <a:pt x="142875" y="79375"/>
                    </a:lnTo>
                  </a:path>
                </a:pathLst>
              </a:custGeom>
              <a:noFill/>
              <a:ln w="15875">
                <a:solidFill>
                  <a:srgbClr val="FFFFFF"/>
                </a:solidFill>
              </a:ln>
            </p:spPr>
          </p:sp>
          <p:sp>
            <p:nvSpPr>
              <p:cNvPr id="309" name="Freeform 309"/>
              <p:cNvSpPr/>
              <p:nvPr/>
            </p:nvSpPr>
            <p:spPr>
              <a:xfrm>
                <a:off x="8264525" y="5832475"/>
                <a:ext cx="55562" cy="55562"/>
              </a:xfrm>
              <a:custGeom>
                <a:avLst/>
                <a:gdLst/>
                <a:ahLst/>
                <a:cxnLst/>
                <a:rect l="l" t="t" r="r" b="b"/>
                <a:pathLst>
                  <a:path w="55562" h="55562">
                    <a:moveTo>
                      <a:pt x="55562" y="0"/>
                    </a:moveTo>
                    <a:lnTo>
                      <a:pt x="55562" y="55562"/>
                    </a:lnTo>
                    <a:lnTo>
                      <a:pt x="0" y="55562"/>
                    </a:lnTo>
                  </a:path>
                </a:pathLst>
              </a:custGeom>
              <a:noFill/>
              <a:ln w="15875">
                <a:solidFill>
                  <a:srgbClr val="FFFFFF"/>
                </a:solidFill>
              </a:ln>
            </p:spPr>
          </p:sp>
        </p:grpSp>
        <p:sp>
          <p:nvSpPr>
            <p:cNvPr id="311" name="TextBox 311"/>
            <p:cNvSpPr txBox="1"/>
            <p:nvPr/>
          </p:nvSpPr>
          <p:spPr>
            <a:xfrm>
              <a:off x="8491538" y="5789295"/>
              <a:ext cx="494157"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欺诈损失</a:t>
              </a:r>
            </a:p>
          </p:txBody>
        </p:sp>
        <p:sp>
          <p:nvSpPr>
            <p:cNvPr id="312" name="TextBox 312"/>
            <p:cNvSpPr txBox="1"/>
            <p:nvPr/>
          </p:nvSpPr>
          <p:spPr>
            <a:xfrm>
              <a:off x="8486394" y="601884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-25%　</a:t>
              </a:r>
            </a:p>
          </p:txBody>
        </p:sp>
        <p:sp>
          <p:nvSpPr>
            <p:cNvPr id="313" name="TextBox 313"/>
            <p:cNvSpPr txBox="1"/>
            <p:nvPr/>
          </p:nvSpPr>
          <p:spPr>
            <a:xfrm>
              <a:off x="849153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314" name="Rectangle 314"/>
            <p:cNvSpPr/>
            <p:nvPr/>
          </p:nvSpPr>
          <p:spPr>
            <a:xfrm>
              <a:off x="10058400" y="5562600"/>
              <a:ext cx="1943100" cy="1009650"/>
            </a:xfrm>
            <a:prstGeom prst="roundRect">
              <a:avLst>
                <a:gd name="adj" fmla="val 5660"/>
              </a:avLst>
            </a:prstGeom>
            <a:solidFill>
              <a:srgbClr val="EEF5FB"/>
            </a:solidFill>
            <a:ln>
              <a:noFill/>
            </a:ln>
          </p:spPr>
        </p:sp>
        <p:sp>
          <p:nvSpPr>
            <p:cNvPr id="315" name="Ellipse 315"/>
            <p:cNvSpPr/>
            <p:nvPr/>
          </p:nvSpPr>
          <p:spPr>
            <a:xfrm>
              <a:off x="10153650" y="5695950"/>
              <a:ext cx="304800" cy="304800"/>
            </a:xfrm>
            <a:prstGeom prst="ellipse">
              <a:avLst/>
            </a:prstGeom>
            <a:solidFill>
              <a:srgbClr val="92301C"/>
            </a:solidFill>
            <a:ln>
              <a:noFill/>
            </a:ln>
          </p:spPr>
        </p:sp>
        <p:grpSp>
          <p:nvGrpSpPr>
            <p:cNvPr id="319" name="Group 319"/>
            <p:cNvGrpSpPr/>
            <p:nvPr/>
          </p:nvGrpSpPr>
          <p:grpSpPr>
            <a:xfrm>
              <a:off x="10258425" y="5800725"/>
              <a:ext cx="95250" cy="95250"/>
              <a:chOff x="10258425" y="5800725"/>
              <a:chExt cx="95250" cy="95250"/>
            </a:xfrm>
          </p:grpSpPr>
          <p:sp>
            <p:nvSpPr>
              <p:cNvPr id="316" name="Freeform 316"/>
              <p:cNvSpPr/>
              <p:nvPr/>
            </p:nvSpPr>
            <p:spPr>
              <a:xfrm>
                <a:off x="10337800" y="5880100"/>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317" name="Freeform 317"/>
              <p:cNvSpPr/>
              <p:nvPr/>
            </p:nvSpPr>
            <p:spPr>
              <a:xfrm>
                <a:off x="10258425" y="5800725"/>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318" name="Freeform 318"/>
              <p:cNvSpPr/>
              <p:nvPr/>
            </p:nvSpPr>
            <p:spPr>
              <a:xfrm>
                <a:off x="10258425" y="5800725"/>
                <a:ext cx="95250" cy="95250"/>
              </a:xfrm>
              <a:custGeom>
                <a:avLst/>
                <a:gdLst/>
                <a:ahLst/>
                <a:cxnLst/>
                <a:rect l="l" t="t" r="r" b="b"/>
                <a:pathLst>
                  <a:path w="95250" h="95250">
                    <a:moveTo>
                      <a:pt x="0" y="95250"/>
                    </a:moveTo>
                    <a:lnTo>
                      <a:pt x="95250" y="0"/>
                    </a:lnTo>
                  </a:path>
                </a:pathLst>
              </a:custGeom>
              <a:noFill/>
              <a:ln w="15875">
                <a:solidFill>
                  <a:srgbClr val="FFFFFF"/>
                </a:solidFill>
              </a:ln>
            </p:spPr>
          </p:sp>
        </p:grpSp>
        <p:sp>
          <p:nvSpPr>
            <p:cNvPr id="320" name="TextBox 320"/>
            <p:cNvSpPr txBox="1"/>
            <p:nvPr/>
          </p:nvSpPr>
          <p:spPr>
            <a:xfrm>
              <a:off x="10548938" y="5789295"/>
              <a:ext cx="494157"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误拦截率</a:t>
              </a:r>
            </a:p>
          </p:txBody>
        </p:sp>
        <p:sp>
          <p:nvSpPr>
            <p:cNvPr id="321" name="TextBox 321"/>
            <p:cNvSpPr txBox="1"/>
            <p:nvPr/>
          </p:nvSpPr>
          <p:spPr>
            <a:xfrm>
              <a:off x="10543794" y="601884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-20%　</a:t>
              </a:r>
            </a:p>
          </p:txBody>
        </p:sp>
        <p:sp>
          <p:nvSpPr>
            <p:cNvPr id="322" name="TextBox 322"/>
            <p:cNvSpPr txBox="1"/>
            <p:nvPr/>
          </p:nvSpPr>
          <p:spPr>
            <a:xfrm>
              <a:off x="1054893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grpSp>
      <p:grpSp>
        <p:nvGrpSpPr>
          <p:cNvPr id="331" name="footer-band"/>
          <p:cNvGrpSpPr/>
          <p:nvPr/>
        </p:nvGrpSpPr>
        <p:grpSpPr>
          <a:xfrm>
            <a:off x="190500" y="6610350"/>
            <a:ext cx="11811000" cy="231457"/>
            <a:chOff x="190500" y="6610350"/>
            <a:chExt cx="11811000" cy="231457"/>
          </a:xfrm>
        </p:grpSpPr>
        <p:sp>
          <p:nvSpPr>
            <p:cNvPr id="324" name="Rectangle 324"/>
            <p:cNvSpPr/>
            <p:nvPr/>
          </p:nvSpPr>
          <p:spPr>
            <a:xfrm>
              <a:off x="190500" y="6610350"/>
              <a:ext cx="11811000" cy="228600"/>
            </a:xfrm>
            <a:prstGeom prst="roundRect">
              <a:avLst>
                <a:gd name="adj" fmla="val 50000"/>
              </a:avLst>
            </a:prstGeom>
            <a:solidFill>
              <a:srgbClr val="EEF5FB"/>
            </a:solidFill>
            <a:ln>
              <a:noFill/>
            </a:ln>
          </p:spPr>
        </p:sp>
        <p:sp>
          <p:nvSpPr>
            <p:cNvPr id="325" name="Ellipse 325"/>
            <p:cNvSpPr/>
            <p:nvPr/>
          </p:nvSpPr>
          <p:spPr>
            <a:xfrm>
              <a:off x="304800" y="6648450"/>
              <a:ext cx="152400" cy="152400"/>
            </a:xfrm>
            <a:prstGeom prst="ellipse">
              <a:avLst/>
            </a:prstGeom>
            <a:solidFill>
              <a:srgbClr val="92301C"/>
            </a:solidFill>
            <a:ln>
              <a:noFill/>
            </a:ln>
          </p:spPr>
        </p:sp>
        <p:sp>
          <p:nvSpPr>
            <p:cNvPr id="326" name="TextBox 326"/>
            <p:cNvSpPr txBox="1"/>
            <p:nvPr/>
          </p:nvSpPr>
          <p:spPr>
            <a:xfrm>
              <a:off x="359427" y="6681788"/>
              <a:ext cx="43146"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a:t>
              </a:r>
            </a:p>
          </p:txBody>
        </p:sp>
        <p:sp>
          <p:nvSpPr>
            <p:cNvPr id="327" name="TextBox 327"/>
            <p:cNvSpPr txBox="1"/>
            <p:nvPr/>
          </p:nvSpPr>
          <p:spPr>
            <a:xfrm>
              <a:off x="528638" y="6681788"/>
              <a:ext cx="1423035" cy="147638"/>
            </a:xfrm>
            <a:prstGeom prst="rect">
              <a:avLst/>
            </a:prstGeom>
            <a:noFill/>
            <a:ln>
              <a:noFill/>
            </a:ln>
          </p:spPr>
          <p:txBody>
            <a:bodyPr wrap="none" lIns="0" tIns="0" rIns="0" bIns="0" anchor="t" anchorCtr="0">
              <a:spAutoFit/>
            </a:bodyPr>
            <a:lstStyle/>
            <a:p>
              <a:pPr algn="l"/>
              <a:r>
                <a:rPr lang="zh-CN" sz="750" dirty="0">
                  <a:solidFill>
                    <a:srgbClr val="6B1B0B"/>
                  </a:solidFill>
                  <a:latin typeface="+mn-lt"/>
                  <a:ea typeface="+mn-ea"/>
                  <a:cs typeface="+mn-cs"/>
                </a:rPr>
                <a:t>审慎识别风险　专业创造价值。</a:t>
              </a:r>
            </a:p>
          </p:txBody>
        </p:sp>
        <p:sp>
          <p:nvSpPr>
            <p:cNvPr id="328" name="TextBox 328"/>
            <p:cNvSpPr txBox="1"/>
            <p:nvPr/>
          </p:nvSpPr>
          <p:spPr>
            <a:xfrm>
              <a:off x="8997632" y="6685836"/>
              <a:ext cx="2399030" cy="140494"/>
            </a:xfrm>
            <a:prstGeom prst="rect">
              <a:avLst/>
            </a:prstGeom>
            <a:noFill/>
            <a:ln>
              <a:noFill/>
            </a:ln>
          </p:spPr>
          <p:txBody>
            <a:bodyPr wrap="none" lIns="0" tIns="0" rIns="0" bIns="0" anchor="t" anchorCtr="0">
              <a:spAutoFit/>
            </a:bodyPr>
            <a:lstStyle/>
            <a:p>
              <a:pPr algn="r"/>
              <a:r>
                <a:rPr lang="zh-CN" sz="710" dirty="0">
                  <a:solidFill>
                    <a:srgbClr val="8C716B"/>
                  </a:solidFill>
                  <a:latin typeface="+mn-lt"/>
                  <a:ea typeface="+mn-ea"/>
                  <a:cs typeface="+mn-cs"/>
                </a:rPr>
                <a:t>重大风险识别、交易、投资、承保必须由授权人员确认。</a:t>
              </a:r>
            </a:p>
          </p:txBody>
        </p:sp>
        <p:sp>
          <p:nvSpPr>
            <p:cNvPr id="329" name="Line 329"/>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30" name="TextBox 330"/>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08</a:t>
              </a:r>
            </a:p>
          </p:txBody>
        </p:sp>
      </p:gr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08</a:t>
              </a:r>
            </a:p>
          </p:txBody>
        </p:sp>
        <p:sp>
          <p:nvSpPr>
            <p:cNvPr id="4" name="TextBox 4"/>
            <p:cNvSpPr txBox="1"/>
            <p:nvPr/>
          </p:nvSpPr>
          <p:spPr>
            <a:xfrm>
              <a:off x="942594" y="170498"/>
              <a:ext cx="6057519"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反洗钱智能体</a:t>
              </a:r>
              <a:r>
                <a:rPr lang="zh-CN" sz="1950" b="1" dirty="0">
                  <a:solidFill>
                    <a:srgbClr val="92301C"/>
                  </a:solidFill>
                  <a:latin typeface="+mn-lt"/>
                  <a:ea typeface="+mn-ea"/>
                  <a:cs typeface="+mn-cs"/>
                </a:rPr>
                <a:t>｜客户风险、交易监测与可疑报告协同</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合规管理 · 08</a:t>
              </a:r>
            </a:p>
          </p:txBody>
        </p:sp>
        <p:sp>
          <p:nvSpPr>
            <p:cNvPr id="6" name="TextBox 6"/>
            <p:cNvSpPr txBox="1"/>
            <p:nvPr/>
          </p:nvSpPr>
          <p:spPr>
            <a:xfrm>
              <a:off x="10566333" y="334089"/>
              <a:ext cx="1439930"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专业 · 守正 · 合规 · 长期价值</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1" name="col1-head"/>
          <p:cNvGrpSpPr/>
          <p:nvPr/>
        </p:nvGrpSpPr>
        <p:grpSpPr>
          <a:xfrm>
            <a:off x="190500" y="628650"/>
            <a:ext cx="2209800" cy="279559"/>
            <a:chOff x="190500" y="628650"/>
            <a:chExt cx="2209800" cy="279559"/>
          </a:xfrm>
        </p:grpSpPr>
        <p:sp>
          <p:nvSpPr>
            <p:cNvPr id="9" name="Rectangle 9"/>
            <p:cNvSpPr/>
            <p:nvPr/>
          </p:nvSpPr>
          <p:spPr>
            <a:xfrm>
              <a:off x="190500" y="628650"/>
              <a:ext cx="2209800" cy="266700"/>
            </a:xfrm>
            <a:prstGeom prst="rect">
              <a:avLst/>
            </a:prstGeom>
            <a:gradFill>
              <a:gsLst>
                <a:gs pos="0">
                  <a:srgbClr val="92301C"/>
                </a:gs>
                <a:gs pos="100000">
                  <a:srgbClr val="B7533F"/>
                </a:gs>
              </a:gsLst>
              <a:lin ang="0" scaled="1"/>
            </a:gradFill>
            <a:ln>
              <a:noFill/>
            </a:ln>
          </p:spPr>
        </p:sp>
        <p:sp>
          <p:nvSpPr>
            <p:cNvPr id="10" name="TextBox 10"/>
            <p:cNvSpPr txBox="1"/>
            <p:nvPr/>
          </p:nvSpPr>
          <p:spPr>
            <a:xfrm>
              <a:off x="318135" y="688181"/>
              <a:ext cx="166994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客户风险因素与名单数据</a:t>
              </a:r>
            </a:p>
          </p:txBody>
        </p:sp>
      </p:grpSp>
      <p:grpSp>
        <p:nvGrpSpPr>
          <p:cNvPr id="14" name="col2-head"/>
          <p:cNvGrpSpPr/>
          <p:nvPr/>
        </p:nvGrpSpPr>
        <p:grpSpPr>
          <a:xfrm>
            <a:off x="2495550" y="628650"/>
            <a:ext cx="6191250" cy="279559"/>
            <a:chOff x="2495550" y="628650"/>
            <a:chExt cx="6191250" cy="279559"/>
          </a:xfrm>
        </p:grpSpPr>
        <p:sp>
          <p:nvSpPr>
            <p:cNvPr id="12" name="Rectangle 12"/>
            <p:cNvSpPr/>
            <p:nvPr/>
          </p:nvSpPr>
          <p:spPr>
            <a:xfrm>
              <a:off x="2495550" y="628650"/>
              <a:ext cx="6191250" cy="266700"/>
            </a:xfrm>
            <a:prstGeom prst="rect">
              <a:avLst/>
            </a:prstGeom>
            <a:gradFill>
              <a:gsLst>
                <a:gs pos="0">
                  <a:srgbClr val="92301C"/>
                </a:gs>
                <a:gs pos="100000">
                  <a:srgbClr val="B7533F"/>
                </a:gs>
              </a:gsLst>
              <a:lin ang="0" scaled="1"/>
            </a:gradFill>
            <a:ln>
              <a:noFill/>
            </a:ln>
          </p:spPr>
        </p:sp>
        <p:sp>
          <p:nvSpPr>
            <p:cNvPr id="13" name="TextBox 13"/>
            <p:cNvSpPr txBox="1"/>
            <p:nvPr/>
          </p:nvSpPr>
          <p:spPr>
            <a:xfrm>
              <a:off x="2623185" y="688181"/>
              <a:ext cx="210073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反洗钱监测场景树</a:t>
              </a:r>
              <a:r>
                <a:rPr lang="zh-CN" sz="820" dirty="0">
                  <a:solidFill>
                    <a:srgbClr val="FFFFFF"/>
                  </a:solidFill>
                  <a:latin typeface="+mn-lt"/>
                  <a:ea typeface="+mn-ea"/>
                  <a:cs typeface="+mn-cs"/>
                </a:rPr>
                <a:t>（典型场景示例）</a:t>
              </a:r>
            </a:p>
          </p:txBody>
        </p:sp>
      </p:grpSp>
      <p:grpSp>
        <p:nvGrpSpPr>
          <p:cNvPr id="17" name="col3-head"/>
          <p:cNvGrpSpPr/>
          <p:nvPr/>
        </p:nvGrpSpPr>
        <p:grpSpPr>
          <a:xfrm>
            <a:off x="8782050" y="628650"/>
            <a:ext cx="3219450" cy="279559"/>
            <a:chOff x="8782050" y="628650"/>
            <a:chExt cx="3219450" cy="279559"/>
          </a:xfrm>
        </p:grpSpPr>
        <p:sp>
          <p:nvSpPr>
            <p:cNvPr id="15" name="Rectangle 15"/>
            <p:cNvSpPr/>
            <p:nvPr/>
          </p:nvSpPr>
          <p:spPr>
            <a:xfrm>
              <a:off x="8782050" y="628650"/>
              <a:ext cx="3219450" cy="266700"/>
            </a:xfrm>
            <a:prstGeom prst="rect">
              <a:avLst/>
            </a:prstGeom>
            <a:gradFill>
              <a:gsLst>
                <a:gs pos="0">
                  <a:srgbClr val="92301C"/>
                </a:gs>
                <a:gs pos="100000">
                  <a:srgbClr val="B7533F"/>
                </a:gs>
              </a:gsLst>
              <a:lin ang="0" scaled="1"/>
            </a:gradFill>
            <a:ln>
              <a:noFill/>
            </a:ln>
          </p:spPr>
        </p:sp>
        <p:sp>
          <p:nvSpPr>
            <p:cNvPr id="16" name="TextBox 16"/>
            <p:cNvSpPr txBox="1"/>
            <p:nvPr/>
          </p:nvSpPr>
          <p:spPr>
            <a:xfrm>
              <a:off x="8909685" y="688181"/>
              <a:ext cx="121762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智能协同处置流程</a:t>
              </a:r>
            </a:p>
          </p:txBody>
        </p:sp>
      </p:grpSp>
      <p:grpSp>
        <p:nvGrpSpPr>
          <p:cNvPr id="80" name="left-cards"/>
          <p:cNvGrpSpPr/>
          <p:nvPr/>
        </p:nvGrpSpPr>
        <p:grpSpPr>
          <a:xfrm>
            <a:off x="190500" y="952500"/>
            <a:ext cx="2209800" cy="4171950"/>
            <a:chOff x="190500" y="952500"/>
            <a:chExt cx="2209800" cy="4171950"/>
          </a:xfrm>
        </p:grpSpPr>
        <p:grpSp>
          <p:nvGrpSpPr>
            <p:cNvPr id="32" name="lc-1"/>
            <p:cNvGrpSpPr/>
            <p:nvPr/>
          </p:nvGrpSpPr>
          <p:grpSpPr>
            <a:xfrm>
              <a:off x="190500" y="952500"/>
              <a:ext cx="2209800" cy="828913"/>
              <a:chOff x="190500" y="952500"/>
              <a:chExt cx="2209800" cy="828913"/>
            </a:xfrm>
          </p:grpSpPr>
          <p:sp>
            <p:nvSpPr>
              <p:cNvPr id="18" name="Rectangle 18"/>
              <p:cNvSpPr/>
              <p:nvPr/>
            </p:nvSpPr>
            <p:spPr>
              <a:xfrm>
                <a:off x="190500" y="952500"/>
                <a:ext cx="2209800" cy="828675"/>
              </a:xfrm>
              <a:prstGeom prst="roundRect">
                <a:avLst>
                  <a:gd name="adj" fmla="val 6897"/>
                </a:avLst>
              </a:prstGeom>
              <a:solidFill>
                <a:srgbClr val="F6F9FD"/>
              </a:solidFill>
              <a:ln w="9525">
                <a:solidFill>
                  <a:srgbClr val="CFDFEE"/>
                </a:solidFill>
              </a:ln>
            </p:spPr>
          </p:sp>
          <p:grpSp>
            <p:nvGrpSpPr>
              <p:cNvPr id="24" name="Group 24"/>
              <p:cNvGrpSpPr/>
              <p:nvPr/>
            </p:nvGrpSpPr>
            <p:grpSpPr>
              <a:xfrm>
                <a:off x="311944" y="1101725"/>
                <a:ext cx="157163" cy="139700"/>
                <a:chOff x="311944" y="1101725"/>
                <a:chExt cx="157163" cy="139700"/>
              </a:xfrm>
            </p:grpSpPr>
            <p:sp>
              <p:nvSpPr>
                <p:cNvPr id="19" name="Freeform 19"/>
                <p:cNvSpPr/>
                <p:nvPr/>
              </p:nvSpPr>
              <p:spPr>
                <a:xfrm>
                  <a:off x="311944" y="1101725"/>
                  <a:ext cx="157163" cy="139700"/>
                </a:xfrm>
                <a:custGeom>
                  <a:avLst/>
                  <a:gdLst/>
                  <a:ahLst/>
                  <a:cxnLst/>
                  <a:rect l="l" t="t" r="r" b="b"/>
                  <a:pathLst>
                    <a:path w="157163" h="139700">
                      <a:moveTo>
                        <a:pt x="0" y="26194"/>
                      </a:moveTo>
                      <a:cubicBezTo>
                        <a:pt x="0" y="11727"/>
                        <a:pt x="11727" y="0"/>
                        <a:pt x="26194" y="0"/>
                      </a:cubicBezTo>
                      <a:lnTo>
                        <a:pt x="130969" y="0"/>
                      </a:lnTo>
                      <a:cubicBezTo>
                        <a:pt x="145435" y="0"/>
                        <a:pt x="157163" y="11727"/>
                        <a:pt x="157163" y="26194"/>
                      </a:cubicBezTo>
                      <a:lnTo>
                        <a:pt x="157163" y="113506"/>
                      </a:lnTo>
                      <a:cubicBezTo>
                        <a:pt x="157163" y="127973"/>
                        <a:pt x="145435" y="139700"/>
                        <a:pt x="130969" y="139700"/>
                      </a:cubicBezTo>
                      <a:lnTo>
                        <a:pt x="26194" y="139700"/>
                      </a:lnTo>
                      <a:cubicBezTo>
                        <a:pt x="11727" y="139700"/>
                        <a:pt x="0" y="127973"/>
                        <a:pt x="0" y="113506"/>
                      </a:cubicBezTo>
                      <a:lnTo>
                        <a:pt x="0" y="26194"/>
                      </a:lnTo>
                    </a:path>
                  </a:pathLst>
                </a:custGeom>
                <a:noFill/>
                <a:ln w="17463">
                  <a:solidFill>
                    <a:srgbClr val="92301C"/>
                  </a:solidFill>
                </a:ln>
              </p:spPr>
            </p:sp>
            <p:sp>
              <p:nvSpPr>
                <p:cNvPr id="20" name="Freeform 20"/>
                <p:cNvSpPr/>
                <p:nvPr/>
              </p:nvSpPr>
              <p:spPr>
                <a:xfrm>
                  <a:off x="346869" y="1136650"/>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92301C"/>
                  </a:solidFill>
                </a:ln>
              </p:spPr>
            </p:sp>
            <p:sp>
              <p:nvSpPr>
                <p:cNvPr id="21" name="Freeform 21"/>
                <p:cNvSpPr/>
                <p:nvPr/>
              </p:nvSpPr>
              <p:spPr>
                <a:xfrm>
                  <a:off x="416719" y="1136650"/>
                  <a:ext cx="17463" cy="9525"/>
                </a:xfrm>
                <a:custGeom>
                  <a:avLst/>
                  <a:gdLst/>
                  <a:ahLst/>
                  <a:cxnLst/>
                  <a:rect l="l" t="t" r="r" b="b"/>
                  <a:pathLst>
                    <a:path w="17463" h="9525">
                      <a:moveTo>
                        <a:pt x="0" y="0"/>
                      </a:moveTo>
                      <a:lnTo>
                        <a:pt x="17463" y="0"/>
                      </a:lnTo>
                    </a:path>
                  </a:pathLst>
                </a:custGeom>
                <a:noFill/>
                <a:ln w="17463">
                  <a:solidFill>
                    <a:srgbClr val="92301C"/>
                  </a:solidFill>
                </a:ln>
              </p:spPr>
            </p:sp>
            <p:sp>
              <p:nvSpPr>
                <p:cNvPr id="22" name="Freeform 22"/>
                <p:cNvSpPr/>
                <p:nvPr/>
              </p:nvSpPr>
              <p:spPr>
                <a:xfrm>
                  <a:off x="416719" y="1171575"/>
                  <a:ext cx="17463" cy="9525"/>
                </a:xfrm>
                <a:custGeom>
                  <a:avLst/>
                  <a:gdLst/>
                  <a:ahLst/>
                  <a:cxnLst/>
                  <a:rect l="l" t="t" r="r" b="b"/>
                  <a:pathLst>
                    <a:path w="17463" h="9525">
                      <a:moveTo>
                        <a:pt x="0" y="0"/>
                      </a:moveTo>
                      <a:lnTo>
                        <a:pt x="17463" y="0"/>
                      </a:lnTo>
                    </a:path>
                  </a:pathLst>
                </a:custGeom>
                <a:noFill/>
                <a:ln w="17463">
                  <a:solidFill>
                    <a:srgbClr val="92301C"/>
                  </a:solidFill>
                </a:ln>
              </p:spPr>
            </p:sp>
            <p:sp>
              <p:nvSpPr>
                <p:cNvPr id="23" name="Freeform 23"/>
                <p:cNvSpPr/>
                <p:nvPr/>
              </p:nvSpPr>
              <p:spPr>
                <a:xfrm>
                  <a:off x="346869" y="1206500"/>
                  <a:ext cx="87313" cy="9525"/>
                </a:xfrm>
                <a:custGeom>
                  <a:avLst/>
                  <a:gdLst/>
                  <a:ahLst/>
                  <a:cxnLst/>
                  <a:rect l="l" t="t" r="r" b="b"/>
                  <a:pathLst>
                    <a:path w="87313" h="9525">
                      <a:moveTo>
                        <a:pt x="0" y="0"/>
                      </a:moveTo>
                      <a:lnTo>
                        <a:pt x="87313" y="0"/>
                      </a:lnTo>
                    </a:path>
                  </a:pathLst>
                </a:custGeom>
                <a:noFill/>
                <a:ln w="17463">
                  <a:solidFill>
                    <a:srgbClr val="92301C"/>
                  </a:solidFill>
                </a:ln>
              </p:spPr>
            </p:sp>
          </p:grpSp>
          <p:sp>
            <p:nvSpPr>
              <p:cNvPr id="25" name="TextBox 25"/>
              <p:cNvSpPr txBox="1"/>
              <p:nvPr/>
            </p:nvSpPr>
            <p:spPr>
              <a:xfrm>
                <a:off x="585788" y="1021318"/>
                <a:ext cx="704164"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客户基础信息</a:t>
                </a:r>
              </a:p>
            </p:txBody>
          </p:sp>
          <p:grpSp>
            <p:nvGrpSpPr>
              <p:cNvPr id="31" name="Group 31"/>
              <p:cNvGrpSpPr/>
              <p:nvPr/>
            </p:nvGrpSpPr>
            <p:grpSpPr>
              <a:xfrm>
                <a:off x="585788" y="1178957"/>
                <a:ext cx="1489190" cy="602456"/>
                <a:chOff x="585788" y="1178957"/>
                <a:chExt cx="1489190" cy="602456"/>
              </a:xfrm>
            </p:grpSpPr>
            <p:sp>
              <p:nvSpPr>
                <p:cNvPr id="26" name="TextBox 26"/>
                <p:cNvSpPr txBox="1"/>
                <p:nvPr/>
              </p:nvSpPr>
              <p:spPr>
                <a:xfrm>
                  <a:off x="585788" y="1178957"/>
                  <a:ext cx="130053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 xml:space="preserve">客户类型（个人/企业/机构）　</a:t>
                  </a:r>
                </a:p>
              </p:txBody>
            </p:sp>
            <p:sp>
              <p:nvSpPr>
                <p:cNvPr id="27" name="TextBox 27"/>
                <p:cNvSpPr txBox="1"/>
                <p:nvPr/>
              </p:nvSpPr>
              <p:spPr>
                <a:xfrm>
                  <a:off x="585788" y="1298019"/>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行业与地域范围</a:t>
                  </a:r>
                </a:p>
              </p:txBody>
            </p:sp>
            <p:sp>
              <p:nvSpPr>
                <p:cNvPr id="28" name="TextBox 28"/>
                <p:cNvSpPr txBox="1"/>
                <p:nvPr/>
              </p:nvSpPr>
              <p:spPr>
                <a:xfrm>
                  <a:off x="585788" y="1417082"/>
                  <a:ext cx="148919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实际控制人与受益所有人（UBO）　</a:t>
                  </a:r>
                </a:p>
              </p:txBody>
            </p:sp>
            <p:sp>
              <p:nvSpPr>
                <p:cNvPr id="29" name="TextBox 29"/>
                <p:cNvSpPr txBox="1"/>
                <p:nvPr/>
              </p:nvSpPr>
              <p:spPr>
                <a:xfrm>
                  <a:off x="585788" y="1536144"/>
                  <a:ext cx="86113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注册地与主要经营地</a:t>
                  </a:r>
                </a:p>
              </p:txBody>
            </p:sp>
            <p:sp>
              <p:nvSpPr>
                <p:cNvPr id="30" name="TextBox 30"/>
                <p:cNvSpPr txBox="1"/>
                <p:nvPr/>
              </p:nvSpPr>
              <p:spPr>
                <a:xfrm>
                  <a:off x="585788" y="1655207"/>
                  <a:ext cx="112822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客户风险评级（高/中/低）</a:t>
                  </a:r>
                </a:p>
              </p:txBody>
            </p:sp>
          </p:grpSp>
        </p:grpSp>
        <p:grpSp>
          <p:nvGrpSpPr>
            <p:cNvPr id="45" name="lc-2"/>
            <p:cNvGrpSpPr/>
            <p:nvPr/>
          </p:nvGrpSpPr>
          <p:grpSpPr>
            <a:xfrm>
              <a:off x="190500" y="1905000"/>
              <a:ext cx="2209800" cy="714375"/>
              <a:chOff x="190500" y="1905000"/>
              <a:chExt cx="2209800" cy="714375"/>
            </a:xfrm>
          </p:grpSpPr>
          <p:sp>
            <p:nvSpPr>
              <p:cNvPr id="33" name="Rectangle 33"/>
              <p:cNvSpPr/>
              <p:nvPr/>
            </p:nvSpPr>
            <p:spPr>
              <a:xfrm>
                <a:off x="190500" y="1905000"/>
                <a:ext cx="2209800" cy="714375"/>
              </a:xfrm>
              <a:prstGeom prst="roundRect">
                <a:avLst>
                  <a:gd name="adj" fmla="val 8000"/>
                </a:avLst>
              </a:prstGeom>
              <a:solidFill>
                <a:srgbClr val="F6F9FD"/>
              </a:solidFill>
              <a:ln w="9525">
                <a:solidFill>
                  <a:srgbClr val="CFDFEE"/>
                </a:solidFill>
              </a:ln>
            </p:spPr>
          </p:sp>
          <p:grpSp>
            <p:nvGrpSpPr>
              <p:cNvPr id="38" name="Group 38"/>
              <p:cNvGrpSpPr/>
              <p:nvPr/>
            </p:nvGrpSpPr>
            <p:grpSpPr>
              <a:xfrm>
                <a:off x="311944" y="2045494"/>
                <a:ext cx="139700" cy="165893"/>
                <a:chOff x="311944" y="2045494"/>
                <a:chExt cx="139700" cy="165893"/>
              </a:xfrm>
            </p:grpSpPr>
            <p:sp>
              <p:nvSpPr>
                <p:cNvPr id="34" name="Freeform 34"/>
                <p:cNvSpPr/>
                <p:nvPr/>
              </p:nvSpPr>
              <p:spPr>
                <a:xfrm>
                  <a:off x="407988" y="204549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92301C"/>
                  </a:solidFill>
                </a:ln>
              </p:spPr>
            </p:sp>
            <p:sp>
              <p:nvSpPr>
                <p:cNvPr id="35" name="Freeform 35"/>
                <p:cNvSpPr/>
                <p:nvPr/>
              </p:nvSpPr>
              <p:spPr>
                <a:xfrm>
                  <a:off x="329406" y="2045494"/>
                  <a:ext cx="122238" cy="157163"/>
                </a:xfrm>
                <a:custGeom>
                  <a:avLst/>
                  <a:gdLst/>
                  <a:ahLst/>
                  <a:cxnLst/>
                  <a:rect l="l" t="t" r="r" b="b"/>
                  <a:pathLst>
                    <a:path w="122238" h="157163">
                      <a:moveTo>
                        <a:pt x="0" y="43656"/>
                      </a:moveTo>
                      <a:lnTo>
                        <a:pt x="0" y="17463"/>
                      </a:lnTo>
                      <a:cubicBezTo>
                        <a:pt x="0" y="7818"/>
                        <a:pt x="7818" y="0"/>
                        <a:pt x="17463" y="0"/>
                      </a:cubicBezTo>
                      <a:lnTo>
                        <a:pt x="78581" y="0"/>
                      </a:lnTo>
                      <a:lnTo>
                        <a:pt x="122238" y="43656"/>
                      </a:lnTo>
                      <a:lnTo>
                        <a:pt x="122238" y="139700"/>
                      </a:lnTo>
                      <a:cubicBezTo>
                        <a:pt x="122238" y="149344"/>
                        <a:pt x="114419" y="157163"/>
                        <a:pt x="104775" y="157163"/>
                      </a:cubicBezTo>
                      <a:lnTo>
                        <a:pt x="61119" y="157163"/>
                      </a:lnTo>
                    </a:path>
                  </a:pathLst>
                </a:custGeom>
                <a:noFill/>
                <a:ln w="17463">
                  <a:solidFill>
                    <a:srgbClr val="92301C"/>
                  </a:solidFill>
                </a:ln>
              </p:spPr>
            </p:sp>
            <p:sp>
              <p:nvSpPr>
                <p:cNvPr id="36" name="Freeform 36"/>
                <p:cNvSpPr/>
                <p:nvPr/>
              </p:nvSpPr>
              <p:spPr>
                <a:xfrm>
                  <a:off x="311944" y="2115344"/>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92301C"/>
                  </a:solidFill>
                </a:ln>
              </p:spPr>
            </p:sp>
            <p:sp>
              <p:nvSpPr>
                <p:cNvPr id="37" name="Freeform 37"/>
                <p:cNvSpPr/>
                <p:nvPr/>
              </p:nvSpPr>
              <p:spPr>
                <a:xfrm>
                  <a:off x="311944" y="2167731"/>
                  <a:ext cx="52388" cy="43656"/>
                </a:xfrm>
                <a:custGeom>
                  <a:avLst/>
                  <a:gdLst/>
                  <a:ahLst/>
                  <a:cxnLst/>
                  <a:rect l="l" t="t" r="r" b="b"/>
                  <a:pathLst>
                    <a:path w="52388" h="43656">
                      <a:moveTo>
                        <a:pt x="13097" y="0"/>
                      </a:moveTo>
                      <a:lnTo>
                        <a:pt x="0" y="43656"/>
                      </a:lnTo>
                      <a:lnTo>
                        <a:pt x="26194" y="30559"/>
                      </a:lnTo>
                      <a:lnTo>
                        <a:pt x="52388" y="43656"/>
                      </a:lnTo>
                      <a:lnTo>
                        <a:pt x="39291" y="0"/>
                      </a:lnTo>
                    </a:path>
                  </a:pathLst>
                </a:custGeom>
                <a:noFill/>
                <a:ln w="17463">
                  <a:solidFill>
                    <a:srgbClr val="92301C"/>
                  </a:solidFill>
                </a:ln>
              </p:spPr>
            </p:sp>
          </p:grpSp>
          <p:sp>
            <p:nvSpPr>
              <p:cNvPr id="39" name="TextBox 39"/>
              <p:cNvSpPr txBox="1"/>
              <p:nvPr/>
            </p:nvSpPr>
            <p:spPr>
              <a:xfrm>
                <a:off x="585788" y="1973818"/>
                <a:ext cx="819937"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身份与尽调信息</a:t>
                </a:r>
              </a:p>
            </p:txBody>
          </p:sp>
          <p:grpSp>
            <p:nvGrpSpPr>
              <p:cNvPr id="44" name="Group 44"/>
              <p:cNvGrpSpPr/>
              <p:nvPr/>
            </p:nvGrpSpPr>
            <p:grpSpPr>
              <a:xfrm>
                <a:off x="585788" y="2131457"/>
                <a:ext cx="1205763" cy="483393"/>
                <a:chOff x="585788" y="2131457"/>
                <a:chExt cx="1205763" cy="483393"/>
              </a:xfrm>
            </p:grpSpPr>
            <p:sp>
              <p:nvSpPr>
                <p:cNvPr id="40" name="TextBox 40"/>
                <p:cNvSpPr txBox="1"/>
                <p:nvPr/>
              </p:nvSpPr>
              <p:spPr>
                <a:xfrm>
                  <a:off x="585788" y="2131457"/>
                  <a:ext cx="94729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证件验证与真实性校验</a:t>
                  </a:r>
                </a:p>
              </p:txBody>
            </p:sp>
            <p:sp>
              <p:nvSpPr>
                <p:cNvPr id="41" name="TextBox 41"/>
                <p:cNvSpPr txBox="1"/>
                <p:nvPr/>
              </p:nvSpPr>
              <p:spPr>
                <a:xfrm>
                  <a:off x="585788" y="2250519"/>
                  <a:ext cx="113447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KYC尽调结论及更新记录　</a:t>
                  </a:r>
                </a:p>
              </p:txBody>
            </p:sp>
            <p:sp>
              <p:nvSpPr>
                <p:cNvPr id="42" name="TextBox 42"/>
                <p:cNvSpPr txBox="1"/>
                <p:nvPr/>
              </p:nvSpPr>
              <p:spPr>
                <a:xfrm>
                  <a:off x="585788" y="2369582"/>
                  <a:ext cx="120576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客户背景调查（关联工商等）</a:t>
                  </a:r>
                </a:p>
              </p:txBody>
            </p:sp>
            <p:sp>
              <p:nvSpPr>
                <p:cNvPr id="43" name="TextBox 43"/>
                <p:cNvSpPr txBox="1"/>
                <p:nvPr/>
              </p:nvSpPr>
              <p:spPr>
                <a:xfrm>
                  <a:off x="585788" y="2488644"/>
                  <a:ext cx="120576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关系图谱（关联方、受益人）</a:t>
                  </a:r>
                </a:p>
              </p:txBody>
            </p:sp>
          </p:grpSp>
        </p:grpSp>
        <p:grpSp>
          <p:nvGrpSpPr>
            <p:cNvPr id="58" name="lc-3"/>
            <p:cNvGrpSpPr/>
            <p:nvPr/>
          </p:nvGrpSpPr>
          <p:grpSpPr>
            <a:xfrm>
              <a:off x="190500" y="2743200"/>
              <a:ext cx="2209800" cy="828913"/>
              <a:chOff x="190500" y="2743200"/>
              <a:chExt cx="2209800" cy="828913"/>
            </a:xfrm>
          </p:grpSpPr>
          <p:sp>
            <p:nvSpPr>
              <p:cNvPr id="46" name="Rectangle 46"/>
              <p:cNvSpPr/>
              <p:nvPr/>
            </p:nvSpPr>
            <p:spPr>
              <a:xfrm>
                <a:off x="190500" y="2743200"/>
                <a:ext cx="2209800" cy="828675"/>
              </a:xfrm>
              <a:prstGeom prst="roundRect">
                <a:avLst>
                  <a:gd name="adj" fmla="val 6897"/>
                </a:avLst>
              </a:prstGeom>
              <a:solidFill>
                <a:srgbClr val="F6F9FD"/>
              </a:solidFill>
              <a:ln w="9525">
                <a:solidFill>
                  <a:srgbClr val="CFDFEE"/>
                </a:solidFill>
              </a:ln>
            </p:spPr>
          </p:sp>
          <p:grpSp>
            <p:nvGrpSpPr>
              <p:cNvPr id="50" name="Group 50"/>
              <p:cNvGrpSpPr/>
              <p:nvPr/>
            </p:nvGrpSpPr>
            <p:grpSpPr>
              <a:xfrm>
                <a:off x="320675" y="2883694"/>
                <a:ext cx="139700" cy="157162"/>
                <a:chOff x="320675" y="2883694"/>
                <a:chExt cx="139700" cy="157162"/>
              </a:xfrm>
            </p:grpSpPr>
            <p:sp>
              <p:nvSpPr>
                <p:cNvPr id="47" name="Freeform 47"/>
                <p:cNvSpPr/>
                <p:nvPr/>
              </p:nvSpPr>
              <p:spPr>
                <a:xfrm>
                  <a:off x="320675" y="28836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92301C"/>
                  </a:solidFill>
                </a:ln>
              </p:spPr>
            </p:sp>
            <p:sp>
              <p:nvSpPr>
                <p:cNvPr id="48" name="Freeform 48"/>
                <p:cNvSpPr/>
                <p:nvPr/>
              </p:nvSpPr>
              <p:spPr>
                <a:xfrm>
                  <a:off x="320675" y="29098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2301C"/>
                  </a:solidFill>
                </a:ln>
              </p:spPr>
            </p:sp>
            <p:sp>
              <p:nvSpPr>
                <p:cNvPr id="49" name="Freeform 49"/>
                <p:cNvSpPr/>
                <p:nvPr/>
              </p:nvSpPr>
              <p:spPr>
                <a:xfrm>
                  <a:off x="320675" y="29622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2301C"/>
                  </a:solidFill>
                </a:ln>
              </p:spPr>
            </p:sp>
          </p:grpSp>
          <p:sp>
            <p:nvSpPr>
              <p:cNvPr id="51" name="TextBox 51"/>
              <p:cNvSpPr txBox="1"/>
              <p:nvPr/>
            </p:nvSpPr>
            <p:spPr>
              <a:xfrm>
                <a:off x="585788" y="2812018"/>
                <a:ext cx="472618"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名单数据</a:t>
                </a:r>
              </a:p>
            </p:txBody>
          </p:sp>
          <p:grpSp>
            <p:nvGrpSpPr>
              <p:cNvPr id="57" name="Group 57"/>
              <p:cNvGrpSpPr/>
              <p:nvPr/>
            </p:nvGrpSpPr>
            <p:grpSpPr>
              <a:xfrm>
                <a:off x="585788" y="2969657"/>
                <a:ext cx="1258076" cy="602456"/>
                <a:chOff x="585788" y="2969657"/>
                <a:chExt cx="1258076" cy="602456"/>
              </a:xfrm>
            </p:grpSpPr>
            <p:sp>
              <p:nvSpPr>
                <p:cNvPr id="52" name="TextBox 52"/>
                <p:cNvSpPr txBox="1"/>
                <p:nvPr/>
              </p:nvSpPr>
              <p:spPr>
                <a:xfrm>
                  <a:off x="585788" y="2969657"/>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联合国制裁名单</a:t>
                  </a:r>
                </a:p>
              </p:txBody>
            </p:sp>
            <p:sp>
              <p:nvSpPr>
                <p:cNvPr id="53" name="TextBox 53"/>
                <p:cNvSpPr txBox="1"/>
                <p:nvPr/>
              </p:nvSpPr>
              <p:spPr>
                <a:xfrm>
                  <a:off x="585788" y="3088719"/>
                  <a:ext cx="99467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其他国家/地区制裁名单</a:t>
                  </a:r>
                </a:p>
              </p:txBody>
            </p:sp>
            <p:sp>
              <p:nvSpPr>
                <p:cNvPr id="54" name="TextBox 54"/>
                <p:cNvSpPr txBox="1"/>
                <p:nvPr/>
              </p:nvSpPr>
              <p:spPr>
                <a:xfrm>
                  <a:off x="585788" y="3207782"/>
                  <a:ext cx="125807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PEPs（重要政治公众人物）　</a:t>
                  </a:r>
                </a:p>
              </p:txBody>
            </p:sp>
            <p:sp>
              <p:nvSpPr>
                <p:cNvPr id="55" name="TextBox 55"/>
                <p:cNvSpPr txBox="1"/>
                <p:nvPr/>
              </p:nvSpPr>
              <p:spPr>
                <a:xfrm>
                  <a:off x="585788" y="3326844"/>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负面舆情名单</a:t>
                  </a:r>
                </a:p>
              </p:txBody>
            </p:sp>
            <p:sp>
              <p:nvSpPr>
                <p:cNvPr id="56" name="TextBox 56"/>
                <p:cNvSpPr txBox="1"/>
                <p:nvPr/>
              </p:nvSpPr>
              <p:spPr>
                <a:xfrm>
                  <a:off x="585788" y="3445907"/>
                  <a:ext cx="77497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境内洗钱关注名单</a:t>
                  </a:r>
                </a:p>
              </p:txBody>
            </p:sp>
          </p:grpSp>
        </p:grpSp>
        <p:grpSp>
          <p:nvGrpSpPr>
            <p:cNvPr id="68" name="lc-4"/>
            <p:cNvGrpSpPr/>
            <p:nvPr/>
          </p:nvGrpSpPr>
          <p:grpSpPr>
            <a:xfrm>
              <a:off x="190500" y="3695700"/>
              <a:ext cx="2209800" cy="590788"/>
              <a:chOff x="190500" y="3695700"/>
              <a:chExt cx="2209800" cy="590788"/>
            </a:xfrm>
          </p:grpSpPr>
          <p:sp>
            <p:nvSpPr>
              <p:cNvPr id="59" name="Rectangle 59"/>
              <p:cNvSpPr/>
              <p:nvPr/>
            </p:nvSpPr>
            <p:spPr>
              <a:xfrm>
                <a:off x="190500" y="3695700"/>
                <a:ext cx="2209800" cy="590550"/>
              </a:xfrm>
              <a:prstGeom prst="roundRect">
                <a:avLst>
                  <a:gd name="adj" fmla="val 9677"/>
                </a:avLst>
              </a:prstGeom>
              <a:solidFill>
                <a:srgbClr val="F6F9FD"/>
              </a:solidFill>
              <a:ln w="9525">
                <a:solidFill>
                  <a:srgbClr val="CFDFEE"/>
                </a:solidFill>
              </a:ln>
            </p:spPr>
          </p:sp>
          <p:grpSp>
            <p:nvGrpSpPr>
              <p:cNvPr id="62" name="Group 62"/>
              <p:cNvGrpSpPr/>
              <p:nvPr/>
            </p:nvGrpSpPr>
            <p:grpSpPr>
              <a:xfrm>
                <a:off x="320675" y="3844925"/>
                <a:ext cx="139701" cy="139700"/>
                <a:chOff x="320675" y="3844925"/>
                <a:chExt cx="139701" cy="139700"/>
              </a:xfrm>
            </p:grpSpPr>
            <p:sp>
              <p:nvSpPr>
                <p:cNvPr id="60" name="Freeform 60"/>
                <p:cNvSpPr/>
                <p:nvPr/>
              </p:nvSpPr>
              <p:spPr>
                <a:xfrm>
                  <a:off x="320675" y="3844925"/>
                  <a:ext cx="130969" cy="139700"/>
                </a:xfrm>
                <a:custGeom>
                  <a:avLst/>
                  <a:gdLst/>
                  <a:ahLst/>
                  <a:cxnLst/>
                  <a:rect l="l" t="t" r="r" b="b"/>
                  <a:pathLst>
                    <a:path w="130969" h="139700">
                      <a:moveTo>
                        <a:pt x="113506" y="34925"/>
                      </a:moveTo>
                      <a:lnTo>
                        <a:pt x="113506" y="8731"/>
                      </a:lnTo>
                      <a:cubicBezTo>
                        <a:pt x="113506" y="3909"/>
                        <a:pt x="109597" y="0"/>
                        <a:pt x="104775" y="0"/>
                      </a:cubicBezTo>
                      <a:lnTo>
                        <a:pt x="17463" y="0"/>
                      </a:lnTo>
                      <a:cubicBezTo>
                        <a:pt x="7818" y="0"/>
                        <a:pt x="0" y="7818"/>
                        <a:pt x="0" y="17463"/>
                      </a:cubicBezTo>
                      <a:cubicBezTo>
                        <a:pt x="0" y="27107"/>
                        <a:pt x="7818" y="34925"/>
                        <a:pt x="17463" y="34925"/>
                      </a:cubicBezTo>
                      <a:lnTo>
                        <a:pt x="122238" y="34925"/>
                      </a:lnTo>
                      <a:cubicBezTo>
                        <a:pt x="127060" y="34925"/>
                        <a:pt x="130969" y="38834"/>
                        <a:pt x="130969" y="43656"/>
                      </a:cubicBezTo>
                      <a:lnTo>
                        <a:pt x="130969" y="69850"/>
                      </a:lnTo>
                      <a:moveTo>
                        <a:pt x="130969" y="104775"/>
                      </a:moveTo>
                      <a:lnTo>
                        <a:pt x="130969" y="130969"/>
                      </a:lnTo>
                      <a:cubicBezTo>
                        <a:pt x="130969" y="135791"/>
                        <a:pt x="127060" y="139700"/>
                        <a:pt x="122238" y="139700"/>
                      </a:cubicBezTo>
                      <a:lnTo>
                        <a:pt x="17463" y="139700"/>
                      </a:lnTo>
                      <a:cubicBezTo>
                        <a:pt x="7818" y="139700"/>
                        <a:pt x="0" y="131882"/>
                        <a:pt x="0" y="122238"/>
                      </a:cubicBezTo>
                      <a:lnTo>
                        <a:pt x="0" y="17463"/>
                      </a:lnTo>
                    </a:path>
                  </a:pathLst>
                </a:custGeom>
                <a:noFill/>
                <a:ln w="17463">
                  <a:solidFill>
                    <a:srgbClr val="92301C"/>
                  </a:solidFill>
                </a:ln>
              </p:spPr>
            </p:sp>
            <p:sp>
              <p:nvSpPr>
                <p:cNvPr id="61" name="Freeform 61"/>
                <p:cNvSpPr/>
                <p:nvPr/>
              </p:nvSpPr>
              <p:spPr>
                <a:xfrm>
                  <a:off x="407988" y="3914775"/>
                  <a:ext cx="52388" cy="34925"/>
                </a:xfrm>
                <a:custGeom>
                  <a:avLst/>
                  <a:gdLst/>
                  <a:ahLst/>
                  <a:cxnLst/>
                  <a:rect l="l" t="t" r="r" b="b"/>
                  <a:pathLst>
                    <a:path w="52388" h="34925">
                      <a:moveTo>
                        <a:pt x="52388" y="0"/>
                      </a:moveTo>
                      <a:lnTo>
                        <a:pt x="52388" y="34925"/>
                      </a:lnTo>
                      <a:lnTo>
                        <a:pt x="17463" y="34925"/>
                      </a:lnTo>
                      <a:cubicBezTo>
                        <a:pt x="7818" y="34925"/>
                        <a:pt x="0" y="27107"/>
                        <a:pt x="0" y="17463"/>
                      </a:cubicBezTo>
                      <a:cubicBezTo>
                        <a:pt x="0" y="7818"/>
                        <a:pt x="7818" y="0"/>
                        <a:pt x="17463" y="0"/>
                      </a:cubicBezTo>
                      <a:lnTo>
                        <a:pt x="52388" y="0"/>
                      </a:lnTo>
                    </a:path>
                  </a:pathLst>
                </a:custGeom>
                <a:noFill/>
                <a:ln w="17463">
                  <a:solidFill>
                    <a:srgbClr val="92301C"/>
                  </a:solidFill>
                </a:ln>
              </p:spPr>
            </p:sp>
          </p:grpSp>
          <p:sp>
            <p:nvSpPr>
              <p:cNvPr id="63" name="TextBox 63"/>
              <p:cNvSpPr txBox="1"/>
              <p:nvPr/>
            </p:nvSpPr>
            <p:spPr>
              <a:xfrm>
                <a:off x="585788" y="3764518"/>
                <a:ext cx="819937"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账户与产品信息</a:t>
                </a:r>
              </a:p>
            </p:txBody>
          </p:sp>
          <p:grpSp>
            <p:nvGrpSpPr>
              <p:cNvPr id="67" name="Group 67"/>
              <p:cNvGrpSpPr/>
              <p:nvPr/>
            </p:nvGrpSpPr>
            <p:grpSpPr>
              <a:xfrm>
                <a:off x="585788" y="3922157"/>
                <a:ext cx="1464234" cy="364331"/>
                <a:chOff x="585788" y="3922157"/>
                <a:chExt cx="1464234" cy="364331"/>
              </a:xfrm>
            </p:grpSpPr>
            <p:sp>
              <p:nvSpPr>
                <p:cNvPr id="64" name="TextBox 64"/>
                <p:cNvSpPr txBox="1"/>
                <p:nvPr/>
              </p:nvSpPr>
              <p:spPr>
                <a:xfrm>
                  <a:off x="585788" y="3922157"/>
                  <a:ext cx="86113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账户类型与开立时间</a:t>
                  </a:r>
                </a:p>
              </p:txBody>
            </p:sp>
            <p:sp>
              <p:nvSpPr>
                <p:cNvPr id="65" name="TextBox 65"/>
                <p:cNvSpPr txBox="1"/>
                <p:nvPr/>
              </p:nvSpPr>
              <p:spPr>
                <a:xfrm>
                  <a:off x="585788" y="4041219"/>
                  <a:ext cx="1464234"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产品与服务（转账、跨境、消费等）</a:t>
                  </a:r>
                </a:p>
              </p:txBody>
            </p:sp>
            <p:sp>
              <p:nvSpPr>
                <p:cNvPr id="66" name="TextBox 66"/>
                <p:cNvSpPr txBox="1"/>
                <p:nvPr/>
              </p:nvSpPr>
              <p:spPr>
                <a:xfrm>
                  <a:off x="585788" y="416028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渠道使用与历史行为特征</a:t>
                  </a:r>
                </a:p>
              </p:txBody>
            </p:sp>
          </p:grpSp>
        </p:grpSp>
        <p:grpSp>
          <p:nvGrpSpPr>
            <p:cNvPr id="79" name="lc-5"/>
            <p:cNvGrpSpPr/>
            <p:nvPr/>
          </p:nvGrpSpPr>
          <p:grpSpPr>
            <a:xfrm>
              <a:off x="190500" y="4410075"/>
              <a:ext cx="2209800" cy="714375"/>
              <a:chOff x="190500" y="4410075"/>
              <a:chExt cx="2209800" cy="714375"/>
            </a:xfrm>
          </p:grpSpPr>
          <p:sp>
            <p:nvSpPr>
              <p:cNvPr id="69" name="Rectangle 69"/>
              <p:cNvSpPr/>
              <p:nvPr/>
            </p:nvSpPr>
            <p:spPr>
              <a:xfrm>
                <a:off x="190500" y="4410075"/>
                <a:ext cx="2209800" cy="714375"/>
              </a:xfrm>
              <a:prstGeom prst="roundRect">
                <a:avLst>
                  <a:gd name="adj" fmla="val 8000"/>
                </a:avLst>
              </a:prstGeom>
              <a:solidFill>
                <a:srgbClr val="F6F9FD"/>
              </a:solidFill>
              <a:ln w="9525">
                <a:solidFill>
                  <a:srgbClr val="CFDFEE"/>
                </a:solidFill>
              </a:ln>
            </p:spPr>
          </p:sp>
          <p:grpSp>
            <p:nvGrpSpPr>
              <p:cNvPr id="72" name="Group 72"/>
              <p:cNvGrpSpPr/>
              <p:nvPr/>
            </p:nvGrpSpPr>
            <p:grpSpPr>
              <a:xfrm>
                <a:off x="320675" y="4559300"/>
                <a:ext cx="139700" cy="139701"/>
                <a:chOff x="320675" y="4559300"/>
                <a:chExt cx="139700" cy="139701"/>
              </a:xfrm>
            </p:grpSpPr>
            <p:sp>
              <p:nvSpPr>
                <p:cNvPr id="70" name="Freeform 70"/>
                <p:cNvSpPr/>
                <p:nvPr/>
              </p:nvSpPr>
              <p:spPr>
                <a:xfrm>
                  <a:off x="320675" y="4559300"/>
                  <a:ext cx="139700" cy="52388"/>
                </a:xfrm>
                <a:custGeom>
                  <a:avLst/>
                  <a:gdLst/>
                  <a:ahLst/>
                  <a:cxnLst/>
                  <a:rect l="l" t="t" r="r" b="b"/>
                  <a:pathLst>
                    <a:path w="139700" h="52388">
                      <a:moveTo>
                        <a:pt x="139700" y="52388"/>
                      </a:moveTo>
                      <a:lnTo>
                        <a:pt x="0" y="52388"/>
                      </a:lnTo>
                      <a:lnTo>
                        <a:pt x="48022" y="0"/>
                      </a:lnTo>
                    </a:path>
                  </a:pathLst>
                </a:custGeom>
                <a:noFill/>
                <a:ln w="17463">
                  <a:solidFill>
                    <a:srgbClr val="92301C"/>
                  </a:solidFill>
                </a:ln>
              </p:spPr>
            </p:sp>
            <p:sp>
              <p:nvSpPr>
                <p:cNvPr id="71" name="Freeform 71"/>
                <p:cNvSpPr/>
                <p:nvPr/>
              </p:nvSpPr>
              <p:spPr>
                <a:xfrm>
                  <a:off x="320675" y="4646613"/>
                  <a:ext cx="139700" cy="52388"/>
                </a:xfrm>
                <a:custGeom>
                  <a:avLst/>
                  <a:gdLst/>
                  <a:ahLst/>
                  <a:cxnLst/>
                  <a:rect l="l" t="t" r="r" b="b"/>
                  <a:pathLst>
                    <a:path w="139700" h="52388">
                      <a:moveTo>
                        <a:pt x="0" y="0"/>
                      </a:moveTo>
                      <a:lnTo>
                        <a:pt x="139700" y="0"/>
                      </a:lnTo>
                      <a:lnTo>
                        <a:pt x="91678" y="52388"/>
                      </a:lnTo>
                    </a:path>
                  </a:pathLst>
                </a:custGeom>
                <a:noFill/>
                <a:ln w="17463">
                  <a:solidFill>
                    <a:srgbClr val="92301C"/>
                  </a:solidFill>
                </a:ln>
              </p:spPr>
            </p:sp>
          </p:grpSp>
          <p:sp>
            <p:nvSpPr>
              <p:cNvPr id="73" name="TextBox 73"/>
              <p:cNvSpPr txBox="1"/>
              <p:nvPr/>
            </p:nvSpPr>
            <p:spPr>
              <a:xfrm>
                <a:off x="585788" y="4478893"/>
                <a:ext cx="704164"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交易行为数据</a:t>
                </a:r>
              </a:p>
            </p:txBody>
          </p:sp>
          <p:grpSp>
            <p:nvGrpSpPr>
              <p:cNvPr id="78" name="Group 78"/>
              <p:cNvGrpSpPr/>
              <p:nvPr/>
            </p:nvGrpSpPr>
            <p:grpSpPr>
              <a:xfrm>
                <a:off x="585788" y="4636532"/>
                <a:ext cx="1559006" cy="483393"/>
                <a:chOff x="585788" y="4636532"/>
                <a:chExt cx="1559006" cy="483393"/>
              </a:xfrm>
            </p:grpSpPr>
            <p:sp>
              <p:nvSpPr>
                <p:cNvPr id="74" name="TextBox 74"/>
                <p:cNvSpPr txBox="1"/>
                <p:nvPr/>
              </p:nvSpPr>
              <p:spPr>
                <a:xfrm>
                  <a:off x="585788" y="463653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交易金额、频率、对手方</a:t>
                  </a:r>
                </a:p>
              </p:txBody>
            </p:sp>
            <p:sp>
              <p:nvSpPr>
                <p:cNvPr id="75" name="TextBox 75"/>
                <p:cNvSpPr txBox="1"/>
                <p:nvPr/>
              </p:nvSpPr>
              <p:spPr>
                <a:xfrm>
                  <a:off x="585788" y="4755594"/>
                  <a:ext cx="155900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 xml:space="preserve">交易地域与渠道（柜面/网银/手机）　</a:t>
                  </a:r>
                </a:p>
              </p:txBody>
            </p:sp>
            <p:sp>
              <p:nvSpPr>
                <p:cNvPr id="76" name="TextBox 76"/>
                <p:cNvSpPr txBox="1"/>
                <p:nvPr/>
              </p:nvSpPr>
              <p:spPr>
                <a:xfrm>
                  <a:off x="585788" y="4874657"/>
                  <a:ext cx="77497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历史可疑交易记录</a:t>
                  </a:r>
                </a:p>
              </p:txBody>
            </p:sp>
            <p:sp>
              <p:nvSpPr>
                <p:cNvPr id="77" name="TextBox 77"/>
                <p:cNvSpPr txBox="1"/>
                <p:nvPr/>
              </p:nvSpPr>
              <p:spPr>
                <a:xfrm>
                  <a:off x="585788" y="4993719"/>
                  <a:ext cx="129192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疑似交易、可疑交易等特征字段</a:t>
                  </a:r>
                </a:p>
              </p:txBody>
            </p:sp>
          </p:grpSp>
        </p:grpSp>
      </p:grpSp>
      <p:grpSp>
        <p:nvGrpSpPr>
          <p:cNvPr id="178" name="mid-tree"/>
          <p:cNvGrpSpPr/>
          <p:nvPr/>
        </p:nvGrpSpPr>
        <p:grpSpPr>
          <a:xfrm>
            <a:off x="2495550" y="990600"/>
            <a:ext cx="6181725" cy="4152900"/>
            <a:chOff x="2495550" y="990600"/>
            <a:chExt cx="6181725" cy="4152900"/>
          </a:xfrm>
        </p:grpSpPr>
        <p:sp>
          <p:nvSpPr>
            <p:cNvPr id="81" name="Rectangle 81"/>
            <p:cNvSpPr/>
            <p:nvPr/>
          </p:nvSpPr>
          <p:spPr>
            <a:xfrm>
              <a:off x="3143250" y="990600"/>
              <a:ext cx="4895850" cy="419100"/>
            </a:xfrm>
            <a:prstGeom prst="roundRect">
              <a:avLst>
                <a:gd name="adj" fmla="val 13636"/>
              </a:avLst>
            </a:prstGeom>
            <a:solidFill>
              <a:srgbClr val="6B1B0B"/>
            </a:solidFill>
            <a:ln>
              <a:noFill/>
            </a:ln>
          </p:spPr>
        </p:sp>
        <p:grpSp>
          <p:nvGrpSpPr>
            <p:cNvPr id="87" name="Group 87"/>
            <p:cNvGrpSpPr/>
            <p:nvPr/>
          </p:nvGrpSpPr>
          <p:grpSpPr>
            <a:xfrm>
              <a:off x="3378994" y="1121569"/>
              <a:ext cx="157163" cy="157163"/>
              <a:chOff x="3378994" y="1121569"/>
              <a:chExt cx="157163" cy="157163"/>
            </a:xfrm>
          </p:grpSpPr>
          <p:sp>
            <p:nvSpPr>
              <p:cNvPr id="82" name="Freeform 82"/>
              <p:cNvSpPr/>
              <p:nvPr/>
            </p:nvSpPr>
            <p:spPr>
              <a:xfrm>
                <a:off x="3378994" y="1226344"/>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FFFFFF"/>
                </a:solidFill>
              </a:ln>
            </p:spPr>
          </p:sp>
          <p:sp>
            <p:nvSpPr>
              <p:cNvPr id="83" name="Freeform 83"/>
              <p:cNvSpPr/>
              <p:nvPr/>
            </p:nvSpPr>
            <p:spPr>
              <a:xfrm>
                <a:off x="3483769" y="1226344"/>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FFFFFF"/>
                </a:solidFill>
              </a:ln>
            </p:spPr>
          </p:sp>
          <p:sp>
            <p:nvSpPr>
              <p:cNvPr id="84" name="Freeform 84"/>
              <p:cNvSpPr/>
              <p:nvPr/>
            </p:nvSpPr>
            <p:spPr>
              <a:xfrm>
                <a:off x="3431381" y="112156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FFFFFF"/>
                </a:solidFill>
              </a:ln>
            </p:spPr>
          </p:sp>
          <p:sp>
            <p:nvSpPr>
              <p:cNvPr id="85" name="Freeform 85"/>
              <p:cNvSpPr/>
              <p:nvPr/>
            </p:nvSpPr>
            <p:spPr>
              <a:xfrm>
                <a:off x="3405188" y="1200150"/>
                <a:ext cx="104775" cy="26194"/>
              </a:xfrm>
              <a:custGeom>
                <a:avLst/>
                <a:gdLst/>
                <a:ahLst/>
                <a:cxnLst/>
                <a:rect l="l" t="t" r="r" b="b"/>
                <a:pathLst>
                  <a:path w="104775" h="26194">
                    <a:moveTo>
                      <a:pt x="0" y="26194"/>
                    </a:moveTo>
                    <a:lnTo>
                      <a:pt x="0" y="17463"/>
                    </a:lnTo>
                    <a:cubicBezTo>
                      <a:pt x="0" y="7818"/>
                      <a:pt x="7818" y="0"/>
                      <a:pt x="17463" y="0"/>
                    </a:cubicBezTo>
                    <a:lnTo>
                      <a:pt x="87313" y="0"/>
                    </a:lnTo>
                    <a:cubicBezTo>
                      <a:pt x="96957" y="0"/>
                      <a:pt x="104775" y="7818"/>
                      <a:pt x="104775" y="17463"/>
                    </a:cubicBezTo>
                    <a:lnTo>
                      <a:pt x="104775" y="26194"/>
                    </a:lnTo>
                  </a:path>
                </a:pathLst>
              </a:custGeom>
              <a:noFill/>
              <a:ln w="17463">
                <a:solidFill>
                  <a:srgbClr val="FFFFFF"/>
                </a:solidFill>
              </a:ln>
            </p:spPr>
          </p:sp>
          <p:sp>
            <p:nvSpPr>
              <p:cNvPr id="86" name="Freeform 86"/>
              <p:cNvSpPr/>
              <p:nvPr/>
            </p:nvSpPr>
            <p:spPr>
              <a:xfrm>
                <a:off x="3457575" y="1173956"/>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88" name="TextBox 88"/>
            <p:cNvSpPr txBox="1"/>
            <p:nvPr/>
          </p:nvSpPr>
          <p:spPr>
            <a:xfrm>
              <a:off x="3671697" y="1056799"/>
              <a:ext cx="106532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反洗钱监测场景树</a:t>
              </a:r>
            </a:p>
          </p:txBody>
        </p:sp>
        <p:sp>
          <p:nvSpPr>
            <p:cNvPr id="89" name="TextBox 89"/>
            <p:cNvSpPr txBox="1"/>
            <p:nvPr/>
          </p:nvSpPr>
          <p:spPr>
            <a:xfrm>
              <a:off x="3671888" y="1256586"/>
              <a:ext cx="2494610" cy="140494"/>
            </a:xfrm>
            <a:prstGeom prst="rect">
              <a:avLst/>
            </a:prstGeom>
            <a:noFill/>
            <a:ln>
              <a:noFill/>
            </a:ln>
          </p:spPr>
          <p:txBody>
            <a:bodyPr wrap="none" lIns="0" tIns="0" rIns="0" bIns="0" anchor="t" anchorCtr="0">
              <a:spAutoFit/>
            </a:bodyPr>
            <a:lstStyle/>
            <a:p>
              <a:pPr algn="l"/>
              <a:r>
                <a:rPr lang="zh-CN" sz="710" dirty="0">
                  <a:solidFill>
                    <a:srgbClr val="D6E6F3"/>
                  </a:solidFill>
                  <a:latin typeface="+mn-lt"/>
                  <a:ea typeface="+mn-ea"/>
                  <a:cs typeface="+mn-cs"/>
                </a:rPr>
                <a:t>基于规则＋机器学习＋图谱分析，识别可疑交易与行为模式</a:t>
              </a:r>
            </a:p>
          </p:txBody>
        </p:sp>
        <p:sp>
          <p:nvSpPr>
            <p:cNvPr id="90" name="Line 90"/>
            <p:cNvSpPr/>
            <p:nvPr/>
          </p:nvSpPr>
          <p:spPr>
            <a:xfrm>
              <a:off x="5591175" y="1409700"/>
              <a:ext cx="9525" cy="95250"/>
            </a:xfrm>
            <a:custGeom>
              <a:avLst/>
              <a:gdLst/>
              <a:ahLst/>
              <a:cxnLst/>
              <a:rect l="l" t="t" r="r" b="b"/>
              <a:pathLst>
                <a:path w="9525" h="95250">
                  <a:moveTo>
                    <a:pt x="0" y="0"/>
                  </a:moveTo>
                  <a:lnTo>
                    <a:pt x="0" y="95250"/>
                  </a:lnTo>
                </a:path>
              </a:pathLst>
            </a:custGeom>
            <a:noFill/>
            <a:ln w="11430">
              <a:solidFill>
                <a:srgbClr val="D2A89F"/>
              </a:solidFill>
            </a:ln>
          </p:spPr>
        </p:sp>
        <p:sp>
          <p:nvSpPr>
            <p:cNvPr id="91" name="Line 91"/>
            <p:cNvSpPr/>
            <p:nvPr/>
          </p:nvSpPr>
          <p:spPr>
            <a:xfrm>
              <a:off x="3228975" y="1504950"/>
              <a:ext cx="4714875" cy="9525"/>
            </a:xfrm>
            <a:custGeom>
              <a:avLst/>
              <a:gdLst/>
              <a:ahLst/>
              <a:cxnLst/>
              <a:rect l="l" t="t" r="r" b="b"/>
              <a:pathLst>
                <a:path w="4714875" h="9525">
                  <a:moveTo>
                    <a:pt x="0" y="0"/>
                  </a:moveTo>
                  <a:lnTo>
                    <a:pt x="4714875" y="0"/>
                  </a:lnTo>
                </a:path>
              </a:pathLst>
            </a:custGeom>
            <a:noFill/>
            <a:ln w="11430">
              <a:solidFill>
                <a:srgbClr val="D2A89F"/>
              </a:solidFill>
            </a:ln>
          </p:spPr>
        </p:sp>
        <p:sp>
          <p:nvSpPr>
            <p:cNvPr id="92" name="Line 92"/>
            <p:cNvSpPr/>
            <p:nvPr/>
          </p:nvSpPr>
          <p:spPr>
            <a:xfrm>
              <a:off x="3228975" y="1504950"/>
              <a:ext cx="9525" cy="76200"/>
            </a:xfrm>
            <a:custGeom>
              <a:avLst/>
              <a:gdLst/>
              <a:ahLst/>
              <a:cxnLst/>
              <a:rect l="l" t="t" r="r" b="b"/>
              <a:pathLst>
                <a:path w="9525" h="76200">
                  <a:moveTo>
                    <a:pt x="0" y="0"/>
                  </a:moveTo>
                  <a:lnTo>
                    <a:pt x="0" y="76200"/>
                  </a:lnTo>
                </a:path>
              </a:pathLst>
            </a:custGeom>
            <a:noFill/>
            <a:ln w="11430">
              <a:solidFill>
                <a:srgbClr val="D2A89F"/>
              </a:solidFill>
            </a:ln>
          </p:spPr>
        </p:sp>
        <p:sp>
          <p:nvSpPr>
            <p:cNvPr id="93" name="Line 93"/>
            <p:cNvSpPr/>
            <p:nvPr/>
          </p:nvSpPr>
          <p:spPr>
            <a:xfrm>
              <a:off x="4800600" y="1504950"/>
              <a:ext cx="9525" cy="76200"/>
            </a:xfrm>
            <a:custGeom>
              <a:avLst/>
              <a:gdLst/>
              <a:ahLst/>
              <a:cxnLst/>
              <a:rect l="l" t="t" r="r" b="b"/>
              <a:pathLst>
                <a:path w="9525" h="76200">
                  <a:moveTo>
                    <a:pt x="0" y="0"/>
                  </a:moveTo>
                  <a:lnTo>
                    <a:pt x="0" y="76200"/>
                  </a:lnTo>
                </a:path>
              </a:pathLst>
            </a:custGeom>
            <a:noFill/>
            <a:ln w="11430">
              <a:solidFill>
                <a:srgbClr val="D2A89F"/>
              </a:solidFill>
            </a:ln>
          </p:spPr>
        </p:sp>
        <p:sp>
          <p:nvSpPr>
            <p:cNvPr id="94" name="Line 94"/>
            <p:cNvSpPr/>
            <p:nvPr/>
          </p:nvSpPr>
          <p:spPr>
            <a:xfrm>
              <a:off x="6372225" y="1504950"/>
              <a:ext cx="9525" cy="76200"/>
            </a:xfrm>
            <a:custGeom>
              <a:avLst/>
              <a:gdLst/>
              <a:ahLst/>
              <a:cxnLst/>
              <a:rect l="l" t="t" r="r" b="b"/>
              <a:pathLst>
                <a:path w="9525" h="76200">
                  <a:moveTo>
                    <a:pt x="0" y="0"/>
                  </a:moveTo>
                  <a:lnTo>
                    <a:pt x="0" y="76200"/>
                  </a:lnTo>
                </a:path>
              </a:pathLst>
            </a:custGeom>
            <a:noFill/>
            <a:ln w="11430">
              <a:solidFill>
                <a:srgbClr val="D2A89F"/>
              </a:solidFill>
            </a:ln>
          </p:spPr>
        </p:sp>
        <p:sp>
          <p:nvSpPr>
            <p:cNvPr id="95" name="Line 95"/>
            <p:cNvSpPr/>
            <p:nvPr/>
          </p:nvSpPr>
          <p:spPr>
            <a:xfrm>
              <a:off x="7943850" y="1504950"/>
              <a:ext cx="9525" cy="76200"/>
            </a:xfrm>
            <a:custGeom>
              <a:avLst/>
              <a:gdLst/>
              <a:ahLst/>
              <a:cxnLst/>
              <a:rect l="l" t="t" r="r" b="b"/>
              <a:pathLst>
                <a:path w="9525" h="76200">
                  <a:moveTo>
                    <a:pt x="0" y="0"/>
                  </a:moveTo>
                  <a:lnTo>
                    <a:pt x="0" y="76200"/>
                  </a:lnTo>
                </a:path>
              </a:pathLst>
            </a:custGeom>
            <a:noFill/>
            <a:ln w="11430">
              <a:solidFill>
                <a:srgbClr val="D2A89F"/>
              </a:solidFill>
            </a:ln>
          </p:spPr>
        </p:sp>
        <p:grpSp>
          <p:nvGrpSpPr>
            <p:cNvPr id="112" name="mt-branch-1"/>
            <p:cNvGrpSpPr/>
            <p:nvPr/>
          </p:nvGrpSpPr>
          <p:grpSpPr>
            <a:xfrm>
              <a:off x="2495550" y="1581150"/>
              <a:ext cx="1466850" cy="3562350"/>
              <a:chOff x="2495550" y="1581150"/>
              <a:chExt cx="1466850" cy="3562350"/>
            </a:xfrm>
          </p:grpSpPr>
          <p:sp>
            <p:nvSpPr>
              <p:cNvPr id="96" name="Rectangle 96"/>
              <p:cNvSpPr/>
              <p:nvPr/>
            </p:nvSpPr>
            <p:spPr>
              <a:xfrm>
                <a:off x="2495550" y="1581150"/>
                <a:ext cx="1466850" cy="3562350"/>
              </a:xfrm>
              <a:prstGeom prst="roundRect">
                <a:avLst>
                  <a:gd name="adj" fmla="val 3896"/>
                </a:avLst>
              </a:prstGeom>
              <a:solidFill>
                <a:srgbClr val="F6F9FD"/>
              </a:solidFill>
              <a:ln w="9525">
                <a:solidFill>
                  <a:srgbClr val="CFDFEE"/>
                </a:solidFill>
              </a:ln>
            </p:spPr>
          </p:sp>
          <p:sp>
            <p:nvSpPr>
              <p:cNvPr id="97" name="Ellipse 97"/>
              <p:cNvSpPr/>
              <p:nvPr/>
            </p:nvSpPr>
            <p:spPr>
              <a:xfrm>
                <a:off x="3095625" y="1695450"/>
                <a:ext cx="266700" cy="266700"/>
              </a:xfrm>
              <a:prstGeom prst="ellipse">
                <a:avLst/>
              </a:prstGeom>
              <a:solidFill>
                <a:srgbClr val="EEF5FB"/>
              </a:solidFill>
              <a:ln w="9525">
                <a:solidFill>
                  <a:srgbClr val="92301C"/>
                </a:solidFill>
              </a:ln>
            </p:spPr>
          </p:sp>
          <p:sp>
            <p:nvSpPr>
              <p:cNvPr id="98" name="Freeform 98"/>
              <p:cNvSpPr/>
              <p:nvPr/>
            </p:nvSpPr>
            <p:spPr>
              <a:xfrm>
                <a:off x="3178493" y="1778176"/>
                <a:ext cx="103947" cy="106442"/>
              </a:xfrm>
              <a:custGeom>
                <a:avLst/>
                <a:gdLst/>
                <a:ahLst/>
                <a:cxnLst/>
                <a:rect l="l" t="t" r="r" b="b"/>
                <a:pathLst>
                  <a:path w="103947" h="106442">
                    <a:moveTo>
                      <a:pt x="0" y="44274"/>
                    </a:moveTo>
                    <a:cubicBezTo>
                      <a:pt x="3322" y="18929"/>
                      <a:pt x="24959" y="0"/>
                      <a:pt x="50521" y="76"/>
                    </a:cubicBezTo>
                    <a:cubicBezTo>
                      <a:pt x="76083" y="153"/>
                      <a:pt x="97606" y="19211"/>
                      <a:pt x="100777" y="44575"/>
                    </a:cubicBezTo>
                    <a:cubicBezTo>
                      <a:pt x="103947" y="69940"/>
                      <a:pt x="87777" y="93709"/>
                      <a:pt x="63021" y="100076"/>
                    </a:cubicBezTo>
                    <a:cubicBezTo>
                      <a:pt x="38265" y="106442"/>
                      <a:pt x="12634" y="93421"/>
                      <a:pt x="3175" y="69674"/>
                    </a:cubicBezTo>
                    <a:moveTo>
                      <a:pt x="0" y="101424"/>
                    </a:moveTo>
                    <a:lnTo>
                      <a:pt x="0" y="69674"/>
                    </a:lnTo>
                    <a:lnTo>
                      <a:pt x="31750" y="69674"/>
                    </a:lnTo>
                  </a:path>
                </a:pathLst>
              </a:custGeom>
              <a:noFill/>
              <a:ln w="12700">
                <a:solidFill>
                  <a:srgbClr val="92301C"/>
                </a:solidFill>
              </a:ln>
            </p:spPr>
          </p:sp>
          <p:sp>
            <p:nvSpPr>
              <p:cNvPr id="99" name="TextBox 99"/>
              <p:cNvSpPr txBox="1"/>
              <p:nvPr/>
            </p:nvSpPr>
            <p:spPr>
              <a:xfrm>
                <a:off x="2876893" y="2040493"/>
                <a:ext cx="704164" cy="169069"/>
              </a:xfrm>
              <a:prstGeom prst="rect">
                <a:avLst/>
              </a:prstGeom>
              <a:noFill/>
              <a:ln>
                <a:noFill/>
              </a:ln>
            </p:spPr>
            <p:txBody>
              <a:bodyPr wrap="none" lIns="0" tIns="0" rIns="0" bIns="0" anchor="t" anchorCtr="0">
                <a:spAutoFit/>
              </a:bodyPr>
              <a:lstStyle/>
              <a:p>
                <a:pPr algn="ctr"/>
                <a:r>
                  <a:rPr lang="zh-CN" sz="860" b="1" dirty="0">
                    <a:solidFill>
                      <a:srgbClr val="6B1B0B"/>
                    </a:solidFill>
                    <a:latin typeface="+mn-lt"/>
                    <a:ea typeface="+mn-ea"/>
                    <a:cs typeface="+mn-cs"/>
                  </a:rPr>
                  <a:t>异常资金回流</a:t>
                </a:r>
              </a:p>
            </p:txBody>
          </p:sp>
          <p:grpSp>
            <p:nvGrpSpPr>
              <p:cNvPr id="107" name="Group 107"/>
              <p:cNvGrpSpPr/>
              <p:nvPr/>
            </p:nvGrpSpPr>
            <p:grpSpPr>
              <a:xfrm>
                <a:off x="2566988" y="2259330"/>
                <a:ext cx="1135761" cy="804862"/>
                <a:chOff x="2566988" y="2259330"/>
                <a:chExt cx="1135761" cy="804862"/>
              </a:xfrm>
            </p:grpSpPr>
            <p:sp>
              <p:nvSpPr>
                <p:cNvPr id="100" name="TextBox 100"/>
                <p:cNvSpPr txBox="1"/>
                <p:nvPr/>
              </p:nvSpPr>
              <p:spPr>
                <a:xfrm>
                  <a:off x="2566988" y="2259330"/>
                  <a:ext cx="81267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相同资金分多笔转出</a:t>
                  </a:r>
                </a:p>
              </p:txBody>
            </p:sp>
            <p:sp>
              <p:nvSpPr>
                <p:cNvPr id="101" name="TextBox 101"/>
                <p:cNvSpPr txBox="1"/>
                <p:nvPr/>
              </p:nvSpPr>
              <p:spPr>
                <a:xfrm>
                  <a:off x="2624138" y="2373630"/>
                  <a:ext cx="817245"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账户分开后回流原账户</a:t>
                  </a:r>
                </a:p>
              </p:txBody>
            </p:sp>
            <p:sp>
              <p:nvSpPr>
                <p:cNvPr id="102" name="TextBox 102"/>
                <p:cNvSpPr txBox="1"/>
                <p:nvPr/>
              </p:nvSpPr>
              <p:spPr>
                <a:xfrm>
                  <a:off x="2566988" y="2487930"/>
                  <a:ext cx="731901"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同一资金多次进出</a:t>
                  </a:r>
                </a:p>
              </p:txBody>
            </p:sp>
            <p:sp>
              <p:nvSpPr>
                <p:cNvPr id="103" name="TextBox 103"/>
                <p:cNvSpPr txBox="1"/>
                <p:nvPr/>
              </p:nvSpPr>
              <p:spPr>
                <a:xfrm>
                  <a:off x="2566988" y="2602230"/>
                  <a:ext cx="1135761"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短期内回流比例高或关联账户</a:t>
                  </a:r>
                </a:p>
              </p:txBody>
            </p:sp>
            <p:sp>
              <p:nvSpPr>
                <p:cNvPr id="104" name="TextBox 104"/>
                <p:cNvSpPr txBox="1"/>
                <p:nvPr/>
              </p:nvSpPr>
              <p:spPr>
                <a:xfrm>
                  <a:off x="2566988" y="2716530"/>
                  <a:ext cx="1054989"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与交易背景不符的资金往来</a:t>
                  </a:r>
                </a:p>
              </p:txBody>
            </p:sp>
            <p:sp>
              <p:nvSpPr>
                <p:cNvPr id="105" name="TextBox 105"/>
                <p:cNvSpPr txBox="1"/>
                <p:nvPr/>
              </p:nvSpPr>
              <p:spPr>
                <a:xfrm>
                  <a:off x="2566988" y="2830830"/>
                  <a:ext cx="57035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资金快进快出</a:t>
                  </a:r>
                </a:p>
              </p:txBody>
            </p:sp>
            <p:sp>
              <p:nvSpPr>
                <p:cNvPr id="106" name="TextBox 106"/>
                <p:cNvSpPr txBox="1"/>
                <p:nvPr/>
              </p:nvSpPr>
              <p:spPr>
                <a:xfrm>
                  <a:off x="2566988" y="2945130"/>
                  <a:ext cx="1054989"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与高风险地区资金存在关联</a:t>
                  </a:r>
                </a:p>
              </p:txBody>
            </p:sp>
          </p:grpSp>
          <p:sp>
            <p:nvSpPr>
              <p:cNvPr id="108" name="Rectangle 108"/>
              <p:cNvSpPr/>
              <p:nvPr/>
            </p:nvSpPr>
            <p:spPr>
              <a:xfrm>
                <a:off x="2571750" y="4438650"/>
                <a:ext cx="1314450" cy="590550"/>
              </a:xfrm>
              <a:prstGeom prst="roundRect">
                <a:avLst>
                  <a:gd name="adj" fmla="val 6452"/>
                </a:avLst>
              </a:prstGeom>
              <a:solidFill>
                <a:srgbClr val="EEF5FB"/>
              </a:solidFill>
              <a:ln>
                <a:noFill/>
              </a:ln>
            </p:spPr>
          </p:sp>
          <p:sp>
            <p:nvSpPr>
              <p:cNvPr id="109" name="TextBox 109"/>
              <p:cNvSpPr txBox="1"/>
              <p:nvPr/>
            </p:nvSpPr>
            <p:spPr>
              <a:xfrm>
                <a:off x="2643188" y="4518184"/>
                <a:ext cx="375691" cy="133350"/>
              </a:xfrm>
              <a:prstGeom prst="rect">
                <a:avLst/>
              </a:prstGeom>
              <a:noFill/>
              <a:ln>
                <a:noFill/>
              </a:ln>
            </p:spPr>
            <p:txBody>
              <a:bodyPr wrap="none" lIns="0" tIns="0" rIns="0" bIns="0" anchor="t" anchorCtr="0">
                <a:spAutoFit/>
              </a:bodyPr>
              <a:lstStyle/>
              <a:p>
                <a:pPr algn="l"/>
                <a:r>
                  <a:rPr lang="zh-CN" sz="680" b="1" dirty="0">
                    <a:solidFill>
                      <a:srgbClr val="92301C"/>
                    </a:solidFill>
                    <a:latin typeface="+mn-lt"/>
                    <a:ea typeface="+mn-ea"/>
                    <a:cs typeface="+mn-cs"/>
                  </a:rPr>
                  <a:t>示例规则</a:t>
                </a:r>
              </a:p>
            </p:txBody>
          </p:sp>
          <p:sp>
            <p:nvSpPr>
              <p:cNvPr id="110" name="TextBox 110"/>
              <p:cNvSpPr txBox="1"/>
              <p:nvPr/>
            </p:nvSpPr>
            <p:spPr>
              <a:xfrm>
                <a:off x="2643188" y="4673203"/>
                <a:ext cx="847258"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 xml:space="preserve">转入金额后30日内回流　</a:t>
                </a:r>
              </a:p>
            </p:txBody>
          </p:sp>
          <p:sp>
            <p:nvSpPr>
              <p:cNvPr id="111" name="TextBox 111"/>
              <p:cNvSpPr txBox="1"/>
              <p:nvPr/>
            </p:nvSpPr>
            <p:spPr>
              <a:xfrm>
                <a:off x="2643188" y="4797028"/>
                <a:ext cx="688010"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n-lt"/>
                    <a:ea typeface="+mn-ea"/>
                    <a:cs typeface="+mn-cs"/>
                  </a:rPr>
                  <a:t>且与原路径相似度高</a:t>
                </a:r>
              </a:p>
            </p:txBody>
          </p:sp>
        </p:grpSp>
        <p:grpSp>
          <p:nvGrpSpPr>
            <p:cNvPr id="131" name="mt-branch-2"/>
            <p:cNvGrpSpPr/>
            <p:nvPr/>
          </p:nvGrpSpPr>
          <p:grpSpPr>
            <a:xfrm>
              <a:off x="4067175" y="1581150"/>
              <a:ext cx="1466850" cy="3562350"/>
              <a:chOff x="4067175" y="1581150"/>
              <a:chExt cx="1466850" cy="3562350"/>
            </a:xfrm>
          </p:grpSpPr>
          <p:sp>
            <p:nvSpPr>
              <p:cNvPr id="113" name="Rectangle 113"/>
              <p:cNvSpPr/>
              <p:nvPr/>
            </p:nvSpPr>
            <p:spPr>
              <a:xfrm>
                <a:off x="4067175" y="1581150"/>
                <a:ext cx="1466850" cy="3562350"/>
              </a:xfrm>
              <a:prstGeom prst="roundRect">
                <a:avLst>
                  <a:gd name="adj" fmla="val 3896"/>
                </a:avLst>
              </a:prstGeom>
              <a:solidFill>
                <a:srgbClr val="F6F9FD"/>
              </a:solidFill>
              <a:ln w="9525">
                <a:solidFill>
                  <a:srgbClr val="CFDFEE"/>
                </a:solidFill>
              </a:ln>
            </p:spPr>
          </p:sp>
          <p:sp>
            <p:nvSpPr>
              <p:cNvPr id="114" name="Ellipse 114"/>
              <p:cNvSpPr/>
              <p:nvPr/>
            </p:nvSpPr>
            <p:spPr>
              <a:xfrm>
                <a:off x="4667250" y="1695450"/>
                <a:ext cx="266700" cy="266700"/>
              </a:xfrm>
              <a:prstGeom prst="ellipse">
                <a:avLst/>
              </a:prstGeom>
              <a:solidFill>
                <a:srgbClr val="EEF5FB"/>
              </a:solidFill>
              <a:ln w="9525">
                <a:solidFill>
                  <a:srgbClr val="92301C"/>
                </a:solidFill>
              </a:ln>
            </p:spPr>
          </p:sp>
          <p:grpSp>
            <p:nvGrpSpPr>
              <p:cNvPr id="117" name="Group 117"/>
              <p:cNvGrpSpPr/>
              <p:nvPr/>
            </p:nvGrpSpPr>
            <p:grpSpPr>
              <a:xfrm>
                <a:off x="4749800" y="1778000"/>
                <a:ext cx="101600" cy="101600"/>
                <a:chOff x="4749800" y="1778000"/>
                <a:chExt cx="101600" cy="101600"/>
              </a:xfrm>
            </p:grpSpPr>
            <p:sp>
              <p:nvSpPr>
                <p:cNvPr id="115" name="Freeform 115"/>
                <p:cNvSpPr/>
                <p:nvPr/>
              </p:nvSpPr>
              <p:spPr>
                <a:xfrm>
                  <a:off x="4749800" y="1778000"/>
                  <a:ext cx="101600" cy="38100"/>
                </a:xfrm>
                <a:custGeom>
                  <a:avLst/>
                  <a:gdLst/>
                  <a:ahLst/>
                  <a:cxnLst/>
                  <a:rect l="l" t="t" r="r" b="b"/>
                  <a:pathLst>
                    <a:path w="101600" h="38100">
                      <a:moveTo>
                        <a:pt x="101600" y="38100"/>
                      </a:moveTo>
                      <a:lnTo>
                        <a:pt x="0" y="38100"/>
                      </a:lnTo>
                      <a:lnTo>
                        <a:pt x="34925" y="0"/>
                      </a:lnTo>
                    </a:path>
                  </a:pathLst>
                </a:custGeom>
                <a:noFill/>
                <a:ln w="12700">
                  <a:solidFill>
                    <a:srgbClr val="92301C"/>
                  </a:solidFill>
                </a:ln>
              </p:spPr>
            </p:sp>
            <p:sp>
              <p:nvSpPr>
                <p:cNvPr id="116" name="Freeform 116"/>
                <p:cNvSpPr/>
                <p:nvPr/>
              </p:nvSpPr>
              <p:spPr>
                <a:xfrm>
                  <a:off x="4749800" y="1841500"/>
                  <a:ext cx="101600" cy="38100"/>
                </a:xfrm>
                <a:custGeom>
                  <a:avLst/>
                  <a:gdLst/>
                  <a:ahLst/>
                  <a:cxnLst/>
                  <a:rect l="l" t="t" r="r" b="b"/>
                  <a:pathLst>
                    <a:path w="101600" h="38100">
                      <a:moveTo>
                        <a:pt x="0" y="0"/>
                      </a:moveTo>
                      <a:lnTo>
                        <a:pt x="101600" y="0"/>
                      </a:lnTo>
                      <a:lnTo>
                        <a:pt x="66675" y="38100"/>
                      </a:lnTo>
                    </a:path>
                  </a:pathLst>
                </a:custGeom>
                <a:noFill/>
                <a:ln w="12700">
                  <a:solidFill>
                    <a:srgbClr val="92301C"/>
                  </a:solidFill>
                </a:ln>
              </p:spPr>
            </p:sp>
          </p:grpSp>
          <p:sp>
            <p:nvSpPr>
              <p:cNvPr id="118" name="TextBox 118"/>
              <p:cNvSpPr txBox="1"/>
              <p:nvPr/>
            </p:nvSpPr>
            <p:spPr>
              <a:xfrm>
                <a:off x="4332745" y="2040493"/>
                <a:ext cx="935711" cy="169069"/>
              </a:xfrm>
              <a:prstGeom prst="rect">
                <a:avLst/>
              </a:prstGeom>
              <a:noFill/>
              <a:ln>
                <a:noFill/>
              </a:ln>
            </p:spPr>
            <p:txBody>
              <a:bodyPr wrap="none" lIns="0" tIns="0" rIns="0" bIns="0" anchor="t" anchorCtr="0">
                <a:spAutoFit/>
              </a:bodyPr>
              <a:lstStyle/>
              <a:p>
                <a:pPr algn="ctr"/>
                <a:r>
                  <a:rPr lang="zh-CN" sz="860" b="1" dirty="0">
                    <a:solidFill>
                      <a:srgbClr val="6B1B0B"/>
                    </a:solidFill>
                    <a:latin typeface="+mn-lt"/>
                    <a:ea typeface="+mn-ea"/>
                    <a:cs typeface="+mn-cs"/>
                  </a:rPr>
                  <a:t>分散转入集中转出</a:t>
                </a:r>
              </a:p>
            </p:txBody>
          </p:sp>
          <p:grpSp>
            <p:nvGrpSpPr>
              <p:cNvPr id="126" name="Group 126"/>
              <p:cNvGrpSpPr/>
              <p:nvPr/>
            </p:nvGrpSpPr>
            <p:grpSpPr>
              <a:xfrm>
                <a:off x="4138612" y="2259330"/>
                <a:ext cx="974217" cy="804862"/>
                <a:chOff x="4138612" y="2259330"/>
                <a:chExt cx="974217" cy="804862"/>
              </a:xfrm>
            </p:grpSpPr>
            <p:sp>
              <p:nvSpPr>
                <p:cNvPr id="119" name="TextBox 119"/>
                <p:cNvSpPr txBox="1"/>
                <p:nvPr/>
              </p:nvSpPr>
              <p:spPr>
                <a:xfrm>
                  <a:off x="4138612" y="2259330"/>
                  <a:ext cx="97421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多个人账户分散小额转入</a:t>
                  </a:r>
                </a:p>
              </p:txBody>
            </p:sp>
            <p:sp>
              <p:nvSpPr>
                <p:cNvPr id="120" name="TextBox 120"/>
                <p:cNvSpPr txBox="1"/>
                <p:nvPr/>
              </p:nvSpPr>
              <p:spPr>
                <a:xfrm>
                  <a:off x="4138612" y="2373630"/>
                  <a:ext cx="893445"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短期内归集到同一账户</a:t>
                  </a:r>
                </a:p>
              </p:txBody>
            </p:sp>
            <p:sp>
              <p:nvSpPr>
                <p:cNvPr id="121" name="TextBox 121"/>
                <p:cNvSpPr txBox="1"/>
                <p:nvPr/>
              </p:nvSpPr>
              <p:spPr>
                <a:xfrm>
                  <a:off x="4195762" y="2487930"/>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集中转出</a:t>
                  </a:r>
                </a:p>
              </p:txBody>
            </p:sp>
            <p:sp>
              <p:nvSpPr>
                <p:cNvPr id="122" name="TextBox 122"/>
                <p:cNvSpPr txBox="1"/>
                <p:nvPr/>
              </p:nvSpPr>
              <p:spPr>
                <a:xfrm>
                  <a:off x="4138612" y="2602230"/>
                  <a:ext cx="893445"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与账户经营范围不匹配</a:t>
                  </a:r>
                </a:p>
              </p:txBody>
            </p:sp>
            <p:sp>
              <p:nvSpPr>
                <p:cNvPr id="123" name="TextBox 123"/>
                <p:cNvSpPr txBox="1"/>
                <p:nvPr/>
              </p:nvSpPr>
              <p:spPr>
                <a:xfrm>
                  <a:off x="4138612" y="2716530"/>
                  <a:ext cx="893445"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资金快进快出多道流转</a:t>
                  </a:r>
                </a:p>
              </p:txBody>
            </p:sp>
            <p:sp>
              <p:nvSpPr>
                <p:cNvPr id="124" name="TextBox 124"/>
                <p:cNvSpPr txBox="1"/>
                <p:nvPr/>
              </p:nvSpPr>
              <p:spPr>
                <a:xfrm>
                  <a:off x="4138612" y="2830830"/>
                  <a:ext cx="81267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可利用过渡账户来源</a:t>
                  </a:r>
                </a:p>
              </p:txBody>
            </p:sp>
            <p:sp>
              <p:nvSpPr>
                <p:cNvPr id="125" name="TextBox 125"/>
                <p:cNvSpPr txBox="1"/>
                <p:nvPr/>
              </p:nvSpPr>
              <p:spPr>
                <a:xfrm>
                  <a:off x="4195762" y="2945130"/>
                  <a:ext cx="57492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或进行分层转移</a:t>
                  </a:r>
                </a:p>
              </p:txBody>
            </p:sp>
          </p:grpSp>
          <p:sp>
            <p:nvSpPr>
              <p:cNvPr id="127" name="Rectangle 127"/>
              <p:cNvSpPr/>
              <p:nvPr/>
            </p:nvSpPr>
            <p:spPr>
              <a:xfrm>
                <a:off x="4143375" y="4438650"/>
                <a:ext cx="1314450" cy="590550"/>
              </a:xfrm>
              <a:prstGeom prst="roundRect">
                <a:avLst>
                  <a:gd name="adj" fmla="val 6452"/>
                </a:avLst>
              </a:prstGeom>
              <a:solidFill>
                <a:srgbClr val="EEF5FB"/>
              </a:solidFill>
              <a:ln>
                <a:noFill/>
              </a:ln>
            </p:spPr>
          </p:sp>
          <p:sp>
            <p:nvSpPr>
              <p:cNvPr id="128" name="TextBox 128"/>
              <p:cNvSpPr txBox="1"/>
              <p:nvPr/>
            </p:nvSpPr>
            <p:spPr>
              <a:xfrm>
                <a:off x="4214812" y="4518184"/>
                <a:ext cx="375691" cy="133350"/>
              </a:xfrm>
              <a:prstGeom prst="rect">
                <a:avLst/>
              </a:prstGeom>
              <a:noFill/>
              <a:ln>
                <a:noFill/>
              </a:ln>
            </p:spPr>
            <p:txBody>
              <a:bodyPr wrap="none" lIns="0" tIns="0" rIns="0" bIns="0" anchor="t" anchorCtr="0">
                <a:spAutoFit/>
              </a:bodyPr>
              <a:lstStyle/>
              <a:p>
                <a:pPr algn="l"/>
                <a:r>
                  <a:rPr lang="zh-CN" sz="680" b="1" dirty="0">
                    <a:solidFill>
                      <a:srgbClr val="92301C"/>
                    </a:solidFill>
                    <a:latin typeface="+mn-lt"/>
                    <a:ea typeface="+mn-ea"/>
                    <a:cs typeface="+mn-cs"/>
                  </a:rPr>
                  <a:t>示例规则</a:t>
                </a:r>
              </a:p>
            </p:txBody>
          </p:sp>
          <p:sp>
            <p:nvSpPr>
              <p:cNvPr id="129" name="TextBox 129"/>
              <p:cNvSpPr txBox="1"/>
              <p:nvPr/>
            </p:nvSpPr>
            <p:spPr>
              <a:xfrm>
                <a:off x="4214812" y="4673203"/>
                <a:ext cx="1039405"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 xml:space="preserve">7日内≥5个不同对手方转入，　</a:t>
                </a:r>
              </a:p>
            </p:txBody>
          </p:sp>
          <p:sp>
            <p:nvSpPr>
              <p:cNvPr id="130" name="TextBox 130"/>
              <p:cNvSpPr txBox="1"/>
              <p:nvPr/>
            </p:nvSpPr>
            <p:spPr>
              <a:xfrm>
                <a:off x="4214812" y="4797028"/>
                <a:ext cx="880247"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n-lt"/>
                    <a:ea typeface="+mn-ea"/>
                    <a:cs typeface="+mn-cs"/>
                  </a:rPr>
                  <a:t>随后向1个对手方集中转出</a:t>
                </a:r>
              </a:p>
            </p:txBody>
          </p:sp>
        </p:grpSp>
        <p:grpSp>
          <p:nvGrpSpPr>
            <p:cNvPr id="152" name="mt-branch-3"/>
            <p:cNvGrpSpPr/>
            <p:nvPr/>
          </p:nvGrpSpPr>
          <p:grpSpPr>
            <a:xfrm>
              <a:off x="5638800" y="1581150"/>
              <a:ext cx="1466850" cy="3562350"/>
              <a:chOff x="5638800" y="1581150"/>
              <a:chExt cx="1466850" cy="3562350"/>
            </a:xfrm>
          </p:grpSpPr>
          <p:sp>
            <p:nvSpPr>
              <p:cNvPr id="132" name="Rectangle 132"/>
              <p:cNvSpPr/>
              <p:nvPr/>
            </p:nvSpPr>
            <p:spPr>
              <a:xfrm>
                <a:off x="5638800" y="1581150"/>
                <a:ext cx="1466850" cy="3562350"/>
              </a:xfrm>
              <a:prstGeom prst="roundRect">
                <a:avLst>
                  <a:gd name="adj" fmla="val 3896"/>
                </a:avLst>
              </a:prstGeom>
              <a:solidFill>
                <a:srgbClr val="F6F9FD"/>
              </a:solidFill>
              <a:ln w="9525">
                <a:solidFill>
                  <a:srgbClr val="CFDFEE"/>
                </a:solidFill>
              </a:ln>
            </p:spPr>
          </p:sp>
          <p:sp>
            <p:nvSpPr>
              <p:cNvPr id="133" name="Ellipse 133"/>
              <p:cNvSpPr/>
              <p:nvPr/>
            </p:nvSpPr>
            <p:spPr>
              <a:xfrm>
                <a:off x="6238875" y="1695450"/>
                <a:ext cx="266700" cy="266700"/>
              </a:xfrm>
              <a:prstGeom prst="ellipse">
                <a:avLst/>
              </a:prstGeom>
              <a:solidFill>
                <a:srgbClr val="EEF5FB"/>
              </a:solidFill>
              <a:ln w="9525">
                <a:solidFill>
                  <a:srgbClr val="92301C"/>
                </a:solidFill>
              </a:ln>
            </p:spPr>
          </p:sp>
          <p:grpSp>
            <p:nvGrpSpPr>
              <p:cNvPr id="139" name="Group 139"/>
              <p:cNvGrpSpPr/>
              <p:nvPr/>
            </p:nvGrpSpPr>
            <p:grpSpPr>
              <a:xfrm>
                <a:off x="6315075" y="1771650"/>
                <a:ext cx="114300" cy="114300"/>
                <a:chOff x="6315075" y="1771650"/>
                <a:chExt cx="114300" cy="114300"/>
              </a:xfrm>
            </p:grpSpPr>
            <p:sp>
              <p:nvSpPr>
                <p:cNvPr id="134" name="Freeform 134"/>
                <p:cNvSpPr/>
                <p:nvPr/>
              </p:nvSpPr>
              <p:spPr>
                <a:xfrm>
                  <a:off x="6315075" y="17716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2301C"/>
                  </a:solidFill>
                </a:ln>
              </p:spPr>
            </p:sp>
            <p:sp>
              <p:nvSpPr>
                <p:cNvPr id="135" name="Freeform 135"/>
                <p:cNvSpPr/>
                <p:nvPr/>
              </p:nvSpPr>
              <p:spPr>
                <a:xfrm>
                  <a:off x="6318885" y="1809750"/>
                  <a:ext cx="106680" cy="9525"/>
                </a:xfrm>
                <a:custGeom>
                  <a:avLst/>
                  <a:gdLst/>
                  <a:ahLst/>
                  <a:cxnLst/>
                  <a:rect l="l" t="t" r="r" b="b"/>
                  <a:pathLst>
                    <a:path w="106680" h="9525">
                      <a:moveTo>
                        <a:pt x="0" y="0"/>
                      </a:moveTo>
                      <a:lnTo>
                        <a:pt x="106680" y="0"/>
                      </a:lnTo>
                    </a:path>
                  </a:pathLst>
                </a:custGeom>
                <a:noFill/>
                <a:ln w="12700">
                  <a:solidFill>
                    <a:srgbClr val="92301C"/>
                  </a:solidFill>
                </a:ln>
              </p:spPr>
            </p:sp>
            <p:sp>
              <p:nvSpPr>
                <p:cNvPr id="136" name="Freeform 136"/>
                <p:cNvSpPr/>
                <p:nvPr/>
              </p:nvSpPr>
              <p:spPr>
                <a:xfrm>
                  <a:off x="6318885" y="1847850"/>
                  <a:ext cx="106680" cy="9525"/>
                </a:xfrm>
                <a:custGeom>
                  <a:avLst/>
                  <a:gdLst/>
                  <a:ahLst/>
                  <a:cxnLst/>
                  <a:rect l="l" t="t" r="r" b="b"/>
                  <a:pathLst>
                    <a:path w="106680" h="9525">
                      <a:moveTo>
                        <a:pt x="0" y="0"/>
                      </a:moveTo>
                      <a:lnTo>
                        <a:pt x="106680" y="0"/>
                      </a:lnTo>
                    </a:path>
                  </a:pathLst>
                </a:custGeom>
                <a:noFill/>
                <a:ln w="12700">
                  <a:solidFill>
                    <a:srgbClr val="92301C"/>
                  </a:solidFill>
                </a:ln>
              </p:spPr>
            </p:sp>
            <p:sp>
              <p:nvSpPr>
                <p:cNvPr id="137" name="Freeform 137"/>
                <p:cNvSpPr/>
                <p:nvPr/>
              </p:nvSpPr>
              <p:spPr>
                <a:xfrm>
                  <a:off x="6347225" y="1771650"/>
                  <a:ext cx="21825" cy="114300"/>
                </a:xfrm>
                <a:custGeom>
                  <a:avLst/>
                  <a:gdLst/>
                  <a:ahLst/>
                  <a:cxnLst/>
                  <a:rect l="l" t="t" r="r" b="b"/>
                  <a:pathLst>
                    <a:path w="21825" h="114300">
                      <a:moveTo>
                        <a:pt x="21825" y="0"/>
                      </a:moveTo>
                      <a:cubicBezTo>
                        <a:pt x="0" y="34974"/>
                        <a:pt x="0" y="79326"/>
                        <a:pt x="21825" y="114300"/>
                      </a:cubicBezTo>
                    </a:path>
                  </a:pathLst>
                </a:custGeom>
                <a:noFill/>
                <a:ln w="12700">
                  <a:solidFill>
                    <a:srgbClr val="92301C"/>
                  </a:solidFill>
                </a:ln>
              </p:spPr>
            </p:sp>
            <p:sp>
              <p:nvSpPr>
                <p:cNvPr id="138" name="Freeform 138"/>
                <p:cNvSpPr/>
                <p:nvPr/>
              </p:nvSpPr>
              <p:spPr>
                <a:xfrm>
                  <a:off x="6375400" y="1771650"/>
                  <a:ext cx="21825" cy="114300"/>
                </a:xfrm>
                <a:custGeom>
                  <a:avLst/>
                  <a:gdLst/>
                  <a:ahLst/>
                  <a:cxnLst/>
                  <a:rect l="l" t="t" r="r" b="b"/>
                  <a:pathLst>
                    <a:path w="21825" h="114300">
                      <a:moveTo>
                        <a:pt x="0" y="0"/>
                      </a:moveTo>
                      <a:cubicBezTo>
                        <a:pt x="21825" y="34974"/>
                        <a:pt x="21825" y="79326"/>
                        <a:pt x="0" y="114300"/>
                      </a:cubicBezTo>
                    </a:path>
                  </a:pathLst>
                </a:custGeom>
                <a:noFill/>
                <a:ln w="12700">
                  <a:solidFill>
                    <a:srgbClr val="92301C"/>
                  </a:solidFill>
                </a:ln>
              </p:spPr>
            </p:sp>
          </p:grpSp>
          <p:sp>
            <p:nvSpPr>
              <p:cNvPr id="140" name="TextBox 140"/>
              <p:cNvSpPr txBox="1"/>
              <p:nvPr/>
            </p:nvSpPr>
            <p:spPr>
              <a:xfrm>
                <a:off x="6020143" y="2040493"/>
                <a:ext cx="704164" cy="169069"/>
              </a:xfrm>
              <a:prstGeom prst="rect">
                <a:avLst/>
              </a:prstGeom>
              <a:noFill/>
              <a:ln>
                <a:noFill/>
              </a:ln>
            </p:spPr>
            <p:txBody>
              <a:bodyPr wrap="none" lIns="0" tIns="0" rIns="0" bIns="0" anchor="t" anchorCtr="0">
                <a:spAutoFit/>
              </a:bodyPr>
              <a:lstStyle/>
              <a:p>
                <a:pPr algn="ctr"/>
                <a:r>
                  <a:rPr lang="zh-CN" sz="860" b="1" dirty="0">
                    <a:solidFill>
                      <a:srgbClr val="6B1B0B"/>
                    </a:solidFill>
                    <a:latin typeface="+mn-lt"/>
                    <a:ea typeface="+mn-ea"/>
                    <a:cs typeface="+mn-cs"/>
                  </a:rPr>
                  <a:t>跨境高频交易</a:t>
                </a:r>
              </a:p>
            </p:txBody>
          </p:sp>
          <p:grpSp>
            <p:nvGrpSpPr>
              <p:cNvPr id="147" name="Group 147"/>
              <p:cNvGrpSpPr/>
              <p:nvPr/>
            </p:nvGrpSpPr>
            <p:grpSpPr>
              <a:xfrm>
                <a:off x="5710238" y="2259330"/>
                <a:ext cx="1135761" cy="690562"/>
                <a:chOff x="5710238" y="2259330"/>
                <a:chExt cx="1135761" cy="690562"/>
              </a:xfrm>
            </p:grpSpPr>
            <p:sp>
              <p:nvSpPr>
                <p:cNvPr id="141" name="TextBox 141"/>
                <p:cNvSpPr txBox="1"/>
                <p:nvPr/>
              </p:nvSpPr>
              <p:spPr>
                <a:xfrm>
                  <a:off x="5710238" y="2259330"/>
                  <a:ext cx="1135761"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短期内频繁进行跨境资金收付</a:t>
                  </a:r>
                </a:p>
              </p:txBody>
            </p:sp>
            <p:sp>
              <p:nvSpPr>
                <p:cNvPr id="142" name="TextBox 142"/>
                <p:cNvSpPr txBox="1"/>
                <p:nvPr/>
              </p:nvSpPr>
              <p:spPr>
                <a:xfrm>
                  <a:off x="5710238" y="2373630"/>
                  <a:ext cx="893445"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交易金额接近监管上限</a:t>
                  </a:r>
                </a:p>
              </p:txBody>
            </p:sp>
            <p:sp>
              <p:nvSpPr>
                <p:cNvPr id="143" name="TextBox 143"/>
                <p:cNvSpPr txBox="1"/>
                <p:nvPr/>
              </p:nvSpPr>
              <p:spPr>
                <a:xfrm>
                  <a:off x="5710238" y="2487930"/>
                  <a:ext cx="1135761"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与高风险国家和地区频繁往来</a:t>
                  </a:r>
                </a:p>
              </p:txBody>
            </p:sp>
            <p:sp>
              <p:nvSpPr>
                <p:cNvPr id="144" name="TextBox 144"/>
                <p:cNvSpPr txBox="1"/>
                <p:nvPr/>
              </p:nvSpPr>
              <p:spPr>
                <a:xfrm>
                  <a:off x="5710238" y="2602230"/>
                  <a:ext cx="97421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缺乏合理贸易或投资背景</a:t>
                  </a:r>
                </a:p>
              </p:txBody>
            </p:sp>
            <p:sp>
              <p:nvSpPr>
                <p:cNvPr id="145" name="TextBox 145"/>
                <p:cNvSpPr txBox="1"/>
                <p:nvPr/>
              </p:nvSpPr>
              <p:spPr>
                <a:xfrm>
                  <a:off x="5710238" y="2716530"/>
                  <a:ext cx="1054989"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通过多账户多主体进行跨境</a:t>
                  </a:r>
                </a:p>
              </p:txBody>
            </p:sp>
            <p:sp>
              <p:nvSpPr>
                <p:cNvPr id="146" name="TextBox 146"/>
                <p:cNvSpPr txBox="1"/>
                <p:nvPr/>
              </p:nvSpPr>
              <p:spPr>
                <a:xfrm>
                  <a:off x="5767388" y="2830830"/>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资金分散</a:t>
                  </a:r>
                </a:p>
              </p:txBody>
            </p:sp>
          </p:grpSp>
          <p:sp>
            <p:nvSpPr>
              <p:cNvPr id="148" name="Rectangle 148"/>
              <p:cNvSpPr/>
              <p:nvPr/>
            </p:nvSpPr>
            <p:spPr>
              <a:xfrm>
                <a:off x="5715000" y="4438650"/>
                <a:ext cx="1314450" cy="590550"/>
              </a:xfrm>
              <a:prstGeom prst="roundRect">
                <a:avLst>
                  <a:gd name="adj" fmla="val 6452"/>
                </a:avLst>
              </a:prstGeom>
              <a:solidFill>
                <a:srgbClr val="EEF5FB"/>
              </a:solidFill>
              <a:ln>
                <a:noFill/>
              </a:ln>
            </p:spPr>
          </p:sp>
          <p:sp>
            <p:nvSpPr>
              <p:cNvPr id="149" name="TextBox 149"/>
              <p:cNvSpPr txBox="1"/>
              <p:nvPr/>
            </p:nvSpPr>
            <p:spPr>
              <a:xfrm>
                <a:off x="5786438" y="4518184"/>
                <a:ext cx="375691" cy="133350"/>
              </a:xfrm>
              <a:prstGeom prst="rect">
                <a:avLst/>
              </a:prstGeom>
              <a:noFill/>
              <a:ln>
                <a:noFill/>
              </a:ln>
            </p:spPr>
            <p:txBody>
              <a:bodyPr wrap="none" lIns="0" tIns="0" rIns="0" bIns="0" anchor="t" anchorCtr="0">
                <a:spAutoFit/>
              </a:bodyPr>
              <a:lstStyle/>
              <a:p>
                <a:pPr algn="l"/>
                <a:r>
                  <a:rPr lang="zh-CN" sz="680" b="1" dirty="0">
                    <a:solidFill>
                      <a:srgbClr val="92301C"/>
                    </a:solidFill>
                    <a:latin typeface="+mn-lt"/>
                    <a:ea typeface="+mn-ea"/>
                    <a:cs typeface="+mn-cs"/>
                  </a:rPr>
                  <a:t>示例规则</a:t>
                </a:r>
              </a:p>
            </p:txBody>
          </p:sp>
          <p:sp>
            <p:nvSpPr>
              <p:cNvPr id="150" name="TextBox 150"/>
              <p:cNvSpPr txBox="1"/>
              <p:nvPr/>
            </p:nvSpPr>
            <p:spPr>
              <a:xfrm>
                <a:off x="5786438" y="4673203"/>
                <a:ext cx="1023886"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 xml:space="preserve">30日内跨境交易≥N笔且涉及　</a:t>
                </a:r>
              </a:p>
            </p:txBody>
          </p:sp>
          <p:sp>
            <p:nvSpPr>
              <p:cNvPr id="151" name="TextBox 151"/>
              <p:cNvSpPr txBox="1"/>
              <p:nvPr/>
            </p:nvSpPr>
            <p:spPr>
              <a:xfrm>
                <a:off x="5786438" y="4797028"/>
                <a:ext cx="1018417"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 xml:space="preserve">≥3个国家/地区（示例测算）　</a:t>
                </a:r>
              </a:p>
            </p:txBody>
          </p:sp>
        </p:grpSp>
        <p:grpSp>
          <p:nvGrpSpPr>
            <p:cNvPr id="177" name="mt-branch-4"/>
            <p:cNvGrpSpPr/>
            <p:nvPr/>
          </p:nvGrpSpPr>
          <p:grpSpPr>
            <a:xfrm>
              <a:off x="7210425" y="1581150"/>
              <a:ext cx="1466850" cy="3562350"/>
              <a:chOff x="7210425" y="1581150"/>
              <a:chExt cx="1466850" cy="3562350"/>
            </a:xfrm>
          </p:grpSpPr>
          <p:sp>
            <p:nvSpPr>
              <p:cNvPr id="153" name="Rectangle 153"/>
              <p:cNvSpPr/>
              <p:nvPr/>
            </p:nvSpPr>
            <p:spPr>
              <a:xfrm>
                <a:off x="7210425" y="1581150"/>
                <a:ext cx="1466850" cy="3562350"/>
              </a:xfrm>
              <a:prstGeom prst="roundRect">
                <a:avLst>
                  <a:gd name="adj" fmla="val 3896"/>
                </a:avLst>
              </a:prstGeom>
              <a:solidFill>
                <a:srgbClr val="F6F9FD"/>
              </a:solidFill>
              <a:ln w="9525">
                <a:solidFill>
                  <a:srgbClr val="CFDFEE"/>
                </a:solidFill>
              </a:ln>
            </p:spPr>
          </p:sp>
          <p:sp>
            <p:nvSpPr>
              <p:cNvPr id="154" name="Ellipse 154"/>
              <p:cNvSpPr/>
              <p:nvPr/>
            </p:nvSpPr>
            <p:spPr>
              <a:xfrm>
                <a:off x="7810500" y="1695450"/>
                <a:ext cx="266700" cy="266700"/>
              </a:xfrm>
              <a:prstGeom prst="ellipse">
                <a:avLst/>
              </a:prstGeom>
              <a:solidFill>
                <a:srgbClr val="EEF5FB"/>
              </a:solidFill>
              <a:ln w="9525">
                <a:solidFill>
                  <a:srgbClr val="92301C"/>
                </a:solidFill>
              </a:ln>
            </p:spPr>
          </p:sp>
          <p:grpSp>
            <p:nvGrpSpPr>
              <p:cNvPr id="163" name="Group 163"/>
              <p:cNvGrpSpPr/>
              <p:nvPr/>
            </p:nvGrpSpPr>
            <p:grpSpPr>
              <a:xfrm>
                <a:off x="7886700" y="1771650"/>
                <a:ext cx="114300" cy="123825"/>
                <a:chOff x="7886700" y="1771650"/>
                <a:chExt cx="114300" cy="123825"/>
              </a:xfrm>
            </p:grpSpPr>
            <p:sp>
              <p:nvSpPr>
                <p:cNvPr id="155" name="Freeform 155"/>
                <p:cNvSpPr/>
                <p:nvPr/>
              </p:nvSpPr>
              <p:spPr>
                <a:xfrm>
                  <a:off x="7886700" y="1885950"/>
                  <a:ext cx="114300" cy="9525"/>
                </a:xfrm>
                <a:custGeom>
                  <a:avLst/>
                  <a:gdLst/>
                  <a:ahLst/>
                  <a:cxnLst/>
                  <a:rect l="l" t="t" r="r" b="b"/>
                  <a:pathLst>
                    <a:path w="114300" h="9525">
                      <a:moveTo>
                        <a:pt x="0" y="0"/>
                      </a:moveTo>
                      <a:lnTo>
                        <a:pt x="114300" y="0"/>
                      </a:lnTo>
                    </a:path>
                  </a:pathLst>
                </a:custGeom>
                <a:noFill/>
                <a:ln w="12700">
                  <a:solidFill>
                    <a:srgbClr val="92301C"/>
                  </a:solidFill>
                </a:ln>
              </p:spPr>
            </p:sp>
            <p:sp>
              <p:nvSpPr>
                <p:cNvPr id="156" name="Freeform 156"/>
                <p:cNvSpPr/>
                <p:nvPr/>
              </p:nvSpPr>
              <p:spPr>
                <a:xfrm>
                  <a:off x="7924800" y="1803400"/>
                  <a:ext cx="9525" cy="9525"/>
                </a:xfrm>
                <a:custGeom>
                  <a:avLst/>
                  <a:gdLst/>
                  <a:ahLst/>
                  <a:cxnLst/>
                  <a:rect l="l" t="t" r="r" b="b"/>
                  <a:pathLst>
                    <a:path w="9525" h="9525">
                      <a:moveTo>
                        <a:pt x="0" y="0"/>
                      </a:moveTo>
                      <a:lnTo>
                        <a:pt x="6350" y="0"/>
                      </a:lnTo>
                    </a:path>
                  </a:pathLst>
                </a:custGeom>
                <a:noFill/>
                <a:ln w="12700">
                  <a:solidFill>
                    <a:srgbClr val="92301C"/>
                  </a:solidFill>
                </a:ln>
              </p:spPr>
            </p:sp>
            <p:sp>
              <p:nvSpPr>
                <p:cNvPr id="157" name="Freeform 157"/>
                <p:cNvSpPr/>
                <p:nvPr/>
              </p:nvSpPr>
              <p:spPr>
                <a:xfrm>
                  <a:off x="7924800" y="1828800"/>
                  <a:ext cx="9525" cy="9525"/>
                </a:xfrm>
                <a:custGeom>
                  <a:avLst/>
                  <a:gdLst/>
                  <a:ahLst/>
                  <a:cxnLst/>
                  <a:rect l="l" t="t" r="r" b="b"/>
                  <a:pathLst>
                    <a:path w="9525" h="9525">
                      <a:moveTo>
                        <a:pt x="0" y="0"/>
                      </a:moveTo>
                      <a:lnTo>
                        <a:pt x="6350" y="0"/>
                      </a:lnTo>
                    </a:path>
                  </a:pathLst>
                </a:custGeom>
                <a:noFill/>
                <a:ln w="12700">
                  <a:solidFill>
                    <a:srgbClr val="92301C"/>
                  </a:solidFill>
                </a:ln>
              </p:spPr>
            </p:sp>
            <p:sp>
              <p:nvSpPr>
                <p:cNvPr id="158" name="Freeform 158"/>
                <p:cNvSpPr/>
                <p:nvPr/>
              </p:nvSpPr>
              <p:spPr>
                <a:xfrm>
                  <a:off x="7924800" y="1854200"/>
                  <a:ext cx="9525" cy="9525"/>
                </a:xfrm>
                <a:custGeom>
                  <a:avLst/>
                  <a:gdLst/>
                  <a:ahLst/>
                  <a:cxnLst/>
                  <a:rect l="l" t="t" r="r" b="b"/>
                  <a:pathLst>
                    <a:path w="9525" h="9525">
                      <a:moveTo>
                        <a:pt x="0" y="0"/>
                      </a:moveTo>
                      <a:lnTo>
                        <a:pt x="6350" y="0"/>
                      </a:lnTo>
                    </a:path>
                  </a:pathLst>
                </a:custGeom>
                <a:noFill/>
                <a:ln w="12700">
                  <a:solidFill>
                    <a:srgbClr val="92301C"/>
                  </a:solidFill>
                </a:ln>
              </p:spPr>
            </p:sp>
            <p:sp>
              <p:nvSpPr>
                <p:cNvPr id="159" name="Freeform 159"/>
                <p:cNvSpPr/>
                <p:nvPr/>
              </p:nvSpPr>
              <p:spPr>
                <a:xfrm>
                  <a:off x="7956550" y="1803400"/>
                  <a:ext cx="9525" cy="9525"/>
                </a:xfrm>
                <a:custGeom>
                  <a:avLst/>
                  <a:gdLst/>
                  <a:ahLst/>
                  <a:cxnLst/>
                  <a:rect l="l" t="t" r="r" b="b"/>
                  <a:pathLst>
                    <a:path w="9525" h="9525">
                      <a:moveTo>
                        <a:pt x="0" y="0"/>
                      </a:moveTo>
                      <a:lnTo>
                        <a:pt x="6350" y="0"/>
                      </a:lnTo>
                    </a:path>
                  </a:pathLst>
                </a:custGeom>
                <a:noFill/>
                <a:ln w="12700">
                  <a:solidFill>
                    <a:srgbClr val="92301C"/>
                  </a:solidFill>
                </a:ln>
              </p:spPr>
            </p:sp>
            <p:sp>
              <p:nvSpPr>
                <p:cNvPr id="160" name="Freeform 160"/>
                <p:cNvSpPr/>
                <p:nvPr/>
              </p:nvSpPr>
              <p:spPr>
                <a:xfrm>
                  <a:off x="7956550" y="1828800"/>
                  <a:ext cx="9525" cy="9525"/>
                </a:xfrm>
                <a:custGeom>
                  <a:avLst/>
                  <a:gdLst/>
                  <a:ahLst/>
                  <a:cxnLst/>
                  <a:rect l="l" t="t" r="r" b="b"/>
                  <a:pathLst>
                    <a:path w="9525" h="9525">
                      <a:moveTo>
                        <a:pt x="0" y="0"/>
                      </a:moveTo>
                      <a:lnTo>
                        <a:pt x="6350" y="0"/>
                      </a:lnTo>
                    </a:path>
                  </a:pathLst>
                </a:custGeom>
                <a:noFill/>
                <a:ln w="12700">
                  <a:solidFill>
                    <a:srgbClr val="92301C"/>
                  </a:solidFill>
                </a:ln>
              </p:spPr>
            </p:sp>
            <p:sp>
              <p:nvSpPr>
                <p:cNvPr id="161" name="Freeform 161"/>
                <p:cNvSpPr/>
                <p:nvPr/>
              </p:nvSpPr>
              <p:spPr>
                <a:xfrm>
                  <a:off x="7956550" y="1854200"/>
                  <a:ext cx="9525" cy="9525"/>
                </a:xfrm>
                <a:custGeom>
                  <a:avLst/>
                  <a:gdLst/>
                  <a:ahLst/>
                  <a:cxnLst/>
                  <a:rect l="l" t="t" r="r" b="b"/>
                  <a:pathLst>
                    <a:path w="9525" h="9525">
                      <a:moveTo>
                        <a:pt x="0" y="0"/>
                      </a:moveTo>
                      <a:lnTo>
                        <a:pt x="6350" y="0"/>
                      </a:lnTo>
                    </a:path>
                  </a:pathLst>
                </a:custGeom>
                <a:noFill/>
                <a:ln w="12700">
                  <a:solidFill>
                    <a:srgbClr val="92301C"/>
                  </a:solidFill>
                </a:ln>
              </p:spPr>
            </p:sp>
            <p:sp>
              <p:nvSpPr>
                <p:cNvPr id="162" name="Freeform 162"/>
                <p:cNvSpPr/>
                <p:nvPr/>
              </p:nvSpPr>
              <p:spPr>
                <a:xfrm>
                  <a:off x="7899400" y="1771650"/>
                  <a:ext cx="88900" cy="114300"/>
                </a:xfrm>
                <a:custGeom>
                  <a:avLst/>
                  <a:gdLst/>
                  <a:ahLst/>
                  <a:cxnLst/>
                  <a:rect l="l" t="t" r="r" b="b"/>
                  <a:pathLst>
                    <a:path w="88900" h="114300">
                      <a:moveTo>
                        <a:pt x="0" y="114300"/>
                      </a:moveTo>
                      <a:lnTo>
                        <a:pt x="0" y="12700"/>
                      </a:lnTo>
                      <a:cubicBezTo>
                        <a:pt x="0" y="5686"/>
                        <a:pt x="5686" y="0"/>
                        <a:pt x="12700" y="0"/>
                      </a:cubicBezTo>
                      <a:lnTo>
                        <a:pt x="76200" y="0"/>
                      </a:lnTo>
                      <a:cubicBezTo>
                        <a:pt x="83214" y="0"/>
                        <a:pt x="88900" y="5686"/>
                        <a:pt x="88900" y="12700"/>
                      </a:cubicBezTo>
                      <a:lnTo>
                        <a:pt x="88900" y="114300"/>
                      </a:lnTo>
                    </a:path>
                  </a:pathLst>
                </a:custGeom>
                <a:noFill/>
                <a:ln w="12700">
                  <a:solidFill>
                    <a:srgbClr val="92301C"/>
                  </a:solidFill>
                </a:ln>
              </p:spPr>
            </p:sp>
          </p:grpSp>
          <p:sp>
            <p:nvSpPr>
              <p:cNvPr id="164" name="TextBox 164"/>
              <p:cNvSpPr txBox="1"/>
              <p:nvPr/>
            </p:nvSpPr>
            <p:spPr>
              <a:xfrm>
                <a:off x="7418108" y="2040493"/>
                <a:ext cx="1051484" cy="169069"/>
              </a:xfrm>
              <a:prstGeom prst="rect">
                <a:avLst/>
              </a:prstGeom>
              <a:noFill/>
              <a:ln>
                <a:noFill/>
              </a:ln>
            </p:spPr>
            <p:txBody>
              <a:bodyPr wrap="none" lIns="0" tIns="0" rIns="0" bIns="0" anchor="t" anchorCtr="0">
                <a:spAutoFit/>
              </a:bodyPr>
              <a:lstStyle/>
              <a:p>
                <a:pPr algn="ctr"/>
                <a:r>
                  <a:rPr lang="zh-CN" sz="860" b="1" dirty="0">
                    <a:solidFill>
                      <a:srgbClr val="6B1B0B"/>
                    </a:solidFill>
                    <a:latin typeface="+mn-lt"/>
                    <a:ea typeface="+mn-ea"/>
                    <a:cs typeface="+mn-cs"/>
                  </a:rPr>
                  <a:t>空壳公司及关联交易</a:t>
                </a:r>
              </a:p>
            </p:txBody>
          </p:sp>
          <p:grpSp>
            <p:nvGrpSpPr>
              <p:cNvPr id="172" name="Group 172"/>
              <p:cNvGrpSpPr/>
              <p:nvPr/>
            </p:nvGrpSpPr>
            <p:grpSpPr>
              <a:xfrm>
                <a:off x="7281862" y="2259330"/>
                <a:ext cx="1135761" cy="804862"/>
                <a:chOff x="7281862" y="2259330"/>
                <a:chExt cx="1135761" cy="804862"/>
              </a:xfrm>
            </p:grpSpPr>
            <p:sp>
              <p:nvSpPr>
                <p:cNvPr id="165" name="TextBox 165"/>
                <p:cNvSpPr txBox="1"/>
                <p:nvPr/>
              </p:nvSpPr>
              <p:spPr>
                <a:xfrm>
                  <a:off x="7281862" y="2259330"/>
                  <a:ext cx="97421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客户为新设立或实际股权</a:t>
                  </a:r>
                </a:p>
              </p:txBody>
            </p:sp>
            <p:sp>
              <p:nvSpPr>
                <p:cNvPr id="166" name="TextBox 166"/>
                <p:cNvSpPr txBox="1"/>
                <p:nvPr/>
              </p:nvSpPr>
              <p:spPr>
                <a:xfrm>
                  <a:off x="7339012" y="2373630"/>
                  <a:ext cx="89801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结构复杂、实际控制不明</a:t>
                  </a:r>
                </a:p>
              </p:txBody>
            </p:sp>
            <p:sp>
              <p:nvSpPr>
                <p:cNvPr id="167" name="TextBox 167"/>
                <p:cNvSpPr txBox="1"/>
                <p:nvPr/>
              </p:nvSpPr>
              <p:spPr>
                <a:xfrm>
                  <a:off x="7281862" y="2487930"/>
                  <a:ext cx="97421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与多类关联公司频繁交易</a:t>
                  </a:r>
                </a:p>
              </p:txBody>
            </p:sp>
            <p:sp>
              <p:nvSpPr>
                <p:cNvPr id="168" name="TextBox 168"/>
                <p:cNvSpPr txBox="1"/>
                <p:nvPr/>
              </p:nvSpPr>
              <p:spPr>
                <a:xfrm>
                  <a:off x="7281862" y="2602230"/>
                  <a:ext cx="81267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无真实经营交易背景</a:t>
                  </a:r>
                </a:p>
              </p:txBody>
            </p:sp>
            <p:sp>
              <p:nvSpPr>
                <p:cNvPr id="169" name="TextBox 169"/>
                <p:cNvSpPr txBox="1"/>
                <p:nvPr/>
              </p:nvSpPr>
              <p:spPr>
                <a:xfrm>
                  <a:off x="7281862" y="2716530"/>
                  <a:ext cx="1135761"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与高风险行业或区域存在关联</a:t>
                  </a:r>
                </a:p>
              </p:txBody>
            </p:sp>
            <p:sp>
              <p:nvSpPr>
                <p:cNvPr id="170" name="TextBox 170"/>
                <p:cNvSpPr txBox="1"/>
                <p:nvPr/>
              </p:nvSpPr>
              <p:spPr>
                <a:xfrm>
                  <a:off x="7281862" y="2830830"/>
                  <a:ext cx="97421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通过关联方进行资金转移</a:t>
                  </a:r>
                </a:p>
              </p:txBody>
            </p:sp>
            <p:sp>
              <p:nvSpPr>
                <p:cNvPr id="171" name="TextBox 171"/>
                <p:cNvSpPr txBox="1"/>
                <p:nvPr/>
              </p:nvSpPr>
              <p:spPr>
                <a:xfrm>
                  <a:off x="7339012" y="2945130"/>
                  <a:ext cx="413385"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或利益输送</a:t>
                  </a:r>
                </a:p>
              </p:txBody>
            </p:sp>
          </p:grpSp>
          <p:sp>
            <p:nvSpPr>
              <p:cNvPr id="173" name="Rectangle 173"/>
              <p:cNvSpPr/>
              <p:nvPr/>
            </p:nvSpPr>
            <p:spPr>
              <a:xfrm>
                <a:off x="7286625" y="4438650"/>
                <a:ext cx="1314450" cy="590550"/>
              </a:xfrm>
              <a:prstGeom prst="roundRect">
                <a:avLst>
                  <a:gd name="adj" fmla="val 6452"/>
                </a:avLst>
              </a:prstGeom>
              <a:solidFill>
                <a:srgbClr val="EEF5FB"/>
              </a:solidFill>
              <a:ln>
                <a:noFill/>
              </a:ln>
            </p:spPr>
          </p:sp>
          <p:sp>
            <p:nvSpPr>
              <p:cNvPr id="174" name="TextBox 174"/>
              <p:cNvSpPr txBox="1"/>
              <p:nvPr/>
            </p:nvSpPr>
            <p:spPr>
              <a:xfrm>
                <a:off x="7358062" y="4518184"/>
                <a:ext cx="375691" cy="133350"/>
              </a:xfrm>
              <a:prstGeom prst="rect">
                <a:avLst/>
              </a:prstGeom>
              <a:noFill/>
              <a:ln>
                <a:noFill/>
              </a:ln>
            </p:spPr>
            <p:txBody>
              <a:bodyPr wrap="none" lIns="0" tIns="0" rIns="0" bIns="0" anchor="t" anchorCtr="0">
                <a:spAutoFit/>
              </a:bodyPr>
              <a:lstStyle/>
              <a:p>
                <a:pPr algn="l"/>
                <a:r>
                  <a:rPr lang="zh-CN" sz="680" b="1" dirty="0">
                    <a:solidFill>
                      <a:srgbClr val="92301C"/>
                    </a:solidFill>
                    <a:latin typeface="+mn-lt"/>
                    <a:ea typeface="+mn-ea"/>
                    <a:cs typeface="+mn-cs"/>
                  </a:rPr>
                  <a:t>示例规则</a:t>
                </a:r>
              </a:p>
            </p:txBody>
          </p:sp>
          <p:sp>
            <p:nvSpPr>
              <p:cNvPr id="175" name="TextBox 175"/>
              <p:cNvSpPr txBox="1"/>
              <p:nvPr/>
            </p:nvSpPr>
            <p:spPr>
              <a:xfrm>
                <a:off x="7358062" y="4673203"/>
                <a:ext cx="922087"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 xml:space="preserve">成立≤1年且无实际经营、　</a:t>
                </a:r>
              </a:p>
            </p:txBody>
          </p:sp>
          <p:sp>
            <p:nvSpPr>
              <p:cNvPr id="176" name="TextBox 176"/>
              <p:cNvSpPr txBox="1"/>
              <p:nvPr/>
            </p:nvSpPr>
            <p:spPr>
              <a:xfrm>
                <a:off x="7358062" y="4797028"/>
                <a:ext cx="1148249"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 xml:space="preserve">与≥3家关联方存在异常资金往来　</a:t>
                </a:r>
              </a:p>
            </p:txBody>
          </p:sp>
        </p:grpSp>
      </p:grpSp>
      <p:grpSp>
        <p:nvGrpSpPr>
          <p:cNvPr id="243" name="right-flow"/>
          <p:cNvGrpSpPr/>
          <p:nvPr/>
        </p:nvGrpSpPr>
        <p:grpSpPr>
          <a:xfrm>
            <a:off x="8782050" y="1019175"/>
            <a:ext cx="3219450" cy="3927634"/>
            <a:chOff x="8782050" y="1019175"/>
            <a:chExt cx="3219450" cy="3927634"/>
          </a:xfrm>
        </p:grpSpPr>
        <p:sp>
          <p:nvSpPr>
            <p:cNvPr id="179" name="Line 179"/>
            <p:cNvSpPr/>
            <p:nvPr/>
          </p:nvSpPr>
          <p:spPr>
            <a:xfrm>
              <a:off x="8963025" y="1143000"/>
              <a:ext cx="9525" cy="3524250"/>
            </a:xfrm>
            <a:custGeom>
              <a:avLst/>
              <a:gdLst/>
              <a:ahLst/>
              <a:cxnLst/>
              <a:rect l="l" t="t" r="r" b="b"/>
              <a:pathLst>
                <a:path w="9525" h="3524250">
                  <a:moveTo>
                    <a:pt x="0" y="0"/>
                  </a:moveTo>
                  <a:lnTo>
                    <a:pt x="0" y="3524250"/>
                  </a:lnTo>
                </a:path>
              </a:pathLst>
            </a:custGeom>
            <a:noFill/>
            <a:ln w="14288">
              <a:solidFill>
                <a:srgbClr val="CFDFEE"/>
              </a:solidFill>
              <a:custDash>
                <a:ds d="200000" sp="200000"/>
              </a:custDash>
            </a:ln>
          </p:spPr>
        </p:sp>
        <p:grpSp>
          <p:nvGrpSpPr>
            <p:cNvPr id="242" name="rf-steps"/>
            <p:cNvGrpSpPr/>
            <p:nvPr/>
          </p:nvGrpSpPr>
          <p:grpSpPr>
            <a:xfrm>
              <a:off x="8782050" y="1019175"/>
              <a:ext cx="3219450" cy="3927634"/>
              <a:chOff x="8782050" y="1019175"/>
              <a:chExt cx="3219450" cy="3927634"/>
            </a:xfrm>
          </p:grpSpPr>
          <p:sp>
            <p:nvSpPr>
              <p:cNvPr id="180" name="Ellipse 180"/>
              <p:cNvSpPr/>
              <p:nvPr/>
            </p:nvSpPr>
            <p:spPr>
              <a:xfrm>
                <a:off x="8839200" y="1019175"/>
                <a:ext cx="247650" cy="247650"/>
              </a:xfrm>
              <a:prstGeom prst="ellipse">
                <a:avLst/>
              </a:prstGeom>
              <a:solidFill>
                <a:srgbClr val="92301C"/>
              </a:solidFill>
              <a:ln>
                <a:noFill/>
              </a:ln>
            </p:spPr>
          </p:sp>
          <p:sp>
            <p:nvSpPr>
              <p:cNvPr id="181" name="TextBox 181"/>
              <p:cNvSpPr txBox="1"/>
              <p:nvPr/>
            </p:nvSpPr>
            <p:spPr>
              <a:xfrm>
                <a:off x="8902106" y="110013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01</a:t>
                </a:r>
              </a:p>
            </p:txBody>
          </p:sp>
          <p:grpSp>
            <p:nvGrpSpPr>
              <p:cNvPr id="184" name="Group 184"/>
              <p:cNvGrpSpPr/>
              <p:nvPr/>
            </p:nvGrpSpPr>
            <p:grpSpPr>
              <a:xfrm>
                <a:off x="9213850" y="1071562"/>
                <a:ext cx="127000" cy="142875"/>
                <a:chOff x="9213850" y="1071562"/>
                <a:chExt cx="127000" cy="142875"/>
              </a:xfrm>
            </p:grpSpPr>
            <p:sp>
              <p:nvSpPr>
                <p:cNvPr id="182" name="Freeform 182"/>
                <p:cNvSpPr/>
                <p:nvPr/>
              </p:nvSpPr>
              <p:spPr>
                <a:xfrm>
                  <a:off x="9213850" y="1071562"/>
                  <a:ext cx="127000" cy="111125"/>
                </a:xfrm>
                <a:custGeom>
                  <a:avLst/>
                  <a:gdLst/>
                  <a:ahLst/>
                  <a:cxnLst/>
                  <a:rect l="l" t="t" r="r" b="b"/>
                  <a:pathLst>
                    <a:path w="127000" h="111125">
                      <a:moveTo>
                        <a:pt x="47625" y="15875"/>
                      </a:moveTo>
                      <a:cubicBezTo>
                        <a:pt x="47625" y="7107"/>
                        <a:pt x="54732" y="0"/>
                        <a:pt x="63500" y="0"/>
                      </a:cubicBezTo>
                      <a:cubicBezTo>
                        <a:pt x="72267" y="0"/>
                        <a:pt x="79375" y="7107"/>
                        <a:pt x="79375" y="15875"/>
                      </a:cubicBezTo>
                      <a:cubicBezTo>
                        <a:pt x="97950" y="24658"/>
                        <a:pt x="110162" y="42976"/>
                        <a:pt x="111125" y="63500"/>
                      </a:cubicBezTo>
                      <a:lnTo>
                        <a:pt x="111125" y="87312"/>
                      </a:lnTo>
                      <a:cubicBezTo>
                        <a:pt x="112336" y="97320"/>
                        <a:pt x="118228" y="106158"/>
                        <a:pt x="127000" y="111125"/>
                      </a:cubicBezTo>
                      <a:lnTo>
                        <a:pt x="0" y="111125"/>
                      </a:lnTo>
                      <a:cubicBezTo>
                        <a:pt x="8772" y="106158"/>
                        <a:pt x="14664" y="97320"/>
                        <a:pt x="15875" y="87312"/>
                      </a:cubicBezTo>
                      <a:lnTo>
                        <a:pt x="15875" y="63500"/>
                      </a:lnTo>
                      <a:cubicBezTo>
                        <a:pt x="16838" y="42976"/>
                        <a:pt x="29050" y="24658"/>
                        <a:pt x="47625" y="15875"/>
                      </a:cubicBezTo>
                    </a:path>
                  </a:pathLst>
                </a:custGeom>
                <a:noFill/>
                <a:ln w="15875">
                  <a:solidFill>
                    <a:srgbClr val="92301C"/>
                  </a:solidFill>
                </a:ln>
              </p:spPr>
            </p:sp>
            <p:sp>
              <p:nvSpPr>
                <p:cNvPr id="183" name="Freeform 183"/>
                <p:cNvSpPr/>
                <p:nvPr/>
              </p:nvSpPr>
              <p:spPr>
                <a:xfrm>
                  <a:off x="9253537" y="1182687"/>
                  <a:ext cx="47625" cy="31750"/>
                </a:xfrm>
                <a:custGeom>
                  <a:avLst/>
                  <a:gdLst/>
                  <a:ahLst/>
                  <a:cxnLst/>
                  <a:rect l="l" t="t" r="r" b="b"/>
                  <a:pathLst>
                    <a:path w="47625" h="31750">
                      <a:moveTo>
                        <a:pt x="0" y="0"/>
                      </a:moveTo>
                      <a:lnTo>
                        <a:pt x="0" y="7937"/>
                      </a:lnTo>
                      <a:cubicBezTo>
                        <a:pt x="0" y="21089"/>
                        <a:pt x="10661" y="31750"/>
                        <a:pt x="23812" y="31750"/>
                      </a:cubicBezTo>
                      <a:cubicBezTo>
                        <a:pt x="36964" y="31750"/>
                        <a:pt x="47625" y="21089"/>
                        <a:pt x="47625" y="7937"/>
                      </a:cubicBezTo>
                      <a:lnTo>
                        <a:pt x="47625" y="0"/>
                      </a:lnTo>
                    </a:path>
                  </a:pathLst>
                </a:custGeom>
                <a:noFill/>
                <a:ln w="15875">
                  <a:solidFill>
                    <a:srgbClr val="92301C"/>
                  </a:solidFill>
                </a:ln>
              </p:spPr>
            </p:sp>
          </p:grpSp>
          <p:sp>
            <p:nvSpPr>
              <p:cNvPr id="185" name="TextBox 185"/>
              <p:cNvSpPr txBox="1"/>
              <p:nvPr/>
            </p:nvSpPr>
            <p:spPr>
              <a:xfrm>
                <a:off x="9444038" y="10267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预警生成</a:t>
                </a:r>
              </a:p>
            </p:txBody>
          </p:sp>
          <p:sp>
            <p:nvSpPr>
              <p:cNvPr id="186" name="TextBox 186"/>
              <p:cNvSpPr txBox="1"/>
              <p:nvPr/>
            </p:nvSpPr>
            <p:spPr>
              <a:xfrm>
                <a:off x="9444038" y="1203484"/>
                <a:ext cx="1143030"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 xml:space="preserve">实时/批量监测触发预警　</a:t>
                </a:r>
              </a:p>
            </p:txBody>
          </p:sp>
          <p:sp>
            <p:nvSpPr>
              <p:cNvPr id="187" name="TextBox 187"/>
              <p:cNvSpPr txBox="1"/>
              <p:nvPr/>
            </p:nvSpPr>
            <p:spPr>
              <a:xfrm>
                <a:off x="9444038" y="1336834"/>
                <a:ext cx="1001141"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风险评分与优先级排序</a:t>
                </a:r>
              </a:p>
            </p:txBody>
          </p:sp>
          <p:sp>
            <p:nvSpPr>
              <p:cNvPr id="188" name="Line 188"/>
              <p:cNvSpPr/>
              <p:nvPr/>
            </p:nvSpPr>
            <p:spPr>
              <a:xfrm>
                <a:off x="8782050" y="1581150"/>
                <a:ext cx="3219450" cy="9525"/>
              </a:xfrm>
              <a:custGeom>
                <a:avLst/>
                <a:gdLst/>
                <a:ahLst/>
                <a:cxnLst/>
                <a:rect l="l" t="t" r="r" b="b"/>
                <a:pathLst>
                  <a:path w="3219450" h="9525">
                    <a:moveTo>
                      <a:pt x="0" y="0"/>
                    </a:moveTo>
                    <a:lnTo>
                      <a:pt x="3219450" y="0"/>
                    </a:lnTo>
                  </a:path>
                </a:pathLst>
              </a:custGeom>
              <a:noFill/>
              <a:ln w="9525">
                <a:solidFill>
                  <a:srgbClr val="E4EDF5"/>
                </a:solidFill>
              </a:ln>
            </p:spPr>
          </p:sp>
          <p:sp>
            <p:nvSpPr>
              <p:cNvPr id="189" name="Ellipse 189"/>
              <p:cNvSpPr/>
              <p:nvPr/>
            </p:nvSpPr>
            <p:spPr>
              <a:xfrm>
                <a:off x="8839200" y="1714500"/>
                <a:ext cx="247650" cy="247650"/>
              </a:xfrm>
              <a:prstGeom prst="ellipse">
                <a:avLst/>
              </a:prstGeom>
              <a:solidFill>
                <a:srgbClr val="92301C"/>
              </a:solidFill>
              <a:ln>
                <a:noFill/>
              </a:ln>
            </p:spPr>
          </p:sp>
          <p:sp>
            <p:nvSpPr>
              <p:cNvPr id="190" name="TextBox 190"/>
              <p:cNvSpPr txBox="1"/>
              <p:nvPr/>
            </p:nvSpPr>
            <p:spPr>
              <a:xfrm>
                <a:off x="8902106" y="1795462"/>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02</a:t>
                </a:r>
              </a:p>
            </p:txBody>
          </p:sp>
          <p:grpSp>
            <p:nvGrpSpPr>
              <p:cNvPr id="194" name="Group 194"/>
              <p:cNvGrpSpPr/>
              <p:nvPr/>
            </p:nvGrpSpPr>
            <p:grpSpPr>
              <a:xfrm>
                <a:off x="9221787" y="1766887"/>
                <a:ext cx="119062" cy="142875"/>
                <a:chOff x="9221787" y="1766887"/>
                <a:chExt cx="119062" cy="142875"/>
              </a:xfrm>
            </p:grpSpPr>
            <p:sp>
              <p:nvSpPr>
                <p:cNvPr id="191" name="Freeform 191"/>
                <p:cNvSpPr/>
                <p:nvPr/>
              </p:nvSpPr>
              <p:spPr>
                <a:xfrm>
                  <a:off x="9301162" y="1766887"/>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92301C"/>
                  </a:solidFill>
                </a:ln>
              </p:spPr>
            </p:sp>
            <p:sp>
              <p:nvSpPr>
                <p:cNvPr id="192" name="Freeform 192"/>
                <p:cNvSpPr/>
                <p:nvPr/>
              </p:nvSpPr>
              <p:spPr>
                <a:xfrm>
                  <a:off x="9253537" y="1766887"/>
                  <a:ext cx="87312" cy="111125"/>
                </a:xfrm>
                <a:custGeom>
                  <a:avLst/>
                  <a:gdLst/>
                  <a:ahLst/>
                  <a:cxnLst/>
                  <a:rect l="l" t="t" r="r" b="b"/>
                  <a:pathLst>
                    <a:path w="87312" h="111125">
                      <a:moveTo>
                        <a:pt x="71437" y="111125"/>
                      </a:moveTo>
                      <a:lnTo>
                        <a:pt x="15875" y="111125"/>
                      </a:lnTo>
                      <a:cubicBezTo>
                        <a:pt x="7107" y="111125"/>
                        <a:pt x="0" y="104017"/>
                        <a:pt x="0" y="95250"/>
                      </a:cubicBezTo>
                      <a:lnTo>
                        <a:pt x="0" y="15875"/>
                      </a:lnTo>
                      <a:cubicBezTo>
                        <a:pt x="0" y="7107"/>
                        <a:pt x="7107" y="0"/>
                        <a:pt x="15875" y="0"/>
                      </a:cubicBezTo>
                      <a:lnTo>
                        <a:pt x="47625" y="0"/>
                      </a:lnTo>
                      <a:lnTo>
                        <a:pt x="87312" y="39687"/>
                      </a:lnTo>
                      <a:lnTo>
                        <a:pt x="87312" y="95250"/>
                      </a:lnTo>
                      <a:cubicBezTo>
                        <a:pt x="87312" y="104017"/>
                        <a:pt x="80205" y="111125"/>
                        <a:pt x="71437" y="111125"/>
                      </a:cubicBezTo>
                    </a:path>
                  </a:pathLst>
                </a:custGeom>
                <a:noFill/>
                <a:ln w="15875">
                  <a:solidFill>
                    <a:srgbClr val="92301C"/>
                  </a:solidFill>
                </a:ln>
              </p:spPr>
            </p:sp>
            <p:sp>
              <p:nvSpPr>
                <p:cNvPr id="193" name="Freeform 193"/>
                <p:cNvSpPr/>
                <p:nvPr/>
              </p:nvSpPr>
              <p:spPr>
                <a:xfrm>
                  <a:off x="9221787" y="1798637"/>
                  <a:ext cx="87312" cy="111125"/>
                </a:xfrm>
                <a:custGeom>
                  <a:avLst/>
                  <a:gdLst/>
                  <a:ahLst/>
                  <a:cxnLst/>
                  <a:rect l="l" t="t" r="r" b="b"/>
                  <a:pathLst>
                    <a:path w="87312" h="111125">
                      <a:moveTo>
                        <a:pt x="87312" y="79375"/>
                      </a:moveTo>
                      <a:lnTo>
                        <a:pt x="87312" y="95250"/>
                      </a:lnTo>
                      <a:cubicBezTo>
                        <a:pt x="87312" y="104017"/>
                        <a:pt x="80205" y="111125"/>
                        <a:pt x="71437" y="111125"/>
                      </a:cubicBezTo>
                      <a:lnTo>
                        <a:pt x="15875" y="111125"/>
                      </a:lnTo>
                      <a:cubicBezTo>
                        <a:pt x="7107" y="111125"/>
                        <a:pt x="0" y="104017"/>
                        <a:pt x="0" y="95250"/>
                      </a:cubicBezTo>
                      <a:lnTo>
                        <a:pt x="0" y="15875"/>
                      </a:lnTo>
                      <a:cubicBezTo>
                        <a:pt x="0" y="7107"/>
                        <a:pt x="7107" y="0"/>
                        <a:pt x="15875" y="0"/>
                      </a:cubicBezTo>
                      <a:lnTo>
                        <a:pt x="31750" y="0"/>
                      </a:lnTo>
                    </a:path>
                  </a:pathLst>
                </a:custGeom>
                <a:noFill/>
                <a:ln w="15875">
                  <a:solidFill>
                    <a:srgbClr val="92301C"/>
                  </a:solidFill>
                </a:ln>
              </p:spPr>
            </p:sp>
          </p:grpSp>
          <p:sp>
            <p:nvSpPr>
              <p:cNvPr id="195" name="TextBox 195"/>
              <p:cNvSpPr txBox="1"/>
              <p:nvPr/>
            </p:nvSpPr>
            <p:spPr>
              <a:xfrm>
                <a:off x="9444038" y="17221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案例归并</a:t>
                </a:r>
              </a:p>
            </p:txBody>
          </p:sp>
          <p:sp>
            <p:nvSpPr>
              <p:cNvPr id="196" name="TextBox 196"/>
              <p:cNvSpPr txBox="1"/>
              <p:nvPr/>
            </p:nvSpPr>
            <p:spPr>
              <a:xfrm>
                <a:off x="9444038" y="1898809"/>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多维相似性分析</a:t>
                </a:r>
              </a:p>
            </p:txBody>
          </p:sp>
          <p:sp>
            <p:nvSpPr>
              <p:cNvPr id="197" name="TextBox 197"/>
              <p:cNvSpPr txBox="1"/>
              <p:nvPr/>
            </p:nvSpPr>
            <p:spPr>
              <a:xfrm>
                <a:off x="9444038" y="2032159"/>
                <a:ext cx="1326114"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 xml:space="preserve">同一客户/关联群组自动归并　</a:t>
                </a:r>
              </a:p>
            </p:txBody>
          </p:sp>
          <p:sp>
            <p:nvSpPr>
              <p:cNvPr id="198" name="Line 198"/>
              <p:cNvSpPr/>
              <p:nvPr/>
            </p:nvSpPr>
            <p:spPr>
              <a:xfrm>
                <a:off x="8782050" y="2276475"/>
                <a:ext cx="3219450" cy="9525"/>
              </a:xfrm>
              <a:custGeom>
                <a:avLst/>
                <a:gdLst/>
                <a:ahLst/>
                <a:cxnLst/>
                <a:rect l="l" t="t" r="r" b="b"/>
                <a:pathLst>
                  <a:path w="3219450" h="9525">
                    <a:moveTo>
                      <a:pt x="0" y="0"/>
                    </a:moveTo>
                    <a:lnTo>
                      <a:pt x="3219450" y="0"/>
                    </a:lnTo>
                  </a:path>
                </a:pathLst>
              </a:custGeom>
              <a:noFill/>
              <a:ln w="9525">
                <a:solidFill>
                  <a:srgbClr val="E4EDF5"/>
                </a:solidFill>
              </a:ln>
            </p:spPr>
          </p:sp>
          <p:sp>
            <p:nvSpPr>
              <p:cNvPr id="199" name="Ellipse 199"/>
              <p:cNvSpPr/>
              <p:nvPr/>
            </p:nvSpPr>
            <p:spPr>
              <a:xfrm>
                <a:off x="8839200" y="2409825"/>
                <a:ext cx="247650" cy="247650"/>
              </a:xfrm>
              <a:prstGeom prst="ellipse">
                <a:avLst/>
              </a:prstGeom>
              <a:solidFill>
                <a:srgbClr val="92301C"/>
              </a:solidFill>
              <a:ln>
                <a:noFill/>
              </a:ln>
            </p:spPr>
          </p:sp>
          <p:sp>
            <p:nvSpPr>
              <p:cNvPr id="200" name="TextBox 200"/>
              <p:cNvSpPr txBox="1"/>
              <p:nvPr/>
            </p:nvSpPr>
            <p:spPr>
              <a:xfrm>
                <a:off x="8902106" y="249078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03</a:t>
                </a:r>
              </a:p>
            </p:txBody>
          </p:sp>
          <p:grpSp>
            <p:nvGrpSpPr>
              <p:cNvPr id="203" name="Group 203"/>
              <p:cNvGrpSpPr/>
              <p:nvPr/>
            </p:nvGrpSpPr>
            <p:grpSpPr>
              <a:xfrm>
                <a:off x="9205912" y="2462212"/>
                <a:ext cx="142875" cy="142875"/>
                <a:chOff x="9205912" y="2462212"/>
                <a:chExt cx="142875" cy="142875"/>
              </a:xfrm>
            </p:grpSpPr>
            <p:sp>
              <p:nvSpPr>
                <p:cNvPr id="201" name="Freeform 201"/>
                <p:cNvSpPr/>
                <p:nvPr/>
              </p:nvSpPr>
              <p:spPr>
                <a:xfrm>
                  <a:off x="9205912" y="24622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92301C"/>
                  </a:solidFill>
                </a:ln>
              </p:spPr>
            </p:sp>
            <p:sp>
              <p:nvSpPr>
                <p:cNvPr id="202" name="Freeform 202"/>
                <p:cNvSpPr/>
                <p:nvPr/>
              </p:nvSpPr>
              <p:spPr>
                <a:xfrm>
                  <a:off x="9301162" y="2557462"/>
                  <a:ext cx="47625" cy="47625"/>
                </a:xfrm>
                <a:custGeom>
                  <a:avLst/>
                  <a:gdLst/>
                  <a:ahLst/>
                  <a:cxnLst/>
                  <a:rect l="l" t="t" r="r" b="b"/>
                  <a:pathLst>
                    <a:path w="47625" h="47625">
                      <a:moveTo>
                        <a:pt x="47625" y="47625"/>
                      </a:moveTo>
                      <a:lnTo>
                        <a:pt x="0" y="0"/>
                      </a:lnTo>
                    </a:path>
                  </a:pathLst>
                </a:custGeom>
                <a:noFill/>
                <a:ln w="15875">
                  <a:solidFill>
                    <a:srgbClr val="92301C"/>
                  </a:solidFill>
                </a:ln>
              </p:spPr>
            </p:sp>
          </p:grpSp>
          <p:sp>
            <p:nvSpPr>
              <p:cNvPr id="204" name="TextBox 204"/>
              <p:cNvSpPr txBox="1"/>
              <p:nvPr/>
            </p:nvSpPr>
            <p:spPr>
              <a:xfrm>
                <a:off x="9444038" y="241744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证据补全</a:t>
                </a:r>
              </a:p>
            </p:txBody>
          </p:sp>
          <p:sp>
            <p:nvSpPr>
              <p:cNvPr id="205" name="TextBox 205"/>
              <p:cNvSpPr txBox="1"/>
              <p:nvPr/>
            </p:nvSpPr>
            <p:spPr>
              <a:xfrm>
                <a:off x="9444038" y="2594134"/>
                <a:ext cx="1733474"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 xml:space="preserve">自动汇聚交易、账户、客户、外部数据　</a:t>
                </a:r>
              </a:p>
            </p:txBody>
          </p:sp>
          <p:sp>
            <p:nvSpPr>
              <p:cNvPr id="206" name="TextBox 206"/>
              <p:cNvSpPr txBox="1"/>
              <p:nvPr/>
            </p:nvSpPr>
            <p:spPr>
              <a:xfrm>
                <a:off x="9444038" y="2727484"/>
                <a:ext cx="90959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生成证据包与时间线</a:t>
                </a:r>
              </a:p>
            </p:txBody>
          </p:sp>
          <p:sp>
            <p:nvSpPr>
              <p:cNvPr id="207" name="Line 207"/>
              <p:cNvSpPr/>
              <p:nvPr/>
            </p:nvSpPr>
            <p:spPr>
              <a:xfrm>
                <a:off x="8782050" y="2971800"/>
                <a:ext cx="3219450" cy="9525"/>
              </a:xfrm>
              <a:custGeom>
                <a:avLst/>
                <a:gdLst/>
                <a:ahLst/>
                <a:cxnLst/>
                <a:rect l="l" t="t" r="r" b="b"/>
                <a:pathLst>
                  <a:path w="3219450" h="9525">
                    <a:moveTo>
                      <a:pt x="0" y="0"/>
                    </a:moveTo>
                    <a:lnTo>
                      <a:pt x="3219450" y="0"/>
                    </a:lnTo>
                  </a:path>
                </a:pathLst>
              </a:custGeom>
              <a:noFill/>
              <a:ln w="9525">
                <a:solidFill>
                  <a:srgbClr val="E4EDF5"/>
                </a:solidFill>
              </a:ln>
            </p:spPr>
          </p:sp>
          <p:sp>
            <p:nvSpPr>
              <p:cNvPr id="208" name="Ellipse 208"/>
              <p:cNvSpPr/>
              <p:nvPr/>
            </p:nvSpPr>
            <p:spPr>
              <a:xfrm>
                <a:off x="8839200" y="3105150"/>
                <a:ext cx="247650" cy="247650"/>
              </a:xfrm>
              <a:prstGeom prst="ellipse">
                <a:avLst/>
              </a:prstGeom>
              <a:solidFill>
                <a:srgbClr val="92301C"/>
              </a:solidFill>
              <a:ln>
                <a:noFill/>
              </a:ln>
            </p:spPr>
          </p:sp>
          <p:sp>
            <p:nvSpPr>
              <p:cNvPr id="209" name="TextBox 209"/>
              <p:cNvSpPr txBox="1"/>
              <p:nvPr/>
            </p:nvSpPr>
            <p:spPr>
              <a:xfrm>
                <a:off x="8902106" y="3186112"/>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04</a:t>
                </a:r>
              </a:p>
            </p:txBody>
          </p:sp>
          <p:grpSp>
            <p:nvGrpSpPr>
              <p:cNvPr id="216" name="Group 216"/>
              <p:cNvGrpSpPr/>
              <p:nvPr/>
            </p:nvGrpSpPr>
            <p:grpSpPr>
              <a:xfrm>
                <a:off x="9205912" y="3157537"/>
                <a:ext cx="142875" cy="142875"/>
                <a:chOff x="9205912" y="3157537"/>
                <a:chExt cx="142875" cy="142875"/>
              </a:xfrm>
            </p:grpSpPr>
            <p:sp>
              <p:nvSpPr>
                <p:cNvPr id="210" name="Freeform 210"/>
                <p:cNvSpPr/>
                <p:nvPr/>
              </p:nvSpPr>
              <p:spPr>
                <a:xfrm>
                  <a:off x="9277350" y="3236912"/>
                  <a:ext cx="55562" cy="63500"/>
                </a:xfrm>
                <a:custGeom>
                  <a:avLst/>
                  <a:gdLst/>
                  <a:ahLst/>
                  <a:cxnLst/>
                  <a:rect l="l" t="t" r="r" b="b"/>
                  <a:pathLst>
                    <a:path w="55562" h="63500">
                      <a:moveTo>
                        <a:pt x="27781" y="0"/>
                      </a:moveTo>
                      <a:cubicBezTo>
                        <a:pt x="12438" y="0"/>
                        <a:pt x="0" y="12438"/>
                        <a:pt x="0" y="27781"/>
                      </a:cubicBezTo>
                      <a:lnTo>
                        <a:pt x="0" y="35719"/>
                      </a:lnTo>
                      <a:cubicBezTo>
                        <a:pt x="0" y="51062"/>
                        <a:pt x="12438" y="63500"/>
                        <a:pt x="27781" y="63500"/>
                      </a:cubicBezTo>
                      <a:cubicBezTo>
                        <a:pt x="43124" y="63500"/>
                        <a:pt x="55562" y="51062"/>
                        <a:pt x="55562" y="35719"/>
                      </a:cubicBezTo>
                      <a:lnTo>
                        <a:pt x="55562" y="21431"/>
                      </a:lnTo>
                    </a:path>
                  </a:pathLst>
                </a:custGeom>
                <a:noFill/>
                <a:ln w="15875">
                  <a:solidFill>
                    <a:srgbClr val="92301C"/>
                  </a:solidFill>
                </a:ln>
              </p:spPr>
            </p:sp>
            <p:sp>
              <p:nvSpPr>
                <p:cNvPr id="211" name="Freeform 211"/>
                <p:cNvSpPr/>
                <p:nvPr/>
              </p:nvSpPr>
              <p:spPr>
                <a:xfrm>
                  <a:off x="9221787" y="3236912"/>
                  <a:ext cx="55562" cy="63500"/>
                </a:xfrm>
                <a:custGeom>
                  <a:avLst/>
                  <a:gdLst/>
                  <a:ahLst/>
                  <a:cxnLst/>
                  <a:rect l="l" t="t" r="r" b="b"/>
                  <a:pathLst>
                    <a:path w="55562" h="63500">
                      <a:moveTo>
                        <a:pt x="27781" y="0"/>
                      </a:moveTo>
                      <a:cubicBezTo>
                        <a:pt x="43124" y="0"/>
                        <a:pt x="55562" y="12438"/>
                        <a:pt x="55562" y="27781"/>
                      </a:cubicBezTo>
                      <a:lnTo>
                        <a:pt x="55562" y="35719"/>
                      </a:lnTo>
                      <a:cubicBezTo>
                        <a:pt x="55562" y="51062"/>
                        <a:pt x="43124" y="63500"/>
                        <a:pt x="27781" y="63500"/>
                      </a:cubicBezTo>
                      <a:cubicBezTo>
                        <a:pt x="12438" y="63500"/>
                        <a:pt x="0" y="51062"/>
                        <a:pt x="0" y="35719"/>
                      </a:cubicBezTo>
                      <a:lnTo>
                        <a:pt x="0" y="21431"/>
                      </a:lnTo>
                    </a:path>
                  </a:pathLst>
                </a:custGeom>
                <a:noFill/>
                <a:ln w="15875">
                  <a:solidFill>
                    <a:srgbClr val="92301C"/>
                  </a:solidFill>
                </a:ln>
              </p:spPr>
            </p:sp>
            <p:sp>
              <p:nvSpPr>
                <p:cNvPr id="212" name="Freeform 212"/>
                <p:cNvSpPr/>
                <p:nvPr/>
              </p:nvSpPr>
              <p:spPr>
                <a:xfrm>
                  <a:off x="9317037" y="3205162"/>
                  <a:ext cx="31750" cy="55562"/>
                </a:xfrm>
                <a:custGeom>
                  <a:avLst/>
                  <a:gdLst/>
                  <a:ahLst/>
                  <a:cxnLst/>
                  <a:rect l="l" t="t" r="r" b="b"/>
                  <a:pathLst>
                    <a:path w="31750" h="55562">
                      <a:moveTo>
                        <a:pt x="3969" y="55562"/>
                      </a:moveTo>
                      <a:cubicBezTo>
                        <a:pt x="19312" y="55562"/>
                        <a:pt x="31750" y="43124"/>
                        <a:pt x="31750" y="27781"/>
                      </a:cubicBezTo>
                      <a:cubicBezTo>
                        <a:pt x="31750" y="12438"/>
                        <a:pt x="19312" y="0"/>
                        <a:pt x="3969" y="0"/>
                      </a:cubicBezTo>
                      <a:lnTo>
                        <a:pt x="0" y="0"/>
                      </a:lnTo>
                    </a:path>
                  </a:pathLst>
                </a:custGeom>
                <a:noFill/>
                <a:ln w="15875">
                  <a:solidFill>
                    <a:srgbClr val="92301C"/>
                  </a:solidFill>
                </a:ln>
              </p:spPr>
            </p:sp>
            <p:sp>
              <p:nvSpPr>
                <p:cNvPr id="213" name="Freeform 213"/>
                <p:cNvSpPr/>
                <p:nvPr/>
              </p:nvSpPr>
              <p:spPr>
                <a:xfrm>
                  <a:off x="9277350" y="3157537"/>
                  <a:ext cx="55562" cy="50006"/>
                </a:xfrm>
                <a:custGeom>
                  <a:avLst/>
                  <a:gdLst/>
                  <a:ahLst/>
                  <a:cxnLst/>
                  <a:rect l="l" t="t" r="r" b="b"/>
                  <a:pathLst>
                    <a:path w="55562" h="50006">
                      <a:moveTo>
                        <a:pt x="55562" y="50006"/>
                      </a:moveTo>
                      <a:lnTo>
                        <a:pt x="55562" y="27781"/>
                      </a:lnTo>
                      <a:cubicBezTo>
                        <a:pt x="55562" y="12438"/>
                        <a:pt x="43124" y="0"/>
                        <a:pt x="27781" y="0"/>
                      </a:cubicBezTo>
                      <a:cubicBezTo>
                        <a:pt x="12438" y="0"/>
                        <a:pt x="0" y="12438"/>
                        <a:pt x="0" y="27781"/>
                      </a:cubicBezTo>
                    </a:path>
                  </a:pathLst>
                </a:custGeom>
                <a:noFill/>
                <a:ln w="15875">
                  <a:solidFill>
                    <a:srgbClr val="92301C"/>
                  </a:solidFill>
                </a:ln>
              </p:spPr>
            </p:sp>
            <p:sp>
              <p:nvSpPr>
                <p:cNvPr id="214" name="Freeform 214"/>
                <p:cNvSpPr/>
                <p:nvPr/>
              </p:nvSpPr>
              <p:spPr>
                <a:xfrm>
                  <a:off x="9205912" y="3205162"/>
                  <a:ext cx="31750" cy="55562"/>
                </a:xfrm>
                <a:custGeom>
                  <a:avLst/>
                  <a:gdLst/>
                  <a:ahLst/>
                  <a:cxnLst/>
                  <a:rect l="l" t="t" r="r" b="b"/>
                  <a:pathLst>
                    <a:path w="31750" h="55562">
                      <a:moveTo>
                        <a:pt x="27781" y="55562"/>
                      </a:moveTo>
                      <a:cubicBezTo>
                        <a:pt x="12438" y="55562"/>
                        <a:pt x="0" y="43124"/>
                        <a:pt x="0" y="27781"/>
                      </a:cubicBezTo>
                      <a:cubicBezTo>
                        <a:pt x="0" y="12438"/>
                        <a:pt x="12438" y="0"/>
                        <a:pt x="27781" y="0"/>
                      </a:cubicBezTo>
                      <a:lnTo>
                        <a:pt x="31750" y="0"/>
                      </a:lnTo>
                    </a:path>
                  </a:pathLst>
                </a:custGeom>
                <a:noFill/>
                <a:ln w="15875">
                  <a:solidFill>
                    <a:srgbClr val="92301C"/>
                  </a:solidFill>
                </a:ln>
              </p:spPr>
            </p:sp>
            <p:sp>
              <p:nvSpPr>
                <p:cNvPr id="215" name="Freeform 215"/>
                <p:cNvSpPr/>
                <p:nvPr/>
              </p:nvSpPr>
              <p:spPr>
                <a:xfrm>
                  <a:off x="9221787" y="3157537"/>
                  <a:ext cx="55562" cy="107156"/>
                </a:xfrm>
                <a:custGeom>
                  <a:avLst/>
                  <a:gdLst/>
                  <a:ahLst/>
                  <a:cxnLst/>
                  <a:rect l="l" t="t" r="r" b="b"/>
                  <a:pathLst>
                    <a:path w="55562" h="107156">
                      <a:moveTo>
                        <a:pt x="0" y="50006"/>
                      </a:moveTo>
                      <a:lnTo>
                        <a:pt x="0" y="27781"/>
                      </a:lnTo>
                      <a:cubicBezTo>
                        <a:pt x="0" y="12438"/>
                        <a:pt x="12438" y="0"/>
                        <a:pt x="27781" y="0"/>
                      </a:cubicBezTo>
                      <a:cubicBezTo>
                        <a:pt x="43124" y="0"/>
                        <a:pt x="55562" y="12438"/>
                        <a:pt x="55562" y="27781"/>
                      </a:cubicBezTo>
                      <a:lnTo>
                        <a:pt x="55562" y="107156"/>
                      </a:lnTo>
                    </a:path>
                  </a:pathLst>
                </a:custGeom>
                <a:noFill/>
                <a:ln w="15875">
                  <a:solidFill>
                    <a:srgbClr val="92301C"/>
                  </a:solidFill>
                </a:ln>
              </p:spPr>
            </p:sp>
          </p:grpSp>
          <p:sp>
            <p:nvSpPr>
              <p:cNvPr id="217" name="TextBox 217"/>
              <p:cNvSpPr txBox="1"/>
              <p:nvPr/>
            </p:nvSpPr>
            <p:spPr>
              <a:xfrm>
                <a:off x="9444038" y="31127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风险研判</a:t>
                </a:r>
              </a:p>
            </p:txBody>
          </p:sp>
          <p:sp>
            <p:nvSpPr>
              <p:cNvPr id="218" name="TextBox 218"/>
              <p:cNvSpPr txBox="1"/>
              <p:nvPr/>
            </p:nvSpPr>
            <p:spPr>
              <a:xfrm>
                <a:off x="9444038" y="3289459"/>
                <a:ext cx="1092683"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规则与模型结果综合分析</a:t>
                </a:r>
              </a:p>
            </p:txBody>
          </p:sp>
          <p:sp>
            <p:nvSpPr>
              <p:cNvPr id="219" name="TextBox 219"/>
              <p:cNvSpPr txBox="1"/>
              <p:nvPr/>
            </p:nvSpPr>
            <p:spPr>
              <a:xfrm>
                <a:off x="9444038" y="3422809"/>
                <a:ext cx="90959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人工复核与专业判断</a:t>
                </a:r>
              </a:p>
            </p:txBody>
          </p:sp>
          <p:sp>
            <p:nvSpPr>
              <p:cNvPr id="220" name="Line 220"/>
              <p:cNvSpPr/>
              <p:nvPr/>
            </p:nvSpPr>
            <p:spPr>
              <a:xfrm>
                <a:off x="8782050" y="3667125"/>
                <a:ext cx="3219450" cy="9525"/>
              </a:xfrm>
              <a:custGeom>
                <a:avLst/>
                <a:gdLst/>
                <a:ahLst/>
                <a:cxnLst/>
                <a:rect l="l" t="t" r="r" b="b"/>
                <a:pathLst>
                  <a:path w="3219450" h="9525">
                    <a:moveTo>
                      <a:pt x="0" y="0"/>
                    </a:moveTo>
                    <a:lnTo>
                      <a:pt x="3219450" y="0"/>
                    </a:lnTo>
                  </a:path>
                </a:pathLst>
              </a:custGeom>
              <a:noFill/>
              <a:ln w="9525">
                <a:solidFill>
                  <a:srgbClr val="E4EDF5"/>
                </a:solidFill>
              </a:ln>
            </p:spPr>
          </p:sp>
          <p:sp>
            <p:nvSpPr>
              <p:cNvPr id="221" name="Ellipse 221"/>
              <p:cNvSpPr/>
              <p:nvPr/>
            </p:nvSpPr>
            <p:spPr>
              <a:xfrm>
                <a:off x="8839200" y="3800475"/>
                <a:ext cx="247650" cy="247650"/>
              </a:xfrm>
              <a:prstGeom prst="ellipse">
                <a:avLst/>
              </a:prstGeom>
              <a:solidFill>
                <a:srgbClr val="92301C"/>
              </a:solidFill>
              <a:ln>
                <a:noFill/>
              </a:ln>
            </p:spPr>
          </p:sp>
          <p:sp>
            <p:nvSpPr>
              <p:cNvPr id="222" name="TextBox 222"/>
              <p:cNvSpPr txBox="1"/>
              <p:nvPr/>
            </p:nvSpPr>
            <p:spPr>
              <a:xfrm>
                <a:off x="8902106" y="388143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05</a:t>
                </a:r>
              </a:p>
            </p:txBody>
          </p:sp>
          <p:grpSp>
            <p:nvGrpSpPr>
              <p:cNvPr id="228" name="Group 228"/>
              <p:cNvGrpSpPr/>
              <p:nvPr/>
            </p:nvGrpSpPr>
            <p:grpSpPr>
              <a:xfrm>
                <a:off x="9221787" y="3852862"/>
                <a:ext cx="111125" cy="142875"/>
                <a:chOff x="9221787" y="3852862"/>
                <a:chExt cx="111125" cy="142875"/>
              </a:xfrm>
            </p:grpSpPr>
            <p:sp>
              <p:nvSpPr>
                <p:cNvPr id="223" name="Freeform 223"/>
                <p:cNvSpPr/>
                <p:nvPr/>
              </p:nvSpPr>
              <p:spPr>
                <a:xfrm>
                  <a:off x="9293225" y="38528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92301C"/>
                  </a:solidFill>
                </a:ln>
              </p:spPr>
            </p:sp>
            <p:sp>
              <p:nvSpPr>
                <p:cNvPr id="224" name="Freeform 224"/>
                <p:cNvSpPr/>
                <p:nvPr/>
              </p:nvSpPr>
              <p:spPr>
                <a:xfrm>
                  <a:off x="9221787" y="38528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92301C"/>
                  </a:solidFill>
                </a:ln>
              </p:spPr>
            </p:sp>
            <p:sp>
              <p:nvSpPr>
                <p:cNvPr id="225" name="Freeform 225"/>
                <p:cNvSpPr/>
                <p:nvPr/>
              </p:nvSpPr>
              <p:spPr>
                <a:xfrm>
                  <a:off x="9253537" y="3900487"/>
                  <a:ext cx="9525" cy="9525"/>
                </a:xfrm>
                <a:custGeom>
                  <a:avLst/>
                  <a:gdLst/>
                  <a:ahLst/>
                  <a:cxnLst/>
                  <a:rect l="l" t="t" r="r" b="b"/>
                  <a:pathLst>
                    <a:path w="9525" h="9525">
                      <a:moveTo>
                        <a:pt x="0" y="0"/>
                      </a:moveTo>
                      <a:lnTo>
                        <a:pt x="7937" y="0"/>
                      </a:lnTo>
                    </a:path>
                  </a:pathLst>
                </a:custGeom>
                <a:noFill/>
                <a:ln w="15875">
                  <a:solidFill>
                    <a:srgbClr val="92301C"/>
                  </a:solidFill>
                </a:ln>
              </p:spPr>
            </p:sp>
            <p:sp>
              <p:nvSpPr>
                <p:cNvPr id="226" name="Freeform 226"/>
                <p:cNvSpPr/>
                <p:nvPr/>
              </p:nvSpPr>
              <p:spPr>
                <a:xfrm>
                  <a:off x="9253537" y="3932237"/>
                  <a:ext cx="47625" cy="9525"/>
                </a:xfrm>
                <a:custGeom>
                  <a:avLst/>
                  <a:gdLst/>
                  <a:ahLst/>
                  <a:cxnLst/>
                  <a:rect l="l" t="t" r="r" b="b"/>
                  <a:pathLst>
                    <a:path w="47625" h="9525">
                      <a:moveTo>
                        <a:pt x="0" y="0"/>
                      </a:moveTo>
                      <a:lnTo>
                        <a:pt x="47625" y="0"/>
                      </a:lnTo>
                    </a:path>
                  </a:pathLst>
                </a:custGeom>
                <a:noFill/>
                <a:ln w="15875">
                  <a:solidFill>
                    <a:srgbClr val="92301C"/>
                  </a:solidFill>
                </a:ln>
              </p:spPr>
            </p:sp>
            <p:sp>
              <p:nvSpPr>
                <p:cNvPr id="227" name="Freeform 227"/>
                <p:cNvSpPr/>
                <p:nvPr/>
              </p:nvSpPr>
              <p:spPr>
                <a:xfrm>
                  <a:off x="9253537" y="3963987"/>
                  <a:ext cx="47625" cy="9525"/>
                </a:xfrm>
                <a:custGeom>
                  <a:avLst/>
                  <a:gdLst/>
                  <a:ahLst/>
                  <a:cxnLst/>
                  <a:rect l="l" t="t" r="r" b="b"/>
                  <a:pathLst>
                    <a:path w="47625" h="9525">
                      <a:moveTo>
                        <a:pt x="0" y="0"/>
                      </a:moveTo>
                      <a:lnTo>
                        <a:pt x="47625" y="0"/>
                      </a:lnTo>
                    </a:path>
                  </a:pathLst>
                </a:custGeom>
                <a:noFill/>
                <a:ln w="15875">
                  <a:solidFill>
                    <a:srgbClr val="92301C"/>
                  </a:solidFill>
                </a:ln>
              </p:spPr>
            </p:sp>
          </p:grpSp>
          <p:sp>
            <p:nvSpPr>
              <p:cNvPr id="229" name="TextBox 229"/>
              <p:cNvSpPr txBox="1"/>
              <p:nvPr/>
            </p:nvSpPr>
            <p:spPr>
              <a:xfrm>
                <a:off x="9444038" y="38080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报告草稿</a:t>
                </a:r>
              </a:p>
            </p:txBody>
          </p:sp>
          <p:sp>
            <p:nvSpPr>
              <p:cNvPr id="230" name="TextBox 230"/>
              <p:cNvSpPr txBox="1"/>
              <p:nvPr/>
            </p:nvSpPr>
            <p:spPr>
              <a:xfrm>
                <a:off x="9444038" y="3984784"/>
                <a:ext cx="1001141"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自动生成可疑报告草稿</a:t>
                </a:r>
              </a:p>
            </p:txBody>
          </p:sp>
          <p:sp>
            <p:nvSpPr>
              <p:cNvPr id="231" name="TextBox 231"/>
              <p:cNvSpPr txBox="1"/>
              <p:nvPr/>
            </p:nvSpPr>
            <p:spPr>
              <a:xfrm>
                <a:off x="9444038" y="4118134"/>
                <a:ext cx="1092683"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支持证据引用与逻辑说明</a:t>
                </a:r>
              </a:p>
            </p:txBody>
          </p:sp>
          <p:sp>
            <p:nvSpPr>
              <p:cNvPr id="232" name="Line 232"/>
              <p:cNvSpPr/>
              <p:nvPr/>
            </p:nvSpPr>
            <p:spPr>
              <a:xfrm>
                <a:off x="8782050" y="4362450"/>
                <a:ext cx="3219450" cy="9525"/>
              </a:xfrm>
              <a:custGeom>
                <a:avLst/>
                <a:gdLst/>
                <a:ahLst/>
                <a:cxnLst/>
                <a:rect l="l" t="t" r="r" b="b"/>
                <a:pathLst>
                  <a:path w="3219450" h="9525">
                    <a:moveTo>
                      <a:pt x="0" y="0"/>
                    </a:moveTo>
                    <a:lnTo>
                      <a:pt x="3219450" y="0"/>
                    </a:lnTo>
                  </a:path>
                </a:pathLst>
              </a:custGeom>
              <a:noFill/>
              <a:ln w="9525">
                <a:solidFill>
                  <a:srgbClr val="E4EDF5"/>
                </a:solidFill>
              </a:ln>
            </p:spPr>
          </p:sp>
          <p:sp>
            <p:nvSpPr>
              <p:cNvPr id="233" name="Ellipse 233"/>
              <p:cNvSpPr/>
              <p:nvPr/>
            </p:nvSpPr>
            <p:spPr>
              <a:xfrm>
                <a:off x="8839200" y="4495800"/>
                <a:ext cx="247650" cy="247650"/>
              </a:xfrm>
              <a:prstGeom prst="ellipse">
                <a:avLst/>
              </a:prstGeom>
              <a:solidFill>
                <a:srgbClr val="6B1B0B"/>
              </a:solidFill>
              <a:ln>
                <a:noFill/>
              </a:ln>
            </p:spPr>
          </p:sp>
          <p:sp>
            <p:nvSpPr>
              <p:cNvPr id="234" name="TextBox 234"/>
              <p:cNvSpPr txBox="1"/>
              <p:nvPr/>
            </p:nvSpPr>
            <p:spPr>
              <a:xfrm>
                <a:off x="8902106" y="4576762"/>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06</a:t>
                </a:r>
              </a:p>
            </p:txBody>
          </p:sp>
          <p:grpSp>
            <p:nvGrpSpPr>
              <p:cNvPr id="238" name="Group 238"/>
              <p:cNvGrpSpPr/>
              <p:nvPr/>
            </p:nvGrpSpPr>
            <p:grpSpPr>
              <a:xfrm>
                <a:off x="9229725" y="4548187"/>
                <a:ext cx="119062" cy="142875"/>
                <a:chOff x="9229725" y="4548187"/>
                <a:chExt cx="119062" cy="142875"/>
              </a:xfrm>
            </p:grpSpPr>
            <p:sp>
              <p:nvSpPr>
                <p:cNvPr id="235" name="Freeform 235"/>
                <p:cNvSpPr/>
                <p:nvPr/>
              </p:nvSpPr>
              <p:spPr>
                <a:xfrm>
                  <a:off x="9245600" y="45481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92301C"/>
                  </a:solidFill>
                </a:ln>
              </p:spPr>
            </p:sp>
            <p:sp>
              <p:nvSpPr>
                <p:cNvPr id="236" name="Freeform 236"/>
                <p:cNvSpPr/>
                <p:nvPr/>
              </p:nvSpPr>
              <p:spPr>
                <a:xfrm>
                  <a:off x="9229725" y="4643437"/>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92301C"/>
                  </a:solidFill>
                </a:ln>
              </p:spPr>
            </p:sp>
            <p:sp>
              <p:nvSpPr>
                <p:cNvPr id="237" name="Freeform 237"/>
                <p:cNvSpPr/>
                <p:nvPr/>
              </p:nvSpPr>
              <p:spPr>
                <a:xfrm>
                  <a:off x="9301162" y="4659312"/>
                  <a:ext cx="47625" cy="31750"/>
                </a:xfrm>
                <a:custGeom>
                  <a:avLst/>
                  <a:gdLst/>
                  <a:ahLst/>
                  <a:cxnLst/>
                  <a:rect l="l" t="t" r="r" b="b"/>
                  <a:pathLst>
                    <a:path w="47625" h="31750">
                      <a:moveTo>
                        <a:pt x="0" y="15875"/>
                      </a:moveTo>
                      <a:lnTo>
                        <a:pt x="15875" y="31750"/>
                      </a:lnTo>
                      <a:lnTo>
                        <a:pt x="47625" y="0"/>
                      </a:lnTo>
                    </a:path>
                  </a:pathLst>
                </a:custGeom>
                <a:noFill/>
                <a:ln w="15875">
                  <a:solidFill>
                    <a:srgbClr val="92301C"/>
                  </a:solidFill>
                </a:ln>
              </p:spPr>
            </p:sp>
          </p:grpSp>
          <p:sp>
            <p:nvSpPr>
              <p:cNvPr id="239" name="TextBox 239"/>
              <p:cNvSpPr txBox="1"/>
              <p:nvPr/>
            </p:nvSpPr>
            <p:spPr>
              <a:xfrm>
                <a:off x="9444038" y="45034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合规签发</a:t>
                </a:r>
              </a:p>
            </p:txBody>
          </p:sp>
          <p:sp>
            <p:nvSpPr>
              <p:cNvPr id="240" name="TextBox 240"/>
              <p:cNvSpPr txBox="1"/>
              <p:nvPr/>
            </p:nvSpPr>
            <p:spPr>
              <a:xfrm>
                <a:off x="9444038" y="4680109"/>
                <a:ext cx="1733474"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 xml:space="preserve">由授权人员审核确认、按监管要求报送　</a:t>
                </a:r>
              </a:p>
            </p:txBody>
          </p:sp>
          <p:sp>
            <p:nvSpPr>
              <p:cNvPr id="241" name="TextBox 241"/>
              <p:cNvSpPr txBox="1"/>
              <p:nvPr/>
            </p:nvSpPr>
            <p:spPr>
              <a:xfrm>
                <a:off x="9444038" y="4813459"/>
                <a:ext cx="1092683"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不得自动定性或自动报送</a:t>
                </a:r>
              </a:p>
            </p:txBody>
          </p:sp>
        </p:grpSp>
      </p:grpSp>
      <p:grpSp>
        <p:nvGrpSpPr>
          <p:cNvPr id="246" name="bottom-head"/>
          <p:cNvGrpSpPr/>
          <p:nvPr/>
        </p:nvGrpSpPr>
        <p:grpSpPr>
          <a:xfrm>
            <a:off x="190500" y="5257800"/>
            <a:ext cx="7715250" cy="272987"/>
            <a:chOff x="190500" y="5257800"/>
            <a:chExt cx="7715250" cy="272987"/>
          </a:xfrm>
        </p:grpSpPr>
        <p:sp>
          <p:nvSpPr>
            <p:cNvPr id="244" name="Rectangle 244"/>
            <p:cNvSpPr/>
            <p:nvPr/>
          </p:nvSpPr>
          <p:spPr>
            <a:xfrm>
              <a:off x="190500" y="5257800"/>
              <a:ext cx="7715250" cy="266700"/>
            </a:xfrm>
            <a:prstGeom prst="rect">
              <a:avLst/>
            </a:prstGeom>
            <a:gradFill>
              <a:gsLst>
                <a:gs pos="0">
                  <a:srgbClr val="92301C"/>
                </a:gs>
                <a:gs pos="100000">
                  <a:srgbClr val="B7533F"/>
                </a:gs>
              </a:gsLst>
              <a:lin ang="0" scaled="1"/>
            </a:gradFill>
            <a:ln>
              <a:noFill/>
            </a:ln>
          </p:spPr>
        </p:sp>
        <p:sp>
          <p:nvSpPr>
            <p:cNvPr id="245" name="TextBox 245"/>
            <p:cNvSpPr txBox="1"/>
            <p:nvPr/>
          </p:nvSpPr>
          <p:spPr>
            <a:xfrm>
              <a:off x="318516" y="532542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关键保障</a:t>
              </a:r>
            </a:p>
          </p:txBody>
        </p:sp>
      </p:grpSp>
      <p:grpSp>
        <p:nvGrpSpPr>
          <p:cNvPr id="284" name="bottom-cards"/>
          <p:cNvGrpSpPr/>
          <p:nvPr/>
        </p:nvGrpSpPr>
        <p:grpSpPr>
          <a:xfrm>
            <a:off x="190500" y="5562600"/>
            <a:ext cx="7715250" cy="1009650"/>
            <a:chOff x="190500" y="5562600"/>
            <a:chExt cx="7715250" cy="1009650"/>
          </a:xfrm>
        </p:grpSpPr>
        <p:grpSp>
          <p:nvGrpSpPr>
            <p:cNvPr id="256" name="bc-1"/>
            <p:cNvGrpSpPr/>
            <p:nvPr/>
          </p:nvGrpSpPr>
          <p:grpSpPr>
            <a:xfrm>
              <a:off x="190500" y="5562600"/>
              <a:ext cx="1828800" cy="1009650"/>
              <a:chOff x="190500" y="5562600"/>
              <a:chExt cx="1828800" cy="1009650"/>
            </a:xfrm>
          </p:grpSpPr>
          <p:sp>
            <p:nvSpPr>
              <p:cNvPr id="247" name="Rectangle 247"/>
              <p:cNvSpPr/>
              <p:nvPr/>
            </p:nvSpPr>
            <p:spPr>
              <a:xfrm>
                <a:off x="190500" y="5562600"/>
                <a:ext cx="1828800" cy="1009650"/>
              </a:xfrm>
              <a:prstGeom prst="roundRect">
                <a:avLst>
                  <a:gd name="adj" fmla="val 5660"/>
                </a:avLst>
              </a:prstGeom>
              <a:solidFill>
                <a:srgbClr val="F6F9FD"/>
              </a:solidFill>
              <a:ln w="9525">
                <a:solidFill>
                  <a:srgbClr val="CFDFEE"/>
                </a:solidFill>
              </a:ln>
            </p:spPr>
          </p:sp>
          <p:grpSp>
            <p:nvGrpSpPr>
              <p:cNvPr id="252" name="Group 252"/>
              <p:cNvGrpSpPr/>
              <p:nvPr/>
            </p:nvGrpSpPr>
            <p:grpSpPr>
              <a:xfrm>
                <a:off x="333375" y="5686425"/>
                <a:ext cx="133350" cy="171450"/>
                <a:chOff x="333375" y="5686425"/>
                <a:chExt cx="133350" cy="171450"/>
              </a:xfrm>
            </p:grpSpPr>
            <p:sp>
              <p:nvSpPr>
                <p:cNvPr id="248" name="Freeform 248"/>
                <p:cNvSpPr/>
                <p:nvPr/>
              </p:nvSpPr>
              <p:spPr>
                <a:xfrm>
                  <a:off x="333375" y="5705475"/>
                  <a:ext cx="133350" cy="152400"/>
                </a:xfrm>
                <a:custGeom>
                  <a:avLst/>
                  <a:gdLst/>
                  <a:ahLst/>
                  <a:cxnLst/>
                  <a:rect l="l" t="t" r="r" b="b"/>
                  <a:pathLst>
                    <a:path w="133350" h="152400">
                      <a:moveTo>
                        <a:pt x="38100" y="0"/>
                      </a:moveTo>
                      <a:lnTo>
                        <a:pt x="19050" y="0"/>
                      </a:lnTo>
                      <a:cubicBezTo>
                        <a:pt x="8529" y="0"/>
                        <a:pt x="0" y="8529"/>
                        <a:pt x="0" y="19050"/>
                      </a:cubicBezTo>
                      <a:lnTo>
                        <a:pt x="0" y="133350"/>
                      </a:lnTo>
                      <a:cubicBezTo>
                        <a:pt x="0" y="143871"/>
                        <a:pt x="8529" y="152400"/>
                        <a:pt x="19050" y="152400"/>
                      </a:cubicBezTo>
                      <a:lnTo>
                        <a:pt x="114300" y="152400"/>
                      </a:lnTo>
                      <a:cubicBezTo>
                        <a:pt x="124821" y="152400"/>
                        <a:pt x="133350" y="143871"/>
                        <a:pt x="133350" y="133350"/>
                      </a:cubicBezTo>
                      <a:lnTo>
                        <a:pt x="133350" y="19050"/>
                      </a:lnTo>
                      <a:cubicBezTo>
                        <a:pt x="133350" y="8529"/>
                        <a:pt x="124821" y="0"/>
                        <a:pt x="114300" y="0"/>
                      </a:cubicBezTo>
                      <a:lnTo>
                        <a:pt x="95250" y="0"/>
                      </a:lnTo>
                    </a:path>
                  </a:pathLst>
                </a:custGeom>
                <a:noFill/>
                <a:ln w="19050">
                  <a:solidFill>
                    <a:srgbClr val="92301C"/>
                  </a:solidFill>
                </a:ln>
              </p:spPr>
            </p:sp>
            <p:sp>
              <p:nvSpPr>
                <p:cNvPr id="249" name="Freeform 249"/>
                <p:cNvSpPr/>
                <p:nvPr/>
              </p:nvSpPr>
              <p:spPr>
                <a:xfrm>
                  <a:off x="371475" y="5686425"/>
                  <a:ext cx="57150" cy="38100"/>
                </a:xfrm>
                <a:custGeom>
                  <a:avLst/>
                  <a:gdLst/>
                  <a:ahLst/>
                  <a:cxnLst/>
                  <a:rect l="l" t="t" r="r" b="b"/>
                  <a:pathLst>
                    <a:path w="57150" h="38100">
                      <a:moveTo>
                        <a:pt x="0" y="19050"/>
                      </a:moveTo>
                      <a:cubicBezTo>
                        <a:pt x="0" y="8529"/>
                        <a:pt x="8529" y="0"/>
                        <a:pt x="19050" y="0"/>
                      </a:cubicBezTo>
                      <a:lnTo>
                        <a:pt x="38100" y="0"/>
                      </a:lnTo>
                      <a:cubicBezTo>
                        <a:pt x="48621" y="0"/>
                        <a:pt x="57150" y="8529"/>
                        <a:pt x="57150" y="19050"/>
                      </a:cubicBezTo>
                      <a:cubicBezTo>
                        <a:pt x="57150" y="29571"/>
                        <a:pt x="48621" y="38100"/>
                        <a:pt x="38100" y="38100"/>
                      </a:cubicBezTo>
                      <a:lnTo>
                        <a:pt x="19050" y="38100"/>
                      </a:lnTo>
                      <a:cubicBezTo>
                        <a:pt x="8529" y="38100"/>
                        <a:pt x="0" y="29571"/>
                        <a:pt x="0" y="19050"/>
                      </a:cubicBezTo>
                    </a:path>
                  </a:pathLst>
                </a:custGeom>
                <a:noFill/>
                <a:ln w="19050">
                  <a:solidFill>
                    <a:srgbClr val="92301C"/>
                  </a:solidFill>
                </a:ln>
              </p:spPr>
            </p:sp>
            <p:sp>
              <p:nvSpPr>
                <p:cNvPr id="250" name="Freeform 250"/>
                <p:cNvSpPr/>
                <p:nvPr/>
              </p:nvSpPr>
              <p:spPr>
                <a:xfrm>
                  <a:off x="371475" y="5772150"/>
                  <a:ext cx="57150" cy="9525"/>
                </a:xfrm>
                <a:custGeom>
                  <a:avLst/>
                  <a:gdLst/>
                  <a:ahLst/>
                  <a:cxnLst/>
                  <a:rect l="l" t="t" r="r" b="b"/>
                  <a:pathLst>
                    <a:path w="57150" h="9525">
                      <a:moveTo>
                        <a:pt x="0" y="0"/>
                      </a:moveTo>
                      <a:lnTo>
                        <a:pt x="57150" y="0"/>
                      </a:lnTo>
                    </a:path>
                  </a:pathLst>
                </a:custGeom>
                <a:noFill/>
                <a:ln w="19050">
                  <a:solidFill>
                    <a:srgbClr val="92301C"/>
                  </a:solidFill>
                </a:ln>
              </p:spPr>
            </p:sp>
            <p:sp>
              <p:nvSpPr>
                <p:cNvPr id="251" name="Freeform 251"/>
                <p:cNvSpPr/>
                <p:nvPr/>
              </p:nvSpPr>
              <p:spPr>
                <a:xfrm>
                  <a:off x="371475" y="5810250"/>
                  <a:ext cx="57150" cy="9525"/>
                </a:xfrm>
                <a:custGeom>
                  <a:avLst/>
                  <a:gdLst/>
                  <a:ahLst/>
                  <a:cxnLst/>
                  <a:rect l="l" t="t" r="r" b="b"/>
                  <a:pathLst>
                    <a:path w="57150" h="9525">
                      <a:moveTo>
                        <a:pt x="0" y="0"/>
                      </a:moveTo>
                      <a:lnTo>
                        <a:pt x="57150" y="0"/>
                      </a:lnTo>
                    </a:path>
                  </a:pathLst>
                </a:custGeom>
                <a:noFill/>
                <a:ln w="19050">
                  <a:solidFill>
                    <a:srgbClr val="92301C"/>
                  </a:solidFill>
                </a:ln>
              </p:spPr>
            </p:sp>
          </p:grpSp>
          <p:sp>
            <p:nvSpPr>
              <p:cNvPr id="253" name="TextBox 253"/>
              <p:cNvSpPr txBox="1"/>
              <p:nvPr/>
            </p:nvSpPr>
            <p:spPr>
              <a:xfrm>
                <a:off x="585788" y="5722620"/>
                <a:ext cx="615315"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可解释证据</a:t>
                </a:r>
              </a:p>
            </p:txBody>
          </p:sp>
          <p:sp>
            <p:nvSpPr>
              <p:cNvPr id="254" name="TextBox 254"/>
              <p:cNvSpPr txBox="1"/>
              <p:nvPr/>
            </p:nvSpPr>
            <p:spPr>
              <a:xfrm>
                <a:off x="261938" y="5989082"/>
                <a:ext cx="1550391"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 xml:space="preserve">展示触发规则、模型评分与关键特征　</a:t>
                </a:r>
              </a:p>
            </p:txBody>
          </p:sp>
          <p:sp>
            <p:nvSpPr>
              <p:cNvPr id="255" name="TextBox 255"/>
              <p:cNvSpPr txBox="1"/>
              <p:nvPr/>
            </p:nvSpPr>
            <p:spPr>
              <a:xfrm>
                <a:off x="261938" y="6141482"/>
                <a:ext cx="111960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关联交易链条与关联方图谱</a:t>
                </a:r>
              </a:p>
            </p:txBody>
          </p:sp>
        </p:grpSp>
        <p:sp>
          <p:nvSpPr>
            <p:cNvPr id="257" name="Polygon 257"/>
            <p:cNvSpPr/>
            <p:nvPr/>
          </p:nvSpPr>
          <p:spPr>
            <a:xfrm>
              <a:off x="2057400" y="6019800"/>
              <a:ext cx="76200" cy="133350"/>
            </a:xfrm>
            <a:custGeom>
              <a:avLst/>
              <a:gdLst/>
              <a:ahLst/>
              <a:cxnLst/>
              <a:rect l="l" t="t" r="r" b="b"/>
              <a:pathLst>
                <a:path w="76200" h="133350">
                  <a:moveTo>
                    <a:pt x="0" y="0"/>
                  </a:moveTo>
                  <a:lnTo>
                    <a:pt x="0" y="133350"/>
                  </a:lnTo>
                  <a:lnTo>
                    <a:pt x="76200" y="66675"/>
                  </a:lnTo>
                  <a:close/>
                </a:path>
              </a:pathLst>
            </a:custGeom>
            <a:solidFill>
              <a:srgbClr val="E3B3A9"/>
            </a:solidFill>
            <a:ln>
              <a:noFill/>
            </a:ln>
          </p:spPr>
        </p:sp>
        <p:grpSp>
          <p:nvGrpSpPr>
            <p:cNvPr id="265" name="bc-2"/>
            <p:cNvGrpSpPr/>
            <p:nvPr/>
          </p:nvGrpSpPr>
          <p:grpSpPr>
            <a:xfrm>
              <a:off x="2152650" y="5562600"/>
              <a:ext cx="1828800" cy="1009650"/>
              <a:chOff x="2152650" y="5562600"/>
              <a:chExt cx="1828800" cy="1009650"/>
            </a:xfrm>
          </p:grpSpPr>
          <p:sp>
            <p:nvSpPr>
              <p:cNvPr id="258" name="Rectangle 258"/>
              <p:cNvSpPr/>
              <p:nvPr/>
            </p:nvSpPr>
            <p:spPr>
              <a:xfrm>
                <a:off x="2152650" y="5562600"/>
                <a:ext cx="1828800" cy="1009650"/>
              </a:xfrm>
              <a:prstGeom prst="roundRect">
                <a:avLst>
                  <a:gd name="adj" fmla="val 5660"/>
                </a:avLst>
              </a:prstGeom>
              <a:solidFill>
                <a:srgbClr val="F6F9FD"/>
              </a:solidFill>
              <a:ln w="9525">
                <a:solidFill>
                  <a:srgbClr val="CFDFEE"/>
                </a:solidFill>
              </a:ln>
            </p:spPr>
          </p:sp>
          <p:grpSp>
            <p:nvGrpSpPr>
              <p:cNvPr id="261" name="Group 261"/>
              <p:cNvGrpSpPr/>
              <p:nvPr/>
            </p:nvGrpSpPr>
            <p:grpSpPr>
              <a:xfrm>
                <a:off x="2272294" y="5682244"/>
                <a:ext cx="179813" cy="179813"/>
                <a:chOff x="2272294" y="5682244"/>
                <a:chExt cx="179813" cy="179813"/>
              </a:xfrm>
            </p:grpSpPr>
            <p:sp>
              <p:nvSpPr>
                <p:cNvPr id="259" name="Freeform 259"/>
                <p:cNvSpPr/>
                <p:nvPr/>
              </p:nvSpPr>
              <p:spPr>
                <a:xfrm>
                  <a:off x="2272294" y="568224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92301C"/>
                  </a:solidFill>
                </a:ln>
              </p:spPr>
            </p:sp>
            <p:sp>
              <p:nvSpPr>
                <p:cNvPr id="260" name="Freeform 260"/>
                <p:cNvSpPr/>
                <p:nvPr/>
              </p:nvSpPr>
              <p:spPr>
                <a:xfrm>
                  <a:off x="2333625" y="574357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92301C"/>
                  </a:solidFill>
                </a:ln>
              </p:spPr>
            </p:sp>
          </p:grpSp>
          <p:sp>
            <p:nvSpPr>
              <p:cNvPr id="262" name="TextBox 262"/>
              <p:cNvSpPr txBox="1"/>
              <p:nvPr/>
            </p:nvSpPr>
            <p:spPr>
              <a:xfrm>
                <a:off x="2547938" y="57226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模型验证</a:t>
                </a:r>
              </a:p>
            </p:txBody>
          </p:sp>
          <p:sp>
            <p:nvSpPr>
              <p:cNvPr id="263" name="TextBox 263"/>
              <p:cNvSpPr txBox="1"/>
              <p:nvPr/>
            </p:nvSpPr>
            <p:spPr>
              <a:xfrm>
                <a:off x="2224088" y="5989082"/>
                <a:ext cx="86113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定期回测与样本验证</a:t>
                </a:r>
              </a:p>
            </p:txBody>
          </p:sp>
          <p:sp>
            <p:nvSpPr>
              <p:cNvPr id="264" name="TextBox 264"/>
              <p:cNvSpPr txBox="1"/>
              <p:nvPr/>
            </p:nvSpPr>
            <p:spPr>
              <a:xfrm>
                <a:off x="2224088" y="614148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追踪模型稳定性与公平性</a:t>
                </a:r>
              </a:p>
            </p:txBody>
          </p:sp>
        </p:grpSp>
        <p:sp>
          <p:nvSpPr>
            <p:cNvPr id="266" name="Polygon 266"/>
            <p:cNvSpPr/>
            <p:nvPr/>
          </p:nvSpPr>
          <p:spPr>
            <a:xfrm>
              <a:off x="4019550" y="6019800"/>
              <a:ext cx="76200" cy="133350"/>
            </a:xfrm>
            <a:custGeom>
              <a:avLst/>
              <a:gdLst/>
              <a:ahLst/>
              <a:cxnLst/>
              <a:rect l="l" t="t" r="r" b="b"/>
              <a:pathLst>
                <a:path w="76200" h="133350">
                  <a:moveTo>
                    <a:pt x="0" y="0"/>
                  </a:moveTo>
                  <a:lnTo>
                    <a:pt x="0" y="133350"/>
                  </a:lnTo>
                  <a:lnTo>
                    <a:pt x="76200" y="66675"/>
                  </a:lnTo>
                  <a:close/>
                </a:path>
              </a:pathLst>
            </a:custGeom>
            <a:solidFill>
              <a:srgbClr val="E3B3A9"/>
            </a:solidFill>
            <a:ln>
              <a:noFill/>
            </a:ln>
          </p:spPr>
        </p:sp>
        <p:grpSp>
          <p:nvGrpSpPr>
            <p:cNvPr id="274" name="bc-3"/>
            <p:cNvGrpSpPr/>
            <p:nvPr/>
          </p:nvGrpSpPr>
          <p:grpSpPr>
            <a:xfrm>
              <a:off x="4114800" y="5562600"/>
              <a:ext cx="1828800" cy="1009650"/>
              <a:chOff x="4114800" y="5562600"/>
              <a:chExt cx="1828800" cy="1009650"/>
            </a:xfrm>
          </p:grpSpPr>
          <p:sp>
            <p:nvSpPr>
              <p:cNvPr id="267" name="Rectangle 267"/>
              <p:cNvSpPr/>
              <p:nvPr/>
            </p:nvSpPr>
            <p:spPr>
              <a:xfrm>
                <a:off x="4114800" y="5562600"/>
                <a:ext cx="1828800" cy="1009650"/>
              </a:xfrm>
              <a:prstGeom prst="roundRect">
                <a:avLst>
                  <a:gd name="adj" fmla="val 5660"/>
                </a:avLst>
              </a:prstGeom>
              <a:solidFill>
                <a:srgbClr val="F6F9FD"/>
              </a:solidFill>
              <a:ln w="9525">
                <a:solidFill>
                  <a:srgbClr val="CFDFEE"/>
                </a:solidFill>
              </a:ln>
            </p:spPr>
          </p:sp>
          <p:grpSp>
            <p:nvGrpSpPr>
              <p:cNvPr id="270" name="Group 270"/>
              <p:cNvGrpSpPr/>
              <p:nvPr/>
            </p:nvGrpSpPr>
            <p:grpSpPr>
              <a:xfrm>
                <a:off x="4225771" y="5686425"/>
                <a:ext cx="186006" cy="171450"/>
                <a:chOff x="4225771" y="5686425"/>
                <a:chExt cx="186006" cy="171450"/>
              </a:xfrm>
            </p:grpSpPr>
            <p:sp>
              <p:nvSpPr>
                <p:cNvPr id="268" name="Freeform 268"/>
                <p:cNvSpPr/>
                <p:nvPr/>
              </p:nvSpPr>
              <p:spPr>
                <a:xfrm>
                  <a:off x="4225771" y="56864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1"/>
                      </a:cubicBezTo>
                    </a:path>
                  </a:pathLst>
                </a:custGeom>
                <a:noFill/>
                <a:ln w="19050">
                  <a:solidFill>
                    <a:srgbClr val="92301C"/>
                  </a:solidFill>
                </a:ln>
              </p:spPr>
            </p:sp>
            <p:sp>
              <p:nvSpPr>
                <p:cNvPr id="269" name="Freeform 269"/>
                <p:cNvSpPr/>
                <p:nvPr/>
              </p:nvSpPr>
              <p:spPr>
                <a:xfrm>
                  <a:off x="4352925" y="5819775"/>
                  <a:ext cx="57150" cy="38100"/>
                </a:xfrm>
                <a:custGeom>
                  <a:avLst/>
                  <a:gdLst/>
                  <a:ahLst/>
                  <a:cxnLst/>
                  <a:rect l="l" t="t" r="r" b="b"/>
                  <a:pathLst>
                    <a:path w="57150" h="38100">
                      <a:moveTo>
                        <a:pt x="0" y="19050"/>
                      </a:moveTo>
                      <a:lnTo>
                        <a:pt x="19050" y="38100"/>
                      </a:lnTo>
                      <a:lnTo>
                        <a:pt x="57150" y="0"/>
                      </a:lnTo>
                    </a:path>
                  </a:pathLst>
                </a:custGeom>
                <a:noFill/>
                <a:ln w="19050">
                  <a:solidFill>
                    <a:srgbClr val="92301C"/>
                  </a:solidFill>
                </a:ln>
              </p:spPr>
            </p:sp>
          </p:grpSp>
          <p:sp>
            <p:nvSpPr>
              <p:cNvPr id="271" name="TextBox 271"/>
              <p:cNvSpPr txBox="1"/>
              <p:nvPr/>
            </p:nvSpPr>
            <p:spPr>
              <a:xfrm>
                <a:off x="4510088" y="57226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误报复核</a:t>
                </a:r>
              </a:p>
            </p:txBody>
          </p:sp>
          <p:sp>
            <p:nvSpPr>
              <p:cNvPr id="272" name="TextBox 272"/>
              <p:cNvSpPr txBox="1"/>
              <p:nvPr/>
            </p:nvSpPr>
            <p:spPr>
              <a:xfrm>
                <a:off x="4186238" y="598908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人工复核机制与申诉渠道</a:t>
                </a:r>
              </a:p>
            </p:txBody>
          </p:sp>
          <p:sp>
            <p:nvSpPr>
              <p:cNvPr id="273" name="TextBox 273"/>
              <p:cNvSpPr txBox="1"/>
              <p:nvPr/>
            </p:nvSpPr>
            <p:spPr>
              <a:xfrm>
                <a:off x="4186238" y="614148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持续优化规则与模型阈值</a:t>
                </a:r>
              </a:p>
            </p:txBody>
          </p:sp>
        </p:grpSp>
        <p:sp>
          <p:nvSpPr>
            <p:cNvPr id="275" name="Polygon 275"/>
            <p:cNvSpPr/>
            <p:nvPr/>
          </p:nvSpPr>
          <p:spPr>
            <a:xfrm>
              <a:off x="5981700" y="6019800"/>
              <a:ext cx="76200" cy="133350"/>
            </a:xfrm>
            <a:custGeom>
              <a:avLst/>
              <a:gdLst/>
              <a:ahLst/>
              <a:cxnLst/>
              <a:rect l="l" t="t" r="r" b="b"/>
              <a:pathLst>
                <a:path w="76200" h="133350">
                  <a:moveTo>
                    <a:pt x="0" y="0"/>
                  </a:moveTo>
                  <a:lnTo>
                    <a:pt x="0" y="133350"/>
                  </a:lnTo>
                  <a:lnTo>
                    <a:pt x="76200" y="66675"/>
                  </a:lnTo>
                  <a:close/>
                </a:path>
              </a:pathLst>
            </a:custGeom>
            <a:solidFill>
              <a:srgbClr val="E3B3A9"/>
            </a:solidFill>
            <a:ln>
              <a:noFill/>
            </a:ln>
          </p:spPr>
        </p:sp>
        <p:grpSp>
          <p:nvGrpSpPr>
            <p:cNvPr id="283" name="bc-4"/>
            <p:cNvGrpSpPr/>
            <p:nvPr/>
          </p:nvGrpSpPr>
          <p:grpSpPr>
            <a:xfrm>
              <a:off x="6076950" y="5562600"/>
              <a:ext cx="1828800" cy="1009650"/>
              <a:chOff x="6076950" y="5562600"/>
              <a:chExt cx="1828800" cy="1009650"/>
            </a:xfrm>
          </p:grpSpPr>
          <p:sp>
            <p:nvSpPr>
              <p:cNvPr id="276" name="Rectangle 276"/>
              <p:cNvSpPr/>
              <p:nvPr/>
            </p:nvSpPr>
            <p:spPr>
              <a:xfrm>
                <a:off x="6076950" y="5562600"/>
                <a:ext cx="1828800" cy="1009650"/>
              </a:xfrm>
              <a:prstGeom prst="roundRect">
                <a:avLst>
                  <a:gd name="adj" fmla="val 5660"/>
                </a:avLst>
              </a:prstGeom>
              <a:solidFill>
                <a:srgbClr val="F6F9FD"/>
              </a:solidFill>
              <a:ln w="9525">
                <a:solidFill>
                  <a:srgbClr val="CFDFEE"/>
                </a:solidFill>
              </a:ln>
            </p:spPr>
          </p:sp>
          <p:grpSp>
            <p:nvGrpSpPr>
              <p:cNvPr id="279" name="Group 279"/>
              <p:cNvGrpSpPr/>
              <p:nvPr/>
            </p:nvGrpSpPr>
            <p:grpSpPr>
              <a:xfrm>
                <a:off x="6201251" y="5685095"/>
                <a:ext cx="175755" cy="179791"/>
                <a:chOff x="6201251" y="5685095"/>
                <a:chExt cx="175755" cy="179791"/>
              </a:xfrm>
            </p:grpSpPr>
            <p:sp>
              <p:nvSpPr>
                <p:cNvPr id="277" name="Freeform 277"/>
                <p:cNvSpPr/>
                <p:nvPr/>
              </p:nvSpPr>
              <p:spPr>
                <a:xfrm>
                  <a:off x="6286500" y="5734050"/>
                  <a:ext cx="19050" cy="57150"/>
                </a:xfrm>
                <a:custGeom>
                  <a:avLst/>
                  <a:gdLst/>
                  <a:ahLst/>
                  <a:cxnLst/>
                  <a:rect l="l" t="t" r="r" b="b"/>
                  <a:pathLst>
                    <a:path w="19050" h="57150">
                      <a:moveTo>
                        <a:pt x="0" y="0"/>
                      </a:moveTo>
                      <a:lnTo>
                        <a:pt x="0" y="38100"/>
                      </a:lnTo>
                      <a:lnTo>
                        <a:pt x="19050" y="57150"/>
                      </a:lnTo>
                    </a:path>
                  </a:pathLst>
                </a:custGeom>
                <a:noFill/>
                <a:ln w="19050">
                  <a:solidFill>
                    <a:srgbClr val="92301C"/>
                  </a:solidFill>
                </a:ln>
              </p:spPr>
            </p:sp>
            <p:sp>
              <p:nvSpPr>
                <p:cNvPr id="278" name="Freeform 278"/>
                <p:cNvSpPr/>
                <p:nvPr/>
              </p:nvSpPr>
              <p:spPr>
                <a:xfrm>
                  <a:off x="6201251" y="5685095"/>
                  <a:ext cx="175755" cy="179791"/>
                </a:xfrm>
                <a:custGeom>
                  <a:avLst/>
                  <a:gdLst/>
                  <a:ahLst/>
                  <a:cxnLst/>
                  <a:rect l="l" t="t" r="r" b="b"/>
                  <a:pathLst>
                    <a:path w="175755" h="179791">
                      <a:moveTo>
                        <a:pt x="0" y="77530"/>
                      </a:moveTo>
                      <a:cubicBezTo>
                        <a:pt x="4419" y="34148"/>
                        <a:pt x="40701" y="996"/>
                        <a:pt x="84305" y="498"/>
                      </a:cubicBezTo>
                      <a:cubicBezTo>
                        <a:pt x="127908" y="0"/>
                        <a:pt x="164938" y="32315"/>
                        <a:pt x="170347" y="75585"/>
                      </a:cubicBezTo>
                      <a:cubicBezTo>
                        <a:pt x="175755" y="118854"/>
                        <a:pt x="147820" y="159290"/>
                        <a:pt x="105435" y="169540"/>
                      </a:cubicBezTo>
                      <a:cubicBezTo>
                        <a:pt x="63050" y="179791"/>
                        <a:pt x="19724" y="156590"/>
                        <a:pt x="4762" y="115630"/>
                      </a:cubicBezTo>
                      <a:moveTo>
                        <a:pt x="0" y="163255"/>
                      </a:moveTo>
                      <a:lnTo>
                        <a:pt x="0" y="115630"/>
                      </a:lnTo>
                      <a:lnTo>
                        <a:pt x="47625" y="115630"/>
                      </a:lnTo>
                    </a:path>
                  </a:pathLst>
                </a:custGeom>
                <a:noFill/>
                <a:ln w="19050">
                  <a:solidFill>
                    <a:srgbClr val="92301C"/>
                  </a:solidFill>
                </a:ln>
              </p:spPr>
            </p:sp>
          </p:grpSp>
          <p:sp>
            <p:nvSpPr>
              <p:cNvPr id="280" name="TextBox 280"/>
              <p:cNvSpPr txBox="1"/>
              <p:nvPr/>
            </p:nvSpPr>
            <p:spPr>
              <a:xfrm>
                <a:off x="6472238" y="57226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审计留痕</a:t>
                </a:r>
              </a:p>
            </p:txBody>
          </p:sp>
          <p:sp>
            <p:nvSpPr>
              <p:cNvPr id="281" name="TextBox 281"/>
              <p:cNvSpPr txBox="1"/>
              <p:nvPr/>
            </p:nvSpPr>
            <p:spPr>
              <a:xfrm>
                <a:off x="6148388" y="5989082"/>
                <a:ext cx="120576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 xml:space="preserve">全流程操作记录与版本管理　</a:t>
                </a:r>
              </a:p>
            </p:txBody>
          </p:sp>
          <p:sp>
            <p:nvSpPr>
              <p:cNvPr id="282" name="TextBox 282"/>
              <p:cNvSpPr txBox="1"/>
              <p:nvPr/>
            </p:nvSpPr>
            <p:spPr>
              <a:xfrm>
                <a:off x="6148388" y="614148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支持监管检查与内部审计</a:t>
                </a:r>
              </a:p>
            </p:txBody>
          </p:sp>
        </p:grpSp>
      </p:grpSp>
      <p:grpSp>
        <p:nvGrpSpPr>
          <p:cNvPr id="287" name="kpi-head"/>
          <p:cNvGrpSpPr/>
          <p:nvPr/>
        </p:nvGrpSpPr>
        <p:grpSpPr>
          <a:xfrm>
            <a:off x="8001000" y="5257800"/>
            <a:ext cx="4000500" cy="272987"/>
            <a:chOff x="8001000" y="5257800"/>
            <a:chExt cx="4000500" cy="272987"/>
          </a:xfrm>
        </p:grpSpPr>
        <p:sp>
          <p:nvSpPr>
            <p:cNvPr id="285" name="Rectangle 285"/>
            <p:cNvSpPr/>
            <p:nvPr/>
          </p:nvSpPr>
          <p:spPr>
            <a:xfrm>
              <a:off x="8001000" y="5257800"/>
              <a:ext cx="4000500" cy="266700"/>
            </a:xfrm>
            <a:prstGeom prst="rect">
              <a:avLst/>
            </a:prstGeom>
            <a:gradFill>
              <a:gsLst>
                <a:gs pos="0">
                  <a:srgbClr val="92301C"/>
                </a:gs>
                <a:gs pos="100000">
                  <a:srgbClr val="B7533F"/>
                </a:gs>
              </a:gsLst>
              <a:lin ang="0" scaled="1"/>
            </a:gradFill>
            <a:ln>
              <a:noFill/>
            </a:ln>
          </p:spPr>
        </p:sp>
        <p:sp>
          <p:nvSpPr>
            <p:cNvPr id="286" name="TextBox 286"/>
            <p:cNvSpPr txBox="1"/>
            <p:nvPr/>
          </p:nvSpPr>
          <p:spPr>
            <a:xfrm>
              <a:off x="8129016" y="5325428"/>
              <a:ext cx="123840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核心成效</a:t>
              </a:r>
              <a:r>
                <a:rPr lang="zh-CN" sz="820" dirty="0">
                  <a:solidFill>
                    <a:srgbClr val="FFFFFF"/>
                  </a:solidFill>
                  <a:latin typeface="+mn-lt"/>
                  <a:ea typeface="+mn-ea"/>
                  <a:cs typeface="+mn-cs"/>
                </a:rPr>
                <a:t>（示例测算）</a:t>
              </a:r>
            </a:p>
          </p:txBody>
        </p:sp>
      </p:grpSp>
      <p:grpSp>
        <p:nvGrpSpPr>
          <p:cNvPr id="306" name="kpi-cards"/>
          <p:cNvGrpSpPr/>
          <p:nvPr/>
        </p:nvGrpSpPr>
        <p:grpSpPr>
          <a:xfrm>
            <a:off x="8001000" y="5562600"/>
            <a:ext cx="4000500" cy="1009650"/>
            <a:chOff x="8001000" y="5562600"/>
            <a:chExt cx="4000500" cy="1009650"/>
          </a:xfrm>
        </p:grpSpPr>
        <p:sp>
          <p:nvSpPr>
            <p:cNvPr id="288" name="Rectangle 288"/>
            <p:cNvSpPr/>
            <p:nvPr/>
          </p:nvSpPr>
          <p:spPr>
            <a:xfrm>
              <a:off x="8001000" y="5562600"/>
              <a:ext cx="1943100" cy="1009650"/>
            </a:xfrm>
            <a:prstGeom prst="roundRect">
              <a:avLst>
                <a:gd name="adj" fmla="val 5660"/>
              </a:avLst>
            </a:prstGeom>
            <a:solidFill>
              <a:srgbClr val="EEF5FB"/>
            </a:solidFill>
            <a:ln>
              <a:noFill/>
            </a:ln>
          </p:spPr>
        </p:sp>
        <p:sp>
          <p:nvSpPr>
            <p:cNvPr id="289" name="Ellipse 289"/>
            <p:cNvSpPr/>
            <p:nvPr/>
          </p:nvSpPr>
          <p:spPr>
            <a:xfrm>
              <a:off x="8096250" y="5695950"/>
              <a:ext cx="304800" cy="304800"/>
            </a:xfrm>
            <a:prstGeom prst="ellipse">
              <a:avLst/>
            </a:prstGeom>
            <a:solidFill>
              <a:srgbClr val="92301C"/>
            </a:solidFill>
            <a:ln>
              <a:noFill/>
            </a:ln>
          </p:spPr>
        </p:sp>
        <p:grpSp>
          <p:nvGrpSpPr>
            <p:cNvPr id="294" name="Group 294"/>
            <p:cNvGrpSpPr/>
            <p:nvPr/>
          </p:nvGrpSpPr>
          <p:grpSpPr>
            <a:xfrm>
              <a:off x="8177212" y="5784850"/>
              <a:ext cx="142875" cy="136525"/>
              <a:chOff x="8177212" y="5784850"/>
              <a:chExt cx="142875" cy="136525"/>
            </a:xfrm>
          </p:grpSpPr>
          <p:sp>
            <p:nvSpPr>
              <p:cNvPr id="290" name="Freeform 290"/>
              <p:cNvSpPr/>
              <p:nvPr/>
            </p:nvSpPr>
            <p:spPr>
              <a:xfrm>
                <a:off x="8177212" y="58483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291" name="Freeform 291"/>
              <p:cNvSpPr/>
              <p:nvPr/>
            </p:nvSpPr>
            <p:spPr>
              <a:xfrm>
                <a:off x="8272462" y="58166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292" name="Freeform 292"/>
              <p:cNvSpPr/>
              <p:nvPr/>
            </p:nvSpPr>
            <p:spPr>
              <a:xfrm>
                <a:off x="8224837" y="57848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293" name="Freeform 293"/>
              <p:cNvSpPr/>
              <p:nvPr/>
            </p:nvSpPr>
            <p:spPr>
              <a:xfrm>
                <a:off x="8185150" y="5911850"/>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295" name="TextBox 295"/>
            <p:cNvSpPr txBox="1"/>
            <p:nvPr/>
          </p:nvSpPr>
          <p:spPr>
            <a:xfrm>
              <a:off x="8491538" y="5789295"/>
              <a:ext cx="736473"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单例调查时间</a:t>
              </a:r>
            </a:p>
          </p:txBody>
        </p:sp>
        <p:sp>
          <p:nvSpPr>
            <p:cNvPr id="296" name="TextBox 296"/>
            <p:cNvSpPr txBox="1"/>
            <p:nvPr/>
          </p:nvSpPr>
          <p:spPr>
            <a:xfrm>
              <a:off x="8486394" y="601884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-50%　</a:t>
              </a:r>
            </a:p>
          </p:txBody>
        </p:sp>
        <p:sp>
          <p:nvSpPr>
            <p:cNvPr id="297" name="TextBox 297"/>
            <p:cNvSpPr txBox="1"/>
            <p:nvPr/>
          </p:nvSpPr>
          <p:spPr>
            <a:xfrm>
              <a:off x="849153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298" name="Rectangle 298"/>
            <p:cNvSpPr/>
            <p:nvPr/>
          </p:nvSpPr>
          <p:spPr>
            <a:xfrm>
              <a:off x="10058400" y="5562600"/>
              <a:ext cx="1943100" cy="1009650"/>
            </a:xfrm>
            <a:prstGeom prst="roundRect">
              <a:avLst>
                <a:gd name="adj" fmla="val 5660"/>
              </a:avLst>
            </a:prstGeom>
            <a:solidFill>
              <a:srgbClr val="EEF5FB"/>
            </a:solidFill>
            <a:ln>
              <a:noFill/>
            </a:ln>
          </p:spPr>
        </p:sp>
        <p:sp>
          <p:nvSpPr>
            <p:cNvPr id="299" name="Ellipse 299"/>
            <p:cNvSpPr/>
            <p:nvPr/>
          </p:nvSpPr>
          <p:spPr>
            <a:xfrm>
              <a:off x="10153650" y="5695950"/>
              <a:ext cx="304800" cy="304800"/>
            </a:xfrm>
            <a:prstGeom prst="ellipse">
              <a:avLst/>
            </a:prstGeom>
            <a:solidFill>
              <a:srgbClr val="92301C"/>
            </a:solidFill>
            <a:ln>
              <a:noFill/>
            </a:ln>
          </p:spPr>
        </p:sp>
        <p:grpSp>
          <p:nvGrpSpPr>
            <p:cNvPr id="302" name="Group 302"/>
            <p:cNvGrpSpPr/>
            <p:nvPr/>
          </p:nvGrpSpPr>
          <p:grpSpPr>
            <a:xfrm>
              <a:off x="10234612" y="5808662"/>
              <a:ext cx="142875" cy="79375"/>
              <a:chOff x="10234612" y="5808662"/>
              <a:chExt cx="142875" cy="79375"/>
            </a:xfrm>
          </p:grpSpPr>
          <p:sp>
            <p:nvSpPr>
              <p:cNvPr id="300" name="Freeform 300"/>
              <p:cNvSpPr/>
              <p:nvPr/>
            </p:nvSpPr>
            <p:spPr>
              <a:xfrm>
                <a:off x="10234612" y="580866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301" name="Freeform 301"/>
              <p:cNvSpPr/>
              <p:nvPr/>
            </p:nvSpPr>
            <p:spPr>
              <a:xfrm>
                <a:off x="10321925" y="5808662"/>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303" name="TextBox 303"/>
            <p:cNvSpPr txBox="1"/>
            <p:nvPr/>
          </p:nvSpPr>
          <p:spPr>
            <a:xfrm>
              <a:off x="10548938" y="5789295"/>
              <a:ext cx="615315"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有效线索率</a:t>
              </a:r>
            </a:p>
          </p:txBody>
        </p:sp>
        <p:sp>
          <p:nvSpPr>
            <p:cNvPr id="304" name="TextBox 304"/>
            <p:cNvSpPr txBox="1"/>
            <p:nvPr/>
          </p:nvSpPr>
          <p:spPr>
            <a:xfrm>
              <a:off x="10543794" y="6018848"/>
              <a:ext cx="112140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+15pct　</a:t>
              </a:r>
            </a:p>
          </p:txBody>
        </p:sp>
        <p:sp>
          <p:nvSpPr>
            <p:cNvPr id="305" name="TextBox 305"/>
            <p:cNvSpPr txBox="1"/>
            <p:nvPr/>
          </p:nvSpPr>
          <p:spPr>
            <a:xfrm>
              <a:off x="1054893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grpSp>
      <p:grpSp>
        <p:nvGrpSpPr>
          <p:cNvPr id="313" name="footer-band"/>
          <p:cNvGrpSpPr/>
          <p:nvPr/>
        </p:nvGrpSpPr>
        <p:grpSpPr>
          <a:xfrm>
            <a:off x="190500" y="6610350"/>
            <a:ext cx="11811000" cy="231457"/>
            <a:chOff x="190500" y="6610350"/>
            <a:chExt cx="11811000" cy="231457"/>
          </a:xfrm>
        </p:grpSpPr>
        <p:sp>
          <p:nvSpPr>
            <p:cNvPr id="307" name="Rectangle 307"/>
            <p:cNvSpPr/>
            <p:nvPr/>
          </p:nvSpPr>
          <p:spPr>
            <a:xfrm>
              <a:off x="190500" y="6610350"/>
              <a:ext cx="11811000" cy="228600"/>
            </a:xfrm>
            <a:prstGeom prst="roundRect">
              <a:avLst>
                <a:gd name="adj" fmla="val 50000"/>
              </a:avLst>
            </a:prstGeom>
            <a:solidFill>
              <a:srgbClr val="EEF5FB"/>
            </a:solidFill>
            <a:ln>
              <a:noFill/>
            </a:ln>
          </p:spPr>
        </p:sp>
        <p:sp>
          <p:nvSpPr>
            <p:cNvPr id="308" name="Ellipse 308"/>
            <p:cNvSpPr/>
            <p:nvPr/>
          </p:nvSpPr>
          <p:spPr>
            <a:xfrm>
              <a:off x="304800" y="6648450"/>
              <a:ext cx="152400" cy="152400"/>
            </a:xfrm>
            <a:prstGeom prst="ellipse">
              <a:avLst/>
            </a:prstGeom>
            <a:solidFill>
              <a:srgbClr val="C8452F"/>
            </a:solidFill>
            <a:ln>
              <a:noFill/>
            </a:ln>
          </p:spPr>
        </p:sp>
        <p:sp>
          <p:nvSpPr>
            <p:cNvPr id="309" name="TextBox 309"/>
            <p:cNvSpPr txBox="1"/>
            <p:nvPr/>
          </p:nvSpPr>
          <p:spPr>
            <a:xfrm>
              <a:off x="359427" y="6681788"/>
              <a:ext cx="43146"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a:t>
              </a:r>
            </a:p>
          </p:txBody>
        </p:sp>
        <p:sp>
          <p:nvSpPr>
            <p:cNvPr id="310" name="TextBox 310"/>
            <p:cNvSpPr txBox="1"/>
            <p:nvPr/>
          </p:nvSpPr>
          <p:spPr>
            <a:xfrm>
              <a:off x="528638" y="6685836"/>
              <a:ext cx="6700139" cy="140494"/>
            </a:xfrm>
            <a:prstGeom prst="rect">
              <a:avLst/>
            </a:prstGeom>
            <a:noFill/>
            <a:ln>
              <a:noFill/>
            </a:ln>
          </p:spPr>
          <p:txBody>
            <a:bodyPr wrap="none" lIns="0" tIns="0" rIns="0" bIns="0" anchor="t" anchorCtr="0">
              <a:spAutoFit/>
            </a:bodyPr>
            <a:lstStyle/>
            <a:p>
              <a:pPr algn="l"/>
              <a:r>
                <a:rPr lang="zh-CN" sz="710" dirty="0">
                  <a:solidFill>
                    <a:srgbClr val="6B1B0B"/>
                  </a:solidFill>
                  <a:latin typeface="+mn-lt"/>
                  <a:ea typeface="+mn-ea"/>
                  <a:cs typeface="+mn-cs"/>
                </a:rPr>
                <a:t>重要提示：反洗钱监测与可疑报告的定性、报送及相关重大风险识别，必须由授权的合规人员确认。本页内容仅为方案示意，不构成任何自动定性或自动报送。</a:t>
              </a:r>
            </a:p>
          </p:txBody>
        </p:sp>
        <p:sp>
          <p:nvSpPr>
            <p:cNvPr id="311" name="Line 311"/>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12" name="TextBox 312"/>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09</a:t>
              </a:r>
            </a:p>
          </p:txBody>
        </p:sp>
      </p:gr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09</a:t>
              </a:r>
            </a:p>
          </p:txBody>
        </p:sp>
        <p:sp>
          <p:nvSpPr>
            <p:cNvPr id="4" name="TextBox 4"/>
            <p:cNvSpPr txBox="1"/>
            <p:nvPr/>
          </p:nvSpPr>
          <p:spPr>
            <a:xfrm>
              <a:off x="942594" y="170498"/>
              <a:ext cx="6057519"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投研分析智能体</a:t>
              </a:r>
              <a:r>
                <a:rPr lang="zh-CN" sz="1950" b="1" dirty="0">
                  <a:solidFill>
                    <a:srgbClr val="92301C"/>
                  </a:solidFill>
                  <a:latin typeface="+mn-lt"/>
                  <a:ea typeface="+mn-ea"/>
                  <a:cs typeface="+mn-cs"/>
                </a:rPr>
                <a:t>｜连接公告、财报、行业与市场数据</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投资交易 · 09</a:t>
              </a:r>
            </a:p>
          </p:txBody>
        </p:sp>
        <p:sp>
          <p:nvSpPr>
            <p:cNvPr id="6" name="TextBox 6"/>
            <p:cNvSpPr txBox="1"/>
            <p:nvPr/>
          </p:nvSpPr>
          <p:spPr>
            <a:xfrm>
              <a:off x="10598238" y="334089"/>
              <a:ext cx="1408025"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数据连接价值 · 专业成就投资</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1" name="col1-head"/>
          <p:cNvGrpSpPr/>
          <p:nvPr/>
        </p:nvGrpSpPr>
        <p:grpSpPr>
          <a:xfrm>
            <a:off x="190500" y="628650"/>
            <a:ext cx="2171700" cy="279559"/>
            <a:chOff x="190500" y="628650"/>
            <a:chExt cx="2171700" cy="279559"/>
          </a:xfrm>
        </p:grpSpPr>
        <p:sp>
          <p:nvSpPr>
            <p:cNvPr id="9" name="Rectangle 9"/>
            <p:cNvSpPr/>
            <p:nvPr/>
          </p:nvSpPr>
          <p:spPr>
            <a:xfrm>
              <a:off x="190500" y="628650"/>
              <a:ext cx="2171700" cy="266700"/>
            </a:xfrm>
            <a:prstGeom prst="rect">
              <a:avLst/>
            </a:prstGeom>
            <a:gradFill>
              <a:gsLst>
                <a:gs pos="0">
                  <a:srgbClr val="92301C"/>
                </a:gs>
                <a:gs pos="100000">
                  <a:srgbClr val="B7533F"/>
                </a:gs>
              </a:gsLst>
              <a:lin ang="0" scaled="1"/>
            </a:gradFill>
            <a:ln>
              <a:noFill/>
            </a:ln>
          </p:spPr>
        </p:sp>
        <p:sp>
          <p:nvSpPr>
            <p:cNvPr id="10" name="TextBox 10"/>
            <p:cNvSpPr txBox="1"/>
            <p:nvPr/>
          </p:nvSpPr>
          <p:spPr>
            <a:xfrm>
              <a:off x="31813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多源信息输入</a:t>
              </a:r>
            </a:p>
          </p:txBody>
        </p:sp>
      </p:grpSp>
      <p:grpSp>
        <p:nvGrpSpPr>
          <p:cNvPr id="14" name="col2-head"/>
          <p:cNvGrpSpPr/>
          <p:nvPr/>
        </p:nvGrpSpPr>
        <p:grpSpPr>
          <a:xfrm>
            <a:off x="2457450" y="628650"/>
            <a:ext cx="3143250" cy="279559"/>
            <a:chOff x="2457450" y="628650"/>
            <a:chExt cx="3143250" cy="279559"/>
          </a:xfrm>
        </p:grpSpPr>
        <p:sp>
          <p:nvSpPr>
            <p:cNvPr id="12" name="Rectangle 12"/>
            <p:cNvSpPr/>
            <p:nvPr/>
          </p:nvSpPr>
          <p:spPr>
            <a:xfrm>
              <a:off x="2457450" y="628650"/>
              <a:ext cx="3143250" cy="266700"/>
            </a:xfrm>
            <a:prstGeom prst="rect">
              <a:avLst/>
            </a:prstGeom>
            <a:gradFill>
              <a:gsLst>
                <a:gs pos="0">
                  <a:srgbClr val="92301C"/>
                </a:gs>
                <a:gs pos="100000">
                  <a:srgbClr val="B7533F"/>
                </a:gs>
              </a:gsLst>
              <a:lin ang="0" scaled="1"/>
            </a:gradFill>
            <a:ln>
              <a:noFill/>
            </a:ln>
          </p:spPr>
        </p:sp>
        <p:sp>
          <p:nvSpPr>
            <p:cNvPr id="13" name="TextBox 13"/>
            <p:cNvSpPr txBox="1"/>
            <p:nvPr/>
          </p:nvSpPr>
          <p:spPr>
            <a:xfrm>
              <a:off x="258508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智能研究链路</a:t>
              </a:r>
            </a:p>
          </p:txBody>
        </p:sp>
      </p:grpSp>
      <p:grpSp>
        <p:nvGrpSpPr>
          <p:cNvPr id="17" name="col3-head"/>
          <p:cNvGrpSpPr/>
          <p:nvPr/>
        </p:nvGrpSpPr>
        <p:grpSpPr>
          <a:xfrm>
            <a:off x="5695950" y="628650"/>
            <a:ext cx="6305550" cy="279559"/>
            <a:chOff x="5695950" y="628650"/>
            <a:chExt cx="6305550" cy="279559"/>
          </a:xfrm>
        </p:grpSpPr>
        <p:sp>
          <p:nvSpPr>
            <p:cNvPr id="15" name="Rectangle 15"/>
            <p:cNvSpPr/>
            <p:nvPr/>
          </p:nvSpPr>
          <p:spPr>
            <a:xfrm>
              <a:off x="5695950" y="628650"/>
              <a:ext cx="6305550" cy="266700"/>
            </a:xfrm>
            <a:prstGeom prst="rect">
              <a:avLst/>
            </a:prstGeom>
            <a:gradFill>
              <a:gsLst>
                <a:gs pos="0">
                  <a:srgbClr val="92301C"/>
                </a:gs>
                <a:gs pos="100000">
                  <a:srgbClr val="B7533F"/>
                </a:gs>
              </a:gsLst>
              <a:lin ang="0" scaled="1"/>
            </a:gradFill>
            <a:ln>
              <a:noFill/>
            </a:ln>
          </p:spPr>
        </p:sp>
        <p:sp>
          <p:nvSpPr>
            <p:cNvPr id="16" name="TextBox 16"/>
            <p:cNvSpPr txBox="1"/>
            <p:nvPr/>
          </p:nvSpPr>
          <p:spPr>
            <a:xfrm>
              <a:off x="5823585" y="688181"/>
              <a:ext cx="1578407"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分析输出示例</a:t>
              </a:r>
              <a:r>
                <a:rPr lang="zh-CN" sz="820" dirty="0">
                  <a:solidFill>
                    <a:srgbClr val="FFFFFF"/>
                  </a:solidFill>
                  <a:latin typeface="+mn-lt"/>
                  <a:ea typeface="+mn-ea"/>
                  <a:cs typeface="+mn-cs"/>
                </a:rPr>
                <a:t>（示例测算）</a:t>
              </a:r>
            </a:p>
          </p:txBody>
        </p:sp>
      </p:grpSp>
      <p:grpSp>
        <p:nvGrpSpPr>
          <p:cNvPr id="79" name="left-cards"/>
          <p:cNvGrpSpPr/>
          <p:nvPr/>
        </p:nvGrpSpPr>
        <p:grpSpPr>
          <a:xfrm>
            <a:off x="190500" y="990600"/>
            <a:ext cx="2171700" cy="4105275"/>
            <a:chOff x="190500" y="990600"/>
            <a:chExt cx="2171700" cy="4105275"/>
          </a:xfrm>
        </p:grpSpPr>
        <p:grpSp>
          <p:nvGrpSpPr>
            <p:cNvPr id="27" name="lc-1"/>
            <p:cNvGrpSpPr/>
            <p:nvPr/>
          </p:nvGrpSpPr>
          <p:grpSpPr>
            <a:xfrm>
              <a:off x="190500" y="990600"/>
              <a:ext cx="2171700" cy="628650"/>
              <a:chOff x="190500" y="990600"/>
              <a:chExt cx="2171700" cy="628650"/>
            </a:xfrm>
          </p:grpSpPr>
          <p:sp>
            <p:nvSpPr>
              <p:cNvPr id="18" name="Rectangle 18"/>
              <p:cNvSpPr/>
              <p:nvPr/>
            </p:nvSpPr>
            <p:spPr>
              <a:xfrm>
                <a:off x="190500" y="990600"/>
                <a:ext cx="2171700" cy="628650"/>
              </a:xfrm>
              <a:prstGeom prst="roundRect">
                <a:avLst>
                  <a:gd name="adj" fmla="val 9091"/>
                </a:avLst>
              </a:prstGeom>
              <a:solidFill>
                <a:srgbClr val="F6F9FD"/>
              </a:solidFill>
              <a:ln w="9525">
                <a:solidFill>
                  <a:srgbClr val="CFDFEE"/>
                </a:solidFill>
              </a:ln>
            </p:spPr>
          </p:sp>
          <p:grpSp>
            <p:nvGrpSpPr>
              <p:cNvPr id="23" name="Group 23"/>
              <p:cNvGrpSpPr/>
              <p:nvPr/>
            </p:nvGrpSpPr>
            <p:grpSpPr>
              <a:xfrm>
                <a:off x="327025" y="1222375"/>
                <a:ext cx="165099" cy="165099"/>
                <a:chOff x="327025" y="1222375"/>
                <a:chExt cx="165099" cy="165099"/>
              </a:xfrm>
            </p:grpSpPr>
            <p:sp>
              <p:nvSpPr>
                <p:cNvPr id="19" name="Freeform 19"/>
                <p:cNvSpPr/>
                <p:nvPr/>
              </p:nvSpPr>
              <p:spPr>
                <a:xfrm>
                  <a:off x="327025" y="1222375"/>
                  <a:ext cx="165099" cy="165099"/>
                </a:xfrm>
                <a:custGeom>
                  <a:avLst/>
                  <a:gdLst/>
                  <a:ahLst/>
                  <a:cxnLst/>
                  <a:rect l="l" t="t" r="r" b="b"/>
                  <a:pathLst>
                    <a:path w="165099" h="165099">
                      <a:moveTo>
                        <a:pt x="123825" y="20637"/>
                      </a:moveTo>
                      <a:lnTo>
                        <a:pt x="154781" y="20637"/>
                      </a:lnTo>
                      <a:cubicBezTo>
                        <a:pt x="160480" y="20637"/>
                        <a:pt x="165099" y="25257"/>
                        <a:pt x="165099" y="30956"/>
                      </a:cubicBezTo>
                      <a:lnTo>
                        <a:pt x="165099" y="144462"/>
                      </a:lnTo>
                      <a:cubicBezTo>
                        <a:pt x="165099" y="155860"/>
                        <a:pt x="155860" y="165099"/>
                        <a:pt x="144462" y="165099"/>
                      </a:cubicBezTo>
                      <a:cubicBezTo>
                        <a:pt x="133064" y="165099"/>
                        <a:pt x="123825" y="155860"/>
                        <a:pt x="123825" y="144462"/>
                      </a:cubicBezTo>
                      <a:lnTo>
                        <a:pt x="123825" y="10319"/>
                      </a:lnTo>
                      <a:cubicBezTo>
                        <a:pt x="123825" y="4620"/>
                        <a:pt x="119205" y="0"/>
                        <a:pt x="113506" y="0"/>
                      </a:cubicBezTo>
                      <a:lnTo>
                        <a:pt x="10319" y="0"/>
                      </a:lnTo>
                      <a:cubicBezTo>
                        <a:pt x="4620" y="0"/>
                        <a:pt x="0" y="4620"/>
                        <a:pt x="0" y="10319"/>
                      </a:cubicBezTo>
                      <a:lnTo>
                        <a:pt x="0" y="134143"/>
                      </a:lnTo>
                      <a:cubicBezTo>
                        <a:pt x="0" y="151240"/>
                        <a:pt x="13860" y="165099"/>
                        <a:pt x="30956" y="165099"/>
                      </a:cubicBezTo>
                      <a:lnTo>
                        <a:pt x="144462" y="165099"/>
                      </a:lnTo>
                    </a:path>
                  </a:pathLst>
                </a:custGeom>
                <a:noFill/>
                <a:ln w="20637">
                  <a:solidFill>
                    <a:srgbClr val="92301C"/>
                  </a:solidFill>
                </a:ln>
              </p:spPr>
            </p:sp>
            <p:sp>
              <p:nvSpPr>
                <p:cNvPr id="20" name="Freeform 20"/>
                <p:cNvSpPr/>
                <p:nvPr/>
              </p:nvSpPr>
              <p:spPr>
                <a:xfrm>
                  <a:off x="368300" y="1263650"/>
                  <a:ext cx="41275" cy="9525"/>
                </a:xfrm>
                <a:custGeom>
                  <a:avLst/>
                  <a:gdLst/>
                  <a:ahLst/>
                  <a:cxnLst/>
                  <a:rect l="l" t="t" r="r" b="b"/>
                  <a:pathLst>
                    <a:path w="41275" h="9525">
                      <a:moveTo>
                        <a:pt x="0" y="0"/>
                      </a:moveTo>
                      <a:lnTo>
                        <a:pt x="41275" y="0"/>
                      </a:lnTo>
                    </a:path>
                  </a:pathLst>
                </a:custGeom>
                <a:noFill/>
                <a:ln w="20637">
                  <a:solidFill>
                    <a:srgbClr val="92301C"/>
                  </a:solidFill>
                </a:ln>
              </p:spPr>
            </p:sp>
            <p:sp>
              <p:nvSpPr>
                <p:cNvPr id="21" name="Freeform 21"/>
                <p:cNvSpPr/>
                <p:nvPr/>
              </p:nvSpPr>
              <p:spPr>
                <a:xfrm>
                  <a:off x="368300" y="1304925"/>
                  <a:ext cx="41275" cy="9525"/>
                </a:xfrm>
                <a:custGeom>
                  <a:avLst/>
                  <a:gdLst/>
                  <a:ahLst/>
                  <a:cxnLst/>
                  <a:rect l="l" t="t" r="r" b="b"/>
                  <a:pathLst>
                    <a:path w="41275" h="9525">
                      <a:moveTo>
                        <a:pt x="0" y="0"/>
                      </a:moveTo>
                      <a:lnTo>
                        <a:pt x="41275" y="0"/>
                      </a:lnTo>
                    </a:path>
                  </a:pathLst>
                </a:custGeom>
                <a:noFill/>
                <a:ln w="20637">
                  <a:solidFill>
                    <a:srgbClr val="92301C"/>
                  </a:solidFill>
                </a:ln>
              </p:spPr>
            </p:sp>
            <p:sp>
              <p:nvSpPr>
                <p:cNvPr id="22" name="Freeform 22"/>
                <p:cNvSpPr/>
                <p:nvPr/>
              </p:nvSpPr>
              <p:spPr>
                <a:xfrm>
                  <a:off x="368300" y="1346199"/>
                  <a:ext cx="41275" cy="9525"/>
                </a:xfrm>
                <a:custGeom>
                  <a:avLst/>
                  <a:gdLst/>
                  <a:ahLst/>
                  <a:cxnLst/>
                  <a:rect l="l" t="t" r="r" b="b"/>
                  <a:pathLst>
                    <a:path w="41275" h="9525">
                      <a:moveTo>
                        <a:pt x="0" y="0"/>
                      </a:moveTo>
                      <a:lnTo>
                        <a:pt x="41275" y="0"/>
                      </a:lnTo>
                    </a:path>
                  </a:pathLst>
                </a:custGeom>
                <a:noFill/>
                <a:ln w="20637">
                  <a:solidFill>
                    <a:srgbClr val="92301C"/>
                  </a:solidFill>
                </a:ln>
              </p:spPr>
            </p:sp>
          </p:grpSp>
          <p:sp>
            <p:nvSpPr>
              <p:cNvPr id="24" name="TextBox 24"/>
              <p:cNvSpPr txBox="1"/>
              <p:nvPr/>
            </p:nvSpPr>
            <p:spPr>
              <a:xfrm>
                <a:off x="623888" y="1070372"/>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公告</a:t>
                </a:r>
              </a:p>
            </p:txBody>
          </p:sp>
          <p:sp>
            <p:nvSpPr>
              <p:cNvPr id="25" name="TextBox 25"/>
              <p:cNvSpPr txBox="1"/>
              <p:nvPr/>
            </p:nvSpPr>
            <p:spPr>
              <a:xfrm>
                <a:off x="623888" y="1270159"/>
                <a:ext cx="975802"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 xml:space="preserve">上交所/深交所/港交所　</a:t>
                </a:r>
              </a:p>
            </p:txBody>
          </p:sp>
          <p:sp>
            <p:nvSpPr>
              <p:cNvPr id="26" name="TextBox 26"/>
              <p:cNvSpPr txBox="1"/>
              <p:nvPr/>
            </p:nvSpPr>
            <p:spPr>
              <a:xfrm>
                <a:off x="623888" y="1413034"/>
                <a:ext cx="1300262"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 xml:space="preserve">重大事项/定期报告/临时公告　</a:t>
                </a:r>
              </a:p>
            </p:txBody>
          </p:sp>
        </p:grpSp>
        <p:grpSp>
          <p:nvGrpSpPr>
            <p:cNvPr id="38" name="lc-2"/>
            <p:cNvGrpSpPr/>
            <p:nvPr/>
          </p:nvGrpSpPr>
          <p:grpSpPr>
            <a:xfrm>
              <a:off x="190500" y="1685925"/>
              <a:ext cx="2171700" cy="628650"/>
              <a:chOff x="190500" y="1685925"/>
              <a:chExt cx="2171700" cy="628650"/>
            </a:xfrm>
          </p:grpSpPr>
          <p:sp>
            <p:nvSpPr>
              <p:cNvPr id="28" name="Rectangle 28"/>
              <p:cNvSpPr/>
              <p:nvPr/>
            </p:nvSpPr>
            <p:spPr>
              <a:xfrm>
                <a:off x="190500" y="1685925"/>
                <a:ext cx="2171700" cy="628650"/>
              </a:xfrm>
              <a:prstGeom prst="roundRect">
                <a:avLst>
                  <a:gd name="adj" fmla="val 9091"/>
                </a:avLst>
              </a:prstGeom>
              <a:solidFill>
                <a:srgbClr val="F6F9FD"/>
              </a:solidFill>
              <a:ln w="9525">
                <a:solidFill>
                  <a:srgbClr val="CFDFEE"/>
                </a:solidFill>
              </a:ln>
            </p:spPr>
          </p:sp>
          <p:grpSp>
            <p:nvGrpSpPr>
              <p:cNvPr id="34" name="Group 34"/>
              <p:cNvGrpSpPr/>
              <p:nvPr/>
            </p:nvGrpSpPr>
            <p:grpSpPr>
              <a:xfrm>
                <a:off x="337344" y="1907381"/>
                <a:ext cx="144462" cy="185737"/>
                <a:chOff x="337344" y="1907381"/>
                <a:chExt cx="144462" cy="185737"/>
              </a:xfrm>
            </p:grpSpPr>
            <p:sp>
              <p:nvSpPr>
                <p:cNvPr id="29" name="Freeform 29"/>
                <p:cNvSpPr/>
                <p:nvPr/>
              </p:nvSpPr>
              <p:spPr>
                <a:xfrm>
                  <a:off x="430212" y="1907381"/>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30" name="Freeform 30"/>
                <p:cNvSpPr/>
                <p:nvPr/>
              </p:nvSpPr>
              <p:spPr>
                <a:xfrm>
                  <a:off x="337344" y="1907381"/>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92301C"/>
                  </a:solidFill>
                </a:ln>
              </p:spPr>
            </p:sp>
            <p:sp>
              <p:nvSpPr>
                <p:cNvPr id="31" name="Freeform 31"/>
                <p:cNvSpPr/>
                <p:nvPr/>
              </p:nvSpPr>
              <p:spPr>
                <a:xfrm>
                  <a:off x="378618" y="1948656"/>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32" name="Freeform 32"/>
                <p:cNvSpPr/>
                <p:nvPr/>
              </p:nvSpPr>
              <p:spPr>
                <a:xfrm>
                  <a:off x="378618" y="2010568"/>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33" name="Freeform 33"/>
                <p:cNvSpPr/>
                <p:nvPr/>
              </p:nvSpPr>
              <p:spPr>
                <a:xfrm>
                  <a:off x="419893" y="2051843"/>
                  <a:ext cx="20637" cy="9525"/>
                </a:xfrm>
                <a:custGeom>
                  <a:avLst/>
                  <a:gdLst/>
                  <a:ahLst/>
                  <a:cxnLst/>
                  <a:rect l="l" t="t" r="r" b="b"/>
                  <a:pathLst>
                    <a:path w="20637" h="9525">
                      <a:moveTo>
                        <a:pt x="0" y="0"/>
                      </a:moveTo>
                      <a:lnTo>
                        <a:pt x="20637" y="0"/>
                      </a:lnTo>
                    </a:path>
                  </a:pathLst>
                </a:custGeom>
                <a:noFill/>
                <a:ln w="20637">
                  <a:solidFill>
                    <a:srgbClr val="92301C"/>
                  </a:solidFill>
                </a:ln>
              </p:spPr>
            </p:sp>
          </p:grpSp>
          <p:sp>
            <p:nvSpPr>
              <p:cNvPr id="35" name="TextBox 35"/>
              <p:cNvSpPr txBox="1"/>
              <p:nvPr/>
            </p:nvSpPr>
            <p:spPr>
              <a:xfrm>
                <a:off x="623888" y="1765697"/>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财报</a:t>
                </a:r>
              </a:p>
            </p:txBody>
          </p:sp>
          <p:sp>
            <p:nvSpPr>
              <p:cNvPr id="36" name="TextBox 36"/>
              <p:cNvSpPr txBox="1"/>
              <p:nvPr/>
            </p:nvSpPr>
            <p:spPr>
              <a:xfrm>
                <a:off x="623888" y="1965484"/>
                <a:ext cx="139180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 xml:space="preserve">资产负债表/利润表/现金流量表　</a:t>
                </a:r>
              </a:p>
            </p:txBody>
          </p:sp>
          <p:sp>
            <p:nvSpPr>
              <p:cNvPr id="37" name="TextBox 37"/>
              <p:cNvSpPr txBox="1"/>
              <p:nvPr/>
            </p:nvSpPr>
            <p:spPr>
              <a:xfrm>
                <a:off x="623888" y="2108359"/>
                <a:ext cx="609122"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指标/业绩快报</a:t>
                </a:r>
              </a:p>
            </p:txBody>
          </p:sp>
        </p:grpSp>
        <p:grpSp>
          <p:nvGrpSpPr>
            <p:cNvPr id="47" name="lc-3"/>
            <p:cNvGrpSpPr/>
            <p:nvPr/>
          </p:nvGrpSpPr>
          <p:grpSpPr>
            <a:xfrm>
              <a:off x="190500" y="2381250"/>
              <a:ext cx="2171700" cy="628650"/>
              <a:chOff x="190500" y="2381250"/>
              <a:chExt cx="2171700" cy="628650"/>
            </a:xfrm>
          </p:grpSpPr>
          <p:sp>
            <p:nvSpPr>
              <p:cNvPr id="39" name="Rectangle 39"/>
              <p:cNvSpPr/>
              <p:nvPr/>
            </p:nvSpPr>
            <p:spPr>
              <a:xfrm>
                <a:off x="190500" y="2381250"/>
                <a:ext cx="2171700" cy="628650"/>
              </a:xfrm>
              <a:prstGeom prst="roundRect">
                <a:avLst>
                  <a:gd name="adj" fmla="val 9091"/>
                </a:avLst>
              </a:prstGeom>
              <a:solidFill>
                <a:srgbClr val="F6F9FD"/>
              </a:solidFill>
              <a:ln w="9525">
                <a:solidFill>
                  <a:srgbClr val="CFDFEE"/>
                </a:solidFill>
              </a:ln>
            </p:spPr>
          </p:sp>
          <p:grpSp>
            <p:nvGrpSpPr>
              <p:cNvPr id="43" name="Group 43"/>
              <p:cNvGrpSpPr/>
              <p:nvPr/>
            </p:nvGrpSpPr>
            <p:grpSpPr>
              <a:xfrm>
                <a:off x="337344" y="2613025"/>
                <a:ext cx="144462" cy="165099"/>
                <a:chOff x="337344" y="2613025"/>
                <a:chExt cx="144462" cy="165099"/>
              </a:xfrm>
            </p:grpSpPr>
            <p:sp>
              <p:nvSpPr>
                <p:cNvPr id="40" name="Freeform 40"/>
                <p:cNvSpPr/>
                <p:nvPr/>
              </p:nvSpPr>
              <p:spPr>
                <a:xfrm>
                  <a:off x="337344" y="2613025"/>
                  <a:ext cx="144462" cy="165099"/>
                </a:xfrm>
                <a:custGeom>
                  <a:avLst/>
                  <a:gdLst/>
                  <a:ahLst/>
                  <a:cxnLst/>
                  <a:rect l="l" t="t" r="r" b="b"/>
                  <a:pathLst>
                    <a:path w="144462" h="165099">
                      <a:moveTo>
                        <a:pt x="144462" y="0"/>
                      </a:moveTo>
                      <a:lnTo>
                        <a:pt x="144462" y="165099"/>
                      </a:lnTo>
                      <a:lnTo>
                        <a:pt x="20637" y="165099"/>
                      </a:lnTo>
                      <a:cubicBezTo>
                        <a:pt x="9240" y="165099"/>
                        <a:pt x="0" y="155860"/>
                        <a:pt x="0" y="144462"/>
                      </a:cubicBezTo>
                      <a:lnTo>
                        <a:pt x="0" y="20637"/>
                      </a:lnTo>
                      <a:cubicBezTo>
                        <a:pt x="0" y="9240"/>
                        <a:pt x="9240" y="0"/>
                        <a:pt x="20637" y="0"/>
                      </a:cubicBezTo>
                      <a:lnTo>
                        <a:pt x="144462" y="0"/>
                      </a:lnTo>
                    </a:path>
                  </a:pathLst>
                </a:custGeom>
                <a:noFill/>
                <a:ln w="20637">
                  <a:solidFill>
                    <a:srgbClr val="92301C"/>
                  </a:solidFill>
                </a:ln>
              </p:spPr>
            </p:sp>
            <p:sp>
              <p:nvSpPr>
                <p:cNvPr id="41" name="Freeform 41"/>
                <p:cNvSpPr/>
                <p:nvPr/>
              </p:nvSpPr>
              <p:spPr>
                <a:xfrm>
                  <a:off x="337344" y="2736849"/>
                  <a:ext cx="144462" cy="20637"/>
                </a:xfrm>
                <a:custGeom>
                  <a:avLst/>
                  <a:gdLst/>
                  <a:ahLst/>
                  <a:cxnLst/>
                  <a:rect l="l" t="t" r="r" b="b"/>
                  <a:pathLst>
                    <a:path w="144462" h="20637">
                      <a:moveTo>
                        <a:pt x="144462" y="0"/>
                      </a:moveTo>
                      <a:lnTo>
                        <a:pt x="20637" y="0"/>
                      </a:lnTo>
                      <a:cubicBezTo>
                        <a:pt x="9240" y="0"/>
                        <a:pt x="0" y="9240"/>
                        <a:pt x="0" y="20637"/>
                      </a:cubicBezTo>
                    </a:path>
                  </a:pathLst>
                </a:custGeom>
                <a:noFill/>
                <a:ln w="20637">
                  <a:solidFill>
                    <a:srgbClr val="92301C"/>
                  </a:solidFill>
                </a:ln>
              </p:spPr>
            </p:sp>
            <p:sp>
              <p:nvSpPr>
                <p:cNvPr id="42" name="Freeform 42"/>
                <p:cNvSpPr/>
                <p:nvPr/>
              </p:nvSpPr>
              <p:spPr>
                <a:xfrm>
                  <a:off x="378618" y="2654300"/>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44" name="TextBox 44"/>
              <p:cNvSpPr txBox="1"/>
              <p:nvPr/>
            </p:nvSpPr>
            <p:spPr>
              <a:xfrm>
                <a:off x="623888" y="2461022"/>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研报</a:t>
                </a:r>
              </a:p>
            </p:txBody>
          </p:sp>
          <p:sp>
            <p:nvSpPr>
              <p:cNvPr id="45" name="TextBox 45"/>
              <p:cNvSpPr txBox="1"/>
              <p:nvPr/>
            </p:nvSpPr>
            <p:spPr>
              <a:xfrm>
                <a:off x="623888" y="2660809"/>
                <a:ext cx="1300262"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 xml:space="preserve">券商研报/行业报告/公司深度　</a:t>
                </a:r>
              </a:p>
            </p:txBody>
          </p:sp>
          <p:sp>
            <p:nvSpPr>
              <p:cNvPr id="46" name="TextBox 46"/>
              <p:cNvSpPr txBox="1"/>
              <p:nvPr/>
            </p:nvSpPr>
            <p:spPr>
              <a:xfrm>
                <a:off x="623888" y="2803684"/>
                <a:ext cx="79220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盈利预测/投资评级</a:t>
                </a:r>
              </a:p>
            </p:txBody>
          </p:sp>
        </p:grpSp>
        <p:grpSp>
          <p:nvGrpSpPr>
            <p:cNvPr id="58" name="lc-4"/>
            <p:cNvGrpSpPr/>
            <p:nvPr/>
          </p:nvGrpSpPr>
          <p:grpSpPr>
            <a:xfrm>
              <a:off x="190500" y="3076575"/>
              <a:ext cx="2171700" cy="628650"/>
              <a:chOff x="190500" y="3076575"/>
              <a:chExt cx="2171700" cy="628650"/>
            </a:xfrm>
          </p:grpSpPr>
          <p:sp>
            <p:nvSpPr>
              <p:cNvPr id="48" name="Rectangle 48"/>
              <p:cNvSpPr/>
              <p:nvPr/>
            </p:nvSpPr>
            <p:spPr>
              <a:xfrm>
                <a:off x="190500" y="3076575"/>
                <a:ext cx="2171700" cy="628650"/>
              </a:xfrm>
              <a:prstGeom prst="roundRect">
                <a:avLst>
                  <a:gd name="adj" fmla="val 9091"/>
                </a:avLst>
              </a:prstGeom>
              <a:solidFill>
                <a:srgbClr val="F6F9FD"/>
              </a:solidFill>
              <a:ln w="9525">
                <a:solidFill>
                  <a:srgbClr val="CFDFEE"/>
                </a:solidFill>
              </a:ln>
            </p:spPr>
          </p:sp>
          <p:grpSp>
            <p:nvGrpSpPr>
              <p:cNvPr id="54" name="Group 54"/>
              <p:cNvGrpSpPr/>
              <p:nvPr/>
            </p:nvGrpSpPr>
            <p:grpSpPr>
              <a:xfrm>
                <a:off x="316706" y="3298031"/>
                <a:ext cx="185737" cy="185737"/>
                <a:chOff x="316706" y="3298031"/>
                <a:chExt cx="185737" cy="185737"/>
              </a:xfrm>
            </p:grpSpPr>
            <p:sp>
              <p:nvSpPr>
                <p:cNvPr id="49" name="Freeform 49"/>
                <p:cNvSpPr/>
                <p:nvPr/>
              </p:nvSpPr>
              <p:spPr>
                <a:xfrm>
                  <a:off x="316706" y="32980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92301C"/>
                  </a:solidFill>
                </a:ln>
              </p:spPr>
            </p:sp>
            <p:sp>
              <p:nvSpPr>
                <p:cNvPr id="50" name="Freeform 50"/>
                <p:cNvSpPr/>
                <p:nvPr/>
              </p:nvSpPr>
              <p:spPr>
                <a:xfrm>
                  <a:off x="322897" y="3359943"/>
                  <a:ext cx="173354" cy="9525"/>
                </a:xfrm>
                <a:custGeom>
                  <a:avLst/>
                  <a:gdLst/>
                  <a:ahLst/>
                  <a:cxnLst/>
                  <a:rect l="l" t="t" r="r" b="b"/>
                  <a:pathLst>
                    <a:path w="173354" h="9525">
                      <a:moveTo>
                        <a:pt x="0" y="0"/>
                      </a:moveTo>
                      <a:lnTo>
                        <a:pt x="173354" y="0"/>
                      </a:lnTo>
                    </a:path>
                  </a:pathLst>
                </a:custGeom>
                <a:noFill/>
                <a:ln w="20637">
                  <a:solidFill>
                    <a:srgbClr val="92301C"/>
                  </a:solidFill>
                </a:ln>
              </p:spPr>
            </p:sp>
            <p:sp>
              <p:nvSpPr>
                <p:cNvPr id="51" name="Freeform 51"/>
                <p:cNvSpPr/>
                <p:nvPr/>
              </p:nvSpPr>
              <p:spPr>
                <a:xfrm>
                  <a:off x="322897" y="3421856"/>
                  <a:ext cx="173354" cy="9525"/>
                </a:xfrm>
                <a:custGeom>
                  <a:avLst/>
                  <a:gdLst/>
                  <a:ahLst/>
                  <a:cxnLst/>
                  <a:rect l="l" t="t" r="r" b="b"/>
                  <a:pathLst>
                    <a:path w="173354" h="9525">
                      <a:moveTo>
                        <a:pt x="0" y="0"/>
                      </a:moveTo>
                      <a:lnTo>
                        <a:pt x="173354" y="0"/>
                      </a:lnTo>
                    </a:path>
                  </a:pathLst>
                </a:custGeom>
                <a:noFill/>
                <a:ln w="20637">
                  <a:solidFill>
                    <a:srgbClr val="92301C"/>
                  </a:solidFill>
                </a:ln>
              </p:spPr>
            </p:sp>
            <p:sp>
              <p:nvSpPr>
                <p:cNvPr id="52" name="Freeform 52"/>
                <p:cNvSpPr/>
                <p:nvPr/>
              </p:nvSpPr>
              <p:spPr>
                <a:xfrm>
                  <a:off x="368949" y="3298031"/>
                  <a:ext cx="35466" cy="185737"/>
                </a:xfrm>
                <a:custGeom>
                  <a:avLst/>
                  <a:gdLst/>
                  <a:ahLst/>
                  <a:cxnLst/>
                  <a:rect l="l" t="t" r="r" b="b"/>
                  <a:pathLst>
                    <a:path w="35466" h="185737">
                      <a:moveTo>
                        <a:pt x="35466" y="0"/>
                      </a:moveTo>
                      <a:cubicBezTo>
                        <a:pt x="0" y="56833"/>
                        <a:pt x="0" y="128904"/>
                        <a:pt x="35466" y="185737"/>
                      </a:cubicBezTo>
                    </a:path>
                  </a:pathLst>
                </a:custGeom>
                <a:noFill/>
                <a:ln w="20637">
                  <a:solidFill>
                    <a:srgbClr val="92301C"/>
                  </a:solidFill>
                </a:ln>
              </p:spPr>
            </p:sp>
            <p:sp>
              <p:nvSpPr>
                <p:cNvPr id="53" name="Freeform 53"/>
                <p:cNvSpPr/>
                <p:nvPr/>
              </p:nvSpPr>
              <p:spPr>
                <a:xfrm>
                  <a:off x="414734" y="3298031"/>
                  <a:ext cx="35466" cy="185737"/>
                </a:xfrm>
                <a:custGeom>
                  <a:avLst/>
                  <a:gdLst/>
                  <a:ahLst/>
                  <a:cxnLst/>
                  <a:rect l="l" t="t" r="r" b="b"/>
                  <a:pathLst>
                    <a:path w="35466" h="185737">
                      <a:moveTo>
                        <a:pt x="0" y="0"/>
                      </a:moveTo>
                      <a:cubicBezTo>
                        <a:pt x="35466" y="56833"/>
                        <a:pt x="35466" y="128904"/>
                        <a:pt x="0" y="185737"/>
                      </a:cubicBezTo>
                    </a:path>
                  </a:pathLst>
                </a:custGeom>
                <a:noFill/>
                <a:ln w="20637">
                  <a:solidFill>
                    <a:srgbClr val="92301C"/>
                  </a:solidFill>
                </a:ln>
              </p:spPr>
            </p:sp>
          </p:grpSp>
          <p:sp>
            <p:nvSpPr>
              <p:cNvPr id="55" name="TextBox 55"/>
              <p:cNvSpPr txBox="1"/>
              <p:nvPr/>
            </p:nvSpPr>
            <p:spPr>
              <a:xfrm>
                <a:off x="623888" y="3156347"/>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宏观</a:t>
                </a:r>
              </a:p>
            </p:txBody>
          </p:sp>
          <p:sp>
            <p:nvSpPr>
              <p:cNvPr id="56" name="TextBox 56"/>
              <p:cNvSpPr txBox="1"/>
              <p:nvPr/>
            </p:nvSpPr>
            <p:spPr>
              <a:xfrm>
                <a:off x="623888" y="3356134"/>
                <a:ext cx="91723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 xml:space="preserve">GDP/CPI/利率/汇率　</a:t>
                </a:r>
              </a:p>
            </p:txBody>
          </p:sp>
          <p:sp>
            <p:nvSpPr>
              <p:cNvPr id="57" name="TextBox 57"/>
              <p:cNvSpPr txBox="1"/>
              <p:nvPr/>
            </p:nvSpPr>
            <p:spPr>
              <a:xfrm>
                <a:off x="623888" y="3499009"/>
                <a:ext cx="79220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货币政策/财政政策</a:t>
                </a:r>
              </a:p>
            </p:txBody>
          </p:sp>
        </p:grpSp>
        <p:grpSp>
          <p:nvGrpSpPr>
            <p:cNvPr id="70" name="lc-5"/>
            <p:cNvGrpSpPr/>
            <p:nvPr/>
          </p:nvGrpSpPr>
          <p:grpSpPr>
            <a:xfrm>
              <a:off x="190500" y="3771900"/>
              <a:ext cx="2171700" cy="628650"/>
              <a:chOff x="190500" y="3771900"/>
              <a:chExt cx="2171700" cy="628650"/>
            </a:xfrm>
          </p:grpSpPr>
          <p:sp>
            <p:nvSpPr>
              <p:cNvPr id="59" name="Rectangle 59"/>
              <p:cNvSpPr/>
              <p:nvPr/>
            </p:nvSpPr>
            <p:spPr>
              <a:xfrm>
                <a:off x="190500" y="3771900"/>
                <a:ext cx="2171700" cy="628650"/>
              </a:xfrm>
              <a:prstGeom prst="roundRect">
                <a:avLst>
                  <a:gd name="adj" fmla="val 9091"/>
                </a:avLst>
              </a:prstGeom>
              <a:solidFill>
                <a:srgbClr val="F6F9FD"/>
              </a:solidFill>
              <a:ln w="9525">
                <a:solidFill>
                  <a:srgbClr val="CFDFEE"/>
                </a:solidFill>
              </a:ln>
            </p:spPr>
          </p:sp>
          <p:grpSp>
            <p:nvGrpSpPr>
              <p:cNvPr id="66" name="Group 66"/>
              <p:cNvGrpSpPr/>
              <p:nvPr/>
            </p:nvGrpSpPr>
            <p:grpSpPr>
              <a:xfrm>
                <a:off x="337344" y="4003675"/>
                <a:ext cx="154780" cy="165099"/>
                <a:chOff x="337344" y="4003675"/>
                <a:chExt cx="154780" cy="165099"/>
              </a:xfrm>
            </p:grpSpPr>
            <p:sp>
              <p:nvSpPr>
                <p:cNvPr id="60" name="Freeform 60"/>
                <p:cNvSpPr/>
                <p:nvPr/>
              </p:nvSpPr>
              <p:spPr>
                <a:xfrm>
                  <a:off x="337344" y="4127499"/>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61" name="Freeform 61"/>
                <p:cNvSpPr/>
                <p:nvPr/>
              </p:nvSpPr>
              <p:spPr>
                <a:xfrm>
                  <a:off x="337344" y="4003675"/>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62" name="Freeform 62"/>
                <p:cNvSpPr/>
                <p:nvPr/>
              </p:nvSpPr>
              <p:spPr>
                <a:xfrm>
                  <a:off x="440531" y="4003675"/>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63" name="Freeform 63"/>
                <p:cNvSpPr/>
                <p:nvPr/>
              </p:nvSpPr>
              <p:spPr>
                <a:xfrm>
                  <a:off x="357981" y="4044950"/>
                  <a:ext cx="9525" cy="82550"/>
                </a:xfrm>
                <a:custGeom>
                  <a:avLst/>
                  <a:gdLst/>
                  <a:ahLst/>
                  <a:cxnLst/>
                  <a:rect l="l" t="t" r="r" b="b"/>
                  <a:pathLst>
                    <a:path w="9525" h="82550">
                      <a:moveTo>
                        <a:pt x="0" y="0"/>
                      </a:moveTo>
                      <a:lnTo>
                        <a:pt x="0" y="82550"/>
                      </a:lnTo>
                    </a:path>
                  </a:pathLst>
                </a:custGeom>
                <a:noFill/>
                <a:ln w="20637">
                  <a:solidFill>
                    <a:srgbClr val="92301C"/>
                  </a:solidFill>
                </a:ln>
              </p:spPr>
            </p:sp>
            <p:sp>
              <p:nvSpPr>
                <p:cNvPr id="64" name="Freeform 64"/>
                <p:cNvSpPr/>
                <p:nvPr/>
              </p:nvSpPr>
              <p:spPr>
                <a:xfrm>
                  <a:off x="378618" y="4075906"/>
                  <a:ext cx="82550" cy="72231"/>
                </a:xfrm>
                <a:custGeom>
                  <a:avLst/>
                  <a:gdLst/>
                  <a:ahLst/>
                  <a:cxnLst/>
                  <a:rect l="l" t="t" r="r" b="b"/>
                  <a:pathLst>
                    <a:path w="82550" h="72231">
                      <a:moveTo>
                        <a:pt x="0" y="72231"/>
                      </a:moveTo>
                      <a:lnTo>
                        <a:pt x="61912" y="72231"/>
                      </a:lnTo>
                      <a:cubicBezTo>
                        <a:pt x="73310" y="72231"/>
                        <a:pt x="82550" y="62991"/>
                        <a:pt x="82550" y="51594"/>
                      </a:cubicBezTo>
                      <a:lnTo>
                        <a:pt x="82550" y="0"/>
                      </a:lnTo>
                    </a:path>
                  </a:pathLst>
                </a:custGeom>
                <a:noFill/>
                <a:ln w="20637">
                  <a:solidFill>
                    <a:srgbClr val="92301C"/>
                  </a:solidFill>
                </a:ln>
              </p:spPr>
            </p:sp>
            <p:sp>
              <p:nvSpPr>
                <p:cNvPr id="65" name="Freeform 65"/>
                <p:cNvSpPr/>
                <p:nvPr/>
              </p:nvSpPr>
              <p:spPr>
                <a:xfrm>
                  <a:off x="430212" y="4075906"/>
                  <a:ext cx="61912" cy="30956"/>
                </a:xfrm>
                <a:custGeom>
                  <a:avLst/>
                  <a:gdLst/>
                  <a:ahLst/>
                  <a:cxnLst/>
                  <a:rect l="l" t="t" r="r" b="b"/>
                  <a:pathLst>
                    <a:path w="61912" h="30956">
                      <a:moveTo>
                        <a:pt x="0" y="30956"/>
                      </a:moveTo>
                      <a:lnTo>
                        <a:pt x="30956" y="0"/>
                      </a:lnTo>
                      <a:lnTo>
                        <a:pt x="61912" y="30956"/>
                      </a:lnTo>
                    </a:path>
                  </a:pathLst>
                </a:custGeom>
                <a:noFill/>
                <a:ln w="20637">
                  <a:solidFill>
                    <a:srgbClr val="92301C"/>
                  </a:solidFill>
                </a:ln>
              </p:spPr>
            </p:sp>
          </p:grpSp>
          <p:sp>
            <p:nvSpPr>
              <p:cNvPr id="67" name="TextBox 67"/>
              <p:cNvSpPr txBox="1"/>
              <p:nvPr/>
            </p:nvSpPr>
            <p:spPr>
              <a:xfrm>
                <a:off x="623888" y="3851672"/>
                <a:ext cx="389153"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产业链</a:t>
                </a:r>
              </a:p>
            </p:txBody>
          </p:sp>
          <p:sp>
            <p:nvSpPr>
              <p:cNvPr id="68" name="TextBox 68"/>
              <p:cNvSpPr txBox="1"/>
              <p:nvPr/>
            </p:nvSpPr>
            <p:spPr>
              <a:xfrm>
                <a:off x="623888" y="4051459"/>
                <a:ext cx="139180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 xml:space="preserve">上游原材料/中游制造/下游需求　</a:t>
                </a:r>
              </a:p>
            </p:txBody>
          </p:sp>
          <p:sp>
            <p:nvSpPr>
              <p:cNvPr id="69" name="TextBox 69"/>
              <p:cNvSpPr txBox="1"/>
              <p:nvPr/>
            </p:nvSpPr>
            <p:spPr>
              <a:xfrm>
                <a:off x="623888" y="4194334"/>
                <a:ext cx="79220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行业供需/价格数据</a:t>
                </a:r>
              </a:p>
            </p:txBody>
          </p:sp>
        </p:grpSp>
        <p:grpSp>
          <p:nvGrpSpPr>
            <p:cNvPr id="78" name="lc-6"/>
            <p:cNvGrpSpPr/>
            <p:nvPr/>
          </p:nvGrpSpPr>
          <p:grpSpPr>
            <a:xfrm>
              <a:off x="190500" y="4467225"/>
              <a:ext cx="2171700" cy="628650"/>
              <a:chOff x="190500" y="4467225"/>
              <a:chExt cx="2171700" cy="628650"/>
            </a:xfrm>
          </p:grpSpPr>
          <p:sp>
            <p:nvSpPr>
              <p:cNvPr id="71" name="Rectangle 71"/>
              <p:cNvSpPr/>
              <p:nvPr/>
            </p:nvSpPr>
            <p:spPr>
              <a:xfrm>
                <a:off x="190500" y="4467225"/>
                <a:ext cx="2171700" cy="628650"/>
              </a:xfrm>
              <a:prstGeom prst="roundRect">
                <a:avLst>
                  <a:gd name="adj" fmla="val 9091"/>
                </a:avLst>
              </a:prstGeom>
              <a:solidFill>
                <a:srgbClr val="F6F9FD"/>
              </a:solidFill>
              <a:ln w="9525">
                <a:solidFill>
                  <a:srgbClr val="CFDFEE"/>
                </a:solidFill>
              </a:ln>
            </p:spPr>
          </p:sp>
          <p:grpSp>
            <p:nvGrpSpPr>
              <p:cNvPr id="74" name="Group 74"/>
              <p:cNvGrpSpPr/>
              <p:nvPr/>
            </p:nvGrpSpPr>
            <p:grpSpPr>
              <a:xfrm>
                <a:off x="327025" y="4719637"/>
                <a:ext cx="165099" cy="143669"/>
                <a:chOff x="327025" y="4719637"/>
                <a:chExt cx="165099" cy="143669"/>
              </a:xfrm>
            </p:grpSpPr>
            <p:sp>
              <p:nvSpPr>
                <p:cNvPr id="72" name="Freeform 72"/>
                <p:cNvSpPr/>
                <p:nvPr/>
              </p:nvSpPr>
              <p:spPr>
                <a:xfrm>
                  <a:off x="327025" y="4853781"/>
                  <a:ext cx="165099" cy="9525"/>
                </a:xfrm>
                <a:custGeom>
                  <a:avLst/>
                  <a:gdLst/>
                  <a:ahLst/>
                  <a:cxnLst/>
                  <a:rect l="l" t="t" r="r" b="b"/>
                  <a:pathLst>
                    <a:path w="165099" h="9525">
                      <a:moveTo>
                        <a:pt x="0" y="0"/>
                      </a:moveTo>
                      <a:lnTo>
                        <a:pt x="165099" y="0"/>
                      </a:lnTo>
                    </a:path>
                  </a:pathLst>
                </a:custGeom>
                <a:noFill/>
                <a:ln w="20637">
                  <a:solidFill>
                    <a:srgbClr val="92301C"/>
                  </a:solidFill>
                </a:ln>
              </p:spPr>
            </p:sp>
            <p:sp>
              <p:nvSpPr>
                <p:cNvPr id="73" name="Freeform 73"/>
                <p:cNvSpPr/>
                <p:nvPr/>
              </p:nvSpPr>
              <p:spPr>
                <a:xfrm>
                  <a:off x="327025" y="4719637"/>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20637">
                  <a:solidFill>
                    <a:srgbClr val="92301C"/>
                  </a:solidFill>
                </a:ln>
              </p:spPr>
            </p:sp>
          </p:grpSp>
          <p:sp>
            <p:nvSpPr>
              <p:cNvPr id="75" name="TextBox 75"/>
              <p:cNvSpPr txBox="1"/>
              <p:nvPr/>
            </p:nvSpPr>
            <p:spPr>
              <a:xfrm>
                <a:off x="623888" y="4546997"/>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行情</a:t>
                </a:r>
              </a:p>
            </p:txBody>
          </p:sp>
          <p:sp>
            <p:nvSpPr>
              <p:cNvPr id="76" name="TextBox 76"/>
              <p:cNvSpPr txBox="1"/>
              <p:nvPr/>
            </p:nvSpPr>
            <p:spPr>
              <a:xfrm>
                <a:off x="623888" y="4746784"/>
                <a:ext cx="116752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 xml:space="preserve">股价/成交量/换手率/估值　</a:t>
                </a:r>
              </a:p>
            </p:txBody>
          </p:sp>
          <p:sp>
            <p:nvSpPr>
              <p:cNvPr id="77" name="TextBox 77"/>
              <p:cNvSpPr txBox="1"/>
              <p:nvPr/>
            </p:nvSpPr>
            <p:spPr>
              <a:xfrm>
                <a:off x="623888" y="4889659"/>
                <a:ext cx="79220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资金流向/市场情绪</a:t>
                </a:r>
              </a:p>
            </p:txBody>
          </p:sp>
        </p:grpSp>
      </p:grpSp>
      <p:grpSp>
        <p:nvGrpSpPr>
          <p:cNvPr id="154" name="mid-flow"/>
          <p:cNvGrpSpPr/>
          <p:nvPr/>
        </p:nvGrpSpPr>
        <p:grpSpPr>
          <a:xfrm>
            <a:off x="2514600" y="1102995"/>
            <a:ext cx="1774229" cy="4069318"/>
            <a:chOff x="2514600" y="1102995"/>
            <a:chExt cx="1774229" cy="4069318"/>
          </a:xfrm>
        </p:grpSpPr>
        <p:sp>
          <p:nvSpPr>
            <p:cNvPr id="80" name="Line 80"/>
            <p:cNvSpPr/>
            <p:nvPr/>
          </p:nvSpPr>
          <p:spPr>
            <a:xfrm>
              <a:off x="2628900" y="1200150"/>
              <a:ext cx="9525" cy="3676650"/>
            </a:xfrm>
            <a:custGeom>
              <a:avLst/>
              <a:gdLst/>
              <a:ahLst/>
              <a:cxnLst/>
              <a:rect l="l" t="t" r="r" b="b"/>
              <a:pathLst>
                <a:path w="9525" h="3676650">
                  <a:moveTo>
                    <a:pt x="0" y="0"/>
                  </a:moveTo>
                  <a:lnTo>
                    <a:pt x="0" y="3676650"/>
                  </a:lnTo>
                </a:path>
              </a:pathLst>
            </a:custGeom>
            <a:noFill/>
            <a:ln w="14288">
              <a:solidFill>
                <a:srgbClr val="CFDFEE"/>
              </a:solidFill>
            </a:ln>
          </p:spPr>
        </p:sp>
        <p:grpSp>
          <p:nvGrpSpPr>
            <p:cNvPr id="153" name="mf-steps"/>
            <p:cNvGrpSpPr/>
            <p:nvPr/>
          </p:nvGrpSpPr>
          <p:grpSpPr>
            <a:xfrm>
              <a:off x="2514600" y="1102995"/>
              <a:ext cx="1774229" cy="4069318"/>
              <a:chOff x="2514600" y="1102995"/>
              <a:chExt cx="1774229" cy="4069318"/>
            </a:xfrm>
          </p:grpSpPr>
          <p:sp>
            <p:nvSpPr>
              <p:cNvPr id="81" name="Ellipse 81"/>
              <p:cNvSpPr/>
              <p:nvPr/>
            </p:nvSpPr>
            <p:spPr>
              <a:xfrm>
                <a:off x="2514600" y="1104900"/>
                <a:ext cx="228600" cy="228600"/>
              </a:xfrm>
              <a:prstGeom prst="ellipse">
                <a:avLst/>
              </a:prstGeom>
              <a:solidFill>
                <a:srgbClr val="92301C"/>
              </a:solidFill>
              <a:ln>
                <a:noFill/>
              </a:ln>
            </p:spPr>
          </p:sp>
          <p:sp>
            <p:nvSpPr>
              <p:cNvPr id="82" name="TextBox 82"/>
              <p:cNvSpPr txBox="1"/>
              <p:nvPr/>
            </p:nvSpPr>
            <p:spPr>
              <a:xfrm>
                <a:off x="2593438" y="1168241"/>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1</a:t>
                </a:r>
              </a:p>
            </p:txBody>
          </p:sp>
          <p:grpSp>
            <p:nvGrpSpPr>
              <p:cNvPr id="86" name="Group 86"/>
              <p:cNvGrpSpPr/>
              <p:nvPr/>
            </p:nvGrpSpPr>
            <p:grpSpPr>
              <a:xfrm>
                <a:off x="2854325" y="1131094"/>
                <a:ext cx="139700" cy="157162"/>
                <a:chOff x="2854325" y="1131094"/>
                <a:chExt cx="139700" cy="157162"/>
              </a:xfrm>
            </p:grpSpPr>
            <p:sp>
              <p:nvSpPr>
                <p:cNvPr id="83" name="Freeform 83"/>
                <p:cNvSpPr/>
                <p:nvPr/>
              </p:nvSpPr>
              <p:spPr>
                <a:xfrm>
                  <a:off x="2854325" y="11310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92301C"/>
                  </a:solidFill>
                </a:ln>
              </p:spPr>
            </p:sp>
            <p:sp>
              <p:nvSpPr>
                <p:cNvPr id="84" name="Freeform 84"/>
                <p:cNvSpPr/>
                <p:nvPr/>
              </p:nvSpPr>
              <p:spPr>
                <a:xfrm>
                  <a:off x="2854325" y="11572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2301C"/>
                  </a:solidFill>
                </a:ln>
              </p:spPr>
            </p:sp>
            <p:sp>
              <p:nvSpPr>
                <p:cNvPr id="85" name="Freeform 85"/>
                <p:cNvSpPr/>
                <p:nvPr/>
              </p:nvSpPr>
              <p:spPr>
                <a:xfrm>
                  <a:off x="2854325" y="12096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2301C"/>
                  </a:solidFill>
                </a:ln>
              </p:spPr>
            </p:sp>
          </p:grpSp>
          <p:sp>
            <p:nvSpPr>
              <p:cNvPr id="87" name="TextBox 87"/>
              <p:cNvSpPr txBox="1"/>
              <p:nvPr/>
            </p:nvSpPr>
            <p:spPr>
              <a:xfrm>
                <a:off x="3100388" y="11029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信息采集</a:t>
                </a:r>
              </a:p>
            </p:txBody>
          </p:sp>
          <p:sp>
            <p:nvSpPr>
              <p:cNvPr id="88" name="TextBox 88"/>
              <p:cNvSpPr txBox="1"/>
              <p:nvPr/>
            </p:nvSpPr>
            <p:spPr>
              <a:xfrm>
                <a:off x="2814638" y="1321832"/>
                <a:ext cx="1474191"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自动抓取多源数据、去重清洗、结构化</a:t>
                </a:r>
              </a:p>
            </p:txBody>
          </p:sp>
          <p:sp>
            <p:nvSpPr>
              <p:cNvPr id="89" name="TextBox 89"/>
              <p:cNvSpPr txBox="1"/>
              <p:nvPr/>
            </p:nvSpPr>
            <p:spPr>
              <a:xfrm>
                <a:off x="2814638" y="1445657"/>
                <a:ext cx="87109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处理，形成统一知识库</a:t>
                </a:r>
              </a:p>
            </p:txBody>
          </p:sp>
          <p:sp>
            <p:nvSpPr>
              <p:cNvPr id="90" name="Ellipse 90"/>
              <p:cNvSpPr/>
              <p:nvPr/>
            </p:nvSpPr>
            <p:spPr>
              <a:xfrm>
                <a:off x="2514600" y="1704975"/>
                <a:ext cx="228600" cy="228600"/>
              </a:xfrm>
              <a:prstGeom prst="ellipse">
                <a:avLst/>
              </a:prstGeom>
              <a:solidFill>
                <a:srgbClr val="92301C"/>
              </a:solidFill>
              <a:ln>
                <a:noFill/>
              </a:ln>
            </p:spPr>
          </p:sp>
          <p:sp>
            <p:nvSpPr>
              <p:cNvPr id="91" name="TextBox 91"/>
              <p:cNvSpPr txBox="1"/>
              <p:nvPr/>
            </p:nvSpPr>
            <p:spPr>
              <a:xfrm>
                <a:off x="2593438" y="1768316"/>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2</a:t>
                </a:r>
              </a:p>
            </p:txBody>
          </p:sp>
          <p:grpSp>
            <p:nvGrpSpPr>
              <p:cNvPr id="94" name="Group 94"/>
              <p:cNvGrpSpPr/>
              <p:nvPr/>
            </p:nvGrpSpPr>
            <p:grpSpPr>
              <a:xfrm>
                <a:off x="2863056" y="1731992"/>
                <a:ext cx="122238" cy="156340"/>
                <a:chOff x="2863056" y="1731992"/>
                <a:chExt cx="122238" cy="156340"/>
              </a:xfrm>
            </p:grpSpPr>
            <p:sp>
              <p:nvSpPr>
                <p:cNvPr id="92" name="Freeform 92"/>
                <p:cNvSpPr/>
                <p:nvPr/>
              </p:nvSpPr>
              <p:spPr>
                <a:xfrm>
                  <a:off x="2863056" y="1731992"/>
                  <a:ext cx="122238" cy="111860"/>
                </a:xfrm>
                <a:custGeom>
                  <a:avLst/>
                  <a:gdLst/>
                  <a:ahLst/>
                  <a:cxnLst/>
                  <a:rect l="l" t="t" r="r" b="b"/>
                  <a:pathLst>
                    <a:path w="122238" h="111860">
                      <a:moveTo>
                        <a:pt x="0" y="16639"/>
                      </a:moveTo>
                      <a:cubicBezTo>
                        <a:pt x="16975" y="0"/>
                        <a:pt x="44143" y="0"/>
                        <a:pt x="61119" y="16639"/>
                      </a:cubicBezTo>
                      <a:cubicBezTo>
                        <a:pt x="78094" y="33279"/>
                        <a:pt x="105262" y="33279"/>
                        <a:pt x="122238" y="16639"/>
                      </a:cubicBezTo>
                      <a:lnTo>
                        <a:pt x="122238" y="95221"/>
                      </a:lnTo>
                      <a:cubicBezTo>
                        <a:pt x="105262" y="111860"/>
                        <a:pt x="78094" y="111860"/>
                        <a:pt x="61119" y="95221"/>
                      </a:cubicBezTo>
                      <a:cubicBezTo>
                        <a:pt x="44143" y="78581"/>
                        <a:pt x="16975" y="78581"/>
                        <a:pt x="0" y="95221"/>
                      </a:cubicBezTo>
                      <a:lnTo>
                        <a:pt x="0" y="16639"/>
                      </a:lnTo>
                    </a:path>
                  </a:pathLst>
                </a:custGeom>
                <a:noFill/>
                <a:ln w="17463">
                  <a:solidFill>
                    <a:srgbClr val="92301C"/>
                  </a:solidFill>
                </a:ln>
              </p:spPr>
            </p:sp>
            <p:sp>
              <p:nvSpPr>
                <p:cNvPr id="93" name="Freeform 93"/>
                <p:cNvSpPr/>
                <p:nvPr/>
              </p:nvSpPr>
              <p:spPr>
                <a:xfrm>
                  <a:off x="2863056" y="1827213"/>
                  <a:ext cx="9525" cy="61119"/>
                </a:xfrm>
                <a:custGeom>
                  <a:avLst/>
                  <a:gdLst/>
                  <a:ahLst/>
                  <a:cxnLst/>
                  <a:rect l="l" t="t" r="r" b="b"/>
                  <a:pathLst>
                    <a:path w="9525" h="61119">
                      <a:moveTo>
                        <a:pt x="0" y="61119"/>
                      </a:moveTo>
                      <a:lnTo>
                        <a:pt x="0" y="0"/>
                      </a:lnTo>
                    </a:path>
                  </a:pathLst>
                </a:custGeom>
                <a:noFill/>
                <a:ln w="17463">
                  <a:solidFill>
                    <a:srgbClr val="92301C"/>
                  </a:solidFill>
                </a:ln>
              </p:spPr>
            </p:sp>
          </p:grpSp>
          <p:sp>
            <p:nvSpPr>
              <p:cNvPr id="95" name="TextBox 95"/>
              <p:cNvSpPr txBox="1"/>
              <p:nvPr/>
            </p:nvSpPr>
            <p:spPr>
              <a:xfrm>
                <a:off x="3100388" y="17030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事件识别</a:t>
                </a:r>
              </a:p>
            </p:txBody>
          </p:sp>
          <p:sp>
            <p:nvSpPr>
              <p:cNvPr id="96" name="TextBox 96"/>
              <p:cNvSpPr txBox="1"/>
              <p:nvPr/>
            </p:nvSpPr>
            <p:spPr>
              <a:xfrm>
                <a:off x="2814638" y="1921907"/>
                <a:ext cx="1388034"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识别重大事件、业绩变动、行业动态</a:t>
                </a:r>
              </a:p>
            </p:txBody>
          </p:sp>
          <p:sp>
            <p:nvSpPr>
              <p:cNvPr id="97" name="TextBox 97"/>
              <p:cNvSpPr txBox="1"/>
              <p:nvPr/>
            </p:nvSpPr>
            <p:spPr>
              <a:xfrm>
                <a:off x="2814638" y="2045732"/>
                <a:ext cx="61262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并评估潜在影响</a:t>
                </a:r>
              </a:p>
            </p:txBody>
          </p:sp>
          <p:sp>
            <p:nvSpPr>
              <p:cNvPr id="98" name="Ellipse 98"/>
              <p:cNvSpPr/>
              <p:nvPr/>
            </p:nvSpPr>
            <p:spPr>
              <a:xfrm>
                <a:off x="2514600" y="2305050"/>
                <a:ext cx="228600" cy="228600"/>
              </a:xfrm>
              <a:prstGeom prst="ellipse">
                <a:avLst/>
              </a:prstGeom>
              <a:solidFill>
                <a:srgbClr val="92301C"/>
              </a:solidFill>
              <a:ln>
                <a:noFill/>
              </a:ln>
            </p:spPr>
          </p:sp>
          <p:sp>
            <p:nvSpPr>
              <p:cNvPr id="99" name="TextBox 99"/>
              <p:cNvSpPr txBox="1"/>
              <p:nvPr/>
            </p:nvSpPr>
            <p:spPr>
              <a:xfrm>
                <a:off x="2593438" y="2368391"/>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3</a:t>
                </a:r>
              </a:p>
            </p:txBody>
          </p:sp>
          <p:grpSp>
            <p:nvGrpSpPr>
              <p:cNvPr id="108" name="Group 108"/>
              <p:cNvGrpSpPr/>
              <p:nvPr/>
            </p:nvGrpSpPr>
            <p:grpSpPr>
              <a:xfrm>
                <a:off x="2854325" y="2331244"/>
                <a:ext cx="139700" cy="157163"/>
                <a:chOff x="2854325" y="2331244"/>
                <a:chExt cx="139700" cy="157163"/>
              </a:xfrm>
            </p:grpSpPr>
            <p:sp>
              <p:nvSpPr>
                <p:cNvPr id="100" name="Freeform 100"/>
                <p:cNvSpPr/>
                <p:nvPr/>
              </p:nvSpPr>
              <p:spPr>
                <a:xfrm>
                  <a:off x="2854325" y="2331244"/>
                  <a:ext cx="139700" cy="157163"/>
                </a:xfrm>
                <a:custGeom>
                  <a:avLst/>
                  <a:gdLst/>
                  <a:ahLst/>
                  <a:cxnLst/>
                  <a:rect l="l" t="t" r="r" b="b"/>
                  <a:pathLst>
                    <a:path w="139700" h="157163">
                      <a:moveTo>
                        <a:pt x="0" y="17463"/>
                      </a:moveTo>
                      <a:cubicBezTo>
                        <a:pt x="0" y="7818"/>
                        <a:pt x="7818" y="0"/>
                        <a:pt x="17463" y="0"/>
                      </a:cubicBezTo>
                      <a:lnTo>
                        <a:pt x="122238" y="0"/>
                      </a:lnTo>
                      <a:cubicBezTo>
                        <a:pt x="131882" y="0"/>
                        <a:pt x="139700" y="7818"/>
                        <a:pt x="139700" y="17463"/>
                      </a:cubicBezTo>
                      <a:lnTo>
                        <a:pt x="139700" y="139700"/>
                      </a:lnTo>
                      <a:cubicBezTo>
                        <a:pt x="139700" y="149344"/>
                        <a:pt x="131882" y="157163"/>
                        <a:pt x="122238" y="157163"/>
                      </a:cubicBezTo>
                      <a:lnTo>
                        <a:pt x="17463" y="157163"/>
                      </a:lnTo>
                      <a:cubicBezTo>
                        <a:pt x="7818" y="157163"/>
                        <a:pt x="0" y="149344"/>
                        <a:pt x="0" y="139700"/>
                      </a:cubicBezTo>
                      <a:lnTo>
                        <a:pt x="0" y="17463"/>
                      </a:lnTo>
                    </a:path>
                  </a:pathLst>
                </a:custGeom>
                <a:noFill/>
                <a:ln w="17463">
                  <a:solidFill>
                    <a:srgbClr val="92301C"/>
                  </a:solidFill>
                </a:ln>
              </p:spPr>
            </p:sp>
            <p:sp>
              <p:nvSpPr>
                <p:cNvPr id="101" name="Freeform 101"/>
                <p:cNvSpPr/>
                <p:nvPr/>
              </p:nvSpPr>
              <p:spPr>
                <a:xfrm>
                  <a:off x="2889250" y="2366169"/>
                  <a:ext cx="69850" cy="26194"/>
                </a:xfrm>
                <a:custGeom>
                  <a:avLst/>
                  <a:gdLst/>
                  <a:ahLst/>
                  <a:cxnLst/>
                  <a:rect l="l" t="t" r="r" b="b"/>
                  <a:pathLst>
                    <a:path w="69850" h="26194">
                      <a:moveTo>
                        <a:pt x="0" y="8731"/>
                      </a:moveTo>
                      <a:cubicBezTo>
                        <a:pt x="0" y="3909"/>
                        <a:pt x="3909" y="0"/>
                        <a:pt x="8731" y="0"/>
                      </a:cubicBezTo>
                      <a:lnTo>
                        <a:pt x="61119" y="0"/>
                      </a:lnTo>
                      <a:cubicBezTo>
                        <a:pt x="65941" y="0"/>
                        <a:pt x="69850" y="3909"/>
                        <a:pt x="69850" y="8731"/>
                      </a:cubicBezTo>
                      <a:lnTo>
                        <a:pt x="69850" y="17463"/>
                      </a:lnTo>
                      <a:cubicBezTo>
                        <a:pt x="69850" y="22285"/>
                        <a:pt x="65941" y="26194"/>
                        <a:pt x="61119" y="26194"/>
                      </a:cubicBezTo>
                      <a:lnTo>
                        <a:pt x="8731" y="26194"/>
                      </a:lnTo>
                      <a:cubicBezTo>
                        <a:pt x="3909" y="26194"/>
                        <a:pt x="0" y="22285"/>
                        <a:pt x="0" y="17463"/>
                      </a:cubicBezTo>
                      <a:lnTo>
                        <a:pt x="0" y="8731"/>
                      </a:lnTo>
                    </a:path>
                  </a:pathLst>
                </a:custGeom>
                <a:noFill/>
                <a:ln w="17463">
                  <a:solidFill>
                    <a:srgbClr val="92301C"/>
                  </a:solidFill>
                </a:ln>
              </p:spPr>
            </p:sp>
            <p:sp>
              <p:nvSpPr>
                <p:cNvPr id="102" name="Freeform 102"/>
                <p:cNvSpPr/>
                <p:nvPr/>
              </p:nvSpPr>
              <p:spPr>
                <a:xfrm>
                  <a:off x="2889250" y="2427288"/>
                  <a:ext cx="9525" cy="9525"/>
                </a:xfrm>
                <a:custGeom>
                  <a:avLst/>
                  <a:gdLst/>
                  <a:ahLst/>
                  <a:cxnLst/>
                  <a:rect l="l" t="t" r="r" b="b"/>
                  <a:pathLst>
                    <a:path w="9525" h="9525">
                      <a:moveTo>
                        <a:pt x="0" y="0"/>
                      </a:moveTo>
                      <a:lnTo>
                        <a:pt x="0" y="87"/>
                      </a:lnTo>
                    </a:path>
                  </a:pathLst>
                </a:custGeom>
                <a:noFill/>
                <a:ln w="17463">
                  <a:solidFill>
                    <a:srgbClr val="92301C"/>
                  </a:solidFill>
                </a:ln>
              </p:spPr>
            </p:sp>
            <p:sp>
              <p:nvSpPr>
                <p:cNvPr id="103" name="Freeform 103"/>
                <p:cNvSpPr/>
                <p:nvPr/>
              </p:nvSpPr>
              <p:spPr>
                <a:xfrm>
                  <a:off x="2924175" y="2427288"/>
                  <a:ext cx="9525" cy="9525"/>
                </a:xfrm>
                <a:custGeom>
                  <a:avLst/>
                  <a:gdLst/>
                  <a:ahLst/>
                  <a:cxnLst/>
                  <a:rect l="l" t="t" r="r" b="b"/>
                  <a:pathLst>
                    <a:path w="9525" h="9525">
                      <a:moveTo>
                        <a:pt x="0" y="0"/>
                      </a:moveTo>
                      <a:lnTo>
                        <a:pt x="0" y="87"/>
                      </a:lnTo>
                    </a:path>
                  </a:pathLst>
                </a:custGeom>
                <a:noFill/>
                <a:ln w="17463">
                  <a:solidFill>
                    <a:srgbClr val="92301C"/>
                  </a:solidFill>
                </a:ln>
              </p:spPr>
            </p:sp>
            <p:sp>
              <p:nvSpPr>
                <p:cNvPr id="104" name="Freeform 104"/>
                <p:cNvSpPr/>
                <p:nvPr/>
              </p:nvSpPr>
              <p:spPr>
                <a:xfrm>
                  <a:off x="2959100" y="2427288"/>
                  <a:ext cx="9525" cy="9525"/>
                </a:xfrm>
                <a:custGeom>
                  <a:avLst/>
                  <a:gdLst/>
                  <a:ahLst/>
                  <a:cxnLst/>
                  <a:rect l="l" t="t" r="r" b="b"/>
                  <a:pathLst>
                    <a:path w="9525" h="9525">
                      <a:moveTo>
                        <a:pt x="0" y="0"/>
                      </a:moveTo>
                      <a:lnTo>
                        <a:pt x="0" y="87"/>
                      </a:lnTo>
                    </a:path>
                  </a:pathLst>
                </a:custGeom>
                <a:noFill/>
                <a:ln w="17463">
                  <a:solidFill>
                    <a:srgbClr val="92301C"/>
                  </a:solidFill>
                </a:ln>
              </p:spPr>
            </p:sp>
            <p:sp>
              <p:nvSpPr>
                <p:cNvPr id="105" name="Freeform 105"/>
                <p:cNvSpPr/>
                <p:nvPr/>
              </p:nvSpPr>
              <p:spPr>
                <a:xfrm>
                  <a:off x="2889250" y="2453481"/>
                  <a:ext cx="9525" cy="9525"/>
                </a:xfrm>
                <a:custGeom>
                  <a:avLst/>
                  <a:gdLst/>
                  <a:ahLst/>
                  <a:cxnLst/>
                  <a:rect l="l" t="t" r="r" b="b"/>
                  <a:pathLst>
                    <a:path w="9525" h="9525">
                      <a:moveTo>
                        <a:pt x="0" y="0"/>
                      </a:moveTo>
                      <a:lnTo>
                        <a:pt x="0" y="87"/>
                      </a:lnTo>
                    </a:path>
                  </a:pathLst>
                </a:custGeom>
                <a:noFill/>
                <a:ln w="17463">
                  <a:solidFill>
                    <a:srgbClr val="92301C"/>
                  </a:solidFill>
                </a:ln>
              </p:spPr>
            </p:sp>
            <p:sp>
              <p:nvSpPr>
                <p:cNvPr id="106" name="Freeform 106"/>
                <p:cNvSpPr/>
                <p:nvPr/>
              </p:nvSpPr>
              <p:spPr>
                <a:xfrm>
                  <a:off x="2924175" y="2453481"/>
                  <a:ext cx="9525" cy="9525"/>
                </a:xfrm>
                <a:custGeom>
                  <a:avLst/>
                  <a:gdLst/>
                  <a:ahLst/>
                  <a:cxnLst/>
                  <a:rect l="l" t="t" r="r" b="b"/>
                  <a:pathLst>
                    <a:path w="9525" h="9525">
                      <a:moveTo>
                        <a:pt x="0" y="0"/>
                      </a:moveTo>
                      <a:lnTo>
                        <a:pt x="0" y="87"/>
                      </a:lnTo>
                    </a:path>
                  </a:pathLst>
                </a:custGeom>
                <a:noFill/>
                <a:ln w="17463">
                  <a:solidFill>
                    <a:srgbClr val="92301C"/>
                  </a:solidFill>
                </a:ln>
              </p:spPr>
            </p:sp>
            <p:sp>
              <p:nvSpPr>
                <p:cNvPr id="107" name="Freeform 107"/>
                <p:cNvSpPr/>
                <p:nvPr/>
              </p:nvSpPr>
              <p:spPr>
                <a:xfrm>
                  <a:off x="2959100" y="2453481"/>
                  <a:ext cx="9525" cy="9525"/>
                </a:xfrm>
                <a:custGeom>
                  <a:avLst/>
                  <a:gdLst/>
                  <a:ahLst/>
                  <a:cxnLst/>
                  <a:rect l="l" t="t" r="r" b="b"/>
                  <a:pathLst>
                    <a:path w="9525" h="9525">
                      <a:moveTo>
                        <a:pt x="0" y="0"/>
                      </a:moveTo>
                      <a:lnTo>
                        <a:pt x="0" y="87"/>
                      </a:lnTo>
                    </a:path>
                  </a:pathLst>
                </a:custGeom>
                <a:noFill/>
                <a:ln w="17463">
                  <a:solidFill>
                    <a:srgbClr val="92301C"/>
                  </a:solidFill>
                </a:ln>
              </p:spPr>
            </p:sp>
          </p:grpSp>
          <p:sp>
            <p:nvSpPr>
              <p:cNvPr id="109" name="TextBox 109"/>
              <p:cNvSpPr txBox="1"/>
              <p:nvPr/>
            </p:nvSpPr>
            <p:spPr>
              <a:xfrm>
                <a:off x="3100388" y="230314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财务拆解</a:t>
                </a:r>
              </a:p>
            </p:txBody>
          </p:sp>
          <p:sp>
            <p:nvSpPr>
              <p:cNvPr id="110" name="TextBox 110"/>
              <p:cNvSpPr txBox="1"/>
              <p:nvPr/>
            </p:nvSpPr>
            <p:spPr>
              <a:xfrm>
                <a:off x="2814638" y="2521982"/>
                <a:ext cx="1388034"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拆解核心财务数据、分析驱动因素、</a:t>
                </a:r>
              </a:p>
            </p:txBody>
          </p:sp>
          <p:sp>
            <p:nvSpPr>
              <p:cNvPr id="111" name="TextBox 111"/>
              <p:cNvSpPr txBox="1"/>
              <p:nvPr/>
            </p:nvSpPr>
            <p:spPr>
              <a:xfrm>
                <a:off x="2814638" y="2645807"/>
                <a:ext cx="69877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识别一致性与异常</a:t>
                </a:r>
              </a:p>
            </p:txBody>
          </p:sp>
          <p:sp>
            <p:nvSpPr>
              <p:cNvPr id="112" name="Ellipse 112"/>
              <p:cNvSpPr/>
              <p:nvPr/>
            </p:nvSpPr>
            <p:spPr>
              <a:xfrm>
                <a:off x="2514600" y="2905125"/>
                <a:ext cx="228600" cy="228600"/>
              </a:xfrm>
              <a:prstGeom prst="ellipse">
                <a:avLst/>
              </a:prstGeom>
              <a:solidFill>
                <a:srgbClr val="92301C"/>
              </a:solidFill>
              <a:ln>
                <a:noFill/>
              </a:ln>
            </p:spPr>
          </p:sp>
          <p:sp>
            <p:nvSpPr>
              <p:cNvPr id="113" name="TextBox 113"/>
              <p:cNvSpPr txBox="1"/>
              <p:nvPr/>
            </p:nvSpPr>
            <p:spPr>
              <a:xfrm>
                <a:off x="2593438" y="2968466"/>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4</a:t>
                </a:r>
              </a:p>
            </p:txBody>
          </p:sp>
          <p:grpSp>
            <p:nvGrpSpPr>
              <p:cNvPr id="119" name="Group 119"/>
              <p:cNvGrpSpPr/>
              <p:nvPr/>
            </p:nvGrpSpPr>
            <p:grpSpPr>
              <a:xfrm>
                <a:off x="2845594" y="2931319"/>
                <a:ext cx="157163" cy="157956"/>
                <a:chOff x="2845594" y="2931319"/>
                <a:chExt cx="157163" cy="157956"/>
              </a:xfrm>
            </p:grpSpPr>
            <p:sp>
              <p:nvSpPr>
                <p:cNvPr id="114" name="Freeform 114"/>
                <p:cNvSpPr/>
                <p:nvPr/>
              </p:nvSpPr>
              <p:spPr>
                <a:xfrm>
                  <a:off x="2880519" y="3079750"/>
                  <a:ext cx="87313" cy="9525"/>
                </a:xfrm>
                <a:custGeom>
                  <a:avLst/>
                  <a:gdLst/>
                  <a:ahLst/>
                  <a:cxnLst/>
                  <a:rect l="l" t="t" r="r" b="b"/>
                  <a:pathLst>
                    <a:path w="87313" h="9525">
                      <a:moveTo>
                        <a:pt x="0" y="0"/>
                      </a:moveTo>
                      <a:lnTo>
                        <a:pt x="87313" y="0"/>
                      </a:lnTo>
                    </a:path>
                  </a:pathLst>
                </a:custGeom>
                <a:noFill/>
                <a:ln w="17463">
                  <a:solidFill>
                    <a:srgbClr val="92301C"/>
                  </a:solidFill>
                </a:ln>
              </p:spPr>
            </p:sp>
            <p:sp>
              <p:nvSpPr>
                <p:cNvPr id="115" name="Freeform 115"/>
                <p:cNvSpPr/>
                <p:nvPr/>
              </p:nvSpPr>
              <p:spPr>
                <a:xfrm>
                  <a:off x="2871788" y="2948781"/>
                  <a:ext cx="104775" cy="9525"/>
                </a:xfrm>
                <a:custGeom>
                  <a:avLst/>
                  <a:gdLst/>
                  <a:ahLst/>
                  <a:cxnLst/>
                  <a:rect l="l" t="t" r="r" b="b"/>
                  <a:pathLst>
                    <a:path w="104775" h="9525">
                      <a:moveTo>
                        <a:pt x="0" y="8731"/>
                      </a:moveTo>
                      <a:lnTo>
                        <a:pt x="52388" y="0"/>
                      </a:lnTo>
                      <a:lnTo>
                        <a:pt x="104775" y="8731"/>
                      </a:lnTo>
                    </a:path>
                  </a:pathLst>
                </a:custGeom>
                <a:noFill/>
                <a:ln w="17463">
                  <a:solidFill>
                    <a:srgbClr val="92301C"/>
                  </a:solidFill>
                </a:ln>
              </p:spPr>
            </p:sp>
            <p:sp>
              <p:nvSpPr>
                <p:cNvPr id="116" name="Freeform 116"/>
                <p:cNvSpPr/>
                <p:nvPr/>
              </p:nvSpPr>
              <p:spPr>
                <a:xfrm>
                  <a:off x="2924175" y="2931319"/>
                  <a:ext cx="9525" cy="148431"/>
                </a:xfrm>
                <a:custGeom>
                  <a:avLst/>
                  <a:gdLst/>
                  <a:ahLst/>
                  <a:cxnLst/>
                  <a:rect l="l" t="t" r="r" b="b"/>
                  <a:pathLst>
                    <a:path w="9525" h="148431">
                      <a:moveTo>
                        <a:pt x="0" y="0"/>
                      </a:moveTo>
                      <a:lnTo>
                        <a:pt x="0" y="148431"/>
                      </a:lnTo>
                    </a:path>
                  </a:pathLst>
                </a:custGeom>
                <a:noFill/>
                <a:ln w="17463">
                  <a:solidFill>
                    <a:srgbClr val="92301C"/>
                  </a:solidFill>
                </a:ln>
              </p:spPr>
            </p:sp>
            <p:sp>
              <p:nvSpPr>
                <p:cNvPr id="117" name="Freeform 117"/>
                <p:cNvSpPr/>
                <p:nvPr/>
              </p:nvSpPr>
              <p:spPr>
                <a:xfrm>
                  <a:off x="2845594" y="2957513"/>
                  <a:ext cx="52388" cy="78581"/>
                </a:xfrm>
                <a:custGeom>
                  <a:avLst/>
                  <a:gdLst/>
                  <a:ahLst/>
                  <a:cxnLst/>
                  <a:rect l="l" t="t" r="r" b="b"/>
                  <a:pathLst>
                    <a:path w="52388" h="78581">
                      <a:moveTo>
                        <a:pt x="52388" y="52388"/>
                      </a:moveTo>
                      <a:lnTo>
                        <a:pt x="26194" y="0"/>
                      </a:lnTo>
                      <a:lnTo>
                        <a:pt x="0" y="52388"/>
                      </a:lnTo>
                      <a:cubicBezTo>
                        <a:pt x="0" y="66854"/>
                        <a:pt x="11727" y="78581"/>
                        <a:pt x="26194" y="78581"/>
                      </a:cubicBezTo>
                      <a:cubicBezTo>
                        <a:pt x="40660" y="78581"/>
                        <a:pt x="52388" y="66854"/>
                        <a:pt x="52388" y="52388"/>
                      </a:cubicBezTo>
                    </a:path>
                  </a:pathLst>
                </a:custGeom>
                <a:noFill/>
                <a:ln w="17463">
                  <a:solidFill>
                    <a:srgbClr val="92301C"/>
                  </a:solidFill>
                </a:ln>
              </p:spPr>
            </p:sp>
            <p:sp>
              <p:nvSpPr>
                <p:cNvPr id="118" name="Freeform 118"/>
                <p:cNvSpPr/>
                <p:nvPr/>
              </p:nvSpPr>
              <p:spPr>
                <a:xfrm>
                  <a:off x="2950369" y="2957513"/>
                  <a:ext cx="52388" cy="78581"/>
                </a:xfrm>
                <a:custGeom>
                  <a:avLst/>
                  <a:gdLst/>
                  <a:ahLst/>
                  <a:cxnLst/>
                  <a:rect l="l" t="t" r="r" b="b"/>
                  <a:pathLst>
                    <a:path w="52388" h="78581">
                      <a:moveTo>
                        <a:pt x="52388" y="52388"/>
                      </a:moveTo>
                      <a:lnTo>
                        <a:pt x="26194" y="0"/>
                      </a:lnTo>
                      <a:lnTo>
                        <a:pt x="0" y="52388"/>
                      </a:lnTo>
                      <a:cubicBezTo>
                        <a:pt x="0" y="66854"/>
                        <a:pt x="11727" y="78581"/>
                        <a:pt x="26194" y="78581"/>
                      </a:cubicBezTo>
                      <a:cubicBezTo>
                        <a:pt x="40660" y="78581"/>
                        <a:pt x="52388" y="66854"/>
                        <a:pt x="52388" y="52388"/>
                      </a:cubicBezTo>
                    </a:path>
                  </a:pathLst>
                </a:custGeom>
                <a:noFill/>
                <a:ln w="17463">
                  <a:solidFill>
                    <a:srgbClr val="92301C"/>
                  </a:solidFill>
                </a:ln>
              </p:spPr>
            </p:sp>
          </p:grpSp>
          <p:sp>
            <p:nvSpPr>
              <p:cNvPr id="120" name="TextBox 120"/>
              <p:cNvSpPr txBox="1"/>
              <p:nvPr/>
            </p:nvSpPr>
            <p:spPr>
              <a:xfrm>
                <a:off x="3100388" y="29032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同业对标</a:t>
                </a:r>
              </a:p>
            </p:txBody>
          </p:sp>
          <p:sp>
            <p:nvSpPr>
              <p:cNvPr id="121" name="TextBox 121"/>
              <p:cNvSpPr txBox="1"/>
              <p:nvPr/>
            </p:nvSpPr>
            <p:spPr>
              <a:xfrm>
                <a:off x="2814638" y="3122057"/>
                <a:ext cx="1388034"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选取可比公司，进行多维度指标对比</a:t>
                </a:r>
              </a:p>
            </p:txBody>
          </p:sp>
          <p:sp>
            <p:nvSpPr>
              <p:cNvPr id="122" name="TextBox 122"/>
              <p:cNvSpPr txBox="1"/>
              <p:nvPr/>
            </p:nvSpPr>
            <p:spPr>
              <a:xfrm>
                <a:off x="2814638" y="3245882"/>
                <a:ext cx="132683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（估值、盈利、成长、ROE等）　</a:t>
                </a:r>
              </a:p>
            </p:txBody>
          </p:sp>
          <p:sp>
            <p:nvSpPr>
              <p:cNvPr id="123" name="Ellipse 123"/>
              <p:cNvSpPr/>
              <p:nvPr/>
            </p:nvSpPr>
            <p:spPr>
              <a:xfrm>
                <a:off x="2514600" y="3505200"/>
                <a:ext cx="228600" cy="228600"/>
              </a:xfrm>
              <a:prstGeom prst="ellipse">
                <a:avLst/>
              </a:prstGeom>
              <a:solidFill>
                <a:srgbClr val="92301C"/>
              </a:solidFill>
              <a:ln>
                <a:noFill/>
              </a:ln>
            </p:spPr>
          </p:sp>
          <p:sp>
            <p:nvSpPr>
              <p:cNvPr id="124" name="TextBox 124"/>
              <p:cNvSpPr txBox="1"/>
              <p:nvPr/>
            </p:nvSpPr>
            <p:spPr>
              <a:xfrm>
                <a:off x="2593438" y="3568541"/>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5</a:t>
                </a:r>
              </a:p>
            </p:txBody>
          </p:sp>
          <p:grpSp>
            <p:nvGrpSpPr>
              <p:cNvPr id="129" name="Group 129"/>
              <p:cNvGrpSpPr/>
              <p:nvPr/>
            </p:nvGrpSpPr>
            <p:grpSpPr>
              <a:xfrm>
                <a:off x="2845594" y="3531394"/>
                <a:ext cx="157163" cy="157163"/>
                <a:chOff x="2845594" y="3531394"/>
                <a:chExt cx="157163" cy="157163"/>
              </a:xfrm>
            </p:grpSpPr>
            <p:sp>
              <p:nvSpPr>
                <p:cNvPr id="125" name="Freeform 125"/>
                <p:cNvSpPr/>
                <p:nvPr/>
              </p:nvSpPr>
              <p:spPr>
                <a:xfrm>
                  <a:off x="2845594" y="35313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92301C"/>
                  </a:solidFill>
                </a:ln>
              </p:spPr>
            </p:sp>
            <p:sp>
              <p:nvSpPr>
                <p:cNvPr id="126" name="Freeform 126"/>
                <p:cNvSpPr/>
                <p:nvPr/>
              </p:nvSpPr>
              <p:spPr>
                <a:xfrm>
                  <a:off x="2915444" y="360124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92301C"/>
                  </a:solidFill>
                </a:ln>
              </p:spPr>
            </p:sp>
            <p:sp>
              <p:nvSpPr>
                <p:cNvPr id="127" name="Freeform 127"/>
                <p:cNvSpPr/>
                <p:nvPr/>
              </p:nvSpPr>
              <p:spPr>
                <a:xfrm>
                  <a:off x="2936486" y="3575050"/>
                  <a:ext cx="22614" cy="22614"/>
                </a:xfrm>
                <a:custGeom>
                  <a:avLst/>
                  <a:gdLst/>
                  <a:ahLst/>
                  <a:cxnLst/>
                  <a:rect l="l" t="t" r="r" b="b"/>
                  <a:pathLst>
                    <a:path w="22614" h="22614">
                      <a:moveTo>
                        <a:pt x="0" y="22614"/>
                      </a:moveTo>
                      <a:lnTo>
                        <a:pt x="22614" y="0"/>
                      </a:lnTo>
                    </a:path>
                  </a:pathLst>
                </a:custGeom>
                <a:noFill/>
                <a:ln w="17463">
                  <a:solidFill>
                    <a:srgbClr val="92301C"/>
                  </a:solidFill>
                </a:ln>
              </p:spPr>
            </p:sp>
            <p:sp>
              <p:nvSpPr>
                <p:cNvPr id="128" name="Freeform 128"/>
                <p:cNvSpPr/>
                <p:nvPr/>
              </p:nvSpPr>
              <p:spPr>
                <a:xfrm>
                  <a:off x="2880519" y="3566319"/>
                  <a:ext cx="43656" cy="43656"/>
                </a:xfrm>
                <a:custGeom>
                  <a:avLst/>
                  <a:gdLst/>
                  <a:ahLst/>
                  <a:cxnLst/>
                  <a:rect l="l" t="t" r="r" b="b"/>
                  <a:pathLst>
                    <a:path w="43656" h="43656">
                      <a:moveTo>
                        <a:pt x="0" y="43656"/>
                      </a:moveTo>
                      <a:cubicBezTo>
                        <a:pt x="0" y="19546"/>
                        <a:pt x="19546" y="0"/>
                        <a:pt x="43656" y="0"/>
                      </a:cubicBezTo>
                    </a:path>
                  </a:pathLst>
                </a:custGeom>
                <a:noFill/>
                <a:ln w="17463">
                  <a:solidFill>
                    <a:srgbClr val="92301C"/>
                  </a:solidFill>
                </a:ln>
              </p:spPr>
            </p:sp>
          </p:grpSp>
          <p:sp>
            <p:nvSpPr>
              <p:cNvPr id="130" name="TextBox 130"/>
              <p:cNvSpPr txBox="1"/>
              <p:nvPr/>
            </p:nvSpPr>
            <p:spPr>
              <a:xfrm>
                <a:off x="3100388" y="35032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情景测算</a:t>
                </a:r>
              </a:p>
            </p:txBody>
          </p:sp>
          <p:sp>
            <p:nvSpPr>
              <p:cNvPr id="131" name="TextBox 131"/>
              <p:cNvSpPr txBox="1"/>
              <p:nvPr/>
            </p:nvSpPr>
            <p:spPr>
              <a:xfrm>
                <a:off x="2814638" y="3722132"/>
                <a:ext cx="112956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基于关键假设构建盈利模型，</a:t>
                </a:r>
              </a:p>
            </p:txBody>
          </p:sp>
          <p:sp>
            <p:nvSpPr>
              <p:cNvPr id="132" name="TextBox 132"/>
              <p:cNvSpPr txBox="1"/>
              <p:nvPr/>
            </p:nvSpPr>
            <p:spPr>
              <a:xfrm>
                <a:off x="2814638" y="3845957"/>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测算业绩与估值区间</a:t>
                </a:r>
              </a:p>
            </p:txBody>
          </p:sp>
          <p:sp>
            <p:nvSpPr>
              <p:cNvPr id="133" name="Ellipse 133"/>
              <p:cNvSpPr/>
              <p:nvPr/>
            </p:nvSpPr>
            <p:spPr>
              <a:xfrm>
                <a:off x="2514600" y="4105275"/>
                <a:ext cx="228600" cy="228600"/>
              </a:xfrm>
              <a:prstGeom prst="ellipse">
                <a:avLst/>
              </a:prstGeom>
              <a:solidFill>
                <a:srgbClr val="92301C"/>
              </a:solidFill>
              <a:ln>
                <a:noFill/>
              </a:ln>
            </p:spPr>
          </p:sp>
          <p:sp>
            <p:nvSpPr>
              <p:cNvPr id="134" name="TextBox 134"/>
              <p:cNvSpPr txBox="1"/>
              <p:nvPr/>
            </p:nvSpPr>
            <p:spPr>
              <a:xfrm>
                <a:off x="2593438" y="4168616"/>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6</a:t>
                </a:r>
              </a:p>
            </p:txBody>
          </p:sp>
          <p:grpSp>
            <p:nvGrpSpPr>
              <p:cNvPr id="140" name="Group 140"/>
              <p:cNvGrpSpPr/>
              <p:nvPr/>
            </p:nvGrpSpPr>
            <p:grpSpPr>
              <a:xfrm>
                <a:off x="2863056" y="4131469"/>
                <a:ext cx="122238" cy="157163"/>
                <a:chOff x="2863056" y="4131469"/>
                <a:chExt cx="122238" cy="157163"/>
              </a:xfrm>
            </p:grpSpPr>
            <p:sp>
              <p:nvSpPr>
                <p:cNvPr id="135" name="Freeform 135"/>
                <p:cNvSpPr/>
                <p:nvPr/>
              </p:nvSpPr>
              <p:spPr>
                <a:xfrm>
                  <a:off x="2941638" y="4131469"/>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92301C"/>
                  </a:solidFill>
                </a:ln>
              </p:spPr>
            </p:sp>
            <p:sp>
              <p:nvSpPr>
                <p:cNvPr id="136" name="Freeform 136"/>
                <p:cNvSpPr/>
                <p:nvPr/>
              </p:nvSpPr>
              <p:spPr>
                <a:xfrm>
                  <a:off x="2863056" y="4131469"/>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92301C"/>
                  </a:solidFill>
                </a:ln>
              </p:spPr>
            </p:sp>
            <p:sp>
              <p:nvSpPr>
                <p:cNvPr id="137" name="Freeform 137"/>
                <p:cNvSpPr/>
                <p:nvPr/>
              </p:nvSpPr>
              <p:spPr>
                <a:xfrm>
                  <a:off x="2897981" y="4183856"/>
                  <a:ext cx="9525" cy="9525"/>
                </a:xfrm>
                <a:custGeom>
                  <a:avLst/>
                  <a:gdLst/>
                  <a:ahLst/>
                  <a:cxnLst/>
                  <a:rect l="l" t="t" r="r" b="b"/>
                  <a:pathLst>
                    <a:path w="9525" h="9525">
                      <a:moveTo>
                        <a:pt x="0" y="0"/>
                      </a:moveTo>
                      <a:lnTo>
                        <a:pt x="8731" y="0"/>
                      </a:lnTo>
                    </a:path>
                  </a:pathLst>
                </a:custGeom>
                <a:noFill/>
                <a:ln w="17463">
                  <a:solidFill>
                    <a:srgbClr val="92301C"/>
                  </a:solidFill>
                </a:ln>
              </p:spPr>
            </p:sp>
            <p:sp>
              <p:nvSpPr>
                <p:cNvPr id="138" name="Freeform 138"/>
                <p:cNvSpPr/>
                <p:nvPr/>
              </p:nvSpPr>
              <p:spPr>
                <a:xfrm>
                  <a:off x="2897981" y="4218781"/>
                  <a:ext cx="52388" cy="9525"/>
                </a:xfrm>
                <a:custGeom>
                  <a:avLst/>
                  <a:gdLst/>
                  <a:ahLst/>
                  <a:cxnLst/>
                  <a:rect l="l" t="t" r="r" b="b"/>
                  <a:pathLst>
                    <a:path w="52388" h="9525">
                      <a:moveTo>
                        <a:pt x="0" y="0"/>
                      </a:moveTo>
                      <a:lnTo>
                        <a:pt x="52388" y="0"/>
                      </a:lnTo>
                    </a:path>
                  </a:pathLst>
                </a:custGeom>
                <a:noFill/>
                <a:ln w="17463">
                  <a:solidFill>
                    <a:srgbClr val="92301C"/>
                  </a:solidFill>
                </a:ln>
              </p:spPr>
            </p:sp>
            <p:sp>
              <p:nvSpPr>
                <p:cNvPr id="139" name="Freeform 139"/>
                <p:cNvSpPr/>
                <p:nvPr/>
              </p:nvSpPr>
              <p:spPr>
                <a:xfrm>
                  <a:off x="2897981" y="4253706"/>
                  <a:ext cx="52388" cy="9525"/>
                </a:xfrm>
                <a:custGeom>
                  <a:avLst/>
                  <a:gdLst/>
                  <a:ahLst/>
                  <a:cxnLst/>
                  <a:rect l="l" t="t" r="r" b="b"/>
                  <a:pathLst>
                    <a:path w="52388" h="9525">
                      <a:moveTo>
                        <a:pt x="0" y="0"/>
                      </a:moveTo>
                      <a:lnTo>
                        <a:pt x="52388" y="0"/>
                      </a:lnTo>
                    </a:path>
                  </a:pathLst>
                </a:custGeom>
                <a:noFill/>
                <a:ln w="17463">
                  <a:solidFill>
                    <a:srgbClr val="92301C"/>
                  </a:solidFill>
                </a:ln>
              </p:spPr>
            </p:sp>
          </p:grpSp>
          <p:sp>
            <p:nvSpPr>
              <p:cNvPr id="141" name="TextBox 141"/>
              <p:cNvSpPr txBox="1"/>
              <p:nvPr/>
            </p:nvSpPr>
            <p:spPr>
              <a:xfrm>
                <a:off x="3100388" y="41033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观点草稿</a:t>
                </a:r>
              </a:p>
            </p:txBody>
          </p:sp>
          <p:sp>
            <p:nvSpPr>
              <p:cNvPr id="142" name="TextBox 142"/>
              <p:cNvSpPr txBox="1"/>
              <p:nvPr/>
            </p:nvSpPr>
            <p:spPr>
              <a:xfrm>
                <a:off x="2814638" y="4322207"/>
                <a:ext cx="1043407"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生成投资逻辑与观点草稿，</a:t>
                </a:r>
              </a:p>
            </p:txBody>
          </p:sp>
          <p:sp>
            <p:nvSpPr>
              <p:cNvPr id="143" name="TextBox 143"/>
              <p:cNvSpPr txBox="1"/>
              <p:nvPr/>
            </p:nvSpPr>
            <p:spPr>
              <a:xfrm>
                <a:off x="2814638" y="4446032"/>
                <a:ext cx="87109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标记核心假设与风险点</a:t>
                </a:r>
              </a:p>
            </p:txBody>
          </p:sp>
          <p:sp>
            <p:nvSpPr>
              <p:cNvPr id="144" name="Ellipse 144"/>
              <p:cNvSpPr/>
              <p:nvPr/>
            </p:nvSpPr>
            <p:spPr>
              <a:xfrm>
                <a:off x="2514600" y="4705350"/>
                <a:ext cx="228600" cy="228600"/>
              </a:xfrm>
              <a:prstGeom prst="ellipse">
                <a:avLst/>
              </a:prstGeom>
              <a:solidFill>
                <a:srgbClr val="6B1B0B"/>
              </a:solidFill>
              <a:ln>
                <a:noFill/>
              </a:ln>
            </p:spPr>
          </p:sp>
          <p:sp>
            <p:nvSpPr>
              <p:cNvPr id="145" name="TextBox 145"/>
              <p:cNvSpPr txBox="1"/>
              <p:nvPr/>
            </p:nvSpPr>
            <p:spPr>
              <a:xfrm>
                <a:off x="2593438" y="4768691"/>
                <a:ext cx="7092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j-lt"/>
                    <a:ea typeface="+mj-ea"/>
                    <a:cs typeface="+mj-cs"/>
                  </a:rPr>
                  <a:t>7</a:t>
                </a:r>
              </a:p>
            </p:txBody>
          </p:sp>
          <p:grpSp>
            <p:nvGrpSpPr>
              <p:cNvPr id="149" name="Group 149"/>
              <p:cNvGrpSpPr/>
              <p:nvPr/>
            </p:nvGrpSpPr>
            <p:grpSpPr>
              <a:xfrm>
                <a:off x="2871788" y="4731544"/>
                <a:ext cx="130969" cy="157163"/>
                <a:chOff x="2871788" y="4731544"/>
                <a:chExt cx="130969" cy="157163"/>
              </a:xfrm>
            </p:grpSpPr>
            <p:sp>
              <p:nvSpPr>
                <p:cNvPr id="146" name="Freeform 146"/>
                <p:cNvSpPr/>
                <p:nvPr/>
              </p:nvSpPr>
              <p:spPr>
                <a:xfrm>
                  <a:off x="2889250" y="47315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92301C"/>
                  </a:solidFill>
                </a:ln>
              </p:spPr>
            </p:sp>
            <p:sp>
              <p:nvSpPr>
                <p:cNvPr id="147" name="Freeform 147"/>
                <p:cNvSpPr/>
                <p:nvPr/>
              </p:nvSpPr>
              <p:spPr>
                <a:xfrm>
                  <a:off x="2871788" y="483631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92301C"/>
                  </a:solidFill>
                </a:ln>
              </p:spPr>
            </p:sp>
            <p:sp>
              <p:nvSpPr>
                <p:cNvPr id="148" name="Freeform 148"/>
                <p:cNvSpPr/>
                <p:nvPr/>
              </p:nvSpPr>
              <p:spPr>
                <a:xfrm>
                  <a:off x="2950369" y="4853781"/>
                  <a:ext cx="52388" cy="34925"/>
                </a:xfrm>
                <a:custGeom>
                  <a:avLst/>
                  <a:gdLst/>
                  <a:ahLst/>
                  <a:cxnLst/>
                  <a:rect l="l" t="t" r="r" b="b"/>
                  <a:pathLst>
                    <a:path w="52388" h="34925">
                      <a:moveTo>
                        <a:pt x="0" y="17463"/>
                      </a:moveTo>
                      <a:lnTo>
                        <a:pt x="17463" y="34925"/>
                      </a:lnTo>
                      <a:lnTo>
                        <a:pt x="52388" y="0"/>
                      </a:lnTo>
                    </a:path>
                  </a:pathLst>
                </a:custGeom>
                <a:noFill/>
                <a:ln w="17463">
                  <a:solidFill>
                    <a:srgbClr val="92301C"/>
                  </a:solidFill>
                </a:ln>
              </p:spPr>
            </p:sp>
          </p:grpSp>
          <p:sp>
            <p:nvSpPr>
              <p:cNvPr id="150" name="TextBox 150"/>
              <p:cNvSpPr txBox="1"/>
              <p:nvPr/>
            </p:nvSpPr>
            <p:spPr>
              <a:xfrm>
                <a:off x="3100388" y="4703445"/>
                <a:ext cx="615315"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分析师审核</a:t>
                </a:r>
              </a:p>
            </p:txBody>
          </p:sp>
          <p:sp>
            <p:nvSpPr>
              <p:cNvPr id="151" name="TextBox 151"/>
              <p:cNvSpPr txBox="1"/>
              <p:nvPr/>
            </p:nvSpPr>
            <p:spPr>
              <a:xfrm>
                <a:off x="2814638" y="4922282"/>
                <a:ext cx="1301877"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由授权分析师审核、修订与确认，</a:t>
                </a:r>
              </a:p>
            </p:txBody>
          </p:sp>
          <p:sp>
            <p:nvSpPr>
              <p:cNvPr id="152" name="TextBox 152"/>
              <p:cNvSpPr txBox="1"/>
              <p:nvPr/>
            </p:nvSpPr>
            <p:spPr>
              <a:xfrm>
                <a:off x="2814638" y="5046107"/>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后形成正式研究意见</a:t>
                </a:r>
              </a:p>
            </p:txBody>
          </p:sp>
        </p:grpSp>
      </p:grpSp>
      <p:grpSp>
        <p:nvGrpSpPr>
          <p:cNvPr id="183" name="chart-bridge"/>
          <p:cNvGrpSpPr/>
          <p:nvPr/>
        </p:nvGrpSpPr>
        <p:grpSpPr>
          <a:xfrm>
            <a:off x="5695950" y="952500"/>
            <a:ext cx="3238500" cy="1676400"/>
            <a:chOff x="5695950" y="952500"/>
            <a:chExt cx="3238500" cy="1676400"/>
          </a:xfrm>
        </p:grpSpPr>
        <p:sp>
          <p:nvSpPr>
            <p:cNvPr id="155" name="Rectangle 155"/>
            <p:cNvSpPr/>
            <p:nvPr/>
          </p:nvSpPr>
          <p:spPr>
            <a:xfrm>
              <a:off x="5695950" y="952500"/>
              <a:ext cx="3238500" cy="1676400"/>
            </a:xfrm>
            <a:prstGeom prst="roundRect">
              <a:avLst>
                <a:gd name="adj" fmla="val 3409"/>
              </a:avLst>
            </a:prstGeom>
            <a:solidFill>
              <a:srgbClr val="FCFDFE"/>
            </a:solidFill>
            <a:ln w="9525">
              <a:solidFill>
                <a:srgbClr val="CFDFEE"/>
              </a:solidFill>
            </a:ln>
          </p:spPr>
        </p:sp>
        <p:sp>
          <p:nvSpPr>
            <p:cNvPr id="156" name="TextBox 156"/>
            <p:cNvSpPr txBox="1"/>
            <p:nvPr/>
          </p:nvSpPr>
          <p:spPr>
            <a:xfrm>
              <a:off x="5805488" y="1045845"/>
              <a:ext cx="1725930"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盈利预测桥</a:t>
              </a:r>
              <a:r>
                <a:rPr lang="zh-CN" sz="750" dirty="0">
                  <a:solidFill>
                    <a:srgbClr val="6B1B0B"/>
                  </a:solidFill>
                  <a:latin typeface="+mn-lt"/>
                  <a:ea typeface="+mn-ea"/>
                  <a:cs typeface="+mn-cs"/>
                </a:rPr>
                <a:t xml:space="preserve">（归母净利润，亿元）　</a:t>
              </a:r>
            </a:p>
          </p:txBody>
        </p:sp>
        <p:sp>
          <p:nvSpPr>
            <p:cNvPr id="157" name="Line 157"/>
            <p:cNvSpPr/>
            <p:nvPr/>
          </p:nvSpPr>
          <p:spPr>
            <a:xfrm>
              <a:off x="5848350" y="2333625"/>
              <a:ext cx="2952750" cy="9525"/>
            </a:xfrm>
            <a:custGeom>
              <a:avLst/>
              <a:gdLst/>
              <a:ahLst/>
              <a:cxnLst/>
              <a:rect l="l" t="t" r="r" b="b"/>
              <a:pathLst>
                <a:path w="2952750" h="9525">
                  <a:moveTo>
                    <a:pt x="0" y="0"/>
                  </a:moveTo>
                  <a:lnTo>
                    <a:pt x="2952750" y="0"/>
                  </a:lnTo>
                </a:path>
              </a:pathLst>
            </a:custGeom>
            <a:noFill/>
            <a:ln w="9525">
              <a:solidFill>
                <a:srgbClr val="CFDFEE"/>
              </a:solidFill>
            </a:ln>
          </p:spPr>
        </p:sp>
        <p:sp>
          <p:nvSpPr>
            <p:cNvPr id="158" name="Rectangle 158"/>
            <p:cNvSpPr/>
            <p:nvPr/>
          </p:nvSpPr>
          <p:spPr>
            <a:xfrm>
              <a:off x="6000750" y="1685925"/>
              <a:ext cx="266700" cy="647700"/>
            </a:xfrm>
            <a:prstGeom prst="rect">
              <a:avLst/>
            </a:prstGeom>
            <a:solidFill>
              <a:srgbClr val="92301C"/>
            </a:solidFill>
            <a:ln>
              <a:noFill/>
            </a:ln>
          </p:spPr>
        </p:sp>
        <p:sp>
          <p:nvSpPr>
            <p:cNvPr id="159" name="Rectangle 159"/>
            <p:cNvSpPr/>
            <p:nvPr/>
          </p:nvSpPr>
          <p:spPr>
            <a:xfrm>
              <a:off x="6448425" y="1485900"/>
              <a:ext cx="266700" cy="200025"/>
            </a:xfrm>
            <a:prstGeom prst="rect">
              <a:avLst/>
            </a:prstGeom>
            <a:solidFill>
              <a:srgbClr val="C87C6C"/>
            </a:solidFill>
            <a:ln>
              <a:noFill/>
            </a:ln>
          </p:spPr>
        </p:sp>
        <p:sp>
          <p:nvSpPr>
            <p:cNvPr id="160" name="Rectangle 160"/>
            <p:cNvSpPr/>
            <p:nvPr/>
          </p:nvSpPr>
          <p:spPr>
            <a:xfrm>
              <a:off x="6896100" y="1333500"/>
              <a:ext cx="266700" cy="152400"/>
            </a:xfrm>
            <a:prstGeom prst="rect">
              <a:avLst/>
            </a:prstGeom>
            <a:solidFill>
              <a:srgbClr val="C87C6C"/>
            </a:solidFill>
            <a:ln>
              <a:noFill/>
            </a:ln>
          </p:spPr>
        </p:sp>
        <p:sp>
          <p:nvSpPr>
            <p:cNvPr id="161" name="Rectangle 161"/>
            <p:cNvSpPr/>
            <p:nvPr/>
          </p:nvSpPr>
          <p:spPr>
            <a:xfrm>
              <a:off x="7343775" y="1333500"/>
              <a:ext cx="266700" cy="66675"/>
            </a:xfrm>
            <a:prstGeom prst="rect">
              <a:avLst/>
            </a:prstGeom>
            <a:solidFill>
              <a:srgbClr val="E3B3A9"/>
            </a:solidFill>
            <a:ln>
              <a:noFill/>
            </a:ln>
          </p:spPr>
        </p:sp>
        <p:sp>
          <p:nvSpPr>
            <p:cNvPr id="162" name="Rectangle 162"/>
            <p:cNvSpPr/>
            <p:nvPr/>
          </p:nvSpPr>
          <p:spPr>
            <a:xfrm>
              <a:off x="7791450" y="1400175"/>
              <a:ext cx="266700" cy="47625"/>
            </a:xfrm>
            <a:prstGeom prst="rect">
              <a:avLst/>
            </a:prstGeom>
            <a:solidFill>
              <a:srgbClr val="E3B3A9"/>
            </a:solidFill>
            <a:ln>
              <a:noFill/>
            </a:ln>
          </p:spPr>
        </p:sp>
        <p:sp>
          <p:nvSpPr>
            <p:cNvPr id="163" name="Rectangle 163"/>
            <p:cNvSpPr/>
            <p:nvPr/>
          </p:nvSpPr>
          <p:spPr>
            <a:xfrm>
              <a:off x="8239125" y="1447800"/>
              <a:ext cx="266700" cy="885825"/>
            </a:xfrm>
            <a:prstGeom prst="rect">
              <a:avLst/>
            </a:prstGeom>
            <a:solidFill>
              <a:srgbClr val="92301C"/>
            </a:solidFill>
            <a:ln>
              <a:noFill/>
            </a:ln>
          </p:spPr>
        </p:sp>
        <p:grpSp>
          <p:nvGrpSpPr>
            <p:cNvPr id="170" name="cb-vals"/>
            <p:cNvGrpSpPr/>
            <p:nvPr/>
          </p:nvGrpSpPr>
          <p:grpSpPr>
            <a:xfrm>
              <a:off x="6078422" y="1203484"/>
              <a:ext cx="2375188" cy="485775"/>
              <a:chOff x="6078422" y="1203484"/>
              <a:chExt cx="2375188" cy="485775"/>
            </a:xfrm>
          </p:grpSpPr>
          <p:sp>
            <p:nvSpPr>
              <p:cNvPr id="164" name="TextBox 164"/>
              <p:cNvSpPr txBox="1"/>
              <p:nvPr/>
            </p:nvSpPr>
            <p:spPr>
              <a:xfrm>
                <a:off x="6078422" y="1555909"/>
                <a:ext cx="111356"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80</a:t>
                </a:r>
              </a:p>
            </p:txBody>
          </p:sp>
          <p:sp>
            <p:nvSpPr>
              <p:cNvPr id="165" name="TextBox 165"/>
              <p:cNvSpPr txBox="1"/>
              <p:nvPr/>
            </p:nvSpPr>
            <p:spPr>
              <a:xfrm>
                <a:off x="6499367" y="1355884"/>
                <a:ext cx="164816"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+25</a:t>
                </a:r>
              </a:p>
            </p:txBody>
          </p:sp>
          <p:sp>
            <p:nvSpPr>
              <p:cNvPr id="166" name="TextBox 166"/>
              <p:cNvSpPr txBox="1"/>
              <p:nvPr/>
            </p:nvSpPr>
            <p:spPr>
              <a:xfrm>
                <a:off x="6947042" y="1203484"/>
                <a:ext cx="164816"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+18</a:t>
                </a:r>
              </a:p>
            </p:txBody>
          </p:sp>
          <p:sp>
            <p:nvSpPr>
              <p:cNvPr id="167" name="TextBox 167"/>
              <p:cNvSpPr txBox="1"/>
              <p:nvPr/>
            </p:nvSpPr>
            <p:spPr>
              <a:xfrm>
                <a:off x="7431663" y="1203484"/>
                <a:ext cx="90924"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-8</a:t>
                </a:r>
              </a:p>
            </p:txBody>
          </p:sp>
          <p:sp>
            <p:nvSpPr>
              <p:cNvPr id="168" name="TextBox 168"/>
              <p:cNvSpPr txBox="1"/>
              <p:nvPr/>
            </p:nvSpPr>
            <p:spPr>
              <a:xfrm>
                <a:off x="7879338" y="1270159"/>
                <a:ext cx="90924"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-5</a:t>
                </a:r>
              </a:p>
            </p:txBody>
          </p:sp>
          <p:sp>
            <p:nvSpPr>
              <p:cNvPr id="169" name="TextBox 169"/>
              <p:cNvSpPr txBox="1"/>
              <p:nvPr/>
            </p:nvSpPr>
            <p:spPr>
              <a:xfrm>
                <a:off x="8291339" y="1317784"/>
                <a:ext cx="162271"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110</a:t>
                </a:r>
              </a:p>
            </p:txBody>
          </p:sp>
        </p:grpSp>
        <p:sp>
          <p:nvSpPr>
            <p:cNvPr id="171" name="Line 171"/>
            <p:cNvSpPr/>
            <p:nvPr/>
          </p:nvSpPr>
          <p:spPr>
            <a:xfrm>
              <a:off x="6267450" y="1685925"/>
              <a:ext cx="180975" cy="9525"/>
            </a:xfrm>
            <a:custGeom>
              <a:avLst/>
              <a:gdLst/>
              <a:ahLst/>
              <a:cxnLst/>
              <a:rect l="l" t="t" r="r" b="b"/>
              <a:pathLst>
                <a:path w="180975" h="9525">
                  <a:moveTo>
                    <a:pt x="0" y="0"/>
                  </a:moveTo>
                  <a:lnTo>
                    <a:pt x="180975" y="0"/>
                  </a:lnTo>
                </a:path>
              </a:pathLst>
            </a:custGeom>
            <a:noFill/>
            <a:ln w="9525">
              <a:solidFill>
                <a:srgbClr val="E3B3A9"/>
              </a:solidFill>
              <a:custDash>
                <a:ds d="300000" sp="200000"/>
              </a:custDash>
            </a:ln>
          </p:spPr>
        </p:sp>
        <p:sp>
          <p:nvSpPr>
            <p:cNvPr id="172" name="Line 172"/>
            <p:cNvSpPr/>
            <p:nvPr/>
          </p:nvSpPr>
          <p:spPr>
            <a:xfrm>
              <a:off x="6715125" y="1485900"/>
              <a:ext cx="180975" cy="9525"/>
            </a:xfrm>
            <a:custGeom>
              <a:avLst/>
              <a:gdLst/>
              <a:ahLst/>
              <a:cxnLst/>
              <a:rect l="l" t="t" r="r" b="b"/>
              <a:pathLst>
                <a:path w="180975" h="9525">
                  <a:moveTo>
                    <a:pt x="0" y="0"/>
                  </a:moveTo>
                  <a:lnTo>
                    <a:pt x="180975" y="0"/>
                  </a:lnTo>
                </a:path>
              </a:pathLst>
            </a:custGeom>
            <a:noFill/>
            <a:ln w="9525">
              <a:solidFill>
                <a:srgbClr val="E3B3A9"/>
              </a:solidFill>
              <a:custDash>
                <a:ds d="300000" sp="200000"/>
              </a:custDash>
            </a:ln>
          </p:spPr>
        </p:sp>
        <p:sp>
          <p:nvSpPr>
            <p:cNvPr id="173" name="Line 173"/>
            <p:cNvSpPr/>
            <p:nvPr/>
          </p:nvSpPr>
          <p:spPr>
            <a:xfrm>
              <a:off x="7162800" y="1333500"/>
              <a:ext cx="180975" cy="9525"/>
            </a:xfrm>
            <a:custGeom>
              <a:avLst/>
              <a:gdLst/>
              <a:ahLst/>
              <a:cxnLst/>
              <a:rect l="l" t="t" r="r" b="b"/>
              <a:pathLst>
                <a:path w="180975" h="9525">
                  <a:moveTo>
                    <a:pt x="0" y="0"/>
                  </a:moveTo>
                  <a:lnTo>
                    <a:pt x="180975" y="0"/>
                  </a:lnTo>
                </a:path>
              </a:pathLst>
            </a:custGeom>
            <a:noFill/>
            <a:ln w="9525">
              <a:solidFill>
                <a:srgbClr val="E3B3A9"/>
              </a:solidFill>
              <a:custDash>
                <a:ds d="300000" sp="200000"/>
              </a:custDash>
            </a:ln>
          </p:spPr>
        </p:sp>
        <p:sp>
          <p:nvSpPr>
            <p:cNvPr id="174" name="Line 174"/>
            <p:cNvSpPr/>
            <p:nvPr/>
          </p:nvSpPr>
          <p:spPr>
            <a:xfrm>
              <a:off x="7610475" y="1400175"/>
              <a:ext cx="180975" cy="9525"/>
            </a:xfrm>
            <a:custGeom>
              <a:avLst/>
              <a:gdLst/>
              <a:ahLst/>
              <a:cxnLst/>
              <a:rect l="l" t="t" r="r" b="b"/>
              <a:pathLst>
                <a:path w="180975" h="9525">
                  <a:moveTo>
                    <a:pt x="0" y="0"/>
                  </a:moveTo>
                  <a:lnTo>
                    <a:pt x="180975" y="0"/>
                  </a:lnTo>
                </a:path>
              </a:pathLst>
            </a:custGeom>
            <a:noFill/>
            <a:ln w="9525">
              <a:solidFill>
                <a:srgbClr val="E3B3A9"/>
              </a:solidFill>
              <a:custDash>
                <a:ds d="300000" sp="200000"/>
              </a:custDash>
            </a:ln>
          </p:spPr>
        </p:sp>
        <p:sp>
          <p:nvSpPr>
            <p:cNvPr id="175" name="Line 175"/>
            <p:cNvSpPr/>
            <p:nvPr/>
          </p:nvSpPr>
          <p:spPr>
            <a:xfrm>
              <a:off x="8058150" y="1447800"/>
              <a:ext cx="180975" cy="9525"/>
            </a:xfrm>
            <a:custGeom>
              <a:avLst/>
              <a:gdLst/>
              <a:ahLst/>
              <a:cxnLst/>
              <a:rect l="l" t="t" r="r" b="b"/>
              <a:pathLst>
                <a:path w="180975" h="9525">
                  <a:moveTo>
                    <a:pt x="0" y="0"/>
                  </a:moveTo>
                  <a:lnTo>
                    <a:pt x="180975" y="0"/>
                  </a:lnTo>
                </a:path>
              </a:pathLst>
            </a:custGeom>
            <a:noFill/>
            <a:ln w="9525">
              <a:solidFill>
                <a:srgbClr val="E3B3A9"/>
              </a:solidFill>
              <a:custDash>
                <a:ds d="300000" sp="200000"/>
              </a:custDash>
            </a:ln>
          </p:spPr>
        </p:sp>
        <p:grpSp>
          <p:nvGrpSpPr>
            <p:cNvPr id="182" name="cb-xlabels"/>
            <p:cNvGrpSpPr/>
            <p:nvPr/>
          </p:nvGrpSpPr>
          <p:grpSpPr>
            <a:xfrm>
              <a:off x="5976472" y="2396728"/>
              <a:ext cx="2553632" cy="111919"/>
              <a:chOff x="5976472" y="2396728"/>
              <a:chExt cx="2553632" cy="111919"/>
            </a:xfrm>
          </p:grpSpPr>
          <p:sp>
            <p:nvSpPr>
              <p:cNvPr id="176" name="TextBox 176"/>
              <p:cNvSpPr txBox="1"/>
              <p:nvPr/>
            </p:nvSpPr>
            <p:spPr>
              <a:xfrm>
                <a:off x="5976472" y="2396728"/>
                <a:ext cx="315257"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j-lt"/>
                    <a:ea typeface="+mj-ea"/>
                    <a:cs typeface="+mj-cs"/>
                  </a:rPr>
                  <a:t xml:space="preserve">2024A　</a:t>
                </a:r>
              </a:p>
            </p:txBody>
          </p:sp>
          <p:sp>
            <p:nvSpPr>
              <p:cNvPr id="177" name="TextBox 177"/>
              <p:cNvSpPr txBox="1"/>
              <p:nvPr/>
            </p:nvSpPr>
            <p:spPr>
              <a:xfrm>
                <a:off x="6426238" y="2396728"/>
                <a:ext cx="311074"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收入增长</a:t>
                </a:r>
              </a:p>
            </p:txBody>
          </p:sp>
          <p:sp>
            <p:nvSpPr>
              <p:cNvPr id="178" name="TextBox 178"/>
              <p:cNvSpPr txBox="1"/>
              <p:nvPr/>
            </p:nvSpPr>
            <p:spPr>
              <a:xfrm>
                <a:off x="6836220" y="2396728"/>
                <a:ext cx="386461"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毛利率提升</a:t>
                </a:r>
              </a:p>
            </p:txBody>
          </p:sp>
          <p:sp>
            <p:nvSpPr>
              <p:cNvPr id="179" name="TextBox 179"/>
              <p:cNvSpPr txBox="1"/>
              <p:nvPr/>
            </p:nvSpPr>
            <p:spPr>
              <a:xfrm>
                <a:off x="7321588" y="2396728"/>
                <a:ext cx="311074"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费用增长</a:t>
                </a:r>
              </a:p>
            </p:txBody>
          </p:sp>
          <p:sp>
            <p:nvSpPr>
              <p:cNvPr id="180" name="TextBox 180"/>
              <p:cNvSpPr txBox="1"/>
              <p:nvPr/>
            </p:nvSpPr>
            <p:spPr>
              <a:xfrm>
                <a:off x="7844650" y="2396728"/>
                <a:ext cx="160299"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其他</a:t>
                </a:r>
              </a:p>
            </p:txBody>
          </p:sp>
          <p:sp>
            <p:nvSpPr>
              <p:cNvPr id="181" name="TextBox 181"/>
              <p:cNvSpPr txBox="1"/>
              <p:nvPr/>
            </p:nvSpPr>
            <p:spPr>
              <a:xfrm>
                <a:off x="8214847" y="2396728"/>
                <a:ext cx="315257"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j-lt"/>
                    <a:ea typeface="+mj-ea"/>
                    <a:cs typeface="+mj-cs"/>
                  </a:rPr>
                  <a:t xml:space="preserve">2025E　</a:t>
                </a:r>
              </a:p>
            </p:txBody>
          </p:sp>
        </p:grpSp>
      </p:grpSp>
      <p:grpSp>
        <p:nvGrpSpPr>
          <p:cNvPr id="213" name="chart-valuation"/>
          <p:cNvGrpSpPr/>
          <p:nvPr/>
        </p:nvGrpSpPr>
        <p:grpSpPr>
          <a:xfrm>
            <a:off x="9010650" y="952500"/>
            <a:ext cx="2990850" cy="1679734"/>
            <a:chOff x="9010650" y="952500"/>
            <a:chExt cx="2990850" cy="1679734"/>
          </a:xfrm>
        </p:grpSpPr>
        <p:sp>
          <p:nvSpPr>
            <p:cNvPr id="184" name="Rectangle 184"/>
            <p:cNvSpPr/>
            <p:nvPr/>
          </p:nvSpPr>
          <p:spPr>
            <a:xfrm>
              <a:off x="9010650" y="952500"/>
              <a:ext cx="2990850" cy="1676400"/>
            </a:xfrm>
            <a:prstGeom prst="roundRect">
              <a:avLst>
                <a:gd name="adj" fmla="val 3409"/>
              </a:avLst>
            </a:prstGeom>
            <a:solidFill>
              <a:srgbClr val="FCFDFE"/>
            </a:solidFill>
            <a:ln w="9525">
              <a:solidFill>
                <a:srgbClr val="CFDFEE"/>
              </a:solidFill>
            </a:ln>
          </p:spPr>
        </p:sp>
        <p:sp>
          <p:nvSpPr>
            <p:cNvPr id="185" name="TextBox 185"/>
            <p:cNvSpPr txBox="1"/>
            <p:nvPr/>
          </p:nvSpPr>
          <p:spPr>
            <a:xfrm>
              <a:off x="9120188" y="1045845"/>
              <a:ext cx="1458373"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估值区间</a:t>
              </a:r>
              <a:r>
                <a:rPr lang="zh-CN" sz="750" dirty="0">
                  <a:solidFill>
                    <a:srgbClr val="6B1B0B"/>
                  </a:solidFill>
                  <a:latin typeface="+mn-lt"/>
                  <a:ea typeface="+mn-ea"/>
                  <a:cs typeface="+mn-cs"/>
                </a:rPr>
                <a:t xml:space="preserve">（目标价，元/股）　</a:t>
              </a:r>
            </a:p>
          </p:txBody>
        </p:sp>
        <p:grpSp>
          <p:nvGrpSpPr>
            <p:cNvPr id="189" name="cv-grid"/>
            <p:cNvGrpSpPr/>
            <p:nvPr/>
          </p:nvGrpSpPr>
          <p:grpSpPr>
            <a:xfrm>
              <a:off x="9372600" y="1285875"/>
              <a:ext cx="2495550" cy="771525"/>
              <a:chOff x="9372600" y="1285875"/>
              <a:chExt cx="2495550" cy="771525"/>
            </a:xfrm>
          </p:grpSpPr>
          <p:sp>
            <p:nvSpPr>
              <p:cNvPr id="186" name="Line 186"/>
              <p:cNvSpPr/>
              <p:nvPr/>
            </p:nvSpPr>
            <p:spPr>
              <a:xfrm>
                <a:off x="9372600" y="1285875"/>
                <a:ext cx="2495550" cy="9525"/>
              </a:xfrm>
              <a:custGeom>
                <a:avLst/>
                <a:gdLst/>
                <a:ahLst/>
                <a:cxnLst/>
                <a:rect l="l" t="t" r="r" b="b"/>
                <a:pathLst>
                  <a:path w="2495550" h="9525">
                    <a:moveTo>
                      <a:pt x="0" y="0"/>
                    </a:moveTo>
                    <a:lnTo>
                      <a:pt x="2495550" y="0"/>
                    </a:lnTo>
                  </a:path>
                </a:pathLst>
              </a:custGeom>
              <a:noFill/>
              <a:ln w="9525">
                <a:solidFill>
                  <a:srgbClr val="E4EDF5"/>
                </a:solidFill>
              </a:ln>
            </p:spPr>
          </p:sp>
          <p:sp>
            <p:nvSpPr>
              <p:cNvPr id="187" name="Line 187"/>
              <p:cNvSpPr/>
              <p:nvPr/>
            </p:nvSpPr>
            <p:spPr>
              <a:xfrm>
                <a:off x="9372600" y="1666875"/>
                <a:ext cx="2495550" cy="9525"/>
              </a:xfrm>
              <a:custGeom>
                <a:avLst/>
                <a:gdLst/>
                <a:ahLst/>
                <a:cxnLst/>
                <a:rect l="l" t="t" r="r" b="b"/>
                <a:pathLst>
                  <a:path w="2495550" h="9525">
                    <a:moveTo>
                      <a:pt x="0" y="0"/>
                    </a:moveTo>
                    <a:lnTo>
                      <a:pt x="2495550" y="0"/>
                    </a:lnTo>
                  </a:path>
                </a:pathLst>
              </a:custGeom>
              <a:noFill/>
              <a:ln w="9525">
                <a:solidFill>
                  <a:srgbClr val="E4EDF5"/>
                </a:solidFill>
              </a:ln>
            </p:spPr>
          </p:sp>
          <p:sp>
            <p:nvSpPr>
              <p:cNvPr id="188" name="Line 188"/>
              <p:cNvSpPr/>
              <p:nvPr/>
            </p:nvSpPr>
            <p:spPr>
              <a:xfrm>
                <a:off x="9372600" y="2047875"/>
                <a:ext cx="2495550" cy="9525"/>
              </a:xfrm>
              <a:custGeom>
                <a:avLst/>
                <a:gdLst/>
                <a:ahLst/>
                <a:cxnLst/>
                <a:rect l="l" t="t" r="r" b="b"/>
                <a:pathLst>
                  <a:path w="2495550" h="9525">
                    <a:moveTo>
                      <a:pt x="0" y="0"/>
                    </a:moveTo>
                    <a:lnTo>
                      <a:pt x="2495550" y="0"/>
                    </a:lnTo>
                  </a:path>
                </a:pathLst>
              </a:custGeom>
              <a:noFill/>
              <a:ln w="9525">
                <a:solidFill>
                  <a:srgbClr val="E4EDF5"/>
                </a:solidFill>
              </a:ln>
            </p:spPr>
          </p:sp>
        </p:grpSp>
        <p:grpSp>
          <p:nvGrpSpPr>
            <p:cNvPr id="194" name="cv-ylabels"/>
            <p:cNvGrpSpPr/>
            <p:nvPr/>
          </p:nvGrpSpPr>
          <p:grpSpPr>
            <a:xfrm>
              <a:off x="9220837" y="1249680"/>
              <a:ext cx="99376" cy="1262062"/>
              <a:chOff x="9220837" y="1249680"/>
              <a:chExt cx="99376" cy="1262062"/>
            </a:xfrm>
          </p:grpSpPr>
          <p:sp>
            <p:nvSpPr>
              <p:cNvPr id="190" name="TextBox 190"/>
              <p:cNvSpPr txBox="1"/>
              <p:nvPr/>
            </p:nvSpPr>
            <p:spPr>
              <a:xfrm>
                <a:off x="9220837" y="1249680"/>
                <a:ext cx="99376" cy="119062"/>
              </a:xfrm>
              <a:prstGeom prst="rect">
                <a:avLst/>
              </a:prstGeom>
              <a:noFill/>
              <a:ln>
                <a:noFill/>
              </a:ln>
            </p:spPr>
            <p:txBody>
              <a:bodyPr wrap="none" lIns="0" tIns="0" rIns="0" bIns="0" anchor="t" anchorCtr="0">
                <a:spAutoFit/>
              </a:bodyPr>
              <a:lstStyle/>
              <a:p>
                <a:pPr algn="r"/>
                <a:r>
                  <a:rPr lang="zh-CN" sz="600" dirty="0">
                    <a:solidFill>
                      <a:srgbClr val="8C716B"/>
                    </a:solidFill>
                    <a:latin typeface="+mj-lt"/>
                    <a:ea typeface="+mj-ea"/>
                    <a:cs typeface="+mj-cs"/>
                  </a:rPr>
                  <a:t>60</a:t>
                </a:r>
              </a:p>
            </p:txBody>
          </p:sp>
          <p:sp>
            <p:nvSpPr>
              <p:cNvPr id="191" name="TextBox 191"/>
              <p:cNvSpPr txBox="1"/>
              <p:nvPr/>
            </p:nvSpPr>
            <p:spPr>
              <a:xfrm>
                <a:off x="9220837" y="1630680"/>
                <a:ext cx="99376" cy="119062"/>
              </a:xfrm>
              <a:prstGeom prst="rect">
                <a:avLst/>
              </a:prstGeom>
              <a:noFill/>
              <a:ln>
                <a:noFill/>
              </a:ln>
            </p:spPr>
            <p:txBody>
              <a:bodyPr wrap="none" lIns="0" tIns="0" rIns="0" bIns="0" anchor="t" anchorCtr="0">
                <a:spAutoFit/>
              </a:bodyPr>
              <a:lstStyle/>
              <a:p>
                <a:pPr algn="r"/>
                <a:r>
                  <a:rPr lang="zh-CN" sz="600" dirty="0">
                    <a:solidFill>
                      <a:srgbClr val="8C716B"/>
                    </a:solidFill>
                    <a:latin typeface="+mj-lt"/>
                    <a:ea typeface="+mj-ea"/>
                    <a:cs typeface="+mj-cs"/>
                  </a:rPr>
                  <a:t>40</a:t>
                </a:r>
              </a:p>
            </p:txBody>
          </p:sp>
          <p:sp>
            <p:nvSpPr>
              <p:cNvPr id="192" name="TextBox 192"/>
              <p:cNvSpPr txBox="1"/>
              <p:nvPr/>
            </p:nvSpPr>
            <p:spPr>
              <a:xfrm>
                <a:off x="9220837" y="2011680"/>
                <a:ext cx="99376" cy="119062"/>
              </a:xfrm>
              <a:prstGeom prst="rect">
                <a:avLst/>
              </a:prstGeom>
              <a:noFill/>
              <a:ln>
                <a:noFill/>
              </a:ln>
            </p:spPr>
            <p:txBody>
              <a:bodyPr wrap="none" lIns="0" tIns="0" rIns="0" bIns="0" anchor="t" anchorCtr="0">
                <a:spAutoFit/>
              </a:bodyPr>
              <a:lstStyle/>
              <a:p>
                <a:pPr algn="r"/>
                <a:r>
                  <a:rPr lang="zh-CN" sz="600" dirty="0">
                    <a:solidFill>
                      <a:srgbClr val="8C716B"/>
                    </a:solidFill>
                    <a:latin typeface="+mj-lt"/>
                    <a:ea typeface="+mj-ea"/>
                    <a:cs typeface="+mj-cs"/>
                  </a:rPr>
                  <a:t>20</a:t>
                </a:r>
              </a:p>
            </p:txBody>
          </p:sp>
          <p:sp>
            <p:nvSpPr>
              <p:cNvPr id="193" name="TextBox 193"/>
              <p:cNvSpPr txBox="1"/>
              <p:nvPr/>
            </p:nvSpPr>
            <p:spPr>
              <a:xfrm>
                <a:off x="9265762" y="2392680"/>
                <a:ext cx="54450" cy="119062"/>
              </a:xfrm>
              <a:prstGeom prst="rect">
                <a:avLst/>
              </a:prstGeom>
              <a:noFill/>
              <a:ln>
                <a:noFill/>
              </a:ln>
            </p:spPr>
            <p:txBody>
              <a:bodyPr wrap="none" lIns="0" tIns="0" rIns="0" bIns="0" anchor="t" anchorCtr="0">
                <a:spAutoFit/>
              </a:bodyPr>
              <a:lstStyle/>
              <a:p>
                <a:pPr algn="r"/>
                <a:r>
                  <a:rPr lang="zh-CN" sz="600" dirty="0">
                    <a:solidFill>
                      <a:srgbClr val="8C716B"/>
                    </a:solidFill>
                    <a:latin typeface="+mj-lt"/>
                    <a:ea typeface="+mj-ea"/>
                    <a:cs typeface="+mj-cs"/>
                  </a:rPr>
                  <a:t>0</a:t>
                </a:r>
              </a:p>
            </p:txBody>
          </p:sp>
        </p:grpSp>
        <p:sp>
          <p:nvSpPr>
            <p:cNvPr id="195" name="Line 195"/>
            <p:cNvSpPr/>
            <p:nvPr/>
          </p:nvSpPr>
          <p:spPr>
            <a:xfrm>
              <a:off x="9372600" y="2428875"/>
              <a:ext cx="2495550" cy="9525"/>
            </a:xfrm>
            <a:custGeom>
              <a:avLst/>
              <a:gdLst/>
              <a:ahLst/>
              <a:cxnLst/>
              <a:rect l="l" t="t" r="r" b="b"/>
              <a:pathLst>
                <a:path w="2495550" h="9525">
                  <a:moveTo>
                    <a:pt x="0" y="0"/>
                  </a:moveTo>
                  <a:lnTo>
                    <a:pt x="2495550" y="0"/>
                  </a:lnTo>
                </a:path>
              </a:pathLst>
            </a:custGeom>
            <a:noFill/>
            <a:ln w="9525">
              <a:solidFill>
                <a:srgbClr val="CFDFEE"/>
              </a:solidFill>
            </a:ln>
          </p:spPr>
        </p:sp>
        <p:grpSp>
          <p:nvGrpSpPr>
            <p:cNvPr id="205" name="cv-ranges"/>
            <p:cNvGrpSpPr/>
            <p:nvPr/>
          </p:nvGrpSpPr>
          <p:grpSpPr>
            <a:xfrm>
              <a:off x="9442428" y="1365409"/>
              <a:ext cx="2165394" cy="530066"/>
              <a:chOff x="9442428" y="1365409"/>
              <a:chExt cx="2165394" cy="530066"/>
            </a:xfrm>
          </p:grpSpPr>
          <p:sp>
            <p:nvSpPr>
              <p:cNvPr id="196" name="Rectangle 196"/>
              <p:cNvSpPr/>
              <p:nvPr/>
            </p:nvSpPr>
            <p:spPr>
              <a:xfrm>
                <a:off x="9572625" y="1628775"/>
                <a:ext cx="95250" cy="266700"/>
              </a:xfrm>
              <a:prstGeom prst="roundRect">
                <a:avLst>
                  <a:gd name="adj" fmla="val 50000"/>
                </a:avLst>
              </a:prstGeom>
              <a:solidFill>
                <a:srgbClr val="E3B3A9"/>
              </a:solidFill>
              <a:ln>
                <a:noFill/>
              </a:ln>
            </p:spPr>
          </p:sp>
          <p:sp>
            <p:nvSpPr>
              <p:cNvPr id="197" name="Ellipse 197"/>
              <p:cNvSpPr/>
              <p:nvPr/>
            </p:nvSpPr>
            <p:spPr>
              <a:xfrm>
                <a:off x="9582150" y="1724025"/>
                <a:ext cx="76200" cy="76200"/>
              </a:xfrm>
              <a:prstGeom prst="ellipse">
                <a:avLst/>
              </a:prstGeom>
              <a:solidFill>
                <a:srgbClr val="6B1B0B"/>
              </a:solidFill>
              <a:ln>
                <a:noFill/>
              </a:ln>
            </p:spPr>
          </p:sp>
          <p:sp>
            <p:nvSpPr>
              <p:cNvPr id="198" name="TextBox 198"/>
              <p:cNvSpPr txBox="1"/>
              <p:nvPr/>
            </p:nvSpPr>
            <p:spPr>
              <a:xfrm>
                <a:off x="9442428" y="1479709"/>
                <a:ext cx="355644"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 xml:space="preserve">28–42　</a:t>
                </a:r>
              </a:p>
            </p:txBody>
          </p:sp>
          <p:sp>
            <p:nvSpPr>
              <p:cNvPr id="199" name="Rectangle 199"/>
              <p:cNvSpPr/>
              <p:nvPr/>
            </p:nvSpPr>
            <p:spPr>
              <a:xfrm>
                <a:off x="10477500" y="1514475"/>
                <a:ext cx="95250" cy="304800"/>
              </a:xfrm>
              <a:prstGeom prst="roundRect">
                <a:avLst>
                  <a:gd name="adj" fmla="val 50000"/>
                </a:avLst>
              </a:prstGeom>
              <a:solidFill>
                <a:srgbClr val="E3B3A9"/>
              </a:solidFill>
              <a:ln>
                <a:noFill/>
              </a:ln>
            </p:spPr>
          </p:sp>
          <p:sp>
            <p:nvSpPr>
              <p:cNvPr id="200" name="Ellipse 200"/>
              <p:cNvSpPr/>
              <p:nvPr/>
            </p:nvSpPr>
            <p:spPr>
              <a:xfrm>
                <a:off x="10487025" y="1628775"/>
                <a:ext cx="76200" cy="76200"/>
              </a:xfrm>
              <a:prstGeom prst="ellipse">
                <a:avLst/>
              </a:prstGeom>
              <a:solidFill>
                <a:srgbClr val="6B1B0B"/>
              </a:solidFill>
              <a:ln>
                <a:noFill/>
              </a:ln>
            </p:spPr>
          </p:sp>
          <p:sp>
            <p:nvSpPr>
              <p:cNvPr id="201" name="TextBox 201"/>
              <p:cNvSpPr txBox="1"/>
              <p:nvPr/>
            </p:nvSpPr>
            <p:spPr>
              <a:xfrm>
                <a:off x="10347303" y="1365409"/>
                <a:ext cx="355644"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 xml:space="preserve">32–48　</a:t>
                </a:r>
              </a:p>
            </p:txBody>
          </p:sp>
          <p:sp>
            <p:nvSpPr>
              <p:cNvPr id="202" name="Rectangle 202"/>
              <p:cNvSpPr/>
              <p:nvPr/>
            </p:nvSpPr>
            <p:spPr>
              <a:xfrm>
                <a:off x="11382375" y="1552575"/>
                <a:ext cx="95250" cy="285750"/>
              </a:xfrm>
              <a:prstGeom prst="roundRect">
                <a:avLst>
                  <a:gd name="adj" fmla="val 50000"/>
                </a:avLst>
              </a:prstGeom>
              <a:solidFill>
                <a:srgbClr val="E3B3A9"/>
              </a:solidFill>
              <a:ln>
                <a:noFill/>
              </a:ln>
            </p:spPr>
          </p:sp>
          <p:sp>
            <p:nvSpPr>
              <p:cNvPr id="203" name="Ellipse 203"/>
              <p:cNvSpPr/>
              <p:nvPr/>
            </p:nvSpPr>
            <p:spPr>
              <a:xfrm>
                <a:off x="11391900" y="1666875"/>
                <a:ext cx="76200" cy="76200"/>
              </a:xfrm>
              <a:prstGeom prst="ellipse">
                <a:avLst/>
              </a:prstGeom>
              <a:solidFill>
                <a:srgbClr val="6B1B0B"/>
              </a:solidFill>
              <a:ln>
                <a:noFill/>
              </a:ln>
            </p:spPr>
          </p:sp>
          <p:sp>
            <p:nvSpPr>
              <p:cNvPr id="204" name="TextBox 204"/>
              <p:cNvSpPr txBox="1"/>
              <p:nvPr/>
            </p:nvSpPr>
            <p:spPr>
              <a:xfrm>
                <a:off x="11252178" y="1403509"/>
                <a:ext cx="355644"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 xml:space="preserve">30–46　</a:t>
                </a:r>
              </a:p>
            </p:txBody>
          </p:sp>
        </p:grpSp>
        <p:grpSp>
          <p:nvGrpSpPr>
            <p:cNvPr id="212" name="cv-xlabels"/>
            <p:cNvGrpSpPr/>
            <p:nvPr/>
          </p:nvGrpSpPr>
          <p:grpSpPr>
            <a:xfrm>
              <a:off x="9384794" y="2241709"/>
              <a:ext cx="2280663" cy="390525"/>
              <a:chOff x="9384794" y="2241709"/>
              <a:chExt cx="2280663" cy="390525"/>
            </a:xfrm>
          </p:grpSpPr>
          <p:sp>
            <p:nvSpPr>
              <p:cNvPr id="206" name="TextBox 206"/>
              <p:cNvSpPr txBox="1"/>
              <p:nvPr/>
            </p:nvSpPr>
            <p:spPr>
              <a:xfrm>
                <a:off x="9384794" y="2241709"/>
                <a:ext cx="470913"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中枢 35​​​</a:t>
                </a:r>
              </a:p>
            </p:txBody>
          </p:sp>
          <p:sp>
            <p:nvSpPr>
              <p:cNvPr id="207" name="TextBox 207"/>
              <p:cNvSpPr txBox="1"/>
              <p:nvPr/>
            </p:nvSpPr>
            <p:spPr>
              <a:xfrm>
                <a:off x="10289669" y="2241709"/>
                <a:ext cx="470913"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中枢 40​​​</a:t>
                </a:r>
              </a:p>
            </p:txBody>
          </p:sp>
          <p:sp>
            <p:nvSpPr>
              <p:cNvPr id="208" name="TextBox 208"/>
              <p:cNvSpPr txBox="1"/>
              <p:nvPr/>
            </p:nvSpPr>
            <p:spPr>
              <a:xfrm>
                <a:off x="11194544" y="2241709"/>
                <a:ext cx="470913"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中枢 38​​​</a:t>
                </a:r>
              </a:p>
            </p:txBody>
          </p:sp>
          <p:sp>
            <p:nvSpPr>
              <p:cNvPr id="209" name="TextBox 209"/>
              <p:cNvSpPr txBox="1"/>
              <p:nvPr/>
            </p:nvSpPr>
            <p:spPr>
              <a:xfrm>
                <a:off x="9459432" y="2498884"/>
                <a:ext cx="32163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 xml:space="preserve">PE法　</a:t>
                </a:r>
              </a:p>
            </p:txBody>
          </p:sp>
          <p:sp>
            <p:nvSpPr>
              <p:cNvPr id="210" name="TextBox 210"/>
              <p:cNvSpPr txBox="1"/>
              <p:nvPr/>
            </p:nvSpPr>
            <p:spPr>
              <a:xfrm>
                <a:off x="10364307" y="2498884"/>
                <a:ext cx="32163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 xml:space="preserve">PS法　</a:t>
                </a:r>
              </a:p>
            </p:txBody>
          </p:sp>
          <p:sp>
            <p:nvSpPr>
              <p:cNvPr id="211" name="TextBox 211"/>
              <p:cNvSpPr txBox="1"/>
              <p:nvPr/>
            </p:nvSpPr>
            <p:spPr>
              <a:xfrm>
                <a:off x="11234303" y="2498884"/>
                <a:ext cx="391394"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 xml:space="preserve">DCF法　</a:t>
                </a:r>
              </a:p>
            </p:txBody>
          </p:sp>
        </p:grpSp>
      </p:grpSp>
      <p:grpSp>
        <p:nvGrpSpPr>
          <p:cNvPr id="260" name="risk-table"/>
          <p:cNvGrpSpPr/>
          <p:nvPr/>
        </p:nvGrpSpPr>
        <p:grpSpPr>
          <a:xfrm>
            <a:off x="5691188" y="2817495"/>
            <a:ext cx="6310312" cy="2221230"/>
            <a:chOff x="5691188" y="2817495"/>
            <a:chExt cx="6310312" cy="2221230"/>
          </a:xfrm>
        </p:grpSpPr>
        <p:sp>
          <p:nvSpPr>
            <p:cNvPr id="214" name="TextBox 214"/>
            <p:cNvSpPr txBox="1"/>
            <p:nvPr/>
          </p:nvSpPr>
          <p:spPr>
            <a:xfrm>
              <a:off x="5691188" y="2817495"/>
              <a:ext cx="1241298"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风险因素矩阵</a:t>
              </a:r>
              <a:r>
                <a:rPr lang="zh-CN" sz="750" dirty="0">
                  <a:solidFill>
                    <a:srgbClr val="6B1B0B"/>
                  </a:solidFill>
                  <a:latin typeface="+mn-lt"/>
                  <a:ea typeface="+mn-ea"/>
                  <a:cs typeface="+mn-cs"/>
                </a:rPr>
                <a:t xml:space="preserve">（示例）　</a:t>
              </a:r>
            </a:p>
          </p:txBody>
        </p:sp>
        <p:sp>
          <p:nvSpPr>
            <p:cNvPr id="215" name="Rectangle 215"/>
            <p:cNvSpPr/>
            <p:nvPr/>
          </p:nvSpPr>
          <p:spPr>
            <a:xfrm>
              <a:off x="5695950" y="2990850"/>
              <a:ext cx="6305550" cy="209550"/>
            </a:xfrm>
            <a:prstGeom prst="rect">
              <a:avLst/>
            </a:prstGeom>
            <a:solidFill>
              <a:srgbClr val="6B1B0B"/>
            </a:solidFill>
            <a:ln>
              <a:noFill/>
            </a:ln>
          </p:spPr>
        </p:sp>
        <p:grpSp>
          <p:nvGrpSpPr>
            <p:cNvPr id="221" name="rt-head"/>
            <p:cNvGrpSpPr/>
            <p:nvPr/>
          </p:nvGrpSpPr>
          <p:grpSpPr>
            <a:xfrm>
              <a:off x="5767388" y="3056811"/>
              <a:ext cx="3916426" cy="140494"/>
              <a:chOff x="5767388" y="3056811"/>
              <a:chExt cx="3916426" cy="140494"/>
            </a:xfrm>
          </p:grpSpPr>
          <p:sp>
            <p:nvSpPr>
              <p:cNvPr id="216" name="TextBox 216"/>
              <p:cNvSpPr txBox="1"/>
              <p:nvPr/>
            </p:nvSpPr>
            <p:spPr>
              <a:xfrm>
                <a:off x="5767388" y="305681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风险类别</a:t>
                </a:r>
              </a:p>
            </p:txBody>
          </p:sp>
          <p:sp>
            <p:nvSpPr>
              <p:cNvPr id="217" name="TextBox 217"/>
              <p:cNvSpPr txBox="1"/>
              <p:nvPr/>
            </p:nvSpPr>
            <p:spPr>
              <a:xfrm>
                <a:off x="6529388" y="305681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具体风险</a:t>
                </a:r>
              </a:p>
            </p:txBody>
          </p:sp>
          <p:sp>
            <p:nvSpPr>
              <p:cNvPr id="218" name="TextBox 218"/>
              <p:cNvSpPr txBox="1"/>
              <p:nvPr/>
            </p:nvSpPr>
            <p:spPr>
              <a:xfrm>
                <a:off x="8015288" y="3056811"/>
                <a:ext cx="29626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发生率</a:t>
                </a:r>
              </a:p>
            </p:txBody>
          </p:sp>
          <p:sp>
            <p:nvSpPr>
              <p:cNvPr id="219" name="TextBox 219"/>
              <p:cNvSpPr txBox="1"/>
              <p:nvPr/>
            </p:nvSpPr>
            <p:spPr>
              <a:xfrm>
                <a:off x="8605838" y="305681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影响程度</a:t>
                </a:r>
              </a:p>
            </p:txBody>
          </p:sp>
          <p:sp>
            <p:nvSpPr>
              <p:cNvPr id="220" name="TextBox 220"/>
              <p:cNvSpPr txBox="1"/>
              <p:nvPr/>
            </p:nvSpPr>
            <p:spPr>
              <a:xfrm>
                <a:off x="9196388" y="3056811"/>
                <a:ext cx="48742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应对关注点</a:t>
                </a:r>
              </a:p>
            </p:txBody>
          </p:sp>
        </p:grpSp>
        <p:grpSp>
          <p:nvGrpSpPr>
            <p:cNvPr id="258" name="rt-rows"/>
            <p:cNvGrpSpPr/>
            <p:nvPr/>
          </p:nvGrpSpPr>
          <p:grpSpPr>
            <a:xfrm>
              <a:off x="5695950" y="3200400"/>
              <a:ext cx="6305550" cy="1828800"/>
              <a:chOff x="5695950" y="3200400"/>
              <a:chExt cx="6305550" cy="1828800"/>
            </a:xfrm>
          </p:grpSpPr>
          <p:sp>
            <p:nvSpPr>
              <p:cNvPr id="222" name="Rectangle 222"/>
              <p:cNvSpPr/>
              <p:nvPr/>
            </p:nvSpPr>
            <p:spPr>
              <a:xfrm>
                <a:off x="5695950" y="3200400"/>
                <a:ext cx="6305550" cy="304800"/>
              </a:xfrm>
              <a:prstGeom prst="rect">
                <a:avLst/>
              </a:prstGeom>
              <a:solidFill>
                <a:srgbClr val="F6F9FD"/>
              </a:solidFill>
              <a:ln>
                <a:noFill/>
              </a:ln>
            </p:spPr>
          </p:sp>
          <p:sp>
            <p:nvSpPr>
              <p:cNvPr id="223" name="TextBox 223"/>
              <p:cNvSpPr txBox="1"/>
              <p:nvPr/>
            </p:nvSpPr>
            <p:spPr>
              <a:xfrm>
                <a:off x="5767388" y="33180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宏观风险</a:t>
                </a:r>
              </a:p>
            </p:txBody>
          </p:sp>
          <p:sp>
            <p:nvSpPr>
              <p:cNvPr id="224" name="TextBox 224"/>
              <p:cNvSpPr txBox="1"/>
              <p:nvPr/>
            </p:nvSpPr>
            <p:spPr>
              <a:xfrm>
                <a:off x="6529388" y="3318034"/>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经济增长不及预期</a:t>
                </a:r>
              </a:p>
            </p:txBody>
          </p:sp>
          <p:sp>
            <p:nvSpPr>
              <p:cNvPr id="225" name="TextBox 225"/>
              <p:cNvSpPr txBox="1"/>
              <p:nvPr/>
            </p:nvSpPr>
            <p:spPr>
              <a:xfrm>
                <a:off x="8015288" y="33180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中</a:t>
                </a:r>
              </a:p>
            </p:txBody>
          </p:sp>
          <p:sp>
            <p:nvSpPr>
              <p:cNvPr id="226" name="TextBox 226"/>
              <p:cNvSpPr txBox="1"/>
              <p:nvPr/>
            </p:nvSpPr>
            <p:spPr>
              <a:xfrm>
                <a:off x="8605838" y="33180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高</a:t>
                </a:r>
              </a:p>
            </p:txBody>
          </p:sp>
          <p:sp>
            <p:nvSpPr>
              <p:cNvPr id="227" name="TextBox 227"/>
              <p:cNvSpPr txBox="1"/>
              <p:nvPr/>
            </p:nvSpPr>
            <p:spPr>
              <a:xfrm>
                <a:off x="9196388" y="3318034"/>
                <a:ext cx="101648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关注政策变化与需求韧性</a:t>
                </a:r>
              </a:p>
            </p:txBody>
          </p:sp>
          <p:sp>
            <p:nvSpPr>
              <p:cNvPr id="228" name="Rectangle 228"/>
              <p:cNvSpPr/>
              <p:nvPr/>
            </p:nvSpPr>
            <p:spPr>
              <a:xfrm>
                <a:off x="5695950" y="3505200"/>
                <a:ext cx="6305550" cy="304800"/>
              </a:xfrm>
              <a:prstGeom prst="rect">
                <a:avLst/>
              </a:prstGeom>
              <a:solidFill>
                <a:srgbClr val="FFFFFF"/>
              </a:solidFill>
              <a:ln>
                <a:noFill/>
              </a:ln>
            </p:spPr>
          </p:sp>
          <p:sp>
            <p:nvSpPr>
              <p:cNvPr id="229" name="TextBox 229"/>
              <p:cNvSpPr txBox="1"/>
              <p:nvPr/>
            </p:nvSpPr>
            <p:spPr>
              <a:xfrm>
                <a:off x="5767388" y="36228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行业风险</a:t>
                </a:r>
              </a:p>
            </p:txBody>
          </p:sp>
          <p:sp>
            <p:nvSpPr>
              <p:cNvPr id="230" name="TextBox 230"/>
              <p:cNvSpPr txBox="1"/>
              <p:nvPr/>
            </p:nvSpPr>
            <p:spPr>
              <a:xfrm>
                <a:off x="6529388" y="362283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行业竞争加剧</a:t>
                </a:r>
              </a:p>
            </p:txBody>
          </p:sp>
          <p:sp>
            <p:nvSpPr>
              <p:cNvPr id="231" name="TextBox 231"/>
              <p:cNvSpPr txBox="1"/>
              <p:nvPr/>
            </p:nvSpPr>
            <p:spPr>
              <a:xfrm>
                <a:off x="8015288" y="36228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高</a:t>
                </a:r>
              </a:p>
            </p:txBody>
          </p:sp>
          <p:sp>
            <p:nvSpPr>
              <p:cNvPr id="232" name="TextBox 232"/>
              <p:cNvSpPr txBox="1"/>
              <p:nvPr/>
            </p:nvSpPr>
            <p:spPr>
              <a:xfrm>
                <a:off x="8605838" y="36228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中</a:t>
                </a:r>
              </a:p>
            </p:txBody>
          </p:sp>
          <p:sp>
            <p:nvSpPr>
              <p:cNvPr id="233" name="TextBox 233"/>
              <p:cNvSpPr txBox="1"/>
              <p:nvPr/>
            </p:nvSpPr>
            <p:spPr>
              <a:xfrm>
                <a:off x="9196388" y="3622834"/>
                <a:ext cx="101648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跟踪竞争格局与价格走势</a:t>
                </a:r>
              </a:p>
            </p:txBody>
          </p:sp>
          <p:sp>
            <p:nvSpPr>
              <p:cNvPr id="234" name="Rectangle 234"/>
              <p:cNvSpPr/>
              <p:nvPr/>
            </p:nvSpPr>
            <p:spPr>
              <a:xfrm>
                <a:off x="5695950" y="3810000"/>
                <a:ext cx="6305550" cy="304800"/>
              </a:xfrm>
              <a:prstGeom prst="rect">
                <a:avLst/>
              </a:prstGeom>
              <a:solidFill>
                <a:srgbClr val="F6F9FD"/>
              </a:solidFill>
              <a:ln>
                <a:noFill/>
              </a:ln>
            </p:spPr>
          </p:sp>
          <p:sp>
            <p:nvSpPr>
              <p:cNvPr id="235" name="TextBox 235"/>
              <p:cNvSpPr txBox="1"/>
              <p:nvPr/>
            </p:nvSpPr>
            <p:spPr>
              <a:xfrm>
                <a:off x="5767388" y="39276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经营风险</a:t>
                </a:r>
              </a:p>
            </p:txBody>
          </p:sp>
          <p:sp>
            <p:nvSpPr>
              <p:cNvPr id="236" name="TextBox 236"/>
              <p:cNvSpPr txBox="1"/>
              <p:nvPr/>
            </p:nvSpPr>
            <p:spPr>
              <a:xfrm>
                <a:off x="6529388" y="3927634"/>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产品需求低于预期</a:t>
                </a:r>
              </a:p>
            </p:txBody>
          </p:sp>
          <p:sp>
            <p:nvSpPr>
              <p:cNvPr id="237" name="TextBox 237"/>
              <p:cNvSpPr txBox="1"/>
              <p:nvPr/>
            </p:nvSpPr>
            <p:spPr>
              <a:xfrm>
                <a:off x="8015288" y="39276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中</a:t>
                </a:r>
              </a:p>
            </p:txBody>
          </p:sp>
          <p:sp>
            <p:nvSpPr>
              <p:cNvPr id="238" name="TextBox 238"/>
              <p:cNvSpPr txBox="1"/>
              <p:nvPr/>
            </p:nvSpPr>
            <p:spPr>
              <a:xfrm>
                <a:off x="8605838" y="39276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高</a:t>
                </a:r>
              </a:p>
            </p:txBody>
          </p:sp>
          <p:sp>
            <p:nvSpPr>
              <p:cNvPr id="239" name="TextBox 239"/>
              <p:cNvSpPr txBox="1"/>
              <p:nvPr/>
            </p:nvSpPr>
            <p:spPr>
              <a:xfrm>
                <a:off x="9196388" y="3927634"/>
                <a:ext cx="92494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关注订单、渠道与库存</a:t>
                </a:r>
              </a:p>
            </p:txBody>
          </p:sp>
          <p:sp>
            <p:nvSpPr>
              <p:cNvPr id="240" name="Rectangle 240"/>
              <p:cNvSpPr/>
              <p:nvPr/>
            </p:nvSpPr>
            <p:spPr>
              <a:xfrm>
                <a:off x="5695950" y="4114800"/>
                <a:ext cx="6305550" cy="304800"/>
              </a:xfrm>
              <a:prstGeom prst="rect">
                <a:avLst/>
              </a:prstGeom>
              <a:solidFill>
                <a:srgbClr val="FFFFFF"/>
              </a:solidFill>
              <a:ln>
                <a:noFill/>
              </a:ln>
            </p:spPr>
          </p:sp>
          <p:sp>
            <p:nvSpPr>
              <p:cNvPr id="241" name="TextBox 241"/>
              <p:cNvSpPr txBox="1"/>
              <p:nvPr/>
            </p:nvSpPr>
            <p:spPr>
              <a:xfrm>
                <a:off x="5767388" y="42324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财务风险</a:t>
                </a:r>
              </a:p>
            </p:txBody>
          </p:sp>
          <p:sp>
            <p:nvSpPr>
              <p:cNvPr id="242" name="TextBox 242"/>
              <p:cNvSpPr txBox="1"/>
              <p:nvPr/>
            </p:nvSpPr>
            <p:spPr>
              <a:xfrm>
                <a:off x="6529388" y="423243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杠杆水平上升</a:t>
                </a:r>
              </a:p>
            </p:txBody>
          </p:sp>
          <p:sp>
            <p:nvSpPr>
              <p:cNvPr id="243" name="TextBox 243"/>
              <p:cNvSpPr txBox="1"/>
              <p:nvPr/>
            </p:nvSpPr>
            <p:spPr>
              <a:xfrm>
                <a:off x="8015288" y="42324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中</a:t>
                </a:r>
              </a:p>
            </p:txBody>
          </p:sp>
          <p:sp>
            <p:nvSpPr>
              <p:cNvPr id="244" name="TextBox 244"/>
              <p:cNvSpPr txBox="1"/>
              <p:nvPr/>
            </p:nvSpPr>
            <p:spPr>
              <a:xfrm>
                <a:off x="8605838" y="42324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中</a:t>
                </a:r>
              </a:p>
            </p:txBody>
          </p:sp>
          <p:sp>
            <p:nvSpPr>
              <p:cNvPr id="245" name="TextBox 245"/>
              <p:cNvSpPr txBox="1"/>
              <p:nvPr/>
            </p:nvSpPr>
            <p:spPr>
              <a:xfrm>
                <a:off x="9196388" y="4232434"/>
                <a:ext cx="92494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关注现金流与偿债能力</a:t>
                </a:r>
              </a:p>
            </p:txBody>
          </p:sp>
          <p:sp>
            <p:nvSpPr>
              <p:cNvPr id="246" name="Rectangle 246"/>
              <p:cNvSpPr/>
              <p:nvPr/>
            </p:nvSpPr>
            <p:spPr>
              <a:xfrm>
                <a:off x="5695950" y="4419600"/>
                <a:ext cx="6305550" cy="304800"/>
              </a:xfrm>
              <a:prstGeom prst="rect">
                <a:avLst/>
              </a:prstGeom>
              <a:solidFill>
                <a:srgbClr val="F6F9FD"/>
              </a:solidFill>
              <a:ln>
                <a:noFill/>
              </a:ln>
            </p:spPr>
          </p:sp>
          <p:sp>
            <p:nvSpPr>
              <p:cNvPr id="247" name="TextBox 247"/>
              <p:cNvSpPr txBox="1"/>
              <p:nvPr/>
            </p:nvSpPr>
            <p:spPr>
              <a:xfrm>
                <a:off x="5767388" y="45372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政策风险</a:t>
                </a:r>
              </a:p>
            </p:txBody>
          </p:sp>
          <p:sp>
            <p:nvSpPr>
              <p:cNvPr id="248" name="TextBox 248"/>
              <p:cNvSpPr txBox="1"/>
              <p:nvPr/>
            </p:nvSpPr>
            <p:spPr>
              <a:xfrm>
                <a:off x="6529388" y="453723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监管政策变化</a:t>
                </a:r>
              </a:p>
            </p:txBody>
          </p:sp>
          <p:sp>
            <p:nvSpPr>
              <p:cNvPr id="249" name="TextBox 249"/>
              <p:cNvSpPr txBox="1"/>
              <p:nvPr/>
            </p:nvSpPr>
            <p:spPr>
              <a:xfrm>
                <a:off x="8015288" y="45372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中</a:t>
                </a:r>
              </a:p>
            </p:txBody>
          </p:sp>
          <p:sp>
            <p:nvSpPr>
              <p:cNvPr id="250" name="TextBox 250"/>
              <p:cNvSpPr txBox="1"/>
              <p:nvPr/>
            </p:nvSpPr>
            <p:spPr>
              <a:xfrm>
                <a:off x="8605838" y="45372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高</a:t>
                </a:r>
              </a:p>
            </p:txBody>
          </p:sp>
          <p:sp>
            <p:nvSpPr>
              <p:cNvPr id="251" name="TextBox 251"/>
              <p:cNvSpPr txBox="1"/>
              <p:nvPr/>
            </p:nvSpPr>
            <p:spPr>
              <a:xfrm>
                <a:off x="9196388" y="4537234"/>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跟踪行业监管动态</a:t>
                </a:r>
              </a:p>
            </p:txBody>
          </p:sp>
          <p:sp>
            <p:nvSpPr>
              <p:cNvPr id="252" name="Rectangle 252"/>
              <p:cNvSpPr/>
              <p:nvPr/>
            </p:nvSpPr>
            <p:spPr>
              <a:xfrm>
                <a:off x="5695950" y="4724400"/>
                <a:ext cx="6305550" cy="304800"/>
              </a:xfrm>
              <a:prstGeom prst="rect">
                <a:avLst/>
              </a:prstGeom>
              <a:solidFill>
                <a:srgbClr val="FFFFFF"/>
              </a:solidFill>
              <a:ln>
                <a:noFill/>
              </a:ln>
            </p:spPr>
          </p:sp>
          <p:sp>
            <p:nvSpPr>
              <p:cNvPr id="253" name="TextBox 253"/>
              <p:cNvSpPr txBox="1"/>
              <p:nvPr/>
            </p:nvSpPr>
            <p:spPr>
              <a:xfrm>
                <a:off x="5767388" y="48420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市场风险</a:t>
                </a:r>
              </a:p>
            </p:txBody>
          </p:sp>
          <p:sp>
            <p:nvSpPr>
              <p:cNvPr id="254" name="TextBox 254"/>
              <p:cNvSpPr txBox="1"/>
              <p:nvPr/>
            </p:nvSpPr>
            <p:spPr>
              <a:xfrm>
                <a:off x="6529388" y="484203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估值回调</a:t>
                </a:r>
              </a:p>
            </p:txBody>
          </p:sp>
          <p:sp>
            <p:nvSpPr>
              <p:cNvPr id="255" name="TextBox 255"/>
              <p:cNvSpPr txBox="1"/>
              <p:nvPr/>
            </p:nvSpPr>
            <p:spPr>
              <a:xfrm>
                <a:off x="8015288" y="48420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高</a:t>
                </a:r>
              </a:p>
            </p:txBody>
          </p:sp>
          <p:sp>
            <p:nvSpPr>
              <p:cNvPr id="256" name="TextBox 256"/>
              <p:cNvSpPr txBox="1"/>
              <p:nvPr/>
            </p:nvSpPr>
            <p:spPr>
              <a:xfrm>
                <a:off x="8605838" y="4842034"/>
                <a:ext cx="10106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中</a:t>
                </a:r>
              </a:p>
            </p:txBody>
          </p:sp>
          <p:sp>
            <p:nvSpPr>
              <p:cNvPr id="257" name="TextBox 257"/>
              <p:cNvSpPr txBox="1"/>
              <p:nvPr/>
            </p:nvSpPr>
            <p:spPr>
              <a:xfrm>
                <a:off x="9196388" y="4842034"/>
                <a:ext cx="101648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关注市场情绪与资金流向</a:t>
                </a:r>
              </a:p>
            </p:txBody>
          </p:sp>
        </p:grpSp>
        <p:sp>
          <p:nvSpPr>
            <p:cNvPr id="259" name="Line 259"/>
            <p:cNvSpPr/>
            <p:nvPr/>
          </p:nvSpPr>
          <p:spPr>
            <a:xfrm>
              <a:off x="5695950" y="5029200"/>
              <a:ext cx="6305550" cy="9525"/>
            </a:xfrm>
            <a:custGeom>
              <a:avLst/>
              <a:gdLst/>
              <a:ahLst/>
              <a:cxnLst/>
              <a:rect l="l" t="t" r="r" b="b"/>
              <a:pathLst>
                <a:path w="6305550" h="9525">
                  <a:moveTo>
                    <a:pt x="0" y="0"/>
                  </a:moveTo>
                  <a:lnTo>
                    <a:pt x="6305550" y="0"/>
                  </a:lnTo>
                </a:path>
              </a:pathLst>
            </a:custGeom>
            <a:noFill/>
            <a:ln w="9525">
              <a:solidFill>
                <a:srgbClr val="E4EDF5"/>
              </a:solidFill>
            </a:ln>
          </p:spPr>
        </p:sp>
      </p:grpSp>
      <p:grpSp>
        <p:nvGrpSpPr>
          <p:cNvPr id="263" name="bottom-head"/>
          <p:cNvGrpSpPr/>
          <p:nvPr/>
        </p:nvGrpSpPr>
        <p:grpSpPr>
          <a:xfrm>
            <a:off x="190500" y="5257800"/>
            <a:ext cx="7715250" cy="272987"/>
            <a:chOff x="190500" y="5257800"/>
            <a:chExt cx="7715250" cy="272987"/>
          </a:xfrm>
        </p:grpSpPr>
        <p:sp>
          <p:nvSpPr>
            <p:cNvPr id="261" name="Rectangle 261"/>
            <p:cNvSpPr/>
            <p:nvPr/>
          </p:nvSpPr>
          <p:spPr>
            <a:xfrm>
              <a:off x="190500" y="5257800"/>
              <a:ext cx="7715250" cy="266700"/>
            </a:xfrm>
            <a:prstGeom prst="rect">
              <a:avLst/>
            </a:prstGeom>
            <a:gradFill>
              <a:gsLst>
                <a:gs pos="0">
                  <a:srgbClr val="92301C"/>
                </a:gs>
                <a:gs pos="100000">
                  <a:srgbClr val="B7533F"/>
                </a:gs>
              </a:gsLst>
              <a:lin ang="0" scaled="1"/>
            </a:gradFill>
            <a:ln>
              <a:noFill/>
            </a:ln>
          </p:spPr>
        </p:sp>
        <p:sp>
          <p:nvSpPr>
            <p:cNvPr id="262" name="TextBox 262"/>
            <p:cNvSpPr txBox="1"/>
            <p:nvPr/>
          </p:nvSpPr>
          <p:spPr>
            <a:xfrm>
              <a:off x="318516" y="5325428"/>
              <a:ext cx="155206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关键证据与来源</a:t>
              </a:r>
              <a:r>
                <a:rPr lang="zh-CN" sz="820" dirty="0">
                  <a:solidFill>
                    <a:srgbClr val="FFFFFF"/>
                  </a:solidFill>
                  <a:latin typeface="+mn-lt"/>
                  <a:ea typeface="+mn-ea"/>
                  <a:cs typeface="+mn-cs"/>
                </a:rPr>
                <a:t xml:space="preserve">（节选）　</a:t>
              </a:r>
            </a:p>
          </p:txBody>
        </p:sp>
      </p:grpSp>
      <p:grpSp>
        <p:nvGrpSpPr>
          <p:cNvPr id="314" name="bottom-table"/>
          <p:cNvGrpSpPr/>
          <p:nvPr/>
        </p:nvGrpSpPr>
        <p:grpSpPr>
          <a:xfrm>
            <a:off x="190500" y="5562600"/>
            <a:ext cx="7715250" cy="1001077"/>
            <a:chOff x="190500" y="5562600"/>
            <a:chExt cx="7715250" cy="1001077"/>
          </a:xfrm>
        </p:grpSpPr>
        <p:sp>
          <p:nvSpPr>
            <p:cNvPr id="264" name="Rectangle 264"/>
            <p:cNvSpPr/>
            <p:nvPr/>
          </p:nvSpPr>
          <p:spPr>
            <a:xfrm>
              <a:off x="190500" y="5562600"/>
              <a:ext cx="7715250" cy="161925"/>
            </a:xfrm>
            <a:prstGeom prst="rect">
              <a:avLst/>
            </a:prstGeom>
            <a:solidFill>
              <a:srgbClr val="D6E6F3"/>
            </a:solidFill>
            <a:ln>
              <a:noFill/>
            </a:ln>
          </p:spPr>
        </p:sp>
        <p:grpSp>
          <p:nvGrpSpPr>
            <p:cNvPr id="272" name="bt-head"/>
            <p:cNvGrpSpPr/>
            <p:nvPr/>
          </p:nvGrpSpPr>
          <p:grpSpPr>
            <a:xfrm>
              <a:off x="242888" y="5608082"/>
              <a:ext cx="5890336" cy="126206"/>
              <a:chOff x="242888" y="5608082"/>
              <a:chExt cx="5890336" cy="126206"/>
            </a:xfrm>
          </p:grpSpPr>
          <p:sp>
            <p:nvSpPr>
              <p:cNvPr id="265" name="TextBox 265"/>
              <p:cNvSpPr txBox="1"/>
              <p:nvPr/>
            </p:nvSpPr>
            <p:spPr>
              <a:xfrm>
                <a:off x="242888" y="5608082"/>
                <a:ext cx="181839" cy="126206"/>
              </a:xfrm>
              <a:prstGeom prst="rect">
                <a:avLst/>
              </a:prstGeom>
              <a:noFill/>
              <a:ln>
                <a:noFill/>
              </a:ln>
            </p:spPr>
            <p:txBody>
              <a:bodyPr wrap="none" lIns="0" tIns="0" rIns="0" bIns="0" anchor="t" anchorCtr="0">
                <a:spAutoFit/>
              </a:bodyPr>
              <a:lstStyle/>
              <a:p>
                <a:pPr algn="l"/>
                <a:r>
                  <a:rPr lang="zh-CN" sz="640" b="1" dirty="0">
                    <a:solidFill>
                      <a:srgbClr val="6B1B0B"/>
                    </a:solidFill>
                    <a:latin typeface="+mn-lt"/>
                    <a:ea typeface="+mn-ea"/>
                    <a:cs typeface="+mn-cs"/>
                  </a:rPr>
                  <a:t>类型</a:t>
                </a:r>
              </a:p>
            </p:txBody>
          </p:sp>
          <p:sp>
            <p:nvSpPr>
              <p:cNvPr id="266" name="TextBox 266"/>
              <p:cNvSpPr txBox="1"/>
              <p:nvPr/>
            </p:nvSpPr>
            <p:spPr>
              <a:xfrm>
                <a:off x="604838" y="5608082"/>
                <a:ext cx="716657" cy="126206"/>
              </a:xfrm>
              <a:prstGeom prst="rect">
                <a:avLst/>
              </a:prstGeom>
              <a:noFill/>
              <a:ln>
                <a:noFill/>
              </a:ln>
            </p:spPr>
            <p:txBody>
              <a:bodyPr wrap="none" lIns="0" tIns="0" rIns="0" bIns="0" anchor="t" anchorCtr="0">
                <a:spAutoFit/>
              </a:bodyPr>
              <a:lstStyle/>
              <a:p>
                <a:pPr algn="l"/>
                <a:r>
                  <a:rPr lang="zh-CN" sz="640" b="1" dirty="0">
                    <a:solidFill>
                      <a:srgbClr val="6B1B0B"/>
                    </a:solidFill>
                    <a:latin typeface="+mn-lt"/>
                    <a:ea typeface="+mn-ea"/>
                    <a:cs typeface="+mn-cs"/>
                  </a:rPr>
                  <a:t xml:space="preserve">标题 / 内容要点　</a:t>
                </a:r>
              </a:p>
            </p:txBody>
          </p:sp>
          <p:sp>
            <p:nvSpPr>
              <p:cNvPr id="267" name="TextBox 267"/>
              <p:cNvSpPr txBox="1"/>
              <p:nvPr/>
            </p:nvSpPr>
            <p:spPr>
              <a:xfrm>
                <a:off x="2395538" y="5608082"/>
                <a:ext cx="181839" cy="126206"/>
              </a:xfrm>
              <a:prstGeom prst="rect">
                <a:avLst/>
              </a:prstGeom>
              <a:noFill/>
              <a:ln>
                <a:noFill/>
              </a:ln>
            </p:spPr>
            <p:txBody>
              <a:bodyPr wrap="none" lIns="0" tIns="0" rIns="0" bIns="0" anchor="t" anchorCtr="0">
                <a:spAutoFit/>
              </a:bodyPr>
              <a:lstStyle/>
              <a:p>
                <a:pPr algn="l"/>
                <a:r>
                  <a:rPr lang="zh-CN" sz="640" b="1" dirty="0">
                    <a:solidFill>
                      <a:srgbClr val="6B1B0B"/>
                    </a:solidFill>
                    <a:latin typeface="+mn-lt"/>
                    <a:ea typeface="+mn-ea"/>
                    <a:cs typeface="+mn-cs"/>
                  </a:rPr>
                  <a:t>来源</a:t>
                </a:r>
              </a:p>
            </p:txBody>
          </p:sp>
          <p:sp>
            <p:nvSpPr>
              <p:cNvPr id="268" name="TextBox 268"/>
              <p:cNvSpPr txBox="1"/>
              <p:nvPr/>
            </p:nvSpPr>
            <p:spPr>
              <a:xfrm>
                <a:off x="3157538" y="5608082"/>
                <a:ext cx="354152" cy="126206"/>
              </a:xfrm>
              <a:prstGeom prst="rect">
                <a:avLst/>
              </a:prstGeom>
              <a:noFill/>
              <a:ln>
                <a:noFill/>
              </a:ln>
            </p:spPr>
            <p:txBody>
              <a:bodyPr wrap="none" lIns="0" tIns="0" rIns="0" bIns="0" anchor="t" anchorCtr="0">
                <a:spAutoFit/>
              </a:bodyPr>
              <a:lstStyle/>
              <a:p>
                <a:pPr algn="l"/>
                <a:r>
                  <a:rPr lang="zh-CN" sz="640" b="1" dirty="0">
                    <a:solidFill>
                      <a:srgbClr val="6B1B0B"/>
                    </a:solidFill>
                    <a:latin typeface="+mn-lt"/>
                    <a:ea typeface="+mn-ea"/>
                    <a:cs typeface="+mn-cs"/>
                  </a:rPr>
                  <a:t>发布日期</a:t>
                </a:r>
              </a:p>
            </p:txBody>
          </p:sp>
          <p:sp>
            <p:nvSpPr>
              <p:cNvPr id="269" name="TextBox 269"/>
              <p:cNvSpPr txBox="1"/>
              <p:nvPr/>
            </p:nvSpPr>
            <p:spPr>
              <a:xfrm>
                <a:off x="3805238" y="5608082"/>
                <a:ext cx="354152" cy="126206"/>
              </a:xfrm>
              <a:prstGeom prst="rect">
                <a:avLst/>
              </a:prstGeom>
              <a:noFill/>
              <a:ln>
                <a:noFill/>
              </a:ln>
            </p:spPr>
            <p:txBody>
              <a:bodyPr wrap="none" lIns="0" tIns="0" rIns="0" bIns="0" anchor="t" anchorCtr="0">
                <a:spAutoFit/>
              </a:bodyPr>
              <a:lstStyle/>
              <a:p>
                <a:pPr algn="l"/>
                <a:r>
                  <a:rPr lang="zh-CN" sz="640" b="1" dirty="0">
                    <a:solidFill>
                      <a:srgbClr val="6B1B0B"/>
                    </a:solidFill>
                    <a:latin typeface="+mn-lt"/>
                    <a:ea typeface="+mn-ea"/>
                    <a:cs typeface="+mn-cs"/>
                  </a:rPr>
                  <a:t>相关页码</a:t>
                </a:r>
              </a:p>
            </p:txBody>
          </p:sp>
          <p:sp>
            <p:nvSpPr>
              <p:cNvPr id="270" name="TextBox 270"/>
              <p:cNvSpPr txBox="1"/>
              <p:nvPr/>
            </p:nvSpPr>
            <p:spPr>
              <a:xfrm>
                <a:off x="4300538" y="5608082"/>
                <a:ext cx="698779" cy="126206"/>
              </a:xfrm>
              <a:prstGeom prst="rect">
                <a:avLst/>
              </a:prstGeom>
              <a:noFill/>
              <a:ln>
                <a:noFill/>
              </a:ln>
            </p:spPr>
            <p:txBody>
              <a:bodyPr wrap="none" lIns="0" tIns="0" rIns="0" bIns="0" anchor="t" anchorCtr="0">
                <a:spAutoFit/>
              </a:bodyPr>
              <a:lstStyle/>
              <a:p>
                <a:pPr algn="l"/>
                <a:r>
                  <a:rPr lang="zh-CN" sz="640" b="1" dirty="0">
                    <a:solidFill>
                      <a:srgbClr val="6B1B0B"/>
                    </a:solidFill>
                    <a:latin typeface="+mn-lt"/>
                    <a:ea typeface="+mn-ea"/>
                    <a:cs typeface="+mn-cs"/>
                  </a:rPr>
                  <a:t xml:space="preserve">与本报告的关系　</a:t>
                </a:r>
              </a:p>
            </p:txBody>
          </p:sp>
          <p:sp>
            <p:nvSpPr>
              <p:cNvPr id="271" name="TextBox 271"/>
              <p:cNvSpPr txBox="1"/>
              <p:nvPr/>
            </p:nvSpPr>
            <p:spPr>
              <a:xfrm>
                <a:off x="5348288" y="5608082"/>
                <a:ext cx="784936" cy="126206"/>
              </a:xfrm>
              <a:prstGeom prst="rect">
                <a:avLst/>
              </a:prstGeom>
              <a:noFill/>
              <a:ln>
                <a:noFill/>
              </a:ln>
            </p:spPr>
            <p:txBody>
              <a:bodyPr wrap="none" lIns="0" tIns="0" rIns="0" bIns="0" anchor="t" anchorCtr="0">
                <a:spAutoFit/>
              </a:bodyPr>
              <a:lstStyle/>
              <a:p>
                <a:pPr algn="l"/>
                <a:r>
                  <a:rPr lang="zh-CN" sz="640" b="1" dirty="0">
                    <a:solidFill>
                      <a:srgbClr val="6B1B0B"/>
                    </a:solidFill>
                    <a:latin typeface="+mn-lt"/>
                    <a:ea typeface="+mn-ea"/>
                    <a:cs typeface="+mn-cs"/>
                  </a:rPr>
                  <a:t xml:space="preserve">是否存在冲突证据　</a:t>
                </a:r>
              </a:p>
            </p:txBody>
          </p:sp>
        </p:grpSp>
        <p:grpSp>
          <p:nvGrpSpPr>
            <p:cNvPr id="313" name="bt-rows"/>
            <p:cNvGrpSpPr/>
            <p:nvPr/>
          </p:nvGrpSpPr>
          <p:grpSpPr>
            <a:xfrm>
              <a:off x="190500" y="5724525"/>
              <a:ext cx="7715250" cy="839152"/>
              <a:chOff x="190500" y="5724525"/>
              <a:chExt cx="7715250" cy="839152"/>
            </a:xfrm>
          </p:grpSpPr>
          <p:sp>
            <p:nvSpPr>
              <p:cNvPr id="273" name="Rectangle 273"/>
              <p:cNvSpPr/>
              <p:nvPr/>
            </p:nvSpPr>
            <p:spPr>
              <a:xfrm>
                <a:off x="190500" y="5724525"/>
                <a:ext cx="7715250" cy="167640"/>
              </a:xfrm>
              <a:prstGeom prst="rect">
                <a:avLst/>
              </a:prstGeom>
              <a:solidFill>
                <a:srgbClr val="FFFFFF"/>
              </a:solidFill>
              <a:ln>
                <a:noFill/>
              </a:ln>
            </p:spPr>
          </p:sp>
          <p:sp>
            <p:nvSpPr>
              <p:cNvPr id="274" name="TextBox 274"/>
              <p:cNvSpPr txBox="1"/>
              <p:nvPr/>
            </p:nvSpPr>
            <p:spPr>
              <a:xfrm>
                <a:off x="242888" y="5774055"/>
                <a:ext cx="17106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公告</a:t>
                </a:r>
              </a:p>
            </p:txBody>
          </p:sp>
          <p:sp>
            <p:nvSpPr>
              <p:cNvPr id="275" name="TextBox 275"/>
              <p:cNvSpPr txBox="1"/>
              <p:nvPr/>
            </p:nvSpPr>
            <p:spPr>
              <a:xfrm>
                <a:off x="604838" y="5774055"/>
                <a:ext cx="1367335"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2024年年报：归母净利润同比+18%　</a:t>
                </a:r>
              </a:p>
            </p:txBody>
          </p:sp>
          <p:sp>
            <p:nvSpPr>
              <p:cNvPr id="276" name="TextBox 276"/>
              <p:cNvSpPr txBox="1"/>
              <p:nvPr/>
            </p:nvSpPr>
            <p:spPr>
              <a:xfrm>
                <a:off x="2395538" y="5774055"/>
                <a:ext cx="413385"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上交所官网</a:t>
                </a:r>
              </a:p>
            </p:txBody>
          </p:sp>
          <p:sp>
            <p:nvSpPr>
              <p:cNvPr id="277" name="TextBox 277"/>
              <p:cNvSpPr txBox="1"/>
              <p:nvPr/>
            </p:nvSpPr>
            <p:spPr>
              <a:xfrm>
                <a:off x="3157538" y="5774055"/>
                <a:ext cx="503494"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2025-03-28　</a:t>
                </a:r>
              </a:p>
            </p:txBody>
          </p:sp>
          <p:sp>
            <p:nvSpPr>
              <p:cNvPr id="278" name="TextBox 278"/>
              <p:cNvSpPr txBox="1"/>
              <p:nvPr/>
            </p:nvSpPr>
            <p:spPr>
              <a:xfrm>
                <a:off x="3805238" y="5774055"/>
                <a:ext cx="374970"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P8-P12　</a:t>
                </a:r>
              </a:p>
            </p:txBody>
          </p:sp>
          <p:sp>
            <p:nvSpPr>
              <p:cNvPr id="279" name="TextBox 279"/>
              <p:cNvSpPr txBox="1"/>
              <p:nvPr/>
            </p:nvSpPr>
            <p:spPr>
              <a:xfrm>
                <a:off x="4300538" y="577405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支持盈利预测</a:t>
                </a:r>
              </a:p>
            </p:txBody>
          </p:sp>
          <p:sp>
            <p:nvSpPr>
              <p:cNvPr id="280" name="TextBox 280"/>
              <p:cNvSpPr txBox="1"/>
              <p:nvPr/>
            </p:nvSpPr>
            <p:spPr>
              <a:xfrm>
                <a:off x="5348288" y="5774055"/>
                <a:ext cx="9029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否</a:t>
                </a:r>
              </a:p>
            </p:txBody>
          </p:sp>
          <p:sp>
            <p:nvSpPr>
              <p:cNvPr id="281" name="Rectangle 281"/>
              <p:cNvSpPr/>
              <p:nvPr/>
            </p:nvSpPr>
            <p:spPr>
              <a:xfrm>
                <a:off x="190500" y="5892165"/>
                <a:ext cx="7715250" cy="167640"/>
              </a:xfrm>
              <a:prstGeom prst="rect">
                <a:avLst/>
              </a:prstGeom>
              <a:solidFill>
                <a:srgbClr val="F6F9FD"/>
              </a:solidFill>
              <a:ln>
                <a:noFill/>
              </a:ln>
            </p:spPr>
          </p:sp>
          <p:sp>
            <p:nvSpPr>
              <p:cNvPr id="282" name="TextBox 282"/>
              <p:cNvSpPr txBox="1"/>
              <p:nvPr/>
            </p:nvSpPr>
            <p:spPr>
              <a:xfrm>
                <a:off x="242888" y="5941695"/>
                <a:ext cx="17106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财报</a:t>
                </a:r>
              </a:p>
            </p:txBody>
          </p:sp>
          <p:sp>
            <p:nvSpPr>
              <p:cNvPr id="283" name="TextBox 283"/>
              <p:cNvSpPr txBox="1"/>
              <p:nvPr/>
            </p:nvSpPr>
            <p:spPr>
              <a:xfrm>
                <a:off x="604838" y="5941695"/>
                <a:ext cx="83339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2024年财务报表及附注</a:t>
                </a:r>
              </a:p>
            </p:txBody>
          </p:sp>
          <p:sp>
            <p:nvSpPr>
              <p:cNvPr id="284" name="TextBox 284"/>
              <p:cNvSpPr txBox="1"/>
              <p:nvPr/>
            </p:nvSpPr>
            <p:spPr>
              <a:xfrm>
                <a:off x="2395538" y="5941695"/>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公司官网</a:t>
                </a:r>
              </a:p>
            </p:txBody>
          </p:sp>
          <p:sp>
            <p:nvSpPr>
              <p:cNvPr id="285" name="TextBox 285"/>
              <p:cNvSpPr txBox="1"/>
              <p:nvPr/>
            </p:nvSpPr>
            <p:spPr>
              <a:xfrm>
                <a:off x="3157538" y="5941695"/>
                <a:ext cx="503494"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2025-03-26　</a:t>
                </a:r>
              </a:p>
            </p:txBody>
          </p:sp>
          <p:sp>
            <p:nvSpPr>
              <p:cNvPr id="286" name="TextBox 286"/>
              <p:cNvSpPr txBox="1"/>
              <p:nvPr/>
            </p:nvSpPr>
            <p:spPr>
              <a:xfrm>
                <a:off x="3805238" y="5941695"/>
                <a:ext cx="42243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P22-P35　</a:t>
                </a:r>
              </a:p>
            </p:txBody>
          </p:sp>
          <p:sp>
            <p:nvSpPr>
              <p:cNvPr id="287" name="TextBox 287"/>
              <p:cNvSpPr txBox="1"/>
              <p:nvPr/>
            </p:nvSpPr>
            <p:spPr>
              <a:xfrm>
                <a:off x="4300538" y="594169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支持财务拆解</a:t>
                </a:r>
              </a:p>
            </p:txBody>
          </p:sp>
          <p:sp>
            <p:nvSpPr>
              <p:cNvPr id="288" name="TextBox 288"/>
              <p:cNvSpPr txBox="1"/>
              <p:nvPr/>
            </p:nvSpPr>
            <p:spPr>
              <a:xfrm>
                <a:off x="5348288" y="5941695"/>
                <a:ext cx="9029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否</a:t>
                </a:r>
              </a:p>
            </p:txBody>
          </p:sp>
          <p:sp>
            <p:nvSpPr>
              <p:cNvPr id="289" name="Rectangle 289"/>
              <p:cNvSpPr/>
              <p:nvPr/>
            </p:nvSpPr>
            <p:spPr>
              <a:xfrm>
                <a:off x="190500" y="6059805"/>
                <a:ext cx="7715250" cy="167640"/>
              </a:xfrm>
              <a:prstGeom prst="rect">
                <a:avLst/>
              </a:prstGeom>
              <a:solidFill>
                <a:srgbClr val="FFFFFF"/>
              </a:solidFill>
              <a:ln>
                <a:noFill/>
              </a:ln>
            </p:spPr>
          </p:sp>
          <p:sp>
            <p:nvSpPr>
              <p:cNvPr id="290" name="TextBox 290"/>
              <p:cNvSpPr txBox="1"/>
              <p:nvPr/>
            </p:nvSpPr>
            <p:spPr>
              <a:xfrm>
                <a:off x="242888" y="6109335"/>
                <a:ext cx="17106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研报</a:t>
                </a:r>
              </a:p>
            </p:txBody>
          </p:sp>
          <p:sp>
            <p:nvSpPr>
              <p:cNvPr id="291" name="TextBox 291"/>
              <p:cNvSpPr txBox="1"/>
              <p:nvPr/>
            </p:nvSpPr>
            <p:spPr>
              <a:xfrm>
                <a:off x="604838" y="6109335"/>
                <a:ext cx="147652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 xml:space="preserve">XX公司深度报告：竞争格局与成长空间　</a:t>
                </a:r>
              </a:p>
            </p:txBody>
          </p:sp>
          <p:sp>
            <p:nvSpPr>
              <p:cNvPr id="292" name="TextBox 292"/>
              <p:cNvSpPr txBox="1"/>
              <p:nvPr/>
            </p:nvSpPr>
            <p:spPr>
              <a:xfrm>
                <a:off x="2395538" y="6109335"/>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券商研报</a:t>
                </a:r>
              </a:p>
            </p:txBody>
          </p:sp>
          <p:sp>
            <p:nvSpPr>
              <p:cNvPr id="293" name="TextBox 293"/>
              <p:cNvSpPr txBox="1"/>
              <p:nvPr/>
            </p:nvSpPr>
            <p:spPr>
              <a:xfrm>
                <a:off x="3157538" y="6109335"/>
                <a:ext cx="503494"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2025-04-10　</a:t>
                </a:r>
              </a:p>
            </p:txBody>
          </p:sp>
          <p:sp>
            <p:nvSpPr>
              <p:cNvPr id="294" name="TextBox 294"/>
              <p:cNvSpPr txBox="1"/>
              <p:nvPr/>
            </p:nvSpPr>
            <p:spPr>
              <a:xfrm>
                <a:off x="3805238" y="6109335"/>
                <a:ext cx="42243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P10-P18　</a:t>
                </a:r>
              </a:p>
            </p:txBody>
          </p:sp>
          <p:sp>
            <p:nvSpPr>
              <p:cNvPr id="295" name="TextBox 295"/>
              <p:cNvSpPr txBox="1"/>
              <p:nvPr/>
            </p:nvSpPr>
            <p:spPr>
              <a:xfrm>
                <a:off x="4300538" y="610933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支持估值区间</a:t>
                </a:r>
              </a:p>
            </p:txBody>
          </p:sp>
          <p:sp>
            <p:nvSpPr>
              <p:cNvPr id="296" name="TextBox 296"/>
              <p:cNvSpPr txBox="1"/>
              <p:nvPr/>
            </p:nvSpPr>
            <p:spPr>
              <a:xfrm>
                <a:off x="5348288" y="6109335"/>
                <a:ext cx="9029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否</a:t>
                </a:r>
              </a:p>
            </p:txBody>
          </p:sp>
          <p:sp>
            <p:nvSpPr>
              <p:cNvPr id="297" name="Rectangle 297"/>
              <p:cNvSpPr/>
              <p:nvPr/>
            </p:nvSpPr>
            <p:spPr>
              <a:xfrm>
                <a:off x="190500" y="6227445"/>
                <a:ext cx="7715250" cy="167640"/>
              </a:xfrm>
              <a:prstGeom prst="rect">
                <a:avLst/>
              </a:prstGeom>
              <a:solidFill>
                <a:srgbClr val="F6F9FD"/>
              </a:solidFill>
              <a:ln>
                <a:noFill/>
              </a:ln>
            </p:spPr>
          </p:sp>
          <p:sp>
            <p:nvSpPr>
              <p:cNvPr id="298" name="TextBox 298"/>
              <p:cNvSpPr txBox="1"/>
              <p:nvPr/>
            </p:nvSpPr>
            <p:spPr>
              <a:xfrm>
                <a:off x="242888" y="6276975"/>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行业数据</a:t>
                </a:r>
              </a:p>
            </p:txBody>
          </p:sp>
          <p:sp>
            <p:nvSpPr>
              <p:cNvPr id="299" name="TextBox 299"/>
              <p:cNvSpPr txBox="1"/>
              <p:nvPr/>
            </p:nvSpPr>
            <p:spPr>
              <a:xfrm>
                <a:off x="604838" y="6276975"/>
                <a:ext cx="89801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光伏行业供需及价格跟踪</a:t>
                </a:r>
              </a:p>
            </p:txBody>
          </p:sp>
          <p:sp>
            <p:nvSpPr>
              <p:cNvPr id="300" name="TextBox 300"/>
              <p:cNvSpPr txBox="1"/>
              <p:nvPr/>
            </p:nvSpPr>
            <p:spPr>
              <a:xfrm>
                <a:off x="2395538" y="6276975"/>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行业协会</a:t>
                </a:r>
              </a:p>
            </p:txBody>
          </p:sp>
          <p:sp>
            <p:nvSpPr>
              <p:cNvPr id="301" name="TextBox 301"/>
              <p:cNvSpPr txBox="1"/>
              <p:nvPr/>
            </p:nvSpPr>
            <p:spPr>
              <a:xfrm>
                <a:off x="3157538" y="6276975"/>
                <a:ext cx="503494"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2025-04-08　</a:t>
                </a:r>
              </a:p>
            </p:txBody>
          </p:sp>
          <p:sp>
            <p:nvSpPr>
              <p:cNvPr id="302" name="TextBox 302"/>
              <p:cNvSpPr txBox="1"/>
              <p:nvPr/>
            </p:nvSpPr>
            <p:spPr>
              <a:xfrm>
                <a:off x="3805238" y="6276975"/>
                <a:ext cx="327502"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P5-P9　</a:t>
                </a:r>
              </a:p>
            </p:txBody>
          </p:sp>
          <p:sp>
            <p:nvSpPr>
              <p:cNvPr id="303" name="TextBox 303"/>
              <p:cNvSpPr txBox="1"/>
              <p:nvPr/>
            </p:nvSpPr>
            <p:spPr>
              <a:xfrm>
                <a:off x="4300538" y="627697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支持行业判断</a:t>
                </a:r>
              </a:p>
            </p:txBody>
          </p:sp>
          <p:sp>
            <p:nvSpPr>
              <p:cNvPr id="304" name="TextBox 304"/>
              <p:cNvSpPr txBox="1"/>
              <p:nvPr/>
            </p:nvSpPr>
            <p:spPr>
              <a:xfrm>
                <a:off x="5348288" y="6276975"/>
                <a:ext cx="655701" cy="119062"/>
              </a:xfrm>
              <a:prstGeom prst="rect">
                <a:avLst/>
              </a:prstGeom>
              <a:noFill/>
              <a:ln>
                <a:noFill/>
              </a:ln>
            </p:spPr>
            <p:txBody>
              <a:bodyPr wrap="none" lIns="0" tIns="0" rIns="0" bIns="0" anchor="t" anchorCtr="0">
                <a:spAutoFit/>
              </a:bodyPr>
              <a:lstStyle/>
              <a:p>
                <a:pPr algn="l"/>
                <a:r>
                  <a:rPr lang="zh-CN" sz="600" dirty="0">
                    <a:solidFill>
                      <a:srgbClr val="C8452F"/>
                    </a:solidFill>
                    <a:latin typeface="+mn-lt"/>
                    <a:ea typeface="+mn-ea"/>
                    <a:cs typeface="+mn-cs"/>
                  </a:rPr>
                  <a:t xml:space="preserve">是（存在差异）　</a:t>
                </a:r>
              </a:p>
            </p:txBody>
          </p:sp>
          <p:sp>
            <p:nvSpPr>
              <p:cNvPr id="305" name="Rectangle 305"/>
              <p:cNvSpPr/>
              <p:nvPr/>
            </p:nvSpPr>
            <p:spPr>
              <a:xfrm>
                <a:off x="190500" y="6395085"/>
                <a:ext cx="7715250" cy="167640"/>
              </a:xfrm>
              <a:prstGeom prst="rect">
                <a:avLst/>
              </a:prstGeom>
              <a:solidFill>
                <a:srgbClr val="FFFFFF"/>
              </a:solidFill>
              <a:ln>
                <a:noFill/>
              </a:ln>
            </p:spPr>
          </p:sp>
          <p:sp>
            <p:nvSpPr>
              <p:cNvPr id="306" name="TextBox 306"/>
              <p:cNvSpPr txBox="1"/>
              <p:nvPr/>
            </p:nvSpPr>
            <p:spPr>
              <a:xfrm>
                <a:off x="242888" y="6444615"/>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宏观数据</a:t>
                </a:r>
              </a:p>
            </p:txBody>
          </p:sp>
          <p:sp>
            <p:nvSpPr>
              <p:cNvPr id="307" name="TextBox 307"/>
              <p:cNvSpPr txBox="1"/>
              <p:nvPr/>
            </p:nvSpPr>
            <p:spPr>
              <a:xfrm>
                <a:off x="604838" y="6444615"/>
                <a:ext cx="903684"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1-3月CPI同比+0.1%　　</a:t>
                </a:r>
              </a:p>
            </p:txBody>
          </p:sp>
          <p:sp>
            <p:nvSpPr>
              <p:cNvPr id="308" name="TextBox 308"/>
              <p:cNvSpPr txBox="1"/>
              <p:nvPr/>
            </p:nvSpPr>
            <p:spPr>
              <a:xfrm>
                <a:off x="2395538" y="6444615"/>
                <a:ext cx="413385"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国家统计局</a:t>
                </a:r>
              </a:p>
            </p:txBody>
          </p:sp>
          <p:sp>
            <p:nvSpPr>
              <p:cNvPr id="309" name="TextBox 309"/>
              <p:cNvSpPr txBox="1"/>
              <p:nvPr/>
            </p:nvSpPr>
            <p:spPr>
              <a:xfrm>
                <a:off x="3157538" y="6444615"/>
                <a:ext cx="503494"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2025-04-11　</a:t>
                </a:r>
              </a:p>
            </p:txBody>
          </p:sp>
          <p:sp>
            <p:nvSpPr>
              <p:cNvPr id="310" name="TextBox 310"/>
              <p:cNvSpPr txBox="1"/>
              <p:nvPr/>
            </p:nvSpPr>
            <p:spPr>
              <a:xfrm>
                <a:off x="3805238" y="6444615"/>
                <a:ext cx="327502"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P3-P4　</a:t>
                </a:r>
              </a:p>
            </p:txBody>
          </p:sp>
          <p:sp>
            <p:nvSpPr>
              <p:cNvPr id="311" name="TextBox 311"/>
              <p:cNvSpPr txBox="1"/>
              <p:nvPr/>
            </p:nvSpPr>
            <p:spPr>
              <a:xfrm>
                <a:off x="4300538" y="644461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支持宏观假设</a:t>
                </a:r>
              </a:p>
            </p:txBody>
          </p:sp>
          <p:sp>
            <p:nvSpPr>
              <p:cNvPr id="312" name="TextBox 312"/>
              <p:cNvSpPr txBox="1"/>
              <p:nvPr/>
            </p:nvSpPr>
            <p:spPr>
              <a:xfrm>
                <a:off x="5348288" y="6444615"/>
                <a:ext cx="9029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否</a:t>
                </a:r>
              </a:p>
            </p:txBody>
          </p:sp>
        </p:grpSp>
      </p:grpSp>
      <p:grpSp>
        <p:nvGrpSpPr>
          <p:cNvPr id="317" name="kpi-head"/>
          <p:cNvGrpSpPr/>
          <p:nvPr/>
        </p:nvGrpSpPr>
        <p:grpSpPr>
          <a:xfrm>
            <a:off x="8001000" y="5257800"/>
            <a:ext cx="4000500" cy="272987"/>
            <a:chOff x="8001000" y="5257800"/>
            <a:chExt cx="4000500" cy="272987"/>
          </a:xfrm>
        </p:grpSpPr>
        <p:sp>
          <p:nvSpPr>
            <p:cNvPr id="315" name="Rectangle 315"/>
            <p:cNvSpPr/>
            <p:nvPr/>
          </p:nvSpPr>
          <p:spPr>
            <a:xfrm>
              <a:off x="8001000" y="5257800"/>
              <a:ext cx="4000500" cy="266700"/>
            </a:xfrm>
            <a:prstGeom prst="rect">
              <a:avLst/>
            </a:prstGeom>
            <a:gradFill>
              <a:gsLst>
                <a:gs pos="0">
                  <a:srgbClr val="92301C"/>
                </a:gs>
                <a:gs pos="100000">
                  <a:srgbClr val="B7533F"/>
                </a:gs>
              </a:gsLst>
              <a:lin ang="0" scaled="1"/>
            </a:gradFill>
            <a:ln>
              <a:noFill/>
            </a:ln>
          </p:spPr>
        </p:sp>
        <p:sp>
          <p:nvSpPr>
            <p:cNvPr id="316" name="TextBox 316"/>
            <p:cNvSpPr txBox="1"/>
            <p:nvPr/>
          </p:nvSpPr>
          <p:spPr>
            <a:xfrm>
              <a:off x="8129016" y="5325428"/>
              <a:ext cx="1348791"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效率提升</a:t>
              </a:r>
              <a:r>
                <a:rPr lang="zh-CN" sz="820" dirty="0">
                  <a:solidFill>
                    <a:srgbClr val="FFFFFF"/>
                  </a:solidFill>
                  <a:latin typeface="+mn-lt"/>
                  <a:ea typeface="+mn-ea"/>
                  <a:cs typeface="+mn-cs"/>
                </a:rPr>
                <a:t xml:space="preserve">（示例测算）　</a:t>
              </a:r>
            </a:p>
          </p:txBody>
        </p:sp>
      </p:grpSp>
      <p:grpSp>
        <p:nvGrpSpPr>
          <p:cNvPr id="340" name="kpi-cards"/>
          <p:cNvGrpSpPr/>
          <p:nvPr/>
        </p:nvGrpSpPr>
        <p:grpSpPr>
          <a:xfrm>
            <a:off x="8001000" y="5562600"/>
            <a:ext cx="4000500" cy="685800"/>
            <a:chOff x="8001000" y="5562600"/>
            <a:chExt cx="4000500" cy="685800"/>
          </a:xfrm>
        </p:grpSpPr>
        <p:sp>
          <p:nvSpPr>
            <p:cNvPr id="318" name="Rectangle 318"/>
            <p:cNvSpPr/>
            <p:nvPr/>
          </p:nvSpPr>
          <p:spPr>
            <a:xfrm>
              <a:off x="8001000" y="5562600"/>
              <a:ext cx="1943100" cy="685800"/>
            </a:xfrm>
            <a:prstGeom prst="roundRect">
              <a:avLst>
                <a:gd name="adj" fmla="val 8333"/>
              </a:avLst>
            </a:prstGeom>
            <a:solidFill>
              <a:srgbClr val="EEF5FB"/>
            </a:solidFill>
            <a:ln>
              <a:noFill/>
            </a:ln>
          </p:spPr>
        </p:sp>
        <p:sp>
          <p:nvSpPr>
            <p:cNvPr id="319" name="Ellipse 319"/>
            <p:cNvSpPr/>
            <p:nvPr/>
          </p:nvSpPr>
          <p:spPr>
            <a:xfrm>
              <a:off x="8096250" y="5657850"/>
              <a:ext cx="266700" cy="266700"/>
            </a:xfrm>
            <a:prstGeom prst="ellipse">
              <a:avLst/>
            </a:prstGeom>
            <a:solidFill>
              <a:srgbClr val="92301C"/>
            </a:solidFill>
            <a:ln>
              <a:noFill/>
            </a:ln>
          </p:spPr>
        </p:sp>
        <p:grpSp>
          <p:nvGrpSpPr>
            <p:cNvPr id="322" name="Group 322"/>
            <p:cNvGrpSpPr/>
            <p:nvPr/>
          </p:nvGrpSpPr>
          <p:grpSpPr>
            <a:xfrm>
              <a:off x="8165306" y="5726906"/>
              <a:ext cx="128588" cy="128588"/>
              <a:chOff x="8165306" y="5726906"/>
              <a:chExt cx="128588" cy="128588"/>
            </a:xfrm>
          </p:grpSpPr>
          <p:sp>
            <p:nvSpPr>
              <p:cNvPr id="320" name="Freeform 320"/>
              <p:cNvSpPr/>
              <p:nvPr/>
            </p:nvSpPr>
            <p:spPr>
              <a:xfrm>
                <a:off x="8165306" y="57269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sp>
            <p:nvSpPr>
              <p:cNvPr id="321" name="Freeform 321"/>
              <p:cNvSpPr/>
              <p:nvPr/>
            </p:nvSpPr>
            <p:spPr>
              <a:xfrm>
                <a:off x="8229600" y="5755481"/>
                <a:ext cx="21431" cy="57150"/>
              </a:xfrm>
              <a:custGeom>
                <a:avLst/>
                <a:gdLst/>
                <a:ahLst/>
                <a:cxnLst/>
                <a:rect l="l" t="t" r="r" b="b"/>
                <a:pathLst>
                  <a:path w="21431" h="57150">
                    <a:moveTo>
                      <a:pt x="0" y="0"/>
                    </a:moveTo>
                    <a:lnTo>
                      <a:pt x="0" y="35719"/>
                    </a:lnTo>
                    <a:lnTo>
                      <a:pt x="21431" y="57150"/>
                    </a:lnTo>
                  </a:path>
                </a:pathLst>
              </a:custGeom>
              <a:noFill/>
              <a:ln w="14288">
                <a:solidFill>
                  <a:srgbClr val="FFFFFF"/>
                </a:solidFill>
              </a:ln>
            </p:spPr>
          </p:sp>
        </p:grpSp>
        <p:sp>
          <p:nvSpPr>
            <p:cNvPr id="323" name="TextBox 323"/>
            <p:cNvSpPr txBox="1"/>
            <p:nvPr/>
          </p:nvSpPr>
          <p:spPr>
            <a:xfrm>
              <a:off x="8434388" y="5679043"/>
              <a:ext cx="704164" cy="169069"/>
            </a:xfrm>
            <a:prstGeom prst="rect">
              <a:avLst/>
            </a:prstGeom>
            <a:noFill/>
            <a:ln>
              <a:noFill/>
            </a:ln>
          </p:spPr>
          <p:txBody>
            <a:bodyPr wrap="none" lIns="0" tIns="0" rIns="0" bIns="0" anchor="t" anchorCtr="0">
              <a:spAutoFit/>
            </a:bodyPr>
            <a:lstStyle/>
            <a:p>
              <a:pPr algn="l"/>
              <a:r>
                <a:rPr lang="zh-CN" sz="860" b="1" dirty="0">
                  <a:solidFill>
                    <a:srgbClr val="52352F"/>
                  </a:solidFill>
                  <a:latin typeface="+mn-lt"/>
                  <a:ea typeface="+mn-ea"/>
                  <a:cs typeface="+mn-cs"/>
                </a:rPr>
                <a:t>资料整理时间</a:t>
              </a:r>
            </a:p>
          </p:txBody>
        </p:sp>
        <p:sp>
          <p:nvSpPr>
            <p:cNvPr id="324" name="TextBox 324"/>
            <p:cNvSpPr txBox="1"/>
            <p:nvPr/>
          </p:nvSpPr>
          <p:spPr>
            <a:xfrm>
              <a:off x="8430768" y="5879782"/>
              <a:ext cx="757455" cy="322707"/>
            </a:xfrm>
            <a:prstGeom prst="rect">
              <a:avLst/>
            </a:prstGeom>
            <a:noFill/>
            <a:ln>
              <a:noFill/>
            </a:ln>
          </p:spPr>
          <p:txBody>
            <a:bodyPr wrap="none" lIns="0" tIns="0" rIns="0" bIns="0" anchor="t" anchorCtr="0">
              <a:spAutoFit/>
            </a:bodyPr>
            <a:lstStyle/>
            <a:p>
              <a:pPr algn="l"/>
              <a:r>
                <a:rPr lang="zh-CN" sz="1650" b="1" dirty="0">
                  <a:solidFill>
                    <a:srgbClr val="6B1B0B"/>
                  </a:solidFill>
                  <a:latin typeface="+mj-lt"/>
                  <a:ea typeface="+mj-ea"/>
                  <a:cs typeface="+mj-cs"/>
                </a:rPr>
                <a:t xml:space="preserve">-60%　</a:t>
              </a:r>
            </a:p>
          </p:txBody>
        </p:sp>
        <p:sp>
          <p:nvSpPr>
            <p:cNvPr id="325" name="TextBox 325"/>
            <p:cNvSpPr txBox="1"/>
            <p:nvPr/>
          </p:nvSpPr>
          <p:spPr>
            <a:xfrm>
              <a:off x="9082088" y="5989082"/>
              <a:ext cx="612623" cy="126206"/>
            </a:xfrm>
            <a:prstGeom prst="rect">
              <a:avLst/>
            </a:prstGeom>
            <a:noFill/>
            <a:ln>
              <a:noFill/>
            </a:ln>
          </p:spPr>
          <p:txBody>
            <a:bodyPr wrap="none" lIns="0" tIns="0" rIns="0" bIns="0" anchor="t" anchorCtr="0">
              <a:spAutoFit/>
            </a:bodyPr>
            <a:lstStyle/>
            <a:p>
              <a:pPr algn="l"/>
              <a:r>
                <a:rPr lang="zh-CN" sz="640" dirty="0">
                  <a:solidFill>
                    <a:srgbClr val="8C716B"/>
                  </a:solidFill>
                  <a:latin typeface="+mn-lt"/>
                  <a:ea typeface="+mn-ea"/>
                  <a:cs typeface="+mn-cs"/>
                </a:rPr>
                <a:t xml:space="preserve">（示例测算）　</a:t>
              </a:r>
            </a:p>
          </p:txBody>
        </p:sp>
        <p:sp>
          <p:nvSpPr>
            <p:cNvPr id="326" name="Rectangle 326"/>
            <p:cNvSpPr/>
            <p:nvPr/>
          </p:nvSpPr>
          <p:spPr>
            <a:xfrm>
              <a:off x="10058400" y="5562600"/>
              <a:ext cx="1943100" cy="685800"/>
            </a:xfrm>
            <a:prstGeom prst="roundRect">
              <a:avLst>
                <a:gd name="adj" fmla="val 8333"/>
              </a:avLst>
            </a:prstGeom>
            <a:solidFill>
              <a:srgbClr val="EEF5FB"/>
            </a:solidFill>
            <a:ln>
              <a:noFill/>
            </a:ln>
          </p:spPr>
        </p:sp>
        <p:sp>
          <p:nvSpPr>
            <p:cNvPr id="327" name="Ellipse 327"/>
            <p:cNvSpPr/>
            <p:nvPr/>
          </p:nvSpPr>
          <p:spPr>
            <a:xfrm>
              <a:off x="10153650" y="5657850"/>
              <a:ext cx="266700" cy="266700"/>
            </a:xfrm>
            <a:prstGeom prst="ellipse">
              <a:avLst/>
            </a:prstGeom>
            <a:solidFill>
              <a:srgbClr val="92301C"/>
            </a:solidFill>
            <a:ln>
              <a:noFill/>
            </a:ln>
          </p:spPr>
        </p:sp>
        <p:grpSp>
          <p:nvGrpSpPr>
            <p:cNvPr id="336" name="Group 336"/>
            <p:cNvGrpSpPr/>
            <p:nvPr/>
          </p:nvGrpSpPr>
          <p:grpSpPr>
            <a:xfrm>
              <a:off x="10222706" y="5726906"/>
              <a:ext cx="128588" cy="138113"/>
              <a:chOff x="10222706" y="5726906"/>
              <a:chExt cx="128588" cy="138113"/>
            </a:xfrm>
          </p:grpSpPr>
          <p:sp>
            <p:nvSpPr>
              <p:cNvPr id="328" name="Freeform 328"/>
              <p:cNvSpPr/>
              <p:nvPr/>
            </p:nvSpPr>
            <p:spPr>
              <a:xfrm>
                <a:off x="10222706" y="5855494"/>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329" name="Freeform 329"/>
              <p:cNvSpPr/>
              <p:nvPr/>
            </p:nvSpPr>
            <p:spPr>
              <a:xfrm>
                <a:off x="10265569" y="5762625"/>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330" name="Freeform 330"/>
              <p:cNvSpPr/>
              <p:nvPr/>
            </p:nvSpPr>
            <p:spPr>
              <a:xfrm>
                <a:off x="10265569" y="5791200"/>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331" name="Freeform 331"/>
              <p:cNvSpPr/>
              <p:nvPr/>
            </p:nvSpPr>
            <p:spPr>
              <a:xfrm>
                <a:off x="10265569" y="5819775"/>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332" name="Freeform 332"/>
              <p:cNvSpPr/>
              <p:nvPr/>
            </p:nvSpPr>
            <p:spPr>
              <a:xfrm>
                <a:off x="10301288" y="5762625"/>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333" name="Freeform 333"/>
              <p:cNvSpPr/>
              <p:nvPr/>
            </p:nvSpPr>
            <p:spPr>
              <a:xfrm>
                <a:off x="10301288" y="5791200"/>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334" name="Freeform 334"/>
              <p:cNvSpPr/>
              <p:nvPr/>
            </p:nvSpPr>
            <p:spPr>
              <a:xfrm>
                <a:off x="10301288" y="5819775"/>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335" name="Freeform 335"/>
              <p:cNvSpPr/>
              <p:nvPr/>
            </p:nvSpPr>
            <p:spPr>
              <a:xfrm>
                <a:off x="10236994" y="5726906"/>
                <a:ext cx="100012" cy="128588"/>
              </a:xfrm>
              <a:custGeom>
                <a:avLst/>
                <a:gdLst/>
                <a:ahLst/>
                <a:cxnLst/>
                <a:rect l="l" t="t" r="r" b="b"/>
                <a:pathLst>
                  <a:path w="100012" h="128588">
                    <a:moveTo>
                      <a:pt x="0" y="128588"/>
                    </a:moveTo>
                    <a:lnTo>
                      <a:pt x="0" y="14288"/>
                    </a:lnTo>
                    <a:cubicBezTo>
                      <a:pt x="0" y="6397"/>
                      <a:pt x="6397" y="0"/>
                      <a:pt x="14288" y="0"/>
                    </a:cubicBezTo>
                    <a:lnTo>
                      <a:pt x="85725" y="0"/>
                    </a:lnTo>
                    <a:cubicBezTo>
                      <a:pt x="93616" y="0"/>
                      <a:pt x="100012" y="6397"/>
                      <a:pt x="100012" y="14288"/>
                    </a:cubicBezTo>
                    <a:lnTo>
                      <a:pt x="100012" y="128588"/>
                    </a:lnTo>
                  </a:path>
                </a:pathLst>
              </a:custGeom>
              <a:noFill/>
              <a:ln w="14288">
                <a:solidFill>
                  <a:srgbClr val="FFFFFF"/>
                </a:solidFill>
              </a:ln>
            </p:spPr>
          </p:sp>
        </p:grpSp>
        <p:sp>
          <p:nvSpPr>
            <p:cNvPr id="337" name="TextBox 337"/>
            <p:cNvSpPr txBox="1"/>
            <p:nvPr/>
          </p:nvSpPr>
          <p:spPr>
            <a:xfrm>
              <a:off x="10491788" y="5679043"/>
              <a:ext cx="588391" cy="169069"/>
            </a:xfrm>
            <a:prstGeom prst="rect">
              <a:avLst/>
            </a:prstGeom>
            <a:noFill/>
            <a:ln>
              <a:noFill/>
            </a:ln>
          </p:spPr>
          <p:txBody>
            <a:bodyPr wrap="none" lIns="0" tIns="0" rIns="0" bIns="0" anchor="t" anchorCtr="0">
              <a:spAutoFit/>
            </a:bodyPr>
            <a:lstStyle/>
            <a:p>
              <a:pPr algn="l"/>
              <a:r>
                <a:rPr lang="zh-CN" sz="860" b="1" dirty="0">
                  <a:solidFill>
                    <a:srgbClr val="52352F"/>
                  </a:solidFill>
                  <a:latin typeface="+mn-lt"/>
                  <a:ea typeface="+mn-ea"/>
                  <a:cs typeface="+mn-cs"/>
                </a:rPr>
                <a:t>覆盖公司数</a:t>
              </a:r>
            </a:p>
          </p:txBody>
        </p:sp>
        <p:sp>
          <p:nvSpPr>
            <p:cNvPr id="338" name="TextBox 338"/>
            <p:cNvSpPr txBox="1"/>
            <p:nvPr/>
          </p:nvSpPr>
          <p:spPr>
            <a:xfrm>
              <a:off x="10488168" y="5879782"/>
              <a:ext cx="813208" cy="322707"/>
            </a:xfrm>
            <a:prstGeom prst="rect">
              <a:avLst/>
            </a:prstGeom>
            <a:noFill/>
            <a:ln>
              <a:noFill/>
            </a:ln>
          </p:spPr>
          <p:txBody>
            <a:bodyPr wrap="none" lIns="0" tIns="0" rIns="0" bIns="0" anchor="t" anchorCtr="0">
              <a:spAutoFit/>
            </a:bodyPr>
            <a:lstStyle/>
            <a:p>
              <a:pPr algn="l"/>
              <a:r>
                <a:rPr lang="zh-CN" sz="1650" b="1" dirty="0">
                  <a:solidFill>
                    <a:srgbClr val="6B1B0B"/>
                  </a:solidFill>
                  <a:latin typeface="+mj-lt"/>
                  <a:ea typeface="+mj-ea"/>
                  <a:cs typeface="+mj-cs"/>
                </a:rPr>
                <a:t xml:space="preserve">+30%　</a:t>
              </a:r>
            </a:p>
          </p:txBody>
        </p:sp>
        <p:sp>
          <p:nvSpPr>
            <p:cNvPr id="339" name="TextBox 339"/>
            <p:cNvSpPr txBox="1"/>
            <p:nvPr/>
          </p:nvSpPr>
          <p:spPr>
            <a:xfrm>
              <a:off x="11139488" y="5989082"/>
              <a:ext cx="612623" cy="126206"/>
            </a:xfrm>
            <a:prstGeom prst="rect">
              <a:avLst/>
            </a:prstGeom>
            <a:noFill/>
            <a:ln>
              <a:noFill/>
            </a:ln>
          </p:spPr>
          <p:txBody>
            <a:bodyPr wrap="none" lIns="0" tIns="0" rIns="0" bIns="0" anchor="t" anchorCtr="0">
              <a:spAutoFit/>
            </a:bodyPr>
            <a:lstStyle/>
            <a:p>
              <a:pPr algn="l"/>
              <a:r>
                <a:rPr lang="zh-CN" sz="640" dirty="0">
                  <a:solidFill>
                    <a:srgbClr val="8C716B"/>
                  </a:solidFill>
                  <a:latin typeface="+mn-lt"/>
                  <a:ea typeface="+mn-ea"/>
                  <a:cs typeface="+mn-cs"/>
                </a:rPr>
                <a:t xml:space="preserve">（示例测算）　</a:t>
              </a:r>
            </a:p>
          </p:txBody>
        </p:sp>
      </p:grpSp>
      <p:grpSp>
        <p:nvGrpSpPr>
          <p:cNvPr id="344" name="kpi-note"/>
          <p:cNvGrpSpPr/>
          <p:nvPr/>
        </p:nvGrpSpPr>
        <p:grpSpPr>
          <a:xfrm>
            <a:off x="8001000" y="6324600"/>
            <a:ext cx="4000500" cy="263842"/>
            <a:chOff x="8001000" y="6324600"/>
            <a:chExt cx="4000500" cy="263842"/>
          </a:xfrm>
        </p:grpSpPr>
        <p:sp>
          <p:nvSpPr>
            <p:cNvPr id="341" name="Rectangle 341"/>
            <p:cNvSpPr/>
            <p:nvPr/>
          </p:nvSpPr>
          <p:spPr>
            <a:xfrm>
              <a:off x="8001000" y="6324600"/>
              <a:ext cx="4000500" cy="247650"/>
            </a:xfrm>
            <a:prstGeom prst="roundRect">
              <a:avLst>
                <a:gd name="adj" fmla="val 15385"/>
              </a:avLst>
            </a:prstGeom>
            <a:solidFill>
              <a:srgbClr val="FDF3DC"/>
            </a:solidFill>
            <a:ln>
              <a:noFill/>
            </a:ln>
          </p:spPr>
        </p:sp>
        <p:sp>
          <p:nvSpPr>
            <p:cNvPr id="342" name="TextBox 342"/>
            <p:cNvSpPr txBox="1"/>
            <p:nvPr/>
          </p:nvSpPr>
          <p:spPr>
            <a:xfrm>
              <a:off x="8091488" y="6364605"/>
              <a:ext cx="2594229" cy="119062"/>
            </a:xfrm>
            <a:prstGeom prst="rect">
              <a:avLst/>
            </a:prstGeom>
            <a:noFill/>
            <a:ln>
              <a:noFill/>
            </a:ln>
          </p:spPr>
          <p:txBody>
            <a:bodyPr wrap="none" lIns="0" tIns="0" rIns="0" bIns="0" anchor="t" anchorCtr="0">
              <a:spAutoFit/>
            </a:bodyPr>
            <a:lstStyle/>
            <a:p>
              <a:pPr algn="l"/>
              <a:r>
                <a:rPr lang="zh-CN" sz="600" dirty="0">
                  <a:solidFill>
                    <a:srgbClr val="7A2010"/>
                  </a:solidFill>
                  <a:latin typeface="+mn-lt"/>
                  <a:ea typeface="+mn-ea"/>
                  <a:cs typeface="+mn-cs"/>
                </a:rPr>
                <a:t>禁止自动引用：所有内容均有可追溯来源，严禁编造、篡改或虚构引用。</a:t>
              </a:r>
            </a:p>
          </p:txBody>
        </p:sp>
        <p:sp>
          <p:nvSpPr>
            <p:cNvPr id="343" name="TextBox 343"/>
            <p:cNvSpPr txBox="1"/>
            <p:nvPr/>
          </p:nvSpPr>
          <p:spPr>
            <a:xfrm>
              <a:off x="8091488" y="6469380"/>
              <a:ext cx="2028825" cy="119062"/>
            </a:xfrm>
            <a:prstGeom prst="rect">
              <a:avLst/>
            </a:prstGeom>
            <a:noFill/>
            <a:ln>
              <a:noFill/>
            </a:ln>
          </p:spPr>
          <p:txBody>
            <a:bodyPr wrap="none" lIns="0" tIns="0" rIns="0" bIns="0" anchor="t" anchorCtr="0">
              <a:spAutoFit/>
            </a:bodyPr>
            <a:lstStyle/>
            <a:p>
              <a:pPr algn="l"/>
              <a:r>
                <a:rPr lang="zh-CN" sz="600" dirty="0">
                  <a:solidFill>
                    <a:srgbClr val="7A2010"/>
                  </a:solidFill>
                  <a:latin typeface="+mn-lt"/>
                  <a:ea typeface="+mn-ea"/>
                  <a:cs typeface="+mn-cs"/>
                </a:rPr>
                <a:t>重大风险识别、交易、投资、承保必须由授权人员确认。</a:t>
              </a:r>
            </a:p>
          </p:txBody>
        </p:sp>
      </p:grpSp>
      <p:grpSp>
        <p:nvGrpSpPr>
          <p:cNvPr id="351" name="footer-band"/>
          <p:cNvGrpSpPr/>
          <p:nvPr/>
        </p:nvGrpSpPr>
        <p:grpSpPr>
          <a:xfrm>
            <a:off x="190500" y="6610350"/>
            <a:ext cx="11811000" cy="231457"/>
            <a:chOff x="190500" y="6610350"/>
            <a:chExt cx="11811000" cy="231457"/>
          </a:xfrm>
        </p:grpSpPr>
        <p:sp>
          <p:nvSpPr>
            <p:cNvPr id="345" name="Rectangle 345"/>
            <p:cNvSpPr/>
            <p:nvPr/>
          </p:nvSpPr>
          <p:spPr>
            <a:xfrm>
              <a:off x="190500" y="6610350"/>
              <a:ext cx="11811000" cy="228600"/>
            </a:xfrm>
            <a:prstGeom prst="roundRect">
              <a:avLst>
                <a:gd name="adj" fmla="val 50000"/>
              </a:avLst>
            </a:prstGeom>
            <a:solidFill>
              <a:srgbClr val="EEF5FB"/>
            </a:solidFill>
            <a:ln>
              <a:noFill/>
            </a:ln>
          </p:spPr>
        </p:sp>
        <p:sp>
          <p:nvSpPr>
            <p:cNvPr id="346" name="Ellipse 346"/>
            <p:cNvSpPr/>
            <p:nvPr/>
          </p:nvSpPr>
          <p:spPr>
            <a:xfrm>
              <a:off x="304800" y="6648450"/>
              <a:ext cx="152400" cy="152400"/>
            </a:xfrm>
            <a:prstGeom prst="ellipse">
              <a:avLst/>
            </a:prstGeom>
            <a:solidFill>
              <a:srgbClr val="92301C"/>
            </a:solidFill>
            <a:ln>
              <a:noFill/>
            </a:ln>
          </p:spPr>
        </p:sp>
        <p:sp>
          <p:nvSpPr>
            <p:cNvPr id="347" name="TextBox 347"/>
            <p:cNvSpPr txBox="1"/>
            <p:nvPr/>
          </p:nvSpPr>
          <p:spPr>
            <a:xfrm>
              <a:off x="359427" y="6681788"/>
              <a:ext cx="43146"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a:t>
              </a:r>
            </a:p>
          </p:txBody>
        </p:sp>
        <p:sp>
          <p:nvSpPr>
            <p:cNvPr id="348" name="TextBox 348"/>
            <p:cNvSpPr txBox="1"/>
            <p:nvPr/>
          </p:nvSpPr>
          <p:spPr>
            <a:xfrm>
              <a:off x="528638" y="6689884"/>
              <a:ext cx="5793162" cy="133350"/>
            </a:xfrm>
            <a:prstGeom prst="rect">
              <a:avLst/>
            </a:prstGeom>
            <a:noFill/>
            <a:ln>
              <a:noFill/>
            </a:ln>
          </p:spPr>
          <p:txBody>
            <a:bodyPr wrap="none" lIns="0" tIns="0" rIns="0" bIns="0" anchor="t" anchorCtr="0">
              <a:spAutoFit/>
            </a:bodyPr>
            <a:lstStyle/>
            <a:p>
              <a:pPr algn="l"/>
              <a:r>
                <a:rPr lang="zh-CN" sz="680" dirty="0">
                  <a:solidFill>
                    <a:srgbClr val="6B1B0B"/>
                  </a:solidFill>
                  <a:latin typeface="+mn-lt"/>
                  <a:ea typeface="+mn-ea"/>
                  <a:cs typeface="+mn-cs"/>
                </a:rPr>
                <a:t>数据来源：上交所、深交所、港交所、公司官网、券商研报、行业协会、国家统计局、Wind等；注：以上均为示例测算，不构成任何投资建议。</a:t>
              </a:r>
            </a:p>
          </p:txBody>
        </p:sp>
        <p:sp>
          <p:nvSpPr>
            <p:cNvPr id="349" name="Line 349"/>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50" name="TextBox 350"/>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10</a:t>
              </a:r>
            </a:p>
          </p:txBody>
        </p:sp>
      </p:gr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10</a:t>
              </a:r>
            </a:p>
          </p:txBody>
        </p:sp>
        <p:sp>
          <p:nvSpPr>
            <p:cNvPr id="4" name="TextBox 4"/>
            <p:cNvSpPr txBox="1"/>
            <p:nvPr/>
          </p:nvSpPr>
          <p:spPr>
            <a:xfrm>
              <a:off x="942594" y="170498"/>
              <a:ext cx="6057519"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组合管理智能体</a:t>
              </a:r>
              <a:r>
                <a:rPr lang="zh-CN" sz="1950" b="1" dirty="0">
                  <a:solidFill>
                    <a:srgbClr val="92301C"/>
                  </a:solidFill>
                  <a:latin typeface="+mn-lt"/>
                  <a:ea typeface="+mn-ea"/>
                  <a:cs typeface="+mn-cs"/>
                </a:rPr>
                <a:t>｜在收益目标与风险约束间动态平衡</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投资交易 · 10</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0" name="col1-head"/>
          <p:cNvGrpSpPr/>
          <p:nvPr/>
        </p:nvGrpSpPr>
        <p:grpSpPr>
          <a:xfrm>
            <a:off x="190500" y="628650"/>
            <a:ext cx="2286000" cy="279559"/>
            <a:chOff x="190500" y="628650"/>
            <a:chExt cx="2286000" cy="279559"/>
          </a:xfrm>
        </p:grpSpPr>
        <p:sp>
          <p:nvSpPr>
            <p:cNvPr id="8" name="Rectangle 8"/>
            <p:cNvSpPr/>
            <p:nvPr/>
          </p:nvSpPr>
          <p:spPr>
            <a:xfrm>
              <a:off x="190500" y="628650"/>
              <a:ext cx="2286000" cy="266700"/>
            </a:xfrm>
            <a:prstGeom prst="rect">
              <a:avLst/>
            </a:prstGeom>
            <a:gradFill>
              <a:gsLst>
                <a:gs pos="0">
                  <a:srgbClr val="92301C"/>
                </a:gs>
                <a:gs pos="100000">
                  <a:srgbClr val="B7533F"/>
                </a:gs>
              </a:gsLst>
              <a:lin ang="0" scaled="1"/>
            </a:gradFill>
            <a:ln>
              <a:noFill/>
            </a:ln>
          </p:spPr>
        </p:sp>
        <p:sp>
          <p:nvSpPr>
            <p:cNvPr id="9" name="TextBox 9"/>
            <p:cNvSpPr txBox="1"/>
            <p:nvPr/>
          </p:nvSpPr>
          <p:spPr>
            <a:xfrm>
              <a:off x="318135" y="6881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输入条件</a:t>
              </a:r>
            </a:p>
          </p:txBody>
        </p:sp>
      </p:grpSp>
      <p:grpSp>
        <p:nvGrpSpPr>
          <p:cNvPr id="13" name="col2-head"/>
          <p:cNvGrpSpPr/>
          <p:nvPr/>
        </p:nvGrpSpPr>
        <p:grpSpPr>
          <a:xfrm>
            <a:off x="2571750" y="628650"/>
            <a:ext cx="5905500" cy="279559"/>
            <a:chOff x="2571750" y="628650"/>
            <a:chExt cx="5905500" cy="279559"/>
          </a:xfrm>
        </p:grpSpPr>
        <p:sp>
          <p:nvSpPr>
            <p:cNvPr id="11" name="Rectangle 11"/>
            <p:cNvSpPr/>
            <p:nvPr/>
          </p:nvSpPr>
          <p:spPr>
            <a:xfrm>
              <a:off x="2571750" y="628650"/>
              <a:ext cx="5905500" cy="266700"/>
            </a:xfrm>
            <a:prstGeom prst="rect">
              <a:avLst/>
            </a:prstGeom>
            <a:gradFill>
              <a:gsLst>
                <a:gs pos="0">
                  <a:srgbClr val="92301C"/>
                </a:gs>
                <a:gs pos="100000">
                  <a:srgbClr val="B7533F"/>
                </a:gs>
              </a:gsLst>
              <a:lin ang="0" scaled="1"/>
            </a:gradFill>
            <a:ln>
              <a:noFill/>
            </a:ln>
          </p:spPr>
        </p:sp>
        <p:sp>
          <p:nvSpPr>
            <p:cNvPr id="12" name="TextBox 12"/>
            <p:cNvSpPr txBox="1"/>
            <p:nvPr/>
          </p:nvSpPr>
          <p:spPr>
            <a:xfrm>
              <a:off x="2699385" y="688181"/>
              <a:ext cx="214111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有效前沿与组合配置</a:t>
              </a:r>
              <a:r>
                <a:rPr lang="zh-CN" sz="820" dirty="0">
                  <a:solidFill>
                    <a:srgbClr val="FFFFFF"/>
                  </a:solidFill>
                  <a:latin typeface="+mn-lt"/>
                  <a:ea typeface="+mn-ea"/>
                  <a:cs typeface="+mn-cs"/>
                </a:rPr>
                <a:t xml:space="preserve">（示例测算）　</a:t>
              </a:r>
            </a:p>
          </p:txBody>
        </p:sp>
      </p:grpSp>
      <p:grpSp>
        <p:nvGrpSpPr>
          <p:cNvPr id="16" name="col3-head"/>
          <p:cNvGrpSpPr/>
          <p:nvPr/>
        </p:nvGrpSpPr>
        <p:grpSpPr>
          <a:xfrm>
            <a:off x="8572500" y="628650"/>
            <a:ext cx="3429000" cy="279559"/>
            <a:chOff x="8572500" y="628650"/>
            <a:chExt cx="3429000" cy="279559"/>
          </a:xfrm>
        </p:grpSpPr>
        <p:sp>
          <p:nvSpPr>
            <p:cNvPr id="14" name="Rectangle 14"/>
            <p:cNvSpPr/>
            <p:nvPr/>
          </p:nvSpPr>
          <p:spPr>
            <a:xfrm>
              <a:off x="8572500" y="628650"/>
              <a:ext cx="3429000" cy="266700"/>
            </a:xfrm>
            <a:prstGeom prst="rect">
              <a:avLst/>
            </a:prstGeom>
            <a:gradFill>
              <a:gsLst>
                <a:gs pos="0">
                  <a:srgbClr val="92301C"/>
                </a:gs>
                <a:gs pos="100000">
                  <a:srgbClr val="B7533F"/>
                </a:gs>
              </a:gsLst>
              <a:lin ang="0" scaled="1"/>
            </a:gradFill>
            <a:ln>
              <a:noFill/>
            </a:ln>
          </p:spPr>
        </p:sp>
        <p:sp>
          <p:nvSpPr>
            <p:cNvPr id="15" name="TextBox 15"/>
            <p:cNvSpPr txBox="1"/>
            <p:nvPr/>
          </p:nvSpPr>
          <p:spPr>
            <a:xfrm>
              <a:off x="870013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组合管理流程</a:t>
              </a:r>
            </a:p>
          </p:txBody>
        </p:sp>
      </p:grpSp>
      <p:grpSp>
        <p:nvGrpSpPr>
          <p:cNvPr id="100" name="left-cards"/>
          <p:cNvGrpSpPr/>
          <p:nvPr/>
        </p:nvGrpSpPr>
        <p:grpSpPr>
          <a:xfrm>
            <a:off x="190500" y="990600"/>
            <a:ext cx="2286000" cy="4124325"/>
            <a:chOff x="190500" y="990600"/>
            <a:chExt cx="2286000" cy="4124325"/>
          </a:xfrm>
        </p:grpSpPr>
        <p:grpSp>
          <p:nvGrpSpPr>
            <p:cNvPr id="29" name="lc-1"/>
            <p:cNvGrpSpPr/>
            <p:nvPr/>
          </p:nvGrpSpPr>
          <p:grpSpPr>
            <a:xfrm>
              <a:off x="190500" y="990600"/>
              <a:ext cx="2286000" cy="647700"/>
              <a:chOff x="190500" y="990600"/>
              <a:chExt cx="2286000" cy="647700"/>
            </a:xfrm>
          </p:grpSpPr>
          <p:sp>
            <p:nvSpPr>
              <p:cNvPr id="17" name="Rectangle 17"/>
              <p:cNvSpPr/>
              <p:nvPr/>
            </p:nvSpPr>
            <p:spPr>
              <a:xfrm>
                <a:off x="190500" y="990600"/>
                <a:ext cx="2286000" cy="647700"/>
              </a:xfrm>
              <a:prstGeom prst="roundRect">
                <a:avLst>
                  <a:gd name="adj" fmla="val 8824"/>
                </a:avLst>
              </a:prstGeom>
              <a:solidFill>
                <a:srgbClr val="F6F9FD"/>
              </a:solidFill>
              <a:ln w="9525">
                <a:solidFill>
                  <a:srgbClr val="CFDFEE"/>
                </a:solidFill>
              </a:ln>
            </p:spPr>
          </p:sp>
          <p:grpSp>
            <p:nvGrpSpPr>
              <p:cNvPr id="21" name="Group 21"/>
              <p:cNvGrpSpPr/>
              <p:nvPr/>
            </p:nvGrpSpPr>
            <p:grpSpPr>
              <a:xfrm>
                <a:off x="314325" y="1114425"/>
                <a:ext cx="171450" cy="171450"/>
                <a:chOff x="314325" y="1114425"/>
                <a:chExt cx="171450" cy="171450"/>
              </a:xfrm>
            </p:grpSpPr>
            <p:sp>
              <p:nvSpPr>
                <p:cNvPr id="18" name="Freeform 18"/>
                <p:cNvSpPr/>
                <p:nvPr/>
              </p:nvSpPr>
              <p:spPr>
                <a:xfrm>
                  <a:off x="390525" y="11906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92301C"/>
                  </a:solidFill>
                </a:ln>
              </p:spPr>
            </p:sp>
            <p:sp>
              <p:nvSpPr>
                <p:cNvPr id="19" name="Freeform 19"/>
                <p:cNvSpPr/>
                <p:nvPr/>
              </p:nvSpPr>
              <p:spPr>
                <a:xfrm>
                  <a:off x="352425" y="11525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92301C"/>
                  </a:solidFill>
                </a:ln>
              </p:spPr>
            </p:sp>
            <p:sp>
              <p:nvSpPr>
                <p:cNvPr id="20" name="Freeform 20"/>
                <p:cNvSpPr/>
                <p:nvPr/>
              </p:nvSpPr>
              <p:spPr>
                <a:xfrm>
                  <a:off x="314325" y="11144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92301C"/>
                  </a:solidFill>
                </a:ln>
              </p:spPr>
            </p:sp>
          </p:grpSp>
          <p:sp>
            <p:nvSpPr>
              <p:cNvPr id="22" name="TextBox 22"/>
              <p:cNvSpPr txBox="1"/>
              <p:nvPr/>
            </p:nvSpPr>
            <p:spPr>
              <a:xfrm>
                <a:off x="585788" y="10648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风险预算</a:t>
                </a:r>
              </a:p>
            </p:txBody>
          </p:sp>
          <p:sp>
            <p:nvSpPr>
              <p:cNvPr id="23" name="TextBox 23"/>
              <p:cNvSpPr txBox="1"/>
              <p:nvPr/>
            </p:nvSpPr>
            <p:spPr>
              <a:xfrm>
                <a:off x="585788" y="1264682"/>
                <a:ext cx="69877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可接受风险水平、</a:t>
                </a:r>
              </a:p>
            </p:txBody>
          </p:sp>
          <p:sp>
            <p:nvSpPr>
              <p:cNvPr id="24" name="TextBox 24"/>
              <p:cNvSpPr txBox="1"/>
              <p:nvPr/>
            </p:nvSpPr>
            <p:spPr>
              <a:xfrm>
                <a:off x="585788" y="1388507"/>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目标波动率</a:t>
                </a:r>
              </a:p>
            </p:txBody>
          </p:sp>
          <p:sp>
            <p:nvSpPr>
              <p:cNvPr id="25" name="Rectangle 25"/>
              <p:cNvSpPr/>
              <p:nvPr/>
            </p:nvSpPr>
            <p:spPr>
              <a:xfrm>
                <a:off x="1428750" y="1066800"/>
                <a:ext cx="952500" cy="495300"/>
              </a:xfrm>
              <a:prstGeom prst="roundRect">
                <a:avLst>
                  <a:gd name="adj" fmla="val 7692"/>
                </a:avLst>
              </a:prstGeom>
              <a:solidFill>
                <a:srgbClr val="EEF5FB"/>
              </a:solidFill>
              <a:ln>
                <a:noFill/>
              </a:ln>
            </p:spPr>
          </p:sp>
          <p:sp>
            <p:nvSpPr>
              <p:cNvPr id="26" name="TextBox 26"/>
              <p:cNvSpPr txBox="1"/>
              <p:nvPr/>
            </p:nvSpPr>
            <p:spPr>
              <a:xfrm>
                <a:off x="1500188" y="1125855"/>
                <a:ext cx="332613" cy="119062"/>
              </a:xfrm>
              <a:prstGeom prst="rect">
                <a:avLst/>
              </a:prstGeom>
              <a:noFill/>
              <a:ln>
                <a:noFill/>
              </a:ln>
            </p:spPr>
            <p:txBody>
              <a:bodyPr wrap="none" lIns="0" tIns="0" rIns="0" bIns="0" anchor="t" anchorCtr="0">
                <a:spAutoFit/>
              </a:bodyPr>
              <a:lstStyle/>
              <a:p>
                <a:pPr algn="l"/>
                <a:r>
                  <a:rPr lang="zh-CN" sz="600" b="1" dirty="0">
                    <a:solidFill>
                      <a:srgbClr val="92301C"/>
                    </a:solidFill>
                    <a:latin typeface="+mn-lt"/>
                    <a:ea typeface="+mn-ea"/>
                    <a:cs typeface="+mn-cs"/>
                  </a:rPr>
                  <a:t>示例测算</a:t>
                </a:r>
              </a:p>
            </p:txBody>
          </p:sp>
          <p:sp>
            <p:nvSpPr>
              <p:cNvPr id="27" name="TextBox 27"/>
              <p:cNvSpPr txBox="1"/>
              <p:nvPr/>
            </p:nvSpPr>
            <p:spPr>
              <a:xfrm>
                <a:off x="1500188" y="1263253"/>
                <a:ext cx="661187"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年化波动率≤8%​​​</a:t>
                </a:r>
              </a:p>
            </p:txBody>
          </p:sp>
          <p:sp>
            <p:nvSpPr>
              <p:cNvPr id="28" name="TextBox 28"/>
              <p:cNvSpPr txBox="1"/>
              <p:nvPr/>
            </p:nvSpPr>
            <p:spPr>
              <a:xfrm>
                <a:off x="1500188" y="1387078"/>
                <a:ext cx="661745"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最大回撤＜15%​​​</a:t>
                </a:r>
              </a:p>
            </p:txBody>
          </p:sp>
        </p:grpSp>
        <p:grpSp>
          <p:nvGrpSpPr>
            <p:cNvPr id="42" name="lc-2"/>
            <p:cNvGrpSpPr/>
            <p:nvPr/>
          </p:nvGrpSpPr>
          <p:grpSpPr>
            <a:xfrm>
              <a:off x="190500" y="1685925"/>
              <a:ext cx="2286000" cy="647700"/>
              <a:chOff x="190500" y="1685925"/>
              <a:chExt cx="2286000" cy="647700"/>
            </a:xfrm>
          </p:grpSpPr>
          <p:sp>
            <p:nvSpPr>
              <p:cNvPr id="30" name="Rectangle 30"/>
              <p:cNvSpPr/>
              <p:nvPr/>
            </p:nvSpPr>
            <p:spPr>
              <a:xfrm>
                <a:off x="190500" y="1685925"/>
                <a:ext cx="2286000" cy="647700"/>
              </a:xfrm>
              <a:prstGeom prst="roundRect">
                <a:avLst>
                  <a:gd name="adj" fmla="val 8824"/>
                </a:avLst>
              </a:prstGeom>
              <a:solidFill>
                <a:srgbClr val="F6F9FD"/>
              </a:solidFill>
              <a:ln w="9525">
                <a:solidFill>
                  <a:srgbClr val="CFDFEE"/>
                </a:solidFill>
              </a:ln>
            </p:spPr>
          </p:sp>
          <p:grpSp>
            <p:nvGrpSpPr>
              <p:cNvPr id="34" name="Group 34"/>
              <p:cNvGrpSpPr/>
              <p:nvPr/>
            </p:nvGrpSpPr>
            <p:grpSpPr>
              <a:xfrm>
                <a:off x="323850" y="1809750"/>
                <a:ext cx="152400" cy="171450"/>
                <a:chOff x="323850" y="1809750"/>
                <a:chExt cx="152400" cy="171450"/>
              </a:xfrm>
            </p:grpSpPr>
            <p:sp>
              <p:nvSpPr>
                <p:cNvPr id="31" name="Freeform 31"/>
                <p:cNvSpPr/>
                <p:nvPr/>
              </p:nvSpPr>
              <p:spPr>
                <a:xfrm>
                  <a:off x="323850" y="1809750"/>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92301C"/>
                  </a:solidFill>
                </a:ln>
              </p:spPr>
            </p:sp>
            <p:sp>
              <p:nvSpPr>
                <p:cNvPr id="32" name="Freeform 32"/>
                <p:cNvSpPr/>
                <p:nvPr/>
              </p:nvSpPr>
              <p:spPr>
                <a:xfrm>
                  <a:off x="323850" y="1838325"/>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2301C"/>
                  </a:solidFill>
                </a:ln>
              </p:spPr>
            </p:sp>
            <p:sp>
              <p:nvSpPr>
                <p:cNvPr id="33" name="Freeform 33"/>
                <p:cNvSpPr/>
                <p:nvPr/>
              </p:nvSpPr>
              <p:spPr>
                <a:xfrm>
                  <a:off x="323850" y="1895475"/>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2301C"/>
                  </a:solidFill>
                </a:ln>
              </p:spPr>
            </p:sp>
          </p:grpSp>
          <p:sp>
            <p:nvSpPr>
              <p:cNvPr id="35" name="TextBox 35"/>
              <p:cNvSpPr txBox="1"/>
              <p:nvPr/>
            </p:nvSpPr>
            <p:spPr>
              <a:xfrm>
                <a:off x="585788" y="1760220"/>
                <a:ext cx="372999"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资产池</a:t>
                </a:r>
              </a:p>
            </p:txBody>
          </p:sp>
          <p:sp>
            <p:nvSpPr>
              <p:cNvPr id="36" name="TextBox 36"/>
              <p:cNvSpPr txBox="1"/>
              <p:nvPr/>
            </p:nvSpPr>
            <p:spPr>
              <a:xfrm>
                <a:off x="585788" y="1960007"/>
                <a:ext cx="69877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可投资资产范围、</a:t>
                </a:r>
              </a:p>
            </p:txBody>
          </p:sp>
          <p:sp>
            <p:nvSpPr>
              <p:cNvPr id="37" name="TextBox 37"/>
              <p:cNvSpPr txBox="1"/>
              <p:nvPr/>
            </p:nvSpPr>
            <p:spPr>
              <a:xfrm>
                <a:off x="585788" y="2083832"/>
                <a:ext cx="87109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黑名单、资产类别约束</a:t>
                </a:r>
              </a:p>
            </p:txBody>
          </p:sp>
          <p:sp>
            <p:nvSpPr>
              <p:cNvPr id="38" name="Rectangle 38"/>
              <p:cNvSpPr/>
              <p:nvPr/>
            </p:nvSpPr>
            <p:spPr>
              <a:xfrm>
                <a:off x="1428750" y="1762125"/>
                <a:ext cx="952500" cy="495300"/>
              </a:xfrm>
              <a:prstGeom prst="roundRect">
                <a:avLst>
                  <a:gd name="adj" fmla="val 7692"/>
                </a:avLst>
              </a:prstGeom>
              <a:solidFill>
                <a:srgbClr val="EEF5FB"/>
              </a:solidFill>
              <a:ln>
                <a:noFill/>
              </a:ln>
            </p:spPr>
          </p:sp>
          <p:sp>
            <p:nvSpPr>
              <p:cNvPr id="39" name="TextBox 39"/>
              <p:cNvSpPr txBox="1"/>
              <p:nvPr/>
            </p:nvSpPr>
            <p:spPr>
              <a:xfrm>
                <a:off x="1500188" y="1821180"/>
                <a:ext cx="332613" cy="119062"/>
              </a:xfrm>
              <a:prstGeom prst="rect">
                <a:avLst/>
              </a:prstGeom>
              <a:noFill/>
              <a:ln>
                <a:noFill/>
              </a:ln>
            </p:spPr>
            <p:txBody>
              <a:bodyPr wrap="none" lIns="0" tIns="0" rIns="0" bIns="0" anchor="t" anchorCtr="0">
                <a:spAutoFit/>
              </a:bodyPr>
              <a:lstStyle/>
              <a:p>
                <a:pPr algn="l"/>
                <a:r>
                  <a:rPr lang="zh-CN" sz="600" b="1" dirty="0">
                    <a:solidFill>
                      <a:srgbClr val="92301C"/>
                    </a:solidFill>
                    <a:latin typeface="+mn-lt"/>
                    <a:ea typeface="+mn-ea"/>
                    <a:cs typeface="+mn-cs"/>
                  </a:rPr>
                  <a:t>示例测算</a:t>
                </a:r>
              </a:p>
            </p:txBody>
          </p:sp>
          <p:sp>
            <p:nvSpPr>
              <p:cNvPr id="40" name="TextBox 40"/>
              <p:cNvSpPr txBox="1"/>
              <p:nvPr/>
            </p:nvSpPr>
            <p:spPr>
              <a:xfrm>
                <a:off x="1500188" y="1958578"/>
                <a:ext cx="799839"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股票/债券/货币/现金​​​</a:t>
                </a:r>
              </a:p>
            </p:txBody>
          </p:sp>
          <p:sp>
            <p:nvSpPr>
              <p:cNvPr id="41" name="TextBox 41"/>
              <p:cNvSpPr txBox="1"/>
              <p:nvPr/>
            </p:nvSpPr>
            <p:spPr>
              <a:xfrm>
                <a:off x="1500188" y="2082403"/>
                <a:ext cx="624127"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共1,200只标的​​​</a:t>
                </a:r>
              </a:p>
            </p:txBody>
          </p:sp>
        </p:grpSp>
        <p:grpSp>
          <p:nvGrpSpPr>
            <p:cNvPr id="58" name="lc-3"/>
            <p:cNvGrpSpPr/>
            <p:nvPr/>
          </p:nvGrpSpPr>
          <p:grpSpPr>
            <a:xfrm>
              <a:off x="190500" y="2381250"/>
              <a:ext cx="2286000" cy="647700"/>
              <a:chOff x="190500" y="2381250"/>
              <a:chExt cx="2286000" cy="647700"/>
            </a:xfrm>
          </p:grpSpPr>
          <p:sp>
            <p:nvSpPr>
              <p:cNvPr id="43" name="Rectangle 43"/>
              <p:cNvSpPr/>
              <p:nvPr/>
            </p:nvSpPr>
            <p:spPr>
              <a:xfrm>
                <a:off x="190500" y="2381250"/>
                <a:ext cx="2286000" cy="647700"/>
              </a:xfrm>
              <a:prstGeom prst="roundRect">
                <a:avLst>
                  <a:gd name="adj" fmla="val 8824"/>
                </a:avLst>
              </a:prstGeom>
              <a:solidFill>
                <a:srgbClr val="F6F9FD"/>
              </a:solidFill>
              <a:ln w="9525">
                <a:solidFill>
                  <a:srgbClr val="CFDFEE"/>
                </a:solidFill>
              </a:ln>
            </p:spPr>
          </p:sp>
          <p:grpSp>
            <p:nvGrpSpPr>
              <p:cNvPr id="50" name="Group 50"/>
              <p:cNvGrpSpPr/>
              <p:nvPr/>
            </p:nvGrpSpPr>
            <p:grpSpPr>
              <a:xfrm>
                <a:off x="323850" y="2505075"/>
                <a:ext cx="152400" cy="171450"/>
                <a:chOff x="323850" y="2505075"/>
                <a:chExt cx="152400" cy="171450"/>
              </a:xfrm>
            </p:grpSpPr>
            <p:sp>
              <p:nvSpPr>
                <p:cNvPr id="44" name="Freeform 44"/>
                <p:cNvSpPr/>
                <p:nvPr/>
              </p:nvSpPr>
              <p:spPr>
                <a:xfrm>
                  <a:off x="323850" y="2524125"/>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92301C"/>
                  </a:solidFill>
                </a:ln>
              </p:spPr>
            </p:sp>
            <p:sp>
              <p:nvSpPr>
                <p:cNvPr id="45" name="Freeform 45"/>
                <p:cNvSpPr/>
                <p:nvPr/>
              </p:nvSpPr>
              <p:spPr>
                <a:xfrm>
                  <a:off x="438150" y="2505075"/>
                  <a:ext cx="9525" cy="38100"/>
                </a:xfrm>
                <a:custGeom>
                  <a:avLst/>
                  <a:gdLst/>
                  <a:ahLst/>
                  <a:cxnLst/>
                  <a:rect l="l" t="t" r="r" b="b"/>
                  <a:pathLst>
                    <a:path w="9525" h="38100">
                      <a:moveTo>
                        <a:pt x="0" y="0"/>
                      </a:moveTo>
                      <a:lnTo>
                        <a:pt x="0" y="38100"/>
                      </a:lnTo>
                    </a:path>
                  </a:pathLst>
                </a:custGeom>
                <a:noFill/>
                <a:ln w="19050">
                  <a:solidFill>
                    <a:srgbClr val="92301C"/>
                  </a:solidFill>
                </a:ln>
              </p:spPr>
            </p:sp>
            <p:sp>
              <p:nvSpPr>
                <p:cNvPr id="46" name="Freeform 46"/>
                <p:cNvSpPr/>
                <p:nvPr/>
              </p:nvSpPr>
              <p:spPr>
                <a:xfrm>
                  <a:off x="361950" y="2505075"/>
                  <a:ext cx="9525" cy="38100"/>
                </a:xfrm>
                <a:custGeom>
                  <a:avLst/>
                  <a:gdLst/>
                  <a:ahLst/>
                  <a:cxnLst/>
                  <a:rect l="l" t="t" r="r" b="b"/>
                  <a:pathLst>
                    <a:path w="9525" h="38100">
                      <a:moveTo>
                        <a:pt x="0" y="0"/>
                      </a:moveTo>
                      <a:lnTo>
                        <a:pt x="0" y="38100"/>
                      </a:lnTo>
                    </a:path>
                  </a:pathLst>
                </a:custGeom>
                <a:noFill/>
                <a:ln w="19050">
                  <a:solidFill>
                    <a:srgbClr val="92301C"/>
                  </a:solidFill>
                </a:ln>
              </p:spPr>
            </p:sp>
            <p:sp>
              <p:nvSpPr>
                <p:cNvPr id="47" name="Freeform 47"/>
                <p:cNvSpPr/>
                <p:nvPr/>
              </p:nvSpPr>
              <p:spPr>
                <a:xfrm>
                  <a:off x="323850" y="2581275"/>
                  <a:ext cx="152400" cy="9525"/>
                </a:xfrm>
                <a:custGeom>
                  <a:avLst/>
                  <a:gdLst/>
                  <a:ahLst/>
                  <a:cxnLst/>
                  <a:rect l="l" t="t" r="r" b="b"/>
                  <a:pathLst>
                    <a:path w="152400" h="9525">
                      <a:moveTo>
                        <a:pt x="0" y="0"/>
                      </a:moveTo>
                      <a:lnTo>
                        <a:pt x="152400" y="0"/>
                      </a:lnTo>
                    </a:path>
                  </a:pathLst>
                </a:custGeom>
                <a:noFill/>
                <a:ln w="19050">
                  <a:solidFill>
                    <a:srgbClr val="92301C"/>
                  </a:solidFill>
                </a:ln>
              </p:spPr>
            </p:sp>
            <p:sp>
              <p:nvSpPr>
                <p:cNvPr id="48" name="Freeform 48"/>
                <p:cNvSpPr/>
                <p:nvPr/>
              </p:nvSpPr>
              <p:spPr>
                <a:xfrm>
                  <a:off x="390525" y="2619375"/>
                  <a:ext cx="9525" cy="9525"/>
                </a:xfrm>
                <a:custGeom>
                  <a:avLst/>
                  <a:gdLst/>
                  <a:ahLst/>
                  <a:cxnLst/>
                  <a:rect l="l" t="t" r="r" b="b"/>
                  <a:pathLst>
                    <a:path w="9525" h="9525">
                      <a:moveTo>
                        <a:pt x="0" y="0"/>
                      </a:moveTo>
                      <a:lnTo>
                        <a:pt x="9525" y="0"/>
                      </a:lnTo>
                    </a:path>
                  </a:pathLst>
                </a:custGeom>
                <a:noFill/>
                <a:ln w="19050">
                  <a:solidFill>
                    <a:srgbClr val="92301C"/>
                  </a:solidFill>
                </a:ln>
              </p:spPr>
            </p:sp>
            <p:sp>
              <p:nvSpPr>
                <p:cNvPr id="49" name="Freeform 49"/>
                <p:cNvSpPr/>
                <p:nvPr/>
              </p:nvSpPr>
              <p:spPr>
                <a:xfrm>
                  <a:off x="400050" y="2619375"/>
                  <a:ext cx="9525" cy="28575"/>
                </a:xfrm>
                <a:custGeom>
                  <a:avLst/>
                  <a:gdLst/>
                  <a:ahLst/>
                  <a:cxnLst/>
                  <a:rect l="l" t="t" r="r" b="b"/>
                  <a:pathLst>
                    <a:path w="9525" h="28575">
                      <a:moveTo>
                        <a:pt x="0" y="0"/>
                      </a:moveTo>
                      <a:lnTo>
                        <a:pt x="0" y="28575"/>
                      </a:lnTo>
                    </a:path>
                  </a:pathLst>
                </a:custGeom>
                <a:noFill/>
                <a:ln w="19050">
                  <a:solidFill>
                    <a:srgbClr val="92301C"/>
                  </a:solidFill>
                </a:ln>
              </p:spPr>
            </p:sp>
          </p:grpSp>
          <p:sp>
            <p:nvSpPr>
              <p:cNvPr id="51" name="TextBox 51"/>
              <p:cNvSpPr txBox="1"/>
              <p:nvPr/>
            </p:nvSpPr>
            <p:spPr>
              <a:xfrm>
                <a:off x="585788" y="2455545"/>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期限</a:t>
                </a:r>
              </a:p>
            </p:txBody>
          </p:sp>
          <p:sp>
            <p:nvSpPr>
              <p:cNvPr id="52" name="TextBox 52"/>
              <p:cNvSpPr txBox="1"/>
              <p:nvPr/>
            </p:nvSpPr>
            <p:spPr>
              <a:xfrm>
                <a:off x="585788" y="2655332"/>
                <a:ext cx="87109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投资期限、久期范围、</a:t>
                </a:r>
              </a:p>
            </p:txBody>
          </p:sp>
          <p:sp>
            <p:nvSpPr>
              <p:cNvPr id="53" name="TextBox 53"/>
              <p:cNvSpPr txBox="1"/>
              <p:nvPr/>
            </p:nvSpPr>
            <p:spPr>
              <a:xfrm>
                <a:off x="585788" y="2779157"/>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到期结构要求</a:t>
                </a:r>
              </a:p>
            </p:txBody>
          </p:sp>
          <p:sp>
            <p:nvSpPr>
              <p:cNvPr id="54" name="Rectangle 54"/>
              <p:cNvSpPr/>
              <p:nvPr/>
            </p:nvSpPr>
            <p:spPr>
              <a:xfrm>
                <a:off x="1428750" y="2457450"/>
                <a:ext cx="952500" cy="495300"/>
              </a:xfrm>
              <a:prstGeom prst="roundRect">
                <a:avLst>
                  <a:gd name="adj" fmla="val 7692"/>
                </a:avLst>
              </a:prstGeom>
              <a:solidFill>
                <a:srgbClr val="EEF5FB"/>
              </a:solidFill>
              <a:ln>
                <a:noFill/>
              </a:ln>
            </p:spPr>
          </p:sp>
          <p:sp>
            <p:nvSpPr>
              <p:cNvPr id="55" name="TextBox 55"/>
              <p:cNvSpPr txBox="1"/>
              <p:nvPr/>
            </p:nvSpPr>
            <p:spPr>
              <a:xfrm>
                <a:off x="1500188" y="2516505"/>
                <a:ext cx="332613" cy="119062"/>
              </a:xfrm>
              <a:prstGeom prst="rect">
                <a:avLst/>
              </a:prstGeom>
              <a:noFill/>
              <a:ln>
                <a:noFill/>
              </a:ln>
            </p:spPr>
            <p:txBody>
              <a:bodyPr wrap="none" lIns="0" tIns="0" rIns="0" bIns="0" anchor="t" anchorCtr="0">
                <a:spAutoFit/>
              </a:bodyPr>
              <a:lstStyle/>
              <a:p>
                <a:pPr algn="l"/>
                <a:r>
                  <a:rPr lang="zh-CN" sz="600" b="1" dirty="0">
                    <a:solidFill>
                      <a:srgbClr val="92301C"/>
                    </a:solidFill>
                    <a:latin typeface="+mn-lt"/>
                    <a:ea typeface="+mn-ea"/>
                    <a:cs typeface="+mn-cs"/>
                  </a:rPr>
                  <a:t>示例测算</a:t>
                </a:r>
              </a:p>
            </p:txBody>
          </p:sp>
          <p:sp>
            <p:nvSpPr>
              <p:cNvPr id="56" name="TextBox 56"/>
              <p:cNvSpPr txBox="1"/>
              <p:nvPr/>
            </p:nvSpPr>
            <p:spPr>
              <a:xfrm>
                <a:off x="1500188" y="2653903"/>
                <a:ext cx="251231"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3年​​​</a:t>
                </a:r>
              </a:p>
            </p:txBody>
          </p:sp>
          <p:sp>
            <p:nvSpPr>
              <p:cNvPr id="57" name="TextBox 57"/>
              <p:cNvSpPr txBox="1"/>
              <p:nvPr/>
            </p:nvSpPr>
            <p:spPr>
              <a:xfrm>
                <a:off x="1500188" y="2777728"/>
                <a:ext cx="485867"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久期1–5年​​​</a:t>
                </a:r>
              </a:p>
            </p:txBody>
          </p:sp>
        </p:grpSp>
        <p:grpSp>
          <p:nvGrpSpPr>
            <p:cNvPr id="71" name="lc-4"/>
            <p:cNvGrpSpPr/>
            <p:nvPr/>
          </p:nvGrpSpPr>
          <p:grpSpPr>
            <a:xfrm>
              <a:off x="190500" y="3076575"/>
              <a:ext cx="2286000" cy="647700"/>
              <a:chOff x="190500" y="3076575"/>
              <a:chExt cx="2286000" cy="647700"/>
            </a:xfrm>
          </p:grpSpPr>
          <p:sp>
            <p:nvSpPr>
              <p:cNvPr id="59" name="Rectangle 59"/>
              <p:cNvSpPr/>
              <p:nvPr/>
            </p:nvSpPr>
            <p:spPr>
              <a:xfrm>
                <a:off x="190500" y="3076575"/>
                <a:ext cx="2286000" cy="647700"/>
              </a:xfrm>
              <a:prstGeom prst="roundRect">
                <a:avLst>
                  <a:gd name="adj" fmla="val 8824"/>
                </a:avLst>
              </a:prstGeom>
              <a:solidFill>
                <a:srgbClr val="F6F9FD"/>
              </a:solidFill>
              <a:ln w="9525">
                <a:solidFill>
                  <a:srgbClr val="CFDFEE"/>
                </a:solidFill>
              </a:ln>
            </p:spPr>
          </p:sp>
          <p:grpSp>
            <p:nvGrpSpPr>
              <p:cNvPr id="63" name="Group 63"/>
              <p:cNvGrpSpPr/>
              <p:nvPr/>
            </p:nvGrpSpPr>
            <p:grpSpPr>
              <a:xfrm>
                <a:off x="314325" y="3219450"/>
                <a:ext cx="171450" cy="133350"/>
                <a:chOff x="314325" y="3219450"/>
                <a:chExt cx="171450" cy="133350"/>
              </a:xfrm>
            </p:grpSpPr>
            <p:sp>
              <p:nvSpPr>
                <p:cNvPr id="60" name="Freeform 60"/>
                <p:cNvSpPr/>
                <p:nvPr/>
              </p:nvSpPr>
              <p:spPr>
                <a:xfrm>
                  <a:off x="314325" y="3219450"/>
                  <a:ext cx="133350" cy="95250"/>
                </a:xfrm>
                <a:custGeom>
                  <a:avLst/>
                  <a:gdLst/>
                  <a:ahLst/>
                  <a:cxnLst/>
                  <a:rect l="l" t="t" r="r" b="b"/>
                  <a:pathLst>
                    <a:path w="133350" h="95250">
                      <a:moveTo>
                        <a:pt x="38100" y="95250"/>
                      </a:moveTo>
                      <a:lnTo>
                        <a:pt x="9525" y="95250"/>
                      </a:lnTo>
                      <a:cubicBezTo>
                        <a:pt x="4264" y="95250"/>
                        <a:pt x="0" y="90986"/>
                        <a:pt x="0" y="85725"/>
                      </a:cubicBezTo>
                      <a:lnTo>
                        <a:pt x="0" y="9525"/>
                      </a:lnTo>
                      <a:cubicBezTo>
                        <a:pt x="0" y="4264"/>
                        <a:pt x="4264" y="0"/>
                        <a:pt x="9525" y="0"/>
                      </a:cubicBezTo>
                      <a:lnTo>
                        <a:pt x="123825" y="0"/>
                      </a:lnTo>
                      <a:cubicBezTo>
                        <a:pt x="129086" y="0"/>
                        <a:pt x="133350" y="4264"/>
                        <a:pt x="133350" y="9525"/>
                      </a:cubicBezTo>
                      <a:lnTo>
                        <a:pt x="133350" y="38100"/>
                      </a:lnTo>
                    </a:path>
                  </a:pathLst>
                </a:custGeom>
                <a:noFill/>
                <a:ln w="19050">
                  <a:solidFill>
                    <a:srgbClr val="92301C"/>
                  </a:solidFill>
                </a:ln>
              </p:spPr>
            </p:sp>
            <p:sp>
              <p:nvSpPr>
                <p:cNvPr id="61" name="Freeform 61"/>
                <p:cNvSpPr/>
                <p:nvPr/>
              </p:nvSpPr>
              <p:spPr>
                <a:xfrm>
                  <a:off x="352425" y="3257550"/>
                  <a:ext cx="133350" cy="95250"/>
                </a:xfrm>
                <a:custGeom>
                  <a:avLst/>
                  <a:gdLst/>
                  <a:ahLst/>
                  <a:cxnLst/>
                  <a:rect l="l" t="t" r="r" b="b"/>
                  <a:pathLst>
                    <a:path w="133350" h="95250">
                      <a:moveTo>
                        <a:pt x="0" y="9525"/>
                      </a:moveTo>
                      <a:cubicBezTo>
                        <a:pt x="0" y="4264"/>
                        <a:pt x="4264" y="0"/>
                        <a:pt x="9525" y="0"/>
                      </a:cubicBezTo>
                      <a:lnTo>
                        <a:pt x="123825" y="0"/>
                      </a:lnTo>
                      <a:cubicBezTo>
                        <a:pt x="129086" y="0"/>
                        <a:pt x="133350" y="4264"/>
                        <a:pt x="133350" y="9525"/>
                      </a:cubicBezTo>
                      <a:lnTo>
                        <a:pt x="133350" y="85725"/>
                      </a:lnTo>
                      <a:cubicBezTo>
                        <a:pt x="133350" y="90986"/>
                        <a:pt x="129086" y="95250"/>
                        <a:pt x="123825" y="95250"/>
                      </a:cubicBezTo>
                      <a:lnTo>
                        <a:pt x="9525" y="95250"/>
                      </a:lnTo>
                      <a:cubicBezTo>
                        <a:pt x="4264" y="95250"/>
                        <a:pt x="0" y="90986"/>
                        <a:pt x="0" y="85725"/>
                      </a:cubicBezTo>
                      <a:lnTo>
                        <a:pt x="0" y="9525"/>
                      </a:lnTo>
                    </a:path>
                  </a:pathLst>
                </a:custGeom>
                <a:noFill/>
                <a:ln w="19050">
                  <a:solidFill>
                    <a:srgbClr val="92301C"/>
                  </a:solidFill>
                </a:ln>
              </p:spPr>
            </p:sp>
            <p:sp>
              <p:nvSpPr>
                <p:cNvPr id="62" name="Freeform 62"/>
                <p:cNvSpPr/>
                <p:nvPr/>
              </p:nvSpPr>
              <p:spPr>
                <a:xfrm>
                  <a:off x="400050" y="32861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2301C"/>
                  </a:solidFill>
                </a:ln>
              </p:spPr>
            </p:sp>
          </p:grpSp>
          <p:sp>
            <p:nvSpPr>
              <p:cNvPr id="64" name="TextBox 64"/>
              <p:cNvSpPr txBox="1"/>
              <p:nvPr/>
            </p:nvSpPr>
            <p:spPr>
              <a:xfrm>
                <a:off x="585788" y="3150870"/>
                <a:ext cx="372999"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流动性</a:t>
                </a:r>
              </a:p>
            </p:txBody>
          </p:sp>
          <p:sp>
            <p:nvSpPr>
              <p:cNvPr id="65" name="TextBox 65"/>
              <p:cNvSpPr txBox="1"/>
              <p:nvPr/>
            </p:nvSpPr>
            <p:spPr>
              <a:xfrm>
                <a:off x="585788" y="3331607"/>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流动性要求、可变现</a:t>
                </a:r>
              </a:p>
            </p:txBody>
          </p:sp>
          <p:sp>
            <p:nvSpPr>
              <p:cNvPr id="66" name="TextBox 66"/>
              <p:cNvSpPr txBox="1"/>
              <p:nvPr/>
            </p:nvSpPr>
            <p:spPr>
              <a:xfrm>
                <a:off x="585788" y="3445907"/>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期限、大额冲击成本</a:t>
                </a:r>
              </a:p>
            </p:txBody>
          </p:sp>
          <p:sp>
            <p:nvSpPr>
              <p:cNvPr id="67" name="Rectangle 67"/>
              <p:cNvSpPr/>
              <p:nvPr/>
            </p:nvSpPr>
            <p:spPr>
              <a:xfrm>
                <a:off x="1428750" y="3152775"/>
                <a:ext cx="952500" cy="495300"/>
              </a:xfrm>
              <a:prstGeom prst="roundRect">
                <a:avLst>
                  <a:gd name="adj" fmla="val 7692"/>
                </a:avLst>
              </a:prstGeom>
              <a:solidFill>
                <a:srgbClr val="EEF5FB"/>
              </a:solidFill>
              <a:ln>
                <a:noFill/>
              </a:ln>
            </p:spPr>
          </p:sp>
          <p:sp>
            <p:nvSpPr>
              <p:cNvPr id="68" name="TextBox 68"/>
              <p:cNvSpPr txBox="1"/>
              <p:nvPr/>
            </p:nvSpPr>
            <p:spPr>
              <a:xfrm>
                <a:off x="1500188" y="3211830"/>
                <a:ext cx="332613" cy="119062"/>
              </a:xfrm>
              <a:prstGeom prst="rect">
                <a:avLst/>
              </a:prstGeom>
              <a:noFill/>
              <a:ln>
                <a:noFill/>
              </a:ln>
            </p:spPr>
            <p:txBody>
              <a:bodyPr wrap="none" lIns="0" tIns="0" rIns="0" bIns="0" anchor="t" anchorCtr="0">
                <a:spAutoFit/>
              </a:bodyPr>
              <a:lstStyle/>
              <a:p>
                <a:pPr algn="l"/>
                <a:r>
                  <a:rPr lang="zh-CN" sz="600" b="1" dirty="0">
                    <a:solidFill>
                      <a:srgbClr val="92301C"/>
                    </a:solidFill>
                    <a:latin typeface="+mn-lt"/>
                    <a:ea typeface="+mn-ea"/>
                    <a:cs typeface="+mn-cs"/>
                  </a:rPr>
                  <a:t>示例测算</a:t>
                </a:r>
              </a:p>
            </p:txBody>
          </p:sp>
          <p:sp>
            <p:nvSpPr>
              <p:cNvPr id="69" name="TextBox 69"/>
              <p:cNvSpPr txBox="1"/>
              <p:nvPr/>
            </p:nvSpPr>
            <p:spPr>
              <a:xfrm>
                <a:off x="1500188" y="3349228"/>
                <a:ext cx="842592"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T+3内变现比例≥80%​​​</a:t>
                </a:r>
              </a:p>
            </p:txBody>
          </p:sp>
          <p:sp>
            <p:nvSpPr>
              <p:cNvPr id="70" name="TextBox 70"/>
              <p:cNvSpPr txBox="1"/>
              <p:nvPr/>
            </p:nvSpPr>
            <p:spPr>
              <a:xfrm>
                <a:off x="1500188" y="3473053"/>
                <a:ext cx="799447"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单日冲击成本≤0.5%​​​</a:t>
                </a:r>
              </a:p>
            </p:txBody>
          </p:sp>
        </p:grpSp>
        <p:grpSp>
          <p:nvGrpSpPr>
            <p:cNvPr id="86" name="lc-5"/>
            <p:cNvGrpSpPr/>
            <p:nvPr/>
          </p:nvGrpSpPr>
          <p:grpSpPr>
            <a:xfrm>
              <a:off x="190500" y="3771900"/>
              <a:ext cx="2286000" cy="647700"/>
              <a:chOff x="190500" y="3771900"/>
              <a:chExt cx="2286000" cy="647700"/>
            </a:xfrm>
          </p:grpSpPr>
          <p:sp>
            <p:nvSpPr>
              <p:cNvPr id="72" name="Rectangle 72"/>
              <p:cNvSpPr/>
              <p:nvPr/>
            </p:nvSpPr>
            <p:spPr>
              <a:xfrm>
                <a:off x="190500" y="3771900"/>
                <a:ext cx="2286000" cy="647700"/>
              </a:xfrm>
              <a:prstGeom prst="roundRect">
                <a:avLst>
                  <a:gd name="adj" fmla="val 8824"/>
                </a:avLst>
              </a:prstGeom>
              <a:solidFill>
                <a:srgbClr val="F6F9FD"/>
              </a:solidFill>
              <a:ln w="9525">
                <a:solidFill>
                  <a:srgbClr val="CFDFEE"/>
                </a:solidFill>
              </a:ln>
            </p:spPr>
          </p:sp>
          <p:grpSp>
            <p:nvGrpSpPr>
              <p:cNvPr id="78" name="Group 78"/>
              <p:cNvGrpSpPr/>
              <p:nvPr/>
            </p:nvGrpSpPr>
            <p:grpSpPr>
              <a:xfrm>
                <a:off x="314325" y="3895725"/>
                <a:ext cx="171450" cy="171450"/>
                <a:chOff x="314325" y="3895725"/>
                <a:chExt cx="171450" cy="171450"/>
              </a:xfrm>
            </p:grpSpPr>
            <p:sp>
              <p:nvSpPr>
                <p:cNvPr id="73" name="Freeform 73"/>
                <p:cNvSpPr/>
                <p:nvPr/>
              </p:nvSpPr>
              <p:spPr>
                <a:xfrm>
                  <a:off x="352425" y="4057650"/>
                  <a:ext cx="95250" cy="9525"/>
                </a:xfrm>
                <a:custGeom>
                  <a:avLst/>
                  <a:gdLst/>
                  <a:ahLst/>
                  <a:cxnLst/>
                  <a:rect l="l" t="t" r="r" b="b"/>
                  <a:pathLst>
                    <a:path w="95250" h="9525">
                      <a:moveTo>
                        <a:pt x="0" y="0"/>
                      </a:moveTo>
                      <a:lnTo>
                        <a:pt x="95250" y="0"/>
                      </a:lnTo>
                    </a:path>
                  </a:pathLst>
                </a:custGeom>
                <a:noFill/>
                <a:ln w="19050">
                  <a:solidFill>
                    <a:srgbClr val="92301C"/>
                  </a:solidFill>
                </a:ln>
              </p:spPr>
            </p:sp>
            <p:sp>
              <p:nvSpPr>
                <p:cNvPr id="74" name="Freeform 74"/>
                <p:cNvSpPr/>
                <p:nvPr/>
              </p:nvSpPr>
              <p:spPr>
                <a:xfrm>
                  <a:off x="342900" y="3914775"/>
                  <a:ext cx="114300" cy="9525"/>
                </a:xfrm>
                <a:custGeom>
                  <a:avLst/>
                  <a:gdLst/>
                  <a:ahLst/>
                  <a:cxnLst/>
                  <a:rect l="l" t="t" r="r" b="b"/>
                  <a:pathLst>
                    <a:path w="114300" h="9525">
                      <a:moveTo>
                        <a:pt x="0" y="9525"/>
                      </a:moveTo>
                      <a:lnTo>
                        <a:pt x="57150" y="0"/>
                      </a:lnTo>
                      <a:lnTo>
                        <a:pt x="114300" y="9525"/>
                      </a:lnTo>
                    </a:path>
                  </a:pathLst>
                </a:custGeom>
                <a:noFill/>
                <a:ln w="19050">
                  <a:solidFill>
                    <a:srgbClr val="92301C"/>
                  </a:solidFill>
                </a:ln>
              </p:spPr>
            </p:sp>
            <p:sp>
              <p:nvSpPr>
                <p:cNvPr id="75" name="Freeform 75"/>
                <p:cNvSpPr/>
                <p:nvPr/>
              </p:nvSpPr>
              <p:spPr>
                <a:xfrm>
                  <a:off x="400050" y="3895725"/>
                  <a:ext cx="9525" cy="161925"/>
                </a:xfrm>
                <a:custGeom>
                  <a:avLst/>
                  <a:gdLst/>
                  <a:ahLst/>
                  <a:cxnLst/>
                  <a:rect l="l" t="t" r="r" b="b"/>
                  <a:pathLst>
                    <a:path w="9525" h="161925">
                      <a:moveTo>
                        <a:pt x="0" y="0"/>
                      </a:moveTo>
                      <a:lnTo>
                        <a:pt x="0" y="161925"/>
                      </a:lnTo>
                    </a:path>
                  </a:pathLst>
                </a:custGeom>
                <a:noFill/>
                <a:ln w="19050">
                  <a:solidFill>
                    <a:srgbClr val="92301C"/>
                  </a:solidFill>
                </a:ln>
              </p:spPr>
            </p:sp>
            <p:sp>
              <p:nvSpPr>
                <p:cNvPr id="76" name="Freeform 76"/>
                <p:cNvSpPr/>
                <p:nvPr/>
              </p:nvSpPr>
              <p:spPr>
                <a:xfrm>
                  <a:off x="314325" y="392430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92301C"/>
                  </a:solidFill>
                </a:ln>
              </p:spPr>
            </p:sp>
            <p:sp>
              <p:nvSpPr>
                <p:cNvPr id="77" name="Freeform 77"/>
                <p:cNvSpPr/>
                <p:nvPr/>
              </p:nvSpPr>
              <p:spPr>
                <a:xfrm>
                  <a:off x="428625" y="392430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92301C"/>
                  </a:solidFill>
                </a:ln>
              </p:spPr>
            </p:sp>
          </p:grpSp>
          <p:sp>
            <p:nvSpPr>
              <p:cNvPr id="79" name="TextBox 79"/>
              <p:cNvSpPr txBox="1"/>
              <p:nvPr/>
            </p:nvSpPr>
            <p:spPr>
              <a:xfrm>
                <a:off x="585788" y="38461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监管限制</a:t>
                </a:r>
              </a:p>
            </p:txBody>
          </p:sp>
          <p:sp>
            <p:nvSpPr>
              <p:cNvPr id="80" name="TextBox 80"/>
              <p:cNvSpPr txBox="1"/>
              <p:nvPr/>
            </p:nvSpPr>
            <p:spPr>
              <a:xfrm>
                <a:off x="585788" y="4045982"/>
                <a:ext cx="69877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法规与监管要求、</a:t>
                </a:r>
              </a:p>
            </p:txBody>
          </p:sp>
          <p:sp>
            <p:nvSpPr>
              <p:cNvPr id="81" name="TextBox 81"/>
              <p:cNvSpPr txBox="1"/>
              <p:nvPr/>
            </p:nvSpPr>
            <p:spPr>
              <a:xfrm>
                <a:off x="585788" y="4169807"/>
                <a:ext cx="108727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行业/比例限制、ESG约束　</a:t>
                </a:r>
              </a:p>
            </p:txBody>
          </p:sp>
          <p:sp>
            <p:nvSpPr>
              <p:cNvPr id="82" name="Rectangle 82"/>
              <p:cNvSpPr/>
              <p:nvPr/>
            </p:nvSpPr>
            <p:spPr>
              <a:xfrm>
                <a:off x="1428750" y="3848100"/>
                <a:ext cx="952500" cy="495300"/>
              </a:xfrm>
              <a:prstGeom prst="roundRect">
                <a:avLst>
                  <a:gd name="adj" fmla="val 7692"/>
                </a:avLst>
              </a:prstGeom>
              <a:solidFill>
                <a:srgbClr val="EEF5FB"/>
              </a:solidFill>
              <a:ln>
                <a:noFill/>
              </a:ln>
            </p:spPr>
          </p:sp>
          <p:sp>
            <p:nvSpPr>
              <p:cNvPr id="83" name="TextBox 83"/>
              <p:cNvSpPr txBox="1"/>
              <p:nvPr/>
            </p:nvSpPr>
            <p:spPr>
              <a:xfrm>
                <a:off x="1500188" y="3907155"/>
                <a:ext cx="332613" cy="119062"/>
              </a:xfrm>
              <a:prstGeom prst="rect">
                <a:avLst/>
              </a:prstGeom>
              <a:noFill/>
              <a:ln>
                <a:noFill/>
              </a:ln>
            </p:spPr>
            <p:txBody>
              <a:bodyPr wrap="none" lIns="0" tIns="0" rIns="0" bIns="0" anchor="t" anchorCtr="0">
                <a:spAutoFit/>
              </a:bodyPr>
              <a:lstStyle/>
              <a:p>
                <a:pPr algn="l"/>
                <a:r>
                  <a:rPr lang="zh-CN" sz="600" b="1" dirty="0">
                    <a:solidFill>
                      <a:srgbClr val="92301C"/>
                    </a:solidFill>
                    <a:latin typeface="+mn-lt"/>
                    <a:ea typeface="+mn-ea"/>
                    <a:cs typeface="+mn-cs"/>
                  </a:rPr>
                  <a:t>示例测算</a:t>
                </a:r>
              </a:p>
            </p:txBody>
          </p:sp>
          <p:sp>
            <p:nvSpPr>
              <p:cNvPr id="84" name="TextBox 84"/>
              <p:cNvSpPr txBox="1"/>
              <p:nvPr/>
            </p:nvSpPr>
            <p:spPr>
              <a:xfrm>
                <a:off x="1500188" y="4044553"/>
                <a:ext cx="627730"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单一行业≤30%​​​</a:t>
                </a:r>
              </a:p>
            </p:txBody>
          </p:sp>
          <p:sp>
            <p:nvSpPr>
              <p:cNvPr id="85" name="TextBox 85"/>
              <p:cNvSpPr txBox="1"/>
              <p:nvPr/>
            </p:nvSpPr>
            <p:spPr>
              <a:xfrm>
                <a:off x="1500188" y="4168378"/>
                <a:ext cx="905226"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符合适当性与ESG要求​​​</a:t>
                </a:r>
              </a:p>
            </p:txBody>
          </p:sp>
        </p:grpSp>
        <p:grpSp>
          <p:nvGrpSpPr>
            <p:cNvPr id="99" name="lc-6"/>
            <p:cNvGrpSpPr/>
            <p:nvPr/>
          </p:nvGrpSpPr>
          <p:grpSpPr>
            <a:xfrm>
              <a:off x="190500" y="4467225"/>
              <a:ext cx="2286000" cy="647700"/>
              <a:chOff x="190500" y="4467225"/>
              <a:chExt cx="2286000" cy="647700"/>
            </a:xfrm>
          </p:grpSpPr>
          <p:sp>
            <p:nvSpPr>
              <p:cNvPr id="87" name="Rectangle 87"/>
              <p:cNvSpPr/>
              <p:nvPr/>
            </p:nvSpPr>
            <p:spPr>
              <a:xfrm>
                <a:off x="190500" y="4467225"/>
                <a:ext cx="2286000" cy="647700"/>
              </a:xfrm>
              <a:prstGeom prst="roundRect">
                <a:avLst>
                  <a:gd name="adj" fmla="val 8824"/>
                </a:avLst>
              </a:prstGeom>
              <a:solidFill>
                <a:srgbClr val="F6F9FD"/>
              </a:solidFill>
              <a:ln w="9525">
                <a:solidFill>
                  <a:srgbClr val="CFDFEE"/>
                </a:solidFill>
              </a:ln>
            </p:spPr>
          </p:sp>
          <p:grpSp>
            <p:nvGrpSpPr>
              <p:cNvPr id="90" name="Group 90"/>
              <p:cNvGrpSpPr/>
              <p:nvPr/>
            </p:nvGrpSpPr>
            <p:grpSpPr>
              <a:xfrm>
                <a:off x="342900" y="4591050"/>
                <a:ext cx="114300" cy="171450"/>
                <a:chOff x="342900" y="4591050"/>
                <a:chExt cx="114300" cy="171450"/>
              </a:xfrm>
            </p:grpSpPr>
            <p:sp>
              <p:nvSpPr>
                <p:cNvPr id="88" name="Freeform 88"/>
                <p:cNvSpPr/>
                <p:nvPr/>
              </p:nvSpPr>
              <p:spPr>
                <a:xfrm>
                  <a:off x="361950" y="45910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92301C"/>
                  </a:solidFill>
                </a:ln>
              </p:spPr>
            </p:sp>
            <p:sp>
              <p:nvSpPr>
                <p:cNvPr id="89" name="Freeform 89"/>
                <p:cNvSpPr/>
                <p:nvPr/>
              </p:nvSpPr>
              <p:spPr>
                <a:xfrm>
                  <a:off x="342900" y="47053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92301C"/>
                  </a:solidFill>
                </a:ln>
              </p:spPr>
            </p:sp>
          </p:grpSp>
          <p:sp>
            <p:nvSpPr>
              <p:cNvPr id="91" name="TextBox 91"/>
              <p:cNvSpPr txBox="1"/>
              <p:nvPr/>
            </p:nvSpPr>
            <p:spPr>
              <a:xfrm>
                <a:off x="585788" y="45415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客户偏好</a:t>
                </a:r>
              </a:p>
            </p:txBody>
          </p:sp>
          <p:sp>
            <p:nvSpPr>
              <p:cNvPr id="92" name="TextBox 92"/>
              <p:cNvSpPr txBox="1"/>
              <p:nvPr/>
            </p:nvSpPr>
            <p:spPr>
              <a:xfrm>
                <a:off x="585788" y="4722257"/>
                <a:ext cx="87109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收益目标、风险偏好、</a:t>
                </a:r>
              </a:p>
            </p:txBody>
          </p:sp>
          <p:sp>
            <p:nvSpPr>
              <p:cNvPr id="93" name="TextBox 93"/>
              <p:cNvSpPr txBox="1"/>
              <p:nvPr/>
            </p:nvSpPr>
            <p:spPr>
              <a:xfrm>
                <a:off x="585788" y="4836557"/>
                <a:ext cx="656488"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ESG偏好、分红/</a:t>
                </a:r>
              </a:p>
            </p:txBody>
          </p:sp>
          <p:sp>
            <p:nvSpPr>
              <p:cNvPr id="94" name="TextBox 94"/>
              <p:cNvSpPr txBox="1"/>
              <p:nvPr/>
            </p:nvSpPr>
            <p:spPr>
              <a:xfrm>
                <a:off x="585788" y="4950857"/>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现金流需求</a:t>
                </a:r>
              </a:p>
            </p:txBody>
          </p:sp>
          <p:sp>
            <p:nvSpPr>
              <p:cNvPr id="95" name="Rectangle 95"/>
              <p:cNvSpPr/>
              <p:nvPr/>
            </p:nvSpPr>
            <p:spPr>
              <a:xfrm>
                <a:off x="1428750" y="4543425"/>
                <a:ext cx="952500" cy="495300"/>
              </a:xfrm>
              <a:prstGeom prst="roundRect">
                <a:avLst>
                  <a:gd name="adj" fmla="val 7692"/>
                </a:avLst>
              </a:prstGeom>
              <a:solidFill>
                <a:srgbClr val="EEF5FB"/>
              </a:solidFill>
              <a:ln>
                <a:noFill/>
              </a:ln>
            </p:spPr>
          </p:sp>
          <p:sp>
            <p:nvSpPr>
              <p:cNvPr id="96" name="TextBox 96"/>
              <p:cNvSpPr txBox="1"/>
              <p:nvPr/>
            </p:nvSpPr>
            <p:spPr>
              <a:xfrm>
                <a:off x="1500188" y="4602480"/>
                <a:ext cx="332613" cy="119062"/>
              </a:xfrm>
              <a:prstGeom prst="rect">
                <a:avLst/>
              </a:prstGeom>
              <a:noFill/>
              <a:ln>
                <a:noFill/>
              </a:ln>
            </p:spPr>
            <p:txBody>
              <a:bodyPr wrap="none" lIns="0" tIns="0" rIns="0" bIns="0" anchor="t" anchorCtr="0">
                <a:spAutoFit/>
              </a:bodyPr>
              <a:lstStyle/>
              <a:p>
                <a:pPr algn="l"/>
                <a:r>
                  <a:rPr lang="zh-CN" sz="600" b="1" dirty="0">
                    <a:solidFill>
                      <a:srgbClr val="92301C"/>
                    </a:solidFill>
                    <a:latin typeface="+mn-lt"/>
                    <a:ea typeface="+mn-ea"/>
                    <a:cs typeface="+mn-cs"/>
                  </a:rPr>
                  <a:t>示例测算</a:t>
                </a:r>
              </a:p>
            </p:txBody>
          </p:sp>
          <p:sp>
            <p:nvSpPr>
              <p:cNvPr id="97" name="TextBox 97"/>
              <p:cNvSpPr txBox="1"/>
              <p:nvPr/>
            </p:nvSpPr>
            <p:spPr>
              <a:xfrm>
                <a:off x="1500188" y="4739878"/>
                <a:ext cx="888027"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年化收益目标6%–10%​​​</a:t>
                </a:r>
              </a:p>
            </p:txBody>
          </p:sp>
          <p:sp>
            <p:nvSpPr>
              <p:cNvPr id="98" name="TextBox 98"/>
              <p:cNvSpPr txBox="1"/>
              <p:nvPr/>
            </p:nvSpPr>
            <p:spPr>
              <a:xfrm>
                <a:off x="1500188" y="4863703"/>
                <a:ext cx="829838"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偏好排序：ESG优先​​​</a:t>
                </a:r>
              </a:p>
            </p:txBody>
          </p:sp>
        </p:grpSp>
      </p:grpSp>
      <p:grpSp>
        <p:nvGrpSpPr>
          <p:cNvPr id="183" name="mid-chart"/>
          <p:cNvGrpSpPr/>
          <p:nvPr/>
        </p:nvGrpSpPr>
        <p:grpSpPr>
          <a:xfrm>
            <a:off x="2624138" y="1049893"/>
            <a:ext cx="3075822" cy="2890599"/>
            <a:chOff x="2624138" y="1049893"/>
            <a:chExt cx="3075822" cy="2890599"/>
          </a:xfrm>
        </p:grpSpPr>
        <p:sp>
          <p:nvSpPr>
            <p:cNvPr id="101" name="TextBox 101"/>
            <p:cNvSpPr txBox="1"/>
            <p:nvPr/>
          </p:nvSpPr>
          <p:spPr>
            <a:xfrm>
              <a:off x="2624138" y="1049893"/>
              <a:ext cx="1167257"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 xml:space="preserve">风险收益图（年化）　</a:t>
              </a:r>
            </a:p>
          </p:txBody>
        </p:sp>
        <p:sp>
          <p:nvSpPr>
            <p:cNvPr id="102" name="TextBox 102"/>
            <p:cNvSpPr txBox="1"/>
            <p:nvPr/>
          </p:nvSpPr>
          <p:spPr>
            <a:xfrm>
              <a:off x="2986088" y="1370886"/>
              <a:ext cx="487426" cy="140494"/>
            </a:xfrm>
            <a:prstGeom prst="rect">
              <a:avLst/>
            </a:prstGeom>
            <a:noFill/>
            <a:ln>
              <a:noFill/>
            </a:ln>
          </p:spPr>
          <p:txBody>
            <a:bodyPr wrap="none" lIns="0" tIns="0" rIns="0" bIns="0" anchor="t" anchorCtr="0">
              <a:spAutoFit/>
            </a:bodyPr>
            <a:lstStyle/>
            <a:p>
              <a:pPr algn="l"/>
              <a:r>
                <a:rPr lang="zh-CN" sz="710" b="1" dirty="0">
                  <a:solidFill>
                    <a:srgbClr val="52352F"/>
                  </a:solidFill>
                  <a:latin typeface="+mn-lt"/>
                  <a:ea typeface="+mn-ea"/>
                  <a:cs typeface="+mn-cs"/>
                </a:rPr>
                <a:t>预期收益率</a:t>
              </a:r>
            </a:p>
          </p:txBody>
        </p:sp>
        <p:grpSp>
          <p:nvGrpSpPr>
            <p:cNvPr id="117" name="mc-grid"/>
            <p:cNvGrpSpPr/>
            <p:nvPr/>
          </p:nvGrpSpPr>
          <p:grpSpPr>
            <a:xfrm>
              <a:off x="2952750" y="1285875"/>
              <a:ext cx="2676525" cy="2057400"/>
              <a:chOff x="2952750" y="1285875"/>
              <a:chExt cx="2676525" cy="2057400"/>
            </a:xfrm>
          </p:grpSpPr>
          <p:sp>
            <p:nvSpPr>
              <p:cNvPr id="103" name="Line 103"/>
              <p:cNvSpPr/>
              <p:nvPr/>
            </p:nvSpPr>
            <p:spPr>
              <a:xfrm>
                <a:off x="2952750" y="3333750"/>
                <a:ext cx="2667000" cy="9525"/>
              </a:xfrm>
              <a:custGeom>
                <a:avLst/>
                <a:gdLst/>
                <a:ahLst/>
                <a:cxnLst/>
                <a:rect l="l" t="t" r="r" b="b"/>
                <a:pathLst>
                  <a:path w="2667000" h="9525">
                    <a:moveTo>
                      <a:pt x="0" y="0"/>
                    </a:moveTo>
                    <a:lnTo>
                      <a:pt x="2667000" y="0"/>
                    </a:lnTo>
                  </a:path>
                </a:pathLst>
              </a:custGeom>
              <a:noFill/>
              <a:ln w="9525">
                <a:solidFill>
                  <a:srgbClr val="E4EDF5"/>
                </a:solidFill>
              </a:ln>
            </p:spPr>
          </p:sp>
          <p:sp>
            <p:nvSpPr>
              <p:cNvPr id="104" name="Line 104"/>
              <p:cNvSpPr/>
              <p:nvPr/>
            </p:nvSpPr>
            <p:spPr>
              <a:xfrm>
                <a:off x="2952750" y="3038475"/>
                <a:ext cx="2667000" cy="9525"/>
              </a:xfrm>
              <a:custGeom>
                <a:avLst/>
                <a:gdLst/>
                <a:ahLst/>
                <a:cxnLst/>
                <a:rect l="l" t="t" r="r" b="b"/>
                <a:pathLst>
                  <a:path w="2667000" h="9525">
                    <a:moveTo>
                      <a:pt x="0" y="0"/>
                    </a:moveTo>
                    <a:lnTo>
                      <a:pt x="2667000" y="0"/>
                    </a:lnTo>
                  </a:path>
                </a:pathLst>
              </a:custGeom>
              <a:noFill/>
              <a:ln w="9525">
                <a:solidFill>
                  <a:srgbClr val="E4EDF5"/>
                </a:solidFill>
              </a:ln>
            </p:spPr>
          </p:sp>
          <p:sp>
            <p:nvSpPr>
              <p:cNvPr id="105" name="Line 105"/>
              <p:cNvSpPr/>
              <p:nvPr/>
            </p:nvSpPr>
            <p:spPr>
              <a:xfrm>
                <a:off x="2952750" y="2752725"/>
                <a:ext cx="2667000" cy="9525"/>
              </a:xfrm>
              <a:custGeom>
                <a:avLst/>
                <a:gdLst/>
                <a:ahLst/>
                <a:cxnLst/>
                <a:rect l="l" t="t" r="r" b="b"/>
                <a:pathLst>
                  <a:path w="2667000" h="9525">
                    <a:moveTo>
                      <a:pt x="0" y="0"/>
                    </a:moveTo>
                    <a:lnTo>
                      <a:pt x="2667000" y="0"/>
                    </a:lnTo>
                  </a:path>
                </a:pathLst>
              </a:custGeom>
              <a:noFill/>
              <a:ln w="9525">
                <a:solidFill>
                  <a:srgbClr val="E4EDF5"/>
                </a:solidFill>
              </a:ln>
            </p:spPr>
          </p:sp>
          <p:sp>
            <p:nvSpPr>
              <p:cNvPr id="106" name="Line 106"/>
              <p:cNvSpPr/>
              <p:nvPr/>
            </p:nvSpPr>
            <p:spPr>
              <a:xfrm>
                <a:off x="2952750" y="2457450"/>
                <a:ext cx="2667000" cy="9525"/>
              </a:xfrm>
              <a:custGeom>
                <a:avLst/>
                <a:gdLst/>
                <a:ahLst/>
                <a:cxnLst/>
                <a:rect l="l" t="t" r="r" b="b"/>
                <a:pathLst>
                  <a:path w="2667000" h="9525">
                    <a:moveTo>
                      <a:pt x="0" y="0"/>
                    </a:moveTo>
                    <a:lnTo>
                      <a:pt x="2667000" y="0"/>
                    </a:lnTo>
                  </a:path>
                </a:pathLst>
              </a:custGeom>
              <a:noFill/>
              <a:ln w="9525">
                <a:solidFill>
                  <a:srgbClr val="E4EDF5"/>
                </a:solidFill>
              </a:ln>
            </p:spPr>
          </p:sp>
          <p:sp>
            <p:nvSpPr>
              <p:cNvPr id="107" name="Line 107"/>
              <p:cNvSpPr/>
              <p:nvPr/>
            </p:nvSpPr>
            <p:spPr>
              <a:xfrm>
                <a:off x="2952750" y="2162175"/>
                <a:ext cx="2667000" cy="9525"/>
              </a:xfrm>
              <a:custGeom>
                <a:avLst/>
                <a:gdLst/>
                <a:ahLst/>
                <a:cxnLst/>
                <a:rect l="l" t="t" r="r" b="b"/>
                <a:pathLst>
                  <a:path w="2667000" h="9525">
                    <a:moveTo>
                      <a:pt x="0" y="0"/>
                    </a:moveTo>
                    <a:lnTo>
                      <a:pt x="2667000" y="0"/>
                    </a:lnTo>
                  </a:path>
                </a:pathLst>
              </a:custGeom>
              <a:noFill/>
              <a:ln w="9525">
                <a:solidFill>
                  <a:srgbClr val="E4EDF5"/>
                </a:solidFill>
              </a:ln>
            </p:spPr>
          </p:sp>
          <p:sp>
            <p:nvSpPr>
              <p:cNvPr id="108" name="Line 108"/>
              <p:cNvSpPr/>
              <p:nvPr/>
            </p:nvSpPr>
            <p:spPr>
              <a:xfrm>
                <a:off x="2952750" y="1866900"/>
                <a:ext cx="2667000" cy="9525"/>
              </a:xfrm>
              <a:custGeom>
                <a:avLst/>
                <a:gdLst/>
                <a:ahLst/>
                <a:cxnLst/>
                <a:rect l="l" t="t" r="r" b="b"/>
                <a:pathLst>
                  <a:path w="2667000" h="9525">
                    <a:moveTo>
                      <a:pt x="0" y="0"/>
                    </a:moveTo>
                    <a:lnTo>
                      <a:pt x="2667000" y="0"/>
                    </a:lnTo>
                  </a:path>
                </a:pathLst>
              </a:custGeom>
              <a:noFill/>
              <a:ln w="9525">
                <a:solidFill>
                  <a:srgbClr val="E4EDF5"/>
                </a:solidFill>
              </a:ln>
            </p:spPr>
          </p:sp>
          <p:sp>
            <p:nvSpPr>
              <p:cNvPr id="109" name="Line 109"/>
              <p:cNvSpPr/>
              <p:nvPr/>
            </p:nvSpPr>
            <p:spPr>
              <a:xfrm>
                <a:off x="2952750" y="1581150"/>
                <a:ext cx="2667000" cy="9525"/>
              </a:xfrm>
              <a:custGeom>
                <a:avLst/>
                <a:gdLst/>
                <a:ahLst/>
                <a:cxnLst/>
                <a:rect l="l" t="t" r="r" b="b"/>
                <a:pathLst>
                  <a:path w="2667000" h="9525">
                    <a:moveTo>
                      <a:pt x="0" y="0"/>
                    </a:moveTo>
                    <a:lnTo>
                      <a:pt x="2667000" y="0"/>
                    </a:lnTo>
                  </a:path>
                </a:pathLst>
              </a:custGeom>
              <a:noFill/>
              <a:ln w="9525">
                <a:solidFill>
                  <a:srgbClr val="E4EDF5"/>
                </a:solidFill>
              </a:ln>
            </p:spPr>
          </p:sp>
          <p:sp>
            <p:nvSpPr>
              <p:cNvPr id="110" name="Line 110"/>
              <p:cNvSpPr/>
              <p:nvPr/>
            </p:nvSpPr>
            <p:spPr>
              <a:xfrm>
                <a:off x="2952750" y="1285875"/>
                <a:ext cx="2667000" cy="9525"/>
              </a:xfrm>
              <a:custGeom>
                <a:avLst/>
                <a:gdLst/>
                <a:ahLst/>
                <a:cxnLst/>
                <a:rect l="l" t="t" r="r" b="b"/>
                <a:pathLst>
                  <a:path w="2667000" h="9525">
                    <a:moveTo>
                      <a:pt x="0" y="0"/>
                    </a:moveTo>
                    <a:lnTo>
                      <a:pt x="2667000" y="0"/>
                    </a:lnTo>
                  </a:path>
                </a:pathLst>
              </a:custGeom>
              <a:noFill/>
              <a:ln w="9525">
                <a:solidFill>
                  <a:srgbClr val="E4EDF5"/>
                </a:solidFill>
              </a:ln>
            </p:spPr>
          </p:sp>
          <p:sp>
            <p:nvSpPr>
              <p:cNvPr id="111" name="Line 111"/>
              <p:cNvSpPr/>
              <p:nvPr/>
            </p:nvSpPr>
            <p:spPr>
              <a:xfrm>
                <a:off x="2952750" y="1285875"/>
                <a:ext cx="9525" cy="2047875"/>
              </a:xfrm>
              <a:custGeom>
                <a:avLst/>
                <a:gdLst/>
                <a:ahLst/>
                <a:cxnLst/>
                <a:rect l="l" t="t" r="r" b="b"/>
                <a:pathLst>
                  <a:path w="9525" h="2047875">
                    <a:moveTo>
                      <a:pt x="0" y="0"/>
                    </a:moveTo>
                    <a:lnTo>
                      <a:pt x="0" y="2047875"/>
                    </a:lnTo>
                  </a:path>
                </a:pathLst>
              </a:custGeom>
              <a:noFill/>
              <a:ln w="9525">
                <a:solidFill>
                  <a:srgbClr val="E4EDF5"/>
                </a:solidFill>
              </a:ln>
            </p:spPr>
          </p:sp>
          <p:sp>
            <p:nvSpPr>
              <p:cNvPr id="112" name="Line 112"/>
              <p:cNvSpPr/>
              <p:nvPr/>
            </p:nvSpPr>
            <p:spPr>
              <a:xfrm>
                <a:off x="3486150" y="1285875"/>
                <a:ext cx="9525" cy="2047875"/>
              </a:xfrm>
              <a:custGeom>
                <a:avLst/>
                <a:gdLst/>
                <a:ahLst/>
                <a:cxnLst/>
                <a:rect l="l" t="t" r="r" b="b"/>
                <a:pathLst>
                  <a:path w="9525" h="2047875">
                    <a:moveTo>
                      <a:pt x="0" y="0"/>
                    </a:moveTo>
                    <a:lnTo>
                      <a:pt x="0" y="2047875"/>
                    </a:lnTo>
                  </a:path>
                </a:pathLst>
              </a:custGeom>
              <a:noFill/>
              <a:ln w="9525">
                <a:solidFill>
                  <a:srgbClr val="E4EDF5"/>
                </a:solidFill>
              </a:ln>
            </p:spPr>
          </p:sp>
          <p:sp>
            <p:nvSpPr>
              <p:cNvPr id="113" name="Line 113"/>
              <p:cNvSpPr/>
              <p:nvPr/>
            </p:nvSpPr>
            <p:spPr>
              <a:xfrm>
                <a:off x="4019550" y="1285875"/>
                <a:ext cx="9525" cy="2047875"/>
              </a:xfrm>
              <a:custGeom>
                <a:avLst/>
                <a:gdLst/>
                <a:ahLst/>
                <a:cxnLst/>
                <a:rect l="l" t="t" r="r" b="b"/>
                <a:pathLst>
                  <a:path w="9525" h="2047875">
                    <a:moveTo>
                      <a:pt x="0" y="0"/>
                    </a:moveTo>
                    <a:lnTo>
                      <a:pt x="0" y="2047875"/>
                    </a:lnTo>
                  </a:path>
                </a:pathLst>
              </a:custGeom>
              <a:noFill/>
              <a:ln w="9525">
                <a:solidFill>
                  <a:srgbClr val="E4EDF5"/>
                </a:solidFill>
              </a:ln>
            </p:spPr>
          </p:sp>
          <p:sp>
            <p:nvSpPr>
              <p:cNvPr id="114" name="Line 114"/>
              <p:cNvSpPr/>
              <p:nvPr/>
            </p:nvSpPr>
            <p:spPr>
              <a:xfrm>
                <a:off x="4552950" y="1285875"/>
                <a:ext cx="9525" cy="2047875"/>
              </a:xfrm>
              <a:custGeom>
                <a:avLst/>
                <a:gdLst/>
                <a:ahLst/>
                <a:cxnLst/>
                <a:rect l="l" t="t" r="r" b="b"/>
                <a:pathLst>
                  <a:path w="9525" h="2047875">
                    <a:moveTo>
                      <a:pt x="0" y="0"/>
                    </a:moveTo>
                    <a:lnTo>
                      <a:pt x="0" y="2047875"/>
                    </a:lnTo>
                  </a:path>
                </a:pathLst>
              </a:custGeom>
              <a:noFill/>
              <a:ln w="9525">
                <a:solidFill>
                  <a:srgbClr val="E4EDF5"/>
                </a:solidFill>
              </a:ln>
            </p:spPr>
          </p:sp>
          <p:sp>
            <p:nvSpPr>
              <p:cNvPr id="115" name="Line 115"/>
              <p:cNvSpPr/>
              <p:nvPr/>
            </p:nvSpPr>
            <p:spPr>
              <a:xfrm>
                <a:off x="5086350" y="1285875"/>
                <a:ext cx="9525" cy="2047875"/>
              </a:xfrm>
              <a:custGeom>
                <a:avLst/>
                <a:gdLst/>
                <a:ahLst/>
                <a:cxnLst/>
                <a:rect l="l" t="t" r="r" b="b"/>
                <a:pathLst>
                  <a:path w="9525" h="2047875">
                    <a:moveTo>
                      <a:pt x="0" y="0"/>
                    </a:moveTo>
                    <a:lnTo>
                      <a:pt x="0" y="2047875"/>
                    </a:lnTo>
                  </a:path>
                </a:pathLst>
              </a:custGeom>
              <a:noFill/>
              <a:ln w="9525">
                <a:solidFill>
                  <a:srgbClr val="E4EDF5"/>
                </a:solidFill>
              </a:ln>
            </p:spPr>
          </p:sp>
          <p:sp>
            <p:nvSpPr>
              <p:cNvPr id="116" name="Line 116"/>
              <p:cNvSpPr/>
              <p:nvPr/>
            </p:nvSpPr>
            <p:spPr>
              <a:xfrm>
                <a:off x="5619750" y="1285875"/>
                <a:ext cx="9525" cy="2047875"/>
              </a:xfrm>
              <a:custGeom>
                <a:avLst/>
                <a:gdLst/>
                <a:ahLst/>
                <a:cxnLst/>
                <a:rect l="l" t="t" r="r" b="b"/>
                <a:pathLst>
                  <a:path w="9525" h="2047875">
                    <a:moveTo>
                      <a:pt x="0" y="0"/>
                    </a:moveTo>
                    <a:lnTo>
                      <a:pt x="0" y="2047875"/>
                    </a:lnTo>
                  </a:path>
                </a:pathLst>
              </a:custGeom>
              <a:noFill/>
              <a:ln w="9525">
                <a:solidFill>
                  <a:srgbClr val="E4EDF5"/>
                </a:solidFill>
              </a:ln>
            </p:spPr>
          </p:sp>
        </p:grpSp>
        <p:grpSp>
          <p:nvGrpSpPr>
            <p:cNvPr id="126" name="mc-ylabels"/>
            <p:cNvGrpSpPr/>
            <p:nvPr/>
          </p:nvGrpSpPr>
          <p:grpSpPr>
            <a:xfrm>
              <a:off x="2749467" y="1253728"/>
              <a:ext cx="160421" cy="2159794"/>
              <a:chOff x="2749467" y="1253728"/>
              <a:chExt cx="160421" cy="2159794"/>
            </a:xfrm>
          </p:grpSpPr>
          <p:sp>
            <p:nvSpPr>
              <p:cNvPr id="118" name="TextBox 118"/>
              <p:cNvSpPr txBox="1"/>
              <p:nvPr/>
            </p:nvSpPr>
            <p:spPr>
              <a:xfrm>
                <a:off x="2791398" y="3301603"/>
                <a:ext cx="11849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0%</a:t>
                </a:r>
              </a:p>
            </p:txBody>
          </p:sp>
          <p:sp>
            <p:nvSpPr>
              <p:cNvPr id="119" name="TextBox 119"/>
              <p:cNvSpPr txBox="1"/>
              <p:nvPr/>
            </p:nvSpPr>
            <p:spPr>
              <a:xfrm>
                <a:off x="2791398" y="3006328"/>
                <a:ext cx="11849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2%</a:t>
                </a:r>
              </a:p>
            </p:txBody>
          </p:sp>
          <p:sp>
            <p:nvSpPr>
              <p:cNvPr id="120" name="TextBox 120"/>
              <p:cNvSpPr txBox="1"/>
              <p:nvPr/>
            </p:nvSpPr>
            <p:spPr>
              <a:xfrm>
                <a:off x="2791398" y="2720578"/>
                <a:ext cx="11849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4%</a:t>
                </a:r>
              </a:p>
            </p:txBody>
          </p:sp>
          <p:sp>
            <p:nvSpPr>
              <p:cNvPr id="121" name="TextBox 121"/>
              <p:cNvSpPr txBox="1"/>
              <p:nvPr/>
            </p:nvSpPr>
            <p:spPr>
              <a:xfrm>
                <a:off x="2791398" y="2425303"/>
                <a:ext cx="11849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6%</a:t>
                </a:r>
              </a:p>
            </p:txBody>
          </p:sp>
          <p:sp>
            <p:nvSpPr>
              <p:cNvPr id="122" name="TextBox 122"/>
              <p:cNvSpPr txBox="1"/>
              <p:nvPr/>
            </p:nvSpPr>
            <p:spPr>
              <a:xfrm>
                <a:off x="2791398" y="2130028"/>
                <a:ext cx="11849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8%</a:t>
                </a:r>
              </a:p>
            </p:txBody>
          </p:sp>
          <p:sp>
            <p:nvSpPr>
              <p:cNvPr id="123" name="TextBox 123"/>
              <p:cNvSpPr txBox="1"/>
              <p:nvPr/>
            </p:nvSpPr>
            <p:spPr>
              <a:xfrm>
                <a:off x="2749467" y="1834753"/>
                <a:ext cx="16042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10%</a:t>
                </a:r>
              </a:p>
            </p:txBody>
          </p:sp>
          <p:sp>
            <p:nvSpPr>
              <p:cNvPr id="124" name="TextBox 124"/>
              <p:cNvSpPr txBox="1"/>
              <p:nvPr/>
            </p:nvSpPr>
            <p:spPr>
              <a:xfrm>
                <a:off x="2749467" y="1549003"/>
                <a:ext cx="16042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12%</a:t>
                </a:r>
              </a:p>
            </p:txBody>
          </p:sp>
          <p:sp>
            <p:nvSpPr>
              <p:cNvPr id="125" name="TextBox 125"/>
              <p:cNvSpPr txBox="1"/>
              <p:nvPr/>
            </p:nvSpPr>
            <p:spPr>
              <a:xfrm>
                <a:off x="2749467" y="1253728"/>
                <a:ext cx="16042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14%</a:t>
                </a:r>
              </a:p>
            </p:txBody>
          </p:sp>
        </p:grpSp>
        <p:grpSp>
          <p:nvGrpSpPr>
            <p:cNvPr id="133" name="mc-xlabels"/>
            <p:cNvGrpSpPr/>
            <p:nvPr/>
          </p:nvGrpSpPr>
          <p:grpSpPr>
            <a:xfrm>
              <a:off x="2893505" y="3387328"/>
              <a:ext cx="2806455" cy="111919"/>
              <a:chOff x="2893505" y="3387328"/>
              <a:chExt cx="2806455" cy="111919"/>
            </a:xfrm>
          </p:grpSpPr>
          <p:sp>
            <p:nvSpPr>
              <p:cNvPr id="127" name="TextBox 127"/>
              <p:cNvSpPr txBox="1"/>
              <p:nvPr/>
            </p:nvSpPr>
            <p:spPr>
              <a:xfrm>
                <a:off x="2893505" y="3387328"/>
                <a:ext cx="118490"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0%</a:t>
                </a:r>
              </a:p>
            </p:txBody>
          </p:sp>
          <p:sp>
            <p:nvSpPr>
              <p:cNvPr id="128" name="TextBox 128"/>
              <p:cNvSpPr txBox="1"/>
              <p:nvPr/>
            </p:nvSpPr>
            <p:spPr>
              <a:xfrm>
                <a:off x="3426905" y="3387328"/>
                <a:ext cx="118490"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5%</a:t>
                </a:r>
              </a:p>
            </p:txBody>
          </p:sp>
          <p:sp>
            <p:nvSpPr>
              <p:cNvPr id="129" name="TextBox 129"/>
              <p:cNvSpPr txBox="1"/>
              <p:nvPr/>
            </p:nvSpPr>
            <p:spPr>
              <a:xfrm>
                <a:off x="3939340" y="3387328"/>
                <a:ext cx="160420"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10%</a:t>
                </a:r>
              </a:p>
            </p:txBody>
          </p:sp>
          <p:sp>
            <p:nvSpPr>
              <p:cNvPr id="130" name="TextBox 130"/>
              <p:cNvSpPr txBox="1"/>
              <p:nvPr/>
            </p:nvSpPr>
            <p:spPr>
              <a:xfrm>
                <a:off x="4472740" y="3387328"/>
                <a:ext cx="160420"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15%</a:t>
                </a:r>
              </a:p>
            </p:txBody>
          </p:sp>
          <p:sp>
            <p:nvSpPr>
              <p:cNvPr id="131" name="TextBox 131"/>
              <p:cNvSpPr txBox="1"/>
              <p:nvPr/>
            </p:nvSpPr>
            <p:spPr>
              <a:xfrm>
                <a:off x="5006140" y="3387328"/>
                <a:ext cx="160420"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20%</a:t>
                </a:r>
              </a:p>
            </p:txBody>
          </p:sp>
          <p:sp>
            <p:nvSpPr>
              <p:cNvPr id="132" name="TextBox 132"/>
              <p:cNvSpPr txBox="1"/>
              <p:nvPr/>
            </p:nvSpPr>
            <p:spPr>
              <a:xfrm>
                <a:off x="5539540" y="3387328"/>
                <a:ext cx="160420"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25%</a:t>
                </a:r>
              </a:p>
            </p:txBody>
          </p:sp>
        </p:grpSp>
        <p:sp>
          <p:nvSpPr>
            <p:cNvPr id="134" name="TextBox 134"/>
            <p:cNvSpPr txBox="1"/>
            <p:nvPr/>
          </p:nvSpPr>
          <p:spPr>
            <a:xfrm>
              <a:off x="5137086" y="3523536"/>
              <a:ext cx="487426" cy="140494"/>
            </a:xfrm>
            <a:prstGeom prst="rect">
              <a:avLst/>
            </a:prstGeom>
            <a:noFill/>
            <a:ln>
              <a:noFill/>
            </a:ln>
          </p:spPr>
          <p:txBody>
            <a:bodyPr wrap="none" lIns="0" tIns="0" rIns="0" bIns="0" anchor="t" anchorCtr="0">
              <a:spAutoFit/>
            </a:bodyPr>
            <a:lstStyle/>
            <a:p>
              <a:pPr algn="r"/>
              <a:r>
                <a:rPr lang="zh-CN" sz="710" b="1" dirty="0">
                  <a:solidFill>
                    <a:srgbClr val="52352F"/>
                  </a:solidFill>
                  <a:latin typeface="+mn-lt"/>
                  <a:ea typeface="+mn-ea"/>
                  <a:cs typeface="+mn-cs"/>
                </a:rPr>
                <a:t>年化波动率</a:t>
              </a:r>
            </a:p>
          </p:txBody>
        </p:sp>
        <p:grpSp>
          <p:nvGrpSpPr>
            <p:cNvPr id="160" name="mc-dots"/>
            <p:cNvGrpSpPr/>
            <p:nvPr/>
          </p:nvGrpSpPr>
          <p:grpSpPr>
            <a:xfrm>
              <a:off x="3252788" y="1643062"/>
              <a:ext cx="1962149" cy="1390651"/>
              <a:chOff x="3252788" y="1643062"/>
              <a:chExt cx="1962149" cy="1390651"/>
            </a:xfrm>
          </p:grpSpPr>
          <p:sp>
            <p:nvSpPr>
              <p:cNvPr id="135" name="Ellipse 135"/>
              <p:cNvSpPr/>
              <p:nvPr/>
            </p:nvSpPr>
            <p:spPr>
              <a:xfrm>
                <a:off x="3252788" y="2986088"/>
                <a:ext cx="47625" cy="47625"/>
              </a:xfrm>
              <a:prstGeom prst="ellipse">
                <a:avLst/>
              </a:prstGeom>
              <a:solidFill>
                <a:srgbClr val="E3B3A9"/>
              </a:solidFill>
              <a:ln>
                <a:noFill/>
              </a:ln>
            </p:spPr>
          </p:sp>
          <p:sp>
            <p:nvSpPr>
              <p:cNvPr id="136" name="Ellipse 136"/>
              <p:cNvSpPr/>
              <p:nvPr/>
            </p:nvSpPr>
            <p:spPr>
              <a:xfrm>
                <a:off x="3357562" y="2871788"/>
                <a:ext cx="47625" cy="47625"/>
              </a:xfrm>
              <a:prstGeom prst="ellipse">
                <a:avLst/>
              </a:prstGeom>
              <a:solidFill>
                <a:srgbClr val="E3B3A9"/>
              </a:solidFill>
              <a:ln>
                <a:noFill/>
              </a:ln>
            </p:spPr>
          </p:sp>
          <p:sp>
            <p:nvSpPr>
              <p:cNvPr id="137" name="Ellipse 137"/>
              <p:cNvSpPr/>
              <p:nvPr/>
            </p:nvSpPr>
            <p:spPr>
              <a:xfrm>
                <a:off x="3462338" y="2786062"/>
                <a:ext cx="47625" cy="47625"/>
              </a:xfrm>
              <a:prstGeom prst="ellipse">
                <a:avLst/>
              </a:prstGeom>
              <a:solidFill>
                <a:srgbClr val="E3B3A9"/>
              </a:solidFill>
              <a:ln>
                <a:noFill/>
              </a:ln>
            </p:spPr>
          </p:sp>
          <p:sp>
            <p:nvSpPr>
              <p:cNvPr id="138" name="Ellipse 138"/>
              <p:cNvSpPr/>
              <p:nvPr/>
            </p:nvSpPr>
            <p:spPr>
              <a:xfrm>
                <a:off x="3462338" y="2700338"/>
                <a:ext cx="47625" cy="47625"/>
              </a:xfrm>
              <a:prstGeom prst="ellipse">
                <a:avLst/>
              </a:prstGeom>
              <a:solidFill>
                <a:srgbClr val="E3B3A9"/>
              </a:solidFill>
              <a:ln>
                <a:noFill/>
              </a:ln>
            </p:spPr>
          </p:sp>
          <p:sp>
            <p:nvSpPr>
              <p:cNvPr id="139" name="Ellipse 139"/>
              <p:cNvSpPr/>
              <p:nvPr/>
            </p:nvSpPr>
            <p:spPr>
              <a:xfrm>
                <a:off x="3567112" y="2728912"/>
                <a:ext cx="47625" cy="47625"/>
              </a:xfrm>
              <a:prstGeom prst="ellipse">
                <a:avLst/>
              </a:prstGeom>
              <a:solidFill>
                <a:srgbClr val="E3B3A9"/>
              </a:solidFill>
              <a:ln>
                <a:noFill/>
              </a:ln>
            </p:spPr>
          </p:sp>
          <p:sp>
            <p:nvSpPr>
              <p:cNvPr id="140" name="Ellipse 140"/>
              <p:cNvSpPr/>
              <p:nvPr/>
            </p:nvSpPr>
            <p:spPr>
              <a:xfrm>
                <a:off x="3671888" y="2633662"/>
                <a:ext cx="47625" cy="47625"/>
              </a:xfrm>
              <a:prstGeom prst="ellipse">
                <a:avLst/>
              </a:prstGeom>
              <a:solidFill>
                <a:srgbClr val="E3B3A9"/>
              </a:solidFill>
              <a:ln>
                <a:noFill/>
              </a:ln>
            </p:spPr>
          </p:sp>
          <p:sp>
            <p:nvSpPr>
              <p:cNvPr id="141" name="Ellipse 141"/>
              <p:cNvSpPr/>
              <p:nvPr/>
            </p:nvSpPr>
            <p:spPr>
              <a:xfrm>
                <a:off x="3671888" y="2547938"/>
                <a:ext cx="47625" cy="47625"/>
              </a:xfrm>
              <a:prstGeom prst="ellipse">
                <a:avLst/>
              </a:prstGeom>
              <a:solidFill>
                <a:srgbClr val="E3B3A9"/>
              </a:solidFill>
              <a:ln>
                <a:noFill/>
              </a:ln>
            </p:spPr>
          </p:sp>
          <p:sp>
            <p:nvSpPr>
              <p:cNvPr id="142" name="Ellipse 142"/>
              <p:cNvSpPr/>
              <p:nvPr/>
            </p:nvSpPr>
            <p:spPr>
              <a:xfrm>
                <a:off x="3786188" y="2576512"/>
                <a:ext cx="47625" cy="47625"/>
              </a:xfrm>
              <a:prstGeom prst="ellipse">
                <a:avLst/>
              </a:prstGeom>
              <a:solidFill>
                <a:srgbClr val="E3B3A9"/>
              </a:solidFill>
              <a:ln>
                <a:noFill/>
              </a:ln>
            </p:spPr>
          </p:sp>
          <p:sp>
            <p:nvSpPr>
              <p:cNvPr id="143" name="Ellipse 143"/>
              <p:cNvSpPr/>
              <p:nvPr/>
            </p:nvSpPr>
            <p:spPr>
              <a:xfrm>
                <a:off x="3786188" y="2462212"/>
                <a:ext cx="47625" cy="47625"/>
              </a:xfrm>
              <a:prstGeom prst="ellipse">
                <a:avLst/>
              </a:prstGeom>
              <a:solidFill>
                <a:srgbClr val="E3B3A9"/>
              </a:solidFill>
              <a:ln>
                <a:noFill/>
              </a:ln>
            </p:spPr>
          </p:sp>
          <p:sp>
            <p:nvSpPr>
              <p:cNvPr id="144" name="Ellipse 144"/>
              <p:cNvSpPr/>
              <p:nvPr/>
            </p:nvSpPr>
            <p:spPr>
              <a:xfrm>
                <a:off x="3890962" y="2490788"/>
                <a:ext cx="47625" cy="47625"/>
              </a:xfrm>
              <a:prstGeom prst="ellipse">
                <a:avLst/>
              </a:prstGeom>
              <a:solidFill>
                <a:srgbClr val="E3B3A9"/>
              </a:solidFill>
              <a:ln>
                <a:noFill/>
              </a:ln>
            </p:spPr>
          </p:sp>
          <p:sp>
            <p:nvSpPr>
              <p:cNvPr id="145" name="Ellipse 145"/>
              <p:cNvSpPr/>
              <p:nvPr/>
            </p:nvSpPr>
            <p:spPr>
              <a:xfrm>
                <a:off x="3890962" y="2376488"/>
                <a:ext cx="47625" cy="47625"/>
              </a:xfrm>
              <a:prstGeom prst="ellipse">
                <a:avLst/>
              </a:prstGeom>
              <a:solidFill>
                <a:srgbClr val="E3B3A9"/>
              </a:solidFill>
              <a:ln>
                <a:noFill/>
              </a:ln>
            </p:spPr>
          </p:sp>
          <p:sp>
            <p:nvSpPr>
              <p:cNvPr id="146" name="Ellipse 146"/>
              <p:cNvSpPr/>
              <p:nvPr/>
            </p:nvSpPr>
            <p:spPr>
              <a:xfrm>
                <a:off x="3995738" y="2405062"/>
                <a:ext cx="47625" cy="47625"/>
              </a:xfrm>
              <a:prstGeom prst="ellipse">
                <a:avLst/>
              </a:prstGeom>
              <a:solidFill>
                <a:srgbClr val="E3B3A9"/>
              </a:solidFill>
              <a:ln>
                <a:noFill/>
              </a:ln>
            </p:spPr>
          </p:sp>
          <p:sp>
            <p:nvSpPr>
              <p:cNvPr id="147" name="Ellipse 147"/>
              <p:cNvSpPr/>
              <p:nvPr/>
            </p:nvSpPr>
            <p:spPr>
              <a:xfrm>
                <a:off x="4100512" y="2281238"/>
                <a:ext cx="47625" cy="47625"/>
              </a:xfrm>
              <a:prstGeom prst="ellipse">
                <a:avLst/>
              </a:prstGeom>
              <a:solidFill>
                <a:srgbClr val="E3B3A9"/>
              </a:solidFill>
              <a:ln>
                <a:noFill/>
              </a:ln>
            </p:spPr>
          </p:sp>
          <p:sp>
            <p:nvSpPr>
              <p:cNvPr id="148" name="Ellipse 148"/>
              <p:cNvSpPr/>
              <p:nvPr/>
            </p:nvSpPr>
            <p:spPr>
              <a:xfrm>
                <a:off x="4100512" y="2166938"/>
                <a:ext cx="47625" cy="47625"/>
              </a:xfrm>
              <a:prstGeom prst="ellipse">
                <a:avLst/>
              </a:prstGeom>
              <a:solidFill>
                <a:srgbClr val="E3B3A9"/>
              </a:solidFill>
              <a:ln>
                <a:noFill/>
              </a:ln>
            </p:spPr>
          </p:sp>
          <p:sp>
            <p:nvSpPr>
              <p:cNvPr id="149" name="Ellipse 149"/>
              <p:cNvSpPr/>
              <p:nvPr/>
            </p:nvSpPr>
            <p:spPr>
              <a:xfrm>
                <a:off x="4205288" y="2224088"/>
                <a:ext cx="47625" cy="47625"/>
              </a:xfrm>
              <a:prstGeom prst="ellipse">
                <a:avLst/>
              </a:prstGeom>
              <a:solidFill>
                <a:srgbClr val="E3B3A9"/>
              </a:solidFill>
              <a:ln>
                <a:noFill/>
              </a:ln>
            </p:spPr>
          </p:sp>
          <p:sp>
            <p:nvSpPr>
              <p:cNvPr id="150" name="Ellipse 150"/>
              <p:cNvSpPr/>
              <p:nvPr/>
            </p:nvSpPr>
            <p:spPr>
              <a:xfrm>
                <a:off x="4319588" y="2109788"/>
                <a:ext cx="47625" cy="47625"/>
              </a:xfrm>
              <a:prstGeom prst="ellipse">
                <a:avLst/>
              </a:prstGeom>
              <a:solidFill>
                <a:srgbClr val="E3B3A9"/>
              </a:solidFill>
              <a:ln>
                <a:noFill/>
              </a:ln>
            </p:spPr>
          </p:sp>
          <p:sp>
            <p:nvSpPr>
              <p:cNvPr id="151" name="Ellipse 151"/>
              <p:cNvSpPr/>
              <p:nvPr/>
            </p:nvSpPr>
            <p:spPr>
              <a:xfrm>
                <a:off x="4319588" y="1995488"/>
                <a:ext cx="47625" cy="47625"/>
              </a:xfrm>
              <a:prstGeom prst="ellipse">
                <a:avLst/>
              </a:prstGeom>
              <a:solidFill>
                <a:srgbClr val="E3B3A9"/>
              </a:solidFill>
              <a:ln>
                <a:noFill/>
              </a:ln>
            </p:spPr>
          </p:sp>
          <p:sp>
            <p:nvSpPr>
              <p:cNvPr id="152" name="Ellipse 152"/>
              <p:cNvSpPr/>
              <p:nvPr/>
            </p:nvSpPr>
            <p:spPr>
              <a:xfrm>
                <a:off x="4424362" y="2052638"/>
                <a:ext cx="47625" cy="47625"/>
              </a:xfrm>
              <a:prstGeom prst="ellipse">
                <a:avLst/>
              </a:prstGeom>
              <a:solidFill>
                <a:srgbClr val="E3B3A9"/>
              </a:solidFill>
              <a:ln>
                <a:noFill/>
              </a:ln>
            </p:spPr>
          </p:sp>
          <p:sp>
            <p:nvSpPr>
              <p:cNvPr id="153" name="Ellipse 153"/>
              <p:cNvSpPr/>
              <p:nvPr/>
            </p:nvSpPr>
            <p:spPr>
              <a:xfrm>
                <a:off x="4529138" y="1938338"/>
                <a:ext cx="47625" cy="47625"/>
              </a:xfrm>
              <a:prstGeom prst="ellipse">
                <a:avLst/>
              </a:prstGeom>
              <a:solidFill>
                <a:srgbClr val="E3B3A9"/>
              </a:solidFill>
              <a:ln>
                <a:noFill/>
              </a:ln>
            </p:spPr>
          </p:sp>
          <p:sp>
            <p:nvSpPr>
              <p:cNvPr id="154" name="Ellipse 154"/>
              <p:cNvSpPr/>
              <p:nvPr/>
            </p:nvSpPr>
            <p:spPr>
              <a:xfrm>
                <a:off x="4633912" y="1871662"/>
                <a:ext cx="47625" cy="47625"/>
              </a:xfrm>
              <a:prstGeom prst="ellipse">
                <a:avLst/>
              </a:prstGeom>
              <a:solidFill>
                <a:srgbClr val="E3B3A9"/>
              </a:solidFill>
              <a:ln>
                <a:noFill/>
              </a:ln>
            </p:spPr>
          </p:sp>
          <p:sp>
            <p:nvSpPr>
              <p:cNvPr id="155" name="Ellipse 155"/>
              <p:cNvSpPr/>
              <p:nvPr/>
            </p:nvSpPr>
            <p:spPr>
              <a:xfrm>
                <a:off x="4633912" y="1757362"/>
                <a:ext cx="47625" cy="47625"/>
              </a:xfrm>
              <a:prstGeom prst="ellipse">
                <a:avLst/>
              </a:prstGeom>
              <a:solidFill>
                <a:srgbClr val="E3B3A9"/>
              </a:solidFill>
              <a:ln>
                <a:noFill/>
              </a:ln>
            </p:spPr>
          </p:sp>
          <p:sp>
            <p:nvSpPr>
              <p:cNvPr id="156" name="Ellipse 156"/>
              <p:cNvSpPr/>
              <p:nvPr/>
            </p:nvSpPr>
            <p:spPr>
              <a:xfrm>
                <a:off x="4738688" y="1814512"/>
                <a:ext cx="47625" cy="47625"/>
              </a:xfrm>
              <a:prstGeom prst="ellipse">
                <a:avLst/>
              </a:prstGeom>
              <a:solidFill>
                <a:srgbClr val="E3B3A9"/>
              </a:solidFill>
              <a:ln>
                <a:noFill/>
              </a:ln>
            </p:spPr>
          </p:sp>
          <p:sp>
            <p:nvSpPr>
              <p:cNvPr id="157" name="Ellipse 157"/>
              <p:cNvSpPr/>
              <p:nvPr/>
            </p:nvSpPr>
            <p:spPr>
              <a:xfrm>
                <a:off x="4957762" y="1728788"/>
                <a:ext cx="47625" cy="47625"/>
              </a:xfrm>
              <a:prstGeom prst="ellipse">
                <a:avLst/>
              </a:prstGeom>
              <a:solidFill>
                <a:srgbClr val="E3B3A9"/>
              </a:solidFill>
              <a:ln>
                <a:noFill/>
              </a:ln>
            </p:spPr>
          </p:sp>
          <p:sp>
            <p:nvSpPr>
              <p:cNvPr id="158" name="Ellipse 158"/>
              <p:cNvSpPr/>
              <p:nvPr/>
            </p:nvSpPr>
            <p:spPr>
              <a:xfrm>
                <a:off x="5062538" y="1643062"/>
                <a:ext cx="47625" cy="47625"/>
              </a:xfrm>
              <a:prstGeom prst="ellipse">
                <a:avLst/>
              </a:prstGeom>
              <a:solidFill>
                <a:srgbClr val="E3B3A9"/>
              </a:solidFill>
              <a:ln>
                <a:noFill/>
              </a:ln>
            </p:spPr>
          </p:sp>
          <p:sp>
            <p:nvSpPr>
              <p:cNvPr id="159" name="Ellipse 159"/>
              <p:cNvSpPr/>
              <p:nvPr/>
            </p:nvSpPr>
            <p:spPr>
              <a:xfrm>
                <a:off x="5167312" y="1700212"/>
                <a:ext cx="47625" cy="47625"/>
              </a:xfrm>
              <a:prstGeom prst="ellipse">
                <a:avLst/>
              </a:prstGeom>
              <a:solidFill>
                <a:srgbClr val="E3B3A9"/>
              </a:solidFill>
              <a:ln>
                <a:noFill/>
              </a:ln>
            </p:spPr>
          </p:sp>
        </p:grpSp>
        <p:sp>
          <p:nvSpPr>
            <p:cNvPr id="161" name="Freeform 161"/>
            <p:cNvSpPr/>
            <p:nvPr/>
          </p:nvSpPr>
          <p:spPr>
            <a:xfrm>
              <a:off x="3000375" y="1447800"/>
              <a:ext cx="2600325" cy="1771650"/>
            </a:xfrm>
            <a:custGeom>
              <a:avLst/>
              <a:gdLst/>
              <a:ahLst/>
              <a:cxnLst/>
              <a:rect l="l" t="t" r="r" b="b"/>
              <a:pathLst>
                <a:path w="2600325" h="1771650">
                  <a:moveTo>
                    <a:pt x="0" y="1771650"/>
                  </a:moveTo>
                  <a:cubicBezTo>
                    <a:pt x="238125" y="1600200"/>
                    <a:pt x="428625" y="1409700"/>
                    <a:pt x="590550" y="1181100"/>
                  </a:cubicBezTo>
                  <a:cubicBezTo>
                    <a:pt x="762000" y="962025"/>
                    <a:pt x="857250" y="885825"/>
                    <a:pt x="1019175" y="790575"/>
                  </a:cubicBezTo>
                  <a:cubicBezTo>
                    <a:pt x="1238250" y="647700"/>
                    <a:pt x="1524000" y="457200"/>
                    <a:pt x="1876425" y="247650"/>
                  </a:cubicBezTo>
                  <a:cubicBezTo>
                    <a:pt x="2047875" y="152400"/>
                    <a:pt x="2333625" y="57150"/>
                    <a:pt x="2600325" y="0"/>
                  </a:cubicBezTo>
                </a:path>
              </a:pathLst>
            </a:custGeom>
            <a:noFill/>
            <a:ln w="19050">
              <a:solidFill>
                <a:srgbClr val="92301C"/>
              </a:solidFill>
            </a:ln>
          </p:spPr>
        </p:sp>
        <p:grpSp>
          <p:nvGrpSpPr>
            <p:cNvPr id="171" name="mc-points"/>
            <p:cNvGrpSpPr/>
            <p:nvPr/>
          </p:nvGrpSpPr>
          <p:grpSpPr>
            <a:xfrm>
              <a:off x="3543300" y="1647825"/>
              <a:ext cx="1847398" cy="1337072"/>
              <a:chOff x="3543300" y="1647825"/>
              <a:chExt cx="1847398" cy="1337072"/>
            </a:xfrm>
          </p:grpSpPr>
          <p:sp>
            <p:nvSpPr>
              <p:cNvPr id="162" name="Ellipse 162"/>
              <p:cNvSpPr/>
              <p:nvPr/>
            </p:nvSpPr>
            <p:spPr>
              <a:xfrm>
                <a:off x="3543300" y="2581275"/>
                <a:ext cx="95250" cy="95250"/>
              </a:xfrm>
              <a:prstGeom prst="ellipse">
                <a:avLst/>
              </a:prstGeom>
              <a:solidFill>
                <a:srgbClr val="6B1B0B"/>
              </a:solidFill>
              <a:ln>
                <a:noFill/>
              </a:ln>
            </p:spPr>
          </p:sp>
          <p:sp>
            <p:nvSpPr>
              <p:cNvPr id="163" name="TextBox 163"/>
              <p:cNvSpPr txBox="1"/>
              <p:nvPr/>
            </p:nvSpPr>
            <p:spPr>
              <a:xfrm>
                <a:off x="3662362" y="2746534"/>
                <a:ext cx="833399"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 xml:space="preserve">稳健（示例测算）　</a:t>
                </a:r>
              </a:p>
            </p:txBody>
          </p:sp>
          <p:sp>
            <p:nvSpPr>
              <p:cNvPr id="164" name="TextBox 164"/>
              <p:cNvSpPr txBox="1"/>
              <p:nvPr/>
            </p:nvSpPr>
            <p:spPr>
              <a:xfrm>
                <a:off x="3662362" y="2872978"/>
                <a:ext cx="834849"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 xml:space="preserve">收益 4.8% / 波动 6.0%　</a:t>
                </a:r>
              </a:p>
            </p:txBody>
          </p:sp>
          <p:sp>
            <p:nvSpPr>
              <p:cNvPr id="165" name="Ellipse 165"/>
              <p:cNvSpPr/>
              <p:nvPr/>
            </p:nvSpPr>
            <p:spPr>
              <a:xfrm>
                <a:off x="3971925" y="2190750"/>
                <a:ext cx="95250" cy="95250"/>
              </a:xfrm>
              <a:prstGeom prst="ellipse">
                <a:avLst/>
              </a:prstGeom>
              <a:solidFill>
                <a:srgbClr val="6B1B0B"/>
              </a:solidFill>
              <a:ln>
                <a:noFill/>
              </a:ln>
            </p:spPr>
          </p:sp>
          <p:sp>
            <p:nvSpPr>
              <p:cNvPr id="166" name="TextBox 166"/>
              <p:cNvSpPr txBox="1"/>
              <p:nvPr/>
            </p:nvSpPr>
            <p:spPr>
              <a:xfrm>
                <a:off x="4090988" y="2356009"/>
                <a:ext cx="833399"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 xml:space="preserve">基准（示例测算）　</a:t>
                </a:r>
              </a:p>
            </p:txBody>
          </p:sp>
          <p:sp>
            <p:nvSpPr>
              <p:cNvPr id="167" name="TextBox 167"/>
              <p:cNvSpPr txBox="1"/>
              <p:nvPr/>
            </p:nvSpPr>
            <p:spPr>
              <a:xfrm>
                <a:off x="4090988" y="2482453"/>
                <a:ext cx="876779"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 xml:space="preserve">收益 7.5% / 波动 10.0%　</a:t>
                </a:r>
              </a:p>
            </p:txBody>
          </p:sp>
          <p:sp>
            <p:nvSpPr>
              <p:cNvPr id="168" name="Ellipse 168"/>
              <p:cNvSpPr/>
              <p:nvPr/>
            </p:nvSpPr>
            <p:spPr>
              <a:xfrm>
                <a:off x="4829175" y="1647825"/>
                <a:ext cx="95250" cy="95250"/>
              </a:xfrm>
              <a:prstGeom prst="ellipse">
                <a:avLst/>
              </a:prstGeom>
              <a:solidFill>
                <a:srgbClr val="6B1B0B"/>
              </a:solidFill>
              <a:ln>
                <a:noFill/>
              </a:ln>
            </p:spPr>
          </p:sp>
          <p:sp>
            <p:nvSpPr>
              <p:cNvPr id="169" name="TextBox 169"/>
              <p:cNvSpPr txBox="1"/>
              <p:nvPr/>
            </p:nvSpPr>
            <p:spPr>
              <a:xfrm>
                <a:off x="4471988" y="1832134"/>
                <a:ext cx="833399"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 xml:space="preserve">进取（示例测算）　</a:t>
                </a:r>
              </a:p>
            </p:txBody>
          </p:sp>
          <p:sp>
            <p:nvSpPr>
              <p:cNvPr id="170" name="TextBox 170"/>
              <p:cNvSpPr txBox="1"/>
              <p:nvPr/>
            </p:nvSpPr>
            <p:spPr>
              <a:xfrm>
                <a:off x="4471988" y="1958578"/>
                <a:ext cx="918710"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j-lt"/>
                    <a:ea typeface="+mj-ea"/>
                    <a:cs typeface="+mj-cs"/>
                  </a:rPr>
                  <a:t xml:space="preserve">收益 11.2% / 波动 18.0%　</a:t>
                </a:r>
              </a:p>
            </p:txBody>
          </p:sp>
        </p:grpSp>
        <p:grpSp>
          <p:nvGrpSpPr>
            <p:cNvPr id="182" name="mc-legend"/>
            <p:cNvGrpSpPr/>
            <p:nvPr/>
          </p:nvGrpSpPr>
          <p:grpSpPr>
            <a:xfrm>
              <a:off x="2686050" y="3821430"/>
              <a:ext cx="2766251" cy="119062"/>
              <a:chOff x="2686050" y="3821430"/>
              <a:chExt cx="2766251" cy="119062"/>
            </a:xfrm>
          </p:grpSpPr>
          <p:sp>
            <p:nvSpPr>
              <p:cNvPr id="172" name="Line 172"/>
              <p:cNvSpPr/>
              <p:nvPr/>
            </p:nvSpPr>
            <p:spPr>
              <a:xfrm>
                <a:off x="2686050" y="3857625"/>
                <a:ext cx="190500" cy="9525"/>
              </a:xfrm>
              <a:custGeom>
                <a:avLst/>
                <a:gdLst/>
                <a:ahLst/>
                <a:cxnLst/>
                <a:rect l="l" t="t" r="r" b="b"/>
                <a:pathLst>
                  <a:path w="190500" h="9525">
                    <a:moveTo>
                      <a:pt x="0" y="0"/>
                    </a:moveTo>
                    <a:lnTo>
                      <a:pt x="190500" y="0"/>
                    </a:lnTo>
                  </a:path>
                </a:pathLst>
              </a:custGeom>
              <a:noFill/>
              <a:ln w="19050">
                <a:solidFill>
                  <a:srgbClr val="92301C"/>
                </a:solidFill>
              </a:ln>
            </p:spPr>
          </p:sp>
          <p:sp>
            <p:nvSpPr>
              <p:cNvPr id="173" name="TextBox 173"/>
              <p:cNvSpPr txBox="1"/>
              <p:nvPr/>
            </p:nvSpPr>
            <p:spPr>
              <a:xfrm>
                <a:off x="2909888" y="3821430"/>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有效前沿</a:t>
                </a:r>
              </a:p>
            </p:txBody>
          </p:sp>
          <p:sp>
            <p:nvSpPr>
              <p:cNvPr id="174" name="Ellipse 174"/>
              <p:cNvSpPr/>
              <p:nvPr/>
            </p:nvSpPr>
            <p:spPr>
              <a:xfrm>
                <a:off x="3362325" y="3829050"/>
                <a:ext cx="57150" cy="57150"/>
              </a:xfrm>
              <a:prstGeom prst="ellipse">
                <a:avLst/>
              </a:prstGeom>
              <a:solidFill>
                <a:srgbClr val="E3B3A9"/>
              </a:solidFill>
              <a:ln>
                <a:noFill/>
              </a:ln>
            </p:spPr>
          </p:sp>
          <p:sp>
            <p:nvSpPr>
              <p:cNvPr id="175" name="TextBox 175"/>
              <p:cNvSpPr txBox="1"/>
              <p:nvPr/>
            </p:nvSpPr>
            <p:spPr>
              <a:xfrm>
                <a:off x="3462338" y="3821430"/>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可行组合</a:t>
                </a:r>
              </a:p>
            </p:txBody>
          </p:sp>
          <p:sp>
            <p:nvSpPr>
              <p:cNvPr id="176" name="Ellipse 176"/>
              <p:cNvSpPr/>
              <p:nvPr/>
            </p:nvSpPr>
            <p:spPr>
              <a:xfrm>
                <a:off x="3914775" y="3829050"/>
                <a:ext cx="57150" cy="57150"/>
              </a:xfrm>
              <a:prstGeom prst="ellipse">
                <a:avLst/>
              </a:prstGeom>
              <a:solidFill>
                <a:srgbClr val="6B1B0B"/>
              </a:solidFill>
              <a:ln>
                <a:noFill/>
              </a:ln>
            </p:spPr>
          </p:sp>
          <p:sp>
            <p:nvSpPr>
              <p:cNvPr id="177" name="TextBox 177"/>
              <p:cNvSpPr txBox="1"/>
              <p:nvPr/>
            </p:nvSpPr>
            <p:spPr>
              <a:xfrm>
                <a:off x="4014788" y="3821430"/>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稳健组合</a:t>
                </a:r>
              </a:p>
            </p:txBody>
          </p:sp>
          <p:sp>
            <p:nvSpPr>
              <p:cNvPr id="178" name="Ellipse 178"/>
              <p:cNvSpPr/>
              <p:nvPr/>
            </p:nvSpPr>
            <p:spPr>
              <a:xfrm>
                <a:off x="4467225" y="3829050"/>
                <a:ext cx="57150" cy="57150"/>
              </a:xfrm>
              <a:prstGeom prst="ellipse">
                <a:avLst/>
              </a:prstGeom>
              <a:solidFill>
                <a:srgbClr val="B7533F"/>
              </a:solidFill>
              <a:ln>
                <a:noFill/>
              </a:ln>
            </p:spPr>
          </p:sp>
          <p:sp>
            <p:nvSpPr>
              <p:cNvPr id="179" name="TextBox 179"/>
              <p:cNvSpPr txBox="1"/>
              <p:nvPr/>
            </p:nvSpPr>
            <p:spPr>
              <a:xfrm>
                <a:off x="4567238" y="3821430"/>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基准组合</a:t>
                </a:r>
              </a:p>
            </p:txBody>
          </p:sp>
          <p:sp>
            <p:nvSpPr>
              <p:cNvPr id="180" name="Ellipse 180"/>
              <p:cNvSpPr/>
              <p:nvPr/>
            </p:nvSpPr>
            <p:spPr>
              <a:xfrm>
                <a:off x="5019675" y="3829050"/>
                <a:ext cx="57150" cy="57150"/>
              </a:xfrm>
              <a:prstGeom prst="ellipse">
                <a:avLst/>
              </a:prstGeom>
              <a:solidFill>
                <a:srgbClr val="C87C6C"/>
              </a:solidFill>
              <a:ln>
                <a:noFill/>
              </a:ln>
            </p:spPr>
          </p:sp>
          <p:sp>
            <p:nvSpPr>
              <p:cNvPr id="181" name="TextBox 181"/>
              <p:cNvSpPr txBox="1"/>
              <p:nvPr/>
            </p:nvSpPr>
            <p:spPr>
              <a:xfrm>
                <a:off x="5119688" y="3821430"/>
                <a:ext cx="33261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进取组合</a:t>
                </a:r>
              </a:p>
            </p:txBody>
          </p:sp>
        </p:grpSp>
      </p:grpSp>
      <p:grpSp>
        <p:nvGrpSpPr>
          <p:cNvPr id="230" name="mid-table"/>
          <p:cNvGrpSpPr/>
          <p:nvPr/>
        </p:nvGrpSpPr>
        <p:grpSpPr>
          <a:xfrm>
            <a:off x="5805488" y="1049893"/>
            <a:ext cx="2671762" cy="1750457"/>
            <a:chOff x="5805488" y="1049893"/>
            <a:chExt cx="2671762" cy="1750457"/>
          </a:xfrm>
        </p:grpSpPr>
        <p:sp>
          <p:nvSpPr>
            <p:cNvPr id="184" name="TextBox 184"/>
            <p:cNvSpPr txBox="1"/>
            <p:nvPr/>
          </p:nvSpPr>
          <p:spPr>
            <a:xfrm>
              <a:off x="5805488" y="1049893"/>
              <a:ext cx="1720545"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三种情景的组合配置</a:t>
              </a:r>
              <a:r>
                <a:rPr lang="zh-CN" sz="710" dirty="0">
                  <a:solidFill>
                    <a:srgbClr val="6B1B0B"/>
                  </a:solidFill>
                  <a:latin typeface="+mn-lt"/>
                  <a:ea typeface="+mn-ea"/>
                  <a:cs typeface="+mn-cs"/>
                </a:rPr>
                <a:t xml:space="preserve">（示例测算）　</a:t>
              </a:r>
            </a:p>
          </p:txBody>
        </p:sp>
        <p:sp>
          <p:nvSpPr>
            <p:cNvPr id="185" name="Rectangle 185"/>
            <p:cNvSpPr/>
            <p:nvPr/>
          </p:nvSpPr>
          <p:spPr>
            <a:xfrm>
              <a:off x="5810250" y="1219200"/>
              <a:ext cx="2667000" cy="247650"/>
            </a:xfrm>
            <a:prstGeom prst="rect">
              <a:avLst/>
            </a:prstGeom>
            <a:solidFill>
              <a:srgbClr val="6B1B0B"/>
            </a:solidFill>
            <a:ln>
              <a:noFill/>
            </a:ln>
          </p:spPr>
        </p:sp>
        <p:grpSp>
          <p:nvGrpSpPr>
            <p:cNvPr id="193" name="mt-head"/>
            <p:cNvGrpSpPr/>
            <p:nvPr/>
          </p:nvGrpSpPr>
          <p:grpSpPr>
            <a:xfrm>
              <a:off x="6052477" y="1275636"/>
              <a:ext cx="2336559" cy="207644"/>
              <a:chOff x="6052477" y="1275636"/>
              <a:chExt cx="2336559" cy="207644"/>
            </a:xfrm>
          </p:grpSpPr>
          <p:sp>
            <p:nvSpPr>
              <p:cNvPr id="186" name="TextBox 186"/>
              <p:cNvSpPr txBox="1"/>
              <p:nvPr/>
            </p:nvSpPr>
            <p:spPr>
              <a:xfrm>
                <a:off x="6052477" y="13042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资产类别</a:t>
                </a:r>
              </a:p>
            </p:txBody>
          </p:sp>
          <p:sp>
            <p:nvSpPr>
              <p:cNvPr id="187" name="TextBox 187"/>
              <p:cNvSpPr txBox="1"/>
              <p:nvPr/>
            </p:nvSpPr>
            <p:spPr>
              <a:xfrm>
                <a:off x="6910057" y="12756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稳健</a:t>
                </a:r>
              </a:p>
            </p:txBody>
          </p:sp>
          <p:sp>
            <p:nvSpPr>
              <p:cNvPr id="188" name="TextBox 188"/>
              <p:cNvSpPr txBox="1"/>
              <p:nvPr/>
            </p:nvSpPr>
            <p:spPr>
              <a:xfrm>
                <a:off x="6774764" y="1385649"/>
                <a:ext cx="471272"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 xml:space="preserve">（示例测算）　</a:t>
                </a:r>
              </a:p>
            </p:txBody>
          </p:sp>
          <p:sp>
            <p:nvSpPr>
              <p:cNvPr id="189" name="TextBox 189"/>
              <p:cNvSpPr txBox="1"/>
              <p:nvPr/>
            </p:nvSpPr>
            <p:spPr>
              <a:xfrm>
                <a:off x="7481557" y="12756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基准</a:t>
                </a:r>
              </a:p>
            </p:txBody>
          </p:sp>
          <p:sp>
            <p:nvSpPr>
              <p:cNvPr id="190" name="TextBox 190"/>
              <p:cNvSpPr txBox="1"/>
              <p:nvPr/>
            </p:nvSpPr>
            <p:spPr>
              <a:xfrm>
                <a:off x="7346264" y="1385649"/>
                <a:ext cx="471272"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 xml:space="preserve">（示例测算）　</a:t>
                </a:r>
              </a:p>
            </p:txBody>
          </p:sp>
          <p:sp>
            <p:nvSpPr>
              <p:cNvPr id="191" name="TextBox 191"/>
              <p:cNvSpPr txBox="1"/>
              <p:nvPr/>
            </p:nvSpPr>
            <p:spPr>
              <a:xfrm>
                <a:off x="8053057" y="12756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进取</a:t>
                </a:r>
              </a:p>
            </p:txBody>
          </p:sp>
          <p:sp>
            <p:nvSpPr>
              <p:cNvPr id="192" name="TextBox 192"/>
              <p:cNvSpPr txBox="1"/>
              <p:nvPr/>
            </p:nvSpPr>
            <p:spPr>
              <a:xfrm>
                <a:off x="7917764" y="1385649"/>
                <a:ext cx="471272"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 xml:space="preserve">（示例测算）　</a:t>
                </a:r>
              </a:p>
            </p:txBody>
          </p:sp>
        </p:grpSp>
        <p:grpSp>
          <p:nvGrpSpPr>
            <p:cNvPr id="229" name="mt-rows"/>
            <p:cNvGrpSpPr/>
            <p:nvPr/>
          </p:nvGrpSpPr>
          <p:grpSpPr>
            <a:xfrm>
              <a:off x="5810250" y="1466850"/>
              <a:ext cx="2667000" cy="1333500"/>
              <a:chOff x="5810250" y="1466850"/>
              <a:chExt cx="2667000" cy="1333500"/>
            </a:xfrm>
          </p:grpSpPr>
          <p:sp>
            <p:nvSpPr>
              <p:cNvPr id="194" name="Rectangle 194"/>
              <p:cNvSpPr/>
              <p:nvPr/>
            </p:nvSpPr>
            <p:spPr>
              <a:xfrm>
                <a:off x="5810250" y="1466850"/>
                <a:ext cx="2667000" cy="190500"/>
              </a:xfrm>
              <a:prstGeom prst="rect">
                <a:avLst/>
              </a:prstGeom>
              <a:solidFill>
                <a:srgbClr val="F6F9FD"/>
              </a:solidFill>
              <a:ln>
                <a:noFill/>
              </a:ln>
            </p:spPr>
          </p:sp>
          <p:sp>
            <p:nvSpPr>
              <p:cNvPr id="195" name="TextBox 195"/>
              <p:cNvSpPr txBox="1"/>
              <p:nvPr/>
            </p:nvSpPr>
            <p:spPr>
              <a:xfrm>
                <a:off x="5862638" y="152185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国内股票</a:t>
                </a:r>
              </a:p>
            </p:txBody>
          </p:sp>
          <p:sp>
            <p:nvSpPr>
              <p:cNvPr id="196" name="TextBox 196"/>
              <p:cNvSpPr txBox="1"/>
              <p:nvPr/>
            </p:nvSpPr>
            <p:spPr>
              <a:xfrm>
                <a:off x="6876333" y="15218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10%　</a:t>
                </a:r>
              </a:p>
            </p:txBody>
          </p:sp>
          <p:sp>
            <p:nvSpPr>
              <p:cNvPr id="197" name="TextBox 197"/>
              <p:cNvSpPr txBox="1"/>
              <p:nvPr/>
            </p:nvSpPr>
            <p:spPr>
              <a:xfrm>
                <a:off x="7447833" y="15218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25%　</a:t>
                </a:r>
              </a:p>
            </p:txBody>
          </p:sp>
          <p:sp>
            <p:nvSpPr>
              <p:cNvPr id="198" name="TextBox 198"/>
              <p:cNvSpPr txBox="1"/>
              <p:nvPr/>
            </p:nvSpPr>
            <p:spPr>
              <a:xfrm>
                <a:off x="8019333" y="15218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45%　</a:t>
                </a:r>
              </a:p>
            </p:txBody>
          </p:sp>
          <p:sp>
            <p:nvSpPr>
              <p:cNvPr id="199" name="Rectangle 199"/>
              <p:cNvSpPr/>
              <p:nvPr/>
            </p:nvSpPr>
            <p:spPr>
              <a:xfrm>
                <a:off x="5810250" y="1657350"/>
                <a:ext cx="2667000" cy="190500"/>
              </a:xfrm>
              <a:prstGeom prst="rect">
                <a:avLst/>
              </a:prstGeom>
              <a:solidFill>
                <a:srgbClr val="FFFFFF"/>
              </a:solidFill>
              <a:ln>
                <a:noFill/>
              </a:ln>
            </p:spPr>
          </p:sp>
          <p:sp>
            <p:nvSpPr>
              <p:cNvPr id="200" name="TextBox 200"/>
              <p:cNvSpPr txBox="1"/>
              <p:nvPr/>
            </p:nvSpPr>
            <p:spPr>
              <a:xfrm>
                <a:off x="5862638" y="171235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海外股票</a:t>
                </a:r>
              </a:p>
            </p:txBody>
          </p:sp>
          <p:sp>
            <p:nvSpPr>
              <p:cNvPr id="201" name="TextBox 201"/>
              <p:cNvSpPr txBox="1"/>
              <p:nvPr/>
            </p:nvSpPr>
            <p:spPr>
              <a:xfrm>
                <a:off x="6900294" y="1712357"/>
                <a:ext cx="22021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5%　</a:t>
                </a:r>
              </a:p>
            </p:txBody>
          </p:sp>
          <p:sp>
            <p:nvSpPr>
              <p:cNvPr id="202" name="TextBox 202"/>
              <p:cNvSpPr txBox="1"/>
              <p:nvPr/>
            </p:nvSpPr>
            <p:spPr>
              <a:xfrm>
                <a:off x="7447833" y="17123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15%　</a:t>
                </a:r>
              </a:p>
            </p:txBody>
          </p:sp>
          <p:sp>
            <p:nvSpPr>
              <p:cNvPr id="203" name="TextBox 203"/>
              <p:cNvSpPr txBox="1"/>
              <p:nvPr/>
            </p:nvSpPr>
            <p:spPr>
              <a:xfrm>
                <a:off x="8019333" y="17123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25%　</a:t>
                </a:r>
              </a:p>
            </p:txBody>
          </p:sp>
          <p:sp>
            <p:nvSpPr>
              <p:cNvPr id="204" name="Rectangle 204"/>
              <p:cNvSpPr/>
              <p:nvPr/>
            </p:nvSpPr>
            <p:spPr>
              <a:xfrm>
                <a:off x="5810250" y="1847850"/>
                <a:ext cx="2667000" cy="190500"/>
              </a:xfrm>
              <a:prstGeom prst="rect">
                <a:avLst/>
              </a:prstGeom>
              <a:solidFill>
                <a:srgbClr val="F6F9FD"/>
              </a:solidFill>
              <a:ln>
                <a:noFill/>
              </a:ln>
            </p:spPr>
          </p:sp>
          <p:sp>
            <p:nvSpPr>
              <p:cNvPr id="205" name="TextBox 205"/>
              <p:cNvSpPr txBox="1"/>
              <p:nvPr/>
            </p:nvSpPr>
            <p:spPr>
              <a:xfrm>
                <a:off x="5862638" y="190285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国内债券</a:t>
                </a:r>
              </a:p>
            </p:txBody>
          </p:sp>
          <p:sp>
            <p:nvSpPr>
              <p:cNvPr id="206" name="TextBox 206"/>
              <p:cNvSpPr txBox="1"/>
              <p:nvPr/>
            </p:nvSpPr>
            <p:spPr>
              <a:xfrm>
                <a:off x="6876333" y="19028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55%　</a:t>
                </a:r>
              </a:p>
            </p:txBody>
          </p:sp>
          <p:sp>
            <p:nvSpPr>
              <p:cNvPr id="207" name="TextBox 207"/>
              <p:cNvSpPr txBox="1"/>
              <p:nvPr/>
            </p:nvSpPr>
            <p:spPr>
              <a:xfrm>
                <a:off x="7447833" y="19028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40%　</a:t>
                </a:r>
              </a:p>
            </p:txBody>
          </p:sp>
          <p:sp>
            <p:nvSpPr>
              <p:cNvPr id="208" name="TextBox 208"/>
              <p:cNvSpPr txBox="1"/>
              <p:nvPr/>
            </p:nvSpPr>
            <p:spPr>
              <a:xfrm>
                <a:off x="8019333" y="19028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20%　</a:t>
                </a:r>
              </a:p>
            </p:txBody>
          </p:sp>
          <p:sp>
            <p:nvSpPr>
              <p:cNvPr id="209" name="Rectangle 209"/>
              <p:cNvSpPr/>
              <p:nvPr/>
            </p:nvSpPr>
            <p:spPr>
              <a:xfrm>
                <a:off x="5810250" y="2038350"/>
                <a:ext cx="2667000" cy="190500"/>
              </a:xfrm>
              <a:prstGeom prst="rect">
                <a:avLst/>
              </a:prstGeom>
              <a:solidFill>
                <a:srgbClr val="FFFFFF"/>
              </a:solidFill>
              <a:ln>
                <a:noFill/>
              </a:ln>
            </p:spPr>
          </p:sp>
          <p:sp>
            <p:nvSpPr>
              <p:cNvPr id="210" name="TextBox 210"/>
              <p:cNvSpPr txBox="1"/>
              <p:nvPr/>
            </p:nvSpPr>
            <p:spPr>
              <a:xfrm>
                <a:off x="5862638" y="209335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海外债券</a:t>
                </a:r>
              </a:p>
            </p:txBody>
          </p:sp>
          <p:sp>
            <p:nvSpPr>
              <p:cNvPr id="211" name="TextBox 211"/>
              <p:cNvSpPr txBox="1"/>
              <p:nvPr/>
            </p:nvSpPr>
            <p:spPr>
              <a:xfrm>
                <a:off x="6876333" y="20933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15%　</a:t>
                </a:r>
              </a:p>
            </p:txBody>
          </p:sp>
          <p:sp>
            <p:nvSpPr>
              <p:cNvPr id="212" name="TextBox 212"/>
              <p:cNvSpPr txBox="1"/>
              <p:nvPr/>
            </p:nvSpPr>
            <p:spPr>
              <a:xfrm>
                <a:off x="7447833" y="20933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10%　</a:t>
                </a:r>
              </a:p>
            </p:txBody>
          </p:sp>
          <p:sp>
            <p:nvSpPr>
              <p:cNvPr id="213" name="TextBox 213"/>
              <p:cNvSpPr txBox="1"/>
              <p:nvPr/>
            </p:nvSpPr>
            <p:spPr>
              <a:xfrm>
                <a:off x="8043294" y="2093357"/>
                <a:ext cx="22021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5%　</a:t>
                </a:r>
              </a:p>
            </p:txBody>
          </p:sp>
          <p:sp>
            <p:nvSpPr>
              <p:cNvPr id="214" name="Rectangle 214"/>
              <p:cNvSpPr/>
              <p:nvPr/>
            </p:nvSpPr>
            <p:spPr>
              <a:xfrm>
                <a:off x="5810250" y="2228850"/>
                <a:ext cx="2667000" cy="190500"/>
              </a:xfrm>
              <a:prstGeom prst="rect">
                <a:avLst/>
              </a:prstGeom>
              <a:solidFill>
                <a:srgbClr val="F6F9FD"/>
              </a:solidFill>
              <a:ln>
                <a:noFill/>
              </a:ln>
            </p:spPr>
          </p:sp>
          <p:sp>
            <p:nvSpPr>
              <p:cNvPr id="215" name="TextBox 215"/>
              <p:cNvSpPr txBox="1"/>
              <p:nvPr/>
            </p:nvSpPr>
            <p:spPr>
              <a:xfrm>
                <a:off x="5862638" y="228385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另类资产</a:t>
                </a:r>
              </a:p>
            </p:txBody>
          </p:sp>
          <p:sp>
            <p:nvSpPr>
              <p:cNvPr id="216" name="TextBox 216"/>
              <p:cNvSpPr txBox="1"/>
              <p:nvPr/>
            </p:nvSpPr>
            <p:spPr>
              <a:xfrm>
                <a:off x="6876333" y="2283857"/>
                <a:ext cx="26813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10%　</a:t>
                </a:r>
              </a:p>
            </p:txBody>
          </p:sp>
          <p:sp>
            <p:nvSpPr>
              <p:cNvPr id="217" name="TextBox 217"/>
              <p:cNvSpPr txBox="1"/>
              <p:nvPr/>
            </p:nvSpPr>
            <p:spPr>
              <a:xfrm>
                <a:off x="7471794" y="2283857"/>
                <a:ext cx="22021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8%　</a:t>
                </a:r>
              </a:p>
            </p:txBody>
          </p:sp>
          <p:sp>
            <p:nvSpPr>
              <p:cNvPr id="218" name="TextBox 218"/>
              <p:cNvSpPr txBox="1"/>
              <p:nvPr/>
            </p:nvSpPr>
            <p:spPr>
              <a:xfrm>
                <a:off x="8043294" y="2283857"/>
                <a:ext cx="22021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5%　</a:t>
                </a:r>
              </a:p>
            </p:txBody>
          </p:sp>
          <p:sp>
            <p:nvSpPr>
              <p:cNvPr id="219" name="Rectangle 219"/>
              <p:cNvSpPr/>
              <p:nvPr/>
            </p:nvSpPr>
            <p:spPr>
              <a:xfrm>
                <a:off x="5810250" y="2419350"/>
                <a:ext cx="2667000" cy="190500"/>
              </a:xfrm>
              <a:prstGeom prst="rect">
                <a:avLst/>
              </a:prstGeom>
              <a:solidFill>
                <a:srgbClr val="FFFFFF"/>
              </a:solidFill>
              <a:ln>
                <a:noFill/>
              </a:ln>
            </p:spPr>
          </p:sp>
          <p:sp>
            <p:nvSpPr>
              <p:cNvPr id="220" name="TextBox 220"/>
              <p:cNvSpPr txBox="1"/>
              <p:nvPr/>
            </p:nvSpPr>
            <p:spPr>
              <a:xfrm>
                <a:off x="5862638" y="2474357"/>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现金及等价物</a:t>
                </a:r>
              </a:p>
            </p:txBody>
          </p:sp>
          <p:sp>
            <p:nvSpPr>
              <p:cNvPr id="221" name="TextBox 221"/>
              <p:cNvSpPr txBox="1"/>
              <p:nvPr/>
            </p:nvSpPr>
            <p:spPr>
              <a:xfrm>
                <a:off x="6900294" y="2474357"/>
                <a:ext cx="22021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5%　</a:t>
                </a:r>
              </a:p>
            </p:txBody>
          </p:sp>
          <p:sp>
            <p:nvSpPr>
              <p:cNvPr id="222" name="TextBox 222"/>
              <p:cNvSpPr txBox="1"/>
              <p:nvPr/>
            </p:nvSpPr>
            <p:spPr>
              <a:xfrm>
                <a:off x="7471794" y="2474357"/>
                <a:ext cx="22021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2%　</a:t>
                </a:r>
              </a:p>
            </p:txBody>
          </p:sp>
          <p:sp>
            <p:nvSpPr>
              <p:cNvPr id="223" name="TextBox 223"/>
              <p:cNvSpPr txBox="1"/>
              <p:nvPr/>
            </p:nvSpPr>
            <p:spPr>
              <a:xfrm>
                <a:off x="8043294" y="2474357"/>
                <a:ext cx="220213"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j-lt"/>
                    <a:ea typeface="+mj-ea"/>
                    <a:cs typeface="+mj-cs"/>
                  </a:rPr>
                  <a:t xml:space="preserve">0%　</a:t>
                </a:r>
              </a:p>
            </p:txBody>
          </p:sp>
          <p:sp>
            <p:nvSpPr>
              <p:cNvPr id="224" name="Rectangle 224"/>
              <p:cNvSpPr/>
              <p:nvPr/>
            </p:nvSpPr>
            <p:spPr>
              <a:xfrm>
                <a:off x="5810250" y="2609850"/>
                <a:ext cx="2667000" cy="190500"/>
              </a:xfrm>
              <a:prstGeom prst="rect">
                <a:avLst/>
              </a:prstGeom>
              <a:solidFill>
                <a:srgbClr val="EEF5FB"/>
              </a:solidFill>
              <a:ln>
                <a:noFill/>
              </a:ln>
            </p:spPr>
          </p:sp>
          <p:sp>
            <p:nvSpPr>
              <p:cNvPr id="225" name="TextBox 225"/>
              <p:cNvSpPr txBox="1"/>
              <p:nvPr/>
            </p:nvSpPr>
            <p:spPr>
              <a:xfrm>
                <a:off x="5862638" y="2664857"/>
                <a:ext cx="181839" cy="126206"/>
              </a:xfrm>
              <a:prstGeom prst="rect">
                <a:avLst/>
              </a:prstGeom>
              <a:noFill/>
              <a:ln>
                <a:noFill/>
              </a:ln>
            </p:spPr>
            <p:txBody>
              <a:bodyPr wrap="none" lIns="0" tIns="0" rIns="0" bIns="0" anchor="t" anchorCtr="0">
                <a:spAutoFit/>
              </a:bodyPr>
              <a:lstStyle/>
              <a:p>
                <a:pPr algn="l"/>
                <a:r>
                  <a:rPr lang="zh-CN" sz="640" b="1" dirty="0">
                    <a:solidFill>
                      <a:srgbClr val="6B1B0B"/>
                    </a:solidFill>
                    <a:latin typeface="+mn-lt"/>
                    <a:ea typeface="+mn-ea"/>
                    <a:cs typeface="+mn-cs"/>
                  </a:rPr>
                  <a:t>合计</a:t>
                </a:r>
              </a:p>
            </p:txBody>
          </p:sp>
          <p:sp>
            <p:nvSpPr>
              <p:cNvPr id="226" name="TextBox 226"/>
              <p:cNvSpPr txBox="1"/>
              <p:nvPr/>
            </p:nvSpPr>
            <p:spPr>
              <a:xfrm>
                <a:off x="6852373" y="2664857"/>
                <a:ext cx="316054"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 xml:space="preserve">100%　</a:t>
                </a:r>
              </a:p>
            </p:txBody>
          </p:sp>
          <p:sp>
            <p:nvSpPr>
              <p:cNvPr id="227" name="TextBox 227"/>
              <p:cNvSpPr txBox="1"/>
              <p:nvPr/>
            </p:nvSpPr>
            <p:spPr>
              <a:xfrm>
                <a:off x="7423873" y="2664857"/>
                <a:ext cx="316054"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 xml:space="preserve">100%　</a:t>
                </a:r>
              </a:p>
            </p:txBody>
          </p:sp>
          <p:sp>
            <p:nvSpPr>
              <p:cNvPr id="228" name="TextBox 228"/>
              <p:cNvSpPr txBox="1"/>
              <p:nvPr/>
            </p:nvSpPr>
            <p:spPr>
              <a:xfrm>
                <a:off x="7995373" y="2664857"/>
                <a:ext cx="316054"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 xml:space="preserve">100%　</a:t>
                </a:r>
              </a:p>
            </p:txBody>
          </p:sp>
        </p:grpSp>
      </p:grpSp>
      <p:grpSp>
        <p:nvGrpSpPr>
          <p:cNvPr id="255" name="mid-pies"/>
          <p:cNvGrpSpPr/>
          <p:nvPr/>
        </p:nvGrpSpPr>
        <p:grpSpPr>
          <a:xfrm>
            <a:off x="5946700" y="3062288"/>
            <a:ext cx="2397912" cy="967126"/>
            <a:chOff x="5946700" y="3062288"/>
            <a:chExt cx="2397912" cy="967126"/>
          </a:xfrm>
        </p:grpSpPr>
        <p:grpSp>
          <p:nvGrpSpPr>
            <p:cNvPr id="234" name="mp-labels"/>
            <p:cNvGrpSpPr/>
            <p:nvPr/>
          </p:nvGrpSpPr>
          <p:grpSpPr>
            <a:xfrm>
              <a:off x="6180772" y="3062288"/>
              <a:ext cx="1925955" cy="147638"/>
              <a:chOff x="6180772" y="3062288"/>
              <a:chExt cx="1925955" cy="147638"/>
            </a:xfrm>
          </p:grpSpPr>
          <p:sp>
            <p:nvSpPr>
              <p:cNvPr id="231" name="TextBox 231"/>
              <p:cNvSpPr txBox="1"/>
              <p:nvPr/>
            </p:nvSpPr>
            <p:spPr>
              <a:xfrm>
                <a:off x="6180772" y="3062288"/>
                <a:ext cx="211455"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n-lt"/>
                    <a:ea typeface="+mn-ea"/>
                    <a:cs typeface="+mn-cs"/>
                  </a:rPr>
                  <a:t>稳健</a:t>
                </a:r>
              </a:p>
            </p:txBody>
          </p:sp>
          <p:sp>
            <p:nvSpPr>
              <p:cNvPr id="232" name="TextBox 232"/>
              <p:cNvSpPr txBox="1"/>
              <p:nvPr/>
            </p:nvSpPr>
            <p:spPr>
              <a:xfrm>
                <a:off x="7038022" y="3062288"/>
                <a:ext cx="211455"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n-lt"/>
                    <a:ea typeface="+mn-ea"/>
                    <a:cs typeface="+mn-cs"/>
                  </a:rPr>
                  <a:t>基准</a:t>
                </a:r>
              </a:p>
            </p:txBody>
          </p:sp>
          <p:sp>
            <p:nvSpPr>
              <p:cNvPr id="233" name="TextBox 233"/>
              <p:cNvSpPr txBox="1"/>
              <p:nvPr/>
            </p:nvSpPr>
            <p:spPr>
              <a:xfrm>
                <a:off x="7895272" y="3062288"/>
                <a:ext cx="211455"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n-lt"/>
                    <a:ea typeface="+mn-ea"/>
                    <a:cs typeface="+mn-cs"/>
                  </a:rPr>
                  <a:t>进取</a:t>
                </a:r>
              </a:p>
            </p:txBody>
          </p:sp>
        </p:grpSp>
        <p:grpSp>
          <p:nvGrpSpPr>
            <p:cNvPr id="241" name="mp-pie1"/>
            <p:cNvGrpSpPr/>
            <p:nvPr/>
          </p:nvGrpSpPr>
          <p:grpSpPr>
            <a:xfrm>
              <a:off x="5946700" y="3219437"/>
              <a:ext cx="685028" cy="660181"/>
              <a:chOff x="5946700" y="3219437"/>
              <a:chExt cx="685028" cy="660181"/>
            </a:xfrm>
          </p:grpSpPr>
          <p:sp>
            <p:nvSpPr>
              <p:cNvPr id="235" name="Freeform 235"/>
              <p:cNvSpPr/>
              <p:nvPr/>
            </p:nvSpPr>
            <p:spPr>
              <a:xfrm>
                <a:off x="6286500" y="3219437"/>
                <a:ext cx="190500" cy="323863"/>
              </a:xfrm>
              <a:custGeom>
                <a:avLst/>
                <a:gdLst/>
                <a:ahLst/>
                <a:cxnLst/>
                <a:rect l="l" t="t" r="r" b="b"/>
                <a:pathLst>
                  <a:path w="190500" h="323863">
                    <a:moveTo>
                      <a:pt x="0" y="13"/>
                    </a:moveTo>
                    <a:cubicBezTo>
                      <a:pt x="68447" y="0"/>
                      <a:pt x="135138" y="21675"/>
                      <a:pt x="190500" y="61925"/>
                    </a:cubicBezTo>
                    <a:lnTo>
                      <a:pt x="0" y="323863"/>
                    </a:lnTo>
                    <a:close/>
                  </a:path>
                </a:pathLst>
              </a:custGeom>
              <a:solidFill>
                <a:srgbClr val="6B1B0B"/>
              </a:solidFill>
              <a:ln w="9525">
                <a:solidFill>
                  <a:srgbClr val="FFFFFF"/>
                </a:solidFill>
              </a:ln>
            </p:spPr>
          </p:sp>
          <p:sp>
            <p:nvSpPr>
              <p:cNvPr id="236" name="Freeform 236"/>
              <p:cNvSpPr/>
              <p:nvPr/>
            </p:nvSpPr>
            <p:spPr>
              <a:xfrm>
                <a:off x="6286500" y="3281362"/>
                <a:ext cx="261938" cy="261938"/>
              </a:xfrm>
              <a:custGeom>
                <a:avLst/>
                <a:gdLst/>
                <a:ahLst/>
                <a:cxnLst/>
                <a:rect l="l" t="t" r="r" b="b"/>
                <a:pathLst>
                  <a:path w="261938" h="261938">
                    <a:moveTo>
                      <a:pt x="190500" y="0"/>
                    </a:moveTo>
                    <a:cubicBezTo>
                      <a:pt x="217903" y="19929"/>
                      <a:pt x="242009" y="44034"/>
                      <a:pt x="261938" y="71438"/>
                    </a:cubicBezTo>
                    <a:lnTo>
                      <a:pt x="0" y="261938"/>
                    </a:lnTo>
                    <a:close/>
                  </a:path>
                </a:pathLst>
              </a:custGeom>
              <a:solidFill>
                <a:srgbClr val="92301C"/>
              </a:solidFill>
              <a:ln w="9525">
                <a:solidFill>
                  <a:srgbClr val="FFFFFF"/>
                </a:solidFill>
              </a:ln>
            </p:spPr>
          </p:sp>
          <p:sp>
            <p:nvSpPr>
              <p:cNvPr id="237" name="Freeform 237"/>
              <p:cNvSpPr/>
              <p:nvPr/>
            </p:nvSpPr>
            <p:spPr>
              <a:xfrm>
                <a:off x="5978842" y="3352800"/>
                <a:ext cx="652886" cy="526818"/>
              </a:xfrm>
              <a:custGeom>
                <a:avLst/>
                <a:gdLst/>
                <a:ahLst/>
                <a:cxnLst/>
                <a:rect l="l" t="t" r="r" b="b"/>
                <a:pathLst>
                  <a:path w="652886" h="526818">
                    <a:moveTo>
                      <a:pt x="569595" y="0"/>
                    </a:moveTo>
                    <a:cubicBezTo>
                      <a:pt x="645289" y="103408"/>
                      <a:pt x="652886" y="241726"/>
                      <a:pt x="588972" y="352802"/>
                    </a:cubicBezTo>
                    <a:cubicBezTo>
                      <a:pt x="525057" y="463878"/>
                      <a:pt x="401655" y="526818"/>
                      <a:pt x="274213" y="513339"/>
                    </a:cubicBezTo>
                    <a:cubicBezTo>
                      <a:pt x="146772" y="499861"/>
                      <a:pt x="39266" y="412501"/>
                      <a:pt x="0" y="290512"/>
                    </a:cubicBezTo>
                    <a:lnTo>
                      <a:pt x="307657" y="190500"/>
                    </a:lnTo>
                    <a:close/>
                  </a:path>
                </a:pathLst>
              </a:custGeom>
              <a:solidFill>
                <a:srgbClr val="B7533F"/>
              </a:solidFill>
              <a:ln w="9525">
                <a:solidFill>
                  <a:srgbClr val="FFFFFF"/>
                </a:solidFill>
              </a:ln>
            </p:spPr>
          </p:sp>
          <p:sp>
            <p:nvSpPr>
              <p:cNvPr id="238" name="Freeform 238"/>
              <p:cNvSpPr/>
              <p:nvPr/>
            </p:nvSpPr>
            <p:spPr>
              <a:xfrm>
                <a:off x="5946700" y="3352800"/>
                <a:ext cx="339800" cy="290512"/>
              </a:xfrm>
              <a:custGeom>
                <a:avLst/>
                <a:gdLst/>
                <a:ahLst/>
                <a:cxnLst/>
                <a:rect l="l" t="t" r="r" b="b"/>
                <a:pathLst>
                  <a:path w="339800" h="290512">
                    <a:moveTo>
                      <a:pt x="32143" y="290512"/>
                    </a:moveTo>
                    <a:cubicBezTo>
                      <a:pt x="0" y="191939"/>
                      <a:pt x="16997" y="83936"/>
                      <a:pt x="77863" y="0"/>
                    </a:cubicBezTo>
                    <a:lnTo>
                      <a:pt x="339800" y="190500"/>
                    </a:lnTo>
                    <a:close/>
                  </a:path>
                </a:pathLst>
              </a:custGeom>
              <a:solidFill>
                <a:srgbClr val="C87C6C"/>
              </a:solidFill>
              <a:ln w="9525">
                <a:solidFill>
                  <a:srgbClr val="FFFFFF"/>
                </a:solidFill>
              </a:ln>
            </p:spPr>
          </p:sp>
          <p:sp>
            <p:nvSpPr>
              <p:cNvPr id="239" name="Freeform 239"/>
              <p:cNvSpPr/>
              <p:nvPr/>
            </p:nvSpPr>
            <p:spPr>
              <a:xfrm>
                <a:off x="6024562" y="3235642"/>
                <a:ext cx="261938" cy="307658"/>
              </a:xfrm>
              <a:custGeom>
                <a:avLst/>
                <a:gdLst/>
                <a:ahLst/>
                <a:cxnLst/>
                <a:rect l="l" t="t" r="r" b="b"/>
                <a:pathLst>
                  <a:path w="261938" h="307658">
                    <a:moveTo>
                      <a:pt x="0" y="117158"/>
                    </a:moveTo>
                    <a:cubicBezTo>
                      <a:pt x="40273" y="62010"/>
                      <a:pt x="96948" y="21004"/>
                      <a:pt x="161925" y="0"/>
                    </a:cubicBezTo>
                    <a:lnTo>
                      <a:pt x="261938" y="307658"/>
                    </a:lnTo>
                    <a:close/>
                  </a:path>
                </a:pathLst>
              </a:custGeom>
              <a:solidFill>
                <a:srgbClr val="E3B3A9"/>
              </a:solidFill>
              <a:ln w="9525">
                <a:solidFill>
                  <a:srgbClr val="FFFFFF"/>
                </a:solidFill>
              </a:ln>
            </p:spPr>
          </p:sp>
          <p:sp>
            <p:nvSpPr>
              <p:cNvPr id="240" name="Freeform 240"/>
              <p:cNvSpPr/>
              <p:nvPr/>
            </p:nvSpPr>
            <p:spPr>
              <a:xfrm>
                <a:off x="6186488" y="3219450"/>
                <a:ext cx="100012" cy="323850"/>
              </a:xfrm>
              <a:custGeom>
                <a:avLst/>
                <a:gdLst/>
                <a:ahLst/>
                <a:cxnLst/>
                <a:rect l="l" t="t" r="r" b="b"/>
                <a:pathLst>
                  <a:path w="100012" h="323850">
                    <a:moveTo>
                      <a:pt x="0" y="16192"/>
                    </a:moveTo>
                    <a:cubicBezTo>
                      <a:pt x="32282" y="5581"/>
                      <a:pt x="66032" y="117"/>
                      <a:pt x="100012" y="0"/>
                    </a:cubicBezTo>
                    <a:lnTo>
                      <a:pt x="100012" y="323850"/>
                    </a:lnTo>
                    <a:close/>
                  </a:path>
                </a:pathLst>
              </a:custGeom>
              <a:solidFill>
                <a:srgbClr val="D6E6F3"/>
              </a:solidFill>
              <a:ln w="9525">
                <a:solidFill>
                  <a:srgbClr val="FFFFFF"/>
                </a:solidFill>
              </a:ln>
            </p:spPr>
          </p:sp>
        </p:grpSp>
        <p:grpSp>
          <p:nvGrpSpPr>
            <p:cNvPr id="248" name="mp-pie2"/>
            <p:cNvGrpSpPr/>
            <p:nvPr/>
          </p:nvGrpSpPr>
          <p:grpSpPr>
            <a:xfrm>
              <a:off x="6674767" y="3219450"/>
              <a:ext cx="792847" cy="809964"/>
              <a:chOff x="6674767" y="3219450"/>
              <a:chExt cx="792847" cy="809964"/>
            </a:xfrm>
          </p:grpSpPr>
          <p:sp>
            <p:nvSpPr>
              <p:cNvPr id="242" name="Freeform 242"/>
              <p:cNvSpPr/>
              <p:nvPr/>
            </p:nvSpPr>
            <p:spPr>
              <a:xfrm>
                <a:off x="7143750" y="3219450"/>
                <a:ext cx="323850" cy="323850"/>
              </a:xfrm>
              <a:custGeom>
                <a:avLst/>
                <a:gdLst/>
                <a:ahLst/>
                <a:cxnLst/>
                <a:rect l="l" t="t" r="r" b="b"/>
                <a:pathLst>
                  <a:path w="323850" h="323850">
                    <a:moveTo>
                      <a:pt x="0" y="0"/>
                    </a:moveTo>
                    <a:cubicBezTo>
                      <a:pt x="178857" y="0"/>
                      <a:pt x="323850" y="144993"/>
                      <a:pt x="323850" y="323850"/>
                    </a:cubicBezTo>
                    <a:lnTo>
                      <a:pt x="0" y="323850"/>
                    </a:lnTo>
                    <a:close/>
                  </a:path>
                </a:pathLst>
              </a:custGeom>
              <a:solidFill>
                <a:srgbClr val="6B1B0B"/>
              </a:solidFill>
              <a:ln w="9525">
                <a:solidFill>
                  <a:srgbClr val="FFFFFF"/>
                </a:solidFill>
              </a:ln>
            </p:spPr>
          </p:sp>
          <p:sp>
            <p:nvSpPr>
              <p:cNvPr id="243" name="Freeform 243"/>
              <p:cNvSpPr/>
              <p:nvPr/>
            </p:nvSpPr>
            <p:spPr>
              <a:xfrm>
                <a:off x="7143750" y="3543300"/>
                <a:ext cx="323864" cy="261937"/>
              </a:xfrm>
              <a:custGeom>
                <a:avLst/>
                <a:gdLst/>
                <a:ahLst/>
                <a:cxnLst/>
                <a:rect l="l" t="t" r="r" b="b"/>
                <a:pathLst>
                  <a:path w="323864" h="261937">
                    <a:moveTo>
                      <a:pt x="323850" y="0"/>
                    </a:moveTo>
                    <a:cubicBezTo>
                      <a:pt x="323864" y="103618"/>
                      <a:pt x="274295" y="200986"/>
                      <a:pt x="190500" y="261937"/>
                    </a:cubicBezTo>
                    <a:lnTo>
                      <a:pt x="0" y="0"/>
                    </a:lnTo>
                    <a:close/>
                  </a:path>
                </a:pathLst>
              </a:custGeom>
              <a:solidFill>
                <a:srgbClr val="92301C"/>
              </a:solidFill>
              <a:ln w="9525">
                <a:solidFill>
                  <a:srgbClr val="FFFFFF"/>
                </a:solidFill>
              </a:ln>
            </p:spPr>
          </p:sp>
          <p:sp>
            <p:nvSpPr>
              <p:cNvPr id="244" name="Freeform 244"/>
              <p:cNvSpPr/>
              <p:nvPr/>
            </p:nvSpPr>
            <p:spPr>
              <a:xfrm>
                <a:off x="6674767" y="3443288"/>
                <a:ext cx="659483" cy="586126"/>
              </a:xfrm>
              <a:custGeom>
                <a:avLst/>
                <a:gdLst/>
                <a:ahLst/>
                <a:cxnLst/>
                <a:rect l="l" t="t" r="r" b="b"/>
                <a:pathLst>
                  <a:path w="659483" h="586126">
                    <a:moveTo>
                      <a:pt x="659483" y="361950"/>
                    </a:moveTo>
                    <a:cubicBezTo>
                      <a:pt x="616251" y="495521"/>
                      <a:pt x="491880" y="586024"/>
                      <a:pt x="351487" y="586075"/>
                    </a:cubicBezTo>
                    <a:cubicBezTo>
                      <a:pt x="211095" y="586126"/>
                      <a:pt x="86658" y="495713"/>
                      <a:pt x="43329" y="362174"/>
                    </a:cubicBezTo>
                    <a:cubicBezTo>
                      <a:pt x="0" y="228635"/>
                      <a:pt x="47648" y="82386"/>
                      <a:pt x="161325" y="0"/>
                    </a:cubicBezTo>
                    <a:lnTo>
                      <a:pt x="468983" y="100012"/>
                    </a:lnTo>
                    <a:close/>
                  </a:path>
                </a:pathLst>
              </a:custGeom>
              <a:solidFill>
                <a:srgbClr val="B7533F"/>
              </a:solidFill>
              <a:ln w="9525">
                <a:solidFill>
                  <a:srgbClr val="FFFFFF"/>
                </a:solidFill>
              </a:ln>
            </p:spPr>
          </p:sp>
          <p:sp>
            <p:nvSpPr>
              <p:cNvPr id="245" name="Freeform 245"/>
              <p:cNvSpPr/>
              <p:nvPr/>
            </p:nvSpPr>
            <p:spPr>
              <a:xfrm>
                <a:off x="6836092" y="3352800"/>
                <a:ext cx="307657" cy="190500"/>
              </a:xfrm>
              <a:custGeom>
                <a:avLst/>
                <a:gdLst/>
                <a:ahLst/>
                <a:cxnLst/>
                <a:rect l="l" t="t" r="r" b="b"/>
                <a:pathLst>
                  <a:path w="307657" h="190500">
                    <a:moveTo>
                      <a:pt x="0" y="90488"/>
                    </a:moveTo>
                    <a:cubicBezTo>
                      <a:pt x="10395" y="58112"/>
                      <a:pt x="25824" y="27575"/>
                      <a:pt x="45720" y="0"/>
                    </a:cubicBezTo>
                    <a:lnTo>
                      <a:pt x="307657" y="190500"/>
                    </a:lnTo>
                    <a:close/>
                  </a:path>
                </a:pathLst>
              </a:custGeom>
              <a:solidFill>
                <a:srgbClr val="C87C6C"/>
              </a:solidFill>
              <a:ln w="9525">
                <a:solidFill>
                  <a:srgbClr val="FFFFFF"/>
                </a:solidFill>
              </a:ln>
            </p:spPr>
          </p:sp>
          <p:sp>
            <p:nvSpPr>
              <p:cNvPr id="246" name="Freeform 246"/>
              <p:cNvSpPr/>
              <p:nvPr/>
            </p:nvSpPr>
            <p:spPr>
              <a:xfrm>
                <a:off x="6881812" y="3222307"/>
                <a:ext cx="261938" cy="320993"/>
              </a:xfrm>
              <a:custGeom>
                <a:avLst/>
                <a:gdLst/>
                <a:ahLst/>
                <a:cxnLst/>
                <a:rect l="l" t="t" r="r" b="b"/>
                <a:pathLst>
                  <a:path w="261938" h="320993">
                    <a:moveTo>
                      <a:pt x="0" y="130493"/>
                    </a:moveTo>
                    <a:cubicBezTo>
                      <a:pt x="52547" y="58420"/>
                      <a:pt x="132493" y="11210"/>
                      <a:pt x="220980" y="0"/>
                    </a:cubicBezTo>
                    <a:lnTo>
                      <a:pt x="261938" y="320993"/>
                    </a:lnTo>
                    <a:close/>
                  </a:path>
                </a:pathLst>
              </a:custGeom>
              <a:solidFill>
                <a:srgbClr val="E3B3A9"/>
              </a:solidFill>
              <a:ln w="9525">
                <a:solidFill>
                  <a:srgbClr val="FFFFFF"/>
                </a:solidFill>
              </a:ln>
            </p:spPr>
          </p:sp>
          <p:sp>
            <p:nvSpPr>
              <p:cNvPr id="247" name="Freeform 247"/>
              <p:cNvSpPr/>
              <p:nvPr/>
            </p:nvSpPr>
            <p:spPr>
              <a:xfrm>
                <a:off x="7102792" y="3219450"/>
                <a:ext cx="40957" cy="323850"/>
              </a:xfrm>
              <a:custGeom>
                <a:avLst/>
                <a:gdLst/>
                <a:ahLst/>
                <a:cxnLst/>
                <a:rect l="l" t="t" r="r" b="b"/>
                <a:pathLst>
                  <a:path w="40957" h="323850">
                    <a:moveTo>
                      <a:pt x="0" y="2858"/>
                    </a:moveTo>
                    <a:cubicBezTo>
                      <a:pt x="13578" y="1040"/>
                      <a:pt x="27258" y="85"/>
                      <a:pt x="40957" y="0"/>
                    </a:cubicBezTo>
                    <a:lnTo>
                      <a:pt x="40957" y="323850"/>
                    </a:lnTo>
                    <a:close/>
                  </a:path>
                </a:pathLst>
              </a:custGeom>
              <a:solidFill>
                <a:srgbClr val="D6E6F3"/>
              </a:solidFill>
              <a:ln w="9525">
                <a:solidFill>
                  <a:srgbClr val="FFFFFF"/>
                </a:solidFill>
              </a:ln>
            </p:spPr>
          </p:sp>
        </p:grpSp>
        <p:grpSp>
          <p:nvGrpSpPr>
            <p:cNvPr id="254" name="mp-pie3"/>
            <p:cNvGrpSpPr/>
            <p:nvPr/>
          </p:nvGrpSpPr>
          <p:grpSpPr>
            <a:xfrm>
              <a:off x="7661200" y="3219450"/>
              <a:ext cx="683412" cy="686538"/>
              <a:chOff x="7661200" y="3219450"/>
              <a:chExt cx="683412" cy="686538"/>
            </a:xfrm>
          </p:grpSpPr>
          <p:sp>
            <p:nvSpPr>
              <p:cNvPr id="249" name="Freeform 249"/>
              <p:cNvSpPr/>
              <p:nvPr/>
            </p:nvSpPr>
            <p:spPr>
              <a:xfrm>
                <a:off x="8001000" y="3219450"/>
                <a:ext cx="343612" cy="631507"/>
              </a:xfrm>
              <a:custGeom>
                <a:avLst/>
                <a:gdLst/>
                <a:ahLst/>
                <a:cxnLst/>
                <a:rect l="l" t="t" r="r" b="b"/>
                <a:pathLst>
                  <a:path w="343612" h="631507">
                    <a:moveTo>
                      <a:pt x="0" y="0"/>
                    </a:moveTo>
                    <a:cubicBezTo>
                      <a:pt x="158882" y="542"/>
                      <a:pt x="293907" y="116264"/>
                      <a:pt x="318760" y="273191"/>
                    </a:cubicBezTo>
                    <a:cubicBezTo>
                      <a:pt x="343612" y="430118"/>
                      <a:pt x="250952" y="581899"/>
                      <a:pt x="100012" y="631507"/>
                    </a:cubicBezTo>
                    <a:lnTo>
                      <a:pt x="0" y="323850"/>
                    </a:lnTo>
                    <a:close/>
                  </a:path>
                </a:pathLst>
              </a:custGeom>
              <a:solidFill>
                <a:srgbClr val="6B1B0B"/>
              </a:solidFill>
              <a:ln w="9525">
                <a:solidFill>
                  <a:srgbClr val="FFFFFF"/>
                </a:solidFill>
              </a:ln>
            </p:spPr>
          </p:sp>
          <p:sp>
            <p:nvSpPr>
              <p:cNvPr id="250" name="Freeform 250"/>
              <p:cNvSpPr/>
              <p:nvPr/>
            </p:nvSpPr>
            <p:spPr>
              <a:xfrm>
                <a:off x="7693342" y="3543300"/>
                <a:ext cx="407670" cy="362688"/>
              </a:xfrm>
              <a:custGeom>
                <a:avLst/>
                <a:gdLst/>
                <a:ahLst/>
                <a:cxnLst/>
                <a:rect l="l" t="t" r="r" b="b"/>
                <a:pathLst>
                  <a:path w="407670" h="362688">
                    <a:moveTo>
                      <a:pt x="407670" y="307658"/>
                    </a:moveTo>
                    <a:cubicBezTo>
                      <a:pt x="237772" y="362688"/>
                      <a:pt x="55392" y="269793"/>
                      <a:pt x="0" y="100012"/>
                    </a:cubicBezTo>
                    <a:lnTo>
                      <a:pt x="307657" y="0"/>
                    </a:lnTo>
                    <a:close/>
                  </a:path>
                </a:pathLst>
              </a:custGeom>
              <a:solidFill>
                <a:srgbClr val="92301C"/>
              </a:solidFill>
              <a:ln w="9525">
                <a:solidFill>
                  <a:srgbClr val="FFFFFF"/>
                </a:solidFill>
              </a:ln>
            </p:spPr>
          </p:sp>
          <p:sp>
            <p:nvSpPr>
              <p:cNvPr id="251" name="Freeform 251"/>
              <p:cNvSpPr/>
              <p:nvPr/>
            </p:nvSpPr>
            <p:spPr>
              <a:xfrm>
                <a:off x="7661200" y="3352800"/>
                <a:ext cx="339800" cy="290512"/>
              </a:xfrm>
              <a:custGeom>
                <a:avLst/>
                <a:gdLst/>
                <a:ahLst/>
                <a:cxnLst/>
                <a:rect l="l" t="t" r="r" b="b"/>
                <a:pathLst>
                  <a:path w="339800" h="290512">
                    <a:moveTo>
                      <a:pt x="32143" y="290512"/>
                    </a:moveTo>
                    <a:cubicBezTo>
                      <a:pt x="0" y="191939"/>
                      <a:pt x="16997" y="83936"/>
                      <a:pt x="77863" y="0"/>
                    </a:cubicBezTo>
                    <a:lnTo>
                      <a:pt x="339800" y="190500"/>
                    </a:lnTo>
                    <a:close/>
                  </a:path>
                </a:pathLst>
              </a:custGeom>
              <a:solidFill>
                <a:srgbClr val="B7533F"/>
              </a:solidFill>
              <a:ln w="9525">
                <a:solidFill>
                  <a:srgbClr val="FFFFFF"/>
                </a:solidFill>
              </a:ln>
            </p:spPr>
          </p:sp>
          <p:sp>
            <p:nvSpPr>
              <p:cNvPr id="252" name="Freeform 252"/>
              <p:cNvSpPr/>
              <p:nvPr/>
            </p:nvSpPr>
            <p:spPr>
              <a:xfrm>
                <a:off x="7739062" y="3235642"/>
                <a:ext cx="261938" cy="307658"/>
              </a:xfrm>
              <a:custGeom>
                <a:avLst/>
                <a:gdLst/>
                <a:ahLst/>
                <a:cxnLst/>
                <a:rect l="l" t="t" r="r" b="b"/>
                <a:pathLst>
                  <a:path w="261938" h="307658">
                    <a:moveTo>
                      <a:pt x="0" y="117158"/>
                    </a:moveTo>
                    <a:cubicBezTo>
                      <a:pt x="40273" y="62010"/>
                      <a:pt x="96948" y="21004"/>
                      <a:pt x="161925" y="0"/>
                    </a:cubicBezTo>
                    <a:lnTo>
                      <a:pt x="261938" y="307658"/>
                    </a:lnTo>
                    <a:close/>
                  </a:path>
                </a:pathLst>
              </a:custGeom>
              <a:solidFill>
                <a:srgbClr val="C87C6C"/>
              </a:solidFill>
              <a:ln w="9525">
                <a:solidFill>
                  <a:srgbClr val="FFFFFF"/>
                </a:solidFill>
              </a:ln>
            </p:spPr>
          </p:sp>
          <p:sp>
            <p:nvSpPr>
              <p:cNvPr id="253" name="Freeform 253"/>
              <p:cNvSpPr/>
              <p:nvPr/>
            </p:nvSpPr>
            <p:spPr>
              <a:xfrm>
                <a:off x="7900988" y="3219450"/>
                <a:ext cx="100012" cy="323850"/>
              </a:xfrm>
              <a:custGeom>
                <a:avLst/>
                <a:gdLst/>
                <a:ahLst/>
                <a:cxnLst/>
                <a:rect l="l" t="t" r="r" b="b"/>
                <a:pathLst>
                  <a:path w="100012" h="323850">
                    <a:moveTo>
                      <a:pt x="0" y="16192"/>
                    </a:moveTo>
                    <a:cubicBezTo>
                      <a:pt x="32282" y="5581"/>
                      <a:pt x="66032" y="117"/>
                      <a:pt x="100012" y="0"/>
                    </a:cubicBezTo>
                    <a:lnTo>
                      <a:pt x="100012" y="323850"/>
                    </a:lnTo>
                    <a:close/>
                  </a:path>
                </a:pathLst>
              </a:custGeom>
              <a:solidFill>
                <a:srgbClr val="E3B3A9"/>
              </a:solidFill>
              <a:ln w="9525">
                <a:solidFill>
                  <a:srgbClr val="FFFFFF"/>
                </a:solidFill>
              </a:ln>
            </p:spPr>
          </p:sp>
        </p:grpSp>
      </p:grpSp>
      <p:grpSp>
        <p:nvGrpSpPr>
          <p:cNvPr id="319" name="right-flow"/>
          <p:cNvGrpSpPr/>
          <p:nvPr/>
        </p:nvGrpSpPr>
        <p:grpSpPr>
          <a:xfrm>
            <a:off x="8572500" y="1045845"/>
            <a:ext cx="3429000" cy="3450193"/>
            <a:chOff x="8572500" y="1045845"/>
            <a:chExt cx="3429000" cy="3450193"/>
          </a:xfrm>
        </p:grpSpPr>
        <p:grpSp>
          <p:nvGrpSpPr>
            <p:cNvPr id="264" name="rf-1"/>
            <p:cNvGrpSpPr/>
            <p:nvPr/>
          </p:nvGrpSpPr>
          <p:grpSpPr>
            <a:xfrm>
              <a:off x="8572500" y="1045845"/>
              <a:ext cx="3429000" cy="497205"/>
              <a:chOff x="8572500" y="1045845"/>
              <a:chExt cx="3429000" cy="497205"/>
            </a:xfrm>
          </p:grpSpPr>
          <p:sp>
            <p:nvSpPr>
              <p:cNvPr id="256" name="TextBox 256"/>
              <p:cNvSpPr txBox="1"/>
              <p:nvPr/>
            </p:nvSpPr>
            <p:spPr>
              <a:xfrm>
                <a:off x="8624697" y="1056799"/>
                <a:ext cx="156662" cy="190690"/>
              </a:xfrm>
              <a:prstGeom prst="rect">
                <a:avLst/>
              </a:prstGeom>
              <a:noFill/>
              <a:ln>
                <a:noFill/>
              </a:ln>
            </p:spPr>
            <p:txBody>
              <a:bodyPr wrap="none" lIns="0" tIns="0" rIns="0" bIns="0" anchor="t" anchorCtr="0">
                <a:spAutoFit/>
              </a:bodyPr>
              <a:lstStyle/>
              <a:p>
                <a:pPr algn="l"/>
                <a:r>
                  <a:rPr lang="zh-CN" sz="980" b="1" dirty="0">
                    <a:solidFill>
                      <a:srgbClr val="92301C"/>
                    </a:solidFill>
                    <a:latin typeface="+mj-lt"/>
                    <a:ea typeface="+mj-ea"/>
                    <a:cs typeface="+mj-cs"/>
                  </a:rPr>
                  <a:t>01</a:t>
                </a:r>
              </a:p>
            </p:txBody>
          </p:sp>
          <p:grpSp>
            <p:nvGrpSpPr>
              <p:cNvPr id="259" name="Group 259"/>
              <p:cNvGrpSpPr/>
              <p:nvPr/>
            </p:nvGrpSpPr>
            <p:grpSpPr>
              <a:xfrm>
                <a:off x="8960644" y="1054894"/>
                <a:ext cx="157163" cy="157163"/>
                <a:chOff x="8960644" y="1054894"/>
                <a:chExt cx="157163" cy="157163"/>
              </a:xfrm>
            </p:grpSpPr>
            <p:sp>
              <p:nvSpPr>
                <p:cNvPr id="257" name="Freeform 257"/>
                <p:cNvSpPr/>
                <p:nvPr/>
              </p:nvSpPr>
              <p:spPr>
                <a:xfrm>
                  <a:off x="8960644" y="105489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92301C"/>
                  </a:solidFill>
                </a:ln>
              </p:spPr>
            </p:sp>
            <p:sp>
              <p:nvSpPr>
                <p:cNvPr id="258" name="Freeform 258"/>
                <p:cNvSpPr/>
                <p:nvPr/>
              </p:nvSpPr>
              <p:spPr>
                <a:xfrm>
                  <a:off x="9065419" y="1159669"/>
                  <a:ext cx="52388" cy="52388"/>
                </a:xfrm>
                <a:custGeom>
                  <a:avLst/>
                  <a:gdLst/>
                  <a:ahLst/>
                  <a:cxnLst/>
                  <a:rect l="l" t="t" r="r" b="b"/>
                  <a:pathLst>
                    <a:path w="52388" h="52388">
                      <a:moveTo>
                        <a:pt x="52388" y="52388"/>
                      </a:moveTo>
                      <a:lnTo>
                        <a:pt x="0" y="0"/>
                      </a:lnTo>
                    </a:path>
                  </a:pathLst>
                </a:custGeom>
                <a:noFill/>
                <a:ln w="17463">
                  <a:solidFill>
                    <a:srgbClr val="92301C"/>
                  </a:solidFill>
                </a:ln>
              </p:spPr>
            </p:sp>
          </p:grpSp>
          <p:sp>
            <p:nvSpPr>
              <p:cNvPr id="260" name="TextBox 260"/>
              <p:cNvSpPr txBox="1"/>
              <p:nvPr/>
            </p:nvSpPr>
            <p:spPr>
              <a:xfrm>
                <a:off x="9215438" y="104584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风险识别</a:t>
                </a:r>
              </a:p>
            </p:txBody>
          </p:sp>
          <p:sp>
            <p:nvSpPr>
              <p:cNvPr id="261" name="TextBox 261"/>
              <p:cNvSpPr txBox="1"/>
              <p:nvPr/>
            </p:nvSpPr>
            <p:spPr>
              <a:xfrm>
                <a:off x="9215438" y="1245632"/>
                <a:ext cx="1388034"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识别市场、信用、流动性等主要风险</a:t>
                </a:r>
              </a:p>
            </p:txBody>
          </p:sp>
          <p:sp>
            <p:nvSpPr>
              <p:cNvPr id="262" name="TextBox 262"/>
              <p:cNvSpPr txBox="1"/>
              <p:nvPr/>
            </p:nvSpPr>
            <p:spPr>
              <a:xfrm>
                <a:off x="9215438" y="136945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及关联性</a:t>
                </a:r>
              </a:p>
            </p:txBody>
          </p:sp>
          <p:sp>
            <p:nvSpPr>
              <p:cNvPr id="263" name="Line 263"/>
              <p:cNvSpPr/>
              <p:nvPr/>
            </p:nvSpPr>
            <p:spPr>
              <a:xfrm>
                <a:off x="8572500" y="1533525"/>
                <a:ext cx="3429000" cy="9525"/>
              </a:xfrm>
              <a:custGeom>
                <a:avLst/>
                <a:gdLst/>
                <a:ahLst/>
                <a:cxnLst/>
                <a:rect l="l" t="t" r="r" b="b"/>
                <a:pathLst>
                  <a:path w="3429000" h="9525">
                    <a:moveTo>
                      <a:pt x="0" y="0"/>
                    </a:moveTo>
                    <a:lnTo>
                      <a:pt x="3429000" y="0"/>
                    </a:lnTo>
                  </a:path>
                </a:pathLst>
              </a:custGeom>
              <a:noFill/>
              <a:ln w="9525">
                <a:solidFill>
                  <a:srgbClr val="E4EDF5"/>
                </a:solidFill>
              </a:ln>
            </p:spPr>
          </p:sp>
        </p:grpSp>
        <p:grpSp>
          <p:nvGrpSpPr>
            <p:cNvPr id="275" name="rf-2"/>
            <p:cNvGrpSpPr/>
            <p:nvPr/>
          </p:nvGrpSpPr>
          <p:grpSpPr>
            <a:xfrm>
              <a:off x="8572500" y="1645920"/>
              <a:ext cx="3429000" cy="497205"/>
              <a:chOff x="8572500" y="1645920"/>
              <a:chExt cx="3429000" cy="497205"/>
            </a:xfrm>
          </p:grpSpPr>
          <p:sp>
            <p:nvSpPr>
              <p:cNvPr id="265" name="TextBox 265"/>
              <p:cNvSpPr txBox="1"/>
              <p:nvPr/>
            </p:nvSpPr>
            <p:spPr>
              <a:xfrm>
                <a:off x="8624697" y="1656874"/>
                <a:ext cx="156662" cy="190690"/>
              </a:xfrm>
              <a:prstGeom prst="rect">
                <a:avLst/>
              </a:prstGeom>
              <a:noFill/>
              <a:ln>
                <a:noFill/>
              </a:ln>
            </p:spPr>
            <p:txBody>
              <a:bodyPr wrap="none" lIns="0" tIns="0" rIns="0" bIns="0" anchor="t" anchorCtr="0">
                <a:spAutoFit/>
              </a:bodyPr>
              <a:lstStyle/>
              <a:p>
                <a:pPr algn="l"/>
                <a:r>
                  <a:rPr lang="zh-CN" sz="980" b="1" dirty="0">
                    <a:solidFill>
                      <a:srgbClr val="92301C"/>
                    </a:solidFill>
                    <a:latin typeface="+mj-lt"/>
                    <a:ea typeface="+mj-ea"/>
                    <a:cs typeface="+mj-cs"/>
                  </a:rPr>
                  <a:t>02</a:t>
                </a:r>
              </a:p>
            </p:txBody>
          </p:sp>
          <p:grpSp>
            <p:nvGrpSpPr>
              <p:cNvPr id="270" name="Group 270"/>
              <p:cNvGrpSpPr/>
              <p:nvPr/>
            </p:nvGrpSpPr>
            <p:grpSpPr>
              <a:xfrm>
                <a:off x="8960644" y="1663700"/>
                <a:ext cx="157163" cy="149225"/>
                <a:chOff x="8960644" y="1663700"/>
                <a:chExt cx="157163" cy="149225"/>
              </a:xfrm>
            </p:grpSpPr>
            <p:sp>
              <p:nvSpPr>
                <p:cNvPr id="266" name="Freeform 266"/>
                <p:cNvSpPr/>
                <p:nvPr/>
              </p:nvSpPr>
              <p:spPr>
                <a:xfrm>
                  <a:off x="8960644" y="17335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92301C"/>
                  </a:solidFill>
                </a:ln>
              </p:spPr>
            </p:sp>
            <p:sp>
              <p:nvSpPr>
                <p:cNvPr id="267" name="Freeform 267"/>
                <p:cNvSpPr/>
                <p:nvPr/>
              </p:nvSpPr>
              <p:spPr>
                <a:xfrm>
                  <a:off x="9065419" y="16986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92301C"/>
                  </a:solidFill>
                </a:ln>
              </p:spPr>
            </p:sp>
            <p:sp>
              <p:nvSpPr>
                <p:cNvPr id="268" name="Freeform 268"/>
                <p:cNvSpPr/>
                <p:nvPr/>
              </p:nvSpPr>
              <p:spPr>
                <a:xfrm>
                  <a:off x="9013031" y="16637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92301C"/>
                  </a:solidFill>
                </a:ln>
              </p:spPr>
            </p:sp>
            <p:sp>
              <p:nvSpPr>
                <p:cNvPr id="269" name="Freeform 269"/>
                <p:cNvSpPr/>
                <p:nvPr/>
              </p:nvSpPr>
              <p:spPr>
                <a:xfrm>
                  <a:off x="8969375" y="1803400"/>
                  <a:ext cx="122238" cy="9525"/>
                </a:xfrm>
                <a:custGeom>
                  <a:avLst/>
                  <a:gdLst/>
                  <a:ahLst/>
                  <a:cxnLst/>
                  <a:rect l="l" t="t" r="r" b="b"/>
                  <a:pathLst>
                    <a:path w="122238" h="9525">
                      <a:moveTo>
                        <a:pt x="0" y="0"/>
                      </a:moveTo>
                      <a:lnTo>
                        <a:pt x="122238" y="0"/>
                      </a:lnTo>
                    </a:path>
                  </a:pathLst>
                </a:custGeom>
                <a:noFill/>
                <a:ln w="17463">
                  <a:solidFill>
                    <a:srgbClr val="92301C"/>
                  </a:solidFill>
                </a:ln>
              </p:spPr>
            </p:sp>
          </p:grpSp>
          <p:sp>
            <p:nvSpPr>
              <p:cNvPr id="271" name="TextBox 271"/>
              <p:cNvSpPr txBox="1"/>
              <p:nvPr/>
            </p:nvSpPr>
            <p:spPr>
              <a:xfrm>
                <a:off x="9215438" y="16459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情景压力</a:t>
                </a:r>
              </a:p>
            </p:txBody>
          </p:sp>
          <p:sp>
            <p:nvSpPr>
              <p:cNvPr id="272" name="TextBox 272"/>
              <p:cNvSpPr txBox="1"/>
              <p:nvPr/>
            </p:nvSpPr>
            <p:spPr>
              <a:xfrm>
                <a:off x="9215438" y="1845707"/>
                <a:ext cx="1646504"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 xml:space="preserve">多情景压力测试（宏观、行业、流动性）　</a:t>
                </a:r>
              </a:p>
            </p:txBody>
          </p:sp>
          <p:sp>
            <p:nvSpPr>
              <p:cNvPr id="273" name="TextBox 273"/>
              <p:cNvSpPr txBox="1"/>
              <p:nvPr/>
            </p:nvSpPr>
            <p:spPr>
              <a:xfrm>
                <a:off x="9215438" y="196953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评估组合韧性</a:t>
                </a:r>
              </a:p>
            </p:txBody>
          </p:sp>
          <p:sp>
            <p:nvSpPr>
              <p:cNvPr id="274" name="Line 274"/>
              <p:cNvSpPr/>
              <p:nvPr/>
            </p:nvSpPr>
            <p:spPr>
              <a:xfrm>
                <a:off x="8572500" y="2133600"/>
                <a:ext cx="3429000" cy="9525"/>
              </a:xfrm>
              <a:custGeom>
                <a:avLst/>
                <a:gdLst/>
                <a:ahLst/>
                <a:cxnLst/>
                <a:rect l="l" t="t" r="r" b="b"/>
                <a:pathLst>
                  <a:path w="3429000" h="9525">
                    <a:moveTo>
                      <a:pt x="0" y="0"/>
                    </a:moveTo>
                    <a:lnTo>
                      <a:pt x="3429000" y="0"/>
                    </a:lnTo>
                  </a:path>
                </a:pathLst>
              </a:custGeom>
              <a:noFill/>
              <a:ln w="9525">
                <a:solidFill>
                  <a:srgbClr val="E4EDF5"/>
                </a:solidFill>
              </a:ln>
            </p:spPr>
          </p:sp>
        </p:grpSp>
        <p:grpSp>
          <p:nvGrpSpPr>
            <p:cNvPr id="284" name="rf-3"/>
            <p:cNvGrpSpPr/>
            <p:nvPr/>
          </p:nvGrpSpPr>
          <p:grpSpPr>
            <a:xfrm>
              <a:off x="8572500" y="2245995"/>
              <a:ext cx="3429000" cy="497205"/>
              <a:chOff x="8572500" y="2245995"/>
              <a:chExt cx="3429000" cy="497205"/>
            </a:xfrm>
          </p:grpSpPr>
          <p:sp>
            <p:nvSpPr>
              <p:cNvPr id="276" name="TextBox 276"/>
              <p:cNvSpPr txBox="1"/>
              <p:nvPr/>
            </p:nvSpPr>
            <p:spPr>
              <a:xfrm>
                <a:off x="8624697" y="2256949"/>
                <a:ext cx="156662" cy="190690"/>
              </a:xfrm>
              <a:prstGeom prst="rect">
                <a:avLst/>
              </a:prstGeom>
              <a:noFill/>
              <a:ln>
                <a:noFill/>
              </a:ln>
            </p:spPr>
            <p:txBody>
              <a:bodyPr wrap="none" lIns="0" tIns="0" rIns="0" bIns="0" anchor="t" anchorCtr="0">
                <a:spAutoFit/>
              </a:bodyPr>
              <a:lstStyle/>
              <a:p>
                <a:pPr algn="l"/>
                <a:r>
                  <a:rPr lang="zh-CN" sz="980" b="1" dirty="0">
                    <a:solidFill>
                      <a:srgbClr val="92301C"/>
                    </a:solidFill>
                    <a:latin typeface="+mj-lt"/>
                    <a:ea typeface="+mj-ea"/>
                    <a:cs typeface="+mj-cs"/>
                  </a:rPr>
                  <a:t>03</a:t>
                </a:r>
              </a:p>
            </p:txBody>
          </p:sp>
          <p:grpSp>
            <p:nvGrpSpPr>
              <p:cNvPr id="279" name="Group 279"/>
              <p:cNvGrpSpPr/>
              <p:nvPr/>
            </p:nvGrpSpPr>
            <p:grpSpPr>
              <a:xfrm>
                <a:off x="8958210" y="2256545"/>
                <a:ext cx="157850" cy="158095"/>
                <a:chOff x="8958210" y="2256545"/>
                <a:chExt cx="157850" cy="158095"/>
              </a:xfrm>
            </p:grpSpPr>
            <p:sp>
              <p:nvSpPr>
                <p:cNvPr id="277" name="Freeform 277"/>
                <p:cNvSpPr/>
                <p:nvPr/>
              </p:nvSpPr>
              <p:spPr>
                <a:xfrm>
                  <a:off x="8958210" y="2256545"/>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92301C"/>
                  </a:solidFill>
                </a:ln>
              </p:spPr>
            </p:sp>
            <p:sp>
              <p:nvSpPr>
                <p:cNvPr id="278" name="Freeform 278"/>
                <p:cNvSpPr/>
                <p:nvPr/>
              </p:nvSpPr>
              <p:spPr>
                <a:xfrm>
                  <a:off x="9065419" y="2259409"/>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92301C"/>
                  </a:solidFill>
                </a:ln>
              </p:spPr>
            </p:sp>
          </p:grpSp>
          <p:sp>
            <p:nvSpPr>
              <p:cNvPr id="280" name="TextBox 280"/>
              <p:cNvSpPr txBox="1"/>
              <p:nvPr/>
            </p:nvSpPr>
            <p:spPr>
              <a:xfrm>
                <a:off x="9215438" y="22459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配置建议</a:t>
                </a:r>
              </a:p>
            </p:txBody>
          </p:sp>
          <p:sp>
            <p:nvSpPr>
              <p:cNvPr id="281" name="TextBox 281"/>
              <p:cNvSpPr txBox="1"/>
              <p:nvPr/>
            </p:nvSpPr>
            <p:spPr>
              <a:xfrm>
                <a:off x="9215438" y="2445782"/>
                <a:ext cx="1301877"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基于优化模型生成多情景组合方案</a:t>
                </a:r>
              </a:p>
            </p:txBody>
          </p:sp>
          <p:sp>
            <p:nvSpPr>
              <p:cNvPr id="282" name="TextBox 282"/>
              <p:cNvSpPr txBox="1"/>
              <p:nvPr/>
            </p:nvSpPr>
            <p:spPr>
              <a:xfrm>
                <a:off x="9215438" y="2569607"/>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并附归因分析</a:t>
                </a:r>
              </a:p>
            </p:txBody>
          </p:sp>
          <p:sp>
            <p:nvSpPr>
              <p:cNvPr id="283" name="Line 283"/>
              <p:cNvSpPr/>
              <p:nvPr/>
            </p:nvSpPr>
            <p:spPr>
              <a:xfrm>
                <a:off x="8572500" y="2733675"/>
                <a:ext cx="3429000" cy="9525"/>
              </a:xfrm>
              <a:custGeom>
                <a:avLst/>
                <a:gdLst/>
                <a:ahLst/>
                <a:cxnLst/>
                <a:rect l="l" t="t" r="r" b="b"/>
                <a:pathLst>
                  <a:path w="3429000" h="9525">
                    <a:moveTo>
                      <a:pt x="0" y="0"/>
                    </a:moveTo>
                    <a:lnTo>
                      <a:pt x="3429000" y="0"/>
                    </a:lnTo>
                  </a:path>
                </a:pathLst>
              </a:custGeom>
              <a:noFill/>
              <a:ln w="9525">
                <a:solidFill>
                  <a:srgbClr val="E4EDF5"/>
                </a:solidFill>
              </a:ln>
            </p:spPr>
          </p:sp>
        </p:grpSp>
        <p:grpSp>
          <p:nvGrpSpPr>
            <p:cNvPr id="295" name="rf-4"/>
            <p:cNvGrpSpPr/>
            <p:nvPr/>
          </p:nvGrpSpPr>
          <p:grpSpPr>
            <a:xfrm>
              <a:off x="8572500" y="2846070"/>
              <a:ext cx="3429000" cy="497205"/>
              <a:chOff x="8572500" y="2846070"/>
              <a:chExt cx="3429000" cy="497205"/>
            </a:xfrm>
          </p:grpSpPr>
          <p:sp>
            <p:nvSpPr>
              <p:cNvPr id="285" name="TextBox 285"/>
              <p:cNvSpPr txBox="1"/>
              <p:nvPr/>
            </p:nvSpPr>
            <p:spPr>
              <a:xfrm>
                <a:off x="8624697" y="2857024"/>
                <a:ext cx="156662" cy="190690"/>
              </a:xfrm>
              <a:prstGeom prst="rect">
                <a:avLst/>
              </a:prstGeom>
              <a:noFill/>
              <a:ln>
                <a:noFill/>
              </a:ln>
            </p:spPr>
            <p:txBody>
              <a:bodyPr wrap="none" lIns="0" tIns="0" rIns="0" bIns="0" anchor="t" anchorCtr="0">
                <a:spAutoFit/>
              </a:bodyPr>
              <a:lstStyle/>
              <a:p>
                <a:pPr algn="l"/>
                <a:r>
                  <a:rPr lang="zh-CN" sz="980" b="1" dirty="0">
                    <a:solidFill>
                      <a:srgbClr val="92301C"/>
                    </a:solidFill>
                    <a:latin typeface="+mj-lt"/>
                    <a:ea typeface="+mj-ea"/>
                    <a:cs typeface="+mj-cs"/>
                  </a:rPr>
                  <a:t>04</a:t>
                </a:r>
              </a:p>
            </p:txBody>
          </p:sp>
          <p:grpSp>
            <p:nvGrpSpPr>
              <p:cNvPr id="290" name="Group 290"/>
              <p:cNvGrpSpPr/>
              <p:nvPr/>
            </p:nvGrpSpPr>
            <p:grpSpPr>
              <a:xfrm>
                <a:off x="8978106" y="2863850"/>
                <a:ext cx="130970" cy="148431"/>
                <a:chOff x="8978106" y="2863850"/>
                <a:chExt cx="130970" cy="148431"/>
              </a:xfrm>
            </p:grpSpPr>
            <p:sp>
              <p:nvSpPr>
                <p:cNvPr id="286" name="Freeform 286"/>
                <p:cNvSpPr/>
                <p:nvPr/>
              </p:nvSpPr>
              <p:spPr>
                <a:xfrm>
                  <a:off x="8978106" y="2863850"/>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92301C"/>
                  </a:solidFill>
                </a:ln>
              </p:spPr>
            </p:sp>
            <p:sp>
              <p:nvSpPr>
                <p:cNvPr id="287" name="Freeform 287"/>
                <p:cNvSpPr/>
                <p:nvPr/>
              </p:nvSpPr>
              <p:spPr>
                <a:xfrm>
                  <a:off x="9056688" y="2977356"/>
                  <a:ext cx="52388" cy="34925"/>
                </a:xfrm>
                <a:custGeom>
                  <a:avLst/>
                  <a:gdLst/>
                  <a:ahLst/>
                  <a:cxnLst/>
                  <a:rect l="l" t="t" r="r" b="b"/>
                  <a:pathLst>
                    <a:path w="52388" h="34925">
                      <a:moveTo>
                        <a:pt x="0" y="17463"/>
                      </a:moveTo>
                      <a:lnTo>
                        <a:pt x="17463" y="34925"/>
                      </a:lnTo>
                      <a:lnTo>
                        <a:pt x="52388" y="0"/>
                      </a:lnTo>
                    </a:path>
                  </a:pathLst>
                </a:custGeom>
                <a:noFill/>
                <a:ln w="17463">
                  <a:solidFill>
                    <a:srgbClr val="92301C"/>
                  </a:solidFill>
                </a:ln>
              </p:spPr>
            </p:sp>
            <p:sp>
              <p:nvSpPr>
                <p:cNvPr id="288" name="Freeform 288"/>
                <p:cNvSpPr/>
                <p:nvPr/>
              </p:nvSpPr>
              <p:spPr>
                <a:xfrm>
                  <a:off x="9013031" y="2898775"/>
                  <a:ext cx="34925" cy="9525"/>
                </a:xfrm>
                <a:custGeom>
                  <a:avLst/>
                  <a:gdLst/>
                  <a:ahLst/>
                  <a:cxnLst/>
                  <a:rect l="l" t="t" r="r" b="b"/>
                  <a:pathLst>
                    <a:path w="34925" h="9525">
                      <a:moveTo>
                        <a:pt x="0" y="0"/>
                      </a:moveTo>
                      <a:lnTo>
                        <a:pt x="34925" y="0"/>
                      </a:lnTo>
                    </a:path>
                  </a:pathLst>
                </a:custGeom>
                <a:noFill/>
                <a:ln w="17463">
                  <a:solidFill>
                    <a:srgbClr val="92301C"/>
                  </a:solidFill>
                </a:ln>
              </p:spPr>
            </p:sp>
            <p:sp>
              <p:nvSpPr>
                <p:cNvPr id="289" name="Freeform 289"/>
                <p:cNvSpPr/>
                <p:nvPr/>
              </p:nvSpPr>
              <p:spPr>
                <a:xfrm>
                  <a:off x="9013031" y="2933700"/>
                  <a:ext cx="17463" cy="9525"/>
                </a:xfrm>
                <a:custGeom>
                  <a:avLst/>
                  <a:gdLst/>
                  <a:ahLst/>
                  <a:cxnLst/>
                  <a:rect l="l" t="t" r="r" b="b"/>
                  <a:pathLst>
                    <a:path w="17463" h="9525">
                      <a:moveTo>
                        <a:pt x="0" y="0"/>
                      </a:moveTo>
                      <a:lnTo>
                        <a:pt x="17463" y="0"/>
                      </a:lnTo>
                    </a:path>
                  </a:pathLst>
                </a:custGeom>
                <a:noFill/>
                <a:ln w="17463">
                  <a:solidFill>
                    <a:srgbClr val="92301C"/>
                  </a:solidFill>
                </a:ln>
              </p:spPr>
            </p:sp>
          </p:grpSp>
          <p:sp>
            <p:nvSpPr>
              <p:cNvPr id="291" name="TextBox 291"/>
              <p:cNvSpPr txBox="1"/>
              <p:nvPr/>
            </p:nvSpPr>
            <p:spPr>
              <a:xfrm>
                <a:off x="9215438" y="28460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合规检查</a:t>
                </a:r>
              </a:p>
            </p:txBody>
          </p:sp>
          <p:sp>
            <p:nvSpPr>
              <p:cNvPr id="292" name="TextBox 292"/>
              <p:cNvSpPr txBox="1"/>
              <p:nvPr/>
            </p:nvSpPr>
            <p:spPr>
              <a:xfrm>
                <a:off x="9215438" y="3045857"/>
                <a:ext cx="1560347"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 xml:space="preserve">检查监管限制、内部控制与客户适当性　</a:t>
                </a:r>
              </a:p>
            </p:txBody>
          </p:sp>
          <p:sp>
            <p:nvSpPr>
              <p:cNvPr id="293" name="TextBox 293"/>
              <p:cNvSpPr txBox="1"/>
              <p:nvPr/>
            </p:nvSpPr>
            <p:spPr>
              <a:xfrm>
                <a:off x="9215438" y="316968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确保合规可控</a:t>
                </a:r>
              </a:p>
            </p:txBody>
          </p:sp>
          <p:sp>
            <p:nvSpPr>
              <p:cNvPr id="294" name="Line 294"/>
              <p:cNvSpPr/>
              <p:nvPr/>
            </p:nvSpPr>
            <p:spPr>
              <a:xfrm>
                <a:off x="8572500" y="3333750"/>
                <a:ext cx="3429000" cy="9525"/>
              </a:xfrm>
              <a:custGeom>
                <a:avLst/>
                <a:gdLst/>
                <a:ahLst/>
                <a:cxnLst/>
                <a:rect l="l" t="t" r="r" b="b"/>
                <a:pathLst>
                  <a:path w="3429000" h="9525">
                    <a:moveTo>
                      <a:pt x="0" y="0"/>
                    </a:moveTo>
                    <a:lnTo>
                      <a:pt x="3429000" y="0"/>
                    </a:lnTo>
                  </a:path>
                </a:pathLst>
              </a:custGeom>
              <a:noFill/>
              <a:ln w="9525">
                <a:solidFill>
                  <a:srgbClr val="E4EDF5"/>
                </a:solidFill>
              </a:ln>
            </p:spPr>
          </p:sp>
        </p:grpSp>
        <p:grpSp>
          <p:nvGrpSpPr>
            <p:cNvPr id="308" name="rf-5"/>
            <p:cNvGrpSpPr/>
            <p:nvPr/>
          </p:nvGrpSpPr>
          <p:grpSpPr>
            <a:xfrm>
              <a:off x="8572500" y="3446145"/>
              <a:ext cx="3429000" cy="497205"/>
              <a:chOff x="8572500" y="3446145"/>
              <a:chExt cx="3429000" cy="497205"/>
            </a:xfrm>
          </p:grpSpPr>
          <p:sp>
            <p:nvSpPr>
              <p:cNvPr id="296" name="TextBox 296"/>
              <p:cNvSpPr txBox="1"/>
              <p:nvPr/>
            </p:nvSpPr>
            <p:spPr>
              <a:xfrm>
                <a:off x="8624697" y="3457099"/>
                <a:ext cx="156662" cy="190690"/>
              </a:xfrm>
              <a:prstGeom prst="rect">
                <a:avLst/>
              </a:prstGeom>
              <a:noFill/>
              <a:ln>
                <a:noFill/>
              </a:ln>
            </p:spPr>
            <p:txBody>
              <a:bodyPr wrap="none" lIns="0" tIns="0" rIns="0" bIns="0" anchor="t" anchorCtr="0">
                <a:spAutoFit/>
              </a:bodyPr>
              <a:lstStyle/>
              <a:p>
                <a:pPr algn="l"/>
                <a:r>
                  <a:rPr lang="zh-CN" sz="980" b="1" dirty="0">
                    <a:solidFill>
                      <a:srgbClr val="92301C"/>
                    </a:solidFill>
                    <a:latin typeface="+mj-lt"/>
                    <a:ea typeface="+mj-ea"/>
                    <a:cs typeface="+mj-cs"/>
                  </a:rPr>
                  <a:t>05</a:t>
                </a:r>
              </a:p>
            </p:txBody>
          </p:sp>
          <p:grpSp>
            <p:nvGrpSpPr>
              <p:cNvPr id="303" name="Group 303"/>
              <p:cNvGrpSpPr/>
              <p:nvPr/>
            </p:nvGrpSpPr>
            <p:grpSpPr>
              <a:xfrm>
                <a:off x="8960644" y="3455194"/>
                <a:ext cx="157162" cy="157163"/>
                <a:chOff x="8960644" y="3455194"/>
                <a:chExt cx="157162" cy="157163"/>
              </a:xfrm>
            </p:grpSpPr>
            <p:sp>
              <p:nvSpPr>
                <p:cNvPr id="297" name="Freeform 297"/>
                <p:cNvSpPr/>
                <p:nvPr/>
              </p:nvSpPr>
              <p:spPr>
                <a:xfrm>
                  <a:off x="9021763" y="35250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92301C"/>
                  </a:solidFill>
                </a:ln>
              </p:spPr>
            </p:sp>
            <p:sp>
              <p:nvSpPr>
                <p:cNvPr id="298" name="Freeform 298"/>
                <p:cNvSpPr/>
                <p:nvPr/>
              </p:nvSpPr>
              <p:spPr>
                <a:xfrm>
                  <a:off x="9004300" y="358616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92301C"/>
                  </a:solidFill>
                </a:ln>
              </p:spPr>
            </p:sp>
            <p:sp>
              <p:nvSpPr>
                <p:cNvPr id="299" name="Freeform 299"/>
                <p:cNvSpPr/>
                <p:nvPr/>
              </p:nvSpPr>
              <p:spPr>
                <a:xfrm>
                  <a:off x="9065419" y="34551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92301C"/>
                  </a:solidFill>
                </a:ln>
              </p:spPr>
            </p:sp>
            <p:sp>
              <p:nvSpPr>
                <p:cNvPr id="300" name="Freeform 300"/>
                <p:cNvSpPr/>
                <p:nvPr/>
              </p:nvSpPr>
              <p:spPr>
                <a:xfrm>
                  <a:off x="9082881" y="351631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92301C"/>
                  </a:solidFill>
                </a:ln>
              </p:spPr>
            </p:sp>
            <p:sp>
              <p:nvSpPr>
                <p:cNvPr id="301" name="Freeform 301"/>
                <p:cNvSpPr/>
                <p:nvPr/>
              </p:nvSpPr>
              <p:spPr>
                <a:xfrm>
                  <a:off x="8978106" y="34551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92301C"/>
                  </a:solidFill>
                </a:ln>
              </p:spPr>
            </p:sp>
            <p:sp>
              <p:nvSpPr>
                <p:cNvPr id="302" name="Freeform 302"/>
                <p:cNvSpPr/>
                <p:nvPr/>
              </p:nvSpPr>
              <p:spPr>
                <a:xfrm>
                  <a:off x="8960644" y="351631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92301C"/>
                  </a:solidFill>
                </a:ln>
              </p:spPr>
            </p:sp>
          </p:grpSp>
          <p:sp>
            <p:nvSpPr>
              <p:cNvPr id="304" name="TextBox 304"/>
              <p:cNvSpPr txBox="1"/>
              <p:nvPr/>
            </p:nvSpPr>
            <p:spPr>
              <a:xfrm>
                <a:off x="9215438" y="3446145"/>
                <a:ext cx="615315"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投委会审批</a:t>
                </a:r>
              </a:p>
            </p:txBody>
          </p:sp>
          <p:sp>
            <p:nvSpPr>
              <p:cNvPr id="305" name="TextBox 305"/>
              <p:cNvSpPr txBox="1"/>
              <p:nvPr/>
            </p:nvSpPr>
            <p:spPr>
              <a:xfrm>
                <a:off x="9215438" y="3645932"/>
                <a:ext cx="1388034"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提交方案与风险评估，由授权的投资</a:t>
                </a:r>
              </a:p>
            </p:txBody>
          </p:sp>
          <p:sp>
            <p:nvSpPr>
              <p:cNvPr id="306" name="TextBox 306"/>
              <p:cNvSpPr txBox="1"/>
              <p:nvPr/>
            </p:nvSpPr>
            <p:spPr>
              <a:xfrm>
                <a:off x="9215438" y="3769757"/>
                <a:ext cx="61262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委员会进行审批</a:t>
                </a:r>
              </a:p>
            </p:txBody>
          </p:sp>
          <p:sp>
            <p:nvSpPr>
              <p:cNvPr id="307" name="Line 307"/>
              <p:cNvSpPr/>
              <p:nvPr/>
            </p:nvSpPr>
            <p:spPr>
              <a:xfrm>
                <a:off x="8572500" y="3933825"/>
                <a:ext cx="3429000" cy="9525"/>
              </a:xfrm>
              <a:custGeom>
                <a:avLst/>
                <a:gdLst/>
                <a:ahLst/>
                <a:cxnLst/>
                <a:rect l="l" t="t" r="r" b="b"/>
                <a:pathLst>
                  <a:path w="3429000" h="9525">
                    <a:moveTo>
                      <a:pt x="0" y="0"/>
                    </a:moveTo>
                    <a:lnTo>
                      <a:pt x="3429000" y="0"/>
                    </a:lnTo>
                  </a:path>
                </a:pathLst>
              </a:custGeom>
              <a:noFill/>
              <a:ln w="9525">
                <a:solidFill>
                  <a:srgbClr val="E4EDF5"/>
                </a:solidFill>
              </a:ln>
            </p:spPr>
          </p:sp>
        </p:grpSp>
        <p:grpSp>
          <p:nvGrpSpPr>
            <p:cNvPr id="318" name="rf-6"/>
            <p:cNvGrpSpPr/>
            <p:nvPr/>
          </p:nvGrpSpPr>
          <p:grpSpPr>
            <a:xfrm>
              <a:off x="8624697" y="4046220"/>
              <a:ext cx="1978775" cy="449818"/>
              <a:chOff x="8624697" y="4046220"/>
              <a:chExt cx="1978775" cy="449818"/>
            </a:xfrm>
          </p:grpSpPr>
          <p:sp>
            <p:nvSpPr>
              <p:cNvPr id="309" name="TextBox 309"/>
              <p:cNvSpPr txBox="1"/>
              <p:nvPr/>
            </p:nvSpPr>
            <p:spPr>
              <a:xfrm>
                <a:off x="8624697" y="4057174"/>
                <a:ext cx="156662" cy="190690"/>
              </a:xfrm>
              <a:prstGeom prst="rect">
                <a:avLst/>
              </a:prstGeom>
              <a:noFill/>
              <a:ln>
                <a:noFill/>
              </a:ln>
            </p:spPr>
            <p:txBody>
              <a:bodyPr wrap="none" lIns="0" tIns="0" rIns="0" bIns="0" anchor="t" anchorCtr="0">
                <a:spAutoFit/>
              </a:bodyPr>
              <a:lstStyle/>
              <a:p>
                <a:pPr algn="l"/>
                <a:r>
                  <a:rPr lang="zh-CN" sz="980" b="1" dirty="0">
                    <a:solidFill>
                      <a:srgbClr val="92301C"/>
                    </a:solidFill>
                    <a:latin typeface="+mj-lt"/>
                    <a:ea typeface="+mj-ea"/>
                    <a:cs typeface="+mj-cs"/>
                  </a:rPr>
                  <a:t>06</a:t>
                </a:r>
              </a:p>
            </p:txBody>
          </p:sp>
          <p:grpSp>
            <p:nvGrpSpPr>
              <p:cNvPr id="314" name="Group 314"/>
              <p:cNvGrpSpPr/>
              <p:nvPr/>
            </p:nvGrpSpPr>
            <p:grpSpPr>
              <a:xfrm>
                <a:off x="8978106" y="4055269"/>
                <a:ext cx="122238" cy="157162"/>
                <a:chOff x="8978106" y="4055269"/>
                <a:chExt cx="122238" cy="157162"/>
              </a:xfrm>
            </p:grpSpPr>
            <p:sp>
              <p:nvSpPr>
                <p:cNvPr id="310" name="Freeform 310"/>
                <p:cNvSpPr/>
                <p:nvPr/>
              </p:nvSpPr>
              <p:spPr>
                <a:xfrm>
                  <a:off x="8978106" y="4072731"/>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rgbClr val="92301C"/>
                  </a:solidFill>
                </a:ln>
              </p:spPr>
            </p:sp>
            <p:sp>
              <p:nvSpPr>
                <p:cNvPr id="311" name="Freeform 311"/>
                <p:cNvSpPr/>
                <p:nvPr/>
              </p:nvSpPr>
              <p:spPr>
                <a:xfrm>
                  <a:off x="9013031" y="4055269"/>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rgbClr val="92301C"/>
                  </a:solidFill>
                </a:ln>
              </p:spPr>
            </p:sp>
            <p:sp>
              <p:nvSpPr>
                <p:cNvPr id="312" name="Freeform 312"/>
                <p:cNvSpPr/>
                <p:nvPr/>
              </p:nvSpPr>
              <p:spPr>
                <a:xfrm>
                  <a:off x="9021763" y="4125119"/>
                  <a:ext cx="34925" cy="52388"/>
                </a:xfrm>
                <a:custGeom>
                  <a:avLst/>
                  <a:gdLst/>
                  <a:ahLst/>
                  <a:cxnLst/>
                  <a:rect l="l" t="t" r="r" b="b"/>
                  <a:pathLst>
                    <a:path w="34925" h="52388">
                      <a:moveTo>
                        <a:pt x="34925" y="0"/>
                      </a:moveTo>
                      <a:lnTo>
                        <a:pt x="13097" y="0"/>
                      </a:lnTo>
                      <a:cubicBezTo>
                        <a:pt x="5864" y="0"/>
                        <a:pt x="0" y="5864"/>
                        <a:pt x="0" y="13097"/>
                      </a:cubicBezTo>
                      <a:cubicBezTo>
                        <a:pt x="0" y="20330"/>
                        <a:pt x="5864" y="26194"/>
                        <a:pt x="13097" y="26194"/>
                      </a:cubicBezTo>
                      <a:lnTo>
                        <a:pt x="21828" y="26194"/>
                      </a:lnTo>
                      <a:cubicBezTo>
                        <a:pt x="29061" y="26194"/>
                        <a:pt x="34925" y="32057"/>
                        <a:pt x="34925" y="39291"/>
                      </a:cubicBezTo>
                      <a:cubicBezTo>
                        <a:pt x="34925" y="46524"/>
                        <a:pt x="29061" y="52388"/>
                        <a:pt x="21828" y="52388"/>
                      </a:cubicBezTo>
                      <a:lnTo>
                        <a:pt x="0" y="52388"/>
                      </a:lnTo>
                    </a:path>
                  </a:pathLst>
                </a:custGeom>
                <a:noFill/>
                <a:ln w="17463">
                  <a:solidFill>
                    <a:srgbClr val="92301C"/>
                  </a:solidFill>
                </a:ln>
              </p:spPr>
            </p:sp>
            <p:sp>
              <p:nvSpPr>
                <p:cNvPr id="313" name="Freeform 313"/>
                <p:cNvSpPr/>
                <p:nvPr/>
              </p:nvSpPr>
              <p:spPr>
                <a:xfrm>
                  <a:off x="9039225" y="4116388"/>
                  <a:ext cx="9525" cy="69850"/>
                </a:xfrm>
                <a:custGeom>
                  <a:avLst/>
                  <a:gdLst/>
                  <a:ahLst/>
                  <a:cxnLst/>
                  <a:rect l="l" t="t" r="r" b="b"/>
                  <a:pathLst>
                    <a:path w="9525" h="69850">
                      <a:moveTo>
                        <a:pt x="0" y="61119"/>
                      </a:moveTo>
                      <a:lnTo>
                        <a:pt x="0" y="69850"/>
                      </a:lnTo>
                      <a:moveTo>
                        <a:pt x="0" y="0"/>
                      </a:moveTo>
                      <a:lnTo>
                        <a:pt x="0" y="8731"/>
                      </a:lnTo>
                    </a:path>
                  </a:pathLst>
                </a:custGeom>
                <a:noFill/>
                <a:ln w="17463">
                  <a:solidFill>
                    <a:srgbClr val="92301C"/>
                  </a:solidFill>
                </a:ln>
              </p:spPr>
            </p:sp>
          </p:grpSp>
          <p:sp>
            <p:nvSpPr>
              <p:cNvPr id="315" name="TextBox 315"/>
              <p:cNvSpPr txBox="1"/>
              <p:nvPr/>
            </p:nvSpPr>
            <p:spPr>
              <a:xfrm>
                <a:off x="9215438" y="40462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交易指令</a:t>
                </a:r>
              </a:p>
            </p:txBody>
          </p:sp>
          <p:sp>
            <p:nvSpPr>
              <p:cNvPr id="316" name="TextBox 316"/>
              <p:cNvSpPr txBox="1"/>
              <p:nvPr/>
            </p:nvSpPr>
            <p:spPr>
              <a:xfrm>
                <a:off x="9215438" y="4246007"/>
                <a:ext cx="1388034"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经审批后，由授权交易人员下达指令</a:t>
                </a:r>
              </a:p>
            </p:txBody>
          </p:sp>
          <p:sp>
            <p:nvSpPr>
              <p:cNvPr id="317" name="TextBox 317"/>
              <p:cNvSpPr txBox="1"/>
              <p:nvPr/>
            </p:nvSpPr>
            <p:spPr>
              <a:xfrm>
                <a:off x="9215438" y="436983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并执行与监控</a:t>
                </a:r>
              </a:p>
            </p:txBody>
          </p:sp>
        </p:grpSp>
      </p:grpSp>
      <p:grpSp>
        <p:nvGrpSpPr>
          <p:cNvPr id="331" name="warn-box"/>
          <p:cNvGrpSpPr/>
          <p:nvPr/>
        </p:nvGrpSpPr>
        <p:grpSpPr>
          <a:xfrm>
            <a:off x="8572500" y="4667250"/>
            <a:ext cx="3429000" cy="1428750"/>
            <a:chOff x="8572500" y="4667250"/>
            <a:chExt cx="3429000" cy="1428750"/>
          </a:xfrm>
        </p:grpSpPr>
        <p:sp>
          <p:nvSpPr>
            <p:cNvPr id="320" name="Rectangle 320"/>
            <p:cNvSpPr/>
            <p:nvPr/>
          </p:nvSpPr>
          <p:spPr>
            <a:xfrm>
              <a:off x="8572500" y="4667250"/>
              <a:ext cx="3429000" cy="1428750"/>
            </a:xfrm>
            <a:prstGeom prst="roundRect">
              <a:avLst>
                <a:gd name="adj" fmla="val 4000"/>
              </a:avLst>
            </a:prstGeom>
            <a:solidFill>
              <a:srgbClr val="FCE8E4"/>
            </a:solidFill>
            <a:ln w="9525">
              <a:solidFill>
                <a:srgbClr val="C8452F"/>
              </a:solidFill>
            </a:ln>
          </p:spPr>
        </p:sp>
        <p:sp>
          <p:nvSpPr>
            <p:cNvPr id="321" name="Rectangle 321"/>
            <p:cNvSpPr/>
            <p:nvPr/>
          </p:nvSpPr>
          <p:spPr>
            <a:xfrm>
              <a:off x="8572500" y="4667250"/>
              <a:ext cx="3429000" cy="247650"/>
            </a:xfrm>
            <a:prstGeom prst="roundRect">
              <a:avLst>
                <a:gd name="adj" fmla="val 23077"/>
              </a:avLst>
            </a:prstGeom>
            <a:solidFill>
              <a:srgbClr val="6B1B0B"/>
            </a:solidFill>
            <a:ln>
              <a:noFill/>
            </a:ln>
          </p:spPr>
        </p:sp>
        <p:sp>
          <p:nvSpPr>
            <p:cNvPr id="322" name="Rectangle 322"/>
            <p:cNvSpPr/>
            <p:nvPr/>
          </p:nvSpPr>
          <p:spPr>
            <a:xfrm>
              <a:off x="8572500" y="4800600"/>
              <a:ext cx="3429000" cy="114300"/>
            </a:xfrm>
            <a:prstGeom prst="rect">
              <a:avLst/>
            </a:prstGeom>
            <a:solidFill>
              <a:srgbClr val="6B1B0B"/>
            </a:solidFill>
            <a:ln>
              <a:noFill/>
            </a:ln>
          </p:spPr>
        </p:sp>
        <p:grpSp>
          <p:nvGrpSpPr>
            <p:cNvPr id="326" name="Group 326"/>
            <p:cNvGrpSpPr/>
            <p:nvPr/>
          </p:nvGrpSpPr>
          <p:grpSpPr>
            <a:xfrm>
              <a:off x="8718010" y="4741340"/>
              <a:ext cx="128076" cy="110034"/>
              <a:chOff x="8718010" y="4741340"/>
              <a:chExt cx="128076" cy="110034"/>
            </a:xfrm>
          </p:grpSpPr>
          <p:sp>
            <p:nvSpPr>
              <p:cNvPr id="323" name="Freeform 323"/>
              <p:cNvSpPr/>
              <p:nvPr/>
            </p:nvSpPr>
            <p:spPr>
              <a:xfrm>
                <a:off x="8782050" y="4781550"/>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324" name="Freeform 324"/>
              <p:cNvSpPr/>
              <p:nvPr/>
            </p:nvSpPr>
            <p:spPr>
              <a:xfrm>
                <a:off x="8718010" y="474134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FFFFFF"/>
                </a:solidFill>
              </a:ln>
            </p:spPr>
          </p:sp>
          <p:sp>
            <p:nvSpPr>
              <p:cNvPr id="325" name="Freeform 325"/>
              <p:cNvSpPr/>
              <p:nvPr/>
            </p:nvSpPr>
            <p:spPr>
              <a:xfrm>
                <a:off x="8782050" y="4826000"/>
                <a:ext cx="9525" cy="9525"/>
              </a:xfrm>
              <a:custGeom>
                <a:avLst/>
                <a:gdLst/>
                <a:ahLst/>
                <a:cxnLst/>
                <a:rect l="l" t="t" r="r" b="b"/>
                <a:pathLst>
                  <a:path w="9525" h="9525">
                    <a:moveTo>
                      <a:pt x="0" y="0"/>
                    </a:moveTo>
                    <a:lnTo>
                      <a:pt x="64" y="0"/>
                    </a:lnTo>
                  </a:path>
                </a:pathLst>
              </a:custGeom>
              <a:noFill/>
              <a:ln w="12700">
                <a:solidFill>
                  <a:srgbClr val="FFFFFF"/>
                </a:solidFill>
              </a:ln>
            </p:spPr>
          </p:sp>
        </p:grpSp>
        <p:sp>
          <p:nvSpPr>
            <p:cNvPr id="327" name="TextBox 327"/>
            <p:cNvSpPr txBox="1"/>
            <p:nvPr/>
          </p:nvSpPr>
          <p:spPr>
            <a:xfrm>
              <a:off x="8929688" y="4741545"/>
              <a:ext cx="97878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智能体不自主交易</a:t>
              </a:r>
            </a:p>
          </p:txBody>
        </p:sp>
        <p:sp>
          <p:nvSpPr>
            <p:cNvPr id="328" name="TextBox 328"/>
            <p:cNvSpPr txBox="1"/>
            <p:nvPr/>
          </p:nvSpPr>
          <p:spPr>
            <a:xfrm>
              <a:off x="8701088" y="5070634"/>
              <a:ext cx="2648890"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智能体仅提供分析、测算与配置建议，不自主下单或执行交易。</a:t>
              </a:r>
            </a:p>
          </p:txBody>
        </p:sp>
        <p:sp>
          <p:nvSpPr>
            <p:cNvPr id="329" name="TextBox 329"/>
            <p:cNvSpPr txBox="1"/>
            <p:nvPr/>
          </p:nvSpPr>
          <p:spPr>
            <a:xfrm>
              <a:off x="8701088" y="5280184"/>
              <a:ext cx="2557348"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所有重大风险识别、交易、投资、承保必须由授权人员确认。</a:t>
              </a:r>
            </a:p>
          </p:txBody>
        </p:sp>
        <p:sp>
          <p:nvSpPr>
            <p:cNvPr id="330" name="TextBox 330"/>
            <p:cNvSpPr txBox="1"/>
            <p:nvPr/>
          </p:nvSpPr>
          <p:spPr>
            <a:xfrm>
              <a:off x="8701088" y="5489734"/>
              <a:ext cx="182501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页面数据均为示例测算，不构成投资建议。</a:t>
              </a:r>
            </a:p>
          </p:txBody>
        </p:sp>
      </p:grpSp>
      <p:grpSp>
        <p:nvGrpSpPr>
          <p:cNvPr id="334" name="kpi-head"/>
          <p:cNvGrpSpPr/>
          <p:nvPr/>
        </p:nvGrpSpPr>
        <p:grpSpPr>
          <a:xfrm>
            <a:off x="2571750" y="5257800"/>
            <a:ext cx="5905500" cy="272987"/>
            <a:chOff x="2571750" y="5257800"/>
            <a:chExt cx="5905500" cy="272987"/>
          </a:xfrm>
        </p:grpSpPr>
        <p:sp>
          <p:nvSpPr>
            <p:cNvPr id="332" name="Rectangle 332"/>
            <p:cNvSpPr/>
            <p:nvPr/>
          </p:nvSpPr>
          <p:spPr>
            <a:xfrm>
              <a:off x="2571750" y="5257800"/>
              <a:ext cx="5905500" cy="266700"/>
            </a:xfrm>
            <a:prstGeom prst="rect">
              <a:avLst/>
            </a:prstGeom>
            <a:gradFill>
              <a:gsLst>
                <a:gs pos="0">
                  <a:srgbClr val="92301C"/>
                </a:gs>
                <a:gs pos="100000">
                  <a:srgbClr val="B7533F"/>
                </a:gs>
              </a:gsLst>
              <a:lin ang="0" scaled="1"/>
            </a:gradFill>
            <a:ln>
              <a:noFill/>
            </a:ln>
          </p:spPr>
        </p:sp>
        <p:sp>
          <p:nvSpPr>
            <p:cNvPr id="333" name="TextBox 333"/>
            <p:cNvSpPr txBox="1"/>
            <p:nvPr/>
          </p:nvSpPr>
          <p:spPr>
            <a:xfrm>
              <a:off x="2699766" y="5325428"/>
              <a:ext cx="1914195"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组合关键风险指标</a:t>
              </a:r>
              <a:r>
                <a:rPr lang="zh-CN" sz="820" dirty="0">
                  <a:solidFill>
                    <a:srgbClr val="FFFFFF"/>
                  </a:solidFill>
                  <a:latin typeface="+mn-lt"/>
                  <a:ea typeface="+mn-ea"/>
                  <a:cs typeface="+mn-cs"/>
                </a:rPr>
                <a:t xml:space="preserve">（示例测算）　</a:t>
              </a:r>
            </a:p>
          </p:txBody>
        </p:sp>
      </p:grpSp>
      <p:grpSp>
        <p:nvGrpSpPr>
          <p:cNvPr id="385" name="kpi-cards"/>
          <p:cNvGrpSpPr/>
          <p:nvPr/>
        </p:nvGrpSpPr>
        <p:grpSpPr>
          <a:xfrm>
            <a:off x="2571750" y="5562600"/>
            <a:ext cx="5905500" cy="1009650"/>
            <a:chOff x="2571750" y="5562600"/>
            <a:chExt cx="5905500" cy="1009650"/>
          </a:xfrm>
        </p:grpSpPr>
        <p:grpSp>
          <p:nvGrpSpPr>
            <p:cNvPr id="343" name="kc-1"/>
            <p:cNvGrpSpPr/>
            <p:nvPr/>
          </p:nvGrpSpPr>
          <p:grpSpPr>
            <a:xfrm>
              <a:off x="2571750" y="5562600"/>
              <a:ext cx="1104900" cy="1009650"/>
              <a:chOff x="2571750" y="5562600"/>
              <a:chExt cx="1104900" cy="1009650"/>
            </a:xfrm>
          </p:grpSpPr>
          <p:sp>
            <p:nvSpPr>
              <p:cNvPr id="335" name="Rectangle 335"/>
              <p:cNvSpPr/>
              <p:nvPr/>
            </p:nvSpPr>
            <p:spPr>
              <a:xfrm>
                <a:off x="2571750" y="5562600"/>
                <a:ext cx="1104900" cy="1009650"/>
              </a:xfrm>
              <a:prstGeom prst="roundRect">
                <a:avLst>
                  <a:gd name="adj" fmla="val 5660"/>
                </a:avLst>
              </a:prstGeom>
              <a:solidFill>
                <a:srgbClr val="EEF5FB"/>
              </a:solidFill>
              <a:ln>
                <a:noFill/>
              </a:ln>
            </p:spPr>
          </p:sp>
          <p:grpSp>
            <p:nvGrpSpPr>
              <p:cNvPr id="338" name="Group 338"/>
              <p:cNvGrpSpPr/>
              <p:nvPr/>
            </p:nvGrpSpPr>
            <p:grpSpPr>
              <a:xfrm>
                <a:off x="2695575" y="5700712"/>
                <a:ext cx="114300" cy="102394"/>
                <a:chOff x="2695575" y="5700712"/>
                <a:chExt cx="114300" cy="102394"/>
              </a:xfrm>
            </p:grpSpPr>
            <p:sp>
              <p:nvSpPr>
                <p:cNvPr id="336" name="Freeform 336"/>
                <p:cNvSpPr/>
                <p:nvPr/>
              </p:nvSpPr>
              <p:spPr>
                <a:xfrm>
                  <a:off x="2695575" y="5793581"/>
                  <a:ext cx="114300" cy="9525"/>
                </a:xfrm>
                <a:custGeom>
                  <a:avLst/>
                  <a:gdLst/>
                  <a:ahLst/>
                  <a:cxnLst/>
                  <a:rect l="l" t="t" r="r" b="b"/>
                  <a:pathLst>
                    <a:path w="114300" h="9525">
                      <a:moveTo>
                        <a:pt x="0" y="0"/>
                      </a:moveTo>
                      <a:lnTo>
                        <a:pt x="114300" y="0"/>
                      </a:lnTo>
                    </a:path>
                  </a:pathLst>
                </a:custGeom>
                <a:noFill/>
                <a:ln w="14288">
                  <a:solidFill>
                    <a:srgbClr val="92301C"/>
                  </a:solidFill>
                </a:ln>
              </p:spPr>
            </p:sp>
            <p:sp>
              <p:nvSpPr>
                <p:cNvPr id="337" name="Freeform 337"/>
                <p:cNvSpPr/>
                <p:nvPr/>
              </p:nvSpPr>
              <p:spPr>
                <a:xfrm>
                  <a:off x="2695575" y="5700712"/>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92301C"/>
                  </a:solidFill>
                </a:ln>
              </p:spPr>
            </p:sp>
          </p:grpSp>
          <p:sp>
            <p:nvSpPr>
              <p:cNvPr id="339" name="TextBox 339"/>
              <p:cNvSpPr txBox="1"/>
              <p:nvPr/>
            </p:nvSpPr>
            <p:spPr>
              <a:xfrm>
                <a:off x="2890838" y="5710238"/>
                <a:ext cx="413385" cy="147638"/>
              </a:xfrm>
              <a:prstGeom prst="rect">
                <a:avLst/>
              </a:prstGeom>
              <a:noFill/>
              <a:ln>
                <a:noFill/>
              </a:ln>
            </p:spPr>
            <p:txBody>
              <a:bodyPr wrap="none" lIns="0" tIns="0" rIns="0" bIns="0" anchor="t" anchorCtr="0">
                <a:spAutoFit/>
              </a:bodyPr>
              <a:lstStyle/>
              <a:p>
                <a:pPr algn="l"/>
                <a:r>
                  <a:rPr lang="zh-CN" sz="750" b="1" dirty="0">
                    <a:solidFill>
                      <a:srgbClr val="52352F"/>
                    </a:solidFill>
                    <a:latin typeface="+mn-lt"/>
                    <a:ea typeface="+mn-ea"/>
                    <a:cs typeface="+mn-cs"/>
                  </a:rPr>
                  <a:t>最大回撤</a:t>
                </a:r>
              </a:p>
            </p:txBody>
          </p:sp>
          <p:sp>
            <p:nvSpPr>
              <p:cNvPr id="340" name="TextBox 340"/>
              <p:cNvSpPr txBox="1"/>
              <p:nvPr/>
            </p:nvSpPr>
            <p:spPr>
              <a:xfrm>
                <a:off x="2678811" y="5999321"/>
                <a:ext cx="811349" cy="278702"/>
              </a:xfrm>
              <a:prstGeom prst="rect">
                <a:avLst/>
              </a:prstGeom>
              <a:noFill/>
              <a:ln>
                <a:noFill/>
              </a:ln>
            </p:spPr>
            <p:txBody>
              <a:bodyPr wrap="none" lIns="0" tIns="0" rIns="0" bIns="0" anchor="t" anchorCtr="0">
                <a:spAutoFit/>
              </a:bodyPr>
              <a:lstStyle/>
              <a:p>
                <a:pPr algn="l"/>
                <a:r>
                  <a:rPr lang="zh-CN" sz="1420" b="1" dirty="0">
                    <a:solidFill>
                      <a:srgbClr val="6B1B0B"/>
                    </a:solidFill>
                    <a:latin typeface="+mj-lt"/>
                    <a:ea typeface="+mj-ea"/>
                    <a:cs typeface="+mj-cs"/>
                  </a:rPr>
                  <a:t xml:space="preserve">-12.3%　</a:t>
                </a:r>
              </a:p>
            </p:txBody>
          </p:sp>
          <p:sp>
            <p:nvSpPr>
              <p:cNvPr id="341" name="TextBox 341"/>
              <p:cNvSpPr txBox="1"/>
              <p:nvPr/>
            </p:nvSpPr>
            <p:spPr>
              <a:xfrm>
                <a:off x="2681288" y="6267926"/>
                <a:ext cx="499542"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n-lt"/>
                    <a:ea typeface="+mn-ea"/>
                    <a:cs typeface="+mn-cs"/>
                  </a:rPr>
                  <a:t xml:space="preserve">（示例测算）　</a:t>
                </a:r>
              </a:p>
            </p:txBody>
          </p:sp>
          <p:sp>
            <p:nvSpPr>
              <p:cNvPr id="342" name="TextBox 342"/>
              <p:cNvSpPr txBox="1"/>
              <p:nvPr/>
            </p:nvSpPr>
            <p:spPr>
              <a:xfrm>
                <a:off x="2681288" y="6382226"/>
                <a:ext cx="468041"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n-lt"/>
                    <a:ea typeface="+mn-ea"/>
                    <a:cs typeface="+mn-cs"/>
                  </a:rPr>
                  <a:t xml:space="preserve">（过去3年）　</a:t>
                </a:r>
              </a:p>
            </p:txBody>
          </p:sp>
        </p:grpSp>
        <p:grpSp>
          <p:nvGrpSpPr>
            <p:cNvPr id="354" name="kc-2"/>
            <p:cNvGrpSpPr/>
            <p:nvPr/>
          </p:nvGrpSpPr>
          <p:grpSpPr>
            <a:xfrm>
              <a:off x="3771900" y="5562600"/>
              <a:ext cx="1158197" cy="1009650"/>
              <a:chOff x="3771900" y="5562600"/>
              <a:chExt cx="1158197" cy="1009650"/>
            </a:xfrm>
          </p:grpSpPr>
          <p:sp>
            <p:nvSpPr>
              <p:cNvPr id="344" name="Rectangle 344"/>
              <p:cNvSpPr/>
              <p:nvPr/>
            </p:nvSpPr>
            <p:spPr>
              <a:xfrm>
                <a:off x="3771900" y="5562600"/>
                <a:ext cx="1104900" cy="1009650"/>
              </a:xfrm>
              <a:prstGeom prst="roundRect">
                <a:avLst>
                  <a:gd name="adj" fmla="val 5660"/>
                </a:avLst>
              </a:prstGeom>
              <a:solidFill>
                <a:srgbClr val="EEF5FB"/>
              </a:solidFill>
              <a:ln>
                <a:noFill/>
              </a:ln>
            </p:spPr>
          </p:sp>
          <p:grpSp>
            <p:nvGrpSpPr>
              <p:cNvPr id="349" name="Group 349"/>
              <p:cNvGrpSpPr/>
              <p:nvPr/>
            </p:nvGrpSpPr>
            <p:grpSpPr>
              <a:xfrm>
                <a:off x="3888581" y="5679281"/>
                <a:ext cx="128588" cy="128588"/>
                <a:chOff x="3888581" y="5679281"/>
                <a:chExt cx="128588" cy="128588"/>
              </a:xfrm>
            </p:grpSpPr>
            <p:sp>
              <p:nvSpPr>
                <p:cNvPr id="345" name="Freeform 345"/>
                <p:cNvSpPr/>
                <p:nvPr/>
              </p:nvSpPr>
              <p:spPr>
                <a:xfrm>
                  <a:off x="3888581" y="56792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92301C"/>
                  </a:solidFill>
                </a:ln>
              </p:spPr>
            </p:sp>
            <p:sp>
              <p:nvSpPr>
                <p:cNvPr id="346" name="Freeform 346"/>
                <p:cNvSpPr/>
                <p:nvPr/>
              </p:nvSpPr>
              <p:spPr>
                <a:xfrm>
                  <a:off x="3945731" y="57364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92301C"/>
                  </a:solidFill>
                </a:ln>
              </p:spPr>
            </p:sp>
            <p:sp>
              <p:nvSpPr>
                <p:cNvPr id="347" name="Freeform 347"/>
                <p:cNvSpPr/>
                <p:nvPr/>
              </p:nvSpPr>
              <p:spPr>
                <a:xfrm>
                  <a:off x="3962948" y="5715000"/>
                  <a:ext cx="18502" cy="18502"/>
                </a:xfrm>
                <a:custGeom>
                  <a:avLst/>
                  <a:gdLst/>
                  <a:ahLst/>
                  <a:cxnLst/>
                  <a:rect l="l" t="t" r="r" b="b"/>
                  <a:pathLst>
                    <a:path w="18502" h="18502">
                      <a:moveTo>
                        <a:pt x="0" y="18502"/>
                      </a:moveTo>
                      <a:lnTo>
                        <a:pt x="18502" y="0"/>
                      </a:lnTo>
                    </a:path>
                  </a:pathLst>
                </a:custGeom>
                <a:noFill/>
                <a:ln w="14288">
                  <a:solidFill>
                    <a:srgbClr val="92301C"/>
                  </a:solidFill>
                </a:ln>
              </p:spPr>
            </p:sp>
            <p:sp>
              <p:nvSpPr>
                <p:cNvPr id="348" name="Freeform 348"/>
                <p:cNvSpPr/>
                <p:nvPr/>
              </p:nvSpPr>
              <p:spPr>
                <a:xfrm>
                  <a:off x="3917156" y="5707856"/>
                  <a:ext cx="35719" cy="35719"/>
                </a:xfrm>
                <a:custGeom>
                  <a:avLst/>
                  <a:gdLst/>
                  <a:ahLst/>
                  <a:cxnLst/>
                  <a:rect l="l" t="t" r="r" b="b"/>
                  <a:pathLst>
                    <a:path w="35719" h="35719">
                      <a:moveTo>
                        <a:pt x="0" y="35719"/>
                      </a:moveTo>
                      <a:cubicBezTo>
                        <a:pt x="0" y="15992"/>
                        <a:pt x="15992" y="0"/>
                        <a:pt x="35719" y="0"/>
                      </a:cubicBezTo>
                    </a:path>
                  </a:pathLst>
                </a:custGeom>
                <a:noFill/>
                <a:ln w="14288">
                  <a:solidFill>
                    <a:srgbClr val="92301C"/>
                  </a:solidFill>
                </a:ln>
              </p:spPr>
            </p:sp>
          </p:grpSp>
          <p:sp>
            <p:nvSpPr>
              <p:cNvPr id="350" name="TextBox 350"/>
              <p:cNvSpPr txBox="1"/>
              <p:nvPr/>
            </p:nvSpPr>
            <p:spPr>
              <a:xfrm>
                <a:off x="4090988" y="5710238"/>
                <a:ext cx="839109" cy="147638"/>
              </a:xfrm>
              <a:prstGeom prst="rect">
                <a:avLst/>
              </a:prstGeom>
              <a:noFill/>
              <a:ln>
                <a:noFill/>
              </a:ln>
            </p:spPr>
            <p:txBody>
              <a:bodyPr wrap="none" lIns="0" tIns="0" rIns="0" bIns="0" anchor="t" anchorCtr="0">
                <a:spAutoFit/>
              </a:bodyPr>
              <a:lstStyle/>
              <a:p>
                <a:pPr algn="l"/>
                <a:r>
                  <a:rPr lang="zh-CN" sz="750" b="1" dirty="0">
                    <a:solidFill>
                      <a:srgbClr val="52352F"/>
                    </a:solidFill>
                    <a:latin typeface="+mj-lt"/>
                    <a:ea typeface="+mj-ea"/>
                    <a:cs typeface="+mj-cs"/>
                  </a:rPr>
                  <a:t xml:space="preserve">VaR (95%, 1天)　</a:t>
                </a:r>
              </a:p>
            </p:txBody>
          </p:sp>
          <p:sp>
            <p:nvSpPr>
              <p:cNvPr id="351" name="TextBox 351"/>
              <p:cNvSpPr txBox="1"/>
              <p:nvPr/>
            </p:nvSpPr>
            <p:spPr>
              <a:xfrm>
                <a:off x="3878961" y="5999321"/>
                <a:ext cx="641369" cy="278702"/>
              </a:xfrm>
              <a:prstGeom prst="rect">
                <a:avLst/>
              </a:prstGeom>
              <a:noFill/>
              <a:ln>
                <a:noFill/>
              </a:ln>
            </p:spPr>
            <p:txBody>
              <a:bodyPr wrap="none" lIns="0" tIns="0" rIns="0" bIns="0" anchor="t" anchorCtr="0">
                <a:spAutoFit/>
              </a:bodyPr>
              <a:lstStyle/>
              <a:p>
                <a:pPr algn="l"/>
                <a:r>
                  <a:rPr lang="zh-CN" sz="1420" b="1" dirty="0">
                    <a:solidFill>
                      <a:srgbClr val="6B1B0B"/>
                    </a:solidFill>
                    <a:latin typeface="+mj-lt"/>
                    <a:ea typeface="+mj-ea"/>
                    <a:cs typeface="+mj-cs"/>
                  </a:rPr>
                  <a:t xml:space="preserve">2.1%　</a:t>
                </a:r>
              </a:p>
            </p:txBody>
          </p:sp>
          <p:sp>
            <p:nvSpPr>
              <p:cNvPr id="352" name="TextBox 352"/>
              <p:cNvSpPr txBox="1"/>
              <p:nvPr/>
            </p:nvSpPr>
            <p:spPr>
              <a:xfrm>
                <a:off x="3881438" y="6267926"/>
                <a:ext cx="499542"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n-lt"/>
                    <a:ea typeface="+mn-ea"/>
                    <a:cs typeface="+mn-cs"/>
                  </a:rPr>
                  <a:t xml:space="preserve">（示例测算）　</a:t>
                </a:r>
              </a:p>
            </p:txBody>
          </p:sp>
          <p:sp>
            <p:nvSpPr>
              <p:cNvPr id="353" name="TextBox 353"/>
              <p:cNvSpPr txBox="1"/>
              <p:nvPr/>
            </p:nvSpPr>
            <p:spPr>
              <a:xfrm>
                <a:off x="3881438" y="6382226"/>
                <a:ext cx="499542"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n-lt"/>
                    <a:ea typeface="+mn-ea"/>
                    <a:cs typeface="+mn-cs"/>
                  </a:rPr>
                  <a:t xml:space="preserve">（组合当日）　</a:t>
                </a:r>
              </a:p>
            </p:txBody>
          </p:sp>
        </p:grpSp>
        <p:grpSp>
          <p:nvGrpSpPr>
            <p:cNvPr id="365" name="kc-3"/>
            <p:cNvGrpSpPr/>
            <p:nvPr/>
          </p:nvGrpSpPr>
          <p:grpSpPr>
            <a:xfrm>
              <a:off x="4972050" y="5562600"/>
              <a:ext cx="1104900" cy="1009650"/>
              <a:chOff x="4972050" y="5562600"/>
              <a:chExt cx="1104900" cy="1009650"/>
            </a:xfrm>
          </p:grpSpPr>
          <p:sp>
            <p:nvSpPr>
              <p:cNvPr id="355" name="Rectangle 355"/>
              <p:cNvSpPr/>
              <p:nvPr/>
            </p:nvSpPr>
            <p:spPr>
              <a:xfrm>
                <a:off x="4972050" y="5562600"/>
                <a:ext cx="1104900" cy="1009650"/>
              </a:xfrm>
              <a:prstGeom prst="roundRect">
                <a:avLst>
                  <a:gd name="adj" fmla="val 5660"/>
                </a:avLst>
              </a:prstGeom>
              <a:solidFill>
                <a:srgbClr val="EEF5FB"/>
              </a:solidFill>
              <a:ln>
                <a:noFill/>
              </a:ln>
            </p:spPr>
          </p:sp>
          <p:grpSp>
            <p:nvGrpSpPr>
              <p:cNvPr id="360" name="Group 360"/>
              <p:cNvGrpSpPr/>
              <p:nvPr/>
            </p:nvGrpSpPr>
            <p:grpSpPr>
              <a:xfrm>
                <a:off x="5110162" y="5679281"/>
                <a:ext cx="85725" cy="128588"/>
                <a:chOff x="5110162" y="5679281"/>
                <a:chExt cx="85725" cy="128588"/>
              </a:xfrm>
            </p:grpSpPr>
            <p:sp>
              <p:nvSpPr>
                <p:cNvPr id="356" name="Freeform 356"/>
                <p:cNvSpPr/>
                <p:nvPr/>
              </p:nvSpPr>
              <p:spPr>
                <a:xfrm>
                  <a:off x="5113734" y="5707856"/>
                  <a:ext cx="78581" cy="9525"/>
                </a:xfrm>
                <a:custGeom>
                  <a:avLst/>
                  <a:gdLst/>
                  <a:ahLst/>
                  <a:cxnLst/>
                  <a:rect l="l" t="t" r="r" b="b"/>
                  <a:pathLst>
                    <a:path w="78581" h="9525">
                      <a:moveTo>
                        <a:pt x="0" y="0"/>
                      </a:moveTo>
                      <a:lnTo>
                        <a:pt x="78581" y="0"/>
                      </a:lnTo>
                    </a:path>
                  </a:pathLst>
                </a:custGeom>
                <a:noFill/>
                <a:ln w="14288">
                  <a:solidFill>
                    <a:srgbClr val="92301C"/>
                  </a:solidFill>
                </a:ln>
              </p:spPr>
            </p:sp>
            <p:sp>
              <p:nvSpPr>
                <p:cNvPr id="357" name="Freeform 357"/>
                <p:cNvSpPr/>
                <p:nvPr/>
              </p:nvSpPr>
              <p:spPr>
                <a:xfrm>
                  <a:off x="5113734" y="5779294"/>
                  <a:ext cx="78581" cy="9525"/>
                </a:xfrm>
                <a:custGeom>
                  <a:avLst/>
                  <a:gdLst/>
                  <a:ahLst/>
                  <a:cxnLst/>
                  <a:rect l="l" t="t" r="r" b="b"/>
                  <a:pathLst>
                    <a:path w="78581" h="9525">
                      <a:moveTo>
                        <a:pt x="0" y="0"/>
                      </a:moveTo>
                      <a:lnTo>
                        <a:pt x="78581" y="0"/>
                      </a:lnTo>
                    </a:path>
                  </a:pathLst>
                </a:custGeom>
                <a:noFill/>
                <a:ln w="14288">
                  <a:solidFill>
                    <a:srgbClr val="92301C"/>
                  </a:solidFill>
                </a:ln>
              </p:spPr>
            </p:sp>
            <p:sp>
              <p:nvSpPr>
                <p:cNvPr id="358" name="Freeform 358"/>
                <p:cNvSpPr/>
                <p:nvPr/>
              </p:nvSpPr>
              <p:spPr>
                <a:xfrm>
                  <a:off x="5110162" y="5743575"/>
                  <a:ext cx="85725" cy="64294"/>
                </a:xfrm>
                <a:custGeom>
                  <a:avLst/>
                  <a:gdLst/>
                  <a:ahLst/>
                  <a:cxnLst/>
                  <a:rect l="l" t="t" r="r" b="b"/>
                  <a:pathLst>
                    <a:path w="85725" h="64294">
                      <a:moveTo>
                        <a:pt x="0" y="57150"/>
                      </a:moveTo>
                      <a:lnTo>
                        <a:pt x="0" y="42862"/>
                      </a:lnTo>
                      <a:cubicBezTo>
                        <a:pt x="0" y="19190"/>
                        <a:pt x="19190" y="0"/>
                        <a:pt x="42862" y="0"/>
                      </a:cubicBezTo>
                      <a:cubicBezTo>
                        <a:pt x="66535" y="0"/>
                        <a:pt x="85725" y="19190"/>
                        <a:pt x="85725" y="42862"/>
                      </a:cubicBezTo>
                      <a:lnTo>
                        <a:pt x="85725" y="57150"/>
                      </a:lnTo>
                      <a:cubicBezTo>
                        <a:pt x="85725" y="61095"/>
                        <a:pt x="82527" y="64294"/>
                        <a:pt x="78581" y="64294"/>
                      </a:cubicBezTo>
                      <a:lnTo>
                        <a:pt x="7144" y="64294"/>
                      </a:lnTo>
                      <a:cubicBezTo>
                        <a:pt x="3198" y="64294"/>
                        <a:pt x="0" y="61095"/>
                        <a:pt x="0" y="57150"/>
                      </a:cubicBezTo>
                    </a:path>
                  </a:pathLst>
                </a:custGeom>
                <a:noFill/>
                <a:ln w="14288">
                  <a:solidFill>
                    <a:srgbClr val="92301C"/>
                  </a:solidFill>
                </a:ln>
              </p:spPr>
            </p:sp>
            <p:sp>
              <p:nvSpPr>
                <p:cNvPr id="359" name="Freeform 359"/>
                <p:cNvSpPr/>
                <p:nvPr/>
              </p:nvSpPr>
              <p:spPr>
                <a:xfrm>
                  <a:off x="5110162" y="5679281"/>
                  <a:ext cx="85725" cy="64294"/>
                </a:xfrm>
                <a:custGeom>
                  <a:avLst/>
                  <a:gdLst/>
                  <a:ahLst/>
                  <a:cxnLst/>
                  <a:rect l="l" t="t" r="r" b="b"/>
                  <a:pathLst>
                    <a:path w="85725" h="64294">
                      <a:moveTo>
                        <a:pt x="0" y="7144"/>
                      </a:moveTo>
                      <a:lnTo>
                        <a:pt x="0" y="21431"/>
                      </a:lnTo>
                      <a:cubicBezTo>
                        <a:pt x="0" y="45104"/>
                        <a:pt x="19190" y="64294"/>
                        <a:pt x="42862" y="64294"/>
                      </a:cubicBezTo>
                      <a:cubicBezTo>
                        <a:pt x="66535" y="64294"/>
                        <a:pt x="85725" y="45104"/>
                        <a:pt x="85725" y="21431"/>
                      </a:cubicBezTo>
                      <a:lnTo>
                        <a:pt x="85725" y="7144"/>
                      </a:lnTo>
                      <a:cubicBezTo>
                        <a:pt x="85725" y="3198"/>
                        <a:pt x="82527" y="0"/>
                        <a:pt x="78581" y="0"/>
                      </a:cubicBezTo>
                      <a:lnTo>
                        <a:pt x="7144" y="0"/>
                      </a:lnTo>
                      <a:cubicBezTo>
                        <a:pt x="3198" y="0"/>
                        <a:pt x="0" y="3198"/>
                        <a:pt x="0" y="7144"/>
                      </a:cubicBezTo>
                    </a:path>
                  </a:pathLst>
                </a:custGeom>
                <a:noFill/>
                <a:ln w="14288">
                  <a:solidFill>
                    <a:srgbClr val="92301C"/>
                  </a:solidFill>
                </a:ln>
              </p:spPr>
            </p:sp>
          </p:grpSp>
          <p:sp>
            <p:nvSpPr>
              <p:cNvPr id="361" name="TextBox 361"/>
              <p:cNvSpPr txBox="1"/>
              <p:nvPr/>
            </p:nvSpPr>
            <p:spPr>
              <a:xfrm>
                <a:off x="5291138" y="5710238"/>
                <a:ext cx="413385" cy="147638"/>
              </a:xfrm>
              <a:prstGeom prst="rect">
                <a:avLst/>
              </a:prstGeom>
              <a:noFill/>
              <a:ln>
                <a:noFill/>
              </a:ln>
            </p:spPr>
            <p:txBody>
              <a:bodyPr wrap="none" lIns="0" tIns="0" rIns="0" bIns="0" anchor="t" anchorCtr="0">
                <a:spAutoFit/>
              </a:bodyPr>
              <a:lstStyle/>
              <a:p>
                <a:pPr algn="l"/>
                <a:r>
                  <a:rPr lang="zh-CN" sz="750" b="1" dirty="0">
                    <a:solidFill>
                      <a:srgbClr val="52352F"/>
                    </a:solidFill>
                    <a:latin typeface="+mn-lt"/>
                    <a:ea typeface="+mn-ea"/>
                    <a:cs typeface="+mn-cs"/>
                  </a:rPr>
                  <a:t>组合久期</a:t>
                </a:r>
              </a:p>
            </p:txBody>
          </p:sp>
          <p:sp>
            <p:nvSpPr>
              <p:cNvPr id="362" name="TextBox 362"/>
              <p:cNvSpPr txBox="1"/>
              <p:nvPr/>
            </p:nvSpPr>
            <p:spPr>
              <a:xfrm>
                <a:off x="5079111" y="5999321"/>
                <a:ext cx="715654" cy="278702"/>
              </a:xfrm>
              <a:prstGeom prst="rect">
                <a:avLst/>
              </a:prstGeom>
              <a:noFill/>
              <a:ln>
                <a:noFill/>
              </a:ln>
            </p:spPr>
            <p:txBody>
              <a:bodyPr wrap="none" lIns="0" tIns="0" rIns="0" bIns="0" anchor="t" anchorCtr="0">
                <a:spAutoFit/>
              </a:bodyPr>
              <a:lstStyle/>
              <a:p>
                <a:pPr algn="l"/>
                <a:r>
                  <a:rPr lang="zh-CN" sz="1420" b="1" dirty="0">
                    <a:solidFill>
                      <a:srgbClr val="6B1B0B"/>
                    </a:solidFill>
                    <a:latin typeface="+mj-lt"/>
                    <a:ea typeface="+mj-ea"/>
                    <a:cs typeface="+mj-cs"/>
                  </a:rPr>
                  <a:t xml:space="preserve">3.2 年　</a:t>
                </a:r>
              </a:p>
            </p:txBody>
          </p:sp>
          <p:sp>
            <p:nvSpPr>
              <p:cNvPr id="363" name="TextBox 363"/>
              <p:cNvSpPr txBox="1"/>
              <p:nvPr/>
            </p:nvSpPr>
            <p:spPr>
              <a:xfrm>
                <a:off x="5081588" y="6267926"/>
                <a:ext cx="499542"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n-lt"/>
                    <a:ea typeface="+mn-ea"/>
                    <a:cs typeface="+mn-cs"/>
                  </a:rPr>
                  <a:t xml:space="preserve">（示例测算）　</a:t>
                </a:r>
              </a:p>
            </p:txBody>
          </p:sp>
          <p:sp>
            <p:nvSpPr>
              <p:cNvPr id="364" name="TextBox 364"/>
              <p:cNvSpPr txBox="1"/>
              <p:nvPr/>
            </p:nvSpPr>
            <p:spPr>
              <a:xfrm>
                <a:off x="5081588" y="6382226"/>
                <a:ext cx="499542"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n-lt"/>
                    <a:ea typeface="+mn-ea"/>
                    <a:cs typeface="+mn-cs"/>
                  </a:rPr>
                  <a:t xml:space="preserve">（加权平均）　</a:t>
                </a:r>
              </a:p>
            </p:txBody>
          </p:sp>
        </p:grpSp>
        <p:grpSp>
          <p:nvGrpSpPr>
            <p:cNvPr id="374" name="kc-4"/>
            <p:cNvGrpSpPr/>
            <p:nvPr/>
          </p:nvGrpSpPr>
          <p:grpSpPr>
            <a:xfrm>
              <a:off x="6172200" y="5562600"/>
              <a:ext cx="1136333" cy="1009650"/>
              <a:chOff x="6172200" y="5562600"/>
              <a:chExt cx="1136333" cy="1009650"/>
            </a:xfrm>
          </p:grpSpPr>
          <p:sp>
            <p:nvSpPr>
              <p:cNvPr id="366" name="Rectangle 366"/>
              <p:cNvSpPr/>
              <p:nvPr/>
            </p:nvSpPr>
            <p:spPr>
              <a:xfrm>
                <a:off x="6172200" y="5562600"/>
                <a:ext cx="1104900" cy="1009650"/>
              </a:xfrm>
              <a:prstGeom prst="roundRect">
                <a:avLst>
                  <a:gd name="adj" fmla="val 5660"/>
                </a:avLst>
              </a:prstGeom>
              <a:solidFill>
                <a:srgbClr val="EEF5FB"/>
              </a:solidFill>
              <a:ln>
                <a:noFill/>
              </a:ln>
            </p:spPr>
          </p:sp>
          <p:grpSp>
            <p:nvGrpSpPr>
              <p:cNvPr id="369" name="Group 369"/>
              <p:cNvGrpSpPr/>
              <p:nvPr/>
            </p:nvGrpSpPr>
            <p:grpSpPr>
              <a:xfrm>
                <a:off x="6286890" y="5680510"/>
                <a:ext cx="129150" cy="129350"/>
                <a:chOff x="6286890" y="5680510"/>
                <a:chExt cx="129150" cy="129350"/>
              </a:xfrm>
            </p:grpSpPr>
            <p:sp>
              <p:nvSpPr>
                <p:cNvPr id="367" name="Freeform 367"/>
                <p:cNvSpPr/>
                <p:nvPr/>
              </p:nvSpPr>
              <p:spPr>
                <a:xfrm>
                  <a:off x="6286890" y="5680510"/>
                  <a:ext cx="129150" cy="129350"/>
                </a:xfrm>
                <a:custGeom>
                  <a:avLst/>
                  <a:gdLst/>
                  <a:ahLst/>
                  <a:cxnLst/>
                  <a:rect l="l" t="t" r="r" b="b"/>
                  <a:pathLst>
                    <a:path w="129150" h="129350">
                      <a:moveTo>
                        <a:pt x="51998" y="200"/>
                      </a:moveTo>
                      <a:cubicBezTo>
                        <a:pt x="21065" y="7371"/>
                        <a:pt x="0" y="36049"/>
                        <a:pt x="2409" y="67710"/>
                      </a:cubicBezTo>
                      <a:cubicBezTo>
                        <a:pt x="4818" y="99372"/>
                        <a:pt x="29979" y="124533"/>
                        <a:pt x="61640" y="126942"/>
                      </a:cubicBezTo>
                      <a:cubicBezTo>
                        <a:pt x="93301" y="129350"/>
                        <a:pt x="121979" y="108285"/>
                        <a:pt x="129150" y="77353"/>
                      </a:cubicBezTo>
                      <a:cubicBezTo>
                        <a:pt x="129150" y="73407"/>
                        <a:pt x="125952" y="70209"/>
                        <a:pt x="122006" y="70209"/>
                      </a:cubicBezTo>
                      <a:lnTo>
                        <a:pt x="73429" y="70209"/>
                      </a:lnTo>
                      <a:cubicBezTo>
                        <a:pt x="65538" y="70209"/>
                        <a:pt x="59141" y="63812"/>
                        <a:pt x="59141" y="55922"/>
                      </a:cubicBezTo>
                      <a:lnTo>
                        <a:pt x="59141" y="5915"/>
                      </a:lnTo>
                      <a:cubicBezTo>
                        <a:pt x="58962" y="4206"/>
                        <a:pt x="58106" y="2639"/>
                        <a:pt x="56763" y="1565"/>
                      </a:cubicBezTo>
                      <a:cubicBezTo>
                        <a:pt x="55421" y="492"/>
                        <a:pt x="53705" y="0"/>
                        <a:pt x="51998" y="200"/>
                      </a:cubicBezTo>
                    </a:path>
                  </a:pathLst>
                </a:custGeom>
                <a:noFill/>
                <a:ln w="14288">
                  <a:solidFill>
                    <a:srgbClr val="92301C"/>
                  </a:solidFill>
                </a:ln>
              </p:spPr>
            </p:sp>
            <p:sp>
              <p:nvSpPr>
                <p:cNvPr id="368" name="Freeform 368"/>
                <p:cNvSpPr/>
                <p:nvPr/>
              </p:nvSpPr>
              <p:spPr>
                <a:xfrm>
                  <a:off x="6374606" y="5682853"/>
                  <a:ext cx="39291" cy="39291"/>
                </a:xfrm>
                <a:custGeom>
                  <a:avLst/>
                  <a:gdLst/>
                  <a:ahLst/>
                  <a:cxnLst/>
                  <a:rect l="l" t="t" r="r" b="b"/>
                  <a:pathLst>
                    <a:path w="39291" h="39291">
                      <a:moveTo>
                        <a:pt x="0" y="0"/>
                      </a:moveTo>
                      <a:cubicBezTo>
                        <a:pt x="18372" y="6469"/>
                        <a:pt x="32822" y="20918"/>
                        <a:pt x="39291" y="39291"/>
                      </a:cubicBezTo>
                      <a:lnTo>
                        <a:pt x="7144" y="39291"/>
                      </a:lnTo>
                      <a:cubicBezTo>
                        <a:pt x="3198" y="39291"/>
                        <a:pt x="0" y="36092"/>
                        <a:pt x="0" y="32147"/>
                      </a:cubicBezTo>
                      <a:lnTo>
                        <a:pt x="0" y="0"/>
                      </a:lnTo>
                    </a:path>
                  </a:pathLst>
                </a:custGeom>
                <a:noFill/>
                <a:ln w="14288">
                  <a:solidFill>
                    <a:srgbClr val="92301C"/>
                  </a:solidFill>
                </a:ln>
              </p:spPr>
            </p:sp>
          </p:grpSp>
          <p:sp>
            <p:nvSpPr>
              <p:cNvPr id="370" name="TextBox 370"/>
              <p:cNvSpPr txBox="1"/>
              <p:nvPr/>
            </p:nvSpPr>
            <p:spPr>
              <a:xfrm>
                <a:off x="6491288" y="5710238"/>
                <a:ext cx="817245" cy="147638"/>
              </a:xfrm>
              <a:prstGeom prst="rect">
                <a:avLst/>
              </a:prstGeom>
              <a:noFill/>
              <a:ln>
                <a:noFill/>
              </a:ln>
            </p:spPr>
            <p:txBody>
              <a:bodyPr wrap="none" lIns="0" tIns="0" rIns="0" bIns="0" anchor="t" anchorCtr="0">
                <a:spAutoFit/>
              </a:bodyPr>
              <a:lstStyle/>
              <a:p>
                <a:pPr algn="l"/>
                <a:r>
                  <a:rPr lang="zh-CN" sz="750" b="1" dirty="0">
                    <a:solidFill>
                      <a:srgbClr val="52352F"/>
                    </a:solidFill>
                    <a:latin typeface="+mn-lt"/>
                    <a:ea typeface="+mn-ea"/>
                    <a:cs typeface="+mn-cs"/>
                  </a:rPr>
                  <a:t>前五大持仓集中度</a:t>
                </a:r>
              </a:p>
            </p:txBody>
          </p:sp>
          <p:sp>
            <p:nvSpPr>
              <p:cNvPr id="371" name="TextBox 371"/>
              <p:cNvSpPr txBox="1"/>
              <p:nvPr/>
            </p:nvSpPr>
            <p:spPr>
              <a:xfrm>
                <a:off x="6279261" y="5999321"/>
                <a:ext cx="747693" cy="278702"/>
              </a:xfrm>
              <a:prstGeom prst="rect">
                <a:avLst/>
              </a:prstGeom>
              <a:noFill/>
              <a:ln>
                <a:noFill/>
              </a:ln>
            </p:spPr>
            <p:txBody>
              <a:bodyPr wrap="none" lIns="0" tIns="0" rIns="0" bIns="0" anchor="t" anchorCtr="0">
                <a:spAutoFit/>
              </a:bodyPr>
              <a:lstStyle/>
              <a:p>
                <a:pPr algn="l"/>
                <a:r>
                  <a:rPr lang="zh-CN" sz="1420" b="1" dirty="0">
                    <a:solidFill>
                      <a:srgbClr val="6B1B0B"/>
                    </a:solidFill>
                    <a:latin typeface="+mj-lt"/>
                    <a:ea typeface="+mj-ea"/>
                    <a:cs typeface="+mj-cs"/>
                  </a:rPr>
                  <a:t xml:space="preserve">18.6%　</a:t>
                </a:r>
              </a:p>
            </p:txBody>
          </p:sp>
          <p:sp>
            <p:nvSpPr>
              <p:cNvPr id="372" name="TextBox 372"/>
              <p:cNvSpPr txBox="1"/>
              <p:nvPr/>
            </p:nvSpPr>
            <p:spPr>
              <a:xfrm>
                <a:off x="6281738" y="6267926"/>
                <a:ext cx="499542"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n-lt"/>
                    <a:ea typeface="+mn-ea"/>
                    <a:cs typeface="+mn-cs"/>
                  </a:rPr>
                  <a:t xml:space="preserve">（示例测算）　</a:t>
                </a:r>
              </a:p>
            </p:txBody>
          </p:sp>
          <p:sp>
            <p:nvSpPr>
              <p:cNvPr id="373" name="TextBox 373"/>
              <p:cNvSpPr txBox="1"/>
              <p:nvPr/>
            </p:nvSpPr>
            <p:spPr>
              <a:xfrm>
                <a:off x="6281738" y="6382226"/>
                <a:ext cx="499542"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n-lt"/>
                    <a:ea typeface="+mn-ea"/>
                    <a:cs typeface="+mn-cs"/>
                  </a:rPr>
                  <a:t xml:space="preserve">（市值口径）　</a:t>
                </a:r>
              </a:p>
            </p:txBody>
          </p:sp>
        </p:grpSp>
        <p:grpSp>
          <p:nvGrpSpPr>
            <p:cNvPr id="384" name="kc-5"/>
            <p:cNvGrpSpPr/>
            <p:nvPr/>
          </p:nvGrpSpPr>
          <p:grpSpPr>
            <a:xfrm>
              <a:off x="7372350" y="5562600"/>
              <a:ext cx="1104900" cy="1009650"/>
              <a:chOff x="7372350" y="5562600"/>
              <a:chExt cx="1104900" cy="1009650"/>
            </a:xfrm>
          </p:grpSpPr>
          <p:sp>
            <p:nvSpPr>
              <p:cNvPr id="375" name="Rectangle 375"/>
              <p:cNvSpPr/>
              <p:nvPr/>
            </p:nvSpPr>
            <p:spPr>
              <a:xfrm>
                <a:off x="7372350" y="5562600"/>
                <a:ext cx="1104900" cy="1009650"/>
              </a:xfrm>
              <a:prstGeom prst="roundRect">
                <a:avLst>
                  <a:gd name="adj" fmla="val 5660"/>
                </a:avLst>
              </a:prstGeom>
              <a:solidFill>
                <a:srgbClr val="EEF5FB"/>
              </a:solidFill>
              <a:ln>
                <a:noFill/>
              </a:ln>
            </p:spPr>
          </p:sp>
          <p:grpSp>
            <p:nvGrpSpPr>
              <p:cNvPr id="379" name="Group 379"/>
              <p:cNvGrpSpPr/>
              <p:nvPr/>
            </p:nvGrpSpPr>
            <p:grpSpPr>
              <a:xfrm>
                <a:off x="7489031" y="5693569"/>
                <a:ext cx="128587" cy="100013"/>
                <a:chOff x="7489031" y="5693569"/>
                <a:chExt cx="128587" cy="100013"/>
              </a:xfrm>
            </p:grpSpPr>
            <p:sp>
              <p:nvSpPr>
                <p:cNvPr id="376" name="Freeform 376"/>
                <p:cNvSpPr/>
                <p:nvPr/>
              </p:nvSpPr>
              <p:spPr>
                <a:xfrm>
                  <a:off x="7489031" y="5693569"/>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92301C"/>
                  </a:solidFill>
                </a:ln>
              </p:spPr>
            </p:sp>
            <p:sp>
              <p:nvSpPr>
                <p:cNvPr id="377" name="Freeform 377"/>
                <p:cNvSpPr/>
                <p:nvPr/>
              </p:nvSpPr>
              <p:spPr>
                <a:xfrm>
                  <a:off x="7517606" y="5722144"/>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92301C"/>
                  </a:solidFill>
                </a:ln>
              </p:spPr>
            </p:sp>
            <p:sp>
              <p:nvSpPr>
                <p:cNvPr id="378" name="Freeform 378"/>
                <p:cNvSpPr/>
                <p:nvPr/>
              </p:nvSpPr>
              <p:spPr>
                <a:xfrm>
                  <a:off x="7553325" y="574357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92301C"/>
                  </a:solidFill>
                </a:ln>
              </p:spPr>
            </p:sp>
          </p:grpSp>
          <p:sp>
            <p:nvSpPr>
              <p:cNvPr id="380" name="TextBox 380"/>
              <p:cNvSpPr txBox="1"/>
              <p:nvPr/>
            </p:nvSpPr>
            <p:spPr>
              <a:xfrm>
                <a:off x="7691438" y="5710238"/>
                <a:ext cx="615315" cy="147638"/>
              </a:xfrm>
              <a:prstGeom prst="rect">
                <a:avLst/>
              </a:prstGeom>
              <a:noFill/>
              <a:ln>
                <a:noFill/>
              </a:ln>
            </p:spPr>
            <p:txBody>
              <a:bodyPr wrap="none" lIns="0" tIns="0" rIns="0" bIns="0" anchor="t" anchorCtr="0">
                <a:spAutoFit/>
              </a:bodyPr>
              <a:lstStyle/>
              <a:p>
                <a:pPr algn="l"/>
                <a:r>
                  <a:rPr lang="zh-CN" sz="750" b="1" dirty="0">
                    <a:solidFill>
                      <a:srgbClr val="52352F"/>
                    </a:solidFill>
                    <a:latin typeface="+mn-lt"/>
                    <a:ea typeface="+mn-ea"/>
                    <a:cs typeface="+mn-cs"/>
                  </a:rPr>
                  <a:t>流动性覆盖率</a:t>
                </a:r>
              </a:p>
            </p:txBody>
          </p:sp>
          <p:sp>
            <p:nvSpPr>
              <p:cNvPr id="381" name="TextBox 381"/>
              <p:cNvSpPr txBox="1"/>
              <p:nvPr/>
            </p:nvSpPr>
            <p:spPr>
              <a:xfrm>
                <a:off x="7479411" y="5999321"/>
                <a:ext cx="588265" cy="278702"/>
              </a:xfrm>
              <a:prstGeom prst="rect">
                <a:avLst/>
              </a:prstGeom>
              <a:noFill/>
              <a:ln>
                <a:noFill/>
              </a:ln>
            </p:spPr>
            <p:txBody>
              <a:bodyPr wrap="none" lIns="0" tIns="0" rIns="0" bIns="0" anchor="t" anchorCtr="0">
                <a:spAutoFit/>
              </a:bodyPr>
              <a:lstStyle/>
              <a:p>
                <a:pPr algn="l"/>
                <a:r>
                  <a:rPr lang="zh-CN" sz="1420" b="1" dirty="0">
                    <a:solidFill>
                      <a:srgbClr val="6B1B0B"/>
                    </a:solidFill>
                    <a:latin typeface="+mj-lt"/>
                    <a:ea typeface="+mj-ea"/>
                    <a:cs typeface="+mj-cs"/>
                  </a:rPr>
                  <a:t xml:space="preserve">86%　</a:t>
                </a:r>
              </a:p>
            </p:txBody>
          </p:sp>
          <p:sp>
            <p:nvSpPr>
              <p:cNvPr id="382" name="TextBox 382"/>
              <p:cNvSpPr txBox="1"/>
              <p:nvPr/>
            </p:nvSpPr>
            <p:spPr>
              <a:xfrm>
                <a:off x="7481888" y="6267926"/>
                <a:ext cx="499542"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n-lt"/>
                    <a:ea typeface="+mn-ea"/>
                    <a:cs typeface="+mn-cs"/>
                  </a:rPr>
                  <a:t xml:space="preserve">（示例测算）　</a:t>
                </a:r>
              </a:p>
            </p:txBody>
          </p:sp>
          <p:sp>
            <p:nvSpPr>
              <p:cNvPr id="383" name="TextBox 383"/>
              <p:cNvSpPr txBox="1"/>
              <p:nvPr/>
            </p:nvSpPr>
            <p:spPr>
              <a:xfrm>
                <a:off x="7481888" y="6382226"/>
                <a:ext cx="769059" cy="104775"/>
              </a:xfrm>
              <a:prstGeom prst="rect">
                <a:avLst/>
              </a:prstGeom>
              <a:noFill/>
              <a:ln>
                <a:noFill/>
              </a:ln>
            </p:spPr>
            <p:txBody>
              <a:bodyPr wrap="none" lIns="0" tIns="0" rIns="0" bIns="0" anchor="t" anchorCtr="0">
                <a:spAutoFit/>
              </a:bodyPr>
              <a:lstStyle/>
              <a:p>
                <a:pPr algn="l"/>
                <a:r>
                  <a:rPr lang="zh-CN" sz="520" dirty="0">
                    <a:solidFill>
                      <a:srgbClr val="8C716B"/>
                    </a:solidFill>
                    <a:latin typeface="+mj-lt"/>
                    <a:ea typeface="+mj-ea"/>
                    <a:cs typeface="+mj-cs"/>
                  </a:rPr>
                  <a:t xml:space="preserve">（T+3内可变现比例）　</a:t>
                </a:r>
              </a:p>
            </p:txBody>
          </p:sp>
        </p:grpSp>
      </p:grpSp>
      <p:grpSp>
        <p:nvGrpSpPr>
          <p:cNvPr id="390" name="footer-band"/>
          <p:cNvGrpSpPr/>
          <p:nvPr/>
        </p:nvGrpSpPr>
        <p:grpSpPr>
          <a:xfrm>
            <a:off x="190500" y="6610350"/>
            <a:ext cx="11811000" cy="231457"/>
            <a:chOff x="190500" y="6610350"/>
            <a:chExt cx="11811000" cy="231457"/>
          </a:xfrm>
        </p:grpSpPr>
        <p:sp>
          <p:nvSpPr>
            <p:cNvPr id="386" name="Rectangle 386"/>
            <p:cNvSpPr/>
            <p:nvPr/>
          </p:nvSpPr>
          <p:spPr>
            <a:xfrm>
              <a:off x="190500" y="6610350"/>
              <a:ext cx="11811000" cy="228600"/>
            </a:xfrm>
            <a:prstGeom prst="roundRect">
              <a:avLst>
                <a:gd name="adj" fmla="val 50000"/>
              </a:avLst>
            </a:prstGeom>
            <a:solidFill>
              <a:srgbClr val="EEF5FB"/>
            </a:solidFill>
            <a:ln>
              <a:noFill/>
            </a:ln>
          </p:spPr>
        </p:sp>
        <p:sp>
          <p:nvSpPr>
            <p:cNvPr id="387" name="TextBox 387"/>
            <p:cNvSpPr txBox="1"/>
            <p:nvPr/>
          </p:nvSpPr>
          <p:spPr>
            <a:xfrm>
              <a:off x="10999254" y="6685836"/>
              <a:ext cx="397409" cy="140494"/>
            </a:xfrm>
            <a:prstGeom prst="rect">
              <a:avLst/>
            </a:prstGeom>
            <a:noFill/>
            <a:ln>
              <a:noFill/>
            </a:ln>
          </p:spPr>
          <p:txBody>
            <a:bodyPr wrap="none" lIns="0" tIns="0" rIns="0" bIns="0" anchor="t" anchorCtr="0">
              <a:spAutoFit/>
            </a:bodyPr>
            <a:lstStyle/>
            <a:p>
              <a:pPr algn="r"/>
              <a:r>
                <a:rPr lang="zh-CN" sz="710" dirty="0">
                  <a:solidFill>
                    <a:srgbClr val="8C716B"/>
                  </a:solidFill>
                  <a:latin typeface="+mj-lt"/>
                  <a:ea typeface="+mj-ea"/>
                  <a:cs typeface="+mj-cs"/>
                </a:rPr>
                <a:t xml:space="preserve">11 / 16　</a:t>
              </a:r>
            </a:p>
          </p:txBody>
        </p:sp>
        <p:sp>
          <p:nvSpPr>
            <p:cNvPr id="388" name="Line 388"/>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89" name="TextBox 389"/>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11</a:t>
              </a:r>
            </a:p>
          </p:txBody>
        </p:sp>
      </p:gr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11</a:t>
              </a:r>
            </a:p>
          </p:txBody>
        </p:sp>
        <p:sp>
          <p:nvSpPr>
            <p:cNvPr id="4" name="TextBox 4"/>
            <p:cNvSpPr txBox="1"/>
            <p:nvPr/>
          </p:nvSpPr>
          <p:spPr>
            <a:xfrm>
              <a:off x="942594" y="170498"/>
              <a:ext cx="5795010"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智能核保智能体</a:t>
              </a:r>
              <a:r>
                <a:rPr lang="zh-CN" sz="1950" b="1" dirty="0">
                  <a:solidFill>
                    <a:srgbClr val="92301C"/>
                  </a:solidFill>
                  <a:latin typeface="+mn-lt"/>
                  <a:ea typeface="+mn-ea"/>
                  <a:cs typeface="+mn-cs"/>
                </a:rPr>
                <a:t>｜整合客户风险、规则与医学证据</a:t>
              </a:r>
            </a:p>
          </p:txBody>
        </p:sp>
        <p:sp>
          <p:nvSpPr>
            <p:cNvPr id="5" name="TextBox 5"/>
            <p:cNvSpPr txBox="1"/>
            <p:nvPr/>
          </p:nvSpPr>
          <p:spPr>
            <a:xfrm>
              <a:off x="11294391" y="120491"/>
              <a:ext cx="711871" cy="161925"/>
            </a:xfrm>
            <a:prstGeom prst="rect">
              <a:avLst/>
            </a:prstGeom>
            <a:noFill/>
            <a:ln>
              <a:noFill/>
            </a:ln>
          </p:spPr>
          <p:txBody>
            <a:bodyPr wrap="none" lIns="0" tIns="0" rIns="0" bIns="0" anchor="t" anchorCtr="0">
              <a:spAutoFit/>
            </a:bodyPr>
            <a:lstStyle/>
            <a:p>
              <a:pPr algn="r"/>
              <a:r>
                <a:rPr lang="zh-CN" sz="820" b="1" dirty="0">
                  <a:solidFill>
                    <a:srgbClr val="92301C"/>
                  </a:solidFill>
                  <a:latin typeface="+mn-lt"/>
                  <a:ea typeface="+mn-ea"/>
                  <a:cs typeface="+mn-cs"/>
                </a:rPr>
                <a:t>保险业务 · 11</a:t>
              </a:r>
            </a:p>
          </p:txBody>
        </p:sp>
        <p:sp>
          <p:nvSpPr>
            <p:cNvPr id="6" name="TextBox 6"/>
            <p:cNvSpPr txBox="1"/>
            <p:nvPr/>
          </p:nvSpPr>
          <p:spPr>
            <a:xfrm>
              <a:off x="11023637" y="334089"/>
              <a:ext cx="982626"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专业 · 创造长期价值</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1" name="col1-head"/>
          <p:cNvGrpSpPr/>
          <p:nvPr/>
        </p:nvGrpSpPr>
        <p:grpSpPr>
          <a:xfrm>
            <a:off x="190500" y="628650"/>
            <a:ext cx="2171700" cy="279559"/>
            <a:chOff x="190500" y="628650"/>
            <a:chExt cx="2171700" cy="279559"/>
          </a:xfrm>
        </p:grpSpPr>
        <p:sp>
          <p:nvSpPr>
            <p:cNvPr id="9" name="Rectangle 9"/>
            <p:cNvSpPr/>
            <p:nvPr/>
          </p:nvSpPr>
          <p:spPr>
            <a:xfrm>
              <a:off x="190500" y="628650"/>
              <a:ext cx="2171700" cy="266700"/>
            </a:xfrm>
            <a:prstGeom prst="rect">
              <a:avLst/>
            </a:prstGeom>
            <a:gradFill>
              <a:gsLst>
                <a:gs pos="0">
                  <a:srgbClr val="92301C"/>
                </a:gs>
                <a:gs pos="100000">
                  <a:srgbClr val="B7533F"/>
                </a:gs>
              </a:gsLst>
              <a:lin ang="0" scaled="1"/>
            </a:gradFill>
            <a:ln>
              <a:noFill/>
            </a:ln>
          </p:spPr>
        </p:sp>
        <p:sp>
          <p:nvSpPr>
            <p:cNvPr id="10" name="TextBox 10"/>
            <p:cNvSpPr txBox="1"/>
            <p:nvPr/>
          </p:nvSpPr>
          <p:spPr>
            <a:xfrm>
              <a:off x="31813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多源数据输入</a:t>
              </a:r>
            </a:p>
          </p:txBody>
        </p:sp>
      </p:grpSp>
      <p:grpSp>
        <p:nvGrpSpPr>
          <p:cNvPr id="14" name="col2-head"/>
          <p:cNvGrpSpPr/>
          <p:nvPr/>
        </p:nvGrpSpPr>
        <p:grpSpPr>
          <a:xfrm>
            <a:off x="2457450" y="628650"/>
            <a:ext cx="4572000" cy="279559"/>
            <a:chOff x="2457450" y="628650"/>
            <a:chExt cx="4572000" cy="279559"/>
          </a:xfrm>
        </p:grpSpPr>
        <p:sp>
          <p:nvSpPr>
            <p:cNvPr id="12" name="Rectangle 12"/>
            <p:cNvSpPr/>
            <p:nvPr/>
          </p:nvSpPr>
          <p:spPr>
            <a:xfrm>
              <a:off x="2457450" y="628650"/>
              <a:ext cx="4572000" cy="266700"/>
            </a:xfrm>
            <a:prstGeom prst="rect">
              <a:avLst/>
            </a:prstGeom>
            <a:gradFill>
              <a:gsLst>
                <a:gs pos="0">
                  <a:srgbClr val="92301C"/>
                </a:gs>
                <a:gs pos="100000">
                  <a:srgbClr val="B7533F"/>
                </a:gs>
              </a:gsLst>
              <a:lin ang="0" scaled="1"/>
            </a:gradFill>
            <a:ln>
              <a:noFill/>
            </a:ln>
          </p:spPr>
        </p:sp>
        <p:sp>
          <p:nvSpPr>
            <p:cNvPr id="13" name="TextBox 13"/>
            <p:cNvSpPr txBox="1"/>
            <p:nvPr/>
          </p:nvSpPr>
          <p:spPr>
            <a:xfrm>
              <a:off x="258508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智能核保流程</a:t>
              </a:r>
            </a:p>
          </p:txBody>
        </p:sp>
      </p:grpSp>
      <p:grpSp>
        <p:nvGrpSpPr>
          <p:cNvPr id="17" name="col3-head"/>
          <p:cNvGrpSpPr/>
          <p:nvPr/>
        </p:nvGrpSpPr>
        <p:grpSpPr>
          <a:xfrm>
            <a:off x="7124700" y="628650"/>
            <a:ext cx="4876800" cy="279559"/>
            <a:chOff x="7124700" y="628650"/>
            <a:chExt cx="4876800" cy="279559"/>
          </a:xfrm>
        </p:grpSpPr>
        <p:sp>
          <p:nvSpPr>
            <p:cNvPr id="15" name="Rectangle 15"/>
            <p:cNvSpPr/>
            <p:nvPr/>
          </p:nvSpPr>
          <p:spPr>
            <a:xfrm>
              <a:off x="7124700" y="628650"/>
              <a:ext cx="4876800" cy="266700"/>
            </a:xfrm>
            <a:prstGeom prst="rect">
              <a:avLst/>
            </a:prstGeom>
            <a:gradFill>
              <a:gsLst>
                <a:gs pos="0">
                  <a:srgbClr val="92301C"/>
                </a:gs>
                <a:gs pos="100000">
                  <a:srgbClr val="B7533F"/>
                </a:gs>
              </a:gsLst>
              <a:lin ang="0" scaled="1"/>
            </a:gradFill>
            <a:ln>
              <a:noFill/>
            </a:ln>
          </p:spPr>
        </p:sp>
        <p:sp>
          <p:nvSpPr>
            <p:cNvPr id="16" name="TextBox 16"/>
            <p:cNvSpPr txBox="1"/>
            <p:nvPr/>
          </p:nvSpPr>
          <p:spPr>
            <a:xfrm>
              <a:off x="7252335" y="688181"/>
              <a:ext cx="13684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风险评估与核保建议</a:t>
              </a:r>
            </a:p>
          </p:txBody>
        </p:sp>
      </p:grpSp>
      <p:grpSp>
        <p:nvGrpSpPr>
          <p:cNvPr id="72" name="left-cards"/>
          <p:cNvGrpSpPr/>
          <p:nvPr/>
        </p:nvGrpSpPr>
        <p:grpSpPr>
          <a:xfrm>
            <a:off x="190500" y="990600"/>
            <a:ext cx="2171700" cy="4048125"/>
            <a:chOff x="190500" y="990600"/>
            <a:chExt cx="2171700" cy="4048125"/>
          </a:xfrm>
        </p:grpSpPr>
        <p:grpSp>
          <p:nvGrpSpPr>
            <p:cNvPr id="27" name="lc-1"/>
            <p:cNvGrpSpPr/>
            <p:nvPr/>
          </p:nvGrpSpPr>
          <p:grpSpPr>
            <a:xfrm>
              <a:off x="190500" y="990600"/>
              <a:ext cx="2171700" cy="571500"/>
              <a:chOff x="190500" y="990600"/>
              <a:chExt cx="2171700" cy="571500"/>
            </a:xfrm>
          </p:grpSpPr>
          <p:sp>
            <p:nvSpPr>
              <p:cNvPr id="18" name="Rectangle 18"/>
              <p:cNvSpPr/>
              <p:nvPr/>
            </p:nvSpPr>
            <p:spPr>
              <a:xfrm>
                <a:off x="190500" y="990600"/>
                <a:ext cx="2171700" cy="571500"/>
              </a:xfrm>
              <a:prstGeom prst="roundRect">
                <a:avLst>
                  <a:gd name="adj" fmla="val 10000"/>
                </a:avLst>
              </a:prstGeom>
              <a:solidFill>
                <a:srgbClr val="F6F9FD"/>
              </a:solidFill>
              <a:ln w="9525">
                <a:solidFill>
                  <a:srgbClr val="CFDFEE"/>
                </a:solidFill>
              </a:ln>
            </p:spPr>
          </p:sp>
          <p:grpSp>
            <p:nvGrpSpPr>
              <p:cNvPr id="24" name="Group 24"/>
              <p:cNvGrpSpPr/>
              <p:nvPr/>
            </p:nvGrpSpPr>
            <p:grpSpPr>
              <a:xfrm>
                <a:off x="337344" y="1183481"/>
                <a:ext cx="144462" cy="185737"/>
                <a:chOff x="337344" y="1183481"/>
                <a:chExt cx="144462" cy="185737"/>
              </a:xfrm>
            </p:grpSpPr>
            <p:sp>
              <p:nvSpPr>
                <p:cNvPr id="19" name="Freeform 19"/>
                <p:cNvSpPr/>
                <p:nvPr/>
              </p:nvSpPr>
              <p:spPr>
                <a:xfrm>
                  <a:off x="430212" y="1183481"/>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20" name="Freeform 20"/>
                <p:cNvSpPr/>
                <p:nvPr/>
              </p:nvSpPr>
              <p:spPr>
                <a:xfrm>
                  <a:off x="337344" y="1183481"/>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92301C"/>
                  </a:solidFill>
                </a:ln>
              </p:spPr>
            </p:sp>
            <p:sp>
              <p:nvSpPr>
                <p:cNvPr id="21" name="Freeform 21"/>
                <p:cNvSpPr/>
                <p:nvPr/>
              </p:nvSpPr>
              <p:spPr>
                <a:xfrm>
                  <a:off x="378618" y="1245393"/>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2" name="Freeform 22"/>
                <p:cNvSpPr/>
                <p:nvPr/>
              </p:nvSpPr>
              <p:spPr>
                <a:xfrm>
                  <a:off x="378618" y="1286668"/>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23" name="Freeform 23"/>
                <p:cNvSpPr/>
                <p:nvPr/>
              </p:nvSpPr>
              <p:spPr>
                <a:xfrm>
                  <a:off x="378618" y="1327943"/>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25" name="TextBox 25"/>
              <p:cNvSpPr txBox="1"/>
              <p:nvPr/>
            </p:nvSpPr>
            <p:spPr>
              <a:xfrm>
                <a:off x="623888" y="11179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投保资料</a:t>
                </a:r>
              </a:p>
            </p:txBody>
          </p:sp>
          <p:sp>
            <p:nvSpPr>
              <p:cNvPr id="26" name="TextBox 26"/>
              <p:cNvSpPr txBox="1"/>
              <p:nvPr/>
            </p:nvSpPr>
            <p:spPr>
              <a:xfrm>
                <a:off x="623888" y="1323261"/>
                <a:ext cx="125206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身份证、投保单、财务信息等</a:t>
                </a:r>
              </a:p>
            </p:txBody>
          </p:sp>
        </p:grpSp>
        <p:grpSp>
          <p:nvGrpSpPr>
            <p:cNvPr id="34" name="lc-2"/>
            <p:cNvGrpSpPr/>
            <p:nvPr/>
          </p:nvGrpSpPr>
          <p:grpSpPr>
            <a:xfrm>
              <a:off x="190500" y="1685925"/>
              <a:ext cx="2171700" cy="571500"/>
              <a:chOff x="190500" y="1685925"/>
              <a:chExt cx="2171700" cy="571500"/>
            </a:xfrm>
          </p:grpSpPr>
          <p:sp>
            <p:nvSpPr>
              <p:cNvPr id="28" name="Rectangle 28"/>
              <p:cNvSpPr/>
              <p:nvPr/>
            </p:nvSpPr>
            <p:spPr>
              <a:xfrm>
                <a:off x="190500" y="1685925"/>
                <a:ext cx="2171700" cy="571500"/>
              </a:xfrm>
              <a:prstGeom prst="roundRect">
                <a:avLst>
                  <a:gd name="adj" fmla="val 10000"/>
                </a:avLst>
              </a:prstGeom>
              <a:solidFill>
                <a:srgbClr val="F6F9FD"/>
              </a:solidFill>
              <a:ln w="9525">
                <a:solidFill>
                  <a:srgbClr val="CFDFEE"/>
                </a:solidFill>
              </a:ln>
            </p:spPr>
          </p:sp>
          <p:grpSp>
            <p:nvGrpSpPr>
              <p:cNvPr id="31" name="Group 31"/>
              <p:cNvGrpSpPr/>
              <p:nvPr/>
            </p:nvGrpSpPr>
            <p:grpSpPr>
              <a:xfrm>
                <a:off x="316395" y="1894903"/>
                <a:ext cx="189434" cy="169640"/>
                <a:chOff x="316395" y="1894903"/>
                <a:chExt cx="189434" cy="169640"/>
              </a:xfrm>
            </p:grpSpPr>
            <p:sp>
              <p:nvSpPr>
                <p:cNvPr id="29" name="Freeform 29"/>
                <p:cNvSpPr/>
                <p:nvPr/>
              </p:nvSpPr>
              <p:spPr>
                <a:xfrm>
                  <a:off x="316395" y="1894903"/>
                  <a:ext cx="189434" cy="169640"/>
                </a:xfrm>
                <a:custGeom>
                  <a:avLst/>
                  <a:gdLst/>
                  <a:ahLst/>
                  <a:cxnLst/>
                  <a:rect l="l" t="t" r="r" b="b"/>
                  <a:pathLst>
                    <a:path w="189434" h="169640">
                      <a:moveTo>
                        <a:pt x="170570" y="92992"/>
                      </a:moveTo>
                      <a:lnTo>
                        <a:pt x="93180" y="169640"/>
                      </a:lnTo>
                      <a:lnTo>
                        <a:pt x="63297" y="140046"/>
                      </a:lnTo>
                      <a:moveTo>
                        <a:pt x="177" y="56423"/>
                      </a:moveTo>
                      <a:cubicBezTo>
                        <a:pt x="0" y="34099"/>
                        <a:pt x="14201" y="14194"/>
                        <a:pt x="35367" y="7097"/>
                      </a:cubicBezTo>
                      <a:cubicBezTo>
                        <a:pt x="56534" y="0"/>
                        <a:pt x="79863" y="7321"/>
                        <a:pt x="93180" y="25240"/>
                      </a:cubicBezTo>
                      <a:cubicBezTo>
                        <a:pt x="104812" y="9770"/>
                        <a:pt x="124124" y="2112"/>
                        <a:pt x="143196" y="5405"/>
                      </a:cubicBezTo>
                      <a:cubicBezTo>
                        <a:pt x="162269" y="8699"/>
                        <a:pt x="177894" y="22391"/>
                        <a:pt x="183664" y="40866"/>
                      </a:cubicBezTo>
                      <a:cubicBezTo>
                        <a:pt x="189434" y="59341"/>
                        <a:pt x="184378" y="79492"/>
                        <a:pt x="170570" y="93054"/>
                      </a:cubicBezTo>
                    </a:path>
                  </a:pathLst>
                </a:custGeom>
                <a:noFill/>
                <a:ln w="20637">
                  <a:solidFill>
                    <a:srgbClr val="92301C"/>
                  </a:solidFill>
                </a:ln>
              </p:spPr>
            </p:sp>
            <p:sp>
              <p:nvSpPr>
                <p:cNvPr id="30" name="Freeform 30"/>
                <p:cNvSpPr/>
                <p:nvPr/>
              </p:nvSpPr>
              <p:spPr>
                <a:xfrm>
                  <a:off x="316706" y="1951037"/>
                  <a:ext cx="103187" cy="61912"/>
                </a:xfrm>
                <a:custGeom>
                  <a:avLst/>
                  <a:gdLst/>
                  <a:ahLst/>
                  <a:cxnLst/>
                  <a:rect l="l" t="t" r="r" b="b"/>
                  <a:pathLst>
                    <a:path w="103187" h="61912">
                      <a:moveTo>
                        <a:pt x="0" y="30956"/>
                      </a:moveTo>
                      <a:lnTo>
                        <a:pt x="20637" y="30956"/>
                      </a:lnTo>
                      <a:lnTo>
                        <a:pt x="41275" y="61912"/>
                      </a:lnTo>
                      <a:lnTo>
                        <a:pt x="61912" y="0"/>
                      </a:lnTo>
                      <a:lnTo>
                        <a:pt x="72231" y="30956"/>
                      </a:lnTo>
                      <a:lnTo>
                        <a:pt x="103187" y="30956"/>
                      </a:lnTo>
                    </a:path>
                  </a:pathLst>
                </a:custGeom>
                <a:noFill/>
                <a:ln w="20637">
                  <a:solidFill>
                    <a:srgbClr val="92301C"/>
                  </a:solidFill>
                </a:ln>
              </p:spPr>
            </p:sp>
          </p:grpSp>
          <p:sp>
            <p:nvSpPr>
              <p:cNvPr id="32" name="TextBox 32"/>
              <p:cNvSpPr txBox="1"/>
              <p:nvPr/>
            </p:nvSpPr>
            <p:spPr>
              <a:xfrm>
                <a:off x="623888" y="181332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健康告知</a:t>
                </a:r>
              </a:p>
            </p:txBody>
          </p:sp>
          <p:sp>
            <p:nvSpPr>
              <p:cNvPr id="33" name="TextBox 33"/>
              <p:cNvSpPr txBox="1"/>
              <p:nvPr/>
            </p:nvSpPr>
            <p:spPr>
              <a:xfrm>
                <a:off x="623888" y="2018586"/>
                <a:ext cx="125206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既往史、家族史、生活习惯等</a:t>
                </a:r>
              </a:p>
            </p:txBody>
          </p:sp>
        </p:grpSp>
        <p:grpSp>
          <p:nvGrpSpPr>
            <p:cNvPr id="44" name="lc-3"/>
            <p:cNvGrpSpPr/>
            <p:nvPr/>
          </p:nvGrpSpPr>
          <p:grpSpPr>
            <a:xfrm>
              <a:off x="190500" y="2381250"/>
              <a:ext cx="2171700" cy="571500"/>
              <a:chOff x="190500" y="2381250"/>
              <a:chExt cx="2171700" cy="571500"/>
            </a:xfrm>
          </p:grpSpPr>
          <p:sp>
            <p:nvSpPr>
              <p:cNvPr id="35" name="Rectangle 35"/>
              <p:cNvSpPr/>
              <p:nvPr/>
            </p:nvSpPr>
            <p:spPr>
              <a:xfrm>
                <a:off x="190500" y="2381250"/>
                <a:ext cx="2171700" cy="571500"/>
              </a:xfrm>
              <a:prstGeom prst="roundRect">
                <a:avLst>
                  <a:gd name="adj" fmla="val 10000"/>
                </a:avLst>
              </a:prstGeom>
              <a:solidFill>
                <a:srgbClr val="F6F9FD"/>
              </a:solidFill>
              <a:ln w="9525">
                <a:solidFill>
                  <a:srgbClr val="CFDFEE"/>
                </a:solidFill>
              </a:ln>
            </p:spPr>
          </p:sp>
          <p:grpSp>
            <p:nvGrpSpPr>
              <p:cNvPr id="41" name="Group 41"/>
              <p:cNvGrpSpPr/>
              <p:nvPr/>
            </p:nvGrpSpPr>
            <p:grpSpPr>
              <a:xfrm>
                <a:off x="316706" y="2574131"/>
                <a:ext cx="196056" cy="185737"/>
                <a:chOff x="316706" y="2574131"/>
                <a:chExt cx="196056" cy="185737"/>
              </a:xfrm>
            </p:grpSpPr>
            <p:sp>
              <p:nvSpPr>
                <p:cNvPr id="36" name="Freeform 36"/>
                <p:cNvSpPr/>
                <p:nvPr/>
              </p:nvSpPr>
              <p:spPr>
                <a:xfrm>
                  <a:off x="316706" y="2584450"/>
                  <a:ext cx="113506" cy="113506"/>
                </a:xfrm>
                <a:custGeom>
                  <a:avLst/>
                  <a:gdLst/>
                  <a:ahLst/>
                  <a:cxnLst/>
                  <a:rect l="l" t="t" r="r" b="b"/>
                  <a:pathLst>
                    <a:path w="113506" h="113506">
                      <a:moveTo>
                        <a:pt x="30956" y="0"/>
                      </a:moveTo>
                      <a:lnTo>
                        <a:pt x="20637" y="0"/>
                      </a:lnTo>
                      <a:cubicBezTo>
                        <a:pt x="9240" y="0"/>
                        <a:pt x="0" y="9240"/>
                        <a:pt x="0" y="20637"/>
                      </a:cubicBezTo>
                      <a:lnTo>
                        <a:pt x="0" y="56753"/>
                      </a:lnTo>
                      <a:cubicBezTo>
                        <a:pt x="0" y="88097"/>
                        <a:pt x="25409" y="113506"/>
                        <a:pt x="56753" y="113506"/>
                      </a:cubicBezTo>
                      <a:cubicBezTo>
                        <a:pt x="88097" y="113506"/>
                        <a:pt x="113506" y="88097"/>
                        <a:pt x="113506" y="56753"/>
                      </a:cubicBezTo>
                      <a:lnTo>
                        <a:pt x="113506" y="20637"/>
                      </a:lnTo>
                      <a:cubicBezTo>
                        <a:pt x="113506" y="9240"/>
                        <a:pt x="104266" y="0"/>
                        <a:pt x="92868" y="0"/>
                      </a:cubicBezTo>
                      <a:lnTo>
                        <a:pt x="82550" y="0"/>
                      </a:lnTo>
                    </a:path>
                  </a:pathLst>
                </a:custGeom>
                <a:noFill/>
                <a:ln w="20637">
                  <a:solidFill>
                    <a:srgbClr val="92301C"/>
                  </a:solidFill>
                </a:ln>
              </p:spPr>
            </p:sp>
            <p:sp>
              <p:nvSpPr>
                <p:cNvPr id="37" name="Freeform 37"/>
                <p:cNvSpPr/>
                <p:nvPr/>
              </p:nvSpPr>
              <p:spPr>
                <a:xfrm>
                  <a:off x="368300" y="2667000"/>
                  <a:ext cx="123825" cy="92868"/>
                </a:xfrm>
                <a:custGeom>
                  <a:avLst/>
                  <a:gdLst/>
                  <a:ahLst/>
                  <a:cxnLst/>
                  <a:rect l="l" t="t" r="r" b="b"/>
                  <a:pathLst>
                    <a:path w="123825" h="92868">
                      <a:moveTo>
                        <a:pt x="0" y="30956"/>
                      </a:moveTo>
                      <a:cubicBezTo>
                        <a:pt x="0" y="65149"/>
                        <a:pt x="27719" y="92868"/>
                        <a:pt x="61912" y="92868"/>
                      </a:cubicBezTo>
                      <a:cubicBezTo>
                        <a:pt x="96106" y="92868"/>
                        <a:pt x="123825" y="65149"/>
                        <a:pt x="123825" y="30956"/>
                      </a:cubicBezTo>
                      <a:lnTo>
                        <a:pt x="123825" y="0"/>
                      </a:lnTo>
                    </a:path>
                  </a:pathLst>
                </a:custGeom>
                <a:noFill/>
                <a:ln w="20637">
                  <a:solidFill>
                    <a:srgbClr val="92301C"/>
                  </a:solidFill>
                </a:ln>
              </p:spPr>
            </p:sp>
            <p:sp>
              <p:nvSpPr>
                <p:cNvPr id="38" name="Freeform 38"/>
                <p:cNvSpPr/>
                <p:nvPr/>
              </p:nvSpPr>
              <p:spPr>
                <a:xfrm>
                  <a:off x="399256" y="2574131"/>
                  <a:ext cx="9525" cy="20637"/>
                </a:xfrm>
                <a:custGeom>
                  <a:avLst/>
                  <a:gdLst/>
                  <a:ahLst/>
                  <a:cxnLst/>
                  <a:rect l="l" t="t" r="r" b="b"/>
                  <a:pathLst>
                    <a:path w="9525" h="20637">
                      <a:moveTo>
                        <a:pt x="0" y="0"/>
                      </a:moveTo>
                      <a:lnTo>
                        <a:pt x="0" y="20637"/>
                      </a:lnTo>
                    </a:path>
                  </a:pathLst>
                </a:custGeom>
                <a:noFill/>
                <a:ln w="20637">
                  <a:solidFill>
                    <a:srgbClr val="92301C"/>
                  </a:solidFill>
                </a:ln>
              </p:spPr>
            </p:sp>
            <p:sp>
              <p:nvSpPr>
                <p:cNvPr id="39" name="Freeform 39"/>
                <p:cNvSpPr/>
                <p:nvPr/>
              </p:nvSpPr>
              <p:spPr>
                <a:xfrm>
                  <a:off x="347662" y="2574131"/>
                  <a:ext cx="9525" cy="20637"/>
                </a:xfrm>
                <a:custGeom>
                  <a:avLst/>
                  <a:gdLst/>
                  <a:ahLst/>
                  <a:cxnLst/>
                  <a:rect l="l" t="t" r="r" b="b"/>
                  <a:pathLst>
                    <a:path w="9525" h="20637">
                      <a:moveTo>
                        <a:pt x="0" y="0"/>
                      </a:moveTo>
                      <a:lnTo>
                        <a:pt x="0" y="20637"/>
                      </a:lnTo>
                    </a:path>
                  </a:pathLst>
                </a:custGeom>
                <a:noFill/>
                <a:ln w="20637">
                  <a:solidFill>
                    <a:srgbClr val="92301C"/>
                  </a:solidFill>
                </a:ln>
              </p:spPr>
            </p:sp>
            <p:sp>
              <p:nvSpPr>
                <p:cNvPr id="40" name="Freeform 40"/>
                <p:cNvSpPr/>
                <p:nvPr/>
              </p:nvSpPr>
              <p:spPr>
                <a:xfrm>
                  <a:off x="471487" y="2625725"/>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grpSp>
          <p:sp>
            <p:nvSpPr>
              <p:cNvPr id="42" name="TextBox 42"/>
              <p:cNvSpPr txBox="1"/>
              <p:nvPr/>
            </p:nvSpPr>
            <p:spPr>
              <a:xfrm>
                <a:off x="623888" y="250864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体检数据</a:t>
                </a:r>
              </a:p>
            </p:txBody>
          </p:sp>
          <p:sp>
            <p:nvSpPr>
              <p:cNvPr id="43" name="TextBox 43"/>
              <p:cNvSpPr txBox="1"/>
              <p:nvPr/>
            </p:nvSpPr>
            <p:spPr>
              <a:xfrm>
                <a:off x="623888" y="2713911"/>
                <a:ext cx="1156487"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体检报告、检查检验结果等</a:t>
                </a:r>
              </a:p>
            </p:txBody>
          </p:sp>
        </p:grpSp>
        <p:grpSp>
          <p:nvGrpSpPr>
            <p:cNvPr id="52" name="lc-4"/>
            <p:cNvGrpSpPr/>
            <p:nvPr/>
          </p:nvGrpSpPr>
          <p:grpSpPr>
            <a:xfrm>
              <a:off x="190500" y="3076575"/>
              <a:ext cx="2171700" cy="571500"/>
              <a:chOff x="190500" y="3076575"/>
              <a:chExt cx="2171700" cy="571500"/>
            </a:xfrm>
          </p:grpSpPr>
          <p:sp>
            <p:nvSpPr>
              <p:cNvPr id="45" name="Rectangle 45"/>
              <p:cNvSpPr/>
              <p:nvPr/>
            </p:nvSpPr>
            <p:spPr>
              <a:xfrm>
                <a:off x="190500" y="3076575"/>
                <a:ext cx="2171700" cy="571500"/>
              </a:xfrm>
              <a:prstGeom prst="roundRect">
                <a:avLst>
                  <a:gd name="adj" fmla="val 10000"/>
                </a:avLst>
              </a:prstGeom>
              <a:solidFill>
                <a:srgbClr val="F6F9FD"/>
              </a:solidFill>
              <a:ln w="9525">
                <a:solidFill>
                  <a:srgbClr val="CFDFEE"/>
                </a:solidFill>
              </a:ln>
            </p:spPr>
          </p:sp>
          <p:grpSp>
            <p:nvGrpSpPr>
              <p:cNvPr id="49" name="Group 49"/>
              <p:cNvGrpSpPr/>
              <p:nvPr/>
            </p:nvGrpSpPr>
            <p:grpSpPr>
              <a:xfrm>
                <a:off x="337344" y="3269456"/>
                <a:ext cx="154781" cy="185737"/>
                <a:chOff x="337344" y="3269456"/>
                <a:chExt cx="154781" cy="185737"/>
              </a:xfrm>
            </p:grpSpPr>
            <p:sp>
              <p:nvSpPr>
                <p:cNvPr id="46" name="Freeform 46"/>
                <p:cNvSpPr/>
                <p:nvPr/>
              </p:nvSpPr>
              <p:spPr>
                <a:xfrm>
                  <a:off x="440531" y="326945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47" name="Freeform 47"/>
                <p:cNvSpPr/>
                <p:nvPr/>
              </p:nvSpPr>
              <p:spPr>
                <a:xfrm>
                  <a:off x="378618" y="3269456"/>
                  <a:ext cx="113506" cy="144462"/>
                </a:xfrm>
                <a:custGeom>
                  <a:avLst/>
                  <a:gdLst/>
                  <a:ahLst/>
                  <a:cxnLst/>
                  <a:rect l="l" t="t" r="r" b="b"/>
                  <a:pathLst>
                    <a:path w="113506" h="144462">
                      <a:moveTo>
                        <a:pt x="92868" y="144462"/>
                      </a:moveTo>
                      <a:lnTo>
                        <a:pt x="20637" y="144462"/>
                      </a:lnTo>
                      <a:cubicBezTo>
                        <a:pt x="9240" y="144462"/>
                        <a:pt x="0" y="135222"/>
                        <a:pt x="0" y="123825"/>
                      </a:cubicBezTo>
                      <a:lnTo>
                        <a:pt x="0" y="20637"/>
                      </a:lnTo>
                      <a:cubicBezTo>
                        <a:pt x="0" y="9240"/>
                        <a:pt x="9240" y="0"/>
                        <a:pt x="20637" y="0"/>
                      </a:cubicBezTo>
                      <a:lnTo>
                        <a:pt x="61912" y="0"/>
                      </a:lnTo>
                      <a:lnTo>
                        <a:pt x="113506" y="51594"/>
                      </a:lnTo>
                      <a:lnTo>
                        <a:pt x="113506" y="123825"/>
                      </a:lnTo>
                      <a:cubicBezTo>
                        <a:pt x="113506" y="135222"/>
                        <a:pt x="104266" y="144462"/>
                        <a:pt x="92868" y="144462"/>
                      </a:cubicBezTo>
                    </a:path>
                  </a:pathLst>
                </a:custGeom>
                <a:noFill/>
                <a:ln w="20637">
                  <a:solidFill>
                    <a:srgbClr val="92301C"/>
                  </a:solidFill>
                </a:ln>
              </p:spPr>
            </p:sp>
            <p:sp>
              <p:nvSpPr>
                <p:cNvPr id="48" name="Freeform 48"/>
                <p:cNvSpPr/>
                <p:nvPr/>
              </p:nvSpPr>
              <p:spPr>
                <a:xfrm>
                  <a:off x="337344" y="3310731"/>
                  <a:ext cx="113506" cy="144462"/>
                </a:xfrm>
                <a:custGeom>
                  <a:avLst/>
                  <a:gdLst/>
                  <a:ahLst/>
                  <a:cxnLst/>
                  <a:rect l="l" t="t" r="r" b="b"/>
                  <a:pathLst>
                    <a:path w="113506" h="144462">
                      <a:moveTo>
                        <a:pt x="113506" y="103187"/>
                      </a:moveTo>
                      <a:lnTo>
                        <a:pt x="113506" y="123825"/>
                      </a:lnTo>
                      <a:cubicBezTo>
                        <a:pt x="113506" y="135222"/>
                        <a:pt x="104266" y="144462"/>
                        <a:pt x="92868" y="144462"/>
                      </a:cubicBezTo>
                      <a:lnTo>
                        <a:pt x="20637" y="144462"/>
                      </a:lnTo>
                      <a:cubicBezTo>
                        <a:pt x="9240" y="144462"/>
                        <a:pt x="0" y="135222"/>
                        <a:pt x="0" y="123825"/>
                      </a:cubicBezTo>
                      <a:lnTo>
                        <a:pt x="0" y="20637"/>
                      </a:lnTo>
                      <a:cubicBezTo>
                        <a:pt x="0" y="9240"/>
                        <a:pt x="9240" y="0"/>
                        <a:pt x="20637" y="0"/>
                      </a:cubicBezTo>
                      <a:lnTo>
                        <a:pt x="41275" y="0"/>
                      </a:lnTo>
                    </a:path>
                  </a:pathLst>
                </a:custGeom>
                <a:noFill/>
                <a:ln w="20637">
                  <a:solidFill>
                    <a:srgbClr val="92301C"/>
                  </a:solidFill>
                </a:ln>
              </p:spPr>
            </p:sp>
          </p:grpSp>
          <p:sp>
            <p:nvSpPr>
              <p:cNvPr id="50" name="TextBox 50"/>
              <p:cNvSpPr txBox="1"/>
              <p:nvPr/>
            </p:nvSpPr>
            <p:spPr>
              <a:xfrm>
                <a:off x="623888" y="320397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历史保单</a:t>
                </a:r>
              </a:p>
            </p:txBody>
          </p:sp>
          <p:sp>
            <p:nvSpPr>
              <p:cNvPr id="51" name="TextBox 51"/>
              <p:cNvSpPr txBox="1"/>
              <p:nvPr/>
            </p:nvSpPr>
            <p:spPr>
              <a:xfrm>
                <a:off x="623888" y="3409236"/>
                <a:ext cx="125206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既往投保、理赔记录、保额等</a:t>
                </a:r>
              </a:p>
            </p:txBody>
          </p:sp>
        </p:grpSp>
        <p:grpSp>
          <p:nvGrpSpPr>
            <p:cNvPr id="61" name="lc-5"/>
            <p:cNvGrpSpPr/>
            <p:nvPr/>
          </p:nvGrpSpPr>
          <p:grpSpPr>
            <a:xfrm>
              <a:off x="190500" y="3771900"/>
              <a:ext cx="2171700" cy="571500"/>
              <a:chOff x="190500" y="3771900"/>
              <a:chExt cx="2171700" cy="571500"/>
            </a:xfrm>
          </p:grpSpPr>
          <p:sp>
            <p:nvSpPr>
              <p:cNvPr id="53" name="Rectangle 53"/>
              <p:cNvSpPr/>
              <p:nvPr/>
            </p:nvSpPr>
            <p:spPr>
              <a:xfrm>
                <a:off x="190500" y="3771900"/>
                <a:ext cx="2171700" cy="571500"/>
              </a:xfrm>
              <a:prstGeom prst="roundRect">
                <a:avLst>
                  <a:gd name="adj" fmla="val 10000"/>
                </a:avLst>
              </a:prstGeom>
              <a:solidFill>
                <a:srgbClr val="F6F9FD"/>
              </a:solidFill>
              <a:ln w="9525">
                <a:solidFill>
                  <a:srgbClr val="CFDFEE"/>
                </a:solidFill>
              </a:ln>
            </p:spPr>
          </p:sp>
          <p:grpSp>
            <p:nvGrpSpPr>
              <p:cNvPr id="58" name="Group 58"/>
              <p:cNvGrpSpPr/>
              <p:nvPr/>
            </p:nvGrpSpPr>
            <p:grpSpPr>
              <a:xfrm>
                <a:off x="316706" y="3964781"/>
                <a:ext cx="185737" cy="185738"/>
                <a:chOff x="316706" y="3964781"/>
                <a:chExt cx="185737" cy="185738"/>
              </a:xfrm>
            </p:grpSpPr>
            <p:sp>
              <p:nvSpPr>
                <p:cNvPr id="54" name="Freeform 54"/>
                <p:cNvSpPr/>
                <p:nvPr/>
              </p:nvSpPr>
              <p:spPr>
                <a:xfrm>
                  <a:off x="337344" y="39647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2301C"/>
                  </a:solidFill>
                </a:ln>
              </p:spPr>
            </p:sp>
            <p:sp>
              <p:nvSpPr>
                <p:cNvPr id="55" name="Freeform 55"/>
                <p:cNvSpPr/>
                <p:nvPr/>
              </p:nvSpPr>
              <p:spPr>
                <a:xfrm>
                  <a:off x="316706" y="40886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92301C"/>
                  </a:solidFill>
                </a:ln>
              </p:spPr>
            </p:sp>
            <p:sp>
              <p:nvSpPr>
                <p:cNvPr id="56" name="Freeform 56"/>
                <p:cNvSpPr/>
                <p:nvPr/>
              </p:nvSpPr>
              <p:spPr>
                <a:xfrm>
                  <a:off x="450849" y="39661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92301C"/>
                  </a:solidFill>
                </a:ln>
              </p:spPr>
            </p:sp>
            <p:sp>
              <p:nvSpPr>
                <p:cNvPr id="57" name="Freeform 57"/>
                <p:cNvSpPr/>
                <p:nvPr/>
              </p:nvSpPr>
              <p:spPr>
                <a:xfrm>
                  <a:off x="471487" y="40901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92301C"/>
                  </a:solidFill>
                </a:ln>
              </p:spPr>
            </p:sp>
          </p:grpSp>
          <p:sp>
            <p:nvSpPr>
              <p:cNvPr id="59" name="TextBox 59"/>
              <p:cNvSpPr txBox="1"/>
              <p:nvPr/>
            </p:nvSpPr>
            <p:spPr>
              <a:xfrm>
                <a:off x="623888" y="3899297"/>
                <a:ext cx="642239"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职业与环境</a:t>
                </a:r>
              </a:p>
            </p:txBody>
          </p:sp>
          <p:sp>
            <p:nvSpPr>
              <p:cNvPr id="60" name="TextBox 60"/>
              <p:cNvSpPr txBox="1"/>
              <p:nvPr/>
            </p:nvSpPr>
            <p:spPr>
              <a:xfrm>
                <a:off x="623888" y="4104561"/>
                <a:ext cx="144322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职业类别、工作环境、风险暴露等</a:t>
                </a:r>
              </a:p>
            </p:txBody>
          </p:sp>
        </p:grpSp>
        <p:grpSp>
          <p:nvGrpSpPr>
            <p:cNvPr id="71" name="lc-6"/>
            <p:cNvGrpSpPr/>
            <p:nvPr/>
          </p:nvGrpSpPr>
          <p:grpSpPr>
            <a:xfrm>
              <a:off x="190500" y="4467225"/>
              <a:ext cx="2171700" cy="571500"/>
              <a:chOff x="190500" y="4467225"/>
              <a:chExt cx="2171700" cy="571500"/>
            </a:xfrm>
          </p:grpSpPr>
          <p:sp>
            <p:nvSpPr>
              <p:cNvPr id="62" name="Rectangle 62"/>
              <p:cNvSpPr/>
              <p:nvPr/>
            </p:nvSpPr>
            <p:spPr>
              <a:xfrm>
                <a:off x="190500" y="4467225"/>
                <a:ext cx="2171700" cy="571500"/>
              </a:xfrm>
              <a:prstGeom prst="roundRect">
                <a:avLst>
                  <a:gd name="adj" fmla="val 10000"/>
                </a:avLst>
              </a:prstGeom>
              <a:solidFill>
                <a:srgbClr val="F6F9FD"/>
              </a:solidFill>
              <a:ln w="9525">
                <a:solidFill>
                  <a:srgbClr val="CFDFEE"/>
                </a:solidFill>
              </a:ln>
            </p:spPr>
          </p:sp>
          <p:grpSp>
            <p:nvGrpSpPr>
              <p:cNvPr id="68" name="Group 68"/>
              <p:cNvGrpSpPr/>
              <p:nvPr/>
            </p:nvGrpSpPr>
            <p:grpSpPr>
              <a:xfrm>
                <a:off x="326213" y="4656174"/>
                <a:ext cx="174167" cy="189669"/>
                <a:chOff x="326213" y="4656174"/>
                <a:chExt cx="174167" cy="189669"/>
              </a:xfrm>
            </p:grpSpPr>
            <p:sp>
              <p:nvSpPr>
                <p:cNvPr id="63" name="Freeform 63"/>
                <p:cNvSpPr/>
                <p:nvPr/>
              </p:nvSpPr>
              <p:spPr>
                <a:xfrm>
                  <a:off x="480774" y="4701381"/>
                  <a:ext cx="19606" cy="92868"/>
                </a:xfrm>
                <a:custGeom>
                  <a:avLst/>
                  <a:gdLst/>
                  <a:ahLst/>
                  <a:cxnLst/>
                  <a:rect l="l" t="t" r="r" b="b"/>
                  <a:pathLst>
                    <a:path w="19606" h="92868">
                      <a:moveTo>
                        <a:pt x="0" y="0"/>
                      </a:moveTo>
                      <a:cubicBezTo>
                        <a:pt x="9333" y="15490"/>
                        <a:pt x="13321" y="33617"/>
                        <a:pt x="11351" y="51594"/>
                      </a:cubicBezTo>
                      <a:lnTo>
                        <a:pt x="11351" y="61912"/>
                      </a:lnTo>
                      <a:cubicBezTo>
                        <a:pt x="11339" y="72777"/>
                        <a:pt x="14185" y="83453"/>
                        <a:pt x="19606" y="92868"/>
                      </a:cubicBezTo>
                    </a:path>
                  </a:pathLst>
                </a:custGeom>
                <a:noFill/>
                <a:ln w="20637">
                  <a:solidFill>
                    <a:srgbClr val="92301C"/>
                  </a:solidFill>
                </a:ln>
              </p:spPr>
            </p:sp>
            <p:sp>
              <p:nvSpPr>
                <p:cNvPr id="64" name="Freeform 64"/>
                <p:cNvSpPr/>
                <p:nvPr/>
              </p:nvSpPr>
              <p:spPr>
                <a:xfrm>
                  <a:off x="368300" y="4701381"/>
                  <a:ext cx="103187" cy="113506"/>
                </a:xfrm>
                <a:custGeom>
                  <a:avLst/>
                  <a:gdLst/>
                  <a:ahLst/>
                  <a:cxnLst/>
                  <a:rect l="l" t="t" r="r" b="b"/>
                  <a:pathLst>
                    <a:path w="103187" h="113506">
                      <a:moveTo>
                        <a:pt x="0" y="41275"/>
                      </a:moveTo>
                      <a:cubicBezTo>
                        <a:pt x="0" y="18479"/>
                        <a:pt x="18479" y="0"/>
                        <a:pt x="41275" y="0"/>
                      </a:cubicBezTo>
                      <a:cubicBezTo>
                        <a:pt x="64070" y="0"/>
                        <a:pt x="82550" y="18479"/>
                        <a:pt x="82550" y="41275"/>
                      </a:cubicBezTo>
                      <a:lnTo>
                        <a:pt x="82550" y="51594"/>
                      </a:lnTo>
                      <a:cubicBezTo>
                        <a:pt x="82550" y="73920"/>
                        <a:pt x="89791" y="95645"/>
                        <a:pt x="103187" y="113506"/>
                      </a:cubicBezTo>
                    </a:path>
                  </a:pathLst>
                </a:custGeom>
                <a:noFill/>
                <a:ln w="20637">
                  <a:solidFill>
                    <a:srgbClr val="92301C"/>
                  </a:solidFill>
                </a:ln>
              </p:spPr>
            </p:sp>
            <p:sp>
              <p:nvSpPr>
                <p:cNvPr id="65" name="Freeform 65"/>
                <p:cNvSpPr/>
                <p:nvPr/>
              </p:nvSpPr>
              <p:spPr>
                <a:xfrm>
                  <a:off x="409542" y="4742656"/>
                  <a:ext cx="25830" cy="103187"/>
                </a:xfrm>
                <a:custGeom>
                  <a:avLst/>
                  <a:gdLst/>
                  <a:ahLst/>
                  <a:cxnLst/>
                  <a:rect l="l" t="t" r="r" b="b"/>
                  <a:pathLst>
                    <a:path w="25830" h="103187">
                      <a:moveTo>
                        <a:pt x="33" y="0"/>
                      </a:moveTo>
                      <a:lnTo>
                        <a:pt x="33" y="20637"/>
                      </a:lnTo>
                      <a:cubicBezTo>
                        <a:pt x="0" y="50143"/>
                        <a:pt x="9002" y="78951"/>
                        <a:pt x="25830" y="103187"/>
                      </a:cubicBezTo>
                    </a:path>
                  </a:pathLst>
                </a:custGeom>
                <a:noFill/>
                <a:ln w="20637">
                  <a:solidFill>
                    <a:srgbClr val="92301C"/>
                  </a:solidFill>
                </a:ln>
              </p:spPr>
            </p:sp>
            <p:sp>
              <p:nvSpPr>
                <p:cNvPr id="66" name="Freeform 66"/>
                <p:cNvSpPr/>
                <p:nvPr/>
              </p:nvSpPr>
              <p:spPr>
                <a:xfrm>
                  <a:off x="368300" y="4783931"/>
                  <a:ext cx="18574" cy="61912"/>
                </a:xfrm>
                <a:custGeom>
                  <a:avLst/>
                  <a:gdLst/>
                  <a:ahLst/>
                  <a:cxnLst/>
                  <a:rect l="l" t="t" r="r" b="b"/>
                  <a:pathLst>
                    <a:path w="18574" h="61912">
                      <a:moveTo>
                        <a:pt x="0" y="0"/>
                      </a:moveTo>
                      <a:cubicBezTo>
                        <a:pt x="2525" y="21564"/>
                        <a:pt x="8811" y="42519"/>
                        <a:pt x="18574" y="61912"/>
                      </a:cubicBezTo>
                    </a:path>
                  </a:pathLst>
                </a:custGeom>
                <a:noFill/>
                <a:ln w="20637">
                  <a:solidFill>
                    <a:srgbClr val="92301C"/>
                  </a:solidFill>
                </a:ln>
              </p:spPr>
            </p:sp>
            <p:sp>
              <p:nvSpPr>
                <p:cNvPr id="67" name="Freeform 67"/>
                <p:cNvSpPr/>
                <p:nvPr/>
              </p:nvSpPr>
              <p:spPr>
                <a:xfrm>
                  <a:off x="326213" y="4656174"/>
                  <a:ext cx="124636" cy="169031"/>
                </a:xfrm>
                <a:custGeom>
                  <a:avLst/>
                  <a:gdLst/>
                  <a:ahLst/>
                  <a:cxnLst/>
                  <a:rect l="l" t="t" r="r" b="b"/>
                  <a:pathLst>
                    <a:path w="124636" h="169031">
                      <a:moveTo>
                        <a:pt x="10099" y="169031"/>
                      </a:moveTo>
                      <a:cubicBezTo>
                        <a:pt x="3136" y="145611"/>
                        <a:pt x="0" y="121220"/>
                        <a:pt x="812" y="96800"/>
                      </a:cubicBezTo>
                      <a:lnTo>
                        <a:pt x="812" y="86481"/>
                      </a:lnTo>
                      <a:cubicBezTo>
                        <a:pt x="731" y="56949"/>
                        <a:pt x="16433" y="29623"/>
                        <a:pt x="41989" y="14822"/>
                      </a:cubicBezTo>
                      <a:cubicBezTo>
                        <a:pt x="67545" y="21"/>
                        <a:pt x="99061" y="0"/>
                        <a:pt x="124636" y="14766"/>
                      </a:cubicBezTo>
                    </a:path>
                  </a:pathLst>
                </a:custGeom>
                <a:noFill/>
                <a:ln w="20637">
                  <a:solidFill>
                    <a:srgbClr val="92301C"/>
                  </a:solidFill>
                </a:ln>
              </p:spPr>
            </p:sp>
          </p:grpSp>
          <p:sp>
            <p:nvSpPr>
              <p:cNvPr id="69" name="TextBox 69"/>
              <p:cNvSpPr txBox="1"/>
              <p:nvPr/>
            </p:nvSpPr>
            <p:spPr>
              <a:xfrm>
                <a:off x="623888" y="4594622"/>
                <a:ext cx="642239"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反欺诈数据</a:t>
                </a:r>
              </a:p>
            </p:txBody>
          </p:sp>
          <p:sp>
            <p:nvSpPr>
              <p:cNvPr id="70" name="TextBox 70"/>
              <p:cNvSpPr txBox="1"/>
              <p:nvPr/>
            </p:nvSpPr>
            <p:spPr>
              <a:xfrm>
                <a:off x="623888" y="4799886"/>
                <a:ext cx="134764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黑名单、异常投保、关联风险等</a:t>
                </a:r>
              </a:p>
            </p:txBody>
          </p:sp>
        </p:grpSp>
      </p:grpSp>
      <p:grpSp>
        <p:nvGrpSpPr>
          <p:cNvPr id="180" name="mid-flow"/>
          <p:cNvGrpSpPr/>
          <p:nvPr/>
        </p:nvGrpSpPr>
        <p:grpSpPr>
          <a:xfrm>
            <a:off x="2490788" y="1181100"/>
            <a:ext cx="4584979" cy="3464242"/>
            <a:chOff x="2490788" y="1181100"/>
            <a:chExt cx="4584979" cy="3464242"/>
          </a:xfrm>
        </p:grpSpPr>
        <p:grpSp>
          <p:nvGrpSpPr>
            <p:cNvPr id="109" name="mf-circles"/>
            <p:cNvGrpSpPr/>
            <p:nvPr/>
          </p:nvGrpSpPr>
          <p:grpSpPr>
            <a:xfrm>
              <a:off x="2590800" y="1181100"/>
              <a:ext cx="4305300" cy="495300"/>
              <a:chOff x="2590800" y="1181100"/>
              <a:chExt cx="4305300" cy="495300"/>
            </a:xfrm>
          </p:grpSpPr>
          <p:sp>
            <p:nvSpPr>
              <p:cNvPr id="73" name="Ellipse 73"/>
              <p:cNvSpPr/>
              <p:nvPr/>
            </p:nvSpPr>
            <p:spPr>
              <a:xfrm>
                <a:off x="2590800" y="1181100"/>
                <a:ext cx="495300" cy="495300"/>
              </a:xfrm>
              <a:prstGeom prst="ellipse">
                <a:avLst/>
              </a:prstGeom>
              <a:solidFill>
                <a:srgbClr val="D6E6F3"/>
              </a:solidFill>
              <a:ln>
                <a:noFill/>
              </a:ln>
            </p:spPr>
          </p:sp>
          <p:grpSp>
            <p:nvGrpSpPr>
              <p:cNvPr id="79" name="Group 79"/>
              <p:cNvGrpSpPr/>
              <p:nvPr/>
            </p:nvGrpSpPr>
            <p:grpSpPr>
              <a:xfrm>
                <a:off x="2771775" y="1343025"/>
                <a:ext cx="133350" cy="171450"/>
                <a:chOff x="2771775" y="1343025"/>
                <a:chExt cx="133350" cy="171450"/>
              </a:xfrm>
            </p:grpSpPr>
            <p:sp>
              <p:nvSpPr>
                <p:cNvPr id="74" name="Freeform 74"/>
                <p:cNvSpPr/>
                <p:nvPr/>
              </p:nvSpPr>
              <p:spPr>
                <a:xfrm>
                  <a:off x="2857500" y="134302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92301C"/>
                  </a:solidFill>
                </a:ln>
              </p:spPr>
            </p:sp>
            <p:sp>
              <p:nvSpPr>
                <p:cNvPr id="75" name="Freeform 75"/>
                <p:cNvSpPr/>
                <p:nvPr/>
              </p:nvSpPr>
              <p:spPr>
                <a:xfrm>
                  <a:off x="2771775" y="134302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92301C"/>
                  </a:solidFill>
                </a:ln>
              </p:spPr>
            </p:sp>
            <p:sp>
              <p:nvSpPr>
                <p:cNvPr id="76" name="Freeform 76"/>
                <p:cNvSpPr/>
                <p:nvPr/>
              </p:nvSpPr>
              <p:spPr>
                <a:xfrm>
                  <a:off x="2809875" y="1400175"/>
                  <a:ext cx="9525" cy="9525"/>
                </a:xfrm>
                <a:custGeom>
                  <a:avLst/>
                  <a:gdLst/>
                  <a:ahLst/>
                  <a:cxnLst/>
                  <a:rect l="l" t="t" r="r" b="b"/>
                  <a:pathLst>
                    <a:path w="9525" h="9525">
                      <a:moveTo>
                        <a:pt x="0" y="0"/>
                      </a:moveTo>
                      <a:lnTo>
                        <a:pt x="9525" y="0"/>
                      </a:lnTo>
                    </a:path>
                  </a:pathLst>
                </a:custGeom>
                <a:noFill/>
                <a:ln w="19050">
                  <a:solidFill>
                    <a:srgbClr val="92301C"/>
                  </a:solidFill>
                </a:ln>
              </p:spPr>
            </p:sp>
            <p:sp>
              <p:nvSpPr>
                <p:cNvPr id="77" name="Freeform 77"/>
                <p:cNvSpPr/>
                <p:nvPr/>
              </p:nvSpPr>
              <p:spPr>
                <a:xfrm>
                  <a:off x="2809875" y="1438275"/>
                  <a:ext cx="57150" cy="9525"/>
                </a:xfrm>
                <a:custGeom>
                  <a:avLst/>
                  <a:gdLst/>
                  <a:ahLst/>
                  <a:cxnLst/>
                  <a:rect l="l" t="t" r="r" b="b"/>
                  <a:pathLst>
                    <a:path w="57150" h="9525">
                      <a:moveTo>
                        <a:pt x="0" y="0"/>
                      </a:moveTo>
                      <a:lnTo>
                        <a:pt x="57150" y="0"/>
                      </a:lnTo>
                    </a:path>
                  </a:pathLst>
                </a:custGeom>
                <a:noFill/>
                <a:ln w="19050">
                  <a:solidFill>
                    <a:srgbClr val="92301C"/>
                  </a:solidFill>
                </a:ln>
              </p:spPr>
            </p:sp>
            <p:sp>
              <p:nvSpPr>
                <p:cNvPr id="78" name="Freeform 78"/>
                <p:cNvSpPr/>
                <p:nvPr/>
              </p:nvSpPr>
              <p:spPr>
                <a:xfrm>
                  <a:off x="2809875" y="1476375"/>
                  <a:ext cx="57150" cy="9525"/>
                </a:xfrm>
                <a:custGeom>
                  <a:avLst/>
                  <a:gdLst/>
                  <a:ahLst/>
                  <a:cxnLst/>
                  <a:rect l="l" t="t" r="r" b="b"/>
                  <a:pathLst>
                    <a:path w="57150" h="9525">
                      <a:moveTo>
                        <a:pt x="0" y="0"/>
                      </a:moveTo>
                      <a:lnTo>
                        <a:pt x="57150" y="0"/>
                      </a:lnTo>
                    </a:path>
                  </a:pathLst>
                </a:custGeom>
                <a:noFill/>
                <a:ln w="19050">
                  <a:solidFill>
                    <a:srgbClr val="92301C"/>
                  </a:solidFill>
                </a:ln>
              </p:spPr>
            </p:sp>
          </p:grpSp>
          <p:sp>
            <p:nvSpPr>
              <p:cNvPr id="80" name="Ellipse 80"/>
              <p:cNvSpPr/>
              <p:nvPr/>
            </p:nvSpPr>
            <p:spPr>
              <a:xfrm>
                <a:off x="3352800" y="1181100"/>
                <a:ext cx="495300" cy="495300"/>
              </a:xfrm>
              <a:prstGeom prst="ellipse">
                <a:avLst/>
              </a:prstGeom>
              <a:solidFill>
                <a:srgbClr val="D6E6F3"/>
              </a:solidFill>
              <a:ln>
                <a:noFill/>
              </a:ln>
            </p:spPr>
          </p:sp>
          <p:grpSp>
            <p:nvGrpSpPr>
              <p:cNvPr id="83" name="Group 83"/>
              <p:cNvGrpSpPr/>
              <p:nvPr/>
            </p:nvGrpSpPr>
            <p:grpSpPr>
              <a:xfrm>
                <a:off x="3501871" y="1343025"/>
                <a:ext cx="186006" cy="171450"/>
                <a:chOff x="3501871" y="1343025"/>
                <a:chExt cx="186006" cy="171450"/>
              </a:xfrm>
            </p:grpSpPr>
            <p:sp>
              <p:nvSpPr>
                <p:cNvPr id="81" name="Freeform 81"/>
                <p:cNvSpPr/>
                <p:nvPr/>
              </p:nvSpPr>
              <p:spPr>
                <a:xfrm>
                  <a:off x="3501871" y="13430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92301C"/>
                  </a:solidFill>
                </a:ln>
              </p:spPr>
            </p:sp>
            <p:sp>
              <p:nvSpPr>
                <p:cNvPr id="82" name="Freeform 82"/>
                <p:cNvSpPr/>
                <p:nvPr/>
              </p:nvSpPr>
              <p:spPr>
                <a:xfrm>
                  <a:off x="3629025" y="1476375"/>
                  <a:ext cx="57150" cy="38100"/>
                </a:xfrm>
                <a:custGeom>
                  <a:avLst/>
                  <a:gdLst/>
                  <a:ahLst/>
                  <a:cxnLst/>
                  <a:rect l="l" t="t" r="r" b="b"/>
                  <a:pathLst>
                    <a:path w="57150" h="38100">
                      <a:moveTo>
                        <a:pt x="0" y="19050"/>
                      </a:moveTo>
                      <a:lnTo>
                        <a:pt x="19050" y="38100"/>
                      </a:lnTo>
                      <a:lnTo>
                        <a:pt x="57150" y="0"/>
                      </a:lnTo>
                    </a:path>
                  </a:pathLst>
                </a:custGeom>
                <a:noFill/>
                <a:ln w="19050">
                  <a:solidFill>
                    <a:srgbClr val="92301C"/>
                  </a:solidFill>
                </a:ln>
              </p:spPr>
            </p:sp>
          </p:grpSp>
          <p:sp>
            <p:nvSpPr>
              <p:cNvPr id="84" name="Ellipse 84"/>
              <p:cNvSpPr/>
              <p:nvPr/>
            </p:nvSpPr>
            <p:spPr>
              <a:xfrm>
                <a:off x="4114800" y="1181100"/>
                <a:ext cx="495300" cy="495300"/>
              </a:xfrm>
              <a:prstGeom prst="ellipse">
                <a:avLst/>
              </a:prstGeom>
              <a:solidFill>
                <a:srgbClr val="D6E6F3"/>
              </a:solidFill>
              <a:ln>
                <a:noFill/>
              </a:ln>
            </p:spPr>
          </p:sp>
          <p:grpSp>
            <p:nvGrpSpPr>
              <p:cNvPr id="89" name="Group 89"/>
              <p:cNvGrpSpPr/>
              <p:nvPr/>
            </p:nvGrpSpPr>
            <p:grpSpPr>
              <a:xfrm>
                <a:off x="4276725" y="1352550"/>
                <a:ext cx="171450" cy="161925"/>
                <a:chOff x="4276725" y="1352550"/>
                <a:chExt cx="171450" cy="161925"/>
              </a:xfrm>
            </p:grpSpPr>
            <p:sp>
              <p:nvSpPr>
                <p:cNvPr id="85" name="Freeform 85"/>
                <p:cNvSpPr/>
                <p:nvPr/>
              </p:nvSpPr>
              <p:spPr>
                <a:xfrm>
                  <a:off x="4276725" y="14287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92301C"/>
                  </a:solidFill>
                </a:ln>
              </p:spPr>
            </p:sp>
            <p:sp>
              <p:nvSpPr>
                <p:cNvPr id="86" name="Freeform 86"/>
                <p:cNvSpPr/>
                <p:nvPr/>
              </p:nvSpPr>
              <p:spPr>
                <a:xfrm>
                  <a:off x="4391025" y="13906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92301C"/>
                  </a:solidFill>
                </a:ln>
              </p:spPr>
            </p:sp>
            <p:sp>
              <p:nvSpPr>
                <p:cNvPr id="87" name="Freeform 87"/>
                <p:cNvSpPr/>
                <p:nvPr/>
              </p:nvSpPr>
              <p:spPr>
                <a:xfrm>
                  <a:off x="4333875" y="13525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92301C"/>
                  </a:solidFill>
                </a:ln>
              </p:spPr>
            </p:sp>
            <p:sp>
              <p:nvSpPr>
                <p:cNvPr id="88" name="Freeform 88"/>
                <p:cNvSpPr/>
                <p:nvPr/>
              </p:nvSpPr>
              <p:spPr>
                <a:xfrm>
                  <a:off x="4286250" y="1504950"/>
                  <a:ext cx="133350" cy="9525"/>
                </a:xfrm>
                <a:custGeom>
                  <a:avLst/>
                  <a:gdLst/>
                  <a:ahLst/>
                  <a:cxnLst/>
                  <a:rect l="l" t="t" r="r" b="b"/>
                  <a:pathLst>
                    <a:path w="133350" h="9525">
                      <a:moveTo>
                        <a:pt x="0" y="0"/>
                      </a:moveTo>
                      <a:lnTo>
                        <a:pt x="133350" y="0"/>
                      </a:lnTo>
                    </a:path>
                  </a:pathLst>
                </a:custGeom>
                <a:noFill/>
                <a:ln w="19050">
                  <a:solidFill>
                    <a:srgbClr val="92301C"/>
                  </a:solidFill>
                </a:ln>
              </p:spPr>
            </p:sp>
          </p:grpSp>
          <p:sp>
            <p:nvSpPr>
              <p:cNvPr id="90" name="Ellipse 90"/>
              <p:cNvSpPr/>
              <p:nvPr/>
            </p:nvSpPr>
            <p:spPr>
              <a:xfrm>
                <a:off x="4876800" y="1181100"/>
                <a:ext cx="495300" cy="495300"/>
              </a:xfrm>
              <a:prstGeom prst="ellipse">
                <a:avLst/>
              </a:prstGeom>
              <a:solidFill>
                <a:srgbClr val="D6E6F3"/>
              </a:solidFill>
              <a:ln>
                <a:noFill/>
              </a:ln>
            </p:spPr>
          </p:sp>
          <p:grpSp>
            <p:nvGrpSpPr>
              <p:cNvPr id="94" name="Group 94"/>
              <p:cNvGrpSpPr/>
              <p:nvPr/>
            </p:nvGrpSpPr>
            <p:grpSpPr>
              <a:xfrm>
                <a:off x="5057775" y="1352550"/>
                <a:ext cx="133350" cy="152400"/>
                <a:chOff x="5057775" y="1352550"/>
                <a:chExt cx="133350" cy="152400"/>
              </a:xfrm>
            </p:grpSpPr>
            <p:sp>
              <p:nvSpPr>
                <p:cNvPr id="91" name="Freeform 91"/>
                <p:cNvSpPr/>
                <p:nvPr/>
              </p:nvSpPr>
              <p:spPr>
                <a:xfrm>
                  <a:off x="5057775" y="135255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rgbClr val="92301C"/>
                  </a:solidFill>
                </a:ln>
              </p:spPr>
            </p:sp>
            <p:sp>
              <p:nvSpPr>
                <p:cNvPr id="92" name="Freeform 92"/>
                <p:cNvSpPr/>
                <p:nvPr/>
              </p:nvSpPr>
              <p:spPr>
                <a:xfrm>
                  <a:off x="5057775" y="146685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rgbClr val="92301C"/>
                  </a:solidFill>
                </a:ln>
              </p:spPr>
            </p:sp>
            <p:sp>
              <p:nvSpPr>
                <p:cNvPr id="93" name="Freeform 93"/>
                <p:cNvSpPr/>
                <p:nvPr/>
              </p:nvSpPr>
              <p:spPr>
                <a:xfrm>
                  <a:off x="5095875" y="1390650"/>
                  <a:ext cx="57150" cy="9525"/>
                </a:xfrm>
                <a:custGeom>
                  <a:avLst/>
                  <a:gdLst/>
                  <a:ahLst/>
                  <a:cxnLst/>
                  <a:rect l="l" t="t" r="r" b="b"/>
                  <a:pathLst>
                    <a:path w="57150" h="9525">
                      <a:moveTo>
                        <a:pt x="0" y="0"/>
                      </a:moveTo>
                      <a:lnTo>
                        <a:pt x="57150" y="0"/>
                      </a:lnTo>
                    </a:path>
                  </a:pathLst>
                </a:custGeom>
                <a:noFill/>
                <a:ln w="19050">
                  <a:solidFill>
                    <a:srgbClr val="92301C"/>
                  </a:solidFill>
                </a:ln>
              </p:spPr>
            </p:sp>
          </p:grpSp>
          <p:sp>
            <p:nvSpPr>
              <p:cNvPr id="95" name="Ellipse 95"/>
              <p:cNvSpPr/>
              <p:nvPr/>
            </p:nvSpPr>
            <p:spPr>
              <a:xfrm>
                <a:off x="5638800" y="1181100"/>
                <a:ext cx="495300" cy="495300"/>
              </a:xfrm>
              <a:prstGeom prst="ellipse">
                <a:avLst/>
              </a:prstGeom>
              <a:solidFill>
                <a:srgbClr val="D6E6F3"/>
              </a:solidFill>
              <a:ln>
                <a:noFill/>
              </a:ln>
            </p:spPr>
          </p:sp>
          <p:grpSp>
            <p:nvGrpSpPr>
              <p:cNvPr id="104" name="Group 104"/>
              <p:cNvGrpSpPr/>
              <p:nvPr/>
            </p:nvGrpSpPr>
            <p:grpSpPr>
              <a:xfrm>
                <a:off x="5810250" y="1343025"/>
                <a:ext cx="152400" cy="171450"/>
                <a:chOff x="5810250" y="1343025"/>
                <a:chExt cx="152400" cy="171450"/>
              </a:xfrm>
            </p:grpSpPr>
            <p:sp>
              <p:nvSpPr>
                <p:cNvPr id="96" name="Freeform 96"/>
                <p:cNvSpPr/>
                <p:nvPr/>
              </p:nvSpPr>
              <p:spPr>
                <a:xfrm>
                  <a:off x="5810250" y="1343025"/>
                  <a:ext cx="152400" cy="171450"/>
                </a:xfrm>
                <a:custGeom>
                  <a:avLst/>
                  <a:gdLst/>
                  <a:ahLst/>
                  <a:cxnLst/>
                  <a:rect l="l" t="t" r="r" b="b"/>
                  <a:pathLst>
                    <a:path w="152400" h="171450">
                      <a:moveTo>
                        <a:pt x="0" y="19050"/>
                      </a:moveTo>
                      <a:cubicBezTo>
                        <a:pt x="0" y="8529"/>
                        <a:pt x="8529" y="0"/>
                        <a:pt x="19050" y="0"/>
                      </a:cubicBezTo>
                      <a:lnTo>
                        <a:pt x="133350" y="0"/>
                      </a:lnTo>
                      <a:cubicBezTo>
                        <a:pt x="143871" y="0"/>
                        <a:pt x="152400" y="8529"/>
                        <a:pt x="152400" y="19050"/>
                      </a:cubicBezTo>
                      <a:lnTo>
                        <a:pt x="152400" y="152400"/>
                      </a:lnTo>
                      <a:cubicBezTo>
                        <a:pt x="152400" y="162921"/>
                        <a:pt x="143871" y="171450"/>
                        <a:pt x="133350" y="171450"/>
                      </a:cubicBezTo>
                      <a:lnTo>
                        <a:pt x="19050" y="171450"/>
                      </a:lnTo>
                      <a:cubicBezTo>
                        <a:pt x="8529" y="171450"/>
                        <a:pt x="0" y="162921"/>
                        <a:pt x="0" y="152400"/>
                      </a:cubicBezTo>
                      <a:lnTo>
                        <a:pt x="0" y="19050"/>
                      </a:lnTo>
                    </a:path>
                  </a:pathLst>
                </a:custGeom>
                <a:noFill/>
                <a:ln w="19050">
                  <a:solidFill>
                    <a:srgbClr val="92301C"/>
                  </a:solidFill>
                </a:ln>
              </p:spPr>
            </p:sp>
            <p:sp>
              <p:nvSpPr>
                <p:cNvPr id="97" name="Freeform 97"/>
                <p:cNvSpPr/>
                <p:nvPr/>
              </p:nvSpPr>
              <p:spPr>
                <a:xfrm>
                  <a:off x="5848350" y="1381125"/>
                  <a:ext cx="76200" cy="28575"/>
                </a:xfrm>
                <a:custGeom>
                  <a:avLst/>
                  <a:gdLst/>
                  <a:ahLst/>
                  <a:cxnLst/>
                  <a:rect l="l" t="t" r="r" b="b"/>
                  <a:pathLst>
                    <a:path w="76200" h="28575">
                      <a:moveTo>
                        <a:pt x="0" y="9525"/>
                      </a:moveTo>
                      <a:cubicBezTo>
                        <a:pt x="0" y="4264"/>
                        <a:pt x="4264" y="0"/>
                        <a:pt x="9525" y="0"/>
                      </a:cubicBezTo>
                      <a:lnTo>
                        <a:pt x="66675" y="0"/>
                      </a:lnTo>
                      <a:cubicBezTo>
                        <a:pt x="71936" y="0"/>
                        <a:pt x="76200" y="4264"/>
                        <a:pt x="76200" y="9525"/>
                      </a:cubicBezTo>
                      <a:lnTo>
                        <a:pt x="76200" y="19050"/>
                      </a:lnTo>
                      <a:cubicBezTo>
                        <a:pt x="76200" y="24311"/>
                        <a:pt x="71936" y="28575"/>
                        <a:pt x="66675" y="28575"/>
                      </a:cubicBezTo>
                      <a:lnTo>
                        <a:pt x="9525" y="28575"/>
                      </a:lnTo>
                      <a:cubicBezTo>
                        <a:pt x="4264" y="28575"/>
                        <a:pt x="0" y="24311"/>
                        <a:pt x="0" y="19050"/>
                      </a:cubicBezTo>
                      <a:lnTo>
                        <a:pt x="0" y="9525"/>
                      </a:lnTo>
                    </a:path>
                  </a:pathLst>
                </a:custGeom>
                <a:noFill/>
                <a:ln w="19050">
                  <a:solidFill>
                    <a:srgbClr val="92301C"/>
                  </a:solidFill>
                </a:ln>
              </p:spPr>
            </p:sp>
            <p:sp>
              <p:nvSpPr>
                <p:cNvPr id="98" name="Freeform 98"/>
                <p:cNvSpPr/>
                <p:nvPr/>
              </p:nvSpPr>
              <p:spPr>
                <a:xfrm>
                  <a:off x="5848350" y="1447800"/>
                  <a:ext cx="9525" cy="9525"/>
                </a:xfrm>
                <a:custGeom>
                  <a:avLst/>
                  <a:gdLst/>
                  <a:ahLst/>
                  <a:cxnLst/>
                  <a:rect l="l" t="t" r="r" b="b"/>
                  <a:pathLst>
                    <a:path w="9525" h="9525">
                      <a:moveTo>
                        <a:pt x="0" y="0"/>
                      </a:moveTo>
                      <a:lnTo>
                        <a:pt x="0" y="95"/>
                      </a:lnTo>
                    </a:path>
                  </a:pathLst>
                </a:custGeom>
                <a:noFill/>
                <a:ln w="19050">
                  <a:solidFill>
                    <a:srgbClr val="92301C"/>
                  </a:solidFill>
                </a:ln>
              </p:spPr>
            </p:sp>
            <p:sp>
              <p:nvSpPr>
                <p:cNvPr id="99" name="Freeform 99"/>
                <p:cNvSpPr/>
                <p:nvPr/>
              </p:nvSpPr>
              <p:spPr>
                <a:xfrm>
                  <a:off x="5886450" y="1447800"/>
                  <a:ext cx="9525" cy="9525"/>
                </a:xfrm>
                <a:custGeom>
                  <a:avLst/>
                  <a:gdLst/>
                  <a:ahLst/>
                  <a:cxnLst/>
                  <a:rect l="l" t="t" r="r" b="b"/>
                  <a:pathLst>
                    <a:path w="9525" h="9525">
                      <a:moveTo>
                        <a:pt x="0" y="0"/>
                      </a:moveTo>
                      <a:lnTo>
                        <a:pt x="0" y="95"/>
                      </a:lnTo>
                    </a:path>
                  </a:pathLst>
                </a:custGeom>
                <a:noFill/>
                <a:ln w="19050">
                  <a:solidFill>
                    <a:srgbClr val="92301C"/>
                  </a:solidFill>
                </a:ln>
              </p:spPr>
            </p:sp>
            <p:sp>
              <p:nvSpPr>
                <p:cNvPr id="100" name="Freeform 100"/>
                <p:cNvSpPr/>
                <p:nvPr/>
              </p:nvSpPr>
              <p:spPr>
                <a:xfrm>
                  <a:off x="5924550" y="1447800"/>
                  <a:ext cx="9525" cy="9525"/>
                </a:xfrm>
                <a:custGeom>
                  <a:avLst/>
                  <a:gdLst/>
                  <a:ahLst/>
                  <a:cxnLst/>
                  <a:rect l="l" t="t" r="r" b="b"/>
                  <a:pathLst>
                    <a:path w="9525" h="9525">
                      <a:moveTo>
                        <a:pt x="0" y="0"/>
                      </a:moveTo>
                      <a:lnTo>
                        <a:pt x="0" y="95"/>
                      </a:lnTo>
                    </a:path>
                  </a:pathLst>
                </a:custGeom>
                <a:noFill/>
                <a:ln w="19050">
                  <a:solidFill>
                    <a:srgbClr val="92301C"/>
                  </a:solidFill>
                </a:ln>
              </p:spPr>
            </p:sp>
            <p:sp>
              <p:nvSpPr>
                <p:cNvPr id="101" name="Freeform 101"/>
                <p:cNvSpPr/>
                <p:nvPr/>
              </p:nvSpPr>
              <p:spPr>
                <a:xfrm>
                  <a:off x="5848350" y="1476375"/>
                  <a:ext cx="9525" cy="9525"/>
                </a:xfrm>
                <a:custGeom>
                  <a:avLst/>
                  <a:gdLst/>
                  <a:ahLst/>
                  <a:cxnLst/>
                  <a:rect l="l" t="t" r="r" b="b"/>
                  <a:pathLst>
                    <a:path w="9525" h="9525">
                      <a:moveTo>
                        <a:pt x="0" y="0"/>
                      </a:moveTo>
                      <a:lnTo>
                        <a:pt x="0" y="95"/>
                      </a:lnTo>
                    </a:path>
                  </a:pathLst>
                </a:custGeom>
                <a:noFill/>
                <a:ln w="19050">
                  <a:solidFill>
                    <a:srgbClr val="92301C"/>
                  </a:solidFill>
                </a:ln>
              </p:spPr>
            </p:sp>
            <p:sp>
              <p:nvSpPr>
                <p:cNvPr id="102" name="Freeform 102"/>
                <p:cNvSpPr/>
                <p:nvPr/>
              </p:nvSpPr>
              <p:spPr>
                <a:xfrm>
                  <a:off x="5886450" y="1476375"/>
                  <a:ext cx="9525" cy="9525"/>
                </a:xfrm>
                <a:custGeom>
                  <a:avLst/>
                  <a:gdLst/>
                  <a:ahLst/>
                  <a:cxnLst/>
                  <a:rect l="l" t="t" r="r" b="b"/>
                  <a:pathLst>
                    <a:path w="9525" h="9525">
                      <a:moveTo>
                        <a:pt x="0" y="0"/>
                      </a:moveTo>
                      <a:lnTo>
                        <a:pt x="0" y="95"/>
                      </a:lnTo>
                    </a:path>
                  </a:pathLst>
                </a:custGeom>
                <a:noFill/>
                <a:ln w="19050">
                  <a:solidFill>
                    <a:srgbClr val="92301C"/>
                  </a:solidFill>
                </a:ln>
              </p:spPr>
            </p:sp>
            <p:sp>
              <p:nvSpPr>
                <p:cNvPr id="103" name="Freeform 103"/>
                <p:cNvSpPr/>
                <p:nvPr/>
              </p:nvSpPr>
              <p:spPr>
                <a:xfrm>
                  <a:off x="5924550" y="1476375"/>
                  <a:ext cx="9525" cy="9525"/>
                </a:xfrm>
                <a:custGeom>
                  <a:avLst/>
                  <a:gdLst/>
                  <a:ahLst/>
                  <a:cxnLst/>
                  <a:rect l="l" t="t" r="r" b="b"/>
                  <a:pathLst>
                    <a:path w="9525" h="9525">
                      <a:moveTo>
                        <a:pt x="0" y="0"/>
                      </a:moveTo>
                      <a:lnTo>
                        <a:pt x="0" y="95"/>
                      </a:lnTo>
                    </a:path>
                  </a:pathLst>
                </a:custGeom>
                <a:noFill/>
                <a:ln w="19050">
                  <a:solidFill>
                    <a:srgbClr val="92301C"/>
                  </a:solidFill>
                </a:ln>
              </p:spPr>
            </p:sp>
          </p:grpSp>
          <p:sp>
            <p:nvSpPr>
              <p:cNvPr id="105" name="Ellipse 105"/>
              <p:cNvSpPr/>
              <p:nvPr/>
            </p:nvSpPr>
            <p:spPr>
              <a:xfrm>
                <a:off x="6400800" y="1181100"/>
                <a:ext cx="495300" cy="495300"/>
              </a:xfrm>
              <a:prstGeom prst="ellipse">
                <a:avLst/>
              </a:prstGeom>
              <a:solidFill>
                <a:srgbClr val="D6E6F3"/>
              </a:solidFill>
              <a:ln>
                <a:noFill/>
              </a:ln>
            </p:spPr>
          </p:sp>
          <p:grpSp>
            <p:nvGrpSpPr>
              <p:cNvPr id="108" name="Group 108"/>
              <p:cNvGrpSpPr/>
              <p:nvPr/>
            </p:nvGrpSpPr>
            <p:grpSpPr>
              <a:xfrm>
                <a:off x="6591300" y="1343025"/>
                <a:ext cx="114300" cy="171450"/>
                <a:chOff x="6591300" y="1343025"/>
                <a:chExt cx="114300" cy="171450"/>
              </a:xfrm>
            </p:grpSpPr>
            <p:sp>
              <p:nvSpPr>
                <p:cNvPr id="106" name="Freeform 106"/>
                <p:cNvSpPr/>
                <p:nvPr/>
              </p:nvSpPr>
              <p:spPr>
                <a:xfrm>
                  <a:off x="6610350" y="13430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92301C"/>
                  </a:solidFill>
                </a:ln>
              </p:spPr>
            </p:sp>
            <p:sp>
              <p:nvSpPr>
                <p:cNvPr id="107" name="Freeform 107"/>
                <p:cNvSpPr/>
                <p:nvPr/>
              </p:nvSpPr>
              <p:spPr>
                <a:xfrm>
                  <a:off x="6591300" y="14573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92301C"/>
                  </a:solidFill>
                </a:ln>
              </p:spPr>
            </p:sp>
          </p:grpSp>
        </p:grpSp>
        <p:grpSp>
          <p:nvGrpSpPr>
            <p:cNvPr id="115" name="mf-arrows"/>
            <p:cNvGrpSpPr/>
            <p:nvPr/>
          </p:nvGrpSpPr>
          <p:grpSpPr>
            <a:xfrm>
              <a:off x="3124200" y="1428750"/>
              <a:ext cx="3238500" cy="1"/>
              <a:chOff x="3124200" y="1428750"/>
              <a:chExt cx="3238500" cy="1"/>
            </a:xfrm>
          </p:grpSpPr>
          <p:sp>
            <p:nvSpPr>
              <p:cNvPr id="110" name="Line 110"/>
              <p:cNvSpPr/>
              <p:nvPr/>
            </p:nvSpPr>
            <p:spPr>
              <a:xfrm>
                <a:off x="3124200" y="1428750"/>
                <a:ext cx="190500" cy="1"/>
              </a:xfrm>
              <a:prstGeom prst="line">
                <a:avLst/>
              </a:prstGeom>
              <a:noFill/>
              <a:ln w="14288">
                <a:solidFill>
                  <a:srgbClr val="92301C"/>
                </a:solidFill>
                <a:tailEnd type="triangle" w="lg" len="lg"/>
              </a:ln>
            </p:spPr>
          </p:sp>
          <p:sp>
            <p:nvSpPr>
              <p:cNvPr id="111" name="Line 111"/>
              <p:cNvSpPr/>
              <p:nvPr/>
            </p:nvSpPr>
            <p:spPr>
              <a:xfrm>
                <a:off x="3886200" y="1428750"/>
                <a:ext cx="190500" cy="1"/>
              </a:xfrm>
              <a:prstGeom prst="line">
                <a:avLst/>
              </a:prstGeom>
              <a:noFill/>
              <a:ln w="14288">
                <a:solidFill>
                  <a:srgbClr val="92301C"/>
                </a:solidFill>
                <a:tailEnd type="triangle" w="lg" len="lg"/>
              </a:ln>
            </p:spPr>
          </p:sp>
          <p:sp>
            <p:nvSpPr>
              <p:cNvPr id="112" name="Line 112"/>
              <p:cNvSpPr/>
              <p:nvPr/>
            </p:nvSpPr>
            <p:spPr>
              <a:xfrm>
                <a:off x="4648200" y="1428750"/>
                <a:ext cx="190500" cy="1"/>
              </a:xfrm>
              <a:prstGeom prst="line">
                <a:avLst/>
              </a:prstGeom>
              <a:noFill/>
              <a:ln w="14288">
                <a:solidFill>
                  <a:srgbClr val="92301C"/>
                </a:solidFill>
                <a:tailEnd type="triangle" w="lg" len="lg"/>
              </a:ln>
            </p:spPr>
          </p:sp>
          <p:sp>
            <p:nvSpPr>
              <p:cNvPr id="113" name="Line 113"/>
              <p:cNvSpPr/>
              <p:nvPr/>
            </p:nvSpPr>
            <p:spPr>
              <a:xfrm>
                <a:off x="5410200" y="1428750"/>
                <a:ext cx="190500" cy="1"/>
              </a:xfrm>
              <a:prstGeom prst="line">
                <a:avLst/>
              </a:prstGeom>
              <a:noFill/>
              <a:ln w="14288">
                <a:solidFill>
                  <a:srgbClr val="92301C"/>
                </a:solidFill>
                <a:tailEnd type="triangle" w="lg" len="lg"/>
              </a:ln>
            </p:spPr>
          </p:sp>
          <p:sp>
            <p:nvSpPr>
              <p:cNvPr id="114" name="Line 114"/>
              <p:cNvSpPr/>
              <p:nvPr/>
            </p:nvSpPr>
            <p:spPr>
              <a:xfrm>
                <a:off x="6172200" y="1428750"/>
                <a:ext cx="190500" cy="1"/>
              </a:xfrm>
              <a:prstGeom prst="line">
                <a:avLst/>
              </a:prstGeom>
              <a:noFill/>
              <a:ln w="14288">
                <a:solidFill>
                  <a:srgbClr val="92301C"/>
                </a:solidFill>
                <a:tailEnd type="triangle" w="lg" len="lg"/>
              </a:ln>
            </p:spPr>
          </p:sp>
        </p:grpSp>
        <p:grpSp>
          <p:nvGrpSpPr>
            <p:cNvPr id="128" name="mf-titles"/>
            <p:cNvGrpSpPr/>
            <p:nvPr/>
          </p:nvGrpSpPr>
          <p:grpSpPr>
            <a:xfrm>
              <a:off x="2612911" y="1777841"/>
              <a:ext cx="4261079" cy="314325"/>
              <a:chOff x="2612911" y="1777841"/>
              <a:chExt cx="4261079" cy="314325"/>
            </a:xfrm>
          </p:grpSpPr>
          <p:sp>
            <p:nvSpPr>
              <p:cNvPr id="116" name="TextBox 116"/>
              <p:cNvSpPr txBox="1"/>
              <p:nvPr/>
            </p:nvSpPr>
            <p:spPr>
              <a:xfrm>
                <a:off x="2772289" y="1777841"/>
                <a:ext cx="132321"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j-lt"/>
                    <a:ea typeface="+mj-ea"/>
                    <a:cs typeface="+mj-cs"/>
                  </a:rPr>
                  <a:t>01</a:t>
                </a:r>
              </a:p>
            </p:txBody>
          </p:sp>
          <p:sp>
            <p:nvSpPr>
              <p:cNvPr id="117" name="TextBox 117"/>
              <p:cNvSpPr txBox="1"/>
              <p:nvPr/>
            </p:nvSpPr>
            <p:spPr>
              <a:xfrm>
                <a:off x="2612911" y="19302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材料解析</a:t>
                </a:r>
              </a:p>
            </p:txBody>
          </p:sp>
          <p:sp>
            <p:nvSpPr>
              <p:cNvPr id="118" name="TextBox 118"/>
              <p:cNvSpPr txBox="1"/>
              <p:nvPr/>
            </p:nvSpPr>
            <p:spPr>
              <a:xfrm>
                <a:off x="3534289" y="1777841"/>
                <a:ext cx="132321"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j-lt"/>
                    <a:ea typeface="+mj-ea"/>
                    <a:cs typeface="+mj-cs"/>
                  </a:rPr>
                  <a:t>02</a:t>
                </a:r>
              </a:p>
            </p:txBody>
          </p:sp>
          <p:sp>
            <p:nvSpPr>
              <p:cNvPr id="119" name="TextBox 119"/>
              <p:cNvSpPr txBox="1"/>
              <p:nvPr/>
            </p:nvSpPr>
            <p:spPr>
              <a:xfrm>
                <a:off x="3319716" y="1930241"/>
                <a:ext cx="561467"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真实性校验</a:t>
                </a:r>
              </a:p>
            </p:txBody>
          </p:sp>
          <p:sp>
            <p:nvSpPr>
              <p:cNvPr id="120" name="TextBox 120"/>
              <p:cNvSpPr txBox="1"/>
              <p:nvPr/>
            </p:nvSpPr>
            <p:spPr>
              <a:xfrm>
                <a:off x="4296289" y="1777841"/>
                <a:ext cx="132321"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j-lt"/>
                    <a:ea typeface="+mj-ea"/>
                    <a:cs typeface="+mj-cs"/>
                  </a:rPr>
                  <a:t>03</a:t>
                </a:r>
              </a:p>
            </p:txBody>
          </p:sp>
          <p:sp>
            <p:nvSpPr>
              <p:cNvPr id="121" name="TextBox 121"/>
              <p:cNvSpPr txBox="1"/>
              <p:nvPr/>
            </p:nvSpPr>
            <p:spPr>
              <a:xfrm>
                <a:off x="4136911" y="19302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风险因子</a:t>
                </a:r>
              </a:p>
            </p:txBody>
          </p:sp>
          <p:sp>
            <p:nvSpPr>
              <p:cNvPr id="122" name="TextBox 122"/>
              <p:cNvSpPr txBox="1"/>
              <p:nvPr/>
            </p:nvSpPr>
            <p:spPr>
              <a:xfrm>
                <a:off x="5058289" y="1777841"/>
                <a:ext cx="132321"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j-lt"/>
                    <a:ea typeface="+mj-ea"/>
                    <a:cs typeface="+mj-cs"/>
                  </a:rPr>
                  <a:t>04</a:t>
                </a:r>
              </a:p>
            </p:txBody>
          </p:sp>
          <p:sp>
            <p:nvSpPr>
              <p:cNvPr id="123" name="TextBox 123"/>
              <p:cNvSpPr txBox="1"/>
              <p:nvPr/>
            </p:nvSpPr>
            <p:spPr>
              <a:xfrm>
                <a:off x="4898911" y="19302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规则匹配</a:t>
                </a:r>
              </a:p>
            </p:txBody>
          </p:sp>
          <p:sp>
            <p:nvSpPr>
              <p:cNvPr id="124" name="TextBox 124"/>
              <p:cNvSpPr txBox="1"/>
              <p:nvPr/>
            </p:nvSpPr>
            <p:spPr>
              <a:xfrm>
                <a:off x="5820289" y="1777841"/>
                <a:ext cx="132321"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j-lt"/>
                    <a:ea typeface="+mj-ea"/>
                    <a:cs typeface="+mj-cs"/>
                  </a:rPr>
                  <a:t>05</a:t>
                </a:r>
              </a:p>
            </p:txBody>
          </p:sp>
          <p:sp>
            <p:nvSpPr>
              <p:cNvPr id="125" name="TextBox 125"/>
              <p:cNvSpPr txBox="1"/>
              <p:nvPr/>
            </p:nvSpPr>
            <p:spPr>
              <a:xfrm>
                <a:off x="5660911" y="19302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定价建议</a:t>
                </a:r>
              </a:p>
            </p:txBody>
          </p:sp>
          <p:sp>
            <p:nvSpPr>
              <p:cNvPr id="126" name="TextBox 126"/>
              <p:cNvSpPr txBox="1"/>
              <p:nvPr/>
            </p:nvSpPr>
            <p:spPr>
              <a:xfrm>
                <a:off x="6582289" y="1777841"/>
                <a:ext cx="132321"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j-lt"/>
                    <a:ea typeface="+mj-ea"/>
                    <a:cs typeface="+mj-cs"/>
                  </a:rPr>
                  <a:t>06</a:t>
                </a:r>
              </a:p>
            </p:txBody>
          </p:sp>
          <p:sp>
            <p:nvSpPr>
              <p:cNvPr id="127" name="TextBox 127"/>
              <p:cNvSpPr txBox="1"/>
              <p:nvPr/>
            </p:nvSpPr>
            <p:spPr>
              <a:xfrm>
                <a:off x="6422911" y="19302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人工核保</a:t>
                </a:r>
              </a:p>
            </p:txBody>
          </p:sp>
        </p:grpSp>
        <p:grpSp>
          <p:nvGrpSpPr>
            <p:cNvPr id="153" name="mf-bullets"/>
            <p:cNvGrpSpPr/>
            <p:nvPr/>
          </p:nvGrpSpPr>
          <p:grpSpPr>
            <a:xfrm>
              <a:off x="2490788" y="2198132"/>
              <a:ext cx="4584979" cy="697706"/>
              <a:chOff x="2490788" y="2198132"/>
              <a:chExt cx="4584979" cy="697706"/>
            </a:xfrm>
          </p:grpSpPr>
          <p:sp>
            <p:nvSpPr>
              <p:cNvPr id="129" name="TextBox 129"/>
              <p:cNvSpPr txBox="1"/>
              <p:nvPr/>
            </p:nvSpPr>
            <p:spPr>
              <a:xfrm>
                <a:off x="2490788" y="2198132"/>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多模态识别</a:t>
                </a:r>
              </a:p>
            </p:txBody>
          </p:sp>
          <p:sp>
            <p:nvSpPr>
              <p:cNvPr id="130" name="TextBox 130"/>
              <p:cNvSpPr txBox="1"/>
              <p:nvPr/>
            </p:nvSpPr>
            <p:spPr>
              <a:xfrm>
                <a:off x="2490788" y="2341007"/>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结构化提取</a:t>
                </a:r>
              </a:p>
            </p:txBody>
          </p:sp>
          <p:sp>
            <p:nvSpPr>
              <p:cNvPr id="131" name="TextBox 131"/>
              <p:cNvSpPr txBox="1"/>
              <p:nvPr/>
            </p:nvSpPr>
            <p:spPr>
              <a:xfrm>
                <a:off x="2490788" y="2483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关键信息抽取</a:t>
                </a:r>
              </a:p>
            </p:txBody>
          </p:sp>
          <p:sp>
            <p:nvSpPr>
              <p:cNvPr id="132" name="TextBox 132"/>
              <p:cNvSpPr txBox="1"/>
              <p:nvPr/>
            </p:nvSpPr>
            <p:spPr>
              <a:xfrm>
                <a:off x="3252788" y="219813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身份与证照核验</a:t>
                </a:r>
              </a:p>
            </p:txBody>
          </p:sp>
          <p:sp>
            <p:nvSpPr>
              <p:cNvPr id="133" name="TextBox 133"/>
              <p:cNvSpPr txBox="1"/>
              <p:nvPr/>
            </p:nvSpPr>
            <p:spPr>
              <a:xfrm>
                <a:off x="3252788" y="2341007"/>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医疗数据一致性</a:t>
                </a:r>
              </a:p>
            </p:txBody>
          </p:sp>
          <p:sp>
            <p:nvSpPr>
              <p:cNvPr id="134" name="TextBox 134"/>
              <p:cNvSpPr txBox="1"/>
              <p:nvPr/>
            </p:nvSpPr>
            <p:spPr>
              <a:xfrm>
                <a:off x="3252788" y="248388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反欺诈规则筛查</a:t>
                </a:r>
              </a:p>
            </p:txBody>
          </p:sp>
          <p:sp>
            <p:nvSpPr>
              <p:cNvPr id="135" name="TextBox 135"/>
              <p:cNvSpPr txBox="1"/>
              <p:nvPr/>
            </p:nvSpPr>
            <p:spPr>
              <a:xfrm>
                <a:off x="3252788" y="2626757"/>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异常信息预警</a:t>
                </a:r>
              </a:p>
            </p:txBody>
          </p:sp>
          <p:sp>
            <p:nvSpPr>
              <p:cNvPr id="136" name="TextBox 136"/>
              <p:cNvSpPr txBox="1"/>
              <p:nvPr/>
            </p:nvSpPr>
            <p:spPr>
              <a:xfrm>
                <a:off x="4014788" y="219813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医学风险因子</a:t>
                </a:r>
              </a:p>
            </p:txBody>
          </p:sp>
          <p:sp>
            <p:nvSpPr>
              <p:cNvPr id="137" name="TextBox 137"/>
              <p:cNvSpPr txBox="1"/>
              <p:nvPr/>
            </p:nvSpPr>
            <p:spPr>
              <a:xfrm>
                <a:off x="4014788" y="2341007"/>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生活方式因子</a:t>
                </a:r>
              </a:p>
            </p:txBody>
          </p:sp>
          <p:sp>
            <p:nvSpPr>
              <p:cNvPr id="138" name="TextBox 138"/>
              <p:cNvSpPr txBox="1"/>
              <p:nvPr/>
            </p:nvSpPr>
            <p:spPr>
              <a:xfrm>
                <a:off x="4014788" y="248388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职业与环境因子</a:t>
                </a:r>
              </a:p>
            </p:txBody>
          </p:sp>
          <p:sp>
            <p:nvSpPr>
              <p:cNvPr id="139" name="TextBox 139"/>
              <p:cNvSpPr txBox="1"/>
              <p:nvPr/>
            </p:nvSpPr>
            <p:spPr>
              <a:xfrm>
                <a:off x="4014788" y="2626757"/>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历史风险因子</a:t>
                </a:r>
              </a:p>
            </p:txBody>
          </p:sp>
          <p:sp>
            <p:nvSpPr>
              <p:cNvPr id="140" name="TextBox 140"/>
              <p:cNvSpPr txBox="1"/>
              <p:nvPr/>
            </p:nvSpPr>
            <p:spPr>
              <a:xfrm>
                <a:off x="4014788" y="276963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多源数据融合</a:t>
                </a:r>
              </a:p>
            </p:txBody>
          </p:sp>
          <p:sp>
            <p:nvSpPr>
              <p:cNvPr id="141" name="TextBox 141"/>
              <p:cNvSpPr txBox="1"/>
              <p:nvPr/>
            </p:nvSpPr>
            <p:spPr>
              <a:xfrm>
                <a:off x="4776788" y="219813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产品核保规则</a:t>
                </a:r>
              </a:p>
            </p:txBody>
          </p:sp>
          <p:sp>
            <p:nvSpPr>
              <p:cNvPr id="142" name="TextBox 142"/>
              <p:cNvSpPr txBox="1"/>
              <p:nvPr/>
            </p:nvSpPr>
            <p:spPr>
              <a:xfrm>
                <a:off x="4776788" y="2341007"/>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医学指南与文献</a:t>
                </a:r>
              </a:p>
            </p:txBody>
          </p:sp>
          <p:sp>
            <p:nvSpPr>
              <p:cNvPr id="143" name="TextBox 143"/>
              <p:cNvSpPr txBox="1"/>
              <p:nvPr/>
            </p:nvSpPr>
            <p:spPr>
              <a:xfrm>
                <a:off x="4776788" y="2483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公司风险偏好</a:t>
                </a:r>
              </a:p>
            </p:txBody>
          </p:sp>
          <p:sp>
            <p:nvSpPr>
              <p:cNvPr id="144" name="TextBox 144"/>
              <p:cNvSpPr txBox="1"/>
              <p:nvPr/>
            </p:nvSpPr>
            <p:spPr>
              <a:xfrm>
                <a:off x="4776788" y="2626757"/>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自动化规则引擎</a:t>
                </a:r>
              </a:p>
            </p:txBody>
          </p:sp>
          <p:sp>
            <p:nvSpPr>
              <p:cNvPr id="145" name="TextBox 145"/>
              <p:cNvSpPr txBox="1"/>
              <p:nvPr/>
            </p:nvSpPr>
            <p:spPr>
              <a:xfrm>
                <a:off x="5538788" y="219813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风险分层评估</a:t>
                </a:r>
              </a:p>
            </p:txBody>
          </p:sp>
          <p:sp>
            <p:nvSpPr>
              <p:cNvPr id="146" name="TextBox 146"/>
              <p:cNvSpPr txBox="1"/>
              <p:nvPr/>
            </p:nvSpPr>
            <p:spPr>
              <a:xfrm>
                <a:off x="5538788" y="2341007"/>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费率计算建议</a:t>
                </a:r>
              </a:p>
            </p:txBody>
          </p:sp>
          <p:sp>
            <p:nvSpPr>
              <p:cNvPr id="147" name="TextBox 147"/>
              <p:cNvSpPr txBox="1"/>
              <p:nvPr/>
            </p:nvSpPr>
            <p:spPr>
              <a:xfrm>
                <a:off x="5538788" y="2483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附加条件建议</a:t>
                </a:r>
              </a:p>
            </p:txBody>
          </p:sp>
          <p:sp>
            <p:nvSpPr>
              <p:cNvPr id="148" name="TextBox 148"/>
              <p:cNvSpPr txBox="1"/>
              <p:nvPr/>
            </p:nvSpPr>
            <p:spPr>
              <a:xfrm>
                <a:off x="5538788" y="2626757"/>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敏感性分析</a:t>
                </a:r>
              </a:p>
            </p:txBody>
          </p:sp>
          <p:sp>
            <p:nvSpPr>
              <p:cNvPr id="149" name="TextBox 149"/>
              <p:cNvSpPr txBox="1"/>
              <p:nvPr/>
            </p:nvSpPr>
            <p:spPr>
              <a:xfrm>
                <a:off x="6300788" y="219813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复杂情形复核</a:t>
                </a:r>
              </a:p>
            </p:txBody>
          </p:sp>
          <p:sp>
            <p:nvSpPr>
              <p:cNvPr id="150" name="TextBox 150"/>
              <p:cNvSpPr txBox="1"/>
              <p:nvPr/>
            </p:nvSpPr>
            <p:spPr>
              <a:xfrm>
                <a:off x="6300788" y="2341007"/>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关联风险提示</a:t>
                </a:r>
              </a:p>
            </p:txBody>
          </p:sp>
          <p:sp>
            <p:nvSpPr>
              <p:cNvPr id="151" name="TextBox 151"/>
              <p:cNvSpPr txBox="1"/>
              <p:nvPr/>
            </p:nvSpPr>
            <p:spPr>
              <a:xfrm>
                <a:off x="6300788" y="2483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核保意见生成</a:t>
                </a:r>
              </a:p>
            </p:txBody>
          </p:sp>
          <p:sp>
            <p:nvSpPr>
              <p:cNvPr id="152" name="TextBox 152"/>
              <p:cNvSpPr txBox="1"/>
              <p:nvPr/>
            </p:nvSpPr>
            <p:spPr>
              <a:xfrm>
                <a:off x="6300788" y="2626757"/>
                <a:ext cx="774979" cy="126206"/>
              </a:xfrm>
              <a:prstGeom prst="rect">
                <a:avLst/>
              </a:prstGeom>
              <a:noFill/>
              <a:ln>
                <a:noFill/>
              </a:ln>
            </p:spPr>
            <p:txBody>
              <a:bodyPr wrap="none" lIns="0" tIns="0" rIns="0" bIns="0" anchor="t" anchorCtr="0">
                <a:spAutoFit/>
              </a:bodyPr>
              <a:lstStyle/>
              <a:p>
                <a:pPr algn="l" marL="76200" indent="-76200">
                  <a:buClr>
                    <a:srgbClr val="6B1B0B"/>
                  </a:buClr>
                  <a:buSzTx/>
                  <a:buFontTx/>
                  <a:buChar char="•"/>
                </a:pPr>
                <a:r>
                  <a:rPr lang="zh-CN" sz="640" b="1" dirty="0">
                    <a:solidFill>
                      <a:srgbClr val="6B1B0B"/>
                    </a:solidFill>
                    <a:latin typeface="+mn-lt"/>
                    <a:ea typeface="+mn-ea"/>
                    <a:cs typeface="+mn-cs"/>
                  </a:rPr>
                  <a:t>仅限授权人员确认</a:t>
                </a:r>
              </a:p>
            </p:txBody>
          </p:sp>
        </p:grpSp>
        <p:grpSp>
          <p:nvGrpSpPr>
            <p:cNvPr id="158" name="mf-loop"/>
            <p:cNvGrpSpPr/>
            <p:nvPr/>
          </p:nvGrpSpPr>
          <p:grpSpPr>
            <a:xfrm>
              <a:off x="2838450" y="2914650"/>
              <a:ext cx="3819525" cy="981075"/>
              <a:chOff x="2838450" y="2914650"/>
              <a:chExt cx="3819525" cy="981075"/>
            </a:xfrm>
          </p:grpSpPr>
          <p:sp>
            <p:nvSpPr>
              <p:cNvPr id="154" name="Line 154"/>
              <p:cNvSpPr/>
              <p:nvPr/>
            </p:nvSpPr>
            <p:spPr>
              <a:xfrm>
                <a:off x="6648450" y="2914650"/>
                <a:ext cx="9525" cy="971550"/>
              </a:xfrm>
              <a:custGeom>
                <a:avLst/>
                <a:gdLst/>
                <a:ahLst/>
                <a:cxnLst/>
                <a:rect l="l" t="t" r="r" b="b"/>
                <a:pathLst>
                  <a:path w="9525" h="971550">
                    <a:moveTo>
                      <a:pt x="0" y="0"/>
                    </a:moveTo>
                    <a:lnTo>
                      <a:pt x="0" y="971550"/>
                    </a:lnTo>
                  </a:path>
                </a:pathLst>
              </a:custGeom>
              <a:noFill/>
              <a:ln w="11430">
                <a:solidFill>
                  <a:srgbClr val="D2A89F"/>
                </a:solidFill>
              </a:ln>
            </p:spPr>
          </p:sp>
          <p:sp>
            <p:nvSpPr>
              <p:cNvPr id="155" name="Line 155"/>
              <p:cNvSpPr/>
              <p:nvPr/>
            </p:nvSpPr>
            <p:spPr>
              <a:xfrm flipH="1">
                <a:off x="6419850" y="3886200"/>
                <a:ext cx="228600" cy="1"/>
              </a:xfrm>
              <a:prstGeom prst="line">
                <a:avLst/>
              </a:prstGeom>
              <a:noFill/>
              <a:ln w="11430">
                <a:solidFill>
                  <a:srgbClr val="D2A89F"/>
                </a:solidFill>
                <a:tailEnd type="triangle" w="lg" len="lg"/>
              </a:ln>
            </p:spPr>
          </p:sp>
          <p:sp>
            <p:nvSpPr>
              <p:cNvPr id="156" name="Line 156"/>
              <p:cNvSpPr/>
              <p:nvPr/>
            </p:nvSpPr>
            <p:spPr>
              <a:xfrm>
                <a:off x="2838450" y="3886200"/>
                <a:ext cx="266700" cy="9525"/>
              </a:xfrm>
              <a:custGeom>
                <a:avLst/>
                <a:gdLst/>
                <a:ahLst/>
                <a:cxnLst/>
                <a:rect l="l" t="t" r="r" b="b"/>
                <a:pathLst>
                  <a:path w="266700" h="9525">
                    <a:moveTo>
                      <a:pt x="266700" y="0"/>
                    </a:moveTo>
                    <a:lnTo>
                      <a:pt x="0" y="0"/>
                    </a:lnTo>
                  </a:path>
                </a:pathLst>
              </a:custGeom>
              <a:noFill/>
              <a:ln w="11430">
                <a:solidFill>
                  <a:srgbClr val="D2A89F"/>
                </a:solidFill>
              </a:ln>
            </p:spPr>
          </p:sp>
          <p:sp>
            <p:nvSpPr>
              <p:cNvPr id="157" name="Line 157"/>
              <p:cNvSpPr/>
              <p:nvPr/>
            </p:nvSpPr>
            <p:spPr>
              <a:xfrm flipV="1">
                <a:off x="2838450" y="2971800"/>
                <a:ext cx="1" cy="914400"/>
              </a:xfrm>
              <a:prstGeom prst="line">
                <a:avLst/>
              </a:prstGeom>
              <a:noFill/>
              <a:ln w="11430">
                <a:solidFill>
                  <a:srgbClr val="D2A89F"/>
                </a:solidFill>
                <a:tailEnd type="triangle" w="lg" len="lg"/>
              </a:ln>
            </p:spPr>
          </p:sp>
        </p:grpSp>
        <p:sp>
          <p:nvSpPr>
            <p:cNvPr id="159" name="Rectangle 159"/>
            <p:cNvSpPr/>
            <p:nvPr/>
          </p:nvSpPr>
          <p:spPr>
            <a:xfrm>
              <a:off x="3143250" y="3771900"/>
              <a:ext cx="3238500" cy="228600"/>
            </a:xfrm>
            <a:prstGeom prst="roundRect">
              <a:avLst>
                <a:gd name="adj" fmla="val 50000"/>
              </a:avLst>
            </a:prstGeom>
            <a:solidFill>
              <a:srgbClr val="EEF5FB"/>
            </a:solidFill>
            <a:ln>
              <a:noFill/>
            </a:ln>
          </p:spPr>
        </p:sp>
        <p:sp>
          <p:nvSpPr>
            <p:cNvPr id="160" name="TextBox 160"/>
            <p:cNvSpPr txBox="1"/>
            <p:nvPr/>
          </p:nvSpPr>
          <p:spPr>
            <a:xfrm>
              <a:off x="3647122" y="3843338"/>
              <a:ext cx="2230755"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n-lt"/>
                  <a:ea typeface="+mn-ea"/>
                  <a:cs typeface="+mn-cs"/>
                </a:rPr>
                <a:t>数据与模型持续迭代，形成核保知识库与经验闭环</a:t>
              </a:r>
            </a:p>
          </p:txBody>
        </p:sp>
        <p:grpSp>
          <p:nvGrpSpPr>
            <p:cNvPr id="179" name="mf-kb"/>
            <p:cNvGrpSpPr/>
            <p:nvPr/>
          </p:nvGrpSpPr>
          <p:grpSpPr>
            <a:xfrm>
              <a:off x="2490788" y="4260056"/>
              <a:ext cx="4349877" cy="385286"/>
              <a:chOff x="2490788" y="4260056"/>
              <a:chExt cx="4349877" cy="385286"/>
            </a:xfrm>
          </p:grpSpPr>
          <p:grpSp>
            <p:nvGrpSpPr>
              <p:cNvPr id="164" name="Group 164"/>
              <p:cNvGrpSpPr/>
              <p:nvPr/>
            </p:nvGrpSpPr>
            <p:grpSpPr>
              <a:xfrm>
                <a:off x="2536825" y="4260056"/>
                <a:ext cx="165099" cy="185737"/>
                <a:chOff x="2536825" y="4260056"/>
                <a:chExt cx="165099" cy="185737"/>
              </a:xfrm>
            </p:grpSpPr>
            <p:sp>
              <p:nvSpPr>
                <p:cNvPr id="161" name="Freeform 161"/>
                <p:cNvSpPr/>
                <p:nvPr/>
              </p:nvSpPr>
              <p:spPr>
                <a:xfrm>
                  <a:off x="2536825" y="426005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92301C"/>
                  </a:solidFill>
                </a:ln>
              </p:spPr>
            </p:sp>
            <p:sp>
              <p:nvSpPr>
                <p:cNvPr id="162" name="Freeform 162"/>
                <p:cNvSpPr/>
                <p:nvPr/>
              </p:nvSpPr>
              <p:spPr>
                <a:xfrm>
                  <a:off x="2536825" y="429101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2301C"/>
                  </a:solidFill>
                </a:ln>
              </p:spPr>
            </p:sp>
            <p:sp>
              <p:nvSpPr>
                <p:cNvPr id="163" name="Freeform 163"/>
                <p:cNvSpPr/>
                <p:nvPr/>
              </p:nvSpPr>
              <p:spPr>
                <a:xfrm>
                  <a:off x="2536825" y="435292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2301C"/>
                  </a:solidFill>
                </a:ln>
              </p:spPr>
            </p:sp>
          </p:grpSp>
          <p:sp>
            <p:nvSpPr>
              <p:cNvPr id="165" name="TextBox 165"/>
              <p:cNvSpPr txBox="1"/>
              <p:nvPr/>
            </p:nvSpPr>
            <p:spPr>
              <a:xfrm>
                <a:off x="2814638" y="4311491"/>
                <a:ext cx="561467"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医学知识库</a:t>
                </a:r>
              </a:p>
            </p:txBody>
          </p:sp>
          <p:sp>
            <p:nvSpPr>
              <p:cNvPr id="166" name="TextBox 166"/>
              <p:cNvSpPr txBox="1"/>
              <p:nvPr/>
            </p:nvSpPr>
            <p:spPr>
              <a:xfrm>
                <a:off x="2490788" y="4526280"/>
                <a:ext cx="1059561"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（疾病、指南、药物、文献）</a:t>
                </a:r>
              </a:p>
            </p:txBody>
          </p:sp>
          <p:grpSp>
            <p:nvGrpSpPr>
              <p:cNvPr id="170" name="Group 170"/>
              <p:cNvGrpSpPr/>
              <p:nvPr/>
            </p:nvGrpSpPr>
            <p:grpSpPr>
              <a:xfrm>
                <a:off x="4060825" y="4260056"/>
                <a:ext cx="165099" cy="185737"/>
                <a:chOff x="4060825" y="4260056"/>
                <a:chExt cx="165099" cy="185737"/>
              </a:xfrm>
            </p:grpSpPr>
            <p:sp>
              <p:nvSpPr>
                <p:cNvPr id="167" name="Freeform 167"/>
                <p:cNvSpPr/>
                <p:nvPr/>
              </p:nvSpPr>
              <p:spPr>
                <a:xfrm>
                  <a:off x="4060825" y="426005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92301C"/>
                  </a:solidFill>
                </a:ln>
              </p:spPr>
            </p:sp>
            <p:sp>
              <p:nvSpPr>
                <p:cNvPr id="168" name="Freeform 168"/>
                <p:cNvSpPr/>
                <p:nvPr/>
              </p:nvSpPr>
              <p:spPr>
                <a:xfrm>
                  <a:off x="4060825" y="429101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2301C"/>
                  </a:solidFill>
                </a:ln>
              </p:spPr>
            </p:sp>
            <p:sp>
              <p:nvSpPr>
                <p:cNvPr id="169" name="Freeform 169"/>
                <p:cNvSpPr/>
                <p:nvPr/>
              </p:nvSpPr>
              <p:spPr>
                <a:xfrm>
                  <a:off x="4060825" y="435292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2301C"/>
                  </a:solidFill>
                </a:ln>
              </p:spPr>
            </p:sp>
          </p:grpSp>
          <p:sp>
            <p:nvSpPr>
              <p:cNvPr id="171" name="TextBox 171"/>
              <p:cNvSpPr txBox="1"/>
              <p:nvPr/>
            </p:nvSpPr>
            <p:spPr>
              <a:xfrm>
                <a:off x="4338638" y="4311491"/>
                <a:ext cx="561467"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核保规则库</a:t>
                </a:r>
              </a:p>
            </p:txBody>
          </p:sp>
          <p:sp>
            <p:nvSpPr>
              <p:cNvPr id="172" name="TextBox 172"/>
              <p:cNvSpPr txBox="1"/>
              <p:nvPr/>
            </p:nvSpPr>
            <p:spPr>
              <a:xfrm>
                <a:off x="4014788" y="4526280"/>
                <a:ext cx="130187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（产品条款、公司规则、监管要求）</a:t>
                </a:r>
              </a:p>
            </p:txBody>
          </p:sp>
          <p:grpSp>
            <p:nvGrpSpPr>
              <p:cNvPr id="176" name="Group 176"/>
              <p:cNvGrpSpPr/>
              <p:nvPr/>
            </p:nvGrpSpPr>
            <p:grpSpPr>
              <a:xfrm>
                <a:off x="5584825" y="4260056"/>
                <a:ext cx="165099" cy="185737"/>
                <a:chOff x="5584825" y="4260056"/>
                <a:chExt cx="165099" cy="185737"/>
              </a:xfrm>
            </p:grpSpPr>
            <p:sp>
              <p:nvSpPr>
                <p:cNvPr id="173" name="Freeform 173"/>
                <p:cNvSpPr/>
                <p:nvPr/>
              </p:nvSpPr>
              <p:spPr>
                <a:xfrm>
                  <a:off x="5584825" y="426005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92301C"/>
                  </a:solidFill>
                </a:ln>
              </p:spPr>
            </p:sp>
            <p:sp>
              <p:nvSpPr>
                <p:cNvPr id="174" name="Freeform 174"/>
                <p:cNvSpPr/>
                <p:nvPr/>
              </p:nvSpPr>
              <p:spPr>
                <a:xfrm>
                  <a:off x="5584825" y="429101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2301C"/>
                  </a:solidFill>
                </a:ln>
              </p:spPr>
            </p:sp>
            <p:sp>
              <p:nvSpPr>
                <p:cNvPr id="175" name="Freeform 175"/>
                <p:cNvSpPr/>
                <p:nvPr/>
              </p:nvSpPr>
              <p:spPr>
                <a:xfrm>
                  <a:off x="5584825" y="435292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2301C"/>
                  </a:solidFill>
                </a:ln>
              </p:spPr>
            </p:sp>
          </p:grpSp>
          <p:sp>
            <p:nvSpPr>
              <p:cNvPr id="177" name="TextBox 177"/>
              <p:cNvSpPr txBox="1"/>
              <p:nvPr/>
            </p:nvSpPr>
            <p:spPr>
              <a:xfrm>
                <a:off x="5862638" y="4311491"/>
                <a:ext cx="561467"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历史案例库</a:t>
                </a:r>
              </a:p>
            </p:txBody>
          </p:sp>
          <p:sp>
            <p:nvSpPr>
              <p:cNvPr id="178" name="TextBox 178"/>
              <p:cNvSpPr txBox="1"/>
              <p:nvPr/>
            </p:nvSpPr>
            <p:spPr>
              <a:xfrm>
                <a:off x="5538788" y="4526280"/>
                <a:ext cx="130187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（核保结论、理赔结果、争议案例）</a:t>
                </a:r>
              </a:p>
            </p:txBody>
          </p:sp>
        </p:grpSp>
      </p:grpSp>
      <p:grpSp>
        <p:nvGrpSpPr>
          <p:cNvPr id="245" name="risk-matrix"/>
          <p:cNvGrpSpPr/>
          <p:nvPr/>
        </p:nvGrpSpPr>
        <p:grpSpPr>
          <a:xfrm>
            <a:off x="7124700" y="952500"/>
            <a:ext cx="4876800" cy="2000250"/>
            <a:chOff x="7124700" y="952500"/>
            <a:chExt cx="4876800" cy="2000250"/>
          </a:xfrm>
        </p:grpSpPr>
        <p:sp>
          <p:nvSpPr>
            <p:cNvPr id="181" name="Rectangle 181"/>
            <p:cNvSpPr/>
            <p:nvPr/>
          </p:nvSpPr>
          <p:spPr>
            <a:xfrm>
              <a:off x="7124700" y="952500"/>
              <a:ext cx="4876800" cy="2000250"/>
            </a:xfrm>
            <a:prstGeom prst="roundRect">
              <a:avLst>
                <a:gd name="adj" fmla="val 2857"/>
              </a:avLst>
            </a:prstGeom>
            <a:solidFill>
              <a:srgbClr val="FCFDFE"/>
            </a:solidFill>
            <a:ln w="9525">
              <a:solidFill>
                <a:srgbClr val="CFDFEE"/>
              </a:solidFill>
            </a:ln>
          </p:spPr>
        </p:sp>
        <p:sp>
          <p:nvSpPr>
            <p:cNvPr id="182" name="TextBox 182"/>
            <p:cNvSpPr txBox="1"/>
            <p:nvPr/>
          </p:nvSpPr>
          <p:spPr>
            <a:xfrm>
              <a:off x="7234238" y="1045845"/>
              <a:ext cx="1624965"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客户综合风险等级矩阵</a:t>
              </a:r>
              <a:r>
                <a:rPr lang="zh-CN" sz="750" dirty="0">
                  <a:solidFill>
                    <a:srgbClr val="6B1B0B"/>
                  </a:solidFill>
                  <a:latin typeface="+mn-lt"/>
                  <a:ea typeface="+mn-ea"/>
                  <a:cs typeface="+mn-cs"/>
                </a:rPr>
                <a:t>（示例）</a:t>
              </a:r>
            </a:p>
          </p:txBody>
        </p:sp>
        <p:grpSp>
          <p:nvGrpSpPr>
            <p:cNvPr id="208" name="rm-cells"/>
            <p:cNvGrpSpPr/>
            <p:nvPr/>
          </p:nvGrpSpPr>
          <p:grpSpPr>
            <a:xfrm>
              <a:off x="7905750" y="1257300"/>
              <a:ext cx="1428750" cy="1143000"/>
              <a:chOff x="7905750" y="1257300"/>
              <a:chExt cx="1428750" cy="1143000"/>
            </a:xfrm>
          </p:grpSpPr>
          <p:sp>
            <p:nvSpPr>
              <p:cNvPr id="183" name="Rectangle 183"/>
              <p:cNvSpPr/>
              <p:nvPr/>
            </p:nvSpPr>
            <p:spPr>
              <a:xfrm>
                <a:off x="7905750" y="1257300"/>
                <a:ext cx="285750" cy="228600"/>
              </a:xfrm>
              <a:prstGeom prst="rect">
                <a:avLst/>
              </a:prstGeom>
              <a:solidFill>
                <a:srgbClr val="B7533F"/>
              </a:solidFill>
              <a:ln>
                <a:noFill/>
              </a:ln>
            </p:spPr>
          </p:sp>
          <p:sp>
            <p:nvSpPr>
              <p:cNvPr id="184" name="Rectangle 184"/>
              <p:cNvSpPr/>
              <p:nvPr/>
            </p:nvSpPr>
            <p:spPr>
              <a:xfrm>
                <a:off x="8191500" y="1257300"/>
                <a:ext cx="285750" cy="228600"/>
              </a:xfrm>
              <a:prstGeom prst="rect">
                <a:avLst/>
              </a:prstGeom>
              <a:solidFill>
                <a:srgbClr val="92301C"/>
              </a:solidFill>
              <a:ln>
                <a:noFill/>
              </a:ln>
            </p:spPr>
          </p:sp>
          <p:sp>
            <p:nvSpPr>
              <p:cNvPr id="185" name="Rectangle 185"/>
              <p:cNvSpPr/>
              <p:nvPr/>
            </p:nvSpPr>
            <p:spPr>
              <a:xfrm>
                <a:off x="8477250" y="1257300"/>
                <a:ext cx="285750" cy="228600"/>
              </a:xfrm>
              <a:prstGeom prst="rect">
                <a:avLst/>
              </a:prstGeom>
              <a:solidFill>
                <a:srgbClr val="92301C"/>
              </a:solidFill>
              <a:ln>
                <a:noFill/>
              </a:ln>
            </p:spPr>
          </p:sp>
          <p:sp>
            <p:nvSpPr>
              <p:cNvPr id="186" name="Rectangle 186"/>
              <p:cNvSpPr/>
              <p:nvPr/>
            </p:nvSpPr>
            <p:spPr>
              <a:xfrm>
                <a:off x="8763000" y="1257300"/>
                <a:ext cx="285750" cy="228600"/>
              </a:xfrm>
              <a:prstGeom prst="rect">
                <a:avLst/>
              </a:prstGeom>
              <a:solidFill>
                <a:srgbClr val="6B1B0B"/>
              </a:solidFill>
              <a:ln>
                <a:noFill/>
              </a:ln>
            </p:spPr>
          </p:sp>
          <p:sp>
            <p:nvSpPr>
              <p:cNvPr id="187" name="Rectangle 187"/>
              <p:cNvSpPr/>
              <p:nvPr/>
            </p:nvSpPr>
            <p:spPr>
              <a:xfrm>
                <a:off x="9048750" y="1257300"/>
                <a:ext cx="285750" cy="228600"/>
              </a:xfrm>
              <a:prstGeom prst="rect">
                <a:avLst/>
              </a:prstGeom>
              <a:solidFill>
                <a:srgbClr val="6B1B0B"/>
              </a:solidFill>
              <a:ln>
                <a:noFill/>
              </a:ln>
            </p:spPr>
          </p:sp>
          <p:sp>
            <p:nvSpPr>
              <p:cNvPr id="188" name="Rectangle 188"/>
              <p:cNvSpPr/>
              <p:nvPr/>
            </p:nvSpPr>
            <p:spPr>
              <a:xfrm>
                <a:off x="7905750" y="1485900"/>
                <a:ext cx="285750" cy="228600"/>
              </a:xfrm>
              <a:prstGeom prst="rect">
                <a:avLst/>
              </a:prstGeom>
              <a:solidFill>
                <a:srgbClr val="E3B3A9"/>
              </a:solidFill>
              <a:ln>
                <a:noFill/>
              </a:ln>
            </p:spPr>
          </p:sp>
          <p:sp>
            <p:nvSpPr>
              <p:cNvPr id="189" name="Rectangle 189"/>
              <p:cNvSpPr/>
              <p:nvPr/>
            </p:nvSpPr>
            <p:spPr>
              <a:xfrm>
                <a:off x="8191500" y="1485900"/>
                <a:ext cx="285750" cy="228600"/>
              </a:xfrm>
              <a:prstGeom prst="rect">
                <a:avLst/>
              </a:prstGeom>
              <a:solidFill>
                <a:srgbClr val="B7533F"/>
              </a:solidFill>
              <a:ln>
                <a:noFill/>
              </a:ln>
            </p:spPr>
          </p:sp>
          <p:sp>
            <p:nvSpPr>
              <p:cNvPr id="190" name="Rectangle 190"/>
              <p:cNvSpPr/>
              <p:nvPr/>
            </p:nvSpPr>
            <p:spPr>
              <a:xfrm>
                <a:off x="8477250" y="1485900"/>
                <a:ext cx="285750" cy="228600"/>
              </a:xfrm>
              <a:prstGeom prst="rect">
                <a:avLst/>
              </a:prstGeom>
              <a:solidFill>
                <a:srgbClr val="92301C"/>
              </a:solidFill>
              <a:ln>
                <a:noFill/>
              </a:ln>
            </p:spPr>
          </p:sp>
          <p:sp>
            <p:nvSpPr>
              <p:cNvPr id="191" name="Rectangle 191"/>
              <p:cNvSpPr/>
              <p:nvPr/>
            </p:nvSpPr>
            <p:spPr>
              <a:xfrm>
                <a:off x="8763000" y="1485900"/>
                <a:ext cx="285750" cy="228600"/>
              </a:xfrm>
              <a:prstGeom prst="rect">
                <a:avLst/>
              </a:prstGeom>
              <a:solidFill>
                <a:srgbClr val="92301C"/>
              </a:solidFill>
              <a:ln>
                <a:noFill/>
              </a:ln>
            </p:spPr>
          </p:sp>
          <p:sp>
            <p:nvSpPr>
              <p:cNvPr id="192" name="Rectangle 192"/>
              <p:cNvSpPr/>
              <p:nvPr/>
            </p:nvSpPr>
            <p:spPr>
              <a:xfrm>
                <a:off x="9048750" y="1485900"/>
                <a:ext cx="285750" cy="228600"/>
              </a:xfrm>
              <a:prstGeom prst="rect">
                <a:avLst/>
              </a:prstGeom>
              <a:solidFill>
                <a:srgbClr val="6B1B0B"/>
              </a:solidFill>
              <a:ln>
                <a:noFill/>
              </a:ln>
            </p:spPr>
          </p:sp>
          <p:sp>
            <p:nvSpPr>
              <p:cNvPr id="193" name="Rectangle 193"/>
              <p:cNvSpPr/>
              <p:nvPr/>
            </p:nvSpPr>
            <p:spPr>
              <a:xfrm>
                <a:off x="7905750" y="1714500"/>
                <a:ext cx="285750" cy="228600"/>
              </a:xfrm>
              <a:prstGeom prst="rect">
                <a:avLst/>
              </a:prstGeom>
              <a:solidFill>
                <a:srgbClr val="E3B3A9"/>
              </a:solidFill>
              <a:ln>
                <a:noFill/>
              </a:ln>
            </p:spPr>
          </p:sp>
          <p:sp>
            <p:nvSpPr>
              <p:cNvPr id="194" name="Rectangle 194"/>
              <p:cNvSpPr/>
              <p:nvPr/>
            </p:nvSpPr>
            <p:spPr>
              <a:xfrm>
                <a:off x="8191500" y="1714500"/>
                <a:ext cx="285750" cy="228600"/>
              </a:xfrm>
              <a:prstGeom prst="rect">
                <a:avLst/>
              </a:prstGeom>
              <a:solidFill>
                <a:srgbClr val="E3B3A9"/>
              </a:solidFill>
              <a:ln>
                <a:noFill/>
              </a:ln>
            </p:spPr>
          </p:sp>
          <p:sp>
            <p:nvSpPr>
              <p:cNvPr id="195" name="Rectangle 195"/>
              <p:cNvSpPr/>
              <p:nvPr/>
            </p:nvSpPr>
            <p:spPr>
              <a:xfrm>
                <a:off x="8477250" y="1714500"/>
                <a:ext cx="285750" cy="228600"/>
              </a:xfrm>
              <a:prstGeom prst="rect">
                <a:avLst/>
              </a:prstGeom>
              <a:solidFill>
                <a:srgbClr val="B7533F"/>
              </a:solidFill>
              <a:ln>
                <a:noFill/>
              </a:ln>
            </p:spPr>
          </p:sp>
          <p:sp>
            <p:nvSpPr>
              <p:cNvPr id="196" name="Rectangle 196"/>
              <p:cNvSpPr/>
              <p:nvPr/>
            </p:nvSpPr>
            <p:spPr>
              <a:xfrm>
                <a:off x="8763000" y="1714500"/>
                <a:ext cx="285750" cy="228600"/>
              </a:xfrm>
              <a:prstGeom prst="rect">
                <a:avLst/>
              </a:prstGeom>
              <a:solidFill>
                <a:srgbClr val="92301C"/>
              </a:solidFill>
              <a:ln>
                <a:noFill/>
              </a:ln>
            </p:spPr>
          </p:sp>
          <p:sp>
            <p:nvSpPr>
              <p:cNvPr id="197" name="Rectangle 197"/>
              <p:cNvSpPr/>
              <p:nvPr/>
            </p:nvSpPr>
            <p:spPr>
              <a:xfrm>
                <a:off x="9048750" y="1714500"/>
                <a:ext cx="285750" cy="228600"/>
              </a:xfrm>
              <a:prstGeom prst="rect">
                <a:avLst/>
              </a:prstGeom>
              <a:solidFill>
                <a:srgbClr val="92301C"/>
              </a:solidFill>
              <a:ln>
                <a:noFill/>
              </a:ln>
            </p:spPr>
          </p:sp>
          <p:sp>
            <p:nvSpPr>
              <p:cNvPr id="198" name="Rectangle 198"/>
              <p:cNvSpPr/>
              <p:nvPr/>
            </p:nvSpPr>
            <p:spPr>
              <a:xfrm>
                <a:off x="7905750" y="1943100"/>
                <a:ext cx="285750" cy="228600"/>
              </a:xfrm>
              <a:prstGeom prst="rect">
                <a:avLst/>
              </a:prstGeom>
              <a:solidFill>
                <a:srgbClr val="D6E6F3"/>
              </a:solidFill>
              <a:ln>
                <a:noFill/>
              </a:ln>
            </p:spPr>
          </p:sp>
          <p:sp>
            <p:nvSpPr>
              <p:cNvPr id="199" name="Rectangle 199"/>
              <p:cNvSpPr/>
              <p:nvPr/>
            </p:nvSpPr>
            <p:spPr>
              <a:xfrm>
                <a:off x="8191500" y="1943100"/>
                <a:ext cx="285750" cy="228600"/>
              </a:xfrm>
              <a:prstGeom prst="rect">
                <a:avLst/>
              </a:prstGeom>
              <a:solidFill>
                <a:srgbClr val="E3B3A9"/>
              </a:solidFill>
              <a:ln>
                <a:noFill/>
              </a:ln>
            </p:spPr>
          </p:sp>
          <p:sp>
            <p:nvSpPr>
              <p:cNvPr id="200" name="Rectangle 200"/>
              <p:cNvSpPr/>
              <p:nvPr/>
            </p:nvSpPr>
            <p:spPr>
              <a:xfrm>
                <a:off x="8477250" y="1943100"/>
                <a:ext cx="285750" cy="228600"/>
              </a:xfrm>
              <a:prstGeom prst="rect">
                <a:avLst/>
              </a:prstGeom>
              <a:solidFill>
                <a:srgbClr val="E3B3A9"/>
              </a:solidFill>
              <a:ln>
                <a:noFill/>
              </a:ln>
            </p:spPr>
          </p:sp>
          <p:sp>
            <p:nvSpPr>
              <p:cNvPr id="201" name="Rectangle 201"/>
              <p:cNvSpPr/>
              <p:nvPr/>
            </p:nvSpPr>
            <p:spPr>
              <a:xfrm>
                <a:off x="8763000" y="1943100"/>
                <a:ext cx="285750" cy="228600"/>
              </a:xfrm>
              <a:prstGeom prst="rect">
                <a:avLst/>
              </a:prstGeom>
              <a:solidFill>
                <a:srgbClr val="B7533F"/>
              </a:solidFill>
              <a:ln>
                <a:noFill/>
              </a:ln>
            </p:spPr>
          </p:sp>
          <p:sp>
            <p:nvSpPr>
              <p:cNvPr id="202" name="Rectangle 202"/>
              <p:cNvSpPr/>
              <p:nvPr/>
            </p:nvSpPr>
            <p:spPr>
              <a:xfrm>
                <a:off x="9048750" y="1943100"/>
                <a:ext cx="285750" cy="228600"/>
              </a:xfrm>
              <a:prstGeom prst="rect">
                <a:avLst/>
              </a:prstGeom>
              <a:solidFill>
                <a:srgbClr val="92301C"/>
              </a:solidFill>
              <a:ln>
                <a:noFill/>
              </a:ln>
            </p:spPr>
          </p:sp>
          <p:sp>
            <p:nvSpPr>
              <p:cNvPr id="203" name="Rectangle 203"/>
              <p:cNvSpPr/>
              <p:nvPr/>
            </p:nvSpPr>
            <p:spPr>
              <a:xfrm>
                <a:off x="7905750" y="2171700"/>
                <a:ext cx="285750" cy="228600"/>
              </a:xfrm>
              <a:prstGeom prst="rect">
                <a:avLst/>
              </a:prstGeom>
              <a:solidFill>
                <a:srgbClr val="D6E6F3"/>
              </a:solidFill>
              <a:ln>
                <a:noFill/>
              </a:ln>
            </p:spPr>
          </p:sp>
          <p:sp>
            <p:nvSpPr>
              <p:cNvPr id="204" name="Rectangle 204"/>
              <p:cNvSpPr/>
              <p:nvPr/>
            </p:nvSpPr>
            <p:spPr>
              <a:xfrm>
                <a:off x="8191500" y="2171700"/>
                <a:ext cx="285750" cy="228600"/>
              </a:xfrm>
              <a:prstGeom prst="rect">
                <a:avLst/>
              </a:prstGeom>
              <a:solidFill>
                <a:srgbClr val="D6E6F3"/>
              </a:solidFill>
              <a:ln>
                <a:noFill/>
              </a:ln>
            </p:spPr>
          </p:sp>
          <p:sp>
            <p:nvSpPr>
              <p:cNvPr id="205" name="Rectangle 205"/>
              <p:cNvSpPr/>
              <p:nvPr/>
            </p:nvSpPr>
            <p:spPr>
              <a:xfrm>
                <a:off x="8477250" y="2171700"/>
                <a:ext cx="285750" cy="228600"/>
              </a:xfrm>
              <a:prstGeom prst="rect">
                <a:avLst/>
              </a:prstGeom>
              <a:solidFill>
                <a:srgbClr val="E3B3A9"/>
              </a:solidFill>
              <a:ln>
                <a:noFill/>
              </a:ln>
            </p:spPr>
          </p:sp>
          <p:sp>
            <p:nvSpPr>
              <p:cNvPr id="206" name="Rectangle 206"/>
              <p:cNvSpPr/>
              <p:nvPr/>
            </p:nvSpPr>
            <p:spPr>
              <a:xfrm>
                <a:off x="8763000" y="2171700"/>
                <a:ext cx="285750" cy="228600"/>
              </a:xfrm>
              <a:prstGeom prst="rect">
                <a:avLst/>
              </a:prstGeom>
              <a:solidFill>
                <a:srgbClr val="E3B3A9"/>
              </a:solidFill>
              <a:ln>
                <a:noFill/>
              </a:ln>
            </p:spPr>
          </p:sp>
          <p:sp>
            <p:nvSpPr>
              <p:cNvPr id="207" name="Rectangle 207"/>
              <p:cNvSpPr/>
              <p:nvPr/>
            </p:nvSpPr>
            <p:spPr>
              <a:xfrm>
                <a:off x="9048750" y="2171700"/>
                <a:ext cx="285750" cy="228600"/>
              </a:xfrm>
              <a:prstGeom prst="rect">
                <a:avLst/>
              </a:prstGeom>
              <a:solidFill>
                <a:srgbClr val="B7533F"/>
              </a:solidFill>
              <a:ln>
                <a:noFill/>
              </a:ln>
            </p:spPr>
          </p:sp>
        </p:grpSp>
        <p:grpSp>
          <p:nvGrpSpPr>
            <p:cNvPr id="217" name="rm-grid"/>
            <p:cNvGrpSpPr/>
            <p:nvPr/>
          </p:nvGrpSpPr>
          <p:grpSpPr>
            <a:xfrm>
              <a:off x="7905750" y="1257300"/>
              <a:ext cx="1428750" cy="1143000"/>
              <a:chOff x="7905750" y="1257300"/>
              <a:chExt cx="1428750" cy="1143000"/>
            </a:xfrm>
          </p:grpSpPr>
          <p:sp>
            <p:nvSpPr>
              <p:cNvPr id="209" name="Line 209"/>
              <p:cNvSpPr/>
              <p:nvPr/>
            </p:nvSpPr>
            <p:spPr>
              <a:xfrm>
                <a:off x="8191500" y="1257300"/>
                <a:ext cx="9525" cy="1143000"/>
              </a:xfrm>
              <a:custGeom>
                <a:avLst/>
                <a:gdLst/>
                <a:ahLst/>
                <a:cxnLst/>
                <a:rect l="l" t="t" r="r" b="b"/>
                <a:pathLst>
                  <a:path w="9525" h="1143000">
                    <a:moveTo>
                      <a:pt x="0" y="0"/>
                    </a:moveTo>
                    <a:lnTo>
                      <a:pt x="0" y="1143000"/>
                    </a:lnTo>
                  </a:path>
                </a:pathLst>
              </a:custGeom>
              <a:noFill/>
              <a:ln w="9525">
                <a:solidFill>
                  <a:srgbClr val="FFFFFF"/>
                </a:solidFill>
              </a:ln>
            </p:spPr>
          </p:sp>
          <p:sp>
            <p:nvSpPr>
              <p:cNvPr id="210" name="Line 210"/>
              <p:cNvSpPr/>
              <p:nvPr/>
            </p:nvSpPr>
            <p:spPr>
              <a:xfrm>
                <a:off x="8477250" y="1257300"/>
                <a:ext cx="9525" cy="1143000"/>
              </a:xfrm>
              <a:custGeom>
                <a:avLst/>
                <a:gdLst/>
                <a:ahLst/>
                <a:cxnLst/>
                <a:rect l="l" t="t" r="r" b="b"/>
                <a:pathLst>
                  <a:path w="9525" h="1143000">
                    <a:moveTo>
                      <a:pt x="0" y="0"/>
                    </a:moveTo>
                    <a:lnTo>
                      <a:pt x="0" y="1143000"/>
                    </a:lnTo>
                  </a:path>
                </a:pathLst>
              </a:custGeom>
              <a:noFill/>
              <a:ln w="9525">
                <a:solidFill>
                  <a:srgbClr val="FFFFFF"/>
                </a:solidFill>
              </a:ln>
            </p:spPr>
          </p:sp>
          <p:sp>
            <p:nvSpPr>
              <p:cNvPr id="211" name="Line 211"/>
              <p:cNvSpPr/>
              <p:nvPr/>
            </p:nvSpPr>
            <p:spPr>
              <a:xfrm>
                <a:off x="8763000" y="1257300"/>
                <a:ext cx="9525" cy="1143000"/>
              </a:xfrm>
              <a:custGeom>
                <a:avLst/>
                <a:gdLst/>
                <a:ahLst/>
                <a:cxnLst/>
                <a:rect l="l" t="t" r="r" b="b"/>
                <a:pathLst>
                  <a:path w="9525" h="1143000">
                    <a:moveTo>
                      <a:pt x="0" y="0"/>
                    </a:moveTo>
                    <a:lnTo>
                      <a:pt x="0" y="1143000"/>
                    </a:lnTo>
                  </a:path>
                </a:pathLst>
              </a:custGeom>
              <a:noFill/>
              <a:ln w="9525">
                <a:solidFill>
                  <a:srgbClr val="FFFFFF"/>
                </a:solidFill>
              </a:ln>
            </p:spPr>
          </p:sp>
          <p:sp>
            <p:nvSpPr>
              <p:cNvPr id="212" name="Line 212"/>
              <p:cNvSpPr/>
              <p:nvPr/>
            </p:nvSpPr>
            <p:spPr>
              <a:xfrm>
                <a:off x="9048750" y="1257300"/>
                <a:ext cx="9525" cy="1143000"/>
              </a:xfrm>
              <a:custGeom>
                <a:avLst/>
                <a:gdLst/>
                <a:ahLst/>
                <a:cxnLst/>
                <a:rect l="l" t="t" r="r" b="b"/>
                <a:pathLst>
                  <a:path w="9525" h="1143000">
                    <a:moveTo>
                      <a:pt x="0" y="0"/>
                    </a:moveTo>
                    <a:lnTo>
                      <a:pt x="0" y="1143000"/>
                    </a:lnTo>
                  </a:path>
                </a:pathLst>
              </a:custGeom>
              <a:noFill/>
              <a:ln w="9525">
                <a:solidFill>
                  <a:srgbClr val="FFFFFF"/>
                </a:solidFill>
              </a:ln>
            </p:spPr>
          </p:sp>
          <p:sp>
            <p:nvSpPr>
              <p:cNvPr id="213" name="Line 213"/>
              <p:cNvSpPr/>
              <p:nvPr/>
            </p:nvSpPr>
            <p:spPr>
              <a:xfrm>
                <a:off x="7905750" y="1485900"/>
                <a:ext cx="1428750" cy="9525"/>
              </a:xfrm>
              <a:custGeom>
                <a:avLst/>
                <a:gdLst/>
                <a:ahLst/>
                <a:cxnLst/>
                <a:rect l="l" t="t" r="r" b="b"/>
                <a:pathLst>
                  <a:path w="1428750" h="9525">
                    <a:moveTo>
                      <a:pt x="0" y="0"/>
                    </a:moveTo>
                    <a:lnTo>
                      <a:pt x="1428750" y="0"/>
                    </a:lnTo>
                  </a:path>
                </a:pathLst>
              </a:custGeom>
              <a:noFill/>
              <a:ln w="9525">
                <a:solidFill>
                  <a:srgbClr val="FFFFFF"/>
                </a:solidFill>
              </a:ln>
            </p:spPr>
          </p:sp>
          <p:sp>
            <p:nvSpPr>
              <p:cNvPr id="214" name="Line 214"/>
              <p:cNvSpPr/>
              <p:nvPr/>
            </p:nvSpPr>
            <p:spPr>
              <a:xfrm>
                <a:off x="7905750" y="1714500"/>
                <a:ext cx="1428750" cy="9525"/>
              </a:xfrm>
              <a:custGeom>
                <a:avLst/>
                <a:gdLst/>
                <a:ahLst/>
                <a:cxnLst/>
                <a:rect l="l" t="t" r="r" b="b"/>
                <a:pathLst>
                  <a:path w="1428750" h="9525">
                    <a:moveTo>
                      <a:pt x="0" y="0"/>
                    </a:moveTo>
                    <a:lnTo>
                      <a:pt x="1428750" y="0"/>
                    </a:lnTo>
                  </a:path>
                </a:pathLst>
              </a:custGeom>
              <a:noFill/>
              <a:ln w="9525">
                <a:solidFill>
                  <a:srgbClr val="FFFFFF"/>
                </a:solidFill>
              </a:ln>
            </p:spPr>
          </p:sp>
          <p:sp>
            <p:nvSpPr>
              <p:cNvPr id="215" name="Line 215"/>
              <p:cNvSpPr/>
              <p:nvPr/>
            </p:nvSpPr>
            <p:spPr>
              <a:xfrm>
                <a:off x="7905750" y="1943100"/>
                <a:ext cx="1428750" cy="9525"/>
              </a:xfrm>
              <a:custGeom>
                <a:avLst/>
                <a:gdLst/>
                <a:ahLst/>
                <a:cxnLst/>
                <a:rect l="l" t="t" r="r" b="b"/>
                <a:pathLst>
                  <a:path w="1428750" h="9525">
                    <a:moveTo>
                      <a:pt x="0" y="0"/>
                    </a:moveTo>
                    <a:lnTo>
                      <a:pt x="1428750" y="0"/>
                    </a:lnTo>
                  </a:path>
                </a:pathLst>
              </a:custGeom>
              <a:noFill/>
              <a:ln w="9525">
                <a:solidFill>
                  <a:srgbClr val="FFFFFF"/>
                </a:solidFill>
              </a:ln>
            </p:spPr>
          </p:sp>
          <p:sp>
            <p:nvSpPr>
              <p:cNvPr id="216" name="Line 216"/>
              <p:cNvSpPr/>
              <p:nvPr/>
            </p:nvSpPr>
            <p:spPr>
              <a:xfrm>
                <a:off x="7905750" y="2171700"/>
                <a:ext cx="1428750" cy="9525"/>
              </a:xfrm>
              <a:custGeom>
                <a:avLst/>
                <a:gdLst/>
                <a:ahLst/>
                <a:cxnLst/>
                <a:rect l="l" t="t" r="r" b="b"/>
                <a:pathLst>
                  <a:path w="1428750" h="9525">
                    <a:moveTo>
                      <a:pt x="0" y="0"/>
                    </a:moveTo>
                    <a:lnTo>
                      <a:pt x="1428750" y="0"/>
                    </a:lnTo>
                  </a:path>
                </a:pathLst>
              </a:custGeom>
              <a:noFill/>
              <a:ln w="9525">
                <a:solidFill>
                  <a:srgbClr val="FFFFFF"/>
                </a:solidFill>
              </a:ln>
            </p:spPr>
          </p:sp>
        </p:grpSp>
        <p:grpSp>
          <p:nvGrpSpPr>
            <p:cNvPr id="223" name="rm-rowlabels"/>
            <p:cNvGrpSpPr/>
            <p:nvPr/>
          </p:nvGrpSpPr>
          <p:grpSpPr>
            <a:xfrm>
              <a:off x="7671524" y="1340882"/>
              <a:ext cx="181839" cy="1040606"/>
              <a:chOff x="7671524" y="1340882"/>
              <a:chExt cx="181839" cy="1040606"/>
            </a:xfrm>
          </p:grpSpPr>
          <p:sp>
            <p:nvSpPr>
              <p:cNvPr id="218" name="TextBox 218"/>
              <p:cNvSpPr txBox="1"/>
              <p:nvPr/>
            </p:nvSpPr>
            <p:spPr>
              <a:xfrm>
                <a:off x="7757681" y="1340882"/>
                <a:ext cx="95682"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高</a:t>
                </a:r>
              </a:p>
            </p:txBody>
          </p:sp>
          <p:sp>
            <p:nvSpPr>
              <p:cNvPr id="219" name="TextBox 219"/>
              <p:cNvSpPr txBox="1"/>
              <p:nvPr/>
            </p:nvSpPr>
            <p:spPr>
              <a:xfrm>
                <a:off x="7671524" y="1569482"/>
                <a:ext cx="181839"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中高</a:t>
                </a:r>
              </a:p>
            </p:txBody>
          </p:sp>
          <p:sp>
            <p:nvSpPr>
              <p:cNvPr id="220" name="TextBox 220"/>
              <p:cNvSpPr txBox="1"/>
              <p:nvPr/>
            </p:nvSpPr>
            <p:spPr>
              <a:xfrm>
                <a:off x="7757681" y="1798082"/>
                <a:ext cx="95682"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中</a:t>
                </a:r>
              </a:p>
            </p:txBody>
          </p:sp>
          <p:sp>
            <p:nvSpPr>
              <p:cNvPr id="221" name="TextBox 221"/>
              <p:cNvSpPr txBox="1"/>
              <p:nvPr/>
            </p:nvSpPr>
            <p:spPr>
              <a:xfrm>
                <a:off x="7671524" y="2026682"/>
                <a:ext cx="181839"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中低</a:t>
                </a:r>
              </a:p>
            </p:txBody>
          </p:sp>
          <p:sp>
            <p:nvSpPr>
              <p:cNvPr id="222" name="TextBox 222"/>
              <p:cNvSpPr txBox="1"/>
              <p:nvPr/>
            </p:nvSpPr>
            <p:spPr>
              <a:xfrm>
                <a:off x="7757681" y="2255282"/>
                <a:ext cx="95682"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低</a:t>
                </a:r>
              </a:p>
            </p:txBody>
          </p:sp>
        </p:grpSp>
        <p:grpSp>
          <p:nvGrpSpPr>
            <p:cNvPr id="229" name="rm-collabels"/>
            <p:cNvGrpSpPr/>
            <p:nvPr/>
          </p:nvGrpSpPr>
          <p:grpSpPr>
            <a:xfrm>
              <a:off x="8000784" y="2502932"/>
              <a:ext cx="1238682" cy="126206"/>
              <a:chOff x="8000784" y="2502932"/>
              <a:chExt cx="1238682" cy="126206"/>
            </a:xfrm>
          </p:grpSpPr>
          <p:sp>
            <p:nvSpPr>
              <p:cNvPr id="224" name="TextBox 224"/>
              <p:cNvSpPr txBox="1"/>
              <p:nvPr/>
            </p:nvSpPr>
            <p:spPr>
              <a:xfrm>
                <a:off x="8000784" y="2502932"/>
                <a:ext cx="9568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低</a:t>
                </a:r>
              </a:p>
            </p:txBody>
          </p:sp>
          <p:sp>
            <p:nvSpPr>
              <p:cNvPr id="225" name="TextBox 225"/>
              <p:cNvSpPr txBox="1"/>
              <p:nvPr/>
            </p:nvSpPr>
            <p:spPr>
              <a:xfrm>
                <a:off x="8243456" y="2502932"/>
                <a:ext cx="181839"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中低</a:t>
                </a:r>
              </a:p>
            </p:txBody>
          </p:sp>
          <p:sp>
            <p:nvSpPr>
              <p:cNvPr id="226" name="TextBox 226"/>
              <p:cNvSpPr txBox="1"/>
              <p:nvPr/>
            </p:nvSpPr>
            <p:spPr>
              <a:xfrm>
                <a:off x="8572284" y="2502932"/>
                <a:ext cx="9568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中</a:t>
                </a:r>
              </a:p>
            </p:txBody>
          </p:sp>
          <p:sp>
            <p:nvSpPr>
              <p:cNvPr id="227" name="TextBox 227"/>
              <p:cNvSpPr txBox="1"/>
              <p:nvPr/>
            </p:nvSpPr>
            <p:spPr>
              <a:xfrm>
                <a:off x="8814956" y="2502932"/>
                <a:ext cx="181839"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中高</a:t>
                </a:r>
              </a:p>
            </p:txBody>
          </p:sp>
          <p:sp>
            <p:nvSpPr>
              <p:cNvPr id="228" name="TextBox 228"/>
              <p:cNvSpPr txBox="1"/>
              <p:nvPr/>
            </p:nvSpPr>
            <p:spPr>
              <a:xfrm>
                <a:off x="9143784" y="2502932"/>
                <a:ext cx="9568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高</a:t>
                </a:r>
              </a:p>
            </p:txBody>
          </p:sp>
        </p:grpSp>
        <p:sp>
          <p:nvSpPr>
            <p:cNvPr id="230" name="Line 230"/>
            <p:cNvSpPr/>
            <p:nvPr/>
          </p:nvSpPr>
          <p:spPr>
            <a:xfrm flipV="1">
              <a:off x="7581900" y="1219200"/>
              <a:ext cx="1" cy="1219200"/>
            </a:xfrm>
            <a:prstGeom prst="line">
              <a:avLst/>
            </a:prstGeom>
            <a:noFill/>
            <a:ln w="11430">
              <a:solidFill>
                <a:srgbClr val="92301C"/>
              </a:solidFill>
              <a:tailEnd type="triangle" w="lg" len="lg"/>
            </a:ln>
          </p:spPr>
        </p:sp>
        <p:sp>
          <p:nvSpPr>
            <p:cNvPr id="231" name="Line 231"/>
            <p:cNvSpPr/>
            <p:nvPr/>
          </p:nvSpPr>
          <p:spPr>
            <a:xfrm>
              <a:off x="7867650" y="2457450"/>
              <a:ext cx="1562100" cy="1"/>
            </a:xfrm>
            <a:prstGeom prst="line">
              <a:avLst/>
            </a:prstGeom>
            <a:noFill/>
            <a:ln w="11430">
              <a:solidFill>
                <a:srgbClr val="92301C"/>
              </a:solidFill>
              <a:tailEnd type="triangle" w="lg" len="lg"/>
            </a:ln>
          </p:spPr>
        </p:sp>
        <p:sp>
          <p:nvSpPr>
            <p:cNvPr id="232" name="TextBox 232"/>
            <p:cNvSpPr txBox="1"/>
            <p:nvPr/>
          </p:nvSpPr>
          <p:spPr>
            <a:xfrm rot="-5400000">
              <a:off x="7245960" y="1758553"/>
              <a:ext cx="391846"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健康风险</a:t>
              </a:r>
            </a:p>
          </p:txBody>
        </p:sp>
        <p:sp>
          <p:nvSpPr>
            <p:cNvPr id="233" name="TextBox 233"/>
            <p:cNvSpPr txBox="1"/>
            <p:nvPr/>
          </p:nvSpPr>
          <p:spPr>
            <a:xfrm>
              <a:off x="8280832" y="2685336"/>
              <a:ext cx="678586"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职业与环境风险</a:t>
              </a:r>
            </a:p>
          </p:txBody>
        </p:sp>
        <p:grpSp>
          <p:nvGrpSpPr>
            <p:cNvPr id="244" name="rm-legend"/>
            <p:cNvGrpSpPr/>
            <p:nvPr/>
          </p:nvGrpSpPr>
          <p:grpSpPr>
            <a:xfrm>
              <a:off x="10382250" y="1295400"/>
              <a:ext cx="542379" cy="1070134"/>
              <a:chOff x="10382250" y="1295400"/>
              <a:chExt cx="542379" cy="1070134"/>
            </a:xfrm>
          </p:grpSpPr>
          <p:sp>
            <p:nvSpPr>
              <p:cNvPr id="234" name="Rectangle 234"/>
              <p:cNvSpPr/>
              <p:nvPr/>
            </p:nvSpPr>
            <p:spPr>
              <a:xfrm>
                <a:off x="10382250" y="1295400"/>
                <a:ext cx="114300" cy="114300"/>
              </a:xfrm>
              <a:prstGeom prst="rect">
                <a:avLst/>
              </a:prstGeom>
              <a:solidFill>
                <a:srgbClr val="6B1B0B"/>
              </a:solidFill>
              <a:ln>
                <a:noFill/>
              </a:ln>
            </p:spPr>
          </p:sp>
          <p:sp>
            <p:nvSpPr>
              <p:cNvPr id="235" name="TextBox 235"/>
              <p:cNvSpPr txBox="1"/>
              <p:nvPr/>
            </p:nvSpPr>
            <p:spPr>
              <a:xfrm>
                <a:off x="10548938" y="131778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高风险</a:t>
                </a:r>
              </a:p>
            </p:txBody>
          </p:sp>
          <p:sp>
            <p:nvSpPr>
              <p:cNvPr id="236" name="Rectangle 236"/>
              <p:cNvSpPr/>
              <p:nvPr/>
            </p:nvSpPr>
            <p:spPr>
              <a:xfrm>
                <a:off x="10382250" y="1524000"/>
                <a:ext cx="114300" cy="114300"/>
              </a:xfrm>
              <a:prstGeom prst="rect">
                <a:avLst/>
              </a:prstGeom>
              <a:solidFill>
                <a:srgbClr val="92301C"/>
              </a:solidFill>
              <a:ln>
                <a:noFill/>
              </a:ln>
            </p:spPr>
          </p:sp>
          <p:sp>
            <p:nvSpPr>
              <p:cNvPr id="237" name="TextBox 237"/>
              <p:cNvSpPr txBox="1"/>
              <p:nvPr/>
            </p:nvSpPr>
            <p:spPr>
              <a:xfrm>
                <a:off x="10548938" y="15463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较高风险</a:t>
                </a:r>
              </a:p>
            </p:txBody>
          </p:sp>
          <p:sp>
            <p:nvSpPr>
              <p:cNvPr id="238" name="Rectangle 238"/>
              <p:cNvSpPr/>
              <p:nvPr/>
            </p:nvSpPr>
            <p:spPr>
              <a:xfrm>
                <a:off x="10382250" y="1752600"/>
                <a:ext cx="114300" cy="114300"/>
              </a:xfrm>
              <a:prstGeom prst="rect">
                <a:avLst/>
              </a:prstGeom>
              <a:solidFill>
                <a:srgbClr val="B7533F"/>
              </a:solidFill>
              <a:ln>
                <a:noFill/>
              </a:ln>
            </p:spPr>
          </p:sp>
          <p:sp>
            <p:nvSpPr>
              <p:cNvPr id="239" name="TextBox 239"/>
              <p:cNvSpPr txBox="1"/>
              <p:nvPr/>
            </p:nvSpPr>
            <p:spPr>
              <a:xfrm>
                <a:off x="10548938" y="17749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中等风险</a:t>
                </a:r>
              </a:p>
            </p:txBody>
          </p:sp>
          <p:sp>
            <p:nvSpPr>
              <p:cNvPr id="240" name="Rectangle 240"/>
              <p:cNvSpPr/>
              <p:nvPr/>
            </p:nvSpPr>
            <p:spPr>
              <a:xfrm>
                <a:off x="10382250" y="1981200"/>
                <a:ext cx="114300" cy="114300"/>
              </a:xfrm>
              <a:prstGeom prst="rect">
                <a:avLst/>
              </a:prstGeom>
              <a:solidFill>
                <a:srgbClr val="E3B3A9"/>
              </a:solidFill>
              <a:ln>
                <a:noFill/>
              </a:ln>
            </p:spPr>
          </p:sp>
          <p:sp>
            <p:nvSpPr>
              <p:cNvPr id="241" name="TextBox 241"/>
              <p:cNvSpPr txBox="1"/>
              <p:nvPr/>
            </p:nvSpPr>
            <p:spPr>
              <a:xfrm>
                <a:off x="10548938" y="20035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较低风险</a:t>
                </a:r>
              </a:p>
            </p:txBody>
          </p:sp>
          <p:sp>
            <p:nvSpPr>
              <p:cNvPr id="242" name="Rectangle 242"/>
              <p:cNvSpPr/>
              <p:nvPr/>
            </p:nvSpPr>
            <p:spPr>
              <a:xfrm>
                <a:off x="10382250" y="2209800"/>
                <a:ext cx="114300" cy="114300"/>
              </a:xfrm>
              <a:prstGeom prst="rect">
                <a:avLst/>
              </a:prstGeom>
              <a:solidFill>
                <a:srgbClr val="D6E6F3"/>
              </a:solidFill>
              <a:ln>
                <a:noFill/>
              </a:ln>
            </p:spPr>
          </p:sp>
          <p:sp>
            <p:nvSpPr>
              <p:cNvPr id="243" name="TextBox 243"/>
              <p:cNvSpPr txBox="1"/>
              <p:nvPr/>
            </p:nvSpPr>
            <p:spPr>
              <a:xfrm>
                <a:off x="10548938" y="223218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低风险</a:t>
                </a:r>
              </a:p>
            </p:txBody>
          </p:sp>
        </p:grpSp>
      </p:grpSp>
      <p:grpSp>
        <p:nvGrpSpPr>
          <p:cNvPr id="274" name="result-table"/>
          <p:cNvGrpSpPr/>
          <p:nvPr/>
        </p:nvGrpSpPr>
        <p:grpSpPr>
          <a:xfrm>
            <a:off x="7119938" y="3103245"/>
            <a:ext cx="4881562" cy="1821180"/>
            <a:chOff x="7119938" y="3103245"/>
            <a:chExt cx="4881562" cy="1821180"/>
          </a:xfrm>
        </p:grpSpPr>
        <p:sp>
          <p:nvSpPr>
            <p:cNvPr id="246" name="TextBox 246"/>
            <p:cNvSpPr txBox="1"/>
            <p:nvPr/>
          </p:nvSpPr>
          <p:spPr>
            <a:xfrm>
              <a:off x="7119938" y="3103245"/>
              <a:ext cx="1584579"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核保建议结果示例</a:t>
              </a:r>
              <a:r>
                <a:rPr lang="zh-CN" sz="750" dirty="0">
                  <a:solidFill>
                    <a:srgbClr val="6B1B0B"/>
                  </a:solidFill>
                  <a:latin typeface="+mn-lt"/>
                  <a:ea typeface="+mn-ea"/>
                  <a:cs typeface="+mn-cs"/>
                </a:rPr>
                <a:t>（示例测算）</a:t>
              </a:r>
            </a:p>
          </p:txBody>
        </p:sp>
        <p:sp>
          <p:nvSpPr>
            <p:cNvPr id="247" name="Rectangle 247"/>
            <p:cNvSpPr/>
            <p:nvPr/>
          </p:nvSpPr>
          <p:spPr>
            <a:xfrm>
              <a:off x="7124700" y="3276600"/>
              <a:ext cx="4876800" cy="209550"/>
            </a:xfrm>
            <a:prstGeom prst="rect">
              <a:avLst/>
            </a:prstGeom>
            <a:solidFill>
              <a:srgbClr val="6B1B0B"/>
            </a:solidFill>
            <a:ln>
              <a:noFill/>
            </a:ln>
          </p:spPr>
        </p:sp>
        <p:grpSp>
          <p:nvGrpSpPr>
            <p:cNvPr id="251" name="rt-head"/>
            <p:cNvGrpSpPr/>
            <p:nvPr/>
          </p:nvGrpSpPr>
          <p:grpSpPr>
            <a:xfrm>
              <a:off x="7215188" y="3342561"/>
              <a:ext cx="4412717" cy="140494"/>
              <a:chOff x="7215188" y="3342561"/>
              <a:chExt cx="4412717" cy="140494"/>
            </a:xfrm>
          </p:grpSpPr>
          <p:sp>
            <p:nvSpPr>
              <p:cNvPr id="248" name="TextBox 248"/>
              <p:cNvSpPr txBox="1"/>
              <p:nvPr/>
            </p:nvSpPr>
            <p:spPr>
              <a:xfrm>
                <a:off x="7215188" y="334256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核保结论</a:t>
                </a:r>
              </a:p>
            </p:txBody>
          </p:sp>
          <p:sp>
            <p:nvSpPr>
              <p:cNvPr id="249" name="TextBox 249"/>
              <p:cNvSpPr txBox="1"/>
              <p:nvPr/>
            </p:nvSpPr>
            <p:spPr>
              <a:xfrm>
                <a:off x="8110538" y="3342561"/>
                <a:ext cx="58300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适用情形示例</a:t>
                </a:r>
              </a:p>
            </p:txBody>
          </p:sp>
          <p:sp>
            <p:nvSpPr>
              <p:cNvPr id="250" name="TextBox 250"/>
              <p:cNvSpPr txBox="1"/>
              <p:nvPr/>
            </p:nvSpPr>
            <p:spPr>
              <a:xfrm>
                <a:off x="10853738" y="3342561"/>
                <a:ext cx="774167"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占比（示例测算）</a:t>
                </a:r>
              </a:p>
            </p:txBody>
          </p:sp>
        </p:grpSp>
        <p:grpSp>
          <p:nvGrpSpPr>
            <p:cNvPr id="272" name="rt-rows"/>
            <p:cNvGrpSpPr/>
            <p:nvPr/>
          </p:nvGrpSpPr>
          <p:grpSpPr>
            <a:xfrm>
              <a:off x="7124700" y="3486150"/>
              <a:ext cx="4876800" cy="1428750"/>
              <a:chOff x="7124700" y="3486150"/>
              <a:chExt cx="4876800" cy="1428750"/>
            </a:xfrm>
          </p:grpSpPr>
          <p:sp>
            <p:nvSpPr>
              <p:cNvPr id="252" name="Rectangle 252"/>
              <p:cNvSpPr/>
              <p:nvPr/>
            </p:nvSpPr>
            <p:spPr>
              <a:xfrm>
                <a:off x="7124700" y="3486150"/>
                <a:ext cx="4876800" cy="285750"/>
              </a:xfrm>
              <a:prstGeom prst="rect">
                <a:avLst/>
              </a:prstGeom>
              <a:solidFill>
                <a:srgbClr val="F6F9FD"/>
              </a:solidFill>
              <a:ln>
                <a:noFill/>
              </a:ln>
            </p:spPr>
          </p:sp>
          <p:sp>
            <p:nvSpPr>
              <p:cNvPr id="253" name="TextBox 253"/>
              <p:cNvSpPr txBox="1"/>
              <p:nvPr/>
            </p:nvSpPr>
            <p:spPr>
              <a:xfrm>
                <a:off x="7215188" y="3594259"/>
                <a:ext cx="284150"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标准体</a:t>
                </a:r>
              </a:p>
            </p:txBody>
          </p:sp>
          <p:sp>
            <p:nvSpPr>
              <p:cNvPr id="254" name="TextBox 254"/>
              <p:cNvSpPr txBox="1"/>
              <p:nvPr/>
            </p:nvSpPr>
            <p:spPr>
              <a:xfrm>
                <a:off x="8110538" y="3594259"/>
                <a:ext cx="101648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健康状况良好，风险较低</a:t>
                </a:r>
              </a:p>
            </p:txBody>
          </p:sp>
          <p:sp>
            <p:nvSpPr>
              <p:cNvPr id="255" name="TextBox 255"/>
              <p:cNvSpPr txBox="1"/>
              <p:nvPr/>
            </p:nvSpPr>
            <p:spPr>
              <a:xfrm>
                <a:off x="10853738" y="3594259"/>
                <a:ext cx="467379"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j-lt"/>
                    <a:ea typeface="+mj-ea"/>
                    <a:cs typeface="+mj-cs"/>
                  </a:rPr>
                  <a:t xml:space="preserve">　约60%　</a:t>
                </a:r>
              </a:p>
            </p:txBody>
          </p:sp>
          <p:sp>
            <p:nvSpPr>
              <p:cNvPr id="256" name="Rectangle 256"/>
              <p:cNvSpPr/>
              <p:nvPr/>
            </p:nvSpPr>
            <p:spPr>
              <a:xfrm>
                <a:off x="7124700" y="3771900"/>
                <a:ext cx="4876800" cy="285750"/>
              </a:xfrm>
              <a:prstGeom prst="rect">
                <a:avLst/>
              </a:prstGeom>
              <a:solidFill>
                <a:srgbClr val="FFFFFF"/>
              </a:solidFill>
              <a:ln>
                <a:noFill/>
              </a:ln>
            </p:spPr>
          </p:sp>
          <p:sp>
            <p:nvSpPr>
              <p:cNvPr id="257" name="TextBox 257"/>
              <p:cNvSpPr txBox="1"/>
              <p:nvPr/>
            </p:nvSpPr>
            <p:spPr>
              <a:xfrm>
                <a:off x="7215188" y="388000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加费承保</a:t>
                </a:r>
              </a:p>
            </p:txBody>
          </p:sp>
          <p:sp>
            <p:nvSpPr>
              <p:cNvPr id="258" name="TextBox 258"/>
              <p:cNvSpPr txBox="1"/>
              <p:nvPr/>
            </p:nvSpPr>
            <p:spPr>
              <a:xfrm>
                <a:off x="8110538" y="3880009"/>
                <a:ext cx="138264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存在可控风险（如轻度高血压等）</a:t>
                </a:r>
              </a:p>
            </p:txBody>
          </p:sp>
          <p:sp>
            <p:nvSpPr>
              <p:cNvPr id="259" name="TextBox 259"/>
              <p:cNvSpPr txBox="1"/>
              <p:nvPr/>
            </p:nvSpPr>
            <p:spPr>
              <a:xfrm>
                <a:off x="10853738" y="3880009"/>
                <a:ext cx="467379"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j-lt"/>
                    <a:ea typeface="+mj-ea"/>
                    <a:cs typeface="+mj-cs"/>
                  </a:rPr>
                  <a:t xml:space="preserve">　约20%　</a:t>
                </a:r>
              </a:p>
            </p:txBody>
          </p:sp>
          <p:sp>
            <p:nvSpPr>
              <p:cNvPr id="260" name="Rectangle 260"/>
              <p:cNvSpPr/>
              <p:nvPr/>
            </p:nvSpPr>
            <p:spPr>
              <a:xfrm>
                <a:off x="7124700" y="4057650"/>
                <a:ext cx="4876800" cy="285750"/>
              </a:xfrm>
              <a:prstGeom prst="rect">
                <a:avLst/>
              </a:prstGeom>
              <a:solidFill>
                <a:srgbClr val="F6F9FD"/>
              </a:solidFill>
              <a:ln>
                <a:noFill/>
              </a:ln>
            </p:spPr>
          </p:sp>
          <p:sp>
            <p:nvSpPr>
              <p:cNvPr id="261" name="TextBox 261"/>
              <p:cNvSpPr txBox="1"/>
              <p:nvPr/>
            </p:nvSpPr>
            <p:spPr>
              <a:xfrm>
                <a:off x="7215188" y="416575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除外承保</a:t>
                </a:r>
              </a:p>
            </p:txBody>
          </p:sp>
          <p:sp>
            <p:nvSpPr>
              <p:cNvPr id="262" name="TextBox 262"/>
              <p:cNvSpPr txBox="1"/>
              <p:nvPr/>
            </p:nvSpPr>
            <p:spPr>
              <a:xfrm>
                <a:off x="8110538" y="4165759"/>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特定疾病或器官风险</a:t>
                </a:r>
              </a:p>
            </p:txBody>
          </p:sp>
          <p:sp>
            <p:nvSpPr>
              <p:cNvPr id="263" name="TextBox 263"/>
              <p:cNvSpPr txBox="1"/>
              <p:nvPr/>
            </p:nvSpPr>
            <p:spPr>
              <a:xfrm>
                <a:off x="10853738" y="4165759"/>
                <a:ext cx="467379"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j-lt"/>
                    <a:ea typeface="+mj-ea"/>
                    <a:cs typeface="+mj-cs"/>
                  </a:rPr>
                  <a:t xml:space="preserve">　约10%　</a:t>
                </a:r>
              </a:p>
            </p:txBody>
          </p:sp>
          <p:sp>
            <p:nvSpPr>
              <p:cNvPr id="264" name="Rectangle 264"/>
              <p:cNvSpPr/>
              <p:nvPr/>
            </p:nvSpPr>
            <p:spPr>
              <a:xfrm>
                <a:off x="7124700" y="4343400"/>
                <a:ext cx="4876800" cy="285750"/>
              </a:xfrm>
              <a:prstGeom prst="rect">
                <a:avLst/>
              </a:prstGeom>
              <a:solidFill>
                <a:srgbClr val="FFFFFF"/>
              </a:solidFill>
              <a:ln>
                <a:noFill/>
              </a:ln>
            </p:spPr>
          </p:sp>
          <p:sp>
            <p:nvSpPr>
              <p:cNvPr id="265" name="TextBox 265"/>
              <p:cNvSpPr txBox="1"/>
              <p:nvPr/>
            </p:nvSpPr>
            <p:spPr>
              <a:xfrm>
                <a:off x="7215188" y="4451509"/>
                <a:ext cx="375691"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延期承保</a:t>
                </a:r>
              </a:p>
            </p:txBody>
          </p:sp>
          <p:sp>
            <p:nvSpPr>
              <p:cNvPr id="266" name="TextBox 266"/>
              <p:cNvSpPr txBox="1"/>
              <p:nvPr/>
            </p:nvSpPr>
            <p:spPr>
              <a:xfrm>
                <a:off x="8110538" y="4451509"/>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需进一步检查或观察</a:t>
                </a:r>
              </a:p>
            </p:txBody>
          </p:sp>
          <p:sp>
            <p:nvSpPr>
              <p:cNvPr id="267" name="TextBox 267"/>
              <p:cNvSpPr txBox="1"/>
              <p:nvPr/>
            </p:nvSpPr>
            <p:spPr>
              <a:xfrm>
                <a:off x="10853738" y="4451509"/>
                <a:ext cx="416464"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j-lt"/>
                    <a:ea typeface="+mj-ea"/>
                    <a:cs typeface="+mj-cs"/>
                  </a:rPr>
                  <a:t xml:space="preserve">　约7%　</a:t>
                </a:r>
              </a:p>
            </p:txBody>
          </p:sp>
          <p:sp>
            <p:nvSpPr>
              <p:cNvPr id="268" name="Rectangle 268"/>
              <p:cNvSpPr/>
              <p:nvPr/>
            </p:nvSpPr>
            <p:spPr>
              <a:xfrm>
                <a:off x="7124700" y="4629150"/>
                <a:ext cx="4876800" cy="285750"/>
              </a:xfrm>
              <a:prstGeom prst="rect">
                <a:avLst/>
              </a:prstGeom>
              <a:solidFill>
                <a:srgbClr val="F6F9FD"/>
              </a:solidFill>
              <a:ln>
                <a:noFill/>
              </a:ln>
            </p:spPr>
          </p:sp>
          <p:sp>
            <p:nvSpPr>
              <p:cNvPr id="269" name="TextBox 269"/>
              <p:cNvSpPr txBox="1"/>
              <p:nvPr/>
            </p:nvSpPr>
            <p:spPr>
              <a:xfrm>
                <a:off x="7215188" y="4737259"/>
                <a:ext cx="192608"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n-lt"/>
                    <a:ea typeface="+mn-ea"/>
                    <a:cs typeface="+mn-cs"/>
                  </a:rPr>
                  <a:t>拒保</a:t>
                </a:r>
              </a:p>
            </p:txBody>
          </p:sp>
          <p:sp>
            <p:nvSpPr>
              <p:cNvPr id="270" name="TextBox 270"/>
              <p:cNvSpPr txBox="1"/>
              <p:nvPr/>
            </p:nvSpPr>
            <p:spPr>
              <a:xfrm>
                <a:off x="8110538" y="4737259"/>
                <a:ext cx="1108024"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风险过高或不符合产品要求</a:t>
                </a:r>
              </a:p>
            </p:txBody>
          </p:sp>
          <p:sp>
            <p:nvSpPr>
              <p:cNvPr id="271" name="TextBox 271"/>
              <p:cNvSpPr txBox="1"/>
              <p:nvPr/>
            </p:nvSpPr>
            <p:spPr>
              <a:xfrm>
                <a:off x="10853738" y="4737259"/>
                <a:ext cx="416464" cy="133350"/>
              </a:xfrm>
              <a:prstGeom prst="rect">
                <a:avLst/>
              </a:prstGeom>
              <a:noFill/>
              <a:ln>
                <a:noFill/>
              </a:ln>
            </p:spPr>
            <p:txBody>
              <a:bodyPr wrap="none" lIns="0" tIns="0" rIns="0" bIns="0" anchor="t" anchorCtr="0">
                <a:spAutoFit/>
              </a:bodyPr>
              <a:lstStyle/>
              <a:p>
                <a:pPr algn="l"/>
                <a:r>
                  <a:rPr lang="zh-CN" sz="680" b="1" dirty="0">
                    <a:solidFill>
                      <a:srgbClr val="6B1B0B"/>
                    </a:solidFill>
                    <a:latin typeface="+mj-lt"/>
                    <a:ea typeface="+mj-ea"/>
                    <a:cs typeface="+mj-cs"/>
                  </a:rPr>
                  <a:t xml:space="preserve">　约3%　</a:t>
                </a:r>
              </a:p>
            </p:txBody>
          </p:sp>
        </p:grpSp>
        <p:sp>
          <p:nvSpPr>
            <p:cNvPr id="273" name="Line 273"/>
            <p:cNvSpPr/>
            <p:nvPr/>
          </p:nvSpPr>
          <p:spPr>
            <a:xfrm>
              <a:off x="7124700" y="4914900"/>
              <a:ext cx="4876800" cy="9525"/>
            </a:xfrm>
            <a:custGeom>
              <a:avLst/>
              <a:gdLst/>
              <a:ahLst/>
              <a:cxnLst/>
              <a:rect l="l" t="t" r="r" b="b"/>
              <a:pathLst>
                <a:path w="4876800" h="9525">
                  <a:moveTo>
                    <a:pt x="0" y="0"/>
                  </a:moveTo>
                  <a:lnTo>
                    <a:pt x="4876800" y="0"/>
                  </a:lnTo>
                </a:path>
              </a:pathLst>
            </a:custGeom>
            <a:noFill/>
            <a:ln w="9525">
              <a:solidFill>
                <a:srgbClr val="E4EDF5"/>
              </a:solidFill>
            </a:ln>
          </p:spPr>
        </p:sp>
      </p:grpSp>
      <p:grpSp>
        <p:nvGrpSpPr>
          <p:cNvPr id="277" name="bottom-head"/>
          <p:cNvGrpSpPr/>
          <p:nvPr/>
        </p:nvGrpSpPr>
        <p:grpSpPr>
          <a:xfrm>
            <a:off x="190500" y="5257800"/>
            <a:ext cx="6838950" cy="272987"/>
            <a:chOff x="190500" y="5257800"/>
            <a:chExt cx="6838950" cy="272987"/>
          </a:xfrm>
        </p:grpSpPr>
        <p:sp>
          <p:nvSpPr>
            <p:cNvPr id="275" name="Rectangle 275"/>
            <p:cNvSpPr/>
            <p:nvPr/>
          </p:nvSpPr>
          <p:spPr>
            <a:xfrm>
              <a:off x="190500" y="5257800"/>
              <a:ext cx="6838950" cy="266700"/>
            </a:xfrm>
            <a:prstGeom prst="rect">
              <a:avLst/>
            </a:prstGeom>
            <a:gradFill>
              <a:gsLst>
                <a:gs pos="0">
                  <a:srgbClr val="92301C"/>
                </a:gs>
                <a:gs pos="100000">
                  <a:srgbClr val="B7533F"/>
                </a:gs>
              </a:gsLst>
              <a:lin ang="0" scaled="1"/>
            </a:gradFill>
            <a:ln>
              <a:noFill/>
            </a:ln>
          </p:spPr>
        </p:sp>
        <p:sp>
          <p:nvSpPr>
            <p:cNvPr id="276" name="TextBox 276"/>
            <p:cNvSpPr txBox="1"/>
            <p:nvPr/>
          </p:nvSpPr>
          <p:spPr>
            <a:xfrm>
              <a:off x="318516" y="5325428"/>
              <a:ext cx="1000125"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信任与合规保障</a:t>
              </a:r>
            </a:p>
          </p:txBody>
        </p:sp>
      </p:grpSp>
      <p:grpSp>
        <p:nvGrpSpPr>
          <p:cNvPr id="318" name="bottom-cards"/>
          <p:cNvGrpSpPr/>
          <p:nvPr/>
        </p:nvGrpSpPr>
        <p:grpSpPr>
          <a:xfrm>
            <a:off x="190500" y="5562600"/>
            <a:ext cx="6838950" cy="1009650"/>
            <a:chOff x="190500" y="5562600"/>
            <a:chExt cx="6838950" cy="1009650"/>
          </a:xfrm>
        </p:grpSpPr>
        <p:grpSp>
          <p:nvGrpSpPr>
            <p:cNvPr id="288" name="bc-1"/>
            <p:cNvGrpSpPr/>
            <p:nvPr/>
          </p:nvGrpSpPr>
          <p:grpSpPr>
            <a:xfrm>
              <a:off x="190500" y="5562600"/>
              <a:ext cx="1638300" cy="1009650"/>
              <a:chOff x="190500" y="5562600"/>
              <a:chExt cx="1638300" cy="1009650"/>
            </a:xfrm>
          </p:grpSpPr>
          <p:sp>
            <p:nvSpPr>
              <p:cNvPr id="278" name="Rectangle 278"/>
              <p:cNvSpPr/>
              <p:nvPr/>
            </p:nvSpPr>
            <p:spPr>
              <a:xfrm>
                <a:off x="190500" y="5562600"/>
                <a:ext cx="1638300" cy="1009650"/>
              </a:xfrm>
              <a:prstGeom prst="roundRect">
                <a:avLst>
                  <a:gd name="adj" fmla="val 5660"/>
                </a:avLst>
              </a:prstGeom>
              <a:solidFill>
                <a:srgbClr val="F6F9FD"/>
              </a:solidFill>
              <a:ln w="9525">
                <a:solidFill>
                  <a:srgbClr val="CFDFEE"/>
                </a:solidFill>
              </a:ln>
            </p:spPr>
          </p:sp>
          <p:grpSp>
            <p:nvGrpSpPr>
              <p:cNvPr id="284" name="Group 284"/>
              <p:cNvGrpSpPr/>
              <p:nvPr/>
            </p:nvGrpSpPr>
            <p:grpSpPr>
              <a:xfrm>
                <a:off x="314325" y="5705475"/>
                <a:ext cx="171450" cy="171450"/>
                <a:chOff x="314325" y="5705475"/>
                <a:chExt cx="171450" cy="171450"/>
              </a:xfrm>
            </p:grpSpPr>
            <p:sp>
              <p:nvSpPr>
                <p:cNvPr id="279" name="Freeform 279"/>
                <p:cNvSpPr/>
                <p:nvPr/>
              </p:nvSpPr>
              <p:spPr>
                <a:xfrm>
                  <a:off x="352425" y="5867400"/>
                  <a:ext cx="95250" cy="9525"/>
                </a:xfrm>
                <a:custGeom>
                  <a:avLst/>
                  <a:gdLst/>
                  <a:ahLst/>
                  <a:cxnLst/>
                  <a:rect l="l" t="t" r="r" b="b"/>
                  <a:pathLst>
                    <a:path w="95250" h="9525">
                      <a:moveTo>
                        <a:pt x="0" y="0"/>
                      </a:moveTo>
                      <a:lnTo>
                        <a:pt x="95250" y="0"/>
                      </a:lnTo>
                    </a:path>
                  </a:pathLst>
                </a:custGeom>
                <a:noFill/>
                <a:ln w="19050">
                  <a:solidFill>
                    <a:srgbClr val="92301C"/>
                  </a:solidFill>
                </a:ln>
              </p:spPr>
            </p:sp>
            <p:sp>
              <p:nvSpPr>
                <p:cNvPr id="280" name="Freeform 280"/>
                <p:cNvSpPr/>
                <p:nvPr/>
              </p:nvSpPr>
              <p:spPr>
                <a:xfrm>
                  <a:off x="342900" y="5724525"/>
                  <a:ext cx="114300" cy="9525"/>
                </a:xfrm>
                <a:custGeom>
                  <a:avLst/>
                  <a:gdLst/>
                  <a:ahLst/>
                  <a:cxnLst/>
                  <a:rect l="l" t="t" r="r" b="b"/>
                  <a:pathLst>
                    <a:path w="114300" h="9525">
                      <a:moveTo>
                        <a:pt x="0" y="9525"/>
                      </a:moveTo>
                      <a:lnTo>
                        <a:pt x="57150" y="0"/>
                      </a:lnTo>
                      <a:lnTo>
                        <a:pt x="114300" y="9525"/>
                      </a:lnTo>
                    </a:path>
                  </a:pathLst>
                </a:custGeom>
                <a:noFill/>
                <a:ln w="19050">
                  <a:solidFill>
                    <a:srgbClr val="92301C"/>
                  </a:solidFill>
                </a:ln>
              </p:spPr>
            </p:sp>
            <p:sp>
              <p:nvSpPr>
                <p:cNvPr id="281" name="Freeform 281"/>
                <p:cNvSpPr/>
                <p:nvPr/>
              </p:nvSpPr>
              <p:spPr>
                <a:xfrm>
                  <a:off x="400050" y="5705475"/>
                  <a:ext cx="9525" cy="161925"/>
                </a:xfrm>
                <a:custGeom>
                  <a:avLst/>
                  <a:gdLst/>
                  <a:ahLst/>
                  <a:cxnLst/>
                  <a:rect l="l" t="t" r="r" b="b"/>
                  <a:pathLst>
                    <a:path w="9525" h="161925">
                      <a:moveTo>
                        <a:pt x="0" y="0"/>
                      </a:moveTo>
                      <a:lnTo>
                        <a:pt x="0" y="161925"/>
                      </a:lnTo>
                    </a:path>
                  </a:pathLst>
                </a:custGeom>
                <a:noFill/>
                <a:ln w="19050">
                  <a:solidFill>
                    <a:srgbClr val="92301C"/>
                  </a:solidFill>
                </a:ln>
              </p:spPr>
            </p:sp>
            <p:sp>
              <p:nvSpPr>
                <p:cNvPr id="282" name="Freeform 282"/>
                <p:cNvSpPr/>
                <p:nvPr/>
              </p:nvSpPr>
              <p:spPr>
                <a:xfrm>
                  <a:off x="314325" y="573405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92301C"/>
                  </a:solidFill>
                </a:ln>
              </p:spPr>
            </p:sp>
            <p:sp>
              <p:nvSpPr>
                <p:cNvPr id="283" name="Freeform 283"/>
                <p:cNvSpPr/>
                <p:nvPr/>
              </p:nvSpPr>
              <p:spPr>
                <a:xfrm>
                  <a:off x="428625" y="573405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92301C"/>
                  </a:solidFill>
                </a:ln>
              </p:spPr>
            </p:sp>
          </p:grpSp>
          <p:sp>
            <p:nvSpPr>
              <p:cNvPr id="285" name="TextBox 285"/>
              <p:cNvSpPr txBox="1"/>
              <p:nvPr/>
            </p:nvSpPr>
            <p:spPr>
              <a:xfrm>
                <a:off x="585788" y="5741670"/>
                <a:ext cx="372999"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公平性</a:t>
                </a:r>
              </a:p>
            </p:txBody>
          </p:sp>
          <p:sp>
            <p:nvSpPr>
              <p:cNvPr id="286" name="TextBox 286"/>
              <p:cNvSpPr txBox="1"/>
              <p:nvPr/>
            </p:nvSpPr>
            <p:spPr>
              <a:xfrm>
                <a:off x="261938" y="6027182"/>
                <a:ext cx="129192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减少适当性偏差、确保规则一致</a:t>
                </a:r>
              </a:p>
            </p:txBody>
          </p:sp>
          <p:sp>
            <p:nvSpPr>
              <p:cNvPr id="287" name="TextBox 287"/>
              <p:cNvSpPr txBox="1"/>
              <p:nvPr/>
            </p:nvSpPr>
            <p:spPr>
              <a:xfrm>
                <a:off x="261938" y="61795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持续监测偏差</a:t>
                </a:r>
              </a:p>
            </p:txBody>
          </p:sp>
        </p:grpSp>
        <p:grpSp>
          <p:nvGrpSpPr>
            <p:cNvPr id="297" name="bc-2"/>
            <p:cNvGrpSpPr/>
            <p:nvPr/>
          </p:nvGrpSpPr>
          <p:grpSpPr>
            <a:xfrm>
              <a:off x="1924050" y="5562600"/>
              <a:ext cx="1638300" cy="1009650"/>
              <a:chOff x="1924050" y="5562600"/>
              <a:chExt cx="1638300" cy="1009650"/>
            </a:xfrm>
          </p:grpSpPr>
          <p:sp>
            <p:nvSpPr>
              <p:cNvPr id="289" name="Rectangle 289"/>
              <p:cNvSpPr/>
              <p:nvPr/>
            </p:nvSpPr>
            <p:spPr>
              <a:xfrm>
                <a:off x="1924050" y="5562600"/>
                <a:ext cx="1638300" cy="1009650"/>
              </a:xfrm>
              <a:prstGeom prst="roundRect">
                <a:avLst>
                  <a:gd name="adj" fmla="val 5660"/>
                </a:avLst>
              </a:prstGeom>
              <a:solidFill>
                <a:srgbClr val="F6F9FD"/>
              </a:solidFill>
              <a:ln w="9525">
                <a:solidFill>
                  <a:srgbClr val="CFDFEE"/>
                </a:solidFill>
              </a:ln>
            </p:spPr>
          </p:sp>
          <p:grpSp>
            <p:nvGrpSpPr>
              <p:cNvPr id="293" name="Group 293"/>
              <p:cNvGrpSpPr/>
              <p:nvPr/>
            </p:nvGrpSpPr>
            <p:grpSpPr>
              <a:xfrm>
                <a:off x="2043908" y="5705475"/>
                <a:ext cx="179383" cy="171450"/>
                <a:chOff x="2043908" y="5705475"/>
                <a:chExt cx="179383" cy="171450"/>
              </a:xfrm>
            </p:grpSpPr>
            <p:sp>
              <p:nvSpPr>
                <p:cNvPr id="290" name="Freeform 290"/>
                <p:cNvSpPr/>
                <p:nvPr/>
              </p:nvSpPr>
              <p:spPr>
                <a:xfrm>
                  <a:off x="2043908" y="5705475"/>
                  <a:ext cx="179383" cy="171450"/>
                </a:xfrm>
                <a:custGeom>
                  <a:avLst/>
                  <a:gdLst/>
                  <a:ahLst/>
                  <a:cxnLst/>
                  <a:rect l="l" t="t" r="r" b="b"/>
                  <a:pathLst>
                    <a:path w="179383" h="171450">
                      <a:moveTo>
                        <a:pt x="89692" y="0"/>
                      </a:moveTo>
                      <a:cubicBezTo>
                        <a:pt x="111940" y="19684"/>
                        <a:pt x="140979" y="29933"/>
                        <a:pt x="170654" y="28575"/>
                      </a:cubicBezTo>
                      <a:cubicBezTo>
                        <a:pt x="179383" y="58269"/>
                        <a:pt x="175697" y="90235"/>
                        <a:pt x="160438" y="117163"/>
                      </a:cubicBezTo>
                      <a:cubicBezTo>
                        <a:pt x="145178" y="144091"/>
                        <a:pt x="119651" y="163679"/>
                        <a:pt x="89692" y="171450"/>
                      </a:cubicBezTo>
                      <a:cubicBezTo>
                        <a:pt x="59732" y="163679"/>
                        <a:pt x="34205" y="144091"/>
                        <a:pt x="18946" y="117163"/>
                      </a:cubicBezTo>
                      <a:cubicBezTo>
                        <a:pt x="3686" y="90235"/>
                        <a:pt x="0" y="58269"/>
                        <a:pt x="8729" y="28575"/>
                      </a:cubicBezTo>
                      <a:cubicBezTo>
                        <a:pt x="38405" y="29933"/>
                        <a:pt x="67443" y="19684"/>
                        <a:pt x="89692" y="0"/>
                      </a:cubicBezTo>
                    </a:path>
                  </a:pathLst>
                </a:custGeom>
                <a:noFill/>
                <a:ln w="19050">
                  <a:solidFill>
                    <a:srgbClr val="92301C"/>
                  </a:solidFill>
                </a:ln>
              </p:spPr>
            </p:sp>
            <p:sp>
              <p:nvSpPr>
                <p:cNvPr id="291" name="Freeform 291"/>
                <p:cNvSpPr/>
                <p:nvPr/>
              </p:nvSpPr>
              <p:spPr>
                <a:xfrm>
                  <a:off x="2124075" y="577215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92301C"/>
                  </a:solidFill>
                </a:ln>
              </p:spPr>
            </p:sp>
            <p:sp>
              <p:nvSpPr>
                <p:cNvPr id="292" name="Freeform 292"/>
                <p:cNvSpPr/>
                <p:nvPr/>
              </p:nvSpPr>
              <p:spPr>
                <a:xfrm>
                  <a:off x="2133600" y="5791200"/>
                  <a:ext cx="9525" cy="23812"/>
                </a:xfrm>
                <a:custGeom>
                  <a:avLst/>
                  <a:gdLst/>
                  <a:ahLst/>
                  <a:cxnLst/>
                  <a:rect l="l" t="t" r="r" b="b"/>
                  <a:pathLst>
                    <a:path w="9525" h="23812">
                      <a:moveTo>
                        <a:pt x="0" y="0"/>
                      </a:moveTo>
                      <a:lnTo>
                        <a:pt x="0" y="23812"/>
                      </a:lnTo>
                    </a:path>
                  </a:pathLst>
                </a:custGeom>
                <a:noFill/>
                <a:ln w="19050">
                  <a:solidFill>
                    <a:srgbClr val="92301C"/>
                  </a:solidFill>
                </a:ln>
              </p:spPr>
            </p:sp>
          </p:grpSp>
          <p:sp>
            <p:nvSpPr>
              <p:cNvPr id="294" name="TextBox 294"/>
              <p:cNvSpPr txBox="1"/>
              <p:nvPr/>
            </p:nvSpPr>
            <p:spPr>
              <a:xfrm>
                <a:off x="2319338" y="57416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隐私授权</a:t>
                </a:r>
              </a:p>
            </p:txBody>
          </p:sp>
          <p:sp>
            <p:nvSpPr>
              <p:cNvPr id="295" name="TextBox 295"/>
              <p:cNvSpPr txBox="1"/>
              <p:nvPr/>
            </p:nvSpPr>
            <p:spPr>
              <a:xfrm>
                <a:off x="1995488" y="6027182"/>
                <a:ext cx="111960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客户知情同意与数据最小化</a:t>
                </a:r>
              </a:p>
            </p:txBody>
          </p:sp>
          <p:sp>
            <p:nvSpPr>
              <p:cNvPr id="296" name="TextBox 296"/>
              <p:cNvSpPr txBox="1"/>
              <p:nvPr/>
            </p:nvSpPr>
            <p:spPr>
              <a:xfrm>
                <a:off x="1995488" y="6179582"/>
                <a:ext cx="111960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全流程数据加密与访问控制</a:t>
                </a:r>
              </a:p>
            </p:txBody>
          </p:sp>
        </p:grpSp>
        <p:grpSp>
          <p:nvGrpSpPr>
            <p:cNvPr id="305" name="bc-3"/>
            <p:cNvGrpSpPr/>
            <p:nvPr/>
          </p:nvGrpSpPr>
          <p:grpSpPr>
            <a:xfrm>
              <a:off x="3657600" y="5562600"/>
              <a:ext cx="1638300" cy="1009650"/>
              <a:chOff x="3657600" y="5562600"/>
              <a:chExt cx="1638300" cy="1009650"/>
            </a:xfrm>
          </p:grpSpPr>
          <p:sp>
            <p:nvSpPr>
              <p:cNvPr id="298" name="Rectangle 298"/>
              <p:cNvSpPr/>
              <p:nvPr/>
            </p:nvSpPr>
            <p:spPr>
              <a:xfrm>
                <a:off x="3657600" y="5562600"/>
                <a:ext cx="1638300" cy="1009650"/>
              </a:xfrm>
              <a:prstGeom prst="roundRect">
                <a:avLst>
                  <a:gd name="adj" fmla="val 5660"/>
                </a:avLst>
              </a:prstGeom>
              <a:solidFill>
                <a:srgbClr val="F6F9FD"/>
              </a:solidFill>
              <a:ln w="9525">
                <a:solidFill>
                  <a:srgbClr val="CFDFEE"/>
                </a:solidFill>
              </a:ln>
            </p:spPr>
          </p:sp>
          <p:grpSp>
            <p:nvGrpSpPr>
              <p:cNvPr id="301" name="Group 301"/>
              <p:cNvGrpSpPr/>
              <p:nvPr/>
            </p:nvGrpSpPr>
            <p:grpSpPr>
              <a:xfrm>
                <a:off x="3781425" y="5734050"/>
                <a:ext cx="171450" cy="114300"/>
                <a:chOff x="3781425" y="5734050"/>
                <a:chExt cx="171450" cy="114300"/>
              </a:xfrm>
            </p:grpSpPr>
            <p:sp>
              <p:nvSpPr>
                <p:cNvPr id="299" name="Freeform 299"/>
                <p:cNvSpPr/>
                <p:nvPr/>
              </p:nvSpPr>
              <p:spPr>
                <a:xfrm>
                  <a:off x="3848100" y="57721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2301C"/>
                  </a:solidFill>
                </a:ln>
              </p:spPr>
            </p:sp>
            <p:sp>
              <p:nvSpPr>
                <p:cNvPr id="300" name="Freeform 300"/>
                <p:cNvSpPr/>
                <p:nvPr/>
              </p:nvSpPr>
              <p:spPr>
                <a:xfrm>
                  <a:off x="3781425" y="5734050"/>
                  <a:ext cx="171450" cy="114300"/>
                </a:xfrm>
                <a:custGeom>
                  <a:avLst/>
                  <a:gdLst/>
                  <a:ahLst/>
                  <a:cxnLst/>
                  <a:rect l="l" t="t" r="r" b="b"/>
                  <a:pathLst>
                    <a:path w="171450" h="114300">
                      <a:moveTo>
                        <a:pt x="171450" y="57150"/>
                      </a:moveTo>
                      <a:cubicBezTo>
                        <a:pt x="148590" y="95250"/>
                        <a:pt x="120015" y="114300"/>
                        <a:pt x="85725" y="114300"/>
                      </a:cubicBezTo>
                      <a:cubicBezTo>
                        <a:pt x="51435" y="114300"/>
                        <a:pt x="22860" y="95250"/>
                        <a:pt x="0" y="57150"/>
                      </a:cubicBezTo>
                      <a:cubicBezTo>
                        <a:pt x="22860" y="19050"/>
                        <a:pt x="51435" y="0"/>
                        <a:pt x="85725" y="0"/>
                      </a:cubicBezTo>
                      <a:cubicBezTo>
                        <a:pt x="120015" y="0"/>
                        <a:pt x="148590" y="19050"/>
                        <a:pt x="171450" y="57150"/>
                      </a:cubicBezTo>
                    </a:path>
                  </a:pathLst>
                </a:custGeom>
                <a:noFill/>
                <a:ln w="19050">
                  <a:solidFill>
                    <a:srgbClr val="92301C"/>
                  </a:solidFill>
                </a:ln>
              </p:spPr>
            </p:sp>
          </p:grpSp>
          <p:sp>
            <p:nvSpPr>
              <p:cNvPr id="302" name="TextBox 302"/>
              <p:cNvSpPr txBox="1"/>
              <p:nvPr/>
            </p:nvSpPr>
            <p:spPr>
              <a:xfrm>
                <a:off x="4052888" y="57416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可解释性</a:t>
                </a:r>
              </a:p>
            </p:txBody>
          </p:sp>
          <p:sp>
            <p:nvSpPr>
              <p:cNvPr id="303" name="TextBox 303"/>
              <p:cNvSpPr txBox="1"/>
              <p:nvPr/>
            </p:nvSpPr>
            <p:spPr>
              <a:xfrm>
                <a:off x="3729038" y="6027182"/>
                <a:ext cx="120576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提供清晰的核保依据与证据链</a:t>
                </a:r>
              </a:p>
            </p:txBody>
          </p:sp>
          <p:sp>
            <p:nvSpPr>
              <p:cNvPr id="304" name="TextBox 304"/>
              <p:cNvSpPr txBox="1"/>
              <p:nvPr/>
            </p:nvSpPr>
            <p:spPr>
              <a:xfrm>
                <a:off x="3729038" y="6179582"/>
                <a:ext cx="86113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支持人工复核与申诉</a:t>
                </a:r>
              </a:p>
            </p:txBody>
          </p:sp>
        </p:grpSp>
        <p:grpSp>
          <p:nvGrpSpPr>
            <p:cNvPr id="317" name="bc-4"/>
            <p:cNvGrpSpPr/>
            <p:nvPr/>
          </p:nvGrpSpPr>
          <p:grpSpPr>
            <a:xfrm>
              <a:off x="5391150" y="5562600"/>
              <a:ext cx="1638300" cy="1009650"/>
              <a:chOff x="5391150" y="5562600"/>
              <a:chExt cx="1638300" cy="1009650"/>
            </a:xfrm>
          </p:grpSpPr>
          <p:sp>
            <p:nvSpPr>
              <p:cNvPr id="306" name="Rectangle 306"/>
              <p:cNvSpPr/>
              <p:nvPr/>
            </p:nvSpPr>
            <p:spPr>
              <a:xfrm>
                <a:off x="5391150" y="5562600"/>
                <a:ext cx="1638300" cy="1009650"/>
              </a:xfrm>
              <a:prstGeom prst="roundRect">
                <a:avLst>
                  <a:gd name="adj" fmla="val 5660"/>
                </a:avLst>
              </a:prstGeom>
              <a:solidFill>
                <a:srgbClr val="F6F9FD"/>
              </a:solidFill>
              <a:ln w="9525">
                <a:solidFill>
                  <a:srgbClr val="CFDFEE"/>
                </a:solidFill>
              </a:ln>
            </p:spPr>
          </p:sp>
          <p:grpSp>
            <p:nvGrpSpPr>
              <p:cNvPr id="313" name="Group 313"/>
              <p:cNvGrpSpPr/>
              <p:nvPr/>
            </p:nvGrpSpPr>
            <p:grpSpPr>
              <a:xfrm>
                <a:off x="5514975" y="5705475"/>
                <a:ext cx="171450" cy="171450"/>
                <a:chOff x="5514975" y="5705475"/>
                <a:chExt cx="171450" cy="171450"/>
              </a:xfrm>
            </p:grpSpPr>
            <p:sp>
              <p:nvSpPr>
                <p:cNvPr id="307" name="Freeform 307"/>
                <p:cNvSpPr/>
                <p:nvPr/>
              </p:nvSpPr>
              <p:spPr>
                <a:xfrm>
                  <a:off x="5581650" y="5781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2301C"/>
                  </a:solidFill>
                </a:ln>
              </p:spPr>
            </p:sp>
            <p:sp>
              <p:nvSpPr>
                <p:cNvPr id="308" name="Freeform 308"/>
                <p:cNvSpPr/>
                <p:nvPr/>
              </p:nvSpPr>
              <p:spPr>
                <a:xfrm>
                  <a:off x="5562600" y="58483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92301C"/>
                  </a:solidFill>
                </a:ln>
              </p:spPr>
            </p:sp>
            <p:sp>
              <p:nvSpPr>
                <p:cNvPr id="309" name="Freeform 309"/>
                <p:cNvSpPr/>
                <p:nvPr/>
              </p:nvSpPr>
              <p:spPr>
                <a:xfrm>
                  <a:off x="5629275" y="5705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2301C"/>
                  </a:solidFill>
                </a:ln>
              </p:spPr>
            </p:sp>
            <p:sp>
              <p:nvSpPr>
                <p:cNvPr id="310" name="Freeform 310"/>
                <p:cNvSpPr/>
                <p:nvPr/>
              </p:nvSpPr>
              <p:spPr>
                <a:xfrm>
                  <a:off x="5648325" y="57721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92301C"/>
                  </a:solidFill>
                </a:ln>
              </p:spPr>
            </p:sp>
            <p:sp>
              <p:nvSpPr>
                <p:cNvPr id="311" name="Freeform 311"/>
                <p:cNvSpPr/>
                <p:nvPr/>
              </p:nvSpPr>
              <p:spPr>
                <a:xfrm>
                  <a:off x="5534025" y="5705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2301C"/>
                  </a:solidFill>
                </a:ln>
              </p:spPr>
            </p:sp>
            <p:sp>
              <p:nvSpPr>
                <p:cNvPr id="312" name="Freeform 312"/>
                <p:cNvSpPr/>
                <p:nvPr/>
              </p:nvSpPr>
              <p:spPr>
                <a:xfrm>
                  <a:off x="5514975" y="57721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92301C"/>
                  </a:solidFill>
                </a:ln>
              </p:spPr>
            </p:sp>
          </p:grpSp>
          <p:sp>
            <p:nvSpPr>
              <p:cNvPr id="314" name="TextBox 314"/>
              <p:cNvSpPr txBox="1"/>
              <p:nvPr/>
            </p:nvSpPr>
            <p:spPr>
              <a:xfrm>
                <a:off x="5786438" y="57416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人工确认</a:t>
                </a:r>
              </a:p>
            </p:txBody>
          </p:sp>
          <p:sp>
            <p:nvSpPr>
              <p:cNvPr id="315" name="TextBox 315"/>
              <p:cNvSpPr txBox="1"/>
              <p:nvPr/>
            </p:nvSpPr>
            <p:spPr>
              <a:xfrm>
                <a:off x="5462588" y="6027182"/>
                <a:ext cx="1205763" cy="126206"/>
              </a:xfrm>
              <a:prstGeom prst="rect">
                <a:avLst/>
              </a:prstGeom>
              <a:noFill/>
              <a:ln>
                <a:noFill/>
              </a:ln>
            </p:spPr>
            <p:txBody>
              <a:bodyPr wrap="none" lIns="0" tIns="0" rIns="0" bIns="0" anchor="t" anchorCtr="0">
                <a:spAutoFit/>
              </a:bodyPr>
              <a:lstStyle/>
              <a:p>
                <a:pPr algn="l" marL="76200" indent="-76200">
                  <a:buClr>
                    <a:srgbClr val="6B1B0B"/>
                  </a:buClr>
                  <a:buSzTx/>
                  <a:buFontTx/>
                  <a:buChar char="•"/>
                </a:pPr>
                <a:r>
                  <a:rPr lang="zh-CN" sz="640" b="1" dirty="0">
                    <a:solidFill>
                      <a:srgbClr val="6B1B0B"/>
                    </a:solidFill>
                    <a:latin typeface="+mn-lt"/>
                    <a:ea typeface="+mn-ea"/>
                    <a:cs typeface="+mn-cs"/>
                  </a:rPr>
                  <a:t>重大风险识别、交易、投资、</a:t>
                </a:r>
              </a:p>
            </p:txBody>
          </p:sp>
          <p:sp>
            <p:nvSpPr>
              <p:cNvPr id="316" name="TextBox 316"/>
              <p:cNvSpPr txBox="1"/>
              <p:nvPr/>
            </p:nvSpPr>
            <p:spPr>
              <a:xfrm>
                <a:off x="5462588" y="6179582"/>
                <a:ext cx="957250" cy="126206"/>
              </a:xfrm>
              <a:prstGeom prst="rect">
                <a:avLst/>
              </a:prstGeom>
              <a:noFill/>
              <a:ln>
                <a:noFill/>
              </a:ln>
            </p:spPr>
            <p:txBody>
              <a:bodyPr wrap="none" lIns="0" tIns="0" rIns="0" bIns="0" anchor="t" anchorCtr="0">
                <a:spAutoFit/>
              </a:bodyPr>
              <a:lstStyle/>
              <a:p>
                <a:pPr algn="l"/>
                <a:r>
                  <a:rPr lang="zh-CN" sz="640" b="1" dirty="0">
                    <a:solidFill>
                      <a:srgbClr val="6B1B0B"/>
                    </a:solidFill>
                    <a:latin typeface="+mn-lt"/>
                    <a:ea typeface="+mn-ea"/>
                    <a:cs typeface="+mn-cs"/>
                  </a:rPr>
                  <a:t>承保必须由授权人员确认</a:t>
                </a:r>
              </a:p>
            </p:txBody>
          </p:sp>
        </p:grpSp>
      </p:grpSp>
      <p:grpSp>
        <p:nvGrpSpPr>
          <p:cNvPr id="321" name="kpi-head"/>
          <p:cNvGrpSpPr/>
          <p:nvPr/>
        </p:nvGrpSpPr>
        <p:grpSpPr>
          <a:xfrm>
            <a:off x="7124700" y="5257800"/>
            <a:ext cx="4876800" cy="272987"/>
            <a:chOff x="7124700" y="5257800"/>
            <a:chExt cx="4876800" cy="272987"/>
          </a:xfrm>
        </p:grpSpPr>
        <p:sp>
          <p:nvSpPr>
            <p:cNvPr id="319" name="Rectangle 319"/>
            <p:cNvSpPr/>
            <p:nvPr/>
          </p:nvSpPr>
          <p:spPr>
            <a:xfrm>
              <a:off x="7124700" y="5257800"/>
              <a:ext cx="4876800" cy="266700"/>
            </a:xfrm>
            <a:prstGeom prst="rect">
              <a:avLst/>
            </a:prstGeom>
            <a:gradFill>
              <a:gsLst>
                <a:gs pos="0">
                  <a:srgbClr val="92301C"/>
                </a:gs>
                <a:gs pos="100000">
                  <a:srgbClr val="B7533F"/>
                </a:gs>
              </a:gsLst>
              <a:lin ang="0" scaled="1"/>
            </a:gradFill>
            <a:ln>
              <a:noFill/>
            </a:ln>
          </p:spPr>
        </p:sp>
        <p:sp>
          <p:nvSpPr>
            <p:cNvPr id="320" name="TextBox 320"/>
            <p:cNvSpPr txBox="1"/>
            <p:nvPr/>
          </p:nvSpPr>
          <p:spPr>
            <a:xfrm>
              <a:off x="7252716" y="5325428"/>
              <a:ext cx="123840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业务价值</a:t>
              </a:r>
              <a:r>
                <a:rPr lang="zh-CN" sz="820" dirty="0">
                  <a:solidFill>
                    <a:srgbClr val="FFFFFF"/>
                  </a:solidFill>
                  <a:latin typeface="+mn-lt"/>
                  <a:ea typeface="+mn-ea"/>
                  <a:cs typeface="+mn-cs"/>
                </a:rPr>
                <a:t>（示例测算）</a:t>
              </a:r>
            </a:p>
          </p:txBody>
        </p:sp>
      </p:grpSp>
      <p:grpSp>
        <p:nvGrpSpPr>
          <p:cNvPr id="341" name="kpi-cards"/>
          <p:cNvGrpSpPr/>
          <p:nvPr/>
        </p:nvGrpSpPr>
        <p:grpSpPr>
          <a:xfrm>
            <a:off x="7124700" y="5562600"/>
            <a:ext cx="4876800" cy="1009650"/>
            <a:chOff x="7124700" y="5562600"/>
            <a:chExt cx="4876800" cy="1009650"/>
          </a:xfrm>
        </p:grpSpPr>
        <p:sp>
          <p:nvSpPr>
            <p:cNvPr id="322" name="Rectangle 322"/>
            <p:cNvSpPr/>
            <p:nvPr/>
          </p:nvSpPr>
          <p:spPr>
            <a:xfrm>
              <a:off x="7124700" y="5562600"/>
              <a:ext cx="2381250" cy="1009650"/>
            </a:xfrm>
            <a:prstGeom prst="roundRect">
              <a:avLst>
                <a:gd name="adj" fmla="val 5660"/>
              </a:avLst>
            </a:prstGeom>
            <a:solidFill>
              <a:srgbClr val="EEF5FB"/>
            </a:solidFill>
            <a:ln>
              <a:noFill/>
            </a:ln>
          </p:spPr>
        </p:sp>
        <p:sp>
          <p:nvSpPr>
            <p:cNvPr id="323" name="Ellipse 323"/>
            <p:cNvSpPr/>
            <p:nvPr/>
          </p:nvSpPr>
          <p:spPr>
            <a:xfrm>
              <a:off x="7239000" y="5695950"/>
              <a:ext cx="304800" cy="304800"/>
            </a:xfrm>
            <a:prstGeom prst="ellipse">
              <a:avLst/>
            </a:prstGeom>
            <a:solidFill>
              <a:srgbClr val="92301C"/>
            </a:solidFill>
            <a:ln>
              <a:noFill/>
            </a:ln>
          </p:spPr>
        </p:sp>
        <p:grpSp>
          <p:nvGrpSpPr>
            <p:cNvPr id="326" name="Group 326"/>
            <p:cNvGrpSpPr/>
            <p:nvPr/>
          </p:nvGrpSpPr>
          <p:grpSpPr>
            <a:xfrm>
              <a:off x="7319962" y="5776912"/>
              <a:ext cx="142875" cy="142875"/>
              <a:chOff x="7319962" y="5776912"/>
              <a:chExt cx="142875" cy="142875"/>
            </a:xfrm>
          </p:grpSpPr>
          <p:sp>
            <p:nvSpPr>
              <p:cNvPr id="324" name="Freeform 324"/>
              <p:cNvSpPr/>
              <p:nvPr/>
            </p:nvSpPr>
            <p:spPr>
              <a:xfrm>
                <a:off x="7319962" y="57769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sp>
            <p:nvSpPr>
              <p:cNvPr id="325" name="Freeform 325"/>
              <p:cNvSpPr/>
              <p:nvPr/>
            </p:nvSpPr>
            <p:spPr>
              <a:xfrm>
                <a:off x="7391400" y="5808662"/>
                <a:ext cx="23812" cy="63500"/>
              </a:xfrm>
              <a:custGeom>
                <a:avLst/>
                <a:gdLst/>
                <a:ahLst/>
                <a:cxnLst/>
                <a:rect l="l" t="t" r="r" b="b"/>
                <a:pathLst>
                  <a:path w="23812" h="63500">
                    <a:moveTo>
                      <a:pt x="0" y="0"/>
                    </a:moveTo>
                    <a:lnTo>
                      <a:pt x="0" y="39687"/>
                    </a:lnTo>
                    <a:lnTo>
                      <a:pt x="23812" y="63500"/>
                    </a:lnTo>
                  </a:path>
                </a:pathLst>
              </a:custGeom>
              <a:noFill/>
              <a:ln w="15875">
                <a:solidFill>
                  <a:srgbClr val="FFFFFF"/>
                </a:solidFill>
              </a:ln>
            </p:spPr>
          </p:sp>
        </p:grpSp>
        <p:sp>
          <p:nvSpPr>
            <p:cNvPr id="327" name="TextBox 327"/>
            <p:cNvSpPr txBox="1"/>
            <p:nvPr/>
          </p:nvSpPr>
          <p:spPr>
            <a:xfrm>
              <a:off x="7653338" y="5789295"/>
              <a:ext cx="736473"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核保准备时间</a:t>
              </a:r>
            </a:p>
          </p:txBody>
        </p:sp>
        <p:sp>
          <p:nvSpPr>
            <p:cNvPr id="328" name="TextBox 328"/>
            <p:cNvSpPr txBox="1"/>
            <p:nvPr/>
          </p:nvSpPr>
          <p:spPr>
            <a:xfrm>
              <a:off x="7648194" y="601884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-55%　</a:t>
              </a:r>
            </a:p>
          </p:txBody>
        </p:sp>
        <p:sp>
          <p:nvSpPr>
            <p:cNvPr id="329" name="TextBox 329"/>
            <p:cNvSpPr txBox="1"/>
            <p:nvPr/>
          </p:nvSpPr>
          <p:spPr>
            <a:xfrm>
              <a:off x="765333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330" name="Rectangle 330"/>
            <p:cNvSpPr/>
            <p:nvPr/>
          </p:nvSpPr>
          <p:spPr>
            <a:xfrm>
              <a:off x="9620250" y="5562600"/>
              <a:ext cx="2381250" cy="1009650"/>
            </a:xfrm>
            <a:prstGeom prst="roundRect">
              <a:avLst>
                <a:gd name="adj" fmla="val 5660"/>
              </a:avLst>
            </a:prstGeom>
            <a:solidFill>
              <a:srgbClr val="EEF5FB"/>
            </a:solidFill>
            <a:ln>
              <a:noFill/>
            </a:ln>
          </p:spPr>
        </p:sp>
        <p:sp>
          <p:nvSpPr>
            <p:cNvPr id="331" name="Ellipse 331"/>
            <p:cNvSpPr/>
            <p:nvPr/>
          </p:nvSpPr>
          <p:spPr>
            <a:xfrm>
              <a:off x="9734550" y="5695950"/>
              <a:ext cx="304800" cy="304800"/>
            </a:xfrm>
            <a:prstGeom prst="ellipse">
              <a:avLst/>
            </a:prstGeom>
            <a:solidFill>
              <a:srgbClr val="92301C"/>
            </a:solidFill>
            <a:ln>
              <a:noFill/>
            </a:ln>
          </p:spPr>
        </p:sp>
        <p:grpSp>
          <p:nvGrpSpPr>
            <p:cNvPr id="337" name="Group 337"/>
            <p:cNvGrpSpPr/>
            <p:nvPr/>
          </p:nvGrpSpPr>
          <p:grpSpPr>
            <a:xfrm>
              <a:off x="9831387" y="5776912"/>
              <a:ext cx="111125" cy="142875"/>
              <a:chOff x="9831387" y="5776912"/>
              <a:chExt cx="111125" cy="142875"/>
            </a:xfrm>
          </p:grpSpPr>
          <p:sp>
            <p:nvSpPr>
              <p:cNvPr id="332" name="Freeform 332"/>
              <p:cNvSpPr/>
              <p:nvPr/>
            </p:nvSpPr>
            <p:spPr>
              <a:xfrm>
                <a:off x="9902825" y="57769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333" name="Freeform 333"/>
              <p:cNvSpPr/>
              <p:nvPr/>
            </p:nvSpPr>
            <p:spPr>
              <a:xfrm>
                <a:off x="9831387" y="57769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334" name="Freeform 334"/>
              <p:cNvSpPr/>
              <p:nvPr/>
            </p:nvSpPr>
            <p:spPr>
              <a:xfrm>
                <a:off x="9863137" y="582453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335" name="Freeform 335"/>
              <p:cNvSpPr/>
              <p:nvPr/>
            </p:nvSpPr>
            <p:spPr>
              <a:xfrm>
                <a:off x="9863137" y="585628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336" name="Freeform 336"/>
              <p:cNvSpPr/>
              <p:nvPr/>
            </p:nvSpPr>
            <p:spPr>
              <a:xfrm>
                <a:off x="9863137" y="588803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338" name="TextBox 338"/>
            <p:cNvSpPr txBox="1"/>
            <p:nvPr/>
          </p:nvSpPr>
          <p:spPr>
            <a:xfrm>
              <a:off x="10148888" y="5789295"/>
              <a:ext cx="615315"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材料缺失率</a:t>
              </a:r>
            </a:p>
          </p:txBody>
        </p:sp>
        <p:sp>
          <p:nvSpPr>
            <p:cNvPr id="339" name="TextBox 339"/>
            <p:cNvSpPr txBox="1"/>
            <p:nvPr/>
          </p:nvSpPr>
          <p:spPr>
            <a:xfrm>
              <a:off x="10143744" y="601884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-35%　</a:t>
              </a:r>
            </a:p>
          </p:txBody>
        </p:sp>
        <p:sp>
          <p:nvSpPr>
            <p:cNvPr id="340" name="TextBox 340"/>
            <p:cNvSpPr txBox="1"/>
            <p:nvPr/>
          </p:nvSpPr>
          <p:spPr>
            <a:xfrm>
              <a:off x="1014888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grpSp>
      <p:grpSp>
        <p:nvGrpSpPr>
          <p:cNvPr id="348" name="footer-band"/>
          <p:cNvGrpSpPr/>
          <p:nvPr/>
        </p:nvGrpSpPr>
        <p:grpSpPr>
          <a:xfrm>
            <a:off x="190500" y="6610350"/>
            <a:ext cx="11811000" cy="231457"/>
            <a:chOff x="190500" y="6610350"/>
            <a:chExt cx="11811000" cy="231457"/>
          </a:xfrm>
        </p:grpSpPr>
        <p:sp>
          <p:nvSpPr>
            <p:cNvPr id="342" name="Rectangle 342"/>
            <p:cNvSpPr/>
            <p:nvPr/>
          </p:nvSpPr>
          <p:spPr>
            <a:xfrm>
              <a:off x="190500" y="6610350"/>
              <a:ext cx="11811000" cy="228600"/>
            </a:xfrm>
            <a:prstGeom prst="roundRect">
              <a:avLst>
                <a:gd name="adj" fmla="val 50000"/>
              </a:avLst>
            </a:prstGeom>
            <a:solidFill>
              <a:srgbClr val="EEF5FB"/>
            </a:solidFill>
            <a:ln>
              <a:noFill/>
            </a:ln>
          </p:spPr>
        </p:sp>
        <p:sp>
          <p:nvSpPr>
            <p:cNvPr id="343" name="Ellipse 343"/>
            <p:cNvSpPr/>
            <p:nvPr/>
          </p:nvSpPr>
          <p:spPr>
            <a:xfrm>
              <a:off x="304800" y="6648450"/>
              <a:ext cx="152400" cy="152400"/>
            </a:xfrm>
            <a:prstGeom prst="ellipse">
              <a:avLst/>
            </a:prstGeom>
            <a:solidFill>
              <a:srgbClr val="92301C"/>
            </a:solidFill>
            <a:ln>
              <a:noFill/>
            </a:ln>
          </p:spPr>
        </p:sp>
        <p:sp>
          <p:nvSpPr>
            <p:cNvPr id="344" name="TextBox 344"/>
            <p:cNvSpPr txBox="1"/>
            <p:nvPr/>
          </p:nvSpPr>
          <p:spPr>
            <a:xfrm>
              <a:off x="359427" y="6681788"/>
              <a:ext cx="43146"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a:t>
              </a:r>
            </a:p>
          </p:txBody>
        </p:sp>
        <p:sp>
          <p:nvSpPr>
            <p:cNvPr id="345" name="TextBox 345"/>
            <p:cNvSpPr txBox="1"/>
            <p:nvPr/>
          </p:nvSpPr>
          <p:spPr>
            <a:xfrm>
              <a:off x="528638" y="6685836"/>
              <a:ext cx="3354832" cy="140494"/>
            </a:xfrm>
            <a:prstGeom prst="rect">
              <a:avLst/>
            </a:prstGeom>
            <a:noFill/>
            <a:ln>
              <a:noFill/>
            </a:ln>
          </p:spPr>
          <p:txBody>
            <a:bodyPr wrap="none" lIns="0" tIns="0" rIns="0" bIns="0" anchor="t" anchorCtr="0">
              <a:spAutoFit/>
            </a:bodyPr>
            <a:lstStyle/>
            <a:p>
              <a:pPr algn="l"/>
              <a:r>
                <a:rPr lang="zh-CN" sz="710" dirty="0">
                  <a:solidFill>
                    <a:srgbClr val="6B1B0B"/>
                  </a:solidFill>
                  <a:latin typeface="+mn-lt"/>
                  <a:ea typeface="+mn-ea"/>
                  <a:cs typeface="+mn-cs"/>
                </a:rPr>
                <a:t>注：本页为方案示例，相关数据为示例测算，具体以实际业务与监管要求为准。</a:t>
              </a:r>
            </a:p>
          </p:txBody>
        </p:sp>
        <p:sp>
          <p:nvSpPr>
            <p:cNvPr id="346" name="Line 346"/>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47" name="TextBox 347"/>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12</a:t>
              </a:r>
            </a:p>
          </p:txBody>
        </p:sp>
      </p:gr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12</a:t>
              </a:r>
            </a:p>
          </p:txBody>
        </p:sp>
        <p:sp>
          <p:nvSpPr>
            <p:cNvPr id="4" name="TextBox 4"/>
            <p:cNvSpPr txBox="1"/>
            <p:nvPr/>
          </p:nvSpPr>
          <p:spPr>
            <a:xfrm>
              <a:off x="942594" y="170498"/>
              <a:ext cx="1857375"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理赔审核智能体</a:t>
              </a:r>
            </a:p>
          </p:txBody>
        </p:sp>
        <p:sp>
          <p:nvSpPr>
            <p:cNvPr id="5" name="TextBox 5"/>
            <p:cNvSpPr txBox="1"/>
            <p:nvPr/>
          </p:nvSpPr>
          <p:spPr>
            <a:xfrm>
              <a:off x="10353633" y="238839"/>
              <a:ext cx="1652629"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专业 · 稳健 · 数据驱动 · 价值共创</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0" name="col1-head"/>
          <p:cNvGrpSpPr/>
          <p:nvPr/>
        </p:nvGrpSpPr>
        <p:grpSpPr>
          <a:xfrm>
            <a:off x="190500" y="628650"/>
            <a:ext cx="2171700" cy="279559"/>
            <a:chOff x="190500" y="628650"/>
            <a:chExt cx="2171700" cy="279559"/>
          </a:xfrm>
        </p:grpSpPr>
        <p:sp>
          <p:nvSpPr>
            <p:cNvPr id="8" name="Rectangle 8"/>
            <p:cNvSpPr/>
            <p:nvPr/>
          </p:nvSpPr>
          <p:spPr>
            <a:xfrm>
              <a:off x="190500" y="628650"/>
              <a:ext cx="2171700" cy="266700"/>
            </a:xfrm>
            <a:prstGeom prst="rect">
              <a:avLst/>
            </a:prstGeom>
            <a:gradFill>
              <a:gsLst>
                <a:gs pos="0">
                  <a:srgbClr val="92301C"/>
                </a:gs>
                <a:gs pos="100000">
                  <a:srgbClr val="B7533F"/>
                </a:gs>
              </a:gsLst>
              <a:lin ang="0" scaled="1"/>
            </a:gradFill>
            <a:ln>
              <a:noFill/>
            </a:ln>
          </p:spPr>
        </p:sp>
        <p:sp>
          <p:nvSpPr>
            <p:cNvPr id="9" name="TextBox 9"/>
            <p:cNvSpPr txBox="1"/>
            <p:nvPr/>
          </p:nvSpPr>
          <p:spPr>
            <a:xfrm>
              <a:off x="318135" y="6881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数据输入</a:t>
              </a:r>
            </a:p>
          </p:txBody>
        </p:sp>
      </p:grpSp>
      <p:grpSp>
        <p:nvGrpSpPr>
          <p:cNvPr id="13" name="col2-head"/>
          <p:cNvGrpSpPr/>
          <p:nvPr/>
        </p:nvGrpSpPr>
        <p:grpSpPr>
          <a:xfrm>
            <a:off x="2457450" y="628650"/>
            <a:ext cx="4572000" cy="279559"/>
            <a:chOff x="2457450" y="628650"/>
            <a:chExt cx="4572000" cy="279559"/>
          </a:xfrm>
        </p:grpSpPr>
        <p:sp>
          <p:nvSpPr>
            <p:cNvPr id="11" name="Rectangle 11"/>
            <p:cNvSpPr/>
            <p:nvPr/>
          </p:nvSpPr>
          <p:spPr>
            <a:xfrm>
              <a:off x="2457450" y="628650"/>
              <a:ext cx="4572000" cy="266700"/>
            </a:xfrm>
            <a:prstGeom prst="rect">
              <a:avLst/>
            </a:prstGeom>
            <a:gradFill>
              <a:gsLst>
                <a:gs pos="0">
                  <a:srgbClr val="92301C"/>
                </a:gs>
                <a:gs pos="100000">
                  <a:srgbClr val="B7533F"/>
                </a:gs>
              </a:gsLst>
              <a:lin ang="0" scaled="1"/>
            </a:gradFill>
            <a:ln>
              <a:noFill/>
            </a:ln>
          </p:spPr>
        </p:sp>
        <p:sp>
          <p:nvSpPr>
            <p:cNvPr id="12" name="TextBox 12"/>
            <p:cNvSpPr txBox="1"/>
            <p:nvPr/>
          </p:nvSpPr>
          <p:spPr>
            <a:xfrm>
              <a:off x="2585085" y="688181"/>
              <a:ext cx="121762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理赔审核六步流程</a:t>
              </a:r>
            </a:p>
          </p:txBody>
        </p:sp>
      </p:grpSp>
      <p:grpSp>
        <p:nvGrpSpPr>
          <p:cNvPr id="16" name="col3-head"/>
          <p:cNvGrpSpPr/>
          <p:nvPr/>
        </p:nvGrpSpPr>
        <p:grpSpPr>
          <a:xfrm>
            <a:off x="7124700" y="628650"/>
            <a:ext cx="4876800" cy="279559"/>
            <a:chOff x="7124700" y="628650"/>
            <a:chExt cx="4876800" cy="279559"/>
          </a:xfrm>
        </p:grpSpPr>
        <p:sp>
          <p:nvSpPr>
            <p:cNvPr id="14" name="Rectangle 14"/>
            <p:cNvSpPr/>
            <p:nvPr/>
          </p:nvSpPr>
          <p:spPr>
            <a:xfrm>
              <a:off x="7124700" y="628650"/>
              <a:ext cx="4876800" cy="266700"/>
            </a:xfrm>
            <a:prstGeom prst="rect">
              <a:avLst/>
            </a:prstGeom>
            <a:gradFill>
              <a:gsLst>
                <a:gs pos="0">
                  <a:srgbClr val="92301C"/>
                </a:gs>
                <a:gs pos="100000">
                  <a:srgbClr val="B7533F"/>
                </a:gs>
              </a:gsLst>
              <a:lin ang="0" scaled="1"/>
            </a:gradFill>
            <a:ln>
              <a:noFill/>
            </a:ln>
          </p:spPr>
        </p:sp>
        <p:sp>
          <p:nvSpPr>
            <p:cNvPr id="15" name="TextBox 15"/>
            <p:cNvSpPr txBox="1"/>
            <p:nvPr/>
          </p:nvSpPr>
          <p:spPr>
            <a:xfrm>
              <a:off x="7252335" y="688181"/>
              <a:ext cx="170535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理赔风险矩阵</a:t>
              </a:r>
              <a:r>
                <a:rPr lang="zh-CN" sz="820" dirty="0">
                  <a:solidFill>
                    <a:srgbClr val="FFFFFF"/>
                  </a:solidFill>
                  <a:latin typeface="+mn-lt"/>
                  <a:ea typeface="+mn-ea"/>
                  <a:cs typeface="+mn-cs"/>
                </a:rPr>
                <a:t>（金额 × 疑点）</a:t>
              </a:r>
            </a:p>
          </p:txBody>
        </p:sp>
      </p:grpSp>
      <p:grpSp>
        <p:nvGrpSpPr>
          <p:cNvPr id="66" name="left-cards"/>
          <p:cNvGrpSpPr/>
          <p:nvPr/>
        </p:nvGrpSpPr>
        <p:grpSpPr>
          <a:xfrm>
            <a:off x="190500" y="990600"/>
            <a:ext cx="2171700" cy="4048125"/>
            <a:chOff x="190500" y="990600"/>
            <a:chExt cx="2171700" cy="4048125"/>
          </a:xfrm>
        </p:grpSpPr>
        <p:grpSp>
          <p:nvGrpSpPr>
            <p:cNvPr id="26" name="lc-1"/>
            <p:cNvGrpSpPr/>
            <p:nvPr/>
          </p:nvGrpSpPr>
          <p:grpSpPr>
            <a:xfrm>
              <a:off x="190500" y="990600"/>
              <a:ext cx="2171700" cy="571500"/>
              <a:chOff x="190500" y="990600"/>
              <a:chExt cx="2171700" cy="571500"/>
            </a:xfrm>
          </p:grpSpPr>
          <p:sp>
            <p:nvSpPr>
              <p:cNvPr id="17" name="Rectangle 17"/>
              <p:cNvSpPr/>
              <p:nvPr/>
            </p:nvSpPr>
            <p:spPr>
              <a:xfrm>
                <a:off x="190500" y="990600"/>
                <a:ext cx="2171700" cy="571500"/>
              </a:xfrm>
              <a:prstGeom prst="roundRect">
                <a:avLst>
                  <a:gd name="adj" fmla="val 10000"/>
                </a:avLst>
              </a:prstGeom>
              <a:solidFill>
                <a:srgbClr val="F6F9FD"/>
              </a:solidFill>
              <a:ln w="9525">
                <a:solidFill>
                  <a:srgbClr val="CFDFEE"/>
                </a:solidFill>
              </a:ln>
            </p:spPr>
          </p:sp>
          <p:grpSp>
            <p:nvGrpSpPr>
              <p:cNvPr id="23" name="Group 23"/>
              <p:cNvGrpSpPr/>
              <p:nvPr/>
            </p:nvGrpSpPr>
            <p:grpSpPr>
              <a:xfrm>
                <a:off x="337344" y="1183481"/>
                <a:ext cx="144462" cy="185737"/>
                <a:chOff x="337344" y="1183481"/>
                <a:chExt cx="144462" cy="185737"/>
              </a:xfrm>
            </p:grpSpPr>
            <p:sp>
              <p:nvSpPr>
                <p:cNvPr id="18" name="Freeform 18"/>
                <p:cNvSpPr/>
                <p:nvPr/>
              </p:nvSpPr>
              <p:spPr>
                <a:xfrm>
                  <a:off x="430212" y="1183481"/>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19" name="Freeform 19"/>
                <p:cNvSpPr/>
                <p:nvPr/>
              </p:nvSpPr>
              <p:spPr>
                <a:xfrm>
                  <a:off x="337344" y="1183481"/>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92301C"/>
                  </a:solidFill>
                </a:ln>
              </p:spPr>
            </p:sp>
            <p:sp>
              <p:nvSpPr>
                <p:cNvPr id="20" name="Freeform 20"/>
                <p:cNvSpPr/>
                <p:nvPr/>
              </p:nvSpPr>
              <p:spPr>
                <a:xfrm>
                  <a:off x="378618" y="1245393"/>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1" name="Freeform 21"/>
                <p:cNvSpPr/>
                <p:nvPr/>
              </p:nvSpPr>
              <p:spPr>
                <a:xfrm>
                  <a:off x="378618" y="1286668"/>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22" name="Freeform 22"/>
                <p:cNvSpPr/>
                <p:nvPr/>
              </p:nvSpPr>
              <p:spPr>
                <a:xfrm>
                  <a:off x="378618" y="1327943"/>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24" name="TextBox 24"/>
              <p:cNvSpPr txBox="1"/>
              <p:nvPr/>
            </p:nvSpPr>
            <p:spPr>
              <a:xfrm>
                <a:off x="623888" y="11179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理赔申请</a:t>
                </a:r>
              </a:p>
            </p:txBody>
          </p:sp>
          <p:sp>
            <p:nvSpPr>
              <p:cNvPr id="25" name="TextBox 25"/>
              <p:cNvSpPr txBox="1"/>
              <p:nvPr/>
            </p:nvSpPr>
            <p:spPr>
              <a:xfrm>
                <a:off x="623888" y="1323261"/>
                <a:ext cx="153880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报案信息、事故描述、申请人信息等</a:t>
                </a:r>
              </a:p>
            </p:txBody>
          </p:sp>
        </p:grpSp>
        <p:grpSp>
          <p:nvGrpSpPr>
            <p:cNvPr id="35" name="lc-2"/>
            <p:cNvGrpSpPr/>
            <p:nvPr/>
          </p:nvGrpSpPr>
          <p:grpSpPr>
            <a:xfrm>
              <a:off x="190500" y="1685925"/>
              <a:ext cx="2171700" cy="571500"/>
              <a:chOff x="190500" y="1685925"/>
              <a:chExt cx="2171700" cy="571500"/>
            </a:xfrm>
          </p:grpSpPr>
          <p:sp>
            <p:nvSpPr>
              <p:cNvPr id="27" name="Rectangle 27"/>
              <p:cNvSpPr/>
              <p:nvPr/>
            </p:nvSpPr>
            <p:spPr>
              <a:xfrm>
                <a:off x="190500" y="1685925"/>
                <a:ext cx="2171700" cy="571500"/>
              </a:xfrm>
              <a:prstGeom prst="roundRect">
                <a:avLst>
                  <a:gd name="adj" fmla="val 10000"/>
                </a:avLst>
              </a:prstGeom>
              <a:solidFill>
                <a:srgbClr val="F6F9FD"/>
              </a:solidFill>
              <a:ln w="9525">
                <a:solidFill>
                  <a:srgbClr val="CFDFEE"/>
                </a:solidFill>
              </a:ln>
            </p:spPr>
          </p:sp>
          <p:grpSp>
            <p:nvGrpSpPr>
              <p:cNvPr id="32" name="Group 32"/>
              <p:cNvGrpSpPr/>
              <p:nvPr/>
            </p:nvGrpSpPr>
            <p:grpSpPr>
              <a:xfrm>
                <a:off x="337344" y="1878806"/>
                <a:ext cx="144462" cy="185737"/>
                <a:chOff x="337344" y="1878806"/>
                <a:chExt cx="144462" cy="185737"/>
              </a:xfrm>
            </p:grpSpPr>
            <p:sp>
              <p:nvSpPr>
                <p:cNvPr id="28" name="Freeform 28"/>
                <p:cNvSpPr/>
                <p:nvPr/>
              </p:nvSpPr>
              <p:spPr>
                <a:xfrm>
                  <a:off x="337344" y="1899444"/>
                  <a:ext cx="144462" cy="165099"/>
                </a:xfrm>
                <a:custGeom>
                  <a:avLst/>
                  <a:gdLst/>
                  <a:ahLst/>
                  <a:cxnLst/>
                  <a:rect l="l" t="t" r="r" b="b"/>
                  <a:pathLst>
                    <a:path w="144462" h="165099">
                      <a:moveTo>
                        <a:pt x="41275" y="0"/>
                      </a:moveTo>
                      <a:lnTo>
                        <a:pt x="20637" y="0"/>
                      </a:lnTo>
                      <a:cubicBezTo>
                        <a:pt x="9240" y="0"/>
                        <a:pt x="0" y="9240"/>
                        <a:pt x="0" y="20637"/>
                      </a:cubicBezTo>
                      <a:lnTo>
                        <a:pt x="0" y="144462"/>
                      </a:lnTo>
                      <a:cubicBezTo>
                        <a:pt x="0" y="155860"/>
                        <a:pt x="9240" y="165099"/>
                        <a:pt x="20637" y="165099"/>
                      </a:cubicBezTo>
                      <a:lnTo>
                        <a:pt x="123825" y="165099"/>
                      </a:lnTo>
                      <a:cubicBezTo>
                        <a:pt x="135222" y="165099"/>
                        <a:pt x="144462" y="155860"/>
                        <a:pt x="144462" y="144462"/>
                      </a:cubicBezTo>
                      <a:lnTo>
                        <a:pt x="144462" y="20637"/>
                      </a:lnTo>
                      <a:cubicBezTo>
                        <a:pt x="144462" y="9240"/>
                        <a:pt x="135222" y="0"/>
                        <a:pt x="123825" y="0"/>
                      </a:cubicBezTo>
                      <a:lnTo>
                        <a:pt x="103187" y="0"/>
                      </a:lnTo>
                    </a:path>
                  </a:pathLst>
                </a:custGeom>
                <a:noFill/>
                <a:ln w="20637">
                  <a:solidFill>
                    <a:srgbClr val="92301C"/>
                  </a:solidFill>
                </a:ln>
              </p:spPr>
            </p:sp>
            <p:sp>
              <p:nvSpPr>
                <p:cNvPr id="29" name="Freeform 29"/>
                <p:cNvSpPr/>
                <p:nvPr/>
              </p:nvSpPr>
              <p:spPr>
                <a:xfrm>
                  <a:off x="378618" y="1878806"/>
                  <a:ext cx="61912" cy="41275"/>
                </a:xfrm>
                <a:custGeom>
                  <a:avLst/>
                  <a:gdLst/>
                  <a:ahLst/>
                  <a:cxnLst/>
                  <a:rect l="l" t="t" r="r" b="b"/>
                  <a:pathLst>
                    <a:path w="61912" h="41275">
                      <a:moveTo>
                        <a:pt x="0" y="20637"/>
                      </a:moveTo>
                      <a:cubicBezTo>
                        <a:pt x="0" y="9240"/>
                        <a:pt x="9240" y="0"/>
                        <a:pt x="20637" y="0"/>
                      </a:cubicBezTo>
                      <a:lnTo>
                        <a:pt x="41275" y="0"/>
                      </a:lnTo>
                      <a:cubicBezTo>
                        <a:pt x="52673" y="0"/>
                        <a:pt x="61912" y="9240"/>
                        <a:pt x="61912" y="20637"/>
                      </a:cubicBezTo>
                      <a:cubicBezTo>
                        <a:pt x="61912" y="32035"/>
                        <a:pt x="52673" y="41275"/>
                        <a:pt x="41275" y="41275"/>
                      </a:cubicBezTo>
                      <a:lnTo>
                        <a:pt x="20637" y="41275"/>
                      </a:lnTo>
                      <a:cubicBezTo>
                        <a:pt x="9240" y="41275"/>
                        <a:pt x="0" y="32035"/>
                        <a:pt x="0" y="20637"/>
                      </a:cubicBezTo>
                    </a:path>
                  </a:pathLst>
                </a:custGeom>
                <a:noFill/>
                <a:ln w="20637">
                  <a:solidFill>
                    <a:srgbClr val="92301C"/>
                  </a:solidFill>
                </a:ln>
              </p:spPr>
            </p:sp>
            <p:sp>
              <p:nvSpPr>
                <p:cNvPr id="30" name="Freeform 30"/>
                <p:cNvSpPr/>
                <p:nvPr/>
              </p:nvSpPr>
              <p:spPr>
                <a:xfrm>
                  <a:off x="378618" y="1971675"/>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31" name="Freeform 31"/>
                <p:cNvSpPr/>
                <p:nvPr/>
              </p:nvSpPr>
              <p:spPr>
                <a:xfrm>
                  <a:off x="378618" y="2012949"/>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33" name="TextBox 33"/>
              <p:cNvSpPr txBox="1"/>
              <p:nvPr/>
            </p:nvSpPr>
            <p:spPr>
              <a:xfrm>
                <a:off x="623888" y="181332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保单条款</a:t>
                </a:r>
              </a:p>
            </p:txBody>
          </p:sp>
          <p:sp>
            <p:nvSpPr>
              <p:cNvPr id="34" name="TextBox 34"/>
              <p:cNvSpPr txBox="1"/>
              <p:nvPr/>
            </p:nvSpPr>
            <p:spPr>
              <a:xfrm>
                <a:off x="623888" y="2018586"/>
                <a:ext cx="144322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保障范围、责任免除、特别约定等</a:t>
                </a:r>
              </a:p>
            </p:txBody>
          </p:sp>
        </p:grpSp>
        <p:grpSp>
          <p:nvGrpSpPr>
            <p:cNvPr id="40" name="lc-3"/>
            <p:cNvGrpSpPr/>
            <p:nvPr/>
          </p:nvGrpSpPr>
          <p:grpSpPr>
            <a:xfrm>
              <a:off x="190500" y="2381250"/>
              <a:ext cx="2171700" cy="571500"/>
              <a:chOff x="190500" y="2381250"/>
              <a:chExt cx="2171700" cy="571500"/>
            </a:xfrm>
          </p:grpSpPr>
          <p:sp>
            <p:nvSpPr>
              <p:cNvPr id="36" name="Rectangle 36"/>
              <p:cNvSpPr/>
              <p:nvPr/>
            </p:nvSpPr>
            <p:spPr>
              <a:xfrm>
                <a:off x="190500" y="2381250"/>
                <a:ext cx="2171700" cy="571500"/>
              </a:xfrm>
              <a:prstGeom prst="roundRect">
                <a:avLst>
                  <a:gd name="adj" fmla="val 10000"/>
                </a:avLst>
              </a:prstGeom>
              <a:solidFill>
                <a:srgbClr val="F6F9FD"/>
              </a:solidFill>
              <a:ln w="9525">
                <a:solidFill>
                  <a:srgbClr val="CFDFEE"/>
                </a:solidFill>
              </a:ln>
            </p:spPr>
          </p:sp>
          <p:sp>
            <p:nvSpPr>
              <p:cNvPr id="37" name="Freeform 37"/>
              <p:cNvSpPr/>
              <p:nvPr/>
            </p:nvSpPr>
            <p:spPr>
              <a:xfrm>
                <a:off x="337344" y="2574131"/>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lnTo>
                      <a:pt x="113506" y="165099"/>
                    </a:lnTo>
                    <a:lnTo>
                      <a:pt x="92868" y="185737"/>
                    </a:lnTo>
                    <a:lnTo>
                      <a:pt x="72231" y="165099"/>
                    </a:lnTo>
                    <a:lnTo>
                      <a:pt x="51594" y="185737"/>
                    </a:lnTo>
                    <a:lnTo>
                      <a:pt x="30956" y="165099"/>
                    </a:lnTo>
                    <a:lnTo>
                      <a:pt x="0" y="185737"/>
                    </a:lnTo>
                    <a:moveTo>
                      <a:pt x="41275" y="41275"/>
                    </a:moveTo>
                    <a:lnTo>
                      <a:pt x="103187" y="41275"/>
                    </a:lnTo>
                    <a:moveTo>
                      <a:pt x="41275" y="82550"/>
                    </a:moveTo>
                    <a:lnTo>
                      <a:pt x="103187" y="82550"/>
                    </a:lnTo>
                    <a:moveTo>
                      <a:pt x="82550" y="123825"/>
                    </a:moveTo>
                    <a:lnTo>
                      <a:pt x="103187" y="123825"/>
                    </a:lnTo>
                  </a:path>
                </a:pathLst>
              </a:custGeom>
              <a:noFill/>
              <a:ln w="20637">
                <a:solidFill>
                  <a:srgbClr val="92301C"/>
                </a:solidFill>
              </a:ln>
            </p:spPr>
          </p:sp>
          <p:sp>
            <p:nvSpPr>
              <p:cNvPr id="38" name="TextBox 38"/>
              <p:cNvSpPr txBox="1"/>
              <p:nvPr/>
            </p:nvSpPr>
            <p:spPr>
              <a:xfrm>
                <a:off x="623888" y="2508647"/>
                <a:ext cx="841860"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医疗/维修票据</a:t>
                </a:r>
              </a:p>
            </p:txBody>
          </p:sp>
          <p:sp>
            <p:nvSpPr>
              <p:cNvPr id="39" name="TextBox 39"/>
              <p:cNvSpPr txBox="1"/>
              <p:nvPr/>
            </p:nvSpPr>
            <p:spPr>
              <a:xfrm>
                <a:off x="623888" y="2713911"/>
                <a:ext cx="153880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发票、清单、费用明细、支付凭证等</a:t>
                </a:r>
              </a:p>
            </p:txBody>
          </p:sp>
        </p:grpSp>
        <p:grpSp>
          <p:nvGrpSpPr>
            <p:cNvPr id="49" name="lc-4"/>
            <p:cNvGrpSpPr/>
            <p:nvPr/>
          </p:nvGrpSpPr>
          <p:grpSpPr>
            <a:xfrm>
              <a:off x="190500" y="3076575"/>
              <a:ext cx="2171700" cy="571500"/>
              <a:chOff x="190500" y="3076575"/>
              <a:chExt cx="2171700" cy="571500"/>
            </a:xfrm>
          </p:grpSpPr>
          <p:sp>
            <p:nvSpPr>
              <p:cNvPr id="41" name="Rectangle 41"/>
              <p:cNvSpPr/>
              <p:nvPr/>
            </p:nvSpPr>
            <p:spPr>
              <a:xfrm>
                <a:off x="190500" y="3076575"/>
                <a:ext cx="2171700" cy="571500"/>
              </a:xfrm>
              <a:prstGeom prst="roundRect">
                <a:avLst>
                  <a:gd name="adj" fmla="val 10000"/>
                </a:avLst>
              </a:prstGeom>
              <a:solidFill>
                <a:srgbClr val="F6F9FD"/>
              </a:solidFill>
              <a:ln w="9525">
                <a:solidFill>
                  <a:srgbClr val="CFDFEE"/>
                </a:solidFill>
              </a:ln>
            </p:spPr>
          </p:sp>
          <p:grpSp>
            <p:nvGrpSpPr>
              <p:cNvPr id="46" name="Group 46"/>
              <p:cNvGrpSpPr/>
              <p:nvPr/>
            </p:nvGrpSpPr>
            <p:grpSpPr>
              <a:xfrm>
                <a:off x="316706" y="3269456"/>
                <a:ext cx="185737" cy="185737"/>
                <a:chOff x="316706" y="3269456"/>
                <a:chExt cx="185737" cy="185737"/>
              </a:xfrm>
            </p:grpSpPr>
            <p:sp>
              <p:nvSpPr>
                <p:cNvPr id="42" name="Freeform 42"/>
                <p:cNvSpPr/>
                <p:nvPr/>
              </p:nvSpPr>
              <p:spPr>
                <a:xfrm>
                  <a:off x="440531" y="3321050"/>
                  <a:ext cx="9525" cy="9525"/>
                </a:xfrm>
                <a:custGeom>
                  <a:avLst/>
                  <a:gdLst/>
                  <a:ahLst/>
                  <a:cxnLst/>
                  <a:rect l="l" t="t" r="r" b="b"/>
                  <a:pathLst>
                    <a:path w="9525" h="9525">
                      <a:moveTo>
                        <a:pt x="0" y="0"/>
                      </a:moveTo>
                      <a:lnTo>
                        <a:pt x="103" y="0"/>
                      </a:lnTo>
                    </a:path>
                  </a:pathLst>
                </a:custGeom>
                <a:noFill/>
                <a:ln w="20637">
                  <a:solidFill>
                    <a:srgbClr val="92301C"/>
                  </a:solidFill>
                </a:ln>
              </p:spPr>
            </p:sp>
            <p:sp>
              <p:nvSpPr>
                <p:cNvPr id="43" name="Freeform 43"/>
                <p:cNvSpPr/>
                <p:nvPr/>
              </p:nvSpPr>
              <p:spPr>
                <a:xfrm>
                  <a:off x="316706" y="3269456"/>
                  <a:ext cx="185737" cy="185737"/>
                </a:xfrm>
                <a:custGeom>
                  <a:avLst/>
                  <a:gdLst/>
                  <a:ahLst/>
                  <a:cxnLst/>
                  <a:rect l="l" t="t" r="r" b="b"/>
                  <a:pathLst>
                    <a:path w="185737" h="185737">
                      <a:moveTo>
                        <a:pt x="0" y="30956"/>
                      </a:moveTo>
                      <a:cubicBezTo>
                        <a:pt x="0" y="13860"/>
                        <a:pt x="13860" y="0"/>
                        <a:pt x="30956" y="0"/>
                      </a:cubicBezTo>
                      <a:lnTo>
                        <a:pt x="154781" y="0"/>
                      </a:lnTo>
                      <a:cubicBezTo>
                        <a:pt x="171877" y="0"/>
                        <a:pt x="185737" y="13860"/>
                        <a:pt x="185737" y="30956"/>
                      </a:cubicBezTo>
                      <a:lnTo>
                        <a:pt x="185737" y="154781"/>
                      </a:lnTo>
                      <a:cubicBezTo>
                        <a:pt x="185737" y="171877"/>
                        <a:pt x="171877" y="185737"/>
                        <a:pt x="154781" y="185737"/>
                      </a:cubicBezTo>
                      <a:lnTo>
                        <a:pt x="30956" y="185737"/>
                      </a:lnTo>
                      <a:cubicBezTo>
                        <a:pt x="13860" y="185737"/>
                        <a:pt x="0" y="171877"/>
                        <a:pt x="0" y="154781"/>
                      </a:cubicBezTo>
                      <a:lnTo>
                        <a:pt x="0" y="30956"/>
                      </a:lnTo>
                    </a:path>
                  </a:pathLst>
                </a:custGeom>
                <a:noFill/>
                <a:ln w="20637">
                  <a:solidFill>
                    <a:srgbClr val="92301C"/>
                  </a:solidFill>
                </a:ln>
              </p:spPr>
            </p:sp>
            <p:sp>
              <p:nvSpPr>
                <p:cNvPr id="44" name="Freeform 44"/>
                <p:cNvSpPr/>
                <p:nvPr/>
              </p:nvSpPr>
              <p:spPr>
                <a:xfrm>
                  <a:off x="316706" y="3342791"/>
                  <a:ext cx="134143" cy="60808"/>
                </a:xfrm>
                <a:custGeom>
                  <a:avLst/>
                  <a:gdLst/>
                  <a:ahLst/>
                  <a:cxnLst/>
                  <a:rect l="l" t="t" r="r" b="b"/>
                  <a:pathLst>
                    <a:path w="134143" h="60808">
                      <a:moveTo>
                        <a:pt x="0" y="60808"/>
                      </a:moveTo>
                      <a:lnTo>
                        <a:pt x="51594" y="9215"/>
                      </a:lnTo>
                      <a:cubicBezTo>
                        <a:pt x="61169" y="0"/>
                        <a:pt x="72974" y="0"/>
                        <a:pt x="82550" y="9215"/>
                      </a:cubicBezTo>
                      <a:lnTo>
                        <a:pt x="134143" y="60808"/>
                      </a:lnTo>
                    </a:path>
                  </a:pathLst>
                </a:custGeom>
                <a:noFill/>
                <a:ln w="20637">
                  <a:solidFill>
                    <a:srgbClr val="92301C"/>
                  </a:solidFill>
                </a:ln>
              </p:spPr>
            </p:sp>
            <p:sp>
              <p:nvSpPr>
                <p:cNvPr id="45" name="Freeform 45"/>
                <p:cNvSpPr/>
                <p:nvPr/>
              </p:nvSpPr>
              <p:spPr>
                <a:xfrm>
                  <a:off x="430212" y="3363429"/>
                  <a:ext cx="72231" cy="40171"/>
                </a:xfrm>
                <a:custGeom>
                  <a:avLst/>
                  <a:gdLst/>
                  <a:ahLst/>
                  <a:cxnLst/>
                  <a:rect l="l" t="t" r="r" b="b"/>
                  <a:pathLst>
                    <a:path w="72231" h="40171">
                      <a:moveTo>
                        <a:pt x="0" y="19533"/>
                      </a:moveTo>
                      <a:lnTo>
                        <a:pt x="10319" y="9215"/>
                      </a:lnTo>
                      <a:cubicBezTo>
                        <a:pt x="19894" y="0"/>
                        <a:pt x="31699" y="0"/>
                        <a:pt x="41275" y="9215"/>
                      </a:cubicBezTo>
                      <a:lnTo>
                        <a:pt x="72231" y="40171"/>
                      </a:lnTo>
                    </a:path>
                  </a:pathLst>
                </a:custGeom>
                <a:noFill/>
                <a:ln w="20637">
                  <a:solidFill>
                    <a:srgbClr val="92301C"/>
                  </a:solidFill>
                </a:ln>
              </p:spPr>
            </p:sp>
          </p:grpSp>
          <p:sp>
            <p:nvSpPr>
              <p:cNvPr id="47" name="TextBox 47"/>
              <p:cNvSpPr txBox="1"/>
              <p:nvPr/>
            </p:nvSpPr>
            <p:spPr>
              <a:xfrm>
                <a:off x="623888" y="320397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影像资料</a:t>
                </a:r>
              </a:p>
            </p:txBody>
          </p:sp>
          <p:sp>
            <p:nvSpPr>
              <p:cNvPr id="48" name="TextBox 48"/>
              <p:cNvSpPr txBox="1"/>
              <p:nvPr/>
            </p:nvSpPr>
            <p:spPr>
              <a:xfrm>
                <a:off x="623888" y="3409236"/>
                <a:ext cx="168695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现场照片、车辆/伤情影像、检验报告等</a:t>
                </a:r>
              </a:p>
            </p:txBody>
          </p:sp>
        </p:grpSp>
        <p:grpSp>
          <p:nvGrpSpPr>
            <p:cNvPr id="57" name="lc-5"/>
            <p:cNvGrpSpPr/>
            <p:nvPr/>
          </p:nvGrpSpPr>
          <p:grpSpPr>
            <a:xfrm>
              <a:off x="190500" y="3771900"/>
              <a:ext cx="2171700" cy="571500"/>
              <a:chOff x="190500" y="3771900"/>
              <a:chExt cx="2171700" cy="571500"/>
            </a:xfrm>
          </p:grpSpPr>
          <p:sp>
            <p:nvSpPr>
              <p:cNvPr id="50" name="Rectangle 50"/>
              <p:cNvSpPr/>
              <p:nvPr/>
            </p:nvSpPr>
            <p:spPr>
              <a:xfrm>
                <a:off x="190500" y="3771900"/>
                <a:ext cx="2171700" cy="571500"/>
              </a:xfrm>
              <a:prstGeom prst="roundRect">
                <a:avLst>
                  <a:gd name="adj" fmla="val 10000"/>
                </a:avLst>
              </a:prstGeom>
              <a:solidFill>
                <a:srgbClr val="F6F9FD"/>
              </a:solidFill>
              <a:ln w="9525">
                <a:solidFill>
                  <a:srgbClr val="CFDFEE"/>
                </a:solidFill>
              </a:ln>
            </p:spPr>
          </p:sp>
          <p:grpSp>
            <p:nvGrpSpPr>
              <p:cNvPr id="54" name="Group 54"/>
              <p:cNvGrpSpPr/>
              <p:nvPr/>
            </p:nvGrpSpPr>
            <p:grpSpPr>
              <a:xfrm>
                <a:off x="316706" y="3995737"/>
                <a:ext cx="185737" cy="134144"/>
                <a:chOff x="316706" y="3995737"/>
                <a:chExt cx="185737" cy="134144"/>
              </a:xfrm>
            </p:grpSpPr>
            <p:sp>
              <p:nvSpPr>
                <p:cNvPr id="51" name="Freeform 51"/>
                <p:cNvSpPr/>
                <p:nvPr/>
              </p:nvSpPr>
              <p:spPr>
                <a:xfrm>
                  <a:off x="337344" y="40886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52" name="Freeform 52"/>
                <p:cNvSpPr/>
                <p:nvPr/>
              </p:nvSpPr>
              <p:spPr>
                <a:xfrm>
                  <a:off x="440531" y="40886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2301C"/>
                  </a:solidFill>
                </a:ln>
              </p:spPr>
            </p:sp>
            <p:sp>
              <p:nvSpPr>
                <p:cNvPr id="53" name="Freeform 53"/>
                <p:cNvSpPr/>
                <p:nvPr/>
              </p:nvSpPr>
              <p:spPr>
                <a:xfrm>
                  <a:off x="316706" y="3995737"/>
                  <a:ext cx="185737" cy="113506"/>
                </a:xfrm>
                <a:custGeom>
                  <a:avLst/>
                  <a:gdLst/>
                  <a:ahLst/>
                  <a:cxnLst/>
                  <a:rect l="l" t="t" r="r" b="b"/>
                  <a:pathLst>
                    <a:path w="185737" h="113506">
                      <a:moveTo>
                        <a:pt x="20637" y="113506"/>
                      </a:moveTo>
                      <a:lnTo>
                        <a:pt x="0" y="113506"/>
                      </a:lnTo>
                      <a:lnTo>
                        <a:pt x="0" y="51594"/>
                      </a:lnTo>
                      <a:lnTo>
                        <a:pt x="20637" y="0"/>
                      </a:lnTo>
                      <a:lnTo>
                        <a:pt x="113506" y="0"/>
                      </a:lnTo>
                      <a:lnTo>
                        <a:pt x="154781" y="51594"/>
                      </a:lnTo>
                      <a:lnTo>
                        <a:pt x="165099" y="51594"/>
                      </a:lnTo>
                      <a:cubicBezTo>
                        <a:pt x="176497" y="51594"/>
                        <a:pt x="185737" y="60833"/>
                        <a:pt x="185737" y="72231"/>
                      </a:cubicBezTo>
                      <a:lnTo>
                        <a:pt x="185737" y="113506"/>
                      </a:lnTo>
                      <a:lnTo>
                        <a:pt x="165099" y="113506"/>
                      </a:lnTo>
                      <a:moveTo>
                        <a:pt x="123825" y="113506"/>
                      </a:moveTo>
                      <a:lnTo>
                        <a:pt x="61912" y="113506"/>
                      </a:lnTo>
                      <a:moveTo>
                        <a:pt x="0" y="51594"/>
                      </a:moveTo>
                      <a:lnTo>
                        <a:pt x="154781" y="51594"/>
                      </a:lnTo>
                      <a:moveTo>
                        <a:pt x="92868" y="51594"/>
                      </a:moveTo>
                      <a:lnTo>
                        <a:pt x="92868" y="0"/>
                      </a:lnTo>
                    </a:path>
                  </a:pathLst>
                </a:custGeom>
                <a:noFill/>
                <a:ln w="20637">
                  <a:solidFill>
                    <a:srgbClr val="92301C"/>
                  </a:solidFill>
                </a:ln>
              </p:spPr>
            </p:sp>
          </p:grpSp>
          <p:sp>
            <p:nvSpPr>
              <p:cNvPr id="55" name="TextBox 55"/>
              <p:cNvSpPr txBox="1"/>
              <p:nvPr/>
            </p:nvSpPr>
            <p:spPr>
              <a:xfrm>
                <a:off x="623888" y="389929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事故记录</a:t>
                </a:r>
              </a:p>
            </p:txBody>
          </p:sp>
          <p:sp>
            <p:nvSpPr>
              <p:cNvPr id="56" name="TextBox 56"/>
              <p:cNvSpPr txBox="1"/>
              <p:nvPr/>
            </p:nvSpPr>
            <p:spPr>
              <a:xfrm>
                <a:off x="623888" y="4104561"/>
                <a:ext cx="144322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交警记录、现场勘查、时间地点等</a:t>
                </a:r>
              </a:p>
            </p:txBody>
          </p:sp>
        </p:grpSp>
        <p:grpSp>
          <p:nvGrpSpPr>
            <p:cNvPr id="65" name="lc-6"/>
            <p:cNvGrpSpPr/>
            <p:nvPr/>
          </p:nvGrpSpPr>
          <p:grpSpPr>
            <a:xfrm>
              <a:off x="190500" y="4467225"/>
              <a:ext cx="2171700" cy="571500"/>
              <a:chOff x="190500" y="4467225"/>
              <a:chExt cx="2171700" cy="571500"/>
            </a:xfrm>
          </p:grpSpPr>
          <p:sp>
            <p:nvSpPr>
              <p:cNvPr id="58" name="Rectangle 58"/>
              <p:cNvSpPr/>
              <p:nvPr/>
            </p:nvSpPr>
            <p:spPr>
              <a:xfrm>
                <a:off x="190500" y="4467225"/>
                <a:ext cx="2171700" cy="571500"/>
              </a:xfrm>
              <a:prstGeom prst="roundRect">
                <a:avLst>
                  <a:gd name="adj" fmla="val 10000"/>
                </a:avLst>
              </a:prstGeom>
              <a:solidFill>
                <a:srgbClr val="F6F9FD"/>
              </a:solidFill>
              <a:ln w="9525">
                <a:solidFill>
                  <a:srgbClr val="CFDFEE"/>
                </a:solidFill>
              </a:ln>
            </p:spPr>
          </p:sp>
          <p:grpSp>
            <p:nvGrpSpPr>
              <p:cNvPr id="62" name="Group 62"/>
              <p:cNvGrpSpPr/>
              <p:nvPr/>
            </p:nvGrpSpPr>
            <p:grpSpPr>
              <a:xfrm>
                <a:off x="327025" y="4660106"/>
                <a:ext cx="165099" cy="185737"/>
                <a:chOff x="327025" y="4660106"/>
                <a:chExt cx="165099" cy="185737"/>
              </a:xfrm>
            </p:grpSpPr>
            <p:sp>
              <p:nvSpPr>
                <p:cNvPr id="59" name="Freeform 59"/>
                <p:cNvSpPr/>
                <p:nvPr/>
              </p:nvSpPr>
              <p:spPr>
                <a:xfrm>
                  <a:off x="327025" y="466010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92301C"/>
                  </a:solidFill>
                </a:ln>
              </p:spPr>
            </p:sp>
            <p:sp>
              <p:nvSpPr>
                <p:cNvPr id="60" name="Freeform 60"/>
                <p:cNvSpPr/>
                <p:nvPr/>
              </p:nvSpPr>
              <p:spPr>
                <a:xfrm>
                  <a:off x="327025" y="469106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2301C"/>
                  </a:solidFill>
                </a:ln>
              </p:spPr>
            </p:sp>
            <p:sp>
              <p:nvSpPr>
                <p:cNvPr id="61" name="Freeform 61"/>
                <p:cNvSpPr/>
                <p:nvPr/>
              </p:nvSpPr>
              <p:spPr>
                <a:xfrm>
                  <a:off x="327025" y="475297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92301C"/>
                  </a:solidFill>
                </a:ln>
              </p:spPr>
            </p:sp>
          </p:grpSp>
          <p:sp>
            <p:nvSpPr>
              <p:cNvPr id="63" name="TextBox 63"/>
              <p:cNvSpPr txBox="1"/>
              <p:nvPr/>
            </p:nvSpPr>
            <p:spPr>
              <a:xfrm>
                <a:off x="623888" y="4594622"/>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历史赔案</a:t>
                </a:r>
              </a:p>
            </p:txBody>
          </p:sp>
          <p:sp>
            <p:nvSpPr>
              <p:cNvPr id="64" name="TextBox 64"/>
              <p:cNvSpPr txBox="1"/>
              <p:nvPr/>
            </p:nvSpPr>
            <p:spPr>
              <a:xfrm>
                <a:off x="623888" y="4799886"/>
                <a:ext cx="1443228" cy="140494"/>
              </a:xfrm>
              <a:prstGeom prst="rect">
                <a:avLst/>
              </a:prstGeom>
              <a:noFill/>
              <a:ln>
                <a:noFill/>
              </a:ln>
            </p:spPr>
            <p:txBody>
              <a:bodyPr wrap="none" lIns="0" tIns="0" rIns="0" bIns="0" anchor="t" anchorCtr="0">
                <a:spAutoFit/>
              </a:bodyPr>
              <a:lstStyle/>
              <a:p>
                <a:pPr algn="l"/>
                <a:r>
                  <a:rPr lang="zh-CN" sz="710" dirty="0">
                    <a:solidFill>
                      <a:srgbClr val="52352F"/>
                    </a:solidFill>
                    <a:latin typeface="+mn-lt"/>
                    <a:ea typeface="+mn-ea"/>
                    <a:cs typeface="+mn-cs"/>
                  </a:rPr>
                  <a:t>相似案件、赔付结果、欺诈特征等</a:t>
                </a:r>
              </a:p>
            </p:txBody>
          </p:sp>
        </p:grpSp>
      </p:grpSp>
      <p:grpSp>
        <p:nvGrpSpPr>
          <p:cNvPr id="160" name="mid-flow"/>
          <p:cNvGrpSpPr/>
          <p:nvPr/>
        </p:nvGrpSpPr>
        <p:grpSpPr>
          <a:xfrm>
            <a:off x="2457450" y="990600"/>
            <a:ext cx="4572000" cy="3771900"/>
            <a:chOff x="2457450" y="990600"/>
            <a:chExt cx="4572000" cy="3771900"/>
          </a:xfrm>
        </p:grpSpPr>
        <p:sp>
          <p:nvSpPr>
            <p:cNvPr id="67" name="Freeform 67"/>
            <p:cNvSpPr/>
            <p:nvPr/>
          </p:nvSpPr>
          <p:spPr>
            <a:xfrm>
              <a:off x="2457450" y="990600"/>
              <a:ext cx="800100" cy="419100"/>
            </a:xfrm>
            <a:prstGeom prst="homePlate">
              <a:avLst>
                <a:gd name="adj" fmla="val 30000"/>
              </a:avLst>
            </a:prstGeom>
            <a:solidFill>
              <a:srgbClr val="BB5D4A"/>
            </a:solidFill>
            <a:ln>
              <a:noFill/>
            </a:ln>
          </p:spPr>
        </p:sp>
        <p:sp>
          <p:nvSpPr>
            <p:cNvPr id="68" name="Freeform 68"/>
            <p:cNvSpPr/>
            <p:nvPr/>
          </p:nvSpPr>
          <p:spPr>
            <a:xfrm>
              <a:off x="3209925" y="990600"/>
              <a:ext cx="800100" cy="419100"/>
            </a:xfrm>
            <a:prstGeom prst="chevron">
              <a:avLst>
                <a:gd name="adj" fmla="val 30000"/>
              </a:avLst>
            </a:prstGeom>
            <a:solidFill>
              <a:srgbClr val="B7533F"/>
            </a:solidFill>
            <a:ln>
              <a:noFill/>
            </a:ln>
          </p:spPr>
        </p:sp>
        <p:sp>
          <p:nvSpPr>
            <p:cNvPr id="69" name="Freeform 69"/>
            <p:cNvSpPr/>
            <p:nvPr/>
          </p:nvSpPr>
          <p:spPr>
            <a:xfrm>
              <a:off x="3962400" y="990600"/>
              <a:ext cx="800100" cy="419100"/>
            </a:xfrm>
            <a:prstGeom prst="chevron">
              <a:avLst>
                <a:gd name="adj" fmla="val 30000"/>
              </a:avLst>
            </a:prstGeom>
            <a:solidFill>
              <a:srgbClr val="AB4935"/>
            </a:solidFill>
            <a:ln>
              <a:noFill/>
            </a:ln>
          </p:spPr>
        </p:sp>
        <p:sp>
          <p:nvSpPr>
            <p:cNvPr id="70" name="Freeform 70"/>
            <p:cNvSpPr/>
            <p:nvPr/>
          </p:nvSpPr>
          <p:spPr>
            <a:xfrm>
              <a:off x="4714875" y="990600"/>
              <a:ext cx="800100" cy="419100"/>
            </a:xfrm>
            <a:prstGeom prst="chevron">
              <a:avLst>
                <a:gd name="adj" fmla="val 30000"/>
              </a:avLst>
            </a:prstGeom>
            <a:solidFill>
              <a:srgbClr val="9F3F2B"/>
            </a:solidFill>
            <a:ln>
              <a:noFill/>
            </a:ln>
          </p:spPr>
        </p:sp>
        <p:sp>
          <p:nvSpPr>
            <p:cNvPr id="71" name="Freeform 71"/>
            <p:cNvSpPr/>
            <p:nvPr/>
          </p:nvSpPr>
          <p:spPr>
            <a:xfrm>
              <a:off x="5467350" y="990600"/>
              <a:ext cx="800100" cy="419100"/>
            </a:xfrm>
            <a:prstGeom prst="chevron">
              <a:avLst>
                <a:gd name="adj" fmla="val 30000"/>
              </a:avLst>
            </a:prstGeom>
            <a:solidFill>
              <a:srgbClr val="963622"/>
            </a:solidFill>
            <a:ln>
              <a:noFill/>
            </a:ln>
          </p:spPr>
        </p:sp>
        <p:sp>
          <p:nvSpPr>
            <p:cNvPr id="72" name="Freeform 72"/>
            <p:cNvSpPr/>
            <p:nvPr/>
          </p:nvSpPr>
          <p:spPr>
            <a:xfrm>
              <a:off x="6219825" y="990600"/>
              <a:ext cx="800100" cy="419100"/>
            </a:xfrm>
            <a:prstGeom prst="chevron">
              <a:avLst>
                <a:gd name="adj" fmla="val 30000"/>
              </a:avLst>
            </a:prstGeom>
            <a:solidFill>
              <a:srgbClr val="6B1B0B"/>
            </a:solidFill>
            <a:ln>
              <a:noFill/>
            </a:ln>
          </p:spPr>
        </p:sp>
        <p:grpSp>
          <p:nvGrpSpPr>
            <p:cNvPr id="85" name="mf-nums"/>
            <p:cNvGrpSpPr/>
            <p:nvPr/>
          </p:nvGrpSpPr>
          <p:grpSpPr>
            <a:xfrm>
              <a:off x="2781300" y="1028700"/>
              <a:ext cx="3914775" cy="170021"/>
              <a:chOff x="2781300" y="1028700"/>
              <a:chExt cx="3914775" cy="170021"/>
            </a:xfrm>
          </p:grpSpPr>
          <p:sp>
            <p:nvSpPr>
              <p:cNvPr id="73" name="Ellipse 73"/>
              <p:cNvSpPr/>
              <p:nvPr/>
            </p:nvSpPr>
            <p:spPr>
              <a:xfrm>
                <a:off x="2781300" y="1028700"/>
                <a:ext cx="152400" cy="152400"/>
              </a:xfrm>
              <a:prstGeom prst="ellipse">
                <a:avLst/>
              </a:prstGeom>
              <a:solidFill>
                <a:srgbClr val="FFFFFF"/>
              </a:solidFill>
              <a:ln>
                <a:noFill/>
              </a:ln>
            </p:spPr>
          </p:sp>
          <p:sp>
            <p:nvSpPr>
              <p:cNvPr id="74" name="TextBox 74"/>
              <p:cNvSpPr txBox="1"/>
              <p:nvPr/>
            </p:nvSpPr>
            <p:spPr>
              <a:xfrm>
                <a:off x="2827280" y="1065371"/>
                <a:ext cx="60440"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1</a:t>
                </a:r>
              </a:p>
            </p:txBody>
          </p:sp>
          <p:sp>
            <p:nvSpPr>
              <p:cNvPr id="75" name="Ellipse 75"/>
              <p:cNvSpPr/>
              <p:nvPr/>
            </p:nvSpPr>
            <p:spPr>
              <a:xfrm>
                <a:off x="3533775" y="1028700"/>
                <a:ext cx="152400" cy="152400"/>
              </a:xfrm>
              <a:prstGeom prst="ellipse">
                <a:avLst/>
              </a:prstGeom>
              <a:solidFill>
                <a:srgbClr val="FFFFFF"/>
              </a:solidFill>
              <a:ln>
                <a:noFill/>
              </a:ln>
            </p:spPr>
          </p:sp>
          <p:sp>
            <p:nvSpPr>
              <p:cNvPr id="76" name="TextBox 76"/>
              <p:cNvSpPr txBox="1"/>
              <p:nvPr/>
            </p:nvSpPr>
            <p:spPr>
              <a:xfrm>
                <a:off x="3579755" y="1065371"/>
                <a:ext cx="60440"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2</a:t>
                </a:r>
              </a:p>
            </p:txBody>
          </p:sp>
          <p:sp>
            <p:nvSpPr>
              <p:cNvPr id="77" name="Ellipse 77"/>
              <p:cNvSpPr/>
              <p:nvPr/>
            </p:nvSpPr>
            <p:spPr>
              <a:xfrm>
                <a:off x="4286250" y="1028700"/>
                <a:ext cx="152400" cy="152400"/>
              </a:xfrm>
              <a:prstGeom prst="ellipse">
                <a:avLst/>
              </a:prstGeom>
              <a:solidFill>
                <a:srgbClr val="FFFFFF"/>
              </a:solidFill>
              <a:ln>
                <a:noFill/>
              </a:ln>
            </p:spPr>
          </p:sp>
          <p:sp>
            <p:nvSpPr>
              <p:cNvPr id="78" name="TextBox 78"/>
              <p:cNvSpPr txBox="1"/>
              <p:nvPr/>
            </p:nvSpPr>
            <p:spPr>
              <a:xfrm>
                <a:off x="4332230" y="1065371"/>
                <a:ext cx="60440"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3</a:t>
                </a:r>
              </a:p>
            </p:txBody>
          </p:sp>
          <p:sp>
            <p:nvSpPr>
              <p:cNvPr id="79" name="Ellipse 79"/>
              <p:cNvSpPr/>
              <p:nvPr/>
            </p:nvSpPr>
            <p:spPr>
              <a:xfrm>
                <a:off x="5038725" y="1028700"/>
                <a:ext cx="152400" cy="152400"/>
              </a:xfrm>
              <a:prstGeom prst="ellipse">
                <a:avLst/>
              </a:prstGeom>
              <a:solidFill>
                <a:srgbClr val="FFFFFF"/>
              </a:solidFill>
              <a:ln>
                <a:noFill/>
              </a:ln>
            </p:spPr>
          </p:sp>
          <p:sp>
            <p:nvSpPr>
              <p:cNvPr id="80" name="TextBox 80"/>
              <p:cNvSpPr txBox="1"/>
              <p:nvPr/>
            </p:nvSpPr>
            <p:spPr>
              <a:xfrm>
                <a:off x="5084705" y="1065371"/>
                <a:ext cx="60440"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4</a:t>
                </a:r>
              </a:p>
            </p:txBody>
          </p:sp>
          <p:sp>
            <p:nvSpPr>
              <p:cNvPr id="81" name="Ellipse 81"/>
              <p:cNvSpPr/>
              <p:nvPr/>
            </p:nvSpPr>
            <p:spPr>
              <a:xfrm>
                <a:off x="5791200" y="1028700"/>
                <a:ext cx="152400" cy="152400"/>
              </a:xfrm>
              <a:prstGeom prst="ellipse">
                <a:avLst/>
              </a:prstGeom>
              <a:solidFill>
                <a:srgbClr val="FFFFFF"/>
              </a:solidFill>
              <a:ln>
                <a:noFill/>
              </a:ln>
            </p:spPr>
          </p:sp>
          <p:sp>
            <p:nvSpPr>
              <p:cNvPr id="82" name="TextBox 82"/>
              <p:cNvSpPr txBox="1"/>
              <p:nvPr/>
            </p:nvSpPr>
            <p:spPr>
              <a:xfrm>
                <a:off x="5837180" y="1065371"/>
                <a:ext cx="60440"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5</a:t>
                </a:r>
              </a:p>
            </p:txBody>
          </p:sp>
          <p:sp>
            <p:nvSpPr>
              <p:cNvPr id="83" name="Ellipse 83"/>
              <p:cNvSpPr/>
              <p:nvPr/>
            </p:nvSpPr>
            <p:spPr>
              <a:xfrm>
                <a:off x="6543675" y="1028700"/>
                <a:ext cx="152400" cy="152400"/>
              </a:xfrm>
              <a:prstGeom prst="ellipse">
                <a:avLst/>
              </a:prstGeom>
              <a:solidFill>
                <a:srgbClr val="FFFFFF"/>
              </a:solidFill>
              <a:ln>
                <a:noFill/>
              </a:ln>
            </p:spPr>
          </p:sp>
          <p:sp>
            <p:nvSpPr>
              <p:cNvPr id="84" name="TextBox 84"/>
              <p:cNvSpPr txBox="1"/>
              <p:nvPr/>
            </p:nvSpPr>
            <p:spPr>
              <a:xfrm>
                <a:off x="6589655" y="1065371"/>
                <a:ext cx="60440"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6</a:t>
                </a:r>
              </a:p>
            </p:txBody>
          </p:sp>
        </p:grpSp>
        <p:grpSp>
          <p:nvGrpSpPr>
            <p:cNvPr id="92" name="mf-titles"/>
            <p:cNvGrpSpPr/>
            <p:nvPr/>
          </p:nvGrpSpPr>
          <p:grpSpPr>
            <a:xfrm>
              <a:off x="2661577" y="1266111"/>
              <a:ext cx="4202011" cy="140494"/>
              <a:chOff x="2661577" y="1266111"/>
              <a:chExt cx="4202011" cy="140494"/>
            </a:xfrm>
          </p:grpSpPr>
          <p:sp>
            <p:nvSpPr>
              <p:cNvPr id="86" name="TextBox 86"/>
              <p:cNvSpPr txBox="1"/>
              <p:nvPr/>
            </p:nvSpPr>
            <p:spPr>
              <a:xfrm>
                <a:off x="2661577" y="12661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材料解析</a:t>
                </a:r>
              </a:p>
            </p:txBody>
          </p:sp>
          <p:sp>
            <p:nvSpPr>
              <p:cNvPr id="87" name="TextBox 87"/>
              <p:cNvSpPr txBox="1"/>
              <p:nvPr/>
            </p:nvSpPr>
            <p:spPr>
              <a:xfrm>
                <a:off x="3318472" y="1266111"/>
                <a:ext cx="58300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保障责任匹配</a:t>
                </a:r>
              </a:p>
            </p:txBody>
          </p:sp>
          <p:sp>
            <p:nvSpPr>
              <p:cNvPr id="88" name="TextBox 88"/>
              <p:cNvSpPr txBox="1"/>
              <p:nvPr/>
            </p:nvSpPr>
            <p:spPr>
              <a:xfrm>
                <a:off x="4166527" y="12661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责任核验</a:t>
                </a:r>
              </a:p>
            </p:txBody>
          </p:sp>
          <p:sp>
            <p:nvSpPr>
              <p:cNvPr id="89" name="TextBox 89"/>
              <p:cNvSpPr txBox="1"/>
              <p:nvPr/>
            </p:nvSpPr>
            <p:spPr>
              <a:xfrm>
                <a:off x="4919002" y="12661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金额测算</a:t>
                </a:r>
              </a:p>
            </p:txBody>
          </p:sp>
          <p:sp>
            <p:nvSpPr>
              <p:cNvPr id="90" name="TextBox 90"/>
              <p:cNvSpPr txBox="1"/>
              <p:nvPr/>
            </p:nvSpPr>
            <p:spPr>
              <a:xfrm>
                <a:off x="5575897" y="1266111"/>
                <a:ext cx="58300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欺诈线索识别</a:t>
                </a:r>
              </a:p>
            </p:txBody>
          </p:sp>
          <p:sp>
            <p:nvSpPr>
              <p:cNvPr id="91" name="TextBox 91"/>
              <p:cNvSpPr txBox="1"/>
              <p:nvPr/>
            </p:nvSpPr>
            <p:spPr>
              <a:xfrm>
                <a:off x="6376162" y="1266111"/>
                <a:ext cx="48742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理赔员复核</a:t>
                </a:r>
              </a:p>
            </p:txBody>
          </p:sp>
        </p:grpSp>
        <p:grpSp>
          <p:nvGrpSpPr>
            <p:cNvPr id="122" name="mf-icons"/>
            <p:cNvGrpSpPr/>
            <p:nvPr/>
          </p:nvGrpSpPr>
          <p:grpSpPr>
            <a:xfrm>
              <a:off x="2743200" y="1634081"/>
              <a:ext cx="3952875" cy="232819"/>
              <a:chOff x="2743200" y="1634081"/>
              <a:chExt cx="3952875" cy="232819"/>
            </a:xfrm>
          </p:grpSpPr>
          <p:grpSp>
            <p:nvGrpSpPr>
              <p:cNvPr id="95" name="Group 95"/>
              <p:cNvGrpSpPr/>
              <p:nvPr/>
            </p:nvGrpSpPr>
            <p:grpSpPr>
              <a:xfrm>
                <a:off x="2743200" y="1638300"/>
                <a:ext cx="228600" cy="228600"/>
                <a:chOff x="2743200" y="1638300"/>
                <a:chExt cx="228600" cy="228600"/>
              </a:xfrm>
            </p:grpSpPr>
            <p:sp>
              <p:nvSpPr>
                <p:cNvPr id="93" name="Freeform 93"/>
                <p:cNvSpPr/>
                <p:nvPr/>
              </p:nvSpPr>
              <p:spPr>
                <a:xfrm>
                  <a:off x="2743200" y="1638300"/>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25400">
                  <a:solidFill>
                    <a:srgbClr val="92301C"/>
                  </a:solidFill>
                </a:ln>
              </p:spPr>
            </p:sp>
            <p:sp>
              <p:nvSpPr>
                <p:cNvPr id="94" name="Freeform 94"/>
                <p:cNvSpPr/>
                <p:nvPr/>
              </p:nvSpPr>
              <p:spPr>
                <a:xfrm>
                  <a:off x="2895600" y="1790700"/>
                  <a:ext cx="76200" cy="76200"/>
                </a:xfrm>
                <a:custGeom>
                  <a:avLst/>
                  <a:gdLst/>
                  <a:ahLst/>
                  <a:cxnLst/>
                  <a:rect l="l" t="t" r="r" b="b"/>
                  <a:pathLst>
                    <a:path w="76200" h="76200">
                      <a:moveTo>
                        <a:pt x="76200" y="76200"/>
                      </a:moveTo>
                      <a:lnTo>
                        <a:pt x="0" y="0"/>
                      </a:lnTo>
                    </a:path>
                  </a:pathLst>
                </a:custGeom>
                <a:noFill/>
                <a:ln w="25400">
                  <a:solidFill>
                    <a:srgbClr val="92301C"/>
                  </a:solidFill>
                </a:ln>
              </p:spPr>
            </p:sp>
          </p:grpSp>
          <p:grpSp>
            <p:nvGrpSpPr>
              <p:cNvPr id="98" name="Group 98"/>
              <p:cNvGrpSpPr/>
              <p:nvPr/>
            </p:nvGrpSpPr>
            <p:grpSpPr>
              <a:xfrm>
                <a:off x="3478536" y="1638300"/>
                <a:ext cx="248008" cy="228599"/>
                <a:chOff x="3478536" y="1638300"/>
                <a:chExt cx="248008" cy="228599"/>
              </a:xfrm>
            </p:grpSpPr>
            <p:sp>
              <p:nvSpPr>
                <p:cNvPr id="96" name="Freeform 96"/>
                <p:cNvSpPr/>
                <p:nvPr/>
              </p:nvSpPr>
              <p:spPr>
                <a:xfrm>
                  <a:off x="3478536" y="1638300"/>
                  <a:ext cx="248008" cy="226644"/>
                </a:xfrm>
                <a:custGeom>
                  <a:avLst/>
                  <a:gdLst/>
                  <a:ahLst/>
                  <a:cxnLst/>
                  <a:rect l="l" t="t" r="r" b="b"/>
                  <a:pathLst>
                    <a:path w="248008" h="226644">
                      <a:moveTo>
                        <a:pt x="124581" y="226644"/>
                      </a:moveTo>
                      <a:cubicBezTo>
                        <a:pt x="45021" y="201982"/>
                        <a:pt x="0" y="118013"/>
                        <a:pt x="23489" y="38100"/>
                      </a:cubicBezTo>
                      <a:cubicBezTo>
                        <a:pt x="63056" y="39910"/>
                        <a:pt x="101774" y="26245"/>
                        <a:pt x="131439" y="0"/>
                      </a:cubicBezTo>
                      <a:cubicBezTo>
                        <a:pt x="161104" y="26245"/>
                        <a:pt x="199822" y="39910"/>
                        <a:pt x="239389" y="38100"/>
                      </a:cubicBezTo>
                      <a:cubicBezTo>
                        <a:pt x="248008" y="67426"/>
                        <a:pt x="247610" y="98665"/>
                        <a:pt x="238246" y="127762"/>
                      </a:cubicBezTo>
                    </a:path>
                  </a:pathLst>
                </a:custGeom>
                <a:noFill/>
                <a:ln w="25400">
                  <a:solidFill>
                    <a:srgbClr val="92301C"/>
                  </a:solidFill>
                </a:ln>
              </p:spPr>
            </p:sp>
            <p:sp>
              <p:nvSpPr>
                <p:cNvPr id="97" name="Freeform 97"/>
                <p:cNvSpPr/>
                <p:nvPr/>
              </p:nvSpPr>
              <p:spPr>
                <a:xfrm>
                  <a:off x="3648075" y="1816099"/>
                  <a:ext cx="76200" cy="50800"/>
                </a:xfrm>
                <a:custGeom>
                  <a:avLst/>
                  <a:gdLst/>
                  <a:ahLst/>
                  <a:cxnLst/>
                  <a:rect l="l" t="t" r="r" b="b"/>
                  <a:pathLst>
                    <a:path w="76200" h="50800">
                      <a:moveTo>
                        <a:pt x="0" y="25400"/>
                      </a:moveTo>
                      <a:lnTo>
                        <a:pt x="25400" y="50800"/>
                      </a:lnTo>
                      <a:lnTo>
                        <a:pt x="76200" y="0"/>
                      </a:lnTo>
                    </a:path>
                  </a:pathLst>
                </a:custGeom>
                <a:noFill/>
                <a:ln w="25400">
                  <a:solidFill>
                    <a:srgbClr val="92301C"/>
                  </a:solidFill>
                </a:ln>
              </p:spPr>
            </p:sp>
          </p:grpSp>
          <p:grpSp>
            <p:nvGrpSpPr>
              <p:cNvPr id="105" name="Group 105"/>
              <p:cNvGrpSpPr/>
              <p:nvPr/>
            </p:nvGrpSpPr>
            <p:grpSpPr>
              <a:xfrm>
                <a:off x="4254500" y="1657350"/>
                <a:ext cx="209550" cy="184149"/>
                <a:chOff x="4254500" y="1657350"/>
                <a:chExt cx="209550" cy="184149"/>
              </a:xfrm>
            </p:grpSpPr>
            <p:sp>
              <p:nvSpPr>
                <p:cNvPr id="99" name="Freeform 99"/>
                <p:cNvSpPr/>
                <p:nvPr/>
              </p:nvSpPr>
              <p:spPr>
                <a:xfrm>
                  <a:off x="4254500" y="1657350"/>
                  <a:ext cx="50800" cy="31750"/>
                </a:xfrm>
                <a:custGeom>
                  <a:avLst/>
                  <a:gdLst/>
                  <a:ahLst/>
                  <a:cxnLst/>
                  <a:rect l="l" t="t" r="r" b="b"/>
                  <a:pathLst>
                    <a:path w="50800" h="31750">
                      <a:moveTo>
                        <a:pt x="0" y="12700"/>
                      </a:moveTo>
                      <a:lnTo>
                        <a:pt x="19050" y="31750"/>
                      </a:lnTo>
                      <a:lnTo>
                        <a:pt x="50800" y="0"/>
                      </a:lnTo>
                    </a:path>
                  </a:pathLst>
                </a:custGeom>
                <a:noFill/>
                <a:ln w="25400">
                  <a:solidFill>
                    <a:srgbClr val="92301C"/>
                  </a:solidFill>
                </a:ln>
              </p:spPr>
            </p:sp>
            <p:sp>
              <p:nvSpPr>
                <p:cNvPr id="100" name="Freeform 100"/>
                <p:cNvSpPr/>
                <p:nvPr/>
              </p:nvSpPr>
              <p:spPr>
                <a:xfrm>
                  <a:off x="4254500" y="1733550"/>
                  <a:ext cx="50800" cy="31750"/>
                </a:xfrm>
                <a:custGeom>
                  <a:avLst/>
                  <a:gdLst/>
                  <a:ahLst/>
                  <a:cxnLst/>
                  <a:rect l="l" t="t" r="r" b="b"/>
                  <a:pathLst>
                    <a:path w="50800" h="31750">
                      <a:moveTo>
                        <a:pt x="0" y="12700"/>
                      </a:moveTo>
                      <a:lnTo>
                        <a:pt x="19050" y="31750"/>
                      </a:lnTo>
                      <a:lnTo>
                        <a:pt x="50800" y="0"/>
                      </a:lnTo>
                    </a:path>
                  </a:pathLst>
                </a:custGeom>
                <a:noFill/>
                <a:ln w="25400">
                  <a:solidFill>
                    <a:srgbClr val="92301C"/>
                  </a:solidFill>
                </a:ln>
              </p:spPr>
            </p:sp>
            <p:sp>
              <p:nvSpPr>
                <p:cNvPr id="101" name="Freeform 101"/>
                <p:cNvSpPr/>
                <p:nvPr/>
              </p:nvSpPr>
              <p:spPr>
                <a:xfrm>
                  <a:off x="4254500" y="1809749"/>
                  <a:ext cx="50800" cy="31750"/>
                </a:xfrm>
                <a:custGeom>
                  <a:avLst/>
                  <a:gdLst/>
                  <a:ahLst/>
                  <a:cxnLst/>
                  <a:rect l="l" t="t" r="r" b="b"/>
                  <a:pathLst>
                    <a:path w="50800" h="31750">
                      <a:moveTo>
                        <a:pt x="0" y="12700"/>
                      </a:moveTo>
                      <a:lnTo>
                        <a:pt x="19050" y="31750"/>
                      </a:lnTo>
                      <a:lnTo>
                        <a:pt x="50800" y="0"/>
                      </a:lnTo>
                    </a:path>
                  </a:pathLst>
                </a:custGeom>
                <a:noFill/>
                <a:ln w="25400">
                  <a:solidFill>
                    <a:srgbClr val="92301C"/>
                  </a:solidFill>
                </a:ln>
              </p:spPr>
            </p:sp>
            <p:sp>
              <p:nvSpPr>
                <p:cNvPr id="102" name="Freeform 102"/>
                <p:cNvSpPr/>
                <p:nvPr/>
              </p:nvSpPr>
              <p:spPr>
                <a:xfrm>
                  <a:off x="4349750" y="1676400"/>
                  <a:ext cx="114300" cy="9525"/>
                </a:xfrm>
                <a:custGeom>
                  <a:avLst/>
                  <a:gdLst/>
                  <a:ahLst/>
                  <a:cxnLst/>
                  <a:rect l="l" t="t" r="r" b="b"/>
                  <a:pathLst>
                    <a:path w="114300" h="9525">
                      <a:moveTo>
                        <a:pt x="0" y="0"/>
                      </a:moveTo>
                      <a:lnTo>
                        <a:pt x="114300" y="0"/>
                      </a:lnTo>
                    </a:path>
                  </a:pathLst>
                </a:custGeom>
                <a:noFill/>
                <a:ln w="25400">
                  <a:solidFill>
                    <a:srgbClr val="92301C"/>
                  </a:solidFill>
                </a:ln>
              </p:spPr>
            </p:sp>
            <p:sp>
              <p:nvSpPr>
                <p:cNvPr id="103" name="Freeform 103"/>
                <p:cNvSpPr/>
                <p:nvPr/>
              </p:nvSpPr>
              <p:spPr>
                <a:xfrm>
                  <a:off x="4349750" y="1752600"/>
                  <a:ext cx="114300" cy="9525"/>
                </a:xfrm>
                <a:custGeom>
                  <a:avLst/>
                  <a:gdLst/>
                  <a:ahLst/>
                  <a:cxnLst/>
                  <a:rect l="l" t="t" r="r" b="b"/>
                  <a:pathLst>
                    <a:path w="114300" h="9525">
                      <a:moveTo>
                        <a:pt x="0" y="0"/>
                      </a:moveTo>
                      <a:lnTo>
                        <a:pt x="114300" y="0"/>
                      </a:lnTo>
                    </a:path>
                  </a:pathLst>
                </a:custGeom>
                <a:noFill/>
                <a:ln w="25400">
                  <a:solidFill>
                    <a:srgbClr val="92301C"/>
                  </a:solidFill>
                </a:ln>
              </p:spPr>
            </p:sp>
            <p:sp>
              <p:nvSpPr>
                <p:cNvPr id="104" name="Freeform 104"/>
                <p:cNvSpPr/>
                <p:nvPr/>
              </p:nvSpPr>
              <p:spPr>
                <a:xfrm>
                  <a:off x="4349750" y="1828799"/>
                  <a:ext cx="114300" cy="9525"/>
                </a:xfrm>
                <a:custGeom>
                  <a:avLst/>
                  <a:gdLst/>
                  <a:ahLst/>
                  <a:cxnLst/>
                  <a:rect l="l" t="t" r="r" b="b"/>
                  <a:pathLst>
                    <a:path w="114300" h="9525">
                      <a:moveTo>
                        <a:pt x="0" y="0"/>
                      </a:moveTo>
                      <a:lnTo>
                        <a:pt x="114300" y="0"/>
                      </a:lnTo>
                    </a:path>
                  </a:pathLst>
                </a:custGeom>
                <a:noFill/>
                <a:ln w="25400">
                  <a:solidFill>
                    <a:srgbClr val="92301C"/>
                  </a:solidFill>
                </a:ln>
              </p:spPr>
            </p:sp>
          </p:grpSp>
          <p:grpSp>
            <p:nvGrpSpPr>
              <p:cNvPr id="114" name="Group 114"/>
              <p:cNvGrpSpPr/>
              <p:nvPr/>
            </p:nvGrpSpPr>
            <p:grpSpPr>
              <a:xfrm>
                <a:off x="5013325" y="1638300"/>
                <a:ext cx="203199" cy="228599"/>
                <a:chOff x="5013325" y="1638300"/>
                <a:chExt cx="203199" cy="228599"/>
              </a:xfrm>
            </p:grpSpPr>
            <p:sp>
              <p:nvSpPr>
                <p:cNvPr id="106" name="Freeform 106"/>
                <p:cNvSpPr/>
                <p:nvPr/>
              </p:nvSpPr>
              <p:spPr>
                <a:xfrm>
                  <a:off x="5013325" y="1638300"/>
                  <a:ext cx="203199" cy="228599"/>
                </a:xfrm>
                <a:custGeom>
                  <a:avLst/>
                  <a:gdLst/>
                  <a:ahLst/>
                  <a:cxnLst/>
                  <a:rect l="l" t="t" r="r" b="b"/>
                  <a:pathLst>
                    <a:path w="203199" h="228599">
                      <a:moveTo>
                        <a:pt x="0" y="25400"/>
                      </a:moveTo>
                      <a:cubicBezTo>
                        <a:pt x="0" y="11372"/>
                        <a:pt x="11372" y="0"/>
                        <a:pt x="25400" y="0"/>
                      </a:cubicBezTo>
                      <a:lnTo>
                        <a:pt x="177800" y="0"/>
                      </a:lnTo>
                      <a:cubicBezTo>
                        <a:pt x="191828" y="0"/>
                        <a:pt x="203199" y="11372"/>
                        <a:pt x="203199" y="25400"/>
                      </a:cubicBezTo>
                      <a:lnTo>
                        <a:pt x="203199" y="203199"/>
                      </a:lnTo>
                      <a:cubicBezTo>
                        <a:pt x="203199" y="217227"/>
                        <a:pt x="191828" y="228599"/>
                        <a:pt x="177800" y="228599"/>
                      </a:cubicBezTo>
                      <a:lnTo>
                        <a:pt x="25400" y="228599"/>
                      </a:lnTo>
                      <a:cubicBezTo>
                        <a:pt x="11372" y="228599"/>
                        <a:pt x="0" y="217227"/>
                        <a:pt x="0" y="203199"/>
                      </a:cubicBezTo>
                      <a:lnTo>
                        <a:pt x="0" y="25400"/>
                      </a:lnTo>
                    </a:path>
                  </a:pathLst>
                </a:custGeom>
                <a:noFill/>
                <a:ln w="25400">
                  <a:solidFill>
                    <a:srgbClr val="92301C"/>
                  </a:solidFill>
                </a:ln>
              </p:spPr>
            </p:sp>
            <p:sp>
              <p:nvSpPr>
                <p:cNvPr id="107" name="Freeform 107"/>
                <p:cNvSpPr/>
                <p:nvPr/>
              </p:nvSpPr>
              <p:spPr>
                <a:xfrm>
                  <a:off x="5064125" y="1689100"/>
                  <a:ext cx="101600" cy="38100"/>
                </a:xfrm>
                <a:custGeom>
                  <a:avLst/>
                  <a:gdLst/>
                  <a:ahLst/>
                  <a:cxnLst/>
                  <a:rect l="l" t="t" r="r" b="b"/>
                  <a:pathLst>
                    <a:path w="101600" h="38100">
                      <a:moveTo>
                        <a:pt x="0" y="12700"/>
                      </a:moveTo>
                      <a:cubicBezTo>
                        <a:pt x="0" y="5686"/>
                        <a:pt x="5686" y="0"/>
                        <a:pt x="12700" y="0"/>
                      </a:cubicBezTo>
                      <a:lnTo>
                        <a:pt x="88900" y="0"/>
                      </a:lnTo>
                      <a:cubicBezTo>
                        <a:pt x="95914" y="0"/>
                        <a:pt x="101600" y="5686"/>
                        <a:pt x="101600" y="12700"/>
                      </a:cubicBezTo>
                      <a:lnTo>
                        <a:pt x="101600" y="25400"/>
                      </a:lnTo>
                      <a:cubicBezTo>
                        <a:pt x="101600" y="32414"/>
                        <a:pt x="95914" y="38100"/>
                        <a:pt x="88900" y="38100"/>
                      </a:cubicBezTo>
                      <a:lnTo>
                        <a:pt x="12700" y="38100"/>
                      </a:lnTo>
                      <a:cubicBezTo>
                        <a:pt x="5686" y="38100"/>
                        <a:pt x="0" y="32414"/>
                        <a:pt x="0" y="25400"/>
                      </a:cubicBezTo>
                      <a:lnTo>
                        <a:pt x="0" y="12700"/>
                      </a:lnTo>
                    </a:path>
                  </a:pathLst>
                </a:custGeom>
                <a:noFill/>
                <a:ln w="25400">
                  <a:solidFill>
                    <a:srgbClr val="92301C"/>
                  </a:solidFill>
                </a:ln>
              </p:spPr>
            </p:sp>
            <p:sp>
              <p:nvSpPr>
                <p:cNvPr id="108" name="Freeform 108"/>
                <p:cNvSpPr/>
                <p:nvPr/>
              </p:nvSpPr>
              <p:spPr>
                <a:xfrm>
                  <a:off x="5064125" y="1778000"/>
                  <a:ext cx="9525" cy="9525"/>
                </a:xfrm>
                <a:custGeom>
                  <a:avLst/>
                  <a:gdLst/>
                  <a:ahLst/>
                  <a:cxnLst/>
                  <a:rect l="l" t="t" r="r" b="b"/>
                  <a:pathLst>
                    <a:path w="9525" h="9525">
                      <a:moveTo>
                        <a:pt x="0" y="0"/>
                      </a:moveTo>
                      <a:lnTo>
                        <a:pt x="0" y="127"/>
                      </a:lnTo>
                    </a:path>
                  </a:pathLst>
                </a:custGeom>
                <a:noFill/>
                <a:ln w="25400">
                  <a:solidFill>
                    <a:srgbClr val="92301C"/>
                  </a:solidFill>
                </a:ln>
              </p:spPr>
            </p:sp>
            <p:sp>
              <p:nvSpPr>
                <p:cNvPr id="109" name="Freeform 109"/>
                <p:cNvSpPr/>
                <p:nvPr/>
              </p:nvSpPr>
              <p:spPr>
                <a:xfrm>
                  <a:off x="5114925" y="1778000"/>
                  <a:ext cx="9525" cy="9525"/>
                </a:xfrm>
                <a:custGeom>
                  <a:avLst/>
                  <a:gdLst/>
                  <a:ahLst/>
                  <a:cxnLst/>
                  <a:rect l="l" t="t" r="r" b="b"/>
                  <a:pathLst>
                    <a:path w="9525" h="9525">
                      <a:moveTo>
                        <a:pt x="0" y="0"/>
                      </a:moveTo>
                      <a:lnTo>
                        <a:pt x="0" y="127"/>
                      </a:lnTo>
                    </a:path>
                  </a:pathLst>
                </a:custGeom>
                <a:noFill/>
                <a:ln w="25400">
                  <a:solidFill>
                    <a:srgbClr val="92301C"/>
                  </a:solidFill>
                </a:ln>
              </p:spPr>
            </p:sp>
            <p:sp>
              <p:nvSpPr>
                <p:cNvPr id="110" name="Freeform 110"/>
                <p:cNvSpPr/>
                <p:nvPr/>
              </p:nvSpPr>
              <p:spPr>
                <a:xfrm>
                  <a:off x="5165724" y="1778000"/>
                  <a:ext cx="9525" cy="9525"/>
                </a:xfrm>
                <a:custGeom>
                  <a:avLst/>
                  <a:gdLst/>
                  <a:ahLst/>
                  <a:cxnLst/>
                  <a:rect l="l" t="t" r="r" b="b"/>
                  <a:pathLst>
                    <a:path w="9525" h="9525">
                      <a:moveTo>
                        <a:pt x="0" y="0"/>
                      </a:moveTo>
                      <a:lnTo>
                        <a:pt x="0" y="127"/>
                      </a:lnTo>
                    </a:path>
                  </a:pathLst>
                </a:custGeom>
                <a:noFill/>
                <a:ln w="25400">
                  <a:solidFill>
                    <a:srgbClr val="92301C"/>
                  </a:solidFill>
                </a:ln>
              </p:spPr>
            </p:sp>
            <p:sp>
              <p:nvSpPr>
                <p:cNvPr id="111" name="Freeform 111"/>
                <p:cNvSpPr/>
                <p:nvPr/>
              </p:nvSpPr>
              <p:spPr>
                <a:xfrm>
                  <a:off x="5064125" y="1816099"/>
                  <a:ext cx="9525" cy="9525"/>
                </a:xfrm>
                <a:custGeom>
                  <a:avLst/>
                  <a:gdLst/>
                  <a:ahLst/>
                  <a:cxnLst/>
                  <a:rect l="l" t="t" r="r" b="b"/>
                  <a:pathLst>
                    <a:path w="9525" h="9525">
                      <a:moveTo>
                        <a:pt x="0" y="0"/>
                      </a:moveTo>
                      <a:lnTo>
                        <a:pt x="0" y="127"/>
                      </a:lnTo>
                    </a:path>
                  </a:pathLst>
                </a:custGeom>
                <a:noFill/>
                <a:ln w="25400">
                  <a:solidFill>
                    <a:srgbClr val="92301C"/>
                  </a:solidFill>
                </a:ln>
              </p:spPr>
            </p:sp>
            <p:sp>
              <p:nvSpPr>
                <p:cNvPr id="112" name="Freeform 112"/>
                <p:cNvSpPr/>
                <p:nvPr/>
              </p:nvSpPr>
              <p:spPr>
                <a:xfrm>
                  <a:off x="5114925" y="1816099"/>
                  <a:ext cx="9525" cy="9525"/>
                </a:xfrm>
                <a:custGeom>
                  <a:avLst/>
                  <a:gdLst/>
                  <a:ahLst/>
                  <a:cxnLst/>
                  <a:rect l="l" t="t" r="r" b="b"/>
                  <a:pathLst>
                    <a:path w="9525" h="9525">
                      <a:moveTo>
                        <a:pt x="0" y="0"/>
                      </a:moveTo>
                      <a:lnTo>
                        <a:pt x="0" y="127"/>
                      </a:lnTo>
                    </a:path>
                  </a:pathLst>
                </a:custGeom>
                <a:noFill/>
                <a:ln w="25400">
                  <a:solidFill>
                    <a:srgbClr val="92301C"/>
                  </a:solidFill>
                </a:ln>
              </p:spPr>
            </p:sp>
            <p:sp>
              <p:nvSpPr>
                <p:cNvPr id="113" name="Freeform 113"/>
                <p:cNvSpPr/>
                <p:nvPr/>
              </p:nvSpPr>
              <p:spPr>
                <a:xfrm>
                  <a:off x="5165724" y="1816099"/>
                  <a:ext cx="9525" cy="9525"/>
                </a:xfrm>
                <a:custGeom>
                  <a:avLst/>
                  <a:gdLst/>
                  <a:ahLst/>
                  <a:cxnLst/>
                  <a:rect l="l" t="t" r="r" b="b"/>
                  <a:pathLst>
                    <a:path w="9525" h="9525">
                      <a:moveTo>
                        <a:pt x="0" y="0"/>
                      </a:moveTo>
                      <a:lnTo>
                        <a:pt x="0" y="127"/>
                      </a:lnTo>
                    </a:path>
                  </a:pathLst>
                </a:custGeom>
                <a:noFill/>
                <a:ln w="25400">
                  <a:solidFill>
                    <a:srgbClr val="92301C"/>
                  </a:solidFill>
                </a:ln>
              </p:spPr>
            </p:sp>
          </p:grpSp>
          <p:grpSp>
            <p:nvGrpSpPr>
              <p:cNvPr id="118" name="Group 118"/>
              <p:cNvGrpSpPr/>
              <p:nvPr/>
            </p:nvGrpSpPr>
            <p:grpSpPr>
              <a:xfrm>
                <a:off x="5739319" y="1634081"/>
                <a:ext cx="256151" cy="220068"/>
                <a:chOff x="5739319" y="1634081"/>
                <a:chExt cx="256151" cy="220068"/>
              </a:xfrm>
            </p:grpSpPr>
            <p:sp>
              <p:nvSpPr>
                <p:cNvPr id="115" name="Freeform 115"/>
                <p:cNvSpPr/>
                <p:nvPr/>
              </p:nvSpPr>
              <p:spPr>
                <a:xfrm>
                  <a:off x="5867400" y="1714500"/>
                  <a:ext cx="9525" cy="50800"/>
                </a:xfrm>
                <a:custGeom>
                  <a:avLst/>
                  <a:gdLst/>
                  <a:ahLst/>
                  <a:cxnLst/>
                  <a:rect l="l" t="t" r="r" b="b"/>
                  <a:pathLst>
                    <a:path w="9525" h="50800">
                      <a:moveTo>
                        <a:pt x="0" y="0"/>
                      </a:moveTo>
                      <a:lnTo>
                        <a:pt x="0" y="50800"/>
                      </a:lnTo>
                    </a:path>
                  </a:pathLst>
                </a:custGeom>
                <a:noFill/>
                <a:ln w="25400">
                  <a:solidFill>
                    <a:srgbClr val="92301C"/>
                  </a:solidFill>
                </a:ln>
              </p:spPr>
            </p:sp>
            <p:sp>
              <p:nvSpPr>
                <p:cNvPr id="116" name="Freeform 116"/>
                <p:cNvSpPr/>
                <p:nvPr/>
              </p:nvSpPr>
              <p:spPr>
                <a:xfrm>
                  <a:off x="5739319" y="163408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25400">
                  <a:solidFill>
                    <a:srgbClr val="92301C"/>
                  </a:solidFill>
                </a:ln>
              </p:spPr>
            </p:sp>
            <p:sp>
              <p:nvSpPr>
                <p:cNvPr id="117" name="Freeform 117"/>
                <p:cNvSpPr/>
                <p:nvPr/>
              </p:nvSpPr>
              <p:spPr>
                <a:xfrm>
                  <a:off x="5867400" y="1803399"/>
                  <a:ext cx="9525" cy="9525"/>
                </a:xfrm>
                <a:custGeom>
                  <a:avLst/>
                  <a:gdLst/>
                  <a:ahLst/>
                  <a:cxnLst/>
                  <a:rect l="l" t="t" r="r" b="b"/>
                  <a:pathLst>
                    <a:path w="9525" h="9525">
                      <a:moveTo>
                        <a:pt x="0" y="0"/>
                      </a:moveTo>
                      <a:lnTo>
                        <a:pt x="127" y="0"/>
                      </a:lnTo>
                    </a:path>
                  </a:pathLst>
                </a:custGeom>
                <a:noFill/>
                <a:ln w="25400">
                  <a:solidFill>
                    <a:srgbClr val="92301C"/>
                  </a:solidFill>
                </a:ln>
              </p:spPr>
            </p:sp>
          </p:grpSp>
          <p:grpSp>
            <p:nvGrpSpPr>
              <p:cNvPr id="121" name="Group 121"/>
              <p:cNvGrpSpPr/>
              <p:nvPr/>
            </p:nvGrpSpPr>
            <p:grpSpPr>
              <a:xfrm>
                <a:off x="6543675" y="1638300"/>
                <a:ext cx="152400" cy="228600"/>
                <a:chOff x="6543675" y="1638300"/>
                <a:chExt cx="152400" cy="228600"/>
              </a:xfrm>
            </p:grpSpPr>
            <p:sp>
              <p:nvSpPr>
                <p:cNvPr id="119" name="Freeform 119"/>
                <p:cNvSpPr/>
                <p:nvPr/>
              </p:nvSpPr>
              <p:spPr>
                <a:xfrm>
                  <a:off x="6569075" y="163830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rgbClr val="92301C"/>
                  </a:solidFill>
                </a:ln>
              </p:spPr>
            </p:sp>
            <p:sp>
              <p:nvSpPr>
                <p:cNvPr id="120" name="Freeform 120"/>
                <p:cNvSpPr/>
                <p:nvPr/>
              </p:nvSpPr>
              <p:spPr>
                <a:xfrm>
                  <a:off x="6543675" y="1790700"/>
                  <a:ext cx="152400" cy="76200"/>
                </a:xfrm>
                <a:custGeom>
                  <a:avLst/>
                  <a:gdLst/>
                  <a:ahLst/>
                  <a:cxnLst/>
                  <a:rect l="l" t="t" r="r" b="b"/>
                  <a:pathLst>
                    <a:path w="152400" h="76200">
                      <a:moveTo>
                        <a:pt x="0" y="76200"/>
                      </a:moveTo>
                      <a:lnTo>
                        <a:pt x="0" y="50800"/>
                      </a:lnTo>
                      <a:cubicBezTo>
                        <a:pt x="0" y="22744"/>
                        <a:pt x="22744" y="0"/>
                        <a:pt x="50800" y="0"/>
                      </a:cubicBezTo>
                      <a:lnTo>
                        <a:pt x="101600" y="0"/>
                      </a:lnTo>
                      <a:cubicBezTo>
                        <a:pt x="129656" y="0"/>
                        <a:pt x="152400" y="22744"/>
                        <a:pt x="152400" y="50800"/>
                      </a:cubicBezTo>
                      <a:lnTo>
                        <a:pt x="152400" y="76200"/>
                      </a:lnTo>
                    </a:path>
                  </a:pathLst>
                </a:custGeom>
                <a:noFill/>
                <a:ln w="25400">
                  <a:solidFill>
                    <a:srgbClr val="92301C"/>
                  </a:solidFill>
                </a:ln>
              </p:spPr>
            </p:sp>
          </p:grpSp>
        </p:grpSp>
        <p:grpSp>
          <p:nvGrpSpPr>
            <p:cNvPr id="147" name="mf-bullets"/>
            <p:cNvGrpSpPr/>
            <p:nvPr/>
          </p:nvGrpSpPr>
          <p:grpSpPr>
            <a:xfrm>
              <a:off x="2490788" y="2102882"/>
              <a:ext cx="4365040" cy="697706"/>
              <a:chOff x="2490788" y="2102882"/>
              <a:chExt cx="4365040" cy="697706"/>
            </a:xfrm>
          </p:grpSpPr>
          <p:sp>
            <p:nvSpPr>
              <p:cNvPr id="123" name="TextBox 123"/>
              <p:cNvSpPr txBox="1"/>
              <p:nvPr/>
            </p:nvSpPr>
            <p:spPr>
              <a:xfrm>
                <a:off x="2490788" y="2102882"/>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多模态识别</a:t>
                </a:r>
              </a:p>
            </p:txBody>
          </p:sp>
          <p:sp>
            <p:nvSpPr>
              <p:cNvPr id="124" name="TextBox 124"/>
              <p:cNvSpPr txBox="1"/>
              <p:nvPr/>
            </p:nvSpPr>
            <p:spPr>
              <a:xfrm>
                <a:off x="2490788" y="2293382"/>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信息抽取</a:t>
                </a:r>
              </a:p>
            </p:txBody>
          </p:sp>
          <p:sp>
            <p:nvSpPr>
              <p:cNvPr id="125" name="TextBox 125"/>
              <p:cNvSpPr txBox="1"/>
              <p:nvPr/>
            </p:nvSpPr>
            <p:spPr>
              <a:xfrm>
                <a:off x="2490788" y="248388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材料完整性校验</a:t>
                </a:r>
              </a:p>
            </p:txBody>
          </p:sp>
          <p:sp>
            <p:nvSpPr>
              <p:cNvPr id="126" name="TextBox 126"/>
              <p:cNvSpPr txBox="1"/>
              <p:nvPr/>
            </p:nvSpPr>
            <p:spPr>
              <a:xfrm>
                <a:off x="2490788" y="267438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关键字段结构化</a:t>
                </a:r>
              </a:p>
            </p:txBody>
          </p:sp>
          <p:sp>
            <p:nvSpPr>
              <p:cNvPr id="127" name="TextBox 127"/>
              <p:cNvSpPr txBox="1"/>
              <p:nvPr/>
            </p:nvSpPr>
            <p:spPr>
              <a:xfrm>
                <a:off x="3243262" y="2102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解析保单条款</a:t>
                </a:r>
              </a:p>
            </p:txBody>
          </p:sp>
          <p:sp>
            <p:nvSpPr>
              <p:cNvPr id="128" name="TextBox 128"/>
              <p:cNvSpPr txBox="1"/>
              <p:nvPr/>
            </p:nvSpPr>
            <p:spPr>
              <a:xfrm>
                <a:off x="3243262" y="22933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匹配保障范围</a:t>
                </a:r>
              </a:p>
            </p:txBody>
          </p:sp>
          <p:sp>
            <p:nvSpPr>
              <p:cNvPr id="129" name="TextBox 129"/>
              <p:cNvSpPr txBox="1"/>
              <p:nvPr/>
            </p:nvSpPr>
            <p:spPr>
              <a:xfrm>
                <a:off x="3243262" y="2483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识别责任免除</a:t>
                </a:r>
              </a:p>
            </p:txBody>
          </p:sp>
          <p:sp>
            <p:nvSpPr>
              <p:cNvPr id="130" name="TextBox 130"/>
              <p:cNvSpPr txBox="1"/>
              <p:nvPr/>
            </p:nvSpPr>
            <p:spPr>
              <a:xfrm>
                <a:off x="3243262" y="26743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输出初步结论</a:t>
                </a:r>
              </a:p>
            </p:txBody>
          </p:sp>
          <p:sp>
            <p:nvSpPr>
              <p:cNvPr id="131" name="TextBox 131"/>
              <p:cNvSpPr txBox="1"/>
              <p:nvPr/>
            </p:nvSpPr>
            <p:spPr>
              <a:xfrm>
                <a:off x="3995738" y="2102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事故事实核验</a:t>
                </a:r>
              </a:p>
            </p:txBody>
          </p:sp>
          <p:sp>
            <p:nvSpPr>
              <p:cNvPr id="132" name="TextBox 132"/>
              <p:cNvSpPr txBox="1"/>
              <p:nvPr/>
            </p:nvSpPr>
            <p:spPr>
              <a:xfrm>
                <a:off x="3995738" y="22933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责任归属判断</a:t>
                </a:r>
              </a:p>
            </p:txBody>
          </p:sp>
          <p:sp>
            <p:nvSpPr>
              <p:cNvPr id="133" name="TextBox 133"/>
              <p:cNvSpPr txBox="1"/>
              <p:nvPr/>
            </p:nvSpPr>
            <p:spPr>
              <a:xfrm>
                <a:off x="3995738" y="248388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与条款逐项比对</a:t>
                </a:r>
              </a:p>
            </p:txBody>
          </p:sp>
          <p:sp>
            <p:nvSpPr>
              <p:cNvPr id="134" name="TextBox 134"/>
              <p:cNvSpPr txBox="1"/>
              <p:nvPr/>
            </p:nvSpPr>
            <p:spPr>
              <a:xfrm>
                <a:off x="3995738" y="26743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不确定项标记</a:t>
                </a:r>
              </a:p>
            </p:txBody>
          </p:sp>
          <p:sp>
            <p:nvSpPr>
              <p:cNvPr id="135" name="TextBox 135"/>
              <p:cNvSpPr txBox="1"/>
              <p:nvPr/>
            </p:nvSpPr>
            <p:spPr>
              <a:xfrm>
                <a:off x="4748212" y="2102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损失项目识别</a:t>
                </a:r>
              </a:p>
            </p:txBody>
          </p:sp>
          <p:sp>
            <p:nvSpPr>
              <p:cNvPr id="136" name="TextBox 136"/>
              <p:cNvSpPr txBox="1"/>
              <p:nvPr/>
            </p:nvSpPr>
            <p:spPr>
              <a:xfrm>
                <a:off x="4748212" y="229338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费用合理性评估</a:t>
                </a:r>
              </a:p>
            </p:txBody>
          </p:sp>
          <p:sp>
            <p:nvSpPr>
              <p:cNvPr id="137" name="TextBox 137"/>
              <p:cNvSpPr txBox="1"/>
              <p:nvPr/>
            </p:nvSpPr>
            <p:spPr>
              <a:xfrm>
                <a:off x="4748212" y="2483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赔付金额测算</a:t>
                </a:r>
              </a:p>
            </p:txBody>
          </p:sp>
          <p:sp>
            <p:nvSpPr>
              <p:cNvPr id="138" name="TextBox 138"/>
              <p:cNvSpPr txBox="1"/>
              <p:nvPr/>
            </p:nvSpPr>
            <p:spPr>
              <a:xfrm>
                <a:off x="4748212" y="26743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输出测算区间</a:t>
                </a:r>
              </a:p>
            </p:txBody>
          </p:sp>
          <p:sp>
            <p:nvSpPr>
              <p:cNvPr id="139" name="TextBox 139"/>
              <p:cNvSpPr txBox="1"/>
              <p:nvPr/>
            </p:nvSpPr>
            <p:spPr>
              <a:xfrm>
                <a:off x="5500688" y="2102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多维规则排查</a:t>
                </a:r>
              </a:p>
            </p:txBody>
          </p:sp>
          <p:sp>
            <p:nvSpPr>
              <p:cNvPr id="140" name="TextBox 140"/>
              <p:cNvSpPr txBox="1"/>
              <p:nvPr/>
            </p:nvSpPr>
            <p:spPr>
              <a:xfrm>
                <a:off x="5500688" y="22933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异常模式识别</a:t>
                </a:r>
              </a:p>
            </p:txBody>
          </p:sp>
          <p:sp>
            <p:nvSpPr>
              <p:cNvPr id="141" name="TextBox 141"/>
              <p:cNvSpPr txBox="1"/>
              <p:nvPr/>
            </p:nvSpPr>
            <p:spPr>
              <a:xfrm>
                <a:off x="5500688" y="2483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关联案件分析</a:t>
                </a:r>
              </a:p>
            </p:txBody>
          </p:sp>
          <p:sp>
            <p:nvSpPr>
              <p:cNvPr id="142" name="TextBox 142"/>
              <p:cNvSpPr txBox="1"/>
              <p:nvPr/>
            </p:nvSpPr>
            <p:spPr>
              <a:xfrm>
                <a:off x="5500688" y="26743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输出风险评级</a:t>
                </a:r>
              </a:p>
            </p:txBody>
          </p:sp>
          <p:sp>
            <p:nvSpPr>
              <p:cNvPr id="143" name="TextBox 143"/>
              <p:cNvSpPr txBox="1"/>
              <p:nvPr/>
            </p:nvSpPr>
            <p:spPr>
              <a:xfrm>
                <a:off x="6253162" y="2102882"/>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关键项展示</a:t>
                </a:r>
              </a:p>
            </p:txBody>
          </p:sp>
          <p:sp>
            <p:nvSpPr>
              <p:cNvPr id="144" name="TextBox 144"/>
              <p:cNvSpPr txBox="1"/>
              <p:nvPr/>
            </p:nvSpPr>
            <p:spPr>
              <a:xfrm>
                <a:off x="6253162" y="2293382"/>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风险点提示</a:t>
                </a:r>
              </a:p>
            </p:txBody>
          </p:sp>
          <p:sp>
            <p:nvSpPr>
              <p:cNvPr id="145" name="TextBox 145"/>
              <p:cNvSpPr txBox="1"/>
              <p:nvPr/>
            </p:nvSpPr>
            <p:spPr>
              <a:xfrm>
                <a:off x="6253162" y="24838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人工复核决策</a:t>
                </a:r>
              </a:p>
            </p:txBody>
          </p:sp>
          <p:sp>
            <p:nvSpPr>
              <p:cNvPr id="146" name="TextBox 146"/>
              <p:cNvSpPr txBox="1"/>
              <p:nvPr/>
            </p:nvSpPr>
            <p:spPr>
              <a:xfrm>
                <a:off x="6253162" y="26743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生成审核意见</a:t>
                </a:r>
              </a:p>
            </p:txBody>
          </p:sp>
        </p:grpSp>
        <p:grpSp>
          <p:nvGrpSpPr>
            <p:cNvPr id="152" name="mf-converge"/>
            <p:cNvGrpSpPr/>
            <p:nvPr/>
          </p:nvGrpSpPr>
          <p:grpSpPr>
            <a:xfrm>
              <a:off x="2857500" y="3028950"/>
              <a:ext cx="3771900" cy="1238250"/>
              <a:chOff x="2857500" y="3028950"/>
              <a:chExt cx="3771900" cy="1238250"/>
            </a:xfrm>
          </p:grpSpPr>
          <p:sp>
            <p:nvSpPr>
              <p:cNvPr id="148" name="Line 148"/>
              <p:cNvSpPr/>
              <p:nvPr/>
            </p:nvSpPr>
            <p:spPr>
              <a:xfrm>
                <a:off x="2857500" y="3028950"/>
                <a:ext cx="9525" cy="781050"/>
              </a:xfrm>
              <a:custGeom>
                <a:avLst/>
                <a:gdLst/>
                <a:ahLst/>
                <a:cxnLst/>
                <a:rect l="l" t="t" r="r" b="b"/>
                <a:pathLst>
                  <a:path w="9525" h="781050">
                    <a:moveTo>
                      <a:pt x="0" y="0"/>
                    </a:moveTo>
                    <a:lnTo>
                      <a:pt x="0" y="781050"/>
                    </a:lnTo>
                  </a:path>
                </a:pathLst>
              </a:custGeom>
              <a:noFill/>
              <a:ln w="11430">
                <a:solidFill>
                  <a:srgbClr val="CFDFEE"/>
                </a:solidFill>
              </a:ln>
            </p:spPr>
          </p:sp>
          <p:sp>
            <p:nvSpPr>
              <p:cNvPr id="149" name="Line 149"/>
              <p:cNvSpPr/>
              <p:nvPr/>
            </p:nvSpPr>
            <p:spPr>
              <a:xfrm>
                <a:off x="6619875" y="3028950"/>
                <a:ext cx="9525" cy="781050"/>
              </a:xfrm>
              <a:custGeom>
                <a:avLst/>
                <a:gdLst/>
                <a:ahLst/>
                <a:cxnLst/>
                <a:rect l="l" t="t" r="r" b="b"/>
                <a:pathLst>
                  <a:path w="9525" h="781050">
                    <a:moveTo>
                      <a:pt x="0" y="0"/>
                    </a:moveTo>
                    <a:lnTo>
                      <a:pt x="0" y="781050"/>
                    </a:lnTo>
                  </a:path>
                </a:pathLst>
              </a:custGeom>
              <a:noFill/>
              <a:ln w="11430">
                <a:solidFill>
                  <a:srgbClr val="CFDFEE"/>
                </a:solidFill>
              </a:ln>
            </p:spPr>
          </p:sp>
          <p:sp>
            <p:nvSpPr>
              <p:cNvPr id="150" name="Line 150"/>
              <p:cNvSpPr/>
              <p:nvPr/>
            </p:nvSpPr>
            <p:spPr>
              <a:xfrm>
                <a:off x="2857500" y="3810000"/>
                <a:ext cx="3762375" cy="9525"/>
              </a:xfrm>
              <a:custGeom>
                <a:avLst/>
                <a:gdLst/>
                <a:ahLst/>
                <a:cxnLst/>
                <a:rect l="l" t="t" r="r" b="b"/>
                <a:pathLst>
                  <a:path w="3762375" h="9525">
                    <a:moveTo>
                      <a:pt x="0" y="0"/>
                    </a:moveTo>
                    <a:lnTo>
                      <a:pt x="3762375" y="0"/>
                    </a:lnTo>
                  </a:path>
                </a:pathLst>
              </a:custGeom>
              <a:noFill/>
              <a:ln w="11430">
                <a:solidFill>
                  <a:srgbClr val="CFDFEE"/>
                </a:solidFill>
              </a:ln>
            </p:spPr>
          </p:sp>
          <p:sp>
            <p:nvSpPr>
              <p:cNvPr id="151" name="Line 151"/>
              <p:cNvSpPr/>
              <p:nvPr/>
            </p:nvSpPr>
            <p:spPr>
              <a:xfrm>
                <a:off x="4733925" y="3810000"/>
                <a:ext cx="1" cy="457200"/>
              </a:xfrm>
              <a:prstGeom prst="line">
                <a:avLst/>
              </a:prstGeom>
              <a:noFill/>
              <a:ln w="14288">
                <a:solidFill>
                  <a:srgbClr val="92301C"/>
                </a:solidFill>
                <a:tailEnd type="triangle" w="lg" len="lg"/>
              </a:ln>
            </p:spPr>
          </p:sp>
        </p:grpSp>
        <p:sp>
          <p:nvSpPr>
            <p:cNvPr id="153" name="Rectangle 153"/>
            <p:cNvSpPr/>
            <p:nvPr/>
          </p:nvSpPr>
          <p:spPr>
            <a:xfrm>
              <a:off x="2457450" y="4343400"/>
              <a:ext cx="4572000" cy="419100"/>
            </a:xfrm>
            <a:prstGeom prst="roundRect">
              <a:avLst>
                <a:gd name="adj" fmla="val 13636"/>
              </a:avLst>
            </a:prstGeom>
            <a:solidFill>
              <a:srgbClr val="EEF5FB"/>
            </a:solidFill>
            <a:ln w="9525">
              <a:solidFill>
                <a:srgbClr val="CFDFEE"/>
              </a:solidFill>
            </a:ln>
          </p:spPr>
        </p:sp>
        <p:grpSp>
          <p:nvGrpSpPr>
            <p:cNvPr id="158" name="Group 158"/>
            <p:cNvGrpSpPr/>
            <p:nvPr/>
          </p:nvGrpSpPr>
          <p:grpSpPr>
            <a:xfrm>
              <a:off x="2638425" y="4467225"/>
              <a:ext cx="152400" cy="180975"/>
              <a:chOff x="2638425" y="4467225"/>
              <a:chExt cx="152400" cy="180975"/>
            </a:xfrm>
          </p:grpSpPr>
          <p:sp>
            <p:nvSpPr>
              <p:cNvPr id="154" name="Freeform 154"/>
              <p:cNvSpPr/>
              <p:nvPr/>
            </p:nvSpPr>
            <p:spPr>
              <a:xfrm>
                <a:off x="2743200" y="446722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92301C"/>
                </a:solidFill>
              </a:ln>
            </p:spPr>
          </p:sp>
          <p:sp>
            <p:nvSpPr>
              <p:cNvPr id="155" name="Freeform 155"/>
              <p:cNvSpPr/>
              <p:nvPr/>
            </p:nvSpPr>
            <p:spPr>
              <a:xfrm>
                <a:off x="2657475" y="4467225"/>
                <a:ext cx="133350" cy="171450"/>
              </a:xfrm>
              <a:custGeom>
                <a:avLst/>
                <a:gdLst/>
                <a:ahLst/>
                <a:cxnLst/>
                <a:rect l="l" t="t" r="r" b="b"/>
                <a:pathLst>
                  <a:path w="133350" h="171450">
                    <a:moveTo>
                      <a:pt x="0" y="47625"/>
                    </a:moveTo>
                    <a:lnTo>
                      <a:pt x="0" y="19050"/>
                    </a:lnTo>
                    <a:cubicBezTo>
                      <a:pt x="0" y="8529"/>
                      <a:pt x="8529" y="0"/>
                      <a:pt x="19050" y="0"/>
                    </a:cubicBezTo>
                    <a:lnTo>
                      <a:pt x="85725" y="0"/>
                    </a:lnTo>
                    <a:lnTo>
                      <a:pt x="133350" y="47625"/>
                    </a:lnTo>
                    <a:lnTo>
                      <a:pt x="133350" y="152400"/>
                    </a:lnTo>
                    <a:cubicBezTo>
                      <a:pt x="133350" y="162921"/>
                      <a:pt x="124821" y="171450"/>
                      <a:pt x="114300" y="171450"/>
                    </a:cubicBezTo>
                    <a:lnTo>
                      <a:pt x="66675" y="171450"/>
                    </a:lnTo>
                  </a:path>
                </a:pathLst>
              </a:custGeom>
              <a:noFill/>
              <a:ln w="19050">
                <a:solidFill>
                  <a:srgbClr val="92301C"/>
                </a:solidFill>
              </a:ln>
            </p:spPr>
          </p:sp>
          <p:sp>
            <p:nvSpPr>
              <p:cNvPr id="156" name="Freeform 156"/>
              <p:cNvSpPr/>
              <p:nvPr/>
            </p:nvSpPr>
            <p:spPr>
              <a:xfrm>
                <a:off x="2638425" y="45434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92301C"/>
                </a:solidFill>
              </a:ln>
            </p:spPr>
          </p:sp>
          <p:sp>
            <p:nvSpPr>
              <p:cNvPr id="157" name="Freeform 157"/>
              <p:cNvSpPr/>
              <p:nvPr/>
            </p:nvSpPr>
            <p:spPr>
              <a:xfrm>
                <a:off x="2638425" y="4600575"/>
                <a:ext cx="57150" cy="47625"/>
              </a:xfrm>
              <a:custGeom>
                <a:avLst/>
                <a:gdLst/>
                <a:ahLst/>
                <a:cxnLst/>
                <a:rect l="l" t="t" r="r" b="b"/>
                <a:pathLst>
                  <a:path w="57150" h="47625">
                    <a:moveTo>
                      <a:pt x="14288" y="0"/>
                    </a:moveTo>
                    <a:lnTo>
                      <a:pt x="0" y="47625"/>
                    </a:lnTo>
                    <a:lnTo>
                      <a:pt x="28575" y="33338"/>
                    </a:lnTo>
                    <a:lnTo>
                      <a:pt x="57150" y="47625"/>
                    </a:lnTo>
                    <a:lnTo>
                      <a:pt x="42862" y="0"/>
                    </a:lnTo>
                  </a:path>
                </a:pathLst>
              </a:custGeom>
              <a:noFill/>
              <a:ln w="19050">
                <a:solidFill>
                  <a:srgbClr val="92301C"/>
                </a:solidFill>
              </a:ln>
            </p:spPr>
          </p:sp>
        </p:grpSp>
        <p:sp>
          <p:nvSpPr>
            <p:cNvPr id="159" name="TextBox 159"/>
            <p:cNvSpPr txBox="1"/>
            <p:nvPr/>
          </p:nvSpPr>
          <p:spPr>
            <a:xfrm>
              <a:off x="2928938" y="4511516"/>
              <a:ext cx="3321177"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输出：审核报告</a:t>
              </a:r>
              <a:r>
                <a:rPr lang="zh-CN" sz="820" dirty="0">
                  <a:solidFill>
                    <a:srgbClr val="52352F"/>
                  </a:solidFill>
                  <a:latin typeface="+mn-lt"/>
                  <a:ea typeface="+mn-ea"/>
                  <a:cs typeface="+mn-cs"/>
                </a:rPr>
                <a:t>（含责任结论、金额测算、风险提示、需补充材料）</a:t>
              </a:r>
            </a:p>
          </p:txBody>
        </p:sp>
      </p:grpSp>
      <p:grpSp>
        <p:nvGrpSpPr>
          <p:cNvPr id="224" name="risk-matrix"/>
          <p:cNvGrpSpPr/>
          <p:nvPr/>
        </p:nvGrpSpPr>
        <p:grpSpPr>
          <a:xfrm>
            <a:off x="7124700" y="952500"/>
            <a:ext cx="4876800" cy="2000250"/>
            <a:chOff x="7124700" y="952500"/>
            <a:chExt cx="4876800" cy="2000250"/>
          </a:xfrm>
        </p:grpSpPr>
        <p:sp>
          <p:nvSpPr>
            <p:cNvPr id="161" name="Rectangle 161"/>
            <p:cNvSpPr/>
            <p:nvPr/>
          </p:nvSpPr>
          <p:spPr>
            <a:xfrm>
              <a:off x="7124700" y="952500"/>
              <a:ext cx="4876800" cy="2000250"/>
            </a:xfrm>
            <a:prstGeom prst="roundRect">
              <a:avLst>
                <a:gd name="adj" fmla="val 2857"/>
              </a:avLst>
            </a:prstGeom>
            <a:solidFill>
              <a:srgbClr val="FCFDFE"/>
            </a:solidFill>
            <a:ln w="9525">
              <a:solidFill>
                <a:srgbClr val="CFDFEE"/>
              </a:solidFill>
            </a:ln>
          </p:spPr>
        </p:sp>
        <p:grpSp>
          <p:nvGrpSpPr>
            <p:cNvPr id="187" name="rm-cells"/>
            <p:cNvGrpSpPr/>
            <p:nvPr/>
          </p:nvGrpSpPr>
          <p:grpSpPr>
            <a:xfrm>
              <a:off x="7905750" y="1143000"/>
              <a:ext cx="1428750" cy="1143000"/>
              <a:chOff x="7905750" y="1143000"/>
              <a:chExt cx="1428750" cy="1143000"/>
            </a:xfrm>
          </p:grpSpPr>
          <p:sp>
            <p:nvSpPr>
              <p:cNvPr id="162" name="Rectangle 162"/>
              <p:cNvSpPr/>
              <p:nvPr/>
            </p:nvSpPr>
            <p:spPr>
              <a:xfrm>
                <a:off x="7905750" y="1143000"/>
                <a:ext cx="285750" cy="228600"/>
              </a:xfrm>
              <a:prstGeom prst="rect">
                <a:avLst/>
              </a:prstGeom>
              <a:solidFill>
                <a:srgbClr val="B7533F"/>
              </a:solidFill>
              <a:ln>
                <a:noFill/>
              </a:ln>
            </p:spPr>
          </p:sp>
          <p:sp>
            <p:nvSpPr>
              <p:cNvPr id="163" name="Rectangle 163"/>
              <p:cNvSpPr/>
              <p:nvPr/>
            </p:nvSpPr>
            <p:spPr>
              <a:xfrm>
                <a:off x="8191500" y="1143000"/>
                <a:ext cx="285750" cy="228600"/>
              </a:xfrm>
              <a:prstGeom prst="rect">
                <a:avLst/>
              </a:prstGeom>
              <a:solidFill>
                <a:srgbClr val="92301C"/>
              </a:solidFill>
              <a:ln>
                <a:noFill/>
              </a:ln>
            </p:spPr>
          </p:sp>
          <p:sp>
            <p:nvSpPr>
              <p:cNvPr id="164" name="Rectangle 164"/>
              <p:cNvSpPr/>
              <p:nvPr/>
            </p:nvSpPr>
            <p:spPr>
              <a:xfrm>
                <a:off x="8477250" y="1143000"/>
                <a:ext cx="285750" cy="228600"/>
              </a:xfrm>
              <a:prstGeom prst="rect">
                <a:avLst/>
              </a:prstGeom>
              <a:solidFill>
                <a:srgbClr val="92301C"/>
              </a:solidFill>
              <a:ln>
                <a:noFill/>
              </a:ln>
            </p:spPr>
          </p:sp>
          <p:sp>
            <p:nvSpPr>
              <p:cNvPr id="165" name="Rectangle 165"/>
              <p:cNvSpPr/>
              <p:nvPr/>
            </p:nvSpPr>
            <p:spPr>
              <a:xfrm>
                <a:off x="8763000" y="1143000"/>
                <a:ext cx="285750" cy="228600"/>
              </a:xfrm>
              <a:prstGeom prst="rect">
                <a:avLst/>
              </a:prstGeom>
              <a:solidFill>
                <a:srgbClr val="6B1B0B"/>
              </a:solidFill>
              <a:ln>
                <a:noFill/>
              </a:ln>
            </p:spPr>
          </p:sp>
          <p:sp>
            <p:nvSpPr>
              <p:cNvPr id="166" name="Rectangle 166"/>
              <p:cNvSpPr/>
              <p:nvPr/>
            </p:nvSpPr>
            <p:spPr>
              <a:xfrm>
                <a:off x="9048750" y="1143000"/>
                <a:ext cx="285750" cy="228600"/>
              </a:xfrm>
              <a:prstGeom prst="rect">
                <a:avLst/>
              </a:prstGeom>
              <a:solidFill>
                <a:srgbClr val="6B1B0B"/>
              </a:solidFill>
              <a:ln>
                <a:noFill/>
              </a:ln>
            </p:spPr>
          </p:sp>
          <p:sp>
            <p:nvSpPr>
              <p:cNvPr id="167" name="Rectangle 167"/>
              <p:cNvSpPr/>
              <p:nvPr/>
            </p:nvSpPr>
            <p:spPr>
              <a:xfrm>
                <a:off x="7905750" y="1371600"/>
                <a:ext cx="285750" cy="228600"/>
              </a:xfrm>
              <a:prstGeom prst="rect">
                <a:avLst/>
              </a:prstGeom>
              <a:solidFill>
                <a:srgbClr val="E3B3A9"/>
              </a:solidFill>
              <a:ln>
                <a:noFill/>
              </a:ln>
            </p:spPr>
          </p:sp>
          <p:sp>
            <p:nvSpPr>
              <p:cNvPr id="168" name="Rectangle 168"/>
              <p:cNvSpPr/>
              <p:nvPr/>
            </p:nvSpPr>
            <p:spPr>
              <a:xfrm>
                <a:off x="8191500" y="1371600"/>
                <a:ext cx="285750" cy="228600"/>
              </a:xfrm>
              <a:prstGeom prst="rect">
                <a:avLst/>
              </a:prstGeom>
              <a:solidFill>
                <a:srgbClr val="B7533F"/>
              </a:solidFill>
              <a:ln>
                <a:noFill/>
              </a:ln>
            </p:spPr>
          </p:sp>
          <p:sp>
            <p:nvSpPr>
              <p:cNvPr id="169" name="Rectangle 169"/>
              <p:cNvSpPr/>
              <p:nvPr/>
            </p:nvSpPr>
            <p:spPr>
              <a:xfrm>
                <a:off x="8477250" y="1371600"/>
                <a:ext cx="285750" cy="228600"/>
              </a:xfrm>
              <a:prstGeom prst="rect">
                <a:avLst/>
              </a:prstGeom>
              <a:solidFill>
                <a:srgbClr val="92301C"/>
              </a:solidFill>
              <a:ln>
                <a:noFill/>
              </a:ln>
            </p:spPr>
          </p:sp>
          <p:sp>
            <p:nvSpPr>
              <p:cNvPr id="170" name="Rectangle 170"/>
              <p:cNvSpPr/>
              <p:nvPr/>
            </p:nvSpPr>
            <p:spPr>
              <a:xfrm>
                <a:off x="8763000" y="1371600"/>
                <a:ext cx="285750" cy="228600"/>
              </a:xfrm>
              <a:prstGeom prst="rect">
                <a:avLst/>
              </a:prstGeom>
              <a:solidFill>
                <a:srgbClr val="92301C"/>
              </a:solidFill>
              <a:ln>
                <a:noFill/>
              </a:ln>
            </p:spPr>
          </p:sp>
          <p:sp>
            <p:nvSpPr>
              <p:cNvPr id="171" name="Rectangle 171"/>
              <p:cNvSpPr/>
              <p:nvPr/>
            </p:nvSpPr>
            <p:spPr>
              <a:xfrm>
                <a:off x="9048750" y="1371600"/>
                <a:ext cx="285750" cy="228600"/>
              </a:xfrm>
              <a:prstGeom prst="rect">
                <a:avLst/>
              </a:prstGeom>
              <a:solidFill>
                <a:srgbClr val="6B1B0B"/>
              </a:solidFill>
              <a:ln>
                <a:noFill/>
              </a:ln>
            </p:spPr>
          </p:sp>
          <p:sp>
            <p:nvSpPr>
              <p:cNvPr id="172" name="Rectangle 172"/>
              <p:cNvSpPr/>
              <p:nvPr/>
            </p:nvSpPr>
            <p:spPr>
              <a:xfrm>
                <a:off x="7905750" y="1600200"/>
                <a:ext cx="285750" cy="228600"/>
              </a:xfrm>
              <a:prstGeom prst="rect">
                <a:avLst/>
              </a:prstGeom>
              <a:solidFill>
                <a:srgbClr val="E3B3A9"/>
              </a:solidFill>
              <a:ln>
                <a:noFill/>
              </a:ln>
            </p:spPr>
          </p:sp>
          <p:sp>
            <p:nvSpPr>
              <p:cNvPr id="173" name="Rectangle 173"/>
              <p:cNvSpPr/>
              <p:nvPr/>
            </p:nvSpPr>
            <p:spPr>
              <a:xfrm>
                <a:off x="8191500" y="1600200"/>
                <a:ext cx="285750" cy="228600"/>
              </a:xfrm>
              <a:prstGeom prst="rect">
                <a:avLst/>
              </a:prstGeom>
              <a:solidFill>
                <a:srgbClr val="E3B3A9"/>
              </a:solidFill>
              <a:ln>
                <a:noFill/>
              </a:ln>
            </p:spPr>
          </p:sp>
          <p:sp>
            <p:nvSpPr>
              <p:cNvPr id="174" name="Rectangle 174"/>
              <p:cNvSpPr/>
              <p:nvPr/>
            </p:nvSpPr>
            <p:spPr>
              <a:xfrm>
                <a:off x="8477250" y="1600200"/>
                <a:ext cx="285750" cy="228600"/>
              </a:xfrm>
              <a:prstGeom prst="rect">
                <a:avLst/>
              </a:prstGeom>
              <a:solidFill>
                <a:srgbClr val="B7533F"/>
              </a:solidFill>
              <a:ln>
                <a:noFill/>
              </a:ln>
            </p:spPr>
          </p:sp>
          <p:sp>
            <p:nvSpPr>
              <p:cNvPr id="175" name="Rectangle 175"/>
              <p:cNvSpPr/>
              <p:nvPr/>
            </p:nvSpPr>
            <p:spPr>
              <a:xfrm>
                <a:off x="8763000" y="1600200"/>
                <a:ext cx="285750" cy="228600"/>
              </a:xfrm>
              <a:prstGeom prst="rect">
                <a:avLst/>
              </a:prstGeom>
              <a:solidFill>
                <a:srgbClr val="92301C"/>
              </a:solidFill>
              <a:ln>
                <a:noFill/>
              </a:ln>
            </p:spPr>
          </p:sp>
          <p:sp>
            <p:nvSpPr>
              <p:cNvPr id="176" name="Rectangle 176"/>
              <p:cNvSpPr/>
              <p:nvPr/>
            </p:nvSpPr>
            <p:spPr>
              <a:xfrm>
                <a:off x="9048750" y="1600200"/>
                <a:ext cx="285750" cy="228600"/>
              </a:xfrm>
              <a:prstGeom prst="rect">
                <a:avLst/>
              </a:prstGeom>
              <a:solidFill>
                <a:srgbClr val="92301C"/>
              </a:solidFill>
              <a:ln>
                <a:noFill/>
              </a:ln>
            </p:spPr>
          </p:sp>
          <p:sp>
            <p:nvSpPr>
              <p:cNvPr id="177" name="Rectangle 177"/>
              <p:cNvSpPr/>
              <p:nvPr/>
            </p:nvSpPr>
            <p:spPr>
              <a:xfrm>
                <a:off x="7905750" y="1828800"/>
                <a:ext cx="285750" cy="228600"/>
              </a:xfrm>
              <a:prstGeom prst="rect">
                <a:avLst/>
              </a:prstGeom>
              <a:solidFill>
                <a:srgbClr val="D6E6F3"/>
              </a:solidFill>
              <a:ln>
                <a:noFill/>
              </a:ln>
            </p:spPr>
          </p:sp>
          <p:sp>
            <p:nvSpPr>
              <p:cNvPr id="178" name="Rectangle 178"/>
              <p:cNvSpPr/>
              <p:nvPr/>
            </p:nvSpPr>
            <p:spPr>
              <a:xfrm>
                <a:off x="8191500" y="1828800"/>
                <a:ext cx="285750" cy="228600"/>
              </a:xfrm>
              <a:prstGeom prst="rect">
                <a:avLst/>
              </a:prstGeom>
              <a:solidFill>
                <a:srgbClr val="E3B3A9"/>
              </a:solidFill>
              <a:ln>
                <a:noFill/>
              </a:ln>
            </p:spPr>
          </p:sp>
          <p:sp>
            <p:nvSpPr>
              <p:cNvPr id="179" name="Rectangle 179"/>
              <p:cNvSpPr/>
              <p:nvPr/>
            </p:nvSpPr>
            <p:spPr>
              <a:xfrm>
                <a:off x="8477250" y="1828800"/>
                <a:ext cx="285750" cy="228600"/>
              </a:xfrm>
              <a:prstGeom prst="rect">
                <a:avLst/>
              </a:prstGeom>
              <a:solidFill>
                <a:srgbClr val="E3B3A9"/>
              </a:solidFill>
              <a:ln>
                <a:noFill/>
              </a:ln>
            </p:spPr>
          </p:sp>
          <p:sp>
            <p:nvSpPr>
              <p:cNvPr id="180" name="Rectangle 180"/>
              <p:cNvSpPr/>
              <p:nvPr/>
            </p:nvSpPr>
            <p:spPr>
              <a:xfrm>
                <a:off x="8763000" y="1828800"/>
                <a:ext cx="285750" cy="228600"/>
              </a:xfrm>
              <a:prstGeom prst="rect">
                <a:avLst/>
              </a:prstGeom>
              <a:solidFill>
                <a:srgbClr val="B7533F"/>
              </a:solidFill>
              <a:ln>
                <a:noFill/>
              </a:ln>
            </p:spPr>
          </p:sp>
          <p:sp>
            <p:nvSpPr>
              <p:cNvPr id="181" name="Rectangle 181"/>
              <p:cNvSpPr/>
              <p:nvPr/>
            </p:nvSpPr>
            <p:spPr>
              <a:xfrm>
                <a:off x="9048750" y="1828800"/>
                <a:ext cx="285750" cy="228600"/>
              </a:xfrm>
              <a:prstGeom prst="rect">
                <a:avLst/>
              </a:prstGeom>
              <a:solidFill>
                <a:srgbClr val="92301C"/>
              </a:solidFill>
              <a:ln>
                <a:noFill/>
              </a:ln>
            </p:spPr>
          </p:sp>
          <p:sp>
            <p:nvSpPr>
              <p:cNvPr id="182" name="Rectangle 182"/>
              <p:cNvSpPr/>
              <p:nvPr/>
            </p:nvSpPr>
            <p:spPr>
              <a:xfrm>
                <a:off x="7905750" y="2057400"/>
                <a:ext cx="285750" cy="228600"/>
              </a:xfrm>
              <a:prstGeom prst="rect">
                <a:avLst/>
              </a:prstGeom>
              <a:solidFill>
                <a:srgbClr val="D6E6F3"/>
              </a:solidFill>
              <a:ln>
                <a:noFill/>
              </a:ln>
            </p:spPr>
          </p:sp>
          <p:sp>
            <p:nvSpPr>
              <p:cNvPr id="183" name="Rectangle 183"/>
              <p:cNvSpPr/>
              <p:nvPr/>
            </p:nvSpPr>
            <p:spPr>
              <a:xfrm>
                <a:off x="8191500" y="2057400"/>
                <a:ext cx="285750" cy="228600"/>
              </a:xfrm>
              <a:prstGeom prst="rect">
                <a:avLst/>
              </a:prstGeom>
              <a:solidFill>
                <a:srgbClr val="D6E6F3"/>
              </a:solidFill>
              <a:ln>
                <a:noFill/>
              </a:ln>
            </p:spPr>
          </p:sp>
          <p:sp>
            <p:nvSpPr>
              <p:cNvPr id="184" name="Rectangle 184"/>
              <p:cNvSpPr/>
              <p:nvPr/>
            </p:nvSpPr>
            <p:spPr>
              <a:xfrm>
                <a:off x="8477250" y="2057400"/>
                <a:ext cx="285750" cy="228600"/>
              </a:xfrm>
              <a:prstGeom prst="rect">
                <a:avLst/>
              </a:prstGeom>
              <a:solidFill>
                <a:srgbClr val="E3B3A9"/>
              </a:solidFill>
              <a:ln>
                <a:noFill/>
              </a:ln>
            </p:spPr>
          </p:sp>
          <p:sp>
            <p:nvSpPr>
              <p:cNvPr id="185" name="Rectangle 185"/>
              <p:cNvSpPr/>
              <p:nvPr/>
            </p:nvSpPr>
            <p:spPr>
              <a:xfrm>
                <a:off x="8763000" y="2057400"/>
                <a:ext cx="285750" cy="228600"/>
              </a:xfrm>
              <a:prstGeom prst="rect">
                <a:avLst/>
              </a:prstGeom>
              <a:solidFill>
                <a:srgbClr val="E3B3A9"/>
              </a:solidFill>
              <a:ln>
                <a:noFill/>
              </a:ln>
            </p:spPr>
          </p:sp>
          <p:sp>
            <p:nvSpPr>
              <p:cNvPr id="186" name="Rectangle 186"/>
              <p:cNvSpPr/>
              <p:nvPr/>
            </p:nvSpPr>
            <p:spPr>
              <a:xfrm>
                <a:off x="9048750" y="2057400"/>
                <a:ext cx="285750" cy="228600"/>
              </a:xfrm>
              <a:prstGeom prst="rect">
                <a:avLst/>
              </a:prstGeom>
              <a:solidFill>
                <a:srgbClr val="B7533F"/>
              </a:solidFill>
              <a:ln>
                <a:noFill/>
              </a:ln>
            </p:spPr>
          </p:sp>
        </p:grpSp>
        <p:grpSp>
          <p:nvGrpSpPr>
            <p:cNvPr id="196" name="rm-grid"/>
            <p:cNvGrpSpPr/>
            <p:nvPr/>
          </p:nvGrpSpPr>
          <p:grpSpPr>
            <a:xfrm>
              <a:off x="7905750" y="1143000"/>
              <a:ext cx="1428750" cy="1143000"/>
              <a:chOff x="7905750" y="1143000"/>
              <a:chExt cx="1428750" cy="1143000"/>
            </a:xfrm>
          </p:grpSpPr>
          <p:sp>
            <p:nvSpPr>
              <p:cNvPr id="188" name="Line 188"/>
              <p:cNvSpPr/>
              <p:nvPr/>
            </p:nvSpPr>
            <p:spPr>
              <a:xfrm>
                <a:off x="8191500" y="1143000"/>
                <a:ext cx="9525" cy="1143000"/>
              </a:xfrm>
              <a:custGeom>
                <a:avLst/>
                <a:gdLst/>
                <a:ahLst/>
                <a:cxnLst/>
                <a:rect l="l" t="t" r="r" b="b"/>
                <a:pathLst>
                  <a:path w="9525" h="1143000">
                    <a:moveTo>
                      <a:pt x="0" y="0"/>
                    </a:moveTo>
                    <a:lnTo>
                      <a:pt x="0" y="1143000"/>
                    </a:lnTo>
                  </a:path>
                </a:pathLst>
              </a:custGeom>
              <a:noFill/>
              <a:ln w="9525">
                <a:solidFill>
                  <a:srgbClr val="FFFFFF"/>
                </a:solidFill>
              </a:ln>
            </p:spPr>
          </p:sp>
          <p:sp>
            <p:nvSpPr>
              <p:cNvPr id="189" name="Line 189"/>
              <p:cNvSpPr/>
              <p:nvPr/>
            </p:nvSpPr>
            <p:spPr>
              <a:xfrm>
                <a:off x="8477250" y="1143000"/>
                <a:ext cx="9525" cy="1143000"/>
              </a:xfrm>
              <a:custGeom>
                <a:avLst/>
                <a:gdLst/>
                <a:ahLst/>
                <a:cxnLst/>
                <a:rect l="l" t="t" r="r" b="b"/>
                <a:pathLst>
                  <a:path w="9525" h="1143000">
                    <a:moveTo>
                      <a:pt x="0" y="0"/>
                    </a:moveTo>
                    <a:lnTo>
                      <a:pt x="0" y="1143000"/>
                    </a:lnTo>
                  </a:path>
                </a:pathLst>
              </a:custGeom>
              <a:noFill/>
              <a:ln w="9525">
                <a:solidFill>
                  <a:srgbClr val="FFFFFF"/>
                </a:solidFill>
              </a:ln>
            </p:spPr>
          </p:sp>
          <p:sp>
            <p:nvSpPr>
              <p:cNvPr id="190" name="Line 190"/>
              <p:cNvSpPr/>
              <p:nvPr/>
            </p:nvSpPr>
            <p:spPr>
              <a:xfrm>
                <a:off x="8763000" y="1143000"/>
                <a:ext cx="9525" cy="1143000"/>
              </a:xfrm>
              <a:custGeom>
                <a:avLst/>
                <a:gdLst/>
                <a:ahLst/>
                <a:cxnLst/>
                <a:rect l="l" t="t" r="r" b="b"/>
                <a:pathLst>
                  <a:path w="9525" h="1143000">
                    <a:moveTo>
                      <a:pt x="0" y="0"/>
                    </a:moveTo>
                    <a:lnTo>
                      <a:pt x="0" y="1143000"/>
                    </a:lnTo>
                  </a:path>
                </a:pathLst>
              </a:custGeom>
              <a:noFill/>
              <a:ln w="9525">
                <a:solidFill>
                  <a:srgbClr val="FFFFFF"/>
                </a:solidFill>
              </a:ln>
            </p:spPr>
          </p:sp>
          <p:sp>
            <p:nvSpPr>
              <p:cNvPr id="191" name="Line 191"/>
              <p:cNvSpPr/>
              <p:nvPr/>
            </p:nvSpPr>
            <p:spPr>
              <a:xfrm>
                <a:off x="9048750" y="1143000"/>
                <a:ext cx="9525" cy="1143000"/>
              </a:xfrm>
              <a:custGeom>
                <a:avLst/>
                <a:gdLst/>
                <a:ahLst/>
                <a:cxnLst/>
                <a:rect l="l" t="t" r="r" b="b"/>
                <a:pathLst>
                  <a:path w="9525" h="1143000">
                    <a:moveTo>
                      <a:pt x="0" y="0"/>
                    </a:moveTo>
                    <a:lnTo>
                      <a:pt x="0" y="1143000"/>
                    </a:lnTo>
                  </a:path>
                </a:pathLst>
              </a:custGeom>
              <a:noFill/>
              <a:ln w="9525">
                <a:solidFill>
                  <a:srgbClr val="FFFFFF"/>
                </a:solidFill>
              </a:ln>
            </p:spPr>
          </p:sp>
          <p:sp>
            <p:nvSpPr>
              <p:cNvPr id="192" name="Line 192"/>
              <p:cNvSpPr/>
              <p:nvPr/>
            </p:nvSpPr>
            <p:spPr>
              <a:xfrm>
                <a:off x="7905750" y="1371600"/>
                <a:ext cx="1428750" cy="9525"/>
              </a:xfrm>
              <a:custGeom>
                <a:avLst/>
                <a:gdLst/>
                <a:ahLst/>
                <a:cxnLst/>
                <a:rect l="l" t="t" r="r" b="b"/>
                <a:pathLst>
                  <a:path w="1428750" h="9525">
                    <a:moveTo>
                      <a:pt x="0" y="0"/>
                    </a:moveTo>
                    <a:lnTo>
                      <a:pt x="1428750" y="0"/>
                    </a:lnTo>
                  </a:path>
                </a:pathLst>
              </a:custGeom>
              <a:noFill/>
              <a:ln w="9525">
                <a:solidFill>
                  <a:srgbClr val="FFFFFF"/>
                </a:solidFill>
              </a:ln>
            </p:spPr>
          </p:sp>
          <p:sp>
            <p:nvSpPr>
              <p:cNvPr id="193" name="Line 193"/>
              <p:cNvSpPr/>
              <p:nvPr/>
            </p:nvSpPr>
            <p:spPr>
              <a:xfrm>
                <a:off x="7905750" y="1600200"/>
                <a:ext cx="1428750" cy="9525"/>
              </a:xfrm>
              <a:custGeom>
                <a:avLst/>
                <a:gdLst/>
                <a:ahLst/>
                <a:cxnLst/>
                <a:rect l="l" t="t" r="r" b="b"/>
                <a:pathLst>
                  <a:path w="1428750" h="9525">
                    <a:moveTo>
                      <a:pt x="0" y="0"/>
                    </a:moveTo>
                    <a:lnTo>
                      <a:pt x="1428750" y="0"/>
                    </a:lnTo>
                  </a:path>
                </a:pathLst>
              </a:custGeom>
              <a:noFill/>
              <a:ln w="9525">
                <a:solidFill>
                  <a:srgbClr val="FFFFFF"/>
                </a:solidFill>
              </a:ln>
            </p:spPr>
          </p:sp>
          <p:sp>
            <p:nvSpPr>
              <p:cNvPr id="194" name="Line 194"/>
              <p:cNvSpPr/>
              <p:nvPr/>
            </p:nvSpPr>
            <p:spPr>
              <a:xfrm>
                <a:off x="7905750" y="1828800"/>
                <a:ext cx="1428750" cy="9525"/>
              </a:xfrm>
              <a:custGeom>
                <a:avLst/>
                <a:gdLst/>
                <a:ahLst/>
                <a:cxnLst/>
                <a:rect l="l" t="t" r="r" b="b"/>
                <a:pathLst>
                  <a:path w="1428750" h="9525">
                    <a:moveTo>
                      <a:pt x="0" y="0"/>
                    </a:moveTo>
                    <a:lnTo>
                      <a:pt x="1428750" y="0"/>
                    </a:lnTo>
                  </a:path>
                </a:pathLst>
              </a:custGeom>
              <a:noFill/>
              <a:ln w="9525">
                <a:solidFill>
                  <a:srgbClr val="FFFFFF"/>
                </a:solidFill>
              </a:ln>
            </p:spPr>
          </p:sp>
          <p:sp>
            <p:nvSpPr>
              <p:cNvPr id="195" name="Line 195"/>
              <p:cNvSpPr/>
              <p:nvPr/>
            </p:nvSpPr>
            <p:spPr>
              <a:xfrm>
                <a:off x="7905750" y="2057400"/>
                <a:ext cx="1428750" cy="9525"/>
              </a:xfrm>
              <a:custGeom>
                <a:avLst/>
                <a:gdLst/>
                <a:ahLst/>
                <a:cxnLst/>
                <a:rect l="l" t="t" r="r" b="b"/>
                <a:pathLst>
                  <a:path w="1428750" h="9525">
                    <a:moveTo>
                      <a:pt x="0" y="0"/>
                    </a:moveTo>
                    <a:lnTo>
                      <a:pt x="1428750" y="0"/>
                    </a:lnTo>
                  </a:path>
                </a:pathLst>
              </a:custGeom>
              <a:noFill/>
              <a:ln w="9525">
                <a:solidFill>
                  <a:srgbClr val="FFFFFF"/>
                </a:solidFill>
              </a:ln>
            </p:spPr>
          </p:sp>
        </p:grpSp>
        <p:grpSp>
          <p:nvGrpSpPr>
            <p:cNvPr id="202" name="rm-rowlabels"/>
            <p:cNvGrpSpPr/>
            <p:nvPr/>
          </p:nvGrpSpPr>
          <p:grpSpPr>
            <a:xfrm>
              <a:off x="7576321" y="1226582"/>
              <a:ext cx="277042" cy="1040606"/>
              <a:chOff x="7576321" y="1226582"/>
              <a:chExt cx="277042" cy="1040606"/>
            </a:xfrm>
          </p:grpSpPr>
          <p:sp>
            <p:nvSpPr>
              <p:cNvPr id="197" name="TextBox 197"/>
              <p:cNvSpPr txBox="1"/>
              <p:nvPr/>
            </p:nvSpPr>
            <p:spPr>
              <a:xfrm>
                <a:off x="7576321" y="1226582"/>
                <a:ext cx="277042"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≥4项　</a:t>
                </a:r>
              </a:p>
            </p:txBody>
          </p:sp>
          <p:sp>
            <p:nvSpPr>
              <p:cNvPr id="198" name="TextBox 198"/>
              <p:cNvSpPr txBox="1"/>
              <p:nvPr/>
            </p:nvSpPr>
            <p:spPr>
              <a:xfrm>
                <a:off x="7623603" y="1455182"/>
                <a:ext cx="229759"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3项　</a:t>
                </a:r>
              </a:p>
            </p:txBody>
          </p:sp>
          <p:sp>
            <p:nvSpPr>
              <p:cNvPr id="199" name="TextBox 199"/>
              <p:cNvSpPr txBox="1"/>
              <p:nvPr/>
            </p:nvSpPr>
            <p:spPr>
              <a:xfrm>
                <a:off x="7623603" y="1683782"/>
                <a:ext cx="229759"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2项　</a:t>
                </a:r>
              </a:p>
            </p:txBody>
          </p:sp>
          <p:sp>
            <p:nvSpPr>
              <p:cNvPr id="200" name="TextBox 200"/>
              <p:cNvSpPr txBox="1"/>
              <p:nvPr/>
            </p:nvSpPr>
            <p:spPr>
              <a:xfrm>
                <a:off x="7623603" y="1912382"/>
                <a:ext cx="229759"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1项　</a:t>
                </a:r>
              </a:p>
            </p:txBody>
          </p:sp>
          <p:sp>
            <p:nvSpPr>
              <p:cNvPr id="201" name="TextBox 201"/>
              <p:cNvSpPr txBox="1"/>
              <p:nvPr/>
            </p:nvSpPr>
            <p:spPr>
              <a:xfrm>
                <a:off x="7623603" y="2140982"/>
                <a:ext cx="229759"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0项　</a:t>
                </a:r>
              </a:p>
            </p:txBody>
          </p:sp>
        </p:grpSp>
        <p:grpSp>
          <p:nvGrpSpPr>
            <p:cNvPr id="208" name="rm-collabels"/>
            <p:cNvGrpSpPr/>
            <p:nvPr/>
          </p:nvGrpSpPr>
          <p:grpSpPr>
            <a:xfrm>
              <a:off x="7909817" y="2396728"/>
              <a:ext cx="1424575" cy="111919"/>
              <a:chOff x="7909817" y="2396728"/>
              <a:chExt cx="1424575" cy="111919"/>
            </a:xfrm>
          </p:grpSpPr>
          <p:sp>
            <p:nvSpPr>
              <p:cNvPr id="203" name="TextBox 203"/>
              <p:cNvSpPr txBox="1"/>
              <p:nvPr/>
            </p:nvSpPr>
            <p:spPr>
              <a:xfrm>
                <a:off x="7909817" y="2396728"/>
                <a:ext cx="277617"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j-lt"/>
                    <a:ea typeface="+mj-ea"/>
                    <a:cs typeface="+mj-cs"/>
                  </a:rPr>
                  <a:t xml:space="preserve">＜1万　</a:t>
                </a:r>
              </a:p>
            </p:txBody>
          </p:sp>
          <p:sp>
            <p:nvSpPr>
              <p:cNvPr id="204" name="TextBox 204"/>
              <p:cNvSpPr txBox="1"/>
              <p:nvPr/>
            </p:nvSpPr>
            <p:spPr>
              <a:xfrm>
                <a:off x="8191330" y="2396728"/>
                <a:ext cx="286090"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j-lt"/>
                    <a:ea typeface="+mj-ea"/>
                    <a:cs typeface="+mj-cs"/>
                  </a:rPr>
                  <a:t xml:space="preserve">1–5万　</a:t>
                </a:r>
              </a:p>
            </p:txBody>
          </p:sp>
          <p:sp>
            <p:nvSpPr>
              <p:cNvPr id="205" name="TextBox 205"/>
              <p:cNvSpPr txBox="1"/>
              <p:nvPr/>
            </p:nvSpPr>
            <p:spPr>
              <a:xfrm>
                <a:off x="8456115" y="2396728"/>
                <a:ext cx="328021"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j-lt"/>
                    <a:ea typeface="+mj-ea"/>
                    <a:cs typeface="+mj-cs"/>
                  </a:rPr>
                  <a:t xml:space="preserve">5–20万　</a:t>
                </a:r>
              </a:p>
            </p:txBody>
          </p:sp>
          <p:sp>
            <p:nvSpPr>
              <p:cNvPr id="206" name="TextBox 206"/>
              <p:cNvSpPr txBox="1"/>
              <p:nvPr/>
            </p:nvSpPr>
            <p:spPr>
              <a:xfrm>
                <a:off x="8720899" y="2396728"/>
                <a:ext cx="369951"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j-lt"/>
                    <a:ea typeface="+mj-ea"/>
                    <a:cs typeface="+mj-cs"/>
                  </a:rPr>
                  <a:t xml:space="preserve">20–50万　</a:t>
                </a:r>
              </a:p>
            </p:txBody>
          </p:sp>
          <p:sp>
            <p:nvSpPr>
              <p:cNvPr id="207" name="TextBox 207"/>
              <p:cNvSpPr txBox="1"/>
              <p:nvPr/>
            </p:nvSpPr>
            <p:spPr>
              <a:xfrm>
                <a:off x="9048859" y="2396728"/>
                <a:ext cx="285533"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j-lt"/>
                    <a:ea typeface="+mj-ea"/>
                    <a:cs typeface="+mj-cs"/>
                  </a:rPr>
                  <a:t xml:space="preserve">≥50万　</a:t>
                </a:r>
              </a:p>
            </p:txBody>
          </p:sp>
        </p:grpSp>
        <p:sp>
          <p:nvSpPr>
            <p:cNvPr id="209" name="Line 209"/>
            <p:cNvSpPr/>
            <p:nvPr/>
          </p:nvSpPr>
          <p:spPr>
            <a:xfrm flipV="1">
              <a:off x="7524750" y="1104900"/>
              <a:ext cx="1" cy="1219200"/>
            </a:xfrm>
            <a:prstGeom prst="line">
              <a:avLst/>
            </a:prstGeom>
            <a:noFill/>
            <a:ln w="11430">
              <a:solidFill>
                <a:srgbClr val="92301C"/>
              </a:solidFill>
              <a:tailEnd type="triangle" w="lg" len="lg"/>
            </a:ln>
          </p:spPr>
        </p:sp>
        <p:sp>
          <p:nvSpPr>
            <p:cNvPr id="210" name="Line 210"/>
            <p:cNvSpPr/>
            <p:nvPr/>
          </p:nvSpPr>
          <p:spPr>
            <a:xfrm>
              <a:off x="7867650" y="2343150"/>
              <a:ext cx="1562100" cy="1"/>
            </a:xfrm>
            <a:prstGeom prst="line">
              <a:avLst/>
            </a:prstGeom>
            <a:noFill/>
            <a:ln w="11430">
              <a:solidFill>
                <a:srgbClr val="92301C"/>
              </a:solidFill>
              <a:tailEnd type="triangle" w="lg" len="lg"/>
            </a:ln>
          </p:spPr>
        </p:sp>
        <p:sp>
          <p:nvSpPr>
            <p:cNvPr id="211" name="TextBox 211"/>
            <p:cNvSpPr txBox="1"/>
            <p:nvPr/>
          </p:nvSpPr>
          <p:spPr>
            <a:xfrm rot="-5400000">
              <a:off x="7188810" y="1644253"/>
              <a:ext cx="391846"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疑点数量</a:t>
              </a:r>
            </a:p>
          </p:txBody>
        </p:sp>
        <p:sp>
          <p:nvSpPr>
            <p:cNvPr id="212" name="TextBox 212"/>
            <p:cNvSpPr txBox="1"/>
            <p:nvPr/>
          </p:nvSpPr>
          <p:spPr>
            <a:xfrm>
              <a:off x="8280832" y="2590086"/>
              <a:ext cx="678586"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理赔金额（元）</a:t>
              </a:r>
            </a:p>
          </p:txBody>
        </p:sp>
        <p:grpSp>
          <p:nvGrpSpPr>
            <p:cNvPr id="223" name="rm-legend"/>
            <p:cNvGrpSpPr/>
            <p:nvPr/>
          </p:nvGrpSpPr>
          <p:grpSpPr>
            <a:xfrm>
              <a:off x="10382250" y="1181100"/>
              <a:ext cx="542379" cy="1070134"/>
              <a:chOff x="10382250" y="1181100"/>
              <a:chExt cx="542379" cy="1070134"/>
            </a:xfrm>
          </p:grpSpPr>
          <p:sp>
            <p:nvSpPr>
              <p:cNvPr id="213" name="Rectangle 213"/>
              <p:cNvSpPr/>
              <p:nvPr/>
            </p:nvSpPr>
            <p:spPr>
              <a:xfrm>
                <a:off x="10382250" y="1181100"/>
                <a:ext cx="114300" cy="114300"/>
              </a:xfrm>
              <a:prstGeom prst="rect">
                <a:avLst/>
              </a:prstGeom>
              <a:solidFill>
                <a:srgbClr val="6B1B0B"/>
              </a:solidFill>
              <a:ln>
                <a:noFill/>
              </a:ln>
            </p:spPr>
          </p:sp>
          <p:sp>
            <p:nvSpPr>
              <p:cNvPr id="214" name="TextBox 214"/>
              <p:cNvSpPr txBox="1"/>
              <p:nvPr/>
            </p:nvSpPr>
            <p:spPr>
              <a:xfrm>
                <a:off x="10548938" y="120348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高风险</a:t>
                </a:r>
              </a:p>
            </p:txBody>
          </p:sp>
          <p:sp>
            <p:nvSpPr>
              <p:cNvPr id="215" name="Rectangle 215"/>
              <p:cNvSpPr/>
              <p:nvPr/>
            </p:nvSpPr>
            <p:spPr>
              <a:xfrm>
                <a:off x="10382250" y="1409700"/>
                <a:ext cx="114300" cy="114300"/>
              </a:xfrm>
              <a:prstGeom prst="rect">
                <a:avLst/>
              </a:prstGeom>
              <a:solidFill>
                <a:srgbClr val="92301C"/>
              </a:solidFill>
              <a:ln>
                <a:noFill/>
              </a:ln>
            </p:spPr>
          </p:sp>
          <p:sp>
            <p:nvSpPr>
              <p:cNvPr id="216" name="TextBox 216"/>
              <p:cNvSpPr txBox="1"/>
              <p:nvPr/>
            </p:nvSpPr>
            <p:spPr>
              <a:xfrm>
                <a:off x="10548938" y="14320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较高风险</a:t>
                </a:r>
              </a:p>
            </p:txBody>
          </p:sp>
          <p:sp>
            <p:nvSpPr>
              <p:cNvPr id="217" name="Rectangle 217"/>
              <p:cNvSpPr/>
              <p:nvPr/>
            </p:nvSpPr>
            <p:spPr>
              <a:xfrm>
                <a:off x="10382250" y="1638300"/>
                <a:ext cx="114300" cy="114300"/>
              </a:xfrm>
              <a:prstGeom prst="rect">
                <a:avLst/>
              </a:prstGeom>
              <a:solidFill>
                <a:srgbClr val="B7533F"/>
              </a:solidFill>
              <a:ln>
                <a:noFill/>
              </a:ln>
            </p:spPr>
          </p:sp>
          <p:sp>
            <p:nvSpPr>
              <p:cNvPr id="218" name="TextBox 218"/>
              <p:cNvSpPr txBox="1"/>
              <p:nvPr/>
            </p:nvSpPr>
            <p:spPr>
              <a:xfrm>
                <a:off x="10548938" y="166068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中风险</a:t>
                </a:r>
              </a:p>
            </p:txBody>
          </p:sp>
          <p:sp>
            <p:nvSpPr>
              <p:cNvPr id="219" name="Rectangle 219"/>
              <p:cNvSpPr/>
              <p:nvPr/>
            </p:nvSpPr>
            <p:spPr>
              <a:xfrm>
                <a:off x="10382250" y="1866900"/>
                <a:ext cx="114300" cy="114300"/>
              </a:xfrm>
              <a:prstGeom prst="rect">
                <a:avLst/>
              </a:prstGeom>
              <a:solidFill>
                <a:srgbClr val="E3B3A9"/>
              </a:solidFill>
              <a:ln>
                <a:noFill/>
              </a:ln>
            </p:spPr>
          </p:sp>
          <p:sp>
            <p:nvSpPr>
              <p:cNvPr id="220" name="TextBox 220"/>
              <p:cNvSpPr txBox="1"/>
              <p:nvPr/>
            </p:nvSpPr>
            <p:spPr>
              <a:xfrm>
                <a:off x="10548938" y="1889284"/>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较低风险</a:t>
                </a:r>
              </a:p>
            </p:txBody>
          </p:sp>
          <p:sp>
            <p:nvSpPr>
              <p:cNvPr id="221" name="Rectangle 221"/>
              <p:cNvSpPr/>
              <p:nvPr/>
            </p:nvSpPr>
            <p:spPr>
              <a:xfrm>
                <a:off x="10382250" y="2095500"/>
                <a:ext cx="114300" cy="114300"/>
              </a:xfrm>
              <a:prstGeom prst="rect">
                <a:avLst/>
              </a:prstGeom>
              <a:solidFill>
                <a:srgbClr val="D6E6F3"/>
              </a:solidFill>
              <a:ln>
                <a:noFill/>
              </a:ln>
            </p:spPr>
          </p:sp>
          <p:sp>
            <p:nvSpPr>
              <p:cNvPr id="222" name="TextBox 222"/>
              <p:cNvSpPr txBox="1"/>
              <p:nvPr/>
            </p:nvSpPr>
            <p:spPr>
              <a:xfrm>
                <a:off x="10548938" y="211788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低风险</a:t>
                </a:r>
              </a:p>
            </p:txBody>
          </p:sp>
        </p:grpSp>
      </p:grpSp>
      <p:grpSp>
        <p:nvGrpSpPr>
          <p:cNvPr id="264" name="missing-table"/>
          <p:cNvGrpSpPr/>
          <p:nvPr/>
        </p:nvGrpSpPr>
        <p:grpSpPr>
          <a:xfrm>
            <a:off x="7119938" y="3103245"/>
            <a:ext cx="4881562" cy="1992630"/>
            <a:chOff x="7119938" y="3103245"/>
            <a:chExt cx="4881562" cy="1992630"/>
          </a:xfrm>
        </p:grpSpPr>
        <p:sp>
          <p:nvSpPr>
            <p:cNvPr id="225" name="TextBox 225"/>
            <p:cNvSpPr txBox="1"/>
            <p:nvPr/>
          </p:nvSpPr>
          <p:spPr>
            <a:xfrm>
              <a:off x="7119938" y="3103245"/>
              <a:ext cx="736473"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缺失材料清单</a:t>
              </a:r>
            </a:p>
          </p:txBody>
        </p:sp>
        <p:sp>
          <p:nvSpPr>
            <p:cNvPr id="226" name="Rectangle 226"/>
            <p:cNvSpPr/>
            <p:nvPr/>
          </p:nvSpPr>
          <p:spPr>
            <a:xfrm>
              <a:off x="7124700" y="3276600"/>
              <a:ext cx="4876800" cy="209550"/>
            </a:xfrm>
            <a:prstGeom prst="rect">
              <a:avLst/>
            </a:prstGeom>
            <a:solidFill>
              <a:srgbClr val="6B1B0B"/>
            </a:solidFill>
            <a:ln>
              <a:noFill/>
            </a:ln>
          </p:spPr>
        </p:sp>
        <p:grpSp>
          <p:nvGrpSpPr>
            <p:cNvPr id="231" name="mt-head"/>
            <p:cNvGrpSpPr/>
            <p:nvPr/>
          </p:nvGrpSpPr>
          <p:grpSpPr>
            <a:xfrm>
              <a:off x="7215188" y="3342561"/>
              <a:ext cx="4125646" cy="140494"/>
              <a:chOff x="7215188" y="3342561"/>
              <a:chExt cx="4125646" cy="140494"/>
            </a:xfrm>
          </p:grpSpPr>
          <p:sp>
            <p:nvSpPr>
              <p:cNvPr id="227" name="TextBox 227"/>
              <p:cNvSpPr txBox="1"/>
              <p:nvPr/>
            </p:nvSpPr>
            <p:spPr>
              <a:xfrm>
                <a:off x="7215188" y="3342561"/>
                <a:ext cx="200685"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序号</a:t>
                </a:r>
              </a:p>
            </p:txBody>
          </p:sp>
          <p:sp>
            <p:nvSpPr>
              <p:cNvPr id="228" name="TextBox 228"/>
              <p:cNvSpPr txBox="1"/>
              <p:nvPr/>
            </p:nvSpPr>
            <p:spPr>
              <a:xfrm>
                <a:off x="7615238" y="334256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材料名称</a:t>
                </a:r>
              </a:p>
            </p:txBody>
          </p:sp>
          <p:sp>
            <p:nvSpPr>
              <p:cNvPr id="229" name="TextBox 229"/>
              <p:cNvSpPr txBox="1"/>
              <p:nvPr/>
            </p:nvSpPr>
            <p:spPr>
              <a:xfrm>
                <a:off x="9901238" y="334256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是否必需</a:t>
                </a:r>
              </a:p>
            </p:txBody>
          </p:sp>
          <p:sp>
            <p:nvSpPr>
              <p:cNvPr id="230" name="TextBox 230"/>
              <p:cNvSpPr txBox="1"/>
              <p:nvPr/>
            </p:nvSpPr>
            <p:spPr>
              <a:xfrm>
                <a:off x="10948988" y="334256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当前状态</a:t>
                </a:r>
              </a:p>
            </p:txBody>
          </p:sp>
        </p:grpSp>
        <p:grpSp>
          <p:nvGrpSpPr>
            <p:cNvPr id="262" name="mt-rows"/>
            <p:cNvGrpSpPr/>
            <p:nvPr/>
          </p:nvGrpSpPr>
          <p:grpSpPr>
            <a:xfrm>
              <a:off x="7124700" y="3486150"/>
              <a:ext cx="4876800" cy="1600200"/>
              <a:chOff x="7124700" y="3486150"/>
              <a:chExt cx="4876800" cy="1600200"/>
            </a:xfrm>
          </p:grpSpPr>
          <p:sp>
            <p:nvSpPr>
              <p:cNvPr id="232" name="Rectangle 232"/>
              <p:cNvSpPr/>
              <p:nvPr/>
            </p:nvSpPr>
            <p:spPr>
              <a:xfrm>
                <a:off x="7124700" y="3486150"/>
                <a:ext cx="4876800" cy="266700"/>
              </a:xfrm>
              <a:prstGeom prst="rect">
                <a:avLst/>
              </a:prstGeom>
              <a:solidFill>
                <a:srgbClr val="F6F9FD"/>
              </a:solidFill>
              <a:ln>
                <a:noFill/>
              </a:ln>
            </p:spPr>
          </p:sp>
          <p:sp>
            <p:nvSpPr>
              <p:cNvPr id="233" name="TextBox 233"/>
              <p:cNvSpPr txBox="1"/>
              <p:nvPr/>
            </p:nvSpPr>
            <p:spPr>
              <a:xfrm>
                <a:off x="7265930" y="3584734"/>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a:t>
                </a:r>
              </a:p>
            </p:txBody>
          </p:sp>
          <p:sp>
            <p:nvSpPr>
              <p:cNvPr id="234" name="TextBox 234"/>
              <p:cNvSpPr txBox="1"/>
              <p:nvPr/>
            </p:nvSpPr>
            <p:spPr>
              <a:xfrm>
                <a:off x="7615238" y="3584734"/>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事故认定书</a:t>
                </a:r>
              </a:p>
            </p:txBody>
          </p:sp>
          <p:sp>
            <p:nvSpPr>
              <p:cNvPr id="235" name="TextBox 235"/>
              <p:cNvSpPr txBox="1"/>
              <p:nvPr/>
            </p:nvSpPr>
            <p:spPr>
              <a:xfrm>
                <a:off x="10045967" y="3584734"/>
                <a:ext cx="10106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是</a:t>
                </a:r>
              </a:p>
            </p:txBody>
          </p:sp>
          <p:sp>
            <p:nvSpPr>
              <p:cNvPr id="236" name="TextBox 236"/>
              <p:cNvSpPr txBox="1"/>
              <p:nvPr/>
            </p:nvSpPr>
            <p:spPr>
              <a:xfrm>
                <a:off x="10948988" y="3584734"/>
                <a:ext cx="192608" cy="133350"/>
              </a:xfrm>
              <a:prstGeom prst="rect">
                <a:avLst/>
              </a:prstGeom>
              <a:noFill/>
              <a:ln>
                <a:noFill/>
              </a:ln>
            </p:spPr>
            <p:txBody>
              <a:bodyPr wrap="none" lIns="0" tIns="0" rIns="0" bIns="0" anchor="t" anchorCtr="0">
                <a:spAutoFit/>
              </a:bodyPr>
              <a:lstStyle/>
              <a:p>
                <a:pPr algn="l"/>
                <a:r>
                  <a:rPr lang="zh-CN" sz="680" b="1" dirty="0">
                    <a:solidFill>
                      <a:srgbClr val="C8452F"/>
                    </a:solidFill>
                    <a:latin typeface="+mn-lt"/>
                    <a:ea typeface="+mn-ea"/>
                    <a:cs typeface="+mn-cs"/>
                  </a:rPr>
                  <a:t>缺失</a:t>
                </a:r>
              </a:p>
            </p:txBody>
          </p:sp>
          <p:sp>
            <p:nvSpPr>
              <p:cNvPr id="237" name="Rectangle 237"/>
              <p:cNvSpPr/>
              <p:nvPr/>
            </p:nvSpPr>
            <p:spPr>
              <a:xfrm>
                <a:off x="7124700" y="3752850"/>
                <a:ext cx="4876800" cy="266700"/>
              </a:xfrm>
              <a:prstGeom prst="rect">
                <a:avLst/>
              </a:prstGeom>
              <a:solidFill>
                <a:srgbClr val="FFFFFF"/>
              </a:solidFill>
              <a:ln>
                <a:noFill/>
              </a:ln>
            </p:spPr>
          </p:sp>
          <p:sp>
            <p:nvSpPr>
              <p:cNvPr id="238" name="TextBox 238"/>
              <p:cNvSpPr txBox="1"/>
              <p:nvPr/>
            </p:nvSpPr>
            <p:spPr>
              <a:xfrm>
                <a:off x="7265930" y="3851434"/>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2</a:t>
                </a:r>
              </a:p>
            </p:txBody>
          </p:sp>
          <p:sp>
            <p:nvSpPr>
              <p:cNvPr id="239" name="TextBox 239"/>
              <p:cNvSpPr txBox="1"/>
              <p:nvPr/>
            </p:nvSpPr>
            <p:spPr>
              <a:xfrm>
                <a:off x="7615238" y="385143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医疗费用发票</a:t>
                </a:r>
              </a:p>
            </p:txBody>
          </p:sp>
          <p:sp>
            <p:nvSpPr>
              <p:cNvPr id="240" name="TextBox 240"/>
              <p:cNvSpPr txBox="1"/>
              <p:nvPr/>
            </p:nvSpPr>
            <p:spPr>
              <a:xfrm>
                <a:off x="10045967" y="3851434"/>
                <a:ext cx="10106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是</a:t>
                </a:r>
              </a:p>
            </p:txBody>
          </p:sp>
          <p:sp>
            <p:nvSpPr>
              <p:cNvPr id="241" name="TextBox 241"/>
              <p:cNvSpPr txBox="1"/>
              <p:nvPr/>
            </p:nvSpPr>
            <p:spPr>
              <a:xfrm>
                <a:off x="10948988" y="385143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已提供</a:t>
                </a:r>
              </a:p>
            </p:txBody>
          </p:sp>
          <p:sp>
            <p:nvSpPr>
              <p:cNvPr id="242" name="Rectangle 242"/>
              <p:cNvSpPr/>
              <p:nvPr/>
            </p:nvSpPr>
            <p:spPr>
              <a:xfrm>
                <a:off x="7124700" y="4019550"/>
                <a:ext cx="4876800" cy="266700"/>
              </a:xfrm>
              <a:prstGeom prst="rect">
                <a:avLst/>
              </a:prstGeom>
              <a:solidFill>
                <a:srgbClr val="F6F9FD"/>
              </a:solidFill>
              <a:ln>
                <a:noFill/>
              </a:ln>
            </p:spPr>
          </p:sp>
          <p:sp>
            <p:nvSpPr>
              <p:cNvPr id="243" name="TextBox 243"/>
              <p:cNvSpPr txBox="1"/>
              <p:nvPr/>
            </p:nvSpPr>
            <p:spPr>
              <a:xfrm>
                <a:off x="7265930" y="4118134"/>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3</a:t>
                </a:r>
              </a:p>
            </p:txBody>
          </p:sp>
          <p:sp>
            <p:nvSpPr>
              <p:cNvPr id="244" name="TextBox 244"/>
              <p:cNvSpPr txBox="1"/>
              <p:nvPr/>
            </p:nvSpPr>
            <p:spPr>
              <a:xfrm>
                <a:off x="7615238" y="411813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费用明细清单</a:t>
                </a:r>
              </a:p>
            </p:txBody>
          </p:sp>
          <p:sp>
            <p:nvSpPr>
              <p:cNvPr id="245" name="TextBox 245"/>
              <p:cNvSpPr txBox="1"/>
              <p:nvPr/>
            </p:nvSpPr>
            <p:spPr>
              <a:xfrm>
                <a:off x="10045967" y="4118134"/>
                <a:ext cx="10106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是</a:t>
                </a:r>
              </a:p>
            </p:txBody>
          </p:sp>
          <p:sp>
            <p:nvSpPr>
              <p:cNvPr id="246" name="TextBox 246"/>
              <p:cNvSpPr txBox="1"/>
              <p:nvPr/>
            </p:nvSpPr>
            <p:spPr>
              <a:xfrm>
                <a:off x="10948988" y="4118134"/>
                <a:ext cx="192608" cy="133350"/>
              </a:xfrm>
              <a:prstGeom prst="rect">
                <a:avLst/>
              </a:prstGeom>
              <a:noFill/>
              <a:ln>
                <a:noFill/>
              </a:ln>
            </p:spPr>
            <p:txBody>
              <a:bodyPr wrap="none" lIns="0" tIns="0" rIns="0" bIns="0" anchor="t" anchorCtr="0">
                <a:spAutoFit/>
              </a:bodyPr>
              <a:lstStyle/>
              <a:p>
                <a:pPr algn="l"/>
                <a:r>
                  <a:rPr lang="zh-CN" sz="680" b="1" dirty="0">
                    <a:solidFill>
                      <a:srgbClr val="C8452F"/>
                    </a:solidFill>
                    <a:latin typeface="+mn-lt"/>
                    <a:ea typeface="+mn-ea"/>
                    <a:cs typeface="+mn-cs"/>
                  </a:rPr>
                  <a:t>缺失</a:t>
                </a:r>
              </a:p>
            </p:txBody>
          </p:sp>
          <p:sp>
            <p:nvSpPr>
              <p:cNvPr id="247" name="Rectangle 247"/>
              <p:cNvSpPr/>
              <p:nvPr/>
            </p:nvSpPr>
            <p:spPr>
              <a:xfrm>
                <a:off x="7124700" y="4286250"/>
                <a:ext cx="4876800" cy="266700"/>
              </a:xfrm>
              <a:prstGeom prst="rect">
                <a:avLst/>
              </a:prstGeom>
              <a:solidFill>
                <a:srgbClr val="FFFFFF"/>
              </a:solidFill>
              <a:ln>
                <a:noFill/>
              </a:ln>
            </p:spPr>
          </p:sp>
          <p:sp>
            <p:nvSpPr>
              <p:cNvPr id="248" name="TextBox 248"/>
              <p:cNvSpPr txBox="1"/>
              <p:nvPr/>
            </p:nvSpPr>
            <p:spPr>
              <a:xfrm>
                <a:off x="7265930" y="4384834"/>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4</a:t>
                </a:r>
              </a:p>
            </p:txBody>
          </p:sp>
          <p:sp>
            <p:nvSpPr>
              <p:cNvPr id="249" name="TextBox 249"/>
              <p:cNvSpPr txBox="1"/>
              <p:nvPr/>
            </p:nvSpPr>
            <p:spPr>
              <a:xfrm>
                <a:off x="7615238" y="4384834"/>
                <a:ext cx="558775"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伤情诊断证明</a:t>
                </a:r>
              </a:p>
            </p:txBody>
          </p:sp>
          <p:sp>
            <p:nvSpPr>
              <p:cNvPr id="250" name="TextBox 250"/>
              <p:cNvSpPr txBox="1"/>
              <p:nvPr/>
            </p:nvSpPr>
            <p:spPr>
              <a:xfrm>
                <a:off x="10045967" y="4384834"/>
                <a:ext cx="10106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是</a:t>
                </a:r>
              </a:p>
            </p:txBody>
          </p:sp>
          <p:sp>
            <p:nvSpPr>
              <p:cNvPr id="251" name="TextBox 251"/>
              <p:cNvSpPr txBox="1"/>
              <p:nvPr/>
            </p:nvSpPr>
            <p:spPr>
              <a:xfrm>
                <a:off x="10948988" y="438483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已提供</a:t>
                </a:r>
              </a:p>
            </p:txBody>
          </p:sp>
          <p:sp>
            <p:nvSpPr>
              <p:cNvPr id="252" name="Rectangle 252"/>
              <p:cNvSpPr/>
              <p:nvPr/>
            </p:nvSpPr>
            <p:spPr>
              <a:xfrm>
                <a:off x="7124700" y="4552950"/>
                <a:ext cx="4876800" cy="266700"/>
              </a:xfrm>
              <a:prstGeom prst="rect">
                <a:avLst/>
              </a:prstGeom>
              <a:solidFill>
                <a:srgbClr val="F6F9FD"/>
              </a:solidFill>
              <a:ln>
                <a:noFill/>
              </a:ln>
            </p:spPr>
          </p:sp>
          <p:sp>
            <p:nvSpPr>
              <p:cNvPr id="253" name="TextBox 253"/>
              <p:cNvSpPr txBox="1"/>
              <p:nvPr/>
            </p:nvSpPr>
            <p:spPr>
              <a:xfrm>
                <a:off x="7265930" y="4651534"/>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5</a:t>
                </a:r>
              </a:p>
            </p:txBody>
          </p:sp>
          <p:sp>
            <p:nvSpPr>
              <p:cNvPr id="254" name="TextBox 254"/>
              <p:cNvSpPr txBox="1"/>
              <p:nvPr/>
            </p:nvSpPr>
            <p:spPr>
              <a:xfrm>
                <a:off x="7615238" y="4651534"/>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维修定损单</a:t>
                </a:r>
              </a:p>
            </p:txBody>
          </p:sp>
          <p:sp>
            <p:nvSpPr>
              <p:cNvPr id="255" name="TextBox 255"/>
              <p:cNvSpPr txBox="1"/>
              <p:nvPr/>
            </p:nvSpPr>
            <p:spPr>
              <a:xfrm>
                <a:off x="10045967" y="4651534"/>
                <a:ext cx="10106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否</a:t>
                </a:r>
              </a:p>
            </p:txBody>
          </p:sp>
          <p:sp>
            <p:nvSpPr>
              <p:cNvPr id="256" name="TextBox 256"/>
              <p:cNvSpPr txBox="1"/>
              <p:nvPr/>
            </p:nvSpPr>
            <p:spPr>
              <a:xfrm>
                <a:off x="10948988" y="4651534"/>
                <a:ext cx="192608" cy="133350"/>
              </a:xfrm>
              <a:prstGeom prst="rect">
                <a:avLst/>
              </a:prstGeom>
              <a:noFill/>
              <a:ln>
                <a:noFill/>
              </a:ln>
            </p:spPr>
            <p:txBody>
              <a:bodyPr wrap="none" lIns="0" tIns="0" rIns="0" bIns="0" anchor="t" anchorCtr="0">
                <a:spAutoFit/>
              </a:bodyPr>
              <a:lstStyle/>
              <a:p>
                <a:pPr algn="l"/>
                <a:r>
                  <a:rPr lang="zh-CN" sz="680" b="1" dirty="0">
                    <a:solidFill>
                      <a:srgbClr val="C8452F"/>
                    </a:solidFill>
                    <a:latin typeface="+mn-lt"/>
                    <a:ea typeface="+mn-ea"/>
                    <a:cs typeface="+mn-cs"/>
                  </a:rPr>
                  <a:t>缺失</a:t>
                </a:r>
              </a:p>
            </p:txBody>
          </p:sp>
          <p:sp>
            <p:nvSpPr>
              <p:cNvPr id="257" name="Rectangle 257"/>
              <p:cNvSpPr/>
              <p:nvPr/>
            </p:nvSpPr>
            <p:spPr>
              <a:xfrm>
                <a:off x="7124700" y="4819650"/>
                <a:ext cx="4876800" cy="266700"/>
              </a:xfrm>
              <a:prstGeom prst="rect">
                <a:avLst/>
              </a:prstGeom>
              <a:solidFill>
                <a:srgbClr val="FFFFFF"/>
              </a:solidFill>
              <a:ln>
                <a:noFill/>
              </a:ln>
            </p:spPr>
          </p:sp>
          <p:sp>
            <p:nvSpPr>
              <p:cNvPr id="258" name="TextBox 258"/>
              <p:cNvSpPr txBox="1"/>
              <p:nvPr/>
            </p:nvSpPr>
            <p:spPr>
              <a:xfrm>
                <a:off x="7265930" y="4918234"/>
                <a:ext cx="60440"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6</a:t>
                </a:r>
              </a:p>
            </p:txBody>
          </p:sp>
          <p:sp>
            <p:nvSpPr>
              <p:cNvPr id="259" name="TextBox 259"/>
              <p:cNvSpPr txBox="1"/>
              <p:nvPr/>
            </p:nvSpPr>
            <p:spPr>
              <a:xfrm>
                <a:off x="7615238" y="4918234"/>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身份证件复印件</a:t>
                </a:r>
              </a:p>
            </p:txBody>
          </p:sp>
          <p:sp>
            <p:nvSpPr>
              <p:cNvPr id="260" name="TextBox 260"/>
              <p:cNvSpPr txBox="1"/>
              <p:nvPr/>
            </p:nvSpPr>
            <p:spPr>
              <a:xfrm>
                <a:off x="10045967" y="4918234"/>
                <a:ext cx="10106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是</a:t>
                </a:r>
              </a:p>
            </p:txBody>
          </p:sp>
          <p:sp>
            <p:nvSpPr>
              <p:cNvPr id="261" name="TextBox 261"/>
              <p:cNvSpPr txBox="1"/>
              <p:nvPr/>
            </p:nvSpPr>
            <p:spPr>
              <a:xfrm>
                <a:off x="10948988" y="4918234"/>
                <a:ext cx="284150"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已提供</a:t>
                </a:r>
              </a:p>
            </p:txBody>
          </p:sp>
        </p:grpSp>
        <p:sp>
          <p:nvSpPr>
            <p:cNvPr id="263" name="Line 263"/>
            <p:cNvSpPr/>
            <p:nvPr/>
          </p:nvSpPr>
          <p:spPr>
            <a:xfrm>
              <a:off x="7124700" y="5086350"/>
              <a:ext cx="4876800" cy="9525"/>
            </a:xfrm>
            <a:custGeom>
              <a:avLst/>
              <a:gdLst/>
              <a:ahLst/>
              <a:cxnLst/>
              <a:rect l="l" t="t" r="r" b="b"/>
              <a:pathLst>
                <a:path w="4876800" h="9525">
                  <a:moveTo>
                    <a:pt x="0" y="0"/>
                  </a:moveTo>
                  <a:lnTo>
                    <a:pt x="4876800" y="0"/>
                  </a:lnTo>
                </a:path>
              </a:pathLst>
            </a:custGeom>
            <a:noFill/>
            <a:ln w="9525">
              <a:solidFill>
                <a:srgbClr val="E4EDF5"/>
              </a:solidFill>
            </a:ln>
          </p:spPr>
        </p:sp>
      </p:grpSp>
      <p:grpSp>
        <p:nvGrpSpPr>
          <p:cNvPr id="267" name="bottom-head"/>
          <p:cNvGrpSpPr/>
          <p:nvPr/>
        </p:nvGrpSpPr>
        <p:grpSpPr>
          <a:xfrm>
            <a:off x="190500" y="5257800"/>
            <a:ext cx="6838950" cy="272987"/>
            <a:chOff x="190500" y="5257800"/>
            <a:chExt cx="6838950" cy="272987"/>
          </a:xfrm>
        </p:grpSpPr>
        <p:sp>
          <p:nvSpPr>
            <p:cNvPr id="265" name="Rectangle 265"/>
            <p:cNvSpPr/>
            <p:nvPr/>
          </p:nvSpPr>
          <p:spPr>
            <a:xfrm>
              <a:off x="190500" y="5257800"/>
              <a:ext cx="6838950" cy="266700"/>
            </a:xfrm>
            <a:prstGeom prst="rect">
              <a:avLst/>
            </a:prstGeom>
            <a:gradFill>
              <a:gsLst>
                <a:gs pos="0">
                  <a:srgbClr val="92301C"/>
                </a:gs>
                <a:gs pos="100000">
                  <a:srgbClr val="B7533F"/>
                </a:gs>
              </a:gsLst>
              <a:lin ang="0" scaled="1"/>
            </a:gradFill>
            <a:ln>
              <a:noFill/>
            </a:ln>
          </p:spPr>
        </p:sp>
        <p:sp>
          <p:nvSpPr>
            <p:cNvPr id="266" name="TextBox 266"/>
            <p:cNvSpPr txBox="1"/>
            <p:nvPr/>
          </p:nvSpPr>
          <p:spPr>
            <a:xfrm>
              <a:off x="318516" y="5325428"/>
              <a:ext cx="1000125"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模型与流程治理</a:t>
              </a:r>
            </a:p>
          </p:txBody>
        </p:sp>
      </p:grpSp>
      <p:grpSp>
        <p:nvGrpSpPr>
          <p:cNvPr id="296" name="bottom-cards"/>
          <p:cNvGrpSpPr/>
          <p:nvPr/>
        </p:nvGrpSpPr>
        <p:grpSpPr>
          <a:xfrm>
            <a:off x="190500" y="5562600"/>
            <a:ext cx="6838950" cy="1009650"/>
            <a:chOff x="190500" y="5562600"/>
            <a:chExt cx="6838950" cy="1009650"/>
          </a:xfrm>
        </p:grpSpPr>
        <p:grpSp>
          <p:nvGrpSpPr>
            <p:cNvPr id="277" name="bc-1"/>
            <p:cNvGrpSpPr/>
            <p:nvPr/>
          </p:nvGrpSpPr>
          <p:grpSpPr>
            <a:xfrm>
              <a:off x="190500" y="5562600"/>
              <a:ext cx="2209800" cy="1009650"/>
              <a:chOff x="190500" y="5562600"/>
              <a:chExt cx="2209800" cy="1009650"/>
            </a:xfrm>
          </p:grpSpPr>
          <p:sp>
            <p:nvSpPr>
              <p:cNvPr id="268" name="Rectangle 268"/>
              <p:cNvSpPr/>
              <p:nvPr/>
            </p:nvSpPr>
            <p:spPr>
              <a:xfrm>
                <a:off x="190500" y="5562600"/>
                <a:ext cx="2209800" cy="1009650"/>
              </a:xfrm>
              <a:prstGeom prst="roundRect">
                <a:avLst>
                  <a:gd name="adj" fmla="val 5660"/>
                </a:avLst>
              </a:prstGeom>
              <a:solidFill>
                <a:srgbClr val="F6F9FD"/>
              </a:solidFill>
              <a:ln w="9525">
                <a:solidFill>
                  <a:srgbClr val="CFDFEE"/>
                </a:solidFill>
              </a:ln>
            </p:spPr>
          </p:sp>
          <p:grpSp>
            <p:nvGrpSpPr>
              <p:cNvPr id="273" name="Group 273"/>
              <p:cNvGrpSpPr/>
              <p:nvPr/>
            </p:nvGrpSpPr>
            <p:grpSpPr>
              <a:xfrm>
                <a:off x="314325" y="5705475"/>
                <a:ext cx="171450" cy="171450"/>
                <a:chOff x="314325" y="5705475"/>
                <a:chExt cx="171450" cy="171450"/>
              </a:xfrm>
            </p:grpSpPr>
            <p:sp>
              <p:nvSpPr>
                <p:cNvPr id="269" name="Freeform 269"/>
                <p:cNvSpPr/>
                <p:nvPr/>
              </p:nvSpPr>
              <p:spPr>
                <a:xfrm>
                  <a:off x="333375" y="57054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92301C"/>
                  </a:solidFill>
                </a:ln>
              </p:spPr>
            </p:sp>
            <p:sp>
              <p:nvSpPr>
                <p:cNvPr id="270" name="Freeform 270"/>
                <p:cNvSpPr/>
                <p:nvPr/>
              </p:nvSpPr>
              <p:spPr>
                <a:xfrm>
                  <a:off x="314325" y="58197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92301C"/>
                  </a:solidFill>
                </a:ln>
              </p:spPr>
            </p:sp>
            <p:sp>
              <p:nvSpPr>
                <p:cNvPr id="271" name="Freeform 271"/>
                <p:cNvSpPr/>
                <p:nvPr/>
              </p:nvSpPr>
              <p:spPr>
                <a:xfrm>
                  <a:off x="438150" y="57067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92301C"/>
                  </a:solidFill>
                </a:ln>
              </p:spPr>
            </p:sp>
            <p:sp>
              <p:nvSpPr>
                <p:cNvPr id="272" name="Freeform 272"/>
                <p:cNvSpPr/>
                <p:nvPr/>
              </p:nvSpPr>
              <p:spPr>
                <a:xfrm>
                  <a:off x="457200" y="58212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92301C"/>
                  </a:solidFill>
                </a:ln>
              </p:spPr>
            </p:sp>
          </p:grpSp>
          <p:sp>
            <p:nvSpPr>
              <p:cNvPr id="274" name="TextBox 274"/>
              <p:cNvSpPr txBox="1"/>
              <p:nvPr/>
            </p:nvSpPr>
            <p:spPr>
              <a:xfrm>
                <a:off x="585788" y="57416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人工复核</a:t>
                </a:r>
              </a:p>
            </p:txBody>
          </p:sp>
          <p:sp>
            <p:nvSpPr>
              <p:cNvPr id="275" name="TextBox 275"/>
              <p:cNvSpPr txBox="1"/>
              <p:nvPr/>
            </p:nvSpPr>
            <p:spPr>
              <a:xfrm>
                <a:off x="261938" y="6046232"/>
                <a:ext cx="163654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高风险、复杂案件必须由理赔员人工复核</a:t>
                </a:r>
              </a:p>
            </p:txBody>
          </p:sp>
          <p:sp>
            <p:nvSpPr>
              <p:cNvPr id="276" name="TextBox 276"/>
              <p:cNvSpPr txBox="1"/>
              <p:nvPr/>
            </p:nvSpPr>
            <p:spPr>
              <a:xfrm>
                <a:off x="261938" y="6217682"/>
                <a:ext cx="129192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最终理赔结论须由授权人员确认</a:t>
                </a:r>
              </a:p>
            </p:txBody>
          </p:sp>
        </p:grpSp>
        <p:grpSp>
          <p:nvGrpSpPr>
            <p:cNvPr id="287" name="bc-2"/>
            <p:cNvGrpSpPr/>
            <p:nvPr/>
          </p:nvGrpSpPr>
          <p:grpSpPr>
            <a:xfrm>
              <a:off x="2505075" y="5562600"/>
              <a:ext cx="2209800" cy="1009650"/>
              <a:chOff x="2505075" y="5562600"/>
              <a:chExt cx="2209800" cy="1009650"/>
            </a:xfrm>
          </p:grpSpPr>
          <p:sp>
            <p:nvSpPr>
              <p:cNvPr id="278" name="Rectangle 278"/>
              <p:cNvSpPr/>
              <p:nvPr/>
            </p:nvSpPr>
            <p:spPr>
              <a:xfrm>
                <a:off x="2505075" y="5562600"/>
                <a:ext cx="2209800" cy="1009650"/>
              </a:xfrm>
              <a:prstGeom prst="roundRect">
                <a:avLst>
                  <a:gd name="adj" fmla="val 5660"/>
                </a:avLst>
              </a:prstGeom>
              <a:solidFill>
                <a:srgbClr val="F6F9FD"/>
              </a:solidFill>
              <a:ln w="9525">
                <a:solidFill>
                  <a:srgbClr val="CFDFEE"/>
                </a:solidFill>
              </a:ln>
            </p:spPr>
          </p:sp>
          <p:grpSp>
            <p:nvGrpSpPr>
              <p:cNvPr id="283" name="Group 283"/>
              <p:cNvGrpSpPr/>
              <p:nvPr/>
            </p:nvGrpSpPr>
            <p:grpSpPr>
              <a:xfrm>
                <a:off x="2628900" y="5705475"/>
                <a:ext cx="152400" cy="180975"/>
                <a:chOff x="2628900" y="5705475"/>
                <a:chExt cx="152400" cy="180975"/>
              </a:xfrm>
            </p:grpSpPr>
            <p:sp>
              <p:nvSpPr>
                <p:cNvPr id="279" name="Freeform 279"/>
                <p:cNvSpPr/>
                <p:nvPr/>
              </p:nvSpPr>
              <p:spPr>
                <a:xfrm>
                  <a:off x="2733675" y="57054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92301C"/>
                  </a:solidFill>
                </a:ln>
              </p:spPr>
            </p:sp>
            <p:sp>
              <p:nvSpPr>
                <p:cNvPr id="280" name="Freeform 280"/>
                <p:cNvSpPr/>
                <p:nvPr/>
              </p:nvSpPr>
              <p:spPr>
                <a:xfrm>
                  <a:off x="2647950" y="5705475"/>
                  <a:ext cx="133350" cy="171450"/>
                </a:xfrm>
                <a:custGeom>
                  <a:avLst/>
                  <a:gdLst/>
                  <a:ahLst/>
                  <a:cxnLst/>
                  <a:rect l="l" t="t" r="r" b="b"/>
                  <a:pathLst>
                    <a:path w="133350" h="171450">
                      <a:moveTo>
                        <a:pt x="0" y="47625"/>
                      </a:moveTo>
                      <a:lnTo>
                        <a:pt x="0" y="19050"/>
                      </a:lnTo>
                      <a:cubicBezTo>
                        <a:pt x="0" y="8529"/>
                        <a:pt x="8529" y="0"/>
                        <a:pt x="19050" y="0"/>
                      </a:cubicBezTo>
                      <a:lnTo>
                        <a:pt x="85725" y="0"/>
                      </a:lnTo>
                      <a:lnTo>
                        <a:pt x="133350" y="47625"/>
                      </a:lnTo>
                      <a:lnTo>
                        <a:pt x="133350" y="152400"/>
                      </a:lnTo>
                      <a:cubicBezTo>
                        <a:pt x="133350" y="162921"/>
                        <a:pt x="124821" y="171450"/>
                        <a:pt x="114300" y="171450"/>
                      </a:cubicBezTo>
                      <a:lnTo>
                        <a:pt x="66675" y="171450"/>
                      </a:lnTo>
                    </a:path>
                  </a:pathLst>
                </a:custGeom>
                <a:noFill/>
                <a:ln w="19050">
                  <a:solidFill>
                    <a:srgbClr val="92301C"/>
                  </a:solidFill>
                </a:ln>
              </p:spPr>
            </p:sp>
            <p:sp>
              <p:nvSpPr>
                <p:cNvPr id="281" name="Freeform 281"/>
                <p:cNvSpPr/>
                <p:nvPr/>
              </p:nvSpPr>
              <p:spPr>
                <a:xfrm>
                  <a:off x="2628900" y="578167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92301C"/>
                  </a:solidFill>
                </a:ln>
              </p:spPr>
            </p:sp>
            <p:sp>
              <p:nvSpPr>
                <p:cNvPr id="282" name="Freeform 282"/>
                <p:cNvSpPr/>
                <p:nvPr/>
              </p:nvSpPr>
              <p:spPr>
                <a:xfrm>
                  <a:off x="2628900" y="5838825"/>
                  <a:ext cx="57150" cy="47625"/>
                </a:xfrm>
                <a:custGeom>
                  <a:avLst/>
                  <a:gdLst/>
                  <a:ahLst/>
                  <a:cxnLst/>
                  <a:rect l="l" t="t" r="r" b="b"/>
                  <a:pathLst>
                    <a:path w="57150" h="47625">
                      <a:moveTo>
                        <a:pt x="14288" y="0"/>
                      </a:moveTo>
                      <a:lnTo>
                        <a:pt x="0" y="47625"/>
                      </a:lnTo>
                      <a:lnTo>
                        <a:pt x="28575" y="33338"/>
                      </a:lnTo>
                      <a:lnTo>
                        <a:pt x="57150" y="47625"/>
                      </a:lnTo>
                      <a:lnTo>
                        <a:pt x="42862" y="0"/>
                      </a:lnTo>
                    </a:path>
                  </a:pathLst>
                </a:custGeom>
                <a:noFill/>
                <a:ln w="19050">
                  <a:solidFill>
                    <a:srgbClr val="92301C"/>
                  </a:solidFill>
                </a:ln>
              </p:spPr>
            </p:sp>
          </p:grpSp>
          <p:sp>
            <p:nvSpPr>
              <p:cNvPr id="284" name="TextBox 284"/>
              <p:cNvSpPr txBox="1"/>
              <p:nvPr/>
            </p:nvSpPr>
            <p:spPr>
              <a:xfrm>
                <a:off x="2900362" y="5741670"/>
                <a:ext cx="615315"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条款可追溯</a:t>
                </a:r>
              </a:p>
            </p:txBody>
          </p:sp>
          <p:sp>
            <p:nvSpPr>
              <p:cNvPr id="285" name="TextBox 285"/>
              <p:cNvSpPr txBox="1"/>
              <p:nvPr/>
            </p:nvSpPr>
            <p:spPr>
              <a:xfrm>
                <a:off x="2576512" y="6046232"/>
                <a:ext cx="1550391"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每项结论关联具体保单条款及条款版本</a:t>
                </a:r>
              </a:p>
            </p:txBody>
          </p:sp>
          <p:sp>
            <p:nvSpPr>
              <p:cNvPr id="286" name="TextBox 286"/>
              <p:cNvSpPr txBox="1"/>
              <p:nvPr/>
            </p:nvSpPr>
            <p:spPr>
              <a:xfrm>
                <a:off x="2576512" y="6217682"/>
                <a:ext cx="1464234"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完整记录审核依据，支持审计与回溯</a:t>
                </a:r>
              </a:p>
            </p:txBody>
          </p:sp>
        </p:grpSp>
        <p:grpSp>
          <p:nvGrpSpPr>
            <p:cNvPr id="295" name="bc-3"/>
            <p:cNvGrpSpPr/>
            <p:nvPr/>
          </p:nvGrpSpPr>
          <p:grpSpPr>
            <a:xfrm>
              <a:off x="4819650" y="5562600"/>
              <a:ext cx="2209800" cy="1009650"/>
              <a:chOff x="4819650" y="5562600"/>
              <a:chExt cx="2209800" cy="1009650"/>
            </a:xfrm>
          </p:grpSpPr>
          <p:sp>
            <p:nvSpPr>
              <p:cNvPr id="288" name="Rectangle 288"/>
              <p:cNvSpPr/>
              <p:nvPr/>
            </p:nvSpPr>
            <p:spPr>
              <a:xfrm>
                <a:off x="4819650" y="5562600"/>
                <a:ext cx="2209800" cy="1009650"/>
              </a:xfrm>
              <a:prstGeom prst="roundRect">
                <a:avLst>
                  <a:gd name="adj" fmla="val 5660"/>
                </a:avLst>
              </a:prstGeom>
              <a:solidFill>
                <a:srgbClr val="F6F9FD"/>
              </a:solidFill>
              <a:ln w="9525">
                <a:solidFill>
                  <a:srgbClr val="CFDFEE"/>
                </a:solidFill>
              </a:ln>
            </p:spPr>
          </p:sp>
          <p:grpSp>
            <p:nvGrpSpPr>
              <p:cNvPr id="291" name="Group 291"/>
              <p:cNvGrpSpPr/>
              <p:nvPr/>
            </p:nvGrpSpPr>
            <p:grpSpPr>
              <a:xfrm>
                <a:off x="4930621" y="5705475"/>
                <a:ext cx="186006" cy="171450"/>
                <a:chOff x="4930621" y="5705475"/>
                <a:chExt cx="186006" cy="171450"/>
              </a:xfrm>
            </p:grpSpPr>
            <p:sp>
              <p:nvSpPr>
                <p:cNvPr id="289" name="Freeform 289"/>
                <p:cNvSpPr/>
                <p:nvPr/>
              </p:nvSpPr>
              <p:spPr>
                <a:xfrm>
                  <a:off x="4930621" y="57054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1"/>
                      </a:cubicBezTo>
                    </a:path>
                  </a:pathLst>
                </a:custGeom>
                <a:noFill/>
                <a:ln w="19050">
                  <a:solidFill>
                    <a:srgbClr val="92301C"/>
                  </a:solidFill>
                </a:ln>
              </p:spPr>
            </p:sp>
            <p:sp>
              <p:nvSpPr>
                <p:cNvPr id="290" name="Freeform 290"/>
                <p:cNvSpPr/>
                <p:nvPr/>
              </p:nvSpPr>
              <p:spPr>
                <a:xfrm>
                  <a:off x="5057775" y="5838825"/>
                  <a:ext cx="57150" cy="38100"/>
                </a:xfrm>
                <a:custGeom>
                  <a:avLst/>
                  <a:gdLst/>
                  <a:ahLst/>
                  <a:cxnLst/>
                  <a:rect l="l" t="t" r="r" b="b"/>
                  <a:pathLst>
                    <a:path w="57150" h="38100">
                      <a:moveTo>
                        <a:pt x="0" y="19050"/>
                      </a:moveTo>
                      <a:lnTo>
                        <a:pt x="19050" y="38100"/>
                      </a:lnTo>
                      <a:lnTo>
                        <a:pt x="57150" y="0"/>
                      </a:lnTo>
                    </a:path>
                  </a:pathLst>
                </a:custGeom>
                <a:noFill/>
                <a:ln w="19050">
                  <a:solidFill>
                    <a:srgbClr val="92301C"/>
                  </a:solidFill>
                </a:ln>
              </p:spPr>
            </p:sp>
          </p:grpSp>
          <p:sp>
            <p:nvSpPr>
              <p:cNvPr id="292" name="TextBox 292"/>
              <p:cNvSpPr txBox="1"/>
              <p:nvPr/>
            </p:nvSpPr>
            <p:spPr>
              <a:xfrm>
                <a:off x="5214938" y="5741670"/>
                <a:ext cx="109994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欺诈案件转人工调查</a:t>
                </a:r>
              </a:p>
            </p:txBody>
          </p:sp>
          <p:sp>
            <p:nvSpPr>
              <p:cNvPr id="293" name="TextBox 293"/>
              <p:cNvSpPr txBox="1"/>
              <p:nvPr/>
            </p:nvSpPr>
            <p:spPr>
              <a:xfrm>
                <a:off x="4891088" y="6046232"/>
                <a:ext cx="163654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涉及欺诈重大线索的案件必须转人工调查</a:t>
                </a:r>
              </a:p>
            </p:txBody>
          </p:sp>
          <p:sp>
            <p:nvSpPr>
              <p:cNvPr id="294" name="TextBox 294"/>
              <p:cNvSpPr txBox="1"/>
              <p:nvPr/>
            </p:nvSpPr>
            <p:spPr>
              <a:xfrm>
                <a:off x="4891088" y="6217682"/>
                <a:ext cx="129192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联合风控、法务等专业团队处理</a:t>
                </a:r>
              </a:p>
            </p:txBody>
          </p:sp>
        </p:grpSp>
      </p:grpSp>
      <p:grpSp>
        <p:nvGrpSpPr>
          <p:cNvPr id="299" name="kpi-head"/>
          <p:cNvGrpSpPr/>
          <p:nvPr/>
        </p:nvGrpSpPr>
        <p:grpSpPr>
          <a:xfrm>
            <a:off x="7124700" y="5257800"/>
            <a:ext cx="4876800" cy="272987"/>
            <a:chOff x="7124700" y="5257800"/>
            <a:chExt cx="4876800" cy="272987"/>
          </a:xfrm>
        </p:grpSpPr>
        <p:sp>
          <p:nvSpPr>
            <p:cNvPr id="297" name="Rectangle 297"/>
            <p:cNvSpPr/>
            <p:nvPr/>
          </p:nvSpPr>
          <p:spPr>
            <a:xfrm>
              <a:off x="7124700" y="5257800"/>
              <a:ext cx="4876800" cy="266700"/>
            </a:xfrm>
            <a:prstGeom prst="rect">
              <a:avLst/>
            </a:prstGeom>
            <a:gradFill>
              <a:gsLst>
                <a:gs pos="0">
                  <a:srgbClr val="92301C"/>
                </a:gs>
                <a:gs pos="100000">
                  <a:srgbClr val="B7533F"/>
                </a:gs>
              </a:gsLst>
              <a:lin ang="0" scaled="1"/>
            </a:gradFill>
            <a:ln>
              <a:noFill/>
            </a:ln>
          </p:spPr>
        </p:sp>
        <p:sp>
          <p:nvSpPr>
            <p:cNvPr id="298" name="TextBox 298"/>
            <p:cNvSpPr txBox="1"/>
            <p:nvPr/>
          </p:nvSpPr>
          <p:spPr>
            <a:xfrm>
              <a:off x="7252716" y="5325428"/>
              <a:ext cx="123840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关键成效</a:t>
              </a:r>
              <a:r>
                <a:rPr lang="zh-CN" sz="820" dirty="0">
                  <a:solidFill>
                    <a:srgbClr val="FFFFFF"/>
                  </a:solidFill>
                  <a:latin typeface="+mn-lt"/>
                  <a:ea typeface="+mn-ea"/>
                  <a:cs typeface="+mn-cs"/>
                </a:rPr>
                <a:t>（示例测算）</a:t>
              </a:r>
            </a:p>
          </p:txBody>
        </p:sp>
      </p:grpSp>
      <p:grpSp>
        <p:nvGrpSpPr>
          <p:cNvPr id="318" name="kpi-cards"/>
          <p:cNvGrpSpPr/>
          <p:nvPr/>
        </p:nvGrpSpPr>
        <p:grpSpPr>
          <a:xfrm>
            <a:off x="7124700" y="5562600"/>
            <a:ext cx="4876800" cy="1009650"/>
            <a:chOff x="7124700" y="5562600"/>
            <a:chExt cx="4876800" cy="1009650"/>
          </a:xfrm>
        </p:grpSpPr>
        <p:sp>
          <p:nvSpPr>
            <p:cNvPr id="300" name="Rectangle 300"/>
            <p:cNvSpPr/>
            <p:nvPr/>
          </p:nvSpPr>
          <p:spPr>
            <a:xfrm>
              <a:off x="7124700" y="5562600"/>
              <a:ext cx="2381250" cy="1009650"/>
            </a:xfrm>
            <a:prstGeom prst="roundRect">
              <a:avLst>
                <a:gd name="adj" fmla="val 5660"/>
              </a:avLst>
            </a:prstGeom>
            <a:solidFill>
              <a:srgbClr val="EEF5FB"/>
            </a:solidFill>
            <a:ln>
              <a:noFill/>
            </a:ln>
          </p:spPr>
        </p:sp>
        <p:sp>
          <p:nvSpPr>
            <p:cNvPr id="301" name="Ellipse 301"/>
            <p:cNvSpPr/>
            <p:nvPr/>
          </p:nvSpPr>
          <p:spPr>
            <a:xfrm>
              <a:off x="7239000" y="5695950"/>
              <a:ext cx="304800" cy="304800"/>
            </a:xfrm>
            <a:prstGeom prst="ellipse">
              <a:avLst/>
            </a:prstGeom>
            <a:solidFill>
              <a:srgbClr val="92301C"/>
            </a:solidFill>
            <a:ln>
              <a:noFill/>
            </a:ln>
          </p:spPr>
        </p:sp>
        <p:grpSp>
          <p:nvGrpSpPr>
            <p:cNvPr id="304" name="Group 304"/>
            <p:cNvGrpSpPr/>
            <p:nvPr/>
          </p:nvGrpSpPr>
          <p:grpSpPr>
            <a:xfrm>
              <a:off x="7319962" y="5776912"/>
              <a:ext cx="142875" cy="142875"/>
              <a:chOff x="7319962" y="5776912"/>
              <a:chExt cx="142875" cy="142875"/>
            </a:xfrm>
          </p:grpSpPr>
          <p:sp>
            <p:nvSpPr>
              <p:cNvPr id="302" name="Freeform 302"/>
              <p:cNvSpPr/>
              <p:nvPr/>
            </p:nvSpPr>
            <p:spPr>
              <a:xfrm>
                <a:off x="7319962" y="57769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sp>
            <p:nvSpPr>
              <p:cNvPr id="303" name="Freeform 303"/>
              <p:cNvSpPr/>
              <p:nvPr/>
            </p:nvSpPr>
            <p:spPr>
              <a:xfrm>
                <a:off x="7391400" y="5808662"/>
                <a:ext cx="23812" cy="63500"/>
              </a:xfrm>
              <a:custGeom>
                <a:avLst/>
                <a:gdLst/>
                <a:ahLst/>
                <a:cxnLst/>
                <a:rect l="l" t="t" r="r" b="b"/>
                <a:pathLst>
                  <a:path w="23812" h="63500">
                    <a:moveTo>
                      <a:pt x="0" y="0"/>
                    </a:moveTo>
                    <a:lnTo>
                      <a:pt x="0" y="39687"/>
                    </a:lnTo>
                    <a:lnTo>
                      <a:pt x="23812" y="63500"/>
                    </a:lnTo>
                  </a:path>
                </a:pathLst>
              </a:custGeom>
              <a:noFill/>
              <a:ln w="15875">
                <a:solidFill>
                  <a:srgbClr val="FFFFFF"/>
                </a:solidFill>
              </a:ln>
            </p:spPr>
          </p:sp>
        </p:grpSp>
        <p:sp>
          <p:nvSpPr>
            <p:cNvPr id="305" name="TextBox 305"/>
            <p:cNvSpPr txBox="1"/>
            <p:nvPr/>
          </p:nvSpPr>
          <p:spPr>
            <a:xfrm>
              <a:off x="7653338" y="5789295"/>
              <a:ext cx="494157"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审核时长</a:t>
              </a:r>
            </a:p>
          </p:txBody>
        </p:sp>
        <p:sp>
          <p:nvSpPr>
            <p:cNvPr id="306" name="TextBox 306"/>
            <p:cNvSpPr txBox="1"/>
            <p:nvPr/>
          </p:nvSpPr>
          <p:spPr>
            <a:xfrm>
              <a:off x="7648194" y="601884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-45%　</a:t>
              </a:r>
            </a:p>
          </p:txBody>
        </p:sp>
        <p:sp>
          <p:nvSpPr>
            <p:cNvPr id="307" name="TextBox 307"/>
            <p:cNvSpPr txBox="1"/>
            <p:nvPr/>
          </p:nvSpPr>
          <p:spPr>
            <a:xfrm>
              <a:off x="765333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308" name="Rectangle 308"/>
            <p:cNvSpPr/>
            <p:nvPr/>
          </p:nvSpPr>
          <p:spPr>
            <a:xfrm>
              <a:off x="9620250" y="5562600"/>
              <a:ext cx="2381250" cy="1009650"/>
            </a:xfrm>
            <a:prstGeom prst="roundRect">
              <a:avLst>
                <a:gd name="adj" fmla="val 5660"/>
              </a:avLst>
            </a:prstGeom>
            <a:solidFill>
              <a:srgbClr val="EEF5FB"/>
            </a:solidFill>
            <a:ln>
              <a:noFill/>
            </a:ln>
          </p:spPr>
        </p:sp>
        <p:sp>
          <p:nvSpPr>
            <p:cNvPr id="309" name="Ellipse 309"/>
            <p:cNvSpPr/>
            <p:nvPr/>
          </p:nvSpPr>
          <p:spPr>
            <a:xfrm>
              <a:off x="9734550" y="5695950"/>
              <a:ext cx="304800" cy="304800"/>
            </a:xfrm>
            <a:prstGeom prst="ellipse">
              <a:avLst/>
            </a:prstGeom>
            <a:solidFill>
              <a:srgbClr val="92301C"/>
            </a:solidFill>
            <a:ln>
              <a:noFill/>
            </a:ln>
          </p:spPr>
        </p:sp>
        <p:grpSp>
          <p:nvGrpSpPr>
            <p:cNvPr id="314" name="Group 314"/>
            <p:cNvGrpSpPr/>
            <p:nvPr/>
          </p:nvGrpSpPr>
          <p:grpSpPr>
            <a:xfrm>
              <a:off x="9815512" y="5784850"/>
              <a:ext cx="142875" cy="136525"/>
              <a:chOff x="9815512" y="5784850"/>
              <a:chExt cx="142875" cy="136525"/>
            </a:xfrm>
          </p:grpSpPr>
          <p:sp>
            <p:nvSpPr>
              <p:cNvPr id="310" name="Freeform 310"/>
              <p:cNvSpPr/>
              <p:nvPr/>
            </p:nvSpPr>
            <p:spPr>
              <a:xfrm>
                <a:off x="9815512" y="58483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311" name="Freeform 311"/>
              <p:cNvSpPr/>
              <p:nvPr/>
            </p:nvSpPr>
            <p:spPr>
              <a:xfrm>
                <a:off x="9910762" y="58166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312" name="Freeform 312"/>
              <p:cNvSpPr/>
              <p:nvPr/>
            </p:nvSpPr>
            <p:spPr>
              <a:xfrm>
                <a:off x="9863137" y="57848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313" name="Freeform 313"/>
              <p:cNvSpPr/>
              <p:nvPr/>
            </p:nvSpPr>
            <p:spPr>
              <a:xfrm>
                <a:off x="9823450" y="5911850"/>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315" name="TextBox 315"/>
            <p:cNvSpPr txBox="1"/>
            <p:nvPr/>
          </p:nvSpPr>
          <p:spPr>
            <a:xfrm>
              <a:off x="10148888" y="5789295"/>
              <a:ext cx="1099947"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重复赔付线索发现率</a:t>
              </a:r>
            </a:p>
          </p:txBody>
        </p:sp>
        <p:sp>
          <p:nvSpPr>
            <p:cNvPr id="316" name="TextBox 316"/>
            <p:cNvSpPr txBox="1"/>
            <p:nvPr/>
          </p:nvSpPr>
          <p:spPr>
            <a:xfrm>
              <a:off x="10143744" y="6018848"/>
              <a:ext cx="1255352"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+20</a:t>
              </a:r>
              <a:r>
                <a:rPr lang="zh-CN" sz="980" b="1" dirty="0">
                  <a:solidFill>
                    <a:srgbClr val="6B1B0B"/>
                  </a:solidFill>
                  <a:latin typeface="+mj-lt"/>
                  <a:ea typeface="+mj-ea"/>
                  <a:cs typeface="+mj-cs"/>
                </a:rPr>
                <a:t>个百分点</a:t>
              </a:r>
              <a:r>
                <a:rPr lang="zh-CN" sz="1950" b="1" dirty="0">
                  <a:solidFill>
                    <a:srgbClr val="6B1B0B"/>
                  </a:solidFill>
                  <a:latin typeface="+mj-lt"/>
                  <a:ea typeface="+mj-ea"/>
                  <a:cs typeface="+mj-cs"/>
                </a:rPr>
                <a:t xml:space="preserve">　</a:t>
              </a:r>
            </a:p>
          </p:txBody>
        </p:sp>
        <p:sp>
          <p:nvSpPr>
            <p:cNvPr id="317" name="TextBox 317"/>
            <p:cNvSpPr txBox="1"/>
            <p:nvPr/>
          </p:nvSpPr>
          <p:spPr>
            <a:xfrm>
              <a:off x="1014888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grpSp>
      <p:grpSp>
        <p:nvGrpSpPr>
          <p:cNvPr id="325" name="footer-band"/>
          <p:cNvGrpSpPr/>
          <p:nvPr/>
        </p:nvGrpSpPr>
        <p:grpSpPr>
          <a:xfrm>
            <a:off x="190500" y="6610350"/>
            <a:ext cx="11811000" cy="231457"/>
            <a:chOff x="190500" y="6610350"/>
            <a:chExt cx="11811000" cy="231457"/>
          </a:xfrm>
        </p:grpSpPr>
        <p:sp>
          <p:nvSpPr>
            <p:cNvPr id="319" name="Rectangle 319"/>
            <p:cNvSpPr/>
            <p:nvPr/>
          </p:nvSpPr>
          <p:spPr>
            <a:xfrm>
              <a:off x="190500" y="6610350"/>
              <a:ext cx="11811000" cy="228600"/>
            </a:xfrm>
            <a:prstGeom prst="roundRect">
              <a:avLst>
                <a:gd name="adj" fmla="val 50000"/>
              </a:avLst>
            </a:prstGeom>
            <a:solidFill>
              <a:srgbClr val="EEF5FB"/>
            </a:solidFill>
            <a:ln>
              <a:noFill/>
            </a:ln>
          </p:spPr>
        </p:sp>
        <p:sp>
          <p:nvSpPr>
            <p:cNvPr id="320" name="Ellipse 320"/>
            <p:cNvSpPr/>
            <p:nvPr/>
          </p:nvSpPr>
          <p:spPr>
            <a:xfrm>
              <a:off x="304800" y="6648450"/>
              <a:ext cx="152400" cy="152400"/>
            </a:xfrm>
            <a:prstGeom prst="ellipse">
              <a:avLst/>
            </a:prstGeom>
            <a:solidFill>
              <a:srgbClr val="92301C"/>
            </a:solidFill>
            <a:ln>
              <a:noFill/>
            </a:ln>
          </p:spPr>
        </p:sp>
        <p:sp>
          <p:nvSpPr>
            <p:cNvPr id="321" name="TextBox 321"/>
            <p:cNvSpPr txBox="1"/>
            <p:nvPr/>
          </p:nvSpPr>
          <p:spPr>
            <a:xfrm>
              <a:off x="359427" y="6681788"/>
              <a:ext cx="43146"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a:t>
              </a:r>
            </a:p>
          </p:txBody>
        </p:sp>
        <p:sp>
          <p:nvSpPr>
            <p:cNvPr id="322" name="TextBox 322"/>
            <p:cNvSpPr txBox="1"/>
            <p:nvPr/>
          </p:nvSpPr>
          <p:spPr>
            <a:xfrm>
              <a:off x="528638" y="6685836"/>
              <a:ext cx="4788535" cy="140494"/>
            </a:xfrm>
            <a:prstGeom prst="rect">
              <a:avLst/>
            </a:prstGeom>
            <a:noFill/>
            <a:ln>
              <a:noFill/>
            </a:ln>
          </p:spPr>
          <p:txBody>
            <a:bodyPr wrap="none" lIns="0" tIns="0" rIns="0" bIns="0" anchor="t" anchorCtr="0">
              <a:spAutoFit/>
            </a:bodyPr>
            <a:lstStyle/>
            <a:p>
              <a:pPr algn="l"/>
              <a:r>
                <a:rPr lang="zh-CN" sz="710" dirty="0">
                  <a:solidFill>
                    <a:srgbClr val="6B1B0B"/>
                  </a:solidFill>
                  <a:latin typeface="+mn-lt"/>
                  <a:ea typeface="+mn-ea"/>
                  <a:cs typeface="+mn-cs"/>
                </a:rPr>
                <a:t>注：本方案为示例，相关数据均为示例测算；不得自动拒赔或自动支付，所有重大金融决策必须由授权人员确认。</a:t>
              </a:r>
            </a:p>
          </p:txBody>
        </p:sp>
        <p:sp>
          <p:nvSpPr>
            <p:cNvPr id="323" name="Line 323"/>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24" name="TextBox 324"/>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13</a:t>
              </a:r>
            </a:p>
          </p:txBody>
        </p:sp>
      </p:gr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192000" cy="567928"/>
            <a:chOff x="0" y="0"/>
            <a:chExt cx="12192000" cy="567928"/>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13</a:t>
              </a:r>
            </a:p>
          </p:txBody>
        </p:sp>
        <p:sp>
          <p:nvSpPr>
            <p:cNvPr id="4" name="TextBox 4"/>
            <p:cNvSpPr txBox="1"/>
            <p:nvPr/>
          </p:nvSpPr>
          <p:spPr>
            <a:xfrm>
              <a:off x="942594" y="84773"/>
              <a:ext cx="1857375"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智能运营智能体</a:t>
              </a:r>
            </a:p>
          </p:txBody>
        </p:sp>
        <p:sp>
          <p:nvSpPr>
            <p:cNvPr id="5" name="TextBox 5"/>
            <p:cNvSpPr txBox="1"/>
            <p:nvPr/>
          </p:nvSpPr>
          <p:spPr>
            <a:xfrm>
              <a:off x="947738" y="384572"/>
              <a:ext cx="2034210" cy="183356"/>
            </a:xfrm>
            <a:prstGeom prst="rect">
              <a:avLst/>
            </a:prstGeom>
            <a:noFill/>
            <a:ln>
              <a:noFill/>
            </a:ln>
          </p:spPr>
          <p:txBody>
            <a:bodyPr wrap="none" lIns="0" tIns="0" rIns="0" bIns="0" anchor="t" anchorCtr="0">
              <a:spAutoFit/>
            </a:bodyPr>
            <a:lstStyle/>
            <a:p>
              <a:pPr algn="l"/>
              <a:r>
                <a:rPr lang="zh-CN" sz="940" b="1" dirty="0">
                  <a:solidFill>
                    <a:srgbClr val="92301C"/>
                  </a:solidFill>
                  <a:latin typeface="+mn-lt"/>
                  <a:ea typeface="+mn-ea"/>
                  <a:cs typeface="+mn-cs"/>
                </a:rPr>
                <a:t>贯通指令理解、任务执行与异常处置</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0" name="col1-head"/>
          <p:cNvGrpSpPr/>
          <p:nvPr/>
        </p:nvGrpSpPr>
        <p:grpSpPr>
          <a:xfrm>
            <a:off x="190500" y="628650"/>
            <a:ext cx="2114550" cy="279559"/>
            <a:chOff x="190500" y="628650"/>
            <a:chExt cx="2114550" cy="279559"/>
          </a:xfrm>
        </p:grpSpPr>
        <p:sp>
          <p:nvSpPr>
            <p:cNvPr id="8" name="Rectangle 8"/>
            <p:cNvSpPr/>
            <p:nvPr/>
          </p:nvSpPr>
          <p:spPr>
            <a:xfrm>
              <a:off x="190500" y="628650"/>
              <a:ext cx="2114550" cy="266700"/>
            </a:xfrm>
            <a:prstGeom prst="rect">
              <a:avLst/>
            </a:prstGeom>
            <a:gradFill>
              <a:gsLst>
                <a:gs pos="0">
                  <a:srgbClr val="92301C"/>
                </a:gs>
                <a:gs pos="100000">
                  <a:srgbClr val="B7533F"/>
                </a:gs>
              </a:gsLst>
              <a:lin ang="0" scaled="1"/>
            </a:gradFill>
            <a:ln>
              <a:noFill/>
            </a:ln>
          </p:spPr>
        </p:sp>
        <p:sp>
          <p:nvSpPr>
            <p:cNvPr id="9" name="TextBox 9"/>
            <p:cNvSpPr txBox="1"/>
            <p:nvPr/>
          </p:nvSpPr>
          <p:spPr>
            <a:xfrm>
              <a:off x="31813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多源输入信息</a:t>
              </a:r>
            </a:p>
          </p:txBody>
        </p:sp>
      </p:grpSp>
      <p:grpSp>
        <p:nvGrpSpPr>
          <p:cNvPr id="13" name="col3-head"/>
          <p:cNvGrpSpPr/>
          <p:nvPr/>
        </p:nvGrpSpPr>
        <p:grpSpPr>
          <a:xfrm>
            <a:off x="7829550" y="628650"/>
            <a:ext cx="4171950" cy="279559"/>
            <a:chOff x="7829550" y="628650"/>
            <a:chExt cx="4171950" cy="279559"/>
          </a:xfrm>
        </p:grpSpPr>
        <p:sp>
          <p:nvSpPr>
            <p:cNvPr id="11" name="Rectangle 11"/>
            <p:cNvSpPr/>
            <p:nvPr/>
          </p:nvSpPr>
          <p:spPr>
            <a:xfrm>
              <a:off x="7829550" y="628650"/>
              <a:ext cx="4171950" cy="266700"/>
            </a:xfrm>
            <a:prstGeom prst="rect">
              <a:avLst/>
            </a:prstGeom>
            <a:gradFill>
              <a:gsLst>
                <a:gs pos="0">
                  <a:srgbClr val="92301C"/>
                </a:gs>
                <a:gs pos="100000">
                  <a:srgbClr val="B7533F"/>
                </a:gs>
              </a:gsLst>
              <a:lin ang="0" scaled="1"/>
            </a:gradFill>
            <a:ln>
              <a:noFill/>
            </a:ln>
          </p:spPr>
        </p:sp>
        <p:sp>
          <p:nvSpPr>
            <p:cNvPr id="12" name="TextBox 12"/>
            <p:cNvSpPr txBox="1"/>
            <p:nvPr/>
          </p:nvSpPr>
          <p:spPr>
            <a:xfrm>
              <a:off x="7957185" y="6881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典型应用场景</a:t>
              </a:r>
            </a:p>
          </p:txBody>
        </p:sp>
      </p:grpSp>
      <p:grpSp>
        <p:nvGrpSpPr>
          <p:cNvPr id="64" name="left-cards"/>
          <p:cNvGrpSpPr/>
          <p:nvPr/>
        </p:nvGrpSpPr>
        <p:grpSpPr>
          <a:xfrm>
            <a:off x="190500" y="990600"/>
            <a:ext cx="2171700" cy="4038600"/>
            <a:chOff x="190500" y="990600"/>
            <a:chExt cx="2171700" cy="4038600"/>
          </a:xfrm>
        </p:grpSpPr>
        <p:grpSp>
          <p:nvGrpSpPr>
            <p:cNvPr id="24" name="lc-1"/>
            <p:cNvGrpSpPr/>
            <p:nvPr/>
          </p:nvGrpSpPr>
          <p:grpSpPr>
            <a:xfrm>
              <a:off x="190500" y="990600"/>
              <a:ext cx="2114550" cy="685800"/>
              <a:chOff x="190500" y="990600"/>
              <a:chExt cx="2114550" cy="685800"/>
            </a:xfrm>
          </p:grpSpPr>
          <p:sp>
            <p:nvSpPr>
              <p:cNvPr id="14" name="Rectangle 14"/>
              <p:cNvSpPr/>
              <p:nvPr/>
            </p:nvSpPr>
            <p:spPr>
              <a:xfrm>
                <a:off x="190500" y="990600"/>
                <a:ext cx="2114550" cy="685800"/>
              </a:xfrm>
              <a:prstGeom prst="roundRect">
                <a:avLst>
                  <a:gd name="adj" fmla="val 8333"/>
                </a:avLst>
              </a:prstGeom>
              <a:solidFill>
                <a:srgbClr val="F6F9FD"/>
              </a:solidFill>
              <a:ln w="9525">
                <a:solidFill>
                  <a:srgbClr val="CFDFEE"/>
                </a:solidFill>
              </a:ln>
            </p:spPr>
          </p:sp>
          <p:grpSp>
            <p:nvGrpSpPr>
              <p:cNvPr id="20" name="Group 20"/>
              <p:cNvGrpSpPr/>
              <p:nvPr/>
            </p:nvGrpSpPr>
            <p:grpSpPr>
              <a:xfrm>
                <a:off x="337344" y="1240631"/>
                <a:ext cx="144462" cy="185737"/>
                <a:chOff x="337344" y="1240631"/>
                <a:chExt cx="144462" cy="185737"/>
              </a:xfrm>
            </p:grpSpPr>
            <p:sp>
              <p:nvSpPr>
                <p:cNvPr id="15" name="Freeform 15"/>
                <p:cNvSpPr/>
                <p:nvPr/>
              </p:nvSpPr>
              <p:spPr>
                <a:xfrm>
                  <a:off x="430212" y="1240631"/>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16" name="Freeform 16"/>
                <p:cNvSpPr/>
                <p:nvPr/>
              </p:nvSpPr>
              <p:spPr>
                <a:xfrm>
                  <a:off x="337344" y="1240631"/>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92301C"/>
                  </a:solidFill>
                </a:ln>
              </p:spPr>
            </p:sp>
            <p:sp>
              <p:nvSpPr>
                <p:cNvPr id="17" name="Freeform 17"/>
                <p:cNvSpPr/>
                <p:nvPr/>
              </p:nvSpPr>
              <p:spPr>
                <a:xfrm>
                  <a:off x="378618" y="1302543"/>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18" name="Freeform 18"/>
                <p:cNvSpPr/>
                <p:nvPr/>
              </p:nvSpPr>
              <p:spPr>
                <a:xfrm>
                  <a:off x="378618" y="1343818"/>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19" name="Freeform 19"/>
                <p:cNvSpPr/>
                <p:nvPr/>
              </p:nvSpPr>
              <p:spPr>
                <a:xfrm>
                  <a:off x="378618" y="1385093"/>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21" name="TextBox 21"/>
              <p:cNvSpPr txBox="1"/>
              <p:nvPr/>
            </p:nvSpPr>
            <p:spPr>
              <a:xfrm>
                <a:off x="623888" y="1098947"/>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文档</a:t>
                </a:r>
              </a:p>
            </p:txBody>
          </p:sp>
          <p:sp>
            <p:nvSpPr>
              <p:cNvPr id="22" name="TextBox 22"/>
              <p:cNvSpPr txBox="1"/>
              <p:nvPr/>
            </p:nvSpPr>
            <p:spPr>
              <a:xfrm>
                <a:off x="623888" y="1298734"/>
                <a:ext cx="7935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j-lt"/>
                    <a:ea typeface="+mj-ea"/>
                    <a:cs typeface="+mj-cs"/>
                  </a:rPr>
                  <a:t xml:space="preserve">PDF/Word/Excel　</a:t>
                </a:r>
              </a:p>
            </p:txBody>
          </p:sp>
          <p:sp>
            <p:nvSpPr>
              <p:cNvPr id="23" name="TextBox 23"/>
              <p:cNvSpPr txBox="1"/>
              <p:nvPr/>
            </p:nvSpPr>
            <p:spPr>
              <a:xfrm>
                <a:off x="623888" y="1441609"/>
                <a:ext cx="101648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合同、制度、操作手册等</a:t>
                </a:r>
              </a:p>
            </p:txBody>
          </p:sp>
        </p:grpSp>
        <p:grpSp>
          <p:nvGrpSpPr>
            <p:cNvPr id="34" name="lc-2"/>
            <p:cNvGrpSpPr/>
            <p:nvPr/>
          </p:nvGrpSpPr>
          <p:grpSpPr>
            <a:xfrm>
              <a:off x="190500" y="1828800"/>
              <a:ext cx="2114550" cy="685800"/>
              <a:chOff x="190500" y="1828800"/>
              <a:chExt cx="2114550" cy="685800"/>
            </a:xfrm>
          </p:grpSpPr>
          <p:sp>
            <p:nvSpPr>
              <p:cNvPr id="25" name="Rectangle 25"/>
              <p:cNvSpPr/>
              <p:nvPr/>
            </p:nvSpPr>
            <p:spPr>
              <a:xfrm>
                <a:off x="190500" y="1828800"/>
                <a:ext cx="2114550" cy="685800"/>
              </a:xfrm>
              <a:prstGeom prst="roundRect">
                <a:avLst>
                  <a:gd name="adj" fmla="val 8333"/>
                </a:avLst>
              </a:prstGeom>
              <a:solidFill>
                <a:srgbClr val="F6F9FD"/>
              </a:solidFill>
              <a:ln w="9525">
                <a:solidFill>
                  <a:srgbClr val="CFDFEE"/>
                </a:solidFill>
              </a:ln>
            </p:spPr>
          </p:sp>
          <p:grpSp>
            <p:nvGrpSpPr>
              <p:cNvPr id="30" name="Group 30"/>
              <p:cNvGrpSpPr/>
              <p:nvPr/>
            </p:nvGrpSpPr>
            <p:grpSpPr>
              <a:xfrm>
                <a:off x="337344" y="2078831"/>
                <a:ext cx="144462" cy="185737"/>
                <a:chOff x="337344" y="2078831"/>
                <a:chExt cx="144462" cy="185737"/>
              </a:xfrm>
            </p:grpSpPr>
            <p:sp>
              <p:nvSpPr>
                <p:cNvPr id="26" name="Freeform 26"/>
                <p:cNvSpPr/>
                <p:nvPr/>
              </p:nvSpPr>
              <p:spPr>
                <a:xfrm>
                  <a:off x="337344" y="2099469"/>
                  <a:ext cx="144462" cy="165099"/>
                </a:xfrm>
                <a:custGeom>
                  <a:avLst/>
                  <a:gdLst/>
                  <a:ahLst/>
                  <a:cxnLst/>
                  <a:rect l="l" t="t" r="r" b="b"/>
                  <a:pathLst>
                    <a:path w="144462" h="165099">
                      <a:moveTo>
                        <a:pt x="41275" y="0"/>
                      </a:moveTo>
                      <a:lnTo>
                        <a:pt x="20637" y="0"/>
                      </a:lnTo>
                      <a:cubicBezTo>
                        <a:pt x="9240" y="0"/>
                        <a:pt x="0" y="9240"/>
                        <a:pt x="0" y="20637"/>
                      </a:cubicBezTo>
                      <a:lnTo>
                        <a:pt x="0" y="144462"/>
                      </a:lnTo>
                      <a:cubicBezTo>
                        <a:pt x="0" y="155860"/>
                        <a:pt x="9240" y="165099"/>
                        <a:pt x="20637" y="165099"/>
                      </a:cubicBezTo>
                      <a:lnTo>
                        <a:pt x="123825" y="165099"/>
                      </a:lnTo>
                      <a:cubicBezTo>
                        <a:pt x="135222" y="165099"/>
                        <a:pt x="144462" y="155860"/>
                        <a:pt x="144462" y="144462"/>
                      </a:cubicBezTo>
                      <a:lnTo>
                        <a:pt x="144462" y="20637"/>
                      </a:lnTo>
                      <a:cubicBezTo>
                        <a:pt x="144462" y="9240"/>
                        <a:pt x="135222" y="0"/>
                        <a:pt x="123825" y="0"/>
                      </a:cubicBezTo>
                      <a:lnTo>
                        <a:pt x="103187" y="0"/>
                      </a:lnTo>
                    </a:path>
                  </a:pathLst>
                </a:custGeom>
                <a:noFill/>
                <a:ln w="20637">
                  <a:solidFill>
                    <a:srgbClr val="92301C"/>
                  </a:solidFill>
                </a:ln>
              </p:spPr>
            </p:sp>
            <p:sp>
              <p:nvSpPr>
                <p:cNvPr id="27" name="Freeform 27"/>
                <p:cNvSpPr/>
                <p:nvPr/>
              </p:nvSpPr>
              <p:spPr>
                <a:xfrm>
                  <a:off x="378618" y="2078831"/>
                  <a:ext cx="61912" cy="41275"/>
                </a:xfrm>
                <a:custGeom>
                  <a:avLst/>
                  <a:gdLst/>
                  <a:ahLst/>
                  <a:cxnLst/>
                  <a:rect l="l" t="t" r="r" b="b"/>
                  <a:pathLst>
                    <a:path w="61912" h="41275">
                      <a:moveTo>
                        <a:pt x="0" y="20637"/>
                      </a:moveTo>
                      <a:cubicBezTo>
                        <a:pt x="0" y="9240"/>
                        <a:pt x="9240" y="0"/>
                        <a:pt x="20637" y="0"/>
                      </a:cubicBezTo>
                      <a:lnTo>
                        <a:pt x="41275" y="0"/>
                      </a:lnTo>
                      <a:cubicBezTo>
                        <a:pt x="52673" y="0"/>
                        <a:pt x="61912" y="9240"/>
                        <a:pt x="61912" y="20637"/>
                      </a:cubicBezTo>
                      <a:cubicBezTo>
                        <a:pt x="61912" y="32035"/>
                        <a:pt x="52673" y="41275"/>
                        <a:pt x="41275" y="41275"/>
                      </a:cubicBezTo>
                      <a:lnTo>
                        <a:pt x="20637" y="41275"/>
                      </a:lnTo>
                      <a:cubicBezTo>
                        <a:pt x="9240" y="41275"/>
                        <a:pt x="0" y="32035"/>
                        <a:pt x="0" y="20637"/>
                      </a:cubicBezTo>
                    </a:path>
                  </a:pathLst>
                </a:custGeom>
                <a:noFill/>
                <a:ln w="20637">
                  <a:solidFill>
                    <a:srgbClr val="92301C"/>
                  </a:solidFill>
                </a:ln>
              </p:spPr>
            </p:sp>
            <p:sp>
              <p:nvSpPr>
                <p:cNvPr id="28" name="Freeform 28"/>
                <p:cNvSpPr/>
                <p:nvPr/>
              </p:nvSpPr>
              <p:spPr>
                <a:xfrm>
                  <a:off x="378618" y="2171700"/>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29" name="Freeform 29"/>
                <p:cNvSpPr/>
                <p:nvPr/>
              </p:nvSpPr>
              <p:spPr>
                <a:xfrm>
                  <a:off x="378618" y="2212974"/>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31" name="TextBox 31"/>
              <p:cNvSpPr txBox="1"/>
              <p:nvPr/>
            </p:nvSpPr>
            <p:spPr>
              <a:xfrm>
                <a:off x="623888" y="1937147"/>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表单</a:t>
                </a:r>
              </a:p>
            </p:txBody>
          </p:sp>
          <p:sp>
            <p:nvSpPr>
              <p:cNvPr id="32" name="TextBox 32"/>
              <p:cNvSpPr txBox="1"/>
              <p:nvPr/>
            </p:nvSpPr>
            <p:spPr>
              <a:xfrm>
                <a:off x="623888" y="2136934"/>
                <a:ext cx="609122"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线上/线下表单</a:t>
                </a:r>
              </a:p>
            </p:txBody>
          </p:sp>
          <p:sp>
            <p:nvSpPr>
              <p:cNvPr id="33" name="TextBox 33"/>
              <p:cNvSpPr txBox="1"/>
              <p:nvPr/>
            </p:nvSpPr>
            <p:spPr>
              <a:xfrm>
                <a:off x="623888" y="2279809"/>
                <a:ext cx="92494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客户信息、业务申请等</a:t>
                </a:r>
              </a:p>
            </p:txBody>
          </p:sp>
        </p:grpSp>
        <p:grpSp>
          <p:nvGrpSpPr>
            <p:cNvPr id="42" name="lc-3"/>
            <p:cNvGrpSpPr/>
            <p:nvPr/>
          </p:nvGrpSpPr>
          <p:grpSpPr>
            <a:xfrm>
              <a:off x="190500" y="2667000"/>
              <a:ext cx="2114550" cy="685800"/>
              <a:chOff x="190500" y="2667000"/>
              <a:chExt cx="2114550" cy="685800"/>
            </a:xfrm>
          </p:grpSpPr>
          <p:sp>
            <p:nvSpPr>
              <p:cNvPr id="35" name="Rectangle 35"/>
              <p:cNvSpPr/>
              <p:nvPr/>
            </p:nvSpPr>
            <p:spPr>
              <a:xfrm>
                <a:off x="190500" y="2667000"/>
                <a:ext cx="2114550" cy="685800"/>
              </a:xfrm>
              <a:prstGeom prst="roundRect">
                <a:avLst>
                  <a:gd name="adj" fmla="val 8333"/>
                </a:avLst>
              </a:prstGeom>
              <a:solidFill>
                <a:srgbClr val="F6F9FD"/>
              </a:solidFill>
              <a:ln w="9525">
                <a:solidFill>
                  <a:srgbClr val="CFDFEE"/>
                </a:solidFill>
              </a:ln>
            </p:spPr>
          </p:sp>
          <p:grpSp>
            <p:nvGrpSpPr>
              <p:cNvPr id="38" name="Group 38"/>
              <p:cNvGrpSpPr/>
              <p:nvPr/>
            </p:nvGrpSpPr>
            <p:grpSpPr>
              <a:xfrm>
                <a:off x="316706" y="2937669"/>
                <a:ext cx="185737" cy="144462"/>
                <a:chOff x="316706" y="2937669"/>
                <a:chExt cx="185737" cy="144462"/>
              </a:xfrm>
            </p:grpSpPr>
            <p:sp>
              <p:nvSpPr>
                <p:cNvPr id="36" name="Freeform 36"/>
                <p:cNvSpPr/>
                <p:nvPr/>
              </p:nvSpPr>
              <p:spPr>
                <a:xfrm>
                  <a:off x="316706" y="2937669"/>
                  <a:ext cx="185737" cy="144462"/>
                </a:xfrm>
                <a:custGeom>
                  <a:avLst/>
                  <a:gdLst/>
                  <a:ahLst/>
                  <a:cxnLst/>
                  <a:rect l="l" t="t" r="r" b="b"/>
                  <a:pathLst>
                    <a:path w="185737" h="144462">
                      <a:moveTo>
                        <a:pt x="0" y="20637"/>
                      </a:moveTo>
                      <a:cubicBezTo>
                        <a:pt x="0" y="9240"/>
                        <a:pt x="9240" y="0"/>
                        <a:pt x="20637" y="0"/>
                      </a:cubicBezTo>
                      <a:lnTo>
                        <a:pt x="165099" y="0"/>
                      </a:lnTo>
                      <a:cubicBezTo>
                        <a:pt x="176497" y="0"/>
                        <a:pt x="185737" y="9240"/>
                        <a:pt x="185737" y="20637"/>
                      </a:cubicBezTo>
                      <a:lnTo>
                        <a:pt x="185737" y="123825"/>
                      </a:lnTo>
                      <a:cubicBezTo>
                        <a:pt x="185737" y="135222"/>
                        <a:pt x="176497" y="144462"/>
                        <a:pt x="165099" y="144462"/>
                      </a:cubicBezTo>
                      <a:lnTo>
                        <a:pt x="20637" y="144462"/>
                      </a:lnTo>
                      <a:cubicBezTo>
                        <a:pt x="9240" y="144462"/>
                        <a:pt x="0" y="135222"/>
                        <a:pt x="0" y="123825"/>
                      </a:cubicBezTo>
                      <a:lnTo>
                        <a:pt x="0" y="20637"/>
                      </a:lnTo>
                    </a:path>
                  </a:pathLst>
                </a:custGeom>
                <a:noFill/>
                <a:ln w="20637">
                  <a:solidFill>
                    <a:srgbClr val="92301C"/>
                  </a:solidFill>
                </a:ln>
              </p:spPr>
            </p:sp>
            <p:sp>
              <p:nvSpPr>
                <p:cNvPr id="37" name="Freeform 37"/>
                <p:cNvSpPr/>
                <p:nvPr/>
              </p:nvSpPr>
              <p:spPr>
                <a:xfrm>
                  <a:off x="316706" y="2958306"/>
                  <a:ext cx="185737" cy="61912"/>
                </a:xfrm>
                <a:custGeom>
                  <a:avLst/>
                  <a:gdLst/>
                  <a:ahLst/>
                  <a:cxnLst/>
                  <a:rect l="l" t="t" r="r" b="b"/>
                  <a:pathLst>
                    <a:path w="185737" h="61912">
                      <a:moveTo>
                        <a:pt x="0" y="0"/>
                      </a:moveTo>
                      <a:lnTo>
                        <a:pt x="92868" y="61912"/>
                      </a:lnTo>
                      <a:lnTo>
                        <a:pt x="185737" y="0"/>
                      </a:lnTo>
                    </a:path>
                  </a:pathLst>
                </a:custGeom>
                <a:noFill/>
                <a:ln w="20637">
                  <a:solidFill>
                    <a:srgbClr val="92301C"/>
                  </a:solidFill>
                </a:ln>
              </p:spPr>
            </p:sp>
          </p:grpSp>
          <p:sp>
            <p:nvSpPr>
              <p:cNvPr id="39" name="TextBox 39"/>
              <p:cNvSpPr txBox="1"/>
              <p:nvPr/>
            </p:nvSpPr>
            <p:spPr>
              <a:xfrm>
                <a:off x="623888" y="2775347"/>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邮件</a:t>
                </a:r>
              </a:p>
            </p:txBody>
          </p:sp>
          <p:sp>
            <p:nvSpPr>
              <p:cNvPr id="40" name="TextBox 40"/>
              <p:cNvSpPr txBox="1"/>
              <p:nvPr/>
            </p:nvSpPr>
            <p:spPr>
              <a:xfrm>
                <a:off x="623888" y="2975134"/>
                <a:ext cx="467233"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内外部邮件</a:t>
                </a:r>
              </a:p>
            </p:txBody>
          </p:sp>
          <p:sp>
            <p:nvSpPr>
              <p:cNvPr id="41" name="TextBox 41"/>
              <p:cNvSpPr txBox="1"/>
              <p:nvPr/>
            </p:nvSpPr>
            <p:spPr>
              <a:xfrm>
                <a:off x="623888" y="3118009"/>
                <a:ext cx="92494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咨询请求、业务指令等</a:t>
                </a:r>
              </a:p>
            </p:txBody>
          </p:sp>
        </p:grpSp>
        <p:grpSp>
          <p:nvGrpSpPr>
            <p:cNvPr id="52" name="lc-4"/>
            <p:cNvGrpSpPr/>
            <p:nvPr/>
          </p:nvGrpSpPr>
          <p:grpSpPr>
            <a:xfrm>
              <a:off x="190500" y="3505200"/>
              <a:ext cx="2114550" cy="685800"/>
              <a:chOff x="190500" y="3505200"/>
              <a:chExt cx="2114550" cy="685800"/>
            </a:xfrm>
          </p:grpSpPr>
          <p:sp>
            <p:nvSpPr>
              <p:cNvPr id="43" name="Rectangle 43"/>
              <p:cNvSpPr/>
              <p:nvPr/>
            </p:nvSpPr>
            <p:spPr>
              <a:xfrm>
                <a:off x="190500" y="3505200"/>
                <a:ext cx="2114550" cy="685800"/>
              </a:xfrm>
              <a:prstGeom prst="roundRect">
                <a:avLst>
                  <a:gd name="adj" fmla="val 8333"/>
                </a:avLst>
              </a:prstGeom>
              <a:solidFill>
                <a:srgbClr val="F6F9FD"/>
              </a:solidFill>
              <a:ln w="9525">
                <a:solidFill>
                  <a:srgbClr val="CFDFEE"/>
                </a:solidFill>
              </a:ln>
            </p:spPr>
          </p:sp>
          <p:grpSp>
            <p:nvGrpSpPr>
              <p:cNvPr id="48" name="Group 48"/>
              <p:cNvGrpSpPr/>
              <p:nvPr/>
            </p:nvGrpSpPr>
            <p:grpSpPr>
              <a:xfrm>
                <a:off x="337344" y="3755231"/>
                <a:ext cx="144462" cy="185737"/>
                <a:chOff x="337344" y="3755231"/>
                <a:chExt cx="144462" cy="185737"/>
              </a:xfrm>
            </p:grpSpPr>
            <p:sp>
              <p:nvSpPr>
                <p:cNvPr id="44" name="Freeform 44"/>
                <p:cNvSpPr/>
                <p:nvPr/>
              </p:nvSpPr>
              <p:spPr>
                <a:xfrm>
                  <a:off x="337344" y="3755231"/>
                  <a:ext cx="144462" cy="185737"/>
                </a:xfrm>
                <a:custGeom>
                  <a:avLst/>
                  <a:gdLst/>
                  <a:ahLst/>
                  <a:cxnLst/>
                  <a:rect l="l" t="t" r="r" b="b"/>
                  <a:pathLst>
                    <a:path w="144462" h="185737">
                      <a:moveTo>
                        <a:pt x="0" y="20637"/>
                      </a:moveTo>
                      <a:cubicBezTo>
                        <a:pt x="0" y="9240"/>
                        <a:pt x="9240" y="0"/>
                        <a:pt x="20637" y="0"/>
                      </a:cubicBezTo>
                      <a:lnTo>
                        <a:pt x="123825" y="0"/>
                      </a:lnTo>
                      <a:cubicBezTo>
                        <a:pt x="135222" y="0"/>
                        <a:pt x="144462" y="9240"/>
                        <a:pt x="144462" y="20637"/>
                      </a:cubicBezTo>
                      <a:lnTo>
                        <a:pt x="144462" y="165099"/>
                      </a:lnTo>
                      <a:cubicBezTo>
                        <a:pt x="144462" y="176497"/>
                        <a:pt x="135222" y="185737"/>
                        <a:pt x="123825" y="185737"/>
                      </a:cubicBezTo>
                      <a:lnTo>
                        <a:pt x="20637" y="185737"/>
                      </a:lnTo>
                      <a:cubicBezTo>
                        <a:pt x="9240" y="185737"/>
                        <a:pt x="0" y="176497"/>
                        <a:pt x="0" y="165099"/>
                      </a:cubicBezTo>
                      <a:lnTo>
                        <a:pt x="0" y="20637"/>
                      </a:lnTo>
                    </a:path>
                  </a:pathLst>
                </a:custGeom>
                <a:noFill/>
                <a:ln w="20637">
                  <a:solidFill>
                    <a:srgbClr val="92301C"/>
                  </a:solidFill>
                </a:ln>
              </p:spPr>
            </p:sp>
            <p:sp>
              <p:nvSpPr>
                <p:cNvPr id="45" name="Freeform 45"/>
                <p:cNvSpPr/>
                <p:nvPr/>
              </p:nvSpPr>
              <p:spPr>
                <a:xfrm>
                  <a:off x="378618" y="3796506"/>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46" name="Freeform 46"/>
                <p:cNvSpPr/>
                <p:nvPr/>
              </p:nvSpPr>
              <p:spPr>
                <a:xfrm>
                  <a:off x="378618" y="3837781"/>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47" name="Freeform 47"/>
                <p:cNvSpPr/>
                <p:nvPr/>
              </p:nvSpPr>
              <p:spPr>
                <a:xfrm>
                  <a:off x="378618" y="3879056"/>
                  <a:ext cx="41275" cy="9525"/>
                </a:xfrm>
                <a:custGeom>
                  <a:avLst/>
                  <a:gdLst/>
                  <a:ahLst/>
                  <a:cxnLst/>
                  <a:rect l="l" t="t" r="r" b="b"/>
                  <a:pathLst>
                    <a:path w="41275" h="9525">
                      <a:moveTo>
                        <a:pt x="0" y="0"/>
                      </a:moveTo>
                      <a:lnTo>
                        <a:pt x="41275" y="0"/>
                      </a:lnTo>
                    </a:path>
                  </a:pathLst>
                </a:custGeom>
                <a:noFill/>
                <a:ln w="20637">
                  <a:solidFill>
                    <a:srgbClr val="92301C"/>
                  </a:solidFill>
                </a:ln>
              </p:spPr>
            </p:sp>
          </p:grpSp>
          <p:sp>
            <p:nvSpPr>
              <p:cNvPr id="49" name="TextBox 49"/>
              <p:cNvSpPr txBox="1"/>
              <p:nvPr/>
            </p:nvSpPr>
            <p:spPr>
              <a:xfrm>
                <a:off x="623888" y="3613547"/>
                <a:ext cx="262611"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工单</a:t>
                </a:r>
              </a:p>
            </p:txBody>
          </p:sp>
          <p:sp>
            <p:nvSpPr>
              <p:cNvPr id="50" name="TextBox 50"/>
              <p:cNvSpPr txBox="1"/>
              <p:nvPr/>
            </p:nvSpPr>
            <p:spPr>
              <a:xfrm>
                <a:off x="623888" y="3813334"/>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业务工单、系统工单</a:t>
                </a:r>
              </a:p>
            </p:txBody>
          </p:sp>
          <p:sp>
            <p:nvSpPr>
              <p:cNvPr id="51" name="TextBox 51"/>
              <p:cNvSpPr txBox="1"/>
              <p:nvPr/>
            </p:nvSpPr>
            <p:spPr>
              <a:xfrm>
                <a:off x="623888" y="3956209"/>
                <a:ext cx="92494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问题反馈、服务请求等</a:t>
                </a:r>
              </a:p>
            </p:txBody>
          </p:sp>
        </p:grpSp>
        <p:grpSp>
          <p:nvGrpSpPr>
            <p:cNvPr id="62" name="lc-5"/>
            <p:cNvGrpSpPr/>
            <p:nvPr/>
          </p:nvGrpSpPr>
          <p:grpSpPr>
            <a:xfrm>
              <a:off x="190500" y="4343400"/>
              <a:ext cx="2114550" cy="685800"/>
              <a:chOff x="190500" y="4343400"/>
              <a:chExt cx="2114550" cy="685800"/>
            </a:xfrm>
          </p:grpSpPr>
          <p:sp>
            <p:nvSpPr>
              <p:cNvPr id="53" name="Rectangle 53"/>
              <p:cNvSpPr/>
              <p:nvPr/>
            </p:nvSpPr>
            <p:spPr>
              <a:xfrm>
                <a:off x="190500" y="4343400"/>
                <a:ext cx="2114550" cy="685800"/>
              </a:xfrm>
              <a:prstGeom prst="roundRect">
                <a:avLst>
                  <a:gd name="adj" fmla="val 8333"/>
                </a:avLst>
              </a:prstGeom>
              <a:solidFill>
                <a:srgbClr val="F6F9FD"/>
              </a:solidFill>
              <a:ln w="9525">
                <a:solidFill>
                  <a:srgbClr val="CFDFEE"/>
                </a:solidFill>
              </a:ln>
            </p:spPr>
          </p:sp>
          <p:grpSp>
            <p:nvGrpSpPr>
              <p:cNvPr id="58" name="Group 58"/>
              <p:cNvGrpSpPr/>
              <p:nvPr/>
            </p:nvGrpSpPr>
            <p:grpSpPr>
              <a:xfrm>
                <a:off x="316706" y="4603750"/>
                <a:ext cx="185737" cy="165100"/>
                <a:chOff x="316706" y="4603750"/>
                <a:chExt cx="185737" cy="165100"/>
              </a:xfrm>
            </p:grpSpPr>
            <p:sp>
              <p:nvSpPr>
                <p:cNvPr id="54" name="Freeform 54"/>
                <p:cNvSpPr/>
                <p:nvPr/>
              </p:nvSpPr>
              <p:spPr>
                <a:xfrm>
                  <a:off x="316706" y="4603750"/>
                  <a:ext cx="185737" cy="82550"/>
                </a:xfrm>
                <a:custGeom>
                  <a:avLst/>
                  <a:gdLst/>
                  <a:ahLst/>
                  <a:cxnLst/>
                  <a:rect l="l" t="t" r="r" b="b"/>
                  <a:pathLst>
                    <a:path w="185737" h="82550">
                      <a:moveTo>
                        <a:pt x="0" y="30956"/>
                      </a:moveTo>
                      <a:cubicBezTo>
                        <a:pt x="0" y="13860"/>
                        <a:pt x="13860" y="0"/>
                        <a:pt x="30956" y="0"/>
                      </a:cubicBezTo>
                      <a:lnTo>
                        <a:pt x="154781" y="0"/>
                      </a:lnTo>
                      <a:cubicBezTo>
                        <a:pt x="171877" y="0"/>
                        <a:pt x="185737" y="13860"/>
                        <a:pt x="185737" y="30956"/>
                      </a:cubicBezTo>
                      <a:lnTo>
                        <a:pt x="185737" y="51594"/>
                      </a:lnTo>
                      <a:cubicBezTo>
                        <a:pt x="185737" y="68690"/>
                        <a:pt x="171877" y="82550"/>
                        <a:pt x="154781" y="82550"/>
                      </a:cubicBezTo>
                      <a:lnTo>
                        <a:pt x="30956" y="82550"/>
                      </a:lnTo>
                      <a:cubicBezTo>
                        <a:pt x="13860" y="82550"/>
                        <a:pt x="0" y="68690"/>
                        <a:pt x="0" y="51594"/>
                      </a:cubicBezTo>
                      <a:lnTo>
                        <a:pt x="0" y="30956"/>
                      </a:lnTo>
                    </a:path>
                  </a:pathLst>
                </a:custGeom>
                <a:noFill/>
                <a:ln w="20637">
                  <a:solidFill>
                    <a:srgbClr val="92301C"/>
                  </a:solidFill>
                </a:ln>
              </p:spPr>
            </p:sp>
            <p:sp>
              <p:nvSpPr>
                <p:cNvPr id="55" name="Freeform 55"/>
                <p:cNvSpPr/>
                <p:nvPr/>
              </p:nvSpPr>
              <p:spPr>
                <a:xfrm>
                  <a:off x="316706" y="4686300"/>
                  <a:ext cx="185737" cy="82550"/>
                </a:xfrm>
                <a:custGeom>
                  <a:avLst/>
                  <a:gdLst/>
                  <a:ahLst/>
                  <a:cxnLst/>
                  <a:rect l="l" t="t" r="r" b="b"/>
                  <a:pathLst>
                    <a:path w="185737" h="82550">
                      <a:moveTo>
                        <a:pt x="0" y="30956"/>
                      </a:moveTo>
                      <a:cubicBezTo>
                        <a:pt x="0" y="13860"/>
                        <a:pt x="13860" y="0"/>
                        <a:pt x="30956" y="0"/>
                      </a:cubicBezTo>
                      <a:lnTo>
                        <a:pt x="154781" y="0"/>
                      </a:lnTo>
                      <a:cubicBezTo>
                        <a:pt x="171877" y="0"/>
                        <a:pt x="185737" y="13860"/>
                        <a:pt x="185737" y="30956"/>
                      </a:cubicBezTo>
                      <a:lnTo>
                        <a:pt x="185737" y="51594"/>
                      </a:lnTo>
                      <a:cubicBezTo>
                        <a:pt x="185737" y="68690"/>
                        <a:pt x="171877" y="82550"/>
                        <a:pt x="154781" y="82550"/>
                      </a:cubicBezTo>
                      <a:lnTo>
                        <a:pt x="30956" y="82550"/>
                      </a:lnTo>
                      <a:cubicBezTo>
                        <a:pt x="13860" y="82550"/>
                        <a:pt x="0" y="68690"/>
                        <a:pt x="0" y="51594"/>
                      </a:cubicBezTo>
                      <a:lnTo>
                        <a:pt x="0" y="30956"/>
                      </a:lnTo>
                    </a:path>
                  </a:pathLst>
                </a:custGeom>
                <a:noFill/>
                <a:ln w="20637">
                  <a:solidFill>
                    <a:srgbClr val="92301C"/>
                  </a:solidFill>
                </a:ln>
              </p:spPr>
            </p:sp>
            <p:sp>
              <p:nvSpPr>
                <p:cNvPr id="56" name="Freeform 56"/>
                <p:cNvSpPr/>
                <p:nvPr/>
              </p:nvSpPr>
              <p:spPr>
                <a:xfrm>
                  <a:off x="357981" y="4645025"/>
                  <a:ext cx="9525" cy="9525"/>
                </a:xfrm>
                <a:custGeom>
                  <a:avLst/>
                  <a:gdLst/>
                  <a:ahLst/>
                  <a:cxnLst/>
                  <a:rect l="l" t="t" r="r" b="b"/>
                  <a:pathLst>
                    <a:path w="9525" h="9525">
                      <a:moveTo>
                        <a:pt x="0" y="0"/>
                      </a:moveTo>
                      <a:lnTo>
                        <a:pt x="0" y="103"/>
                      </a:lnTo>
                    </a:path>
                  </a:pathLst>
                </a:custGeom>
                <a:noFill/>
                <a:ln w="20637">
                  <a:solidFill>
                    <a:srgbClr val="92301C"/>
                  </a:solidFill>
                </a:ln>
              </p:spPr>
            </p:sp>
            <p:sp>
              <p:nvSpPr>
                <p:cNvPr id="57" name="Freeform 57"/>
                <p:cNvSpPr/>
                <p:nvPr/>
              </p:nvSpPr>
              <p:spPr>
                <a:xfrm>
                  <a:off x="357981" y="4727574"/>
                  <a:ext cx="9525" cy="9525"/>
                </a:xfrm>
                <a:custGeom>
                  <a:avLst/>
                  <a:gdLst/>
                  <a:ahLst/>
                  <a:cxnLst/>
                  <a:rect l="l" t="t" r="r" b="b"/>
                  <a:pathLst>
                    <a:path w="9525" h="9525">
                      <a:moveTo>
                        <a:pt x="0" y="0"/>
                      </a:moveTo>
                      <a:lnTo>
                        <a:pt x="0" y="103"/>
                      </a:lnTo>
                    </a:path>
                  </a:pathLst>
                </a:custGeom>
                <a:noFill/>
                <a:ln w="20637">
                  <a:solidFill>
                    <a:srgbClr val="92301C"/>
                  </a:solidFill>
                </a:ln>
              </p:spPr>
            </p:sp>
          </p:grpSp>
          <p:sp>
            <p:nvSpPr>
              <p:cNvPr id="59" name="TextBox 59"/>
              <p:cNvSpPr txBox="1"/>
              <p:nvPr/>
            </p:nvSpPr>
            <p:spPr>
              <a:xfrm>
                <a:off x="623888" y="445174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系统日志</a:t>
                </a:r>
              </a:p>
            </p:txBody>
          </p:sp>
          <p:sp>
            <p:nvSpPr>
              <p:cNvPr id="60" name="TextBox 60"/>
              <p:cNvSpPr txBox="1"/>
              <p:nvPr/>
            </p:nvSpPr>
            <p:spPr>
              <a:xfrm>
                <a:off x="623888" y="4651534"/>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系统快照、操作日志</a:t>
                </a:r>
              </a:p>
            </p:txBody>
          </p:sp>
          <p:sp>
            <p:nvSpPr>
              <p:cNvPr id="61" name="TextBox 61"/>
              <p:cNvSpPr txBox="1"/>
              <p:nvPr/>
            </p:nvSpPr>
            <p:spPr>
              <a:xfrm>
                <a:off x="623888" y="4794409"/>
                <a:ext cx="92494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交易记录、异常日志等</a:t>
                </a:r>
              </a:p>
            </p:txBody>
          </p:sp>
        </p:grpSp>
        <p:sp>
          <p:nvSpPr>
            <p:cNvPr id="63" name="Polygon 63"/>
            <p:cNvSpPr/>
            <p:nvPr/>
          </p:nvSpPr>
          <p:spPr>
            <a:xfrm>
              <a:off x="2247900" y="2857500"/>
              <a:ext cx="114300" cy="381000"/>
            </a:xfrm>
            <a:custGeom>
              <a:avLst/>
              <a:gdLst/>
              <a:ahLst/>
              <a:cxnLst/>
              <a:rect l="l" t="t" r="r" b="b"/>
              <a:pathLst>
                <a:path w="114300" h="381000">
                  <a:moveTo>
                    <a:pt x="0" y="0"/>
                  </a:moveTo>
                  <a:lnTo>
                    <a:pt x="0" y="381000"/>
                  </a:lnTo>
                  <a:lnTo>
                    <a:pt x="114300" y="190500"/>
                  </a:lnTo>
                  <a:close/>
                </a:path>
              </a:pathLst>
            </a:custGeom>
            <a:solidFill>
              <a:srgbClr val="D6E6F3"/>
            </a:solidFill>
            <a:ln>
              <a:noFill/>
            </a:ln>
          </p:spPr>
        </p:sp>
      </p:grpSp>
      <p:grpSp>
        <p:nvGrpSpPr>
          <p:cNvPr id="156" name="mid-agent"/>
          <p:cNvGrpSpPr/>
          <p:nvPr/>
        </p:nvGrpSpPr>
        <p:grpSpPr>
          <a:xfrm>
            <a:off x="2400300" y="952500"/>
            <a:ext cx="5334000" cy="2857500"/>
            <a:chOff x="2400300" y="952500"/>
            <a:chExt cx="5334000" cy="2857500"/>
          </a:xfrm>
        </p:grpSpPr>
        <p:sp>
          <p:nvSpPr>
            <p:cNvPr id="65" name="Rectangle 65"/>
            <p:cNvSpPr/>
            <p:nvPr/>
          </p:nvSpPr>
          <p:spPr>
            <a:xfrm>
              <a:off x="2400300" y="952500"/>
              <a:ext cx="5334000" cy="2857500"/>
            </a:xfrm>
            <a:prstGeom prst="roundRect">
              <a:avLst>
                <a:gd name="adj" fmla="val 2000"/>
              </a:avLst>
            </a:prstGeom>
            <a:solidFill>
              <a:srgbClr val="F6F9FD"/>
            </a:solidFill>
            <a:ln w="9525">
              <a:solidFill>
                <a:srgbClr val="CFDFEE"/>
              </a:solidFill>
            </a:ln>
          </p:spPr>
        </p:sp>
        <p:sp>
          <p:nvSpPr>
            <p:cNvPr id="66" name="Rectangle 66"/>
            <p:cNvSpPr/>
            <p:nvPr/>
          </p:nvSpPr>
          <p:spPr>
            <a:xfrm>
              <a:off x="2400300" y="952500"/>
              <a:ext cx="5334000" cy="381000"/>
            </a:xfrm>
            <a:prstGeom prst="roundRect">
              <a:avLst>
                <a:gd name="adj" fmla="val 15000"/>
              </a:avLst>
            </a:prstGeom>
            <a:solidFill>
              <a:srgbClr val="6B1B0B"/>
            </a:solidFill>
            <a:ln>
              <a:noFill/>
            </a:ln>
          </p:spPr>
        </p:sp>
        <p:sp>
          <p:nvSpPr>
            <p:cNvPr id="67" name="Rectangle 67"/>
            <p:cNvSpPr/>
            <p:nvPr/>
          </p:nvSpPr>
          <p:spPr>
            <a:xfrm>
              <a:off x="2400300" y="1200150"/>
              <a:ext cx="5334000" cy="133350"/>
            </a:xfrm>
            <a:prstGeom prst="rect">
              <a:avLst/>
            </a:prstGeom>
            <a:solidFill>
              <a:srgbClr val="6B1B0B"/>
            </a:solidFill>
            <a:ln>
              <a:noFill/>
            </a:ln>
          </p:spPr>
        </p:sp>
        <p:grpSp>
          <p:nvGrpSpPr>
            <p:cNvPr id="74" name="Group 74"/>
            <p:cNvGrpSpPr/>
            <p:nvPr/>
          </p:nvGrpSpPr>
          <p:grpSpPr>
            <a:xfrm>
              <a:off x="4791075" y="1057275"/>
              <a:ext cx="171450" cy="171450"/>
              <a:chOff x="4791075" y="1057275"/>
              <a:chExt cx="171450" cy="171450"/>
            </a:xfrm>
          </p:grpSpPr>
          <p:sp>
            <p:nvSpPr>
              <p:cNvPr id="68" name="Freeform 68"/>
              <p:cNvSpPr/>
              <p:nvPr/>
            </p:nvSpPr>
            <p:spPr>
              <a:xfrm>
                <a:off x="4876800" y="1152525"/>
                <a:ext cx="66675" cy="76200"/>
              </a:xfrm>
              <a:custGeom>
                <a:avLst/>
                <a:gdLst/>
                <a:ahLst/>
                <a:cxnLst/>
                <a:rect l="l" t="t" r="r" b="b"/>
                <a:pathLst>
                  <a:path w="66675" h="76200">
                    <a:moveTo>
                      <a:pt x="33338" y="0"/>
                    </a:moveTo>
                    <a:cubicBezTo>
                      <a:pt x="14926" y="0"/>
                      <a:pt x="0" y="14926"/>
                      <a:pt x="0" y="33338"/>
                    </a:cubicBezTo>
                    <a:lnTo>
                      <a:pt x="0" y="42862"/>
                    </a:lnTo>
                    <a:cubicBezTo>
                      <a:pt x="0" y="61274"/>
                      <a:pt x="14926" y="76200"/>
                      <a:pt x="33338" y="76200"/>
                    </a:cubicBezTo>
                    <a:cubicBezTo>
                      <a:pt x="51749" y="76200"/>
                      <a:pt x="66675" y="61274"/>
                      <a:pt x="66675" y="42862"/>
                    </a:cubicBezTo>
                    <a:lnTo>
                      <a:pt x="66675" y="25718"/>
                    </a:lnTo>
                  </a:path>
                </a:pathLst>
              </a:custGeom>
              <a:noFill/>
              <a:ln w="19050">
                <a:solidFill>
                  <a:srgbClr val="FFFFFF"/>
                </a:solidFill>
              </a:ln>
            </p:spPr>
          </p:sp>
          <p:sp>
            <p:nvSpPr>
              <p:cNvPr id="69" name="Freeform 69"/>
              <p:cNvSpPr/>
              <p:nvPr/>
            </p:nvSpPr>
            <p:spPr>
              <a:xfrm>
                <a:off x="4810125" y="1152525"/>
                <a:ext cx="66675" cy="76200"/>
              </a:xfrm>
              <a:custGeom>
                <a:avLst/>
                <a:gdLst/>
                <a:ahLst/>
                <a:cxnLst/>
                <a:rect l="l" t="t" r="r" b="b"/>
                <a:pathLst>
                  <a:path w="66675" h="76200">
                    <a:moveTo>
                      <a:pt x="33338" y="0"/>
                    </a:moveTo>
                    <a:cubicBezTo>
                      <a:pt x="51749" y="0"/>
                      <a:pt x="66675" y="14926"/>
                      <a:pt x="66675" y="33338"/>
                    </a:cubicBezTo>
                    <a:lnTo>
                      <a:pt x="66675" y="42862"/>
                    </a:lnTo>
                    <a:cubicBezTo>
                      <a:pt x="66675" y="61274"/>
                      <a:pt x="51749" y="76200"/>
                      <a:pt x="33338" y="76200"/>
                    </a:cubicBezTo>
                    <a:cubicBezTo>
                      <a:pt x="14926" y="76200"/>
                      <a:pt x="0" y="61274"/>
                      <a:pt x="0" y="42862"/>
                    </a:cubicBezTo>
                    <a:lnTo>
                      <a:pt x="0" y="25718"/>
                    </a:lnTo>
                  </a:path>
                </a:pathLst>
              </a:custGeom>
              <a:noFill/>
              <a:ln w="19050">
                <a:solidFill>
                  <a:srgbClr val="FFFFFF"/>
                </a:solidFill>
              </a:ln>
            </p:spPr>
          </p:sp>
          <p:sp>
            <p:nvSpPr>
              <p:cNvPr id="70" name="Freeform 70"/>
              <p:cNvSpPr/>
              <p:nvPr/>
            </p:nvSpPr>
            <p:spPr>
              <a:xfrm>
                <a:off x="4924425" y="1114425"/>
                <a:ext cx="38100" cy="66675"/>
              </a:xfrm>
              <a:custGeom>
                <a:avLst/>
                <a:gdLst/>
                <a:ahLst/>
                <a:cxnLst/>
                <a:rect l="l" t="t" r="r" b="b"/>
                <a:pathLst>
                  <a:path w="38100" h="66675">
                    <a:moveTo>
                      <a:pt x="4762" y="66675"/>
                    </a:moveTo>
                    <a:cubicBezTo>
                      <a:pt x="23174" y="66675"/>
                      <a:pt x="38100" y="51749"/>
                      <a:pt x="38100" y="33338"/>
                    </a:cubicBezTo>
                    <a:cubicBezTo>
                      <a:pt x="38100" y="14926"/>
                      <a:pt x="23174" y="0"/>
                      <a:pt x="4762" y="0"/>
                    </a:cubicBezTo>
                    <a:lnTo>
                      <a:pt x="0" y="0"/>
                    </a:lnTo>
                  </a:path>
                </a:pathLst>
              </a:custGeom>
              <a:noFill/>
              <a:ln w="19050">
                <a:solidFill>
                  <a:srgbClr val="FFFFFF"/>
                </a:solidFill>
              </a:ln>
            </p:spPr>
          </p:sp>
          <p:sp>
            <p:nvSpPr>
              <p:cNvPr id="71" name="Freeform 71"/>
              <p:cNvSpPr/>
              <p:nvPr/>
            </p:nvSpPr>
            <p:spPr>
              <a:xfrm>
                <a:off x="4876800" y="1057275"/>
                <a:ext cx="66675" cy="60007"/>
              </a:xfrm>
              <a:custGeom>
                <a:avLst/>
                <a:gdLst/>
                <a:ahLst/>
                <a:cxnLst/>
                <a:rect l="l" t="t" r="r" b="b"/>
                <a:pathLst>
                  <a:path w="66675" h="60007">
                    <a:moveTo>
                      <a:pt x="66675" y="60007"/>
                    </a:moveTo>
                    <a:lnTo>
                      <a:pt x="66675" y="33338"/>
                    </a:lnTo>
                    <a:cubicBezTo>
                      <a:pt x="66675" y="14926"/>
                      <a:pt x="51749" y="0"/>
                      <a:pt x="33338" y="0"/>
                    </a:cubicBezTo>
                    <a:cubicBezTo>
                      <a:pt x="14926" y="0"/>
                      <a:pt x="0" y="14926"/>
                      <a:pt x="0" y="33338"/>
                    </a:cubicBezTo>
                  </a:path>
                </a:pathLst>
              </a:custGeom>
              <a:noFill/>
              <a:ln w="19050">
                <a:solidFill>
                  <a:srgbClr val="FFFFFF"/>
                </a:solidFill>
              </a:ln>
            </p:spPr>
          </p:sp>
          <p:sp>
            <p:nvSpPr>
              <p:cNvPr id="72" name="Freeform 72"/>
              <p:cNvSpPr/>
              <p:nvPr/>
            </p:nvSpPr>
            <p:spPr>
              <a:xfrm>
                <a:off x="4791075" y="1114425"/>
                <a:ext cx="38100" cy="66675"/>
              </a:xfrm>
              <a:custGeom>
                <a:avLst/>
                <a:gdLst/>
                <a:ahLst/>
                <a:cxnLst/>
                <a:rect l="l" t="t" r="r" b="b"/>
                <a:pathLst>
                  <a:path w="38100" h="66675">
                    <a:moveTo>
                      <a:pt x="33338" y="66675"/>
                    </a:moveTo>
                    <a:cubicBezTo>
                      <a:pt x="14926" y="66675"/>
                      <a:pt x="0" y="51749"/>
                      <a:pt x="0" y="33338"/>
                    </a:cubicBezTo>
                    <a:cubicBezTo>
                      <a:pt x="0" y="14926"/>
                      <a:pt x="14926" y="0"/>
                      <a:pt x="33338" y="0"/>
                    </a:cubicBezTo>
                    <a:lnTo>
                      <a:pt x="38100" y="0"/>
                    </a:lnTo>
                  </a:path>
                </a:pathLst>
              </a:custGeom>
              <a:noFill/>
              <a:ln w="19050">
                <a:solidFill>
                  <a:srgbClr val="FFFFFF"/>
                </a:solidFill>
              </a:ln>
            </p:spPr>
          </p:sp>
          <p:sp>
            <p:nvSpPr>
              <p:cNvPr id="73" name="Freeform 73"/>
              <p:cNvSpPr/>
              <p:nvPr/>
            </p:nvSpPr>
            <p:spPr>
              <a:xfrm>
                <a:off x="4810125" y="1057275"/>
                <a:ext cx="66675" cy="128588"/>
              </a:xfrm>
              <a:custGeom>
                <a:avLst/>
                <a:gdLst/>
                <a:ahLst/>
                <a:cxnLst/>
                <a:rect l="l" t="t" r="r" b="b"/>
                <a:pathLst>
                  <a:path w="66675" h="128588">
                    <a:moveTo>
                      <a:pt x="0" y="60007"/>
                    </a:moveTo>
                    <a:lnTo>
                      <a:pt x="0" y="33338"/>
                    </a:lnTo>
                    <a:cubicBezTo>
                      <a:pt x="0" y="14926"/>
                      <a:pt x="14926" y="0"/>
                      <a:pt x="33338" y="0"/>
                    </a:cubicBezTo>
                    <a:cubicBezTo>
                      <a:pt x="51749" y="0"/>
                      <a:pt x="66675" y="14926"/>
                      <a:pt x="66675" y="33338"/>
                    </a:cubicBezTo>
                    <a:lnTo>
                      <a:pt x="66675" y="128588"/>
                    </a:lnTo>
                  </a:path>
                </a:pathLst>
              </a:custGeom>
              <a:noFill/>
              <a:ln w="19050">
                <a:solidFill>
                  <a:srgbClr val="FFFFFF"/>
                </a:solidFill>
              </a:ln>
            </p:spPr>
          </p:sp>
        </p:grpSp>
        <p:sp>
          <p:nvSpPr>
            <p:cNvPr id="75" name="TextBox 75"/>
            <p:cNvSpPr txBox="1"/>
            <p:nvPr/>
          </p:nvSpPr>
          <p:spPr>
            <a:xfrm>
              <a:off x="5080635" y="1078706"/>
              <a:ext cx="1066851"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智能运营智能体</a:t>
              </a:r>
            </a:p>
          </p:txBody>
        </p:sp>
        <p:sp>
          <p:nvSpPr>
            <p:cNvPr id="76" name="Rectangle 76"/>
            <p:cNvSpPr/>
            <p:nvPr/>
          </p:nvSpPr>
          <p:spPr>
            <a:xfrm>
              <a:off x="2552700" y="1428750"/>
              <a:ext cx="5029200" cy="228600"/>
            </a:xfrm>
            <a:prstGeom prst="roundRect">
              <a:avLst>
                <a:gd name="adj" fmla="val 50000"/>
              </a:avLst>
            </a:prstGeom>
            <a:solidFill>
              <a:srgbClr val="EEF5FB"/>
            </a:solidFill>
            <a:ln>
              <a:noFill/>
            </a:ln>
          </p:spPr>
        </p:sp>
        <p:sp>
          <p:nvSpPr>
            <p:cNvPr id="77" name="TextBox 77"/>
            <p:cNvSpPr txBox="1"/>
            <p:nvPr/>
          </p:nvSpPr>
          <p:spPr>
            <a:xfrm>
              <a:off x="4156525" y="1492091"/>
              <a:ext cx="1821551"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任务闭环 · 端到端自动化 · 人机协同</a:t>
              </a:r>
            </a:p>
          </p:txBody>
        </p:sp>
        <p:grpSp>
          <p:nvGrpSpPr>
            <p:cNvPr id="112" name="ma-circles"/>
            <p:cNvGrpSpPr/>
            <p:nvPr/>
          </p:nvGrpSpPr>
          <p:grpSpPr>
            <a:xfrm>
              <a:off x="2552700" y="1809750"/>
              <a:ext cx="5029200" cy="457200"/>
              <a:chOff x="2552700" y="1809750"/>
              <a:chExt cx="5029200" cy="457200"/>
            </a:xfrm>
          </p:grpSpPr>
          <p:sp>
            <p:nvSpPr>
              <p:cNvPr id="78" name="Ellipse 78"/>
              <p:cNvSpPr/>
              <p:nvPr/>
            </p:nvSpPr>
            <p:spPr>
              <a:xfrm>
                <a:off x="2552700" y="1809750"/>
                <a:ext cx="457200" cy="457200"/>
              </a:xfrm>
              <a:prstGeom prst="ellipse">
                <a:avLst/>
              </a:prstGeom>
              <a:solidFill>
                <a:srgbClr val="D6E6F3"/>
              </a:solidFill>
              <a:ln>
                <a:noFill/>
              </a:ln>
            </p:spPr>
          </p:sp>
          <p:grpSp>
            <p:nvGrpSpPr>
              <p:cNvPr id="81" name="Group 81"/>
              <p:cNvGrpSpPr/>
              <p:nvPr/>
            </p:nvGrpSpPr>
            <p:grpSpPr>
              <a:xfrm>
                <a:off x="2702719" y="1959769"/>
                <a:ext cx="157163" cy="157163"/>
                <a:chOff x="2702719" y="1959769"/>
                <a:chExt cx="157163" cy="157163"/>
              </a:xfrm>
            </p:grpSpPr>
            <p:sp>
              <p:nvSpPr>
                <p:cNvPr id="79" name="Freeform 79"/>
                <p:cNvSpPr/>
                <p:nvPr/>
              </p:nvSpPr>
              <p:spPr>
                <a:xfrm>
                  <a:off x="2702719" y="1959769"/>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92301C"/>
                  </a:solidFill>
                </a:ln>
              </p:spPr>
            </p:sp>
            <p:sp>
              <p:nvSpPr>
                <p:cNvPr id="80" name="Freeform 80"/>
                <p:cNvSpPr/>
                <p:nvPr/>
              </p:nvSpPr>
              <p:spPr>
                <a:xfrm>
                  <a:off x="2807494" y="2064544"/>
                  <a:ext cx="52388" cy="52388"/>
                </a:xfrm>
                <a:custGeom>
                  <a:avLst/>
                  <a:gdLst/>
                  <a:ahLst/>
                  <a:cxnLst/>
                  <a:rect l="l" t="t" r="r" b="b"/>
                  <a:pathLst>
                    <a:path w="52388" h="52388">
                      <a:moveTo>
                        <a:pt x="52388" y="52388"/>
                      </a:moveTo>
                      <a:lnTo>
                        <a:pt x="0" y="0"/>
                      </a:lnTo>
                    </a:path>
                  </a:pathLst>
                </a:custGeom>
                <a:noFill/>
                <a:ln w="17463">
                  <a:solidFill>
                    <a:srgbClr val="92301C"/>
                  </a:solidFill>
                </a:ln>
              </p:spPr>
            </p:sp>
          </p:grpSp>
          <p:sp>
            <p:nvSpPr>
              <p:cNvPr id="82" name="Ellipse 82"/>
              <p:cNvSpPr/>
              <p:nvPr/>
            </p:nvSpPr>
            <p:spPr>
              <a:xfrm>
                <a:off x="3314700" y="1809750"/>
                <a:ext cx="457200" cy="457200"/>
              </a:xfrm>
              <a:prstGeom prst="ellipse">
                <a:avLst/>
              </a:prstGeom>
              <a:solidFill>
                <a:srgbClr val="D6E6F3"/>
              </a:solidFill>
              <a:ln>
                <a:noFill/>
              </a:ln>
            </p:spPr>
          </p:sp>
          <p:grpSp>
            <p:nvGrpSpPr>
              <p:cNvPr id="85" name="Group 85"/>
              <p:cNvGrpSpPr/>
              <p:nvPr/>
            </p:nvGrpSpPr>
            <p:grpSpPr>
              <a:xfrm>
                <a:off x="3452935" y="1959769"/>
                <a:ext cx="170506" cy="157162"/>
                <a:chOff x="3452935" y="1959769"/>
                <a:chExt cx="170506" cy="157162"/>
              </a:xfrm>
            </p:grpSpPr>
            <p:sp>
              <p:nvSpPr>
                <p:cNvPr id="83" name="Freeform 83"/>
                <p:cNvSpPr/>
                <p:nvPr/>
              </p:nvSpPr>
              <p:spPr>
                <a:xfrm>
                  <a:off x="3452935" y="195976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92301C"/>
                  </a:solidFill>
                </a:ln>
              </p:spPr>
            </p:sp>
            <p:sp>
              <p:nvSpPr>
                <p:cNvPr id="84" name="Freeform 84"/>
                <p:cNvSpPr/>
                <p:nvPr/>
              </p:nvSpPr>
              <p:spPr>
                <a:xfrm>
                  <a:off x="3569494" y="2082006"/>
                  <a:ext cx="52388" cy="34925"/>
                </a:xfrm>
                <a:custGeom>
                  <a:avLst/>
                  <a:gdLst/>
                  <a:ahLst/>
                  <a:cxnLst/>
                  <a:rect l="l" t="t" r="r" b="b"/>
                  <a:pathLst>
                    <a:path w="52388" h="34925">
                      <a:moveTo>
                        <a:pt x="0" y="17463"/>
                      </a:moveTo>
                      <a:lnTo>
                        <a:pt x="17463" y="34925"/>
                      </a:lnTo>
                      <a:lnTo>
                        <a:pt x="52388" y="0"/>
                      </a:lnTo>
                    </a:path>
                  </a:pathLst>
                </a:custGeom>
                <a:noFill/>
                <a:ln w="17463">
                  <a:solidFill>
                    <a:srgbClr val="92301C"/>
                  </a:solidFill>
                </a:ln>
              </p:spPr>
            </p:sp>
          </p:grpSp>
          <p:sp>
            <p:nvSpPr>
              <p:cNvPr id="86" name="Ellipse 86"/>
              <p:cNvSpPr/>
              <p:nvPr/>
            </p:nvSpPr>
            <p:spPr>
              <a:xfrm>
                <a:off x="4076700" y="1809750"/>
                <a:ext cx="457200" cy="457200"/>
              </a:xfrm>
              <a:prstGeom prst="ellipse">
                <a:avLst/>
              </a:prstGeom>
              <a:solidFill>
                <a:srgbClr val="D6E6F3"/>
              </a:solidFill>
              <a:ln>
                <a:noFill/>
              </a:ln>
            </p:spPr>
          </p:sp>
          <p:grpSp>
            <p:nvGrpSpPr>
              <p:cNvPr id="90" name="Group 90"/>
              <p:cNvGrpSpPr/>
              <p:nvPr/>
            </p:nvGrpSpPr>
            <p:grpSpPr>
              <a:xfrm>
                <a:off x="4235450" y="1959769"/>
                <a:ext cx="139700" cy="157162"/>
                <a:chOff x="4235450" y="1959769"/>
                <a:chExt cx="139700" cy="157162"/>
              </a:xfrm>
            </p:grpSpPr>
            <p:sp>
              <p:nvSpPr>
                <p:cNvPr id="87" name="Freeform 87"/>
                <p:cNvSpPr/>
                <p:nvPr/>
              </p:nvSpPr>
              <p:spPr>
                <a:xfrm>
                  <a:off x="4235450" y="1959769"/>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92301C"/>
                  </a:solidFill>
                </a:ln>
              </p:spPr>
            </p:sp>
            <p:sp>
              <p:nvSpPr>
                <p:cNvPr id="88" name="Freeform 88"/>
                <p:cNvSpPr/>
                <p:nvPr/>
              </p:nvSpPr>
              <p:spPr>
                <a:xfrm>
                  <a:off x="4235450" y="1985963"/>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2301C"/>
                  </a:solidFill>
                </a:ln>
              </p:spPr>
            </p:sp>
            <p:sp>
              <p:nvSpPr>
                <p:cNvPr id="89" name="Freeform 89"/>
                <p:cNvSpPr/>
                <p:nvPr/>
              </p:nvSpPr>
              <p:spPr>
                <a:xfrm>
                  <a:off x="4235450" y="2038350"/>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2301C"/>
                  </a:solidFill>
                </a:ln>
              </p:spPr>
            </p:sp>
          </p:grpSp>
          <p:sp>
            <p:nvSpPr>
              <p:cNvPr id="91" name="Ellipse 91"/>
              <p:cNvSpPr/>
              <p:nvPr/>
            </p:nvSpPr>
            <p:spPr>
              <a:xfrm>
                <a:off x="4838700" y="1809750"/>
                <a:ext cx="457200" cy="457200"/>
              </a:xfrm>
              <a:prstGeom prst="ellipse">
                <a:avLst/>
              </a:prstGeom>
              <a:solidFill>
                <a:srgbClr val="D6E6F3"/>
              </a:solidFill>
              <a:ln>
                <a:noFill/>
              </a:ln>
            </p:spPr>
          </p:sp>
          <p:grpSp>
            <p:nvGrpSpPr>
              <p:cNvPr id="97" name="Group 97"/>
              <p:cNvGrpSpPr/>
              <p:nvPr/>
            </p:nvGrpSpPr>
            <p:grpSpPr>
              <a:xfrm>
                <a:off x="5006181" y="1959769"/>
                <a:ext cx="122238" cy="157163"/>
                <a:chOff x="5006181" y="1959769"/>
                <a:chExt cx="122238" cy="157163"/>
              </a:xfrm>
            </p:grpSpPr>
            <p:sp>
              <p:nvSpPr>
                <p:cNvPr id="92" name="Freeform 92"/>
                <p:cNvSpPr/>
                <p:nvPr/>
              </p:nvSpPr>
              <p:spPr>
                <a:xfrm>
                  <a:off x="5084763" y="1959769"/>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92301C"/>
                  </a:solidFill>
                </a:ln>
              </p:spPr>
            </p:sp>
            <p:sp>
              <p:nvSpPr>
                <p:cNvPr id="93" name="Freeform 93"/>
                <p:cNvSpPr/>
                <p:nvPr/>
              </p:nvSpPr>
              <p:spPr>
                <a:xfrm>
                  <a:off x="5006181" y="1959769"/>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92301C"/>
                  </a:solidFill>
                </a:ln>
              </p:spPr>
            </p:sp>
            <p:sp>
              <p:nvSpPr>
                <p:cNvPr id="94" name="Freeform 94"/>
                <p:cNvSpPr/>
                <p:nvPr/>
              </p:nvSpPr>
              <p:spPr>
                <a:xfrm>
                  <a:off x="5041106" y="2012156"/>
                  <a:ext cx="9525" cy="9525"/>
                </a:xfrm>
                <a:custGeom>
                  <a:avLst/>
                  <a:gdLst/>
                  <a:ahLst/>
                  <a:cxnLst/>
                  <a:rect l="l" t="t" r="r" b="b"/>
                  <a:pathLst>
                    <a:path w="9525" h="9525">
                      <a:moveTo>
                        <a:pt x="0" y="0"/>
                      </a:moveTo>
                      <a:lnTo>
                        <a:pt x="8731" y="0"/>
                      </a:lnTo>
                    </a:path>
                  </a:pathLst>
                </a:custGeom>
                <a:noFill/>
                <a:ln w="17463">
                  <a:solidFill>
                    <a:srgbClr val="92301C"/>
                  </a:solidFill>
                </a:ln>
              </p:spPr>
            </p:sp>
            <p:sp>
              <p:nvSpPr>
                <p:cNvPr id="95" name="Freeform 95"/>
                <p:cNvSpPr/>
                <p:nvPr/>
              </p:nvSpPr>
              <p:spPr>
                <a:xfrm>
                  <a:off x="5041106" y="2047081"/>
                  <a:ext cx="52388" cy="9525"/>
                </a:xfrm>
                <a:custGeom>
                  <a:avLst/>
                  <a:gdLst/>
                  <a:ahLst/>
                  <a:cxnLst/>
                  <a:rect l="l" t="t" r="r" b="b"/>
                  <a:pathLst>
                    <a:path w="52388" h="9525">
                      <a:moveTo>
                        <a:pt x="0" y="0"/>
                      </a:moveTo>
                      <a:lnTo>
                        <a:pt x="52388" y="0"/>
                      </a:lnTo>
                    </a:path>
                  </a:pathLst>
                </a:custGeom>
                <a:noFill/>
                <a:ln w="17463">
                  <a:solidFill>
                    <a:srgbClr val="92301C"/>
                  </a:solidFill>
                </a:ln>
              </p:spPr>
            </p:sp>
            <p:sp>
              <p:nvSpPr>
                <p:cNvPr id="96" name="Freeform 96"/>
                <p:cNvSpPr/>
                <p:nvPr/>
              </p:nvSpPr>
              <p:spPr>
                <a:xfrm>
                  <a:off x="5041106" y="2082006"/>
                  <a:ext cx="52388" cy="9525"/>
                </a:xfrm>
                <a:custGeom>
                  <a:avLst/>
                  <a:gdLst/>
                  <a:ahLst/>
                  <a:cxnLst/>
                  <a:rect l="l" t="t" r="r" b="b"/>
                  <a:pathLst>
                    <a:path w="52388" h="9525">
                      <a:moveTo>
                        <a:pt x="0" y="0"/>
                      </a:moveTo>
                      <a:lnTo>
                        <a:pt x="52388" y="0"/>
                      </a:lnTo>
                    </a:path>
                  </a:pathLst>
                </a:custGeom>
                <a:noFill/>
                <a:ln w="17463">
                  <a:solidFill>
                    <a:srgbClr val="92301C"/>
                  </a:solidFill>
                </a:ln>
              </p:spPr>
            </p:sp>
          </p:grpSp>
          <p:sp>
            <p:nvSpPr>
              <p:cNvPr id="98" name="Ellipse 98"/>
              <p:cNvSpPr/>
              <p:nvPr/>
            </p:nvSpPr>
            <p:spPr>
              <a:xfrm>
                <a:off x="5600700" y="1809750"/>
                <a:ext cx="457200" cy="457200"/>
              </a:xfrm>
              <a:prstGeom prst="ellipse">
                <a:avLst/>
              </a:prstGeom>
              <a:solidFill>
                <a:srgbClr val="D6E6F3"/>
              </a:solidFill>
              <a:ln>
                <a:noFill/>
              </a:ln>
            </p:spPr>
          </p:sp>
          <p:grpSp>
            <p:nvGrpSpPr>
              <p:cNvPr id="101" name="Group 101"/>
              <p:cNvGrpSpPr/>
              <p:nvPr/>
            </p:nvGrpSpPr>
            <p:grpSpPr>
              <a:xfrm>
                <a:off x="5776913" y="1959769"/>
                <a:ext cx="104775" cy="157163"/>
                <a:chOff x="5776913" y="1959769"/>
                <a:chExt cx="104775" cy="157163"/>
              </a:xfrm>
            </p:grpSpPr>
            <p:sp>
              <p:nvSpPr>
                <p:cNvPr id="99" name="Freeform 99"/>
                <p:cNvSpPr/>
                <p:nvPr/>
              </p:nvSpPr>
              <p:spPr>
                <a:xfrm>
                  <a:off x="5794375" y="19597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92301C"/>
                  </a:solidFill>
                </a:ln>
              </p:spPr>
            </p:sp>
            <p:sp>
              <p:nvSpPr>
                <p:cNvPr id="100" name="Freeform 100"/>
                <p:cNvSpPr/>
                <p:nvPr/>
              </p:nvSpPr>
              <p:spPr>
                <a:xfrm>
                  <a:off x="5776913" y="206454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92301C"/>
                  </a:solidFill>
                </a:ln>
              </p:spPr>
            </p:sp>
          </p:grpSp>
          <p:sp>
            <p:nvSpPr>
              <p:cNvPr id="102" name="Ellipse 102"/>
              <p:cNvSpPr/>
              <p:nvPr/>
            </p:nvSpPr>
            <p:spPr>
              <a:xfrm>
                <a:off x="6362700" y="1809750"/>
                <a:ext cx="457200" cy="457200"/>
              </a:xfrm>
              <a:prstGeom prst="ellipse">
                <a:avLst/>
              </a:prstGeom>
              <a:solidFill>
                <a:srgbClr val="D6E6F3"/>
              </a:solidFill>
              <a:ln>
                <a:noFill/>
              </a:ln>
            </p:spPr>
          </p:sp>
          <p:grpSp>
            <p:nvGrpSpPr>
              <p:cNvPr id="105" name="Group 105"/>
              <p:cNvGrpSpPr/>
              <p:nvPr/>
            </p:nvGrpSpPr>
            <p:grpSpPr>
              <a:xfrm>
                <a:off x="6508886" y="1955936"/>
                <a:ext cx="164829" cy="164829"/>
                <a:chOff x="6508886" y="1955936"/>
                <a:chExt cx="164829" cy="164829"/>
              </a:xfrm>
            </p:grpSpPr>
            <p:sp>
              <p:nvSpPr>
                <p:cNvPr id="103" name="Freeform 103"/>
                <p:cNvSpPr/>
                <p:nvPr/>
              </p:nvSpPr>
              <p:spPr>
                <a:xfrm>
                  <a:off x="6508886" y="1955936"/>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92301C"/>
                  </a:solidFill>
                </a:ln>
              </p:spPr>
            </p:sp>
            <p:sp>
              <p:nvSpPr>
                <p:cNvPr id="104" name="Freeform 104"/>
                <p:cNvSpPr/>
                <p:nvPr/>
              </p:nvSpPr>
              <p:spPr>
                <a:xfrm>
                  <a:off x="6565106" y="2012156"/>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92301C"/>
                  </a:solidFill>
                </a:ln>
              </p:spPr>
            </p:sp>
          </p:grpSp>
          <p:sp>
            <p:nvSpPr>
              <p:cNvPr id="106" name="Ellipse 106"/>
              <p:cNvSpPr/>
              <p:nvPr/>
            </p:nvSpPr>
            <p:spPr>
              <a:xfrm>
                <a:off x="7124700" y="1809750"/>
                <a:ext cx="457200" cy="457200"/>
              </a:xfrm>
              <a:prstGeom prst="ellipse">
                <a:avLst/>
              </a:prstGeom>
              <a:solidFill>
                <a:srgbClr val="D6E6F3"/>
              </a:solidFill>
              <a:ln>
                <a:noFill/>
              </a:ln>
            </p:spPr>
          </p:sp>
          <p:grpSp>
            <p:nvGrpSpPr>
              <p:cNvPr id="111" name="Group 111"/>
              <p:cNvGrpSpPr/>
              <p:nvPr/>
            </p:nvGrpSpPr>
            <p:grpSpPr>
              <a:xfrm>
                <a:off x="7274719" y="1968500"/>
                <a:ext cx="157163" cy="149225"/>
                <a:chOff x="7274719" y="1968500"/>
                <a:chExt cx="157163" cy="149225"/>
              </a:xfrm>
            </p:grpSpPr>
            <p:sp>
              <p:nvSpPr>
                <p:cNvPr id="107" name="Freeform 107"/>
                <p:cNvSpPr/>
                <p:nvPr/>
              </p:nvSpPr>
              <p:spPr>
                <a:xfrm>
                  <a:off x="7274719" y="20383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92301C"/>
                  </a:solidFill>
                </a:ln>
              </p:spPr>
            </p:sp>
            <p:sp>
              <p:nvSpPr>
                <p:cNvPr id="108" name="Freeform 108"/>
                <p:cNvSpPr/>
                <p:nvPr/>
              </p:nvSpPr>
              <p:spPr>
                <a:xfrm>
                  <a:off x="7379494" y="20034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92301C"/>
                  </a:solidFill>
                </a:ln>
              </p:spPr>
            </p:sp>
            <p:sp>
              <p:nvSpPr>
                <p:cNvPr id="109" name="Freeform 109"/>
                <p:cNvSpPr/>
                <p:nvPr/>
              </p:nvSpPr>
              <p:spPr>
                <a:xfrm>
                  <a:off x="7327106" y="19685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92301C"/>
                  </a:solidFill>
                </a:ln>
              </p:spPr>
            </p:sp>
            <p:sp>
              <p:nvSpPr>
                <p:cNvPr id="110" name="Freeform 110"/>
                <p:cNvSpPr/>
                <p:nvPr/>
              </p:nvSpPr>
              <p:spPr>
                <a:xfrm>
                  <a:off x="7283450" y="2108200"/>
                  <a:ext cx="122238" cy="9525"/>
                </a:xfrm>
                <a:custGeom>
                  <a:avLst/>
                  <a:gdLst/>
                  <a:ahLst/>
                  <a:cxnLst/>
                  <a:rect l="l" t="t" r="r" b="b"/>
                  <a:pathLst>
                    <a:path w="122238" h="9525">
                      <a:moveTo>
                        <a:pt x="0" y="0"/>
                      </a:moveTo>
                      <a:lnTo>
                        <a:pt x="122238" y="0"/>
                      </a:lnTo>
                    </a:path>
                  </a:pathLst>
                </a:custGeom>
                <a:noFill/>
                <a:ln w="17463">
                  <a:solidFill>
                    <a:srgbClr val="92301C"/>
                  </a:solidFill>
                </a:ln>
              </p:spPr>
            </p:sp>
          </p:grpSp>
        </p:grpSp>
        <p:grpSp>
          <p:nvGrpSpPr>
            <p:cNvPr id="119" name="ma-arrows"/>
            <p:cNvGrpSpPr/>
            <p:nvPr/>
          </p:nvGrpSpPr>
          <p:grpSpPr>
            <a:xfrm>
              <a:off x="3048000" y="2038350"/>
              <a:ext cx="4038600" cy="1"/>
              <a:chOff x="3048000" y="2038350"/>
              <a:chExt cx="4038600" cy="1"/>
            </a:xfrm>
          </p:grpSpPr>
          <p:sp>
            <p:nvSpPr>
              <p:cNvPr id="113" name="Line 113"/>
              <p:cNvSpPr/>
              <p:nvPr/>
            </p:nvSpPr>
            <p:spPr>
              <a:xfrm>
                <a:off x="3048000" y="2038350"/>
                <a:ext cx="228600" cy="1"/>
              </a:xfrm>
              <a:prstGeom prst="line">
                <a:avLst/>
              </a:prstGeom>
              <a:noFill/>
              <a:ln w="14288">
                <a:solidFill>
                  <a:srgbClr val="92301C"/>
                </a:solidFill>
                <a:tailEnd type="triangle" w="lg" len="lg"/>
              </a:ln>
            </p:spPr>
          </p:sp>
          <p:sp>
            <p:nvSpPr>
              <p:cNvPr id="114" name="Line 114"/>
              <p:cNvSpPr/>
              <p:nvPr/>
            </p:nvSpPr>
            <p:spPr>
              <a:xfrm>
                <a:off x="3810000" y="2038350"/>
                <a:ext cx="228600" cy="1"/>
              </a:xfrm>
              <a:prstGeom prst="line">
                <a:avLst/>
              </a:prstGeom>
              <a:noFill/>
              <a:ln w="14288">
                <a:solidFill>
                  <a:srgbClr val="92301C"/>
                </a:solidFill>
                <a:tailEnd type="triangle" w="lg" len="lg"/>
              </a:ln>
            </p:spPr>
          </p:sp>
          <p:sp>
            <p:nvSpPr>
              <p:cNvPr id="115" name="Line 115"/>
              <p:cNvSpPr/>
              <p:nvPr/>
            </p:nvSpPr>
            <p:spPr>
              <a:xfrm>
                <a:off x="4572000" y="2038350"/>
                <a:ext cx="228600" cy="1"/>
              </a:xfrm>
              <a:prstGeom prst="line">
                <a:avLst/>
              </a:prstGeom>
              <a:noFill/>
              <a:ln w="14288">
                <a:solidFill>
                  <a:srgbClr val="92301C"/>
                </a:solidFill>
                <a:tailEnd type="triangle" w="lg" len="lg"/>
              </a:ln>
            </p:spPr>
          </p:sp>
          <p:sp>
            <p:nvSpPr>
              <p:cNvPr id="116" name="Line 116"/>
              <p:cNvSpPr/>
              <p:nvPr/>
            </p:nvSpPr>
            <p:spPr>
              <a:xfrm>
                <a:off x="5334000" y="2038350"/>
                <a:ext cx="228600" cy="1"/>
              </a:xfrm>
              <a:prstGeom prst="line">
                <a:avLst/>
              </a:prstGeom>
              <a:noFill/>
              <a:ln w="14288">
                <a:solidFill>
                  <a:srgbClr val="92301C"/>
                </a:solidFill>
                <a:tailEnd type="triangle" w="lg" len="lg"/>
              </a:ln>
            </p:spPr>
          </p:sp>
          <p:sp>
            <p:nvSpPr>
              <p:cNvPr id="117" name="Line 117"/>
              <p:cNvSpPr/>
              <p:nvPr/>
            </p:nvSpPr>
            <p:spPr>
              <a:xfrm>
                <a:off x="6096000" y="2038350"/>
                <a:ext cx="228600" cy="1"/>
              </a:xfrm>
              <a:prstGeom prst="line">
                <a:avLst/>
              </a:prstGeom>
              <a:noFill/>
              <a:ln w="14288">
                <a:solidFill>
                  <a:srgbClr val="92301C"/>
                </a:solidFill>
                <a:tailEnd type="triangle" w="lg" len="lg"/>
              </a:ln>
            </p:spPr>
          </p:sp>
          <p:sp>
            <p:nvSpPr>
              <p:cNvPr id="118" name="Line 118"/>
              <p:cNvSpPr/>
              <p:nvPr/>
            </p:nvSpPr>
            <p:spPr>
              <a:xfrm>
                <a:off x="6858000" y="2038350"/>
                <a:ext cx="228600" cy="1"/>
              </a:xfrm>
              <a:prstGeom prst="line">
                <a:avLst/>
              </a:prstGeom>
              <a:noFill/>
              <a:ln w="14288">
                <a:solidFill>
                  <a:srgbClr val="92301C"/>
                </a:solidFill>
                <a:tailEnd type="triangle" w="lg" len="lg"/>
              </a:ln>
            </p:spPr>
          </p:sp>
        </p:grpSp>
        <p:grpSp>
          <p:nvGrpSpPr>
            <p:cNvPr id="127" name="ma-titles"/>
            <p:cNvGrpSpPr/>
            <p:nvPr/>
          </p:nvGrpSpPr>
          <p:grpSpPr>
            <a:xfrm>
              <a:off x="2555761" y="2349341"/>
              <a:ext cx="5023079" cy="161925"/>
              <a:chOff x="2555761" y="2349341"/>
              <a:chExt cx="5023079" cy="161925"/>
            </a:xfrm>
          </p:grpSpPr>
          <p:sp>
            <p:nvSpPr>
              <p:cNvPr id="120" name="TextBox 120"/>
              <p:cNvSpPr txBox="1"/>
              <p:nvPr/>
            </p:nvSpPr>
            <p:spPr>
              <a:xfrm>
                <a:off x="2555761" y="23493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任务理解</a:t>
                </a:r>
              </a:p>
            </p:txBody>
          </p:sp>
          <p:sp>
            <p:nvSpPr>
              <p:cNvPr id="121" name="TextBox 121"/>
              <p:cNvSpPr txBox="1"/>
              <p:nvPr/>
            </p:nvSpPr>
            <p:spPr>
              <a:xfrm>
                <a:off x="3317761" y="23493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规则校验</a:t>
                </a:r>
              </a:p>
            </p:txBody>
          </p:sp>
          <p:sp>
            <p:nvSpPr>
              <p:cNvPr id="122" name="TextBox 122"/>
              <p:cNvSpPr txBox="1"/>
              <p:nvPr/>
            </p:nvSpPr>
            <p:spPr>
              <a:xfrm>
                <a:off x="4079761" y="23493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系统查询</a:t>
                </a:r>
              </a:p>
            </p:txBody>
          </p:sp>
          <p:sp>
            <p:nvSpPr>
              <p:cNvPr id="123" name="TextBox 123"/>
              <p:cNvSpPr txBox="1"/>
              <p:nvPr/>
            </p:nvSpPr>
            <p:spPr>
              <a:xfrm>
                <a:off x="4841761" y="23493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处理草案</a:t>
                </a:r>
              </a:p>
            </p:txBody>
          </p:sp>
          <p:sp>
            <p:nvSpPr>
              <p:cNvPr id="124" name="TextBox 124"/>
              <p:cNvSpPr txBox="1"/>
              <p:nvPr/>
            </p:nvSpPr>
            <p:spPr>
              <a:xfrm>
                <a:off x="5603761" y="23493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审批闸门</a:t>
                </a:r>
              </a:p>
            </p:txBody>
          </p:sp>
          <p:sp>
            <p:nvSpPr>
              <p:cNvPr id="125" name="TextBox 125"/>
              <p:cNvSpPr txBox="1"/>
              <p:nvPr/>
            </p:nvSpPr>
            <p:spPr>
              <a:xfrm>
                <a:off x="6365761" y="23493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系统回写</a:t>
                </a:r>
              </a:p>
            </p:txBody>
          </p:sp>
          <p:sp>
            <p:nvSpPr>
              <p:cNvPr id="126" name="TextBox 126"/>
              <p:cNvSpPr txBox="1"/>
              <p:nvPr/>
            </p:nvSpPr>
            <p:spPr>
              <a:xfrm>
                <a:off x="7127761" y="234934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持续监控</a:t>
                </a:r>
              </a:p>
            </p:txBody>
          </p:sp>
        </p:grpSp>
        <p:grpSp>
          <p:nvGrpSpPr>
            <p:cNvPr id="149" name="ma-bullets"/>
            <p:cNvGrpSpPr/>
            <p:nvPr/>
          </p:nvGrpSpPr>
          <p:grpSpPr>
            <a:xfrm>
              <a:off x="2604224" y="2560082"/>
              <a:ext cx="4926152" cy="431006"/>
              <a:chOff x="2604224" y="2560082"/>
              <a:chExt cx="4926152" cy="431006"/>
            </a:xfrm>
          </p:grpSpPr>
          <p:sp>
            <p:nvSpPr>
              <p:cNvPr id="128" name="TextBox 128"/>
              <p:cNvSpPr txBox="1"/>
              <p:nvPr/>
            </p:nvSpPr>
            <p:spPr>
              <a:xfrm>
                <a:off x="2604224" y="25600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意图识别</a:t>
                </a:r>
              </a:p>
            </p:txBody>
          </p:sp>
          <p:sp>
            <p:nvSpPr>
              <p:cNvPr id="129" name="TextBox 129"/>
              <p:cNvSpPr txBox="1"/>
              <p:nvPr/>
            </p:nvSpPr>
            <p:spPr>
              <a:xfrm>
                <a:off x="2604224" y="27124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信息抽取</a:t>
                </a:r>
              </a:p>
            </p:txBody>
          </p:sp>
          <p:sp>
            <p:nvSpPr>
              <p:cNvPr id="130" name="TextBox 130"/>
              <p:cNvSpPr txBox="1"/>
              <p:nvPr/>
            </p:nvSpPr>
            <p:spPr>
              <a:xfrm>
                <a:off x="2604224" y="28648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任务分解</a:t>
                </a:r>
              </a:p>
            </p:txBody>
          </p:sp>
          <p:sp>
            <p:nvSpPr>
              <p:cNvPr id="131" name="TextBox 131"/>
              <p:cNvSpPr txBox="1"/>
              <p:nvPr/>
            </p:nvSpPr>
            <p:spPr>
              <a:xfrm>
                <a:off x="3366224" y="25600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合规规则</a:t>
                </a:r>
              </a:p>
            </p:txBody>
          </p:sp>
          <p:sp>
            <p:nvSpPr>
              <p:cNvPr id="132" name="TextBox 132"/>
              <p:cNvSpPr txBox="1"/>
              <p:nvPr/>
            </p:nvSpPr>
            <p:spPr>
              <a:xfrm>
                <a:off x="3366224" y="27124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业务规则</a:t>
                </a:r>
              </a:p>
            </p:txBody>
          </p:sp>
          <p:sp>
            <p:nvSpPr>
              <p:cNvPr id="133" name="TextBox 133"/>
              <p:cNvSpPr txBox="1"/>
              <p:nvPr/>
            </p:nvSpPr>
            <p:spPr>
              <a:xfrm>
                <a:off x="3366224" y="28648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风险校验</a:t>
                </a:r>
              </a:p>
            </p:txBody>
          </p:sp>
          <p:sp>
            <p:nvSpPr>
              <p:cNvPr id="134" name="TextBox 134"/>
              <p:cNvSpPr txBox="1"/>
              <p:nvPr/>
            </p:nvSpPr>
            <p:spPr>
              <a:xfrm>
                <a:off x="4085146" y="2560082"/>
                <a:ext cx="440309"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多系统检索</a:t>
                </a:r>
              </a:p>
            </p:txBody>
          </p:sp>
          <p:sp>
            <p:nvSpPr>
              <p:cNvPr id="135" name="TextBox 135"/>
              <p:cNvSpPr txBox="1"/>
              <p:nvPr/>
            </p:nvSpPr>
            <p:spPr>
              <a:xfrm>
                <a:off x="4128224" y="27124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数据匹配</a:t>
                </a:r>
              </a:p>
            </p:txBody>
          </p:sp>
          <p:sp>
            <p:nvSpPr>
              <p:cNvPr id="136" name="TextBox 136"/>
              <p:cNvSpPr txBox="1"/>
              <p:nvPr/>
            </p:nvSpPr>
            <p:spPr>
              <a:xfrm>
                <a:off x="4128224" y="28648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状态核实</a:t>
                </a:r>
              </a:p>
            </p:txBody>
          </p:sp>
          <p:sp>
            <p:nvSpPr>
              <p:cNvPr id="137" name="TextBox 137"/>
              <p:cNvSpPr txBox="1"/>
              <p:nvPr/>
            </p:nvSpPr>
            <p:spPr>
              <a:xfrm>
                <a:off x="4804067" y="2560082"/>
                <a:ext cx="526466"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生成处理方案</a:t>
                </a:r>
              </a:p>
            </p:txBody>
          </p:sp>
          <p:sp>
            <p:nvSpPr>
              <p:cNvPr id="138" name="TextBox 138"/>
              <p:cNvSpPr txBox="1"/>
              <p:nvPr/>
            </p:nvSpPr>
            <p:spPr>
              <a:xfrm>
                <a:off x="4804067" y="2712482"/>
                <a:ext cx="526466"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输出结果草案</a:t>
                </a:r>
              </a:p>
            </p:txBody>
          </p:sp>
          <p:sp>
            <p:nvSpPr>
              <p:cNvPr id="139" name="TextBox 139"/>
              <p:cNvSpPr txBox="1"/>
              <p:nvPr/>
            </p:nvSpPr>
            <p:spPr>
              <a:xfrm>
                <a:off x="4890224" y="28648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风险提示</a:t>
                </a:r>
              </a:p>
            </p:txBody>
          </p:sp>
          <p:sp>
            <p:nvSpPr>
              <p:cNvPr id="140" name="TextBox 140"/>
              <p:cNvSpPr txBox="1"/>
              <p:nvPr/>
            </p:nvSpPr>
            <p:spPr>
              <a:xfrm>
                <a:off x="5652224" y="25600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人工审核</a:t>
                </a:r>
              </a:p>
            </p:txBody>
          </p:sp>
          <p:sp>
            <p:nvSpPr>
              <p:cNvPr id="141" name="TextBox 141"/>
              <p:cNvSpPr txBox="1"/>
              <p:nvPr/>
            </p:nvSpPr>
            <p:spPr>
              <a:xfrm>
                <a:off x="5652224" y="27124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权限校验</a:t>
                </a:r>
              </a:p>
            </p:txBody>
          </p:sp>
          <p:sp>
            <p:nvSpPr>
              <p:cNvPr id="142" name="TextBox 142"/>
              <p:cNvSpPr txBox="1"/>
              <p:nvPr/>
            </p:nvSpPr>
            <p:spPr>
              <a:xfrm>
                <a:off x="5566067" y="2864882"/>
                <a:ext cx="526466"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重大事项上报</a:t>
                </a:r>
              </a:p>
            </p:txBody>
          </p:sp>
          <p:sp>
            <p:nvSpPr>
              <p:cNvPr id="143" name="TextBox 143"/>
              <p:cNvSpPr txBox="1"/>
              <p:nvPr/>
            </p:nvSpPr>
            <p:spPr>
              <a:xfrm>
                <a:off x="6414224" y="25600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结果执行</a:t>
                </a:r>
              </a:p>
            </p:txBody>
          </p:sp>
          <p:sp>
            <p:nvSpPr>
              <p:cNvPr id="144" name="TextBox 144"/>
              <p:cNvSpPr txBox="1"/>
              <p:nvPr/>
            </p:nvSpPr>
            <p:spPr>
              <a:xfrm>
                <a:off x="6414224" y="27124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状态更新</a:t>
                </a:r>
              </a:p>
            </p:txBody>
          </p:sp>
          <p:sp>
            <p:nvSpPr>
              <p:cNvPr id="145" name="TextBox 145"/>
              <p:cNvSpPr txBox="1"/>
              <p:nvPr/>
            </p:nvSpPr>
            <p:spPr>
              <a:xfrm>
                <a:off x="6414224" y="28648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单据生成</a:t>
                </a:r>
              </a:p>
            </p:txBody>
          </p:sp>
          <p:sp>
            <p:nvSpPr>
              <p:cNvPr id="146" name="TextBox 146"/>
              <p:cNvSpPr txBox="1"/>
              <p:nvPr/>
            </p:nvSpPr>
            <p:spPr>
              <a:xfrm>
                <a:off x="7176224" y="25600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运行监控</a:t>
                </a:r>
              </a:p>
            </p:txBody>
          </p:sp>
          <p:sp>
            <p:nvSpPr>
              <p:cNvPr id="147" name="TextBox 147"/>
              <p:cNvSpPr txBox="1"/>
              <p:nvPr/>
            </p:nvSpPr>
            <p:spPr>
              <a:xfrm>
                <a:off x="7176224" y="27124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异常预警</a:t>
                </a:r>
              </a:p>
            </p:txBody>
          </p:sp>
          <p:sp>
            <p:nvSpPr>
              <p:cNvPr id="148" name="TextBox 148"/>
              <p:cNvSpPr txBox="1"/>
              <p:nvPr/>
            </p:nvSpPr>
            <p:spPr>
              <a:xfrm>
                <a:off x="7176224" y="2864882"/>
                <a:ext cx="354152" cy="126206"/>
              </a:xfrm>
              <a:prstGeom prst="rect">
                <a:avLst/>
              </a:prstGeom>
              <a:noFill/>
              <a:ln>
                <a:noFill/>
              </a:ln>
            </p:spPr>
            <p:txBody>
              <a:bodyPr wrap="none" lIns="0" tIns="0" rIns="0" bIns="0" anchor="t" anchorCtr="0">
                <a:spAutoFit/>
              </a:bodyPr>
              <a:lstStyle/>
              <a:p>
                <a:pPr algn="ctr"/>
                <a:r>
                  <a:rPr lang="zh-CN" sz="640" dirty="0">
                    <a:solidFill>
                      <a:srgbClr val="52352F"/>
                    </a:solidFill>
                    <a:latin typeface="+mn-lt"/>
                    <a:ea typeface="+mn-ea"/>
                    <a:cs typeface="+mn-cs"/>
                  </a:rPr>
                  <a:t>效果评估</a:t>
                </a:r>
              </a:p>
            </p:txBody>
          </p:sp>
        </p:grpSp>
        <p:grpSp>
          <p:nvGrpSpPr>
            <p:cNvPr id="155" name="ma-loop"/>
            <p:cNvGrpSpPr/>
            <p:nvPr/>
          </p:nvGrpSpPr>
          <p:grpSpPr>
            <a:xfrm>
              <a:off x="2781300" y="3067050"/>
              <a:ext cx="4581525" cy="581026"/>
              <a:chOff x="2781300" y="3067050"/>
              <a:chExt cx="4581525" cy="581026"/>
            </a:xfrm>
          </p:grpSpPr>
          <p:sp>
            <p:nvSpPr>
              <p:cNvPr id="150" name="Line 150"/>
              <p:cNvSpPr/>
              <p:nvPr/>
            </p:nvSpPr>
            <p:spPr>
              <a:xfrm>
                <a:off x="7353300" y="3067050"/>
                <a:ext cx="9525" cy="476250"/>
              </a:xfrm>
              <a:custGeom>
                <a:avLst/>
                <a:gdLst/>
                <a:ahLst/>
                <a:cxnLst/>
                <a:rect l="l" t="t" r="r" b="b"/>
                <a:pathLst>
                  <a:path w="9525" h="476250">
                    <a:moveTo>
                      <a:pt x="0" y="0"/>
                    </a:moveTo>
                    <a:lnTo>
                      <a:pt x="0" y="476250"/>
                    </a:lnTo>
                  </a:path>
                </a:pathLst>
              </a:custGeom>
              <a:noFill/>
              <a:ln w="11430">
                <a:solidFill>
                  <a:srgbClr val="D2A89F"/>
                </a:solidFill>
              </a:ln>
            </p:spPr>
          </p:sp>
          <p:sp>
            <p:nvSpPr>
              <p:cNvPr id="151" name="Line 151"/>
              <p:cNvSpPr/>
              <p:nvPr/>
            </p:nvSpPr>
            <p:spPr>
              <a:xfrm>
                <a:off x="5924550" y="3543300"/>
                <a:ext cx="1428750" cy="9525"/>
              </a:xfrm>
              <a:custGeom>
                <a:avLst/>
                <a:gdLst/>
                <a:ahLst/>
                <a:cxnLst/>
                <a:rect l="l" t="t" r="r" b="b"/>
                <a:pathLst>
                  <a:path w="1428750" h="9525">
                    <a:moveTo>
                      <a:pt x="1428750" y="0"/>
                    </a:moveTo>
                    <a:lnTo>
                      <a:pt x="0" y="0"/>
                    </a:lnTo>
                  </a:path>
                </a:pathLst>
              </a:custGeom>
              <a:noFill/>
              <a:ln w="11430">
                <a:solidFill>
                  <a:srgbClr val="D2A89F"/>
                </a:solidFill>
              </a:ln>
            </p:spPr>
          </p:sp>
          <p:sp>
            <p:nvSpPr>
              <p:cNvPr id="152" name="Line 152"/>
              <p:cNvSpPr/>
              <p:nvPr/>
            </p:nvSpPr>
            <p:spPr>
              <a:xfrm>
                <a:off x="2781300" y="3543300"/>
                <a:ext cx="1428750" cy="9525"/>
              </a:xfrm>
              <a:custGeom>
                <a:avLst/>
                <a:gdLst/>
                <a:ahLst/>
                <a:cxnLst/>
                <a:rect l="l" t="t" r="r" b="b"/>
                <a:pathLst>
                  <a:path w="1428750" h="9525">
                    <a:moveTo>
                      <a:pt x="1428750" y="0"/>
                    </a:moveTo>
                    <a:lnTo>
                      <a:pt x="0" y="0"/>
                    </a:lnTo>
                  </a:path>
                </a:pathLst>
              </a:custGeom>
              <a:noFill/>
              <a:ln w="11430">
                <a:solidFill>
                  <a:srgbClr val="D2A89F"/>
                </a:solidFill>
              </a:ln>
            </p:spPr>
          </p:sp>
          <p:sp>
            <p:nvSpPr>
              <p:cNvPr id="153" name="Line 153"/>
              <p:cNvSpPr/>
              <p:nvPr/>
            </p:nvSpPr>
            <p:spPr>
              <a:xfrm flipV="1">
                <a:off x="2781300" y="3105150"/>
                <a:ext cx="1" cy="438150"/>
              </a:xfrm>
              <a:prstGeom prst="line">
                <a:avLst/>
              </a:prstGeom>
              <a:noFill/>
              <a:ln w="11430">
                <a:solidFill>
                  <a:srgbClr val="D2A89F"/>
                </a:solidFill>
                <a:tailEnd type="triangle" w="lg" len="lg"/>
              </a:ln>
            </p:spPr>
          </p:sp>
          <p:sp>
            <p:nvSpPr>
              <p:cNvPr id="154" name="TextBox 154"/>
              <p:cNvSpPr txBox="1"/>
              <p:nvPr/>
            </p:nvSpPr>
            <p:spPr>
              <a:xfrm>
                <a:off x="4608195" y="3500438"/>
                <a:ext cx="918210"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n-lt"/>
                    <a:ea typeface="+mn-ea"/>
                    <a:cs typeface="+mn-cs"/>
                  </a:rPr>
                  <a:t>异常处置与迭代优化</a:t>
                </a:r>
              </a:p>
            </p:txBody>
          </p:sp>
        </p:grpSp>
      </p:grpSp>
      <p:grpSp>
        <p:nvGrpSpPr>
          <p:cNvPr id="218" name="right-cards"/>
          <p:cNvGrpSpPr/>
          <p:nvPr/>
        </p:nvGrpSpPr>
        <p:grpSpPr>
          <a:xfrm>
            <a:off x="7829550" y="952500"/>
            <a:ext cx="4171950" cy="3905250"/>
            <a:chOff x="7829550" y="952500"/>
            <a:chExt cx="4171950" cy="3905250"/>
          </a:xfrm>
        </p:grpSpPr>
        <p:grpSp>
          <p:nvGrpSpPr>
            <p:cNvPr id="167" name="rc-1"/>
            <p:cNvGrpSpPr/>
            <p:nvPr/>
          </p:nvGrpSpPr>
          <p:grpSpPr>
            <a:xfrm>
              <a:off x="7829550" y="952500"/>
              <a:ext cx="2038350" cy="1238250"/>
              <a:chOff x="7829550" y="952500"/>
              <a:chExt cx="2038350" cy="1238250"/>
            </a:xfrm>
          </p:grpSpPr>
          <p:sp>
            <p:nvSpPr>
              <p:cNvPr id="157" name="Rectangle 157"/>
              <p:cNvSpPr/>
              <p:nvPr/>
            </p:nvSpPr>
            <p:spPr>
              <a:xfrm>
                <a:off x="7829550" y="952500"/>
                <a:ext cx="2038350" cy="1238250"/>
              </a:xfrm>
              <a:prstGeom prst="roundRect">
                <a:avLst>
                  <a:gd name="adj" fmla="val 4615"/>
                </a:avLst>
              </a:prstGeom>
              <a:solidFill>
                <a:srgbClr val="F6F9FD"/>
              </a:solidFill>
              <a:ln w="9525">
                <a:solidFill>
                  <a:srgbClr val="CFDFEE"/>
                </a:solidFill>
              </a:ln>
            </p:spPr>
          </p:sp>
          <p:grpSp>
            <p:nvGrpSpPr>
              <p:cNvPr id="162" name="Group 162"/>
              <p:cNvGrpSpPr/>
              <p:nvPr/>
            </p:nvGrpSpPr>
            <p:grpSpPr>
              <a:xfrm>
                <a:off x="7953375" y="1104900"/>
                <a:ext cx="171450" cy="161925"/>
                <a:chOff x="7953375" y="1104900"/>
                <a:chExt cx="171450" cy="161925"/>
              </a:xfrm>
            </p:grpSpPr>
            <p:sp>
              <p:nvSpPr>
                <p:cNvPr id="158" name="Freeform 158"/>
                <p:cNvSpPr/>
                <p:nvPr/>
              </p:nvSpPr>
              <p:spPr>
                <a:xfrm>
                  <a:off x="7953375" y="11811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92301C"/>
                  </a:solidFill>
                </a:ln>
              </p:spPr>
            </p:sp>
            <p:sp>
              <p:nvSpPr>
                <p:cNvPr id="159" name="Freeform 159"/>
                <p:cNvSpPr/>
                <p:nvPr/>
              </p:nvSpPr>
              <p:spPr>
                <a:xfrm>
                  <a:off x="8067675" y="11430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92301C"/>
                  </a:solidFill>
                </a:ln>
              </p:spPr>
            </p:sp>
            <p:sp>
              <p:nvSpPr>
                <p:cNvPr id="160" name="Freeform 160"/>
                <p:cNvSpPr/>
                <p:nvPr/>
              </p:nvSpPr>
              <p:spPr>
                <a:xfrm>
                  <a:off x="8010525" y="11049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92301C"/>
                  </a:solidFill>
                </a:ln>
              </p:spPr>
            </p:sp>
            <p:sp>
              <p:nvSpPr>
                <p:cNvPr id="161" name="Freeform 161"/>
                <p:cNvSpPr/>
                <p:nvPr/>
              </p:nvSpPr>
              <p:spPr>
                <a:xfrm>
                  <a:off x="7962900" y="1257300"/>
                  <a:ext cx="133350" cy="9525"/>
                </a:xfrm>
                <a:custGeom>
                  <a:avLst/>
                  <a:gdLst/>
                  <a:ahLst/>
                  <a:cxnLst/>
                  <a:rect l="l" t="t" r="r" b="b"/>
                  <a:pathLst>
                    <a:path w="133350" h="9525">
                      <a:moveTo>
                        <a:pt x="0" y="0"/>
                      </a:moveTo>
                      <a:lnTo>
                        <a:pt x="133350" y="0"/>
                      </a:lnTo>
                    </a:path>
                  </a:pathLst>
                </a:custGeom>
                <a:noFill/>
                <a:ln w="19050">
                  <a:solidFill>
                    <a:srgbClr val="92301C"/>
                  </a:solidFill>
                </a:ln>
              </p:spPr>
            </p:sp>
          </p:grpSp>
          <p:sp>
            <p:nvSpPr>
              <p:cNvPr id="163" name="TextBox 163"/>
              <p:cNvSpPr txBox="1"/>
              <p:nvPr/>
            </p:nvSpPr>
            <p:spPr>
              <a:xfrm>
                <a:off x="8224838" y="1131570"/>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对账</a:t>
                </a:r>
              </a:p>
            </p:txBody>
          </p:sp>
          <p:sp>
            <p:nvSpPr>
              <p:cNvPr id="164" name="TextBox 164"/>
              <p:cNvSpPr txBox="1"/>
              <p:nvPr/>
            </p:nvSpPr>
            <p:spPr>
              <a:xfrm>
                <a:off x="7939088" y="14320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自动核对账务</a:t>
                </a:r>
              </a:p>
            </p:txBody>
          </p:sp>
          <p:sp>
            <p:nvSpPr>
              <p:cNvPr id="165" name="TextBox 165"/>
              <p:cNvSpPr txBox="1"/>
              <p:nvPr/>
            </p:nvSpPr>
            <p:spPr>
              <a:xfrm>
                <a:off x="7939088" y="162258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差异识别与处理</a:t>
                </a:r>
              </a:p>
            </p:txBody>
          </p:sp>
          <p:sp>
            <p:nvSpPr>
              <p:cNvPr id="166" name="TextBox 166"/>
              <p:cNvSpPr txBox="1"/>
              <p:nvPr/>
            </p:nvSpPr>
            <p:spPr>
              <a:xfrm>
                <a:off x="7939088" y="18130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生成对账报告</a:t>
                </a:r>
              </a:p>
            </p:txBody>
          </p:sp>
        </p:grpSp>
        <p:grpSp>
          <p:nvGrpSpPr>
            <p:cNvPr id="179" name="rc-2"/>
            <p:cNvGrpSpPr/>
            <p:nvPr/>
          </p:nvGrpSpPr>
          <p:grpSpPr>
            <a:xfrm>
              <a:off x="9963150" y="952500"/>
              <a:ext cx="2038350" cy="1238250"/>
              <a:chOff x="9963150" y="952500"/>
              <a:chExt cx="2038350" cy="1238250"/>
            </a:xfrm>
          </p:grpSpPr>
          <p:sp>
            <p:nvSpPr>
              <p:cNvPr id="168" name="Rectangle 168"/>
              <p:cNvSpPr/>
              <p:nvPr/>
            </p:nvSpPr>
            <p:spPr>
              <a:xfrm>
                <a:off x="9963150" y="952500"/>
                <a:ext cx="2038350" cy="1238250"/>
              </a:xfrm>
              <a:prstGeom prst="roundRect">
                <a:avLst>
                  <a:gd name="adj" fmla="val 4615"/>
                </a:avLst>
              </a:prstGeom>
              <a:solidFill>
                <a:srgbClr val="F6F9FD"/>
              </a:solidFill>
              <a:ln w="9525">
                <a:solidFill>
                  <a:srgbClr val="CFDFEE"/>
                </a:solidFill>
              </a:ln>
            </p:spPr>
          </p:sp>
          <p:grpSp>
            <p:nvGrpSpPr>
              <p:cNvPr id="174" name="Group 174"/>
              <p:cNvGrpSpPr/>
              <p:nvPr/>
            </p:nvGrpSpPr>
            <p:grpSpPr>
              <a:xfrm>
                <a:off x="10086975" y="1104900"/>
                <a:ext cx="171450" cy="152400"/>
                <a:chOff x="10086975" y="1104900"/>
                <a:chExt cx="171450" cy="152400"/>
              </a:xfrm>
            </p:grpSpPr>
            <p:sp>
              <p:nvSpPr>
                <p:cNvPr id="169" name="Freeform 169"/>
                <p:cNvSpPr/>
                <p:nvPr/>
              </p:nvSpPr>
              <p:spPr>
                <a:xfrm>
                  <a:off x="10086975" y="1104900"/>
                  <a:ext cx="171450" cy="152400"/>
                </a:xfrm>
                <a:custGeom>
                  <a:avLst/>
                  <a:gdLst/>
                  <a:ahLst/>
                  <a:cxnLst/>
                  <a:rect l="l" t="t" r="r" b="b"/>
                  <a:pathLst>
                    <a:path w="171450" h="152400">
                      <a:moveTo>
                        <a:pt x="0" y="28575"/>
                      </a:moveTo>
                      <a:cubicBezTo>
                        <a:pt x="0" y="12793"/>
                        <a:pt x="12793" y="0"/>
                        <a:pt x="28575" y="0"/>
                      </a:cubicBezTo>
                      <a:lnTo>
                        <a:pt x="142875" y="0"/>
                      </a:lnTo>
                      <a:cubicBezTo>
                        <a:pt x="158657" y="0"/>
                        <a:pt x="171450" y="12793"/>
                        <a:pt x="171450" y="28575"/>
                      </a:cubicBezTo>
                      <a:lnTo>
                        <a:pt x="171450" y="123825"/>
                      </a:lnTo>
                      <a:cubicBezTo>
                        <a:pt x="171450" y="139607"/>
                        <a:pt x="158657" y="152400"/>
                        <a:pt x="142875" y="152400"/>
                      </a:cubicBezTo>
                      <a:lnTo>
                        <a:pt x="28575" y="152400"/>
                      </a:lnTo>
                      <a:cubicBezTo>
                        <a:pt x="12793" y="152400"/>
                        <a:pt x="0" y="139607"/>
                        <a:pt x="0" y="123825"/>
                      </a:cubicBezTo>
                      <a:lnTo>
                        <a:pt x="0" y="28575"/>
                      </a:lnTo>
                    </a:path>
                  </a:pathLst>
                </a:custGeom>
                <a:noFill/>
                <a:ln w="19050">
                  <a:solidFill>
                    <a:srgbClr val="92301C"/>
                  </a:solidFill>
                </a:ln>
              </p:spPr>
            </p:sp>
            <p:sp>
              <p:nvSpPr>
                <p:cNvPr id="170" name="Freeform 170"/>
                <p:cNvSpPr/>
                <p:nvPr/>
              </p:nvSpPr>
              <p:spPr>
                <a:xfrm>
                  <a:off x="10125075" y="11430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2301C"/>
                  </a:solidFill>
                </a:ln>
              </p:spPr>
            </p:sp>
            <p:sp>
              <p:nvSpPr>
                <p:cNvPr id="171" name="Freeform 171"/>
                <p:cNvSpPr/>
                <p:nvPr/>
              </p:nvSpPr>
              <p:spPr>
                <a:xfrm>
                  <a:off x="10201275" y="1143000"/>
                  <a:ext cx="19050" cy="9525"/>
                </a:xfrm>
                <a:custGeom>
                  <a:avLst/>
                  <a:gdLst/>
                  <a:ahLst/>
                  <a:cxnLst/>
                  <a:rect l="l" t="t" r="r" b="b"/>
                  <a:pathLst>
                    <a:path w="19050" h="9525">
                      <a:moveTo>
                        <a:pt x="0" y="0"/>
                      </a:moveTo>
                      <a:lnTo>
                        <a:pt x="19050" y="0"/>
                      </a:lnTo>
                    </a:path>
                  </a:pathLst>
                </a:custGeom>
                <a:noFill/>
                <a:ln w="19050">
                  <a:solidFill>
                    <a:srgbClr val="92301C"/>
                  </a:solidFill>
                </a:ln>
              </p:spPr>
            </p:sp>
            <p:sp>
              <p:nvSpPr>
                <p:cNvPr id="172" name="Freeform 172"/>
                <p:cNvSpPr/>
                <p:nvPr/>
              </p:nvSpPr>
              <p:spPr>
                <a:xfrm>
                  <a:off x="10201275" y="1181100"/>
                  <a:ext cx="19050" cy="9525"/>
                </a:xfrm>
                <a:custGeom>
                  <a:avLst/>
                  <a:gdLst/>
                  <a:ahLst/>
                  <a:cxnLst/>
                  <a:rect l="l" t="t" r="r" b="b"/>
                  <a:pathLst>
                    <a:path w="19050" h="9525">
                      <a:moveTo>
                        <a:pt x="0" y="0"/>
                      </a:moveTo>
                      <a:lnTo>
                        <a:pt x="19050" y="0"/>
                      </a:lnTo>
                    </a:path>
                  </a:pathLst>
                </a:custGeom>
                <a:noFill/>
                <a:ln w="19050">
                  <a:solidFill>
                    <a:srgbClr val="92301C"/>
                  </a:solidFill>
                </a:ln>
              </p:spPr>
            </p:sp>
            <p:sp>
              <p:nvSpPr>
                <p:cNvPr id="173" name="Freeform 173"/>
                <p:cNvSpPr/>
                <p:nvPr/>
              </p:nvSpPr>
              <p:spPr>
                <a:xfrm>
                  <a:off x="10125075" y="1219200"/>
                  <a:ext cx="95250" cy="9525"/>
                </a:xfrm>
                <a:custGeom>
                  <a:avLst/>
                  <a:gdLst/>
                  <a:ahLst/>
                  <a:cxnLst/>
                  <a:rect l="l" t="t" r="r" b="b"/>
                  <a:pathLst>
                    <a:path w="95250" h="9525">
                      <a:moveTo>
                        <a:pt x="0" y="0"/>
                      </a:moveTo>
                      <a:lnTo>
                        <a:pt x="95250" y="0"/>
                      </a:lnTo>
                    </a:path>
                  </a:pathLst>
                </a:custGeom>
                <a:noFill/>
                <a:ln w="19050">
                  <a:solidFill>
                    <a:srgbClr val="92301C"/>
                  </a:solidFill>
                </a:ln>
              </p:spPr>
            </p:sp>
          </p:grpSp>
          <p:sp>
            <p:nvSpPr>
              <p:cNvPr id="175" name="TextBox 175"/>
              <p:cNvSpPr txBox="1"/>
              <p:nvPr/>
            </p:nvSpPr>
            <p:spPr>
              <a:xfrm>
                <a:off x="10358438" y="11315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开户材料</a:t>
                </a:r>
              </a:p>
            </p:txBody>
          </p:sp>
          <p:sp>
            <p:nvSpPr>
              <p:cNvPr id="176" name="TextBox 176"/>
              <p:cNvSpPr txBox="1"/>
              <p:nvPr/>
            </p:nvSpPr>
            <p:spPr>
              <a:xfrm>
                <a:off x="10072688" y="143208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材料识别与分类</a:t>
                </a:r>
              </a:p>
            </p:txBody>
          </p:sp>
          <p:sp>
            <p:nvSpPr>
              <p:cNvPr id="177" name="TextBox 177"/>
              <p:cNvSpPr txBox="1"/>
              <p:nvPr/>
            </p:nvSpPr>
            <p:spPr>
              <a:xfrm>
                <a:off x="10072688" y="1622584"/>
                <a:ext cx="543433"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完整性校验</a:t>
                </a:r>
              </a:p>
            </p:txBody>
          </p:sp>
          <p:sp>
            <p:nvSpPr>
              <p:cNvPr id="178" name="TextBox 178"/>
              <p:cNvSpPr txBox="1"/>
              <p:nvPr/>
            </p:nvSpPr>
            <p:spPr>
              <a:xfrm>
                <a:off x="10072688" y="1813084"/>
                <a:ext cx="818058"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自动生成审查结论</a:t>
                </a:r>
              </a:p>
            </p:txBody>
          </p:sp>
        </p:grpSp>
        <p:grpSp>
          <p:nvGrpSpPr>
            <p:cNvPr id="191" name="rc-3"/>
            <p:cNvGrpSpPr/>
            <p:nvPr/>
          </p:nvGrpSpPr>
          <p:grpSpPr>
            <a:xfrm>
              <a:off x="7829550" y="2286000"/>
              <a:ext cx="2038350" cy="1238250"/>
              <a:chOff x="7829550" y="2286000"/>
              <a:chExt cx="2038350" cy="1238250"/>
            </a:xfrm>
          </p:grpSpPr>
          <p:sp>
            <p:nvSpPr>
              <p:cNvPr id="180" name="Rectangle 180"/>
              <p:cNvSpPr/>
              <p:nvPr/>
            </p:nvSpPr>
            <p:spPr>
              <a:xfrm>
                <a:off x="7829550" y="2286000"/>
                <a:ext cx="2038350" cy="1238250"/>
              </a:xfrm>
              <a:prstGeom prst="roundRect">
                <a:avLst>
                  <a:gd name="adj" fmla="val 4615"/>
                </a:avLst>
              </a:prstGeom>
              <a:solidFill>
                <a:srgbClr val="F6F9FD"/>
              </a:solidFill>
              <a:ln w="9525">
                <a:solidFill>
                  <a:srgbClr val="CFDFEE"/>
                </a:solidFill>
              </a:ln>
            </p:spPr>
          </p:sp>
          <p:grpSp>
            <p:nvGrpSpPr>
              <p:cNvPr id="186" name="Group 186"/>
              <p:cNvGrpSpPr/>
              <p:nvPr/>
            </p:nvGrpSpPr>
            <p:grpSpPr>
              <a:xfrm>
                <a:off x="7972425" y="2428875"/>
                <a:ext cx="133350" cy="171450"/>
                <a:chOff x="7972425" y="2428875"/>
                <a:chExt cx="133350" cy="171450"/>
              </a:xfrm>
            </p:grpSpPr>
            <p:sp>
              <p:nvSpPr>
                <p:cNvPr id="181" name="Freeform 181"/>
                <p:cNvSpPr/>
                <p:nvPr/>
              </p:nvSpPr>
              <p:spPr>
                <a:xfrm>
                  <a:off x="8058150" y="24288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92301C"/>
                  </a:solidFill>
                </a:ln>
              </p:spPr>
            </p:sp>
            <p:sp>
              <p:nvSpPr>
                <p:cNvPr id="182" name="Freeform 182"/>
                <p:cNvSpPr/>
                <p:nvPr/>
              </p:nvSpPr>
              <p:spPr>
                <a:xfrm>
                  <a:off x="7972425" y="24288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92301C"/>
                  </a:solidFill>
                </a:ln>
              </p:spPr>
            </p:sp>
            <p:sp>
              <p:nvSpPr>
                <p:cNvPr id="183" name="Freeform 183"/>
                <p:cNvSpPr/>
                <p:nvPr/>
              </p:nvSpPr>
              <p:spPr>
                <a:xfrm>
                  <a:off x="8010525" y="2466975"/>
                  <a:ext cx="9525" cy="9525"/>
                </a:xfrm>
                <a:custGeom>
                  <a:avLst/>
                  <a:gdLst/>
                  <a:ahLst/>
                  <a:cxnLst/>
                  <a:rect l="l" t="t" r="r" b="b"/>
                  <a:pathLst>
                    <a:path w="9525" h="9525">
                      <a:moveTo>
                        <a:pt x="0" y="0"/>
                      </a:moveTo>
                      <a:lnTo>
                        <a:pt x="9525" y="0"/>
                      </a:lnTo>
                    </a:path>
                  </a:pathLst>
                </a:custGeom>
                <a:noFill/>
                <a:ln w="19050">
                  <a:solidFill>
                    <a:srgbClr val="92301C"/>
                  </a:solidFill>
                </a:ln>
              </p:spPr>
            </p:sp>
            <p:sp>
              <p:nvSpPr>
                <p:cNvPr id="184" name="Freeform 184"/>
                <p:cNvSpPr/>
                <p:nvPr/>
              </p:nvSpPr>
              <p:spPr>
                <a:xfrm>
                  <a:off x="8010525" y="2524125"/>
                  <a:ext cx="57150" cy="9525"/>
                </a:xfrm>
                <a:custGeom>
                  <a:avLst/>
                  <a:gdLst/>
                  <a:ahLst/>
                  <a:cxnLst/>
                  <a:rect l="l" t="t" r="r" b="b"/>
                  <a:pathLst>
                    <a:path w="57150" h="9525">
                      <a:moveTo>
                        <a:pt x="0" y="0"/>
                      </a:moveTo>
                      <a:lnTo>
                        <a:pt x="57150" y="0"/>
                      </a:lnTo>
                    </a:path>
                  </a:pathLst>
                </a:custGeom>
                <a:noFill/>
                <a:ln w="19050">
                  <a:solidFill>
                    <a:srgbClr val="92301C"/>
                  </a:solidFill>
                </a:ln>
              </p:spPr>
            </p:sp>
            <p:sp>
              <p:nvSpPr>
                <p:cNvPr id="185" name="Freeform 185"/>
                <p:cNvSpPr/>
                <p:nvPr/>
              </p:nvSpPr>
              <p:spPr>
                <a:xfrm>
                  <a:off x="8048625" y="2562225"/>
                  <a:ext cx="19050" cy="9525"/>
                </a:xfrm>
                <a:custGeom>
                  <a:avLst/>
                  <a:gdLst/>
                  <a:ahLst/>
                  <a:cxnLst/>
                  <a:rect l="l" t="t" r="r" b="b"/>
                  <a:pathLst>
                    <a:path w="19050" h="9525">
                      <a:moveTo>
                        <a:pt x="0" y="0"/>
                      </a:moveTo>
                      <a:lnTo>
                        <a:pt x="19050" y="0"/>
                      </a:lnTo>
                    </a:path>
                  </a:pathLst>
                </a:custGeom>
                <a:noFill/>
                <a:ln w="19050">
                  <a:solidFill>
                    <a:srgbClr val="92301C"/>
                  </a:solidFill>
                </a:ln>
              </p:spPr>
            </p:sp>
          </p:grpSp>
          <p:sp>
            <p:nvSpPr>
              <p:cNvPr id="187" name="TextBox 187"/>
              <p:cNvSpPr txBox="1"/>
              <p:nvPr/>
            </p:nvSpPr>
            <p:spPr>
              <a:xfrm>
                <a:off x="8224838" y="24650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单据审核</a:t>
                </a:r>
              </a:p>
            </p:txBody>
          </p:sp>
          <p:sp>
            <p:nvSpPr>
              <p:cNvPr id="188" name="TextBox 188"/>
              <p:cNvSpPr txBox="1"/>
              <p:nvPr/>
            </p:nvSpPr>
            <p:spPr>
              <a:xfrm>
                <a:off x="7939088" y="2765584"/>
                <a:ext cx="685322"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发票/单据识别</a:t>
                </a:r>
              </a:p>
            </p:txBody>
          </p:sp>
          <p:sp>
            <p:nvSpPr>
              <p:cNvPr id="189" name="TextBox 189"/>
              <p:cNvSpPr txBox="1"/>
              <p:nvPr/>
            </p:nvSpPr>
            <p:spPr>
              <a:xfrm>
                <a:off x="7939088" y="2956084"/>
                <a:ext cx="90959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合规性与真实性校验</a:t>
                </a:r>
              </a:p>
            </p:txBody>
          </p:sp>
          <p:sp>
            <p:nvSpPr>
              <p:cNvPr id="190" name="TextBox 190"/>
              <p:cNvSpPr txBox="1"/>
              <p:nvPr/>
            </p:nvSpPr>
            <p:spPr>
              <a:xfrm>
                <a:off x="7939088" y="31465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异常单据拦截</a:t>
                </a:r>
              </a:p>
            </p:txBody>
          </p:sp>
        </p:grpSp>
        <p:grpSp>
          <p:nvGrpSpPr>
            <p:cNvPr id="202" name="rc-4"/>
            <p:cNvGrpSpPr/>
            <p:nvPr/>
          </p:nvGrpSpPr>
          <p:grpSpPr>
            <a:xfrm>
              <a:off x="9963150" y="2286000"/>
              <a:ext cx="2038350" cy="1238250"/>
              <a:chOff x="9963150" y="2286000"/>
              <a:chExt cx="2038350" cy="1238250"/>
            </a:xfrm>
          </p:grpSpPr>
          <p:sp>
            <p:nvSpPr>
              <p:cNvPr id="192" name="Rectangle 192"/>
              <p:cNvSpPr/>
              <p:nvPr/>
            </p:nvSpPr>
            <p:spPr>
              <a:xfrm>
                <a:off x="9963150" y="2286000"/>
                <a:ext cx="2038350" cy="1238250"/>
              </a:xfrm>
              <a:prstGeom prst="roundRect">
                <a:avLst>
                  <a:gd name="adj" fmla="val 4615"/>
                </a:avLst>
              </a:prstGeom>
              <a:solidFill>
                <a:srgbClr val="F6F9FD"/>
              </a:solidFill>
              <a:ln w="9525">
                <a:solidFill>
                  <a:srgbClr val="CFDFEE"/>
                </a:solidFill>
              </a:ln>
            </p:spPr>
          </p:sp>
          <p:grpSp>
            <p:nvGrpSpPr>
              <p:cNvPr id="197" name="Group 197"/>
              <p:cNvGrpSpPr/>
              <p:nvPr/>
            </p:nvGrpSpPr>
            <p:grpSpPr>
              <a:xfrm>
                <a:off x="10086975" y="2447925"/>
                <a:ext cx="171450" cy="133350"/>
                <a:chOff x="10086975" y="2447925"/>
                <a:chExt cx="171450" cy="133350"/>
              </a:xfrm>
            </p:grpSpPr>
            <p:sp>
              <p:nvSpPr>
                <p:cNvPr id="193" name="Freeform 193"/>
                <p:cNvSpPr/>
                <p:nvPr/>
              </p:nvSpPr>
              <p:spPr>
                <a:xfrm>
                  <a:off x="10086975" y="2447925"/>
                  <a:ext cx="171450" cy="133350"/>
                </a:xfrm>
                <a:custGeom>
                  <a:avLst/>
                  <a:gdLst/>
                  <a:ahLst/>
                  <a:cxnLst/>
                  <a:rect l="l" t="t" r="r" b="b"/>
                  <a:pathLst>
                    <a:path w="171450" h="133350">
                      <a:moveTo>
                        <a:pt x="0" y="28575"/>
                      </a:move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28575" y="133350"/>
                      </a:lnTo>
                      <a:cubicBezTo>
                        <a:pt x="12793" y="133350"/>
                        <a:pt x="0" y="120557"/>
                        <a:pt x="0" y="104775"/>
                      </a:cubicBezTo>
                      <a:lnTo>
                        <a:pt x="0" y="28575"/>
                      </a:lnTo>
                    </a:path>
                  </a:pathLst>
                </a:custGeom>
                <a:noFill/>
                <a:ln w="19050">
                  <a:solidFill>
                    <a:srgbClr val="92301C"/>
                  </a:solidFill>
                </a:ln>
              </p:spPr>
            </p:sp>
            <p:sp>
              <p:nvSpPr>
                <p:cNvPr id="194" name="Freeform 194"/>
                <p:cNvSpPr/>
                <p:nvPr/>
              </p:nvSpPr>
              <p:spPr>
                <a:xfrm>
                  <a:off x="10086975" y="2495550"/>
                  <a:ext cx="171450" cy="9525"/>
                </a:xfrm>
                <a:custGeom>
                  <a:avLst/>
                  <a:gdLst/>
                  <a:ahLst/>
                  <a:cxnLst/>
                  <a:rect l="l" t="t" r="r" b="b"/>
                  <a:pathLst>
                    <a:path w="171450" h="9525">
                      <a:moveTo>
                        <a:pt x="0" y="0"/>
                      </a:moveTo>
                      <a:lnTo>
                        <a:pt x="171450" y="0"/>
                      </a:lnTo>
                    </a:path>
                  </a:pathLst>
                </a:custGeom>
                <a:noFill/>
                <a:ln w="19050">
                  <a:solidFill>
                    <a:srgbClr val="92301C"/>
                  </a:solidFill>
                </a:ln>
              </p:spPr>
            </p:sp>
            <p:sp>
              <p:nvSpPr>
                <p:cNvPr id="195" name="Freeform 195"/>
                <p:cNvSpPr/>
                <p:nvPr/>
              </p:nvSpPr>
              <p:spPr>
                <a:xfrm>
                  <a:off x="10125075" y="2543175"/>
                  <a:ext cx="9525" cy="9525"/>
                </a:xfrm>
                <a:custGeom>
                  <a:avLst/>
                  <a:gdLst/>
                  <a:ahLst/>
                  <a:cxnLst/>
                  <a:rect l="l" t="t" r="r" b="b"/>
                  <a:pathLst>
                    <a:path w="9525" h="9525">
                      <a:moveTo>
                        <a:pt x="0" y="0"/>
                      </a:moveTo>
                      <a:lnTo>
                        <a:pt x="95" y="0"/>
                      </a:lnTo>
                    </a:path>
                  </a:pathLst>
                </a:custGeom>
                <a:noFill/>
                <a:ln w="19050">
                  <a:solidFill>
                    <a:srgbClr val="92301C"/>
                  </a:solidFill>
                </a:ln>
              </p:spPr>
            </p:sp>
            <p:sp>
              <p:nvSpPr>
                <p:cNvPr id="196" name="Freeform 196"/>
                <p:cNvSpPr/>
                <p:nvPr/>
              </p:nvSpPr>
              <p:spPr>
                <a:xfrm>
                  <a:off x="10163175" y="2543175"/>
                  <a:ext cx="19050" cy="9525"/>
                </a:xfrm>
                <a:custGeom>
                  <a:avLst/>
                  <a:gdLst/>
                  <a:ahLst/>
                  <a:cxnLst/>
                  <a:rect l="l" t="t" r="r" b="b"/>
                  <a:pathLst>
                    <a:path w="19050" h="9525">
                      <a:moveTo>
                        <a:pt x="0" y="0"/>
                      </a:moveTo>
                      <a:lnTo>
                        <a:pt x="19050" y="0"/>
                      </a:lnTo>
                    </a:path>
                  </a:pathLst>
                </a:custGeom>
                <a:noFill/>
                <a:ln w="19050">
                  <a:solidFill>
                    <a:srgbClr val="92301C"/>
                  </a:solidFill>
                </a:ln>
              </p:spPr>
            </p:sp>
          </p:grpSp>
          <p:sp>
            <p:nvSpPr>
              <p:cNvPr id="198" name="TextBox 198"/>
              <p:cNvSpPr txBox="1"/>
              <p:nvPr/>
            </p:nvSpPr>
            <p:spPr>
              <a:xfrm>
                <a:off x="10358438" y="24650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支付运营</a:t>
                </a:r>
              </a:p>
            </p:txBody>
          </p:sp>
          <p:sp>
            <p:nvSpPr>
              <p:cNvPr id="199" name="TextBox 199"/>
              <p:cNvSpPr txBox="1"/>
              <p:nvPr/>
            </p:nvSpPr>
            <p:spPr>
              <a:xfrm>
                <a:off x="10072688" y="27655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支付指令处理</a:t>
                </a:r>
              </a:p>
            </p:txBody>
          </p:sp>
          <p:sp>
            <p:nvSpPr>
              <p:cNvPr id="200" name="TextBox 200"/>
              <p:cNvSpPr txBox="1"/>
              <p:nvPr/>
            </p:nvSpPr>
            <p:spPr>
              <a:xfrm>
                <a:off x="10072688" y="2956084"/>
                <a:ext cx="726516"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风险筛查与监控</a:t>
                </a:r>
              </a:p>
            </p:txBody>
          </p:sp>
          <p:sp>
            <p:nvSpPr>
              <p:cNvPr id="201" name="TextBox 201"/>
              <p:cNvSpPr txBox="1"/>
              <p:nvPr/>
            </p:nvSpPr>
            <p:spPr>
              <a:xfrm>
                <a:off x="10072688" y="31465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异常支付处置</a:t>
                </a:r>
              </a:p>
            </p:txBody>
          </p:sp>
        </p:grpSp>
        <p:grpSp>
          <p:nvGrpSpPr>
            <p:cNvPr id="217" name="rc-5"/>
            <p:cNvGrpSpPr/>
            <p:nvPr/>
          </p:nvGrpSpPr>
          <p:grpSpPr>
            <a:xfrm>
              <a:off x="7829550" y="3619500"/>
              <a:ext cx="4171950" cy="1238250"/>
              <a:chOff x="7829550" y="3619500"/>
              <a:chExt cx="4171950" cy="1238250"/>
            </a:xfrm>
          </p:grpSpPr>
          <p:sp>
            <p:nvSpPr>
              <p:cNvPr id="203" name="Rectangle 203"/>
              <p:cNvSpPr/>
              <p:nvPr/>
            </p:nvSpPr>
            <p:spPr>
              <a:xfrm>
                <a:off x="7829550" y="3619500"/>
                <a:ext cx="4171950" cy="1238250"/>
              </a:xfrm>
              <a:prstGeom prst="roundRect">
                <a:avLst>
                  <a:gd name="adj" fmla="val 4615"/>
                </a:avLst>
              </a:prstGeom>
              <a:solidFill>
                <a:srgbClr val="F6F9FD"/>
              </a:solidFill>
              <a:ln w="9525">
                <a:solidFill>
                  <a:srgbClr val="CFDFEE"/>
                </a:solidFill>
              </a:ln>
            </p:spPr>
          </p:sp>
          <p:grpSp>
            <p:nvGrpSpPr>
              <p:cNvPr id="212" name="Group 212"/>
              <p:cNvGrpSpPr/>
              <p:nvPr/>
            </p:nvGrpSpPr>
            <p:grpSpPr>
              <a:xfrm>
                <a:off x="7953375" y="3762375"/>
                <a:ext cx="171450" cy="180975"/>
                <a:chOff x="7953375" y="3762375"/>
                <a:chExt cx="171450" cy="180975"/>
              </a:xfrm>
            </p:grpSpPr>
            <p:sp>
              <p:nvSpPr>
                <p:cNvPr id="204" name="Freeform 204"/>
                <p:cNvSpPr/>
                <p:nvPr/>
              </p:nvSpPr>
              <p:spPr>
                <a:xfrm>
                  <a:off x="7953375" y="3933825"/>
                  <a:ext cx="171450" cy="9525"/>
                </a:xfrm>
                <a:custGeom>
                  <a:avLst/>
                  <a:gdLst/>
                  <a:ahLst/>
                  <a:cxnLst/>
                  <a:rect l="l" t="t" r="r" b="b"/>
                  <a:pathLst>
                    <a:path w="171450" h="9525">
                      <a:moveTo>
                        <a:pt x="0" y="0"/>
                      </a:moveTo>
                      <a:lnTo>
                        <a:pt x="171450" y="0"/>
                      </a:lnTo>
                    </a:path>
                  </a:pathLst>
                </a:custGeom>
                <a:noFill/>
                <a:ln w="19050">
                  <a:solidFill>
                    <a:srgbClr val="92301C"/>
                  </a:solidFill>
                </a:ln>
              </p:spPr>
            </p:sp>
            <p:sp>
              <p:nvSpPr>
                <p:cNvPr id="205" name="Freeform 205"/>
                <p:cNvSpPr/>
                <p:nvPr/>
              </p:nvSpPr>
              <p:spPr>
                <a:xfrm>
                  <a:off x="7953375" y="3829050"/>
                  <a:ext cx="171450" cy="9525"/>
                </a:xfrm>
                <a:custGeom>
                  <a:avLst/>
                  <a:gdLst/>
                  <a:ahLst/>
                  <a:cxnLst/>
                  <a:rect l="l" t="t" r="r" b="b"/>
                  <a:pathLst>
                    <a:path w="171450" h="9525">
                      <a:moveTo>
                        <a:pt x="0" y="0"/>
                      </a:moveTo>
                      <a:lnTo>
                        <a:pt x="171450" y="0"/>
                      </a:lnTo>
                    </a:path>
                  </a:pathLst>
                </a:custGeom>
                <a:noFill/>
                <a:ln w="19050">
                  <a:solidFill>
                    <a:srgbClr val="92301C"/>
                  </a:solidFill>
                </a:ln>
              </p:spPr>
            </p:sp>
            <p:sp>
              <p:nvSpPr>
                <p:cNvPr id="206" name="Freeform 206"/>
                <p:cNvSpPr/>
                <p:nvPr/>
              </p:nvSpPr>
              <p:spPr>
                <a:xfrm>
                  <a:off x="7972425" y="3762375"/>
                  <a:ext cx="133350" cy="28575"/>
                </a:xfrm>
                <a:custGeom>
                  <a:avLst/>
                  <a:gdLst/>
                  <a:ahLst/>
                  <a:cxnLst/>
                  <a:rect l="l" t="t" r="r" b="b"/>
                  <a:pathLst>
                    <a:path w="133350" h="28575">
                      <a:moveTo>
                        <a:pt x="0" y="28575"/>
                      </a:moveTo>
                      <a:lnTo>
                        <a:pt x="66675" y="0"/>
                      </a:lnTo>
                      <a:lnTo>
                        <a:pt x="133350" y="28575"/>
                      </a:lnTo>
                    </a:path>
                  </a:pathLst>
                </a:custGeom>
                <a:noFill/>
                <a:ln w="19050">
                  <a:solidFill>
                    <a:srgbClr val="92301C"/>
                  </a:solidFill>
                </a:ln>
              </p:spPr>
            </p:sp>
            <p:sp>
              <p:nvSpPr>
                <p:cNvPr id="207" name="Freeform 207"/>
                <p:cNvSpPr/>
                <p:nvPr/>
              </p:nvSpPr>
              <p:spPr>
                <a:xfrm>
                  <a:off x="7962900" y="3829050"/>
                  <a:ext cx="9525" cy="104775"/>
                </a:xfrm>
                <a:custGeom>
                  <a:avLst/>
                  <a:gdLst/>
                  <a:ahLst/>
                  <a:cxnLst/>
                  <a:rect l="l" t="t" r="r" b="b"/>
                  <a:pathLst>
                    <a:path w="9525" h="104775">
                      <a:moveTo>
                        <a:pt x="0" y="0"/>
                      </a:moveTo>
                      <a:lnTo>
                        <a:pt x="0" y="104775"/>
                      </a:lnTo>
                    </a:path>
                  </a:pathLst>
                </a:custGeom>
                <a:noFill/>
                <a:ln w="19050">
                  <a:solidFill>
                    <a:srgbClr val="92301C"/>
                  </a:solidFill>
                </a:ln>
              </p:spPr>
            </p:sp>
            <p:sp>
              <p:nvSpPr>
                <p:cNvPr id="208" name="Freeform 208"/>
                <p:cNvSpPr/>
                <p:nvPr/>
              </p:nvSpPr>
              <p:spPr>
                <a:xfrm>
                  <a:off x="8115300" y="3829050"/>
                  <a:ext cx="9525" cy="104775"/>
                </a:xfrm>
                <a:custGeom>
                  <a:avLst/>
                  <a:gdLst/>
                  <a:ahLst/>
                  <a:cxnLst/>
                  <a:rect l="l" t="t" r="r" b="b"/>
                  <a:pathLst>
                    <a:path w="9525" h="104775">
                      <a:moveTo>
                        <a:pt x="0" y="0"/>
                      </a:moveTo>
                      <a:lnTo>
                        <a:pt x="0" y="104775"/>
                      </a:lnTo>
                    </a:path>
                  </a:pathLst>
                </a:custGeom>
                <a:noFill/>
                <a:ln w="19050">
                  <a:solidFill>
                    <a:srgbClr val="92301C"/>
                  </a:solidFill>
                </a:ln>
              </p:spPr>
            </p:sp>
            <p:sp>
              <p:nvSpPr>
                <p:cNvPr id="209" name="Freeform 209"/>
                <p:cNvSpPr/>
                <p:nvPr/>
              </p:nvSpPr>
              <p:spPr>
                <a:xfrm>
                  <a:off x="8001000" y="3867150"/>
                  <a:ext cx="9525" cy="28575"/>
                </a:xfrm>
                <a:custGeom>
                  <a:avLst/>
                  <a:gdLst/>
                  <a:ahLst/>
                  <a:cxnLst/>
                  <a:rect l="l" t="t" r="r" b="b"/>
                  <a:pathLst>
                    <a:path w="9525" h="28575">
                      <a:moveTo>
                        <a:pt x="0" y="0"/>
                      </a:moveTo>
                      <a:lnTo>
                        <a:pt x="0" y="28575"/>
                      </a:lnTo>
                    </a:path>
                  </a:pathLst>
                </a:custGeom>
                <a:noFill/>
                <a:ln w="19050">
                  <a:solidFill>
                    <a:srgbClr val="92301C"/>
                  </a:solidFill>
                </a:ln>
              </p:spPr>
            </p:sp>
            <p:sp>
              <p:nvSpPr>
                <p:cNvPr id="210" name="Freeform 210"/>
                <p:cNvSpPr/>
                <p:nvPr/>
              </p:nvSpPr>
              <p:spPr>
                <a:xfrm>
                  <a:off x="8039100" y="3867150"/>
                  <a:ext cx="9525" cy="28575"/>
                </a:xfrm>
                <a:custGeom>
                  <a:avLst/>
                  <a:gdLst/>
                  <a:ahLst/>
                  <a:cxnLst/>
                  <a:rect l="l" t="t" r="r" b="b"/>
                  <a:pathLst>
                    <a:path w="9525" h="28575">
                      <a:moveTo>
                        <a:pt x="0" y="0"/>
                      </a:moveTo>
                      <a:lnTo>
                        <a:pt x="0" y="28575"/>
                      </a:lnTo>
                    </a:path>
                  </a:pathLst>
                </a:custGeom>
                <a:noFill/>
                <a:ln w="19050">
                  <a:solidFill>
                    <a:srgbClr val="92301C"/>
                  </a:solidFill>
                </a:ln>
              </p:spPr>
            </p:sp>
            <p:sp>
              <p:nvSpPr>
                <p:cNvPr id="211" name="Freeform 211"/>
                <p:cNvSpPr/>
                <p:nvPr/>
              </p:nvSpPr>
              <p:spPr>
                <a:xfrm>
                  <a:off x="8077200" y="3867150"/>
                  <a:ext cx="9525" cy="28575"/>
                </a:xfrm>
                <a:custGeom>
                  <a:avLst/>
                  <a:gdLst/>
                  <a:ahLst/>
                  <a:cxnLst/>
                  <a:rect l="l" t="t" r="r" b="b"/>
                  <a:pathLst>
                    <a:path w="9525" h="28575">
                      <a:moveTo>
                        <a:pt x="0" y="0"/>
                      </a:moveTo>
                      <a:lnTo>
                        <a:pt x="0" y="28575"/>
                      </a:lnTo>
                    </a:path>
                  </a:pathLst>
                </a:custGeom>
                <a:noFill/>
                <a:ln w="19050">
                  <a:solidFill>
                    <a:srgbClr val="92301C"/>
                  </a:solidFill>
                </a:ln>
              </p:spPr>
            </p:sp>
          </p:grpSp>
          <p:sp>
            <p:nvSpPr>
              <p:cNvPr id="213" name="TextBox 213"/>
              <p:cNvSpPr txBox="1"/>
              <p:nvPr/>
            </p:nvSpPr>
            <p:spPr>
              <a:xfrm>
                <a:off x="8224838" y="37985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网点运营</a:t>
                </a:r>
              </a:p>
            </p:txBody>
          </p:sp>
          <p:sp>
            <p:nvSpPr>
              <p:cNvPr id="214" name="TextBox 214"/>
              <p:cNvSpPr txBox="1"/>
              <p:nvPr/>
            </p:nvSpPr>
            <p:spPr>
              <a:xfrm>
                <a:off x="7939088" y="40990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业务咨询应答</a:t>
                </a:r>
              </a:p>
            </p:txBody>
          </p:sp>
          <p:sp>
            <p:nvSpPr>
              <p:cNvPr id="215" name="TextBox 215"/>
              <p:cNvSpPr txBox="1"/>
              <p:nvPr/>
            </p:nvSpPr>
            <p:spPr>
              <a:xfrm>
                <a:off x="7939088" y="4289584"/>
                <a:ext cx="634975"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工单自动流转</a:t>
                </a:r>
              </a:p>
            </p:txBody>
          </p:sp>
          <p:sp>
            <p:nvSpPr>
              <p:cNvPr id="216" name="TextBox 216"/>
              <p:cNvSpPr txBox="1"/>
              <p:nvPr/>
            </p:nvSpPr>
            <p:spPr>
              <a:xfrm>
                <a:off x="7939088" y="4480084"/>
                <a:ext cx="909599" cy="133350"/>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80" dirty="0">
                    <a:solidFill>
                      <a:srgbClr val="52352F"/>
                    </a:solidFill>
                    <a:latin typeface="+mn-lt"/>
                    <a:ea typeface="+mn-ea"/>
                    <a:cs typeface="+mn-cs"/>
                  </a:rPr>
                  <a:t>运营数据汇总与分析</a:t>
                </a:r>
              </a:p>
            </p:txBody>
          </p:sp>
        </p:grpSp>
      </p:grpSp>
      <p:grpSp>
        <p:nvGrpSpPr>
          <p:cNvPr id="273" name="control-band"/>
          <p:cNvGrpSpPr/>
          <p:nvPr/>
        </p:nvGrpSpPr>
        <p:grpSpPr>
          <a:xfrm>
            <a:off x="190500" y="5257800"/>
            <a:ext cx="11811000" cy="704850"/>
            <a:chOff x="190500" y="5257800"/>
            <a:chExt cx="11811000" cy="704850"/>
          </a:xfrm>
        </p:grpSpPr>
        <p:sp>
          <p:nvSpPr>
            <p:cNvPr id="219" name="Rectangle 219"/>
            <p:cNvSpPr/>
            <p:nvPr/>
          </p:nvSpPr>
          <p:spPr>
            <a:xfrm>
              <a:off x="190500" y="5257800"/>
              <a:ext cx="11811000" cy="704850"/>
            </a:xfrm>
            <a:prstGeom prst="roundRect">
              <a:avLst>
                <a:gd name="adj" fmla="val 8108"/>
              </a:avLst>
            </a:prstGeom>
            <a:solidFill>
              <a:srgbClr val="F6F9FD"/>
            </a:solidFill>
            <a:ln w="9525">
              <a:solidFill>
                <a:srgbClr val="CFDFEE"/>
              </a:solidFill>
            </a:ln>
          </p:spPr>
        </p:sp>
        <p:sp>
          <p:nvSpPr>
            <p:cNvPr id="220" name="TextBox 220"/>
            <p:cNvSpPr txBox="1"/>
            <p:nvPr/>
          </p:nvSpPr>
          <p:spPr>
            <a:xfrm>
              <a:off x="299847" y="5438299"/>
              <a:ext cx="669544"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安全可控的</a:t>
              </a:r>
            </a:p>
          </p:txBody>
        </p:sp>
        <p:sp>
          <p:nvSpPr>
            <p:cNvPr id="221" name="TextBox 221"/>
            <p:cNvSpPr txBox="1"/>
            <p:nvPr/>
          </p:nvSpPr>
          <p:spPr>
            <a:xfrm>
              <a:off x="299847" y="5628799"/>
              <a:ext cx="669544"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运营控制带</a:t>
              </a:r>
            </a:p>
          </p:txBody>
        </p:sp>
        <p:sp>
          <p:nvSpPr>
            <p:cNvPr id="222" name="Line 222"/>
            <p:cNvSpPr/>
            <p:nvPr/>
          </p:nvSpPr>
          <p:spPr>
            <a:xfrm>
              <a:off x="1352550" y="5353050"/>
              <a:ext cx="9525" cy="514350"/>
            </a:xfrm>
            <a:custGeom>
              <a:avLst/>
              <a:gdLst/>
              <a:ahLst/>
              <a:cxnLst/>
              <a:rect l="l" t="t" r="r" b="b"/>
              <a:pathLst>
                <a:path w="9525" h="514350">
                  <a:moveTo>
                    <a:pt x="0" y="0"/>
                  </a:moveTo>
                  <a:lnTo>
                    <a:pt x="0" y="514350"/>
                  </a:lnTo>
                </a:path>
              </a:pathLst>
            </a:custGeom>
            <a:noFill/>
            <a:ln w="9525">
              <a:solidFill>
                <a:srgbClr val="CFDFEE"/>
              </a:solidFill>
            </a:ln>
          </p:spPr>
        </p:sp>
        <p:grpSp>
          <p:nvGrpSpPr>
            <p:cNvPr id="227" name="cb-1"/>
            <p:cNvGrpSpPr/>
            <p:nvPr/>
          </p:nvGrpSpPr>
          <p:grpSpPr>
            <a:xfrm>
              <a:off x="1462088" y="5372133"/>
              <a:ext cx="817245" cy="501934"/>
              <a:chOff x="1462088" y="5372133"/>
              <a:chExt cx="817245" cy="501934"/>
            </a:xfrm>
          </p:grpSpPr>
          <p:sp>
            <p:nvSpPr>
              <p:cNvPr id="223" name="Freeform 223"/>
              <p:cNvSpPr/>
              <p:nvPr/>
            </p:nvSpPr>
            <p:spPr>
              <a:xfrm>
                <a:off x="1466883" y="5372133"/>
                <a:ext cx="150211" cy="150211"/>
              </a:xfrm>
              <a:custGeom>
                <a:avLst/>
                <a:gdLst/>
                <a:ahLst/>
                <a:cxnLst/>
                <a:rect l="l" t="t" r="r" b="b"/>
                <a:pathLst>
                  <a:path w="150211" h="150211">
                    <a:moveTo>
                      <a:pt x="36479" y="60292"/>
                    </a:moveTo>
                    <a:lnTo>
                      <a:pt x="60292" y="60292"/>
                    </a:lnTo>
                    <a:lnTo>
                      <a:pt x="60292" y="36479"/>
                    </a:lnTo>
                    <a:lnTo>
                      <a:pt x="32510" y="8698"/>
                    </a:lnTo>
                    <a:cubicBezTo>
                      <a:pt x="50723" y="0"/>
                      <a:pt x="72440" y="3726"/>
                      <a:pt x="86711" y="17997"/>
                    </a:cubicBezTo>
                    <a:cubicBezTo>
                      <a:pt x="100982" y="32269"/>
                      <a:pt x="104708" y="53986"/>
                      <a:pt x="96010" y="72198"/>
                    </a:cubicBezTo>
                    <a:lnTo>
                      <a:pt x="143635" y="119823"/>
                    </a:lnTo>
                    <a:cubicBezTo>
                      <a:pt x="150211" y="126399"/>
                      <a:pt x="150211" y="137060"/>
                      <a:pt x="143635" y="143635"/>
                    </a:cubicBezTo>
                    <a:cubicBezTo>
                      <a:pt x="137060" y="150211"/>
                      <a:pt x="126399" y="150211"/>
                      <a:pt x="119823" y="143635"/>
                    </a:cubicBezTo>
                    <a:lnTo>
                      <a:pt x="72198" y="96010"/>
                    </a:lnTo>
                    <a:cubicBezTo>
                      <a:pt x="53986" y="104708"/>
                      <a:pt x="32269" y="100982"/>
                      <a:pt x="17997" y="86711"/>
                    </a:cubicBezTo>
                    <a:cubicBezTo>
                      <a:pt x="3726" y="72440"/>
                      <a:pt x="0" y="50723"/>
                      <a:pt x="8698" y="32510"/>
                    </a:cubicBezTo>
                    <a:lnTo>
                      <a:pt x="36479" y="60292"/>
                    </a:lnTo>
                  </a:path>
                </a:pathLst>
              </a:custGeom>
              <a:noFill/>
              <a:ln w="15875">
                <a:solidFill>
                  <a:srgbClr val="92301C"/>
                </a:solidFill>
              </a:ln>
            </p:spPr>
          </p:sp>
          <p:sp>
            <p:nvSpPr>
              <p:cNvPr id="224" name="TextBox 224"/>
              <p:cNvSpPr txBox="1"/>
              <p:nvPr/>
            </p:nvSpPr>
            <p:spPr>
              <a:xfrm>
                <a:off x="1690688" y="5406866"/>
                <a:ext cx="561467"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工具白名单</a:t>
                </a:r>
              </a:p>
            </p:txBody>
          </p:sp>
          <p:sp>
            <p:nvSpPr>
              <p:cNvPr id="225" name="TextBox 225"/>
              <p:cNvSpPr txBox="1"/>
              <p:nvPr/>
            </p:nvSpPr>
            <p:spPr>
              <a:xfrm>
                <a:off x="1462088" y="5621655"/>
                <a:ext cx="817245"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仅使用授权工具与系统</a:t>
                </a:r>
              </a:p>
            </p:txBody>
          </p:sp>
          <p:sp>
            <p:nvSpPr>
              <p:cNvPr id="226" name="TextBox 226"/>
              <p:cNvSpPr txBox="1"/>
              <p:nvPr/>
            </p:nvSpPr>
            <p:spPr>
              <a:xfrm>
                <a:off x="1462088" y="5755005"/>
                <a:ext cx="736473"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禁用未授权外部调用</a:t>
                </a:r>
              </a:p>
            </p:txBody>
          </p:sp>
        </p:grpSp>
        <p:sp>
          <p:nvSpPr>
            <p:cNvPr id="228" name="Line 228"/>
            <p:cNvSpPr/>
            <p:nvPr/>
          </p:nvSpPr>
          <p:spPr>
            <a:xfrm>
              <a:off x="2933700" y="5353050"/>
              <a:ext cx="9525" cy="514350"/>
            </a:xfrm>
            <a:custGeom>
              <a:avLst/>
              <a:gdLst/>
              <a:ahLst/>
              <a:cxnLst/>
              <a:rect l="l" t="t" r="r" b="b"/>
              <a:pathLst>
                <a:path w="9525" h="514350">
                  <a:moveTo>
                    <a:pt x="0" y="0"/>
                  </a:moveTo>
                  <a:lnTo>
                    <a:pt x="0" y="514350"/>
                  </a:lnTo>
                </a:path>
              </a:pathLst>
            </a:custGeom>
            <a:noFill/>
            <a:ln w="9525">
              <a:solidFill>
                <a:srgbClr val="CFDFEE"/>
              </a:solidFill>
            </a:ln>
          </p:spPr>
        </p:sp>
        <p:grpSp>
          <p:nvGrpSpPr>
            <p:cNvPr id="236" name="cb-2"/>
            <p:cNvGrpSpPr/>
            <p:nvPr/>
          </p:nvGrpSpPr>
          <p:grpSpPr>
            <a:xfrm>
              <a:off x="3043238" y="5376862"/>
              <a:ext cx="679679" cy="497205"/>
              <a:chOff x="3043238" y="5376862"/>
              <a:chExt cx="679679" cy="497205"/>
            </a:xfrm>
          </p:grpSpPr>
          <p:grpSp>
            <p:nvGrpSpPr>
              <p:cNvPr id="232" name="Group 232"/>
              <p:cNvGrpSpPr/>
              <p:nvPr/>
            </p:nvGrpSpPr>
            <p:grpSpPr>
              <a:xfrm>
                <a:off x="3068637" y="5376862"/>
                <a:ext cx="111125" cy="142875"/>
                <a:chOff x="3068637" y="5376862"/>
                <a:chExt cx="111125" cy="142875"/>
              </a:xfrm>
            </p:grpSpPr>
            <p:sp>
              <p:nvSpPr>
                <p:cNvPr id="229" name="Freeform 229"/>
                <p:cNvSpPr/>
                <p:nvPr/>
              </p:nvSpPr>
              <p:spPr>
                <a:xfrm>
                  <a:off x="3068637" y="5440362"/>
                  <a:ext cx="111125" cy="79375"/>
                </a:xfrm>
                <a:custGeom>
                  <a:avLst/>
                  <a:gdLst/>
                  <a:ahLst/>
                  <a:cxnLst/>
                  <a:rect l="l" t="t" r="r" b="b"/>
                  <a:pathLst>
                    <a:path w="111125" h="79375">
                      <a:moveTo>
                        <a:pt x="0" y="15875"/>
                      </a:moveTo>
                      <a:cubicBezTo>
                        <a:pt x="0" y="7107"/>
                        <a:pt x="7107" y="0"/>
                        <a:pt x="15875" y="0"/>
                      </a:cubicBezTo>
                      <a:lnTo>
                        <a:pt x="95250" y="0"/>
                      </a:lnTo>
                      <a:cubicBezTo>
                        <a:pt x="104017" y="0"/>
                        <a:pt x="111125" y="7107"/>
                        <a:pt x="111125" y="15875"/>
                      </a:cubicBezTo>
                      <a:lnTo>
                        <a:pt x="111125" y="63500"/>
                      </a:lnTo>
                      <a:cubicBezTo>
                        <a:pt x="111125" y="72267"/>
                        <a:pt x="104017" y="79375"/>
                        <a:pt x="95250" y="79375"/>
                      </a:cubicBezTo>
                      <a:lnTo>
                        <a:pt x="15875" y="79375"/>
                      </a:lnTo>
                      <a:cubicBezTo>
                        <a:pt x="7107" y="79375"/>
                        <a:pt x="0" y="72267"/>
                        <a:pt x="0" y="63500"/>
                      </a:cubicBezTo>
                      <a:lnTo>
                        <a:pt x="0" y="15875"/>
                      </a:lnTo>
                    </a:path>
                  </a:pathLst>
                </a:custGeom>
                <a:noFill/>
                <a:ln w="15875">
                  <a:solidFill>
                    <a:srgbClr val="92301C"/>
                  </a:solidFill>
                </a:ln>
              </p:spPr>
            </p:sp>
            <p:sp>
              <p:nvSpPr>
                <p:cNvPr id="230" name="Freeform 230"/>
                <p:cNvSpPr/>
                <p:nvPr/>
              </p:nvSpPr>
              <p:spPr>
                <a:xfrm>
                  <a:off x="3116262" y="54721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92301C"/>
                  </a:solidFill>
                </a:ln>
              </p:spPr>
            </p:sp>
            <p:sp>
              <p:nvSpPr>
                <p:cNvPr id="231" name="Freeform 231"/>
                <p:cNvSpPr/>
                <p:nvPr/>
              </p:nvSpPr>
              <p:spPr>
                <a:xfrm>
                  <a:off x="3092450" y="5376862"/>
                  <a:ext cx="63500" cy="63500"/>
                </a:xfrm>
                <a:custGeom>
                  <a:avLst/>
                  <a:gdLst/>
                  <a:ahLst/>
                  <a:cxnLst/>
                  <a:rect l="l" t="t" r="r" b="b"/>
                  <a:pathLst>
                    <a:path w="63500" h="63500">
                      <a:moveTo>
                        <a:pt x="0" y="63500"/>
                      </a:moveTo>
                      <a:lnTo>
                        <a:pt x="0" y="31750"/>
                      </a:lnTo>
                      <a:cubicBezTo>
                        <a:pt x="0" y="14215"/>
                        <a:pt x="14215" y="0"/>
                        <a:pt x="31750" y="0"/>
                      </a:cubicBezTo>
                      <a:cubicBezTo>
                        <a:pt x="49285" y="0"/>
                        <a:pt x="63500" y="14215"/>
                        <a:pt x="63500" y="31750"/>
                      </a:cubicBezTo>
                      <a:lnTo>
                        <a:pt x="63500" y="63500"/>
                      </a:lnTo>
                    </a:path>
                  </a:pathLst>
                </a:custGeom>
                <a:noFill/>
                <a:ln w="15875">
                  <a:solidFill>
                    <a:srgbClr val="92301C"/>
                  </a:solidFill>
                </a:ln>
              </p:spPr>
            </p:sp>
          </p:grpSp>
          <p:sp>
            <p:nvSpPr>
              <p:cNvPr id="233" name="TextBox 233"/>
              <p:cNvSpPr txBox="1"/>
              <p:nvPr/>
            </p:nvSpPr>
            <p:spPr>
              <a:xfrm>
                <a:off x="3271838" y="5406866"/>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最小权限</a:t>
                </a:r>
              </a:p>
            </p:txBody>
          </p:sp>
          <p:sp>
            <p:nvSpPr>
              <p:cNvPr id="234" name="TextBox 234"/>
              <p:cNvSpPr txBox="1"/>
              <p:nvPr/>
            </p:nvSpPr>
            <p:spPr>
              <a:xfrm>
                <a:off x="3043238" y="5621655"/>
                <a:ext cx="655701"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按需分配最小权限</a:t>
                </a:r>
              </a:p>
            </p:txBody>
          </p:sp>
          <p:sp>
            <p:nvSpPr>
              <p:cNvPr id="235" name="TextBox 235"/>
              <p:cNvSpPr txBox="1"/>
              <p:nvPr/>
            </p:nvSpPr>
            <p:spPr>
              <a:xfrm>
                <a:off x="3043238" y="5755005"/>
                <a:ext cx="655701"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敏感操作二次校验</a:t>
                </a:r>
              </a:p>
            </p:txBody>
          </p:sp>
        </p:grpSp>
        <p:sp>
          <p:nvSpPr>
            <p:cNvPr id="237" name="Line 237"/>
            <p:cNvSpPr/>
            <p:nvPr/>
          </p:nvSpPr>
          <p:spPr>
            <a:xfrm>
              <a:off x="4514850" y="5353050"/>
              <a:ext cx="9525" cy="514350"/>
            </a:xfrm>
            <a:custGeom>
              <a:avLst/>
              <a:gdLst/>
              <a:ahLst/>
              <a:cxnLst/>
              <a:rect l="l" t="t" r="r" b="b"/>
              <a:pathLst>
                <a:path w="9525" h="514350">
                  <a:moveTo>
                    <a:pt x="0" y="0"/>
                  </a:moveTo>
                  <a:lnTo>
                    <a:pt x="0" y="514350"/>
                  </a:lnTo>
                </a:path>
              </a:pathLst>
            </a:custGeom>
            <a:noFill/>
            <a:ln w="9525">
              <a:solidFill>
                <a:srgbClr val="CFDFEE"/>
              </a:solidFill>
            </a:ln>
          </p:spPr>
        </p:sp>
        <p:grpSp>
          <p:nvGrpSpPr>
            <p:cNvPr id="246" name="cb-3"/>
            <p:cNvGrpSpPr/>
            <p:nvPr/>
          </p:nvGrpSpPr>
          <p:grpSpPr>
            <a:xfrm>
              <a:off x="4624388" y="5384800"/>
              <a:ext cx="679679" cy="489267"/>
              <a:chOff x="4624388" y="5384800"/>
              <a:chExt cx="679679" cy="489267"/>
            </a:xfrm>
          </p:grpSpPr>
          <p:grpSp>
            <p:nvGrpSpPr>
              <p:cNvPr id="242" name="Group 242"/>
              <p:cNvGrpSpPr/>
              <p:nvPr/>
            </p:nvGrpSpPr>
            <p:grpSpPr>
              <a:xfrm>
                <a:off x="4649787" y="5384800"/>
                <a:ext cx="119063" cy="134937"/>
                <a:chOff x="4649787" y="5384800"/>
                <a:chExt cx="119063" cy="134937"/>
              </a:xfrm>
            </p:grpSpPr>
            <p:sp>
              <p:nvSpPr>
                <p:cNvPr id="238" name="Freeform 238"/>
                <p:cNvSpPr/>
                <p:nvPr/>
              </p:nvSpPr>
              <p:spPr>
                <a:xfrm>
                  <a:off x="4649787" y="5384800"/>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92301C"/>
                  </a:solidFill>
                </a:ln>
              </p:spPr>
            </p:sp>
            <p:sp>
              <p:nvSpPr>
                <p:cNvPr id="239" name="Freeform 239"/>
                <p:cNvSpPr/>
                <p:nvPr/>
              </p:nvSpPr>
              <p:spPr>
                <a:xfrm>
                  <a:off x="4721225" y="5487987"/>
                  <a:ext cx="47625" cy="31750"/>
                </a:xfrm>
                <a:custGeom>
                  <a:avLst/>
                  <a:gdLst/>
                  <a:ahLst/>
                  <a:cxnLst/>
                  <a:rect l="l" t="t" r="r" b="b"/>
                  <a:pathLst>
                    <a:path w="47625" h="31750">
                      <a:moveTo>
                        <a:pt x="0" y="15875"/>
                      </a:moveTo>
                      <a:lnTo>
                        <a:pt x="15875" y="31750"/>
                      </a:lnTo>
                      <a:lnTo>
                        <a:pt x="47625" y="0"/>
                      </a:lnTo>
                    </a:path>
                  </a:pathLst>
                </a:custGeom>
                <a:noFill/>
                <a:ln w="15875">
                  <a:solidFill>
                    <a:srgbClr val="92301C"/>
                  </a:solidFill>
                </a:ln>
              </p:spPr>
            </p:sp>
            <p:sp>
              <p:nvSpPr>
                <p:cNvPr id="240" name="Freeform 240"/>
                <p:cNvSpPr/>
                <p:nvPr/>
              </p:nvSpPr>
              <p:spPr>
                <a:xfrm>
                  <a:off x="4681537" y="5416550"/>
                  <a:ext cx="31750" cy="9525"/>
                </a:xfrm>
                <a:custGeom>
                  <a:avLst/>
                  <a:gdLst/>
                  <a:ahLst/>
                  <a:cxnLst/>
                  <a:rect l="l" t="t" r="r" b="b"/>
                  <a:pathLst>
                    <a:path w="31750" h="9525">
                      <a:moveTo>
                        <a:pt x="0" y="0"/>
                      </a:moveTo>
                      <a:lnTo>
                        <a:pt x="31750" y="0"/>
                      </a:lnTo>
                    </a:path>
                  </a:pathLst>
                </a:custGeom>
                <a:noFill/>
                <a:ln w="15875">
                  <a:solidFill>
                    <a:srgbClr val="92301C"/>
                  </a:solidFill>
                </a:ln>
              </p:spPr>
            </p:sp>
            <p:sp>
              <p:nvSpPr>
                <p:cNvPr id="241" name="Freeform 241"/>
                <p:cNvSpPr/>
                <p:nvPr/>
              </p:nvSpPr>
              <p:spPr>
                <a:xfrm>
                  <a:off x="4681537" y="5448300"/>
                  <a:ext cx="15875" cy="9525"/>
                </a:xfrm>
                <a:custGeom>
                  <a:avLst/>
                  <a:gdLst/>
                  <a:ahLst/>
                  <a:cxnLst/>
                  <a:rect l="l" t="t" r="r" b="b"/>
                  <a:pathLst>
                    <a:path w="15875" h="9525">
                      <a:moveTo>
                        <a:pt x="0" y="0"/>
                      </a:moveTo>
                      <a:lnTo>
                        <a:pt x="15875" y="0"/>
                      </a:lnTo>
                    </a:path>
                  </a:pathLst>
                </a:custGeom>
                <a:noFill/>
                <a:ln w="15875">
                  <a:solidFill>
                    <a:srgbClr val="92301C"/>
                  </a:solidFill>
                </a:ln>
              </p:spPr>
            </p:sp>
          </p:grpSp>
          <p:sp>
            <p:nvSpPr>
              <p:cNvPr id="243" name="TextBox 243"/>
              <p:cNvSpPr txBox="1"/>
              <p:nvPr/>
            </p:nvSpPr>
            <p:spPr>
              <a:xfrm>
                <a:off x="4852988" y="5406866"/>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幂等校验</a:t>
                </a:r>
              </a:p>
            </p:txBody>
          </p:sp>
          <p:sp>
            <p:nvSpPr>
              <p:cNvPr id="244" name="TextBox 244"/>
              <p:cNvSpPr txBox="1"/>
              <p:nvPr/>
            </p:nvSpPr>
            <p:spPr>
              <a:xfrm>
                <a:off x="4624388" y="562165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防止重复执行</a:t>
                </a:r>
              </a:p>
            </p:txBody>
          </p:sp>
          <p:sp>
            <p:nvSpPr>
              <p:cNvPr id="245" name="TextBox 245"/>
              <p:cNvSpPr txBox="1"/>
              <p:nvPr/>
            </p:nvSpPr>
            <p:spPr>
              <a:xfrm>
                <a:off x="4624388" y="575500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确保结果一致</a:t>
                </a:r>
              </a:p>
            </p:txBody>
          </p:sp>
        </p:grpSp>
        <p:sp>
          <p:nvSpPr>
            <p:cNvPr id="247" name="Line 247"/>
            <p:cNvSpPr/>
            <p:nvPr/>
          </p:nvSpPr>
          <p:spPr>
            <a:xfrm>
              <a:off x="6096000" y="5353050"/>
              <a:ext cx="9525" cy="514350"/>
            </a:xfrm>
            <a:custGeom>
              <a:avLst/>
              <a:gdLst/>
              <a:ahLst/>
              <a:cxnLst/>
              <a:rect l="l" t="t" r="r" b="b"/>
              <a:pathLst>
                <a:path w="9525" h="514350">
                  <a:moveTo>
                    <a:pt x="0" y="0"/>
                  </a:moveTo>
                  <a:lnTo>
                    <a:pt x="0" y="514350"/>
                  </a:lnTo>
                </a:path>
              </a:pathLst>
            </a:custGeom>
            <a:noFill/>
            <a:ln w="9525">
              <a:solidFill>
                <a:srgbClr val="CFDFEE"/>
              </a:solidFill>
            </a:ln>
          </p:spPr>
        </p:sp>
        <p:grpSp>
          <p:nvGrpSpPr>
            <p:cNvPr id="254" name="cb-4"/>
            <p:cNvGrpSpPr/>
            <p:nvPr/>
          </p:nvGrpSpPr>
          <p:grpSpPr>
            <a:xfrm>
              <a:off x="6205538" y="5400675"/>
              <a:ext cx="569290" cy="473392"/>
              <a:chOff x="6205538" y="5400675"/>
              <a:chExt cx="569290" cy="473392"/>
            </a:xfrm>
          </p:grpSpPr>
          <p:grpSp>
            <p:nvGrpSpPr>
              <p:cNvPr id="250" name="Group 250"/>
              <p:cNvGrpSpPr/>
              <p:nvPr/>
            </p:nvGrpSpPr>
            <p:grpSpPr>
              <a:xfrm>
                <a:off x="6230937" y="5400675"/>
                <a:ext cx="119062" cy="95250"/>
                <a:chOff x="6230937" y="5400675"/>
                <a:chExt cx="119062" cy="95250"/>
              </a:xfrm>
            </p:grpSpPr>
            <p:sp>
              <p:nvSpPr>
                <p:cNvPr id="248" name="Freeform 248"/>
                <p:cNvSpPr/>
                <p:nvPr/>
              </p:nvSpPr>
              <p:spPr>
                <a:xfrm>
                  <a:off x="6230937" y="5400675"/>
                  <a:ext cx="31750" cy="63500"/>
                </a:xfrm>
                <a:custGeom>
                  <a:avLst/>
                  <a:gdLst/>
                  <a:ahLst/>
                  <a:cxnLst/>
                  <a:rect l="l" t="t" r="r" b="b"/>
                  <a:pathLst>
                    <a:path w="31750" h="63500">
                      <a:moveTo>
                        <a:pt x="31750" y="63500"/>
                      </a:moveTo>
                      <a:lnTo>
                        <a:pt x="0" y="31750"/>
                      </a:lnTo>
                      <a:lnTo>
                        <a:pt x="31750" y="0"/>
                      </a:lnTo>
                    </a:path>
                  </a:pathLst>
                </a:custGeom>
                <a:noFill/>
                <a:ln w="15875">
                  <a:solidFill>
                    <a:srgbClr val="92301C"/>
                  </a:solidFill>
                </a:ln>
              </p:spPr>
            </p:sp>
            <p:sp>
              <p:nvSpPr>
                <p:cNvPr id="249" name="Freeform 249"/>
                <p:cNvSpPr/>
                <p:nvPr/>
              </p:nvSpPr>
              <p:spPr>
                <a:xfrm>
                  <a:off x="6230937" y="5432425"/>
                  <a:ext cx="119062" cy="63500"/>
                </a:xfrm>
                <a:custGeom>
                  <a:avLst/>
                  <a:gdLst/>
                  <a:ahLst/>
                  <a:cxnLst/>
                  <a:rect l="l" t="t" r="r" b="b"/>
                  <a:pathLst>
                    <a:path w="119062" h="63500">
                      <a:moveTo>
                        <a:pt x="0" y="0"/>
                      </a:moveTo>
                      <a:lnTo>
                        <a:pt x="87312" y="0"/>
                      </a:lnTo>
                      <a:cubicBezTo>
                        <a:pt x="104847" y="0"/>
                        <a:pt x="119062" y="14215"/>
                        <a:pt x="119062" y="31750"/>
                      </a:cubicBezTo>
                      <a:cubicBezTo>
                        <a:pt x="119062" y="49285"/>
                        <a:pt x="104847" y="63500"/>
                        <a:pt x="87312" y="63500"/>
                      </a:cubicBezTo>
                      <a:lnTo>
                        <a:pt x="79375" y="63500"/>
                      </a:lnTo>
                    </a:path>
                  </a:pathLst>
                </a:custGeom>
                <a:noFill/>
                <a:ln w="15875">
                  <a:solidFill>
                    <a:srgbClr val="92301C"/>
                  </a:solidFill>
                </a:ln>
              </p:spPr>
            </p:sp>
          </p:grpSp>
          <p:sp>
            <p:nvSpPr>
              <p:cNvPr id="251" name="TextBox 251"/>
              <p:cNvSpPr txBox="1"/>
              <p:nvPr/>
            </p:nvSpPr>
            <p:spPr>
              <a:xfrm>
                <a:off x="6434138" y="5406866"/>
                <a:ext cx="340690"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可回滚</a:t>
                </a:r>
              </a:p>
            </p:txBody>
          </p:sp>
          <p:sp>
            <p:nvSpPr>
              <p:cNvPr id="252" name="TextBox 252"/>
              <p:cNvSpPr txBox="1"/>
              <p:nvPr/>
            </p:nvSpPr>
            <p:spPr>
              <a:xfrm>
                <a:off x="6205538" y="562165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保留历史版本</a:t>
                </a:r>
              </a:p>
            </p:txBody>
          </p:sp>
          <p:sp>
            <p:nvSpPr>
              <p:cNvPr id="253" name="TextBox 253"/>
              <p:cNvSpPr txBox="1"/>
              <p:nvPr/>
            </p:nvSpPr>
            <p:spPr>
              <a:xfrm>
                <a:off x="6205538" y="575500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支持快速回退</a:t>
                </a:r>
              </a:p>
            </p:txBody>
          </p:sp>
        </p:grpSp>
        <p:sp>
          <p:nvSpPr>
            <p:cNvPr id="255" name="Line 255"/>
            <p:cNvSpPr/>
            <p:nvPr/>
          </p:nvSpPr>
          <p:spPr>
            <a:xfrm>
              <a:off x="7677150" y="5353050"/>
              <a:ext cx="9525" cy="514350"/>
            </a:xfrm>
            <a:custGeom>
              <a:avLst/>
              <a:gdLst/>
              <a:ahLst/>
              <a:cxnLst/>
              <a:rect l="l" t="t" r="r" b="b"/>
              <a:pathLst>
                <a:path w="9525" h="514350">
                  <a:moveTo>
                    <a:pt x="0" y="0"/>
                  </a:moveTo>
                  <a:lnTo>
                    <a:pt x="0" y="514350"/>
                  </a:lnTo>
                </a:path>
              </a:pathLst>
            </a:custGeom>
            <a:noFill/>
            <a:ln w="9525">
              <a:solidFill>
                <a:srgbClr val="CFDFEE"/>
              </a:solidFill>
            </a:ln>
          </p:spPr>
        </p:sp>
        <p:grpSp>
          <p:nvGrpSpPr>
            <p:cNvPr id="262" name="cb-5"/>
            <p:cNvGrpSpPr/>
            <p:nvPr/>
          </p:nvGrpSpPr>
          <p:grpSpPr>
            <a:xfrm>
              <a:off x="7786688" y="5400675"/>
              <a:ext cx="679679" cy="473392"/>
              <a:chOff x="7786688" y="5400675"/>
              <a:chExt cx="679679" cy="473392"/>
            </a:xfrm>
          </p:grpSpPr>
          <p:grpSp>
            <p:nvGrpSpPr>
              <p:cNvPr id="258" name="Group 258"/>
              <p:cNvGrpSpPr/>
              <p:nvPr/>
            </p:nvGrpSpPr>
            <p:grpSpPr>
              <a:xfrm>
                <a:off x="7796212" y="5400675"/>
                <a:ext cx="142875" cy="95250"/>
                <a:chOff x="7796212" y="5400675"/>
                <a:chExt cx="142875" cy="95250"/>
              </a:xfrm>
            </p:grpSpPr>
            <p:sp>
              <p:nvSpPr>
                <p:cNvPr id="256" name="Freeform 256"/>
                <p:cNvSpPr/>
                <p:nvPr/>
              </p:nvSpPr>
              <p:spPr>
                <a:xfrm>
                  <a:off x="7851775" y="543242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2301C"/>
                  </a:solidFill>
                </a:ln>
              </p:spPr>
            </p:sp>
            <p:sp>
              <p:nvSpPr>
                <p:cNvPr id="257" name="Freeform 257"/>
                <p:cNvSpPr/>
                <p:nvPr/>
              </p:nvSpPr>
              <p:spPr>
                <a:xfrm>
                  <a:off x="7796212" y="5400675"/>
                  <a:ext cx="142875" cy="95250"/>
                </a:xfrm>
                <a:custGeom>
                  <a:avLst/>
                  <a:gdLst/>
                  <a:ahLst/>
                  <a:cxnLst/>
                  <a:rect l="l" t="t" r="r" b="b"/>
                  <a:pathLst>
                    <a:path w="142875" h="95250">
                      <a:moveTo>
                        <a:pt x="142875" y="47625"/>
                      </a:moveTo>
                      <a:cubicBezTo>
                        <a:pt x="123825" y="79375"/>
                        <a:pt x="100012" y="95250"/>
                        <a:pt x="71437" y="95250"/>
                      </a:cubicBezTo>
                      <a:cubicBezTo>
                        <a:pt x="42862" y="95250"/>
                        <a:pt x="19050" y="79375"/>
                        <a:pt x="0" y="47625"/>
                      </a:cubicBezTo>
                      <a:cubicBezTo>
                        <a:pt x="19050" y="15875"/>
                        <a:pt x="42862" y="0"/>
                        <a:pt x="71437" y="0"/>
                      </a:cubicBezTo>
                      <a:cubicBezTo>
                        <a:pt x="100012" y="0"/>
                        <a:pt x="123825" y="15875"/>
                        <a:pt x="142875" y="47625"/>
                      </a:cubicBezTo>
                    </a:path>
                  </a:pathLst>
                </a:custGeom>
                <a:noFill/>
                <a:ln w="15875">
                  <a:solidFill>
                    <a:srgbClr val="92301C"/>
                  </a:solidFill>
                </a:ln>
              </p:spPr>
            </p:sp>
          </p:grpSp>
          <p:sp>
            <p:nvSpPr>
              <p:cNvPr id="259" name="TextBox 259"/>
              <p:cNvSpPr txBox="1"/>
              <p:nvPr/>
            </p:nvSpPr>
            <p:spPr>
              <a:xfrm>
                <a:off x="8015288" y="5406866"/>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全程审计</a:t>
                </a:r>
              </a:p>
            </p:txBody>
          </p:sp>
          <p:sp>
            <p:nvSpPr>
              <p:cNvPr id="260" name="TextBox 260"/>
              <p:cNvSpPr txBox="1"/>
              <p:nvPr/>
            </p:nvSpPr>
            <p:spPr>
              <a:xfrm>
                <a:off x="7786688" y="5621655"/>
                <a:ext cx="655701"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记录完整操作轨迹</a:t>
                </a:r>
              </a:p>
            </p:txBody>
          </p:sp>
          <p:sp>
            <p:nvSpPr>
              <p:cNvPr id="261" name="TextBox 261"/>
              <p:cNvSpPr txBox="1"/>
              <p:nvPr/>
            </p:nvSpPr>
            <p:spPr>
              <a:xfrm>
                <a:off x="7786688" y="5755005"/>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支持监督检查</a:t>
                </a:r>
              </a:p>
            </p:txBody>
          </p:sp>
        </p:grpSp>
        <p:sp>
          <p:nvSpPr>
            <p:cNvPr id="263" name="Rectangle 263"/>
            <p:cNvSpPr/>
            <p:nvPr/>
          </p:nvSpPr>
          <p:spPr>
            <a:xfrm>
              <a:off x="9372600" y="5314950"/>
              <a:ext cx="2571750" cy="590550"/>
            </a:xfrm>
            <a:prstGeom prst="roundRect">
              <a:avLst>
                <a:gd name="adj" fmla="val 9677"/>
              </a:avLst>
            </a:prstGeom>
            <a:solidFill>
              <a:srgbClr val="EEF5FB"/>
            </a:solidFill>
            <a:ln w="9525">
              <a:solidFill>
                <a:srgbClr val="92301C"/>
              </a:solidFill>
            </a:ln>
          </p:spPr>
        </p:sp>
        <p:grpSp>
          <p:nvGrpSpPr>
            <p:cNvPr id="270" name="Group 270"/>
            <p:cNvGrpSpPr/>
            <p:nvPr/>
          </p:nvGrpSpPr>
          <p:grpSpPr>
            <a:xfrm>
              <a:off x="9522619" y="5503069"/>
              <a:ext cx="214312" cy="214312"/>
              <a:chOff x="9522619" y="5503069"/>
              <a:chExt cx="214312" cy="214312"/>
            </a:xfrm>
          </p:grpSpPr>
          <p:sp>
            <p:nvSpPr>
              <p:cNvPr id="264" name="Freeform 264"/>
              <p:cNvSpPr/>
              <p:nvPr/>
            </p:nvSpPr>
            <p:spPr>
              <a:xfrm>
                <a:off x="9605962" y="559831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92301C"/>
                </a:solidFill>
              </a:ln>
            </p:spPr>
          </p:sp>
          <p:sp>
            <p:nvSpPr>
              <p:cNvPr id="265" name="Freeform 265"/>
              <p:cNvSpPr/>
              <p:nvPr/>
            </p:nvSpPr>
            <p:spPr>
              <a:xfrm>
                <a:off x="9582150" y="5681662"/>
                <a:ext cx="95250" cy="35719"/>
              </a:xfrm>
              <a:custGeom>
                <a:avLst/>
                <a:gdLst/>
                <a:ahLst/>
                <a:cxnLst/>
                <a:rect l="l" t="t" r="r" b="b"/>
                <a:pathLst>
                  <a:path w="95250" h="35719">
                    <a:moveTo>
                      <a:pt x="0" y="35719"/>
                    </a:moveTo>
                    <a:lnTo>
                      <a:pt x="0" y="23812"/>
                    </a:lnTo>
                    <a:cubicBezTo>
                      <a:pt x="0" y="10661"/>
                      <a:pt x="10661" y="0"/>
                      <a:pt x="23812" y="0"/>
                    </a:cubicBezTo>
                    <a:lnTo>
                      <a:pt x="71438" y="0"/>
                    </a:lnTo>
                    <a:cubicBezTo>
                      <a:pt x="84589" y="0"/>
                      <a:pt x="95250" y="10661"/>
                      <a:pt x="95250" y="23812"/>
                    </a:cubicBezTo>
                    <a:lnTo>
                      <a:pt x="95250" y="35719"/>
                    </a:lnTo>
                  </a:path>
                </a:pathLst>
              </a:custGeom>
              <a:noFill/>
              <a:ln w="23812">
                <a:solidFill>
                  <a:srgbClr val="92301C"/>
                </a:solidFill>
              </a:ln>
            </p:spPr>
          </p:sp>
          <p:sp>
            <p:nvSpPr>
              <p:cNvPr id="266" name="Freeform 266"/>
              <p:cNvSpPr/>
              <p:nvPr/>
            </p:nvSpPr>
            <p:spPr>
              <a:xfrm>
                <a:off x="9665494" y="550306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92301C"/>
                </a:solidFill>
              </a:ln>
            </p:spPr>
          </p:sp>
          <p:sp>
            <p:nvSpPr>
              <p:cNvPr id="267" name="Freeform 267"/>
              <p:cNvSpPr/>
              <p:nvPr/>
            </p:nvSpPr>
            <p:spPr>
              <a:xfrm>
                <a:off x="9689306" y="5586412"/>
                <a:ext cx="47625" cy="35719"/>
              </a:xfrm>
              <a:custGeom>
                <a:avLst/>
                <a:gdLst/>
                <a:ahLst/>
                <a:cxnLst/>
                <a:rect l="l" t="t" r="r" b="b"/>
                <a:pathLst>
                  <a:path w="47625" h="35719">
                    <a:moveTo>
                      <a:pt x="0" y="0"/>
                    </a:moveTo>
                    <a:lnTo>
                      <a:pt x="23812" y="0"/>
                    </a:lnTo>
                    <a:cubicBezTo>
                      <a:pt x="36964" y="0"/>
                      <a:pt x="47625" y="10661"/>
                      <a:pt x="47625" y="23812"/>
                    </a:cubicBezTo>
                    <a:lnTo>
                      <a:pt x="47625" y="35719"/>
                    </a:lnTo>
                  </a:path>
                </a:pathLst>
              </a:custGeom>
              <a:noFill/>
              <a:ln w="23812">
                <a:solidFill>
                  <a:srgbClr val="92301C"/>
                </a:solidFill>
              </a:ln>
            </p:spPr>
          </p:sp>
          <p:sp>
            <p:nvSpPr>
              <p:cNvPr id="268" name="Freeform 268"/>
              <p:cNvSpPr/>
              <p:nvPr/>
            </p:nvSpPr>
            <p:spPr>
              <a:xfrm>
                <a:off x="9546431" y="550306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92301C"/>
                </a:solidFill>
              </a:ln>
            </p:spPr>
          </p:sp>
          <p:sp>
            <p:nvSpPr>
              <p:cNvPr id="269" name="Freeform 269"/>
              <p:cNvSpPr/>
              <p:nvPr/>
            </p:nvSpPr>
            <p:spPr>
              <a:xfrm>
                <a:off x="9522619" y="5586412"/>
                <a:ext cx="47625" cy="35719"/>
              </a:xfrm>
              <a:custGeom>
                <a:avLst/>
                <a:gdLst/>
                <a:ahLst/>
                <a:cxnLst/>
                <a:rect l="l" t="t" r="r" b="b"/>
                <a:pathLst>
                  <a:path w="47625" h="35719">
                    <a:moveTo>
                      <a:pt x="0" y="35719"/>
                    </a:moveTo>
                    <a:lnTo>
                      <a:pt x="0" y="23812"/>
                    </a:lnTo>
                    <a:cubicBezTo>
                      <a:pt x="0" y="10661"/>
                      <a:pt x="10661" y="0"/>
                      <a:pt x="23812" y="0"/>
                    </a:cubicBezTo>
                    <a:lnTo>
                      <a:pt x="47625" y="0"/>
                    </a:lnTo>
                  </a:path>
                </a:pathLst>
              </a:custGeom>
              <a:noFill/>
              <a:ln w="23812">
                <a:solidFill>
                  <a:srgbClr val="92301C"/>
                </a:solidFill>
              </a:ln>
            </p:spPr>
          </p:sp>
        </p:grpSp>
        <p:sp>
          <p:nvSpPr>
            <p:cNvPr id="271" name="TextBox 271"/>
            <p:cNvSpPr txBox="1"/>
            <p:nvPr/>
          </p:nvSpPr>
          <p:spPr>
            <a:xfrm>
              <a:off x="9882188" y="5446395"/>
              <a:ext cx="1221105"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资金划转必须双人复核</a:t>
              </a:r>
            </a:p>
          </p:txBody>
        </p:sp>
        <p:sp>
          <p:nvSpPr>
            <p:cNvPr id="272" name="TextBox 272"/>
            <p:cNvSpPr txBox="1"/>
            <p:nvPr/>
          </p:nvSpPr>
          <p:spPr>
            <a:xfrm>
              <a:off x="9882188" y="5665232"/>
              <a:ext cx="1301877"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重大金融决策必须由授权人员确认</a:t>
              </a:r>
            </a:p>
          </p:txBody>
        </p:sp>
      </p:grpSp>
      <p:grpSp>
        <p:nvGrpSpPr>
          <p:cNvPr id="294" name="kpi-band"/>
          <p:cNvGrpSpPr/>
          <p:nvPr/>
        </p:nvGrpSpPr>
        <p:grpSpPr>
          <a:xfrm>
            <a:off x="190500" y="6038850"/>
            <a:ext cx="11811000" cy="533400"/>
            <a:chOff x="190500" y="6038850"/>
            <a:chExt cx="11811000" cy="533400"/>
          </a:xfrm>
        </p:grpSpPr>
        <p:sp>
          <p:nvSpPr>
            <p:cNvPr id="274" name="Rectangle 274"/>
            <p:cNvSpPr/>
            <p:nvPr/>
          </p:nvSpPr>
          <p:spPr>
            <a:xfrm>
              <a:off x="190500" y="6038850"/>
              <a:ext cx="11811000" cy="533400"/>
            </a:xfrm>
            <a:prstGeom prst="roundRect">
              <a:avLst>
                <a:gd name="adj" fmla="val 10714"/>
              </a:avLst>
            </a:prstGeom>
            <a:solidFill>
              <a:srgbClr val="EEF5FB"/>
            </a:solidFill>
            <a:ln>
              <a:noFill/>
            </a:ln>
          </p:spPr>
        </p:sp>
        <p:sp>
          <p:nvSpPr>
            <p:cNvPr id="275" name="TextBox 275"/>
            <p:cNvSpPr txBox="1"/>
            <p:nvPr/>
          </p:nvSpPr>
          <p:spPr>
            <a:xfrm>
              <a:off x="318516" y="6249352"/>
              <a:ext cx="1214171" cy="205359"/>
            </a:xfrm>
            <a:prstGeom prst="rect">
              <a:avLst/>
            </a:prstGeom>
            <a:noFill/>
            <a:ln>
              <a:noFill/>
            </a:ln>
          </p:spPr>
          <p:txBody>
            <a:bodyPr wrap="none" lIns="0" tIns="0" rIns="0" bIns="0" anchor="t" anchorCtr="0">
              <a:spAutoFit/>
            </a:bodyPr>
            <a:lstStyle/>
            <a:p>
              <a:pPr algn="l"/>
              <a:r>
                <a:rPr lang="zh-CN" sz="1050" b="1" dirty="0">
                  <a:solidFill>
                    <a:srgbClr val="6B1B0B"/>
                  </a:solidFill>
                  <a:latin typeface="+mn-lt"/>
                  <a:ea typeface="+mn-ea"/>
                  <a:cs typeface="+mn-cs"/>
                </a:rPr>
                <a:t>关键成效</a:t>
              </a:r>
              <a:r>
                <a:rPr lang="zh-CN" sz="790" dirty="0">
                  <a:solidFill>
                    <a:srgbClr val="8C716B"/>
                  </a:solidFill>
                  <a:latin typeface="+mn-lt"/>
                  <a:ea typeface="+mn-ea"/>
                  <a:cs typeface="+mn-cs"/>
                </a:rPr>
                <a:t>（示例测算）</a:t>
              </a:r>
            </a:p>
          </p:txBody>
        </p:sp>
        <p:sp>
          <p:nvSpPr>
            <p:cNvPr id="276" name="Line 276"/>
            <p:cNvSpPr/>
            <p:nvPr/>
          </p:nvSpPr>
          <p:spPr>
            <a:xfrm>
              <a:off x="2095500" y="6153150"/>
              <a:ext cx="9525" cy="304800"/>
            </a:xfrm>
            <a:custGeom>
              <a:avLst/>
              <a:gdLst/>
              <a:ahLst/>
              <a:cxnLst/>
              <a:rect l="l" t="t" r="r" b="b"/>
              <a:pathLst>
                <a:path w="9525" h="304800">
                  <a:moveTo>
                    <a:pt x="0" y="0"/>
                  </a:moveTo>
                  <a:lnTo>
                    <a:pt x="0" y="304800"/>
                  </a:lnTo>
                </a:path>
              </a:pathLst>
            </a:custGeom>
            <a:noFill/>
            <a:ln w="9525">
              <a:solidFill>
                <a:srgbClr val="CFDFEE"/>
              </a:solidFill>
            </a:ln>
          </p:spPr>
        </p:sp>
        <p:sp>
          <p:nvSpPr>
            <p:cNvPr id="277" name="Ellipse 277"/>
            <p:cNvSpPr/>
            <p:nvPr/>
          </p:nvSpPr>
          <p:spPr>
            <a:xfrm>
              <a:off x="2295525" y="6162675"/>
              <a:ext cx="285750" cy="285750"/>
            </a:xfrm>
            <a:prstGeom prst="ellipse">
              <a:avLst/>
            </a:prstGeom>
            <a:solidFill>
              <a:srgbClr val="92301C"/>
            </a:solidFill>
            <a:ln>
              <a:noFill/>
            </a:ln>
          </p:spPr>
        </p:sp>
        <p:grpSp>
          <p:nvGrpSpPr>
            <p:cNvPr id="280" name="Group 280"/>
            <p:cNvGrpSpPr/>
            <p:nvPr/>
          </p:nvGrpSpPr>
          <p:grpSpPr>
            <a:xfrm>
              <a:off x="2366962" y="6234112"/>
              <a:ext cx="142875" cy="142875"/>
              <a:chOff x="2366962" y="6234112"/>
              <a:chExt cx="142875" cy="142875"/>
            </a:xfrm>
          </p:grpSpPr>
          <p:sp>
            <p:nvSpPr>
              <p:cNvPr id="278" name="Freeform 278"/>
              <p:cNvSpPr/>
              <p:nvPr/>
            </p:nvSpPr>
            <p:spPr>
              <a:xfrm>
                <a:off x="2366962" y="62341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sp>
            <p:nvSpPr>
              <p:cNvPr id="279" name="Freeform 279"/>
              <p:cNvSpPr/>
              <p:nvPr/>
            </p:nvSpPr>
            <p:spPr>
              <a:xfrm>
                <a:off x="2438400" y="6265862"/>
                <a:ext cx="23812" cy="63500"/>
              </a:xfrm>
              <a:custGeom>
                <a:avLst/>
                <a:gdLst/>
                <a:ahLst/>
                <a:cxnLst/>
                <a:rect l="l" t="t" r="r" b="b"/>
                <a:pathLst>
                  <a:path w="23812" h="63500">
                    <a:moveTo>
                      <a:pt x="0" y="0"/>
                    </a:moveTo>
                    <a:lnTo>
                      <a:pt x="0" y="39687"/>
                    </a:lnTo>
                    <a:lnTo>
                      <a:pt x="23812" y="63500"/>
                    </a:lnTo>
                  </a:path>
                </a:pathLst>
              </a:custGeom>
              <a:noFill/>
              <a:ln w="15875">
                <a:solidFill>
                  <a:srgbClr val="FFFFFF"/>
                </a:solidFill>
              </a:ln>
            </p:spPr>
          </p:sp>
        </p:grpSp>
        <p:sp>
          <p:nvSpPr>
            <p:cNvPr id="281" name="TextBox 281"/>
            <p:cNvSpPr txBox="1"/>
            <p:nvPr/>
          </p:nvSpPr>
          <p:spPr>
            <a:xfrm>
              <a:off x="2700338" y="6261497"/>
              <a:ext cx="515696" cy="183356"/>
            </a:xfrm>
            <a:prstGeom prst="rect">
              <a:avLst/>
            </a:prstGeom>
            <a:noFill/>
            <a:ln>
              <a:noFill/>
            </a:ln>
          </p:spPr>
          <p:txBody>
            <a:bodyPr wrap="none" lIns="0" tIns="0" rIns="0" bIns="0" anchor="t" anchorCtr="0">
              <a:spAutoFit/>
            </a:bodyPr>
            <a:lstStyle/>
            <a:p>
              <a:pPr algn="l"/>
              <a:r>
                <a:rPr lang="zh-CN" sz="940" b="1" dirty="0">
                  <a:solidFill>
                    <a:srgbClr val="52352F"/>
                  </a:solidFill>
                  <a:latin typeface="+mn-lt"/>
                  <a:ea typeface="+mn-ea"/>
                  <a:cs typeface="+mn-cs"/>
                </a:rPr>
                <a:t>流程时长</a:t>
              </a:r>
            </a:p>
          </p:txBody>
        </p:sp>
        <p:sp>
          <p:nvSpPr>
            <p:cNvPr id="282" name="TextBox 282"/>
            <p:cNvSpPr txBox="1"/>
            <p:nvPr/>
          </p:nvSpPr>
          <p:spPr>
            <a:xfrm>
              <a:off x="3323844" y="619029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-40%　</a:t>
              </a:r>
            </a:p>
          </p:txBody>
        </p:sp>
        <p:sp>
          <p:nvSpPr>
            <p:cNvPr id="283" name="TextBox 283"/>
            <p:cNvSpPr txBox="1"/>
            <p:nvPr/>
          </p:nvSpPr>
          <p:spPr>
            <a:xfrm>
              <a:off x="4186238" y="628578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284" name="Line 284"/>
            <p:cNvSpPr/>
            <p:nvPr/>
          </p:nvSpPr>
          <p:spPr>
            <a:xfrm>
              <a:off x="5905500" y="6153150"/>
              <a:ext cx="9525" cy="304800"/>
            </a:xfrm>
            <a:custGeom>
              <a:avLst/>
              <a:gdLst/>
              <a:ahLst/>
              <a:cxnLst/>
              <a:rect l="l" t="t" r="r" b="b"/>
              <a:pathLst>
                <a:path w="9525" h="304800">
                  <a:moveTo>
                    <a:pt x="0" y="0"/>
                  </a:moveTo>
                  <a:lnTo>
                    <a:pt x="0" y="304800"/>
                  </a:lnTo>
                </a:path>
              </a:pathLst>
            </a:custGeom>
            <a:noFill/>
            <a:ln w="9525">
              <a:solidFill>
                <a:srgbClr val="CFDFEE"/>
              </a:solidFill>
            </a:ln>
          </p:spPr>
        </p:sp>
        <p:sp>
          <p:nvSpPr>
            <p:cNvPr id="285" name="Ellipse 285"/>
            <p:cNvSpPr/>
            <p:nvPr/>
          </p:nvSpPr>
          <p:spPr>
            <a:xfrm>
              <a:off x="6105525" y="6162675"/>
              <a:ext cx="285750" cy="285750"/>
            </a:xfrm>
            <a:prstGeom prst="ellipse">
              <a:avLst/>
            </a:prstGeom>
            <a:solidFill>
              <a:srgbClr val="92301C"/>
            </a:solidFill>
            <a:ln>
              <a:noFill/>
            </a:ln>
          </p:spPr>
        </p:sp>
        <p:grpSp>
          <p:nvGrpSpPr>
            <p:cNvPr id="290" name="Group 290"/>
            <p:cNvGrpSpPr/>
            <p:nvPr/>
          </p:nvGrpSpPr>
          <p:grpSpPr>
            <a:xfrm>
              <a:off x="6176962" y="6242050"/>
              <a:ext cx="142875" cy="136525"/>
              <a:chOff x="6176962" y="6242050"/>
              <a:chExt cx="142875" cy="136525"/>
            </a:xfrm>
          </p:grpSpPr>
          <p:sp>
            <p:nvSpPr>
              <p:cNvPr id="286" name="Freeform 286"/>
              <p:cNvSpPr/>
              <p:nvPr/>
            </p:nvSpPr>
            <p:spPr>
              <a:xfrm>
                <a:off x="6176962" y="63055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287" name="Freeform 287"/>
              <p:cNvSpPr/>
              <p:nvPr/>
            </p:nvSpPr>
            <p:spPr>
              <a:xfrm>
                <a:off x="6272212" y="62738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288" name="Freeform 288"/>
              <p:cNvSpPr/>
              <p:nvPr/>
            </p:nvSpPr>
            <p:spPr>
              <a:xfrm>
                <a:off x="6224587" y="62420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289" name="Freeform 289"/>
              <p:cNvSpPr/>
              <p:nvPr/>
            </p:nvSpPr>
            <p:spPr>
              <a:xfrm>
                <a:off x="6184900" y="6369050"/>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291" name="TextBox 291"/>
            <p:cNvSpPr txBox="1"/>
            <p:nvPr/>
          </p:nvSpPr>
          <p:spPr>
            <a:xfrm>
              <a:off x="6510338" y="6261497"/>
              <a:ext cx="389153" cy="183356"/>
            </a:xfrm>
            <a:prstGeom prst="rect">
              <a:avLst/>
            </a:prstGeom>
            <a:noFill/>
            <a:ln>
              <a:noFill/>
            </a:ln>
          </p:spPr>
          <p:txBody>
            <a:bodyPr wrap="none" lIns="0" tIns="0" rIns="0" bIns="0" anchor="t" anchorCtr="0">
              <a:spAutoFit/>
            </a:bodyPr>
            <a:lstStyle/>
            <a:p>
              <a:pPr algn="l"/>
              <a:r>
                <a:rPr lang="zh-CN" sz="940" b="1" dirty="0">
                  <a:solidFill>
                    <a:srgbClr val="52352F"/>
                  </a:solidFill>
                  <a:latin typeface="+mn-lt"/>
                  <a:ea typeface="+mn-ea"/>
                  <a:cs typeface="+mn-cs"/>
                </a:rPr>
                <a:t>差错率</a:t>
              </a:r>
            </a:p>
          </p:txBody>
        </p:sp>
        <p:sp>
          <p:nvSpPr>
            <p:cNvPr id="292" name="TextBox 292"/>
            <p:cNvSpPr txBox="1"/>
            <p:nvPr/>
          </p:nvSpPr>
          <p:spPr>
            <a:xfrm>
              <a:off x="7038594" y="619029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-30%　</a:t>
              </a:r>
            </a:p>
          </p:txBody>
        </p:sp>
        <p:sp>
          <p:nvSpPr>
            <p:cNvPr id="293" name="TextBox 293"/>
            <p:cNvSpPr txBox="1"/>
            <p:nvPr/>
          </p:nvSpPr>
          <p:spPr>
            <a:xfrm>
              <a:off x="7900988" y="628578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grpSp>
      <p:grpSp>
        <p:nvGrpSpPr>
          <p:cNvPr id="298" name="footer-band"/>
          <p:cNvGrpSpPr/>
          <p:nvPr/>
        </p:nvGrpSpPr>
        <p:grpSpPr>
          <a:xfrm>
            <a:off x="190500" y="6610350"/>
            <a:ext cx="11811000" cy="231457"/>
            <a:chOff x="190500" y="6610350"/>
            <a:chExt cx="11811000" cy="231457"/>
          </a:xfrm>
        </p:grpSpPr>
        <p:sp>
          <p:nvSpPr>
            <p:cNvPr id="295" name="Rectangle 295"/>
            <p:cNvSpPr/>
            <p:nvPr/>
          </p:nvSpPr>
          <p:spPr>
            <a:xfrm>
              <a:off x="190500" y="6610350"/>
              <a:ext cx="11811000" cy="228600"/>
            </a:xfrm>
            <a:prstGeom prst="roundRect">
              <a:avLst>
                <a:gd name="adj" fmla="val 50000"/>
              </a:avLst>
            </a:prstGeom>
            <a:solidFill>
              <a:srgbClr val="EEF5FB"/>
            </a:solidFill>
            <a:ln>
              <a:noFill/>
            </a:ln>
          </p:spPr>
        </p:sp>
        <p:sp>
          <p:nvSpPr>
            <p:cNvPr id="296" name="Line 296"/>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297" name="TextBox 297"/>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14</a:t>
              </a:r>
            </a:p>
          </p:txBody>
        </p:sp>
      </p:gr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14</a:t>
              </a:r>
            </a:p>
          </p:txBody>
        </p:sp>
        <p:sp>
          <p:nvSpPr>
            <p:cNvPr id="4" name="TextBox 4"/>
            <p:cNvSpPr txBox="1"/>
            <p:nvPr/>
          </p:nvSpPr>
          <p:spPr>
            <a:xfrm>
              <a:off x="942594" y="170498"/>
              <a:ext cx="2382393"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财富内容合规智能体</a:t>
              </a:r>
            </a:p>
          </p:txBody>
        </p:sp>
        <p:sp>
          <p:nvSpPr>
            <p:cNvPr id="5" name="TextBox 5"/>
            <p:cNvSpPr txBox="1"/>
            <p:nvPr/>
          </p:nvSpPr>
          <p:spPr>
            <a:xfrm>
              <a:off x="10475935" y="238839"/>
              <a:ext cx="1530327"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合规为本 · 专业赋能 · 长期陪伴</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0" name="col1-head"/>
          <p:cNvGrpSpPr/>
          <p:nvPr/>
        </p:nvGrpSpPr>
        <p:grpSpPr>
          <a:xfrm>
            <a:off x="190500" y="628650"/>
            <a:ext cx="2114550" cy="279559"/>
            <a:chOff x="190500" y="628650"/>
            <a:chExt cx="2114550" cy="279559"/>
          </a:xfrm>
        </p:grpSpPr>
        <p:sp>
          <p:nvSpPr>
            <p:cNvPr id="8" name="Rectangle 8"/>
            <p:cNvSpPr/>
            <p:nvPr/>
          </p:nvSpPr>
          <p:spPr>
            <a:xfrm>
              <a:off x="190500" y="628650"/>
              <a:ext cx="2114550" cy="266700"/>
            </a:xfrm>
            <a:prstGeom prst="rect">
              <a:avLst/>
            </a:prstGeom>
            <a:gradFill>
              <a:gsLst>
                <a:gs pos="0">
                  <a:srgbClr val="92301C"/>
                </a:gs>
                <a:gs pos="100000">
                  <a:srgbClr val="B7533F"/>
                </a:gs>
              </a:gsLst>
              <a:lin ang="0" scaled="1"/>
            </a:gradFill>
            <a:ln>
              <a:noFill/>
            </a:ln>
          </p:spPr>
        </p:sp>
        <p:sp>
          <p:nvSpPr>
            <p:cNvPr id="9" name="TextBox 9"/>
            <p:cNvSpPr txBox="1"/>
            <p:nvPr/>
          </p:nvSpPr>
          <p:spPr>
            <a:xfrm>
              <a:off x="318135" y="688181"/>
              <a:ext cx="134686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知识源</a:t>
              </a:r>
              <a:r>
                <a:rPr lang="zh-CN" sz="820" dirty="0">
                  <a:solidFill>
                    <a:srgbClr val="FFFFFF"/>
                  </a:solidFill>
                  <a:latin typeface="+mn-lt"/>
                  <a:ea typeface="+mn-ea"/>
                  <a:cs typeface="+mn-cs"/>
                </a:rPr>
                <a:t>（结构化知识库）</a:t>
              </a:r>
            </a:p>
          </p:txBody>
        </p:sp>
      </p:grpSp>
      <p:grpSp>
        <p:nvGrpSpPr>
          <p:cNvPr id="13" name="col2-head"/>
          <p:cNvGrpSpPr/>
          <p:nvPr/>
        </p:nvGrpSpPr>
        <p:grpSpPr>
          <a:xfrm>
            <a:off x="2400300" y="628650"/>
            <a:ext cx="5334000" cy="279559"/>
            <a:chOff x="2400300" y="628650"/>
            <a:chExt cx="5334000" cy="279559"/>
          </a:xfrm>
        </p:grpSpPr>
        <p:sp>
          <p:nvSpPr>
            <p:cNvPr id="11" name="Rectangle 11"/>
            <p:cNvSpPr/>
            <p:nvPr/>
          </p:nvSpPr>
          <p:spPr>
            <a:xfrm>
              <a:off x="2400300" y="628650"/>
              <a:ext cx="5334000" cy="266700"/>
            </a:xfrm>
            <a:prstGeom prst="rect">
              <a:avLst/>
            </a:prstGeom>
            <a:gradFill>
              <a:gsLst>
                <a:gs pos="0">
                  <a:srgbClr val="92301C"/>
                </a:gs>
                <a:gs pos="100000">
                  <a:srgbClr val="B7533F"/>
                </a:gs>
              </a:gsLst>
              <a:lin ang="0" scaled="1"/>
            </a:gradFill>
            <a:ln>
              <a:noFill/>
            </a:ln>
          </p:spPr>
        </p:sp>
        <p:sp>
          <p:nvSpPr>
            <p:cNvPr id="12" name="TextBox 12"/>
            <p:cNvSpPr txBox="1"/>
            <p:nvPr/>
          </p:nvSpPr>
          <p:spPr>
            <a:xfrm>
              <a:off x="2527935" y="688181"/>
              <a:ext cx="166994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内容生成与合规校验链路</a:t>
              </a:r>
            </a:p>
          </p:txBody>
        </p:sp>
      </p:grpSp>
      <p:grpSp>
        <p:nvGrpSpPr>
          <p:cNvPr id="16" name="col3-head"/>
          <p:cNvGrpSpPr/>
          <p:nvPr/>
        </p:nvGrpSpPr>
        <p:grpSpPr>
          <a:xfrm>
            <a:off x="7829550" y="628650"/>
            <a:ext cx="4171950" cy="279559"/>
            <a:chOff x="7829550" y="628650"/>
            <a:chExt cx="4171950" cy="279559"/>
          </a:xfrm>
        </p:grpSpPr>
        <p:sp>
          <p:nvSpPr>
            <p:cNvPr id="14" name="Rectangle 14"/>
            <p:cNvSpPr/>
            <p:nvPr/>
          </p:nvSpPr>
          <p:spPr>
            <a:xfrm>
              <a:off x="7829550" y="628650"/>
              <a:ext cx="4171950" cy="266700"/>
            </a:xfrm>
            <a:prstGeom prst="rect">
              <a:avLst/>
            </a:prstGeom>
            <a:gradFill>
              <a:gsLst>
                <a:gs pos="0">
                  <a:srgbClr val="92301C"/>
                </a:gs>
                <a:gs pos="100000">
                  <a:srgbClr val="B7533F"/>
                </a:gs>
              </a:gsLst>
              <a:lin ang="0" scaled="1"/>
            </a:gradFill>
            <a:ln>
              <a:noFill/>
            </a:ln>
          </p:spPr>
        </p:sp>
        <p:sp>
          <p:nvSpPr>
            <p:cNvPr id="15" name="TextBox 15"/>
            <p:cNvSpPr txBox="1"/>
            <p:nvPr/>
          </p:nvSpPr>
          <p:spPr>
            <a:xfrm>
              <a:off x="7957185" y="688181"/>
              <a:ext cx="135763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禁用语热力图</a:t>
              </a:r>
              <a:r>
                <a:rPr lang="zh-CN" sz="820" dirty="0">
                  <a:solidFill>
                    <a:srgbClr val="FFFFFF"/>
                  </a:solidFill>
                  <a:latin typeface="+mn-lt"/>
                  <a:ea typeface="+mn-ea"/>
                  <a:cs typeface="+mn-cs"/>
                </a:rPr>
                <a:t>（示例）</a:t>
              </a:r>
            </a:p>
          </p:txBody>
        </p:sp>
      </p:grpSp>
      <p:grpSp>
        <p:nvGrpSpPr>
          <p:cNvPr id="65" name="left-cards"/>
          <p:cNvGrpSpPr/>
          <p:nvPr/>
        </p:nvGrpSpPr>
        <p:grpSpPr>
          <a:xfrm>
            <a:off x="190500" y="990600"/>
            <a:ext cx="2114550" cy="4038600"/>
            <a:chOff x="190500" y="990600"/>
            <a:chExt cx="2114550" cy="4038600"/>
          </a:xfrm>
        </p:grpSpPr>
        <p:grpSp>
          <p:nvGrpSpPr>
            <p:cNvPr id="27" name="lc-1"/>
            <p:cNvGrpSpPr/>
            <p:nvPr/>
          </p:nvGrpSpPr>
          <p:grpSpPr>
            <a:xfrm>
              <a:off x="190500" y="990600"/>
              <a:ext cx="2114550" cy="685800"/>
              <a:chOff x="190500" y="990600"/>
              <a:chExt cx="2114550" cy="685800"/>
            </a:xfrm>
          </p:grpSpPr>
          <p:sp>
            <p:nvSpPr>
              <p:cNvPr id="17" name="Rectangle 17"/>
              <p:cNvSpPr/>
              <p:nvPr/>
            </p:nvSpPr>
            <p:spPr>
              <a:xfrm>
                <a:off x="190500" y="990600"/>
                <a:ext cx="2114550" cy="685800"/>
              </a:xfrm>
              <a:prstGeom prst="roundRect">
                <a:avLst>
                  <a:gd name="adj" fmla="val 8333"/>
                </a:avLst>
              </a:prstGeom>
              <a:solidFill>
                <a:srgbClr val="F6F9FD"/>
              </a:solidFill>
              <a:ln w="9525">
                <a:solidFill>
                  <a:srgbClr val="CFDFEE"/>
                </a:solidFill>
              </a:ln>
            </p:spPr>
          </p:sp>
          <p:grpSp>
            <p:nvGrpSpPr>
              <p:cNvPr id="23" name="Group 23"/>
              <p:cNvGrpSpPr/>
              <p:nvPr/>
            </p:nvGrpSpPr>
            <p:grpSpPr>
              <a:xfrm>
                <a:off x="337344" y="1240631"/>
                <a:ext cx="144462" cy="185737"/>
                <a:chOff x="337344" y="1240631"/>
                <a:chExt cx="144462" cy="185737"/>
              </a:xfrm>
            </p:grpSpPr>
            <p:sp>
              <p:nvSpPr>
                <p:cNvPr id="18" name="Freeform 18"/>
                <p:cNvSpPr/>
                <p:nvPr/>
              </p:nvSpPr>
              <p:spPr>
                <a:xfrm>
                  <a:off x="430212" y="1240631"/>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92301C"/>
                  </a:solidFill>
                </a:ln>
              </p:spPr>
            </p:sp>
            <p:sp>
              <p:nvSpPr>
                <p:cNvPr id="19" name="Freeform 19"/>
                <p:cNvSpPr/>
                <p:nvPr/>
              </p:nvSpPr>
              <p:spPr>
                <a:xfrm>
                  <a:off x="337344" y="1240631"/>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92301C"/>
                  </a:solidFill>
                </a:ln>
              </p:spPr>
            </p:sp>
            <p:sp>
              <p:nvSpPr>
                <p:cNvPr id="20" name="Freeform 20"/>
                <p:cNvSpPr/>
                <p:nvPr/>
              </p:nvSpPr>
              <p:spPr>
                <a:xfrm>
                  <a:off x="378618" y="1302543"/>
                  <a:ext cx="10319" cy="9525"/>
                </a:xfrm>
                <a:custGeom>
                  <a:avLst/>
                  <a:gdLst/>
                  <a:ahLst/>
                  <a:cxnLst/>
                  <a:rect l="l" t="t" r="r" b="b"/>
                  <a:pathLst>
                    <a:path w="10319" h="9525">
                      <a:moveTo>
                        <a:pt x="0" y="0"/>
                      </a:moveTo>
                      <a:lnTo>
                        <a:pt x="10319" y="0"/>
                      </a:lnTo>
                    </a:path>
                  </a:pathLst>
                </a:custGeom>
                <a:noFill/>
                <a:ln w="20637">
                  <a:solidFill>
                    <a:srgbClr val="92301C"/>
                  </a:solidFill>
                </a:ln>
              </p:spPr>
            </p:sp>
            <p:sp>
              <p:nvSpPr>
                <p:cNvPr id="21" name="Freeform 21"/>
                <p:cNvSpPr/>
                <p:nvPr/>
              </p:nvSpPr>
              <p:spPr>
                <a:xfrm>
                  <a:off x="378618" y="1343818"/>
                  <a:ext cx="61912" cy="9525"/>
                </a:xfrm>
                <a:custGeom>
                  <a:avLst/>
                  <a:gdLst/>
                  <a:ahLst/>
                  <a:cxnLst/>
                  <a:rect l="l" t="t" r="r" b="b"/>
                  <a:pathLst>
                    <a:path w="61912" h="9525">
                      <a:moveTo>
                        <a:pt x="0" y="0"/>
                      </a:moveTo>
                      <a:lnTo>
                        <a:pt x="61912" y="0"/>
                      </a:lnTo>
                    </a:path>
                  </a:pathLst>
                </a:custGeom>
                <a:noFill/>
                <a:ln w="20637">
                  <a:solidFill>
                    <a:srgbClr val="92301C"/>
                  </a:solidFill>
                </a:ln>
              </p:spPr>
            </p:sp>
            <p:sp>
              <p:nvSpPr>
                <p:cNvPr id="22" name="Freeform 22"/>
                <p:cNvSpPr/>
                <p:nvPr/>
              </p:nvSpPr>
              <p:spPr>
                <a:xfrm>
                  <a:off x="378618" y="1385093"/>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24" name="TextBox 24"/>
              <p:cNvSpPr txBox="1"/>
              <p:nvPr/>
            </p:nvSpPr>
            <p:spPr>
              <a:xfrm>
                <a:off x="623888" y="1098947"/>
                <a:ext cx="642239"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产品说明书</a:t>
                </a:r>
              </a:p>
            </p:txBody>
          </p:sp>
          <p:sp>
            <p:nvSpPr>
              <p:cNvPr id="25" name="TextBox 25"/>
              <p:cNvSpPr txBox="1"/>
              <p:nvPr/>
            </p:nvSpPr>
            <p:spPr>
              <a:xfrm>
                <a:off x="623888" y="1298734"/>
                <a:ext cx="129110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产品要素、投资策略、费用结构</a:t>
                </a:r>
              </a:p>
            </p:txBody>
          </p:sp>
          <p:sp>
            <p:nvSpPr>
              <p:cNvPr id="26" name="TextBox 26"/>
              <p:cNvSpPr txBox="1"/>
              <p:nvPr/>
            </p:nvSpPr>
            <p:spPr>
              <a:xfrm>
                <a:off x="623888" y="1441609"/>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风险等级、适用客群</a:t>
                </a:r>
              </a:p>
            </p:txBody>
          </p:sp>
        </p:grpSp>
        <p:grpSp>
          <p:nvGrpSpPr>
            <p:cNvPr id="37" name="lc-2"/>
            <p:cNvGrpSpPr/>
            <p:nvPr/>
          </p:nvGrpSpPr>
          <p:grpSpPr>
            <a:xfrm>
              <a:off x="190500" y="1828800"/>
              <a:ext cx="2114550" cy="685800"/>
              <a:chOff x="190500" y="1828800"/>
              <a:chExt cx="2114550" cy="685800"/>
            </a:xfrm>
          </p:grpSpPr>
          <p:sp>
            <p:nvSpPr>
              <p:cNvPr id="28" name="Rectangle 28"/>
              <p:cNvSpPr/>
              <p:nvPr/>
            </p:nvSpPr>
            <p:spPr>
              <a:xfrm>
                <a:off x="190500" y="1828800"/>
                <a:ext cx="2114550" cy="685800"/>
              </a:xfrm>
              <a:prstGeom prst="roundRect">
                <a:avLst>
                  <a:gd name="adj" fmla="val 8333"/>
                </a:avLst>
              </a:prstGeom>
              <a:solidFill>
                <a:srgbClr val="F6F9FD"/>
              </a:solidFill>
              <a:ln w="9525">
                <a:solidFill>
                  <a:srgbClr val="CFDFEE"/>
                </a:solidFill>
              </a:ln>
            </p:spPr>
          </p:sp>
          <p:grpSp>
            <p:nvGrpSpPr>
              <p:cNvPr id="33" name="Group 33"/>
              <p:cNvGrpSpPr/>
              <p:nvPr/>
            </p:nvGrpSpPr>
            <p:grpSpPr>
              <a:xfrm>
                <a:off x="316706" y="2089150"/>
                <a:ext cx="185737" cy="174624"/>
                <a:chOff x="316706" y="2089150"/>
                <a:chExt cx="185737" cy="174624"/>
              </a:xfrm>
            </p:grpSpPr>
            <p:sp>
              <p:nvSpPr>
                <p:cNvPr id="29" name="Freeform 29"/>
                <p:cNvSpPr/>
                <p:nvPr/>
              </p:nvSpPr>
              <p:spPr>
                <a:xfrm>
                  <a:off x="316706" y="217170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92301C"/>
                  </a:solidFill>
                </a:ln>
              </p:spPr>
            </p:sp>
            <p:sp>
              <p:nvSpPr>
                <p:cNvPr id="30" name="Freeform 30"/>
                <p:cNvSpPr/>
                <p:nvPr/>
              </p:nvSpPr>
              <p:spPr>
                <a:xfrm>
                  <a:off x="440531" y="213042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92301C"/>
                  </a:solidFill>
                </a:ln>
              </p:spPr>
            </p:sp>
            <p:sp>
              <p:nvSpPr>
                <p:cNvPr id="31" name="Freeform 31"/>
                <p:cNvSpPr/>
                <p:nvPr/>
              </p:nvSpPr>
              <p:spPr>
                <a:xfrm>
                  <a:off x="378618" y="208915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92301C"/>
                  </a:solidFill>
                </a:ln>
              </p:spPr>
            </p:sp>
            <p:sp>
              <p:nvSpPr>
                <p:cNvPr id="32" name="Freeform 32"/>
                <p:cNvSpPr/>
                <p:nvPr/>
              </p:nvSpPr>
              <p:spPr>
                <a:xfrm>
                  <a:off x="327025" y="2254249"/>
                  <a:ext cx="144462" cy="9525"/>
                </a:xfrm>
                <a:custGeom>
                  <a:avLst/>
                  <a:gdLst/>
                  <a:ahLst/>
                  <a:cxnLst/>
                  <a:rect l="l" t="t" r="r" b="b"/>
                  <a:pathLst>
                    <a:path w="144462" h="9525">
                      <a:moveTo>
                        <a:pt x="0" y="0"/>
                      </a:moveTo>
                      <a:lnTo>
                        <a:pt x="144462" y="0"/>
                      </a:lnTo>
                    </a:path>
                  </a:pathLst>
                </a:custGeom>
                <a:noFill/>
                <a:ln w="20637">
                  <a:solidFill>
                    <a:srgbClr val="92301C"/>
                  </a:solidFill>
                </a:ln>
              </p:spPr>
            </p:sp>
          </p:grpSp>
          <p:sp>
            <p:nvSpPr>
              <p:cNvPr id="34" name="TextBox 34"/>
              <p:cNvSpPr txBox="1"/>
              <p:nvPr/>
            </p:nvSpPr>
            <p:spPr>
              <a:xfrm>
                <a:off x="623888" y="193714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市场数据</a:t>
                </a:r>
              </a:p>
            </p:txBody>
          </p:sp>
          <p:sp>
            <p:nvSpPr>
              <p:cNvPr id="35" name="TextBox 35"/>
              <p:cNvSpPr txBox="1"/>
              <p:nvPr/>
            </p:nvSpPr>
            <p:spPr>
              <a:xfrm>
                <a:off x="623888" y="2136934"/>
                <a:ext cx="129110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宏观经济、行业研究、资产表现</a:t>
                </a:r>
              </a:p>
            </p:txBody>
          </p:sp>
          <p:sp>
            <p:nvSpPr>
              <p:cNvPr id="36" name="TextBox 36"/>
              <p:cNvSpPr txBox="1"/>
              <p:nvPr/>
            </p:nvSpPr>
            <p:spPr>
              <a:xfrm>
                <a:off x="623888" y="2279809"/>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市场热点、数据图表</a:t>
                </a:r>
              </a:p>
            </p:txBody>
          </p:sp>
        </p:grpSp>
        <p:grpSp>
          <p:nvGrpSpPr>
            <p:cNvPr id="47" name="lc-3"/>
            <p:cNvGrpSpPr/>
            <p:nvPr/>
          </p:nvGrpSpPr>
          <p:grpSpPr>
            <a:xfrm>
              <a:off x="190500" y="2667000"/>
              <a:ext cx="2114550" cy="685800"/>
              <a:chOff x="190500" y="2667000"/>
              <a:chExt cx="2114550" cy="685800"/>
            </a:xfrm>
          </p:grpSpPr>
          <p:sp>
            <p:nvSpPr>
              <p:cNvPr id="38" name="Rectangle 38"/>
              <p:cNvSpPr/>
              <p:nvPr/>
            </p:nvSpPr>
            <p:spPr>
              <a:xfrm>
                <a:off x="190500" y="2667000"/>
                <a:ext cx="2114550" cy="685800"/>
              </a:xfrm>
              <a:prstGeom prst="roundRect">
                <a:avLst>
                  <a:gd name="adj" fmla="val 8333"/>
                </a:avLst>
              </a:prstGeom>
              <a:solidFill>
                <a:srgbClr val="F6F9FD"/>
              </a:solidFill>
              <a:ln w="9525">
                <a:solidFill>
                  <a:srgbClr val="CFDFEE"/>
                </a:solidFill>
              </a:ln>
            </p:spPr>
          </p:sp>
          <p:grpSp>
            <p:nvGrpSpPr>
              <p:cNvPr id="43" name="Group 43"/>
              <p:cNvGrpSpPr/>
              <p:nvPr/>
            </p:nvGrpSpPr>
            <p:grpSpPr>
              <a:xfrm>
                <a:off x="316706" y="2917031"/>
                <a:ext cx="185737" cy="185738"/>
                <a:chOff x="316706" y="2917031"/>
                <a:chExt cx="185737" cy="185738"/>
              </a:xfrm>
            </p:grpSpPr>
            <p:sp>
              <p:nvSpPr>
                <p:cNvPr id="39" name="Freeform 39"/>
                <p:cNvSpPr/>
                <p:nvPr/>
              </p:nvSpPr>
              <p:spPr>
                <a:xfrm>
                  <a:off x="337344" y="29170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2301C"/>
                  </a:solidFill>
                </a:ln>
              </p:spPr>
            </p:sp>
            <p:sp>
              <p:nvSpPr>
                <p:cNvPr id="40" name="Freeform 40"/>
                <p:cNvSpPr/>
                <p:nvPr/>
              </p:nvSpPr>
              <p:spPr>
                <a:xfrm>
                  <a:off x="316706" y="30408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92301C"/>
                  </a:solidFill>
                </a:ln>
              </p:spPr>
            </p:sp>
            <p:sp>
              <p:nvSpPr>
                <p:cNvPr id="41" name="Freeform 41"/>
                <p:cNvSpPr/>
                <p:nvPr/>
              </p:nvSpPr>
              <p:spPr>
                <a:xfrm>
                  <a:off x="450849" y="29183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92301C"/>
                  </a:solidFill>
                </a:ln>
              </p:spPr>
            </p:sp>
            <p:sp>
              <p:nvSpPr>
                <p:cNvPr id="42" name="Freeform 42"/>
                <p:cNvSpPr/>
                <p:nvPr/>
              </p:nvSpPr>
              <p:spPr>
                <a:xfrm>
                  <a:off x="471487" y="30424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92301C"/>
                  </a:solidFill>
                </a:ln>
              </p:spPr>
            </p:sp>
          </p:grpSp>
          <p:sp>
            <p:nvSpPr>
              <p:cNvPr id="44" name="TextBox 44"/>
              <p:cNvSpPr txBox="1"/>
              <p:nvPr/>
            </p:nvSpPr>
            <p:spPr>
              <a:xfrm>
                <a:off x="623888" y="277534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客群标签</a:t>
                </a:r>
              </a:p>
            </p:txBody>
          </p:sp>
          <p:sp>
            <p:nvSpPr>
              <p:cNvPr id="45" name="TextBox 45"/>
              <p:cNvSpPr txBox="1"/>
              <p:nvPr/>
            </p:nvSpPr>
            <p:spPr>
              <a:xfrm>
                <a:off x="623888" y="2975134"/>
                <a:ext cx="1291107"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年龄阶段、风险偏好、财务目标</a:t>
                </a:r>
              </a:p>
            </p:txBody>
          </p:sp>
          <p:sp>
            <p:nvSpPr>
              <p:cNvPr id="46" name="TextBox 46"/>
              <p:cNvSpPr txBox="1"/>
              <p:nvPr/>
            </p:nvSpPr>
            <p:spPr>
              <a:xfrm>
                <a:off x="623888" y="3118009"/>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投资经验、持仓特征</a:t>
                </a:r>
              </a:p>
            </p:txBody>
          </p:sp>
        </p:grpSp>
        <p:grpSp>
          <p:nvGrpSpPr>
            <p:cNvPr id="56" name="lc-4"/>
            <p:cNvGrpSpPr/>
            <p:nvPr/>
          </p:nvGrpSpPr>
          <p:grpSpPr>
            <a:xfrm>
              <a:off x="190500" y="3505200"/>
              <a:ext cx="2114550" cy="685800"/>
              <a:chOff x="190500" y="3505200"/>
              <a:chExt cx="2114550" cy="685800"/>
            </a:xfrm>
          </p:grpSpPr>
          <p:sp>
            <p:nvSpPr>
              <p:cNvPr id="48" name="Rectangle 48"/>
              <p:cNvSpPr/>
              <p:nvPr/>
            </p:nvSpPr>
            <p:spPr>
              <a:xfrm>
                <a:off x="190500" y="3505200"/>
                <a:ext cx="2114550" cy="685800"/>
              </a:xfrm>
              <a:prstGeom prst="roundRect">
                <a:avLst>
                  <a:gd name="adj" fmla="val 8333"/>
                </a:avLst>
              </a:prstGeom>
              <a:solidFill>
                <a:srgbClr val="F6F9FD"/>
              </a:solidFill>
              <a:ln w="9525">
                <a:solidFill>
                  <a:srgbClr val="CFDFEE"/>
                </a:solidFill>
              </a:ln>
            </p:spPr>
          </p:sp>
          <p:grpSp>
            <p:nvGrpSpPr>
              <p:cNvPr id="52" name="Group 52"/>
              <p:cNvGrpSpPr/>
              <p:nvPr/>
            </p:nvGrpSpPr>
            <p:grpSpPr>
              <a:xfrm>
                <a:off x="337344" y="3765550"/>
                <a:ext cx="144462" cy="165099"/>
                <a:chOff x="337344" y="3765550"/>
                <a:chExt cx="144462" cy="165099"/>
              </a:xfrm>
            </p:grpSpPr>
            <p:sp>
              <p:nvSpPr>
                <p:cNvPr id="49" name="Freeform 49"/>
                <p:cNvSpPr/>
                <p:nvPr/>
              </p:nvSpPr>
              <p:spPr>
                <a:xfrm>
                  <a:off x="337344" y="3765550"/>
                  <a:ext cx="144462" cy="165099"/>
                </a:xfrm>
                <a:custGeom>
                  <a:avLst/>
                  <a:gdLst/>
                  <a:ahLst/>
                  <a:cxnLst/>
                  <a:rect l="l" t="t" r="r" b="b"/>
                  <a:pathLst>
                    <a:path w="144462" h="165099">
                      <a:moveTo>
                        <a:pt x="144462" y="0"/>
                      </a:moveTo>
                      <a:lnTo>
                        <a:pt x="144462" y="165099"/>
                      </a:lnTo>
                      <a:lnTo>
                        <a:pt x="20637" y="165099"/>
                      </a:lnTo>
                      <a:cubicBezTo>
                        <a:pt x="9240" y="165099"/>
                        <a:pt x="0" y="155860"/>
                        <a:pt x="0" y="144462"/>
                      </a:cubicBezTo>
                      <a:lnTo>
                        <a:pt x="0" y="20637"/>
                      </a:lnTo>
                      <a:cubicBezTo>
                        <a:pt x="0" y="9240"/>
                        <a:pt x="9240" y="0"/>
                        <a:pt x="20637" y="0"/>
                      </a:cubicBezTo>
                      <a:lnTo>
                        <a:pt x="144462" y="0"/>
                      </a:lnTo>
                    </a:path>
                  </a:pathLst>
                </a:custGeom>
                <a:noFill/>
                <a:ln w="20637">
                  <a:solidFill>
                    <a:srgbClr val="92301C"/>
                  </a:solidFill>
                </a:ln>
              </p:spPr>
            </p:sp>
            <p:sp>
              <p:nvSpPr>
                <p:cNvPr id="50" name="Freeform 50"/>
                <p:cNvSpPr/>
                <p:nvPr/>
              </p:nvSpPr>
              <p:spPr>
                <a:xfrm>
                  <a:off x="337344" y="3889374"/>
                  <a:ext cx="144462" cy="20637"/>
                </a:xfrm>
                <a:custGeom>
                  <a:avLst/>
                  <a:gdLst/>
                  <a:ahLst/>
                  <a:cxnLst/>
                  <a:rect l="l" t="t" r="r" b="b"/>
                  <a:pathLst>
                    <a:path w="144462" h="20637">
                      <a:moveTo>
                        <a:pt x="144462" y="0"/>
                      </a:moveTo>
                      <a:lnTo>
                        <a:pt x="20637" y="0"/>
                      </a:lnTo>
                      <a:cubicBezTo>
                        <a:pt x="9240" y="0"/>
                        <a:pt x="0" y="9240"/>
                        <a:pt x="0" y="20637"/>
                      </a:cubicBezTo>
                    </a:path>
                  </a:pathLst>
                </a:custGeom>
                <a:noFill/>
                <a:ln w="20637">
                  <a:solidFill>
                    <a:srgbClr val="92301C"/>
                  </a:solidFill>
                </a:ln>
              </p:spPr>
            </p:sp>
            <p:sp>
              <p:nvSpPr>
                <p:cNvPr id="51" name="Freeform 51"/>
                <p:cNvSpPr/>
                <p:nvPr/>
              </p:nvSpPr>
              <p:spPr>
                <a:xfrm>
                  <a:off x="378618" y="3806825"/>
                  <a:ext cx="61912" cy="9525"/>
                </a:xfrm>
                <a:custGeom>
                  <a:avLst/>
                  <a:gdLst/>
                  <a:ahLst/>
                  <a:cxnLst/>
                  <a:rect l="l" t="t" r="r" b="b"/>
                  <a:pathLst>
                    <a:path w="61912" h="9525">
                      <a:moveTo>
                        <a:pt x="0" y="0"/>
                      </a:moveTo>
                      <a:lnTo>
                        <a:pt x="61912" y="0"/>
                      </a:lnTo>
                    </a:path>
                  </a:pathLst>
                </a:custGeom>
                <a:noFill/>
                <a:ln w="20637">
                  <a:solidFill>
                    <a:srgbClr val="92301C"/>
                  </a:solidFill>
                </a:ln>
              </p:spPr>
            </p:sp>
          </p:grpSp>
          <p:sp>
            <p:nvSpPr>
              <p:cNvPr id="53" name="TextBox 53"/>
              <p:cNvSpPr txBox="1"/>
              <p:nvPr/>
            </p:nvSpPr>
            <p:spPr>
              <a:xfrm>
                <a:off x="623888" y="3613547"/>
                <a:ext cx="389153"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合规库</a:t>
                </a:r>
              </a:p>
            </p:txBody>
          </p:sp>
          <p:sp>
            <p:nvSpPr>
              <p:cNvPr id="54" name="TextBox 54"/>
              <p:cNvSpPr txBox="1"/>
              <p:nvPr/>
            </p:nvSpPr>
            <p:spPr>
              <a:xfrm>
                <a:off x="623888" y="3813334"/>
                <a:ext cx="138264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监管法规、禁用词清单、合规表述</a:t>
                </a:r>
              </a:p>
            </p:txBody>
          </p:sp>
          <p:sp>
            <p:nvSpPr>
              <p:cNvPr id="55" name="TextBox 55"/>
              <p:cNvSpPr txBox="1"/>
              <p:nvPr/>
            </p:nvSpPr>
            <p:spPr>
              <a:xfrm>
                <a:off x="623888" y="3956209"/>
                <a:ext cx="741858"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稽查话术、案例库</a:t>
                </a:r>
              </a:p>
            </p:txBody>
          </p:sp>
        </p:grpSp>
        <p:grpSp>
          <p:nvGrpSpPr>
            <p:cNvPr id="64" name="lc-5"/>
            <p:cNvGrpSpPr/>
            <p:nvPr/>
          </p:nvGrpSpPr>
          <p:grpSpPr>
            <a:xfrm>
              <a:off x="190500" y="4343400"/>
              <a:ext cx="2114550" cy="685800"/>
              <a:chOff x="190500" y="4343400"/>
              <a:chExt cx="2114550" cy="685800"/>
            </a:xfrm>
          </p:grpSpPr>
          <p:sp>
            <p:nvSpPr>
              <p:cNvPr id="57" name="Rectangle 57"/>
              <p:cNvSpPr/>
              <p:nvPr/>
            </p:nvSpPr>
            <p:spPr>
              <a:xfrm>
                <a:off x="190500" y="4343400"/>
                <a:ext cx="2114550" cy="685800"/>
              </a:xfrm>
              <a:prstGeom prst="roundRect">
                <a:avLst>
                  <a:gd name="adj" fmla="val 8333"/>
                </a:avLst>
              </a:prstGeom>
              <a:solidFill>
                <a:srgbClr val="F6F9FD"/>
              </a:solidFill>
              <a:ln w="9525">
                <a:solidFill>
                  <a:srgbClr val="CFDFEE"/>
                </a:solidFill>
              </a:ln>
            </p:spPr>
          </p:sp>
          <p:grpSp>
            <p:nvGrpSpPr>
              <p:cNvPr id="60" name="Group 60"/>
              <p:cNvGrpSpPr/>
              <p:nvPr/>
            </p:nvGrpSpPr>
            <p:grpSpPr>
              <a:xfrm>
                <a:off x="302781" y="4593431"/>
                <a:ext cx="201506" cy="185737"/>
                <a:chOff x="302781" y="4593431"/>
                <a:chExt cx="201506" cy="185737"/>
              </a:xfrm>
            </p:grpSpPr>
            <p:sp>
              <p:nvSpPr>
                <p:cNvPr id="58" name="Freeform 58"/>
                <p:cNvSpPr/>
                <p:nvPr/>
              </p:nvSpPr>
              <p:spPr>
                <a:xfrm>
                  <a:off x="302781" y="4593431"/>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92301C"/>
                  </a:solidFill>
                </a:ln>
              </p:spPr>
            </p:sp>
            <p:sp>
              <p:nvSpPr>
                <p:cNvPr id="59" name="Freeform 59"/>
                <p:cNvSpPr/>
                <p:nvPr/>
              </p:nvSpPr>
              <p:spPr>
                <a:xfrm>
                  <a:off x="440531" y="4737893"/>
                  <a:ext cx="61912" cy="41275"/>
                </a:xfrm>
                <a:custGeom>
                  <a:avLst/>
                  <a:gdLst/>
                  <a:ahLst/>
                  <a:cxnLst/>
                  <a:rect l="l" t="t" r="r" b="b"/>
                  <a:pathLst>
                    <a:path w="61912" h="41275">
                      <a:moveTo>
                        <a:pt x="0" y="20637"/>
                      </a:moveTo>
                      <a:lnTo>
                        <a:pt x="20637" y="41275"/>
                      </a:lnTo>
                      <a:lnTo>
                        <a:pt x="61912" y="0"/>
                      </a:lnTo>
                    </a:path>
                  </a:pathLst>
                </a:custGeom>
                <a:noFill/>
                <a:ln w="20637">
                  <a:solidFill>
                    <a:srgbClr val="92301C"/>
                  </a:solidFill>
                </a:ln>
              </p:spPr>
            </p:sp>
          </p:grpSp>
          <p:sp>
            <p:nvSpPr>
              <p:cNvPr id="61" name="TextBox 61"/>
              <p:cNvSpPr txBox="1"/>
              <p:nvPr/>
            </p:nvSpPr>
            <p:spPr>
              <a:xfrm>
                <a:off x="623888" y="4451747"/>
                <a:ext cx="515696" cy="183356"/>
              </a:xfrm>
              <a:prstGeom prst="rect">
                <a:avLst/>
              </a:prstGeom>
              <a:noFill/>
              <a:ln>
                <a:noFill/>
              </a:ln>
            </p:spPr>
            <p:txBody>
              <a:bodyPr wrap="none" lIns="0" tIns="0" rIns="0" bIns="0" anchor="t" anchorCtr="0">
                <a:spAutoFit/>
              </a:bodyPr>
              <a:lstStyle/>
              <a:p>
                <a:pPr algn="l"/>
                <a:r>
                  <a:rPr lang="zh-CN" sz="940" b="1" dirty="0">
                    <a:solidFill>
                      <a:srgbClr val="6B1B0B"/>
                    </a:solidFill>
                    <a:latin typeface="+mn-lt"/>
                    <a:ea typeface="+mn-ea"/>
                    <a:cs typeface="+mn-cs"/>
                  </a:rPr>
                  <a:t>风险提示</a:t>
                </a:r>
              </a:p>
            </p:txBody>
          </p:sp>
          <p:sp>
            <p:nvSpPr>
              <p:cNvPr id="62" name="TextBox 62"/>
              <p:cNvSpPr txBox="1"/>
              <p:nvPr/>
            </p:nvSpPr>
            <p:spPr>
              <a:xfrm>
                <a:off x="623888" y="4651534"/>
                <a:ext cx="119956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风险提示要点、典型风险情形</a:t>
                </a:r>
              </a:p>
            </p:txBody>
          </p:sp>
          <p:sp>
            <p:nvSpPr>
              <p:cNvPr id="63" name="TextBox 63"/>
              <p:cNvSpPr txBox="1"/>
              <p:nvPr/>
            </p:nvSpPr>
            <p:spPr>
              <a:xfrm>
                <a:off x="623888" y="4794409"/>
                <a:ext cx="833399"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免责声明、披露要求</a:t>
                </a:r>
              </a:p>
            </p:txBody>
          </p:sp>
        </p:grpSp>
      </p:grpSp>
      <p:grpSp>
        <p:nvGrpSpPr>
          <p:cNvPr id="158" name="mid-chain"/>
          <p:cNvGrpSpPr/>
          <p:nvPr/>
        </p:nvGrpSpPr>
        <p:grpSpPr>
          <a:xfrm>
            <a:off x="2400300" y="990600"/>
            <a:ext cx="5334000" cy="3067050"/>
            <a:chOff x="2400300" y="990600"/>
            <a:chExt cx="5334000" cy="3067050"/>
          </a:xfrm>
        </p:grpSpPr>
        <p:sp>
          <p:nvSpPr>
            <p:cNvPr id="66" name="Freeform 66"/>
            <p:cNvSpPr/>
            <p:nvPr/>
          </p:nvSpPr>
          <p:spPr>
            <a:xfrm>
              <a:off x="2400300" y="990600"/>
              <a:ext cx="819150" cy="457200"/>
            </a:xfrm>
            <a:prstGeom prst="homePlate">
              <a:avLst>
                <a:gd name="adj" fmla="val 30000"/>
              </a:avLst>
            </a:prstGeom>
            <a:solidFill>
              <a:srgbClr val="BB5D4A"/>
            </a:solidFill>
            <a:ln>
              <a:noFill/>
            </a:ln>
          </p:spPr>
        </p:sp>
        <p:sp>
          <p:nvSpPr>
            <p:cNvPr id="67" name="Freeform 67"/>
            <p:cNvSpPr/>
            <p:nvPr/>
          </p:nvSpPr>
          <p:spPr>
            <a:xfrm>
              <a:off x="3133725" y="990600"/>
              <a:ext cx="819150" cy="457200"/>
            </a:xfrm>
            <a:prstGeom prst="chevron">
              <a:avLst>
                <a:gd name="adj" fmla="val 30000"/>
              </a:avLst>
            </a:prstGeom>
            <a:solidFill>
              <a:srgbClr val="B7533F"/>
            </a:solidFill>
            <a:ln>
              <a:noFill/>
            </a:ln>
          </p:spPr>
        </p:sp>
        <p:sp>
          <p:nvSpPr>
            <p:cNvPr id="68" name="Freeform 68"/>
            <p:cNvSpPr/>
            <p:nvPr/>
          </p:nvSpPr>
          <p:spPr>
            <a:xfrm>
              <a:off x="3867150" y="990600"/>
              <a:ext cx="819150" cy="457200"/>
            </a:xfrm>
            <a:prstGeom prst="chevron">
              <a:avLst>
                <a:gd name="adj" fmla="val 30000"/>
              </a:avLst>
            </a:prstGeom>
            <a:solidFill>
              <a:srgbClr val="AB4935"/>
            </a:solidFill>
            <a:ln>
              <a:noFill/>
            </a:ln>
          </p:spPr>
        </p:sp>
        <p:sp>
          <p:nvSpPr>
            <p:cNvPr id="69" name="Freeform 69"/>
            <p:cNvSpPr/>
            <p:nvPr/>
          </p:nvSpPr>
          <p:spPr>
            <a:xfrm>
              <a:off x="4600575" y="990600"/>
              <a:ext cx="819150" cy="457200"/>
            </a:xfrm>
            <a:prstGeom prst="chevron">
              <a:avLst>
                <a:gd name="adj" fmla="val 30000"/>
              </a:avLst>
            </a:prstGeom>
            <a:solidFill>
              <a:srgbClr val="9F3F2B"/>
            </a:solidFill>
            <a:ln>
              <a:noFill/>
            </a:ln>
          </p:spPr>
        </p:sp>
        <p:sp>
          <p:nvSpPr>
            <p:cNvPr id="70" name="Freeform 70"/>
            <p:cNvSpPr/>
            <p:nvPr/>
          </p:nvSpPr>
          <p:spPr>
            <a:xfrm>
              <a:off x="5334000" y="990600"/>
              <a:ext cx="819150" cy="457200"/>
            </a:xfrm>
            <a:prstGeom prst="chevron">
              <a:avLst>
                <a:gd name="adj" fmla="val 30000"/>
              </a:avLst>
            </a:prstGeom>
            <a:solidFill>
              <a:srgbClr val="963622"/>
            </a:solidFill>
            <a:ln>
              <a:noFill/>
            </a:ln>
          </p:spPr>
        </p:sp>
        <p:sp>
          <p:nvSpPr>
            <p:cNvPr id="71" name="Freeform 71"/>
            <p:cNvSpPr/>
            <p:nvPr/>
          </p:nvSpPr>
          <p:spPr>
            <a:xfrm>
              <a:off x="6067425" y="990600"/>
              <a:ext cx="819150" cy="457200"/>
            </a:xfrm>
            <a:prstGeom prst="chevron">
              <a:avLst>
                <a:gd name="adj" fmla="val 30000"/>
              </a:avLst>
            </a:prstGeom>
            <a:solidFill>
              <a:srgbClr val="92301C"/>
            </a:solidFill>
            <a:ln>
              <a:noFill/>
            </a:ln>
          </p:spPr>
        </p:sp>
        <p:sp>
          <p:nvSpPr>
            <p:cNvPr id="72" name="Freeform 72"/>
            <p:cNvSpPr/>
            <p:nvPr/>
          </p:nvSpPr>
          <p:spPr>
            <a:xfrm>
              <a:off x="6800850" y="990600"/>
              <a:ext cx="819150" cy="457200"/>
            </a:xfrm>
            <a:prstGeom prst="chevron">
              <a:avLst>
                <a:gd name="adj" fmla="val 30000"/>
              </a:avLst>
            </a:prstGeom>
            <a:solidFill>
              <a:srgbClr val="6B1B0B"/>
            </a:solidFill>
            <a:ln>
              <a:noFill/>
            </a:ln>
          </p:spPr>
        </p:sp>
        <p:grpSp>
          <p:nvGrpSpPr>
            <p:cNvPr id="80" name="mc-nums"/>
            <p:cNvGrpSpPr/>
            <p:nvPr/>
          </p:nvGrpSpPr>
          <p:grpSpPr>
            <a:xfrm>
              <a:off x="2706572" y="1051084"/>
              <a:ext cx="4559531" cy="133350"/>
              <a:chOff x="2706572" y="1051084"/>
              <a:chExt cx="4559531" cy="133350"/>
            </a:xfrm>
          </p:grpSpPr>
          <p:sp>
            <p:nvSpPr>
              <p:cNvPr id="73" name="TextBox 73"/>
              <p:cNvSpPr txBox="1"/>
              <p:nvPr/>
            </p:nvSpPr>
            <p:spPr>
              <a:xfrm>
                <a:off x="2706572" y="1051084"/>
                <a:ext cx="1113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01</a:t>
                </a:r>
              </a:p>
            </p:txBody>
          </p:sp>
          <p:sp>
            <p:nvSpPr>
              <p:cNvPr id="74" name="TextBox 74"/>
              <p:cNvSpPr txBox="1"/>
              <p:nvPr/>
            </p:nvSpPr>
            <p:spPr>
              <a:xfrm>
                <a:off x="3487622" y="1051084"/>
                <a:ext cx="1113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02</a:t>
                </a:r>
              </a:p>
            </p:txBody>
          </p:sp>
          <p:sp>
            <p:nvSpPr>
              <p:cNvPr id="75" name="TextBox 75"/>
              <p:cNvSpPr txBox="1"/>
              <p:nvPr/>
            </p:nvSpPr>
            <p:spPr>
              <a:xfrm>
                <a:off x="4221047" y="1051084"/>
                <a:ext cx="1113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03</a:t>
                </a:r>
              </a:p>
            </p:txBody>
          </p:sp>
          <p:sp>
            <p:nvSpPr>
              <p:cNvPr id="76" name="TextBox 76"/>
              <p:cNvSpPr txBox="1"/>
              <p:nvPr/>
            </p:nvSpPr>
            <p:spPr>
              <a:xfrm>
                <a:off x="4954472" y="1051084"/>
                <a:ext cx="1113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04</a:t>
                </a:r>
              </a:p>
            </p:txBody>
          </p:sp>
          <p:sp>
            <p:nvSpPr>
              <p:cNvPr id="77" name="TextBox 77"/>
              <p:cNvSpPr txBox="1"/>
              <p:nvPr/>
            </p:nvSpPr>
            <p:spPr>
              <a:xfrm>
                <a:off x="5687897" y="1051084"/>
                <a:ext cx="1113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05</a:t>
                </a:r>
              </a:p>
            </p:txBody>
          </p:sp>
          <p:sp>
            <p:nvSpPr>
              <p:cNvPr id="78" name="TextBox 78"/>
              <p:cNvSpPr txBox="1"/>
              <p:nvPr/>
            </p:nvSpPr>
            <p:spPr>
              <a:xfrm>
                <a:off x="6421322" y="1051084"/>
                <a:ext cx="1113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06</a:t>
                </a:r>
              </a:p>
            </p:txBody>
          </p:sp>
          <p:sp>
            <p:nvSpPr>
              <p:cNvPr id="79" name="TextBox 79"/>
              <p:cNvSpPr txBox="1"/>
              <p:nvPr/>
            </p:nvSpPr>
            <p:spPr>
              <a:xfrm>
                <a:off x="7154747" y="1051084"/>
                <a:ext cx="1113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07</a:t>
                </a:r>
              </a:p>
            </p:txBody>
          </p:sp>
        </p:grpSp>
        <p:grpSp>
          <p:nvGrpSpPr>
            <p:cNvPr id="109" name="mc-icons"/>
            <p:cNvGrpSpPr/>
            <p:nvPr/>
          </p:nvGrpSpPr>
          <p:grpSpPr>
            <a:xfrm>
              <a:off x="2690812" y="1204912"/>
              <a:ext cx="4583113" cy="142875"/>
              <a:chOff x="2690812" y="1204912"/>
              <a:chExt cx="4583113" cy="142875"/>
            </a:xfrm>
          </p:grpSpPr>
          <p:grpSp>
            <p:nvGrpSpPr>
              <p:cNvPr id="84" name="Group 84"/>
              <p:cNvGrpSpPr/>
              <p:nvPr/>
            </p:nvGrpSpPr>
            <p:grpSpPr>
              <a:xfrm>
                <a:off x="2690812" y="1204912"/>
                <a:ext cx="142875" cy="142875"/>
                <a:chOff x="2690812" y="1204912"/>
                <a:chExt cx="142875" cy="142875"/>
              </a:xfrm>
            </p:grpSpPr>
            <p:sp>
              <p:nvSpPr>
                <p:cNvPr id="81" name="Freeform 81"/>
                <p:cNvSpPr/>
                <p:nvPr/>
              </p:nvSpPr>
              <p:spPr>
                <a:xfrm>
                  <a:off x="2690812" y="1204912"/>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FFFFFF"/>
                  </a:solidFill>
                </a:ln>
              </p:spPr>
            </p:sp>
            <p:sp>
              <p:nvSpPr>
                <p:cNvPr id="82" name="Freeform 82"/>
                <p:cNvSpPr/>
                <p:nvPr/>
              </p:nvSpPr>
              <p:spPr>
                <a:xfrm>
                  <a:off x="2719197" y="1236662"/>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FFFFFF"/>
                  </a:solidFill>
                </a:ln>
              </p:spPr>
            </p:sp>
            <p:sp>
              <p:nvSpPr>
                <p:cNvPr id="83" name="Freeform 83"/>
                <p:cNvSpPr/>
                <p:nvPr/>
              </p:nvSpPr>
              <p:spPr>
                <a:xfrm>
                  <a:off x="2743994" y="1316037"/>
                  <a:ext cx="36512" cy="9525"/>
                </a:xfrm>
                <a:custGeom>
                  <a:avLst/>
                  <a:gdLst/>
                  <a:ahLst/>
                  <a:cxnLst/>
                  <a:rect l="l" t="t" r="r" b="b"/>
                  <a:pathLst>
                    <a:path w="36512" h="9525">
                      <a:moveTo>
                        <a:pt x="0" y="0"/>
                      </a:moveTo>
                      <a:lnTo>
                        <a:pt x="36512" y="0"/>
                      </a:lnTo>
                    </a:path>
                  </a:pathLst>
                </a:custGeom>
                <a:noFill/>
                <a:ln w="15875">
                  <a:solidFill>
                    <a:srgbClr val="FFFFFF"/>
                  </a:solidFill>
                </a:ln>
              </p:spPr>
            </p:sp>
          </p:grpSp>
          <p:grpSp>
            <p:nvGrpSpPr>
              <p:cNvPr id="88" name="Group 88"/>
              <p:cNvGrpSpPr/>
              <p:nvPr/>
            </p:nvGrpSpPr>
            <p:grpSpPr>
              <a:xfrm>
                <a:off x="3479800" y="1204912"/>
                <a:ext cx="127000" cy="142875"/>
                <a:chOff x="3479800" y="1204912"/>
                <a:chExt cx="127000" cy="142875"/>
              </a:xfrm>
            </p:grpSpPr>
            <p:sp>
              <p:nvSpPr>
                <p:cNvPr id="85" name="Freeform 85"/>
                <p:cNvSpPr/>
                <p:nvPr/>
              </p:nvSpPr>
              <p:spPr>
                <a:xfrm>
                  <a:off x="3479800" y="12049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FFFFFF"/>
                  </a:solidFill>
                </a:ln>
              </p:spPr>
            </p:sp>
            <p:sp>
              <p:nvSpPr>
                <p:cNvPr id="86" name="Freeform 86"/>
                <p:cNvSpPr/>
                <p:nvPr/>
              </p:nvSpPr>
              <p:spPr>
                <a:xfrm>
                  <a:off x="3479800" y="12287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sp>
              <p:nvSpPr>
                <p:cNvPr id="87" name="Freeform 87"/>
                <p:cNvSpPr/>
                <p:nvPr/>
              </p:nvSpPr>
              <p:spPr>
                <a:xfrm>
                  <a:off x="3479800" y="12763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grpSp>
          <p:grpSp>
            <p:nvGrpSpPr>
              <p:cNvPr id="93" name="Group 93"/>
              <p:cNvGrpSpPr/>
              <p:nvPr/>
            </p:nvGrpSpPr>
            <p:grpSpPr>
              <a:xfrm>
                <a:off x="4221162" y="1204912"/>
                <a:ext cx="111125" cy="142875"/>
                <a:chOff x="4221162" y="1204912"/>
                <a:chExt cx="111125" cy="142875"/>
              </a:xfrm>
            </p:grpSpPr>
            <p:sp>
              <p:nvSpPr>
                <p:cNvPr id="89" name="Freeform 89"/>
                <p:cNvSpPr/>
                <p:nvPr/>
              </p:nvSpPr>
              <p:spPr>
                <a:xfrm>
                  <a:off x="4221162" y="1204912"/>
                  <a:ext cx="111125" cy="142875"/>
                </a:xfrm>
                <a:custGeom>
                  <a:avLst/>
                  <a:gdLst/>
                  <a:ahLst/>
                  <a:cxnLst/>
                  <a:rect l="l" t="t" r="r" b="b"/>
                  <a:pathLst>
                    <a:path w="111125" h="142875">
                      <a:moveTo>
                        <a:pt x="0" y="15875"/>
                      </a:moveTo>
                      <a:cubicBezTo>
                        <a:pt x="0" y="7107"/>
                        <a:pt x="7107" y="0"/>
                        <a:pt x="15875" y="0"/>
                      </a:cubicBezTo>
                      <a:lnTo>
                        <a:pt x="95250" y="0"/>
                      </a:lnTo>
                      <a:cubicBezTo>
                        <a:pt x="104017" y="0"/>
                        <a:pt x="111125" y="7107"/>
                        <a:pt x="111125" y="15875"/>
                      </a:cubicBezTo>
                      <a:lnTo>
                        <a:pt x="111125" y="127000"/>
                      </a:lnTo>
                      <a:cubicBezTo>
                        <a:pt x="111125" y="135767"/>
                        <a:pt x="104017" y="142875"/>
                        <a:pt x="95250" y="142875"/>
                      </a:cubicBezTo>
                      <a:lnTo>
                        <a:pt x="15875" y="142875"/>
                      </a:lnTo>
                      <a:cubicBezTo>
                        <a:pt x="7107" y="142875"/>
                        <a:pt x="0" y="135767"/>
                        <a:pt x="0" y="127000"/>
                      </a:cubicBezTo>
                      <a:lnTo>
                        <a:pt x="0" y="15875"/>
                      </a:lnTo>
                    </a:path>
                  </a:pathLst>
                </a:custGeom>
                <a:noFill/>
                <a:ln w="15875">
                  <a:solidFill>
                    <a:srgbClr val="FFFFFF"/>
                  </a:solidFill>
                </a:ln>
              </p:spPr>
            </p:sp>
            <p:sp>
              <p:nvSpPr>
                <p:cNvPr id="90" name="Freeform 90"/>
                <p:cNvSpPr/>
                <p:nvPr/>
              </p:nvSpPr>
              <p:spPr>
                <a:xfrm>
                  <a:off x="4252912" y="1236662"/>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91" name="Freeform 91"/>
                <p:cNvSpPr/>
                <p:nvPr/>
              </p:nvSpPr>
              <p:spPr>
                <a:xfrm>
                  <a:off x="4252912" y="1268412"/>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92" name="Freeform 92"/>
                <p:cNvSpPr/>
                <p:nvPr/>
              </p:nvSpPr>
              <p:spPr>
                <a:xfrm>
                  <a:off x="4252912" y="1300162"/>
                  <a:ext cx="31750" cy="9525"/>
                </a:xfrm>
                <a:custGeom>
                  <a:avLst/>
                  <a:gdLst/>
                  <a:ahLst/>
                  <a:cxnLst/>
                  <a:rect l="l" t="t" r="r" b="b"/>
                  <a:pathLst>
                    <a:path w="31750" h="9525">
                      <a:moveTo>
                        <a:pt x="0" y="0"/>
                      </a:moveTo>
                      <a:lnTo>
                        <a:pt x="31750" y="0"/>
                      </a:lnTo>
                    </a:path>
                  </a:pathLst>
                </a:custGeom>
                <a:noFill/>
                <a:ln w="15875">
                  <a:solidFill>
                    <a:srgbClr val="FFFFFF"/>
                  </a:solidFill>
                </a:ln>
              </p:spPr>
            </p:sp>
          </p:grpSp>
          <p:grpSp>
            <p:nvGrpSpPr>
              <p:cNvPr id="96" name="Group 96"/>
              <p:cNvGrpSpPr/>
              <p:nvPr/>
            </p:nvGrpSpPr>
            <p:grpSpPr>
              <a:xfrm>
                <a:off x="4928000" y="1204912"/>
                <a:ext cx="155005" cy="142875"/>
                <a:chOff x="4928000" y="1204912"/>
                <a:chExt cx="155005" cy="142875"/>
              </a:xfrm>
            </p:grpSpPr>
            <p:sp>
              <p:nvSpPr>
                <p:cNvPr id="94" name="Freeform 94"/>
                <p:cNvSpPr/>
                <p:nvPr/>
              </p:nvSpPr>
              <p:spPr>
                <a:xfrm>
                  <a:off x="4928000" y="12049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95" name="Freeform 95"/>
                <p:cNvSpPr/>
                <p:nvPr/>
              </p:nvSpPr>
              <p:spPr>
                <a:xfrm>
                  <a:off x="5033962" y="131603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grpSp>
            <p:nvGrpSpPr>
              <p:cNvPr id="101" name="Group 101"/>
              <p:cNvGrpSpPr/>
              <p:nvPr/>
            </p:nvGrpSpPr>
            <p:grpSpPr>
              <a:xfrm>
                <a:off x="5672137" y="1204912"/>
                <a:ext cx="142875" cy="142875"/>
                <a:chOff x="5672137" y="1204912"/>
                <a:chExt cx="142875" cy="142875"/>
              </a:xfrm>
            </p:grpSpPr>
            <p:sp>
              <p:nvSpPr>
                <p:cNvPr id="97" name="Freeform 97"/>
                <p:cNvSpPr/>
                <p:nvPr/>
              </p:nvSpPr>
              <p:spPr>
                <a:xfrm>
                  <a:off x="5688012" y="12049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98" name="Freeform 98"/>
                <p:cNvSpPr/>
                <p:nvPr/>
              </p:nvSpPr>
              <p:spPr>
                <a:xfrm>
                  <a:off x="5672137" y="13001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99" name="Freeform 99"/>
                <p:cNvSpPr/>
                <p:nvPr/>
              </p:nvSpPr>
              <p:spPr>
                <a:xfrm>
                  <a:off x="5775325" y="12059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100" name="Freeform 100"/>
                <p:cNvSpPr/>
                <p:nvPr/>
              </p:nvSpPr>
              <p:spPr>
                <a:xfrm>
                  <a:off x="5791200" y="13013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grpSp>
            <p:nvGrpSpPr>
              <p:cNvPr id="104" name="Group 104"/>
              <p:cNvGrpSpPr/>
              <p:nvPr/>
            </p:nvGrpSpPr>
            <p:grpSpPr>
              <a:xfrm>
                <a:off x="6405562" y="1204912"/>
                <a:ext cx="142875" cy="142875"/>
                <a:chOff x="6405562" y="1204912"/>
                <a:chExt cx="142875" cy="142875"/>
              </a:xfrm>
            </p:grpSpPr>
            <p:sp>
              <p:nvSpPr>
                <p:cNvPr id="102" name="Freeform 102"/>
                <p:cNvSpPr/>
                <p:nvPr/>
              </p:nvSpPr>
              <p:spPr>
                <a:xfrm>
                  <a:off x="6405562" y="12049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FFFFFF"/>
                  </a:solidFill>
                </a:ln>
              </p:spPr>
            </p:sp>
            <p:sp>
              <p:nvSpPr>
                <p:cNvPr id="103" name="Freeform 103"/>
                <p:cNvSpPr/>
                <p:nvPr/>
              </p:nvSpPr>
              <p:spPr>
                <a:xfrm>
                  <a:off x="6500812" y="1300162"/>
                  <a:ext cx="47625" cy="47625"/>
                </a:xfrm>
                <a:custGeom>
                  <a:avLst/>
                  <a:gdLst/>
                  <a:ahLst/>
                  <a:cxnLst/>
                  <a:rect l="l" t="t" r="r" b="b"/>
                  <a:pathLst>
                    <a:path w="47625" h="47625">
                      <a:moveTo>
                        <a:pt x="47625" y="47625"/>
                      </a:moveTo>
                      <a:lnTo>
                        <a:pt x="0" y="0"/>
                      </a:lnTo>
                    </a:path>
                  </a:pathLst>
                </a:custGeom>
                <a:noFill/>
                <a:ln w="15875">
                  <a:solidFill>
                    <a:srgbClr val="FFFFFF"/>
                  </a:solidFill>
                </a:ln>
              </p:spPr>
            </p:sp>
          </p:grpSp>
          <p:grpSp>
            <p:nvGrpSpPr>
              <p:cNvPr id="108" name="Group 108"/>
              <p:cNvGrpSpPr/>
              <p:nvPr/>
            </p:nvGrpSpPr>
            <p:grpSpPr>
              <a:xfrm>
                <a:off x="7144418" y="1212850"/>
                <a:ext cx="129507" cy="129507"/>
                <a:chOff x="7144418" y="1212850"/>
                <a:chExt cx="129507" cy="129507"/>
              </a:xfrm>
            </p:grpSpPr>
            <p:sp>
              <p:nvSpPr>
                <p:cNvPr id="105" name="Freeform 105"/>
                <p:cNvSpPr/>
                <p:nvPr/>
              </p:nvSpPr>
              <p:spPr>
                <a:xfrm>
                  <a:off x="7146925" y="1212850"/>
                  <a:ext cx="127000" cy="127000"/>
                </a:xfrm>
                <a:custGeom>
                  <a:avLst/>
                  <a:gdLst/>
                  <a:ahLst/>
                  <a:cxnLst/>
                  <a:rect l="l" t="t" r="r" b="b"/>
                  <a:pathLst>
                    <a:path w="127000" h="127000">
                      <a:moveTo>
                        <a:pt x="0" y="71437"/>
                      </a:moveTo>
                      <a:cubicBezTo>
                        <a:pt x="29132" y="74900"/>
                        <a:pt x="52100" y="97868"/>
                        <a:pt x="55562" y="127000"/>
                      </a:cubicBezTo>
                      <a:cubicBezTo>
                        <a:pt x="69827" y="118776"/>
                        <a:pt x="78832" y="103768"/>
                        <a:pt x="79375" y="87312"/>
                      </a:cubicBezTo>
                      <a:cubicBezTo>
                        <a:pt x="106631" y="77724"/>
                        <a:pt x="125427" y="52662"/>
                        <a:pt x="127000" y="23812"/>
                      </a:cubicBezTo>
                      <a:cubicBezTo>
                        <a:pt x="127000" y="10661"/>
                        <a:pt x="116339" y="0"/>
                        <a:pt x="103187" y="0"/>
                      </a:cubicBezTo>
                      <a:cubicBezTo>
                        <a:pt x="74337" y="1573"/>
                        <a:pt x="49276" y="20369"/>
                        <a:pt x="39687" y="47625"/>
                      </a:cubicBezTo>
                      <a:cubicBezTo>
                        <a:pt x="23232" y="48168"/>
                        <a:pt x="8224" y="57173"/>
                        <a:pt x="0" y="71437"/>
                      </a:cubicBezTo>
                    </a:path>
                  </a:pathLst>
                </a:custGeom>
                <a:noFill/>
                <a:ln w="15875">
                  <a:solidFill>
                    <a:srgbClr val="FFFFFF"/>
                  </a:solidFill>
                </a:ln>
              </p:spPr>
            </p:sp>
            <p:sp>
              <p:nvSpPr>
                <p:cNvPr id="106" name="Freeform 106"/>
                <p:cNvSpPr/>
                <p:nvPr/>
              </p:nvSpPr>
              <p:spPr>
                <a:xfrm>
                  <a:off x="7144418" y="1292225"/>
                  <a:ext cx="50132" cy="50132"/>
                </a:xfrm>
                <a:custGeom>
                  <a:avLst/>
                  <a:gdLst/>
                  <a:ahLst/>
                  <a:cxnLst/>
                  <a:rect l="l" t="t" r="r" b="b"/>
                  <a:pathLst>
                    <a:path w="50132" h="50132">
                      <a:moveTo>
                        <a:pt x="26320" y="0"/>
                      </a:moveTo>
                      <a:cubicBezTo>
                        <a:pt x="9420" y="9541"/>
                        <a:pt x="0" y="28381"/>
                        <a:pt x="2507" y="47625"/>
                      </a:cubicBezTo>
                      <a:cubicBezTo>
                        <a:pt x="21751" y="50132"/>
                        <a:pt x="40591" y="40712"/>
                        <a:pt x="50132" y="23812"/>
                      </a:cubicBezTo>
                    </a:path>
                  </a:pathLst>
                </a:custGeom>
                <a:noFill/>
                <a:ln w="15875">
                  <a:solidFill>
                    <a:srgbClr val="FFFFFF"/>
                  </a:solidFill>
                </a:ln>
              </p:spPr>
            </p:sp>
            <p:sp>
              <p:nvSpPr>
                <p:cNvPr id="107" name="Freeform 107"/>
                <p:cNvSpPr/>
                <p:nvPr/>
              </p:nvSpPr>
              <p:spPr>
                <a:xfrm>
                  <a:off x="7226300" y="1244600"/>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grpSp>
        </p:grpSp>
        <p:grpSp>
          <p:nvGrpSpPr>
            <p:cNvPr id="117" name="mc-titles"/>
            <p:cNvGrpSpPr/>
            <p:nvPr/>
          </p:nvGrpSpPr>
          <p:grpSpPr>
            <a:xfrm>
              <a:off x="2563838" y="1553289"/>
              <a:ext cx="4757700" cy="154781"/>
              <a:chOff x="2563838" y="1553289"/>
              <a:chExt cx="4757700" cy="154781"/>
            </a:xfrm>
          </p:grpSpPr>
          <p:sp>
            <p:nvSpPr>
              <p:cNvPr id="110" name="TextBox 110"/>
              <p:cNvSpPr txBox="1"/>
              <p:nvPr/>
            </p:nvSpPr>
            <p:spPr>
              <a:xfrm>
                <a:off x="2563838" y="155328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选题策划</a:t>
                </a:r>
              </a:p>
            </p:txBody>
          </p:sp>
          <p:sp>
            <p:nvSpPr>
              <p:cNvPr id="111" name="TextBox 111"/>
              <p:cNvSpPr txBox="1"/>
              <p:nvPr/>
            </p:nvSpPr>
            <p:spPr>
              <a:xfrm>
                <a:off x="3325838" y="155328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证据检索</a:t>
                </a:r>
              </a:p>
            </p:txBody>
          </p:sp>
          <p:sp>
            <p:nvSpPr>
              <p:cNvPr id="112" name="TextBox 112"/>
              <p:cNvSpPr txBox="1"/>
              <p:nvPr/>
            </p:nvSpPr>
            <p:spPr>
              <a:xfrm>
                <a:off x="4059263" y="155328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内容草拟</a:t>
                </a:r>
              </a:p>
            </p:txBody>
          </p:sp>
          <p:sp>
            <p:nvSpPr>
              <p:cNvPr id="113" name="TextBox 113"/>
              <p:cNvSpPr txBox="1"/>
              <p:nvPr/>
            </p:nvSpPr>
            <p:spPr>
              <a:xfrm>
                <a:off x="4792688" y="155328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风险揭示</a:t>
                </a:r>
              </a:p>
            </p:txBody>
          </p:sp>
          <p:sp>
            <p:nvSpPr>
              <p:cNvPr id="114" name="TextBox 114"/>
              <p:cNvSpPr txBox="1"/>
              <p:nvPr/>
            </p:nvSpPr>
            <p:spPr>
              <a:xfrm>
                <a:off x="5472938" y="1553289"/>
                <a:ext cx="54127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适当性校验</a:t>
                </a:r>
              </a:p>
            </p:txBody>
          </p:sp>
          <p:sp>
            <p:nvSpPr>
              <p:cNvPr id="115" name="TextBox 115"/>
              <p:cNvSpPr txBox="1"/>
              <p:nvPr/>
            </p:nvSpPr>
            <p:spPr>
              <a:xfrm>
                <a:off x="6259538" y="1553289"/>
                <a:ext cx="434924"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合规审核</a:t>
                </a:r>
              </a:p>
            </p:txBody>
          </p:sp>
          <p:sp>
            <p:nvSpPr>
              <p:cNvPr id="116" name="TextBox 116"/>
              <p:cNvSpPr txBox="1"/>
              <p:nvPr/>
            </p:nvSpPr>
            <p:spPr>
              <a:xfrm>
                <a:off x="7099313" y="1553289"/>
                <a:ext cx="222225"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发布</a:t>
                </a:r>
              </a:p>
            </p:txBody>
          </p:sp>
        </p:grpSp>
        <p:grpSp>
          <p:nvGrpSpPr>
            <p:cNvPr id="132" name="mc-desc"/>
            <p:cNvGrpSpPr/>
            <p:nvPr/>
          </p:nvGrpSpPr>
          <p:grpSpPr>
            <a:xfrm>
              <a:off x="2437295" y="1768078"/>
              <a:ext cx="5079442" cy="216694"/>
              <a:chOff x="2437295" y="1768078"/>
              <a:chExt cx="5079442" cy="216694"/>
            </a:xfrm>
          </p:grpSpPr>
          <p:sp>
            <p:nvSpPr>
              <p:cNvPr id="118" name="TextBox 118"/>
              <p:cNvSpPr txBox="1"/>
              <p:nvPr/>
            </p:nvSpPr>
            <p:spPr>
              <a:xfrm>
                <a:off x="2437295" y="1768078"/>
                <a:ext cx="688010"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基于市场热点与客户</a:t>
                </a:r>
              </a:p>
            </p:txBody>
          </p:sp>
          <p:sp>
            <p:nvSpPr>
              <p:cNvPr id="119" name="TextBox 119"/>
              <p:cNvSpPr txBox="1"/>
              <p:nvPr/>
            </p:nvSpPr>
            <p:spPr>
              <a:xfrm>
                <a:off x="2474989" y="1872853"/>
                <a:ext cx="612623"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需求生成选题方向</a:t>
                </a:r>
              </a:p>
            </p:txBody>
          </p:sp>
          <p:sp>
            <p:nvSpPr>
              <p:cNvPr id="120" name="TextBox 120"/>
              <p:cNvSpPr txBox="1"/>
              <p:nvPr/>
            </p:nvSpPr>
            <p:spPr>
              <a:xfrm>
                <a:off x="3199295" y="1768078"/>
                <a:ext cx="688010"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从知识库中检索素材</a:t>
                </a:r>
              </a:p>
            </p:txBody>
          </p:sp>
          <p:sp>
            <p:nvSpPr>
              <p:cNvPr id="121" name="TextBox 121"/>
              <p:cNvSpPr txBox="1"/>
              <p:nvPr/>
            </p:nvSpPr>
            <p:spPr>
              <a:xfrm>
                <a:off x="3350070" y="1872853"/>
                <a:ext cx="386461"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与数据来源</a:t>
                </a:r>
              </a:p>
            </p:txBody>
          </p:sp>
          <p:sp>
            <p:nvSpPr>
              <p:cNvPr id="122" name="TextBox 122"/>
              <p:cNvSpPr txBox="1"/>
              <p:nvPr/>
            </p:nvSpPr>
            <p:spPr>
              <a:xfrm>
                <a:off x="3932720" y="1768078"/>
                <a:ext cx="688010"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基于证据生成合规、</a:t>
                </a:r>
              </a:p>
            </p:txBody>
          </p:sp>
          <p:sp>
            <p:nvSpPr>
              <p:cNvPr id="123" name="TextBox 123"/>
              <p:cNvSpPr txBox="1"/>
              <p:nvPr/>
            </p:nvSpPr>
            <p:spPr>
              <a:xfrm>
                <a:off x="3895026" y="1872853"/>
                <a:ext cx="763397"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专业、通俗的内容草稿</a:t>
                </a:r>
              </a:p>
            </p:txBody>
          </p:sp>
          <p:sp>
            <p:nvSpPr>
              <p:cNvPr id="124" name="TextBox 124"/>
              <p:cNvSpPr txBox="1"/>
              <p:nvPr/>
            </p:nvSpPr>
            <p:spPr>
              <a:xfrm>
                <a:off x="4666145" y="1768078"/>
                <a:ext cx="688010"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匹配产品风险特征，</a:t>
                </a:r>
              </a:p>
            </p:txBody>
          </p:sp>
          <p:sp>
            <p:nvSpPr>
              <p:cNvPr id="125" name="TextBox 125"/>
              <p:cNvSpPr txBox="1"/>
              <p:nvPr/>
            </p:nvSpPr>
            <p:spPr>
              <a:xfrm>
                <a:off x="4703839" y="1872853"/>
                <a:ext cx="612623"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生成风险揭示内容</a:t>
                </a:r>
              </a:p>
            </p:txBody>
          </p:sp>
          <p:sp>
            <p:nvSpPr>
              <p:cNvPr id="126" name="TextBox 126"/>
              <p:cNvSpPr txBox="1"/>
              <p:nvPr/>
            </p:nvSpPr>
            <p:spPr>
              <a:xfrm>
                <a:off x="5437264" y="1768078"/>
                <a:ext cx="612623"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基于客户画像进行</a:t>
                </a:r>
              </a:p>
            </p:txBody>
          </p:sp>
          <p:sp>
            <p:nvSpPr>
              <p:cNvPr id="127" name="TextBox 127"/>
              <p:cNvSpPr txBox="1"/>
              <p:nvPr/>
            </p:nvSpPr>
            <p:spPr>
              <a:xfrm>
                <a:off x="5437264" y="1872853"/>
                <a:ext cx="612623"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适当性匹配与提示</a:t>
                </a:r>
              </a:p>
            </p:txBody>
          </p:sp>
          <p:sp>
            <p:nvSpPr>
              <p:cNvPr id="128" name="TextBox 128"/>
              <p:cNvSpPr txBox="1"/>
              <p:nvPr/>
            </p:nvSpPr>
            <p:spPr>
              <a:xfrm>
                <a:off x="6208382" y="1768078"/>
                <a:ext cx="537235"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识别敏感表述与</a:t>
                </a:r>
              </a:p>
            </p:txBody>
          </p:sp>
          <p:sp>
            <p:nvSpPr>
              <p:cNvPr id="129" name="TextBox 129"/>
              <p:cNvSpPr txBox="1"/>
              <p:nvPr/>
            </p:nvSpPr>
            <p:spPr>
              <a:xfrm>
                <a:off x="6095302" y="1872853"/>
                <a:ext cx="763397"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禁用词，进行合规校验</a:t>
                </a:r>
              </a:p>
            </p:txBody>
          </p:sp>
          <p:sp>
            <p:nvSpPr>
              <p:cNvPr id="130" name="TextBox 130"/>
              <p:cNvSpPr txBox="1"/>
              <p:nvPr/>
            </p:nvSpPr>
            <p:spPr>
              <a:xfrm>
                <a:off x="6904114" y="1768078"/>
                <a:ext cx="612623"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生成最终内容并按</a:t>
                </a:r>
              </a:p>
            </p:txBody>
          </p:sp>
          <p:sp>
            <p:nvSpPr>
              <p:cNvPr id="131" name="TextBox 131"/>
              <p:cNvSpPr txBox="1"/>
              <p:nvPr/>
            </p:nvSpPr>
            <p:spPr>
              <a:xfrm>
                <a:off x="6979501" y="1872853"/>
                <a:ext cx="461848" cy="111919"/>
              </a:xfrm>
              <a:prstGeom prst="rect">
                <a:avLst/>
              </a:prstGeom>
              <a:noFill/>
              <a:ln>
                <a:noFill/>
              </a:ln>
            </p:spPr>
            <p:txBody>
              <a:bodyPr wrap="none" lIns="0" tIns="0" rIns="0" bIns="0" anchor="t" anchorCtr="0">
                <a:spAutoFit/>
              </a:bodyPr>
              <a:lstStyle/>
              <a:p>
                <a:pPr algn="ctr"/>
                <a:r>
                  <a:rPr lang="zh-CN" sz="560" dirty="0">
                    <a:solidFill>
                      <a:srgbClr val="52352F"/>
                    </a:solidFill>
                    <a:latin typeface="+mn-lt"/>
                    <a:ea typeface="+mn-ea"/>
                    <a:cs typeface="+mn-cs"/>
                  </a:rPr>
                  <a:t>渠道规范发布</a:t>
                </a:r>
              </a:p>
            </p:txBody>
          </p:sp>
        </p:grpSp>
        <p:sp>
          <p:nvSpPr>
            <p:cNvPr id="133" name="Line 133"/>
            <p:cNvSpPr/>
            <p:nvPr/>
          </p:nvSpPr>
          <p:spPr>
            <a:xfrm>
              <a:off x="2438400" y="2114550"/>
              <a:ext cx="5257800" cy="9525"/>
            </a:xfrm>
            <a:custGeom>
              <a:avLst/>
              <a:gdLst/>
              <a:ahLst/>
              <a:cxnLst/>
              <a:rect l="l" t="t" r="r" b="b"/>
              <a:pathLst>
                <a:path w="5257800" h="9525">
                  <a:moveTo>
                    <a:pt x="0" y="0"/>
                  </a:moveTo>
                  <a:lnTo>
                    <a:pt x="5257800" y="0"/>
                  </a:lnTo>
                </a:path>
              </a:pathLst>
            </a:custGeom>
            <a:noFill/>
            <a:ln w="9525">
              <a:solidFill>
                <a:srgbClr val="E4EDF5"/>
              </a:solidFill>
            </a:ln>
          </p:spPr>
        </p:sp>
        <p:grpSp>
          <p:nvGrpSpPr>
            <p:cNvPr id="155" name="mc-bullets"/>
            <p:cNvGrpSpPr/>
            <p:nvPr/>
          </p:nvGrpSpPr>
          <p:grpSpPr>
            <a:xfrm>
              <a:off x="2433638" y="2259330"/>
              <a:ext cx="4918709" cy="404812"/>
              <a:chOff x="2433638" y="2259330"/>
              <a:chExt cx="4918709" cy="404812"/>
            </a:xfrm>
          </p:grpSpPr>
          <p:sp>
            <p:nvSpPr>
              <p:cNvPr id="134" name="TextBox 134"/>
              <p:cNvSpPr txBox="1"/>
              <p:nvPr/>
            </p:nvSpPr>
            <p:spPr>
              <a:xfrm>
                <a:off x="2433638" y="2259330"/>
                <a:ext cx="40881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热点洞察</a:t>
                </a:r>
              </a:p>
            </p:txBody>
          </p:sp>
          <p:sp>
            <p:nvSpPr>
              <p:cNvPr id="135" name="TextBox 135"/>
              <p:cNvSpPr txBox="1"/>
              <p:nvPr/>
            </p:nvSpPr>
            <p:spPr>
              <a:xfrm>
                <a:off x="2433638" y="2402205"/>
                <a:ext cx="40881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客群匹配</a:t>
                </a:r>
              </a:p>
            </p:txBody>
          </p:sp>
          <p:sp>
            <p:nvSpPr>
              <p:cNvPr id="136" name="TextBox 136"/>
              <p:cNvSpPr txBox="1"/>
              <p:nvPr/>
            </p:nvSpPr>
            <p:spPr>
              <a:xfrm>
                <a:off x="2433638" y="2545080"/>
                <a:ext cx="40881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内容策略</a:t>
                </a:r>
              </a:p>
            </p:txBody>
          </p:sp>
          <p:sp>
            <p:nvSpPr>
              <p:cNvPr id="137" name="TextBox 137"/>
              <p:cNvSpPr txBox="1"/>
              <p:nvPr/>
            </p:nvSpPr>
            <p:spPr>
              <a:xfrm>
                <a:off x="3195638" y="2259330"/>
                <a:ext cx="40881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产品资料</a:t>
                </a:r>
              </a:p>
            </p:txBody>
          </p:sp>
          <p:sp>
            <p:nvSpPr>
              <p:cNvPr id="138" name="TextBox 138"/>
              <p:cNvSpPr txBox="1"/>
              <p:nvPr/>
            </p:nvSpPr>
            <p:spPr>
              <a:xfrm>
                <a:off x="3195638" y="2402205"/>
                <a:ext cx="40881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市场数据</a:t>
                </a:r>
              </a:p>
            </p:txBody>
          </p:sp>
          <p:sp>
            <p:nvSpPr>
              <p:cNvPr id="139" name="TextBox 139"/>
              <p:cNvSpPr txBox="1"/>
              <p:nvPr/>
            </p:nvSpPr>
            <p:spPr>
              <a:xfrm>
                <a:off x="3195638" y="2545080"/>
                <a:ext cx="40881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法规依据</a:t>
                </a:r>
              </a:p>
            </p:txBody>
          </p:sp>
          <p:sp>
            <p:nvSpPr>
              <p:cNvPr id="140" name="TextBox 140"/>
              <p:cNvSpPr txBox="1"/>
              <p:nvPr/>
            </p:nvSpPr>
            <p:spPr>
              <a:xfrm>
                <a:off x="3929062" y="2259330"/>
                <a:ext cx="489585"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多场景模板</a:t>
                </a:r>
              </a:p>
            </p:txBody>
          </p:sp>
          <p:sp>
            <p:nvSpPr>
              <p:cNvPr id="141" name="TextBox 141"/>
              <p:cNvSpPr txBox="1"/>
              <p:nvPr/>
            </p:nvSpPr>
            <p:spPr>
              <a:xfrm>
                <a:off x="3929062" y="2402205"/>
                <a:ext cx="57035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事实表述优先</a:t>
                </a:r>
              </a:p>
            </p:txBody>
          </p:sp>
          <p:sp>
            <p:nvSpPr>
              <p:cNvPr id="142" name="TextBox 142"/>
              <p:cNvSpPr txBox="1"/>
              <p:nvPr/>
            </p:nvSpPr>
            <p:spPr>
              <a:xfrm>
                <a:off x="3929062" y="2545080"/>
                <a:ext cx="57035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自动引用标注</a:t>
                </a:r>
              </a:p>
            </p:txBody>
          </p:sp>
          <p:sp>
            <p:nvSpPr>
              <p:cNvPr id="143" name="TextBox 143"/>
              <p:cNvSpPr txBox="1"/>
              <p:nvPr/>
            </p:nvSpPr>
            <p:spPr>
              <a:xfrm>
                <a:off x="4662488" y="2259330"/>
                <a:ext cx="57035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风险等级提示</a:t>
                </a:r>
              </a:p>
            </p:txBody>
          </p:sp>
          <p:sp>
            <p:nvSpPr>
              <p:cNvPr id="144" name="TextBox 144"/>
              <p:cNvSpPr txBox="1"/>
              <p:nvPr/>
            </p:nvSpPr>
            <p:spPr>
              <a:xfrm>
                <a:off x="4662488" y="2402205"/>
                <a:ext cx="489585"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关键风险点</a:t>
                </a:r>
              </a:p>
            </p:txBody>
          </p:sp>
          <p:sp>
            <p:nvSpPr>
              <p:cNvPr id="145" name="TextBox 145"/>
              <p:cNvSpPr txBox="1"/>
              <p:nvPr/>
            </p:nvSpPr>
            <p:spPr>
              <a:xfrm>
                <a:off x="4662488" y="2545080"/>
                <a:ext cx="489585"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标准化表述</a:t>
                </a:r>
              </a:p>
            </p:txBody>
          </p:sp>
          <p:sp>
            <p:nvSpPr>
              <p:cNvPr id="146" name="TextBox 146"/>
              <p:cNvSpPr txBox="1"/>
              <p:nvPr/>
            </p:nvSpPr>
            <p:spPr>
              <a:xfrm>
                <a:off x="5395912" y="2259330"/>
                <a:ext cx="40881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客群匹配</a:t>
                </a:r>
              </a:p>
            </p:txBody>
          </p:sp>
          <p:sp>
            <p:nvSpPr>
              <p:cNvPr id="147" name="TextBox 147"/>
              <p:cNvSpPr txBox="1"/>
              <p:nvPr/>
            </p:nvSpPr>
            <p:spPr>
              <a:xfrm>
                <a:off x="5395912" y="2402205"/>
                <a:ext cx="489585"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风险承受力</a:t>
                </a:r>
              </a:p>
            </p:txBody>
          </p:sp>
          <p:sp>
            <p:nvSpPr>
              <p:cNvPr id="148" name="TextBox 148"/>
              <p:cNvSpPr txBox="1"/>
              <p:nvPr/>
            </p:nvSpPr>
            <p:spPr>
              <a:xfrm>
                <a:off x="5395912" y="2545080"/>
                <a:ext cx="57035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不适当性拦截</a:t>
                </a:r>
              </a:p>
            </p:txBody>
          </p:sp>
          <p:sp>
            <p:nvSpPr>
              <p:cNvPr id="149" name="TextBox 149"/>
              <p:cNvSpPr txBox="1"/>
              <p:nvPr/>
            </p:nvSpPr>
            <p:spPr>
              <a:xfrm>
                <a:off x="6129338" y="2259330"/>
                <a:ext cx="57035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规则引擎检测</a:t>
                </a:r>
              </a:p>
            </p:txBody>
          </p:sp>
          <p:sp>
            <p:nvSpPr>
              <p:cNvPr id="150" name="TextBox 150"/>
              <p:cNvSpPr txBox="1"/>
              <p:nvPr/>
            </p:nvSpPr>
            <p:spPr>
              <a:xfrm>
                <a:off x="6129338" y="2402205"/>
                <a:ext cx="57035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合规人工复核</a:t>
                </a:r>
              </a:p>
            </p:txBody>
          </p:sp>
          <p:sp>
            <p:nvSpPr>
              <p:cNvPr id="151" name="TextBox 151"/>
              <p:cNvSpPr txBox="1"/>
              <p:nvPr/>
            </p:nvSpPr>
            <p:spPr>
              <a:xfrm>
                <a:off x="6129338" y="2545080"/>
                <a:ext cx="570357"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问题修改闭环</a:t>
                </a:r>
              </a:p>
            </p:txBody>
          </p:sp>
          <p:sp>
            <p:nvSpPr>
              <p:cNvPr id="152" name="TextBox 152"/>
              <p:cNvSpPr txBox="1"/>
              <p:nvPr/>
            </p:nvSpPr>
            <p:spPr>
              <a:xfrm>
                <a:off x="6862762" y="2259330"/>
                <a:ext cx="489585"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多渠道分发</a:t>
                </a:r>
              </a:p>
            </p:txBody>
          </p:sp>
          <p:sp>
            <p:nvSpPr>
              <p:cNvPr id="153" name="TextBox 153"/>
              <p:cNvSpPr txBox="1"/>
              <p:nvPr/>
            </p:nvSpPr>
            <p:spPr>
              <a:xfrm>
                <a:off x="6862762" y="2402205"/>
                <a:ext cx="40881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版本留痕</a:t>
                </a:r>
              </a:p>
            </p:txBody>
          </p:sp>
          <p:sp>
            <p:nvSpPr>
              <p:cNvPr id="154" name="TextBox 154"/>
              <p:cNvSpPr txBox="1"/>
              <p:nvPr/>
            </p:nvSpPr>
            <p:spPr>
              <a:xfrm>
                <a:off x="6862762" y="2545080"/>
                <a:ext cx="408813" cy="119062"/>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00" dirty="0">
                    <a:solidFill>
                      <a:srgbClr val="52352F"/>
                    </a:solidFill>
                    <a:latin typeface="+mn-lt"/>
                    <a:ea typeface="+mn-ea"/>
                    <a:cs typeface="+mn-cs"/>
                  </a:rPr>
                  <a:t>效果监测</a:t>
                </a:r>
              </a:p>
            </p:txBody>
          </p:sp>
        </p:grpSp>
        <p:sp>
          <p:nvSpPr>
            <p:cNvPr id="156" name="Freeform 156"/>
            <p:cNvSpPr/>
            <p:nvPr/>
          </p:nvSpPr>
          <p:spPr>
            <a:xfrm>
              <a:off x="2400300" y="3771900"/>
              <a:ext cx="5334000" cy="285750"/>
            </a:xfrm>
            <a:prstGeom prst="rightArrow">
              <a:avLst>
                <a:gd name="adj1" fmla="val 70000"/>
                <a:gd name="adj2" fmla="val 30000"/>
              </a:avLst>
            </a:prstGeom>
            <a:solidFill>
              <a:srgbClr val="D6E6F3"/>
            </a:solidFill>
            <a:ln>
              <a:noFill/>
            </a:ln>
          </p:spPr>
        </p:sp>
        <p:sp>
          <p:nvSpPr>
            <p:cNvPr id="157" name="TextBox 157"/>
            <p:cNvSpPr txBox="1"/>
            <p:nvPr/>
          </p:nvSpPr>
          <p:spPr>
            <a:xfrm>
              <a:off x="4234896" y="3867864"/>
              <a:ext cx="1436208"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全流程留痕 · 可回溯 · 可审计</a:t>
              </a:r>
            </a:p>
          </p:txBody>
        </p:sp>
      </p:grpSp>
      <p:grpSp>
        <p:nvGrpSpPr>
          <p:cNvPr id="221" name="heatmap"/>
          <p:cNvGrpSpPr/>
          <p:nvPr/>
        </p:nvGrpSpPr>
        <p:grpSpPr>
          <a:xfrm>
            <a:off x="7829550" y="952500"/>
            <a:ext cx="4171950" cy="2000250"/>
            <a:chOff x="7829550" y="952500"/>
            <a:chExt cx="4171950" cy="2000250"/>
          </a:xfrm>
        </p:grpSpPr>
        <p:sp>
          <p:nvSpPr>
            <p:cNvPr id="159" name="Rectangle 159"/>
            <p:cNvSpPr/>
            <p:nvPr/>
          </p:nvSpPr>
          <p:spPr>
            <a:xfrm>
              <a:off x="7829550" y="952500"/>
              <a:ext cx="4171950" cy="2000250"/>
            </a:xfrm>
            <a:prstGeom prst="roundRect">
              <a:avLst>
                <a:gd name="adj" fmla="val 2857"/>
              </a:avLst>
            </a:prstGeom>
            <a:solidFill>
              <a:srgbClr val="FCFDFE"/>
            </a:solidFill>
            <a:ln w="9525">
              <a:solidFill>
                <a:srgbClr val="CFDFEE"/>
              </a:solidFill>
            </a:ln>
          </p:spPr>
        </p:sp>
        <p:grpSp>
          <p:nvGrpSpPr>
            <p:cNvPr id="164" name="hm-cols"/>
            <p:cNvGrpSpPr/>
            <p:nvPr/>
          </p:nvGrpSpPr>
          <p:grpSpPr>
            <a:xfrm>
              <a:off x="8624024" y="1112282"/>
              <a:ext cx="1725752" cy="126206"/>
              <a:chOff x="8624024" y="1112282"/>
              <a:chExt cx="1725752" cy="126206"/>
            </a:xfrm>
          </p:grpSpPr>
          <p:sp>
            <p:nvSpPr>
              <p:cNvPr id="160" name="TextBox 160"/>
              <p:cNvSpPr txBox="1"/>
              <p:nvPr/>
            </p:nvSpPr>
            <p:spPr>
              <a:xfrm>
                <a:off x="8624024" y="1112282"/>
                <a:ext cx="354152"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n-lt"/>
                    <a:ea typeface="+mn-ea"/>
                    <a:cs typeface="+mn-cs"/>
                  </a:rPr>
                  <a:t>产品宣传</a:t>
                </a:r>
              </a:p>
            </p:txBody>
          </p:sp>
          <p:sp>
            <p:nvSpPr>
              <p:cNvPr id="161" name="TextBox 161"/>
              <p:cNvSpPr txBox="1"/>
              <p:nvPr/>
            </p:nvSpPr>
            <p:spPr>
              <a:xfrm>
                <a:off x="9081224" y="1112282"/>
                <a:ext cx="354152"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n-lt"/>
                    <a:ea typeface="+mn-ea"/>
                    <a:cs typeface="+mn-cs"/>
                  </a:rPr>
                  <a:t>市场解读</a:t>
                </a:r>
              </a:p>
            </p:txBody>
          </p:sp>
          <p:sp>
            <p:nvSpPr>
              <p:cNvPr id="162" name="TextBox 162"/>
              <p:cNvSpPr txBox="1"/>
              <p:nvPr/>
            </p:nvSpPr>
            <p:spPr>
              <a:xfrm>
                <a:off x="9538424" y="1112282"/>
                <a:ext cx="354152"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n-lt"/>
                    <a:ea typeface="+mn-ea"/>
                    <a:cs typeface="+mn-cs"/>
                  </a:rPr>
                  <a:t>客户沟通</a:t>
                </a:r>
              </a:p>
            </p:txBody>
          </p:sp>
          <p:sp>
            <p:nvSpPr>
              <p:cNvPr id="163" name="TextBox 163"/>
              <p:cNvSpPr txBox="1"/>
              <p:nvPr/>
            </p:nvSpPr>
            <p:spPr>
              <a:xfrm>
                <a:off x="9995624" y="1112282"/>
                <a:ext cx="354152"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n-lt"/>
                    <a:ea typeface="+mn-ea"/>
                    <a:cs typeface="+mn-cs"/>
                  </a:rPr>
                  <a:t>社交媒体</a:t>
                </a:r>
              </a:p>
            </p:txBody>
          </p:sp>
        </p:grpSp>
        <p:grpSp>
          <p:nvGrpSpPr>
            <p:cNvPr id="173" name="hm-rows"/>
            <p:cNvGrpSpPr/>
            <p:nvPr/>
          </p:nvGrpSpPr>
          <p:grpSpPr>
            <a:xfrm>
              <a:off x="8165960" y="1274207"/>
              <a:ext cx="354153" cy="1059656"/>
              <a:chOff x="8165960" y="1274207"/>
              <a:chExt cx="354153" cy="1059656"/>
            </a:xfrm>
          </p:grpSpPr>
          <p:sp>
            <p:nvSpPr>
              <p:cNvPr id="165" name="TextBox 165"/>
              <p:cNvSpPr txBox="1"/>
              <p:nvPr/>
            </p:nvSpPr>
            <p:spPr>
              <a:xfrm>
                <a:off x="8338274" y="1274207"/>
                <a:ext cx="181839"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保本</a:t>
                </a:r>
              </a:p>
            </p:txBody>
          </p:sp>
          <p:sp>
            <p:nvSpPr>
              <p:cNvPr id="166" name="TextBox 166"/>
              <p:cNvSpPr txBox="1"/>
              <p:nvPr/>
            </p:nvSpPr>
            <p:spPr>
              <a:xfrm>
                <a:off x="8165960" y="1407557"/>
                <a:ext cx="354152"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保证收益</a:t>
                </a:r>
              </a:p>
            </p:txBody>
          </p:sp>
          <p:sp>
            <p:nvSpPr>
              <p:cNvPr id="167" name="TextBox 167"/>
              <p:cNvSpPr txBox="1"/>
              <p:nvPr/>
            </p:nvSpPr>
            <p:spPr>
              <a:xfrm>
                <a:off x="8252117" y="1540907"/>
                <a:ext cx="267995"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高收益</a:t>
                </a:r>
              </a:p>
            </p:txBody>
          </p:sp>
          <p:sp>
            <p:nvSpPr>
              <p:cNvPr id="168" name="TextBox 168"/>
              <p:cNvSpPr txBox="1"/>
              <p:nvPr/>
            </p:nvSpPr>
            <p:spPr>
              <a:xfrm>
                <a:off x="8252117" y="1674257"/>
                <a:ext cx="267995"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零风险</a:t>
                </a:r>
              </a:p>
            </p:txBody>
          </p:sp>
          <p:sp>
            <p:nvSpPr>
              <p:cNvPr id="169" name="TextBox 169"/>
              <p:cNvSpPr txBox="1"/>
              <p:nvPr/>
            </p:nvSpPr>
            <p:spPr>
              <a:xfrm>
                <a:off x="8165960" y="1807607"/>
                <a:ext cx="354152"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稳赚不赔</a:t>
                </a:r>
              </a:p>
            </p:txBody>
          </p:sp>
          <p:sp>
            <p:nvSpPr>
              <p:cNvPr id="170" name="TextBox 170"/>
              <p:cNvSpPr txBox="1"/>
              <p:nvPr/>
            </p:nvSpPr>
            <p:spPr>
              <a:xfrm>
                <a:off x="8165960" y="1940957"/>
                <a:ext cx="354152"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同业最高</a:t>
                </a:r>
              </a:p>
            </p:txBody>
          </p:sp>
          <p:sp>
            <p:nvSpPr>
              <p:cNvPr id="171" name="TextBox 171"/>
              <p:cNvSpPr txBox="1"/>
              <p:nvPr/>
            </p:nvSpPr>
            <p:spPr>
              <a:xfrm>
                <a:off x="8165960" y="2074307"/>
                <a:ext cx="354152"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限定名额</a:t>
                </a:r>
              </a:p>
            </p:txBody>
          </p:sp>
          <p:sp>
            <p:nvSpPr>
              <p:cNvPr id="172" name="TextBox 172"/>
              <p:cNvSpPr txBox="1"/>
              <p:nvPr/>
            </p:nvSpPr>
            <p:spPr>
              <a:xfrm>
                <a:off x="8165960" y="2207657"/>
                <a:ext cx="354152"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n-lt"/>
                    <a:ea typeface="+mn-ea"/>
                    <a:cs typeface="+mn-cs"/>
                  </a:rPr>
                  <a:t>快速致富</a:t>
                </a:r>
              </a:p>
            </p:txBody>
          </p:sp>
        </p:grpSp>
        <p:grpSp>
          <p:nvGrpSpPr>
            <p:cNvPr id="206" name="hm-cells"/>
            <p:cNvGrpSpPr/>
            <p:nvPr/>
          </p:nvGrpSpPr>
          <p:grpSpPr>
            <a:xfrm>
              <a:off x="8572500" y="1238250"/>
              <a:ext cx="1828800" cy="1066800"/>
              <a:chOff x="8572500" y="1238250"/>
              <a:chExt cx="1828800" cy="1066800"/>
            </a:xfrm>
          </p:grpSpPr>
          <p:sp>
            <p:nvSpPr>
              <p:cNvPr id="174" name="Rectangle 174"/>
              <p:cNvSpPr/>
              <p:nvPr/>
            </p:nvSpPr>
            <p:spPr>
              <a:xfrm>
                <a:off x="8572500" y="1238250"/>
                <a:ext cx="457200" cy="133350"/>
              </a:xfrm>
              <a:prstGeom prst="rect">
                <a:avLst/>
              </a:prstGeom>
              <a:solidFill>
                <a:srgbClr val="6B1B0B"/>
              </a:solidFill>
              <a:ln>
                <a:noFill/>
              </a:ln>
            </p:spPr>
          </p:sp>
          <p:sp>
            <p:nvSpPr>
              <p:cNvPr id="175" name="Rectangle 175"/>
              <p:cNvSpPr/>
              <p:nvPr/>
            </p:nvSpPr>
            <p:spPr>
              <a:xfrm>
                <a:off x="9029700" y="1238250"/>
                <a:ext cx="457200" cy="133350"/>
              </a:xfrm>
              <a:prstGeom prst="rect">
                <a:avLst/>
              </a:prstGeom>
              <a:solidFill>
                <a:srgbClr val="6B1B0B"/>
              </a:solidFill>
              <a:ln>
                <a:noFill/>
              </a:ln>
            </p:spPr>
          </p:sp>
          <p:sp>
            <p:nvSpPr>
              <p:cNvPr id="176" name="Rectangle 176"/>
              <p:cNvSpPr/>
              <p:nvPr/>
            </p:nvSpPr>
            <p:spPr>
              <a:xfrm>
                <a:off x="9486900" y="1238250"/>
                <a:ext cx="457200" cy="133350"/>
              </a:xfrm>
              <a:prstGeom prst="rect">
                <a:avLst/>
              </a:prstGeom>
              <a:solidFill>
                <a:srgbClr val="92301C"/>
              </a:solidFill>
              <a:ln>
                <a:noFill/>
              </a:ln>
            </p:spPr>
          </p:sp>
          <p:sp>
            <p:nvSpPr>
              <p:cNvPr id="177" name="Rectangle 177"/>
              <p:cNvSpPr/>
              <p:nvPr/>
            </p:nvSpPr>
            <p:spPr>
              <a:xfrm>
                <a:off x="9944100" y="1238250"/>
                <a:ext cx="457200" cy="133350"/>
              </a:xfrm>
              <a:prstGeom prst="rect">
                <a:avLst/>
              </a:prstGeom>
              <a:solidFill>
                <a:srgbClr val="6B1B0B"/>
              </a:solidFill>
              <a:ln>
                <a:noFill/>
              </a:ln>
            </p:spPr>
          </p:sp>
          <p:sp>
            <p:nvSpPr>
              <p:cNvPr id="178" name="Rectangle 178"/>
              <p:cNvSpPr/>
              <p:nvPr/>
            </p:nvSpPr>
            <p:spPr>
              <a:xfrm>
                <a:off x="8572500" y="1371600"/>
                <a:ext cx="457200" cy="133350"/>
              </a:xfrm>
              <a:prstGeom prst="rect">
                <a:avLst/>
              </a:prstGeom>
              <a:solidFill>
                <a:srgbClr val="6B1B0B"/>
              </a:solidFill>
              <a:ln>
                <a:noFill/>
              </a:ln>
            </p:spPr>
          </p:sp>
          <p:sp>
            <p:nvSpPr>
              <p:cNvPr id="179" name="Rectangle 179"/>
              <p:cNvSpPr/>
              <p:nvPr/>
            </p:nvSpPr>
            <p:spPr>
              <a:xfrm>
                <a:off x="9029700" y="1371600"/>
                <a:ext cx="457200" cy="133350"/>
              </a:xfrm>
              <a:prstGeom prst="rect">
                <a:avLst/>
              </a:prstGeom>
              <a:solidFill>
                <a:srgbClr val="92301C"/>
              </a:solidFill>
              <a:ln>
                <a:noFill/>
              </a:ln>
            </p:spPr>
          </p:sp>
          <p:sp>
            <p:nvSpPr>
              <p:cNvPr id="180" name="Rectangle 180"/>
              <p:cNvSpPr/>
              <p:nvPr/>
            </p:nvSpPr>
            <p:spPr>
              <a:xfrm>
                <a:off x="9486900" y="1371600"/>
                <a:ext cx="457200" cy="133350"/>
              </a:xfrm>
              <a:prstGeom prst="rect">
                <a:avLst/>
              </a:prstGeom>
              <a:solidFill>
                <a:srgbClr val="B7533F"/>
              </a:solidFill>
              <a:ln>
                <a:noFill/>
              </a:ln>
            </p:spPr>
          </p:sp>
          <p:sp>
            <p:nvSpPr>
              <p:cNvPr id="181" name="Rectangle 181"/>
              <p:cNvSpPr/>
              <p:nvPr/>
            </p:nvSpPr>
            <p:spPr>
              <a:xfrm>
                <a:off x="9944100" y="1371600"/>
                <a:ext cx="457200" cy="133350"/>
              </a:xfrm>
              <a:prstGeom prst="rect">
                <a:avLst/>
              </a:prstGeom>
              <a:solidFill>
                <a:srgbClr val="6B1B0B"/>
              </a:solidFill>
              <a:ln>
                <a:noFill/>
              </a:ln>
            </p:spPr>
          </p:sp>
          <p:sp>
            <p:nvSpPr>
              <p:cNvPr id="182" name="Rectangle 182"/>
              <p:cNvSpPr/>
              <p:nvPr/>
            </p:nvSpPr>
            <p:spPr>
              <a:xfrm>
                <a:off x="8572500" y="1504950"/>
                <a:ext cx="457200" cy="133350"/>
              </a:xfrm>
              <a:prstGeom prst="rect">
                <a:avLst/>
              </a:prstGeom>
              <a:solidFill>
                <a:srgbClr val="92301C"/>
              </a:solidFill>
              <a:ln>
                <a:noFill/>
              </a:ln>
            </p:spPr>
          </p:sp>
          <p:sp>
            <p:nvSpPr>
              <p:cNvPr id="183" name="Rectangle 183"/>
              <p:cNvSpPr/>
              <p:nvPr/>
            </p:nvSpPr>
            <p:spPr>
              <a:xfrm>
                <a:off x="9029700" y="1504950"/>
                <a:ext cx="457200" cy="133350"/>
              </a:xfrm>
              <a:prstGeom prst="rect">
                <a:avLst/>
              </a:prstGeom>
              <a:solidFill>
                <a:srgbClr val="B7533F"/>
              </a:solidFill>
              <a:ln>
                <a:noFill/>
              </a:ln>
            </p:spPr>
          </p:sp>
          <p:sp>
            <p:nvSpPr>
              <p:cNvPr id="184" name="Rectangle 184"/>
              <p:cNvSpPr/>
              <p:nvPr/>
            </p:nvSpPr>
            <p:spPr>
              <a:xfrm>
                <a:off x="9486900" y="1504950"/>
                <a:ext cx="457200" cy="133350"/>
              </a:xfrm>
              <a:prstGeom prst="rect">
                <a:avLst/>
              </a:prstGeom>
              <a:solidFill>
                <a:srgbClr val="B7533F"/>
              </a:solidFill>
              <a:ln>
                <a:noFill/>
              </a:ln>
            </p:spPr>
          </p:sp>
          <p:sp>
            <p:nvSpPr>
              <p:cNvPr id="185" name="Rectangle 185"/>
              <p:cNvSpPr/>
              <p:nvPr/>
            </p:nvSpPr>
            <p:spPr>
              <a:xfrm>
                <a:off x="9944100" y="1504950"/>
                <a:ext cx="457200" cy="133350"/>
              </a:xfrm>
              <a:prstGeom prst="rect">
                <a:avLst/>
              </a:prstGeom>
              <a:solidFill>
                <a:srgbClr val="92301C"/>
              </a:solidFill>
              <a:ln>
                <a:noFill/>
              </a:ln>
            </p:spPr>
          </p:sp>
          <p:sp>
            <p:nvSpPr>
              <p:cNvPr id="186" name="Rectangle 186"/>
              <p:cNvSpPr/>
              <p:nvPr/>
            </p:nvSpPr>
            <p:spPr>
              <a:xfrm>
                <a:off x="8572500" y="1638300"/>
                <a:ext cx="457200" cy="133350"/>
              </a:xfrm>
              <a:prstGeom prst="rect">
                <a:avLst/>
              </a:prstGeom>
              <a:solidFill>
                <a:srgbClr val="6B1B0B"/>
              </a:solidFill>
              <a:ln>
                <a:noFill/>
              </a:ln>
            </p:spPr>
          </p:sp>
          <p:sp>
            <p:nvSpPr>
              <p:cNvPr id="187" name="Rectangle 187"/>
              <p:cNvSpPr/>
              <p:nvPr/>
            </p:nvSpPr>
            <p:spPr>
              <a:xfrm>
                <a:off x="9029700" y="1638300"/>
                <a:ext cx="457200" cy="133350"/>
              </a:xfrm>
              <a:prstGeom prst="rect">
                <a:avLst/>
              </a:prstGeom>
              <a:solidFill>
                <a:srgbClr val="92301C"/>
              </a:solidFill>
              <a:ln>
                <a:noFill/>
              </a:ln>
            </p:spPr>
          </p:sp>
          <p:sp>
            <p:nvSpPr>
              <p:cNvPr id="188" name="Rectangle 188"/>
              <p:cNvSpPr/>
              <p:nvPr/>
            </p:nvSpPr>
            <p:spPr>
              <a:xfrm>
                <a:off x="9486900" y="1638300"/>
                <a:ext cx="457200" cy="133350"/>
              </a:xfrm>
              <a:prstGeom prst="rect">
                <a:avLst/>
              </a:prstGeom>
              <a:solidFill>
                <a:srgbClr val="B7533F"/>
              </a:solidFill>
              <a:ln>
                <a:noFill/>
              </a:ln>
            </p:spPr>
          </p:sp>
          <p:sp>
            <p:nvSpPr>
              <p:cNvPr id="189" name="Rectangle 189"/>
              <p:cNvSpPr/>
              <p:nvPr/>
            </p:nvSpPr>
            <p:spPr>
              <a:xfrm>
                <a:off x="9944100" y="1638300"/>
                <a:ext cx="457200" cy="133350"/>
              </a:xfrm>
              <a:prstGeom prst="rect">
                <a:avLst/>
              </a:prstGeom>
              <a:solidFill>
                <a:srgbClr val="92301C"/>
              </a:solidFill>
              <a:ln>
                <a:noFill/>
              </a:ln>
            </p:spPr>
          </p:sp>
          <p:sp>
            <p:nvSpPr>
              <p:cNvPr id="190" name="Rectangle 190"/>
              <p:cNvSpPr/>
              <p:nvPr/>
            </p:nvSpPr>
            <p:spPr>
              <a:xfrm>
                <a:off x="8572500" y="1771650"/>
                <a:ext cx="457200" cy="133350"/>
              </a:xfrm>
              <a:prstGeom prst="rect">
                <a:avLst/>
              </a:prstGeom>
              <a:solidFill>
                <a:srgbClr val="6B1B0B"/>
              </a:solidFill>
              <a:ln>
                <a:noFill/>
              </a:ln>
            </p:spPr>
          </p:sp>
          <p:sp>
            <p:nvSpPr>
              <p:cNvPr id="191" name="Rectangle 191"/>
              <p:cNvSpPr/>
              <p:nvPr/>
            </p:nvSpPr>
            <p:spPr>
              <a:xfrm>
                <a:off x="9029700" y="1771650"/>
                <a:ext cx="457200" cy="133350"/>
              </a:xfrm>
              <a:prstGeom prst="rect">
                <a:avLst/>
              </a:prstGeom>
              <a:solidFill>
                <a:srgbClr val="B7533F"/>
              </a:solidFill>
              <a:ln>
                <a:noFill/>
              </a:ln>
            </p:spPr>
          </p:sp>
          <p:sp>
            <p:nvSpPr>
              <p:cNvPr id="192" name="Rectangle 192"/>
              <p:cNvSpPr/>
              <p:nvPr/>
            </p:nvSpPr>
            <p:spPr>
              <a:xfrm>
                <a:off x="9486900" y="1771650"/>
                <a:ext cx="457200" cy="133350"/>
              </a:xfrm>
              <a:prstGeom prst="rect">
                <a:avLst/>
              </a:prstGeom>
              <a:solidFill>
                <a:srgbClr val="E3B3A9"/>
              </a:solidFill>
              <a:ln>
                <a:noFill/>
              </a:ln>
            </p:spPr>
          </p:sp>
          <p:sp>
            <p:nvSpPr>
              <p:cNvPr id="193" name="Rectangle 193"/>
              <p:cNvSpPr/>
              <p:nvPr/>
            </p:nvSpPr>
            <p:spPr>
              <a:xfrm>
                <a:off x="9944100" y="1771650"/>
                <a:ext cx="457200" cy="133350"/>
              </a:xfrm>
              <a:prstGeom prst="rect">
                <a:avLst/>
              </a:prstGeom>
              <a:solidFill>
                <a:srgbClr val="6B1B0B"/>
              </a:solidFill>
              <a:ln>
                <a:noFill/>
              </a:ln>
            </p:spPr>
          </p:sp>
          <p:sp>
            <p:nvSpPr>
              <p:cNvPr id="194" name="Rectangle 194"/>
              <p:cNvSpPr/>
              <p:nvPr/>
            </p:nvSpPr>
            <p:spPr>
              <a:xfrm>
                <a:off x="8572500" y="1905000"/>
                <a:ext cx="457200" cy="133350"/>
              </a:xfrm>
              <a:prstGeom prst="rect">
                <a:avLst/>
              </a:prstGeom>
              <a:solidFill>
                <a:srgbClr val="B7533F"/>
              </a:solidFill>
              <a:ln>
                <a:noFill/>
              </a:ln>
            </p:spPr>
          </p:sp>
          <p:sp>
            <p:nvSpPr>
              <p:cNvPr id="195" name="Rectangle 195"/>
              <p:cNvSpPr/>
              <p:nvPr/>
            </p:nvSpPr>
            <p:spPr>
              <a:xfrm>
                <a:off x="9029700" y="1905000"/>
                <a:ext cx="457200" cy="133350"/>
              </a:xfrm>
              <a:prstGeom prst="rect">
                <a:avLst/>
              </a:prstGeom>
              <a:solidFill>
                <a:srgbClr val="B7533F"/>
              </a:solidFill>
              <a:ln>
                <a:noFill/>
              </a:ln>
            </p:spPr>
          </p:sp>
          <p:sp>
            <p:nvSpPr>
              <p:cNvPr id="196" name="Rectangle 196"/>
              <p:cNvSpPr/>
              <p:nvPr/>
            </p:nvSpPr>
            <p:spPr>
              <a:xfrm>
                <a:off x="9486900" y="1905000"/>
                <a:ext cx="457200" cy="133350"/>
              </a:xfrm>
              <a:prstGeom prst="rect">
                <a:avLst/>
              </a:prstGeom>
              <a:solidFill>
                <a:srgbClr val="E3B3A9"/>
              </a:solidFill>
              <a:ln>
                <a:noFill/>
              </a:ln>
            </p:spPr>
          </p:sp>
          <p:sp>
            <p:nvSpPr>
              <p:cNvPr id="197" name="Rectangle 197"/>
              <p:cNvSpPr/>
              <p:nvPr/>
            </p:nvSpPr>
            <p:spPr>
              <a:xfrm>
                <a:off x="9944100" y="1905000"/>
                <a:ext cx="457200" cy="133350"/>
              </a:xfrm>
              <a:prstGeom prst="rect">
                <a:avLst/>
              </a:prstGeom>
              <a:solidFill>
                <a:srgbClr val="92301C"/>
              </a:solidFill>
              <a:ln>
                <a:noFill/>
              </a:ln>
            </p:spPr>
          </p:sp>
          <p:sp>
            <p:nvSpPr>
              <p:cNvPr id="198" name="Rectangle 198"/>
              <p:cNvSpPr/>
              <p:nvPr/>
            </p:nvSpPr>
            <p:spPr>
              <a:xfrm>
                <a:off x="8572500" y="2038350"/>
                <a:ext cx="457200" cy="133350"/>
              </a:xfrm>
              <a:prstGeom prst="rect">
                <a:avLst/>
              </a:prstGeom>
              <a:solidFill>
                <a:srgbClr val="B7533F"/>
              </a:solidFill>
              <a:ln>
                <a:noFill/>
              </a:ln>
            </p:spPr>
          </p:sp>
          <p:sp>
            <p:nvSpPr>
              <p:cNvPr id="199" name="Rectangle 199"/>
              <p:cNvSpPr/>
              <p:nvPr/>
            </p:nvSpPr>
            <p:spPr>
              <a:xfrm>
                <a:off x="9029700" y="2038350"/>
                <a:ext cx="457200" cy="133350"/>
              </a:xfrm>
              <a:prstGeom prst="rect">
                <a:avLst/>
              </a:prstGeom>
              <a:solidFill>
                <a:srgbClr val="E3B3A9"/>
              </a:solidFill>
              <a:ln>
                <a:noFill/>
              </a:ln>
            </p:spPr>
          </p:sp>
          <p:sp>
            <p:nvSpPr>
              <p:cNvPr id="200" name="Rectangle 200"/>
              <p:cNvSpPr/>
              <p:nvPr/>
            </p:nvSpPr>
            <p:spPr>
              <a:xfrm>
                <a:off x="9486900" y="2038350"/>
                <a:ext cx="457200" cy="133350"/>
              </a:xfrm>
              <a:prstGeom prst="rect">
                <a:avLst/>
              </a:prstGeom>
              <a:solidFill>
                <a:srgbClr val="D6E6F3"/>
              </a:solidFill>
              <a:ln>
                <a:noFill/>
              </a:ln>
            </p:spPr>
          </p:sp>
          <p:sp>
            <p:nvSpPr>
              <p:cNvPr id="201" name="Rectangle 201"/>
              <p:cNvSpPr/>
              <p:nvPr/>
            </p:nvSpPr>
            <p:spPr>
              <a:xfrm>
                <a:off x="9944100" y="2038350"/>
                <a:ext cx="457200" cy="133350"/>
              </a:xfrm>
              <a:prstGeom prst="rect">
                <a:avLst/>
              </a:prstGeom>
              <a:solidFill>
                <a:srgbClr val="B7533F"/>
              </a:solidFill>
              <a:ln>
                <a:noFill/>
              </a:ln>
            </p:spPr>
          </p:sp>
          <p:sp>
            <p:nvSpPr>
              <p:cNvPr id="202" name="Rectangle 202"/>
              <p:cNvSpPr/>
              <p:nvPr/>
            </p:nvSpPr>
            <p:spPr>
              <a:xfrm>
                <a:off x="8572500" y="2171700"/>
                <a:ext cx="457200" cy="133350"/>
              </a:xfrm>
              <a:prstGeom prst="rect">
                <a:avLst/>
              </a:prstGeom>
              <a:solidFill>
                <a:srgbClr val="E3B3A9"/>
              </a:solidFill>
              <a:ln>
                <a:noFill/>
              </a:ln>
            </p:spPr>
          </p:sp>
          <p:sp>
            <p:nvSpPr>
              <p:cNvPr id="203" name="Rectangle 203"/>
              <p:cNvSpPr/>
              <p:nvPr/>
            </p:nvSpPr>
            <p:spPr>
              <a:xfrm>
                <a:off x="9029700" y="2171700"/>
                <a:ext cx="457200" cy="133350"/>
              </a:xfrm>
              <a:prstGeom prst="rect">
                <a:avLst/>
              </a:prstGeom>
              <a:solidFill>
                <a:srgbClr val="E3B3A9"/>
              </a:solidFill>
              <a:ln>
                <a:noFill/>
              </a:ln>
            </p:spPr>
          </p:sp>
          <p:sp>
            <p:nvSpPr>
              <p:cNvPr id="204" name="Rectangle 204"/>
              <p:cNvSpPr/>
              <p:nvPr/>
            </p:nvSpPr>
            <p:spPr>
              <a:xfrm>
                <a:off x="9486900" y="2171700"/>
                <a:ext cx="457200" cy="133350"/>
              </a:xfrm>
              <a:prstGeom prst="rect">
                <a:avLst/>
              </a:prstGeom>
              <a:solidFill>
                <a:srgbClr val="D6E6F3"/>
              </a:solidFill>
              <a:ln>
                <a:noFill/>
              </a:ln>
            </p:spPr>
          </p:sp>
          <p:sp>
            <p:nvSpPr>
              <p:cNvPr id="205" name="Rectangle 205"/>
              <p:cNvSpPr/>
              <p:nvPr/>
            </p:nvSpPr>
            <p:spPr>
              <a:xfrm>
                <a:off x="9944100" y="2171700"/>
                <a:ext cx="457200" cy="133350"/>
              </a:xfrm>
              <a:prstGeom prst="rect">
                <a:avLst/>
              </a:prstGeom>
              <a:solidFill>
                <a:srgbClr val="B7533F"/>
              </a:solidFill>
              <a:ln>
                <a:noFill/>
              </a:ln>
            </p:spPr>
          </p:sp>
        </p:grpSp>
        <p:grpSp>
          <p:nvGrpSpPr>
            <p:cNvPr id="217" name="hm-grid"/>
            <p:cNvGrpSpPr/>
            <p:nvPr/>
          </p:nvGrpSpPr>
          <p:grpSpPr>
            <a:xfrm>
              <a:off x="8572500" y="1238250"/>
              <a:ext cx="1828800" cy="1066800"/>
              <a:chOff x="8572500" y="1238250"/>
              <a:chExt cx="1828800" cy="1066800"/>
            </a:xfrm>
          </p:grpSpPr>
          <p:sp>
            <p:nvSpPr>
              <p:cNvPr id="207" name="Line 207"/>
              <p:cNvSpPr/>
              <p:nvPr/>
            </p:nvSpPr>
            <p:spPr>
              <a:xfrm>
                <a:off x="9029700" y="1238250"/>
                <a:ext cx="9525" cy="1066800"/>
              </a:xfrm>
              <a:custGeom>
                <a:avLst/>
                <a:gdLst/>
                <a:ahLst/>
                <a:cxnLst/>
                <a:rect l="l" t="t" r="r" b="b"/>
                <a:pathLst>
                  <a:path w="9525" h="1066800">
                    <a:moveTo>
                      <a:pt x="0" y="0"/>
                    </a:moveTo>
                    <a:lnTo>
                      <a:pt x="0" y="1066800"/>
                    </a:lnTo>
                  </a:path>
                </a:pathLst>
              </a:custGeom>
              <a:noFill/>
              <a:ln w="9525">
                <a:solidFill>
                  <a:srgbClr val="FFFFFF"/>
                </a:solidFill>
              </a:ln>
            </p:spPr>
          </p:sp>
          <p:sp>
            <p:nvSpPr>
              <p:cNvPr id="208" name="Line 208"/>
              <p:cNvSpPr/>
              <p:nvPr/>
            </p:nvSpPr>
            <p:spPr>
              <a:xfrm>
                <a:off x="9486900" y="1238250"/>
                <a:ext cx="9525" cy="1066800"/>
              </a:xfrm>
              <a:custGeom>
                <a:avLst/>
                <a:gdLst/>
                <a:ahLst/>
                <a:cxnLst/>
                <a:rect l="l" t="t" r="r" b="b"/>
                <a:pathLst>
                  <a:path w="9525" h="1066800">
                    <a:moveTo>
                      <a:pt x="0" y="0"/>
                    </a:moveTo>
                    <a:lnTo>
                      <a:pt x="0" y="1066800"/>
                    </a:lnTo>
                  </a:path>
                </a:pathLst>
              </a:custGeom>
              <a:noFill/>
              <a:ln w="9525">
                <a:solidFill>
                  <a:srgbClr val="FFFFFF"/>
                </a:solidFill>
              </a:ln>
            </p:spPr>
          </p:sp>
          <p:sp>
            <p:nvSpPr>
              <p:cNvPr id="209" name="Line 209"/>
              <p:cNvSpPr/>
              <p:nvPr/>
            </p:nvSpPr>
            <p:spPr>
              <a:xfrm>
                <a:off x="9944100" y="1238250"/>
                <a:ext cx="9525" cy="1066800"/>
              </a:xfrm>
              <a:custGeom>
                <a:avLst/>
                <a:gdLst/>
                <a:ahLst/>
                <a:cxnLst/>
                <a:rect l="l" t="t" r="r" b="b"/>
                <a:pathLst>
                  <a:path w="9525" h="1066800">
                    <a:moveTo>
                      <a:pt x="0" y="0"/>
                    </a:moveTo>
                    <a:lnTo>
                      <a:pt x="0" y="1066800"/>
                    </a:lnTo>
                  </a:path>
                </a:pathLst>
              </a:custGeom>
              <a:noFill/>
              <a:ln w="9525">
                <a:solidFill>
                  <a:srgbClr val="FFFFFF"/>
                </a:solidFill>
              </a:ln>
            </p:spPr>
          </p:sp>
          <p:sp>
            <p:nvSpPr>
              <p:cNvPr id="210" name="Line 210"/>
              <p:cNvSpPr/>
              <p:nvPr/>
            </p:nvSpPr>
            <p:spPr>
              <a:xfrm>
                <a:off x="8572500" y="1371600"/>
                <a:ext cx="1828800" cy="9525"/>
              </a:xfrm>
              <a:custGeom>
                <a:avLst/>
                <a:gdLst/>
                <a:ahLst/>
                <a:cxnLst/>
                <a:rect l="l" t="t" r="r" b="b"/>
                <a:pathLst>
                  <a:path w="1828800" h="9525">
                    <a:moveTo>
                      <a:pt x="0" y="0"/>
                    </a:moveTo>
                    <a:lnTo>
                      <a:pt x="1828800" y="0"/>
                    </a:lnTo>
                  </a:path>
                </a:pathLst>
              </a:custGeom>
              <a:noFill/>
              <a:ln w="9525">
                <a:solidFill>
                  <a:srgbClr val="FFFFFF"/>
                </a:solidFill>
              </a:ln>
            </p:spPr>
          </p:sp>
          <p:sp>
            <p:nvSpPr>
              <p:cNvPr id="211" name="Line 211"/>
              <p:cNvSpPr/>
              <p:nvPr/>
            </p:nvSpPr>
            <p:spPr>
              <a:xfrm>
                <a:off x="8572500" y="1504950"/>
                <a:ext cx="1828800" cy="9525"/>
              </a:xfrm>
              <a:custGeom>
                <a:avLst/>
                <a:gdLst/>
                <a:ahLst/>
                <a:cxnLst/>
                <a:rect l="l" t="t" r="r" b="b"/>
                <a:pathLst>
                  <a:path w="1828800" h="9525">
                    <a:moveTo>
                      <a:pt x="0" y="0"/>
                    </a:moveTo>
                    <a:lnTo>
                      <a:pt x="1828800" y="0"/>
                    </a:lnTo>
                  </a:path>
                </a:pathLst>
              </a:custGeom>
              <a:noFill/>
              <a:ln w="9525">
                <a:solidFill>
                  <a:srgbClr val="FFFFFF"/>
                </a:solidFill>
              </a:ln>
            </p:spPr>
          </p:sp>
          <p:sp>
            <p:nvSpPr>
              <p:cNvPr id="212" name="Line 212"/>
              <p:cNvSpPr/>
              <p:nvPr/>
            </p:nvSpPr>
            <p:spPr>
              <a:xfrm>
                <a:off x="8572500" y="1638300"/>
                <a:ext cx="1828800" cy="9525"/>
              </a:xfrm>
              <a:custGeom>
                <a:avLst/>
                <a:gdLst/>
                <a:ahLst/>
                <a:cxnLst/>
                <a:rect l="l" t="t" r="r" b="b"/>
                <a:pathLst>
                  <a:path w="1828800" h="9525">
                    <a:moveTo>
                      <a:pt x="0" y="0"/>
                    </a:moveTo>
                    <a:lnTo>
                      <a:pt x="1828800" y="0"/>
                    </a:lnTo>
                  </a:path>
                </a:pathLst>
              </a:custGeom>
              <a:noFill/>
              <a:ln w="9525">
                <a:solidFill>
                  <a:srgbClr val="FFFFFF"/>
                </a:solidFill>
              </a:ln>
            </p:spPr>
          </p:sp>
          <p:sp>
            <p:nvSpPr>
              <p:cNvPr id="213" name="Line 213"/>
              <p:cNvSpPr/>
              <p:nvPr/>
            </p:nvSpPr>
            <p:spPr>
              <a:xfrm>
                <a:off x="8572500" y="1771650"/>
                <a:ext cx="1828800" cy="9525"/>
              </a:xfrm>
              <a:custGeom>
                <a:avLst/>
                <a:gdLst/>
                <a:ahLst/>
                <a:cxnLst/>
                <a:rect l="l" t="t" r="r" b="b"/>
                <a:pathLst>
                  <a:path w="1828800" h="9525">
                    <a:moveTo>
                      <a:pt x="0" y="0"/>
                    </a:moveTo>
                    <a:lnTo>
                      <a:pt x="1828800" y="0"/>
                    </a:lnTo>
                  </a:path>
                </a:pathLst>
              </a:custGeom>
              <a:noFill/>
              <a:ln w="9525">
                <a:solidFill>
                  <a:srgbClr val="FFFFFF"/>
                </a:solidFill>
              </a:ln>
            </p:spPr>
          </p:sp>
          <p:sp>
            <p:nvSpPr>
              <p:cNvPr id="214" name="Line 214"/>
              <p:cNvSpPr/>
              <p:nvPr/>
            </p:nvSpPr>
            <p:spPr>
              <a:xfrm>
                <a:off x="8572500" y="1905000"/>
                <a:ext cx="1828800" cy="9525"/>
              </a:xfrm>
              <a:custGeom>
                <a:avLst/>
                <a:gdLst/>
                <a:ahLst/>
                <a:cxnLst/>
                <a:rect l="l" t="t" r="r" b="b"/>
                <a:pathLst>
                  <a:path w="1828800" h="9525">
                    <a:moveTo>
                      <a:pt x="0" y="0"/>
                    </a:moveTo>
                    <a:lnTo>
                      <a:pt x="1828800" y="0"/>
                    </a:lnTo>
                  </a:path>
                </a:pathLst>
              </a:custGeom>
              <a:noFill/>
              <a:ln w="9525">
                <a:solidFill>
                  <a:srgbClr val="FFFFFF"/>
                </a:solidFill>
              </a:ln>
            </p:spPr>
          </p:sp>
          <p:sp>
            <p:nvSpPr>
              <p:cNvPr id="215" name="Line 215"/>
              <p:cNvSpPr/>
              <p:nvPr/>
            </p:nvSpPr>
            <p:spPr>
              <a:xfrm>
                <a:off x="8572500" y="2038350"/>
                <a:ext cx="1828800" cy="9525"/>
              </a:xfrm>
              <a:custGeom>
                <a:avLst/>
                <a:gdLst/>
                <a:ahLst/>
                <a:cxnLst/>
                <a:rect l="l" t="t" r="r" b="b"/>
                <a:pathLst>
                  <a:path w="1828800" h="9525">
                    <a:moveTo>
                      <a:pt x="0" y="0"/>
                    </a:moveTo>
                    <a:lnTo>
                      <a:pt x="1828800" y="0"/>
                    </a:lnTo>
                  </a:path>
                </a:pathLst>
              </a:custGeom>
              <a:noFill/>
              <a:ln w="9525">
                <a:solidFill>
                  <a:srgbClr val="FFFFFF"/>
                </a:solidFill>
              </a:ln>
            </p:spPr>
          </p:sp>
          <p:sp>
            <p:nvSpPr>
              <p:cNvPr id="216" name="Line 216"/>
              <p:cNvSpPr/>
              <p:nvPr/>
            </p:nvSpPr>
            <p:spPr>
              <a:xfrm>
                <a:off x="8572500" y="2171700"/>
                <a:ext cx="1828800" cy="9525"/>
              </a:xfrm>
              <a:custGeom>
                <a:avLst/>
                <a:gdLst/>
                <a:ahLst/>
                <a:cxnLst/>
                <a:rect l="l" t="t" r="r" b="b"/>
                <a:pathLst>
                  <a:path w="1828800" h="9525">
                    <a:moveTo>
                      <a:pt x="0" y="0"/>
                    </a:moveTo>
                    <a:lnTo>
                      <a:pt x="1828800" y="0"/>
                    </a:lnTo>
                  </a:path>
                </a:pathLst>
              </a:custGeom>
              <a:noFill/>
              <a:ln w="9525">
                <a:solidFill>
                  <a:srgbClr val="FFFFFF"/>
                </a:solidFill>
              </a:ln>
            </p:spPr>
          </p:sp>
        </p:grpSp>
        <p:sp>
          <p:nvSpPr>
            <p:cNvPr id="218" name="Rectangle 218"/>
            <p:cNvSpPr/>
            <p:nvPr/>
          </p:nvSpPr>
          <p:spPr>
            <a:xfrm>
              <a:off x="11239500" y="1238250"/>
              <a:ext cx="114300" cy="1066800"/>
            </a:xfrm>
            <a:prstGeom prst="rect">
              <a:avLst/>
            </a:prstGeom>
            <a:gradFill>
              <a:gsLst>
                <a:gs pos="0">
                  <a:srgbClr val="6B1B0B"/>
                </a:gs>
                <a:gs pos="100000">
                  <a:srgbClr val="D6E6F3"/>
                </a:gs>
              </a:gsLst>
              <a:lin ang="5400000" scaled="1"/>
            </a:gradFill>
            <a:ln>
              <a:noFill/>
            </a:ln>
          </p:spPr>
        </p:sp>
        <p:sp>
          <p:nvSpPr>
            <p:cNvPr id="219" name="TextBox 219"/>
            <p:cNvSpPr txBox="1"/>
            <p:nvPr/>
          </p:nvSpPr>
          <p:spPr>
            <a:xfrm>
              <a:off x="11425238" y="1245632"/>
              <a:ext cx="267995"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高风险</a:t>
              </a:r>
            </a:p>
          </p:txBody>
        </p:sp>
        <p:sp>
          <p:nvSpPr>
            <p:cNvPr id="220" name="TextBox 220"/>
            <p:cNvSpPr txBox="1"/>
            <p:nvPr/>
          </p:nvSpPr>
          <p:spPr>
            <a:xfrm>
              <a:off x="11425238" y="2236232"/>
              <a:ext cx="267995"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低风险</a:t>
              </a:r>
            </a:p>
          </p:txBody>
        </p:sp>
      </p:grpSp>
      <p:grpSp>
        <p:nvGrpSpPr>
          <p:cNvPr id="275" name="fit-matrix"/>
          <p:cNvGrpSpPr/>
          <p:nvPr/>
        </p:nvGrpSpPr>
        <p:grpSpPr>
          <a:xfrm>
            <a:off x="7824788" y="3103245"/>
            <a:ext cx="4176712" cy="1805464"/>
            <a:chOff x="7824788" y="3103245"/>
            <a:chExt cx="4176712" cy="1805464"/>
          </a:xfrm>
        </p:grpSpPr>
        <p:sp>
          <p:nvSpPr>
            <p:cNvPr id="222" name="TextBox 222"/>
            <p:cNvSpPr txBox="1"/>
            <p:nvPr/>
          </p:nvSpPr>
          <p:spPr>
            <a:xfrm>
              <a:off x="7824788" y="3103245"/>
              <a:ext cx="1452618"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客户—产品适配矩阵</a:t>
              </a:r>
              <a:r>
                <a:rPr lang="zh-CN" sz="750" dirty="0">
                  <a:solidFill>
                    <a:srgbClr val="6B1B0B"/>
                  </a:solidFill>
                  <a:latin typeface="+mn-lt"/>
                  <a:ea typeface="+mn-ea"/>
                  <a:cs typeface="+mn-cs"/>
                </a:rPr>
                <a:t>（示例）</a:t>
              </a:r>
            </a:p>
          </p:txBody>
        </p:sp>
        <p:sp>
          <p:nvSpPr>
            <p:cNvPr id="223" name="Rectangle 223"/>
            <p:cNvSpPr/>
            <p:nvPr/>
          </p:nvSpPr>
          <p:spPr>
            <a:xfrm>
              <a:off x="7829550" y="3276600"/>
              <a:ext cx="4171950" cy="209550"/>
            </a:xfrm>
            <a:prstGeom prst="rect">
              <a:avLst/>
            </a:prstGeom>
            <a:solidFill>
              <a:srgbClr val="6B1B0B"/>
            </a:solidFill>
            <a:ln>
              <a:noFill/>
            </a:ln>
          </p:spPr>
        </p:sp>
        <p:grpSp>
          <p:nvGrpSpPr>
            <p:cNvPr id="230" name="fm-head"/>
            <p:cNvGrpSpPr/>
            <p:nvPr/>
          </p:nvGrpSpPr>
          <p:grpSpPr>
            <a:xfrm>
              <a:off x="7920038" y="3342561"/>
              <a:ext cx="3610304" cy="140494"/>
              <a:chOff x="7920038" y="3342561"/>
              <a:chExt cx="3610304" cy="140494"/>
            </a:xfrm>
          </p:grpSpPr>
          <p:sp>
            <p:nvSpPr>
              <p:cNvPr id="224" name="TextBox 224"/>
              <p:cNvSpPr txBox="1"/>
              <p:nvPr/>
            </p:nvSpPr>
            <p:spPr>
              <a:xfrm>
                <a:off x="7920038" y="3342561"/>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客户类型</a:t>
                </a:r>
              </a:p>
            </p:txBody>
          </p:sp>
          <p:sp>
            <p:nvSpPr>
              <p:cNvPr id="225" name="TextBox 225"/>
              <p:cNvSpPr txBox="1"/>
              <p:nvPr/>
            </p:nvSpPr>
            <p:spPr>
              <a:xfrm>
                <a:off x="8995867" y="334256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货币类</a:t>
                </a:r>
              </a:p>
            </p:txBody>
          </p:sp>
          <p:sp>
            <p:nvSpPr>
              <p:cNvPr id="226" name="TextBox 226"/>
              <p:cNvSpPr txBox="1"/>
              <p:nvPr/>
            </p:nvSpPr>
            <p:spPr>
              <a:xfrm>
                <a:off x="9567367" y="334256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债券类</a:t>
                </a:r>
              </a:p>
            </p:txBody>
          </p:sp>
          <p:sp>
            <p:nvSpPr>
              <p:cNvPr id="227" name="TextBox 227"/>
              <p:cNvSpPr txBox="1"/>
              <p:nvPr/>
            </p:nvSpPr>
            <p:spPr>
              <a:xfrm>
                <a:off x="10138867" y="334256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固收＋</a:t>
                </a:r>
              </a:p>
            </p:txBody>
          </p:sp>
          <p:sp>
            <p:nvSpPr>
              <p:cNvPr id="228" name="TextBox 228"/>
              <p:cNvSpPr txBox="1"/>
              <p:nvPr/>
            </p:nvSpPr>
            <p:spPr>
              <a:xfrm>
                <a:off x="10710367" y="334256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权益类</a:t>
                </a:r>
              </a:p>
            </p:txBody>
          </p:sp>
          <p:sp>
            <p:nvSpPr>
              <p:cNvPr id="229" name="TextBox 229"/>
              <p:cNvSpPr txBox="1"/>
              <p:nvPr/>
            </p:nvSpPr>
            <p:spPr>
              <a:xfrm>
                <a:off x="11329657" y="334256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另类</a:t>
                </a:r>
              </a:p>
            </p:txBody>
          </p:sp>
        </p:grpSp>
        <p:grpSp>
          <p:nvGrpSpPr>
            <p:cNvPr id="239" name="fm-rows"/>
            <p:cNvGrpSpPr/>
            <p:nvPr/>
          </p:nvGrpSpPr>
          <p:grpSpPr>
            <a:xfrm>
              <a:off x="7829550" y="3486150"/>
              <a:ext cx="4171950" cy="1143000"/>
              <a:chOff x="7829550" y="3486150"/>
              <a:chExt cx="4171950" cy="1143000"/>
            </a:xfrm>
          </p:grpSpPr>
          <p:sp>
            <p:nvSpPr>
              <p:cNvPr id="231" name="Rectangle 231"/>
              <p:cNvSpPr/>
              <p:nvPr/>
            </p:nvSpPr>
            <p:spPr>
              <a:xfrm>
                <a:off x="7829550" y="3486150"/>
                <a:ext cx="4171950" cy="285750"/>
              </a:xfrm>
              <a:prstGeom prst="rect">
                <a:avLst/>
              </a:prstGeom>
              <a:solidFill>
                <a:srgbClr val="F6F9FD"/>
              </a:solidFill>
              <a:ln>
                <a:noFill/>
              </a:ln>
            </p:spPr>
          </p:sp>
          <p:sp>
            <p:nvSpPr>
              <p:cNvPr id="232" name="TextBox 232"/>
              <p:cNvSpPr txBox="1"/>
              <p:nvPr/>
            </p:nvSpPr>
            <p:spPr>
              <a:xfrm>
                <a:off x="7920038" y="3590211"/>
                <a:ext cx="296266" cy="140494"/>
              </a:xfrm>
              <a:prstGeom prst="rect">
                <a:avLst/>
              </a:prstGeom>
              <a:noFill/>
              <a:ln>
                <a:noFill/>
              </a:ln>
            </p:spPr>
            <p:txBody>
              <a:bodyPr wrap="none" lIns="0" tIns="0" rIns="0" bIns="0" anchor="t" anchorCtr="0">
                <a:spAutoFit/>
              </a:bodyPr>
              <a:lstStyle/>
              <a:p>
                <a:pPr algn="l"/>
                <a:r>
                  <a:rPr lang="zh-CN" sz="710" b="1" dirty="0">
                    <a:solidFill>
                      <a:srgbClr val="6B1B0B"/>
                    </a:solidFill>
                    <a:latin typeface="+mn-lt"/>
                    <a:ea typeface="+mn-ea"/>
                    <a:cs typeface="+mn-cs"/>
                  </a:rPr>
                  <a:t>稳健型</a:t>
                </a:r>
              </a:p>
            </p:txBody>
          </p:sp>
          <p:sp>
            <p:nvSpPr>
              <p:cNvPr id="233" name="Rectangle 233"/>
              <p:cNvSpPr/>
              <p:nvPr/>
            </p:nvSpPr>
            <p:spPr>
              <a:xfrm>
                <a:off x="7829550" y="3771900"/>
                <a:ext cx="4171950" cy="285750"/>
              </a:xfrm>
              <a:prstGeom prst="rect">
                <a:avLst/>
              </a:prstGeom>
              <a:solidFill>
                <a:srgbClr val="FFFFFF"/>
              </a:solidFill>
              <a:ln>
                <a:noFill/>
              </a:ln>
            </p:spPr>
          </p:sp>
          <p:sp>
            <p:nvSpPr>
              <p:cNvPr id="234" name="TextBox 234"/>
              <p:cNvSpPr txBox="1"/>
              <p:nvPr/>
            </p:nvSpPr>
            <p:spPr>
              <a:xfrm>
                <a:off x="7920038" y="3875961"/>
                <a:ext cx="296266" cy="140494"/>
              </a:xfrm>
              <a:prstGeom prst="rect">
                <a:avLst/>
              </a:prstGeom>
              <a:noFill/>
              <a:ln>
                <a:noFill/>
              </a:ln>
            </p:spPr>
            <p:txBody>
              <a:bodyPr wrap="none" lIns="0" tIns="0" rIns="0" bIns="0" anchor="t" anchorCtr="0">
                <a:spAutoFit/>
              </a:bodyPr>
              <a:lstStyle/>
              <a:p>
                <a:pPr algn="l"/>
                <a:r>
                  <a:rPr lang="zh-CN" sz="710" b="1" dirty="0">
                    <a:solidFill>
                      <a:srgbClr val="6B1B0B"/>
                    </a:solidFill>
                    <a:latin typeface="+mn-lt"/>
                    <a:ea typeface="+mn-ea"/>
                    <a:cs typeface="+mn-cs"/>
                  </a:rPr>
                  <a:t>平衡型</a:t>
                </a:r>
              </a:p>
            </p:txBody>
          </p:sp>
          <p:sp>
            <p:nvSpPr>
              <p:cNvPr id="235" name="Rectangle 235"/>
              <p:cNvSpPr/>
              <p:nvPr/>
            </p:nvSpPr>
            <p:spPr>
              <a:xfrm>
                <a:off x="7829550" y="4057650"/>
                <a:ext cx="4171950" cy="285750"/>
              </a:xfrm>
              <a:prstGeom prst="rect">
                <a:avLst/>
              </a:prstGeom>
              <a:solidFill>
                <a:srgbClr val="F6F9FD"/>
              </a:solidFill>
              <a:ln>
                <a:noFill/>
              </a:ln>
            </p:spPr>
          </p:sp>
          <p:sp>
            <p:nvSpPr>
              <p:cNvPr id="236" name="TextBox 236"/>
              <p:cNvSpPr txBox="1"/>
              <p:nvPr/>
            </p:nvSpPr>
            <p:spPr>
              <a:xfrm>
                <a:off x="7920038" y="4161711"/>
                <a:ext cx="296266" cy="140494"/>
              </a:xfrm>
              <a:prstGeom prst="rect">
                <a:avLst/>
              </a:prstGeom>
              <a:noFill/>
              <a:ln>
                <a:noFill/>
              </a:ln>
            </p:spPr>
            <p:txBody>
              <a:bodyPr wrap="none" lIns="0" tIns="0" rIns="0" bIns="0" anchor="t" anchorCtr="0">
                <a:spAutoFit/>
              </a:bodyPr>
              <a:lstStyle/>
              <a:p>
                <a:pPr algn="l"/>
                <a:r>
                  <a:rPr lang="zh-CN" sz="710" b="1" dirty="0">
                    <a:solidFill>
                      <a:srgbClr val="6B1B0B"/>
                    </a:solidFill>
                    <a:latin typeface="+mn-lt"/>
                    <a:ea typeface="+mn-ea"/>
                    <a:cs typeface="+mn-cs"/>
                  </a:rPr>
                  <a:t>进取型</a:t>
                </a:r>
              </a:p>
            </p:txBody>
          </p:sp>
          <p:sp>
            <p:nvSpPr>
              <p:cNvPr id="237" name="Rectangle 237"/>
              <p:cNvSpPr/>
              <p:nvPr/>
            </p:nvSpPr>
            <p:spPr>
              <a:xfrm>
                <a:off x="7829550" y="4343400"/>
                <a:ext cx="4171950" cy="285750"/>
              </a:xfrm>
              <a:prstGeom prst="rect">
                <a:avLst/>
              </a:prstGeom>
              <a:solidFill>
                <a:srgbClr val="FFFFFF"/>
              </a:solidFill>
              <a:ln>
                <a:noFill/>
              </a:ln>
            </p:spPr>
          </p:sp>
          <p:sp>
            <p:nvSpPr>
              <p:cNvPr id="238" name="TextBox 238"/>
              <p:cNvSpPr txBox="1"/>
              <p:nvPr/>
            </p:nvSpPr>
            <p:spPr>
              <a:xfrm>
                <a:off x="7920038" y="4447461"/>
                <a:ext cx="296266" cy="140494"/>
              </a:xfrm>
              <a:prstGeom prst="rect">
                <a:avLst/>
              </a:prstGeom>
              <a:noFill/>
              <a:ln>
                <a:noFill/>
              </a:ln>
            </p:spPr>
            <p:txBody>
              <a:bodyPr wrap="none" lIns="0" tIns="0" rIns="0" bIns="0" anchor="t" anchorCtr="0">
                <a:spAutoFit/>
              </a:bodyPr>
              <a:lstStyle/>
              <a:p>
                <a:pPr algn="l"/>
                <a:r>
                  <a:rPr lang="zh-CN" sz="710" b="1" dirty="0">
                    <a:solidFill>
                      <a:srgbClr val="6B1B0B"/>
                    </a:solidFill>
                    <a:latin typeface="+mn-lt"/>
                    <a:ea typeface="+mn-ea"/>
                    <a:cs typeface="+mn-cs"/>
                  </a:rPr>
                  <a:t>高净值</a:t>
                </a:r>
              </a:p>
            </p:txBody>
          </p:sp>
        </p:grpSp>
        <p:grpSp>
          <p:nvGrpSpPr>
            <p:cNvPr id="266" name="fm-dots"/>
            <p:cNvGrpSpPr/>
            <p:nvPr/>
          </p:nvGrpSpPr>
          <p:grpSpPr>
            <a:xfrm>
              <a:off x="9086850" y="3571875"/>
              <a:ext cx="2400300" cy="971550"/>
              <a:chOff x="9086850" y="3571875"/>
              <a:chExt cx="2400300" cy="971550"/>
            </a:xfrm>
          </p:grpSpPr>
          <p:sp>
            <p:nvSpPr>
              <p:cNvPr id="240" name="Ellipse 240"/>
              <p:cNvSpPr/>
              <p:nvPr/>
            </p:nvSpPr>
            <p:spPr>
              <a:xfrm>
                <a:off x="9086850" y="3571875"/>
                <a:ext cx="114300" cy="114300"/>
              </a:xfrm>
              <a:prstGeom prst="ellipse">
                <a:avLst/>
              </a:prstGeom>
              <a:solidFill>
                <a:srgbClr val="92301C"/>
              </a:solidFill>
              <a:ln>
                <a:noFill/>
              </a:ln>
            </p:spPr>
          </p:sp>
          <p:sp>
            <p:nvSpPr>
              <p:cNvPr id="241" name="Ellipse 241"/>
              <p:cNvSpPr/>
              <p:nvPr/>
            </p:nvSpPr>
            <p:spPr>
              <a:xfrm>
                <a:off x="9658350" y="3571875"/>
                <a:ext cx="114300" cy="114300"/>
              </a:xfrm>
              <a:prstGeom prst="ellipse">
                <a:avLst/>
              </a:prstGeom>
              <a:solidFill>
                <a:srgbClr val="92301C"/>
              </a:solidFill>
              <a:ln>
                <a:noFill/>
              </a:ln>
            </p:spPr>
          </p:sp>
          <p:sp>
            <p:nvSpPr>
              <p:cNvPr id="242" name="Ellipse 242"/>
              <p:cNvSpPr/>
              <p:nvPr/>
            </p:nvSpPr>
            <p:spPr>
              <a:xfrm>
                <a:off x="10229850" y="3571875"/>
                <a:ext cx="114300" cy="114300"/>
              </a:xfrm>
              <a:prstGeom prst="ellipse">
                <a:avLst/>
              </a:prstGeom>
              <a:noFill/>
              <a:ln w="11430">
                <a:solidFill>
                  <a:srgbClr val="92301C"/>
                </a:solidFill>
              </a:ln>
            </p:spPr>
          </p:sp>
          <p:sp>
            <p:nvSpPr>
              <p:cNvPr id="243" name="Freeform 243"/>
              <p:cNvSpPr/>
              <p:nvPr/>
            </p:nvSpPr>
            <p:spPr>
              <a:xfrm>
                <a:off x="10229850" y="3571875"/>
                <a:ext cx="57150" cy="114300"/>
              </a:xfrm>
              <a:custGeom>
                <a:avLst/>
                <a:gdLst/>
                <a:ahLst/>
                <a:cxnLst/>
                <a:rect l="l" t="t" r="r" b="b"/>
                <a:pathLst>
                  <a:path w="57150" h="114300">
                    <a:moveTo>
                      <a:pt x="57150" y="0"/>
                    </a:moveTo>
                    <a:cubicBezTo>
                      <a:pt x="25587" y="0"/>
                      <a:pt x="0" y="25587"/>
                      <a:pt x="0" y="57150"/>
                    </a:cubicBezTo>
                    <a:cubicBezTo>
                      <a:pt x="0" y="88713"/>
                      <a:pt x="25587" y="114300"/>
                      <a:pt x="57150" y="114300"/>
                    </a:cubicBezTo>
                    <a:close/>
                  </a:path>
                </a:pathLst>
              </a:custGeom>
              <a:solidFill>
                <a:srgbClr val="92301C"/>
              </a:solidFill>
              <a:ln>
                <a:noFill/>
              </a:ln>
            </p:spPr>
          </p:sp>
          <p:sp>
            <p:nvSpPr>
              <p:cNvPr id="244" name="Ellipse 244"/>
              <p:cNvSpPr/>
              <p:nvPr/>
            </p:nvSpPr>
            <p:spPr>
              <a:xfrm>
                <a:off x="10801350" y="3571875"/>
                <a:ext cx="114300" cy="114300"/>
              </a:xfrm>
              <a:prstGeom prst="ellipse">
                <a:avLst/>
              </a:prstGeom>
              <a:noFill/>
              <a:ln w="11430">
                <a:solidFill>
                  <a:srgbClr val="92301C"/>
                </a:solidFill>
              </a:ln>
            </p:spPr>
          </p:sp>
          <p:sp>
            <p:nvSpPr>
              <p:cNvPr id="245" name="Ellipse 245"/>
              <p:cNvSpPr/>
              <p:nvPr/>
            </p:nvSpPr>
            <p:spPr>
              <a:xfrm>
                <a:off x="11372850" y="3571875"/>
                <a:ext cx="114300" cy="114300"/>
              </a:xfrm>
              <a:prstGeom prst="ellipse">
                <a:avLst/>
              </a:prstGeom>
              <a:noFill/>
              <a:ln w="11430">
                <a:solidFill>
                  <a:srgbClr val="92301C"/>
                </a:solidFill>
              </a:ln>
            </p:spPr>
          </p:sp>
          <p:sp>
            <p:nvSpPr>
              <p:cNvPr id="246" name="Ellipse 246"/>
              <p:cNvSpPr/>
              <p:nvPr/>
            </p:nvSpPr>
            <p:spPr>
              <a:xfrm>
                <a:off x="9086850" y="3857625"/>
                <a:ext cx="114300" cy="114300"/>
              </a:xfrm>
              <a:prstGeom prst="ellipse">
                <a:avLst/>
              </a:prstGeom>
              <a:solidFill>
                <a:srgbClr val="92301C"/>
              </a:solidFill>
              <a:ln>
                <a:noFill/>
              </a:ln>
            </p:spPr>
          </p:sp>
          <p:sp>
            <p:nvSpPr>
              <p:cNvPr id="247" name="Ellipse 247"/>
              <p:cNvSpPr/>
              <p:nvPr/>
            </p:nvSpPr>
            <p:spPr>
              <a:xfrm>
                <a:off x="9658350" y="3857625"/>
                <a:ext cx="114300" cy="114300"/>
              </a:xfrm>
              <a:prstGeom prst="ellipse">
                <a:avLst/>
              </a:prstGeom>
              <a:solidFill>
                <a:srgbClr val="92301C"/>
              </a:solidFill>
              <a:ln>
                <a:noFill/>
              </a:ln>
            </p:spPr>
          </p:sp>
          <p:sp>
            <p:nvSpPr>
              <p:cNvPr id="248" name="Ellipse 248"/>
              <p:cNvSpPr/>
              <p:nvPr/>
            </p:nvSpPr>
            <p:spPr>
              <a:xfrm>
                <a:off x="10229850" y="3857625"/>
                <a:ext cx="114300" cy="114300"/>
              </a:xfrm>
              <a:prstGeom prst="ellipse">
                <a:avLst/>
              </a:prstGeom>
              <a:solidFill>
                <a:srgbClr val="92301C"/>
              </a:solidFill>
              <a:ln>
                <a:noFill/>
              </a:ln>
            </p:spPr>
          </p:sp>
          <p:sp>
            <p:nvSpPr>
              <p:cNvPr id="249" name="Ellipse 249"/>
              <p:cNvSpPr/>
              <p:nvPr/>
            </p:nvSpPr>
            <p:spPr>
              <a:xfrm>
                <a:off x="10801350" y="3857625"/>
                <a:ext cx="114300" cy="114300"/>
              </a:xfrm>
              <a:prstGeom prst="ellipse">
                <a:avLst/>
              </a:prstGeom>
              <a:noFill/>
              <a:ln w="11430">
                <a:solidFill>
                  <a:srgbClr val="92301C"/>
                </a:solidFill>
              </a:ln>
            </p:spPr>
          </p:sp>
          <p:sp>
            <p:nvSpPr>
              <p:cNvPr id="250" name="Freeform 250"/>
              <p:cNvSpPr/>
              <p:nvPr/>
            </p:nvSpPr>
            <p:spPr>
              <a:xfrm>
                <a:off x="10801350" y="3857625"/>
                <a:ext cx="57150" cy="114300"/>
              </a:xfrm>
              <a:custGeom>
                <a:avLst/>
                <a:gdLst/>
                <a:ahLst/>
                <a:cxnLst/>
                <a:rect l="l" t="t" r="r" b="b"/>
                <a:pathLst>
                  <a:path w="57150" h="114300">
                    <a:moveTo>
                      <a:pt x="57150" y="0"/>
                    </a:moveTo>
                    <a:cubicBezTo>
                      <a:pt x="25587" y="0"/>
                      <a:pt x="0" y="25587"/>
                      <a:pt x="0" y="57150"/>
                    </a:cubicBezTo>
                    <a:cubicBezTo>
                      <a:pt x="0" y="88713"/>
                      <a:pt x="25587" y="114300"/>
                      <a:pt x="57150" y="114300"/>
                    </a:cubicBezTo>
                    <a:close/>
                  </a:path>
                </a:pathLst>
              </a:custGeom>
              <a:solidFill>
                <a:srgbClr val="92301C"/>
              </a:solidFill>
              <a:ln>
                <a:noFill/>
              </a:ln>
            </p:spPr>
          </p:sp>
          <p:sp>
            <p:nvSpPr>
              <p:cNvPr id="251" name="Ellipse 251"/>
              <p:cNvSpPr/>
              <p:nvPr/>
            </p:nvSpPr>
            <p:spPr>
              <a:xfrm>
                <a:off x="11372850" y="3857625"/>
                <a:ext cx="114300" cy="114300"/>
              </a:xfrm>
              <a:prstGeom prst="ellipse">
                <a:avLst/>
              </a:prstGeom>
              <a:noFill/>
              <a:ln w="11430">
                <a:solidFill>
                  <a:srgbClr val="92301C"/>
                </a:solidFill>
              </a:ln>
            </p:spPr>
          </p:sp>
          <p:sp>
            <p:nvSpPr>
              <p:cNvPr id="252" name="Ellipse 252"/>
              <p:cNvSpPr/>
              <p:nvPr/>
            </p:nvSpPr>
            <p:spPr>
              <a:xfrm>
                <a:off x="9086850" y="4143375"/>
                <a:ext cx="114300" cy="114300"/>
              </a:xfrm>
              <a:prstGeom prst="ellipse">
                <a:avLst/>
              </a:prstGeom>
              <a:noFill/>
              <a:ln w="11430">
                <a:solidFill>
                  <a:srgbClr val="92301C"/>
                </a:solidFill>
              </a:ln>
            </p:spPr>
          </p:sp>
          <p:sp>
            <p:nvSpPr>
              <p:cNvPr id="253" name="Freeform 253"/>
              <p:cNvSpPr/>
              <p:nvPr/>
            </p:nvSpPr>
            <p:spPr>
              <a:xfrm>
                <a:off x="9086850" y="4143375"/>
                <a:ext cx="57150" cy="114300"/>
              </a:xfrm>
              <a:custGeom>
                <a:avLst/>
                <a:gdLst/>
                <a:ahLst/>
                <a:cxnLst/>
                <a:rect l="l" t="t" r="r" b="b"/>
                <a:pathLst>
                  <a:path w="57150" h="114300">
                    <a:moveTo>
                      <a:pt x="57150" y="0"/>
                    </a:moveTo>
                    <a:cubicBezTo>
                      <a:pt x="25587" y="0"/>
                      <a:pt x="0" y="25587"/>
                      <a:pt x="0" y="57150"/>
                    </a:cubicBezTo>
                    <a:cubicBezTo>
                      <a:pt x="0" y="88713"/>
                      <a:pt x="25587" y="114300"/>
                      <a:pt x="57150" y="114300"/>
                    </a:cubicBezTo>
                    <a:close/>
                  </a:path>
                </a:pathLst>
              </a:custGeom>
              <a:solidFill>
                <a:srgbClr val="92301C"/>
              </a:solidFill>
              <a:ln>
                <a:noFill/>
              </a:ln>
            </p:spPr>
          </p:sp>
          <p:sp>
            <p:nvSpPr>
              <p:cNvPr id="254" name="Ellipse 254"/>
              <p:cNvSpPr/>
              <p:nvPr/>
            </p:nvSpPr>
            <p:spPr>
              <a:xfrm>
                <a:off x="9658350" y="4143375"/>
                <a:ext cx="114300" cy="114300"/>
              </a:xfrm>
              <a:prstGeom prst="ellipse">
                <a:avLst/>
              </a:prstGeom>
              <a:noFill/>
              <a:ln w="11430">
                <a:solidFill>
                  <a:srgbClr val="92301C"/>
                </a:solidFill>
              </a:ln>
            </p:spPr>
          </p:sp>
          <p:sp>
            <p:nvSpPr>
              <p:cNvPr id="255" name="Freeform 255"/>
              <p:cNvSpPr/>
              <p:nvPr/>
            </p:nvSpPr>
            <p:spPr>
              <a:xfrm>
                <a:off x="9658350" y="4143375"/>
                <a:ext cx="57150" cy="114300"/>
              </a:xfrm>
              <a:custGeom>
                <a:avLst/>
                <a:gdLst/>
                <a:ahLst/>
                <a:cxnLst/>
                <a:rect l="l" t="t" r="r" b="b"/>
                <a:pathLst>
                  <a:path w="57150" h="114300">
                    <a:moveTo>
                      <a:pt x="57150" y="0"/>
                    </a:moveTo>
                    <a:cubicBezTo>
                      <a:pt x="25587" y="0"/>
                      <a:pt x="0" y="25587"/>
                      <a:pt x="0" y="57150"/>
                    </a:cubicBezTo>
                    <a:cubicBezTo>
                      <a:pt x="0" y="88713"/>
                      <a:pt x="25587" y="114300"/>
                      <a:pt x="57150" y="114300"/>
                    </a:cubicBezTo>
                    <a:close/>
                  </a:path>
                </a:pathLst>
              </a:custGeom>
              <a:solidFill>
                <a:srgbClr val="92301C"/>
              </a:solidFill>
              <a:ln>
                <a:noFill/>
              </a:ln>
            </p:spPr>
          </p:sp>
          <p:sp>
            <p:nvSpPr>
              <p:cNvPr id="256" name="Ellipse 256"/>
              <p:cNvSpPr/>
              <p:nvPr/>
            </p:nvSpPr>
            <p:spPr>
              <a:xfrm>
                <a:off x="10229850" y="4143375"/>
                <a:ext cx="114300" cy="114300"/>
              </a:xfrm>
              <a:prstGeom prst="ellipse">
                <a:avLst/>
              </a:prstGeom>
              <a:solidFill>
                <a:srgbClr val="92301C"/>
              </a:solidFill>
              <a:ln>
                <a:noFill/>
              </a:ln>
            </p:spPr>
          </p:sp>
          <p:sp>
            <p:nvSpPr>
              <p:cNvPr id="257" name="Ellipse 257"/>
              <p:cNvSpPr/>
              <p:nvPr/>
            </p:nvSpPr>
            <p:spPr>
              <a:xfrm>
                <a:off x="10801350" y="4143375"/>
                <a:ext cx="114300" cy="114300"/>
              </a:xfrm>
              <a:prstGeom prst="ellipse">
                <a:avLst/>
              </a:prstGeom>
              <a:solidFill>
                <a:srgbClr val="92301C"/>
              </a:solidFill>
              <a:ln>
                <a:noFill/>
              </a:ln>
            </p:spPr>
          </p:sp>
          <p:sp>
            <p:nvSpPr>
              <p:cNvPr id="258" name="Ellipse 258"/>
              <p:cNvSpPr/>
              <p:nvPr/>
            </p:nvSpPr>
            <p:spPr>
              <a:xfrm>
                <a:off x="11372850" y="4143375"/>
                <a:ext cx="114300" cy="114300"/>
              </a:xfrm>
              <a:prstGeom prst="ellipse">
                <a:avLst/>
              </a:prstGeom>
              <a:noFill/>
              <a:ln w="11430">
                <a:solidFill>
                  <a:srgbClr val="92301C"/>
                </a:solidFill>
              </a:ln>
            </p:spPr>
          </p:sp>
          <p:sp>
            <p:nvSpPr>
              <p:cNvPr id="259" name="Freeform 259"/>
              <p:cNvSpPr/>
              <p:nvPr/>
            </p:nvSpPr>
            <p:spPr>
              <a:xfrm>
                <a:off x="11372850" y="4143375"/>
                <a:ext cx="57150" cy="114300"/>
              </a:xfrm>
              <a:custGeom>
                <a:avLst/>
                <a:gdLst/>
                <a:ahLst/>
                <a:cxnLst/>
                <a:rect l="l" t="t" r="r" b="b"/>
                <a:pathLst>
                  <a:path w="57150" h="114300">
                    <a:moveTo>
                      <a:pt x="57150" y="0"/>
                    </a:moveTo>
                    <a:cubicBezTo>
                      <a:pt x="25587" y="0"/>
                      <a:pt x="0" y="25587"/>
                      <a:pt x="0" y="57150"/>
                    </a:cubicBezTo>
                    <a:cubicBezTo>
                      <a:pt x="0" y="88713"/>
                      <a:pt x="25587" y="114300"/>
                      <a:pt x="57150" y="114300"/>
                    </a:cubicBezTo>
                    <a:close/>
                  </a:path>
                </a:pathLst>
              </a:custGeom>
              <a:solidFill>
                <a:srgbClr val="92301C"/>
              </a:solidFill>
              <a:ln>
                <a:noFill/>
              </a:ln>
            </p:spPr>
          </p:sp>
          <p:sp>
            <p:nvSpPr>
              <p:cNvPr id="260" name="Ellipse 260"/>
              <p:cNvSpPr/>
              <p:nvPr/>
            </p:nvSpPr>
            <p:spPr>
              <a:xfrm>
                <a:off x="9086850" y="4429125"/>
                <a:ext cx="114300" cy="114300"/>
              </a:xfrm>
              <a:prstGeom prst="ellipse">
                <a:avLst/>
              </a:prstGeom>
              <a:noFill/>
              <a:ln w="11430">
                <a:solidFill>
                  <a:srgbClr val="92301C"/>
                </a:solidFill>
              </a:ln>
            </p:spPr>
          </p:sp>
          <p:sp>
            <p:nvSpPr>
              <p:cNvPr id="261" name="Freeform 261"/>
              <p:cNvSpPr/>
              <p:nvPr/>
            </p:nvSpPr>
            <p:spPr>
              <a:xfrm>
                <a:off x="9086850" y="4429125"/>
                <a:ext cx="57150" cy="114300"/>
              </a:xfrm>
              <a:custGeom>
                <a:avLst/>
                <a:gdLst/>
                <a:ahLst/>
                <a:cxnLst/>
                <a:rect l="l" t="t" r="r" b="b"/>
                <a:pathLst>
                  <a:path w="57150" h="114300">
                    <a:moveTo>
                      <a:pt x="57150" y="0"/>
                    </a:moveTo>
                    <a:cubicBezTo>
                      <a:pt x="25587" y="0"/>
                      <a:pt x="0" y="25587"/>
                      <a:pt x="0" y="57150"/>
                    </a:cubicBezTo>
                    <a:cubicBezTo>
                      <a:pt x="0" y="88713"/>
                      <a:pt x="25587" y="114300"/>
                      <a:pt x="57150" y="114300"/>
                    </a:cubicBezTo>
                    <a:close/>
                  </a:path>
                </a:pathLst>
              </a:custGeom>
              <a:solidFill>
                <a:srgbClr val="92301C"/>
              </a:solidFill>
              <a:ln>
                <a:noFill/>
              </a:ln>
            </p:spPr>
          </p:sp>
          <p:sp>
            <p:nvSpPr>
              <p:cNvPr id="262" name="Ellipse 262"/>
              <p:cNvSpPr/>
              <p:nvPr/>
            </p:nvSpPr>
            <p:spPr>
              <a:xfrm>
                <a:off x="9658350" y="4429125"/>
                <a:ext cx="114300" cy="114300"/>
              </a:xfrm>
              <a:prstGeom prst="ellipse">
                <a:avLst/>
              </a:prstGeom>
              <a:solidFill>
                <a:srgbClr val="92301C"/>
              </a:solidFill>
              <a:ln>
                <a:noFill/>
              </a:ln>
            </p:spPr>
          </p:sp>
          <p:sp>
            <p:nvSpPr>
              <p:cNvPr id="263" name="Ellipse 263"/>
              <p:cNvSpPr/>
              <p:nvPr/>
            </p:nvSpPr>
            <p:spPr>
              <a:xfrm>
                <a:off x="10229850" y="4429125"/>
                <a:ext cx="114300" cy="114300"/>
              </a:xfrm>
              <a:prstGeom prst="ellipse">
                <a:avLst/>
              </a:prstGeom>
              <a:solidFill>
                <a:srgbClr val="92301C"/>
              </a:solidFill>
              <a:ln>
                <a:noFill/>
              </a:ln>
            </p:spPr>
          </p:sp>
          <p:sp>
            <p:nvSpPr>
              <p:cNvPr id="264" name="Ellipse 264"/>
              <p:cNvSpPr/>
              <p:nvPr/>
            </p:nvSpPr>
            <p:spPr>
              <a:xfrm>
                <a:off x="10801350" y="4429125"/>
                <a:ext cx="114300" cy="114300"/>
              </a:xfrm>
              <a:prstGeom prst="ellipse">
                <a:avLst/>
              </a:prstGeom>
              <a:solidFill>
                <a:srgbClr val="92301C"/>
              </a:solidFill>
              <a:ln>
                <a:noFill/>
              </a:ln>
            </p:spPr>
          </p:sp>
          <p:sp>
            <p:nvSpPr>
              <p:cNvPr id="265" name="Ellipse 265"/>
              <p:cNvSpPr/>
              <p:nvPr/>
            </p:nvSpPr>
            <p:spPr>
              <a:xfrm>
                <a:off x="11372850" y="4429125"/>
                <a:ext cx="114300" cy="114300"/>
              </a:xfrm>
              <a:prstGeom prst="ellipse">
                <a:avLst/>
              </a:prstGeom>
              <a:solidFill>
                <a:srgbClr val="92301C"/>
              </a:solidFill>
              <a:ln>
                <a:noFill/>
              </a:ln>
            </p:spPr>
          </p:sp>
        </p:grpSp>
        <p:grpSp>
          <p:nvGrpSpPr>
            <p:cNvPr id="274" name="fm-legend"/>
            <p:cNvGrpSpPr/>
            <p:nvPr/>
          </p:nvGrpSpPr>
          <p:grpSpPr>
            <a:xfrm>
              <a:off x="8524875" y="4772025"/>
              <a:ext cx="2418804" cy="136684"/>
              <a:chOff x="8524875" y="4772025"/>
              <a:chExt cx="2418804" cy="136684"/>
            </a:xfrm>
          </p:grpSpPr>
          <p:sp>
            <p:nvSpPr>
              <p:cNvPr id="267" name="Ellipse 267"/>
              <p:cNvSpPr/>
              <p:nvPr/>
            </p:nvSpPr>
            <p:spPr>
              <a:xfrm>
                <a:off x="8524875" y="4772025"/>
                <a:ext cx="95250" cy="95250"/>
              </a:xfrm>
              <a:prstGeom prst="ellipse">
                <a:avLst/>
              </a:prstGeom>
              <a:solidFill>
                <a:srgbClr val="92301C"/>
              </a:solidFill>
              <a:ln>
                <a:noFill/>
              </a:ln>
            </p:spPr>
          </p:sp>
          <p:sp>
            <p:nvSpPr>
              <p:cNvPr id="268" name="TextBox 268"/>
              <p:cNvSpPr txBox="1"/>
              <p:nvPr/>
            </p:nvSpPr>
            <p:spPr>
              <a:xfrm>
                <a:off x="8662988" y="4775359"/>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适配度高</a:t>
                </a:r>
              </a:p>
            </p:txBody>
          </p:sp>
          <p:sp>
            <p:nvSpPr>
              <p:cNvPr id="269" name="Ellipse 269"/>
              <p:cNvSpPr/>
              <p:nvPr/>
            </p:nvSpPr>
            <p:spPr>
              <a:xfrm>
                <a:off x="9477375" y="4772025"/>
                <a:ext cx="95250" cy="95250"/>
              </a:xfrm>
              <a:prstGeom prst="ellipse">
                <a:avLst/>
              </a:prstGeom>
              <a:noFill/>
              <a:ln w="11430">
                <a:solidFill>
                  <a:srgbClr val="92301C"/>
                </a:solidFill>
              </a:ln>
            </p:spPr>
          </p:sp>
          <p:sp>
            <p:nvSpPr>
              <p:cNvPr id="270" name="Freeform 270"/>
              <p:cNvSpPr/>
              <p:nvPr/>
            </p:nvSpPr>
            <p:spPr>
              <a:xfrm>
                <a:off x="9477375" y="4772025"/>
                <a:ext cx="47625" cy="95250"/>
              </a:xfrm>
              <a:custGeom>
                <a:avLst/>
                <a:gdLst/>
                <a:ahLst/>
                <a:cxnLst/>
                <a:rect l="l" t="t" r="r" b="b"/>
                <a:pathLst>
                  <a:path w="47625" h="95250">
                    <a:moveTo>
                      <a:pt x="47625" y="0"/>
                    </a:moveTo>
                    <a:cubicBezTo>
                      <a:pt x="21322" y="0"/>
                      <a:pt x="0" y="21322"/>
                      <a:pt x="0" y="47625"/>
                    </a:cubicBezTo>
                    <a:cubicBezTo>
                      <a:pt x="0" y="73928"/>
                      <a:pt x="21322" y="95250"/>
                      <a:pt x="47625" y="95250"/>
                    </a:cubicBezTo>
                    <a:close/>
                  </a:path>
                </a:pathLst>
              </a:custGeom>
              <a:solidFill>
                <a:srgbClr val="92301C"/>
              </a:solidFill>
              <a:ln>
                <a:noFill/>
              </a:ln>
            </p:spPr>
          </p:sp>
          <p:sp>
            <p:nvSpPr>
              <p:cNvPr id="271" name="TextBox 271"/>
              <p:cNvSpPr txBox="1"/>
              <p:nvPr/>
            </p:nvSpPr>
            <p:spPr>
              <a:xfrm>
                <a:off x="9615488" y="4775359"/>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适配度中</a:t>
                </a:r>
              </a:p>
            </p:txBody>
          </p:sp>
          <p:sp>
            <p:nvSpPr>
              <p:cNvPr id="272" name="Ellipse 272"/>
              <p:cNvSpPr/>
              <p:nvPr/>
            </p:nvSpPr>
            <p:spPr>
              <a:xfrm>
                <a:off x="10429875" y="4772025"/>
                <a:ext cx="95250" cy="95250"/>
              </a:xfrm>
              <a:prstGeom prst="ellipse">
                <a:avLst/>
              </a:prstGeom>
              <a:noFill/>
              <a:ln w="11430">
                <a:solidFill>
                  <a:srgbClr val="92301C"/>
                </a:solidFill>
              </a:ln>
            </p:spPr>
          </p:sp>
          <p:sp>
            <p:nvSpPr>
              <p:cNvPr id="273" name="TextBox 273"/>
              <p:cNvSpPr txBox="1"/>
              <p:nvPr/>
            </p:nvSpPr>
            <p:spPr>
              <a:xfrm>
                <a:off x="10567988" y="4775359"/>
                <a:ext cx="375691"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适配度低</a:t>
                </a:r>
              </a:p>
            </p:txBody>
          </p:sp>
        </p:grpSp>
      </p:grpSp>
      <p:grpSp>
        <p:nvGrpSpPr>
          <p:cNvPr id="278" name="bottom-head"/>
          <p:cNvGrpSpPr/>
          <p:nvPr/>
        </p:nvGrpSpPr>
        <p:grpSpPr>
          <a:xfrm>
            <a:off x="190500" y="5257800"/>
            <a:ext cx="7543800" cy="272987"/>
            <a:chOff x="190500" y="5257800"/>
            <a:chExt cx="7543800" cy="272987"/>
          </a:xfrm>
        </p:grpSpPr>
        <p:sp>
          <p:nvSpPr>
            <p:cNvPr id="276" name="Rectangle 276"/>
            <p:cNvSpPr/>
            <p:nvPr/>
          </p:nvSpPr>
          <p:spPr>
            <a:xfrm>
              <a:off x="190500" y="5257800"/>
              <a:ext cx="7543800" cy="266700"/>
            </a:xfrm>
            <a:prstGeom prst="rect">
              <a:avLst/>
            </a:prstGeom>
            <a:gradFill>
              <a:gsLst>
                <a:gs pos="0">
                  <a:srgbClr val="92301C"/>
                </a:gs>
                <a:gs pos="100000">
                  <a:srgbClr val="B7533F"/>
                </a:gs>
              </a:gsLst>
              <a:lin ang="0" scaled="1"/>
            </a:gradFill>
            <a:ln>
              <a:noFill/>
            </a:ln>
          </p:spPr>
        </p:sp>
        <p:sp>
          <p:nvSpPr>
            <p:cNvPr id="277" name="TextBox 277"/>
            <p:cNvSpPr txBox="1"/>
            <p:nvPr/>
          </p:nvSpPr>
          <p:spPr>
            <a:xfrm>
              <a:off x="318516" y="5325428"/>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合规控制要点</a:t>
              </a:r>
            </a:p>
          </p:txBody>
        </p:sp>
      </p:grpSp>
      <p:grpSp>
        <p:nvGrpSpPr>
          <p:cNvPr id="323" name="bottom-cards"/>
          <p:cNvGrpSpPr/>
          <p:nvPr/>
        </p:nvGrpSpPr>
        <p:grpSpPr>
          <a:xfrm>
            <a:off x="190500" y="5562600"/>
            <a:ext cx="7524750" cy="1009650"/>
            <a:chOff x="190500" y="5562600"/>
            <a:chExt cx="7524750" cy="1009650"/>
          </a:xfrm>
        </p:grpSpPr>
        <p:grpSp>
          <p:nvGrpSpPr>
            <p:cNvPr id="286" name="bc-1"/>
            <p:cNvGrpSpPr/>
            <p:nvPr/>
          </p:nvGrpSpPr>
          <p:grpSpPr>
            <a:xfrm>
              <a:off x="190500" y="5562600"/>
              <a:ext cx="1428750" cy="1009650"/>
              <a:chOff x="190500" y="5562600"/>
              <a:chExt cx="1428750" cy="1009650"/>
            </a:xfrm>
          </p:grpSpPr>
          <p:sp>
            <p:nvSpPr>
              <p:cNvPr id="279" name="Rectangle 279"/>
              <p:cNvSpPr/>
              <p:nvPr/>
            </p:nvSpPr>
            <p:spPr>
              <a:xfrm>
                <a:off x="190500" y="5562600"/>
                <a:ext cx="1428750" cy="1009650"/>
              </a:xfrm>
              <a:prstGeom prst="roundRect">
                <a:avLst>
                  <a:gd name="adj" fmla="val 5660"/>
                </a:avLst>
              </a:prstGeom>
              <a:solidFill>
                <a:srgbClr val="F6F9FD"/>
              </a:solidFill>
              <a:ln w="9525">
                <a:solidFill>
                  <a:srgbClr val="CFDFEE"/>
                </a:solidFill>
              </a:ln>
            </p:spPr>
          </p:sp>
          <p:grpSp>
            <p:nvGrpSpPr>
              <p:cNvPr id="282" name="Group 282"/>
              <p:cNvGrpSpPr/>
              <p:nvPr/>
            </p:nvGrpSpPr>
            <p:grpSpPr>
              <a:xfrm>
                <a:off x="311944" y="5703094"/>
                <a:ext cx="157163" cy="157163"/>
                <a:chOff x="311944" y="5703094"/>
                <a:chExt cx="157163" cy="157163"/>
              </a:xfrm>
            </p:grpSpPr>
            <p:sp>
              <p:nvSpPr>
                <p:cNvPr id="280" name="Freeform 280"/>
                <p:cNvSpPr/>
                <p:nvPr/>
              </p:nvSpPr>
              <p:spPr>
                <a:xfrm>
                  <a:off x="311944" y="570309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92301C"/>
                  </a:solidFill>
                </a:ln>
              </p:spPr>
            </p:sp>
            <p:sp>
              <p:nvSpPr>
                <p:cNvPr id="281" name="Freeform 281"/>
                <p:cNvSpPr/>
                <p:nvPr/>
              </p:nvSpPr>
              <p:spPr>
                <a:xfrm>
                  <a:off x="416719" y="5807869"/>
                  <a:ext cx="52388" cy="52388"/>
                </a:xfrm>
                <a:custGeom>
                  <a:avLst/>
                  <a:gdLst/>
                  <a:ahLst/>
                  <a:cxnLst/>
                  <a:rect l="l" t="t" r="r" b="b"/>
                  <a:pathLst>
                    <a:path w="52388" h="52388">
                      <a:moveTo>
                        <a:pt x="52388" y="52388"/>
                      </a:moveTo>
                      <a:lnTo>
                        <a:pt x="0" y="0"/>
                      </a:lnTo>
                    </a:path>
                  </a:pathLst>
                </a:custGeom>
                <a:noFill/>
                <a:ln w="17463">
                  <a:solidFill>
                    <a:srgbClr val="92301C"/>
                  </a:solidFill>
                </a:ln>
              </p:spPr>
            </p:sp>
          </p:grpSp>
          <p:sp>
            <p:nvSpPr>
              <p:cNvPr id="283" name="TextBox 283"/>
              <p:cNvSpPr txBox="1"/>
              <p:nvPr/>
            </p:nvSpPr>
            <p:spPr>
              <a:xfrm>
                <a:off x="566738" y="5740241"/>
                <a:ext cx="561467"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来源可追溯</a:t>
                </a:r>
              </a:p>
            </p:txBody>
          </p:sp>
          <p:sp>
            <p:nvSpPr>
              <p:cNvPr id="284" name="TextBox 284"/>
              <p:cNvSpPr txBox="1"/>
              <p:nvPr/>
            </p:nvSpPr>
            <p:spPr>
              <a:xfrm>
                <a:off x="261938" y="6031230"/>
                <a:ext cx="1221105"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所有内容均标注数据来源与依据，</a:t>
                </a:r>
              </a:p>
            </p:txBody>
          </p:sp>
          <p:sp>
            <p:nvSpPr>
              <p:cNvPr id="285" name="TextBox 285"/>
              <p:cNvSpPr txBox="1"/>
              <p:nvPr/>
            </p:nvSpPr>
            <p:spPr>
              <a:xfrm>
                <a:off x="261938" y="6183630"/>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保留检索记录</a:t>
                </a:r>
              </a:p>
            </p:txBody>
          </p:sp>
        </p:grpSp>
        <p:grpSp>
          <p:nvGrpSpPr>
            <p:cNvPr id="295" name="bc-2"/>
            <p:cNvGrpSpPr/>
            <p:nvPr/>
          </p:nvGrpSpPr>
          <p:grpSpPr>
            <a:xfrm>
              <a:off x="1714500" y="5562600"/>
              <a:ext cx="1428750" cy="1009650"/>
              <a:chOff x="1714500" y="5562600"/>
              <a:chExt cx="1428750" cy="1009650"/>
            </a:xfrm>
          </p:grpSpPr>
          <p:sp>
            <p:nvSpPr>
              <p:cNvPr id="287" name="Rectangle 287"/>
              <p:cNvSpPr/>
              <p:nvPr/>
            </p:nvSpPr>
            <p:spPr>
              <a:xfrm>
                <a:off x="1714500" y="5562600"/>
                <a:ext cx="1428750" cy="1009650"/>
              </a:xfrm>
              <a:prstGeom prst="roundRect">
                <a:avLst>
                  <a:gd name="adj" fmla="val 5660"/>
                </a:avLst>
              </a:prstGeom>
              <a:solidFill>
                <a:srgbClr val="F6F9FD"/>
              </a:solidFill>
              <a:ln w="9525">
                <a:solidFill>
                  <a:srgbClr val="CFDFEE"/>
                </a:solidFill>
              </a:ln>
            </p:spPr>
          </p:sp>
          <p:grpSp>
            <p:nvGrpSpPr>
              <p:cNvPr id="290" name="Group 290"/>
              <p:cNvGrpSpPr/>
              <p:nvPr/>
            </p:nvGrpSpPr>
            <p:grpSpPr>
              <a:xfrm>
                <a:off x="1835944" y="5703094"/>
                <a:ext cx="157163" cy="157163"/>
                <a:chOff x="1835944" y="5703094"/>
                <a:chExt cx="157163" cy="157163"/>
              </a:xfrm>
            </p:grpSpPr>
            <p:sp>
              <p:nvSpPr>
                <p:cNvPr id="288" name="Freeform 288"/>
                <p:cNvSpPr/>
                <p:nvPr/>
              </p:nvSpPr>
              <p:spPr>
                <a:xfrm>
                  <a:off x="1835944" y="57030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8452F"/>
                  </a:solidFill>
                </a:ln>
              </p:spPr>
            </p:sp>
            <p:sp>
              <p:nvSpPr>
                <p:cNvPr id="289" name="Freeform 289"/>
                <p:cNvSpPr/>
                <p:nvPr/>
              </p:nvSpPr>
              <p:spPr>
                <a:xfrm>
                  <a:off x="1859518" y="5726668"/>
                  <a:ext cx="110014" cy="110014"/>
                </a:xfrm>
                <a:custGeom>
                  <a:avLst/>
                  <a:gdLst/>
                  <a:ahLst/>
                  <a:cxnLst/>
                  <a:rect l="l" t="t" r="r" b="b"/>
                  <a:pathLst>
                    <a:path w="110014" h="110014">
                      <a:moveTo>
                        <a:pt x="0" y="0"/>
                      </a:moveTo>
                      <a:lnTo>
                        <a:pt x="110014" y="110014"/>
                      </a:lnTo>
                    </a:path>
                  </a:pathLst>
                </a:custGeom>
                <a:noFill/>
                <a:ln w="17463">
                  <a:solidFill>
                    <a:srgbClr val="C8452F"/>
                  </a:solidFill>
                </a:ln>
              </p:spPr>
            </p:sp>
          </p:grpSp>
          <p:sp>
            <p:nvSpPr>
              <p:cNvPr id="291" name="TextBox 291"/>
              <p:cNvSpPr txBox="1"/>
              <p:nvPr/>
            </p:nvSpPr>
            <p:spPr>
              <a:xfrm>
                <a:off x="2090738" y="5740241"/>
                <a:ext cx="671855"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禁止收益承诺</a:t>
                </a:r>
              </a:p>
            </p:txBody>
          </p:sp>
          <p:sp>
            <p:nvSpPr>
              <p:cNvPr id="292" name="TextBox 292"/>
              <p:cNvSpPr txBox="1"/>
              <p:nvPr/>
            </p:nvSpPr>
            <p:spPr>
              <a:xfrm>
                <a:off x="1785938" y="5997178"/>
                <a:ext cx="544774"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n-lt"/>
                    <a:ea typeface="+mn-ea"/>
                    <a:cs typeface="+mn-cs"/>
                  </a:rPr>
                  <a:t>严禁使用“保本”</a:t>
                </a:r>
              </a:p>
            </p:txBody>
          </p:sp>
          <p:sp>
            <p:nvSpPr>
              <p:cNvPr id="293" name="TextBox 293"/>
              <p:cNvSpPr txBox="1"/>
              <p:nvPr/>
            </p:nvSpPr>
            <p:spPr>
              <a:xfrm>
                <a:off x="1785938" y="6130528"/>
                <a:ext cx="778474"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n-lt"/>
                    <a:ea typeface="+mn-ea"/>
                    <a:cs typeface="+mn-cs"/>
                  </a:rPr>
                  <a:t>“保证收益”“稳赚不赔”</a:t>
                </a:r>
              </a:p>
            </p:txBody>
          </p:sp>
          <p:sp>
            <p:nvSpPr>
              <p:cNvPr id="294" name="TextBox 294"/>
              <p:cNvSpPr txBox="1"/>
              <p:nvPr/>
            </p:nvSpPr>
            <p:spPr>
              <a:xfrm>
                <a:off x="1785938" y="6263878"/>
                <a:ext cx="386461" cy="111919"/>
              </a:xfrm>
              <a:prstGeom prst="rect">
                <a:avLst/>
              </a:prstGeom>
              <a:noFill/>
              <a:ln>
                <a:noFill/>
              </a:ln>
            </p:spPr>
            <p:txBody>
              <a:bodyPr wrap="none" lIns="0" tIns="0" rIns="0" bIns="0" anchor="t" anchorCtr="0">
                <a:spAutoFit/>
              </a:bodyPr>
              <a:lstStyle/>
              <a:p>
                <a:pPr algn="l"/>
                <a:r>
                  <a:rPr lang="zh-CN" sz="560" dirty="0">
                    <a:solidFill>
                      <a:srgbClr val="52352F"/>
                    </a:solidFill>
                    <a:latin typeface="+mn-lt"/>
                    <a:ea typeface="+mn-ea"/>
                    <a:cs typeface="+mn-cs"/>
                  </a:rPr>
                  <a:t>等误导表述</a:t>
                </a:r>
              </a:p>
            </p:txBody>
          </p:sp>
        </p:grpSp>
        <p:grpSp>
          <p:nvGrpSpPr>
            <p:cNvPr id="305" name="bc-3"/>
            <p:cNvGrpSpPr/>
            <p:nvPr/>
          </p:nvGrpSpPr>
          <p:grpSpPr>
            <a:xfrm>
              <a:off x="3238500" y="5562600"/>
              <a:ext cx="1428750" cy="1009650"/>
              <a:chOff x="3238500" y="5562600"/>
              <a:chExt cx="1428750" cy="1009650"/>
            </a:xfrm>
          </p:grpSpPr>
          <p:sp>
            <p:nvSpPr>
              <p:cNvPr id="296" name="Rectangle 296"/>
              <p:cNvSpPr/>
              <p:nvPr/>
            </p:nvSpPr>
            <p:spPr>
              <a:xfrm>
                <a:off x="3238500" y="5562600"/>
                <a:ext cx="1428750" cy="1009650"/>
              </a:xfrm>
              <a:prstGeom prst="roundRect">
                <a:avLst>
                  <a:gd name="adj" fmla="val 5660"/>
                </a:avLst>
              </a:prstGeom>
              <a:solidFill>
                <a:srgbClr val="F6F9FD"/>
              </a:solidFill>
              <a:ln w="9525">
                <a:solidFill>
                  <a:srgbClr val="CFDFEE"/>
                </a:solidFill>
              </a:ln>
            </p:spPr>
          </p:sp>
          <p:grpSp>
            <p:nvGrpSpPr>
              <p:cNvPr id="301" name="Group 301"/>
              <p:cNvGrpSpPr/>
              <p:nvPr/>
            </p:nvGrpSpPr>
            <p:grpSpPr>
              <a:xfrm>
                <a:off x="3359944" y="5703094"/>
                <a:ext cx="157163" cy="157163"/>
                <a:chOff x="3359944" y="5703094"/>
                <a:chExt cx="157163" cy="157163"/>
              </a:xfrm>
            </p:grpSpPr>
            <p:sp>
              <p:nvSpPr>
                <p:cNvPr id="297" name="Freeform 297"/>
                <p:cNvSpPr/>
                <p:nvPr/>
              </p:nvSpPr>
              <p:spPr>
                <a:xfrm>
                  <a:off x="3359944" y="57030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92301C"/>
                  </a:solidFill>
                </a:ln>
              </p:spPr>
            </p:sp>
            <p:sp>
              <p:nvSpPr>
                <p:cNvPr id="298" name="Freeform 298"/>
                <p:cNvSpPr/>
                <p:nvPr/>
              </p:nvSpPr>
              <p:spPr>
                <a:xfrm>
                  <a:off x="3429794" y="577294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92301C"/>
                  </a:solidFill>
                </a:ln>
              </p:spPr>
            </p:sp>
            <p:sp>
              <p:nvSpPr>
                <p:cNvPr id="299" name="Freeform 299"/>
                <p:cNvSpPr/>
                <p:nvPr/>
              </p:nvSpPr>
              <p:spPr>
                <a:xfrm>
                  <a:off x="3450836" y="5746750"/>
                  <a:ext cx="22614" cy="22614"/>
                </a:xfrm>
                <a:custGeom>
                  <a:avLst/>
                  <a:gdLst/>
                  <a:ahLst/>
                  <a:cxnLst/>
                  <a:rect l="l" t="t" r="r" b="b"/>
                  <a:pathLst>
                    <a:path w="22614" h="22614">
                      <a:moveTo>
                        <a:pt x="0" y="22614"/>
                      </a:moveTo>
                      <a:lnTo>
                        <a:pt x="22614" y="0"/>
                      </a:lnTo>
                    </a:path>
                  </a:pathLst>
                </a:custGeom>
                <a:noFill/>
                <a:ln w="17463">
                  <a:solidFill>
                    <a:srgbClr val="92301C"/>
                  </a:solidFill>
                </a:ln>
              </p:spPr>
            </p:sp>
            <p:sp>
              <p:nvSpPr>
                <p:cNvPr id="300" name="Freeform 300"/>
                <p:cNvSpPr/>
                <p:nvPr/>
              </p:nvSpPr>
              <p:spPr>
                <a:xfrm>
                  <a:off x="3394869" y="5738019"/>
                  <a:ext cx="43656" cy="43656"/>
                </a:xfrm>
                <a:custGeom>
                  <a:avLst/>
                  <a:gdLst/>
                  <a:ahLst/>
                  <a:cxnLst/>
                  <a:rect l="l" t="t" r="r" b="b"/>
                  <a:pathLst>
                    <a:path w="43656" h="43656">
                      <a:moveTo>
                        <a:pt x="0" y="43656"/>
                      </a:moveTo>
                      <a:cubicBezTo>
                        <a:pt x="0" y="19546"/>
                        <a:pt x="19546" y="0"/>
                        <a:pt x="43656" y="0"/>
                      </a:cubicBezTo>
                    </a:path>
                  </a:pathLst>
                </a:custGeom>
                <a:noFill/>
                <a:ln w="17463">
                  <a:solidFill>
                    <a:srgbClr val="92301C"/>
                  </a:solidFill>
                </a:ln>
              </p:spPr>
            </p:sp>
          </p:grpSp>
          <p:sp>
            <p:nvSpPr>
              <p:cNvPr id="302" name="TextBox 302"/>
              <p:cNvSpPr txBox="1"/>
              <p:nvPr/>
            </p:nvSpPr>
            <p:spPr>
              <a:xfrm>
                <a:off x="3614738" y="574024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触达频控</a:t>
                </a:r>
              </a:p>
            </p:txBody>
          </p:sp>
          <p:sp>
            <p:nvSpPr>
              <p:cNvPr id="303" name="TextBox 303"/>
              <p:cNvSpPr txBox="1"/>
              <p:nvPr/>
            </p:nvSpPr>
            <p:spPr>
              <a:xfrm>
                <a:off x="3309938" y="6031230"/>
                <a:ext cx="89801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遵循客户触达频率限制，</a:t>
                </a:r>
              </a:p>
            </p:txBody>
          </p:sp>
          <p:sp>
            <p:nvSpPr>
              <p:cNvPr id="304" name="TextBox 304"/>
              <p:cNvSpPr txBox="1"/>
              <p:nvPr/>
            </p:nvSpPr>
            <p:spPr>
              <a:xfrm>
                <a:off x="3309938" y="6183630"/>
                <a:ext cx="49415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避免过度营销</a:t>
                </a:r>
              </a:p>
            </p:txBody>
          </p:sp>
        </p:grpSp>
        <p:grpSp>
          <p:nvGrpSpPr>
            <p:cNvPr id="313" name="bc-4"/>
            <p:cNvGrpSpPr/>
            <p:nvPr/>
          </p:nvGrpSpPr>
          <p:grpSpPr>
            <a:xfrm>
              <a:off x="4762500" y="5562600"/>
              <a:ext cx="1428750" cy="1009650"/>
              <a:chOff x="4762500" y="5562600"/>
              <a:chExt cx="1428750" cy="1009650"/>
            </a:xfrm>
          </p:grpSpPr>
          <p:sp>
            <p:nvSpPr>
              <p:cNvPr id="306" name="Rectangle 306"/>
              <p:cNvSpPr/>
              <p:nvPr/>
            </p:nvSpPr>
            <p:spPr>
              <a:xfrm>
                <a:off x="4762500" y="5562600"/>
                <a:ext cx="1428750" cy="1009650"/>
              </a:xfrm>
              <a:prstGeom prst="roundRect">
                <a:avLst>
                  <a:gd name="adj" fmla="val 5660"/>
                </a:avLst>
              </a:prstGeom>
              <a:solidFill>
                <a:srgbClr val="F6F9FD"/>
              </a:solidFill>
              <a:ln w="9525">
                <a:solidFill>
                  <a:srgbClr val="CFDFEE"/>
                </a:solidFill>
              </a:ln>
            </p:spPr>
          </p:sp>
          <p:grpSp>
            <p:nvGrpSpPr>
              <p:cNvPr id="309" name="Group 309"/>
              <p:cNvGrpSpPr/>
              <p:nvPr/>
            </p:nvGrpSpPr>
            <p:grpSpPr>
              <a:xfrm>
                <a:off x="4883944" y="5729288"/>
                <a:ext cx="157163" cy="104775"/>
                <a:chOff x="4883944" y="5729288"/>
                <a:chExt cx="157163" cy="104775"/>
              </a:xfrm>
            </p:grpSpPr>
            <p:sp>
              <p:nvSpPr>
                <p:cNvPr id="307" name="Freeform 307"/>
                <p:cNvSpPr/>
                <p:nvPr/>
              </p:nvSpPr>
              <p:spPr>
                <a:xfrm>
                  <a:off x="4988719" y="5742988"/>
                  <a:ext cx="52388" cy="77374"/>
                </a:xfrm>
                <a:custGeom>
                  <a:avLst/>
                  <a:gdLst/>
                  <a:ahLst/>
                  <a:cxnLst/>
                  <a:rect l="l" t="t" r="r" b="b"/>
                  <a:pathLst>
                    <a:path w="52388" h="77374">
                      <a:moveTo>
                        <a:pt x="0" y="21224"/>
                      </a:moveTo>
                      <a:lnTo>
                        <a:pt x="39753" y="1352"/>
                      </a:lnTo>
                      <a:cubicBezTo>
                        <a:pt x="42459" y="0"/>
                        <a:pt x="45672" y="145"/>
                        <a:pt x="48245" y="1735"/>
                      </a:cubicBezTo>
                      <a:cubicBezTo>
                        <a:pt x="50819" y="3324"/>
                        <a:pt x="52386" y="6133"/>
                        <a:pt x="52388" y="9158"/>
                      </a:cubicBezTo>
                      <a:lnTo>
                        <a:pt x="52388" y="68216"/>
                      </a:lnTo>
                      <a:cubicBezTo>
                        <a:pt x="52386" y="71241"/>
                        <a:pt x="50819" y="74049"/>
                        <a:pt x="48245" y="75639"/>
                      </a:cubicBezTo>
                      <a:cubicBezTo>
                        <a:pt x="45672" y="77229"/>
                        <a:pt x="42459" y="77374"/>
                        <a:pt x="39753" y="76022"/>
                      </a:cubicBezTo>
                      <a:lnTo>
                        <a:pt x="0" y="56149"/>
                      </a:lnTo>
                      <a:lnTo>
                        <a:pt x="0" y="21224"/>
                      </a:lnTo>
                    </a:path>
                  </a:pathLst>
                </a:custGeom>
                <a:noFill/>
                <a:ln w="17463">
                  <a:solidFill>
                    <a:srgbClr val="92301C"/>
                  </a:solidFill>
                </a:ln>
              </p:spPr>
            </p:sp>
            <p:sp>
              <p:nvSpPr>
                <p:cNvPr id="308" name="Freeform 308"/>
                <p:cNvSpPr/>
                <p:nvPr/>
              </p:nvSpPr>
              <p:spPr>
                <a:xfrm>
                  <a:off x="4883944" y="5729288"/>
                  <a:ext cx="104775" cy="104775"/>
                </a:xfrm>
                <a:custGeom>
                  <a:avLst/>
                  <a:gdLst/>
                  <a:ahLst/>
                  <a:cxnLst/>
                  <a:rect l="l" t="t" r="r" b="b"/>
                  <a:pathLst>
                    <a:path w="104775" h="104775">
                      <a:moveTo>
                        <a:pt x="0" y="17463"/>
                      </a:moveTo>
                      <a:cubicBezTo>
                        <a:pt x="0" y="7818"/>
                        <a:pt x="7818" y="0"/>
                        <a:pt x="17463" y="0"/>
                      </a:cubicBezTo>
                      <a:lnTo>
                        <a:pt x="87313" y="0"/>
                      </a:lnTo>
                      <a:cubicBezTo>
                        <a:pt x="96957" y="0"/>
                        <a:pt x="104775" y="7818"/>
                        <a:pt x="104775" y="17463"/>
                      </a:cubicBezTo>
                      <a:lnTo>
                        <a:pt x="104775" y="87313"/>
                      </a:lnTo>
                      <a:cubicBezTo>
                        <a:pt x="104775" y="96957"/>
                        <a:pt x="96957" y="104775"/>
                        <a:pt x="87313" y="104775"/>
                      </a:cubicBezTo>
                      <a:lnTo>
                        <a:pt x="17463" y="104775"/>
                      </a:lnTo>
                      <a:cubicBezTo>
                        <a:pt x="7818" y="104775"/>
                        <a:pt x="0" y="96957"/>
                        <a:pt x="0" y="87313"/>
                      </a:cubicBezTo>
                      <a:lnTo>
                        <a:pt x="0" y="17463"/>
                      </a:lnTo>
                    </a:path>
                  </a:pathLst>
                </a:custGeom>
                <a:noFill/>
                <a:ln w="17463">
                  <a:solidFill>
                    <a:srgbClr val="92301C"/>
                  </a:solidFill>
                </a:ln>
              </p:spPr>
            </p:sp>
          </p:grpSp>
          <p:sp>
            <p:nvSpPr>
              <p:cNvPr id="310" name="TextBox 310"/>
              <p:cNvSpPr txBox="1"/>
              <p:nvPr/>
            </p:nvSpPr>
            <p:spPr>
              <a:xfrm>
                <a:off x="5138738" y="574024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双录质检</a:t>
                </a:r>
              </a:p>
            </p:txBody>
          </p:sp>
          <p:sp>
            <p:nvSpPr>
              <p:cNvPr id="311" name="TextBox 311"/>
              <p:cNvSpPr txBox="1"/>
              <p:nvPr/>
            </p:nvSpPr>
            <p:spPr>
              <a:xfrm>
                <a:off x="4833938" y="6031230"/>
                <a:ext cx="89801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对销售关键环节进行双录</a:t>
                </a:r>
              </a:p>
            </p:txBody>
          </p:sp>
          <p:sp>
            <p:nvSpPr>
              <p:cNvPr id="312" name="TextBox 312"/>
              <p:cNvSpPr txBox="1"/>
              <p:nvPr/>
            </p:nvSpPr>
            <p:spPr>
              <a:xfrm>
                <a:off x="4833938" y="6183630"/>
                <a:ext cx="57492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并开展智能质检</a:t>
                </a:r>
              </a:p>
            </p:txBody>
          </p:sp>
        </p:grpSp>
        <p:grpSp>
          <p:nvGrpSpPr>
            <p:cNvPr id="322" name="bc-5"/>
            <p:cNvGrpSpPr/>
            <p:nvPr/>
          </p:nvGrpSpPr>
          <p:grpSpPr>
            <a:xfrm>
              <a:off x="6286500" y="5562600"/>
              <a:ext cx="1428750" cy="1009650"/>
              <a:chOff x="6286500" y="5562600"/>
              <a:chExt cx="1428750" cy="1009650"/>
            </a:xfrm>
          </p:grpSpPr>
          <p:sp>
            <p:nvSpPr>
              <p:cNvPr id="314" name="Rectangle 314"/>
              <p:cNvSpPr/>
              <p:nvPr/>
            </p:nvSpPr>
            <p:spPr>
              <a:xfrm>
                <a:off x="6286500" y="5562600"/>
                <a:ext cx="1428750" cy="1009650"/>
              </a:xfrm>
              <a:prstGeom prst="roundRect">
                <a:avLst>
                  <a:gd name="adj" fmla="val 5660"/>
                </a:avLst>
              </a:prstGeom>
              <a:solidFill>
                <a:srgbClr val="F6F9FD"/>
              </a:solidFill>
              <a:ln w="9525">
                <a:solidFill>
                  <a:srgbClr val="CFDFEE"/>
                </a:solidFill>
              </a:ln>
            </p:spPr>
          </p:sp>
          <p:grpSp>
            <p:nvGrpSpPr>
              <p:cNvPr id="318" name="Group 318"/>
              <p:cNvGrpSpPr/>
              <p:nvPr/>
            </p:nvGrpSpPr>
            <p:grpSpPr>
              <a:xfrm>
                <a:off x="6434138" y="5703094"/>
                <a:ext cx="130969" cy="157163"/>
                <a:chOff x="6434138" y="5703094"/>
                <a:chExt cx="130969" cy="157163"/>
              </a:xfrm>
            </p:grpSpPr>
            <p:sp>
              <p:nvSpPr>
                <p:cNvPr id="315" name="Freeform 315"/>
                <p:cNvSpPr/>
                <p:nvPr/>
              </p:nvSpPr>
              <p:spPr>
                <a:xfrm>
                  <a:off x="6451600" y="57030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92301C"/>
                  </a:solidFill>
                </a:ln>
              </p:spPr>
            </p:sp>
            <p:sp>
              <p:nvSpPr>
                <p:cNvPr id="316" name="Freeform 316"/>
                <p:cNvSpPr/>
                <p:nvPr/>
              </p:nvSpPr>
              <p:spPr>
                <a:xfrm>
                  <a:off x="6434138" y="58078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92301C"/>
                  </a:solidFill>
                </a:ln>
              </p:spPr>
            </p:sp>
            <p:sp>
              <p:nvSpPr>
                <p:cNvPr id="317" name="Freeform 317"/>
                <p:cNvSpPr/>
                <p:nvPr/>
              </p:nvSpPr>
              <p:spPr>
                <a:xfrm>
                  <a:off x="6512719" y="5825331"/>
                  <a:ext cx="52388" cy="34925"/>
                </a:xfrm>
                <a:custGeom>
                  <a:avLst/>
                  <a:gdLst/>
                  <a:ahLst/>
                  <a:cxnLst/>
                  <a:rect l="l" t="t" r="r" b="b"/>
                  <a:pathLst>
                    <a:path w="52388" h="34925">
                      <a:moveTo>
                        <a:pt x="0" y="17463"/>
                      </a:moveTo>
                      <a:lnTo>
                        <a:pt x="17463" y="34925"/>
                      </a:lnTo>
                      <a:lnTo>
                        <a:pt x="52388" y="0"/>
                      </a:lnTo>
                    </a:path>
                  </a:pathLst>
                </a:custGeom>
                <a:noFill/>
                <a:ln w="17463">
                  <a:solidFill>
                    <a:srgbClr val="92301C"/>
                  </a:solidFill>
                </a:ln>
              </p:spPr>
            </p:sp>
          </p:grpSp>
          <p:sp>
            <p:nvSpPr>
              <p:cNvPr id="319" name="TextBox 319"/>
              <p:cNvSpPr txBox="1"/>
              <p:nvPr/>
            </p:nvSpPr>
            <p:spPr>
              <a:xfrm>
                <a:off x="6662738" y="574024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人工终审</a:t>
                </a:r>
              </a:p>
            </p:txBody>
          </p:sp>
          <p:sp>
            <p:nvSpPr>
              <p:cNvPr id="320" name="TextBox 320"/>
              <p:cNvSpPr txBox="1"/>
              <p:nvPr/>
            </p:nvSpPr>
            <p:spPr>
              <a:xfrm>
                <a:off x="6357938" y="6031230"/>
                <a:ext cx="817245"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重大发布须经授权人员</a:t>
                </a:r>
              </a:p>
            </p:txBody>
          </p:sp>
          <p:sp>
            <p:nvSpPr>
              <p:cNvPr id="321" name="TextBox 321"/>
              <p:cNvSpPr txBox="1"/>
              <p:nvPr/>
            </p:nvSpPr>
            <p:spPr>
              <a:xfrm>
                <a:off x="6357938" y="6183630"/>
                <a:ext cx="413385"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确认后执行</a:t>
                </a:r>
              </a:p>
            </p:txBody>
          </p:sp>
        </p:grpSp>
      </p:grpSp>
      <p:grpSp>
        <p:nvGrpSpPr>
          <p:cNvPr id="326" name="kpi-head"/>
          <p:cNvGrpSpPr/>
          <p:nvPr/>
        </p:nvGrpSpPr>
        <p:grpSpPr>
          <a:xfrm>
            <a:off x="7829550" y="5257800"/>
            <a:ext cx="4171950" cy="272987"/>
            <a:chOff x="7829550" y="5257800"/>
            <a:chExt cx="4171950" cy="272987"/>
          </a:xfrm>
        </p:grpSpPr>
        <p:sp>
          <p:nvSpPr>
            <p:cNvPr id="324" name="Rectangle 324"/>
            <p:cNvSpPr/>
            <p:nvPr/>
          </p:nvSpPr>
          <p:spPr>
            <a:xfrm>
              <a:off x="7829550" y="5257800"/>
              <a:ext cx="4171950" cy="266700"/>
            </a:xfrm>
            <a:prstGeom prst="rect">
              <a:avLst/>
            </a:prstGeom>
            <a:gradFill>
              <a:gsLst>
                <a:gs pos="0">
                  <a:srgbClr val="92301C"/>
                </a:gs>
                <a:gs pos="100000">
                  <a:srgbClr val="B7533F"/>
                </a:gs>
              </a:gsLst>
              <a:lin ang="0" scaled="1"/>
            </a:gradFill>
            <a:ln>
              <a:noFill/>
            </a:ln>
          </p:spPr>
        </p:sp>
        <p:sp>
          <p:nvSpPr>
            <p:cNvPr id="325" name="TextBox 325"/>
            <p:cNvSpPr txBox="1"/>
            <p:nvPr/>
          </p:nvSpPr>
          <p:spPr>
            <a:xfrm>
              <a:off x="7957566" y="5325428"/>
              <a:ext cx="123840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关键成效</a:t>
              </a:r>
              <a:r>
                <a:rPr lang="zh-CN" sz="820" dirty="0">
                  <a:solidFill>
                    <a:srgbClr val="FFFFFF"/>
                  </a:solidFill>
                  <a:latin typeface="+mn-lt"/>
                  <a:ea typeface="+mn-ea"/>
                  <a:cs typeface="+mn-cs"/>
                </a:rPr>
                <a:t>（示例测算）</a:t>
              </a:r>
            </a:p>
          </p:txBody>
        </p:sp>
      </p:grpSp>
      <p:grpSp>
        <p:nvGrpSpPr>
          <p:cNvPr id="346" name="kpi-cards"/>
          <p:cNvGrpSpPr/>
          <p:nvPr/>
        </p:nvGrpSpPr>
        <p:grpSpPr>
          <a:xfrm>
            <a:off x="7829550" y="5562600"/>
            <a:ext cx="4171950" cy="1009650"/>
            <a:chOff x="7829550" y="5562600"/>
            <a:chExt cx="4171950" cy="1009650"/>
          </a:xfrm>
        </p:grpSpPr>
        <p:sp>
          <p:nvSpPr>
            <p:cNvPr id="327" name="Rectangle 327"/>
            <p:cNvSpPr/>
            <p:nvPr/>
          </p:nvSpPr>
          <p:spPr>
            <a:xfrm>
              <a:off x="7829550" y="5562600"/>
              <a:ext cx="2038350" cy="1009650"/>
            </a:xfrm>
            <a:prstGeom prst="roundRect">
              <a:avLst>
                <a:gd name="adj" fmla="val 5660"/>
              </a:avLst>
            </a:prstGeom>
            <a:solidFill>
              <a:srgbClr val="EEF5FB"/>
            </a:solidFill>
            <a:ln>
              <a:noFill/>
            </a:ln>
          </p:spPr>
        </p:sp>
        <p:sp>
          <p:nvSpPr>
            <p:cNvPr id="328" name="Ellipse 328"/>
            <p:cNvSpPr/>
            <p:nvPr/>
          </p:nvSpPr>
          <p:spPr>
            <a:xfrm>
              <a:off x="7924800" y="5695950"/>
              <a:ext cx="304800" cy="304800"/>
            </a:xfrm>
            <a:prstGeom prst="ellipse">
              <a:avLst/>
            </a:prstGeom>
            <a:solidFill>
              <a:srgbClr val="92301C"/>
            </a:solidFill>
            <a:ln>
              <a:noFill/>
            </a:ln>
          </p:spPr>
        </p:sp>
        <p:grpSp>
          <p:nvGrpSpPr>
            <p:cNvPr id="334" name="Group 334"/>
            <p:cNvGrpSpPr/>
            <p:nvPr/>
          </p:nvGrpSpPr>
          <p:grpSpPr>
            <a:xfrm>
              <a:off x="8021637" y="5776912"/>
              <a:ext cx="111125" cy="142875"/>
              <a:chOff x="8021637" y="5776912"/>
              <a:chExt cx="111125" cy="142875"/>
            </a:xfrm>
          </p:grpSpPr>
          <p:sp>
            <p:nvSpPr>
              <p:cNvPr id="329" name="Freeform 329"/>
              <p:cNvSpPr/>
              <p:nvPr/>
            </p:nvSpPr>
            <p:spPr>
              <a:xfrm>
                <a:off x="8093075" y="57769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330" name="Freeform 330"/>
              <p:cNvSpPr/>
              <p:nvPr/>
            </p:nvSpPr>
            <p:spPr>
              <a:xfrm>
                <a:off x="8021637" y="57769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331" name="Freeform 331"/>
              <p:cNvSpPr/>
              <p:nvPr/>
            </p:nvSpPr>
            <p:spPr>
              <a:xfrm>
                <a:off x="8053387" y="582453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332" name="Freeform 332"/>
              <p:cNvSpPr/>
              <p:nvPr/>
            </p:nvSpPr>
            <p:spPr>
              <a:xfrm>
                <a:off x="8053387" y="585628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333" name="Freeform 333"/>
              <p:cNvSpPr/>
              <p:nvPr/>
            </p:nvSpPr>
            <p:spPr>
              <a:xfrm>
                <a:off x="8053387" y="588803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335" name="TextBox 335"/>
            <p:cNvSpPr txBox="1"/>
            <p:nvPr/>
          </p:nvSpPr>
          <p:spPr>
            <a:xfrm>
              <a:off x="8320088" y="5789295"/>
              <a:ext cx="494157"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内容准备</a:t>
              </a:r>
            </a:p>
          </p:txBody>
        </p:sp>
        <p:sp>
          <p:nvSpPr>
            <p:cNvPr id="336" name="TextBox 336"/>
            <p:cNvSpPr txBox="1"/>
            <p:nvPr/>
          </p:nvSpPr>
          <p:spPr>
            <a:xfrm>
              <a:off x="8314944" y="601884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-50%　</a:t>
              </a:r>
            </a:p>
          </p:txBody>
        </p:sp>
        <p:sp>
          <p:nvSpPr>
            <p:cNvPr id="337" name="TextBox 337"/>
            <p:cNvSpPr txBox="1"/>
            <p:nvPr/>
          </p:nvSpPr>
          <p:spPr>
            <a:xfrm>
              <a:off x="832008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338" name="Rectangle 338"/>
            <p:cNvSpPr/>
            <p:nvPr/>
          </p:nvSpPr>
          <p:spPr>
            <a:xfrm>
              <a:off x="9963150" y="5562600"/>
              <a:ext cx="2038350" cy="1009650"/>
            </a:xfrm>
            <a:prstGeom prst="roundRect">
              <a:avLst>
                <a:gd name="adj" fmla="val 5660"/>
              </a:avLst>
            </a:prstGeom>
            <a:solidFill>
              <a:srgbClr val="EEF5FB"/>
            </a:solidFill>
            <a:ln>
              <a:noFill/>
            </a:ln>
          </p:spPr>
        </p:sp>
        <p:sp>
          <p:nvSpPr>
            <p:cNvPr id="339" name="Ellipse 339"/>
            <p:cNvSpPr/>
            <p:nvPr/>
          </p:nvSpPr>
          <p:spPr>
            <a:xfrm>
              <a:off x="10058400" y="5695950"/>
              <a:ext cx="304800" cy="304800"/>
            </a:xfrm>
            <a:prstGeom prst="ellipse">
              <a:avLst/>
            </a:prstGeom>
            <a:solidFill>
              <a:srgbClr val="92301C"/>
            </a:solidFill>
            <a:ln>
              <a:noFill/>
            </a:ln>
          </p:spPr>
        </p:sp>
        <p:grpSp>
          <p:nvGrpSpPr>
            <p:cNvPr id="342" name="Group 342"/>
            <p:cNvGrpSpPr/>
            <p:nvPr/>
          </p:nvGrpSpPr>
          <p:grpSpPr>
            <a:xfrm>
              <a:off x="10128650" y="5776912"/>
              <a:ext cx="155005" cy="142875"/>
              <a:chOff x="10128650" y="5776912"/>
              <a:chExt cx="155005" cy="142875"/>
            </a:xfrm>
          </p:grpSpPr>
          <p:sp>
            <p:nvSpPr>
              <p:cNvPr id="340" name="Freeform 340"/>
              <p:cNvSpPr/>
              <p:nvPr/>
            </p:nvSpPr>
            <p:spPr>
              <a:xfrm>
                <a:off x="10128650" y="57769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341" name="Freeform 341"/>
              <p:cNvSpPr/>
              <p:nvPr/>
            </p:nvSpPr>
            <p:spPr>
              <a:xfrm>
                <a:off x="10234612" y="588803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343" name="TextBox 343"/>
            <p:cNvSpPr txBox="1"/>
            <p:nvPr/>
          </p:nvSpPr>
          <p:spPr>
            <a:xfrm>
              <a:off x="10453688" y="5789295"/>
              <a:ext cx="494157"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合规缺陷</a:t>
              </a:r>
            </a:p>
          </p:txBody>
        </p:sp>
        <p:sp>
          <p:nvSpPr>
            <p:cNvPr id="344" name="TextBox 344"/>
            <p:cNvSpPr txBox="1"/>
            <p:nvPr/>
          </p:nvSpPr>
          <p:spPr>
            <a:xfrm>
              <a:off x="10448544" y="6018848"/>
              <a:ext cx="895175" cy="381381"/>
            </a:xfrm>
            <a:prstGeom prst="rect">
              <a:avLst/>
            </a:prstGeom>
            <a:noFill/>
            <a:ln>
              <a:noFill/>
            </a:ln>
          </p:spPr>
          <p:txBody>
            <a:bodyPr wrap="none" lIns="0" tIns="0" rIns="0" bIns="0" anchor="t" anchorCtr="0">
              <a:spAutoFit/>
            </a:bodyPr>
            <a:lstStyle/>
            <a:p>
              <a:pPr algn="l"/>
              <a:r>
                <a:rPr lang="zh-CN" sz="1950" b="1" dirty="0">
                  <a:solidFill>
                    <a:srgbClr val="6B1B0B"/>
                  </a:solidFill>
                  <a:latin typeface="+mj-lt"/>
                  <a:ea typeface="+mj-ea"/>
                  <a:cs typeface="+mj-cs"/>
                </a:rPr>
                <a:t xml:space="preserve">-35%　</a:t>
              </a:r>
            </a:p>
          </p:txBody>
        </p:sp>
        <p:sp>
          <p:nvSpPr>
            <p:cNvPr id="345" name="TextBox 345"/>
            <p:cNvSpPr txBox="1"/>
            <p:nvPr/>
          </p:nvSpPr>
          <p:spPr>
            <a:xfrm>
              <a:off x="10453688" y="6342936"/>
              <a:ext cx="58300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grpSp>
      <p:grpSp>
        <p:nvGrpSpPr>
          <p:cNvPr id="353" name="footer-band"/>
          <p:cNvGrpSpPr/>
          <p:nvPr/>
        </p:nvGrpSpPr>
        <p:grpSpPr>
          <a:xfrm>
            <a:off x="190500" y="6610350"/>
            <a:ext cx="11811000" cy="231457"/>
            <a:chOff x="190500" y="6610350"/>
            <a:chExt cx="11811000" cy="231457"/>
          </a:xfrm>
        </p:grpSpPr>
        <p:sp>
          <p:nvSpPr>
            <p:cNvPr id="347" name="Rectangle 347"/>
            <p:cNvSpPr/>
            <p:nvPr/>
          </p:nvSpPr>
          <p:spPr>
            <a:xfrm>
              <a:off x="190500" y="6610350"/>
              <a:ext cx="11811000" cy="228600"/>
            </a:xfrm>
            <a:prstGeom prst="roundRect">
              <a:avLst>
                <a:gd name="adj" fmla="val 50000"/>
              </a:avLst>
            </a:prstGeom>
            <a:solidFill>
              <a:srgbClr val="EEF5FB"/>
            </a:solidFill>
            <a:ln>
              <a:noFill/>
            </a:ln>
          </p:spPr>
        </p:sp>
        <p:sp>
          <p:nvSpPr>
            <p:cNvPr id="348" name="Ellipse 348"/>
            <p:cNvSpPr/>
            <p:nvPr/>
          </p:nvSpPr>
          <p:spPr>
            <a:xfrm>
              <a:off x="304800" y="6648450"/>
              <a:ext cx="152400" cy="152400"/>
            </a:xfrm>
            <a:prstGeom prst="ellipse">
              <a:avLst/>
            </a:prstGeom>
            <a:solidFill>
              <a:srgbClr val="92301C"/>
            </a:solidFill>
            <a:ln>
              <a:noFill/>
            </a:ln>
          </p:spPr>
        </p:sp>
        <p:sp>
          <p:nvSpPr>
            <p:cNvPr id="349" name="TextBox 349"/>
            <p:cNvSpPr txBox="1"/>
            <p:nvPr/>
          </p:nvSpPr>
          <p:spPr>
            <a:xfrm>
              <a:off x="359427" y="6681788"/>
              <a:ext cx="43146"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a:t>
              </a:r>
            </a:p>
          </p:txBody>
        </p:sp>
        <p:sp>
          <p:nvSpPr>
            <p:cNvPr id="350" name="TextBox 350"/>
            <p:cNvSpPr txBox="1"/>
            <p:nvPr/>
          </p:nvSpPr>
          <p:spPr>
            <a:xfrm>
              <a:off x="528638" y="6685836"/>
              <a:ext cx="4406214" cy="140494"/>
            </a:xfrm>
            <a:prstGeom prst="rect">
              <a:avLst/>
            </a:prstGeom>
            <a:noFill/>
            <a:ln>
              <a:noFill/>
            </a:ln>
          </p:spPr>
          <p:txBody>
            <a:bodyPr wrap="none" lIns="0" tIns="0" rIns="0" bIns="0" anchor="t" anchorCtr="0">
              <a:spAutoFit/>
            </a:bodyPr>
            <a:lstStyle/>
            <a:p>
              <a:pPr algn="l"/>
              <a:r>
                <a:rPr lang="zh-CN" sz="710" dirty="0">
                  <a:solidFill>
                    <a:srgbClr val="6B1B0B"/>
                  </a:solidFill>
                  <a:latin typeface="+mn-lt"/>
                  <a:ea typeface="+mn-ea"/>
                  <a:cs typeface="+mn-cs"/>
                </a:rPr>
                <a:t>注：本页为示例方案，所有数据均为示例测算，不构成任何投资建议。重大金融决策须由授权人员确认。</a:t>
              </a:r>
            </a:p>
          </p:txBody>
        </p:sp>
        <p:sp>
          <p:nvSpPr>
            <p:cNvPr id="351" name="Line 351"/>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52" name="TextBox 352"/>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15</a:t>
              </a:r>
            </a:p>
          </p:txBody>
        </p:sp>
      </p:gr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15</a:t>
              </a:r>
            </a:p>
          </p:txBody>
        </p:sp>
        <p:sp>
          <p:nvSpPr>
            <p:cNvPr id="4" name="TextBox 4"/>
            <p:cNvSpPr txBox="1"/>
            <p:nvPr/>
          </p:nvSpPr>
          <p:spPr>
            <a:xfrm>
              <a:off x="942594" y="170498"/>
              <a:ext cx="2907411"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流动性与资产负债智能体</a:t>
              </a:r>
            </a:p>
          </p:txBody>
        </p:sp>
        <p:sp>
          <p:nvSpPr>
            <p:cNvPr id="5" name="TextBox 5"/>
            <p:cNvSpPr txBox="1"/>
            <p:nvPr/>
          </p:nvSpPr>
          <p:spPr>
            <a:xfrm>
              <a:off x="9928234" y="238839"/>
              <a:ext cx="2078029"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数据驱动 · 智能洞察 · 稳健经营 · 价值创造</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0" name="col1-head"/>
          <p:cNvGrpSpPr/>
          <p:nvPr/>
        </p:nvGrpSpPr>
        <p:grpSpPr>
          <a:xfrm>
            <a:off x="190500" y="628650"/>
            <a:ext cx="1866900" cy="279559"/>
            <a:chOff x="190500" y="628650"/>
            <a:chExt cx="1866900" cy="279559"/>
          </a:xfrm>
        </p:grpSpPr>
        <p:sp>
          <p:nvSpPr>
            <p:cNvPr id="8" name="Rectangle 8"/>
            <p:cNvSpPr/>
            <p:nvPr/>
          </p:nvSpPr>
          <p:spPr>
            <a:xfrm>
              <a:off x="190500" y="628650"/>
              <a:ext cx="1866900" cy="266700"/>
            </a:xfrm>
            <a:prstGeom prst="rect">
              <a:avLst/>
            </a:prstGeom>
            <a:gradFill>
              <a:gsLst>
                <a:gs pos="0">
                  <a:srgbClr val="92301C"/>
                </a:gs>
                <a:gs pos="100000">
                  <a:srgbClr val="B7533F"/>
                </a:gs>
              </a:gsLst>
              <a:lin ang="0" scaled="1"/>
            </a:gradFill>
            <a:ln>
              <a:noFill/>
            </a:ln>
          </p:spPr>
        </p:sp>
        <p:sp>
          <p:nvSpPr>
            <p:cNvPr id="9" name="TextBox 9"/>
            <p:cNvSpPr txBox="1"/>
            <p:nvPr/>
          </p:nvSpPr>
          <p:spPr>
            <a:xfrm>
              <a:off x="318135" y="688181"/>
              <a:ext cx="127685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输入数据</a:t>
              </a:r>
              <a:r>
                <a:rPr lang="zh-CN" sz="820" dirty="0">
                  <a:solidFill>
                    <a:srgbClr val="FFFFFF"/>
                  </a:solidFill>
                  <a:latin typeface="+mn-lt"/>
                  <a:ea typeface="+mn-ea"/>
                  <a:cs typeface="+mn-cs"/>
                </a:rPr>
                <a:t>（多源整合）</a:t>
              </a:r>
            </a:p>
          </p:txBody>
        </p:sp>
      </p:grpSp>
      <p:grpSp>
        <p:nvGrpSpPr>
          <p:cNvPr id="67" name="left-cards"/>
          <p:cNvGrpSpPr/>
          <p:nvPr/>
        </p:nvGrpSpPr>
        <p:grpSpPr>
          <a:xfrm>
            <a:off x="190500" y="990600"/>
            <a:ext cx="1866900" cy="4038600"/>
            <a:chOff x="190500" y="990600"/>
            <a:chExt cx="1866900" cy="4038600"/>
          </a:xfrm>
        </p:grpSpPr>
        <p:grpSp>
          <p:nvGrpSpPr>
            <p:cNvPr id="19" name="lc-1"/>
            <p:cNvGrpSpPr/>
            <p:nvPr/>
          </p:nvGrpSpPr>
          <p:grpSpPr>
            <a:xfrm>
              <a:off x="190500" y="990600"/>
              <a:ext cx="1866900" cy="609600"/>
              <a:chOff x="190500" y="990600"/>
              <a:chExt cx="1866900" cy="609600"/>
            </a:xfrm>
          </p:grpSpPr>
          <p:sp>
            <p:nvSpPr>
              <p:cNvPr id="11" name="Rectangle 11"/>
              <p:cNvSpPr/>
              <p:nvPr/>
            </p:nvSpPr>
            <p:spPr>
              <a:xfrm>
                <a:off x="190500" y="990600"/>
                <a:ext cx="1866900" cy="609600"/>
              </a:xfrm>
              <a:prstGeom prst="roundRect">
                <a:avLst>
                  <a:gd name="adj" fmla="val 9375"/>
                </a:avLst>
              </a:prstGeom>
              <a:solidFill>
                <a:srgbClr val="F6F9FD"/>
              </a:solidFill>
              <a:ln w="9525">
                <a:solidFill>
                  <a:srgbClr val="CFDFEE"/>
                </a:solidFill>
              </a:ln>
            </p:spPr>
          </p:sp>
          <p:grpSp>
            <p:nvGrpSpPr>
              <p:cNvPr id="15" name="Group 15"/>
              <p:cNvGrpSpPr/>
              <p:nvPr/>
            </p:nvGrpSpPr>
            <p:grpSpPr>
              <a:xfrm>
                <a:off x="304800" y="1200150"/>
                <a:ext cx="152400" cy="171450"/>
                <a:chOff x="304800" y="1200150"/>
                <a:chExt cx="152400" cy="171450"/>
              </a:xfrm>
            </p:grpSpPr>
            <p:sp>
              <p:nvSpPr>
                <p:cNvPr id="12" name="Freeform 12"/>
                <p:cNvSpPr/>
                <p:nvPr/>
              </p:nvSpPr>
              <p:spPr>
                <a:xfrm>
                  <a:off x="304800" y="1200150"/>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92301C"/>
                  </a:solidFill>
                </a:ln>
              </p:spPr>
            </p:sp>
            <p:sp>
              <p:nvSpPr>
                <p:cNvPr id="13" name="Freeform 13"/>
                <p:cNvSpPr/>
                <p:nvPr/>
              </p:nvSpPr>
              <p:spPr>
                <a:xfrm>
                  <a:off x="304800" y="1228725"/>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2301C"/>
                  </a:solidFill>
                </a:ln>
              </p:spPr>
            </p:sp>
            <p:sp>
              <p:nvSpPr>
                <p:cNvPr id="14" name="Freeform 14"/>
                <p:cNvSpPr/>
                <p:nvPr/>
              </p:nvSpPr>
              <p:spPr>
                <a:xfrm>
                  <a:off x="304800" y="1285875"/>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2301C"/>
                  </a:solidFill>
                </a:ln>
              </p:spPr>
            </p:sp>
          </p:grpSp>
          <p:sp>
            <p:nvSpPr>
              <p:cNvPr id="16" name="TextBox 16"/>
              <p:cNvSpPr txBox="1"/>
              <p:nvPr/>
            </p:nvSpPr>
            <p:spPr>
              <a:xfrm>
                <a:off x="547688" y="1083945"/>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资产</a:t>
                </a:r>
              </a:p>
            </p:txBody>
          </p:sp>
          <p:sp>
            <p:nvSpPr>
              <p:cNvPr id="17" name="TextBox 17"/>
              <p:cNvSpPr txBox="1"/>
              <p:nvPr/>
            </p:nvSpPr>
            <p:spPr>
              <a:xfrm>
                <a:off x="547688" y="1264682"/>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贷款、债券、同业、</a:t>
                </a:r>
              </a:p>
            </p:txBody>
          </p:sp>
          <p:sp>
            <p:nvSpPr>
              <p:cNvPr id="18" name="TextBox 18"/>
              <p:cNvSpPr txBox="1"/>
              <p:nvPr/>
            </p:nvSpPr>
            <p:spPr>
              <a:xfrm>
                <a:off x="547688" y="1388507"/>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非标资产等</a:t>
                </a:r>
              </a:p>
            </p:txBody>
          </p:sp>
        </p:grpSp>
        <p:grpSp>
          <p:nvGrpSpPr>
            <p:cNvPr id="30" name="lc-2"/>
            <p:cNvGrpSpPr/>
            <p:nvPr/>
          </p:nvGrpSpPr>
          <p:grpSpPr>
            <a:xfrm>
              <a:off x="190500" y="1676400"/>
              <a:ext cx="1866900" cy="609600"/>
              <a:chOff x="190500" y="1676400"/>
              <a:chExt cx="1866900" cy="609600"/>
            </a:xfrm>
          </p:grpSpPr>
          <p:sp>
            <p:nvSpPr>
              <p:cNvPr id="20" name="Rectangle 20"/>
              <p:cNvSpPr/>
              <p:nvPr/>
            </p:nvSpPr>
            <p:spPr>
              <a:xfrm>
                <a:off x="190500" y="1676400"/>
                <a:ext cx="1866900" cy="609600"/>
              </a:xfrm>
              <a:prstGeom prst="roundRect">
                <a:avLst>
                  <a:gd name="adj" fmla="val 9375"/>
                </a:avLst>
              </a:prstGeom>
              <a:solidFill>
                <a:srgbClr val="F6F9FD"/>
              </a:solidFill>
              <a:ln w="9525">
                <a:solidFill>
                  <a:srgbClr val="CFDFEE"/>
                </a:solidFill>
              </a:ln>
            </p:spPr>
          </p:sp>
          <p:grpSp>
            <p:nvGrpSpPr>
              <p:cNvPr id="26" name="Group 26"/>
              <p:cNvGrpSpPr/>
              <p:nvPr/>
            </p:nvGrpSpPr>
            <p:grpSpPr>
              <a:xfrm>
                <a:off x="314325" y="1885950"/>
                <a:ext cx="133350" cy="171450"/>
                <a:chOff x="314325" y="1885950"/>
                <a:chExt cx="133350" cy="171450"/>
              </a:xfrm>
            </p:grpSpPr>
            <p:sp>
              <p:nvSpPr>
                <p:cNvPr id="21" name="Freeform 21"/>
                <p:cNvSpPr/>
                <p:nvPr/>
              </p:nvSpPr>
              <p:spPr>
                <a:xfrm>
                  <a:off x="400050" y="1885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92301C"/>
                  </a:solidFill>
                </a:ln>
              </p:spPr>
            </p:sp>
            <p:sp>
              <p:nvSpPr>
                <p:cNvPr id="22" name="Freeform 22"/>
                <p:cNvSpPr/>
                <p:nvPr/>
              </p:nvSpPr>
              <p:spPr>
                <a:xfrm>
                  <a:off x="314325" y="1885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92301C"/>
                  </a:solidFill>
                </a:ln>
              </p:spPr>
            </p:sp>
            <p:sp>
              <p:nvSpPr>
                <p:cNvPr id="23" name="Freeform 23"/>
                <p:cNvSpPr/>
                <p:nvPr/>
              </p:nvSpPr>
              <p:spPr>
                <a:xfrm>
                  <a:off x="352425" y="1924050"/>
                  <a:ext cx="9525" cy="9525"/>
                </a:xfrm>
                <a:custGeom>
                  <a:avLst/>
                  <a:gdLst/>
                  <a:ahLst/>
                  <a:cxnLst/>
                  <a:rect l="l" t="t" r="r" b="b"/>
                  <a:pathLst>
                    <a:path w="9525" h="9525">
                      <a:moveTo>
                        <a:pt x="0" y="0"/>
                      </a:moveTo>
                      <a:lnTo>
                        <a:pt x="9525" y="0"/>
                      </a:lnTo>
                    </a:path>
                  </a:pathLst>
                </a:custGeom>
                <a:noFill/>
                <a:ln w="19050">
                  <a:solidFill>
                    <a:srgbClr val="92301C"/>
                  </a:solidFill>
                </a:ln>
              </p:spPr>
            </p:sp>
            <p:sp>
              <p:nvSpPr>
                <p:cNvPr id="24" name="Freeform 24"/>
                <p:cNvSpPr/>
                <p:nvPr/>
              </p:nvSpPr>
              <p:spPr>
                <a:xfrm>
                  <a:off x="352425" y="1981200"/>
                  <a:ext cx="57150" cy="9525"/>
                </a:xfrm>
                <a:custGeom>
                  <a:avLst/>
                  <a:gdLst/>
                  <a:ahLst/>
                  <a:cxnLst/>
                  <a:rect l="l" t="t" r="r" b="b"/>
                  <a:pathLst>
                    <a:path w="57150" h="9525">
                      <a:moveTo>
                        <a:pt x="0" y="0"/>
                      </a:moveTo>
                      <a:lnTo>
                        <a:pt x="57150" y="0"/>
                      </a:lnTo>
                    </a:path>
                  </a:pathLst>
                </a:custGeom>
                <a:noFill/>
                <a:ln w="19050">
                  <a:solidFill>
                    <a:srgbClr val="92301C"/>
                  </a:solidFill>
                </a:ln>
              </p:spPr>
            </p:sp>
            <p:sp>
              <p:nvSpPr>
                <p:cNvPr id="25" name="Freeform 25"/>
                <p:cNvSpPr/>
                <p:nvPr/>
              </p:nvSpPr>
              <p:spPr>
                <a:xfrm>
                  <a:off x="390525" y="2019300"/>
                  <a:ext cx="19050" cy="9525"/>
                </a:xfrm>
                <a:custGeom>
                  <a:avLst/>
                  <a:gdLst/>
                  <a:ahLst/>
                  <a:cxnLst/>
                  <a:rect l="l" t="t" r="r" b="b"/>
                  <a:pathLst>
                    <a:path w="19050" h="9525">
                      <a:moveTo>
                        <a:pt x="0" y="0"/>
                      </a:moveTo>
                      <a:lnTo>
                        <a:pt x="19050" y="0"/>
                      </a:lnTo>
                    </a:path>
                  </a:pathLst>
                </a:custGeom>
                <a:noFill/>
                <a:ln w="19050">
                  <a:solidFill>
                    <a:srgbClr val="92301C"/>
                  </a:solidFill>
                </a:ln>
              </p:spPr>
            </p:sp>
          </p:grpSp>
          <p:sp>
            <p:nvSpPr>
              <p:cNvPr id="27" name="TextBox 27"/>
              <p:cNvSpPr txBox="1"/>
              <p:nvPr/>
            </p:nvSpPr>
            <p:spPr>
              <a:xfrm>
                <a:off x="547688" y="1769745"/>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负债</a:t>
                </a:r>
              </a:p>
            </p:txBody>
          </p:sp>
          <p:sp>
            <p:nvSpPr>
              <p:cNvPr id="28" name="TextBox 28"/>
              <p:cNvSpPr txBox="1"/>
              <p:nvPr/>
            </p:nvSpPr>
            <p:spPr>
              <a:xfrm>
                <a:off x="547688" y="1950482"/>
                <a:ext cx="69877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存款、同业负债、</a:t>
                </a:r>
              </a:p>
            </p:txBody>
          </p:sp>
          <p:sp>
            <p:nvSpPr>
              <p:cNvPr id="29" name="TextBox 29"/>
              <p:cNvSpPr txBox="1"/>
              <p:nvPr/>
            </p:nvSpPr>
            <p:spPr>
              <a:xfrm>
                <a:off x="547688" y="2074307"/>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发行债券等</a:t>
                </a:r>
              </a:p>
            </p:txBody>
          </p:sp>
        </p:grpSp>
        <p:grpSp>
          <p:nvGrpSpPr>
            <p:cNvPr id="38" name="lc-3"/>
            <p:cNvGrpSpPr/>
            <p:nvPr/>
          </p:nvGrpSpPr>
          <p:grpSpPr>
            <a:xfrm>
              <a:off x="190500" y="2362200"/>
              <a:ext cx="1866900" cy="609600"/>
              <a:chOff x="190500" y="2362200"/>
              <a:chExt cx="1866900" cy="609600"/>
            </a:xfrm>
          </p:grpSpPr>
          <p:sp>
            <p:nvSpPr>
              <p:cNvPr id="31" name="Rectangle 31"/>
              <p:cNvSpPr/>
              <p:nvPr/>
            </p:nvSpPr>
            <p:spPr>
              <a:xfrm>
                <a:off x="190500" y="2362200"/>
                <a:ext cx="1866900" cy="609600"/>
              </a:xfrm>
              <a:prstGeom prst="roundRect">
                <a:avLst>
                  <a:gd name="adj" fmla="val 9375"/>
                </a:avLst>
              </a:prstGeom>
              <a:solidFill>
                <a:srgbClr val="F6F9FD"/>
              </a:solidFill>
              <a:ln w="9525">
                <a:solidFill>
                  <a:srgbClr val="CFDFEE"/>
                </a:solidFill>
              </a:ln>
            </p:spPr>
          </p:sp>
          <p:grpSp>
            <p:nvGrpSpPr>
              <p:cNvPr id="34" name="Group 34"/>
              <p:cNvGrpSpPr/>
              <p:nvPr/>
            </p:nvGrpSpPr>
            <p:grpSpPr>
              <a:xfrm>
                <a:off x="295275" y="2571750"/>
                <a:ext cx="171450" cy="171450"/>
                <a:chOff x="295275" y="2571750"/>
                <a:chExt cx="171450" cy="171450"/>
              </a:xfrm>
            </p:grpSpPr>
            <p:sp>
              <p:nvSpPr>
                <p:cNvPr id="32" name="Freeform 32"/>
                <p:cNvSpPr/>
                <p:nvPr/>
              </p:nvSpPr>
              <p:spPr>
                <a:xfrm>
                  <a:off x="295275" y="25717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92301C"/>
                  </a:solidFill>
                </a:ln>
              </p:spPr>
            </p:sp>
            <p:sp>
              <p:nvSpPr>
                <p:cNvPr id="33" name="Freeform 33"/>
                <p:cNvSpPr/>
                <p:nvPr/>
              </p:nvSpPr>
              <p:spPr>
                <a:xfrm>
                  <a:off x="381000" y="2609850"/>
                  <a:ext cx="28575" cy="76200"/>
                </a:xfrm>
                <a:custGeom>
                  <a:avLst/>
                  <a:gdLst/>
                  <a:ahLst/>
                  <a:cxnLst/>
                  <a:rect l="l" t="t" r="r" b="b"/>
                  <a:pathLst>
                    <a:path w="28575" h="76200">
                      <a:moveTo>
                        <a:pt x="0" y="0"/>
                      </a:moveTo>
                      <a:lnTo>
                        <a:pt x="0" y="47625"/>
                      </a:lnTo>
                      <a:lnTo>
                        <a:pt x="28575" y="76200"/>
                      </a:lnTo>
                    </a:path>
                  </a:pathLst>
                </a:custGeom>
                <a:noFill/>
                <a:ln w="19050">
                  <a:solidFill>
                    <a:srgbClr val="92301C"/>
                  </a:solidFill>
                </a:ln>
              </p:spPr>
            </p:sp>
          </p:grpSp>
          <p:sp>
            <p:nvSpPr>
              <p:cNvPr id="35" name="TextBox 35"/>
              <p:cNvSpPr txBox="1"/>
              <p:nvPr/>
            </p:nvSpPr>
            <p:spPr>
              <a:xfrm>
                <a:off x="547688" y="2455545"/>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期限</a:t>
                </a:r>
              </a:p>
            </p:txBody>
          </p:sp>
          <p:sp>
            <p:nvSpPr>
              <p:cNvPr id="36" name="TextBox 36"/>
              <p:cNvSpPr txBox="1"/>
              <p:nvPr/>
            </p:nvSpPr>
            <p:spPr>
              <a:xfrm>
                <a:off x="547688" y="2636282"/>
                <a:ext cx="957250"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到期结构、重定价周期、</a:t>
                </a:r>
              </a:p>
            </p:txBody>
          </p:sp>
          <p:sp>
            <p:nvSpPr>
              <p:cNvPr id="37" name="TextBox 37"/>
              <p:cNvSpPr txBox="1"/>
              <p:nvPr/>
            </p:nvSpPr>
            <p:spPr>
              <a:xfrm>
                <a:off x="547688" y="2760107"/>
                <a:ext cx="61262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提前偿还假设等</a:t>
                </a:r>
              </a:p>
            </p:txBody>
          </p:sp>
        </p:grpSp>
        <p:grpSp>
          <p:nvGrpSpPr>
            <p:cNvPr id="48" name="lc-4"/>
            <p:cNvGrpSpPr/>
            <p:nvPr/>
          </p:nvGrpSpPr>
          <p:grpSpPr>
            <a:xfrm>
              <a:off x="190500" y="3048000"/>
              <a:ext cx="1866900" cy="609600"/>
              <a:chOff x="190500" y="3048000"/>
              <a:chExt cx="1866900" cy="609600"/>
            </a:xfrm>
          </p:grpSpPr>
          <p:sp>
            <p:nvSpPr>
              <p:cNvPr id="39" name="Rectangle 39"/>
              <p:cNvSpPr/>
              <p:nvPr/>
            </p:nvSpPr>
            <p:spPr>
              <a:xfrm>
                <a:off x="190500" y="3048000"/>
                <a:ext cx="1866900" cy="609600"/>
              </a:xfrm>
              <a:prstGeom prst="roundRect">
                <a:avLst>
                  <a:gd name="adj" fmla="val 9375"/>
                </a:avLst>
              </a:prstGeom>
              <a:solidFill>
                <a:srgbClr val="F6F9FD"/>
              </a:solidFill>
              <a:ln w="9525">
                <a:solidFill>
                  <a:srgbClr val="CFDFEE"/>
                </a:solidFill>
              </a:ln>
            </p:spPr>
          </p:sp>
          <p:grpSp>
            <p:nvGrpSpPr>
              <p:cNvPr id="44" name="Group 44"/>
              <p:cNvGrpSpPr/>
              <p:nvPr/>
            </p:nvGrpSpPr>
            <p:grpSpPr>
              <a:xfrm>
                <a:off x="295275" y="3267075"/>
                <a:ext cx="171450" cy="161925"/>
                <a:chOff x="295275" y="3267075"/>
                <a:chExt cx="171450" cy="161925"/>
              </a:xfrm>
            </p:grpSpPr>
            <p:sp>
              <p:nvSpPr>
                <p:cNvPr id="40" name="Freeform 40"/>
                <p:cNvSpPr/>
                <p:nvPr/>
              </p:nvSpPr>
              <p:spPr>
                <a:xfrm>
                  <a:off x="295275" y="3343275"/>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92301C"/>
                  </a:solidFill>
                </a:ln>
              </p:spPr>
            </p:sp>
            <p:sp>
              <p:nvSpPr>
                <p:cNvPr id="41" name="Freeform 41"/>
                <p:cNvSpPr/>
                <p:nvPr/>
              </p:nvSpPr>
              <p:spPr>
                <a:xfrm>
                  <a:off x="409575" y="3305175"/>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92301C"/>
                  </a:solidFill>
                </a:ln>
              </p:spPr>
            </p:sp>
            <p:sp>
              <p:nvSpPr>
                <p:cNvPr id="42" name="Freeform 42"/>
                <p:cNvSpPr/>
                <p:nvPr/>
              </p:nvSpPr>
              <p:spPr>
                <a:xfrm>
                  <a:off x="352425" y="3267075"/>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92301C"/>
                  </a:solidFill>
                </a:ln>
              </p:spPr>
            </p:sp>
            <p:sp>
              <p:nvSpPr>
                <p:cNvPr id="43" name="Freeform 43"/>
                <p:cNvSpPr/>
                <p:nvPr/>
              </p:nvSpPr>
              <p:spPr>
                <a:xfrm>
                  <a:off x="304800" y="3419475"/>
                  <a:ext cx="133350" cy="9525"/>
                </a:xfrm>
                <a:custGeom>
                  <a:avLst/>
                  <a:gdLst/>
                  <a:ahLst/>
                  <a:cxnLst/>
                  <a:rect l="l" t="t" r="r" b="b"/>
                  <a:pathLst>
                    <a:path w="133350" h="9525">
                      <a:moveTo>
                        <a:pt x="0" y="0"/>
                      </a:moveTo>
                      <a:lnTo>
                        <a:pt x="133350" y="0"/>
                      </a:lnTo>
                    </a:path>
                  </a:pathLst>
                </a:custGeom>
                <a:noFill/>
                <a:ln w="19050">
                  <a:solidFill>
                    <a:srgbClr val="92301C"/>
                  </a:solidFill>
                </a:ln>
              </p:spPr>
            </p:sp>
          </p:grpSp>
          <p:sp>
            <p:nvSpPr>
              <p:cNvPr id="45" name="TextBox 45"/>
              <p:cNvSpPr txBox="1"/>
              <p:nvPr/>
            </p:nvSpPr>
            <p:spPr>
              <a:xfrm>
                <a:off x="547688" y="3141345"/>
                <a:ext cx="372999"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现金流</a:t>
                </a:r>
              </a:p>
            </p:txBody>
          </p:sp>
          <p:sp>
            <p:nvSpPr>
              <p:cNvPr id="46" name="TextBox 46"/>
              <p:cNvSpPr txBox="1"/>
              <p:nvPr/>
            </p:nvSpPr>
            <p:spPr>
              <a:xfrm>
                <a:off x="547688" y="3322082"/>
                <a:ext cx="87109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历史现金流、未来业务</a:t>
                </a:r>
              </a:p>
            </p:txBody>
          </p:sp>
          <p:sp>
            <p:nvSpPr>
              <p:cNvPr id="47" name="TextBox 47"/>
              <p:cNvSpPr txBox="1"/>
              <p:nvPr/>
            </p:nvSpPr>
            <p:spPr>
              <a:xfrm>
                <a:off x="547688" y="3445907"/>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流动预测等</a:t>
                </a:r>
              </a:p>
            </p:txBody>
          </p:sp>
        </p:grpSp>
        <p:grpSp>
          <p:nvGrpSpPr>
            <p:cNvPr id="56" name="lc-5"/>
            <p:cNvGrpSpPr/>
            <p:nvPr/>
          </p:nvGrpSpPr>
          <p:grpSpPr>
            <a:xfrm>
              <a:off x="190500" y="3733800"/>
              <a:ext cx="1866900" cy="609600"/>
              <a:chOff x="190500" y="3733800"/>
              <a:chExt cx="1866900" cy="609600"/>
            </a:xfrm>
          </p:grpSpPr>
          <p:sp>
            <p:nvSpPr>
              <p:cNvPr id="49" name="Rectangle 49"/>
              <p:cNvSpPr/>
              <p:nvPr/>
            </p:nvSpPr>
            <p:spPr>
              <a:xfrm>
                <a:off x="190500" y="3733800"/>
                <a:ext cx="1866900" cy="609600"/>
              </a:xfrm>
              <a:prstGeom prst="roundRect">
                <a:avLst>
                  <a:gd name="adj" fmla="val 9375"/>
                </a:avLst>
              </a:prstGeom>
              <a:solidFill>
                <a:srgbClr val="F6F9FD"/>
              </a:solidFill>
              <a:ln w="9525">
                <a:solidFill>
                  <a:srgbClr val="CFDFEE"/>
                </a:solidFill>
              </a:ln>
            </p:spPr>
          </p:sp>
          <p:grpSp>
            <p:nvGrpSpPr>
              <p:cNvPr id="52" name="Group 52"/>
              <p:cNvGrpSpPr/>
              <p:nvPr/>
            </p:nvGrpSpPr>
            <p:grpSpPr>
              <a:xfrm>
                <a:off x="304800" y="3971925"/>
                <a:ext cx="152400" cy="133350"/>
                <a:chOff x="304800" y="3971925"/>
                <a:chExt cx="152400" cy="133350"/>
              </a:xfrm>
            </p:grpSpPr>
            <p:sp>
              <p:nvSpPr>
                <p:cNvPr id="50" name="Freeform 50"/>
                <p:cNvSpPr/>
                <p:nvPr/>
              </p:nvSpPr>
              <p:spPr>
                <a:xfrm>
                  <a:off x="304800" y="4095750"/>
                  <a:ext cx="152400" cy="9525"/>
                </a:xfrm>
                <a:custGeom>
                  <a:avLst/>
                  <a:gdLst/>
                  <a:ahLst/>
                  <a:cxnLst/>
                  <a:rect l="l" t="t" r="r" b="b"/>
                  <a:pathLst>
                    <a:path w="152400" h="9525">
                      <a:moveTo>
                        <a:pt x="0" y="0"/>
                      </a:moveTo>
                      <a:lnTo>
                        <a:pt x="152400" y="0"/>
                      </a:lnTo>
                    </a:path>
                  </a:pathLst>
                </a:custGeom>
                <a:noFill/>
                <a:ln w="19050">
                  <a:solidFill>
                    <a:srgbClr val="92301C"/>
                  </a:solidFill>
                </a:ln>
              </p:spPr>
            </p:sp>
            <p:sp>
              <p:nvSpPr>
                <p:cNvPr id="51" name="Freeform 51"/>
                <p:cNvSpPr/>
                <p:nvPr/>
              </p:nvSpPr>
              <p:spPr>
                <a:xfrm>
                  <a:off x="304800" y="3971925"/>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92301C"/>
                  </a:solidFill>
                </a:ln>
              </p:spPr>
            </p:sp>
          </p:grpSp>
          <p:sp>
            <p:nvSpPr>
              <p:cNvPr id="53" name="TextBox 53"/>
              <p:cNvSpPr txBox="1"/>
              <p:nvPr/>
            </p:nvSpPr>
            <p:spPr>
              <a:xfrm>
                <a:off x="547688" y="382714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市场利率</a:t>
                </a:r>
              </a:p>
            </p:txBody>
          </p:sp>
          <p:sp>
            <p:nvSpPr>
              <p:cNvPr id="54" name="TextBox 54"/>
              <p:cNvSpPr txBox="1"/>
              <p:nvPr/>
            </p:nvSpPr>
            <p:spPr>
              <a:xfrm>
                <a:off x="547688" y="4007882"/>
                <a:ext cx="957250"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收益率曲线、利率预期、</a:t>
                </a:r>
              </a:p>
            </p:txBody>
          </p:sp>
          <p:sp>
            <p:nvSpPr>
              <p:cNvPr id="55" name="TextBox 55"/>
              <p:cNvSpPr txBox="1"/>
              <p:nvPr/>
            </p:nvSpPr>
            <p:spPr>
              <a:xfrm>
                <a:off x="547688" y="413170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波动率等</a:t>
                </a:r>
              </a:p>
            </p:txBody>
          </p:sp>
        </p:grpSp>
        <p:grpSp>
          <p:nvGrpSpPr>
            <p:cNvPr id="66" name="lc-6"/>
            <p:cNvGrpSpPr/>
            <p:nvPr/>
          </p:nvGrpSpPr>
          <p:grpSpPr>
            <a:xfrm>
              <a:off x="190500" y="4419600"/>
              <a:ext cx="1866900" cy="609600"/>
              <a:chOff x="190500" y="4419600"/>
              <a:chExt cx="1866900" cy="609600"/>
            </a:xfrm>
          </p:grpSpPr>
          <p:sp>
            <p:nvSpPr>
              <p:cNvPr id="57" name="Rectangle 57"/>
              <p:cNvSpPr/>
              <p:nvPr/>
            </p:nvSpPr>
            <p:spPr>
              <a:xfrm>
                <a:off x="190500" y="4419600"/>
                <a:ext cx="1866900" cy="609600"/>
              </a:xfrm>
              <a:prstGeom prst="roundRect">
                <a:avLst>
                  <a:gd name="adj" fmla="val 9375"/>
                </a:avLst>
              </a:prstGeom>
              <a:solidFill>
                <a:srgbClr val="F6F9FD"/>
              </a:solidFill>
              <a:ln w="9525">
                <a:solidFill>
                  <a:srgbClr val="CFDFEE"/>
                </a:solidFill>
              </a:ln>
            </p:spPr>
          </p:sp>
          <p:grpSp>
            <p:nvGrpSpPr>
              <p:cNvPr id="62" name="Group 62"/>
              <p:cNvGrpSpPr/>
              <p:nvPr/>
            </p:nvGrpSpPr>
            <p:grpSpPr>
              <a:xfrm>
                <a:off x="295275" y="4629150"/>
                <a:ext cx="171450" cy="171450"/>
                <a:chOff x="295275" y="4629150"/>
                <a:chExt cx="171450" cy="171450"/>
              </a:xfrm>
            </p:grpSpPr>
            <p:sp>
              <p:nvSpPr>
                <p:cNvPr id="58" name="Freeform 58"/>
                <p:cNvSpPr/>
                <p:nvPr/>
              </p:nvSpPr>
              <p:spPr>
                <a:xfrm>
                  <a:off x="314325" y="46291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92301C"/>
                  </a:solidFill>
                </a:ln>
              </p:spPr>
            </p:sp>
            <p:sp>
              <p:nvSpPr>
                <p:cNvPr id="59" name="Freeform 59"/>
                <p:cNvSpPr/>
                <p:nvPr/>
              </p:nvSpPr>
              <p:spPr>
                <a:xfrm>
                  <a:off x="295275" y="47434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92301C"/>
                  </a:solidFill>
                </a:ln>
              </p:spPr>
            </p:sp>
            <p:sp>
              <p:nvSpPr>
                <p:cNvPr id="60" name="Freeform 60"/>
                <p:cNvSpPr/>
                <p:nvPr/>
              </p:nvSpPr>
              <p:spPr>
                <a:xfrm>
                  <a:off x="419100" y="46303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92301C"/>
                  </a:solidFill>
                </a:ln>
              </p:spPr>
            </p:sp>
            <p:sp>
              <p:nvSpPr>
                <p:cNvPr id="61" name="Freeform 61"/>
                <p:cNvSpPr/>
                <p:nvPr/>
              </p:nvSpPr>
              <p:spPr>
                <a:xfrm>
                  <a:off x="438150" y="47448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92301C"/>
                  </a:solidFill>
                </a:ln>
              </p:spPr>
            </p:sp>
          </p:grpSp>
          <p:sp>
            <p:nvSpPr>
              <p:cNvPr id="63" name="TextBox 63"/>
              <p:cNvSpPr txBox="1"/>
              <p:nvPr/>
            </p:nvSpPr>
            <p:spPr>
              <a:xfrm>
                <a:off x="547688" y="451294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客户行为</a:t>
                </a:r>
              </a:p>
            </p:txBody>
          </p:sp>
          <p:sp>
            <p:nvSpPr>
              <p:cNvPr id="64" name="TextBox 64"/>
              <p:cNvSpPr txBox="1"/>
              <p:nvPr/>
            </p:nvSpPr>
            <p:spPr>
              <a:xfrm>
                <a:off x="547688" y="4693682"/>
                <a:ext cx="957250"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存款稳定性、提前支取、</a:t>
                </a:r>
              </a:p>
            </p:txBody>
          </p:sp>
          <p:sp>
            <p:nvSpPr>
              <p:cNvPr id="65" name="TextBox 65"/>
              <p:cNvSpPr txBox="1"/>
              <p:nvPr/>
            </p:nvSpPr>
            <p:spPr>
              <a:xfrm>
                <a:off x="547688" y="4817507"/>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产品迁移等</a:t>
                </a:r>
              </a:p>
            </p:txBody>
          </p:sp>
        </p:grpSp>
      </p:grpSp>
      <p:grpSp>
        <p:nvGrpSpPr>
          <p:cNvPr id="133" name="cashflow-chart"/>
          <p:cNvGrpSpPr/>
          <p:nvPr/>
        </p:nvGrpSpPr>
        <p:grpSpPr>
          <a:xfrm>
            <a:off x="2152650" y="628650"/>
            <a:ext cx="4602868" cy="2762250"/>
            <a:chOff x="2152650" y="628650"/>
            <a:chExt cx="4602868" cy="2762250"/>
          </a:xfrm>
        </p:grpSpPr>
        <p:sp>
          <p:nvSpPr>
            <p:cNvPr id="68" name="Rectangle 68"/>
            <p:cNvSpPr/>
            <p:nvPr/>
          </p:nvSpPr>
          <p:spPr>
            <a:xfrm>
              <a:off x="2152650" y="628650"/>
              <a:ext cx="4572000" cy="2762250"/>
            </a:xfrm>
            <a:prstGeom prst="roundRect">
              <a:avLst>
                <a:gd name="adj" fmla="val 2069"/>
              </a:avLst>
            </a:prstGeom>
            <a:solidFill>
              <a:srgbClr val="FCFDFE"/>
            </a:solidFill>
            <a:ln w="9525">
              <a:solidFill>
                <a:srgbClr val="CFDFEE"/>
              </a:solidFill>
            </a:ln>
          </p:spPr>
        </p:sp>
        <p:sp>
          <p:nvSpPr>
            <p:cNvPr id="69" name="TextBox 69"/>
            <p:cNvSpPr txBox="1"/>
            <p:nvPr/>
          </p:nvSpPr>
          <p:spPr>
            <a:xfrm>
              <a:off x="2261997" y="713899"/>
              <a:ext cx="1698297"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13周现金流预测</a:t>
              </a:r>
              <a:r>
                <a:rPr lang="zh-CN" sz="790" dirty="0">
                  <a:solidFill>
                    <a:srgbClr val="6B1B0B"/>
                  </a:solidFill>
                  <a:latin typeface="+mn-lt"/>
                  <a:ea typeface="+mn-ea"/>
                  <a:cs typeface="+mn-cs"/>
                </a:rPr>
                <a:t xml:space="preserve">（示例测算）　</a:t>
              </a:r>
            </a:p>
          </p:txBody>
        </p:sp>
        <p:sp>
          <p:nvSpPr>
            <p:cNvPr id="70" name="TextBox 70"/>
            <p:cNvSpPr txBox="1"/>
            <p:nvPr/>
          </p:nvSpPr>
          <p:spPr>
            <a:xfrm>
              <a:off x="6147880" y="746284"/>
              <a:ext cx="467233" cy="133350"/>
            </a:xfrm>
            <a:prstGeom prst="rect">
              <a:avLst/>
            </a:prstGeom>
            <a:noFill/>
            <a:ln>
              <a:noFill/>
            </a:ln>
          </p:spPr>
          <p:txBody>
            <a:bodyPr wrap="none" lIns="0" tIns="0" rIns="0" bIns="0" anchor="t" anchorCtr="0">
              <a:spAutoFit/>
            </a:bodyPr>
            <a:lstStyle/>
            <a:p>
              <a:pPr algn="r"/>
              <a:r>
                <a:rPr lang="zh-CN" sz="680" dirty="0">
                  <a:solidFill>
                    <a:srgbClr val="8C716B"/>
                  </a:solidFill>
                  <a:latin typeface="+mn-lt"/>
                  <a:ea typeface="+mn-ea"/>
                  <a:cs typeface="+mn-cs"/>
                </a:rPr>
                <a:t>单位：亿元</a:t>
              </a:r>
            </a:p>
          </p:txBody>
        </p:sp>
        <p:grpSp>
          <p:nvGrpSpPr>
            <p:cNvPr id="80" name="cf-legend"/>
            <p:cNvGrpSpPr/>
            <p:nvPr/>
          </p:nvGrpSpPr>
          <p:grpSpPr>
            <a:xfrm>
              <a:off x="3048000" y="931307"/>
              <a:ext cx="3111640" cy="126206"/>
              <a:chOff x="3048000" y="931307"/>
              <a:chExt cx="3111640" cy="126206"/>
            </a:xfrm>
          </p:grpSpPr>
          <p:sp>
            <p:nvSpPr>
              <p:cNvPr id="71" name="Rectangle 71"/>
              <p:cNvSpPr/>
              <p:nvPr/>
            </p:nvSpPr>
            <p:spPr>
              <a:xfrm>
                <a:off x="3048000" y="933450"/>
                <a:ext cx="171450" cy="76200"/>
              </a:xfrm>
              <a:prstGeom prst="rect">
                <a:avLst/>
              </a:prstGeom>
              <a:solidFill>
                <a:srgbClr val="D6E6F3"/>
              </a:solidFill>
              <a:ln>
                <a:noFill/>
              </a:ln>
            </p:spPr>
          </p:sp>
          <p:sp>
            <p:nvSpPr>
              <p:cNvPr id="72" name="TextBox 72"/>
              <p:cNvSpPr txBox="1"/>
              <p:nvPr/>
            </p:nvSpPr>
            <p:spPr>
              <a:xfrm>
                <a:off x="3252788" y="931307"/>
                <a:ext cx="670141"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置信区间(80%)　</a:t>
                </a:r>
              </a:p>
            </p:txBody>
          </p:sp>
          <p:sp>
            <p:nvSpPr>
              <p:cNvPr id="73" name="Line 73"/>
              <p:cNvSpPr/>
              <p:nvPr/>
            </p:nvSpPr>
            <p:spPr>
              <a:xfrm>
                <a:off x="4095750" y="971550"/>
                <a:ext cx="190500" cy="9525"/>
              </a:xfrm>
              <a:custGeom>
                <a:avLst/>
                <a:gdLst/>
                <a:ahLst/>
                <a:cxnLst/>
                <a:rect l="l" t="t" r="r" b="b"/>
                <a:pathLst>
                  <a:path w="190500" h="9525">
                    <a:moveTo>
                      <a:pt x="0" y="0"/>
                    </a:moveTo>
                    <a:lnTo>
                      <a:pt x="190500" y="0"/>
                    </a:lnTo>
                  </a:path>
                </a:pathLst>
              </a:custGeom>
              <a:noFill/>
              <a:ln w="17145">
                <a:solidFill>
                  <a:srgbClr val="92301C"/>
                </a:solidFill>
              </a:ln>
            </p:spPr>
          </p:sp>
          <p:sp>
            <p:nvSpPr>
              <p:cNvPr id="74" name="Ellipse 74"/>
              <p:cNvSpPr/>
              <p:nvPr/>
            </p:nvSpPr>
            <p:spPr>
              <a:xfrm>
                <a:off x="4167188" y="947738"/>
                <a:ext cx="47625" cy="47625"/>
              </a:xfrm>
              <a:prstGeom prst="ellipse">
                <a:avLst/>
              </a:prstGeom>
              <a:solidFill>
                <a:srgbClr val="92301C"/>
              </a:solidFill>
              <a:ln>
                <a:noFill/>
              </a:ln>
            </p:spPr>
          </p:sp>
          <p:sp>
            <p:nvSpPr>
              <p:cNvPr id="75" name="TextBox 75"/>
              <p:cNvSpPr txBox="1"/>
              <p:nvPr/>
            </p:nvSpPr>
            <p:spPr>
              <a:xfrm>
                <a:off x="4319588" y="93130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基准情景</a:t>
                </a:r>
              </a:p>
            </p:txBody>
          </p:sp>
          <p:sp>
            <p:nvSpPr>
              <p:cNvPr id="76" name="Line 76"/>
              <p:cNvSpPr/>
              <p:nvPr/>
            </p:nvSpPr>
            <p:spPr>
              <a:xfrm>
                <a:off x="4838700" y="971550"/>
                <a:ext cx="190500" cy="9525"/>
              </a:xfrm>
              <a:custGeom>
                <a:avLst/>
                <a:gdLst/>
                <a:ahLst/>
                <a:cxnLst/>
                <a:rect l="l" t="t" r="r" b="b"/>
                <a:pathLst>
                  <a:path w="190500" h="9525">
                    <a:moveTo>
                      <a:pt x="0" y="0"/>
                    </a:moveTo>
                    <a:lnTo>
                      <a:pt x="190500" y="0"/>
                    </a:lnTo>
                  </a:path>
                </a:pathLst>
              </a:custGeom>
              <a:noFill/>
              <a:ln w="14288">
                <a:solidFill>
                  <a:srgbClr val="B7533F"/>
                </a:solidFill>
                <a:custDash>
                  <a:ds d="266667" sp="200000"/>
                </a:custDash>
              </a:ln>
            </p:spPr>
          </p:sp>
          <p:sp>
            <p:nvSpPr>
              <p:cNvPr id="77" name="TextBox 77"/>
              <p:cNvSpPr txBox="1"/>
              <p:nvPr/>
            </p:nvSpPr>
            <p:spPr>
              <a:xfrm>
                <a:off x="5062538" y="93130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压力情景</a:t>
                </a:r>
              </a:p>
            </p:txBody>
          </p:sp>
          <p:sp>
            <p:nvSpPr>
              <p:cNvPr id="78" name="Line 78"/>
              <p:cNvSpPr/>
              <p:nvPr/>
            </p:nvSpPr>
            <p:spPr>
              <a:xfrm>
                <a:off x="5581650" y="971550"/>
                <a:ext cx="190500" cy="9525"/>
              </a:xfrm>
              <a:custGeom>
                <a:avLst/>
                <a:gdLst/>
                <a:ahLst/>
                <a:cxnLst/>
                <a:rect l="l" t="t" r="r" b="b"/>
                <a:pathLst>
                  <a:path w="190500" h="9525">
                    <a:moveTo>
                      <a:pt x="0" y="0"/>
                    </a:moveTo>
                    <a:lnTo>
                      <a:pt x="190500" y="0"/>
                    </a:lnTo>
                  </a:path>
                </a:pathLst>
              </a:custGeom>
              <a:noFill/>
              <a:ln w="14288">
                <a:solidFill>
                  <a:srgbClr val="6B1B0B"/>
                </a:solidFill>
                <a:custDash>
                  <a:ds d="133333" sp="200000"/>
                </a:custDash>
              </a:ln>
            </p:spPr>
          </p:sp>
          <p:sp>
            <p:nvSpPr>
              <p:cNvPr id="79" name="TextBox 79"/>
              <p:cNvSpPr txBox="1"/>
              <p:nvPr/>
            </p:nvSpPr>
            <p:spPr>
              <a:xfrm>
                <a:off x="5805488" y="931307"/>
                <a:ext cx="35415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严重情景</a:t>
                </a:r>
              </a:p>
            </p:txBody>
          </p:sp>
        </p:grpSp>
        <p:grpSp>
          <p:nvGrpSpPr>
            <p:cNvPr id="86" name="cf-grid"/>
            <p:cNvGrpSpPr/>
            <p:nvPr/>
          </p:nvGrpSpPr>
          <p:grpSpPr>
            <a:xfrm>
              <a:off x="2571750" y="1428750"/>
              <a:ext cx="4000500" cy="1724025"/>
              <a:chOff x="2571750" y="1428750"/>
              <a:chExt cx="4000500" cy="1724025"/>
            </a:xfrm>
          </p:grpSpPr>
          <p:sp>
            <p:nvSpPr>
              <p:cNvPr id="81" name="Line 81"/>
              <p:cNvSpPr/>
              <p:nvPr/>
            </p:nvSpPr>
            <p:spPr>
              <a:xfrm>
                <a:off x="2571750" y="1428750"/>
                <a:ext cx="4000500" cy="9525"/>
              </a:xfrm>
              <a:custGeom>
                <a:avLst/>
                <a:gdLst/>
                <a:ahLst/>
                <a:cxnLst/>
                <a:rect l="l" t="t" r="r" b="b"/>
                <a:pathLst>
                  <a:path w="4000500" h="9525">
                    <a:moveTo>
                      <a:pt x="0" y="0"/>
                    </a:moveTo>
                    <a:lnTo>
                      <a:pt x="4000500" y="0"/>
                    </a:lnTo>
                  </a:path>
                </a:pathLst>
              </a:custGeom>
              <a:noFill/>
              <a:ln w="9525">
                <a:solidFill>
                  <a:srgbClr val="E4EDF5"/>
                </a:solidFill>
              </a:ln>
            </p:spPr>
          </p:sp>
          <p:sp>
            <p:nvSpPr>
              <p:cNvPr id="82" name="Line 82"/>
              <p:cNvSpPr/>
              <p:nvPr/>
            </p:nvSpPr>
            <p:spPr>
              <a:xfrm>
                <a:off x="2571750" y="1771650"/>
                <a:ext cx="4000500" cy="9525"/>
              </a:xfrm>
              <a:custGeom>
                <a:avLst/>
                <a:gdLst/>
                <a:ahLst/>
                <a:cxnLst/>
                <a:rect l="l" t="t" r="r" b="b"/>
                <a:pathLst>
                  <a:path w="4000500" h="9525">
                    <a:moveTo>
                      <a:pt x="0" y="0"/>
                    </a:moveTo>
                    <a:lnTo>
                      <a:pt x="4000500" y="0"/>
                    </a:lnTo>
                  </a:path>
                </a:pathLst>
              </a:custGeom>
              <a:noFill/>
              <a:ln w="9525">
                <a:solidFill>
                  <a:srgbClr val="E4EDF5"/>
                </a:solidFill>
              </a:ln>
            </p:spPr>
          </p:sp>
          <p:sp>
            <p:nvSpPr>
              <p:cNvPr id="83" name="Line 83"/>
              <p:cNvSpPr/>
              <p:nvPr/>
            </p:nvSpPr>
            <p:spPr>
              <a:xfrm>
                <a:off x="2571750" y="2114550"/>
                <a:ext cx="4000500" cy="9525"/>
              </a:xfrm>
              <a:custGeom>
                <a:avLst/>
                <a:gdLst/>
                <a:ahLst/>
                <a:cxnLst/>
                <a:rect l="l" t="t" r="r" b="b"/>
                <a:pathLst>
                  <a:path w="4000500" h="9525">
                    <a:moveTo>
                      <a:pt x="0" y="0"/>
                    </a:moveTo>
                    <a:lnTo>
                      <a:pt x="4000500" y="0"/>
                    </a:lnTo>
                  </a:path>
                </a:pathLst>
              </a:custGeom>
              <a:noFill/>
              <a:ln w="9525">
                <a:solidFill>
                  <a:srgbClr val="E4EDF5"/>
                </a:solidFill>
              </a:ln>
            </p:spPr>
          </p:sp>
          <p:sp>
            <p:nvSpPr>
              <p:cNvPr id="84" name="Line 84"/>
              <p:cNvSpPr/>
              <p:nvPr/>
            </p:nvSpPr>
            <p:spPr>
              <a:xfrm>
                <a:off x="2571750" y="2800350"/>
                <a:ext cx="4000500" cy="9525"/>
              </a:xfrm>
              <a:custGeom>
                <a:avLst/>
                <a:gdLst/>
                <a:ahLst/>
                <a:cxnLst/>
                <a:rect l="l" t="t" r="r" b="b"/>
                <a:pathLst>
                  <a:path w="4000500" h="9525">
                    <a:moveTo>
                      <a:pt x="0" y="0"/>
                    </a:moveTo>
                    <a:lnTo>
                      <a:pt x="4000500" y="0"/>
                    </a:lnTo>
                  </a:path>
                </a:pathLst>
              </a:custGeom>
              <a:noFill/>
              <a:ln w="9525">
                <a:solidFill>
                  <a:srgbClr val="E4EDF5"/>
                </a:solidFill>
              </a:ln>
            </p:spPr>
          </p:sp>
          <p:sp>
            <p:nvSpPr>
              <p:cNvPr id="85" name="Line 85"/>
              <p:cNvSpPr/>
              <p:nvPr/>
            </p:nvSpPr>
            <p:spPr>
              <a:xfrm>
                <a:off x="2571750" y="3143250"/>
                <a:ext cx="4000500" cy="9525"/>
              </a:xfrm>
              <a:custGeom>
                <a:avLst/>
                <a:gdLst/>
                <a:ahLst/>
                <a:cxnLst/>
                <a:rect l="l" t="t" r="r" b="b"/>
                <a:pathLst>
                  <a:path w="4000500" h="9525">
                    <a:moveTo>
                      <a:pt x="0" y="0"/>
                    </a:moveTo>
                    <a:lnTo>
                      <a:pt x="4000500" y="0"/>
                    </a:lnTo>
                  </a:path>
                </a:pathLst>
              </a:custGeom>
              <a:noFill/>
              <a:ln w="9525">
                <a:solidFill>
                  <a:srgbClr val="E4EDF5"/>
                </a:solidFill>
              </a:ln>
            </p:spPr>
          </p:sp>
        </p:grpSp>
        <p:sp>
          <p:nvSpPr>
            <p:cNvPr id="87" name="Line 87"/>
            <p:cNvSpPr/>
            <p:nvPr/>
          </p:nvSpPr>
          <p:spPr>
            <a:xfrm>
              <a:off x="2571750" y="2457450"/>
              <a:ext cx="4000500" cy="9525"/>
            </a:xfrm>
            <a:custGeom>
              <a:avLst/>
              <a:gdLst/>
              <a:ahLst/>
              <a:cxnLst/>
              <a:rect l="l" t="t" r="r" b="b"/>
              <a:pathLst>
                <a:path w="4000500" h="9525">
                  <a:moveTo>
                    <a:pt x="0" y="0"/>
                  </a:moveTo>
                  <a:lnTo>
                    <a:pt x="4000500" y="0"/>
                  </a:lnTo>
                </a:path>
              </a:pathLst>
            </a:custGeom>
            <a:noFill/>
            <a:ln w="9525">
              <a:solidFill>
                <a:srgbClr val="D2A89F"/>
              </a:solidFill>
            </a:ln>
          </p:spPr>
        </p:sp>
        <p:grpSp>
          <p:nvGrpSpPr>
            <p:cNvPr id="94" name="cf-ylabels"/>
            <p:cNvGrpSpPr/>
            <p:nvPr/>
          </p:nvGrpSpPr>
          <p:grpSpPr>
            <a:xfrm>
              <a:off x="2321173" y="1396603"/>
              <a:ext cx="198189" cy="1826419"/>
              <a:chOff x="2321173" y="1396603"/>
              <a:chExt cx="198189" cy="1826419"/>
            </a:xfrm>
          </p:grpSpPr>
          <p:sp>
            <p:nvSpPr>
              <p:cNvPr id="88" name="TextBox 88"/>
              <p:cNvSpPr txBox="1"/>
              <p:nvPr/>
            </p:nvSpPr>
            <p:spPr>
              <a:xfrm>
                <a:off x="2321173" y="1396603"/>
                <a:ext cx="198189"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1,200</a:t>
                </a:r>
              </a:p>
            </p:txBody>
          </p:sp>
          <p:sp>
            <p:nvSpPr>
              <p:cNvPr id="89" name="TextBox 89"/>
              <p:cNvSpPr txBox="1"/>
              <p:nvPr/>
            </p:nvSpPr>
            <p:spPr>
              <a:xfrm>
                <a:off x="2384046" y="1739503"/>
                <a:ext cx="135316"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800</a:t>
                </a:r>
              </a:p>
            </p:txBody>
          </p:sp>
          <p:sp>
            <p:nvSpPr>
              <p:cNvPr id="90" name="TextBox 90"/>
              <p:cNvSpPr txBox="1"/>
              <p:nvPr/>
            </p:nvSpPr>
            <p:spPr>
              <a:xfrm>
                <a:off x="2384046" y="2082403"/>
                <a:ext cx="135316"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400</a:t>
                </a:r>
              </a:p>
            </p:txBody>
          </p:sp>
          <p:sp>
            <p:nvSpPr>
              <p:cNvPr id="91" name="TextBox 91"/>
              <p:cNvSpPr txBox="1"/>
              <p:nvPr/>
            </p:nvSpPr>
            <p:spPr>
              <a:xfrm>
                <a:off x="2467907" y="2425303"/>
                <a:ext cx="51455"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0</a:t>
                </a:r>
              </a:p>
            </p:txBody>
          </p:sp>
          <p:sp>
            <p:nvSpPr>
              <p:cNvPr id="92" name="TextBox 92"/>
              <p:cNvSpPr txBox="1"/>
              <p:nvPr/>
            </p:nvSpPr>
            <p:spPr>
              <a:xfrm>
                <a:off x="2358942" y="2768203"/>
                <a:ext cx="16042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-400</a:t>
                </a:r>
              </a:p>
            </p:txBody>
          </p:sp>
          <p:sp>
            <p:nvSpPr>
              <p:cNvPr id="93" name="TextBox 93"/>
              <p:cNvSpPr txBox="1"/>
              <p:nvPr/>
            </p:nvSpPr>
            <p:spPr>
              <a:xfrm>
                <a:off x="2358942" y="3111103"/>
                <a:ext cx="16042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-800</a:t>
                </a:r>
              </a:p>
            </p:txBody>
          </p:sp>
        </p:grpSp>
        <p:sp>
          <p:nvSpPr>
            <p:cNvPr id="95" name="Polygon 95"/>
            <p:cNvSpPr/>
            <p:nvPr/>
          </p:nvSpPr>
          <p:spPr>
            <a:xfrm>
              <a:off x="2571750" y="1843088"/>
              <a:ext cx="4000500" cy="881062"/>
            </a:xfrm>
            <a:custGeom>
              <a:avLst/>
              <a:gdLst/>
              <a:ahLst/>
              <a:cxnLst/>
              <a:rect l="l" t="t" r="r" b="b"/>
              <a:pathLst>
                <a:path w="4000500" h="881062">
                  <a:moveTo>
                    <a:pt x="0" y="80962"/>
                  </a:moveTo>
                  <a:lnTo>
                    <a:pt x="333375" y="0"/>
                  </a:lnTo>
                  <a:lnTo>
                    <a:pt x="666750" y="90488"/>
                  </a:lnTo>
                  <a:lnTo>
                    <a:pt x="1000125" y="247650"/>
                  </a:lnTo>
                  <a:lnTo>
                    <a:pt x="1333500" y="252412"/>
                  </a:lnTo>
                  <a:lnTo>
                    <a:pt x="1666875" y="285750"/>
                  </a:lnTo>
                  <a:lnTo>
                    <a:pt x="2000250" y="338138"/>
                  </a:lnTo>
                  <a:lnTo>
                    <a:pt x="2333625" y="390525"/>
                  </a:lnTo>
                  <a:lnTo>
                    <a:pt x="2667000" y="481012"/>
                  </a:lnTo>
                  <a:lnTo>
                    <a:pt x="3000375" y="381000"/>
                  </a:lnTo>
                  <a:lnTo>
                    <a:pt x="3333750" y="338138"/>
                  </a:lnTo>
                  <a:lnTo>
                    <a:pt x="3667125" y="295275"/>
                  </a:lnTo>
                  <a:lnTo>
                    <a:pt x="4000500" y="252412"/>
                  </a:lnTo>
                  <a:lnTo>
                    <a:pt x="4000500" y="766762"/>
                  </a:lnTo>
                  <a:lnTo>
                    <a:pt x="3667125" y="781050"/>
                  </a:lnTo>
                  <a:lnTo>
                    <a:pt x="3333750" y="795338"/>
                  </a:lnTo>
                  <a:lnTo>
                    <a:pt x="3000375" y="809625"/>
                  </a:lnTo>
                  <a:lnTo>
                    <a:pt x="2667000" y="881062"/>
                  </a:lnTo>
                  <a:lnTo>
                    <a:pt x="2333625" y="762000"/>
                  </a:lnTo>
                  <a:lnTo>
                    <a:pt x="2000250" y="681038"/>
                  </a:lnTo>
                  <a:lnTo>
                    <a:pt x="1666875" y="600075"/>
                  </a:lnTo>
                  <a:lnTo>
                    <a:pt x="1333500" y="538162"/>
                  </a:lnTo>
                  <a:lnTo>
                    <a:pt x="1000125" y="504825"/>
                  </a:lnTo>
                  <a:lnTo>
                    <a:pt x="666750" y="319088"/>
                  </a:lnTo>
                  <a:lnTo>
                    <a:pt x="333375" y="200025"/>
                  </a:lnTo>
                  <a:lnTo>
                    <a:pt x="0" y="252412"/>
                  </a:lnTo>
                  <a:close/>
                </a:path>
              </a:pathLst>
            </a:custGeom>
            <a:solidFill>
              <a:srgbClr val="D6E6F3">
                <a:alpha val="60000"/>
              </a:srgbClr>
            </a:solidFill>
            <a:ln>
              <a:noFill/>
            </a:ln>
          </p:spPr>
        </p:sp>
        <p:sp>
          <p:nvSpPr>
            <p:cNvPr id="96" name="Polyline 96"/>
            <p:cNvSpPr/>
            <p:nvPr/>
          </p:nvSpPr>
          <p:spPr>
            <a:xfrm>
              <a:off x="2571750" y="2171700"/>
              <a:ext cx="4000500" cy="762000"/>
            </a:xfrm>
            <a:custGeom>
              <a:avLst/>
              <a:gdLst/>
              <a:ahLst/>
              <a:cxnLst/>
              <a:rect l="l" t="t" r="r" b="b"/>
              <a:pathLst>
                <a:path w="4000500" h="762000">
                  <a:moveTo>
                    <a:pt x="0" y="19050"/>
                  </a:moveTo>
                  <a:lnTo>
                    <a:pt x="333375" y="0"/>
                  </a:lnTo>
                  <a:lnTo>
                    <a:pt x="666750" y="114300"/>
                  </a:lnTo>
                  <a:lnTo>
                    <a:pt x="1000125" y="333375"/>
                  </a:lnTo>
                  <a:lnTo>
                    <a:pt x="1333500" y="390525"/>
                  </a:lnTo>
                  <a:lnTo>
                    <a:pt x="1666875" y="476250"/>
                  </a:lnTo>
                  <a:lnTo>
                    <a:pt x="2000250" y="561975"/>
                  </a:lnTo>
                  <a:lnTo>
                    <a:pt x="2333625" y="647700"/>
                  </a:lnTo>
                  <a:lnTo>
                    <a:pt x="2667000" y="762000"/>
                  </a:lnTo>
                  <a:lnTo>
                    <a:pt x="3000375" y="695325"/>
                  </a:lnTo>
                  <a:lnTo>
                    <a:pt x="3333750" y="666750"/>
                  </a:lnTo>
                  <a:lnTo>
                    <a:pt x="3667125" y="628650"/>
                  </a:lnTo>
                  <a:lnTo>
                    <a:pt x="4000500" y="609600"/>
                  </a:lnTo>
                </a:path>
              </a:pathLst>
            </a:custGeom>
            <a:noFill/>
            <a:ln w="14288">
              <a:solidFill>
                <a:srgbClr val="6B1B0B"/>
              </a:solidFill>
              <a:custDash>
                <a:ds d="133333" sp="200000"/>
              </a:custDash>
            </a:ln>
          </p:spPr>
        </p:sp>
        <p:sp>
          <p:nvSpPr>
            <p:cNvPr id="97" name="Polyline 97"/>
            <p:cNvSpPr/>
            <p:nvPr/>
          </p:nvSpPr>
          <p:spPr>
            <a:xfrm>
              <a:off x="2571750" y="2057400"/>
              <a:ext cx="4000500" cy="676275"/>
            </a:xfrm>
            <a:custGeom>
              <a:avLst/>
              <a:gdLst/>
              <a:ahLst/>
              <a:cxnLst/>
              <a:rect l="l" t="t" r="r" b="b"/>
              <a:pathLst>
                <a:path w="4000500" h="676275">
                  <a:moveTo>
                    <a:pt x="0" y="38100"/>
                  </a:moveTo>
                  <a:lnTo>
                    <a:pt x="333375" y="0"/>
                  </a:lnTo>
                  <a:lnTo>
                    <a:pt x="666750" y="104775"/>
                  </a:lnTo>
                  <a:lnTo>
                    <a:pt x="1000125" y="295275"/>
                  </a:lnTo>
                  <a:lnTo>
                    <a:pt x="1333500" y="333375"/>
                  </a:lnTo>
                  <a:lnTo>
                    <a:pt x="1666875" y="419100"/>
                  </a:lnTo>
                  <a:lnTo>
                    <a:pt x="2000250" y="504825"/>
                  </a:lnTo>
                  <a:lnTo>
                    <a:pt x="2333625" y="590550"/>
                  </a:lnTo>
                  <a:lnTo>
                    <a:pt x="2667000" y="676275"/>
                  </a:lnTo>
                  <a:lnTo>
                    <a:pt x="3000375" y="619125"/>
                  </a:lnTo>
                  <a:lnTo>
                    <a:pt x="3333750" y="600075"/>
                  </a:lnTo>
                  <a:lnTo>
                    <a:pt x="3667125" y="571500"/>
                  </a:lnTo>
                  <a:lnTo>
                    <a:pt x="4000500" y="552450"/>
                  </a:lnTo>
                </a:path>
              </a:pathLst>
            </a:custGeom>
            <a:noFill/>
            <a:ln w="14288">
              <a:solidFill>
                <a:srgbClr val="B7533F"/>
              </a:solidFill>
              <a:custDash>
                <a:ds d="266667" sp="200000"/>
              </a:custDash>
            </a:ln>
          </p:spPr>
        </p:sp>
        <p:sp>
          <p:nvSpPr>
            <p:cNvPr id="98" name="Polyline 98"/>
            <p:cNvSpPr/>
            <p:nvPr/>
          </p:nvSpPr>
          <p:spPr>
            <a:xfrm>
              <a:off x="2571750" y="1943100"/>
              <a:ext cx="4000500" cy="581025"/>
            </a:xfrm>
            <a:custGeom>
              <a:avLst/>
              <a:gdLst/>
              <a:ahLst/>
              <a:cxnLst/>
              <a:rect l="l" t="t" r="r" b="b"/>
              <a:pathLst>
                <a:path w="4000500" h="581025">
                  <a:moveTo>
                    <a:pt x="0" y="66675"/>
                  </a:moveTo>
                  <a:lnTo>
                    <a:pt x="333375" y="0"/>
                  </a:lnTo>
                  <a:lnTo>
                    <a:pt x="666750" y="104775"/>
                  </a:lnTo>
                  <a:lnTo>
                    <a:pt x="1000125" y="276225"/>
                  </a:lnTo>
                  <a:lnTo>
                    <a:pt x="1333500" y="295275"/>
                  </a:lnTo>
                  <a:lnTo>
                    <a:pt x="1666875" y="342900"/>
                  </a:lnTo>
                  <a:lnTo>
                    <a:pt x="2000250" y="409575"/>
                  </a:lnTo>
                  <a:lnTo>
                    <a:pt x="2333625" y="476250"/>
                  </a:lnTo>
                  <a:lnTo>
                    <a:pt x="2667000" y="581025"/>
                  </a:lnTo>
                  <a:lnTo>
                    <a:pt x="3000375" y="495300"/>
                  </a:lnTo>
                  <a:lnTo>
                    <a:pt x="3333750" y="466725"/>
                  </a:lnTo>
                  <a:lnTo>
                    <a:pt x="3667125" y="438150"/>
                  </a:lnTo>
                  <a:lnTo>
                    <a:pt x="4000500" y="409575"/>
                  </a:lnTo>
                </a:path>
              </a:pathLst>
            </a:custGeom>
            <a:noFill/>
            <a:ln w="19050">
              <a:solidFill>
                <a:srgbClr val="92301C"/>
              </a:solidFill>
            </a:ln>
          </p:spPr>
        </p:sp>
        <p:grpSp>
          <p:nvGrpSpPr>
            <p:cNvPr id="112" name="cf-dots"/>
            <p:cNvGrpSpPr/>
            <p:nvPr/>
          </p:nvGrpSpPr>
          <p:grpSpPr>
            <a:xfrm>
              <a:off x="2543175" y="1914525"/>
              <a:ext cx="4057650" cy="638175"/>
              <a:chOff x="2543175" y="1914525"/>
              <a:chExt cx="4057650" cy="638175"/>
            </a:xfrm>
          </p:grpSpPr>
          <p:sp>
            <p:nvSpPr>
              <p:cNvPr id="99" name="Ellipse 99"/>
              <p:cNvSpPr/>
              <p:nvPr/>
            </p:nvSpPr>
            <p:spPr>
              <a:xfrm>
                <a:off x="2543175" y="1981200"/>
                <a:ext cx="57150" cy="57150"/>
              </a:xfrm>
              <a:prstGeom prst="ellipse">
                <a:avLst/>
              </a:prstGeom>
              <a:solidFill>
                <a:srgbClr val="92301C"/>
              </a:solidFill>
              <a:ln>
                <a:noFill/>
              </a:ln>
            </p:spPr>
          </p:sp>
          <p:sp>
            <p:nvSpPr>
              <p:cNvPr id="100" name="Ellipse 100"/>
              <p:cNvSpPr/>
              <p:nvPr/>
            </p:nvSpPr>
            <p:spPr>
              <a:xfrm>
                <a:off x="2876550" y="1914525"/>
                <a:ext cx="57150" cy="57150"/>
              </a:xfrm>
              <a:prstGeom prst="ellipse">
                <a:avLst/>
              </a:prstGeom>
              <a:solidFill>
                <a:srgbClr val="92301C"/>
              </a:solidFill>
              <a:ln>
                <a:noFill/>
              </a:ln>
            </p:spPr>
          </p:sp>
          <p:sp>
            <p:nvSpPr>
              <p:cNvPr id="101" name="Ellipse 101"/>
              <p:cNvSpPr/>
              <p:nvPr/>
            </p:nvSpPr>
            <p:spPr>
              <a:xfrm>
                <a:off x="3209925" y="2019300"/>
                <a:ext cx="57150" cy="57150"/>
              </a:xfrm>
              <a:prstGeom prst="ellipse">
                <a:avLst/>
              </a:prstGeom>
              <a:solidFill>
                <a:srgbClr val="92301C"/>
              </a:solidFill>
              <a:ln>
                <a:noFill/>
              </a:ln>
            </p:spPr>
          </p:sp>
          <p:sp>
            <p:nvSpPr>
              <p:cNvPr id="102" name="Ellipse 102"/>
              <p:cNvSpPr/>
              <p:nvPr/>
            </p:nvSpPr>
            <p:spPr>
              <a:xfrm>
                <a:off x="3543300" y="2190750"/>
                <a:ext cx="57150" cy="57150"/>
              </a:xfrm>
              <a:prstGeom prst="ellipse">
                <a:avLst/>
              </a:prstGeom>
              <a:solidFill>
                <a:srgbClr val="92301C"/>
              </a:solidFill>
              <a:ln>
                <a:noFill/>
              </a:ln>
            </p:spPr>
          </p:sp>
          <p:sp>
            <p:nvSpPr>
              <p:cNvPr id="103" name="Ellipse 103"/>
              <p:cNvSpPr/>
              <p:nvPr/>
            </p:nvSpPr>
            <p:spPr>
              <a:xfrm>
                <a:off x="3876675" y="2209800"/>
                <a:ext cx="57150" cy="57150"/>
              </a:xfrm>
              <a:prstGeom prst="ellipse">
                <a:avLst/>
              </a:prstGeom>
              <a:solidFill>
                <a:srgbClr val="92301C"/>
              </a:solidFill>
              <a:ln>
                <a:noFill/>
              </a:ln>
            </p:spPr>
          </p:sp>
          <p:sp>
            <p:nvSpPr>
              <p:cNvPr id="104" name="Ellipse 104"/>
              <p:cNvSpPr/>
              <p:nvPr/>
            </p:nvSpPr>
            <p:spPr>
              <a:xfrm>
                <a:off x="4210050" y="2257425"/>
                <a:ext cx="57150" cy="57150"/>
              </a:xfrm>
              <a:prstGeom prst="ellipse">
                <a:avLst/>
              </a:prstGeom>
              <a:solidFill>
                <a:srgbClr val="92301C"/>
              </a:solidFill>
              <a:ln>
                <a:noFill/>
              </a:ln>
            </p:spPr>
          </p:sp>
          <p:sp>
            <p:nvSpPr>
              <p:cNvPr id="105" name="Ellipse 105"/>
              <p:cNvSpPr/>
              <p:nvPr/>
            </p:nvSpPr>
            <p:spPr>
              <a:xfrm>
                <a:off x="4543425" y="2324100"/>
                <a:ext cx="57150" cy="57150"/>
              </a:xfrm>
              <a:prstGeom prst="ellipse">
                <a:avLst/>
              </a:prstGeom>
              <a:solidFill>
                <a:srgbClr val="92301C"/>
              </a:solidFill>
              <a:ln>
                <a:noFill/>
              </a:ln>
            </p:spPr>
          </p:sp>
          <p:sp>
            <p:nvSpPr>
              <p:cNvPr id="106" name="Ellipse 106"/>
              <p:cNvSpPr/>
              <p:nvPr/>
            </p:nvSpPr>
            <p:spPr>
              <a:xfrm>
                <a:off x="4876800" y="2390775"/>
                <a:ext cx="57150" cy="57150"/>
              </a:xfrm>
              <a:prstGeom prst="ellipse">
                <a:avLst/>
              </a:prstGeom>
              <a:solidFill>
                <a:srgbClr val="92301C"/>
              </a:solidFill>
              <a:ln>
                <a:noFill/>
              </a:ln>
            </p:spPr>
          </p:sp>
          <p:sp>
            <p:nvSpPr>
              <p:cNvPr id="107" name="Ellipse 107"/>
              <p:cNvSpPr/>
              <p:nvPr/>
            </p:nvSpPr>
            <p:spPr>
              <a:xfrm>
                <a:off x="5210175" y="2495550"/>
                <a:ext cx="57150" cy="57150"/>
              </a:xfrm>
              <a:prstGeom prst="ellipse">
                <a:avLst/>
              </a:prstGeom>
              <a:solidFill>
                <a:srgbClr val="92301C"/>
              </a:solidFill>
              <a:ln>
                <a:noFill/>
              </a:ln>
            </p:spPr>
          </p:sp>
          <p:sp>
            <p:nvSpPr>
              <p:cNvPr id="108" name="Ellipse 108"/>
              <p:cNvSpPr/>
              <p:nvPr/>
            </p:nvSpPr>
            <p:spPr>
              <a:xfrm>
                <a:off x="5543550" y="2409825"/>
                <a:ext cx="57150" cy="57150"/>
              </a:xfrm>
              <a:prstGeom prst="ellipse">
                <a:avLst/>
              </a:prstGeom>
              <a:solidFill>
                <a:srgbClr val="92301C"/>
              </a:solidFill>
              <a:ln>
                <a:noFill/>
              </a:ln>
            </p:spPr>
          </p:sp>
          <p:sp>
            <p:nvSpPr>
              <p:cNvPr id="109" name="Ellipse 109"/>
              <p:cNvSpPr/>
              <p:nvPr/>
            </p:nvSpPr>
            <p:spPr>
              <a:xfrm>
                <a:off x="5876925" y="2381250"/>
                <a:ext cx="57150" cy="57150"/>
              </a:xfrm>
              <a:prstGeom prst="ellipse">
                <a:avLst/>
              </a:prstGeom>
              <a:solidFill>
                <a:srgbClr val="92301C"/>
              </a:solidFill>
              <a:ln>
                <a:noFill/>
              </a:ln>
            </p:spPr>
          </p:sp>
          <p:sp>
            <p:nvSpPr>
              <p:cNvPr id="110" name="Ellipse 110"/>
              <p:cNvSpPr/>
              <p:nvPr/>
            </p:nvSpPr>
            <p:spPr>
              <a:xfrm>
                <a:off x="6210300" y="2352675"/>
                <a:ext cx="57150" cy="57150"/>
              </a:xfrm>
              <a:prstGeom prst="ellipse">
                <a:avLst/>
              </a:prstGeom>
              <a:solidFill>
                <a:srgbClr val="92301C"/>
              </a:solidFill>
              <a:ln>
                <a:noFill/>
              </a:ln>
            </p:spPr>
          </p:sp>
          <p:sp>
            <p:nvSpPr>
              <p:cNvPr id="111" name="Ellipse 111"/>
              <p:cNvSpPr/>
              <p:nvPr/>
            </p:nvSpPr>
            <p:spPr>
              <a:xfrm>
                <a:off x="6543675" y="2324100"/>
                <a:ext cx="57150" cy="57150"/>
              </a:xfrm>
              <a:prstGeom prst="ellipse">
                <a:avLst/>
              </a:prstGeom>
              <a:solidFill>
                <a:srgbClr val="92301C"/>
              </a:solidFill>
              <a:ln>
                <a:noFill/>
              </a:ln>
            </p:spPr>
          </p:sp>
        </p:grpSp>
        <p:sp>
          <p:nvSpPr>
            <p:cNvPr id="113" name="Ellipse 113"/>
            <p:cNvSpPr/>
            <p:nvPr/>
          </p:nvSpPr>
          <p:spPr>
            <a:xfrm>
              <a:off x="5200650" y="2695575"/>
              <a:ext cx="76200" cy="76200"/>
            </a:xfrm>
            <a:prstGeom prst="ellipse">
              <a:avLst/>
            </a:prstGeom>
            <a:solidFill>
              <a:srgbClr val="6B1B0B"/>
            </a:solidFill>
            <a:ln w="14288">
              <a:solidFill>
                <a:srgbClr val="FFFFFF"/>
              </a:solidFill>
            </a:ln>
          </p:spPr>
        </p:sp>
        <p:sp>
          <p:nvSpPr>
            <p:cNvPr id="114" name="Line 114"/>
            <p:cNvSpPr/>
            <p:nvPr/>
          </p:nvSpPr>
          <p:spPr>
            <a:xfrm>
              <a:off x="5238750" y="2733675"/>
              <a:ext cx="247650" cy="9525"/>
            </a:xfrm>
            <a:custGeom>
              <a:avLst/>
              <a:gdLst/>
              <a:ahLst/>
              <a:cxnLst/>
              <a:rect l="l" t="t" r="r" b="b"/>
              <a:pathLst>
                <a:path w="247650" h="9525">
                  <a:moveTo>
                    <a:pt x="0" y="0"/>
                  </a:moveTo>
                  <a:lnTo>
                    <a:pt x="247650" y="0"/>
                  </a:lnTo>
                </a:path>
              </a:pathLst>
            </a:custGeom>
            <a:noFill/>
            <a:ln w="9525">
              <a:solidFill>
                <a:srgbClr val="6B1B0B"/>
              </a:solidFill>
            </a:ln>
          </p:spPr>
        </p:sp>
        <p:sp>
          <p:nvSpPr>
            <p:cNvPr id="115" name="Rectangle 115"/>
            <p:cNvSpPr/>
            <p:nvPr/>
          </p:nvSpPr>
          <p:spPr>
            <a:xfrm>
              <a:off x="5486400" y="2514600"/>
              <a:ext cx="1162050" cy="438150"/>
            </a:xfrm>
            <a:prstGeom prst="roundRect">
              <a:avLst>
                <a:gd name="adj" fmla="val 8696"/>
              </a:avLst>
            </a:prstGeom>
            <a:solidFill>
              <a:srgbClr val="6B1B0B"/>
            </a:solidFill>
            <a:ln>
              <a:noFill/>
            </a:ln>
          </p:spPr>
        </p:sp>
        <p:sp>
          <p:nvSpPr>
            <p:cNvPr id="116" name="TextBox 116"/>
            <p:cNvSpPr txBox="1"/>
            <p:nvPr/>
          </p:nvSpPr>
          <p:spPr>
            <a:xfrm>
              <a:off x="5557838" y="2577703"/>
              <a:ext cx="386461" cy="111919"/>
            </a:xfrm>
            <a:prstGeom prst="rect">
              <a:avLst/>
            </a:prstGeom>
            <a:noFill/>
            <a:ln>
              <a:noFill/>
            </a:ln>
          </p:spPr>
          <p:txBody>
            <a:bodyPr wrap="none" lIns="0" tIns="0" rIns="0" bIns="0" anchor="t" anchorCtr="0">
              <a:spAutoFit/>
            </a:bodyPr>
            <a:lstStyle/>
            <a:p>
              <a:pPr algn="l"/>
              <a:r>
                <a:rPr lang="zh-CN" sz="560" dirty="0">
                  <a:solidFill>
                    <a:srgbClr val="D6E6F3"/>
                  </a:solidFill>
                  <a:latin typeface="+mn-lt"/>
                  <a:ea typeface="+mn-ea"/>
                  <a:cs typeface="+mn-cs"/>
                </a:rPr>
                <a:t>示例测算：</a:t>
              </a:r>
            </a:p>
          </p:txBody>
        </p:sp>
        <p:sp>
          <p:nvSpPr>
            <p:cNvPr id="117" name="TextBox 117"/>
            <p:cNvSpPr txBox="1"/>
            <p:nvPr/>
          </p:nvSpPr>
          <p:spPr>
            <a:xfrm>
              <a:off x="5557838" y="2682478"/>
              <a:ext cx="804860" cy="111919"/>
            </a:xfrm>
            <a:prstGeom prst="rect">
              <a:avLst/>
            </a:prstGeom>
            <a:noFill/>
            <a:ln>
              <a:noFill/>
            </a:ln>
          </p:spPr>
          <p:txBody>
            <a:bodyPr wrap="none" lIns="0" tIns="0" rIns="0" bIns="0" anchor="t" anchorCtr="0">
              <a:spAutoFit/>
            </a:bodyPr>
            <a:lstStyle/>
            <a:p>
              <a:pPr algn="l"/>
              <a:r>
                <a:rPr lang="zh-CN" sz="560" dirty="0">
                  <a:solidFill>
                    <a:srgbClr val="FFFFFF"/>
                  </a:solidFill>
                  <a:latin typeface="+mn-lt"/>
                  <a:ea typeface="+mn-ea"/>
                  <a:cs typeface="+mn-cs"/>
                </a:rPr>
                <a:t>第9周可能出现资金缺口</a:t>
              </a:r>
            </a:p>
          </p:txBody>
        </p:sp>
        <p:sp>
          <p:nvSpPr>
            <p:cNvPr id="118" name="TextBox 118"/>
            <p:cNvSpPr txBox="1"/>
            <p:nvPr/>
          </p:nvSpPr>
          <p:spPr>
            <a:xfrm>
              <a:off x="5557838" y="2797016"/>
              <a:ext cx="592310"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j-lt"/>
                  <a:ea typeface="+mj-ea"/>
                  <a:cs typeface="+mj-cs"/>
                </a:rPr>
                <a:t xml:space="preserve">-320 亿元　</a:t>
              </a:r>
            </a:p>
          </p:txBody>
        </p:sp>
        <p:grpSp>
          <p:nvGrpSpPr>
            <p:cNvPr id="132" name="cf-xlabels"/>
            <p:cNvGrpSpPr/>
            <p:nvPr/>
          </p:nvGrpSpPr>
          <p:grpSpPr>
            <a:xfrm>
              <a:off x="2407732" y="3219926"/>
              <a:ext cx="4347786" cy="104775"/>
              <a:chOff x="2407732" y="3219926"/>
              <a:chExt cx="4347786" cy="104775"/>
            </a:xfrm>
          </p:grpSpPr>
          <p:sp>
            <p:nvSpPr>
              <p:cNvPr id="119" name="TextBox 119"/>
              <p:cNvSpPr txBox="1"/>
              <p:nvPr/>
            </p:nvSpPr>
            <p:spPr>
              <a:xfrm>
                <a:off x="2407732" y="3219926"/>
                <a:ext cx="32803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第1周　</a:t>
                </a:r>
              </a:p>
            </p:txBody>
          </p:sp>
          <p:sp>
            <p:nvSpPr>
              <p:cNvPr id="120" name="TextBox 120"/>
              <p:cNvSpPr txBox="1"/>
              <p:nvPr/>
            </p:nvSpPr>
            <p:spPr>
              <a:xfrm>
                <a:off x="2741107" y="3219926"/>
                <a:ext cx="32803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第2周　</a:t>
                </a:r>
              </a:p>
            </p:txBody>
          </p:sp>
          <p:sp>
            <p:nvSpPr>
              <p:cNvPr id="121" name="TextBox 121"/>
              <p:cNvSpPr txBox="1"/>
              <p:nvPr/>
            </p:nvSpPr>
            <p:spPr>
              <a:xfrm>
                <a:off x="3074482" y="3219926"/>
                <a:ext cx="32803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第3周　</a:t>
                </a:r>
              </a:p>
            </p:txBody>
          </p:sp>
          <p:sp>
            <p:nvSpPr>
              <p:cNvPr id="122" name="TextBox 122"/>
              <p:cNvSpPr txBox="1"/>
              <p:nvPr/>
            </p:nvSpPr>
            <p:spPr>
              <a:xfrm>
                <a:off x="3407857" y="3219926"/>
                <a:ext cx="32803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第4周　</a:t>
                </a:r>
              </a:p>
            </p:txBody>
          </p:sp>
          <p:sp>
            <p:nvSpPr>
              <p:cNvPr id="123" name="TextBox 123"/>
              <p:cNvSpPr txBox="1"/>
              <p:nvPr/>
            </p:nvSpPr>
            <p:spPr>
              <a:xfrm>
                <a:off x="3741232" y="3219926"/>
                <a:ext cx="32803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第5周　</a:t>
                </a:r>
              </a:p>
            </p:txBody>
          </p:sp>
          <p:sp>
            <p:nvSpPr>
              <p:cNvPr id="124" name="TextBox 124"/>
              <p:cNvSpPr txBox="1"/>
              <p:nvPr/>
            </p:nvSpPr>
            <p:spPr>
              <a:xfrm>
                <a:off x="4074607" y="3219926"/>
                <a:ext cx="32803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第6周　</a:t>
                </a:r>
              </a:p>
            </p:txBody>
          </p:sp>
          <p:sp>
            <p:nvSpPr>
              <p:cNvPr id="125" name="TextBox 125"/>
              <p:cNvSpPr txBox="1"/>
              <p:nvPr/>
            </p:nvSpPr>
            <p:spPr>
              <a:xfrm>
                <a:off x="4407982" y="3219926"/>
                <a:ext cx="32803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第7周　</a:t>
                </a:r>
              </a:p>
            </p:txBody>
          </p:sp>
          <p:sp>
            <p:nvSpPr>
              <p:cNvPr id="126" name="TextBox 126"/>
              <p:cNvSpPr txBox="1"/>
              <p:nvPr/>
            </p:nvSpPr>
            <p:spPr>
              <a:xfrm>
                <a:off x="4741357" y="3219926"/>
                <a:ext cx="32803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第8周　</a:t>
                </a:r>
              </a:p>
            </p:txBody>
          </p:sp>
          <p:sp>
            <p:nvSpPr>
              <p:cNvPr id="127" name="TextBox 127"/>
              <p:cNvSpPr txBox="1"/>
              <p:nvPr/>
            </p:nvSpPr>
            <p:spPr>
              <a:xfrm>
                <a:off x="5074732" y="3219926"/>
                <a:ext cx="32803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第9周　</a:t>
                </a:r>
              </a:p>
            </p:txBody>
          </p:sp>
          <p:sp>
            <p:nvSpPr>
              <p:cNvPr id="128" name="TextBox 128"/>
              <p:cNvSpPr txBox="1"/>
              <p:nvPr/>
            </p:nvSpPr>
            <p:spPr>
              <a:xfrm>
                <a:off x="5388856" y="3219926"/>
                <a:ext cx="366537"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第10周　</a:t>
                </a:r>
              </a:p>
            </p:txBody>
          </p:sp>
          <p:sp>
            <p:nvSpPr>
              <p:cNvPr id="129" name="TextBox 129"/>
              <p:cNvSpPr txBox="1"/>
              <p:nvPr/>
            </p:nvSpPr>
            <p:spPr>
              <a:xfrm>
                <a:off x="5722231" y="3219926"/>
                <a:ext cx="366537"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第11周　</a:t>
                </a:r>
              </a:p>
            </p:txBody>
          </p:sp>
          <p:sp>
            <p:nvSpPr>
              <p:cNvPr id="130" name="TextBox 130"/>
              <p:cNvSpPr txBox="1"/>
              <p:nvPr/>
            </p:nvSpPr>
            <p:spPr>
              <a:xfrm>
                <a:off x="6055606" y="3219926"/>
                <a:ext cx="366537"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第12周　</a:t>
                </a:r>
              </a:p>
            </p:txBody>
          </p:sp>
          <p:sp>
            <p:nvSpPr>
              <p:cNvPr id="131" name="TextBox 131"/>
              <p:cNvSpPr txBox="1"/>
              <p:nvPr/>
            </p:nvSpPr>
            <p:spPr>
              <a:xfrm>
                <a:off x="6388981" y="3219926"/>
                <a:ext cx="366537"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 xml:space="preserve">　第13周　</a:t>
                </a:r>
              </a:p>
            </p:txBody>
          </p:sp>
        </p:grpSp>
      </p:grpSp>
      <p:grpSp>
        <p:nvGrpSpPr>
          <p:cNvPr id="168" name="metric-table"/>
          <p:cNvGrpSpPr/>
          <p:nvPr/>
        </p:nvGrpSpPr>
        <p:grpSpPr>
          <a:xfrm>
            <a:off x="2152650" y="3448050"/>
            <a:ext cx="4572000" cy="962025"/>
            <a:chOff x="2152650" y="3448050"/>
            <a:chExt cx="4572000" cy="962025"/>
          </a:xfrm>
        </p:grpSpPr>
        <p:sp>
          <p:nvSpPr>
            <p:cNvPr id="134" name="Rectangle 134"/>
            <p:cNvSpPr/>
            <p:nvPr/>
          </p:nvSpPr>
          <p:spPr>
            <a:xfrm>
              <a:off x="2152650" y="3448050"/>
              <a:ext cx="4572000" cy="209550"/>
            </a:xfrm>
            <a:prstGeom prst="rect">
              <a:avLst/>
            </a:prstGeom>
            <a:solidFill>
              <a:srgbClr val="6B1B0B"/>
            </a:solidFill>
            <a:ln>
              <a:noFill/>
            </a:ln>
          </p:spPr>
        </p:sp>
        <p:grpSp>
          <p:nvGrpSpPr>
            <p:cNvPr id="141" name="mt-head"/>
            <p:cNvGrpSpPr/>
            <p:nvPr/>
          </p:nvGrpSpPr>
          <p:grpSpPr>
            <a:xfrm>
              <a:off x="2205038" y="3518059"/>
              <a:ext cx="4398373" cy="133350"/>
              <a:chOff x="2205038" y="3518059"/>
              <a:chExt cx="4398373" cy="133350"/>
            </a:xfrm>
          </p:grpSpPr>
          <p:sp>
            <p:nvSpPr>
              <p:cNvPr id="135" name="TextBox 135"/>
              <p:cNvSpPr txBox="1"/>
              <p:nvPr/>
            </p:nvSpPr>
            <p:spPr>
              <a:xfrm>
                <a:off x="2205038" y="3518059"/>
                <a:ext cx="860323" cy="133350"/>
              </a:xfrm>
              <a:prstGeom prst="rect">
                <a:avLst/>
              </a:prstGeom>
              <a:noFill/>
              <a:ln>
                <a:noFill/>
              </a:ln>
            </p:spPr>
            <p:txBody>
              <a:bodyPr wrap="none" lIns="0" tIns="0" rIns="0" bIns="0" anchor="t" anchorCtr="0">
                <a:spAutoFit/>
              </a:bodyPr>
              <a:lstStyle/>
              <a:p>
                <a:pPr algn="l"/>
                <a:r>
                  <a:rPr lang="zh-CN" sz="680" b="1" dirty="0">
                    <a:solidFill>
                      <a:srgbClr val="FFFFFF"/>
                    </a:solidFill>
                    <a:latin typeface="+mn-lt"/>
                    <a:ea typeface="+mn-ea"/>
                    <a:cs typeface="+mn-cs"/>
                  </a:rPr>
                  <a:t>关键指标</a:t>
                </a:r>
                <a:r>
                  <a:rPr lang="zh-CN" sz="600" dirty="0">
                    <a:solidFill>
                      <a:srgbClr val="FFFFFF"/>
                    </a:solidFill>
                    <a:latin typeface="+mn-lt"/>
                    <a:ea typeface="+mn-ea"/>
                    <a:cs typeface="+mn-cs"/>
                  </a:rPr>
                  <a:t>（示例测算）</a:t>
                </a:r>
              </a:p>
            </p:txBody>
          </p:sp>
          <p:sp>
            <p:nvSpPr>
              <p:cNvPr id="136" name="TextBox 136"/>
              <p:cNvSpPr txBox="1"/>
              <p:nvPr/>
            </p:nvSpPr>
            <p:spPr>
              <a:xfrm>
                <a:off x="3367122" y="3518059"/>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　第1周　</a:t>
                </a:r>
              </a:p>
            </p:txBody>
          </p:sp>
          <p:sp>
            <p:nvSpPr>
              <p:cNvPr id="137" name="TextBox 137"/>
              <p:cNvSpPr txBox="1"/>
              <p:nvPr/>
            </p:nvSpPr>
            <p:spPr>
              <a:xfrm>
                <a:off x="4062447" y="3518059"/>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　第4周　</a:t>
                </a:r>
              </a:p>
            </p:txBody>
          </p:sp>
          <p:sp>
            <p:nvSpPr>
              <p:cNvPr id="138" name="TextBox 138"/>
              <p:cNvSpPr txBox="1"/>
              <p:nvPr/>
            </p:nvSpPr>
            <p:spPr>
              <a:xfrm>
                <a:off x="4757772" y="3518059"/>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　第8周　</a:t>
                </a:r>
              </a:p>
            </p:txBody>
          </p:sp>
          <p:sp>
            <p:nvSpPr>
              <p:cNvPr id="139" name="TextBox 139"/>
              <p:cNvSpPr txBox="1"/>
              <p:nvPr/>
            </p:nvSpPr>
            <p:spPr>
              <a:xfrm>
                <a:off x="5453097" y="3518059"/>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　第9周　</a:t>
                </a:r>
              </a:p>
            </p:txBody>
          </p:sp>
          <p:sp>
            <p:nvSpPr>
              <p:cNvPr id="140" name="TextBox 140"/>
              <p:cNvSpPr txBox="1"/>
              <p:nvPr/>
            </p:nvSpPr>
            <p:spPr>
              <a:xfrm>
                <a:off x="6121989" y="3518059"/>
                <a:ext cx="481422"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 xml:space="preserve">　第13周　</a:t>
                </a:r>
              </a:p>
            </p:txBody>
          </p:sp>
        </p:grpSp>
        <p:grpSp>
          <p:nvGrpSpPr>
            <p:cNvPr id="166" name="mt-rows"/>
            <p:cNvGrpSpPr/>
            <p:nvPr/>
          </p:nvGrpSpPr>
          <p:grpSpPr>
            <a:xfrm>
              <a:off x="2152650" y="3657600"/>
              <a:ext cx="4572000" cy="742950"/>
              <a:chOff x="2152650" y="3657600"/>
              <a:chExt cx="4572000" cy="742950"/>
            </a:xfrm>
          </p:grpSpPr>
          <p:sp>
            <p:nvSpPr>
              <p:cNvPr id="142" name="Rectangle 142"/>
              <p:cNvSpPr/>
              <p:nvPr/>
            </p:nvSpPr>
            <p:spPr>
              <a:xfrm>
                <a:off x="2152650" y="3657600"/>
                <a:ext cx="4572000" cy="247650"/>
              </a:xfrm>
              <a:prstGeom prst="rect">
                <a:avLst/>
              </a:prstGeom>
              <a:solidFill>
                <a:srgbClr val="F6F9FD"/>
              </a:solidFill>
              <a:ln>
                <a:noFill/>
              </a:ln>
            </p:spPr>
          </p:sp>
          <p:sp>
            <p:nvSpPr>
              <p:cNvPr id="143" name="TextBox 143"/>
              <p:cNvSpPr txBox="1"/>
              <p:nvPr/>
            </p:nvSpPr>
            <p:spPr>
              <a:xfrm>
                <a:off x="2205038" y="3746659"/>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基准情景现金流</a:t>
                </a:r>
              </a:p>
            </p:txBody>
          </p:sp>
          <p:grpSp>
            <p:nvGrpSpPr>
              <p:cNvPr id="149" name="Group 149"/>
              <p:cNvGrpSpPr/>
              <p:nvPr/>
            </p:nvGrpSpPr>
            <p:grpSpPr>
              <a:xfrm>
                <a:off x="3500264" y="3746659"/>
                <a:ext cx="2943571" cy="133350"/>
                <a:chOff x="3500264" y="3746659"/>
                <a:chExt cx="2943571" cy="133350"/>
              </a:xfrm>
            </p:grpSpPr>
            <p:sp>
              <p:nvSpPr>
                <p:cNvPr id="144" name="TextBox 144"/>
                <p:cNvSpPr txBox="1"/>
                <p:nvPr/>
              </p:nvSpPr>
              <p:spPr>
                <a:xfrm>
                  <a:off x="3500264" y="3746659"/>
                  <a:ext cx="162271"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520</a:t>
                  </a:r>
                </a:p>
              </p:txBody>
            </p:sp>
            <p:sp>
              <p:nvSpPr>
                <p:cNvPr id="145" name="TextBox 145"/>
                <p:cNvSpPr txBox="1"/>
                <p:nvPr/>
              </p:nvSpPr>
              <p:spPr>
                <a:xfrm>
                  <a:off x="4195589" y="3746659"/>
                  <a:ext cx="162271"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280</a:t>
                  </a:r>
                </a:p>
              </p:txBody>
            </p:sp>
            <p:sp>
              <p:nvSpPr>
                <p:cNvPr id="146" name="TextBox 146"/>
                <p:cNvSpPr txBox="1"/>
                <p:nvPr/>
              </p:nvSpPr>
              <p:spPr>
                <a:xfrm>
                  <a:off x="4916372" y="3746659"/>
                  <a:ext cx="111356"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50</a:t>
                  </a:r>
                </a:p>
              </p:txBody>
            </p:sp>
            <p:sp>
              <p:nvSpPr>
                <p:cNvPr id="147" name="TextBox 147"/>
                <p:cNvSpPr txBox="1"/>
                <p:nvPr/>
              </p:nvSpPr>
              <p:spPr>
                <a:xfrm>
                  <a:off x="5596455" y="3746659"/>
                  <a:ext cx="141839"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-80</a:t>
                  </a:r>
                </a:p>
              </p:txBody>
            </p:sp>
            <p:sp>
              <p:nvSpPr>
                <p:cNvPr id="148" name="TextBox 148"/>
                <p:cNvSpPr txBox="1"/>
                <p:nvPr/>
              </p:nvSpPr>
              <p:spPr>
                <a:xfrm>
                  <a:off x="6281564" y="3746659"/>
                  <a:ext cx="162271"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120</a:t>
                  </a:r>
                </a:p>
              </p:txBody>
            </p:sp>
          </p:grpSp>
          <p:sp>
            <p:nvSpPr>
              <p:cNvPr id="150" name="Rectangle 150"/>
              <p:cNvSpPr/>
              <p:nvPr/>
            </p:nvSpPr>
            <p:spPr>
              <a:xfrm>
                <a:off x="2152650" y="3905250"/>
                <a:ext cx="4572000" cy="247650"/>
              </a:xfrm>
              <a:prstGeom prst="rect">
                <a:avLst/>
              </a:prstGeom>
              <a:solidFill>
                <a:srgbClr val="FFFFFF"/>
              </a:solidFill>
              <a:ln>
                <a:noFill/>
              </a:ln>
            </p:spPr>
          </p:sp>
          <p:sp>
            <p:nvSpPr>
              <p:cNvPr id="151" name="TextBox 151"/>
              <p:cNvSpPr txBox="1"/>
              <p:nvPr/>
            </p:nvSpPr>
            <p:spPr>
              <a:xfrm>
                <a:off x="2205038" y="3994309"/>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压力情景现金流</a:t>
                </a:r>
              </a:p>
            </p:txBody>
          </p:sp>
          <p:grpSp>
            <p:nvGrpSpPr>
              <p:cNvPr id="157" name="Group 157"/>
              <p:cNvGrpSpPr/>
              <p:nvPr/>
            </p:nvGrpSpPr>
            <p:grpSpPr>
              <a:xfrm>
                <a:off x="3500264" y="3994309"/>
                <a:ext cx="2958814" cy="133350"/>
                <a:chOff x="3500264" y="3994309"/>
                <a:chExt cx="2958814" cy="133350"/>
              </a:xfrm>
            </p:grpSpPr>
            <p:sp>
              <p:nvSpPr>
                <p:cNvPr id="152" name="TextBox 152"/>
                <p:cNvSpPr txBox="1"/>
                <p:nvPr/>
              </p:nvSpPr>
              <p:spPr>
                <a:xfrm>
                  <a:off x="3500264" y="3994309"/>
                  <a:ext cx="162271"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420</a:t>
                  </a:r>
                </a:p>
              </p:txBody>
            </p:sp>
            <p:sp>
              <p:nvSpPr>
                <p:cNvPr id="153" name="TextBox 153"/>
                <p:cNvSpPr txBox="1"/>
                <p:nvPr/>
              </p:nvSpPr>
              <p:spPr>
                <a:xfrm>
                  <a:off x="4195589" y="3994309"/>
                  <a:ext cx="162271"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120</a:t>
                  </a:r>
                </a:p>
              </p:txBody>
            </p:sp>
            <p:sp>
              <p:nvSpPr>
                <p:cNvPr id="154" name="TextBox 154"/>
                <p:cNvSpPr txBox="1"/>
                <p:nvPr/>
              </p:nvSpPr>
              <p:spPr>
                <a:xfrm>
                  <a:off x="4875673" y="3994309"/>
                  <a:ext cx="192755"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-220</a:t>
                  </a:r>
                </a:p>
              </p:txBody>
            </p:sp>
            <p:sp>
              <p:nvSpPr>
                <p:cNvPr id="155" name="TextBox 155"/>
                <p:cNvSpPr txBox="1"/>
                <p:nvPr/>
              </p:nvSpPr>
              <p:spPr>
                <a:xfrm>
                  <a:off x="5570998" y="3994309"/>
                  <a:ext cx="192755"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j-lt"/>
                      <a:ea typeface="+mj-ea"/>
                      <a:cs typeface="+mj-cs"/>
                    </a:rPr>
                    <a:t>-320</a:t>
                  </a:r>
                </a:p>
              </p:txBody>
            </p:sp>
            <p:sp>
              <p:nvSpPr>
                <p:cNvPr id="156" name="TextBox 156"/>
                <p:cNvSpPr txBox="1"/>
                <p:nvPr/>
              </p:nvSpPr>
              <p:spPr>
                <a:xfrm>
                  <a:off x="6266323" y="3994309"/>
                  <a:ext cx="192755"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-180</a:t>
                  </a:r>
                </a:p>
              </p:txBody>
            </p:sp>
          </p:grpSp>
          <p:sp>
            <p:nvSpPr>
              <p:cNvPr id="158" name="Rectangle 158"/>
              <p:cNvSpPr/>
              <p:nvPr/>
            </p:nvSpPr>
            <p:spPr>
              <a:xfrm>
                <a:off x="2152650" y="4152900"/>
                <a:ext cx="4572000" cy="247650"/>
              </a:xfrm>
              <a:prstGeom prst="rect">
                <a:avLst/>
              </a:prstGeom>
              <a:solidFill>
                <a:srgbClr val="F6F9FD"/>
              </a:solidFill>
              <a:ln>
                <a:noFill/>
              </a:ln>
            </p:spPr>
          </p:sp>
          <p:sp>
            <p:nvSpPr>
              <p:cNvPr id="159" name="TextBox 159"/>
              <p:cNvSpPr txBox="1"/>
              <p:nvPr/>
            </p:nvSpPr>
            <p:spPr>
              <a:xfrm>
                <a:off x="2205038" y="4241959"/>
                <a:ext cx="650316" cy="133350"/>
              </a:xfrm>
              <a:prstGeom prst="rect">
                <a:avLst/>
              </a:prstGeom>
              <a:noFill/>
              <a:ln>
                <a:noFill/>
              </a:ln>
            </p:spPr>
            <p:txBody>
              <a:bodyPr wrap="none" lIns="0" tIns="0" rIns="0" bIns="0" anchor="t" anchorCtr="0">
                <a:spAutoFit/>
              </a:bodyPr>
              <a:lstStyle/>
              <a:p>
                <a:pPr algn="l"/>
                <a:r>
                  <a:rPr lang="zh-CN" sz="680" dirty="0">
                    <a:solidFill>
                      <a:srgbClr val="52352F"/>
                    </a:solidFill>
                    <a:latin typeface="+mn-lt"/>
                    <a:ea typeface="+mn-ea"/>
                    <a:cs typeface="+mn-cs"/>
                  </a:rPr>
                  <a:t>严重情景现金流</a:t>
                </a:r>
              </a:p>
            </p:txBody>
          </p:sp>
          <p:grpSp>
            <p:nvGrpSpPr>
              <p:cNvPr id="165" name="Group 165"/>
              <p:cNvGrpSpPr/>
              <p:nvPr/>
            </p:nvGrpSpPr>
            <p:grpSpPr>
              <a:xfrm>
                <a:off x="3500264" y="4241959"/>
                <a:ext cx="2958814" cy="133350"/>
                <a:chOff x="3500264" y="4241959"/>
                <a:chExt cx="2958814" cy="133350"/>
              </a:xfrm>
            </p:grpSpPr>
            <p:sp>
              <p:nvSpPr>
                <p:cNvPr id="160" name="TextBox 160"/>
                <p:cNvSpPr txBox="1"/>
                <p:nvPr/>
              </p:nvSpPr>
              <p:spPr>
                <a:xfrm>
                  <a:off x="3500264" y="4241959"/>
                  <a:ext cx="162271"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310</a:t>
                  </a:r>
                </a:p>
              </p:txBody>
            </p:sp>
            <p:sp>
              <p:nvSpPr>
                <p:cNvPr id="161" name="TextBox 161"/>
                <p:cNvSpPr txBox="1"/>
                <p:nvPr/>
              </p:nvSpPr>
              <p:spPr>
                <a:xfrm>
                  <a:off x="4205805" y="4241959"/>
                  <a:ext cx="141839"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-50</a:t>
                  </a:r>
                </a:p>
              </p:txBody>
            </p:sp>
            <p:sp>
              <p:nvSpPr>
                <p:cNvPr id="162" name="TextBox 162"/>
                <p:cNvSpPr txBox="1"/>
                <p:nvPr/>
              </p:nvSpPr>
              <p:spPr>
                <a:xfrm>
                  <a:off x="4875673" y="4241959"/>
                  <a:ext cx="192755"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-420</a:t>
                  </a:r>
                </a:p>
              </p:txBody>
            </p:sp>
            <p:sp>
              <p:nvSpPr>
                <p:cNvPr id="163" name="TextBox 163"/>
                <p:cNvSpPr txBox="1"/>
                <p:nvPr/>
              </p:nvSpPr>
              <p:spPr>
                <a:xfrm>
                  <a:off x="5570998" y="4241959"/>
                  <a:ext cx="192755"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-560</a:t>
                  </a:r>
                </a:p>
              </p:txBody>
            </p:sp>
            <p:sp>
              <p:nvSpPr>
                <p:cNvPr id="164" name="TextBox 164"/>
                <p:cNvSpPr txBox="1"/>
                <p:nvPr/>
              </p:nvSpPr>
              <p:spPr>
                <a:xfrm>
                  <a:off x="6266323" y="4241959"/>
                  <a:ext cx="192755"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j-lt"/>
                      <a:ea typeface="+mj-ea"/>
                      <a:cs typeface="+mj-cs"/>
                    </a:rPr>
                    <a:t>-380</a:t>
                  </a:r>
                </a:p>
              </p:txBody>
            </p:sp>
          </p:grpSp>
        </p:grpSp>
        <p:sp>
          <p:nvSpPr>
            <p:cNvPr id="167" name="Line 167"/>
            <p:cNvSpPr/>
            <p:nvPr/>
          </p:nvSpPr>
          <p:spPr>
            <a:xfrm>
              <a:off x="2152650" y="4400550"/>
              <a:ext cx="4572000" cy="9525"/>
            </a:xfrm>
            <a:custGeom>
              <a:avLst/>
              <a:gdLst/>
              <a:ahLst/>
              <a:cxnLst/>
              <a:rect l="l" t="t" r="r" b="b"/>
              <a:pathLst>
                <a:path w="4572000" h="9525">
                  <a:moveTo>
                    <a:pt x="0" y="0"/>
                  </a:moveTo>
                  <a:lnTo>
                    <a:pt x="4572000" y="0"/>
                  </a:lnTo>
                </a:path>
              </a:pathLst>
            </a:custGeom>
            <a:noFill/>
            <a:ln w="9525">
              <a:solidFill>
                <a:srgbClr val="E4EDF5"/>
              </a:solidFill>
            </a:ln>
          </p:spPr>
        </p:sp>
      </p:grpSp>
      <p:grpSp>
        <p:nvGrpSpPr>
          <p:cNvPr id="211" name="gap-chart"/>
          <p:cNvGrpSpPr/>
          <p:nvPr/>
        </p:nvGrpSpPr>
        <p:grpSpPr>
          <a:xfrm>
            <a:off x="6819900" y="628650"/>
            <a:ext cx="5181600" cy="2152650"/>
            <a:chOff x="6819900" y="628650"/>
            <a:chExt cx="5181600" cy="2152650"/>
          </a:xfrm>
        </p:grpSpPr>
        <p:sp>
          <p:nvSpPr>
            <p:cNvPr id="169" name="Rectangle 169"/>
            <p:cNvSpPr/>
            <p:nvPr/>
          </p:nvSpPr>
          <p:spPr>
            <a:xfrm>
              <a:off x="6819900" y="628650"/>
              <a:ext cx="5181600" cy="2152650"/>
            </a:xfrm>
            <a:prstGeom prst="roundRect">
              <a:avLst>
                <a:gd name="adj" fmla="val 2655"/>
              </a:avLst>
            </a:prstGeom>
            <a:solidFill>
              <a:srgbClr val="FCFDFE"/>
            </a:solidFill>
            <a:ln w="9525">
              <a:solidFill>
                <a:srgbClr val="CFDFEE"/>
              </a:solidFill>
            </a:ln>
          </p:spPr>
        </p:sp>
        <p:sp>
          <p:nvSpPr>
            <p:cNvPr id="170" name="TextBox 170"/>
            <p:cNvSpPr txBox="1"/>
            <p:nvPr/>
          </p:nvSpPr>
          <p:spPr>
            <a:xfrm>
              <a:off x="6929247" y="713899"/>
              <a:ext cx="1175715"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期限缺口</a:t>
              </a:r>
              <a:r>
                <a:rPr lang="zh-CN" sz="790" dirty="0">
                  <a:solidFill>
                    <a:srgbClr val="6B1B0B"/>
                  </a:solidFill>
                  <a:latin typeface="+mn-lt"/>
                  <a:ea typeface="+mn-ea"/>
                  <a:cs typeface="+mn-cs"/>
                </a:rPr>
                <a:t>（示例测算）</a:t>
              </a:r>
            </a:p>
          </p:txBody>
        </p:sp>
        <p:sp>
          <p:nvSpPr>
            <p:cNvPr id="171" name="TextBox 171"/>
            <p:cNvSpPr txBox="1"/>
            <p:nvPr/>
          </p:nvSpPr>
          <p:spPr>
            <a:xfrm>
              <a:off x="11424730" y="746284"/>
              <a:ext cx="467233" cy="133350"/>
            </a:xfrm>
            <a:prstGeom prst="rect">
              <a:avLst/>
            </a:prstGeom>
            <a:noFill/>
            <a:ln>
              <a:noFill/>
            </a:ln>
          </p:spPr>
          <p:txBody>
            <a:bodyPr wrap="none" lIns="0" tIns="0" rIns="0" bIns="0" anchor="t" anchorCtr="0">
              <a:spAutoFit/>
            </a:bodyPr>
            <a:lstStyle/>
            <a:p>
              <a:pPr algn="r"/>
              <a:r>
                <a:rPr lang="zh-CN" sz="680" dirty="0">
                  <a:solidFill>
                    <a:srgbClr val="8C716B"/>
                  </a:solidFill>
                  <a:latin typeface="+mn-lt"/>
                  <a:ea typeface="+mn-ea"/>
                  <a:cs typeface="+mn-cs"/>
                </a:rPr>
                <a:t>单位：亿元</a:t>
              </a:r>
            </a:p>
          </p:txBody>
        </p:sp>
        <p:grpSp>
          <p:nvGrpSpPr>
            <p:cNvPr id="178" name="gc-grid"/>
            <p:cNvGrpSpPr/>
            <p:nvPr/>
          </p:nvGrpSpPr>
          <p:grpSpPr>
            <a:xfrm>
              <a:off x="7239000" y="1200150"/>
              <a:ext cx="4572000" cy="1343025"/>
              <a:chOff x="7239000" y="1200150"/>
              <a:chExt cx="4572000" cy="1343025"/>
            </a:xfrm>
          </p:grpSpPr>
          <p:sp>
            <p:nvSpPr>
              <p:cNvPr id="172" name="Line 172"/>
              <p:cNvSpPr/>
              <p:nvPr/>
            </p:nvSpPr>
            <p:spPr>
              <a:xfrm>
                <a:off x="7239000" y="1200150"/>
                <a:ext cx="4572000" cy="9525"/>
              </a:xfrm>
              <a:custGeom>
                <a:avLst/>
                <a:gdLst/>
                <a:ahLst/>
                <a:cxnLst/>
                <a:rect l="l" t="t" r="r" b="b"/>
                <a:pathLst>
                  <a:path w="4572000" h="9525">
                    <a:moveTo>
                      <a:pt x="0" y="0"/>
                    </a:moveTo>
                    <a:lnTo>
                      <a:pt x="4572000" y="0"/>
                    </a:lnTo>
                  </a:path>
                </a:pathLst>
              </a:custGeom>
              <a:noFill/>
              <a:ln w="9525">
                <a:solidFill>
                  <a:srgbClr val="E4EDF5"/>
                </a:solidFill>
              </a:ln>
            </p:spPr>
          </p:sp>
          <p:sp>
            <p:nvSpPr>
              <p:cNvPr id="173" name="Line 173"/>
              <p:cNvSpPr/>
              <p:nvPr/>
            </p:nvSpPr>
            <p:spPr>
              <a:xfrm>
                <a:off x="7239000" y="1419225"/>
                <a:ext cx="4572000" cy="9525"/>
              </a:xfrm>
              <a:custGeom>
                <a:avLst/>
                <a:gdLst/>
                <a:ahLst/>
                <a:cxnLst/>
                <a:rect l="l" t="t" r="r" b="b"/>
                <a:pathLst>
                  <a:path w="4572000" h="9525">
                    <a:moveTo>
                      <a:pt x="0" y="0"/>
                    </a:moveTo>
                    <a:lnTo>
                      <a:pt x="4572000" y="0"/>
                    </a:lnTo>
                  </a:path>
                </a:pathLst>
              </a:custGeom>
              <a:noFill/>
              <a:ln w="9525">
                <a:solidFill>
                  <a:srgbClr val="E4EDF5"/>
                </a:solidFill>
              </a:ln>
            </p:spPr>
          </p:sp>
          <p:sp>
            <p:nvSpPr>
              <p:cNvPr id="174" name="Line 174"/>
              <p:cNvSpPr/>
              <p:nvPr/>
            </p:nvSpPr>
            <p:spPr>
              <a:xfrm>
                <a:off x="7239000" y="1647825"/>
                <a:ext cx="4572000" cy="9525"/>
              </a:xfrm>
              <a:custGeom>
                <a:avLst/>
                <a:gdLst/>
                <a:ahLst/>
                <a:cxnLst/>
                <a:rect l="l" t="t" r="r" b="b"/>
                <a:pathLst>
                  <a:path w="4572000" h="9525">
                    <a:moveTo>
                      <a:pt x="0" y="0"/>
                    </a:moveTo>
                    <a:lnTo>
                      <a:pt x="4572000" y="0"/>
                    </a:lnTo>
                  </a:path>
                </a:pathLst>
              </a:custGeom>
              <a:noFill/>
              <a:ln w="9525">
                <a:solidFill>
                  <a:srgbClr val="E4EDF5"/>
                </a:solidFill>
              </a:ln>
            </p:spPr>
          </p:sp>
          <p:sp>
            <p:nvSpPr>
              <p:cNvPr id="175" name="Line 175"/>
              <p:cNvSpPr/>
              <p:nvPr/>
            </p:nvSpPr>
            <p:spPr>
              <a:xfrm>
                <a:off x="7239000" y="2085975"/>
                <a:ext cx="4572000" cy="9525"/>
              </a:xfrm>
              <a:custGeom>
                <a:avLst/>
                <a:gdLst/>
                <a:ahLst/>
                <a:cxnLst/>
                <a:rect l="l" t="t" r="r" b="b"/>
                <a:pathLst>
                  <a:path w="4572000" h="9525">
                    <a:moveTo>
                      <a:pt x="0" y="0"/>
                    </a:moveTo>
                    <a:lnTo>
                      <a:pt x="4572000" y="0"/>
                    </a:lnTo>
                  </a:path>
                </a:pathLst>
              </a:custGeom>
              <a:noFill/>
              <a:ln w="9525">
                <a:solidFill>
                  <a:srgbClr val="E4EDF5"/>
                </a:solidFill>
              </a:ln>
            </p:spPr>
          </p:sp>
          <p:sp>
            <p:nvSpPr>
              <p:cNvPr id="176" name="Line 176"/>
              <p:cNvSpPr/>
              <p:nvPr/>
            </p:nvSpPr>
            <p:spPr>
              <a:xfrm>
                <a:off x="7239000" y="2314575"/>
                <a:ext cx="4572000" cy="9525"/>
              </a:xfrm>
              <a:custGeom>
                <a:avLst/>
                <a:gdLst/>
                <a:ahLst/>
                <a:cxnLst/>
                <a:rect l="l" t="t" r="r" b="b"/>
                <a:pathLst>
                  <a:path w="4572000" h="9525">
                    <a:moveTo>
                      <a:pt x="0" y="0"/>
                    </a:moveTo>
                    <a:lnTo>
                      <a:pt x="4572000" y="0"/>
                    </a:lnTo>
                  </a:path>
                </a:pathLst>
              </a:custGeom>
              <a:noFill/>
              <a:ln w="9525">
                <a:solidFill>
                  <a:srgbClr val="E4EDF5"/>
                </a:solidFill>
              </a:ln>
            </p:spPr>
          </p:sp>
          <p:sp>
            <p:nvSpPr>
              <p:cNvPr id="177" name="Line 177"/>
              <p:cNvSpPr/>
              <p:nvPr/>
            </p:nvSpPr>
            <p:spPr>
              <a:xfrm>
                <a:off x="7239000" y="2533650"/>
                <a:ext cx="4572000" cy="9525"/>
              </a:xfrm>
              <a:custGeom>
                <a:avLst/>
                <a:gdLst/>
                <a:ahLst/>
                <a:cxnLst/>
                <a:rect l="l" t="t" r="r" b="b"/>
                <a:pathLst>
                  <a:path w="4572000" h="9525">
                    <a:moveTo>
                      <a:pt x="0" y="0"/>
                    </a:moveTo>
                    <a:lnTo>
                      <a:pt x="4572000" y="0"/>
                    </a:lnTo>
                  </a:path>
                </a:pathLst>
              </a:custGeom>
              <a:noFill/>
              <a:ln w="9525">
                <a:solidFill>
                  <a:srgbClr val="E4EDF5"/>
                </a:solidFill>
              </a:ln>
            </p:spPr>
          </p:sp>
        </p:grpSp>
        <p:sp>
          <p:nvSpPr>
            <p:cNvPr id="179" name="Line 179"/>
            <p:cNvSpPr/>
            <p:nvPr/>
          </p:nvSpPr>
          <p:spPr>
            <a:xfrm>
              <a:off x="7239000" y="1866900"/>
              <a:ext cx="4572000" cy="9525"/>
            </a:xfrm>
            <a:custGeom>
              <a:avLst/>
              <a:gdLst/>
              <a:ahLst/>
              <a:cxnLst/>
              <a:rect l="l" t="t" r="r" b="b"/>
              <a:pathLst>
                <a:path w="4572000" h="9525">
                  <a:moveTo>
                    <a:pt x="0" y="0"/>
                  </a:moveTo>
                  <a:lnTo>
                    <a:pt x="4572000" y="0"/>
                  </a:lnTo>
                </a:path>
              </a:pathLst>
            </a:custGeom>
            <a:noFill/>
            <a:ln w="9525">
              <a:solidFill>
                <a:srgbClr val="D2A89F"/>
              </a:solidFill>
            </a:ln>
          </p:spPr>
        </p:sp>
        <p:grpSp>
          <p:nvGrpSpPr>
            <p:cNvPr id="187" name="gc-ylabels"/>
            <p:cNvGrpSpPr/>
            <p:nvPr/>
          </p:nvGrpSpPr>
          <p:grpSpPr>
            <a:xfrm>
              <a:off x="7026192" y="1168003"/>
              <a:ext cx="160420" cy="1445419"/>
              <a:chOff x="7026192" y="1168003"/>
              <a:chExt cx="160420" cy="1445419"/>
            </a:xfrm>
          </p:grpSpPr>
          <p:sp>
            <p:nvSpPr>
              <p:cNvPr id="180" name="TextBox 180"/>
              <p:cNvSpPr txBox="1"/>
              <p:nvPr/>
            </p:nvSpPr>
            <p:spPr>
              <a:xfrm>
                <a:off x="7051296" y="1168003"/>
                <a:ext cx="135316"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600</a:t>
                </a:r>
              </a:p>
            </p:txBody>
          </p:sp>
          <p:sp>
            <p:nvSpPr>
              <p:cNvPr id="181" name="TextBox 181"/>
              <p:cNvSpPr txBox="1"/>
              <p:nvPr/>
            </p:nvSpPr>
            <p:spPr>
              <a:xfrm>
                <a:off x="7051296" y="1387078"/>
                <a:ext cx="135316"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400</a:t>
                </a:r>
              </a:p>
            </p:txBody>
          </p:sp>
          <p:sp>
            <p:nvSpPr>
              <p:cNvPr id="182" name="TextBox 182"/>
              <p:cNvSpPr txBox="1"/>
              <p:nvPr/>
            </p:nvSpPr>
            <p:spPr>
              <a:xfrm>
                <a:off x="7051296" y="1615678"/>
                <a:ext cx="135316"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200</a:t>
                </a:r>
              </a:p>
            </p:txBody>
          </p:sp>
          <p:sp>
            <p:nvSpPr>
              <p:cNvPr id="183" name="TextBox 183"/>
              <p:cNvSpPr txBox="1"/>
              <p:nvPr/>
            </p:nvSpPr>
            <p:spPr>
              <a:xfrm>
                <a:off x="7135157" y="1834753"/>
                <a:ext cx="51455"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0</a:t>
                </a:r>
              </a:p>
            </p:txBody>
          </p:sp>
          <p:sp>
            <p:nvSpPr>
              <p:cNvPr id="184" name="TextBox 184"/>
              <p:cNvSpPr txBox="1"/>
              <p:nvPr/>
            </p:nvSpPr>
            <p:spPr>
              <a:xfrm>
                <a:off x="7026192" y="2053828"/>
                <a:ext cx="16042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-200</a:t>
                </a:r>
              </a:p>
            </p:txBody>
          </p:sp>
          <p:sp>
            <p:nvSpPr>
              <p:cNvPr id="185" name="TextBox 185"/>
              <p:cNvSpPr txBox="1"/>
              <p:nvPr/>
            </p:nvSpPr>
            <p:spPr>
              <a:xfrm>
                <a:off x="7026192" y="2282428"/>
                <a:ext cx="16042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-400</a:t>
                </a:r>
              </a:p>
            </p:txBody>
          </p:sp>
          <p:sp>
            <p:nvSpPr>
              <p:cNvPr id="186" name="TextBox 186"/>
              <p:cNvSpPr txBox="1"/>
              <p:nvPr/>
            </p:nvSpPr>
            <p:spPr>
              <a:xfrm>
                <a:off x="7026192" y="2501503"/>
                <a:ext cx="160420"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-600</a:t>
                </a:r>
              </a:p>
            </p:txBody>
          </p:sp>
        </p:grpSp>
        <p:sp>
          <p:nvSpPr>
            <p:cNvPr id="188" name="Rectangle 188"/>
            <p:cNvSpPr/>
            <p:nvPr/>
          </p:nvSpPr>
          <p:spPr>
            <a:xfrm>
              <a:off x="7372350" y="1866900"/>
              <a:ext cx="381000" cy="352425"/>
            </a:xfrm>
            <a:prstGeom prst="rect">
              <a:avLst/>
            </a:prstGeom>
            <a:solidFill>
              <a:srgbClr val="92301C"/>
            </a:solidFill>
            <a:ln>
              <a:noFill/>
            </a:ln>
          </p:spPr>
        </p:sp>
        <p:sp>
          <p:nvSpPr>
            <p:cNvPr id="189" name="Rectangle 189"/>
            <p:cNvSpPr/>
            <p:nvPr/>
          </p:nvSpPr>
          <p:spPr>
            <a:xfrm>
              <a:off x="8020050" y="2219325"/>
              <a:ext cx="381000" cy="200025"/>
            </a:xfrm>
            <a:prstGeom prst="rect">
              <a:avLst/>
            </a:prstGeom>
            <a:solidFill>
              <a:srgbClr val="92301C"/>
            </a:solidFill>
            <a:ln>
              <a:noFill/>
            </a:ln>
          </p:spPr>
        </p:sp>
        <p:sp>
          <p:nvSpPr>
            <p:cNvPr id="190" name="Rectangle 190"/>
            <p:cNvSpPr/>
            <p:nvPr/>
          </p:nvSpPr>
          <p:spPr>
            <a:xfrm>
              <a:off x="8667750" y="2419350"/>
              <a:ext cx="381000" cy="57150"/>
            </a:xfrm>
            <a:prstGeom prst="rect">
              <a:avLst/>
            </a:prstGeom>
            <a:solidFill>
              <a:srgbClr val="92301C"/>
            </a:solidFill>
            <a:ln>
              <a:noFill/>
            </a:ln>
          </p:spPr>
        </p:sp>
        <p:sp>
          <p:nvSpPr>
            <p:cNvPr id="191" name="Rectangle 191"/>
            <p:cNvSpPr/>
            <p:nvPr/>
          </p:nvSpPr>
          <p:spPr>
            <a:xfrm>
              <a:off x="9315450" y="2343150"/>
              <a:ext cx="381000" cy="133350"/>
            </a:xfrm>
            <a:prstGeom prst="rect">
              <a:avLst/>
            </a:prstGeom>
            <a:solidFill>
              <a:srgbClr val="B7533F"/>
            </a:solidFill>
            <a:ln>
              <a:noFill/>
            </a:ln>
          </p:spPr>
        </p:sp>
        <p:sp>
          <p:nvSpPr>
            <p:cNvPr id="192" name="Rectangle 192"/>
            <p:cNvSpPr/>
            <p:nvPr/>
          </p:nvSpPr>
          <p:spPr>
            <a:xfrm>
              <a:off x="9963150" y="2057400"/>
              <a:ext cx="381000" cy="285750"/>
            </a:xfrm>
            <a:prstGeom prst="rect">
              <a:avLst/>
            </a:prstGeom>
            <a:solidFill>
              <a:srgbClr val="B7533F"/>
            </a:solidFill>
            <a:ln>
              <a:noFill/>
            </a:ln>
          </p:spPr>
        </p:sp>
        <p:sp>
          <p:nvSpPr>
            <p:cNvPr id="193" name="Rectangle 193"/>
            <p:cNvSpPr/>
            <p:nvPr/>
          </p:nvSpPr>
          <p:spPr>
            <a:xfrm>
              <a:off x="10610850" y="1857375"/>
              <a:ext cx="381000" cy="200025"/>
            </a:xfrm>
            <a:prstGeom prst="rect">
              <a:avLst/>
            </a:prstGeom>
            <a:solidFill>
              <a:srgbClr val="B7533F"/>
            </a:solidFill>
            <a:ln>
              <a:noFill/>
            </a:ln>
          </p:spPr>
        </p:sp>
        <p:sp>
          <p:nvSpPr>
            <p:cNvPr id="194" name="Rectangle 194"/>
            <p:cNvSpPr/>
            <p:nvPr/>
          </p:nvSpPr>
          <p:spPr>
            <a:xfrm>
              <a:off x="11258550" y="1790700"/>
              <a:ext cx="381000" cy="66675"/>
            </a:xfrm>
            <a:prstGeom prst="rect">
              <a:avLst/>
            </a:prstGeom>
            <a:solidFill>
              <a:srgbClr val="B7533F"/>
            </a:solidFill>
            <a:ln>
              <a:noFill/>
            </a:ln>
          </p:spPr>
        </p:sp>
        <p:grpSp>
          <p:nvGrpSpPr>
            <p:cNvPr id="202" name="gc-vals"/>
            <p:cNvGrpSpPr/>
            <p:nvPr/>
          </p:nvGrpSpPr>
          <p:grpSpPr>
            <a:xfrm>
              <a:off x="7471862" y="1674257"/>
              <a:ext cx="4029871" cy="964406"/>
              <a:chOff x="7471862" y="1674257"/>
              <a:chExt cx="4029871" cy="964406"/>
            </a:xfrm>
          </p:grpSpPr>
          <p:sp>
            <p:nvSpPr>
              <p:cNvPr id="195" name="TextBox 195"/>
              <p:cNvSpPr txBox="1"/>
              <p:nvPr/>
            </p:nvSpPr>
            <p:spPr>
              <a:xfrm>
                <a:off x="7471862" y="2255282"/>
                <a:ext cx="181976"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-320</a:t>
                </a:r>
              </a:p>
            </p:txBody>
          </p:sp>
          <p:sp>
            <p:nvSpPr>
              <p:cNvPr id="196" name="TextBox 196"/>
              <p:cNvSpPr txBox="1"/>
              <p:nvPr/>
            </p:nvSpPr>
            <p:spPr>
              <a:xfrm>
                <a:off x="8119562" y="2445782"/>
                <a:ext cx="181976"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-180</a:t>
                </a:r>
              </a:p>
            </p:txBody>
          </p:sp>
          <p:sp>
            <p:nvSpPr>
              <p:cNvPr id="197" name="TextBox 197"/>
              <p:cNvSpPr txBox="1"/>
              <p:nvPr/>
            </p:nvSpPr>
            <p:spPr>
              <a:xfrm>
                <a:off x="8791222" y="2512457"/>
                <a:ext cx="134056"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-50</a:t>
                </a:r>
              </a:p>
            </p:txBody>
          </p:sp>
          <p:sp>
            <p:nvSpPr>
              <p:cNvPr id="198" name="TextBox 198"/>
              <p:cNvSpPr txBox="1"/>
              <p:nvPr/>
            </p:nvSpPr>
            <p:spPr>
              <a:xfrm>
                <a:off x="9429307" y="2226707"/>
                <a:ext cx="153286"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120</a:t>
                </a:r>
              </a:p>
            </p:txBody>
          </p:sp>
          <p:sp>
            <p:nvSpPr>
              <p:cNvPr id="199" name="TextBox 199"/>
              <p:cNvSpPr txBox="1"/>
              <p:nvPr/>
            </p:nvSpPr>
            <p:spPr>
              <a:xfrm>
                <a:off x="10077007" y="1940957"/>
                <a:ext cx="153286"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260</a:t>
                </a:r>
              </a:p>
            </p:txBody>
          </p:sp>
          <p:sp>
            <p:nvSpPr>
              <p:cNvPr id="200" name="TextBox 200"/>
              <p:cNvSpPr txBox="1"/>
              <p:nvPr/>
            </p:nvSpPr>
            <p:spPr>
              <a:xfrm>
                <a:off x="10724707" y="1740932"/>
                <a:ext cx="153286"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180</a:t>
                </a:r>
              </a:p>
            </p:txBody>
          </p:sp>
          <p:sp>
            <p:nvSpPr>
              <p:cNvPr id="201" name="TextBox 201"/>
              <p:cNvSpPr txBox="1"/>
              <p:nvPr/>
            </p:nvSpPr>
            <p:spPr>
              <a:xfrm>
                <a:off x="11396367" y="1674257"/>
                <a:ext cx="105366" cy="126206"/>
              </a:xfrm>
              <a:prstGeom prst="rect">
                <a:avLst/>
              </a:prstGeom>
              <a:noFill/>
              <a:ln>
                <a:noFill/>
              </a:ln>
            </p:spPr>
            <p:txBody>
              <a:bodyPr wrap="none" lIns="0" tIns="0" rIns="0" bIns="0" anchor="t" anchorCtr="0">
                <a:spAutoFit/>
              </a:bodyPr>
              <a:lstStyle/>
              <a:p>
                <a:pPr algn="ctr"/>
                <a:r>
                  <a:rPr lang="zh-CN" sz="640" b="1" dirty="0">
                    <a:solidFill>
                      <a:srgbClr val="6B1B0B"/>
                    </a:solidFill>
                    <a:latin typeface="+mj-lt"/>
                    <a:ea typeface="+mj-ea"/>
                    <a:cs typeface="+mj-cs"/>
                  </a:rPr>
                  <a:t>60</a:t>
                </a:r>
              </a:p>
            </p:txBody>
          </p:sp>
        </p:grpSp>
        <p:grpSp>
          <p:nvGrpSpPr>
            <p:cNvPr id="210" name="gc-xlabels"/>
            <p:cNvGrpSpPr/>
            <p:nvPr/>
          </p:nvGrpSpPr>
          <p:grpSpPr>
            <a:xfrm>
              <a:off x="7432689" y="2621280"/>
              <a:ext cx="4164744" cy="119062"/>
              <a:chOff x="7432689" y="2621280"/>
              <a:chExt cx="4164744" cy="119062"/>
            </a:xfrm>
          </p:grpSpPr>
          <p:sp>
            <p:nvSpPr>
              <p:cNvPr id="203" name="TextBox 203"/>
              <p:cNvSpPr txBox="1"/>
              <p:nvPr/>
            </p:nvSpPr>
            <p:spPr>
              <a:xfrm>
                <a:off x="7432689" y="2621280"/>
                <a:ext cx="260322"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j-lt"/>
                    <a:ea typeface="+mj-ea"/>
                    <a:cs typeface="+mj-cs"/>
                  </a:rPr>
                  <a:t xml:space="preserve">≤1月　</a:t>
                </a:r>
              </a:p>
            </p:txBody>
          </p:sp>
          <p:sp>
            <p:nvSpPr>
              <p:cNvPr id="204" name="TextBox 204"/>
              <p:cNvSpPr txBox="1"/>
              <p:nvPr/>
            </p:nvSpPr>
            <p:spPr>
              <a:xfrm>
                <a:off x="8057627" y="2621280"/>
                <a:ext cx="30584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j-lt"/>
                    <a:ea typeface="+mj-ea"/>
                    <a:cs typeface="+mj-cs"/>
                  </a:rPr>
                  <a:t xml:space="preserve">1–3月　</a:t>
                </a:r>
              </a:p>
            </p:txBody>
          </p:sp>
          <p:sp>
            <p:nvSpPr>
              <p:cNvPr id="205" name="TextBox 205"/>
              <p:cNvSpPr txBox="1"/>
              <p:nvPr/>
            </p:nvSpPr>
            <p:spPr>
              <a:xfrm>
                <a:off x="8705327" y="2621280"/>
                <a:ext cx="30584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j-lt"/>
                    <a:ea typeface="+mj-ea"/>
                    <a:cs typeface="+mj-cs"/>
                  </a:rPr>
                  <a:t xml:space="preserve">3–6月　</a:t>
                </a:r>
              </a:p>
            </p:txBody>
          </p:sp>
          <p:sp>
            <p:nvSpPr>
              <p:cNvPr id="206" name="TextBox 206"/>
              <p:cNvSpPr txBox="1"/>
              <p:nvPr/>
            </p:nvSpPr>
            <p:spPr>
              <a:xfrm>
                <a:off x="9330565" y="2621280"/>
                <a:ext cx="350771"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j-lt"/>
                    <a:ea typeface="+mj-ea"/>
                    <a:cs typeface="+mj-cs"/>
                  </a:rPr>
                  <a:t xml:space="preserve">6–12月　</a:t>
                </a:r>
              </a:p>
            </p:txBody>
          </p:sp>
          <p:sp>
            <p:nvSpPr>
              <p:cNvPr id="207" name="TextBox 207"/>
              <p:cNvSpPr txBox="1"/>
              <p:nvPr/>
            </p:nvSpPr>
            <p:spPr>
              <a:xfrm>
                <a:off x="10000727" y="2621280"/>
                <a:ext cx="30584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j-lt"/>
                    <a:ea typeface="+mj-ea"/>
                    <a:cs typeface="+mj-cs"/>
                  </a:rPr>
                  <a:t xml:space="preserve">1–3年　</a:t>
                </a:r>
              </a:p>
            </p:txBody>
          </p:sp>
          <p:sp>
            <p:nvSpPr>
              <p:cNvPr id="208" name="TextBox 208"/>
              <p:cNvSpPr txBox="1"/>
              <p:nvPr/>
            </p:nvSpPr>
            <p:spPr>
              <a:xfrm>
                <a:off x="10648427" y="2621280"/>
                <a:ext cx="305845"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j-lt"/>
                    <a:ea typeface="+mj-ea"/>
                    <a:cs typeface="+mj-cs"/>
                  </a:rPr>
                  <a:t xml:space="preserve">3–5年　</a:t>
                </a:r>
              </a:p>
            </p:txBody>
          </p:sp>
          <p:sp>
            <p:nvSpPr>
              <p:cNvPr id="209" name="TextBox 209"/>
              <p:cNvSpPr txBox="1"/>
              <p:nvPr/>
            </p:nvSpPr>
            <p:spPr>
              <a:xfrm>
                <a:off x="11300667" y="2621280"/>
                <a:ext cx="296766" cy="119062"/>
              </a:xfrm>
              <a:prstGeom prst="rect">
                <a:avLst/>
              </a:prstGeom>
              <a:noFill/>
              <a:ln>
                <a:noFill/>
              </a:ln>
            </p:spPr>
            <p:txBody>
              <a:bodyPr wrap="none" lIns="0" tIns="0" rIns="0" bIns="0" anchor="t" anchorCtr="0">
                <a:spAutoFit/>
              </a:bodyPr>
              <a:lstStyle/>
              <a:p>
                <a:pPr algn="ctr"/>
                <a:r>
                  <a:rPr lang="zh-CN" sz="600" dirty="0">
                    <a:solidFill>
                      <a:srgbClr val="52352F"/>
                    </a:solidFill>
                    <a:latin typeface="+mj-lt"/>
                    <a:ea typeface="+mj-ea"/>
                    <a:cs typeface="+mj-cs"/>
                  </a:rPr>
                  <a:t xml:space="preserve">＞5年　</a:t>
                </a:r>
              </a:p>
            </p:txBody>
          </p:sp>
        </p:grpSp>
      </p:grpSp>
      <p:grpSp>
        <p:nvGrpSpPr>
          <p:cNvPr id="255" name="advice"/>
          <p:cNvGrpSpPr/>
          <p:nvPr/>
        </p:nvGrpSpPr>
        <p:grpSpPr>
          <a:xfrm>
            <a:off x="6814947" y="2885599"/>
            <a:ext cx="5186553" cy="2200751"/>
            <a:chOff x="6814947" y="2885599"/>
            <a:chExt cx="5186553" cy="2200751"/>
          </a:xfrm>
        </p:grpSpPr>
        <p:sp>
          <p:nvSpPr>
            <p:cNvPr id="212" name="TextBox 212"/>
            <p:cNvSpPr txBox="1"/>
            <p:nvPr/>
          </p:nvSpPr>
          <p:spPr>
            <a:xfrm>
              <a:off x="6814947" y="2885599"/>
              <a:ext cx="1175715"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智能建议</a:t>
              </a:r>
              <a:r>
                <a:rPr lang="zh-CN" sz="790" dirty="0">
                  <a:solidFill>
                    <a:srgbClr val="6B1B0B"/>
                  </a:solidFill>
                  <a:latin typeface="+mn-lt"/>
                  <a:ea typeface="+mn-ea"/>
                  <a:cs typeface="+mn-cs"/>
                </a:rPr>
                <a:t>（示例测算）</a:t>
              </a:r>
            </a:p>
          </p:txBody>
        </p:sp>
        <p:grpSp>
          <p:nvGrpSpPr>
            <p:cNvPr id="221" name="ad-1"/>
            <p:cNvGrpSpPr/>
            <p:nvPr/>
          </p:nvGrpSpPr>
          <p:grpSpPr>
            <a:xfrm>
              <a:off x="6819900" y="3067050"/>
              <a:ext cx="5181600" cy="476250"/>
              <a:chOff x="6819900" y="3067050"/>
              <a:chExt cx="5181600" cy="476250"/>
            </a:xfrm>
          </p:grpSpPr>
          <p:sp>
            <p:nvSpPr>
              <p:cNvPr id="213" name="Rectangle 213"/>
              <p:cNvSpPr/>
              <p:nvPr/>
            </p:nvSpPr>
            <p:spPr>
              <a:xfrm>
                <a:off x="6819900" y="3067050"/>
                <a:ext cx="5181600" cy="476250"/>
              </a:xfrm>
              <a:prstGeom prst="roundRect">
                <a:avLst>
                  <a:gd name="adj" fmla="val 12000"/>
                </a:avLst>
              </a:prstGeom>
              <a:solidFill>
                <a:srgbClr val="F6F9FD"/>
              </a:solidFill>
              <a:ln w="9525">
                <a:solidFill>
                  <a:srgbClr val="CFDFEE"/>
                </a:solidFill>
              </a:ln>
            </p:spPr>
          </p:sp>
          <p:sp>
            <p:nvSpPr>
              <p:cNvPr id="214" name="Ellipse 214"/>
              <p:cNvSpPr/>
              <p:nvPr/>
            </p:nvSpPr>
            <p:spPr>
              <a:xfrm>
                <a:off x="6915150" y="3152775"/>
                <a:ext cx="304800" cy="304800"/>
              </a:xfrm>
              <a:prstGeom prst="ellipse">
                <a:avLst/>
              </a:prstGeom>
              <a:solidFill>
                <a:srgbClr val="D6E6F3"/>
              </a:solidFill>
              <a:ln>
                <a:noFill/>
              </a:ln>
            </p:spPr>
          </p:sp>
          <p:grpSp>
            <p:nvGrpSpPr>
              <p:cNvPr id="217" name="Group 217"/>
              <p:cNvGrpSpPr/>
              <p:nvPr/>
            </p:nvGrpSpPr>
            <p:grpSpPr>
              <a:xfrm>
                <a:off x="7003256" y="3240881"/>
                <a:ext cx="130281" cy="130281"/>
                <a:chOff x="7003256" y="3240881"/>
                <a:chExt cx="130281" cy="130281"/>
              </a:xfrm>
            </p:grpSpPr>
            <p:sp>
              <p:nvSpPr>
                <p:cNvPr id="215" name="Freeform 215"/>
                <p:cNvSpPr/>
                <p:nvPr/>
              </p:nvSpPr>
              <p:spPr>
                <a:xfrm>
                  <a:off x="7028259" y="3265884"/>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92301C"/>
                  </a:solidFill>
                </a:ln>
              </p:spPr>
            </p:sp>
            <p:sp>
              <p:nvSpPr>
                <p:cNvPr id="216" name="Freeform 216"/>
                <p:cNvSpPr/>
                <p:nvPr/>
              </p:nvSpPr>
              <p:spPr>
                <a:xfrm>
                  <a:off x="7003256" y="3240881"/>
                  <a:ext cx="130281" cy="130281"/>
                </a:xfrm>
                <a:custGeom>
                  <a:avLst/>
                  <a:gdLst/>
                  <a:ahLst/>
                  <a:cxnLst/>
                  <a:rect l="l" t="t" r="r" b="b"/>
                  <a:pathLst>
                    <a:path w="130281" h="130281">
                      <a:moveTo>
                        <a:pt x="0" y="21431"/>
                      </a:moveTo>
                      <a:lnTo>
                        <a:pt x="0" y="58379"/>
                      </a:lnTo>
                      <a:cubicBezTo>
                        <a:pt x="1" y="62168"/>
                        <a:pt x="1507" y="65801"/>
                        <a:pt x="4186" y="68480"/>
                      </a:cubicBezTo>
                      <a:lnTo>
                        <a:pt x="59265" y="123558"/>
                      </a:lnTo>
                      <a:cubicBezTo>
                        <a:pt x="65988" y="130281"/>
                        <a:pt x="76887" y="130281"/>
                        <a:pt x="83610" y="123558"/>
                      </a:cubicBezTo>
                      <a:lnTo>
                        <a:pt x="123558" y="83610"/>
                      </a:lnTo>
                      <a:cubicBezTo>
                        <a:pt x="130281" y="76887"/>
                        <a:pt x="130281" y="65988"/>
                        <a:pt x="123558" y="59265"/>
                      </a:cubicBezTo>
                      <a:lnTo>
                        <a:pt x="68480" y="4186"/>
                      </a:lnTo>
                      <a:cubicBezTo>
                        <a:pt x="65801" y="1507"/>
                        <a:pt x="62168" y="1"/>
                        <a:pt x="58379" y="0"/>
                      </a:cubicBezTo>
                      <a:lnTo>
                        <a:pt x="21431" y="0"/>
                      </a:lnTo>
                      <a:cubicBezTo>
                        <a:pt x="15747" y="0"/>
                        <a:pt x="10296" y="2258"/>
                        <a:pt x="6277" y="6277"/>
                      </a:cubicBezTo>
                      <a:cubicBezTo>
                        <a:pt x="2258" y="10296"/>
                        <a:pt x="0" y="15747"/>
                        <a:pt x="0" y="21431"/>
                      </a:cubicBezTo>
                    </a:path>
                  </a:pathLst>
                </a:custGeom>
                <a:noFill/>
                <a:ln w="14288">
                  <a:solidFill>
                    <a:srgbClr val="92301C"/>
                  </a:solidFill>
                </a:ln>
              </p:spPr>
            </p:sp>
          </p:grpSp>
          <p:sp>
            <p:nvSpPr>
              <p:cNvPr id="218" name="TextBox 218"/>
              <p:cNvSpPr txBox="1"/>
              <p:nvPr/>
            </p:nvSpPr>
            <p:spPr>
              <a:xfrm>
                <a:off x="7310438" y="3250168"/>
                <a:ext cx="472618"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定价建议</a:t>
                </a:r>
              </a:p>
            </p:txBody>
          </p:sp>
          <p:sp>
            <p:nvSpPr>
              <p:cNvPr id="219" name="TextBox 219"/>
              <p:cNvSpPr txBox="1"/>
              <p:nvPr/>
            </p:nvSpPr>
            <p:spPr>
              <a:xfrm>
                <a:off x="8243888" y="3188732"/>
                <a:ext cx="1550391"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提高短端负债产品利率，优化存款结构</a:t>
                </a:r>
              </a:p>
            </p:txBody>
          </p:sp>
          <p:sp>
            <p:nvSpPr>
              <p:cNvPr id="220" name="TextBox 220"/>
              <p:cNvSpPr txBox="1"/>
              <p:nvPr/>
            </p:nvSpPr>
            <p:spPr>
              <a:xfrm>
                <a:off x="8243888" y="3341132"/>
                <a:ext cx="137768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动态调整FTP，体现流动性成本　</a:t>
                </a:r>
              </a:p>
            </p:txBody>
          </p:sp>
        </p:grpSp>
        <p:grpSp>
          <p:nvGrpSpPr>
            <p:cNvPr id="236" name="ad-2"/>
            <p:cNvGrpSpPr/>
            <p:nvPr/>
          </p:nvGrpSpPr>
          <p:grpSpPr>
            <a:xfrm>
              <a:off x="6819900" y="3581400"/>
              <a:ext cx="5181600" cy="476250"/>
              <a:chOff x="6819900" y="3581400"/>
              <a:chExt cx="5181600" cy="476250"/>
            </a:xfrm>
          </p:grpSpPr>
          <p:sp>
            <p:nvSpPr>
              <p:cNvPr id="222" name="Rectangle 222"/>
              <p:cNvSpPr/>
              <p:nvPr/>
            </p:nvSpPr>
            <p:spPr>
              <a:xfrm>
                <a:off x="6819900" y="3581400"/>
                <a:ext cx="5181600" cy="476250"/>
              </a:xfrm>
              <a:prstGeom prst="roundRect">
                <a:avLst>
                  <a:gd name="adj" fmla="val 12000"/>
                </a:avLst>
              </a:prstGeom>
              <a:solidFill>
                <a:srgbClr val="F6F9FD"/>
              </a:solidFill>
              <a:ln w="9525">
                <a:solidFill>
                  <a:srgbClr val="CFDFEE"/>
                </a:solidFill>
              </a:ln>
            </p:spPr>
          </p:sp>
          <p:sp>
            <p:nvSpPr>
              <p:cNvPr id="223" name="Ellipse 223"/>
              <p:cNvSpPr/>
              <p:nvPr/>
            </p:nvSpPr>
            <p:spPr>
              <a:xfrm>
                <a:off x="6915150" y="3667125"/>
                <a:ext cx="304800" cy="304800"/>
              </a:xfrm>
              <a:prstGeom prst="ellipse">
                <a:avLst/>
              </a:prstGeom>
              <a:solidFill>
                <a:srgbClr val="D6E6F3"/>
              </a:solidFill>
              <a:ln>
                <a:noFill/>
              </a:ln>
            </p:spPr>
          </p:sp>
          <p:grpSp>
            <p:nvGrpSpPr>
              <p:cNvPr id="232" name="Group 232"/>
              <p:cNvGrpSpPr/>
              <p:nvPr/>
            </p:nvGrpSpPr>
            <p:grpSpPr>
              <a:xfrm>
                <a:off x="7003256" y="3755231"/>
                <a:ext cx="130969" cy="138113"/>
                <a:chOff x="7003256" y="3755231"/>
                <a:chExt cx="130969" cy="138113"/>
              </a:xfrm>
            </p:grpSpPr>
            <p:sp>
              <p:nvSpPr>
                <p:cNvPr id="224" name="Freeform 224"/>
                <p:cNvSpPr/>
                <p:nvPr/>
              </p:nvSpPr>
              <p:spPr>
                <a:xfrm>
                  <a:off x="7003256" y="3883819"/>
                  <a:ext cx="128588" cy="9525"/>
                </a:xfrm>
                <a:custGeom>
                  <a:avLst/>
                  <a:gdLst/>
                  <a:ahLst/>
                  <a:cxnLst/>
                  <a:rect l="l" t="t" r="r" b="b"/>
                  <a:pathLst>
                    <a:path w="128588" h="9525">
                      <a:moveTo>
                        <a:pt x="0" y="0"/>
                      </a:moveTo>
                      <a:lnTo>
                        <a:pt x="128588" y="0"/>
                      </a:lnTo>
                    </a:path>
                  </a:pathLst>
                </a:custGeom>
                <a:noFill/>
                <a:ln w="14288">
                  <a:solidFill>
                    <a:srgbClr val="92301C"/>
                  </a:solidFill>
                </a:ln>
              </p:spPr>
            </p:sp>
            <p:sp>
              <p:nvSpPr>
                <p:cNvPr id="225" name="Freeform 225"/>
                <p:cNvSpPr/>
                <p:nvPr/>
              </p:nvSpPr>
              <p:spPr>
                <a:xfrm>
                  <a:off x="7003256" y="3805238"/>
                  <a:ext cx="128588" cy="9525"/>
                </a:xfrm>
                <a:custGeom>
                  <a:avLst/>
                  <a:gdLst/>
                  <a:ahLst/>
                  <a:cxnLst/>
                  <a:rect l="l" t="t" r="r" b="b"/>
                  <a:pathLst>
                    <a:path w="128588" h="9525">
                      <a:moveTo>
                        <a:pt x="0" y="0"/>
                      </a:moveTo>
                      <a:lnTo>
                        <a:pt x="128588" y="0"/>
                      </a:lnTo>
                    </a:path>
                  </a:pathLst>
                </a:custGeom>
                <a:noFill/>
                <a:ln w="14288">
                  <a:solidFill>
                    <a:srgbClr val="92301C"/>
                  </a:solidFill>
                </a:ln>
              </p:spPr>
            </p:sp>
            <p:sp>
              <p:nvSpPr>
                <p:cNvPr id="226" name="Freeform 226"/>
                <p:cNvSpPr/>
                <p:nvPr/>
              </p:nvSpPr>
              <p:spPr>
                <a:xfrm>
                  <a:off x="7017544" y="3755231"/>
                  <a:ext cx="100012" cy="21431"/>
                </a:xfrm>
                <a:custGeom>
                  <a:avLst/>
                  <a:gdLst/>
                  <a:ahLst/>
                  <a:cxnLst/>
                  <a:rect l="l" t="t" r="r" b="b"/>
                  <a:pathLst>
                    <a:path w="100012" h="21431">
                      <a:moveTo>
                        <a:pt x="0" y="21431"/>
                      </a:moveTo>
                      <a:lnTo>
                        <a:pt x="50006" y="0"/>
                      </a:lnTo>
                      <a:lnTo>
                        <a:pt x="100012" y="21431"/>
                      </a:lnTo>
                    </a:path>
                  </a:pathLst>
                </a:custGeom>
                <a:noFill/>
                <a:ln w="14288">
                  <a:solidFill>
                    <a:srgbClr val="92301C"/>
                  </a:solidFill>
                </a:ln>
              </p:spPr>
            </p:sp>
            <p:sp>
              <p:nvSpPr>
                <p:cNvPr id="227" name="Freeform 227"/>
                <p:cNvSpPr/>
                <p:nvPr/>
              </p:nvSpPr>
              <p:spPr>
                <a:xfrm>
                  <a:off x="7010400" y="3805238"/>
                  <a:ext cx="9525" cy="78581"/>
                </a:xfrm>
                <a:custGeom>
                  <a:avLst/>
                  <a:gdLst/>
                  <a:ahLst/>
                  <a:cxnLst/>
                  <a:rect l="l" t="t" r="r" b="b"/>
                  <a:pathLst>
                    <a:path w="9525" h="78581">
                      <a:moveTo>
                        <a:pt x="0" y="0"/>
                      </a:moveTo>
                      <a:lnTo>
                        <a:pt x="0" y="78581"/>
                      </a:lnTo>
                    </a:path>
                  </a:pathLst>
                </a:custGeom>
                <a:noFill/>
                <a:ln w="14288">
                  <a:solidFill>
                    <a:srgbClr val="92301C"/>
                  </a:solidFill>
                </a:ln>
              </p:spPr>
            </p:sp>
            <p:sp>
              <p:nvSpPr>
                <p:cNvPr id="228" name="Freeform 228"/>
                <p:cNvSpPr/>
                <p:nvPr/>
              </p:nvSpPr>
              <p:spPr>
                <a:xfrm>
                  <a:off x="7124700" y="3805238"/>
                  <a:ext cx="9525" cy="78581"/>
                </a:xfrm>
                <a:custGeom>
                  <a:avLst/>
                  <a:gdLst/>
                  <a:ahLst/>
                  <a:cxnLst/>
                  <a:rect l="l" t="t" r="r" b="b"/>
                  <a:pathLst>
                    <a:path w="9525" h="78581">
                      <a:moveTo>
                        <a:pt x="0" y="0"/>
                      </a:moveTo>
                      <a:lnTo>
                        <a:pt x="0" y="78581"/>
                      </a:lnTo>
                    </a:path>
                  </a:pathLst>
                </a:custGeom>
                <a:noFill/>
                <a:ln w="14288">
                  <a:solidFill>
                    <a:srgbClr val="92301C"/>
                  </a:solidFill>
                </a:ln>
              </p:spPr>
            </p:sp>
            <p:sp>
              <p:nvSpPr>
                <p:cNvPr id="229" name="Freeform 229"/>
                <p:cNvSpPr/>
                <p:nvPr/>
              </p:nvSpPr>
              <p:spPr>
                <a:xfrm>
                  <a:off x="7038975" y="3833812"/>
                  <a:ext cx="9525" cy="21431"/>
                </a:xfrm>
                <a:custGeom>
                  <a:avLst/>
                  <a:gdLst/>
                  <a:ahLst/>
                  <a:cxnLst/>
                  <a:rect l="l" t="t" r="r" b="b"/>
                  <a:pathLst>
                    <a:path w="9525" h="21431">
                      <a:moveTo>
                        <a:pt x="0" y="0"/>
                      </a:moveTo>
                      <a:lnTo>
                        <a:pt x="0" y="21431"/>
                      </a:lnTo>
                    </a:path>
                  </a:pathLst>
                </a:custGeom>
                <a:noFill/>
                <a:ln w="14288">
                  <a:solidFill>
                    <a:srgbClr val="92301C"/>
                  </a:solidFill>
                </a:ln>
              </p:spPr>
            </p:sp>
            <p:sp>
              <p:nvSpPr>
                <p:cNvPr id="230" name="Freeform 230"/>
                <p:cNvSpPr/>
                <p:nvPr/>
              </p:nvSpPr>
              <p:spPr>
                <a:xfrm>
                  <a:off x="7067550" y="3833812"/>
                  <a:ext cx="9525" cy="21431"/>
                </a:xfrm>
                <a:custGeom>
                  <a:avLst/>
                  <a:gdLst/>
                  <a:ahLst/>
                  <a:cxnLst/>
                  <a:rect l="l" t="t" r="r" b="b"/>
                  <a:pathLst>
                    <a:path w="9525" h="21431">
                      <a:moveTo>
                        <a:pt x="0" y="0"/>
                      </a:moveTo>
                      <a:lnTo>
                        <a:pt x="0" y="21431"/>
                      </a:lnTo>
                    </a:path>
                  </a:pathLst>
                </a:custGeom>
                <a:noFill/>
                <a:ln w="14288">
                  <a:solidFill>
                    <a:srgbClr val="92301C"/>
                  </a:solidFill>
                </a:ln>
              </p:spPr>
            </p:sp>
            <p:sp>
              <p:nvSpPr>
                <p:cNvPr id="231" name="Freeform 231"/>
                <p:cNvSpPr/>
                <p:nvPr/>
              </p:nvSpPr>
              <p:spPr>
                <a:xfrm>
                  <a:off x="7096125" y="3833812"/>
                  <a:ext cx="9525" cy="21431"/>
                </a:xfrm>
                <a:custGeom>
                  <a:avLst/>
                  <a:gdLst/>
                  <a:ahLst/>
                  <a:cxnLst/>
                  <a:rect l="l" t="t" r="r" b="b"/>
                  <a:pathLst>
                    <a:path w="9525" h="21431">
                      <a:moveTo>
                        <a:pt x="0" y="0"/>
                      </a:moveTo>
                      <a:lnTo>
                        <a:pt x="0" y="21431"/>
                      </a:lnTo>
                    </a:path>
                  </a:pathLst>
                </a:custGeom>
                <a:noFill/>
                <a:ln w="14288">
                  <a:solidFill>
                    <a:srgbClr val="92301C"/>
                  </a:solidFill>
                </a:ln>
              </p:spPr>
            </p:sp>
          </p:grpSp>
          <p:sp>
            <p:nvSpPr>
              <p:cNvPr id="233" name="TextBox 233"/>
              <p:cNvSpPr txBox="1"/>
              <p:nvPr/>
            </p:nvSpPr>
            <p:spPr>
              <a:xfrm>
                <a:off x="7310438" y="3764518"/>
                <a:ext cx="472618"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融资建议</a:t>
                </a:r>
              </a:p>
            </p:txBody>
          </p:sp>
          <p:sp>
            <p:nvSpPr>
              <p:cNvPr id="234" name="TextBox 234"/>
              <p:cNvSpPr txBox="1"/>
              <p:nvPr/>
            </p:nvSpPr>
            <p:spPr>
              <a:xfrm>
                <a:off x="8243888" y="3703082"/>
                <a:ext cx="1253684"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在1个月内增加同业融资额度　</a:t>
                </a:r>
              </a:p>
            </p:txBody>
          </p:sp>
          <p:sp>
            <p:nvSpPr>
              <p:cNvPr id="235" name="TextBox 235"/>
              <p:cNvSpPr txBox="1"/>
              <p:nvPr/>
            </p:nvSpPr>
            <p:spPr>
              <a:xfrm>
                <a:off x="8243888" y="3855482"/>
                <a:ext cx="1464234"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适时发行中期票据，锁定中长期资金</a:t>
                </a:r>
              </a:p>
            </p:txBody>
          </p:sp>
        </p:grpSp>
        <p:grpSp>
          <p:nvGrpSpPr>
            <p:cNvPr id="243" name="ad-3"/>
            <p:cNvGrpSpPr/>
            <p:nvPr/>
          </p:nvGrpSpPr>
          <p:grpSpPr>
            <a:xfrm>
              <a:off x="6819900" y="4095750"/>
              <a:ext cx="5181600" cy="476250"/>
              <a:chOff x="6819900" y="4095750"/>
              <a:chExt cx="5181600" cy="476250"/>
            </a:xfrm>
          </p:grpSpPr>
          <p:sp>
            <p:nvSpPr>
              <p:cNvPr id="237" name="Rectangle 237"/>
              <p:cNvSpPr/>
              <p:nvPr/>
            </p:nvSpPr>
            <p:spPr>
              <a:xfrm>
                <a:off x="6819900" y="4095750"/>
                <a:ext cx="5181600" cy="476250"/>
              </a:xfrm>
              <a:prstGeom prst="roundRect">
                <a:avLst>
                  <a:gd name="adj" fmla="val 12000"/>
                </a:avLst>
              </a:prstGeom>
              <a:solidFill>
                <a:srgbClr val="F6F9FD"/>
              </a:solidFill>
              <a:ln w="9525">
                <a:solidFill>
                  <a:srgbClr val="CFDFEE"/>
                </a:solidFill>
              </a:ln>
            </p:spPr>
          </p:sp>
          <p:sp>
            <p:nvSpPr>
              <p:cNvPr id="238" name="Ellipse 238"/>
              <p:cNvSpPr/>
              <p:nvPr/>
            </p:nvSpPr>
            <p:spPr>
              <a:xfrm>
                <a:off x="6915150" y="4181475"/>
                <a:ext cx="304800" cy="304800"/>
              </a:xfrm>
              <a:prstGeom prst="ellipse">
                <a:avLst/>
              </a:prstGeom>
              <a:solidFill>
                <a:srgbClr val="D6E6F3"/>
              </a:solidFill>
              <a:ln>
                <a:noFill/>
              </a:ln>
            </p:spPr>
          </p:sp>
          <p:sp>
            <p:nvSpPr>
              <p:cNvPr id="239" name="Freeform 239"/>
              <p:cNvSpPr/>
              <p:nvPr/>
            </p:nvSpPr>
            <p:spPr>
              <a:xfrm>
                <a:off x="7000281" y="4269581"/>
                <a:ext cx="134537" cy="128588"/>
              </a:xfrm>
              <a:custGeom>
                <a:avLst/>
                <a:gdLst/>
                <a:ahLst/>
                <a:cxnLst/>
                <a:rect l="l" t="t" r="r" b="b"/>
                <a:pathLst>
                  <a:path w="134537" h="128588">
                    <a:moveTo>
                      <a:pt x="67269" y="0"/>
                    </a:moveTo>
                    <a:cubicBezTo>
                      <a:pt x="83955" y="14763"/>
                      <a:pt x="105734" y="22450"/>
                      <a:pt x="127991" y="21431"/>
                    </a:cubicBezTo>
                    <a:cubicBezTo>
                      <a:pt x="134537" y="43702"/>
                      <a:pt x="131773" y="67676"/>
                      <a:pt x="120328" y="87872"/>
                    </a:cubicBezTo>
                    <a:cubicBezTo>
                      <a:pt x="108884" y="108068"/>
                      <a:pt x="89738" y="122759"/>
                      <a:pt x="67269" y="128588"/>
                    </a:cubicBezTo>
                    <a:cubicBezTo>
                      <a:pt x="44799" y="122759"/>
                      <a:pt x="25654" y="108068"/>
                      <a:pt x="14209" y="87872"/>
                    </a:cubicBezTo>
                    <a:cubicBezTo>
                      <a:pt x="2765" y="67676"/>
                      <a:pt x="0" y="43702"/>
                      <a:pt x="6547" y="21431"/>
                    </a:cubicBezTo>
                    <a:cubicBezTo>
                      <a:pt x="28803" y="22450"/>
                      <a:pt x="50582" y="14763"/>
                      <a:pt x="67269" y="0"/>
                    </a:cubicBezTo>
                  </a:path>
                </a:pathLst>
              </a:custGeom>
              <a:noFill/>
              <a:ln w="14288">
                <a:solidFill>
                  <a:srgbClr val="92301C"/>
                </a:solidFill>
              </a:ln>
            </p:spPr>
          </p:sp>
          <p:sp>
            <p:nvSpPr>
              <p:cNvPr id="240" name="TextBox 240"/>
              <p:cNvSpPr txBox="1"/>
              <p:nvPr/>
            </p:nvSpPr>
            <p:spPr>
              <a:xfrm>
                <a:off x="7310438" y="4278868"/>
                <a:ext cx="588391"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流动性缓冲</a:t>
                </a:r>
              </a:p>
            </p:txBody>
          </p:sp>
          <p:sp>
            <p:nvSpPr>
              <p:cNvPr id="241" name="TextBox 241"/>
              <p:cNvSpPr txBox="1"/>
              <p:nvPr/>
            </p:nvSpPr>
            <p:spPr>
              <a:xfrm>
                <a:off x="8243888" y="4217432"/>
                <a:ext cx="1453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提升高流动性资产（HQLA）规模　</a:t>
                </a:r>
              </a:p>
            </p:txBody>
          </p:sp>
          <p:sp>
            <p:nvSpPr>
              <p:cNvPr id="242" name="TextBox 242"/>
              <p:cNvSpPr txBox="1"/>
              <p:nvPr/>
            </p:nvSpPr>
            <p:spPr>
              <a:xfrm>
                <a:off x="8243888" y="436983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设定最低流动性储备红线</a:t>
                </a:r>
              </a:p>
            </p:txBody>
          </p:sp>
        </p:grpSp>
        <p:grpSp>
          <p:nvGrpSpPr>
            <p:cNvPr id="254" name="ad-4"/>
            <p:cNvGrpSpPr/>
            <p:nvPr/>
          </p:nvGrpSpPr>
          <p:grpSpPr>
            <a:xfrm>
              <a:off x="6819900" y="4610100"/>
              <a:ext cx="5181600" cy="476250"/>
              <a:chOff x="6819900" y="4610100"/>
              <a:chExt cx="5181600" cy="476250"/>
            </a:xfrm>
          </p:grpSpPr>
          <p:sp>
            <p:nvSpPr>
              <p:cNvPr id="244" name="Rectangle 244"/>
              <p:cNvSpPr/>
              <p:nvPr/>
            </p:nvSpPr>
            <p:spPr>
              <a:xfrm>
                <a:off x="6819900" y="4610100"/>
                <a:ext cx="5181600" cy="476250"/>
              </a:xfrm>
              <a:prstGeom prst="roundRect">
                <a:avLst>
                  <a:gd name="adj" fmla="val 12000"/>
                </a:avLst>
              </a:prstGeom>
              <a:solidFill>
                <a:srgbClr val="F6F9FD"/>
              </a:solidFill>
              <a:ln w="9525">
                <a:solidFill>
                  <a:srgbClr val="CFDFEE"/>
                </a:solidFill>
              </a:ln>
            </p:spPr>
          </p:sp>
          <p:sp>
            <p:nvSpPr>
              <p:cNvPr id="245" name="Ellipse 245"/>
              <p:cNvSpPr/>
              <p:nvPr/>
            </p:nvSpPr>
            <p:spPr>
              <a:xfrm>
                <a:off x="6915150" y="4695825"/>
                <a:ext cx="304800" cy="304800"/>
              </a:xfrm>
              <a:prstGeom prst="ellipse">
                <a:avLst/>
              </a:prstGeom>
              <a:solidFill>
                <a:srgbClr val="D6E6F3"/>
              </a:solidFill>
              <a:ln>
                <a:noFill/>
              </a:ln>
            </p:spPr>
          </p:sp>
          <p:grpSp>
            <p:nvGrpSpPr>
              <p:cNvPr id="250" name="Group 250"/>
              <p:cNvGrpSpPr/>
              <p:nvPr/>
            </p:nvGrpSpPr>
            <p:grpSpPr>
              <a:xfrm>
                <a:off x="7024688" y="4783931"/>
                <a:ext cx="85725" cy="128588"/>
                <a:chOff x="7024688" y="4783931"/>
                <a:chExt cx="85725" cy="128588"/>
              </a:xfrm>
            </p:grpSpPr>
            <p:sp>
              <p:nvSpPr>
                <p:cNvPr id="246" name="Freeform 246"/>
                <p:cNvSpPr/>
                <p:nvPr/>
              </p:nvSpPr>
              <p:spPr>
                <a:xfrm>
                  <a:off x="7028259" y="4812506"/>
                  <a:ext cx="78581" cy="9525"/>
                </a:xfrm>
                <a:custGeom>
                  <a:avLst/>
                  <a:gdLst/>
                  <a:ahLst/>
                  <a:cxnLst/>
                  <a:rect l="l" t="t" r="r" b="b"/>
                  <a:pathLst>
                    <a:path w="78581" h="9525">
                      <a:moveTo>
                        <a:pt x="0" y="0"/>
                      </a:moveTo>
                      <a:lnTo>
                        <a:pt x="78581" y="0"/>
                      </a:lnTo>
                    </a:path>
                  </a:pathLst>
                </a:custGeom>
                <a:noFill/>
                <a:ln w="14288">
                  <a:solidFill>
                    <a:srgbClr val="92301C"/>
                  </a:solidFill>
                </a:ln>
              </p:spPr>
            </p:sp>
            <p:sp>
              <p:nvSpPr>
                <p:cNvPr id="247" name="Freeform 247"/>
                <p:cNvSpPr/>
                <p:nvPr/>
              </p:nvSpPr>
              <p:spPr>
                <a:xfrm>
                  <a:off x="7028259" y="4883944"/>
                  <a:ext cx="78581" cy="9525"/>
                </a:xfrm>
                <a:custGeom>
                  <a:avLst/>
                  <a:gdLst/>
                  <a:ahLst/>
                  <a:cxnLst/>
                  <a:rect l="l" t="t" r="r" b="b"/>
                  <a:pathLst>
                    <a:path w="78581" h="9525">
                      <a:moveTo>
                        <a:pt x="0" y="0"/>
                      </a:moveTo>
                      <a:lnTo>
                        <a:pt x="78581" y="0"/>
                      </a:lnTo>
                    </a:path>
                  </a:pathLst>
                </a:custGeom>
                <a:noFill/>
                <a:ln w="14288">
                  <a:solidFill>
                    <a:srgbClr val="92301C"/>
                  </a:solidFill>
                </a:ln>
              </p:spPr>
            </p:sp>
            <p:sp>
              <p:nvSpPr>
                <p:cNvPr id="248" name="Freeform 248"/>
                <p:cNvSpPr/>
                <p:nvPr/>
              </p:nvSpPr>
              <p:spPr>
                <a:xfrm>
                  <a:off x="7024688" y="4848225"/>
                  <a:ext cx="85725" cy="64294"/>
                </a:xfrm>
                <a:custGeom>
                  <a:avLst/>
                  <a:gdLst/>
                  <a:ahLst/>
                  <a:cxnLst/>
                  <a:rect l="l" t="t" r="r" b="b"/>
                  <a:pathLst>
                    <a:path w="85725" h="64294">
                      <a:moveTo>
                        <a:pt x="0" y="57150"/>
                      </a:moveTo>
                      <a:lnTo>
                        <a:pt x="0" y="42862"/>
                      </a:lnTo>
                      <a:cubicBezTo>
                        <a:pt x="0" y="19190"/>
                        <a:pt x="19190" y="0"/>
                        <a:pt x="42862" y="0"/>
                      </a:cubicBezTo>
                      <a:cubicBezTo>
                        <a:pt x="66535" y="0"/>
                        <a:pt x="85725" y="19190"/>
                        <a:pt x="85725" y="42862"/>
                      </a:cubicBezTo>
                      <a:lnTo>
                        <a:pt x="85725" y="57150"/>
                      </a:lnTo>
                      <a:cubicBezTo>
                        <a:pt x="85725" y="61095"/>
                        <a:pt x="82527" y="64294"/>
                        <a:pt x="78581" y="64294"/>
                      </a:cubicBezTo>
                      <a:lnTo>
                        <a:pt x="7144" y="64294"/>
                      </a:lnTo>
                      <a:cubicBezTo>
                        <a:pt x="3198" y="64294"/>
                        <a:pt x="0" y="61095"/>
                        <a:pt x="0" y="57150"/>
                      </a:cubicBezTo>
                    </a:path>
                  </a:pathLst>
                </a:custGeom>
                <a:noFill/>
                <a:ln w="14288">
                  <a:solidFill>
                    <a:srgbClr val="92301C"/>
                  </a:solidFill>
                </a:ln>
              </p:spPr>
            </p:sp>
            <p:sp>
              <p:nvSpPr>
                <p:cNvPr id="249" name="Freeform 249"/>
                <p:cNvSpPr/>
                <p:nvPr/>
              </p:nvSpPr>
              <p:spPr>
                <a:xfrm>
                  <a:off x="7024688" y="4783931"/>
                  <a:ext cx="85725" cy="64294"/>
                </a:xfrm>
                <a:custGeom>
                  <a:avLst/>
                  <a:gdLst/>
                  <a:ahLst/>
                  <a:cxnLst/>
                  <a:rect l="l" t="t" r="r" b="b"/>
                  <a:pathLst>
                    <a:path w="85725" h="64294">
                      <a:moveTo>
                        <a:pt x="0" y="7144"/>
                      </a:moveTo>
                      <a:lnTo>
                        <a:pt x="0" y="21431"/>
                      </a:lnTo>
                      <a:cubicBezTo>
                        <a:pt x="0" y="45104"/>
                        <a:pt x="19190" y="64294"/>
                        <a:pt x="42862" y="64294"/>
                      </a:cubicBezTo>
                      <a:cubicBezTo>
                        <a:pt x="66535" y="64294"/>
                        <a:pt x="85725" y="45104"/>
                        <a:pt x="85725" y="21431"/>
                      </a:cubicBezTo>
                      <a:lnTo>
                        <a:pt x="85725" y="7144"/>
                      </a:lnTo>
                      <a:cubicBezTo>
                        <a:pt x="85725" y="3198"/>
                        <a:pt x="82527" y="0"/>
                        <a:pt x="78581" y="0"/>
                      </a:cubicBezTo>
                      <a:lnTo>
                        <a:pt x="7144" y="0"/>
                      </a:lnTo>
                      <a:cubicBezTo>
                        <a:pt x="3198" y="0"/>
                        <a:pt x="0" y="3198"/>
                        <a:pt x="0" y="7144"/>
                      </a:cubicBezTo>
                    </a:path>
                  </a:pathLst>
                </a:custGeom>
                <a:noFill/>
                <a:ln w="14288">
                  <a:solidFill>
                    <a:srgbClr val="92301C"/>
                  </a:solidFill>
                </a:ln>
              </p:spPr>
            </p:sp>
          </p:grpSp>
          <p:sp>
            <p:nvSpPr>
              <p:cNvPr id="251" name="TextBox 251"/>
              <p:cNvSpPr txBox="1"/>
              <p:nvPr/>
            </p:nvSpPr>
            <p:spPr>
              <a:xfrm>
                <a:off x="7310438" y="4793218"/>
                <a:ext cx="472618" cy="169069"/>
              </a:xfrm>
              <a:prstGeom prst="rect">
                <a:avLst/>
              </a:prstGeom>
              <a:noFill/>
              <a:ln>
                <a:noFill/>
              </a:ln>
            </p:spPr>
            <p:txBody>
              <a:bodyPr wrap="none" lIns="0" tIns="0" rIns="0" bIns="0" anchor="t" anchorCtr="0">
                <a:spAutoFit/>
              </a:bodyPr>
              <a:lstStyle/>
              <a:p>
                <a:pPr algn="l"/>
                <a:r>
                  <a:rPr lang="zh-CN" sz="860" b="1" dirty="0">
                    <a:solidFill>
                      <a:srgbClr val="6B1B0B"/>
                    </a:solidFill>
                    <a:latin typeface="+mn-lt"/>
                    <a:ea typeface="+mn-ea"/>
                    <a:cs typeface="+mn-cs"/>
                  </a:rPr>
                  <a:t>久期调整</a:t>
                </a:r>
              </a:p>
            </p:txBody>
          </p:sp>
          <p:sp>
            <p:nvSpPr>
              <p:cNvPr id="252" name="TextBox 252"/>
              <p:cNvSpPr txBox="1"/>
              <p:nvPr/>
            </p:nvSpPr>
            <p:spPr>
              <a:xfrm>
                <a:off x="8243888" y="4731782"/>
                <a:ext cx="1464234"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适度缩短资产久期，降低再投资风险</a:t>
                </a:r>
              </a:p>
            </p:txBody>
          </p:sp>
          <p:sp>
            <p:nvSpPr>
              <p:cNvPr id="253" name="TextBox 253"/>
              <p:cNvSpPr txBox="1"/>
              <p:nvPr/>
            </p:nvSpPr>
            <p:spPr>
              <a:xfrm>
                <a:off x="8243888" y="4884182"/>
                <a:ext cx="1464234"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优化负债久期结构，提升期限匹配度</a:t>
                </a:r>
              </a:p>
            </p:txBody>
          </p:sp>
        </p:grpSp>
      </p:grpSp>
      <p:grpSp>
        <p:nvGrpSpPr>
          <p:cNvPr id="258" name="bottom-head"/>
          <p:cNvGrpSpPr/>
          <p:nvPr/>
        </p:nvGrpSpPr>
        <p:grpSpPr>
          <a:xfrm>
            <a:off x="190500" y="5257800"/>
            <a:ext cx="6534150" cy="272987"/>
            <a:chOff x="190500" y="5257800"/>
            <a:chExt cx="6534150" cy="272987"/>
          </a:xfrm>
        </p:grpSpPr>
        <p:sp>
          <p:nvSpPr>
            <p:cNvPr id="256" name="Rectangle 256"/>
            <p:cNvSpPr/>
            <p:nvPr/>
          </p:nvSpPr>
          <p:spPr>
            <a:xfrm>
              <a:off x="190500" y="5257800"/>
              <a:ext cx="6534150" cy="266700"/>
            </a:xfrm>
            <a:prstGeom prst="rect">
              <a:avLst/>
            </a:prstGeom>
            <a:gradFill>
              <a:gsLst>
                <a:gs pos="0">
                  <a:srgbClr val="92301C"/>
                </a:gs>
                <a:gs pos="100000">
                  <a:srgbClr val="B7533F"/>
                </a:gs>
              </a:gsLst>
              <a:lin ang="0" scaled="1"/>
            </a:gradFill>
            <a:ln>
              <a:noFill/>
            </a:ln>
          </p:spPr>
        </p:sp>
        <p:sp>
          <p:nvSpPr>
            <p:cNvPr id="257" name="TextBox 257"/>
            <p:cNvSpPr txBox="1"/>
            <p:nvPr/>
          </p:nvSpPr>
          <p:spPr>
            <a:xfrm>
              <a:off x="318516" y="5325428"/>
              <a:ext cx="717423"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治理与控制</a:t>
              </a:r>
            </a:p>
          </p:txBody>
        </p:sp>
      </p:grpSp>
      <p:grpSp>
        <p:nvGrpSpPr>
          <p:cNvPr id="294" name="bottom-cards"/>
          <p:cNvGrpSpPr/>
          <p:nvPr/>
        </p:nvGrpSpPr>
        <p:grpSpPr>
          <a:xfrm>
            <a:off x="190500" y="5562600"/>
            <a:ext cx="6534150" cy="1009650"/>
            <a:chOff x="190500" y="5562600"/>
            <a:chExt cx="6534150" cy="1009650"/>
          </a:xfrm>
        </p:grpSpPr>
        <p:grpSp>
          <p:nvGrpSpPr>
            <p:cNvPr id="271" name="bc-1"/>
            <p:cNvGrpSpPr/>
            <p:nvPr/>
          </p:nvGrpSpPr>
          <p:grpSpPr>
            <a:xfrm>
              <a:off x="190500" y="5562600"/>
              <a:ext cx="2057400" cy="1009650"/>
              <a:chOff x="190500" y="5562600"/>
              <a:chExt cx="2057400" cy="1009650"/>
            </a:xfrm>
          </p:grpSpPr>
          <p:sp>
            <p:nvSpPr>
              <p:cNvPr id="259" name="Rectangle 259"/>
              <p:cNvSpPr/>
              <p:nvPr/>
            </p:nvSpPr>
            <p:spPr>
              <a:xfrm>
                <a:off x="190500" y="5562600"/>
                <a:ext cx="2057400" cy="1009650"/>
              </a:xfrm>
              <a:prstGeom prst="roundRect">
                <a:avLst>
                  <a:gd name="adj" fmla="val 5660"/>
                </a:avLst>
              </a:prstGeom>
              <a:solidFill>
                <a:srgbClr val="F6F9FD"/>
              </a:solidFill>
              <a:ln w="9525">
                <a:solidFill>
                  <a:srgbClr val="CFDFEE"/>
                </a:solidFill>
              </a:ln>
            </p:spPr>
          </p:sp>
          <p:grpSp>
            <p:nvGrpSpPr>
              <p:cNvPr id="266" name="Group 266"/>
              <p:cNvGrpSpPr/>
              <p:nvPr/>
            </p:nvGrpSpPr>
            <p:grpSpPr>
              <a:xfrm>
                <a:off x="314325" y="5705475"/>
                <a:ext cx="171450" cy="171450"/>
                <a:chOff x="314325" y="5705475"/>
                <a:chExt cx="171450" cy="171450"/>
              </a:xfrm>
            </p:grpSpPr>
            <p:sp>
              <p:nvSpPr>
                <p:cNvPr id="260" name="Freeform 260"/>
                <p:cNvSpPr/>
                <p:nvPr/>
              </p:nvSpPr>
              <p:spPr>
                <a:xfrm>
                  <a:off x="381000" y="5781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2301C"/>
                  </a:solidFill>
                </a:ln>
              </p:spPr>
            </p:sp>
            <p:sp>
              <p:nvSpPr>
                <p:cNvPr id="261" name="Freeform 261"/>
                <p:cNvSpPr/>
                <p:nvPr/>
              </p:nvSpPr>
              <p:spPr>
                <a:xfrm>
                  <a:off x="361950" y="58483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92301C"/>
                  </a:solidFill>
                </a:ln>
              </p:spPr>
            </p:sp>
            <p:sp>
              <p:nvSpPr>
                <p:cNvPr id="262" name="Freeform 262"/>
                <p:cNvSpPr/>
                <p:nvPr/>
              </p:nvSpPr>
              <p:spPr>
                <a:xfrm>
                  <a:off x="428625" y="5705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2301C"/>
                  </a:solidFill>
                </a:ln>
              </p:spPr>
            </p:sp>
            <p:sp>
              <p:nvSpPr>
                <p:cNvPr id="263" name="Freeform 263"/>
                <p:cNvSpPr/>
                <p:nvPr/>
              </p:nvSpPr>
              <p:spPr>
                <a:xfrm>
                  <a:off x="447675" y="57721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92301C"/>
                  </a:solidFill>
                </a:ln>
              </p:spPr>
            </p:sp>
            <p:sp>
              <p:nvSpPr>
                <p:cNvPr id="264" name="Freeform 264"/>
                <p:cNvSpPr/>
                <p:nvPr/>
              </p:nvSpPr>
              <p:spPr>
                <a:xfrm>
                  <a:off x="333375" y="5705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92301C"/>
                  </a:solidFill>
                </a:ln>
              </p:spPr>
            </p:sp>
            <p:sp>
              <p:nvSpPr>
                <p:cNvPr id="265" name="Freeform 265"/>
                <p:cNvSpPr/>
                <p:nvPr/>
              </p:nvSpPr>
              <p:spPr>
                <a:xfrm>
                  <a:off x="314325" y="57721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92301C"/>
                  </a:solidFill>
                </a:ln>
              </p:spPr>
            </p:sp>
          </p:grpSp>
          <p:sp>
            <p:nvSpPr>
              <p:cNvPr id="267" name="TextBox 267"/>
              <p:cNvSpPr txBox="1"/>
              <p:nvPr/>
            </p:nvSpPr>
            <p:spPr>
              <a:xfrm>
                <a:off x="585788" y="5741670"/>
                <a:ext cx="735668"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j-lt"/>
                    <a:ea typeface="+mj-ea"/>
                    <a:cs typeface="+mj-cs"/>
                  </a:rPr>
                  <a:t xml:space="preserve">ALCO审批　</a:t>
                </a:r>
              </a:p>
            </p:txBody>
          </p:sp>
          <p:sp>
            <p:nvSpPr>
              <p:cNvPr id="268" name="TextBox 268"/>
              <p:cNvSpPr txBox="1"/>
              <p:nvPr/>
            </p:nvSpPr>
            <p:spPr>
              <a:xfrm>
                <a:off x="261938" y="6008132"/>
                <a:ext cx="94729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提交资产负债建议方案</a:t>
                </a:r>
              </a:p>
            </p:txBody>
          </p:sp>
          <p:sp>
            <p:nvSpPr>
              <p:cNvPr id="269" name="TextBox 269"/>
              <p:cNvSpPr txBox="1"/>
              <p:nvPr/>
            </p:nvSpPr>
            <p:spPr>
              <a:xfrm>
                <a:off x="261938" y="616053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评估影响与风险</a:t>
                </a:r>
              </a:p>
            </p:txBody>
          </p:sp>
          <p:sp>
            <p:nvSpPr>
              <p:cNvPr id="270" name="TextBox 270"/>
              <p:cNvSpPr txBox="1"/>
              <p:nvPr/>
            </p:nvSpPr>
            <p:spPr>
              <a:xfrm>
                <a:off x="261938" y="6312932"/>
                <a:ext cx="1514294"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由资产负债委员会(ALCO)审批确认　</a:t>
                </a:r>
              </a:p>
            </p:txBody>
          </p:sp>
        </p:grpSp>
        <p:sp>
          <p:nvSpPr>
            <p:cNvPr id="272" name="Polygon 272"/>
            <p:cNvSpPr/>
            <p:nvPr/>
          </p:nvSpPr>
          <p:spPr>
            <a:xfrm>
              <a:off x="2286000" y="6000750"/>
              <a:ext cx="95250" cy="171450"/>
            </a:xfrm>
            <a:custGeom>
              <a:avLst/>
              <a:gdLst/>
              <a:ahLst/>
              <a:cxnLst/>
              <a:rect l="l" t="t" r="r" b="b"/>
              <a:pathLst>
                <a:path w="95250" h="171450">
                  <a:moveTo>
                    <a:pt x="0" y="0"/>
                  </a:moveTo>
                  <a:lnTo>
                    <a:pt x="0" y="171450"/>
                  </a:lnTo>
                  <a:lnTo>
                    <a:pt x="95250" y="85725"/>
                  </a:lnTo>
                  <a:close/>
                </a:path>
              </a:pathLst>
            </a:custGeom>
            <a:solidFill>
              <a:srgbClr val="E3B3A9"/>
            </a:solidFill>
            <a:ln>
              <a:noFill/>
            </a:ln>
          </p:spPr>
        </p:sp>
        <p:grpSp>
          <p:nvGrpSpPr>
            <p:cNvPr id="283" name="bc-2"/>
            <p:cNvGrpSpPr/>
            <p:nvPr/>
          </p:nvGrpSpPr>
          <p:grpSpPr>
            <a:xfrm>
              <a:off x="2428875" y="5562600"/>
              <a:ext cx="2057400" cy="1009650"/>
              <a:chOff x="2428875" y="5562600"/>
              <a:chExt cx="2057400" cy="1009650"/>
            </a:xfrm>
          </p:grpSpPr>
          <p:sp>
            <p:nvSpPr>
              <p:cNvPr id="273" name="Rectangle 273"/>
              <p:cNvSpPr/>
              <p:nvPr/>
            </p:nvSpPr>
            <p:spPr>
              <a:xfrm>
                <a:off x="2428875" y="5562600"/>
                <a:ext cx="2057400" cy="1009650"/>
              </a:xfrm>
              <a:prstGeom prst="roundRect">
                <a:avLst>
                  <a:gd name="adj" fmla="val 5660"/>
                </a:avLst>
              </a:prstGeom>
              <a:solidFill>
                <a:srgbClr val="F6F9FD"/>
              </a:solidFill>
              <a:ln w="9525">
                <a:solidFill>
                  <a:srgbClr val="CFDFEE"/>
                </a:solidFill>
              </a:ln>
            </p:spPr>
          </p:sp>
          <p:grpSp>
            <p:nvGrpSpPr>
              <p:cNvPr id="278" name="Group 278"/>
              <p:cNvGrpSpPr/>
              <p:nvPr/>
            </p:nvGrpSpPr>
            <p:grpSpPr>
              <a:xfrm>
                <a:off x="2552700" y="5705475"/>
                <a:ext cx="152400" cy="180975"/>
                <a:chOff x="2552700" y="5705475"/>
                <a:chExt cx="152400" cy="180975"/>
              </a:xfrm>
            </p:grpSpPr>
            <p:sp>
              <p:nvSpPr>
                <p:cNvPr id="274" name="Freeform 274"/>
                <p:cNvSpPr/>
                <p:nvPr/>
              </p:nvSpPr>
              <p:spPr>
                <a:xfrm>
                  <a:off x="2657475" y="57054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92301C"/>
                  </a:solidFill>
                </a:ln>
              </p:spPr>
            </p:sp>
            <p:sp>
              <p:nvSpPr>
                <p:cNvPr id="275" name="Freeform 275"/>
                <p:cNvSpPr/>
                <p:nvPr/>
              </p:nvSpPr>
              <p:spPr>
                <a:xfrm>
                  <a:off x="2571750" y="5705475"/>
                  <a:ext cx="133350" cy="171450"/>
                </a:xfrm>
                <a:custGeom>
                  <a:avLst/>
                  <a:gdLst/>
                  <a:ahLst/>
                  <a:cxnLst/>
                  <a:rect l="l" t="t" r="r" b="b"/>
                  <a:pathLst>
                    <a:path w="133350" h="171450">
                      <a:moveTo>
                        <a:pt x="0" y="47625"/>
                      </a:moveTo>
                      <a:lnTo>
                        <a:pt x="0" y="19050"/>
                      </a:lnTo>
                      <a:cubicBezTo>
                        <a:pt x="0" y="8529"/>
                        <a:pt x="8529" y="0"/>
                        <a:pt x="19050" y="0"/>
                      </a:cubicBezTo>
                      <a:lnTo>
                        <a:pt x="85725" y="0"/>
                      </a:lnTo>
                      <a:lnTo>
                        <a:pt x="133350" y="47625"/>
                      </a:lnTo>
                      <a:lnTo>
                        <a:pt x="133350" y="152400"/>
                      </a:lnTo>
                      <a:cubicBezTo>
                        <a:pt x="133350" y="162921"/>
                        <a:pt x="124821" y="171450"/>
                        <a:pt x="114300" y="171450"/>
                      </a:cubicBezTo>
                      <a:lnTo>
                        <a:pt x="66675" y="171450"/>
                      </a:lnTo>
                    </a:path>
                  </a:pathLst>
                </a:custGeom>
                <a:noFill/>
                <a:ln w="19050">
                  <a:solidFill>
                    <a:srgbClr val="92301C"/>
                  </a:solidFill>
                </a:ln>
              </p:spPr>
            </p:sp>
            <p:sp>
              <p:nvSpPr>
                <p:cNvPr id="276" name="Freeform 276"/>
                <p:cNvSpPr/>
                <p:nvPr/>
              </p:nvSpPr>
              <p:spPr>
                <a:xfrm>
                  <a:off x="2552700" y="578167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92301C"/>
                  </a:solidFill>
                </a:ln>
              </p:spPr>
            </p:sp>
            <p:sp>
              <p:nvSpPr>
                <p:cNvPr id="277" name="Freeform 277"/>
                <p:cNvSpPr/>
                <p:nvPr/>
              </p:nvSpPr>
              <p:spPr>
                <a:xfrm>
                  <a:off x="2552700" y="5838825"/>
                  <a:ext cx="57150" cy="47625"/>
                </a:xfrm>
                <a:custGeom>
                  <a:avLst/>
                  <a:gdLst/>
                  <a:ahLst/>
                  <a:cxnLst/>
                  <a:rect l="l" t="t" r="r" b="b"/>
                  <a:pathLst>
                    <a:path w="57150" h="47625">
                      <a:moveTo>
                        <a:pt x="14288" y="0"/>
                      </a:moveTo>
                      <a:lnTo>
                        <a:pt x="0" y="47625"/>
                      </a:lnTo>
                      <a:lnTo>
                        <a:pt x="28575" y="33338"/>
                      </a:lnTo>
                      <a:lnTo>
                        <a:pt x="57150" y="47625"/>
                      </a:lnTo>
                      <a:lnTo>
                        <a:pt x="42862" y="0"/>
                      </a:lnTo>
                    </a:path>
                  </a:pathLst>
                </a:custGeom>
                <a:noFill/>
                <a:ln w="19050">
                  <a:solidFill>
                    <a:srgbClr val="92301C"/>
                  </a:solidFill>
                </a:ln>
              </p:spPr>
            </p:sp>
          </p:grpSp>
          <p:sp>
            <p:nvSpPr>
              <p:cNvPr id="279" name="TextBox 279"/>
              <p:cNvSpPr txBox="1"/>
              <p:nvPr/>
            </p:nvSpPr>
            <p:spPr>
              <a:xfrm>
                <a:off x="2824162" y="57416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模型验证</a:t>
                </a:r>
              </a:p>
            </p:txBody>
          </p:sp>
          <p:sp>
            <p:nvSpPr>
              <p:cNvPr id="280" name="TextBox 280"/>
              <p:cNvSpPr txBox="1"/>
              <p:nvPr/>
            </p:nvSpPr>
            <p:spPr>
              <a:xfrm>
                <a:off x="2500312" y="6008132"/>
                <a:ext cx="86113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验证模型假设与参数</a:t>
                </a:r>
              </a:p>
            </p:txBody>
          </p:sp>
          <p:sp>
            <p:nvSpPr>
              <p:cNvPr id="281" name="TextBox 281"/>
              <p:cNvSpPr txBox="1"/>
              <p:nvPr/>
            </p:nvSpPr>
            <p:spPr>
              <a:xfrm>
                <a:off x="2500312" y="6160532"/>
                <a:ext cx="77497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持续跟踪预测误差</a:t>
                </a:r>
              </a:p>
            </p:txBody>
          </p:sp>
          <p:sp>
            <p:nvSpPr>
              <p:cNvPr id="282" name="TextBox 282"/>
              <p:cNvSpPr txBox="1"/>
              <p:nvPr/>
            </p:nvSpPr>
            <p:spPr>
              <a:xfrm>
                <a:off x="2500312" y="631293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定期进行模型回溯与优化</a:t>
                </a:r>
              </a:p>
            </p:txBody>
          </p:sp>
        </p:grpSp>
        <p:sp>
          <p:nvSpPr>
            <p:cNvPr id="284" name="Polygon 284"/>
            <p:cNvSpPr/>
            <p:nvPr/>
          </p:nvSpPr>
          <p:spPr>
            <a:xfrm>
              <a:off x="4524375" y="6000750"/>
              <a:ext cx="95250" cy="171450"/>
            </a:xfrm>
            <a:custGeom>
              <a:avLst/>
              <a:gdLst/>
              <a:ahLst/>
              <a:cxnLst/>
              <a:rect l="l" t="t" r="r" b="b"/>
              <a:pathLst>
                <a:path w="95250" h="171450">
                  <a:moveTo>
                    <a:pt x="0" y="0"/>
                  </a:moveTo>
                  <a:lnTo>
                    <a:pt x="0" y="171450"/>
                  </a:lnTo>
                  <a:lnTo>
                    <a:pt x="95250" y="85725"/>
                  </a:lnTo>
                  <a:close/>
                </a:path>
              </a:pathLst>
            </a:custGeom>
            <a:solidFill>
              <a:srgbClr val="E3B3A9"/>
            </a:solidFill>
            <a:ln>
              <a:noFill/>
            </a:ln>
          </p:spPr>
        </p:sp>
        <p:grpSp>
          <p:nvGrpSpPr>
            <p:cNvPr id="293" name="bc-3"/>
            <p:cNvGrpSpPr/>
            <p:nvPr/>
          </p:nvGrpSpPr>
          <p:grpSpPr>
            <a:xfrm>
              <a:off x="4667250" y="5562600"/>
              <a:ext cx="2057400" cy="1009650"/>
              <a:chOff x="4667250" y="5562600"/>
              <a:chExt cx="2057400" cy="1009650"/>
            </a:xfrm>
          </p:grpSpPr>
          <p:sp>
            <p:nvSpPr>
              <p:cNvPr id="285" name="Rectangle 285"/>
              <p:cNvSpPr/>
              <p:nvPr/>
            </p:nvSpPr>
            <p:spPr>
              <a:xfrm>
                <a:off x="4667250" y="5562600"/>
                <a:ext cx="2057400" cy="1009650"/>
              </a:xfrm>
              <a:prstGeom prst="roundRect">
                <a:avLst>
                  <a:gd name="adj" fmla="val 5660"/>
                </a:avLst>
              </a:prstGeom>
              <a:solidFill>
                <a:srgbClr val="F6F9FD"/>
              </a:solidFill>
              <a:ln w="9525">
                <a:solidFill>
                  <a:srgbClr val="CFDFEE"/>
                </a:solidFill>
              </a:ln>
            </p:spPr>
          </p:sp>
          <p:grpSp>
            <p:nvGrpSpPr>
              <p:cNvPr id="288" name="Group 288"/>
              <p:cNvGrpSpPr/>
              <p:nvPr/>
            </p:nvGrpSpPr>
            <p:grpSpPr>
              <a:xfrm>
                <a:off x="4800600" y="5734050"/>
                <a:ext cx="152400" cy="133350"/>
                <a:chOff x="4800600" y="5734050"/>
                <a:chExt cx="152400" cy="133350"/>
              </a:xfrm>
            </p:grpSpPr>
            <p:sp>
              <p:nvSpPr>
                <p:cNvPr id="286" name="Freeform 286"/>
                <p:cNvSpPr/>
                <p:nvPr/>
              </p:nvSpPr>
              <p:spPr>
                <a:xfrm>
                  <a:off x="4800600" y="5857875"/>
                  <a:ext cx="152400" cy="9525"/>
                </a:xfrm>
                <a:custGeom>
                  <a:avLst/>
                  <a:gdLst/>
                  <a:ahLst/>
                  <a:cxnLst/>
                  <a:rect l="l" t="t" r="r" b="b"/>
                  <a:pathLst>
                    <a:path w="152400" h="9525">
                      <a:moveTo>
                        <a:pt x="0" y="0"/>
                      </a:moveTo>
                      <a:lnTo>
                        <a:pt x="152400" y="0"/>
                      </a:lnTo>
                    </a:path>
                  </a:pathLst>
                </a:custGeom>
                <a:noFill/>
                <a:ln w="19050">
                  <a:solidFill>
                    <a:srgbClr val="92301C"/>
                  </a:solidFill>
                </a:ln>
              </p:spPr>
            </p:sp>
            <p:sp>
              <p:nvSpPr>
                <p:cNvPr id="287" name="Freeform 287"/>
                <p:cNvSpPr/>
                <p:nvPr/>
              </p:nvSpPr>
              <p:spPr>
                <a:xfrm>
                  <a:off x="4800600" y="57340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92301C"/>
                  </a:solidFill>
                </a:ln>
              </p:spPr>
            </p:sp>
          </p:grpSp>
          <p:sp>
            <p:nvSpPr>
              <p:cNvPr id="289" name="TextBox 289"/>
              <p:cNvSpPr txBox="1"/>
              <p:nvPr/>
            </p:nvSpPr>
            <p:spPr>
              <a:xfrm>
                <a:off x="5062538" y="57416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压力测试</a:t>
                </a:r>
              </a:p>
            </p:txBody>
          </p:sp>
          <p:sp>
            <p:nvSpPr>
              <p:cNvPr id="290" name="TextBox 290"/>
              <p:cNvSpPr txBox="1"/>
              <p:nvPr/>
            </p:nvSpPr>
            <p:spPr>
              <a:xfrm>
                <a:off x="4738688" y="6008132"/>
                <a:ext cx="86113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设计多情景压力测试</a:t>
                </a:r>
              </a:p>
            </p:txBody>
          </p:sp>
          <p:sp>
            <p:nvSpPr>
              <p:cNvPr id="291" name="TextBox 291"/>
              <p:cNvSpPr txBox="1"/>
              <p:nvPr/>
            </p:nvSpPr>
            <p:spPr>
              <a:xfrm>
                <a:off x="4738688" y="6160532"/>
                <a:ext cx="120576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评估极端情况下的流动性韧性</a:t>
                </a:r>
              </a:p>
            </p:txBody>
          </p:sp>
          <p:sp>
            <p:nvSpPr>
              <p:cNvPr id="292" name="TextBox 292"/>
              <p:cNvSpPr txBox="1"/>
              <p:nvPr/>
            </p:nvSpPr>
            <p:spPr>
              <a:xfrm>
                <a:off x="4738688" y="631293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输出应急预案与处置措施</a:t>
                </a:r>
              </a:p>
            </p:txBody>
          </p:sp>
        </p:grpSp>
      </p:grpSp>
      <p:grpSp>
        <p:nvGrpSpPr>
          <p:cNvPr id="297" name="kpi-head"/>
          <p:cNvGrpSpPr/>
          <p:nvPr/>
        </p:nvGrpSpPr>
        <p:grpSpPr>
          <a:xfrm>
            <a:off x="6819900" y="5257800"/>
            <a:ext cx="5181600" cy="272987"/>
            <a:chOff x="6819900" y="5257800"/>
            <a:chExt cx="5181600" cy="272987"/>
          </a:xfrm>
        </p:grpSpPr>
        <p:sp>
          <p:nvSpPr>
            <p:cNvPr id="295" name="Rectangle 295"/>
            <p:cNvSpPr/>
            <p:nvPr/>
          </p:nvSpPr>
          <p:spPr>
            <a:xfrm>
              <a:off x="6819900" y="5257800"/>
              <a:ext cx="5181600" cy="266700"/>
            </a:xfrm>
            <a:prstGeom prst="rect">
              <a:avLst/>
            </a:prstGeom>
            <a:gradFill>
              <a:gsLst>
                <a:gs pos="0">
                  <a:srgbClr val="92301C"/>
                </a:gs>
                <a:gs pos="100000">
                  <a:srgbClr val="B7533F"/>
                </a:gs>
              </a:gsLst>
              <a:lin ang="0" scaled="1"/>
            </a:gradFill>
            <a:ln>
              <a:noFill/>
            </a:ln>
          </p:spPr>
        </p:sp>
        <p:sp>
          <p:nvSpPr>
            <p:cNvPr id="296" name="TextBox 296"/>
            <p:cNvSpPr txBox="1"/>
            <p:nvPr/>
          </p:nvSpPr>
          <p:spPr>
            <a:xfrm>
              <a:off x="6947916" y="5325428"/>
              <a:ext cx="123840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关键成效</a:t>
              </a:r>
              <a:r>
                <a:rPr lang="zh-CN" sz="820" dirty="0">
                  <a:solidFill>
                    <a:srgbClr val="FFFFFF"/>
                  </a:solidFill>
                  <a:latin typeface="+mn-lt"/>
                  <a:ea typeface="+mn-ea"/>
                  <a:cs typeface="+mn-cs"/>
                </a:rPr>
                <a:t>（示例测算）</a:t>
              </a:r>
            </a:p>
          </p:txBody>
        </p:sp>
      </p:grpSp>
      <p:grpSp>
        <p:nvGrpSpPr>
          <p:cNvPr id="318" name="kpi-cards"/>
          <p:cNvGrpSpPr/>
          <p:nvPr/>
        </p:nvGrpSpPr>
        <p:grpSpPr>
          <a:xfrm>
            <a:off x="6819900" y="5562600"/>
            <a:ext cx="5181600" cy="685800"/>
            <a:chOff x="6819900" y="5562600"/>
            <a:chExt cx="5181600" cy="685800"/>
          </a:xfrm>
        </p:grpSpPr>
        <p:sp>
          <p:nvSpPr>
            <p:cNvPr id="298" name="Rectangle 298"/>
            <p:cNvSpPr/>
            <p:nvPr/>
          </p:nvSpPr>
          <p:spPr>
            <a:xfrm>
              <a:off x="6819900" y="5562600"/>
              <a:ext cx="2533650" cy="685800"/>
            </a:xfrm>
            <a:prstGeom prst="roundRect">
              <a:avLst>
                <a:gd name="adj" fmla="val 8333"/>
              </a:avLst>
            </a:prstGeom>
            <a:solidFill>
              <a:srgbClr val="EEF5FB"/>
            </a:solidFill>
            <a:ln>
              <a:noFill/>
            </a:ln>
          </p:spPr>
        </p:sp>
        <p:sp>
          <p:nvSpPr>
            <p:cNvPr id="299" name="Ellipse 299"/>
            <p:cNvSpPr/>
            <p:nvPr/>
          </p:nvSpPr>
          <p:spPr>
            <a:xfrm>
              <a:off x="6924675" y="5762625"/>
              <a:ext cx="285750" cy="285750"/>
            </a:xfrm>
            <a:prstGeom prst="ellipse">
              <a:avLst/>
            </a:prstGeom>
            <a:solidFill>
              <a:srgbClr val="92301C"/>
            </a:solidFill>
            <a:ln>
              <a:noFill/>
            </a:ln>
          </p:spPr>
        </p:sp>
        <p:grpSp>
          <p:nvGrpSpPr>
            <p:cNvPr id="303" name="Group 303"/>
            <p:cNvGrpSpPr/>
            <p:nvPr/>
          </p:nvGrpSpPr>
          <p:grpSpPr>
            <a:xfrm>
              <a:off x="6996112" y="5834062"/>
              <a:ext cx="142875" cy="142875"/>
              <a:chOff x="6996112" y="5834062"/>
              <a:chExt cx="142875" cy="142875"/>
            </a:xfrm>
          </p:grpSpPr>
          <p:sp>
            <p:nvSpPr>
              <p:cNvPr id="300" name="Freeform 300"/>
              <p:cNvSpPr/>
              <p:nvPr/>
            </p:nvSpPr>
            <p:spPr>
              <a:xfrm>
                <a:off x="7059612" y="58975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301" name="Freeform 301"/>
              <p:cNvSpPr/>
              <p:nvPr/>
            </p:nvSpPr>
            <p:spPr>
              <a:xfrm>
                <a:off x="7027862" y="58658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302" name="Freeform 302"/>
              <p:cNvSpPr/>
              <p:nvPr/>
            </p:nvSpPr>
            <p:spPr>
              <a:xfrm>
                <a:off x="6996112" y="58340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304" name="TextBox 304"/>
            <p:cNvSpPr txBox="1"/>
            <p:nvPr/>
          </p:nvSpPr>
          <p:spPr>
            <a:xfrm>
              <a:off x="7310438" y="5679043"/>
              <a:ext cx="472618" cy="169069"/>
            </a:xfrm>
            <a:prstGeom prst="rect">
              <a:avLst/>
            </a:prstGeom>
            <a:noFill/>
            <a:ln>
              <a:noFill/>
            </a:ln>
          </p:spPr>
          <p:txBody>
            <a:bodyPr wrap="none" lIns="0" tIns="0" rIns="0" bIns="0" anchor="t" anchorCtr="0">
              <a:spAutoFit/>
            </a:bodyPr>
            <a:lstStyle/>
            <a:p>
              <a:pPr algn="l"/>
              <a:r>
                <a:rPr lang="zh-CN" sz="860" b="1" dirty="0">
                  <a:solidFill>
                    <a:srgbClr val="52352F"/>
                  </a:solidFill>
                  <a:latin typeface="+mn-lt"/>
                  <a:ea typeface="+mn-ea"/>
                  <a:cs typeface="+mn-cs"/>
                </a:rPr>
                <a:t>预测误差</a:t>
              </a:r>
            </a:p>
          </p:txBody>
        </p:sp>
        <p:sp>
          <p:nvSpPr>
            <p:cNvPr id="305" name="TextBox 305"/>
            <p:cNvSpPr txBox="1"/>
            <p:nvPr/>
          </p:nvSpPr>
          <p:spPr>
            <a:xfrm>
              <a:off x="7306056" y="5882640"/>
              <a:ext cx="826315" cy="352044"/>
            </a:xfrm>
            <a:prstGeom prst="rect">
              <a:avLst/>
            </a:prstGeom>
            <a:noFill/>
            <a:ln>
              <a:noFill/>
            </a:ln>
          </p:spPr>
          <p:txBody>
            <a:bodyPr wrap="none" lIns="0" tIns="0" rIns="0" bIns="0" anchor="t" anchorCtr="0">
              <a:spAutoFit/>
            </a:bodyPr>
            <a:lstStyle/>
            <a:p>
              <a:pPr algn="l"/>
              <a:r>
                <a:rPr lang="zh-CN" sz="1800" b="1" dirty="0">
                  <a:solidFill>
                    <a:srgbClr val="6B1B0B"/>
                  </a:solidFill>
                  <a:latin typeface="+mj-lt"/>
                  <a:ea typeface="+mj-ea"/>
                  <a:cs typeface="+mj-cs"/>
                </a:rPr>
                <a:t xml:space="preserve">-25%　</a:t>
              </a:r>
            </a:p>
          </p:txBody>
        </p:sp>
        <p:sp>
          <p:nvSpPr>
            <p:cNvPr id="306" name="TextBox 306"/>
            <p:cNvSpPr txBox="1"/>
            <p:nvPr/>
          </p:nvSpPr>
          <p:spPr>
            <a:xfrm>
              <a:off x="8091488" y="6008132"/>
              <a:ext cx="526466" cy="126206"/>
            </a:xfrm>
            <a:prstGeom prst="rect">
              <a:avLst/>
            </a:prstGeom>
            <a:noFill/>
            <a:ln>
              <a:noFill/>
            </a:ln>
          </p:spPr>
          <p:txBody>
            <a:bodyPr wrap="none" lIns="0" tIns="0" rIns="0" bIns="0" anchor="t" anchorCtr="0">
              <a:spAutoFit/>
            </a:bodyPr>
            <a:lstStyle/>
            <a:p>
              <a:pPr algn="l"/>
              <a:r>
                <a:rPr lang="zh-CN" sz="640" dirty="0">
                  <a:solidFill>
                    <a:srgbClr val="8C716B"/>
                  </a:solidFill>
                  <a:latin typeface="+mn-lt"/>
                  <a:ea typeface="+mn-ea"/>
                  <a:cs typeface="+mn-cs"/>
                </a:rPr>
                <a:t>（示例测算）</a:t>
              </a:r>
            </a:p>
          </p:txBody>
        </p:sp>
        <p:sp>
          <p:nvSpPr>
            <p:cNvPr id="307" name="Rectangle 307"/>
            <p:cNvSpPr/>
            <p:nvPr/>
          </p:nvSpPr>
          <p:spPr>
            <a:xfrm>
              <a:off x="9467850" y="5562600"/>
              <a:ext cx="2533650" cy="685800"/>
            </a:xfrm>
            <a:prstGeom prst="roundRect">
              <a:avLst>
                <a:gd name="adj" fmla="val 8333"/>
              </a:avLst>
            </a:prstGeom>
            <a:solidFill>
              <a:srgbClr val="EEF5FB"/>
            </a:solidFill>
            <a:ln>
              <a:noFill/>
            </a:ln>
          </p:spPr>
        </p:sp>
        <p:sp>
          <p:nvSpPr>
            <p:cNvPr id="308" name="Ellipse 308"/>
            <p:cNvSpPr/>
            <p:nvPr/>
          </p:nvSpPr>
          <p:spPr>
            <a:xfrm>
              <a:off x="9572625" y="5762625"/>
              <a:ext cx="285750" cy="285750"/>
            </a:xfrm>
            <a:prstGeom prst="ellipse">
              <a:avLst/>
            </a:prstGeom>
            <a:solidFill>
              <a:srgbClr val="92301C"/>
            </a:solidFill>
            <a:ln>
              <a:noFill/>
            </a:ln>
          </p:spPr>
        </p:sp>
        <p:grpSp>
          <p:nvGrpSpPr>
            <p:cNvPr id="314" name="Group 314"/>
            <p:cNvGrpSpPr/>
            <p:nvPr/>
          </p:nvGrpSpPr>
          <p:grpSpPr>
            <a:xfrm>
              <a:off x="9644062" y="5832999"/>
              <a:ext cx="142875" cy="143938"/>
              <a:chOff x="9644062" y="5832999"/>
              <a:chExt cx="142875" cy="143938"/>
            </a:xfrm>
          </p:grpSpPr>
          <p:sp>
            <p:nvSpPr>
              <p:cNvPr id="309" name="Freeform 309"/>
              <p:cNvSpPr/>
              <p:nvPr/>
            </p:nvSpPr>
            <p:spPr>
              <a:xfrm>
                <a:off x="9691687" y="58975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FFFFFF"/>
                </a:solidFill>
              </a:ln>
            </p:spPr>
          </p:sp>
          <p:sp>
            <p:nvSpPr>
              <p:cNvPr id="310" name="Freeform 310"/>
              <p:cNvSpPr/>
              <p:nvPr/>
            </p:nvSpPr>
            <p:spPr>
              <a:xfrm>
                <a:off x="9691687" y="59213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FFFFFF"/>
                </a:solidFill>
              </a:ln>
            </p:spPr>
          </p:sp>
          <p:sp>
            <p:nvSpPr>
              <p:cNvPr id="311" name="Freeform 311"/>
              <p:cNvSpPr/>
              <p:nvPr/>
            </p:nvSpPr>
            <p:spPr>
              <a:xfrm>
                <a:off x="9644062" y="58329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FFFFFF"/>
                </a:solidFill>
              </a:ln>
            </p:spPr>
          </p:sp>
          <p:sp>
            <p:nvSpPr>
              <p:cNvPr id="312" name="Freeform 312"/>
              <p:cNvSpPr/>
              <p:nvPr/>
            </p:nvSpPr>
            <p:spPr>
              <a:xfrm>
                <a:off x="9644062" y="58578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FFFFFF"/>
                </a:solidFill>
              </a:ln>
            </p:spPr>
          </p:sp>
          <p:sp>
            <p:nvSpPr>
              <p:cNvPr id="313" name="Freeform 313"/>
              <p:cNvSpPr/>
              <p:nvPr/>
            </p:nvSpPr>
            <p:spPr>
              <a:xfrm>
                <a:off x="9644062" y="58975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FFFFFF"/>
                </a:solidFill>
              </a:ln>
            </p:spPr>
          </p:sp>
        </p:grpSp>
        <p:sp>
          <p:nvSpPr>
            <p:cNvPr id="315" name="TextBox 315"/>
            <p:cNvSpPr txBox="1"/>
            <p:nvPr/>
          </p:nvSpPr>
          <p:spPr>
            <a:xfrm>
              <a:off x="9958388" y="5679043"/>
              <a:ext cx="472618" cy="169069"/>
            </a:xfrm>
            <a:prstGeom prst="rect">
              <a:avLst/>
            </a:prstGeom>
            <a:noFill/>
            <a:ln>
              <a:noFill/>
            </a:ln>
          </p:spPr>
          <p:txBody>
            <a:bodyPr wrap="none" lIns="0" tIns="0" rIns="0" bIns="0" anchor="t" anchorCtr="0">
              <a:spAutoFit/>
            </a:bodyPr>
            <a:lstStyle/>
            <a:p>
              <a:pPr algn="l"/>
              <a:r>
                <a:rPr lang="zh-CN" sz="860" b="1" dirty="0">
                  <a:solidFill>
                    <a:srgbClr val="52352F"/>
                  </a:solidFill>
                  <a:latin typeface="+mn-lt"/>
                  <a:ea typeface="+mn-ea"/>
                  <a:cs typeface="+mn-cs"/>
                </a:rPr>
                <a:t>闲置资金</a:t>
              </a:r>
            </a:p>
          </p:txBody>
        </p:sp>
        <p:sp>
          <p:nvSpPr>
            <p:cNvPr id="316" name="TextBox 316"/>
            <p:cNvSpPr txBox="1"/>
            <p:nvPr/>
          </p:nvSpPr>
          <p:spPr>
            <a:xfrm>
              <a:off x="9954006" y="5882640"/>
              <a:ext cx="826315" cy="352044"/>
            </a:xfrm>
            <a:prstGeom prst="rect">
              <a:avLst/>
            </a:prstGeom>
            <a:noFill/>
            <a:ln>
              <a:noFill/>
            </a:ln>
          </p:spPr>
          <p:txBody>
            <a:bodyPr wrap="none" lIns="0" tIns="0" rIns="0" bIns="0" anchor="t" anchorCtr="0">
              <a:spAutoFit/>
            </a:bodyPr>
            <a:lstStyle/>
            <a:p>
              <a:pPr algn="l"/>
              <a:r>
                <a:rPr lang="zh-CN" sz="1800" b="1" dirty="0">
                  <a:solidFill>
                    <a:srgbClr val="6B1B0B"/>
                  </a:solidFill>
                  <a:latin typeface="+mj-lt"/>
                  <a:ea typeface="+mj-ea"/>
                  <a:cs typeface="+mj-cs"/>
                </a:rPr>
                <a:t xml:space="preserve">-15%　</a:t>
              </a:r>
            </a:p>
          </p:txBody>
        </p:sp>
        <p:sp>
          <p:nvSpPr>
            <p:cNvPr id="317" name="TextBox 317"/>
            <p:cNvSpPr txBox="1"/>
            <p:nvPr/>
          </p:nvSpPr>
          <p:spPr>
            <a:xfrm>
              <a:off x="10739438" y="6008132"/>
              <a:ext cx="526466" cy="126206"/>
            </a:xfrm>
            <a:prstGeom prst="rect">
              <a:avLst/>
            </a:prstGeom>
            <a:noFill/>
            <a:ln>
              <a:noFill/>
            </a:ln>
          </p:spPr>
          <p:txBody>
            <a:bodyPr wrap="none" lIns="0" tIns="0" rIns="0" bIns="0" anchor="t" anchorCtr="0">
              <a:spAutoFit/>
            </a:bodyPr>
            <a:lstStyle/>
            <a:p>
              <a:pPr algn="l"/>
              <a:r>
                <a:rPr lang="zh-CN" sz="640" dirty="0">
                  <a:solidFill>
                    <a:srgbClr val="8C716B"/>
                  </a:solidFill>
                  <a:latin typeface="+mn-lt"/>
                  <a:ea typeface="+mn-ea"/>
                  <a:cs typeface="+mn-cs"/>
                </a:rPr>
                <a:t>（示例测算）</a:t>
              </a:r>
            </a:p>
          </p:txBody>
        </p:sp>
      </p:grpSp>
      <p:grpSp>
        <p:nvGrpSpPr>
          <p:cNvPr id="323" name="kpi-note"/>
          <p:cNvGrpSpPr/>
          <p:nvPr/>
        </p:nvGrpSpPr>
        <p:grpSpPr>
          <a:xfrm>
            <a:off x="6819900" y="6286500"/>
            <a:ext cx="5181600" cy="285750"/>
            <a:chOff x="6819900" y="6286500"/>
            <a:chExt cx="5181600" cy="285750"/>
          </a:xfrm>
        </p:grpSpPr>
        <p:sp>
          <p:nvSpPr>
            <p:cNvPr id="319" name="Rectangle 319"/>
            <p:cNvSpPr/>
            <p:nvPr/>
          </p:nvSpPr>
          <p:spPr>
            <a:xfrm>
              <a:off x="6819900" y="6286500"/>
              <a:ext cx="5181600" cy="285750"/>
            </a:xfrm>
            <a:prstGeom prst="roundRect">
              <a:avLst>
                <a:gd name="adj" fmla="val 20000"/>
              </a:avLst>
            </a:prstGeom>
            <a:solidFill>
              <a:srgbClr val="FCE8E4"/>
            </a:solidFill>
            <a:ln>
              <a:noFill/>
            </a:ln>
          </p:spPr>
        </p:sp>
        <p:sp>
          <p:nvSpPr>
            <p:cNvPr id="320" name="Ellipse 320"/>
            <p:cNvSpPr/>
            <p:nvPr/>
          </p:nvSpPr>
          <p:spPr>
            <a:xfrm>
              <a:off x="6934200" y="6353175"/>
              <a:ext cx="152400" cy="152400"/>
            </a:xfrm>
            <a:prstGeom prst="ellipse">
              <a:avLst/>
            </a:prstGeom>
            <a:solidFill>
              <a:srgbClr val="C8452F"/>
            </a:solidFill>
            <a:ln>
              <a:noFill/>
            </a:ln>
          </p:spPr>
        </p:sp>
        <p:sp>
          <p:nvSpPr>
            <p:cNvPr id="321" name="TextBox 321"/>
            <p:cNvSpPr txBox="1"/>
            <p:nvPr/>
          </p:nvSpPr>
          <p:spPr>
            <a:xfrm>
              <a:off x="6988827" y="6386512"/>
              <a:ext cx="43146"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a:t>
              </a:r>
            </a:p>
          </p:txBody>
        </p:sp>
        <p:sp>
          <p:nvSpPr>
            <p:cNvPr id="322" name="TextBox 322"/>
            <p:cNvSpPr txBox="1"/>
            <p:nvPr/>
          </p:nvSpPr>
          <p:spPr>
            <a:xfrm>
              <a:off x="7158038" y="6386512"/>
              <a:ext cx="2402098" cy="147638"/>
            </a:xfrm>
            <a:prstGeom prst="rect">
              <a:avLst/>
            </a:prstGeom>
            <a:noFill/>
            <a:ln>
              <a:noFill/>
            </a:ln>
          </p:spPr>
          <p:txBody>
            <a:bodyPr wrap="none" lIns="0" tIns="0" rIns="0" bIns="0" anchor="t" anchorCtr="0">
              <a:spAutoFit/>
            </a:bodyPr>
            <a:lstStyle/>
            <a:p>
              <a:pPr algn="l"/>
              <a:r>
                <a:rPr lang="zh-CN" sz="750" b="1" dirty="0">
                  <a:solidFill>
                    <a:srgbClr val="6B1B0B"/>
                  </a:solidFill>
                  <a:latin typeface="+mj-lt"/>
                  <a:ea typeface="+mj-ea"/>
                  <a:cs typeface="+mj-cs"/>
                </a:rPr>
                <a:t xml:space="preserve">所有行动建议由资产负债委员会(ALCO)授权确认。　</a:t>
              </a:r>
            </a:p>
          </p:txBody>
        </p:sp>
      </p:grpSp>
      <p:grpSp>
        <p:nvGrpSpPr>
          <p:cNvPr id="327" name="footer-band"/>
          <p:cNvGrpSpPr/>
          <p:nvPr/>
        </p:nvGrpSpPr>
        <p:grpSpPr>
          <a:xfrm>
            <a:off x="190500" y="6610350"/>
            <a:ext cx="11811000" cy="231457"/>
            <a:chOff x="190500" y="6610350"/>
            <a:chExt cx="11811000" cy="231457"/>
          </a:xfrm>
        </p:grpSpPr>
        <p:sp>
          <p:nvSpPr>
            <p:cNvPr id="324" name="Rectangle 324"/>
            <p:cNvSpPr/>
            <p:nvPr/>
          </p:nvSpPr>
          <p:spPr>
            <a:xfrm>
              <a:off x="190500" y="6610350"/>
              <a:ext cx="11811000" cy="228600"/>
            </a:xfrm>
            <a:prstGeom prst="roundRect">
              <a:avLst>
                <a:gd name="adj" fmla="val 50000"/>
              </a:avLst>
            </a:prstGeom>
            <a:solidFill>
              <a:srgbClr val="EEF5FB"/>
            </a:solidFill>
            <a:ln>
              <a:noFill/>
            </a:ln>
          </p:spPr>
        </p:sp>
        <p:sp>
          <p:nvSpPr>
            <p:cNvPr id="325" name="Line 325"/>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26" name="TextBox 326"/>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16</a:t>
              </a:r>
            </a:p>
          </p:txBody>
        </p:sp>
      </p:gr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16</a:t>
              </a:r>
            </a:p>
          </p:txBody>
        </p:sp>
        <p:sp>
          <p:nvSpPr>
            <p:cNvPr id="4" name="TextBox 4"/>
            <p:cNvSpPr txBox="1"/>
            <p:nvPr/>
          </p:nvSpPr>
          <p:spPr>
            <a:xfrm>
              <a:off x="942594" y="170498"/>
              <a:ext cx="1857375"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监管报送智能体</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9" name="col1-head"/>
          <p:cNvGrpSpPr/>
          <p:nvPr/>
        </p:nvGrpSpPr>
        <p:grpSpPr>
          <a:xfrm>
            <a:off x="190500" y="628650"/>
            <a:ext cx="2247900" cy="272987"/>
            <a:chOff x="190500" y="628650"/>
            <a:chExt cx="2247900" cy="272987"/>
          </a:xfrm>
        </p:grpSpPr>
        <p:sp>
          <p:nvSpPr>
            <p:cNvPr id="7" name="Rectangle 7"/>
            <p:cNvSpPr/>
            <p:nvPr/>
          </p:nvSpPr>
          <p:spPr>
            <a:xfrm>
              <a:off x="190500" y="628650"/>
              <a:ext cx="2247900" cy="266700"/>
            </a:xfrm>
            <a:prstGeom prst="rect">
              <a:avLst/>
            </a:prstGeom>
            <a:gradFill>
              <a:gsLst>
                <a:gs pos="0">
                  <a:srgbClr val="92301C"/>
                </a:gs>
                <a:gs pos="100000">
                  <a:srgbClr val="B7533F"/>
                </a:gs>
              </a:gsLst>
              <a:lin ang="0" scaled="1"/>
            </a:gradFill>
            <a:ln>
              <a:noFill/>
            </a:ln>
          </p:spPr>
        </p:sp>
        <p:sp>
          <p:nvSpPr>
            <p:cNvPr id="8" name="TextBox 8"/>
            <p:cNvSpPr txBox="1"/>
            <p:nvPr/>
          </p:nvSpPr>
          <p:spPr>
            <a:xfrm>
              <a:off x="318516" y="696278"/>
              <a:ext cx="186842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多源数据采集</a:t>
              </a:r>
              <a:r>
                <a:rPr lang="zh-CN" sz="750" dirty="0">
                  <a:solidFill>
                    <a:srgbClr val="FFFFFF"/>
                  </a:solidFill>
                  <a:latin typeface="+mn-lt"/>
                  <a:ea typeface="+mn-ea"/>
                  <a:cs typeface="+mn-cs"/>
                </a:rPr>
                <a:t>（覆盖主要监管口径）</a:t>
              </a:r>
            </a:p>
          </p:txBody>
        </p:sp>
      </p:grpSp>
      <p:grpSp>
        <p:nvGrpSpPr>
          <p:cNvPr id="12" name="col2-head"/>
          <p:cNvGrpSpPr/>
          <p:nvPr/>
        </p:nvGrpSpPr>
        <p:grpSpPr>
          <a:xfrm>
            <a:off x="2533650" y="628650"/>
            <a:ext cx="5295900" cy="272987"/>
            <a:chOff x="2533650" y="628650"/>
            <a:chExt cx="5295900" cy="272987"/>
          </a:xfrm>
        </p:grpSpPr>
        <p:sp>
          <p:nvSpPr>
            <p:cNvPr id="10" name="Rectangle 10"/>
            <p:cNvSpPr/>
            <p:nvPr/>
          </p:nvSpPr>
          <p:spPr>
            <a:xfrm>
              <a:off x="2533650" y="628650"/>
              <a:ext cx="5295900" cy="266700"/>
            </a:xfrm>
            <a:prstGeom prst="rect">
              <a:avLst/>
            </a:prstGeom>
            <a:gradFill>
              <a:gsLst>
                <a:gs pos="0">
                  <a:srgbClr val="92301C"/>
                </a:gs>
                <a:gs pos="100000">
                  <a:srgbClr val="B7533F"/>
                </a:gs>
              </a:gsLst>
              <a:lin ang="0" scaled="1"/>
            </a:gradFill>
            <a:ln>
              <a:noFill/>
            </a:ln>
          </p:spPr>
        </p:sp>
        <p:sp>
          <p:nvSpPr>
            <p:cNvPr id="11" name="TextBox 11"/>
            <p:cNvSpPr txBox="1"/>
            <p:nvPr/>
          </p:nvSpPr>
          <p:spPr>
            <a:xfrm>
              <a:off x="2661666" y="696278"/>
              <a:ext cx="2817495"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监管报送全流程</a:t>
              </a:r>
              <a:r>
                <a:rPr lang="zh-CN" sz="750" dirty="0">
                  <a:solidFill>
                    <a:srgbClr val="FFFFFF"/>
                  </a:solidFill>
                  <a:latin typeface="+mn-lt"/>
                  <a:ea typeface="+mn-ea"/>
                  <a:cs typeface="+mn-cs"/>
                </a:rPr>
                <a:t>（一次采集、多口径校验、全链路追溯）</a:t>
              </a:r>
            </a:p>
          </p:txBody>
        </p:sp>
      </p:grpSp>
      <p:grpSp>
        <p:nvGrpSpPr>
          <p:cNvPr id="15" name="col3-head"/>
          <p:cNvGrpSpPr/>
          <p:nvPr/>
        </p:nvGrpSpPr>
        <p:grpSpPr>
          <a:xfrm>
            <a:off x="7924800" y="628650"/>
            <a:ext cx="4076700" cy="272987"/>
            <a:chOff x="7924800" y="628650"/>
            <a:chExt cx="4076700" cy="272987"/>
          </a:xfrm>
        </p:grpSpPr>
        <p:sp>
          <p:nvSpPr>
            <p:cNvPr id="13" name="Rectangle 13"/>
            <p:cNvSpPr/>
            <p:nvPr/>
          </p:nvSpPr>
          <p:spPr>
            <a:xfrm>
              <a:off x="7924800" y="628650"/>
              <a:ext cx="4076700" cy="266700"/>
            </a:xfrm>
            <a:prstGeom prst="rect">
              <a:avLst/>
            </a:prstGeom>
            <a:gradFill>
              <a:gsLst>
                <a:gs pos="0">
                  <a:srgbClr val="92301C"/>
                </a:gs>
                <a:gs pos="100000">
                  <a:srgbClr val="B7533F"/>
                </a:gs>
              </a:gsLst>
              <a:lin ang="0" scaled="1"/>
            </a:gradFill>
            <a:ln>
              <a:noFill/>
            </a:ln>
          </p:spPr>
        </p:sp>
        <p:sp>
          <p:nvSpPr>
            <p:cNvPr id="14" name="TextBox 14"/>
            <p:cNvSpPr txBox="1"/>
            <p:nvPr/>
          </p:nvSpPr>
          <p:spPr>
            <a:xfrm>
              <a:off x="8052816" y="696278"/>
              <a:ext cx="188861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监管数据质量仪表盘</a:t>
              </a:r>
              <a:r>
                <a:rPr lang="zh-CN" sz="750" dirty="0">
                  <a:solidFill>
                    <a:srgbClr val="FFFFFF"/>
                  </a:solidFill>
                  <a:latin typeface="+mn-lt"/>
                  <a:ea typeface="+mn-ea"/>
                  <a:cs typeface="+mn-cs"/>
                </a:rPr>
                <a:t>（示例测算）</a:t>
              </a:r>
            </a:p>
          </p:txBody>
        </p:sp>
      </p:grpSp>
      <p:grpSp>
        <p:nvGrpSpPr>
          <p:cNvPr id="71" name="left-cards"/>
          <p:cNvGrpSpPr/>
          <p:nvPr/>
        </p:nvGrpSpPr>
        <p:grpSpPr>
          <a:xfrm>
            <a:off x="190500" y="952500"/>
            <a:ext cx="2247900" cy="2676525"/>
            <a:chOff x="190500" y="952500"/>
            <a:chExt cx="2247900" cy="2676525"/>
          </a:xfrm>
        </p:grpSpPr>
        <p:grpSp>
          <p:nvGrpSpPr>
            <p:cNvPr id="23" name="lc-1"/>
            <p:cNvGrpSpPr/>
            <p:nvPr/>
          </p:nvGrpSpPr>
          <p:grpSpPr>
            <a:xfrm>
              <a:off x="190500" y="952500"/>
              <a:ext cx="2247900" cy="438150"/>
              <a:chOff x="190500" y="952500"/>
              <a:chExt cx="2247900" cy="438150"/>
            </a:xfrm>
          </p:grpSpPr>
          <p:sp>
            <p:nvSpPr>
              <p:cNvPr id="16" name="Rectangle 16"/>
              <p:cNvSpPr/>
              <p:nvPr/>
            </p:nvSpPr>
            <p:spPr>
              <a:xfrm>
                <a:off x="190500" y="952500"/>
                <a:ext cx="2247900" cy="438150"/>
              </a:xfrm>
              <a:prstGeom prst="roundRect">
                <a:avLst>
                  <a:gd name="adj" fmla="val 10870"/>
                </a:avLst>
              </a:prstGeom>
              <a:solidFill>
                <a:srgbClr val="F6F9FD"/>
              </a:solidFill>
              <a:ln w="9525">
                <a:solidFill>
                  <a:srgbClr val="CFDFEE"/>
                </a:solidFill>
              </a:ln>
            </p:spPr>
          </p:sp>
          <p:grpSp>
            <p:nvGrpSpPr>
              <p:cNvPr id="20" name="Group 20"/>
              <p:cNvGrpSpPr/>
              <p:nvPr/>
            </p:nvGrpSpPr>
            <p:grpSpPr>
              <a:xfrm>
                <a:off x="283419" y="1090093"/>
                <a:ext cx="176105" cy="151297"/>
                <a:chOff x="283419" y="1090093"/>
                <a:chExt cx="176105" cy="151297"/>
              </a:xfrm>
            </p:grpSpPr>
            <p:sp>
              <p:nvSpPr>
                <p:cNvPr id="17" name="Freeform 17"/>
                <p:cNvSpPr/>
                <p:nvPr/>
              </p:nvSpPr>
              <p:spPr>
                <a:xfrm>
                  <a:off x="371475" y="1145381"/>
                  <a:ext cx="9525" cy="34925"/>
                </a:xfrm>
                <a:custGeom>
                  <a:avLst/>
                  <a:gdLst/>
                  <a:ahLst/>
                  <a:cxnLst/>
                  <a:rect l="l" t="t" r="r" b="b"/>
                  <a:pathLst>
                    <a:path w="9525" h="34925">
                      <a:moveTo>
                        <a:pt x="0" y="0"/>
                      </a:moveTo>
                      <a:lnTo>
                        <a:pt x="0" y="34925"/>
                      </a:lnTo>
                    </a:path>
                  </a:pathLst>
                </a:custGeom>
                <a:noFill/>
                <a:ln w="17463">
                  <a:solidFill>
                    <a:srgbClr val="92301C"/>
                  </a:solidFill>
                </a:ln>
              </p:spPr>
            </p:sp>
            <p:sp>
              <p:nvSpPr>
                <p:cNvPr id="18" name="Freeform 18"/>
                <p:cNvSpPr/>
                <p:nvPr/>
              </p:nvSpPr>
              <p:spPr>
                <a:xfrm>
                  <a:off x="283419" y="10900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92301C"/>
                  </a:solidFill>
                </a:ln>
              </p:spPr>
            </p:sp>
            <p:sp>
              <p:nvSpPr>
                <p:cNvPr id="19" name="Freeform 19"/>
                <p:cNvSpPr/>
                <p:nvPr/>
              </p:nvSpPr>
              <p:spPr>
                <a:xfrm>
                  <a:off x="371475" y="1206500"/>
                  <a:ext cx="9525" cy="9525"/>
                </a:xfrm>
                <a:custGeom>
                  <a:avLst/>
                  <a:gdLst/>
                  <a:ahLst/>
                  <a:cxnLst/>
                  <a:rect l="l" t="t" r="r" b="b"/>
                  <a:pathLst>
                    <a:path w="9525" h="9525">
                      <a:moveTo>
                        <a:pt x="0" y="0"/>
                      </a:moveTo>
                      <a:lnTo>
                        <a:pt x="87" y="0"/>
                      </a:lnTo>
                    </a:path>
                  </a:pathLst>
                </a:custGeom>
                <a:noFill/>
                <a:ln w="17463">
                  <a:solidFill>
                    <a:srgbClr val="92301C"/>
                  </a:solidFill>
                </a:ln>
              </p:spPr>
            </p:sp>
          </p:grpSp>
          <p:sp>
            <p:nvSpPr>
              <p:cNvPr id="21" name="TextBox 21"/>
              <p:cNvSpPr txBox="1"/>
              <p:nvPr/>
            </p:nvSpPr>
            <p:spPr>
              <a:xfrm>
                <a:off x="547688" y="1006316"/>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风险数据</a:t>
                </a:r>
              </a:p>
            </p:txBody>
          </p:sp>
          <p:sp>
            <p:nvSpPr>
              <p:cNvPr id="22" name="TextBox 22"/>
              <p:cNvSpPr txBox="1"/>
              <p:nvPr/>
            </p:nvSpPr>
            <p:spPr>
              <a:xfrm>
                <a:off x="547688" y="1183005"/>
                <a:ext cx="1463421"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不良、风险加权资产、拨备、风险指标等</a:t>
                </a:r>
              </a:p>
            </p:txBody>
          </p:sp>
        </p:grpSp>
        <p:grpSp>
          <p:nvGrpSpPr>
            <p:cNvPr id="33" name="lc-2"/>
            <p:cNvGrpSpPr/>
            <p:nvPr/>
          </p:nvGrpSpPr>
          <p:grpSpPr>
            <a:xfrm>
              <a:off x="190500" y="1400175"/>
              <a:ext cx="2247900" cy="438150"/>
              <a:chOff x="190500" y="1400175"/>
              <a:chExt cx="2247900" cy="438150"/>
            </a:xfrm>
          </p:grpSpPr>
          <p:sp>
            <p:nvSpPr>
              <p:cNvPr id="24" name="Rectangle 24"/>
              <p:cNvSpPr/>
              <p:nvPr/>
            </p:nvSpPr>
            <p:spPr>
              <a:xfrm>
                <a:off x="190500" y="1400175"/>
                <a:ext cx="2247900" cy="438150"/>
              </a:xfrm>
              <a:prstGeom prst="roundRect">
                <a:avLst>
                  <a:gd name="adj" fmla="val 10870"/>
                </a:avLst>
              </a:prstGeom>
              <a:solidFill>
                <a:srgbClr val="F6F9FD"/>
              </a:solidFill>
              <a:ln w="9525">
                <a:solidFill>
                  <a:srgbClr val="CFDFEE"/>
                </a:solidFill>
              </a:ln>
            </p:spPr>
          </p:sp>
          <p:grpSp>
            <p:nvGrpSpPr>
              <p:cNvPr id="30" name="Group 30"/>
              <p:cNvGrpSpPr/>
              <p:nvPr/>
            </p:nvGrpSpPr>
            <p:grpSpPr>
              <a:xfrm>
                <a:off x="292894" y="1539499"/>
                <a:ext cx="157162" cy="158333"/>
                <a:chOff x="292894" y="1539499"/>
                <a:chExt cx="157162" cy="158333"/>
              </a:xfrm>
            </p:grpSpPr>
            <p:sp>
              <p:nvSpPr>
                <p:cNvPr id="25" name="Freeform 25"/>
                <p:cNvSpPr/>
                <p:nvPr/>
              </p:nvSpPr>
              <p:spPr>
                <a:xfrm>
                  <a:off x="345281" y="1610519"/>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92301C"/>
                  </a:solidFill>
                </a:ln>
              </p:spPr>
            </p:sp>
            <p:sp>
              <p:nvSpPr>
                <p:cNvPr id="26" name="Freeform 26"/>
                <p:cNvSpPr/>
                <p:nvPr/>
              </p:nvSpPr>
              <p:spPr>
                <a:xfrm>
                  <a:off x="345281" y="1636713"/>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92301C"/>
                  </a:solidFill>
                </a:ln>
              </p:spPr>
            </p:sp>
            <p:sp>
              <p:nvSpPr>
                <p:cNvPr id="27" name="Freeform 27"/>
                <p:cNvSpPr/>
                <p:nvPr/>
              </p:nvSpPr>
              <p:spPr>
                <a:xfrm>
                  <a:off x="292894" y="1539499"/>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92301C"/>
                  </a:solidFill>
                </a:ln>
              </p:spPr>
            </p:sp>
            <p:sp>
              <p:nvSpPr>
                <p:cNvPr id="28" name="Freeform 28"/>
                <p:cNvSpPr/>
                <p:nvPr/>
              </p:nvSpPr>
              <p:spPr>
                <a:xfrm>
                  <a:off x="292894" y="1566863"/>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92301C"/>
                  </a:solidFill>
                </a:ln>
              </p:spPr>
            </p:sp>
            <p:sp>
              <p:nvSpPr>
                <p:cNvPr id="29" name="Freeform 29"/>
                <p:cNvSpPr/>
                <p:nvPr/>
              </p:nvSpPr>
              <p:spPr>
                <a:xfrm>
                  <a:off x="292894" y="1610519"/>
                  <a:ext cx="17463" cy="17463"/>
                </a:xfrm>
                <a:custGeom>
                  <a:avLst/>
                  <a:gdLst/>
                  <a:ahLst/>
                  <a:cxnLst/>
                  <a:rect l="l" t="t" r="r" b="b"/>
                  <a:pathLst>
                    <a:path w="17463" h="17463">
                      <a:moveTo>
                        <a:pt x="0" y="0"/>
                      </a:moveTo>
                      <a:cubicBezTo>
                        <a:pt x="0" y="7753"/>
                        <a:pt x="6741" y="12660"/>
                        <a:pt x="17463" y="17463"/>
                      </a:cubicBezTo>
                    </a:path>
                  </a:pathLst>
                </a:custGeom>
                <a:noFill/>
                <a:ln w="17463">
                  <a:solidFill>
                    <a:srgbClr val="92301C"/>
                  </a:solidFill>
                </a:ln>
              </p:spPr>
            </p:sp>
          </p:grpSp>
          <p:sp>
            <p:nvSpPr>
              <p:cNvPr id="31" name="TextBox 31"/>
              <p:cNvSpPr txBox="1"/>
              <p:nvPr/>
            </p:nvSpPr>
            <p:spPr>
              <a:xfrm>
                <a:off x="547688" y="14539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资本数据</a:t>
                </a:r>
              </a:p>
            </p:txBody>
          </p:sp>
          <p:sp>
            <p:nvSpPr>
              <p:cNvPr id="32" name="TextBox 32"/>
              <p:cNvSpPr txBox="1"/>
              <p:nvPr/>
            </p:nvSpPr>
            <p:spPr>
              <a:xfrm>
                <a:off x="547688" y="1630680"/>
                <a:ext cx="138264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核心一级资本、资本充足率、杠杆率等</a:t>
                </a:r>
              </a:p>
            </p:txBody>
          </p:sp>
        </p:grpSp>
        <p:grpSp>
          <p:nvGrpSpPr>
            <p:cNvPr id="42" name="lc-3"/>
            <p:cNvGrpSpPr/>
            <p:nvPr/>
          </p:nvGrpSpPr>
          <p:grpSpPr>
            <a:xfrm>
              <a:off x="190500" y="1847850"/>
              <a:ext cx="2247900" cy="438150"/>
              <a:chOff x="190500" y="1847850"/>
              <a:chExt cx="2247900" cy="438150"/>
            </a:xfrm>
          </p:grpSpPr>
          <p:sp>
            <p:nvSpPr>
              <p:cNvPr id="34" name="Rectangle 34"/>
              <p:cNvSpPr/>
              <p:nvPr/>
            </p:nvSpPr>
            <p:spPr>
              <a:xfrm>
                <a:off x="190500" y="1847850"/>
                <a:ext cx="2247900" cy="438150"/>
              </a:xfrm>
              <a:prstGeom prst="roundRect">
                <a:avLst>
                  <a:gd name="adj" fmla="val 10870"/>
                </a:avLst>
              </a:prstGeom>
              <a:solidFill>
                <a:srgbClr val="F6F9FD"/>
              </a:solidFill>
              <a:ln w="9525">
                <a:solidFill>
                  <a:srgbClr val="CFDFEE"/>
                </a:solidFill>
              </a:ln>
            </p:spPr>
          </p:sp>
          <p:grpSp>
            <p:nvGrpSpPr>
              <p:cNvPr id="38" name="Group 38"/>
              <p:cNvGrpSpPr/>
              <p:nvPr/>
            </p:nvGrpSpPr>
            <p:grpSpPr>
              <a:xfrm>
                <a:off x="292894" y="2005806"/>
                <a:ext cx="157163" cy="122238"/>
                <a:chOff x="292894" y="2005806"/>
                <a:chExt cx="157163" cy="122238"/>
              </a:xfrm>
            </p:grpSpPr>
            <p:sp>
              <p:nvSpPr>
                <p:cNvPr id="35" name="Freeform 35"/>
                <p:cNvSpPr/>
                <p:nvPr/>
              </p:nvSpPr>
              <p:spPr>
                <a:xfrm>
                  <a:off x="292894" y="2005806"/>
                  <a:ext cx="122238" cy="87313"/>
                </a:xfrm>
                <a:custGeom>
                  <a:avLst/>
                  <a:gdLst/>
                  <a:ahLst/>
                  <a:cxnLst/>
                  <a:rect l="l" t="t" r="r" b="b"/>
                  <a:pathLst>
                    <a:path w="122238" h="87313">
                      <a:moveTo>
                        <a:pt x="34925" y="87313"/>
                      </a:moveTo>
                      <a:lnTo>
                        <a:pt x="8731" y="87313"/>
                      </a:lnTo>
                      <a:cubicBezTo>
                        <a:pt x="3909" y="87313"/>
                        <a:pt x="0" y="83403"/>
                        <a:pt x="0" y="78581"/>
                      </a:cubicBezTo>
                      <a:lnTo>
                        <a:pt x="0" y="8731"/>
                      </a:lnTo>
                      <a:cubicBezTo>
                        <a:pt x="0" y="3909"/>
                        <a:pt x="3909" y="0"/>
                        <a:pt x="8731" y="0"/>
                      </a:cubicBezTo>
                      <a:lnTo>
                        <a:pt x="113506" y="0"/>
                      </a:lnTo>
                      <a:cubicBezTo>
                        <a:pt x="118328" y="0"/>
                        <a:pt x="122238" y="3909"/>
                        <a:pt x="122238" y="8731"/>
                      </a:cubicBezTo>
                      <a:lnTo>
                        <a:pt x="122238" y="34925"/>
                      </a:lnTo>
                    </a:path>
                  </a:pathLst>
                </a:custGeom>
                <a:noFill/>
                <a:ln w="17463">
                  <a:solidFill>
                    <a:srgbClr val="92301C"/>
                  </a:solidFill>
                </a:ln>
              </p:spPr>
            </p:sp>
            <p:sp>
              <p:nvSpPr>
                <p:cNvPr id="36" name="Freeform 36"/>
                <p:cNvSpPr/>
                <p:nvPr/>
              </p:nvSpPr>
              <p:spPr>
                <a:xfrm>
                  <a:off x="327819" y="2040731"/>
                  <a:ext cx="122238" cy="87313"/>
                </a:xfrm>
                <a:custGeom>
                  <a:avLst/>
                  <a:gdLst/>
                  <a:ahLst/>
                  <a:cxnLst/>
                  <a:rect l="l" t="t" r="r" b="b"/>
                  <a:pathLst>
                    <a:path w="122238" h="87313">
                      <a:moveTo>
                        <a:pt x="0" y="8731"/>
                      </a:moveTo>
                      <a:cubicBezTo>
                        <a:pt x="0" y="3909"/>
                        <a:pt x="3909" y="0"/>
                        <a:pt x="8731" y="0"/>
                      </a:cubicBezTo>
                      <a:lnTo>
                        <a:pt x="113506" y="0"/>
                      </a:lnTo>
                      <a:cubicBezTo>
                        <a:pt x="118328" y="0"/>
                        <a:pt x="122238" y="3909"/>
                        <a:pt x="122238" y="8731"/>
                      </a:cubicBezTo>
                      <a:lnTo>
                        <a:pt x="122238" y="78581"/>
                      </a:lnTo>
                      <a:cubicBezTo>
                        <a:pt x="122238" y="83403"/>
                        <a:pt x="118328" y="87313"/>
                        <a:pt x="113506" y="87313"/>
                      </a:cubicBezTo>
                      <a:lnTo>
                        <a:pt x="8731" y="87313"/>
                      </a:lnTo>
                      <a:cubicBezTo>
                        <a:pt x="3909" y="87313"/>
                        <a:pt x="0" y="83403"/>
                        <a:pt x="0" y="78581"/>
                      </a:cubicBezTo>
                      <a:lnTo>
                        <a:pt x="0" y="8731"/>
                      </a:lnTo>
                    </a:path>
                  </a:pathLst>
                </a:custGeom>
                <a:noFill/>
                <a:ln w="17463">
                  <a:solidFill>
                    <a:srgbClr val="92301C"/>
                  </a:solidFill>
                </a:ln>
              </p:spPr>
            </p:sp>
            <p:sp>
              <p:nvSpPr>
                <p:cNvPr id="37" name="Freeform 37"/>
                <p:cNvSpPr/>
                <p:nvPr/>
              </p:nvSpPr>
              <p:spPr>
                <a:xfrm>
                  <a:off x="371475" y="2066925"/>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92301C"/>
                  </a:solidFill>
                </a:ln>
              </p:spPr>
            </p:sp>
          </p:grpSp>
          <p:sp>
            <p:nvSpPr>
              <p:cNvPr id="39" name="TextBox 39"/>
              <p:cNvSpPr txBox="1"/>
              <p:nvPr/>
            </p:nvSpPr>
            <p:spPr>
              <a:xfrm>
                <a:off x="547688" y="1901666"/>
                <a:ext cx="561467"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流动性数据</a:t>
                </a:r>
              </a:p>
            </p:txBody>
          </p:sp>
          <p:sp>
            <p:nvSpPr>
              <p:cNvPr id="40" name="TextBox 40"/>
              <p:cNvSpPr txBox="1"/>
              <p:nvPr/>
            </p:nvSpPr>
            <p:spPr>
              <a:xfrm>
                <a:off x="547688" y="2059305"/>
                <a:ext cx="987984"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流动性覆盖率（LCR）、　</a:t>
                </a:r>
              </a:p>
            </p:txBody>
          </p:sp>
          <p:sp>
            <p:nvSpPr>
              <p:cNvPr id="41" name="TextBox 41"/>
              <p:cNvSpPr txBox="1"/>
              <p:nvPr/>
            </p:nvSpPr>
            <p:spPr>
              <a:xfrm>
                <a:off x="547688" y="2164080"/>
                <a:ext cx="1130340"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j-lt"/>
                    <a:ea typeface="+mj-ea"/>
                    <a:cs typeface="+mj-cs"/>
                  </a:rPr>
                  <a:t xml:space="preserve">净稳定资金比例（NSFR）等　</a:t>
                </a:r>
              </a:p>
            </p:txBody>
          </p:sp>
        </p:grpSp>
        <p:grpSp>
          <p:nvGrpSpPr>
            <p:cNvPr id="51" name="lc-4"/>
            <p:cNvGrpSpPr/>
            <p:nvPr/>
          </p:nvGrpSpPr>
          <p:grpSpPr>
            <a:xfrm>
              <a:off x="190500" y="2295525"/>
              <a:ext cx="2247900" cy="438150"/>
              <a:chOff x="190500" y="2295525"/>
              <a:chExt cx="2247900" cy="438150"/>
            </a:xfrm>
          </p:grpSpPr>
          <p:sp>
            <p:nvSpPr>
              <p:cNvPr id="43" name="Rectangle 43"/>
              <p:cNvSpPr/>
              <p:nvPr/>
            </p:nvSpPr>
            <p:spPr>
              <a:xfrm>
                <a:off x="190500" y="2295525"/>
                <a:ext cx="2247900" cy="438150"/>
              </a:xfrm>
              <a:prstGeom prst="roundRect">
                <a:avLst>
                  <a:gd name="adj" fmla="val 10870"/>
                </a:avLst>
              </a:prstGeom>
              <a:solidFill>
                <a:srgbClr val="F6F9FD"/>
              </a:solidFill>
              <a:ln w="9525">
                <a:solidFill>
                  <a:srgbClr val="CFDFEE"/>
                </a:solidFill>
              </a:ln>
            </p:spPr>
          </p:sp>
          <p:grpSp>
            <p:nvGrpSpPr>
              <p:cNvPr id="48" name="Group 48"/>
              <p:cNvGrpSpPr/>
              <p:nvPr/>
            </p:nvGrpSpPr>
            <p:grpSpPr>
              <a:xfrm>
                <a:off x="292894" y="2436019"/>
                <a:ext cx="157163" cy="157163"/>
                <a:chOff x="292894" y="2436019"/>
                <a:chExt cx="157163" cy="157163"/>
              </a:xfrm>
            </p:grpSpPr>
            <p:sp>
              <p:nvSpPr>
                <p:cNvPr id="44" name="Freeform 44"/>
                <p:cNvSpPr/>
                <p:nvPr/>
              </p:nvSpPr>
              <p:spPr>
                <a:xfrm>
                  <a:off x="310356" y="24360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92301C"/>
                  </a:solidFill>
                </a:ln>
              </p:spPr>
            </p:sp>
            <p:sp>
              <p:nvSpPr>
                <p:cNvPr id="45" name="Freeform 45"/>
                <p:cNvSpPr/>
                <p:nvPr/>
              </p:nvSpPr>
              <p:spPr>
                <a:xfrm>
                  <a:off x="292894" y="254079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92301C"/>
                  </a:solidFill>
                </a:ln>
              </p:spPr>
            </p:sp>
            <p:sp>
              <p:nvSpPr>
                <p:cNvPr id="46" name="Freeform 46"/>
                <p:cNvSpPr/>
                <p:nvPr/>
              </p:nvSpPr>
              <p:spPr>
                <a:xfrm>
                  <a:off x="406400" y="243715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92301C"/>
                  </a:solidFill>
                </a:ln>
              </p:spPr>
            </p:sp>
            <p:sp>
              <p:nvSpPr>
                <p:cNvPr id="47" name="Freeform 47"/>
                <p:cNvSpPr/>
                <p:nvPr/>
              </p:nvSpPr>
              <p:spPr>
                <a:xfrm>
                  <a:off x="423863" y="254210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92301C"/>
                  </a:solidFill>
                </a:ln>
              </p:spPr>
            </p:sp>
          </p:grpSp>
          <p:sp>
            <p:nvSpPr>
              <p:cNvPr id="49" name="TextBox 49"/>
              <p:cNvSpPr txBox="1"/>
              <p:nvPr/>
            </p:nvSpPr>
            <p:spPr>
              <a:xfrm>
                <a:off x="547688" y="234934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客户数据</a:t>
                </a:r>
              </a:p>
            </p:txBody>
          </p:sp>
          <p:sp>
            <p:nvSpPr>
              <p:cNvPr id="50" name="TextBox 50"/>
              <p:cNvSpPr txBox="1"/>
              <p:nvPr/>
            </p:nvSpPr>
            <p:spPr>
              <a:xfrm>
                <a:off x="547688" y="2526030"/>
                <a:ext cx="130187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客户基本信息、分层分类、集中度等</a:t>
                </a:r>
              </a:p>
            </p:txBody>
          </p:sp>
        </p:grpSp>
        <p:grpSp>
          <p:nvGrpSpPr>
            <p:cNvPr id="60" name="lc-5"/>
            <p:cNvGrpSpPr/>
            <p:nvPr/>
          </p:nvGrpSpPr>
          <p:grpSpPr>
            <a:xfrm>
              <a:off x="190500" y="2743200"/>
              <a:ext cx="2247900" cy="438150"/>
              <a:chOff x="190500" y="2743200"/>
              <a:chExt cx="2247900" cy="438150"/>
            </a:xfrm>
          </p:grpSpPr>
          <p:sp>
            <p:nvSpPr>
              <p:cNvPr id="52" name="Rectangle 52"/>
              <p:cNvSpPr/>
              <p:nvPr/>
            </p:nvSpPr>
            <p:spPr>
              <a:xfrm>
                <a:off x="190500" y="2743200"/>
                <a:ext cx="2247900" cy="438150"/>
              </a:xfrm>
              <a:prstGeom prst="roundRect">
                <a:avLst>
                  <a:gd name="adj" fmla="val 10870"/>
                </a:avLst>
              </a:prstGeom>
              <a:solidFill>
                <a:srgbClr val="F6F9FD"/>
              </a:solidFill>
              <a:ln w="9525">
                <a:solidFill>
                  <a:srgbClr val="CFDFEE"/>
                </a:solidFill>
              </a:ln>
            </p:spPr>
          </p:sp>
          <p:grpSp>
            <p:nvGrpSpPr>
              <p:cNvPr id="57" name="Group 57"/>
              <p:cNvGrpSpPr/>
              <p:nvPr/>
            </p:nvGrpSpPr>
            <p:grpSpPr>
              <a:xfrm>
                <a:off x="292894" y="2892425"/>
                <a:ext cx="157163" cy="139701"/>
                <a:chOff x="292894" y="2892425"/>
                <a:chExt cx="157163" cy="139701"/>
              </a:xfrm>
            </p:grpSpPr>
            <p:sp>
              <p:nvSpPr>
                <p:cNvPr id="53" name="Freeform 53"/>
                <p:cNvSpPr/>
                <p:nvPr/>
              </p:nvSpPr>
              <p:spPr>
                <a:xfrm>
                  <a:off x="292894" y="2918619"/>
                  <a:ext cx="157163" cy="9525"/>
                </a:xfrm>
                <a:custGeom>
                  <a:avLst/>
                  <a:gdLst/>
                  <a:ahLst/>
                  <a:cxnLst/>
                  <a:rect l="l" t="t" r="r" b="b"/>
                  <a:pathLst>
                    <a:path w="157163" h="9525">
                      <a:moveTo>
                        <a:pt x="157163" y="0"/>
                      </a:moveTo>
                      <a:lnTo>
                        <a:pt x="0" y="0"/>
                      </a:lnTo>
                    </a:path>
                  </a:pathLst>
                </a:custGeom>
                <a:noFill/>
                <a:ln w="17463">
                  <a:solidFill>
                    <a:srgbClr val="92301C"/>
                  </a:solidFill>
                </a:ln>
              </p:spPr>
            </p:sp>
            <p:sp>
              <p:nvSpPr>
                <p:cNvPr id="54" name="Freeform 54"/>
                <p:cNvSpPr/>
                <p:nvPr/>
              </p:nvSpPr>
              <p:spPr>
                <a:xfrm>
                  <a:off x="423863" y="2892425"/>
                  <a:ext cx="26194" cy="52388"/>
                </a:xfrm>
                <a:custGeom>
                  <a:avLst/>
                  <a:gdLst/>
                  <a:ahLst/>
                  <a:cxnLst/>
                  <a:rect l="l" t="t" r="r" b="b"/>
                  <a:pathLst>
                    <a:path w="26194" h="52388">
                      <a:moveTo>
                        <a:pt x="0" y="52388"/>
                      </a:moveTo>
                      <a:lnTo>
                        <a:pt x="26194" y="26194"/>
                      </a:lnTo>
                      <a:lnTo>
                        <a:pt x="0" y="0"/>
                      </a:lnTo>
                    </a:path>
                  </a:pathLst>
                </a:custGeom>
                <a:noFill/>
                <a:ln w="17463">
                  <a:solidFill>
                    <a:srgbClr val="92301C"/>
                  </a:solidFill>
                </a:ln>
              </p:spPr>
            </p:sp>
            <p:sp>
              <p:nvSpPr>
                <p:cNvPr id="55" name="Freeform 55"/>
                <p:cNvSpPr/>
                <p:nvPr/>
              </p:nvSpPr>
              <p:spPr>
                <a:xfrm>
                  <a:off x="292894" y="2979738"/>
                  <a:ext cx="26194" cy="52388"/>
                </a:xfrm>
                <a:custGeom>
                  <a:avLst/>
                  <a:gdLst/>
                  <a:ahLst/>
                  <a:cxnLst/>
                  <a:rect l="l" t="t" r="r" b="b"/>
                  <a:pathLst>
                    <a:path w="26194" h="52388">
                      <a:moveTo>
                        <a:pt x="26194" y="52388"/>
                      </a:moveTo>
                      <a:lnTo>
                        <a:pt x="0" y="26194"/>
                      </a:lnTo>
                      <a:lnTo>
                        <a:pt x="26194" y="0"/>
                      </a:lnTo>
                    </a:path>
                  </a:pathLst>
                </a:custGeom>
                <a:noFill/>
                <a:ln w="17463">
                  <a:solidFill>
                    <a:srgbClr val="92301C"/>
                  </a:solidFill>
                </a:ln>
              </p:spPr>
            </p:sp>
            <p:sp>
              <p:nvSpPr>
                <p:cNvPr id="56" name="Freeform 56"/>
                <p:cNvSpPr/>
                <p:nvPr/>
              </p:nvSpPr>
              <p:spPr>
                <a:xfrm>
                  <a:off x="292894" y="3005931"/>
                  <a:ext cx="157163" cy="9525"/>
                </a:xfrm>
                <a:custGeom>
                  <a:avLst/>
                  <a:gdLst/>
                  <a:ahLst/>
                  <a:cxnLst/>
                  <a:rect l="l" t="t" r="r" b="b"/>
                  <a:pathLst>
                    <a:path w="157163" h="9525">
                      <a:moveTo>
                        <a:pt x="0" y="0"/>
                      </a:moveTo>
                      <a:lnTo>
                        <a:pt x="157163" y="0"/>
                      </a:lnTo>
                    </a:path>
                  </a:pathLst>
                </a:custGeom>
                <a:noFill/>
                <a:ln w="17463">
                  <a:solidFill>
                    <a:srgbClr val="92301C"/>
                  </a:solidFill>
                </a:ln>
              </p:spPr>
            </p:sp>
          </p:grpSp>
          <p:sp>
            <p:nvSpPr>
              <p:cNvPr id="58" name="TextBox 58"/>
              <p:cNvSpPr txBox="1"/>
              <p:nvPr/>
            </p:nvSpPr>
            <p:spPr>
              <a:xfrm>
                <a:off x="547688" y="2797016"/>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交易数据</a:t>
                </a:r>
              </a:p>
            </p:txBody>
          </p:sp>
          <p:sp>
            <p:nvSpPr>
              <p:cNvPr id="59" name="TextBox 59"/>
              <p:cNvSpPr txBox="1"/>
              <p:nvPr/>
            </p:nvSpPr>
            <p:spPr>
              <a:xfrm>
                <a:off x="547688" y="2973705"/>
                <a:ext cx="138264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交易流水、衍生品、同业、关联交易等</a:t>
                </a:r>
              </a:p>
            </p:txBody>
          </p:sp>
        </p:grpSp>
        <p:grpSp>
          <p:nvGrpSpPr>
            <p:cNvPr id="70" name="lc-6"/>
            <p:cNvGrpSpPr/>
            <p:nvPr/>
          </p:nvGrpSpPr>
          <p:grpSpPr>
            <a:xfrm>
              <a:off x="190500" y="3190875"/>
              <a:ext cx="2247900" cy="438150"/>
              <a:chOff x="190500" y="3190875"/>
              <a:chExt cx="2247900" cy="438150"/>
            </a:xfrm>
          </p:grpSpPr>
          <p:sp>
            <p:nvSpPr>
              <p:cNvPr id="61" name="Rectangle 61"/>
              <p:cNvSpPr/>
              <p:nvPr/>
            </p:nvSpPr>
            <p:spPr>
              <a:xfrm>
                <a:off x="190500" y="3190875"/>
                <a:ext cx="2247900" cy="438150"/>
              </a:xfrm>
              <a:prstGeom prst="roundRect">
                <a:avLst>
                  <a:gd name="adj" fmla="val 10870"/>
                </a:avLst>
              </a:prstGeom>
              <a:solidFill>
                <a:srgbClr val="F6F9FD"/>
              </a:solidFill>
              <a:ln w="9525">
                <a:solidFill>
                  <a:srgbClr val="CFDFEE"/>
                </a:solidFill>
              </a:ln>
            </p:spPr>
          </p:sp>
          <p:grpSp>
            <p:nvGrpSpPr>
              <p:cNvPr id="66" name="Group 66"/>
              <p:cNvGrpSpPr/>
              <p:nvPr/>
            </p:nvGrpSpPr>
            <p:grpSpPr>
              <a:xfrm>
                <a:off x="292894" y="3340100"/>
                <a:ext cx="157163" cy="149225"/>
                <a:chOff x="292894" y="3340100"/>
                <a:chExt cx="157163" cy="149225"/>
              </a:xfrm>
            </p:grpSpPr>
            <p:sp>
              <p:nvSpPr>
                <p:cNvPr id="62" name="Freeform 62"/>
                <p:cNvSpPr/>
                <p:nvPr/>
              </p:nvSpPr>
              <p:spPr>
                <a:xfrm>
                  <a:off x="292894" y="34099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92301C"/>
                  </a:solidFill>
                </a:ln>
              </p:spPr>
            </p:sp>
            <p:sp>
              <p:nvSpPr>
                <p:cNvPr id="63" name="Freeform 63"/>
                <p:cNvSpPr/>
                <p:nvPr/>
              </p:nvSpPr>
              <p:spPr>
                <a:xfrm>
                  <a:off x="397669" y="33750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92301C"/>
                  </a:solidFill>
                </a:ln>
              </p:spPr>
            </p:sp>
            <p:sp>
              <p:nvSpPr>
                <p:cNvPr id="64" name="Freeform 64"/>
                <p:cNvSpPr/>
                <p:nvPr/>
              </p:nvSpPr>
              <p:spPr>
                <a:xfrm>
                  <a:off x="345281" y="33401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92301C"/>
                  </a:solidFill>
                </a:ln>
              </p:spPr>
            </p:sp>
            <p:sp>
              <p:nvSpPr>
                <p:cNvPr id="65" name="Freeform 65"/>
                <p:cNvSpPr/>
                <p:nvPr/>
              </p:nvSpPr>
              <p:spPr>
                <a:xfrm>
                  <a:off x="301625" y="3479800"/>
                  <a:ext cx="122238" cy="9525"/>
                </a:xfrm>
                <a:custGeom>
                  <a:avLst/>
                  <a:gdLst/>
                  <a:ahLst/>
                  <a:cxnLst/>
                  <a:rect l="l" t="t" r="r" b="b"/>
                  <a:pathLst>
                    <a:path w="122238" h="9525">
                      <a:moveTo>
                        <a:pt x="0" y="0"/>
                      </a:moveTo>
                      <a:lnTo>
                        <a:pt x="122238" y="0"/>
                      </a:lnTo>
                    </a:path>
                  </a:pathLst>
                </a:custGeom>
                <a:noFill/>
                <a:ln w="17463">
                  <a:solidFill>
                    <a:srgbClr val="92301C"/>
                  </a:solidFill>
                </a:ln>
              </p:spPr>
            </p:sp>
          </p:grpSp>
          <p:sp>
            <p:nvSpPr>
              <p:cNvPr id="67" name="TextBox 67"/>
              <p:cNvSpPr txBox="1"/>
              <p:nvPr/>
            </p:nvSpPr>
            <p:spPr>
              <a:xfrm>
                <a:off x="547688" y="3244691"/>
                <a:ext cx="735605"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保险/证券数据</a:t>
                </a:r>
              </a:p>
            </p:txBody>
          </p:sp>
          <p:sp>
            <p:nvSpPr>
              <p:cNvPr id="68" name="TextBox 68"/>
              <p:cNvSpPr txBox="1"/>
              <p:nvPr/>
            </p:nvSpPr>
            <p:spPr>
              <a:xfrm>
                <a:off x="547688" y="3402330"/>
                <a:ext cx="1128217"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保费收入、准备金、偿付能力 /</a:t>
                </a:r>
              </a:p>
            </p:txBody>
          </p:sp>
          <p:sp>
            <p:nvSpPr>
              <p:cNvPr id="69" name="TextBox 69"/>
              <p:cNvSpPr txBox="1"/>
              <p:nvPr/>
            </p:nvSpPr>
            <p:spPr>
              <a:xfrm>
                <a:off x="547688" y="3507105"/>
                <a:ext cx="978789" cy="119062"/>
              </a:xfrm>
              <a:prstGeom prst="rect">
                <a:avLst/>
              </a:prstGeom>
              <a:noFill/>
              <a:ln>
                <a:noFill/>
              </a:ln>
            </p:spPr>
            <p:txBody>
              <a:bodyPr wrap="none" lIns="0" tIns="0" rIns="0" bIns="0" anchor="t" anchorCtr="0">
                <a:spAutoFit/>
              </a:bodyPr>
              <a:lstStyle/>
              <a:p>
                <a:pPr algn="l"/>
                <a:r>
                  <a:rPr lang="zh-CN" sz="600" dirty="0">
                    <a:solidFill>
                      <a:srgbClr val="52352F"/>
                    </a:solidFill>
                    <a:latin typeface="+mn-lt"/>
                    <a:ea typeface="+mn-ea"/>
                    <a:cs typeface="+mn-cs"/>
                  </a:rPr>
                  <a:t>经纪、自营、资管、投行等</a:t>
                </a:r>
              </a:p>
            </p:txBody>
          </p:sp>
        </p:grpSp>
      </p:grpSp>
      <p:grpSp>
        <p:nvGrpSpPr>
          <p:cNvPr id="153" name="mid-flow"/>
          <p:cNvGrpSpPr/>
          <p:nvPr/>
        </p:nvGrpSpPr>
        <p:grpSpPr>
          <a:xfrm>
            <a:off x="2533650" y="990600"/>
            <a:ext cx="5295900" cy="2628900"/>
            <a:chOff x="2533650" y="990600"/>
            <a:chExt cx="5295900" cy="2628900"/>
          </a:xfrm>
        </p:grpSpPr>
        <p:sp>
          <p:nvSpPr>
            <p:cNvPr id="72" name="Freeform 72"/>
            <p:cNvSpPr/>
            <p:nvPr/>
          </p:nvSpPr>
          <p:spPr>
            <a:xfrm>
              <a:off x="2533650" y="990600"/>
              <a:ext cx="838200" cy="457200"/>
            </a:xfrm>
            <a:prstGeom prst="homePlate">
              <a:avLst>
                <a:gd name="adj" fmla="val 30000"/>
              </a:avLst>
            </a:prstGeom>
            <a:solidFill>
              <a:srgbClr val="BB5D4A"/>
            </a:solidFill>
            <a:ln>
              <a:noFill/>
            </a:ln>
          </p:spPr>
        </p:sp>
        <p:sp>
          <p:nvSpPr>
            <p:cNvPr id="73" name="Freeform 73"/>
            <p:cNvSpPr/>
            <p:nvPr/>
          </p:nvSpPr>
          <p:spPr>
            <a:xfrm>
              <a:off x="3276600" y="990600"/>
              <a:ext cx="838200" cy="457200"/>
            </a:xfrm>
            <a:prstGeom prst="chevron">
              <a:avLst>
                <a:gd name="adj" fmla="val 30000"/>
              </a:avLst>
            </a:prstGeom>
            <a:solidFill>
              <a:srgbClr val="B7533F"/>
            </a:solidFill>
            <a:ln>
              <a:noFill/>
            </a:ln>
          </p:spPr>
        </p:sp>
        <p:sp>
          <p:nvSpPr>
            <p:cNvPr id="74" name="Freeform 74"/>
            <p:cNvSpPr/>
            <p:nvPr/>
          </p:nvSpPr>
          <p:spPr>
            <a:xfrm>
              <a:off x="4019550" y="990600"/>
              <a:ext cx="838200" cy="457200"/>
            </a:xfrm>
            <a:prstGeom prst="chevron">
              <a:avLst>
                <a:gd name="adj" fmla="val 30000"/>
              </a:avLst>
            </a:prstGeom>
            <a:solidFill>
              <a:srgbClr val="AB4935"/>
            </a:solidFill>
            <a:ln>
              <a:noFill/>
            </a:ln>
          </p:spPr>
        </p:sp>
        <p:sp>
          <p:nvSpPr>
            <p:cNvPr id="75" name="Freeform 75"/>
            <p:cNvSpPr/>
            <p:nvPr/>
          </p:nvSpPr>
          <p:spPr>
            <a:xfrm>
              <a:off x="4762500" y="990600"/>
              <a:ext cx="838200" cy="457200"/>
            </a:xfrm>
            <a:prstGeom prst="chevron">
              <a:avLst>
                <a:gd name="adj" fmla="val 30000"/>
              </a:avLst>
            </a:prstGeom>
            <a:solidFill>
              <a:srgbClr val="9F3F2B"/>
            </a:solidFill>
            <a:ln>
              <a:noFill/>
            </a:ln>
          </p:spPr>
        </p:sp>
        <p:sp>
          <p:nvSpPr>
            <p:cNvPr id="76" name="Freeform 76"/>
            <p:cNvSpPr/>
            <p:nvPr/>
          </p:nvSpPr>
          <p:spPr>
            <a:xfrm>
              <a:off x="5505450" y="990600"/>
              <a:ext cx="838200" cy="457200"/>
            </a:xfrm>
            <a:prstGeom prst="chevron">
              <a:avLst>
                <a:gd name="adj" fmla="val 30000"/>
              </a:avLst>
            </a:prstGeom>
            <a:solidFill>
              <a:srgbClr val="963622"/>
            </a:solidFill>
            <a:ln>
              <a:noFill/>
            </a:ln>
          </p:spPr>
        </p:sp>
        <p:sp>
          <p:nvSpPr>
            <p:cNvPr id="77" name="Freeform 77"/>
            <p:cNvSpPr/>
            <p:nvPr/>
          </p:nvSpPr>
          <p:spPr>
            <a:xfrm>
              <a:off x="6248400" y="990600"/>
              <a:ext cx="838200" cy="457200"/>
            </a:xfrm>
            <a:prstGeom prst="chevron">
              <a:avLst>
                <a:gd name="adj" fmla="val 30000"/>
              </a:avLst>
            </a:prstGeom>
            <a:solidFill>
              <a:srgbClr val="92301C"/>
            </a:solidFill>
            <a:ln>
              <a:noFill/>
            </a:ln>
          </p:spPr>
        </p:sp>
        <p:sp>
          <p:nvSpPr>
            <p:cNvPr id="78" name="Freeform 78"/>
            <p:cNvSpPr/>
            <p:nvPr/>
          </p:nvSpPr>
          <p:spPr>
            <a:xfrm>
              <a:off x="6991350" y="990600"/>
              <a:ext cx="838200" cy="457200"/>
            </a:xfrm>
            <a:prstGeom prst="chevron">
              <a:avLst>
                <a:gd name="adj" fmla="val 30000"/>
              </a:avLst>
            </a:prstGeom>
            <a:solidFill>
              <a:srgbClr val="6B1B0B"/>
            </a:solidFill>
            <a:ln>
              <a:noFill/>
            </a:ln>
          </p:spPr>
        </p:sp>
        <p:grpSp>
          <p:nvGrpSpPr>
            <p:cNvPr id="109" name="mf-icons"/>
            <p:cNvGrpSpPr/>
            <p:nvPr/>
          </p:nvGrpSpPr>
          <p:grpSpPr>
            <a:xfrm>
              <a:off x="2864644" y="1056520"/>
              <a:ext cx="4602956" cy="134860"/>
              <a:chOff x="2864644" y="1056520"/>
              <a:chExt cx="4602956" cy="134860"/>
            </a:xfrm>
          </p:grpSpPr>
          <p:grpSp>
            <p:nvGrpSpPr>
              <p:cNvPr id="84" name="Group 84"/>
              <p:cNvGrpSpPr/>
              <p:nvPr/>
            </p:nvGrpSpPr>
            <p:grpSpPr>
              <a:xfrm>
                <a:off x="2864644" y="1059656"/>
                <a:ext cx="100013" cy="128588"/>
                <a:chOff x="2864644" y="1059656"/>
                <a:chExt cx="100013" cy="128588"/>
              </a:xfrm>
            </p:grpSpPr>
            <p:sp>
              <p:nvSpPr>
                <p:cNvPr id="79" name="Freeform 79"/>
                <p:cNvSpPr/>
                <p:nvPr/>
              </p:nvSpPr>
              <p:spPr>
                <a:xfrm>
                  <a:off x="2928938" y="105965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80" name="Freeform 80"/>
                <p:cNvSpPr/>
                <p:nvPr/>
              </p:nvSpPr>
              <p:spPr>
                <a:xfrm>
                  <a:off x="2864644" y="105965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81" name="Freeform 81"/>
                <p:cNvSpPr/>
                <p:nvPr/>
              </p:nvSpPr>
              <p:spPr>
                <a:xfrm>
                  <a:off x="2893219" y="1102519"/>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82" name="Freeform 82"/>
                <p:cNvSpPr/>
                <p:nvPr/>
              </p:nvSpPr>
              <p:spPr>
                <a:xfrm>
                  <a:off x="2893219" y="1131094"/>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83" name="Freeform 83"/>
                <p:cNvSpPr/>
                <p:nvPr/>
              </p:nvSpPr>
              <p:spPr>
                <a:xfrm>
                  <a:off x="2893219" y="1159669"/>
                  <a:ext cx="42862" cy="9525"/>
                </a:xfrm>
                <a:custGeom>
                  <a:avLst/>
                  <a:gdLst/>
                  <a:ahLst/>
                  <a:cxnLst/>
                  <a:rect l="l" t="t" r="r" b="b"/>
                  <a:pathLst>
                    <a:path w="42862" h="9525">
                      <a:moveTo>
                        <a:pt x="0" y="0"/>
                      </a:moveTo>
                      <a:lnTo>
                        <a:pt x="42862" y="0"/>
                      </a:lnTo>
                    </a:path>
                  </a:pathLst>
                </a:custGeom>
                <a:noFill/>
                <a:ln w="14288">
                  <a:solidFill>
                    <a:srgbClr val="FFFFFF"/>
                  </a:solidFill>
                </a:ln>
              </p:spPr>
            </p:sp>
          </p:grpSp>
          <p:grpSp>
            <p:nvGrpSpPr>
              <p:cNvPr id="87" name="Group 87"/>
              <p:cNvGrpSpPr/>
              <p:nvPr/>
            </p:nvGrpSpPr>
            <p:grpSpPr>
              <a:xfrm>
                <a:off x="3628270" y="1056520"/>
                <a:ext cx="134860" cy="134860"/>
                <a:chOff x="3628270" y="1056520"/>
                <a:chExt cx="134860" cy="134860"/>
              </a:xfrm>
            </p:grpSpPr>
            <p:sp>
              <p:nvSpPr>
                <p:cNvPr id="85" name="Freeform 85"/>
                <p:cNvSpPr/>
                <p:nvPr/>
              </p:nvSpPr>
              <p:spPr>
                <a:xfrm>
                  <a:off x="3628270" y="1056520"/>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FFFFFF"/>
                  </a:solidFill>
                </a:ln>
              </p:spPr>
            </p:sp>
            <p:sp>
              <p:nvSpPr>
                <p:cNvPr id="86" name="Freeform 86"/>
                <p:cNvSpPr/>
                <p:nvPr/>
              </p:nvSpPr>
              <p:spPr>
                <a:xfrm>
                  <a:off x="3674269" y="1102519"/>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FFFFFF"/>
                  </a:solidFill>
                </a:ln>
              </p:spPr>
            </p:sp>
          </p:grpSp>
          <p:grpSp>
            <p:nvGrpSpPr>
              <p:cNvPr id="91" name="Group 91"/>
              <p:cNvGrpSpPr/>
              <p:nvPr/>
            </p:nvGrpSpPr>
            <p:grpSpPr>
              <a:xfrm>
                <a:off x="4381500" y="1059656"/>
                <a:ext cx="114300" cy="128588"/>
                <a:chOff x="4381500" y="1059656"/>
                <a:chExt cx="114300" cy="128588"/>
              </a:xfrm>
            </p:grpSpPr>
            <p:sp>
              <p:nvSpPr>
                <p:cNvPr id="88" name="Freeform 88"/>
                <p:cNvSpPr/>
                <p:nvPr/>
              </p:nvSpPr>
              <p:spPr>
                <a:xfrm>
                  <a:off x="4381500" y="105965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89" name="Freeform 89"/>
                <p:cNvSpPr/>
                <p:nvPr/>
              </p:nvSpPr>
              <p:spPr>
                <a:xfrm>
                  <a:off x="4381500" y="108108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90" name="Freeform 90"/>
                <p:cNvSpPr/>
                <p:nvPr/>
              </p:nvSpPr>
              <p:spPr>
                <a:xfrm>
                  <a:off x="4381500" y="112395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grpSp>
            <p:nvGrpSpPr>
              <p:cNvPr id="94" name="Group 94"/>
              <p:cNvGrpSpPr/>
              <p:nvPr/>
            </p:nvGrpSpPr>
            <p:grpSpPr>
              <a:xfrm>
                <a:off x="5117306" y="1059656"/>
                <a:ext cx="128587" cy="128587"/>
                <a:chOff x="5117306" y="1059656"/>
                <a:chExt cx="128587" cy="128587"/>
              </a:xfrm>
            </p:grpSpPr>
            <p:sp>
              <p:nvSpPr>
                <p:cNvPr id="92" name="Freeform 92"/>
                <p:cNvSpPr/>
                <p:nvPr/>
              </p:nvSpPr>
              <p:spPr>
                <a:xfrm>
                  <a:off x="5117306" y="1059656"/>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FFFFFF"/>
                  </a:solidFill>
                </a:ln>
              </p:spPr>
            </p:sp>
            <p:sp>
              <p:nvSpPr>
                <p:cNvPr id="93" name="Freeform 93"/>
                <p:cNvSpPr/>
                <p:nvPr/>
              </p:nvSpPr>
              <p:spPr>
                <a:xfrm>
                  <a:off x="5203031" y="1145381"/>
                  <a:ext cx="42862" cy="42862"/>
                </a:xfrm>
                <a:custGeom>
                  <a:avLst/>
                  <a:gdLst/>
                  <a:ahLst/>
                  <a:cxnLst/>
                  <a:rect l="l" t="t" r="r" b="b"/>
                  <a:pathLst>
                    <a:path w="42862" h="42862">
                      <a:moveTo>
                        <a:pt x="42862" y="42862"/>
                      </a:moveTo>
                      <a:lnTo>
                        <a:pt x="0" y="0"/>
                      </a:lnTo>
                    </a:path>
                  </a:pathLst>
                </a:custGeom>
                <a:noFill/>
                <a:ln w="14288">
                  <a:solidFill>
                    <a:srgbClr val="FFFFFF"/>
                  </a:solidFill>
                </a:ln>
              </p:spPr>
            </p:sp>
          </p:grpSp>
          <p:grpSp>
            <p:nvGrpSpPr>
              <p:cNvPr id="98" name="Group 98"/>
              <p:cNvGrpSpPr/>
              <p:nvPr/>
            </p:nvGrpSpPr>
            <p:grpSpPr>
              <a:xfrm>
                <a:off x="5852504" y="1057283"/>
                <a:ext cx="144086" cy="123788"/>
                <a:chOff x="5852504" y="1057283"/>
                <a:chExt cx="144086" cy="123788"/>
              </a:xfrm>
            </p:grpSpPr>
            <p:sp>
              <p:nvSpPr>
                <p:cNvPr id="95" name="Freeform 95"/>
                <p:cNvSpPr/>
                <p:nvPr/>
              </p:nvSpPr>
              <p:spPr>
                <a:xfrm>
                  <a:off x="5924550" y="1102519"/>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96" name="Freeform 96"/>
                <p:cNvSpPr/>
                <p:nvPr/>
              </p:nvSpPr>
              <p:spPr>
                <a:xfrm>
                  <a:off x="5852504" y="1057283"/>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FFFFFF"/>
                  </a:solidFill>
                </a:ln>
              </p:spPr>
            </p:sp>
            <p:sp>
              <p:nvSpPr>
                <p:cNvPr id="97" name="Freeform 97"/>
                <p:cNvSpPr/>
                <p:nvPr/>
              </p:nvSpPr>
              <p:spPr>
                <a:xfrm>
                  <a:off x="5924550" y="1152525"/>
                  <a:ext cx="9525" cy="9525"/>
                </a:xfrm>
                <a:custGeom>
                  <a:avLst/>
                  <a:gdLst/>
                  <a:ahLst/>
                  <a:cxnLst/>
                  <a:rect l="l" t="t" r="r" b="b"/>
                  <a:pathLst>
                    <a:path w="9525" h="9525">
                      <a:moveTo>
                        <a:pt x="0" y="0"/>
                      </a:moveTo>
                      <a:lnTo>
                        <a:pt x="71" y="0"/>
                      </a:lnTo>
                    </a:path>
                  </a:pathLst>
                </a:custGeom>
                <a:noFill/>
                <a:ln w="14288">
                  <a:solidFill>
                    <a:srgbClr val="FFFFFF"/>
                  </a:solidFill>
                </a:ln>
              </p:spPr>
            </p:sp>
          </p:grpSp>
          <p:grpSp>
            <p:nvGrpSpPr>
              <p:cNvPr id="104" name="Group 104"/>
              <p:cNvGrpSpPr/>
              <p:nvPr/>
            </p:nvGrpSpPr>
            <p:grpSpPr>
              <a:xfrm>
                <a:off x="6617494" y="1059656"/>
                <a:ext cx="100013" cy="128588"/>
                <a:chOff x="6617494" y="1059656"/>
                <a:chExt cx="100013" cy="128588"/>
              </a:xfrm>
            </p:grpSpPr>
            <p:sp>
              <p:nvSpPr>
                <p:cNvPr id="99" name="Freeform 99"/>
                <p:cNvSpPr/>
                <p:nvPr/>
              </p:nvSpPr>
              <p:spPr>
                <a:xfrm>
                  <a:off x="6681788" y="105965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100" name="Freeform 100"/>
                <p:cNvSpPr/>
                <p:nvPr/>
              </p:nvSpPr>
              <p:spPr>
                <a:xfrm>
                  <a:off x="6617494" y="105965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101" name="Freeform 101"/>
                <p:cNvSpPr/>
                <p:nvPr/>
              </p:nvSpPr>
              <p:spPr>
                <a:xfrm>
                  <a:off x="6646069" y="1088231"/>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102" name="Freeform 102"/>
                <p:cNvSpPr/>
                <p:nvPr/>
              </p:nvSpPr>
              <p:spPr>
                <a:xfrm>
                  <a:off x="6646069" y="1131094"/>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103" name="Freeform 103"/>
                <p:cNvSpPr/>
                <p:nvPr/>
              </p:nvSpPr>
              <p:spPr>
                <a:xfrm>
                  <a:off x="6674644" y="1159669"/>
                  <a:ext cx="14288" cy="9525"/>
                </a:xfrm>
                <a:custGeom>
                  <a:avLst/>
                  <a:gdLst/>
                  <a:ahLst/>
                  <a:cxnLst/>
                  <a:rect l="l" t="t" r="r" b="b"/>
                  <a:pathLst>
                    <a:path w="14288" h="9525">
                      <a:moveTo>
                        <a:pt x="0" y="0"/>
                      </a:moveTo>
                      <a:lnTo>
                        <a:pt x="14288" y="0"/>
                      </a:lnTo>
                    </a:path>
                  </a:pathLst>
                </a:custGeom>
                <a:noFill/>
                <a:ln w="14288">
                  <a:solidFill>
                    <a:srgbClr val="FFFFFF"/>
                  </a:solidFill>
                </a:ln>
              </p:spPr>
            </p:sp>
          </p:grpSp>
          <p:grpSp>
            <p:nvGrpSpPr>
              <p:cNvPr id="108" name="Group 108"/>
              <p:cNvGrpSpPr/>
              <p:nvPr/>
            </p:nvGrpSpPr>
            <p:grpSpPr>
              <a:xfrm>
                <a:off x="7351044" y="1066800"/>
                <a:ext cx="116556" cy="116557"/>
                <a:chOff x="7351044" y="1066800"/>
                <a:chExt cx="116556" cy="116557"/>
              </a:xfrm>
            </p:grpSpPr>
            <p:sp>
              <p:nvSpPr>
                <p:cNvPr id="105" name="Freeform 105"/>
                <p:cNvSpPr/>
                <p:nvPr/>
              </p:nvSpPr>
              <p:spPr>
                <a:xfrm>
                  <a:off x="7353300" y="1066800"/>
                  <a:ext cx="114300" cy="114300"/>
                </a:xfrm>
                <a:custGeom>
                  <a:avLst/>
                  <a:gdLst/>
                  <a:ahLst/>
                  <a:cxnLst/>
                  <a:rect l="l" t="t" r="r" b="b"/>
                  <a:pathLst>
                    <a:path w="114300" h="114300">
                      <a:moveTo>
                        <a:pt x="0" y="64294"/>
                      </a:moveTo>
                      <a:cubicBezTo>
                        <a:pt x="26219" y="67410"/>
                        <a:pt x="46890" y="88081"/>
                        <a:pt x="50006" y="114300"/>
                      </a:cubicBezTo>
                      <a:cubicBezTo>
                        <a:pt x="62844" y="106899"/>
                        <a:pt x="70948" y="93392"/>
                        <a:pt x="71438" y="78581"/>
                      </a:cubicBezTo>
                      <a:cubicBezTo>
                        <a:pt x="95968" y="69952"/>
                        <a:pt x="112884" y="47396"/>
                        <a:pt x="114300" y="21431"/>
                      </a:cubicBezTo>
                      <a:cubicBezTo>
                        <a:pt x="114300" y="9595"/>
                        <a:pt x="104705" y="0"/>
                        <a:pt x="92869" y="0"/>
                      </a:cubicBezTo>
                      <a:cubicBezTo>
                        <a:pt x="66904" y="1416"/>
                        <a:pt x="44348" y="18332"/>
                        <a:pt x="35719" y="42862"/>
                      </a:cubicBezTo>
                      <a:cubicBezTo>
                        <a:pt x="20908" y="43352"/>
                        <a:pt x="7401" y="51456"/>
                        <a:pt x="0" y="64294"/>
                      </a:cubicBezTo>
                    </a:path>
                  </a:pathLst>
                </a:custGeom>
                <a:noFill/>
                <a:ln w="14288">
                  <a:solidFill>
                    <a:srgbClr val="FFFFFF"/>
                  </a:solidFill>
                </a:ln>
              </p:spPr>
            </p:sp>
            <p:sp>
              <p:nvSpPr>
                <p:cNvPr id="106" name="Freeform 106"/>
                <p:cNvSpPr/>
                <p:nvPr/>
              </p:nvSpPr>
              <p:spPr>
                <a:xfrm>
                  <a:off x="7351044" y="1138238"/>
                  <a:ext cx="45119" cy="45119"/>
                </a:xfrm>
                <a:custGeom>
                  <a:avLst/>
                  <a:gdLst/>
                  <a:ahLst/>
                  <a:cxnLst/>
                  <a:rect l="l" t="t" r="r" b="b"/>
                  <a:pathLst>
                    <a:path w="45119" h="45119">
                      <a:moveTo>
                        <a:pt x="23688" y="0"/>
                      </a:moveTo>
                      <a:cubicBezTo>
                        <a:pt x="8478" y="8587"/>
                        <a:pt x="0" y="25543"/>
                        <a:pt x="2256" y="42862"/>
                      </a:cubicBezTo>
                      <a:cubicBezTo>
                        <a:pt x="19576" y="45119"/>
                        <a:pt x="36532" y="36641"/>
                        <a:pt x="45119" y="21431"/>
                      </a:cubicBezTo>
                    </a:path>
                  </a:pathLst>
                </a:custGeom>
                <a:noFill/>
                <a:ln w="14288">
                  <a:solidFill>
                    <a:srgbClr val="FFFFFF"/>
                  </a:solidFill>
                </a:ln>
              </p:spPr>
            </p:sp>
            <p:sp>
              <p:nvSpPr>
                <p:cNvPr id="107" name="Freeform 107"/>
                <p:cNvSpPr/>
                <p:nvPr/>
              </p:nvSpPr>
              <p:spPr>
                <a:xfrm>
                  <a:off x="7424738" y="1095375"/>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grpSp>
        </p:grpSp>
        <p:grpSp>
          <p:nvGrpSpPr>
            <p:cNvPr id="117" name="mf-titles"/>
            <p:cNvGrpSpPr/>
            <p:nvPr/>
          </p:nvGrpSpPr>
          <p:grpSpPr>
            <a:xfrm>
              <a:off x="2718727" y="1304211"/>
              <a:ext cx="4887646" cy="140494"/>
              <a:chOff x="2718727" y="1304211"/>
              <a:chExt cx="4887646" cy="140494"/>
            </a:xfrm>
          </p:grpSpPr>
          <p:sp>
            <p:nvSpPr>
              <p:cNvPr id="110" name="TextBox 110"/>
              <p:cNvSpPr txBox="1"/>
              <p:nvPr/>
            </p:nvSpPr>
            <p:spPr>
              <a:xfrm>
                <a:off x="2718727" y="13042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口径映射</a:t>
                </a:r>
              </a:p>
            </p:txBody>
          </p:sp>
          <p:sp>
            <p:nvSpPr>
              <p:cNvPr id="111" name="TextBox 111"/>
              <p:cNvSpPr txBox="1"/>
              <p:nvPr/>
            </p:nvSpPr>
            <p:spPr>
              <a:xfrm>
                <a:off x="3547567" y="130421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标准化</a:t>
                </a:r>
              </a:p>
            </p:txBody>
          </p:sp>
          <p:sp>
            <p:nvSpPr>
              <p:cNvPr id="112" name="TextBox 112"/>
              <p:cNvSpPr txBox="1"/>
              <p:nvPr/>
            </p:nvSpPr>
            <p:spPr>
              <a:xfrm>
                <a:off x="4338307" y="130421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聚合</a:t>
                </a:r>
              </a:p>
            </p:txBody>
          </p:sp>
          <p:sp>
            <p:nvSpPr>
              <p:cNvPr id="113" name="TextBox 113"/>
              <p:cNvSpPr txBox="1"/>
              <p:nvPr/>
            </p:nvSpPr>
            <p:spPr>
              <a:xfrm>
                <a:off x="4985677" y="13042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交叉校验</a:t>
                </a:r>
              </a:p>
            </p:txBody>
          </p:sp>
          <p:sp>
            <p:nvSpPr>
              <p:cNvPr id="114" name="TextBox 114"/>
              <p:cNvSpPr txBox="1"/>
              <p:nvPr/>
            </p:nvSpPr>
            <p:spPr>
              <a:xfrm>
                <a:off x="5728627" y="13042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异常解释</a:t>
                </a:r>
              </a:p>
            </p:txBody>
          </p:sp>
          <p:sp>
            <p:nvSpPr>
              <p:cNvPr id="115" name="TextBox 115"/>
              <p:cNvSpPr txBox="1"/>
              <p:nvPr/>
            </p:nvSpPr>
            <p:spPr>
              <a:xfrm>
                <a:off x="6471577" y="13042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材料生成</a:t>
                </a:r>
              </a:p>
            </p:txBody>
          </p:sp>
          <p:sp>
            <p:nvSpPr>
              <p:cNvPr id="116" name="TextBox 116"/>
              <p:cNvSpPr txBox="1"/>
              <p:nvPr/>
            </p:nvSpPr>
            <p:spPr>
              <a:xfrm>
                <a:off x="7214527" y="13042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审批报送</a:t>
                </a:r>
              </a:p>
            </p:txBody>
          </p:sp>
        </p:grpSp>
        <p:grpSp>
          <p:nvGrpSpPr>
            <p:cNvPr id="146" name="mf-bullets"/>
            <p:cNvGrpSpPr/>
            <p:nvPr/>
          </p:nvGrpSpPr>
          <p:grpSpPr>
            <a:xfrm>
              <a:off x="2586038" y="1588532"/>
              <a:ext cx="5050409" cy="554831"/>
              <a:chOff x="2586038" y="1588532"/>
              <a:chExt cx="5050409" cy="554831"/>
            </a:xfrm>
          </p:grpSpPr>
          <p:sp>
            <p:nvSpPr>
              <p:cNvPr id="118" name="TextBox 118"/>
              <p:cNvSpPr txBox="1"/>
              <p:nvPr/>
            </p:nvSpPr>
            <p:spPr>
              <a:xfrm>
                <a:off x="2586038" y="158853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解析监管规则</a:t>
                </a:r>
              </a:p>
            </p:txBody>
          </p:sp>
          <p:sp>
            <p:nvSpPr>
              <p:cNvPr id="119" name="TextBox 119"/>
              <p:cNvSpPr txBox="1"/>
              <p:nvPr/>
            </p:nvSpPr>
            <p:spPr>
              <a:xfrm>
                <a:off x="2586038" y="1731407"/>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建立口径字典</a:t>
                </a:r>
              </a:p>
            </p:txBody>
          </p:sp>
          <p:sp>
            <p:nvSpPr>
              <p:cNvPr id="120" name="TextBox 120"/>
              <p:cNvSpPr txBox="1"/>
              <p:nvPr/>
            </p:nvSpPr>
            <p:spPr>
              <a:xfrm>
                <a:off x="2586038" y="1874282"/>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多口径映射</a:t>
                </a:r>
              </a:p>
            </p:txBody>
          </p:sp>
          <p:sp>
            <p:nvSpPr>
              <p:cNvPr id="121" name="TextBox 121"/>
              <p:cNvSpPr txBox="1"/>
              <p:nvPr/>
            </p:nvSpPr>
            <p:spPr>
              <a:xfrm>
                <a:off x="2586038" y="2017157"/>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差异标注</a:t>
                </a:r>
              </a:p>
            </p:txBody>
          </p:sp>
          <p:sp>
            <p:nvSpPr>
              <p:cNvPr id="122" name="TextBox 122"/>
              <p:cNvSpPr txBox="1"/>
              <p:nvPr/>
            </p:nvSpPr>
            <p:spPr>
              <a:xfrm>
                <a:off x="3405188" y="1588532"/>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数据清洗</a:t>
                </a:r>
              </a:p>
            </p:txBody>
          </p:sp>
          <p:sp>
            <p:nvSpPr>
              <p:cNvPr id="123" name="TextBox 123"/>
              <p:cNvSpPr txBox="1"/>
              <p:nvPr/>
            </p:nvSpPr>
            <p:spPr>
              <a:xfrm>
                <a:off x="3405188" y="1731407"/>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格式转换</a:t>
                </a:r>
              </a:p>
            </p:txBody>
          </p:sp>
          <p:sp>
            <p:nvSpPr>
              <p:cNvPr id="124" name="TextBox 124"/>
              <p:cNvSpPr txBox="1"/>
              <p:nvPr/>
            </p:nvSpPr>
            <p:spPr>
              <a:xfrm>
                <a:off x="3405188" y="1874282"/>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编码统一</a:t>
                </a:r>
              </a:p>
            </p:txBody>
          </p:sp>
          <p:sp>
            <p:nvSpPr>
              <p:cNvPr id="125" name="TextBox 125"/>
              <p:cNvSpPr txBox="1"/>
              <p:nvPr/>
            </p:nvSpPr>
            <p:spPr>
              <a:xfrm>
                <a:off x="3405188" y="2017157"/>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规则校验</a:t>
                </a:r>
              </a:p>
            </p:txBody>
          </p:sp>
          <p:sp>
            <p:nvSpPr>
              <p:cNvPr id="126" name="TextBox 126"/>
              <p:cNvSpPr txBox="1"/>
              <p:nvPr/>
            </p:nvSpPr>
            <p:spPr>
              <a:xfrm>
                <a:off x="4148138" y="1588532"/>
                <a:ext cx="68882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按监管维度汇总</a:t>
                </a:r>
              </a:p>
            </p:txBody>
          </p:sp>
          <p:sp>
            <p:nvSpPr>
              <p:cNvPr id="127" name="TextBox 127"/>
              <p:cNvSpPr txBox="1"/>
              <p:nvPr/>
            </p:nvSpPr>
            <p:spPr>
              <a:xfrm>
                <a:off x="4148138" y="1731407"/>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多粒度聚合</a:t>
                </a:r>
              </a:p>
            </p:txBody>
          </p:sp>
          <p:sp>
            <p:nvSpPr>
              <p:cNvPr id="128" name="TextBox 128"/>
              <p:cNvSpPr txBox="1"/>
              <p:nvPr/>
            </p:nvSpPr>
            <p:spPr>
              <a:xfrm>
                <a:off x="4148138" y="1874282"/>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口径转换</a:t>
                </a:r>
              </a:p>
            </p:txBody>
          </p:sp>
          <p:sp>
            <p:nvSpPr>
              <p:cNvPr id="129" name="TextBox 129"/>
              <p:cNvSpPr txBox="1"/>
              <p:nvPr/>
            </p:nvSpPr>
            <p:spPr>
              <a:xfrm>
                <a:off x="4148138" y="2017157"/>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数据核验</a:t>
                </a:r>
              </a:p>
            </p:txBody>
          </p:sp>
          <p:sp>
            <p:nvSpPr>
              <p:cNvPr id="130" name="TextBox 130"/>
              <p:cNvSpPr txBox="1"/>
              <p:nvPr/>
            </p:nvSpPr>
            <p:spPr>
              <a:xfrm>
                <a:off x="4891088" y="1588532"/>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多口径比对</a:t>
                </a:r>
              </a:p>
            </p:txBody>
          </p:sp>
          <p:sp>
            <p:nvSpPr>
              <p:cNvPr id="131" name="TextBox 131"/>
              <p:cNvSpPr txBox="1"/>
              <p:nvPr/>
            </p:nvSpPr>
            <p:spPr>
              <a:xfrm>
                <a:off x="4891088" y="1731407"/>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历史趋势校验</a:t>
                </a:r>
              </a:p>
            </p:txBody>
          </p:sp>
          <p:sp>
            <p:nvSpPr>
              <p:cNvPr id="132" name="TextBox 132"/>
              <p:cNvSpPr txBox="1"/>
              <p:nvPr/>
            </p:nvSpPr>
            <p:spPr>
              <a:xfrm>
                <a:off x="4891088" y="18742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同业对标校验</a:t>
                </a:r>
              </a:p>
            </p:txBody>
          </p:sp>
          <p:sp>
            <p:nvSpPr>
              <p:cNvPr id="133" name="TextBox 133"/>
              <p:cNvSpPr txBox="1"/>
              <p:nvPr/>
            </p:nvSpPr>
            <p:spPr>
              <a:xfrm>
                <a:off x="4891088" y="2017157"/>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逻辑规则校验</a:t>
                </a:r>
              </a:p>
            </p:txBody>
          </p:sp>
          <p:sp>
            <p:nvSpPr>
              <p:cNvPr id="134" name="TextBox 134"/>
              <p:cNvSpPr txBox="1"/>
              <p:nvPr/>
            </p:nvSpPr>
            <p:spPr>
              <a:xfrm>
                <a:off x="5634038" y="1588532"/>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异常识别</a:t>
                </a:r>
              </a:p>
            </p:txBody>
          </p:sp>
          <p:sp>
            <p:nvSpPr>
              <p:cNvPr id="135" name="TextBox 135"/>
              <p:cNvSpPr txBox="1"/>
              <p:nvPr/>
            </p:nvSpPr>
            <p:spPr>
              <a:xfrm>
                <a:off x="5634038" y="1731407"/>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影响分析</a:t>
                </a:r>
              </a:p>
            </p:txBody>
          </p:sp>
          <p:sp>
            <p:nvSpPr>
              <p:cNvPr id="136" name="TextBox 136"/>
              <p:cNvSpPr txBox="1"/>
              <p:nvPr/>
            </p:nvSpPr>
            <p:spPr>
              <a:xfrm>
                <a:off x="5634038" y="1874282"/>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原因定位</a:t>
                </a:r>
              </a:p>
            </p:txBody>
          </p:sp>
          <p:sp>
            <p:nvSpPr>
              <p:cNvPr id="137" name="TextBox 137"/>
              <p:cNvSpPr txBox="1"/>
              <p:nvPr/>
            </p:nvSpPr>
            <p:spPr>
              <a:xfrm>
                <a:off x="5634038" y="2017157"/>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生成解释说明</a:t>
                </a:r>
              </a:p>
            </p:txBody>
          </p:sp>
          <p:sp>
            <p:nvSpPr>
              <p:cNvPr id="138" name="TextBox 138"/>
              <p:cNvSpPr txBox="1"/>
              <p:nvPr/>
            </p:nvSpPr>
            <p:spPr>
              <a:xfrm>
                <a:off x="6376988" y="1588532"/>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报表填报</a:t>
                </a:r>
              </a:p>
            </p:txBody>
          </p:sp>
          <p:sp>
            <p:nvSpPr>
              <p:cNvPr id="139" name="TextBox 139"/>
              <p:cNvSpPr txBox="1"/>
              <p:nvPr/>
            </p:nvSpPr>
            <p:spPr>
              <a:xfrm>
                <a:off x="6376988" y="1731407"/>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附注说明</a:t>
                </a:r>
              </a:p>
            </p:txBody>
          </p:sp>
          <p:sp>
            <p:nvSpPr>
              <p:cNvPr id="140" name="TextBox 140"/>
              <p:cNvSpPr txBox="1"/>
              <p:nvPr/>
            </p:nvSpPr>
            <p:spPr>
              <a:xfrm>
                <a:off x="6376988" y="1874282"/>
                <a:ext cx="60266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监管格式转换</a:t>
                </a:r>
              </a:p>
            </p:txBody>
          </p:sp>
          <p:sp>
            <p:nvSpPr>
              <p:cNvPr id="141" name="TextBox 141"/>
              <p:cNvSpPr txBox="1"/>
              <p:nvPr/>
            </p:nvSpPr>
            <p:spPr>
              <a:xfrm>
                <a:off x="6376988" y="2017157"/>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预览校验</a:t>
                </a:r>
              </a:p>
            </p:txBody>
          </p:sp>
          <p:sp>
            <p:nvSpPr>
              <p:cNvPr id="142" name="TextBox 142"/>
              <p:cNvSpPr txBox="1"/>
              <p:nvPr/>
            </p:nvSpPr>
            <p:spPr>
              <a:xfrm>
                <a:off x="7119938" y="1588532"/>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电子审批</a:t>
                </a:r>
              </a:p>
            </p:txBody>
          </p:sp>
          <p:sp>
            <p:nvSpPr>
              <p:cNvPr id="143" name="TextBox 143"/>
              <p:cNvSpPr txBox="1"/>
              <p:nvPr/>
            </p:nvSpPr>
            <p:spPr>
              <a:xfrm>
                <a:off x="7119938" y="1731407"/>
                <a:ext cx="516509"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报送白名单</a:t>
                </a:r>
              </a:p>
            </p:txBody>
          </p:sp>
          <p:sp>
            <p:nvSpPr>
              <p:cNvPr id="144" name="TextBox 144"/>
              <p:cNvSpPr txBox="1"/>
              <p:nvPr/>
            </p:nvSpPr>
            <p:spPr>
              <a:xfrm>
                <a:off x="7119938" y="1874282"/>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自动报送</a:t>
                </a:r>
              </a:p>
            </p:txBody>
          </p:sp>
          <p:sp>
            <p:nvSpPr>
              <p:cNvPr id="145" name="TextBox 145"/>
              <p:cNvSpPr txBox="1"/>
              <p:nvPr/>
            </p:nvSpPr>
            <p:spPr>
              <a:xfrm>
                <a:off x="7119938" y="2017157"/>
                <a:ext cx="430352"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回执跟踪</a:t>
                </a:r>
              </a:p>
            </p:txBody>
          </p:sp>
        </p:grpSp>
        <p:sp>
          <p:nvSpPr>
            <p:cNvPr id="147" name="Freeform 147"/>
            <p:cNvSpPr/>
            <p:nvPr/>
          </p:nvSpPr>
          <p:spPr>
            <a:xfrm>
              <a:off x="2533650" y="3333750"/>
              <a:ext cx="5295900" cy="285750"/>
            </a:xfrm>
            <a:prstGeom prst="rightArrow">
              <a:avLst>
                <a:gd name="adj1" fmla="val 70000"/>
                <a:gd name="adj2" fmla="val 30000"/>
              </a:avLst>
            </a:prstGeom>
            <a:solidFill>
              <a:srgbClr val="D6E6F3"/>
            </a:solidFill>
            <a:ln>
              <a:noFill/>
            </a:ln>
          </p:spPr>
        </p:sp>
        <p:grpSp>
          <p:nvGrpSpPr>
            <p:cNvPr id="151" name="Group 151"/>
            <p:cNvGrpSpPr/>
            <p:nvPr/>
          </p:nvGrpSpPr>
          <p:grpSpPr>
            <a:xfrm>
              <a:off x="3644900" y="3419475"/>
              <a:ext cx="101600" cy="114300"/>
              <a:chOff x="3644900" y="3419475"/>
              <a:chExt cx="101600" cy="114300"/>
            </a:xfrm>
          </p:grpSpPr>
          <p:sp>
            <p:nvSpPr>
              <p:cNvPr id="148" name="Freeform 148"/>
              <p:cNvSpPr/>
              <p:nvPr/>
            </p:nvSpPr>
            <p:spPr>
              <a:xfrm>
                <a:off x="3644900" y="3419475"/>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6B1B0B"/>
                </a:solidFill>
              </a:ln>
            </p:spPr>
          </p:sp>
          <p:sp>
            <p:nvSpPr>
              <p:cNvPr id="149" name="Freeform 149"/>
              <p:cNvSpPr/>
              <p:nvPr/>
            </p:nvSpPr>
            <p:spPr>
              <a:xfrm>
                <a:off x="3644900" y="343852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6B1B0B"/>
                </a:solidFill>
              </a:ln>
            </p:spPr>
          </p:sp>
          <p:sp>
            <p:nvSpPr>
              <p:cNvPr id="150" name="Freeform 150"/>
              <p:cNvSpPr/>
              <p:nvPr/>
            </p:nvSpPr>
            <p:spPr>
              <a:xfrm>
                <a:off x="3644900" y="347662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6B1B0B"/>
                </a:solidFill>
              </a:ln>
            </p:spPr>
          </p:sp>
        </p:grpSp>
        <p:sp>
          <p:nvSpPr>
            <p:cNvPr id="152" name="TextBox 152"/>
            <p:cNvSpPr txBox="1"/>
            <p:nvPr/>
          </p:nvSpPr>
          <p:spPr>
            <a:xfrm>
              <a:off x="3843338" y="3433762"/>
              <a:ext cx="2533650" cy="147638"/>
            </a:xfrm>
            <a:prstGeom prst="rect">
              <a:avLst/>
            </a:prstGeom>
            <a:noFill/>
            <a:ln>
              <a:noFill/>
            </a:ln>
          </p:spPr>
          <p:txBody>
            <a:bodyPr wrap="none" lIns="0" tIns="0" rIns="0" bIns="0" anchor="t" anchorCtr="0">
              <a:spAutoFit/>
            </a:bodyPr>
            <a:lstStyle/>
            <a:p>
              <a:pPr algn="l"/>
              <a:r>
                <a:rPr lang="zh-CN" sz="750" b="1" dirty="0">
                  <a:solidFill>
                    <a:srgbClr val="6B1B0B"/>
                  </a:solidFill>
                  <a:latin typeface="+mn-lt"/>
                  <a:ea typeface="+mn-ea"/>
                  <a:cs typeface="+mn-cs"/>
                </a:rPr>
                <a:t>全链路数据血缘与操作留痕</a:t>
              </a:r>
              <a:r>
                <a:rPr lang="zh-CN" sz="750" dirty="0">
                  <a:solidFill>
                    <a:srgbClr val="52352F"/>
                  </a:solidFill>
                  <a:latin typeface="+mn-lt"/>
                  <a:ea typeface="+mn-ea"/>
                  <a:cs typeface="+mn-cs"/>
                </a:rPr>
                <a:t>（可追溯、可审计、可复现）</a:t>
              </a:r>
            </a:p>
          </p:txBody>
        </p:sp>
      </p:grpSp>
      <p:grpSp>
        <p:nvGrpSpPr>
          <p:cNvPr id="204" name="dashboard"/>
          <p:cNvGrpSpPr/>
          <p:nvPr/>
        </p:nvGrpSpPr>
        <p:grpSpPr>
          <a:xfrm>
            <a:off x="7924800" y="952500"/>
            <a:ext cx="4076700" cy="2762250"/>
            <a:chOff x="7924800" y="952500"/>
            <a:chExt cx="4076700" cy="2762250"/>
          </a:xfrm>
        </p:grpSpPr>
        <p:sp>
          <p:nvSpPr>
            <p:cNvPr id="154" name="Rectangle 154"/>
            <p:cNvSpPr/>
            <p:nvPr/>
          </p:nvSpPr>
          <p:spPr>
            <a:xfrm>
              <a:off x="7924800" y="952500"/>
              <a:ext cx="4076700" cy="2762250"/>
            </a:xfrm>
            <a:prstGeom prst="roundRect">
              <a:avLst>
                <a:gd name="adj" fmla="val 2069"/>
              </a:avLst>
            </a:prstGeom>
            <a:solidFill>
              <a:srgbClr val="FCFDFE"/>
            </a:solidFill>
            <a:ln w="9525">
              <a:solidFill>
                <a:srgbClr val="CFDFEE"/>
              </a:solidFill>
            </a:ln>
          </p:spPr>
        </p:sp>
        <p:grpSp>
          <p:nvGrpSpPr>
            <p:cNvPr id="167" name="db-1"/>
            <p:cNvGrpSpPr/>
            <p:nvPr/>
          </p:nvGrpSpPr>
          <p:grpSpPr>
            <a:xfrm>
              <a:off x="7996238" y="1085850"/>
              <a:ext cx="3929062" cy="542925"/>
              <a:chOff x="7996238" y="1085850"/>
              <a:chExt cx="3929062" cy="542925"/>
            </a:xfrm>
          </p:grpSpPr>
          <p:sp>
            <p:nvSpPr>
              <p:cNvPr id="155" name="TextBox 155"/>
              <p:cNvSpPr txBox="1"/>
              <p:nvPr/>
            </p:nvSpPr>
            <p:spPr>
              <a:xfrm>
                <a:off x="7996238" y="1236345"/>
                <a:ext cx="372999"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完整性</a:t>
                </a:r>
              </a:p>
            </p:txBody>
          </p:sp>
          <p:sp>
            <p:nvSpPr>
              <p:cNvPr id="156" name="Ellipse 156"/>
              <p:cNvSpPr/>
              <p:nvPr/>
            </p:nvSpPr>
            <p:spPr>
              <a:xfrm>
                <a:off x="8553450" y="1085850"/>
                <a:ext cx="419100" cy="419100"/>
              </a:xfrm>
              <a:prstGeom prst="ellipse">
                <a:avLst/>
              </a:prstGeom>
              <a:noFill/>
              <a:ln w="66675">
                <a:solidFill>
                  <a:srgbClr val="D6E6F3"/>
                </a:solidFill>
              </a:ln>
            </p:spPr>
          </p:sp>
          <p:sp>
            <p:nvSpPr>
              <p:cNvPr id="157" name="Freeform 157"/>
              <p:cNvSpPr/>
              <p:nvPr/>
            </p:nvSpPr>
            <p:spPr>
              <a:xfrm>
                <a:off x="8545813" y="1085850"/>
                <a:ext cx="429327" cy="424275"/>
              </a:xfrm>
              <a:custGeom>
                <a:avLst/>
                <a:gdLst/>
                <a:ahLst/>
                <a:cxnLst/>
                <a:rect l="l" t="t" r="r" b="b"/>
                <a:pathLst>
                  <a:path w="429327" h="424275">
                    <a:moveTo>
                      <a:pt x="217187" y="0"/>
                    </a:moveTo>
                    <a:cubicBezTo>
                      <a:pt x="330967" y="25"/>
                      <a:pt x="423938" y="90839"/>
                      <a:pt x="426632" y="204588"/>
                    </a:cubicBezTo>
                    <a:cubicBezTo>
                      <a:pt x="429327" y="318336"/>
                      <a:pt x="340760" y="413451"/>
                      <a:pt x="227109" y="418863"/>
                    </a:cubicBezTo>
                    <a:cubicBezTo>
                      <a:pt x="113457" y="424275"/>
                      <a:pt x="16253" y="338006"/>
                      <a:pt x="8126" y="224516"/>
                    </a:cubicBezTo>
                    <a:cubicBezTo>
                      <a:pt x="0" y="111027"/>
                      <a:pt x="83921" y="11789"/>
                      <a:pt x="197184" y="952"/>
                    </a:cubicBezTo>
                  </a:path>
                </a:pathLst>
              </a:custGeom>
              <a:noFill/>
              <a:ln w="66675">
                <a:solidFill>
                  <a:srgbClr val="92301C"/>
                </a:solidFill>
              </a:ln>
            </p:spPr>
          </p:sp>
          <p:sp>
            <p:nvSpPr>
              <p:cNvPr id="158" name="TextBox 158"/>
              <p:cNvSpPr txBox="1"/>
              <p:nvPr/>
            </p:nvSpPr>
            <p:spPr>
              <a:xfrm>
                <a:off x="8615089" y="1252538"/>
                <a:ext cx="295821"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j-lt"/>
                    <a:ea typeface="+mj-ea"/>
                    <a:cs typeface="+mj-cs"/>
                  </a:rPr>
                  <a:t>98.5%</a:t>
                </a:r>
              </a:p>
            </p:txBody>
          </p:sp>
          <p:grpSp>
            <p:nvGrpSpPr>
              <p:cNvPr id="165" name="Group 165"/>
              <p:cNvGrpSpPr/>
              <p:nvPr/>
            </p:nvGrpSpPr>
            <p:grpSpPr>
              <a:xfrm>
                <a:off x="9139238" y="1093232"/>
                <a:ext cx="2771774" cy="431006"/>
                <a:chOff x="9139238" y="1093232"/>
                <a:chExt cx="2771774" cy="431006"/>
              </a:xfrm>
            </p:grpSpPr>
            <p:sp>
              <p:nvSpPr>
                <p:cNvPr id="159" name="TextBox 159"/>
                <p:cNvSpPr txBox="1"/>
                <p:nvPr/>
              </p:nvSpPr>
              <p:spPr>
                <a:xfrm>
                  <a:off x="9139238" y="109323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应采集字段　</a:t>
                  </a:r>
                </a:p>
              </p:txBody>
            </p:sp>
            <p:sp>
              <p:nvSpPr>
                <p:cNvPr id="160" name="TextBox 160"/>
                <p:cNvSpPr txBox="1"/>
                <p:nvPr/>
              </p:nvSpPr>
              <p:spPr>
                <a:xfrm>
                  <a:off x="11551794" y="1093232"/>
                  <a:ext cx="359218"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12,480　</a:t>
                  </a:r>
                </a:p>
              </p:txBody>
            </p:sp>
            <p:sp>
              <p:nvSpPr>
                <p:cNvPr id="161" name="TextBox 161"/>
                <p:cNvSpPr txBox="1"/>
                <p:nvPr/>
              </p:nvSpPr>
              <p:spPr>
                <a:xfrm>
                  <a:off x="9139238" y="124563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已采集字段　</a:t>
                  </a:r>
                </a:p>
              </p:txBody>
            </p:sp>
            <p:sp>
              <p:nvSpPr>
                <p:cNvPr id="162" name="TextBox 162"/>
                <p:cNvSpPr txBox="1"/>
                <p:nvPr/>
              </p:nvSpPr>
              <p:spPr>
                <a:xfrm>
                  <a:off x="11551794" y="1245632"/>
                  <a:ext cx="359218"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12,294　</a:t>
                  </a:r>
                </a:p>
              </p:txBody>
            </p:sp>
            <p:sp>
              <p:nvSpPr>
                <p:cNvPr id="163" name="TextBox 163"/>
                <p:cNvSpPr txBox="1"/>
                <p:nvPr/>
              </p:nvSpPr>
              <p:spPr>
                <a:xfrm>
                  <a:off x="9139238" y="1398032"/>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缺失字段　</a:t>
                  </a:r>
                </a:p>
              </p:txBody>
            </p:sp>
            <p:sp>
              <p:nvSpPr>
                <p:cNvPr id="164" name="TextBox 164"/>
                <p:cNvSpPr txBox="1"/>
                <p:nvPr/>
              </p:nvSpPr>
              <p:spPr>
                <a:xfrm>
                  <a:off x="11671569" y="1398032"/>
                  <a:ext cx="239443"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186　</a:t>
                  </a:r>
                </a:p>
              </p:txBody>
            </p:sp>
          </p:grpSp>
          <p:sp>
            <p:nvSpPr>
              <p:cNvPr id="166" name="Line 166"/>
              <p:cNvSpPr/>
              <p:nvPr/>
            </p:nvSpPr>
            <p:spPr>
              <a:xfrm>
                <a:off x="8001000" y="1619250"/>
                <a:ext cx="3924300" cy="9525"/>
              </a:xfrm>
              <a:custGeom>
                <a:avLst/>
                <a:gdLst/>
                <a:ahLst/>
                <a:cxnLst/>
                <a:rect l="l" t="t" r="r" b="b"/>
                <a:pathLst>
                  <a:path w="3924300" h="9525">
                    <a:moveTo>
                      <a:pt x="0" y="0"/>
                    </a:moveTo>
                    <a:lnTo>
                      <a:pt x="3924300" y="0"/>
                    </a:lnTo>
                  </a:path>
                </a:pathLst>
              </a:custGeom>
              <a:noFill/>
              <a:ln w="9525">
                <a:solidFill>
                  <a:srgbClr val="E4EDF5"/>
                </a:solidFill>
              </a:ln>
            </p:spPr>
          </p:sp>
        </p:grpSp>
        <p:grpSp>
          <p:nvGrpSpPr>
            <p:cNvPr id="180" name="db-2"/>
            <p:cNvGrpSpPr/>
            <p:nvPr/>
          </p:nvGrpSpPr>
          <p:grpSpPr>
            <a:xfrm>
              <a:off x="7996238" y="1752600"/>
              <a:ext cx="3929062" cy="542925"/>
              <a:chOff x="7996238" y="1752600"/>
              <a:chExt cx="3929062" cy="542925"/>
            </a:xfrm>
          </p:grpSpPr>
          <p:sp>
            <p:nvSpPr>
              <p:cNvPr id="168" name="TextBox 168"/>
              <p:cNvSpPr txBox="1"/>
              <p:nvPr/>
            </p:nvSpPr>
            <p:spPr>
              <a:xfrm>
                <a:off x="7996238" y="1903095"/>
                <a:ext cx="372999"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及时性</a:t>
                </a:r>
              </a:p>
            </p:txBody>
          </p:sp>
          <p:sp>
            <p:nvSpPr>
              <p:cNvPr id="169" name="Ellipse 169"/>
              <p:cNvSpPr/>
              <p:nvPr/>
            </p:nvSpPr>
            <p:spPr>
              <a:xfrm>
                <a:off x="8553450" y="1752600"/>
                <a:ext cx="419100" cy="419100"/>
              </a:xfrm>
              <a:prstGeom prst="ellipse">
                <a:avLst/>
              </a:prstGeom>
              <a:noFill/>
              <a:ln w="66675">
                <a:solidFill>
                  <a:srgbClr val="D6E6F3"/>
                </a:solidFill>
              </a:ln>
            </p:spPr>
          </p:sp>
          <p:sp>
            <p:nvSpPr>
              <p:cNvPr id="170" name="Freeform 170"/>
              <p:cNvSpPr/>
              <p:nvPr/>
            </p:nvSpPr>
            <p:spPr>
              <a:xfrm>
                <a:off x="8536465" y="1752600"/>
                <a:ext cx="440972" cy="430427"/>
              </a:xfrm>
              <a:custGeom>
                <a:avLst/>
                <a:gdLst/>
                <a:ahLst/>
                <a:cxnLst/>
                <a:rect l="l" t="t" r="r" b="b"/>
                <a:pathLst>
                  <a:path w="440972" h="430427">
                    <a:moveTo>
                      <a:pt x="226535" y="0"/>
                    </a:moveTo>
                    <a:cubicBezTo>
                      <a:pt x="337415" y="485"/>
                      <a:pt x="428725" y="87263"/>
                      <a:pt x="434849" y="197976"/>
                    </a:cubicBezTo>
                    <a:cubicBezTo>
                      <a:pt x="440972" y="308688"/>
                      <a:pt x="359789" y="405007"/>
                      <a:pt x="249638" y="417717"/>
                    </a:cubicBezTo>
                    <a:cubicBezTo>
                      <a:pt x="139487" y="430427"/>
                      <a:pt x="38502" y="355127"/>
                      <a:pt x="19251" y="245929"/>
                    </a:cubicBezTo>
                    <a:cubicBezTo>
                      <a:pt x="0" y="136732"/>
                      <a:pt x="69148" y="31439"/>
                      <a:pt x="177005" y="5715"/>
                    </a:cubicBezTo>
                  </a:path>
                </a:pathLst>
              </a:custGeom>
              <a:noFill/>
              <a:ln w="66675">
                <a:solidFill>
                  <a:srgbClr val="92301C"/>
                </a:solidFill>
              </a:ln>
            </p:spPr>
          </p:sp>
          <p:sp>
            <p:nvSpPr>
              <p:cNvPr id="171" name="TextBox 171"/>
              <p:cNvSpPr txBox="1"/>
              <p:nvPr/>
            </p:nvSpPr>
            <p:spPr>
              <a:xfrm>
                <a:off x="8615089" y="1919288"/>
                <a:ext cx="295821"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j-lt"/>
                    <a:ea typeface="+mj-ea"/>
                    <a:cs typeface="+mj-cs"/>
                  </a:rPr>
                  <a:t>96.2%</a:t>
                </a:r>
              </a:p>
            </p:txBody>
          </p:sp>
          <p:grpSp>
            <p:nvGrpSpPr>
              <p:cNvPr id="178" name="Group 178"/>
              <p:cNvGrpSpPr/>
              <p:nvPr/>
            </p:nvGrpSpPr>
            <p:grpSpPr>
              <a:xfrm>
                <a:off x="9139238" y="1759982"/>
                <a:ext cx="2771775" cy="431006"/>
                <a:chOff x="9139238" y="1759982"/>
                <a:chExt cx="2771775" cy="431006"/>
              </a:xfrm>
            </p:grpSpPr>
            <p:sp>
              <p:nvSpPr>
                <p:cNvPr id="172" name="TextBox 172"/>
                <p:cNvSpPr txBox="1"/>
                <p:nvPr/>
              </p:nvSpPr>
              <p:spPr>
                <a:xfrm>
                  <a:off x="9139238" y="175998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应按时任务　</a:t>
                  </a:r>
                </a:p>
              </p:txBody>
            </p:sp>
            <p:sp>
              <p:nvSpPr>
                <p:cNvPr id="173" name="TextBox 173"/>
                <p:cNvSpPr txBox="1"/>
                <p:nvPr/>
              </p:nvSpPr>
              <p:spPr>
                <a:xfrm>
                  <a:off x="11671569" y="1759982"/>
                  <a:ext cx="239443"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520　</a:t>
                  </a:r>
                </a:p>
              </p:txBody>
            </p:sp>
            <p:sp>
              <p:nvSpPr>
                <p:cNvPr id="174" name="TextBox 174"/>
                <p:cNvSpPr txBox="1"/>
                <p:nvPr/>
              </p:nvSpPr>
              <p:spPr>
                <a:xfrm>
                  <a:off x="9139238" y="1912382"/>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按时完成　</a:t>
                  </a:r>
                </a:p>
              </p:txBody>
            </p:sp>
            <p:sp>
              <p:nvSpPr>
                <p:cNvPr id="175" name="TextBox 175"/>
                <p:cNvSpPr txBox="1"/>
                <p:nvPr/>
              </p:nvSpPr>
              <p:spPr>
                <a:xfrm>
                  <a:off x="11671569" y="1912382"/>
                  <a:ext cx="239443"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500　</a:t>
                  </a:r>
                </a:p>
              </p:txBody>
            </p:sp>
            <p:sp>
              <p:nvSpPr>
                <p:cNvPr id="176" name="TextBox 176"/>
                <p:cNvSpPr txBox="1"/>
                <p:nvPr/>
              </p:nvSpPr>
              <p:spPr>
                <a:xfrm>
                  <a:off x="9139238" y="2064782"/>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超期任务　</a:t>
                  </a:r>
                </a:p>
              </p:txBody>
            </p:sp>
            <p:sp>
              <p:nvSpPr>
                <p:cNvPr id="177" name="TextBox 177"/>
                <p:cNvSpPr txBox="1"/>
                <p:nvPr/>
              </p:nvSpPr>
              <p:spPr>
                <a:xfrm>
                  <a:off x="11719490" y="2064782"/>
                  <a:ext cx="191523"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20　</a:t>
                  </a:r>
                </a:p>
              </p:txBody>
            </p:sp>
          </p:grpSp>
          <p:sp>
            <p:nvSpPr>
              <p:cNvPr id="179" name="Line 179"/>
              <p:cNvSpPr/>
              <p:nvPr/>
            </p:nvSpPr>
            <p:spPr>
              <a:xfrm>
                <a:off x="8001000" y="2286000"/>
                <a:ext cx="3924300" cy="9525"/>
              </a:xfrm>
              <a:custGeom>
                <a:avLst/>
                <a:gdLst/>
                <a:ahLst/>
                <a:cxnLst/>
                <a:rect l="l" t="t" r="r" b="b"/>
                <a:pathLst>
                  <a:path w="3924300" h="9525">
                    <a:moveTo>
                      <a:pt x="0" y="0"/>
                    </a:moveTo>
                    <a:lnTo>
                      <a:pt x="3924300" y="0"/>
                    </a:lnTo>
                  </a:path>
                </a:pathLst>
              </a:custGeom>
              <a:noFill/>
              <a:ln w="9525">
                <a:solidFill>
                  <a:srgbClr val="E4EDF5"/>
                </a:solidFill>
              </a:ln>
            </p:spPr>
          </p:sp>
        </p:grpSp>
        <p:grpSp>
          <p:nvGrpSpPr>
            <p:cNvPr id="193" name="db-3"/>
            <p:cNvGrpSpPr/>
            <p:nvPr/>
          </p:nvGrpSpPr>
          <p:grpSpPr>
            <a:xfrm>
              <a:off x="7996238" y="2418434"/>
              <a:ext cx="3929062" cy="543841"/>
              <a:chOff x="7996238" y="2418434"/>
              <a:chExt cx="3929062" cy="543841"/>
            </a:xfrm>
          </p:grpSpPr>
          <p:sp>
            <p:nvSpPr>
              <p:cNvPr id="181" name="TextBox 181"/>
              <p:cNvSpPr txBox="1"/>
              <p:nvPr/>
            </p:nvSpPr>
            <p:spPr>
              <a:xfrm>
                <a:off x="7996238" y="2569845"/>
                <a:ext cx="372999"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一致性</a:t>
                </a:r>
              </a:p>
            </p:txBody>
          </p:sp>
          <p:sp>
            <p:nvSpPr>
              <p:cNvPr id="182" name="Ellipse 182"/>
              <p:cNvSpPr/>
              <p:nvPr/>
            </p:nvSpPr>
            <p:spPr>
              <a:xfrm>
                <a:off x="8553450" y="2419350"/>
                <a:ext cx="419100" cy="419100"/>
              </a:xfrm>
              <a:prstGeom prst="ellipse">
                <a:avLst/>
              </a:prstGeom>
              <a:noFill/>
              <a:ln w="66675">
                <a:solidFill>
                  <a:srgbClr val="D6E6F3"/>
                </a:solidFill>
              </a:ln>
            </p:spPr>
          </p:sp>
          <p:sp>
            <p:nvSpPr>
              <p:cNvPr id="183" name="Freeform 183"/>
              <p:cNvSpPr/>
              <p:nvPr/>
            </p:nvSpPr>
            <p:spPr>
              <a:xfrm>
                <a:off x="8541146" y="2418434"/>
                <a:ext cx="438850" cy="430114"/>
              </a:xfrm>
              <a:custGeom>
                <a:avLst/>
                <a:gdLst/>
                <a:ahLst/>
                <a:cxnLst/>
                <a:rect l="l" t="t" r="r" b="b"/>
                <a:pathLst>
                  <a:path w="438850" h="430114">
                    <a:moveTo>
                      <a:pt x="221854" y="916"/>
                    </a:moveTo>
                    <a:cubicBezTo>
                      <a:pt x="333856" y="0"/>
                      <a:pt x="426777" y="87322"/>
                      <a:pt x="432814" y="199165"/>
                    </a:cubicBezTo>
                    <a:cubicBezTo>
                      <a:pt x="438850" y="311007"/>
                      <a:pt x="355869" y="407824"/>
                      <a:pt x="244419" y="418969"/>
                    </a:cubicBezTo>
                    <a:cubicBezTo>
                      <a:pt x="132970" y="430114"/>
                      <a:pt x="32460" y="351646"/>
                      <a:pt x="16230" y="240823"/>
                    </a:cubicBezTo>
                    <a:cubicBezTo>
                      <a:pt x="0" y="130000"/>
                      <a:pt x="73789" y="26007"/>
                      <a:pt x="183754" y="4726"/>
                    </a:cubicBezTo>
                  </a:path>
                </a:pathLst>
              </a:custGeom>
              <a:noFill/>
              <a:ln w="66675">
                <a:solidFill>
                  <a:srgbClr val="92301C"/>
                </a:solidFill>
              </a:ln>
            </p:spPr>
          </p:sp>
          <p:sp>
            <p:nvSpPr>
              <p:cNvPr id="184" name="TextBox 184"/>
              <p:cNvSpPr txBox="1"/>
              <p:nvPr/>
            </p:nvSpPr>
            <p:spPr>
              <a:xfrm>
                <a:off x="8615089" y="2586038"/>
                <a:ext cx="295821"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j-lt"/>
                    <a:ea typeface="+mj-ea"/>
                    <a:cs typeface="+mj-cs"/>
                  </a:rPr>
                  <a:t>97.1%</a:t>
                </a:r>
              </a:p>
            </p:txBody>
          </p:sp>
          <p:grpSp>
            <p:nvGrpSpPr>
              <p:cNvPr id="191" name="Group 191"/>
              <p:cNvGrpSpPr/>
              <p:nvPr/>
            </p:nvGrpSpPr>
            <p:grpSpPr>
              <a:xfrm>
                <a:off x="9139238" y="2426732"/>
                <a:ext cx="2771775" cy="431006"/>
                <a:chOff x="9139238" y="2426732"/>
                <a:chExt cx="2771775" cy="431006"/>
              </a:xfrm>
            </p:grpSpPr>
            <p:sp>
              <p:nvSpPr>
                <p:cNvPr id="185" name="TextBox 185"/>
                <p:cNvSpPr txBox="1"/>
                <p:nvPr/>
              </p:nvSpPr>
              <p:spPr>
                <a:xfrm>
                  <a:off x="9139238" y="242673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校验总规则　</a:t>
                  </a:r>
                </a:p>
              </p:txBody>
            </p:sp>
            <p:sp>
              <p:nvSpPr>
                <p:cNvPr id="186" name="TextBox 186"/>
                <p:cNvSpPr txBox="1"/>
                <p:nvPr/>
              </p:nvSpPr>
              <p:spPr>
                <a:xfrm>
                  <a:off x="11599715" y="2426732"/>
                  <a:ext cx="311298"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1,200　</a:t>
                  </a:r>
                </a:p>
              </p:txBody>
            </p:sp>
            <p:sp>
              <p:nvSpPr>
                <p:cNvPr id="187" name="TextBox 187"/>
                <p:cNvSpPr txBox="1"/>
                <p:nvPr/>
              </p:nvSpPr>
              <p:spPr>
                <a:xfrm>
                  <a:off x="9139238" y="2579132"/>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通过规则　</a:t>
                  </a:r>
                </a:p>
              </p:txBody>
            </p:sp>
            <p:sp>
              <p:nvSpPr>
                <p:cNvPr id="188" name="TextBox 188"/>
                <p:cNvSpPr txBox="1"/>
                <p:nvPr/>
              </p:nvSpPr>
              <p:spPr>
                <a:xfrm>
                  <a:off x="11599715" y="2579132"/>
                  <a:ext cx="311298"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1,165　</a:t>
                  </a:r>
                </a:p>
              </p:txBody>
            </p:sp>
            <p:sp>
              <p:nvSpPr>
                <p:cNvPr id="189" name="TextBox 189"/>
                <p:cNvSpPr txBox="1"/>
                <p:nvPr/>
              </p:nvSpPr>
              <p:spPr>
                <a:xfrm>
                  <a:off x="9139238" y="2731532"/>
                  <a:ext cx="44030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不一致项　</a:t>
                  </a:r>
                </a:p>
              </p:txBody>
            </p:sp>
            <p:sp>
              <p:nvSpPr>
                <p:cNvPr id="190" name="TextBox 190"/>
                <p:cNvSpPr txBox="1"/>
                <p:nvPr/>
              </p:nvSpPr>
              <p:spPr>
                <a:xfrm>
                  <a:off x="11719490" y="2731532"/>
                  <a:ext cx="191523"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35　</a:t>
                  </a:r>
                </a:p>
              </p:txBody>
            </p:sp>
          </p:grpSp>
          <p:sp>
            <p:nvSpPr>
              <p:cNvPr id="192" name="Line 192"/>
              <p:cNvSpPr/>
              <p:nvPr/>
            </p:nvSpPr>
            <p:spPr>
              <a:xfrm>
                <a:off x="8001000" y="2952750"/>
                <a:ext cx="3924300" cy="9525"/>
              </a:xfrm>
              <a:custGeom>
                <a:avLst/>
                <a:gdLst/>
                <a:ahLst/>
                <a:cxnLst/>
                <a:rect l="l" t="t" r="r" b="b"/>
                <a:pathLst>
                  <a:path w="3924300" h="9525">
                    <a:moveTo>
                      <a:pt x="0" y="0"/>
                    </a:moveTo>
                    <a:lnTo>
                      <a:pt x="3924300" y="0"/>
                    </a:lnTo>
                  </a:path>
                </a:pathLst>
              </a:custGeom>
              <a:noFill/>
              <a:ln w="9525">
                <a:solidFill>
                  <a:srgbClr val="E4EDF5"/>
                </a:solidFill>
              </a:ln>
            </p:spPr>
          </p:sp>
        </p:grpSp>
        <p:grpSp>
          <p:nvGrpSpPr>
            <p:cNvPr id="203" name="db-4"/>
            <p:cNvGrpSpPr/>
            <p:nvPr/>
          </p:nvGrpSpPr>
          <p:grpSpPr>
            <a:xfrm>
              <a:off x="7996238" y="3077289"/>
              <a:ext cx="3914775" cy="437676"/>
              <a:chOff x="7996238" y="3077289"/>
              <a:chExt cx="3914775" cy="437676"/>
            </a:xfrm>
          </p:grpSpPr>
          <p:sp>
            <p:nvSpPr>
              <p:cNvPr id="194" name="TextBox 194"/>
              <p:cNvSpPr txBox="1"/>
              <p:nvPr/>
            </p:nvSpPr>
            <p:spPr>
              <a:xfrm>
                <a:off x="7996238" y="32365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可追溯性</a:t>
                </a:r>
              </a:p>
            </p:txBody>
          </p:sp>
          <p:sp>
            <p:nvSpPr>
              <p:cNvPr id="195" name="Ellipse 195"/>
              <p:cNvSpPr/>
              <p:nvPr/>
            </p:nvSpPr>
            <p:spPr>
              <a:xfrm>
                <a:off x="8553450" y="3086100"/>
                <a:ext cx="419100" cy="419100"/>
              </a:xfrm>
              <a:prstGeom prst="ellipse">
                <a:avLst/>
              </a:prstGeom>
              <a:noFill/>
              <a:ln w="66675">
                <a:solidFill>
                  <a:srgbClr val="D6E6F3"/>
                </a:solidFill>
              </a:ln>
            </p:spPr>
          </p:sp>
          <p:sp>
            <p:nvSpPr>
              <p:cNvPr id="196" name="Freeform 196"/>
              <p:cNvSpPr/>
              <p:nvPr/>
            </p:nvSpPr>
            <p:spPr>
              <a:xfrm>
                <a:off x="8558098" y="3077289"/>
                <a:ext cx="439837" cy="437676"/>
              </a:xfrm>
              <a:custGeom>
                <a:avLst/>
                <a:gdLst/>
                <a:ahLst/>
                <a:cxnLst/>
                <a:rect l="l" t="t" r="r" b="b"/>
                <a:pathLst>
                  <a:path w="439837" h="437676">
                    <a:moveTo>
                      <a:pt x="204902" y="8811"/>
                    </a:moveTo>
                    <a:cubicBezTo>
                      <a:pt x="319361" y="0"/>
                      <a:pt x="419602" y="84923"/>
                      <a:pt x="429720" y="199274"/>
                    </a:cubicBezTo>
                    <a:cubicBezTo>
                      <a:pt x="439837" y="313625"/>
                      <a:pt x="356064" y="414830"/>
                      <a:pt x="241836" y="426253"/>
                    </a:cubicBezTo>
                    <a:cubicBezTo>
                      <a:pt x="127608" y="437676"/>
                      <a:pt x="25453" y="355064"/>
                      <a:pt x="12727" y="240974"/>
                    </a:cubicBezTo>
                    <a:cubicBezTo>
                      <a:pt x="0" y="126884"/>
                      <a:pt x="81440" y="23792"/>
                      <a:pt x="195377" y="9763"/>
                    </a:cubicBezTo>
                  </a:path>
                </a:pathLst>
              </a:custGeom>
              <a:noFill/>
              <a:ln w="66675">
                <a:solidFill>
                  <a:srgbClr val="92301C"/>
                </a:solidFill>
              </a:ln>
            </p:spPr>
          </p:sp>
          <p:sp>
            <p:nvSpPr>
              <p:cNvPr id="197" name="TextBox 197"/>
              <p:cNvSpPr txBox="1"/>
              <p:nvPr/>
            </p:nvSpPr>
            <p:spPr>
              <a:xfrm>
                <a:off x="8615089" y="3252788"/>
                <a:ext cx="295821"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j-lt"/>
                    <a:ea typeface="+mj-ea"/>
                    <a:cs typeface="+mj-cs"/>
                  </a:rPr>
                  <a:t>99.3%</a:t>
                </a:r>
              </a:p>
            </p:txBody>
          </p:sp>
          <p:grpSp>
            <p:nvGrpSpPr>
              <p:cNvPr id="202" name="Group 202"/>
              <p:cNvGrpSpPr/>
              <p:nvPr/>
            </p:nvGrpSpPr>
            <p:grpSpPr>
              <a:xfrm>
                <a:off x="9139238" y="3169682"/>
                <a:ext cx="2771775" cy="278606"/>
                <a:chOff x="9139238" y="3169682"/>
                <a:chExt cx="2771775" cy="278606"/>
              </a:xfrm>
            </p:grpSpPr>
            <p:sp>
              <p:nvSpPr>
                <p:cNvPr id="198" name="TextBox 198"/>
                <p:cNvSpPr txBox="1"/>
                <p:nvPr/>
              </p:nvSpPr>
              <p:spPr>
                <a:xfrm>
                  <a:off x="9139238" y="316968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有血缘记录　</a:t>
                  </a:r>
                </a:p>
              </p:txBody>
            </p:sp>
            <p:sp>
              <p:nvSpPr>
                <p:cNvPr id="199" name="TextBox 199"/>
                <p:cNvSpPr txBox="1"/>
                <p:nvPr/>
              </p:nvSpPr>
              <p:spPr>
                <a:xfrm>
                  <a:off x="11551794" y="3169682"/>
                  <a:ext cx="359218"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12,294　</a:t>
                  </a:r>
                </a:p>
              </p:txBody>
            </p:sp>
            <p:sp>
              <p:nvSpPr>
                <p:cNvPr id="200" name="TextBox 200"/>
                <p:cNvSpPr txBox="1"/>
                <p:nvPr/>
              </p:nvSpPr>
              <p:spPr>
                <a:xfrm>
                  <a:off x="9139238" y="332208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无血缘记录　</a:t>
                  </a:r>
                </a:p>
              </p:txBody>
            </p:sp>
            <p:sp>
              <p:nvSpPr>
                <p:cNvPr id="201" name="TextBox 201"/>
                <p:cNvSpPr txBox="1"/>
                <p:nvPr/>
              </p:nvSpPr>
              <p:spPr>
                <a:xfrm>
                  <a:off x="11719490" y="3322082"/>
                  <a:ext cx="191523" cy="126206"/>
                </a:xfrm>
                <a:prstGeom prst="rect">
                  <a:avLst/>
                </a:prstGeom>
                <a:noFill/>
                <a:ln>
                  <a:noFill/>
                </a:ln>
              </p:spPr>
              <p:txBody>
                <a:bodyPr wrap="none" lIns="0" tIns="0" rIns="0" bIns="0" anchor="t" anchorCtr="0">
                  <a:spAutoFit/>
                </a:bodyPr>
                <a:lstStyle/>
                <a:p>
                  <a:pPr algn="r"/>
                  <a:r>
                    <a:rPr lang="zh-CN" sz="640" dirty="0">
                      <a:solidFill>
                        <a:srgbClr val="52352F"/>
                      </a:solidFill>
                      <a:latin typeface="+mj-lt"/>
                      <a:ea typeface="+mj-ea"/>
                      <a:cs typeface="+mj-cs"/>
                    </a:rPr>
                    <a:t xml:space="preserve">87　</a:t>
                  </a:r>
                </a:p>
              </p:txBody>
            </p:sp>
          </p:grpSp>
        </p:grpSp>
      </p:grpSp>
      <p:grpSp>
        <p:nvGrpSpPr>
          <p:cNvPr id="243" name="roadmap"/>
          <p:cNvGrpSpPr/>
          <p:nvPr/>
        </p:nvGrpSpPr>
        <p:grpSpPr>
          <a:xfrm>
            <a:off x="185547" y="3819049"/>
            <a:ext cx="11815953" cy="1172289"/>
            <a:chOff x="185547" y="3819049"/>
            <a:chExt cx="11815953" cy="1172289"/>
          </a:xfrm>
        </p:grpSpPr>
        <p:sp>
          <p:nvSpPr>
            <p:cNvPr id="205" name="TextBox 205"/>
            <p:cNvSpPr txBox="1"/>
            <p:nvPr/>
          </p:nvSpPr>
          <p:spPr>
            <a:xfrm>
              <a:off x="185547" y="3819049"/>
              <a:ext cx="1698297"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90天实施路线图</a:t>
              </a:r>
              <a:r>
                <a:rPr lang="zh-CN" sz="790" dirty="0">
                  <a:solidFill>
                    <a:srgbClr val="6B1B0B"/>
                  </a:solidFill>
                  <a:latin typeface="+mn-lt"/>
                  <a:ea typeface="+mn-ea"/>
                  <a:cs typeface="+mn-cs"/>
                </a:rPr>
                <a:t xml:space="preserve">（示例测算）　</a:t>
              </a:r>
            </a:p>
          </p:txBody>
        </p:sp>
        <p:sp>
          <p:nvSpPr>
            <p:cNvPr id="206" name="Freeform 206"/>
            <p:cNvSpPr/>
            <p:nvPr/>
          </p:nvSpPr>
          <p:spPr>
            <a:xfrm>
              <a:off x="190500" y="4000500"/>
              <a:ext cx="3962400" cy="266700"/>
            </a:xfrm>
            <a:prstGeom prst="homePlate">
              <a:avLst>
                <a:gd name="adj" fmla="val 30000"/>
              </a:avLst>
            </a:prstGeom>
            <a:solidFill>
              <a:srgbClr val="C87C6C"/>
            </a:solidFill>
            <a:ln>
              <a:noFill/>
            </a:ln>
          </p:spPr>
        </p:sp>
        <p:sp>
          <p:nvSpPr>
            <p:cNvPr id="207" name="Freeform 207"/>
            <p:cNvSpPr/>
            <p:nvPr/>
          </p:nvSpPr>
          <p:spPr>
            <a:xfrm>
              <a:off x="4076700" y="4000500"/>
              <a:ext cx="3962400" cy="266700"/>
            </a:xfrm>
            <a:prstGeom prst="chevron">
              <a:avLst>
                <a:gd name="adj" fmla="val 30000"/>
              </a:avLst>
            </a:prstGeom>
            <a:solidFill>
              <a:srgbClr val="B7533F"/>
            </a:solidFill>
            <a:ln>
              <a:noFill/>
            </a:ln>
          </p:spPr>
        </p:sp>
        <p:sp>
          <p:nvSpPr>
            <p:cNvPr id="208" name="Freeform 208"/>
            <p:cNvSpPr/>
            <p:nvPr/>
          </p:nvSpPr>
          <p:spPr>
            <a:xfrm>
              <a:off x="7962900" y="4000500"/>
              <a:ext cx="4038600" cy="266700"/>
            </a:xfrm>
            <a:prstGeom prst="chevron">
              <a:avLst>
                <a:gd name="adj" fmla="val 30000"/>
              </a:avLst>
            </a:prstGeom>
            <a:solidFill>
              <a:srgbClr val="6B1B0B"/>
            </a:solidFill>
            <a:ln>
              <a:noFill/>
            </a:ln>
          </p:spPr>
        </p:sp>
        <p:grpSp>
          <p:nvGrpSpPr>
            <p:cNvPr id="212" name="rm-labels"/>
            <p:cNvGrpSpPr/>
            <p:nvPr/>
          </p:nvGrpSpPr>
          <p:grpSpPr>
            <a:xfrm>
              <a:off x="1583500" y="4086939"/>
              <a:ext cx="9016476" cy="154781"/>
              <a:chOff x="1583500" y="4086939"/>
              <a:chExt cx="9016476" cy="154781"/>
            </a:xfrm>
          </p:grpSpPr>
          <p:sp>
            <p:nvSpPr>
              <p:cNvPr id="209" name="TextBox 209"/>
              <p:cNvSpPr txBox="1"/>
              <p:nvPr/>
            </p:nvSpPr>
            <p:spPr>
              <a:xfrm>
                <a:off x="1583500" y="4086939"/>
                <a:ext cx="113830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j-lt"/>
                    <a:ea typeface="+mj-ea"/>
                    <a:cs typeface="+mj-cs"/>
                  </a:rPr>
                  <a:t xml:space="preserve">0 – 30 天 ｜ 口径盘点　</a:t>
                </a:r>
              </a:p>
            </p:txBody>
          </p:sp>
          <p:sp>
            <p:nvSpPr>
              <p:cNvPr id="210" name="TextBox 210"/>
              <p:cNvSpPr txBox="1"/>
              <p:nvPr/>
            </p:nvSpPr>
            <p:spPr>
              <a:xfrm>
                <a:off x="5497274" y="4086939"/>
                <a:ext cx="119745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j-lt"/>
                    <a:ea typeface="+mj-ea"/>
                    <a:cs typeface="+mj-cs"/>
                  </a:rPr>
                  <a:t xml:space="preserve">31 – 60 天 ｜ 双轨校验　</a:t>
                </a:r>
              </a:p>
            </p:txBody>
          </p:sp>
          <p:sp>
            <p:nvSpPr>
              <p:cNvPr id="211" name="TextBox 211"/>
              <p:cNvSpPr txBox="1"/>
              <p:nvPr/>
            </p:nvSpPr>
            <p:spPr>
              <a:xfrm>
                <a:off x="9402524" y="4086939"/>
                <a:ext cx="119745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j-lt"/>
                    <a:ea typeface="+mj-ea"/>
                    <a:cs typeface="+mj-cs"/>
                  </a:rPr>
                  <a:t xml:space="preserve">61 – 90 天 ｜ 试点报送　</a:t>
                </a:r>
              </a:p>
            </p:txBody>
          </p:sp>
        </p:grpSp>
        <p:grpSp>
          <p:nvGrpSpPr>
            <p:cNvPr id="222" name="rm-1"/>
            <p:cNvGrpSpPr/>
            <p:nvPr/>
          </p:nvGrpSpPr>
          <p:grpSpPr>
            <a:xfrm>
              <a:off x="383381" y="4407932"/>
              <a:ext cx="2709565" cy="583406"/>
              <a:chOff x="383381" y="4407932"/>
              <a:chExt cx="2709565" cy="583406"/>
            </a:xfrm>
          </p:grpSpPr>
          <p:grpSp>
            <p:nvGrpSpPr>
              <p:cNvPr id="216" name="Group 216"/>
              <p:cNvGrpSpPr/>
              <p:nvPr/>
            </p:nvGrpSpPr>
            <p:grpSpPr>
              <a:xfrm>
                <a:off x="383381" y="4512469"/>
                <a:ext cx="166688" cy="214312"/>
                <a:chOff x="383381" y="4512469"/>
                <a:chExt cx="166688" cy="214312"/>
              </a:xfrm>
            </p:grpSpPr>
            <p:sp>
              <p:nvSpPr>
                <p:cNvPr id="213" name="Freeform 213"/>
                <p:cNvSpPr/>
                <p:nvPr/>
              </p:nvSpPr>
              <p:spPr>
                <a:xfrm>
                  <a:off x="383381" y="4536281"/>
                  <a:ext cx="166688" cy="190500"/>
                </a:xfrm>
                <a:custGeom>
                  <a:avLst/>
                  <a:gdLst/>
                  <a:ahLst/>
                  <a:cxnLst/>
                  <a:rect l="l" t="t" r="r" b="b"/>
                  <a:pathLst>
                    <a:path w="166688" h="190500">
                      <a:moveTo>
                        <a:pt x="47625" y="0"/>
                      </a:moveTo>
                      <a:lnTo>
                        <a:pt x="23812" y="0"/>
                      </a:lnTo>
                      <a:cubicBezTo>
                        <a:pt x="10661" y="0"/>
                        <a:pt x="0" y="10661"/>
                        <a:pt x="0" y="23812"/>
                      </a:cubicBezTo>
                      <a:lnTo>
                        <a:pt x="0" y="166688"/>
                      </a:lnTo>
                      <a:cubicBezTo>
                        <a:pt x="0" y="179839"/>
                        <a:pt x="10661" y="190500"/>
                        <a:pt x="23812" y="190500"/>
                      </a:cubicBezTo>
                      <a:lnTo>
                        <a:pt x="142875" y="190500"/>
                      </a:lnTo>
                      <a:cubicBezTo>
                        <a:pt x="156026" y="190500"/>
                        <a:pt x="166688" y="179839"/>
                        <a:pt x="166688" y="166688"/>
                      </a:cubicBezTo>
                      <a:lnTo>
                        <a:pt x="166688" y="23812"/>
                      </a:lnTo>
                      <a:cubicBezTo>
                        <a:pt x="166688" y="10661"/>
                        <a:pt x="156026" y="0"/>
                        <a:pt x="142875" y="0"/>
                      </a:cubicBezTo>
                      <a:lnTo>
                        <a:pt x="119062" y="0"/>
                      </a:lnTo>
                    </a:path>
                  </a:pathLst>
                </a:custGeom>
                <a:noFill/>
                <a:ln w="23812">
                  <a:solidFill>
                    <a:srgbClr val="92301C"/>
                  </a:solidFill>
                </a:ln>
              </p:spPr>
            </p:sp>
            <p:sp>
              <p:nvSpPr>
                <p:cNvPr id="214" name="Freeform 214"/>
                <p:cNvSpPr/>
                <p:nvPr/>
              </p:nvSpPr>
              <p:spPr>
                <a:xfrm>
                  <a:off x="431006" y="4512469"/>
                  <a:ext cx="71438" cy="47625"/>
                </a:xfrm>
                <a:custGeom>
                  <a:avLst/>
                  <a:gdLst/>
                  <a:ahLst/>
                  <a:cxnLst/>
                  <a:rect l="l" t="t" r="r" b="b"/>
                  <a:pathLst>
                    <a:path w="71438" h="47625">
                      <a:moveTo>
                        <a:pt x="0" y="23812"/>
                      </a:moveTo>
                      <a:cubicBezTo>
                        <a:pt x="0" y="10661"/>
                        <a:pt x="10661" y="0"/>
                        <a:pt x="23812" y="0"/>
                      </a:cubicBezTo>
                      <a:lnTo>
                        <a:pt x="47625" y="0"/>
                      </a:lnTo>
                      <a:cubicBezTo>
                        <a:pt x="60776" y="0"/>
                        <a:pt x="71438" y="10661"/>
                        <a:pt x="71438" y="23812"/>
                      </a:cubicBezTo>
                      <a:cubicBezTo>
                        <a:pt x="71438" y="36964"/>
                        <a:pt x="60776" y="47625"/>
                        <a:pt x="47625" y="47625"/>
                      </a:cubicBezTo>
                      <a:lnTo>
                        <a:pt x="23812" y="47625"/>
                      </a:lnTo>
                      <a:cubicBezTo>
                        <a:pt x="10661" y="47625"/>
                        <a:pt x="0" y="36964"/>
                        <a:pt x="0" y="23812"/>
                      </a:cubicBezTo>
                    </a:path>
                  </a:pathLst>
                </a:custGeom>
                <a:noFill/>
                <a:ln w="23812">
                  <a:solidFill>
                    <a:srgbClr val="92301C"/>
                  </a:solidFill>
                </a:ln>
              </p:spPr>
            </p:sp>
            <p:sp>
              <p:nvSpPr>
                <p:cNvPr id="215" name="Freeform 215"/>
                <p:cNvSpPr/>
                <p:nvPr/>
              </p:nvSpPr>
              <p:spPr>
                <a:xfrm>
                  <a:off x="431006" y="4619625"/>
                  <a:ext cx="71438" cy="47625"/>
                </a:xfrm>
                <a:custGeom>
                  <a:avLst/>
                  <a:gdLst/>
                  <a:ahLst/>
                  <a:cxnLst/>
                  <a:rect l="l" t="t" r="r" b="b"/>
                  <a:pathLst>
                    <a:path w="71438" h="47625">
                      <a:moveTo>
                        <a:pt x="0" y="23812"/>
                      </a:moveTo>
                      <a:lnTo>
                        <a:pt x="23812" y="47625"/>
                      </a:lnTo>
                      <a:lnTo>
                        <a:pt x="71438" y="0"/>
                      </a:lnTo>
                    </a:path>
                  </a:pathLst>
                </a:custGeom>
                <a:noFill/>
                <a:ln w="23812">
                  <a:solidFill>
                    <a:srgbClr val="92301C"/>
                  </a:solidFill>
                </a:ln>
              </p:spPr>
            </p:sp>
          </p:grpSp>
          <p:grpSp>
            <p:nvGrpSpPr>
              <p:cNvPr id="221" name="Group 221"/>
              <p:cNvGrpSpPr/>
              <p:nvPr/>
            </p:nvGrpSpPr>
            <p:grpSpPr>
              <a:xfrm>
                <a:off x="719138" y="4407932"/>
                <a:ext cx="2373808" cy="583406"/>
                <a:chOff x="719138" y="4407932"/>
                <a:chExt cx="2373808" cy="583406"/>
              </a:xfrm>
            </p:grpSpPr>
            <p:sp>
              <p:nvSpPr>
                <p:cNvPr id="217" name="TextBox 217"/>
                <p:cNvSpPr txBox="1"/>
                <p:nvPr/>
              </p:nvSpPr>
              <p:spPr>
                <a:xfrm>
                  <a:off x="719138" y="4407932"/>
                  <a:ext cx="120576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梳理监管报送清单与口径要求</a:t>
                  </a:r>
                </a:p>
              </p:txBody>
            </p:sp>
            <p:sp>
              <p:nvSpPr>
                <p:cNvPr id="218" name="TextBox 218"/>
                <p:cNvSpPr txBox="1"/>
                <p:nvPr/>
              </p:nvSpPr>
              <p:spPr>
                <a:xfrm>
                  <a:off x="719138" y="4560332"/>
                  <a:ext cx="94729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完成现有数据资产盘点</a:t>
                  </a:r>
                </a:p>
              </p:txBody>
            </p:sp>
            <p:sp>
              <p:nvSpPr>
                <p:cNvPr id="219" name="TextBox 219"/>
                <p:cNvSpPr txBox="1"/>
                <p:nvPr/>
              </p:nvSpPr>
              <p:spPr>
                <a:xfrm>
                  <a:off x="719138" y="4712732"/>
                  <a:ext cx="111960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建立口径映射表与差异清单</a:t>
                  </a:r>
                </a:p>
              </p:txBody>
            </p:sp>
            <p:sp>
              <p:nvSpPr>
                <p:cNvPr id="220" name="TextBox 220"/>
                <p:cNvSpPr txBox="1"/>
                <p:nvPr/>
              </p:nvSpPr>
              <p:spPr>
                <a:xfrm>
                  <a:off x="719138" y="4865132"/>
                  <a:ext cx="2373808"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输出实施计划与规则库（示例测算：覆盖 90% 监管口径）　</a:t>
                  </a:r>
                </a:p>
              </p:txBody>
            </p:sp>
          </p:grpSp>
        </p:grpSp>
        <p:grpSp>
          <p:nvGrpSpPr>
            <p:cNvPr id="231" name="rm-2"/>
            <p:cNvGrpSpPr/>
            <p:nvPr/>
          </p:nvGrpSpPr>
          <p:grpSpPr>
            <a:xfrm>
              <a:off x="4259592" y="4407932"/>
              <a:ext cx="2695612" cy="583406"/>
              <a:chOff x="4259592" y="4407932"/>
              <a:chExt cx="2695612" cy="583406"/>
            </a:xfrm>
          </p:grpSpPr>
          <p:grpSp>
            <p:nvGrpSpPr>
              <p:cNvPr id="225" name="Group 225"/>
              <p:cNvGrpSpPr/>
              <p:nvPr/>
            </p:nvGrpSpPr>
            <p:grpSpPr>
              <a:xfrm>
                <a:off x="4259592" y="4507242"/>
                <a:ext cx="224766" cy="224766"/>
                <a:chOff x="4259592" y="4507242"/>
                <a:chExt cx="224766" cy="224766"/>
              </a:xfrm>
            </p:grpSpPr>
            <p:sp>
              <p:nvSpPr>
                <p:cNvPr id="223" name="Freeform 223"/>
                <p:cNvSpPr/>
                <p:nvPr/>
              </p:nvSpPr>
              <p:spPr>
                <a:xfrm>
                  <a:off x="4259592" y="4507242"/>
                  <a:ext cx="224766" cy="224766"/>
                </a:xfrm>
                <a:custGeom>
                  <a:avLst/>
                  <a:gdLst/>
                  <a:ahLst/>
                  <a:cxnLst/>
                  <a:rect l="l" t="t" r="r" b="b"/>
                  <a:pathLst>
                    <a:path w="224766" h="224766">
                      <a:moveTo>
                        <a:pt x="92440" y="20907"/>
                      </a:moveTo>
                      <a:cubicBezTo>
                        <a:pt x="97512" y="0"/>
                        <a:pt x="127254" y="0"/>
                        <a:pt x="132326" y="20907"/>
                      </a:cubicBezTo>
                      <a:cubicBezTo>
                        <a:pt x="133870" y="27278"/>
                        <a:pt x="138363" y="32528"/>
                        <a:pt x="144419" y="35037"/>
                      </a:cubicBezTo>
                      <a:cubicBezTo>
                        <a:pt x="150474" y="37546"/>
                        <a:pt x="157364" y="37012"/>
                        <a:pt x="162961" y="33599"/>
                      </a:cubicBezTo>
                      <a:cubicBezTo>
                        <a:pt x="181332" y="22408"/>
                        <a:pt x="202371" y="43434"/>
                        <a:pt x="191179" y="61817"/>
                      </a:cubicBezTo>
                      <a:cubicBezTo>
                        <a:pt x="187771" y="67411"/>
                        <a:pt x="187238" y="74296"/>
                        <a:pt x="189744" y="80348"/>
                      </a:cubicBezTo>
                      <a:cubicBezTo>
                        <a:pt x="192250" y="86400"/>
                        <a:pt x="197494" y="90892"/>
                        <a:pt x="203859" y="92440"/>
                      </a:cubicBezTo>
                      <a:cubicBezTo>
                        <a:pt x="224766" y="97512"/>
                        <a:pt x="224766" y="127254"/>
                        <a:pt x="203859" y="132326"/>
                      </a:cubicBezTo>
                      <a:cubicBezTo>
                        <a:pt x="197488" y="133870"/>
                        <a:pt x="192238" y="138363"/>
                        <a:pt x="189729" y="144419"/>
                      </a:cubicBezTo>
                      <a:cubicBezTo>
                        <a:pt x="187220" y="150474"/>
                        <a:pt x="187754" y="157364"/>
                        <a:pt x="191167" y="162961"/>
                      </a:cubicBezTo>
                      <a:cubicBezTo>
                        <a:pt x="202359" y="181332"/>
                        <a:pt x="181332" y="202371"/>
                        <a:pt x="162949" y="191179"/>
                      </a:cubicBezTo>
                      <a:cubicBezTo>
                        <a:pt x="157355" y="187771"/>
                        <a:pt x="150470" y="187238"/>
                        <a:pt x="144418" y="189744"/>
                      </a:cubicBezTo>
                      <a:cubicBezTo>
                        <a:pt x="138366" y="192250"/>
                        <a:pt x="133874" y="197494"/>
                        <a:pt x="132326" y="203859"/>
                      </a:cubicBezTo>
                      <a:cubicBezTo>
                        <a:pt x="127254" y="224766"/>
                        <a:pt x="97512" y="224766"/>
                        <a:pt x="92440" y="203859"/>
                      </a:cubicBezTo>
                      <a:cubicBezTo>
                        <a:pt x="90897" y="197488"/>
                        <a:pt x="86403" y="192238"/>
                        <a:pt x="80348" y="189729"/>
                      </a:cubicBezTo>
                      <a:cubicBezTo>
                        <a:pt x="74292" y="187220"/>
                        <a:pt x="67402" y="187754"/>
                        <a:pt x="61805" y="191167"/>
                      </a:cubicBezTo>
                      <a:cubicBezTo>
                        <a:pt x="43434" y="202359"/>
                        <a:pt x="22396" y="181332"/>
                        <a:pt x="33588" y="162949"/>
                      </a:cubicBezTo>
                      <a:cubicBezTo>
                        <a:pt x="36995" y="157355"/>
                        <a:pt x="37528" y="150470"/>
                        <a:pt x="35022" y="144418"/>
                      </a:cubicBezTo>
                      <a:cubicBezTo>
                        <a:pt x="32516" y="138366"/>
                        <a:pt x="27272" y="133874"/>
                        <a:pt x="20907" y="132326"/>
                      </a:cubicBezTo>
                      <a:cubicBezTo>
                        <a:pt x="0" y="127254"/>
                        <a:pt x="0" y="97512"/>
                        <a:pt x="20907" y="92440"/>
                      </a:cubicBezTo>
                      <a:cubicBezTo>
                        <a:pt x="27278" y="90897"/>
                        <a:pt x="32528" y="86403"/>
                        <a:pt x="35037" y="80348"/>
                      </a:cubicBezTo>
                      <a:cubicBezTo>
                        <a:pt x="37546" y="74292"/>
                        <a:pt x="37012" y="67402"/>
                        <a:pt x="33599" y="61805"/>
                      </a:cubicBezTo>
                      <a:cubicBezTo>
                        <a:pt x="22408" y="43434"/>
                        <a:pt x="43434" y="22396"/>
                        <a:pt x="61817" y="33588"/>
                      </a:cubicBezTo>
                      <a:cubicBezTo>
                        <a:pt x="73724" y="40827"/>
                        <a:pt x="89154" y="34421"/>
                        <a:pt x="92440" y="20907"/>
                      </a:cubicBezTo>
                    </a:path>
                  </a:pathLst>
                </a:custGeom>
                <a:noFill/>
                <a:ln w="23812">
                  <a:solidFill>
                    <a:srgbClr val="92301C"/>
                  </a:solidFill>
                </a:ln>
              </p:spPr>
            </p:sp>
            <p:sp>
              <p:nvSpPr>
                <p:cNvPr id="224" name="Freeform 224"/>
                <p:cNvSpPr/>
                <p:nvPr/>
              </p:nvSpPr>
              <p:spPr>
                <a:xfrm>
                  <a:off x="4336256" y="45839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23812">
                  <a:solidFill>
                    <a:srgbClr val="92301C"/>
                  </a:solidFill>
                </a:ln>
              </p:spPr>
            </p:sp>
          </p:grpSp>
          <p:grpSp>
            <p:nvGrpSpPr>
              <p:cNvPr id="230" name="Group 230"/>
              <p:cNvGrpSpPr/>
              <p:nvPr/>
            </p:nvGrpSpPr>
            <p:grpSpPr>
              <a:xfrm>
                <a:off x="4624388" y="4407932"/>
                <a:ext cx="2330816" cy="583406"/>
                <a:chOff x="4624388" y="4407932"/>
                <a:chExt cx="2330816" cy="583406"/>
              </a:xfrm>
            </p:grpSpPr>
            <p:sp>
              <p:nvSpPr>
                <p:cNvPr id="226" name="TextBox 226"/>
                <p:cNvSpPr txBox="1"/>
                <p:nvPr/>
              </p:nvSpPr>
              <p:spPr>
                <a:xfrm>
                  <a:off x="4624388" y="4407932"/>
                  <a:ext cx="111960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搭建标准化与聚合加工链路</a:t>
                  </a:r>
                </a:p>
              </p:txBody>
            </p:sp>
            <p:sp>
              <p:nvSpPr>
                <p:cNvPr id="227" name="TextBox 227"/>
                <p:cNvSpPr txBox="1"/>
                <p:nvPr/>
              </p:nvSpPr>
              <p:spPr>
                <a:xfrm>
                  <a:off x="4624388" y="4560332"/>
                  <a:ext cx="137807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建立多口径、历史、同业双轨校验</a:t>
                  </a:r>
                </a:p>
              </p:txBody>
            </p:sp>
            <p:sp>
              <p:nvSpPr>
                <p:cNvPr id="228" name="TextBox 228"/>
                <p:cNvSpPr txBox="1"/>
                <p:nvPr/>
              </p:nvSpPr>
              <p:spPr>
                <a:xfrm>
                  <a:off x="4624388" y="4712732"/>
                  <a:ext cx="120576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完善异常解释与材料生成功能</a:t>
                  </a:r>
                </a:p>
              </p:txBody>
            </p:sp>
            <p:sp>
              <p:nvSpPr>
                <p:cNvPr id="229" name="TextBox 229"/>
                <p:cNvSpPr txBox="1"/>
                <p:nvPr/>
              </p:nvSpPr>
              <p:spPr>
                <a:xfrm>
                  <a:off x="4624388" y="4865132"/>
                  <a:ext cx="2330816"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内部试运行与压力测试（示例测算：校验规则 1,200 条）　</a:t>
                  </a:r>
                </a:p>
              </p:txBody>
            </p:sp>
          </p:grpSp>
        </p:grpSp>
        <p:grpSp>
          <p:nvGrpSpPr>
            <p:cNvPr id="242" name="rm-3"/>
            <p:cNvGrpSpPr/>
            <p:nvPr/>
          </p:nvGrpSpPr>
          <p:grpSpPr>
            <a:xfrm>
              <a:off x="8151019" y="4407932"/>
              <a:ext cx="2656767" cy="583406"/>
              <a:chOff x="8151019" y="4407932"/>
              <a:chExt cx="2656767" cy="583406"/>
            </a:xfrm>
          </p:grpSpPr>
          <p:grpSp>
            <p:nvGrpSpPr>
              <p:cNvPr id="236" name="Group 236"/>
              <p:cNvGrpSpPr/>
              <p:nvPr/>
            </p:nvGrpSpPr>
            <p:grpSpPr>
              <a:xfrm>
                <a:off x="8151019" y="4524375"/>
                <a:ext cx="214313" cy="200025"/>
                <a:chOff x="8151019" y="4524375"/>
                <a:chExt cx="214313" cy="200025"/>
              </a:xfrm>
            </p:grpSpPr>
            <p:sp>
              <p:nvSpPr>
                <p:cNvPr id="232" name="Freeform 232"/>
                <p:cNvSpPr/>
                <p:nvPr/>
              </p:nvSpPr>
              <p:spPr>
                <a:xfrm>
                  <a:off x="8151019" y="4619625"/>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92301C"/>
                  </a:solidFill>
                </a:ln>
              </p:spPr>
            </p:sp>
            <p:sp>
              <p:nvSpPr>
                <p:cNvPr id="233" name="Freeform 233"/>
                <p:cNvSpPr/>
                <p:nvPr/>
              </p:nvSpPr>
              <p:spPr>
                <a:xfrm>
                  <a:off x="8293894" y="4572000"/>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92301C"/>
                  </a:solidFill>
                </a:ln>
              </p:spPr>
            </p:sp>
            <p:sp>
              <p:nvSpPr>
                <p:cNvPr id="234" name="Freeform 234"/>
                <p:cNvSpPr/>
                <p:nvPr/>
              </p:nvSpPr>
              <p:spPr>
                <a:xfrm>
                  <a:off x="8222456" y="4524375"/>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92301C"/>
                  </a:solidFill>
                </a:ln>
              </p:spPr>
            </p:sp>
            <p:sp>
              <p:nvSpPr>
                <p:cNvPr id="235" name="Freeform 235"/>
                <p:cNvSpPr/>
                <p:nvPr/>
              </p:nvSpPr>
              <p:spPr>
                <a:xfrm>
                  <a:off x="8162925" y="4714875"/>
                  <a:ext cx="166688" cy="9525"/>
                </a:xfrm>
                <a:custGeom>
                  <a:avLst/>
                  <a:gdLst/>
                  <a:ahLst/>
                  <a:cxnLst/>
                  <a:rect l="l" t="t" r="r" b="b"/>
                  <a:pathLst>
                    <a:path w="166688" h="9525">
                      <a:moveTo>
                        <a:pt x="0" y="0"/>
                      </a:moveTo>
                      <a:lnTo>
                        <a:pt x="166688" y="0"/>
                      </a:lnTo>
                    </a:path>
                  </a:pathLst>
                </a:custGeom>
                <a:noFill/>
                <a:ln w="23812">
                  <a:solidFill>
                    <a:srgbClr val="92301C"/>
                  </a:solidFill>
                </a:ln>
              </p:spPr>
            </p:sp>
          </p:grpSp>
          <p:grpSp>
            <p:nvGrpSpPr>
              <p:cNvPr id="241" name="Group 241"/>
              <p:cNvGrpSpPr/>
              <p:nvPr/>
            </p:nvGrpSpPr>
            <p:grpSpPr>
              <a:xfrm>
                <a:off x="8510588" y="4407932"/>
                <a:ext cx="2297198" cy="583406"/>
                <a:chOff x="8510588" y="4407932"/>
                <a:chExt cx="2297198" cy="583406"/>
              </a:xfrm>
            </p:grpSpPr>
            <p:sp>
              <p:nvSpPr>
                <p:cNvPr id="237" name="TextBox 237"/>
                <p:cNvSpPr txBox="1"/>
                <p:nvPr/>
              </p:nvSpPr>
              <p:spPr>
                <a:xfrm>
                  <a:off x="8510588" y="4407932"/>
                  <a:ext cx="1119607"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选择重点报表开展试点报送</a:t>
                  </a:r>
                </a:p>
              </p:txBody>
            </p:sp>
            <p:sp>
              <p:nvSpPr>
                <p:cNvPr id="238" name="TextBox 238"/>
                <p:cNvSpPr txBox="1"/>
                <p:nvPr/>
              </p:nvSpPr>
              <p:spPr>
                <a:xfrm>
                  <a:off x="8510588" y="4560332"/>
                  <a:ext cx="1205763"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打通电子审批与监管报送通道</a:t>
                  </a:r>
                </a:p>
              </p:txBody>
            </p:sp>
            <p:sp>
              <p:nvSpPr>
                <p:cNvPr id="239" name="TextBox 239"/>
                <p:cNvSpPr txBox="1"/>
                <p:nvPr/>
              </p:nvSpPr>
              <p:spPr>
                <a:xfrm>
                  <a:off x="8510588" y="4712732"/>
                  <a:ext cx="1033450"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n-lt"/>
                      <a:ea typeface="+mn-ea"/>
                      <a:cs typeface="+mn-cs"/>
                    </a:rPr>
                    <a:t>建立回执处理与问题闭环</a:t>
                  </a:r>
                </a:p>
              </p:txBody>
            </p:sp>
            <p:sp>
              <p:nvSpPr>
                <p:cNvPr id="240" name="TextBox 240"/>
                <p:cNvSpPr txBox="1"/>
                <p:nvPr/>
              </p:nvSpPr>
              <p:spPr>
                <a:xfrm>
                  <a:off x="8510588" y="4865132"/>
                  <a:ext cx="2297198" cy="126206"/>
                </a:xfrm>
                <a:prstGeom prst="rect">
                  <a:avLst/>
                </a:prstGeom>
                <a:noFill/>
                <a:ln>
                  <a:noFill/>
                </a:ln>
              </p:spPr>
              <p:txBody>
                <a:bodyPr wrap="none" lIns="0" tIns="0" rIns="0" bIns="0" anchor="t" anchorCtr="0">
                  <a:spAutoFit/>
                </a:bodyPr>
                <a:lstStyle/>
                <a:p>
                  <a:pPr algn="l" marL="76200" indent="-76200">
                    <a:buClr>
                      <a:srgbClr val="52352F"/>
                    </a:buClr>
                    <a:buSzTx/>
                    <a:buFontTx/>
                    <a:buChar char="•"/>
                  </a:pPr>
                  <a:r>
                    <a:rPr lang="zh-CN" sz="640" dirty="0">
                      <a:solidFill>
                        <a:srgbClr val="52352F"/>
                      </a:solidFill>
                      <a:latin typeface="+mj-lt"/>
                      <a:ea typeface="+mj-ea"/>
                      <a:cs typeface="+mj-cs"/>
                    </a:rPr>
                    <a:t xml:space="preserve">形成可推广的标准化方案（示例测算：试点报表 10 张）　</a:t>
                  </a:r>
                </a:p>
              </p:txBody>
            </p:sp>
          </p:grpSp>
        </p:grpSp>
      </p:grpSp>
      <p:grpSp>
        <p:nvGrpSpPr>
          <p:cNvPr id="284" name="controls"/>
          <p:cNvGrpSpPr/>
          <p:nvPr/>
        </p:nvGrpSpPr>
        <p:grpSpPr>
          <a:xfrm>
            <a:off x="190500" y="5295900"/>
            <a:ext cx="11811000" cy="723900"/>
            <a:chOff x="190500" y="5295900"/>
            <a:chExt cx="11811000" cy="723900"/>
          </a:xfrm>
        </p:grpSpPr>
        <p:sp>
          <p:nvSpPr>
            <p:cNvPr id="244" name="Rectangle 244"/>
            <p:cNvSpPr/>
            <p:nvPr/>
          </p:nvSpPr>
          <p:spPr>
            <a:xfrm>
              <a:off x="190500" y="5295900"/>
              <a:ext cx="11811000" cy="723900"/>
            </a:xfrm>
            <a:prstGeom prst="roundRect">
              <a:avLst>
                <a:gd name="adj" fmla="val 7895"/>
              </a:avLst>
            </a:prstGeom>
            <a:solidFill>
              <a:srgbClr val="F6F9FD"/>
            </a:solidFill>
            <a:ln w="9525">
              <a:solidFill>
                <a:srgbClr val="CFDFEE"/>
              </a:solidFill>
            </a:ln>
          </p:spPr>
        </p:sp>
        <p:sp>
          <p:nvSpPr>
            <p:cNvPr id="245" name="TextBox 245"/>
            <p:cNvSpPr txBox="1"/>
            <p:nvPr/>
          </p:nvSpPr>
          <p:spPr>
            <a:xfrm>
              <a:off x="299847" y="5514499"/>
              <a:ext cx="669544" cy="190690"/>
            </a:xfrm>
            <a:prstGeom prst="rect">
              <a:avLst/>
            </a:prstGeom>
            <a:noFill/>
            <a:ln>
              <a:noFill/>
            </a:ln>
          </p:spPr>
          <p:txBody>
            <a:bodyPr wrap="none" lIns="0" tIns="0" rIns="0" bIns="0" anchor="t" anchorCtr="0">
              <a:spAutoFit/>
            </a:bodyPr>
            <a:lstStyle/>
            <a:p>
              <a:pPr algn="l"/>
              <a:r>
                <a:rPr lang="zh-CN" sz="980" b="1" dirty="0">
                  <a:solidFill>
                    <a:srgbClr val="6B1B0B"/>
                  </a:solidFill>
                  <a:latin typeface="+mn-lt"/>
                  <a:ea typeface="+mn-ea"/>
                  <a:cs typeface="+mn-cs"/>
                </a:rPr>
                <a:t>关键控制点</a:t>
              </a:r>
            </a:p>
          </p:txBody>
        </p:sp>
        <p:sp>
          <p:nvSpPr>
            <p:cNvPr id="246" name="TextBox 246"/>
            <p:cNvSpPr txBox="1"/>
            <p:nvPr/>
          </p:nvSpPr>
          <p:spPr>
            <a:xfrm>
              <a:off x="300038" y="5699284"/>
              <a:ext cx="558775" cy="133350"/>
            </a:xfrm>
            <a:prstGeom prst="rect">
              <a:avLst/>
            </a:prstGeom>
            <a:noFill/>
            <a:ln>
              <a:noFill/>
            </a:ln>
          </p:spPr>
          <p:txBody>
            <a:bodyPr wrap="none" lIns="0" tIns="0" rIns="0" bIns="0" anchor="t" anchorCtr="0">
              <a:spAutoFit/>
            </a:bodyPr>
            <a:lstStyle/>
            <a:p>
              <a:pPr algn="l"/>
              <a:r>
                <a:rPr lang="zh-CN" sz="680" b="1" dirty="0">
                  <a:solidFill>
                    <a:srgbClr val="C8452F"/>
                  </a:solidFill>
                  <a:latin typeface="+mn-lt"/>
                  <a:ea typeface="+mn-ea"/>
                  <a:cs typeface="+mn-cs"/>
                </a:rPr>
                <a:t>（必须到位）</a:t>
              </a:r>
            </a:p>
          </p:txBody>
        </p:sp>
        <p:sp>
          <p:nvSpPr>
            <p:cNvPr id="247" name="Line 247"/>
            <p:cNvSpPr/>
            <p:nvPr/>
          </p:nvSpPr>
          <p:spPr>
            <a:xfrm>
              <a:off x="1295400" y="5391150"/>
              <a:ext cx="9525" cy="533400"/>
            </a:xfrm>
            <a:custGeom>
              <a:avLst/>
              <a:gdLst/>
              <a:ahLst/>
              <a:cxnLst/>
              <a:rect l="l" t="t" r="r" b="b"/>
              <a:pathLst>
                <a:path w="9525" h="533400">
                  <a:moveTo>
                    <a:pt x="0" y="0"/>
                  </a:moveTo>
                  <a:lnTo>
                    <a:pt x="0" y="533400"/>
                  </a:lnTo>
                </a:path>
              </a:pathLst>
            </a:custGeom>
            <a:noFill/>
            <a:ln w="9525">
              <a:solidFill>
                <a:srgbClr val="CFDFEE"/>
              </a:solidFill>
            </a:ln>
          </p:spPr>
        </p:sp>
        <p:grpSp>
          <p:nvGrpSpPr>
            <p:cNvPr id="254" name="ct-1"/>
            <p:cNvGrpSpPr/>
            <p:nvPr/>
          </p:nvGrpSpPr>
          <p:grpSpPr>
            <a:xfrm>
              <a:off x="1428750" y="5505450"/>
              <a:ext cx="1697165" cy="333613"/>
              <a:chOff x="1428750" y="5505450"/>
              <a:chExt cx="1697165" cy="333613"/>
            </a:xfrm>
          </p:grpSpPr>
          <p:sp>
            <p:nvSpPr>
              <p:cNvPr id="248" name="Ellipse 248"/>
              <p:cNvSpPr/>
              <p:nvPr/>
            </p:nvSpPr>
            <p:spPr>
              <a:xfrm>
                <a:off x="1428750" y="5505450"/>
                <a:ext cx="304800" cy="304800"/>
              </a:xfrm>
              <a:prstGeom prst="ellipse">
                <a:avLst/>
              </a:prstGeom>
              <a:solidFill>
                <a:srgbClr val="D6E6F3"/>
              </a:solidFill>
              <a:ln>
                <a:noFill/>
              </a:ln>
            </p:spPr>
          </p:sp>
          <p:grpSp>
            <p:nvGrpSpPr>
              <p:cNvPr id="251" name="Group 251"/>
              <p:cNvGrpSpPr/>
              <p:nvPr/>
            </p:nvGrpSpPr>
            <p:grpSpPr>
              <a:xfrm>
                <a:off x="1507215" y="5593556"/>
                <a:ext cx="139505" cy="128588"/>
                <a:chOff x="1507215" y="5593556"/>
                <a:chExt cx="139505" cy="128588"/>
              </a:xfrm>
            </p:grpSpPr>
            <p:sp>
              <p:nvSpPr>
                <p:cNvPr id="249" name="Freeform 249"/>
                <p:cNvSpPr/>
                <p:nvPr/>
              </p:nvSpPr>
              <p:spPr>
                <a:xfrm>
                  <a:off x="1507215" y="559355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92301C"/>
                  </a:solidFill>
                </a:ln>
              </p:spPr>
            </p:sp>
            <p:sp>
              <p:nvSpPr>
                <p:cNvPr id="250" name="Freeform 250"/>
                <p:cNvSpPr/>
                <p:nvPr/>
              </p:nvSpPr>
              <p:spPr>
                <a:xfrm>
                  <a:off x="1602581" y="5693569"/>
                  <a:ext cx="42862" cy="28575"/>
                </a:xfrm>
                <a:custGeom>
                  <a:avLst/>
                  <a:gdLst/>
                  <a:ahLst/>
                  <a:cxnLst/>
                  <a:rect l="l" t="t" r="r" b="b"/>
                  <a:pathLst>
                    <a:path w="42862" h="28575">
                      <a:moveTo>
                        <a:pt x="0" y="14288"/>
                      </a:moveTo>
                      <a:lnTo>
                        <a:pt x="14288" y="28575"/>
                      </a:lnTo>
                      <a:lnTo>
                        <a:pt x="42862" y="0"/>
                      </a:lnTo>
                    </a:path>
                  </a:pathLst>
                </a:custGeom>
                <a:noFill/>
                <a:ln w="14288">
                  <a:solidFill>
                    <a:srgbClr val="92301C"/>
                  </a:solidFill>
                </a:ln>
              </p:spPr>
            </p:sp>
          </p:grpSp>
          <p:sp>
            <p:nvSpPr>
              <p:cNvPr id="252" name="TextBox 252"/>
              <p:cNvSpPr txBox="1"/>
              <p:nvPr/>
            </p:nvSpPr>
            <p:spPr>
              <a:xfrm>
                <a:off x="1824038" y="55306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权限管理</a:t>
                </a:r>
              </a:p>
            </p:txBody>
          </p:sp>
          <p:sp>
            <p:nvSpPr>
              <p:cNvPr id="253" name="TextBox 253"/>
              <p:cNvSpPr txBox="1"/>
              <p:nvPr/>
            </p:nvSpPr>
            <p:spPr>
              <a:xfrm>
                <a:off x="1824038" y="5712857"/>
                <a:ext cx="1301877"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最小权限、分级授权、操作可审计</a:t>
                </a:r>
              </a:p>
            </p:txBody>
          </p:sp>
        </p:grpSp>
        <p:sp>
          <p:nvSpPr>
            <p:cNvPr id="255" name="Line 255"/>
            <p:cNvSpPr/>
            <p:nvPr/>
          </p:nvSpPr>
          <p:spPr>
            <a:xfrm>
              <a:off x="3905250" y="5657850"/>
              <a:ext cx="152400" cy="9525"/>
            </a:xfrm>
            <a:custGeom>
              <a:avLst/>
              <a:gdLst/>
              <a:ahLst/>
              <a:cxnLst/>
              <a:rect l="l" t="t" r="r" b="b"/>
              <a:pathLst>
                <a:path w="152400" h="9525">
                  <a:moveTo>
                    <a:pt x="0" y="0"/>
                  </a:moveTo>
                  <a:lnTo>
                    <a:pt x="152400" y="0"/>
                  </a:lnTo>
                </a:path>
              </a:pathLst>
            </a:custGeom>
            <a:noFill/>
            <a:ln w="14288">
              <a:solidFill>
                <a:srgbClr val="CFDFEE"/>
              </a:solidFill>
            </a:ln>
          </p:spPr>
        </p:sp>
        <p:grpSp>
          <p:nvGrpSpPr>
            <p:cNvPr id="263" name="ct-2"/>
            <p:cNvGrpSpPr/>
            <p:nvPr/>
          </p:nvGrpSpPr>
          <p:grpSpPr>
            <a:xfrm>
              <a:off x="4095750" y="5505450"/>
              <a:ext cx="1697165" cy="333613"/>
              <a:chOff x="4095750" y="5505450"/>
              <a:chExt cx="1697165" cy="333613"/>
            </a:xfrm>
          </p:grpSpPr>
          <p:sp>
            <p:nvSpPr>
              <p:cNvPr id="256" name="Ellipse 256"/>
              <p:cNvSpPr/>
              <p:nvPr/>
            </p:nvSpPr>
            <p:spPr>
              <a:xfrm>
                <a:off x="4095750" y="5505450"/>
                <a:ext cx="304800" cy="304800"/>
              </a:xfrm>
              <a:prstGeom prst="ellipse">
                <a:avLst/>
              </a:prstGeom>
              <a:solidFill>
                <a:srgbClr val="D6E6F3"/>
              </a:solidFill>
              <a:ln>
                <a:noFill/>
              </a:ln>
            </p:spPr>
          </p:sp>
          <p:grpSp>
            <p:nvGrpSpPr>
              <p:cNvPr id="260" name="Group 260"/>
              <p:cNvGrpSpPr/>
              <p:nvPr/>
            </p:nvGrpSpPr>
            <p:grpSpPr>
              <a:xfrm>
                <a:off x="4205288" y="5593556"/>
                <a:ext cx="107155" cy="128588"/>
                <a:chOff x="4205288" y="5593556"/>
                <a:chExt cx="107155" cy="128588"/>
              </a:xfrm>
            </p:grpSpPr>
            <p:sp>
              <p:nvSpPr>
                <p:cNvPr id="257" name="Freeform 257"/>
                <p:cNvSpPr/>
                <p:nvPr/>
              </p:nvSpPr>
              <p:spPr>
                <a:xfrm>
                  <a:off x="4219575" y="55935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92301C"/>
                  </a:solidFill>
                </a:ln>
              </p:spPr>
            </p:sp>
            <p:sp>
              <p:nvSpPr>
                <p:cNvPr id="258" name="Freeform 258"/>
                <p:cNvSpPr/>
                <p:nvPr/>
              </p:nvSpPr>
              <p:spPr>
                <a:xfrm>
                  <a:off x="4205288" y="5679281"/>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92301C"/>
                  </a:solidFill>
                </a:ln>
              </p:spPr>
            </p:sp>
            <p:sp>
              <p:nvSpPr>
                <p:cNvPr id="259" name="Freeform 259"/>
                <p:cNvSpPr/>
                <p:nvPr/>
              </p:nvSpPr>
              <p:spPr>
                <a:xfrm>
                  <a:off x="4269581" y="5693569"/>
                  <a:ext cx="42862" cy="28575"/>
                </a:xfrm>
                <a:custGeom>
                  <a:avLst/>
                  <a:gdLst/>
                  <a:ahLst/>
                  <a:cxnLst/>
                  <a:rect l="l" t="t" r="r" b="b"/>
                  <a:pathLst>
                    <a:path w="42862" h="28575">
                      <a:moveTo>
                        <a:pt x="0" y="14288"/>
                      </a:moveTo>
                      <a:lnTo>
                        <a:pt x="14288" y="28575"/>
                      </a:lnTo>
                      <a:lnTo>
                        <a:pt x="42862" y="0"/>
                      </a:lnTo>
                    </a:path>
                  </a:pathLst>
                </a:custGeom>
                <a:noFill/>
                <a:ln w="14288">
                  <a:solidFill>
                    <a:srgbClr val="92301C"/>
                  </a:solidFill>
                </a:ln>
              </p:spPr>
            </p:sp>
          </p:grpSp>
          <p:sp>
            <p:nvSpPr>
              <p:cNvPr id="261" name="TextBox 261"/>
              <p:cNvSpPr txBox="1"/>
              <p:nvPr/>
            </p:nvSpPr>
            <p:spPr>
              <a:xfrm>
                <a:off x="4491038" y="55306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电子审批</a:t>
                </a:r>
              </a:p>
            </p:txBody>
          </p:sp>
          <p:sp>
            <p:nvSpPr>
              <p:cNvPr id="262" name="TextBox 262"/>
              <p:cNvSpPr txBox="1"/>
              <p:nvPr/>
            </p:nvSpPr>
            <p:spPr>
              <a:xfrm>
                <a:off x="4491038" y="5712857"/>
                <a:ext cx="1301877"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重大金融决策必须由授权人员确认</a:t>
                </a:r>
              </a:p>
            </p:txBody>
          </p:sp>
        </p:grpSp>
        <p:sp>
          <p:nvSpPr>
            <p:cNvPr id="264" name="Line 264"/>
            <p:cNvSpPr/>
            <p:nvPr/>
          </p:nvSpPr>
          <p:spPr>
            <a:xfrm>
              <a:off x="6572250" y="5657850"/>
              <a:ext cx="152400" cy="9525"/>
            </a:xfrm>
            <a:custGeom>
              <a:avLst/>
              <a:gdLst/>
              <a:ahLst/>
              <a:cxnLst/>
              <a:rect l="l" t="t" r="r" b="b"/>
              <a:pathLst>
                <a:path w="152400" h="9525">
                  <a:moveTo>
                    <a:pt x="0" y="0"/>
                  </a:moveTo>
                  <a:lnTo>
                    <a:pt x="152400" y="0"/>
                  </a:lnTo>
                </a:path>
              </a:pathLst>
            </a:custGeom>
            <a:noFill/>
            <a:ln w="14288">
              <a:solidFill>
                <a:srgbClr val="CFDFEE"/>
              </a:solidFill>
            </a:ln>
          </p:spPr>
        </p:sp>
        <p:grpSp>
          <p:nvGrpSpPr>
            <p:cNvPr id="271" name="ct-3"/>
            <p:cNvGrpSpPr/>
            <p:nvPr/>
          </p:nvGrpSpPr>
          <p:grpSpPr>
            <a:xfrm>
              <a:off x="6762750" y="5505450"/>
              <a:ext cx="1611008" cy="333613"/>
              <a:chOff x="6762750" y="5505450"/>
              <a:chExt cx="1611008" cy="333613"/>
            </a:xfrm>
          </p:grpSpPr>
          <p:sp>
            <p:nvSpPr>
              <p:cNvPr id="265" name="Ellipse 265"/>
              <p:cNvSpPr/>
              <p:nvPr/>
            </p:nvSpPr>
            <p:spPr>
              <a:xfrm>
                <a:off x="6762750" y="5505450"/>
                <a:ext cx="304800" cy="304800"/>
              </a:xfrm>
              <a:prstGeom prst="ellipse">
                <a:avLst/>
              </a:prstGeom>
              <a:solidFill>
                <a:srgbClr val="D6E6F3"/>
              </a:solidFill>
              <a:ln>
                <a:noFill/>
              </a:ln>
            </p:spPr>
          </p:sp>
          <p:grpSp>
            <p:nvGrpSpPr>
              <p:cNvPr id="268" name="Group 268"/>
              <p:cNvGrpSpPr/>
              <p:nvPr/>
            </p:nvGrpSpPr>
            <p:grpSpPr>
              <a:xfrm>
                <a:off x="6851213" y="5592559"/>
                <a:ext cx="131817" cy="134843"/>
                <a:chOff x="6851213" y="5592559"/>
                <a:chExt cx="131817" cy="134843"/>
              </a:xfrm>
            </p:grpSpPr>
            <p:sp>
              <p:nvSpPr>
                <p:cNvPr id="266" name="Freeform 266"/>
                <p:cNvSpPr/>
                <p:nvPr/>
              </p:nvSpPr>
              <p:spPr>
                <a:xfrm>
                  <a:off x="6915150" y="5629275"/>
                  <a:ext cx="14288" cy="42862"/>
                </a:xfrm>
                <a:custGeom>
                  <a:avLst/>
                  <a:gdLst/>
                  <a:ahLst/>
                  <a:cxnLst/>
                  <a:rect l="l" t="t" r="r" b="b"/>
                  <a:pathLst>
                    <a:path w="14288" h="42862">
                      <a:moveTo>
                        <a:pt x="0" y="0"/>
                      </a:moveTo>
                      <a:lnTo>
                        <a:pt x="0" y="28575"/>
                      </a:lnTo>
                      <a:lnTo>
                        <a:pt x="14288" y="42862"/>
                      </a:lnTo>
                    </a:path>
                  </a:pathLst>
                </a:custGeom>
                <a:noFill/>
                <a:ln w="14288">
                  <a:solidFill>
                    <a:srgbClr val="92301C"/>
                  </a:solidFill>
                </a:ln>
              </p:spPr>
            </p:sp>
            <p:sp>
              <p:nvSpPr>
                <p:cNvPr id="267" name="Freeform 267"/>
                <p:cNvSpPr/>
                <p:nvPr/>
              </p:nvSpPr>
              <p:spPr>
                <a:xfrm>
                  <a:off x="6851213" y="5592559"/>
                  <a:ext cx="131817" cy="134843"/>
                </a:xfrm>
                <a:custGeom>
                  <a:avLst/>
                  <a:gdLst/>
                  <a:ahLst/>
                  <a:cxnLst/>
                  <a:rect l="l" t="t" r="r" b="b"/>
                  <a:pathLst>
                    <a:path w="131817" h="134843">
                      <a:moveTo>
                        <a:pt x="0" y="58148"/>
                      </a:moveTo>
                      <a:cubicBezTo>
                        <a:pt x="3314" y="25611"/>
                        <a:pt x="30526" y="747"/>
                        <a:pt x="63228" y="374"/>
                      </a:cubicBezTo>
                      <a:cubicBezTo>
                        <a:pt x="95931" y="0"/>
                        <a:pt x="123703" y="24236"/>
                        <a:pt x="127760" y="56688"/>
                      </a:cubicBezTo>
                      <a:cubicBezTo>
                        <a:pt x="131817" y="89141"/>
                        <a:pt x="110865" y="119467"/>
                        <a:pt x="79076" y="127155"/>
                      </a:cubicBezTo>
                      <a:cubicBezTo>
                        <a:pt x="47288" y="134843"/>
                        <a:pt x="14793" y="117442"/>
                        <a:pt x="3572" y="86723"/>
                      </a:cubicBezTo>
                      <a:moveTo>
                        <a:pt x="0" y="122441"/>
                      </a:moveTo>
                      <a:lnTo>
                        <a:pt x="0" y="86723"/>
                      </a:lnTo>
                      <a:lnTo>
                        <a:pt x="35719" y="86723"/>
                      </a:lnTo>
                    </a:path>
                  </a:pathLst>
                </a:custGeom>
                <a:noFill/>
                <a:ln w="14288">
                  <a:solidFill>
                    <a:srgbClr val="92301C"/>
                  </a:solidFill>
                </a:ln>
              </p:spPr>
            </p:sp>
          </p:grpSp>
          <p:sp>
            <p:nvSpPr>
              <p:cNvPr id="269" name="TextBox 269"/>
              <p:cNvSpPr txBox="1"/>
              <p:nvPr/>
            </p:nvSpPr>
            <p:spPr>
              <a:xfrm>
                <a:off x="7158038" y="55306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版本留痕</a:t>
                </a:r>
              </a:p>
            </p:txBody>
          </p:sp>
          <p:sp>
            <p:nvSpPr>
              <p:cNvPr id="270" name="TextBox 270"/>
              <p:cNvSpPr txBox="1"/>
              <p:nvPr/>
            </p:nvSpPr>
            <p:spPr>
              <a:xfrm>
                <a:off x="7158038" y="5712857"/>
                <a:ext cx="1215720"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数据、规则、报表版本全程留痕</a:t>
                </a:r>
              </a:p>
            </p:txBody>
          </p:sp>
        </p:grpSp>
        <p:sp>
          <p:nvSpPr>
            <p:cNvPr id="272" name="Line 272"/>
            <p:cNvSpPr/>
            <p:nvPr/>
          </p:nvSpPr>
          <p:spPr>
            <a:xfrm>
              <a:off x="9239250" y="5657850"/>
              <a:ext cx="152400" cy="9525"/>
            </a:xfrm>
            <a:custGeom>
              <a:avLst/>
              <a:gdLst/>
              <a:ahLst/>
              <a:cxnLst/>
              <a:rect l="l" t="t" r="r" b="b"/>
              <a:pathLst>
                <a:path w="152400" h="9525">
                  <a:moveTo>
                    <a:pt x="0" y="0"/>
                  </a:moveTo>
                  <a:lnTo>
                    <a:pt x="152400" y="0"/>
                  </a:lnTo>
                </a:path>
              </a:pathLst>
            </a:custGeom>
            <a:noFill/>
            <a:ln w="14288">
              <a:solidFill>
                <a:srgbClr val="CFDFEE"/>
              </a:solidFill>
            </a:ln>
          </p:spPr>
        </p:sp>
        <p:grpSp>
          <p:nvGrpSpPr>
            <p:cNvPr id="283" name="ct-4"/>
            <p:cNvGrpSpPr/>
            <p:nvPr/>
          </p:nvGrpSpPr>
          <p:grpSpPr>
            <a:xfrm>
              <a:off x="9429750" y="5505450"/>
              <a:ext cx="1697165" cy="333613"/>
              <a:chOff x="9429750" y="5505450"/>
              <a:chExt cx="1697165" cy="333613"/>
            </a:xfrm>
          </p:grpSpPr>
          <p:sp>
            <p:nvSpPr>
              <p:cNvPr id="273" name="Ellipse 273"/>
              <p:cNvSpPr/>
              <p:nvPr/>
            </p:nvSpPr>
            <p:spPr>
              <a:xfrm>
                <a:off x="9429750" y="5505450"/>
                <a:ext cx="304800" cy="304800"/>
              </a:xfrm>
              <a:prstGeom prst="ellipse">
                <a:avLst/>
              </a:prstGeom>
              <a:solidFill>
                <a:srgbClr val="D6E6F3"/>
              </a:solidFill>
              <a:ln>
                <a:noFill/>
              </a:ln>
            </p:spPr>
          </p:sp>
          <p:grpSp>
            <p:nvGrpSpPr>
              <p:cNvPr id="280" name="Group 280"/>
              <p:cNvGrpSpPr/>
              <p:nvPr/>
            </p:nvGrpSpPr>
            <p:grpSpPr>
              <a:xfrm>
                <a:off x="9521428" y="5604272"/>
                <a:ext cx="117872" cy="105965"/>
                <a:chOff x="9521428" y="5604272"/>
                <a:chExt cx="117872" cy="105965"/>
              </a:xfrm>
            </p:grpSpPr>
            <p:sp>
              <p:nvSpPr>
                <p:cNvPr id="274" name="Freeform 274"/>
                <p:cNvSpPr/>
                <p:nvPr/>
              </p:nvSpPr>
              <p:spPr>
                <a:xfrm>
                  <a:off x="9521428" y="5604272"/>
                  <a:ext cx="28575" cy="17859"/>
                </a:xfrm>
                <a:custGeom>
                  <a:avLst/>
                  <a:gdLst/>
                  <a:ahLst/>
                  <a:cxnLst/>
                  <a:rect l="l" t="t" r="r" b="b"/>
                  <a:pathLst>
                    <a:path w="28575" h="17859">
                      <a:moveTo>
                        <a:pt x="0" y="7144"/>
                      </a:moveTo>
                      <a:lnTo>
                        <a:pt x="10716" y="17859"/>
                      </a:lnTo>
                      <a:lnTo>
                        <a:pt x="28575" y="0"/>
                      </a:lnTo>
                    </a:path>
                  </a:pathLst>
                </a:custGeom>
                <a:noFill/>
                <a:ln w="14288">
                  <a:solidFill>
                    <a:srgbClr val="92301C"/>
                  </a:solidFill>
                </a:ln>
              </p:spPr>
            </p:sp>
            <p:sp>
              <p:nvSpPr>
                <p:cNvPr id="275" name="Freeform 275"/>
                <p:cNvSpPr/>
                <p:nvPr/>
              </p:nvSpPr>
              <p:spPr>
                <a:xfrm>
                  <a:off x="9521428" y="5647134"/>
                  <a:ext cx="28575" cy="17859"/>
                </a:xfrm>
                <a:custGeom>
                  <a:avLst/>
                  <a:gdLst/>
                  <a:ahLst/>
                  <a:cxnLst/>
                  <a:rect l="l" t="t" r="r" b="b"/>
                  <a:pathLst>
                    <a:path w="28575" h="17859">
                      <a:moveTo>
                        <a:pt x="0" y="7144"/>
                      </a:moveTo>
                      <a:lnTo>
                        <a:pt x="10716" y="17859"/>
                      </a:lnTo>
                      <a:lnTo>
                        <a:pt x="28575" y="0"/>
                      </a:lnTo>
                    </a:path>
                  </a:pathLst>
                </a:custGeom>
                <a:noFill/>
                <a:ln w="14288">
                  <a:solidFill>
                    <a:srgbClr val="92301C"/>
                  </a:solidFill>
                </a:ln>
              </p:spPr>
            </p:sp>
            <p:sp>
              <p:nvSpPr>
                <p:cNvPr id="276" name="Freeform 276"/>
                <p:cNvSpPr/>
                <p:nvPr/>
              </p:nvSpPr>
              <p:spPr>
                <a:xfrm>
                  <a:off x="9521428" y="5689997"/>
                  <a:ext cx="28575" cy="17859"/>
                </a:xfrm>
                <a:custGeom>
                  <a:avLst/>
                  <a:gdLst/>
                  <a:ahLst/>
                  <a:cxnLst/>
                  <a:rect l="l" t="t" r="r" b="b"/>
                  <a:pathLst>
                    <a:path w="28575" h="17859">
                      <a:moveTo>
                        <a:pt x="0" y="7144"/>
                      </a:moveTo>
                      <a:lnTo>
                        <a:pt x="10716" y="17859"/>
                      </a:lnTo>
                      <a:lnTo>
                        <a:pt x="28575" y="0"/>
                      </a:lnTo>
                    </a:path>
                  </a:pathLst>
                </a:custGeom>
                <a:noFill/>
                <a:ln w="14288">
                  <a:solidFill>
                    <a:srgbClr val="92301C"/>
                  </a:solidFill>
                </a:ln>
              </p:spPr>
            </p:sp>
            <p:sp>
              <p:nvSpPr>
                <p:cNvPr id="277" name="Freeform 277"/>
                <p:cNvSpPr/>
                <p:nvPr/>
              </p:nvSpPr>
              <p:spPr>
                <a:xfrm>
                  <a:off x="9575006" y="5614988"/>
                  <a:ext cx="64294" cy="9525"/>
                </a:xfrm>
                <a:custGeom>
                  <a:avLst/>
                  <a:gdLst/>
                  <a:ahLst/>
                  <a:cxnLst/>
                  <a:rect l="l" t="t" r="r" b="b"/>
                  <a:pathLst>
                    <a:path w="64294" h="9525">
                      <a:moveTo>
                        <a:pt x="0" y="0"/>
                      </a:moveTo>
                      <a:lnTo>
                        <a:pt x="64294" y="0"/>
                      </a:lnTo>
                    </a:path>
                  </a:pathLst>
                </a:custGeom>
                <a:noFill/>
                <a:ln w="14288">
                  <a:solidFill>
                    <a:srgbClr val="92301C"/>
                  </a:solidFill>
                </a:ln>
              </p:spPr>
            </p:sp>
            <p:sp>
              <p:nvSpPr>
                <p:cNvPr id="278" name="Freeform 278"/>
                <p:cNvSpPr/>
                <p:nvPr/>
              </p:nvSpPr>
              <p:spPr>
                <a:xfrm>
                  <a:off x="9575006" y="5657850"/>
                  <a:ext cx="64294" cy="9525"/>
                </a:xfrm>
                <a:custGeom>
                  <a:avLst/>
                  <a:gdLst/>
                  <a:ahLst/>
                  <a:cxnLst/>
                  <a:rect l="l" t="t" r="r" b="b"/>
                  <a:pathLst>
                    <a:path w="64294" h="9525">
                      <a:moveTo>
                        <a:pt x="0" y="0"/>
                      </a:moveTo>
                      <a:lnTo>
                        <a:pt x="64294" y="0"/>
                      </a:lnTo>
                    </a:path>
                  </a:pathLst>
                </a:custGeom>
                <a:noFill/>
                <a:ln w="14288">
                  <a:solidFill>
                    <a:srgbClr val="92301C"/>
                  </a:solidFill>
                </a:ln>
              </p:spPr>
            </p:sp>
            <p:sp>
              <p:nvSpPr>
                <p:cNvPr id="279" name="Freeform 279"/>
                <p:cNvSpPr/>
                <p:nvPr/>
              </p:nvSpPr>
              <p:spPr>
                <a:xfrm>
                  <a:off x="9575006" y="5700712"/>
                  <a:ext cx="64294" cy="9525"/>
                </a:xfrm>
                <a:custGeom>
                  <a:avLst/>
                  <a:gdLst/>
                  <a:ahLst/>
                  <a:cxnLst/>
                  <a:rect l="l" t="t" r="r" b="b"/>
                  <a:pathLst>
                    <a:path w="64294" h="9525">
                      <a:moveTo>
                        <a:pt x="0" y="0"/>
                      </a:moveTo>
                      <a:lnTo>
                        <a:pt x="64294" y="0"/>
                      </a:lnTo>
                    </a:path>
                  </a:pathLst>
                </a:custGeom>
                <a:noFill/>
                <a:ln w="14288">
                  <a:solidFill>
                    <a:srgbClr val="92301C"/>
                  </a:solidFill>
                </a:ln>
              </p:spPr>
            </p:sp>
          </p:grpSp>
          <p:sp>
            <p:nvSpPr>
              <p:cNvPr id="281" name="TextBox 281"/>
              <p:cNvSpPr txBox="1"/>
              <p:nvPr/>
            </p:nvSpPr>
            <p:spPr>
              <a:xfrm>
                <a:off x="9825038" y="5530691"/>
                <a:ext cx="561467"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报送白名单</a:t>
                </a:r>
              </a:p>
            </p:txBody>
          </p:sp>
          <p:sp>
            <p:nvSpPr>
              <p:cNvPr id="282" name="TextBox 282"/>
              <p:cNvSpPr txBox="1"/>
              <p:nvPr/>
            </p:nvSpPr>
            <p:spPr>
              <a:xfrm>
                <a:off x="9825038" y="5712857"/>
                <a:ext cx="1301877"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仅向监管白名单机构报送，防误报</a:t>
                </a:r>
              </a:p>
            </p:txBody>
          </p:sp>
        </p:grpSp>
      </p:grpSp>
      <p:grpSp>
        <p:nvGrpSpPr>
          <p:cNvPr id="288" name="footer-band"/>
          <p:cNvGrpSpPr/>
          <p:nvPr/>
        </p:nvGrpSpPr>
        <p:grpSpPr>
          <a:xfrm>
            <a:off x="190500" y="6610350"/>
            <a:ext cx="11811000" cy="231457"/>
            <a:chOff x="190500" y="6610350"/>
            <a:chExt cx="11811000" cy="231457"/>
          </a:xfrm>
        </p:grpSpPr>
        <p:sp>
          <p:nvSpPr>
            <p:cNvPr id="285" name="Rectangle 285"/>
            <p:cNvSpPr/>
            <p:nvPr/>
          </p:nvSpPr>
          <p:spPr>
            <a:xfrm>
              <a:off x="190500" y="6610350"/>
              <a:ext cx="11811000" cy="228600"/>
            </a:xfrm>
            <a:prstGeom prst="roundRect">
              <a:avLst>
                <a:gd name="adj" fmla="val 50000"/>
              </a:avLst>
            </a:prstGeom>
            <a:solidFill>
              <a:srgbClr val="EEF5FB"/>
            </a:solidFill>
            <a:ln>
              <a:noFill/>
            </a:ln>
          </p:spPr>
        </p:sp>
        <p:sp>
          <p:nvSpPr>
            <p:cNvPr id="286" name="Line 286"/>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287" name="TextBox 287"/>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17</a:t>
              </a:r>
            </a:p>
          </p:txBody>
        </p:sp>
      </p:gr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2301C"/>
            </a:solidFill>
            <a:ln>
              <a:noFill/>
            </a:ln>
          </p:spPr>
        </p:sp>
        <p:sp>
          <p:nvSpPr>
            <p:cNvPr id="3" name="TextBox 3"/>
            <p:cNvSpPr txBox="1"/>
            <p:nvPr/>
          </p:nvSpPr>
          <p:spPr>
            <a:xfrm>
              <a:off x="128583" y="13382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17</a:t>
              </a:r>
            </a:p>
          </p:txBody>
        </p:sp>
        <p:sp>
          <p:nvSpPr>
            <p:cNvPr id="4" name="TextBox 4"/>
            <p:cNvSpPr txBox="1"/>
            <p:nvPr/>
          </p:nvSpPr>
          <p:spPr>
            <a:xfrm>
              <a:off x="942594" y="170498"/>
              <a:ext cx="3169920" cy="381381"/>
            </a:xfrm>
            <a:prstGeom prst="rect">
              <a:avLst/>
            </a:prstGeom>
            <a:noFill/>
            <a:ln>
              <a:noFill/>
            </a:ln>
          </p:spPr>
          <p:txBody>
            <a:bodyPr wrap="none" lIns="0" tIns="0" rIns="0" bIns="0" anchor="t" anchorCtr="0">
              <a:spAutoFit/>
            </a:bodyPr>
            <a:lstStyle/>
            <a:p>
              <a:pPr algn="l"/>
              <a:r>
                <a:rPr lang="zh-CN" sz="1950" b="1" dirty="0">
                  <a:solidFill>
                    <a:srgbClr val="47180F"/>
                  </a:solidFill>
                  <a:latin typeface="+mn-lt"/>
                  <a:ea typeface="+mn-ea"/>
                  <a:cs typeface="+mn-cs"/>
                </a:rPr>
                <a:t>科技运维与网络安全智能体</a:t>
              </a:r>
            </a:p>
          </p:txBody>
        </p:sp>
        <p:sp>
          <p:nvSpPr>
            <p:cNvPr id="5" name="TextBox 5"/>
            <p:cNvSpPr txBox="1"/>
            <p:nvPr/>
          </p:nvSpPr>
          <p:spPr>
            <a:xfrm>
              <a:off x="10614190" y="238839"/>
              <a:ext cx="1392072" cy="154781"/>
            </a:xfrm>
            <a:prstGeom prst="rect">
              <a:avLst/>
            </a:prstGeom>
            <a:noFill/>
            <a:ln>
              <a:noFill/>
            </a:ln>
          </p:spPr>
          <p:txBody>
            <a:bodyPr wrap="none" lIns="0" tIns="0" rIns="0" bIns="0" anchor="t" anchorCtr="0">
              <a:spAutoFit/>
            </a:bodyPr>
            <a:lstStyle/>
            <a:p>
              <a:pPr algn="r"/>
              <a:r>
                <a:rPr lang="zh-CN" sz="790" dirty="0">
                  <a:solidFill>
                    <a:srgbClr val="8C716B"/>
                  </a:solidFill>
                  <a:latin typeface="+mn-lt"/>
                  <a:ea typeface="+mn-ea"/>
                  <a:cs typeface="+mn-cs"/>
                </a:rPr>
                <a:t>更智能的运维　更安全的金融</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92301C"/>
              </a:solidFill>
            </a:ln>
          </p:spPr>
        </p:sp>
      </p:grpSp>
      <p:grpSp>
        <p:nvGrpSpPr>
          <p:cNvPr id="10" name="col1-head"/>
          <p:cNvGrpSpPr/>
          <p:nvPr/>
        </p:nvGrpSpPr>
        <p:grpSpPr>
          <a:xfrm>
            <a:off x="190500" y="628650"/>
            <a:ext cx="1866900" cy="279559"/>
            <a:chOff x="190500" y="628650"/>
            <a:chExt cx="1866900" cy="279559"/>
          </a:xfrm>
        </p:grpSpPr>
        <p:sp>
          <p:nvSpPr>
            <p:cNvPr id="8" name="Rectangle 8"/>
            <p:cNvSpPr/>
            <p:nvPr/>
          </p:nvSpPr>
          <p:spPr>
            <a:xfrm>
              <a:off x="190500" y="628650"/>
              <a:ext cx="1866900" cy="266700"/>
            </a:xfrm>
            <a:prstGeom prst="rect">
              <a:avLst/>
            </a:prstGeom>
            <a:gradFill>
              <a:gsLst>
                <a:gs pos="0">
                  <a:srgbClr val="92301C"/>
                </a:gs>
                <a:gs pos="100000">
                  <a:srgbClr val="B7533F"/>
                </a:gs>
              </a:gsLst>
              <a:lin ang="0" scaled="1"/>
            </a:gradFill>
            <a:ln>
              <a:noFill/>
            </a:ln>
          </p:spPr>
        </p:sp>
        <p:sp>
          <p:nvSpPr>
            <p:cNvPr id="9" name="TextBox 9"/>
            <p:cNvSpPr txBox="1"/>
            <p:nvPr/>
          </p:nvSpPr>
          <p:spPr>
            <a:xfrm>
              <a:off x="318135" y="6881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多源输入</a:t>
              </a:r>
            </a:p>
          </p:txBody>
        </p:sp>
      </p:grpSp>
      <p:grpSp>
        <p:nvGrpSpPr>
          <p:cNvPr id="13" name="col2-head"/>
          <p:cNvGrpSpPr/>
          <p:nvPr/>
        </p:nvGrpSpPr>
        <p:grpSpPr>
          <a:xfrm>
            <a:off x="2152650" y="628650"/>
            <a:ext cx="5524500" cy="279559"/>
            <a:chOff x="2152650" y="628650"/>
            <a:chExt cx="5524500" cy="279559"/>
          </a:xfrm>
        </p:grpSpPr>
        <p:sp>
          <p:nvSpPr>
            <p:cNvPr id="11" name="Rectangle 11"/>
            <p:cNvSpPr/>
            <p:nvPr/>
          </p:nvSpPr>
          <p:spPr>
            <a:xfrm>
              <a:off x="2152650" y="628650"/>
              <a:ext cx="5524500" cy="266700"/>
            </a:xfrm>
            <a:prstGeom prst="rect">
              <a:avLst/>
            </a:prstGeom>
            <a:gradFill>
              <a:gsLst>
                <a:gs pos="0">
                  <a:srgbClr val="92301C"/>
                </a:gs>
                <a:gs pos="100000">
                  <a:srgbClr val="B7533F"/>
                </a:gs>
              </a:gsLst>
              <a:lin ang="0" scaled="1"/>
            </a:gradFill>
            <a:ln>
              <a:noFill/>
            </a:ln>
          </p:spPr>
        </p:sp>
        <p:sp>
          <p:nvSpPr>
            <p:cNvPr id="12" name="TextBox 12"/>
            <p:cNvSpPr txBox="1"/>
            <p:nvPr/>
          </p:nvSpPr>
          <p:spPr>
            <a:xfrm>
              <a:off x="2280285" y="688181"/>
              <a:ext cx="212227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智能体驱动的运维安全处置流程</a:t>
              </a:r>
            </a:p>
          </p:txBody>
        </p:sp>
      </p:grpSp>
      <p:grpSp>
        <p:nvGrpSpPr>
          <p:cNvPr id="16" name="col3-head"/>
          <p:cNvGrpSpPr/>
          <p:nvPr/>
        </p:nvGrpSpPr>
        <p:grpSpPr>
          <a:xfrm>
            <a:off x="7772400" y="628650"/>
            <a:ext cx="4229100" cy="279559"/>
            <a:chOff x="7772400" y="628650"/>
            <a:chExt cx="4229100" cy="279559"/>
          </a:xfrm>
        </p:grpSpPr>
        <p:sp>
          <p:nvSpPr>
            <p:cNvPr id="14" name="Rectangle 14"/>
            <p:cNvSpPr/>
            <p:nvPr/>
          </p:nvSpPr>
          <p:spPr>
            <a:xfrm>
              <a:off x="7772400" y="628650"/>
              <a:ext cx="4229100" cy="266700"/>
            </a:xfrm>
            <a:prstGeom prst="rect">
              <a:avLst/>
            </a:prstGeom>
            <a:gradFill>
              <a:gsLst>
                <a:gs pos="0">
                  <a:srgbClr val="92301C"/>
                </a:gs>
                <a:gs pos="100000">
                  <a:srgbClr val="B7533F"/>
                </a:gs>
              </a:gsLst>
              <a:lin ang="0" scaled="1"/>
            </a:gradFill>
            <a:ln>
              <a:noFill/>
            </a:ln>
          </p:spPr>
        </p:sp>
        <p:sp>
          <p:nvSpPr>
            <p:cNvPr id="15" name="TextBox 15"/>
            <p:cNvSpPr txBox="1"/>
            <p:nvPr/>
          </p:nvSpPr>
          <p:spPr>
            <a:xfrm>
              <a:off x="7900035" y="688181"/>
              <a:ext cx="135763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系统依赖拓扑</a:t>
              </a:r>
              <a:r>
                <a:rPr lang="zh-CN" sz="820" dirty="0">
                  <a:solidFill>
                    <a:srgbClr val="FFFFFF"/>
                  </a:solidFill>
                  <a:latin typeface="+mn-lt"/>
                  <a:ea typeface="+mn-ea"/>
                  <a:cs typeface="+mn-cs"/>
                </a:rPr>
                <a:t>（示例）</a:t>
              </a:r>
            </a:p>
          </p:txBody>
        </p:sp>
      </p:grpSp>
      <p:grpSp>
        <p:nvGrpSpPr>
          <p:cNvPr id="76" name="left-cards"/>
          <p:cNvGrpSpPr/>
          <p:nvPr/>
        </p:nvGrpSpPr>
        <p:grpSpPr>
          <a:xfrm>
            <a:off x="190500" y="990600"/>
            <a:ext cx="1866900" cy="4086225"/>
            <a:chOff x="190500" y="990600"/>
            <a:chExt cx="1866900" cy="4086225"/>
          </a:xfrm>
        </p:grpSpPr>
        <p:grpSp>
          <p:nvGrpSpPr>
            <p:cNvPr id="27" name="lc-1"/>
            <p:cNvGrpSpPr/>
            <p:nvPr/>
          </p:nvGrpSpPr>
          <p:grpSpPr>
            <a:xfrm>
              <a:off x="190500" y="990600"/>
              <a:ext cx="1866900" cy="609600"/>
              <a:chOff x="190500" y="990600"/>
              <a:chExt cx="1866900" cy="609600"/>
            </a:xfrm>
          </p:grpSpPr>
          <p:sp>
            <p:nvSpPr>
              <p:cNvPr id="17" name="Rectangle 17"/>
              <p:cNvSpPr/>
              <p:nvPr/>
            </p:nvSpPr>
            <p:spPr>
              <a:xfrm>
                <a:off x="190500" y="990600"/>
                <a:ext cx="1866900" cy="609600"/>
              </a:xfrm>
              <a:prstGeom prst="roundRect">
                <a:avLst>
                  <a:gd name="adj" fmla="val 9375"/>
                </a:avLst>
              </a:prstGeom>
              <a:solidFill>
                <a:srgbClr val="F6F9FD"/>
              </a:solidFill>
              <a:ln w="9525">
                <a:solidFill>
                  <a:srgbClr val="CFDFEE"/>
                </a:solidFill>
              </a:ln>
            </p:spPr>
          </p:sp>
          <p:grpSp>
            <p:nvGrpSpPr>
              <p:cNvPr id="23" name="Group 23"/>
              <p:cNvGrpSpPr/>
              <p:nvPr/>
            </p:nvGrpSpPr>
            <p:grpSpPr>
              <a:xfrm>
                <a:off x="314325" y="1200150"/>
                <a:ext cx="133350" cy="171450"/>
                <a:chOff x="314325" y="1200150"/>
                <a:chExt cx="133350" cy="171450"/>
              </a:xfrm>
            </p:grpSpPr>
            <p:sp>
              <p:nvSpPr>
                <p:cNvPr id="18" name="Freeform 18"/>
                <p:cNvSpPr/>
                <p:nvPr/>
              </p:nvSpPr>
              <p:spPr>
                <a:xfrm>
                  <a:off x="400050" y="12001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92301C"/>
                  </a:solidFill>
                </a:ln>
              </p:spPr>
            </p:sp>
            <p:sp>
              <p:nvSpPr>
                <p:cNvPr id="19" name="Freeform 19"/>
                <p:cNvSpPr/>
                <p:nvPr/>
              </p:nvSpPr>
              <p:spPr>
                <a:xfrm>
                  <a:off x="314325" y="12001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92301C"/>
                  </a:solidFill>
                </a:ln>
              </p:spPr>
            </p:sp>
            <p:sp>
              <p:nvSpPr>
                <p:cNvPr id="20" name="Freeform 20"/>
                <p:cNvSpPr/>
                <p:nvPr/>
              </p:nvSpPr>
              <p:spPr>
                <a:xfrm>
                  <a:off x="352425" y="1257300"/>
                  <a:ext cx="9525" cy="9525"/>
                </a:xfrm>
                <a:custGeom>
                  <a:avLst/>
                  <a:gdLst/>
                  <a:ahLst/>
                  <a:cxnLst/>
                  <a:rect l="l" t="t" r="r" b="b"/>
                  <a:pathLst>
                    <a:path w="9525" h="9525">
                      <a:moveTo>
                        <a:pt x="0" y="0"/>
                      </a:moveTo>
                      <a:lnTo>
                        <a:pt x="9525" y="0"/>
                      </a:lnTo>
                    </a:path>
                  </a:pathLst>
                </a:custGeom>
                <a:noFill/>
                <a:ln w="19050">
                  <a:solidFill>
                    <a:srgbClr val="92301C"/>
                  </a:solidFill>
                </a:ln>
              </p:spPr>
            </p:sp>
            <p:sp>
              <p:nvSpPr>
                <p:cNvPr id="21" name="Freeform 21"/>
                <p:cNvSpPr/>
                <p:nvPr/>
              </p:nvSpPr>
              <p:spPr>
                <a:xfrm>
                  <a:off x="352425" y="1295400"/>
                  <a:ext cx="57150" cy="9525"/>
                </a:xfrm>
                <a:custGeom>
                  <a:avLst/>
                  <a:gdLst/>
                  <a:ahLst/>
                  <a:cxnLst/>
                  <a:rect l="l" t="t" r="r" b="b"/>
                  <a:pathLst>
                    <a:path w="57150" h="9525">
                      <a:moveTo>
                        <a:pt x="0" y="0"/>
                      </a:moveTo>
                      <a:lnTo>
                        <a:pt x="57150" y="0"/>
                      </a:lnTo>
                    </a:path>
                  </a:pathLst>
                </a:custGeom>
                <a:noFill/>
                <a:ln w="19050">
                  <a:solidFill>
                    <a:srgbClr val="92301C"/>
                  </a:solidFill>
                </a:ln>
              </p:spPr>
            </p:sp>
            <p:sp>
              <p:nvSpPr>
                <p:cNvPr id="22" name="Freeform 22"/>
                <p:cNvSpPr/>
                <p:nvPr/>
              </p:nvSpPr>
              <p:spPr>
                <a:xfrm>
                  <a:off x="352425" y="1333500"/>
                  <a:ext cx="57150" cy="9525"/>
                </a:xfrm>
                <a:custGeom>
                  <a:avLst/>
                  <a:gdLst/>
                  <a:ahLst/>
                  <a:cxnLst/>
                  <a:rect l="l" t="t" r="r" b="b"/>
                  <a:pathLst>
                    <a:path w="57150" h="9525">
                      <a:moveTo>
                        <a:pt x="0" y="0"/>
                      </a:moveTo>
                      <a:lnTo>
                        <a:pt x="57150" y="0"/>
                      </a:lnTo>
                    </a:path>
                  </a:pathLst>
                </a:custGeom>
                <a:noFill/>
                <a:ln w="19050">
                  <a:solidFill>
                    <a:srgbClr val="92301C"/>
                  </a:solidFill>
                </a:ln>
              </p:spPr>
            </p:sp>
          </p:grpSp>
          <p:sp>
            <p:nvSpPr>
              <p:cNvPr id="24" name="TextBox 24"/>
              <p:cNvSpPr txBox="1"/>
              <p:nvPr/>
            </p:nvSpPr>
            <p:spPr>
              <a:xfrm>
                <a:off x="547688" y="1064895"/>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监控日志</a:t>
                </a:r>
              </a:p>
            </p:txBody>
          </p:sp>
          <p:sp>
            <p:nvSpPr>
              <p:cNvPr id="25" name="TextBox 25"/>
              <p:cNvSpPr txBox="1"/>
              <p:nvPr/>
            </p:nvSpPr>
            <p:spPr>
              <a:xfrm>
                <a:off x="547688" y="1245632"/>
                <a:ext cx="957250"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系统、应用、网络、终端</a:t>
                </a:r>
              </a:p>
            </p:txBody>
          </p:sp>
          <p:sp>
            <p:nvSpPr>
              <p:cNvPr id="26" name="TextBox 26"/>
              <p:cNvSpPr txBox="1"/>
              <p:nvPr/>
            </p:nvSpPr>
            <p:spPr>
              <a:xfrm>
                <a:off x="547688" y="138303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（示例数据）</a:t>
                </a:r>
              </a:p>
            </p:txBody>
          </p:sp>
        </p:grpSp>
        <p:grpSp>
          <p:nvGrpSpPr>
            <p:cNvPr id="36" name="lc-2"/>
            <p:cNvGrpSpPr/>
            <p:nvPr/>
          </p:nvGrpSpPr>
          <p:grpSpPr>
            <a:xfrm>
              <a:off x="190500" y="1685925"/>
              <a:ext cx="1866900" cy="609600"/>
              <a:chOff x="190500" y="1685925"/>
              <a:chExt cx="1866900" cy="609600"/>
            </a:xfrm>
          </p:grpSpPr>
          <p:sp>
            <p:nvSpPr>
              <p:cNvPr id="28" name="Rectangle 28"/>
              <p:cNvSpPr/>
              <p:nvPr/>
            </p:nvSpPr>
            <p:spPr>
              <a:xfrm>
                <a:off x="190500" y="1685925"/>
                <a:ext cx="1866900" cy="609600"/>
              </a:xfrm>
              <a:prstGeom prst="roundRect">
                <a:avLst>
                  <a:gd name="adj" fmla="val 9375"/>
                </a:avLst>
              </a:prstGeom>
              <a:solidFill>
                <a:srgbClr val="F6F9FD"/>
              </a:solidFill>
              <a:ln w="9525">
                <a:solidFill>
                  <a:srgbClr val="CFDFEE"/>
                </a:solidFill>
              </a:ln>
            </p:spPr>
          </p:sp>
          <p:grpSp>
            <p:nvGrpSpPr>
              <p:cNvPr id="32" name="Group 32"/>
              <p:cNvGrpSpPr/>
              <p:nvPr/>
            </p:nvGrpSpPr>
            <p:grpSpPr>
              <a:xfrm>
                <a:off x="304800" y="1895475"/>
                <a:ext cx="152400" cy="171450"/>
                <a:chOff x="304800" y="1895475"/>
                <a:chExt cx="152400" cy="171450"/>
              </a:xfrm>
            </p:grpSpPr>
            <p:sp>
              <p:nvSpPr>
                <p:cNvPr id="29" name="Freeform 29"/>
                <p:cNvSpPr/>
                <p:nvPr/>
              </p:nvSpPr>
              <p:spPr>
                <a:xfrm>
                  <a:off x="304800" y="189547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92301C"/>
                  </a:solidFill>
                </a:ln>
              </p:spPr>
            </p:sp>
            <p:sp>
              <p:nvSpPr>
                <p:cNvPr id="30" name="Freeform 30"/>
                <p:cNvSpPr/>
                <p:nvPr/>
              </p:nvSpPr>
              <p:spPr>
                <a:xfrm>
                  <a:off x="304800" y="19240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2301C"/>
                  </a:solidFill>
                </a:ln>
              </p:spPr>
            </p:sp>
            <p:sp>
              <p:nvSpPr>
                <p:cNvPr id="31" name="Freeform 31"/>
                <p:cNvSpPr/>
                <p:nvPr/>
              </p:nvSpPr>
              <p:spPr>
                <a:xfrm>
                  <a:off x="304800" y="19812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92301C"/>
                  </a:solidFill>
                </a:ln>
              </p:spPr>
            </p:sp>
          </p:grpSp>
          <p:sp>
            <p:nvSpPr>
              <p:cNvPr id="33" name="TextBox 33"/>
              <p:cNvSpPr txBox="1"/>
              <p:nvPr/>
            </p:nvSpPr>
            <p:spPr>
              <a:xfrm>
                <a:off x="547688" y="1760220"/>
                <a:ext cx="514680"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j-lt"/>
                    <a:ea typeface="+mj-ea"/>
                    <a:cs typeface="+mj-cs"/>
                  </a:rPr>
                  <a:t xml:space="preserve">CMDB　</a:t>
                </a:r>
              </a:p>
            </p:txBody>
          </p:sp>
          <p:sp>
            <p:nvSpPr>
              <p:cNvPr id="34" name="TextBox 34"/>
              <p:cNvSpPr txBox="1"/>
              <p:nvPr/>
            </p:nvSpPr>
            <p:spPr>
              <a:xfrm>
                <a:off x="547688" y="1940957"/>
                <a:ext cx="87109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资产、配置、依赖关系</a:t>
                </a:r>
              </a:p>
            </p:txBody>
          </p:sp>
          <p:sp>
            <p:nvSpPr>
              <p:cNvPr id="35" name="TextBox 35"/>
              <p:cNvSpPr txBox="1"/>
              <p:nvPr/>
            </p:nvSpPr>
            <p:spPr>
              <a:xfrm>
                <a:off x="547688" y="2078355"/>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（示例数据）</a:t>
                </a:r>
              </a:p>
            </p:txBody>
          </p:sp>
        </p:grpSp>
        <p:grpSp>
          <p:nvGrpSpPr>
            <p:cNvPr id="51" name="lc-3"/>
            <p:cNvGrpSpPr/>
            <p:nvPr/>
          </p:nvGrpSpPr>
          <p:grpSpPr>
            <a:xfrm>
              <a:off x="190500" y="2381250"/>
              <a:ext cx="1866900" cy="609600"/>
              <a:chOff x="190500" y="2381250"/>
              <a:chExt cx="1866900" cy="609600"/>
            </a:xfrm>
          </p:grpSpPr>
          <p:sp>
            <p:nvSpPr>
              <p:cNvPr id="37" name="Rectangle 37"/>
              <p:cNvSpPr/>
              <p:nvPr/>
            </p:nvSpPr>
            <p:spPr>
              <a:xfrm>
                <a:off x="190500" y="2381250"/>
                <a:ext cx="1866900" cy="609600"/>
              </a:xfrm>
              <a:prstGeom prst="roundRect">
                <a:avLst>
                  <a:gd name="adj" fmla="val 9375"/>
                </a:avLst>
              </a:prstGeom>
              <a:solidFill>
                <a:srgbClr val="F6F9FD"/>
              </a:solidFill>
              <a:ln w="9525">
                <a:solidFill>
                  <a:srgbClr val="CFDFEE"/>
                </a:solidFill>
              </a:ln>
            </p:spPr>
          </p:sp>
          <p:grpSp>
            <p:nvGrpSpPr>
              <p:cNvPr id="47" name="Group 47"/>
              <p:cNvGrpSpPr/>
              <p:nvPr/>
            </p:nvGrpSpPr>
            <p:grpSpPr>
              <a:xfrm>
                <a:off x="295275" y="2609850"/>
                <a:ext cx="171450" cy="142875"/>
                <a:chOff x="295275" y="2609850"/>
                <a:chExt cx="171450" cy="142875"/>
              </a:xfrm>
            </p:grpSpPr>
            <p:sp>
              <p:nvSpPr>
                <p:cNvPr id="38" name="Freeform 38"/>
                <p:cNvSpPr/>
                <p:nvPr/>
              </p:nvSpPr>
              <p:spPr>
                <a:xfrm>
                  <a:off x="352425" y="2609850"/>
                  <a:ext cx="57150" cy="38100"/>
                </a:xfrm>
                <a:custGeom>
                  <a:avLst/>
                  <a:gdLst/>
                  <a:ahLst/>
                  <a:cxnLst/>
                  <a:rect l="l" t="t" r="r" b="b"/>
                  <a:pathLst>
                    <a:path w="57150" h="38100">
                      <a:moveTo>
                        <a:pt x="0" y="38100"/>
                      </a:moveTo>
                      <a:lnTo>
                        <a:pt x="0" y="28575"/>
                      </a:lnTo>
                      <a:cubicBezTo>
                        <a:pt x="0" y="12793"/>
                        <a:pt x="12793" y="0"/>
                        <a:pt x="28575" y="0"/>
                      </a:cubicBezTo>
                      <a:cubicBezTo>
                        <a:pt x="44357" y="0"/>
                        <a:pt x="57150" y="12793"/>
                        <a:pt x="57150" y="28575"/>
                      </a:cubicBezTo>
                      <a:lnTo>
                        <a:pt x="57150" y="38100"/>
                      </a:lnTo>
                    </a:path>
                  </a:pathLst>
                </a:custGeom>
                <a:noFill/>
                <a:ln w="19050">
                  <a:solidFill>
                    <a:srgbClr val="92301C"/>
                  </a:solidFill>
                </a:ln>
              </p:spPr>
            </p:sp>
            <p:sp>
              <p:nvSpPr>
                <p:cNvPr id="39" name="Freeform 39"/>
                <p:cNvSpPr/>
                <p:nvPr/>
              </p:nvSpPr>
              <p:spPr>
                <a:xfrm>
                  <a:off x="333375" y="2647950"/>
                  <a:ext cx="95250" cy="104775"/>
                </a:xfrm>
                <a:custGeom>
                  <a:avLst/>
                  <a:gdLst/>
                  <a:ahLst/>
                  <a:cxnLst/>
                  <a:rect l="l" t="t" r="r" b="b"/>
                  <a:pathLst>
                    <a:path w="95250" h="104775">
                      <a:moveTo>
                        <a:pt x="9525" y="0"/>
                      </a:moveTo>
                      <a:lnTo>
                        <a:pt x="85725" y="0"/>
                      </a:lnTo>
                      <a:cubicBezTo>
                        <a:pt x="91398" y="8502"/>
                        <a:pt x="94687" y="18370"/>
                        <a:pt x="95250" y="28575"/>
                      </a:cubicBezTo>
                      <a:lnTo>
                        <a:pt x="95250" y="57150"/>
                      </a:lnTo>
                      <a:cubicBezTo>
                        <a:pt x="95250" y="83453"/>
                        <a:pt x="73928" y="104775"/>
                        <a:pt x="47625" y="104775"/>
                      </a:cubicBezTo>
                      <a:cubicBezTo>
                        <a:pt x="21322" y="104775"/>
                        <a:pt x="0" y="83453"/>
                        <a:pt x="0" y="57150"/>
                      </a:cubicBezTo>
                      <a:lnTo>
                        <a:pt x="0" y="28575"/>
                      </a:lnTo>
                      <a:cubicBezTo>
                        <a:pt x="563" y="18370"/>
                        <a:pt x="3852" y="8502"/>
                        <a:pt x="9525" y="0"/>
                      </a:cubicBezTo>
                    </a:path>
                  </a:pathLst>
                </a:custGeom>
                <a:noFill/>
                <a:ln w="19050">
                  <a:solidFill>
                    <a:srgbClr val="92301C"/>
                  </a:solidFill>
                </a:ln>
              </p:spPr>
            </p:sp>
            <p:sp>
              <p:nvSpPr>
                <p:cNvPr id="40" name="Freeform 40"/>
                <p:cNvSpPr/>
                <p:nvPr/>
              </p:nvSpPr>
              <p:spPr>
                <a:xfrm>
                  <a:off x="295275" y="2686050"/>
                  <a:ext cx="38100" cy="9525"/>
                </a:xfrm>
                <a:custGeom>
                  <a:avLst/>
                  <a:gdLst/>
                  <a:ahLst/>
                  <a:cxnLst/>
                  <a:rect l="l" t="t" r="r" b="b"/>
                  <a:pathLst>
                    <a:path w="38100" h="9525">
                      <a:moveTo>
                        <a:pt x="0" y="0"/>
                      </a:moveTo>
                      <a:lnTo>
                        <a:pt x="38100" y="0"/>
                      </a:lnTo>
                    </a:path>
                  </a:pathLst>
                </a:custGeom>
                <a:noFill/>
                <a:ln w="19050">
                  <a:solidFill>
                    <a:srgbClr val="92301C"/>
                  </a:solidFill>
                </a:ln>
              </p:spPr>
            </p:sp>
            <p:sp>
              <p:nvSpPr>
                <p:cNvPr id="41" name="Freeform 41"/>
                <p:cNvSpPr/>
                <p:nvPr/>
              </p:nvSpPr>
              <p:spPr>
                <a:xfrm>
                  <a:off x="428625" y="2686050"/>
                  <a:ext cx="38100" cy="9525"/>
                </a:xfrm>
                <a:custGeom>
                  <a:avLst/>
                  <a:gdLst/>
                  <a:ahLst/>
                  <a:cxnLst/>
                  <a:rect l="l" t="t" r="r" b="b"/>
                  <a:pathLst>
                    <a:path w="38100" h="9525">
                      <a:moveTo>
                        <a:pt x="0" y="0"/>
                      </a:moveTo>
                      <a:lnTo>
                        <a:pt x="38100" y="0"/>
                      </a:lnTo>
                    </a:path>
                  </a:pathLst>
                </a:custGeom>
                <a:noFill/>
                <a:ln w="19050">
                  <a:solidFill>
                    <a:srgbClr val="92301C"/>
                  </a:solidFill>
                </a:ln>
              </p:spPr>
            </p:sp>
            <p:sp>
              <p:nvSpPr>
                <p:cNvPr id="42" name="Freeform 42"/>
                <p:cNvSpPr/>
                <p:nvPr/>
              </p:nvSpPr>
              <p:spPr>
                <a:xfrm>
                  <a:off x="381000" y="2695575"/>
                  <a:ext cx="9525" cy="57150"/>
                </a:xfrm>
                <a:custGeom>
                  <a:avLst/>
                  <a:gdLst/>
                  <a:ahLst/>
                  <a:cxnLst/>
                  <a:rect l="l" t="t" r="r" b="b"/>
                  <a:pathLst>
                    <a:path w="9525" h="57150">
                      <a:moveTo>
                        <a:pt x="0" y="57150"/>
                      </a:moveTo>
                      <a:lnTo>
                        <a:pt x="0" y="0"/>
                      </a:lnTo>
                    </a:path>
                  </a:pathLst>
                </a:custGeom>
                <a:noFill/>
                <a:ln w="19050">
                  <a:solidFill>
                    <a:srgbClr val="92301C"/>
                  </a:solidFill>
                </a:ln>
              </p:spPr>
            </p:sp>
            <p:sp>
              <p:nvSpPr>
                <p:cNvPr id="43" name="Freeform 43"/>
                <p:cNvSpPr/>
                <p:nvPr/>
              </p:nvSpPr>
              <p:spPr>
                <a:xfrm>
                  <a:off x="304800" y="2724150"/>
                  <a:ext cx="31909" cy="19050"/>
                </a:xfrm>
                <a:custGeom>
                  <a:avLst/>
                  <a:gdLst/>
                  <a:ahLst/>
                  <a:cxnLst/>
                  <a:rect l="l" t="t" r="r" b="b"/>
                  <a:pathLst>
                    <a:path w="31909" h="19050">
                      <a:moveTo>
                        <a:pt x="0" y="19050"/>
                      </a:moveTo>
                      <a:lnTo>
                        <a:pt x="31909" y="0"/>
                      </a:lnTo>
                    </a:path>
                  </a:pathLst>
                </a:custGeom>
                <a:noFill/>
                <a:ln w="19050">
                  <a:solidFill>
                    <a:srgbClr val="92301C"/>
                  </a:solidFill>
                </a:ln>
              </p:spPr>
            </p:sp>
            <p:sp>
              <p:nvSpPr>
                <p:cNvPr id="44" name="Freeform 44"/>
                <p:cNvSpPr/>
                <p:nvPr/>
              </p:nvSpPr>
              <p:spPr>
                <a:xfrm>
                  <a:off x="425291" y="2724150"/>
                  <a:ext cx="31909" cy="19050"/>
                </a:xfrm>
                <a:custGeom>
                  <a:avLst/>
                  <a:gdLst/>
                  <a:ahLst/>
                  <a:cxnLst/>
                  <a:rect l="l" t="t" r="r" b="b"/>
                  <a:pathLst>
                    <a:path w="31909" h="19050">
                      <a:moveTo>
                        <a:pt x="31909" y="19050"/>
                      </a:moveTo>
                      <a:lnTo>
                        <a:pt x="0" y="0"/>
                      </a:lnTo>
                    </a:path>
                  </a:pathLst>
                </a:custGeom>
                <a:noFill/>
                <a:ln w="19050">
                  <a:solidFill>
                    <a:srgbClr val="92301C"/>
                  </a:solidFill>
                </a:ln>
              </p:spPr>
            </p:sp>
            <p:sp>
              <p:nvSpPr>
                <p:cNvPr id="45" name="Freeform 45"/>
                <p:cNvSpPr/>
                <p:nvPr/>
              </p:nvSpPr>
              <p:spPr>
                <a:xfrm>
                  <a:off x="304800" y="2628900"/>
                  <a:ext cx="35719" cy="22860"/>
                </a:xfrm>
                <a:custGeom>
                  <a:avLst/>
                  <a:gdLst/>
                  <a:ahLst/>
                  <a:cxnLst/>
                  <a:rect l="l" t="t" r="r" b="b"/>
                  <a:pathLst>
                    <a:path w="35719" h="22860">
                      <a:moveTo>
                        <a:pt x="0" y="0"/>
                      </a:moveTo>
                      <a:lnTo>
                        <a:pt x="35719" y="22860"/>
                      </a:lnTo>
                    </a:path>
                  </a:pathLst>
                </a:custGeom>
                <a:noFill/>
                <a:ln w="19050">
                  <a:solidFill>
                    <a:srgbClr val="92301C"/>
                  </a:solidFill>
                </a:ln>
              </p:spPr>
            </p:sp>
            <p:sp>
              <p:nvSpPr>
                <p:cNvPr id="46" name="Freeform 46"/>
                <p:cNvSpPr/>
                <p:nvPr/>
              </p:nvSpPr>
              <p:spPr>
                <a:xfrm>
                  <a:off x="421481" y="2628900"/>
                  <a:ext cx="35719" cy="22860"/>
                </a:xfrm>
                <a:custGeom>
                  <a:avLst/>
                  <a:gdLst/>
                  <a:ahLst/>
                  <a:cxnLst/>
                  <a:rect l="l" t="t" r="r" b="b"/>
                  <a:pathLst>
                    <a:path w="35719" h="22860">
                      <a:moveTo>
                        <a:pt x="35719" y="0"/>
                      </a:moveTo>
                      <a:lnTo>
                        <a:pt x="0" y="22860"/>
                      </a:lnTo>
                    </a:path>
                  </a:pathLst>
                </a:custGeom>
                <a:noFill/>
                <a:ln w="19050">
                  <a:solidFill>
                    <a:srgbClr val="92301C"/>
                  </a:solidFill>
                </a:ln>
              </p:spPr>
            </p:sp>
          </p:grpSp>
          <p:sp>
            <p:nvSpPr>
              <p:cNvPr id="48" name="TextBox 48"/>
              <p:cNvSpPr txBox="1"/>
              <p:nvPr/>
            </p:nvSpPr>
            <p:spPr>
              <a:xfrm>
                <a:off x="547688" y="2455545"/>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漏洞</a:t>
                </a:r>
              </a:p>
            </p:txBody>
          </p:sp>
          <p:sp>
            <p:nvSpPr>
              <p:cNvPr id="49" name="TextBox 49"/>
              <p:cNvSpPr txBox="1"/>
              <p:nvPr/>
            </p:nvSpPr>
            <p:spPr>
              <a:xfrm>
                <a:off x="547688" y="2636282"/>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扫描结果、风险评级</a:t>
                </a:r>
              </a:p>
            </p:txBody>
          </p:sp>
          <p:sp>
            <p:nvSpPr>
              <p:cNvPr id="50" name="TextBox 50"/>
              <p:cNvSpPr txBox="1"/>
              <p:nvPr/>
            </p:nvSpPr>
            <p:spPr>
              <a:xfrm>
                <a:off x="547688" y="277368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（示例数据）</a:t>
                </a:r>
              </a:p>
            </p:txBody>
          </p:sp>
        </p:grpSp>
        <p:grpSp>
          <p:nvGrpSpPr>
            <p:cNvPr id="57" name="lc-4"/>
            <p:cNvGrpSpPr/>
            <p:nvPr/>
          </p:nvGrpSpPr>
          <p:grpSpPr>
            <a:xfrm>
              <a:off x="190500" y="3076575"/>
              <a:ext cx="1866900" cy="609600"/>
              <a:chOff x="190500" y="3076575"/>
              <a:chExt cx="1866900" cy="609600"/>
            </a:xfrm>
          </p:grpSpPr>
          <p:sp>
            <p:nvSpPr>
              <p:cNvPr id="52" name="Rectangle 52"/>
              <p:cNvSpPr/>
              <p:nvPr/>
            </p:nvSpPr>
            <p:spPr>
              <a:xfrm>
                <a:off x="190500" y="3076575"/>
                <a:ext cx="1866900" cy="609600"/>
              </a:xfrm>
              <a:prstGeom prst="roundRect">
                <a:avLst>
                  <a:gd name="adj" fmla="val 9375"/>
                </a:avLst>
              </a:prstGeom>
              <a:solidFill>
                <a:srgbClr val="F6F9FD"/>
              </a:solidFill>
              <a:ln w="9525">
                <a:solidFill>
                  <a:srgbClr val="CFDFEE"/>
                </a:solidFill>
              </a:ln>
            </p:spPr>
          </p:sp>
          <p:sp>
            <p:nvSpPr>
              <p:cNvPr id="53" name="Freeform 53"/>
              <p:cNvSpPr/>
              <p:nvPr/>
            </p:nvSpPr>
            <p:spPr>
              <a:xfrm>
                <a:off x="295275" y="3295650"/>
                <a:ext cx="171450" cy="152400"/>
              </a:xfrm>
              <a:custGeom>
                <a:avLst/>
                <a:gdLst/>
                <a:ahLst/>
                <a:cxnLst/>
                <a:rect l="l" t="t" r="r" b="b"/>
                <a:pathLst>
                  <a:path w="171450" h="152400">
                    <a:moveTo>
                      <a:pt x="0" y="76200"/>
                    </a:moveTo>
                    <a:lnTo>
                      <a:pt x="38100" y="76200"/>
                    </a:lnTo>
                    <a:lnTo>
                      <a:pt x="66675" y="152400"/>
                    </a:lnTo>
                    <a:lnTo>
                      <a:pt x="104775" y="0"/>
                    </a:lnTo>
                    <a:lnTo>
                      <a:pt x="133350" y="76200"/>
                    </a:lnTo>
                    <a:lnTo>
                      <a:pt x="171450" y="76200"/>
                    </a:lnTo>
                  </a:path>
                </a:pathLst>
              </a:custGeom>
              <a:noFill/>
              <a:ln w="19050">
                <a:solidFill>
                  <a:srgbClr val="92301C"/>
                </a:solidFill>
              </a:ln>
            </p:spPr>
          </p:sp>
          <p:sp>
            <p:nvSpPr>
              <p:cNvPr id="54" name="TextBox 54"/>
              <p:cNvSpPr txBox="1"/>
              <p:nvPr/>
            </p:nvSpPr>
            <p:spPr>
              <a:xfrm>
                <a:off x="547688" y="315087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威胁情报</a:t>
                </a:r>
              </a:p>
            </p:txBody>
          </p:sp>
          <p:sp>
            <p:nvSpPr>
              <p:cNvPr id="55" name="TextBox 55"/>
              <p:cNvSpPr txBox="1"/>
              <p:nvPr/>
            </p:nvSpPr>
            <p:spPr>
              <a:xfrm>
                <a:off x="547688" y="3331607"/>
                <a:ext cx="860231"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j-lt"/>
                    <a:ea typeface="+mj-ea"/>
                    <a:cs typeface="+mj-cs"/>
                  </a:rPr>
                  <a:t xml:space="preserve">IOC、TTP、黑名单　</a:t>
                </a:r>
              </a:p>
            </p:txBody>
          </p:sp>
          <p:sp>
            <p:nvSpPr>
              <p:cNvPr id="56" name="TextBox 56"/>
              <p:cNvSpPr txBox="1"/>
              <p:nvPr/>
            </p:nvSpPr>
            <p:spPr>
              <a:xfrm>
                <a:off x="547688" y="3469005"/>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（示例数据）</a:t>
                </a:r>
              </a:p>
            </p:txBody>
          </p:sp>
        </p:grpSp>
        <p:grpSp>
          <p:nvGrpSpPr>
            <p:cNvPr id="65" name="lc-5"/>
            <p:cNvGrpSpPr/>
            <p:nvPr/>
          </p:nvGrpSpPr>
          <p:grpSpPr>
            <a:xfrm>
              <a:off x="190500" y="3771900"/>
              <a:ext cx="1866900" cy="609600"/>
              <a:chOff x="190500" y="3771900"/>
              <a:chExt cx="1866900" cy="609600"/>
            </a:xfrm>
          </p:grpSpPr>
          <p:sp>
            <p:nvSpPr>
              <p:cNvPr id="58" name="Rectangle 58"/>
              <p:cNvSpPr/>
              <p:nvPr/>
            </p:nvSpPr>
            <p:spPr>
              <a:xfrm>
                <a:off x="190500" y="3771900"/>
                <a:ext cx="1866900" cy="609600"/>
              </a:xfrm>
              <a:prstGeom prst="roundRect">
                <a:avLst>
                  <a:gd name="adj" fmla="val 9375"/>
                </a:avLst>
              </a:prstGeom>
              <a:solidFill>
                <a:srgbClr val="F6F9FD"/>
              </a:solidFill>
              <a:ln w="9525">
                <a:solidFill>
                  <a:srgbClr val="CFDFEE"/>
                </a:solidFill>
              </a:ln>
            </p:spPr>
          </p:sp>
          <p:grpSp>
            <p:nvGrpSpPr>
              <p:cNvPr id="61" name="Group 61"/>
              <p:cNvGrpSpPr/>
              <p:nvPr/>
            </p:nvGrpSpPr>
            <p:grpSpPr>
              <a:xfrm>
                <a:off x="291094" y="3977269"/>
                <a:ext cx="179813" cy="179813"/>
                <a:chOff x="291094" y="3977269"/>
                <a:chExt cx="179813" cy="179813"/>
              </a:xfrm>
            </p:grpSpPr>
            <p:sp>
              <p:nvSpPr>
                <p:cNvPr id="59" name="Freeform 59"/>
                <p:cNvSpPr/>
                <p:nvPr/>
              </p:nvSpPr>
              <p:spPr>
                <a:xfrm>
                  <a:off x="291094" y="3977269"/>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92301C"/>
                  </a:solidFill>
                </a:ln>
              </p:spPr>
            </p:sp>
            <p:sp>
              <p:nvSpPr>
                <p:cNvPr id="60" name="Freeform 60"/>
                <p:cNvSpPr/>
                <p:nvPr/>
              </p:nvSpPr>
              <p:spPr>
                <a:xfrm>
                  <a:off x="352425" y="4038600"/>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92301C"/>
                  </a:solidFill>
                </a:ln>
              </p:spPr>
            </p:sp>
          </p:grpSp>
          <p:sp>
            <p:nvSpPr>
              <p:cNvPr id="62" name="TextBox 62"/>
              <p:cNvSpPr txBox="1"/>
              <p:nvPr/>
            </p:nvSpPr>
            <p:spPr>
              <a:xfrm>
                <a:off x="547688" y="3846195"/>
                <a:ext cx="25184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变更</a:t>
                </a:r>
              </a:p>
            </p:txBody>
          </p:sp>
          <p:sp>
            <p:nvSpPr>
              <p:cNvPr id="63" name="TextBox 63"/>
              <p:cNvSpPr txBox="1"/>
              <p:nvPr/>
            </p:nvSpPr>
            <p:spPr>
              <a:xfrm>
                <a:off x="547688" y="4026932"/>
                <a:ext cx="87109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发布、配置、操作记录</a:t>
                </a:r>
              </a:p>
            </p:txBody>
          </p:sp>
          <p:sp>
            <p:nvSpPr>
              <p:cNvPr id="64" name="TextBox 64"/>
              <p:cNvSpPr txBox="1"/>
              <p:nvPr/>
            </p:nvSpPr>
            <p:spPr>
              <a:xfrm>
                <a:off x="547688" y="416433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（示例数据）</a:t>
                </a:r>
              </a:p>
            </p:txBody>
          </p:sp>
        </p:grpSp>
        <p:grpSp>
          <p:nvGrpSpPr>
            <p:cNvPr id="75" name="lc-6"/>
            <p:cNvGrpSpPr/>
            <p:nvPr/>
          </p:nvGrpSpPr>
          <p:grpSpPr>
            <a:xfrm>
              <a:off x="190500" y="4467225"/>
              <a:ext cx="1866900" cy="609600"/>
              <a:chOff x="190500" y="4467225"/>
              <a:chExt cx="1866900" cy="609600"/>
            </a:xfrm>
          </p:grpSpPr>
          <p:sp>
            <p:nvSpPr>
              <p:cNvPr id="66" name="Rectangle 66"/>
              <p:cNvSpPr/>
              <p:nvPr/>
            </p:nvSpPr>
            <p:spPr>
              <a:xfrm>
                <a:off x="190500" y="4467225"/>
                <a:ext cx="1866900" cy="609600"/>
              </a:xfrm>
              <a:prstGeom prst="roundRect">
                <a:avLst>
                  <a:gd name="adj" fmla="val 9375"/>
                </a:avLst>
              </a:prstGeom>
              <a:solidFill>
                <a:srgbClr val="F6F9FD"/>
              </a:solidFill>
              <a:ln w="9525">
                <a:solidFill>
                  <a:srgbClr val="CFDFEE"/>
                </a:solidFill>
              </a:ln>
            </p:spPr>
          </p:sp>
          <p:grpSp>
            <p:nvGrpSpPr>
              <p:cNvPr id="71" name="Group 71"/>
              <p:cNvGrpSpPr/>
              <p:nvPr/>
            </p:nvGrpSpPr>
            <p:grpSpPr>
              <a:xfrm>
                <a:off x="304800" y="4676775"/>
                <a:ext cx="152400" cy="180975"/>
                <a:chOff x="304800" y="4676775"/>
                <a:chExt cx="152400" cy="180975"/>
              </a:xfrm>
            </p:grpSpPr>
            <p:sp>
              <p:nvSpPr>
                <p:cNvPr id="67" name="Freeform 67"/>
                <p:cNvSpPr/>
                <p:nvPr/>
              </p:nvSpPr>
              <p:spPr>
                <a:xfrm>
                  <a:off x="304800" y="4676775"/>
                  <a:ext cx="152400" cy="104775"/>
                </a:xfrm>
                <a:custGeom>
                  <a:avLst/>
                  <a:gdLst/>
                  <a:ahLst/>
                  <a:cxnLst/>
                  <a:rect l="l" t="t" r="r" b="b"/>
                  <a:pathLst>
                    <a:path w="152400" h="104775">
                      <a:moveTo>
                        <a:pt x="0" y="104775"/>
                      </a:moveTo>
                      <a:lnTo>
                        <a:pt x="0" y="76200"/>
                      </a:lnTo>
                      <a:cubicBezTo>
                        <a:pt x="0" y="34116"/>
                        <a:pt x="34116" y="0"/>
                        <a:pt x="76200" y="0"/>
                      </a:cubicBezTo>
                      <a:cubicBezTo>
                        <a:pt x="118284" y="0"/>
                        <a:pt x="152400" y="34116"/>
                        <a:pt x="152400" y="76200"/>
                      </a:cubicBezTo>
                      <a:lnTo>
                        <a:pt x="152400" y="104775"/>
                      </a:lnTo>
                    </a:path>
                  </a:pathLst>
                </a:custGeom>
                <a:noFill/>
                <a:ln w="19050">
                  <a:solidFill>
                    <a:srgbClr val="92301C"/>
                  </a:solidFill>
                </a:ln>
              </p:spPr>
            </p:sp>
            <p:sp>
              <p:nvSpPr>
                <p:cNvPr id="68" name="Freeform 68"/>
                <p:cNvSpPr/>
                <p:nvPr/>
              </p:nvSpPr>
              <p:spPr>
                <a:xfrm>
                  <a:off x="381000" y="4829175"/>
                  <a:ext cx="57150" cy="28575"/>
                </a:xfrm>
                <a:custGeom>
                  <a:avLst/>
                  <a:gdLst/>
                  <a:ahLst/>
                  <a:cxnLst/>
                  <a:rect l="l" t="t" r="r" b="b"/>
                  <a:pathLst>
                    <a:path w="57150" h="28575">
                      <a:moveTo>
                        <a:pt x="57150" y="0"/>
                      </a:moveTo>
                      <a:cubicBezTo>
                        <a:pt x="57150" y="15783"/>
                        <a:pt x="31566" y="28575"/>
                        <a:pt x="0" y="28575"/>
                      </a:cubicBezTo>
                    </a:path>
                  </a:pathLst>
                </a:custGeom>
                <a:noFill/>
                <a:ln w="19050">
                  <a:solidFill>
                    <a:srgbClr val="92301C"/>
                  </a:solidFill>
                </a:ln>
              </p:spPr>
            </p:sp>
            <p:sp>
              <p:nvSpPr>
                <p:cNvPr id="69" name="Freeform 69"/>
                <p:cNvSpPr/>
                <p:nvPr/>
              </p:nvSpPr>
              <p:spPr>
                <a:xfrm>
                  <a:off x="304800" y="4762500"/>
                  <a:ext cx="47625" cy="66675"/>
                </a:xfrm>
                <a:custGeom>
                  <a:avLst/>
                  <a:gdLst/>
                  <a:ahLst/>
                  <a:cxnLst/>
                  <a:rect l="l" t="t" r="r" b="b"/>
                  <a:pathLst>
                    <a:path w="47625" h="66675">
                      <a:moveTo>
                        <a:pt x="0" y="19050"/>
                      </a:moveTo>
                      <a:cubicBezTo>
                        <a:pt x="0" y="8529"/>
                        <a:pt x="8529" y="0"/>
                        <a:pt x="19050" y="0"/>
                      </a:cubicBezTo>
                      <a:lnTo>
                        <a:pt x="28575" y="0"/>
                      </a:lnTo>
                      <a:cubicBezTo>
                        <a:pt x="39096" y="0"/>
                        <a:pt x="47625" y="8529"/>
                        <a:pt x="47625" y="19050"/>
                      </a:cubicBezTo>
                      <a:lnTo>
                        <a:pt x="47625" y="47625"/>
                      </a:lnTo>
                      <a:cubicBezTo>
                        <a:pt x="47625" y="58146"/>
                        <a:pt x="39096" y="66675"/>
                        <a:pt x="28575" y="66675"/>
                      </a:cubicBezTo>
                      <a:lnTo>
                        <a:pt x="19050" y="66675"/>
                      </a:lnTo>
                      <a:cubicBezTo>
                        <a:pt x="8529" y="66675"/>
                        <a:pt x="0" y="58146"/>
                        <a:pt x="0" y="47625"/>
                      </a:cubicBezTo>
                      <a:lnTo>
                        <a:pt x="0" y="19050"/>
                      </a:lnTo>
                    </a:path>
                  </a:pathLst>
                </a:custGeom>
                <a:noFill/>
                <a:ln w="19050">
                  <a:solidFill>
                    <a:srgbClr val="92301C"/>
                  </a:solidFill>
                </a:ln>
              </p:spPr>
            </p:sp>
            <p:sp>
              <p:nvSpPr>
                <p:cNvPr id="70" name="Freeform 70"/>
                <p:cNvSpPr/>
                <p:nvPr/>
              </p:nvSpPr>
              <p:spPr>
                <a:xfrm>
                  <a:off x="409575" y="4762500"/>
                  <a:ext cx="47625" cy="66675"/>
                </a:xfrm>
                <a:custGeom>
                  <a:avLst/>
                  <a:gdLst/>
                  <a:ahLst/>
                  <a:cxnLst/>
                  <a:rect l="l" t="t" r="r" b="b"/>
                  <a:pathLst>
                    <a:path w="47625" h="66675">
                      <a:moveTo>
                        <a:pt x="0" y="19050"/>
                      </a:moveTo>
                      <a:cubicBezTo>
                        <a:pt x="0" y="8529"/>
                        <a:pt x="8529" y="0"/>
                        <a:pt x="19050" y="0"/>
                      </a:cubicBezTo>
                      <a:lnTo>
                        <a:pt x="28575" y="0"/>
                      </a:lnTo>
                      <a:cubicBezTo>
                        <a:pt x="39096" y="0"/>
                        <a:pt x="47625" y="8529"/>
                        <a:pt x="47625" y="19050"/>
                      </a:cubicBezTo>
                      <a:lnTo>
                        <a:pt x="47625" y="47625"/>
                      </a:lnTo>
                      <a:cubicBezTo>
                        <a:pt x="47625" y="58146"/>
                        <a:pt x="39096" y="66675"/>
                        <a:pt x="28575" y="66675"/>
                      </a:cubicBezTo>
                      <a:lnTo>
                        <a:pt x="19050" y="66675"/>
                      </a:lnTo>
                      <a:cubicBezTo>
                        <a:pt x="8529" y="66675"/>
                        <a:pt x="0" y="58146"/>
                        <a:pt x="0" y="47625"/>
                      </a:cubicBezTo>
                      <a:lnTo>
                        <a:pt x="0" y="19050"/>
                      </a:lnTo>
                    </a:path>
                  </a:pathLst>
                </a:custGeom>
                <a:noFill/>
                <a:ln w="19050">
                  <a:solidFill>
                    <a:srgbClr val="92301C"/>
                  </a:solidFill>
                </a:ln>
              </p:spPr>
            </p:sp>
          </p:grpSp>
          <p:sp>
            <p:nvSpPr>
              <p:cNvPr id="72" name="TextBox 72"/>
              <p:cNvSpPr txBox="1"/>
              <p:nvPr/>
            </p:nvSpPr>
            <p:spPr>
              <a:xfrm>
                <a:off x="547688" y="4541520"/>
                <a:ext cx="494157"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服务工单</a:t>
                </a:r>
              </a:p>
            </p:txBody>
          </p:sp>
          <p:sp>
            <p:nvSpPr>
              <p:cNvPr id="73" name="TextBox 73"/>
              <p:cNvSpPr txBox="1"/>
              <p:nvPr/>
            </p:nvSpPr>
            <p:spPr>
              <a:xfrm>
                <a:off x="547688" y="4722257"/>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用户报障、处理记录</a:t>
                </a:r>
              </a:p>
            </p:txBody>
          </p:sp>
          <p:sp>
            <p:nvSpPr>
              <p:cNvPr id="74" name="TextBox 74"/>
              <p:cNvSpPr txBox="1"/>
              <p:nvPr/>
            </p:nvSpPr>
            <p:spPr>
              <a:xfrm>
                <a:off x="547688" y="4859655"/>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（示例数据）</a:t>
                </a:r>
              </a:p>
            </p:txBody>
          </p:sp>
        </p:grpSp>
      </p:grpSp>
      <p:grpSp>
        <p:nvGrpSpPr>
          <p:cNvPr id="155" name="mid-flow"/>
          <p:cNvGrpSpPr/>
          <p:nvPr/>
        </p:nvGrpSpPr>
        <p:grpSpPr>
          <a:xfrm>
            <a:off x="2152650" y="952500"/>
            <a:ext cx="5524500" cy="2133600"/>
            <a:chOff x="2152650" y="952500"/>
            <a:chExt cx="5524500" cy="2133600"/>
          </a:xfrm>
        </p:grpSpPr>
        <p:sp>
          <p:nvSpPr>
            <p:cNvPr id="77" name="Rectangle 77"/>
            <p:cNvSpPr/>
            <p:nvPr/>
          </p:nvSpPr>
          <p:spPr>
            <a:xfrm>
              <a:off x="2152650" y="952500"/>
              <a:ext cx="5524500" cy="2133600"/>
            </a:xfrm>
            <a:prstGeom prst="roundRect">
              <a:avLst>
                <a:gd name="adj" fmla="val 2679"/>
              </a:avLst>
            </a:prstGeom>
            <a:solidFill>
              <a:srgbClr val="F6F9FD"/>
            </a:solidFill>
            <a:ln w="9525">
              <a:solidFill>
                <a:srgbClr val="CFDFEE"/>
              </a:solidFill>
            </a:ln>
          </p:spPr>
        </p:sp>
        <p:sp>
          <p:nvSpPr>
            <p:cNvPr id="78" name="Line 78"/>
            <p:cNvSpPr/>
            <p:nvPr/>
          </p:nvSpPr>
          <p:spPr>
            <a:xfrm>
              <a:off x="2543175" y="1238250"/>
              <a:ext cx="4743450" cy="9525"/>
            </a:xfrm>
            <a:custGeom>
              <a:avLst/>
              <a:gdLst/>
              <a:ahLst/>
              <a:cxnLst/>
              <a:rect l="l" t="t" r="r" b="b"/>
              <a:pathLst>
                <a:path w="4743450" h="9525">
                  <a:moveTo>
                    <a:pt x="0" y="0"/>
                  </a:moveTo>
                  <a:lnTo>
                    <a:pt x="4743450" y="0"/>
                  </a:lnTo>
                </a:path>
              </a:pathLst>
            </a:custGeom>
            <a:noFill/>
            <a:ln w="14288">
              <a:solidFill>
                <a:srgbClr val="CFDFEE"/>
              </a:solidFill>
              <a:custDash>
                <a:ds d="266667" sp="200000"/>
              </a:custDash>
            </a:ln>
          </p:spPr>
        </p:sp>
        <p:grpSp>
          <p:nvGrpSpPr>
            <p:cNvPr id="93" name="mf-circles"/>
            <p:cNvGrpSpPr/>
            <p:nvPr/>
          </p:nvGrpSpPr>
          <p:grpSpPr>
            <a:xfrm>
              <a:off x="2371725" y="1066800"/>
              <a:ext cx="5086350" cy="342900"/>
              <a:chOff x="2371725" y="1066800"/>
              <a:chExt cx="5086350" cy="342900"/>
            </a:xfrm>
          </p:grpSpPr>
          <p:sp>
            <p:nvSpPr>
              <p:cNvPr id="79" name="Ellipse 79"/>
              <p:cNvSpPr/>
              <p:nvPr/>
            </p:nvSpPr>
            <p:spPr>
              <a:xfrm>
                <a:off x="2371725" y="1066800"/>
                <a:ext cx="342900" cy="342900"/>
              </a:xfrm>
              <a:prstGeom prst="ellipse">
                <a:avLst/>
              </a:prstGeom>
              <a:solidFill>
                <a:srgbClr val="92301C"/>
              </a:solidFill>
              <a:ln>
                <a:noFill/>
              </a:ln>
            </p:spPr>
          </p:sp>
          <p:sp>
            <p:nvSpPr>
              <p:cNvPr id="80" name="TextBox 80"/>
              <p:cNvSpPr txBox="1"/>
              <p:nvPr/>
            </p:nvSpPr>
            <p:spPr>
              <a:xfrm>
                <a:off x="2482256" y="119538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01</a:t>
                </a:r>
              </a:p>
            </p:txBody>
          </p:sp>
          <p:sp>
            <p:nvSpPr>
              <p:cNvPr id="81" name="Ellipse 81"/>
              <p:cNvSpPr/>
              <p:nvPr/>
            </p:nvSpPr>
            <p:spPr>
              <a:xfrm>
                <a:off x="3162300" y="1066800"/>
                <a:ext cx="342900" cy="342900"/>
              </a:xfrm>
              <a:prstGeom prst="ellipse">
                <a:avLst/>
              </a:prstGeom>
              <a:solidFill>
                <a:srgbClr val="92301C"/>
              </a:solidFill>
              <a:ln>
                <a:noFill/>
              </a:ln>
            </p:spPr>
          </p:sp>
          <p:sp>
            <p:nvSpPr>
              <p:cNvPr id="82" name="TextBox 82"/>
              <p:cNvSpPr txBox="1"/>
              <p:nvPr/>
            </p:nvSpPr>
            <p:spPr>
              <a:xfrm>
                <a:off x="3272831" y="119538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02</a:t>
                </a:r>
              </a:p>
            </p:txBody>
          </p:sp>
          <p:sp>
            <p:nvSpPr>
              <p:cNvPr id="83" name="Ellipse 83"/>
              <p:cNvSpPr/>
              <p:nvPr/>
            </p:nvSpPr>
            <p:spPr>
              <a:xfrm>
                <a:off x="3952875" y="1066800"/>
                <a:ext cx="342900" cy="342900"/>
              </a:xfrm>
              <a:prstGeom prst="ellipse">
                <a:avLst/>
              </a:prstGeom>
              <a:solidFill>
                <a:srgbClr val="92301C"/>
              </a:solidFill>
              <a:ln>
                <a:noFill/>
              </a:ln>
            </p:spPr>
          </p:sp>
          <p:sp>
            <p:nvSpPr>
              <p:cNvPr id="84" name="TextBox 84"/>
              <p:cNvSpPr txBox="1"/>
              <p:nvPr/>
            </p:nvSpPr>
            <p:spPr>
              <a:xfrm>
                <a:off x="4063406" y="119538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03</a:t>
                </a:r>
              </a:p>
            </p:txBody>
          </p:sp>
          <p:sp>
            <p:nvSpPr>
              <p:cNvPr id="85" name="Ellipse 85"/>
              <p:cNvSpPr/>
              <p:nvPr/>
            </p:nvSpPr>
            <p:spPr>
              <a:xfrm>
                <a:off x="4743450" y="1066800"/>
                <a:ext cx="342900" cy="342900"/>
              </a:xfrm>
              <a:prstGeom prst="ellipse">
                <a:avLst/>
              </a:prstGeom>
              <a:solidFill>
                <a:srgbClr val="92301C"/>
              </a:solidFill>
              <a:ln>
                <a:noFill/>
              </a:ln>
            </p:spPr>
          </p:sp>
          <p:sp>
            <p:nvSpPr>
              <p:cNvPr id="86" name="TextBox 86"/>
              <p:cNvSpPr txBox="1"/>
              <p:nvPr/>
            </p:nvSpPr>
            <p:spPr>
              <a:xfrm>
                <a:off x="4853981" y="119538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04</a:t>
                </a:r>
              </a:p>
            </p:txBody>
          </p:sp>
          <p:sp>
            <p:nvSpPr>
              <p:cNvPr id="87" name="Ellipse 87"/>
              <p:cNvSpPr/>
              <p:nvPr/>
            </p:nvSpPr>
            <p:spPr>
              <a:xfrm>
                <a:off x="5534025" y="1066800"/>
                <a:ext cx="342900" cy="342900"/>
              </a:xfrm>
              <a:prstGeom prst="ellipse">
                <a:avLst/>
              </a:prstGeom>
              <a:solidFill>
                <a:srgbClr val="92301C"/>
              </a:solidFill>
              <a:ln>
                <a:noFill/>
              </a:ln>
            </p:spPr>
          </p:sp>
          <p:sp>
            <p:nvSpPr>
              <p:cNvPr id="88" name="TextBox 88"/>
              <p:cNvSpPr txBox="1"/>
              <p:nvPr/>
            </p:nvSpPr>
            <p:spPr>
              <a:xfrm>
                <a:off x="5644556" y="119538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05</a:t>
                </a:r>
              </a:p>
            </p:txBody>
          </p:sp>
          <p:sp>
            <p:nvSpPr>
              <p:cNvPr id="89" name="Ellipse 89"/>
              <p:cNvSpPr/>
              <p:nvPr/>
            </p:nvSpPr>
            <p:spPr>
              <a:xfrm>
                <a:off x="6324600" y="1066800"/>
                <a:ext cx="342900" cy="342900"/>
              </a:xfrm>
              <a:prstGeom prst="ellipse">
                <a:avLst/>
              </a:prstGeom>
              <a:solidFill>
                <a:srgbClr val="92301C"/>
              </a:solidFill>
              <a:ln>
                <a:noFill/>
              </a:ln>
            </p:spPr>
          </p:sp>
          <p:sp>
            <p:nvSpPr>
              <p:cNvPr id="90" name="TextBox 90"/>
              <p:cNvSpPr txBox="1"/>
              <p:nvPr/>
            </p:nvSpPr>
            <p:spPr>
              <a:xfrm>
                <a:off x="6435131" y="119538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06</a:t>
                </a:r>
              </a:p>
            </p:txBody>
          </p:sp>
          <p:sp>
            <p:nvSpPr>
              <p:cNvPr id="91" name="Ellipse 91"/>
              <p:cNvSpPr/>
              <p:nvPr/>
            </p:nvSpPr>
            <p:spPr>
              <a:xfrm>
                <a:off x="7115175" y="1066800"/>
                <a:ext cx="342900" cy="342900"/>
              </a:xfrm>
              <a:prstGeom prst="ellipse">
                <a:avLst/>
              </a:prstGeom>
              <a:solidFill>
                <a:srgbClr val="6B1B0B"/>
              </a:solidFill>
              <a:ln>
                <a:noFill/>
              </a:ln>
            </p:spPr>
          </p:sp>
          <p:sp>
            <p:nvSpPr>
              <p:cNvPr id="92" name="TextBox 92"/>
              <p:cNvSpPr txBox="1"/>
              <p:nvPr/>
            </p:nvSpPr>
            <p:spPr>
              <a:xfrm>
                <a:off x="7225706" y="1195388"/>
                <a:ext cx="1218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j-lt"/>
                    <a:ea typeface="+mj-ea"/>
                    <a:cs typeface="+mj-cs"/>
                  </a:rPr>
                  <a:t>07</a:t>
                </a:r>
              </a:p>
            </p:txBody>
          </p:sp>
        </p:grpSp>
        <p:grpSp>
          <p:nvGrpSpPr>
            <p:cNvPr id="122" name="mf-icons"/>
            <p:cNvGrpSpPr/>
            <p:nvPr/>
          </p:nvGrpSpPr>
          <p:grpSpPr>
            <a:xfrm>
              <a:off x="2460625" y="1529758"/>
              <a:ext cx="4908549" cy="202203"/>
              <a:chOff x="2460625" y="1529758"/>
              <a:chExt cx="4908549" cy="202203"/>
            </a:xfrm>
          </p:grpSpPr>
          <p:grpSp>
            <p:nvGrpSpPr>
              <p:cNvPr id="99" name="Group 99"/>
              <p:cNvGrpSpPr/>
              <p:nvPr/>
            </p:nvGrpSpPr>
            <p:grpSpPr>
              <a:xfrm>
                <a:off x="2460625" y="1535906"/>
                <a:ext cx="185736" cy="196055"/>
                <a:chOff x="2460625" y="1535906"/>
                <a:chExt cx="185736" cy="196055"/>
              </a:xfrm>
            </p:grpSpPr>
            <p:sp>
              <p:nvSpPr>
                <p:cNvPr id="94" name="Freeform 94"/>
                <p:cNvSpPr/>
                <p:nvPr/>
              </p:nvSpPr>
              <p:spPr>
                <a:xfrm>
                  <a:off x="2460625" y="1535906"/>
                  <a:ext cx="165099" cy="61912"/>
                </a:xfrm>
                <a:custGeom>
                  <a:avLst/>
                  <a:gdLst/>
                  <a:ahLst/>
                  <a:cxnLst/>
                  <a:rect l="l" t="t" r="r" b="b"/>
                  <a:pathLst>
                    <a:path w="165099" h="61912">
                      <a:moveTo>
                        <a:pt x="0" y="30956"/>
                      </a:moveTo>
                      <a:cubicBezTo>
                        <a:pt x="0" y="48054"/>
                        <a:pt x="36962" y="61912"/>
                        <a:pt x="82550" y="61912"/>
                      </a:cubicBezTo>
                      <a:cubicBezTo>
                        <a:pt x="128138" y="61912"/>
                        <a:pt x="165099" y="48054"/>
                        <a:pt x="165099" y="30956"/>
                      </a:cubicBezTo>
                      <a:cubicBezTo>
                        <a:pt x="165099" y="13858"/>
                        <a:pt x="128138" y="0"/>
                        <a:pt x="82550" y="0"/>
                      </a:cubicBezTo>
                      <a:cubicBezTo>
                        <a:pt x="36962" y="0"/>
                        <a:pt x="0" y="13858"/>
                        <a:pt x="0" y="30956"/>
                      </a:cubicBezTo>
                    </a:path>
                  </a:pathLst>
                </a:custGeom>
                <a:noFill/>
                <a:ln w="20637">
                  <a:solidFill>
                    <a:srgbClr val="92301C"/>
                  </a:solidFill>
                </a:ln>
              </p:spPr>
            </p:sp>
            <p:sp>
              <p:nvSpPr>
                <p:cNvPr id="95" name="Freeform 95"/>
                <p:cNvSpPr/>
                <p:nvPr/>
              </p:nvSpPr>
              <p:spPr>
                <a:xfrm>
                  <a:off x="2460625" y="1566862"/>
                  <a:ext cx="165099" cy="92868"/>
                </a:xfrm>
                <a:custGeom>
                  <a:avLst/>
                  <a:gdLst/>
                  <a:ahLst/>
                  <a:cxnLst/>
                  <a:rect l="l" t="t" r="r" b="b"/>
                  <a:pathLst>
                    <a:path w="165099" h="92868">
                      <a:moveTo>
                        <a:pt x="0" y="0"/>
                      </a:moveTo>
                      <a:lnTo>
                        <a:pt x="0" y="61912"/>
                      </a:lnTo>
                      <a:cubicBezTo>
                        <a:pt x="0" y="79010"/>
                        <a:pt x="36962" y="92868"/>
                        <a:pt x="82550" y="92868"/>
                      </a:cubicBezTo>
                      <a:cubicBezTo>
                        <a:pt x="91383" y="92868"/>
                        <a:pt x="99885" y="92353"/>
                        <a:pt x="107872" y="91383"/>
                      </a:cubicBezTo>
                      <a:moveTo>
                        <a:pt x="165099" y="61912"/>
                      </a:moveTo>
                      <a:lnTo>
                        <a:pt x="165099" y="0"/>
                      </a:lnTo>
                    </a:path>
                  </a:pathLst>
                </a:custGeom>
                <a:noFill/>
                <a:ln w="20637">
                  <a:solidFill>
                    <a:srgbClr val="92301C"/>
                  </a:solidFill>
                </a:ln>
              </p:spPr>
            </p:sp>
            <p:sp>
              <p:nvSpPr>
                <p:cNvPr id="96" name="Freeform 96"/>
                <p:cNvSpPr/>
                <p:nvPr/>
              </p:nvSpPr>
              <p:spPr>
                <a:xfrm>
                  <a:off x="2460625" y="1628775"/>
                  <a:ext cx="87812" cy="92868"/>
                </a:xfrm>
                <a:custGeom>
                  <a:avLst/>
                  <a:gdLst/>
                  <a:ahLst/>
                  <a:cxnLst/>
                  <a:rect l="l" t="t" r="r" b="b"/>
                  <a:pathLst>
                    <a:path w="87812" h="92868">
                      <a:moveTo>
                        <a:pt x="0" y="0"/>
                      </a:moveTo>
                      <a:lnTo>
                        <a:pt x="0" y="61912"/>
                      </a:lnTo>
                      <a:cubicBezTo>
                        <a:pt x="0" y="79010"/>
                        <a:pt x="36962" y="92868"/>
                        <a:pt x="82550" y="92868"/>
                      </a:cubicBezTo>
                      <a:cubicBezTo>
                        <a:pt x="84314" y="92868"/>
                        <a:pt x="86068" y="92848"/>
                        <a:pt x="87812" y="92807"/>
                      </a:cubicBezTo>
                    </a:path>
                  </a:pathLst>
                </a:custGeom>
                <a:noFill/>
                <a:ln w="20637">
                  <a:solidFill>
                    <a:srgbClr val="92301C"/>
                  </a:solidFill>
                </a:ln>
              </p:spPr>
            </p:sp>
            <p:sp>
              <p:nvSpPr>
                <p:cNvPr id="97" name="Freeform 97"/>
                <p:cNvSpPr/>
                <p:nvPr/>
              </p:nvSpPr>
              <p:spPr>
                <a:xfrm>
                  <a:off x="2615406" y="1670049"/>
                  <a:ext cx="9525" cy="61912"/>
                </a:xfrm>
                <a:custGeom>
                  <a:avLst/>
                  <a:gdLst/>
                  <a:ahLst/>
                  <a:cxnLst/>
                  <a:rect l="l" t="t" r="r" b="b"/>
                  <a:pathLst>
                    <a:path w="9525" h="61912">
                      <a:moveTo>
                        <a:pt x="0" y="61912"/>
                      </a:moveTo>
                      <a:lnTo>
                        <a:pt x="0" y="0"/>
                      </a:lnTo>
                    </a:path>
                  </a:pathLst>
                </a:custGeom>
                <a:noFill/>
                <a:ln w="20637">
                  <a:solidFill>
                    <a:srgbClr val="92301C"/>
                  </a:solidFill>
                </a:ln>
              </p:spPr>
            </p:sp>
            <p:sp>
              <p:nvSpPr>
                <p:cNvPr id="98" name="Freeform 98"/>
                <p:cNvSpPr/>
                <p:nvPr/>
              </p:nvSpPr>
              <p:spPr>
                <a:xfrm>
                  <a:off x="2584449" y="1670049"/>
                  <a:ext cx="61912" cy="30956"/>
                </a:xfrm>
                <a:custGeom>
                  <a:avLst/>
                  <a:gdLst/>
                  <a:ahLst/>
                  <a:cxnLst/>
                  <a:rect l="l" t="t" r="r" b="b"/>
                  <a:pathLst>
                    <a:path w="61912" h="30956">
                      <a:moveTo>
                        <a:pt x="61912" y="30956"/>
                      </a:moveTo>
                      <a:lnTo>
                        <a:pt x="30956" y="0"/>
                      </a:lnTo>
                      <a:lnTo>
                        <a:pt x="0" y="30956"/>
                      </a:lnTo>
                    </a:path>
                  </a:pathLst>
                </a:custGeom>
                <a:noFill/>
                <a:ln w="20637">
                  <a:solidFill>
                    <a:srgbClr val="92301C"/>
                  </a:solidFill>
                </a:ln>
              </p:spPr>
            </p:sp>
          </p:grpSp>
          <p:grpSp>
            <p:nvGrpSpPr>
              <p:cNvPr id="105" name="Group 105"/>
              <p:cNvGrpSpPr/>
              <p:nvPr/>
            </p:nvGrpSpPr>
            <p:grpSpPr>
              <a:xfrm>
                <a:off x="3240881" y="1535906"/>
                <a:ext cx="185737" cy="185737"/>
                <a:chOff x="3240881" y="1535906"/>
                <a:chExt cx="185737" cy="185737"/>
              </a:xfrm>
            </p:grpSpPr>
            <p:sp>
              <p:nvSpPr>
                <p:cNvPr id="100" name="Freeform 100"/>
                <p:cNvSpPr/>
                <p:nvPr/>
              </p:nvSpPr>
              <p:spPr>
                <a:xfrm>
                  <a:off x="3240881" y="1659731"/>
                  <a:ext cx="61912" cy="61912"/>
                </a:xfrm>
                <a:custGeom>
                  <a:avLst/>
                  <a:gdLst/>
                  <a:ahLst/>
                  <a:cxnLst/>
                  <a:rect l="l" t="t" r="r" b="b"/>
                  <a:pathLst>
                    <a:path w="61912" h="61912">
                      <a:moveTo>
                        <a:pt x="0" y="20637"/>
                      </a:moveTo>
                      <a:cubicBezTo>
                        <a:pt x="0" y="9240"/>
                        <a:pt x="9240" y="0"/>
                        <a:pt x="20637" y="0"/>
                      </a:cubicBezTo>
                      <a:lnTo>
                        <a:pt x="41275" y="0"/>
                      </a:lnTo>
                      <a:cubicBezTo>
                        <a:pt x="52673" y="0"/>
                        <a:pt x="61912" y="9240"/>
                        <a:pt x="61912" y="20637"/>
                      </a:cubicBezTo>
                      <a:lnTo>
                        <a:pt x="61912" y="41275"/>
                      </a:lnTo>
                      <a:cubicBezTo>
                        <a:pt x="61912" y="52673"/>
                        <a:pt x="52673" y="61912"/>
                        <a:pt x="41275" y="61912"/>
                      </a:cubicBezTo>
                      <a:lnTo>
                        <a:pt x="20637" y="61912"/>
                      </a:lnTo>
                      <a:cubicBezTo>
                        <a:pt x="9240" y="61912"/>
                        <a:pt x="0" y="52673"/>
                        <a:pt x="0" y="41275"/>
                      </a:cubicBezTo>
                      <a:lnTo>
                        <a:pt x="0" y="20637"/>
                      </a:lnTo>
                    </a:path>
                  </a:pathLst>
                </a:custGeom>
                <a:noFill/>
                <a:ln w="20637">
                  <a:solidFill>
                    <a:srgbClr val="92301C"/>
                  </a:solidFill>
                </a:ln>
              </p:spPr>
            </p:sp>
            <p:sp>
              <p:nvSpPr>
                <p:cNvPr id="101" name="Freeform 101"/>
                <p:cNvSpPr/>
                <p:nvPr/>
              </p:nvSpPr>
              <p:spPr>
                <a:xfrm>
                  <a:off x="3364706" y="1659731"/>
                  <a:ext cx="61912" cy="61912"/>
                </a:xfrm>
                <a:custGeom>
                  <a:avLst/>
                  <a:gdLst/>
                  <a:ahLst/>
                  <a:cxnLst/>
                  <a:rect l="l" t="t" r="r" b="b"/>
                  <a:pathLst>
                    <a:path w="61912" h="61912">
                      <a:moveTo>
                        <a:pt x="0" y="20637"/>
                      </a:moveTo>
                      <a:cubicBezTo>
                        <a:pt x="0" y="9240"/>
                        <a:pt x="9240" y="0"/>
                        <a:pt x="20637" y="0"/>
                      </a:cubicBezTo>
                      <a:lnTo>
                        <a:pt x="41275" y="0"/>
                      </a:lnTo>
                      <a:cubicBezTo>
                        <a:pt x="52673" y="0"/>
                        <a:pt x="61912" y="9240"/>
                        <a:pt x="61912" y="20637"/>
                      </a:cubicBezTo>
                      <a:lnTo>
                        <a:pt x="61912" y="41275"/>
                      </a:lnTo>
                      <a:cubicBezTo>
                        <a:pt x="61912" y="52673"/>
                        <a:pt x="52673" y="61912"/>
                        <a:pt x="41275" y="61912"/>
                      </a:cubicBezTo>
                      <a:lnTo>
                        <a:pt x="20637" y="61912"/>
                      </a:lnTo>
                      <a:cubicBezTo>
                        <a:pt x="9240" y="61912"/>
                        <a:pt x="0" y="52673"/>
                        <a:pt x="0" y="41275"/>
                      </a:cubicBezTo>
                      <a:lnTo>
                        <a:pt x="0" y="20637"/>
                      </a:lnTo>
                    </a:path>
                  </a:pathLst>
                </a:custGeom>
                <a:noFill/>
                <a:ln w="20637">
                  <a:solidFill>
                    <a:srgbClr val="92301C"/>
                  </a:solidFill>
                </a:ln>
              </p:spPr>
            </p:sp>
            <p:sp>
              <p:nvSpPr>
                <p:cNvPr id="102" name="Freeform 102"/>
                <p:cNvSpPr/>
                <p:nvPr/>
              </p:nvSpPr>
              <p:spPr>
                <a:xfrm>
                  <a:off x="3302793" y="1535906"/>
                  <a:ext cx="61912" cy="61912"/>
                </a:xfrm>
                <a:custGeom>
                  <a:avLst/>
                  <a:gdLst/>
                  <a:ahLst/>
                  <a:cxnLst/>
                  <a:rect l="l" t="t" r="r" b="b"/>
                  <a:pathLst>
                    <a:path w="61912" h="61912">
                      <a:moveTo>
                        <a:pt x="0" y="20637"/>
                      </a:moveTo>
                      <a:cubicBezTo>
                        <a:pt x="0" y="9240"/>
                        <a:pt x="9240" y="0"/>
                        <a:pt x="20637" y="0"/>
                      </a:cubicBezTo>
                      <a:lnTo>
                        <a:pt x="41275" y="0"/>
                      </a:lnTo>
                      <a:cubicBezTo>
                        <a:pt x="52673" y="0"/>
                        <a:pt x="61912" y="9240"/>
                        <a:pt x="61912" y="20637"/>
                      </a:cubicBezTo>
                      <a:lnTo>
                        <a:pt x="61912" y="41275"/>
                      </a:lnTo>
                      <a:cubicBezTo>
                        <a:pt x="61912" y="52673"/>
                        <a:pt x="52673" y="61912"/>
                        <a:pt x="41275" y="61912"/>
                      </a:cubicBezTo>
                      <a:lnTo>
                        <a:pt x="20637" y="61912"/>
                      </a:lnTo>
                      <a:cubicBezTo>
                        <a:pt x="9240" y="61912"/>
                        <a:pt x="0" y="52673"/>
                        <a:pt x="0" y="41275"/>
                      </a:cubicBezTo>
                      <a:lnTo>
                        <a:pt x="0" y="20637"/>
                      </a:lnTo>
                    </a:path>
                  </a:pathLst>
                </a:custGeom>
                <a:noFill/>
                <a:ln w="20637">
                  <a:solidFill>
                    <a:srgbClr val="92301C"/>
                  </a:solidFill>
                </a:ln>
              </p:spPr>
            </p:sp>
            <p:sp>
              <p:nvSpPr>
                <p:cNvPr id="103" name="Freeform 103"/>
                <p:cNvSpPr/>
                <p:nvPr/>
              </p:nvSpPr>
              <p:spPr>
                <a:xfrm>
                  <a:off x="3271837" y="1628775"/>
                  <a:ext cx="123825" cy="30956"/>
                </a:xfrm>
                <a:custGeom>
                  <a:avLst/>
                  <a:gdLst/>
                  <a:ahLst/>
                  <a:cxnLst/>
                  <a:rect l="l" t="t" r="r" b="b"/>
                  <a:pathLst>
                    <a:path w="123825" h="30956">
                      <a:moveTo>
                        <a:pt x="0" y="30956"/>
                      </a:moveTo>
                      <a:lnTo>
                        <a:pt x="0" y="20637"/>
                      </a:lnTo>
                      <a:cubicBezTo>
                        <a:pt x="0" y="9240"/>
                        <a:pt x="9240" y="0"/>
                        <a:pt x="20637" y="0"/>
                      </a:cubicBezTo>
                      <a:lnTo>
                        <a:pt x="103187" y="0"/>
                      </a:lnTo>
                      <a:cubicBezTo>
                        <a:pt x="114585" y="0"/>
                        <a:pt x="123825" y="9240"/>
                        <a:pt x="123825" y="20637"/>
                      </a:cubicBezTo>
                      <a:lnTo>
                        <a:pt x="123825" y="30956"/>
                      </a:lnTo>
                    </a:path>
                  </a:pathLst>
                </a:custGeom>
                <a:noFill/>
                <a:ln w="20637">
                  <a:solidFill>
                    <a:srgbClr val="92301C"/>
                  </a:solidFill>
                </a:ln>
              </p:spPr>
            </p:sp>
            <p:sp>
              <p:nvSpPr>
                <p:cNvPr id="104" name="Freeform 104"/>
                <p:cNvSpPr/>
                <p:nvPr/>
              </p:nvSpPr>
              <p:spPr>
                <a:xfrm>
                  <a:off x="3333750" y="1597818"/>
                  <a:ext cx="9525" cy="30956"/>
                </a:xfrm>
                <a:custGeom>
                  <a:avLst/>
                  <a:gdLst/>
                  <a:ahLst/>
                  <a:cxnLst/>
                  <a:rect l="l" t="t" r="r" b="b"/>
                  <a:pathLst>
                    <a:path w="9525" h="30956">
                      <a:moveTo>
                        <a:pt x="0" y="0"/>
                      </a:moveTo>
                      <a:lnTo>
                        <a:pt x="0" y="30956"/>
                      </a:lnTo>
                    </a:path>
                  </a:pathLst>
                </a:custGeom>
                <a:noFill/>
                <a:ln w="20637">
                  <a:solidFill>
                    <a:srgbClr val="92301C"/>
                  </a:solidFill>
                </a:ln>
              </p:spPr>
            </p:sp>
          </p:grpSp>
          <p:grpSp>
            <p:nvGrpSpPr>
              <p:cNvPr id="108" name="Group 108"/>
              <p:cNvGrpSpPr/>
              <p:nvPr/>
            </p:nvGrpSpPr>
            <p:grpSpPr>
              <a:xfrm>
                <a:off x="4031456" y="1535906"/>
                <a:ext cx="185737" cy="185737"/>
                <a:chOff x="4031456" y="1535906"/>
                <a:chExt cx="185737" cy="185737"/>
              </a:xfrm>
            </p:grpSpPr>
            <p:sp>
              <p:nvSpPr>
                <p:cNvPr id="106" name="Freeform 106"/>
                <p:cNvSpPr/>
                <p:nvPr/>
              </p:nvSpPr>
              <p:spPr>
                <a:xfrm>
                  <a:off x="4031456" y="1535906"/>
                  <a:ext cx="144462" cy="144462"/>
                </a:xfrm>
                <a:custGeom>
                  <a:avLst/>
                  <a:gdLst/>
                  <a:ahLst/>
                  <a:cxnLst/>
                  <a:rect l="l" t="t" r="r" b="b"/>
                  <a:pathLst>
                    <a:path w="144462" h="144462">
                      <a:moveTo>
                        <a:pt x="0" y="72231"/>
                      </a:moveTo>
                      <a:cubicBezTo>
                        <a:pt x="0" y="112123"/>
                        <a:pt x="32339" y="144462"/>
                        <a:pt x="72231" y="144462"/>
                      </a:cubicBezTo>
                      <a:cubicBezTo>
                        <a:pt x="112123" y="144462"/>
                        <a:pt x="144462" y="112123"/>
                        <a:pt x="144462" y="72231"/>
                      </a:cubicBezTo>
                      <a:cubicBezTo>
                        <a:pt x="144462" y="32339"/>
                        <a:pt x="112123" y="0"/>
                        <a:pt x="72231" y="0"/>
                      </a:cubicBezTo>
                      <a:cubicBezTo>
                        <a:pt x="32339" y="0"/>
                        <a:pt x="0" y="32339"/>
                        <a:pt x="0" y="72231"/>
                      </a:cubicBezTo>
                    </a:path>
                  </a:pathLst>
                </a:custGeom>
                <a:noFill/>
                <a:ln w="20637">
                  <a:solidFill>
                    <a:srgbClr val="92301C"/>
                  </a:solidFill>
                </a:ln>
              </p:spPr>
            </p:sp>
            <p:sp>
              <p:nvSpPr>
                <p:cNvPr id="107" name="Freeform 107"/>
                <p:cNvSpPr/>
                <p:nvPr/>
              </p:nvSpPr>
              <p:spPr>
                <a:xfrm>
                  <a:off x="4155281" y="1659731"/>
                  <a:ext cx="61912" cy="61912"/>
                </a:xfrm>
                <a:custGeom>
                  <a:avLst/>
                  <a:gdLst/>
                  <a:ahLst/>
                  <a:cxnLst/>
                  <a:rect l="l" t="t" r="r" b="b"/>
                  <a:pathLst>
                    <a:path w="61912" h="61912">
                      <a:moveTo>
                        <a:pt x="61912" y="61912"/>
                      </a:moveTo>
                      <a:lnTo>
                        <a:pt x="0" y="0"/>
                      </a:lnTo>
                    </a:path>
                  </a:pathLst>
                </a:custGeom>
                <a:noFill/>
                <a:ln w="20637">
                  <a:solidFill>
                    <a:srgbClr val="92301C"/>
                  </a:solidFill>
                </a:ln>
              </p:spPr>
            </p:sp>
          </p:grpSp>
          <p:grpSp>
            <p:nvGrpSpPr>
              <p:cNvPr id="113" name="Group 113"/>
              <p:cNvGrpSpPr/>
              <p:nvPr/>
            </p:nvGrpSpPr>
            <p:grpSpPr>
              <a:xfrm>
                <a:off x="4822031" y="1546225"/>
                <a:ext cx="185737" cy="174624"/>
                <a:chOff x="4822031" y="1546225"/>
                <a:chExt cx="185737" cy="174624"/>
              </a:xfrm>
            </p:grpSpPr>
            <p:sp>
              <p:nvSpPr>
                <p:cNvPr id="109" name="Freeform 109"/>
                <p:cNvSpPr/>
                <p:nvPr/>
              </p:nvSpPr>
              <p:spPr>
                <a:xfrm>
                  <a:off x="4822031" y="162877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92301C"/>
                  </a:solidFill>
                </a:ln>
              </p:spPr>
            </p:sp>
            <p:sp>
              <p:nvSpPr>
                <p:cNvPr id="110" name="Freeform 110"/>
                <p:cNvSpPr/>
                <p:nvPr/>
              </p:nvSpPr>
              <p:spPr>
                <a:xfrm>
                  <a:off x="4945856" y="158750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92301C"/>
                  </a:solidFill>
                </a:ln>
              </p:spPr>
            </p:sp>
            <p:sp>
              <p:nvSpPr>
                <p:cNvPr id="111" name="Freeform 111"/>
                <p:cNvSpPr/>
                <p:nvPr/>
              </p:nvSpPr>
              <p:spPr>
                <a:xfrm>
                  <a:off x="4883943" y="154622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92301C"/>
                  </a:solidFill>
                </a:ln>
              </p:spPr>
            </p:sp>
            <p:sp>
              <p:nvSpPr>
                <p:cNvPr id="112" name="Freeform 112"/>
                <p:cNvSpPr/>
                <p:nvPr/>
              </p:nvSpPr>
              <p:spPr>
                <a:xfrm>
                  <a:off x="4832350" y="1711324"/>
                  <a:ext cx="144462" cy="9525"/>
                </a:xfrm>
                <a:custGeom>
                  <a:avLst/>
                  <a:gdLst/>
                  <a:ahLst/>
                  <a:cxnLst/>
                  <a:rect l="l" t="t" r="r" b="b"/>
                  <a:pathLst>
                    <a:path w="144462" h="9525">
                      <a:moveTo>
                        <a:pt x="0" y="0"/>
                      </a:moveTo>
                      <a:lnTo>
                        <a:pt x="144462" y="0"/>
                      </a:lnTo>
                    </a:path>
                  </a:pathLst>
                </a:custGeom>
                <a:noFill/>
                <a:ln w="20637">
                  <a:solidFill>
                    <a:srgbClr val="92301C"/>
                  </a:solidFill>
                </a:ln>
              </p:spPr>
            </p:sp>
          </p:grpSp>
          <p:sp>
            <p:nvSpPr>
              <p:cNvPr id="114" name="Freeform 114"/>
              <p:cNvSpPr/>
              <p:nvPr/>
            </p:nvSpPr>
            <p:spPr>
              <a:xfrm>
                <a:off x="5606458" y="1529758"/>
                <a:ext cx="195274" cy="195274"/>
              </a:xfrm>
              <a:custGeom>
                <a:avLst/>
                <a:gdLst/>
                <a:ahLst/>
                <a:cxnLst/>
                <a:rect l="l" t="t" r="r" b="b"/>
                <a:pathLst>
                  <a:path w="195274" h="195274">
                    <a:moveTo>
                      <a:pt x="47423" y="78379"/>
                    </a:moveTo>
                    <a:lnTo>
                      <a:pt x="78379" y="78379"/>
                    </a:lnTo>
                    <a:lnTo>
                      <a:pt x="78379" y="47423"/>
                    </a:lnTo>
                    <a:lnTo>
                      <a:pt x="42264" y="11307"/>
                    </a:lnTo>
                    <a:cubicBezTo>
                      <a:pt x="65939" y="0"/>
                      <a:pt x="94172" y="4844"/>
                      <a:pt x="112724" y="23397"/>
                    </a:cubicBezTo>
                    <a:cubicBezTo>
                      <a:pt x="131277" y="41949"/>
                      <a:pt x="136121" y="70181"/>
                      <a:pt x="124813" y="93857"/>
                    </a:cubicBezTo>
                    <a:lnTo>
                      <a:pt x="186726" y="155769"/>
                    </a:lnTo>
                    <a:cubicBezTo>
                      <a:pt x="195274" y="164318"/>
                      <a:pt x="195274" y="178177"/>
                      <a:pt x="186726" y="186726"/>
                    </a:cubicBezTo>
                    <a:cubicBezTo>
                      <a:pt x="178177" y="195274"/>
                      <a:pt x="164318" y="195274"/>
                      <a:pt x="155769" y="186726"/>
                    </a:cubicBezTo>
                    <a:lnTo>
                      <a:pt x="93857" y="124813"/>
                    </a:lnTo>
                    <a:cubicBezTo>
                      <a:pt x="70181" y="136121"/>
                      <a:pt x="41949" y="131277"/>
                      <a:pt x="23397" y="112724"/>
                    </a:cubicBezTo>
                    <a:cubicBezTo>
                      <a:pt x="4844" y="94172"/>
                      <a:pt x="0" y="65939"/>
                      <a:pt x="11307" y="42264"/>
                    </a:cubicBezTo>
                    <a:lnTo>
                      <a:pt x="47423" y="78379"/>
                    </a:lnTo>
                  </a:path>
                </a:pathLst>
              </a:custGeom>
              <a:noFill/>
              <a:ln w="20637">
                <a:solidFill>
                  <a:srgbClr val="92301C"/>
                </a:solidFill>
              </a:ln>
            </p:spPr>
          </p:sp>
          <p:grpSp>
            <p:nvGrpSpPr>
              <p:cNvPr id="118" name="Group 118"/>
              <p:cNvGrpSpPr/>
              <p:nvPr/>
            </p:nvGrpSpPr>
            <p:grpSpPr>
              <a:xfrm>
                <a:off x="6434137" y="1535906"/>
                <a:ext cx="154781" cy="185737"/>
                <a:chOff x="6434137" y="1535906"/>
                <a:chExt cx="154781" cy="185737"/>
              </a:xfrm>
            </p:grpSpPr>
            <p:sp>
              <p:nvSpPr>
                <p:cNvPr id="115" name="Freeform 115"/>
                <p:cNvSpPr/>
                <p:nvPr/>
              </p:nvSpPr>
              <p:spPr>
                <a:xfrm>
                  <a:off x="6454775" y="15359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2301C"/>
                  </a:solidFill>
                </a:ln>
              </p:spPr>
            </p:sp>
            <p:sp>
              <p:nvSpPr>
                <p:cNvPr id="116" name="Freeform 116"/>
                <p:cNvSpPr/>
                <p:nvPr/>
              </p:nvSpPr>
              <p:spPr>
                <a:xfrm>
                  <a:off x="6434137" y="1659731"/>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92301C"/>
                  </a:solidFill>
                </a:ln>
              </p:spPr>
            </p:sp>
            <p:sp>
              <p:nvSpPr>
                <p:cNvPr id="117" name="Freeform 117"/>
                <p:cNvSpPr/>
                <p:nvPr/>
              </p:nvSpPr>
              <p:spPr>
                <a:xfrm>
                  <a:off x="6527006" y="1680368"/>
                  <a:ext cx="61912" cy="41275"/>
                </a:xfrm>
                <a:custGeom>
                  <a:avLst/>
                  <a:gdLst/>
                  <a:ahLst/>
                  <a:cxnLst/>
                  <a:rect l="l" t="t" r="r" b="b"/>
                  <a:pathLst>
                    <a:path w="61912" h="41275">
                      <a:moveTo>
                        <a:pt x="0" y="20637"/>
                      </a:moveTo>
                      <a:lnTo>
                        <a:pt x="20637" y="41275"/>
                      </a:lnTo>
                      <a:lnTo>
                        <a:pt x="61912" y="0"/>
                      </a:lnTo>
                    </a:path>
                  </a:pathLst>
                </a:custGeom>
                <a:noFill/>
                <a:ln w="20637">
                  <a:solidFill>
                    <a:srgbClr val="92301C"/>
                  </a:solidFill>
                </a:ln>
              </p:spPr>
            </p:sp>
          </p:grpSp>
          <p:grpSp>
            <p:nvGrpSpPr>
              <p:cNvPr id="121" name="Group 121"/>
              <p:cNvGrpSpPr/>
              <p:nvPr/>
            </p:nvGrpSpPr>
            <p:grpSpPr>
              <a:xfrm>
                <a:off x="7204075" y="1542244"/>
                <a:ext cx="165099" cy="173061"/>
                <a:chOff x="7204075" y="1542244"/>
                <a:chExt cx="165099" cy="173061"/>
              </a:xfrm>
            </p:grpSpPr>
            <p:sp>
              <p:nvSpPr>
                <p:cNvPr id="119" name="Freeform 119"/>
                <p:cNvSpPr/>
                <p:nvPr/>
              </p:nvSpPr>
              <p:spPr>
                <a:xfrm>
                  <a:off x="7204075" y="1542244"/>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92301C"/>
                  </a:solidFill>
                </a:ln>
              </p:spPr>
            </p:sp>
            <p:sp>
              <p:nvSpPr>
                <p:cNvPr id="120" name="Freeform 120"/>
                <p:cNvSpPr/>
                <p:nvPr/>
              </p:nvSpPr>
              <p:spPr>
                <a:xfrm>
                  <a:off x="7204075" y="1639093"/>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92301C"/>
                  </a:solidFill>
                </a:ln>
              </p:spPr>
            </p:sp>
          </p:grpSp>
        </p:grpSp>
        <p:grpSp>
          <p:nvGrpSpPr>
            <p:cNvPr id="130" name="mf-titles"/>
            <p:cNvGrpSpPr/>
            <p:nvPr/>
          </p:nvGrpSpPr>
          <p:grpSpPr>
            <a:xfrm>
              <a:off x="2317636" y="1873091"/>
              <a:ext cx="5084140" cy="161925"/>
              <a:chOff x="2317636" y="1873091"/>
              <a:chExt cx="5084140" cy="161925"/>
            </a:xfrm>
          </p:grpSpPr>
          <p:sp>
            <p:nvSpPr>
              <p:cNvPr id="123" name="TextBox 123"/>
              <p:cNvSpPr txBox="1"/>
              <p:nvPr/>
            </p:nvSpPr>
            <p:spPr>
              <a:xfrm>
                <a:off x="2317636" y="187309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告警汇聚</a:t>
                </a:r>
              </a:p>
            </p:txBody>
          </p:sp>
          <p:sp>
            <p:nvSpPr>
              <p:cNvPr id="124" name="TextBox 124"/>
              <p:cNvSpPr txBox="1"/>
              <p:nvPr/>
            </p:nvSpPr>
            <p:spPr>
              <a:xfrm>
                <a:off x="3108211" y="187309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去重聚类</a:t>
                </a:r>
              </a:p>
            </p:txBody>
          </p:sp>
          <p:sp>
            <p:nvSpPr>
              <p:cNvPr id="125" name="TextBox 125"/>
              <p:cNvSpPr txBox="1"/>
              <p:nvPr/>
            </p:nvSpPr>
            <p:spPr>
              <a:xfrm>
                <a:off x="3898786" y="187309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根因定位</a:t>
                </a:r>
              </a:p>
            </p:txBody>
          </p:sp>
          <p:sp>
            <p:nvSpPr>
              <p:cNvPr id="126" name="TextBox 126"/>
              <p:cNvSpPr txBox="1"/>
              <p:nvPr/>
            </p:nvSpPr>
            <p:spPr>
              <a:xfrm>
                <a:off x="4689361" y="187309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影响评估</a:t>
                </a:r>
              </a:p>
            </p:txBody>
          </p:sp>
          <p:sp>
            <p:nvSpPr>
              <p:cNvPr id="127" name="TextBox 127"/>
              <p:cNvSpPr txBox="1"/>
              <p:nvPr/>
            </p:nvSpPr>
            <p:spPr>
              <a:xfrm>
                <a:off x="5479936" y="187309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修复建议</a:t>
                </a:r>
              </a:p>
            </p:txBody>
          </p:sp>
          <p:sp>
            <p:nvSpPr>
              <p:cNvPr id="128" name="TextBox 128"/>
              <p:cNvSpPr txBox="1"/>
              <p:nvPr/>
            </p:nvSpPr>
            <p:spPr>
              <a:xfrm>
                <a:off x="6270511" y="1873091"/>
                <a:ext cx="451079"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授权执行</a:t>
                </a:r>
              </a:p>
            </p:txBody>
          </p:sp>
          <p:sp>
            <p:nvSpPr>
              <p:cNvPr id="129" name="TextBox 129"/>
              <p:cNvSpPr txBox="1"/>
              <p:nvPr/>
            </p:nvSpPr>
            <p:spPr>
              <a:xfrm>
                <a:off x="7171474" y="1873091"/>
                <a:ext cx="230302" cy="161925"/>
              </a:xfrm>
              <a:prstGeom prst="rect">
                <a:avLst/>
              </a:prstGeom>
              <a:noFill/>
              <a:ln>
                <a:noFill/>
              </a:ln>
            </p:spPr>
            <p:txBody>
              <a:bodyPr wrap="none" lIns="0" tIns="0" rIns="0" bIns="0" anchor="t" anchorCtr="0">
                <a:spAutoFit/>
              </a:bodyPr>
              <a:lstStyle/>
              <a:p>
                <a:pPr algn="ctr"/>
                <a:r>
                  <a:rPr lang="zh-CN" sz="820" b="1" dirty="0">
                    <a:solidFill>
                      <a:srgbClr val="6B1B0B"/>
                    </a:solidFill>
                    <a:latin typeface="+mn-lt"/>
                    <a:ea typeface="+mn-ea"/>
                    <a:cs typeface="+mn-cs"/>
                  </a:rPr>
                  <a:t>复盘</a:t>
                </a:r>
              </a:p>
            </p:txBody>
          </p:sp>
        </p:grpSp>
        <p:grpSp>
          <p:nvGrpSpPr>
            <p:cNvPr id="152" name="mf-bullets"/>
            <p:cNvGrpSpPr/>
            <p:nvPr/>
          </p:nvGrpSpPr>
          <p:grpSpPr>
            <a:xfrm>
              <a:off x="2327999" y="2083832"/>
              <a:ext cx="5173802" cy="431006"/>
              <a:chOff x="2327999" y="2083832"/>
              <a:chExt cx="5173802" cy="431006"/>
            </a:xfrm>
          </p:grpSpPr>
          <p:sp>
            <p:nvSpPr>
              <p:cNvPr id="131" name="TextBox 131"/>
              <p:cNvSpPr txBox="1"/>
              <p:nvPr/>
            </p:nvSpPr>
            <p:spPr>
              <a:xfrm>
                <a:off x="2327999" y="20838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多源接入</a:t>
                </a:r>
              </a:p>
            </p:txBody>
          </p:sp>
          <p:sp>
            <p:nvSpPr>
              <p:cNvPr id="132" name="TextBox 132"/>
              <p:cNvSpPr txBox="1"/>
              <p:nvPr/>
            </p:nvSpPr>
            <p:spPr>
              <a:xfrm>
                <a:off x="2327999" y="22362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统一格式</a:t>
                </a:r>
              </a:p>
            </p:txBody>
          </p:sp>
          <p:sp>
            <p:nvSpPr>
              <p:cNvPr id="133" name="TextBox 133"/>
              <p:cNvSpPr txBox="1"/>
              <p:nvPr/>
            </p:nvSpPr>
            <p:spPr>
              <a:xfrm>
                <a:off x="2327999" y="23886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实时分析</a:t>
                </a:r>
              </a:p>
            </p:txBody>
          </p:sp>
          <p:sp>
            <p:nvSpPr>
              <p:cNvPr id="134" name="TextBox 134"/>
              <p:cNvSpPr txBox="1"/>
              <p:nvPr/>
            </p:nvSpPr>
            <p:spPr>
              <a:xfrm>
                <a:off x="3032417" y="2083832"/>
                <a:ext cx="602666"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相似告警合并</a:t>
                </a:r>
              </a:p>
            </p:txBody>
          </p:sp>
          <p:sp>
            <p:nvSpPr>
              <p:cNvPr id="135" name="TextBox 135"/>
              <p:cNvSpPr txBox="1"/>
              <p:nvPr/>
            </p:nvSpPr>
            <p:spPr>
              <a:xfrm>
                <a:off x="3118574" y="22362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噪声过滤</a:t>
                </a:r>
              </a:p>
            </p:txBody>
          </p:sp>
          <p:sp>
            <p:nvSpPr>
              <p:cNvPr id="136" name="TextBox 136"/>
              <p:cNvSpPr txBox="1"/>
              <p:nvPr/>
            </p:nvSpPr>
            <p:spPr>
              <a:xfrm>
                <a:off x="3118574" y="23886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事件聚类</a:t>
                </a:r>
              </a:p>
            </p:txBody>
          </p:sp>
          <p:sp>
            <p:nvSpPr>
              <p:cNvPr id="137" name="TextBox 137"/>
              <p:cNvSpPr txBox="1"/>
              <p:nvPr/>
            </p:nvSpPr>
            <p:spPr>
              <a:xfrm>
                <a:off x="3909149" y="20838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关联分析</a:t>
                </a:r>
              </a:p>
            </p:txBody>
          </p:sp>
          <p:sp>
            <p:nvSpPr>
              <p:cNvPr id="138" name="TextBox 138"/>
              <p:cNvSpPr txBox="1"/>
              <p:nvPr/>
            </p:nvSpPr>
            <p:spPr>
              <a:xfrm>
                <a:off x="3909149" y="22362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时序回溯</a:t>
                </a:r>
              </a:p>
            </p:txBody>
          </p:sp>
          <p:sp>
            <p:nvSpPr>
              <p:cNvPr id="139" name="TextBox 139"/>
              <p:cNvSpPr txBox="1"/>
              <p:nvPr/>
            </p:nvSpPr>
            <p:spPr>
              <a:xfrm>
                <a:off x="3909149" y="23886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定位根因</a:t>
                </a:r>
              </a:p>
            </p:txBody>
          </p:sp>
          <p:sp>
            <p:nvSpPr>
              <p:cNvPr id="140" name="TextBox 140"/>
              <p:cNvSpPr txBox="1"/>
              <p:nvPr/>
            </p:nvSpPr>
            <p:spPr>
              <a:xfrm>
                <a:off x="4699724" y="20838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业务影响</a:t>
                </a:r>
              </a:p>
            </p:txBody>
          </p:sp>
          <p:sp>
            <p:nvSpPr>
              <p:cNvPr id="141" name="TextBox 141"/>
              <p:cNvSpPr txBox="1"/>
              <p:nvPr/>
            </p:nvSpPr>
            <p:spPr>
              <a:xfrm>
                <a:off x="4699724" y="22362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资产范围</a:t>
                </a:r>
              </a:p>
            </p:txBody>
          </p:sp>
          <p:sp>
            <p:nvSpPr>
              <p:cNvPr id="142" name="TextBox 142"/>
              <p:cNvSpPr txBox="1"/>
              <p:nvPr/>
            </p:nvSpPr>
            <p:spPr>
              <a:xfrm>
                <a:off x="4699724" y="23886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风险等级</a:t>
                </a:r>
              </a:p>
            </p:txBody>
          </p:sp>
          <p:sp>
            <p:nvSpPr>
              <p:cNvPr id="143" name="TextBox 143"/>
              <p:cNvSpPr txBox="1"/>
              <p:nvPr/>
            </p:nvSpPr>
            <p:spPr>
              <a:xfrm>
                <a:off x="5490299" y="20838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处置方案</a:t>
                </a:r>
              </a:p>
            </p:txBody>
          </p:sp>
          <p:sp>
            <p:nvSpPr>
              <p:cNvPr id="144" name="TextBox 144"/>
              <p:cNvSpPr txBox="1"/>
              <p:nvPr/>
            </p:nvSpPr>
            <p:spPr>
              <a:xfrm>
                <a:off x="5490299" y="22362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风险提示</a:t>
                </a:r>
              </a:p>
            </p:txBody>
          </p:sp>
          <p:sp>
            <p:nvSpPr>
              <p:cNvPr id="145" name="TextBox 145"/>
              <p:cNvSpPr txBox="1"/>
              <p:nvPr/>
            </p:nvSpPr>
            <p:spPr>
              <a:xfrm>
                <a:off x="5490299" y="23886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操作指引</a:t>
                </a:r>
              </a:p>
            </p:txBody>
          </p:sp>
          <p:sp>
            <p:nvSpPr>
              <p:cNvPr id="146" name="TextBox 146"/>
              <p:cNvSpPr txBox="1"/>
              <p:nvPr/>
            </p:nvSpPr>
            <p:spPr>
              <a:xfrm>
                <a:off x="6280874" y="20838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人工确认</a:t>
                </a:r>
              </a:p>
            </p:txBody>
          </p:sp>
          <p:sp>
            <p:nvSpPr>
              <p:cNvPr id="147" name="TextBox 147"/>
              <p:cNvSpPr txBox="1"/>
              <p:nvPr/>
            </p:nvSpPr>
            <p:spPr>
              <a:xfrm>
                <a:off x="6237796" y="2236232"/>
                <a:ext cx="516509"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自动化执行</a:t>
                </a:r>
              </a:p>
            </p:txBody>
          </p:sp>
          <p:sp>
            <p:nvSpPr>
              <p:cNvPr id="148" name="TextBox 148"/>
              <p:cNvSpPr txBox="1"/>
              <p:nvPr/>
            </p:nvSpPr>
            <p:spPr>
              <a:xfrm>
                <a:off x="6280874" y="23886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过程审计</a:t>
                </a:r>
              </a:p>
            </p:txBody>
          </p:sp>
          <p:sp>
            <p:nvSpPr>
              <p:cNvPr id="149" name="TextBox 149"/>
              <p:cNvSpPr txBox="1"/>
              <p:nvPr/>
            </p:nvSpPr>
            <p:spPr>
              <a:xfrm>
                <a:off x="7071449" y="20838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事件复盘</a:t>
                </a:r>
              </a:p>
            </p:txBody>
          </p:sp>
          <p:sp>
            <p:nvSpPr>
              <p:cNvPr id="150" name="TextBox 150"/>
              <p:cNvSpPr txBox="1"/>
              <p:nvPr/>
            </p:nvSpPr>
            <p:spPr>
              <a:xfrm>
                <a:off x="7071449" y="22362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知识沉淀</a:t>
                </a:r>
              </a:p>
            </p:txBody>
          </p:sp>
          <p:sp>
            <p:nvSpPr>
              <p:cNvPr id="151" name="TextBox 151"/>
              <p:cNvSpPr txBox="1"/>
              <p:nvPr/>
            </p:nvSpPr>
            <p:spPr>
              <a:xfrm>
                <a:off x="7071449" y="2388632"/>
                <a:ext cx="430352" cy="126206"/>
              </a:xfrm>
              <a:prstGeom prst="rect">
                <a:avLst/>
              </a:prstGeom>
              <a:noFill/>
              <a:ln>
                <a:noFill/>
              </a:ln>
            </p:spPr>
            <p:txBody>
              <a:bodyPr wrap="none" lIns="0" tIns="0" rIns="0" bIns="0" anchor="t" anchorCtr="0">
                <a:spAutoFit/>
              </a:bodyPr>
              <a:lstStyle/>
              <a:p>
                <a:pPr algn="ctr" marL="76200" indent="-76200">
                  <a:buClr>
                    <a:srgbClr val="52352F"/>
                  </a:buClr>
                  <a:buSzTx/>
                  <a:buFontTx/>
                  <a:buChar char="•"/>
                </a:pPr>
                <a:r>
                  <a:rPr lang="zh-CN" sz="640" dirty="0">
                    <a:solidFill>
                      <a:srgbClr val="52352F"/>
                    </a:solidFill>
                    <a:latin typeface="+mn-lt"/>
                    <a:ea typeface="+mn-ea"/>
                    <a:cs typeface="+mn-cs"/>
                  </a:rPr>
                  <a:t>持续优化</a:t>
                </a:r>
              </a:p>
            </p:txBody>
          </p:sp>
        </p:grpSp>
        <p:sp>
          <p:nvSpPr>
            <p:cNvPr id="153" name="Rectangle 153"/>
            <p:cNvSpPr/>
            <p:nvPr/>
          </p:nvSpPr>
          <p:spPr>
            <a:xfrm>
              <a:off x="2286000" y="2705100"/>
              <a:ext cx="5257800" cy="247650"/>
            </a:xfrm>
            <a:prstGeom prst="roundRect">
              <a:avLst>
                <a:gd name="adj" fmla="val 50000"/>
              </a:avLst>
            </a:prstGeom>
            <a:solidFill>
              <a:srgbClr val="D6E6F3"/>
            </a:solidFill>
            <a:ln>
              <a:noFill/>
            </a:ln>
          </p:spPr>
        </p:sp>
        <p:sp>
          <p:nvSpPr>
            <p:cNvPr id="154" name="TextBox 154"/>
            <p:cNvSpPr txBox="1"/>
            <p:nvPr/>
          </p:nvSpPr>
          <p:spPr>
            <a:xfrm>
              <a:off x="4143621" y="2782014"/>
              <a:ext cx="1542557" cy="154781"/>
            </a:xfrm>
            <a:prstGeom prst="rect">
              <a:avLst/>
            </a:prstGeom>
            <a:noFill/>
            <a:ln>
              <a:noFill/>
            </a:ln>
          </p:spPr>
          <p:txBody>
            <a:bodyPr wrap="none" lIns="0" tIns="0" rIns="0" bIns="0" anchor="t" anchorCtr="0">
              <a:spAutoFit/>
            </a:bodyPr>
            <a:lstStyle/>
            <a:p>
              <a:pPr algn="ctr"/>
              <a:r>
                <a:rPr lang="zh-CN" sz="790" b="1" dirty="0">
                  <a:solidFill>
                    <a:srgbClr val="6B1B0B"/>
                  </a:solidFill>
                  <a:latin typeface="+mn-lt"/>
                  <a:ea typeface="+mn-ea"/>
                  <a:cs typeface="+mn-cs"/>
                </a:rPr>
                <a:t>全链路可观测 · 可追溯 · 可审计</a:t>
              </a:r>
            </a:p>
          </p:txBody>
        </p:sp>
      </p:grpSp>
      <p:grpSp>
        <p:nvGrpSpPr>
          <p:cNvPr id="184" name="kpi-card"/>
          <p:cNvGrpSpPr/>
          <p:nvPr/>
        </p:nvGrpSpPr>
        <p:grpSpPr>
          <a:xfrm>
            <a:off x="2152650" y="3162300"/>
            <a:ext cx="5524500" cy="1981200"/>
            <a:chOff x="2152650" y="3162300"/>
            <a:chExt cx="5524500" cy="1981200"/>
          </a:xfrm>
        </p:grpSpPr>
        <p:sp>
          <p:nvSpPr>
            <p:cNvPr id="156" name="Rectangle 156"/>
            <p:cNvSpPr/>
            <p:nvPr/>
          </p:nvSpPr>
          <p:spPr>
            <a:xfrm>
              <a:off x="2152650" y="3162300"/>
              <a:ext cx="5524500" cy="266700"/>
            </a:xfrm>
            <a:prstGeom prst="rect">
              <a:avLst/>
            </a:prstGeom>
            <a:gradFill>
              <a:gsLst>
                <a:gs pos="0">
                  <a:srgbClr val="92301C"/>
                </a:gs>
                <a:gs pos="100000">
                  <a:srgbClr val="B7533F"/>
                </a:gs>
              </a:gsLst>
              <a:lin ang="0" scaled="1"/>
            </a:gradFill>
            <a:ln>
              <a:noFill/>
            </a:ln>
          </p:spPr>
        </p:sp>
        <p:sp>
          <p:nvSpPr>
            <p:cNvPr id="157" name="TextBox 157"/>
            <p:cNvSpPr txBox="1"/>
            <p:nvPr/>
          </p:nvSpPr>
          <p:spPr>
            <a:xfrm>
              <a:off x="2280666" y="3229928"/>
              <a:ext cx="123840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关键成效</a:t>
              </a:r>
              <a:r>
                <a:rPr lang="zh-CN" sz="820" dirty="0">
                  <a:solidFill>
                    <a:srgbClr val="FFFFFF"/>
                  </a:solidFill>
                  <a:latin typeface="+mn-lt"/>
                  <a:ea typeface="+mn-ea"/>
                  <a:cs typeface="+mn-cs"/>
                </a:rPr>
                <a:t>（示例测算）</a:t>
              </a:r>
            </a:p>
          </p:txBody>
        </p:sp>
        <p:sp>
          <p:nvSpPr>
            <p:cNvPr id="158" name="Rectangle 158"/>
            <p:cNvSpPr/>
            <p:nvPr/>
          </p:nvSpPr>
          <p:spPr>
            <a:xfrm>
              <a:off x="2152650" y="3467100"/>
              <a:ext cx="5524500" cy="1676400"/>
            </a:xfrm>
            <a:prstGeom prst="roundRect">
              <a:avLst>
                <a:gd name="adj" fmla="val 3409"/>
              </a:avLst>
            </a:prstGeom>
            <a:solidFill>
              <a:srgbClr val="F6F9FD"/>
            </a:solidFill>
            <a:ln w="9525">
              <a:solidFill>
                <a:srgbClr val="CFDFEE"/>
              </a:solidFill>
            </a:ln>
          </p:spPr>
        </p:sp>
        <p:grpSp>
          <p:nvGrpSpPr>
            <p:cNvPr id="170" name="kc-1"/>
            <p:cNvGrpSpPr/>
            <p:nvPr/>
          </p:nvGrpSpPr>
          <p:grpSpPr>
            <a:xfrm>
              <a:off x="2324100" y="3848100"/>
              <a:ext cx="2343150" cy="749380"/>
              <a:chOff x="2324100" y="3848100"/>
              <a:chExt cx="2343150" cy="749380"/>
            </a:xfrm>
          </p:grpSpPr>
          <p:sp>
            <p:nvSpPr>
              <p:cNvPr id="159" name="Ellipse 159"/>
              <p:cNvSpPr/>
              <p:nvPr/>
            </p:nvSpPr>
            <p:spPr>
              <a:xfrm>
                <a:off x="2324100" y="3943350"/>
                <a:ext cx="495300" cy="495300"/>
              </a:xfrm>
              <a:prstGeom prst="ellipse">
                <a:avLst/>
              </a:prstGeom>
              <a:solidFill>
                <a:srgbClr val="FFFFFF"/>
              </a:solidFill>
              <a:ln w="14288">
                <a:solidFill>
                  <a:srgbClr val="92301C"/>
                </a:solidFill>
              </a:ln>
            </p:spPr>
          </p:sp>
          <p:grpSp>
            <p:nvGrpSpPr>
              <p:cNvPr id="162" name="Group 162"/>
              <p:cNvGrpSpPr/>
              <p:nvPr/>
            </p:nvGrpSpPr>
            <p:grpSpPr>
              <a:xfrm>
                <a:off x="2464594" y="4083844"/>
                <a:ext cx="214312" cy="214312"/>
                <a:chOff x="2464594" y="4083844"/>
                <a:chExt cx="214312" cy="214312"/>
              </a:xfrm>
            </p:grpSpPr>
            <p:sp>
              <p:nvSpPr>
                <p:cNvPr id="160" name="Freeform 160"/>
                <p:cNvSpPr/>
                <p:nvPr/>
              </p:nvSpPr>
              <p:spPr>
                <a:xfrm>
                  <a:off x="2464594" y="4083844"/>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rgbClr val="92301C"/>
                  </a:solidFill>
                </a:ln>
              </p:spPr>
            </p:sp>
            <p:sp>
              <p:nvSpPr>
                <p:cNvPr id="161" name="Freeform 161"/>
                <p:cNvSpPr/>
                <p:nvPr/>
              </p:nvSpPr>
              <p:spPr>
                <a:xfrm>
                  <a:off x="2571750" y="4131469"/>
                  <a:ext cx="35719" cy="95250"/>
                </a:xfrm>
                <a:custGeom>
                  <a:avLst/>
                  <a:gdLst/>
                  <a:ahLst/>
                  <a:cxnLst/>
                  <a:rect l="l" t="t" r="r" b="b"/>
                  <a:pathLst>
                    <a:path w="35719" h="95250">
                      <a:moveTo>
                        <a:pt x="0" y="0"/>
                      </a:moveTo>
                      <a:lnTo>
                        <a:pt x="0" y="59531"/>
                      </a:lnTo>
                      <a:lnTo>
                        <a:pt x="35719" y="95250"/>
                      </a:lnTo>
                    </a:path>
                  </a:pathLst>
                </a:custGeom>
                <a:noFill/>
                <a:ln w="23812">
                  <a:solidFill>
                    <a:srgbClr val="92301C"/>
                  </a:solidFill>
                </a:ln>
              </p:spPr>
            </p:sp>
          </p:grpSp>
          <p:sp>
            <p:nvSpPr>
              <p:cNvPr id="163" name="TextBox 163"/>
              <p:cNvSpPr txBox="1"/>
              <p:nvPr/>
            </p:nvSpPr>
            <p:spPr>
              <a:xfrm>
                <a:off x="2967038" y="3865245"/>
                <a:ext cx="486158"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j-lt"/>
                    <a:ea typeface="+mj-ea"/>
                    <a:cs typeface="+mj-cs"/>
                  </a:rPr>
                  <a:t xml:space="preserve">MTTR　</a:t>
                </a:r>
              </a:p>
            </p:txBody>
          </p:sp>
          <p:sp>
            <p:nvSpPr>
              <p:cNvPr id="164" name="TextBox 164"/>
              <p:cNvSpPr txBox="1"/>
              <p:nvPr/>
            </p:nvSpPr>
            <p:spPr>
              <a:xfrm>
                <a:off x="2961132" y="4097655"/>
                <a:ext cx="964034" cy="410718"/>
              </a:xfrm>
              <a:prstGeom prst="rect">
                <a:avLst/>
              </a:prstGeom>
              <a:noFill/>
              <a:ln>
                <a:noFill/>
              </a:ln>
            </p:spPr>
            <p:txBody>
              <a:bodyPr wrap="none" lIns="0" tIns="0" rIns="0" bIns="0" anchor="t" anchorCtr="0">
                <a:spAutoFit/>
              </a:bodyPr>
              <a:lstStyle/>
              <a:p>
                <a:pPr algn="l"/>
                <a:r>
                  <a:rPr lang="zh-CN" sz="2100" b="1" dirty="0">
                    <a:solidFill>
                      <a:srgbClr val="6B1B0B"/>
                    </a:solidFill>
                    <a:latin typeface="+mj-lt"/>
                    <a:ea typeface="+mj-ea"/>
                    <a:cs typeface="+mj-cs"/>
                  </a:rPr>
                  <a:t xml:space="preserve">-35%　</a:t>
                </a:r>
              </a:p>
            </p:txBody>
          </p:sp>
          <p:sp>
            <p:nvSpPr>
              <p:cNvPr id="165" name="TextBox 165"/>
              <p:cNvSpPr txBox="1"/>
              <p:nvPr/>
            </p:nvSpPr>
            <p:spPr>
              <a:xfrm>
                <a:off x="2967038" y="4456986"/>
                <a:ext cx="39184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166" name="Rectangle 166"/>
              <p:cNvSpPr/>
              <p:nvPr/>
            </p:nvSpPr>
            <p:spPr>
              <a:xfrm>
                <a:off x="4057650" y="4019550"/>
                <a:ext cx="152400" cy="476250"/>
              </a:xfrm>
              <a:prstGeom prst="rect">
                <a:avLst/>
              </a:prstGeom>
              <a:solidFill>
                <a:srgbClr val="E3B3A9"/>
              </a:solidFill>
              <a:ln>
                <a:noFill/>
              </a:ln>
            </p:spPr>
          </p:sp>
          <p:sp>
            <p:nvSpPr>
              <p:cNvPr id="167" name="Rectangle 167"/>
              <p:cNvSpPr/>
              <p:nvPr/>
            </p:nvSpPr>
            <p:spPr>
              <a:xfrm>
                <a:off x="4286250" y="4171950"/>
                <a:ext cx="152400" cy="323850"/>
              </a:xfrm>
              <a:prstGeom prst="rect">
                <a:avLst/>
              </a:prstGeom>
              <a:solidFill>
                <a:srgbClr val="C87C6C"/>
              </a:solidFill>
              <a:ln>
                <a:noFill/>
              </a:ln>
            </p:spPr>
          </p:sp>
          <p:sp>
            <p:nvSpPr>
              <p:cNvPr id="168" name="Rectangle 168"/>
              <p:cNvSpPr/>
              <p:nvPr/>
            </p:nvSpPr>
            <p:spPr>
              <a:xfrm>
                <a:off x="4514850" y="4305300"/>
                <a:ext cx="152400" cy="190500"/>
              </a:xfrm>
              <a:prstGeom prst="rect">
                <a:avLst/>
              </a:prstGeom>
              <a:solidFill>
                <a:srgbClr val="92301C"/>
              </a:solidFill>
              <a:ln>
                <a:noFill/>
              </a:ln>
            </p:spPr>
          </p:sp>
          <p:sp>
            <p:nvSpPr>
              <p:cNvPr id="169" name="Line 169"/>
              <p:cNvSpPr/>
              <p:nvPr/>
            </p:nvSpPr>
            <p:spPr>
              <a:xfrm>
                <a:off x="4076700" y="3848100"/>
                <a:ext cx="533400" cy="342900"/>
              </a:xfrm>
              <a:prstGeom prst="line">
                <a:avLst/>
              </a:prstGeom>
              <a:noFill/>
              <a:ln w="14288">
                <a:solidFill>
                  <a:srgbClr val="C8452F"/>
                </a:solidFill>
                <a:tailEnd type="triangle" w="lg" len="lg"/>
              </a:ln>
            </p:spPr>
          </p:sp>
        </p:grpSp>
        <p:sp>
          <p:nvSpPr>
            <p:cNvPr id="171" name="Line 171"/>
            <p:cNvSpPr/>
            <p:nvPr/>
          </p:nvSpPr>
          <p:spPr>
            <a:xfrm>
              <a:off x="4914900" y="3657600"/>
              <a:ext cx="9525" cy="1295400"/>
            </a:xfrm>
            <a:custGeom>
              <a:avLst/>
              <a:gdLst/>
              <a:ahLst/>
              <a:cxnLst/>
              <a:rect l="l" t="t" r="r" b="b"/>
              <a:pathLst>
                <a:path w="9525" h="1295400">
                  <a:moveTo>
                    <a:pt x="0" y="0"/>
                  </a:moveTo>
                  <a:lnTo>
                    <a:pt x="0" y="1295400"/>
                  </a:lnTo>
                </a:path>
              </a:pathLst>
            </a:custGeom>
            <a:noFill/>
            <a:ln w="9525">
              <a:solidFill>
                <a:srgbClr val="CFDFEE"/>
              </a:solidFill>
            </a:ln>
          </p:spPr>
        </p:sp>
        <p:grpSp>
          <p:nvGrpSpPr>
            <p:cNvPr id="183" name="kc-2"/>
            <p:cNvGrpSpPr/>
            <p:nvPr/>
          </p:nvGrpSpPr>
          <p:grpSpPr>
            <a:xfrm>
              <a:off x="5086350" y="3790950"/>
              <a:ext cx="2343150" cy="806530"/>
              <a:chOff x="5086350" y="3790950"/>
              <a:chExt cx="2343150" cy="806530"/>
            </a:xfrm>
          </p:grpSpPr>
          <p:sp>
            <p:nvSpPr>
              <p:cNvPr id="172" name="Ellipse 172"/>
              <p:cNvSpPr/>
              <p:nvPr/>
            </p:nvSpPr>
            <p:spPr>
              <a:xfrm>
                <a:off x="5086350" y="3943350"/>
                <a:ext cx="495300" cy="495300"/>
              </a:xfrm>
              <a:prstGeom prst="ellipse">
                <a:avLst/>
              </a:prstGeom>
              <a:solidFill>
                <a:srgbClr val="FFFFFF"/>
              </a:solidFill>
              <a:ln w="14288">
                <a:solidFill>
                  <a:srgbClr val="92301C"/>
                </a:solidFill>
              </a:ln>
            </p:spPr>
          </p:sp>
          <p:grpSp>
            <p:nvGrpSpPr>
              <p:cNvPr id="175" name="Group 175"/>
              <p:cNvGrpSpPr/>
              <p:nvPr/>
            </p:nvGrpSpPr>
            <p:grpSpPr>
              <a:xfrm>
                <a:off x="5238750" y="4083844"/>
                <a:ext cx="190500" cy="214312"/>
                <a:chOff x="5238750" y="4083844"/>
                <a:chExt cx="190500" cy="214312"/>
              </a:xfrm>
            </p:grpSpPr>
            <p:sp>
              <p:nvSpPr>
                <p:cNvPr id="173" name="Freeform 173"/>
                <p:cNvSpPr/>
                <p:nvPr/>
              </p:nvSpPr>
              <p:spPr>
                <a:xfrm>
                  <a:off x="5238750" y="4083844"/>
                  <a:ext cx="190500" cy="166688"/>
                </a:xfrm>
                <a:custGeom>
                  <a:avLst/>
                  <a:gdLst/>
                  <a:ahLst/>
                  <a:cxnLst/>
                  <a:rect l="l" t="t" r="r" b="b"/>
                  <a:pathLst>
                    <a:path w="190500" h="166688">
                      <a:moveTo>
                        <a:pt x="71438" y="23812"/>
                      </a:moveTo>
                      <a:cubicBezTo>
                        <a:pt x="71438" y="10661"/>
                        <a:pt x="82099" y="0"/>
                        <a:pt x="95250" y="0"/>
                      </a:cubicBezTo>
                      <a:cubicBezTo>
                        <a:pt x="108401" y="0"/>
                        <a:pt x="119062" y="10661"/>
                        <a:pt x="119062" y="23812"/>
                      </a:cubicBezTo>
                      <a:cubicBezTo>
                        <a:pt x="146925" y="36987"/>
                        <a:pt x="165242" y="64463"/>
                        <a:pt x="166688" y="95250"/>
                      </a:cubicBezTo>
                      <a:lnTo>
                        <a:pt x="166688" y="130969"/>
                      </a:lnTo>
                      <a:cubicBezTo>
                        <a:pt x="168505" y="145980"/>
                        <a:pt x="177342" y="159237"/>
                        <a:pt x="190500" y="166688"/>
                      </a:cubicBezTo>
                      <a:lnTo>
                        <a:pt x="0" y="166688"/>
                      </a:lnTo>
                      <a:cubicBezTo>
                        <a:pt x="13158" y="159237"/>
                        <a:pt x="21995" y="145980"/>
                        <a:pt x="23812" y="130969"/>
                      </a:cubicBezTo>
                      <a:lnTo>
                        <a:pt x="23812" y="95250"/>
                      </a:lnTo>
                      <a:cubicBezTo>
                        <a:pt x="25258" y="64463"/>
                        <a:pt x="43575" y="36987"/>
                        <a:pt x="71438" y="23812"/>
                      </a:cubicBezTo>
                    </a:path>
                  </a:pathLst>
                </a:custGeom>
                <a:noFill/>
                <a:ln w="23812">
                  <a:solidFill>
                    <a:srgbClr val="92301C"/>
                  </a:solidFill>
                </a:ln>
              </p:spPr>
            </p:sp>
            <p:sp>
              <p:nvSpPr>
                <p:cNvPr id="174" name="Freeform 174"/>
                <p:cNvSpPr/>
                <p:nvPr/>
              </p:nvSpPr>
              <p:spPr>
                <a:xfrm>
                  <a:off x="5298281" y="4250531"/>
                  <a:ext cx="71438" cy="47625"/>
                </a:xfrm>
                <a:custGeom>
                  <a:avLst/>
                  <a:gdLst/>
                  <a:ahLst/>
                  <a:cxnLst/>
                  <a:rect l="l" t="t" r="r" b="b"/>
                  <a:pathLst>
                    <a:path w="71438" h="47625">
                      <a:moveTo>
                        <a:pt x="0" y="0"/>
                      </a:moveTo>
                      <a:lnTo>
                        <a:pt x="0" y="11906"/>
                      </a:lnTo>
                      <a:cubicBezTo>
                        <a:pt x="0" y="31633"/>
                        <a:pt x="15992" y="47625"/>
                        <a:pt x="35719" y="47625"/>
                      </a:cubicBezTo>
                      <a:cubicBezTo>
                        <a:pt x="55446" y="47625"/>
                        <a:pt x="71438" y="31633"/>
                        <a:pt x="71438" y="11906"/>
                      </a:cubicBezTo>
                      <a:lnTo>
                        <a:pt x="71438" y="0"/>
                      </a:lnTo>
                    </a:path>
                  </a:pathLst>
                </a:custGeom>
                <a:noFill/>
                <a:ln w="23812">
                  <a:solidFill>
                    <a:srgbClr val="92301C"/>
                  </a:solidFill>
                </a:ln>
              </p:spPr>
            </p:sp>
          </p:grpSp>
          <p:sp>
            <p:nvSpPr>
              <p:cNvPr id="176" name="TextBox 176"/>
              <p:cNvSpPr txBox="1"/>
              <p:nvPr/>
            </p:nvSpPr>
            <p:spPr>
              <a:xfrm>
                <a:off x="5729288" y="3865245"/>
                <a:ext cx="494157" cy="176212"/>
              </a:xfrm>
              <a:prstGeom prst="rect">
                <a:avLst/>
              </a:prstGeom>
              <a:noFill/>
              <a:ln>
                <a:noFill/>
              </a:ln>
            </p:spPr>
            <p:txBody>
              <a:bodyPr wrap="none" lIns="0" tIns="0" rIns="0" bIns="0" anchor="t" anchorCtr="0">
                <a:spAutoFit/>
              </a:bodyPr>
              <a:lstStyle/>
              <a:p>
                <a:pPr algn="l"/>
                <a:r>
                  <a:rPr lang="zh-CN" sz="900" b="1" dirty="0">
                    <a:solidFill>
                      <a:srgbClr val="52352F"/>
                    </a:solidFill>
                    <a:latin typeface="+mn-lt"/>
                    <a:ea typeface="+mn-ea"/>
                    <a:cs typeface="+mn-cs"/>
                  </a:rPr>
                  <a:t>重复告警</a:t>
                </a:r>
              </a:p>
            </p:txBody>
          </p:sp>
          <p:sp>
            <p:nvSpPr>
              <p:cNvPr id="177" name="TextBox 177"/>
              <p:cNvSpPr txBox="1"/>
              <p:nvPr/>
            </p:nvSpPr>
            <p:spPr>
              <a:xfrm>
                <a:off x="5723382" y="4097655"/>
                <a:ext cx="964034" cy="410718"/>
              </a:xfrm>
              <a:prstGeom prst="rect">
                <a:avLst/>
              </a:prstGeom>
              <a:noFill/>
              <a:ln>
                <a:noFill/>
              </a:ln>
            </p:spPr>
            <p:txBody>
              <a:bodyPr wrap="none" lIns="0" tIns="0" rIns="0" bIns="0" anchor="t" anchorCtr="0">
                <a:spAutoFit/>
              </a:bodyPr>
              <a:lstStyle/>
              <a:p>
                <a:pPr algn="l"/>
                <a:r>
                  <a:rPr lang="zh-CN" sz="2100" b="1" dirty="0">
                    <a:solidFill>
                      <a:srgbClr val="6B1B0B"/>
                    </a:solidFill>
                    <a:latin typeface="+mj-lt"/>
                    <a:ea typeface="+mj-ea"/>
                    <a:cs typeface="+mj-cs"/>
                  </a:rPr>
                  <a:t xml:space="preserve">-50%　</a:t>
                </a:r>
              </a:p>
            </p:txBody>
          </p:sp>
          <p:sp>
            <p:nvSpPr>
              <p:cNvPr id="178" name="TextBox 178"/>
              <p:cNvSpPr txBox="1"/>
              <p:nvPr/>
            </p:nvSpPr>
            <p:spPr>
              <a:xfrm>
                <a:off x="5729288" y="4456986"/>
                <a:ext cx="391846" cy="140494"/>
              </a:xfrm>
              <a:prstGeom prst="rect">
                <a:avLst/>
              </a:prstGeom>
              <a:noFill/>
              <a:ln>
                <a:noFill/>
              </a:ln>
            </p:spPr>
            <p:txBody>
              <a:bodyPr wrap="none" lIns="0" tIns="0" rIns="0" bIns="0" anchor="t" anchorCtr="0">
                <a:spAutoFit/>
              </a:bodyPr>
              <a:lstStyle/>
              <a:p>
                <a:pPr algn="l"/>
                <a:r>
                  <a:rPr lang="zh-CN" sz="710" dirty="0">
                    <a:solidFill>
                      <a:srgbClr val="8C716B"/>
                    </a:solidFill>
                    <a:latin typeface="+mn-lt"/>
                    <a:ea typeface="+mn-ea"/>
                    <a:cs typeface="+mn-cs"/>
                  </a:rPr>
                  <a:t>示例测算</a:t>
                </a:r>
              </a:p>
            </p:txBody>
          </p:sp>
          <p:sp>
            <p:nvSpPr>
              <p:cNvPr id="179" name="Rectangle 179"/>
              <p:cNvSpPr/>
              <p:nvPr/>
            </p:nvSpPr>
            <p:spPr>
              <a:xfrm>
                <a:off x="6819900" y="3962400"/>
                <a:ext cx="152400" cy="533400"/>
              </a:xfrm>
              <a:prstGeom prst="rect">
                <a:avLst/>
              </a:prstGeom>
              <a:solidFill>
                <a:srgbClr val="E3B3A9"/>
              </a:solidFill>
              <a:ln>
                <a:noFill/>
              </a:ln>
            </p:spPr>
          </p:sp>
          <p:sp>
            <p:nvSpPr>
              <p:cNvPr id="180" name="Rectangle 180"/>
              <p:cNvSpPr/>
              <p:nvPr/>
            </p:nvSpPr>
            <p:spPr>
              <a:xfrm>
                <a:off x="7048500" y="4152900"/>
                <a:ext cx="152400" cy="342900"/>
              </a:xfrm>
              <a:prstGeom prst="rect">
                <a:avLst/>
              </a:prstGeom>
              <a:solidFill>
                <a:srgbClr val="C87C6C"/>
              </a:solidFill>
              <a:ln>
                <a:noFill/>
              </a:ln>
            </p:spPr>
          </p:sp>
          <p:sp>
            <p:nvSpPr>
              <p:cNvPr id="181" name="Rectangle 181"/>
              <p:cNvSpPr/>
              <p:nvPr/>
            </p:nvSpPr>
            <p:spPr>
              <a:xfrm>
                <a:off x="7277100" y="4343400"/>
                <a:ext cx="152400" cy="152400"/>
              </a:xfrm>
              <a:prstGeom prst="rect">
                <a:avLst/>
              </a:prstGeom>
              <a:solidFill>
                <a:srgbClr val="92301C"/>
              </a:solidFill>
              <a:ln>
                <a:noFill/>
              </a:ln>
            </p:spPr>
          </p:sp>
          <p:sp>
            <p:nvSpPr>
              <p:cNvPr id="182" name="Line 182"/>
              <p:cNvSpPr/>
              <p:nvPr/>
            </p:nvSpPr>
            <p:spPr>
              <a:xfrm>
                <a:off x="6838950" y="3790950"/>
                <a:ext cx="533400" cy="419100"/>
              </a:xfrm>
              <a:prstGeom prst="line">
                <a:avLst/>
              </a:prstGeom>
              <a:noFill/>
              <a:ln w="14288">
                <a:solidFill>
                  <a:srgbClr val="C8452F"/>
                </a:solidFill>
                <a:tailEnd type="triangle" w="lg" len="lg"/>
              </a:ln>
            </p:spPr>
          </p:sp>
        </p:grpSp>
      </p:grpSp>
      <p:grpSp>
        <p:nvGrpSpPr>
          <p:cNvPr id="240" name="topology"/>
          <p:cNvGrpSpPr/>
          <p:nvPr/>
        </p:nvGrpSpPr>
        <p:grpSpPr>
          <a:xfrm>
            <a:off x="7772400" y="952500"/>
            <a:ext cx="4229100" cy="1847850"/>
            <a:chOff x="7772400" y="952500"/>
            <a:chExt cx="4229100" cy="1847850"/>
          </a:xfrm>
        </p:grpSpPr>
        <p:sp>
          <p:nvSpPr>
            <p:cNvPr id="185" name="Rectangle 185"/>
            <p:cNvSpPr/>
            <p:nvPr/>
          </p:nvSpPr>
          <p:spPr>
            <a:xfrm>
              <a:off x="7772400" y="952500"/>
              <a:ext cx="4229100" cy="1847850"/>
            </a:xfrm>
            <a:prstGeom prst="roundRect">
              <a:avLst>
                <a:gd name="adj" fmla="val 3093"/>
              </a:avLst>
            </a:prstGeom>
            <a:solidFill>
              <a:srgbClr val="FCFDFE"/>
            </a:solidFill>
            <a:ln w="9525">
              <a:solidFill>
                <a:srgbClr val="CFDFEE"/>
              </a:solidFill>
            </a:ln>
          </p:spPr>
        </p:sp>
        <p:grpSp>
          <p:nvGrpSpPr>
            <p:cNvPr id="193" name="tp-links"/>
            <p:cNvGrpSpPr/>
            <p:nvPr/>
          </p:nvGrpSpPr>
          <p:grpSpPr>
            <a:xfrm>
              <a:off x="8382000" y="1314450"/>
              <a:ext cx="3009900" cy="1123950"/>
              <a:chOff x="8382000" y="1314450"/>
              <a:chExt cx="3009900" cy="1123950"/>
            </a:xfrm>
          </p:grpSpPr>
          <p:sp>
            <p:nvSpPr>
              <p:cNvPr id="186" name="Line 186"/>
              <p:cNvSpPr/>
              <p:nvPr/>
            </p:nvSpPr>
            <p:spPr>
              <a:xfrm>
                <a:off x="8382000" y="1314450"/>
                <a:ext cx="1504950" cy="476250"/>
              </a:xfrm>
              <a:custGeom>
                <a:avLst/>
                <a:gdLst/>
                <a:ahLst/>
                <a:cxnLst/>
                <a:rect l="l" t="t" r="r" b="b"/>
                <a:pathLst>
                  <a:path w="1504950" h="476250">
                    <a:moveTo>
                      <a:pt x="1504950" y="0"/>
                    </a:moveTo>
                    <a:lnTo>
                      <a:pt x="0" y="476250"/>
                    </a:lnTo>
                  </a:path>
                </a:pathLst>
              </a:custGeom>
              <a:noFill/>
              <a:ln w="11430">
                <a:solidFill>
                  <a:srgbClr val="D2A89F"/>
                </a:solidFill>
                <a:custDash>
                  <a:ds d="333333" sp="250000"/>
                </a:custDash>
              </a:ln>
            </p:spPr>
          </p:sp>
          <p:sp>
            <p:nvSpPr>
              <p:cNvPr id="187" name="Line 187"/>
              <p:cNvSpPr/>
              <p:nvPr/>
            </p:nvSpPr>
            <p:spPr>
              <a:xfrm>
                <a:off x="9886950" y="1314450"/>
                <a:ext cx="1504950" cy="476250"/>
              </a:xfrm>
              <a:custGeom>
                <a:avLst/>
                <a:gdLst/>
                <a:ahLst/>
                <a:cxnLst/>
                <a:rect l="l" t="t" r="r" b="b"/>
                <a:pathLst>
                  <a:path w="1504950" h="476250">
                    <a:moveTo>
                      <a:pt x="0" y="0"/>
                    </a:moveTo>
                    <a:lnTo>
                      <a:pt x="1504950" y="476250"/>
                    </a:lnTo>
                  </a:path>
                </a:pathLst>
              </a:custGeom>
              <a:noFill/>
              <a:ln w="11430">
                <a:solidFill>
                  <a:srgbClr val="D2A89F"/>
                </a:solidFill>
                <a:custDash>
                  <a:ds d="333333" sp="250000"/>
                </a:custDash>
              </a:ln>
            </p:spPr>
          </p:sp>
          <p:sp>
            <p:nvSpPr>
              <p:cNvPr id="188" name="Line 188"/>
              <p:cNvSpPr/>
              <p:nvPr/>
            </p:nvSpPr>
            <p:spPr>
              <a:xfrm>
                <a:off x="9886950" y="1314450"/>
                <a:ext cx="9525" cy="552450"/>
              </a:xfrm>
              <a:custGeom>
                <a:avLst/>
                <a:gdLst/>
                <a:ahLst/>
                <a:cxnLst/>
                <a:rect l="l" t="t" r="r" b="b"/>
                <a:pathLst>
                  <a:path w="9525" h="552450">
                    <a:moveTo>
                      <a:pt x="0" y="0"/>
                    </a:moveTo>
                    <a:lnTo>
                      <a:pt x="0" y="552450"/>
                    </a:lnTo>
                  </a:path>
                </a:pathLst>
              </a:custGeom>
              <a:noFill/>
              <a:ln w="11430">
                <a:solidFill>
                  <a:srgbClr val="D2A89F"/>
                </a:solidFill>
                <a:custDash>
                  <a:ds d="333333" sp="250000"/>
                </a:custDash>
              </a:ln>
            </p:spPr>
          </p:sp>
          <p:sp>
            <p:nvSpPr>
              <p:cNvPr id="189" name="Line 189"/>
              <p:cNvSpPr/>
              <p:nvPr/>
            </p:nvSpPr>
            <p:spPr>
              <a:xfrm>
                <a:off x="8382000" y="1809750"/>
                <a:ext cx="1504950" cy="190500"/>
              </a:xfrm>
              <a:custGeom>
                <a:avLst/>
                <a:gdLst/>
                <a:ahLst/>
                <a:cxnLst/>
                <a:rect l="l" t="t" r="r" b="b"/>
                <a:pathLst>
                  <a:path w="1504950" h="190500">
                    <a:moveTo>
                      <a:pt x="1504950" y="190500"/>
                    </a:moveTo>
                    <a:lnTo>
                      <a:pt x="0" y="0"/>
                    </a:lnTo>
                  </a:path>
                </a:pathLst>
              </a:custGeom>
              <a:noFill/>
              <a:ln w="11430">
                <a:solidFill>
                  <a:srgbClr val="D2A89F"/>
                </a:solidFill>
                <a:custDash>
                  <a:ds d="333333" sp="250000"/>
                </a:custDash>
              </a:ln>
            </p:spPr>
          </p:sp>
          <p:sp>
            <p:nvSpPr>
              <p:cNvPr id="190" name="Line 190"/>
              <p:cNvSpPr/>
              <p:nvPr/>
            </p:nvSpPr>
            <p:spPr>
              <a:xfrm>
                <a:off x="9886950" y="1809750"/>
                <a:ext cx="1504950" cy="190500"/>
              </a:xfrm>
              <a:custGeom>
                <a:avLst/>
                <a:gdLst/>
                <a:ahLst/>
                <a:cxnLst/>
                <a:rect l="l" t="t" r="r" b="b"/>
                <a:pathLst>
                  <a:path w="1504950" h="190500">
                    <a:moveTo>
                      <a:pt x="0" y="190500"/>
                    </a:moveTo>
                    <a:lnTo>
                      <a:pt x="1504950" y="0"/>
                    </a:lnTo>
                  </a:path>
                </a:pathLst>
              </a:custGeom>
              <a:noFill/>
              <a:ln w="11430">
                <a:solidFill>
                  <a:srgbClr val="D2A89F"/>
                </a:solidFill>
                <a:custDash>
                  <a:ds d="333333" sp="250000"/>
                </a:custDash>
              </a:ln>
            </p:spPr>
          </p:sp>
          <p:sp>
            <p:nvSpPr>
              <p:cNvPr id="191" name="Line 191"/>
              <p:cNvSpPr/>
              <p:nvPr/>
            </p:nvSpPr>
            <p:spPr>
              <a:xfrm>
                <a:off x="8667750" y="2000250"/>
                <a:ext cx="1219200" cy="438150"/>
              </a:xfrm>
              <a:custGeom>
                <a:avLst/>
                <a:gdLst/>
                <a:ahLst/>
                <a:cxnLst/>
                <a:rect l="l" t="t" r="r" b="b"/>
                <a:pathLst>
                  <a:path w="1219200" h="438150">
                    <a:moveTo>
                      <a:pt x="1219200" y="0"/>
                    </a:moveTo>
                    <a:lnTo>
                      <a:pt x="0" y="438150"/>
                    </a:lnTo>
                  </a:path>
                </a:pathLst>
              </a:custGeom>
              <a:noFill/>
              <a:ln w="11430">
                <a:solidFill>
                  <a:srgbClr val="D2A89F"/>
                </a:solidFill>
                <a:custDash>
                  <a:ds d="333333" sp="250000"/>
                </a:custDash>
              </a:ln>
            </p:spPr>
          </p:sp>
          <p:sp>
            <p:nvSpPr>
              <p:cNvPr id="192" name="Line 192"/>
              <p:cNvSpPr/>
              <p:nvPr/>
            </p:nvSpPr>
            <p:spPr>
              <a:xfrm>
                <a:off x="9886950" y="2000250"/>
                <a:ext cx="1219200" cy="438150"/>
              </a:xfrm>
              <a:custGeom>
                <a:avLst/>
                <a:gdLst/>
                <a:ahLst/>
                <a:cxnLst/>
                <a:rect l="l" t="t" r="r" b="b"/>
                <a:pathLst>
                  <a:path w="1219200" h="438150">
                    <a:moveTo>
                      <a:pt x="0" y="0"/>
                    </a:moveTo>
                    <a:lnTo>
                      <a:pt x="1219200" y="438150"/>
                    </a:lnTo>
                  </a:path>
                </a:pathLst>
              </a:custGeom>
              <a:noFill/>
              <a:ln w="11430">
                <a:solidFill>
                  <a:srgbClr val="D2A89F"/>
                </a:solidFill>
                <a:custDash>
                  <a:ds d="333333" sp="250000"/>
                </a:custDash>
              </a:ln>
            </p:spPr>
          </p:sp>
        </p:grpSp>
        <p:grpSp>
          <p:nvGrpSpPr>
            <p:cNvPr id="239" name="tp-nodes"/>
            <p:cNvGrpSpPr/>
            <p:nvPr/>
          </p:nvGrpSpPr>
          <p:grpSpPr>
            <a:xfrm>
              <a:off x="8194154" y="1019175"/>
              <a:ext cx="3385591" cy="1765459"/>
              <a:chOff x="8194154" y="1019175"/>
              <a:chExt cx="3385591" cy="1765459"/>
            </a:xfrm>
          </p:grpSpPr>
          <p:sp>
            <p:nvSpPr>
              <p:cNvPr id="194" name="Ellipse 194"/>
              <p:cNvSpPr/>
              <p:nvPr/>
            </p:nvSpPr>
            <p:spPr>
              <a:xfrm>
                <a:off x="9725025" y="1019175"/>
                <a:ext cx="323850" cy="323850"/>
              </a:xfrm>
              <a:prstGeom prst="ellipse">
                <a:avLst/>
              </a:prstGeom>
              <a:solidFill>
                <a:srgbClr val="6B1B0B"/>
              </a:solidFill>
              <a:ln>
                <a:noFill/>
              </a:ln>
            </p:spPr>
          </p:sp>
          <p:grpSp>
            <p:nvGrpSpPr>
              <p:cNvPr id="203" name="Group 203"/>
              <p:cNvGrpSpPr/>
              <p:nvPr/>
            </p:nvGrpSpPr>
            <p:grpSpPr>
              <a:xfrm>
                <a:off x="9815512" y="1109662"/>
                <a:ext cx="144463" cy="152400"/>
                <a:chOff x="9815512" y="1109662"/>
                <a:chExt cx="144463" cy="152400"/>
              </a:xfrm>
            </p:grpSpPr>
            <p:sp>
              <p:nvSpPr>
                <p:cNvPr id="195" name="Freeform 195"/>
                <p:cNvSpPr/>
                <p:nvPr/>
              </p:nvSpPr>
              <p:spPr>
                <a:xfrm>
                  <a:off x="9815512" y="1252537"/>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96" name="Freeform 196"/>
                <p:cNvSpPr/>
                <p:nvPr/>
              </p:nvSpPr>
              <p:spPr>
                <a:xfrm>
                  <a:off x="9815512" y="1165225"/>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97" name="Freeform 197"/>
                <p:cNvSpPr/>
                <p:nvPr/>
              </p:nvSpPr>
              <p:spPr>
                <a:xfrm>
                  <a:off x="9831387" y="1109662"/>
                  <a:ext cx="111125" cy="23812"/>
                </a:xfrm>
                <a:custGeom>
                  <a:avLst/>
                  <a:gdLst/>
                  <a:ahLst/>
                  <a:cxnLst/>
                  <a:rect l="l" t="t" r="r" b="b"/>
                  <a:pathLst>
                    <a:path w="111125" h="23812">
                      <a:moveTo>
                        <a:pt x="0" y="23812"/>
                      </a:moveTo>
                      <a:lnTo>
                        <a:pt x="55562" y="0"/>
                      </a:lnTo>
                      <a:lnTo>
                        <a:pt x="111125" y="23812"/>
                      </a:lnTo>
                    </a:path>
                  </a:pathLst>
                </a:custGeom>
                <a:noFill/>
                <a:ln w="15875">
                  <a:solidFill>
                    <a:srgbClr val="FFFFFF"/>
                  </a:solidFill>
                </a:ln>
              </p:spPr>
            </p:sp>
            <p:sp>
              <p:nvSpPr>
                <p:cNvPr id="198" name="Freeform 198"/>
                <p:cNvSpPr/>
                <p:nvPr/>
              </p:nvSpPr>
              <p:spPr>
                <a:xfrm>
                  <a:off x="9823450" y="116522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199" name="Freeform 199"/>
                <p:cNvSpPr/>
                <p:nvPr/>
              </p:nvSpPr>
              <p:spPr>
                <a:xfrm>
                  <a:off x="9950450" y="116522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200" name="Freeform 200"/>
                <p:cNvSpPr/>
                <p:nvPr/>
              </p:nvSpPr>
              <p:spPr>
                <a:xfrm>
                  <a:off x="9855200" y="119697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201" name="Freeform 201"/>
                <p:cNvSpPr/>
                <p:nvPr/>
              </p:nvSpPr>
              <p:spPr>
                <a:xfrm>
                  <a:off x="9886950" y="119697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202" name="Freeform 202"/>
                <p:cNvSpPr/>
                <p:nvPr/>
              </p:nvSpPr>
              <p:spPr>
                <a:xfrm>
                  <a:off x="9918700" y="1196975"/>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204" name="TextBox 204"/>
              <p:cNvSpPr txBox="1"/>
              <p:nvPr/>
            </p:nvSpPr>
            <p:spPr>
              <a:xfrm>
                <a:off x="10110788" y="1142286"/>
                <a:ext cx="583006" cy="140494"/>
              </a:xfrm>
              <a:prstGeom prst="rect">
                <a:avLst/>
              </a:prstGeom>
              <a:noFill/>
              <a:ln>
                <a:noFill/>
              </a:ln>
            </p:spPr>
            <p:txBody>
              <a:bodyPr wrap="none" lIns="0" tIns="0" rIns="0" bIns="0" anchor="t" anchorCtr="0">
                <a:spAutoFit/>
              </a:bodyPr>
              <a:lstStyle/>
              <a:p>
                <a:pPr algn="l"/>
                <a:r>
                  <a:rPr lang="zh-CN" sz="710" b="1" dirty="0">
                    <a:solidFill>
                      <a:srgbClr val="6B1B0B"/>
                    </a:solidFill>
                    <a:latin typeface="+mn-lt"/>
                    <a:ea typeface="+mn-ea"/>
                    <a:cs typeface="+mn-cs"/>
                  </a:rPr>
                  <a:t>核心交易系统</a:t>
                </a:r>
              </a:p>
            </p:txBody>
          </p:sp>
          <p:sp>
            <p:nvSpPr>
              <p:cNvPr id="205" name="Ellipse 205"/>
              <p:cNvSpPr/>
              <p:nvPr/>
            </p:nvSpPr>
            <p:spPr>
              <a:xfrm>
                <a:off x="8239125" y="1571625"/>
                <a:ext cx="285750" cy="285750"/>
              </a:xfrm>
              <a:prstGeom prst="ellipse">
                <a:avLst/>
              </a:prstGeom>
              <a:solidFill>
                <a:srgbClr val="92301C"/>
              </a:solidFill>
              <a:ln>
                <a:noFill/>
              </a:ln>
            </p:spPr>
          </p:sp>
          <p:grpSp>
            <p:nvGrpSpPr>
              <p:cNvPr id="210" name="Group 210"/>
              <p:cNvGrpSpPr/>
              <p:nvPr/>
            </p:nvGrpSpPr>
            <p:grpSpPr>
              <a:xfrm>
                <a:off x="8317706" y="1657350"/>
                <a:ext cx="128588" cy="114300"/>
                <a:chOff x="8317706" y="1657350"/>
                <a:chExt cx="128588" cy="114300"/>
              </a:xfrm>
            </p:grpSpPr>
            <p:sp>
              <p:nvSpPr>
                <p:cNvPr id="206" name="Freeform 206"/>
                <p:cNvSpPr/>
                <p:nvPr/>
              </p:nvSpPr>
              <p:spPr>
                <a:xfrm>
                  <a:off x="8317706" y="1657350"/>
                  <a:ext cx="128588" cy="57150"/>
                </a:xfrm>
                <a:custGeom>
                  <a:avLst/>
                  <a:gdLst/>
                  <a:ahLst/>
                  <a:cxnLst/>
                  <a:rect l="l" t="t" r="r" b="b"/>
                  <a:pathLst>
                    <a:path w="128588" h="57150">
                      <a:moveTo>
                        <a:pt x="0" y="21431"/>
                      </a:moveTo>
                      <a:cubicBezTo>
                        <a:pt x="0" y="9595"/>
                        <a:pt x="9595" y="0"/>
                        <a:pt x="21431" y="0"/>
                      </a:cubicBezTo>
                      <a:lnTo>
                        <a:pt x="107156" y="0"/>
                      </a:lnTo>
                      <a:cubicBezTo>
                        <a:pt x="118992" y="0"/>
                        <a:pt x="128588" y="9595"/>
                        <a:pt x="128588" y="21431"/>
                      </a:cubicBezTo>
                      <a:lnTo>
                        <a:pt x="128588" y="35719"/>
                      </a:lnTo>
                      <a:cubicBezTo>
                        <a:pt x="128588" y="47555"/>
                        <a:pt x="118992" y="57150"/>
                        <a:pt x="107156" y="57150"/>
                      </a:cubicBezTo>
                      <a:lnTo>
                        <a:pt x="21431" y="57150"/>
                      </a:lnTo>
                      <a:cubicBezTo>
                        <a:pt x="9595" y="57150"/>
                        <a:pt x="0" y="47555"/>
                        <a:pt x="0" y="35719"/>
                      </a:cubicBezTo>
                      <a:lnTo>
                        <a:pt x="0" y="21431"/>
                      </a:lnTo>
                    </a:path>
                  </a:pathLst>
                </a:custGeom>
                <a:noFill/>
                <a:ln w="14288">
                  <a:solidFill>
                    <a:srgbClr val="FFFFFF"/>
                  </a:solidFill>
                </a:ln>
              </p:spPr>
            </p:sp>
            <p:sp>
              <p:nvSpPr>
                <p:cNvPr id="207" name="Freeform 207"/>
                <p:cNvSpPr/>
                <p:nvPr/>
              </p:nvSpPr>
              <p:spPr>
                <a:xfrm>
                  <a:off x="8317706" y="1714500"/>
                  <a:ext cx="128588" cy="57150"/>
                </a:xfrm>
                <a:custGeom>
                  <a:avLst/>
                  <a:gdLst/>
                  <a:ahLst/>
                  <a:cxnLst/>
                  <a:rect l="l" t="t" r="r" b="b"/>
                  <a:pathLst>
                    <a:path w="128588" h="57150">
                      <a:moveTo>
                        <a:pt x="0" y="21431"/>
                      </a:moveTo>
                      <a:cubicBezTo>
                        <a:pt x="0" y="9595"/>
                        <a:pt x="9595" y="0"/>
                        <a:pt x="21431" y="0"/>
                      </a:cubicBezTo>
                      <a:lnTo>
                        <a:pt x="107156" y="0"/>
                      </a:lnTo>
                      <a:cubicBezTo>
                        <a:pt x="118992" y="0"/>
                        <a:pt x="128588" y="9595"/>
                        <a:pt x="128588" y="21431"/>
                      </a:cubicBezTo>
                      <a:lnTo>
                        <a:pt x="128588" y="35719"/>
                      </a:lnTo>
                      <a:cubicBezTo>
                        <a:pt x="128588" y="47555"/>
                        <a:pt x="118992" y="57150"/>
                        <a:pt x="107156" y="57150"/>
                      </a:cubicBezTo>
                      <a:lnTo>
                        <a:pt x="21431" y="57150"/>
                      </a:lnTo>
                      <a:cubicBezTo>
                        <a:pt x="9595" y="57150"/>
                        <a:pt x="0" y="47555"/>
                        <a:pt x="0" y="35719"/>
                      </a:cubicBezTo>
                      <a:lnTo>
                        <a:pt x="0" y="21431"/>
                      </a:lnTo>
                    </a:path>
                  </a:pathLst>
                </a:custGeom>
                <a:noFill/>
                <a:ln w="14288">
                  <a:solidFill>
                    <a:srgbClr val="FFFFFF"/>
                  </a:solidFill>
                </a:ln>
              </p:spPr>
            </p:sp>
            <p:sp>
              <p:nvSpPr>
                <p:cNvPr id="208" name="Freeform 208"/>
                <p:cNvSpPr/>
                <p:nvPr/>
              </p:nvSpPr>
              <p:spPr>
                <a:xfrm>
                  <a:off x="8346281" y="1685925"/>
                  <a:ext cx="9525" cy="9525"/>
                </a:xfrm>
                <a:custGeom>
                  <a:avLst/>
                  <a:gdLst/>
                  <a:ahLst/>
                  <a:cxnLst/>
                  <a:rect l="l" t="t" r="r" b="b"/>
                  <a:pathLst>
                    <a:path w="9525" h="9525">
                      <a:moveTo>
                        <a:pt x="0" y="0"/>
                      </a:moveTo>
                      <a:lnTo>
                        <a:pt x="0" y="71"/>
                      </a:lnTo>
                    </a:path>
                  </a:pathLst>
                </a:custGeom>
                <a:noFill/>
                <a:ln w="14288">
                  <a:solidFill>
                    <a:srgbClr val="FFFFFF"/>
                  </a:solidFill>
                </a:ln>
              </p:spPr>
            </p:sp>
            <p:sp>
              <p:nvSpPr>
                <p:cNvPr id="209" name="Freeform 209"/>
                <p:cNvSpPr/>
                <p:nvPr/>
              </p:nvSpPr>
              <p:spPr>
                <a:xfrm>
                  <a:off x="8346281" y="1743075"/>
                  <a:ext cx="9525" cy="9525"/>
                </a:xfrm>
                <a:custGeom>
                  <a:avLst/>
                  <a:gdLst/>
                  <a:ahLst/>
                  <a:cxnLst/>
                  <a:rect l="l" t="t" r="r" b="b"/>
                  <a:pathLst>
                    <a:path w="9525" h="9525">
                      <a:moveTo>
                        <a:pt x="0" y="0"/>
                      </a:moveTo>
                      <a:lnTo>
                        <a:pt x="0" y="71"/>
                      </a:lnTo>
                    </a:path>
                  </a:pathLst>
                </a:custGeom>
                <a:noFill/>
                <a:ln w="14288">
                  <a:solidFill>
                    <a:srgbClr val="FFFFFF"/>
                  </a:solidFill>
                </a:ln>
              </p:spPr>
            </p:sp>
          </p:grpSp>
          <p:sp>
            <p:nvSpPr>
              <p:cNvPr id="211" name="TextBox 211"/>
              <p:cNvSpPr txBox="1"/>
              <p:nvPr/>
            </p:nvSpPr>
            <p:spPr>
              <a:xfrm>
                <a:off x="8194154" y="1927384"/>
                <a:ext cx="375691"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n-lt"/>
                    <a:ea typeface="+mn-ea"/>
                    <a:cs typeface="+mn-cs"/>
                  </a:rPr>
                  <a:t>支付系统</a:t>
                </a:r>
              </a:p>
            </p:txBody>
          </p:sp>
          <p:sp>
            <p:nvSpPr>
              <p:cNvPr id="212" name="Ellipse 212"/>
              <p:cNvSpPr/>
              <p:nvPr/>
            </p:nvSpPr>
            <p:spPr>
              <a:xfrm>
                <a:off x="11249025" y="1571625"/>
                <a:ext cx="285750" cy="285750"/>
              </a:xfrm>
              <a:prstGeom prst="ellipse">
                <a:avLst/>
              </a:prstGeom>
              <a:solidFill>
                <a:srgbClr val="92301C"/>
              </a:solidFill>
              <a:ln>
                <a:noFill/>
              </a:ln>
            </p:spPr>
          </p:sp>
          <p:grpSp>
            <p:nvGrpSpPr>
              <p:cNvPr id="217" name="Group 217"/>
              <p:cNvGrpSpPr/>
              <p:nvPr/>
            </p:nvGrpSpPr>
            <p:grpSpPr>
              <a:xfrm>
                <a:off x="11327606" y="1657350"/>
                <a:ext cx="128588" cy="114300"/>
                <a:chOff x="11327606" y="1657350"/>
                <a:chExt cx="128588" cy="114300"/>
              </a:xfrm>
            </p:grpSpPr>
            <p:sp>
              <p:nvSpPr>
                <p:cNvPr id="213" name="Freeform 213"/>
                <p:cNvSpPr/>
                <p:nvPr/>
              </p:nvSpPr>
              <p:spPr>
                <a:xfrm>
                  <a:off x="11327606" y="1657350"/>
                  <a:ext cx="128588" cy="57150"/>
                </a:xfrm>
                <a:custGeom>
                  <a:avLst/>
                  <a:gdLst/>
                  <a:ahLst/>
                  <a:cxnLst/>
                  <a:rect l="l" t="t" r="r" b="b"/>
                  <a:pathLst>
                    <a:path w="128588" h="57150">
                      <a:moveTo>
                        <a:pt x="0" y="21431"/>
                      </a:moveTo>
                      <a:cubicBezTo>
                        <a:pt x="0" y="9595"/>
                        <a:pt x="9595" y="0"/>
                        <a:pt x="21431" y="0"/>
                      </a:cubicBezTo>
                      <a:lnTo>
                        <a:pt x="107156" y="0"/>
                      </a:lnTo>
                      <a:cubicBezTo>
                        <a:pt x="118992" y="0"/>
                        <a:pt x="128588" y="9595"/>
                        <a:pt x="128588" y="21431"/>
                      </a:cubicBezTo>
                      <a:lnTo>
                        <a:pt x="128588" y="35719"/>
                      </a:lnTo>
                      <a:cubicBezTo>
                        <a:pt x="128588" y="47555"/>
                        <a:pt x="118992" y="57150"/>
                        <a:pt x="107156" y="57150"/>
                      </a:cubicBezTo>
                      <a:lnTo>
                        <a:pt x="21431" y="57150"/>
                      </a:lnTo>
                      <a:cubicBezTo>
                        <a:pt x="9595" y="57150"/>
                        <a:pt x="0" y="47555"/>
                        <a:pt x="0" y="35719"/>
                      </a:cubicBezTo>
                      <a:lnTo>
                        <a:pt x="0" y="21431"/>
                      </a:lnTo>
                    </a:path>
                  </a:pathLst>
                </a:custGeom>
                <a:noFill/>
                <a:ln w="14288">
                  <a:solidFill>
                    <a:srgbClr val="FFFFFF"/>
                  </a:solidFill>
                </a:ln>
              </p:spPr>
            </p:sp>
            <p:sp>
              <p:nvSpPr>
                <p:cNvPr id="214" name="Freeform 214"/>
                <p:cNvSpPr/>
                <p:nvPr/>
              </p:nvSpPr>
              <p:spPr>
                <a:xfrm>
                  <a:off x="11327606" y="1714500"/>
                  <a:ext cx="128588" cy="57150"/>
                </a:xfrm>
                <a:custGeom>
                  <a:avLst/>
                  <a:gdLst/>
                  <a:ahLst/>
                  <a:cxnLst/>
                  <a:rect l="l" t="t" r="r" b="b"/>
                  <a:pathLst>
                    <a:path w="128588" h="57150">
                      <a:moveTo>
                        <a:pt x="0" y="21431"/>
                      </a:moveTo>
                      <a:cubicBezTo>
                        <a:pt x="0" y="9595"/>
                        <a:pt x="9595" y="0"/>
                        <a:pt x="21431" y="0"/>
                      </a:cubicBezTo>
                      <a:lnTo>
                        <a:pt x="107156" y="0"/>
                      </a:lnTo>
                      <a:cubicBezTo>
                        <a:pt x="118992" y="0"/>
                        <a:pt x="128588" y="9595"/>
                        <a:pt x="128588" y="21431"/>
                      </a:cubicBezTo>
                      <a:lnTo>
                        <a:pt x="128588" y="35719"/>
                      </a:lnTo>
                      <a:cubicBezTo>
                        <a:pt x="128588" y="47555"/>
                        <a:pt x="118992" y="57150"/>
                        <a:pt x="107156" y="57150"/>
                      </a:cubicBezTo>
                      <a:lnTo>
                        <a:pt x="21431" y="57150"/>
                      </a:lnTo>
                      <a:cubicBezTo>
                        <a:pt x="9595" y="57150"/>
                        <a:pt x="0" y="47555"/>
                        <a:pt x="0" y="35719"/>
                      </a:cubicBezTo>
                      <a:lnTo>
                        <a:pt x="0" y="21431"/>
                      </a:lnTo>
                    </a:path>
                  </a:pathLst>
                </a:custGeom>
                <a:noFill/>
                <a:ln w="14288">
                  <a:solidFill>
                    <a:srgbClr val="FFFFFF"/>
                  </a:solidFill>
                </a:ln>
              </p:spPr>
            </p:sp>
            <p:sp>
              <p:nvSpPr>
                <p:cNvPr id="215" name="Freeform 215"/>
                <p:cNvSpPr/>
                <p:nvPr/>
              </p:nvSpPr>
              <p:spPr>
                <a:xfrm>
                  <a:off x="11356181" y="1685925"/>
                  <a:ext cx="9525" cy="9525"/>
                </a:xfrm>
                <a:custGeom>
                  <a:avLst/>
                  <a:gdLst/>
                  <a:ahLst/>
                  <a:cxnLst/>
                  <a:rect l="l" t="t" r="r" b="b"/>
                  <a:pathLst>
                    <a:path w="9525" h="9525">
                      <a:moveTo>
                        <a:pt x="0" y="0"/>
                      </a:moveTo>
                      <a:lnTo>
                        <a:pt x="0" y="71"/>
                      </a:lnTo>
                    </a:path>
                  </a:pathLst>
                </a:custGeom>
                <a:noFill/>
                <a:ln w="14288">
                  <a:solidFill>
                    <a:srgbClr val="FFFFFF"/>
                  </a:solidFill>
                </a:ln>
              </p:spPr>
            </p:sp>
            <p:sp>
              <p:nvSpPr>
                <p:cNvPr id="216" name="Freeform 216"/>
                <p:cNvSpPr/>
                <p:nvPr/>
              </p:nvSpPr>
              <p:spPr>
                <a:xfrm>
                  <a:off x="11356181" y="1743075"/>
                  <a:ext cx="9525" cy="9525"/>
                </a:xfrm>
                <a:custGeom>
                  <a:avLst/>
                  <a:gdLst/>
                  <a:ahLst/>
                  <a:cxnLst/>
                  <a:rect l="l" t="t" r="r" b="b"/>
                  <a:pathLst>
                    <a:path w="9525" h="9525">
                      <a:moveTo>
                        <a:pt x="0" y="0"/>
                      </a:moveTo>
                      <a:lnTo>
                        <a:pt x="0" y="71"/>
                      </a:lnTo>
                    </a:path>
                  </a:pathLst>
                </a:custGeom>
                <a:noFill/>
                <a:ln w="14288">
                  <a:solidFill>
                    <a:srgbClr val="FFFFFF"/>
                  </a:solidFill>
                </a:ln>
              </p:spPr>
            </p:sp>
          </p:grpSp>
          <p:sp>
            <p:nvSpPr>
              <p:cNvPr id="218" name="TextBox 218"/>
              <p:cNvSpPr txBox="1"/>
              <p:nvPr/>
            </p:nvSpPr>
            <p:spPr>
              <a:xfrm>
                <a:off x="11204054" y="1927384"/>
                <a:ext cx="375691"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n-lt"/>
                    <a:ea typeface="+mn-ea"/>
                    <a:cs typeface="+mn-cs"/>
                  </a:rPr>
                  <a:t>清算系统</a:t>
                </a:r>
              </a:p>
            </p:txBody>
          </p:sp>
          <p:sp>
            <p:nvSpPr>
              <p:cNvPr id="219" name="Ellipse 219"/>
              <p:cNvSpPr/>
              <p:nvPr/>
            </p:nvSpPr>
            <p:spPr>
              <a:xfrm>
                <a:off x="9725025" y="1800225"/>
                <a:ext cx="323850" cy="323850"/>
              </a:xfrm>
              <a:prstGeom prst="ellipse">
                <a:avLst/>
              </a:prstGeom>
              <a:solidFill>
                <a:srgbClr val="92301C"/>
              </a:solidFill>
              <a:ln>
                <a:noFill/>
              </a:ln>
            </p:spPr>
          </p:sp>
          <p:grpSp>
            <p:nvGrpSpPr>
              <p:cNvPr id="223" name="Group 223"/>
              <p:cNvGrpSpPr/>
              <p:nvPr/>
            </p:nvGrpSpPr>
            <p:grpSpPr>
              <a:xfrm>
                <a:off x="9823450" y="1890712"/>
                <a:ext cx="127000" cy="142875"/>
                <a:chOff x="9823450" y="1890712"/>
                <a:chExt cx="127000" cy="142875"/>
              </a:xfrm>
            </p:grpSpPr>
            <p:sp>
              <p:nvSpPr>
                <p:cNvPr id="220" name="Freeform 220"/>
                <p:cNvSpPr/>
                <p:nvPr/>
              </p:nvSpPr>
              <p:spPr>
                <a:xfrm>
                  <a:off x="9823450" y="18907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FFFFFF"/>
                  </a:solidFill>
                </a:ln>
              </p:spPr>
            </p:sp>
            <p:sp>
              <p:nvSpPr>
                <p:cNvPr id="221" name="Freeform 221"/>
                <p:cNvSpPr/>
                <p:nvPr/>
              </p:nvSpPr>
              <p:spPr>
                <a:xfrm>
                  <a:off x="9823450" y="19145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sp>
              <p:nvSpPr>
                <p:cNvPr id="222" name="Freeform 222"/>
                <p:cNvSpPr/>
                <p:nvPr/>
              </p:nvSpPr>
              <p:spPr>
                <a:xfrm>
                  <a:off x="9823450" y="19621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grpSp>
          <p:sp>
            <p:nvSpPr>
              <p:cNvPr id="224" name="TextBox 224"/>
              <p:cNvSpPr txBox="1"/>
              <p:nvPr/>
            </p:nvSpPr>
            <p:spPr>
              <a:xfrm>
                <a:off x="9643237" y="2190036"/>
                <a:ext cx="487426"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数据库集群</a:t>
                </a:r>
              </a:p>
            </p:txBody>
          </p:sp>
          <p:sp>
            <p:nvSpPr>
              <p:cNvPr id="225" name="Ellipse 225"/>
              <p:cNvSpPr/>
              <p:nvPr/>
            </p:nvSpPr>
            <p:spPr>
              <a:xfrm>
                <a:off x="8524875" y="2314575"/>
                <a:ext cx="285750" cy="285750"/>
              </a:xfrm>
              <a:prstGeom prst="ellipse">
                <a:avLst/>
              </a:prstGeom>
              <a:solidFill>
                <a:srgbClr val="B7533F"/>
              </a:solidFill>
              <a:ln>
                <a:noFill/>
              </a:ln>
            </p:spPr>
          </p:sp>
          <p:grpSp>
            <p:nvGrpSpPr>
              <p:cNvPr id="231" name="Group 231"/>
              <p:cNvGrpSpPr/>
              <p:nvPr/>
            </p:nvGrpSpPr>
            <p:grpSpPr>
              <a:xfrm>
                <a:off x="8603456" y="2393156"/>
                <a:ext cx="128588" cy="128588"/>
                <a:chOff x="8603456" y="2393156"/>
                <a:chExt cx="128588" cy="128588"/>
              </a:xfrm>
            </p:grpSpPr>
            <p:sp>
              <p:nvSpPr>
                <p:cNvPr id="226" name="Freeform 226"/>
                <p:cNvSpPr/>
                <p:nvPr/>
              </p:nvSpPr>
              <p:spPr>
                <a:xfrm>
                  <a:off x="8603456" y="23931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sp>
              <p:nvSpPr>
                <p:cNvPr id="227" name="Freeform 227"/>
                <p:cNvSpPr/>
                <p:nvPr/>
              </p:nvSpPr>
              <p:spPr>
                <a:xfrm>
                  <a:off x="8607742" y="2436019"/>
                  <a:ext cx="120015" cy="9525"/>
                </a:xfrm>
                <a:custGeom>
                  <a:avLst/>
                  <a:gdLst/>
                  <a:ahLst/>
                  <a:cxnLst/>
                  <a:rect l="l" t="t" r="r" b="b"/>
                  <a:pathLst>
                    <a:path w="120015" h="9525">
                      <a:moveTo>
                        <a:pt x="0" y="0"/>
                      </a:moveTo>
                      <a:lnTo>
                        <a:pt x="120015" y="0"/>
                      </a:lnTo>
                    </a:path>
                  </a:pathLst>
                </a:custGeom>
                <a:noFill/>
                <a:ln w="14288">
                  <a:solidFill>
                    <a:srgbClr val="FFFFFF"/>
                  </a:solidFill>
                </a:ln>
              </p:spPr>
            </p:sp>
            <p:sp>
              <p:nvSpPr>
                <p:cNvPr id="228" name="Freeform 228"/>
                <p:cNvSpPr/>
                <p:nvPr/>
              </p:nvSpPr>
              <p:spPr>
                <a:xfrm>
                  <a:off x="8607742" y="2478881"/>
                  <a:ext cx="120015" cy="9525"/>
                </a:xfrm>
                <a:custGeom>
                  <a:avLst/>
                  <a:gdLst/>
                  <a:ahLst/>
                  <a:cxnLst/>
                  <a:rect l="l" t="t" r="r" b="b"/>
                  <a:pathLst>
                    <a:path w="120015" h="9525">
                      <a:moveTo>
                        <a:pt x="0" y="0"/>
                      </a:moveTo>
                      <a:lnTo>
                        <a:pt x="120015" y="0"/>
                      </a:lnTo>
                    </a:path>
                  </a:pathLst>
                </a:custGeom>
                <a:noFill/>
                <a:ln w="14288">
                  <a:solidFill>
                    <a:srgbClr val="FFFFFF"/>
                  </a:solidFill>
                </a:ln>
              </p:spPr>
            </p:sp>
            <p:sp>
              <p:nvSpPr>
                <p:cNvPr id="229" name="Freeform 229"/>
                <p:cNvSpPr/>
                <p:nvPr/>
              </p:nvSpPr>
              <p:spPr>
                <a:xfrm>
                  <a:off x="8639625" y="2393156"/>
                  <a:ext cx="24553" cy="128588"/>
                </a:xfrm>
                <a:custGeom>
                  <a:avLst/>
                  <a:gdLst/>
                  <a:ahLst/>
                  <a:cxnLst/>
                  <a:rect l="l" t="t" r="r" b="b"/>
                  <a:pathLst>
                    <a:path w="24553" h="128588">
                      <a:moveTo>
                        <a:pt x="24553" y="0"/>
                      </a:moveTo>
                      <a:cubicBezTo>
                        <a:pt x="0" y="39346"/>
                        <a:pt x="0" y="89241"/>
                        <a:pt x="24553" y="128588"/>
                      </a:cubicBezTo>
                    </a:path>
                  </a:pathLst>
                </a:custGeom>
                <a:noFill/>
                <a:ln w="14288">
                  <a:solidFill>
                    <a:srgbClr val="FFFFFF"/>
                  </a:solidFill>
                </a:ln>
              </p:spPr>
            </p:sp>
            <p:sp>
              <p:nvSpPr>
                <p:cNvPr id="230" name="Freeform 230"/>
                <p:cNvSpPr/>
                <p:nvPr/>
              </p:nvSpPr>
              <p:spPr>
                <a:xfrm>
                  <a:off x="8671322" y="2393156"/>
                  <a:ext cx="24553" cy="128588"/>
                </a:xfrm>
                <a:custGeom>
                  <a:avLst/>
                  <a:gdLst/>
                  <a:ahLst/>
                  <a:cxnLst/>
                  <a:rect l="l" t="t" r="r" b="b"/>
                  <a:pathLst>
                    <a:path w="24553" h="128588">
                      <a:moveTo>
                        <a:pt x="0" y="0"/>
                      </a:moveTo>
                      <a:cubicBezTo>
                        <a:pt x="24553" y="39346"/>
                        <a:pt x="24553" y="89241"/>
                        <a:pt x="0" y="128588"/>
                      </a:cubicBezTo>
                    </a:path>
                  </a:pathLst>
                </a:custGeom>
                <a:noFill/>
                <a:ln w="14288">
                  <a:solidFill>
                    <a:srgbClr val="FFFFFF"/>
                  </a:solidFill>
                </a:ln>
              </p:spPr>
            </p:sp>
          </p:grpSp>
          <p:sp>
            <p:nvSpPr>
              <p:cNvPr id="232" name="TextBox 232"/>
              <p:cNvSpPr txBox="1"/>
              <p:nvPr/>
            </p:nvSpPr>
            <p:spPr>
              <a:xfrm>
                <a:off x="8479904" y="2651284"/>
                <a:ext cx="375691"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n-lt"/>
                    <a:ea typeface="+mn-ea"/>
                    <a:cs typeface="+mn-cs"/>
                  </a:rPr>
                  <a:t>渠道系统</a:t>
                </a:r>
              </a:p>
            </p:txBody>
          </p:sp>
          <p:sp>
            <p:nvSpPr>
              <p:cNvPr id="233" name="Ellipse 233"/>
              <p:cNvSpPr/>
              <p:nvPr/>
            </p:nvSpPr>
            <p:spPr>
              <a:xfrm>
                <a:off x="10963275" y="2314575"/>
                <a:ext cx="285750" cy="285750"/>
              </a:xfrm>
              <a:prstGeom prst="ellipse">
                <a:avLst/>
              </a:prstGeom>
              <a:solidFill>
                <a:srgbClr val="B7533F"/>
              </a:solidFill>
              <a:ln>
                <a:noFill/>
              </a:ln>
            </p:spPr>
          </p:sp>
          <p:grpSp>
            <p:nvGrpSpPr>
              <p:cNvPr id="237" name="Group 237"/>
              <p:cNvGrpSpPr/>
              <p:nvPr/>
            </p:nvGrpSpPr>
            <p:grpSpPr>
              <a:xfrm>
                <a:off x="11041856" y="2400300"/>
                <a:ext cx="128588" cy="114300"/>
                <a:chOff x="11041856" y="2400300"/>
                <a:chExt cx="128588" cy="114300"/>
              </a:xfrm>
            </p:grpSpPr>
            <p:sp>
              <p:nvSpPr>
                <p:cNvPr id="234" name="Freeform 234"/>
                <p:cNvSpPr/>
                <p:nvPr/>
              </p:nvSpPr>
              <p:spPr>
                <a:xfrm>
                  <a:off x="11113294" y="2428875"/>
                  <a:ext cx="57150" cy="85725"/>
                </a:xfrm>
                <a:custGeom>
                  <a:avLst/>
                  <a:gdLst/>
                  <a:ahLst/>
                  <a:cxnLst/>
                  <a:rect l="l" t="t" r="r" b="b"/>
                  <a:pathLst>
                    <a:path w="57150" h="85725">
                      <a:moveTo>
                        <a:pt x="0" y="7144"/>
                      </a:moveTo>
                      <a:cubicBezTo>
                        <a:pt x="0" y="3198"/>
                        <a:pt x="3198" y="0"/>
                        <a:pt x="7144" y="0"/>
                      </a:cubicBezTo>
                      <a:lnTo>
                        <a:pt x="50006" y="0"/>
                      </a:lnTo>
                      <a:cubicBezTo>
                        <a:pt x="53952" y="0"/>
                        <a:pt x="57150" y="3198"/>
                        <a:pt x="57150" y="7144"/>
                      </a:cubicBezTo>
                      <a:lnTo>
                        <a:pt x="57150" y="78581"/>
                      </a:lnTo>
                      <a:cubicBezTo>
                        <a:pt x="57150" y="82527"/>
                        <a:pt x="53952" y="85725"/>
                        <a:pt x="50006" y="85725"/>
                      </a:cubicBezTo>
                      <a:lnTo>
                        <a:pt x="7144" y="85725"/>
                      </a:lnTo>
                      <a:cubicBezTo>
                        <a:pt x="3198" y="85725"/>
                        <a:pt x="0" y="82527"/>
                        <a:pt x="0" y="78581"/>
                      </a:cubicBezTo>
                      <a:lnTo>
                        <a:pt x="0" y="7144"/>
                      </a:lnTo>
                    </a:path>
                  </a:pathLst>
                </a:custGeom>
                <a:noFill/>
                <a:ln w="14288">
                  <a:solidFill>
                    <a:srgbClr val="FFFFFF"/>
                  </a:solidFill>
                </a:ln>
              </p:spPr>
            </p:sp>
            <p:sp>
              <p:nvSpPr>
                <p:cNvPr id="235" name="Freeform 235"/>
                <p:cNvSpPr/>
                <p:nvPr/>
              </p:nvSpPr>
              <p:spPr>
                <a:xfrm>
                  <a:off x="11041856" y="2400300"/>
                  <a:ext cx="107156" cy="100012"/>
                </a:xfrm>
                <a:custGeom>
                  <a:avLst/>
                  <a:gdLst/>
                  <a:ahLst/>
                  <a:cxnLst/>
                  <a:rect l="l" t="t" r="r" b="b"/>
                  <a:pathLst>
                    <a:path w="107156" h="100012">
                      <a:moveTo>
                        <a:pt x="107156" y="28575"/>
                      </a:moveTo>
                      <a:lnTo>
                        <a:pt x="107156" y="7144"/>
                      </a:lnTo>
                      <a:cubicBezTo>
                        <a:pt x="107156" y="3198"/>
                        <a:pt x="103958" y="0"/>
                        <a:pt x="100012" y="0"/>
                      </a:cubicBezTo>
                      <a:lnTo>
                        <a:pt x="7144" y="0"/>
                      </a:lnTo>
                      <a:cubicBezTo>
                        <a:pt x="3198" y="0"/>
                        <a:pt x="0" y="3198"/>
                        <a:pt x="0" y="7144"/>
                      </a:cubicBezTo>
                      <a:lnTo>
                        <a:pt x="0" y="92869"/>
                      </a:lnTo>
                      <a:cubicBezTo>
                        <a:pt x="0" y="96814"/>
                        <a:pt x="3198" y="100012"/>
                        <a:pt x="7144" y="100012"/>
                      </a:cubicBezTo>
                      <a:lnTo>
                        <a:pt x="71438" y="100012"/>
                      </a:lnTo>
                    </a:path>
                  </a:pathLst>
                </a:custGeom>
                <a:noFill/>
                <a:ln w="14288">
                  <a:solidFill>
                    <a:srgbClr val="FFFFFF"/>
                  </a:solidFill>
                </a:ln>
              </p:spPr>
            </p:sp>
            <p:sp>
              <p:nvSpPr>
                <p:cNvPr id="236" name="Freeform 236"/>
                <p:cNvSpPr/>
                <p:nvPr/>
              </p:nvSpPr>
              <p:spPr>
                <a:xfrm>
                  <a:off x="11134725" y="2436019"/>
                  <a:ext cx="14288" cy="9525"/>
                </a:xfrm>
                <a:custGeom>
                  <a:avLst/>
                  <a:gdLst/>
                  <a:ahLst/>
                  <a:cxnLst/>
                  <a:rect l="l" t="t" r="r" b="b"/>
                  <a:pathLst>
                    <a:path w="14288" h="9525">
                      <a:moveTo>
                        <a:pt x="0" y="0"/>
                      </a:moveTo>
                      <a:lnTo>
                        <a:pt x="14288" y="0"/>
                      </a:lnTo>
                    </a:path>
                  </a:pathLst>
                </a:custGeom>
                <a:noFill/>
                <a:ln w="14288">
                  <a:solidFill>
                    <a:srgbClr val="FFFFFF"/>
                  </a:solidFill>
                </a:ln>
              </p:spPr>
            </p:sp>
          </p:grpSp>
          <p:sp>
            <p:nvSpPr>
              <p:cNvPr id="238" name="TextBox 238"/>
              <p:cNvSpPr txBox="1"/>
              <p:nvPr/>
            </p:nvSpPr>
            <p:spPr>
              <a:xfrm>
                <a:off x="10918304" y="2651284"/>
                <a:ext cx="375691" cy="133350"/>
              </a:xfrm>
              <a:prstGeom prst="rect">
                <a:avLst/>
              </a:prstGeom>
              <a:noFill/>
              <a:ln>
                <a:noFill/>
              </a:ln>
            </p:spPr>
            <p:txBody>
              <a:bodyPr wrap="none" lIns="0" tIns="0" rIns="0" bIns="0" anchor="t" anchorCtr="0">
                <a:spAutoFit/>
              </a:bodyPr>
              <a:lstStyle/>
              <a:p>
                <a:pPr algn="ctr"/>
                <a:r>
                  <a:rPr lang="zh-CN" sz="680" b="1" dirty="0">
                    <a:solidFill>
                      <a:srgbClr val="6B1B0B"/>
                    </a:solidFill>
                    <a:latin typeface="+mn-lt"/>
                    <a:ea typeface="+mn-ea"/>
                    <a:cs typeface="+mn-cs"/>
                  </a:rPr>
                  <a:t>风控系统</a:t>
                </a:r>
              </a:p>
            </p:txBody>
          </p:sp>
        </p:grpSp>
      </p:grpSp>
      <p:grpSp>
        <p:nvGrpSpPr>
          <p:cNvPr id="307" name="severity-matrix"/>
          <p:cNvGrpSpPr/>
          <p:nvPr/>
        </p:nvGrpSpPr>
        <p:grpSpPr>
          <a:xfrm>
            <a:off x="7772400" y="2857500"/>
            <a:ext cx="4229100" cy="2286000"/>
            <a:chOff x="7772400" y="2857500"/>
            <a:chExt cx="4229100" cy="2286000"/>
          </a:xfrm>
        </p:grpSpPr>
        <p:sp>
          <p:nvSpPr>
            <p:cNvPr id="241" name="Rectangle 241"/>
            <p:cNvSpPr/>
            <p:nvPr/>
          </p:nvSpPr>
          <p:spPr>
            <a:xfrm>
              <a:off x="7772400" y="2857500"/>
              <a:ext cx="4229100" cy="2286000"/>
            </a:xfrm>
            <a:prstGeom prst="roundRect">
              <a:avLst>
                <a:gd name="adj" fmla="val 2500"/>
              </a:avLst>
            </a:prstGeom>
            <a:solidFill>
              <a:srgbClr val="FCFDFE"/>
            </a:solidFill>
            <a:ln w="9525">
              <a:solidFill>
                <a:srgbClr val="CFDFEE"/>
              </a:solidFill>
            </a:ln>
          </p:spPr>
        </p:sp>
        <p:sp>
          <p:nvSpPr>
            <p:cNvPr id="242" name="TextBox 242"/>
            <p:cNvSpPr txBox="1"/>
            <p:nvPr/>
          </p:nvSpPr>
          <p:spPr>
            <a:xfrm>
              <a:off x="7881938" y="2950845"/>
              <a:ext cx="1261491" cy="176212"/>
            </a:xfrm>
            <a:prstGeom prst="rect">
              <a:avLst/>
            </a:prstGeom>
            <a:noFill/>
            <a:ln>
              <a:noFill/>
            </a:ln>
          </p:spPr>
          <p:txBody>
            <a:bodyPr wrap="none" lIns="0" tIns="0" rIns="0" bIns="0" anchor="t" anchorCtr="0">
              <a:spAutoFit/>
            </a:bodyPr>
            <a:lstStyle/>
            <a:p>
              <a:pPr algn="l"/>
              <a:r>
                <a:rPr lang="zh-CN" sz="900" b="1" dirty="0">
                  <a:solidFill>
                    <a:srgbClr val="6B1B0B"/>
                  </a:solidFill>
                  <a:latin typeface="+mn-lt"/>
                  <a:ea typeface="+mn-ea"/>
                  <a:cs typeface="+mn-cs"/>
                </a:rPr>
                <a:t>告警严重度矩阵</a:t>
              </a:r>
              <a:r>
                <a:rPr lang="zh-CN" sz="750" dirty="0">
                  <a:solidFill>
                    <a:srgbClr val="6B1B0B"/>
                  </a:solidFill>
                  <a:latin typeface="+mn-lt"/>
                  <a:ea typeface="+mn-ea"/>
                  <a:cs typeface="+mn-cs"/>
                </a:rPr>
                <a:t>（示例）</a:t>
              </a:r>
            </a:p>
          </p:txBody>
        </p:sp>
        <p:grpSp>
          <p:nvGrpSpPr>
            <p:cNvPr id="259" name="sm-cells"/>
            <p:cNvGrpSpPr/>
            <p:nvPr/>
          </p:nvGrpSpPr>
          <p:grpSpPr>
            <a:xfrm>
              <a:off x="8572500" y="3162300"/>
              <a:ext cx="2133600" cy="1295400"/>
              <a:chOff x="8572500" y="3162300"/>
              <a:chExt cx="2133600" cy="1295400"/>
            </a:xfrm>
          </p:grpSpPr>
          <p:sp>
            <p:nvSpPr>
              <p:cNvPr id="243" name="Rectangle 243"/>
              <p:cNvSpPr/>
              <p:nvPr/>
            </p:nvSpPr>
            <p:spPr>
              <a:xfrm>
                <a:off x="8572500" y="3162300"/>
                <a:ext cx="533400" cy="323850"/>
              </a:xfrm>
              <a:prstGeom prst="rect">
                <a:avLst/>
              </a:prstGeom>
              <a:solidFill>
                <a:srgbClr val="C87C6C"/>
              </a:solidFill>
              <a:ln>
                <a:noFill/>
              </a:ln>
            </p:spPr>
          </p:sp>
          <p:sp>
            <p:nvSpPr>
              <p:cNvPr id="244" name="Rectangle 244"/>
              <p:cNvSpPr/>
              <p:nvPr/>
            </p:nvSpPr>
            <p:spPr>
              <a:xfrm>
                <a:off x="9105900" y="3162300"/>
                <a:ext cx="533400" cy="323850"/>
              </a:xfrm>
              <a:prstGeom prst="rect">
                <a:avLst/>
              </a:prstGeom>
              <a:solidFill>
                <a:srgbClr val="92301C"/>
              </a:solidFill>
              <a:ln>
                <a:noFill/>
              </a:ln>
            </p:spPr>
          </p:sp>
          <p:sp>
            <p:nvSpPr>
              <p:cNvPr id="245" name="Rectangle 245"/>
              <p:cNvSpPr/>
              <p:nvPr/>
            </p:nvSpPr>
            <p:spPr>
              <a:xfrm>
                <a:off x="9639300" y="3162300"/>
                <a:ext cx="533400" cy="323850"/>
              </a:xfrm>
              <a:prstGeom prst="rect">
                <a:avLst/>
              </a:prstGeom>
              <a:solidFill>
                <a:srgbClr val="92301C"/>
              </a:solidFill>
              <a:ln>
                <a:noFill/>
              </a:ln>
            </p:spPr>
          </p:sp>
          <p:sp>
            <p:nvSpPr>
              <p:cNvPr id="246" name="Rectangle 246"/>
              <p:cNvSpPr/>
              <p:nvPr/>
            </p:nvSpPr>
            <p:spPr>
              <a:xfrm>
                <a:off x="10172700" y="3162300"/>
                <a:ext cx="533400" cy="323850"/>
              </a:xfrm>
              <a:prstGeom prst="rect">
                <a:avLst/>
              </a:prstGeom>
              <a:solidFill>
                <a:srgbClr val="6B1B0B"/>
              </a:solidFill>
              <a:ln>
                <a:noFill/>
              </a:ln>
            </p:spPr>
          </p:sp>
          <p:sp>
            <p:nvSpPr>
              <p:cNvPr id="247" name="Rectangle 247"/>
              <p:cNvSpPr/>
              <p:nvPr/>
            </p:nvSpPr>
            <p:spPr>
              <a:xfrm>
                <a:off x="8572500" y="3486150"/>
                <a:ext cx="533400" cy="323850"/>
              </a:xfrm>
              <a:prstGeom prst="rect">
                <a:avLst/>
              </a:prstGeom>
              <a:solidFill>
                <a:srgbClr val="D6E6F3"/>
              </a:solidFill>
              <a:ln>
                <a:noFill/>
              </a:ln>
            </p:spPr>
          </p:sp>
          <p:sp>
            <p:nvSpPr>
              <p:cNvPr id="248" name="Rectangle 248"/>
              <p:cNvSpPr/>
              <p:nvPr/>
            </p:nvSpPr>
            <p:spPr>
              <a:xfrm>
                <a:off x="9105900" y="3486150"/>
                <a:ext cx="533400" cy="323850"/>
              </a:xfrm>
              <a:prstGeom prst="rect">
                <a:avLst/>
              </a:prstGeom>
              <a:solidFill>
                <a:srgbClr val="C87C6C"/>
              </a:solidFill>
              <a:ln>
                <a:noFill/>
              </a:ln>
            </p:spPr>
          </p:sp>
          <p:sp>
            <p:nvSpPr>
              <p:cNvPr id="249" name="Rectangle 249"/>
              <p:cNvSpPr/>
              <p:nvPr/>
            </p:nvSpPr>
            <p:spPr>
              <a:xfrm>
                <a:off x="9639300" y="3486150"/>
                <a:ext cx="533400" cy="323850"/>
              </a:xfrm>
              <a:prstGeom prst="rect">
                <a:avLst/>
              </a:prstGeom>
              <a:solidFill>
                <a:srgbClr val="92301C"/>
              </a:solidFill>
              <a:ln>
                <a:noFill/>
              </a:ln>
            </p:spPr>
          </p:sp>
          <p:sp>
            <p:nvSpPr>
              <p:cNvPr id="250" name="Rectangle 250"/>
              <p:cNvSpPr/>
              <p:nvPr/>
            </p:nvSpPr>
            <p:spPr>
              <a:xfrm>
                <a:off x="10172700" y="3486150"/>
                <a:ext cx="533400" cy="323850"/>
              </a:xfrm>
              <a:prstGeom prst="rect">
                <a:avLst/>
              </a:prstGeom>
              <a:solidFill>
                <a:srgbClr val="92301C"/>
              </a:solidFill>
              <a:ln>
                <a:noFill/>
              </a:ln>
            </p:spPr>
          </p:sp>
          <p:sp>
            <p:nvSpPr>
              <p:cNvPr id="251" name="Rectangle 251"/>
              <p:cNvSpPr/>
              <p:nvPr/>
            </p:nvSpPr>
            <p:spPr>
              <a:xfrm>
                <a:off x="8572500" y="3810000"/>
                <a:ext cx="533400" cy="323850"/>
              </a:xfrm>
              <a:prstGeom prst="rect">
                <a:avLst/>
              </a:prstGeom>
              <a:solidFill>
                <a:srgbClr val="D6E6F3"/>
              </a:solidFill>
              <a:ln>
                <a:noFill/>
              </a:ln>
            </p:spPr>
          </p:sp>
          <p:sp>
            <p:nvSpPr>
              <p:cNvPr id="252" name="Rectangle 252"/>
              <p:cNvSpPr/>
              <p:nvPr/>
            </p:nvSpPr>
            <p:spPr>
              <a:xfrm>
                <a:off x="9105900" y="3810000"/>
                <a:ext cx="533400" cy="323850"/>
              </a:xfrm>
              <a:prstGeom prst="rect">
                <a:avLst/>
              </a:prstGeom>
              <a:solidFill>
                <a:srgbClr val="C87C6C"/>
              </a:solidFill>
              <a:ln>
                <a:noFill/>
              </a:ln>
            </p:spPr>
          </p:sp>
          <p:sp>
            <p:nvSpPr>
              <p:cNvPr id="253" name="Rectangle 253"/>
              <p:cNvSpPr/>
              <p:nvPr/>
            </p:nvSpPr>
            <p:spPr>
              <a:xfrm>
                <a:off x="9639300" y="3810000"/>
                <a:ext cx="533400" cy="323850"/>
              </a:xfrm>
              <a:prstGeom prst="rect">
                <a:avLst/>
              </a:prstGeom>
              <a:solidFill>
                <a:srgbClr val="C87C6C"/>
              </a:solidFill>
              <a:ln>
                <a:noFill/>
              </a:ln>
            </p:spPr>
          </p:sp>
          <p:sp>
            <p:nvSpPr>
              <p:cNvPr id="254" name="Rectangle 254"/>
              <p:cNvSpPr/>
              <p:nvPr/>
            </p:nvSpPr>
            <p:spPr>
              <a:xfrm>
                <a:off x="10172700" y="3810000"/>
                <a:ext cx="533400" cy="323850"/>
              </a:xfrm>
              <a:prstGeom prst="rect">
                <a:avLst/>
              </a:prstGeom>
              <a:solidFill>
                <a:srgbClr val="92301C"/>
              </a:solidFill>
              <a:ln>
                <a:noFill/>
              </a:ln>
            </p:spPr>
          </p:sp>
          <p:sp>
            <p:nvSpPr>
              <p:cNvPr id="255" name="Rectangle 255"/>
              <p:cNvSpPr/>
              <p:nvPr/>
            </p:nvSpPr>
            <p:spPr>
              <a:xfrm>
                <a:off x="8572500" y="4133850"/>
                <a:ext cx="533400" cy="323850"/>
              </a:xfrm>
              <a:prstGeom prst="rect">
                <a:avLst/>
              </a:prstGeom>
              <a:solidFill>
                <a:srgbClr val="D6E6F3"/>
              </a:solidFill>
              <a:ln>
                <a:noFill/>
              </a:ln>
            </p:spPr>
          </p:sp>
          <p:sp>
            <p:nvSpPr>
              <p:cNvPr id="256" name="Rectangle 256"/>
              <p:cNvSpPr/>
              <p:nvPr/>
            </p:nvSpPr>
            <p:spPr>
              <a:xfrm>
                <a:off x="9105900" y="4133850"/>
                <a:ext cx="533400" cy="323850"/>
              </a:xfrm>
              <a:prstGeom prst="rect">
                <a:avLst/>
              </a:prstGeom>
              <a:solidFill>
                <a:srgbClr val="D6E6F3"/>
              </a:solidFill>
              <a:ln>
                <a:noFill/>
              </a:ln>
            </p:spPr>
          </p:sp>
          <p:sp>
            <p:nvSpPr>
              <p:cNvPr id="257" name="Rectangle 257"/>
              <p:cNvSpPr/>
              <p:nvPr/>
            </p:nvSpPr>
            <p:spPr>
              <a:xfrm>
                <a:off x="9639300" y="4133850"/>
                <a:ext cx="533400" cy="323850"/>
              </a:xfrm>
              <a:prstGeom prst="rect">
                <a:avLst/>
              </a:prstGeom>
              <a:solidFill>
                <a:srgbClr val="C87C6C"/>
              </a:solidFill>
              <a:ln>
                <a:noFill/>
              </a:ln>
            </p:spPr>
          </p:sp>
          <p:sp>
            <p:nvSpPr>
              <p:cNvPr id="258" name="Rectangle 258"/>
              <p:cNvSpPr/>
              <p:nvPr/>
            </p:nvSpPr>
            <p:spPr>
              <a:xfrm>
                <a:off x="10172700" y="4133850"/>
                <a:ext cx="533400" cy="323850"/>
              </a:xfrm>
              <a:prstGeom prst="rect">
                <a:avLst/>
              </a:prstGeom>
              <a:solidFill>
                <a:srgbClr val="C87C6C"/>
              </a:solidFill>
              <a:ln>
                <a:noFill/>
              </a:ln>
            </p:spPr>
          </p:sp>
        </p:grpSp>
        <p:grpSp>
          <p:nvGrpSpPr>
            <p:cNvPr id="266" name="sm-grid"/>
            <p:cNvGrpSpPr/>
            <p:nvPr/>
          </p:nvGrpSpPr>
          <p:grpSpPr>
            <a:xfrm>
              <a:off x="8572500" y="3162300"/>
              <a:ext cx="2133600" cy="1295400"/>
              <a:chOff x="8572500" y="3162300"/>
              <a:chExt cx="2133600" cy="1295400"/>
            </a:xfrm>
          </p:grpSpPr>
          <p:sp>
            <p:nvSpPr>
              <p:cNvPr id="260" name="Line 260"/>
              <p:cNvSpPr/>
              <p:nvPr/>
            </p:nvSpPr>
            <p:spPr>
              <a:xfrm>
                <a:off x="9105900" y="3162300"/>
                <a:ext cx="9525" cy="1295400"/>
              </a:xfrm>
              <a:custGeom>
                <a:avLst/>
                <a:gdLst/>
                <a:ahLst/>
                <a:cxnLst/>
                <a:rect l="l" t="t" r="r" b="b"/>
                <a:pathLst>
                  <a:path w="9525" h="1295400">
                    <a:moveTo>
                      <a:pt x="0" y="0"/>
                    </a:moveTo>
                    <a:lnTo>
                      <a:pt x="0" y="1295400"/>
                    </a:lnTo>
                  </a:path>
                </a:pathLst>
              </a:custGeom>
              <a:noFill/>
              <a:ln w="9525">
                <a:solidFill>
                  <a:srgbClr val="FFFFFF"/>
                </a:solidFill>
              </a:ln>
            </p:spPr>
          </p:sp>
          <p:sp>
            <p:nvSpPr>
              <p:cNvPr id="261" name="Line 261"/>
              <p:cNvSpPr/>
              <p:nvPr/>
            </p:nvSpPr>
            <p:spPr>
              <a:xfrm>
                <a:off x="9639300" y="3162300"/>
                <a:ext cx="9525" cy="1295400"/>
              </a:xfrm>
              <a:custGeom>
                <a:avLst/>
                <a:gdLst/>
                <a:ahLst/>
                <a:cxnLst/>
                <a:rect l="l" t="t" r="r" b="b"/>
                <a:pathLst>
                  <a:path w="9525" h="1295400">
                    <a:moveTo>
                      <a:pt x="0" y="0"/>
                    </a:moveTo>
                    <a:lnTo>
                      <a:pt x="0" y="1295400"/>
                    </a:lnTo>
                  </a:path>
                </a:pathLst>
              </a:custGeom>
              <a:noFill/>
              <a:ln w="9525">
                <a:solidFill>
                  <a:srgbClr val="FFFFFF"/>
                </a:solidFill>
              </a:ln>
            </p:spPr>
          </p:sp>
          <p:sp>
            <p:nvSpPr>
              <p:cNvPr id="262" name="Line 262"/>
              <p:cNvSpPr/>
              <p:nvPr/>
            </p:nvSpPr>
            <p:spPr>
              <a:xfrm>
                <a:off x="10172700" y="3162300"/>
                <a:ext cx="9525" cy="1295400"/>
              </a:xfrm>
              <a:custGeom>
                <a:avLst/>
                <a:gdLst/>
                <a:ahLst/>
                <a:cxnLst/>
                <a:rect l="l" t="t" r="r" b="b"/>
                <a:pathLst>
                  <a:path w="9525" h="1295400">
                    <a:moveTo>
                      <a:pt x="0" y="0"/>
                    </a:moveTo>
                    <a:lnTo>
                      <a:pt x="0" y="1295400"/>
                    </a:lnTo>
                  </a:path>
                </a:pathLst>
              </a:custGeom>
              <a:noFill/>
              <a:ln w="9525">
                <a:solidFill>
                  <a:srgbClr val="FFFFFF"/>
                </a:solidFill>
              </a:ln>
            </p:spPr>
          </p:sp>
          <p:sp>
            <p:nvSpPr>
              <p:cNvPr id="263" name="Line 263"/>
              <p:cNvSpPr/>
              <p:nvPr/>
            </p:nvSpPr>
            <p:spPr>
              <a:xfrm>
                <a:off x="8572500" y="3486150"/>
                <a:ext cx="2133600" cy="9525"/>
              </a:xfrm>
              <a:custGeom>
                <a:avLst/>
                <a:gdLst/>
                <a:ahLst/>
                <a:cxnLst/>
                <a:rect l="l" t="t" r="r" b="b"/>
                <a:pathLst>
                  <a:path w="2133600" h="9525">
                    <a:moveTo>
                      <a:pt x="0" y="0"/>
                    </a:moveTo>
                    <a:lnTo>
                      <a:pt x="2133600" y="0"/>
                    </a:lnTo>
                  </a:path>
                </a:pathLst>
              </a:custGeom>
              <a:noFill/>
              <a:ln w="9525">
                <a:solidFill>
                  <a:srgbClr val="FFFFFF"/>
                </a:solidFill>
              </a:ln>
            </p:spPr>
          </p:sp>
          <p:sp>
            <p:nvSpPr>
              <p:cNvPr id="264" name="Line 264"/>
              <p:cNvSpPr/>
              <p:nvPr/>
            </p:nvSpPr>
            <p:spPr>
              <a:xfrm>
                <a:off x="8572500" y="3810000"/>
                <a:ext cx="2133600" cy="9525"/>
              </a:xfrm>
              <a:custGeom>
                <a:avLst/>
                <a:gdLst/>
                <a:ahLst/>
                <a:cxnLst/>
                <a:rect l="l" t="t" r="r" b="b"/>
                <a:pathLst>
                  <a:path w="2133600" h="9525">
                    <a:moveTo>
                      <a:pt x="0" y="0"/>
                    </a:moveTo>
                    <a:lnTo>
                      <a:pt x="2133600" y="0"/>
                    </a:lnTo>
                  </a:path>
                </a:pathLst>
              </a:custGeom>
              <a:noFill/>
              <a:ln w="9525">
                <a:solidFill>
                  <a:srgbClr val="FFFFFF"/>
                </a:solidFill>
              </a:ln>
            </p:spPr>
          </p:sp>
          <p:sp>
            <p:nvSpPr>
              <p:cNvPr id="265" name="Line 265"/>
              <p:cNvSpPr/>
              <p:nvPr/>
            </p:nvSpPr>
            <p:spPr>
              <a:xfrm>
                <a:off x="8572500" y="4133850"/>
                <a:ext cx="2133600" cy="9525"/>
              </a:xfrm>
              <a:custGeom>
                <a:avLst/>
                <a:gdLst/>
                <a:ahLst/>
                <a:cxnLst/>
                <a:rect l="l" t="t" r="r" b="b"/>
                <a:pathLst>
                  <a:path w="2133600" h="9525">
                    <a:moveTo>
                      <a:pt x="0" y="0"/>
                    </a:moveTo>
                    <a:lnTo>
                      <a:pt x="2133600" y="0"/>
                    </a:lnTo>
                  </a:path>
                </a:pathLst>
              </a:custGeom>
              <a:noFill/>
              <a:ln w="9525">
                <a:solidFill>
                  <a:srgbClr val="FFFFFF"/>
                </a:solidFill>
              </a:ln>
            </p:spPr>
          </p:sp>
        </p:grpSp>
        <p:grpSp>
          <p:nvGrpSpPr>
            <p:cNvPr id="283" name="sm-text"/>
            <p:cNvGrpSpPr/>
            <p:nvPr/>
          </p:nvGrpSpPr>
          <p:grpSpPr>
            <a:xfrm>
              <a:off x="8783955" y="3281362"/>
              <a:ext cx="1761172" cy="1119188"/>
              <a:chOff x="8783955" y="3281362"/>
              <a:chExt cx="1761172" cy="1119188"/>
            </a:xfrm>
          </p:grpSpPr>
          <p:sp>
            <p:nvSpPr>
              <p:cNvPr id="267" name="TextBox 267"/>
              <p:cNvSpPr txBox="1"/>
              <p:nvPr/>
            </p:nvSpPr>
            <p:spPr>
              <a:xfrm>
                <a:off x="8783955" y="32813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68" name="TextBox 268"/>
              <p:cNvSpPr txBox="1"/>
              <p:nvPr/>
            </p:nvSpPr>
            <p:spPr>
              <a:xfrm>
                <a:off x="9317355" y="32813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269" name="TextBox 269"/>
              <p:cNvSpPr txBox="1"/>
              <p:nvPr/>
            </p:nvSpPr>
            <p:spPr>
              <a:xfrm>
                <a:off x="9850755" y="32813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270" name="TextBox 270"/>
              <p:cNvSpPr txBox="1"/>
              <p:nvPr/>
            </p:nvSpPr>
            <p:spPr>
              <a:xfrm>
                <a:off x="10333672" y="328136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严重</a:t>
                </a:r>
              </a:p>
            </p:txBody>
          </p:sp>
          <p:sp>
            <p:nvSpPr>
              <p:cNvPr id="271" name="TextBox 271"/>
              <p:cNvSpPr txBox="1"/>
              <p:nvPr/>
            </p:nvSpPr>
            <p:spPr>
              <a:xfrm>
                <a:off x="8783955" y="3605212"/>
                <a:ext cx="110490"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n-lt"/>
                    <a:ea typeface="+mn-ea"/>
                    <a:cs typeface="+mn-cs"/>
                  </a:rPr>
                  <a:t>低</a:t>
                </a:r>
              </a:p>
            </p:txBody>
          </p:sp>
          <p:sp>
            <p:nvSpPr>
              <p:cNvPr id="272" name="TextBox 272"/>
              <p:cNvSpPr txBox="1"/>
              <p:nvPr/>
            </p:nvSpPr>
            <p:spPr>
              <a:xfrm>
                <a:off x="9317355" y="36052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73" name="TextBox 273"/>
              <p:cNvSpPr txBox="1"/>
              <p:nvPr/>
            </p:nvSpPr>
            <p:spPr>
              <a:xfrm>
                <a:off x="9850755" y="36052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274" name="TextBox 274"/>
              <p:cNvSpPr txBox="1"/>
              <p:nvPr/>
            </p:nvSpPr>
            <p:spPr>
              <a:xfrm>
                <a:off x="10384155" y="36052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275" name="TextBox 275"/>
              <p:cNvSpPr txBox="1"/>
              <p:nvPr/>
            </p:nvSpPr>
            <p:spPr>
              <a:xfrm>
                <a:off x="8783955" y="3929062"/>
                <a:ext cx="110490"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n-lt"/>
                    <a:ea typeface="+mn-ea"/>
                    <a:cs typeface="+mn-cs"/>
                  </a:rPr>
                  <a:t>低</a:t>
                </a:r>
              </a:p>
            </p:txBody>
          </p:sp>
          <p:sp>
            <p:nvSpPr>
              <p:cNvPr id="276" name="TextBox 276"/>
              <p:cNvSpPr txBox="1"/>
              <p:nvPr/>
            </p:nvSpPr>
            <p:spPr>
              <a:xfrm>
                <a:off x="9317355" y="39290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77" name="TextBox 277"/>
              <p:cNvSpPr txBox="1"/>
              <p:nvPr/>
            </p:nvSpPr>
            <p:spPr>
              <a:xfrm>
                <a:off x="9850755" y="39290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78" name="TextBox 278"/>
              <p:cNvSpPr txBox="1"/>
              <p:nvPr/>
            </p:nvSpPr>
            <p:spPr>
              <a:xfrm>
                <a:off x="10384155" y="392906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a:t>
                </a:r>
              </a:p>
            </p:txBody>
          </p:sp>
          <p:sp>
            <p:nvSpPr>
              <p:cNvPr id="279" name="TextBox 279"/>
              <p:cNvSpPr txBox="1"/>
              <p:nvPr/>
            </p:nvSpPr>
            <p:spPr>
              <a:xfrm>
                <a:off x="8783955" y="4252912"/>
                <a:ext cx="110490"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n-lt"/>
                    <a:ea typeface="+mn-ea"/>
                    <a:cs typeface="+mn-cs"/>
                  </a:rPr>
                  <a:t>低</a:t>
                </a:r>
              </a:p>
            </p:txBody>
          </p:sp>
          <p:sp>
            <p:nvSpPr>
              <p:cNvPr id="280" name="TextBox 280"/>
              <p:cNvSpPr txBox="1"/>
              <p:nvPr/>
            </p:nvSpPr>
            <p:spPr>
              <a:xfrm>
                <a:off x="9317355" y="4252912"/>
                <a:ext cx="110490" cy="147638"/>
              </a:xfrm>
              <a:prstGeom prst="rect">
                <a:avLst/>
              </a:prstGeom>
              <a:noFill/>
              <a:ln>
                <a:noFill/>
              </a:ln>
            </p:spPr>
            <p:txBody>
              <a:bodyPr wrap="none" lIns="0" tIns="0" rIns="0" bIns="0" anchor="t" anchorCtr="0">
                <a:spAutoFit/>
              </a:bodyPr>
              <a:lstStyle/>
              <a:p>
                <a:pPr algn="ctr"/>
                <a:r>
                  <a:rPr lang="zh-CN" sz="750" b="1" dirty="0">
                    <a:solidFill>
                      <a:srgbClr val="6B1B0B"/>
                    </a:solidFill>
                    <a:latin typeface="+mn-lt"/>
                    <a:ea typeface="+mn-ea"/>
                    <a:cs typeface="+mn-cs"/>
                  </a:rPr>
                  <a:t>低</a:t>
                </a:r>
              </a:p>
            </p:txBody>
          </p:sp>
          <p:sp>
            <p:nvSpPr>
              <p:cNvPr id="281" name="TextBox 281"/>
              <p:cNvSpPr txBox="1"/>
              <p:nvPr/>
            </p:nvSpPr>
            <p:spPr>
              <a:xfrm>
                <a:off x="9850755" y="42529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sp>
            <p:nvSpPr>
              <p:cNvPr id="282" name="TextBox 282"/>
              <p:cNvSpPr txBox="1"/>
              <p:nvPr/>
            </p:nvSpPr>
            <p:spPr>
              <a:xfrm>
                <a:off x="10384155" y="4252912"/>
                <a:ext cx="11049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a:t>
                </a:r>
              </a:p>
            </p:txBody>
          </p:sp>
        </p:grpSp>
        <p:grpSp>
          <p:nvGrpSpPr>
            <p:cNvPr id="288" name="sm-rowlabels"/>
            <p:cNvGrpSpPr/>
            <p:nvPr/>
          </p:nvGrpSpPr>
          <p:grpSpPr>
            <a:xfrm>
              <a:off x="8327504" y="3289459"/>
              <a:ext cx="192608" cy="1104900"/>
              <a:chOff x="8327504" y="3289459"/>
              <a:chExt cx="192608" cy="1104900"/>
            </a:xfrm>
          </p:grpSpPr>
          <p:sp>
            <p:nvSpPr>
              <p:cNvPr id="284" name="TextBox 284"/>
              <p:cNvSpPr txBox="1"/>
              <p:nvPr/>
            </p:nvSpPr>
            <p:spPr>
              <a:xfrm>
                <a:off x="8327504" y="3289459"/>
                <a:ext cx="192608" cy="133350"/>
              </a:xfrm>
              <a:prstGeom prst="rect">
                <a:avLst/>
              </a:prstGeom>
              <a:noFill/>
              <a:ln>
                <a:noFill/>
              </a:ln>
            </p:spPr>
            <p:txBody>
              <a:bodyPr wrap="none" lIns="0" tIns="0" rIns="0" bIns="0" anchor="t" anchorCtr="0">
                <a:spAutoFit/>
              </a:bodyPr>
              <a:lstStyle/>
              <a:p>
                <a:pPr algn="r"/>
                <a:r>
                  <a:rPr lang="zh-CN" sz="680" dirty="0">
                    <a:solidFill>
                      <a:srgbClr val="52352F"/>
                    </a:solidFill>
                    <a:latin typeface="+mn-lt"/>
                    <a:ea typeface="+mn-ea"/>
                    <a:cs typeface="+mn-cs"/>
                  </a:rPr>
                  <a:t>全局</a:t>
                </a:r>
              </a:p>
            </p:txBody>
          </p:sp>
          <p:sp>
            <p:nvSpPr>
              <p:cNvPr id="285" name="TextBox 285"/>
              <p:cNvSpPr txBox="1"/>
              <p:nvPr/>
            </p:nvSpPr>
            <p:spPr>
              <a:xfrm>
                <a:off x="8327504" y="3613309"/>
                <a:ext cx="192608" cy="133350"/>
              </a:xfrm>
              <a:prstGeom prst="rect">
                <a:avLst/>
              </a:prstGeom>
              <a:noFill/>
              <a:ln>
                <a:noFill/>
              </a:ln>
            </p:spPr>
            <p:txBody>
              <a:bodyPr wrap="none" lIns="0" tIns="0" rIns="0" bIns="0" anchor="t" anchorCtr="0">
                <a:spAutoFit/>
              </a:bodyPr>
              <a:lstStyle/>
              <a:p>
                <a:pPr algn="r"/>
                <a:r>
                  <a:rPr lang="zh-CN" sz="680" dirty="0">
                    <a:solidFill>
                      <a:srgbClr val="52352F"/>
                    </a:solidFill>
                    <a:latin typeface="+mn-lt"/>
                    <a:ea typeface="+mn-ea"/>
                    <a:cs typeface="+mn-cs"/>
                  </a:rPr>
                  <a:t>重要</a:t>
                </a:r>
              </a:p>
            </p:txBody>
          </p:sp>
          <p:sp>
            <p:nvSpPr>
              <p:cNvPr id="286" name="TextBox 286"/>
              <p:cNvSpPr txBox="1"/>
              <p:nvPr/>
            </p:nvSpPr>
            <p:spPr>
              <a:xfrm>
                <a:off x="8327504" y="3937159"/>
                <a:ext cx="192608" cy="133350"/>
              </a:xfrm>
              <a:prstGeom prst="rect">
                <a:avLst/>
              </a:prstGeom>
              <a:noFill/>
              <a:ln>
                <a:noFill/>
              </a:ln>
            </p:spPr>
            <p:txBody>
              <a:bodyPr wrap="none" lIns="0" tIns="0" rIns="0" bIns="0" anchor="t" anchorCtr="0">
                <a:spAutoFit/>
              </a:bodyPr>
              <a:lstStyle/>
              <a:p>
                <a:pPr algn="r"/>
                <a:r>
                  <a:rPr lang="zh-CN" sz="680" dirty="0">
                    <a:solidFill>
                      <a:srgbClr val="52352F"/>
                    </a:solidFill>
                    <a:latin typeface="+mn-lt"/>
                    <a:ea typeface="+mn-ea"/>
                    <a:cs typeface="+mn-cs"/>
                  </a:rPr>
                  <a:t>一般</a:t>
                </a:r>
              </a:p>
            </p:txBody>
          </p:sp>
          <p:sp>
            <p:nvSpPr>
              <p:cNvPr id="287" name="TextBox 287"/>
              <p:cNvSpPr txBox="1"/>
              <p:nvPr/>
            </p:nvSpPr>
            <p:spPr>
              <a:xfrm>
                <a:off x="8327504" y="4261009"/>
                <a:ext cx="192608" cy="133350"/>
              </a:xfrm>
              <a:prstGeom prst="rect">
                <a:avLst/>
              </a:prstGeom>
              <a:noFill/>
              <a:ln>
                <a:noFill/>
              </a:ln>
            </p:spPr>
            <p:txBody>
              <a:bodyPr wrap="none" lIns="0" tIns="0" rIns="0" bIns="0" anchor="t" anchorCtr="0">
                <a:spAutoFit/>
              </a:bodyPr>
              <a:lstStyle/>
              <a:p>
                <a:pPr algn="r"/>
                <a:r>
                  <a:rPr lang="zh-CN" sz="680" dirty="0">
                    <a:solidFill>
                      <a:srgbClr val="52352F"/>
                    </a:solidFill>
                    <a:latin typeface="+mn-lt"/>
                    <a:ea typeface="+mn-ea"/>
                    <a:cs typeface="+mn-cs"/>
                  </a:rPr>
                  <a:t>局部</a:t>
                </a:r>
              </a:p>
            </p:txBody>
          </p:sp>
        </p:grpSp>
        <p:grpSp>
          <p:nvGrpSpPr>
            <p:cNvPr id="293" name="sm-collabels"/>
            <p:cNvGrpSpPr/>
            <p:nvPr/>
          </p:nvGrpSpPr>
          <p:grpSpPr>
            <a:xfrm>
              <a:off x="8788667" y="4537234"/>
              <a:ext cx="1747037" cy="133350"/>
              <a:chOff x="8788667" y="4537234"/>
              <a:chExt cx="1747037" cy="133350"/>
            </a:xfrm>
          </p:grpSpPr>
          <p:sp>
            <p:nvSpPr>
              <p:cNvPr id="289" name="TextBox 289"/>
              <p:cNvSpPr txBox="1"/>
              <p:nvPr/>
            </p:nvSpPr>
            <p:spPr>
              <a:xfrm>
                <a:off x="8788667" y="4537234"/>
                <a:ext cx="10106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低</a:t>
                </a:r>
              </a:p>
            </p:txBody>
          </p:sp>
          <p:sp>
            <p:nvSpPr>
              <p:cNvPr id="290" name="TextBox 290"/>
              <p:cNvSpPr txBox="1"/>
              <p:nvPr/>
            </p:nvSpPr>
            <p:spPr>
              <a:xfrm>
                <a:off x="9322067" y="4537234"/>
                <a:ext cx="10106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中</a:t>
                </a:r>
              </a:p>
            </p:txBody>
          </p:sp>
          <p:sp>
            <p:nvSpPr>
              <p:cNvPr id="291" name="TextBox 291"/>
              <p:cNvSpPr txBox="1"/>
              <p:nvPr/>
            </p:nvSpPr>
            <p:spPr>
              <a:xfrm>
                <a:off x="9855467" y="4537234"/>
                <a:ext cx="101067"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高</a:t>
                </a:r>
              </a:p>
            </p:txBody>
          </p:sp>
          <p:sp>
            <p:nvSpPr>
              <p:cNvPr id="292" name="TextBox 292"/>
              <p:cNvSpPr txBox="1"/>
              <p:nvPr/>
            </p:nvSpPr>
            <p:spPr>
              <a:xfrm>
                <a:off x="10343096" y="4537234"/>
                <a:ext cx="192608" cy="133350"/>
              </a:xfrm>
              <a:prstGeom prst="rect">
                <a:avLst/>
              </a:prstGeom>
              <a:noFill/>
              <a:ln>
                <a:noFill/>
              </a:ln>
            </p:spPr>
            <p:txBody>
              <a:bodyPr wrap="none" lIns="0" tIns="0" rIns="0" bIns="0" anchor="t" anchorCtr="0">
                <a:spAutoFit/>
              </a:bodyPr>
              <a:lstStyle/>
              <a:p>
                <a:pPr algn="ctr"/>
                <a:r>
                  <a:rPr lang="zh-CN" sz="680" dirty="0">
                    <a:solidFill>
                      <a:srgbClr val="52352F"/>
                    </a:solidFill>
                    <a:latin typeface="+mn-lt"/>
                    <a:ea typeface="+mn-ea"/>
                    <a:cs typeface="+mn-cs"/>
                  </a:rPr>
                  <a:t>极高</a:t>
                </a:r>
              </a:p>
            </p:txBody>
          </p:sp>
        </p:grpSp>
        <p:sp>
          <p:nvSpPr>
            <p:cNvPr id="294" name="Line 294"/>
            <p:cNvSpPr/>
            <p:nvPr/>
          </p:nvSpPr>
          <p:spPr>
            <a:xfrm flipV="1">
              <a:off x="8153400" y="3143250"/>
              <a:ext cx="1" cy="1333500"/>
            </a:xfrm>
            <a:prstGeom prst="line">
              <a:avLst/>
            </a:prstGeom>
            <a:noFill/>
            <a:ln w="11430">
              <a:solidFill>
                <a:srgbClr val="92301C"/>
              </a:solidFill>
              <a:tailEnd type="triangle" w="lg" len="lg"/>
            </a:ln>
          </p:spPr>
        </p:sp>
        <p:sp>
          <p:nvSpPr>
            <p:cNvPr id="295" name="Line 295"/>
            <p:cNvSpPr/>
            <p:nvPr/>
          </p:nvSpPr>
          <p:spPr>
            <a:xfrm>
              <a:off x="8534400" y="4495800"/>
              <a:ext cx="2266950" cy="1"/>
            </a:xfrm>
            <a:prstGeom prst="line">
              <a:avLst/>
            </a:prstGeom>
            <a:noFill/>
            <a:ln w="11430">
              <a:solidFill>
                <a:srgbClr val="92301C"/>
              </a:solidFill>
              <a:tailEnd type="triangle" w="lg" len="lg"/>
            </a:ln>
          </p:spPr>
        </p:sp>
        <p:sp>
          <p:nvSpPr>
            <p:cNvPr id="296" name="TextBox 296"/>
            <p:cNvSpPr txBox="1"/>
            <p:nvPr/>
          </p:nvSpPr>
          <p:spPr>
            <a:xfrm rot="-5400000">
              <a:off x="7817460" y="3739753"/>
              <a:ext cx="391846"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影响范围</a:t>
              </a:r>
            </a:p>
          </p:txBody>
        </p:sp>
        <p:sp>
          <p:nvSpPr>
            <p:cNvPr id="297" name="TextBox 297"/>
            <p:cNvSpPr txBox="1"/>
            <p:nvPr/>
          </p:nvSpPr>
          <p:spPr>
            <a:xfrm>
              <a:off x="9443377" y="4723686"/>
              <a:ext cx="391846" cy="140494"/>
            </a:xfrm>
            <a:prstGeom prst="rect">
              <a:avLst/>
            </a:prstGeom>
            <a:noFill/>
            <a:ln>
              <a:noFill/>
            </a:ln>
          </p:spPr>
          <p:txBody>
            <a:bodyPr wrap="none" lIns="0" tIns="0" rIns="0" bIns="0" anchor="t" anchorCtr="0">
              <a:spAutoFit/>
            </a:bodyPr>
            <a:lstStyle/>
            <a:p>
              <a:pPr algn="ctr"/>
              <a:r>
                <a:rPr lang="zh-CN" sz="710" b="1" dirty="0">
                  <a:solidFill>
                    <a:srgbClr val="6B1B0B"/>
                  </a:solidFill>
                  <a:latin typeface="+mn-lt"/>
                  <a:ea typeface="+mn-ea"/>
                  <a:cs typeface="+mn-cs"/>
                </a:rPr>
                <a:t>发生概率</a:t>
              </a:r>
            </a:p>
          </p:txBody>
        </p:sp>
        <p:grpSp>
          <p:nvGrpSpPr>
            <p:cNvPr id="306" name="sm-legend"/>
            <p:cNvGrpSpPr/>
            <p:nvPr/>
          </p:nvGrpSpPr>
          <p:grpSpPr>
            <a:xfrm>
              <a:off x="11049000" y="3238500"/>
              <a:ext cx="348527" cy="838438"/>
              <a:chOff x="11049000" y="3238500"/>
              <a:chExt cx="348527" cy="838438"/>
            </a:xfrm>
          </p:grpSpPr>
          <p:sp>
            <p:nvSpPr>
              <p:cNvPr id="298" name="Rectangle 298"/>
              <p:cNvSpPr/>
              <p:nvPr/>
            </p:nvSpPr>
            <p:spPr>
              <a:xfrm>
                <a:off x="11049000" y="3238500"/>
                <a:ext cx="114300" cy="114300"/>
              </a:xfrm>
              <a:prstGeom prst="rect">
                <a:avLst/>
              </a:prstGeom>
              <a:solidFill>
                <a:srgbClr val="6B1B0B"/>
              </a:solidFill>
              <a:ln>
                <a:noFill/>
              </a:ln>
            </p:spPr>
          </p:sp>
          <p:sp>
            <p:nvSpPr>
              <p:cNvPr id="299" name="TextBox 299"/>
              <p:cNvSpPr txBox="1"/>
              <p:nvPr/>
            </p:nvSpPr>
            <p:spPr>
              <a:xfrm>
                <a:off x="11215688" y="3264932"/>
                <a:ext cx="181839"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严重</a:t>
                </a:r>
              </a:p>
            </p:txBody>
          </p:sp>
          <p:sp>
            <p:nvSpPr>
              <p:cNvPr id="300" name="Rectangle 300"/>
              <p:cNvSpPr/>
              <p:nvPr/>
            </p:nvSpPr>
            <p:spPr>
              <a:xfrm>
                <a:off x="11049000" y="3467100"/>
                <a:ext cx="114300" cy="114300"/>
              </a:xfrm>
              <a:prstGeom prst="rect">
                <a:avLst/>
              </a:prstGeom>
              <a:solidFill>
                <a:srgbClr val="92301C"/>
              </a:solidFill>
              <a:ln>
                <a:noFill/>
              </a:ln>
            </p:spPr>
          </p:sp>
          <p:sp>
            <p:nvSpPr>
              <p:cNvPr id="301" name="TextBox 301"/>
              <p:cNvSpPr txBox="1"/>
              <p:nvPr/>
            </p:nvSpPr>
            <p:spPr>
              <a:xfrm>
                <a:off x="11215688" y="3493532"/>
                <a:ext cx="9568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高</a:t>
                </a:r>
              </a:p>
            </p:txBody>
          </p:sp>
          <p:sp>
            <p:nvSpPr>
              <p:cNvPr id="302" name="Rectangle 302"/>
              <p:cNvSpPr/>
              <p:nvPr/>
            </p:nvSpPr>
            <p:spPr>
              <a:xfrm>
                <a:off x="11049000" y="3695700"/>
                <a:ext cx="114300" cy="114300"/>
              </a:xfrm>
              <a:prstGeom prst="rect">
                <a:avLst/>
              </a:prstGeom>
              <a:solidFill>
                <a:srgbClr val="C87C6C"/>
              </a:solidFill>
              <a:ln>
                <a:noFill/>
              </a:ln>
            </p:spPr>
          </p:sp>
          <p:sp>
            <p:nvSpPr>
              <p:cNvPr id="303" name="TextBox 303"/>
              <p:cNvSpPr txBox="1"/>
              <p:nvPr/>
            </p:nvSpPr>
            <p:spPr>
              <a:xfrm>
                <a:off x="11215688" y="3722132"/>
                <a:ext cx="9568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中</a:t>
                </a:r>
              </a:p>
            </p:txBody>
          </p:sp>
          <p:sp>
            <p:nvSpPr>
              <p:cNvPr id="304" name="Rectangle 304"/>
              <p:cNvSpPr/>
              <p:nvPr/>
            </p:nvSpPr>
            <p:spPr>
              <a:xfrm>
                <a:off x="11049000" y="3924300"/>
                <a:ext cx="114300" cy="114300"/>
              </a:xfrm>
              <a:prstGeom prst="rect">
                <a:avLst/>
              </a:prstGeom>
              <a:solidFill>
                <a:srgbClr val="D6E6F3"/>
              </a:solidFill>
              <a:ln>
                <a:noFill/>
              </a:ln>
            </p:spPr>
          </p:sp>
          <p:sp>
            <p:nvSpPr>
              <p:cNvPr id="305" name="TextBox 305"/>
              <p:cNvSpPr txBox="1"/>
              <p:nvPr/>
            </p:nvSpPr>
            <p:spPr>
              <a:xfrm>
                <a:off x="11215688" y="3950732"/>
                <a:ext cx="95682"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低</a:t>
                </a:r>
              </a:p>
            </p:txBody>
          </p:sp>
        </p:grpSp>
      </p:grpSp>
      <p:grpSp>
        <p:nvGrpSpPr>
          <p:cNvPr id="310" name="bottom-head"/>
          <p:cNvGrpSpPr/>
          <p:nvPr/>
        </p:nvGrpSpPr>
        <p:grpSpPr>
          <a:xfrm>
            <a:off x="190500" y="5257800"/>
            <a:ext cx="11811000" cy="272987"/>
            <a:chOff x="190500" y="5257800"/>
            <a:chExt cx="11811000" cy="272987"/>
          </a:xfrm>
        </p:grpSpPr>
        <p:sp>
          <p:nvSpPr>
            <p:cNvPr id="308" name="Rectangle 308"/>
            <p:cNvSpPr/>
            <p:nvPr/>
          </p:nvSpPr>
          <p:spPr>
            <a:xfrm>
              <a:off x="190500" y="5257800"/>
              <a:ext cx="11811000" cy="266700"/>
            </a:xfrm>
            <a:prstGeom prst="rect">
              <a:avLst/>
            </a:prstGeom>
            <a:gradFill>
              <a:gsLst>
                <a:gs pos="0">
                  <a:srgbClr val="92301C"/>
                </a:gs>
                <a:gs pos="100000">
                  <a:srgbClr val="B7533F"/>
                </a:gs>
              </a:gsLst>
              <a:lin ang="0" scaled="1"/>
            </a:gradFill>
            <a:ln>
              <a:noFill/>
            </a:ln>
          </p:spPr>
        </p:sp>
        <p:sp>
          <p:nvSpPr>
            <p:cNvPr id="309" name="TextBox 309"/>
            <p:cNvSpPr txBox="1"/>
            <p:nvPr/>
          </p:nvSpPr>
          <p:spPr>
            <a:xfrm>
              <a:off x="318516" y="5325428"/>
              <a:ext cx="1424178"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智能体特有风险与防线</a:t>
              </a:r>
            </a:p>
          </p:txBody>
        </p:sp>
      </p:grpSp>
      <p:grpSp>
        <p:nvGrpSpPr>
          <p:cNvPr id="383" name="risk-rows"/>
          <p:cNvGrpSpPr/>
          <p:nvPr/>
        </p:nvGrpSpPr>
        <p:grpSpPr>
          <a:xfrm>
            <a:off x="190500" y="5562600"/>
            <a:ext cx="11811000" cy="1009650"/>
            <a:chOff x="190500" y="5562600"/>
            <a:chExt cx="11811000" cy="1009650"/>
          </a:xfrm>
        </p:grpSpPr>
        <p:grpSp>
          <p:nvGrpSpPr>
            <p:cNvPr id="344" name="rr-risk"/>
            <p:cNvGrpSpPr/>
            <p:nvPr/>
          </p:nvGrpSpPr>
          <p:grpSpPr>
            <a:xfrm>
              <a:off x="190500" y="5562600"/>
              <a:ext cx="11811000" cy="476250"/>
              <a:chOff x="190500" y="5562600"/>
              <a:chExt cx="11811000" cy="476250"/>
            </a:xfrm>
          </p:grpSpPr>
          <p:sp>
            <p:nvSpPr>
              <p:cNvPr id="311" name="Rectangle 311"/>
              <p:cNvSpPr/>
              <p:nvPr/>
            </p:nvSpPr>
            <p:spPr>
              <a:xfrm>
                <a:off x="190500" y="5562600"/>
                <a:ext cx="11811000" cy="476250"/>
              </a:xfrm>
              <a:prstGeom prst="roundRect">
                <a:avLst>
                  <a:gd name="adj" fmla="val 12000"/>
                </a:avLst>
              </a:prstGeom>
              <a:solidFill>
                <a:srgbClr val="F6F9FD"/>
              </a:solidFill>
              <a:ln w="9525">
                <a:solidFill>
                  <a:srgbClr val="CFDFEE"/>
                </a:solidFill>
              </a:ln>
            </p:spPr>
          </p:sp>
          <p:sp>
            <p:nvSpPr>
              <p:cNvPr id="312" name="Rectangle 312"/>
              <p:cNvSpPr/>
              <p:nvPr/>
            </p:nvSpPr>
            <p:spPr>
              <a:xfrm>
                <a:off x="190500" y="5562600"/>
                <a:ext cx="914400" cy="476250"/>
              </a:xfrm>
              <a:prstGeom prst="roundRect">
                <a:avLst>
                  <a:gd name="adj" fmla="val 12000"/>
                </a:avLst>
              </a:prstGeom>
              <a:solidFill>
                <a:srgbClr val="C8452F"/>
              </a:solidFill>
              <a:ln>
                <a:noFill/>
              </a:ln>
            </p:spPr>
          </p:sp>
          <p:sp>
            <p:nvSpPr>
              <p:cNvPr id="313" name="Rectangle 313"/>
              <p:cNvSpPr/>
              <p:nvPr/>
            </p:nvSpPr>
            <p:spPr>
              <a:xfrm>
                <a:off x="1047750" y="5562600"/>
                <a:ext cx="57150" cy="476250"/>
              </a:xfrm>
              <a:prstGeom prst="rect">
                <a:avLst/>
              </a:prstGeom>
              <a:solidFill>
                <a:srgbClr val="C8452F"/>
              </a:solidFill>
              <a:ln>
                <a:noFill/>
              </a:ln>
            </p:spPr>
          </p:sp>
          <p:sp>
            <p:nvSpPr>
              <p:cNvPr id="314" name="TextBox 314"/>
              <p:cNvSpPr txBox="1"/>
              <p:nvPr/>
            </p:nvSpPr>
            <p:spPr>
              <a:xfrm>
                <a:off x="400622" y="57416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主要风险</a:t>
                </a:r>
              </a:p>
            </p:txBody>
          </p:sp>
          <p:grpSp>
            <p:nvGrpSpPr>
              <p:cNvPr id="318" name="Group 318"/>
              <p:cNvGrpSpPr/>
              <p:nvPr/>
            </p:nvGrpSpPr>
            <p:grpSpPr>
              <a:xfrm>
                <a:off x="1283494" y="5721350"/>
                <a:ext cx="157163" cy="148431"/>
                <a:chOff x="1283494" y="5721350"/>
                <a:chExt cx="157163" cy="148431"/>
              </a:xfrm>
            </p:grpSpPr>
            <p:sp>
              <p:nvSpPr>
                <p:cNvPr id="315" name="Freeform 315"/>
                <p:cNvSpPr/>
                <p:nvPr/>
              </p:nvSpPr>
              <p:spPr>
                <a:xfrm>
                  <a:off x="1283494" y="5721350"/>
                  <a:ext cx="157163" cy="148431"/>
                </a:xfrm>
                <a:custGeom>
                  <a:avLst/>
                  <a:gdLst/>
                  <a:ahLst/>
                  <a:cxnLst/>
                  <a:rect l="l" t="t" r="r" b="b"/>
                  <a:pathLst>
                    <a:path w="157163" h="148431">
                      <a:moveTo>
                        <a:pt x="130969" y="0"/>
                      </a:moveTo>
                      <a:cubicBezTo>
                        <a:pt x="145435" y="0"/>
                        <a:pt x="157163" y="11727"/>
                        <a:pt x="157163" y="26194"/>
                      </a:cubicBezTo>
                      <a:lnTo>
                        <a:pt x="157163" y="96044"/>
                      </a:lnTo>
                      <a:cubicBezTo>
                        <a:pt x="157163" y="110510"/>
                        <a:pt x="145435" y="122238"/>
                        <a:pt x="130969" y="122238"/>
                      </a:cubicBezTo>
                      <a:lnTo>
                        <a:pt x="87313" y="122238"/>
                      </a:lnTo>
                      <a:lnTo>
                        <a:pt x="43656" y="148431"/>
                      </a:lnTo>
                      <a:lnTo>
                        <a:pt x="43656" y="122238"/>
                      </a:lnTo>
                      <a:lnTo>
                        <a:pt x="26194" y="122238"/>
                      </a:lnTo>
                      <a:cubicBezTo>
                        <a:pt x="11727" y="122238"/>
                        <a:pt x="0" y="110510"/>
                        <a:pt x="0" y="96044"/>
                      </a:cubicBezTo>
                      <a:lnTo>
                        <a:pt x="0" y="26194"/>
                      </a:lnTo>
                      <a:cubicBezTo>
                        <a:pt x="0" y="11727"/>
                        <a:pt x="11727" y="0"/>
                        <a:pt x="26194" y="0"/>
                      </a:cubicBezTo>
                      <a:lnTo>
                        <a:pt x="130969" y="0"/>
                      </a:lnTo>
                    </a:path>
                  </a:pathLst>
                </a:custGeom>
                <a:noFill/>
                <a:ln w="17463">
                  <a:solidFill>
                    <a:srgbClr val="C8452F"/>
                  </a:solidFill>
                </a:ln>
              </p:spPr>
            </p:sp>
            <p:sp>
              <p:nvSpPr>
                <p:cNvPr id="316" name="Freeform 316"/>
                <p:cNvSpPr/>
                <p:nvPr/>
              </p:nvSpPr>
              <p:spPr>
                <a:xfrm>
                  <a:off x="1362075" y="5756275"/>
                  <a:ext cx="9525" cy="26194"/>
                </a:xfrm>
                <a:custGeom>
                  <a:avLst/>
                  <a:gdLst/>
                  <a:ahLst/>
                  <a:cxnLst/>
                  <a:rect l="l" t="t" r="r" b="b"/>
                  <a:pathLst>
                    <a:path w="9525" h="26194">
                      <a:moveTo>
                        <a:pt x="0" y="0"/>
                      </a:moveTo>
                      <a:lnTo>
                        <a:pt x="0" y="26194"/>
                      </a:lnTo>
                    </a:path>
                  </a:pathLst>
                </a:custGeom>
                <a:noFill/>
                <a:ln w="17463">
                  <a:solidFill>
                    <a:srgbClr val="C8452F"/>
                  </a:solidFill>
                </a:ln>
              </p:spPr>
            </p:sp>
            <p:sp>
              <p:nvSpPr>
                <p:cNvPr id="317" name="Freeform 317"/>
                <p:cNvSpPr/>
                <p:nvPr/>
              </p:nvSpPr>
              <p:spPr>
                <a:xfrm>
                  <a:off x="1362075" y="5808663"/>
                  <a:ext cx="9525" cy="9525"/>
                </a:xfrm>
                <a:custGeom>
                  <a:avLst/>
                  <a:gdLst/>
                  <a:ahLst/>
                  <a:cxnLst/>
                  <a:rect l="l" t="t" r="r" b="b"/>
                  <a:pathLst>
                    <a:path w="9525" h="9525">
                      <a:moveTo>
                        <a:pt x="0" y="0"/>
                      </a:moveTo>
                      <a:lnTo>
                        <a:pt x="0" y="87"/>
                      </a:lnTo>
                    </a:path>
                  </a:pathLst>
                </a:custGeom>
                <a:noFill/>
                <a:ln w="17463">
                  <a:solidFill>
                    <a:srgbClr val="C8452F"/>
                  </a:solidFill>
                </a:ln>
              </p:spPr>
            </p:sp>
          </p:grpSp>
          <p:sp>
            <p:nvSpPr>
              <p:cNvPr id="319" name="TextBox 319"/>
              <p:cNvSpPr txBox="1"/>
              <p:nvPr/>
            </p:nvSpPr>
            <p:spPr>
              <a:xfrm>
                <a:off x="1538288" y="56830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提示注入</a:t>
                </a:r>
              </a:p>
            </p:txBody>
          </p:sp>
          <p:sp>
            <p:nvSpPr>
              <p:cNvPr id="320" name="TextBox 320"/>
              <p:cNvSpPr txBox="1"/>
              <p:nvPr/>
            </p:nvSpPr>
            <p:spPr>
              <a:xfrm>
                <a:off x="1538288" y="585573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恶意指令诱导</a:t>
                </a:r>
              </a:p>
            </p:txBody>
          </p:sp>
          <p:sp>
            <p:nvSpPr>
              <p:cNvPr id="321" name="Freeform 321"/>
              <p:cNvSpPr/>
              <p:nvPr/>
            </p:nvSpPr>
            <p:spPr>
              <a:xfrm>
                <a:off x="3455194" y="5738813"/>
                <a:ext cx="157163" cy="104775"/>
              </a:xfrm>
              <a:custGeom>
                <a:avLst/>
                <a:gdLst/>
                <a:ahLst/>
                <a:cxnLst/>
                <a:rect l="l" t="t" r="r" b="b"/>
                <a:pathLst>
                  <a:path w="157163" h="104775">
                    <a:moveTo>
                      <a:pt x="78581" y="0"/>
                    </a:moveTo>
                    <a:lnTo>
                      <a:pt x="113506" y="52388"/>
                    </a:lnTo>
                    <a:lnTo>
                      <a:pt x="157163" y="17463"/>
                    </a:lnTo>
                    <a:lnTo>
                      <a:pt x="139700" y="104775"/>
                    </a:lnTo>
                    <a:lnTo>
                      <a:pt x="17463" y="104775"/>
                    </a:lnTo>
                    <a:lnTo>
                      <a:pt x="0" y="17463"/>
                    </a:lnTo>
                    <a:lnTo>
                      <a:pt x="43656" y="52388"/>
                    </a:lnTo>
                    <a:lnTo>
                      <a:pt x="78581" y="0"/>
                    </a:lnTo>
                  </a:path>
                </a:pathLst>
              </a:custGeom>
              <a:noFill/>
              <a:ln w="17463">
                <a:solidFill>
                  <a:srgbClr val="C8452F"/>
                </a:solidFill>
              </a:ln>
            </p:spPr>
          </p:sp>
          <p:sp>
            <p:nvSpPr>
              <p:cNvPr id="322" name="TextBox 322"/>
              <p:cNvSpPr txBox="1"/>
              <p:nvPr/>
            </p:nvSpPr>
            <p:spPr>
              <a:xfrm>
                <a:off x="3709988" y="56830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权限升级</a:t>
                </a:r>
              </a:p>
            </p:txBody>
          </p:sp>
          <p:sp>
            <p:nvSpPr>
              <p:cNvPr id="323" name="TextBox 323"/>
              <p:cNvSpPr txBox="1"/>
              <p:nvPr/>
            </p:nvSpPr>
            <p:spPr>
              <a:xfrm>
                <a:off x="3709988" y="585573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越权访问资源</a:t>
                </a:r>
              </a:p>
            </p:txBody>
          </p:sp>
          <p:sp>
            <p:nvSpPr>
              <p:cNvPr id="324" name="Freeform 324"/>
              <p:cNvSpPr/>
              <p:nvPr/>
            </p:nvSpPr>
            <p:spPr>
              <a:xfrm>
                <a:off x="5621692" y="5707417"/>
                <a:ext cx="165232" cy="165232"/>
              </a:xfrm>
              <a:custGeom>
                <a:avLst/>
                <a:gdLst/>
                <a:ahLst/>
                <a:cxnLst/>
                <a:rect l="l" t="t" r="r" b="b"/>
                <a:pathLst>
                  <a:path w="165232" h="165232">
                    <a:moveTo>
                      <a:pt x="40127" y="66321"/>
                    </a:moveTo>
                    <a:lnTo>
                      <a:pt x="66321" y="66321"/>
                    </a:lnTo>
                    <a:lnTo>
                      <a:pt x="66321" y="40127"/>
                    </a:lnTo>
                    <a:lnTo>
                      <a:pt x="35762" y="9568"/>
                    </a:lnTo>
                    <a:cubicBezTo>
                      <a:pt x="55795" y="0"/>
                      <a:pt x="79684" y="4099"/>
                      <a:pt x="95382" y="19797"/>
                    </a:cubicBezTo>
                    <a:cubicBezTo>
                      <a:pt x="111081" y="35496"/>
                      <a:pt x="115179" y="59384"/>
                      <a:pt x="105612" y="79418"/>
                    </a:cubicBezTo>
                    <a:lnTo>
                      <a:pt x="157999" y="131805"/>
                    </a:lnTo>
                    <a:cubicBezTo>
                      <a:pt x="165232" y="139039"/>
                      <a:pt x="165232" y="150766"/>
                      <a:pt x="157999" y="157999"/>
                    </a:cubicBezTo>
                    <a:cubicBezTo>
                      <a:pt x="150766" y="165232"/>
                      <a:pt x="139039" y="165232"/>
                      <a:pt x="131805" y="157999"/>
                    </a:cubicBezTo>
                    <a:lnTo>
                      <a:pt x="79418" y="105612"/>
                    </a:lnTo>
                    <a:cubicBezTo>
                      <a:pt x="59384" y="115179"/>
                      <a:pt x="35496" y="111081"/>
                      <a:pt x="19797" y="95382"/>
                    </a:cubicBezTo>
                    <a:cubicBezTo>
                      <a:pt x="4099" y="79684"/>
                      <a:pt x="0" y="55795"/>
                      <a:pt x="9568" y="35762"/>
                    </a:cubicBezTo>
                    <a:lnTo>
                      <a:pt x="40127" y="66321"/>
                    </a:lnTo>
                  </a:path>
                </a:pathLst>
              </a:custGeom>
              <a:noFill/>
              <a:ln w="17463">
                <a:solidFill>
                  <a:srgbClr val="C8452F"/>
                </a:solidFill>
              </a:ln>
            </p:spPr>
          </p:sp>
          <p:sp>
            <p:nvSpPr>
              <p:cNvPr id="325" name="TextBox 325"/>
              <p:cNvSpPr txBox="1"/>
              <p:nvPr/>
            </p:nvSpPr>
            <p:spPr>
              <a:xfrm>
                <a:off x="5881688" y="56830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工具滥用</a:t>
                </a:r>
              </a:p>
            </p:txBody>
          </p:sp>
          <p:sp>
            <p:nvSpPr>
              <p:cNvPr id="326" name="TextBox 326"/>
              <p:cNvSpPr txBox="1"/>
              <p:nvPr/>
            </p:nvSpPr>
            <p:spPr>
              <a:xfrm>
                <a:off x="5881688" y="585573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调用敏感工具</a:t>
                </a:r>
              </a:p>
            </p:txBody>
          </p:sp>
          <p:grpSp>
            <p:nvGrpSpPr>
              <p:cNvPr id="332" name="Group 332"/>
              <p:cNvGrpSpPr/>
              <p:nvPr/>
            </p:nvGrpSpPr>
            <p:grpSpPr>
              <a:xfrm>
                <a:off x="7807325" y="5712619"/>
                <a:ext cx="157163" cy="165894"/>
                <a:chOff x="7807325" y="5712619"/>
                <a:chExt cx="157163" cy="165894"/>
              </a:xfrm>
            </p:grpSpPr>
            <p:sp>
              <p:nvSpPr>
                <p:cNvPr id="327" name="Freeform 327"/>
                <p:cNvSpPr/>
                <p:nvPr/>
              </p:nvSpPr>
              <p:spPr>
                <a:xfrm>
                  <a:off x="7807325" y="5712619"/>
                  <a:ext cx="139700" cy="52388"/>
                </a:xfrm>
                <a:custGeom>
                  <a:avLst/>
                  <a:gdLst/>
                  <a:ahLst/>
                  <a:cxnLst/>
                  <a:rect l="l" t="t" r="r" b="b"/>
                  <a:pathLst>
                    <a:path w="139700" h="52388">
                      <a:moveTo>
                        <a:pt x="0" y="26194"/>
                      </a:moveTo>
                      <a:cubicBezTo>
                        <a:pt x="0" y="40661"/>
                        <a:pt x="31275" y="52388"/>
                        <a:pt x="69850" y="52388"/>
                      </a:cubicBezTo>
                      <a:cubicBezTo>
                        <a:pt x="108425" y="52388"/>
                        <a:pt x="139700" y="40661"/>
                        <a:pt x="139700" y="26194"/>
                      </a:cubicBezTo>
                      <a:cubicBezTo>
                        <a:pt x="139700" y="11726"/>
                        <a:pt x="108425" y="0"/>
                        <a:pt x="69850" y="0"/>
                      </a:cubicBezTo>
                      <a:cubicBezTo>
                        <a:pt x="31275" y="0"/>
                        <a:pt x="0" y="11726"/>
                        <a:pt x="0" y="26194"/>
                      </a:cubicBezTo>
                    </a:path>
                  </a:pathLst>
                </a:custGeom>
                <a:noFill/>
                <a:ln w="17463">
                  <a:solidFill>
                    <a:srgbClr val="C8452F"/>
                  </a:solidFill>
                </a:ln>
              </p:spPr>
            </p:sp>
            <p:sp>
              <p:nvSpPr>
                <p:cNvPr id="328" name="Freeform 328"/>
                <p:cNvSpPr/>
                <p:nvPr/>
              </p:nvSpPr>
              <p:spPr>
                <a:xfrm>
                  <a:off x="7807325" y="5738813"/>
                  <a:ext cx="139700" cy="78581"/>
                </a:xfrm>
                <a:custGeom>
                  <a:avLst/>
                  <a:gdLst/>
                  <a:ahLst/>
                  <a:cxnLst/>
                  <a:rect l="l" t="t" r="r" b="b"/>
                  <a:pathLst>
                    <a:path w="139700" h="78581">
                      <a:moveTo>
                        <a:pt x="0" y="0"/>
                      </a:moveTo>
                      <a:lnTo>
                        <a:pt x="0" y="52388"/>
                      </a:lnTo>
                      <a:cubicBezTo>
                        <a:pt x="0" y="66855"/>
                        <a:pt x="31275" y="78581"/>
                        <a:pt x="69850" y="78581"/>
                      </a:cubicBezTo>
                      <a:cubicBezTo>
                        <a:pt x="77324" y="78581"/>
                        <a:pt x="84519" y="78145"/>
                        <a:pt x="91277" y="77324"/>
                      </a:cubicBezTo>
                      <a:moveTo>
                        <a:pt x="139700" y="52388"/>
                      </a:moveTo>
                      <a:lnTo>
                        <a:pt x="139700" y="0"/>
                      </a:lnTo>
                    </a:path>
                  </a:pathLst>
                </a:custGeom>
                <a:noFill/>
                <a:ln w="17463">
                  <a:solidFill>
                    <a:srgbClr val="C8452F"/>
                  </a:solidFill>
                </a:ln>
              </p:spPr>
            </p:sp>
            <p:sp>
              <p:nvSpPr>
                <p:cNvPr id="329" name="Freeform 329"/>
                <p:cNvSpPr/>
                <p:nvPr/>
              </p:nvSpPr>
              <p:spPr>
                <a:xfrm>
                  <a:off x="7807325" y="5791200"/>
                  <a:ext cx="74303" cy="78581"/>
                </a:xfrm>
                <a:custGeom>
                  <a:avLst/>
                  <a:gdLst/>
                  <a:ahLst/>
                  <a:cxnLst/>
                  <a:rect l="l" t="t" r="r" b="b"/>
                  <a:pathLst>
                    <a:path w="74303" h="78581">
                      <a:moveTo>
                        <a:pt x="0" y="0"/>
                      </a:moveTo>
                      <a:lnTo>
                        <a:pt x="0" y="52388"/>
                      </a:lnTo>
                      <a:cubicBezTo>
                        <a:pt x="0" y="66855"/>
                        <a:pt x="31275" y="78581"/>
                        <a:pt x="69850" y="78581"/>
                      </a:cubicBezTo>
                      <a:cubicBezTo>
                        <a:pt x="71343" y="78581"/>
                        <a:pt x="72827" y="78564"/>
                        <a:pt x="74303" y="78529"/>
                      </a:cubicBezTo>
                    </a:path>
                  </a:pathLst>
                </a:custGeom>
                <a:noFill/>
                <a:ln w="17463">
                  <a:solidFill>
                    <a:srgbClr val="C8452F"/>
                  </a:solidFill>
                </a:ln>
              </p:spPr>
            </p:sp>
            <p:sp>
              <p:nvSpPr>
                <p:cNvPr id="330" name="Freeform 330"/>
                <p:cNvSpPr/>
                <p:nvPr/>
              </p:nvSpPr>
              <p:spPr>
                <a:xfrm>
                  <a:off x="7938294" y="5826125"/>
                  <a:ext cx="9525" cy="52388"/>
                </a:xfrm>
                <a:custGeom>
                  <a:avLst/>
                  <a:gdLst/>
                  <a:ahLst/>
                  <a:cxnLst/>
                  <a:rect l="l" t="t" r="r" b="b"/>
                  <a:pathLst>
                    <a:path w="9525" h="52388">
                      <a:moveTo>
                        <a:pt x="0" y="52388"/>
                      </a:moveTo>
                      <a:lnTo>
                        <a:pt x="0" y="0"/>
                      </a:lnTo>
                    </a:path>
                  </a:pathLst>
                </a:custGeom>
                <a:noFill/>
                <a:ln w="17463">
                  <a:solidFill>
                    <a:srgbClr val="C8452F"/>
                  </a:solidFill>
                </a:ln>
              </p:spPr>
            </p:sp>
            <p:sp>
              <p:nvSpPr>
                <p:cNvPr id="331" name="Freeform 331"/>
                <p:cNvSpPr/>
                <p:nvPr/>
              </p:nvSpPr>
              <p:spPr>
                <a:xfrm>
                  <a:off x="7912100" y="5826125"/>
                  <a:ext cx="52388" cy="26194"/>
                </a:xfrm>
                <a:custGeom>
                  <a:avLst/>
                  <a:gdLst/>
                  <a:ahLst/>
                  <a:cxnLst/>
                  <a:rect l="l" t="t" r="r" b="b"/>
                  <a:pathLst>
                    <a:path w="52388" h="26194">
                      <a:moveTo>
                        <a:pt x="52388" y="26194"/>
                      </a:moveTo>
                      <a:lnTo>
                        <a:pt x="26194" y="0"/>
                      </a:lnTo>
                      <a:lnTo>
                        <a:pt x="0" y="26194"/>
                      </a:lnTo>
                    </a:path>
                  </a:pathLst>
                </a:custGeom>
                <a:noFill/>
                <a:ln w="17463">
                  <a:solidFill>
                    <a:srgbClr val="C8452F"/>
                  </a:solidFill>
                </a:ln>
              </p:spPr>
            </p:sp>
          </p:grpSp>
          <p:sp>
            <p:nvSpPr>
              <p:cNvPr id="333" name="TextBox 333"/>
              <p:cNvSpPr txBox="1"/>
              <p:nvPr/>
            </p:nvSpPr>
            <p:spPr>
              <a:xfrm>
                <a:off x="8053388" y="56830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记忆污染</a:t>
                </a:r>
              </a:p>
            </p:txBody>
          </p:sp>
          <p:sp>
            <p:nvSpPr>
              <p:cNvPr id="334" name="TextBox 334"/>
              <p:cNvSpPr txBox="1"/>
              <p:nvPr/>
            </p:nvSpPr>
            <p:spPr>
              <a:xfrm>
                <a:off x="8053388" y="5855732"/>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错误或恶意信息写入</a:t>
                </a:r>
              </a:p>
            </p:txBody>
          </p:sp>
          <p:grpSp>
            <p:nvGrpSpPr>
              <p:cNvPr id="341" name="Group 341"/>
              <p:cNvGrpSpPr/>
              <p:nvPr/>
            </p:nvGrpSpPr>
            <p:grpSpPr>
              <a:xfrm>
                <a:off x="9979025" y="5712619"/>
                <a:ext cx="157163" cy="165894"/>
                <a:chOff x="9979025" y="5712619"/>
                <a:chExt cx="157163" cy="165894"/>
              </a:xfrm>
            </p:grpSpPr>
            <p:sp>
              <p:nvSpPr>
                <p:cNvPr id="335" name="Freeform 335"/>
                <p:cNvSpPr/>
                <p:nvPr/>
              </p:nvSpPr>
              <p:spPr>
                <a:xfrm>
                  <a:off x="9979025" y="5712619"/>
                  <a:ext cx="139700" cy="52388"/>
                </a:xfrm>
                <a:custGeom>
                  <a:avLst/>
                  <a:gdLst/>
                  <a:ahLst/>
                  <a:cxnLst/>
                  <a:rect l="l" t="t" r="r" b="b"/>
                  <a:pathLst>
                    <a:path w="139700" h="52388">
                      <a:moveTo>
                        <a:pt x="0" y="26194"/>
                      </a:moveTo>
                      <a:cubicBezTo>
                        <a:pt x="0" y="40661"/>
                        <a:pt x="31275" y="52388"/>
                        <a:pt x="69850" y="52388"/>
                      </a:cubicBezTo>
                      <a:cubicBezTo>
                        <a:pt x="108425" y="52388"/>
                        <a:pt x="139700" y="40661"/>
                        <a:pt x="139700" y="26194"/>
                      </a:cubicBezTo>
                      <a:cubicBezTo>
                        <a:pt x="139700" y="11726"/>
                        <a:pt x="108425" y="0"/>
                        <a:pt x="69850" y="0"/>
                      </a:cubicBezTo>
                      <a:cubicBezTo>
                        <a:pt x="31275" y="0"/>
                        <a:pt x="0" y="11726"/>
                        <a:pt x="0" y="26194"/>
                      </a:cubicBezTo>
                    </a:path>
                  </a:pathLst>
                </a:custGeom>
                <a:noFill/>
                <a:ln w="17463">
                  <a:solidFill>
                    <a:srgbClr val="C8452F"/>
                  </a:solidFill>
                </a:ln>
              </p:spPr>
            </p:sp>
            <p:sp>
              <p:nvSpPr>
                <p:cNvPr id="336" name="Freeform 336"/>
                <p:cNvSpPr/>
                <p:nvPr/>
              </p:nvSpPr>
              <p:spPr>
                <a:xfrm>
                  <a:off x="9979025" y="5738813"/>
                  <a:ext cx="97353" cy="78581"/>
                </a:xfrm>
                <a:custGeom>
                  <a:avLst/>
                  <a:gdLst/>
                  <a:ahLst/>
                  <a:cxnLst/>
                  <a:rect l="l" t="t" r="r" b="b"/>
                  <a:pathLst>
                    <a:path w="97353" h="78581">
                      <a:moveTo>
                        <a:pt x="0" y="0"/>
                      </a:moveTo>
                      <a:lnTo>
                        <a:pt x="0" y="52388"/>
                      </a:lnTo>
                      <a:cubicBezTo>
                        <a:pt x="0" y="66855"/>
                        <a:pt x="31275" y="78581"/>
                        <a:pt x="69850" y="78581"/>
                      </a:cubicBezTo>
                      <a:cubicBezTo>
                        <a:pt x="79612" y="78581"/>
                        <a:pt x="88910" y="77830"/>
                        <a:pt x="97353" y="76477"/>
                      </a:cubicBezTo>
                    </a:path>
                  </a:pathLst>
                </a:custGeom>
                <a:noFill/>
                <a:ln w="17463">
                  <a:solidFill>
                    <a:srgbClr val="C8452F"/>
                  </a:solidFill>
                </a:ln>
              </p:spPr>
            </p:sp>
            <p:sp>
              <p:nvSpPr>
                <p:cNvPr id="337" name="Freeform 337"/>
                <p:cNvSpPr/>
                <p:nvPr/>
              </p:nvSpPr>
              <p:spPr>
                <a:xfrm>
                  <a:off x="10118725" y="5738813"/>
                  <a:ext cx="9525" cy="52388"/>
                </a:xfrm>
                <a:custGeom>
                  <a:avLst/>
                  <a:gdLst/>
                  <a:ahLst/>
                  <a:cxnLst/>
                  <a:rect l="l" t="t" r="r" b="b"/>
                  <a:pathLst>
                    <a:path w="9525" h="52388">
                      <a:moveTo>
                        <a:pt x="0" y="52388"/>
                      </a:moveTo>
                      <a:lnTo>
                        <a:pt x="0" y="0"/>
                      </a:lnTo>
                    </a:path>
                  </a:pathLst>
                </a:custGeom>
                <a:noFill/>
                <a:ln w="17463">
                  <a:solidFill>
                    <a:srgbClr val="C8452F"/>
                  </a:solidFill>
                </a:ln>
              </p:spPr>
            </p:sp>
            <p:sp>
              <p:nvSpPr>
                <p:cNvPr id="338" name="Freeform 338"/>
                <p:cNvSpPr/>
                <p:nvPr/>
              </p:nvSpPr>
              <p:spPr>
                <a:xfrm>
                  <a:off x="9979025" y="5791200"/>
                  <a:ext cx="73919" cy="78581"/>
                </a:xfrm>
                <a:custGeom>
                  <a:avLst/>
                  <a:gdLst/>
                  <a:ahLst/>
                  <a:cxnLst/>
                  <a:rect l="l" t="t" r="r" b="b"/>
                  <a:pathLst>
                    <a:path w="73919" h="78581">
                      <a:moveTo>
                        <a:pt x="0" y="0"/>
                      </a:moveTo>
                      <a:lnTo>
                        <a:pt x="0" y="52388"/>
                      </a:lnTo>
                      <a:cubicBezTo>
                        <a:pt x="0" y="66855"/>
                        <a:pt x="31275" y="78581"/>
                        <a:pt x="69850" y="78581"/>
                      </a:cubicBezTo>
                      <a:cubicBezTo>
                        <a:pt x="71221" y="78581"/>
                        <a:pt x="72574" y="78564"/>
                        <a:pt x="73919" y="78538"/>
                      </a:cubicBezTo>
                    </a:path>
                  </a:pathLst>
                </a:custGeom>
                <a:noFill/>
                <a:ln w="17463">
                  <a:solidFill>
                    <a:srgbClr val="C8452F"/>
                  </a:solidFill>
                </a:ln>
              </p:spPr>
            </p:sp>
            <p:sp>
              <p:nvSpPr>
                <p:cNvPr id="339" name="Freeform 339"/>
                <p:cNvSpPr/>
                <p:nvPr/>
              </p:nvSpPr>
              <p:spPr>
                <a:xfrm>
                  <a:off x="10083800" y="5852319"/>
                  <a:ext cx="52388" cy="9525"/>
                </a:xfrm>
                <a:custGeom>
                  <a:avLst/>
                  <a:gdLst/>
                  <a:ahLst/>
                  <a:cxnLst/>
                  <a:rect l="l" t="t" r="r" b="b"/>
                  <a:pathLst>
                    <a:path w="52388" h="9525">
                      <a:moveTo>
                        <a:pt x="0" y="0"/>
                      </a:moveTo>
                      <a:lnTo>
                        <a:pt x="52388" y="0"/>
                      </a:lnTo>
                    </a:path>
                  </a:pathLst>
                </a:custGeom>
                <a:noFill/>
                <a:ln w="17463">
                  <a:solidFill>
                    <a:srgbClr val="C8452F"/>
                  </a:solidFill>
                </a:ln>
              </p:spPr>
            </p:sp>
            <p:sp>
              <p:nvSpPr>
                <p:cNvPr id="340" name="Freeform 340"/>
                <p:cNvSpPr/>
                <p:nvPr/>
              </p:nvSpPr>
              <p:spPr>
                <a:xfrm>
                  <a:off x="10109994" y="5826125"/>
                  <a:ext cx="26194" cy="52388"/>
                </a:xfrm>
                <a:custGeom>
                  <a:avLst/>
                  <a:gdLst/>
                  <a:ahLst/>
                  <a:cxnLst/>
                  <a:rect l="l" t="t" r="r" b="b"/>
                  <a:pathLst>
                    <a:path w="26194" h="52388">
                      <a:moveTo>
                        <a:pt x="0" y="0"/>
                      </a:moveTo>
                      <a:lnTo>
                        <a:pt x="26194" y="26194"/>
                      </a:lnTo>
                      <a:lnTo>
                        <a:pt x="0" y="52388"/>
                      </a:lnTo>
                    </a:path>
                  </a:pathLst>
                </a:custGeom>
                <a:noFill/>
                <a:ln w="17463">
                  <a:solidFill>
                    <a:srgbClr val="C8452F"/>
                  </a:solidFill>
                </a:ln>
              </p:spPr>
            </p:sp>
          </p:grpSp>
          <p:sp>
            <p:nvSpPr>
              <p:cNvPr id="342" name="TextBox 342"/>
              <p:cNvSpPr txBox="1"/>
              <p:nvPr/>
            </p:nvSpPr>
            <p:spPr>
              <a:xfrm>
                <a:off x="10225088" y="56830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数据泄露</a:t>
                </a:r>
              </a:p>
            </p:txBody>
          </p:sp>
          <p:sp>
            <p:nvSpPr>
              <p:cNvPr id="343" name="TextBox 343"/>
              <p:cNvSpPr txBox="1"/>
              <p:nvPr/>
            </p:nvSpPr>
            <p:spPr>
              <a:xfrm>
                <a:off x="10225088" y="5855732"/>
                <a:ext cx="52646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敏感数据外泄</a:t>
                </a:r>
              </a:p>
            </p:txBody>
          </p:sp>
        </p:grpSp>
        <p:grpSp>
          <p:nvGrpSpPr>
            <p:cNvPr id="382" name="rr-defense"/>
            <p:cNvGrpSpPr/>
            <p:nvPr/>
          </p:nvGrpSpPr>
          <p:grpSpPr>
            <a:xfrm>
              <a:off x="190500" y="6096000"/>
              <a:ext cx="11811000" cy="476250"/>
              <a:chOff x="190500" y="6096000"/>
              <a:chExt cx="11811000" cy="476250"/>
            </a:xfrm>
          </p:grpSpPr>
          <p:sp>
            <p:nvSpPr>
              <p:cNvPr id="345" name="Rectangle 345"/>
              <p:cNvSpPr/>
              <p:nvPr/>
            </p:nvSpPr>
            <p:spPr>
              <a:xfrm>
                <a:off x="190500" y="6096000"/>
                <a:ext cx="11811000" cy="476250"/>
              </a:xfrm>
              <a:prstGeom prst="roundRect">
                <a:avLst>
                  <a:gd name="adj" fmla="val 12000"/>
                </a:avLst>
              </a:prstGeom>
              <a:solidFill>
                <a:srgbClr val="F6F9FD"/>
              </a:solidFill>
              <a:ln w="9525">
                <a:solidFill>
                  <a:srgbClr val="CFDFEE"/>
                </a:solidFill>
              </a:ln>
            </p:spPr>
          </p:sp>
          <p:sp>
            <p:nvSpPr>
              <p:cNvPr id="346" name="Rectangle 346"/>
              <p:cNvSpPr/>
              <p:nvPr/>
            </p:nvSpPr>
            <p:spPr>
              <a:xfrm>
                <a:off x="190500" y="6096000"/>
                <a:ext cx="914400" cy="476250"/>
              </a:xfrm>
              <a:prstGeom prst="roundRect">
                <a:avLst>
                  <a:gd name="adj" fmla="val 12000"/>
                </a:avLst>
              </a:prstGeom>
              <a:solidFill>
                <a:srgbClr val="6B1B0B"/>
              </a:solidFill>
              <a:ln>
                <a:noFill/>
              </a:ln>
            </p:spPr>
          </p:sp>
          <p:sp>
            <p:nvSpPr>
              <p:cNvPr id="347" name="Rectangle 347"/>
              <p:cNvSpPr/>
              <p:nvPr/>
            </p:nvSpPr>
            <p:spPr>
              <a:xfrm>
                <a:off x="1047750" y="6096000"/>
                <a:ext cx="57150" cy="476250"/>
              </a:xfrm>
              <a:prstGeom prst="rect">
                <a:avLst/>
              </a:prstGeom>
              <a:solidFill>
                <a:srgbClr val="6B1B0B"/>
              </a:solidFill>
              <a:ln>
                <a:noFill/>
              </a:ln>
            </p:spPr>
          </p:sp>
          <p:sp>
            <p:nvSpPr>
              <p:cNvPr id="348" name="TextBox 348"/>
              <p:cNvSpPr txBox="1"/>
              <p:nvPr/>
            </p:nvSpPr>
            <p:spPr>
              <a:xfrm>
                <a:off x="400622" y="62750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防线措施</a:t>
                </a:r>
              </a:p>
            </p:txBody>
          </p:sp>
          <p:grpSp>
            <p:nvGrpSpPr>
              <p:cNvPr id="351" name="Group 351"/>
              <p:cNvGrpSpPr/>
              <p:nvPr/>
            </p:nvGrpSpPr>
            <p:grpSpPr>
              <a:xfrm>
                <a:off x="1271710" y="6246019"/>
                <a:ext cx="170506" cy="157162"/>
                <a:chOff x="1271710" y="6246019"/>
                <a:chExt cx="170506" cy="157162"/>
              </a:xfrm>
            </p:grpSpPr>
            <p:sp>
              <p:nvSpPr>
                <p:cNvPr id="349" name="Freeform 349"/>
                <p:cNvSpPr/>
                <p:nvPr/>
              </p:nvSpPr>
              <p:spPr>
                <a:xfrm>
                  <a:off x="1271710" y="624601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92301C"/>
                  </a:solidFill>
                </a:ln>
              </p:spPr>
            </p:sp>
            <p:sp>
              <p:nvSpPr>
                <p:cNvPr id="350" name="Freeform 350"/>
                <p:cNvSpPr/>
                <p:nvPr/>
              </p:nvSpPr>
              <p:spPr>
                <a:xfrm>
                  <a:off x="1388269" y="6368256"/>
                  <a:ext cx="52388" cy="34925"/>
                </a:xfrm>
                <a:custGeom>
                  <a:avLst/>
                  <a:gdLst/>
                  <a:ahLst/>
                  <a:cxnLst/>
                  <a:rect l="l" t="t" r="r" b="b"/>
                  <a:pathLst>
                    <a:path w="52388" h="34925">
                      <a:moveTo>
                        <a:pt x="0" y="17463"/>
                      </a:moveTo>
                      <a:lnTo>
                        <a:pt x="17463" y="34925"/>
                      </a:lnTo>
                      <a:lnTo>
                        <a:pt x="52388" y="0"/>
                      </a:lnTo>
                    </a:path>
                  </a:pathLst>
                </a:custGeom>
                <a:noFill/>
                <a:ln w="17463">
                  <a:solidFill>
                    <a:srgbClr val="92301C"/>
                  </a:solidFill>
                </a:ln>
              </p:spPr>
            </p:sp>
          </p:grpSp>
          <p:sp>
            <p:nvSpPr>
              <p:cNvPr id="352" name="TextBox 352"/>
              <p:cNvSpPr txBox="1"/>
              <p:nvPr/>
            </p:nvSpPr>
            <p:spPr>
              <a:xfrm>
                <a:off x="1538288" y="62164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最小权限</a:t>
                </a:r>
              </a:p>
            </p:txBody>
          </p:sp>
          <p:sp>
            <p:nvSpPr>
              <p:cNvPr id="353" name="TextBox 353"/>
              <p:cNvSpPr txBox="1"/>
              <p:nvPr/>
            </p:nvSpPr>
            <p:spPr>
              <a:xfrm>
                <a:off x="1538288" y="6389132"/>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按需授予、动态收回</a:t>
                </a:r>
              </a:p>
            </p:txBody>
          </p:sp>
          <p:grpSp>
            <p:nvGrpSpPr>
              <p:cNvPr id="358" name="Group 358"/>
              <p:cNvGrpSpPr/>
              <p:nvPr/>
            </p:nvGrpSpPr>
            <p:grpSpPr>
              <a:xfrm>
                <a:off x="3463925" y="6246019"/>
                <a:ext cx="139700" cy="157163"/>
                <a:chOff x="3463925" y="6246019"/>
                <a:chExt cx="139700" cy="157163"/>
              </a:xfrm>
            </p:grpSpPr>
            <p:sp>
              <p:nvSpPr>
                <p:cNvPr id="354" name="Freeform 354"/>
                <p:cNvSpPr/>
                <p:nvPr/>
              </p:nvSpPr>
              <p:spPr>
                <a:xfrm>
                  <a:off x="3463925" y="6246019"/>
                  <a:ext cx="139700" cy="157163"/>
                </a:xfrm>
                <a:custGeom>
                  <a:avLst/>
                  <a:gdLst/>
                  <a:ahLst/>
                  <a:cxnLst/>
                  <a:rect l="l" t="t" r="r" b="b"/>
                  <a:pathLst>
                    <a:path w="139700" h="157163">
                      <a:moveTo>
                        <a:pt x="69850" y="0"/>
                      </a:moveTo>
                      <a:lnTo>
                        <a:pt x="139700" y="39291"/>
                      </a:lnTo>
                      <a:lnTo>
                        <a:pt x="139700" y="117872"/>
                      </a:lnTo>
                      <a:lnTo>
                        <a:pt x="69850" y="157163"/>
                      </a:lnTo>
                      <a:lnTo>
                        <a:pt x="0" y="117872"/>
                      </a:lnTo>
                      <a:lnTo>
                        <a:pt x="0" y="39291"/>
                      </a:lnTo>
                      <a:lnTo>
                        <a:pt x="69850" y="0"/>
                      </a:lnTo>
                    </a:path>
                  </a:pathLst>
                </a:custGeom>
                <a:noFill/>
                <a:ln w="17463">
                  <a:solidFill>
                    <a:srgbClr val="92301C"/>
                  </a:solidFill>
                </a:ln>
              </p:spPr>
            </p:sp>
            <p:sp>
              <p:nvSpPr>
                <p:cNvPr id="355" name="Freeform 355"/>
                <p:cNvSpPr/>
                <p:nvPr/>
              </p:nvSpPr>
              <p:spPr>
                <a:xfrm>
                  <a:off x="3533775" y="6285309"/>
                  <a:ext cx="69850" cy="39291"/>
                </a:xfrm>
                <a:custGeom>
                  <a:avLst/>
                  <a:gdLst/>
                  <a:ahLst/>
                  <a:cxnLst/>
                  <a:rect l="l" t="t" r="r" b="b"/>
                  <a:pathLst>
                    <a:path w="69850" h="39291">
                      <a:moveTo>
                        <a:pt x="0" y="39291"/>
                      </a:moveTo>
                      <a:lnTo>
                        <a:pt x="69850" y="0"/>
                      </a:lnTo>
                    </a:path>
                  </a:pathLst>
                </a:custGeom>
                <a:noFill/>
                <a:ln w="17463">
                  <a:solidFill>
                    <a:srgbClr val="92301C"/>
                  </a:solidFill>
                </a:ln>
              </p:spPr>
            </p:sp>
            <p:sp>
              <p:nvSpPr>
                <p:cNvPr id="356" name="Freeform 356"/>
                <p:cNvSpPr/>
                <p:nvPr/>
              </p:nvSpPr>
              <p:spPr>
                <a:xfrm>
                  <a:off x="3533775" y="6324600"/>
                  <a:ext cx="9525" cy="78581"/>
                </a:xfrm>
                <a:custGeom>
                  <a:avLst/>
                  <a:gdLst/>
                  <a:ahLst/>
                  <a:cxnLst/>
                  <a:rect l="l" t="t" r="r" b="b"/>
                  <a:pathLst>
                    <a:path w="9525" h="78581">
                      <a:moveTo>
                        <a:pt x="0" y="0"/>
                      </a:moveTo>
                      <a:lnTo>
                        <a:pt x="0" y="78581"/>
                      </a:lnTo>
                    </a:path>
                  </a:pathLst>
                </a:custGeom>
                <a:noFill/>
                <a:ln w="17463">
                  <a:solidFill>
                    <a:srgbClr val="92301C"/>
                  </a:solidFill>
                </a:ln>
              </p:spPr>
            </p:sp>
            <p:sp>
              <p:nvSpPr>
                <p:cNvPr id="357" name="Freeform 357"/>
                <p:cNvSpPr/>
                <p:nvPr/>
              </p:nvSpPr>
              <p:spPr>
                <a:xfrm>
                  <a:off x="3463925" y="6285309"/>
                  <a:ext cx="69850" cy="39291"/>
                </a:xfrm>
                <a:custGeom>
                  <a:avLst/>
                  <a:gdLst/>
                  <a:ahLst/>
                  <a:cxnLst/>
                  <a:rect l="l" t="t" r="r" b="b"/>
                  <a:pathLst>
                    <a:path w="69850" h="39291">
                      <a:moveTo>
                        <a:pt x="69850" y="39291"/>
                      </a:moveTo>
                      <a:lnTo>
                        <a:pt x="0" y="0"/>
                      </a:lnTo>
                    </a:path>
                  </a:pathLst>
                </a:custGeom>
                <a:noFill/>
                <a:ln w="17463">
                  <a:solidFill>
                    <a:srgbClr val="92301C"/>
                  </a:solidFill>
                </a:ln>
              </p:spPr>
            </p:sp>
          </p:grpSp>
          <p:sp>
            <p:nvSpPr>
              <p:cNvPr id="359" name="TextBox 359"/>
              <p:cNvSpPr txBox="1"/>
              <p:nvPr/>
            </p:nvSpPr>
            <p:spPr>
              <a:xfrm>
                <a:off x="3709988" y="62164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隔离沙箱</a:t>
                </a:r>
              </a:p>
            </p:txBody>
          </p:sp>
          <p:sp>
            <p:nvSpPr>
              <p:cNvPr id="360" name="TextBox 360"/>
              <p:cNvSpPr txBox="1"/>
              <p:nvPr/>
            </p:nvSpPr>
            <p:spPr>
              <a:xfrm>
                <a:off x="3709988" y="6389132"/>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限制网络与资源访问</a:t>
                </a:r>
              </a:p>
            </p:txBody>
          </p:sp>
          <p:grpSp>
            <p:nvGrpSpPr>
              <p:cNvPr id="367" name="Group 367"/>
              <p:cNvGrpSpPr/>
              <p:nvPr/>
            </p:nvGrpSpPr>
            <p:grpSpPr>
              <a:xfrm>
                <a:off x="5631259" y="6259116"/>
                <a:ext cx="144066" cy="127397"/>
                <a:chOff x="5631259" y="6259116"/>
                <a:chExt cx="144066" cy="127397"/>
              </a:xfrm>
            </p:grpSpPr>
            <p:sp>
              <p:nvSpPr>
                <p:cNvPr id="361" name="Freeform 361"/>
                <p:cNvSpPr/>
                <p:nvPr/>
              </p:nvSpPr>
              <p:spPr>
                <a:xfrm>
                  <a:off x="5631259" y="6259116"/>
                  <a:ext cx="34925" cy="21828"/>
                </a:xfrm>
                <a:custGeom>
                  <a:avLst/>
                  <a:gdLst/>
                  <a:ahLst/>
                  <a:cxnLst/>
                  <a:rect l="l" t="t" r="r" b="b"/>
                  <a:pathLst>
                    <a:path w="34925" h="21828">
                      <a:moveTo>
                        <a:pt x="0" y="8731"/>
                      </a:moveTo>
                      <a:lnTo>
                        <a:pt x="13097" y="21828"/>
                      </a:lnTo>
                      <a:lnTo>
                        <a:pt x="34925" y="0"/>
                      </a:lnTo>
                    </a:path>
                  </a:pathLst>
                </a:custGeom>
                <a:noFill/>
                <a:ln w="17463">
                  <a:solidFill>
                    <a:srgbClr val="92301C"/>
                  </a:solidFill>
                </a:ln>
              </p:spPr>
            </p:sp>
            <p:sp>
              <p:nvSpPr>
                <p:cNvPr id="362" name="Freeform 362"/>
                <p:cNvSpPr/>
                <p:nvPr/>
              </p:nvSpPr>
              <p:spPr>
                <a:xfrm>
                  <a:off x="5631259" y="6311503"/>
                  <a:ext cx="34925" cy="21828"/>
                </a:xfrm>
                <a:custGeom>
                  <a:avLst/>
                  <a:gdLst/>
                  <a:ahLst/>
                  <a:cxnLst/>
                  <a:rect l="l" t="t" r="r" b="b"/>
                  <a:pathLst>
                    <a:path w="34925" h="21828">
                      <a:moveTo>
                        <a:pt x="0" y="8731"/>
                      </a:moveTo>
                      <a:lnTo>
                        <a:pt x="13097" y="21828"/>
                      </a:lnTo>
                      <a:lnTo>
                        <a:pt x="34925" y="0"/>
                      </a:lnTo>
                    </a:path>
                  </a:pathLst>
                </a:custGeom>
                <a:noFill/>
                <a:ln w="17463">
                  <a:solidFill>
                    <a:srgbClr val="92301C"/>
                  </a:solidFill>
                </a:ln>
              </p:spPr>
            </p:sp>
            <p:sp>
              <p:nvSpPr>
                <p:cNvPr id="363" name="Freeform 363"/>
                <p:cNvSpPr/>
                <p:nvPr/>
              </p:nvSpPr>
              <p:spPr>
                <a:xfrm>
                  <a:off x="5631259" y="6363891"/>
                  <a:ext cx="34925" cy="21828"/>
                </a:xfrm>
                <a:custGeom>
                  <a:avLst/>
                  <a:gdLst/>
                  <a:ahLst/>
                  <a:cxnLst/>
                  <a:rect l="l" t="t" r="r" b="b"/>
                  <a:pathLst>
                    <a:path w="34925" h="21828">
                      <a:moveTo>
                        <a:pt x="0" y="8731"/>
                      </a:moveTo>
                      <a:lnTo>
                        <a:pt x="13097" y="21828"/>
                      </a:lnTo>
                      <a:lnTo>
                        <a:pt x="34925" y="0"/>
                      </a:lnTo>
                    </a:path>
                  </a:pathLst>
                </a:custGeom>
                <a:noFill/>
                <a:ln w="17463">
                  <a:solidFill>
                    <a:srgbClr val="92301C"/>
                  </a:solidFill>
                </a:ln>
              </p:spPr>
            </p:sp>
            <p:sp>
              <p:nvSpPr>
                <p:cNvPr id="364" name="Freeform 364"/>
                <p:cNvSpPr/>
                <p:nvPr/>
              </p:nvSpPr>
              <p:spPr>
                <a:xfrm>
                  <a:off x="5696744" y="6272213"/>
                  <a:ext cx="78581" cy="9525"/>
                </a:xfrm>
                <a:custGeom>
                  <a:avLst/>
                  <a:gdLst/>
                  <a:ahLst/>
                  <a:cxnLst/>
                  <a:rect l="l" t="t" r="r" b="b"/>
                  <a:pathLst>
                    <a:path w="78581" h="9525">
                      <a:moveTo>
                        <a:pt x="0" y="0"/>
                      </a:moveTo>
                      <a:lnTo>
                        <a:pt x="78581" y="0"/>
                      </a:lnTo>
                    </a:path>
                  </a:pathLst>
                </a:custGeom>
                <a:noFill/>
                <a:ln w="17463">
                  <a:solidFill>
                    <a:srgbClr val="92301C"/>
                  </a:solidFill>
                </a:ln>
              </p:spPr>
            </p:sp>
            <p:sp>
              <p:nvSpPr>
                <p:cNvPr id="365" name="Freeform 365"/>
                <p:cNvSpPr/>
                <p:nvPr/>
              </p:nvSpPr>
              <p:spPr>
                <a:xfrm>
                  <a:off x="5696744" y="6324600"/>
                  <a:ext cx="78581" cy="9525"/>
                </a:xfrm>
                <a:custGeom>
                  <a:avLst/>
                  <a:gdLst/>
                  <a:ahLst/>
                  <a:cxnLst/>
                  <a:rect l="l" t="t" r="r" b="b"/>
                  <a:pathLst>
                    <a:path w="78581" h="9525">
                      <a:moveTo>
                        <a:pt x="0" y="0"/>
                      </a:moveTo>
                      <a:lnTo>
                        <a:pt x="78581" y="0"/>
                      </a:lnTo>
                    </a:path>
                  </a:pathLst>
                </a:custGeom>
                <a:noFill/>
                <a:ln w="17463">
                  <a:solidFill>
                    <a:srgbClr val="92301C"/>
                  </a:solidFill>
                </a:ln>
              </p:spPr>
            </p:sp>
            <p:sp>
              <p:nvSpPr>
                <p:cNvPr id="366" name="Freeform 366"/>
                <p:cNvSpPr/>
                <p:nvPr/>
              </p:nvSpPr>
              <p:spPr>
                <a:xfrm>
                  <a:off x="5696744" y="6376988"/>
                  <a:ext cx="78581" cy="9525"/>
                </a:xfrm>
                <a:custGeom>
                  <a:avLst/>
                  <a:gdLst/>
                  <a:ahLst/>
                  <a:cxnLst/>
                  <a:rect l="l" t="t" r="r" b="b"/>
                  <a:pathLst>
                    <a:path w="78581" h="9525">
                      <a:moveTo>
                        <a:pt x="0" y="0"/>
                      </a:moveTo>
                      <a:lnTo>
                        <a:pt x="78581" y="0"/>
                      </a:lnTo>
                    </a:path>
                  </a:pathLst>
                </a:custGeom>
                <a:noFill/>
                <a:ln w="17463">
                  <a:solidFill>
                    <a:srgbClr val="92301C"/>
                  </a:solidFill>
                </a:ln>
              </p:spPr>
            </p:sp>
          </p:grpSp>
          <p:sp>
            <p:nvSpPr>
              <p:cNvPr id="368" name="TextBox 368"/>
              <p:cNvSpPr txBox="1"/>
              <p:nvPr/>
            </p:nvSpPr>
            <p:spPr>
              <a:xfrm>
                <a:off x="5881688" y="6216491"/>
                <a:ext cx="561467"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工具白名单</a:t>
                </a:r>
              </a:p>
            </p:txBody>
          </p:sp>
          <p:sp>
            <p:nvSpPr>
              <p:cNvPr id="369" name="TextBox 369"/>
              <p:cNvSpPr txBox="1"/>
              <p:nvPr/>
            </p:nvSpPr>
            <p:spPr>
              <a:xfrm>
                <a:off x="5881688" y="6389132"/>
                <a:ext cx="612623"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仅允许受控工具</a:t>
                </a:r>
              </a:p>
            </p:txBody>
          </p:sp>
          <p:grpSp>
            <p:nvGrpSpPr>
              <p:cNvPr id="372" name="Group 372"/>
              <p:cNvGrpSpPr/>
              <p:nvPr/>
            </p:nvGrpSpPr>
            <p:grpSpPr>
              <a:xfrm>
                <a:off x="7824788" y="6246019"/>
                <a:ext cx="104775" cy="157163"/>
                <a:chOff x="7824788" y="6246019"/>
                <a:chExt cx="104775" cy="157163"/>
              </a:xfrm>
            </p:grpSpPr>
            <p:sp>
              <p:nvSpPr>
                <p:cNvPr id="370" name="Freeform 370"/>
                <p:cNvSpPr/>
                <p:nvPr/>
              </p:nvSpPr>
              <p:spPr>
                <a:xfrm>
                  <a:off x="7842250" y="62460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92301C"/>
                  </a:solidFill>
                </a:ln>
              </p:spPr>
            </p:sp>
            <p:sp>
              <p:nvSpPr>
                <p:cNvPr id="371" name="Freeform 371"/>
                <p:cNvSpPr/>
                <p:nvPr/>
              </p:nvSpPr>
              <p:spPr>
                <a:xfrm>
                  <a:off x="7824788" y="635079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92301C"/>
                  </a:solidFill>
                </a:ln>
              </p:spPr>
            </p:sp>
          </p:grpSp>
          <p:sp>
            <p:nvSpPr>
              <p:cNvPr id="373" name="TextBox 373"/>
              <p:cNvSpPr txBox="1"/>
              <p:nvPr/>
            </p:nvSpPr>
            <p:spPr>
              <a:xfrm>
                <a:off x="8053388" y="62164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人工接管</a:t>
                </a:r>
              </a:p>
            </p:txBody>
          </p:sp>
          <p:sp>
            <p:nvSpPr>
              <p:cNvPr id="374" name="TextBox 374"/>
              <p:cNvSpPr txBox="1"/>
              <p:nvPr/>
            </p:nvSpPr>
            <p:spPr>
              <a:xfrm>
                <a:off x="8053388" y="6389132"/>
                <a:ext cx="957250"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重大操作由授权人员确认</a:t>
                </a:r>
              </a:p>
            </p:txBody>
          </p:sp>
          <p:grpSp>
            <p:nvGrpSpPr>
              <p:cNvPr id="379" name="Group 379"/>
              <p:cNvGrpSpPr/>
              <p:nvPr/>
            </p:nvGrpSpPr>
            <p:grpSpPr>
              <a:xfrm>
                <a:off x="9970294" y="6254750"/>
                <a:ext cx="157163" cy="139700"/>
                <a:chOff x="9970294" y="6254750"/>
                <a:chExt cx="157163" cy="139700"/>
              </a:xfrm>
            </p:grpSpPr>
            <p:sp>
              <p:nvSpPr>
                <p:cNvPr id="375" name="Freeform 375"/>
                <p:cNvSpPr/>
                <p:nvPr/>
              </p:nvSpPr>
              <p:spPr>
                <a:xfrm>
                  <a:off x="9970294" y="6254750"/>
                  <a:ext cx="157163" cy="69850"/>
                </a:xfrm>
                <a:custGeom>
                  <a:avLst/>
                  <a:gdLst/>
                  <a:ahLst/>
                  <a:cxnLst/>
                  <a:rect l="l" t="t" r="r" b="b"/>
                  <a:pathLst>
                    <a:path w="157163" h="69850">
                      <a:moveTo>
                        <a:pt x="0" y="26194"/>
                      </a:moveTo>
                      <a:cubicBezTo>
                        <a:pt x="0" y="11727"/>
                        <a:pt x="11727" y="0"/>
                        <a:pt x="26194" y="0"/>
                      </a:cubicBezTo>
                      <a:lnTo>
                        <a:pt x="130969" y="0"/>
                      </a:lnTo>
                      <a:cubicBezTo>
                        <a:pt x="145435" y="0"/>
                        <a:pt x="157163" y="11727"/>
                        <a:pt x="157163" y="26194"/>
                      </a:cubicBezTo>
                      <a:lnTo>
                        <a:pt x="157163" y="43656"/>
                      </a:lnTo>
                      <a:cubicBezTo>
                        <a:pt x="157163" y="58123"/>
                        <a:pt x="145435" y="69850"/>
                        <a:pt x="130969" y="69850"/>
                      </a:cubicBezTo>
                      <a:lnTo>
                        <a:pt x="26194" y="69850"/>
                      </a:lnTo>
                      <a:cubicBezTo>
                        <a:pt x="11727" y="69850"/>
                        <a:pt x="0" y="58123"/>
                        <a:pt x="0" y="43656"/>
                      </a:cubicBezTo>
                      <a:lnTo>
                        <a:pt x="0" y="26194"/>
                      </a:lnTo>
                    </a:path>
                  </a:pathLst>
                </a:custGeom>
                <a:noFill/>
                <a:ln w="17463">
                  <a:solidFill>
                    <a:srgbClr val="92301C"/>
                  </a:solidFill>
                </a:ln>
              </p:spPr>
            </p:sp>
            <p:sp>
              <p:nvSpPr>
                <p:cNvPr id="376" name="Freeform 376"/>
                <p:cNvSpPr/>
                <p:nvPr/>
              </p:nvSpPr>
              <p:spPr>
                <a:xfrm>
                  <a:off x="9970294" y="6324600"/>
                  <a:ext cx="157163" cy="69850"/>
                </a:xfrm>
                <a:custGeom>
                  <a:avLst/>
                  <a:gdLst/>
                  <a:ahLst/>
                  <a:cxnLst/>
                  <a:rect l="l" t="t" r="r" b="b"/>
                  <a:pathLst>
                    <a:path w="157163" h="69850">
                      <a:moveTo>
                        <a:pt x="0" y="26194"/>
                      </a:moveTo>
                      <a:cubicBezTo>
                        <a:pt x="0" y="11727"/>
                        <a:pt x="11727" y="0"/>
                        <a:pt x="26194" y="0"/>
                      </a:cubicBezTo>
                      <a:lnTo>
                        <a:pt x="130969" y="0"/>
                      </a:lnTo>
                      <a:cubicBezTo>
                        <a:pt x="145435" y="0"/>
                        <a:pt x="157163" y="11727"/>
                        <a:pt x="157163" y="26194"/>
                      </a:cubicBezTo>
                      <a:lnTo>
                        <a:pt x="157163" y="43656"/>
                      </a:lnTo>
                      <a:cubicBezTo>
                        <a:pt x="157163" y="58123"/>
                        <a:pt x="145435" y="69850"/>
                        <a:pt x="130969" y="69850"/>
                      </a:cubicBezTo>
                      <a:lnTo>
                        <a:pt x="26194" y="69850"/>
                      </a:lnTo>
                      <a:cubicBezTo>
                        <a:pt x="11727" y="69850"/>
                        <a:pt x="0" y="58123"/>
                        <a:pt x="0" y="43656"/>
                      </a:cubicBezTo>
                      <a:lnTo>
                        <a:pt x="0" y="26194"/>
                      </a:lnTo>
                    </a:path>
                  </a:pathLst>
                </a:custGeom>
                <a:noFill/>
                <a:ln w="17463">
                  <a:solidFill>
                    <a:srgbClr val="92301C"/>
                  </a:solidFill>
                </a:ln>
              </p:spPr>
            </p:sp>
            <p:sp>
              <p:nvSpPr>
                <p:cNvPr id="377" name="Freeform 377"/>
                <p:cNvSpPr/>
                <p:nvPr/>
              </p:nvSpPr>
              <p:spPr>
                <a:xfrm>
                  <a:off x="10005219" y="6289675"/>
                  <a:ext cx="9525" cy="9525"/>
                </a:xfrm>
                <a:custGeom>
                  <a:avLst/>
                  <a:gdLst/>
                  <a:ahLst/>
                  <a:cxnLst/>
                  <a:rect l="l" t="t" r="r" b="b"/>
                  <a:pathLst>
                    <a:path w="9525" h="9525">
                      <a:moveTo>
                        <a:pt x="0" y="0"/>
                      </a:moveTo>
                      <a:lnTo>
                        <a:pt x="0" y="87"/>
                      </a:lnTo>
                    </a:path>
                  </a:pathLst>
                </a:custGeom>
                <a:noFill/>
                <a:ln w="17463">
                  <a:solidFill>
                    <a:srgbClr val="92301C"/>
                  </a:solidFill>
                </a:ln>
              </p:spPr>
            </p:sp>
            <p:sp>
              <p:nvSpPr>
                <p:cNvPr id="378" name="Freeform 378"/>
                <p:cNvSpPr/>
                <p:nvPr/>
              </p:nvSpPr>
              <p:spPr>
                <a:xfrm>
                  <a:off x="10005219" y="6359525"/>
                  <a:ext cx="9525" cy="9525"/>
                </a:xfrm>
                <a:custGeom>
                  <a:avLst/>
                  <a:gdLst/>
                  <a:ahLst/>
                  <a:cxnLst/>
                  <a:rect l="l" t="t" r="r" b="b"/>
                  <a:pathLst>
                    <a:path w="9525" h="9525">
                      <a:moveTo>
                        <a:pt x="0" y="0"/>
                      </a:moveTo>
                      <a:lnTo>
                        <a:pt x="0" y="87"/>
                      </a:lnTo>
                    </a:path>
                  </a:pathLst>
                </a:custGeom>
                <a:noFill/>
                <a:ln w="17463">
                  <a:solidFill>
                    <a:srgbClr val="92301C"/>
                  </a:solidFill>
                </a:ln>
              </p:spPr>
            </p:sp>
          </p:grpSp>
          <p:sp>
            <p:nvSpPr>
              <p:cNvPr id="380" name="TextBox 380"/>
              <p:cNvSpPr txBox="1"/>
              <p:nvPr/>
            </p:nvSpPr>
            <p:spPr>
              <a:xfrm>
                <a:off x="10225088" y="6216491"/>
                <a:ext cx="451079" cy="161925"/>
              </a:xfrm>
              <a:prstGeom prst="rect">
                <a:avLst/>
              </a:prstGeom>
              <a:noFill/>
              <a:ln>
                <a:noFill/>
              </a:ln>
            </p:spPr>
            <p:txBody>
              <a:bodyPr wrap="none" lIns="0" tIns="0" rIns="0" bIns="0" anchor="t" anchorCtr="0">
                <a:spAutoFit/>
              </a:bodyPr>
              <a:lstStyle/>
              <a:p>
                <a:pPr algn="l"/>
                <a:r>
                  <a:rPr lang="zh-CN" sz="820" b="1" dirty="0">
                    <a:solidFill>
                      <a:srgbClr val="6B1B0B"/>
                    </a:solidFill>
                    <a:latin typeface="+mn-lt"/>
                    <a:ea typeface="+mn-ea"/>
                    <a:cs typeface="+mn-cs"/>
                  </a:rPr>
                  <a:t>灾备演练</a:t>
                </a:r>
              </a:p>
            </p:txBody>
          </p:sp>
          <p:sp>
            <p:nvSpPr>
              <p:cNvPr id="381" name="TextBox 381"/>
              <p:cNvSpPr txBox="1"/>
              <p:nvPr/>
            </p:nvSpPr>
            <p:spPr>
              <a:xfrm>
                <a:off x="10225088" y="6389132"/>
                <a:ext cx="784936" cy="126206"/>
              </a:xfrm>
              <a:prstGeom prst="rect">
                <a:avLst/>
              </a:prstGeom>
              <a:noFill/>
              <a:ln>
                <a:noFill/>
              </a:ln>
            </p:spPr>
            <p:txBody>
              <a:bodyPr wrap="none" lIns="0" tIns="0" rIns="0" bIns="0" anchor="t" anchorCtr="0">
                <a:spAutoFit/>
              </a:bodyPr>
              <a:lstStyle/>
              <a:p>
                <a:pPr algn="l"/>
                <a:r>
                  <a:rPr lang="zh-CN" sz="640" dirty="0">
                    <a:solidFill>
                      <a:srgbClr val="52352F"/>
                    </a:solidFill>
                    <a:latin typeface="+mn-lt"/>
                    <a:ea typeface="+mn-ea"/>
                    <a:cs typeface="+mn-cs"/>
                  </a:rPr>
                  <a:t>定期演练、快速恢复</a:t>
                </a:r>
              </a:p>
            </p:txBody>
          </p:sp>
        </p:grpSp>
      </p:grpSp>
      <p:grpSp>
        <p:nvGrpSpPr>
          <p:cNvPr id="387" name="footer-band"/>
          <p:cNvGrpSpPr/>
          <p:nvPr/>
        </p:nvGrpSpPr>
        <p:grpSpPr>
          <a:xfrm>
            <a:off x="190500" y="6610350"/>
            <a:ext cx="11811000" cy="231457"/>
            <a:chOff x="190500" y="6610350"/>
            <a:chExt cx="11811000" cy="231457"/>
          </a:xfrm>
        </p:grpSpPr>
        <p:sp>
          <p:nvSpPr>
            <p:cNvPr id="384" name="Rectangle 384"/>
            <p:cNvSpPr/>
            <p:nvPr/>
          </p:nvSpPr>
          <p:spPr>
            <a:xfrm>
              <a:off x="190500" y="6610350"/>
              <a:ext cx="11811000" cy="228600"/>
            </a:xfrm>
            <a:prstGeom prst="roundRect">
              <a:avLst>
                <a:gd name="adj" fmla="val 50000"/>
              </a:avLst>
            </a:prstGeom>
            <a:solidFill>
              <a:srgbClr val="EEF5FB"/>
            </a:solidFill>
            <a:ln>
              <a:noFill/>
            </a:ln>
          </p:spPr>
        </p:sp>
        <p:sp>
          <p:nvSpPr>
            <p:cNvPr id="385" name="Line 385"/>
            <p:cNvSpPr/>
            <p:nvPr/>
          </p:nvSpPr>
          <p:spPr>
            <a:xfrm>
              <a:off x="11544300" y="6657975"/>
              <a:ext cx="9525" cy="133350"/>
            </a:xfrm>
            <a:custGeom>
              <a:avLst/>
              <a:gdLst/>
              <a:ahLst/>
              <a:cxnLst/>
              <a:rect l="l" t="t" r="r" b="b"/>
              <a:pathLst>
                <a:path w="9525" h="133350">
                  <a:moveTo>
                    <a:pt x="0" y="0"/>
                  </a:moveTo>
                  <a:lnTo>
                    <a:pt x="0" y="133350"/>
                  </a:lnTo>
                </a:path>
              </a:pathLst>
            </a:custGeom>
            <a:noFill/>
            <a:ln w="9525">
              <a:solidFill>
                <a:srgbClr val="CFDFEE"/>
              </a:solidFill>
            </a:ln>
          </p:spPr>
        </p:sp>
        <p:sp>
          <p:nvSpPr>
            <p:cNvPr id="386" name="TextBox 386"/>
            <p:cNvSpPr txBox="1"/>
            <p:nvPr/>
          </p:nvSpPr>
          <p:spPr>
            <a:xfrm>
              <a:off x="11766711" y="6665595"/>
              <a:ext cx="144301" cy="176212"/>
            </a:xfrm>
            <a:prstGeom prst="rect">
              <a:avLst/>
            </a:prstGeom>
            <a:noFill/>
            <a:ln>
              <a:noFill/>
            </a:ln>
          </p:spPr>
          <p:txBody>
            <a:bodyPr wrap="none" lIns="0" tIns="0" rIns="0" bIns="0" anchor="t" anchorCtr="0">
              <a:spAutoFit/>
            </a:bodyPr>
            <a:lstStyle/>
            <a:p>
              <a:pPr algn="r"/>
              <a:r>
                <a:rPr lang="zh-CN" sz="900" b="1" dirty="0">
                  <a:solidFill>
                    <a:srgbClr val="6B1B0B"/>
                  </a:solidFill>
                  <a:latin typeface="+mj-lt"/>
                  <a:ea typeface="+mj-ea"/>
                  <a:cs typeface="+mj-cs"/>
                </a:rPr>
                <a:t>18</a:t>
              </a:r>
            </a:p>
          </p:txBody>
        </p:sp>
      </p:gr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wash"/>
          <p:cNvSpPr/>
          <p:nvPr/>
        </p:nvSpPr>
        <p:spPr>
          <a:xfrm>
            <a:off x="0" y="0"/>
            <a:ext cx="12192000" cy="1714500"/>
          </a:xfrm>
          <a:prstGeom prst="rect">
            <a:avLst/>
          </a:prstGeom>
          <a:gradFill>
            <a:gsLst>
              <a:gs pos="0">
                <a:srgbClr val="DDEBF7"/>
              </a:gs>
              <a:gs pos="100000">
                <a:srgbClr val="FFFFFF"/>
              </a:gs>
            </a:gsLst>
            <a:lin ang="5400000" scaled="1"/>
          </a:gradFill>
          <a:ln>
            <a:noFill/>
          </a:ln>
        </p:spPr>
      </p:sp>
      <p:grpSp>
        <p:nvGrpSpPr>
          <p:cNvPr id="7" name="cover-slogan"/>
          <p:cNvGrpSpPr/>
          <p:nvPr/>
        </p:nvGrpSpPr>
        <p:grpSpPr>
          <a:xfrm>
            <a:off x="171450" y="666750"/>
            <a:ext cx="929475" cy="838200"/>
            <a:chOff x="171450" y="666750"/>
            <a:chExt cx="929475" cy="838200"/>
          </a:xfrm>
        </p:grpSpPr>
        <p:sp>
          <p:nvSpPr>
            <p:cNvPr id="3" name="Rectangle 3"/>
            <p:cNvSpPr/>
            <p:nvPr/>
          </p:nvSpPr>
          <p:spPr>
            <a:xfrm>
              <a:off x="171450" y="666750"/>
              <a:ext cx="28575" cy="838200"/>
            </a:xfrm>
            <a:prstGeom prst="rect">
              <a:avLst/>
            </a:prstGeom>
            <a:solidFill>
              <a:srgbClr val="C4472E"/>
            </a:solidFill>
            <a:ln>
              <a:noFill/>
            </a:ln>
          </p:spPr>
        </p:sp>
        <p:sp>
          <p:nvSpPr>
            <p:cNvPr id="4" name="TextBox 4"/>
            <p:cNvSpPr txBox="1"/>
            <p:nvPr/>
          </p:nvSpPr>
          <p:spPr>
            <a:xfrm>
              <a:off x="280988" y="726043"/>
              <a:ext cx="472618" cy="169069"/>
            </a:xfrm>
            <a:prstGeom prst="rect">
              <a:avLst/>
            </a:prstGeom>
            <a:noFill/>
            <a:ln>
              <a:noFill/>
            </a:ln>
          </p:spPr>
          <p:txBody>
            <a:bodyPr wrap="none" lIns="0" tIns="0" rIns="0" bIns="0" anchor="t" anchorCtr="0">
              <a:spAutoFit/>
            </a:bodyPr>
            <a:lstStyle/>
            <a:p>
              <a:pPr algn="l"/>
              <a:r>
                <a:rPr lang="zh-CN" sz="860" b="1" dirty="0">
                  <a:solidFill>
                    <a:srgbClr val="9E311B"/>
                  </a:solidFill>
                  <a:latin typeface="+mn-lt"/>
                  <a:ea typeface="+mn-ea"/>
                  <a:cs typeface="+mn-cs"/>
                </a:rPr>
                <a:t>识别风险</a:t>
              </a:r>
            </a:p>
          </p:txBody>
        </p:sp>
        <p:sp>
          <p:nvSpPr>
            <p:cNvPr id="5" name="TextBox 5"/>
            <p:cNvSpPr txBox="1"/>
            <p:nvPr/>
          </p:nvSpPr>
          <p:spPr>
            <a:xfrm>
              <a:off x="280988" y="973693"/>
              <a:ext cx="472618" cy="169069"/>
            </a:xfrm>
            <a:prstGeom prst="rect">
              <a:avLst/>
            </a:prstGeom>
            <a:noFill/>
            <a:ln>
              <a:noFill/>
            </a:ln>
          </p:spPr>
          <p:txBody>
            <a:bodyPr wrap="none" lIns="0" tIns="0" rIns="0" bIns="0" anchor="t" anchorCtr="0">
              <a:spAutoFit/>
            </a:bodyPr>
            <a:lstStyle/>
            <a:p>
              <a:pPr algn="l"/>
              <a:r>
                <a:rPr lang="zh-CN" sz="860" b="1" dirty="0">
                  <a:solidFill>
                    <a:srgbClr val="9E311B"/>
                  </a:solidFill>
                  <a:latin typeface="+mn-lt"/>
                  <a:ea typeface="+mn-ea"/>
                  <a:cs typeface="+mn-cs"/>
                </a:rPr>
                <a:t>支持实体</a:t>
              </a:r>
            </a:p>
          </p:txBody>
        </p:sp>
        <p:sp>
          <p:nvSpPr>
            <p:cNvPr id="6" name="TextBox 6"/>
            <p:cNvSpPr txBox="1"/>
            <p:nvPr/>
          </p:nvSpPr>
          <p:spPr>
            <a:xfrm>
              <a:off x="280988" y="1221343"/>
              <a:ext cx="819937" cy="169069"/>
            </a:xfrm>
            <a:prstGeom prst="rect">
              <a:avLst/>
            </a:prstGeom>
            <a:noFill/>
            <a:ln>
              <a:noFill/>
            </a:ln>
          </p:spPr>
          <p:txBody>
            <a:bodyPr wrap="none" lIns="0" tIns="0" rIns="0" bIns="0" anchor="t" anchorCtr="0">
              <a:spAutoFit/>
            </a:bodyPr>
            <a:lstStyle/>
            <a:p>
              <a:pPr algn="l"/>
              <a:r>
                <a:rPr lang="zh-CN" sz="860" b="1" dirty="0">
                  <a:solidFill>
                    <a:srgbClr val="9E311B"/>
                  </a:solidFill>
                  <a:latin typeface="+mn-lt"/>
                  <a:ea typeface="+mn-ea"/>
                  <a:cs typeface="+mn-cs"/>
                </a:rPr>
                <a:t>助力高质量发展</a:t>
              </a:r>
            </a:p>
          </p:txBody>
        </p:sp>
      </p:grpSp>
      <p:grpSp>
        <p:nvGrpSpPr>
          <p:cNvPr id="12" name="cover-title"/>
          <p:cNvGrpSpPr/>
          <p:nvPr/>
        </p:nvGrpSpPr>
        <p:grpSpPr>
          <a:xfrm>
            <a:off x="4223766" y="696278"/>
            <a:ext cx="3458718" cy="1208484"/>
            <a:chOff x="4223766" y="696278"/>
            <a:chExt cx="3458718" cy="1208484"/>
          </a:xfrm>
        </p:grpSpPr>
        <p:sp>
          <p:nvSpPr>
            <p:cNvPr id="8" name="TextBox 8"/>
            <p:cNvSpPr txBox="1"/>
            <p:nvPr/>
          </p:nvSpPr>
          <p:spPr>
            <a:xfrm>
              <a:off x="4738688" y="696278"/>
              <a:ext cx="2428875" cy="498729"/>
            </a:xfrm>
            <a:prstGeom prst="rect">
              <a:avLst/>
            </a:prstGeom>
            <a:noFill/>
            <a:ln>
              <a:noFill/>
            </a:ln>
          </p:spPr>
          <p:txBody>
            <a:bodyPr wrap="none" lIns="0" tIns="0" rIns="0" bIns="0" anchor="t" anchorCtr="0">
              <a:spAutoFit/>
            </a:bodyPr>
            <a:lstStyle/>
            <a:p>
              <a:pPr algn="ctr"/>
              <a:r>
                <a:rPr lang="zh-CN" sz="2550" b="1" dirty="0">
                  <a:solidFill>
                    <a:srgbClr val="3E1810"/>
                  </a:solidFill>
                  <a:latin typeface="+mn-lt"/>
                  <a:ea typeface="+mn-ea"/>
                  <a:cs typeface="+mn-cs"/>
                </a:rPr>
                <a:t>模型做出来了，</a:t>
              </a:r>
            </a:p>
          </p:txBody>
        </p:sp>
        <p:sp>
          <p:nvSpPr>
            <p:cNvPr id="9" name="TextBox 9"/>
            <p:cNvSpPr txBox="1"/>
            <p:nvPr/>
          </p:nvSpPr>
          <p:spPr>
            <a:xfrm>
              <a:off x="4223766" y="1115378"/>
              <a:ext cx="3458718" cy="498729"/>
            </a:xfrm>
            <a:prstGeom prst="rect">
              <a:avLst/>
            </a:prstGeom>
            <a:noFill/>
            <a:ln>
              <a:noFill/>
            </a:ln>
          </p:spPr>
          <p:txBody>
            <a:bodyPr wrap="none" lIns="0" tIns="0" rIns="0" bIns="0" anchor="t" anchorCtr="0">
              <a:spAutoFit/>
            </a:bodyPr>
            <a:lstStyle/>
            <a:p>
              <a:pPr algn="ctr"/>
              <a:r>
                <a:rPr lang="zh-CN" sz="2550" b="1" dirty="0">
                  <a:solidFill>
                    <a:srgbClr val="3E1810"/>
                  </a:solidFill>
                  <a:latin typeface="+mn-lt"/>
                  <a:ea typeface="+mn-ea"/>
                  <a:cs typeface="+mn-cs"/>
                </a:rPr>
                <a:t>不等于评级体系建成了</a:t>
              </a:r>
            </a:p>
          </p:txBody>
        </p:sp>
        <p:sp>
          <p:nvSpPr>
            <p:cNvPr id="10" name="TextBox 10"/>
            <p:cNvSpPr txBox="1"/>
            <p:nvPr/>
          </p:nvSpPr>
          <p:spPr>
            <a:xfrm>
              <a:off x="4559084" y="1564243"/>
              <a:ext cx="2788082" cy="169069"/>
            </a:xfrm>
            <a:prstGeom prst="rect">
              <a:avLst/>
            </a:prstGeom>
            <a:noFill/>
            <a:ln>
              <a:noFill/>
            </a:ln>
          </p:spPr>
          <p:txBody>
            <a:bodyPr wrap="none" lIns="0" tIns="0" rIns="0" bIns="0" anchor="t" anchorCtr="0">
              <a:spAutoFit/>
            </a:bodyPr>
            <a:lstStyle/>
            <a:p>
              <a:pPr algn="ctr"/>
              <a:r>
                <a:rPr lang="zh-CN" sz="860" dirty="0">
                  <a:solidFill>
                    <a:srgbClr val="8C716B"/>
                  </a:solidFill>
                  <a:latin typeface="+mn-lt"/>
                  <a:ea typeface="+mn-ea"/>
                  <a:cs typeface="+mn-cs"/>
                </a:rPr>
                <a:t>一个真正可用、可持续、能创造价值的内部评级体系，</a:t>
              </a:r>
            </a:p>
          </p:txBody>
        </p:sp>
        <p:sp>
          <p:nvSpPr>
            <p:cNvPr id="11" name="TextBox 11"/>
            <p:cNvSpPr txBox="1"/>
            <p:nvPr/>
          </p:nvSpPr>
          <p:spPr>
            <a:xfrm>
              <a:off x="4674857" y="1735693"/>
              <a:ext cx="2556535" cy="169069"/>
            </a:xfrm>
            <a:prstGeom prst="rect">
              <a:avLst/>
            </a:prstGeom>
            <a:noFill/>
            <a:ln>
              <a:noFill/>
            </a:ln>
          </p:spPr>
          <p:txBody>
            <a:bodyPr wrap="none" lIns="0" tIns="0" rIns="0" bIns="0" anchor="t" anchorCtr="0">
              <a:spAutoFit/>
            </a:bodyPr>
            <a:lstStyle/>
            <a:p>
              <a:pPr algn="ctr"/>
              <a:r>
                <a:rPr lang="zh-CN" sz="860" dirty="0">
                  <a:solidFill>
                    <a:srgbClr val="8C716B"/>
                  </a:solidFill>
                  <a:latin typeface="+mn-lt"/>
                  <a:ea typeface="+mn-ea"/>
                  <a:cs typeface="+mn-cs"/>
                </a:rPr>
                <a:t>是从数据到应用的完整闭环，而不只是一个模型。</a:t>
              </a:r>
            </a:p>
          </p:txBody>
        </p:sp>
      </p:grpSp>
      <p:grpSp>
        <p:nvGrpSpPr>
          <p:cNvPr id="30" name="cover-route"/>
          <p:cNvGrpSpPr/>
          <p:nvPr/>
        </p:nvGrpSpPr>
        <p:grpSpPr>
          <a:xfrm>
            <a:off x="9863534" y="611427"/>
            <a:ext cx="1162283" cy="1319053"/>
            <a:chOff x="9863534" y="611427"/>
            <a:chExt cx="1162283" cy="1319053"/>
          </a:xfrm>
        </p:grpSpPr>
        <p:grpSp>
          <p:nvGrpSpPr>
            <p:cNvPr id="15" name="Group 15"/>
            <p:cNvGrpSpPr/>
            <p:nvPr/>
          </p:nvGrpSpPr>
          <p:grpSpPr>
            <a:xfrm>
              <a:off x="9863534" y="611427"/>
              <a:ext cx="94456" cy="120807"/>
              <a:chOff x="9863534" y="611427"/>
              <a:chExt cx="94456" cy="120807"/>
            </a:xfrm>
          </p:grpSpPr>
          <p:sp>
            <p:nvSpPr>
              <p:cNvPr id="13" name="Freeform 13"/>
              <p:cNvSpPr/>
              <p:nvPr/>
            </p:nvSpPr>
            <p:spPr>
              <a:xfrm>
                <a:off x="9863534" y="611427"/>
                <a:ext cx="94456" cy="86437"/>
              </a:xfrm>
              <a:custGeom>
                <a:avLst/>
                <a:gdLst/>
                <a:ahLst/>
                <a:cxnLst/>
                <a:rect l="l" t="t" r="r" b="b"/>
                <a:pathLst>
                  <a:path w="94456" h="86437">
                    <a:moveTo>
                      <a:pt x="0" y="12858"/>
                    </a:moveTo>
                    <a:cubicBezTo>
                      <a:pt x="13117" y="0"/>
                      <a:pt x="34111" y="0"/>
                      <a:pt x="47228" y="12858"/>
                    </a:cubicBezTo>
                    <a:cubicBezTo>
                      <a:pt x="60345" y="25715"/>
                      <a:pt x="81339" y="25715"/>
                      <a:pt x="94456" y="12858"/>
                    </a:cubicBezTo>
                    <a:lnTo>
                      <a:pt x="94456" y="73579"/>
                    </a:lnTo>
                    <a:cubicBezTo>
                      <a:pt x="81339" y="86437"/>
                      <a:pt x="60345" y="86437"/>
                      <a:pt x="47228" y="73579"/>
                    </a:cubicBezTo>
                    <a:cubicBezTo>
                      <a:pt x="34111" y="60722"/>
                      <a:pt x="13117" y="60722"/>
                      <a:pt x="0" y="73579"/>
                    </a:cubicBezTo>
                    <a:lnTo>
                      <a:pt x="0" y="12858"/>
                    </a:lnTo>
                  </a:path>
                </a:pathLst>
              </a:custGeom>
              <a:noFill/>
              <a:ln w="13494">
                <a:solidFill>
                  <a:srgbClr val="C8452F"/>
                </a:solidFill>
              </a:ln>
            </p:spPr>
          </p:sp>
          <p:sp>
            <p:nvSpPr>
              <p:cNvPr id="14" name="Freeform 14"/>
              <p:cNvSpPr/>
              <p:nvPr/>
            </p:nvSpPr>
            <p:spPr>
              <a:xfrm>
                <a:off x="9863534" y="685006"/>
                <a:ext cx="9525" cy="47228"/>
              </a:xfrm>
              <a:custGeom>
                <a:avLst/>
                <a:gdLst/>
                <a:ahLst/>
                <a:cxnLst/>
                <a:rect l="l" t="t" r="r" b="b"/>
                <a:pathLst>
                  <a:path w="9525" h="47228">
                    <a:moveTo>
                      <a:pt x="0" y="47228"/>
                    </a:moveTo>
                    <a:lnTo>
                      <a:pt x="0" y="0"/>
                    </a:lnTo>
                  </a:path>
                </a:pathLst>
              </a:custGeom>
              <a:noFill/>
              <a:ln w="13494">
                <a:solidFill>
                  <a:srgbClr val="C8452F"/>
                </a:solidFill>
              </a:ln>
            </p:spPr>
          </p:sp>
        </p:grpSp>
        <p:sp>
          <p:nvSpPr>
            <p:cNvPr id="16" name="TextBox 16"/>
            <p:cNvSpPr txBox="1"/>
            <p:nvPr/>
          </p:nvSpPr>
          <p:spPr>
            <a:xfrm>
              <a:off x="10053638" y="621268"/>
              <a:ext cx="972179" cy="169069"/>
            </a:xfrm>
            <a:prstGeom prst="rect">
              <a:avLst/>
            </a:prstGeom>
            <a:noFill/>
            <a:ln>
              <a:noFill/>
            </a:ln>
          </p:spPr>
          <p:txBody>
            <a:bodyPr wrap="none" lIns="0" tIns="0" rIns="0" bIns="0" anchor="t" anchorCtr="0">
              <a:spAutoFit/>
            </a:bodyPr>
            <a:lstStyle/>
            <a:p>
              <a:pPr algn="l"/>
              <a:r>
                <a:rPr lang="zh-CN" sz="860" b="1" dirty="0">
                  <a:solidFill>
                    <a:srgbClr val="9E311B"/>
                  </a:solidFill>
                  <a:latin typeface="+mn-lt"/>
                  <a:ea typeface="+mn-ea"/>
                  <a:cs typeface="+mn-cs"/>
                </a:rPr>
                <a:t>服务经营 创造价值</a:t>
              </a:r>
            </a:p>
          </p:txBody>
        </p:sp>
        <p:sp>
          <p:nvSpPr>
            <p:cNvPr id="17" name="Polyline 17"/>
            <p:cNvSpPr/>
            <p:nvPr/>
          </p:nvSpPr>
          <p:spPr>
            <a:xfrm>
              <a:off x="9906000" y="914400"/>
              <a:ext cx="9525" cy="952500"/>
            </a:xfrm>
            <a:custGeom>
              <a:avLst/>
              <a:gdLst/>
              <a:ahLst/>
              <a:cxnLst/>
              <a:rect l="l" t="t" r="r" b="b"/>
              <a:pathLst>
                <a:path w="9525" h="952500">
                  <a:moveTo>
                    <a:pt x="0" y="0"/>
                  </a:moveTo>
                  <a:lnTo>
                    <a:pt x="0" y="952500"/>
                  </a:lnTo>
                </a:path>
              </a:pathLst>
            </a:custGeom>
            <a:noFill/>
            <a:ln w="14288">
              <a:solidFill>
                <a:srgbClr val="DEAA9F"/>
              </a:solidFill>
              <a:custDash>
                <a:ds d="200000" sp="200000"/>
              </a:custDash>
            </a:ln>
          </p:spPr>
        </p:sp>
        <p:sp>
          <p:nvSpPr>
            <p:cNvPr id="18" name="Ellipse 18"/>
            <p:cNvSpPr/>
            <p:nvPr/>
          </p:nvSpPr>
          <p:spPr>
            <a:xfrm>
              <a:off x="9877425" y="847725"/>
              <a:ext cx="57150" cy="57150"/>
            </a:xfrm>
            <a:prstGeom prst="ellipse">
              <a:avLst/>
            </a:prstGeom>
            <a:solidFill>
              <a:srgbClr val="C4472E"/>
            </a:solidFill>
            <a:ln>
              <a:noFill/>
            </a:ln>
          </p:spPr>
        </p:sp>
        <p:sp>
          <p:nvSpPr>
            <p:cNvPr id="19" name="TextBox 19"/>
            <p:cNvSpPr txBox="1"/>
            <p:nvPr/>
          </p:nvSpPr>
          <p:spPr>
            <a:xfrm>
              <a:off x="10015538" y="837486"/>
              <a:ext cx="391846"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n-lt"/>
                  <a:ea typeface="+mn-ea"/>
                  <a:cs typeface="+mn-cs"/>
                </a:rPr>
                <a:t>应用落地</a:t>
              </a:r>
            </a:p>
          </p:txBody>
        </p:sp>
        <p:sp>
          <p:nvSpPr>
            <p:cNvPr id="20" name="Ellipse 20"/>
            <p:cNvSpPr/>
            <p:nvPr/>
          </p:nvSpPr>
          <p:spPr>
            <a:xfrm>
              <a:off x="9877425" y="1038225"/>
              <a:ext cx="57150" cy="57150"/>
            </a:xfrm>
            <a:prstGeom prst="ellipse">
              <a:avLst/>
            </a:prstGeom>
            <a:solidFill>
              <a:srgbClr val="C4472E"/>
            </a:solidFill>
            <a:ln>
              <a:noFill/>
            </a:ln>
          </p:spPr>
        </p:sp>
        <p:sp>
          <p:nvSpPr>
            <p:cNvPr id="21" name="TextBox 21"/>
            <p:cNvSpPr txBox="1"/>
            <p:nvPr/>
          </p:nvSpPr>
          <p:spPr>
            <a:xfrm>
              <a:off x="10015538" y="1027986"/>
              <a:ext cx="391846"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n-lt"/>
                  <a:ea typeface="+mn-ea"/>
                  <a:cs typeface="+mn-cs"/>
                </a:rPr>
                <a:t>治理完善</a:t>
              </a:r>
            </a:p>
          </p:txBody>
        </p:sp>
        <p:sp>
          <p:nvSpPr>
            <p:cNvPr id="22" name="Ellipse 22"/>
            <p:cNvSpPr/>
            <p:nvPr/>
          </p:nvSpPr>
          <p:spPr>
            <a:xfrm>
              <a:off x="9877425" y="1228725"/>
              <a:ext cx="57150" cy="57150"/>
            </a:xfrm>
            <a:prstGeom prst="ellipse">
              <a:avLst/>
            </a:prstGeom>
            <a:solidFill>
              <a:srgbClr val="C4472E"/>
            </a:solidFill>
            <a:ln>
              <a:noFill/>
            </a:ln>
          </p:spPr>
        </p:sp>
        <p:sp>
          <p:nvSpPr>
            <p:cNvPr id="23" name="TextBox 23"/>
            <p:cNvSpPr txBox="1"/>
            <p:nvPr/>
          </p:nvSpPr>
          <p:spPr>
            <a:xfrm>
              <a:off x="10015538" y="1218486"/>
              <a:ext cx="391846"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n-lt"/>
                  <a:ea typeface="+mn-ea"/>
                  <a:cs typeface="+mn-cs"/>
                </a:rPr>
                <a:t>持续监控</a:t>
              </a:r>
            </a:p>
          </p:txBody>
        </p:sp>
        <p:sp>
          <p:nvSpPr>
            <p:cNvPr id="24" name="Ellipse 24"/>
            <p:cNvSpPr/>
            <p:nvPr/>
          </p:nvSpPr>
          <p:spPr>
            <a:xfrm>
              <a:off x="9877425" y="1419225"/>
              <a:ext cx="57150" cy="57150"/>
            </a:xfrm>
            <a:prstGeom prst="ellipse">
              <a:avLst/>
            </a:prstGeom>
            <a:solidFill>
              <a:srgbClr val="C4472E"/>
            </a:solidFill>
            <a:ln>
              <a:noFill/>
            </a:ln>
          </p:spPr>
        </p:sp>
        <p:sp>
          <p:nvSpPr>
            <p:cNvPr id="25" name="TextBox 25"/>
            <p:cNvSpPr txBox="1"/>
            <p:nvPr/>
          </p:nvSpPr>
          <p:spPr>
            <a:xfrm>
              <a:off x="10015538" y="1408986"/>
              <a:ext cx="391846"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n-lt"/>
                  <a:ea typeface="+mn-ea"/>
                  <a:cs typeface="+mn-cs"/>
                </a:rPr>
                <a:t>体系建立</a:t>
              </a:r>
            </a:p>
          </p:txBody>
        </p:sp>
        <p:sp>
          <p:nvSpPr>
            <p:cNvPr id="26" name="Ellipse 26"/>
            <p:cNvSpPr/>
            <p:nvPr/>
          </p:nvSpPr>
          <p:spPr>
            <a:xfrm>
              <a:off x="9877425" y="1609725"/>
              <a:ext cx="57150" cy="57150"/>
            </a:xfrm>
            <a:prstGeom prst="ellipse">
              <a:avLst/>
            </a:prstGeom>
            <a:solidFill>
              <a:srgbClr val="C4472E"/>
            </a:solidFill>
            <a:ln>
              <a:noFill/>
            </a:ln>
          </p:spPr>
        </p:sp>
        <p:sp>
          <p:nvSpPr>
            <p:cNvPr id="27" name="TextBox 27"/>
            <p:cNvSpPr txBox="1"/>
            <p:nvPr/>
          </p:nvSpPr>
          <p:spPr>
            <a:xfrm>
              <a:off x="10015538" y="1599486"/>
              <a:ext cx="391846"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n-lt"/>
                  <a:ea typeface="+mn-ea"/>
                  <a:cs typeface="+mn-cs"/>
                </a:rPr>
                <a:t>模型开发</a:t>
              </a:r>
            </a:p>
          </p:txBody>
        </p:sp>
        <p:sp>
          <p:nvSpPr>
            <p:cNvPr id="28" name="Ellipse 28"/>
            <p:cNvSpPr/>
            <p:nvPr/>
          </p:nvSpPr>
          <p:spPr>
            <a:xfrm>
              <a:off x="9877425" y="1800225"/>
              <a:ext cx="57150" cy="57150"/>
            </a:xfrm>
            <a:prstGeom prst="ellipse">
              <a:avLst/>
            </a:prstGeom>
            <a:solidFill>
              <a:srgbClr val="C93416"/>
            </a:solidFill>
            <a:ln>
              <a:noFill/>
            </a:ln>
          </p:spPr>
        </p:sp>
        <p:sp>
          <p:nvSpPr>
            <p:cNvPr id="29" name="TextBox 29"/>
            <p:cNvSpPr txBox="1"/>
            <p:nvPr/>
          </p:nvSpPr>
          <p:spPr>
            <a:xfrm>
              <a:off x="10015538" y="1789986"/>
              <a:ext cx="391846"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n-lt"/>
                  <a:ea typeface="+mn-ea"/>
                  <a:cs typeface="+mn-cs"/>
                </a:rPr>
                <a:t>数据基础</a:t>
              </a:r>
            </a:p>
          </p:txBody>
        </p:sp>
      </p:grpSp>
      <p:grpSp>
        <p:nvGrpSpPr>
          <p:cNvPr id="33" name="band-seg-1"/>
          <p:cNvGrpSpPr/>
          <p:nvPr/>
        </p:nvGrpSpPr>
        <p:grpSpPr>
          <a:xfrm>
            <a:off x="190500" y="2047875"/>
            <a:ext cx="3867150" cy="285750"/>
            <a:chOff x="190500" y="2047875"/>
            <a:chExt cx="3867150" cy="285750"/>
          </a:xfrm>
        </p:grpSpPr>
        <p:sp>
          <p:nvSpPr>
            <p:cNvPr id="31" name="Freeform 31"/>
            <p:cNvSpPr/>
            <p:nvPr/>
          </p:nvSpPr>
          <p:spPr>
            <a:xfrm>
              <a:off x="190500" y="2047875"/>
              <a:ext cx="3867150" cy="285750"/>
            </a:xfrm>
            <a:prstGeom prst="homePlate">
              <a:avLst/>
            </a:prstGeom>
            <a:solidFill>
              <a:srgbClr val="D25C44"/>
            </a:solidFill>
            <a:ln>
              <a:noFill/>
            </a:ln>
          </p:spPr>
        </p:sp>
        <p:sp>
          <p:nvSpPr>
            <p:cNvPr id="32" name="TextBox 32"/>
            <p:cNvSpPr txBox="1"/>
            <p:nvPr/>
          </p:nvSpPr>
          <p:spPr>
            <a:xfrm>
              <a:off x="1590700" y="2133124"/>
              <a:ext cx="93339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风险识别与建模</a:t>
              </a:r>
            </a:p>
          </p:txBody>
        </p:sp>
      </p:grpSp>
      <p:grpSp>
        <p:nvGrpSpPr>
          <p:cNvPr id="36" name="band-seg-2"/>
          <p:cNvGrpSpPr/>
          <p:nvPr/>
        </p:nvGrpSpPr>
        <p:grpSpPr>
          <a:xfrm>
            <a:off x="4114800" y="2047875"/>
            <a:ext cx="3867150" cy="285750"/>
            <a:chOff x="4114800" y="2047875"/>
            <a:chExt cx="3867150" cy="285750"/>
          </a:xfrm>
        </p:grpSpPr>
        <p:sp>
          <p:nvSpPr>
            <p:cNvPr id="34" name="Freeform 34"/>
            <p:cNvSpPr/>
            <p:nvPr/>
          </p:nvSpPr>
          <p:spPr>
            <a:xfrm>
              <a:off x="4114800" y="2047875"/>
              <a:ext cx="3867150" cy="285750"/>
            </a:xfrm>
            <a:prstGeom prst="chevron">
              <a:avLst/>
            </a:prstGeom>
            <a:solidFill>
              <a:srgbClr val="D04A2F"/>
            </a:solidFill>
            <a:ln>
              <a:noFill/>
            </a:ln>
          </p:spPr>
        </p:sp>
        <p:sp>
          <p:nvSpPr>
            <p:cNvPr id="35" name="TextBox 35"/>
            <p:cNvSpPr txBox="1"/>
            <p:nvPr/>
          </p:nvSpPr>
          <p:spPr>
            <a:xfrm>
              <a:off x="5600725" y="2133124"/>
              <a:ext cx="93339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评级形成与决策</a:t>
              </a:r>
            </a:p>
          </p:txBody>
        </p:sp>
      </p:grpSp>
      <p:grpSp>
        <p:nvGrpSpPr>
          <p:cNvPr id="39" name="band-seg-3"/>
          <p:cNvGrpSpPr/>
          <p:nvPr/>
        </p:nvGrpSpPr>
        <p:grpSpPr>
          <a:xfrm>
            <a:off x="8039100" y="2047875"/>
            <a:ext cx="3962400" cy="285750"/>
            <a:chOff x="8039100" y="2047875"/>
            <a:chExt cx="3962400" cy="285750"/>
          </a:xfrm>
        </p:grpSpPr>
        <p:sp>
          <p:nvSpPr>
            <p:cNvPr id="37" name="Freeform 37"/>
            <p:cNvSpPr/>
            <p:nvPr/>
          </p:nvSpPr>
          <p:spPr>
            <a:xfrm>
              <a:off x="8039100" y="2047875"/>
              <a:ext cx="3962400" cy="285750"/>
            </a:xfrm>
            <a:prstGeom prst="chevron">
              <a:avLst/>
            </a:prstGeom>
            <a:solidFill>
              <a:srgbClr val="C93416"/>
            </a:solidFill>
            <a:ln>
              <a:noFill/>
            </a:ln>
          </p:spPr>
        </p:sp>
        <p:sp>
          <p:nvSpPr>
            <p:cNvPr id="38" name="TextBox 38"/>
            <p:cNvSpPr txBox="1"/>
            <p:nvPr/>
          </p:nvSpPr>
          <p:spPr>
            <a:xfrm>
              <a:off x="9572650" y="2133124"/>
              <a:ext cx="93339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应用与持续优化</a:t>
              </a:r>
            </a:p>
          </p:txBody>
        </p:sp>
      </p:grpSp>
      <p:grpSp>
        <p:nvGrpSpPr>
          <p:cNvPr id="50" name="node-01"/>
          <p:cNvGrpSpPr/>
          <p:nvPr/>
        </p:nvGrpSpPr>
        <p:grpSpPr>
          <a:xfrm>
            <a:off x="190500" y="2428875"/>
            <a:ext cx="1123950" cy="1619250"/>
            <a:chOff x="190500" y="2428875"/>
            <a:chExt cx="1123950" cy="1619250"/>
          </a:xfrm>
        </p:grpSpPr>
        <p:sp>
          <p:nvSpPr>
            <p:cNvPr id="40" name="Rectangle 40"/>
            <p:cNvSpPr/>
            <p:nvPr/>
          </p:nvSpPr>
          <p:spPr>
            <a:xfrm>
              <a:off x="190500" y="2428875"/>
              <a:ext cx="1123950" cy="1619250"/>
            </a:xfrm>
            <a:prstGeom prst="roundRect">
              <a:avLst>
                <a:gd name="adj" fmla="val 6780"/>
              </a:avLst>
            </a:prstGeom>
            <a:solidFill>
              <a:srgbClr val="F4F9FD"/>
            </a:solidFill>
            <a:ln w="9525">
              <a:solidFill>
                <a:srgbClr val="CFE2F2"/>
              </a:solidFill>
            </a:ln>
          </p:spPr>
        </p:sp>
        <p:grpSp>
          <p:nvGrpSpPr>
            <p:cNvPr id="44" name="Group 44"/>
            <p:cNvGrpSpPr/>
            <p:nvPr/>
          </p:nvGrpSpPr>
          <p:grpSpPr>
            <a:xfrm>
              <a:off x="682625" y="2540794"/>
              <a:ext cx="139700" cy="157162"/>
              <a:chOff x="682625" y="2540794"/>
              <a:chExt cx="139700" cy="157162"/>
            </a:xfrm>
          </p:grpSpPr>
          <p:sp>
            <p:nvSpPr>
              <p:cNvPr id="41" name="Freeform 41"/>
              <p:cNvSpPr/>
              <p:nvPr/>
            </p:nvSpPr>
            <p:spPr>
              <a:xfrm>
                <a:off x="682625" y="25407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C4472E"/>
                </a:solidFill>
              </a:ln>
            </p:spPr>
          </p:sp>
          <p:sp>
            <p:nvSpPr>
              <p:cNvPr id="42" name="Freeform 42"/>
              <p:cNvSpPr/>
              <p:nvPr/>
            </p:nvSpPr>
            <p:spPr>
              <a:xfrm>
                <a:off x="682625" y="25669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C4472E"/>
                </a:solidFill>
              </a:ln>
            </p:spPr>
          </p:sp>
          <p:sp>
            <p:nvSpPr>
              <p:cNvPr id="43" name="Freeform 43"/>
              <p:cNvSpPr/>
              <p:nvPr/>
            </p:nvSpPr>
            <p:spPr>
              <a:xfrm>
                <a:off x="682625" y="26193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C4472E"/>
                </a:solidFill>
              </a:ln>
            </p:spPr>
          </p:sp>
        </p:grpSp>
        <p:sp>
          <p:nvSpPr>
            <p:cNvPr id="45" name="TextBox 45"/>
            <p:cNvSpPr txBox="1"/>
            <p:nvPr/>
          </p:nvSpPr>
          <p:spPr>
            <a:xfrm>
              <a:off x="626554" y="2788920"/>
              <a:ext cx="251841"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数据</a:t>
              </a:r>
            </a:p>
          </p:txBody>
        </p:sp>
        <p:sp>
          <p:nvSpPr>
            <p:cNvPr id="46" name="TextBox 46"/>
            <p:cNvSpPr txBox="1"/>
            <p:nvPr/>
          </p:nvSpPr>
          <p:spPr>
            <a:xfrm>
              <a:off x="300038" y="29982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内部数据</a:t>
              </a:r>
            </a:p>
          </p:txBody>
        </p:sp>
        <p:sp>
          <p:nvSpPr>
            <p:cNvPr id="47" name="TextBox 47"/>
            <p:cNvSpPr txBox="1"/>
            <p:nvPr/>
          </p:nvSpPr>
          <p:spPr>
            <a:xfrm>
              <a:off x="300038" y="31506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外部数据</a:t>
              </a:r>
            </a:p>
          </p:txBody>
        </p:sp>
        <p:sp>
          <p:nvSpPr>
            <p:cNvPr id="48" name="TextBox 48"/>
            <p:cNvSpPr txBox="1"/>
            <p:nvPr/>
          </p:nvSpPr>
          <p:spPr>
            <a:xfrm>
              <a:off x="300038" y="33030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数据治理</a:t>
              </a:r>
            </a:p>
          </p:txBody>
        </p:sp>
        <p:sp>
          <p:nvSpPr>
            <p:cNvPr id="49" name="TextBox 49"/>
            <p:cNvSpPr txBox="1"/>
            <p:nvPr/>
          </p:nvSpPr>
          <p:spPr>
            <a:xfrm>
              <a:off x="6894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01</a:t>
              </a:r>
            </a:p>
          </p:txBody>
        </p:sp>
      </p:grpSp>
      <p:grpSp>
        <p:nvGrpSpPr>
          <p:cNvPr id="58" name="node-02"/>
          <p:cNvGrpSpPr/>
          <p:nvPr/>
        </p:nvGrpSpPr>
        <p:grpSpPr>
          <a:xfrm>
            <a:off x="1371600" y="2428875"/>
            <a:ext cx="1123950" cy="1619250"/>
            <a:chOff x="1371600" y="2428875"/>
            <a:chExt cx="1123950" cy="1619250"/>
          </a:xfrm>
        </p:grpSpPr>
        <p:sp>
          <p:nvSpPr>
            <p:cNvPr id="51" name="Rectangle 51"/>
            <p:cNvSpPr/>
            <p:nvPr/>
          </p:nvSpPr>
          <p:spPr>
            <a:xfrm>
              <a:off x="1371600" y="2428875"/>
              <a:ext cx="1123950" cy="1619250"/>
            </a:xfrm>
            <a:prstGeom prst="roundRect">
              <a:avLst>
                <a:gd name="adj" fmla="val 6780"/>
              </a:avLst>
            </a:prstGeom>
            <a:solidFill>
              <a:srgbClr val="F4F9FD"/>
            </a:solidFill>
            <a:ln w="9525">
              <a:solidFill>
                <a:srgbClr val="CFE2F2"/>
              </a:solidFill>
            </a:ln>
          </p:spPr>
        </p:sp>
        <p:sp>
          <p:nvSpPr>
            <p:cNvPr id="52" name="Freeform 52"/>
            <p:cNvSpPr/>
            <p:nvPr/>
          </p:nvSpPr>
          <p:spPr>
            <a:xfrm>
              <a:off x="1863725" y="2549525"/>
              <a:ext cx="139700" cy="148431"/>
            </a:xfrm>
            <a:custGeom>
              <a:avLst/>
              <a:gdLst/>
              <a:ahLst/>
              <a:cxnLst/>
              <a:rect l="l" t="t" r="r" b="b"/>
              <a:pathLst>
                <a:path w="139700" h="148431">
                  <a:moveTo>
                    <a:pt x="0" y="0"/>
                  </a:moveTo>
                  <a:lnTo>
                    <a:pt x="139700" y="0"/>
                  </a:lnTo>
                  <a:lnTo>
                    <a:pt x="139700" y="18964"/>
                  </a:lnTo>
                  <a:cubicBezTo>
                    <a:pt x="139699" y="23595"/>
                    <a:pt x="137859" y="28036"/>
                    <a:pt x="134584" y="31310"/>
                  </a:cubicBezTo>
                  <a:lnTo>
                    <a:pt x="96044" y="69850"/>
                  </a:lnTo>
                  <a:lnTo>
                    <a:pt x="96044" y="130969"/>
                  </a:lnTo>
                  <a:lnTo>
                    <a:pt x="43656" y="148431"/>
                  </a:lnTo>
                  <a:lnTo>
                    <a:pt x="43656" y="74216"/>
                  </a:lnTo>
                  <a:lnTo>
                    <a:pt x="4540" y="31188"/>
                  </a:lnTo>
                  <a:cubicBezTo>
                    <a:pt x="1619" y="27974"/>
                    <a:pt x="0" y="23787"/>
                    <a:pt x="0" y="19445"/>
                  </a:cubicBezTo>
                  <a:lnTo>
                    <a:pt x="0" y="0"/>
                  </a:lnTo>
                </a:path>
              </a:pathLst>
            </a:custGeom>
            <a:noFill/>
            <a:ln w="17463">
              <a:solidFill>
                <a:srgbClr val="C4472E"/>
              </a:solidFill>
            </a:ln>
          </p:spPr>
        </p:sp>
        <p:sp>
          <p:nvSpPr>
            <p:cNvPr id="53" name="TextBox 53"/>
            <p:cNvSpPr txBox="1"/>
            <p:nvPr/>
          </p:nvSpPr>
          <p:spPr>
            <a:xfrm>
              <a:off x="1686496" y="2788920"/>
              <a:ext cx="494157"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风险因子</a:t>
              </a:r>
            </a:p>
          </p:txBody>
        </p:sp>
        <p:sp>
          <p:nvSpPr>
            <p:cNvPr id="54" name="TextBox 54"/>
            <p:cNvSpPr txBox="1"/>
            <p:nvPr/>
          </p:nvSpPr>
          <p:spPr>
            <a:xfrm>
              <a:off x="1481138" y="29982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因子挖掘</a:t>
              </a:r>
            </a:p>
          </p:txBody>
        </p:sp>
        <p:sp>
          <p:nvSpPr>
            <p:cNvPr id="55" name="TextBox 55"/>
            <p:cNvSpPr txBox="1"/>
            <p:nvPr/>
          </p:nvSpPr>
          <p:spPr>
            <a:xfrm>
              <a:off x="1481138" y="31506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因子筛选</a:t>
              </a:r>
            </a:p>
          </p:txBody>
        </p:sp>
        <p:sp>
          <p:nvSpPr>
            <p:cNvPr id="56" name="TextBox 56"/>
            <p:cNvSpPr txBox="1"/>
            <p:nvPr/>
          </p:nvSpPr>
          <p:spPr>
            <a:xfrm>
              <a:off x="1481138" y="33030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因子监控</a:t>
              </a:r>
            </a:p>
          </p:txBody>
        </p:sp>
        <p:sp>
          <p:nvSpPr>
            <p:cNvPr id="57" name="TextBox 57"/>
            <p:cNvSpPr txBox="1"/>
            <p:nvPr/>
          </p:nvSpPr>
          <p:spPr>
            <a:xfrm>
              <a:off x="18705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02</a:t>
              </a:r>
            </a:p>
          </p:txBody>
        </p:sp>
      </p:grpSp>
      <p:grpSp>
        <p:nvGrpSpPr>
          <p:cNvPr id="68" name="node-03"/>
          <p:cNvGrpSpPr/>
          <p:nvPr/>
        </p:nvGrpSpPr>
        <p:grpSpPr>
          <a:xfrm>
            <a:off x="2552700" y="2428875"/>
            <a:ext cx="1123950" cy="1619250"/>
            <a:chOff x="2552700" y="2428875"/>
            <a:chExt cx="1123950" cy="1619250"/>
          </a:xfrm>
        </p:grpSpPr>
        <p:sp>
          <p:nvSpPr>
            <p:cNvPr id="59" name="Rectangle 59"/>
            <p:cNvSpPr/>
            <p:nvPr/>
          </p:nvSpPr>
          <p:spPr>
            <a:xfrm>
              <a:off x="2552700" y="2428875"/>
              <a:ext cx="1123950" cy="1619250"/>
            </a:xfrm>
            <a:prstGeom prst="roundRect">
              <a:avLst>
                <a:gd name="adj" fmla="val 6780"/>
              </a:avLst>
            </a:prstGeom>
            <a:solidFill>
              <a:srgbClr val="F4F9FD"/>
            </a:solidFill>
            <a:ln w="9525">
              <a:solidFill>
                <a:srgbClr val="CFE2F2"/>
              </a:solidFill>
            </a:ln>
          </p:spPr>
        </p:sp>
        <p:grpSp>
          <p:nvGrpSpPr>
            <p:cNvPr id="62" name="Group 62"/>
            <p:cNvGrpSpPr/>
            <p:nvPr/>
          </p:nvGrpSpPr>
          <p:grpSpPr>
            <a:xfrm>
              <a:off x="3032261" y="2536961"/>
              <a:ext cx="164829" cy="164829"/>
              <a:chOff x="3032261" y="2536961"/>
              <a:chExt cx="164829" cy="164829"/>
            </a:xfrm>
          </p:grpSpPr>
          <p:sp>
            <p:nvSpPr>
              <p:cNvPr id="60" name="Freeform 60"/>
              <p:cNvSpPr/>
              <p:nvPr/>
            </p:nvSpPr>
            <p:spPr>
              <a:xfrm>
                <a:off x="3032261" y="253696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C4472E"/>
                </a:solidFill>
              </a:ln>
            </p:spPr>
          </p:sp>
          <p:sp>
            <p:nvSpPr>
              <p:cNvPr id="61" name="Freeform 61"/>
              <p:cNvSpPr/>
              <p:nvPr/>
            </p:nvSpPr>
            <p:spPr>
              <a:xfrm>
                <a:off x="3088481" y="259318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C4472E"/>
                </a:solidFill>
              </a:ln>
            </p:spPr>
          </p:sp>
        </p:grpSp>
        <p:sp>
          <p:nvSpPr>
            <p:cNvPr id="63" name="TextBox 63"/>
            <p:cNvSpPr txBox="1"/>
            <p:nvPr/>
          </p:nvSpPr>
          <p:spPr>
            <a:xfrm>
              <a:off x="2867596" y="2788920"/>
              <a:ext cx="494157"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评级模型</a:t>
              </a:r>
            </a:p>
          </p:txBody>
        </p:sp>
        <p:sp>
          <p:nvSpPr>
            <p:cNvPr id="64" name="TextBox 64"/>
            <p:cNvSpPr txBox="1"/>
            <p:nvPr/>
          </p:nvSpPr>
          <p:spPr>
            <a:xfrm>
              <a:off x="2662238" y="29982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模型开发</a:t>
              </a:r>
            </a:p>
          </p:txBody>
        </p:sp>
        <p:sp>
          <p:nvSpPr>
            <p:cNvPr id="65" name="TextBox 65"/>
            <p:cNvSpPr txBox="1"/>
            <p:nvPr/>
          </p:nvSpPr>
          <p:spPr>
            <a:xfrm>
              <a:off x="2662238" y="31506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模型验证</a:t>
              </a:r>
            </a:p>
          </p:txBody>
        </p:sp>
        <p:sp>
          <p:nvSpPr>
            <p:cNvPr id="66" name="TextBox 66"/>
            <p:cNvSpPr txBox="1"/>
            <p:nvPr/>
          </p:nvSpPr>
          <p:spPr>
            <a:xfrm>
              <a:off x="2662238" y="3303032"/>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稳定性检验</a:t>
              </a:r>
            </a:p>
          </p:txBody>
        </p:sp>
        <p:sp>
          <p:nvSpPr>
            <p:cNvPr id="67" name="TextBox 67"/>
            <p:cNvSpPr txBox="1"/>
            <p:nvPr/>
          </p:nvSpPr>
          <p:spPr>
            <a:xfrm>
              <a:off x="30516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03</a:t>
              </a:r>
            </a:p>
          </p:txBody>
        </p:sp>
      </p:grpSp>
      <p:grpSp>
        <p:nvGrpSpPr>
          <p:cNvPr id="78" name="node-04"/>
          <p:cNvGrpSpPr/>
          <p:nvPr/>
        </p:nvGrpSpPr>
        <p:grpSpPr>
          <a:xfrm>
            <a:off x="3733800" y="2428875"/>
            <a:ext cx="1123950" cy="1619250"/>
            <a:chOff x="3733800" y="2428875"/>
            <a:chExt cx="1123950" cy="1619250"/>
          </a:xfrm>
        </p:grpSpPr>
        <p:sp>
          <p:nvSpPr>
            <p:cNvPr id="69" name="Rectangle 69"/>
            <p:cNvSpPr/>
            <p:nvPr/>
          </p:nvSpPr>
          <p:spPr>
            <a:xfrm>
              <a:off x="3733800" y="2428875"/>
              <a:ext cx="1123950" cy="1619250"/>
            </a:xfrm>
            <a:prstGeom prst="roundRect">
              <a:avLst>
                <a:gd name="adj" fmla="val 6780"/>
              </a:avLst>
            </a:prstGeom>
            <a:solidFill>
              <a:srgbClr val="F4F9FD"/>
            </a:solidFill>
            <a:ln w="9525">
              <a:solidFill>
                <a:srgbClr val="CFE2F2"/>
              </a:solidFill>
            </a:ln>
          </p:spPr>
        </p:sp>
        <p:grpSp>
          <p:nvGrpSpPr>
            <p:cNvPr id="72" name="Group 72"/>
            <p:cNvGrpSpPr/>
            <p:nvPr/>
          </p:nvGrpSpPr>
          <p:grpSpPr>
            <a:xfrm>
              <a:off x="4217194" y="2575719"/>
              <a:ext cx="157163" cy="87313"/>
              <a:chOff x="4217194" y="2575719"/>
              <a:chExt cx="157163" cy="87313"/>
            </a:xfrm>
          </p:grpSpPr>
          <p:sp>
            <p:nvSpPr>
              <p:cNvPr id="70" name="Freeform 70"/>
              <p:cNvSpPr/>
              <p:nvPr/>
            </p:nvSpPr>
            <p:spPr>
              <a:xfrm>
                <a:off x="4217194" y="257571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C4472E"/>
                </a:solidFill>
              </a:ln>
            </p:spPr>
          </p:sp>
          <p:sp>
            <p:nvSpPr>
              <p:cNvPr id="71" name="Freeform 71"/>
              <p:cNvSpPr/>
              <p:nvPr/>
            </p:nvSpPr>
            <p:spPr>
              <a:xfrm>
                <a:off x="4313238" y="2575719"/>
                <a:ext cx="61119" cy="61119"/>
              </a:xfrm>
              <a:custGeom>
                <a:avLst/>
                <a:gdLst/>
                <a:ahLst/>
                <a:cxnLst/>
                <a:rect l="l" t="t" r="r" b="b"/>
                <a:pathLst>
                  <a:path w="61119" h="61119">
                    <a:moveTo>
                      <a:pt x="0" y="0"/>
                    </a:moveTo>
                    <a:lnTo>
                      <a:pt x="61119" y="0"/>
                    </a:lnTo>
                    <a:lnTo>
                      <a:pt x="61119" y="61119"/>
                    </a:lnTo>
                  </a:path>
                </a:pathLst>
              </a:custGeom>
              <a:noFill/>
              <a:ln w="17463">
                <a:solidFill>
                  <a:srgbClr val="C4472E"/>
                </a:solidFill>
              </a:ln>
            </p:spPr>
          </p:sp>
        </p:grpSp>
        <p:sp>
          <p:nvSpPr>
            <p:cNvPr id="73" name="TextBox 73"/>
            <p:cNvSpPr txBox="1"/>
            <p:nvPr/>
          </p:nvSpPr>
          <p:spPr>
            <a:xfrm>
              <a:off x="3939783" y="2788920"/>
              <a:ext cx="711984"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PD违约概率​</a:t>
              </a:r>
            </a:p>
          </p:txBody>
        </p:sp>
        <p:sp>
          <p:nvSpPr>
            <p:cNvPr id="74" name="TextBox 74"/>
            <p:cNvSpPr txBox="1"/>
            <p:nvPr/>
          </p:nvSpPr>
          <p:spPr>
            <a:xfrm>
              <a:off x="3843338" y="29982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个体违约概率</a:t>
              </a:r>
            </a:p>
          </p:txBody>
        </p:sp>
        <p:sp>
          <p:nvSpPr>
            <p:cNvPr id="75" name="TextBox 75"/>
            <p:cNvSpPr txBox="1"/>
            <p:nvPr/>
          </p:nvSpPr>
          <p:spPr>
            <a:xfrm>
              <a:off x="3843338" y="31506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区分度与排序</a:t>
              </a:r>
            </a:p>
          </p:txBody>
        </p:sp>
        <p:sp>
          <p:nvSpPr>
            <p:cNvPr id="76" name="TextBox 76"/>
            <p:cNvSpPr txBox="1"/>
            <p:nvPr/>
          </p:nvSpPr>
          <p:spPr>
            <a:xfrm>
              <a:off x="3843338" y="33030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颗度校准</a:t>
              </a:r>
            </a:p>
          </p:txBody>
        </p:sp>
        <p:sp>
          <p:nvSpPr>
            <p:cNvPr id="77" name="TextBox 77"/>
            <p:cNvSpPr txBox="1"/>
            <p:nvPr/>
          </p:nvSpPr>
          <p:spPr>
            <a:xfrm>
              <a:off x="42327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04</a:t>
              </a:r>
            </a:p>
          </p:txBody>
        </p:sp>
      </p:grpSp>
      <p:grpSp>
        <p:nvGrpSpPr>
          <p:cNvPr id="91" name="node-05"/>
          <p:cNvGrpSpPr/>
          <p:nvPr/>
        </p:nvGrpSpPr>
        <p:grpSpPr>
          <a:xfrm>
            <a:off x="4914900" y="2428875"/>
            <a:ext cx="1123950" cy="1619250"/>
            <a:chOff x="4914900" y="2428875"/>
            <a:chExt cx="1123950" cy="1619250"/>
          </a:xfrm>
        </p:grpSpPr>
        <p:sp>
          <p:nvSpPr>
            <p:cNvPr id="79" name="Rectangle 79"/>
            <p:cNvSpPr/>
            <p:nvPr/>
          </p:nvSpPr>
          <p:spPr>
            <a:xfrm>
              <a:off x="4914900" y="2428875"/>
              <a:ext cx="1123950" cy="1619250"/>
            </a:xfrm>
            <a:prstGeom prst="roundRect">
              <a:avLst>
                <a:gd name="adj" fmla="val 6780"/>
              </a:avLst>
            </a:prstGeom>
            <a:solidFill>
              <a:srgbClr val="F4F9FD"/>
            </a:solidFill>
            <a:ln w="9525">
              <a:solidFill>
                <a:srgbClr val="CFE2F2"/>
              </a:solidFill>
            </a:ln>
          </p:spPr>
        </p:sp>
        <p:grpSp>
          <p:nvGrpSpPr>
            <p:cNvPr id="85" name="Group 85"/>
            <p:cNvGrpSpPr/>
            <p:nvPr/>
          </p:nvGrpSpPr>
          <p:grpSpPr>
            <a:xfrm>
              <a:off x="5398294" y="2540794"/>
              <a:ext cx="157163" cy="157956"/>
              <a:chOff x="5398294" y="2540794"/>
              <a:chExt cx="157163" cy="157956"/>
            </a:xfrm>
          </p:grpSpPr>
          <p:sp>
            <p:nvSpPr>
              <p:cNvPr id="80" name="Freeform 80"/>
              <p:cNvSpPr/>
              <p:nvPr/>
            </p:nvSpPr>
            <p:spPr>
              <a:xfrm>
                <a:off x="5433219" y="2689225"/>
                <a:ext cx="87313" cy="9525"/>
              </a:xfrm>
              <a:custGeom>
                <a:avLst/>
                <a:gdLst/>
                <a:ahLst/>
                <a:cxnLst/>
                <a:rect l="l" t="t" r="r" b="b"/>
                <a:pathLst>
                  <a:path w="87313" h="9525">
                    <a:moveTo>
                      <a:pt x="0" y="0"/>
                    </a:moveTo>
                    <a:lnTo>
                      <a:pt x="87313" y="0"/>
                    </a:lnTo>
                  </a:path>
                </a:pathLst>
              </a:custGeom>
              <a:noFill/>
              <a:ln w="17463">
                <a:solidFill>
                  <a:srgbClr val="C4472E"/>
                </a:solidFill>
              </a:ln>
            </p:spPr>
          </p:sp>
          <p:sp>
            <p:nvSpPr>
              <p:cNvPr id="81" name="Freeform 81"/>
              <p:cNvSpPr/>
              <p:nvPr/>
            </p:nvSpPr>
            <p:spPr>
              <a:xfrm>
                <a:off x="5424488" y="2558256"/>
                <a:ext cx="104775" cy="9525"/>
              </a:xfrm>
              <a:custGeom>
                <a:avLst/>
                <a:gdLst/>
                <a:ahLst/>
                <a:cxnLst/>
                <a:rect l="l" t="t" r="r" b="b"/>
                <a:pathLst>
                  <a:path w="104775" h="9525">
                    <a:moveTo>
                      <a:pt x="0" y="8731"/>
                    </a:moveTo>
                    <a:lnTo>
                      <a:pt x="52388" y="0"/>
                    </a:lnTo>
                    <a:lnTo>
                      <a:pt x="104775" y="8731"/>
                    </a:lnTo>
                  </a:path>
                </a:pathLst>
              </a:custGeom>
              <a:noFill/>
              <a:ln w="17463">
                <a:solidFill>
                  <a:srgbClr val="C4472E"/>
                </a:solidFill>
              </a:ln>
            </p:spPr>
          </p:sp>
          <p:sp>
            <p:nvSpPr>
              <p:cNvPr id="82" name="Freeform 82"/>
              <p:cNvSpPr/>
              <p:nvPr/>
            </p:nvSpPr>
            <p:spPr>
              <a:xfrm>
                <a:off x="5476875" y="2540794"/>
                <a:ext cx="9525" cy="148431"/>
              </a:xfrm>
              <a:custGeom>
                <a:avLst/>
                <a:gdLst/>
                <a:ahLst/>
                <a:cxnLst/>
                <a:rect l="l" t="t" r="r" b="b"/>
                <a:pathLst>
                  <a:path w="9525" h="148431">
                    <a:moveTo>
                      <a:pt x="0" y="0"/>
                    </a:moveTo>
                    <a:lnTo>
                      <a:pt x="0" y="148431"/>
                    </a:lnTo>
                  </a:path>
                </a:pathLst>
              </a:custGeom>
              <a:noFill/>
              <a:ln w="17463">
                <a:solidFill>
                  <a:srgbClr val="C4472E"/>
                </a:solidFill>
              </a:ln>
            </p:spPr>
          </p:sp>
          <p:sp>
            <p:nvSpPr>
              <p:cNvPr id="83" name="Freeform 83"/>
              <p:cNvSpPr/>
              <p:nvPr/>
            </p:nvSpPr>
            <p:spPr>
              <a:xfrm>
                <a:off x="5398294" y="2566988"/>
                <a:ext cx="52388" cy="78581"/>
              </a:xfrm>
              <a:custGeom>
                <a:avLst/>
                <a:gdLst/>
                <a:ahLst/>
                <a:cxnLst/>
                <a:rect l="l" t="t" r="r" b="b"/>
                <a:pathLst>
                  <a:path w="52388" h="78581">
                    <a:moveTo>
                      <a:pt x="52388" y="52388"/>
                    </a:moveTo>
                    <a:lnTo>
                      <a:pt x="26194" y="0"/>
                    </a:lnTo>
                    <a:lnTo>
                      <a:pt x="0" y="52388"/>
                    </a:lnTo>
                    <a:cubicBezTo>
                      <a:pt x="0" y="66854"/>
                      <a:pt x="11727" y="78581"/>
                      <a:pt x="26194" y="78581"/>
                    </a:cubicBezTo>
                    <a:cubicBezTo>
                      <a:pt x="40660" y="78581"/>
                      <a:pt x="52388" y="66854"/>
                      <a:pt x="52388" y="52388"/>
                    </a:cubicBezTo>
                  </a:path>
                </a:pathLst>
              </a:custGeom>
              <a:noFill/>
              <a:ln w="17463">
                <a:solidFill>
                  <a:srgbClr val="C4472E"/>
                </a:solidFill>
              </a:ln>
            </p:spPr>
          </p:sp>
          <p:sp>
            <p:nvSpPr>
              <p:cNvPr id="84" name="Freeform 84"/>
              <p:cNvSpPr/>
              <p:nvPr/>
            </p:nvSpPr>
            <p:spPr>
              <a:xfrm>
                <a:off x="5503069" y="2566988"/>
                <a:ext cx="52388" cy="78581"/>
              </a:xfrm>
              <a:custGeom>
                <a:avLst/>
                <a:gdLst/>
                <a:ahLst/>
                <a:cxnLst/>
                <a:rect l="l" t="t" r="r" b="b"/>
                <a:pathLst>
                  <a:path w="52388" h="78581">
                    <a:moveTo>
                      <a:pt x="52388" y="52388"/>
                    </a:moveTo>
                    <a:lnTo>
                      <a:pt x="26194" y="0"/>
                    </a:lnTo>
                    <a:lnTo>
                      <a:pt x="0" y="52388"/>
                    </a:lnTo>
                    <a:cubicBezTo>
                      <a:pt x="0" y="66854"/>
                      <a:pt x="11727" y="78581"/>
                      <a:pt x="26194" y="78581"/>
                    </a:cubicBezTo>
                    <a:cubicBezTo>
                      <a:pt x="40660" y="78581"/>
                      <a:pt x="52388" y="66854"/>
                      <a:pt x="52388" y="52388"/>
                    </a:cubicBezTo>
                  </a:path>
                </a:pathLst>
              </a:custGeom>
              <a:noFill/>
              <a:ln w="17463">
                <a:solidFill>
                  <a:srgbClr val="C4472E"/>
                </a:solidFill>
              </a:ln>
            </p:spPr>
          </p:sp>
        </p:grpSp>
        <p:sp>
          <p:nvSpPr>
            <p:cNvPr id="86" name="TextBox 86"/>
            <p:cNvSpPr txBox="1"/>
            <p:nvPr/>
          </p:nvSpPr>
          <p:spPr>
            <a:xfrm>
              <a:off x="5290376" y="2788920"/>
              <a:ext cx="372999"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主标尺</a:t>
              </a:r>
            </a:p>
          </p:txBody>
        </p:sp>
        <p:sp>
          <p:nvSpPr>
            <p:cNvPr id="87" name="TextBox 87"/>
            <p:cNvSpPr txBox="1"/>
            <p:nvPr/>
          </p:nvSpPr>
          <p:spPr>
            <a:xfrm>
              <a:off x="5024438" y="2998232"/>
              <a:ext cx="40556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PD映射​</a:t>
              </a:r>
            </a:p>
          </p:txBody>
        </p:sp>
        <p:sp>
          <p:nvSpPr>
            <p:cNvPr id="88" name="TextBox 88"/>
            <p:cNvSpPr txBox="1"/>
            <p:nvPr/>
          </p:nvSpPr>
          <p:spPr>
            <a:xfrm>
              <a:off x="5024438" y="31506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等级划分</a:t>
              </a:r>
            </a:p>
          </p:txBody>
        </p:sp>
        <p:sp>
          <p:nvSpPr>
            <p:cNvPr id="89" name="TextBox 89"/>
            <p:cNvSpPr txBox="1"/>
            <p:nvPr/>
          </p:nvSpPr>
          <p:spPr>
            <a:xfrm>
              <a:off x="5024438" y="33030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颗度校准</a:t>
              </a:r>
            </a:p>
          </p:txBody>
        </p:sp>
        <p:sp>
          <p:nvSpPr>
            <p:cNvPr id="90" name="TextBox 90"/>
            <p:cNvSpPr txBox="1"/>
            <p:nvPr/>
          </p:nvSpPr>
          <p:spPr>
            <a:xfrm>
              <a:off x="54138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05</a:t>
              </a:r>
            </a:p>
          </p:txBody>
        </p:sp>
      </p:grpSp>
      <p:grpSp>
        <p:nvGrpSpPr>
          <p:cNvPr id="102" name="node-06"/>
          <p:cNvGrpSpPr/>
          <p:nvPr/>
        </p:nvGrpSpPr>
        <p:grpSpPr>
          <a:xfrm>
            <a:off x="6096000" y="2428875"/>
            <a:ext cx="1123950" cy="1619250"/>
            <a:chOff x="6096000" y="2428875"/>
            <a:chExt cx="1123950" cy="1619250"/>
          </a:xfrm>
        </p:grpSpPr>
        <p:sp>
          <p:nvSpPr>
            <p:cNvPr id="92" name="Rectangle 92"/>
            <p:cNvSpPr/>
            <p:nvPr/>
          </p:nvSpPr>
          <p:spPr>
            <a:xfrm>
              <a:off x="6096000" y="2428875"/>
              <a:ext cx="1123950" cy="1619250"/>
            </a:xfrm>
            <a:prstGeom prst="roundRect">
              <a:avLst>
                <a:gd name="adj" fmla="val 6780"/>
              </a:avLst>
            </a:prstGeom>
            <a:solidFill>
              <a:srgbClr val="F4F9FD"/>
            </a:solidFill>
            <a:ln w="9525">
              <a:solidFill>
                <a:srgbClr val="CFE2F2"/>
              </a:solidFill>
            </a:ln>
          </p:spPr>
        </p:sp>
        <p:grpSp>
          <p:nvGrpSpPr>
            <p:cNvPr id="96" name="Group 96"/>
            <p:cNvGrpSpPr/>
            <p:nvPr/>
          </p:nvGrpSpPr>
          <p:grpSpPr>
            <a:xfrm>
              <a:off x="6582904" y="2540794"/>
              <a:ext cx="150125" cy="156202"/>
              <a:chOff x="6582904" y="2540794"/>
              <a:chExt cx="150125" cy="156202"/>
            </a:xfrm>
          </p:grpSpPr>
          <p:sp>
            <p:nvSpPr>
              <p:cNvPr id="93" name="Freeform 93"/>
              <p:cNvSpPr/>
              <p:nvPr/>
            </p:nvSpPr>
            <p:spPr>
              <a:xfrm>
                <a:off x="6605588" y="2540794"/>
                <a:ext cx="104775" cy="104775"/>
              </a:xfrm>
              <a:custGeom>
                <a:avLst/>
                <a:gdLst/>
                <a:ahLst/>
                <a:cxnLst/>
                <a:rect l="l" t="t" r="r" b="b"/>
                <a:pathLst>
                  <a:path w="104775" h="104775">
                    <a:moveTo>
                      <a:pt x="0" y="52388"/>
                    </a:moveTo>
                    <a:cubicBezTo>
                      <a:pt x="0" y="81320"/>
                      <a:pt x="23455" y="104775"/>
                      <a:pt x="52388" y="104775"/>
                    </a:cubicBezTo>
                    <a:cubicBezTo>
                      <a:pt x="81320" y="104775"/>
                      <a:pt x="104775" y="81320"/>
                      <a:pt x="104775" y="52388"/>
                    </a:cubicBezTo>
                    <a:cubicBezTo>
                      <a:pt x="104775" y="23455"/>
                      <a:pt x="81320" y="0"/>
                      <a:pt x="52388" y="0"/>
                    </a:cubicBezTo>
                    <a:cubicBezTo>
                      <a:pt x="23455" y="0"/>
                      <a:pt x="0" y="23455"/>
                      <a:pt x="0" y="52388"/>
                    </a:cubicBezTo>
                  </a:path>
                </a:pathLst>
              </a:custGeom>
              <a:noFill/>
              <a:ln w="17463">
                <a:solidFill>
                  <a:srgbClr val="C4472E"/>
                </a:solidFill>
              </a:ln>
            </p:spPr>
          </p:sp>
          <p:sp>
            <p:nvSpPr>
              <p:cNvPr id="94" name="Freeform 94"/>
              <p:cNvSpPr/>
              <p:nvPr/>
            </p:nvSpPr>
            <p:spPr>
              <a:xfrm>
                <a:off x="6657975" y="2619375"/>
                <a:ext cx="75054" cy="77621"/>
              </a:xfrm>
              <a:custGeom>
                <a:avLst/>
                <a:gdLst/>
                <a:ahLst/>
                <a:cxnLst/>
                <a:rect l="l" t="t" r="r" b="b"/>
                <a:pathLst>
                  <a:path w="75054" h="77621">
                    <a:moveTo>
                      <a:pt x="0" y="26194"/>
                    </a:moveTo>
                    <a:lnTo>
                      <a:pt x="29686" y="77621"/>
                    </a:lnTo>
                    <a:lnTo>
                      <a:pt x="43639" y="49393"/>
                    </a:lnTo>
                    <a:lnTo>
                      <a:pt x="75054" y="51418"/>
                    </a:lnTo>
                    <a:lnTo>
                      <a:pt x="45368" y="0"/>
                    </a:lnTo>
                  </a:path>
                </a:pathLst>
              </a:custGeom>
              <a:noFill/>
              <a:ln w="17463">
                <a:solidFill>
                  <a:srgbClr val="C4472E"/>
                </a:solidFill>
              </a:ln>
            </p:spPr>
          </p:sp>
          <p:sp>
            <p:nvSpPr>
              <p:cNvPr id="95" name="Freeform 95"/>
              <p:cNvSpPr/>
              <p:nvPr/>
            </p:nvSpPr>
            <p:spPr>
              <a:xfrm>
                <a:off x="6582904" y="2619375"/>
                <a:ext cx="75054" cy="77612"/>
              </a:xfrm>
              <a:custGeom>
                <a:avLst/>
                <a:gdLst/>
                <a:ahLst/>
                <a:cxnLst/>
                <a:rect l="l" t="t" r="r" b="b"/>
                <a:pathLst>
                  <a:path w="75054" h="77612">
                    <a:moveTo>
                      <a:pt x="29686" y="0"/>
                    </a:moveTo>
                    <a:lnTo>
                      <a:pt x="0" y="51427"/>
                    </a:lnTo>
                    <a:lnTo>
                      <a:pt x="31415" y="49393"/>
                    </a:lnTo>
                    <a:lnTo>
                      <a:pt x="45368" y="77612"/>
                    </a:lnTo>
                    <a:lnTo>
                      <a:pt x="75054" y="26194"/>
                    </a:lnTo>
                  </a:path>
                </a:pathLst>
              </a:custGeom>
              <a:noFill/>
              <a:ln w="17463">
                <a:solidFill>
                  <a:srgbClr val="C4472E"/>
                </a:solidFill>
              </a:ln>
            </p:spPr>
          </p:sp>
        </p:grpSp>
        <p:sp>
          <p:nvSpPr>
            <p:cNvPr id="97" name="TextBox 97"/>
            <p:cNvSpPr txBox="1"/>
            <p:nvPr/>
          </p:nvSpPr>
          <p:spPr>
            <a:xfrm>
              <a:off x="6410896" y="2788920"/>
              <a:ext cx="494157"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评级等级</a:t>
              </a:r>
            </a:p>
          </p:txBody>
        </p:sp>
        <p:sp>
          <p:nvSpPr>
            <p:cNvPr id="98" name="TextBox 98"/>
            <p:cNvSpPr txBox="1"/>
            <p:nvPr/>
          </p:nvSpPr>
          <p:spPr>
            <a:xfrm>
              <a:off x="6205538" y="29982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最终评级结果</a:t>
              </a:r>
            </a:p>
          </p:txBody>
        </p:sp>
        <p:sp>
          <p:nvSpPr>
            <p:cNvPr id="99" name="TextBox 99"/>
            <p:cNvSpPr txBox="1"/>
            <p:nvPr/>
          </p:nvSpPr>
          <p:spPr>
            <a:xfrm>
              <a:off x="6205538" y="31506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风险含义一致</a:t>
              </a:r>
            </a:p>
          </p:txBody>
        </p:sp>
        <p:sp>
          <p:nvSpPr>
            <p:cNvPr id="100" name="TextBox 100"/>
            <p:cNvSpPr txBox="1"/>
            <p:nvPr/>
          </p:nvSpPr>
          <p:spPr>
            <a:xfrm>
              <a:off x="6205538" y="33030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全行统一标准</a:t>
              </a:r>
            </a:p>
          </p:txBody>
        </p:sp>
        <p:sp>
          <p:nvSpPr>
            <p:cNvPr id="101" name="TextBox 101"/>
            <p:cNvSpPr txBox="1"/>
            <p:nvPr/>
          </p:nvSpPr>
          <p:spPr>
            <a:xfrm>
              <a:off x="65949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06</a:t>
              </a:r>
            </a:p>
          </p:txBody>
        </p:sp>
      </p:grpSp>
      <p:grpSp>
        <p:nvGrpSpPr>
          <p:cNvPr id="113" name="node-07"/>
          <p:cNvGrpSpPr/>
          <p:nvPr/>
        </p:nvGrpSpPr>
        <p:grpSpPr>
          <a:xfrm>
            <a:off x="7277100" y="2428875"/>
            <a:ext cx="1123950" cy="1619250"/>
            <a:chOff x="7277100" y="2428875"/>
            <a:chExt cx="1123950" cy="1619250"/>
          </a:xfrm>
        </p:grpSpPr>
        <p:sp>
          <p:nvSpPr>
            <p:cNvPr id="103" name="Rectangle 103"/>
            <p:cNvSpPr/>
            <p:nvPr/>
          </p:nvSpPr>
          <p:spPr>
            <a:xfrm>
              <a:off x="7277100" y="2428875"/>
              <a:ext cx="1123950" cy="1619250"/>
            </a:xfrm>
            <a:prstGeom prst="roundRect">
              <a:avLst>
                <a:gd name="adj" fmla="val 6780"/>
              </a:avLst>
            </a:prstGeom>
            <a:solidFill>
              <a:srgbClr val="F4F9FD"/>
            </a:solidFill>
            <a:ln w="9525">
              <a:solidFill>
                <a:srgbClr val="CFE2F2"/>
              </a:solidFill>
            </a:ln>
          </p:spPr>
        </p:sp>
        <p:grpSp>
          <p:nvGrpSpPr>
            <p:cNvPr id="107" name="Group 107"/>
            <p:cNvGrpSpPr/>
            <p:nvPr/>
          </p:nvGrpSpPr>
          <p:grpSpPr>
            <a:xfrm>
              <a:off x="7786688" y="2540794"/>
              <a:ext cx="130969" cy="157163"/>
              <a:chOff x="7786688" y="2540794"/>
              <a:chExt cx="130969" cy="157163"/>
            </a:xfrm>
          </p:grpSpPr>
          <p:sp>
            <p:nvSpPr>
              <p:cNvPr id="104" name="Freeform 104"/>
              <p:cNvSpPr/>
              <p:nvPr/>
            </p:nvSpPr>
            <p:spPr>
              <a:xfrm>
                <a:off x="7804150" y="25407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C4472E"/>
                </a:solidFill>
              </a:ln>
            </p:spPr>
          </p:sp>
          <p:sp>
            <p:nvSpPr>
              <p:cNvPr id="105" name="Freeform 105"/>
              <p:cNvSpPr/>
              <p:nvPr/>
            </p:nvSpPr>
            <p:spPr>
              <a:xfrm>
                <a:off x="7786688" y="26455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C4472E"/>
                </a:solidFill>
              </a:ln>
            </p:spPr>
          </p:sp>
          <p:sp>
            <p:nvSpPr>
              <p:cNvPr id="106" name="Freeform 106"/>
              <p:cNvSpPr/>
              <p:nvPr/>
            </p:nvSpPr>
            <p:spPr>
              <a:xfrm>
                <a:off x="7865269" y="2663031"/>
                <a:ext cx="52388" cy="34925"/>
              </a:xfrm>
              <a:custGeom>
                <a:avLst/>
                <a:gdLst/>
                <a:ahLst/>
                <a:cxnLst/>
                <a:rect l="l" t="t" r="r" b="b"/>
                <a:pathLst>
                  <a:path w="52388" h="34925">
                    <a:moveTo>
                      <a:pt x="0" y="17463"/>
                    </a:moveTo>
                    <a:lnTo>
                      <a:pt x="17463" y="34925"/>
                    </a:lnTo>
                    <a:lnTo>
                      <a:pt x="52388" y="0"/>
                    </a:lnTo>
                  </a:path>
                </a:pathLst>
              </a:custGeom>
              <a:noFill/>
              <a:ln w="17463">
                <a:solidFill>
                  <a:srgbClr val="C4472E"/>
                </a:solidFill>
              </a:ln>
            </p:spPr>
          </p:sp>
        </p:grpSp>
        <p:sp>
          <p:nvSpPr>
            <p:cNvPr id="108" name="TextBox 108"/>
            <p:cNvSpPr txBox="1"/>
            <p:nvPr/>
          </p:nvSpPr>
          <p:spPr>
            <a:xfrm>
              <a:off x="7591996" y="2788920"/>
              <a:ext cx="494157"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人工推翻</a:t>
              </a:r>
            </a:p>
          </p:txBody>
        </p:sp>
        <p:sp>
          <p:nvSpPr>
            <p:cNvPr id="109" name="TextBox 109"/>
            <p:cNvSpPr txBox="1"/>
            <p:nvPr/>
          </p:nvSpPr>
          <p:spPr>
            <a:xfrm>
              <a:off x="7386638" y="29982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专家判断</a:t>
              </a:r>
            </a:p>
          </p:txBody>
        </p:sp>
        <p:sp>
          <p:nvSpPr>
            <p:cNvPr id="110" name="TextBox 110"/>
            <p:cNvSpPr txBox="1"/>
            <p:nvPr/>
          </p:nvSpPr>
          <p:spPr>
            <a:xfrm>
              <a:off x="7386638" y="31506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调整理由</a:t>
              </a:r>
            </a:p>
          </p:txBody>
        </p:sp>
        <p:sp>
          <p:nvSpPr>
            <p:cNvPr id="111" name="TextBox 111"/>
            <p:cNvSpPr txBox="1"/>
            <p:nvPr/>
          </p:nvSpPr>
          <p:spPr>
            <a:xfrm>
              <a:off x="7386638" y="33030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留痕管理</a:t>
              </a:r>
            </a:p>
          </p:txBody>
        </p:sp>
        <p:sp>
          <p:nvSpPr>
            <p:cNvPr id="112" name="TextBox 112"/>
            <p:cNvSpPr txBox="1"/>
            <p:nvPr/>
          </p:nvSpPr>
          <p:spPr>
            <a:xfrm>
              <a:off x="77760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07</a:t>
              </a:r>
            </a:p>
          </p:txBody>
        </p:sp>
      </p:grpSp>
      <p:grpSp>
        <p:nvGrpSpPr>
          <p:cNvPr id="127" name="node-08"/>
          <p:cNvGrpSpPr/>
          <p:nvPr/>
        </p:nvGrpSpPr>
        <p:grpSpPr>
          <a:xfrm>
            <a:off x="8458200" y="2428875"/>
            <a:ext cx="1123950" cy="1619250"/>
            <a:chOff x="8458200" y="2428875"/>
            <a:chExt cx="1123950" cy="1619250"/>
          </a:xfrm>
        </p:grpSpPr>
        <p:sp>
          <p:nvSpPr>
            <p:cNvPr id="114" name="Rectangle 114"/>
            <p:cNvSpPr/>
            <p:nvPr/>
          </p:nvSpPr>
          <p:spPr>
            <a:xfrm>
              <a:off x="8458200" y="2428875"/>
              <a:ext cx="1123950" cy="1619250"/>
            </a:xfrm>
            <a:prstGeom prst="roundRect">
              <a:avLst>
                <a:gd name="adj" fmla="val 6780"/>
              </a:avLst>
            </a:prstGeom>
            <a:solidFill>
              <a:srgbClr val="F4F9FD"/>
            </a:solidFill>
            <a:ln w="9525">
              <a:solidFill>
                <a:srgbClr val="CFE2F2"/>
              </a:solidFill>
            </a:ln>
          </p:spPr>
        </p:sp>
        <p:grpSp>
          <p:nvGrpSpPr>
            <p:cNvPr id="121" name="Group 121"/>
            <p:cNvGrpSpPr/>
            <p:nvPr/>
          </p:nvGrpSpPr>
          <p:grpSpPr>
            <a:xfrm>
              <a:off x="8941594" y="2540794"/>
              <a:ext cx="157162" cy="157163"/>
              <a:chOff x="8941594" y="2540794"/>
              <a:chExt cx="157162" cy="157163"/>
            </a:xfrm>
          </p:grpSpPr>
          <p:sp>
            <p:nvSpPr>
              <p:cNvPr id="115" name="Freeform 115"/>
              <p:cNvSpPr/>
              <p:nvPr/>
            </p:nvSpPr>
            <p:spPr>
              <a:xfrm>
                <a:off x="9002713" y="26106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4472E"/>
                </a:solidFill>
              </a:ln>
            </p:spPr>
          </p:sp>
          <p:sp>
            <p:nvSpPr>
              <p:cNvPr id="116" name="Freeform 116"/>
              <p:cNvSpPr/>
              <p:nvPr/>
            </p:nvSpPr>
            <p:spPr>
              <a:xfrm>
                <a:off x="8985250" y="267176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C4472E"/>
                </a:solidFill>
              </a:ln>
            </p:spPr>
          </p:sp>
          <p:sp>
            <p:nvSpPr>
              <p:cNvPr id="117" name="Freeform 117"/>
              <p:cNvSpPr/>
              <p:nvPr/>
            </p:nvSpPr>
            <p:spPr>
              <a:xfrm>
                <a:off x="9046369" y="25407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4472E"/>
                </a:solidFill>
              </a:ln>
            </p:spPr>
          </p:sp>
          <p:sp>
            <p:nvSpPr>
              <p:cNvPr id="118" name="Freeform 118"/>
              <p:cNvSpPr/>
              <p:nvPr/>
            </p:nvSpPr>
            <p:spPr>
              <a:xfrm>
                <a:off x="9063831" y="260191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C4472E"/>
                </a:solidFill>
              </a:ln>
            </p:spPr>
          </p:sp>
          <p:sp>
            <p:nvSpPr>
              <p:cNvPr id="119" name="Freeform 119"/>
              <p:cNvSpPr/>
              <p:nvPr/>
            </p:nvSpPr>
            <p:spPr>
              <a:xfrm>
                <a:off x="8959056" y="25407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4472E"/>
                </a:solidFill>
              </a:ln>
            </p:spPr>
          </p:sp>
          <p:sp>
            <p:nvSpPr>
              <p:cNvPr id="120" name="Freeform 120"/>
              <p:cNvSpPr/>
              <p:nvPr/>
            </p:nvSpPr>
            <p:spPr>
              <a:xfrm>
                <a:off x="8941594" y="260191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C4472E"/>
                </a:solidFill>
              </a:ln>
            </p:spPr>
          </p:sp>
        </p:grpSp>
        <p:sp>
          <p:nvSpPr>
            <p:cNvPr id="122" name="TextBox 122"/>
            <p:cNvSpPr txBox="1"/>
            <p:nvPr/>
          </p:nvSpPr>
          <p:spPr>
            <a:xfrm>
              <a:off x="8712518" y="2788920"/>
              <a:ext cx="615315"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评级委员会</a:t>
              </a:r>
            </a:p>
          </p:txBody>
        </p:sp>
        <p:sp>
          <p:nvSpPr>
            <p:cNvPr id="123" name="TextBox 123"/>
            <p:cNvSpPr txBox="1"/>
            <p:nvPr/>
          </p:nvSpPr>
          <p:spPr>
            <a:xfrm>
              <a:off x="8567738" y="29982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集体审议</a:t>
              </a:r>
            </a:p>
          </p:txBody>
        </p:sp>
        <p:sp>
          <p:nvSpPr>
            <p:cNvPr id="124" name="TextBox 124"/>
            <p:cNvSpPr txBox="1"/>
            <p:nvPr/>
          </p:nvSpPr>
          <p:spPr>
            <a:xfrm>
              <a:off x="8567738" y="31506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重大调整</a:t>
              </a:r>
            </a:p>
          </p:txBody>
        </p:sp>
        <p:sp>
          <p:nvSpPr>
            <p:cNvPr id="125" name="TextBox 125"/>
            <p:cNvSpPr txBox="1"/>
            <p:nvPr/>
          </p:nvSpPr>
          <p:spPr>
            <a:xfrm>
              <a:off x="8567738" y="33030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结果确认</a:t>
              </a:r>
            </a:p>
          </p:txBody>
        </p:sp>
        <p:sp>
          <p:nvSpPr>
            <p:cNvPr id="126" name="TextBox 126"/>
            <p:cNvSpPr txBox="1"/>
            <p:nvPr/>
          </p:nvSpPr>
          <p:spPr>
            <a:xfrm>
              <a:off x="89571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08</a:t>
              </a:r>
            </a:p>
          </p:txBody>
        </p:sp>
      </p:grpSp>
      <p:grpSp>
        <p:nvGrpSpPr>
          <p:cNvPr id="137" name="node-09"/>
          <p:cNvGrpSpPr/>
          <p:nvPr/>
        </p:nvGrpSpPr>
        <p:grpSpPr>
          <a:xfrm>
            <a:off x="9639300" y="2428875"/>
            <a:ext cx="1123950" cy="1619250"/>
            <a:chOff x="9639300" y="2428875"/>
            <a:chExt cx="1123950" cy="1619250"/>
          </a:xfrm>
        </p:grpSpPr>
        <p:sp>
          <p:nvSpPr>
            <p:cNvPr id="128" name="Rectangle 128"/>
            <p:cNvSpPr/>
            <p:nvPr/>
          </p:nvSpPr>
          <p:spPr>
            <a:xfrm>
              <a:off x="9639300" y="2428875"/>
              <a:ext cx="1123950" cy="1619250"/>
            </a:xfrm>
            <a:prstGeom prst="roundRect">
              <a:avLst>
                <a:gd name="adj" fmla="val 6780"/>
              </a:avLst>
            </a:prstGeom>
            <a:solidFill>
              <a:srgbClr val="F4F9FD"/>
            </a:solidFill>
            <a:ln w="9525">
              <a:solidFill>
                <a:srgbClr val="CFE2F2"/>
              </a:solidFill>
            </a:ln>
          </p:spPr>
        </p:sp>
        <p:grpSp>
          <p:nvGrpSpPr>
            <p:cNvPr id="131" name="Group 131"/>
            <p:cNvGrpSpPr/>
            <p:nvPr/>
          </p:nvGrpSpPr>
          <p:grpSpPr>
            <a:xfrm>
              <a:off x="10131425" y="2546156"/>
              <a:ext cx="139700" cy="146438"/>
              <a:chOff x="10131425" y="2546156"/>
              <a:chExt cx="139700" cy="146438"/>
            </a:xfrm>
          </p:grpSpPr>
          <p:sp>
            <p:nvSpPr>
              <p:cNvPr id="129" name="Freeform 129"/>
              <p:cNvSpPr/>
              <p:nvPr/>
            </p:nvSpPr>
            <p:spPr>
              <a:xfrm>
                <a:off x="10131425" y="2546156"/>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C4472E"/>
                </a:solidFill>
              </a:ln>
            </p:spPr>
          </p:sp>
          <p:sp>
            <p:nvSpPr>
              <p:cNvPr id="130" name="Freeform 130"/>
              <p:cNvSpPr/>
              <p:nvPr/>
            </p:nvSpPr>
            <p:spPr>
              <a:xfrm>
                <a:off x="10131425" y="2628106"/>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C4472E"/>
                </a:solidFill>
              </a:ln>
            </p:spPr>
          </p:sp>
        </p:grpSp>
        <p:sp>
          <p:nvSpPr>
            <p:cNvPr id="132" name="TextBox 132"/>
            <p:cNvSpPr txBox="1"/>
            <p:nvPr/>
          </p:nvSpPr>
          <p:spPr>
            <a:xfrm>
              <a:off x="9954196" y="2788920"/>
              <a:ext cx="494157"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监控重评</a:t>
              </a:r>
            </a:p>
          </p:txBody>
        </p:sp>
        <p:sp>
          <p:nvSpPr>
            <p:cNvPr id="133" name="TextBox 133"/>
            <p:cNvSpPr txBox="1"/>
            <p:nvPr/>
          </p:nvSpPr>
          <p:spPr>
            <a:xfrm>
              <a:off x="9748838" y="29982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预警监控</a:t>
              </a:r>
            </a:p>
          </p:txBody>
        </p:sp>
        <p:sp>
          <p:nvSpPr>
            <p:cNvPr id="134" name="TextBox 134"/>
            <p:cNvSpPr txBox="1"/>
            <p:nvPr/>
          </p:nvSpPr>
          <p:spPr>
            <a:xfrm>
              <a:off x="9748838" y="3150632"/>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定期重评</a:t>
              </a:r>
            </a:p>
          </p:txBody>
        </p:sp>
        <p:sp>
          <p:nvSpPr>
            <p:cNvPr id="135" name="TextBox 135"/>
            <p:cNvSpPr txBox="1"/>
            <p:nvPr/>
          </p:nvSpPr>
          <p:spPr>
            <a:xfrm>
              <a:off x="9748838" y="3303032"/>
              <a:ext cx="688823"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模型与策略跟踪</a:t>
              </a:r>
            </a:p>
          </p:txBody>
        </p:sp>
        <p:sp>
          <p:nvSpPr>
            <p:cNvPr id="136" name="TextBox 136"/>
            <p:cNvSpPr txBox="1"/>
            <p:nvPr/>
          </p:nvSpPr>
          <p:spPr>
            <a:xfrm>
              <a:off x="101382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09</a:t>
              </a:r>
            </a:p>
          </p:txBody>
        </p:sp>
      </p:grpSp>
      <p:grpSp>
        <p:nvGrpSpPr>
          <p:cNvPr id="155" name="node-10"/>
          <p:cNvGrpSpPr/>
          <p:nvPr/>
        </p:nvGrpSpPr>
        <p:grpSpPr>
          <a:xfrm>
            <a:off x="10820400" y="2428875"/>
            <a:ext cx="1123950" cy="1619250"/>
            <a:chOff x="10820400" y="2428875"/>
            <a:chExt cx="1123950" cy="1619250"/>
          </a:xfrm>
        </p:grpSpPr>
        <p:sp>
          <p:nvSpPr>
            <p:cNvPr id="138" name="Rectangle 138"/>
            <p:cNvSpPr/>
            <p:nvPr/>
          </p:nvSpPr>
          <p:spPr>
            <a:xfrm>
              <a:off x="10820400" y="2428875"/>
              <a:ext cx="1123950" cy="1619250"/>
            </a:xfrm>
            <a:prstGeom prst="roundRect">
              <a:avLst>
                <a:gd name="adj" fmla="val 6780"/>
              </a:avLst>
            </a:prstGeom>
            <a:solidFill>
              <a:srgbClr val="F4F9FD"/>
            </a:solidFill>
            <a:ln w="9525">
              <a:solidFill>
                <a:srgbClr val="CFE2F2"/>
              </a:solidFill>
            </a:ln>
          </p:spPr>
        </p:sp>
        <p:grpSp>
          <p:nvGrpSpPr>
            <p:cNvPr id="143" name="Group 143"/>
            <p:cNvGrpSpPr/>
            <p:nvPr/>
          </p:nvGrpSpPr>
          <p:grpSpPr>
            <a:xfrm>
              <a:off x="11321256" y="2540794"/>
              <a:ext cx="122238" cy="157162"/>
              <a:chOff x="11321256" y="2540794"/>
              <a:chExt cx="122238" cy="157162"/>
            </a:xfrm>
          </p:grpSpPr>
          <p:sp>
            <p:nvSpPr>
              <p:cNvPr id="139" name="Freeform 139"/>
              <p:cNvSpPr/>
              <p:nvPr/>
            </p:nvSpPr>
            <p:spPr>
              <a:xfrm>
                <a:off x="11321256" y="255825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rgbClr val="C4472E"/>
                </a:solidFill>
              </a:ln>
            </p:spPr>
          </p:sp>
          <p:sp>
            <p:nvSpPr>
              <p:cNvPr id="140" name="Freeform 140"/>
              <p:cNvSpPr/>
              <p:nvPr/>
            </p:nvSpPr>
            <p:spPr>
              <a:xfrm>
                <a:off x="11356181" y="254079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rgbClr val="C4472E"/>
                </a:solidFill>
              </a:ln>
            </p:spPr>
          </p:sp>
          <p:sp>
            <p:nvSpPr>
              <p:cNvPr id="141" name="Freeform 141"/>
              <p:cNvSpPr/>
              <p:nvPr/>
            </p:nvSpPr>
            <p:spPr>
              <a:xfrm>
                <a:off x="11364913" y="2610644"/>
                <a:ext cx="34925" cy="52388"/>
              </a:xfrm>
              <a:custGeom>
                <a:avLst/>
                <a:gdLst/>
                <a:ahLst/>
                <a:cxnLst/>
                <a:rect l="l" t="t" r="r" b="b"/>
                <a:pathLst>
                  <a:path w="34925" h="52388">
                    <a:moveTo>
                      <a:pt x="34925" y="0"/>
                    </a:moveTo>
                    <a:lnTo>
                      <a:pt x="13097" y="0"/>
                    </a:lnTo>
                    <a:cubicBezTo>
                      <a:pt x="5864" y="0"/>
                      <a:pt x="0" y="5864"/>
                      <a:pt x="0" y="13097"/>
                    </a:cubicBezTo>
                    <a:cubicBezTo>
                      <a:pt x="0" y="20330"/>
                      <a:pt x="5864" y="26194"/>
                      <a:pt x="13097" y="26194"/>
                    </a:cubicBezTo>
                    <a:lnTo>
                      <a:pt x="21828" y="26194"/>
                    </a:lnTo>
                    <a:cubicBezTo>
                      <a:pt x="29061" y="26194"/>
                      <a:pt x="34925" y="32057"/>
                      <a:pt x="34925" y="39291"/>
                    </a:cubicBezTo>
                    <a:cubicBezTo>
                      <a:pt x="34925" y="46524"/>
                      <a:pt x="29061" y="52388"/>
                      <a:pt x="21828" y="52388"/>
                    </a:cubicBezTo>
                    <a:lnTo>
                      <a:pt x="0" y="52388"/>
                    </a:lnTo>
                  </a:path>
                </a:pathLst>
              </a:custGeom>
              <a:noFill/>
              <a:ln w="17463">
                <a:solidFill>
                  <a:srgbClr val="C4472E"/>
                </a:solidFill>
              </a:ln>
            </p:spPr>
          </p:sp>
          <p:sp>
            <p:nvSpPr>
              <p:cNvPr id="142" name="Freeform 142"/>
              <p:cNvSpPr/>
              <p:nvPr/>
            </p:nvSpPr>
            <p:spPr>
              <a:xfrm>
                <a:off x="11382375" y="2601913"/>
                <a:ext cx="9525" cy="69850"/>
              </a:xfrm>
              <a:custGeom>
                <a:avLst/>
                <a:gdLst/>
                <a:ahLst/>
                <a:cxnLst/>
                <a:rect l="l" t="t" r="r" b="b"/>
                <a:pathLst>
                  <a:path w="9525" h="69850">
                    <a:moveTo>
                      <a:pt x="0" y="61119"/>
                    </a:moveTo>
                    <a:lnTo>
                      <a:pt x="0" y="69850"/>
                    </a:lnTo>
                    <a:moveTo>
                      <a:pt x="0" y="0"/>
                    </a:moveTo>
                    <a:lnTo>
                      <a:pt x="0" y="8731"/>
                    </a:lnTo>
                  </a:path>
                </a:pathLst>
              </a:custGeom>
              <a:noFill/>
              <a:ln w="17463">
                <a:solidFill>
                  <a:srgbClr val="C4472E"/>
                </a:solidFill>
              </a:ln>
            </p:spPr>
          </p:sp>
        </p:grpSp>
        <p:sp>
          <p:nvSpPr>
            <p:cNvPr id="144" name="TextBox 144"/>
            <p:cNvSpPr txBox="1"/>
            <p:nvPr/>
          </p:nvSpPr>
          <p:spPr>
            <a:xfrm>
              <a:off x="11195876" y="2788920"/>
              <a:ext cx="372999"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应用栈</a:t>
              </a:r>
            </a:p>
          </p:txBody>
        </p:sp>
        <p:sp>
          <p:nvSpPr>
            <p:cNvPr id="145" name="Rectangle 145"/>
            <p:cNvSpPr/>
            <p:nvPr/>
          </p:nvSpPr>
          <p:spPr>
            <a:xfrm>
              <a:off x="10972800" y="2962275"/>
              <a:ext cx="819150" cy="142875"/>
            </a:xfrm>
            <a:prstGeom prst="roundRect">
              <a:avLst>
                <a:gd name="adj" fmla="val 46667"/>
              </a:avLst>
            </a:prstGeom>
            <a:solidFill>
              <a:srgbClr val="C4472E"/>
            </a:solidFill>
            <a:ln>
              <a:noFill/>
            </a:ln>
          </p:spPr>
        </p:sp>
        <p:sp>
          <p:nvSpPr>
            <p:cNvPr id="146" name="TextBox 146"/>
            <p:cNvSpPr txBox="1"/>
            <p:nvPr/>
          </p:nvSpPr>
          <p:spPr>
            <a:xfrm>
              <a:off x="11205299" y="299823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授信审批</a:t>
              </a:r>
            </a:p>
          </p:txBody>
        </p:sp>
        <p:sp>
          <p:nvSpPr>
            <p:cNvPr id="147" name="Rectangle 147"/>
            <p:cNvSpPr/>
            <p:nvPr/>
          </p:nvSpPr>
          <p:spPr>
            <a:xfrm>
              <a:off x="10972800" y="3143250"/>
              <a:ext cx="819150" cy="142875"/>
            </a:xfrm>
            <a:prstGeom prst="roundRect">
              <a:avLst>
                <a:gd name="adj" fmla="val 46667"/>
              </a:avLst>
            </a:prstGeom>
            <a:solidFill>
              <a:srgbClr val="C9563F"/>
            </a:solidFill>
            <a:ln>
              <a:noFill/>
            </a:ln>
          </p:spPr>
        </p:sp>
        <p:sp>
          <p:nvSpPr>
            <p:cNvPr id="148" name="TextBox 148"/>
            <p:cNvSpPr txBox="1"/>
            <p:nvPr/>
          </p:nvSpPr>
          <p:spPr>
            <a:xfrm>
              <a:off x="11205299" y="3179207"/>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定价管理</a:t>
              </a:r>
            </a:p>
          </p:txBody>
        </p:sp>
        <p:sp>
          <p:nvSpPr>
            <p:cNvPr id="149" name="Rectangle 149"/>
            <p:cNvSpPr/>
            <p:nvPr/>
          </p:nvSpPr>
          <p:spPr>
            <a:xfrm>
              <a:off x="10972800" y="3324225"/>
              <a:ext cx="819150" cy="142875"/>
            </a:xfrm>
            <a:prstGeom prst="roundRect">
              <a:avLst>
                <a:gd name="adj" fmla="val 46667"/>
              </a:avLst>
            </a:prstGeom>
            <a:solidFill>
              <a:srgbClr val="C93416"/>
            </a:solidFill>
            <a:ln>
              <a:noFill/>
            </a:ln>
          </p:spPr>
        </p:sp>
        <p:sp>
          <p:nvSpPr>
            <p:cNvPr id="150" name="TextBox 150"/>
            <p:cNvSpPr txBox="1"/>
            <p:nvPr/>
          </p:nvSpPr>
          <p:spPr>
            <a:xfrm>
              <a:off x="11205299" y="336018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资本计量</a:t>
              </a:r>
            </a:p>
          </p:txBody>
        </p:sp>
        <p:sp>
          <p:nvSpPr>
            <p:cNvPr id="151" name="Rectangle 151"/>
            <p:cNvSpPr/>
            <p:nvPr/>
          </p:nvSpPr>
          <p:spPr>
            <a:xfrm>
              <a:off x="10972800" y="3505200"/>
              <a:ext cx="819150" cy="142875"/>
            </a:xfrm>
            <a:prstGeom prst="roundRect">
              <a:avLst>
                <a:gd name="adj" fmla="val 46667"/>
              </a:avLst>
            </a:prstGeom>
            <a:solidFill>
              <a:srgbClr val="BC2E12"/>
            </a:solidFill>
            <a:ln>
              <a:noFill/>
            </a:ln>
          </p:spPr>
        </p:sp>
        <p:sp>
          <p:nvSpPr>
            <p:cNvPr id="152" name="TextBox 152"/>
            <p:cNvSpPr txBox="1"/>
            <p:nvPr/>
          </p:nvSpPr>
          <p:spPr>
            <a:xfrm>
              <a:off x="11205299" y="3541157"/>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贷后管理</a:t>
              </a:r>
            </a:p>
          </p:txBody>
        </p:sp>
        <p:sp>
          <p:nvSpPr>
            <p:cNvPr id="153" name="TextBox 153"/>
            <p:cNvSpPr txBox="1"/>
            <p:nvPr/>
          </p:nvSpPr>
          <p:spPr>
            <a:xfrm>
              <a:off x="11330226" y="3722132"/>
              <a:ext cx="104297" cy="126206"/>
            </a:xfrm>
            <a:prstGeom prst="rect">
              <a:avLst/>
            </a:prstGeom>
            <a:noFill/>
            <a:ln>
              <a:noFill/>
            </a:ln>
          </p:spPr>
          <p:txBody>
            <a:bodyPr wrap="none" lIns="0" tIns="0" rIns="0" bIns="0" anchor="t" anchorCtr="0">
              <a:spAutoFit/>
            </a:bodyPr>
            <a:lstStyle/>
            <a:p>
              <a:pPr algn="ctr"/>
              <a:r>
                <a:rPr lang="zh-CN" sz="640" dirty="0">
                  <a:solidFill>
                    <a:srgbClr val="C4988F"/>
                  </a:solidFill>
                  <a:latin typeface="+mn-lt"/>
                  <a:ea typeface="+mn-ea"/>
                  <a:cs typeface="+mn-cs"/>
                </a:rPr>
                <a:t>……</a:t>
              </a:r>
            </a:p>
          </p:txBody>
        </p:sp>
        <p:sp>
          <p:nvSpPr>
            <p:cNvPr id="154" name="TextBox 154"/>
            <p:cNvSpPr txBox="1"/>
            <p:nvPr/>
          </p:nvSpPr>
          <p:spPr>
            <a:xfrm>
              <a:off x="11319305" y="3862388"/>
              <a:ext cx="126140" cy="147638"/>
            </a:xfrm>
            <a:prstGeom prst="rect">
              <a:avLst/>
            </a:prstGeom>
            <a:noFill/>
            <a:ln>
              <a:noFill/>
            </a:ln>
          </p:spPr>
          <p:txBody>
            <a:bodyPr wrap="none" lIns="0" tIns="0" rIns="0" bIns="0" anchor="t" anchorCtr="0">
              <a:spAutoFit/>
            </a:bodyPr>
            <a:lstStyle/>
            <a:p>
              <a:pPr algn="ctr"/>
              <a:r>
                <a:rPr lang="zh-CN" sz="750" b="1" dirty="0">
                  <a:solidFill>
                    <a:srgbClr val="C4988F"/>
                  </a:solidFill>
                  <a:latin typeface="+mn-lt"/>
                  <a:ea typeface="+mn-ea"/>
                  <a:cs typeface="+mn-cs"/>
                </a:rPr>
                <a:t>10</a:t>
              </a:r>
            </a:p>
          </p:txBody>
        </p:sp>
      </p:grpSp>
      <p:grpSp>
        <p:nvGrpSpPr>
          <p:cNvPr id="186" name="myth-card"/>
          <p:cNvGrpSpPr/>
          <p:nvPr/>
        </p:nvGrpSpPr>
        <p:grpSpPr>
          <a:xfrm>
            <a:off x="190500" y="4143375"/>
            <a:ext cx="5753100" cy="2428875"/>
            <a:chOff x="190500" y="4143375"/>
            <a:chExt cx="5753100" cy="2428875"/>
          </a:xfrm>
        </p:grpSpPr>
        <p:sp>
          <p:nvSpPr>
            <p:cNvPr id="156" name="Rectangle 156"/>
            <p:cNvSpPr/>
            <p:nvPr/>
          </p:nvSpPr>
          <p:spPr>
            <a:xfrm>
              <a:off x="190500" y="4143375"/>
              <a:ext cx="5753100" cy="2428875"/>
            </a:xfrm>
            <a:prstGeom prst="roundRect">
              <a:avLst>
                <a:gd name="adj" fmla="val 3922"/>
              </a:avLst>
            </a:prstGeom>
            <a:solidFill>
              <a:srgbClr val="FDF4F2"/>
            </a:solidFill>
            <a:ln w="9525">
              <a:solidFill>
                <a:srgbClr val="F0D5D0"/>
              </a:solidFill>
            </a:ln>
          </p:spPr>
        </p:sp>
        <p:grpSp>
          <p:nvGrpSpPr>
            <p:cNvPr id="160" name="Group 160"/>
            <p:cNvGrpSpPr/>
            <p:nvPr/>
          </p:nvGrpSpPr>
          <p:grpSpPr>
            <a:xfrm>
              <a:off x="356579" y="4295783"/>
              <a:ext cx="144086" cy="123788"/>
              <a:chOff x="356579" y="4295783"/>
              <a:chExt cx="144086" cy="123788"/>
            </a:xfrm>
          </p:grpSpPr>
          <p:sp>
            <p:nvSpPr>
              <p:cNvPr id="157" name="Freeform 157"/>
              <p:cNvSpPr/>
              <p:nvPr/>
            </p:nvSpPr>
            <p:spPr>
              <a:xfrm>
                <a:off x="428625" y="4341019"/>
                <a:ext cx="9525" cy="28575"/>
              </a:xfrm>
              <a:custGeom>
                <a:avLst/>
                <a:gdLst/>
                <a:ahLst/>
                <a:cxnLst/>
                <a:rect l="l" t="t" r="r" b="b"/>
                <a:pathLst>
                  <a:path w="9525" h="28575">
                    <a:moveTo>
                      <a:pt x="0" y="0"/>
                    </a:moveTo>
                    <a:lnTo>
                      <a:pt x="0" y="28575"/>
                    </a:lnTo>
                  </a:path>
                </a:pathLst>
              </a:custGeom>
              <a:noFill/>
              <a:ln w="14288">
                <a:solidFill>
                  <a:srgbClr val="C8452F"/>
                </a:solidFill>
              </a:ln>
            </p:spPr>
          </p:sp>
          <p:sp>
            <p:nvSpPr>
              <p:cNvPr id="158" name="Freeform 158"/>
              <p:cNvSpPr/>
              <p:nvPr/>
            </p:nvSpPr>
            <p:spPr>
              <a:xfrm>
                <a:off x="356579" y="4295783"/>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C8452F"/>
                </a:solidFill>
              </a:ln>
            </p:spPr>
          </p:sp>
          <p:sp>
            <p:nvSpPr>
              <p:cNvPr id="159" name="Freeform 159"/>
              <p:cNvSpPr/>
              <p:nvPr/>
            </p:nvSpPr>
            <p:spPr>
              <a:xfrm>
                <a:off x="428625" y="4391025"/>
                <a:ext cx="9525" cy="9525"/>
              </a:xfrm>
              <a:custGeom>
                <a:avLst/>
                <a:gdLst/>
                <a:ahLst/>
                <a:cxnLst/>
                <a:rect l="l" t="t" r="r" b="b"/>
                <a:pathLst>
                  <a:path w="9525" h="9525">
                    <a:moveTo>
                      <a:pt x="0" y="0"/>
                    </a:moveTo>
                    <a:lnTo>
                      <a:pt x="71" y="0"/>
                    </a:lnTo>
                  </a:path>
                </a:pathLst>
              </a:custGeom>
              <a:noFill/>
              <a:ln w="14288">
                <a:solidFill>
                  <a:srgbClr val="C8452F"/>
                </a:solidFill>
              </a:ln>
            </p:spPr>
          </p:sp>
        </p:grpSp>
        <p:sp>
          <p:nvSpPr>
            <p:cNvPr id="161" name="TextBox 161"/>
            <p:cNvSpPr txBox="1"/>
            <p:nvPr/>
          </p:nvSpPr>
          <p:spPr>
            <a:xfrm>
              <a:off x="585406" y="4310301"/>
              <a:ext cx="962050" cy="198025"/>
            </a:xfrm>
            <a:prstGeom prst="rect">
              <a:avLst/>
            </a:prstGeom>
            <a:noFill/>
            <a:ln>
              <a:noFill/>
            </a:ln>
          </p:spPr>
          <p:txBody>
            <a:bodyPr wrap="none" lIns="0" tIns="0" rIns="0" bIns="0" anchor="t" anchorCtr="0">
              <a:spAutoFit/>
            </a:bodyPr>
            <a:lstStyle/>
            <a:p>
              <a:pPr algn="l"/>
              <a:r>
                <a:rPr lang="zh-CN" sz="1010" b="1" dirty="0">
                  <a:solidFill>
                    <a:srgbClr val="C8452F"/>
                  </a:solidFill>
                  <a:latin typeface="+mn-lt"/>
                  <a:ea typeface="+mn-ea"/>
                  <a:cs typeface="+mn-cs"/>
                </a:rPr>
                <a:t>常见的三大误区</a:t>
              </a:r>
            </a:p>
          </p:txBody>
        </p:sp>
        <p:sp>
          <p:nvSpPr>
            <p:cNvPr id="162" name="Rectangle 162"/>
            <p:cNvSpPr/>
            <p:nvPr/>
          </p:nvSpPr>
          <p:spPr>
            <a:xfrm>
              <a:off x="285750" y="4552950"/>
              <a:ext cx="1790700" cy="1905000"/>
            </a:xfrm>
            <a:prstGeom prst="roundRect">
              <a:avLst>
                <a:gd name="adj" fmla="val 4255"/>
              </a:avLst>
            </a:prstGeom>
            <a:solidFill>
              <a:srgbClr val="FFFFFF"/>
            </a:solidFill>
            <a:ln w="9525">
              <a:solidFill>
                <a:srgbClr val="F0D5D0"/>
              </a:solidFill>
            </a:ln>
          </p:spPr>
        </p:sp>
        <p:sp>
          <p:nvSpPr>
            <p:cNvPr id="163" name="TextBox 163"/>
            <p:cNvSpPr txBox="1"/>
            <p:nvPr/>
          </p:nvSpPr>
          <p:spPr>
            <a:xfrm>
              <a:off x="414338" y="4669393"/>
              <a:ext cx="735576" cy="169069"/>
            </a:xfrm>
            <a:prstGeom prst="rect">
              <a:avLst/>
            </a:prstGeom>
            <a:noFill/>
            <a:ln>
              <a:noFill/>
            </a:ln>
          </p:spPr>
          <p:txBody>
            <a:bodyPr wrap="none" lIns="0" tIns="0" rIns="0" bIns="0" anchor="t" anchorCtr="0">
              <a:spAutoFit/>
            </a:bodyPr>
            <a:lstStyle/>
            <a:p>
              <a:pPr algn="l"/>
              <a:r>
                <a:rPr lang="zh-CN" sz="860" b="1" dirty="0">
                  <a:solidFill>
                    <a:srgbClr val="3E1810"/>
                  </a:solidFill>
                  <a:latin typeface="+mn-lt"/>
                  <a:ea typeface="+mn-ea"/>
                  <a:cs typeface="+mn-cs"/>
                </a:rPr>
                <a:t>只看AUC/KS​</a:t>
              </a:r>
            </a:p>
          </p:txBody>
        </p:sp>
        <p:sp>
          <p:nvSpPr>
            <p:cNvPr id="164" name="TextBox 164"/>
            <p:cNvSpPr txBox="1"/>
            <p:nvPr/>
          </p:nvSpPr>
          <p:spPr>
            <a:xfrm>
              <a:off x="414338" y="4899184"/>
              <a:ext cx="609122"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“模型区分度高</a:t>
              </a:r>
            </a:p>
          </p:txBody>
        </p:sp>
        <p:sp>
          <p:nvSpPr>
            <p:cNvPr id="165" name="TextBox 165"/>
            <p:cNvSpPr txBox="1"/>
            <p:nvPr/>
          </p:nvSpPr>
          <p:spPr>
            <a:xfrm>
              <a:off x="414338" y="5051584"/>
              <a:ext cx="609122"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就等于能用。”</a:t>
              </a:r>
            </a:p>
          </p:txBody>
        </p:sp>
        <p:sp>
          <p:nvSpPr>
            <p:cNvPr id="166" name="Line 166"/>
            <p:cNvSpPr/>
            <p:nvPr/>
          </p:nvSpPr>
          <p:spPr>
            <a:xfrm>
              <a:off x="419100" y="5238750"/>
              <a:ext cx="1524000" cy="9525"/>
            </a:xfrm>
            <a:custGeom>
              <a:avLst/>
              <a:gdLst/>
              <a:ahLst/>
              <a:cxnLst/>
              <a:rect l="l" t="t" r="r" b="b"/>
              <a:pathLst>
                <a:path w="1524000" h="9525">
                  <a:moveTo>
                    <a:pt x="0" y="0"/>
                  </a:moveTo>
                  <a:lnTo>
                    <a:pt x="1524000" y="0"/>
                  </a:lnTo>
                </a:path>
              </a:pathLst>
            </a:custGeom>
            <a:noFill/>
            <a:ln w="9525">
              <a:solidFill>
                <a:srgbClr val="F0D5D0"/>
              </a:solidFill>
            </a:ln>
          </p:spPr>
        </p:sp>
        <p:sp>
          <p:nvSpPr>
            <p:cNvPr id="167" name="Ellipse 167"/>
            <p:cNvSpPr/>
            <p:nvPr/>
          </p:nvSpPr>
          <p:spPr>
            <a:xfrm>
              <a:off x="428625" y="5381625"/>
              <a:ext cx="133350" cy="133350"/>
            </a:xfrm>
            <a:prstGeom prst="ellipse">
              <a:avLst/>
            </a:prstGeom>
            <a:solidFill>
              <a:srgbClr val="C8452F"/>
            </a:solidFill>
            <a:ln>
              <a:noFill/>
            </a:ln>
          </p:spPr>
        </p:sp>
        <p:sp>
          <p:nvSpPr>
            <p:cNvPr id="168" name="TextBox 168"/>
            <p:cNvSpPr txBox="1"/>
            <p:nvPr/>
          </p:nvSpPr>
          <p:spPr>
            <a:xfrm>
              <a:off x="461384" y="54054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169" name="TextBox 169"/>
            <p:cNvSpPr txBox="1"/>
            <p:nvPr/>
          </p:nvSpPr>
          <p:spPr>
            <a:xfrm>
              <a:off x="623888" y="5417582"/>
              <a:ext cx="741045" cy="278606"/>
            </a:xfrm>
            <a:prstGeom prst="rect">
              <a:avLst/>
            </a:prstGeom>
            <a:noFill/>
            <a:ln>
              <a:noFill/>
            </a:ln>
          </p:spPr>
          <p:txBody>
            <a:bodyPr wrap="none" lIns="0" tIns="0" rIns="0" bIns="0" anchor="t" anchorCtr="0">
              <a:spAutoFit/>
            </a:bodyPr>
            <a:lstStyle/>
            <a:p>
              <a:pPr algn="l">
                <a:lnSpc>
                  <a:spcPts val="1200"/>
                </a:lnSpc>
              </a:pPr>
              <a:r>
                <a:rPr lang="zh-CN" sz="640" dirty="0">
                  <a:solidFill>
                    <a:srgbClr val="5C3A33"/>
                  </a:solidFill>
                  <a:latin typeface="+mn-lt"/>
                  <a:ea typeface="+mn-ea"/>
                  <a:cs typeface="+mn-cs"/>
                </a:rPr>
                <a:t>忽视业务适用性、</a:t>
              </a:r>
              <a:br/>
              <a:r>
                <a:rPr lang="zh-CN" sz="640" dirty="0">
                  <a:solidFill>
                    <a:srgbClr val="5C3A33"/>
                  </a:solidFill>
                  <a:latin typeface="+mn-lt"/>
                  <a:ea typeface="+mn-ea"/>
                  <a:cs typeface="+mn-cs"/>
                </a:rPr>
                <a:t>稳定性和经济意义。</a:t>
              </a:r>
            </a:p>
          </p:txBody>
        </p:sp>
        <p:sp>
          <p:nvSpPr>
            <p:cNvPr id="170" name="Rectangle 170"/>
            <p:cNvSpPr/>
            <p:nvPr/>
          </p:nvSpPr>
          <p:spPr>
            <a:xfrm>
              <a:off x="2152650" y="4552950"/>
              <a:ext cx="1790700" cy="1905000"/>
            </a:xfrm>
            <a:prstGeom prst="roundRect">
              <a:avLst>
                <a:gd name="adj" fmla="val 4255"/>
              </a:avLst>
            </a:prstGeom>
            <a:solidFill>
              <a:srgbClr val="FFFFFF"/>
            </a:solidFill>
            <a:ln w="9525">
              <a:solidFill>
                <a:srgbClr val="F0D5D0"/>
              </a:solidFill>
            </a:ln>
          </p:spPr>
        </p:sp>
        <p:sp>
          <p:nvSpPr>
            <p:cNvPr id="171" name="TextBox 171"/>
            <p:cNvSpPr txBox="1"/>
            <p:nvPr/>
          </p:nvSpPr>
          <p:spPr>
            <a:xfrm>
              <a:off x="2281238" y="4669393"/>
              <a:ext cx="472618" cy="169069"/>
            </a:xfrm>
            <a:prstGeom prst="rect">
              <a:avLst/>
            </a:prstGeom>
            <a:noFill/>
            <a:ln>
              <a:noFill/>
            </a:ln>
          </p:spPr>
          <p:txBody>
            <a:bodyPr wrap="none" lIns="0" tIns="0" rIns="0" bIns="0" anchor="t" anchorCtr="0">
              <a:spAutoFit/>
            </a:bodyPr>
            <a:lstStyle/>
            <a:p>
              <a:pPr algn="l"/>
              <a:r>
                <a:rPr lang="zh-CN" sz="860" b="1" dirty="0">
                  <a:solidFill>
                    <a:srgbClr val="3E1810"/>
                  </a:solidFill>
                  <a:latin typeface="+mn-lt"/>
                  <a:ea typeface="+mn-ea"/>
                  <a:cs typeface="+mn-cs"/>
                </a:rPr>
                <a:t>只做模型</a:t>
              </a:r>
            </a:p>
          </p:txBody>
        </p:sp>
        <p:sp>
          <p:nvSpPr>
            <p:cNvPr id="172" name="TextBox 172"/>
            <p:cNvSpPr txBox="1"/>
            <p:nvPr/>
          </p:nvSpPr>
          <p:spPr>
            <a:xfrm>
              <a:off x="2281238" y="4899184"/>
              <a:ext cx="609122"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“把模型做出来</a:t>
              </a:r>
            </a:p>
          </p:txBody>
        </p:sp>
        <p:sp>
          <p:nvSpPr>
            <p:cNvPr id="173" name="TextBox 173"/>
            <p:cNvSpPr txBox="1"/>
            <p:nvPr/>
          </p:nvSpPr>
          <p:spPr>
            <a:xfrm>
              <a:off x="2281238" y="5051584"/>
              <a:ext cx="609122"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就万事大吉。”</a:t>
              </a:r>
            </a:p>
          </p:txBody>
        </p:sp>
        <p:sp>
          <p:nvSpPr>
            <p:cNvPr id="174" name="Line 174"/>
            <p:cNvSpPr/>
            <p:nvPr/>
          </p:nvSpPr>
          <p:spPr>
            <a:xfrm>
              <a:off x="2286000" y="5238750"/>
              <a:ext cx="1524000" cy="9525"/>
            </a:xfrm>
            <a:custGeom>
              <a:avLst/>
              <a:gdLst/>
              <a:ahLst/>
              <a:cxnLst/>
              <a:rect l="l" t="t" r="r" b="b"/>
              <a:pathLst>
                <a:path w="1524000" h="9525">
                  <a:moveTo>
                    <a:pt x="0" y="0"/>
                  </a:moveTo>
                  <a:lnTo>
                    <a:pt x="1524000" y="0"/>
                  </a:lnTo>
                </a:path>
              </a:pathLst>
            </a:custGeom>
            <a:noFill/>
            <a:ln w="9525">
              <a:solidFill>
                <a:srgbClr val="F0D5D0"/>
              </a:solidFill>
            </a:ln>
          </p:spPr>
        </p:sp>
        <p:sp>
          <p:nvSpPr>
            <p:cNvPr id="175" name="Ellipse 175"/>
            <p:cNvSpPr/>
            <p:nvPr/>
          </p:nvSpPr>
          <p:spPr>
            <a:xfrm>
              <a:off x="2295525" y="5381625"/>
              <a:ext cx="133350" cy="133350"/>
            </a:xfrm>
            <a:prstGeom prst="ellipse">
              <a:avLst/>
            </a:prstGeom>
            <a:solidFill>
              <a:srgbClr val="C8452F"/>
            </a:solidFill>
            <a:ln>
              <a:noFill/>
            </a:ln>
          </p:spPr>
        </p:sp>
        <p:sp>
          <p:nvSpPr>
            <p:cNvPr id="176" name="TextBox 176"/>
            <p:cNvSpPr txBox="1"/>
            <p:nvPr/>
          </p:nvSpPr>
          <p:spPr>
            <a:xfrm>
              <a:off x="2328284" y="54054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177" name="TextBox 177"/>
            <p:cNvSpPr txBox="1"/>
            <p:nvPr/>
          </p:nvSpPr>
          <p:spPr>
            <a:xfrm>
              <a:off x="2490788" y="5417582"/>
              <a:ext cx="659765" cy="431006"/>
            </a:xfrm>
            <a:prstGeom prst="rect">
              <a:avLst/>
            </a:prstGeom>
            <a:noFill/>
            <a:ln>
              <a:noFill/>
            </a:ln>
          </p:spPr>
          <p:txBody>
            <a:bodyPr wrap="none" lIns="0" tIns="0" rIns="0" bIns="0" anchor="t" anchorCtr="0">
              <a:spAutoFit/>
            </a:bodyPr>
            <a:lstStyle/>
            <a:p>
              <a:pPr algn="l">
                <a:lnSpc>
                  <a:spcPts val="1200"/>
                </a:lnSpc>
              </a:pPr>
              <a:r>
                <a:rPr lang="zh-CN" sz="640" dirty="0">
                  <a:solidFill>
                    <a:srgbClr val="5C3A33"/>
                  </a:solidFill>
                  <a:latin typeface="+mn-lt"/>
                  <a:ea typeface="+mn-ea"/>
                  <a:cs typeface="+mn-cs"/>
                </a:rPr>
                <a:t>忽视标尺、等级、</a:t>
              </a:r>
              <a:br/>
              <a:r>
                <a:rPr lang="zh-CN" sz="640" dirty="0">
                  <a:solidFill>
                    <a:srgbClr val="5C3A33"/>
                  </a:solidFill>
                  <a:latin typeface="+mn-lt"/>
                  <a:ea typeface="+mn-ea"/>
                  <a:cs typeface="+mn-cs"/>
                </a:rPr>
                <a:t>流程、人工判断和</a:t>
              </a:r>
              <a:br/>
              <a:r>
                <a:rPr lang="zh-CN" sz="640" dirty="0">
                  <a:solidFill>
                    <a:srgbClr val="5C3A33"/>
                  </a:solidFill>
                  <a:latin typeface="+mn-lt"/>
                  <a:ea typeface="+mn-ea"/>
                  <a:cs typeface="+mn-cs"/>
                </a:rPr>
                <a:t>应用环节。</a:t>
              </a:r>
            </a:p>
          </p:txBody>
        </p:sp>
        <p:sp>
          <p:nvSpPr>
            <p:cNvPr id="178" name="Rectangle 178"/>
            <p:cNvSpPr/>
            <p:nvPr/>
          </p:nvSpPr>
          <p:spPr>
            <a:xfrm>
              <a:off x="4019550" y="4552950"/>
              <a:ext cx="1790700" cy="1905000"/>
            </a:xfrm>
            <a:prstGeom prst="roundRect">
              <a:avLst>
                <a:gd name="adj" fmla="val 4255"/>
              </a:avLst>
            </a:prstGeom>
            <a:solidFill>
              <a:srgbClr val="FFFFFF"/>
            </a:solidFill>
            <a:ln w="9525">
              <a:solidFill>
                <a:srgbClr val="F0D5D0"/>
              </a:solidFill>
            </a:ln>
          </p:spPr>
        </p:sp>
        <p:sp>
          <p:nvSpPr>
            <p:cNvPr id="179" name="TextBox 179"/>
            <p:cNvSpPr txBox="1"/>
            <p:nvPr/>
          </p:nvSpPr>
          <p:spPr>
            <a:xfrm>
              <a:off x="4148138" y="4669393"/>
              <a:ext cx="819937" cy="169069"/>
            </a:xfrm>
            <a:prstGeom prst="rect">
              <a:avLst/>
            </a:prstGeom>
            <a:noFill/>
            <a:ln>
              <a:noFill/>
            </a:ln>
          </p:spPr>
          <p:txBody>
            <a:bodyPr wrap="none" lIns="0" tIns="0" rIns="0" bIns="0" anchor="t" anchorCtr="0">
              <a:spAutoFit/>
            </a:bodyPr>
            <a:lstStyle/>
            <a:p>
              <a:pPr algn="l"/>
              <a:r>
                <a:rPr lang="zh-CN" sz="860" b="1" dirty="0">
                  <a:solidFill>
                    <a:srgbClr val="3E1810"/>
                  </a:solidFill>
                  <a:latin typeface="+mn-lt"/>
                  <a:ea typeface="+mn-ea"/>
                  <a:cs typeface="+mn-cs"/>
                </a:rPr>
                <a:t>忽视治理与应用</a:t>
              </a:r>
            </a:p>
          </p:txBody>
        </p:sp>
        <p:sp>
          <p:nvSpPr>
            <p:cNvPr id="180" name="TextBox 180"/>
            <p:cNvSpPr txBox="1"/>
            <p:nvPr/>
          </p:nvSpPr>
          <p:spPr>
            <a:xfrm>
              <a:off x="4148138" y="4899184"/>
              <a:ext cx="792206"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“模型是技术问题，</a:t>
              </a:r>
            </a:p>
          </p:txBody>
        </p:sp>
        <p:sp>
          <p:nvSpPr>
            <p:cNvPr id="181" name="TextBox 181"/>
            <p:cNvSpPr txBox="1"/>
            <p:nvPr/>
          </p:nvSpPr>
          <p:spPr>
            <a:xfrm>
              <a:off x="4148138" y="5051584"/>
              <a:ext cx="975289" cy="133350"/>
            </a:xfrm>
            <a:prstGeom prst="rect">
              <a:avLst/>
            </a:prstGeom>
            <a:noFill/>
            <a:ln>
              <a:noFill/>
            </a:ln>
          </p:spPr>
          <p:txBody>
            <a:bodyPr wrap="none" lIns="0" tIns="0" rIns="0" bIns="0" anchor="t" anchorCtr="0">
              <a:spAutoFit/>
            </a:bodyPr>
            <a:lstStyle/>
            <a:p>
              <a:pPr algn="l"/>
              <a:r>
                <a:rPr lang="zh-CN" sz="680" dirty="0">
                  <a:solidFill>
                    <a:srgbClr val="8C716B"/>
                  </a:solidFill>
                  <a:latin typeface="+mn-lt"/>
                  <a:ea typeface="+mn-ea"/>
                  <a:cs typeface="+mn-cs"/>
                </a:rPr>
                <a:t>业务不用是后面的事。”</a:t>
              </a:r>
            </a:p>
          </p:txBody>
        </p:sp>
        <p:sp>
          <p:nvSpPr>
            <p:cNvPr id="182" name="Line 182"/>
            <p:cNvSpPr/>
            <p:nvPr/>
          </p:nvSpPr>
          <p:spPr>
            <a:xfrm>
              <a:off x="4152900" y="5238750"/>
              <a:ext cx="1524000" cy="9525"/>
            </a:xfrm>
            <a:custGeom>
              <a:avLst/>
              <a:gdLst/>
              <a:ahLst/>
              <a:cxnLst/>
              <a:rect l="l" t="t" r="r" b="b"/>
              <a:pathLst>
                <a:path w="1524000" h="9525">
                  <a:moveTo>
                    <a:pt x="0" y="0"/>
                  </a:moveTo>
                  <a:lnTo>
                    <a:pt x="1524000" y="0"/>
                  </a:lnTo>
                </a:path>
              </a:pathLst>
            </a:custGeom>
            <a:noFill/>
            <a:ln w="9525">
              <a:solidFill>
                <a:srgbClr val="F0D5D0"/>
              </a:solidFill>
            </a:ln>
          </p:spPr>
        </p:sp>
        <p:sp>
          <p:nvSpPr>
            <p:cNvPr id="183" name="Ellipse 183"/>
            <p:cNvSpPr/>
            <p:nvPr/>
          </p:nvSpPr>
          <p:spPr>
            <a:xfrm>
              <a:off x="4162425" y="5381625"/>
              <a:ext cx="133350" cy="133350"/>
            </a:xfrm>
            <a:prstGeom prst="ellipse">
              <a:avLst/>
            </a:prstGeom>
            <a:solidFill>
              <a:srgbClr val="C8452F"/>
            </a:solidFill>
            <a:ln>
              <a:noFill/>
            </a:ln>
          </p:spPr>
        </p:sp>
        <p:sp>
          <p:nvSpPr>
            <p:cNvPr id="184" name="TextBox 184"/>
            <p:cNvSpPr txBox="1"/>
            <p:nvPr/>
          </p:nvSpPr>
          <p:spPr>
            <a:xfrm>
              <a:off x="4195184" y="54054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185" name="TextBox 185"/>
            <p:cNvSpPr txBox="1"/>
            <p:nvPr/>
          </p:nvSpPr>
          <p:spPr>
            <a:xfrm>
              <a:off x="4357688" y="5417582"/>
              <a:ext cx="903605" cy="431006"/>
            </a:xfrm>
            <a:prstGeom prst="rect">
              <a:avLst/>
            </a:prstGeom>
            <a:noFill/>
            <a:ln>
              <a:noFill/>
            </a:ln>
          </p:spPr>
          <p:txBody>
            <a:bodyPr wrap="none" lIns="0" tIns="0" rIns="0" bIns="0" anchor="t" anchorCtr="0">
              <a:spAutoFit/>
            </a:bodyPr>
            <a:lstStyle/>
            <a:p>
              <a:pPr algn="l">
                <a:lnSpc>
                  <a:spcPts val="1200"/>
                </a:lnSpc>
              </a:pPr>
              <a:r>
                <a:rPr lang="zh-CN" sz="640" dirty="0">
                  <a:solidFill>
                    <a:srgbClr val="5C3A33"/>
                  </a:solidFill>
                  <a:latin typeface="+mn-lt"/>
                  <a:ea typeface="+mn-ea"/>
                  <a:cs typeface="+mn-cs"/>
                </a:rPr>
                <a:t>缺乏有效的治理、监控、</a:t>
              </a:r>
              <a:br/>
              <a:r>
                <a:rPr lang="zh-CN" sz="640" dirty="0">
                  <a:solidFill>
                    <a:srgbClr val="5C3A33"/>
                  </a:solidFill>
                  <a:latin typeface="+mn-lt"/>
                  <a:ea typeface="+mn-ea"/>
                  <a:cs typeface="+mn-cs"/>
                </a:rPr>
                <a:t>迭代和应用闭环，</a:t>
              </a:r>
              <a:br/>
              <a:r>
                <a:rPr lang="zh-CN" sz="640" dirty="0">
                  <a:solidFill>
                    <a:srgbClr val="5C3A33"/>
                  </a:solidFill>
                  <a:latin typeface="+mn-lt"/>
                  <a:ea typeface="+mn-ea"/>
                  <a:cs typeface="+mn-cs"/>
                </a:rPr>
                <a:t>难以持续创造价值。</a:t>
              </a:r>
            </a:p>
          </p:txBody>
        </p:sp>
      </p:grpSp>
      <p:grpSp>
        <p:nvGrpSpPr>
          <p:cNvPr id="217" name="truth-card"/>
          <p:cNvGrpSpPr/>
          <p:nvPr/>
        </p:nvGrpSpPr>
        <p:grpSpPr>
          <a:xfrm>
            <a:off x="6019800" y="4143375"/>
            <a:ext cx="5981700" cy="2428875"/>
            <a:chOff x="6019800" y="4143375"/>
            <a:chExt cx="5981700" cy="2428875"/>
          </a:xfrm>
        </p:grpSpPr>
        <p:sp>
          <p:nvSpPr>
            <p:cNvPr id="187" name="Rectangle 187"/>
            <p:cNvSpPr/>
            <p:nvPr/>
          </p:nvSpPr>
          <p:spPr>
            <a:xfrm>
              <a:off x="6019800" y="4143375"/>
              <a:ext cx="5981700" cy="2428875"/>
            </a:xfrm>
            <a:prstGeom prst="roundRect">
              <a:avLst>
                <a:gd name="adj" fmla="val 3922"/>
              </a:avLst>
            </a:prstGeom>
            <a:solidFill>
              <a:srgbClr val="F0F7FD"/>
            </a:solidFill>
            <a:ln w="9525">
              <a:solidFill>
                <a:srgbClr val="CFE2F2"/>
              </a:solidFill>
            </a:ln>
          </p:spPr>
        </p:sp>
        <p:grpSp>
          <p:nvGrpSpPr>
            <p:cNvPr id="191" name="Group 191"/>
            <p:cNvGrpSpPr/>
            <p:nvPr/>
          </p:nvGrpSpPr>
          <p:grpSpPr>
            <a:xfrm>
              <a:off x="6212681" y="4298156"/>
              <a:ext cx="128588" cy="128587"/>
              <a:chOff x="6212681" y="4298156"/>
              <a:chExt cx="128588" cy="128587"/>
            </a:xfrm>
          </p:grpSpPr>
          <p:sp>
            <p:nvSpPr>
              <p:cNvPr id="188" name="Freeform 188"/>
              <p:cNvSpPr/>
              <p:nvPr/>
            </p:nvSpPr>
            <p:spPr>
              <a:xfrm>
                <a:off x="6212681" y="4298156"/>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E83313"/>
                </a:solidFill>
              </a:ln>
            </p:spPr>
          </p:sp>
          <p:sp>
            <p:nvSpPr>
              <p:cNvPr id="189" name="Freeform 189"/>
              <p:cNvSpPr/>
              <p:nvPr/>
            </p:nvSpPr>
            <p:spPr>
              <a:xfrm>
                <a:off x="6238227" y="4326731"/>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E83313"/>
                </a:solidFill>
              </a:ln>
            </p:spPr>
          </p:sp>
          <p:sp>
            <p:nvSpPr>
              <p:cNvPr id="190" name="Freeform 190"/>
              <p:cNvSpPr/>
              <p:nvPr/>
            </p:nvSpPr>
            <p:spPr>
              <a:xfrm>
                <a:off x="6260544" y="4398169"/>
                <a:ext cx="32861" cy="9525"/>
              </a:xfrm>
              <a:custGeom>
                <a:avLst/>
                <a:gdLst/>
                <a:ahLst/>
                <a:cxnLst/>
                <a:rect l="l" t="t" r="r" b="b"/>
                <a:pathLst>
                  <a:path w="32861" h="9525">
                    <a:moveTo>
                      <a:pt x="0" y="0"/>
                    </a:moveTo>
                    <a:lnTo>
                      <a:pt x="32861" y="0"/>
                    </a:lnTo>
                  </a:path>
                </a:pathLst>
              </a:custGeom>
              <a:noFill/>
              <a:ln w="14288">
                <a:solidFill>
                  <a:srgbClr val="E83313"/>
                </a:solidFill>
              </a:ln>
            </p:spPr>
          </p:sp>
        </p:grpSp>
        <p:sp>
          <p:nvSpPr>
            <p:cNvPr id="192" name="TextBox 192"/>
            <p:cNvSpPr txBox="1"/>
            <p:nvPr/>
          </p:nvSpPr>
          <p:spPr>
            <a:xfrm>
              <a:off x="6433756" y="4310301"/>
              <a:ext cx="962050" cy="198025"/>
            </a:xfrm>
            <a:prstGeom prst="rect">
              <a:avLst/>
            </a:prstGeom>
            <a:noFill/>
            <a:ln>
              <a:noFill/>
            </a:ln>
          </p:spPr>
          <p:txBody>
            <a:bodyPr wrap="none" lIns="0" tIns="0" rIns="0" bIns="0" anchor="t" anchorCtr="0">
              <a:spAutoFit/>
            </a:bodyPr>
            <a:lstStyle/>
            <a:p>
              <a:pPr algn="l"/>
              <a:r>
                <a:rPr lang="zh-CN" sz="1010" b="1" dirty="0">
                  <a:solidFill>
                    <a:srgbClr val="9E311B"/>
                  </a:solidFill>
                  <a:latin typeface="+mn-lt"/>
                  <a:ea typeface="+mn-ea"/>
                  <a:cs typeface="+mn-cs"/>
                </a:rPr>
                <a:t>真正的评级体系</a:t>
              </a:r>
            </a:p>
          </p:txBody>
        </p:sp>
        <p:grpSp>
          <p:nvGrpSpPr>
            <p:cNvPr id="195" name="Group 195"/>
            <p:cNvGrpSpPr/>
            <p:nvPr/>
          </p:nvGrpSpPr>
          <p:grpSpPr>
            <a:xfrm>
              <a:off x="6229350" y="4591050"/>
              <a:ext cx="114300" cy="114300"/>
              <a:chOff x="6229350" y="4591050"/>
              <a:chExt cx="114300" cy="114300"/>
            </a:xfrm>
          </p:grpSpPr>
          <p:sp>
            <p:nvSpPr>
              <p:cNvPr id="193" name="Freeform 193"/>
              <p:cNvSpPr/>
              <p:nvPr/>
            </p:nvSpPr>
            <p:spPr>
              <a:xfrm>
                <a:off x="6229350" y="45910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D331F"/>
                </a:solidFill>
              </a:ln>
            </p:spPr>
          </p:sp>
          <p:sp>
            <p:nvSpPr>
              <p:cNvPr id="194" name="Freeform 194"/>
              <p:cNvSpPr/>
              <p:nvPr/>
            </p:nvSpPr>
            <p:spPr>
              <a:xfrm>
                <a:off x="6267450" y="4635500"/>
                <a:ext cx="38100" cy="25400"/>
              </a:xfrm>
              <a:custGeom>
                <a:avLst/>
                <a:gdLst/>
                <a:ahLst/>
                <a:cxnLst/>
                <a:rect l="l" t="t" r="r" b="b"/>
                <a:pathLst>
                  <a:path w="38100" h="25400">
                    <a:moveTo>
                      <a:pt x="0" y="12700"/>
                    </a:moveTo>
                    <a:lnTo>
                      <a:pt x="12700" y="25400"/>
                    </a:lnTo>
                    <a:lnTo>
                      <a:pt x="38100" y="0"/>
                    </a:lnTo>
                  </a:path>
                </a:pathLst>
              </a:custGeom>
              <a:noFill/>
              <a:ln w="12700">
                <a:solidFill>
                  <a:srgbClr val="9D331F"/>
                </a:solidFill>
              </a:ln>
            </p:spPr>
          </p:sp>
        </p:grpSp>
        <p:sp>
          <p:nvSpPr>
            <p:cNvPr id="196" name="TextBox 196"/>
            <p:cNvSpPr txBox="1"/>
            <p:nvPr/>
          </p:nvSpPr>
          <p:spPr>
            <a:xfrm>
              <a:off x="6434138" y="4610814"/>
              <a:ext cx="1179373" cy="154781"/>
            </a:xfrm>
            <a:prstGeom prst="rect">
              <a:avLst/>
            </a:prstGeom>
            <a:noFill/>
            <a:ln>
              <a:noFill/>
            </a:ln>
          </p:spPr>
          <p:txBody>
            <a:bodyPr wrap="none" lIns="0" tIns="0" rIns="0" bIns="0" anchor="t" anchorCtr="0">
              <a:spAutoFit/>
            </a:bodyPr>
            <a:lstStyle/>
            <a:p>
              <a:pPr algn="l"/>
              <a:r>
                <a:rPr lang="zh-CN" sz="790" dirty="0">
                  <a:solidFill>
                    <a:srgbClr val="5C3A33"/>
                  </a:solidFill>
                  <a:latin typeface="+mn-lt"/>
                  <a:ea typeface="+mn-ea"/>
                  <a:cs typeface="+mn-cs"/>
                </a:rPr>
                <a:t>模型是起点，而不是终点</a:t>
              </a:r>
            </a:p>
          </p:txBody>
        </p:sp>
        <p:grpSp>
          <p:nvGrpSpPr>
            <p:cNvPr id="199" name="Group 199"/>
            <p:cNvGrpSpPr/>
            <p:nvPr/>
          </p:nvGrpSpPr>
          <p:grpSpPr>
            <a:xfrm>
              <a:off x="6229350" y="4914900"/>
              <a:ext cx="114300" cy="114300"/>
              <a:chOff x="6229350" y="4914900"/>
              <a:chExt cx="114300" cy="114300"/>
            </a:xfrm>
          </p:grpSpPr>
          <p:sp>
            <p:nvSpPr>
              <p:cNvPr id="197" name="Freeform 197"/>
              <p:cNvSpPr/>
              <p:nvPr/>
            </p:nvSpPr>
            <p:spPr>
              <a:xfrm>
                <a:off x="6229350" y="49149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D331F"/>
                </a:solidFill>
              </a:ln>
            </p:spPr>
          </p:sp>
          <p:sp>
            <p:nvSpPr>
              <p:cNvPr id="198" name="Freeform 198"/>
              <p:cNvSpPr/>
              <p:nvPr/>
            </p:nvSpPr>
            <p:spPr>
              <a:xfrm>
                <a:off x="6267450" y="4959350"/>
                <a:ext cx="38100" cy="25400"/>
              </a:xfrm>
              <a:custGeom>
                <a:avLst/>
                <a:gdLst/>
                <a:ahLst/>
                <a:cxnLst/>
                <a:rect l="l" t="t" r="r" b="b"/>
                <a:pathLst>
                  <a:path w="38100" h="25400">
                    <a:moveTo>
                      <a:pt x="0" y="12700"/>
                    </a:moveTo>
                    <a:lnTo>
                      <a:pt x="12700" y="25400"/>
                    </a:lnTo>
                    <a:lnTo>
                      <a:pt x="38100" y="0"/>
                    </a:lnTo>
                  </a:path>
                </a:pathLst>
              </a:custGeom>
              <a:noFill/>
              <a:ln w="12700">
                <a:solidFill>
                  <a:srgbClr val="9D331F"/>
                </a:solidFill>
              </a:ln>
            </p:spPr>
          </p:sp>
        </p:grpSp>
        <p:sp>
          <p:nvSpPr>
            <p:cNvPr id="200" name="TextBox 200"/>
            <p:cNvSpPr txBox="1"/>
            <p:nvPr/>
          </p:nvSpPr>
          <p:spPr>
            <a:xfrm>
              <a:off x="6434138" y="4934664"/>
              <a:ext cx="1817472" cy="154781"/>
            </a:xfrm>
            <a:prstGeom prst="rect">
              <a:avLst/>
            </a:prstGeom>
            <a:noFill/>
            <a:ln>
              <a:noFill/>
            </a:ln>
          </p:spPr>
          <p:txBody>
            <a:bodyPr wrap="none" lIns="0" tIns="0" rIns="0" bIns="0" anchor="t" anchorCtr="0">
              <a:spAutoFit/>
            </a:bodyPr>
            <a:lstStyle/>
            <a:p>
              <a:pPr algn="l"/>
              <a:r>
                <a:rPr lang="zh-CN" sz="790" dirty="0">
                  <a:solidFill>
                    <a:srgbClr val="5C3A33"/>
                  </a:solidFill>
                  <a:latin typeface="+mn-lt"/>
                  <a:ea typeface="+mn-ea"/>
                  <a:cs typeface="+mn-cs"/>
                </a:rPr>
                <a:t>需要制度、流程、治理和人的专业判断</a:t>
              </a:r>
            </a:p>
          </p:txBody>
        </p:sp>
        <p:grpSp>
          <p:nvGrpSpPr>
            <p:cNvPr id="203" name="Group 203"/>
            <p:cNvGrpSpPr/>
            <p:nvPr/>
          </p:nvGrpSpPr>
          <p:grpSpPr>
            <a:xfrm>
              <a:off x="6229350" y="5238750"/>
              <a:ext cx="114300" cy="114300"/>
              <a:chOff x="6229350" y="5238750"/>
              <a:chExt cx="114300" cy="114300"/>
            </a:xfrm>
          </p:grpSpPr>
          <p:sp>
            <p:nvSpPr>
              <p:cNvPr id="201" name="Freeform 201"/>
              <p:cNvSpPr/>
              <p:nvPr/>
            </p:nvSpPr>
            <p:spPr>
              <a:xfrm>
                <a:off x="6229350" y="52387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D331F"/>
                </a:solidFill>
              </a:ln>
            </p:spPr>
          </p:sp>
          <p:sp>
            <p:nvSpPr>
              <p:cNvPr id="202" name="Freeform 202"/>
              <p:cNvSpPr/>
              <p:nvPr/>
            </p:nvSpPr>
            <p:spPr>
              <a:xfrm>
                <a:off x="6267450" y="5283200"/>
                <a:ext cx="38100" cy="25400"/>
              </a:xfrm>
              <a:custGeom>
                <a:avLst/>
                <a:gdLst/>
                <a:ahLst/>
                <a:cxnLst/>
                <a:rect l="l" t="t" r="r" b="b"/>
                <a:pathLst>
                  <a:path w="38100" h="25400">
                    <a:moveTo>
                      <a:pt x="0" y="12700"/>
                    </a:moveTo>
                    <a:lnTo>
                      <a:pt x="12700" y="25400"/>
                    </a:lnTo>
                    <a:lnTo>
                      <a:pt x="38100" y="0"/>
                    </a:lnTo>
                  </a:path>
                </a:pathLst>
              </a:custGeom>
              <a:noFill/>
              <a:ln w="12700">
                <a:solidFill>
                  <a:srgbClr val="9D331F"/>
                </a:solidFill>
              </a:ln>
            </p:spPr>
          </p:sp>
        </p:grpSp>
        <p:sp>
          <p:nvSpPr>
            <p:cNvPr id="204" name="TextBox 204"/>
            <p:cNvSpPr txBox="1"/>
            <p:nvPr/>
          </p:nvSpPr>
          <p:spPr>
            <a:xfrm>
              <a:off x="6434138" y="5258514"/>
              <a:ext cx="1179373" cy="154781"/>
            </a:xfrm>
            <a:prstGeom prst="rect">
              <a:avLst/>
            </a:prstGeom>
            <a:noFill/>
            <a:ln>
              <a:noFill/>
            </a:ln>
          </p:spPr>
          <p:txBody>
            <a:bodyPr wrap="none" lIns="0" tIns="0" rIns="0" bIns="0" anchor="t" anchorCtr="0">
              <a:spAutoFit/>
            </a:bodyPr>
            <a:lstStyle/>
            <a:p>
              <a:pPr algn="l"/>
              <a:r>
                <a:rPr lang="zh-CN" sz="790" dirty="0">
                  <a:solidFill>
                    <a:srgbClr val="5C3A33"/>
                  </a:solidFill>
                  <a:latin typeface="+mn-lt"/>
                  <a:ea typeface="+mn-ea"/>
                  <a:cs typeface="+mn-cs"/>
                </a:rPr>
                <a:t>需要持续监控和动态优化</a:t>
              </a:r>
            </a:p>
          </p:txBody>
        </p:sp>
        <p:grpSp>
          <p:nvGrpSpPr>
            <p:cNvPr id="207" name="Group 207"/>
            <p:cNvGrpSpPr/>
            <p:nvPr/>
          </p:nvGrpSpPr>
          <p:grpSpPr>
            <a:xfrm>
              <a:off x="6229350" y="5562600"/>
              <a:ext cx="114300" cy="114300"/>
              <a:chOff x="6229350" y="5562600"/>
              <a:chExt cx="114300" cy="114300"/>
            </a:xfrm>
          </p:grpSpPr>
          <p:sp>
            <p:nvSpPr>
              <p:cNvPr id="205" name="Freeform 205"/>
              <p:cNvSpPr/>
              <p:nvPr/>
            </p:nvSpPr>
            <p:spPr>
              <a:xfrm>
                <a:off x="6229350" y="55626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D331F"/>
                </a:solidFill>
              </a:ln>
            </p:spPr>
          </p:sp>
          <p:sp>
            <p:nvSpPr>
              <p:cNvPr id="206" name="Freeform 206"/>
              <p:cNvSpPr/>
              <p:nvPr/>
            </p:nvSpPr>
            <p:spPr>
              <a:xfrm>
                <a:off x="6267450" y="5607050"/>
                <a:ext cx="38100" cy="25400"/>
              </a:xfrm>
              <a:custGeom>
                <a:avLst/>
                <a:gdLst/>
                <a:ahLst/>
                <a:cxnLst/>
                <a:rect l="l" t="t" r="r" b="b"/>
                <a:pathLst>
                  <a:path w="38100" h="25400">
                    <a:moveTo>
                      <a:pt x="0" y="12700"/>
                    </a:moveTo>
                    <a:lnTo>
                      <a:pt x="12700" y="25400"/>
                    </a:lnTo>
                    <a:lnTo>
                      <a:pt x="38100" y="0"/>
                    </a:lnTo>
                  </a:path>
                </a:pathLst>
              </a:custGeom>
              <a:noFill/>
              <a:ln w="12700">
                <a:solidFill>
                  <a:srgbClr val="9D331F"/>
                </a:solidFill>
              </a:ln>
            </p:spPr>
          </p:sp>
        </p:grpSp>
        <p:sp>
          <p:nvSpPr>
            <p:cNvPr id="208" name="TextBox 208"/>
            <p:cNvSpPr txBox="1"/>
            <p:nvPr/>
          </p:nvSpPr>
          <p:spPr>
            <a:xfrm>
              <a:off x="6434138" y="5582364"/>
              <a:ext cx="2349221" cy="154781"/>
            </a:xfrm>
            <a:prstGeom prst="rect">
              <a:avLst/>
            </a:prstGeom>
            <a:noFill/>
            <a:ln>
              <a:noFill/>
            </a:ln>
          </p:spPr>
          <p:txBody>
            <a:bodyPr wrap="none" lIns="0" tIns="0" rIns="0" bIns="0" anchor="t" anchorCtr="0">
              <a:spAutoFit/>
            </a:bodyPr>
            <a:lstStyle/>
            <a:p>
              <a:pPr algn="l"/>
              <a:r>
                <a:rPr lang="zh-CN" sz="790" dirty="0">
                  <a:solidFill>
                    <a:srgbClr val="5C3A33"/>
                  </a:solidFill>
                  <a:latin typeface="+mn-lt"/>
                  <a:ea typeface="+mn-ea"/>
                  <a:cs typeface="+mn-cs"/>
                </a:rPr>
                <a:t>最终要服务于授信、定价、资本和贷后等核心应用</a:t>
              </a:r>
            </a:p>
          </p:txBody>
        </p:sp>
        <p:grpSp>
          <p:nvGrpSpPr>
            <p:cNvPr id="211" name="Group 211"/>
            <p:cNvGrpSpPr/>
            <p:nvPr/>
          </p:nvGrpSpPr>
          <p:grpSpPr>
            <a:xfrm>
              <a:off x="6229350" y="5886450"/>
              <a:ext cx="114300" cy="114300"/>
              <a:chOff x="6229350" y="5886450"/>
              <a:chExt cx="114300" cy="114300"/>
            </a:xfrm>
          </p:grpSpPr>
          <p:sp>
            <p:nvSpPr>
              <p:cNvPr id="209" name="Freeform 209"/>
              <p:cNvSpPr/>
              <p:nvPr/>
            </p:nvSpPr>
            <p:spPr>
              <a:xfrm>
                <a:off x="6229350" y="58864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D331F"/>
                </a:solidFill>
              </a:ln>
            </p:spPr>
          </p:sp>
          <p:sp>
            <p:nvSpPr>
              <p:cNvPr id="210" name="Freeform 210"/>
              <p:cNvSpPr/>
              <p:nvPr/>
            </p:nvSpPr>
            <p:spPr>
              <a:xfrm>
                <a:off x="6267450" y="5930900"/>
                <a:ext cx="38100" cy="25400"/>
              </a:xfrm>
              <a:custGeom>
                <a:avLst/>
                <a:gdLst/>
                <a:ahLst/>
                <a:cxnLst/>
                <a:rect l="l" t="t" r="r" b="b"/>
                <a:pathLst>
                  <a:path w="38100" h="25400">
                    <a:moveTo>
                      <a:pt x="0" y="12700"/>
                    </a:moveTo>
                    <a:lnTo>
                      <a:pt x="12700" y="25400"/>
                    </a:lnTo>
                    <a:lnTo>
                      <a:pt x="38100" y="0"/>
                    </a:lnTo>
                  </a:path>
                </a:pathLst>
              </a:custGeom>
              <a:noFill/>
              <a:ln w="12700">
                <a:solidFill>
                  <a:srgbClr val="9D331F"/>
                </a:solidFill>
              </a:ln>
            </p:spPr>
          </p:sp>
        </p:grpSp>
        <p:sp>
          <p:nvSpPr>
            <p:cNvPr id="212" name="TextBox 212"/>
            <p:cNvSpPr txBox="1"/>
            <p:nvPr/>
          </p:nvSpPr>
          <p:spPr>
            <a:xfrm>
              <a:off x="6434138" y="5906214"/>
              <a:ext cx="2030171" cy="154781"/>
            </a:xfrm>
            <a:prstGeom prst="rect">
              <a:avLst/>
            </a:prstGeom>
            <a:noFill/>
            <a:ln>
              <a:noFill/>
            </a:ln>
          </p:spPr>
          <p:txBody>
            <a:bodyPr wrap="none" lIns="0" tIns="0" rIns="0" bIns="0" anchor="t" anchorCtr="0">
              <a:spAutoFit/>
            </a:bodyPr>
            <a:lstStyle/>
            <a:p>
              <a:pPr algn="l"/>
              <a:r>
                <a:rPr lang="zh-CN" sz="790" dirty="0">
                  <a:solidFill>
                    <a:srgbClr val="5C3A33"/>
                  </a:solidFill>
                  <a:latin typeface="+mn-lt"/>
                  <a:ea typeface="+mn-ea"/>
                  <a:cs typeface="+mn-cs"/>
                </a:rPr>
                <a:t>只有形成完整闭环，才能真正发挥评级价值</a:t>
              </a:r>
            </a:p>
          </p:txBody>
        </p:sp>
        <p:sp>
          <p:nvSpPr>
            <p:cNvPr id="213" name="TextBox 213"/>
            <p:cNvSpPr txBox="1"/>
            <p:nvPr/>
          </p:nvSpPr>
          <p:spPr>
            <a:xfrm>
              <a:off x="10174453" y="5196364"/>
              <a:ext cx="529895" cy="249364"/>
            </a:xfrm>
            <a:prstGeom prst="rect">
              <a:avLst/>
            </a:prstGeom>
            <a:noFill/>
            <a:ln>
              <a:noFill/>
            </a:ln>
          </p:spPr>
          <p:txBody>
            <a:bodyPr wrap="none" lIns="0" tIns="0" rIns="0" bIns="0" anchor="t" anchorCtr="0">
              <a:spAutoFit/>
            </a:bodyPr>
            <a:lstStyle/>
            <a:p>
              <a:pPr algn="ctr"/>
              <a:r>
                <a:rPr lang="zh-CN" sz="1280" b="1" i="1" dirty="0">
                  <a:solidFill>
                    <a:srgbClr val="9E240C"/>
                  </a:solidFill>
                  <a:latin typeface="+mn-lt"/>
                  <a:ea typeface="+mn-ea"/>
                  <a:cs typeface="+mn-cs"/>
                </a:rPr>
                <a:t>让评级</a:t>
              </a:r>
            </a:p>
          </p:txBody>
        </p:sp>
        <p:sp>
          <p:nvSpPr>
            <p:cNvPr id="214" name="TextBox 214"/>
            <p:cNvSpPr txBox="1"/>
            <p:nvPr/>
          </p:nvSpPr>
          <p:spPr>
            <a:xfrm>
              <a:off x="9829825" y="5463064"/>
              <a:ext cx="1219149" cy="249364"/>
            </a:xfrm>
            <a:prstGeom prst="rect">
              <a:avLst/>
            </a:prstGeom>
            <a:noFill/>
            <a:ln>
              <a:noFill/>
            </a:ln>
          </p:spPr>
          <p:txBody>
            <a:bodyPr wrap="none" lIns="0" tIns="0" rIns="0" bIns="0" anchor="t" anchorCtr="0">
              <a:spAutoFit/>
            </a:bodyPr>
            <a:lstStyle/>
            <a:p>
              <a:pPr algn="ctr"/>
              <a:r>
                <a:rPr lang="zh-CN" sz="1280" b="1" i="1" dirty="0">
                  <a:solidFill>
                    <a:srgbClr val="9E240C"/>
                  </a:solidFill>
                  <a:latin typeface="+mn-lt"/>
                  <a:ea typeface="+mn-ea"/>
                  <a:cs typeface="+mn-cs"/>
                </a:rPr>
                <a:t>从模型走向价值</a:t>
              </a:r>
            </a:p>
          </p:txBody>
        </p:sp>
        <p:sp>
          <p:nvSpPr>
            <p:cNvPr id="215" name="Line 215"/>
            <p:cNvSpPr/>
            <p:nvPr/>
          </p:nvSpPr>
          <p:spPr>
            <a:xfrm>
              <a:off x="9734550" y="5734050"/>
              <a:ext cx="1409700" cy="9525"/>
            </a:xfrm>
            <a:custGeom>
              <a:avLst/>
              <a:gdLst/>
              <a:ahLst/>
              <a:cxnLst/>
              <a:rect l="l" t="t" r="r" b="b"/>
              <a:pathLst>
                <a:path w="1409700" h="9525">
                  <a:moveTo>
                    <a:pt x="0" y="0"/>
                  </a:moveTo>
                  <a:lnTo>
                    <a:pt x="1409700" y="0"/>
                  </a:lnTo>
                </a:path>
              </a:pathLst>
            </a:custGeom>
            <a:noFill/>
            <a:ln w="19050">
              <a:solidFill>
                <a:srgbClr val="9E240C"/>
              </a:solidFill>
            </a:ln>
          </p:spPr>
        </p:sp>
        <p:sp>
          <p:nvSpPr>
            <p:cNvPr id="216" name="TextBox 216"/>
            <p:cNvSpPr txBox="1"/>
            <p:nvPr/>
          </p:nvSpPr>
          <p:spPr>
            <a:xfrm>
              <a:off x="10057702" y="5863828"/>
              <a:ext cx="763397"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n-lt"/>
                  <a:ea typeface="+mn-ea"/>
                  <a:cs typeface="+mn-cs"/>
                </a:rPr>
                <a:t>让评级从模型走向价值</a:t>
              </a:r>
            </a:p>
          </p:txBody>
        </p:sp>
      </p:grpSp>
      <p:grpSp>
        <p:nvGrpSpPr>
          <p:cNvPr id="223" name="footer"/>
          <p:cNvGrpSpPr/>
          <p:nvPr/>
        </p:nvGrpSpPr>
        <p:grpSpPr>
          <a:xfrm>
            <a:off x="0" y="6648450"/>
            <a:ext cx="12192000" cy="222886"/>
            <a:chOff x="0" y="6648450"/>
            <a:chExt cx="12192000" cy="222886"/>
          </a:xfrm>
        </p:grpSpPr>
        <p:sp>
          <p:nvSpPr>
            <p:cNvPr id="218" name="Rectangle 218"/>
            <p:cNvSpPr/>
            <p:nvPr/>
          </p:nvSpPr>
          <p:spPr>
            <a:xfrm>
              <a:off x="0" y="6648450"/>
              <a:ext cx="12192000" cy="209550"/>
            </a:xfrm>
            <a:prstGeom prst="rect">
              <a:avLst/>
            </a:prstGeom>
            <a:solidFill>
              <a:srgbClr val="DDECF9"/>
            </a:solidFill>
            <a:ln>
              <a:noFill/>
            </a:ln>
          </p:spPr>
        </p:sp>
        <p:sp>
          <p:nvSpPr>
            <p:cNvPr id="219" name="TextBox 219"/>
            <p:cNvSpPr txBox="1"/>
            <p:nvPr/>
          </p:nvSpPr>
          <p:spPr>
            <a:xfrm>
              <a:off x="223838" y="6676311"/>
              <a:ext cx="889580" cy="140494"/>
            </a:xfrm>
            <a:prstGeom prst="rect">
              <a:avLst/>
            </a:prstGeom>
            <a:noFill/>
            <a:ln>
              <a:noFill/>
            </a:ln>
          </p:spPr>
          <p:txBody>
            <a:bodyPr wrap="none" lIns="0" tIns="0" rIns="0" bIns="0" anchor="t" anchorCtr="0">
              <a:spAutoFit/>
            </a:bodyPr>
            <a:lstStyle/>
            <a:p>
              <a:pPr algn="l"/>
              <a:r>
                <a:rPr lang="zh-CN" sz="710" b="1" dirty="0">
                  <a:solidFill>
                    <a:srgbClr val="96574A"/>
                  </a:solidFill>
                  <a:latin typeface="+mn-lt"/>
                  <a:ea typeface="+mn-ea"/>
                  <a:cs typeface="+mn-cs"/>
                </a:rPr>
                <a:t>稳健经营 · 专业致远</a:t>
              </a:r>
            </a:p>
          </p:txBody>
        </p:sp>
        <p:sp>
          <p:nvSpPr>
            <p:cNvPr id="220" name="TextBox 220"/>
            <p:cNvSpPr txBox="1"/>
            <p:nvPr/>
          </p:nvSpPr>
          <p:spPr>
            <a:xfrm>
              <a:off x="223838" y="6780848"/>
              <a:ext cx="1634291" cy="90488"/>
            </a:xfrm>
            <a:prstGeom prst="rect">
              <a:avLst/>
            </a:prstGeom>
            <a:noFill/>
            <a:ln>
              <a:noFill/>
            </a:ln>
          </p:spPr>
          <p:txBody>
            <a:bodyPr wrap="none" lIns="0" tIns="0" rIns="0" bIns="0" anchor="t" anchorCtr="0">
              <a:spAutoFit/>
            </a:bodyPr>
            <a:lstStyle/>
            <a:p>
              <a:pPr algn="l"/>
              <a:r>
                <a:rPr lang="en-US" sz="450" dirty="0">
                  <a:solidFill>
                    <a:srgbClr val="C4988F"/>
                  </a:solidFill>
                  <a:latin typeface="+mj-lt"/>
                  <a:ea typeface="+mj-ea"/>
                  <a:cs typeface="+mj-cs"/>
                </a:rPr>
                <a:t>PRUDENT BANKING FOR A BRIGHTER TOMORROW​</a:t>
              </a:r>
            </a:p>
          </p:txBody>
        </p:sp>
        <p:sp>
          <p:nvSpPr>
            <p:cNvPr id="221" name="TextBox 221"/>
            <p:cNvSpPr txBox="1"/>
            <p:nvPr/>
          </p:nvSpPr>
          <p:spPr>
            <a:xfrm>
              <a:off x="10696262" y="6676311"/>
              <a:ext cx="1271900" cy="140494"/>
            </a:xfrm>
            <a:prstGeom prst="rect">
              <a:avLst/>
            </a:prstGeom>
            <a:noFill/>
            <a:ln>
              <a:noFill/>
            </a:ln>
          </p:spPr>
          <p:txBody>
            <a:bodyPr wrap="none" lIns="0" tIns="0" rIns="0" bIns="0" anchor="t" anchorCtr="0">
              <a:spAutoFit/>
            </a:bodyPr>
            <a:lstStyle/>
            <a:p>
              <a:pPr algn="r"/>
              <a:r>
                <a:rPr lang="zh-CN" sz="710" b="1" dirty="0">
                  <a:solidFill>
                    <a:srgbClr val="96574A"/>
                  </a:solidFill>
                  <a:latin typeface="+mn-lt"/>
                  <a:ea typeface="+mn-ea"/>
                  <a:cs typeface="+mn-cs"/>
                </a:rPr>
                <a:t>金融向善 · 与实体经济共成长</a:t>
              </a:r>
            </a:p>
          </p:txBody>
        </p:sp>
        <p:sp>
          <p:nvSpPr>
            <p:cNvPr id="222" name="TextBox 222"/>
            <p:cNvSpPr txBox="1"/>
            <p:nvPr/>
          </p:nvSpPr>
          <p:spPr>
            <a:xfrm>
              <a:off x="10625338" y="6780848"/>
              <a:ext cx="1342824" cy="90488"/>
            </a:xfrm>
            <a:prstGeom prst="rect">
              <a:avLst/>
            </a:prstGeom>
            <a:noFill/>
            <a:ln>
              <a:noFill/>
            </a:ln>
          </p:spPr>
          <p:txBody>
            <a:bodyPr wrap="none" lIns="0" tIns="0" rIns="0" bIns="0" anchor="t" anchorCtr="0">
              <a:spAutoFit/>
            </a:bodyPr>
            <a:lstStyle/>
            <a:p>
              <a:pPr algn="r"/>
              <a:r>
                <a:rPr lang="en-US" sz="450" dirty="0">
                  <a:solidFill>
                    <a:srgbClr val="C4988F"/>
                  </a:solidFill>
                  <a:latin typeface="+mj-lt"/>
                  <a:ea typeface="+mj-ea"/>
                  <a:cs typeface="+mj-cs"/>
                </a:rPr>
                <a:t>FINANCE FOR A BETTER REAL ECONOMY​</a:t>
              </a:r>
            </a:p>
          </p:txBody>
        </p:sp>
      </p:gr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9" name="header"/>
          <p:cNvGrpSpPr/>
          <p:nvPr/>
        </p:nvGrpSpPr>
        <p:grpSpPr>
          <a:xfrm>
            <a:off x="0" y="0"/>
            <a:ext cx="12025313" cy="542925"/>
            <a:chOff x="0" y="0"/>
            <a:chExt cx="12025313"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472E"/>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942594" y="151448"/>
              <a:ext cx="1961388" cy="381381"/>
            </a:xfrm>
            <a:prstGeom prst="rect">
              <a:avLst/>
            </a:prstGeom>
            <a:noFill/>
            <a:ln>
              <a:noFill/>
            </a:ln>
          </p:spPr>
          <p:txBody>
            <a:bodyPr wrap="none" lIns="0" tIns="0" rIns="0" bIns="0" anchor="t" anchorCtr="0">
              <a:spAutoFit/>
            </a:bodyPr>
            <a:lstStyle/>
            <a:p>
              <a:pPr algn="l"/>
              <a:r>
                <a:rPr lang="zh-CN" sz="1950" b="1" dirty="0">
                  <a:solidFill>
                    <a:srgbClr val="3E1810"/>
                  </a:solidFill>
                  <a:latin typeface="SimSun"/>
                  <a:ea typeface="SimSun"/>
                  <a:cs typeface="SimSun"/>
                </a:rPr>
                <a:t>评级建模</a:t>
              </a:r>
              <a:r>
                <a:rPr lang="zh-CN" sz="1950" b="1" dirty="0">
                  <a:solidFill>
                    <a:srgbClr val="C4472E"/>
                  </a:solidFill>
                  <a:latin typeface="SimSun"/>
                  <a:ea typeface="SimSun"/>
                  <a:cs typeface="SimSun"/>
                </a:rPr>
                <a:t>全流程</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4472E"/>
              </a:solidFill>
            </a:ln>
          </p:spPr>
        </p:sp>
        <p:sp>
          <p:nvSpPr>
            <p:cNvPr id="6" name="TextBox 6"/>
            <p:cNvSpPr txBox="1"/>
            <p:nvPr/>
          </p:nvSpPr>
          <p:spPr>
            <a:xfrm>
              <a:off x="10580738" y="63341"/>
              <a:ext cx="1444574" cy="161925"/>
            </a:xfrm>
            <a:prstGeom prst="rect">
              <a:avLst/>
            </a:prstGeom>
            <a:noFill/>
            <a:ln>
              <a:noFill/>
            </a:ln>
          </p:spPr>
          <p:txBody>
            <a:bodyPr wrap="none" lIns="0" tIns="0" rIns="0" bIns="0" anchor="t" anchorCtr="0">
              <a:spAutoFit/>
            </a:bodyPr>
            <a:lstStyle/>
            <a:p>
              <a:pPr algn="r"/>
              <a:r>
                <a:rPr lang="zh-CN" sz="820" b="1" dirty="0">
                  <a:solidFill>
                    <a:srgbClr val="9E311B"/>
                  </a:solidFill>
                  <a:latin typeface="+mn-lt"/>
                  <a:ea typeface="+mn-ea"/>
                  <a:cs typeface="+mn-cs"/>
                </a:rPr>
                <a:t>让数据成为更好的金融生产力</a:t>
              </a:r>
            </a:p>
          </p:txBody>
        </p:sp>
        <p:sp>
          <p:nvSpPr>
            <p:cNvPr id="7" name="TextBox 7"/>
            <p:cNvSpPr txBox="1"/>
            <p:nvPr/>
          </p:nvSpPr>
          <p:spPr>
            <a:xfrm>
              <a:off x="10538198" y="255032"/>
              <a:ext cx="1487114"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更稳健的资产质量 · 更高效的资源配置</a:t>
              </a:r>
            </a:p>
          </p:txBody>
        </p:sp>
        <p:sp>
          <p:nvSpPr>
            <p:cNvPr id="8" name="TextBox 8"/>
            <p:cNvSpPr txBox="1"/>
            <p:nvPr/>
          </p:nvSpPr>
          <p:spPr>
            <a:xfrm>
              <a:off x="10452042" y="407432"/>
              <a:ext cx="1573271"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更智能的风险管理 · 更可持续的业务增长</a:t>
              </a:r>
            </a:p>
          </p:txBody>
        </p:sp>
      </p:grpSp>
      <p:grpSp>
        <p:nvGrpSpPr>
          <p:cNvPr id="12" name="intro"/>
          <p:cNvGrpSpPr/>
          <p:nvPr/>
        </p:nvGrpSpPr>
        <p:grpSpPr>
          <a:xfrm>
            <a:off x="3983731" y="592693"/>
            <a:ext cx="4224538" cy="359569"/>
            <a:chOff x="3983731" y="592693"/>
            <a:chExt cx="4224538" cy="359569"/>
          </a:xfrm>
        </p:grpSpPr>
        <p:sp>
          <p:nvSpPr>
            <p:cNvPr id="10" name="TextBox 10"/>
            <p:cNvSpPr txBox="1"/>
            <p:nvPr/>
          </p:nvSpPr>
          <p:spPr>
            <a:xfrm>
              <a:off x="4412526" y="592693"/>
              <a:ext cx="3366948" cy="169069"/>
            </a:xfrm>
            <a:prstGeom prst="rect">
              <a:avLst/>
            </a:prstGeom>
            <a:noFill/>
            <a:ln>
              <a:noFill/>
            </a:ln>
          </p:spPr>
          <p:txBody>
            <a:bodyPr wrap="none" lIns="0" tIns="0" rIns="0" bIns="0" anchor="t" anchorCtr="0">
              <a:spAutoFit/>
            </a:bodyPr>
            <a:lstStyle/>
            <a:p>
              <a:pPr algn="ctr"/>
              <a:r>
                <a:rPr lang="zh-CN" sz="860" dirty="0">
                  <a:solidFill>
                    <a:srgbClr val="8C716B"/>
                  </a:solidFill>
                  <a:latin typeface="+mn-lt"/>
                  <a:ea typeface="+mn-ea"/>
                  <a:cs typeface="+mn-cs"/>
                </a:rPr>
                <a:t>从业务问题到落地应用，构建可用、可信、可持续的内部评级模型</a:t>
              </a:r>
            </a:p>
          </p:txBody>
        </p:sp>
        <p:sp>
          <p:nvSpPr>
            <p:cNvPr id="11" name="TextBox 11"/>
            <p:cNvSpPr txBox="1"/>
            <p:nvPr/>
          </p:nvSpPr>
          <p:spPr>
            <a:xfrm>
              <a:off x="3983731" y="783193"/>
              <a:ext cx="4224538" cy="169069"/>
            </a:xfrm>
            <a:prstGeom prst="rect">
              <a:avLst/>
            </a:prstGeom>
            <a:noFill/>
            <a:ln>
              <a:noFill/>
            </a:ln>
          </p:spPr>
          <p:txBody>
            <a:bodyPr wrap="none" lIns="0" tIns="0" rIns="0" bIns="0" anchor="t" anchorCtr="0">
              <a:spAutoFit/>
            </a:bodyPr>
            <a:lstStyle/>
            <a:p>
              <a:pPr algn="ctr"/>
              <a:r>
                <a:rPr lang="zh-CN" sz="860" b="1" dirty="0">
                  <a:solidFill>
                    <a:srgbClr val="9E311B"/>
                  </a:solidFill>
                  <a:latin typeface="+mn-lt"/>
                  <a:ea typeface="+mn-ea"/>
                  <a:cs typeface="+mn-cs"/>
                </a:rPr>
                <a:t>科学的流程 × 严谨的方法 × 扎实的数据 = 更精准的风险识别 × 更高效的信贷决策​</a:t>
              </a:r>
            </a:p>
          </p:txBody>
        </p:sp>
      </p:grpSp>
      <p:grpSp>
        <p:nvGrpSpPr>
          <p:cNvPr id="15" name="band-seg-1"/>
          <p:cNvGrpSpPr/>
          <p:nvPr/>
        </p:nvGrpSpPr>
        <p:grpSpPr>
          <a:xfrm>
            <a:off x="190500" y="952500"/>
            <a:ext cx="3867150" cy="247650"/>
            <a:chOff x="190500" y="952500"/>
            <a:chExt cx="3867150" cy="247650"/>
          </a:xfrm>
        </p:grpSpPr>
        <p:sp>
          <p:nvSpPr>
            <p:cNvPr id="13" name="Freeform 13"/>
            <p:cNvSpPr/>
            <p:nvPr/>
          </p:nvSpPr>
          <p:spPr>
            <a:xfrm>
              <a:off x="190500" y="952500"/>
              <a:ext cx="3867150" cy="247650"/>
            </a:xfrm>
            <a:prstGeom prst="homePlate">
              <a:avLst/>
            </a:prstGeom>
            <a:solidFill>
              <a:srgbClr val="D25C44"/>
            </a:solidFill>
            <a:ln>
              <a:noFill/>
            </a:ln>
          </p:spPr>
        </p:sp>
        <p:sp>
          <p:nvSpPr>
            <p:cNvPr id="14" name="TextBox 14"/>
            <p:cNvSpPr txBox="1"/>
            <p:nvPr/>
          </p:nvSpPr>
          <p:spPr>
            <a:xfrm>
              <a:off x="1293381" y="1013222"/>
              <a:ext cx="15280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夯实基础：定义问题与数据</a:t>
              </a:r>
            </a:p>
          </p:txBody>
        </p:sp>
      </p:grpSp>
      <p:grpSp>
        <p:nvGrpSpPr>
          <p:cNvPr id="18" name="band-seg-2"/>
          <p:cNvGrpSpPr/>
          <p:nvPr/>
        </p:nvGrpSpPr>
        <p:grpSpPr>
          <a:xfrm>
            <a:off x="4114800" y="952500"/>
            <a:ext cx="3867150" cy="247650"/>
            <a:chOff x="4114800" y="952500"/>
            <a:chExt cx="3867150" cy="247650"/>
          </a:xfrm>
        </p:grpSpPr>
        <p:sp>
          <p:nvSpPr>
            <p:cNvPr id="16" name="Freeform 16"/>
            <p:cNvSpPr/>
            <p:nvPr/>
          </p:nvSpPr>
          <p:spPr>
            <a:xfrm>
              <a:off x="4114800" y="952500"/>
              <a:ext cx="3867150" cy="247650"/>
            </a:xfrm>
            <a:prstGeom prst="chevron">
              <a:avLst/>
            </a:prstGeom>
            <a:solidFill>
              <a:srgbClr val="D04A2F"/>
            </a:solidFill>
            <a:ln>
              <a:noFill/>
            </a:ln>
          </p:spPr>
        </p:sp>
        <p:sp>
          <p:nvSpPr>
            <p:cNvPr id="17" name="TextBox 17"/>
            <p:cNvSpPr txBox="1"/>
            <p:nvPr/>
          </p:nvSpPr>
          <p:spPr>
            <a:xfrm>
              <a:off x="5366677" y="1013222"/>
              <a:ext cx="14014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构建模型：从数据到预测</a:t>
              </a:r>
            </a:p>
          </p:txBody>
        </p:sp>
      </p:grpSp>
      <p:grpSp>
        <p:nvGrpSpPr>
          <p:cNvPr id="21" name="band-seg-3"/>
          <p:cNvGrpSpPr/>
          <p:nvPr/>
        </p:nvGrpSpPr>
        <p:grpSpPr>
          <a:xfrm>
            <a:off x="8039100" y="952500"/>
            <a:ext cx="3962400" cy="247650"/>
            <a:chOff x="8039100" y="952500"/>
            <a:chExt cx="3962400" cy="247650"/>
          </a:xfrm>
        </p:grpSpPr>
        <p:sp>
          <p:nvSpPr>
            <p:cNvPr id="19" name="Freeform 19"/>
            <p:cNvSpPr/>
            <p:nvPr/>
          </p:nvSpPr>
          <p:spPr>
            <a:xfrm>
              <a:off x="8039100" y="952500"/>
              <a:ext cx="3962400" cy="247650"/>
            </a:xfrm>
            <a:prstGeom prst="chevron">
              <a:avLst/>
            </a:prstGeom>
            <a:solidFill>
              <a:srgbClr val="C93416"/>
            </a:solidFill>
            <a:ln>
              <a:noFill/>
            </a:ln>
          </p:spPr>
        </p:sp>
        <p:sp>
          <p:nvSpPr>
            <p:cNvPr id="20" name="TextBox 20"/>
            <p:cNvSpPr txBox="1"/>
            <p:nvPr/>
          </p:nvSpPr>
          <p:spPr>
            <a:xfrm>
              <a:off x="9275331" y="1013222"/>
              <a:ext cx="15280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输出结果：形成评级与应用</a:t>
              </a:r>
            </a:p>
          </p:txBody>
        </p:sp>
      </p:grpSp>
      <p:grpSp>
        <p:nvGrpSpPr>
          <p:cNvPr id="36" name="step-01"/>
          <p:cNvGrpSpPr/>
          <p:nvPr/>
        </p:nvGrpSpPr>
        <p:grpSpPr>
          <a:xfrm>
            <a:off x="190500" y="1257300"/>
            <a:ext cx="942975" cy="2171700"/>
            <a:chOff x="190500" y="1257300"/>
            <a:chExt cx="942975" cy="2171700"/>
          </a:xfrm>
        </p:grpSpPr>
        <p:sp>
          <p:nvSpPr>
            <p:cNvPr id="22" name="Rectangle 22"/>
            <p:cNvSpPr/>
            <p:nvPr/>
          </p:nvSpPr>
          <p:spPr>
            <a:xfrm>
              <a:off x="190500" y="1257300"/>
              <a:ext cx="942975" cy="2171700"/>
            </a:xfrm>
            <a:prstGeom prst="roundRect">
              <a:avLst>
                <a:gd name="adj" fmla="val 8081"/>
              </a:avLst>
            </a:prstGeom>
            <a:solidFill>
              <a:srgbClr val="F4F9FD"/>
            </a:solidFill>
            <a:ln w="9525">
              <a:solidFill>
                <a:srgbClr val="CFE2F2"/>
              </a:solidFill>
            </a:ln>
          </p:spPr>
        </p:sp>
        <p:sp>
          <p:nvSpPr>
            <p:cNvPr id="23" name="Rectangle 23"/>
            <p:cNvSpPr/>
            <p:nvPr/>
          </p:nvSpPr>
          <p:spPr>
            <a:xfrm>
              <a:off x="533400" y="1333500"/>
              <a:ext cx="247650" cy="142875"/>
            </a:xfrm>
            <a:prstGeom prst="roundRect">
              <a:avLst>
                <a:gd name="adj" fmla="val 46667"/>
              </a:avLst>
            </a:prstGeom>
            <a:solidFill>
              <a:srgbClr val="C4472E"/>
            </a:solidFill>
            <a:ln>
              <a:noFill/>
            </a:ln>
          </p:spPr>
        </p:sp>
        <p:sp>
          <p:nvSpPr>
            <p:cNvPr id="24" name="TextBox 24"/>
            <p:cNvSpPr txBox="1"/>
            <p:nvPr/>
          </p:nvSpPr>
          <p:spPr>
            <a:xfrm>
              <a:off x="599597"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01</a:t>
              </a:r>
            </a:p>
          </p:txBody>
        </p:sp>
        <p:grpSp>
          <p:nvGrpSpPr>
            <p:cNvPr id="28" name="Group 28"/>
            <p:cNvGrpSpPr/>
            <p:nvPr/>
          </p:nvGrpSpPr>
          <p:grpSpPr>
            <a:xfrm>
              <a:off x="578644" y="1569244"/>
              <a:ext cx="157163" cy="157163"/>
              <a:chOff x="578644" y="1569244"/>
              <a:chExt cx="157163" cy="157163"/>
            </a:xfrm>
          </p:grpSpPr>
          <p:sp>
            <p:nvSpPr>
              <p:cNvPr id="25" name="Freeform 25"/>
              <p:cNvSpPr/>
              <p:nvPr/>
            </p:nvSpPr>
            <p:spPr>
              <a:xfrm>
                <a:off x="648494" y="163909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C4472E"/>
                </a:solidFill>
              </a:ln>
            </p:spPr>
          </p:sp>
          <p:sp>
            <p:nvSpPr>
              <p:cNvPr id="26" name="Freeform 26"/>
              <p:cNvSpPr/>
              <p:nvPr/>
            </p:nvSpPr>
            <p:spPr>
              <a:xfrm>
                <a:off x="613569" y="160416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C4472E"/>
                </a:solidFill>
              </a:ln>
            </p:spPr>
          </p:sp>
          <p:sp>
            <p:nvSpPr>
              <p:cNvPr id="27" name="Freeform 27"/>
              <p:cNvSpPr/>
              <p:nvPr/>
            </p:nvSpPr>
            <p:spPr>
              <a:xfrm>
                <a:off x="578644" y="15692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4472E"/>
                </a:solidFill>
              </a:ln>
            </p:spPr>
          </p:sp>
        </p:grpSp>
        <p:sp>
          <p:nvSpPr>
            <p:cNvPr id="29" name="TextBox 29"/>
            <p:cNvSpPr txBox="1"/>
            <p:nvPr/>
          </p:nvSpPr>
          <p:spPr>
            <a:xfrm>
              <a:off x="420916" y="1849993"/>
              <a:ext cx="472618"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业务目标</a:t>
              </a:r>
            </a:p>
          </p:txBody>
        </p:sp>
        <p:sp>
          <p:nvSpPr>
            <p:cNvPr id="30" name="TextBox 30"/>
            <p:cNvSpPr txBox="1"/>
            <p:nvPr/>
          </p:nvSpPr>
          <p:spPr>
            <a:xfrm>
              <a:off x="280988"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明确应用场景</a:t>
              </a:r>
            </a:p>
          </p:txBody>
        </p:sp>
        <p:sp>
          <p:nvSpPr>
            <p:cNvPr id="31" name="TextBox 31"/>
            <p:cNvSpPr txBox="1"/>
            <p:nvPr/>
          </p:nvSpPr>
          <p:spPr>
            <a:xfrm>
              <a:off x="280988" y="22362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确定建模目标</a:t>
              </a:r>
            </a:p>
          </p:txBody>
        </p:sp>
        <p:sp>
          <p:nvSpPr>
            <p:cNvPr id="32" name="TextBox 32"/>
            <p:cNvSpPr txBox="1"/>
            <p:nvPr/>
          </p:nvSpPr>
          <p:spPr>
            <a:xfrm>
              <a:off x="280988" y="24076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设定成功标准</a:t>
              </a:r>
            </a:p>
          </p:txBody>
        </p:sp>
        <p:sp>
          <p:nvSpPr>
            <p:cNvPr id="33" name="Line 33"/>
            <p:cNvSpPr/>
            <p:nvPr/>
          </p:nvSpPr>
          <p:spPr>
            <a:xfrm>
              <a:off x="285750"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34" name="TextBox 34"/>
            <p:cNvSpPr txBox="1"/>
            <p:nvPr/>
          </p:nvSpPr>
          <p:spPr>
            <a:xfrm>
              <a:off x="280988" y="269748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解决什么问题</a:t>
              </a:r>
            </a:p>
          </p:txBody>
        </p:sp>
        <p:sp>
          <p:nvSpPr>
            <p:cNvPr id="35" name="TextBox 35"/>
            <p:cNvSpPr txBox="1"/>
            <p:nvPr/>
          </p:nvSpPr>
          <p:spPr>
            <a:xfrm>
              <a:off x="280988" y="283083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服务什么业务</a:t>
              </a:r>
            </a:p>
          </p:txBody>
        </p:sp>
      </p:grpSp>
      <p:grpSp>
        <p:nvGrpSpPr>
          <p:cNvPr id="51" name="step-02"/>
          <p:cNvGrpSpPr/>
          <p:nvPr/>
        </p:nvGrpSpPr>
        <p:grpSpPr>
          <a:xfrm>
            <a:off x="1171575" y="1257300"/>
            <a:ext cx="942975" cy="2171700"/>
            <a:chOff x="1171575" y="1257300"/>
            <a:chExt cx="942975" cy="2171700"/>
          </a:xfrm>
        </p:grpSpPr>
        <p:sp>
          <p:nvSpPr>
            <p:cNvPr id="37" name="Rectangle 37"/>
            <p:cNvSpPr/>
            <p:nvPr/>
          </p:nvSpPr>
          <p:spPr>
            <a:xfrm>
              <a:off x="1171575" y="1257300"/>
              <a:ext cx="942975" cy="2171700"/>
            </a:xfrm>
            <a:prstGeom prst="roundRect">
              <a:avLst>
                <a:gd name="adj" fmla="val 8081"/>
              </a:avLst>
            </a:prstGeom>
            <a:solidFill>
              <a:srgbClr val="F4F9FD"/>
            </a:solidFill>
            <a:ln w="9525">
              <a:solidFill>
                <a:srgbClr val="CFE2F2"/>
              </a:solidFill>
            </a:ln>
          </p:spPr>
        </p:sp>
        <p:sp>
          <p:nvSpPr>
            <p:cNvPr id="38" name="Rectangle 38"/>
            <p:cNvSpPr/>
            <p:nvPr/>
          </p:nvSpPr>
          <p:spPr>
            <a:xfrm>
              <a:off x="1514475" y="1333500"/>
              <a:ext cx="247650" cy="142875"/>
            </a:xfrm>
            <a:prstGeom prst="roundRect">
              <a:avLst>
                <a:gd name="adj" fmla="val 46667"/>
              </a:avLst>
            </a:prstGeom>
            <a:solidFill>
              <a:srgbClr val="C4472E"/>
            </a:solidFill>
            <a:ln>
              <a:noFill/>
            </a:ln>
          </p:spPr>
        </p:sp>
        <p:sp>
          <p:nvSpPr>
            <p:cNvPr id="39" name="TextBox 39"/>
            <p:cNvSpPr txBox="1"/>
            <p:nvPr/>
          </p:nvSpPr>
          <p:spPr>
            <a:xfrm>
              <a:off x="1580672"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02</a:t>
              </a:r>
            </a:p>
          </p:txBody>
        </p:sp>
        <p:grpSp>
          <p:nvGrpSpPr>
            <p:cNvPr id="43" name="Group 43"/>
            <p:cNvGrpSpPr/>
            <p:nvPr/>
          </p:nvGrpSpPr>
          <p:grpSpPr>
            <a:xfrm>
              <a:off x="1568450" y="1569244"/>
              <a:ext cx="139700" cy="157162"/>
              <a:chOff x="1568450" y="1569244"/>
              <a:chExt cx="139700" cy="157162"/>
            </a:xfrm>
          </p:grpSpPr>
          <p:sp>
            <p:nvSpPr>
              <p:cNvPr id="40" name="Freeform 40"/>
              <p:cNvSpPr/>
              <p:nvPr/>
            </p:nvSpPr>
            <p:spPr>
              <a:xfrm>
                <a:off x="1568450" y="156924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C4472E"/>
                </a:solidFill>
              </a:ln>
            </p:spPr>
          </p:sp>
          <p:sp>
            <p:nvSpPr>
              <p:cNvPr id="41" name="Freeform 41"/>
              <p:cNvSpPr/>
              <p:nvPr/>
            </p:nvSpPr>
            <p:spPr>
              <a:xfrm>
                <a:off x="1568450" y="159543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C4472E"/>
                </a:solidFill>
              </a:ln>
            </p:spPr>
          </p:sp>
          <p:sp>
            <p:nvSpPr>
              <p:cNvPr id="42" name="Freeform 42"/>
              <p:cNvSpPr/>
              <p:nvPr/>
            </p:nvSpPr>
            <p:spPr>
              <a:xfrm>
                <a:off x="1568450" y="164782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C4472E"/>
                </a:solidFill>
              </a:ln>
            </p:spPr>
          </p:sp>
        </p:grpSp>
        <p:sp>
          <p:nvSpPr>
            <p:cNvPr id="44" name="TextBox 44"/>
            <p:cNvSpPr txBox="1"/>
            <p:nvPr/>
          </p:nvSpPr>
          <p:spPr>
            <a:xfrm>
              <a:off x="1401991" y="1849993"/>
              <a:ext cx="472618"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数据准备</a:t>
              </a:r>
            </a:p>
          </p:txBody>
        </p:sp>
        <p:sp>
          <p:nvSpPr>
            <p:cNvPr id="45" name="TextBox 45"/>
            <p:cNvSpPr txBox="1"/>
            <p:nvPr/>
          </p:nvSpPr>
          <p:spPr>
            <a:xfrm>
              <a:off x="1262062"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多源数据整合</a:t>
              </a:r>
            </a:p>
          </p:txBody>
        </p:sp>
        <p:sp>
          <p:nvSpPr>
            <p:cNvPr id="46" name="TextBox 46"/>
            <p:cNvSpPr txBox="1"/>
            <p:nvPr/>
          </p:nvSpPr>
          <p:spPr>
            <a:xfrm>
              <a:off x="1262062" y="2236232"/>
              <a:ext cx="688823"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数据清洗与治理</a:t>
              </a:r>
            </a:p>
          </p:txBody>
        </p:sp>
        <p:sp>
          <p:nvSpPr>
            <p:cNvPr id="47" name="TextBox 47"/>
            <p:cNvSpPr txBox="1"/>
            <p:nvPr/>
          </p:nvSpPr>
          <p:spPr>
            <a:xfrm>
              <a:off x="1262062" y="24076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变量加工口径</a:t>
              </a:r>
            </a:p>
          </p:txBody>
        </p:sp>
        <p:sp>
          <p:nvSpPr>
            <p:cNvPr id="48" name="Line 48"/>
            <p:cNvSpPr/>
            <p:nvPr/>
          </p:nvSpPr>
          <p:spPr>
            <a:xfrm>
              <a:off x="1266825"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49" name="TextBox 49"/>
            <p:cNvSpPr txBox="1"/>
            <p:nvPr/>
          </p:nvSpPr>
          <p:spPr>
            <a:xfrm>
              <a:off x="1262062" y="269748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高质量的数据</a:t>
              </a:r>
            </a:p>
          </p:txBody>
        </p:sp>
        <p:sp>
          <p:nvSpPr>
            <p:cNvPr id="50" name="TextBox 50"/>
            <p:cNvSpPr txBox="1"/>
            <p:nvPr/>
          </p:nvSpPr>
          <p:spPr>
            <a:xfrm>
              <a:off x="1262062" y="283083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是模型的基石</a:t>
              </a:r>
            </a:p>
          </p:txBody>
        </p:sp>
      </p:grpSp>
      <p:grpSp>
        <p:nvGrpSpPr>
          <p:cNvPr id="68" name="step-03"/>
          <p:cNvGrpSpPr/>
          <p:nvPr/>
        </p:nvGrpSpPr>
        <p:grpSpPr>
          <a:xfrm>
            <a:off x="2152650" y="1257300"/>
            <a:ext cx="942975" cy="2171700"/>
            <a:chOff x="2152650" y="1257300"/>
            <a:chExt cx="942975" cy="2171700"/>
          </a:xfrm>
        </p:grpSpPr>
        <p:sp>
          <p:nvSpPr>
            <p:cNvPr id="52" name="Rectangle 52"/>
            <p:cNvSpPr/>
            <p:nvPr/>
          </p:nvSpPr>
          <p:spPr>
            <a:xfrm>
              <a:off x="2152650" y="1257300"/>
              <a:ext cx="942975" cy="2171700"/>
            </a:xfrm>
            <a:prstGeom prst="roundRect">
              <a:avLst>
                <a:gd name="adj" fmla="val 8081"/>
              </a:avLst>
            </a:prstGeom>
            <a:solidFill>
              <a:srgbClr val="F4F9FD"/>
            </a:solidFill>
            <a:ln w="9525">
              <a:solidFill>
                <a:srgbClr val="CFE2F2"/>
              </a:solidFill>
            </a:ln>
          </p:spPr>
        </p:sp>
        <p:sp>
          <p:nvSpPr>
            <p:cNvPr id="53" name="Rectangle 53"/>
            <p:cNvSpPr/>
            <p:nvPr/>
          </p:nvSpPr>
          <p:spPr>
            <a:xfrm>
              <a:off x="2495550" y="1333500"/>
              <a:ext cx="247650" cy="142875"/>
            </a:xfrm>
            <a:prstGeom prst="roundRect">
              <a:avLst>
                <a:gd name="adj" fmla="val 46667"/>
              </a:avLst>
            </a:prstGeom>
            <a:solidFill>
              <a:srgbClr val="C4472E"/>
            </a:solidFill>
            <a:ln>
              <a:noFill/>
            </a:ln>
          </p:spPr>
        </p:sp>
        <p:sp>
          <p:nvSpPr>
            <p:cNvPr id="54" name="TextBox 54"/>
            <p:cNvSpPr txBox="1"/>
            <p:nvPr/>
          </p:nvSpPr>
          <p:spPr>
            <a:xfrm>
              <a:off x="2561747"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03</a:t>
              </a:r>
            </a:p>
          </p:txBody>
        </p:sp>
        <p:grpSp>
          <p:nvGrpSpPr>
            <p:cNvPr id="60" name="Group 60"/>
            <p:cNvGrpSpPr/>
            <p:nvPr/>
          </p:nvGrpSpPr>
          <p:grpSpPr>
            <a:xfrm>
              <a:off x="2558256" y="1569244"/>
              <a:ext cx="122238" cy="157163"/>
              <a:chOff x="2558256" y="1569244"/>
              <a:chExt cx="122238" cy="157163"/>
            </a:xfrm>
          </p:grpSpPr>
          <p:sp>
            <p:nvSpPr>
              <p:cNvPr id="55" name="Freeform 55"/>
              <p:cNvSpPr/>
              <p:nvPr/>
            </p:nvSpPr>
            <p:spPr>
              <a:xfrm>
                <a:off x="2636838" y="15692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C4472E"/>
                </a:solidFill>
              </a:ln>
            </p:spPr>
          </p:sp>
          <p:sp>
            <p:nvSpPr>
              <p:cNvPr id="56" name="Freeform 56"/>
              <p:cNvSpPr/>
              <p:nvPr/>
            </p:nvSpPr>
            <p:spPr>
              <a:xfrm>
                <a:off x="2558256" y="15692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C4472E"/>
                </a:solidFill>
              </a:ln>
            </p:spPr>
          </p:sp>
          <p:sp>
            <p:nvSpPr>
              <p:cNvPr id="57" name="Freeform 57"/>
              <p:cNvSpPr/>
              <p:nvPr/>
            </p:nvSpPr>
            <p:spPr>
              <a:xfrm>
                <a:off x="2593181" y="1621631"/>
                <a:ext cx="9525" cy="9525"/>
              </a:xfrm>
              <a:custGeom>
                <a:avLst/>
                <a:gdLst/>
                <a:ahLst/>
                <a:cxnLst/>
                <a:rect l="l" t="t" r="r" b="b"/>
                <a:pathLst>
                  <a:path w="9525" h="9525">
                    <a:moveTo>
                      <a:pt x="0" y="0"/>
                    </a:moveTo>
                    <a:lnTo>
                      <a:pt x="8731" y="0"/>
                    </a:lnTo>
                  </a:path>
                </a:pathLst>
              </a:custGeom>
              <a:noFill/>
              <a:ln w="17463">
                <a:solidFill>
                  <a:srgbClr val="C4472E"/>
                </a:solidFill>
              </a:ln>
            </p:spPr>
          </p:sp>
          <p:sp>
            <p:nvSpPr>
              <p:cNvPr id="58" name="Freeform 58"/>
              <p:cNvSpPr/>
              <p:nvPr/>
            </p:nvSpPr>
            <p:spPr>
              <a:xfrm>
                <a:off x="2593181" y="1656556"/>
                <a:ext cx="52388" cy="9525"/>
              </a:xfrm>
              <a:custGeom>
                <a:avLst/>
                <a:gdLst/>
                <a:ahLst/>
                <a:cxnLst/>
                <a:rect l="l" t="t" r="r" b="b"/>
                <a:pathLst>
                  <a:path w="52388" h="9525">
                    <a:moveTo>
                      <a:pt x="0" y="0"/>
                    </a:moveTo>
                    <a:lnTo>
                      <a:pt x="52388" y="0"/>
                    </a:lnTo>
                  </a:path>
                </a:pathLst>
              </a:custGeom>
              <a:noFill/>
              <a:ln w="17463">
                <a:solidFill>
                  <a:srgbClr val="C4472E"/>
                </a:solidFill>
              </a:ln>
            </p:spPr>
          </p:sp>
          <p:sp>
            <p:nvSpPr>
              <p:cNvPr id="59" name="Freeform 59"/>
              <p:cNvSpPr/>
              <p:nvPr/>
            </p:nvSpPr>
            <p:spPr>
              <a:xfrm>
                <a:off x="2593181" y="1691481"/>
                <a:ext cx="52388" cy="9525"/>
              </a:xfrm>
              <a:custGeom>
                <a:avLst/>
                <a:gdLst/>
                <a:ahLst/>
                <a:cxnLst/>
                <a:rect l="l" t="t" r="r" b="b"/>
                <a:pathLst>
                  <a:path w="52388" h="9525">
                    <a:moveTo>
                      <a:pt x="0" y="0"/>
                    </a:moveTo>
                    <a:lnTo>
                      <a:pt x="52388" y="0"/>
                    </a:lnTo>
                  </a:path>
                </a:pathLst>
              </a:custGeom>
              <a:noFill/>
              <a:ln w="17463">
                <a:solidFill>
                  <a:srgbClr val="C4472E"/>
                </a:solidFill>
              </a:ln>
            </p:spPr>
          </p:sp>
        </p:grpSp>
        <p:sp>
          <p:nvSpPr>
            <p:cNvPr id="61" name="TextBox 61"/>
            <p:cNvSpPr txBox="1"/>
            <p:nvPr/>
          </p:nvSpPr>
          <p:spPr>
            <a:xfrm>
              <a:off x="2383066" y="1849993"/>
              <a:ext cx="472618"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违约定义</a:t>
              </a:r>
            </a:p>
          </p:txBody>
        </p:sp>
        <p:sp>
          <p:nvSpPr>
            <p:cNvPr id="62" name="TextBox 62"/>
            <p:cNvSpPr txBox="1"/>
            <p:nvPr/>
          </p:nvSpPr>
          <p:spPr>
            <a:xfrm>
              <a:off x="2243138"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结合业务实际</a:t>
              </a:r>
            </a:p>
          </p:txBody>
        </p:sp>
        <p:sp>
          <p:nvSpPr>
            <p:cNvPr id="63" name="TextBox 63"/>
            <p:cNvSpPr txBox="1"/>
            <p:nvPr/>
          </p:nvSpPr>
          <p:spPr>
            <a:xfrm>
              <a:off x="2243138" y="22362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确定违约口径</a:t>
              </a:r>
            </a:p>
          </p:txBody>
        </p:sp>
        <p:sp>
          <p:nvSpPr>
            <p:cNvPr id="64" name="TextBox 64"/>
            <p:cNvSpPr txBox="1"/>
            <p:nvPr/>
          </p:nvSpPr>
          <p:spPr>
            <a:xfrm>
              <a:off x="2243138" y="24076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设置观察窗口</a:t>
              </a:r>
            </a:p>
          </p:txBody>
        </p:sp>
        <p:sp>
          <p:nvSpPr>
            <p:cNvPr id="65" name="Line 65"/>
            <p:cNvSpPr/>
            <p:nvPr/>
          </p:nvSpPr>
          <p:spPr>
            <a:xfrm>
              <a:off x="2247900"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66" name="TextBox 66"/>
            <p:cNvSpPr txBox="1"/>
            <p:nvPr/>
          </p:nvSpPr>
          <p:spPr>
            <a:xfrm>
              <a:off x="2243138" y="269748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统一、清晰、</a:t>
              </a:r>
            </a:p>
          </p:txBody>
        </p:sp>
        <p:sp>
          <p:nvSpPr>
            <p:cNvPr id="67" name="TextBox 67"/>
            <p:cNvSpPr txBox="1"/>
            <p:nvPr/>
          </p:nvSpPr>
          <p:spPr>
            <a:xfrm>
              <a:off x="2243138" y="283083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可落地的定义</a:t>
              </a:r>
            </a:p>
          </p:txBody>
        </p:sp>
      </p:grpSp>
      <p:grpSp>
        <p:nvGrpSpPr>
          <p:cNvPr id="86" name="step-04"/>
          <p:cNvGrpSpPr/>
          <p:nvPr/>
        </p:nvGrpSpPr>
        <p:grpSpPr>
          <a:xfrm>
            <a:off x="3133725" y="1257300"/>
            <a:ext cx="942975" cy="2171700"/>
            <a:chOff x="3133725" y="1257300"/>
            <a:chExt cx="942975" cy="2171700"/>
          </a:xfrm>
        </p:grpSpPr>
        <p:sp>
          <p:nvSpPr>
            <p:cNvPr id="69" name="Rectangle 69"/>
            <p:cNvSpPr/>
            <p:nvPr/>
          </p:nvSpPr>
          <p:spPr>
            <a:xfrm>
              <a:off x="3133725" y="1257300"/>
              <a:ext cx="942975" cy="2171700"/>
            </a:xfrm>
            <a:prstGeom prst="roundRect">
              <a:avLst>
                <a:gd name="adj" fmla="val 8081"/>
              </a:avLst>
            </a:prstGeom>
            <a:solidFill>
              <a:srgbClr val="F4F9FD"/>
            </a:solidFill>
            <a:ln w="9525">
              <a:solidFill>
                <a:srgbClr val="CFE2F2"/>
              </a:solidFill>
            </a:ln>
          </p:spPr>
        </p:sp>
        <p:sp>
          <p:nvSpPr>
            <p:cNvPr id="70" name="Rectangle 70"/>
            <p:cNvSpPr/>
            <p:nvPr/>
          </p:nvSpPr>
          <p:spPr>
            <a:xfrm>
              <a:off x="3476625" y="1333500"/>
              <a:ext cx="247650" cy="142875"/>
            </a:xfrm>
            <a:prstGeom prst="roundRect">
              <a:avLst>
                <a:gd name="adj" fmla="val 46667"/>
              </a:avLst>
            </a:prstGeom>
            <a:solidFill>
              <a:srgbClr val="C4472E"/>
            </a:solidFill>
            <a:ln>
              <a:noFill/>
            </a:ln>
          </p:spPr>
        </p:sp>
        <p:sp>
          <p:nvSpPr>
            <p:cNvPr id="71" name="TextBox 71"/>
            <p:cNvSpPr txBox="1"/>
            <p:nvPr/>
          </p:nvSpPr>
          <p:spPr>
            <a:xfrm>
              <a:off x="3542822"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04</a:t>
              </a:r>
            </a:p>
          </p:txBody>
        </p:sp>
        <p:grpSp>
          <p:nvGrpSpPr>
            <p:cNvPr id="78" name="Group 78"/>
            <p:cNvGrpSpPr/>
            <p:nvPr/>
          </p:nvGrpSpPr>
          <p:grpSpPr>
            <a:xfrm>
              <a:off x="3521869" y="1569244"/>
              <a:ext cx="157162" cy="157163"/>
              <a:chOff x="3521869" y="1569244"/>
              <a:chExt cx="157162" cy="157163"/>
            </a:xfrm>
          </p:grpSpPr>
          <p:sp>
            <p:nvSpPr>
              <p:cNvPr id="72" name="Freeform 72"/>
              <p:cNvSpPr/>
              <p:nvPr/>
            </p:nvSpPr>
            <p:spPr>
              <a:xfrm>
                <a:off x="3582988" y="16390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4472E"/>
                </a:solidFill>
              </a:ln>
            </p:spPr>
          </p:sp>
          <p:sp>
            <p:nvSpPr>
              <p:cNvPr id="73" name="Freeform 73"/>
              <p:cNvSpPr/>
              <p:nvPr/>
            </p:nvSpPr>
            <p:spPr>
              <a:xfrm>
                <a:off x="3565525" y="170021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C4472E"/>
                </a:solidFill>
              </a:ln>
            </p:spPr>
          </p:sp>
          <p:sp>
            <p:nvSpPr>
              <p:cNvPr id="74" name="Freeform 74"/>
              <p:cNvSpPr/>
              <p:nvPr/>
            </p:nvSpPr>
            <p:spPr>
              <a:xfrm>
                <a:off x="3626644" y="15692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4472E"/>
                </a:solidFill>
              </a:ln>
            </p:spPr>
          </p:sp>
          <p:sp>
            <p:nvSpPr>
              <p:cNvPr id="75" name="Freeform 75"/>
              <p:cNvSpPr/>
              <p:nvPr/>
            </p:nvSpPr>
            <p:spPr>
              <a:xfrm>
                <a:off x="3644106" y="163036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C4472E"/>
                </a:solidFill>
              </a:ln>
            </p:spPr>
          </p:sp>
          <p:sp>
            <p:nvSpPr>
              <p:cNvPr id="76" name="Freeform 76"/>
              <p:cNvSpPr/>
              <p:nvPr/>
            </p:nvSpPr>
            <p:spPr>
              <a:xfrm>
                <a:off x="3539331" y="15692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C4472E"/>
                </a:solidFill>
              </a:ln>
            </p:spPr>
          </p:sp>
          <p:sp>
            <p:nvSpPr>
              <p:cNvPr id="77" name="Freeform 77"/>
              <p:cNvSpPr/>
              <p:nvPr/>
            </p:nvSpPr>
            <p:spPr>
              <a:xfrm>
                <a:off x="3521869" y="163036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C4472E"/>
                </a:solidFill>
              </a:ln>
            </p:spPr>
          </p:sp>
        </p:grpSp>
        <p:sp>
          <p:nvSpPr>
            <p:cNvPr id="79" name="TextBox 79"/>
            <p:cNvSpPr txBox="1"/>
            <p:nvPr/>
          </p:nvSpPr>
          <p:spPr>
            <a:xfrm>
              <a:off x="3364141" y="1849993"/>
              <a:ext cx="472618"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样本构建</a:t>
              </a:r>
            </a:p>
          </p:txBody>
        </p:sp>
        <p:sp>
          <p:nvSpPr>
            <p:cNvPr id="80" name="TextBox 80"/>
            <p:cNvSpPr txBox="1"/>
            <p:nvPr/>
          </p:nvSpPr>
          <p:spPr>
            <a:xfrm>
              <a:off x="3224212"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确定样本空间</a:t>
              </a:r>
            </a:p>
          </p:txBody>
        </p:sp>
        <p:sp>
          <p:nvSpPr>
            <p:cNvPr id="81" name="TextBox 81"/>
            <p:cNvSpPr txBox="1"/>
            <p:nvPr/>
          </p:nvSpPr>
          <p:spPr>
            <a:xfrm>
              <a:off x="3224212" y="2236232"/>
              <a:ext cx="6500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划分好/坏样本</a:t>
              </a:r>
            </a:p>
          </p:txBody>
        </p:sp>
        <p:sp>
          <p:nvSpPr>
            <p:cNvPr id="82" name="TextBox 82"/>
            <p:cNvSpPr txBox="1"/>
            <p:nvPr/>
          </p:nvSpPr>
          <p:spPr>
            <a:xfrm>
              <a:off x="3224212" y="2407682"/>
              <a:ext cx="688823"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处理样本不平衡</a:t>
              </a:r>
            </a:p>
          </p:txBody>
        </p:sp>
        <p:sp>
          <p:nvSpPr>
            <p:cNvPr id="83" name="Line 83"/>
            <p:cNvSpPr/>
            <p:nvPr/>
          </p:nvSpPr>
          <p:spPr>
            <a:xfrm>
              <a:off x="3228975"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84" name="TextBox 84"/>
            <p:cNvSpPr txBox="1"/>
            <p:nvPr/>
          </p:nvSpPr>
          <p:spPr>
            <a:xfrm>
              <a:off x="3224212" y="2697480"/>
              <a:ext cx="655701"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代表性、时效性、</a:t>
              </a:r>
            </a:p>
          </p:txBody>
        </p:sp>
        <p:sp>
          <p:nvSpPr>
            <p:cNvPr id="85" name="TextBox 85"/>
            <p:cNvSpPr txBox="1"/>
            <p:nvPr/>
          </p:nvSpPr>
          <p:spPr>
            <a:xfrm>
              <a:off x="3224212" y="2830830"/>
              <a:ext cx="413385"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无偏的样本</a:t>
              </a:r>
            </a:p>
          </p:txBody>
        </p:sp>
      </p:grpSp>
      <p:grpSp>
        <p:nvGrpSpPr>
          <p:cNvPr id="98" name="step-05"/>
          <p:cNvGrpSpPr/>
          <p:nvPr/>
        </p:nvGrpSpPr>
        <p:grpSpPr>
          <a:xfrm>
            <a:off x="4114800" y="1257300"/>
            <a:ext cx="942975" cy="2171700"/>
            <a:chOff x="4114800" y="1257300"/>
            <a:chExt cx="942975" cy="2171700"/>
          </a:xfrm>
        </p:grpSpPr>
        <p:sp>
          <p:nvSpPr>
            <p:cNvPr id="87" name="Rectangle 87"/>
            <p:cNvSpPr/>
            <p:nvPr/>
          </p:nvSpPr>
          <p:spPr>
            <a:xfrm>
              <a:off x="4114800" y="1257300"/>
              <a:ext cx="942975" cy="2171700"/>
            </a:xfrm>
            <a:prstGeom prst="roundRect">
              <a:avLst>
                <a:gd name="adj" fmla="val 8081"/>
              </a:avLst>
            </a:prstGeom>
            <a:solidFill>
              <a:srgbClr val="F4F9FD"/>
            </a:solidFill>
            <a:ln w="9525">
              <a:solidFill>
                <a:srgbClr val="CFE2F2"/>
              </a:solidFill>
            </a:ln>
          </p:spPr>
        </p:sp>
        <p:sp>
          <p:nvSpPr>
            <p:cNvPr id="88" name="Rectangle 88"/>
            <p:cNvSpPr/>
            <p:nvPr/>
          </p:nvSpPr>
          <p:spPr>
            <a:xfrm>
              <a:off x="4457700" y="1333500"/>
              <a:ext cx="247650" cy="142875"/>
            </a:xfrm>
            <a:prstGeom prst="roundRect">
              <a:avLst>
                <a:gd name="adj" fmla="val 46667"/>
              </a:avLst>
            </a:prstGeom>
            <a:solidFill>
              <a:srgbClr val="C4472E"/>
            </a:solidFill>
            <a:ln>
              <a:noFill/>
            </a:ln>
          </p:spPr>
        </p:sp>
        <p:sp>
          <p:nvSpPr>
            <p:cNvPr id="89" name="TextBox 89"/>
            <p:cNvSpPr txBox="1"/>
            <p:nvPr/>
          </p:nvSpPr>
          <p:spPr>
            <a:xfrm>
              <a:off x="4523897"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05</a:t>
              </a:r>
            </a:p>
          </p:txBody>
        </p:sp>
        <p:sp>
          <p:nvSpPr>
            <p:cNvPr id="90" name="Freeform 90"/>
            <p:cNvSpPr/>
            <p:nvPr/>
          </p:nvSpPr>
          <p:spPr>
            <a:xfrm>
              <a:off x="4511675" y="1577975"/>
              <a:ext cx="139700" cy="148431"/>
            </a:xfrm>
            <a:custGeom>
              <a:avLst/>
              <a:gdLst/>
              <a:ahLst/>
              <a:cxnLst/>
              <a:rect l="l" t="t" r="r" b="b"/>
              <a:pathLst>
                <a:path w="139700" h="148431">
                  <a:moveTo>
                    <a:pt x="0" y="0"/>
                  </a:moveTo>
                  <a:lnTo>
                    <a:pt x="139700" y="0"/>
                  </a:lnTo>
                  <a:lnTo>
                    <a:pt x="139700" y="18964"/>
                  </a:lnTo>
                  <a:cubicBezTo>
                    <a:pt x="139699" y="23595"/>
                    <a:pt x="137859" y="28036"/>
                    <a:pt x="134584" y="31310"/>
                  </a:cubicBezTo>
                  <a:lnTo>
                    <a:pt x="96044" y="69850"/>
                  </a:lnTo>
                  <a:lnTo>
                    <a:pt x="96044" y="130969"/>
                  </a:lnTo>
                  <a:lnTo>
                    <a:pt x="43656" y="148431"/>
                  </a:lnTo>
                  <a:lnTo>
                    <a:pt x="43656" y="74216"/>
                  </a:lnTo>
                  <a:lnTo>
                    <a:pt x="4540" y="31188"/>
                  </a:lnTo>
                  <a:cubicBezTo>
                    <a:pt x="1619" y="27974"/>
                    <a:pt x="0" y="23787"/>
                    <a:pt x="0" y="19445"/>
                  </a:cubicBezTo>
                  <a:lnTo>
                    <a:pt x="0" y="0"/>
                  </a:lnTo>
                </a:path>
              </a:pathLst>
            </a:custGeom>
            <a:noFill/>
            <a:ln w="17463">
              <a:solidFill>
                <a:srgbClr val="C4472E"/>
              </a:solidFill>
            </a:ln>
          </p:spPr>
        </p:sp>
        <p:sp>
          <p:nvSpPr>
            <p:cNvPr id="91" name="TextBox 91"/>
            <p:cNvSpPr txBox="1"/>
            <p:nvPr/>
          </p:nvSpPr>
          <p:spPr>
            <a:xfrm>
              <a:off x="4345216" y="1849993"/>
              <a:ext cx="472618"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指标筛选</a:t>
              </a:r>
            </a:p>
          </p:txBody>
        </p:sp>
        <p:sp>
          <p:nvSpPr>
            <p:cNvPr id="92" name="TextBox 92"/>
            <p:cNvSpPr txBox="1"/>
            <p:nvPr/>
          </p:nvSpPr>
          <p:spPr>
            <a:xfrm>
              <a:off x="4205288"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业务逻辑筛选</a:t>
              </a:r>
            </a:p>
          </p:txBody>
        </p:sp>
        <p:sp>
          <p:nvSpPr>
            <p:cNvPr id="93" name="TextBox 93"/>
            <p:cNvSpPr txBox="1"/>
            <p:nvPr/>
          </p:nvSpPr>
          <p:spPr>
            <a:xfrm>
              <a:off x="4205288" y="22362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统计检验分析</a:t>
              </a:r>
            </a:p>
          </p:txBody>
        </p:sp>
        <p:sp>
          <p:nvSpPr>
            <p:cNvPr id="94" name="TextBox 94"/>
            <p:cNvSpPr txBox="1"/>
            <p:nvPr/>
          </p:nvSpPr>
          <p:spPr>
            <a:xfrm>
              <a:off x="4205288" y="2407682"/>
              <a:ext cx="688823"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相关性与共线性</a:t>
              </a:r>
            </a:p>
          </p:txBody>
        </p:sp>
        <p:sp>
          <p:nvSpPr>
            <p:cNvPr id="95" name="Line 95"/>
            <p:cNvSpPr/>
            <p:nvPr/>
          </p:nvSpPr>
          <p:spPr>
            <a:xfrm>
              <a:off x="4210050"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96" name="TextBox 96"/>
            <p:cNvSpPr txBox="1"/>
            <p:nvPr/>
          </p:nvSpPr>
          <p:spPr>
            <a:xfrm>
              <a:off x="4205288" y="2697480"/>
              <a:ext cx="332613"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少而精、</a:t>
              </a:r>
            </a:p>
          </p:txBody>
        </p:sp>
        <p:sp>
          <p:nvSpPr>
            <p:cNvPr id="97" name="TextBox 97"/>
            <p:cNvSpPr txBox="1"/>
            <p:nvPr/>
          </p:nvSpPr>
          <p:spPr>
            <a:xfrm>
              <a:off x="4205288" y="283083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稳定且有意义</a:t>
              </a:r>
            </a:p>
          </p:txBody>
        </p:sp>
      </p:grpSp>
      <p:grpSp>
        <p:nvGrpSpPr>
          <p:cNvPr id="114" name="step-06"/>
          <p:cNvGrpSpPr/>
          <p:nvPr/>
        </p:nvGrpSpPr>
        <p:grpSpPr>
          <a:xfrm>
            <a:off x="5095875" y="1257300"/>
            <a:ext cx="942975" cy="2171700"/>
            <a:chOff x="5095875" y="1257300"/>
            <a:chExt cx="942975" cy="2171700"/>
          </a:xfrm>
        </p:grpSpPr>
        <p:sp>
          <p:nvSpPr>
            <p:cNvPr id="99" name="Rectangle 99"/>
            <p:cNvSpPr/>
            <p:nvPr/>
          </p:nvSpPr>
          <p:spPr>
            <a:xfrm>
              <a:off x="5095875" y="1257300"/>
              <a:ext cx="942975" cy="2171700"/>
            </a:xfrm>
            <a:prstGeom prst="roundRect">
              <a:avLst>
                <a:gd name="adj" fmla="val 8081"/>
              </a:avLst>
            </a:prstGeom>
            <a:solidFill>
              <a:srgbClr val="F4F9FD"/>
            </a:solidFill>
            <a:ln w="9525">
              <a:solidFill>
                <a:srgbClr val="CFE2F2"/>
              </a:solidFill>
            </a:ln>
          </p:spPr>
        </p:sp>
        <p:sp>
          <p:nvSpPr>
            <p:cNvPr id="100" name="Rectangle 100"/>
            <p:cNvSpPr/>
            <p:nvPr/>
          </p:nvSpPr>
          <p:spPr>
            <a:xfrm>
              <a:off x="5438775" y="1333500"/>
              <a:ext cx="247650" cy="142875"/>
            </a:xfrm>
            <a:prstGeom prst="roundRect">
              <a:avLst>
                <a:gd name="adj" fmla="val 46667"/>
              </a:avLst>
            </a:prstGeom>
            <a:solidFill>
              <a:srgbClr val="C4472E"/>
            </a:solidFill>
            <a:ln>
              <a:noFill/>
            </a:ln>
          </p:spPr>
        </p:sp>
        <p:sp>
          <p:nvSpPr>
            <p:cNvPr id="101" name="TextBox 101"/>
            <p:cNvSpPr txBox="1"/>
            <p:nvPr/>
          </p:nvSpPr>
          <p:spPr>
            <a:xfrm>
              <a:off x="5504972"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06</a:t>
              </a:r>
            </a:p>
          </p:txBody>
        </p:sp>
        <p:grpSp>
          <p:nvGrpSpPr>
            <p:cNvPr id="106" name="Group 106"/>
            <p:cNvGrpSpPr/>
            <p:nvPr/>
          </p:nvGrpSpPr>
          <p:grpSpPr>
            <a:xfrm>
              <a:off x="5484019" y="1577975"/>
              <a:ext cx="157163" cy="149225"/>
              <a:chOff x="5484019" y="1577975"/>
              <a:chExt cx="157163" cy="149225"/>
            </a:xfrm>
          </p:grpSpPr>
          <p:sp>
            <p:nvSpPr>
              <p:cNvPr id="102" name="Freeform 102"/>
              <p:cNvSpPr/>
              <p:nvPr/>
            </p:nvSpPr>
            <p:spPr>
              <a:xfrm>
                <a:off x="5484019" y="164782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C4472E"/>
                </a:solidFill>
              </a:ln>
            </p:spPr>
          </p:sp>
          <p:sp>
            <p:nvSpPr>
              <p:cNvPr id="103" name="Freeform 103"/>
              <p:cNvSpPr/>
              <p:nvPr/>
            </p:nvSpPr>
            <p:spPr>
              <a:xfrm>
                <a:off x="5588794" y="161290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C4472E"/>
                </a:solidFill>
              </a:ln>
            </p:spPr>
          </p:sp>
          <p:sp>
            <p:nvSpPr>
              <p:cNvPr id="104" name="Freeform 104"/>
              <p:cNvSpPr/>
              <p:nvPr/>
            </p:nvSpPr>
            <p:spPr>
              <a:xfrm>
                <a:off x="5536406" y="157797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C4472E"/>
                </a:solidFill>
              </a:ln>
            </p:spPr>
          </p:sp>
          <p:sp>
            <p:nvSpPr>
              <p:cNvPr id="105" name="Freeform 105"/>
              <p:cNvSpPr/>
              <p:nvPr/>
            </p:nvSpPr>
            <p:spPr>
              <a:xfrm>
                <a:off x="5492750" y="1717675"/>
                <a:ext cx="122238" cy="9525"/>
              </a:xfrm>
              <a:custGeom>
                <a:avLst/>
                <a:gdLst/>
                <a:ahLst/>
                <a:cxnLst/>
                <a:rect l="l" t="t" r="r" b="b"/>
                <a:pathLst>
                  <a:path w="122238" h="9525">
                    <a:moveTo>
                      <a:pt x="0" y="0"/>
                    </a:moveTo>
                    <a:lnTo>
                      <a:pt x="122238" y="0"/>
                    </a:lnTo>
                  </a:path>
                </a:pathLst>
              </a:custGeom>
              <a:noFill/>
              <a:ln w="17463">
                <a:solidFill>
                  <a:srgbClr val="C4472E"/>
                </a:solidFill>
              </a:ln>
            </p:spPr>
          </p:sp>
        </p:grpSp>
        <p:sp>
          <p:nvSpPr>
            <p:cNvPr id="107" name="TextBox 107"/>
            <p:cNvSpPr txBox="1"/>
            <p:nvPr/>
          </p:nvSpPr>
          <p:spPr>
            <a:xfrm>
              <a:off x="5239767" y="1849993"/>
              <a:ext cx="645666"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分箱/WOE​</a:t>
              </a:r>
            </a:p>
          </p:txBody>
        </p:sp>
        <p:sp>
          <p:nvSpPr>
            <p:cNvPr id="108" name="TextBox 108"/>
            <p:cNvSpPr txBox="1"/>
            <p:nvPr/>
          </p:nvSpPr>
          <p:spPr>
            <a:xfrm>
              <a:off x="5186362"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最优分箱策略</a:t>
              </a:r>
            </a:p>
          </p:txBody>
        </p:sp>
        <p:sp>
          <p:nvSpPr>
            <p:cNvPr id="109" name="TextBox 109"/>
            <p:cNvSpPr txBox="1"/>
            <p:nvPr/>
          </p:nvSpPr>
          <p:spPr>
            <a:xfrm>
              <a:off x="5186362" y="2236232"/>
              <a:ext cx="578201"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计算WOE值​</a:t>
              </a:r>
            </a:p>
          </p:txBody>
        </p:sp>
        <p:sp>
          <p:nvSpPr>
            <p:cNvPr id="110" name="TextBox 110"/>
            <p:cNvSpPr txBox="1"/>
            <p:nvPr/>
          </p:nvSpPr>
          <p:spPr>
            <a:xfrm>
              <a:off x="5186362" y="2407682"/>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检验单调性</a:t>
              </a:r>
            </a:p>
          </p:txBody>
        </p:sp>
        <p:sp>
          <p:nvSpPr>
            <p:cNvPr id="111" name="Line 111"/>
            <p:cNvSpPr/>
            <p:nvPr/>
          </p:nvSpPr>
          <p:spPr>
            <a:xfrm>
              <a:off x="5191125"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112" name="TextBox 112"/>
            <p:cNvSpPr txBox="1"/>
            <p:nvPr/>
          </p:nvSpPr>
          <p:spPr>
            <a:xfrm>
              <a:off x="5186362" y="269748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将变量转化为</a:t>
              </a:r>
            </a:p>
          </p:txBody>
        </p:sp>
        <p:sp>
          <p:nvSpPr>
            <p:cNvPr id="113" name="TextBox 113"/>
            <p:cNvSpPr txBox="1"/>
            <p:nvPr/>
          </p:nvSpPr>
          <p:spPr>
            <a:xfrm>
              <a:off x="5186362" y="2830830"/>
              <a:ext cx="574929"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有解释力的特征</a:t>
              </a:r>
            </a:p>
          </p:txBody>
        </p:sp>
      </p:grpSp>
      <p:grpSp>
        <p:nvGrpSpPr>
          <p:cNvPr id="128" name="step-07"/>
          <p:cNvGrpSpPr/>
          <p:nvPr/>
        </p:nvGrpSpPr>
        <p:grpSpPr>
          <a:xfrm>
            <a:off x="6076950" y="1257300"/>
            <a:ext cx="942975" cy="2171700"/>
            <a:chOff x="6076950" y="1257300"/>
            <a:chExt cx="942975" cy="2171700"/>
          </a:xfrm>
        </p:grpSpPr>
        <p:sp>
          <p:nvSpPr>
            <p:cNvPr id="115" name="Rectangle 115"/>
            <p:cNvSpPr/>
            <p:nvPr/>
          </p:nvSpPr>
          <p:spPr>
            <a:xfrm>
              <a:off x="6076950" y="1257300"/>
              <a:ext cx="942975" cy="2171700"/>
            </a:xfrm>
            <a:prstGeom prst="roundRect">
              <a:avLst>
                <a:gd name="adj" fmla="val 8081"/>
              </a:avLst>
            </a:prstGeom>
            <a:solidFill>
              <a:srgbClr val="F4F9FD"/>
            </a:solidFill>
            <a:ln w="9525">
              <a:solidFill>
                <a:srgbClr val="CFE2F2"/>
              </a:solidFill>
            </a:ln>
          </p:spPr>
        </p:sp>
        <p:sp>
          <p:nvSpPr>
            <p:cNvPr id="116" name="Rectangle 116"/>
            <p:cNvSpPr/>
            <p:nvPr/>
          </p:nvSpPr>
          <p:spPr>
            <a:xfrm>
              <a:off x="6419850" y="1333500"/>
              <a:ext cx="247650" cy="142875"/>
            </a:xfrm>
            <a:prstGeom prst="roundRect">
              <a:avLst>
                <a:gd name="adj" fmla="val 46667"/>
              </a:avLst>
            </a:prstGeom>
            <a:solidFill>
              <a:srgbClr val="C4472E"/>
            </a:solidFill>
            <a:ln>
              <a:noFill/>
            </a:ln>
          </p:spPr>
        </p:sp>
        <p:sp>
          <p:nvSpPr>
            <p:cNvPr id="117" name="TextBox 117"/>
            <p:cNvSpPr txBox="1"/>
            <p:nvPr/>
          </p:nvSpPr>
          <p:spPr>
            <a:xfrm>
              <a:off x="6486047"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07</a:t>
              </a:r>
            </a:p>
          </p:txBody>
        </p:sp>
        <p:grpSp>
          <p:nvGrpSpPr>
            <p:cNvPr id="120" name="Group 120"/>
            <p:cNvGrpSpPr/>
            <p:nvPr/>
          </p:nvGrpSpPr>
          <p:grpSpPr>
            <a:xfrm>
              <a:off x="6461261" y="1565411"/>
              <a:ext cx="164829" cy="164829"/>
              <a:chOff x="6461261" y="1565411"/>
              <a:chExt cx="164829" cy="164829"/>
            </a:xfrm>
          </p:grpSpPr>
          <p:sp>
            <p:nvSpPr>
              <p:cNvPr id="118" name="Freeform 118"/>
              <p:cNvSpPr/>
              <p:nvPr/>
            </p:nvSpPr>
            <p:spPr>
              <a:xfrm>
                <a:off x="6461261" y="156541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C4472E"/>
                </a:solidFill>
              </a:ln>
            </p:spPr>
          </p:sp>
          <p:sp>
            <p:nvSpPr>
              <p:cNvPr id="119" name="Freeform 119"/>
              <p:cNvSpPr/>
              <p:nvPr/>
            </p:nvSpPr>
            <p:spPr>
              <a:xfrm>
                <a:off x="6517481" y="162163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C4472E"/>
                </a:solidFill>
              </a:ln>
            </p:spPr>
          </p:sp>
        </p:grpSp>
        <p:sp>
          <p:nvSpPr>
            <p:cNvPr id="121" name="TextBox 121"/>
            <p:cNvSpPr txBox="1"/>
            <p:nvPr/>
          </p:nvSpPr>
          <p:spPr>
            <a:xfrm>
              <a:off x="6307366" y="1849993"/>
              <a:ext cx="472618"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模型开发</a:t>
              </a:r>
            </a:p>
          </p:txBody>
        </p:sp>
        <p:sp>
          <p:nvSpPr>
            <p:cNvPr id="122" name="TextBox 122"/>
            <p:cNvSpPr txBox="1"/>
            <p:nvPr/>
          </p:nvSpPr>
          <p:spPr>
            <a:xfrm>
              <a:off x="6167438"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选择建模方法</a:t>
              </a:r>
            </a:p>
          </p:txBody>
        </p:sp>
        <p:sp>
          <p:nvSpPr>
            <p:cNvPr id="123" name="TextBox 123"/>
            <p:cNvSpPr txBox="1"/>
            <p:nvPr/>
          </p:nvSpPr>
          <p:spPr>
            <a:xfrm>
              <a:off x="6167438" y="22362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模型训练调参</a:t>
              </a:r>
            </a:p>
          </p:txBody>
        </p:sp>
        <p:sp>
          <p:nvSpPr>
            <p:cNvPr id="124" name="TextBox 124"/>
            <p:cNvSpPr txBox="1"/>
            <p:nvPr/>
          </p:nvSpPr>
          <p:spPr>
            <a:xfrm>
              <a:off x="6167438" y="24076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结果解释分析</a:t>
              </a:r>
            </a:p>
          </p:txBody>
        </p:sp>
        <p:sp>
          <p:nvSpPr>
            <p:cNvPr id="125" name="Line 125"/>
            <p:cNvSpPr/>
            <p:nvPr/>
          </p:nvSpPr>
          <p:spPr>
            <a:xfrm>
              <a:off x="6172200"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126" name="TextBox 126"/>
            <p:cNvSpPr txBox="1"/>
            <p:nvPr/>
          </p:nvSpPr>
          <p:spPr>
            <a:xfrm>
              <a:off x="6167438" y="2697480"/>
              <a:ext cx="413385"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构建稳健、</a:t>
              </a:r>
            </a:p>
          </p:txBody>
        </p:sp>
        <p:sp>
          <p:nvSpPr>
            <p:cNvPr id="127" name="TextBox 127"/>
            <p:cNvSpPr txBox="1"/>
            <p:nvPr/>
          </p:nvSpPr>
          <p:spPr>
            <a:xfrm>
              <a:off x="6167438" y="2830830"/>
              <a:ext cx="655701"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可解释的预测模型</a:t>
              </a:r>
            </a:p>
          </p:txBody>
        </p:sp>
      </p:grpSp>
      <p:grpSp>
        <p:nvGrpSpPr>
          <p:cNvPr id="142" name="step-08"/>
          <p:cNvGrpSpPr/>
          <p:nvPr/>
        </p:nvGrpSpPr>
        <p:grpSpPr>
          <a:xfrm>
            <a:off x="7058025" y="1257300"/>
            <a:ext cx="942975" cy="2171700"/>
            <a:chOff x="7058025" y="1257300"/>
            <a:chExt cx="942975" cy="2171700"/>
          </a:xfrm>
        </p:grpSpPr>
        <p:sp>
          <p:nvSpPr>
            <p:cNvPr id="129" name="Rectangle 129"/>
            <p:cNvSpPr/>
            <p:nvPr/>
          </p:nvSpPr>
          <p:spPr>
            <a:xfrm>
              <a:off x="7058025" y="1257300"/>
              <a:ext cx="942975" cy="2171700"/>
            </a:xfrm>
            <a:prstGeom prst="roundRect">
              <a:avLst>
                <a:gd name="adj" fmla="val 8081"/>
              </a:avLst>
            </a:prstGeom>
            <a:solidFill>
              <a:srgbClr val="F4F9FD"/>
            </a:solidFill>
            <a:ln w="9525">
              <a:solidFill>
                <a:srgbClr val="CFE2F2"/>
              </a:solidFill>
            </a:ln>
          </p:spPr>
        </p:sp>
        <p:sp>
          <p:nvSpPr>
            <p:cNvPr id="130" name="Rectangle 130"/>
            <p:cNvSpPr/>
            <p:nvPr/>
          </p:nvSpPr>
          <p:spPr>
            <a:xfrm>
              <a:off x="7400925" y="1333500"/>
              <a:ext cx="247650" cy="142875"/>
            </a:xfrm>
            <a:prstGeom prst="roundRect">
              <a:avLst>
                <a:gd name="adj" fmla="val 46667"/>
              </a:avLst>
            </a:prstGeom>
            <a:solidFill>
              <a:srgbClr val="C4472E"/>
            </a:solidFill>
            <a:ln>
              <a:noFill/>
            </a:ln>
          </p:spPr>
        </p:sp>
        <p:sp>
          <p:nvSpPr>
            <p:cNvPr id="131" name="TextBox 131"/>
            <p:cNvSpPr txBox="1"/>
            <p:nvPr/>
          </p:nvSpPr>
          <p:spPr>
            <a:xfrm>
              <a:off x="7467122"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08</a:t>
              </a:r>
            </a:p>
          </p:txBody>
        </p:sp>
        <p:grpSp>
          <p:nvGrpSpPr>
            <p:cNvPr id="134" name="Group 134"/>
            <p:cNvGrpSpPr/>
            <p:nvPr/>
          </p:nvGrpSpPr>
          <p:grpSpPr>
            <a:xfrm>
              <a:off x="7434385" y="1569244"/>
              <a:ext cx="170506" cy="157162"/>
              <a:chOff x="7434385" y="1569244"/>
              <a:chExt cx="170506" cy="157162"/>
            </a:xfrm>
          </p:grpSpPr>
          <p:sp>
            <p:nvSpPr>
              <p:cNvPr id="132" name="Freeform 132"/>
              <p:cNvSpPr/>
              <p:nvPr/>
            </p:nvSpPr>
            <p:spPr>
              <a:xfrm>
                <a:off x="7434385" y="156924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C4472E"/>
                </a:solidFill>
              </a:ln>
            </p:spPr>
          </p:sp>
          <p:sp>
            <p:nvSpPr>
              <p:cNvPr id="133" name="Freeform 133"/>
              <p:cNvSpPr/>
              <p:nvPr/>
            </p:nvSpPr>
            <p:spPr>
              <a:xfrm>
                <a:off x="7550944" y="1691481"/>
                <a:ext cx="52388" cy="34925"/>
              </a:xfrm>
              <a:custGeom>
                <a:avLst/>
                <a:gdLst/>
                <a:ahLst/>
                <a:cxnLst/>
                <a:rect l="l" t="t" r="r" b="b"/>
                <a:pathLst>
                  <a:path w="52388" h="34925">
                    <a:moveTo>
                      <a:pt x="0" y="17463"/>
                    </a:moveTo>
                    <a:lnTo>
                      <a:pt x="17463" y="34925"/>
                    </a:lnTo>
                    <a:lnTo>
                      <a:pt x="52388" y="0"/>
                    </a:lnTo>
                  </a:path>
                </a:pathLst>
              </a:custGeom>
              <a:noFill/>
              <a:ln w="17463">
                <a:solidFill>
                  <a:srgbClr val="C4472E"/>
                </a:solidFill>
              </a:ln>
            </p:spPr>
          </p:sp>
        </p:grpSp>
        <p:sp>
          <p:nvSpPr>
            <p:cNvPr id="135" name="TextBox 135"/>
            <p:cNvSpPr txBox="1"/>
            <p:nvPr/>
          </p:nvSpPr>
          <p:spPr>
            <a:xfrm>
              <a:off x="7288441" y="1849993"/>
              <a:ext cx="472618"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模型验证</a:t>
              </a:r>
            </a:p>
          </p:txBody>
        </p:sp>
        <p:sp>
          <p:nvSpPr>
            <p:cNvPr id="136" name="TextBox 136"/>
            <p:cNvSpPr txBox="1"/>
            <p:nvPr/>
          </p:nvSpPr>
          <p:spPr>
            <a:xfrm>
              <a:off x="7148512" y="2064782"/>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区分度检验</a:t>
              </a:r>
            </a:p>
          </p:txBody>
        </p:sp>
        <p:sp>
          <p:nvSpPr>
            <p:cNvPr id="137" name="TextBox 137"/>
            <p:cNvSpPr txBox="1"/>
            <p:nvPr/>
          </p:nvSpPr>
          <p:spPr>
            <a:xfrm>
              <a:off x="7148512" y="2236232"/>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稳定性检验</a:t>
              </a:r>
            </a:p>
          </p:txBody>
        </p:sp>
        <p:sp>
          <p:nvSpPr>
            <p:cNvPr id="138" name="TextBox 138"/>
            <p:cNvSpPr txBox="1"/>
            <p:nvPr/>
          </p:nvSpPr>
          <p:spPr>
            <a:xfrm>
              <a:off x="7148512" y="24076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压力测试分析</a:t>
              </a:r>
            </a:p>
          </p:txBody>
        </p:sp>
        <p:sp>
          <p:nvSpPr>
            <p:cNvPr id="139" name="Line 139"/>
            <p:cNvSpPr/>
            <p:nvPr/>
          </p:nvSpPr>
          <p:spPr>
            <a:xfrm>
              <a:off x="7153275"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140" name="TextBox 140"/>
            <p:cNvSpPr txBox="1"/>
            <p:nvPr/>
          </p:nvSpPr>
          <p:spPr>
            <a:xfrm>
              <a:off x="7148512" y="2697480"/>
              <a:ext cx="413385"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多维度验证</a:t>
              </a:r>
            </a:p>
          </p:txBody>
        </p:sp>
        <p:sp>
          <p:nvSpPr>
            <p:cNvPr id="141" name="TextBox 141"/>
            <p:cNvSpPr txBox="1"/>
            <p:nvPr/>
          </p:nvSpPr>
          <p:spPr>
            <a:xfrm>
              <a:off x="7148512" y="283083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确保模型可靠</a:t>
              </a:r>
            </a:p>
          </p:txBody>
        </p:sp>
      </p:grpSp>
      <p:grpSp>
        <p:nvGrpSpPr>
          <p:cNvPr id="156" name="step-09"/>
          <p:cNvGrpSpPr/>
          <p:nvPr/>
        </p:nvGrpSpPr>
        <p:grpSpPr>
          <a:xfrm>
            <a:off x="8039100" y="1257300"/>
            <a:ext cx="942975" cy="2171700"/>
            <a:chOff x="8039100" y="1257300"/>
            <a:chExt cx="942975" cy="2171700"/>
          </a:xfrm>
        </p:grpSpPr>
        <p:sp>
          <p:nvSpPr>
            <p:cNvPr id="143" name="Rectangle 143"/>
            <p:cNvSpPr/>
            <p:nvPr/>
          </p:nvSpPr>
          <p:spPr>
            <a:xfrm>
              <a:off x="8039100" y="1257300"/>
              <a:ext cx="942975" cy="2171700"/>
            </a:xfrm>
            <a:prstGeom prst="roundRect">
              <a:avLst>
                <a:gd name="adj" fmla="val 8081"/>
              </a:avLst>
            </a:prstGeom>
            <a:solidFill>
              <a:srgbClr val="F4F9FD"/>
            </a:solidFill>
            <a:ln w="9525">
              <a:solidFill>
                <a:srgbClr val="CFE2F2"/>
              </a:solidFill>
            </a:ln>
          </p:spPr>
        </p:sp>
        <p:sp>
          <p:nvSpPr>
            <p:cNvPr id="144" name="Rectangle 144"/>
            <p:cNvSpPr/>
            <p:nvPr/>
          </p:nvSpPr>
          <p:spPr>
            <a:xfrm>
              <a:off x="8382000" y="1333500"/>
              <a:ext cx="247650" cy="142875"/>
            </a:xfrm>
            <a:prstGeom prst="roundRect">
              <a:avLst>
                <a:gd name="adj" fmla="val 46667"/>
              </a:avLst>
            </a:prstGeom>
            <a:solidFill>
              <a:srgbClr val="C4472E"/>
            </a:solidFill>
            <a:ln>
              <a:noFill/>
            </a:ln>
          </p:spPr>
        </p:sp>
        <p:sp>
          <p:nvSpPr>
            <p:cNvPr id="145" name="TextBox 145"/>
            <p:cNvSpPr txBox="1"/>
            <p:nvPr/>
          </p:nvSpPr>
          <p:spPr>
            <a:xfrm>
              <a:off x="8448197"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09</a:t>
              </a:r>
            </a:p>
          </p:txBody>
        </p:sp>
        <p:grpSp>
          <p:nvGrpSpPr>
            <p:cNvPr id="148" name="Group 148"/>
            <p:cNvGrpSpPr/>
            <p:nvPr/>
          </p:nvGrpSpPr>
          <p:grpSpPr>
            <a:xfrm>
              <a:off x="8435975" y="1595438"/>
              <a:ext cx="139700" cy="123031"/>
              <a:chOff x="8435975" y="1595438"/>
              <a:chExt cx="139700" cy="123031"/>
            </a:xfrm>
          </p:grpSpPr>
          <p:sp>
            <p:nvSpPr>
              <p:cNvPr id="146" name="Freeform 146"/>
              <p:cNvSpPr/>
              <p:nvPr/>
            </p:nvSpPr>
            <p:spPr>
              <a:xfrm>
                <a:off x="8435975" y="1708944"/>
                <a:ext cx="139700" cy="9525"/>
              </a:xfrm>
              <a:custGeom>
                <a:avLst/>
                <a:gdLst/>
                <a:ahLst/>
                <a:cxnLst/>
                <a:rect l="l" t="t" r="r" b="b"/>
                <a:pathLst>
                  <a:path w="139700" h="9525">
                    <a:moveTo>
                      <a:pt x="0" y="0"/>
                    </a:moveTo>
                    <a:lnTo>
                      <a:pt x="139700" y="0"/>
                    </a:lnTo>
                  </a:path>
                </a:pathLst>
              </a:custGeom>
              <a:noFill/>
              <a:ln w="17463">
                <a:solidFill>
                  <a:srgbClr val="C4472E"/>
                </a:solidFill>
              </a:ln>
            </p:spPr>
          </p:sp>
          <p:sp>
            <p:nvSpPr>
              <p:cNvPr id="147" name="Freeform 147"/>
              <p:cNvSpPr/>
              <p:nvPr/>
            </p:nvSpPr>
            <p:spPr>
              <a:xfrm>
                <a:off x="8435975" y="1595438"/>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7463">
                <a:solidFill>
                  <a:srgbClr val="C4472E"/>
                </a:solidFill>
              </a:ln>
            </p:spPr>
          </p:sp>
        </p:grpSp>
        <p:sp>
          <p:nvSpPr>
            <p:cNvPr id="149" name="TextBox 149"/>
            <p:cNvSpPr txBox="1"/>
            <p:nvPr/>
          </p:nvSpPr>
          <p:spPr>
            <a:xfrm>
              <a:off x="8281216" y="1849993"/>
              <a:ext cx="449217"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PD输出​</a:t>
              </a:r>
            </a:p>
          </p:txBody>
        </p:sp>
        <p:sp>
          <p:nvSpPr>
            <p:cNvPr id="150" name="TextBox 150"/>
            <p:cNvSpPr txBox="1"/>
            <p:nvPr/>
          </p:nvSpPr>
          <p:spPr>
            <a:xfrm>
              <a:off x="8129588" y="2064782"/>
              <a:ext cx="580558"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输出个体PD​</a:t>
              </a:r>
            </a:p>
          </p:txBody>
        </p:sp>
        <p:sp>
          <p:nvSpPr>
            <p:cNvPr id="151" name="TextBox 151"/>
            <p:cNvSpPr txBox="1"/>
            <p:nvPr/>
          </p:nvSpPr>
          <p:spPr>
            <a:xfrm>
              <a:off x="8129588" y="2236232"/>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校准与检验</a:t>
              </a:r>
            </a:p>
          </p:txBody>
        </p:sp>
        <p:sp>
          <p:nvSpPr>
            <p:cNvPr id="152" name="TextBox 152"/>
            <p:cNvSpPr txBox="1"/>
            <p:nvPr/>
          </p:nvSpPr>
          <p:spPr>
            <a:xfrm>
              <a:off x="8129588" y="2407682"/>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区分度评估</a:t>
              </a:r>
            </a:p>
          </p:txBody>
        </p:sp>
        <p:sp>
          <p:nvSpPr>
            <p:cNvPr id="153" name="Line 153"/>
            <p:cNvSpPr/>
            <p:nvPr/>
          </p:nvSpPr>
          <p:spPr>
            <a:xfrm>
              <a:off x="8134350"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154" name="TextBox 154"/>
            <p:cNvSpPr txBox="1"/>
            <p:nvPr/>
          </p:nvSpPr>
          <p:spPr>
            <a:xfrm>
              <a:off x="8129588" y="2697480"/>
              <a:ext cx="413385"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将模型结果</a:t>
              </a:r>
            </a:p>
          </p:txBody>
        </p:sp>
        <p:sp>
          <p:nvSpPr>
            <p:cNvPr id="155" name="TextBox 155"/>
            <p:cNvSpPr txBox="1"/>
            <p:nvPr/>
          </p:nvSpPr>
          <p:spPr>
            <a:xfrm>
              <a:off x="8129588" y="2830830"/>
              <a:ext cx="574929"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转化为违约概率</a:t>
              </a:r>
            </a:p>
          </p:txBody>
        </p:sp>
      </p:grpSp>
      <p:grpSp>
        <p:nvGrpSpPr>
          <p:cNvPr id="173" name="step-10"/>
          <p:cNvGrpSpPr/>
          <p:nvPr/>
        </p:nvGrpSpPr>
        <p:grpSpPr>
          <a:xfrm>
            <a:off x="9020175" y="1257300"/>
            <a:ext cx="942975" cy="2171700"/>
            <a:chOff x="9020175" y="1257300"/>
            <a:chExt cx="942975" cy="2171700"/>
          </a:xfrm>
        </p:grpSpPr>
        <p:sp>
          <p:nvSpPr>
            <p:cNvPr id="157" name="Rectangle 157"/>
            <p:cNvSpPr/>
            <p:nvPr/>
          </p:nvSpPr>
          <p:spPr>
            <a:xfrm>
              <a:off x="9020175" y="1257300"/>
              <a:ext cx="942975" cy="2171700"/>
            </a:xfrm>
            <a:prstGeom prst="roundRect">
              <a:avLst>
                <a:gd name="adj" fmla="val 8081"/>
              </a:avLst>
            </a:prstGeom>
            <a:solidFill>
              <a:srgbClr val="F4F9FD"/>
            </a:solidFill>
            <a:ln w="9525">
              <a:solidFill>
                <a:srgbClr val="CFE2F2"/>
              </a:solidFill>
            </a:ln>
          </p:spPr>
        </p:sp>
        <p:sp>
          <p:nvSpPr>
            <p:cNvPr id="158" name="Rectangle 158"/>
            <p:cNvSpPr/>
            <p:nvPr/>
          </p:nvSpPr>
          <p:spPr>
            <a:xfrm>
              <a:off x="9363075" y="1333500"/>
              <a:ext cx="247650" cy="142875"/>
            </a:xfrm>
            <a:prstGeom prst="roundRect">
              <a:avLst>
                <a:gd name="adj" fmla="val 46667"/>
              </a:avLst>
            </a:prstGeom>
            <a:solidFill>
              <a:srgbClr val="C4472E"/>
            </a:solidFill>
            <a:ln>
              <a:noFill/>
            </a:ln>
          </p:spPr>
        </p:sp>
        <p:sp>
          <p:nvSpPr>
            <p:cNvPr id="159" name="TextBox 159"/>
            <p:cNvSpPr txBox="1"/>
            <p:nvPr/>
          </p:nvSpPr>
          <p:spPr>
            <a:xfrm>
              <a:off x="9429272"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10</a:t>
              </a:r>
            </a:p>
          </p:txBody>
        </p:sp>
        <p:grpSp>
          <p:nvGrpSpPr>
            <p:cNvPr id="165" name="Group 165"/>
            <p:cNvGrpSpPr/>
            <p:nvPr/>
          </p:nvGrpSpPr>
          <p:grpSpPr>
            <a:xfrm>
              <a:off x="9408319" y="1569244"/>
              <a:ext cx="157163" cy="157956"/>
              <a:chOff x="9408319" y="1569244"/>
              <a:chExt cx="157163" cy="157956"/>
            </a:xfrm>
          </p:grpSpPr>
          <p:sp>
            <p:nvSpPr>
              <p:cNvPr id="160" name="Freeform 160"/>
              <p:cNvSpPr/>
              <p:nvPr/>
            </p:nvSpPr>
            <p:spPr>
              <a:xfrm>
                <a:off x="9443244" y="1717675"/>
                <a:ext cx="87313" cy="9525"/>
              </a:xfrm>
              <a:custGeom>
                <a:avLst/>
                <a:gdLst/>
                <a:ahLst/>
                <a:cxnLst/>
                <a:rect l="l" t="t" r="r" b="b"/>
                <a:pathLst>
                  <a:path w="87313" h="9525">
                    <a:moveTo>
                      <a:pt x="0" y="0"/>
                    </a:moveTo>
                    <a:lnTo>
                      <a:pt x="87313" y="0"/>
                    </a:lnTo>
                  </a:path>
                </a:pathLst>
              </a:custGeom>
              <a:noFill/>
              <a:ln w="17463">
                <a:solidFill>
                  <a:srgbClr val="C4472E"/>
                </a:solidFill>
              </a:ln>
            </p:spPr>
          </p:sp>
          <p:sp>
            <p:nvSpPr>
              <p:cNvPr id="161" name="Freeform 161"/>
              <p:cNvSpPr/>
              <p:nvPr/>
            </p:nvSpPr>
            <p:spPr>
              <a:xfrm>
                <a:off x="9434513" y="1586706"/>
                <a:ext cx="104775" cy="9525"/>
              </a:xfrm>
              <a:custGeom>
                <a:avLst/>
                <a:gdLst/>
                <a:ahLst/>
                <a:cxnLst/>
                <a:rect l="l" t="t" r="r" b="b"/>
                <a:pathLst>
                  <a:path w="104775" h="9525">
                    <a:moveTo>
                      <a:pt x="0" y="8731"/>
                    </a:moveTo>
                    <a:lnTo>
                      <a:pt x="52388" y="0"/>
                    </a:lnTo>
                    <a:lnTo>
                      <a:pt x="104775" y="8731"/>
                    </a:lnTo>
                  </a:path>
                </a:pathLst>
              </a:custGeom>
              <a:noFill/>
              <a:ln w="17463">
                <a:solidFill>
                  <a:srgbClr val="C4472E"/>
                </a:solidFill>
              </a:ln>
            </p:spPr>
          </p:sp>
          <p:sp>
            <p:nvSpPr>
              <p:cNvPr id="162" name="Freeform 162"/>
              <p:cNvSpPr/>
              <p:nvPr/>
            </p:nvSpPr>
            <p:spPr>
              <a:xfrm>
                <a:off x="9486900" y="1569244"/>
                <a:ext cx="9525" cy="148431"/>
              </a:xfrm>
              <a:custGeom>
                <a:avLst/>
                <a:gdLst/>
                <a:ahLst/>
                <a:cxnLst/>
                <a:rect l="l" t="t" r="r" b="b"/>
                <a:pathLst>
                  <a:path w="9525" h="148431">
                    <a:moveTo>
                      <a:pt x="0" y="0"/>
                    </a:moveTo>
                    <a:lnTo>
                      <a:pt x="0" y="148431"/>
                    </a:lnTo>
                  </a:path>
                </a:pathLst>
              </a:custGeom>
              <a:noFill/>
              <a:ln w="17463">
                <a:solidFill>
                  <a:srgbClr val="C4472E"/>
                </a:solidFill>
              </a:ln>
            </p:spPr>
          </p:sp>
          <p:sp>
            <p:nvSpPr>
              <p:cNvPr id="163" name="Freeform 163"/>
              <p:cNvSpPr/>
              <p:nvPr/>
            </p:nvSpPr>
            <p:spPr>
              <a:xfrm>
                <a:off x="9408319" y="1595438"/>
                <a:ext cx="52388" cy="78581"/>
              </a:xfrm>
              <a:custGeom>
                <a:avLst/>
                <a:gdLst/>
                <a:ahLst/>
                <a:cxnLst/>
                <a:rect l="l" t="t" r="r" b="b"/>
                <a:pathLst>
                  <a:path w="52388" h="78581">
                    <a:moveTo>
                      <a:pt x="52388" y="52388"/>
                    </a:moveTo>
                    <a:lnTo>
                      <a:pt x="26194" y="0"/>
                    </a:lnTo>
                    <a:lnTo>
                      <a:pt x="0" y="52388"/>
                    </a:lnTo>
                    <a:cubicBezTo>
                      <a:pt x="0" y="66854"/>
                      <a:pt x="11727" y="78581"/>
                      <a:pt x="26194" y="78581"/>
                    </a:cubicBezTo>
                    <a:cubicBezTo>
                      <a:pt x="40660" y="78581"/>
                      <a:pt x="52388" y="66854"/>
                      <a:pt x="52388" y="52388"/>
                    </a:cubicBezTo>
                  </a:path>
                </a:pathLst>
              </a:custGeom>
              <a:noFill/>
              <a:ln w="17463">
                <a:solidFill>
                  <a:srgbClr val="C4472E"/>
                </a:solidFill>
              </a:ln>
            </p:spPr>
          </p:sp>
          <p:sp>
            <p:nvSpPr>
              <p:cNvPr id="164" name="Freeform 164"/>
              <p:cNvSpPr/>
              <p:nvPr/>
            </p:nvSpPr>
            <p:spPr>
              <a:xfrm>
                <a:off x="9513094" y="1595438"/>
                <a:ext cx="52388" cy="78581"/>
              </a:xfrm>
              <a:custGeom>
                <a:avLst/>
                <a:gdLst/>
                <a:ahLst/>
                <a:cxnLst/>
                <a:rect l="l" t="t" r="r" b="b"/>
                <a:pathLst>
                  <a:path w="52388" h="78581">
                    <a:moveTo>
                      <a:pt x="52388" y="52388"/>
                    </a:moveTo>
                    <a:lnTo>
                      <a:pt x="26194" y="0"/>
                    </a:lnTo>
                    <a:lnTo>
                      <a:pt x="0" y="52388"/>
                    </a:lnTo>
                    <a:cubicBezTo>
                      <a:pt x="0" y="66854"/>
                      <a:pt x="11727" y="78581"/>
                      <a:pt x="26194" y="78581"/>
                    </a:cubicBezTo>
                    <a:cubicBezTo>
                      <a:pt x="40660" y="78581"/>
                      <a:pt x="52388" y="66854"/>
                      <a:pt x="52388" y="52388"/>
                    </a:cubicBezTo>
                  </a:path>
                </a:pathLst>
              </a:custGeom>
              <a:noFill/>
              <a:ln w="17463">
                <a:solidFill>
                  <a:srgbClr val="C4472E"/>
                </a:solidFill>
              </a:ln>
            </p:spPr>
          </p:sp>
        </p:grpSp>
        <p:sp>
          <p:nvSpPr>
            <p:cNvPr id="166" name="TextBox 166"/>
            <p:cNvSpPr txBox="1"/>
            <p:nvPr/>
          </p:nvSpPr>
          <p:spPr>
            <a:xfrm>
              <a:off x="9308478" y="1849993"/>
              <a:ext cx="356845"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主标尺</a:t>
              </a:r>
            </a:p>
          </p:txBody>
        </p:sp>
        <p:sp>
          <p:nvSpPr>
            <p:cNvPr id="167" name="TextBox 167"/>
            <p:cNvSpPr txBox="1"/>
            <p:nvPr/>
          </p:nvSpPr>
          <p:spPr>
            <a:xfrm>
              <a:off x="9110662"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确定分档范围</a:t>
              </a:r>
            </a:p>
          </p:txBody>
        </p:sp>
        <p:sp>
          <p:nvSpPr>
            <p:cNvPr id="168" name="TextBox 168"/>
            <p:cNvSpPr txBox="1"/>
            <p:nvPr/>
          </p:nvSpPr>
          <p:spPr>
            <a:xfrm>
              <a:off x="9110662" y="22362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分数映射转换</a:t>
              </a:r>
            </a:p>
          </p:txBody>
        </p:sp>
        <p:sp>
          <p:nvSpPr>
            <p:cNvPr id="169" name="TextBox 169"/>
            <p:cNvSpPr txBox="1"/>
            <p:nvPr/>
          </p:nvSpPr>
          <p:spPr>
            <a:xfrm>
              <a:off x="9110662" y="24076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设定分数含义</a:t>
              </a:r>
            </a:p>
          </p:txBody>
        </p:sp>
        <p:sp>
          <p:nvSpPr>
            <p:cNvPr id="170" name="Line 170"/>
            <p:cNvSpPr/>
            <p:nvPr/>
          </p:nvSpPr>
          <p:spPr>
            <a:xfrm>
              <a:off x="9115425"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171" name="TextBox 171"/>
            <p:cNvSpPr txBox="1"/>
            <p:nvPr/>
          </p:nvSpPr>
          <p:spPr>
            <a:xfrm>
              <a:off x="9110662" y="269748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让结果直观、</a:t>
              </a:r>
            </a:p>
          </p:txBody>
        </p:sp>
        <p:sp>
          <p:nvSpPr>
            <p:cNvPr id="172" name="TextBox 172"/>
            <p:cNvSpPr txBox="1"/>
            <p:nvPr/>
          </p:nvSpPr>
          <p:spPr>
            <a:xfrm>
              <a:off x="9110662" y="2830830"/>
              <a:ext cx="413385"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更易于使用</a:t>
              </a:r>
            </a:p>
          </p:txBody>
        </p:sp>
      </p:grpSp>
      <p:grpSp>
        <p:nvGrpSpPr>
          <p:cNvPr id="191" name="step-11"/>
          <p:cNvGrpSpPr/>
          <p:nvPr/>
        </p:nvGrpSpPr>
        <p:grpSpPr>
          <a:xfrm>
            <a:off x="10001250" y="1257300"/>
            <a:ext cx="942975" cy="2171700"/>
            <a:chOff x="10001250" y="1257300"/>
            <a:chExt cx="942975" cy="2171700"/>
          </a:xfrm>
        </p:grpSpPr>
        <p:sp>
          <p:nvSpPr>
            <p:cNvPr id="174" name="Rectangle 174"/>
            <p:cNvSpPr/>
            <p:nvPr/>
          </p:nvSpPr>
          <p:spPr>
            <a:xfrm>
              <a:off x="10001250" y="1257300"/>
              <a:ext cx="942975" cy="2171700"/>
            </a:xfrm>
            <a:prstGeom prst="roundRect">
              <a:avLst>
                <a:gd name="adj" fmla="val 8081"/>
              </a:avLst>
            </a:prstGeom>
            <a:solidFill>
              <a:srgbClr val="F4F9FD"/>
            </a:solidFill>
            <a:ln w="9525">
              <a:solidFill>
                <a:srgbClr val="CFE2F2"/>
              </a:solidFill>
            </a:ln>
          </p:spPr>
        </p:sp>
        <p:sp>
          <p:nvSpPr>
            <p:cNvPr id="175" name="Rectangle 175"/>
            <p:cNvSpPr/>
            <p:nvPr/>
          </p:nvSpPr>
          <p:spPr>
            <a:xfrm>
              <a:off x="10344150" y="1333500"/>
              <a:ext cx="247650" cy="142875"/>
            </a:xfrm>
            <a:prstGeom prst="roundRect">
              <a:avLst>
                <a:gd name="adj" fmla="val 46667"/>
              </a:avLst>
            </a:prstGeom>
            <a:solidFill>
              <a:srgbClr val="C4472E"/>
            </a:solidFill>
            <a:ln>
              <a:noFill/>
            </a:ln>
          </p:spPr>
        </p:sp>
        <p:sp>
          <p:nvSpPr>
            <p:cNvPr id="176" name="TextBox 176"/>
            <p:cNvSpPr txBox="1"/>
            <p:nvPr/>
          </p:nvSpPr>
          <p:spPr>
            <a:xfrm>
              <a:off x="10410347"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11</a:t>
              </a:r>
            </a:p>
          </p:txBody>
        </p:sp>
        <p:grpSp>
          <p:nvGrpSpPr>
            <p:cNvPr id="183" name="Group 183"/>
            <p:cNvGrpSpPr/>
            <p:nvPr/>
          </p:nvGrpSpPr>
          <p:grpSpPr>
            <a:xfrm>
              <a:off x="10393759" y="1582341"/>
              <a:ext cx="144066" cy="127397"/>
              <a:chOff x="10393759" y="1582341"/>
              <a:chExt cx="144066" cy="127397"/>
            </a:xfrm>
          </p:grpSpPr>
          <p:sp>
            <p:nvSpPr>
              <p:cNvPr id="177" name="Freeform 177"/>
              <p:cNvSpPr/>
              <p:nvPr/>
            </p:nvSpPr>
            <p:spPr>
              <a:xfrm>
                <a:off x="10393759" y="1582341"/>
                <a:ext cx="34925" cy="21828"/>
              </a:xfrm>
              <a:custGeom>
                <a:avLst/>
                <a:gdLst/>
                <a:ahLst/>
                <a:cxnLst/>
                <a:rect l="l" t="t" r="r" b="b"/>
                <a:pathLst>
                  <a:path w="34925" h="21828">
                    <a:moveTo>
                      <a:pt x="0" y="8731"/>
                    </a:moveTo>
                    <a:lnTo>
                      <a:pt x="13097" y="21828"/>
                    </a:lnTo>
                    <a:lnTo>
                      <a:pt x="34925" y="0"/>
                    </a:lnTo>
                  </a:path>
                </a:pathLst>
              </a:custGeom>
              <a:noFill/>
              <a:ln w="17463">
                <a:solidFill>
                  <a:srgbClr val="C4472E"/>
                </a:solidFill>
              </a:ln>
            </p:spPr>
          </p:sp>
          <p:sp>
            <p:nvSpPr>
              <p:cNvPr id="178" name="Freeform 178"/>
              <p:cNvSpPr/>
              <p:nvPr/>
            </p:nvSpPr>
            <p:spPr>
              <a:xfrm>
                <a:off x="10393759" y="1634728"/>
                <a:ext cx="34925" cy="21828"/>
              </a:xfrm>
              <a:custGeom>
                <a:avLst/>
                <a:gdLst/>
                <a:ahLst/>
                <a:cxnLst/>
                <a:rect l="l" t="t" r="r" b="b"/>
                <a:pathLst>
                  <a:path w="34925" h="21828">
                    <a:moveTo>
                      <a:pt x="0" y="8731"/>
                    </a:moveTo>
                    <a:lnTo>
                      <a:pt x="13097" y="21828"/>
                    </a:lnTo>
                    <a:lnTo>
                      <a:pt x="34925" y="0"/>
                    </a:lnTo>
                  </a:path>
                </a:pathLst>
              </a:custGeom>
              <a:noFill/>
              <a:ln w="17463">
                <a:solidFill>
                  <a:srgbClr val="C4472E"/>
                </a:solidFill>
              </a:ln>
            </p:spPr>
          </p:sp>
          <p:sp>
            <p:nvSpPr>
              <p:cNvPr id="179" name="Freeform 179"/>
              <p:cNvSpPr/>
              <p:nvPr/>
            </p:nvSpPr>
            <p:spPr>
              <a:xfrm>
                <a:off x="10393759" y="1687116"/>
                <a:ext cx="34925" cy="21828"/>
              </a:xfrm>
              <a:custGeom>
                <a:avLst/>
                <a:gdLst/>
                <a:ahLst/>
                <a:cxnLst/>
                <a:rect l="l" t="t" r="r" b="b"/>
                <a:pathLst>
                  <a:path w="34925" h="21828">
                    <a:moveTo>
                      <a:pt x="0" y="8731"/>
                    </a:moveTo>
                    <a:lnTo>
                      <a:pt x="13097" y="21828"/>
                    </a:lnTo>
                    <a:lnTo>
                      <a:pt x="34925" y="0"/>
                    </a:lnTo>
                  </a:path>
                </a:pathLst>
              </a:custGeom>
              <a:noFill/>
              <a:ln w="17463">
                <a:solidFill>
                  <a:srgbClr val="C4472E"/>
                </a:solidFill>
              </a:ln>
            </p:spPr>
          </p:sp>
          <p:sp>
            <p:nvSpPr>
              <p:cNvPr id="180" name="Freeform 180"/>
              <p:cNvSpPr/>
              <p:nvPr/>
            </p:nvSpPr>
            <p:spPr>
              <a:xfrm>
                <a:off x="10459244" y="1595438"/>
                <a:ext cx="78581" cy="9525"/>
              </a:xfrm>
              <a:custGeom>
                <a:avLst/>
                <a:gdLst/>
                <a:ahLst/>
                <a:cxnLst/>
                <a:rect l="l" t="t" r="r" b="b"/>
                <a:pathLst>
                  <a:path w="78581" h="9525">
                    <a:moveTo>
                      <a:pt x="0" y="0"/>
                    </a:moveTo>
                    <a:lnTo>
                      <a:pt x="78581" y="0"/>
                    </a:lnTo>
                  </a:path>
                </a:pathLst>
              </a:custGeom>
              <a:noFill/>
              <a:ln w="17463">
                <a:solidFill>
                  <a:srgbClr val="C4472E"/>
                </a:solidFill>
              </a:ln>
            </p:spPr>
          </p:sp>
          <p:sp>
            <p:nvSpPr>
              <p:cNvPr id="181" name="Freeform 181"/>
              <p:cNvSpPr/>
              <p:nvPr/>
            </p:nvSpPr>
            <p:spPr>
              <a:xfrm>
                <a:off x="10459244" y="1647825"/>
                <a:ext cx="78581" cy="9525"/>
              </a:xfrm>
              <a:custGeom>
                <a:avLst/>
                <a:gdLst/>
                <a:ahLst/>
                <a:cxnLst/>
                <a:rect l="l" t="t" r="r" b="b"/>
                <a:pathLst>
                  <a:path w="78581" h="9525">
                    <a:moveTo>
                      <a:pt x="0" y="0"/>
                    </a:moveTo>
                    <a:lnTo>
                      <a:pt x="78581" y="0"/>
                    </a:lnTo>
                  </a:path>
                </a:pathLst>
              </a:custGeom>
              <a:noFill/>
              <a:ln w="17463">
                <a:solidFill>
                  <a:srgbClr val="C4472E"/>
                </a:solidFill>
              </a:ln>
            </p:spPr>
          </p:sp>
          <p:sp>
            <p:nvSpPr>
              <p:cNvPr id="182" name="Freeform 182"/>
              <p:cNvSpPr/>
              <p:nvPr/>
            </p:nvSpPr>
            <p:spPr>
              <a:xfrm>
                <a:off x="10459244" y="1700213"/>
                <a:ext cx="78581" cy="9525"/>
              </a:xfrm>
              <a:custGeom>
                <a:avLst/>
                <a:gdLst/>
                <a:ahLst/>
                <a:cxnLst/>
                <a:rect l="l" t="t" r="r" b="b"/>
                <a:pathLst>
                  <a:path w="78581" h="9525">
                    <a:moveTo>
                      <a:pt x="0" y="0"/>
                    </a:moveTo>
                    <a:lnTo>
                      <a:pt x="78581" y="0"/>
                    </a:lnTo>
                  </a:path>
                </a:pathLst>
              </a:custGeom>
              <a:noFill/>
              <a:ln w="17463">
                <a:solidFill>
                  <a:srgbClr val="C4472E"/>
                </a:solidFill>
              </a:ln>
            </p:spPr>
          </p:sp>
        </p:grpSp>
        <p:sp>
          <p:nvSpPr>
            <p:cNvPr id="184" name="TextBox 184"/>
            <p:cNvSpPr txBox="1"/>
            <p:nvPr/>
          </p:nvSpPr>
          <p:spPr>
            <a:xfrm>
              <a:off x="10231666" y="1849993"/>
              <a:ext cx="472618"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评级等级</a:t>
              </a:r>
            </a:p>
          </p:txBody>
        </p:sp>
        <p:sp>
          <p:nvSpPr>
            <p:cNvPr id="185" name="TextBox 185"/>
            <p:cNvSpPr txBox="1"/>
            <p:nvPr/>
          </p:nvSpPr>
          <p:spPr>
            <a:xfrm>
              <a:off x="10091738"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设置等级区间</a:t>
              </a:r>
            </a:p>
          </p:txBody>
        </p:sp>
        <p:sp>
          <p:nvSpPr>
            <p:cNvPr id="186" name="TextBox 186"/>
            <p:cNvSpPr txBox="1"/>
            <p:nvPr/>
          </p:nvSpPr>
          <p:spPr>
            <a:xfrm>
              <a:off x="10091738" y="22362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等级标志矩阵</a:t>
              </a:r>
            </a:p>
          </p:txBody>
        </p:sp>
        <p:sp>
          <p:nvSpPr>
            <p:cNvPr id="187" name="TextBox 187"/>
            <p:cNvSpPr txBox="1"/>
            <p:nvPr/>
          </p:nvSpPr>
          <p:spPr>
            <a:xfrm>
              <a:off x="10091738" y="24076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设定分数含义</a:t>
              </a:r>
            </a:p>
          </p:txBody>
        </p:sp>
        <p:sp>
          <p:nvSpPr>
            <p:cNvPr id="188" name="Line 188"/>
            <p:cNvSpPr/>
            <p:nvPr/>
          </p:nvSpPr>
          <p:spPr>
            <a:xfrm>
              <a:off x="10096500"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189" name="TextBox 189"/>
            <p:cNvSpPr txBox="1"/>
            <p:nvPr/>
          </p:nvSpPr>
          <p:spPr>
            <a:xfrm>
              <a:off x="10091738" y="2697480"/>
              <a:ext cx="413385"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形成清晰的</a:t>
              </a:r>
            </a:p>
          </p:txBody>
        </p:sp>
        <p:sp>
          <p:nvSpPr>
            <p:cNvPr id="190" name="TextBox 190"/>
            <p:cNvSpPr txBox="1"/>
            <p:nvPr/>
          </p:nvSpPr>
          <p:spPr>
            <a:xfrm>
              <a:off x="10091738" y="283083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风险分级体系</a:t>
              </a:r>
            </a:p>
          </p:txBody>
        </p:sp>
      </p:grpSp>
      <p:grpSp>
        <p:nvGrpSpPr>
          <p:cNvPr id="206" name="step-12"/>
          <p:cNvGrpSpPr/>
          <p:nvPr/>
        </p:nvGrpSpPr>
        <p:grpSpPr>
          <a:xfrm>
            <a:off x="10982325" y="1257300"/>
            <a:ext cx="942975" cy="2171700"/>
            <a:chOff x="10982325" y="1257300"/>
            <a:chExt cx="942975" cy="2171700"/>
          </a:xfrm>
        </p:grpSpPr>
        <p:sp>
          <p:nvSpPr>
            <p:cNvPr id="192" name="Rectangle 192"/>
            <p:cNvSpPr/>
            <p:nvPr/>
          </p:nvSpPr>
          <p:spPr>
            <a:xfrm>
              <a:off x="10982325" y="1257300"/>
              <a:ext cx="942975" cy="2171700"/>
            </a:xfrm>
            <a:prstGeom prst="roundRect">
              <a:avLst>
                <a:gd name="adj" fmla="val 8081"/>
              </a:avLst>
            </a:prstGeom>
            <a:solidFill>
              <a:srgbClr val="F4F9FD"/>
            </a:solidFill>
            <a:ln w="9525">
              <a:solidFill>
                <a:srgbClr val="CFE2F2"/>
              </a:solidFill>
            </a:ln>
          </p:spPr>
        </p:sp>
        <p:sp>
          <p:nvSpPr>
            <p:cNvPr id="193" name="Rectangle 193"/>
            <p:cNvSpPr/>
            <p:nvPr/>
          </p:nvSpPr>
          <p:spPr>
            <a:xfrm>
              <a:off x="11325225" y="1333500"/>
              <a:ext cx="247650" cy="142875"/>
            </a:xfrm>
            <a:prstGeom prst="roundRect">
              <a:avLst>
                <a:gd name="adj" fmla="val 46667"/>
              </a:avLst>
            </a:prstGeom>
            <a:solidFill>
              <a:srgbClr val="C4472E"/>
            </a:solidFill>
            <a:ln>
              <a:noFill/>
            </a:ln>
          </p:spPr>
        </p:sp>
        <p:sp>
          <p:nvSpPr>
            <p:cNvPr id="194" name="TextBox 194"/>
            <p:cNvSpPr txBox="1"/>
            <p:nvPr/>
          </p:nvSpPr>
          <p:spPr>
            <a:xfrm>
              <a:off x="11391422" y="1365409"/>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12</a:t>
              </a:r>
            </a:p>
          </p:txBody>
        </p:sp>
        <p:grpSp>
          <p:nvGrpSpPr>
            <p:cNvPr id="198" name="Group 198"/>
            <p:cNvGrpSpPr/>
            <p:nvPr/>
          </p:nvGrpSpPr>
          <p:grpSpPr>
            <a:xfrm>
              <a:off x="11376442" y="1577975"/>
              <a:ext cx="142458" cy="142458"/>
              <a:chOff x="11376442" y="1577975"/>
              <a:chExt cx="142458" cy="142458"/>
            </a:xfrm>
          </p:grpSpPr>
          <p:sp>
            <p:nvSpPr>
              <p:cNvPr id="195" name="Freeform 195"/>
              <p:cNvSpPr/>
              <p:nvPr/>
            </p:nvSpPr>
            <p:spPr>
              <a:xfrm>
                <a:off x="11379200" y="1577975"/>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C4472E"/>
                </a:solidFill>
              </a:ln>
            </p:spPr>
          </p:sp>
          <p:sp>
            <p:nvSpPr>
              <p:cNvPr id="196" name="Freeform 196"/>
              <p:cNvSpPr/>
              <p:nvPr/>
            </p:nvSpPr>
            <p:spPr>
              <a:xfrm>
                <a:off x="11376442" y="1665288"/>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C4472E"/>
                </a:solidFill>
              </a:ln>
            </p:spPr>
          </p:sp>
          <p:sp>
            <p:nvSpPr>
              <p:cNvPr id="197" name="Freeform 197"/>
              <p:cNvSpPr/>
              <p:nvPr/>
            </p:nvSpPr>
            <p:spPr>
              <a:xfrm>
                <a:off x="11466513" y="1612900"/>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C4472E"/>
                </a:solidFill>
              </a:ln>
            </p:spPr>
          </p:sp>
        </p:grpSp>
        <p:sp>
          <p:nvSpPr>
            <p:cNvPr id="199" name="TextBox 199"/>
            <p:cNvSpPr txBox="1"/>
            <p:nvPr/>
          </p:nvSpPr>
          <p:spPr>
            <a:xfrm>
              <a:off x="11212741" y="1849993"/>
              <a:ext cx="472618" cy="169069"/>
            </a:xfrm>
            <a:prstGeom prst="rect">
              <a:avLst/>
            </a:prstGeom>
            <a:noFill/>
            <a:ln>
              <a:noFill/>
            </a:ln>
          </p:spPr>
          <p:txBody>
            <a:bodyPr wrap="none" lIns="0" tIns="0" rIns="0" bIns="0" anchor="t" anchorCtr="0">
              <a:spAutoFit/>
            </a:bodyPr>
            <a:lstStyle/>
            <a:p>
              <a:pPr algn="ctr"/>
              <a:r>
                <a:rPr lang="zh-CN" sz="860" b="1" dirty="0">
                  <a:solidFill>
                    <a:srgbClr val="3E1810"/>
                  </a:solidFill>
                  <a:latin typeface="+mn-lt"/>
                  <a:ea typeface="+mn-ea"/>
                  <a:cs typeface="+mn-cs"/>
                </a:rPr>
                <a:t>上线应用</a:t>
              </a:r>
            </a:p>
          </p:txBody>
        </p:sp>
        <p:sp>
          <p:nvSpPr>
            <p:cNvPr id="200" name="TextBox 200"/>
            <p:cNvSpPr txBox="1"/>
            <p:nvPr/>
          </p:nvSpPr>
          <p:spPr>
            <a:xfrm>
              <a:off x="11072812" y="2064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系统开发对接</a:t>
              </a:r>
            </a:p>
          </p:txBody>
        </p:sp>
        <p:sp>
          <p:nvSpPr>
            <p:cNvPr id="201" name="TextBox 201"/>
            <p:cNvSpPr txBox="1"/>
            <p:nvPr/>
          </p:nvSpPr>
          <p:spPr>
            <a:xfrm>
              <a:off x="11072812" y="22362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试运行与监控</a:t>
              </a:r>
            </a:p>
          </p:txBody>
        </p:sp>
        <p:sp>
          <p:nvSpPr>
            <p:cNvPr id="202" name="TextBox 202"/>
            <p:cNvSpPr txBox="1"/>
            <p:nvPr/>
          </p:nvSpPr>
          <p:spPr>
            <a:xfrm>
              <a:off x="11072812" y="24076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持续优化迭代</a:t>
              </a:r>
            </a:p>
          </p:txBody>
        </p:sp>
        <p:sp>
          <p:nvSpPr>
            <p:cNvPr id="203" name="Line 203"/>
            <p:cNvSpPr/>
            <p:nvPr/>
          </p:nvSpPr>
          <p:spPr>
            <a:xfrm>
              <a:off x="11077575" y="2590800"/>
              <a:ext cx="742950" cy="9525"/>
            </a:xfrm>
            <a:custGeom>
              <a:avLst/>
              <a:gdLst/>
              <a:ahLst/>
              <a:cxnLst/>
              <a:rect l="l" t="t" r="r" b="b"/>
              <a:pathLst>
                <a:path w="742950" h="9525">
                  <a:moveTo>
                    <a:pt x="0" y="0"/>
                  </a:moveTo>
                  <a:lnTo>
                    <a:pt x="742950" y="0"/>
                  </a:lnTo>
                </a:path>
              </a:pathLst>
            </a:custGeom>
            <a:noFill/>
            <a:ln w="9525">
              <a:solidFill>
                <a:srgbClr val="CFE2F2"/>
              </a:solidFill>
            </a:ln>
          </p:spPr>
        </p:sp>
        <p:sp>
          <p:nvSpPr>
            <p:cNvPr id="204" name="TextBox 204"/>
            <p:cNvSpPr txBox="1"/>
            <p:nvPr/>
          </p:nvSpPr>
          <p:spPr>
            <a:xfrm>
              <a:off x="11072812" y="269748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从模型到价值</a:t>
              </a:r>
            </a:p>
          </p:txBody>
        </p:sp>
        <p:sp>
          <p:nvSpPr>
            <p:cNvPr id="205" name="TextBox 205"/>
            <p:cNvSpPr txBox="1"/>
            <p:nvPr/>
          </p:nvSpPr>
          <p:spPr>
            <a:xfrm>
              <a:off x="11072812" y="2830830"/>
              <a:ext cx="49415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服务业务实践</a:t>
              </a:r>
            </a:p>
          </p:txBody>
        </p:sp>
      </p:grpSp>
      <p:grpSp>
        <p:nvGrpSpPr>
          <p:cNvPr id="238" name="value-card"/>
          <p:cNvGrpSpPr/>
          <p:nvPr/>
        </p:nvGrpSpPr>
        <p:grpSpPr>
          <a:xfrm>
            <a:off x="190500" y="3524250"/>
            <a:ext cx="3600450" cy="3048000"/>
            <a:chOff x="190500" y="3524250"/>
            <a:chExt cx="3600450" cy="3048000"/>
          </a:xfrm>
        </p:grpSpPr>
        <p:sp>
          <p:nvSpPr>
            <p:cNvPr id="207" name="Rectangle 207"/>
            <p:cNvSpPr/>
            <p:nvPr/>
          </p:nvSpPr>
          <p:spPr>
            <a:xfrm>
              <a:off x="190500" y="3524250"/>
              <a:ext cx="3600450" cy="3048000"/>
            </a:xfrm>
            <a:prstGeom prst="roundRect">
              <a:avLst>
                <a:gd name="adj" fmla="val 3125"/>
              </a:avLst>
            </a:prstGeom>
            <a:solidFill>
              <a:srgbClr val="FFFFFF"/>
            </a:solidFill>
            <a:ln w="9525">
              <a:solidFill>
                <a:srgbClr val="CFE2F2"/>
              </a:solidFill>
            </a:ln>
          </p:spPr>
        </p:sp>
        <p:grpSp>
          <p:nvGrpSpPr>
            <p:cNvPr id="210" name="Group 210"/>
            <p:cNvGrpSpPr/>
            <p:nvPr/>
          </p:nvGrpSpPr>
          <p:grpSpPr>
            <a:xfrm>
              <a:off x="382191" y="3677841"/>
              <a:ext cx="121444" cy="121444"/>
              <a:chOff x="382191" y="3677841"/>
              <a:chExt cx="121444" cy="121444"/>
            </a:xfrm>
          </p:grpSpPr>
          <p:sp>
            <p:nvSpPr>
              <p:cNvPr id="208" name="Freeform 208"/>
              <p:cNvSpPr/>
              <p:nvPr/>
            </p:nvSpPr>
            <p:spPr>
              <a:xfrm>
                <a:off x="382191" y="3677841"/>
                <a:ext cx="121444" cy="121444"/>
              </a:xfrm>
              <a:custGeom>
                <a:avLst/>
                <a:gdLst/>
                <a:ahLst/>
                <a:cxnLst/>
                <a:rect l="l" t="t" r="r" b="b"/>
                <a:pathLst>
                  <a:path w="121444" h="121444">
                    <a:moveTo>
                      <a:pt x="0" y="60722"/>
                    </a:moveTo>
                    <a:cubicBezTo>
                      <a:pt x="0" y="94258"/>
                      <a:pt x="27186" y="121444"/>
                      <a:pt x="60722" y="121444"/>
                    </a:cubicBezTo>
                    <a:cubicBezTo>
                      <a:pt x="94258" y="121444"/>
                      <a:pt x="121444" y="94258"/>
                      <a:pt x="121444" y="60722"/>
                    </a:cubicBezTo>
                    <a:cubicBezTo>
                      <a:pt x="121444" y="27186"/>
                      <a:pt x="94258" y="0"/>
                      <a:pt x="60722" y="0"/>
                    </a:cubicBezTo>
                    <a:cubicBezTo>
                      <a:pt x="27186" y="0"/>
                      <a:pt x="0" y="27186"/>
                      <a:pt x="0" y="60722"/>
                    </a:cubicBezTo>
                  </a:path>
                </a:pathLst>
              </a:custGeom>
              <a:noFill/>
              <a:ln w="13494">
                <a:solidFill>
                  <a:srgbClr val="9D331F"/>
                </a:solidFill>
              </a:ln>
            </p:spPr>
          </p:sp>
          <p:sp>
            <p:nvSpPr>
              <p:cNvPr id="209" name="Freeform 209"/>
              <p:cNvSpPr/>
              <p:nvPr/>
            </p:nvSpPr>
            <p:spPr>
              <a:xfrm>
                <a:off x="422672" y="3725069"/>
                <a:ext cx="40481" cy="26987"/>
              </a:xfrm>
              <a:custGeom>
                <a:avLst/>
                <a:gdLst/>
                <a:ahLst/>
                <a:cxnLst/>
                <a:rect l="l" t="t" r="r" b="b"/>
                <a:pathLst>
                  <a:path w="40481" h="26987">
                    <a:moveTo>
                      <a:pt x="0" y="13494"/>
                    </a:moveTo>
                    <a:lnTo>
                      <a:pt x="13494" y="26987"/>
                    </a:lnTo>
                    <a:lnTo>
                      <a:pt x="40481" y="0"/>
                    </a:lnTo>
                  </a:path>
                </a:pathLst>
              </a:custGeom>
              <a:noFill/>
              <a:ln w="13494">
                <a:solidFill>
                  <a:srgbClr val="9D331F"/>
                </a:solidFill>
              </a:ln>
            </p:spPr>
          </p:sp>
        </p:grpSp>
        <p:sp>
          <p:nvSpPr>
            <p:cNvPr id="211" name="TextBox 211"/>
            <p:cNvSpPr txBox="1"/>
            <p:nvPr/>
          </p:nvSpPr>
          <p:spPr>
            <a:xfrm>
              <a:off x="585788" y="3689747"/>
              <a:ext cx="1654581" cy="183356"/>
            </a:xfrm>
            <a:prstGeom prst="rect">
              <a:avLst/>
            </a:prstGeom>
            <a:noFill/>
            <a:ln>
              <a:noFill/>
            </a:ln>
          </p:spPr>
          <p:txBody>
            <a:bodyPr wrap="none" lIns="0" tIns="0" rIns="0" bIns="0" anchor="t" anchorCtr="0">
              <a:spAutoFit/>
            </a:bodyPr>
            <a:lstStyle/>
            <a:p>
              <a:pPr algn="l"/>
              <a:r>
                <a:rPr lang="zh-CN" sz="940" b="1" dirty="0">
                  <a:solidFill>
                    <a:srgbClr val="3E1810"/>
                  </a:solidFill>
                  <a:latin typeface="+mn-lt"/>
                  <a:ea typeface="+mn-ea"/>
                  <a:cs typeface="+mn-cs"/>
                </a:rPr>
                <a:t>科学的评级模型带来多重价值</a:t>
              </a:r>
            </a:p>
          </p:txBody>
        </p:sp>
        <p:grpSp>
          <p:nvGrpSpPr>
            <p:cNvPr id="214" name="Group 214"/>
            <p:cNvGrpSpPr/>
            <p:nvPr/>
          </p:nvGrpSpPr>
          <p:grpSpPr>
            <a:xfrm>
              <a:off x="419100" y="4000500"/>
              <a:ext cx="114300" cy="114300"/>
              <a:chOff x="419100" y="4000500"/>
              <a:chExt cx="114300" cy="114300"/>
            </a:xfrm>
          </p:grpSpPr>
          <p:sp>
            <p:nvSpPr>
              <p:cNvPr id="212" name="Freeform 212"/>
              <p:cNvSpPr/>
              <p:nvPr/>
            </p:nvSpPr>
            <p:spPr>
              <a:xfrm>
                <a:off x="419100" y="400050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C4472E"/>
                </a:solidFill>
              </a:ln>
            </p:spPr>
          </p:sp>
          <p:sp>
            <p:nvSpPr>
              <p:cNvPr id="213" name="Freeform 213"/>
              <p:cNvSpPr/>
              <p:nvPr/>
            </p:nvSpPr>
            <p:spPr>
              <a:xfrm>
                <a:off x="495300" y="4076700"/>
                <a:ext cx="38100" cy="38100"/>
              </a:xfrm>
              <a:custGeom>
                <a:avLst/>
                <a:gdLst/>
                <a:ahLst/>
                <a:cxnLst/>
                <a:rect l="l" t="t" r="r" b="b"/>
                <a:pathLst>
                  <a:path w="38100" h="38100">
                    <a:moveTo>
                      <a:pt x="38100" y="38100"/>
                    </a:moveTo>
                    <a:lnTo>
                      <a:pt x="0" y="0"/>
                    </a:lnTo>
                  </a:path>
                </a:pathLst>
              </a:custGeom>
              <a:noFill/>
              <a:ln w="12700">
                <a:solidFill>
                  <a:srgbClr val="C4472E"/>
                </a:solidFill>
              </a:ln>
            </p:spPr>
          </p:sp>
        </p:grpSp>
        <p:sp>
          <p:nvSpPr>
            <p:cNvPr id="215" name="TextBox 215"/>
            <p:cNvSpPr txBox="1"/>
            <p:nvPr/>
          </p:nvSpPr>
          <p:spPr>
            <a:xfrm>
              <a:off x="623888" y="4020264"/>
              <a:ext cx="860323" cy="154781"/>
            </a:xfrm>
            <a:prstGeom prst="rect">
              <a:avLst/>
            </a:prstGeom>
            <a:noFill/>
            <a:ln>
              <a:noFill/>
            </a:ln>
          </p:spPr>
          <p:txBody>
            <a:bodyPr wrap="none" lIns="0" tIns="0" rIns="0" bIns="0" anchor="t" anchorCtr="0">
              <a:spAutoFit/>
            </a:bodyPr>
            <a:lstStyle/>
            <a:p>
              <a:pPr algn="l"/>
              <a:r>
                <a:rPr lang="zh-CN" sz="790" dirty="0">
                  <a:solidFill>
                    <a:srgbClr val="5C3A33"/>
                  </a:solidFill>
                  <a:latin typeface="+mn-lt"/>
                  <a:ea typeface="+mn-ea"/>
                  <a:cs typeface="+mn-cs"/>
                </a:rPr>
                <a:t>更准确的风险识别</a:t>
              </a:r>
            </a:p>
          </p:txBody>
        </p:sp>
        <p:grpSp>
          <p:nvGrpSpPr>
            <p:cNvPr id="222" name="Group 222"/>
            <p:cNvGrpSpPr/>
            <p:nvPr/>
          </p:nvGrpSpPr>
          <p:grpSpPr>
            <a:xfrm>
              <a:off x="419100" y="4305300"/>
              <a:ext cx="114300" cy="114300"/>
              <a:chOff x="419100" y="4305300"/>
              <a:chExt cx="114300" cy="114300"/>
            </a:xfrm>
          </p:grpSpPr>
          <p:sp>
            <p:nvSpPr>
              <p:cNvPr id="216" name="Freeform 216"/>
              <p:cNvSpPr/>
              <p:nvPr/>
            </p:nvSpPr>
            <p:spPr>
              <a:xfrm>
                <a:off x="463550" y="4356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4472E"/>
                </a:solidFill>
              </a:ln>
            </p:spPr>
          </p:sp>
          <p:sp>
            <p:nvSpPr>
              <p:cNvPr id="217" name="Freeform 217"/>
              <p:cNvSpPr/>
              <p:nvPr/>
            </p:nvSpPr>
            <p:spPr>
              <a:xfrm>
                <a:off x="450850" y="44005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C4472E"/>
                </a:solidFill>
              </a:ln>
            </p:spPr>
          </p:sp>
          <p:sp>
            <p:nvSpPr>
              <p:cNvPr id="218" name="Freeform 218"/>
              <p:cNvSpPr/>
              <p:nvPr/>
            </p:nvSpPr>
            <p:spPr>
              <a:xfrm>
                <a:off x="495300" y="43053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4472E"/>
                </a:solidFill>
              </a:ln>
            </p:spPr>
          </p:sp>
          <p:sp>
            <p:nvSpPr>
              <p:cNvPr id="219" name="Freeform 219"/>
              <p:cNvSpPr/>
              <p:nvPr/>
            </p:nvSpPr>
            <p:spPr>
              <a:xfrm>
                <a:off x="508000" y="43497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C4472E"/>
                </a:solidFill>
              </a:ln>
            </p:spPr>
          </p:sp>
          <p:sp>
            <p:nvSpPr>
              <p:cNvPr id="220" name="Freeform 220"/>
              <p:cNvSpPr/>
              <p:nvPr/>
            </p:nvSpPr>
            <p:spPr>
              <a:xfrm>
                <a:off x="431800" y="43053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4472E"/>
                </a:solidFill>
              </a:ln>
            </p:spPr>
          </p:sp>
          <p:sp>
            <p:nvSpPr>
              <p:cNvPr id="221" name="Freeform 221"/>
              <p:cNvSpPr/>
              <p:nvPr/>
            </p:nvSpPr>
            <p:spPr>
              <a:xfrm>
                <a:off x="419100" y="43497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C4472E"/>
                </a:solidFill>
              </a:ln>
            </p:spPr>
          </p:sp>
        </p:grpSp>
        <p:sp>
          <p:nvSpPr>
            <p:cNvPr id="223" name="TextBox 223"/>
            <p:cNvSpPr txBox="1"/>
            <p:nvPr/>
          </p:nvSpPr>
          <p:spPr>
            <a:xfrm>
              <a:off x="623888" y="4325064"/>
              <a:ext cx="860323" cy="154781"/>
            </a:xfrm>
            <a:prstGeom prst="rect">
              <a:avLst/>
            </a:prstGeom>
            <a:noFill/>
            <a:ln>
              <a:noFill/>
            </a:ln>
          </p:spPr>
          <p:txBody>
            <a:bodyPr wrap="none" lIns="0" tIns="0" rIns="0" bIns="0" anchor="t" anchorCtr="0">
              <a:spAutoFit/>
            </a:bodyPr>
            <a:lstStyle/>
            <a:p>
              <a:pPr algn="l"/>
              <a:r>
                <a:rPr lang="zh-CN" sz="790" dirty="0">
                  <a:solidFill>
                    <a:srgbClr val="5C3A33"/>
                  </a:solidFill>
                  <a:latin typeface="+mn-lt"/>
                  <a:ea typeface="+mn-ea"/>
                  <a:cs typeface="+mn-cs"/>
                </a:rPr>
                <a:t>更精细的客户分层</a:t>
              </a:r>
            </a:p>
          </p:txBody>
        </p:sp>
        <p:grpSp>
          <p:nvGrpSpPr>
            <p:cNvPr id="228" name="Group 228"/>
            <p:cNvGrpSpPr/>
            <p:nvPr/>
          </p:nvGrpSpPr>
          <p:grpSpPr>
            <a:xfrm>
              <a:off x="419100" y="4616450"/>
              <a:ext cx="114300" cy="111125"/>
              <a:chOff x="419100" y="4616450"/>
              <a:chExt cx="114300" cy="111125"/>
            </a:xfrm>
          </p:grpSpPr>
          <p:sp>
            <p:nvSpPr>
              <p:cNvPr id="224" name="Freeform 224"/>
              <p:cNvSpPr/>
              <p:nvPr/>
            </p:nvSpPr>
            <p:spPr>
              <a:xfrm>
                <a:off x="419100" y="46672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C4472E"/>
                </a:solidFill>
              </a:ln>
            </p:spPr>
          </p:sp>
          <p:sp>
            <p:nvSpPr>
              <p:cNvPr id="225" name="Freeform 225"/>
              <p:cNvSpPr/>
              <p:nvPr/>
            </p:nvSpPr>
            <p:spPr>
              <a:xfrm>
                <a:off x="495300" y="46418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C4472E"/>
                </a:solidFill>
              </a:ln>
            </p:spPr>
          </p:sp>
          <p:sp>
            <p:nvSpPr>
              <p:cNvPr id="226" name="Freeform 226"/>
              <p:cNvSpPr/>
              <p:nvPr/>
            </p:nvSpPr>
            <p:spPr>
              <a:xfrm>
                <a:off x="457200" y="46164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C4472E"/>
                </a:solidFill>
              </a:ln>
            </p:spPr>
          </p:sp>
          <p:sp>
            <p:nvSpPr>
              <p:cNvPr id="227" name="Freeform 227"/>
              <p:cNvSpPr/>
              <p:nvPr/>
            </p:nvSpPr>
            <p:spPr>
              <a:xfrm>
                <a:off x="425450" y="4718050"/>
                <a:ext cx="88900" cy="9525"/>
              </a:xfrm>
              <a:custGeom>
                <a:avLst/>
                <a:gdLst/>
                <a:ahLst/>
                <a:cxnLst/>
                <a:rect l="l" t="t" r="r" b="b"/>
                <a:pathLst>
                  <a:path w="88900" h="9525">
                    <a:moveTo>
                      <a:pt x="0" y="0"/>
                    </a:moveTo>
                    <a:lnTo>
                      <a:pt x="88900" y="0"/>
                    </a:lnTo>
                  </a:path>
                </a:pathLst>
              </a:custGeom>
              <a:noFill/>
              <a:ln w="12700">
                <a:solidFill>
                  <a:srgbClr val="C4472E"/>
                </a:solidFill>
              </a:ln>
            </p:spPr>
          </p:sp>
        </p:grpSp>
        <p:sp>
          <p:nvSpPr>
            <p:cNvPr id="229" name="TextBox 229"/>
            <p:cNvSpPr txBox="1"/>
            <p:nvPr/>
          </p:nvSpPr>
          <p:spPr>
            <a:xfrm>
              <a:off x="623888" y="4629864"/>
              <a:ext cx="860323" cy="154781"/>
            </a:xfrm>
            <a:prstGeom prst="rect">
              <a:avLst/>
            </a:prstGeom>
            <a:noFill/>
            <a:ln>
              <a:noFill/>
            </a:ln>
          </p:spPr>
          <p:txBody>
            <a:bodyPr wrap="none" lIns="0" tIns="0" rIns="0" bIns="0" anchor="t" anchorCtr="0">
              <a:spAutoFit/>
            </a:bodyPr>
            <a:lstStyle/>
            <a:p>
              <a:pPr algn="l"/>
              <a:r>
                <a:rPr lang="zh-CN" sz="790" dirty="0">
                  <a:solidFill>
                    <a:srgbClr val="5C3A33"/>
                  </a:solidFill>
                  <a:latin typeface="+mn-lt"/>
                  <a:ea typeface="+mn-ea"/>
                  <a:cs typeface="+mn-cs"/>
                </a:rPr>
                <a:t>更科学的信贷决策</a:t>
              </a:r>
            </a:p>
          </p:txBody>
        </p:sp>
        <p:grpSp>
          <p:nvGrpSpPr>
            <p:cNvPr id="232" name="Group 232"/>
            <p:cNvGrpSpPr/>
            <p:nvPr/>
          </p:nvGrpSpPr>
          <p:grpSpPr>
            <a:xfrm>
              <a:off x="419100" y="4940300"/>
              <a:ext cx="114300" cy="63500"/>
              <a:chOff x="419100" y="4940300"/>
              <a:chExt cx="114300" cy="63500"/>
            </a:xfrm>
          </p:grpSpPr>
          <p:sp>
            <p:nvSpPr>
              <p:cNvPr id="230" name="Freeform 230"/>
              <p:cNvSpPr/>
              <p:nvPr/>
            </p:nvSpPr>
            <p:spPr>
              <a:xfrm>
                <a:off x="419100" y="494030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C4472E"/>
                </a:solidFill>
              </a:ln>
            </p:spPr>
          </p:sp>
          <p:sp>
            <p:nvSpPr>
              <p:cNvPr id="231" name="Freeform 231"/>
              <p:cNvSpPr/>
              <p:nvPr/>
            </p:nvSpPr>
            <p:spPr>
              <a:xfrm>
                <a:off x="488950" y="4940300"/>
                <a:ext cx="44450" cy="44450"/>
              </a:xfrm>
              <a:custGeom>
                <a:avLst/>
                <a:gdLst/>
                <a:ahLst/>
                <a:cxnLst/>
                <a:rect l="l" t="t" r="r" b="b"/>
                <a:pathLst>
                  <a:path w="44450" h="44450">
                    <a:moveTo>
                      <a:pt x="0" y="0"/>
                    </a:moveTo>
                    <a:lnTo>
                      <a:pt x="44450" y="0"/>
                    </a:lnTo>
                    <a:lnTo>
                      <a:pt x="44450" y="44450"/>
                    </a:lnTo>
                  </a:path>
                </a:pathLst>
              </a:custGeom>
              <a:noFill/>
              <a:ln w="12700">
                <a:solidFill>
                  <a:srgbClr val="C4472E"/>
                </a:solidFill>
              </a:ln>
            </p:spPr>
          </p:sp>
        </p:grpSp>
        <p:sp>
          <p:nvSpPr>
            <p:cNvPr id="233" name="TextBox 233"/>
            <p:cNvSpPr txBox="1"/>
            <p:nvPr/>
          </p:nvSpPr>
          <p:spPr>
            <a:xfrm>
              <a:off x="623888" y="4934664"/>
              <a:ext cx="966673" cy="154781"/>
            </a:xfrm>
            <a:prstGeom prst="rect">
              <a:avLst/>
            </a:prstGeom>
            <a:noFill/>
            <a:ln>
              <a:noFill/>
            </a:ln>
          </p:spPr>
          <p:txBody>
            <a:bodyPr wrap="none" lIns="0" tIns="0" rIns="0" bIns="0" anchor="t" anchorCtr="0">
              <a:spAutoFit/>
            </a:bodyPr>
            <a:lstStyle/>
            <a:p>
              <a:pPr algn="l"/>
              <a:r>
                <a:rPr lang="zh-CN" sz="790" dirty="0">
                  <a:solidFill>
                    <a:srgbClr val="5C3A33"/>
                  </a:solidFill>
                  <a:latin typeface="+mn-lt"/>
                  <a:ea typeface="+mn-ea"/>
                  <a:cs typeface="+mn-cs"/>
                </a:rPr>
                <a:t>更可持续的经营发展</a:t>
              </a:r>
            </a:p>
          </p:txBody>
        </p:sp>
        <p:sp>
          <p:nvSpPr>
            <p:cNvPr id="234" name="Rectangle 234"/>
            <p:cNvSpPr/>
            <p:nvPr/>
          </p:nvSpPr>
          <p:spPr>
            <a:xfrm>
              <a:off x="342900" y="5257800"/>
              <a:ext cx="3295650" cy="914400"/>
            </a:xfrm>
            <a:prstGeom prst="roundRect">
              <a:avLst>
                <a:gd name="adj" fmla="val 8333"/>
              </a:avLst>
            </a:prstGeom>
            <a:solidFill>
              <a:srgbClr val="EAF3FB"/>
            </a:solidFill>
            <a:ln>
              <a:noFill/>
            </a:ln>
          </p:spPr>
        </p:sp>
        <p:sp>
          <p:nvSpPr>
            <p:cNvPr id="235" name="TextBox 235"/>
            <p:cNvSpPr txBox="1"/>
            <p:nvPr/>
          </p:nvSpPr>
          <p:spPr>
            <a:xfrm>
              <a:off x="1373667" y="5526643"/>
              <a:ext cx="1234116" cy="169069"/>
            </a:xfrm>
            <a:prstGeom prst="rect">
              <a:avLst/>
            </a:prstGeom>
            <a:noFill/>
            <a:ln>
              <a:noFill/>
            </a:ln>
          </p:spPr>
          <p:txBody>
            <a:bodyPr wrap="none" lIns="0" tIns="0" rIns="0" bIns="0" anchor="t" anchorCtr="0">
              <a:spAutoFit/>
            </a:bodyPr>
            <a:lstStyle/>
            <a:p>
              <a:pPr algn="ctr"/>
              <a:r>
                <a:rPr lang="zh-CN" sz="860" b="1" dirty="0">
                  <a:solidFill>
                    <a:srgbClr val="9E311B"/>
                  </a:solidFill>
                  <a:latin typeface="+mn-lt"/>
                  <a:ea typeface="+mn-ea"/>
                  <a:cs typeface="+mn-cs"/>
                </a:rPr>
                <a:t>“用模型量化不确定性，</a:t>
              </a:r>
            </a:p>
          </p:txBody>
        </p:sp>
        <p:sp>
          <p:nvSpPr>
            <p:cNvPr id="236" name="TextBox 236"/>
            <p:cNvSpPr txBox="1"/>
            <p:nvPr/>
          </p:nvSpPr>
          <p:spPr>
            <a:xfrm>
              <a:off x="1373667" y="5717143"/>
              <a:ext cx="1234116" cy="169069"/>
            </a:xfrm>
            <a:prstGeom prst="rect">
              <a:avLst/>
            </a:prstGeom>
            <a:noFill/>
            <a:ln>
              <a:noFill/>
            </a:ln>
          </p:spPr>
          <p:txBody>
            <a:bodyPr wrap="none" lIns="0" tIns="0" rIns="0" bIns="0" anchor="t" anchorCtr="0">
              <a:spAutoFit/>
            </a:bodyPr>
            <a:lstStyle/>
            <a:p>
              <a:pPr algn="ctr"/>
              <a:r>
                <a:rPr lang="zh-CN" sz="860" b="1" dirty="0">
                  <a:solidFill>
                    <a:srgbClr val="9E311B"/>
                  </a:solidFill>
                  <a:latin typeface="+mn-lt"/>
                  <a:ea typeface="+mn-ea"/>
                  <a:cs typeface="+mn-cs"/>
                </a:rPr>
                <a:t>让信用创造更大价值。”</a:t>
              </a:r>
            </a:p>
          </p:txBody>
        </p:sp>
        <p:sp>
          <p:nvSpPr>
            <p:cNvPr id="237" name="TextBox 237"/>
            <p:cNvSpPr txBox="1"/>
            <p:nvPr/>
          </p:nvSpPr>
          <p:spPr>
            <a:xfrm>
              <a:off x="979188" y="5986224"/>
              <a:ext cx="2023075" cy="97631"/>
            </a:xfrm>
            <a:prstGeom prst="rect">
              <a:avLst/>
            </a:prstGeom>
            <a:noFill/>
            <a:ln>
              <a:noFill/>
            </a:ln>
          </p:spPr>
          <p:txBody>
            <a:bodyPr wrap="none" lIns="0" tIns="0" rIns="0" bIns="0" anchor="t" anchorCtr="0">
              <a:spAutoFit/>
            </a:bodyPr>
            <a:lstStyle/>
            <a:p>
              <a:pPr algn="ctr"/>
              <a:r>
                <a:rPr lang="en-US" sz="490" dirty="0">
                  <a:solidFill>
                    <a:srgbClr val="C4988F"/>
                  </a:solidFill>
                  <a:latin typeface="+mj-lt"/>
                  <a:ea typeface="+mj-ea"/>
                  <a:cs typeface="+mj-cs"/>
                </a:rPr>
                <a:t>TURN DATA INTO INSIGHT · EMPOWER BETTER DECISIONS</a:t>
              </a:r>
            </a:p>
          </p:txBody>
        </p:sp>
      </p:grpSp>
      <p:grpSp>
        <p:nvGrpSpPr>
          <p:cNvPr id="265" name="pitfall-card"/>
          <p:cNvGrpSpPr/>
          <p:nvPr/>
        </p:nvGrpSpPr>
        <p:grpSpPr>
          <a:xfrm>
            <a:off x="3886200" y="3524250"/>
            <a:ext cx="4533900" cy="3048000"/>
            <a:chOff x="3886200" y="3524250"/>
            <a:chExt cx="4533900" cy="3048000"/>
          </a:xfrm>
        </p:grpSpPr>
        <p:sp>
          <p:nvSpPr>
            <p:cNvPr id="239" name="Rectangle 239"/>
            <p:cNvSpPr/>
            <p:nvPr/>
          </p:nvSpPr>
          <p:spPr>
            <a:xfrm>
              <a:off x="3886200" y="3524250"/>
              <a:ext cx="4533900" cy="3048000"/>
            </a:xfrm>
            <a:prstGeom prst="roundRect">
              <a:avLst>
                <a:gd name="adj" fmla="val 3125"/>
              </a:avLst>
            </a:prstGeom>
            <a:solidFill>
              <a:srgbClr val="FFFFFF"/>
            </a:solidFill>
            <a:ln w="9525">
              <a:solidFill>
                <a:srgbClr val="CFE2F2"/>
              </a:solidFill>
            </a:ln>
          </p:spPr>
        </p:sp>
        <p:grpSp>
          <p:nvGrpSpPr>
            <p:cNvPr id="243" name="Group 243"/>
            <p:cNvGrpSpPr/>
            <p:nvPr/>
          </p:nvGrpSpPr>
          <p:grpSpPr>
            <a:xfrm>
              <a:off x="4070569" y="3675599"/>
              <a:ext cx="136081" cy="116911"/>
              <a:chOff x="4070569" y="3675599"/>
              <a:chExt cx="136081" cy="116911"/>
            </a:xfrm>
          </p:grpSpPr>
          <p:sp>
            <p:nvSpPr>
              <p:cNvPr id="240" name="Freeform 240"/>
              <p:cNvSpPr/>
              <p:nvPr/>
            </p:nvSpPr>
            <p:spPr>
              <a:xfrm>
                <a:off x="4138612" y="3718322"/>
                <a:ext cx="9525" cy="26987"/>
              </a:xfrm>
              <a:custGeom>
                <a:avLst/>
                <a:gdLst/>
                <a:ahLst/>
                <a:cxnLst/>
                <a:rect l="l" t="t" r="r" b="b"/>
                <a:pathLst>
                  <a:path w="9525" h="26987">
                    <a:moveTo>
                      <a:pt x="0" y="0"/>
                    </a:moveTo>
                    <a:lnTo>
                      <a:pt x="0" y="26987"/>
                    </a:lnTo>
                  </a:path>
                </a:pathLst>
              </a:custGeom>
              <a:noFill/>
              <a:ln w="13494">
                <a:solidFill>
                  <a:srgbClr val="C8452F"/>
                </a:solidFill>
              </a:ln>
            </p:spPr>
          </p:sp>
          <p:sp>
            <p:nvSpPr>
              <p:cNvPr id="241" name="Freeform 241"/>
              <p:cNvSpPr/>
              <p:nvPr/>
            </p:nvSpPr>
            <p:spPr>
              <a:xfrm>
                <a:off x="4070569" y="3675599"/>
                <a:ext cx="136081" cy="116911"/>
              </a:xfrm>
              <a:custGeom>
                <a:avLst/>
                <a:gdLst/>
                <a:ahLst/>
                <a:cxnLst/>
                <a:rect l="l" t="t" r="r" b="b"/>
                <a:pathLst>
                  <a:path w="136081" h="116911">
                    <a:moveTo>
                      <a:pt x="56998" y="6229"/>
                    </a:moveTo>
                    <a:lnTo>
                      <a:pt x="2308" y="97541"/>
                    </a:lnTo>
                    <a:cubicBezTo>
                      <a:pt x="14" y="101514"/>
                      <a:pt x="0" y="106406"/>
                      <a:pt x="2271" y="110392"/>
                    </a:cubicBezTo>
                    <a:cubicBezTo>
                      <a:pt x="4543" y="114378"/>
                      <a:pt x="8759" y="116860"/>
                      <a:pt x="13346" y="116911"/>
                    </a:cubicBezTo>
                    <a:lnTo>
                      <a:pt x="122740" y="116911"/>
                    </a:lnTo>
                    <a:cubicBezTo>
                      <a:pt x="127325" y="116858"/>
                      <a:pt x="131539" y="114378"/>
                      <a:pt x="133810" y="110394"/>
                    </a:cubicBezTo>
                    <a:cubicBezTo>
                      <a:pt x="136081" y="106410"/>
                      <a:pt x="136069" y="101520"/>
                      <a:pt x="133778" y="97548"/>
                    </a:cubicBezTo>
                    <a:lnTo>
                      <a:pt x="79088" y="6222"/>
                    </a:lnTo>
                    <a:cubicBezTo>
                      <a:pt x="76747" y="2359"/>
                      <a:pt x="72559" y="0"/>
                      <a:pt x="68043" y="0"/>
                    </a:cubicBezTo>
                    <a:cubicBezTo>
                      <a:pt x="63527" y="0"/>
                      <a:pt x="59339" y="2359"/>
                      <a:pt x="56998" y="6222"/>
                    </a:cubicBezTo>
                  </a:path>
                </a:pathLst>
              </a:custGeom>
              <a:noFill/>
              <a:ln w="13494">
                <a:solidFill>
                  <a:srgbClr val="C8452F"/>
                </a:solidFill>
              </a:ln>
            </p:spPr>
          </p:sp>
          <p:sp>
            <p:nvSpPr>
              <p:cNvPr id="242" name="Freeform 242"/>
              <p:cNvSpPr/>
              <p:nvPr/>
            </p:nvSpPr>
            <p:spPr>
              <a:xfrm>
                <a:off x="4138612" y="3765550"/>
                <a:ext cx="9525" cy="9525"/>
              </a:xfrm>
              <a:custGeom>
                <a:avLst/>
                <a:gdLst/>
                <a:ahLst/>
                <a:cxnLst/>
                <a:rect l="l" t="t" r="r" b="b"/>
                <a:pathLst>
                  <a:path w="9525" h="9525">
                    <a:moveTo>
                      <a:pt x="0" y="0"/>
                    </a:moveTo>
                    <a:lnTo>
                      <a:pt x="67" y="0"/>
                    </a:lnTo>
                  </a:path>
                </a:pathLst>
              </a:custGeom>
              <a:noFill/>
              <a:ln w="13494">
                <a:solidFill>
                  <a:srgbClr val="C8452F"/>
                </a:solidFill>
              </a:ln>
            </p:spPr>
          </p:sp>
        </p:grpSp>
        <p:sp>
          <p:nvSpPr>
            <p:cNvPr id="244" name="TextBox 244"/>
            <p:cNvSpPr txBox="1"/>
            <p:nvPr/>
          </p:nvSpPr>
          <p:spPr>
            <a:xfrm>
              <a:off x="4281488" y="3689747"/>
              <a:ext cx="1274953" cy="183356"/>
            </a:xfrm>
            <a:prstGeom prst="rect">
              <a:avLst/>
            </a:prstGeom>
            <a:noFill/>
            <a:ln>
              <a:noFill/>
            </a:ln>
          </p:spPr>
          <p:txBody>
            <a:bodyPr wrap="none" lIns="0" tIns="0" rIns="0" bIns="0" anchor="t" anchorCtr="0">
              <a:spAutoFit/>
            </a:bodyPr>
            <a:lstStyle/>
            <a:p>
              <a:pPr algn="l"/>
              <a:r>
                <a:rPr lang="zh-CN" sz="940" b="1" dirty="0">
                  <a:solidFill>
                    <a:srgbClr val="C8452F"/>
                  </a:solidFill>
                  <a:latin typeface="+mn-lt"/>
                  <a:ea typeface="+mn-ea"/>
                  <a:cs typeface="+mn-cs"/>
                </a:rPr>
                <a:t>项目里最容易忽略的点</a:t>
              </a:r>
            </a:p>
          </p:txBody>
        </p:sp>
        <p:sp>
          <p:nvSpPr>
            <p:cNvPr id="245" name="Rectangle 245"/>
            <p:cNvSpPr/>
            <p:nvPr/>
          </p:nvSpPr>
          <p:spPr>
            <a:xfrm>
              <a:off x="4038600" y="3962400"/>
              <a:ext cx="228600" cy="152400"/>
            </a:xfrm>
            <a:prstGeom prst="roundRect">
              <a:avLst>
                <a:gd name="adj" fmla="val 50000"/>
              </a:avLst>
            </a:prstGeom>
            <a:solidFill>
              <a:srgbClr val="C4472E"/>
            </a:solidFill>
            <a:ln>
              <a:noFill/>
            </a:ln>
          </p:spPr>
        </p:sp>
        <p:sp>
          <p:nvSpPr>
            <p:cNvPr id="246" name="TextBox 246"/>
            <p:cNvSpPr txBox="1"/>
            <p:nvPr/>
          </p:nvSpPr>
          <p:spPr>
            <a:xfrm>
              <a:off x="4095272" y="40038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01</a:t>
              </a:r>
            </a:p>
          </p:txBody>
        </p:sp>
        <p:sp>
          <p:nvSpPr>
            <p:cNvPr id="247" name="TextBox 247"/>
            <p:cNvSpPr txBox="1"/>
            <p:nvPr/>
          </p:nvSpPr>
          <p:spPr>
            <a:xfrm>
              <a:off x="4338638" y="3953589"/>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时间切分</a:t>
              </a:r>
            </a:p>
          </p:txBody>
        </p:sp>
        <p:sp>
          <p:nvSpPr>
            <p:cNvPr id="248" name="TextBox 248"/>
            <p:cNvSpPr txBox="1"/>
            <p:nvPr/>
          </p:nvSpPr>
          <p:spPr>
            <a:xfrm>
              <a:off x="4338638" y="4122182"/>
              <a:ext cx="2163445"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训练集与测试集必须按时间严格切分，避免未来信息泄漏</a:t>
              </a:r>
            </a:p>
          </p:txBody>
        </p:sp>
        <p:sp>
          <p:nvSpPr>
            <p:cNvPr id="249" name="Rectangle 249"/>
            <p:cNvSpPr/>
            <p:nvPr/>
          </p:nvSpPr>
          <p:spPr>
            <a:xfrm>
              <a:off x="4038600" y="4457700"/>
              <a:ext cx="228600" cy="152400"/>
            </a:xfrm>
            <a:prstGeom prst="roundRect">
              <a:avLst>
                <a:gd name="adj" fmla="val 50000"/>
              </a:avLst>
            </a:prstGeom>
            <a:solidFill>
              <a:srgbClr val="C4472E"/>
            </a:solidFill>
            <a:ln>
              <a:noFill/>
            </a:ln>
          </p:spPr>
        </p:sp>
        <p:sp>
          <p:nvSpPr>
            <p:cNvPr id="250" name="TextBox 250"/>
            <p:cNvSpPr txBox="1"/>
            <p:nvPr/>
          </p:nvSpPr>
          <p:spPr>
            <a:xfrm>
              <a:off x="4095272" y="44991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02</a:t>
              </a:r>
            </a:p>
          </p:txBody>
        </p:sp>
        <p:sp>
          <p:nvSpPr>
            <p:cNvPr id="251" name="TextBox 251"/>
            <p:cNvSpPr txBox="1"/>
            <p:nvPr/>
          </p:nvSpPr>
          <p:spPr>
            <a:xfrm>
              <a:off x="4338638" y="4448889"/>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样本偏差</a:t>
              </a:r>
            </a:p>
          </p:txBody>
        </p:sp>
        <p:sp>
          <p:nvSpPr>
            <p:cNvPr id="252" name="TextBox 252"/>
            <p:cNvSpPr txBox="1"/>
            <p:nvPr/>
          </p:nvSpPr>
          <p:spPr>
            <a:xfrm>
              <a:off x="4338638" y="4617482"/>
              <a:ext cx="1991131"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注意样本的代表性，避免样本与实际业务分布不一致</a:t>
              </a:r>
            </a:p>
          </p:txBody>
        </p:sp>
        <p:sp>
          <p:nvSpPr>
            <p:cNvPr id="253" name="Rectangle 253"/>
            <p:cNvSpPr/>
            <p:nvPr/>
          </p:nvSpPr>
          <p:spPr>
            <a:xfrm>
              <a:off x="4038600" y="4953000"/>
              <a:ext cx="228600" cy="152400"/>
            </a:xfrm>
            <a:prstGeom prst="roundRect">
              <a:avLst>
                <a:gd name="adj" fmla="val 50000"/>
              </a:avLst>
            </a:prstGeom>
            <a:solidFill>
              <a:srgbClr val="C4472E"/>
            </a:solidFill>
            <a:ln>
              <a:noFill/>
            </a:ln>
          </p:spPr>
        </p:sp>
        <p:sp>
          <p:nvSpPr>
            <p:cNvPr id="254" name="TextBox 254"/>
            <p:cNvSpPr txBox="1"/>
            <p:nvPr/>
          </p:nvSpPr>
          <p:spPr>
            <a:xfrm>
              <a:off x="4095272" y="49944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03</a:t>
              </a:r>
            </a:p>
          </p:txBody>
        </p:sp>
        <p:sp>
          <p:nvSpPr>
            <p:cNvPr id="255" name="TextBox 255"/>
            <p:cNvSpPr txBox="1"/>
            <p:nvPr/>
          </p:nvSpPr>
          <p:spPr>
            <a:xfrm>
              <a:off x="4338638" y="4944189"/>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数据泄漏</a:t>
              </a:r>
            </a:p>
          </p:txBody>
        </p:sp>
        <p:sp>
          <p:nvSpPr>
            <p:cNvPr id="256" name="TextBox 256"/>
            <p:cNvSpPr txBox="1"/>
            <p:nvPr/>
          </p:nvSpPr>
          <p:spPr>
            <a:xfrm>
              <a:off x="4338638" y="5112782"/>
              <a:ext cx="2766543"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严格检查变量口径，避免使用来自未来信息或与结果高度相关的衍生变量</a:t>
              </a:r>
            </a:p>
          </p:txBody>
        </p:sp>
        <p:sp>
          <p:nvSpPr>
            <p:cNvPr id="257" name="Rectangle 257"/>
            <p:cNvSpPr/>
            <p:nvPr/>
          </p:nvSpPr>
          <p:spPr>
            <a:xfrm>
              <a:off x="4038600" y="5448300"/>
              <a:ext cx="228600" cy="152400"/>
            </a:xfrm>
            <a:prstGeom prst="roundRect">
              <a:avLst>
                <a:gd name="adj" fmla="val 50000"/>
              </a:avLst>
            </a:prstGeom>
            <a:solidFill>
              <a:srgbClr val="C4472E"/>
            </a:solidFill>
            <a:ln>
              <a:noFill/>
            </a:ln>
          </p:spPr>
        </p:sp>
        <p:sp>
          <p:nvSpPr>
            <p:cNvPr id="258" name="TextBox 258"/>
            <p:cNvSpPr txBox="1"/>
            <p:nvPr/>
          </p:nvSpPr>
          <p:spPr>
            <a:xfrm>
              <a:off x="4095272" y="54897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04</a:t>
              </a:r>
            </a:p>
          </p:txBody>
        </p:sp>
        <p:sp>
          <p:nvSpPr>
            <p:cNvPr id="259" name="TextBox 259"/>
            <p:cNvSpPr txBox="1"/>
            <p:nvPr/>
          </p:nvSpPr>
          <p:spPr>
            <a:xfrm>
              <a:off x="4338638" y="5439489"/>
              <a:ext cx="54127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低违约组合</a:t>
              </a:r>
            </a:p>
          </p:txBody>
        </p:sp>
        <p:sp>
          <p:nvSpPr>
            <p:cNvPr id="260" name="TextBox 260"/>
            <p:cNvSpPr txBox="1"/>
            <p:nvPr/>
          </p:nvSpPr>
          <p:spPr>
            <a:xfrm>
              <a:off x="4338638" y="5608082"/>
              <a:ext cx="2421915"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低违约样本下模型容易过拟合，需要合适的样本和技术处理方法</a:t>
              </a:r>
            </a:p>
          </p:txBody>
        </p:sp>
        <p:sp>
          <p:nvSpPr>
            <p:cNvPr id="261" name="Rectangle 261"/>
            <p:cNvSpPr/>
            <p:nvPr/>
          </p:nvSpPr>
          <p:spPr>
            <a:xfrm>
              <a:off x="4038600" y="5943600"/>
              <a:ext cx="228600" cy="152400"/>
            </a:xfrm>
            <a:prstGeom prst="roundRect">
              <a:avLst>
                <a:gd name="adj" fmla="val 50000"/>
              </a:avLst>
            </a:prstGeom>
            <a:solidFill>
              <a:srgbClr val="C4472E"/>
            </a:solidFill>
            <a:ln>
              <a:noFill/>
            </a:ln>
          </p:spPr>
        </p:sp>
        <p:sp>
          <p:nvSpPr>
            <p:cNvPr id="262" name="TextBox 262"/>
            <p:cNvSpPr txBox="1"/>
            <p:nvPr/>
          </p:nvSpPr>
          <p:spPr>
            <a:xfrm>
              <a:off x="4095272" y="59850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05</a:t>
              </a:r>
            </a:p>
          </p:txBody>
        </p:sp>
        <p:sp>
          <p:nvSpPr>
            <p:cNvPr id="263" name="TextBox 263"/>
            <p:cNvSpPr txBox="1"/>
            <p:nvPr/>
          </p:nvSpPr>
          <p:spPr>
            <a:xfrm>
              <a:off x="4338638" y="5934789"/>
              <a:ext cx="6476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业务可解释性</a:t>
              </a:r>
            </a:p>
          </p:txBody>
        </p:sp>
        <p:sp>
          <p:nvSpPr>
            <p:cNvPr id="264" name="TextBox 264"/>
            <p:cNvSpPr txBox="1"/>
            <p:nvPr/>
          </p:nvSpPr>
          <p:spPr>
            <a:xfrm>
              <a:off x="4338638" y="6103382"/>
              <a:ext cx="2077288"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不仅是统计计量结果，要便于业务理解、能够采纳执行</a:t>
              </a:r>
            </a:p>
          </p:txBody>
        </p:sp>
      </p:grpSp>
      <p:grpSp>
        <p:nvGrpSpPr>
          <p:cNvPr id="289" name="motto-card"/>
          <p:cNvGrpSpPr/>
          <p:nvPr/>
        </p:nvGrpSpPr>
        <p:grpSpPr>
          <a:xfrm>
            <a:off x="8515350" y="3524250"/>
            <a:ext cx="3486150" cy="3048000"/>
            <a:chOff x="8515350" y="3524250"/>
            <a:chExt cx="3486150" cy="3048000"/>
          </a:xfrm>
        </p:grpSpPr>
        <p:sp>
          <p:nvSpPr>
            <p:cNvPr id="266" name="Rectangle 266"/>
            <p:cNvSpPr/>
            <p:nvPr/>
          </p:nvSpPr>
          <p:spPr>
            <a:xfrm>
              <a:off x="8515350" y="3524250"/>
              <a:ext cx="3486150" cy="3048000"/>
            </a:xfrm>
            <a:prstGeom prst="roundRect">
              <a:avLst>
                <a:gd name="adj" fmla="val 3125"/>
              </a:avLst>
            </a:prstGeom>
            <a:solidFill>
              <a:srgbClr val="F0F7FD"/>
            </a:solidFill>
            <a:ln w="9525">
              <a:solidFill>
                <a:srgbClr val="CFE2F2"/>
              </a:solidFill>
            </a:ln>
          </p:spPr>
        </p:sp>
        <p:sp>
          <p:nvSpPr>
            <p:cNvPr id="267" name="TextBox 267"/>
            <p:cNvSpPr txBox="1"/>
            <p:nvPr/>
          </p:nvSpPr>
          <p:spPr>
            <a:xfrm>
              <a:off x="9735007" y="3939064"/>
              <a:ext cx="1046836" cy="249364"/>
            </a:xfrm>
            <a:prstGeom prst="rect">
              <a:avLst/>
            </a:prstGeom>
            <a:noFill/>
            <a:ln>
              <a:noFill/>
            </a:ln>
          </p:spPr>
          <p:txBody>
            <a:bodyPr wrap="none" lIns="0" tIns="0" rIns="0" bIns="0" anchor="t" anchorCtr="0">
              <a:spAutoFit/>
            </a:bodyPr>
            <a:lstStyle/>
            <a:p>
              <a:pPr algn="ctr"/>
              <a:r>
                <a:rPr lang="zh-CN" sz="1280" b="1" i="1" dirty="0">
                  <a:solidFill>
                    <a:srgbClr val="9E240C"/>
                  </a:solidFill>
                  <a:latin typeface="+mn-lt"/>
                  <a:ea typeface="+mn-ea"/>
                  <a:cs typeface="+mn-cs"/>
                </a:rPr>
                <a:t>细节决定成败</a:t>
              </a:r>
            </a:p>
          </p:txBody>
        </p:sp>
        <p:sp>
          <p:nvSpPr>
            <p:cNvPr id="268" name="TextBox 268"/>
            <p:cNvSpPr txBox="1"/>
            <p:nvPr/>
          </p:nvSpPr>
          <p:spPr>
            <a:xfrm>
              <a:off x="9735007" y="4205764"/>
              <a:ext cx="1046836" cy="249364"/>
            </a:xfrm>
            <a:prstGeom prst="rect">
              <a:avLst/>
            </a:prstGeom>
            <a:noFill/>
            <a:ln>
              <a:noFill/>
            </a:ln>
          </p:spPr>
          <p:txBody>
            <a:bodyPr wrap="none" lIns="0" tIns="0" rIns="0" bIns="0" anchor="t" anchorCtr="0">
              <a:spAutoFit/>
            </a:bodyPr>
            <a:lstStyle/>
            <a:p>
              <a:pPr algn="ctr"/>
              <a:r>
                <a:rPr lang="zh-CN" sz="1280" b="1" i="1" dirty="0">
                  <a:solidFill>
                    <a:srgbClr val="9E240C"/>
                  </a:solidFill>
                  <a:latin typeface="+mn-lt"/>
                  <a:ea typeface="+mn-ea"/>
                  <a:cs typeface="+mn-cs"/>
                </a:rPr>
                <a:t>专业创造价值</a:t>
              </a:r>
            </a:p>
          </p:txBody>
        </p:sp>
        <p:sp>
          <p:nvSpPr>
            <p:cNvPr id="269" name="Line 269"/>
            <p:cNvSpPr/>
            <p:nvPr/>
          </p:nvSpPr>
          <p:spPr>
            <a:xfrm>
              <a:off x="9591675" y="4476750"/>
              <a:ext cx="1333500" cy="9525"/>
            </a:xfrm>
            <a:custGeom>
              <a:avLst/>
              <a:gdLst/>
              <a:ahLst/>
              <a:cxnLst/>
              <a:rect l="l" t="t" r="r" b="b"/>
              <a:pathLst>
                <a:path w="1333500" h="9525">
                  <a:moveTo>
                    <a:pt x="0" y="0"/>
                  </a:moveTo>
                  <a:lnTo>
                    <a:pt x="1333500" y="0"/>
                  </a:lnTo>
                </a:path>
              </a:pathLst>
            </a:custGeom>
            <a:noFill/>
            <a:ln w="19050">
              <a:solidFill>
                <a:srgbClr val="9E240C"/>
              </a:solidFill>
            </a:ln>
          </p:spPr>
        </p:sp>
        <p:sp>
          <p:nvSpPr>
            <p:cNvPr id="270" name="Rectangle 270"/>
            <p:cNvSpPr/>
            <p:nvPr/>
          </p:nvSpPr>
          <p:spPr>
            <a:xfrm>
              <a:off x="9210675" y="4705350"/>
              <a:ext cx="2095500" cy="342900"/>
            </a:xfrm>
            <a:prstGeom prst="roundRect">
              <a:avLst>
                <a:gd name="adj" fmla="val 50000"/>
              </a:avLst>
            </a:prstGeom>
            <a:solidFill>
              <a:srgbClr val="FFFFFF"/>
            </a:solidFill>
            <a:ln w="9525">
              <a:solidFill>
                <a:srgbClr val="CFE2F2"/>
              </a:solidFill>
            </a:ln>
          </p:spPr>
        </p:sp>
        <p:grpSp>
          <p:nvGrpSpPr>
            <p:cNvPr id="276" name="Group 276"/>
            <p:cNvGrpSpPr/>
            <p:nvPr/>
          </p:nvGrpSpPr>
          <p:grpSpPr>
            <a:xfrm>
              <a:off x="9441656" y="4811549"/>
              <a:ext cx="128588" cy="129545"/>
              <a:chOff x="9441656" y="4811549"/>
              <a:chExt cx="128588" cy="129545"/>
            </a:xfrm>
          </p:grpSpPr>
          <p:sp>
            <p:nvSpPr>
              <p:cNvPr id="271" name="Freeform 271"/>
              <p:cNvSpPr/>
              <p:nvPr/>
            </p:nvSpPr>
            <p:spPr>
              <a:xfrm>
                <a:off x="9484519" y="486965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C4472E"/>
                </a:solidFill>
              </a:ln>
            </p:spPr>
          </p:sp>
          <p:sp>
            <p:nvSpPr>
              <p:cNvPr id="272" name="Freeform 272"/>
              <p:cNvSpPr/>
              <p:nvPr/>
            </p:nvSpPr>
            <p:spPr>
              <a:xfrm>
                <a:off x="9484519" y="489108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C4472E"/>
                </a:solidFill>
              </a:ln>
            </p:spPr>
          </p:sp>
          <p:sp>
            <p:nvSpPr>
              <p:cNvPr id="273" name="Freeform 273"/>
              <p:cNvSpPr/>
              <p:nvPr/>
            </p:nvSpPr>
            <p:spPr>
              <a:xfrm>
                <a:off x="9441656" y="481154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C4472E"/>
                </a:solidFill>
              </a:ln>
            </p:spPr>
          </p:sp>
          <p:sp>
            <p:nvSpPr>
              <p:cNvPr id="274" name="Freeform 274"/>
              <p:cNvSpPr/>
              <p:nvPr/>
            </p:nvSpPr>
            <p:spPr>
              <a:xfrm>
                <a:off x="9441656" y="483393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C4472E"/>
                </a:solidFill>
              </a:ln>
            </p:spPr>
          </p:sp>
          <p:sp>
            <p:nvSpPr>
              <p:cNvPr id="275" name="Freeform 275"/>
              <p:cNvSpPr/>
              <p:nvPr/>
            </p:nvSpPr>
            <p:spPr>
              <a:xfrm>
                <a:off x="9441656" y="486965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C4472E"/>
                </a:solidFill>
              </a:ln>
            </p:spPr>
          </p:sp>
        </p:grpSp>
        <p:sp>
          <p:nvSpPr>
            <p:cNvPr id="277" name="TextBox 277"/>
            <p:cNvSpPr txBox="1"/>
            <p:nvPr/>
          </p:nvSpPr>
          <p:spPr>
            <a:xfrm>
              <a:off x="10164788" y="4839414"/>
              <a:ext cx="434924" cy="154781"/>
            </a:xfrm>
            <a:prstGeom prst="rect">
              <a:avLst/>
            </a:prstGeom>
            <a:noFill/>
            <a:ln>
              <a:noFill/>
            </a:ln>
          </p:spPr>
          <p:txBody>
            <a:bodyPr wrap="none" lIns="0" tIns="0" rIns="0" bIns="0" anchor="t" anchorCtr="0">
              <a:spAutoFit/>
            </a:bodyPr>
            <a:lstStyle/>
            <a:p>
              <a:pPr algn="ctr"/>
              <a:r>
                <a:rPr lang="zh-CN" sz="790" b="1" dirty="0">
                  <a:solidFill>
                    <a:srgbClr val="9E311B"/>
                  </a:solidFill>
                  <a:latin typeface="+mn-lt"/>
                  <a:ea typeface="+mn-ea"/>
                  <a:cs typeface="+mn-cs"/>
                </a:rPr>
                <a:t>极致数据</a:t>
              </a:r>
            </a:p>
          </p:txBody>
        </p:sp>
        <p:sp>
          <p:nvSpPr>
            <p:cNvPr id="278" name="Rectangle 278"/>
            <p:cNvSpPr/>
            <p:nvPr/>
          </p:nvSpPr>
          <p:spPr>
            <a:xfrm>
              <a:off x="9210675" y="5162550"/>
              <a:ext cx="2095500" cy="342900"/>
            </a:xfrm>
            <a:prstGeom prst="roundRect">
              <a:avLst>
                <a:gd name="adj" fmla="val 50000"/>
              </a:avLst>
            </a:prstGeom>
            <a:solidFill>
              <a:srgbClr val="FFFFFF"/>
            </a:solidFill>
            <a:ln w="9525">
              <a:solidFill>
                <a:srgbClr val="CFE2F2"/>
              </a:solidFill>
            </a:ln>
          </p:spPr>
        </p:sp>
        <p:grpSp>
          <p:nvGrpSpPr>
            <p:cNvPr id="282" name="Group 282"/>
            <p:cNvGrpSpPr/>
            <p:nvPr/>
          </p:nvGrpSpPr>
          <p:grpSpPr>
            <a:xfrm>
              <a:off x="9441656" y="5269706"/>
              <a:ext cx="128588" cy="128588"/>
              <a:chOff x="9441656" y="5269706"/>
              <a:chExt cx="128588" cy="128588"/>
            </a:xfrm>
          </p:grpSpPr>
          <p:sp>
            <p:nvSpPr>
              <p:cNvPr id="279" name="Freeform 279"/>
              <p:cNvSpPr/>
              <p:nvPr/>
            </p:nvSpPr>
            <p:spPr>
              <a:xfrm>
                <a:off x="9498806" y="53268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C4472E"/>
                </a:solidFill>
              </a:ln>
            </p:spPr>
          </p:sp>
          <p:sp>
            <p:nvSpPr>
              <p:cNvPr id="280" name="Freeform 280"/>
              <p:cNvSpPr/>
              <p:nvPr/>
            </p:nvSpPr>
            <p:spPr>
              <a:xfrm>
                <a:off x="9470231" y="52982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C4472E"/>
                </a:solidFill>
              </a:ln>
            </p:spPr>
          </p:sp>
          <p:sp>
            <p:nvSpPr>
              <p:cNvPr id="281" name="Freeform 281"/>
              <p:cNvSpPr/>
              <p:nvPr/>
            </p:nvSpPr>
            <p:spPr>
              <a:xfrm>
                <a:off x="9441656" y="52697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C4472E"/>
                </a:solidFill>
              </a:ln>
            </p:spPr>
          </p:sp>
        </p:grpSp>
        <p:sp>
          <p:nvSpPr>
            <p:cNvPr id="283" name="TextBox 283"/>
            <p:cNvSpPr txBox="1"/>
            <p:nvPr/>
          </p:nvSpPr>
          <p:spPr>
            <a:xfrm>
              <a:off x="10164788" y="5296614"/>
              <a:ext cx="434924" cy="154781"/>
            </a:xfrm>
            <a:prstGeom prst="rect">
              <a:avLst/>
            </a:prstGeom>
            <a:noFill/>
            <a:ln>
              <a:noFill/>
            </a:ln>
          </p:spPr>
          <p:txBody>
            <a:bodyPr wrap="none" lIns="0" tIns="0" rIns="0" bIns="0" anchor="t" anchorCtr="0">
              <a:spAutoFit/>
            </a:bodyPr>
            <a:lstStyle/>
            <a:p>
              <a:pPr algn="ctr"/>
              <a:r>
                <a:rPr lang="zh-CN" sz="790" b="1" dirty="0">
                  <a:solidFill>
                    <a:srgbClr val="9E311B"/>
                  </a:solidFill>
                  <a:latin typeface="+mn-lt"/>
                  <a:ea typeface="+mn-ea"/>
                  <a:cs typeface="+mn-cs"/>
                </a:rPr>
                <a:t>贴近业务</a:t>
              </a:r>
            </a:p>
          </p:txBody>
        </p:sp>
        <p:sp>
          <p:nvSpPr>
            <p:cNvPr id="284" name="Rectangle 284"/>
            <p:cNvSpPr/>
            <p:nvPr/>
          </p:nvSpPr>
          <p:spPr>
            <a:xfrm>
              <a:off x="9210675" y="5619750"/>
              <a:ext cx="2095500" cy="342900"/>
            </a:xfrm>
            <a:prstGeom prst="roundRect">
              <a:avLst>
                <a:gd name="adj" fmla="val 50000"/>
              </a:avLst>
            </a:prstGeom>
            <a:solidFill>
              <a:srgbClr val="FFFFFF"/>
            </a:solidFill>
            <a:ln w="9525">
              <a:solidFill>
                <a:srgbClr val="CFE2F2"/>
              </a:solidFill>
            </a:ln>
          </p:spPr>
        </p:sp>
        <p:grpSp>
          <p:nvGrpSpPr>
            <p:cNvPr id="287" name="Group 287"/>
            <p:cNvGrpSpPr/>
            <p:nvPr/>
          </p:nvGrpSpPr>
          <p:grpSpPr>
            <a:xfrm>
              <a:off x="9441656" y="5726906"/>
              <a:ext cx="128588" cy="128588"/>
              <a:chOff x="9441656" y="5726906"/>
              <a:chExt cx="128588" cy="128588"/>
            </a:xfrm>
          </p:grpSpPr>
          <p:sp>
            <p:nvSpPr>
              <p:cNvPr id="285" name="Freeform 285"/>
              <p:cNvSpPr/>
              <p:nvPr/>
            </p:nvSpPr>
            <p:spPr>
              <a:xfrm>
                <a:off x="9441656" y="57269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C4472E"/>
                </a:solidFill>
              </a:ln>
            </p:spPr>
          </p:sp>
          <p:sp>
            <p:nvSpPr>
              <p:cNvPr id="286" name="Freeform 286"/>
              <p:cNvSpPr/>
              <p:nvPr/>
            </p:nvSpPr>
            <p:spPr>
              <a:xfrm>
                <a:off x="9505950" y="5755481"/>
                <a:ext cx="21431" cy="57150"/>
              </a:xfrm>
              <a:custGeom>
                <a:avLst/>
                <a:gdLst/>
                <a:ahLst/>
                <a:cxnLst/>
                <a:rect l="l" t="t" r="r" b="b"/>
                <a:pathLst>
                  <a:path w="21431" h="57150">
                    <a:moveTo>
                      <a:pt x="0" y="0"/>
                    </a:moveTo>
                    <a:lnTo>
                      <a:pt x="0" y="35719"/>
                    </a:lnTo>
                    <a:lnTo>
                      <a:pt x="21431" y="57150"/>
                    </a:lnTo>
                  </a:path>
                </a:pathLst>
              </a:custGeom>
              <a:noFill/>
              <a:ln w="14288">
                <a:solidFill>
                  <a:srgbClr val="C4472E"/>
                </a:solidFill>
              </a:ln>
            </p:spPr>
          </p:sp>
        </p:grpSp>
        <p:sp>
          <p:nvSpPr>
            <p:cNvPr id="288" name="TextBox 288"/>
            <p:cNvSpPr txBox="1"/>
            <p:nvPr/>
          </p:nvSpPr>
          <p:spPr>
            <a:xfrm>
              <a:off x="10164788" y="5753814"/>
              <a:ext cx="434924" cy="154781"/>
            </a:xfrm>
            <a:prstGeom prst="rect">
              <a:avLst/>
            </a:prstGeom>
            <a:noFill/>
            <a:ln>
              <a:noFill/>
            </a:ln>
          </p:spPr>
          <p:txBody>
            <a:bodyPr wrap="none" lIns="0" tIns="0" rIns="0" bIns="0" anchor="t" anchorCtr="0">
              <a:spAutoFit/>
            </a:bodyPr>
            <a:lstStyle/>
            <a:p>
              <a:pPr algn="ctr"/>
              <a:r>
                <a:rPr lang="zh-CN" sz="790" b="1" dirty="0">
                  <a:solidFill>
                    <a:srgbClr val="9E311B"/>
                  </a:solidFill>
                  <a:latin typeface="+mn-lt"/>
                  <a:ea typeface="+mn-ea"/>
                  <a:cs typeface="+mn-cs"/>
                </a:rPr>
                <a:t>长期主义</a:t>
              </a:r>
            </a:p>
          </p:txBody>
        </p:sp>
      </p:grpSp>
      <p:grpSp>
        <p:nvGrpSpPr>
          <p:cNvPr id="295" name="footer"/>
          <p:cNvGrpSpPr/>
          <p:nvPr/>
        </p:nvGrpSpPr>
        <p:grpSpPr>
          <a:xfrm>
            <a:off x="0" y="6648450"/>
            <a:ext cx="12192000" cy="222886"/>
            <a:chOff x="0" y="6648450"/>
            <a:chExt cx="12192000" cy="222886"/>
          </a:xfrm>
        </p:grpSpPr>
        <p:sp>
          <p:nvSpPr>
            <p:cNvPr id="290" name="Rectangle 290"/>
            <p:cNvSpPr/>
            <p:nvPr/>
          </p:nvSpPr>
          <p:spPr>
            <a:xfrm>
              <a:off x="0" y="6648450"/>
              <a:ext cx="12192000" cy="209550"/>
            </a:xfrm>
            <a:prstGeom prst="rect">
              <a:avLst/>
            </a:prstGeom>
            <a:solidFill>
              <a:srgbClr val="DDECF9"/>
            </a:solidFill>
            <a:ln>
              <a:noFill/>
            </a:ln>
          </p:spPr>
        </p:sp>
        <p:sp>
          <p:nvSpPr>
            <p:cNvPr id="291" name="TextBox 291"/>
            <p:cNvSpPr txBox="1"/>
            <p:nvPr/>
          </p:nvSpPr>
          <p:spPr>
            <a:xfrm>
              <a:off x="223838" y="6676311"/>
              <a:ext cx="889580" cy="140494"/>
            </a:xfrm>
            <a:prstGeom prst="rect">
              <a:avLst/>
            </a:prstGeom>
            <a:noFill/>
            <a:ln>
              <a:noFill/>
            </a:ln>
          </p:spPr>
          <p:txBody>
            <a:bodyPr wrap="none" lIns="0" tIns="0" rIns="0" bIns="0" anchor="t" anchorCtr="0">
              <a:spAutoFit/>
            </a:bodyPr>
            <a:lstStyle/>
            <a:p>
              <a:pPr algn="l"/>
              <a:r>
                <a:rPr lang="zh-CN" sz="710" b="1" dirty="0">
                  <a:solidFill>
                    <a:srgbClr val="96574A"/>
                  </a:solidFill>
                  <a:latin typeface="+mn-lt"/>
                  <a:ea typeface="+mn-ea"/>
                  <a:cs typeface="+mn-cs"/>
                </a:rPr>
                <a:t>稳健经营 · 专业致远</a:t>
              </a:r>
            </a:p>
          </p:txBody>
        </p:sp>
        <p:sp>
          <p:nvSpPr>
            <p:cNvPr id="292" name="TextBox 292"/>
            <p:cNvSpPr txBox="1"/>
            <p:nvPr/>
          </p:nvSpPr>
          <p:spPr>
            <a:xfrm>
              <a:off x="223838" y="6780848"/>
              <a:ext cx="1634291" cy="90488"/>
            </a:xfrm>
            <a:prstGeom prst="rect">
              <a:avLst/>
            </a:prstGeom>
            <a:noFill/>
            <a:ln>
              <a:noFill/>
            </a:ln>
          </p:spPr>
          <p:txBody>
            <a:bodyPr wrap="none" lIns="0" tIns="0" rIns="0" bIns="0" anchor="t" anchorCtr="0">
              <a:spAutoFit/>
            </a:bodyPr>
            <a:lstStyle/>
            <a:p>
              <a:pPr algn="l"/>
              <a:r>
                <a:rPr lang="en-US" sz="450" dirty="0">
                  <a:solidFill>
                    <a:srgbClr val="C4988F"/>
                  </a:solidFill>
                  <a:latin typeface="+mj-lt"/>
                  <a:ea typeface="+mj-ea"/>
                  <a:cs typeface="+mj-cs"/>
                </a:rPr>
                <a:t>PRUDENT BANKING FOR A BRIGHTER TOMORROW​</a:t>
              </a:r>
            </a:p>
          </p:txBody>
        </p:sp>
        <p:sp>
          <p:nvSpPr>
            <p:cNvPr id="293" name="TextBox 293"/>
            <p:cNvSpPr txBox="1"/>
            <p:nvPr/>
          </p:nvSpPr>
          <p:spPr>
            <a:xfrm>
              <a:off x="10696262" y="6676311"/>
              <a:ext cx="1271900" cy="140494"/>
            </a:xfrm>
            <a:prstGeom prst="rect">
              <a:avLst/>
            </a:prstGeom>
            <a:noFill/>
            <a:ln>
              <a:noFill/>
            </a:ln>
          </p:spPr>
          <p:txBody>
            <a:bodyPr wrap="none" lIns="0" tIns="0" rIns="0" bIns="0" anchor="t" anchorCtr="0">
              <a:spAutoFit/>
            </a:bodyPr>
            <a:lstStyle/>
            <a:p>
              <a:pPr algn="r"/>
              <a:r>
                <a:rPr lang="zh-CN" sz="710" b="1" dirty="0">
                  <a:solidFill>
                    <a:srgbClr val="96574A"/>
                  </a:solidFill>
                  <a:latin typeface="+mn-lt"/>
                  <a:ea typeface="+mn-ea"/>
                  <a:cs typeface="+mn-cs"/>
                </a:rPr>
                <a:t>金融向善 · 与实体经济共成长</a:t>
              </a:r>
            </a:p>
          </p:txBody>
        </p:sp>
        <p:sp>
          <p:nvSpPr>
            <p:cNvPr id="294" name="TextBox 294"/>
            <p:cNvSpPr txBox="1"/>
            <p:nvPr/>
          </p:nvSpPr>
          <p:spPr>
            <a:xfrm>
              <a:off x="10625338" y="6780848"/>
              <a:ext cx="1342824" cy="90488"/>
            </a:xfrm>
            <a:prstGeom prst="rect">
              <a:avLst/>
            </a:prstGeom>
            <a:noFill/>
            <a:ln>
              <a:noFill/>
            </a:ln>
          </p:spPr>
          <p:txBody>
            <a:bodyPr wrap="none" lIns="0" tIns="0" rIns="0" bIns="0" anchor="t" anchorCtr="0">
              <a:spAutoFit/>
            </a:bodyPr>
            <a:lstStyle/>
            <a:p>
              <a:pPr algn="r"/>
              <a:r>
                <a:rPr lang="en-US" sz="450" dirty="0">
                  <a:solidFill>
                    <a:srgbClr val="C4988F"/>
                  </a:solidFill>
                  <a:latin typeface="+mj-lt"/>
                  <a:ea typeface="+mj-ea"/>
                  <a:cs typeface="+mj-cs"/>
                </a:rPr>
                <a:t>FINANCE FOR A BETTER REAL ECONOMY​</a:t>
              </a:r>
            </a:p>
          </p:txBody>
        </p:sp>
      </p:gr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9" name="header"/>
          <p:cNvGrpSpPr/>
          <p:nvPr/>
        </p:nvGrpSpPr>
        <p:grpSpPr>
          <a:xfrm>
            <a:off x="0" y="0"/>
            <a:ext cx="12025313" cy="542925"/>
            <a:chOff x="0" y="0"/>
            <a:chExt cx="12025313"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472E"/>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03</a:t>
              </a:r>
            </a:p>
          </p:txBody>
        </p:sp>
        <p:sp>
          <p:nvSpPr>
            <p:cNvPr id="4" name="TextBox 4"/>
            <p:cNvSpPr txBox="1"/>
            <p:nvPr/>
          </p:nvSpPr>
          <p:spPr>
            <a:xfrm>
              <a:off x="942594" y="151448"/>
              <a:ext cx="2909640" cy="381381"/>
            </a:xfrm>
            <a:prstGeom prst="rect">
              <a:avLst/>
            </a:prstGeom>
            <a:noFill/>
            <a:ln>
              <a:noFill/>
            </a:ln>
          </p:spPr>
          <p:txBody>
            <a:bodyPr wrap="none" lIns="0" tIns="0" rIns="0" bIns="0" anchor="t" anchorCtr="0">
              <a:spAutoFit/>
            </a:bodyPr>
            <a:lstStyle/>
            <a:p>
              <a:pPr algn="l"/>
              <a:r>
                <a:rPr lang="zh-CN" sz="1950" b="1" dirty="0">
                  <a:solidFill>
                    <a:srgbClr val="3E1810"/>
                  </a:solidFill>
                  <a:latin typeface="SimSun"/>
                  <a:ea typeface="SimSun"/>
                  <a:cs typeface="SimSun"/>
                </a:rPr>
                <a:t>模型验证 不能只看</a:t>
              </a:r>
              <a:r>
                <a:rPr lang="en-US" sz="1950" b="1" dirty="0">
                  <a:solidFill>
                    <a:srgbClr val="C4472E"/>
                  </a:solidFill>
                  <a:latin typeface="SimSun"/>
                  <a:ea typeface="SimSun"/>
                  <a:cs typeface="SimSun"/>
                </a:rPr>
                <a:t>AUC</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4472E"/>
              </a:solidFill>
            </a:ln>
          </p:spPr>
        </p:sp>
        <p:sp>
          <p:nvSpPr>
            <p:cNvPr id="6" name="TextBox 6"/>
            <p:cNvSpPr txBox="1"/>
            <p:nvPr/>
          </p:nvSpPr>
          <p:spPr>
            <a:xfrm>
              <a:off x="10557833" y="63341"/>
              <a:ext cx="1467480" cy="161925"/>
            </a:xfrm>
            <a:prstGeom prst="rect">
              <a:avLst/>
            </a:prstGeom>
            <a:noFill/>
            <a:ln>
              <a:noFill/>
            </a:ln>
          </p:spPr>
          <p:txBody>
            <a:bodyPr wrap="none" lIns="0" tIns="0" rIns="0" bIns="0" anchor="t" anchorCtr="0">
              <a:spAutoFit/>
            </a:bodyPr>
            <a:lstStyle/>
            <a:p>
              <a:pPr algn="r"/>
              <a:r>
                <a:rPr lang="zh-CN" sz="820" b="1" dirty="0">
                  <a:solidFill>
                    <a:srgbClr val="9E311B"/>
                  </a:solidFill>
                  <a:latin typeface="+mn-lt"/>
                  <a:ea typeface="+mn-ea"/>
                  <a:cs typeface="+mn-cs"/>
                </a:rPr>
                <a:t>更全面的验证 · 更可靠的模型</a:t>
              </a:r>
            </a:p>
          </p:txBody>
        </p:sp>
        <p:sp>
          <p:nvSpPr>
            <p:cNvPr id="7" name="TextBox 7"/>
            <p:cNvSpPr txBox="1"/>
            <p:nvPr/>
          </p:nvSpPr>
          <p:spPr>
            <a:xfrm>
              <a:off x="10439118" y="255032"/>
              <a:ext cx="1586194"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控制风险 · 提升决策质量 · 支撑业务发展</a:t>
              </a:r>
            </a:p>
          </p:txBody>
        </p:sp>
        <p:sp>
          <p:nvSpPr>
            <p:cNvPr id="8" name="TextBox 8"/>
            <p:cNvSpPr txBox="1"/>
            <p:nvPr/>
          </p:nvSpPr>
          <p:spPr>
            <a:xfrm>
              <a:off x="11240376" y="407432"/>
              <a:ext cx="784936"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让模型真正创造价值</a:t>
              </a:r>
            </a:p>
          </p:txBody>
        </p:sp>
      </p:grpSp>
      <p:grpSp>
        <p:nvGrpSpPr>
          <p:cNvPr id="12" name="intro"/>
          <p:cNvGrpSpPr/>
          <p:nvPr/>
        </p:nvGrpSpPr>
        <p:grpSpPr>
          <a:xfrm>
            <a:off x="4600994" y="596741"/>
            <a:ext cx="2990012" cy="314325"/>
            <a:chOff x="4600994" y="596741"/>
            <a:chExt cx="2990012" cy="314325"/>
          </a:xfrm>
        </p:grpSpPr>
        <p:sp>
          <p:nvSpPr>
            <p:cNvPr id="10" name="TextBox 10"/>
            <p:cNvSpPr txBox="1"/>
            <p:nvPr/>
          </p:nvSpPr>
          <p:spPr>
            <a:xfrm>
              <a:off x="5302325" y="596741"/>
              <a:ext cx="1587350" cy="161925"/>
            </a:xfrm>
            <a:prstGeom prst="rect">
              <a:avLst/>
            </a:prstGeom>
            <a:noFill/>
            <a:ln>
              <a:noFill/>
            </a:ln>
          </p:spPr>
          <p:txBody>
            <a:bodyPr wrap="none" lIns="0" tIns="0" rIns="0" bIns="0" anchor="t" anchorCtr="0">
              <a:spAutoFit/>
            </a:bodyPr>
            <a:lstStyle/>
            <a:p>
              <a:pPr algn="ctr"/>
              <a:r>
                <a:rPr lang="zh-CN" sz="820" dirty="0">
                  <a:solidFill>
                    <a:srgbClr val="8C716B"/>
                  </a:solidFill>
                  <a:latin typeface="+mn-lt"/>
                  <a:ea typeface="+mn-ea"/>
                  <a:cs typeface="+mn-cs"/>
                </a:rPr>
                <a:t>AUC只是模型评估的一个维度，​</a:t>
              </a:r>
            </a:p>
          </p:txBody>
        </p:sp>
        <p:sp>
          <p:nvSpPr>
            <p:cNvPr id="11" name="TextBox 11"/>
            <p:cNvSpPr txBox="1"/>
            <p:nvPr/>
          </p:nvSpPr>
          <p:spPr>
            <a:xfrm>
              <a:off x="4600994" y="749141"/>
              <a:ext cx="2990012" cy="161925"/>
            </a:xfrm>
            <a:prstGeom prst="rect">
              <a:avLst/>
            </a:prstGeom>
            <a:noFill/>
            <a:ln>
              <a:noFill/>
            </a:ln>
          </p:spPr>
          <p:txBody>
            <a:bodyPr wrap="none" lIns="0" tIns="0" rIns="0" bIns="0" anchor="t" anchorCtr="0">
              <a:spAutoFit/>
            </a:bodyPr>
            <a:lstStyle/>
            <a:p>
              <a:pPr algn="ctr"/>
              <a:r>
                <a:rPr lang="zh-CN" sz="820" dirty="0">
                  <a:solidFill>
                    <a:srgbClr val="8C716B"/>
                  </a:solidFill>
                  <a:latin typeface="+mn-lt"/>
                  <a:ea typeface="+mn-ea"/>
                  <a:cs typeface="+mn-cs"/>
                </a:rPr>
                <a:t>真正可靠的模型需要从多个角度综合验证，才能支撑业务落地</a:t>
              </a:r>
            </a:p>
          </p:txBody>
        </p:sp>
      </p:grpSp>
      <p:grpSp>
        <p:nvGrpSpPr>
          <p:cNvPr id="34" name="chart-01"/>
          <p:cNvGrpSpPr/>
          <p:nvPr/>
        </p:nvGrpSpPr>
        <p:grpSpPr>
          <a:xfrm>
            <a:off x="21424" y="895350"/>
            <a:ext cx="2416976" cy="2114550"/>
            <a:chOff x="21424" y="895350"/>
            <a:chExt cx="2416976" cy="2114550"/>
          </a:xfrm>
        </p:grpSpPr>
        <p:sp>
          <p:nvSpPr>
            <p:cNvPr id="13" name="Rectangle 13"/>
            <p:cNvSpPr/>
            <p:nvPr/>
          </p:nvSpPr>
          <p:spPr>
            <a:xfrm>
              <a:off x="190500" y="895350"/>
              <a:ext cx="2247900" cy="2114550"/>
            </a:xfrm>
            <a:prstGeom prst="roundRect">
              <a:avLst>
                <a:gd name="adj" fmla="val 3604"/>
              </a:avLst>
            </a:prstGeom>
            <a:solidFill>
              <a:srgbClr val="FFFFFF"/>
            </a:solidFill>
            <a:ln w="9525">
              <a:solidFill>
                <a:srgbClr val="CFE2F2"/>
              </a:solidFill>
            </a:ln>
          </p:spPr>
        </p:sp>
        <p:sp>
          <p:nvSpPr>
            <p:cNvPr id="14" name="Rectangle 14"/>
            <p:cNvSpPr/>
            <p:nvPr/>
          </p:nvSpPr>
          <p:spPr>
            <a:xfrm>
              <a:off x="190500" y="895350"/>
              <a:ext cx="2247900" cy="209550"/>
            </a:xfrm>
            <a:prstGeom prst="roundRect">
              <a:avLst>
                <a:gd name="adj" fmla="val 36364"/>
              </a:avLst>
            </a:prstGeom>
            <a:solidFill>
              <a:srgbClr val="C4472E"/>
            </a:solidFill>
            <a:ln>
              <a:noFill/>
            </a:ln>
          </p:spPr>
        </p:sp>
        <p:sp>
          <p:nvSpPr>
            <p:cNvPr id="15" name="Rectangle 15"/>
            <p:cNvSpPr/>
            <p:nvPr/>
          </p:nvSpPr>
          <p:spPr>
            <a:xfrm>
              <a:off x="190500" y="1009650"/>
              <a:ext cx="2247900" cy="95250"/>
            </a:xfrm>
            <a:prstGeom prst="rect">
              <a:avLst/>
            </a:prstGeom>
            <a:solidFill>
              <a:srgbClr val="C4472E"/>
            </a:solidFill>
            <a:ln>
              <a:noFill/>
            </a:ln>
          </p:spPr>
        </p:sp>
        <p:sp>
          <p:nvSpPr>
            <p:cNvPr id="16" name="TextBox 16"/>
            <p:cNvSpPr txBox="1"/>
            <p:nvPr/>
          </p:nvSpPr>
          <p:spPr>
            <a:xfrm>
              <a:off x="319088" y="957262"/>
              <a:ext cx="12614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01</a:t>
              </a:r>
            </a:p>
          </p:txBody>
        </p:sp>
        <p:sp>
          <p:nvSpPr>
            <p:cNvPr id="17" name="TextBox 17"/>
            <p:cNvSpPr txBox="1"/>
            <p:nvPr/>
          </p:nvSpPr>
          <p:spPr>
            <a:xfrm>
              <a:off x="509588" y="949166"/>
              <a:ext cx="943468"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ROC曲线（AUC）​</a:t>
              </a:r>
            </a:p>
          </p:txBody>
        </p:sp>
        <p:sp>
          <p:nvSpPr>
            <p:cNvPr id="18" name="Line 18"/>
            <p:cNvSpPr/>
            <p:nvPr/>
          </p:nvSpPr>
          <p:spPr>
            <a:xfrm>
              <a:off x="381000" y="2152650"/>
              <a:ext cx="1905000" cy="9525"/>
            </a:xfrm>
            <a:custGeom>
              <a:avLst/>
              <a:gdLst/>
              <a:ahLst/>
              <a:cxnLst/>
              <a:rect l="l" t="t" r="r" b="b"/>
              <a:pathLst>
                <a:path w="1905000" h="9525">
                  <a:moveTo>
                    <a:pt x="0" y="0"/>
                  </a:moveTo>
                  <a:lnTo>
                    <a:pt x="1905000" y="0"/>
                  </a:lnTo>
                </a:path>
              </a:pathLst>
            </a:custGeom>
            <a:noFill/>
            <a:ln w="9525">
              <a:solidFill>
                <a:srgbClr val="B9C6D2"/>
              </a:solidFill>
            </a:ln>
          </p:spPr>
        </p:sp>
        <p:sp>
          <p:nvSpPr>
            <p:cNvPr id="19" name="Line 19"/>
            <p:cNvSpPr/>
            <p:nvPr/>
          </p:nvSpPr>
          <p:spPr>
            <a:xfrm>
              <a:off x="381000" y="1200150"/>
              <a:ext cx="9525" cy="952500"/>
            </a:xfrm>
            <a:custGeom>
              <a:avLst/>
              <a:gdLst/>
              <a:ahLst/>
              <a:cxnLst/>
              <a:rect l="l" t="t" r="r" b="b"/>
              <a:pathLst>
                <a:path w="9525" h="952500">
                  <a:moveTo>
                    <a:pt x="0" y="952500"/>
                  </a:moveTo>
                  <a:lnTo>
                    <a:pt x="0" y="0"/>
                  </a:lnTo>
                </a:path>
              </a:pathLst>
            </a:custGeom>
            <a:noFill/>
            <a:ln w="9525">
              <a:solidFill>
                <a:srgbClr val="B9C6D2"/>
              </a:solidFill>
            </a:ln>
          </p:spPr>
        </p:sp>
        <p:sp>
          <p:nvSpPr>
            <p:cNvPr id="20" name="Line 20"/>
            <p:cNvSpPr/>
            <p:nvPr/>
          </p:nvSpPr>
          <p:spPr>
            <a:xfrm>
              <a:off x="381000" y="1200150"/>
              <a:ext cx="1905000" cy="952500"/>
            </a:xfrm>
            <a:custGeom>
              <a:avLst/>
              <a:gdLst/>
              <a:ahLst/>
              <a:cxnLst/>
              <a:rect l="l" t="t" r="r" b="b"/>
              <a:pathLst>
                <a:path w="1905000" h="952500">
                  <a:moveTo>
                    <a:pt x="0" y="952500"/>
                  </a:moveTo>
                  <a:lnTo>
                    <a:pt x="1905000" y="0"/>
                  </a:lnTo>
                </a:path>
              </a:pathLst>
            </a:custGeom>
            <a:noFill/>
            <a:ln w="9525">
              <a:solidFill>
                <a:srgbClr val="B9C6D2"/>
              </a:solidFill>
              <a:prstDash val="dash"/>
            </a:ln>
          </p:spPr>
        </p:sp>
        <p:sp>
          <p:nvSpPr>
            <p:cNvPr id="21" name="Freeform 21"/>
            <p:cNvSpPr/>
            <p:nvPr/>
          </p:nvSpPr>
          <p:spPr>
            <a:xfrm>
              <a:off x="381000" y="1238250"/>
              <a:ext cx="1905000" cy="914400"/>
            </a:xfrm>
            <a:custGeom>
              <a:avLst/>
              <a:gdLst/>
              <a:ahLst/>
              <a:cxnLst/>
              <a:rect l="l" t="t" r="r" b="b"/>
              <a:pathLst>
                <a:path w="1905000" h="914400">
                  <a:moveTo>
                    <a:pt x="0" y="914400"/>
                  </a:moveTo>
                  <a:cubicBezTo>
                    <a:pt x="171450" y="361950"/>
                    <a:pt x="457200" y="171450"/>
                    <a:pt x="952500" y="95250"/>
                  </a:cubicBezTo>
                  <a:cubicBezTo>
                    <a:pt x="1333500" y="38100"/>
                    <a:pt x="1666875" y="9525"/>
                    <a:pt x="1905000" y="0"/>
                  </a:cubicBezTo>
                </a:path>
              </a:pathLst>
            </a:custGeom>
            <a:noFill/>
            <a:ln w="19050">
              <a:solidFill>
                <a:srgbClr val="C4472E"/>
              </a:solidFill>
            </a:ln>
          </p:spPr>
        </p:sp>
        <p:sp>
          <p:nvSpPr>
            <p:cNvPr id="22" name="Rectangle 22"/>
            <p:cNvSpPr/>
            <p:nvPr/>
          </p:nvSpPr>
          <p:spPr>
            <a:xfrm>
              <a:off x="1257300" y="1428750"/>
              <a:ext cx="704850" cy="161925"/>
            </a:xfrm>
            <a:prstGeom prst="roundRect">
              <a:avLst>
                <a:gd name="adj" fmla="val 17647"/>
              </a:avLst>
            </a:prstGeom>
            <a:solidFill>
              <a:srgbClr val="C4472E"/>
            </a:solidFill>
            <a:ln>
              <a:noFill/>
            </a:ln>
          </p:spPr>
        </p:sp>
        <p:sp>
          <p:nvSpPr>
            <p:cNvPr id="23" name="TextBox 23"/>
            <p:cNvSpPr txBox="1"/>
            <p:nvPr/>
          </p:nvSpPr>
          <p:spPr>
            <a:xfrm>
              <a:off x="1296111" y="1470184"/>
              <a:ext cx="627228"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j-lt"/>
                  <a:ea typeface="+mj-ea"/>
                  <a:cs typeface="+mj-cs"/>
                </a:rPr>
                <a:t>AUC = 0.812​</a:t>
              </a:r>
            </a:p>
          </p:txBody>
        </p:sp>
        <p:sp>
          <p:nvSpPr>
            <p:cNvPr id="24" name="Line 24"/>
            <p:cNvSpPr/>
            <p:nvPr/>
          </p:nvSpPr>
          <p:spPr>
            <a:xfrm>
              <a:off x="1428750" y="2057400"/>
              <a:ext cx="114300" cy="9525"/>
            </a:xfrm>
            <a:custGeom>
              <a:avLst/>
              <a:gdLst/>
              <a:ahLst/>
              <a:cxnLst/>
              <a:rect l="l" t="t" r="r" b="b"/>
              <a:pathLst>
                <a:path w="114300" h="9525">
                  <a:moveTo>
                    <a:pt x="0" y="0"/>
                  </a:moveTo>
                  <a:lnTo>
                    <a:pt x="114300" y="0"/>
                  </a:lnTo>
                </a:path>
              </a:pathLst>
            </a:custGeom>
            <a:noFill/>
            <a:ln w="19050">
              <a:solidFill>
                <a:srgbClr val="C4472E"/>
              </a:solidFill>
            </a:ln>
          </p:spPr>
        </p:sp>
        <p:sp>
          <p:nvSpPr>
            <p:cNvPr id="25" name="TextBox 25"/>
            <p:cNvSpPr txBox="1"/>
            <p:nvPr/>
          </p:nvSpPr>
          <p:spPr>
            <a:xfrm>
              <a:off x="1576388" y="2033349"/>
              <a:ext cx="438601" cy="97631"/>
            </a:xfrm>
            <a:prstGeom prst="rect">
              <a:avLst/>
            </a:prstGeom>
            <a:noFill/>
            <a:ln>
              <a:noFill/>
            </a:ln>
          </p:spPr>
          <p:txBody>
            <a:bodyPr wrap="none" lIns="0" tIns="0" rIns="0" bIns="0" anchor="t" anchorCtr="0">
              <a:spAutoFit/>
            </a:bodyPr>
            <a:lstStyle/>
            <a:p>
              <a:pPr algn="l"/>
              <a:r>
                <a:rPr lang="zh-CN" sz="490" dirty="0">
                  <a:solidFill>
                    <a:srgbClr val="8C716B"/>
                  </a:solidFill>
                  <a:latin typeface="+mn-lt"/>
                  <a:ea typeface="+mn-ea"/>
                  <a:cs typeface="+mn-cs"/>
                </a:rPr>
                <a:t>模型ROC曲线​</a:t>
              </a:r>
            </a:p>
          </p:txBody>
        </p:sp>
        <p:sp>
          <p:nvSpPr>
            <p:cNvPr id="26" name="Line 26"/>
            <p:cNvSpPr/>
            <p:nvPr/>
          </p:nvSpPr>
          <p:spPr>
            <a:xfrm>
              <a:off x="1428750" y="2133600"/>
              <a:ext cx="114300" cy="9525"/>
            </a:xfrm>
            <a:custGeom>
              <a:avLst/>
              <a:gdLst/>
              <a:ahLst/>
              <a:cxnLst/>
              <a:rect l="l" t="t" r="r" b="b"/>
              <a:pathLst>
                <a:path w="114300" h="9525">
                  <a:moveTo>
                    <a:pt x="0" y="0"/>
                  </a:moveTo>
                  <a:lnTo>
                    <a:pt x="114300" y="0"/>
                  </a:lnTo>
                </a:path>
              </a:pathLst>
            </a:custGeom>
            <a:noFill/>
            <a:ln w="9525">
              <a:solidFill>
                <a:srgbClr val="B9C6D2"/>
              </a:solidFill>
              <a:custDash>
                <a:ds d="300000" sp="200000"/>
              </a:custDash>
            </a:ln>
          </p:spPr>
        </p:sp>
        <p:sp>
          <p:nvSpPr>
            <p:cNvPr id="27" name="TextBox 27"/>
            <p:cNvSpPr txBox="1"/>
            <p:nvPr/>
          </p:nvSpPr>
          <p:spPr>
            <a:xfrm>
              <a:off x="1576388" y="2109549"/>
              <a:ext cx="642889" cy="97631"/>
            </a:xfrm>
            <a:prstGeom prst="rect">
              <a:avLst/>
            </a:prstGeom>
            <a:noFill/>
            <a:ln>
              <a:noFill/>
            </a:ln>
          </p:spPr>
          <p:txBody>
            <a:bodyPr wrap="none" lIns="0" tIns="0" rIns="0" bIns="0" anchor="t" anchorCtr="0">
              <a:spAutoFit/>
            </a:bodyPr>
            <a:lstStyle/>
            <a:p>
              <a:pPr algn="l"/>
              <a:r>
                <a:rPr lang="zh-CN" sz="490" dirty="0">
                  <a:solidFill>
                    <a:srgbClr val="8C716B"/>
                  </a:solidFill>
                  <a:latin typeface="+mj-lt"/>
                  <a:ea typeface="+mj-ea"/>
                  <a:cs typeface="+mj-cs"/>
                </a:rPr>
                <a:t>随机猜测(AUC=0.5)​</a:t>
              </a:r>
            </a:p>
          </p:txBody>
        </p:sp>
        <p:sp>
          <p:nvSpPr>
            <p:cNvPr id="28" name="TextBox 28"/>
            <p:cNvSpPr txBox="1"/>
            <p:nvPr/>
          </p:nvSpPr>
          <p:spPr>
            <a:xfrm>
              <a:off x="1073460" y="2238851"/>
              <a:ext cx="520080"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假正率（FPR）​</a:t>
              </a:r>
            </a:p>
          </p:txBody>
        </p:sp>
        <p:sp>
          <p:nvSpPr>
            <p:cNvPr id="29" name="TextBox 29"/>
            <p:cNvSpPr txBox="1"/>
            <p:nvPr/>
          </p:nvSpPr>
          <p:spPr>
            <a:xfrm rot="-5400000">
              <a:off x="21424" y="1719262"/>
              <a:ext cx="520080"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真正率（TPR）​</a:t>
              </a:r>
            </a:p>
          </p:txBody>
        </p:sp>
        <p:sp>
          <p:nvSpPr>
            <p:cNvPr id="30" name="TextBox 30"/>
            <p:cNvSpPr txBox="1"/>
            <p:nvPr/>
          </p:nvSpPr>
          <p:spPr>
            <a:xfrm>
              <a:off x="280988" y="2414588"/>
              <a:ext cx="918210" cy="147638"/>
            </a:xfrm>
            <a:prstGeom prst="rect">
              <a:avLst/>
            </a:prstGeom>
            <a:noFill/>
            <a:ln>
              <a:noFill/>
            </a:ln>
          </p:spPr>
          <p:txBody>
            <a:bodyPr wrap="none" lIns="0" tIns="0" rIns="0" bIns="0" anchor="t" anchorCtr="0">
              <a:spAutoFit/>
            </a:bodyPr>
            <a:lstStyle/>
            <a:p>
              <a:pPr algn="l"/>
              <a:r>
                <a:rPr lang="zh-CN" sz="750" b="1" dirty="0">
                  <a:solidFill>
                    <a:srgbClr val="9E311B"/>
                  </a:solidFill>
                  <a:latin typeface="+mn-lt"/>
                  <a:ea typeface="+mn-ea"/>
                  <a:cs typeface="+mn-cs"/>
                </a:rPr>
                <a:t>衡量模型的区分能力</a:t>
              </a:r>
            </a:p>
          </p:txBody>
        </p:sp>
        <p:sp>
          <p:nvSpPr>
            <p:cNvPr id="31" name="TextBox 31"/>
            <p:cNvSpPr txBox="1"/>
            <p:nvPr/>
          </p:nvSpPr>
          <p:spPr>
            <a:xfrm>
              <a:off x="280988" y="2579132"/>
              <a:ext cx="848985"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AUC表示模型将正样本</a:t>
              </a:r>
            </a:p>
          </p:txBody>
        </p:sp>
        <p:sp>
          <p:nvSpPr>
            <p:cNvPr id="32" name="TextBox 32"/>
            <p:cNvSpPr txBox="1"/>
            <p:nvPr/>
          </p:nvSpPr>
          <p:spPr>
            <a:xfrm>
              <a:off x="280988" y="2712482"/>
              <a:ext cx="957250"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排在负样本前面的概率，</a:t>
              </a:r>
            </a:p>
          </p:txBody>
        </p:sp>
        <p:sp>
          <p:nvSpPr>
            <p:cNvPr id="33" name="TextBox 33"/>
            <p:cNvSpPr txBox="1"/>
            <p:nvPr/>
          </p:nvSpPr>
          <p:spPr>
            <a:xfrm>
              <a:off x="280988" y="2845832"/>
              <a:ext cx="573852"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越接近1越好。</a:t>
              </a:r>
            </a:p>
          </p:txBody>
        </p:sp>
      </p:grpSp>
      <p:grpSp>
        <p:nvGrpSpPr>
          <p:cNvPr id="56" name="chart-02"/>
          <p:cNvGrpSpPr/>
          <p:nvPr/>
        </p:nvGrpSpPr>
        <p:grpSpPr>
          <a:xfrm>
            <a:off x="2533650" y="895350"/>
            <a:ext cx="2247900" cy="2114550"/>
            <a:chOff x="2533650" y="895350"/>
            <a:chExt cx="2247900" cy="2114550"/>
          </a:xfrm>
        </p:grpSpPr>
        <p:sp>
          <p:nvSpPr>
            <p:cNvPr id="35" name="Rectangle 35"/>
            <p:cNvSpPr/>
            <p:nvPr/>
          </p:nvSpPr>
          <p:spPr>
            <a:xfrm>
              <a:off x="2533650" y="895350"/>
              <a:ext cx="2247900" cy="2114550"/>
            </a:xfrm>
            <a:prstGeom prst="roundRect">
              <a:avLst>
                <a:gd name="adj" fmla="val 3604"/>
              </a:avLst>
            </a:prstGeom>
            <a:solidFill>
              <a:srgbClr val="FFFFFF"/>
            </a:solidFill>
            <a:ln w="9525">
              <a:solidFill>
                <a:srgbClr val="CFE2F2"/>
              </a:solidFill>
            </a:ln>
          </p:spPr>
        </p:sp>
        <p:sp>
          <p:nvSpPr>
            <p:cNvPr id="36" name="Rectangle 36"/>
            <p:cNvSpPr/>
            <p:nvPr/>
          </p:nvSpPr>
          <p:spPr>
            <a:xfrm>
              <a:off x="2533650" y="895350"/>
              <a:ext cx="2247900" cy="209550"/>
            </a:xfrm>
            <a:prstGeom prst="roundRect">
              <a:avLst>
                <a:gd name="adj" fmla="val 36364"/>
              </a:avLst>
            </a:prstGeom>
            <a:solidFill>
              <a:srgbClr val="C4472E"/>
            </a:solidFill>
            <a:ln>
              <a:noFill/>
            </a:ln>
          </p:spPr>
        </p:sp>
        <p:sp>
          <p:nvSpPr>
            <p:cNvPr id="37" name="Rectangle 37"/>
            <p:cNvSpPr/>
            <p:nvPr/>
          </p:nvSpPr>
          <p:spPr>
            <a:xfrm>
              <a:off x="2533650" y="1009650"/>
              <a:ext cx="2247900" cy="95250"/>
            </a:xfrm>
            <a:prstGeom prst="rect">
              <a:avLst/>
            </a:prstGeom>
            <a:solidFill>
              <a:srgbClr val="C4472E"/>
            </a:solidFill>
            <a:ln>
              <a:noFill/>
            </a:ln>
          </p:spPr>
        </p:sp>
        <p:sp>
          <p:nvSpPr>
            <p:cNvPr id="38" name="TextBox 38"/>
            <p:cNvSpPr txBox="1"/>
            <p:nvPr/>
          </p:nvSpPr>
          <p:spPr>
            <a:xfrm>
              <a:off x="2662238" y="957262"/>
              <a:ext cx="12614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02</a:t>
              </a:r>
            </a:p>
          </p:txBody>
        </p:sp>
        <p:sp>
          <p:nvSpPr>
            <p:cNvPr id="39" name="TextBox 39"/>
            <p:cNvSpPr txBox="1"/>
            <p:nvPr/>
          </p:nvSpPr>
          <p:spPr>
            <a:xfrm>
              <a:off x="2852738" y="949166"/>
              <a:ext cx="428767"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KS曲线​</a:t>
              </a:r>
            </a:p>
          </p:txBody>
        </p:sp>
        <p:sp>
          <p:nvSpPr>
            <p:cNvPr id="40" name="Line 40"/>
            <p:cNvSpPr/>
            <p:nvPr/>
          </p:nvSpPr>
          <p:spPr>
            <a:xfrm>
              <a:off x="2724150" y="2152650"/>
              <a:ext cx="1905000" cy="9525"/>
            </a:xfrm>
            <a:custGeom>
              <a:avLst/>
              <a:gdLst/>
              <a:ahLst/>
              <a:cxnLst/>
              <a:rect l="l" t="t" r="r" b="b"/>
              <a:pathLst>
                <a:path w="1905000" h="9525">
                  <a:moveTo>
                    <a:pt x="0" y="0"/>
                  </a:moveTo>
                  <a:lnTo>
                    <a:pt x="1905000" y="0"/>
                  </a:lnTo>
                </a:path>
              </a:pathLst>
            </a:custGeom>
            <a:noFill/>
            <a:ln w="9525">
              <a:solidFill>
                <a:srgbClr val="B9C6D2"/>
              </a:solidFill>
            </a:ln>
          </p:spPr>
        </p:sp>
        <p:sp>
          <p:nvSpPr>
            <p:cNvPr id="41" name="Line 41"/>
            <p:cNvSpPr/>
            <p:nvPr/>
          </p:nvSpPr>
          <p:spPr>
            <a:xfrm>
              <a:off x="2724150" y="1200150"/>
              <a:ext cx="9525" cy="952500"/>
            </a:xfrm>
            <a:custGeom>
              <a:avLst/>
              <a:gdLst/>
              <a:ahLst/>
              <a:cxnLst/>
              <a:rect l="l" t="t" r="r" b="b"/>
              <a:pathLst>
                <a:path w="9525" h="952500">
                  <a:moveTo>
                    <a:pt x="0" y="952500"/>
                  </a:moveTo>
                  <a:lnTo>
                    <a:pt x="0" y="0"/>
                  </a:lnTo>
                </a:path>
              </a:pathLst>
            </a:custGeom>
            <a:noFill/>
            <a:ln w="9525">
              <a:solidFill>
                <a:srgbClr val="B9C6D2"/>
              </a:solidFill>
            </a:ln>
          </p:spPr>
        </p:sp>
        <p:sp>
          <p:nvSpPr>
            <p:cNvPr id="42" name="Freeform 42"/>
            <p:cNvSpPr/>
            <p:nvPr/>
          </p:nvSpPr>
          <p:spPr>
            <a:xfrm>
              <a:off x="2724150" y="1266825"/>
              <a:ext cx="1905000" cy="885825"/>
            </a:xfrm>
            <a:custGeom>
              <a:avLst/>
              <a:gdLst/>
              <a:ahLst/>
              <a:cxnLst/>
              <a:rect l="l" t="t" r="r" b="b"/>
              <a:pathLst>
                <a:path w="1905000" h="885825">
                  <a:moveTo>
                    <a:pt x="0" y="885825"/>
                  </a:moveTo>
                  <a:cubicBezTo>
                    <a:pt x="323850" y="600075"/>
                    <a:pt x="704850" y="238125"/>
                    <a:pt x="1276350" y="85725"/>
                  </a:cubicBezTo>
                  <a:cubicBezTo>
                    <a:pt x="1514475" y="28575"/>
                    <a:pt x="1752600" y="9525"/>
                    <a:pt x="1905000" y="0"/>
                  </a:cubicBezTo>
                </a:path>
              </a:pathLst>
            </a:custGeom>
            <a:noFill/>
            <a:ln w="19050">
              <a:solidFill>
                <a:srgbClr val="C4472E"/>
              </a:solidFill>
            </a:ln>
          </p:spPr>
        </p:sp>
        <p:sp>
          <p:nvSpPr>
            <p:cNvPr id="43" name="Freeform 43"/>
            <p:cNvSpPr/>
            <p:nvPr/>
          </p:nvSpPr>
          <p:spPr>
            <a:xfrm>
              <a:off x="2724150" y="1476375"/>
              <a:ext cx="1905000" cy="676275"/>
            </a:xfrm>
            <a:custGeom>
              <a:avLst/>
              <a:gdLst/>
              <a:ahLst/>
              <a:cxnLst/>
              <a:rect l="l" t="t" r="r" b="b"/>
              <a:pathLst>
                <a:path w="1905000" h="676275">
                  <a:moveTo>
                    <a:pt x="0" y="676275"/>
                  </a:moveTo>
                  <a:cubicBezTo>
                    <a:pt x="342900" y="561975"/>
                    <a:pt x="704850" y="333375"/>
                    <a:pt x="1276350" y="161925"/>
                  </a:cubicBezTo>
                  <a:cubicBezTo>
                    <a:pt x="1543050" y="85725"/>
                    <a:pt x="1771650" y="28575"/>
                    <a:pt x="1905000" y="0"/>
                  </a:cubicBezTo>
                </a:path>
              </a:pathLst>
            </a:custGeom>
            <a:noFill/>
            <a:ln w="19050">
              <a:solidFill>
                <a:srgbClr val="E0634E"/>
              </a:solidFill>
            </a:ln>
          </p:spPr>
        </p:sp>
        <p:sp>
          <p:nvSpPr>
            <p:cNvPr id="44" name="Line 44"/>
            <p:cNvSpPr/>
            <p:nvPr/>
          </p:nvSpPr>
          <p:spPr>
            <a:xfrm flipV="1">
              <a:off x="3733800" y="1504950"/>
              <a:ext cx="1" cy="361950"/>
            </a:xfrm>
            <a:prstGeom prst="line">
              <a:avLst/>
            </a:prstGeom>
            <a:noFill/>
            <a:ln w="14288">
              <a:solidFill>
                <a:srgbClr val="C4472E"/>
              </a:solidFill>
              <a:headEnd type="triangle" w="lg" len="lg"/>
              <a:tailEnd type="triangle" w="lg" len="lg"/>
            </a:ln>
          </p:spPr>
        </p:sp>
        <p:sp>
          <p:nvSpPr>
            <p:cNvPr id="45" name="Rectangle 45"/>
            <p:cNvSpPr/>
            <p:nvPr/>
          </p:nvSpPr>
          <p:spPr>
            <a:xfrm>
              <a:off x="3810000" y="1600200"/>
              <a:ext cx="666750" cy="161925"/>
            </a:xfrm>
            <a:prstGeom prst="roundRect">
              <a:avLst>
                <a:gd name="adj" fmla="val 17647"/>
              </a:avLst>
            </a:prstGeom>
            <a:solidFill>
              <a:srgbClr val="C4472E"/>
            </a:solidFill>
            <a:ln>
              <a:noFill/>
            </a:ln>
          </p:spPr>
        </p:sp>
        <p:sp>
          <p:nvSpPr>
            <p:cNvPr id="46" name="TextBox 46"/>
            <p:cNvSpPr txBox="1"/>
            <p:nvPr/>
          </p:nvSpPr>
          <p:spPr>
            <a:xfrm>
              <a:off x="3867357" y="1641634"/>
              <a:ext cx="552036"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j-lt"/>
                  <a:ea typeface="+mj-ea"/>
                  <a:cs typeface="+mj-cs"/>
                </a:rPr>
                <a:t>KS = 0.428​</a:t>
              </a:r>
            </a:p>
          </p:txBody>
        </p:sp>
        <p:sp>
          <p:nvSpPr>
            <p:cNvPr id="47" name="Line 47"/>
            <p:cNvSpPr/>
            <p:nvPr/>
          </p:nvSpPr>
          <p:spPr>
            <a:xfrm>
              <a:off x="3771900" y="1295400"/>
              <a:ext cx="114300" cy="9525"/>
            </a:xfrm>
            <a:custGeom>
              <a:avLst/>
              <a:gdLst/>
              <a:ahLst/>
              <a:cxnLst/>
              <a:rect l="l" t="t" r="r" b="b"/>
              <a:pathLst>
                <a:path w="114300" h="9525">
                  <a:moveTo>
                    <a:pt x="0" y="0"/>
                  </a:moveTo>
                  <a:lnTo>
                    <a:pt x="114300" y="0"/>
                  </a:lnTo>
                </a:path>
              </a:pathLst>
            </a:custGeom>
            <a:noFill/>
            <a:ln w="19050">
              <a:solidFill>
                <a:srgbClr val="C4472E"/>
              </a:solidFill>
            </a:ln>
          </p:spPr>
        </p:sp>
        <p:sp>
          <p:nvSpPr>
            <p:cNvPr id="48" name="TextBox 48"/>
            <p:cNvSpPr txBox="1"/>
            <p:nvPr/>
          </p:nvSpPr>
          <p:spPr>
            <a:xfrm>
              <a:off x="3919538" y="1271349"/>
              <a:ext cx="471272" cy="97631"/>
            </a:xfrm>
            <a:prstGeom prst="rect">
              <a:avLst/>
            </a:prstGeom>
            <a:noFill/>
            <a:ln>
              <a:noFill/>
            </a:ln>
          </p:spPr>
          <p:txBody>
            <a:bodyPr wrap="none" lIns="0" tIns="0" rIns="0" bIns="0" anchor="t" anchorCtr="0">
              <a:spAutoFit/>
            </a:bodyPr>
            <a:lstStyle/>
            <a:p>
              <a:pPr algn="l"/>
              <a:r>
                <a:rPr lang="zh-CN" sz="490" dirty="0">
                  <a:solidFill>
                    <a:srgbClr val="8C716B"/>
                  </a:solidFill>
                  <a:latin typeface="+mn-lt"/>
                  <a:ea typeface="+mn-ea"/>
                  <a:cs typeface="+mn-cs"/>
                </a:rPr>
                <a:t>好样本累计占比</a:t>
              </a:r>
            </a:p>
          </p:txBody>
        </p:sp>
        <p:sp>
          <p:nvSpPr>
            <p:cNvPr id="49" name="Line 49"/>
            <p:cNvSpPr/>
            <p:nvPr/>
          </p:nvSpPr>
          <p:spPr>
            <a:xfrm>
              <a:off x="3771900" y="1390650"/>
              <a:ext cx="114300" cy="9525"/>
            </a:xfrm>
            <a:custGeom>
              <a:avLst/>
              <a:gdLst/>
              <a:ahLst/>
              <a:cxnLst/>
              <a:rect l="l" t="t" r="r" b="b"/>
              <a:pathLst>
                <a:path w="114300" h="9525">
                  <a:moveTo>
                    <a:pt x="0" y="0"/>
                  </a:moveTo>
                  <a:lnTo>
                    <a:pt x="114300" y="0"/>
                  </a:lnTo>
                </a:path>
              </a:pathLst>
            </a:custGeom>
            <a:noFill/>
            <a:ln w="19050">
              <a:solidFill>
                <a:srgbClr val="E0634E"/>
              </a:solidFill>
            </a:ln>
          </p:spPr>
        </p:sp>
        <p:sp>
          <p:nvSpPr>
            <p:cNvPr id="50" name="TextBox 50"/>
            <p:cNvSpPr txBox="1"/>
            <p:nvPr/>
          </p:nvSpPr>
          <p:spPr>
            <a:xfrm>
              <a:off x="3919538" y="1366599"/>
              <a:ext cx="471272" cy="97631"/>
            </a:xfrm>
            <a:prstGeom prst="rect">
              <a:avLst/>
            </a:prstGeom>
            <a:noFill/>
            <a:ln>
              <a:noFill/>
            </a:ln>
          </p:spPr>
          <p:txBody>
            <a:bodyPr wrap="none" lIns="0" tIns="0" rIns="0" bIns="0" anchor="t" anchorCtr="0">
              <a:spAutoFit/>
            </a:bodyPr>
            <a:lstStyle/>
            <a:p>
              <a:pPr algn="l"/>
              <a:r>
                <a:rPr lang="zh-CN" sz="490" dirty="0">
                  <a:solidFill>
                    <a:srgbClr val="8C716B"/>
                  </a:solidFill>
                  <a:latin typeface="+mn-lt"/>
                  <a:ea typeface="+mn-ea"/>
                  <a:cs typeface="+mn-cs"/>
                </a:rPr>
                <a:t>坏样本累计占比</a:t>
              </a:r>
            </a:p>
          </p:txBody>
        </p:sp>
        <p:sp>
          <p:nvSpPr>
            <p:cNvPr id="51" name="TextBox 51"/>
            <p:cNvSpPr txBox="1"/>
            <p:nvPr/>
          </p:nvSpPr>
          <p:spPr>
            <a:xfrm>
              <a:off x="3216872" y="2238851"/>
              <a:ext cx="919556"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样本按预测概率从低到高排序</a:t>
              </a:r>
            </a:p>
          </p:txBody>
        </p:sp>
        <p:sp>
          <p:nvSpPr>
            <p:cNvPr id="52" name="TextBox 52"/>
            <p:cNvSpPr txBox="1"/>
            <p:nvPr/>
          </p:nvSpPr>
          <p:spPr>
            <a:xfrm>
              <a:off x="2624138" y="2414588"/>
              <a:ext cx="1120140" cy="147638"/>
            </a:xfrm>
            <a:prstGeom prst="rect">
              <a:avLst/>
            </a:prstGeom>
            <a:noFill/>
            <a:ln>
              <a:noFill/>
            </a:ln>
          </p:spPr>
          <p:txBody>
            <a:bodyPr wrap="none" lIns="0" tIns="0" rIns="0" bIns="0" anchor="t" anchorCtr="0">
              <a:spAutoFit/>
            </a:bodyPr>
            <a:lstStyle/>
            <a:p>
              <a:pPr algn="l"/>
              <a:r>
                <a:rPr lang="zh-CN" sz="750" b="1" dirty="0">
                  <a:solidFill>
                    <a:srgbClr val="9E311B"/>
                  </a:solidFill>
                  <a:latin typeface="+mn-lt"/>
                  <a:ea typeface="+mn-ea"/>
                  <a:cs typeface="+mn-cs"/>
                </a:rPr>
                <a:t>衡量模型的最大区分能力</a:t>
              </a:r>
            </a:p>
          </p:txBody>
        </p:sp>
        <p:sp>
          <p:nvSpPr>
            <p:cNvPr id="53" name="TextBox 53"/>
            <p:cNvSpPr txBox="1"/>
            <p:nvPr/>
          </p:nvSpPr>
          <p:spPr>
            <a:xfrm>
              <a:off x="2624138" y="2579132"/>
              <a:ext cx="1057387"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KS反映好坏样本的最大分离</a:t>
              </a:r>
            </a:p>
          </p:txBody>
        </p:sp>
        <p:sp>
          <p:nvSpPr>
            <p:cNvPr id="54" name="TextBox 54"/>
            <p:cNvSpPr txBox="1"/>
            <p:nvPr/>
          </p:nvSpPr>
          <p:spPr>
            <a:xfrm>
              <a:off x="2624138" y="2712482"/>
              <a:ext cx="698779"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程度，越大越好，</a:t>
              </a:r>
            </a:p>
          </p:txBody>
        </p:sp>
        <p:sp>
          <p:nvSpPr>
            <p:cNvPr id="55" name="TextBox 55"/>
            <p:cNvSpPr txBox="1"/>
            <p:nvPr/>
          </p:nvSpPr>
          <p:spPr>
            <a:xfrm>
              <a:off x="2624138" y="2845832"/>
              <a:ext cx="1319108"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通常&gt;0.2认为有较好的区分能力。</a:t>
              </a:r>
            </a:p>
          </p:txBody>
        </p:sp>
      </p:grpSp>
      <p:grpSp>
        <p:nvGrpSpPr>
          <p:cNvPr id="94" name="chart-03"/>
          <p:cNvGrpSpPr/>
          <p:nvPr/>
        </p:nvGrpSpPr>
        <p:grpSpPr>
          <a:xfrm>
            <a:off x="4876800" y="895350"/>
            <a:ext cx="2247900" cy="2114550"/>
            <a:chOff x="4876800" y="895350"/>
            <a:chExt cx="2247900" cy="2114550"/>
          </a:xfrm>
        </p:grpSpPr>
        <p:sp>
          <p:nvSpPr>
            <p:cNvPr id="57" name="Rectangle 57"/>
            <p:cNvSpPr/>
            <p:nvPr/>
          </p:nvSpPr>
          <p:spPr>
            <a:xfrm>
              <a:off x="4876800" y="895350"/>
              <a:ext cx="2247900" cy="2114550"/>
            </a:xfrm>
            <a:prstGeom prst="roundRect">
              <a:avLst>
                <a:gd name="adj" fmla="val 3604"/>
              </a:avLst>
            </a:prstGeom>
            <a:solidFill>
              <a:srgbClr val="FFFFFF"/>
            </a:solidFill>
            <a:ln w="9525">
              <a:solidFill>
                <a:srgbClr val="CFE2F2"/>
              </a:solidFill>
            </a:ln>
          </p:spPr>
        </p:sp>
        <p:sp>
          <p:nvSpPr>
            <p:cNvPr id="58" name="Rectangle 58"/>
            <p:cNvSpPr/>
            <p:nvPr/>
          </p:nvSpPr>
          <p:spPr>
            <a:xfrm>
              <a:off x="4876800" y="895350"/>
              <a:ext cx="2247900" cy="209550"/>
            </a:xfrm>
            <a:prstGeom prst="roundRect">
              <a:avLst>
                <a:gd name="adj" fmla="val 36364"/>
              </a:avLst>
            </a:prstGeom>
            <a:solidFill>
              <a:srgbClr val="C4472E"/>
            </a:solidFill>
            <a:ln>
              <a:noFill/>
            </a:ln>
          </p:spPr>
        </p:sp>
        <p:sp>
          <p:nvSpPr>
            <p:cNvPr id="59" name="Rectangle 59"/>
            <p:cNvSpPr/>
            <p:nvPr/>
          </p:nvSpPr>
          <p:spPr>
            <a:xfrm>
              <a:off x="4876800" y="1009650"/>
              <a:ext cx="2247900" cy="95250"/>
            </a:xfrm>
            <a:prstGeom prst="rect">
              <a:avLst/>
            </a:prstGeom>
            <a:solidFill>
              <a:srgbClr val="C4472E"/>
            </a:solidFill>
            <a:ln>
              <a:noFill/>
            </a:ln>
          </p:spPr>
        </p:sp>
        <p:sp>
          <p:nvSpPr>
            <p:cNvPr id="60" name="TextBox 60"/>
            <p:cNvSpPr txBox="1"/>
            <p:nvPr/>
          </p:nvSpPr>
          <p:spPr>
            <a:xfrm>
              <a:off x="5005388" y="957262"/>
              <a:ext cx="12614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03</a:t>
              </a:r>
            </a:p>
          </p:txBody>
        </p:sp>
        <p:sp>
          <p:nvSpPr>
            <p:cNvPr id="61" name="TextBox 61"/>
            <p:cNvSpPr txBox="1"/>
            <p:nvPr/>
          </p:nvSpPr>
          <p:spPr>
            <a:xfrm>
              <a:off x="5195888" y="949166"/>
              <a:ext cx="769664"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PSI 稳定性分析</a:t>
              </a:r>
            </a:p>
          </p:txBody>
        </p:sp>
        <p:sp>
          <p:nvSpPr>
            <p:cNvPr id="62" name="Line 62"/>
            <p:cNvSpPr/>
            <p:nvPr/>
          </p:nvSpPr>
          <p:spPr>
            <a:xfrm>
              <a:off x="5048250" y="2152650"/>
              <a:ext cx="1924050" cy="9525"/>
            </a:xfrm>
            <a:custGeom>
              <a:avLst/>
              <a:gdLst/>
              <a:ahLst/>
              <a:cxnLst/>
              <a:rect l="l" t="t" r="r" b="b"/>
              <a:pathLst>
                <a:path w="1924050" h="9525">
                  <a:moveTo>
                    <a:pt x="0" y="0"/>
                  </a:moveTo>
                  <a:lnTo>
                    <a:pt x="1924050" y="0"/>
                  </a:lnTo>
                </a:path>
              </a:pathLst>
            </a:custGeom>
            <a:noFill/>
            <a:ln w="9525">
              <a:solidFill>
                <a:srgbClr val="B9C6D2"/>
              </a:solidFill>
            </a:ln>
          </p:spPr>
        </p:sp>
        <p:sp>
          <p:nvSpPr>
            <p:cNvPr id="63" name="Rectangle 63"/>
            <p:cNvSpPr/>
            <p:nvPr/>
          </p:nvSpPr>
          <p:spPr>
            <a:xfrm>
              <a:off x="5162550" y="1238250"/>
              <a:ext cx="76200" cy="76200"/>
            </a:xfrm>
            <a:prstGeom prst="rect">
              <a:avLst/>
            </a:prstGeom>
            <a:solidFill>
              <a:srgbClr val="E3B3A9"/>
            </a:solidFill>
            <a:ln>
              <a:noFill/>
            </a:ln>
          </p:spPr>
        </p:sp>
        <p:sp>
          <p:nvSpPr>
            <p:cNvPr id="64" name="TextBox 64"/>
            <p:cNvSpPr txBox="1"/>
            <p:nvPr/>
          </p:nvSpPr>
          <p:spPr>
            <a:xfrm>
              <a:off x="5272088" y="1261824"/>
              <a:ext cx="273380" cy="97631"/>
            </a:xfrm>
            <a:prstGeom prst="rect">
              <a:avLst/>
            </a:prstGeom>
            <a:noFill/>
            <a:ln>
              <a:noFill/>
            </a:ln>
          </p:spPr>
          <p:txBody>
            <a:bodyPr wrap="none" lIns="0" tIns="0" rIns="0" bIns="0" anchor="t" anchorCtr="0">
              <a:spAutoFit/>
            </a:bodyPr>
            <a:lstStyle/>
            <a:p>
              <a:pPr algn="l"/>
              <a:r>
                <a:rPr lang="zh-CN" sz="490" dirty="0">
                  <a:solidFill>
                    <a:srgbClr val="8C716B"/>
                  </a:solidFill>
                  <a:latin typeface="+mn-lt"/>
                  <a:ea typeface="+mn-ea"/>
                  <a:cs typeface="+mn-cs"/>
                </a:rPr>
                <a:t>开发样本</a:t>
              </a:r>
            </a:p>
          </p:txBody>
        </p:sp>
        <p:sp>
          <p:nvSpPr>
            <p:cNvPr id="65" name="Rectangle 65"/>
            <p:cNvSpPr/>
            <p:nvPr/>
          </p:nvSpPr>
          <p:spPr>
            <a:xfrm>
              <a:off x="5676900" y="1238250"/>
              <a:ext cx="76200" cy="76200"/>
            </a:xfrm>
            <a:prstGeom prst="rect">
              <a:avLst/>
            </a:prstGeom>
            <a:solidFill>
              <a:srgbClr val="C4472E"/>
            </a:solidFill>
            <a:ln>
              <a:noFill/>
            </a:ln>
          </p:spPr>
        </p:sp>
        <p:sp>
          <p:nvSpPr>
            <p:cNvPr id="66" name="TextBox 66"/>
            <p:cNvSpPr txBox="1"/>
            <p:nvPr/>
          </p:nvSpPr>
          <p:spPr>
            <a:xfrm>
              <a:off x="5786438" y="1261824"/>
              <a:ext cx="273380" cy="97631"/>
            </a:xfrm>
            <a:prstGeom prst="rect">
              <a:avLst/>
            </a:prstGeom>
            <a:noFill/>
            <a:ln>
              <a:noFill/>
            </a:ln>
          </p:spPr>
          <p:txBody>
            <a:bodyPr wrap="none" lIns="0" tIns="0" rIns="0" bIns="0" anchor="t" anchorCtr="0">
              <a:spAutoFit/>
            </a:bodyPr>
            <a:lstStyle/>
            <a:p>
              <a:pPr algn="l"/>
              <a:r>
                <a:rPr lang="zh-CN" sz="490" dirty="0">
                  <a:solidFill>
                    <a:srgbClr val="8C716B"/>
                  </a:solidFill>
                  <a:latin typeface="+mn-lt"/>
                  <a:ea typeface="+mn-ea"/>
                  <a:cs typeface="+mn-cs"/>
                </a:rPr>
                <a:t>当前样本</a:t>
              </a:r>
            </a:p>
          </p:txBody>
        </p:sp>
        <p:sp>
          <p:nvSpPr>
            <p:cNvPr id="67" name="Rectangle 67"/>
            <p:cNvSpPr/>
            <p:nvPr/>
          </p:nvSpPr>
          <p:spPr>
            <a:xfrm>
              <a:off x="6172200" y="1390650"/>
              <a:ext cx="628650" cy="161925"/>
            </a:xfrm>
            <a:prstGeom prst="roundRect">
              <a:avLst>
                <a:gd name="adj" fmla="val 17647"/>
              </a:avLst>
            </a:prstGeom>
            <a:solidFill>
              <a:srgbClr val="C4472E"/>
            </a:solidFill>
            <a:ln>
              <a:noFill/>
            </a:ln>
          </p:spPr>
        </p:sp>
        <p:sp>
          <p:nvSpPr>
            <p:cNvPr id="68" name="TextBox 68"/>
            <p:cNvSpPr txBox="1"/>
            <p:nvPr/>
          </p:nvSpPr>
          <p:spPr>
            <a:xfrm>
              <a:off x="6226641" y="1432084"/>
              <a:ext cx="519769"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j-lt"/>
                  <a:ea typeface="+mj-ea"/>
                  <a:cs typeface="+mj-cs"/>
                </a:rPr>
                <a:t>PSI = 0.08​</a:t>
              </a:r>
            </a:p>
          </p:txBody>
        </p:sp>
        <p:sp>
          <p:nvSpPr>
            <p:cNvPr id="69" name="Rectangle 69"/>
            <p:cNvSpPr/>
            <p:nvPr/>
          </p:nvSpPr>
          <p:spPr>
            <a:xfrm>
              <a:off x="5086350" y="1828800"/>
              <a:ext cx="76200" cy="323850"/>
            </a:xfrm>
            <a:prstGeom prst="rect">
              <a:avLst/>
            </a:prstGeom>
            <a:solidFill>
              <a:srgbClr val="E3B3A9"/>
            </a:solidFill>
            <a:ln>
              <a:noFill/>
            </a:ln>
          </p:spPr>
        </p:sp>
        <p:sp>
          <p:nvSpPr>
            <p:cNvPr id="70" name="Rectangle 70"/>
            <p:cNvSpPr/>
            <p:nvPr/>
          </p:nvSpPr>
          <p:spPr>
            <a:xfrm>
              <a:off x="5181600" y="1857375"/>
              <a:ext cx="76200" cy="295275"/>
            </a:xfrm>
            <a:prstGeom prst="rect">
              <a:avLst/>
            </a:prstGeom>
            <a:solidFill>
              <a:srgbClr val="C4472E"/>
            </a:solidFill>
            <a:ln>
              <a:noFill/>
            </a:ln>
          </p:spPr>
        </p:sp>
        <p:sp>
          <p:nvSpPr>
            <p:cNvPr id="71" name="Rectangle 71"/>
            <p:cNvSpPr/>
            <p:nvPr/>
          </p:nvSpPr>
          <p:spPr>
            <a:xfrm>
              <a:off x="5295900" y="1866900"/>
              <a:ext cx="76200" cy="285750"/>
            </a:xfrm>
            <a:prstGeom prst="rect">
              <a:avLst/>
            </a:prstGeom>
            <a:solidFill>
              <a:srgbClr val="E3B3A9"/>
            </a:solidFill>
            <a:ln>
              <a:noFill/>
            </a:ln>
          </p:spPr>
        </p:sp>
        <p:sp>
          <p:nvSpPr>
            <p:cNvPr id="72" name="Rectangle 72"/>
            <p:cNvSpPr/>
            <p:nvPr/>
          </p:nvSpPr>
          <p:spPr>
            <a:xfrm>
              <a:off x="5391150" y="1895475"/>
              <a:ext cx="76200" cy="257175"/>
            </a:xfrm>
            <a:prstGeom prst="rect">
              <a:avLst/>
            </a:prstGeom>
            <a:solidFill>
              <a:srgbClr val="C4472E"/>
            </a:solidFill>
            <a:ln>
              <a:noFill/>
            </a:ln>
          </p:spPr>
        </p:sp>
        <p:sp>
          <p:nvSpPr>
            <p:cNvPr id="73" name="Rectangle 73"/>
            <p:cNvSpPr/>
            <p:nvPr/>
          </p:nvSpPr>
          <p:spPr>
            <a:xfrm>
              <a:off x="5505450" y="1962150"/>
              <a:ext cx="76200" cy="190500"/>
            </a:xfrm>
            <a:prstGeom prst="rect">
              <a:avLst/>
            </a:prstGeom>
            <a:solidFill>
              <a:srgbClr val="E3B3A9"/>
            </a:solidFill>
            <a:ln>
              <a:noFill/>
            </a:ln>
          </p:spPr>
        </p:sp>
        <p:sp>
          <p:nvSpPr>
            <p:cNvPr id="74" name="Rectangle 74"/>
            <p:cNvSpPr/>
            <p:nvPr/>
          </p:nvSpPr>
          <p:spPr>
            <a:xfrm>
              <a:off x="5600700" y="1933575"/>
              <a:ext cx="76200" cy="219075"/>
            </a:xfrm>
            <a:prstGeom prst="rect">
              <a:avLst/>
            </a:prstGeom>
            <a:solidFill>
              <a:srgbClr val="C4472E"/>
            </a:solidFill>
            <a:ln>
              <a:noFill/>
            </a:ln>
          </p:spPr>
        </p:sp>
        <p:sp>
          <p:nvSpPr>
            <p:cNvPr id="75" name="Rectangle 75"/>
            <p:cNvSpPr/>
            <p:nvPr/>
          </p:nvSpPr>
          <p:spPr>
            <a:xfrm>
              <a:off x="5715000" y="2038350"/>
              <a:ext cx="76200" cy="114300"/>
            </a:xfrm>
            <a:prstGeom prst="rect">
              <a:avLst/>
            </a:prstGeom>
            <a:solidFill>
              <a:srgbClr val="E3B3A9"/>
            </a:solidFill>
            <a:ln>
              <a:noFill/>
            </a:ln>
          </p:spPr>
        </p:sp>
        <p:sp>
          <p:nvSpPr>
            <p:cNvPr id="76" name="Rectangle 76"/>
            <p:cNvSpPr/>
            <p:nvPr/>
          </p:nvSpPr>
          <p:spPr>
            <a:xfrm>
              <a:off x="5810250" y="2019300"/>
              <a:ext cx="76200" cy="133350"/>
            </a:xfrm>
            <a:prstGeom prst="rect">
              <a:avLst/>
            </a:prstGeom>
            <a:solidFill>
              <a:srgbClr val="C4472E"/>
            </a:solidFill>
            <a:ln>
              <a:noFill/>
            </a:ln>
          </p:spPr>
        </p:sp>
        <p:sp>
          <p:nvSpPr>
            <p:cNvPr id="77" name="Rectangle 77"/>
            <p:cNvSpPr/>
            <p:nvPr/>
          </p:nvSpPr>
          <p:spPr>
            <a:xfrm>
              <a:off x="5924550" y="2076450"/>
              <a:ext cx="76200" cy="76200"/>
            </a:xfrm>
            <a:prstGeom prst="rect">
              <a:avLst/>
            </a:prstGeom>
            <a:solidFill>
              <a:srgbClr val="E3B3A9"/>
            </a:solidFill>
            <a:ln>
              <a:noFill/>
            </a:ln>
          </p:spPr>
        </p:sp>
        <p:sp>
          <p:nvSpPr>
            <p:cNvPr id="78" name="Rectangle 78"/>
            <p:cNvSpPr/>
            <p:nvPr/>
          </p:nvSpPr>
          <p:spPr>
            <a:xfrm>
              <a:off x="6019800" y="2057400"/>
              <a:ext cx="76200" cy="95250"/>
            </a:xfrm>
            <a:prstGeom prst="rect">
              <a:avLst/>
            </a:prstGeom>
            <a:solidFill>
              <a:srgbClr val="C4472E"/>
            </a:solidFill>
            <a:ln>
              <a:noFill/>
            </a:ln>
          </p:spPr>
        </p:sp>
        <p:sp>
          <p:nvSpPr>
            <p:cNvPr id="79" name="Rectangle 79"/>
            <p:cNvSpPr/>
            <p:nvPr/>
          </p:nvSpPr>
          <p:spPr>
            <a:xfrm>
              <a:off x="6134100" y="2105025"/>
              <a:ext cx="76200" cy="47625"/>
            </a:xfrm>
            <a:prstGeom prst="rect">
              <a:avLst/>
            </a:prstGeom>
            <a:solidFill>
              <a:srgbClr val="E3B3A9"/>
            </a:solidFill>
            <a:ln>
              <a:noFill/>
            </a:ln>
          </p:spPr>
        </p:sp>
        <p:sp>
          <p:nvSpPr>
            <p:cNvPr id="80" name="Rectangle 80"/>
            <p:cNvSpPr/>
            <p:nvPr/>
          </p:nvSpPr>
          <p:spPr>
            <a:xfrm>
              <a:off x="6229350" y="2095500"/>
              <a:ext cx="76200" cy="57150"/>
            </a:xfrm>
            <a:prstGeom prst="rect">
              <a:avLst/>
            </a:prstGeom>
            <a:solidFill>
              <a:srgbClr val="C4472E"/>
            </a:solidFill>
            <a:ln>
              <a:noFill/>
            </a:ln>
          </p:spPr>
        </p:sp>
        <p:sp>
          <p:nvSpPr>
            <p:cNvPr id="81" name="Rectangle 81"/>
            <p:cNvSpPr/>
            <p:nvPr/>
          </p:nvSpPr>
          <p:spPr>
            <a:xfrm>
              <a:off x="6343650" y="2114550"/>
              <a:ext cx="76200" cy="38100"/>
            </a:xfrm>
            <a:prstGeom prst="rect">
              <a:avLst/>
            </a:prstGeom>
            <a:solidFill>
              <a:srgbClr val="E3B3A9"/>
            </a:solidFill>
            <a:ln>
              <a:noFill/>
            </a:ln>
          </p:spPr>
        </p:sp>
        <p:sp>
          <p:nvSpPr>
            <p:cNvPr id="82" name="Rectangle 82"/>
            <p:cNvSpPr/>
            <p:nvPr/>
          </p:nvSpPr>
          <p:spPr>
            <a:xfrm>
              <a:off x="6438900" y="2114550"/>
              <a:ext cx="76200" cy="38100"/>
            </a:xfrm>
            <a:prstGeom prst="rect">
              <a:avLst/>
            </a:prstGeom>
            <a:solidFill>
              <a:srgbClr val="C4472E"/>
            </a:solidFill>
            <a:ln>
              <a:noFill/>
            </a:ln>
          </p:spPr>
        </p:sp>
        <p:sp>
          <p:nvSpPr>
            <p:cNvPr id="83" name="Rectangle 83"/>
            <p:cNvSpPr/>
            <p:nvPr/>
          </p:nvSpPr>
          <p:spPr>
            <a:xfrm>
              <a:off x="6553200" y="2124075"/>
              <a:ext cx="76200" cy="28575"/>
            </a:xfrm>
            <a:prstGeom prst="rect">
              <a:avLst/>
            </a:prstGeom>
            <a:solidFill>
              <a:srgbClr val="E3B3A9"/>
            </a:solidFill>
            <a:ln>
              <a:noFill/>
            </a:ln>
          </p:spPr>
        </p:sp>
        <p:sp>
          <p:nvSpPr>
            <p:cNvPr id="84" name="Rectangle 84"/>
            <p:cNvSpPr/>
            <p:nvPr/>
          </p:nvSpPr>
          <p:spPr>
            <a:xfrm>
              <a:off x="6648450" y="2124075"/>
              <a:ext cx="76200" cy="28575"/>
            </a:xfrm>
            <a:prstGeom prst="rect">
              <a:avLst/>
            </a:prstGeom>
            <a:solidFill>
              <a:srgbClr val="C4472E"/>
            </a:solidFill>
            <a:ln>
              <a:noFill/>
            </a:ln>
          </p:spPr>
        </p:sp>
        <p:sp>
          <p:nvSpPr>
            <p:cNvPr id="85" name="Rectangle 85"/>
            <p:cNvSpPr/>
            <p:nvPr/>
          </p:nvSpPr>
          <p:spPr>
            <a:xfrm>
              <a:off x="6762750" y="2133600"/>
              <a:ext cx="76200" cy="19050"/>
            </a:xfrm>
            <a:prstGeom prst="rect">
              <a:avLst/>
            </a:prstGeom>
            <a:solidFill>
              <a:srgbClr val="E3B3A9"/>
            </a:solidFill>
            <a:ln>
              <a:noFill/>
            </a:ln>
          </p:spPr>
        </p:sp>
        <p:sp>
          <p:nvSpPr>
            <p:cNvPr id="86" name="Rectangle 86"/>
            <p:cNvSpPr/>
            <p:nvPr/>
          </p:nvSpPr>
          <p:spPr>
            <a:xfrm>
              <a:off x="6858000" y="2133600"/>
              <a:ext cx="76200" cy="19050"/>
            </a:xfrm>
            <a:prstGeom prst="rect">
              <a:avLst/>
            </a:prstGeom>
            <a:solidFill>
              <a:srgbClr val="C4472E"/>
            </a:solidFill>
            <a:ln>
              <a:noFill/>
            </a:ln>
          </p:spPr>
        </p:sp>
        <p:sp>
          <p:nvSpPr>
            <p:cNvPr id="87" name="TextBox 87"/>
            <p:cNvSpPr txBox="1"/>
            <p:nvPr/>
          </p:nvSpPr>
          <p:spPr>
            <a:xfrm>
              <a:off x="5018588" y="2231946"/>
              <a:ext cx="211723" cy="83344"/>
            </a:xfrm>
            <a:prstGeom prst="rect">
              <a:avLst/>
            </a:prstGeom>
            <a:noFill/>
            <a:ln>
              <a:noFill/>
            </a:ln>
          </p:spPr>
          <p:txBody>
            <a:bodyPr wrap="none" lIns="0" tIns="0" rIns="0" bIns="0" anchor="t" anchorCtr="0">
              <a:spAutoFit/>
            </a:bodyPr>
            <a:lstStyle/>
            <a:p>
              <a:pPr algn="ctr"/>
              <a:r>
                <a:rPr lang="zh-CN" sz="410" dirty="0">
                  <a:solidFill>
                    <a:srgbClr val="C4988F"/>
                  </a:solidFill>
                  <a:latin typeface="+mj-lt"/>
                  <a:ea typeface="+mj-ea"/>
                  <a:cs typeface="+mj-cs"/>
                </a:rPr>
                <a:t>0.0-0.1​</a:t>
              </a:r>
            </a:p>
          </p:txBody>
        </p:sp>
        <p:sp>
          <p:nvSpPr>
            <p:cNvPr id="88" name="TextBox 88"/>
            <p:cNvSpPr txBox="1"/>
            <p:nvPr/>
          </p:nvSpPr>
          <p:spPr>
            <a:xfrm>
              <a:off x="6790238" y="2231946"/>
              <a:ext cx="211723" cy="83344"/>
            </a:xfrm>
            <a:prstGeom prst="rect">
              <a:avLst/>
            </a:prstGeom>
            <a:noFill/>
            <a:ln>
              <a:noFill/>
            </a:ln>
          </p:spPr>
          <p:txBody>
            <a:bodyPr wrap="none" lIns="0" tIns="0" rIns="0" bIns="0" anchor="t" anchorCtr="0">
              <a:spAutoFit/>
            </a:bodyPr>
            <a:lstStyle/>
            <a:p>
              <a:pPr algn="ctr"/>
              <a:r>
                <a:rPr lang="zh-CN" sz="410" dirty="0">
                  <a:solidFill>
                    <a:srgbClr val="C4988F"/>
                  </a:solidFill>
                  <a:latin typeface="+mj-lt"/>
                  <a:ea typeface="+mj-ea"/>
                  <a:cs typeface="+mj-cs"/>
                </a:rPr>
                <a:t>0.9-1.0​</a:t>
              </a:r>
            </a:p>
          </p:txBody>
        </p:sp>
        <p:sp>
          <p:nvSpPr>
            <p:cNvPr id="89" name="TextBox 89"/>
            <p:cNvSpPr txBox="1"/>
            <p:nvPr/>
          </p:nvSpPr>
          <p:spPr>
            <a:xfrm>
              <a:off x="5776255" y="2238851"/>
              <a:ext cx="468041"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j-lt"/>
                  <a:ea typeface="+mj-ea"/>
                  <a:cs typeface="+mj-cs"/>
                </a:rPr>
                <a:t>预测得分分箱​</a:t>
              </a:r>
            </a:p>
          </p:txBody>
        </p:sp>
        <p:sp>
          <p:nvSpPr>
            <p:cNvPr id="90" name="TextBox 90"/>
            <p:cNvSpPr txBox="1"/>
            <p:nvPr/>
          </p:nvSpPr>
          <p:spPr>
            <a:xfrm>
              <a:off x="4967288" y="2414588"/>
              <a:ext cx="1019175" cy="147638"/>
            </a:xfrm>
            <a:prstGeom prst="rect">
              <a:avLst/>
            </a:prstGeom>
            <a:noFill/>
            <a:ln>
              <a:noFill/>
            </a:ln>
          </p:spPr>
          <p:txBody>
            <a:bodyPr wrap="none" lIns="0" tIns="0" rIns="0" bIns="0" anchor="t" anchorCtr="0">
              <a:spAutoFit/>
            </a:bodyPr>
            <a:lstStyle/>
            <a:p>
              <a:pPr algn="l"/>
              <a:r>
                <a:rPr lang="zh-CN" sz="750" b="1" dirty="0">
                  <a:solidFill>
                    <a:srgbClr val="9E311B"/>
                  </a:solidFill>
                  <a:latin typeface="+mn-lt"/>
                  <a:ea typeface="+mn-ea"/>
                  <a:cs typeface="+mn-cs"/>
                </a:rPr>
                <a:t>衡量模型的时间稳定性</a:t>
              </a:r>
            </a:p>
          </p:txBody>
        </p:sp>
        <p:sp>
          <p:nvSpPr>
            <p:cNvPr id="91" name="TextBox 91"/>
            <p:cNvSpPr txBox="1"/>
            <p:nvPr/>
          </p:nvSpPr>
          <p:spPr>
            <a:xfrm>
              <a:off x="4967288" y="2579132"/>
              <a:ext cx="998540"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PSI用于比较不同时间样本</a:t>
              </a:r>
            </a:p>
          </p:txBody>
        </p:sp>
        <p:sp>
          <p:nvSpPr>
            <p:cNvPr id="92" name="TextBox 92"/>
            <p:cNvSpPr txBox="1"/>
            <p:nvPr/>
          </p:nvSpPr>
          <p:spPr>
            <a:xfrm>
              <a:off x="4967288" y="2712482"/>
              <a:ext cx="1026500"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的分布差异，通常PSI&lt;0.1</a:t>
              </a:r>
            </a:p>
          </p:txBody>
        </p:sp>
        <p:sp>
          <p:nvSpPr>
            <p:cNvPr id="93" name="TextBox 93"/>
            <p:cNvSpPr txBox="1"/>
            <p:nvPr/>
          </p:nvSpPr>
          <p:spPr>
            <a:xfrm>
              <a:off x="4967288" y="2845832"/>
              <a:ext cx="612623"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表示模型稳定。</a:t>
              </a:r>
            </a:p>
          </p:txBody>
        </p:sp>
      </p:grpSp>
      <p:grpSp>
        <p:nvGrpSpPr>
          <p:cNvPr id="122" name="chart-04"/>
          <p:cNvGrpSpPr/>
          <p:nvPr/>
        </p:nvGrpSpPr>
        <p:grpSpPr>
          <a:xfrm>
            <a:off x="7131145" y="895350"/>
            <a:ext cx="2336705" cy="2114550"/>
            <a:chOff x="7131145" y="895350"/>
            <a:chExt cx="2336705" cy="2114550"/>
          </a:xfrm>
        </p:grpSpPr>
        <p:sp>
          <p:nvSpPr>
            <p:cNvPr id="95" name="Rectangle 95"/>
            <p:cNvSpPr/>
            <p:nvPr/>
          </p:nvSpPr>
          <p:spPr>
            <a:xfrm>
              <a:off x="7219950" y="895350"/>
              <a:ext cx="2247900" cy="2114550"/>
            </a:xfrm>
            <a:prstGeom prst="roundRect">
              <a:avLst>
                <a:gd name="adj" fmla="val 3604"/>
              </a:avLst>
            </a:prstGeom>
            <a:solidFill>
              <a:srgbClr val="FFFFFF"/>
            </a:solidFill>
            <a:ln w="9525">
              <a:solidFill>
                <a:srgbClr val="CFE2F2"/>
              </a:solidFill>
            </a:ln>
          </p:spPr>
        </p:sp>
        <p:sp>
          <p:nvSpPr>
            <p:cNvPr id="96" name="Rectangle 96"/>
            <p:cNvSpPr/>
            <p:nvPr/>
          </p:nvSpPr>
          <p:spPr>
            <a:xfrm>
              <a:off x="7219950" y="895350"/>
              <a:ext cx="2247900" cy="209550"/>
            </a:xfrm>
            <a:prstGeom prst="roundRect">
              <a:avLst>
                <a:gd name="adj" fmla="val 36364"/>
              </a:avLst>
            </a:prstGeom>
            <a:solidFill>
              <a:srgbClr val="C4472E"/>
            </a:solidFill>
            <a:ln>
              <a:noFill/>
            </a:ln>
          </p:spPr>
        </p:sp>
        <p:sp>
          <p:nvSpPr>
            <p:cNvPr id="97" name="Rectangle 97"/>
            <p:cNvSpPr/>
            <p:nvPr/>
          </p:nvSpPr>
          <p:spPr>
            <a:xfrm>
              <a:off x="7219950" y="1009650"/>
              <a:ext cx="2247900" cy="95250"/>
            </a:xfrm>
            <a:prstGeom prst="rect">
              <a:avLst/>
            </a:prstGeom>
            <a:solidFill>
              <a:srgbClr val="C4472E"/>
            </a:solidFill>
            <a:ln>
              <a:noFill/>
            </a:ln>
          </p:spPr>
        </p:sp>
        <p:sp>
          <p:nvSpPr>
            <p:cNvPr id="98" name="TextBox 98"/>
            <p:cNvSpPr txBox="1"/>
            <p:nvPr/>
          </p:nvSpPr>
          <p:spPr>
            <a:xfrm>
              <a:off x="7348538" y="957262"/>
              <a:ext cx="12614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04</a:t>
              </a:r>
            </a:p>
          </p:txBody>
        </p:sp>
        <p:sp>
          <p:nvSpPr>
            <p:cNvPr id="99" name="TextBox 99"/>
            <p:cNvSpPr txBox="1"/>
            <p:nvPr/>
          </p:nvSpPr>
          <p:spPr>
            <a:xfrm>
              <a:off x="7539038" y="949166"/>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校准曲线</a:t>
              </a:r>
            </a:p>
          </p:txBody>
        </p:sp>
        <p:sp>
          <p:nvSpPr>
            <p:cNvPr id="100" name="Line 100"/>
            <p:cNvSpPr/>
            <p:nvPr/>
          </p:nvSpPr>
          <p:spPr>
            <a:xfrm>
              <a:off x="7410450" y="2152650"/>
              <a:ext cx="1905000" cy="9525"/>
            </a:xfrm>
            <a:custGeom>
              <a:avLst/>
              <a:gdLst/>
              <a:ahLst/>
              <a:cxnLst/>
              <a:rect l="l" t="t" r="r" b="b"/>
              <a:pathLst>
                <a:path w="1905000" h="9525">
                  <a:moveTo>
                    <a:pt x="0" y="0"/>
                  </a:moveTo>
                  <a:lnTo>
                    <a:pt x="1905000" y="0"/>
                  </a:lnTo>
                </a:path>
              </a:pathLst>
            </a:custGeom>
            <a:noFill/>
            <a:ln w="9525">
              <a:solidFill>
                <a:srgbClr val="B9C6D2"/>
              </a:solidFill>
            </a:ln>
          </p:spPr>
        </p:sp>
        <p:sp>
          <p:nvSpPr>
            <p:cNvPr id="101" name="Line 101"/>
            <p:cNvSpPr/>
            <p:nvPr/>
          </p:nvSpPr>
          <p:spPr>
            <a:xfrm>
              <a:off x="7410450" y="1200150"/>
              <a:ext cx="9525" cy="952500"/>
            </a:xfrm>
            <a:custGeom>
              <a:avLst/>
              <a:gdLst/>
              <a:ahLst/>
              <a:cxnLst/>
              <a:rect l="l" t="t" r="r" b="b"/>
              <a:pathLst>
                <a:path w="9525" h="952500">
                  <a:moveTo>
                    <a:pt x="0" y="952500"/>
                  </a:moveTo>
                  <a:lnTo>
                    <a:pt x="0" y="0"/>
                  </a:lnTo>
                </a:path>
              </a:pathLst>
            </a:custGeom>
            <a:noFill/>
            <a:ln w="9525">
              <a:solidFill>
                <a:srgbClr val="B9C6D2"/>
              </a:solidFill>
            </a:ln>
          </p:spPr>
        </p:sp>
        <p:sp>
          <p:nvSpPr>
            <p:cNvPr id="102" name="Line 102"/>
            <p:cNvSpPr/>
            <p:nvPr/>
          </p:nvSpPr>
          <p:spPr>
            <a:xfrm>
              <a:off x="7410450" y="1200150"/>
              <a:ext cx="1905000" cy="952500"/>
            </a:xfrm>
            <a:custGeom>
              <a:avLst/>
              <a:gdLst/>
              <a:ahLst/>
              <a:cxnLst/>
              <a:rect l="l" t="t" r="r" b="b"/>
              <a:pathLst>
                <a:path w="1905000" h="952500">
                  <a:moveTo>
                    <a:pt x="0" y="952500"/>
                  </a:moveTo>
                  <a:lnTo>
                    <a:pt x="1905000" y="0"/>
                  </a:lnTo>
                </a:path>
              </a:pathLst>
            </a:custGeom>
            <a:noFill/>
            <a:ln w="9525">
              <a:solidFill>
                <a:srgbClr val="B9C6D2"/>
              </a:solidFill>
              <a:prstDash val="dash"/>
            </a:ln>
          </p:spPr>
        </p:sp>
        <p:sp>
          <p:nvSpPr>
            <p:cNvPr id="103" name="Freeform 103"/>
            <p:cNvSpPr/>
            <p:nvPr/>
          </p:nvSpPr>
          <p:spPr>
            <a:xfrm>
              <a:off x="7410450" y="1257300"/>
              <a:ext cx="1885950" cy="857250"/>
            </a:xfrm>
            <a:custGeom>
              <a:avLst/>
              <a:gdLst/>
              <a:ahLst/>
              <a:cxnLst/>
              <a:rect l="l" t="t" r="r" b="b"/>
              <a:pathLst>
                <a:path w="1885950" h="857250">
                  <a:moveTo>
                    <a:pt x="0" y="857250"/>
                  </a:moveTo>
                  <a:cubicBezTo>
                    <a:pt x="304800" y="723900"/>
                    <a:pt x="685800" y="514350"/>
                    <a:pt x="1162050" y="304800"/>
                  </a:cubicBezTo>
                  <a:cubicBezTo>
                    <a:pt x="1447800" y="180975"/>
                    <a:pt x="1714500" y="76200"/>
                    <a:pt x="1885950" y="0"/>
                  </a:cubicBezTo>
                </a:path>
              </a:pathLst>
            </a:custGeom>
            <a:noFill/>
            <a:ln w="14288">
              <a:solidFill>
                <a:srgbClr val="C4472E"/>
              </a:solidFill>
              <a:custDash>
                <a:ds d="133333" sp="200000"/>
              </a:custDash>
            </a:ln>
          </p:spPr>
        </p:sp>
        <p:sp>
          <p:nvSpPr>
            <p:cNvPr id="104" name="Ellipse 104"/>
            <p:cNvSpPr/>
            <p:nvPr/>
          </p:nvSpPr>
          <p:spPr>
            <a:xfrm>
              <a:off x="7500938" y="2033588"/>
              <a:ext cx="47625" cy="47625"/>
            </a:xfrm>
            <a:prstGeom prst="ellipse">
              <a:avLst/>
            </a:prstGeom>
            <a:solidFill>
              <a:srgbClr val="C4472E"/>
            </a:solidFill>
            <a:ln>
              <a:noFill/>
            </a:ln>
          </p:spPr>
        </p:sp>
        <p:sp>
          <p:nvSpPr>
            <p:cNvPr id="105" name="Ellipse 105"/>
            <p:cNvSpPr/>
            <p:nvPr/>
          </p:nvSpPr>
          <p:spPr>
            <a:xfrm>
              <a:off x="7729538" y="1938338"/>
              <a:ext cx="47625" cy="47625"/>
            </a:xfrm>
            <a:prstGeom prst="ellipse">
              <a:avLst/>
            </a:prstGeom>
            <a:solidFill>
              <a:srgbClr val="C4472E"/>
            </a:solidFill>
            <a:ln>
              <a:noFill/>
            </a:ln>
          </p:spPr>
        </p:sp>
        <p:sp>
          <p:nvSpPr>
            <p:cNvPr id="106" name="Ellipse 106"/>
            <p:cNvSpPr/>
            <p:nvPr/>
          </p:nvSpPr>
          <p:spPr>
            <a:xfrm>
              <a:off x="7958138" y="1843088"/>
              <a:ext cx="47625" cy="47625"/>
            </a:xfrm>
            <a:prstGeom prst="ellipse">
              <a:avLst/>
            </a:prstGeom>
            <a:solidFill>
              <a:srgbClr val="C4472E"/>
            </a:solidFill>
            <a:ln>
              <a:noFill/>
            </a:ln>
          </p:spPr>
        </p:sp>
        <p:sp>
          <p:nvSpPr>
            <p:cNvPr id="107" name="Ellipse 107"/>
            <p:cNvSpPr/>
            <p:nvPr/>
          </p:nvSpPr>
          <p:spPr>
            <a:xfrm>
              <a:off x="8186738" y="1728788"/>
              <a:ext cx="47625" cy="47625"/>
            </a:xfrm>
            <a:prstGeom prst="ellipse">
              <a:avLst/>
            </a:prstGeom>
            <a:solidFill>
              <a:srgbClr val="C4472E"/>
            </a:solidFill>
            <a:ln>
              <a:noFill/>
            </a:ln>
          </p:spPr>
        </p:sp>
        <p:sp>
          <p:nvSpPr>
            <p:cNvPr id="108" name="Ellipse 108"/>
            <p:cNvSpPr/>
            <p:nvPr/>
          </p:nvSpPr>
          <p:spPr>
            <a:xfrm>
              <a:off x="8415338" y="1614488"/>
              <a:ext cx="47625" cy="47625"/>
            </a:xfrm>
            <a:prstGeom prst="ellipse">
              <a:avLst/>
            </a:prstGeom>
            <a:solidFill>
              <a:srgbClr val="C4472E"/>
            </a:solidFill>
            <a:ln>
              <a:noFill/>
            </a:ln>
          </p:spPr>
        </p:sp>
        <p:sp>
          <p:nvSpPr>
            <p:cNvPr id="109" name="Ellipse 109"/>
            <p:cNvSpPr/>
            <p:nvPr/>
          </p:nvSpPr>
          <p:spPr>
            <a:xfrm>
              <a:off x="8643938" y="1481138"/>
              <a:ext cx="47625" cy="47625"/>
            </a:xfrm>
            <a:prstGeom prst="ellipse">
              <a:avLst/>
            </a:prstGeom>
            <a:solidFill>
              <a:srgbClr val="C4472E"/>
            </a:solidFill>
            <a:ln>
              <a:noFill/>
            </a:ln>
          </p:spPr>
        </p:sp>
        <p:sp>
          <p:nvSpPr>
            <p:cNvPr id="110" name="Ellipse 110"/>
            <p:cNvSpPr/>
            <p:nvPr/>
          </p:nvSpPr>
          <p:spPr>
            <a:xfrm>
              <a:off x="8872538" y="1366838"/>
              <a:ext cx="47625" cy="47625"/>
            </a:xfrm>
            <a:prstGeom prst="ellipse">
              <a:avLst/>
            </a:prstGeom>
            <a:solidFill>
              <a:srgbClr val="C4472E"/>
            </a:solidFill>
            <a:ln>
              <a:noFill/>
            </a:ln>
          </p:spPr>
        </p:sp>
        <p:sp>
          <p:nvSpPr>
            <p:cNvPr id="111" name="Ellipse 111"/>
            <p:cNvSpPr/>
            <p:nvPr/>
          </p:nvSpPr>
          <p:spPr>
            <a:xfrm>
              <a:off x="9101138" y="1271588"/>
              <a:ext cx="47625" cy="47625"/>
            </a:xfrm>
            <a:prstGeom prst="ellipse">
              <a:avLst/>
            </a:prstGeom>
            <a:solidFill>
              <a:srgbClr val="C4472E"/>
            </a:solidFill>
            <a:ln>
              <a:noFill/>
            </a:ln>
          </p:spPr>
        </p:sp>
        <p:sp>
          <p:nvSpPr>
            <p:cNvPr id="112" name="Line 112"/>
            <p:cNvSpPr/>
            <p:nvPr/>
          </p:nvSpPr>
          <p:spPr>
            <a:xfrm>
              <a:off x="8382000" y="1314450"/>
              <a:ext cx="114300" cy="9525"/>
            </a:xfrm>
            <a:custGeom>
              <a:avLst/>
              <a:gdLst/>
              <a:ahLst/>
              <a:cxnLst/>
              <a:rect l="l" t="t" r="r" b="b"/>
              <a:pathLst>
                <a:path w="114300" h="9525">
                  <a:moveTo>
                    <a:pt x="0" y="0"/>
                  </a:moveTo>
                  <a:lnTo>
                    <a:pt x="114300" y="0"/>
                  </a:lnTo>
                </a:path>
              </a:pathLst>
            </a:custGeom>
            <a:noFill/>
            <a:ln w="19050">
              <a:solidFill>
                <a:srgbClr val="C4472E"/>
              </a:solidFill>
            </a:ln>
          </p:spPr>
        </p:sp>
        <p:sp>
          <p:nvSpPr>
            <p:cNvPr id="113" name="TextBox 113"/>
            <p:cNvSpPr txBox="1"/>
            <p:nvPr/>
          </p:nvSpPr>
          <p:spPr>
            <a:xfrm>
              <a:off x="8529638" y="1290399"/>
              <a:ext cx="405308" cy="97631"/>
            </a:xfrm>
            <a:prstGeom prst="rect">
              <a:avLst/>
            </a:prstGeom>
            <a:noFill/>
            <a:ln>
              <a:noFill/>
            </a:ln>
          </p:spPr>
          <p:txBody>
            <a:bodyPr wrap="none" lIns="0" tIns="0" rIns="0" bIns="0" anchor="t" anchorCtr="0">
              <a:spAutoFit/>
            </a:bodyPr>
            <a:lstStyle/>
            <a:p>
              <a:pPr algn="l"/>
              <a:r>
                <a:rPr lang="zh-CN" sz="490" dirty="0">
                  <a:solidFill>
                    <a:srgbClr val="8C716B"/>
                  </a:solidFill>
                  <a:latin typeface="+mn-lt"/>
                  <a:ea typeface="+mn-ea"/>
                  <a:cs typeface="+mn-cs"/>
                </a:rPr>
                <a:t>模型校准曲线</a:t>
              </a:r>
            </a:p>
          </p:txBody>
        </p:sp>
        <p:sp>
          <p:nvSpPr>
            <p:cNvPr id="114" name="Line 114"/>
            <p:cNvSpPr/>
            <p:nvPr/>
          </p:nvSpPr>
          <p:spPr>
            <a:xfrm>
              <a:off x="8382000" y="1409700"/>
              <a:ext cx="114300" cy="9525"/>
            </a:xfrm>
            <a:custGeom>
              <a:avLst/>
              <a:gdLst/>
              <a:ahLst/>
              <a:cxnLst/>
              <a:rect l="l" t="t" r="r" b="b"/>
              <a:pathLst>
                <a:path w="114300" h="9525">
                  <a:moveTo>
                    <a:pt x="0" y="0"/>
                  </a:moveTo>
                  <a:lnTo>
                    <a:pt x="114300" y="0"/>
                  </a:lnTo>
                </a:path>
              </a:pathLst>
            </a:custGeom>
            <a:noFill/>
            <a:ln w="9525">
              <a:solidFill>
                <a:srgbClr val="B9C6D2"/>
              </a:solidFill>
              <a:custDash>
                <a:ds d="300000" sp="200000"/>
              </a:custDash>
            </a:ln>
          </p:spPr>
        </p:sp>
        <p:sp>
          <p:nvSpPr>
            <p:cNvPr id="115" name="TextBox 115"/>
            <p:cNvSpPr txBox="1"/>
            <p:nvPr/>
          </p:nvSpPr>
          <p:spPr>
            <a:xfrm>
              <a:off x="8529638" y="1385649"/>
              <a:ext cx="339344" cy="97631"/>
            </a:xfrm>
            <a:prstGeom prst="rect">
              <a:avLst/>
            </a:prstGeom>
            <a:noFill/>
            <a:ln>
              <a:noFill/>
            </a:ln>
          </p:spPr>
          <p:txBody>
            <a:bodyPr wrap="none" lIns="0" tIns="0" rIns="0" bIns="0" anchor="t" anchorCtr="0">
              <a:spAutoFit/>
            </a:bodyPr>
            <a:lstStyle/>
            <a:p>
              <a:pPr algn="l"/>
              <a:r>
                <a:rPr lang="zh-CN" sz="490" dirty="0">
                  <a:solidFill>
                    <a:srgbClr val="8C716B"/>
                  </a:solidFill>
                  <a:latin typeface="+mn-lt"/>
                  <a:ea typeface="+mn-ea"/>
                  <a:cs typeface="+mn-cs"/>
                </a:rPr>
                <a:t>理想校准线</a:t>
              </a:r>
            </a:p>
          </p:txBody>
        </p:sp>
        <p:sp>
          <p:nvSpPr>
            <p:cNvPr id="116" name="TextBox 116"/>
            <p:cNvSpPr txBox="1"/>
            <p:nvPr/>
          </p:nvSpPr>
          <p:spPr>
            <a:xfrm>
              <a:off x="8218183" y="2238851"/>
              <a:ext cx="289535"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预测概率</a:t>
              </a:r>
            </a:p>
          </p:txBody>
        </p:sp>
        <p:sp>
          <p:nvSpPr>
            <p:cNvPr id="117" name="TextBox 117"/>
            <p:cNvSpPr txBox="1"/>
            <p:nvPr/>
          </p:nvSpPr>
          <p:spPr>
            <a:xfrm rot="-5400000">
              <a:off x="7131145" y="1719262"/>
              <a:ext cx="359537" cy="104775"/>
            </a:xfrm>
            <a:prstGeom prst="rect">
              <a:avLst/>
            </a:prstGeom>
            <a:noFill/>
            <a:ln>
              <a:noFill/>
            </a:ln>
          </p:spPr>
          <p:txBody>
            <a:bodyPr wrap="none" lIns="0" tIns="0" rIns="0" bIns="0" anchor="t" anchorCtr="0">
              <a:spAutoFit/>
            </a:bodyPr>
            <a:lstStyle/>
            <a:p>
              <a:pPr algn="ctr"/>
              <a:r>
                <a:rPr lang="zh-CN" sz="520" dirty="0">
                  <a:solidFill>
                    <a:srgbClr val="8C716B"/>
                  </a:solidFill>
                  <a:latin typeface="+mn-lt"/>
                  <a:ea typeface="+mn-ea"/>
                  <a:cs typeface="+mn-cs"/>
                </a:rPr>
                <a:t>实际违约率</a:t>
              </a:r>
            </a:p>
          </p:txBody>
        </p:sp>
        <p:sp>
          <p:nvSpPr>
            <p:cNvPr id="118" name="TextBox 118"/>
            <p:cNvSpPr txBox="1"/>
            <p:nvPr/>
          </p:nvSpPr>
          <p:spPr>
            <a:xfrm>
              <a:off x="7310438" y="2414588"/>
              <a:ext cx="1019175" cy="147638"/>
            </a:xfrm>
            <a:prstGeom prst="rect">
              <a:avLst/>
            </a:prstGeom>
            <a:noFill/>
            <a:ln>
              <a:noFill/>
            </a:ln>
          </p:spPr>
          <p:txBody>
            <a:bodyPr wrap="none" lIns="0" tIns="0" rIns="0" bIns="0" anchor="t" anchorCtr="0">
              <a:spAutoFit/>
            </a:bodyPr>
            <a:lstStyle/>
            <a:p>
              <a:pPr algn="l"/>
              <a:r>
                <a:rPr lang="zh-CN" sz="750" b="1" dirty="0">
                  <a:solidFill>
                    <a:srgbClr val="9E311B"/>
                  </a:solidFill>
                  <a:latin typeface="+mn-lt"/>
                  <a:ea typeface="+mn-ea"/>
                  <a:cs typeface="+mn-cs"/>
                </a:rPr>
                <a:t>衡量概率预测的准确性</a:t>
              </a:r>
            </a:p>
          </p:txBody>
        </p:sp>
        <p:sp>
          <p:nvSpPr>
            <p:cNvPr id="119" name="TextBox 119"/>
            <p:cNvSpPr txBox="1"/>
            <p:nvPr/>
          </p:nvSpPr>
          <p:spPr>
            <a:xfrm>
              <a:off x="7310438" y="2579132"/>
              <a:ext cx="1043407"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校准曲线反映预测概率与实</a:t>
              </a:r>
            </a:p>
          </p:txBody>
        </p:sp>
        <p:sp>
          <p:nvSpPr>
            <p:cNvPr id="120" name="TextBox 120"/>
            <p:cNvSpPr txBox="1"/>
            <p:nvPr/>
          </p:nvSpPr>
          <p:spPr>
            <a:xfrm>
              <a:off x="7310438" y="2712482"/>
              <a:ext cx="784936"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际发生率的一致性，</a:t>
              </a:r>
            </a:p>
          </p:txBody>
        </p:sp>
        <p:sp>
          <p:nvSpPr>
            <p:cNvPr id="121" name="TextBox 121"/>
            <p:cNvSpPr txBox="1"/>
            <p:nvPr/>
          </p:nvSpPr>
          <p:spPr>
            <a:xfrm>
              <a:off x="7310438" y="2845832"/>
              <a:ext cx="784936"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越接近对角线越好。</a:t>
              </a:r>
            </a:p>
          </p:txBody>
        </p:sp>
      </p:grpSp>
      <p:grpSp>
        <p:nvGrpSpPr>
          <p:cNvPr id="146" name="chart-05"/>
          <p:cNvGrpSpPr/>
          <p:nvPr/>
        </p:nvGrpSpPr>
        <p:grpSpPr>
          <a:xfrm>
            <a:off x="9563100" y="895350"/>
            <a:ext cx="2247900" cy="2114550"/>
            <a:chOff x="9563100" y="895350"/>
            <a:chExt cx="2247900" cy="2114550"/>
          </a:xfrm>
        </p:grpSpPr>
        <p:sp>
          <p:nvSpPr>
            <p:cNvPr id="123" name="Rectangle 123"/>
            <p:cNvSpPr/>
            <p:nvPr/>
          </p:nvSpPr>
          <p:spPr>
            <a:xfrm>
              <a:off x="9563100" y="895350"/>
              <a:ext cx="2247900" cy="2114550"/>
            </a:xfrm>
            <a:prstGeom prst="roundRect">
              <a:avLst>
                <a:gd name="adj" fmla="val 3604"/>
              </a:avLst>
            </a:prstGeom>
            <a:solidFill>
              <a:srgbClr val="FFFFFF"/>
            </a:solidFill>
            <a:ln w="9525">
              <a:solidFill>
                <a:srgbClr val="CFE2F2"/>
              </a:solidFill>
            </a:ln>
          </p:spPr>
        </p:sp>
        <p:sp>
          <p:nvSpPr>
            <p:cNvPr id="124" name="Rectangle 124"/>
            <p:cNvSpPr/>
            <p:nvPr/>
          </p:nvSpPr>
          <p:spPr>
            <a:xfrm>
              <a:off x="9563100" y="895350"/>
              <a:ext cx="2247900" cy="209550"/>
            </a:xfrm>
            <a:prstGeom prst="roundRect">
              <a:avLst>
                <a:gd name="adj" fmla="val 36364"/>
              </a:avLst>
            </a:prstGeom>
            <a:solidFill>
              <a:srgbClr val="C4472E"/>
            </a:solidFill>
            <a:ln>
              <a:noFill/>
            </a:ln>
          </p:spPr>
        </p:sp>
        <p:sp>
          <p:nvSpPr>
            <p:cNvPr id="125" name="Rectangle 125"/>
            <p:cNvSpPr/>
            <p:nvPr/>
          </p:nvSpPr>
          <p:spPr>
            <a:xfrm>
              <a:off x="9563100" y="1009650"/>
              <a:ext cx="2247900" cy="95250"/>
            </a:xfrm>
            <a:prstGeom prst="rect">
              <a:avLst/>
            </a:prstGeom>
            <a:solidFill>
              <a:srgbClr val="C4472E"/>
            </a:solidFill>
            <a:ln>
              <a:noFill/>
            </a:ln>
          </p:spPr>
        </p:sp>
        <p:sp>
          <p:nvSpPr>
            <p:cNvPr id="126" name="TextBox 126"/>
            <p:cNvSpPr txBox="1"/>
            <p:nvPr/>
          </p:nvSpPr>
          <p:spPr>
            <a:xfrm>
              <a:off x="9691688" y="957262"/>
              <a:ext cx="12614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05</a:t>
              </a:r>
            </a:p>
          </p:txBody>
        </p:sp>
        <p:sp>
          <p:nvSpPr>
            <p:cNvPr id="127" name="TextBox 127"/>
            <p:cNvSpPr txBox="1"/>
            <p:nvPr/>
          </p:nvSpPr>
          <p:spPr>
            <a:xfrm>
              <a:off x="9882188" y="949166"/>
              <a:ext cx="724567" cy="161925"/>
            </a:xfrm>
            <a:prstGeom prst="rect">
              <a:avLst/>
            </a:prstGeom>
            <a:noFill/>
            <a:ln>
              <a:noFill/>
            </a:ln>
          </p:spPr>
          <p:txBody>
            <a:bodyPr wrap="none" lIns="0" tIns="0" rIns="0" bIns="0" anchor="t" anchorCtr="0">
              <a:spAutoFit/>
            </a:bodyPr>
            <a:lstStyle/>
            <a:p>
              <a:pPr algn="l"/>
              <a:r>
                <a:rPr lang="en-US" sz="820" b="1" dirty="0">
                  <a:solidFill>
                    <a:srgbClr val="FFFFFF"/>
                  </a:solidFill>
                  <a:latin typeface="+mn-lt"/>
                  <a:ea typeface="+mn-ea"/>
                  <a:cs typeface="+mn-cs"/>
                </a:rPr>
                <a:t>Brier Score​</a:t>
              </a:r>
            </a:p>
          </p:txBody>
        </p:sp>
        <p:sp>
          <p:nvSpPr>
            <p:cNvPr id="128" name="TextBox 128"/>
            <p:cNvSpPr txBox="1"/>
            <p:nvPr/>
          </p:nvSpPr>
          <p:spPr>
            <a:xfrm>
              <a:off x="10165411" y="1248489"/>
              <a:ext cx="1043278" cy="154781"/>
            </a:xfrm>
            <a:prstGeom prst="rect">
              <a:avLst/>
            </a:prstGeom>
            <a:noFill/>
            <a:ln>
              <a:noFill/>
            </a:ln>
          </p:spPr>
          <p:txBody>
            <a:bodyPr wrap="none" lIns="0" tIns="0" rIns="0" bIns="0" anchor="t" anchorCtr="0">
              <a:spAutoFit/>
            </a:bodyPr>
            <a:lstStyle/>
            <a:p>
              <a:pPr algn="ctr"/>
              <a:r>
                <a:rPr lang="en-US" sz="790" b="1" dirty="0">
                  <a:solidFill>
                    <a:srgbClr val="9E311B"/>
                  </a:solidFill>
                  <a:latin typeface="+mj-lt"/>
                  <a:ea typeface="+mj-ea"/>
                  <a:cs typeface="+mj-cs"/>
                </a:rPr>
                <a:t>Brier Score = 0.072​</a:t>
              </a:r>
            </a:p>
          </p:txBody>
        </p:sp>
        <p:sp>
          <p:nvSpPr>
            <p:cNvPr id="129" name="Line 129"/>
            <p:cNvSpPr/>
            <p:nvPr/>
          </p:nvSpPr>
          <p:spPr>
            <a:xfrm>
              <a:off x="9696450" y="2152650"/>
              <a:ext cx="2019300" cy="9525"/>
            </a:xfrm>
            <a:custGeom>
              <a:avLst/>
              <a:gdLst/>
              <a:ahLst/>
              <a:cxnLst/>
              <a:rect l="l" t="t" r="r" b="b"/>
              <a:pathLst>
                <a:path w="2019300" h="9525">
                  <a:moveTo>
                    <a:pt x="0" y="0"/>
                  </a:moveTo>
                  <a:lnTo>
                    <a:pt x="2019300" y="0"/>
                  </a:lnTo>
                </a:path>
              </a:pathLst>
            </a:custGeom>
            <a:noFill/>
            <a:ln w="9525">
              <a:solidFill>
                <a:srgbClr val="B9C6D2"/>
              </a:solidFill>
            </a:ln>
          </p:spPr>
        </p:sp>
        <p:sp>
          <p:nvSpPr>
            <p:cNvPr id="130" name="Rectangle 130"/>
            <p:cNvSpPr/>
            <p:nvPr/>
          </p:nvSpPr>
          <p:spPr>
            <a:xfrm>
              <a:off x="9753600" y="1933575"/>
              <a:ext cx="285750" cy="219075"/>
            </a:xfrm>
            <a:prstGeom prst="rect">
              <a:avLst/>
            </a:prstGeom>
            <a:solidFill>
              <a:srgbClr val="C4472E"/>
            </a:solidFill>
            <a:ln>
              <a:noFill/>
            </a:ln>
          </p:spPr>
        </p:sp>
        <p:sp>
          <p:nvSpPr>
            <p:cNvPr id="131" name="TextBox 131"/>
            <p:cNvSpPr txBox="1"/>
            <p:nvPr/>
          </p:nvSpPr>
          <p:spPr>
            <a:xfrm>
              <a:off x="9776649" y="1825228"/>
              <a:ext cx="239652" cy="111919"/>
            </a:xfrm>
            <a:prstGeom prst="rect">
              <a:avLst/>
            </a:prstGeom>
            <a:noFill/>
            <a:ln>
              <a:noFill/>
            </a:ln>
          </p:spPr>
          <p:txBody>
            <a:bodyPr wrap="none" lIns="0" tIns="0" rIns="0" bIns="0" anchor="t" anchorCtr="0">
              <a:spAutoFit/>
            </a:bodyPr>
            <a:lstStyle/>
            <a:p>
              <a:pPr algn="ctr"/>
              <a:r>
                <a:rPr lang="zh-CN" sz="560" dirty="0">
                  <a:solidFill>
                    <a:srgbClr val="5C3A33"/>
                  </a:solidFill>
                  <a:latin typeface="+mj-lt"/>
                  <a:ea typeface="+mj-ea"/>
                  <a:cs typeface="+mj-cs"/>
                </a:rPr>
                <a:t>0.072​</a:t>
              </a:r>
            </a:p>
          </p:txBody>
        </p:sp>
        <p:sp>
          <p:nvSpPr>
            <p:cNvPr id="132" name="Rectangle 132"/>
            <p:cNvSpPr/>
            <p:nvPr/>
          </p:nvSpPr>
          <p:spPr>
            <a:xfrm>
              <a:off x="10229850" y="1790700"/>
              <a:ext cx="285750" cy="361950"/>
            </a:xfrm>
            <a:prstGeom prst="rect">
              <a:avLst/>
            </a:prstGeom>
            <a:solidFill>
              <a:srgbClr val="D8816F"/>
            </a:solidFill>
            <a:ln>
              <a:noFill/>
            </a:ln>
          </p:spPr>
        </p:sp>
        <p:sp>
          <p:nvSpPr>
            <p:cNvPr id="133" name="TextBox 133"/>
            <p:cNvSpPr txBox="1"/>
            <p:nvPr/>
          </p:nvSpPr>
          <p:spPr>
            <a:xfrm>
              <a:off x="10252899" y="1682353"/>
              <a:ext cx="239652" cy="111919"/>
            </a:xfrm>
            <a:prstGeom prst="rect">
              <a:avLst/>
            </a:prstGeom>
            <a:noFill/>
            <a:ln>
              <a:noFill/>
            </a:ln>
          </p:spPr>
          <p:txBody>
            <a:bodyPr wrap="none" lIns="0" tIns="0" rIns="0" bIns="0" anchor="t" anchorCtr="0">
              <a:spAutoFit/>
            </a:bodyPr>
            <a:lstStyle/>
            <a:p>
              <a:pPr algn="ctr"/>
              <a:r>
                <a:rPr lang="zh-CN" sz="560" dirty="0">
                  <a:solidFill>
                    <a:srgbClr val="5C3A33"/>
                  </a:solidFill>
                  <a:latin typeface="+mj-lt"/>
                  <a:ea typeface="+mj-ea"/>
                  <a:cs typeface="+mj-cs"/>
                </a:rPr>
                <a:t>0.118​</a:t>
              </a:r>
            </a:p>
          </p:txBody>
        </p:sp>
        <p:sp>
          <p:nvSpPr>
            <p:cNvPr id="134" name="Rectangle 134"/>
            <p:cNvSpPr/>
            <p:nvPr/>
          </p:nvSpPr>
          <p:spPr>
            <a:xfrm>
              <a:off x="10706100" y="1676400"/>
              <a:ext cx="285750" cy="476250"/>
            </a:xfrm>
            <a:prstGeom prst="rect">
              <a:avLst/>
            </a:prstGeom>
            <a:solidFill>
              <a:srgbClr val="E3B3A9"/>
            </a:solidFill>
            <a:ln>
              <a:noFill/>
            </a:ln>
          </p:spPr>
        </p:sp>
        <p:sp>
          <p:nvSpPr>
            <p:cNvPr id="135" name="TextBox 135"/>
            <p:cNvSpPr txBox="1"/>
            <p:nvPr/>
          </p:nvSpPr>
          <p:spPr>
            <a:xfrm>
              <a:off x="10729149" y="1568053"/>
              <a:ext cx="239652" cy="111919"/>
            </a:xfrm>
            <a:prstGeom prst="rect">
              <a:avLst/>
            </a:prstGeom>
            <a:noFill/>
            <a:ln>
              <a:noFill/>
            </a:ln>
          </p:spPr>
          <p:txBody>
            <a:bodyPr wrap="none" lIns="0" tIns="0" rIns="0" bIns="0" anchor="t" anchorCtr="0">
              <a:spAutoFit/>
            </a:bodyPr>
            <a:lstStyle/>
            <a:p>
              <a:pPr algn="ctr"/>
              <a:r>
                <a:rPr lang="zh-CN" sz="560" dirty="0">
                  <a:solidFill>
                    <a:srgbClr val="5C3A33"/>
                  </a:solidFill>
                  <a:latin typeface="+mj-lt"/>
                  <a:ea typeface="+mj-ea"/>
                  <a:cs typeface="+mj-cs"/>
                </a:rPr>
                <a:t>0.156​</a:t>
              </a:r>
            </a:p>
          </p:txBody>
        </p:sp>
        <p:sp>
          <p:nvSpPr>
            <p:cNvPr id="136" name="Rectangle 136"/>
            <p:cNvSpPr/>
            <p:nvPr/>
          </p:nvSpPr>
          <p:spPr>
            <a:xfrm>
              <a:off x="11182350" y="1390650"/>
              <a:ext cx="285750" cy="762000"/>
            </a:xfrm>
            <a:prstGeom prst="rect">
              <a:avLst/>
            </a:prstGeom>
            <a:solidFill>
              <a:srgbClr val="D6E6F3"/>
            </a:solidFill>
            <a:ln w="9525">
              <a:solidFill>
                <a:srgbClr val="DEAA9F"/>
              </a:solidFill>
            </a:ln>
          </p:spPr>
        </p:sp>
        <p:sp>
          <p:nvSpPr>
            <p:cNvPr id="137" name="TextBox 137"/>
            <p:cNvSpPr txBox="1"/>
            <p:nvPr/>
          </p:nvSpPr>
          <p:spPr>
            <a:xfrm>
              <a:off x="11205399" y="1282303"/>
              <a:ext cx="239652" cy="111919"/>
            </a:xfrm>
            <a:prstGeom prst="rect">
              <a:avLst/>
            </a:prstGeom>
            <a:noFill/>
            <a:ln>
              <a:noFill/>
            </a:ln>
          </p:spPr>
          <p:txBody>
            <a:bodyPr wrap="none" lIns="0" tIns="0" rIns="0" bIns="0" anchor="t" anchorCtr="0">
              <a:spAutoFit/>
            </a:bodyPr>
            <a:lstStyle/>
            <a:p>
              <a:pPr algn="ctr"/>
              <a:r>
                <a:rPr lang="zh-CN" sz="560" dirty="0">
                  <a:solidFill>
                    <a:srgbClr val="5C3A33"/>
                  </a:solidFill>
                  <a:latin typeface="+mj-lt"/>
                  <a:ea typeface="+mj-ea"/>
                  <a:cs typeface="+mj-cs"/>
                </a:rPr>
                <a:t>0.250​</a:t>
              </a:r>
            </a:p>
          </p:txBody>
        </p:sp>
        <p:sp>
          <p:nvSpPr>
            <p:cNvPr id="138" name="TextBox 138"/>
            <p:cNvSpPr txBox="1"/>
            <p:nvPr/>
          </p:nvSpPr>
          <p:spPr>
            <a:xfrm>
              <a:off x="9772515" y="2215753"/>
              <a:ext cx="247919"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n-lt"/>
                  <a:ea typeface="+mn-ea"/>
                  <a:cs typeface="+mn-cs"/>
                </a:rPr>
                <a:t>模型A​</a:t>
              </a:r>
            </a:p>
          </p:txBody>
        </p:sp>
        <p:sp>
          <p:nvSpPr>
            <p:cNvPr id="139" name="TextBox 139"/>
            <p:cNvSpPr txBox="1"/>
            <p:nvPr/>
          </p:nvSpPr>
          <p:spPr>
            <a:xfrm>
              <a:off x="10248765" y="2215753"/>
              <a:ext cx="247919"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n-lt"/>
                  <a:ea typeface="+mn-ea"/>
                  <a:cs typeface="+mn-cs"/>
                </a:rPr>
                <a:t>模型B​</a:t>
              </a:r>
            </a:p>
          </p:txBody>
        </p:sp>
        <p:sp>
          <p:nvSpPr>
            <p:cNvPr id="140" name="TextBox 140"/>
            <p:cNvSpPr txBox="1"/>
            <p:nvPr/>
          </p:nvSpPr>
          <p:spPr>
            <a:xfrm>
              <a:off x="10725015" y="2215753"/>
              <a:ext cx="247919"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n-lt"/>
                  <a:ea typeface="+mn-ea"/>
                  <a:cs typeface="+mn-cs"/>
                </a:rPr>
                <a:t>模型C​</a:t>
              </a:r>
            </a:p>
          </p:txBody>
        </p:sp>
        <p:sp>
          <p:nvSpPr>
            <p:cNvPr id="141" name="TextBox 141"/>
            <p:cNvSpPr txBox="1"/>
            <p:nvPr/>
          </p:nvSpPr>
          <p:spPr>
            <a:xfrm>
              <a:off x="11169688" y="2215753"/>
              <a:ext cx="311074"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n-lt"/>
                  <a:ea typeface="+mn-ea"/>
                  <a:cs typeface="+mn-cs"/>
                </a:rPr>
                <a:t>基准模型</a:t>
              </a:r>
            </a:p>
          </p:txBody>
        </p:sp>
        <p:sp>
          <p:nvSpPr>
            <p:cNvPr id="142" name="TextBox 142"/>
            <p:cNvSpPr txBox="1"/>
            <p:nvPr/>
          </p:nvSpPr>
          <p:spPr>
            <a:xfrm>
              <a:off x="9653588" y="2414588"/>
              <a:ext cx="1120140" cy="147638"/>
            </a:xfrm>
            <a:prstGeom prst="rect">
              <a:avLst/>
            </a:prstGeom>
            <a:noFill/>
            <a:ln>
              <a:noFill/>
            </a:ln>
          </p:spPr>
          <p:txBody>
            <a:bodyPr wrap="none" lIns="0" tIns="0" rIns="0" bIns="0" anchor="t" anchorCtr="0">
              <a:spAutoFit/>
            </a:bodyPr>
            <a:lstStyle/>
            <a:p>
              <a:pPr algn="l"/>
              <a:r>
                <a:rPr lang="zh-CN" sz="750" b="1" dirty="0">
                  <a:solidFill>
                    <a:srgbClr val="9E311B"/>
                  </a:solidFill>
                  <a:latin typeface="+mn-lt"/>
                  <a:ea typeface="+mn-ea"/>
                  <a:cs typeface="+mn-cs"/>
                </a:rPr>
                <a:t>衡量概率预测的整体误差</a:t>
              </a:r>
            </a:p>
          </p:txBody>
        </p:sp>
        <p:sp>
          <p:nvSpPr>
            <p:cNvPr id="143" name="TextBox 143"/>
            <p:cNvSpPr txBox="1"/>
            <p:nvPr/>
          </p:nvSpPr>
          <p:spPr>
            <a:xfrm>
              <a:off x="9653588" y="2579132"/>
              <a:ext cx="1182363"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Brier Score是预测概率与实际</a:t>
              </a:r>
            </a:p>
          </p:txBody>
        </p:sp>
        <p:sp>
          <p:nvSpPr>
            <p:cNvPr id="144" name="TextBox 144"/>
            <p:cNvSpPr txBox="1"/>
            <p:nvPr/>
          </p:nvSpPr>
          <p:spPr>
            <a:xfrm>
              <a:off x="9653588" y="2712482"/>
              <a:ext cx="1215720"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结果的均方差，越小越好，综合</a:t>
              </a:r>
            </a:p>
          </p:txBody>
        </p:sp>
        <p:sp>
          <p:nvSpPr>
            <p:cNvPr id="145" name="TextBox 145"/>
            <p:cNvSpPr txBox="1"/>
            <p:nvPr/>
          </p:nvSpPr>
          <p:spPr>
            <a:xfrm>
              <a:off x="9653588" y="2845832"/>
              <a:ext cx="1129563"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反映模型的准确性和校准性。</a:t>
              </a:r>
            </a:p>
          </p:txBody>
        </p:sp>
      </p:grpSp>
      <p:grpSp>
        <p:nvGrpSpPr>
          <p:cNvPr id="212" name="verify-table"/>
          <p:cNvGrpSpPr/>
          <p:nvPr/>
        </p:nvGrpSpPr>
        <p:grpSpPr>
          <a:xfrm>
            <a:off x="190500" y="3105150"/>
            <a:ext cx="7867650" cy="3467100"/>
            <a:chOff x="190500" y="3105150"/>
            <a:chExt cx="7867650" cy="3467100"/>
          </a:xfrm>
        </p:grpSpPr>
        <p:sp>
          <p:nvSpPr>
            <p:cNvPr id="147" name="Rectangle 147"/>
            <p:cNvSpPr/>
            <p:nvPr/>
          </p:nvSpPr>
          <p:spPr>
            <a:xfrm>
              <a:off x="190500" y="3105150"/>
              <a:ext cx="7867650" cy="3467100"/>
            </a:xfrm>
            <a:prstGeom prst="roundRect">
              <a:avLst>
                <a:gd name="adj" fmla="val 2198"/>
              </a:avLst>
            </a:prstGeom>
            <a:solidFill>
              <a:srgbClr val="FFFFFF"/>
            </a:solidFill>
            <a:ln w="9525">
              <a:solidFill>
                <a:srgbClr val="CFE2F2"/>
              </a:solidFill>
            </a:ln>
          </p:spPr>
        </p:sp>
        <p:sp>
          <p:nvSpPr>
            <p:cNvPr id="148" name="Rectangle 148"/>
            <p:cNvSpPr/>
            <p:nvPr/>
          </p:nvSpPr>
          <p:spPr>
            <a:xfrm>
              <a:off x="190500" y="3105150"/>
              <a:ext cx="7867650" cy="228600"/>
            </a:xfrm>
            <a:prstGeom prst="roundRect">
              <a:avLst>
                <a:gd name="adj" fmla="val 33333"/>
              </a:avLst>
            </a:prstGeom>
            <a:solidFill>
              <a:srgbClr val="9E311B"/>
            </a:solidFill>
            <a:ln>
              <a:noFill/>
            </a:ln>
          </p:spPr>
        </p:sp>
        <p:sp>
          <p:nvSpPr>
            <p:cNvPr id="149" name="Rectangle 149"/>
            <p:cNvSpPr/>
            <p:nvPr/>
          </p:nvSpPr>
          <p:spPr>
            <a:xfrm>
              <a:off x="190500" y="3219450"/>
              <a:ext cx="7867650" cy="114300"/>
            </a:xfrm>
            <a:prstGeom prst="rect">
              <a:avLst/>
            </a:prstGeom>
            <a:solidFill>
              <a:srgbClr val="9E311B"/>
            </a:solidFill>
            <a:ln>
              <a:noFill/>
            </a:ln>
          </p:spPr>
        </p:sp>
        <p:sp>
          <p:nvSpPr>
            <p:cNvPr id="150" name="TextBox 150"/>
            <p:cNvSpPr txBox="1"/>
            <p:nvPr/>
          </p:nvSpPr>
          <p:spPr>
            <a:xfrm>
              <a:off x="338138" y="3165872"/>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验证维度</a:t>
              </a:r>
            </a:p>
          </p:txBody>
        </p:sp>
        <p:sp>
          <p:nvSpPr>
            <p:cNvPr id="151" name="Rectangle 151"/>
            <p:cNvSpPr/>
            <p:nvPr/>
          </p:nvSpPr>
          <p:spPr>
            <a:xfrm>
              <a:off x="266700" y="3333750"/>
              <a:ext cx="7715250" cy="209550"/>
            </a:xfrm>
            <a:prstGeom prst="rect">
              <a:avLst/>
            </a:prstGeom>
            <a:solidFill>
              <a:srgbClr val="EAF3FB"/>
            </a:solidFill>
            <a:ln>
              <a:noFill/>
            </a:ln>
          </p:spPr>
        </p:sp>
        <p:sp>
          <p:nvSpPr>
            <p:cNvPr id="152" name="TextBox 152"/>
            <p:cNvSpPr txBox="1"/>
            <p:nvPr/>
          </p:nvSpPr>
          <p:spPr>
            <a:xfrm>
              <a:off x="376238" y="3399711"/>
              <a:ext cx="391846" cy="140494"/>
            </a:xfrm>
            <a:prstGeom prst="rect">
              <a:avLst/>
            </a:prstGeom>
            <a:noFill/>
            <a:ln>
              <a:noFill/>
            </a:ln>
          </p:spPr>
          <p:txBody>
            <a:bodyPr wrap="none" lIns="0" tIns="0" rIns="0" bIns="0" anchor="t" anchorCtr="0">
              <a:spAutoFit/>
            </a:bodyPr>
            <a:lstStyle/>
            <a:p>
              <a:pPr algn="l"/>
              <a:r>
                <a:rPr lang="zh-CN" sz="710" b="1" dirty="0">
                  <a:solidFill>
                    <a:srgbClr val="9E311B"/>
                  </a:solidFill>
                  <a:latin typeface="+mn-lt"/>
                  <a:ea typeface="+mn-ea"/>
                  <a:cs typeface="+mn-cs"/>
                </a:rPr>
                <a:t>验证维度</a:t>
              </a:r>
            </a:p>
          </p:txBody>
        </p:sp>
        <p:sp>
          <p:nvSpPr>
            <p:cNvPr id="153" name="TextBox 153"/>
            <p:cNvSpPr txBox="1"/>
            <p:nvPr/>
          </p:nvSpPr>
          <p:spPr>
            <a:xfrm>
              <a:off x="1385888" y="3399711"/>
              <a:ext cx="391846" cy="140494"/>
            </a:xfrm>
            <a:prstGeom prst="rect">
              <a:avLst/>
            </a:prstGeom>
            <a:noFill/>
            <a:ln>
              <a:noFill/>
            </a:ln>
          </p:spPr>
          <p:txBody>
            <a:bodyPr wrap="none" lIns="0" tIns="0" rIns="0" bIns="0" anchor="t" anchorCtr="0">
              <a:spAutoFit/>
            </a:bodyPr>
            <a:lstStyle/>
            <a:p>
              <a:pPr algn="l"/>
              <a:r>
                <a:rPr lang="zh-CN" sz="710" b="1" dirty="0">
                  <a:solidFill>
                    <a:srgbClr val="9E311B"/>
                  </a:solidFill>
                  <a:latin typeface="+mn-lt"/>
                  <a:ea typeface="+mn-ea"/>
                  <a:cs typeface="+mn-cs"/>
                </a:rPr>
                <a:t>关注问题</a:t>
              </a:r>
            </a:p>
          </p:txBody>
        </p:sp>
        <p:sp>
          <p:nvSpPr>
            <p:cNvPr id="154" name="TextBox 154"/>
            <p:cNvSpPr txBox="1"/>
            <p:nvPr/>
          </p:nvSpPr>
          <p:spPr>
            <a:xfrm>
              <a:off x="3290888" y="3399711"/>
              <a:ext cx="583006" cy="140494"/>
            </a:xfrm>
            <a:prstGeom prst="rect">
              <a:avLst/>
            </a:prstGeom>
            <a:noFill/>
            <a:ln>
              <a:noFill/>
            </a:ln>
          </p:spPr>
          <p:txBody>
            <a:bodyPr wrap="none" lIns="0" tIns="0" rIns="0" bIns="0" anchor="t" anchorCtr="0">
              <a:spAutoFit/>
            </a:bodyPr>
            <a:lstStyle/>
            <a:p>
              <a:pPr algn="l"/>
              <a:r>
                <a:rPr lang="zh-CN" sz="710" b="1" dirty="0">
                  <a:solidFill>
                    <a:srgbClr val="9E311B"/>
                  </a:solidFill>
                  <a:latin typeface="+mn-lt"/>
                  <a:ea typeface="+mn-ea"/>
                  <a:cs typeface="+mn-cs"/>
                </a:rPr>
                <a:t>常用指标方法</a:t>
              </a:r>
            </a:p>
          </p:txBody>
        </p:sp>
        <p:sp>
          <p:nvSpPr>
            <p:cNvPr id="155" name="TextBox 155"/>
            <p:cNvSpPr txBox="1"/>
            <p:nvPr/>
          </p:nvSpPr>
          <p:spPr>
            <a:xfrm>
              <a:off x="4910138" y="3399711"/>
              <a:ext cx="583006" cy="140494"/>
            </a:xfrm>
            <a:prstGeom prst="rect">
              <a:avLst/>
            </a:prstGeom>
            <a:noFill/>
            <a:ln>
              <a:noFill/>
            </a:ln>
          </p:spPr>
          <p:txBody>
            <a:bodyPr wrap="none" lIns="0" tIns="0" rIns="0" bIns="0" anchor="t" anchorCtr="0">
              <a:spAutoFit/>
            </a:bodyPr>
            <a:lstStyle/>
            <a:p>
              <a:pPr algn="l"/>
              <a:r>
                <a:rPr lang="zh-CN" sz="710" b="1" dirty="0">
                  <a:solidFill>
                    <a:srgbClr val="9E311B"/>
                  </a:solidFill>
                  <a:latin typeface="+mn-lt"/>
                  <a:ea typeface="+mn-ea"/>
                  <a:cs typeface="+mn-cs"/>
                </a:rPr>
                <a:t>合理范围参考</a:t>
              </a:r>
            </a:p>
          </p:txBody>
        </p:sp>
        <p:sp>
          <p:nvSpPr>
            <p:cNvPr id="156" name="TextBox 156"/>
            <p:cNvSpPr txBox="1"/>
            <p:nvPr/>
          </p:nvSpPr>
          <p:spPr>
            <a:xfrm>
              <a:off x="6376988" y="3399711"/>
              <a:ext cx="391846" cy="140494"/>
            </a:xfrm>
            <a:prstGeom prst="rect">
              <a:avLst/>
            </a:prstGeom>
            <a:noFill/>
            <a:ln>
              <a:noFill/>
            </a:ln>
          </p:spPr>
          <p:txBody>
            <a:bodyPr wrap="none" lIns="0" tIns="0" rIns="0" bIns="0" anchor="t" anchorCtr="0">
              <a:spAutoFit/>
            </a:bodyPr>
            <a:lstStyle/>
            <a:p>
              <a:pPr algn="l"/>
              <a:r>
                <a:rPr lang="zh-CN" sz="710" b="1" dirty="0">
                  <a:solidFill>
                    <a:srgbClr val="9E311B"/>
                  </a:solidFill>
                  <a:latin typeface="+mn-lt"/>
                  <a:ea typeface="+mn-ea"/>
                  <a:cs typeface="+mn-cs"/>
                </a:rPr>
                <a:t>业务意义</a:t>
              </a:r>
            </a:p>
          </p:txBody>
        </p:sp>
        <p:sp>
          <p:nvSpPr>
            <p:cNvPr id="157" name="Rectangle 157"/>
            <p:cNvSpPr/>
            <p:nvPr/>
          </p:nvSpPr>
          <p:spPr>
            <a:xfrm>
              <a:off x="266700" y="3543300"/>
              <a:ext cx="7715250" cy="600075"/>
            </a:xfrm>
            <a:prstGeom prst="rect">
              <a:avLst/>
            </a:prstGeom>
            <a:solidFill>
              <a:srgbClr val="F4F9FD"/>
            </a:solidFill>
            <a:ln>
              <a:noFill/>
            </a:ln>
          </p:spPr>
        </p:sp>
        <p:grpSp>
          <p:nvGrpSpPr>
            <p:cNvPr id="160" name="Group 160"/>
            <p:cNvGrpSpPr/>
            <p:nvPr/>
          </p:nvGrpSpPr>
          <p:grpSpPr>
            <a:xfrm>
              <a:off x="360759" y="3751659"/>
              <a:ext cx="107157" cy="107157"/>
              <a:chOff x="360759" y="3751659"/>
              <a:chExt cx="107157" cy="107157"/>
            </a:xfrm>
          </p:grpSpPr>
          <p:sp>
            <p:nvSpPr>
              <p:cNvPr id="158" name="Freeform 158"/>
              <p:cNvSpPr/>
              <p:nvPr/>
            </p:nvSpPr>
            <p:spPr>
              <a:xfrm>
                <a:off x="360759" y="3751659"/>
                <a:ext cx="83344" cy="83344"/>
              </a:xfrm>
              <a:custGeom>
                <a:avLst/>
                <a:gdLst/>
                <a:ahLst/>
                <a:cxnLst/>
                <a:rect l="l" t="t" r="r" b="b"/>
                <a:pathLst>
                  <a:path w="83344" h="83344">
                    <a:moveTo>
                      <a:pt x="0" y="41672"/>
                    </a:moveTo>
                    <a:cubicBezTo>
                      <a:pt x="0" y="64687"/>
                      <a:pt x="18657" y="83344"/>
                      <a:pt x="41672" y="83344"/>
                    </a:cubicBezTo>
                    <a:cubicBezTo>
                      <a:pt x="64687" y="83344"/>
                      <a:pt x="83344" y="64687"/>
                      <a:pt x="83344" y="41672"/>
                    </a:cubicBezTo>
                    <a:cubicBezTo>
                      <a:pt x="83344" y="18657"/>
                      <a:pt x="64687" y="0"/>
                      <a:pt x="41672" y="0"/>
                    </a:cubicBezTo>
                    <a:cubicBezTo>
                      <a:pt x="18657" y="0"/>
                      <a:pt x="0" y="18657"/>
                      <a:pt x="0" y="41672"/>
                    </a:cubicBezTo>
                  </a:path>
                </a:pathLst>
              </a:custGeom>
              <a:noFill/>
              <a:ln w="11906">
                <a:solidFill>
                  <a:srgbClr val="C4472E"/>
                </a:solidFill>
              </a:ln>
            </p:spPr>
          </p:sp>
          <p:sp>
            <p:nvSpPr>
              <p:cNvPr id="159" name="Freeform 159"/>
              <p:cNvSpPr/>
              <p:nvPr/>
            </p:nvSpPr>
            <p:spPr>
              <a:xfrm>
                <a:off x="432197" y="3823097"/>
                <a:ext cx="35719" cy="35719"/>
              </a:xfrm>
              <a:custGeom>
                <a:avLst/>
                <a:gdLst/>
                <a:ahLst/>
                <a:cxnLst/>
                <a:rect l="l" t="t" r="r" b="b"/>
                <a:pathLst>
                  <a:path w="35719" h="35719">
                    <a:moveTo>
                      <a:pt x="35719" y="35719"/>
                    </a:moveTo>
                    <a:lnTo>
                      <a:pt x="0" y="0"/>
                    </a:lnTo>
                  </a:path>
                </a:pathLst>
              </a:custGeom>
              <a:noFill/>
              <a:ln w="11906">
                <a:solidFill>
                  <a:srgbClr val="C4472E"/>
                </a:solidFill>
              </a:ln>
            </p:spPr>
          </p:sp>
        </p:grpSp>
        <p:sp>
          <p:nvSpPr>
            <p:cNvPr id="161" name="TextBox 161"/>
            <p:cNvSpPr txBox="1"/>
            <p:nvPr/>
          </p:nvSpPr>
          <p:spPr>
            <a:xfrm>
              <a:off x="547688" y="3767138"/>
              <a:ext cx="312420" cy="147638"/>
            </a:xfrm>
            <a:prstGeom prst="rect">
              <a:avLst/>
            </a:prstGeom>
            <a:noFill/>
            <a:ln>
              <a:noFill/>
            </a:ln>
          </p:spPr>
          <p:txBody>
            <a:bodyPr wrap="none" lIns="0" tIns="0" rIns="0" bIns="0" anchor="t" anchorCtr="0">
              <a:spAutoFit/>
            </a:bodyPr>
            <a:lstStyle/>
            <a:p>
              <a:pPr algn="l"/>
              <a:r>
                <a:rPr lang="zh-CN" sz="750" b="1" dirty="0">
                  <a:solidFill>
                    <a:srgbClr val="3E1810"/>
                  </a:solidFill>
                  <a:latin typeface="+mn-lt"/>
                  <a:ea typeface="+mn-ea"/>
                  <a:cs typeface="+mn-cs"/>
                </a:rPr>
                <a:t>区分度</a:t>
              </a:r>
            </a:p>
          </p:txBody>
        </p:sp>
        <p:sp>
          <p:nvSpPr>
            <p:cNvPr id="162" name="TextBox 162"/>
            <p:cNvSpPr txBox="1"/>
            <p:nvPr/>
          </p:nvSpPr>
          <p:spPr>
            <a:xfrm>
              <a:off x="1385888" y="3718084"/>
              <a:ext cx="61404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C3A33"/>
                  </a:solidFill>
                  <a:latin typeface="+mn-lt"/>
                  <a:ea typeface="+mn-ea"/>
                  <a:cs typeface="+mn-cs"/>
                </a:rPr>
                <a:t>能否有效区分好</a:t>
              </a:r>
              <a:br/>
              <a:r>
                <a:rPr lang="zh-CN" sz="680" dirty="0">
                  <a:solidFill>
                    <a:srgbClr val="5C3A33"/>
                  </a:solidFill>
                  <a:latin typeface="+mn-lt"/>
                  <a:ea typeface="+mn-ea"/>
                  <a:cs typeface="+mn-cs"/>
                </a:rPr>
                <a:t>坏样本</a:t>
              </a:r>
            </a:p>
          </p:txBody>
        </p:sp>
        <p:sp>
          <p:nvSpPr>
            <p:cNvPr id="163" name="TextBox 163"/>
            <p:cNvSpPr txBox="1"/>
            <p:nvPr/>
          </p:nvSpPr>
          <p:spPr>
            <a:xfrm>
              <a:off x="3290888" y="3775234"/>
              <a:ext cx="928810"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j-lt"/>
                  <a:ea typeface="+mj-ea"/>
                  <a:cs typeface="+mj-cs"/>
                </a:rPr>
                <a:t>AUC、KS、Lift、PR​</a:t>
              </a:r>
            </a:p>
          </p:txBody>
        </p:sp>
        <p:sp>
          <p:nvSpPr>
            <p:cNvPr id="164" name="TextBox 164"/>
            <p:cNvSpPr txBox="1"/>
            <p:nvPr/>
          </p:nvSpPr>
          <p:spPr>
            <a:xfrm>
              <a:off x="4910138" y="3718084"/>
              <a:ext cx="410339" cy="257175"/>
            </a:xfrm>
            <a:prstGeom prst="rect">
              <a:avLst/>
            </a:prstGeom>
            <a:noFill/>
            <a:ln>
              <a:noFill/>
            </a:ln>
          </p:spPr>
          <p:txBody>
            <a:bodyPr wrap="none" lIns="0" tIns="0" rIns="0" bIns="0" anchor="t" anchorCtr="0">
              <a:spAutoFit/>
            </a:bodyPr>
            <a:lstStyle/>
            <a:p>
              <a:pPr algn="l">
                <a:lnSpc>
                  <a:spcPts val="975"/>
                </a:lnSpc>
              </a:pPr>
              <a:r>
                <a:rPr lang="en-US" sz="680" dirty="0">
                  <a:solidFill>
                    <a:srgbClr val="5C3A33"/>
                  </a:solidFill>
                  <a:latin typeface="+mj-lt"/>
                  <a:ea typeface="+mj-ea"/>
                  <a:cs typeface="+mj-cs"/>
                </a:rPr>
                <a:t>AUC &gt; 0.7</a:t>
              </a:r>
              <a:br/>
              <a:r>
                <a:rPr lang="en-US" sz="680" dirty="0">
                  <a:solidFill>
                    <a:srgbClr val="5C3A33"/>
                  </a:solidFill>
                  <a:latin typeface="+mj-lt"/>
                  <a:ea typeface="+mj-ea"/>
                  <a:cs typeface="+mj-cs"/>
                </a:rPr>
                <a:t>KS &gt; 0.2</a:t>
              </a:r>
            </a:p>
          </p:txBody>
        </p:sp>
        <p:sp>
          <p:nvSpPr>
            <p:cNvPr id="165" name="TextBox 165"/>
            <p:cNvSpPr txBox="1"/>
            <p:nvPr/>
          </p:nvSpPr>
          <p:spPr>
            <a:xfrm>
              <a:off x="6376988" y="3775234"/>
              <a:ext cx="1291107"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区分能力越强，风险识别更精准</a:t>
              </a:r>
            </a:p>
          </p:txBody>
        </p:sp>
        <p:sp>
          <p:nvSpPr>
            <p:cNvPr id="166" name="Rectangle 166"/>
            <p:cNvSpPr/>
            <p:nvPr/>
          </p:nvSpPr>
          <p:spPr>
            <a:xfrm>
              <a:off x="266700" y="4143375"/>
              <a:ext cx="7715250" cy="600075"/>
            </a:xfrm>
            <a:prstGeom prst="rect">
              <a:avLst/>
            </a:prstGeom>
            <a:solidFill>
              <a:srgbClr val="FFFFFF"/>
            </a:solidFill>
            <a:ln>
              <a:noFill/>
            </a:ln>
          </p:spPr>
        </p:sp>
        <p:grpSp>
          <p:nvGrpSpPr>
            <p:cNvPr id="169" name="Group 169"/>
            <p:cNvGrpSpPr/>
            <p:nvPr/>
          </p:nvGrpSpPr>
          <p:grpSpPr>
            <a:xfrm>
              <a:off x="366712" y="4355391"/>
              <a:ext cx="95250" cy="99844"/>
              <a:chOff x="366712" y="4355391"/>
              <a:chExt cx="95250" cy="99844"/>
            </a:xfrm>
          </p:grpSpPr>
          <p:sp>
            <p:nvSpPr>
              <p:cNvPr id="167" name="Freeform 167"/>
              <p:cNvSpPr/>
              <p:nvPr/>
            </p:nvSpPr>
            <p:spPr>
              <a:xfrm>
                <a:off x="366712" y="4355391"/>
                <a:ext cx="95250" cy="43969"/>
              </a:xfrm>
              <a:custGeom>
                <a:avLst/>
                <a:gdLst/>
                <a:ahLst/>
                <a:cxnLst/>
                <a:rect l="l" t="t" r="r" b="b"/>
                <a:pathLst>
                  <a:path w="95250" h="43969">
                    <a:moveTo>
                      <a:pt x="95250" y="43969"/>
                    </a:moveTo>
                    <a:cubicBezTo>
                      <a:pt x="92257" y="22434"/>
                      <a:pt x="75223" y="5565"/>
                      <a:pt x="53660" y="2782"/>
                    </a:cubicBezTo>
                    <a:cubicBezTo>
                      <a:pt x="32096" y="0"/>
                      <a:pt x="11338" y="11992"/>
                      <a:pt x="2977" y="32063"/>
                    </a:cubicBezTo>
                    <a:moveTo>
                      <a:pt x="0" y="8250"/>
                    </a:moveTo>
                    <a:lnTo>
                      <a:pt x="0" y="32063"/>
                    </a:lnTo>
                    <a:lnTo>
                      <a:pt x="23812" y="32063"/>
                    </a:lnTo>
                  </a:path>
                </a:pathLst>
              </a:custGeom>
              <a:noFill/>
              <a:ln w="11906">
                <a:solidFill>
                  <a:srgbClr val="C4472E"/>
                </a:solidFill>
              </a:ln>
            </p:spPr>
          </p:sp>
          <p:sp>
            <p:nvSpPr>
              <p:cNvPr id="168" name="Freeform 168"/>
              <p:cNvSpPr/>
              <p:nvPr/>
            </p:nvSpPr>
            <p:spPr>
              <a:xfrm>
                <a:off x="366712" y="4411266"/>
                <a:ext cx="95250" cy="43969"/>
              </a:xfrm>
              <a:custGeom>
                <a:avLst/>
                <a:gdLst/>
                <a:ahLst/>
                <a:cxnLst/>
                <a:rect l="l" t="t" r="r" b="b"/>
                <a:pathLst>
                  <a:path w="95250" h="43969">
                    <a:moveTo>
                      <a:pt x="0" y="0"/>
                    </a:moveTo>
                    <a:cubicBezTo>
                      <a:pt x="2993" y="21535"/>
                      <a:pt x="20027" y="38404"/>
                      <a:pt x="41590" y="41186"/>
                    </a:cubicBezTo>
                    <a:cubicBezTo>
                      <a:pt x="63154" y="43969"/>
                      <a:pt x="83912" y="31976"/>
                      <a:pt x="92273" y="11906"/>
                    </a:cubicBezTo>
                    <a:moveTo>
                      <a:pt x="95250" y="35719"/>
                    </a:moveTo>
                    <a:lnTo>
                      <a:pt x="95250" y="11906"/>
                    </a:lnTo>
                    <a:lnTo>
                      <a:pt x="71438" y="11906"/>
                    </a:lnTo>
                  </a:path>
                </a:pathLst>
              </a:custGeom>
              <a:noFill/>
              <a:ln w="11906">
                <a:solidFill>
                  <a:srgbClr val="C4472E"/>
                </a:solidFill>
              </a:ln>
            </p:spPr>
          </p:sp>
        </p:grpSp>
        <p:sp>
          <p:nvSpPr>
            <p:cNvPr id="170" name="TextBox 170"/>
            <p:cNvSpPr txBox="1"/>
            <p:nvPr/>
          </p:nvSpPr>
          <p:spPr>
            <a:xfrm>
              <a:off x="547688" y="4367212"/>
              <a:ext cx="312420" cy="147638"/>
            </a:xfrm>
            <a:prstGeom prst="rect">
              <a:avLst/>
            </a:prstGeom>
            <a:noFill/>
            <a:ln>
              <a:noFill/>
            </a:ln>
          </p:spPr>
          <p:txBody>
            <a:bodyPr wrap="none" lIns="0" tIns="0" rIns="0" bIns="0" anchor="t" anchorCtr="0">
              <a:spAutoFit/>
            </a:bodyPr>
            <a:lstStyle/>
            <a:p>
              <a:pPr algn="l"/>
              <a:r>
                <a:rPr lang="zh-CN" sz="750" b="1" dirty="0">
                  <a:solidFill>
                    <a:srgbClr val="3E1810"/>
                  </a:solidFill>
                  <a:latin typeface="+mn-lt"/>
                  <a:ea typeface="+mn-ea"/>
                  <a:cs typeface="+mn-cs"/>
                </a:rPr>
                <a:t>稳定性</a:t>
              </a:r>
            </a:p>
          </p:txBody>
        </p:sp>
        <p:sp>
          <p:nvSpPr>
            <p:cNvPr id="171" name="TextBox 171"/>
            <p:cNvSpPr txBox="1"/>
            <p:nvPr/>
          </p:nvSpPr>
          <p:spPr>
            <a:xfrm>
              <a:off x="1385888" y="4318159"/>
              <a:ext cx="87312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C3A33"/>
                  </a:solidFill>
                  <a:latin typeface="+mn-lt"/>
                  <a:ea typeface="+mn-ea"/>
                  <a:cs typeface="+mn-cs"/>
                </a:rPr>
                <a:t>不同时间、不同人群下</a:t>
              </a:r>
              <a:br/>
              <a:r>
                <a:rPr lang="zh-CN" sz="680" dirty="0">
                  <a:solidFill>
                    <a:srgbClr val="5C3A33"/>
                  </a:solidFill>
                  <a:latin typeface="+mn-lt"/>
                  <a:ea typeface="+mn-ea"/>
                  <a:cs typeface="+mn-cs"/>
                </a:rPr>
                <a:t>是否表现稳定</a:t>
              </a:r>
            </a:p>
          </p:txBody>
        </p:sp>
        <p:sp>
          <p:nvSpPr>
            <p:cNvPr id="172" name="TextBox 172"/>
            <p:cNvSpPr txBox="1"/>
            <p:nvPr/>
          </p:nvSpPr>
          <p:spPr>
            <a:xfrm>
              <a:off x="3290888" y="4375309"/>
              <a:ext cx="879947"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PSI、CSI、分组对比​</a:t>
              </a:r>
            </a:p>
          </p:txBody>
        </p:sp>
        <p:sp>
          <p:nvSpPr>
            <p:cNvPr id="173" name="TextBox 173"/>
            <p:cNvSpPr txBox="1"/>
            <p:nvPr/>
          </p:nvSpPr>
          <p:spPr>
            <a:xfrm>
              <a:off x="4910138" y="4318159"/>
              <a:ext cx="463312" cy="133350"/>
            </a:xfrm>
            <a:prstGeom prst="rect">
              <a:avLst/>
            </a:prstGeom>
            <a:noFill/>
            <a:ln>
              <a:noFill/>
            </a:ln>
          </p:spPr>
          <p:txBody>
            <a:bodyPr wrap="none" lIns="0" tIns="0" rIns="0" bIns="0" anchor="t" anchorCtr="0">
              <a:spAutoFit/>
            </a:bodyPr>
            <a:lstStyle/>
            <a:p>
              <a:pPr algn="l"/>
              <a:r>
                <a:rPr lang="en-US" sz="680" dirty="0">
                  <a:solidFill>
                    <a:srgbClr val="5C3A33"/>
                  </a:solidFill>
                  <a:latin typeface="+mj-lt"/>
                  <a:ea typeface="+mj-ea"/>
                  <a:cs typeface="+mj-cs"/>
                </a:rPr>
                <a:t>PSI &lt; 0.1​</a:t>
              </a:r>
            </a:p>
          </p:txBody>
        </p:sp>
        <p:sp>
          <p:nvSpPr>
            <p:cNvPr id="174" name="TextBox 174"/>
            <p:cNvSpPr txBox="1"/>
            <p:nvPr/>
          </p:nvSpPr>
          <p:spPr>
            <a:xfrm>
              <a:off x="4910138" y="4441984"/>
              <a:ext cx="878932"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j-lt"/>
                  <a:ea typeface="+mj-ea"/>
                  <a:cs typeface="+mj-cs"/>
                </a:rPr>
                <a:t>（0.1-0.25 需关注）​</a:t>
              </a:r>
            </a:p>
          </p:txBody>
        </p:sp>
        <p:sp>
          <p:nvSpPr>
            <p:cNvPr id="175" name="TextBox 175"/>
            <p:cNvSpPr txBox="1"/>
            <p:nvPr/>
          </p:nvSpPr>
          <p:spPr>
            <a:xfrm>
              <a:off x="6376988" y="4375309"/>
              <a:ext cx="1291107"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保证模型在实际业务中持续有效</a:t>
              </a:r>
            </a:p>
          </p:txBody>
        </p:sp>
        <p:sp>
          <p:nvSpPr>
            <p:cNvPr id="176" name="Rectangle 176"/>
            <p:cNvSpPr/>
            <p:nvPr/>
          </p:nvSpPr>
          <p:spPr>
            <a:xfrm>
              <a:off x="266700" y="4743450"/>
              <a:ext cx="7715250" cy="600075"/>
            </a:xfrm>
            <a:prstGeom prst="rect">
              <a:avLst/>
            </a:prstGeom>
            <a:solidFill>
              <a:srgbClr val="F4F9FD"/>
            </a:solidFill>
            <a:ln>
              <a:noFill/>
            </a:ln>
          </p:spPr>
        </p:sp>
        <p:grpSp>
          <p:nvGrpSpPr>
            <p:cNvPr id="182" name="Group 182"/>
            <p:cNvGrpSpPr/>
            <p:nvPr/>
          </p:nvGrpSpPr>
          <p:grpSpPr>
            <a:xfrm>
              <a:off x="360759" y="4951809"/>
              <a:ext cx="107157" cy="110728"/>
              <a:chOff x="360759" y="4951809"/>
              <a:chExt cx="107157" cy="110728"/>
            </a:xfrm>
          </p:grpSpPr>
          <p:sp>
            <p:nvSpPr>
              <p:cNvPr id="177" name="Freeform 177"/>
              <p:cNvSpPr/>
              <p:nvPr/>
            </p:nvSpPr>
            <p:spPr>
              <a:xfrm>
                <a:off x="384572" y="5053012"/>
                <a:ext cx="59531" cy="9525"/>
              </a:xfrm>
              <a:custGeom>
                <a:avLst/>
                <a:gdLst/>
                <a:ahLst/>
                <a:cxnLst/>
                <a:rect l="l" t="t" r="r" b="b"/>
                <a:pathLst>
                  <a:path w="59531" h="9525">
                    <a:moveTo>
                      <a:pt x="0" y="0"/>
                    </a:moveTo>
                    <a:lnTo>
                      <a:pt x="59531" y="0"/>
                    </a:lnTo>
                  </a:path>
                </a:pathLst>
              </a:custGeom>
              <a:noFill/>
              <a:ln w="11906">
                <a:solidFill>
                  <a:srgbClr val="C4472E"/>
                </a:solidFill>
              </a:ln>
            </p:spPr>
          </p:sp>
          <p:sp>
            <p:nvSpPr>
              <p:cNvPr id="178" name="Freeform 178"/>
              <p:cNvSpPr/>
              <p:nvPr/>
            </p:nvSpPr>
            <p:spPr>
              <a:xfrm>
                <a:off x="378619" y="4963716"/>
                <a:ext cx="71438" cy="9525"/>
              </a:xfrm>
              <a:custGeom>
                <a:avLst/>
                <a:gdLst/>
                <a:ahLst/>
                <a:cxnLst/>
                <a:rect l="l" t="t" r="r" b="b"/>
                <a:pathLst>
                  <a:path w="71438" h="9525">
                    <a:moveTo>
                      <a:pt x="0" y="5953"/>
                    </a:moveTo>
                    <a:lnTo>
                      <a:pt x="35719" y="0"/>
                    </a:lnTo>
                    <a:lnTo>
                      <a:pt x="71438" y="5953"/>
                    </a:lnTo>
                  </a:path>
                </a:pathLst>
              </a:custGeom>
              <a:noFill/>
              <a:ln w="11906">
                <a:solidFill>
                  <a:srgbClr val="C4472E"/>
                </a:solidFill>
              </a:ln>
            </p:spPr>
          </p:sp>
          <p:sp>
            <p:nvSpPr>
              <p:cNvPr id="179" name="Freeform 179"/>
              <p:cNvSpPr/>
              <p:nvPr/>
            </p:nvSpPr>
            <p:spPr>
              <a:xfrm>
                <a:off x="414338" y="4951809"/>
                <a:ext cx="9525" cy="101203"/>
              </a:xfrm>
              <a:custGeom>
                <a:avLst/>
                <a:gdLst/>
                <a:ahLst/>
                <a:cxnLst/>
                <a:rect l="l" t="t" r="r" b="b"/>
                <a:pathLst>
                  <a:path w="9525" h="101203">
                    <a:moveTo>
                      <a:pt x="0" y="0"/>
                    </a:moveTo>
                    <a:lnTo>
                      <a:pt x="0" y="101203"/>
                    </a:lnTo>
                  </a:path>
                </a:pathLst>
              </a:custGeom>
              <a:noFill/>
              <a:ln w="11906">
                <a:solidFill>
                  <a:srgbClr val="C4472E"/>
                </a:solidFill>
              </a:ln>
            </p:spPr>
          </p:sp>
          <p:sp>
            <p:nvSpPr>
              <p:cNvPr id="180" name="Freeform 180"/>
              <p:cNvSpPr/>
              <p:nvPr/>
            </p:nvSpPr>
            <p:spPr>
              <a:xfrm>
                <a:off x="360759" y="4969669"/>
                <a:ext cx="35719" cy="53578"/>
              </a:xfrm>
              <a:custGeom>
                <a:avLst/>
                <a:gdLst/>
                <a:ahLst/>
                <a:cxnLst/>
                <a:rect l="l" t="t" r="r" b="b"/>
                <a:pathLst>
                  <a:path w="35719" h="53578">
                    <a:moveTo>
                      <a:pt x="35719" y="35719"/>
                    </a:moveTo>
                    <a:lnTo>
                      <a:pt x="17859" y="0"/>
                    </a:lnTo>
                    <a:lnTo>
                      <a:pt x="0" y="35719"/>
                    </a:lnTo>
                    <a:cubicBezTo>
                      <a:pt x="0" y="45582"/>
                      <a:pt x="7996" y="53578"/>
                      <a:pt x="17859" y="53578"/>
                    </a:cubicBezTo>
                    <a:cubicBezTo>
                      <a:pt x="27723" y="53578"/>
                      <a:pt x="35719" y="45582"/>
                      <a:pt x="35719" y="35719"/>
                    </a:cubicBezTo>
                  </a:path>
                </a:pathLst>
              </a:custGeom>
              <a:noFill/>
              <a:ln w="11906">
                <a:solidFill>
                  <a:srgbClr val="C4472E"/>
                </a:solidFill>
              </a:ln>
            </p:spPr>
          </p:sp>
          <p:sp>
            <p:nvSpPr>
              <p:cNvPr id="181" name="Freeform 181"/>
              <p:cNvSpPr/>
              <p:nvPr/>
            </p:nvSpPr>
            <p:spPr>
              <a:xfrm>
                <a:off x="432197" y="4969669"/>
                <a:ext cx="35719" cy="53578"/>
              </a:xfrm>
              <a:custGeom>
                <a:avLst/>
                <a:gdLst/>
                <a:ahLst/>
                <a:cxnLst/>
                <a:rect l="l" t="t" r="r" b="b"/>
                <a:pathLst>
                  <a:path w="35719" h="53578">
                    <a:moveTo>
                      <a:pt x="35719" y="35719"/>
                    </a:moveTo>
                    <a:lnTo>
                      <a:pt x="17859" y="0"/>
                    </a:lnTo>
                    <a:lnTo>
                      <a:pt x="0" y="35719"/>
                    </a:lnTo>
                    <a:cubicBezTo>
                      <a:pt x="0" y="45582"/>
                      <a:pt x="7996" y="53578"/>
                      <a:pt x="17859" y="53578"/>
                    </a:cubicBezTo>
                    <a:cubicBezTo>
                      <a:pt x="27723" y="53578"/>
                      <a:pt x="35719" y="45582"/>
                      <a:pt x="35719" y="35719"/>
                    </a:cubicBezTo>
                  </a:path>
                </a:pathLst>
              </a:custGeom>
              <a:noFill/>
              <a:ln w="11906">
                <a:solidFill>
                  <a:srgbClr val="C4472E"/>
                </a:solidFill>
              </a:ln>
            </p:spPr>
          </p:sp>
        </p:grpSp>
        <p:sp>
          <p:nvSpPr>
            <p:cNvPr id="183" name="TextBox 183"/>
            <p:cNvSpPr txBox="1"/>
            <p:nvPr/>
          </p:nvSpPr>
          <p:spPr>
            <a:xfrm>
              <a:off x="547688" y="4967288"/>
              <a:ext cx="211455" cy="147638"/>
            </a:xfrm>
            <a:prstGeom prst="rect">
              <a:avLst/>
            </a:prstGeom>
            <a:noFill/>
            <a:ln>
              <a:noFill/>
            </a:ln>
          </p:spPr>
          <p:txBody>
            <a:bodyPr wrap="none" lIns="0" tIns="0" rIns="0" bIns="0" anchor="t" anchorCtr="0">
              <a:spAutoFit/>
            </a:bodyPr>
            <a:lstStyle/>
            <a:p>
              <a:pPr algn="l"/>
              <a:r>
                <a:rPr lang="zh-CN" sz="750" b="1" dirty="0">
                  <a:solidFill>
                    <a:srgbClr val="3E1810"/>
                  </a:solidFill>
                  <a:latin typeface="+mn-lt"/>
                  <a:ea typeface="+mn-ea"/>
                  <a:cs typeface="+mn-cs"/>
                </a:rPr>
                <a:t>校准</a:t>
              </a:r>
            </a:p>
          </p:txBody>
        </p:sp>
        <p:sp>
          <p:nvSpPr>
            <p:cNvPr id="184" name="TextBox 184"/>
            <p:cNvSpPr txBox="1"/>
            <p:nvPr/>
          </p:nvSpPr>
          <p:spPr>
            <a:xfrm>
              <a:off x="1385888" y="4975384"/>
              <a:ext cx="1108024"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预测的概率是否与实际一致</a:t>
              </a:r>
            </a:p>
          </p:txBody>
        </p:sp>
        <p:sp>
          <p:nvSpPr>
            <p:cNvPr id="185" name="TextBox 185"/>
            <p:cNvSpPr txBox="1"/>
            <p:nvPr/>
          </p:nvSpPr>
          <p:spPr>
            <a:xfrm>
              <a:off x="3290888" y="4918234"/>
              <a:ext cx="1072160"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j-lt"/>
                  <a:ea typeface="+mj-ea"/>
                  <a:cs typeface="+mj-cs"/>
                </a:rPr>
                <a:t>校准曲线、Brier Score、​</a:t>
              </a:r>
            </a:p>
          </p:txBody>
        </p:sp>
        <p:sp>
          <p:nvSpPr>
            <p:cNvPr id="186" name="TextBox 186"/>
            <p:cNvSpPr txBox="1"/>
            <p:nvPr/>
          </p:nvSpPr>
          <p:spPr>
            <a:xfrm>
              <a:off x="3290888" y="5042059"/>
              <a:ext cx="366607"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j-lt"/>
                  <a:ea typeface="+mj-ea"/>
                  <a:cs typeface="+mj-cs"/>
                </a:rPr>
                <a:t>HL检验​</a:t>
              </a:r>
            </a:p>
          </p:txBody>
        </p:sp>
        <p:sp>
          <p:nvSpPr>
            <p:cNvPr id="187" name="TextBox 187"/>
            <p:cNvSpPr txBox="1"/>
            <p:nvPr/>
          </p:nvSpPr>
          <p:spPr>
            <a:xfrm>
              <a:off x="4910138" y="4918234"/>
              <a:ext cx="87312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C3A33"/>
                  </a:solidFill>
                  <a:latin typeface="+mj-lt"/>
                  <a:ea typeface="+mj-ea"/>
                  <a:cs typeface="+mj-cs"/>
                </a:rPr>
                <a:t>Brier Score 越小越好</a:t>
              </a:r>
              <a:br/>
              <a:r>
                <a:rPr lang="zh-CN" sz="680" dirty="0">
                  <a:solidFill>
                    <a:srgbClr val="5C3A33"/>
                  </a:solidFill>
                  <a:latin typeface="+mj-lt"/>
                  <a:ea typeface="+mj-ea"/>
                  <a:cs typeface="+mj-cs"/>
                </a:rPr>
                <a:t>校准曲线越接近对角线</a:t>
              </a:r>
            </a:p>
          </p:txBody>
        </p:sp>
        <p:sp>
          <p:nvSpPr>
            <p:cNvPr id="188" name="TextBox 188"/>
            <p:cNvSpPr txBox="1"/>
            <p:nvPr/>
          </p:nvSpPr>
          <p:spPr>
            <a:xfrm>
              <a:off x="6376988" y="4975384"/>
              <a:ext cx="1565732"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概率可解释，支持精细定价和额度管理</a:t>
              </a:r>
            </a:p>
          </p:txBody>
        </p:sp>
        <p:sp>
          <p:nvSpPr>
            <p:cNvPr id="189" name="Rectangle 189"/>
            <p:cNvSpPr/>
            <p:nvPr/>
          </p:nvSpPr>
          <p:spPr>
            <a:xfrm>
              <a:off x="266700" y="5343525"/>
              <a:ext cx="7715250" cy="600075"/>
            </a:xfrm>
            <a:prstGeom prst="rect">
              <a:avLst/>
            </a:prstGeom>
            <a:solidFill>
              <a:srgbClr val="FFFFFF"/>
            </a:solidFill>
            <a:ln>
              <a:noFill/>
            </a:ln>
          </p:spPr>
        </p:sp>
        <p:grpSp>
          <p:nvGrpSpPr>
            <p:cNvPr id="196" name="Group 196"/>
            <p:cNvGrpSpPr/>
            <p:nvPr/>
          </p:nvGrpSpPr>
          <p:grpSpPr>
            <a:xfrm>
              <a:off x="366712" y="5551884"/>
              <a:ext cx="95250" cy="107157"/>
              <a:chOff x="366712" y="5551884"/>
              <a:chExt cx="95250" cy="107157"/>
            </a:xfrm>
          </p:grpSpPr>
          <p:sp>
            <p:nvSpPr>
              <p:cNvPr id="190" name="Freeform 190"/>
              <p:cNvSpPr/>
              <p:nvPr/>
            </p:nvSpPr>
            <p:spPr>
              <a:xfrm>
                <a:off x="366712" y="5563791"/>
                <a:ext cx="95250" cy="95250"/>
              </a:xfrm>
              <a:custGeom>
                <a:avLst/>
                <a:gdLst/>
                <a:ahLst/>
                <a:cxnLst/>
                <a:rect l="l" t="t" r="r" b="b"/>
                <a:pathLst>
                  <a:path w="95250" h="95250">
                    <a:moveTo>
                      <a:pt x="0" y="11906"/>
                    </a:moveTo>
                    <a:cubicBezTo>
                      <a:pt x="0" y="5331"/>
                      <a:pt x="5331" y="0"/>
                      <a:pt x="11906" y="0"/>
                    </a:cubicBezTo>
                    <a:lnTo>
                      <a:pt x="83344" y="0"/>
                    </a:lnTo>
                    <a:cubicBezTo>
                      <a:pt x="89919" y="0"/>
                      <a:pt x="95250" y="5331"/>
                      <a:pt x="95250" y="11906"/>
                    </a:cubicBezTo>
                    <a:lnTo>
                      <a:pt x="95250" y="83344"/>
                    </a:lnTo>
                    <a:cubicBezTo>
                      <a:pt x="95250" y="89919"/>
                      <a:pt x="89919" y="95250"/>
                      <a:pt x="83344" y="95250"/>
                    </a:cubicBezTo>
                    <a:lnTo>
                      <a:pt x="11906" y="95250"/>
                    </a:lnTo>
                    <a:cubicBezTo>
                      <a:pt x="5331" y="95250"/>
                      <a:pt x="0" y="89919"/>
                      <a:pt x="0" y="83344"/>
                    </a:cubicBezTo>
                    <a:lnTo>
                      <a:pt x="0" y="11906"/>
                    </a:lnTo>
                  </a:path>
                </a:pathLst>
              </a:custGeom>
              <a:noFill/>
              <a:ln w="11906">
                <a:solidFill>
                  <a:srgbClr val="C4472E"/>
                </a:solidFill>
              </a:ln>
            </p:spPr>
          </p:sp>
          <p:sp>
            <p:nvSpPr>
              <p:cNvPr id="191" name="Freeform 191"/>
              <p:cNvSpPr/>
              <p:nvPr/>
            </p:nvSpPr>
            <p:spPr>
              <a:xfrm>
                <a:off x="438150" y="5551884"/>
                <a:ext cx="9525" cy="23812"/>
              </a:xfrm>
              <a:custGeom>
                <a:avLst/>
                <a:gdLst/>
                <a:ahLst/>
                <a:cxnLst/>
                <a:rect l="l" t="t" r="r" b="b"/>
                <a:pathLst>
                  <a:path w="9525" h="23812">
                    <a:moveTo>
                      <a:pt x="0" y="0"/>
                    </a:moveTo>
                    <a:lnTo>
                      <a:pt x="0" y="23812"/>
                    </a:lnTo>
                  </a:path>
                </a:pathLst>
              </a:custGeom>
              <a:noFill/>
              <a:ln w="11906">
                <a:solidFill>
                  <a:srgbClr val="C4472E"/>
                </a:solidFill>
              </a:ln>
            </p:spPr>
          </p:sp>
          <p:sp>
            <p:nvSpPr>
              <p:cNvPr id="192" name="Freeform 192"/>
              <p:cNvSpPr/>
              <p:nvPr/>
            </p:nvSpPr>
            <p:spPr>
              <a:xfrm>
                <a:off x="390525" y="5551884"/>
                <a:ext cx="9525" cy="23812"/>
              </a:xfrm>
              <a:custGeom>
                <a:avLst/>
                <a:gdLst/>
                <a:ahLst/>
                <a:cxnLst/>
                <a:rect l="l" t="t" r="r" b="b"/>
                <a:pathLst>
                  <a:path w="9525" h="23812">
                    <a:moveTo>
                      <a:pt x="0" y="0"/>
                    </a:moveTo>
                    <a:lnTo>
                      <a:pt x="0" y="23812"/>
                    </a:lnTo>
                  </a:path>
                </a:pathLst>
              </a:custGeom>
              <a:noFill/>
              <a:ln w="11906">
                <a:solidFill>
                  <a:srgbClr val="C4472E"/>
                </a:solidFill>
              </a:ln>
            </p:spPr>
          </p:sp>
          <p:sp>
            <p:nvSpPr>
              <p:cNvPr id="193" name="Freeform 193"/>
              <p:cNvSpPr/>
              <p:nvPr/>
            </p:nvSpPr>
            <p:spPr>
              <a:xfrm>
                <a:off x="366712" y="5599509"/>
                <a:ext cx="95250" cy="9525"/>
              </a:xfrm>
              <a:custGeom>
                <a:avLst/>
                <a:gdLst/>
                <a:ahLst/>
                <a:cxnLst/>
                <a:rect l="l" t="t" r="r" b="b"/>
                <a:pathLst>
                  <a:path w="95250" h="9525">
                    <a:moveTo>
                      <a:pt x="0" y="0"/>
                    </a:moveTo>
                    <a:lnTo>
                      <a:pt x="95250" y="0"/>
                    </a:lnTo>
                  </a:path>
                </a:pathLst>
              </a:custGeom>
              <a:noFill/>
              <a:ln w="11906">
                <a:solidFill>
                  <a:srgbClr val="C4472E"/>
                </a:solidFill>
              </a:ln>
            </p:spPr>
          </p:sp>
          <p:sp>
            <p:nvSpPr>
              <p:cNvPr id="194" name="Freeform 194"/>
              <p:cNvSpPr/>
              <p:nvPr/>
            </p:nvSpPr>
            <p:spPr>
              <a:xfrm>
                <a:off x="408384" y="5623322"/>
                <a:ext cx="9525" cy="9525"/>
              </a:xfrm>
              <a:custGeom>
                <a:avLst/>
                <a:gdLst/>
                <a:ahLst/>
                <a:cxnLst/>
                <a:rect l="l" t="t" r="r" b="b"/>
                <a:pathLst>
                  <a:path w="9525" h="9525">
                    <a:moveTo>
                      <a:pt x="0" y="0"/>
                    </a:moveTo>
                    <a:lnTo>
                      <a:pt x="5953" y="0"/>
                    </a:lnTo>
                  </a:path>
                </a:pathLst>
              </a:custGeom>
              <a:noFill/>
              <a:ln w="11906">
                <a:solidFill>
                  <a:srgbClr val="C4472E"/>
                </a:solidFill>
              </a:ln>
            </p:spPr>
          </p:sp>
          <p:sp>
            <p:nvSpPr>
              <p:cNvPr id="195" name="Freeform 195"/>
              <p:cNvSpPr/>
              <p:nvPr/>
            </p:nvSpPr>
            <p:spPr>
              <a:xfrm>
                <a:off x="414338" y="5623322"/>
                <a:ext cx="9525" cy="17859"/>
              </a:xfrm>
              <a:custGeom>
                <a:avLst/>
                <a:gdLst/>
                <a:ahLst/>
                <a:cxnLst/>
                <a:rect l="l" t="t" r="r" b="b"/>
                <a:pathLst>
                  <a:path w="9525" h="17859">
                    <a:moveTo>
                      <a:pt x="0" y="0"/>
                    </a:moveTo>
                    <a:lnTo>
                      <a:pt x="0" y="17859"/>
                    </a:lnTo>
                  </a:path>
                </a:pathLst>
              </a:custGeom>
              <a:noFill/>
              <a:ln w="11906">
                <a:solidFill>
                  <a:srgbClr val="C4472E"/>
                </a:solidFill>
              </a:ln>
            </p:spPr>
          </p:sp>
        </p:grpSp>
        <p:sp>
          <p:nvSpPr>
            <p:cNvPr id="197" name="TextBox 197"/>
            <p:cNvSpPr txBox="1"/>
            <p:nvPr/>
          </p:nvSpPr>
          <p:spPr>
            <a:xfrm>
              <a:off x="547688" y="5567362"/>
              <a:ext cx="514350" cy="147638"/>
            </a:xfrm>
            <a:prstGeom prst="rect">
              <a:avLst/>
            </a:prstGeom>
            <a:noFill/>
            <a:ln>
              <a:noFill/>
            </a:ln>
          </p:spPr>
          <p:txBody>
            <a:bodyPr wrap="none" lIns="0" tIns="0" rIns="0" bIns="0" anchor="t" anchorCtr="0">
              <a:spAutoFit/>
            </a:bodyPr>
            <a:lstStyle/>
            <a:p>
              <a:pPr algn="l"/>
              <a:r>
                <a:rPr lang="zh-CN" sz="750" b="1" dirty="0">
                  <a:solidFill>
                    <a:srgbClr val="3E1810"/>
                  </a:solidFill>
                  <a:latin typeface="+mn-lt"/>
                  <a:ea typeface="+mn-ea"/>
                  <a:cs typeface="+mn-cs"/>
                </a:rPr>
                <a:t>时间外验证</a:t>
              </a:r>
            </a:p>
          </p:txBody>
        </p:sp>
        <p:sp>
          <p:nvSpPr>
            <p:cNvPr id="198" name="TextBox 198"/>
            <p:cNvSpPr txBox="1"/>
            <p:nvPr/>
          </p:nvSpPr>
          <p:spPr>
            <a:xfrm>
              <a:off x="1385888" y="5575459"/>
              <a:ext cx="1016483"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未来数据上是否仍然有效</a:t>
              </a:r>
            </a:p>
          </p:txBody>
        </p:sp>
        <p:sp>
          <p:nvSpPr>
            <p:cNvPr id="199" name="TextBox 199"/>
            <p:cNvSpPr txBox="1"/>
            <p:nvPr/>
          </p:nvSpPr>
          <p:spPr>
            <a:xfrm>
              <a:off x="3290888" y="5518309"/>
              <a:ext cx="786159"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j-lt"/>
                  <a:ea typeface="+mj-ea"/>
                  <a:cs typeface="+mj-cs"/>
                </a:rPr>
                <a:t>时间外AUC/KS、​</a:t>
              </a:r>
            </a:p>
          </p:txBody>
        </p:sp>
        <p:sp>
          <p:nvSpPr>
            <p:cNvPr id="200" name="TextBox 200"/>
            <p:cNvSpPr txBox="1"/>
            <p:nvPr/>
          </p:nvSpPr>
          <p:spPr>
            <a:xfrm>
              <a:off x="3290888" y="5642134"/>
              <a:ext cx="558775"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j-lt"/>
                  <a:ea typeface="+mj-ea"/>
                  <a:cs typeface="+mj-cs"/>
                </a:rPr>
                <a:t>滚动窗口验证</a:t>
              </a:r>
            </a:p>
          </p:txBody>
        </p:sp>
        <p:sp>
          <p:nvSpPr>
            <p:cNvPr id="201" name="TextBox 201"/>
            <p:cNvSpPr txBox="1"/>
            <p:nvPr/>
          </p:nvSpPr>
          <p:spPr>
            <a:xfrm>
              <a:off x="4910138" y="5575459"/>
              <a:ext cx="741858"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与开发期差异不大</a:t>
              </a:r>
            </a:p>
          </p:txBody>
        </p:sp>
        <p:sp>
          <p:nvSpPr>
            <p:cNvPr id="202" name="TextBox 202"/>
            <p:cNvSpPr txBox="1"/>
            <p:nvPr/>
          </p:nvSpPr>
          <p:spPr>
            <a:xfrm>
              <a:off x="6376988" y="5575459"/>
              <a:ext cx="1291107"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避免过拟合，确保模型长期可靠</a:t>
              </a:r>
            </a:p>
          </p:txBody>
        </p:sp>
        <p:sp>
          <p:nvSpPr>
            <p:cNvPr id="203" name="Rectangle 203"/>
            <p:cNvSpPr/>
            <p:nvPr/>
          </p:nvSpPr>
          <p:spPr>
            <a:xfrm>
              <a:off x="266700" y="5943600"/>
              <a:ext cx="7715250" cy="600075"/>
            </a:xfrm>
            <a:prstGeom prst="rect">
              <a:avLst/>
            </a:prstGeom>
            <a:solidFill>
              <a:srgbClr val="F4F9FD"/>
            </a:solidFill>
            <a:ln>
              <a:noFill/>
            </a:ln>
          </p:spPr>
        </p:sp>
        <p:grpSp>
          <p:nvGrpSpPr>
            <p:cNvPr id="206" name="Group 206"/>
            <p:cNvGrpSpPr/>
            <p:nvPr/>
          </p:nvGrpSpPr>
          <p:grpSpPr>
            <a:xfrm>
              <a:off x="360759" y="6169819"/>
              <a:ext cx="107156" cy="71438"/>
              <a:chOff x="360759" y="6169819"/>
              <a:chExt cx="107156" cy="71438"/>
            </a:xfrm>
          </p:grpSpPr>
          <p:sp>
            <p:nvSpPr>
              <p:cNvPr id="204" name="Freeform 204"/>
              <p:cNvSpPr/>
              <p:nvPr/>
            </p:nvSpPr>
            <p:spPr>
              <a:xfrm>
                <a:off x="402431" y="6193631"/>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C4472E"/>
                </a:solidFill>
              </a:ln>
            </p:spPr>
          </p:sp>
          <p:sp>
            <p:nvSpPr>
              <p:cNvPr id="205" name="Freeform 205"/>
              <p:cNvSpPr/>
              <p:nvPr/>
            </p:nvSpPr>
            <p:spPr>
              <a:xfrm>
                <a:off x="360759" y="6169819"/>
                <a:ext cx="107156" cy="71438"/>
              </a:xfrm>
              <a:custGeom>
                <a:avLst/>
                <a:gdLst/>
                <a:ahLst/>
                <a:cxnLst/>
                <a:rect l="l" t="t" r="r" b="b"/>
                <a:pathLst>
                  <a:path w="107156" h="71438">
                    <a:moveTo>
                      <a:pt x="107156" y="35719"/>
                    </a:moveTo>
                    <a:cubicBezTo>
                      <a:pt x="92869" y="59531"/>
                      <a:pt x="75009" y="71438"/>
                      <a:pt x="53578" y="71438"/>
                    </a:cubicBezTo>
                    <a:cubicBezTo>
                      <a:pt x="32147" y="71438"/>
                      <a:pt x="14288" y="59531"/>
                      <a:pt x="0" y="35719"/>
                    </a:cubicBezTo>
                    <a:cubicBezTo>
                      <a:pt x="14288" y="11906"/>
                      <a:pt x="32147" y="0"/>
                      <a:pt x="53578" y="0"/>
                    </a:cubicBezTo>
                    <a:cubicBezTo>
                      <a:pt x="75009" y="0"/>
                      <a:pt x="92869" y="11906"/>
                      <a:pt x="107156" y="35719"/>
                    </a:cubicBezTo>
                  </a:path>
                </a:pathLst>
              </a:custGeom>
              <a:noFill/>
              <a:ln w="11906">
                <a:solidFill>
                  <a:srgbClr val="C4472E"/>
                </a:solidFill>
              </a:ln>
            </p:spPr>
          </p:sp>
        </p:grpSp>
        <p:sp>
          <p:nvSpPr>
            <p:cNvPr id="207" name="TextBox 207"/>
            <p:cNvSpPr txBox="1"/>
            <p:nvPr/>
          </p:nvSpPr>
          <p:spPr>
            <a:xfrm>
              <a:off x="547688" y="6167438"/>
              <a:ext cx="514350" cy="147638"/>
            </a:xfrm>
            <a:prstGeom prst="rect">
              <a:avLst/>
            </a:prstGeom>
            <a:noFill/>
            <a:ln>
              <a:noFill/>
            </a:ln>
          </p:spPr>
          <p:txBody>
            <a:bodyPr wrap="none" lIns="0" tIns="0" rIns="0" bIns="0" anchor="t" anchorCtr="0">
              <a:spAutoFit/>
            </a:bodyPr>
            <a:lstStyle/>
            <a:p>
              <a:pPr algn="l"/>
              <a:r>
                <a:rPr lang="zh-CN" sz="750" b="1" dirty="0">
                  <a:solidFill>
                    <a:srgbClr val="3E1810"/>
                  </a:solidFill>
                  <a:latin typeface="+mn-lt"/>
                  <a:ea typeface="+mn-ea"/>
                  <a:cs typeface="+mn-cs"/>
                </a:rPr>
                <a:t>业务解释性</a:t>
              </a:r>
            </a:p>
          </p:txBody>
        </p:sp>
        <p:sp>
          <p:nvSpPr>
            <p:cNvPr id="208" name="TextBox 208"/>
            <p:cNvSpPr txBox="1"/>
            <p:nvPr/>
          </p:nvSpPr>
          <p:spPr>
            <a:xfrm>
              <a:off x="1385888" y="6118384"/>
              <a:ext cx="95948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C3A33"/>
                  </a:solidFill>
                  <a:latin typeface="+mn-lt"/>
                  <a:ea typeface="+mn-ea"/>
                  <a:cs typeface="+mn-cs"/>
                </a:rPr>
                <a:t>结果是否符合业务逻辑？</a:t>
              </a:r>
              <a:br/>
              <a:r>
                <a:rPr lang="zh-CN" sz="680" dirty="0">
                  <a:solidFill>
                    <a:srgbClr val="5C3A33"/>
                  </a:solidFill>
                  <a:latin typeface="+mn-lt"/>
                  <a:ea typeface="+mn-ea"/>
                  <a:cs typeface="+mn-cs"/>
                </a:rPr>
                <a:t>是否可解释？</a:t>
              </a:r>
            </a:p>
          </p:txBody>
        </p:sp>
        <p:sp>
          <p:nvSpPr>
            <p:cNvPr id="209" name="TextBox 209"/>
            <p:cNvSpPr txBox="1"/>
            <p:nvPr/>
          </p:nvSpPr>
          <p:spPr>
            <a:xfrm>
              <a:off x="3290888" y="6118384"/>
              <a:ext cx="104584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C3A33"/>
                  </a:solidFill>
                  <a:latin typeface="+mn-lt"/>
                  <a:ea typeface="+mn-ea"/>
                  <a:cs typeface="+mn-cs"/>
                </a:rPr>
                <a:t>特征重要性、单调性分析、</a:t>
              </a:r>
              <a:br/>
              <a:r>
                <a:rPr lang="zh-CN" sz="680" dirty="0">
                  <a:solidFill>
                    <a:srgbClr val="5C3A33"/>
                  </a:solidFill>
                  <a:latin typeface="+mn-lt"/>
                  <a:ea typeface="+mn-ea"/>
                  <a:cs typeface="+mn-cs"/>
                </a:rPr>
                <a:t>业务规则对照</a:t>
              </a:r>
            </a:p>
          </p:txBody>
        </p:sp>
        <p:sp>
          <p:nvSpPr>
            <p:cNvPr id="210" name="TextBox 210"/>
            <p:cNvSpPr txBox="1"/>
            <p:nvPr/>
          </p:nvSpPr>
          <p:spPr>
            <a:xfrm>
              <a:off x="4910138" y="6175534"/>
              <a:ext cx="558775"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符合业务常识</a:t>
              </a:r>
            </a:p>
          </p:txBody>
        </p:sp>
        <p:sp>
          <p:nvSpPr>
            <p:cNvPr id="211" name="TextBox 211"/>
            <p:cNvSpPr txBox="1"/>
            <p:nvPr/>
          </p:nvSpPr>
          <p:spPr>
            <a:xfrm>
              <a:off x="6376988" y="6118384"/>
              <a:ext cx="61404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C3A33"/>
                  </a:solidFill>
                  <a:latin typeface="+mn-lt"/>
                  <a:ea typeface="+mn-ea"/>
                  <a:cs typeface="+mn-cs"/>
                </a:rPr>
                <a:t>增强业务信任，</a:t>
              </a:r>
              <a:br/>
              <a:r>
                <a:rPr lang="zh-CN" sz="680" dirty="0">
                  <a:solidFill>
                    <a:srgbClr val="5C3A33"/>
                  </a:solidFill>
                  <a:latin typeface="+mn-lt"/>
                  <a:ea typeface="+mn-ea"/>
                  <a:cs typeface="+mn-cs"/>
                </a:rPr>
                <a:t>便于落地应用</a:t>
              </a:r>
            </a:p>
          </p:txBody>
        </p:sp>
      </p:grpSp>
      <p:grpSp>
        <p:nvGrpSpPr>
          <p:cNvPr id="239" name="misuse-card"/>
          <p:cNvGrpSpPr/>
          <p:nvPr/>
        </p:nvGrpSpPr>
        <p:grpSpPr>
          <a:xfrm>
            <a:off x="8153400" y="3105150"/>
            <a:ext cx="3848100" cy="3467100"/>
            <a:chOff x="8153400" y="3105150"/>
            <a:chExt cx="3848100" cy="3467100"/>
          </a:xfrm>
        </p:grpSpPr>
        <p:sp>
          <p:nvSpPr>
            <p:cNvPr id="213" name="Rectangle 213"/>
            <p:cNvSpPr/>
            <p:nvPr/>
          </p:nvSpPr>
          <p:spPr>
            <a:xfrm>
              <a:off x="8153400" y="3105150"/>
              <a:ext cx="3848100" cy="3467100"/>
            </a:xfrm>
            <a:prstGeom prst="roundRect">
              <a:avLst>
                <a:gd name="adj" fmla="val 2747"/>
              </a:avLst>
            </a:prstGeom>
            <a:solidFill>
              <a:srgbClr val="FDF4F2"/>
            </a:solidFill>
            <a:ln w="9525">
              <a:solidFill>
                <a:srgbClr val="F0D5D0"/>
              </a:solidFill>
            </a:ln>
          </p:spPr>
        </p:sp>
        <p:sp>
          <p:nvSpPr>
            <p:cNvPr id="214" name="Rectangle 214"/>
            <p:cNvSpPr/>
            <p:nvPr/>
          </p:nvSpPr>
          <p:spPr>
            <a:xfrm>
              <a:off x="8153400" y="3105150"/>
              <a:ext cx="3848100" cy="247650"/>
            </a:xfrm>
            <a:prstGeom prst="roundRect">
              <a:avLst>
                <a:gd name="adj" fmla="val 38462"/>
              </a:avLst>
            </a:prstGeom>
            <a:solidFill>
              <a:srgbClr val="C8452F"/>
            </a:solidFill>
            <a:ln>
              <a:noFill/>
            </a:ln>
          </p:spPr>
        </p:sp>
        <p:sp>
          <p:nvSpPr>
            <p:cNvPr id="215" name="Rectangle 215"/>
            <p:cNvSpPr/>
            <p:nvPr/>
          </p:nvSpPr>
          <p:spPr>
            <a:xfrm>
              <a:off x="8153400" y="3238500"/>
              <a:ext cx="3848100" cy="114300"/>
            </a:xfrm>
            <a:prstGeom prst="rect">
              <a:avLst/>
            </a:prstGeom>
            <a:solidFill>
              <a:srgbClr val="C8452F"/>
            </a:solidFill>
            <a:ln>
              <a:noFill/>
            </a:ln>
          </p:spPr>
        </p:sp>
        <p:grpSp>
          <p:nvGrpSpPr>
            <p:cNvPr id="219" name="Group 219"/>
            <p:cNvGrpSpPr/>
            <p:nvPr/>
          </p:nvGrpSpPr>
          <p:grpSpPr>
            <a:xfrm>
              <a:off x="8317200" y="3178182"/>
              <a:ext cx="120071" cy="103157"/>
              <a:chOff x="8317200" y="3178182"/>
              <a:chExt cx="120071" cy="103157"/>
            </a:xfrm>
          </p:grpSpPr>
          <p:sp>
            <p:nvSpPr>
              <p:cNvPr id="216" name="Freeform 216"/>
              <p:cNvSpPr/>
              <p:nvPr/>
            </p:nvSpPr>
            <p:spPr>
              <a:xfrm>
                <a:off x="8377238" y="3215878"/>
                <a:ext cx="9525" cy="23812"/>
              </a:xfrm>
              <a:custGeom>
                <a:avLst/>
                <a:gdLst/>
                <a:ahLst/>
                <a:cxnLst/>
                <a:rect l="l" t="t" r="r" b="b"/>
                <a:pathLst>
                  <a:path w="9525" h="23812">
                    <a:moveTo>
                      <a:pt x="0" y="0"/>
                    </a:moveTo>
                    <a:lnTo>
                      <a:pt x="0" y="23812"/>
                    </a:lnTo>
                  </a:path>
                </a:pathLst>
              </a:custGeom>
              <a:noFill/>
              <a:ln w="11906">
                <a:solidFill>
                  <a:srgbClr val="FFFFFF"/>
                </a:solidFill>
              </a:ln>
            </p:spPr>
          </p:sp>
          <p:sp>
            <p:nvSpPr>
              <p:cNvPr id="217" name="Freeform 217"/>
              <p:cNvSpPr/>
              <p:nvPr/>
            </p:nvSpPr>
            <p:spPr>
              <a:xfrm>
                <a:off x="8317200" y="3178182"/>
                <a:ext cx="120071" cy="103157"/>
              </a:xfrm>
              <a:custGeom>
                <a:avLst/>
                <a:gdLst/>
                <a:ahLst/>
                <a:cxnLst/>
                <a:rect l="l" t="t" r="r" b="b"/>
                <a:pathLst>
                  <a:path w="120071" h="103157">
                    <a:moveTo>
                      <a:pt x="50293" y="5496"/>
                    </a:moveTo>
                    <a:lnTo>
                      <a:pt x="2037" y="86066"/>
                    </a:lnTo>
                    <a:cubicBezTo>
                      <a:pt x="12" y="89571"/>
                      <a:pt x="0" y="93888"/>
                      <a:pt x="2004" y="97405"/>
                    </a:cubicBezTo>
                    <a:cubicBezTo>
                      <a:pt x="4008" y="100922"/>
                      <a:pt x="7728" y="103112"/>
                      <a:pt x="11776" y="103157"/>
                    </a:cubicBezTo>
                    <a:lnTo>
                      <a:pt x="108300" y="103157"/>
                    </a:lnTo>
                    <a:cubicBezTo>
                      <a:pt x="112346" y="103110"/>
                      <a:pt x="116064" y="100922"/>
                      <a:pt x="118067" y="97406"/>
                    </a:cubicBezTo>
                    <a:cubicBezTo>
                      <a:pt x="120071" y="93891"/>
                      <a:pt x="120061" y="89577"/>
                      <a:pt x="118039" y="86072"/>
                    </a:cubicBezTo>
                    <a:lnTo>
                      <a:pt x="69783" y="5490"/>
                    </a:lnTo>
                    <a:cubicBezTo>
                      <a:pt x="67718" y="2082"/>
                      <a:pt x="64023" y="0"/>
                      <a:pt x="60038" y="0"/>
                    </a:cubicBezTo>
                    <a:cubicBezTo>
                      <a:pt x="56053" y="0"/>
                      <a:pt x="52358" y="2082"/>
                      <a:pt x="50293" y="5490"/>
                    </a:cubicBezTo>
                  </a:path>
                </a:pathLst>
              </a:custGeom>
              <a:noFill/>
              <a:ln w="11906">
                <a:solidFill>
                  <a:srgbClr val="FFFFFF"/>
                </a:solidFill>
              </a:ln>
            </p:spPr>
          </p:sp>
          <p:sp>
            <p:nvSpPr>
              <p:cNvPr id="218" name="Freeform 218"/>
              <p:cNvSpPr/>
              <p:nvPr/>
            </p:nvSpPr>
            <p:spPr>
              <a:xfrm>
                <a:off x="8377238" y="3257550"/>
                <a:ext cx="9525" cy="9525"/>
              </a:xfrm>
              <a:custGeom>
                <a:avLst/>
                <a:gdLst/>
                <a:ahLst/>
                <a:cxnLst/>
                <a:rect l="l" t="t" r="r" b="b"/>
                <a:pathLst>
                  <a:path w="9525" h="9525">
                    <a:moveTo>
                      <a:pt x="0" y="0"/>
                    </a:moveTo>
                    <a:lnTo>
                      <a:pt x="60" y="0"/>
                    </a:lnTo>
                  </a:path>
                </a:pathLst>
              </a:custGeom>
              <a:noFill/>
              <a:ln w="11906">
                <a:solidFill>
                  <a:srgbClr val="FFFFFF"/>
                </a:solidFill>
              </a:ln>
            </p:spPr>
          </p:sp>
        </p:grpSp>
        <p:sp>
          <p:nvSpPr>
            <p:cNvPr id="220" name="TextBox 220"/>
            <p:cNvSpPr txBox="1"/>
            <p:nvPr/>
          </p:nvSpPr>
          <p:spPr>
            <a:xfrm>
              <a:off x="8510588" y="3179445"/>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常见误区</a:t>
              </a:r>
            </a:p>
          </p:txBody>
        </p:sp>
        <p:sp>
          <p:nvSpPr>
            <p:cNvPr id="221" name="Ellipse 221"/>
            <p:cNvSpPr/>
            <p:nvPr/>
          </p:nvSpPr>
          <p:spPr>
            <a:xfrm>
              <a:off x="8286750" y="3543300"/>
              <a:ext cx="152400" cy="152400"/>
            </a:xfrm>
            <a:prstGeom prst="ellipse">
              <a:avLst/>
            </a:prstGeom>
            <a:solidFill>
              <a:srgbClr val="C8452F"/>
            </a:solidFill>
            <a:ln>
              <a:noFill/>
            </a:ln>
          </p:spPr>
        </p:sp>
        <p:sp>
          <p:nvSpPr>
            <p:cNvPr id="222" name="TextBox 222"/>
            <p:cNvSpPr txBox="1"/>
            <p:nvPr/>
          </p:nvSpPr>
          <p:spPr>
            <a:xfrm>
              <a:off x="8329034" y="35766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223" name="TextBox 223"/>
            <p:cNvSpPr txBox="1"/>
            <p:nvPr/>
          </p:nvSpPr>
          <p:spPr>
            <a:xfrm>
              <a:off x="8510588" y="3578066"/>
              <a:ext cx="1048066" cy="161925"/>
            </a:xfrm>
            <a:prstGeom prst="rect">
              <a:avLst/>
            </a:prstGeom>
            <a:noFill/>
            <a:ln>
              <a:noFill/>
            </a:ln>
          </p:spPr>
          <p:txBody>
            <a:bodyPr wrap="none" lIns="0" tIns="0" rIns="0" bIns="0" anchor="t" anchorCtr="0">
              <a:spAutoFit/>
            </a:bodyPr>
            <a:lstStyle/>
            <a:p>
              <a:pPr algn="l"/>
              <a:r>
                <a:rPr lang="zh-CN" sz="820" b="1" dirty="0">
                  <a:solidFill>
                    <a:srgbClr val="C8452F"/>
                  </a:solidFill>
                  <a:latin typeface="+mn-lt"/>
                  <a:ea typeface="+mn-ea"/>
                  <a:cs typeface="+mn-cs"/>
                </a:rPr>
                <a:t>AUC高不代表可上线​</a:t>
              </a:r>
            </a:p>
          </p:txBody>
        </p:sp>
        <p:sp>
          <p:nvSpPr>
            <p:cNvPr id="224" name="TextBox 224"/>
            <p:cNvSpPr txBox="1"/>
            <p:nvPr/>
          </p:nvSpPr>
          <p:spPr>
            <a:xfrm>
              <a:off x="8358188" y="3798332"/>
              <a:ext cx="1585625" cy="126206"/>
            </a:xfrm>
            <a:prstGeom prst="rect">
              <a:avLst/>
            </a:prstGeom>
            <a:noFill/>
            <a:ln>
              <a:noFill/>
            </a:ln>
          </p:spPr>
          <p:txBody>
            <a:bodyPr wrap="none" lIns="0" tIns="0" rIns="0" bIns="0" anchor="t" anchorCtr="0">
              <a:spAutoFit/>
            </a:bodyPr>
            <a:lstStyle/>
            <a:p>
              <a:pPr algn="l"/>
              <a:r>
                <a:rPr lang="zh-CN" sz="640" dirty="0">
                  <a:solidFill>
                    <a:srgbClr val="7A4A42"/>
                  </a:solidFill>
                  <a:latin typeface="+mn-lt"/>
                  <a:ea typeface="+mn-ea"/>
                  <a:cs typeface="+mn-cs"/>
                </a:rPr>
                <a:t>AUC只能说明区分度，不能反映稳定性、​</a:t>
              </a:r>
            </a:p>
          </p:txBody>
        </p:sp>
        <p:sp>
          <p:nvSpPr>
            <p:cNvPr id="225" name="TextBox 225"/>
            <p:cNvSpPr txBox="1"/>
            <p:nvPr/>
          </p:nvSpPr>
          <p:spPr>
            <a:xfrm>
              <a:off x="8358188" y="3931682"/>
              <a:ext cx="1671782" cy="126206"/>
            </a:xfrm>
            <a:prstGeom prst="rect">
              <a:avLst/>
            </a:prstGeom>
            <a:noFill/>
            <a:ln>
              <a:noFill/>
            </a:ln>
          </p:spPr>
          <p:txBody>
            <a:bodyPr wrap="none" lIns="0" tIns="0" rIns="0" bIns="0" anchor="t" anchorCtr="0">
              <a:spAutoFit/>
            </a:bodyPr>
            <a:lstStyle/>
            <a:p>
              <a:pPr algn="l"/>
              <a:r>
                <a:rPr lang="zh-CN" sz="640" dirty="0">
                  <a:solidFill>
                    <a:srgbClr val="7A4A42"/>
                  </a:solidFill>
                  <a:latin typeface="+mn-lt"/>
                  <a:ea typeface="+mn-ea"/>
                  <a:cs typeface="+mn-cs"/>
                </a:rPr>
                <a:t>校准性和业务适配性。高AUC的模型也可能​</a:t>
              </a:r>
            </a:p>
          </p:txBody>
        </p:sp>
        <p:sp>
          <p:nvSpPr>
            <p:cNvPr id="226" name="TextBox 226"/>
            <p:cNvSpPr txBox="1"/>
            <p:nvPr/>
          </p:nvSpPr>
          <p:spPr>
            <a:xfrm>
              <a:off x="8358188" y="4065032"/>
              <a:ext cx="957250" cy="126206"/>
            </a:xfrm>
            <a:prstGeom prst="rect">
              <a:avLst/>
            </a:prstGeom>
            <a:noFill/>
            <a:ln>
              <a:noFill/>
            </a:ln>
          </p:spPr>
          <p:txBody>
            <a:bodyPr wrap="none" lIns="0" tIns="0" rIns="0" bIns="0" anchor="t" anchorCtr="0">
              <a:spAutoFit/>
            </a:bodyPr>
            <a:lstStyle/>
            <a:p>
              <a:pPr algn="l"/>
              <a:r>
                <a:rPr lang="zh-CN" sz="640" dirty="0">
                  <a:solidFill>
                    <a:srgbClr val="7A4A42"/>
                  </a:solidFill>
                  <a:latin typeface="+mn-lt"/>
                  <a:ea typeface="+mn-ea"/>
                  <a:cs typeface="+mn-cs"/>
                </a:rPr>
                <a:t>在实际业务中表现不佳。</a:t>
              </a:r>
            </a:p>
          </p:txBody>
        </p:sp>
        <p:sp>
          <p:nvSpPr>
            <p:cNvPr id="227" name="Line 227"/>
            <p:cNvSpPr/>
            <p:nvPr/>
          </p:nvSpPr>
          <p:spPr>
            <a:xfrm>
              <a:off x="8305800" y="4248150"/>
              <a:ext cx="3543300" cy="9525"/>
            </a:xfrm>
            <a:custGeom>
              <a:avLst/>
              <a:gdLst/>
              <a:ahLst/>
              <a:cxnLst/>
              <a:rect l="l" t="t" r="r" b="b"/>
              <a:pathLst>
                <a:path w="3543300" h="9525">
                  <a:moveTo>
                    <a:pt x="0" y="0"/>
                  </a:moveTo>
                  <a:lnTo>
                    <a:pt x="3543300" y="0"/>
                  </a:lnTo>
                </a:path>
              </a:pathLst>
            </a:custGeom>
            <a:noFill/>
            <a:ln w="9525">
              <a:solidFill>
                <a:srgbClr val="F0D5D0"/>
              </a:solidFill>
            </a:ln>
          </p:spPr>
        </p:sp>
        <p:sp>
          <p:nvSpPr>
            <p:cNvPr id="228" name="Ellipse 228"/>
            <p:cNvSpPr/>
            <p:nvPr/>
          </p:nvSpPr>
          <p:spPr>
            <a:xfrm>
              <a:off x="8286750" y="4419600"/>
              <a:ext cx="152400" cy="152400"/>
            </a:xfrm>
            <a:prstGeom prst="ellipse">
              <a:avLst/>
            </a:prstGeom>
            <a:solidFill>
              <a:srgbClr val="C8452F"/>
            </a:solidFill>
            <a:ln>
              <a:noFill/>
            </a:ln>
          </p:spPr>
        </p:sp>
        <p:sp>
          <p:nvSpPr>
            <p:cNvPr id="229" name="TextBox 229"/>
            <p:cNvSpPr txBox="1"/>
            <p:nvPr/>
          </p:nvSpPr>
          <p:spPr>
            <a:xfrm>
              <a:off x="8329034" y="44529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230" name="TextBox 230"/>
            <p:cNvSpPr txBox="1"/>
            <p:nvPr/>
          </p:nvSpPr>
          <p:spPr>
            <a:xfrm>
              <a:off x="8510588" y="4454366"/>
              <a:ext cx="870320" cy="161925"/>
            </a:xfrm>
            <a:prstGeom prst="rect">
              <a:avLst/>
            </a:prstGeom>
            <a:noFill/>
            <a:ln>
              <a:noFill/>
            </a:ln>
          </p:spPr>
          <p:txBody>
            <a:bodyPr wrap="none" lIns="0" tIns="0" rIns="0" bIns="0" anchor="t" anchorCtr="0">
              <a:spAutoFit/>
            </a:bodyPr>
            <a:lstStyle/>
            <a:p>
              <a:pPr algn="l"/>
              <a:r>
                <a:rPr lang="zh-CN" sz="820" b="1" dirty="0">
                  <a:solidFill>
                    <a:srgbClr val="C8452F"/>
                  </a:solidFill>
                  <a:latin typeface="+mn-lt"/>
                  <a:ea typeface="+mn-ea"/>
                  <a:cs typeface="+mn-cs"/>
                </a:rPr>
                <a:t>KS高不代表稳定​</a:t>
              </a:r>
            </a:p>
          </p:txBody>
        </p:sp>
        <p:sp>
          <p:nvSpPr>
            <p:cNvPr id="231" name="TextBox 231"/>
            <p:cNvSpPr txBox="1"/>
            <p:nvPr/>
          </p:nvSpPr>
          <p:spPr>
            <a:xfrm>
              <a:off x="8358188" y="4674632"/>
              <a:ext cx="1635125" cy="259556"/>
            </a:xfrm>
            <a:prstGeom prst="rect">
              <a:avLst/>
            </a:prstGeom>
            <a:noFill/>
            <a:ln>
              <a:noFill/>
            </a:ln>
          </p:spPr>
          <p:txBody>
            <a:bodyPr wrap="none" lIns="0" tIns="0" rIns="0" bIns="0" anchor="t" anchorCtr="0">
              <a:spAutoFit/>
            </a:bodyPr>
            <a:lstStyle/>
            <a:p>
              <a:pPr algn="l">
                <a:lnSpc>
                  <a:spcPts val="1050"/>
                </a:lnSpc>
              </a:pPr>
              <a:r>
                <a:rPr lang="zh-CN" sz="640" dirty="0">
                  <a:solidFill>
                    <a:srgbClr val="7A4A42"/>
                  </a:solidFill>
                  <a:latin typeface="+mn-lt"/>
                  <a:ea typeface="+mn-ea"/>
                  <a:cs typeface="+mn-cs"/>
                </a:rPr>
                <a:t>KS只反映当前样本的区分能力，不能说明</a:t>
              </a:r>
              <a:br/>
              <a:r>
                <a:rPr lang="zh-CN" sz="640" dirty="0">
                  <a:solidFill>
                    <a:srgbClr val="7A4A42"/>
                  </a:solidFill>
                  <a:latin typeface="+mn-lt"/>
                  <a:ea typeface="+mn-ea"/>
                  <a:cs typeface="+mn-cs"/>
                </a:rPr>
                <a:t>模型在不同时间、不同人群下是否依然有效。</a:t>
              </a:r>
            </a:p>
          </p:txBody>
        </p:sp>
        <p:sp>
          <p:nvSpPr>
            <p:cNvPr id="232" name="Line 232"/>
            <p:cNvSpPr/>
            <p:nvPr/>
          </p:nvSpPr>
          <p:spPr>
            <a:xfrm>
              <a:off x="8305800" y="4991100"/>
              <a:ext cx="3543300" cy="9525"/>
            </a:xfrm>
            <a:custGeom>
              <a:avLst/>
              <a:gdLst/>
              <a:ahLst/>
              <a:cxnLst/>
              <a:rect l="l" t="t" r="r" b="b"/>
              <a:pathLst>
                <a:path w="3543300" h="9525">
                  <a:moveTo>
                    <a:pt x="0" y="0"/>
                  </a:moveTo>
                  <a:lnTo>
                    <a:pt x="3543300" y="0"/>
                  </a:lnTo>
                </a:path>
              </a:pathLst>
            </a:custGeom>
            <a:noFill/>
            <a:ln w="9525">
              <a:solidFill>
                <a:srgbClr val="F0D5D0"/>
              </a:solidFill>
            </a:ln>
          </p:spPr>
        </p:sp>
        <p:sp>
          <p:nvSpPr>
            <p:cNvPr id="233" name="Ellipse 233"/>
            <p:cNvSpPr/>
            <p:nvPr/>
          </p:nvSpPr>
          <p:spPr>
            <a:xfrm>
              <a:off x="8286750" y="5162550"/>
              <a:ext cx="152400" cy="152400"/>
            </a:xfrm>
            <a:prstGeom prst="ellipse">
              <a:avLst/>
            </a:prstGeom>
            <a:solidFill>
              <a:srgbClr val="C8452F"/>
            </a:solidFill>
            <a:ln>
              <a:noFill/>
            </a:ln>
          </p:spPr>
        </p:sp>
        <p:sp>
          <p:nvSpPr>
            <p:cNvPr id="234" name="TextBox 234"/>
            <p:cNvSpPr txBox="1"/>
            <p:nvPr/>
          </p:nvSpPr>
          <p:spPr>
            <a:xfrm>
              <a:off x="8329034" y="51958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235" name="TextBox 235"/>
            <p:cNvSpPr txBox="1"/>
            <p:nvPr/>
          </p:nvSpPr>
          <p:spPr>
            <a:xfrm>
              <a:off x="8510588" y="5197316"/>
              <a:ext cx="1223797" cy="161925"/>
            </a:xfrm>
            <a:prstGeom prst="rect">
              <a:avLst/>
            </a:prstGeom>
            <a:noFill/>
            <a:ln>
              <a:noFill/>
            </a:ln>
          </p:spPr>
          <p:txBody>
            <a:bodyPr wrap="none" lIns="0" tIns="0" rIns="0" bIns="0" anchor="t" anchorCtr="0">
              <a:spAutoFit/>
            </a:bodyPr>
            <a:lstStyle/>
            <a:p>
              <a:pPr algn="l"/>
              <a:r>
                <a:rPr lang="zh-CN" sz="820" b="1" dirty="0">
                  <a:solidFill>
                    <a:srgbClr val="C8452F"/>
                  </a:solidFill>
                  <a:latin typeface="+mn-lt"/>
                  <a:ea typeface="+mn-ea"/>
                  <a:cs typeface="+mn-cs"/>
                </a:rPr>
                <a:t>指标好看也可能数据泄漏</a:t>
              </a:r>
            </a:p>
          </p:txBody>
        </p:sp>
        <p:sp>
          <p:nvSpPr>
            <p:cNvPr id="236" name="TextBox 236"/>
            <p:cNvSpPr txBox="1"/>
            <p:nvPr/>
          </p:nvSpPr>
          <p:spPr>
            <a:xfrm>
              <a:off x="8358188" y="5417582"/>
              <a:ext cx="1646504" cy="126206"/>
            </a:xfrm>
            <a:prstGeom prst="rect">
              <a:avLst/>
            </a:prstGeom>
            <a:noFill/>
            <a:ln>
              <a:noFill/>
            </a:ln>
          </p:spPr>
          <p:txBody>
            <a:bodyPr wrap="none" lIns="0" tIns="0" rIns="0" bIns="0" anchor="t" anchorCtr="0">
              <a:spAutoFit/>
            </a:bodyPr>
            <a:lstStyle/>
            <a:p>
              <a:pPr algn="l"/>
              <a:r>
                <a:rPr lang="zh-CN" sz="640" dirty="0">
                  <a:solidFill>
                    <a:srgbClr val="7A4A42"/>
                  </a:solidFill>
                  <a:latin typeface="+mn-lt"/>
                  <a:ea typeface="+mn-ea"/>
                  <a:cs typeface="+mn-cs"/>
                </a:rPr>
                <a:t>如果结果好得有点离谱，可能存在与标签强</a:t>
              </a:r>
            </a:p>
          </p:txBody>
        </p:sp>
        <p:sp>
          <p:nvSpPr>
            <p:cNvPr id="237" name="TextBox 237"/>
            <p:cNvSpPr txBox="1"/>
            <p:nvPr/>
          </p:nvSpPr>
          <p:spPr>
            <a:xfrm>
              <a:off x="8358188" y="5550932"/>
              <a:ext cx="1599606" cy="126206"/>
            </a:xfrm>
            <a:prstGeom prst="rect">
              <a:avLst/>
            </a:prstGeom>
            <a:noFill/>
            <a:ln>
              <a:noFill/>
            </a:ln>
          </p:spPr>
          <p:txBody>
            <a:bodyPr wrap="none" lIns="0" tIns="0" rIns="0" bIns="0" anchor="t" anchorCtr="0">
              <a:spAutoFit/>
            </a:bodyPr>
            <a:lstStyle/>
            <a:p>
              <a:pPr algn="l"/>
              <a:r>
                <a:rPr lang="zh-CN" sz="640" dirty="0">
                  <a:solidFill>
                    <a:srgbClr val="7A4A42"/>
                  </a:solidFill>
                  <a:latin typeface="+mn-lt"/>
                  <a:ea typeface="+mn-ea"/>
                  <a:cs typeface="+mn-cs"/>
                </a:rPr>
                <a:t>相关的特征。即使AUC、KS等指标再好，​</a:t>
              </a:r>
            </a:p>
          </p:txBody>
        </p:sp>
        <p:sp>
          <p:nvSpPr>
            <p:cNvPr id="238" name="TextBox 238"/>
            <p:cNvSpPr txBox="1"/>
            <p:nvPr/>
          </p:nvSpPr>
          <p:spPr>
            <a:xfrm>
              <a:off x="8358188" y="5684282"/>
              <a:ext cx="1043407" cy="126206"/>
            </a:xfrm>
            <a:prstGeom prst="rect">
              <a:avLst/>
            </a:prstGeom>
            <a:noFill/>
            <a:ln>
              <a:noFill/>
            </a:ln>
          </p:spPr>
          <p:txBody>
            <a:bodyPr wrap="none" lIns="0" tIns="0" rIns="0" bIns="0" anchor="t" anchorCtr="0">
              <a:spAutoFit/>
            </a:bodyPr>
            <a:lstStyle/>
            <a:p>
              <a:pPr algn="l"/>
              <a:r>
                <a:rPr lang="zh-CN" sz="640" dirty="0">
                  <a:solidFill>
                    <a:srgbClr val="7A4A42"/>
                  </a:solidFill>
                  <a:latin typeface="+mn-lt"/>
                  <a:ea typeface="+mn-ea"/>
                  <a:cs typeface="+mn-cs"/>
                </a:rPr>
                <a:t>也无法在真实业务中泛化。</a:t>
              </a:r>
            </a:p>
          </p:txBody>
        </p:sp>
      </p:grpSp>
      <p:grpSp>
        <p:nvGrpSpPr>
          <p:cNvPr id="244" name="footer"/>
          <p:cNvGrpSpPr/>
          <p:nvPr/>
        </p:nvGrpSpPr>
        <p:grpSpPr>
          <a:xfrm>
            <a:off x="0" y="6648450"/>
            <a:ext cx="12192000" cy="222886"/>
            <a:chOff x="0" y="6648450"/>
            <a:chExt cx="12192000" cy="222886"/>
          </a:xfrm>
        </p:grpSpPr>
        <p:sp>
          <p:nvSpPr>
            <p:cNvPr id="240" name="Rectangle 240"/>
            <p:cNvSpPr/>
            <p:nvPr/>
          </p:nvSpPr>
          <p:spPr>
            <a:xfrm>
              <a:off x="0" y="6648450"/>
              <a:ext cx="12192000" cy="209550"/>
            </a:xfrm>
            <a:prstGeom prst="rect">
              <a:avLst/>
            </a:prstGeom>
            <a:solidFill>
              <a:srgbClr val="DDECF9"/>
            </a:solidFill>
            <a:ln>
              <a:noFill/>
            </a:ln>
          </p:spPr>
        </p:sp>
        <p:sp>
          <p:nvSpPr>
            <p:cNvPr id="241" name="TextBox 241"/>
            <p:cNvSpPr txBox="1"/>
            <p:nvPr/>
          </p:nvSpPr>
          <p:spPr>
            <a:xfrm>
              <a:off x="223838" y="6676311"/>
              <a:ext cx="889580" cy="140494"/>
            </a:xfrm>
            <a:prstGeom prst="rect">
              <a:avLst/>
            </a:prstGeom>
            <a:noFill/>
            <a:ln>
              <a:noFill/>
            </a:ln>
          </p:spPr>
          <p:txBody>
            <a:bodyPr wrap="none" lIns="0" tIns="0" rIns="0" bIns="0" anchor="t" anchorCtr="0">
              <a:spAutoFit/>
            </a:bodyPr>
            <a:lstStyle/>
            <a:p>
              <a:pPr algn="l"/>
              <a:r>
                <a:rPr lang="zh-CN" sz="710" b="1" dirty="0">
                  <a:solidFill>
                    <a:srgbClr val="96574A"/>
                  </a:solidFill>
                  <a:latin typeface="+mn-lt"/>
                  <a:ea typeface="+mn-ea"/>
                  <a:cs typeface="+mn-cs"/>
                </a:rPr>
                <a:t>稳健经营 · 专业致远</a:t>
              </a:r>
            </a:p>
          </p:txBody>
        </p:sp>
        <p:sp>
          <p:nvSpPr>
            <p:cNvPr id="242" name="TextBox 242"/>
            <p:cNvSpPr txBox="1"/>
            <p:nvPr/>
          </p:nvSpPr>
          <p:spPr>
            <a:xfrm>
              <a:off x="10696262" y="6676311"/>
              <a:ext cx="1271900" cy="140494"/>
            </a:xfrm>
            <a:prstGeom prst="rect">
              <a:avLst/>
            </a:prstGeom>
            <a:noFill/>
            <a:ln>
              <a:noFill/>
            </a:ln>
          </p:spPr>
          <p:txBody>
            <a:bodyPr wrap="none" lIns="0" tIns="0" rIns="0" bIns="0" anchor="t" anchorCtr="0">
              <a:spAutoFit/>
            </a:bodyPr>
            <a:lstStyle/>
            <a:p>
              <a:pPr algn="r"/>
              <a:r>
                <a:rPr lang="zh-CN" sz="710" b="1" dirty="0">
                  <a:solidFill>
                    <a:srgbClr val="96574A"/>
                  </a:solidFill>
                  <a:latin typeface="+mn-lt"/>
                  <a:ea typeface="+mn-ea"/>
                  <a:cs typeface="+mn-cs"/>
                </a:rPr>
                <a:t>金融向善 · 与实体经济共成长</a:t>
              </a:r>
            </a:p>
          </p:txBody>
        </p:sp>
        <p:sp>
          <p:nvSpPr>
            <p:cNvPr id="243" name="TextBox 243"/>
            <p:cNvSpPr txBox="1"/>
            <p:nvPr/>
          </p:nvSpPr>
          <p:spPr>
            <a:xfrm>
              <a:off x="10625338" y="6780848"/>
              <a:ext cx="1342824" cy="90488"/>
            </a:xfrm>
            <a:prstGeom prst="rect">
              <a:avLst/>
            </a:prstGeom>
            <a:noFill/>
            <a:ln>
              <a:noFill/>
            </a:ln>
          </p:spPr>
          <p:txBody>
            <a:bodyPr wrap="none" lIns="0" tIns="0" rIns="0" bIns="0" anchor="t" anchorCtr="0">
              <a:spAutoFit/>
            </a:bodyPr>
            <a:lstStyle/>
            <a:p>
              <a:pPr algn="r"/>
              <a:r>
                <a:rPr lang="en-US" sz="450" dirty="0">
                  <a:solidFill>
                    <a:srgbClr val="C4988F"/>
                  </a:solidFill>
                  <a:latin typeface="+mj-lt"/>
                  <a:ea typeface="+mj-ea"/>
                  <a:cs typeface="+mj-cs"/>
                </a:rPr>
                <a:t>FINANCE FOR A BETTER REAL ECONOMY​</a:t>
              </a:r>
            </a:p>
          </p:txBody>
        </p:sp>
      </p:gr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9" name="header"/>
          <p:cNvGrpSpPr/>
          <p:nvPr/>
        </p:nvGrpSpPr>
        <p:grpSpPr>
          <a:xfrm>
            <a:off x="0" y="0"/>
            <a:ext cx="12025313" cy="542925"/>
            <a:chOff x="0" y="0"/>
            <a:chExt cx="12025313"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472E"/>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04</a:t>
              </a:r>
            </a:p>
          </p:txBody>
        </p:sp>
        <p:sp>
          <p:nvSpPr>
            <p:cNvPr id="4" name="TextBox 4"/>
            <p:cNvSpPr txBox="1"/>
            <p:nvPr/>
          </p:nvSpPr>
          <p:spPr>
            <a:xfrm>
              <a:off x="942594" y="151448"/>
              <a:ext cx="2905133" cy="381381"/>
            </a:xfrm>
            <a:prstGeom prst="rect">
              <a:avLst/>
            </a:prstGeom>
            <a:noFill/>
            <a:ln>
              <a:noFill/>
            </a:ln>
          </p:spPr>
          <p:txBody>
            <a:bodyPr wrap="none" lIns="0" tIns="0" rIns="0" bIns="0" anchor="t" anchorCtr="0">
              <a:spAutoFit/>
            </a:bodyPr>
            <a:lstStyle/>
            <a:p>
              <a:pPr algn="l"/>
              <a:r>
                <a:rPr lang="zh-CN" sz="1950" b="1" dirty="0">
                  <a:solidFill>
                    <a:srgbClr val="3E1810"/>
                  </a:solidFill>
                  <a:latin typeface="SimSun"/>
                  <a:ea typeface="SimSun"/>
                  <a:cs typeface="SimSun"/>
                </a:rPr>
                <a:t>PD、主标尺与</a:t>
              </a:r>
              <a:r>
                <a:rPr lang="zh-CN" sz="1950" b="1" dirty="0">
                  <a:solidFill>
                    <a:srgbClr val="C4472E"/>
                  </a:solidFill>
                  <a:latin typeface="SimSun"/>
                  <a:ea typeface="SimSun"/>
                  <a:cs typeface="SimSun"/>
                </a:rPr>
                <a:t>评级等级</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4472E"/>
              </a:solidFill>
            </a:ln>
          </p:spPr>
        </p:sp>
        <p:sp>
          <p:nvSpPr>
            <p:cNvPr id="6" name="TextBox 6"/>
            <p:cNvSpPr txBox="1"/>
            <p:nvPr/>
          </p:nvSpPr>
          <p:spPr>
            <a:xfrm>
              <a:off x="10557833" y="63341"/>
              <a:ext cx="1467480" cy="161925"/>
            </a:xfrm>
            <a:prstGeom prst="rect">
              <a:avLst/>
            </a:prstGeom>
            <a:noFill/>
            <a:ln>
              <a:noFill/>
            </a:ln>
          </p:spPr>
          <p:txBody>
            <a:bodyPr wrap="none" lIns="0" tIns="0" rIns="0" bIns="0" anchor="t" anchorCtr="0">
              <a:spAutoFit/>
            </a:bodyPr>
            <a:lstStyle/>
            <a:p>
              <a:pPr algn="r"/>
              <a:r>
                <a:rPr lang="zh-CN" sz="820" b="1" dirty="0">
                  <a:solidFill>
                    <a:srgbClr val="9E311B"/>
                  </a:solidFill>
                  <a:latin typeface="+mn-lt"/>
                  <a:ea typeface="+mn-ea"/>
                  <a:cs typeface="+mn-cs"/>
                </a:rPr>
                <a:t>更稳健的银行 · 更美好的未来</a:t>
              </a:r>
            </a:p>
          </p:txBody>
        </p:sp>
        <p:sp>
          <p:nvSpPr>
            <p:cNvPr id="7" name="TextBox 7"/>
            <p:cNvSpPr txBox="1"/>
            <p:nvPr/>
          </p:nvSpPr>
          <p:spPr>
            <a:xfrm>
              <a:off x="11227453" y="255032"/>
              <a:ext cx="797860"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识别风险 · 量化风险</a:t>
              </a:r>
            </a:p>
          </p:txBody>
        </p:sp>
        <p:sp>
          <p:nvSpPr>
            <p:cNvPr id="8" name="TextBox 8"/>
            <p:cNvSpPr txBox="1"/>
            <p:nvPr/>
          </p:nvSpPr>
          <p:spPr>
            <a:xfrm>
              <a:off x="11227453" y="407432"/>
              <a:ext cx="797860"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管理风险 · 创造价值</a:t>
              </a:r>
            </a:p>
          </p:txBody>
        </p:sp>
      </p:grpSp>
      <p:grpSp>
        <p:nvGrpSpPr>
          <p:cNvPr id="12" name="intro"/>
          <p:cNvGrpSpPr/>
          <p:nvPr/>
        </p:nvGrpSpPr>
        <p:grpSpPr>
          <a:xfrm>
            <a:off x="3379708" y="621268"/>
            <a:ext cx="5432584" cy="312182"/>
            <a:chOff x="3379708" y="621268"/>
            <a:chExt cx="5432584" cy="312182"/>
          </a:xfrm>
        </p:grpSpPr>
        <p:sp>
          <p:nvSpPr>
            <p:cNvPr id="10" name="TextBox 10"/>
            <p:cNvSpPr txBox="1"/>
            <p:nvPr/>
          </p:nvSpPr>
          <p:spPr>
            <a:xfrm>
              <a:off x="4528299" y="621268"/>
              <a:ext cx="3135401" cy="169069"/>
            </a:xfrm>
            <a:prstGeom prst="rect">
              <a:avLst/>
            </a:prstGeom>
            <a:noFill/>
            <a:ln>
              <a:noFill/>
            </a:ln>
          </p:spPr>
          <p:txBody>
            <a:bodyPr wrap="none" lIns="0" tIns="0" rIns="0" bIns="0" anchor="t" anchorCtr="0">
              <a:spAutoFit/>
            </a:bodyPr>
            <a:lstStyle/>
            <a:p>
              <a:pPr algn="ctr"/>
              <a:r>
                <a:rPr lang="zh-CN" sz="860" b="1" dirty="0">
                  <a:solidFill>
                    <a:srgbClr val="9E311B"/>
                  </a:solidFill>
                  <a:latin typeface="+mn-lt"/>
                  <a:ea typeface="+mn-ea"/>
                  <a:cs typeface="+mn-cs"/>
                </a:rPr>
                <a:t>从模型分数到风险语言，让信用风险可度量、可比较、可应用</a:t>
              </a:r>
            </a:p>
          </p:txBody>
        </p:sp>
        <p:sp>
          <p:nvSpPr>
            <p:cNvPr id="11" name="TextBox 11"/>
            <p:cNvSpPr txBox="1"/>
            <p:nvPr/>
          </p:nvSpPr>
          <p:spPr>
            <a:xfrm>
              <a:off x="3379708" y="785812"/>
              <a:ext cx="5432584"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模型分数通过映射得到PD（违约概率），再依据主标尺的阈值划分为不同的评级等级，形成统一、可落地的内部评级体系​</a:t>
              </a:r>
            </a:p>
          </p:txBody>
        </p:sp>
      </p:grpSp>
      <p:grpSp>
        <p:nvGrpSpPr>
          <p:cNvPr id="15" name="band-seg-1"/>
          <p:cNvGrpSpPr/>
          <p:nvPr/>
        </p:nvGrpSpPr>
        <p:grpSpPr>
          <a:xfrm>
            <a:off x="190500" y="933450"/>
            <a:ext cx="2857500" cy="253603"/>
            <a:chOff x="190500" y="933450"/>
            <a:chExt cx="2857500" cy="253603"/>
          </a:xfrm>
        </p:grpSpPr>
        <p:sp>
          <p:nvSpPr>
            <p:cNvPr id="13" name="Freeform 13"/>
            <p:cNvSpPr/>
            <p:nvPr/>
          </p:nvSpPr>
          <p:spPr>
            <a:xfrm>
              <a:off x="190500" y="933450"/>
              <a:ext cx="2857500" cy="247650"/>
            </a:xfrm>
            <a:prstGeom prst="homePlate">
              <a:avLst/>
            </a:prstGeom>
            <a:solidFill>
              <a:srgbClr val="D25C44"/>
            </a:solidFill>
            <a:ln>
              <a:noFill/>
            </a:ln>
          </p:spPr>
        </p:sp>
        <p:sp>
          <p:nvSpPr>
            <p:cNvPr id="14" name="TextBox 14"/>
            <p:cNvSpPr txBox="1"/>
            <p:nvPr/>
          </p:nvSpPr>
          <p:spPr>
            <a:xfrm>
              <a:off x="1231854" y="1003697"/>
              <a:ext cx="77479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1. 模型分数​</a:t>
              </a:r>
            </a:p>
          </p:txBody>
        </p:sp>
      </p:grpSp>
      <p:grpSp>
        <p:nvGrpSpPr>
          <p:cNvPr id="18" name="band-seg-2"/>
          <p:cNvGrpSpPr/>
          <p:nvPr/>
        </p:nvGrpSpPr>
        <p:grpSpPr>
          <a:xfrm>
            <a:off x="3105150" y="933450"/>
            <a:ext cx="2857500" cy="253603"/>
            <a:chOff x="3105150" y="933450"/>
            <a:chExt cx="2857500" cy="253603"/>
          </a:xfrm>
        </p:grpSpPr>
        <p:sp>
          <p:nvSpPr>
            <p:cNvPr id="16" name="Freeform 16"/>
            <p:cNvSpPr/>
            <p:nvPr/>
          </p:nvSpPr>
          <p:spPr>
            <a:xfrm>
              <a:off x="3105150" y="933450"/>
              <a:ext cx="2857500" cy="247650"/>
            </a:xfrm>
            <a:prstGeom prst="chevron">
              <a:avLst/>
            </a:prstGeom>
            <a:solidFill>
              <a:srgbClr val="D04A2F"/>
            </a:solidFill>
            <a:ln>
              <a:noFill/>
            </a:ln>
          </p:spPr>
        </p:sp>
        <p:sp>
          <p:nvSpPr>
            <p:cNvPr id="17" name="TextBox 17"/>
            <p:cNvSpPr txBox="1"/>
            <p:nvPr/>
          </p:nvSpPr>
          <p:spPr>
            <a:xfrm>
              <a:off x="3937481" y="1003697"/>
              <a:ext cx="119283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2. PD（违约概率）​</a:t>
              </a:r>
            </a:p>
          </p:txBody>
        </p:sp>
      </p:grpSp>
      <p:grpSp>
        <p:nvGrpSpPr>
          <p:cNvPr id="21" name="band-seg-3"/>
          <p:cNvGrpSpPr/>
          <p:nvPr/>
        </p:nvGrpSpPr>
        <p:grpSpPr>
          <a:xfrm>
            <a:off x="6019800" y="933450"/>
            <a:ext cx="2857500" cy="253603"/>
            <a:chOff x="6019800" y="933450"/>
            <a:chExt cx="2857500" cy="253603"/>
          </a:xfrm>
        </p:grpSpPr>
        <p:sp>
          <p:nvSpPr>
            <p:cNvPr id="19" name="Freeform 19"/>
            <p:cNvSpPr/>
            <p:nvPr/>
          </p:nvSpPr>
          <p:spPr>
            <a:xfrm>
              <a:off x="6019800" y="933450"/>
              <a:ext cx="2857500" cy="247650"/>
            </a:xfrm>
            <a:prstGeom prst="chevron">
              <a:avLst/>
            </a:prstGeom>
            <a:solidFill>
              <a:srgbClr val="CE3D20"/>
            </a:solidFill>
            <a:ln>
              <a:noFill/>
            </a:ln>
          </p:spPr>
        </p:sp>
        <p:sp>
          <p:nvSpPr>
            <p:cNvPr id="20" name="TextBox 20"/>
            <p:cNvSpPr txBox="1"/>
            <p:nvPr/>
          </p:nvSpPr>
          <p:spPr>
            <a:xfrm>
              <a:off x="7124425" y="1003697"/>
              <a:ext cx="64825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3. 主标尺​</a:t>
              </a:r>
            </a:p>
          </p:txBody>
        </p:sp>
      </p:grpSp>
      <p:grpSp>
        <p:nvGrpSpPr>
          <p:cNvPr id="24" name="band-seg-4"/>
          <p:cNvGrpSpPr/>
          <p:nvPr/>
        </p:nvGrpSpPr>
        <p:grpSpPr>
          <a:xfrm>
            <a:off x="8934450" y="933450"/>
            <a:ext cx="3067050" cy="253603"/>
            <a:chOff x="8934450" y="933450"/>
            <a:chExt cx="3067050" cy="253603"/>
          </a:xfrm>
        </p:grpSpPr>
        <p:sp>
          <p:nvSpPr>
            <p:cNvPr id="22" name="Freeform 22"/>
            <p:cNvSpPr/>
            <p:nvPr/>
          </p:nvSpPr>
          <p:spPr>
            <a:xfrm>
              <a:off x="8934450" y="933450"/>
              <a:ext cx="3067050" cy="247650"/>
            </a:xfrm>
            <a:prstGeom prst="chevron">
              <a:avLst/>
            </a:prstGeom>
            <a:solidFill>
              <a:srgbClr val="C93416"/>
            </a:solidFill>
            <a:ln>
              <a:noFill/>
            </a:ln>
          </p:spPr>
        </p:sp>
        <p:sp>
          <p:nvSpPr>
            <p:cNvPr id="23" name="TextBox 23"/>
            <p:cNvSpPr txBox="1"/>
            <p:nvPr/>
          </p:nvSpPr>
          <p:spPr>
            <a:xfrm>
              <a:off x="10080579" y="1003697"/>
              <a:ext cx="77479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4. 评级等级​</a:t>
              </a:r>
            </a:p>
          </p:txBody>
        </p:sp>
      </p:grpSp>
      <p:sp>
        <p:nvSpPr>
          <p:cNvPr id="25" name="flow-arrow-1"/>
          <p:cNvSpPr/>
          <p:nvPr/>
        </p:nvSpPr>
        <p:spPr>
          <a:xfrm>
            <a:off x="3067050" y="2686050"/>
            <a:ext cx="57150" cy="152400"/>
          </a:xfrm>
          <a:custGeom>
            <a:avLst/>
            <a:gdLst/>
            <a:ahLst/>
            <a:cxnLst/>
            <a:rect l="l" t="t" r="r" b="b"/>
            <a:pathLst>
              <a:path w="57150" h="152400">
                <a:moveTo>
                  <a:pt x="0" y="0"/>
                </a:moveTo>
                <a:lnTo>
                  <a:pt x="57150" y="76200"/>
                </a:lnTo>
                <a:lnTo>
                  <a:pt x="0" y="152400"/>
                </a:lnTo>
                <a:close/>
              </a:path>
            </a:pathLst>
          </a:custGeom>
          <a:solidFill>
            <a:srgbClr val="C4472E"/>
          </a:solidFill>
          <a:ln>
            <a:noFill/>
          </a:ln>
        </p:spPr>
      </p:sp>
      <p:sp>
        <p:nvSpPr>
          <p:cNvPr id="26" name="flow-arrow-2"/>
          <p:cNvSpPr/>
          <p:nvPr/>
        </p:nvSpPr>
        <p:spPr>
          <a:xfrm>
            <a:off x="6019800" y="2686050"/>
            <a:ext cx="57150" cy="152400"/>
          </a:xfrm>
          <a:custGeom>
            <a:avLst/>
            <a:gdLst/>
            <a:ahLst/>
            <a:cxnLst/>
            <a:rect l="l" t="t" r="r" b="b"/>
            <a:pathLst>
              <a:path w="57150" h="152400">
                <a:moveTo>
                  <a:pt x="0" y="0"/>
                </a:moveTo>
                <a:lnTo>
                  <a:pt x="57150" y="76200"/>
                </a:lnTo>
                <a:lnTo>
                  <a:pt x="0" y="152400"/>
                </a:lnTo>
                <a:close/>
              </a:path>
            </a:pathLst>
          </a:custGeom>
          <a:solidFill>
            <a:srgbClr val="C4472E"/>
          </a:solidFill>
          <a:ln>
            <a:noFill/>
          </a:ln>
        </p:spPr>
      </p:sp>
      <p:sp>
        <p:nvSpPr>
          <p:cNvPr id="27" name="flow-arrow-3"/>
          <p:cNvSpPr/>
          <p:nvPr/>
        </p:nvSpPr>
        <p:spPr>
          <a:xfrm>
            <a:off x="8972550" y="2686050"/>
            <a:ext cx="57150" cy="152400"/>
          </a:xfrm>
          <a:custGeom>
            <a:avLst/>
            <a:gdLst/>
            <a:ahLst/>
            <a:cxnLst/>
            <a:rect l="l" t="t" r="r" b="b"/>
            <a:pathLst>
              <a:path w="57150" h="152400">
                <a:moveTo>
                  <a:pt x="0" y="0"/>
                </a:moveTo>
                <a:lnTo>
                  <a:pt x="57150" y="76200"/>
                </a:lnTo>
                <a:lnTo>
                  <a:pt x="0" y="152400"/>
                </a:lnTo>
                <a:close/>
              </a:path>
            </a:pathLst>
          </a:custGeom>
          <a:solidFill>
            <a:srgbClr val="C4472E"/>
          </a:solidFill>
          <a:ln>
            <a:noFill/>
          </a:ln>
        </p:spPr>
      </p:sp>
      <p:grpSp>
        <p:nvGrpSpPr>
          <p:cNvPr id="43" name="col-score"/>
          <p:cNvGrpSpPr/>
          <p:nvPr/>
        </p:nvGrpSpPr>
        <p:grpSpPr>
          <a:xfrm>
            <a:off x="190500" y="1238250"/>
            <a:ext cx="2857500" cy="3067050"/>
            <a:chOff x="190500" y="1238250"/>
            <a:chExt cx="2857500" cy="3067050"/>
          </a:xfrm>
        </p:grpSpPr>
        <p:sp>
          <p:nvSpPr>
            <p:cNvPr id="28" name="Rectangle 28"/>
            <p:cNvSpPr/>
            <p:nvPr/>
          </p:nvSpPr>
          <p:spPr>
            <a:xfrm>
              <a:off x="190500" y="1238250"/>
              <a:ext cx="2857500" cy="3067050"/>
            </a:xfrm>
            <a:prstGeom prst="roundRect">
              <a:avLst>
                <a:gd name="adj" fmla="val 2667"/>
              </a:avLst>
            </a:prstGeom>
            <a:solidFill>
              <a:srgbClr val="F4F9FD"/>
            </a:solidFill>
            <a:ln w="9525">
              <a:solidFill>
                <a:srgbClr val="CFE2F2"/>
              </a:solidFill>
            </a:ln>
          </p:spPr>
        </p:sp>
        <p:sp>
          <p:nvSpPr>
            <p:cNvPr id="29" name="Rectangle 29"/>
            <p:cNvSpPr/>
            <p:nvPr/>
          </p:nvSpPr>
          <p:spPr>
            <a:xfrm>
              <a:off x="476250" y="1390650"/>
              <a:ext cx="2286000" cy="1466850"/>
            </a:xfrm>
            <a:prstGeom prst="roundRect">
              <a:avLst>
                <a:gd name="adj" fmla="val 6494"/>
              </a:avLst>
            </a:prstGeom>
            <a:solidFill>
              <a:srgbClr val="FFFFFF"/>
            </a:solidFill>
            <a:ln w="9525">
              <a:solidFill>
                <a:srgbClr val="CFE2F2"/>
              </a:solidFill>
            </a:ln>
          </p:spPr>
        </p:sp>
        <p:grpSp>
          <p:nvGrpSpPr>
            <p:cNvPr id="34" name="Group 34"/>
            <p:cNvGrpSpPr/>
            <p:nvPr/>
          </p:nvGrpSpPr>
          <p:grpSpPr>
            <a:xfrm>
              <a:off x="773906" y="1783556"/>
              <a:ext cx="300038" cy="300038"/>
              <a:chOff x="773906" y="1783556"/>
              <a:chExt cx="300038" cy="300038"/>
            </a:xfrm>
          </p:grpSpPr>
          <p:sp>
            <p:nvSpPr>
              <p:cNvPr id="30" name="Freeform 30"/>
              <p:cNvSpPr/>
              <p:nvPr/>
            </p:nvSpPr>
            <p:spPr>
              <a:xfrm>
                <a:off x="807244" y="1783556"/>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33338">
                <a:solidFill>
                  <a:srgbClr val="C4472E"/>
                </a:solidFill>
              </a:ln>
            </p:spPr>
          </p:sp>
          <p:sp>
            <p:nvSpPr>
              <p:cNvPr id="31" name="Freeform 31"/>
              <p:cNvSpPr/>
              <p:nvPr/>
            </p:nvSpPr>
            <p:spPr>
              <a:xfrm>
                <a:off x="773906" y="1983581"/>
                <a:ext cx="200025" cy="100012"/>
              </a:xfrm>
              <a:custGeom>
                <a:avLst/>
                <a:gdLst/>
                <a:ahLst/>
                <a:cxnLst/>
                <a:rect l="l" t="t" r="r" b="b"/>
                <a:pathLst>
                  <a:path w="200025" h="100012">
                    <a:moveTo>
                      <a:pt x="0" y="100012"/>
                    </a:moveTo>
                    <a:lnTo>
                      <a:pt x="0" y="66675"/>
                    </a:lnTo>
                    <a:cubicBezTo>
                      <a:pt x="0" y="29851"/>
                      <a:pt x="29851" y="0"/>
                      <a:pt x="66675" y="0"/>
                    </a:cubicBezTo>
                    <a:lnTo>
                      <a:pt x="133350" y="0"/>
                    </a:lnTo>
                    <a:cubicBezTo>
                      <a:pt x="170174" y="0"/>
                      <a:pt x="200025" y="29851"/>
                      <a:pt x="200025" y="66675"/>
                    </a:cubicBezTo>
                    <a:lnTo>
                      <a:pt x="200025" y="100012"/>
                    </a:lnTo>
                  </a:path>
                </a:pathLst>
              </a:custGeom>
              <a:noFill/>
              <a:ln w="33338">
                <a:solidFill>
                  <a:srgbClr val="C4472E"/>
                </a:solidFill>
              </a:ln>
            </p:spPr>
          </p:sp>
          <p:sp>
            <p:nvSpPr>
              <p:cNvPr id="32" name="Freeform 32"/>
              <p:cNvSpPr/>
              <p:nvPr/>
            </p:nvSpPr>
            <p:spPr>
              <a:xfrm>
                <a:off x="990600" y="1785723"/>
                <a:ext cx="50137" cy="129183"/>
              </a:xfrm>
              <a:custGeom>
                <a:avLst/>
                <a:gdLst/>
                <a:ahLst/>
                <a:cxnLst/>
                <a:rect l="l" t="t" r="r" b="b"/>
                <a:pathLst>
                  <a:path w="50137" h="129183">
                    <a:moveTo>
                      <a:pt x="0" y="0"/>
                    </a:moveTo>
                    <a:cubicBezTo>
                      <a:pt x="29502" y="7554"/>
                      <a:pt x="50137" y="34137"/>
                      <a:pt x="50137" y="64591"/>
                    </a:cubicBezTo>
                    <a:cubicBezTo>
                      <a:pt x="50137" y="95045"/>
                      <a:pt x="29502" y="121629"/>
                      <a:pt x="0" y="129183"/>
                    </a:cubicBezTo>
                  </a:path>
                </a:pathLst>
              </a:custGeom>
              <a:noFill/>
              <a:ln w="33338">
                <a:solidFill>
                  <a:srgbClr val="C4472E"/>
                </a:solidFill>
              </a:ln>
            </p:spPr>
          </p:sp>
          <p:sp>
            <p:nvSpPr>
              <p:cNvPr id="33" name="Freeform 33"/>
              <p:cNvSpPr/>
              <p:nvPr/>
            </p:nvSpPr>
            <p:spPr>
              <a:xfrm>
                <a:off x="1023938" y="1986082"/>
                <a:ext cx="50006" cy="97512"/>
              </a:xfrm>
              <a:custGeom>
                <a:avLst/>
                <a:gdLst/>
                <a:ahLst/>
                <a:cxnLst/>
                <a:rect l="l" t="t" r="r" b="b"/>
                <a:pathLst>
                  <a:path w="50006" h="97512">
                    <a:moveTo>
                      <a:pt x="50006" y="97512"/>
                    </a:moveTo>
                    <a:lnTo>
                      <a:pt x="50006" y="64175"/>
                    </a:lnTo>
                    <a:cubicBezTo>
                      <a:pt x="49832" y="33914"/>
                      <a:pt x="29301" y="7565"/>
                      <a:pt x="0" y="0"/>
                    </a:cubicBezTo>
                  </a:path>
                </a:pathLst>
              </a:custGeom>
              <a:noFill/>
              <a:ln w="33338">
                <a:solidFill>
                  <a:srgbClr val="C4472E"/>
                </a:solidFill>
              </a:ln>
            </p:spPr>
          </p:sp>
        </p:grpSp>
        <p:sp>
          <p:nvSpPr>
            <p:cNvPr id="35" name="Rectangle 35"/>
            <p:cNvSpPr/>
            <p:nvPr/>
          </p:nvSpPr>
          <p:spPr>
            <a:xfrm>
              <a:off x="1333500" y="1771650"/>
              <a:ext cx="1066800" cy="400050"/>
            </a:xfrm>
            <a:prstGeom prst="roundRect">
              <a:avLst>
                <a:gd name="adj" fmla="val 19048"/>
              </a:avLst>
            </a:prstGeom>
            <a:solidFill>
              <a:srgbClr val="C4472E"/>
            </a:solidFill>
            <a:ln>
              <a:noFill/>
            </a:ln>
          </p:spPr>
        </p:sp>
        <p:sp>
          <p:nvSpPr>
            <p:cNvPr id="36" name="TextBox 36"/>
            <p:cNvSpPr txBox="1"/>
            <p:nvPr/>
          </p:nvSpPr>
          <p:spPr>
            <a:xfrm>
              <a:off x="1598099" y="1871186"/>
              <a:ext cx="537602" cy="337376"/>
            </a:xfrm>
            <a:prstGeom prst="rect">
              <a:avLst/>
            </a:prstGeom>
            <a:noFill/>
            <a:ln>
              <a:noFill/>
            </a:ln>
          </p:spPr>
          <p:txBody>
            <a:bodyPr wrap="none" lIns="0" tIns="0" rIns="0" bIns="0" anchor="t" anchorCtr="0">
              <a:spAutoFit/>
            </a:bodyPr>
            <a:lstStyle/>
            <a:p>
              <a:pPr algn="ctr"/>
              <a:r>
                <a:rPr lang="zh-CN" sz="1720" b="1" dirty="0">
                  <a:solidFill>
                    <a:srgbClr val="FFFFFF"/>
                  </a:solidFill>
                  <a:latin typeface="+mj-lt"/>
                  <a:ea typeface="+mj-ea"/>
                  <a:cs typeface="+mj-cs"/>
                </a:rPr>
                <a:t>685​</a:t>
              </a:r>
            </a:p>
          </p:txBody>
        </p:sp>
        <p:sp>
          <p:nvSpPr>
            <p:cNvPr id="37" name="TextBox 37"/>
            <p:cNvSpPr txBox="1"/>
            <p:nvPr/>
          </p:nvSpPr>
          <p:spPr>
            <a:xfrm>
              <a:off x="1700594" y="2297430"/>
              <a:ext cx="332613" cy="119062"/>
            </a:xfrm>
            <a:prstGeom prst="rect">
              <a:avLst/>
            </a:prstGeom>
            <a:noFill/>
            <a:ln>
              <a:noFill/>
            </a:ln>
          </p:spPr>
          <p:txBody>
            <a:bodyPr wrap="none" lIns="0" tIns="0" rIns="0" bIns="0" anchor="t" anchorCtr="0">
              <a:spAutoFit/>
            </a:bodyPr>
            <a:lstStyle/>
            <a:p>
              <a:pPr algn="ctr"/>
              <a:r>
                <a:rPr lang="zh-CN" sz="600" dirty="0">
                  <a:solidFill>
                    <a:srgbClr val="8C716B"/>
                  </a:solidFill>
                  <a:latin typeface="+mn-lt"/>
                  <a:ea typeface="+mn-ea"/>
                  <a:cs typeface="+mn-cs"/>
                </a:rPr>
                <a:t>信用分卡</a:t>
              </a:r>
            </a:p>
          </p:txBody>
        </p:sp>
        <p:sp>
          <p:nvSpPr>
            <p:cNvPr id="38" name="Line 38"/>
            <p:cNvSpPr/>
            <p:nvPr/>
          </p:nvSpPr>
          <p:spPr>
            <a:xfrm>
              <a:off x="723900" y="2533650"/>
              <a:ext cx="1790700" cy="9525"/>
            </a:xfrm>
            <a:custGeom>
              <a:avLst/>
              <a:gdLst/>
              <a:ahLst/>
              <a:cxnLst/>
              <a:rect l="l" t="t" r="r" b="b"/>
              <a:pathLst>
                <a:path w="1790700" h="9525">
                  <a:moveTo>
                    <a:pt x="0" y="0"/>
                  </a:moveTo>
                  <a:lnTo>
                    <a:pt x="1790700" y="0"/>
                  </a:lnTo>
                </a:path>
              </a:pathLst>
            </a:custGeom>
            <a:noFill/>
            <a:ln w="9525">
              <a:solidFill>
                <a:srgbClr val="CFE2F2"/>
              </a:solidFill>
            </a:ln>
          </p:spPr>
        </p:sp>
        <p:sp>
          <p:nvSpPr>
            <p:cNvPr id="39" name="TextBox 39"/>
            <p:cNvSpPr txBox="1"/>
            <p:nvPr/>
          </p:nvSpPr>
          <p:spPr>
            <a:xfrm>
              <a:off x="1372172" y="2684145"/>
              <a:ext cx="494157"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模型分数</a:t>
              </a:r>
            </a:p>
          </p:txBody>
        </p:sp>
        <p:sp>
          <p:nvSpPr>
            <p:cNvPr id="40" name="TextBox 40"/>
            <p:cNvSpPr txBox="1"/>
            <p:nvPr/>
          </p:nvSpPr>
          <p:spPr>
            <a:xfrm>
              <a:off x="376238" y="3036332"/>
              <a:ext cx="1205763"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基于客户特征的模型预测分数</a:t>
              </a:r>
            </a:p>
          </p:txBody>
        </p:sp>
        <p:sp>
          <p:nvSpPr>
            <p:cNvPr id="41" name="TextBox 41"/>
            <p:cNvSpPr txBox="1"/>
            <p:nvPr/>
          </p:nvSpPr>
          <p:spPr>
            <a:xfrm>
              <a:off x="376238" y="3245882"/>
              <a:ext cx="1119607"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分数越高通常表示风险越低</a:t>
              </a:r>
            </a:p>
          </p:txBody>
        </p:sp>
        <p:sp>
          <p:nvSpPr>
            <p:cNvPr id="42" name="TextBox 42"/>
            <p:cNvSpPr txBox="1"/>
            <p:nvPr/>
          </p:nvSpPr>
          <p:spPr>
            <a:xfrm>
              <a:off x="376238" y="3455432"/>
              <a:ext cx="1033450"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是连接数据与风险的起点</a:t>
              </a:r>
            </a:p>
          </p:txBody>
        </p:sp>
      </p:grpSp>
      <p:grpSp>
        <p:nvGrpSpPr>
          <p:cNvPr id="69" name="col-pd"/>
          <p:cNvGrpSpPr/>
          <p:nvPr/>
        </p:nvGrpSpPr>
        <p:grpSpPr>
          <a:xfrm>
            <a:off x="2909697" y="1238250"/>
            <a:ext cx="3091053" cy="3067050"/>
            <a:chOff x="2909697" y="1238250"/>
            <a:chExt cx="3091053" cy="3067050"/>
          </a:xfrm>
        </p:grpSpPr>
        <p:sp>
          <p:nvSpPr>
            <p:cNvPr id="44" name="Rectangle 44"/>
            <p:cNvSpPr/>
            <p:nvPr/>
          </p:nvSpPr>
          <p:spPr>
            <a:xfrm>
              <a:off x="3143250" y="1238250"/>
              <a:ext cx="2857500" cy="3067050"/>
            </a:xfrm>
            <a:prstGeom prst="roundRect">
              <a:avLst>
                <a:gd name="adj" fmla="val 2667"/>
              </a:avLst>
            </a:prstGeom>
            <a:solidFill>
              <a:srgbClr val="F4F9FD"/>
            </a:solidFill>
            <a:ln w="9525">
              <a:solidFill>
                <a:srgbClr val="CFE2F2"/>
              </a:solidFill>
            </a:ln>
          </p:spPr>
        </p:sp>
        <p:sp>
          <p:nvSpPr>
            <p:cNvPr id="45" name="Line 45"/>
            <p:cNvSpPr/>
            <p:nvPr/>
          </p:nvSpPr>
          <p:spPr>
            <a:xfrm>
              <a:off x="3505200" y="1428750"/>
              <a:ext cx="9525" cy="1238250"/>
            </a:xfrm>
            <a:custGeom>
              <a:avLst/>
              <a:gdLst/>
              <a:ahLst/>
              <a:cxnLst/>
              <a:rect l="l" t="t" r="r" b="b"/>
              <a:pathLst>
                <a:path w="9525" h="1238250">
                  <a:moveTo>
                    <a:pt x="0" y="0"/>
                  </a:moveTo>
                  <a:lnTo>
                    <a:pt x="0" y="1238250"/>
                  </a:lnTo>
                </a:path>
              </a:pathLst>
            </a:custGeom>
            <a:noFill/>
            <a:ln w="9525">
              <a:solidFill>
                <a:srgbClr val="B9C6D2"/>
              </a:solidFill>
            </a:ln>
          </p:spPr>
        </p:sp>
        <p:sp>
          <p:nvSpPr>
            <p:cNvPr id="46" name="Line 46"/>
            <p:cNvSpPr/>
            <p:nvPr/>
          </p:nvSpPr>
          <p:spPr>
            <a:xfrm>
              <a:off x="3505200" y="2667000"/>
              <a:ext cx="2362200" cy="9525"/>
            </a:xfrm>
            <a:custGeom>
              <a:avLst/>
              <a:gdLst/>
              <a:ahLst/>
              <a:cxnLst/>
              <a:rect l="l" t="t" r="r" b="b"/>
              <a:pathLst>
                <a:path w="2362200" h="9525">
                  <a:moveTo>
                    <a:pt x="0" y="0"/>
                  </a:moveTo>
                  <a:lnTo>
                    <a:pt x="2362200" y="0"/>
                  </a:lnTo>
                </a:path>
              </a:pathLst>
            </a:custGeom>
            <a:noFill/>
            <a:ln w="9525">
              <a:solidFill>
                <a:srgbClr val="B9C6D2"/>
              </a:solidFill>
            </a:ln>
          </p:spPr>
        </p:sp>
        <p:sp>
          <p:nvSpPr>
            <p:cNvPr id="47" name="TextBox 47"/>
            <p:cNvSpPr txBox="1"/>
            <p:nvPr/>
          </p:nvSpPr>
          <p:spPr>
            <a:xfrm>
              <a:off x="3239512" y="1491853"/>
              <a:ext cx="222826"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1.0%​</a:t>
              </a:r>
            </a:p>
          </p:txBody>
        </p:sp>
        <p:sp>
          <p:nvSpPr>
            <p:cNvPr id="48" name="TextBox 48"/>
            <p:cNvSpPr txBox="1"/>
            <p:nvPr/>
          </p:nvSpPr>
          <p:spPr>
            <a:xfrm>
              <a:off x="3239512" y="1910953"/>
              <a:ext cx="222826"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0.1%​</a:t>
              </a:r>
            </a:p>
          </p:txBody>
        </p:sp>
        <p:sp>
          <p:nvSpPr>
            <p:cNvPr id="49" name="TextBox 49"/>
            <p:cNvSpPr txBox="1"/>
            <p:nvPr/>
          </p:nvSpPr>
          <p:spPr>
            <a:xfrm>
              <a:off x="3197582" y="2330053"/>
              <a:ext cx="264756"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0.01%​</a:t>
              </a:r>
            </a:p>
          </p:txBody>
        </p:sp>
        <p:sp>
          <p:nvSpPr>
            <p:cNvPr id="50" name="TextBox 50"/>
            <p:cNvSpPr txBox="1"/>
            <p:nvPr/>
          </p:nvSpPr>
          <p:spPr>
            <a:xfrm>
              <a:off x="3155651" y="2634853"/>
              <a:ext cx="306686"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j-lt"/>
                  <a:ea typeface="+mj-ea"/>
                  <a:cs typeface="+mj-cs"/>
                </a:rPr>
                <a:t>0.001%​</a:t>
              </a:r>
            </a:p>
          </p:txBody>
        </p:sp>
        <p:sp>
          <p:nvSpPr>
            <p:cNvPr id="51" name="TextBox 51"/>
            <p:cNvSpPr txBox="1"/>
            <p:nvPr/>
          </p:nvSpPr>
          <p:spPr>
            <a:xfrm rot="-5400000">
              <a:off x="2909697" y="1896666"/>
              <a:ext cx="590931"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n-lt"/>
                  <a:ea typeface="+mn-ea"/>
                  <a:cs typeface="+mn-cs"/>
                </a:rPr>
                <a:t>违约概率（PD）​</a:t>
              </a:r>
            </a:p>
          </p:txBody>
        </p:sp>
        <p:sp>
          <p:nvSpPr>
            <p:cNvPr id="52" name="Freeform 52"/>
            <p:cNvSpPr/>
            <p:nvPr/>
          </p:nvSpPr>
          <p:spPr>
            <a:xfrm>
              <a:off x="3543300" y="1400175"/>
              <a:ext cx="2305050" cy="1228725"/>
            </a:xfrm>
            <a:custGeom>
              <a:avLst/>
              <a:gdLst/>
              <a:ahLst/>
              <a:cxnLst/>
              <a:rect l="l" t="t" r="r" b="b"/>
              <a:pathLst>
                <a:path w="2305050" h="1228725">
                  <a:moveTo>
                    <a:pt x="0" y="1228725"/>
                  </a:moveTo>
                  <a:cubicBezTo>
                    <a:pt x="361950" y="1209675"/>
                    <a:pt x="647700" y="1133475"/>
                    <a:pt x="914400" y="885825"/>
                  </a:cubicBezTo>
                  <a:cubicBezTo>
                    <a:pt x="1181100" y="638175"/>
                    <a:pt x="1257300" y="371475"/>
                    <a:pt x="1524000" y="180975"/>
                  </a:cubicBezTo>
                  <a:cubicBezTo>
                    <a:pt x="1752600" y="47625"/>
                    <a:pt x="2076450" y="19050"/>
                    <a:pt x="2305050" y="0"/>
                  </a:cubicBezTo>
                </a:path>
              </a:pathLst>
            </a:custGeom>
            <a:noFill/>
            <a:ln w="19050">
              <a:solidFill>
                <a:srgbClr val="C4472E"/>
              </a:solidFill>
            </a:ln>
          </p:spPr>
        </p:sp>
        <p:sp>
          <p:nvSpPr>
            <p:cNvPr id="53" name="Ellipse 53"/>
            <p:cNvSpPr/>
            <p:nvPr/>
          </p:nvSpPr>
          <p:spPr>
            <a:xfrm>
              <a:off x="3519488" y="2605088"/>
              <a:ext cx="47625" cy="47625"/>
            </a:xfrm>
            <a:prstGeom prst="ellipse">
              <a:avLst/>
            </a:prstGeom>
            <a:solidFill>
              <a:srgbClr val="C4472E"/>
            </a:solidFill>
            <a:ln>
              <a:noFill/>
            </a:ln>
          </p:spPr>
        </p:sp>
        <p:sp>
          <p:nvSpPr>
            <p:cNvPr id="54" name="Ellipse 54"/>
            <p:cNvSpPr/>
            <p:nvPr/>
          </p:nvSpPr>
          <p:spPr>
            <a:xfrm>
              <a:off x="4014788" y="2528888"/>
              <a:ext cx="47625" cy="47625"/>
            </a:xfrm>
            <a:prstGeom prst="ellipse">
              <a:avLst/>
            </a:prstGeom>
            <a:solidFill>
              <a:srgbClr val="C4472E"/>
            </a:solidFill>
            <a:ln>
              <a:noFill/>
            </a:ln>
          </p:spPr>
        </p:sp>
        <p:sp>
          <p:nvSpPr>
            <p:cNvPr id="55" name="Ellipse 55"/>
            <p:cNvSpPr/>
            <p:nvPr/>
          </p:nvSpPr>
          <p:spPr>
            <a:xfrm>
              <a:off x="4433888" y="2262188"/>
              <a:ext cx="47625" cy="47625"/>
            </a:xfrm>
            <a:prstGeom prst="ellipse">
              <a:avLst/>
            </a:prstGeom>
            <a:solidFill>
              <a:srgbClr val="C4472E"/>
            </a:solidFill>
            <a:ln>
              <a:noFill/>
            </a:ln>
          </p:spPr>
        </p:sp>
        <p:sp>
          <p:nvSpPr>
            <p:cNvPr id="56" name="Ellipse 56"/>
            <p:cNvSpPr/>
            <p:nvPr/>
          </p:nvSpPr>
          <p:spPr>
            <a:xfrm>
              <a:off x="4757738" y="1824038"/>
              <a:ext cx="47625" cy="47625"/>
            </a:xfrm>
            <a:prstGeom prst="ellipse">
              <a:avLst/>
            </a:prstGeom>
            <a:solidFill>
              <a:srgbClr val="C4472E"/>
            </a:solidFill>
            <a:ln>
              <a:noFill/>
            </a:ln>
          </p:spPr>
        </p:sp>
        <p:sp>
          <p:nvSpPr>
            <p:cNvPr id="57" name="Ellipse 57"/>
            <p:cNvSpPr/>
            <p:nvPr/>
          </p:nvSpPr>
          <p:spPr>
            <a:xfrm>
              <a:off x="5043488" y="1557338"/>
              <a:ext cx="47625" cy="47625"/>
            </a:xfrm>
            <a:prstGeom prst="ellipse">
              <a:avLst/>
            </a:prstGeom>
            <a:solidFill>
              <a:srgbClr val="C4472E"/>
            </a:solidFill>
            <a:ln>
              <a:noFill/>
            </a:ln>
          </p:spPr>
        </p:sp>
        <p:sp>
          <p:nvSpPr>
            <p:cNvPr id="58" name="Ellipse 58"/>
            <p:cNvSpPr/>
            <p:nvPr/>
          </p:nvSpPr>
          <p:spPr>
            <a:xfrm>
              <a:off x="5443538" y="1414462"/>
              <a:ext cx="47625" cy="47625"/>
            </a:xfrm>
            <a:prstGeom prst="ellipse">
              <a:avLst/>
            </a:prstGeom>
            <a:solidFill>
              <a:srgbClr val="C4472E"/>
            </a:solidFill>
            <a:ln>
              <a:noFill/>
            </a:ln>
          </p:spPr>
        </p:sp>
        <p:sp>
          <p:nvSpPr>
            <p:cNvPr id="59" name="Ellipse 59"/>
            <p:cNvSpPr/>
            <p:nvPr/>
          </p:nvSpPr>
          <p:spPr>
            <a:xfrm>
              <a:off x="5824538" y="1376362"/>
              <a:ext cx="47625" cy="47625"/>
            </a:xfrm>
            <a:prstGeom prst="ellipse">
              <a:avLst/>
            </a:prstGeom>
            <a:solidFill>
              <a:srgbClr val="C4472E"/>
            </a:solidFill>
            <a:ln>
              <a:noFill/>
            </a:ln>
          </p:spPr>
        </p:sp>
        <p:sp>
          <p:nvSpPr>
            <p:cNvPr id="60" name="TextBox 60"/>
            <p:cNvSpPr txBox="1"/>
            <p:nvPr/>
          </p:nvSpPr>
          <p:spPr>
            <a:xfrm>
              <a:off x="3454910" y="2720578"/>
              <a:ext cx="176779"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300​</a:t>
              </a:r>
            </a:p>
          </p:txBody>
        </p:sp>
        <p:sp>
          <p:nvSpPr>
            <p:cNvPr id="61" name="TextBox 61"/>
            <p:cNvSpPr txBox="1"/>
            <p:nvPr/>
          </p:nvSpPr>
          <p:spPr>
            <a:xfrm>
              <a:off x="4245485" y="2720578"/>
              <a:ext cx="176779"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500​</a:t>
              </a:r>
            </a:p>
          </p:txBody>
        </p:sp>
        <p:sp>
          <p:nvSpPr>
            <p:cNvPr id="62" name="TextBox 62"/>
            <p:cNvSpPr txBox="1"/>
            <p:nvPr/>
          </p:nvSpPr>
          <p:spPr>
            <a:xfrm>
              <a:off x="5036060" y="2720578"/>
              <a:ext cx="176779"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700​</a:t>
              </a:r>
            </a:p>
          </p:txBody>
        </p:sp>
        <p:sp>
          <p:nvSpPr>
            <p:cNvPr id="63" name="TextBox 63"/>
            <p:cNvSpPr txBox="1"/>
            <p:nvPr/>
          </p:nvSpPr>
          <p:spPr>
            <a:xfrm>
              <a:off x="5759960" y="2720578"/>
              <a:ext cx="176779"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j-lt"/>
                  <a:ea typeface="+mj-ea"/>
                  <a:cs typeface="+mj-cs"/>
                </a:rPr>
                <a:t>900​</a:t>
              </a:r>
            </a:p>
          </p:txBody>
        </p:sp>
        <p:sp>
          <p:nvSpPr>
            <p:cNvPr id="64" name="TextBox 64"/>
            <p:cNvSpPr txBox="1"/>
            <p:nvPr/>
          </p:nvSpPr>
          <p:spPr>
            <a:xfrm>
              <a:off x="5500576" y="2834878"/>
              <a:ext cx="352537" cy="111919"/>
            </a:xfrm>
            <a:prstGeom prst="rect">
              <a:avLst/>
            </a:prstGeom>
            <a:noFill/>
            <a:ln>
              <a:noFill/>
            </a:ln>
          </p:spPr>
          <p:txBody>
            <a:bodyPr wrap="none" lIns="0" tIns="0" rIns="0" bIns="0" anchor="t" anchorCtr="0">
              <a:spAutoFit/>
            </a:bodyPr>
            <a:lstStyle/>
            <a:p>
              <a:pPr algn="r"/>
              <a:r>
                <a:rPr lang="zh-CN" sz="560" dirty="0">
                  <a:solidFill>
                    <a:srgbClr val="8C716B"/>
                  </a:solidFill>
                  <a:latin typeface="+mn-lt"/>
                  <a:ea typeface="+mn-ea"/>
                  <a:cs typeface="+mn-cs"/>
                </a:rPr>
                <a:t>模型分数​</a:t>
              </a:r>
            </a:p>
          </p:txBody>
        </p:sp>
        <p:sp>
          <p:nvSpPr>
            <p:cNvPr id="65" name="TextBox 65"/>
            <p:cNvSpPr txBox="1"/>
            <p:nvPr/>
          </p:nvSpPr>
          <p:spPr>
            <a:xfrm>
              <a:off x="4094850" y="3007995"/>
              <a:ext cx="954300" cy="176212"/>
            </a:xfrm>
            <a:prstGeom prst="rect">
              <a:avLst/>
            </a:prstGeom>
            <a:noFill/>
            <a:ln>
              <a:noFill/>
            </a:ln>
          </p:spPr>
          <p:txBody>
            <a:bodyPr wrap="none" lIns="0" tIns="0" rIns="0" bIns="0" anchor="t" anchorCtr="0">
              <a:spAutoFit/>
            </a:bodyPr>
            <a:lstStyle/>
            <a:p>
              <a:pPr algn="ctr"/>
              <a:r>
                <a:rPr lang="zh-CN" sz="900" b="1" dirty="0">
                  <a:solidFill>
                    <a:srgbClr val="3E1810"/>
                  </a:solidFill>
                  <a:latin typeface="+mn-lt"/>
                  <a:ea typeface="+mn-ea"/>
                  <a:cs typeface="+mn-cs"/>
                </a:rPr>
                <a:t>PD（违约概率）​</a:t>
              </a:r>
            </a:p>
          </p:txBody>
        </p:sp>
        <p:sp>
          <p:nvSpPr>
            <p:cNvPr id="66" name="TextBox 66"/>
            <p:cNvSpPr txBox="1"/>
            <p:nvPr/>
          </p:nvSpPr>
          <p:spPr>
            <a:xfrm>
              <a:off x="3328988" y="3283982"/>
              <a:ext cx="1246070"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将模型分数映射为违约概率</a:t>
              </a:r>
              <a:r>
                <a:rPr lang="en-US" sz="640" dirty="0">
                  <a:solidFill>
                    <a:srgbClr val="5C3A33"/>
                  </a:solidFill>
                  <a:latin typeface="+mj-lt"/>
                  <a:ea typeface="+mj-ea"/>
                  <a:cs typeface="+mj-cs"/>
                </a:rPr>
                <a:t>PD</a:t>
              </a:r>
            </a:p>
          </p:txBody>
        </p:sp>
        <p:sp>
          <p:nvSpPr>
            <p:cNvPr id="67" name="TextBox 67"/>
            <p:cNvSpPr txBox="1"/>
            <p:nvPr/>
          </p:nvSpPr>
          <p:spPr>
            <a:xfrm>
              <a:off x="3328988" y="3493532"/>
              <a:ext cx="1504541"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en-US" sz="640" dirty="0">
                  <a:solidFill>
                    <a:srgbClr val="5C3A33"/>
                  </a:solidFill>
                  <a:latin typeface="+mj-lt"/>
                  <a:ea typeface="+mj-ea"/>
                  <a:cs typeface="+mj-cs"/>
                </a:rPr>
                <a:t>PD</a:t>
              </a:r>
              <a:r>
                <a:rPr lang="zh-CN" sz="640" dirty="0">
                  <a:solidFill>
                    <a:srgbClr val="5C3A33"/>
                  </a:solidFill>
                  <a:latin typeface="+mn-lt"/>
                  <a:ea typeface="+mn-ea"/>
                  <a:cs typeface="+mn-cs"/>
                </a:rPr>
                <a:t>表示未来一定期限内的违约可能性</a:t>
              </a:r>
            </a:p>
          </p:txBody>
        </p:sp>
        <p:sp>
          <p:nvSpPr>
            <p:cNvPr id="68" name="TextBox 68"/>
            <p:cNvSpPr txBox="1"/>
            <p:nvPr/>
          </p:nvSpPr>
          <p:spPr>
            <a:xfrm>
              <a:off x="3328988" y="3703082"/>
              <a:ext cx="1073757"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en-US" sz="640" dirty="0">
                  <a:solidFill>
                    <a:srgbClr val="5C3A33"/>
                  </a:solidFill>
                  <a:latin typeface="+mj-lt"/>
                  <a:ea typeface="+mj-ea"/>
                  <a:cs typeface="+mj-cs"/>
                </a:rPr>
                <a:t>PD</a:t>
              </a:r>
              <a:r>
                <a:rPr lang="zh-CN" sz="640" dirty="0">
                  <a:solidFill>
                    <a:srgbClr val="5C3A33"/>
                  </a:solidFill>
                  <a:latin typeface="+mn-lt"/>
                  <a:ea typeface="+mn-ea"/>
                  <a:cs typeface="+mn-cs"/>
                </a:rPr>
                <a:t>是量化风险的核心指标</a:t>
              </a:r>
            </a:p>
          </p:txBody>
        </p:sp>
      </p:grpSp>
      <p:grpSp>
        <p:nvGrpSpPr>
          <p:cNvPr id="107" name="col-ruler"/>
          <p:cNvGrpSpPr/>
          <p:nvPr/>
        </p:nvGrpSpPr>
        <p:grpSpPr>
          <a:xfrm>
            <a:off x="6096000" y="1238250"/>
            <a:ext cx="2857500" cy="3067050"/>
            <a:chOff x="6096000" y="1238250"/>
            <a:chExt cx="2857500" cy="3067050"/>
          </a:xfrm>
        </p:grpSpPr>
        <p:sp>
          <p:nvSpPr>
            <p:cNvPr id="70" name="Rectangle 70"/>
            <p:cNvSpPr/>
            <p:nvPr/>
          </p:nvSpPr>
          <p:spPr>
            <a:xfrm>
              <a:off x="6096000" y="1238250"/>
              <a:ext cx="2857500" cy="3067050"/>
            </a:xfrm>
            <a:prstGeom prst="roundRect">
              <a:avLst>
                <a:gd name="adj" fmla="val 2667"/>
              </a:avLst>
            </a:prstGeom>
            <a:solidFill>
              <a:srgbClr val="F4F9FD"/>
            </a:solidFill>
            <a:ln w="9525">
              <a:solidFill>
                <a:srgbClr val="CFE2F2"/>
              </a:solidFill>
            </a:ln>
          </p:spPr>
        </p:sp>
        <p:sp>
          <p:nvSpPr>
            <p:cNvPr id="71" name="Line 71"/>
            <p:cNvSpPr/>
            <p:nvPr/>
          </p:nvSpPr>
          <p:spPr>
            <a:xfrm>
              <a:off x="6324600" y="1428750"/>
              <a:ext cx="9525" cy="1524000"/>
            </a:xfrm>
            <a:custGeom>
              <a:avLst/>
              <a:gdLst/>
              <a:ahLst/>
              <a:cxnLst/>
              <a:rect l="l" t="t" r="r" b="b"/>
              <a:pathLst>
                <a:path w="9525" h="1524000">
                  <a:moveTo>
                    <a:pt x="0" y="0"/>
                  </a:moveTo>
                  <a:lnTo>
                    <a:pt x="0" y="1524000"/>
                  </a:lnTo>
                </a:path>
              </a:pathLst>
            </a:custGeom>
            <a:noFill/>
            <a:ln w="9525">
              <a:solidFill>
                <a:srgbClr val="CFE2F2"/>
              </a:solidFill>
            </a:ln>
          </p:spPr>
        </p:sp>
        <p:sp>
          <p:nvSpPr>
            <p:cNvPr id="72" name="Rectangle 72"/>
            <p:cNvSpPr/>
            <p:nvPr/>
          </p:nvSpPr>
          <p:spPr>
            <a:xfrm>
              <a:off x="6210300" y="1390650"/>
              <a:ext cx="2628900" cy="200025"/>
            </a:xfrm>
            <a:prstGeom prst="rect">
              <a:avLst/>
            </a:prstGeom>
            <a:solidFill>
              <a:srgbClr val="EAF3FB"/>
            </a:solidFill>
            <a:ln>
              <a:noFill/>
            </a:ln>
          </p:spPr>
        </p:sp>
        <p:sp>
          <p:nvSpPr>
            <p:cNvPr id="73" name="Ellipse 73"/>
            <p:cNvSpPr/>
            <p:nvPr/>
          </p:nvSpPr>
          <p:spPr>
            <a:xfrm>
              <a:off x="6291262" y="1457325"/>
              <a:ext cx="66675" cy="66675"/>
            </a:xfrm>
            <a:prstGeom prst="ellipse">
              <a:avLst/>
            </a:prstGeom>
            <a:solidFill>
              <a:srgbClr val="FC6141"/>
            </a:solidFill>
            <a:ln>
              <a:noFill/>
            </a:ln>
          </p:spPr>
        </p:sp>
        <p:sp>
          <p:nvSpPr>
            <p:cNvPr id="74" name="TextBox 74"/>
            <p:cNvSpPr txBox="1"/>
            <p:nvPr/>
          </p:nvSpPr>
          <p:spPr>
            <a:xfrm>
              <a:off x="6415088" y="1455182"/>
              <a:ext cx="303587" cy="126206"/>
            </a:xfrm>
            <a:prstGeom prst="rect">
              <a:avLst/>
            </a:prstGeom>
            <a:noFill/>
            <a:ln>
              <a:noFill/>
            </a:ln>
          </p:spPr>
          <p:txBody>
            <a:bodyPr wrap="none" lIns="0" tIns="0" rIns="0" bIns="0" anchor="t" anchorCtr="0">
              <a:spAutoFit/>
            </a:bodyPr>
            <a:lstStyle/>
            <a:p>
              <a:pPr algn="l"/>
              <a:r>
                <a:rPr lang="zh-CN" sz="640" b="1" dirty="0">
                  <a:solidFill>
                    <a:srgbClr val="5C3A33"/>
                  </a:solidFill>
                  <a:latin typeface="+mj-lt"/>
                  <a:ea typeface="+mj-ea"/>
                  <a:cs typeface="+mj-cs"/>
                </a:rPr>
                <a:t>0.01%​</a:t>
              </a:r>
            </a:p>
          </p:txBody>
        </p:sp>
        <p:sp>
          <p:nvSpPr>
            <p:cNvPr id="75" name="TextBox 75"/>
            <p:cNvSpPr txBox="1"/>
            <p:nvPr/>
          </p:nvSpPr>
          <p:spPr>
            <a:xfrm>
              <a:off x="7043738" y="1455182"/>
              <a:ext cx="372435"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j-lt"/>
                  <a:ea typeface="+mj-ea"/>
                  <a:cs typeface="+mj-cs"/>
                </a:rPr>
                <a:t>≤ 0.01%​</a:t>
              </a:r>
            </a:p>
          </p:txBody>
        </p:sp>
        <p:sp>
          <p:nvSpPr>
            <p:cNvPr id="76" name="Rectangle 76"/>
            <p:cNvSpPr/>
            <p:nvPr/>
          </p:nvSpPr>
          <p:spPr>
            <a:xfrm>
              <a:off x="6210300" y="1590675"/>
              <a:ext cx="2628900" cy="200025"/>
            </a:xfrm>
            <a:prstGeom prst="rect">
              <a:avLst/>
            </a:prstGeom>
            <a:solidFill>
              <a:srgbClr val="FFFFFF"/>
            </a:solidFill>
            <a:ln>
              <a:noFill/>
            </a:ln>
          </p:spPr>
        </p:sp>
        <p:sp>
          <p:nvSpPr>
            <p:cNvPr id="77" name="Ellipse 77"/>
            <p:cNvSpPr/>
            <p:nvPr/>
          </p:nvSpPr>
          <p:spPr>
            <a:xfrm>
              <a:off x="6291262" y="1657350"/>
              <a:ext cx="66675" cy="66675"/>
            </a:xfrm>
            <a:prstGeom prst="ellipse">
              <a:avLst/>
            </a:prstGeom>
            <a:solidFill>
              <a:srgbClr val="FC6C4F"/>
            </a:solidFill>
            <a:ln>
              <a:noFill/>
            </a:ln>
          </p:spPr>
        </p:sp>
        <p:sp>
          <p:nvSpPr>
            <p:cNvPr id="78" name="TextBox 78"/>
            <p:cNvSpPr txBox="1"/>
            <p:nvPr/>
          </p:nvSpPr>
          <p:spPr>
            <a:xfrm>
              <a:off x="6415088" y="1655207"/>
              <a:ext cx="303587" cy="126206"/>
            </a:xfrm>
            <a:prstGeom prst="rect">
              <a:avLst/>
            </a:prstGeom>
            <a:noFill/>
            <a:ln>
              <a:noFill/>
            </a:ln>
          </p:spPr>
          <p:txBody>
            <a:bodyPr wrap="none" lIns="0" tIns="0" rIns="0" bIns="0" anchor="t" anchorCtr="0">
              <a:spAutoFit/>
            </a:bodyPr>
            <a:lstStyle/>
            <a:p>
              <a:pPr algn="l"/>
              <a:r>
                <a:rPr lang="zh-CN" sz="640" b="1" dirty="0">
                  <a:solidFill>
                    <a:srgbClr val="5C3A33"/>
                  </a:solidFill>
                  <a:latin typeface="+mj-lt"/>
                  <a:ea typeface="+mj-ea"/>
                  <a:cs typeface="+mj-cs"/>
                </a:rPr>
                <a:t>0.02%​</a:t>
              </a:r>
            </a:p>
          </p:txBody>
        </p:sp>
        <p:sp>
          <p:nvSpPr>
            <p:cNvPr id="79" name="TextBox 79"/>
            <p:cNvSpPr txBox="1"/>
            <p:nvPr/>
          </p:nvSpPr>
          <p:spPr>
            <a:xfrm>
              <a:off x="7043738" y="1655207"/>
              <a:ext cx="646017"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j-lt"/>
                  <a:ea typeface="+mj-ea"/>
                  <a:cs typeface="+mj-cs"/>
                </a:rPr>
                <a:t>(0.01%, 0.02%]​</a:t>
              </a:r>
            </a:p>
          </p:txBody>
        </p:sp>
        <p:sp>
          <p:nvSpPr>
            <p:cNvPr id="80" name="Rectangle 80"/>
            <p:cNvSpPr/>
            <p:nvPr/>
          </p:nvSpPr>
          <p:spPr>
            <a:xfrm>
              <a:off x="6210300" y="1790700"/>
              <a:ext cx="2628900" cy="200025"/>
            </a:xfrm>
            <a:prstGeom prst="rect">
              <a:avLst/>
            </a:prstGeom>
            <a:solidFill>
              <a:srgbClr val="EAF3FB"/>
            </a:solidFill>
            <a:ln>
              <a:noFill/>
            </a:ln>
          </p:spPr>
        </p:sp>
        <p:sp>
          <p:nvSpPr>
            <p:cNvPr id="81" name="Ellipse 81"/>
            <p:cNvSpPr/>
            <p:nvPr/>
          </p:nvSpPr>
          <p:spPr>
            <a:xfrm>
              <a:off x="6291262" y="1857375"/>
              <a:ext cx="66675" cy="66675"/>
            </a:xfrm>
            <a:prstGeom prst="ellipse">
              <a:avLst/>
            </a:prstGeom>
            <a:solidFill>
              <a:srgbClr val="EA6D54"/>
            </a:solidFill>
            <a:ln>
              <a:noFill/>
            </a:ln>
          </p:spPr>
        </p:sp>
        <p:sp>
          <p:nvSpPr>
            <p:cNvPr id="82" name="TextBox 82"/>
            <p:cNvSpPr txBox="1"/>
            <p:nvPr/>
          </p:nvSpPr>
          <p:spPr>
            <a:xfrm>
              <a:off x="6415088" y="1855232"/>
              <a:ext cx="303587" cy="126206"/>
            </a:xfrm>
            <a:prstGeom prst="rect">
              <a:avLst/>
            </a:prstGeom>
            <a:noFill/>
            <a:ln>
              <a:noFill/>
            </a:ln>
          </p:spPr>
          <p:txBody>
            <a:bodyPr wrap="none" lIns="0" tIns="0" rIns="0" bIns="0" anchor="t" anchorCtr="0">
              <a:spAutoFit/>
            </a:bodyPr>
            <a:lstStyle/>
            <a:p>
              <a:pPr algn="l"/>
              <a:r>
                <a:rPr lang="zh-CN" sz="640" b="1" dirty="0">
                  <a:solidFill>
                    <a:srgbClr val="5C3A33"/>
                  </a:solidFill>
                  <a:latin typeface="+mj-lt"/>
                  <a:ea typeface="+mj-ea"/>
                  <a:cs typeface="+mj-cs"/>
                </a:rPr>
                <a:t>0.05%​</a:t>
              </a:r>
            </a:p>
          </p:txBody>
        </p:sp>
        <p:sp>
          <p:nvSpPr>
            <p:cNvPr id="83" name="TextBox 83"/>
            <p:cNvSpPr txBox="1"/>
            <p:nvPr/>
          </p:nvSpPr>
          <p:spPr>
            <a:xfrm>
              <a:off x="7043738" y="1855232"/>
              <a:ext cx="646017"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j-lt"/>
                  <a:ea typeface="+mj-ea"/>
                  <a:cs typeface="+mj-cs"/>
                </a:rPr>
                <a:t>(0.02%, 0.05%]​</a:t>
              </a:r>
            </a:p>
          </p:txBody>
        </p:sp>
        <p:sp>
          <p:nvSpPr>
            <p:cNvPr id="84" name="Rectangle 84"/>
            <p:cNvSpPr/>
            <p:nvPr/>
          </p:nvSpPr>
          <p:spPr>
            <a:xfrm>
              <a:off x="6210300" y="1990725"/>
              <a:ext cx="2628900" cy="200025"/>
            </a:xfrm>
            <a:prstGeom prst="rect">
              <a:avLst/>
            </a:prstGeom>
            <a:solidFill>
              <a:srgbClr val="FFFFFF"/>
            </a:solidFill>
            <a:ln>
              <a:noFill/>
            </a:ln>
          </p:spPr>
        </p:sp>
        <p:sp>
          <p:nvSpPr>
            <p:cNvPr id="85" name="Ellipse 85"/>
            <p:cNvSpPr/>
            <p:nvPr/>
          </p:nvSpPr>
          <p:spPr>
            <a:xfrm>
              <a:off x="6291262" y="2057400"/>
              <a:ext cx="66675" cy="66675"/>
            </a:xfrm>
            <a:prstGeom prst="ellipse">
              <a:avLst/>
            </a:prstGeom>
            <a:solidFill>
              <a:srgbClr val="C96D5B"/>
            </a:solidFill>
            <a:ln>
              <a:noFill/>
            </a:ln>
          </p:spPr>
        </p:sp>
        <p:sp>
          <p:nvSpPr>
            <p:cNvPr id="86" name="TextBox 86"/>
            <p:cNvSpPr txBox="1"/>
            <p:nvPr/>
          </p:nvSpPr>
          <p:spPr>
            <a:xfrm>
              <a:off x="6415088" y="2055257"/>
              <a:ext cx="303587" cy="126206"/>
            </a:xfrm>
            <a:prstGeom prst="rect">
              <a:avLst/>
            </a:prstGeom>
            <a:noFill/>
            <a:ln>
              <a:noFill/>
            </a:ln>
          </p:spPr>
          <p:txBody>
            <a:bodyPr wrap="none" lIns="0" tIns="0" rIns="0" bIns="0" anchor="t" anchorCtr="0">
              <a:spAutoFit/>
            </a:bodyPr>
            <a:lstStyle/>
            <a:p>
              <a:pPr algn="l"/>
              <a:r>
                <a:rPr lang="zh-CN" sz="640" b="1" dirty="0">
                  <a:solidFill>
                    <a:srgbClr val="5C3A33"/>
                  </a:solidFill>
                  <a:latin typeface="+mj-lt"/>
                  <a:ea typeface="+mj-ea"/>
                  <a:cs typeface="+mj-cs"/>
                </a:rPr>
                <a:t>0.15%​</a:t>
              </a:r>
            </a:p>
          </p:txBody>
        </p:sp>
        <p:sp>
          <p:nvSpPr>
            <p:cNvPr id="87" name="TextBox 87"/>
            <p:cNvSpPr txBox="1"/>
            <p:nvPr/>
          </p:nvSpPr>
          <p:spPr>
            <a:xfrm>
              <a:off x="7043738" y="2055257"/>
              <a:ext cx="646017"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j-lt"/>
                  <a:ea typeface="+mj-ea"/>
                  <a:cs typeface="+mj-cs"/>
                </a:rPr>
                <a:t>(0.05%, 0.15%]​</a:t>
              </a:r>
            </a:p>
          </p:txBody>
        </p:sp>
        <p:sp>
          <p:nvSpPr>
            <p:cNvPr id="88" name="Rectangle 88"/>
            <p:cNvSpPr/>
            <p:nvPr/>
          </p:nvSpPr>
          <p:spPr>
            <a:xfrm>
              <a:off x="6210300" y="2190750"/>
              <a:ext cx="2628900" cy="200025"/>
            </a:xfrm>
            <a:prstGeom prst="rect">
              <a:avLst/>
            </a:prstGeom>
            <a:solidFill>
              <a:srgbClr val="EAF3FB"/>
            </a:solidFill>
            <a:ln>
              <a:noFill/>
            </a:ln>
          </p:spPr>
        </p:sp>
        <p:sp>
          <p:nvSpPr>
            <p:cNvPr id="89" name="Ellipse 89"/>
            <p:cNvSpPr/>
            <p:nvPr/>
          </p:nvSpPr>
          <p:spPr>
            <a:xfrm>
              <a:off x="6291262" y="2257425"/>
              <a:ext cx="66675" cy="66675"/>
            </a:xfrm>
            <a:prstGeom prst="ellipse">
              <a:avLst/>
            </a:prstGeom>
            <a:solidFill>
              <a:srgbClr val="F6826D"/>
            </a:solidFill>
            <a:ln>
              <a:noFill/>
            </a:ln>
          </p:spPr>
        </p:sp>
        <p:sp>
          <p:nvSpPr>
            <p:cNvPr id="90" name="TextBox 90"/>
            <p:cNvSpPr txBox="1"/>
            <p:nvPr/>
          </p:nvSpPr>
          <p:spPr>
            <a:xfrm>
              <a:off x="6415088" y="2255282"/>
              <a:ext cx="303587" cy="126206"/>
            </a:xfrm>
            <a:prstGeom prst="rect">
              <a:avLst/>
            </a:prstGeom>
            <a:noFill/>
            <a:ln>
              <a:noFill/>
            </a:ln>
          </p:spPr>
          <p:txBody>
            <a:bodyPr wrap="none" lIns="0" tIns="0" rIns="0" bIns="0" anchor="t" anchorCtr="0">
              <a:spAutoFit/>
            </a:bodyPr>
            <a:lstStyle/>
            <a:p>
              <a:pPr algn="l"/>
              <a:r>
                <a:rPr lang="zh-CN" sz="640" b="1" dirty="0">
                  <a:solidFill>
                    <a:srgbClr val="5C3A33"/>
                  </a:solidFill>
                  <a:latin typeface="+mj-lt"/>
                  <a:ea typeface="+mj-ea"/>
                  <a:cs typeface="+mj-cs"/>
                </a:rPr>
                <a:t>0.50%​</a:t>
              </a:r>
            </a:p>
          </p:txBody>
        </p:sp>
        <p:sp>
          <p:nvSpPr>
            <p:cNvPr id="91" name="TextBox 91"/>
            <p:cNvSpPr txBox="1"/>
            <p:nvPr/>
          </p:nvSpPr>
          <p:spPr>
            <a:xfrm>
              <a:off x="7043738" y="2255282"/>
              <a:ext cx="646017"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j-lt"/>
                  <a:ea typeface="+mj-ea"/>
                  <a:cs typeface="+mj-cs"/>
                </a:rPr>
                <a:t>(0.15%, 0.50%]​</a:t>
              </a:r>
            </a:p>
          </p:txBody>
        </p:sp>
        <p:sp>
          <p:nvSpPr>
            <p:cNvPr id="92" name="Rectangle 92"/>
            <p:cNvSpPr/>
            <p:nvPr/>
          </p:nvSpPr>
          <p:spPr>
            <a:xfrm>
              <a:off x="6210300" y="2390775"/>
              <a:ext cx="2628900" cy="200025"/>
            </a:xfrm>
            <a:prstGeom prst="rect">
              <a:avLst/>
            </a:prstGeom>
            <a:solidFill>
              <a:srgbClr val="FFFFFF"/>
            </a:solidFill>
            <a:ln>
              <a:noFill/>
            </a:ln>
          </p:spPr>
        </p:sp>
        <p:sp>
          <p:nvSpPr>
            <p:cNvPr id="93" name="Ellipse 93"/>
            <p:cNvSpPr/>
            <p:nvPr/>
          </p:nvSpPr>
          <p:spPr>
            <a:xfrm>
              <a:off x="6291262" y="2457450"/>
              <a:ext cx="66675" cy="66675"/>
            </a:xfrm>
            <a:prstGeom prst="ellipse">
              <a:avLst/>
            </a:prstGeom>
            <a:solidFill>
              <a:srgbClr val="FD5B3F"/>
            </a:solidFill>
            <a:ln>
              <a:noFill/>
            </a:ln>
          </p:spPr>
        </p:sp>
        <p:sp>
          <p:nvSpPr>
            <p:cNvPr id="94" name="TextBox 94"/>
            <p:cNvSpPr txBox="1"/>
            <p:nvPr/>
          </p:nvSpPr>
          <p:spPr>
            <a:xfrm>
              <a:off x="6415088" y="2455307"/>
              <a:ext cx="303587" cy="126206"/>
            </a:xfrm>
            <a:prstGeom prst="rect">
              <a:avLst/>
            </a:prstGeom>
            <a:noFill/>
            <a:ln>
              <a:noFill/>
            </a:ln>
          </p:spPr>
          <p:txBody>
            <a:bodyPr wrap="none" lIns="0" tIns="0" rIns="0" bIns="0" anchor="t" anchorCtr="0">
              <a:spAutoFit/>
            </a:bodyPr>
            <a:lstStyle/>
            <a:p>
              <a:pPr algn="l"/>
              <a:r>
                <a:rPr lang="zh-CN" sz="640" b="1" dirty="0">
                  <a:solidFill>
                    <a:srgbClr val="5C3A33"/>
                  </a:solidFill>
                  <a:latin typeface="+mj-lt"/>
                  <a:ea typeface="+mj-ea"/>
                  <a:cs typeface="+mj-cs"/>
                </a:rPr>
                <a:t>1.50%​</a:t>
              </a:r>
            </a:p>
          </p:txBody>
        </p:sp>
        <p:sp>
          <p:nvSpPr>
            <p:cNvPr id="95" name="TextBox 95"/>
            <p:cNvSpPr txBox="1"/>
            <p:nvPr/>
          </p:nvSpPr>
          <p:spPr>
            <a:xfrm>
              <a:off x="7043738" y="2455307"/>
              <a:ext cx="646017"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j-lt"/>
                  <a:ea typeface="+mj-ea"/>
                  <a:cs typeface="+mj-cs"/>
                </a:rPr>
                <a:t>(0.50%, 1.50%]​</a:t>
              </a:r>
            </a:p>
          </p:txBody>
        </p:sp>
        <p:sp>
          <p:nvSpPr>
            <p:cNvPr id="96" name="Rectangle 96"/>
            <p:cNvSpPr/>
            <p:nvPr/>
          </p:nvSpPr>
          <p:spPr>
            <a:xfrm>
              <a:off x="6210300" y="2590800"/>
              <a:ext cx="2628900" cy="200025"/>
            </a:xfrm>
            <a:prstGeom prst="rect">
              <a:avLst/>
            </a:prstGeom>
            <a:solidFill>
              <a:srgbClr val="EAF3FB"/>
            </a:solidFill>
            <a:ln>
              <a:noFill/>
            </a:ln>
          </p:spPr>
        </p:sp>
        <p:sp>
          <p:nvSpPr>
            <p:cNvPr id="97" name="Ellipse 97"/>
            <p:cNvSpPr/>
            <p:nvPr/>
          </p:nvSpPr>
          <p:spPr>
            <a:xfrm>
              <a:off x="6291262" y="2657475"/>
              <a:ext cx="66675" cy="66675"/>
            </a:xfrm>
            <a:prstGeom prst="ellipse">
              <a:avLst/>
            </a:prstGeom>
            <a:solidFill>
              <a:srgbClr val="FA5538"/>
            </a:solidFill>
            <a:ln>
              <a:noFill/>
            </a:ln>
          </p:spPr>
        </p:sp>
        <p:sp>
          <p:nvSpPr>
            <p:cNvPr id="98" name="TextBox 98"/>
            <p:cNvSpPr txBox="1"/>
            <p:nvPr/>
          </p:nvSpPr>
          <p:spPr>
            <a:xfrm>
              <a:off x="6415088" y="2655332"/>
              <a:ext cx="303587" cy="126206"/>
            </a:xfrm>
            <a:prstGeom prst="rect">
              <a:avLst/>
            </a:prstGeom>
            <a:noFill/>
            <a:ln>
              <a:noFill/>
            </a:ln>
          </p:spPr>
          <p:txBody>
            <a:bodyPr wrap="none" lIns="0" tIns="0" rIns="0" bIns="0" anchor="t" anchorCtr="0">
              <a:spAutoFit/>
            </a:bodyPr>
            <a:lstStyle/>
            <a:p>
              <a:pPr algn="l"/>
              <a:r>
                <a:rPr lang="zh-CN" sz="640" b="1" dirty="0">
                  <a:solidFill>
                    <a:srgbClr val="5C3A33"/>
                  </a:solidFill>
                  <a:latin typeface="+mj-lt"/>
                  <a:ea typeface="+mj-ea"/>
                  <a:cs typeface="+mj-cs"/>
                </a:rPr>
                <a:t>5.00%​</a:t>
              </a:r>
            </a:p>
          </p:txBody>
        </p:sp>
        <p:sp>
          <p:nvSpPr>
            <p:cNvPr id="99" name="TextBox 99"/>
            <p:cNvSpPr txBox="1"/>
            <p:nvPr/>
          </p:nvSpPr>
          <p:spPr>
            <a:xfrm>
              <a:off x="7043738" y="2655332"/>
              <a:ext cx="646017"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j-lt"/>
                  <a:ea typeface="+mj-ea"/>
                  <a:cs typeface="+mj-cs"/>
                </a:rPr>
                <a:t>(1.50%, 5.00%]​</a:t>
              </a:r>
            </a:p>
          </p:txBody>
        </p:sp>
        <p:sp>
          <p:nvSpPr>
            <p:cNvPr id="100" name="Rectangle 100"/>
            <p:cNvSpPr/>
            <p:nvPr/>
          </p:nvSpPr>
          <p:spPr>
            <a:xfrm>
              <a:off x="6210300" y="2790825"/>
              <a:ext cx="2628900" cy="200025"/>
            </a:xfrm>
            <a:prstGeom prst="rect">
              <a:avLst/>
            </a:prstGeom>
            <a:solidFill>
              <a:srgbClr val="FFFFFF"/>
            </a:solidFill>
            <a:ln>
              <a:noFill/>
            </a:ln>
          </p:spPr>
        </p:sp>
        <p:sp>
          <p:nvSpPr>
            <p:cNvPr id="101" name="Ellipse 101"/>
            <p:cNvSpPr/>
            <p:nvPr/>
          </p:nvSpPr>
          <p:spPr>
            <a:xfrm>
              <a:off x="6291262" y="2857500"/>
              <a:ext cx="66675" cy="66675"/>
            </a:xfrm>
            <a:prstGeom prst="ellipse">
              <a:avLst/>
            </a:prstGeom>
            <a:solidFill>
              <a:srgbClr val="E55A42"/>
            </a:solidFill>
            <a:ln>
              <a:noFill/>
            </a:ln>
          </p:spPr>
        </p:sp>
        <p:sp>
          <p:nvSpPr>
            <p:cNvPr id="102" name="TextBox 102"/>
            <p:cNvSpPr txBox="1"/>
            <p:nvPr/>
          </p:nvSpPr>
          <p:spPr>
            <a:xfrm>
              <a:off x="6415088" y="2855357"/>
              <a:ext cx="351507" cy="126206"/>
            </a:xfrm>
            <a:prstGeom prst="rect">
              <a:avLst/>
            </a:prstGeom>
            <a:noFill/>
            <a:ln>
              <a:noFill/>
            </a:ln>
          </p:spPr>
          <p:txBody>
            <a:bodyPr wrap="none" lIns="0" tIns="0" rIns="0" bIns="0" anchor="t" anchorCtr="0">
              <a:spAutoFit/>
            </a:bodyPr>
            <a:lstStyle/>
            <a:p>
              <a:pPr algn="l"/>
              <a:r>
                <a:rPr lang="zh-CN" sz="640" b="1" dirty="0">
                  <a:solidFill>
                    <a:srgbClr val="5C3A33"/>
                  </a:solidFill>
                  <a:latin typeface="+mj-lt"/>
                  <a:ea typeface="+mj-ea"/>
                  <a:cs typeface="+mj-cs"/>
                </a:rPr>
                <a:t>15.00%​</a:t>
              </a:r>
            </a:p>
          </p:txBody>
        </p:sp>
        <p:sp>
          <p:nvSpPr>
            <p:cNvPr id="103" name="TextBox 103"/>
            <p:cNvSpPr txBox="1"/>
            <p:nvPr/>
          </p:nvSpPr>
          <p:spPr>
            <a:xfrm>
              <a:off x="7043738" y="2855357"/>
              <a:ext cx="423388"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j-lt"/>
                  <a:ea typeface="+mj-ea"/>
                  <a:cs typeface="+mj-cs"/>
                </a:rPr>
                <a:t>&gt; 15.00%​</a:t>
              </a:r>
            </a:p>
          </p:txBody>
        </p:sp>
        <p:sp>
          <p:nvSpPr>
            <p:cNvPr id="104" name="TextBox 104"/>
            <p:cNvSpPr txBox="1"/>
            <p:nvPr/>
          </p:nvSpPr>
          <p:spPr>
            <a:xfrm>
              <a:off x="6281738" y="3283982"/>
              <a:ext cx="1332227"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主标尺设定各等级的</a:t>
              </a:r>
              <a:r>
                <a:rPr lang="en-US" sz="640" dirty="0">
                  <a:solidFill>
                    <a:srgbClr val="5C3A33"/>
                  </a:solidFill>
                  <a:latin typeface="+mj-lt"/>
                  <a:ea typeface="+mj-ea"/>
                  <a:cs typeface="+mj-cs"/>
                </a:rPr>
                <a:t>PD</a:t>
              </a:r>
              <a:r>
                <a:rPr lang="zh-CN" sz="640" dirty="0">
                  <a:solidFill>
                    <a:srgbClr val="5C3A33"/>
                  </a:solidFill>
                  <a:latin typeface="+mn-lt"/>
                  <a:ea typeface="+mn-ea"/>
                  <a:cs typeface="+mn-cs"/>
                </a:rPr>
                <a:t>阈值区间</a:t>
              </a:r>
            </a:p>
          </p:txBody>
        </p:sp>
        <p:sp>
          <p:nvSpPr>
            <p:cNvPr id="105" name="TextBox 105"/>
            <p:cNvSpPr txBox="1"/>
            <p:nvPr/>
          </p:nvSpPr>
          <p:spPr>
            <a:xfrm>
              <a:off x="6281738" y="3493532"/>
              <a:ext cx="1205763"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通常基于历史数据、行业经验</a:t>
              </a:r>
            </a:p>
          </p:txBody>
        </p:sp>
        <p:sp>
          <p:nvSpPr>
            <p:cNvPr id="106" name="TextBox 106"/>
            <p:cNvSpPr txBox="1"/>
            <p:nvPr/>
          </p:nvSpPr>
          <p:spPr>
            <a:xfrm>
              <a:off x="6281738" y="3703082"/>
              <a:ext cx="1291920"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保证评级体系的稳定性与可比性</a:t>
              </a:r>
            </a:p>
          </p:txBody>
        </p:sp>
      </p:grpSp>
      <p:grpSp>
        <p:nvGrpSpPr>
          <p:cNvPr id="135" name="col-grade"/>
          <p:cNvGrpSpPr/>
          <p:nvPr/>
        </p:nvGrpSpPr>
        <p:grpSpPr>
          <a:xfrm>
            <a:off x="9048750" y="1238250"/>
            <a:ext cx="2952750" cy="3067050"/>
            <a:chOff x="9048750" y="1238250"/>
            <a:chExt cx="2952750" cy="3067050"/>
          </a:xfrm>
        </p:grpSpPr>
        <p:sp>
          <p:nvSpPr>
            <p:cNvPr id="108" name="Rectangle 108"/>
            <p:cNvSpPr/>
            <p:nvPr/>
          </p:nvSpPr>
          <p:spPr>
            <a:xfrm>
              <a:off x="9048750" y="1238250"/>
              <a:ext cx="2952750" cy="3067050"/>
            </a:xfrm>
            <a:prstGeom prst="roundRect">
              <a:avLst>
                <a:gd name="adj" fmla="val 2581"/>
              </a:avLst>
            </a:prstGeom>
            <a:solidFill>
              <a:srgbClr val="F4F9FD"/>
            </a:solidFill>
            <a:ln w="9525">
              <a:solidFill>
                <a:srgbClr val="CFE2F2"/>
              </a:solidFill>
            </a:ln>
          </p:spPr>
        </p:sp>
        <p:sp>
          <p:nvSpPr>
            <p:cNvPr id="109" name="TextBox 109"/>
            <p:cNvSpPr txBox="1"/>
            <p:nvPr/>
          </p:nvSpPr>
          <p:spPr>
            <a:xfrm>
              <a:off x="9177338" y="1370886"/>
              <a:ext cx="391846" cy="140494"/>
            </a:xfrm>
            <a:prstGeom prst="rect">
              <a:avLst/>
            </a:prstGeom>
            <a:noFill/>
            <a:ln>
              <a:noFill/>
            </a:ln>
          </p:spPr>
          <p:txBody>
            <a:bodyPr wrap="none" lIns="0" tIns="0" rIns="0" bIns="0" anchor="t" anchorCtr="0">
              <a:spAutoFit/>
            </a:bodyPr>
            <a:lstStyle/>
            <a:p>
              <a:pPr algn="l"/>
              <a:r>
                <a:rPr lang="zh-CN" sz="710" b="1" dirty="0">
                  <a:solidFill>
                    <a:srgbClr val="9E311B"/>
                  </a:solidFill>
                  <a:latin typeface="+mn-lt"/>
                  <a:ea typeface="+mn-ea"/>
                  <a:cs typeface="+mn-cs"/>
                </a:rPr>
                <a:t>评级等级</a:t>
              </a:r>
            </a:p>
          </p:txBody>
        </p:sp>
        <p:sp>
          <p:nvSpPr>
            <p:cNvPr id="110" name="TextBox 110"/>
            <p:cNvSpPr txBox="1"/>
            <p:nvPr/>
          </p:nvSpPr>
          <p:spPr>
            <a:xfrm>
              <a:off x="9996488" y="1370886"/>
              <a:ext cx="754848" cy="140494"/>
            </a:xfrm>
            <a:prstGeom prst="rect">
              <a:avLst/>
            </a:prstGeom>
            <a:noFill/>
            <a:ln>
              <a:noFill/>
            </a:ln>
          </p:spPr>
          <p:txBody>
            <a:bodyPr wrap="none" lIns="0" tIns="0" rIns="0" bIns="0" anchor="t" anchorCtr="0">
              <a:spAutoFit/>
            </a:bodyPr>
            <a:lstStyle/>
            <a:p>
              <a:pPr algn="l"/>
              <a:r>
                <a:rPr lang="zh-CN" sz="710" b="1" dirty="0">
                  <a:solidFill>
                    <a:srgbClr val="9E311B"/>
                  </a:solidFill>
                  <a:latin typeface="+mn-lt"/>
                  <a:ea typeface="+mn-ea"/>
                  <a:cs typeface="+mn-cs"/>
                </a:rPr>
                <a:t>PD区间（示例）​</a:t>
              </a:r>
            </a:p>
          </p:txBody>
        </p:sp>
        <p:sp>
          <p:nvSpPr>
            <p:cNvPr id="111" name="Rectangle 111"/>
            <p:cNvSpPr/>
            <p:nvPr/>
          </p:nvSpPr>
          <p:spPr>
            <a:xfrm>
              <a:off x="9182100" y="1524000"/>
              <a:ext cx="590550" cy="247650"/>
            </a:xfrm>
            <a:prstGeom prst="roundRect">
              <a:avLst>
                <a:gd name="adj" fmla="val 19231"/>
              </a:avLst>
            </a:prstGeom>
            <a:solidFill>
              <a:srgbClr val="FC6141"/>
            </a:solidFill>
            <a:ln>
              <a:noFill/>
            </a:ln>
          </p:spPr>
        </p:sp>
        <p:sp>
          <p:nvSpPr>
            <p:cNvPr id="112" name="TextBox 112"/>
            <p:cNvSpPr txBox="1"/>
            <p:nvPr/>
          </p:nvSpPr>
          <p:spPr>
            <a:xfrm>
              <a:off x="9326242" y="1614488"/>
              <a:ext cx="302266"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j-lt"/>
                  <a:ea typeface="+mj-ea"/>
                  <a:cs typeface="+mj-cs"/>
                </a:rPr>
                <a:t>AAA​</a:t>
              </a:r>
            </a:p>
          </p:txBody>
        </p:sp>
        <p:sp>
          <p:nvSpPr>
            <p:cNvPr id="113" name="TextBox 113"/>
            <p:cNvSpPr txBox="1"/>
            <p:nvPr/>
          </p:nvSpPr>
          <p:spPr>
            <a:xfrm>
              <a:off x="9996488" y="1618536"/>
              <a:ext cx="412128"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j-lt"/>
                  <a:ea typeface="+mj-ea"/>
                  <a:cs typeface="+mj-cs"/>
                </a:rPr>
                <a:t>≤ 0.01%​</a:t>
              </a:r>
            </a:p>
          </p:txBody>
        </p:sp>
        <p:sp>
          <p:nvSpPr>
            <p:cNvPr id="114" name="Rectangle 114"/>
            <p:cNvSpPr/>
            <p:nvPr/>
          </p:nvSpPr>
          <p:spPr>
            <a:xfrm>
              <a:off x="9182100" y="1857375"/>
              <a:ext cx="590550" cy="247650"/>
            </a:xfrm>
            <a:prstGeom prst="roundRect">
              <a:avLst>
                <a:gd name="adj" fmla="val 19231"/>
              </a:avLst>
            </a:prstGeom>
            <a:solidFill>
              <a:srgbClr val="FC6C4F"/>
            </a:solidFill>
            <a:ln>
              <a:noFill/>
            </a:ln>
          </p:spPr>
        </p:sp>
        <p:sp>
          <p:nvSpPr>
            <p:cNvPr id="115" name="TextBox 115"/>
            <p:cNvSpPr txBox="1"/>
            <p:nvPr/>
          </p:nvSpPr>
          <p:spPr>
            <a:xfrm>
              <a:off x="9364764" y="1947862"/>
              <a:ext cx="225221"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j-lt"/>
                  <a:ea typeface="+mj-ea"/>
                  <a:cs typeface="+mj-cs"/>
                </a:rPr>
                <a:t>AA​</a:t>
              </a:r>
            </a:p>
          </p:txBody>
        </p:sp>
        <p:sp>
          <p:nvSpPr>
            <p:cNvPr id="116" name="TextBox 116"/>
            <p:cNvSpPr txBox="1"/>
            <p:nvPr/>
          </p:nvSpPr>
          <p:spPr>
            <a:xfrm>
              <a:off x="9996488" y="1951911"/>
              <a:ext cx="715633"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j-lt"/>
                  <a:ea typeface="+mj-ea"/>
                  <a:cs typeface="+mj-cs"/>
                </a:rPr>
                <a:t>(0.01%, 0.02%]​</a:t>
              </a:r>
            </a:p>
          </p:txBody>
        </p:sp>
        <p:sp>
          <p:nvSpPr>
            <p:cNvPr id="117" name="Rectangle 117"/>
            <p:cNvSpPr/>
            <p:nvPr/>
          </p:nvSpPr>
          <p:spPr>
            <a:xfrm>
              <a:off x="9182100" y="2190750"/>
              <a:ext cx="590550" cy="247650"/>
            </a:xfrm>
            <a:prstGeom prst="roundRect">
              <a:avLst>
                <a:gd name="adj" fmla="val 19231"/>
              </a:avLst>
            </a:prstGeom>
            <a:solidFill>
              <a:srgbClr val="EA6D54"/>
            </a:solidFill>
            <a:ln>
              <a:noFill/>
            </a:ln>
          </p:spPr>
        </p:sp>
        <p:sp>
          <p:nvSpPr>
            <p:cNvPr id="118" name="TextBox 118"/>
            <p:cNvSpPr txBox="1"/>
            <p:nvPr/>
          </p:nvSpPr>
          <p:spPr>
            <a:xfrm>
              <a:off x="9403287" y="2281238"/>
              <a:ext cx="148177"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j-lt"/>
                  <a:ea typeface="+mj-ea"/>
                  <a:cs typeface="+mj-cs"/>
                </a:rPr>
                <a:t>A​</a:t>
              </a:r>
            </a:p>
          </p:txBody>
        </p:sp>
        <p:sp>
          <p:nvSpPr>
            <p:cNvPr id="119" name="TextBox 119"/>
            <p:cNvSpPr txBox="1"/>
            <p:nvPr/>
          </p:nvSpPr>
          <p:spPr>
            <a:xfrm>
              <a:off x="9996488" y="2285286"/>
              <a:ext cx="715633"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j-lt"/>
                  <a:ea typeface="+mj-ea"/>
                  <a:cs typeface="+mj-cs"/>
                </a:rPr>
                <a:t>(0.02%, 0.05%]​</a:t>
              </a:r>
            </a:p>
          </p:txBody>
        </p:sp>
        <p:sp>
          <p:nvSpPr>
            <p:cNvPr id="120" name="Rectangle 120"/>
            <p:cNvSpPr/>
            <p:nvPr/>
          </p:nvSpPr>
          <p:spPr>
            <a:xfrm>
              <a:off x="9182100" y="2524125"/>
              <a:ext cx="590550" cy="247650"/>
            </a:xfrm>
            <a:prstGeom prst="roundRect">
              <a:avLst>
                <a:gd name="adj" fmla="val 19231"/>
              </a:avLst>
            </a:prstGeom>
            <a:solidFill>
              <a:srgbClr val="C96D5B"/>
            </a:solidFill>
            <a:ln>
              <a:noFill/>
            </a:ln>
          </p:spPr>
        </p:sp>
        <p:sp>
          <p:nvSpPr>
            <p:cNvPr id="121" name="TextBox 121"/>
            <p:cNvSpPr txBox="1"/>
            <p:nvPr/>
          </p:nvSpPr>
          <p:spPr>
            <a:xfrm>
              <a:off x="9326242" y="2614612"/>
              <a:ext cx="302266"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j-lt"/>
                  <a:ea typeface="+mj-ea"/>
                  <a:cs typeface="+mj-cs"/>
                </a:rPr>
                <a:t>BBB​</a:t>
              </a:r>
            </a:p>
          </p:txBody>
        </p:sp>
        <p:sp>
          <p:nvSpPr>
            <p:cNvPr id="122" name="TextBox 122"/>
            <p:cNvSpPr txBox="1"/>
            <p:nvPr/>
          </p:nvSpPr>
          <p:spPr>
            <a:xfrm>
              <a:off x="9996488" y="2618661"/>
              <a:ext cx="715633"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j-lt"/>
                  <a:ea typeface="+mj-ea"/>
                  <a:cs typeface="+mj-cs"/>
                </a:rPr>
                <a:t>(0.05%, 0.15%]​</a:t>
              </a:r>
            </a:p>
          </p:txBody>
        </p:sp>
        <p:sp>
          <p:nvSpPr>
            <p:cNvPr id="123" name="Rectangle 123"/>
            <p:cNvSpPr/>
            <p:nvPr/>
          </p:nvSpPr>
          <p:spPr>
            <a:xfrm>
              <a:off x="9182100" y="2857500"/>
              <a:ext cx="590550" cy="247650"/>
            </a:xfrm>
            <a:prstGeom prst="roundRect">
              <a:avLst>
                <a:gd name="adj" fmla="val 19231"/>
              </a:avLst>
            </a:prstGeom>
            <a:solidFill>
              <a:srgbClr val="F6826D"/>
            </a:solidFill>
            <a:ln>
              <a:noFill/>
            </a:ln>
          </p:spPr>
        </p:sp>
        <p:sp>
          <p:nvSpPr>
            <p:cNvPr id="124" name="TextBox 124"/>
            <p:cNvSpPr txBox="1"/>
            <p:nvPr/>
          </p:nvSpPr>
          <p:spPr>
            <a:xfrm>
              <a:off x="9364764" y="2947988"/>
              <a:ext cx="225221" cy="147638"/>
            </a:xfrm>
            <a:prstGeom prst="rect">
              <a:avLst/>
            </a:prstGeom>
            <a:noFill/>
            <a:ln>
              <a:noFill/>
            </a:ln>
          </p:spPr>
          <p:txBody>
            <a:bodyPr wrap="none" lIns="0" tIns="0" rIns="0" bIns="0" anchor="t" anchorCtr="0">
              <a:spAutoFit/>
            </a:bodyPr>
            <a:lstStyle/>
            <a:p>
              <a:pPr algn="ctr"/>
              <a:r>
                <a:rPr lang="en-US" sz="750" b="1" dirty="0">
                  <a:solidFill>
                    <a:srgbClr val="5A1B10"/>
                  </a:solidFill>
                  <a:latin typeface="+mj-lt"/>
                  <a:ea typeface="+mj-ea"/>
                  <a:cs typeface="+mj-cs"/>
                </a:rPr>
                <a:t>BB​</a:t>
              </a:r>
            </a:p>
          </p:txBody>
        </p:sp>
        <p:sp>
          <p:nvSpPr>
            <p:cNvPr id="125" name="TextBox 125"/>
            <p:cNvSpPr txBox="1"/>
            <p:nvPr/>
          </p:nvSpPr>
          <p:spPr>
            <a:xfrm>
              <a:off x="9996488" y="2952036"/>
              <a:ext cx="715633"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j-lt"/>
                  <a:ea typeface="+mj-ea"/>
                  <a:cs typeface="+mj-cs"/>
                </a:rPr>
                <a:t>(0.15%, 0.50%]​</a:t>
              </a:r>
            </a:p>
          </p:txBody>
        </p:sp>
        <p:sp>
          <p:nvSpPr>
            <p:cNvPr id="126" name="Rectangle 126"/>
            <p:cNvSpPr/>
            <p:nvPr/>
          </p:nvSpPr>
          <p:spPr>
            <a:xfrm>
              <a:off x="9182100" y="3190875"/>
              <a:ext cx="590550" cy="247650"/>
            </a:xfrm>
            <a:prstGeom prst="roundRect">
              <a:avLst>
                <a:gd name="adj" fmla="val 19231"/>
              </a:avLst>
            </a:prstGeom>
            <a:solidFill>
              <a:srgbClr val="FD5B3F"/>
            </a:solidFill>
            <a:ln>
              <a:noFill/>
            </a:ln>
          </p:spPr>
        </p:sp>
        <p:sp>
          <p:nvSpPr>
            <p:cNvPr id="127" name="TextBox 127"/>
            <p:cNvSpPr txBox="1"/>
            <p:nvPr/>
          </p:nvSpPr>
          <p:spPr>
            <a:xfrm>
              <a:off x="9403287" y="3281362"/>
              <a:ext cx="148177"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j-lt"/>
                  <a:ea typeface="+mj-ea"/>
                  <a:cs typeface="+mj-cs"/>
                </a:rPr>
                <a:t>B​</a:t>
              </a:r>
            </a:p>
          </p:txBody>
        </p:sp>
        <p:sp>
          <p:nvSpPr>
            <p:cNvPr id="128" name="TextBox 128"/>
            <p:cNvSpPr txBox="1"/>
            <p:nvPr/>
          </p:nvSpPr>
          <p:spPr>
            <a:xfrm>
              <a:off x="9996488" y="3285411"/>
              <a:ext cx="715633"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j-lt"/>
                  <a:ea typeface="+mj-ea"/>
                  <a:cs typeface="+mj-cs"/>
                </a:rPr>
                <a:t>(0.50%, 1.50%]​</a:t>
              </a:r>
            </a:p>
          </p:txBody>
        </p:sp>
        <p:sp>
          <p:nvSpPr>
            <p:cNvPr id="129" name="Rectangle 129"/>
            <p:cNvSpPr/>
            <p:nvPr/>
          </p:nvSpPr>
          <p:spPr>
            <a:xfrm>
              <a:off x="9182100" y="3524250"/>
              <a:ext cx="590550" cy="247650"/>
            </a:xfrm>
            <a:prstGeom prst="roundRect">
              <a:avLst>
                <a:gd name="adj" fmla="val 19231"/>
              </a:avLst>
            </a:prstGeom>
            <a:solidFill>
              <a:srgbClr val="FA5538"/>
            </a:solidFill>
            <a:ln>
              <a:noFill/>
            </a:ln>
          </p:spPr>
        </p:sp>
        <p:sp>
          <p:nvSpPr>
            <p:cNvPr id="130" name="TextBox 130"/>
            <p:cNvSpPr txBox="1"/>
            <p:nvPr/>
          </p:nvSpPr>
          <p:spPr>
            <a:xfrm>
              <a:off x="9403287" y="3614738"/>
              <a:ext cx="148177"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j-lt"/>
                  <a:ea typeface="+mj-ea"/>
                  <a:cs typeface="+mj-cs"/>
                </a:rPr>
                <a:t>C​</a:t>
              </a:r>
            </a:p>
          </p:txBody>
        </p:sp>
        <p:sp>
          <p:nvSpPr>
            <p:cNvPr id="131" name="TextBox 131"/>
            <p:cNvSpPr txBox="1"/>
            <p:nvPr/>
          </p:nvSpPr>
          <p:spPr>
            <a:xfrm>
              <a:off x="9996488" y="3618786"/>
              <a:ext cx="715633"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j-lt"/>
                  <a:ea typeface="+mj-ea"/>
                  <a:cs typeface="+mj-cs"/>
                </a:rPr>
                <a:t>(1.50%, 5.00%]​</a:t>
              </a:r>
            </a:p>
          </p:txBody>
        </p:sp>
        <p:sp>
          <p:nvSpPr>
            <p:cNvPr id="132" name="Rectangle 132"/>
            <p:cNvSpPr/>
            <p:nvPr/>
          </p:nvSpPr>
          <p:spPr>
            <a:xfrm>
              <a:off x="9182100" y="3857625"/>
              <a:ext cx="590550" cy="247650"/>
            </a:xfrm>
            <a:prstGeom prst="roundRect">
              <a:avLst>
                <a:gd name="adj" fmla="val 19231"/>
              </a:avLst>
            </a:prstGeom>
            <a:solidFill>
              <a:srgbClr val="E55A42"/>
            </a:solidFill>
            <a:ln>
              <a:noFill/>
            </a:ln>
          </p:spPr>
        </p:sp>
        <p:sp>
          <p:nvSpPr>
            <p:cNvPr id="133" name="TextBox 133"/>
            <p:cNvSpPr txBox="1"/>
            <p:nvPr/>
          </p:nvSpPr>
          <p:spPr>
            <a:xfrm>
              <a:off x="9403287" y="3948112"/>
              <a:ext cx="148177"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j-lt"/>
                  <a:ea typeface="+mj-ea"/>
                  <a:cs typeface="+mj-cs"/>
                </a:rPr>
                <a:t>D​</a:t>
              </a:r>
            </a:p>
          </p:txBody>
        </p:sp>
        <p:sp>
          <p:nvSpPr>
            <p:cNvPr id="134" name="TextBox 134"/>
            <p:cNvSpPr txBox="1"/>
            <p:nvPr/>
          </p:nvSpPr>
          <p:spPr>
            <a:xfrm>
              <a:off x="9996488" y="3952161"/>
              <a:ext cx="468654" cy="140494"/>
            </a:xfrm>
            <a:prstGeom prst="rect">
              <a:avLst/>
            </a:prstGeom>
            <a:noFill/>
            <a:ln>
              <a:noFill/>
            </a:ln>
          </p:spPr>
          <p:txBody>
            <a:bodyPr wrap="none" lIns="0" tIns="0" rIns="0" bIns="0" anchor="t" anchorCtr="0">
              <a:spAutoFit/>
            </a:bodyPr>
            <a:lstStyle/>
            <a:p>
              <a:pPr algn="l"/>
              <a:r>
                <a:rPr lang="zh-CN" sz="710" dirty="0">
                  <a:solidFill>
                    <a:srgbClr val="5C3A33"/>
                  </a:solidFill>
                  <a:latin typeface="+mj-lt"/>
                  <a:ea typeface="+mj-ea"/>
                  <a:cs typeface="+mj-cs"/>
                </a:rPr>
                <a:t>&gt; 15.00%​</a:t>
              </a:r>
            </a:p>
          </p:txBody>
        </p:sp>
      </p:grpSp>
      <p:grpSp>
        <p:nvGrpSpPr>
          <p:cNvPr id="178" name="dist-chart"/>
          <p:cNvGrpSpPr/>
          <p:nvPr/>
        </p:nvGrpSpPr>
        <p:grpSpPr>
          <a:xfrm>
            <a:off x="190500" y="4381500"/>
            <a:ext cx="4038600" cy="2190750"/>
            <a:chOff x="190500" y="4381500"/>
            <a:chExt cx="4038600" cy="2190750"/>
          </a:xfrm>
        </p:grpSpPr>
        <p:sp>
          <p:nvSpPr>
            <p:cNvPr id="136" name="Rectangle 136"/>
            <p:cNvSpPr/>
            <p:nvPr/>
          </p:nvSpPr>
          <p:spPr>
            <a:xfrm>
              <a:off x="190500" y="4381500"/>
              <a:ext cx="4038600" cy="2190750"/>
            </a:xfrm>
            <a:prstGeom prst="roundRect">
              <a:avLst>
                <a:gd name="adj" fmla="val 3478"/>
              </a:avLst>
            </a:prstGeom>
            <a:solidFill>
              <a:srgbClr val="FFFFFF"/>
            </a:solidFill>
            <a:ln w="9525">
              <a:solidFill>
                <a:srgbClr val="CFE2F2"/>
              </a:solidFill>
            </a:ln>
          </p:spPr>
        </p:sp>
        <p:grpSp>
          <p:nvGrpSpPr>
            <p:cNvPr id="141" name="Group 141"/>
            <p:cNvGrpSpPr/>
            <p:nvPr/>
          </p:nvGrpSpPr>
          <p:grpSpPr>
            <a:xfrm>
              <a:off x="342900" y="4464050"/>
              <a:ext cx="114300" cy="111125"/>
              <a:chOff x="342900" y="4464050"/>
              <a:chExt cx="114300" cy="111125"/>
            </a:xfrm>
          </p:grpSpPr>
          <p:sp>
            <p:nvSpPr>
              <p:cNvPr id="137" name="Freeform 137"/>
              <p:cNvSpPr/>
              <p:nvPr/>
            </p:nvSpPr>
            <p:spPr>
              <a:xfrm>
                <a:off x="342900" y="45148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C4472E"/>
                </a:solidFill>
              </a:ln>
            </p:spPr>
          </p:sp>
          <p:sp>
            <p:nvSpPr>
              <p:cNvPr id="138" name="Freeform 138"/>
              <p:cNvSpPr/>
              <p:nvPr/>
            </p:nvSpPr>
            <p:spPr>
              <a:xfrm>
                <a:off x="419100" y="44894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C4472E"/>
                </a:solidFill>
              </a:ln>
            </p:spPr>
          </p:sp>
          <p:sp>
            <p:nvSpPr>
              <p:cNvPr id="139" name="Freeform 139"/>
              <p:cNvSpPr/>
              <p:nvPr/>
            </p:nvSpPr>
            <p:spPr>
              <a:xfrm>
                <a:off x="381000" y="44640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C4472E"/>
                </a:solidFill>
              </a:ln>
            </p:spPr>
          </p:sp>
          <p:sp>
            <p:nvSpPr>
              <p:cNvPr id="140" name="Freeform 140"/>
              <p:cNvSpPr/>
              <p:nvPr/>
            </p:nvSpPr>
            <p:spPr>
              <a:xfrm>
                <a:off x="349250" y="4565650"/>
                <a:ext cx="88900" cy="9525"/>
              </a:xfrm>
              <a:custGeom>
                <a:avLst/>
                <a:gdLst/>
                <a:ahLst/>
                <a:cxnLst/>
                <a:rect l="l" t="t" r="r" b="b"/>
                <a:pathLst>
                  <a:path w="88900" h="9525">
                    <a:moveTo>
                      <a:pt x="0" y="0"/>
                    </a:moveTo>
                    <a:lnTo>
                      <a:pt x="88900" y="0"/>
                    </a:lnTo>
                  </a:path>
                </a:pathLst>
              </a:custGeom>
              <a:noFill/>
              <a:ln w="12700">
                <a:solidFill>
                  <a:srgbClr val="C4472E"/>
                </a:solidFill>
              </a:ln>
            </p:spPr>
          </p:sp>
        </p:grpSp>
        <p:sp>
          <p:nvSpPr>
            <p:cNvPr id="142" name="TextBox 142"/>
            <p:cNvSpPr txBox="1"/>
            <p:nvPr/>
          </p:nvSpPr>
          <p:spPr>
            <a:xfrm>
              <a:off x="528638" y="4469368"/>
              <a:ext cx="1581436" cy="169069"/>
            </a:xfrm>
            <a:prstGeom prst="rect">
              <a:avLst/>
            </a:prstGeom>
            <a:noFill/>
            <a:ln>
              <a:noFill/>
            </a:ln>
          </p:spPr>
          <p:txBody>
            <a:bodyPr wrap="none" lIns="0" tIns="0" rIns="0" bIns="0" anchor="t" anchorCtr="0">
              <a:spAutoFit/>
            </a:bodyPr>
            <a:lstStyle/>
            <a:p>
              <a:pPr algn="l"/>
              <a:r>
                <a:rPr lang="zh-CN" sz="860" b="1" dirty="0">
                  <a:solidFill>
                    <a:srgbClr val="3E1810"/>
                  </a:solidFill>
                  <a:latin typeface="+mn-lt"/>
                  <a:ea typeface="+mn-ea"/>
                  <a:cs typeface="+mn-cs"/>
                </a:rPr>
                <a:t>客户分布示意（按评级等级）​</a:t>
              </a:r>
            </a:p>
          </p:txBody>
        </p:sp>
        <p:sp>
          <p:nvSpPr>
            <p:cNvPr id="143" name="TextBox 143"/>
            <p:cNvSpPr txBox="1"/>
            <p:nvPr/>
          </p:nvSpPr>
          <p:spPr>
            <a:xfrm>
              <a:off x="376238" y="4663678"/>
              <a:ext cx="352537" cy="111919"/>
            </a:xfrm>
            <a:prstGeom prst="rect">
              <a:avLst/>
            </a:prstGeom>
            <a:noFill/>
            <a:ln>
              <a:noFill/>
            </a:ln>
          </p:spPr>
          <p:txBody>
            <a:bodyPr wrap="none" lIns="0" tIns="0" rIns="0" bIns="0" anchor="t" anchorCtr="0">
              <a:spAutoFit/>
            </a:bodyPr>
            <a:lstStyle/>
            <a:p>
              <a:pPr algn="l"/>
              <a:r>
                <a:rPr lang="zh-CN" sz="560" dirty="0">
                  <a:solidFill>
                    <a:srgbClr val="8C716B"/>
                  </a:solidFill>
                  <a:latin typeface="+mn-lt"/>
                  <a:ea typeface="+mn-ea"/>
                  <a:cs typeface="+mn-cs"/>
                </a:rPr>
                <a:t>客户占比​</a:t>
              </a:r>
            </a:p>
          </p:txBody>
        </p:sp>
        <p:sp>
          <p:nvSpPr>
            <p:cNvPr id="144" name="Line 144"/>
            <p:cNvSpPr/>
            <p:nvPr/>
          </p:nvSpPr>
          <p:spPr>
            <a:xfrm>
              <a:off x="628650" y="4819650"/>
              <a:ext cx="3219450" cy="9525"/>
            </a:xfrm>
            <a:custGeom>
              <a:avLst/>
              <a:gdLst/>
              <a:ahLst/>
              <a:cxnLst/>
              <a:rect l="l" t="t" r="r" b="b"/>
              <a:pathLst>
                <a:path w="3219450" h="9525">
                  <a:moveTo>
                    <a:pt x="0" y="0"/>
                  </a:moveTo>
                  <a:lnTo>
                    <a:pt x="3219450" y="0"/>
                  </a:lnTo>
                </a:path>
              </a:pathLst>
            </a:custGeom>
            <a:noFill/>
            <a:ln w="9525">
              <a:solidFill>
                <a:srgbClr val="E4EDF5"/>
              </a:solidFill>
            </a:ln>
          </p:spPr>
        </p:sp>
        <p:sp>
          <p:nvSpPr>
            <p:cNvPr id="145" name="Line 145"/>
            <p:cNvSpPr/>
            <p:nvPr/>
          </p:nvSpPr>
          <p:spPr>
            <a:xfrm>
              <a:off x="628650" y="5219700"/>
              <a:ext cx="3219450" cy="9525"/>
            </a:xfrm>
            <a:custGeom>
              <a:avLst/>
              <a:gdLst/>
              <a:ahLst/>
              <a:cxnLst/>
              <a:rect l="l" t="t" r="r" b="b"/>
              <a:pathLst>
                <a:path w="3219450" h="9525">
                  <a:moveTo>
                    <a:pt x="0" y="0"/>
                  </a:moveTo>
                  <a:lnTo>
                    <a:pt x="3219450" y="0"/>
                  </a:lnTo>
                </a:path>
              </a:pathLst>
            </a:custGeom>
            <a:noFill/>
            <a:ln w="9525">
              <a:solidFill>
                <a:srgbClr val="E4EDF5"/>
              </a:solidFill>
            </a:ln>
          </p:spPr>
        </p:sp>
        <p:sp>
          <p:nvSpPr>
            <p:cNvPr id="146" name="Line 146"/>
            <p:cNvSpPr/>
            <p:nvPr/>
          </p:nvSpPr>
          <p:spPr>
            <a:xfrm>
              <a:off x="628650" y="5619750"/>
              <a:ext cx="3219450" cy="9525"/>
            </a:xfrm>
            <a:custGeom>
              <a:avLst/>
              <a:gdLst/>
              <a:ahLst/>
              <a:cxnLst/>
              <a:rect l="l" t="t" r="r" b="b"/>
              <a:pathLst>
                <a:path w="3219450" h="9525">
                  <a:moveTo>
                    <a:pt x="0" y="0"/>
                  </a:moveTo>
                  <a:lnTo>
                    <a:pt x="3219450" y="0"/>
                  </a:lnTo>
                </a:path>
              </a:pathLst>
            </a:custGeom>
            <a:noFill/>
            <a:ln w="9525">
              <a:solidFill>
                <a:srgbClr val="E4EDF5"/>
              </a:solidFill>
            </a:ln>
          </p:spPr>
        </p:sp>
        <p:sp>
          <p:nvSpPr>
            <p:cNvPr id="147" name="TextBox 147"/>
            <p:cNvSpPr txBox="1"/>
            <p:nvPr/>
          </p:nvSpPr>
          <p:spPr>
            <a:xfrm>
              <a:off x="393430" y="4787503"/>
              <a:ext cx="201883"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30%​</a:t>
              </a:r>
            </a:p>
          </p:txBody>
        </p:sp>
        <p:sp>
          <p:nvSpPr>
            <p:cNvPr id="148" name="TextBox 148"/>
            <p:cNvSpPr txBox="1"/>
            <p:nvPr/>
          </p:nvSpPr>
          <p:spPr>
            <a:xfrm>
              <a:off x="393430" y="5187553"/>
              <a:ext cx="201883"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20%​</a:t>
              </a:r>
            </a:p>
          </p:txBody>
        </p:sp>
        <p:sp>
          <p:nvSpPr>
            <p:cNvPr id="149" name="TextBox 149"/>
            <p:cNvSpPr txBox="1"/>
            <p:nvPr/>
          </p:nvSpPr>
          <p:spPr>
            <a:xfrm>
              <a:off x="393430" y="5587603"/>
              <a:ext cx="201883"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10%​</a:t>
              </a:r>
            </a:p>
          </p:txBody>
        </p:sp>
        <p:sp>
          <p:nvSpPr>
            <p:cNvPr id="150" name="TextBox 150"/>
            <p:cNvSpPr txBox="1"/>
            <p:nvPr/>
          </p:nvSpPr>
          <p:spPr>
            <a:xfrm>
              <a:off x="435360" y="5987653"/>
              <a:ext cx="159953"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0%​</a:t>
              </a:r>
            </a:p>
          </p:txBody>
        </p:sp>
        <p:sp>
          <p:nvSpPr>
            <p:cNvPr id="151" name="Rectangle 151"/>
            <p:cNvSpPr/>
            <p:nvPr/>
          </p:nvSpPr>
          <p:spPr>
            <a:xfrm>
              <a:off x="723900" y="5819775"/>
              <a:ext cx="285750" cy="200025"/>
            </a:xfrm>
            <a:prstGeom prst="rect">
              <a:avLst/>
            </a:prstGeom>
            <a:solidFill>
              <a:srgbClr val="9E311B"/>
            </a:solidFill>
            <a:ln>
              <a:noFill/>
            </a:ln>
          </p:spPr>
        </p:sp>
        <p:sp>
          <p:nvSpPr>
            <p:cNvPr id="152" name="TextBox 152"/>
            <p:cNvSpPr txBox="1"/>
            <p:nvPr/>
          </p:nvSpPr>
          <p:spPr>
            <a:xfrm>
              <a:off x="780316" y="5707380"/>
              <a:ext cx="172919" cy="119062"/>
            </a:xfrm>
            <a:prstGeom prst="rect">
              <a:avLst/>
            </a:prstGeom>
            <a:noFill/>
            <a:ln>
              <a:noFill/>
            </a:ln>
          </p:spPr>
          <p:txBody>
            <a:bodyPr wrap="none" lIns="0" tIns="0" rIns="0" bIns="0" anchor="t" anchorCtr="0">
              <a:spAutoFit/>
            </a:bodyPr>
            <a:lstStyle/>
            <a:p>
              <a:pPr algn="ctr"/>
              <a:r>
                <a:rPr lang="zh-CN" sz="600" b="1" dirty="0">
                  <a:solidFill>
                    <a:srgbClr val="9E311B"/>
                  </a:solidFill>
                  <a:latin typeface="+mj-lt"/>
                  <a:ea typeface="+mj-ea"/>
                  <a:cs typeface="+mj-cs"/>
                </a:rPr>
                <a:t>5%​</a:t>
              </a:r>
            </a:p>
          </p:txBody>
        </p:sp>
        <p:sp>
          <p:nvSpPr>
            <p:cNvPr id="153" name="Rectangle 153"/>
            <p:cNvSpPr/>
            <p:nvPr/>
          </p:nvSpPr>
          <p:spPr>
            <a:xfrm>
              <a:off x="1114425" y="5543550"/>
              <a:ext cx="285750" cy="476250"/>
            </a:xfrm>
            <a:prstGeom prst="rect">
              <a:avLst/>
            </a:prstGeom>
            <a:solidFill>
              <a:srgbClr val="C4472E"/>
            </a:solidFill>
            <a:ln>
              <a:noFill/>
            </a:ln>
          </p:spPr>
        </p:sp>
        <p:sp>
          <p:nvSpPr>
            <p:cNvPr id="154" name="TextBox 154"/>
            <p:cNvSpPr txBox="1"/>
            <p:nvPr/>
          </p:nvSpPr>
          <p:spPr>
            <a:xfrm>
              <a:off x="1148378" y="5431155"/>
              <a:ext cx="217844" cy="119062"/>
            </a:xfrm>
            <a:prstGeom prst="rect">
              <a:avLst/>
            </a:prstGeom>
            <a:noFill/>
            <a:ln>
              <a:noFill/>
            </a:ln>
          </p:spPr>
          <p:txBody>
            <a:bodyPr wrap="none" lIns="0" tIns="0" rIns="0" bIns="0" anchor="t" anchorCtr="0">
              <a:spAutoFit/>
            </a:bodyPr>
            <a:lstStyle/>
            <a:p>
              <a:pPr algn="ctr"/>
              <a:r>
                <a:rPr lang="zh-CN" sz="600" b="1" dirty="0">
                  <a:solidFill>
                    <a:srgbClr val="9E311B"/>
                  </a:solidFill>
                  <a:latin typeface="+mj-lt"/>
                  <a:ea typeface="+mj-ea"/>
                  <a:cs typeface="+mj-cs"/>
                </a:rPr>
                <a:t>12%​</a:t>
              </a:r>
            </a:p>
          </p:txBody>
        </p:sp>
        <p:sp>
          <p:nvSpPr>
            <p:cNvPr id="155" name="Rectangle 155"/>
            <p:cNvSpPr/>
            <p:nvPr/>
          </p:nvSpPr>
          <p:spPr>
            <a:xfrm>
              <a:off x="1504950" y="5057775"/>
              <a:ext cx="285750" cy="962025"/>
            </a:xfrm>
            <a:prstGeom prst="rect">
              <a:avLst/>
            </a:prstGeom>
            <a:solidFill>
              <a:srgbClr val="C9563F"/>
            </a:solidFill>
            <a:ln>
              <a:noFill/>
            </a:ln>
          </p:spPr>
        </p:sp>
        <p:sp>
          <p:nvSpPr>
            <p:cNvPr id="156" name="TextBox 156"/>
            <p:cNvSpPr txBox="1"/>
            <p:nvPr/>
          </p:nvSpPr>
          <p:spPr>
            <a:xfrm>
              <a:off x="1538903" y="4945380"/>
              <a:ext cx="217844" cy="119062"/>
            </a:xfrm>
            <a:prstGeom prst="rect">
              <a:avLst/>
            </a:prstGeom>
            <a:noFill/>
            <a:ln>
              <a:noFill/>
            </a:ln>
          </p:spPr>
          <p:txBody>
            <a:bodyPr wrap="none" lIns="0" tIns="0" rIns="0" bIns="0" anchor="t" anchorCtr="0">
              <a:spAutoFit/>
            </a:bodyPr>
            <a:lstStyle/>
            <a:p>
              <a:pPr algn="ctr"/>
              <a:r>
                <a:rPr lang="zh-CN" sz="600" b="1" dirty="0">
                  <a:solidFill>
                    <a:srgbClr val="9E311B"/>
                  </a:solidFill>
                  <a:latin typeface="+mj-lt"/>
                  <a:ea typeface="+mj-ea"/>
                  <a:cs typeface="+mj-cs"/>
                </a:rPr>
                <a:t>24%​</a:t>
              </a:r>
            </a:p>
          </p:txBody>
        </p:sp>
        <p:sp>
          <p:nvSpPr>
            <p:cNvPr id="157" name="Rectangle 157"/>
            <p:cNvSpPr/>
            <p:nvPr/>
          </p:nvSpPr>
          <p:spPr>
            <a:xfrm>
              <a:off x="1895475" y="4981575"/>
              <a:ext cx="285750" cy="1038225"/>
            </a:xfrm>
            <a:prstGeom prst="rect">
              <a:avLst/>
            </a:prstGeom>
            <a:solidFill>
              <a:srgbClr val="D6624A"/>
            </a:solidFill>
            <a:ln>
              <a:noFill/>
            </a:ln>
          </p:spPr>
        </p:sp>
        <p:sp>
          <p:nvSpPr>
            <p:cNvPr id="158" name="TextBox 158"/>
            <p:cNvSpPr txBox="1"/>
            <p:nvPr/>
          </p:nvSpPr>
          <p:spPr>
            <a:xfrm>
              <a:off x="1929428" y="4869180"/>
              <a:ext cx="217844" cy="119062"/>
            </a:xfrm>
            <a:prstGeom prst="rect">
              <a:avLst/>
            </a:prstGeom>
            <a:noFill/>
            <a:ln>
              <a:noFill/>
            </a:ln>
          </p:spPr>
          <p:txBody>
            <a:bodyPr wrap="none" lIns="0" tIns="0" rIns="0" bIns="0" anchor="t" anchorCtr="0">
              <a:spAutoFit/>
            </a:bodyPr>
            <a:lstStyle/>
            <a:p>
              <a:pPr algn="ctr"/>
              <a:r>
                <a:rPr lang="zh-CN" sz="600" b="1" dirty="0">
                  <a:solidFill>
                    <a:srgbClr val="9E311B"/>
                  </a:solidFill>
                  <a:latin typeface="+mj-lt"/>
                  <a:ea typeface="+mj-ea"/>
                  <a:cs typeface="+mj-cs"/>
                </a:rPr>
                <a:t>26%​</a:t>
              </a:r>
            </a:p>
          </p:txBody>
        </p:sp>
        <p:sp>
          <p:nvSpPr>
            <p:cNvPr id="159" name="Rectangle 159"/>
            <p:cNvSpPr/>
            <p:nvPr/>
          </p:nvSpPr>
          <p:spPr>
            <a:xfrm>
              <a:off x="2286000" y="5295900"/>
              <a:ext cx="285750" cy="723900"/>
            </a:xfrm>
            <a:prstGeom prst="rect">
              <a:avLst/>
            </a:prstGeom>
            <a:solidFill>
              <a:srgbClr val="DC745F"/>
            </a:solidFill>
            <a:ln>
              <a:noFill/>
            </a:ln>
          </p:spPr>
        </p:sp>
        <p:sp>
          <p:nvSpPr>
            <p:cNvPr id="160" name="TextBox 160"/>
            <p:cNvSpPr txBox="1"/>
            <p:nvPr/>
          </p:nvSpPr>
          <p:spPr>
            <a:xfrm>
              <a:off x="2319953" y="5183505"/>
              <a:ext cx="217844" cy="119062"/>
            </a:xfrm>
            <a:prstGeom prst="rect">
              <a:avLst/>
            </a:prstGeom>
            <a:noFill/>
            <a:ln>
              <a:noFill/>
            </a:ln>
          </p:spPr>
          <p:txBody>
            <a:bodyPr wrap="none" lIns="0" tIns="0" rIns="0" bIns="0" anchor="t" anchorCtr="0">
              <a:spAutoFit/>
            </a:bodyPr>
            <a:lstStyle/>
            <a:p>
              <a:pPr algn="ctr"/>
              <a:r>
                <a:rPr lang="zh-CN" sz="600" b="1" dirty="0">
                  <a:solidFill>
                    <a:srgbClr val="9E311B"/>
                  </a:solidFill>
                  <a:latin typeface="+mj-lt"/>
                  <a:ea typeface="+mj-ea"/>
                  <a:cs typeface="+mj-cs"/>
                </a:rPr>
                <a:t>18%​</a:t>
              </a:r>
            </a:p>
          </p:txBody>
        </p:sp>
        <p:sp>
          <p:nvSpPr>
            <p:cNvPr id="161" name="Rectangle 161"/>
            <p:cNvSpPr/>
            <p:nvPr/>
          </p:nvSpPr>
          <p:spPr>
            <a:xfrm>
              <a:off x="2676525" y="5657850"/>
              <a:ext cx="285750" cy="361950"/>
            </a:xfrm>
            <a:prstGeom prst="rect">
              <a:avLst/>
            </a:prstGeom>
            <a:solidFill>
              <a:srgbClr val="E38C7B"/>
            </a:solidFill>
            <a:ln>
              <a:noFill/>
            </a:ln>
          </p:spPr>
        </p:sp>
        <p:sp>
          <p:nvSpPr>
            <p:cNvPr id="162" name="TextBox 162"/>
            <p:cNvSpPr txBox="1"/>
            <p:nvPr/>
          </p:nvSpPr>
          <p:spPr>
            <a:xfrm>
              <a:off x="2732941" y="5545455"/>
              <a:ext cx="172919" cy="119062"/>
            </a:xfrm>
            <a:prstGeom prst="rect">
              <a:avLst/>
            </a:prstGeom>
            <a:noFill/>
            <a:ln>
              <a:noFill/>
            </a:ln>
          </p:spPr>
          <p:txBody>
            <a:bodyPr wrap="none" lIns="0" tIns="0" rIns="0" bIns="0" anchor="t" anchorCtr="0">
              <a:spAutoFit/>
            </a:bodyPr>
            <a:lstStyle/>
            <a:p>
              <a:pPr algn="ctr"/>
              <a:r>
                <a:rPr lang="zh-CN" sz="600" b="1" dirty="0">
                  <a:solidFill>
                    <a:srgbClr val="9E311B"/>
                  </a:solidFill>
                  <a:latin typeface="+mj-lt"/>
                  <a:ea typeface="+mj-ea"/>
                  <a:cs typeface="+mj-cs"/>
                </a:rPr>
                <a:t>9%​</a:t>
              </a:r>
            </a:p>
          </p:txBody>
        </p:sp>
        <p:sp>
          <p:nvSpPr>
            <p:cNvPr id="163" name="Rectangle 163"/>
            <p:cNvSpPr/>
            <p:nvPr/>
          </p:nvSpPr>
          <p:spPr>
            <a:xfrm>
              <a:off x="3067050" y="5857875"/>
              <a:ext cx="285750" cy="161925"/>
            </a:xfrm>
            <a:prstGeom prst="rect">
              <a:avLst/>
            </a:prstGeom>
            <a:solidFill>
              <a:srgbClr val="E9A597"/>
            </a:solidFill>
            <a:ln>
              <a:noFill/>
            </a:ln>
          </p:spPr>
        </p:sp>
        <p:sp>
          <p:nvSpPr>
            <p:cNvPr id="164" name="TextBox 164"/>
            <p:cNvSpPr txBox="1"/>
            <p:nvPr/>
          </p:nvSpPr>
          <p:spPr>
            <a:xfrm>
              <a:off x="3123466" y="5745480"/>
              <a:ext cx="172919" cy="119062"/>
            </a:xfrm>
            <a:prstGeom prst="rect">
              <a:avLst/>
            </a:prstGeom>
            <a:noFill/>
            <a:ln>
              <a:noFill/>
            </a:ln>
          </p:spPr>
          <p:txBody>
            <a:bodyPr wrap="none" lIns="0" tIns="0" rIns="0" bIns="0" anchor="t" anchorCtr="0">
              <a:spAutoFit/>
            </a:bodyPr>
            <a:lstStyle/>
            <a:p>
              <a:pPr algn="ctr"/>
              <a:r>
                <a:rPr lang="zh-CN" sz="600" b="1" dirty="0">
                  <a:solidFill>
                    <a:srgbClr val="9E311B"/>
                  </a:solidFill>
                  <a:latin typeface="+mj-lt"/>
                  <a:ea typeface="+mj-ea"/>
                  <a:cs typeface="+mj-cs"/>
                </a:rPr>
                <a:t>4%​</a:t>
              </a:r>
            </a:p>
          </p:txBody>
        </p:sp>
        <p:sp>
          <p:nvSpPr>
            <p:cNvPr id="165" name="Rectangle 165"/>
            <p:cNvSpPr/>
            <p:nvPr/>
          </p:nvSpPr>
          <p:spPr>
            <a:xfrm>
              <a:off x="3457575" y="5943600"/>
              <a:ext cx="285750" cy="76200"/>
            </a:xfrm>
            <a:prstGeom prst="rect">
              <a:avLst/>
            </a:prstGeom>
            <a:solidFill>
              <a:srgbClr val="EFBDB3"/>
            </a:solidFill>
            <a:ln>
              <a:noFill/>
            </a:ln>
          </p:spPr>
        </p:sp>
        <p:sp>
          <p:nvSpPr>
            <p:cNvPr id="166" name="TextBox 166"/>
            <p:cNvSpPr txBox="1"/>
            <p:nvPr/>
          </p:nvSpPr>
          <p:spPr>
            <a:xfrm>
              <a:off x="3513991" y="5831205"/>
              <a:ext cx="172919" cy="119062"/>
            </a:xfrm>
            <a:prstGeom prst="rect">
              <a:avLst/>
            </a:prstGeom>
            <a:noFill/>
            <a:ln>
              <a:noFill/>
            </a:ln>
          </p:spPr>
          <p:txBody>
            <a:bodyPr wrap="none" lIns="0" tIns="0" rIns="0" bIns="0" anchor="t" anchorCtr="0">
              <a:spAutoFit/>
            </a:bodyPr>
            <a:lstStyle/>
            <a:p>
              <a:pPr algn="ctr"/>
              <a:r>
                <a:rPr lang="zh-CN" sz="600" b="1" dirty="0">
                  <a:solidFill>
                    <a:srgbClr val="9E311B"/>
                  </a:solidFill>
                  <a:latin typeface="+mj-lt"/>
                  <a:ea typeface="+mj-ea"/>
                  <a:cs typeface="+mj-cs"/>
                </a:rPr>
                <a:t>2%​</a:t>
              </a:r>
            </a:p>
          </p:txBody>
        </p:sp>
        <p:sp>
          <p:nvSpPr>
            <p:cNvPr id="167" name="Line 167"/>
            <p:cNvSpPr/>
            <p:nvPr/>
          </p:nvSpPr>
          <p:spPr>
            <a:xfrm>
              <a:off x="628650" y="6019800"/>
              <a:ext cx="3219450" cy="9525"/>
            </a:xfrm>
            <a:custGeom>
              <a:avLst/>
              <a:gdLst/>
              <a:ahLst/>
              <a:cxnLst/>
              <a:rect l="l" t="t" r="r" b="b"/>
              <a:pathLst>
                <a:path w="3219450" h="9525">
                  <a:moveTo>
                    <a:pt x="0" y="0"/>
                  </a:moveTo>
                  <a:lnTo>
                    <a:pt x="3219450" y="0"/>
                  </a:lnTo>
                </a:path>
              </a:pathLst>
            </a:custGeom>
            <a:noFill/>
            <a:ln w="9525">
              <a:solidFill>
                <a:srgbClr val="B9C6D2"/>
              </a:solidFill>
            </a:ln>
          </p:spPr>
        </p:sp>
        <p:sp>
          <p:nvSpPr>
            <p:cNvPr id="168" name="TextBox 168"/>
            <p:cNvSpPr txBox="1"/>
            <p:nvPr/>
          </p:nvSpPr>
          <p:spPr>
            <a:xfrm>
              <a:off x="753156" y="6078855"/>
              <a:ext cx="227238" cy="119062"/>
            </a:xfrm>
            <a:prstGeom prst="rect">
              <a:avLst/>
            </a:prstGeom>
            <a:noFill/>
            <a:ln>
              <a:noFill/>
            </a:ln>
          </p:spPr>
          <p:txBody>
            <a:bodyPr wrap="none" lIns="0" tIns="0" rIns="0" bIns="0" anchor="t" anchorCtr="0">
              <a:spAutoFit/>
            </a:bodyPr>
            <a:lstStyle/>
            <a:p>
              <a:pPr algn="ctr"/>
              <a:r>
                <a:rPr lang="en-US" sz="600" dirty="0">
                  <a:solidFill>
                    <a:srgbClr val="8C716B"/>
                  </a:solidFill>
                  <a:latin typeface="+mj-lt"/>
                  <a:ea typeface="+mj-ea"/>
                  <a:cs typeface="+mj-cs"/>
                </a:rPr>
                <a:t>AAA​</a:t>
              </a:r>
            </a:p>
          </p:txBody>
        </p:sp>
        <p:sp>
          <p:nvSpPr>
            <p:cNvPr id="169" name="TextBox 169"/>
            <p:cNvSpPr txBox="1"/>
            <p:nvPr/>
          </p:nvSpPr>
          <p:spPr>
            <a:xfrm>
              <a:off x="1172143" y="6078855"/>
              <a:ext cx="170313" cy="119062"/>
            </a:xfrm>
            <a:prstGeom prst="rect">
              <a:avLst/>
            </a:prstGeom>
            <a:noFill/>
            <a:ln>
              <a:noFill/>
            </a:ln>
          </p:spPr>
          <p:txBody>
            <a:bodyPr wrap="none" lIns="0" tIns="0" rIns="0" bIns="0" anchor="t" anchorCtr="0">
              <a:spAutoFit/>
            </a:bodyPr>
            <a:lstStyle/>
            <a:p>
              <a:pPr algn="ctr"/>
              <a:r>
                <a:rPr lang="en-US" sz="600" dirty="0">
                  <a:solidFill>
                    <a:srgbClr val="8C716B"/>
                  </a:solidFill>
                  <a:latin typeface="+mj-lt"/>
                  <a:ea typeface="+mj-ea"/>
                  <a:cs typeface="+mj-cs"/>
                </a:rPr>
                <a:t>AA​</a:t>
              </a:r>
            </a:p>
          </p:txBody>
        </p:sp>
        <p:sp>
          <p:nvSpPr>
            <p:cNvPr id="170" name="TextBox 170"/>
            <p:cNvSpPr txBox="1"/>
            <p:nvPr/>
          </p:nvSpPr>
          <p:spPr>
            <a:xfrm>
              <a:off x="1591131" y="6078855"/>
              <a:ext cx="113389" cy="119062"/>
            </a:xfrm>
            <a:prstGeom prst="rect">
              <a:avLst/>
            </a:prstGeom>
            <a:noFill/>
            <a:ln>
              <a:noFill/>
            </a:ln>
          </p:spPr>
          <p:txBody>
            <a:bodyPr wrap="none" lIns="0" tIns="0" rIns="0" bIns="0" anchor="t" anchorCtr="0">
              <a:spAutoFit/>
            </a:bodyPr>
            <a:lstStyle/>
            <a:p>
              <a:pPr algn="ctr"/>
              <a:r>
                <a:rPr lang="en-US" sz="600" dirty="0">
                  <a:solidFill>
                    <a:srgbClr val="8C716B"/>
                  </a:solidFill>
                  <a:latin typeface="+mj-lt"/>
                  <a:ea typeface="+mj-ea"/>
                  <a:cs typeface="+mj-cs"/>
                </a:rPr>
                <a:t>A​</a:t>
              </a:r>
            </a:p>
          </p:txBody>
        </p:sp>
        <p:sp>
          <p:nvSpPr>
            <p:cNvPr id="171" name="TextBox 171"/>
            <p:cNvSpPr txBox="1"/>
            <p:nvPr/>
          </p:nvSpPr>
          <p:spPr>
            <a:xfrm>
              <a:off x="1924731" y="6078855"/>
              <a:ext cx="227238" cy="119062"/>
            </a:xfrm>
            <a:prstGeom prst="rect">
              <a:avLst/>
            </a:prstGeom>
            <a:noFill/>
            <a:ln>
              <a:noFill/>
            </a:ln>
          </p:spPr>
          <p:txBody>
            <a:bodyPr wrap="none" lIns="0" tIns="0" rIns="0" bIns="0" anchor="t" anchorCtr="0">
              <a:spAutoFit/>
            </a:bodyPr>
            <a:lstStyle/>
            <a:p>
              <a:pPr algn="ctr"/>
              <a:r>
                <a:rPr lang="en-US" sz="600" dirty="0">
                  <a:solidFill>
                    <a:srgbClr val="8C716B"/>
                  </a:solidFill>
                  <a:latin typeface="+mj-lt"/>
                  <a:ea typeface="+mj-ea"/>
                  <a:cs typeface="+mj-cs"/>
                </a:rPr>
                <a:t>BBB​</a:t>
              </a:r>
            </a:p>
          </p:txBody>
        </p:sp>
        <p:sp>
          <p:nvSpPr>
            <p:cNvPr id="172" name="TextBox 172"/>
            <p:cNvSpPr txBox="1"/>
            <p:nvPr/>
          </p:nvSpPr>
          <p:spPr>
            <a:xfrm>
              <a:off x="2343718" y="6078855"/>
              <a:ext cx="170313" cy="119062"/>
            </a:xfrm>
            <a:prstGeom prst="rect">
              <a:avLst/>
            </a:prstGeom>
            <a:noFill/>
            <a:ln>
              <a:noFill/>
            </a:ln>
          </p:spPr>
          <p:txBody>
            <a:bodyPr wrap="none" lIns="0" tIns="0" rIns="0" bIns="0" anchor="t" anchorCtr="0">
              <a:spAutoFit/>
            </a:bodyPr>
            <a:lstStyle/>
            <a:p>
              <a:pPr algn="ctr"/>
              <a:r>
                <a:rPr lang="en-US" sz="600" dirty="0">
                  <a:solidFill>
                    <a:srgbClr val="8C716B"/>
                  </a:solidFill>
                  <a:latin typeface="+mj-lt"/>
                  <a:ea typeface="+mj-ea"/>
                  <a:cs typeface="+mj-cs"/>
                </a:rPr>
                <a:t>BB​</a:t>
              </a:r>
            </a:p>
          </p:txBody>
        </p:sp>
        <p:sp>
          <p:nvSpPr>
            <p:cNvPr id="173" name="TextBox 173"/>
            <p:cNvSpPr txBox="1"/>
            <p:nvPr/>
          </p:nvSpPr>
          <p:spPr>
            <a:xfrm>
              <a:off x="2762706" y="6078855"/>
              <a:ext cx="113389" cy="119062"/>
            </a:xfrm>
            <a:prstGeom prst="rect">
              <a:avLst/>
            </a:prstGeom>
            <a:noFill/>
            <a:ln>
              <a:noFill/>
            </a:ln>
          </p:spPr>
          <p:txBody>
            <a:bodyPr wrap="none" lIns="0" tIns="0" rIns="0" bIns="0" anchor="t" anchorCtr="0">
              <a:spAutoFit/>
            </a:bodyPr>
            <a:lstStyle/>
            <a:p>
              <a:pPr algn="ctr"/>
              <a:r>
                <a:rPr lang="en-US" sz="600" dirty="0">
                  <a:solidFill>
                    <a:srgbClr val="8C716B"/>
                  </a:solidFill>
                  <a:latin typeface="+mj-lt"/>
                  <a:ea typeface="+mj-ea"/>
                  <a:cs typeface="+mj-cs"/>
                </a:rPr>
                <a:t>B​</a:t>
              </a:r>
            </a:p>
          </p:txBody>
        </p:sp>
        <p:sp>
          <p:nvSpPr>
            <p:cNvPr id="174" name="TextBox 174"/>
            <p:cNvSpPr txBox="1"/>
            <p:nvPr/>
          </p:nvSpPr>
          <p:spPr>
            <a:xfrm>
              <a:off x="3150875" y="6078855"/>
              <a:ext cx="118100" cy="119062"/>
            </a:xfrm>
            <a:prstGeom prst="rect">
              <a:avLst/>
            </a:prstGeom>
            <a:noFill/>
            <a:ln>
              <a:noFill/>
            </a:ln>
          </p:spPr>
          <p:txBody>
            <a:bodyPr wrap="none" lIns="0" tIns="0" rIns="0" bIns="0" anchor="t" anchorCtr="0">
              <a:spAutoFit/>
            </a:bodyPr>
            <a:lstStyle/>
            <a:p>
              <a:pPr algn="ctr"/>
              <a:r>
                <a:rPr lang="en-US" sz="600" dirty="0">
                  <a:solidFill>
                    <a:srgbClr val="8C716B"/>
                  </a:solidFill>
                  <a:latin typeface="+mj-lt"/>
                  <a:ea typeface="+mj-ea"/>
                  <a:cs typeface="+mj-cs"/>
                </a:rPr>
                <a:t>C​</a:t>
              </a:r>
            </a:p>
          </p:txBody>
        </p:sp>
        <p:sp>
          <p:nvSpPr>
            <p:cNvPr id="175" name="TextBox 175"/>
            <p:cNvSpPr txBox="1"/>
            <p:nvPr/>
          </p:nvSpPr>
          <p:spPr>
            <a:xfrm>
              <a:off x="3541400" y="6078855"/>
              <a:ext cx="118100" cy="119062"/>
            </a:xfrm>
            <a:prstGeom prst="rect">
              <a:avLst/>
            </a:prstGeom>
            <a:noFill/>
            <a:ln>
              <a:noFill/>
            </a:ln>
          </p:spPr>
          <p:txBody>
            <a:bodyPr wrap="none" lIns="0" tIns="0" rIns="0" bIns="0" anchor="t" anchorCtr="0">
              <a:spAutoFit/>
            </a:bodyPr>
            <a:lstStyle/>
            <a:p>
              <a:pPr algn="ctr"/>
              <a:r>
                <a:rPr lang="en-US" sz="600" dirty="0">
                  <a:solidFill>
                    <a:srgbClr val="8C716B"/>
                  </a:solidFill>
                  <a:latin typeface="+mj-lt"/>
                  <a:ea typeface="+mj-ea"/>
                  <a:cs typeface="+mj-cs"/>
                </a:rPr>
                <a:t>D​</a:t>
              </a:r>
            </a:p>
          </p:txBody>
        </p:sp>
        <p:sp>
          <p:nvSpPr>
            <p:cNvPr id="176" name="TextBox 176"/>
            <p:cNvSpPr txBox="1"/>
            <p:nvPr/>
          </p:nvSpPr>
          <p:spPr>
            <a:xfrm>
              <a:off x="2109732" y="6206728"/>
              <a:ext cx="352537" cy="111919"/>
            </a:xfrm>
            <a:prstGeom prst="rect">
              <a:avLst/>
            </a:prstGeom>
            <a:noFill/>
            <a:ln>
              <a:noFill/>
            </a:ln>
          </p:spPr>
          <p:txBody>
            <a:bodyPr wrap="none" lIns="0" tIns="0" rIns="0" bIns="0" anchor="t" anchorCtr="0">
              <a:spAutoFit/>
            </a:bodyPr>
            <a:lstStyle/>
            <a:p>
              <a:pPr algn="ctr"/>
              <a:r>
                <a:rPr lang="zh-CN" sz="560" dirty="0">
                  <a:solidFill>
                    <a:srgbClr val="8C716B"/>
                  </a:solidFill>
                  <a:latin typeface="+mn-lt"/>
                  <a:ea typeface="+mn-ea"/>
                  <a:cs typeface="+mn-cs"/>
                </a:rPr>
                <a:t>评级等级​</a:t>
              </a:r>
            </a:p>
          </p:txBody>
        </p:sp>
        <p:sp>
          <p:nvSpPr>
            <p:cNvPr id="177" name="TextBox 177"/>
            <p:cNvSpPr txBox="1"/>
            <p:nvPr/>
          </p:nvSpPr>
          <p:spPr>
            <a:xfrm>
              <a:off x="1029805" y="6393180"/>
              <a:ext cx="2359990" cy="119062"/>
            </a:xfrm>
            <a:prstGeom prst="rect">
              <a:avLst/>
            </a:prstGeom>
            <a:noFill/>
            <a:ln>
              <a:noFill/>
            </a:ln>
          </p:spPr>
          <p:txBody>
            <a:bodyPr wrap="none" lIns="0" tIns="0" rIns="0" bIns="0" anchor="t" anchorCtr="0">
              <a:spAutoFit/>
            </a:bodyPr>
            <a:lstStyle/>
            <a:p>
              <a:pPr algn="ctr"/>
              <a:r>
                <a:rPr lang="zh-CN" sz="600" dirty="0">
                  <a:solidFill>
                    <a:srgbClr val="8C716B"/>
                  </a:solidFill>
                  <a:latin typeface="+mn-lt"/>
                  <a:ea typeface="+mn-ea"/>
                  <a:cs typeface="+mn-cs"/>
                </a:rPr>
                <a:t>客户主要集中在中高等级，呈现“橄榄型”分布，符合一般组合特征</a:t>
              </a:r>
            </a:p>
          </p:txBody>
        </p:sp>
      </p:grpSp>
      <p:grpSp>
        <p:nvGrpSpPr>
          <p:cNvPr id="294" name="mig-matrix"/>
          <p:cNvGrpSpPr/>
          <p:nvPr/>
        </p:nvGrpSpPr>
        <p:grpSpPr>
          <a:xfrm>
            <a:off x="4343400" y="4381500"/>
            <a:ext cx="4610100" cy="2190750"/>
            <a:chOff x="4343400" y="4381500"/>
            <a:chExt cx="4610100" cy="2190750"/>
          </a:xfrm>
        </p:grpSpPr>
        <p:sp>
          <p:nvSpPr>
            <p:cNvPr id="179" name="Rectangle 179"/>
            <p:cNvSpPr/>
            <p:nvPr/>
          </p:nvSpPr>
          <p:spPr>
            <a:xfrm>
              <a:off x="4343400" y="4381500"/>
              <a:ext cx="4610100" cy="2190750"/>
            </a:xfrm>
            <a:prstGeom prst="roundRect">
              <a:avLst>
                <a:gd name="adj" fmla="val 3478"/>
              </a:avLst>
            </a:prstGeom>
            <a:solidFill>
              <a:srgbClr val="FFFFFF"/>
            </a:solidFill>
            <a:ln w="9525">
              <a:solidFill>
                <a:srgbClr val="CFE2F2"/>
              </a:solidFill>
            </a:ln>
          </p:spPr>
        </p:sp>
        <p:grpSp>
          <p:nvGrpSpPr>
            <p:cNvPr id="182" name="Group 182"/>
            <p:cNvGrpSpPr/>
            <p:nvPr/>
          </p:nvGrpSpPr>
          <p:grpSpPr>
            <a:xfrm>
              <a:off x="4502150" y="4461600"/>
              <a:ext cx="101600" cy="106500"/>
              <a:chOff x="4502150" y="4461600"/>
              <a:chExt cx="101600" cy="106500"/>
            </a:xfrm>
          </p:grpSpPr>
          <p:sp>
            <p:nvSpPr>
              <p:cNvPr id="180" name="Freeform 180"/>
              <p:cNvSpPr/>
              <p:nvPr/>
            </p:nvSpPr>
            <p:spPr>
              <a:xfrm>
                <a:off x="4502150" y="446160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C4472E"/>
                </a:solidFill>
              </a:ln>
            </p:spPr>
          </p:sp>
          <p:sp>
            <p:nvSpPr>
              <p:cNvPr id="181" name="Freeform 181"/>
              <p:cNvSpPr/>
              <p:nvPr/>
            </p:nvSpPr>
            <p:spPr>
              <a:xfrm>
                <a:off x="4502150" y="452120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C4472E"/>
                </a:solidFill>
              </a:ln>
            </p:spPr>
          </p:sp>
        </p:grpSp>
        <p:sp>
          <p:nvSpPr>
            <p:cNvPr id="183" name="TextBox 183"/>
            <p:cNvSpPr txBox="1"/>
            <p:nvPr/>
          </p:nvSpPr>
          <p:spPr>
            <a:xfrm>
              <a:off x="4681538" y="4469368"/>
              <a:ext cx="1300975" cy="169069"/>
            </a:xfrm>
            <a:prstGeom prst="rect">
              <a:avLst/>
            </a:prstGeom>
            <a:noFill/>
            <a:ln>
              <a:noFill/>
            </a:ln>
          </p:spPr>
          <p:txBody>
            <a:bodyPr wrap="none" lIns="0" tIns="0" rIns="0" bIns="0" anchor="t" anchorCtr="0">
              <a:spAutoFit/>
            </a:bodyPr>
            <a:lstStyle/>
            <a:p>
              <a:pPr algn="l"/>
              <a:r>
                <a:rPr lang="zh-CN" sz="860" b="1" dirty="0">
                  <a:solidFill>
                    <a:srgbClr val="3E1810"/>
                  </a:solidFill>
                  <a:latin typeface="+mn-lt"/>
                  <a:ea typeface="+mn-ea"/>
                  <a:cs typeface="+mn-cs"/>
                </a:rPr>
                <a:t>评级迁移示意（1年期）​</a:t>
              </a:r>
            </a:p>
          </p:txBody>
        </p:sp>
        <p:sp>
          <p:nvSpPr>
            <p:cNvPr id="184" name="TextBox 184"/>
            <p:cNvSpPr txBox="1"/>
            <p:nvPr/>
          </p:nvSpPr>
          <p:spPr>
            <a:xfrm>
              <a:off x="6680695" y="4663678"/>
              <a:ext cx="354610" cy="111919"/>
            </a:xfrm>
            <a:prstGeom prst="rect">
              <a:avLst/>
            </a:prstGeom>
            <a:noFill/>
            <a:ln>
              <a:noFill/>
            </a:ln>
          </p:spPr>
          <p:txBody>
            <a:bodyPr wrap="none" lIns="0" tIns="0" rIns="0" bIns="0" anchor="t" anchorCtr="0">
              <a:spAutoFit/>
            </a:bodyPr>
            <a:lstStyle/>
            <a:p>
              <a:pPr algn="ctr"/>
              <a:r>
                <a:rPr lang="zh-CN" sz="560" b="1" dirty="0">
                  <a:solidFill>
                    <a:srgbClr val="8C716B"/>
                  </a:solidFill>
                  <a:latin typeface="+mn-lt"/>
                  <a:ea typeface="+mn-ea"/>
                  <a:cs typeface="+mn-cs"/>
                </a:rPr>
                <a:t>下期评级​</a:t>
              </a:r>
            </a:p>
          </p:txBody>
        </p:sp>
        <p:sp>
          <p:nvSpPr>
            <p:cNvPr id="185" name="Rectangle 185"/>
            <p:cNvSpPr/>
            <p:nvPr/>
          </p:nvSpPr>
          <p:spPr>
            <a:xfrm>
              <a:off x="4457700" y="4781550"/>
              <a:ext cx="381000" cy="171450"/>
            </a:xfrm>
            <a:prstGeom prst="rect">
              <a:avLst/>
            </a:prstGeom>
            <a:solidFill>
              <a:srgbClr val="DDEBF7"/>
            </a:solidFill>
            <a:ln>
              <a:noFill/>
            </a:ln>
          </p:spPr>
        </p:sp>
        <p:sp>
          <p:nvSpPr>
            <p:cNvPr id="186" name="TextBox 186"/>
            <p:cNvSpPr txBox="1"/>
            <p:nvPr/>
          </p:nvSpPr>
          <p:spPr>
            <a:xfrm>
              <a:off x="4483220" y="4848701"/>
              <a:ext cx="329961" cy="104775"/>
            </a:xfrm>
            <a:prstGeom prst="rect">
              <a:avLst/>
            </a:prstGeom>
            <a:noFill/>
            <a:ln>
              <a:noFill/>
            </a:ln>
          </p:spPr>
          <p:txBody>
            <a:bodyPr wrap="none" lIns="0" tIns="0" rIns="0" bIns="0" anchor="t" anchorCtr="0">
              <a:spAutoFit/>
            </a:bodyPr>
            <a:lstStyle/>
            <a:p>
              <a:pPr algn="ctr"/>
              <a:r>
                <a:rPr lang="zh-CN" sz="520" b="1" dirty="0">
                  <a:solidFill>
                    <a:srgbClr val="9E311B"/>
                  </a:solidFill>
                  <a:latin typeface="+mn-lt"/>
                  <a:ea typeface="+mn-ea"/>
                  <a:cs typeface="+mn-cs"/>
                </a:rPr>
                <a:t>本期评级​</a:t>
              </a:r>
            </a:p>
          </p:txBody>
        </p:sp>
        <p:sp>
          <p:nvSpPr>
            <p:cNvPr id="187" name="Rectangle 187"/>
            <p:cNvSpPr/>
            <p:nvPr/>
          </p:nvSpPr>
          <p:spPr>
            <a:xfrm>
              <a:off x="4876800" y="4781550"/>
              <a:ext cx="476250" cy="171450"/>
            </a:xfrm>
            <a:prstGeom prst="rect">
              <a:avLst/>
            </a:prstGeom>
            <a:solidFill>
              <a:srgbClr val="DDEBF7"/>
            </a:solidFill>
            <a:ln>
              <a:noFill/>
            </a:ln>
          </p:spPr>
        </p:sp>
        <p:sp>
          <p:nvSpPr>
            <p:cNvPr id="188" name="TextBox 188"/>
            <p:cNvSpPr txBox="1"/>
            <p:nvPr/>
          </p:nvSpPr>
          <p:spPr>
            <a:xfrm>
              <a:off x="4993066" y="4840605"/>
              <a:ext cx="243717"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AAA​</a:t>
              </a:r>
            </a:p>
          </p:txBody>
        </p:sp>
        <p:sp>
          <p:nvSpPr>
            <p:cNvPr id="189" name="Rectangle 189"/>
            <p:cNvSpPr/>
            <p:nvPr/>
          </p:nvSpPr>
          <p:spPr>
            <a:xfrm>
              <a:off x="5372100" y="4781550"/>
              <a:ext cx="476250" cy="171450"/>
            </a:xfrm>
            <a:prstGeom prst="rect">
              <a:avLst/>
            </a:prstGeom>
            <a:solidFill>
              <a:srgbClr val="DDEBF7"/>
            </a:solidFill>
            <a:ln>
              <a:noFill/>
            </a:ln>
          </p:spPr>
        </p:sp>
        <p:sp>
          <p:nvSpPr>
            <p:cNvPr id="190" name="TextBox 190"/>
            <p:cNvSpPr txBox="1"/>
            <p:nvPr/>
          </p:nvSpPr>
          <p:spPr>
            <a:xfrm>
              <a:off x="5519184" y="4840605"/>
              <a:ext cx="182082"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AA​</a:t>
              </a:r>
            </a:p>
          </p:txBody>
        </p:sp>
        <p:sp>
          <p:nvSpPr>
            <p:cNvPr id="191" name="Rectangle 191"/>
            <p:cNvSpPr/>
            <p:nvPr/>
          </p:nvSpPr>
          <p:spPr>
            <a:xfrm>
              <a:off x="5867400" y="4781550"/>
              <a:ext cx="476250" cy="171450"/>
            </a:xfrm>
            <a:prstGeom prst="rect">
              <a:avLst/>
            </a:prstGeom>
            <a:solidFill>
              <a:srgbClr val="DDEBF7"/>
            </a:solidFill>
            <a:ln>
              <a:noFill/>
            </a:ln>
          </p:spPr>
        </p:sp>
        <p:sp>
          <p:nvSpPr>
            <p:cNvPr id="192" name="TextBox 192"/>
            <p:cNvSpPr txBox="1"/>
            <p:nvPr/>
          </p:nvSpPr>
          <p:spPr>
            <a:xfrm>
              <a:off x="6045302" y="4840605"/>
              <a:ext cx="120447"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A​</a:t>
              </a:r>
            </a:p>
          </p:txBody>
        </p:sp>
        <p:sp>
          <p:nvSpPr>
            <p:cNvPr id="193" name="Rectangle 193"/>
            <p:cNvSpPr/>
            <p:nvPr/>
          </p:nvSpPr>
          <p:spPr>
            <a:xfrm>
              <a:off x="6362700" y="4781550"/>
              <a:ext cx="476250" cy="171450"/>
            </a:xfrm>
            <a:prstGeom prst="rect">
              <a:avLst/>
            </a:prstGeom>
            <a:solidFill>
              <a:srgbClr val="DDEBF7"/>
            </a:solidFill>
            <a:ln>
              <a:noFill/>
            </a:ln>
          </p:spPr>
        </p:sp>
        <p:sp>
          <p:nvSpPr>
            <p:cNvPr id="194" name="TextBox 194"/>
            <p:cNvSpPr txBox="1"/>
            <p:nvPr/>
          </p:nvSpPr>
          <p:spPr>
            <a:xfrm>
              <a:off x="6478966" y="4840605"/>
              <a:ext cx="243717"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BBB​</a:t>
              </a:r>
            </a:p>
          </p:txBody>
        </p:sp>
        <p:sp>
          <p:nvSpPr>
            <p:cNvPr id="195" name="Rectangle 195"/>
            <p:cNvSpPr/>
            <p:nvPr/>
          </p:nvSpPr>
          <p:spPr>
            <a:xfrm>
              <a:off x="6858000" y="4781550"/>
              <a:ext cx="476250" cy="171450"/>
            </a:xfrm>
            <a:prstGeom prst="rect">
              <a:avLst/>
            </a:prstGeom>
            <a:solidFill>
              <a:srgbClr val="DDEBF7"/>
            </a:solidFill>
            <a:ln>
              <a:noFill/>
            </a:ln>
          </p:spPr>
        </p:sp>
        <p:sp>
          <p:nvSpPr>
            <p:cNvPr id="196" name="TextBox 196"/>
            <p:cNvSpPr txBox="1"/>
            <p:nvPr/>
          </p:nvSpPr>
          <p:spPr>
            <a:xfrm>
              <a:off x="7005084" y="4840605"/>
              <a:ext cx="182082"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BB​</a:t>
              </a:r>
            </a:p>
          </p:txBody>
        </p:sp>
        <p:sp>
          <p:nvSpPr>
            <p:cNvPr id="197" name="Rectangle 197"/>
            <p:cNvSpPr/>
            <p:nvPr/>
          </p:nvSpPr>
          <p:spPr>
            <a:xfrm>
              <a:off x="7353300" y="4781550"/>
              <a:ext cx="476250" cy="171450"/>
            </a:xfrm>
            <a:prstGeom prst="rect">
              <a:avLst/>
            </a:prstGeom>
            <a:solidFill>
              <a:srgbClr val="DDEBF7"/>
            </a:solidFill>
            <a:ln>
              <a:noFill/>
            </a:ln>
          </p:spPr>
        </p:sp>
        <p:sp>
          <p:nvSpPr>
            <p:cNvPr id="198" name="TextBox 198"/>
            <p:cNvSpPr txBox="1"/>
            <p:nvPr/>
          </p:nvSpPr>
          <p:spPr>
            <a:xfrm>
              <a:off x="7531202" y="4840605"/>
              <a:ext cx="120447"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B​</a:t>
              </a:r>
            </a:p>
          </p:txBody>
        </p:sp>
        <p:sp>
          <p:nvSpPr>
            <p:cNvPr id="199" name="Rectangle 199"/>
            <p:cNvSpPr/>
            <p:nvPr/>
          </p:nvSpPr>
          <p:spPr>
            <a:xfrm>
              <a:off x="7848600" y="4781550"/>
              <a:ext cx="476250" cy="171450"/>
            </a:xfrm>
            <a:prstGeom prst="rect">
              <a:avLst/>
            </a:prstGeom>
            <a:solidFill>
              <a:srgbClr val="DDEBF7"/>
            </a:solidFill>
            <a:ln>
              <a:noFill/>
            </a:ln>
          </p:spPr>
        </p:sp>
        <p:sp>
          <p:nvSpPr>
            <p:cNvPr id="200" name="TextBox 200"/>
            <p:cNvSpPr txBox="1"/>
            <p:nvPr/>
          </p:nvSpPr>
          <p:spPr>
            <a:xfrm>
              <a:off x="8026502" y="4840605"/>
              <a:ext cx="120447"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C​</a:t>
              </a:r>
            </a:p>
          </p:txBody>
        </p:sp>
        <p:sp>
          <p:nvSpPr>
            <p:cNvPr id="201" name="Rectangle 201"/>
            <p:cNvSpPr/>
            <p:nvPr/>
          </p:nvSpPr>
          <p:spPr>
            <a:xfrm>
              <a:off x="8343900" y="4781550"/>
              <a:ext cx="476250" cy="171450"/>
            </a:xfrm>
            <a:prstGeom prst="rect">
              <a:avLst/>
            </a:prstGeom>
            <a:solidFill>
              <a:srgbClr val="DDEBF7"/>
            </a:solidFill>
            <a:ln>
              <a:noFill/>
            </a:ln>
          </p:spPr>
        </p:sp>
        <p:sp>
          <p:nvSpPr>
            <p:cNvPr id="202" name="TextBox 202"/>
            <p:cNvSpPr txBox="1"/>
            <p:nvPr/>
          </p:nvSpPr>
          <p:spPr>
            <a:xfrm>
              <a:off x="8521802" y="4840605"/>
              <a:ext cx="120447"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D​</a:t>
              </a:r>
            </a:p>
          </p:txBody>
        </p:sp>
        <p:sp>
          <p:nvSpPr>
            <p:cNvPr id="203" name="Rectangle 203"/>
            <p:cNvSpPr/>
            <p:nvPr/>
          </p:nvSpPr>
          <p:spPr>
            <a:xfrm>
              <a:off x="4457700" y="4972050"/>
              <a:ext cx="381000" cy="228600"/>
            </a:xfrm>
            <a:prstGeom prst="rect">
              <a:avLst/>
            </a:prstGeom>
            <a:solidFill>
              <a:srgbClr val="EAF3FB"/>
            </a:solidFill>
            <a:ln>
              <a:noFill/>
            </a:ln>
          </p:spPr>
        </p:sp>
        <p:sp>
          <p:nvSpPr>
            <p:cNvPr id="204" name="TextBox 204"/>
            <p:cNvSpPr txBox="1"/>
            <p:nvPr/>
          </p:nvSpPr>
          <p:spPr>
            <a:xfrm>
              <a:off x="4526341" y="5059680"/>
              <a:ext cx="243717"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AAA​</a:t>
              </a:r>
            </a:p>
          </p:txBody>
        </p:sp>
        <p:sp>
          <p:nvSpPr>
            <p:cNvPr id="205" name="Rectangle 205"/>
            <p:cNvSpPr/>
            <p:nvPr/>
          </p:nvSpPr>
          <p:spPr>
            <a:xfrm>
              <a:off x="4886325" y="4981575"/>
              <a:ext cx="457200" cy="209550"/>
            </a:xfrm>
            <a:prstGeom prst="rect">
              <a:avLst/>
            </a:prstGeom>
            <a:solidFill>
              <a:srgbClr val="E13A18"/>
            </a:solidFill>
            <a:ln>
              <a:noFill/>
            </a:ln>
          </p:spPr>
        </p:sp>
        <p:sp>
          <p:nvSpPr>
            <p:cNvPr id="206" name="TextBox 206"/>
            <p:cNvSpPr txBox="1"/>
            <p:nvPr/>
          </p:nvSpPr>
          <p:spPr>
            <a:xfrm>
              <a:off x="5006003" y="5059680"/>
              <a:ext cx="217844"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j-lt"/>
                  <a:ea typeface="+mj-ea"/>
                  <a:cs typeface="+mj-cs"/>
                </a:rPr>
                <a:t>92%​</a:t>
              </a:r>
            </a:p>
          </p:txBody>
        </p:sp>
        <p:sp>
          <p:nvSpPr>
            <p:cNvPr id="207" name="Rectangle 207"/>
            <p:cNvSpPr/>
            <p:nvPr/>
          </p:nvSpPr>
          <p:spPr>
            <a:xfrm>
              <a:off x="5381625" y="4981575"/>
              <a:ext cx="457200" cy="209550"/>
            </a:xfrm>
            <a:prstGeom prst="rect">
              <a:avLst/>
            </a:prstGeom>
            <a:solidFill>
              <a:srgbClr val="FAD6D0"/>
            </a:solidFill>
            <a:ln>
              <a:noFill/>
            </a:ln>
          </p:spPr>
        </p:sp>
        <p:sp>
          <p:nvSpPr>
            <p:cNvPr id="208" name="TextBox 208"/>
            <p:cNvSpPr txBox="1"/>
            <p:nvPr/>
          </p:nvSpPr>
          <p:spPr>
            <a:xfrm>
              <a:off x="5524876" y="50596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6%​</a:t>
              </a:r>
            </a:p>
          </p:txBody>
        </p:sp>
        <p:sp>
          <p:nvSpPr>
            <p:cNvPr id="209" name="Rectangle 209"/>
            <p:cNvSpPr/>
            <p:nvPr/>
          </p:nvSpPr>
          <p:spPr>
            <a:xfrm>
              <a:off x="5876925" y="4981575"/>
              <a:ext cx="457200" cy="209550"/>
            </a:xfrm>
            <a:prstGeom prst="rect">
              <a:avLst/>
            </a:prstGeom>
            <a:solidFill>
              <a:srgbClr val="FBE4E2"/>
            </a:solidFill>
            <a:ln>
              <a:noFill/>
            </a:ln>
          </p:spPr>
        </p:sp>
        <p:sp>
          <p:nvSpPr>
            <p:cNvPr id="210" name="TextBox 210"/>
            <p:cNvSpPr txBox="1"/>
            <p:nvPr/>
          </p:nvSpPr>
          <p:spPr>
            <a:xfrm>
              <a:off x="6020176" y="50596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1%​</a:t>
              </a:r>
            </a:p>
          </p:txBody>
        </p:sp>
        <p:sp>
          <p:nvSpPr>
            <p:cNvPr id="211" name="Rectangle 211"/>
            <p:cNvSpPr/>
            <p:nvPr/>
          </p:nvSpPr>
          <p:spPr>
            <a:xfrm>
              <a:off x="6372225" y="4981575"/>
              <a:ext cx="457200" cy="209550"/>
            </a:xfrm>
            <a:prstGeom prst="rect">
              <a:avLst/>
            </a:prstGeom>
            <a:solidFill>
              <a:srgbClr val="FBE4E2"/>
            </a:solidFill>
            <a:ln>
              <a:noFill/>
            </a:ln>
          </p:spPr>
        </p:sp>
        <p:sp>
          <p:nvSpPr>
            <p:cNvPr id="212" name="TextBox 212"/>
            <p:cNvSpPr txBox="1"/>
            <p:nvPr/>
          </p:nvSpPr>
          <p:spPr>
            <a:xfrm>
              <a:off x="6515476" y="50596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1%​</a:t>
              </a:r>
            </a:p>
          </p:txBody>
        </p:sp>
        <p:sp>
          <p:nvSpPr>
            <p:cNvPr id="213" name="Rectangle 213"/>
            <p:cNvSpPr/>
            <p:nvPr/>
          </p:nvSpPr>
          <p:spPr>
            <a:xfrm>
              <a:off x="6867525" y="4981575"/>
              <a:ext cx="457200" cy="209550"/>
            </a:xfrm>
            <a:prstGeom prst="rect">
              <a:avLst/>
            </a:prstGeom>
            <a:solidFill>
              <a:srgbClr val="FAFCFE"/>
            </a:solidFill>
            <a:ln>
              <a:noFill/>
            </a:ln>
          </p:spPr>
        </p:sp>
        <p:sp>
          <p:nvSpPr>
            <p:cNvPr id="214" name="TextBox 214"/>
            <p:cNvSpPr txBox="1"/>
            <p:nvPr/>
          </p:nvSpPr>
          <p:spPr>
            <a:xfrm>
              <a:off x="7010776" y="50596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15" name="Rectangle 215"/>
            <p:cNvSpPr/>
            <p:nvPr/>
          </p:nvSpPr>
          <p:spPr>
            <a:xfrm>
              <a:off x="7362825" y="4981575"/>
              <a:ext cx="457200" cy="209550"/>
            </a:xfrm>
            <a:prstGeom prst="rect">
              <a:avLst/>
            </a:prstGeom>
            <a:solidFill>
              <a:srgbClr val="FAFCFE"/>
            </a:solidFill>
            <a:ln>
              <a:noFill/>
            </a:ln>
          </p:spPr>
        </p:sp>
        <p:sp>
          <p:nvSpPr>
            <p:cNvPr id="216" name="TextBox 216"/>
            <p:cNvSpPr txBox="1"/>
            <p:nvPr/>
          </p:nvSpPr>
          <p:spPr>
            <a:xfrm>
              <a:off x="7506076" y="50596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17" name="Rectangle 217"/>
            <p:cNvSpPr/>
            <p:nvPr/>
          </p:nvSpPr>
          <p:spPr>
            <a:xfrm>
              <a:off x="7858125" y="4981575"/>
              <a:ext cx="457200" cy="209550"/>
            </a:xfrm>
            <a:prstGeom prst="rect">
              <a:avLst/>
            </a:prstGeom>
            <a:solidFill>
              <a:srgbClr val="FAFCFE"/>
            </a:solidFill>
            <a:ln>
              <a:noFill/>
            </a:ln>
          </p:spPr>
        </p:sp>
        <p:sp>
          <p:nvSpPr>
            <p:cNvPr id="218" name="TextBox 218"/>
            <p:cNvSpPr txBox="1"/>
            <p:nvPr/>
          </p:nvSpPr>
          <p:spPr>
            <a:xfrm>
              <a:off x="8001376" y="50596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19" name="Rectangle 219"/>
            <p:cNvSpPr/>
            <p:nvPr/>
          </p:nvSpPr>
          <p:spPr>
            <a:xfrm>
              <a:off x="8353425" y="4981575"/>
              <a:ext cx="457200" cy="209550"/>
            </a:xfrm>
            <a:prstGeom prst="rect">
              <a:avLst/>
            </a:prstGeom>
            <a:solidFill>
              <a:srgbClr val="FAFCFE"/>
            </a:solidFill>
            <a:ln>
              <a:noFill/>
            </a:ln>
          </p:spPr>
        </p:sp>
        <p:sp>
          <p:nvSpPr>
            <p:cNvPr id="220" name="TextBox 220"/>
            <p:cNvSpPr txBox="1"/>
            <p:nvPr/>
          </p:nvSpPr>
          <p:spPr>
            <a:xfrm>
              <a:off x="8496676" y="50596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21" name="Rectangle 221"/>
            <p:cNvSpPr/>
            <p:nvPr/>
          </p:nvSpPr>
          <p:spPr>
            <a:xfrm>
              <a:off x="4457700" y="5219700"/>
              <a:ext cx="381000" cy="228600"/>
            </a:xfrm>
            <a:prstGeom prst="rect">
              <a:avLst/>
            </a:prstGeom>
            <a:solidFill>
              <a:srgbClr val="EAF3FB"/>
            </a:solidFill>
            <a:ln>
              <a:noFill/>
            </a:ln>
          </p:spPr>
        </p:sp>
        <p:sp>
          <p:nvSpPr>
            <p:cNvPr id="222" name="TextBox 222"/>
            <p:cNvSpPr txBox="1"/>
            <p:nvPr/>
          </p:nvSpPr>
          <p:spPr>
            <a:xfrm>
              <a:off x="4557159" y="5307330"/>
              <a:ext cx="182082"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AA​</a:t>
              </a:r>
            </a:p>
          </p:txBody>
        </p:sp>
        <p:sp>
          <p:nvSpPr>
            <p:cNvPr id="223" name="Rectangle 223"/>
            <p:cNvSpPr/>
            <p:nvPr/>
          </p:nvSpPr>
          <p:spPr>
            <a:xfrm>
              <a:off x="4886325" y="5229225"/>
              <a:ext cx="457200" cy="209550"/>
            </a:xfrm>
            <a:prstGeom prst="rect">
              <a:avLst/>
            </a:prstGeom>
            <a:solidFill>
              <a:srgbClr val="FBE4E2"/>
            </a:solidFill>
            <a:ln>
              <a:noFill/>
            </a:ln>
          </p:spPr>
        </p:sp>
        <p:sp>
          <p:nvSpPr>
            <p:cNvPr id="224" name="TextBox 224"/>
            <p:cNvSpPr txBox="1"/>
            <p:nvPr/>
          </p:nvSpPr>
          <p:spPr>
            <a:xfrm>
              <a:off x="5029576" y="530733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4%​</a:t>
              </a:r>
            </a:p>
          </p:txBody>
        </p:sp>
        <p:sp>
          <p:nvSpPr>
            <p:cNvPr id="225" name="Rectangle 225"/>
            <p:cNvSpPr/>
            <p:nvPr/>
          </p:nvSpPr>
          <p:spPr>
            <a:xfrm>
              <a:off x="5381625" y="5229225"/>
              <a:ext cx="457200" cy="209550"/>
            </a:xfrm>
            <a:prstGeom prst="rect">
              <a:avLst/>
            </a:prstGeom>
            <a:solidFill>
              <a:srgbClr val="E13A18"/>
            </a:solidFill>
            <a:ln>
              <a:noFill/>
            </a:ln>
          </p:spPr>
        </p:sp>
        <p:sp>
          <p:nvSpPr>
            <p:cNvPr id="226" name="TextBox 226"/>
            <p:cNvSpPr txBox="1"/>
            <p:nvPr/>
          </p:nvSpPr>
          <p:spPr>
            <a:xfrm>
              <a:off x="5501303" y="5307330"/>
              <a:ext cx="217844"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j-lt"/>
                  <a:ea typeface="+mj-ea"/>
                  <a:cs typeface="+mj-cs"/>
                </a:rPr>
                <a:t>89%​</a:t>
              </a:r>
            </a:p>
          </p:txBody>
        </p:sp>
        <p:sp>
          <p:nvSpPr>
            <p:cNvPr id="227" name="Rectangle 227"/>
            <p:cNvSpPr/>
            <p:nvPr/>
          </p:nvSpPr>
          <p:spPr>
            <a:xfrm>
              <a:off x="5876925" y="5229225"/>
              <a:ext cx="457200" cy="209550"/>
            </a:xfrm>
            <a:prstGeom prst="rect">
              <a:avLst/>
            </a:prstGeom>
            <a:solidFill>
              <a:srgbClr val="FAD6D0"/>
            </a:solidFill>
            <a:ln>
              <a:noFill/>
            </a:ln>
          </p:spPr>
        </p:sp>
        <p:sp>
          <p:nvSpPr>
            <p:cNvPr id="228" name="TextBox 228"/>
            <p:cNvSpPr txBox="1"/>
            <p:nvPr/>
          </p:nvSpPr>
          <p:spPr>
            <a:xfrm>
              <a:off x="6020176" y="530733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5%​</a:t>
              </a:r>
            </a:p>
          </p:txBody>
        </p:sp>
        <p:sp>
          <p:nvSpPr>
            <p:cNvPr id="229" name="Rectangle 229"/>
            <p:cNvSpPr/>
            <p:nvPr/>
          </p:nvSpPr>
          <p:spPr>
            <a:xfrm>
              <a:off x="6372225" y="5229225"/>
              <a:ext cx="457200" cy="209550"/>
            </a:xfrm>
            <a:prstGeom prst="rect">
              <a:avLst/>
            </a:prstGeom>
            <a:solidFill>
              <a:srgbClr val="FBE4E2"/>
            </a:solidFill>
            <a:ln>
              <a:noFill/>
            </a:ln>
          </p:spPr>
        </p:sp>
        <p:sp>
          <p:nvSpPr>
            <p:cNvPr id="230" name="TextBox 230"/>
            <p:cNvSpPr txBox="1"/>
            <p:nvPr/>
          </p:nvSpPr>
          <p:spPr>
            <a:xfrm>
              <a:off x="6515476" y="530733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2%​</a:t>
              </a:r>
            </a:p>
          </p:txBody>
        </p:sp>
        <p:sp>
          <p:nvSpPr>
            <p:cNvPr id="231" name="Rectangle 231"/>
            <p:cNvSpPr/>
            <p:nvPr/>
          </p:nvSpPr>
          <p:spPr>
            <a:xfrm>
              <a:off x="6867525" y="5229225"/>
              <a:ext cx="457200" cy="209550"/>
            </a:xfrm>
            <a:prstGeom prst="rect">
              <a:avLst/>
            </a:prstGeom>
            <a:solidFill>
              <a:srgbClr val="FAFCFE"/>
            </a:solidFill>
            <a:ln>
              <a:noFill/>
            </a:ln>
          </p:spPr>
        </p:sp>
        <p:sp>
          <p:nvSpPr>
            <p:cNvPr id="232" name="TextBox 232"/>
            <p:cNvSpPr txBox="1"/>
            <p:nvPr/>
          </p:nvSpPr>
          <p:spPr>
            <a:xfrm>
              <a:off x="7010776" y="530733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33" name="Rectangle 233"/>
            <p:cNvSpPr/>
            <p:nvPr/>
          </p:nvSpPr>
          <p:spPr>
            <a:xfrm>
              <a:off x="7362825" y="5229225"/>
              <a:ext cx="457200" cy="209550"/>
            </a:xfrm>
            <a:prstGeom prst="rect">
              <a:avLst/>
            </a:prstGeom>
            <a:solidFill>
              <a:srgbClr val="FAFCFE"/>
            </a:solidFill>
            <a:ln>
              <a:noFill/>
            </a:ln>
          </p:spPr>
        </p:sp>
        <p:sp>
          <p:nvSpPr>
            <p:cNvPr id="234" name="TextBox 234"/>
            <p:cNvSpPr txBox="1"/>
            <p:nvPr/>
          </p:nvSpPr>
          <p:spPr>
            <a:xfrm>
              <a:off x="7506076" y="530733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35" name="Rectangle 235"/>
            <p:cNvSpPr/>
            <p:nvPr/>
          </p:nvSpPr>
          <p:spPr>
            <a:xfrm>
              <a:off x="7858125" y="5229225"/>
              <a:ext cx="457200" cy="209550"/>
            </a:xfrm>
            <a:prstGeom prst="rect">
              <a:avLst/>
            </a:prstGeom>
            <a:solidFill>
              <a:srgbClr val="FAFCFE"/>
            </a:solidFill>
            <a:ln>
              <a:noFill/>
            </a:ln>
          </p:spPr>
        </p:sp>
        <p:sp>
          <p:nvSpPr>
            <p:cNvPr id="236" name="TextBox 236"/>
            <p:cNvSpPr txBox="1"/>
            <p:nvPr/>
          </p:nvSpPr>
          <p:spPr>
            <a:xfrm>
              <a:off x="8001376" y="530733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37" name="Rectangle 237"/>
            <p:cNvSpPr/>
            <p:nvPr/>
          </p:nvSpPr>
          <p:spPr>
            <a:xfrm>
              <a:off x="8353425" y="5229225"/>
              <a:ext cx="457200" cy="209550"/>
            </a:xfrm>
            <a:prstGeom prst="rect">
              <a:avLst/>
            </a:prstGeom>
            <a:solidFill>
              <a:srgbClr val="FAFCFE"/>
            </a:solidFill>
            <a:ln>
              <a:noFill/>
            </a:ln>
          </p:spPr>
        </p:sp>
        <p:sp>
          <p:nvSpPr>
            <p:cNvPr id="238" name="TextBox 238"/>
            <p:cNvSpPr txBox="1"/>
            <p:nvPr/>
          </p:nvSpPr>
          <p:spPr>
            <a:xfrm>
              <a:off x="8496676" y="530733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39" name="Rectangle 239"/>
            <p:cNvSpPr/>
            <p:nvPr/>
          </p:nvSpPr>
          <p:spPr>
            <a:xfrm>
              <a:off x="4457700" y="5467350"/>
              <a:ext cx="381000" cy="228600"/>
            </a:xfrm>
            <a:prstGeom prst="rect">
              <a:avLst/>
            </a:prstGeom>
            <a:solidFill>
              <a:srgbClr val="EAF3FB"/>
            </a:solidFill>
            <a:ln>
              <a:noFill/>
            </a:ln>
          </p:spPr>
        </p:sp>
        <p:sp>
          <p:nvSpPr>
            <p:cNvPr id="240" name="TextBox 240"/>
            <p:cNvSpPr txBox="1"/>
            <p:nvPr/>
          </p:nvSpPr>
          <p:spPr>
            <a:xfrm>
              <a:off x="4587977" y="5554980"/>
              <a:ext cx="120447"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A​</a:t>
              </a:r>
            </a:p>
          </p:txBody>
        </p:sp>
        <p:sp>
          <p:nvSpPr>
            <p:cNvPr id="241" name="Rectangle 241"/>
            <p:cNvSpPr/>
            <p:nvPr/>
          </p:nvSpPr>
          <p:spPr>
            <a:xfrm>
              <a:off x="4886325" y="5476875"/>
              <a:ext cx="457200" cy="209550"/>
            </a:xfrm>
            <a:prstGeom prst="rect">
              <a:avLst/>
            </a:prstGeom>
            <a:solidFill>
              <a:srgbClr val="FBE4E2"/>
            </a:solidFill>
            <a:ln>
              <a:noFill/>
            </a:ln>
          </p:spPr>
        </p:sp>
        <p:sp>
          <p:nvSpPr>
            <p:cNvPr id="242" name="TextBox 242"/>
            <p:cNvSpPr txBox="1"/>
            <p:nvPr/>
          </p:nvSpPr>
          <p:spPr>
            <a:xfrm>
              <a:off x="5029576" y="55549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1%​</a:t>
              </a:r>
            </a:p>
          </p:txBody>
        </p:sp>
        <p:sp>
          <p:nvSpPr>
            <p:cNvPr id="243" name="Rectangle 243"/>
            <p:cNvSpPr/>
            <p:nvPr/>
          </p:nvSpPr>
          <p:spPr>
            <a:xfrm>
              <a:off x="5381625" y="5476875"/>
              <a:ext cx="457200" cy="209550"/>
            </a:xfrm>
            <a:prstGeom prst="rect">
              <a:avLst/>
            </a:prstGeom>
            <a:solidFill>
              <a:srgbClr val="FAD6D0"/>
            </a:solidFill>
            <a:ln>
              <a:noFill/>
            </a:ln>
          </p:spPr>
        </p:sp>
        <p:sp>
          <p:nvSpPr>
            <p:cNvPr id="244" name="TextBox 244"/>
            <p:cNvSpPr txBox="1"/>
            <p:nvPr/>
          </p:nvSpPr>
          <p:spPr>
            <a:xfrm>
              <a:off x="5524876" y="55549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6%​</a:t>
              </a:r>
            </a:p>
          </p:txBody>
        </p:sp>
        <p:sp>
          <p:nvSpPr>
            <p:cNvPr id="245" name="Rectangle 245"/>
            <p:cNvSpPr/>
            <p:nvPr/>
          </p:nvSpPr>
          <p:spPr>
            <a:xfrm>
              <a:off x="5876925" y="5476875"/>
              <a:ext cx="457200" cy="209550"/>
            </a:xfrm>
            <a:prstGeom prst="rect">
              <a:avLst/>
            </a:prstGeom>
            <a:solidFill>
              <a:srgbClr val="E13A18"/>
            </a:solidFill>
            <a:ln>
              <a:noFill/>
            </a:ln>
          </p:spPr>
        </p:sp>
        <p:sp>
          <p:nvSpPr>
            <p:cNvPr id="246" name="TextBox 246"/>
            <p:cNvSpPr txBox="1"/>
            <p:nvPr/>
          </p:nvSpPr>
          <p:spPr>
            <a:xfrm>
              <a:off x="5996603" y="5554980"/>
              <a:ext cx="217844"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j-lt"/>
                  <a:ea typeface="+mj-ea"/>
                  <a:cs typeface="+mj-cs"/>
                </a:rPr>
                <a:t>86%​</a:t>
              </a:r>
            </a:p>
          </p:txBody>
        </p:sp>
        <p:sp>
          <p:nvSpPr>
            <p:cNvPr id="247" name="Rectangle 247"/>
            <p:cNvSpPr/>
            <p:nvPr/>
          </p:nvSpPr>
          <p:spPr>
            <a:xfrm>
              <a:off x="6372225" y="5476875"/>
              <a:ext cx="457200" cy="209550"/>
            </a:xfrm>
            <a:prstGeom prst="rect">
              <a:avLst/>
            </a:prstGeom>
            <a:solidFill>
              <a:srgbClr val="FAD6D0"/>
            </a:solidFill>
            <a:ln>
              <a:noFill/>
            </a:ln>
          </p:spPr>
        </p:sp>
        <p:sp>
          <p:nvSpPr>
            <p:cNvPr id="248" name="TextBox 248"/>
            <p:cNvSpPr txBox="1"/>
            <p:nvPr/>
          </p:nvSpPr>
          <p:spPr>
            <a:xfrm>
              <a:off x="6515476" y="55549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6%​</a:t>
              </a:r>
            </a:p>
          </p:txBody>
        </p:sp>
        <p:sp>
          <p:nvSpPr>
            <p:cNvPr id="249" name="Rectangle 249"/>
            <p:cNvSpPr/>
            <p:nvPr/>
          </p:nvSpPr>
          <p:spPr>
            <a:xfrm>
              <a:off x="6867525" y="5476875"/>
              <a:ext cx="457200" cy="209550"/>
            </a:xfrm>
            <a:prstGeom prst="rect">
              <a:avLst/>
            </a:prstGeom>
            <a:solidFill>
              <a:srgbClr val="FBE4E2"/>
            </a:solidFill>
            <a:ln>
              <a:noFill/>
            </a:ln>
          </p:spPr>
        </p:sp>
        <p:sp>
          <p:nvSpPr>
            <p:cNvPr id="250" name="TextBox 250"/>
            <p:cNvSpPr txBox="1"/>
            <p:nvPr/>
          </p:nvSpPr>
          <p:spPr>
            <a:xfrm>
              <a:off x="7010776" y="55549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1%​</a:t>
              </a:r>
            </a:p>
          </p:txBody>
        </p:sp>
        <p:sp>
          <p:nvSpPr>
            <p:cNvPr id="251" name="Rectangle 251"/>
            <p:cNvSpPr/>
            <p:nvPr/>
          </p:nvSpPr>
          <p:spPr>
            <a:xfrm>
              <a:off x="7362825" y="5476875"/>
              <a:ext cx="457200" cy="209550"/>
            </a:xfrm>
            <a:prstGeom prst="rect">
              <a:avLst/>
            </a:prstGeom>
            <a:solidFill>
              <a:srgbClr val="FAFCFE"/>
            </a:solidFill>
            <a:ln>
              <a:noFill/>
            </a:ln>
          </p:spPr>
        </p:sp>
        <p:sp>
          <p:nvSpPr>
            <p:cNvPr id="252" name="TextBox 252"/>
            <p:cNvSpPr txBox="1"/>
            <p:nvPr/>
          </p:nvSpPr>
          <p:spPr>
            <a:xfrm>
              <a:off x="7506076" y="55549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53" name="Rectangle 253"/>
            <p:cNvSpPr/>
            <p:nvPr/>
          </p:nvSpPr>
          <p:spPr>
            <a:xfrm>
              <a:off x="7858125" y="5476875"/>
              <a:ext cx="457200" cy="209550"/>
            </a:xfrm>
            <a:prstGeom prst="rect">
              <a:avLst/>
            </a:prstGeom>
            <a:solidFill>
              <a:srgbClr val="FAFCFE"/>
            </a:solidFill>
            <a:ln>
              <a:noFill/>
            </a:ln>
          </p:spPr>
        </p:sp>
        <p:sp>
          <p:nvSpPr>
            <p:cNvPr id="254" name="TextBox 254"/>
            <p:cNvSpPr txBox="1"/>
            <p:nvPr/>
          </p:nvSpPr>
          <p:spPr>
            <a:xfrm>
              <a:off x="8001376" y="55549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55" name="Rectangle 255"/>
            <p:cNvSpPr/>
            <p:nvPr/>
          </p:nvSpPr>
          <p:spPr>
            <a:xfrm>
              <a:off x="8353425" y="5476875"/>
              <a:ext cx="457200" cy="209550"/>
            </a:xfrm>
            <a:prstGeom prst="rect">
              <a:avLst/>
            </a:prstGeom>
            <a:solidFill>
              <a:srgbClr val="FAFCFE"/>
            </a:solidFill>
            <a:ln>
              <a:noFill/>
            </a:ln>
          </p:spPr>
        </p:sp>
        <p:sp>
          <p:nvSpPr>
            <p:cNvPr id="256" name="TextBox 256"/>
            <p:cNvSpPr txBox="1"/>
            <p:nvPr/>
          </p:nvSpPr>
          <p:spPr>
            <a:xfrm>
              <a:off x="8496676" y="55549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57" name="Rectangle 257"/>
            <p:cNvSpPr/>
            <p:nvPr/>
          </p:nvSpPr>
          <p:spPr>
            <a:xfrm>
              <a:off x="4457700" y="5715000"/>
              <a:ext cx="381000" cy="228600"/>
            </a:xfrm>
            <a:prstGeom prst="rect">
              <a:avLst/>
            </a:prstGeom>
            <a:solidFill>
              <a:srgbClr val="EAF3FB"/>
            </a:solidFill>
            <a:ln>
              <a:noFill/>
            </a:ln>
          </p:spPr>
        </p:sp>
        <p:sp>
          <p:nvSpPr>
            <p:cNvPr id="258" name="TextBox 258"/>
            <p:cNvSpPr txBox="1"/>
            <p:nvPr/>
          </p:nvSpPr>
          <p:spPr>
            <a:xfrm>
              <a:off x="4526341" y="5802630"/>
              <a:ext cx="243717"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BBB​</a:t>
              </a:r>
            </a:p>
          </p:txBody>
        </p:sp>
        <p:sp>
          <p:nvSpPr>
            <p:cNvPr id="259" name="Rectangle 259"/>
            <p:cNvSpPr/>
            <p:nvPr/>
          </p:nvSpPr>
          <p:spPr>
            <a:xfrm>
              <a:off x="4886325" y="5724525"/>
              <a:ext cx="457200" cy="209550"/>
            </a:xfrm>
            <a:prstGeom prst="rect">
              <a:avLst/>
            </a:prstGeom>
            <a:solidFill>
              <a:srgbClr val="FAFCFE"/>
            </a:solidFill>
            <a:ln>
              <a:noFill/>
            </a:ln>
          </p:spPr>
        </p:sp>
        <p:sp>
          <p:nvSpPr>
            <p:cNvPr id="260" name="TextBox 260"/>
            <p:cNvSpPr txBox="1"/>
            <p:nvPr/>
          </p:nvSpPr>
          <p:spPr>
            <a:xfrm>
              <a:off x="5029576" y="580263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61" name="Rectangle 261"/>
            <p:cNvSpPr/>
            <p:nvPr/>
          </p:nvSpPr>
          <p:spPr>
            <a:xfrm>
              <a:off x="5381625" y="5724525"/>
              <a:ext cx="457200" cy="209550"/>
            </a:xfrm>
            <a:prstGeom prst="rect">
              <a:avLst/>
            </a:prstGeom>
            <a:solidFill>
              <a:srgbClr val="FBE4E2"/>
            </a:solidFill>
            <a:ln>
              <a:noFill/>
            </a:ln>
          </p:spPr>
        </p:sp>
        <p:sp>
          <p:nvSpPr>
            <p:cNvPr id="262" name="TextBox 262"/>
            <p:cNvSpPr txBox="1"/>
            <p:nvPr/>
          </p:nvSpPr>
          <p:spPr>
            <a:xfrm>
              <a:off x="5524876" y="580263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2%​</a:t>
              </a:r>
            </a:p>
          </p:txBody>
        </p:sp>
        <p:sp>
          <p:nvSpPr>
            <p:cNvPr id="263" name="Rectangle 263"/>
            <p:cNvSpPr/>
            <p:nvPr/>
          </p:nvSpPr>
          <p:spPr>
            <a:xfrm>
              <a:off x="5876925" y="5724525"/>
              <a:ext cx="457200" cy="209550"/>
            </a:xfrm>
            <a:prstGeom prst="rect">
              <a:avLst/>
            </a:prstGeom>
            <a:solidFill>
              <a:srgbClr val="F8C4BB"/>
            </a:solidFill>
            <a:ln>
              <a:noFill/>
            </a:ln>
          </p:spPr>
        </p:sp>
        <p:sp>
          <p:nvSpPr>
            <p:cNvPr id="264" name="TextBox 264"/>
            <p:cNvSpPr txBox="1"/>
            <p:nvPr/>
          </p:nvSpPr>
          <p:spPr>
            <a:xfrm>
              <a:off x="6020176" y="580263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8%​</a:t>
              </a:r>
            </a:p>
          </p:txBody>
        </p:sp>
        <p:sp>
          <p:nvSpPr>
            <p:cNvPr id="265" name="Rectangle 265"/>
            <p:cNvSpPr/>
            <p:nvPr/>
          </p:nvSpPr>
          <p:spPr>
            <a:xfrm>
              <a:off x="6372225" y="5724525"/>
              <a:ext cx="457200" cy="209550"/>
            </a:xfrm>
            <a:prstGeom prst="rect">
              <a:avLst/>
            </a:prstGeom>
            <a:solidFill>
              <a:srgbClr val="E13A18"/>
            </a:solidFill>
            <a:ln>
              <a:noFill/>
            </a:ln>
          </p:spPr>
        </p:sp>
        <p:sp>
          <p:nvSpPr>
            <p:cNvPr id="266" name="TextBox 266"/>
            <p:cNvSpPr txBox="1"/>
            <p:nvPr/>
          </p:nvSpPr>
          <p:spPr>
            <a:xfrm>
              <a:off x="6491903" y="5802630"/>
              <a:ext cx="217844"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j-lt"/>
                  <a:ea typeface="+mj-ea"/>
                  <a:cs typeface="+mj-cs"/>
                </a:rPr>
                <a:t>84%​</a:t>
              </a:r>
            </a:p>
          </p:txBody>
        </p:sp>
        <p:sp>
          <p:nvSpPr>
            <p:cNvPr id="267" name="Rectangle 267"/>
            <p:cNvSpPr/>
            <p:nvPr/>
          </p:nvSpPr>
          <p:spPr>
            <a:xfrm>
              <a:off x="6867525" y="5724525"/>
              <a:ext cx="457200" cy="209550"/>
            </a:xfrm>
            <a:prstGeom prst="rect">
              <a:avLst/>
            </a:prstGeom>
            <a:solidFill>
              <a:srgbClr val="FAD6D0"/>
            </a:solidFill>
            <a:ln>
              <a:noFill/>
            </a:ln>
          </p:spPr>
        </p:sp>
        <p:sp>
          <p:nvSpPr>
            <p:cNvPr id="268" name="TextBox 268"/>
            <p:cNvSpPr txBox="1"/>
            <p:nvPr/>
          </p:nvSpPr>
          <p:spPr>
            <a:xfrm>
              <a:off x="7010776" y="580263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5%​</a:t>
              </a:r>
            </a:p>
          </p:txBody>
        </p:sp>
        <p:sp>
          <p:nvSpPr>
            <p:cNvPr id="269" name="Rectangle 269"/>
            <p:cNvSpPr/>
            <p:nvPr/>
          </p:nvSpPr>
          <p:spPr>
            <a:xfrm>
              <a:off x="7362825" y="5724525"/>
              <a:ext cx="457200" cy="209550"/>
            </a:xfrm>
            <a:prstGeom prst="rect">
              <a:avLst/>
            </a:prstGeom>
            <a:solidFill>
              <a:srgbClr val="FBE4E2"/>
            </a:solidFill>
            <a:ln>
              <a:noFill/>
            </a:ln>
          </p:spPr>
        </p:sp>
        <p:sp>
          <p:nvSpPr>
            <p:cNvPr id="270" name="TextBox 270"/>
            <p:cNvSpPr txBox="1"/>
            <p:nvPr/>
          </p:nvSpPr>
          <p:spPr>
            <a:xfrm>
              <a:off x="7506076" y="580263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1%​</a:t>
              </a:r>
            </a:p>
          </p:txBody>
        </p:sp>
        <p:sp>
          <p:nvSpPr>
            <p:cNvPr id="271" name="Rectangle 271"/>
            <p:cNvSpPr/>
            <p:nvPr/>
          </p:nvSpPr>
          <p:spPr>
            <a:xfrm>
              <a:off x="7858125" y="5724525"/>
              <a:ext cx="457200" cy="209550"/>
            </a:xfrm>
            <a:prstGeom prst="rect">
              <a:avLst/>
            </a:prstGeom>
            <a:solidFill>
              <a:srgbClr val="FAFCFE"/>
            </a:solidFill>
            <a:ln>
              <a:noFill/>
            </a:ln>
          </p:spPr>
        </p:sp>
        <p:sp>
          <p:nvSpPr>
            <p:cNvPr id="272" name="TextBox 272"/>
            <p:cNvSpPr txBox="1"/>
            <p:nvPr/>
          </p:nvSpPr>
          <p:spPr>
            <a:xfrm>
              <a:off x="8001376" y="580263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73" name="Rectangle 273"/>
            <p:cNvSpPr/>
            <p:nvPr/>
          </p:nvSpPr>
          <p:spPr>
            <a:xfrm>
              <a:off x="8353425" y="5724525"/>
              <a:ext cx="457200" cy="209550"/>
            </a:xfrm>
            <a:prstGeom prst="rect">
              <a:avLst/>
            </a:prstGeom>
            <a:solidFill>
              <a:srgbClr val="FAFCFE"/>
            </a:solidFill>
            <a:ln>
              <a:noFill/>
            </a:ln>
          </p:spPr>
        </p:sp>
        <p:sp>
          <p:nvSpPr>
            <p:cNvPr id="274" name="TextBox 274"/>
            <p:cNvSpPr txBox="1"/>
            <p:nvPr/>
          </p:nvSpPr>
          <p:spPr>
            <a:xfrm>
              <a:off x="8496676" y="580263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75" name="Rectangle 275"/>
            <p:cNvSpPr/>
            <p:nvPr/>
          </p:nvSpPr>
          <p:spPr>
            <a:xfrm>
              <a:off x="4457700" y="5962650"/>
              <a:ext cx="381000" cy="228600"/>
            </a:xfrm>
            <a:prstGeom prst="rect">
              <a:avLst/>
            </a:prstGeom>
            <a:solidFill>
              <a:srgbClr val="EAF3FB"/>
            </a:solidFill>
            <a:ln>
              <a:noFill/>
            </a:ln>
          </p:spPr>
        </p:sp>
        <p:sp>
          <p:nvSpPr>
            <p:cNvPr id="276" name="TextBox 276"/>
            <p:cNvSpPr txBox="1"/>
            <p:nvPr/>
          </p:nvSpPr>
          <p:spPr>
            <a:xfrm>
              <a:off x="4557159" y="6050280"/>
              <a:ext cx="182082" cy="119062"/>
            </a:xfrm>
            <a:prstGeom prst="rect">
              <a:avLst/>
            </a:prstGeom>
            <a:noFill/>
            <a:ln>
              <a:noFill/>
            </a:ln>
          </p:spPr>
          <p:txBody>
            <a:bodyPr wrap="none" lIns="0" tIns="0" rIns="0" bIns="0" anchor="t" anchorCtr="0">
              <a:spAutoFit/>
            </a:bodyPr>
            <a:lstStyle/>
            <a:p>
              <a:pPr algn="ctr"/>
              <a:r>
                <a:rPr lang="en-US" sz="600" b="1" dirty="0">
                  <a:solidFill>
                    <a:srgbClr val="9E311B"/>
                  </a:solidFill>
                  <a:latin typeface="+mj-lt"/>
                  <a:ea typeface="+mj-ea"/>
                  <a:cs typeface="+mj-cs"/>
                </a:rPr>
                <a:t>BB​</a:t>
              </a:r>
            </a:p>
          </p:txBody>
        </p:sp>
        <p:sp>
          <p:nvSpPr>
            <p:cNvPr id="277" name="Rectangle 277"/>
            <p:cNvSpPr/>
            <p:nvPr/>
          </p:nvSpPr>
          <p:spPr>
            <a:xfrm>
              <a:off x="4886325" y="5972175"/>
              <a:ext cx="457200" cy="209550"/>
            </a:xfrm>
            <a:prstGeom prst="rect">
              <a:avLst/>
            </a:prstGeom>
            <a:solidFill>
              <a:srgbClr val="FAFCFE"/>
            </a:solidFill>
            <a:ln>
              <a:noFill/>
            </a:ln>
          </p:spPr>
        </p:sp>
        <p:sp>
          <p:nvSpPr>
            <p:cNvPr id="278" name="TextBox 278"/>
            <p:cNvSpPr txBox="1"/>
            <p:nvPr/>
          </p:nvSpPr>
          <p:spPr>
            <a:xfrm>
              <a:off x="5029576" y="60502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79" name="Rectangle 279"/>
            <p:cNvSpPr/>
            <p:nvPr/>
          </p:nvSpPr>
          <p:spPr>
            <a:xfrm>
              <a:off x="5381625" y="5972175"/>
              <a:ext cx="457200" cy="209550"/>
            </a:xfrm>
            <a:prstGeom prst="rect">
              <a:avLst/>
            </a:prstGeom>
            <a:solidFill>
              <a:srgbClr val="FAFCFE"/>
            </a:solidFill>
            <a:ln>
              <a:noFill/>
            </a:ln>
          </p:spPr>
        </p:sp>
        <p:sp>
          <p:nvSpPr>
            <p:cNvPr id="280" name="TextBox 280"/>
            <p:cNvSpPr txBox="1"/>
            <p:nvPr/>
          </p:nvSpPr>
          <p:spPr>
            <a:xfrm>
              <a:off x="5524876" y="60502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81" name="Rectangle 281"/>
            <p:cNvSpPr/>
            <p:nvPr/>
          </p:nvSpPr>
          <p:spPr>
            <a:xfrm>
              <a:off x="5876925" y="5972175"/>
              <a:ext cx="457200" cy="209550"/>
            </a:xfrm>
            <a:prstGeom prst="rect">
              <a:avLst/>
            </a:prstGeom>
            <a:solidFill>
              <a:srgbClr val="FBE4E2"/>
            </a:solidFill>
            <a:ln>
              <a:noFill/>
            </a:ln>
          </p:spPr>
        </p:sp>
        <p:sp>
          <p:nvSpPr>
            <p:cNvPr id="282" name="TextBox 282"/>
            <p:cNvSpPr txBox="1"/>
            <p:nvPr/>
          </p:nvSpPr>
          <p:spPr>
            <a:xfrm>
              <a:off x="6020176" y="60502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2%​</a:t>
              </a:r>
            </a:p>
          </p:txBody>
        </p:sp>
        <p:sp>
          <p:nvSpPr>
            <p:cNvPr id="283" name="Rectangle 283"/>
            <p:cNvSpPr/>
            <p:nvPr/>
          </p:nvSpPr>
          <p:spPr>
            <a:xfrm>
              <a:off x="6372225" y="5972175"/>
              <a:ext cx="457200" cy="209550"/>
            </a:xfrm>
            <a:prstGeom prst="rect">
              <a:avLst/>
            </a:prstGeom>
            <a:solidFill>
              <a:srgbClr val="F8C4BB"/>
            </a:solidFill>
            <a:ln>
              <a:noFill/>
            </a:ln>
          </p:spPr>
        </p:sp>
        <p:sp>
          <p:nvSpPr>
            <p:cNvPr id="284" name="TextBox 284"/>
            <p:cNvSpPr txBox="1"/>
            <p:nvPr/>
          </p:nvSpPr>
          <p:spPr>
            <a:xfrm>
              <a:off x="6515476" y="60502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8%​</a:t>
              </a:r>
            </a:p>
          </p:txBody>
        </p:sp>
        <p:sp>
          <p:nvSpPr>
            <p:cNvPr id="285" name="Rectangle 285"/>
            <p:cNvSpPr/>
            <p:nvPr/>
          </p:nvSpPr>
          <p:spPr>
            <a:xfrm>
              <a:off x="6867525" y="5972175"/>
              <a:ext cx="457200" cy="209550"/>
            </a:xfrm>
            <a:prstGeom prst="rect">
              <a:avLst/>
            </a:prstGeom>
            <a:solidFill>
              <a:srgbClr val="E13A18"/>
            </a:solidFill>
            <a:ln>
              <a:noFill/>
            </a:ln>
          </p:spPr>
        </p:sp>
        <p:sp>
          <p:nvSpPr>
            <p:cNvPr id="286" name="TextBox 286"/>
            <p:cNvSpPr txBox="1"/>
            <p:nvPr/>
          </p:nvSpPr>
          <p:spPr>
            <a:xfrm>
              <a:off x="6987203" y="6050280"/>
              <a:ext cx="217844"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j-lt"/>
                  <a:ea typeface="+mj-ea"/>
                  <a:cs typeface="+mj-cs"/>
                </a:rPr>
                <a:t>80%​</a:t>
              </a:r>
            </a:p>
          </p:txBody>
        </p:sp>
        <p:sp>
          <p:nvSpPr>
            <p:cNvPr id="287" name="Rectangle 287"/>
            <p:cNvSpPr/>
            <p:nvPr/>
          </p:nvSpPr>
          <p:spPr>
            <a:xfrm>
              <a:off x="7362825" y="5972175"/>
              <a:ext cx="457200" cy="209550"/>
            </a:xfrm>
            <a:prstGeom prst="rect">
              <a:avLst/>
            </a:prstGeom>
            <a:solidFill>
              <a:srgbClr val="FAD6D0"/>
            </a:solidFill>
            <a:ln>
              <a:noFill/>
            </a:ln>
          </p:spPr>
        </p:sp>
        <p:sp>
          <p:nvSpPr>
            <p:cNvPr id="288" name="TextBox 288"/>
            <p:cNvSpPr txBox="1"/>
            <p:nvPr/>
          </p:nvSpPr>
          <p:spPr>
            <a:xfrm>
              <a:off x="7506076" y="60502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8%​</a:t>
              </a:r>
            </a:p>
          </p:txBody>
        </p:sp>
        <p:sp>
          <p:nvSpPr>
            <p:cNvPr id="289" name="Rectangle 289"/>
            <p:cNvSpPr/>
            <p:nvPr/>
          </p:nvSpPr>
          <p:spPr>
            <a:xfrm>
              <a:off x="7858125" y="5972175"/>
              <a:ext cx="457200" cy="209550"/>
            </a:xfrm>
            <a:prstGeom prst="rect">
              <a:avLst/>
            </a:prstGeom>
            <a:solidFill>
              <a:srgbClr val="FBE4E2"/>
            </a:solidFill>
            <a:ln>
              <a:noFill/>
            </a:ln>
          </p:spPr>
        </p:sp>
        <p:sp>
          <p:nvSpPr>
            <p:cNvPr id="290" name="TextBox 290"/>
            <p:cNvSpPr txBox="1"/>
            <p:nvPr/>
          </p:nvSpPr>
          <p:spPr>
            <a:xfrm>
              <a:off x="8001376" y="6050280"/>
              <a:ext cx="170697" cy="119062"/>
            </a:xfrm>
            <a:prstGeom prst="rect">
              <a:avLst/>
            </a:prstGeom>
            <a:noFill/>
            <a:ln>
              <a:noFill/>
            </a:ln>
          </p:spPr>
          <p:txBody>
            <a:bodyPr wrap="none" lIns="0" tIns="0" rIns="0" bIns="0" anchor="t" anchorCtr="0">
              <a:spAutoFit/>
            </a:bodyPr>
            <a:lstStyle/>
            <a:p>
              <a:pPr algn="ctr"/>
              <a:r>
                <a:rPr lang="zh-CN" sz="600" dirty="0">
                  <a:solidFill>
                    <a:srgbClr val="7A4A42"/>
                  </a:solidFill>
                  <a:latin typeface="+mj-lt"/>
                  <a:ea typeface="+mj-ea"/>
                  <a:cs typeface="+mj-cs"/>
                </a:rPr>
                <a:t>2%​</a:t>
              </a:r>
            </a:p>
          </p:txBody>
        </p:sp>
        <p:sp>
          <p:nvSpPr>
            <p:cNvPr id="291" name="Rectangle 291"/>
            <p:cNvSpPr/>
            <p:nvPr/>
          </p:nvSpPr>
          <p:spPr>
            <a:xfrm>
              <a:off x="8353425" y="5972175"/>
              <a:ext cx="457200" cy="209550"/>
            </a:xfrm>
            <a:prstGeom prst="rect">
              <a:avLst/>
            </a:prstGeom>
            <a:solidFill>
              <a:srgbClr val="FAFCFE"/>
            </a:solidFill>
            <a:ln>
              <a:noFill/>
            </a:ln>
          </p:spPr>
        </p:sp>
        <p:sp>
          <p:nvSpPr>
            <p:cNvPr id="292" name="TextBox 292"/>
            <p:cNvSpPr txBox="1"/>
            <p:nvPr/>
          </p:nvSpPr>
          <p:spPr>
            <a:xfrm>
              <a:off x="8496676" y="6050280"/>
              <a:ext cx="170697" cy="119062"/>
            </a:xfrm>
            <a:prstGeom prst="rect">
              <a:avLst/>
            </a:prstGeom>
            <a:noFill/>
            <a:ln>
              <a:noFill/>
            </a:ln>
          </p:spPr>
          <p:txBody>
            <a:bodyPr wrap="none" lIns="0" tIns="0" rIns="0" bIns="0" anchor="t" anchorCtr="0">
              <a:spAutoFit/>
            </a:bodyPr>
            <a:lstStyle/>
            <a:p>
              <a:pPr algn="ctr"/>
              <a:r>
                <a:rPr lang="zh-CN" sz="600" dirty="0">
                  <a:solidFill>
                    <a:srgbClr val="C4988F"/>
                  </a:solidFill>
                  <a:latin typeface="+mj-lt"/>
                  <a:ea typeface="+mj-ea"/>
                  <a:cs typeface="+mj-cs"/>
                </a:rPr>
                <a:t>0%​</a:t>
              </a:r>
            </a:p>
          </p:txBody>
        </p:sp>
        <p:sp>
          <p:nvSpPr>
            <p:cNvPr id="293" name="TextBox 293"/>
            <p:cNvSpPr txBox="1"/>
            <p:nvPr/>
          </p:nvSpPr>
          <p:spPr>
            <a:xfrm>
              <a:off x="5391721" y="6355080"/>
              <a:ext cx="2513457" cy="119062"/>
            </a:xfrm>
            <a:prstGeom prst="rect">
              <a:avLst/>
            </a:prstGeom>
            <a:noFill/>
            <a:ln>
              <a:noFill/>
            </a:ln>
          </p:spPr>
          <p:txBody>
            <a:bodyPr wrap="none" lIns="0" tIns="0" rIns="0" bIns="0" anchor="t" anchorCtr="0">
              <a:spAutoFit/>
            </a:bodyPr>
            <a:lstStyle/>
            <a:p>
              <a:pPr algn="ctr"/>
              <a:r>
                <a:rPr lang="zh-CN" sz="600" dirty="0">
                  <a:solidFill>
                    <a:srgbClr val="8C716B"/>
                  </a:solidFill>
                  <a:latin typeface="+mn-lt"/>
                  <a:ea typeface="+mn-ea"/>
                  <a:cs typeface="+mn-cs"/>
                </a:rPr>
                <a:t>评级迁移反映客户风险的动态变化，是风险监控和模型验证的重要依据</a:t>
              </a:r>
            </a:p>
          </p:txBody>
        </p:sp>
      </p:grpSp>
      <p:grpSp>
        <p:nvGrpSpPr>
          <p:cNvPr id="323" name="why-ruler"/>
          <p:cNvGrpSpPr/>
          <p:nvPr/>
        </p:nvGrpSpPr>
        <p:grpSpPr>
          <a:xfrm>
            <a:off x="9067800" y="4381500"/>
            <a:ext cx="2933700" cy="2190750"/>
            <a:chOff x="9067800" y="4381500"/>
            <a:chExt cx="2933700" cy="2190750"/>
          </a:xfrm>
        </p:grpSpPr>
        <p:sp>
          <p:nvSpPr>
            <p:cNvPr id="295" name="Rectangle 295"/>
            <p:cNvSpPr/>
            <p:nvPr/>
          </p:nvSpPr>
          <p:spPr>
            <a:xfrm>
              <a:off x="9067800" y="4381500"/>
              <a:ext cx="2933700" cy="2190750"/>
            </a:xfrm>
            <a:prstGeom prst="roundRect">
              <a:avLst>
                <a:gd name="adj" fmla="val 3478"/>
              </a:avLst>
            </a:prstGeom>
            <a:solidFill>
              <a:srgbClr val="F0F7FD"/>
            </a:solidFill>
            <a:ln w="9525">
              <a:solidFill>
                <a:srgbClr val="CFE2F2"/>
              </a:solidFill>
            </a:ln>
          </p:spPr>
        </p:sp>
        <p:grpSp>
          <p:nvGrpSpPr>
            <p:cNvPr id="299" name="Group 299"/>
            <p:cNvGrpSpPr/>
            <p:nvPr/>
          </p:nvGrpSpPr>
          <p:grpSpPr>
            <a:xfrm>
              <a:off x="9220200" y="4457700"/>
              <a:ext cx="114300" cy="114300"/>
              <a:chOff x="9220200" y="4457700"/>
              <a:chExt cx="114300" cy="114300"/>
            </a:xfrm>
          </p:grpSpPr>
          <p:sp>
            <p:nvSpPr>
              <p:cNvPr id="296" name="Freeform 296"/>
              <p:cNvSpPr/>
              <p:nvPr/>
            </p:nvSpPr>
            <p:spPr>
              <a:xfrm>
                <a:off x="9220200" y="445770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E83313"/>
                </a:solidFill>
              </a:ln>
            </p:spPr>
          </p:sp>
          <p:sp>
            <p:nvSpPr>
              <p:cNvPr id="297" name="Freeform 297"/>
              <p:cNvSpPr/>
              <p:nvPr/>
            </p:nvSpPr>
            <p:spPr>
              <a:xfrm>
                <a:off x="9242908" y="448310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E83313"/>
                </a:solidFill>
              </a:ln>
            </p:spPr>
          </p:sp>
          <p:sp>
            <p:nvSpPr>
              <p:cNvPr id="298" name="Freeform 298"/>
              <p:cNvSpPr/>
              <p:nvPr/>
            </p:nvSpPr>
            <p:spPr>
              <a:xfrm>
                <a:off x="9262745" y="4546600"/>
                <a:ext cx="29210" cy="9525"/>
              </a:xfrm>
              <a:custGeom>
                <a:avLst/>
                <a:gdLst/>
                <a:ahLst/>
                <a:cxnLst/>
                <a:rect l="l" t="t" r="r" b="b"/>
                <a:pathLst>
                  <a:path w="29210" h="9525">
                    <a:moveTo>
                      <a:pt x="0" y="0"/>
                    </a:moveTo>
                    <a:lnTo>
                      <a:pt x="29210" y="0"/>
                    </a:lnTo>
                  </a:path>
                </a:pathLst>
              </a:custGeom>
              <a:noFill/>
              <a:ln w="12700">
                <a:solidFill>
                  <a:srgbClr val="E83313"/>
                </a:solidFill>
              </a:ln>
            </p:spPr>
          </p:sp>
        </p:grpSp>
        <p:sp>
          <p:nvSpPr>
            <p:cNvPr id="300" name="TextBox 300"/>
            <p:cNvSpPr txBox="1"/>
            <p:nvPr/>
          </p:nvSpPr>
          <p:spPr>
            <a:xfrm>
              <a:off x="9405938" y="4469368"/>
              <a:ext cx="935711" cy="169069"/>
            </a:xfrm>
            <a:prstGeom prst="rect">
              <a:avLst/>
            </a:prstGeom>
            <a:noFill/>
            <a:ln>
              <a:noFill/>
            </a:ln>
          </p:spPr>
          <p:txBody>
            <a:bodyPr wrap="none" lIns="0" tIns="0" rIns="0" bIns="0" anchor="t" anchorCtr="0">
              <a:spAutoFit/>
            </a:bodyPr>
            <a:lstStyle/>
            <a:p>
              <a:pPr algn="l"/>
              <a:r>
                <a:rPr lang="zh-CN" sz="860" b="1" dirty="0">
                  <a:solidFill>
                    <a:srgbClr val="3E1810"/>
                  </a:solidFill>
                  <a:latin typeface="+mn-lt"/>
                  <a:ea typeface="+mn-ea"/>
                  <a:cs typeface="+mn-cs"/>
                </a:rPr>
                <a:t>为什么主标尺重要</a:t>
              </a:r>
            </a:p>
          </p:txBody>
        </p:sp>
        <p:grpSp>
          <p:nvGrpSpPr>
            <p:cNvPr id="306" name="Group 306"/>
            <p:cNvGrpSpPr/>
            <p:nvPr/>
          </p:nvGrpSpPr>
          <p:grpSpPr>
            <a:xfrm>
              <a:off x="9241631" y="4774406"/>
              <a:ext cx="128587" cy="130969"/>
              <a:chOff x="9241631" y="4774406"/>
              <a:chExt cx="128587" cy="130969"/>
            </a:xfrm>
          </p:grpSpPr>
          <p:sp>
            <p:nvSpPr>
              <p:cNvPr id="301" name="Freeform 301"/>
              <p:cNvSpPr/>
              <p:nvPr/>
            </p:nvSpPr>
            <p:spPr>
              <a:xfrm>
                <a:off x="9270206" y="4895850"/>
                <a:ext cx="71438" cy="9525"/>
              </a:xfrm>
              <a:custGeom>
                <a:avLst/>
                <a:gdLst/>
                <a:ahLst/>
                <a:cxnLst/>
                <a:rect l="l" t="t" r="r" b="b"/>
                <a:pathLst>
                  <a:path w="71438" h="9525">
                    <a:moveTo>
                      <a:pt x="0" y="0"/>
                    </a:moveTo>
                    <a:lnTo>
                      <a:pt x="71438" y="0"/>
                    </a:lnTo>
                  </a:path>
                </a:pathLst>
              </a:custGeom>
              <a:noFill/>
              <a:ln w="14288">
                <a:solidFill>
                  <a:srgbClr val="C4472E"/>
                </a:solidFill>
              </a:ln>
            </p:spPr>
          </p:sp>
          <p:sp>
            <p:nvSpPr>
              <p:cNvPr id="302" name="Freeform 302"/>
              <p:cNvSpPr/>
              <p:nvPr/>
            </p:nvSpPr>
            <p:spPr>
              <a:xfrm>
                <a:off x="9263062" y="4788694"/>
                <a:ext cx="85725" cy="9525"/>
              </a:xfrm>
              <a:custGeom>
                <a:avLst/>
                <a:gdLst/>
                <a:ahLst/>
                <a:cxnLst/>
                <a:rect l="l" t="t" r="r" b="b"/>
                <a:pathLst>
                  <a:path w="85725" h="9525">
                    <a:moveTo>
                      <a:pt x="0" y="7144"/>
                    </a:moveTo>
                    <a:lnTo>
                      <a:pt x="42862" y="0"/>
                    </a:lnTo>
                    <a:lnTo>
                      <a:pt x="85725" y="7144"/>
                    </a:lnTo>
                  </a:path>
                </a:pathLst>
              </a:custGeom>
              <a:noFill/>
              <a:ln w="14288">
                <a:solidFill>
                  <a:srgbClr val="C4472E"/>
                </a:solidFill>
              </a:ln>
            </p:spPr>
          </p:sp>
          <p:sp>
            <p:nvSpPr>
              <p:cNvPr id="303" name="Freeform 303"/>
              <p:cNvSpPr/>
              <p:nvPr/>
            </p:nvSpPr>
            <p:spPr>
              <a:xfrm>
                <a:off x="9305925" y="4774406"/>
                <a:ext cx="9525" cy="121444"/>
              </a:xfrm>
              <a:custGeom>
                <a:avLst/>
                <a:gdLst/>
                <a:ahLst/>
                <a:cxnLst/>
                <a:rect l="l" t="t" r="r" b="b"/>
                <a:pathLst>
                  <a:path w="9525" h="121444">
                    <a:moveTo>
                      <a:pt x="0" y="0"/>
                    </a:moveTo>
                    <a:lnTo>
                      <a:pt x="0" y="121444"/>
                    </a:lnTo>
                  </a:path>
                </a:pathLst>
              </a:custGeom>
              <a:noFill/>
              <a:ln w="14288">
                <a:solidFill>
                  <a:srgbClr val="C4472E"/>
                </a:solidFill>
              </a:ln>
            </p:spPr>
          </p:sp>
          <p:sp>
            <p:nvSpPr>
              <p:cNvPr id="304" name="Freeform 304"/>
              <p:cNvSpPr/>
              <p:nvPr/>
            </p:nvSpPr>
            <p:spPr>
              <a:xfrm>
                <a:off x="9241631" y="4795838"/>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C4472E"/>
                </a:solidFill>
              </a:ln>
            </p:spPr>
          </p:sp>
          <p:sp>
            <p:nvSpPr>
              <p:cNvPr id="305" name="Freeform 305"/>
              <p:cNvSpPr/>
              <p:nvPr/>
            </p:nvSpPr>
            <p:spPr>
              <a:xfrm>
                <a:off x="9327356" y="4795838"/>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C4472E"/>
                </a:solidFill>
              </a:ln>
            </p:spPr>
          </p:sp>
        </p:grpSp>
        <p:sp>
          <p:nvSpPr>
            <p:cNvPr id="307" name="TextBox 307"/>
            <p:cNvSpPr txBox="1"/>
            <p:nvPr/>
          </p:nvSpPr>
          <p:spPr>
            <a:xfrm>
              <a:off x="9482138" y="4791789"/>
              <a:ext cx="6476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统一风险语言</a:t>
              </a:r>
            </a:p>
          </p:txBody>
        </p:sp>
        <p:sp>
          <p:nvSpPr>
            <p:cNvPr id="308" name="TextBox 308"/>
            <p:cNvSpPr txBox="1"/>
            <p:nvPr/>
          </p:nvSpPr>
          <p:spPr>
            <a:xfrm>
              <a:off x="9482138" y="4964430"/>
              <a:ext cx="1278636"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将连续的PD转化为标准化的等级，​</a:t>
              </a:r>
            </a:p>
          </p:txBody>
        </p:sp>
        <p:sp>
          <p:nvSpPr>
            <p:cNvPr id="309" name="TextBox 309"/>
            <p:cNvSpPr txBox="1"/>
            <p:nvPr/>
          </p:nvSpPr>
          <p:spPr>
            <a:xfrm>
              <a:off x="9482138" y="5088255"/>
              <a:ext cx="736473"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便于内部沟通与对标</a:t>
              </a:r>
            </a:p>
          </p:txBody>
        </p:sp>
        <p:grpSp>
          <p:nvGrpSpPr>
            <p:cNvPr id="313" name="Group 313"/>
            <p:cNvGrpSpPr/>
            <p:nvPr/>
          </p:nvGrpSpPr>
          <p:grpSpPr>
            <a:xfrm>
              <a:off x="9248774" y="5368610"/>
              <a:ext cx="117780" cy="121265"/>
              <a:chOff x="9248774" y="5368610"/>
              <a:chExt cx="117780" cy="121265"/>
            </a:xfrm>
          </p:grpSpPr>
          <p:sp>
            <p:nvSpPr>
              <p:cNvPr id="310" name="Freeform 310"/>
              <p:cNvSpPr/>
              <p:nvPr/>
            </p:nvSpPr>
            <p:spPr>
              <a:xfrm>
                <a:off x="9284494" y="5407819"/>
                <a:ext cx="42862" cy="42862"/>
              </a:xfrm>
              <a:custGeom>
                <a:avLst/>
                <a:gdLst/>
                <a:ahLst/>
                <a:cxnLst/>
                <a:rect l="l" t="t" r="r" b="b"/>
                <a:pathLst>
                  <a:path w="42862" h="42862">
                    <a:moveTo>
                      <a:pt x="0" y="42862"/>
                    </a:moveTo>
                    <a:lnTo>
                      <a:pt x="42862" y="0"/>
                    </a:lnTo>
                  </a:path>
                </a:pathLst>
              </a:custGeom>
              <a:noFill/>
              <a:ln w="14288">
                <a:solidFill>
                  <a:srgbClr val="C4472E"/>
                </a:solidFill>
              </a:ln>
            </p:spPr>
          </p:sp>
          <p:sp>
            <p:nvSpPr>
              <p:cNvPr id="311" name="Freeform 311"/>
              <p:cNvSpPr/>
              <p:nvPr/>
            </p:nvSpPr>
            <p:spPr>
              <a:xfrm>
                <a:off x="9298781" y="5368610"/>
                <a:ext cx="67773" cy="67784"/>
              </a:xfrm>
              <a:custGeom>
                <a:avLst/>
                <a:gdLst/>
                <a:ahLst/>
                <a:cxnLst/>
                <a:rect l="l" t="t" r="r" b="b"/>
                <a:pathLst>
                  <a:path w="67773" h="67784">
                    <a:moveTo>
                      <a:pt x="0" y="17778"/>
                    </a:moveTo>
                    <a:lnTo>
                      <a:pt x="3308" y="13949"/>
                    </a:lnTo>
                    <a:cubicBezTo>
                      <a:pt x="17258" y="0"/>
                      <a:pt x="39876" y="2"/>
                      <a:pt x="53825" y="13952"/>
                    </a:cubicBezTo>
                    <a:cubicBezTo>
                      <a:pt x="67773" y="27903"/>
                      <a:pt x="67772" y="50521"/>
                      <a:pt x="53821" y="64470"/>
                    </a:cubicBezTo>
                    <a:lnTo>
                      <a:pt x="50006" y="67784"/>
                    </a:lnTo>
                  </a:path>
                </a:pathLst>
              </a:custGeom>
              <a:noFill/>
              <a:ln w="14288">
                <a:solidFill>
                  <a:srgbClr val="C4472E"/>
                </a:solidFill>
              </a:ln>
            </p:spPr>
          </p:sp>
          <p:sp>
            <p:nvSpPr>
              <p:cNvPr id="312" name="Freeform 312"/>
              <p:cNvSpPr/>
              <p:nvPr/>
            </p:nvSpPr>
            <p:spPr>
              <a:xfrm>
                <a:off x="9248774" y="5422106"/>
                <a:ext cx="64295" cy="67769"/>
              </a:xfrm>
              <a:custGeom>
                <a:avLst/>
                <a:gdLst/>
                <a:ahLst/>
                <a:cxnLst/>
                <a:rect l="l" t="t" r="r" b="b"/>
                <a:pathLst>
                  <a:path w="64295" h="67769">
                    <a:moveTo>
                      <a:pt x="64295" y="50006"/>
                    </a:moveTo>
                    <a:lnTo>
                      <a:pt x="61459" y="53821"/>
                    </a:lnTo>
                    <a:cubicBezTo>
                      <a:pt x="47353" y="67769"/>
                      <a:pt x="24650" y="67769"/>
                      <a:pt x="10545" y="53821"/>
                    </a:cubicBezTo>
                    <a:cubicBezTo>
                      <a:pt x="3797" y="47149"/>
                      <a:pt x="0" y="38054"/>
                      <a:pt x="0" y="28564"/>
                    </a:cubicBezTo>
                    <a:cubicBezTo>
                      <a:pt x="0" y="19075"/>
                      <a:pt x="3797" y="9980"/>
                      <a:pt x="10545" y="3308"/>
                    </a:cubicBezTo>
                    <a:lnTo>
                      <a:pt x="14289" y="0"/>
                    </a:lnTo>
                  </a:path>
                </a:pathLst>
              </a:custGeom>
              <a:noFill/>
              <a:ln w="14288">
                <a:solidFill>
                  <a:srgbClr val="C4472E"/>
                </a:solidFill>
              </a:ln>
            </p:spPr>
          </p:sp>
        </p:grpSp>
        <p:sp>
          <p:nvSpPr>
            <p:cNvPr id="314" name="TextBox 314"/>
            <p:cNvSpPr txBox="1"/>
            <p:nvPr/>
          </p:nvSpPr>
          <p:spPr>
            <a:xfrm>
              <a:off x="9482138" y="5382339"/>
              <a:ext cx="75397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连接模型与业务</a:t>
              </a:r>
            </a:p>
          </p:txBody>
        </p:sp>
        <p:sp>
          <p:nvSpPr>
            <p:cNvPr id="315" name="TextBox 315"/>
            <p:cNvSpPr txBox="1"/>
            <p:nvPr/>
          </p:nvSpPr>
          <p:spPr>
            <a:xfrm>
              <a:off x="9482138" y="5554980"/>
              <a:ext cx="11525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是模型输出与授信、定价、管理等</a:t>
              </a:r>
              <a:br/>
              <a:r>
                <a:rPr lang="zh-CN" sz="600" dirty="0">
                  <a:solidFill>
                    <a:srgbClr val="8C716B"/>
                  </a:solidFill>
                  <a:latin typeface="+mn-lt"/>
                  <a:ea typeface="+mn-ea"/>
                  <a:cs typeface="+mn-cs"/>
                </a:rPr>
                <a:t>业务应用之间的桥梁</a:t>
              </a:r>
            </a:p>
          </p:txBody>
        </p:sp>
        <p:grpSp>
          <p:nvGrpSpPr>
            <p:cNvPr id="320" name="Group 320"/>
            <p:cNvGrpSpPr/>
            <p:nvPr/>
          </p:nvGrpSpPr>
          <p:grpSpPr>
            <a:xfrm>
              <a:off x="9241631" y="5962650"/>
              <a:ext cx="128587" cy="123825"/>
              <a:chOff x="9241631" y="5962650"/>
              <a:chExt cx="128587" cy="123825"/>
            </a:xfrm>
          </p:grpSpPr>
          <p:sp>
            <p:nvSpPr>
              <p:cNvPr id="316" name="Freeform 316"/>
              <p:cNvSpPr/>
              <p:nvPr/>
            </p:nvSpPr>
            <p:spPr>
              <a:xfrm>
                <a:off x="9241631" y="601980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C4472E"/>
                </a:solidFill>
              </a:ln>
            </p:spPr>
          </p:sp>
          <p:sp>
            <p:nvSpPr>
              <p:cNvPr id="317" name="Freeform 317"/>
              <p:cNvSpPr/>
              <p:nvPr/>
            </p:nvSpPr>
            <p:spPr>
              <a:xfrm>
                <a:off x="9327356" y="599122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C4472E"/>
                </a:solidFill>
              </a:ln>
            </p:spPr>
          </p:sp>
          <p:sp>
            <p:nvSpPr>
              <p:cNvPr id="318" name="Freeform 318"/>
              <p:cNvSpPr/>
              <p:nvPr/>
            </p:nvSpPr>
            <p:spPr>
              <a:xfrm>
                <a:off x="9284494" y="596265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C4472E"/>
                </a:solidFill>
              </a:ln>
            </p:spPr>
          </p:sp>
          <p:sp>
            <p:nvSpPr>
              <p:cNvPr id="319" name="Freeform 319"/>
              <p:cNvSpPr/>
              <p:nvPr/>
            </p:nvSpPr>
            <p:spPr>
              <a:xfrm>
                <a:off x="9248775" y="6076950"/>
                <a:ext cx="100012" cy="9525"/>
              </a:xfrm>
              <a:custGeom>
                <a:avLst/>
                <a:gdLst/>
                <a:ahLst/>
                <a:cxnLst/>
                <a:rect l="l" t="t" r="r" b="b"/>
                <a:pathLst>
                  <a:path w="100012" h="9525">
                    <a:moveTo>
                      <a:pt x="0" y="0"/>
                    </a:moveTo>
                    <a:lnTo>
                      <a:pt x="100012" y="0"/>
                    </a:lnTo>
                  </a:path>
                </a:pathLst>
              </a:custGeom>
              <a:noFill/>
              <a:ln w="14288">
                <a:solidFill>
                  <a:srgbClr val="C4472E"/>
                </a:solidFill>
              </a:ln>
            </p:spPr>
          </p:sp>
        </p:grpSp>
        <p:sp>
          <p:nvSpPr>
            <p:cNvPr id="321" name="TextBox 321"/>
            <p:cNvSpPr txBox="1"/>
            <p:nvPr/>
          </p:nvSpPr>
          <p:spPr>
            <a:xfrm>
              <a:off x="9482138" y="5972889"/>
              <a:ext cx="104457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支持授信/定价/资本​</a:t>
              </a:r>
            </a:p>
          </p:txBody>
        </p:sp>
        <p:sp>
          <p:nvSpPr>
            <p:cNvPr id="322" name="TextBox 322"/>
            <p:cNvSpPr txBox="1"/>
            <p:nvPr/>
          </p:nvSpPr>
          <p:spPr>
            <a:xfrm>
              <a:off x="9482138" y="6145530"/>
              <a:ext cx="12287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为额度审批、风险定价、资本计量提</a:t>
              </a:r>
              <a:br/>
              <a:r>
                <a:rPr lang="zh-CN" sz="600" dirty="0">
                  <a:solidFill>
                    <a:srgbClr val="8C716B"/>
                  </a:solidFill>
                  <a:latin typeface="+mn-lt"/>
                  <a:ea typeface="+mn-ea"/>
                  <a:cs typeface="+mn-cs"/>
                </a:rPr>
                <a:t>供基础，提升管理的科学性和一致性</a:t>
              </a:r>
            </a:p>
          </p:txBody>
        </p:sp>
      </p:grpSp>
      <p:grpSp>
        <p:nvGrpSpPr>
          <p:cNvPr id="329" name="footer"/>
          <p:cNvGrpSpPr/>
          <p:nvPr/>
        </p:nvGrpSpPr>
        <p:grpSpPr>
          <a:xfrm>
            <a:off x="0" y="6648450"/>
            <a:ext cx="12192000" cy="222886"/>
            <a:chOff x="0" y="6648450"/>
            <a:chExt cx="12192000" cy="222886"/>
          </a:xfrm>
        </p:grpSpPr>
        <p:sp>
          <p:nvSpPr>
            <p:cNvPr id="324" name="Rectangle 324"/>
            <p:cNvSpPr/>
            <p:nvPr/>
          </p:nvSpPr>
          <p:spPr>
            <a:xfrm>
              <a:off x="0" y="6648450"/>
              <a:ext cx="12192000" cy="209550"/>
            </a:xfrm>
            <a:prstGeom prst="rect">
              <a:avLst/>
            </a:prstGeom>
            <a:solidFill>
              <a:srgbClr val="DDECF9"/>
            </a:solidFill>
            <a:ln>
              <a:noFill/>
            </a:ln>
          </p:spPr>
        </p:sp>
        <p:sp>
          <p:nvSpPr>
            <p:cNvPr id="325" name="TextBox 325"/>
            <p:cNvSpPr txBox="1"/>
            <p:nvPr/>
          </p:nvSpPr>
          <p:spPr>
            <a:xfrm>
              <a:off x="223838" y="6676311"/>
              <a:ext cx="889580" cy="140494"/>
            </a:xfrm>
            <a:prstGeom prst="rect">
              <a:avLst/>
            </a:prstGeom>
            <a:noFill/>
            <a:ln>
              <a:noFill/>
            </a:ln>
          </p:spPr>
          <p:txBody>
            <a:bodyPr wrap="none" lIns="0" tIns="0" rIns="0" bIns="0" anchor="t" anchorCtr="0">
              <a:spAutoFit/>
            </a:bodyPr>
            <a:lstStyle/>
            <a:p>
              <a:pPr algn="l"/>
              <a:r>
                <a:rPr lang="zh-CN" sz="710" b="1" dirty="0">
                  <a:solidFill>
                    <a:srgbClr val="96574A"/>
                  </a:solidFill>
                  <a:latin typeface="+mn-lt"/>
                  <a:ea typeface="+mn-ea"/>
                  <a:cs typeface="+mn-cs"/>
                </a:rPr>
                <a:t>稳健经营 · 专业致远</a:t>
              </a:r>
            </a:p>
          </p:txBody>
        </p:sp>
        <p:sp>
          <p:nvSpPr>
            <p:cNvPr id="326" name="TextBox 326"/>
            <p:cNvSpPr txBox="1"/>
            <p:nvPr/>
          </p:nvSpPr>
          <p:spPr>
            <a:xfrm>
              <a:off x="223838" y="6780848"/>
              <a:ext cx="1634291" cy="90488"/>
            </a:xfrm>
            <a:prstGeom prst="rect">
              <a:avLst/>
            </a:prstGeom>
            <a:noFill/>
            <a:ln>
              <a:noFill/>
            </a:ln>
          </p:spPr>
          <p:txBody>
            <a:bodyPr wrap="none" lIns="0" tIns="0" rIns="0" bIns="0" anchor="t" anchorCtr="0">
              <a:spAutoFit/>
            </a:bodyPr>
            <a:lstStyle/>
            <a:p>
              <a:pPr algn="l"/>
              <a:r>
                <a:rPr lang="en-US" sz="450" dirty="0">
                  <a:solidFill>
                    <a:srgbClr val="C4988F"/>
                  </a:solidFill>
                  <a:latin typeface="+mj-lt"/>
                  <a:ea typeface="+mj-ea"/>
                  <a:cs typeface="+mj-cs"/>
                </a:rPr>
                <a:t>PRUDENT BANKING FOR A BRIGHTER TOMORROW​</a:t>
              </a:r>
            </a:p>
          </p:txBody>
        </p:sp>
        <p:sp>
          <p:nvSpPr>
            <p:cNvPr id="327" name="TextBox 327"/>
            <p:cNvSpPr txBox="1"/>
            <p:nvPr/>
          </p:nvSpPr>
          <p:spPr>
            <a:xfrm>
              <a:off x="10696262" y="6676311"/>
              <a:ext cx="1271900" cy="140494"/>
            </a:xfrm>
            <a:prstGeom prst="rect">
              <a:avLst/>
            </a:prstGeom>
            <a:noFill/>
            <a:ln>
              <a:noFill/>
            </a:ln>
          </p:spPr>
          <p:txBody>
            <a:bodyPr wrap="none" lIns="0" tIns="0" rIns="0" bIns="0" anchor="t" anchorCtr="0">
              <a:spAutoFit/>
            </a:bodyPr>
            <a:lstStyle/>
            <a:p>
              <a:pPr algn="r"/>
              <a:r>
                <a:rPr lang="zh-CN" sz="710" b="1" dirty="0">
                  <a:solidFill>
                    <a:srgbClr val="96574A"/>
                  </a:solidFill>
                  <a:latin typeface="+mn-lt"/>
                  <a:ea typeface="+mn-ea"/>
                  <a:cs typeface="+mn-cs"/>
                </a:rPr>
                <a:t>金融向善 · 与实体经济共成长</a:t>
              </a:r>
            </a:p>
          </p:txBody>
        </p:sp>
        <p:sp>
          <p:nvSpPr>
            <p:cNvPr id="328" name="TextBox 328"/>
            <p:cNvSpPr txBox="1"/>
            <p:nvPr/>
          </p:nvSpPr>
          <p:spPr>
            <a:xfrm>
              <a:off x="10625338" y="6780848"/>
              <a:ext cx="1342824" cy="90488"/>
            </a:xfrm>
            <a:prstGeom prst="rect">
              <a:avLst/>
            </a:prstGeom>
            <a:noFill/>
            <a:ln>
              <a:noFill/>
            </a:ln>
          </p:spPr>
          <p:txBody>
            <a:bodyPr wrap="none" lIns="0" tIns="0" rIns="0" bIns="0" anchor="t" anchorCtr="0">
              <a:spAutoFit/>
            </a:bodyPr>
            <a:lstStyle/>
            <a:p>
              <a:pPr algn="r"/>
              <a:r>
                <a:rPr lang="en-US" sz="450" dirty="0">
                  <a:solidFill>
                    <a:srgbClr val="C4988F"/>
                  </a:solidFill>
                  <a:latin typeface="+mj-lt"/>
                  <a:ea typeface="+mj-ea"/>
                  <a:cs typeface="+mj-cs"/>
                </a:rPr>
                <a:t>FINANCE FOR A BETTER REAL ECONOMY​</a:t>
              </a:r>
            </a:p>
          </p:txBody>
        </p:sp>
      </p:gr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9" name="header"/>
          <p:cNvGrpSpPr/>
          <p:nvPr/>
        </p:nvGrpSpPr>
        <p:grpSpPr>
          <a:xfrm>
            <a:off x="0" y="0"/>
            <a:ext cx="12025313" cy="542925"/>
            <a:chOff x="0" y="0"/>
            <a:chExt cx="12025313"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472E"/>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05</a:t>
              </a:r>
            </a:p>
          </p:txBody>
        </p:sp>
        <p:sp>
          <p:nvSpPr>
            <p:cNvPr id="4" name="TextBox 4"/>
            <p:cNvSpPr txBox="1"/>
            <p:nvPr/>
          </p:nvSpPr>
          <p:spPr>
            <a:xfrm>
              <a:off x="942594" y="151448"/>
              <a:ext cx="2516124" cy="381381"/>
            </a:xfrm>
            <a:prstGeom prst="rect">
              <a:avLst/>
            </a:prstGeom>
            <a:noFill/>
            <a:ln>
              <a:noFill/>
            </a:ln>
          </p:spPr>
          <p:txBody>
            <a:bodyPr wrap="none" lIns="0" tIns="0" rIns="0" bIns="0" anchor="t" anchorCtr="0">
              <a:spAutoFit/>
            </a:bodyPr>
            <a:lstStyle/>
            <a:p>
              <a:pPr algn="l"/>
              <a:r>
                <a:rPr lang="zh-CN" sz="1950" b="1" dirty="0">
                  <a:solidFill>
                    <a:srgbClr val="3E1810"/>
                  </a:solidFill>
                  <a:latin typeface="SimSun"/>
                  <a:ea typeface="SimSun"/>
                  <a:cs typeface="SimSun"/>
                </a:rPr>
                <a:t>人工推翻与</a:t>
              </a:r>
              <a:r>
                <a:rPr lang="zh-CN" sz="1950" b="1" dirty="0">
                  <a:solidFill>
                    <a:srgbClr val="C4472E"/>
                  </a:solidFill>
                  <a:latin typeface="SimSun"/>
                  <a:ea typeface="SimSun"/>
                  <a:cs typeface="SimSun"/>
                </a:rPr>
                <a:t>评级治理</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4472E"/>
              </a:solidFill>
            </a:ln>
          </p:spPr>
        </p:sp>
        <p:sp>
          <p:nvSpPr>
            <p:cNvPr id="6" name="TextBox 6"/>
            <p:cNvSpPr txBox="1"/>
            <p:nvPr/>
          </p:nvSpPr>
          <p:spPr>
            <a:xfrm>
              <a:off x="10999386" y="63341"/>
              <a:ext cx="1025926" cy="161925"/>
            </a:xfrm>
            <a:prstGeom prst="rect">
              <a:avLst/>
            </a:prstGeom>
            <a:noFill/>
            <a:ln>
              <a:noFill/>
            </a:ln>
          </p:spPr>
          <p:txBody>
            <a:bodyPr wrap="none" lIns="0" tIns="0" rIns="0" bIns="0" anchor="t" anchorCtr="0">
              <a:spAutoFit/>
            </a:bodyPr>
            <a:lstStyle/>
            <a:p>
              <a:pPr algn="r"/>
              <a:r>
                <a:rPr lang="zh-CN" sz="820" b="1" dirty="0">
                  <a:solidFill>
                    <a:srgbClr val="9E311B"/>
                  </a:solidFill>
                  <a:latin typeface="+mn-lt"/>
                  <a:ea typeface="+mn-ea"/>
                  <a:cs typeface="+mn-cs"/>
                </a:rPr>
                <a:t>稳健经营 · 创造价值</a:t>
              </a:r>
            </a:p>
          </p:txBody>
        </p:sp>
        <p:sp>
          <p:nvSpPr>
            <p:cNvPr id="7" name="TextBox 7"/>
            <p:cNvSpPr txBox="1"/>
            <p:nvPr/>
          </p:nvSpPr>
          <p:spPr>
            <a:xfrm>
              <a:off x="10783745" y="255032"/>
              <a:ext cx="1241567"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服务实体 · 防控风险 · 合规审慎</a:t>
              </a:r>
            </a:p>
          </p:txBody>
        </p:sp>
        <p:sp>
          <p:nvSpPr>
            <p:cNvPr id="8" name="TextBox 8"/>
            <p:cNvSpPr txBox="1"/>
            <p:nvPr/>
          </p:nvSpPr>
          <p:spPr>
            <a:xfrm>
              <a:off x="11227453" y="407432"/>
              <a:ext cx="797860"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持续优化 · 行稳致远</a:t>
              </a:r>
            </a:p>
          </p:txBody>
        </p:sp>
      </p:grpSp>
      <p:grpSp>
        <p:nvGrpSpPr>
          <p:cNvPr id="12" name="intro"/>
          <p:cNvGrpSpPr/>
          <p:nvPr/>
        </p:nvGrpSpPr>
        <p:grpSpPr>
          <a:xfrm>
            <a:off x="3970972" y="630793"/>
            <a:ext cx="4250055" cy="321707"/>
            <a:chOff x="3970972" y="630793"/>
            <a:chExt cx="4250055" cy="321707"/>
          </a:xfrm>
        </p:grpSpPr>
        <p:sp>
          <p:nvSpPr>
            <p:cNvPr id="10" name="TextBox 10"/>
            <p:cNvSpPr txBox="1"/>
            <p:nvPr/>
          </p:nvSpPr>
          <p:spPr>
            <a:xfrm>
              <a:off x="5280825" y="630793"/>
              <a:ext cx="1630350" cy="169069"/>
            </a:xfrm>
            <a:prstGeom prst="rect">
              <a:avLst/>
            </a:prstGeom>
            <a:noFill/>
            <a:ln>
              <a:noFill/>
            </a:ln>
          </p:spPr>
          <p:txBody>
            <a:bodyPr wrap="none" lIns="0" tIns="0" rIns="0" bIns="0" anchor="t" anchorCtr="0">
              <a:spAutoFit/>
            </a:bodyPr>
            <a:lstStyle/>
            <a:p>
              <a:pPr algn="ctr"/>
              <a:r>
                <a:rPr lang="zh-CN" sz="860" b="1" dirty="0">
                  <a:solidFill>
                    <a:srgbClr val="9E311B"/>
                  </a:solidFill>
                  <a:latin typeface="+mn-lt"/>
                  <a:ea typeface="+mn-ea"/>
                  <a:cs typeface="+mn-cs"/>
                </a:rPr>
                <a:t>让专业判断与模型评分更好结合</a:t>
              </a:r>
            </a:p>
          </p:txBody>
        </p:sp>
        <p:sp>
          <p:nvSpPr>
            <p:cNvPr id="11" name="TextBox 11"/>
            <p:cNvSpPr txBox="1"/>
            <p:nvPr/>
          </p:nvSpPr>
          <p:spPr>
            <a:xfrm>
              <a:off x="3970972" y="804862"/>
              <a:ext cx="4250055"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在模型评级的基础上，建立规范的人工推翻与治理机制，确保评级结果更加全面、审慎、可追溯</a:t>
              </a:r>
            </a:p>
          </p:txBody>
        </p:sp>
      </p:grpSp>
      <p:grpSp>
        <p:nvGrpSpPr>
          <p:cNvPr id="16" name="flow-banner"/>
          <p:cNvGrpSpPr/>
          <p:nvPr/>
        </p:nvGrpSpPr>
        <p:grpSpPr>
          <a:xfrm>
            <a:off x="190500" y="971550"/>
            <a:ext cx="11811000" cy="247650"/>
            <a:chOff x="190500" y="971550"/>
            <a:chExt cx="11811000" cy="247650"/>
          </a:xfrm>
        </p:grpSpPr>
        <p:sp>
          <p:nvSpPr>
            <p:cNvPr id="13" name="Polygon 13"/>
            <p:cNvSpPr/>
            <p:nvPr/>
          </p:nvSpPr>
          <p:spPr>
            <a:xfrm>
              <a:off x="190500" y="971550"/>
              <a:ext cx="11811000" cy="247650"/>
            </a:xfrm>
            <a:custGeom>
              <a:avLst/>
              <a:gdLst/>
              <a:ahLst/>
              <a:cxnLst/>
              <a:rect l="l" t="t" r="r" b="b"/>
              <a:pathLst>
                <a:path w="11811000" h="247650">
                  <a:moveTo>
                    <a:pt x="0" y="0"/>
                  </a:moveTo>
                  <a:lnTo>
                    <a:pt x="11677650" y="0"/>
                  </a:lnTo>
                  <a:lnTo>
                    <a:pt x="11811000" y="123825"/>
                  </a:lnTo>
                  <a:lnTo>
                    <a:pt x="11677650" y="247650"/>
                  </a:lnTo>
                  <a:lnTo>
                    <a:pt x="0" y="247650"/>
                  </a:lnTo>
                  <a:close/>
                </a:path>
              </a:pathLst>
            </a:custGeom>
            <a:gradFill>
              <a:gsLst>
                <a:gs pos="0">
                  <a:srgbClr val="D25C44"/>
                </a:gs>
                <a:gs pos="100000">
                  <a:srgbClr val="C93416"/>
                </a:gs>
              </a:gsLst>
              <a:lin ang="0" scaled="1"/>
            </a:gradFill>
            <a:ln>
              <a:noFill/>
            </a:ln>
          </p:spPr>
        </p:sp>
        <p:sp>
          <p:nvSpPr>
            <p:cNvPr id="14" name="TextBox 14"/>
            <p:cNvSpPr txBox="1"/>
            <p:nvPr/>
          </p:nvSpPr>
          <p:spPr>
            <a:xfrm>
              <a:off x="414338" y="1032272"/>
              <a:ext cx="14014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人工推翻与评级治理流程</a:t>
              </a:r>
            </a:p>
          </p:txBody>
        </p:sp>
        <p:sp>
          <p:nvSpPr>
            <p:cNvPr id="15" name="TextBox 15"/>
            <p:cNvSpPr txBox="1"/>
            <p:nvPr/>
          </p:nvSpPr>
          <p:spPr>
            <a:xfrm>
              <a:off x="10153983" y="1044416"/>
              <a:ext cx="1623679" cy="161925"/>
            </a:xfrm>
            <a:prstGeom prst="rect">
              <a:avLst/>
            </a:prstGeom>
            <a:noFill/>
            <a:ln>
              <a:noFill/>
            </a:ln>
          </p:spPr>
          <p:txBody>
            <a:bodyPr wrap="none" lIns="0" tIns="0" rIns="0" bIns="0" anchor="t" anchorCtr="0">
              <a:spAutoFit/>
            </a:bodyPr>
            <a:lstStyle/>
            <a:p>
              <a:pPr algn="r"/>
              <a:r>
                <a:rPr lang="zh-CN" sz="820" b="1" dirty="0">
                  <a:solidFill>
                    <a:srgbClr val="FFFFFF"/>
                  </a:solidFill>
                  <a:latin typeface="+mn-lt"/>
                  <a:ea typeface="+mn-ea"/>
                  <a:cs typeface="+mn-cs"/>
                </a:rPr>
                <a:t>规范 · 审慎 · 可追溯 · 持续优化</a:t>
              </a:r>
            </a:p>
          </p:txBody>
        </p:sp>
      </p:grpSp>
      <p:grpSp>
        <p:nvGrpSpPr>
          <p:cNvPr id="29" name="step-01"/>
          <p:cNvGrpSpPr/>
          <p:nvPr/>
        </p:nvGrpSpPr>
        <p:grpSpPr>
          <a:xfrm>
            <a:off x="219075" y="1276350"/>
            <a:ext cx="1419225" cy="3105150"/>
            <a:chOff x="219075" y="1276350"/>
            <a:chExt cx="1419225" cy="3105150"/>
          </a:xfrm>
        </p:grpSpPr>
        <p:sp>
          <p:nvSpPr>
            <p:cNvPr id="17" name="Rectangle 17"/>
            <p:cNvSpPr/>
            <p:nvPr/>
          </p:nvSpPr>
          <p:spPr>
            <a:xfrm>
              <a:off x="219075" y="1276350"/>
              <a:ext cx="1419225" cy="3105150"/>
            </a:xfrm>
            <a:prstGeom prst="roundRect">
              <a:avLst>
                <a:gd name="adj" fmla="val 5369"/>
              </a:avLst>
            </a:prstGeom>
            <a:solidFill>
              <a:srgbClr val="F4F9FD"/>
            </a:solidFill>
            <a:ln w="9525">
              <a:solidFill>
                <a:srgbClr val="CFE2F2"/>
              </a:solidFill>
            </a:ln>
          </p:spPr>
        </p:sp>
        <p:sp>
          <p:nvSpPr>
            <p:cNvPr id="18" name="Ellipse 18"/>
            <p:cNvSpPr/>
            <p:nvPr/>
          </p:nvSpPr>
          <p:spPr>
            <a:xfrm>
              <a:off x="304800" y="1352550"/>
              <a:ext cx="171450" cy="171450"/>
            </a:xfrm>
            <a:prstGeom prst="ellipse">
              <a:avLst/>
            </a:prstGeom>
            <a:solidFill>
              <a:srgbClr val="C4472E"/>
            </a:solidFill>
            <a:ln>
              <a:noFill/>
            </a:ln>
          </p:spPr>
        </p:sp>
        <p:sp>
          <p:nvSpPr>
            <p:cNvPr id="19" name="TextBox 19"/>
            <p:cNvSpPr txBox="1"/>
            <p:nvPr/>
          </p:nvSpPr>
          <p:spPr>
            <a:xfrm>
              <a:off x="308414" y="1398746"/>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01​</a:t>
              </a:r>
            </a:p>
          </p:txBody>
        </p:sp>
        <p:sp>
          <p:nvSpPr>
            <p:cNvPr id="20" name="TextBox 20"/>
            <p:cNvSpPr txBox="1"/>
            <p:nvPr/>
          </p:nvSpPr>
          <p:spPr>
            <a:xfrm>
              <a:off x="528638" y="1391364"/>
              <a:ext cx="6476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模型评级结果</a:t>
              </a:r>
            </a:p>
          </p:txBody>
        </p:sp>
        <p:grpSp>
          <p:nvGrpSpPr>
            <p:cNvPr id="25" name="Group 25"/>
            <p:cNvGrpSpPr/>
            <p:nvPr/>
          </p:nvGrpSpPr>
          <p:grpSpPr>
            <a:xfrm>
              <a:off x="816769" y="1685925"/>
              <a:ext cx="214313" cy="200025"/>
              <a:chOff x="816769" y="1685925"/>
              <a:chExt cx="214313" cy="200025"/>
            </a:xfrm>
          </p:grpSpPr>
          <p:sp>
            <p:nvSpPr>
              <p:cNvPr id="21" name="Freeform 21"/>
              <p:cNvSpPr/>
              <p:nvPr/>
            </p:nvSpPr>
            <p:spPr>
              <a:xfrm>
                <a:off x="816769" y="1781175"/>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C4472E"/>
                </a:solidFill>
              </a:ln>
            </p:spPr>
          </p:sp>
          <p:sp>
            <p:nvSpPr>
              <p:cNvPr id="22" name="Freeform 22"/>
              <p:cNvSpPr/>
              <p:nvPr/>
            </p:nvSpPr>
            <p:spPr>
              <a:xfrm>
                <a:off x="959644" y="1733550"/>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C4472E"/>
                </a:solidFill>
              </a:ln>
            </p:spPr>
          </p:sp>
          <p:sp>
            <p:nvSpPr>
              <p:cNvPr id="23" name="Freeform 23"/>
              <p:cNvSpPr/>
              <p:nvPr/>
            </p:nvSpPr>
            <p:spPr>
              <a:xfrm>
                <a:off x="888206" y="1685925"/>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C4472E"/>
                </a:solidFill>
              </a:ln>
            </p:spPr>
          </p:sp>
          <p:sp>
            <p:nvSpPr>
              <p:cNvPr id="24" name="Freeform 24"/>
              <p:cNvSpPr/>
              <p:nvPr/>
            </p:nvSpPr>
            <p:spPr>
              <a:xfrm>
                <a:off x="828675" y="1876425"/>
                <a:ext cx="166688" cy="9525"/>
              </a:xfrm>
              <a:custGeom>
                <a:avLst/>
                <a:gdLst/>
                <a:ahLst/>
                <a:cxnLst/>
                <a:rect l="l" t="t" r="r" b="b"/>
                <a:pathLst>
                  <a:path w="166688" h="9525">
                    <a:moveTo>
                      <a:pt x="0" y="0"/>
                    </a:moveTo>
                    <a:lnTo>
                      <a:pt x="166688" y="0"/>
                    </a:lnTo>
                  </a:path>
                </a:pathLst>
              </a:custGeom>
              <a:noFill/>
              <a:ln w="23812">
                <a:solidFill>
                  <a:srgbClr val="C4472E"/>
                </a:solidFill>
              </a:ln>
            </p:spPr>
          </p:sp>
        </p:grpSp>
        <p:sp>
          <p:nvSpPr>
            <p:cNvPr id="26" name="Line 26"/>
            <p:cNvSpPr/>
            <p:nvPr/>
          </p:nvSpPr>
          <p:spPr>
            <a:xfrm>
              <a:off x="314325" y="2038350"/>
              <a:ext cx="1228725" cy="9525"/>
            </a:xfrm>
            <a:custGeom>
              <a:avLst/>
              <a:gdLst/>
              <a:ahLst/>
              <a:cxnLst/>
              <a:rect l="l" t="t" r="r" b="b"/>
              <a:pathLst>
                <a:path w="1228725" h="9525">
                  <a:moveTo>
                    <a:pt x="0" y="0"/>
                  </a:moveTo>
                  <a:lnTo>
                    <a:pt x="1228725" y="0"/>
                  </a:lnTo>
                </a:path>
              </a:pathLst>
            </a:custGeom>
            <a:noFill/>
            <a:ln w="9525">
              <a:solidFill>
                <a:srgbClr val="CFE2F2"/>
              </a:solidFill>
            </a:ln>
          </p:spPr>
        </p:sp>
        <p:sp>
          <p:nvSpPr>
            <p:cNvPr id="27" name="TextBox 27"/>
            <p:cNvSpPr txBox="1"/>
            <p:nvPr/>
          </p:nvSpPr>
          <p:spPr>
            <a:xfrm>
              <a:off x="309562" y="2140982"/>
              <a:ext cx="77497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模型输出初始评级</a:t>
              </a:r>
            </a:p>
          </p:txBody>
        </p:sp>
        <p:sp>
          <p:nvSpPr>
            <p:cNvPr id="28" name="TextBox 28"/>
            <p:cNvSpPr txBox="1"/>
            <p:nvPr/>
          </p:nvSpPr>
          <p:spPr>
            <a:xfrm>
              <a:off x="309562" y="23124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形成风险结论</a:t>
              </a:r>
            </a:p>
          </p:txBody>
        </p:sp>
      </p:grpSp>
      <p:grpSp>
        <p:nvGrpSpPr>
          <p:cNvPr id="40" name="step-02"/>
          <p:cNvGrpSpPr/>
          <p:nvPr/>
        </p:nvGrpSpPr>
        <p:grpSpPr>
          <a:xfrm>
            <a:off x="1695450" y="1276350"/>
            <a:ext cx="1419225" cy="3105150"/>
            <a:chOff x="1695450" y="1276350"/>
            <a:chExt cx="1419225" cy="3105150"/>
          </a:xfrm>
        </p:grpSpPr>
        <p:sp>
          <p:nvSpPr>
            <p:cNvPr id="30" name="Rectangle 30"/>
            <p:cNvSpPr/>
            <p:nvPr/>
          </p:nvSpPr>
          <p:spPr>
            <a:xfrm>
              <a:off x="1695450" y="1276350"/>
              <a:ext cx="1419225" cy="3105150"/>
            </a:xfrm>
            <a:prstGeom prst="roundRect">
              <a:avLst>
                <a:gd name="adj" fmla="val 5369"/>
              </a:avLst>
            </a:prstGeom>
            <a:solidFill>
              <a:srgbClr val="F4F9FD"/>
            </a:solidFill>
            <a:ln w="9525">
              <a:solidFill>
                <a:srgbClr val="CFE2F2"/>
              </a:solidFill>
            </a:ln>
          </p:spPr>
        </p:sp>
        <p:sp>
          <p:nvSpPr>
            <p:cNvPr id="31" name="Ellipse 31"/>
            <p:cNvSpPr/>
            <p:nvPr/>
          </p:nvSpPr>
          <p:spPr>
            <a:xfrm>
              <a:off x="1781175" y="1352550"/>
              <a:ext cx="171450" cy="171450"/>
            </a:xfrm>
            <a:prstGeom prst="ellipse">
              <a:avLst/>
            </a:prstGeom>
            <a:solidFill>
              <a:srgbClr val="C4472E"/>
            </a:solidFill>
            <a:ln>
              <a:noFill/>
            </a:ln>
          </p:spPr>
        </p:sp>
        <p:sp>
          <p:nvSpPr>
            <p:cNvPr id="32" name="TextBox 32"/>
            <p:cNvSpPr txBox="1"/>
            <p:nvPr/>
          </p:nvSpPr>
          <p:spPr>
            <a:xfrm>
              <a:off x="1784789" y="1398746"/>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02​</a:t>
              </a:r>
            </a:p>
          </p:txBody>
        </p:sp>
        <p:sp>
          <p:nvSpPr>
            <p:cNvPr id="33" name="TextBox 33"/>
            <p:cNvSpPr txBox="1"/>
            <p:nvPr/>
          </p:nvSpPr>
          <p:spPr>
            <a:xfrm>
              <a:off x="2005012" y="1391364"/>
              <a:ext cx="6476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发现特殊情况</a:t>
              </a:r>
            </a:p>
          </p:txBody>
        </p:sp>
        <p:grpSp>
          <p:nvGrpSpPr>
            <p:cNvPr id="36" name="Group 36"/>
            <p:cNvGrpSpPr/>
            <p:nvPr/>
          </p:nvGrpSpPr>
          <p:grpSpPr>
            <a:xfrm>
              <a:off x="2293144" y="1709738"/>
              <a:ext cx="214312" cy="142875"/>
              <a:chOff x="2293144" y="1709738"/>
              <a:chExt cx="214312" cy="142875"/>
            </a:xfrm>
          </p:grpSpPr>
          <p:sp>
            <p:nvSpPr>
              <p:cNvPr id="34" name="Freeform 34"/>
              <p:cNvSpPr/>
              <p:nvPr/>
            </p:nvSpPr>
            <p:spPr>
              <a:xfrm>
                <a:off x="2376488" y="17573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C4472E"/>
                </a:solidFill>
              </a:ln>
            </p:spPr>
          </p:sp>
          <p:sp>
            <p:nvSpPr>
              <p:cNvPr id="35" name="Freeform 35"/>
              <p:cNvSpPr/>
              <p:nvPr/>
            </p:nvSpPr>
            <p:spPr>
              <a:xfrm>
                <a:off x="2293144" y="1709738"/>
                <a:ext cx="214312" cy="142875"/>
              </a:xfrm>
              <a:custGeom>
                <a:avLst/>
                <a:gdLst/>
                <a:ahLst/>
                <a:cxnLst/>
                <a:rect l="l" t="t" r="r" b="b"/>
                <a:pathLst>
                  <a:path w="214312" h="142875">
                    <a:moveTo>
                      <a:pt x="214312" y="71438"/>
                    </a:moveTo>
                    <a:cubicBezTo>
                      <a:pt x="185738" y="119062"/>
                      <a:pt x="150019" y="142875"/>
                      <a:pt x="107156" y="142875"/>
                    </a:cubicBezTo>
                    <a:cubicBezTo>
                      <a:pt x="64294" y="142875"/>
                      <a:pt x="28575" y="119062"/>
                      <a:pt x="0" y="71438"/>
                    </a:cubicBezTo>
                    <a:cubicBezTo>
                      <a:pt x="28575" y="23812"/>
                      <a:pt x="64294" y="0"/>
                      <a:pt x="107156" y="0"/>
                    </a:cubicBezTo>
                    <a:cubicBezTo>
                      <a:pt x="150019" y="0"/>
                      <a:pt x="185738" y="23812"/>
                      <a:pt x="214312" y="71438"/>
                    </a:cubicBezTo>
                  </a:path>
                </a:pathLst>
              </a:custGeom>
              <a:noFill/>
              <a:ln w="23812">
                <a:solidFill>
                  <a:srgbClr val="C4472E"/>
                </a:solidFill>
              </a:ln>
            </p:spPr>
          </p:sp>
        </p:grpSp>
        <p:sp>
          <p:nvSpPr>
            <p:cNvPr id="37" name="Line 37"/>
            <p:cNvSpPr/>
            <p:nvPr/>
          </p:nvSpPr>
          <p:spPr>
            <a:xfrm>
              <a:off x="1790700" y="2038350"/>
              <a:ext cx="1228725" cy="9525"/>
            </a:xfrm>
            <a:custGeom>
              <a:avLst/>
              <a:gdLst/>
              <a:ahLst/>
              <a:cxnLst/>
              <a:rect l="l" t="t" r="r" b="b"/>
              <a:pathLst>
                <a:path w="1228725" h="9525">
                  <a:moveTo>
                    <a:pt x="0" y="0"/>
                  </a:moveTo>
                  <a:lnTo>
                    <a:pt x="1228725" y="0"/>
                  </a:lnTo>
                </a:path>
              </a:pathLst>
            </a:custGeom>
            <a:noFill/>
            <a:ln w="9525">
              <a:solidFill>
                <a:srgbClr val="CFE2F2"/>
              </a:solidFill>
            </a:ln>
          </p:spPr>
        </p:sp>
        <p:sp>
          <p:nvSpPr>
            <p:cNvPr id="38" name="TextBox 38"/>
            <p:cNvSpPr txBox="1"/>
            <p:nvPr/>
          </p:nvSpPr>
          <p:spPr>
            <a:xfrm>
              <a:off x="1785938" y="2140982"/>
              <a:ext cx="73596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识别可能影响评级</a:t>
              </a:r>
              <a:br/>
              <a:r>
                <a:rPr lang="zh-CN" sz="640" dirty="0">
                  <a:solidFill>
                    <a:srgbClr val="5C3A33"/>
                  </a:solidFill>
                  <a:latin typeface="+mn-lt"/>
                  <a:ea typeface="+mn-ea"/>
                  <a:cs typeface="+mn-cs"/>
                </a:rPr>
                <a:t>的特殊因素</a:t>
              </a:r>
            </a:p>
          </p:txBody>
        </p:sp>
        <p:sp>
          <p:nvSpPr>
            <p:cNvPr id="39" name="TextBox 39"/>
            <p:cNvSpPr txBox="1"/>
            <p:nvPr/>
          </p:nvSpPr>
          <p:spPr>
            <a:xfrm>
              <a:off x="1785938" y="2445782"/>
              <a:ext cx="57340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判断是否需要</a:t>
              </a:r>
              <a:br/>
              <a:r>
                <a:rPr lang="zh-CN" sz="640" dirty="0">
                  <a:solidFill>
                    <a:srgbClr val="5C3A33"/>
                  </a:solidFill>
                  <a:latin typeface="+mn-lt"/>
                  <a:ea typeface="+mn-ea"/>
                  <a:cs typeface="+mn-cs"/>
                </a:rPr>
                <a:t>人工推翻</a:t>
              </a:r>
            </a:p>
          </p:txBody>
        </p:sp>
      </p:grpSp>
      <p:grpSp>
        <p:nvGrpSpPr>
          <p:cNvPr id="55" name="step-03"/>
          <p:cNvGrpSpPr/>
          <p:nvPr/>
        </p:nvGrpSpPr>
        <p:grpSpPr>
          <a:xfrm>
            <a:off x="3171825" y="1276350"/>
            <a:ext cx="1419225" cy="3105150"/>
            <a:chOff x="3171825" y="1276350"/>
            <a:chExt cx="1419225" cy="3105150"/>
          </a:xfrm>
        </p:grpSpPr>
        <p:sp>
          <p:nvSpPr>
            <p:cNvPr id="41" name="Rectangle 41"/>
            <p:cNvSpPr/>
            <p:nvPr/>
          </p:nvSpPr>
          <p:spPr>
            <a:xfrm>
              <a:off x="3171825" y="1276350"/>
              <a:ext cx="1419225" cy="3105150"/>
            </a:xfrm>
            <a:prstGeom prst="roundRect">
              <a:avLst>
                <a:gd name="adj" fmla="val 5369"/>
              </a:avLst>
            </a:prstGeom>
            <a:solidFill>
              <a:srgbClr val="F4F9FD"/>
            </a:solidFill>
            <a:ln w="9525">
              <a:solidFill>
                <a:srgbClr val="CFE2F2"/>
              </a:solidFill>
            </a:ln>
          </p:spPr>
        </p:sp>
        <p:sp>
          <p:nvSpPr>
            <p:cNvPr id="42" name="Ellipse 42"/>
            <p:cNvSpPr/>
            <p:nvPr/>
          </p:nvSpPr>
          <p:spPr>
            <a:xfrm>
              <a:off x="3257550" y="1352550"/>
              <a:ext cx="171450" cy="171450"/>
            </a:xfrm>
            <a:prstGeom prst="ellipse">
              <a:avLst/>
            </a:prstGeom>
            <a:solidFill>
              <a:srgbClr val="C4472E"/>
            </a:solidFill>
            <a:ln>
              <a:noFill/>
            </a:ln>
          </p:spPr>
        </p:sp>
        <p:sp>
          <p:nvSpPr>
            <p:cNvPr id="43" name="TextBox 43"/>
            <p:cNvSpPr txBox="1"/>
            <p:nvPr/>
          </p:nvSpPr>
          <p:spPr>
            <a:xfrm>
              <a:off x="3261164" y="1398746"/>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03​</a:t>
              </a:r>
            </a:p>
          </p:txBody>
        </p:sp>
        <p:sp>
          <p:nvSpPr>
            <p:cNvPr id="44" name="TextBox 44"/>
            <p:cNvSpPr txBox="1"/>
            <p:nvPr/>
          </p:nvSpPr>
          <p:spPr>
            <a:xfrm>
              <a:off x="3481388" y="1391364"/>
              <a:ext cx="6476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提交推翻申请</a:t>
              </a:r>
            </a:p>
          </p:txBody>
        </p:sp>
        <p:grpSp>
          <p:nvGrpSpPr>
            <p:cNvPr id="50" name="Group 50"/>
            <p:cNvGrpSpPr/>
            <p:nvPr/>
          </p:nvGrpSpPr>
          <p:grpSpPr>
            <a:xfrm>
              <a:off x="3793331" y="1674019"/>
              <a:ext cx="166688" cy="214312"/>
              <a:chOff x="3793331" y="1674019"/>
              <a:chExt cx="166688" cy="214312"/>
            </a:xfrm>
          </p:grpSpPr>
          <p:sp>
            <p:nvSpPr>
              <p:cNvPr id="45" name="Freeform 45"/>
              <p:cNvSpPr/>
              <p:nvPr/>
            </p:nvSpPr>
            <p:spPr>
              <a:xfrm>
                <a:off x="3900488" y="1674019"/>
                <a:ext cx="59531" cy="59531"/>
              </a:xfrm>
              <a:custGeom>
                <a:avLst/>
                <a:gdLst/>
                <a:ahLst/>
                <a:cxnLst/>
                <a:rect l="l" t="t" r="r" b="b"/>
                <a:pathLst>
                  <a:path w="59531" h="59531">
                    <a:moveTo>
                      <a:pt x="0" y="0"/>
                    </a:moveTo>
                    <a:lnTo>
                      <a:pt x="0" y="47625"/>
                    </a:lnTo>
                    <a:cubicBezTo>
                      <a:pt x="0" y="54201"/>
                      <a:pt x="5331" y="59531"/>
                      <a:pt x="11906" y="59531"/>
                    </a:cubicBezTo>
                    <a:lnTo>
                      <a:pt x="59531" y="59531"/>
                    </a:lnTo>
                  </a:path>
                </a:pathLst>
              </a:custGeom>
              <a:noFill/>
              <a:ln w="23812">
                <a:solidFill>
                  <a:srgbClr val="C4472E"/>
                </a:solidFill>
              </a:ln>
            </p:spPr>
          </p:sp>
          <p:sp>
            <p:nvSpPr>
              <p:cNvPr id="46" name="Freeform 46"/>
              <p:cNvSpPr/>
              <p:nvPr/>
            </p:nvSpPr>
            <p:spPr>
              <a:xfrm>
                <a:off x="3793331" y="1674019"/>
                <a:ext cx="166688" cy="214312"/>
              </a:xfrm>
              <a:custGeom>
                <a:avLst/>
                <a:gdLst/>
                <a:ahLst/>
                <a:cxnLst/>
                <a:rect l="l" t="t" r="r" b="b"/>
                <a:pathLst>
                  <a:path w="166688" h="214312">
                    <a:moveTo>
                      <a:pt x="142875" y="214312"/>
                    </a:moveTo>
                    <a:lnTo>
                      <a:pt x="23812" y="214312"/>
                    </a:lnTo>
                    <a:cubicBezTo>
                      <a:pt x="10661" y="214312"/>
                      <a:pt x="0" y="203651"/>
                      <a:pt x="0" y="190500"/>
                    </a:cubicBezTo>
                    <a:lnTo>
                      <a:pt x="0" y="23812"/>
                    </a:lnTo>
                    <a:cubicBezTo>
                      <a:pt x="0" y="10661"/>
                      <a:pt x="10661" y="0"/>
                      <a:pt x="23812" y="0"/>
                    </a:cubicBezTo>
                    <a:lnTo>
                      <a:pt x="107156" y="0"/>
                    </a:lnTo>
                    <a:lnTo>
                      <a:pt x="166688" y="59531"/>
                    </a:lnTo>
                    <a:lnTo>
                      <a:pt x="166688" y="190500"/>
                    </a:lnTo>
                    <a:cubicBezTo>
                      <a:pt x="166688" y="203651"/>
                      <a:pt x="156026" y="214312"/>
                      <a:pt x="142875" y="214312"/>
                    </a:cubicBezTo>
                  </a:path>
                </a:pathLst>
              </a:custGeom>
              <a:noFill/>
              <a:ln w="23812">
                <a:solidFill>
                  <a:srgbClr val="C4472E"/>
                </a:solidFill>
              </a:ln>
            </p:spPr>
          </p:sp>
          <p:sp>
            <p:nvSpPr>
              <p:cNvPr id="47" name="Freeform 47"/>
              <p:cNvSpPr/>
              <p:nvPr/>
            </p:nvSpPr>
            <p:spPr>
              <a:xfrm>
                <a:off x="3840956" y="1745456"/>
                <a:ext cx="11906" cy="9525"/>
              </a:xfrm>
              <a:custGeom>
                <a:avLst/>
                <a:gdLst/>
                <a:ahLst/>
                <a:cxnLst/>
                <a:rect l="l" t="t" r="r" b="b"/>
                <a:pathLst>
                  <a:path w="11906" h="9525">
                    <a:moveTo>
                      <a:pt x="0" y="0"/>
                    </a:moveTo>
                    <a:lnTo>
                      <a:pt x="11906" y="0"/>
                    </a:lnTo>
                  </a:path>
                </a:pathLst>
              </a:custGeom>
              <a:noFill/>
              <a:ln w="23812">
                <a:solidFill>
                  <a:srgbClr val="C4472E"/>
                </a:solidFill>
              </a:ln>
            </p:spPr>
          </p:sp>
          <p:sp>
            <p:nvSpPr>
              <p:cNvPr id="48" name="Freeform 48"/>
              <p:cNvSpPr/>
              <p:nvPr/>
            </p:nvSpPr>
            <p:spPr>
              <a:xfrm>
                <a:off x="3840956" y="1793081"/>
                <a:ext cx="71438" cy="9525"/>
              </a:xfrm>
              <a:custGeom>
                <a:avLst/>
                <a:gdLst/>
                <a:ahLst/>
                <a:cxnLst/>
                <a:rect l="l" t="t" r="r" b="b"/>
                <a:pathLst>
                  <a:path w="71438" h="9525">
                    <a:moveTo>
                      <a:pt x="0" y="0"/>
                    </a:moveTo>
                    <a:lnTo>
                      <a:pt x="71438" y="0"/>
                    </a:lnTo>
                  </a:path>
                </a:pathLst>
              </a:custGeom>
              <a:noFill/>
              <a:ln w="23812">
                <a:solidFill>
                  <a:srgbClr val="C4472E"/>
                </a:solidFill>
              </a:ln>
            </p:spPr>
          </p:sp>
          <p:sp>
            <p:nvSpPr>
              <p:cNvPr id="49" name="Freeform 49"/>
              <p:cNvSpPr/>
              <p:nvPr/>
            </p:nvSpPr>
            <p:spPr>
              <a:xfrm>
                <a:off x="3840956" y="1840706"/>
                <a:ext cx="71438" cy="9525"/>
              </a:xfrm>
              <a:custGeom>
                <a:avLst/>
                <a:gdLst/>
                <a:ahLst/>
                <a:cxnLst/>
                <a:rect l="l" t="t" r="r" b="b"/>
                <a:pathLst>
                  <a:path w="71438" h="9525">
                    <a:moveTo>
                      <a:pt x="0" y="0"/>
                    </a:moveTo>
                    <a:lnTo>
                      <a:pt x="71438" y="0"/>
                    </a:lnTo>
                  </a:path>
                </a:pathLst>
              </a:custGeom>
              <a:noFill/>
              <a:ln w="23812">
                <a:solidFill>
                  <a:srgbClr val="C4472E"/>
                </a:solidFill>
              </a:ln>
            </p:spPr>
          </p:sp>
        </p:grpSp>
        <p:sp>
          <p:nvSpPr>
            <p:cNvPr id="51" name="Line 51"/>
            <p:cNvSpPr/>
            <p:nvPr/>
          </p:nvSpPr>
          <p:spPr>
            <a:xfrm>
              <a:off x="3267075" y="2038350"/>
              <a:ext cx="1228725" cy="9525"/>
            </a:xfrm>
            <a:custGeom>
              <a:avLst/>
              <a:gdLst/>
              <a:ahLst/>
              <a:cxnLst/>
              <a:rect l="l" t="t" r="r" b="b"/>
              <a:pathLst>
                <a:path w="1228725" h="9525">
                  <a:moveTo>
                    <a:pt x="0" y="0"/>
                  </a:moveTo>
                  <a:lnTo>
                    <a:pt x="1228725" y="0"/>
                  </a:lnTo>
                </a:path>
              </a:pathLst>
            </a:custGeom>
            <a:noFill/>
            <a:ln w="9525">
              <a:solidFill>
                <a:srgbClr val="CFE2F2"/>
              </a:solidFill>
            </a:ln>
          </p:spPr>
        </p:sp>
        <p:sp>
          <p:nvSpPr>
            <p:cNvPr id="52" name="TextBox 52"/>
            <p:cNvSpPr txBox="1"/>
            <p:nvPr/>
          </p:nvSpPr>
          <p:spPr>
            <a:xfrm>
              <a:off x="3262312" y="21409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填写推翻申请</a:t>
              </a:r>
            </a:p>
          </p:txBody>
        </p:sp>
        <p:sp>
          <p:nvSpPr>
            <p:cNvPr id="53" name="TextBox 53"/>
            <p:cNvSpPr txBox="1"/>
            <p:nvPr/>
          </p:nvSpPr>
          <p:spPr>
            <a:xfrm>
              <a:off x="3262312" y="23124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说明调整建议</a:t>
              </a:r>
            </a:p>
          </p:txBody>
        </p:sp>
        <p:sp>
          <p:nvSpPr>
            <p:cNvPr id="54" name="TextBox 54"/>
            <p:cNvSpPr txBox="1"/>
            <p:nvPr/>
          </p:nvSpPr>
          <p:spPr>
            <a:xfrm>
              <a:off x="3262312" y="2483882"/>
              <a:ext cx="57340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选择相关原因</a:t>
              </a:r>
              <a:br/>
              <a:r>
                <a:rPr lang="zh-CN" sz="640" dirty="0">
                  <a:solidFill>
                    <a:srgbClr val="5C3A33"/>
                  </a:solidFill>
                  <a:latin typeface="+mn-lt"/>
                  <a:ea typeface="+mn-ea"/>
                  <a:cs typeface="+mn-cs"/>
                </a:rPr>
                <a:t>和影响范围</a:t>
              </a:r>
            </a:p>
          </p:txBody>
        </p:sp>
      </p:grpSp>
      <p:grpSp>
        <p:nvGrpSpPr>
          <p:cNvPr id="68" name="step-04"/>
          <p:cNvGrpSpPr/>
          <p:nvPr/>
        </p:nvGrpSpPr>
        <p:grpSpPr>
          <a:xfrm>
            <a:off x="4648200" y="1276350"/>
            <a:ext cx="1419225" cy="3105150"/>
            <a:chOff x="4648200" y="1276350"/>
            <a:chExt cx="1419225" cy="3105150"/>
          </a:xfrm>
        </p:grpSpPr>
        <p:sp>
          <p:nvSpPr>
            <p:cNvPr id="56" name="Rectangle 56"/>
            <p:cNvSpPr/>
            <p:nvPr/>
          </p:nvSpPr>
          <p:spPr>
            <a:xfrm>
              <a:off x="4648200" y="1276350"/>
              <a:ext cx="1419225" cy="3105150"/>
            </a:xfrm>
            <a:prstGeom prst="roundRect">
              <a:avLst>
                <a:gd name="adj" fmla="val 5369"/>
              </a:avLst>
            </a:prstGeom>
            <a:solidFill>
              <a:srgbClr val="F4F9FD"/>
            </a:solidFill>
            <a:ln w="9525">
              <a:solidFill>
                <a:srgbClr val="CFE2F2"/>
              </a:solidFill>
            </a:ln>
          </p:spPr>
        </p:sp>
        <p:sp>
          <p:nvSpPr>
            <p:cNvPr id="57" name="Ellipse 57"/>
            <p:cNvSpPr/>
            <p:nvPr/>
          </p:nvSpPr>
          <p:spPr>
            <a:xfrm>
              <a:off x="4733925" y="1352550"/>
              <a:ext cx="171450" cy="171450"/>
            </a:xfrm>
            <a:prstGeom prst="ellipse">
              <a:avLst/>
            </a:prstGeom>
            <a:solidFill>
              <a:srgbClr val="C4472E"/>
            </a:solidFill>
            <a:ln>
              <a:noFill/>
            </a:ln>
          </p:spPr>
        </p:sp>
        <p:sp>
          <p:nvSpPr>
            <p:cNvPr id="58" name="TextBox 58"/>
            <p:cNvSpPr txBox="1"/>
            <p:nvPr/>
          </p:nvSpPr>
          <p:spPr>
            <a:xfrm>
              <a:off x="4737539" y="1398746"/>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04​</a:t>
              </a:r>
            </a:p>
          </p:txBody>
        </p:sp>
        <p:sp>
          <p:nvSpPr>
            <p:cNvPr id="59" name="TextBox 59"/>
            <p:cNvSpPr txBox="1"/>
            <p:nvPr/>
          </p:nvSpPr>
          <p:spPr>
            <a:xfrm>
              <a:off x="4957762" y="1391364"/>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补充证据</a:t>
              </a:r>
            </a:p>
          </p:txBody>
        </p:sp>
        <p:grpSp>
          <p:nvGrpSpPr>
            <p:cNvPr id="63" name="Group 63"/>
            <p:cNvGrpSpPr/>
            <p:nvPr/>
          </p:nvGrpSpPr>
          <p:grpSpPr>
            <a:xfrm>
              <a:off x="5269706" y="1685925"/>
              <a:ext cx="166688" cy="190500"/>
              <a:chOff x="5269706" y="1685925"/>
              <a:chExt cx="166688" cy="190500"/>
            </a:xfrm>
          </p:grpSpPr>
          <p:sp>
            <p:nvSpPr>
              <p:cNvPr id="60" name="Freeform 60"/>
              <p:cNvSpPr/>
              <p:nvPr/>
            </p:nvSpPr>
            <p:spPr>
              <a:xfrm>
                <a:off x="5269706" y="1685925"/>
                <a:ext cx="166688" cy="190500"/>
              </a:xfrm>
              <a:custGeom>
                <a:avLst/>
                <a:gdLst/>
                <a:ahLst/>
                <a:cxnLst/>
                <a:rect l="l" t="t" r="r" b="b"/>
                <a:pathLst>
                  <a:path w="166688" h="190500">
                    <a:moveTo>
                      <a:pt x="166688" y="0"/>
                    </a:moveTo>
                    <a:lnTo>
                      <a:pt x="166688" y="190500"/>
                    </a:lnTo>
                    <a:lnTo>
                      <a:pt x="23812" y="190500"/>
                    </a:lnTo>
                    <a:cubicBezTo>
                      <a:pt x="10661" y="190500"/>
                      <a:pt x="0" y="179839"/>
                      <a:pt x="0" y="166688"/>
                    </a:cubicBezTo>
                    <a:lnTo>
                      <a:pt x="0" y="23812"/>
                    </a:lnTo>
                    <a:cubicBezTo>
                      <a:pt x="0" y="10661"/>
                      <a:pt x="10661" y="0"/>
                      <a:pt x="23812" y="0"/>
                    </a:cubicBezTo>
                    <a:lnTo>
                      <a:pt x="166688" y="0"/>
                    </a:lnTo>
                  </a:path>
                </a:pathLst>
              </a:custGeom>
              <a:noFill/>
              <a:ln w="23812">
                <a:solidFill>
                  <a:srgbClr val="C4472E"/>
                </a:solidFill>
              </a:ln>
            </p:spPr>
          </p:sp>
          <p:sp>
            <p:nvSpPr>
              <p:cNvPr id="61" name="Freeform 61"/>
              <p:cNvSpPr/>
              <p:nvPr/>
            </p:nvSpPr>
            <p:spPr>
              <a:xfrm>
                <a:off x="5269706" y="1828800"/>
                <a:ext cx="166688" cy="23812"/>
              </a:xfrm>
              <a:custGeom>
                <a:avLst/>
                <a:gdLst/>
                <a:ahLst/>
                <a:cxnLst/>
                <a:rect l="l" t="t" r="r" b="b"/>
                <a:pathLst>
                  <a:path w="166688" h="23812">
                    <a:moveTo>
                      <a:pt x="166688" y="0"/>
                    </a:moveTo>
                    <a:lnTo>
                      <a:pt x="23812" y="0"/>
                    </a:lnTo>
                    <a:cubicBezTo>
                      <a:pt x="10661" y="0"/>
                      <a:pt x="0" y="10661"/>
                      <a:pt x="0" y="23812"/>
                    </a:cubicBezTo>
                  </a:path>
                </a:pathLst>
              </a:custGeom>
              <a:noFill/>
              <a:ln w="23812">
                <a:solidFill>
                  <a:srgbClr val="C4472E"/>
                </a:solidFill>
              </a:ln>
            </p:spPr>
          </p:sp>
          <p:sp>
            <p:nvSpPr>
              <p:cNvPr id="62" name="Freeform 62"/>
              <p:cNvSpPr/>
              <p:nvPr/>
            </p:nvSpPr>
            <p:spPr>
              <a:xfrm>
                <a:off x="5317331" y="1733550"/>
                <a:ext cx="71438" cy="9525"/>
              </a:xfrm>
              <a:custGeom>
                <a:avLst/>
                <a:gdLst/>
                <a:ahLst/>
                <a:cxnLst/>
                <a:rect l="l" t="t" r="r" b="b"/>
                <a:pathLst>
                  <a:path w="71438" h="9525">
                    <a:moveTo>
                      <a:pt x="0" y="0"/>
                    </a:moveTo>
                    <a:lnTo>
                      <a:pt x="71438" y="0"/>
                    </a:lnTo>
                  </a:path>
                </a:pathLst>
              </a:custGeom>
              <a:noFill/>
              <a:ln w="23812">
                <a:solidFill>
                  <a:srgbClr val="C4472E"/>
                </a:solidFill>
              </a:ln>
            </p:spPr>
          </p:sp>
        </p:grpSp>
        <p:sp>
          <p:nvSpPr>
            <p:cNvPr id="64" name="Line 64"/>
            <p:cNvSpPr/>
            <p:nvPr/>
          </p:nvSpPr>
          <p:spPr>
            <a:xfrm>
              <a:off x="4743450" y="2038350"/>
              <a:ext cx="1228725" cy="9525"/>
            </a:xfrm>
            <a:custGeom>
              <a:avLst/>
              <a:gdLst/>
              <a:ahLst/>
              <a:cxnLst/>
              <a:rect l="l" t="t" r="r" b="b"/>
              <a:pathLst>
                <a:path w="1228725" h="9525">
                  <a:moveTo>
                    <a:pt x="0" y="0"/>
                  </a:moveTo>
                  <a:lnTo>
                    <a:pt x="1228725" y="0"/>
                  </a:lnTo>
                </a:path>
              </a:pathLst>
            </a:custGeom>
            <a:noFill/>
            <a:ln w="9525">
              <a:solidFill>
                <a:srgbClr val="CFE2F2"/>
              </a:solidFill>
            </a:ln>
          </p:spPr>
        </p:sp>
        <p:sp>
          <p:nvSpPr>
            <p:cNvPr id="65" name="TextBox 65"/>
            <p:cNvSpPr txBox="1"/>
            <p:nvPr/>
          </p:nvSpPr>
          <p:spPr>
            <a:xfrm>
              <a:off x="4738688" y="21409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提供充分证据</a:t>
              </a:r>
            </a:p>
          </p:txBody>
        </p:sp>
        <p:sp>
          <p:nvSpPr>
            <p:cNvPr id="66" name="TextBox 66"/>
            <p:cNvSpPr txBox="1"/>
            <p:nvPr/>
          </p:nvSpPr>
          <p:spPr>
            <a:xfrm>
              <a:off x="4738688" y="2312432"/>
              <a:ext cx="654685" cy="39290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包括财务资料、</a:t>
              </a:r>
              <a:br/>
              <a:r>
                <a:rPr lang="zh-CN" sz="640" dirty="0">
                  <a:solidFill>
                    <a:srgbClr val="5C3A33"/>
                  </a:solidFill>
                  <a:latin typeface="+mn-lt"/>
                  <a:ea typeface="+mn-ea"/>
                  <a:cs typeface="+mn-cs"/>
                </a:rPr>
                <a:t>经营信息、外部</a:t>
              </a:r>
              <a:br/>
              <a:r>
                <a:rPr lang="zh-CN" sz="640" dirty="0">
                  <a:solidFill>
                    <a:srgbClr val="5C3A33"/>
                  </a:solidFill>
                  <a:latin typeface="+mn-lt"/>
                  <a:ea typeface="+mn-ea"/>
                  <a:cs typeface="+mn-cs"/>
                </a:rPr>
                <a:t>事件等</a:t>
              </a:r>
            </a:p>
          </p:txBody>
        </p:sp>
        <p:sp>
          <p:nvSpPr>
            <p:cNvPr id="67" name="TextBox 67"/>
            <p:cNvSpPr txBox="1"/>
            <p:nvPr/>
          </p:nvSpPr>
          <p:spPr>
            <a:xfrm>
              <a:off x="4738688" y="27505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支持调整理由</a:t>
              </a:r>
            </a:p>
          </p:txBody>
        </p:sp>
      </p:grpSp>
      <p:grpSp>
        <p:nvGrpSpPr>
          <p:cNvPr id="80" name="step-05"/>
          <p:cNvGrpSpPr/>
          <p:nvPr/>
        </p:nvGrpSpPr>
        <p:grpSpPr>
          <a:xfrm>
            <a:off x="6124575" y="1276350"/>
            <a:ext cx="1419225" cy="3105150"/>
            <a:chOff x="6124575" y="1276350"/>
            <a:chExt cx="1419225" cy="3105150"/>
          </a:xfrm>
        </p:grpSpPr>
        <p:sp>
          <p:nvSpPr>
            <p:cNvPr id="69" name="Rectangle 69"/>
            <p:cNvSpPr/>
            <p:nvPr/>
          </p:nvSpPr>
          <p:spPr>
            <a:xfrm>
              <a:off x="6124575" y="1276350"/>
              <a:ext cx="1419225" cy="3105150"/>
            </a:xfrm>
            <a:prstGeom prst="roundRect">
              <a:avLst>
                <a:gd name="adj" fmla="val 5369"/>
              </a:avLst>
            </a:prstGeom>
            <a:solidFill>
              <a:srgbClr val="F4F9FD"/>
            </a:solidFill>
            <a:ln w="9525">
              <a:solidFill>
                <a:srgbClr val="CFE2F2"/>
              </a:solidFill>
            </a:ln>
          </p:spPr>
        </p:sp>
        <p:sp>
          <p:nvSpPr>
            <p:cNvPr id="70" name="Ellipse 70"/>
            <p:cNvSpPr/>
            <p:nvPr/>
          </p:nvSpPr>
          <p:spPr>
            <a:xfrm>
              <a:off x="6210300" y="1352550"/>
              <a:ext cx="171450" cy="171450"/>
            </a:xfrm>
            <a:prstGeom prst="ellipse">
              <a:avLst/>
            </a:prstGeom>
            <a:solidFill>
              <a:srgbClr val="C4472E"/>
            </a:solidFill>
            <a:ln>
              <a:noFill/>
            </a:ln>
          </p:spPr>
        </p:sp>
        <p:sp>
          <p:nvSpPr>
            <p:cNvPr id="71" name="TextBox 71"/>
            <p:cNvSpPr txBox="1"/>
            <p:nvPr/>
          </p:nvSpPr>
          <p:spPr>
            <a:xfrm>
              <a:off x="6213914" y="1398746"/>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05​</a:t>
              </a:r>
            </a:p>
          </p:txBody>
        </p:sp>
        <p:sp>
          <p:nvSpPr>
            <p:cNvPr id="72" name="TextBox 72"/>
            <p:cNvSpPr txBox="1"/>
            <p:nvPr/>
          </p:nvSpPr>
          <p:spPr>
            <a:xfrm>
              <a:off x="6434138" y="1391364"/>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风险复核</a:t>
              </a:r>
            </a:p>
          </p:txBody>
        </p:sp>
        <p:grpSp>
          <p:nvGrpSpPr>
            <p:cNvPr id="75" name="Group 75"/>
            <p:cNvGrpSpPr/>
            <p:nvPr/>
          </p:nvGrpSpPr>
          <p:grpSpPr>
            <a:xfrm>
              <a:off x="6722269" y="1674019"/>
              <a:ext cx="214313" cy="214313"/>
              <a:chOff x="6722269" y="1674019"/>
              <a:chExt cx="214313" cy="214313"/>
            </a:xfrm>
          </p:grpSpPr>
          <p:sp>
            <p:nvSpPr>
              <p:cNvPr id="73" name="Freeform 73"/>
              <p:cNvSpPr/>
              <p:nvPr/>
            </p:nvSpPr>
            <p:spPr>
              <a:xfrm>
                <a:off x="6722269" y="1674019"/>
                <a:ext cx="166688" cy="166688"/>
              </a:xfrm>
              <a:custGeom>
                <a:avLst/>
                <a:gdLst/>
                <a:ahLst/>
                <a:cxnLst/>
                <a:rect l="l" t="t" r="r" b="b"/>
                <a:pathLst>
                  <a:path w="166688" h="166688">
                    <a:moveTo>
                      <a:pt x="0" y="83344"/>
                    </a:moveTo>
                    <a:cubicBezTo>
                      <a:pt x="0" y="129373"/>
                      <a:pt x="37314" y="166688"/>
                      <a:pt x="83344" y="166688"/>
                    </a:cubicBezTo>
                    <a:cubicBezTo>
                      <a:pt x="129373" y="166688"/>
                      <a:pt x="166688" y="129373"/>
                      <a:pt x="166688" y="83344"/>
                    </a:cubicBezTo>
                    <a:cubicBezTo>
                      <a:pt x="166688" y="37314"/>
                      <a:pt x="129373" y="0"/>
                      <a:pt x="83344" y="0"/>
                    </a:cubicBezTo>
                    <a:cubicBezTo>
                      <a:pt x="37314" y="0"/>
                      <a:pt x="0" y="37314"/>
                      <a:pt x="0" y="83344"/>
                    </a:cubicBezTo>
                  </a:path>
                </a:pathLst>
              </a:custGeom>
              <a:noFill/>
              <a:ln w="23812">
                <a:solidFill>
                  <a:srgbClr val="C4472E"/>
                </a:solidFill>
              </a:ln>
            </p:spPr>
          </p:sp>
          <p:sp>
            <p:nvSpPr>
              <p:cNvPr id="74" name="Freeform 74"/>
              <p:cNvSpPr/>
              <p:nvPr/>
            </p:nvSpPr>
            <p:spPr>
              <a:xfrm>
                <a:off x="6865144" y="1816894"/>
                <a:ext cx="71438" cy="71438"/>
              </a:xfrm>
              <a:custGeom>
                <a:avLst/>
                <a:gdLst/>
                <a:ahLst/>
                <a:cxnLst/>
                <a:rect l="l" t="t" r="r" b="b"/>
                <a:pathLst>
                  <a:path w="71438" h="71438">
                    <a:moveTo>
                      <a:pt x="71438" y="71438"/>
                    </a:moveTo>
                    <a:lnTo>
                      <a:pt x="0" y="0"/>
                    </a:lnTo>
                  </a:path>
                </a:pathLst>
              </a:custGeom>
              <a:noFill/>
              <a:ln w="23812">
                <a:solidFill>
                  <a:srgbClr val="C4472E"/>
                </a:solidFill>
              </a:ln>
            </p:spPr>
          </p:sp>
        </p:grpSp>
        <p:sp>
          <p:nvSpPr>
            <p:cNvPr id="76" name="Line 76"/>
            <p:cNvSpPr/>
            <p:nvPr/>
          </p:nvSpPr>
          <p:spPr>
            <a:xfrm>
              <a:off x="6219825" y="2038350"/>
              <a:ext cx="1228725" cy="9525"/>
            </a:xfrm>
            <a:custGeom>
              <a:avLst/>
              <a:gdLst/>
              <a:ahLst/>
              <a:cxnLst/>
              <a:rect l="l" t="t" r="r" b="b"/>
              <a:pathLst>
                <a:path w="1228725" h="9525">
                  <a:moveTo>
                    <a:pt x="0" y="0"/>
                  </a:moveTo>
                  <a:lnTo>
                    <a:pt x="1228725" y="0"/>
                  </a:lnTo>
                </a:path>
              </a:pathLst>
            </a:custGeom>
            <a:noFill/>
            <a:ln w="9525">
              <a:solidFill>
                <a:srgbClr val="CFE2F2"/>
              </a:solidFill>
            </a:ln>
          </p:spPr>
        </p:sp>
        <p:sp>
          <p:nvSpPr>
            <p:cNvPr id="77" name="TextBox 77"/>
            <p:cNvSpPr txBox="1"/>
            <p:nvPr/>
          </p:nvSpPr>
          <p:spPr>
            <a:xfrm>
              <a:off x="6215062" y="2140982"/>
              <a:ext cx="57340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风险管理部门</a:t>
              </a:r>
              <a:br/>
              <a:r>
                <a:rPr lang="zh-CN" sz="640" dirty="0">
                  <a:solidFill>
                    <a:srgbClr val="5C3A33"/>
                  </a:solidFill>
                  <a:latin typeface="+mn-lt"/>
                  <a:ea typeface="+mn-ea"/>
                  <a:cs typeface="+mn-cs"/>
                </a:rPr>
                <a:t>独立复核</a:t>
              </a:r>
            </a:p>
          </p:txBody>
        </p:sp>
        <p:sp>
          <p:nvSpPr>
            <p:cNvPr id="78" name="TextBox 78"/>
            <p:cNvSpPr txBox="1"/>
            <p:nvPr/>
          </p:nvSpPr>
          <p:spPr>
            <a:xfrm>
              <a:off x="6215062" y="2445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核实证据材料</a:t>
              </a:r>
            </a:p>
          </p:txBody>
        </p:sp>
        <p:sp>
          <p:nvSpPr>
            <p:cNvPr id="79" name="TextBox 79"/>
            <p:cNvSpPr txBox="1"/>
            <p:nvPr/>
          </p:nvSpPr>
          <p:spPr>
            <a:xfrm>
              <a:off x="6215062" y="2617232"/>
              <a:ext cx="65468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评估调整合理性</a:t>
              </a:r>
              <a:br/>
              <a:r>
                <a:rPr lang="zh-CN" sz="640" dirty="0">
                  <a:solidFill>
                    <a:srgbClr val="5C3A33"/>
                  </a:solidFill>
                  <a:latin typeface="+mn-lt"/>
                  <a:ea typeface="+mn-ea"/>
                  <a:cs typeface="+mn-cs"/>
                </a:rPr>
                <a:t>及风险影响</a:t>
              </a:r>
            </a:p>
          </p:txBody>
        </p:sp>
      </p:grpSp>
      <p:grpSp>
        <p:nvGrpSpPr>
          <p:cNvPr id="95" name="step-06"/>
          <p:cNvGrpSpPr/>
          <p:nvPr/>
        </p:nvGrpSpPr>
        <p:grpSpPr>
          <a:xfrm>
            <a:off x="7600950" y="1276350"/>
            <a:ext cx="1419225" cy="3105150"/>
            <a:chOff x="7600950" y="1276350"/>
            <a:chExt cx="1419225" cy="3105150"/>
          </a:xfrm>
        </p:grpSpPr>
        <p:sp>
          <p:nvSpPr>
            <p:cNvPr id="81" name="Rectangle 81"/>
            <p:cNvSpPr/>
            <p:nvPr/>
          </p:nvSpPr>
          <p:spPr>
            <a:xfrm>
              <a:off x="7600950" y="1276350"/>
              <a:ext cx="1419225" cy="3105150"/>
            </a:xfrm>
            <a:prstGeom prst="roundRect">
              <a:avLst>
                <a:gd name="adj" fmla="val 5369"/>
              </a:avLst>
            </a:prstGeom>
            <a:solidFill>
              <a:srgbClr val="F4F9FD"/>
            </a:solidFill>
            <a:ln w="9525">
              <a:solidFill>
                <a:srgbClr val="CFE2F2"/>
              </a:solidFill>
            </a:ln>
          </p:spPr>
        </p:sp>
        <p:sp>
          <p:nvSpPr>
            <p:cNvPr id="82" name="Ellipse 82"/>
            <p:cNvSpPr/>
            <p:nvPr/>
          </p:nvSpPr>
          <p:spPr>
            <a:xfrm>
              <a:off x="7686675" y="1352550"/>
              <a:ext cx="171450" cy="171450"/>
            </a:xfrm>
            <a:prstGeom prst="ellipse">
              <a:avLst/>
            </a:prstGeom>
            <a:solidFill>
              <a:srgbClr val="C4472E"/>
            </a:solidFill>
            <a:ln>
              <a:noFill/>
            </a:ln>
          </p:spPr>
        </p:sp>
        <p:sp>
          <p:nvSpPr>
            <p:cNvPr id="83" name="TextBox 83"/>
            <p:cNvSpPr txBox="1"/>
            <p:nvPr/>
          </p:nvSpPr>
          <p:spPr>
            <a:xfrm>
              <a:off x="7690289" y="1398746"/>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06​</a:t>
              </a:r>
            </a:p>
          </p:txBody>
        </p:sp>
        <p:sp>
          <p:nvSpPr>
            <p:cNvPr id="84" name="TextBox 84"/>
            <p:cNvSpPr txBox="1"/>
            <p:nvPr/>
          </p:nvSpPr>
          <p:spPr>
            <a:xfrm>
              <a:off x="7910512" y="1343739"/>
              <a:ext cx="511175" cy="278606"/>
            </a:xfrm>
            <a:prstGeom prst="rect">
              <a:avLst/>
            </a:prstGeom>
            <a:noFill/>
            <a:ln>
              <a:noFill/>
            </a:ln>
          </p:spPr>
          <p:txBody>
            <a:bodyPr wrap="none" lIns="0" tIns="0" rIns="0" bIns="0" anchor="t" anchorCtr="0">
              <a:spAutoFit/>
            </a:bodyPr>
            <a:lstStyle/>
            <a:p>
              <a:pPr algn="l">
                <a:lnSpc>
                  <a:spcPts val="975"/>
                </a:lnSpc>
              </a:pPr>
              <a:r>
                <a:rPr lang="zh-CN" sz="790" b="1" dirty="0">
                  <a:solidFill>
                    <a:srgbClr val="3E1810"/>
                  </a:solidFill>
                  <a:latin typeface="+mn-lt"/>
                  <a:ea typeface="+mn-ea"/>
                  <a:cs typeface="+mn-cs"/>
                </a:rPr>
                <a:t>评级委员会</a:t>
              </a:r>
              <a:br/>
              <a:r>
                <a:rPr lang="zh-CN" sz="790" b="1" dirty="0">
                  <a:solidFill>
                    <a:srgbClr val="3E1810"/>
                  </a:solidFill>
                  <a:latin typeface="+mn-lt"/>
                  <a:ea typeface="+mn-ea"/>
                  <a:cs typeface="+mn-cs"/>
                </a:rPr>
                <a:t>/授权审批</a:t>
              </a:r>
            </a:p>
          </p:txBody>
        </p:sp>
        <p:grpSp>
          <p:nvGrpSpPr>
            <p:cNvPr id="91" name="Group 91"/>
            <p:cNvGrpSpPr/>
            <p:nvPr/>
          </p:nvGrpSpPr>
          <p:grpSpPr>
            <a:xfrm>
              <a:off x="8198644" y="1674019"/>
              <a:ext cx="214312" cy="214312"/>
              <a:chOff x="8198644" y="1674019"/>
              <a:chExt cx="214312" cy="214312"/>
            </a:xfrm>
          </p:grpSpPr>
          <p:sp>
            <p:nvSpPr>
              <p:cNvPr id="85" name="Freeform 85"/>
              <p:cNvSpPr/>
              <p:nvPr/>
            </p:nvSpPr>
            <p:spPr>
              <a:xfrm>
                <a:off x="8281988" y="176926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C4472E"/>
                </a:solidFill>
              </a:ln>
            </p:spPr>
          </p:sp>
          <p:sp>
            <p:nvSpPr>
              <p:cNvPr id="86" name="Freeform 86"/>
              <p:cNvSpPr/>
              <p:nvPr/>
            </p:nvSpPr>
            <p:spPr>
              <a:xfrm>
                <a:off x="8258175" y="1852612"/>
                <a:ext cx="95250" cy="35719"/>
              </a:xfrm>
              <a:custGeom>
                <a:avLst/>
                <a:gdLst/>
                <a:ahLst/>
                <a:cxnLst/>
                <a:rect l="l" t="t" r="r" b="b"/>
                <a:pathLst>
                  <a:path w="95250" h="35719">
                    <a:moveTo>
                      <a:pt x="0" y="35719"/>
                    </a:moveTo>
                    <a:lnTo>
                      <a:pt x="0" y="23812"/>
                    </a:lnTo>
                    <a:cubicBezTo>
                      <a:pt x="0" y="10661"/>
                      <a:pt x="10661" y="0"/>
                      <a:pt x="23812" y="0"/>
                    </a:cubicBezTo>
                    <a:lnTo>
                      <a:pt x="71438" y="0"/>
                    </a:lnTo>
                    <a:cubicBezTo>
                      <a:pt x="84589" y="0"/>
                      <a:pt x="95250" y="10661"/>
                      <a:pt x="95250" y="23812"/>
                    </a:cubicBezTo>
                    <a:lnTo>
                      <a:pt x="95250" y="35719"/>
                    </a:lnTo>
                  </a:path>
                </a:pathLst>
              </a:custGeom>
              <a:noFill/>
              <a:ln w="23812">
                <a:solidFill>
                  <a:srgbClr val="C4472E"/>
                </a:solidFill>
              </a:ln>
            </p:spPr>
          </p:sp>
          <p:sp>
            <p:nvSpPr>
              <p:cNvPr id="87" name="Freeform 87"/>
              <p:cNvSpPr/>
              <p:nvPr/>
            </p:nvSpPr>
            <p:spPr>
              <a:xfrm>
                <a:off x="8341519" y="167401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C4472E"/>
                </a:solidFill>
              </a:ln>
            </p:spPr>
          </p:sp>
          <p:sp>
            <p:nvSpPr>
              <p:cNvPr id="88" name="Freeform 88"/>
              <p:cNvSpPr/>
              <p:nvPr/>
            </p:nvSpPr>
            <p:spPr>
              <a:xfrm>
                <a:off x="8365331" y="1757362"/>
                <a:ext cx="47625" cy="35719"/>
              </a:xfrm>
              <a:custGeom>
                <a:avLst/>
                <a:gdLst/>
                <a:ahLst/>
                <a:cxnLst/>
                <a:rect l="l" t="t" r="r" b="b"/>
                <a:pathLst>
                  <a:path w="47625" h="35719">
                    <a:moveTo>
                      <a:pt x="0" y="0"/>
                    </a:moveTo>
                    <a:lnTo>
                      <a:pt x="23812" y="0"/>
                    </a:lnTo>
                    <a:cubicBezTo>
                      <a:pt x="36964" y="0"/>
                      <a:pt x="47625" y="10661"/>
                      <a:pt x="47625" y="23812"/>
                    </a:cubicBezTo>
                    <a:lnTo>
                      <a:pt x="47625" y="35719"/>
                    </a:lnTo>
                  </a:path>
                </a:pathLst>
              </a:custGeom>
              <a:noFill/>
              <a:ln w="23812">
                <a:solidFill>
                  <a:srgbClr val="C4472E"/>
                </a:solidFill>
              </a:ln>
            </p:spPr>
          </p:sp>
          <p:sp>
            <p:nvSpPr>
              <p:cNvPr id="89" name="Freeform 89"/>
              <p:cNvSpPr/>
              <p:nvPr/>
            </p:nvSpPr>
            <p:spPr>
              <a:xfrm>
                <a:off x="8222456" y="167401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C4472E"/>
                </a:solidFill>
              </a:ln>
            </p:spPr>
          </p:sp>
          <p:sp>
            <p:nvSpPr>
              <p:cNvPr id="90" name="Freeform 90"/>
              <p:cNvSpPr/>
              <p:nvPr/>
            </p:nvSpPr>
            <p:spPr>
              <a:xfrm>
                <a:off x="8198644" y="1757362"/>
                <a:ext cx="47625" cy="35719"/>
              </a:xfrm>
              <a:custGeom>
                <a:avLst/>
                <a:gdLst/>
                <a:ahLst/>
                <a:cxnLst/>
                <a:rect l="l" t="t" r="r" b="b"/>
                <a:pathLst>
                  <a:path w="47625" h="35719">
                    <a:moveTo>
                      <a:pt x="0" y="35719"/>
                    </a:moveTo>
                    <a:lnTo>
                      <a:pt x="0" y="23812"/>
                    </a:lnTo>
                    <a:cubicBezTo>
                      <a:pt x="0" y="10661"/>
                      <a:pt x="10661" y="0"/>
                      <a:pt x="23812" y="0"/>
                    </a:cubicBezTo>
                    <a:lnTo>
                      <a:pt x="47625" y="0"/>
                    </a:lnTo>
                  </a:path>
                </a:pathLst>
              </a:custGeom>
              <a:noFill/>
              <a:ln w="23812">
                <a:solidFill>
                  <a:srgbClr val="C4472E"/>
                </a:solidFill>
              </a:ln>
            </p:spPr>
          </p:sp>
        </p:grpSp>
        <p:sp>
          <p:nvSpPr>
            <p:cNvPr id="92" name="Line 92"/>
            <p:cNvSpPr/>
            <p:nvPr/>
          </p:nvSpPr>
          <p:spPr>
            <a:xfrm>
              <a:off x="7696200" y="2038350"/>
              <a:ext cx="1228725" cy="9525"/>
            </a:xfrm>
            <a:custGeom>
              <a:avLst/>
              <a:gdLst/>
              <a:ahLst/>
              <a:cxnLst/>
              <a:rect l="l" t="t" r="r" b="b"/>
              <a:pathLst>
                <a:path w="1228725" h="9525">
                  <a:moveTo>
                    <a:pt x="0" y="0"/>
                  </a:moveTo>
                  <a:lnTo>
                    <a:pt x="1228725" y="0"/>
                  </a:lnTo>
                </a:path>
              </a:pathLst>
            </a:custGeom>
            <a:noFill/>
            <a:ln w="9525">
              <a:solidFill>
                <a:srgbClr val="CFE2F2"/>
              </a:solidFill>
            </a:ln>
          </p:spPr>
        </p:sp>
        <p:sp>
          <p:nvSpPr>
            <p:cNvPr id="93" name="TextBox 93"/>
            <p:cNvSpPr txBox="1"/>
            <p:nvPr/>
          </p:nvSpPr>
          <p:spPr>
            <a:xfrm>
              <a:off x="7691438" y="2140982"/>
              <a:ext cx="65468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评级委员会审议</a:t>
              </a:r>
              <a:br/>
              <a:r>
                <a:rPr lang="zh-CN" sz="640" dirty="0">
                  <a:solidFill>
                    <a:srgbClr val="5C3A33"/>
                  </a:solidFill>
                  <a:latin typeface="+mn-lt"/>
                  <a:ea typeface="+mn-ea"/>
                  <a:cs typeface="+mn-cs"/>
                </a:rPr>
                <a:t>或按授权审批</a:t>
              </a:r>
            </a:p>
          </p:txBody>
        </p:sp>
        <p:sp>
          <p:nvSpPr>
            <p:cNvPr id="94" name="TextBox 94"/>
            <p:cNvSpPr txBox="1"/>
            <p:nvPr/>
          </p:nvSpPr>
          <p:spPr>
            <a:xfrm>
              <a:off x="7691438" y="2445782"/>
              <a:ext cx="65468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综合讨论，形成</a:t>
              </a:r>
              <a:br/>
              <a:r>
                <a:rPr lang="zh-CN" sz="640" dirty="0">
                  <a:solidFill>
                    <a:srgbClr val="5C3A33"/>
                  </a:solidFill>
                  <a:latin typeface="+mn-lt"/>
                  <a:ea typeface="+mn-ea"/>
                  <a:cs typeface="+mn-cs"/>
                </a:rPr>
                <a:t>审议意见</a:t>
              </a:r>
            </a:p>
          </p:txBody>
        </p:sp>
      </p:grpSp>
      <p:grpSp>
        <p:nvGrpSpPr>
          <p:cNvPr id="108" name="step-07"/>
          <p:cNvGrpSpPr/>
          <p:nvPr/>
        </p:nvGrpSpPr>
        <p:grpSpPr>
          <a:xfrm>
            <a:off x="9077325" y="1276350"/>
            <a:ext cx="1419225" cy="3105150"/>
            <a:chOff x="9077325" y="1276350"/>
            <a:chExt cx="1419225" cy="3105150"/>
          </a:xfrm>
        </p:grpSpPr>
        <p:sp>
          <p:nvSpPr>
            <p:cNvPr id="96" name="Rectangle 96"/>
            <p:cNvSpPr/>
            <p:nvPr/>
          </p:nvSpPr>
          <p:spPr>
            <a:xfrm>
              <a:off x="9077325" y="1276350"/>
              <a:ext cx="1419225" cy="3105150"/>
            </a:xfrm>
            <a:prstGeom prst="roundRect">
              <a:avLst>
                <a:gd name="adj" fmla="val 5369"/>
              </a:avLst>
            </a:prstGeom>
            <a:solidFill>
              <a:srgbClr val="F4F9FD"/>
            </a:solidFill>
            <a:ln w="9525">
              <a:solidFill>
                <a:srgbClr val="CFE2F2"/>
              </a:solidFill>
            </a:ln>
          </p:spPr>
        </p:sp>
        <p:sp>
          <p:nvSpPr>
            <p:cNvPr id="97" name="Ellipse 97"/>
            <p:cNvSpPr/>
            <p:nvPr/>
          </p:nvSpPr>
          <p:spPr>
            <a:xfrm>
              <a:off x="9163050" y="1352550"/>
              <a:ext cx="171450" cy="171450"/>
            </a:xfrm>
            <a:prstGeom prst="ellipse">
              <a:avLst/>
            </a:prstGeom>
            <a:solidFill>
              <a:srgbClr val="C4472E"/>
            </a:solidFill>
            <a:ln>
              <a:noFill/>
            </a:ln>
          </p:spPr>
        </p:sp>
        <p:sp>
          <p:nvSpPr>
            <p:cNvPr id="98" name="TextBox 98"/>
            <p:cNvSpPr txBox="1"/>
            <p:nvPr/>
          </p:nvSpPr>
          <p:spPr>
            <a:xfrm>
              <a:off x="9166664" y="1398746"/>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07​</a:t>
              </a:r>
            </a:p>
          </p:txBody>
        </p:sp>
        <p:sp>
          <p:nvSpPr>
            <p:cNvPr id="99" name="TextBox 99"/>
            <p:cNvSpPr txBox="1"/>
            <p:nvPr/>
          </p:nvSpPr>
          <p:spPr>
            <a:xfrm>
              <a:off x="9386888" y="1391364"/>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最终评级</a:t>
              </a:r>
            </a:p>
          </p:txBody>
        </p:sp>
        <p:grpSp>
          <p:nvGrpSpPr>
            <p:cNvPr id="103" name="Group 103"/>
            <p:cNvGrpSpPr/>
            <p:nvPr/>
          </p:nvGrpSpPr>
          <p:grpSpPr>
            <a:xfrm>
              <a:off x="9679805" y="1674019"/>
              <a:ext cx="204716" cy="213003"/>
              <a:chOff x="9679805" y="1674019"/>
              <a:chExt cx="204716" cy="213003"/>
            </a:xfrm>
          </p:grpSpPr>
          <p:sp>
            <p:nvSpPr>
              <p:cNvPr id="100" name="Freeform 100"/>
              <p:cNvSpPr/>
              <p:nvPr/>
            </p:nvSpPr>
            <p:spPr>
              <a:xfrm>
                <a:off x="9710738" y="1674019"/>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3812">
                <a:solidFill>
                  <a:srgbClr val="C4472E"/>
                </a:solidFill>
              </a:ln>
            </p:spPr>
          </p:sp>
          <p:sp>
            <p:nvSpPr>
              <p:cNvPr id="101" name="Freeform 101"/>
              <p:cNvSpPr/>
              <p:nvPr/>
            </p:nvSpPr>
            <p:spPr>
              <a:xfrm>
                <a:off x="9782175" y="1781175"/>
                <a:ext cx="102346" cy="105847"/>
              </a:xfrm>
              <a:custGeom>
                <a:avLst/>
                <a:gdLst/>
                <a:ahLst/>
                <a:cxnLst/>
                <a:rect l="l" t="t" r="r" b="b"/>
                <a:pathLst>
                  <a:path w="102346" h="105847">
                    <a:moveTo>
                      <a:pt x="0" y="35719"/>
                    </a:moveTo>
                    <a:lnTo>
                      <a:pt x="40481" y="105847"/>
                    </a:lnTo>
                    <a:lnTo>
                      <a:pt x="59507" y="67354"/>
                    </a:lnTo>
                    <a:lnTo>
                      <a:pt x="102346" y="70116"/>
                    </a:lnTo>
                    <a:lnTo>
                      <a:pt x="61865" y="0"/>
                    </a:lnTo>
                  </a:path>
                </a:pathLst>
              </a:custGeom>
              <a:noFill/>
              <a:ln w="23812">
                <a:solidFill>
                  <a:srgbClr val="C4472E"/>
                </a:solidFill>
              </a:ln>
            </p:spPr>
          </p:sp>
          <p:sp>
            <p:nvSpPr>
              <p:cNvPr id="102" name="Freeform 102"/>
              <p:cNvSpPr/>
              <p:nvPr/>
            </p:nvSpPr>
            <p:spPr>
              <a:xfrm>
                <a:off x="9679805" y="1781175"/>
                <a:ext cx="102346" cy="105835"/>
              </a:xfrm>
              <a:custGeom>
                <a:avLst/>
                <a:gdLst/>
                <a:ahLst/>
                <a:cxnLst/>
                <a:rect l="l" t="t" r="r" b="b"/>
                <a:pathLst>
                  <a:path w="102346" h="105835">
                    <a:moveTo>
                      <a:pt x="40481" y="0"/>
                    </a:moveTo>
                    <a:lnTo>
                      <a:pt x="0" y="70128"/>
                    </a:lnTo>
                    <a:lnTo>
                      <a:pt x="42839" y="67354"/>
                    </a:lnTo>
                    <a:lnTo>
                      <a:pt x="61865" y="105835"/>
                    </a:lnTo>
                    <a:lnTo>
                      <a:pt x="102346" y="35719"/>
                    </a:lnTo>
                  </a:path>
                </a:pathLst>
              </a:custGeom>
              <a:noFill/>
              <a:ln w="23812">
                <a:solidFill>
                  <a:srgbClr val="C4472E"/>
                </a:solidFill>
              </a:ln>
            </p:spPr>
          </p:sp>
        </p:grpSp>
        <p:sp>
          <p:nvSpPr>
            <p:cNvPr id="104" name="Line 104"/>
            <p:cNvSpPr/>
            <p:nvPr/>
          </p:nvSpPr>
          <p:spPr>
            <a:xfrm>
              <a:off x="9172575" y="2038350"/>
              <a:ext cx="1228725" cy="9525"/>
            </a:xfrm>
            <a:custGeom>
              <a:avLst/>
              <a:gdLst/>
              <a:ahLst/>
              <a:cxnLst/>
              <a:rect l="l" t="t" r="r" b="b"/>
              <a:pathLst>
                <a:path w="1228725" h="9525">
                  <a:moveTo>
                    <a:pt x="0" y="0"/>
                  </a:moveTo>
                  <a:lnTo>
                    <a:pt x="1228725" y="0"/>
                  </a:lnTo>
                </a:path>
              </a:pathLst>
            </a:custGeom>
            <a:noFill/>
            <a:ln w="9525">
              <a:solidFill>
                <a:srgbClr val="CFE2F2"/>
              </a:solidFill>
            </a:ln>
          </p:spPr>
        </p:sp>
        <p:sp>
          <p:nvSpPr>
            <p:cNvPr id="105" name="TextBox 105"/>
            <p:cNvSpPr txBox="1"/>
            <p:nvPr/>
          </p:nvSpPr>
          <p:spPr>
            <a:xfrm>
              <a:off x="9167812" y="21409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确定最终评级</a:t>
              </a:r>
            </a:p>
          </p:txBody>
        </p:sp>
        <p:sp>
          <p:nvSpPr>
            <p:cNvPr id="106" name="TextBox 106"/>
            <p:cNvSpPr txBox="1"/>
            <p:nvPr/>
          </p:nvSpPr>
          <p:spPr>
            <a:xfrm>
              <a:off x="9167812" y="23124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更新系统结果</a:t>
              </a:r>
            </a:p>
          </p:txBody>
        </p:sp>
        <p:sp>
          <p:nvSpPr>
            <p:cNvPr id="107" name="TextBox 107"/>
            <p:cNvSpPr txBox="1"/>
            <p:nvPr/>
          </p:nvSpPr>
          <p:spPr>
            <a:xfrm>
              <a:off x="9167812" y="2483882"/>
              <a:ext cx="73596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同步应用到授信、</a:t>
              </a:r>
              <a:br/>
              <a:r>
                <a:rPr lang="zh-CN" sz="640" dirty="0">
                  <a:solidFill>
                    <a:srgbClr val="5C3A33"/>
                  </a:solidFill>
                  <a:latin typeface="+mn-lt"/>
                  <a:ea typeface="+mn-ea"/>
                  <a:cs typeface="+mn-cs"/>
                </a:rPr>
                <a:t>定价等环节</a:t>
              </a:r>
            </a:p>
          </p:txBody>
        </p:sp>
      </p:grpSp>
      <p:grpSp>
        <p:nvGrpSpPr>
          <p:cNvPr id="120" name="step-08"/>
          <p:cNvGrpSpPr/>
          <p:nvPr/>
        </p:nvGrpSpPr>
        <p:grpSpPr>
          <a:xfrm>
            <a:off x="10553700" y="1276350"/>
            <a:ext cx="1419225" cy="3105150"/>
            <a:chOff x="10553700" y="1276350"/>
            <a:chExt cx="1419225" cy="3105150"/>
          </a:xfrm>
        </p:grpSpPr>
        <p:sp>
          <p:nvSpPr>
            <p:cNvPr id="109" name="Rectangle 109"/>
            <p:cNvSpPr/>
            <p:nvPr/>
          </p:nvSpPr>
          <p:spPr>
            <a:xfrm>
              <a:off x="10553700" y="1276350"/>
              <a:ext cx="1419225" cy="3105150"/>
            </a:xfrm>
            <a:prstGeom prst="roundRect">
              <a:avLst>
                <a:gd name="adj" fmla="val 5369"/>
              </a:avLst>
            </a:prstGeom>
            <a:solidFill>
              <a:srgbClr val="F4F9FD"/>
            </a:solidFill>
            <a:ln w="9525">
              <a:solidFill>
                <a:srgbClr val="CFE2F2"/>
              </a:solidFill>
            </a:ln>
          </p:spPr>
        </p:sp>
        <p:sp>
          <p:nvSpPr>
            <p:cNvPr id="110" name="Ellipse 110"/>
            <p:cNvSpPr/>
            <p:nvPr/>
          </p:nvSpPr>
          <p:spPr>
            <a:xfrm>
              <a:off x="10639425" y="1352550"/>
              <a:ext cx="171450" cy="171450"/>
            </a:xfrm>
            <a:prstGeom prst="ellipse">
              <a:avLst/>
            </a:prstGeom>
            <a:solidFill>
              <a:srgbClr val="C4472E"/>
            </a:solidFill>
            <a:ln>
              <a:noFill/>
            </a:ln>
          </p:spPr>
        </p:sp>
        <p:sp>
          <p:nvSpPr>
            <p:cNvPr id="111" name="TextBox 111"/>
            <p:cNvSpPr txBox="1"/>
            <p:nvPr/>
          </p:nvSpPr>
          <p:spPr>
            <a:xfrm>
              <a:off x="10643039" y="1398746"/>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08​</a:t>
              </a:r>
            </a:p>
          </p:txBody>
        </p:sp>
        <p:sp>
          <p:nvSpPr>
            <p:cNvPr id="112" name="TextBox 112"/>
            <p:cNvSpPr txBox="1"/>
            <p:nvPr/>
          </p:nvSpPr>
          <p:spPr>
            <a:xfrm>
              <a:off x="10863262" y="1391364"/>
              <a:ext cx="54127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留痕与监控</a:t>
              </a:r>
            </a:p>
          </p:txBody>
        </p:sp>
        <p:grpSp>
          <p:nvGrpSpPr>
            <p:cNvPr id="115" name="Group 115"/>
            <p:cNvGrpSpPr/>
            <p:nvPr/>
          </p:nvGrpSpPr>
          <p:grpSpPr>
            <a:xfrm>
              <a:off x="11151394" y="1674019"/>
              <a:ext cx="214312" cy="214312"/>
              <a:chOff x="11151394" y="1674019"/>
              <a:chExt cx="214312" cy="214312"/>
            </a:xfrm>
          </p:grpSpPr>
          <p:sp>
            <p:nvSpPr>
              <p:cNvPr id="113" name="Freeform 113"/>
              <p:cNvSpPr/>
              <p:nvPr/>
            </p:nvSpPr>
            <p:spPr>
              <a:xfrm>
                <a:off x="11151394" y="16740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rgbClr val="C4472E"/>
                </a:solidFill>
              </a:ln>
            </p:spPr>
          </p:sp>
          <p:sp>
            <p:nvSpPr>
              <p:cNvPr id="114" name="Freeform 114"/>
              <p:cNvSpPr/>
              <p:nvPr/>
            </p:nvSpPr>
            <p:spPr>
              <a:xfrm>
                <a:off x="11258550" y="1721644"/>
                <a:ext cx="35719" cy="95250"/>
              </a:xfrm>
              <a:custGeom>
                <a:avLst/>
                <a:gdLst/>
                <a:ahLst/>
                <a:cxnLst/>
                <a:rect l="l" t="t" r="r" b="b"/>
                <a:pathLst>
                  <a:path w="35719" h="95250">
                    <a:moveTo>
                      <a:pt x="0" y="0"/>
                    </a:moveTo>
                    <a:lnTo>
                      <a:pt x="0" y="59531"/>
                    </a:lnTo>
                    <a:lnTo>
                      <a:pt x="35719" y="95250"/>
                    </a:lnTo>
                  </a:path>
                </a:pathLst>
              </a:custGeom>
              <a:noFill/>
              <a:ln w="23812">
                <a:solidFill>
                  <a:srgbClr val="C4472E"/>
                </a:solidFill>
              </a:ln>
            </p:spPr>
          </p:sp>
        </p:grpSp>
        <p:sp>
          <p:nvSpPr>
            <p:cNvPr id="116" name="Line 116"/>
            <p:cNvSpPr/>
            <p:nvPr/>
          </p:nvSpPr>
          <p:spPr>
            <a:xfrm>
              <a:off x="10648950" y="2038350"/>
              <a:ext cx="1228725" cy="9525"/>
            </a:xfrm>
            <a:custGeom>
              <a:avLst/>
              <a:gdLst/>
              <a:ahLst/>
              <a:cxnLst/>
              <a:rect l="l" t="t" r="r" b="b"/>
              <a:pathLst>
                <a:path w="1228725" h="9525">
                  <a:moveTo>
                    <a:pt x="0" y="0"/>
                  </a:moveTo>
                  <a:lnTo>
                    <a:pt x="1228725" y="0"/>
                  </a:lnTo>
                </a:path>
              </a:pathLst>
            </a:custGeom>
            <a:noFill/>
            <a:ln w="9525">
              <a:solidFill>
                <a:srgbClr val="CFE2F2"/>
              </a:solidFill>
            </a:ln>
          </p:spPr>
        </p:sp>
        <p:sp>
          <p:nvSpPr>
            <p:cNvPr id="117" name="TextBox 117"/>
            <p:cNvSpPr txBox="1"/>
            <p:nvPr/>
          </p:nvSpPr>
          <p:spPr>
            <a:xfrm>
              <a:off x="10644188" y="2140982"/>
              <a:ext cx="57340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完整记录审批</a:t>
              </a:r>
              <a:br/>
              <a:r>
                <a:rPr lang="zh-CN" sz="640" dirty="0">
                  <a:solidFill>
                    <a:srgbClr val="5C3A33"/>
                  </a:solidFill>
                  <a:latin typeface="+mn-lt"/>
                  <a:ea typeface="+mn-ea"/>
                  <a:cs typeface="+mn-cs"/>
                </a:rPr>
                <a:t>流程与证据</a:t>
              </a:r>
            </a:p>
          </p:txBody>
        </p:sp>
        <p:sp>
          <p:nvSpPr>
            <p:cNvPr id="118" name="TextBox 118"/>
            <p:cNvSpPr txBox="1"/>
            <p:nvPr/>
          </p:nvSpPr>
          <p:spPr>
            <a:xfrm>
              <a:off x="10644188" y="24457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纳入后续监控</a:t>
              </a:r>
            </a:p>
          </p:txBody>
        </p:sp>
        <p:sp>
          <p:nvSpPr>
            <p:cNvPr id="119" name="TextBox 119"/>
            <p:cNvSpPr txBox="1"/>
            <p:nvPr/>
          </p:nvSpPr>
          <p:spPr>
            <a:xfrm>
              <a:off x="10644188" y="2617232"/>
              <a:ext cx="573405" cy="259556"/>
            </a:xfrm>
            <a:prstGeom prst="rect">
              <a:avLst/>
            </a:prstGeom>
            <a:noFill/>
            <a:ln>
              <a:noFill/>
            </a:ln>
          </p:spPr>
          <p:txBody>
            <a:bodyPr wrap="none" lIns="0" tIns="0" rIns="0" bIns="0" anchor="t" anchorCtr="0">
              <a:spAutoFit/>
            </a:bodyPr>
            <a:lstStyle/>
            <a:p>
              <a:pPr algn="l" marL="76200" indent="-76200">
                <a:lnSpc>
                  <a:spcPts val="1050"/>
                </a:lnSpc>
                <a:buClr>
                  <a:srgbClr val="5C3A33"/>
                </a:buClr>
                <a:buSzTx/>
                <a:buFontTx/>
                <a:buChar char="•"/>
              </a:pPr>
              <a:r>
                <a:rPr lang="zh-CN" sz="640" dirty="0">
                  <a:solidFill>
                    <a:srgbClr val="5C3A33"/>
                  </a:solidFill>
                  <a:latin typeface="+mn-lt"/>
                  <a:ea typeface="+mn-ea"/>
                  <a:cs typeface="+mn-cs"/>
                </a:rPr>
                <a:t>定期回顾评估</a:t>
              </a:r>
              <a:br/>
              <a:r>
                <a:rPr lang="zh-CN" sz="640" dirty="0">
                  <a:solidFill>
                    <a:srgbClr val="5C3A33"/>
                  </a:solidFill>
                  <a:latin typeface="+mn-lt"/>
                  <a:ea typeface="+mn-ea"/>
                  <a:cs typeface="+mn-cs"/>
                </a:rPr>
                <a:t>效果</a:t>
              </a:r>
            </a:p>
          </p:txBody>
        </p:sp>
      </p:grpSp>
      <p:grpSp>
        <p:nvGrpSpPr>
          <p:cNvPr id="163" name="scenario-card"/>
          <p:cNvGrpSpPr/>
          <p:nvPr/>
        </p:nvGrpSpPr>
        <p:grpSpPr>
          <a:xfrm>
            <a:off x="190500" y="4457700"/>
            <a:ext cx="5810250" cy="2114550"/>
            <a:chOff x="190500" y="4457700"/>
            <a:chExt cx="5810250" cy="2114550"/>
          </a:xfrm>
        </p:grpSpPr>
        <p:sp>
          <p:nvSpPr>
            <p:cNvPr id="121" name="Rectangle 121"/>
            <p:cNvSpPr/>
            <p:nvPr/>
          </p:nvSpPr>
          <p:spPr>
            <a:xfrm>
              <a:off x="190500" y="4457700"/>
              <a:ext cx="5810250" cy="2114550"/>
            </a:xfrm>
            <a:prstGeom prst="roundRect">
              <a:avLst>
                <a:gd name="adj" fmla="val 4505"/>
              </a:avLst>
            </a:prstGeom>
            <a:solidFill>
              <a:srgbClr val="FFFFFF"/>
            </a:solidFill>
            <a:ln w="9525">
              <a:solidFill>
                <a:srgbClr val="CFE2F2"/>
              </a:solidFill>
            </a:ln>
          </p:spPr>
        </p:sp>
        <p:sp>
          <p:nvSpPr>
            <p:cNvPr id="122" name="Rectangle 122"/>
            <p:cNvSpPr/>
            <p:nvPr/>
          </p:nvSpPr>
          <p:spPr>
            <a:xfrm>
              <a:off x="304800" y="4552950"/>
              <a:ext cx="228600" cy="228600"/>
            </a:xfrm>
            <a:prstGeom prst="roundRect">
              <a:avLst>
                <a:gd name="adj" fmla="val 25000"/>
              </a:avLst>
            </a:prstGeom>
            <a:solidFill>
              <a:srgbClr val="9E311B"/>
            </a:solidFill>
            <a:ln>
              <a:noFill/>
            </a:ln>
          </p:spPr>
        </p:sp>
        <p:grpSp>
          <p:nvGrpSpPr>
            <p:cNvPr id="126" name="Group 126"/>
            <p:cNvGrpSpPr/>
            <p:nvPr/>
          </p:nvGrpSpPr>
          <p:grpSpPr>
            <a:xfrm>
              <a:off x="355060" y="4607990"/>
              <a:ext cx="128076" cy="110034"/>
              <a:chOff x="355060" y="4607990"/>
              <a:chExt cx="128076" cy="110034"/>
            </a:xfrm>
          </p:grpSpPr>
          <p:sp>
            <p:nvSpPr>
              <p:cNvPr id="123" name="Freeform 123"/>
              <p:cNvSpPr/>
              <p:nvPr/>
            </p:nvSpPr>
            <p:spPr>
              <a:xfrm>
                <a:off x="419100" y="4648200"/>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124" name="Freeform 124"/>
              <p:cNvSpPr/>
              <p:nvPr/>
            </p:nvSpPr>
            <p:spPr>
              <a:xfrm>
                <a:off x="355060" y="460799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FFFFFF"/>
                </a:solidFill>
              </a:ln>
            </p:spPr>
          </p:sp>
          <p:sp>
            <p:nvSpPr>
              <p:cNvPr id="125" name="Freeform 125"/>
              <p:cNvSpPr/>
              <p:nvPr/>
            </p:nvSpPr>
            <p:spPr>
              <a:xfrm>
                <a:off x="419100" y="4692650"/>
                <a:ext cx="9525" cy="9525"/>
              </a:xfrm>
              <a:custGeom>
                <a:avLst/>
                <a:gdLst/>
                <a:ahLst/>
                <a:cxnLst/>
                <a:rect l="l" t="t" r="r" b="b"/>
                <a:pathLst>
                  <a:path w="9525" h="9525">
                    <a:moveTo>
                      <a:pt x="0" y="0"/>
                    </a:moveTo>
                    <a:lnTo>
                      <a:pt x="64" y="0"/>
                    </a:lnTo>
                  </a:path>
                </a:pathLst>
              </a:custGeom>
              <a:noFill/>
              <a:ln w="12700">
                <a:solidFill>
                  <a:srgbClr val="FFFFFF"/>
                </a:solidFill>
              </a:ln>
            </p:spPr>
          </p:sp>
        </p:grpSp>
        <p:sp>
          <p:nvSpPr>
            <p:cNvPr id="127" name="TextBox 127"/>
            <p:cNvSpPr txBox="1"/>
            <p:nvPr/>
          </p:nvSpPr>
          <p:spPr>
            <a:xfrm>
              <a:off x="604838" y="4623197"/>
              <a:ext cx="1148410" cy="183356"/>
            </a:xfrm>
            <a:prstGeom prst="rect">
              <a:avLst/>
            </a:prstGeom>
            <a:noFill/>
            <a:ln>
              <a:noFill/>
            </a:ln>
          </p:spPr>
          <p:txBody>
            <a:bodyPr wrap="none" lIns="0" tIns="0" rIns="0" bIns="0" anchor="t" anchorCtr="0">
              <a:spAutoFit/>
            </a:bodyPr>
            <a:lstStyle/>
            <a:p>
              <a:pPr algn="l"/>
              <a:r>
                <a:rPr lang="zh-CN" sz="940" b="1" dirty="0">
                  <a:solidFill>
                    <a:srgbClr val="3E1810"/>
                  </a:solidFill>
                  <a:latin typeface="+mn-lt"/>
                  <a:ea typeface="+mn-ea"/>
                  <a:cs typeface="+mn-cs"/>
                </a:rPr>
                <a:t>允许推翻的典型场景</a:t>
              </a:r>
            </a:p>
          </p:txBody>
        </p:sp>
        <p:sp>
          <p:nvSpPr>
            <p:cNvPr id="128" name="TextBox 128"/>
            <p:cNvSpPr txBox="1"/>
            <p:nvPr/>
          </p:nvSpPr>
          <p:spPr>
            <a:xfrm>
              <a:off x="4672597" y="4651534"/>
              <a:ext cx="1199566" cy="133350"/>
            </a:xfrm>
            <a:prstGeom prst="rect">
              <a:avLst/>
            </a:prstGeom>
            <a:noFill/>
            <a:ln>
              <a:noFill/>
            </a:ln>
          </p:spPr>
          <p:txBody>
            <a:bodyPr wrap="none" lIns="0" tIns="0" rIns="0" bIns="0" anchor="t" anchorCtr="0">
              <a:spAutoFit/>
            </a:bodyPr>
            <a:lstStyle/>
            <a:p>
              <a:pPr algn="r"/>
              <a:r>
                <a:rPr lang="zh-CN" sz="680" dirty="0">
                  <a:solidFill>
                    <a:srgbClr val="8C716B"/>
                  </a:solidFill>
                  <a:latin typeface="+mn-lt"/>
                  <a:ea typeface="+mn-ea"/>
                  <a:cs typeface="+mn-cs"/>
                </a:rPr>
                <a:t>聚焦重大变化，体现专业判断</a:t>
              </a:r>
            </a:p>
          </p:txBody>
        </p:sp>
        <p:sp>
          <p:nvSpPr>
            <p:cNvPr id="129" name="Rectangle 129"/>
            <p:cNvSpPr/>
            <p:nvPr/>
          </p:nvSpPr>
          <p:spPr>
            <a:xfrm>
              <a:off x="304800" y="4876800"/>
              <a:ext cx="2705100" cy="781050"/>
            </a:xfrm>
            <a:prstGeom prst="roundRect">
              <a:avLst>
                <a:gd name="adj" fmla="val 7317"/>
              </a:avLst>
            </a:prstGeom>
            <a:solidFill>
              <a:srgbClr val="F4F9FD"/>
            </a:solidFill>
            <a:ln w="9525">
              <a:solidFill>
                <a:srgbClr val="CFE2F2"/>
              </a:solidFill>
            </a:ln>
          </p:spPr>
        </p:sp>
        <p:grpSp>
          <p:nvGrpSpPr>
            <p:cNvPr id="138" name="Group 138"/>
            <p:cNvGrpSpPr/>
            <p:nvPr/>
          </p:nvGrpSpPr>
          <p:grpSpPr>
            <a:xfrm>
              <a:off x="423862" y="4995862"/>
              <a:ext cx="144463" cy="152400"/>
              <a:chOff x="423862" y="4995862"/>
              <a:chExt cx="144463" cy="152400"/>
            </a:xfrm>
          </p:grpSpPr>
          <p:sp>
            <p:nvSpPr>
              <p:cNvPr id="130" name="Freeform 130"/>
              <p:cNvSpPr/>
              <p:nvPr/>
            </p:nvSpPr>
            <p:spPr>
              <a:xfrm>
                <a:off x="423862" y="5138737"/>
                <a:ext cx="142875" cy="9525"/>
              </a:xfrm>
              <a:custGeom>
                <a:avLst/>
                <a:gdLst/>
                <a:ahLst/>
                <a:cxnLst/>
                <a:rect l="l" t="t" r="r" b="b"/>
                <a:pathLst>
                  <a:path w="142875" h="9525">
                    <a:moveTo>
                      <a:pt x="0" y="0"/>
                    </a:moveTo>
                    <a:lnTo>
                      <a:pt x="142875" y="0"/>
                    </a:lnTo>
                  </a:path>
                </a:pathLst>
              </a:custGeom>
              <a:noFill/>
              <a:ln w="15875">
                <a:solidFill>
                  <a:srgbClr val="C4472E"/>
                </a:solidFill>
              </a:ln>
            </p:spPr>
          </p:sp>
          <p:sp>
            <p:nvSpPr>
              <p:cNvPr id="131" name="Freeform 131"/>
              <p:cNvSpPr/>
              <p:nvPr/>
            </p:nvSpPr>
            <p:spPr>
              <a:xfrm>
                <a:off x="423862" y="5051425"/>
                <a:ext cx="142875" cy="9525"/>
              </a:xfrm>
              <a:custGeom>
                <a:avLst/>
                <a:gdLst/>
                <a:ahLst/>
                <a:cxnLst/>
                <a:rect l="l" t="t" r="r" b="b"/>
                <a:pathLst>
                  <a:path w="142875" h="9525">
                    <a:moveTo>
                      <a:pt x="0" y="0"/>
                    </a:moveTo>
                    <a:lnTo>
                      <a:pt x="142875" y="0"/>
                    </a:lnTo>
                  </a:path>
                </a:pathLst>
              </a:custGeom>
              <a:noFill/>
              <a:ln w="15875">
                <a:solidFill>
                  <a:srgbClr val="C4472E"/>
                </a:solidFill>
              </a:ln>
            </p:spPr>
          </p:sp>
          <p:sp>
            <p:nvSpPr>
              <p:cNvPr id="132" name="Freeform 132"/>
              <p:cNvSpPr/>
              <p:nvPr/>
            </p:nvSpPr>
            <p:spPr>
              <a:xfrm>
                <a:off x="439737" y="4995862"/>
                <a:ext cx="111125" cy="23812"/>
              </a:xfrm>
              <a:custGeom>
                <a:avLst/>
                <a:gdLst/>
                <a:ahLst/>
                <a:cxnLst/>
                <a:rect l="l" t="t" r="r" b="b"/>
                <a:pathLst>
                  <a:path w="111125" h="23812">
                    <a:moveTo>
                      <a:pt x="0" y="23812"/>
                    </a:moveTo>
                    <a:lnTo>
                      <a:pt x="55562" y="0"/>
                    </a:lnTo>
                    <a:lnTo>
                      <a:pt x="111125" y="23812"/>
                    </a:lnTo>
                  </a:path>
                </a:pathLst>
              </a:custGeom>
              <a:noFill/>
              <a:ln w="15875">
                <a:solidFill>
                  <a:srgbClr val="C4472E"/>
                </a:solidFill>
              </a:ln>
            </p:spPr>
          </p:sp>
          <p:sp>
            <p:nvSpPr>
              <p:cNvPr id="133" name="Freeform 133"/>
              <p:cNvSpPr/>
              <p:nvPr/>
            </p:nvSpPr>
            <p:spPr>
              <a:xfrm>
                <a:off x="431800" y="5051425"/>
                <a:ext cx="9525" cy="87312"/>
              </a:xfrm>
              <a:custGeom>
                <a:avLst/>
                <a:gdLst/>
                <a:ahLst/>
                <a:cxnLst/>
                <a:rect l="l" t="t" r="r" b="b"/>
                <a:pathLst>
                  <a:path w="9525" h="87312">
                    <a:moveTo>
                      <a:pt x="0" y="0"/>
                    </a:moveTo>
                    <a:lnTo>
                      <a:pt x="0" y="87312"/>
                    </a:lnTo>
                  </a:path>
                </a:pathLst>
              </a:custGeom>
              <a:noFill/>
              <a:ln w="15875">
                <a:solidFill>
                  <a:srgbClr val="C4472E"/>
                </a:solidFill>
              </a:ln>
            </p:spPr>
          </p:sp>
          <p:sp>
            <p:nvSpPr>
              <p:cNvPr id="134" name="Freeform 134"/>
              <p:cNvSpPr/>
              <p:nvPr/>
            </p:nvSpPr>
            <p:spPr>
              <a:xfrm>
                <a:off x="558800" y="5051425"/>
                <a:ext cx="9525" cy="87312"/>
              </a:xfrm>
              <a:custGeom>
                <a:avLst/>
                <a:gdLst/>
                <a:ahLst/>
                <a:cxnLst/>
                <a:rect l="l" t="t" r="r" b="b"/>
                <a:pathLst>
                  <a:path w="9525" h="87312">
                    <a:moveTo>
                      <a:pt x="0" y="0"/>
                    </a:moveTo>
                    <a:lnTo>
                      <a:pt x="0" y="87312"/>
                    </a:lnTo>
                  </a:path>
                </a:pathLst>
              </a:custGeom>
              <a:noFill/>
              <a:ln w="15875">
                <a:solidFill>
                  <a:srgbClr val="C4472E"/>
                </a:solidFill>
              </a:ln>
            </p:spPr>
          </p:sp>
          <p:sp>
            <p:nvSpPr>
              <p:cNvPr id="135" name="Freeform 135"/>
              <p:cNvSpPr/>
              <p:nvPr/>
            </p:nvSpPr>
            <p:spPr>
              <a:xfrm>
                <a:off x="463550" y="5083175"/>
                <a:ext cx="9525" cy="23812"/>
              </a:xfrm>
              <a:custGeom>
                <a:avLst/>
                <a:gdLst/>
                <a:ahLst/>
                <a:cxnLst/>
                <a:rect l="l" t="t" r="r" b="b"/>
                <a:pathLst>
                  <a:path w="9525" h="23812">
                    <a:moveTo>
                      <a:pt x="0" y="0"/>
                    </a:moveTo>
                    <a:lnTo>
                      <a:pt x="0" y="23812"/>
                    </a:lnTo>
                  </a:path>
                </a:pathLst>
              </a:custGeom>
              <a:noFill/>
              <a:ln w="15875">
                <a:solidFill>
                  <a:srgbClr val="C4472E"/>
                </a:solidFill>
              </a:ln>
            </p:spPr>
          </p:sp>
          <p:sp>
            <p:nvSpPr>
              <p:cNvPr id="136" name="Freeform 136"/>
              <p:cNvSpPr/>
              <p:nvPr/>
            </p:nvSpPr>
            <p:spPr>
              <a:xfrm>
                <a:off x="495300" y="5083175"/>
                <a:ext cx="9525" cy="23812"/>
              </a:xfrm>
              <a:custGeom>
                <a:avLst/>
                <a:gdLst/>
                <a:ahLst/>
                <a:cxnLst/>
                <a:rect l="l" t="t" r="r" b="b"/>
                <a:pathLst>
                  <a:path w="9525" h="23812">
                    <a:moveTo>
                      <a:pt x="0" y="0"/>
                    </a:moveTo>
                    <a:lnTo>
                      <a:pt x="0" y="23812"/>
                    </a:lnTo>
                  </a:path>
                </a:pathLst>
              </a:custGeom>
              <a:noFill/>
              <a:ln w="15875">
                <a:solidFill>
                  <a:srgbClr val="C4472E"/>
                </a:solidFill>
              </a:ln>
            </p:spPr>
          </p:sp>
          <p:sp>
            <p:nvSpPr>
              <p:cNvPr id="137" name="Freeform 137"/>
              <p:cNvSpPr/>
              <p:nvPr/>
            </p:nvSpPr>
            <p:spPr>
              <a:xfrm>
                <a:off x="527050" y="5083175"/>
                <a:ext cx="9525" cy="23812"/>
              </a:xfrm>
              <a:custGeom>
                <a:avLst/>
                <a:gdLst/>
                <a:ahLst/>
                <a:cxnLst/>
                <a:rect l="l" t="t" r="r" b="b"/>
                <a:pathLst>
                  <a:path w="9525" h="23812">
                    <a:moveTo>
                      <a:pt x="0" y="0"/>
                    </a:moveTo>
                    <a:lnTo>
                      <a:pt x="0" y="23812"/>
                    </a:lnTo>
                  </a:path>
                </a:pathLst>
              </a:custGeom>
              <a:noFill/>
              <a:ln w="15875">
                <a:solidFill>
                  <a:srgbClr val="C4472E"/>
                </a:solidFill>
              </a:ln>
            </p:spPr>
          </p:sp>
        </p:grpSp>
        <p:sp>
          <p:nvSpPr>
            <p:cNvPr id="139" name="TextBox 139"/>
            <p:cNvSpPr txBox="1"/>
            <p:nvPr/>
          </p:nvSpPr>
          <p:spPr>
            <a:xfrm>
              <a:off x="661988" y="4991814"/>
              <a:ext cx="6476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重大经营变化</a:t>
              </a:r>
            </a:p>
          </p:txBody>
        </p:sp>
        <p:sp>
          <p:nvSpPr>
            <p:cNvPr id="140" name="TextBox 140"/>
            <p:cNvSpPr txBox="1"/>
            <p:nvPr/>
          </p:nvSpPr>
          <p:spPr>
            <a:xfrm>
              <a:off x="661988" y="5164455"/>
              <a:ext cx="14573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如并购重组、业务转型、重大资产处置等，</a:t>
              </a:r>
              <a:br/>
              <a:r>
                <a:rPr lang="zh-CN" sz="600" dirty="0">
                  <a:solidFill>
                    <a:srgbClr val="8C716B"/>
                  </a:solidFill>
                  <a:latin typeface="+mn-lt"/>
                  <a:ea typeface="+mn-ea"/>
                  <a:cs typeface="+mn-cs"/>
                </a:rPr>
                <a:t>显著影响主体风险状况。</a:t>
              </a:r>
            </a:p>
          </p:txBody>
        </p:sp>
        <p:sp>
          <p:nvSpPr>
            <p:cNvPr id="141" name="Rectangle 141"/>
            <p:cNvSpPr/>
            <p:nvPr/>
          </p:nvSpPr>
          <p:spPr>
            <a:xfrm>
              <a:off x="3105150" y="4876800"/>
              <a:ext cx="2705100" cy="781050"/>
            </a:xfrm>
            <a:prstGeom prst="roundRect">
              <a:avLst>
                <a:gd name="adj" fmla="val 7317"/>
              </a:avLst>
            </a:prstGeom>
            <a:solidFill>
              <a:srgbClr val="F4F9FD"/>
            </a:solidFill>
            <a:ln w="9525">
              <a:solidFill>
                <a:srgbClr val="CFE2F2"/>
              </a:solidFill>
            </a:ln>
          </p:spPr>
        </p:sp>
        <p:grpSp>
          <p:nvGrpSpPr>
            <p:cNvPr id="146" name="Group 146"/>
            <p:cNvGrpSpPr/>
            <p:nvPr/>
          </p:nvGrpSpPr>
          <p:grpSpPr>
            <a:xfrm>
              <a:off x="3224212" y="4995862"/>
              <a:ext cx="142875" cy="142875"/>
              <a:chOff x="3224212" y="4995862"/>
              <a:chExt cx="142875" cy="142875"/>
            </a:xfrm>
          </p:grpSpPr>
          <p:sp>
            <p:nvSpPr>
              <p:cNvPr id="142" name="Freeform 142"/>
              <p:cNvSpPr/>
              <p:nvPr/>
            </p:nvSpPr>
            <p:spPr>
              <a:xfrm>
                <a:off x="3240087" y="49958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C4472E"/>
                </a:solidFill>
              </a:ln>
            </p:spPr>
          </p:sp>
          <p:sp>
            <p:nvSpPr>
              <p:cNvPr id="143" name="Freeform 143"/>
              <p:cNvSpPr/>
              <p:nvPr/>
            </p:nvSpPr>
            <p:spPr>
              <a:xfrm>
                <a:off x="3224212" y="50911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C4472E"/>
                </a:solidFill>
              </a:ln>
            </p:spPr>
          </p:sp>
          <p:sp>
            <p:nvSpPr>
              <p:cNvPr id="144" name="Freeform 144"/>
              <p:cNvSpPr/>
              <p:nvPr/>
            </p:nvSpPr>
            <p:spPr>
              <a:xfrm>
                <a:off x="3327400" y="49968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C4472E"/>
                </a:solidFill>
              </a:ln>
            </p:spPr>
          </p:sp>
          <p:sp>
            <p:nvSpPr>
              <p:cNvPr id="145" name="Freeform 145"/>
              <p:cNvSpPr/>
              <p:nvPr/>
            </p:nvSpPr>
            <p:spPr>
              <a:xfrm>
                <a:off x="3343275" y="50923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C4472E"/>
                </a:solidFill>
              </a:ln>
            </p:spPr>
          </p:sp>
        </p:grpSp>
        <p:sp>
          <p:nvSpPr>
            <p:cNvPr id="147" name="TextBox 147"/>
            <p:cNvSpPr txBox="1"/>
            <p:nvPr/>
          </p:nvSpPr>
          <p:spPr>
            <a:xfrm>
              <a:off x="3462338" y="4991814"/>
              <a:ext cx="6476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核心客户流失</a:t>
              </a:r>
            </a:p>
          </p:txBody>
        </p:sp>
        <p:sp>
          <p:nvSpPr>
            <p:cNvPr id="148" name="TextBox 148"/>
            <p:cNvSpPr txBox="1"/>
            <p:nvPr/>
          </p:nvSpPr>
          <p:spPr>
            <a:xfrm>
              <a:off x="3462338" y="5164455"/>
              <a:ext cx="13049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如主要客户终止合作、订单大幅下降，</a:t>
              </a:r>
              <a:br/>
              <a:r>
                <a:rPr lang="zh-CN" sz="600" dirty="0">
                  <a:solidFill>
                    <a:srgbClr val="8C716B"/>
                  </a:solidFill>
                  <a:latin typeface="+mn-lt"/>
                  <a:ea typeface="+mn-ea"/>
                  <a:cs typeface="+mn-cs"/>
                </a:rPr>
                <a:t>对经营和现金流产生重大影响。</a:t>
              </a:r>
            </a:p>
          </p:txBody>
        </p:sp>
        <p:sp>
          <p:nvSpPr>
            <p:cNvPr id="149" name="Rectangle 149"/>
            <p:cNvSpPr/>
            <p:nvPr/>
          </p:nvSpPr>
          <p:spPr>
            <a:xfrm>
              <a:off x="304800" y="5734050"/>
              <a:ext cx="2705100" cy="781050"/>
            </a:xfrm>
            <a:prstGeom prst="roundRect">
              <a:avLst>
                <a:gd name="adj" fmla="val 7317"/>
              </a:avLst>
            </a:prstGeom>
            <a:solidFill>
              <a:srgbClr val="F4F9FD"/>
            </a:solidFill>
            <a:ln w="9525">
              <a:solidFill>
                <a:srgbClr val="CFE2F2"/>
              </a:solidFill>
            </a:ln>
          </p:spPr>
        </p:sp>
        <p:grpSp>
          <p:nvGrpSpPr>
            <p:cNvPr id="153" name="Group 153"/>
            <p:cNvGrpSpPr/>
            <p:nvPr/>
          </p:nvGrpSpPr>
          <p:grpSpPr>
            <a:xfrm>
              <a:off x="447675" y="5853112"/>
              <a:ext cx="119062" cy="142875"/>
              <a:chOff x="447675" y="5853112"/>
              <a:chExt cx="119062" cy="142875"/>
            </a:xfrm>
          </p:grpSpPr>
          <p:sp>
            <p:nvSpPr>
              <p:cNvPr id="150" name="Freeform 150"/>
              <p:cNvSpPr/>
              <p:nvPr/>
            </p:nvSpPr>
            <p:spPr>
              <a:xfrm>
                <a:off x="463550" y="58531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C4472E"/>
                </a:solidFill>
              </a:ln>
            </p:spPr>
          </p:sp>
          <p:sp>
            <p:nvSpPr>
              <p:cNvPr id="151" name="Freeform 151"/>
              <p:cNvSpPr/>
              <p:nvPr/>
            </p:nvSpPr>
            <p:spPr>
              <a:xfrm>
                <a:off x="447675" y="59483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C4472E"/>
                </a:solidFill>
              </a:ln>
            </p:spPr>
          </p:sp>
          <p:sp>
            <p:nvSpPr>
              <p:cNvPr id="152" name="Freeform 152"/>
              <p:cNvSpPr/>
              <p:nvPr/>
            </p:nvSpPr>
            <p:spPr>
              <a:xfrm>
                <a:off x="519112" y="5964237"/>
                <a:ext cx="47625" cy="31750"/>
              </a:xfrm>
              <a:custGeom>
                <a:avLst/>
                <a:gdLst/>
                <a:ahLst/>
                <a:cxnLst/>
                <a:rect l="l" t="t" r="r" b="b"/>
                <a:pathLst>
                  <a:path w="47625" h="31750">
                    <a:moveTo>
                      <a:pt x="0" y="15875"/>
                    </a:moveTo>
                    <a:lnTo>
                      <a:pt x="15875" y="31750"/>
                    </a:lnTo>
                    <a:lnTo>
                      <a:pt x="47625" y="0"/>
                    </a:lnTo>
                  </a:path>
                </a:pathLst>
              </a:custGeom>
              <a:noFill/>
              <a:ln w="15875">
                <a:solidFill>
                  <a:srgbClr val="C4472E"/>
                </a:solidFill>
              </a:ln>
            </p:spPr>
          </p:sp>
        </p:grpSp>
        <p:sp>
          <p:nvSpPr>
            <p:cNvPr id="154" name="TextBox 154"/>
            <p:cNvSpPr txBox="1"/>
            <p:nvPr/>
          </p:nvSpPr>
          <p:spPr>
            <a:xfrm>
              <a:off x="661988" y="5849064"/>
              <a:ext cx="54127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实控人变化</a:t>
              </a:r>
            </a:p>
          </p:txBody>
        </p:sp>
        <p:sp>
          <p:nvSpPr>
            <p:cNvPr id="155" name="TextBox 155"/>
            <p:cNvSpPr txBox="1"/>
            <p:nvPr/>
          </p:nvSpPr>
          <p:spPr>
            <a:xfrm>
              <a:off x="661988" y="6021705"/>
              <a:ext cx="13811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如实际控制人变更、股权结构重大调整，</a:t>
              </a:r>
              <a:br/>
              <a:r>
                <a:rPr lang="zh-CN" sz="600" dirty="0">
                  <a:solidFill>
                    <a:srgbClr val="8C716B"/>
                  </a:solidFill>
                  <a:latin typeface="+mn-lt"/>
                  <a:ea typeface="+mn-ea"/>
                  <a:cs typeface="+mn-cs"/>
                </a:rPr>
                <a:t>可能影响公司治理和信用水平。</a:t>
              </a:r>
            </a:p>
          </p:txBody>
        </p:sp>
        <p:sp>
          <p:nvSpPr>
            <p:cNvPr id="156" name="Rectangle 156"/>
            <p:cNvSpPr/>
            <p:nvPr/>
          </p:nvSpPr>
          <p:spPr>
            <a:xfrm>
              <a:off x="3105150" y="5734050"/>
              <a:ext cx="2705100" cy="781050"/>
            </a:xfrm>
            <a:prstGeom prst="roundRect">
              <a:avLst>
                <a:gd name="adj" fmla="val 7317"/>
              </a:avLst>
            </a:prstGeom>
            <a:solidFill>
              <a:srgbClr val="F4F9FD"/>
            </a:solidFill>
            <a:ln w="9525">
              <a:solidFill>
                <a:srgbClr val="CFE2F2"/>
              </a:solidFill>
            </a:ln>
          </p:spPr>
        </p:sp>
        <p:grpSp>
          <p:nvGrpSpPr>
            <p:cNvPr id="160" name="Group 160"/>
            <p:cNvGrpSpPr/>
            <p:nvPr/>
          </p:nvGrpSpPr>
          <p:grpSpPr>
            <a:xfrm>
              <a:off x="3215599" y="5850475"/>
              <a:ext cx="160095" cy="137543"/>
              <a:chOff x="3215599" y="5850475"/>
              <a:chExt cx="160095" cy="137543"/>
            </a:xfrm>
          </p:grpSpPr>
          <p:sp>
            <p:nvSpPr>
              <p:cNvPr id="157" name="Freeform 157"/>
              <p:cNvSpPr/>
              <p:nvPr/>
            </p:nvSpPr>
            <p:spPr>
              <a:xfrm>
                <a:off x="3295650" y="5900737"/>
                <a:ext cx="9525" cy="31750"/>
              </a:xfrm>
              <a:custGeom>
                <a:avLst/>
                <a:gdLst/>
                <a:ahLst/>
                <a:cxnLst/>
                <a:rect l="l" t="t" r="r" b="b"/>
                <a:pathLst>
                  <a:path w="9525" h="31750">
                    <a:moveTo>
                      <a:pt x="0" y="0"/>
                    </a:moveTo>
                    <a:lnTo>
                      <a:pt x="0" y="31750"/>
                    </a:lnTo>
                  </a:path>
                </a:pathLst>
              </a:custGeom>
              <a:noFill/>
              <a:ln w="15875">
                <a:solidFill>
                  <a:srgbClr val="C4472E"/>
                </a:solidFill>
              </a:ln>
            </p:spPr>
          </p:sp>
          <p:sp>
            <p:nvSpPr>
              <p:cNvPr id="158" name="Freeform 158"/>
              <p:cNvSpPr/>
              <p:nvPr/>
            </p:nvSpPr>
            <p:spPr>
              <a:xfrm>
                <a:off x="3215599" y="585047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C4472E"/>
                </a:solidFill>
              </a:ln>
            </p:spPr>
          </p:sp>
          <p:sp>
            <p:nvSpPr>
              <p:cNvPr id="159" name="Freeform 159"/>
              <p:cNvSpPr/>
              <p:nvPr/>
            </p:nvSpPr>
            <p:spPr>
              <a:xfrm>
                <a:off x="3295650" y="5956300"/>
                <a:ext cx="9525" cy="9525"/>
              </a:xfrm>
              <a:custGeom>
                <a:avLst/>
                <a:gdLst/>
                <a:ahLst/>
                <a:cxnLst/>
                <a:rect l="l" t="t" r="r" b="b"/>
                <a:pathLst>
                  <a:path w="9525" h="9525">
                    <a:moveTo>
                      <a:pt x="0" y="0"/>
                    </a:moveTo>
                    <a:lnTo>
                      <a:pt x="79" y="0"/>
                    </a:lnTo>
                  </a:path>
                </a:pathLst>
              </a:custGeom>
              <a:noFill/>
              <a:ln w="15875">
                <a:solidFill>
                  <a:srgbClr val="C4472E"/>
                </a:solidFill>
              </a:ln>
            </p:spPr>
          </p:sp>
        </p:grpSp>
        <p:sp>
          <p:nvSpPr>
            <p:cNvPr id="161" name="TextBox 161"/>
            <p:cNvSpPr txBox="1"/>
            <p:nvPr/>
          </p:nvSpPr>
          <p:spPr>
            <a:xfrm>
              <a:off x="3462338" y="5849064"/>
              <a:ext cx="6476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行业突发事件</a:t>
              </a:r>
            </a:p>
          </p:txBody>
        </p:sp>
        <p:sp>
          <p:nvSpPr>
            <p:cNvPr id="162" name="TextBox 162"/>
            <p:cNvSpPr txBox="1"/>
            <p:nvPr/>
          </p:nvSpPr>
          <p:spPr>
            <a:xfrm>
              <a:off x="3462338" y="6021705"/>
              <a:ext cx="15335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行业政策重大调整、突发性事件（自然灾害、</a:t>
              </a:r>
              <a:br/>
              <a:r>
                <a:rPr lang="zh-CN" sz="600" dirty="0">
                  <a:solidFill>
                    <a:srgbClr val="8C716B"/>
                  </a:solidFill>
                  <a:latin typeface="+mn-lt"/>
                  <a:ea typeface="+mn-ea"/>
                  <a:cs typeface="+mn-cs"/>
                </a:rPr>
                <a:t>公共卫生事件等），导致行业风险显著上升。</a:t>
              </a:r>
            </a:p>
          </p:txBody>
        </p:sp>
      </p:grpSp>
      <p:grpSp>
        <p:nvGrpSpPr>
          <p:cNvPr id="200" name="governance-card"/>
          <p:cNvGrpSpPr/>
          <p:nvPr/>
        </p:nvGrpSpPr>
        <p:grpSpPr>
          <a:xfrm>
            <a:off x="6096000" y="4457700"/>
            <a:ext cx="5905500" cy="2114550"/>
            <a:chOff x="6096000" y="4457700"/>
            <a:chExt cx="5905500" cy="2114550"/>
          </a:xfrm>
        </p:grpSpPr>
        <p:sp>
          <p:nvSpPr>
            <p:cNvPr id="164" name="Rectangle 164"/>
            <p:cNvSpPr/>
            <p:nvPr/>
          </p:nvSpPr>
          <p:spPr>
            <a:xfrm>
              <a:off x="6096000" y="4457700"/>
              <a:ext cx="5905500" cy="2114550"/>
            </a:xfrm>
            <a:prstGeom prst="roundRect">
              <a:avLst>
                <a:gd name="adj" fmla="val 4505"/>
              </a:avLst>
            </a:prstGeom>
            <a:solidFill>
              <a:srgbClr val="FFFFFF"/>
            </a:solidFill>
            <a:ln w="9525">
              <a:solidFill>
                <a:srgbClr val="CFE2F2"/>
              </a:solidFill>
            </a:ln>
          </p:spPr>
        </p:sp>
        <p:sp>
          <p:nvSpPr>
            <p:cNvPr id="165" name="Rectangle 165"/>
            <p:cNvSpPr/>
            <p:nvPr/>
          </p:nvSpPr>
          <p:spPr>
            <a:xfrm>
              <a:off x="6210300" y="4552950"/>
              <a:ext cx="228600" cy="228600"/>
            </a:xfrm>
            <a:prstGeom prst="roundRect">
              <a:avLst>
                <a:gd name="adj" fmla="val 25000"/>
              </a:avLst>
            </a:prstGeom>
            <a:solidFill>
              <a:srgbClr val="9E311B"/>
            </a:solidFill>
            <a:ln>
              <a:noFill/>
            </a:ln>
          </p:spPr>
        </p:sp>
        <p:grpSp>
          <p:nvGrpSpPr>
            <p:cNvPr id="168" name="Group 168"/>
            <p:cNvGrpSpPr/>
            <p:nvPr/>
          </p:nvGrpSpPr>
          <p:grpSpPr>
            <a:xfrm>
              <a:off x="6258880" y="4610100"/>
              <a:ext cx="124004" cy="114300"/>
              <a:chOff x="6258880" y="4610100"/>
              <a:chExt cx="124004" cy="114300"/>
            </a:xfrm>
          </p:grpSpPr>
          <p:sp>
            <p:nvSpPr>
              <p:cNvPr id="166" name="Freeform 166"/>
              <p:cNvSpPr/>
              <p:nvPr/>
            </p:nvSpPr>
            <p:spPr>
              <a:xfrm>
                <a:off x="6258880" y="461010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FFFFFF"/>
                </a:solidFill>
              </a:ln>
            </p:spPr>
          </p:sp>
          <p:sp>
            <p:nvSpPr>
              <p:cNvPr id="167" name="Freeform 167"/>
              <p:cNvSpPr/>
              <p:nvPr/>
            </p:nvSpPr>
            <p:spPr>
              <a:xfrm>
                <a:off x="6343650" y="469900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169" name="TextBox 169"/>
            <p:cNvSpPr txBox="1"/>
            <p:nvPr/>
          </p:nvSpPr>
          <p:spPr>
            <a:xfrm>
              <a:off x="6510338" y="4623197"/>
              <a:ext cx="515696" cy="183356"/>
            </a:xfrm>
            <a:prstGeom prst="rect">
              <a:avLst/>
            </a:prstGeom>
            <a:noFill/>
            <a:ln>
              <a:noFill/>
            </a:ln>
          </p:spPr>
          <p:txBody>
            <a:bodyPr wrap="none" lIns="0" tIns="0" rIns="0" bIns="0" anchor="t" anchorCtr="0">
              <a:spAutoFit/>
            </a:bodyPr>
            <a:lstStyle/>
            <a:p>
              <a:pPr algn="l"/>
              <a:r>
                <a:rPr lang="zh-CN" sz="940" b="1" dirty="0">
                  <a:solidFill>
                    <a:srgbClr val="3E1810"/>
                  </a:solidFill>
                  <a:latin typeface="+mn-lt"/>
                  <a:ea typeface="+mn-ea"/>
                  <a:cs typeface="+mn-cs"/>
                </a:rPr>
                <a:t>治理要求</a:t>
              </a:r>
            </a:p>
          </p:txBody>
        </p:sp>
        <p:sp>
          <p:nvSpPr>
            <p:cNvPr id="170" name="TextBox 170"/>
            <p:cNvSpPr txBox="1"/>
            <p:nvPr/>
          </p:nvSpPr>
          <p:spPr>
            <a:xfrm>
              <a:off x="10673347" y="4651534"/>
              <a:ext cx="1199566" cy="133350"/>
            </a:xfrm>
            <a:prstGeom prst="rect">
              <a:avLst/>
            </a:prstGeom>
            <a:noFill/>
            <a:ln>
              <a:noFill/>
            </a:ln>
          </p:spPr>
          <p:txBody>
            <a:bodyPr wrap="none" lIns="0" tIns="0" rIns="0" bIns="0" anchor="t" anchorCtr="0">
              <a:spAutoFit/>
            </a:bodyPr>
            <a:lstStyle/>
            <a:p>
              <a:pPr algn="r"/>
              <a:r>
                <a:rPr lang="zh-CN" sz="680" dirty="0">
                  <a:solidFill>
                    <a:srgbClr val="8C716B"/>
                  </a:solidFill>
                  <a:latin typeface="+mn-lt"/>
                  <a:ea typeface="+mn-ea"/>
                  <a:cs typeface="+mn-cs"/>
                </a:rPr>
                <a:t>建立完善机制，确保审慎合规</a:t>
              </a:r>
            </a:p>
          </p:txBody>
        </p:sp>
        <p:sp>
          <p:nvSpPr>
            <p:cNvPr id="171" name="Rectangle 171"/>
            <p:cNvSpPr/>
            <p:nvPr/>
          </p:nvSpPr>
          <p:spPr>
            <a:xfrm>
              <a:off x="6210300" y="4876800"/>
              <a:ext cx="2752725" cy="781050"/>
            </a:xfrm>
            <a:prstGeom prst="roundRect">
              <a:avLst>
                <a:gd name="adj" fmla="val 7317"/>
              </a:avLst>
            </a:prstGeom>
            <a:solidFill>
              <a:srgbClr val="F4F9FD"/>
            </a:solidFill>
            <a:ln w="9525">
              <a:solidFill>
                <a:srgbClr val="CFE2F2"/>
              </a:solidFill>
            </a:ln>
          </p:spPr>
        </p:sp>
        <p:grpSp>
          <p:nvGrpSpPr>
            <p:cNvPr id="175" name="Group 175"/>
            <p:cNvGrpSpPr/>
            <p:nvPr/>
          </p:nvGrpSpPr>
          <p:grpSpPr>
            <a:xfrm>
              <a:off x="6345237" y="4995862"/>
              <a:ext cx="111125" cy="142875"/>
              <a:chOff x="6345237" y="4995862"/>
              <a:chExt cx="111125" cy="142875"/>
            </a:xfrm>
          </p:grpSpPr>
          <p:sp>
            <p:nvSpPr>
              <p:cNvPr id="172" name="Freeform 172"/>
              <p:cNvSpPr/>
              <p:nvPr/>
            </p:nvSpPr>
            <p:spPr>
              <a:xfrm>
                <a:off x="6345237" y="5059362"/>
                <a:ext cx="111125" cy="79375"/>
              </a:xfrm>
              <a:custGeom>
                <a:avLst/>
                <a:gdLst/>
                <a:ahLst/>
                <a:cxnLst/>
                <a:rect l="l" t="t" r="r" b="b"/>
                <a:pathLst>
                  <a:path w="111125" h="79375">
                    <a:moveTo>
                      <a:pt x="0" y="15875"/>
                    </a:moveTo>
                    <a:cubicBezTo>
                      <a:pt x="0" y="7107"/>
                      <a:pt x="7107" y="0"/>
                      <a:pt x="15875" y="0"/>
                    </a:cubicBezTo>
                    <a:lnTo>
                      <a:pt x="95250" y="0"/>
                    </a:lnTo>
                    <a:cubicBezTo>
                      <a:pt x="104017" y="0"/>
                      <a:pt x="111125" y="7107"/>
                      <a:pt x="111125" y="15875"/>
                    </a:cubicBezTo>
                    <a:lnTo>
                      <a:pt x="111125" y="63500"/>
                    </a:lnTo>
                    <a:cubicBezTo>
                      <a:pt x="111125" y="72267"/>
                      <a:pt x="104017" y="79375"/>
                      <a:pt x="95250" y="79375"/>
                    </a:cubicBezTo>
                    <a:lnTo>
                      <a:pt x="15875" y="79375"/>
                    </a:lnTo>
                    <a:cubicBezTo>
                      <a:pt x="7107" y="79375"/>
                      <a:pt x="0" y="72267"/>
                      <a:pt x="0" y="63500"/>
                    </a:cubicBezTo>
                    <a:lnTo>
                      <a:pt x="0" y="15875"/>
                    </a:lnTo>
                  </a:path>
                </a:pathLst>
              </a:custGeom>
              <a:noFill/>
              <a:ln w="15875">
                <a:solidFill>
                  <a:srgbClr val="9E311B"/>
                </a:solidFill>
              </a:ln>
            </p:spPr>
          </p:sp>
          <p:sp>
            <p:nvSpPr>
              <p:cNvPr id="173" name="Freeform 173"/>
              <p:cNvSpPr/>
              <p:nvPr/>
            </p:nvSpPr>
            <p:spPr>
              <a:xfrm>
                <a:off x="6392862" y="50911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9E311B"/>
                </a:solidFill>
              </a:ln>
            </p:spPr>
          </p:sp>
          <p:sp>
            <p:nvSpPr>
              <p:cNvPr id="174" name="Freeform 174"/>
              <p:cNvSpPr/>
              <p:nvPr/>
            </p:nvSpPr>
            <p:spPr>
              <a:xfrm>
                <a:off x="6369050" y="4995862"/>
                <a:ext cx="63500" cy="63500"/>
              </a:xfrm>
              <a:custGeom>
                <a:avLst/>
                <a:gdLst/>
                <a:ahLst/>
                <a:cxnLst/>
                <a:rect l="l" t="t" r="r" b="b"/>
                <a:pathLst>
                  <a:path w="63500" h="63500">
                    <a:moveTo>
                      <a:pt x="0" y="63500"/>
                    </a:moveTo>
                    <a:lnTo>
                      <a:pt x="0" y="31750"/>
                    </a:lnTo>
                    <a:cubicBezTo>
                      <a:pt x="0" y="14215"/>
                      <a:pt x="14215" y="0"/>
                      <a:pt x="31750" y="0"/>
                    </a:cubicBezTo>
                    <a:cubicBezTo>
                      <a:pt x="49285" y="0"/>
                      <a:pt x="63500" y="14215"/>
                      <a:pt x="63500" y="31750"/>
                    </a:cubicBezTo>
                    <a:lnTo>
                      <a:pt x="63500" y="63500"/>
                    </a:lnTo>
                  </a:path>
                </a:pathLst>
              </a:custGeom>
              <a:noFill/>
              <a:ln w="15875">
                <a:solidFill>
                  <a:srgbClr val="9E311B"/>
                </a:solidFill>
              </a:ln>
            </p:spPr>
          </p:sp>
        </p:grpSp>
        <p:sp>
          <p:nvSpPr>
            <p:cNvPr id="176" name="TextBox 176"/>
            <p:cNvSpPr txBox="1"/>
            <p:nvPr/>
          </p:nvSpPr>
          <p:spPr>
            <a:xfrm>
              <a:off x="6567488" y="4991814"/>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权限清晰</a:t>
              </a:r>
            </a:p>
          </p:txBody>
        </p:sp>
        <p:sp>
          <p:nvSpPr>
            <p:cNvPr id="177" name="TextBox 177"/>
            <p:cNvSpPr txBox="1"/>
            <p:nvPr/>
          </p:nvSpPr>
          <p:spPr>
            <a:xfrm>
              <a:off x="6567488" y="5164455"/>
              <a:ext cx="12287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明确申请、复核、审批的职责权限，</a:t>
              </a:r>
              <a:br/>
              <a:r>
                <a:rPr lang="zh-CN" sz="600" dirty="0">
                  <a:solidFill>
                    <a:srgbClr val="8C716B"/>
                  </a:solidFill>
                  <a:latin typeface="+mn-lt"/>
                  <a:ea typeface="+mn-ea"/>
                  <a:cs typeface="+mn-cs"/>
                </a:rPr>
                <a:t>避免越权操作。</a:t>
              </a:r>
            </a:p>
          </p:txBody>
        </p:sp>
        <p:sp>
          <p:nvSpPr>
            <p:cNvPr id="178" name="Rectangle 178"/>
            <p:cNvSpPr/>
            <p:nvPr/>
          </p:nvSpPr>
          <p:spPr>
            <a:xfrm>
              <a:off x="9058275" y="4876800"/>
              <a:ext cx="2752725" cy="781050"/>
            </a:xfrm>
            <a:prstGeom prst="roundRect">
              <a:avLst>
                <a:gd name="adj" fmla="val 7317"/>
              </a:avLst>
            </a:prstGeom>
            <a:solidFill>
              <a:srgbClr val="F4F9FD"/>
            </a:solidFill>
            <a:ln w="9525">
              <a:solidFill>
                <a:srgbClr val="CFE2F2"/>
              </a:solidFill>
            </a:ln>
          </p:spPr>
        </p:sp>
        <p:grpSp>
          <p:nvGrpSpPr>
            <p:cNvPr id="184" name="Group 184"/>
            <p:cNvGrpSpPr/>
            <p:nvPr/>
          </p:nvGrpSpPr>
          <p:grpSpPr>
            <a:xfrm>
              <a:off x="9193212" y="4995862"/>
              <a:ext cx="111125" cy="142875"/>
              <a:chOff x="9193212" y="4995862"/>
              <a:chExt cx="111125" cy="142875"/>
            </a:xfrm>
          </p:grpSpPr>
          <p:sp>
            <p:nvSpPr>
              <p:cNvPr id="179" name="Freeform 179"/>
              <p:cNvSpPr/>
              <p:nvPr/>
            </p:nvSpPr>
            <p:spPr>
              <a:xfrm>
                <a:off x="9264650" y="49958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9E311B"/>
                </a:solidFill>
              </a:ln>
            </p:spPr>
          </p:sp>
          <p:sp>
            <p:nvSpPr>
              <p:cNvPr id="180" name="Freeform 180"/>
              <p:cNvSpPr/>
              <p:nvPr/>
            </p:nvSpPr>
            <p:spPr>
              <a:xfrm>
                <a:off x="9193212" y="49958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9E311B"/>
                </a:solidFill>
              </a:ln>
            </p:spPr>
          </p:sp>
          <p:sp>
            <p:nvSpPr>
              <p:cNvPr id="181" name="Freeform 181"/>
              <p:cNvSpPr/>
              <p:nvPr/>
            </p:nvSpPr>
            <p:spPr>
              <a:xfrm>
                <a:off x="9224962" y="5043487"/>
                <a:ext cx="9525" cy="9525"/>
              </a:xfrm>
              <a:custGeom>
                <a:avLst/>
                <a:gdLst/>
                <a:ahLst/>
                <a:cxnLst/>
                <a:rect l="l" t="t" r="r" b="b"/>
                <a:pathLst>
                  <a:path w="9525" h="9525">
                    <a:moveTo>
                      <a:pt x="0" y="0"/>
                    </a:moveTo>
                    <a:lnTo>
                      <a:pt x="7937" y="0"/>
                    </a:lnTo>
                  </a:path>
                </a:pathLst>
              </a:custGeom>
              <a:noFill/>
              <a:ln w="15875">
                <a:solidFill>
                  <a:srgbClr val="9E311B"/>
                </a:solidFill>
              </a:ln>
            </p:spPr>
          </p:sp>
          <p:sp>
            <p:nvSpPr>
              <p:cNvPr id="182" name="Freeform 182"/>
              <p:cNvSpPr/>
              <p:nvPr/>
            </p:nvSpPr>
            <p:spPr>
              <a:xfrm>
                <a:off x="9224962" y="5075237"/>
                <a:ext cx="47625" cy="9525"/>
              </a:xfrm>
              <a:custGeom>
                <a:avLst/>
                <a:gdLst/>
                <a:ahLst/>
                <a:cxnLst/>
                <a:rect l="l" t="t" r="r" b="b"/>
                <a:pathLst>
                  <a:path w="47625" h="9525">
                    <a:moveTo>
                      <a:pt x="0" y="0"/>
                    </a:moveTo>
                    <a:lnTo>
                      <a:pt x="47625" y="0"/>
                    </a:lnTo>
                  </a:path>
                </a:pathLst>
              </a:custGeom>
              <a:noFill/>
              <a:ln w="15875">
                <a:solidFill>
                  <a:srgbClr val="9E311B"/>
                </a:solidFill>
              </a:ln>
            </p:spPr>
          </p:sp>
          <p:sp>
            <p:nvSpPr>
              <p:cNvPr id="183" name="Freeform 183"/>
              <p:cNvSpPr/>
              <p:nvPr/>
            </p:nvSpPr>
            <p:spPr>
              <a:xfrm>
                <a:off x="9224962" y="5106987"/>
                <a:ext cx="47625" cy="9525"/>
              </a:xfrm>
              <a:custGeom>
                <a:avLst/>
                <a:gdLst/>
                <a:ahLst/>
                <a:cxnLst/>
                <a:rect l="l" t="t" r="r" b="b"/>
                <a:pathLst>
                  <a:path w="47625" h="9525">
                    <a:moveTo>
                      <a:pt x="0" y="0"/>
                    </a:moveTo>
                    <a:lnTo>
                      <a:pt x="47625" y="0"/>
                    </a:lnTo>
                  </a:path>
                </a:pathLst>
              </a:custGeom>
              <a:noFill/>
              <a:ln w="15875">
                <a:solidFill>
                  <a:srgbClr val="9E311B"/>
                </a:solidFill>
              </a:ln>
            </p:spPr>
          </p:sp>
        </p:grpSp>
        <p:sp>
          <p:nvSpPr>
            <p:cNvPr id="185" name="TextBox 185"/>
            <p:cNvSpPr txBox="1"/>
            <p:nvPr/>
          </p:nvSpPr>
          <p:spPr>
            <a:xfrm>
              <a:off x="9415462" y="4991814"/>
              <a:ext cx="54127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理由可追溯</a:t>
              </a:r>
            </a:p>
          </p:txBody>
        </p:sp>
        <p:sp>
          <p:nvSpPr>
            <p:cNvPr id="186" name="TextBox 186"/>
            <p:cNvSpPr txBox="1"/>
            <p:nvPr/>
          </p:nvSpPr>
          <p:spPr>
            <a:xfrm>
              <a:off x="9415462" y="5164455"/>
              <a:ext cx="13811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详细记录调整理由，形成完整审批链条，</a:t>
              </a:r>
              <a:br/>
              <a:r>
                <a:rPr lang="zh-CN" sz="600" dirty="0">
                  <a:solidFill>
                    <a:srgbClr val="8C716B"/>
                  </a:solidFill>
                  <a:latin typeface="+mn-lt"/>
                  <a:ea typeface="+mn-ea"/>
                  <a:cs typeface="+mn-cs"/>
                </a:rPr>
                <a:t>便于后续检查与问责。</a:t>
              </a:r>
            </a:p>
          </p:txBody>
        </p:sp>
        <p:sp>
          <p:nvSpPr>
            <p:cNvPr id="187" name="Rectangle 187"/>
            <p:cNvSpPr/>
            <p:nvPr/>
          </p:nvSpPr>
          <p:spPr>
            <a:xfrm>
              <a:off x="6210300" y="5734050"/>
              <a:ext cx="2752725" cy="781050"/>
            </a:xfrm>
            <a:prstGeom prst="roundRect">
              <a:avLst>
                <a:gd name="adj" fmla="val 7317"/>
              </a:avLst>
            </a:prstGeom>
            <a:solidFill>
              <a:srgbClr val="F4F9FD"/>
            </a:solidFill>
            <a:ln w="9525">
              <a:solidFill>
                <a:srgbClr val="CFE2F2"/>
              </a:solidFill>
            </a:ln>
          </p:spPr>
        </p:sp>
        <p:grpSp>
          <p:nvGrpSpPr>
            <p:cNvPr id="191" name="Group 191"/>
            <p:cNvGrpSpPr/>
            <p:nvPr/>
          </p:nvGrpSpPr>
          <p:grpSpPr>
            <a:xfrm>
              <a:off x="6337300" y="5853112"/>
              <a:ext cx="127000" cy="142875"/>
              <a:chOff x="6337300" y="5853112"/>
              <a:chExt cx="127000" cy="142875"/>
            </a:xfrm>
          </p:grpSpPr>
          <p:sp>
            <p:nvSpPr>
              <p:cNvPr id="188" name="Freeform 188"/>
              <p:cNvSpPr/>
              <p:nvPr/>
            </p:nvSpPr>
            <p:spPr>
              <a:xfrm>
                <a:off x="6337300" y="58531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9E311B"/>
                </a:solidFill>
              </a:ln>
            </p:spPr>
          </p:sp>
          <p:sp>
            <p:nvSpPr>
              <p:cNvPr id="189" name="Freeform 189"/>
              <p:cNvSpPr/>
              <p:nvPr/>
            </p:nvSpPr>
            <p:spPr>
              <a:xfrm>
                <a:off x="6337300" y="58769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9E311B"/>
                </a:solidFill>
              </a:ln>
            </p:spPr>
          </p:sp>
          <p:sp>
            <p:nvSpPr>
              <p:cNvPr id="190" name="Freeform 190"/>
              <p:cNvSpPr/>
              <p:nvPr/>
            </p:nvSpPr>
            <p:spPr>
              <a:xfrm>
                <a:off x="6337300" y="59245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9E311B"/>
                </a:solidFill>
              </a:ln>
            </p:spPr>
          </p:sp>
        </p:grpSp>
        <p:sp>
          <p:nvSpPr>
            <p:cNvPr id="192" name="TextBox 192"/>
            <p:cNvSpPr txBox="1"/>
            <p:nvPr/>
          </p:nvSpPr>
          <p:spPr>
            <a:xfrm>
              <a:off x="6567488" y="5849064"/>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证据充分</a:t>
              </a:r>
            </a:p>
          </p:txBody>
        </p:sp>
        <p:sp>
          <p:nvSpPr>
            <p:cNvPr id="193" name="TextBox 193"/>
            <p:cNvSpPr txBox="1"/>
            <p:nvPr/>
          </p:nvSpPr>
          <p:spPr>
            <a:xfrm>
              <a:off x="6567488" y="6021705"/>
              <a:ext cx="12287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提供客观、真实、充分的证据材料，</a:t>
              </a:r>
              <a:br/>
              <a:r>
                <a:rPr lang="zh-CN" sz="600" dirty="0">
                  <a:solidFill>
                    <a:srgbClr val="8C716B"/>
                  </a:solidFill>
                  <a:latin typeface="+mn-lt"/>
                  <a:ea typeface="+mn-ea"/>
                  <a:cs typeface="+mn-cs"/>
                </a:rPr>
                <a:t>确保调整有据可依。</a:t>
              </a:r>
            </a:p>
          </p:txBody>
        </p:sp>
        <p:sp>
          <p:nvSpPr>
            <p:cNvPr id="194" name="Rectangle 194"/>
            <p:cNvSpPr/>
            <p:nvPr/>
          </p:nvSpPr>
          <p:spPr>
            <a:xfrm>
              <a:off x="9058275" y="5734050"/>
              <a:ext cx="2752725" cy="781050"/>
            </a:xfrm>
            <a:prstGeom prst="roundRect">
              <a:avLst>
                <a:gd name="adj" fmla="val 7317"/>
              </a:avLst>
            </a:prstGeom>
            <a:solidFill>
              <a:srgbClr val="F4F9FD"/>
            </a:solidFill>
            <a:ln w="9525">
              <a:solidFill>
                <a:srgbClr val="CFE2F2"/>
              </a:solidFill>
            </a:ln>
          </p:spPr>
        </p:sp>
        <p:grpSp>
          <p:nvGrpSpPr>
            <p:cNvPr id="197" name="Group 197"/>
            <p:cNvGrpSpPr/>
            <p:nvPr/>
          </p:nvGrpSpPr>
          <p:grpSpPr>
            <a:xfrm>
              <a:off x="9185275" y="5857987"/>
              <a:ext cx="127000" cy="133125"/>
              <a:chOff x="9185275" y="5857987"/>
              <a:chExt cx="127000" cy="133125"/>
            </a:xfrm>
          </p:grpSpPr>
          <p:sp>
            <p:nvSpPr>
              <p:cNvPr id="195" name="Freeform 195"/>
              <p:cNvSpPr/>
              <p:nvPr/>
            </p:nvSpPr>
            <p:spPr>
              <a:xfrm>
                <a:off x="9185275" y="585798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9E311B"/>
                </a:solidFill>
              </a:ln>
            </p:spPr>
          </p:sp>
          <p:sp>
            <p:nvSpPr>
              <p:cNvPr id="196" name="Freeform 196"/>
              <p:cNvSpPr/>
              <p:nvPr/>
            </p:nvSpPr>
            <p:spPr>
              <a:xfrm>
                <a:off x="9185275" y="593248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9E311B"/>
                </a:solidFill>
              </a:ln>
            </p:spPr>
          </p:sp>
        </p:grpSp>
        <p:sp>
          <p:nvSpPr>
            <p:cNvPr id="198" name="TextBox 198"/>
            <p:cNvSpPr txBox="1"/>
            <p:nvPr/>
          </p:nvSpPr>
          <p:spPr>
            <a:xfrm>
              <a:off x="9415462" y="5849064"/>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事后监控</a:t>
              </a:r>
            </a:p>
          </p:txBody>
        </p:sp>
        <p:sp>
          <p:nvSpPr>
            <p:cNvPr id="199" name="TextBox 199"/>
            <p:cNvSpPr txBox="1"/>
            <p:nvPr/>
          </p:nvSpPr>
          <p:spPr>
            <a:xfrm>
              <a:off x="9415462" y="6021705"/>
              <a:ext cx="1228725" cy="242888"/>
            </a:xfrm>
            <a:prstGeom prst="rect">
              <a:avLst/>
            </a:prstGeom>
            <a:noFill/>
            <a:ln>
              <a:noFill/>
            </a:ln>
          </p:spPr>
          <p:txBody>
            <a:bodyPr wrap="none" lIns="0" tIns="0" rIns="0" bIns="0" anchor="t" anchorCtr="0">
              <a:spAutoFit/>
            </a:bodyPr>
            <a:lstStyle/>
            <a:p>
              <a:pPr algn="l">
                <a:lnSpc>
                  <a:spcPts val="975"/>
                </a:lnSpc>
              </a:pPr>
              <a:r>
                <a:rPr lang="zh-CN" sz="600" dirty="0">
                  <a:solidFill>
                    <a:srgbClr val="8C716B"/>
                  </a:solidFill>
                  <a:latin typeface="+mn-lt"/>
                  <a:ea typeface="+mn-ea"/>
                  <a:cs typeface="+mn-cs"/>
                </a:rPr>
                <a:t>纳入持续监控，定期评估调整效果，</a:t>
              </a:r>
              <a:br/>
              <a:r>
                <a:rPr lang="zh-CN" sz="600" dirty="0">
                  <a:solidFill>
                    <a:srgbClr val="8C716B"/>
                  </a:solidFill>
                  <a:latin typeface="+mn-lt"/>
                  <a:ea typeface="+mn-ea"/>
                  <a:cs typeface="+mn-cs"/>
                </a:rPr>
                <a:t>必要时重新评估和调整。</a:t>
              </a:r>
            </a:p>
          </p:txBody>
        </p:sp>
      </p:grpSp>
      <p:grpSp>
        <p:nvGrpSpPr>
          <p:cNvPr id="206" name="footer"/>
          <p:cNvGrpSpPr/>
          <p:nvPr/>
        </p:nvGrpSpPr>
        <p:grpSpPr>
          <a:xfrm>
            <a:off x="0" y="6648450"/>
            <a:ext cx="12192000" cy="222886"/>
            <a:chOff x="0" y="6648450"/>
            <a:chExt cx="12192000" cy="222886"/>
          </a:xfrm>
        </p:grpSpPr>
        <p:sp>
          <p:nvSpPr>
            <p:cNvPr id="201" name="Rectangle 201"/>
            <p:cNvSpPr/>
            <p:nvPr/>
          </p:nvSpPr>
          <p:spPr>
            <a:xfrm>
              <a:off x="0" y="6648450"/>
              <a:ext cx="12192000" cy="209550"/>
            </a:xfrm>
            <a:prstGeom prst="rect">
              <a:avLst/>
            </a:prstGeom>
            <a:solidFill>
              <a:srgbClr val="DDECF9"/>
            </a:solidFill>
            <a:ln>
              <a:noFill/>
            </a:ln>
          </p:spPr>
        </p:sp>
        <p:sp>
          <p:nvSpPr>
            <p:cNvPr id="202" name="TextBox 202"/>
            <p:cNvSpPr txBox="1"/>
            <p:nvPr/>
          </p:nvSpPr>
          <p:spPr>
            <a:xfrm>
              <a:off x="223838" y="6676311"/>
              <a:ext cx="889580" cy="140494"/>
            </a:xfrm>
            <a:prstGeom prst="rect">
              <a:avLst/>
            </a:prstGeom>
            <a:noFill/>
            <a:ln>
              <a:noFill/>
            </a:ln>
          </p:spPr>
          <p:txBody>
            <a:bodyPr wrap="none" lIns="0" tIns="0" rIns="0" bIns="0" anchor="t" anchorCtr="0">
              <a:spAutoFit/>
            </a:bodyPr>
            <a:lstStyle/>
            <a:p>
              <a:pPr algn="l"/>
              <a:r>
                <a:rPr lang="zh-CN" sz="710" b="1" dirty="0">
                  <a:solidFill>
                    <a:srgbClr val="96574A"/>
                  </a:solidFill>
                  <a:latin typeface="+mn-lt"/>
                  <a:ea typeface="+mn-ea"/>
                  <a:cs typeface="+mn-cs"/>
                </a:rPr>
                <a:t>稳健经营 · 专业致远</a:t>
              </a:r>
            </a:p>
          </p:txBody>
        </p:sp>
        <p:sp>
          <p:nvSpPr>
            <p:cNvPr id="203" name="TextBox 203"/>
            <p:cNvSpPr txBox="1"/>
            <p:nvPr/>
          </p:nvSpPr>
          <p:spPr>
            <a:xfrm>
              <a:off x="223838" y="6780848"/>
              <a:ext cx="1634291" cy="90488"/>
            </a:xfrm>
            <a:prstGeom prst="rect">
              <a:avLst/>
            </a:prstGeom>
            <a:noFill/>
            <a:ln>
              <a:noFill/>
            </a:ln>
          </p:spPr>
          <p:txBody>
            <a:bodyPr wrap="none" lIns="0" tIns="0" rIns="0" bIns="0" anchor="t" anchorCtr="0">
              <a:spAutoFit/>
            </a:bodyPr>
            <a:lstStyle/>
            <a:p>
              <a:pPr algn="l"/>
              <a:r>
                <a:rPr lang="en-US" sz="450" dirty="0">
                  <a:solidFill>
                    <a:srgbClr val="C4988F"/>
                  </a:solidFill>
                  <a:latin typeface="+mj-lt"/>
                  <a:ea typeface="+mj-ea"/>
                  <a:cs typeface="+mj-cs"/>
                </a:rPr>
                <a:t>PRUDENT BANKING FOR A BRIGHTER TOMORROW​</a:t>
              </a:r>
            </a:p>
          </p:txBody>
        </p:sp>
        <p:sp>
          <p:nvSpPr>
            <p:cNvPr id="204" name="TextBox 204"/>
            <p:cNvSpPr txBox="1"/>
            <p:nvPr/>
          </p:nvSpPr>
          <p:spPr>
            <a:xfrm>
              <a:off x="10696262" y="6676311"/>
              <a:ext cx="1271900" cy="140494"/>
            </a:xfrm>
            <a:prstGeom prst="rect">
              <a:avLst/>
            </a:prstGeom>
            <a:noFill/>
            <a:ln>
              <a:noFill/>
            </a:ln>
          </p:spPr>
          <p:txBody>
            <a:bodyPr wrap="none" lIns="0" tIns="0" rIns="0" bIns="0" anchor="t" anchorCtr="0">
              <a:spAutoFit/>
            </a:bodyPr>
            <a:lstStyle/>
            <a:p>
              <a:pPr algn="r"/>
              <a:r>
                <a:rPr lang="zh-CN" sz="710" b="1" dirty="0">
                  <a:solidFill>
                    <a:srgbClr val="96574A"/>
                  </a:solidFill>
                  <a:latin typeface="+mn-lt"/>
                  <a:ea typeface="+mn-ea"/>
                  <a:cs typeface="+mn-cs"/>
                </a:rPr>
                <a:t>金融向善 · 与实体经济共成长</a:t>
              </a:r>
            </a:p>
          </p:txBody>
        </p:sp>
        <p:sp>
          <p:nvSpPr>
            <p:cNvPr id="205" name="TextBox 205"/>
            <p:cNvSpPr txBox="1"/>
            <p:nvPr/>
          </p:nvSpPr>
          <p:spPr>
            <a:xfrm>
              <a:off x="10625338" y="6780848"/>
              <a:ext cx="1342824" cy="90488"/>
            </a:xfrm>
            <a:prstGeom prst="rect">
              <a:avLst/>
            </a:prstGeom>
            <a:noFill/>
            <a:ln>
              <a:noFill/>
            </a:ln>
          </p:spPr>
          <p:txBody>
            <a:bodyPr wrap="none" lIns="0" tIns="0" rIns="0" bIns="0" anchor="t" anchorCtr="0">
              <a:spAutoFit/>
            </a:bodyPr>
            <a:lstStyle/>
            <a:p>
              <a:pPr algn="r"/>
              <a:r>
                <a:rPr lang="en-US" sz="450" dirty="0">
                  <a:solidFill>
                    <a:srgbClr val="C4988F"/>
                  </a:solidFill>
                  <a:latin typeface="+mj-lt"/>
                  <a:ea typeface="+mj-ea"/>
                  <a:cs typeface="+mj-cs"/>
                </a:rPr>
                <a:t>FINANCE FOR A BETTER REAL ECONOMY​</a:t>
              </a:r>
            </a:p>
          </p:txBody>
        </p:sp>
      </p:gr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9" name="header"/>
          <p:cNvGrpSpPr/>
          <p:nvPr/>
        </p:nvGrpSpPr>
        <p:grpSpPr>
          <a:xfrm>
            <a:off x="0" y="0"/>
            <a:ext cx="12025313" cy="542925"/>
            <a:chOff x="0" y="0"/>
            <a:chExt cx="12025313"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472E"/>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06</a:t>
              </a:r>
            </a:p>
          </p:txBody>
        </p:sp>
        <p:sp>
          <p:nvSpPr>
            <p:cNvPr id="4" name="TextBox 4"/>
            <p:cNvSpPr txBox="1"/>
            <p:nvPr/>
          </p:nvSpPr>
          <p:spPr>
            <a:xfrm>
              <a:off x="942594" y="151448"/>
              <a:ext cx="2516124" cy="381381"/>
            </a:xfrm>
            <a:prstGeom prst="rect">
              <a:avLst/>
            </a:prstGeom>
            <a:noFill/>
            <a:ln>
              <a:noFill/>
            </a:ln>
          </p:spPr>
          <p:txBody>
            <a:bodyPr wrap="none" lIns="0" tIns="0" rIns="0" bIns="0" anchor="t" anchorCtr="0">
              <a:spAutoFit/>
            </a:bodyPr>
            <a:lstStyle/>
            <a:p>
              <a:pPr algn="l"/>
              <a:r>
                <a:rPr lang="zh-CN" sz="1950" b="1" dirty="0">
                  <a:solidFill>
                    <a:srgbClr val="3E1810"/>
                  </a:solidFill>
                  <a:latin typeface="SimSun"/>
                  <a:ea typeface="SimSun"/>
                  <a:cs typeface="SimSun"/>
                </a:rPr>
                <a:t>评级迁徙矩阵</a:t>
              </a:r>
              <a:r>
                <a:rPr lang="zh-CN" sz="1950" b="1" dirty="0">
                  <a:solidFill>
                    <a:srgbClr val="C4472E"/>
                  </a:solidFill>
                  <a:latin typeface="SimSun"/>
                  <a:ea typeface="SimSun"/>
                  <a:cs typeface="SimSun"/>
                </a:rPr>
                <a:t>怎么看</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4472E"/>
              </a:solidFill>
            </a:ln>
          </p:spPr>
        </p:sp>
        <p:sp>
          <p:nvSpPr>
            <p:cNvPr id="6" name="TextBox 6"/>
            <p:cNvSpPr txBox="1"/>
            <p:nvPr/>
          </p:nvSpPr>
          <p:spPr>
            <a:xfrm>
              <a:off x="10999386" y="63341"/>
              <a:ext cx="1025926" cy="161925"/>
            </a:xfrm>
            <a:prstGeom prst="rect">
              <a:avLst/>
            </a:prstGeom>
            <a:noFill/>
            <a:ln>
              <a:noFill/>
            </a:ln>
          </p:spPr>
          <p:txBody>
            <a:bodyPr wrap="none" lIns="0" tIns="0" rIns="0" bIns="0" anchor="t" anchorCtr="0">
              <a:spAutoFit/>
            </a:bodyPr>
            <a:lstStyle/>
            <a:p>
              <a:pPr algn="r"/>
              <a:r>
                <a:rPr lang="zh-CN" sz="820" b="1" dirty="0">
                  <a:solidFill>
                    <a:srgbClr val="9E311B"/>
                  </a:solidFill>
                  <a:latin typeface="+mn-lt"/>
                  <a:ea typeface="+mn-ea"/>
                  <a:cs typeface="+mn-cs"/>
                </a:rPr>
                <a:t>洞察变化 · 防范风险</a:t>
              </a:r>
            </a:p>
          </p:txBody>
        </p:sp>
        <p:sp>
          <p:nvSpPr>
            <p:cNvPr id="7" name="TextBox 7"/>
            <p:cNvSpPr txBox="1"/>
            <p:nvPr/>
          </p:nvSpPr>
          <p:spPr>
            <a:xfrm>
              <a:off x="10882826" y="255032"/>
              <a:ext cx="1142487"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用数据看风险 · 用洞察创价值</a:t>
              </a:r>
            </a:p>
          </p:txBody>
        </p:sp>
        <p:sp>
          <p:nvSpPr>
            <p:cNvPr id="8" name="TextBox 8"/>
            <p:cNvSpPr txBox="1"/>
            <p:nvPr/>
          </p:nvSpPr>
          <p:spPr>
            <a:xfrm>
              <a:off x="11671160" y="407432"/>
              <a:ext cx="354152"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稳健前行</a:t>
              </a:r>
            </a:p>
          </p:txBody>
        </p:sp>
      </p:grpSp>
      <p:grpSp>
        <p:nvGrpSpPr>
          <p:cNvPr id="12" name="intro"/>
          <p:cNvGrpSpPr/>
          <p:nvPr/>
        </p:nvGrpSpPr>
        <p:grpSpPr>
          <a:xfrm>
            <a:off x="3466148" y="621268"/>
            <a:ext cx="5259705" cy="312182"/>
            <a:chOff x="3466148" y="621268"/>
            <a:chExt cx="5259705" cy="312182"/>
          </a:xfrm>
        </p:grpSpPr>
        <p:sp>
          <p:nvSpPr>
            <p:cNvPr id="10" name="TextBox 10"/>
            <p:cNvSpPr txBox="1"/>
            <p:nvPr/>
          </p:nvSpPr>
          <p:spPr>
            <a:xfrm>
              <a:off x="5222938" y="621268"/>
              <a:ext cx="1746123" cy="169069"/>
            </a:xfrm>
            <a:prstGeom prst="rect">
              <a:avLst/>
            </a:prstGeom>
            <a:noFill/>
            <a:ln>
              <a:noFill/>
            </a:ln>
          </p:spPr>
          <p:txBody>
            <a:bodyPr wrap="none" lIns="0" tIns="0" rIns="0" bIns="0" anchor="t" anchorCtr="0">
              <a:spAutoFit/>
            </a:bodyPr>
            <a:lstStyle/>
            <a:p>
              <a:pPr algn="ctr"/>
              <a:r>
                <a:rPr lang="zh-CN" sz="860" b="1" dirty="0">
                  <a:solidFill>
                    <a:srgbClr val="9E311B"/>
                  </a:solidFill>
                  <a:latin typeface="+mn-lt"/>
                  <a:ea typeface="+mn-ea"/>
                  <a:cs typeface="+mn-cs"/>
                </a:rPr>
                <a:t>一张图读懂评级迁徙的方向与含义</a:t>
              </a:r>
            </a:p>
          </p:txBody>
        </p:sp>
        <p:sp>
          <p:nvSpPr>
            <p:cNvPr id="11" name="TextBox 11"/>
            <p:cNvSpPr txBox="1"/>
            <p:nvPr/>
          </p:nvSpPr>
          <p:spPr>
            <a:xfrm>
              <a:off x="3466148" y="785812"/>
              <a:ext cx="5259705" cy="147638"/>
            </a:xfrm>
            <a:prstGeom prst="rect">
              <a:avLst/>
            </a:prstGeom>
            <a:noFill/>
            <a:ln>
              <a:noFill/>
            </a:ln>
          </p:spPr>
          <p:txBody>
            <a:bodyPr wrap="none" lIns="0" tIns="0" rIns="0" bIns="0" anchor="t" anchorCtr="0">
              <a:spAutoFit/>
            </a:bodyPr>
            <a:lstStyle/>
            <a:p>
              <a:pPr algn="ctr"/>
              <a:r>
                <a:rPr lang="zh-CN" sz="750" dirty="0">
                  <a:solidFill>
                    <a:srgbClr val="8C716B"/>
                  </a:solidFill>
                  <a:latin typeface="+mn-lt"/>
                  <a:ea typeface="+mn-ea"/>
                  <a:cs typeface="+mn-cs"/>
                </a:rPr>
                <a:t>评级迁徙矩阵展示了一定时期内，不同初始评级的主体在下一期转移到各评级的比例，是分析信用风险变化的重要工具</a:t>
              </a:r>
            </a:p>
          </p:txBody>
        </p:sp>
      </p:grpSp>
      <p:grpSp>
        <p:nvGrpSpPr>
          <p:cNvPr id="213" name="matrix-card"/>
          <p:cNvGrpSpPr/>
          <p:nvPr/>
        </p:nvGrpSpPr>
        <p:grpSpPr>
          <a:xfrm>
            <a:off x="-8939" y="1009650"/>
            <a:ext cx="8238539" cy="5562600"/>
            <a:chOff x="-8939" y="1009650"/>
            <a:chExt cx="8238539" cy="5562600"/>
          </a:xfrm>
        </p:grpSpPr>
        <p:sp>
          <p:nvSpPr>
            <p:cNvPr id="13" name="Rectangle 13"/>
            <p:cNvSpPr/>
            <p:nvPr/>
          </p:nvSpPr>
          <p:spPr>
            <a:xfrm>
              <a:off x="190500" y="1009650"/>
              <a:ext cx="8039100" cy="5562600"/>
            </a:xfrm>
            <a:prstGeom prst="roundRect">
              <a:avLst>
                <a:gd name="adj" fmla="val 1712"/>
              </a:avLst>
            </a:prstGeom>
            <a:solidFill>
              <a:srgbClr val="FFFFFF"/>
            </a:solidFill>
            <a:ln w="9525">
              <a:solidFill>
                <a:srgbClr val="CFE2F2"/>
              </a:solidFill>
            </a:ln>
          </p:spPr>
        </p:sp>
        <p:sp>
          <p:nvSpPr>
            <p:cNvPr id="14" name="Rectangle 14"/>
            <p:cNvSpPr/>
            <p:nvPr/>
          </p:nvSpPr>
          <p:spPr>
            <a:xfrm>
              <a:off x="190500" y="1009650"/>
              <a:ext cx="8039100" cy="266700"/>
            </a:xfrm>
            <a:prstGeom prst="roundRect">
              <a:avLst>
                <a:gd name="adj" fmla="val 35714"/>
              </a:avLst>
            </a:prstGeom>
            <a:solidFill>
              <a:srgbClr val="9E311B"/>
            </a:solidFill>
            <a:ln>
              <a:noFill/>
            </a:ln>
          </p:spPr>
        </p:sp>
        <p:sp>
          <p:nvSpPr>
            <p:cNvPr id="15" name="Rectangle 15"/>
            <p:cNvSpPr/>
            <p:nvPr/>
          </p:nvSpPr>
          <p:spPr>
            <a:xfrm>
              <a:off x="190500" y="1143000"/>
              <a:ext cx="8039100" cy="133350"/>
            </a:xfrm>
            <a:prstGeom prst="rect">
              <a:avLst/>
            </a:prstGeom>
            <a:solidFill>
              <a:srgbClr val="9E311B"/>
            </a:solidFill>
            <a:ln>
              <a:noFill/>
            </a:ln>
          </p:spPr>
        </p:sp>
        <p:grpSp>
          <p:nvGrpSpPr>
            <p:cNvPr id="21" name="Group 21"/>
            <p:cNvGrpSpPr/>
            <p:nvPr/>
          </p:nvGrpSpPr>
          <p:grpSpPr>
            <a:xfrm>
              <a:off x="342900" y="1085850"/>
              <a:ext cx="114300" cy="114300"/>
              <a:chOff x="342900" y="1085850"/>
              <a:chExt cx="114300" cy="114300"/>
            </a:xfrm>
          </p:grpSpPr>
          <p:sp>
            <p:nvSpPr>
              <p:cNvPr id="16" name="Freeform 16"/>
              <p:cNvSpPr/>
              <p:nvPr/>
            </p:nvSpPr>
            <p:spPr>
              <a:xfrm>
                <a:off x="387350" y="10858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7" name="Freeform 17"/>
              <p:cNvSpPr/>
              <p:nvPr/>
            </p:nvSpPr>
            <p:spPr>
              <a:xfrm>
                <a:off x="342900" y="11747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8" name="Freeform 18"/>
              <p:cNvSpPr/>
              <p:nvPr/>
            </p:nvSpPr>
            <p:spPr>
              <a:xfrm>
                <a:off x="431800" y="11747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9" name="Freeform 19"/>
              <p:cNvSpPr/>
              <p:nvPr/>
            </p:nvSpPr>
            <p:spPr>
              <a:xfrm>
                <a:off x="365125" y="1149350"/>
                <a:ext cx="69850" cy="28575"/>
              </a:xfrm>
              <a:custGeom>
                <a:avLst/>
                <a:gdLst/>
                <a:ahLst/>
                <a:cxnLst/>
                <a:rect l="l" t="t" r="r" b="b"/>
                <a:pathLst>
                  <a:path w="69850" h="28575">
                    <a:moveTo>
                      <a:pt x="0" y="28575"/>
                    </a:moveTo>
                    <a:lnTo>
                      <a:pt x="34925" y="0"/>
                    </a:lnTo>
                    <a:lnTo>
                      <a:pt x="69850" y="28575"/>
                    </a:lnTo>
                  </a:path>
                </a:pathLst>
              </a:custGeom>
              <a:noFill/>
              <a:ln w="12700">
                <a:solidFill>
                  <a:srgbClr val="FFFFFF"/>
                </a:solidFill>
              </a:ln>
            </p:spPr>
          </p:sp>
          <p:sp>
            <p:nvSpPr>
              <p:cNvPr id="20" name="Freeform 20"/>
              <p:cNvSpPr/>
              <p:nvPr/>
            </p:nvSpPr>
            <p:spPr>
              <a:xfrm>
                <a:off x="400050" y="1111250"/>
                <a:ext cx="9525" cy="38100"/>
              </a:xfrm>
              <a:custGeom>
                <a:avLst/>
                <a:gdLst/>
                <a:ahLst/>
                <a:cxnLst/>
                <a:rect l="l" t="t" r="r" b="b"/>
                <a:pathLst>
                  <a:path w="9525" h="38100">
                    <a:moveTo>
                      <a:pt x="0" y="0"/>
                    </a:moveTo>
                    <a:lnTo>
                      <a:pt x="0" y="38100"/>
                    </a:lnTo>
                  </a:path>
                </a:pathLst>
              </a:custGeom>
              <a:noFill/>
              <a:ln w="12700">
                <a:solidFill>
                  <a:srgbClr val="FFFFFF"/>
                </a:solidFill>
              </a:ln>
            </p:spPr>
          </p:sp>
        </p:grpSp>
        <p:sp>
          <p:nvSpPr>
            <p:cNvPr id="22" name="TextBox 22"/>
            <p:cNvSpPr txBox="1"/>
            <p:nvPr/>
          </p:nvSpPr>
          <p:spPr>
            <a:xfrm>
              <a:off x="528638" y="1098947"/>
              <a:ext cx="1274953"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评级迁徙矩阵（示例）</a:t>
              </a:r>
            </a:p>
          </p:txBody>
        </p:sp>
        <p:sp>
          <p:nvSpPr>
            <p:cNvPr id="23" name="TextBox 23"/>
            <p:cNvSpPr txBox="1"/>
            <p:nvPr/>
          </p:nvSpPr>
          <p:spPr>
            <a:xfrm>
              <a:off x="6256348" y="1131332"/>
              <a:ext cx="1844665" cy="126206"/>
            </a:xfrm>
            <a:prstGeom prst="rect">
              <a:avLst/>
            </a:prstGeom>
            <a:noFill/>
            <a:ln>
              <a:noFill/>
            </a:ln>
          </p:spPr>
          <p:txBody>
            <a:bodyPr wrap="none" lIns="0" tIns="0" rIns="0" bIns="0" anchor="t" anchorCtr="0">
              <a:spAutoFit/>
            </a:bodyPr>
            <a:lstStyle/>
            <a:p>
              <a:pPr algn="r"/>
              <a:r>
                <a:rPr lang="zh-CN" sz="640" dirty="0">
                  <a:solidFill>
                    <a:srgbClr val="DDEBF7"/>
                  </a:solidFill>
                  <a:latin typeface="+mn-lt"/>
                  <a:ea typeface="+mn-ea"/>
                  <a:cs typeface="+mn-cs"/>
                </a:rPr>
                <a:t>行表示期初评级，列表示期末评级（单位：%）​</a:t>
              </a:r>
            </a:p>
          </p:txBody>
        </p:sp>
        <p:sp>
          <p:nvSpPr>
            <p:cNvPr id="24" name="Rectangle 24"/>
            <p:cNvSpPr/>
            <p:nvPr/>
          </p:nvSpPr>
          <p:spPr>
            <a:xfrm>
              <a:off x="914400" y="1352550"/>
              <a:ext cx="3429000" cy="533400"/>
            </a:xfrm>
            <a:prstGeom prst="roundRect">
              <a:avLst>
                <a:gd name="adj" fmla="val 14286"/>
              </a:avLst>
            </a:prstGeom>
            <a:solidFill>
              <a:srgbClr val="FFFFFF"/>
            </a:solidFill>
            <a:ln w="11430">
              <a:solidFill>
                <a:srgbClr val="C4472E"/>
              </a:solidFill>
            </a:ln>
          </p:spPr>
        </p:sp>
        <p:sp>
          <p:nvSpPr>
            <p:cNvPr id="25" name="Freeform 25"/>
            <p:cNvSpPr/>
            <p:nvPr/>
          </p:nvSpPr>
          <p:spPr>
            <a:xfrm>
              <a:off x="1123950" y="1524000"/>
              <a:ext cx="266700" cy="266700"/>
            </a:xfrm>
            <a:prstGeom prst="upArrow">
              <a:avLst/>
            </a:prstGeom>
            <a:solidFill>
              <a:srgbClr val="C4472E"/>
            </a:solidFill>
            <a:ln>
              <a:noFill/>
            </a:ln>
          </p:spPr>
        </p:sp>
        <p:sp>
          <p:nvSpPr>
            <p:cNvPr id="26" name="TextBox 26"/>
            <p:cNvSpPr txBox="1"/>
            <p:nvPr/>
          </p:nvSpPr>
          <p:spPr>
            <a:xfrm>
              <a:off x="1519238" y="1444466"/>
              <a:ext cx="451079" cy="161925"/>
            </a:xfrm>
            <a:prstGeom prst="rect">
              <a:avLst/>
            </a:prstGeom>
            <a:noFill/>
            <a:ln>
              <a:noFill/>
            </a:ln>
          </p:spPr>
          <p:txBody>
            <a:bodyPr wrap="none" lIns="0" tIns="0" rIns="0" bIns="0" anchor="t" anchorCtr="0">
              <a:spAutoFit/>
            </a:bodyPr>
            <a:lstStyle/>
            <a:p>
              <a:pPr algn="l"/>
              <a:r>
                <a:rPr lang="zh-CN" sz="820" b="1" dirty="0">
                  <a:solidFill>
                    <a:srgbClr val="9E311B"/>
                  </a:solidFill>
                  <a:latin typeface="+mn-lt"/>
                  <a:ea typeface="+mn-ea"/>
                  <a:cs typeface="+mn-cs"/>
                </a:rPr>
                <a:t>升级迁徙</a:t>
              </a:r>
            </a:p>
          </p:txBody>
        </p:sp>
        <p:sp>
          <p:nvSpPr>
            <p:cNvPr id="27" name="TextBox 27"/>
            <p:cNvSpPr txBox="1"/>
            <p:nvPr/>
          </p:nvSpPr>
          <p:spPr>
            <a:xfrm>
              <a:off x="1519238" y="1617107"/>
              <a:ext cx="98488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5C3A33"/>
                  </a:solidFill>
                  <a:latin typeface="+mn-lt"/>
                  <a:ea typeface="+mn-ea"/>
                  <a:cs typeface="+mn-cs"/>
                </a:rPr>
                <a:t>位于对角线上方的单元格，</a:t>
              </a:r>
              <a:br/>
              <a:r>
                <a:rPr lang="zh-CN" sz="640" dirty="0">
                  <a:solidFill>
                    <a:srgbClr val="5C3A33"/>
                  </a:solidFill>
                  <a:latin typeface="+mn-lt"/>
                  <a:ea typeface="+mn-ea"/>
                  <a:cs typeface="+mn-cs"/>
                </a:rPr>
                <a:t>表示评级上调的比例。</a:t>
              </a:r>
            </a:p>
          </p:txBody>
        </p:sp>
        <p:sp>
          <p:nvSpPr>
            <p:cNvPr id="28" name="Line 28"/>
            <p:cNvSpPr/>
            <p:nvPr/>
          </p:nvSpPr>
          <p:spPr>
            <a:xfrm>
              <a:off x="2857500" y="1885950"/>
              <a:ext cx="476250" cy="323850"/>
            </a:xfrm>
            <a:prstGeom prst="line">
              <a:avLst/>
            </a:prstGeom>
            <a:noFill/>
            <a:ln w="14288">
              <a:solidFill>
                <a:srgbClr val="C4472E"/>
              </a:solidFill>
              <a:tailEnd type="triangle" w="lg" len="lg"/>
            </a:ln>
          </p:spPr>
        </p:sp>
        <p:sp>
          <p:nvSpPr>
            <p:cNvPr id="29" name="Rectangle 29"/>
            <p:cNvSpPr/>
            <p:nvPr/>
          </p:nvSpPr>
          <p:spPr>
            <a:xfrm>
              <a:off x="4514850" y="1352550"/>
              <a:ext cx="3429000" cy="533400"/>
            </a:xfrm>
            <a:prstGeom prst="roundRect">
              <a:avLst>
                <a:gd name="adj" fmla="val 14286"/>
              </a:avLst>
            </a:prstGeom>
            <a:solidFill>
              <a:srgbClr val="FFFFFF"/>
            </a:solidFill>
            <a:ln w="11430">
              <a:solidFill>
                <a:srgbClr val="C4472E"/>
              </a:solidFill>
            </a:ln>
          </p:spPr>
        </p:sp>
        <p:sp>
          <p:nvSpPr>
            <p:cNvPr id="30" name="Ellipse 30"/>
            <p:cNvSpPr/>
            <p:nvPr/>
          </p:nvSpPr>
          <p:spPr>
            <a:xfrm>
              <a:off x="4648200" y="1504950"/>
              <a:ext cx="228600" cy="228600"/>
            </a:xfrm>
            <a:prstGeom prst="ellipse">
              <a:avLst/>
            </a:prstGeom>
            <a:solidFill>
              <a:srgbClr val="C4472E"/>
            </a:solidFill>
            <a:ln>
              <a:noFill/>
            </a:ln>
          </p:spPr>
        </p:sp>
        <p:sp>
          <p:nvSpPr>
            <p:cNvPr id="31" name="Ellipse 31"/>
            <p:cNvSpPr/>
            <p:nvPr/>
          </p:nvSpPr>
          <p:spPr>
            <a:xfrm>
              <a:off x="4714875" y="1571625"/>
              <a:ext cx="95250" cy="95250"/>
            </a:xfrm>
            <a:prstGeom prst="ellipse">
              <a:avLst/>
            </a:prstGeom>
            <a:solidFill>
              <a:srgbClr val="FFFFFF"/>
            </a:solidFill>
            <a:ln>
              <a:noFill/>
            </a:ln>
          </p:spPr>
        </p:sp>
        <p:sp>
          <p:nvSpPr>
            <p:cNvPr id="32" name="TextBox 32"/>
            <p:cNvSpPr txBox="1"/>
            <p:nvPr/>
          </p:nvSpPr>
          <p:spPr>
            <a:xfrm>
              <a:off x="5043488" y="1444466"/>
              <a:ext cx="340690" cy="161925"/>
            </a:xfrm>
            <a:prstGeom prst="rect">
              <a:avLst/>
            </a:prstGeom>
            <a:noFill/>
            <a:ln>
              <a:noFill/>
            </a:ln>
          </p:spPr>
          <p:txBody>
            <a:bodyPr wrap="none" lIns="0" tIns="0" rIns="0" bIns="0" anchor="t" anchorCtr="0">
              <a:spAutoFit/>
            </a:bodyPr>
            <a:lstStyle/>
            <a:p>
              <a:pPr algn="l"/>
              <a:r>
                <a:rPr lang="zh-CN" sz="820" b="1" dirty="0">
                  <a:solidFill>
                    <a:srgbClr val="9E311B"/>
                  </a:solidFill>
                  <a:latin typeface="+mn-lt"/>
                  <a:ea typeface="+mn-ea"/>
                  <a:cs typeface="+mn-cs"/>
                </a:rPr>
                <a:t>稳定率</a:t>
              </a:r>
            </a:p>
          </p:txBody>
        </p:sp>
        <p:sp>
          <p:nvSpPr>
            <p:cNvPr id="33" name="TextBox 33"/>
            <p:cNvSpPr txBox="1"/>
            <p:nvPr/>
          </p:nvSpPr>
          <p:spPr>
            <a:xfrm>
              <a:off x="5043488" y="1617107"/>
              <a:ext cx="11474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5C3A33"/>
                  </a:solidFill>
                  <a:latin typeface="+mn-lt"/>
                  <a:ea typeface="+mn-ea"/>
                  <a:cs typeface="+mn-cs"/>
                </a:rPr>
                <a:t>对角线上的值表示评级保持不变</a:t>
              </a:r>
              <a:br/>
              <a:r>
                <a:rPr lang="zh-CN" sz="640" dirty="0">
                  <a:solidFill>
                    <a:srgbClr val="5C3A33"/>
                  </a:solidFill>
                  <a:latin typeface="+mn-lt"/>
                  <a:ea typeface="+mn-ea"/>
                  <a:cs typeface="+mn-cs"/>
                </a:rPr>
                <a:t>的比例，通常越高越好。</a:t>
              </a:r>
            </a:p>
          </p:txBody>
        </p:sp>
        <p:sp>
          <p:nvSpPr>
            <p:cNvPr id="34" name="TextBox 34"/>
            <p:cNvSpPr txBox="1"/>
            <p:nvPr/>
          </p:nvSpPr>
          <p:spPr>
            <a:xfrm rot="-5400000">
              <a:off x="-8939" y="3823097"/>
              <a:ext cx="920849" cy="126206"/>
            </a:xfrm>
            <a:prstGeom prst="rect">
              <a:avLst/>
            </a:prstGeom>
            <a:noFill/>
            <a:ln>
              <a:noFill/>
            </a:ln>
          </p:spPr>
          <p:txBody>
            <a:bodyPr wrap="none" lIns="0" tIns="0" rIns="0" bIns="0" anchor="t" anchorCtr="0">
              <a:spAutoFit/>
            </a:bodyPr>
            <a:lstStyle/>
            <a:p>
              <a:pPr algn="ctr"/>
              <a:r>
                <a:rPr lang="zh-CN" sz="640" b="1" dirty="0">
                  <a:solidFill>
                    <a:srgbClr val="9E311B"/>
                  </a:solidFill>
                  <a:latin typeface="+mn-lt"/>
                  <a:ea typeface="+mn-ea"/>
                  <a:cs typeface="+mn-cs"/>
                </a:rPr>
                <a:t>期初评级（从高到低）​</a:t>
              </a:r>
            </a:p>
          </p:txBody>
        </p:sp>
        <p:sp>
          <p:nvSpPr>
            <p:cNvPr id="35" name="Line 35"/>
            <p:cNvSpPr/>
            <p:nvPr/>
          </p:nvSpPr>
          <p:spPr>
            <a:xfrm>
              <a:off x="666750" y="2857500"/>
              <a:ext cx="1" cy="2057400"/>
            </a:xfrm>
            <a:prstGeom prst="line">
              <a:avLst/>
            </a:prstGeom>
            <a:noFill/>
            <a:ln w="14288">
              <a:solidFill>
                <a:srgbClr val="C4472E"/>
              </a:solidFill>
              <a:headEnd type="triangle" w="lg" len="lg"/>
              <a:tailEnd type="triangle" w="lg" len="lg"/>
            </a:ln>
          </p:spPr>
        </p:sp>
        <p:sp>
          <p:nvSpPr>
            <p:cNvPr id="36" name="Rectangle 36"/>
            <p:cNvSpPr/>
            <p:nvPr/>
          </p:nvSpPr>
          <p:spPr>
            <a:xfrm>
              <a:off x="1352550" y="2038350"/>
              <a:ext cx="819150" cy="190500"/>
            </a:xfrm>
            <a:prstGeom prst="rect">
              <a:avLst/>
            </a:prstGeom>
            <a:solidFill>
              <a:srgbClr val="DDEBF7"/>
            </a:solidFill>
            <a:ln>
              <a:noFill/>
            </a:ln>
          </p:spPr>
        </p:sp>
        <p:sp>
          <p:nvSpPr>
            <p:cNvPr id="37" name="TextBox 37"/>
            <p:cNvSpPr txBox="1"/>
            <p:nvPr/>
          </p:nvSpPr>
          <p:spPr>
            <a:xfrm>
              <a:off x="1624653" y="2098834"/>
              <a:ext cx="274943"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AAA​</a:t>
              </a:r>
            </a:p>
          </p:txBody>
        </p:sp>
        <p:sp>
          <p:nvSpPr>
            <p:cNvPr id="38" name="Rectangle 38"/>
            <p:cNvSpPr/>
            <p:nvPr/>
          </p:nvSpPr>
          <p:spPr>
            <a:xfrm>
              <a:off x="2171700" y="2038350"/>
              <a:ext cx="819150" cy="190500"/>
            </a:xfrm>
            <a:prstGeom prst="rect">
              <a:avLst/>
            </a:prstGeom>
            <a:solidFill>
              <a:srgbClr val="DDEBF7"/>
            </a:solidFill>
            <a:ln>
              <a:noFill/>
            </a:ln>
          </p:spPr>
        </p:sp>
        <p:sp>
          <p:nvSpPr>
            <p:cNvPr id="39" name="TextBox 39"/>
            <p:cNvSpPr txBox="1"/>
            <p:nvPr/>
          </p:nvSpPr>
          <p:spPr>
            <a:xfrm>
              <a:off x="2478730" y="2098834"/>
              <a:ext cx="205090"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AA​</a:t>
              </a:r>
            </a:p>
          </p:txBody>
        </p:sp>
        <p:sp>
          <p:nvSpPr>
            <p:cNvPr id="40" name="Rectangle 40"/>
            <p:cNvSpPr/>
            <p:nvPr/>
          </p:nvSpPr>
          <p:spPr>
            <a:xfrm>
              <a:off x="2990850" y="2038350"/>
              <a:ext cx="819150" cy="190500"/>
            </a:xfrm>
            <a:prstGeom prst="rect">
              <a:avLst/>
            </a:prstGeom>
            <a:solidFill>
              <a:srgbClr val="DDEBF7"/>
            </a:solidFill>
            <a:ln>
              <a:noFill/>
            </a:ln>
          </p:spPr>
        </p:sp>
        <p:sp>
          <p:nvSpPr>
            <p:cNvPr id="41" name="TextBox 41"/>
            <p:cNvSpPr txBox="1"/>
            <p:nvPr/>
          </p:nvSpPr>
          <p:spPr>
            <a:xfrm>
              <a:off x="3332807" y="2098834"/>
              <a:ext cx="135236"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A​</a:t>
              </a:r>
            </a:p>
          </p:txBody>
        </p:sp>
        <p:sp>
          <p:nvSpPr>
            <p:cNvPr id="42" name="Rectangle 42"/>
            <p:cNvSpPr/>
            <p:nvPr/>
          </p:nvSpPr>
          <p:spPr>
            <a:xfrm>
              <a:off x="3810000" y="2038350"/>
              <a:ext cx="819150" cy="190500"/>
            </a:xfrm>
            <a:prstGeom prst="rect">
              <a:avLst/>
            </a:prstGeom>
            <a:solidFill>
              <a:srgbClr val="DDEBF7"/>
            </a:solidFill>
            <a:ln>
              <a:noFill/>
            </a:ln>
          </p:spPr>
        </p:sp>
        <p:sp>
          <p:nvSpPr>
            <p:cNvPr id="43" name="TextBox 43"/>
            <p:cNvSpPr txBox="1"/>
            <p:nvPr/>
          </p:nvSpPr>
          <p:spPr>
            <a:xfrm>
              <a:off x="4082103" y="2098834"/>
              <a:ext cx="274943"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BBB​</a:t>
              </a:r>
            </a:p>
          </p:txBody>
        </p:sp>
        <p:sp>
          <p:nvSpPr>
            <p:cNvPr id="44" name="Rectangle 44"/>
            <p:cNvSpPr/>
            <p:nvPr/>
          </p:nvSpPr>
          <p:spPr>
            <a:xfrm>
              <a:off x="4629150" y="2038350"/>
              <a:ext cx="819150" cy="190500"/>
            </a:xfrm>
            <a:prstGeom prst="rect">
              <a:avLst/>
            </a:prstGeom>
            <a:solidFill>
              <a:srgbClr val="DDEBF7"/>
            </a:solidFill>
            <a:ln>
              <a:noFill/>
            </a:ln>
          </p:spPr>
        </p:sp>
        <p:sp>
          <p:nvSpPr>
            <p:cNvPr id="45" name="TextBox 45"/>
            <p:cNvSpPr txBox="1"/>
            <p:nvPr/>
          </p:nvSpPr>
          <p:spPr>
            <a:xfrm>
              <a:off x="4936180" y="2098834"/>
              <a:ext cx="205090"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BB​</a:t>
              </a:r>
            </a:p>
          </p:txBody>
        </p:sp>
        <p:sp>
          <p:nvSpPr>
            <p:cNvPr id="46" name="Rectangle 46"/>
            <p:cNvSpPr/>
            <p:nvPr/>
          </p:nvSpPr>
          <p:spPr>
            <a:xfrm>
              <a:off x="5448300" y="2038350"/>
              <a:ext cx="819150" cy="190500"/>
            </a:xfrm>
            <a:prstGeom prst="rect">
              <a:avLst/>
            </a:prstGeom>
            <a:solidFill>
              <a:srgbClr val="DDEBF7"/>
            </a:solidFill>
            <a:ln>
              <a:noFill/>
            </a:ln>
          </p:spPr>
        </p:sp>
        <p:sp>
          <p:nvSpPr>
            <p:cNvPr id="47" name="TextBox 47"/>
            <p:cNvSpPr txBox="1"/>
            <p:nvPr/>
          </p:nvSpPr>
          <p:spPr>
            <a:xfrm>
              <a:off x="5790257" y="2098834"/>
              <a:ext cx="135236"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B​</a:t>
              </a:r>
            </a:p>
          </p:txBody>
        </p:sp>
        <p:sp>
          <p:nvSpPr>
            <p:cNvPr id="48" name="Rectangle 48"/>
            <p:cNvSpPr/>
            <p:nvPr/>
          </p:nvSpPr>
          <p:spPr>
            <a:xfrm>
              <a:off x="6267450" y="2038350"/>
              <a:ext cx="819150" cy="190500"/>
            </a:xfrm>
            <a:prstGeom prst="rect">
              <a:avLst/>
            </a:prstGeom>
            <a:solidFill>
              <a:srgbClr val="DDEBF7"/>
            </a:solidFill>
            <a:ln>
              <a:noFill/>
            </a:ln>
          </p:spPr>
        </p:sp>
        <p:sp>
          <p:nvSpPr>
            <p:cNvPr id="49" name="TextBox 49"/>
            <p:cNvSpPr txBox="1"/>
            <p:nvPr/>
          </p:nvSpPr>
          <p:spPr>
            <a:xfrm>
              <a:off x="6609407" y="2098834"/>
              <a:ext cx="135236"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C​</a:t>
              </a:r>
            </a:p>
          </p:txBody>
        </p:sp>
        <p:sp>
          <p:nvSpPr>
            <p:cNvPr id="50" name="Rectangle 50"/>
            <p:cNvSpPr/>
            <p:nvPr/>
          </p:nvSpPr>
          <p:spPr>
            <a:xfrm>
              <a:off x="7086600" y="2038350"/>
              <a:ext cx="819150" cy="190500"/>
            </a:xfrm>
            <a:prstGeom prst="rect">
              <a:avLst/>
            </a:prstGeom>
            <a:solidFill>
              <a:srgbClr val="DDEBF7"/>
            </a:solidFill>
            <a:ln>
              <a:noFill/>
            </a:ln>
          </p:spPr>
        </p:sp>
        <p:sp>
          <p:nvSpPr>
            <p:cNvPr id="51" name="TextBox 51"/>
            <p:cNvSpPr txBox="1"/>
            <p:nvPr/>
          </p:nvSpPr>
          <p:spPr>
            <a:xfrm>
              <a:off x="7428557" y="2098834"/>
              <a:ext cx="135236"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D​</a:t>
              </a:r>
            </a:p>
          </p:txBody>
        </p:sp>
        <p:sp>
          <p:nvSpPr>
            <p:cNvPr id="52" name="Rectangle 52"/>
            <p:cNvSpPr/>
            <p:nvPr/>
          </p:nvSpPr>
          <p:spPr>
            <a:xfrm>
              <a:off x="838200" y="2257425"/>
              <a:ext cx="514350" cy="390525"/>
            </a:xfrm>
            <a:prstGeom prst="rect">
              <a:avLst/>
            </a:prstGeom>
            <a:solidFill>
              <a:srgbClr val="DDEBF7"/>
            </a:solidFill>
            <a:ln>
              <a:noFill/>
            </a:ln>
          </p:spPr>
        </p:sp>
        <p:sp>
          <p:nvSpPr>
            <p:cNvPr id="53" name="TextBox 53"/>
            <p:cNvSpPr txBox="1"/>
            <p:nvPr/>
          </p:nvSpPr>
          <p:spPr>
            <a:xfrm>
              <a:off x="957903" y="2432209"/>
              <a:ext cx="274943"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AAA​</a:t>
              </a:r>
            </a:p>
          </p:txBody>
        </p:sp>
        <p:sp>
          <p:nvSpPr>
            <p:cNvPr id="54" name="Rectangle 54"/>
            <p:cNvSpPr/>
            <p:nvPr/>
          </p:nvSpPr>
          <p:spPr>
            <a:xfrm>
              <a:off x="1362075" y="2257425"/>
              <a:ext cx="800100" cy="390525"/>
            </a:xfrm>
            <a:prstGeom prst="rect">
              <a:avLst/>
            </a:prstGeom>
            <a:solidFill>
              <a:srgbClr val="E83E1B"/>
            </a:solidFill>
            <a:ln>
              <a:noFill/>
            </a:ln>
          </p:spPr>
        </p:sp>
        <p:sp>
          <p:nvSpPr>
            <p:cNvPr id="55" name="TextBox 55"/>
            <p:cNvSpPr txBox="1"/>
            <p:nvPr/>
          </p:nvSpPr>
          <p:spPr>
            <a:xfrm>
              <a:off x="1641842" y="2432209"/>
              <a:ext cx="24056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92.5​</a:t>
              </a:r>
            </a:p>
          </p:txBody>
        </p:sp>
        <p:sp>
          <p:nvSpPr>
            <p:cNvPr id="56" name="Rectangle 56"/>
            <p:cNvSpPr/>
            <p:nvPr/>
          </p:nvSpPr>
          <p:spPr>
            <a:xfrm>
              <a:off x="2181225" y="2257425"/>
              <a:ext cx="800100" cy="390525"/>
            </a:xfrm>
            <a:prstGeom prst="rect">
              <a:avLst/>
            </a:prstGeom>
            <a:solidFill>
              <a:srgbClr val="FAD6D0"/>
            </a:solidFill>
            <a:ln>
              <a:noFill/>
            </a:ln>
          </p:spPr>
        </p:sp>
        <p:sp>
          <p:nvSpPr>
            <p:cNvPr id="57" name="TextBox 57"/>
            <p:cNvSpPr txBox="1"/>
            <p:nvPr/>
          </p:nvSpPr>
          <p:spPr>
            <a:xfrm>
              <a:off x="2487708" y="243220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5.1​</a:t>
              </a:r>
            </a:p>
          </p:txBody>
        </p:sp>
        <p:sp>
          <p:nvSpPr>
            <p:cNvPr id="58" name="Rectangle 58"/>
            <p:cNvSpPr/>
            <p:nvPr/>
          </p:nvSpPr>
          <p:spPr>
            <a:xfrm>
              <a:off x="3000375" y="2257425"/>
              <a:ext cx="800100" cy="390525"/>
            </a:xfrm>
            <a:prstGeom prst="rect">
              <a:avLst/>
            </a:prstGeom>
            <a:solidFill>
              <a:srgbClr val="FBE4E2"/>
            </a:solidFill>
            <a:ln>
              <a:noFill/>
            </a:ln>
          </p:spPr>
        </p:sp>
        <p:sp>
          <p:nvSpPr>
            <p:cNvPr id="59" name="TextBox 59"/>
            <p:cNvSpPr txBox="1"/>
            <p:nvPr/>
          </p:nvSpPr>
          <p:spPr>
            <a:xfrm>
              <a:off x="3306858" y="243220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1.6​</a:t>
              </a:r>
            </a:p>
          </p:txBody>
        </p:sp>
        <p:sp>
          <p:nvSpPr>
            <p:cNvPr id="60" name="Rectangle 60"/>
            <p:cNvSpPr/>
            <p:nvPr/>
          </p:nvSpPr>
          <p:spPr>
            <a:xfrm>
              <a:off x="3819525" y="2257425"/>
              <a:ext cx="800100" cy="390525"/>
            </a:xfrm>
            <a:prstGeom prst="rect">
              <a:avLst/>
            </a:prstGeom>
            <a:solidFill>
              <a:srgbClr val="FBF0EF"/>
            </a:solidFill>
            <a:ln>
              <a:noFill/>
            </a:ln>
          </p:spPr>
        </p:sp>
        <p:sp>
          <p:nvSpPr>
            <p:cNvPr id="61" name="TextBox 61"/>
            <p:cNvSpPr txBox="1"/>
            <p:nvPr/>
          </p:nvSpPr>
          <p:spPr>
            <a:xfrm>
              <a:off x="4126008" y="243220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0.6​</a:t>
              </a:r>
            </a:p>
          </p:txBody>
        </p:sp>
        <p:sp>
          <p:nvSpPr>
            <p:cNvPr id="62" name="Rectangle 62"/>
            <p:cNvSpPr/>
            <p:nvPr/>
          </p:nvSpPr>
          <p:spPr>
            <a:xfrm>
              <a:off x="4638675" y="2257425"/>
              <a:ext cx="800100" cy="390525"/>
            </a:xfrm>
            <a:prstGeom prst="rect">
              <a:avLst/>
            </a:prstGeom>
            <a:solidFill>
              <a:srgbClr val="FBF0EF"/>
            </a:solidFill>
            <a:ln>
              <a:noFill/>
            </a:ln>
          </p:spPr>
        </p:sp>
        <p:sp>
          <p:nvSpPr>
            <p:cNvPr id="63" name="TextBox 63"/>
            <p:cNvSpPr txBox="1"/>
            <p:nvPr/>
          </p:nvSpPr>
          <p:spPr>
            <a:xfrm>
              <a:off x="4945158" y="243220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0.2​</a:t>
              </a:r>
            </a:p>
          </p:txBody>
        </p:sp>
        <p:sp>
          <p:nvSpPr>
            <p:cNvPr id="64" name="Rectangle 64"/>
            <p:cNvSpPr/>
            <p:nvPr/>
          </p:nvSpPr>
          <p:spPr>
            <a:xfrm>
              <a:off x="5457825" y="2257425"/>
              <a:ext cx="800100" cy="390525"/>
            </a:xfrm>
            <a:prstGeom prst="rect">
              <a:avLst/>
            </a:prstGeom>
            <a:solidFill>
              <a:srgbClr val="FAFCFE"/>
            </a:solidFill>
            <a:ln>
              <a:noFill/>
            </a:ln>
          </p:spPr>
        </p:sp>
        <p:sp>
          <p:nvSpPr>
            <p:cNvPr id="65" name="TextBox 65"/>
            <p:cNvSpPr txBox="1"/>
            <p:nvPr/>
          </p:nvSpPr>
          <p:spPr>
            <a:xfrm>
              <a:off x="5764308" y="2432209"/>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66" name="Rectangle 66"/>
            <p:cNvSpPr/>
            <p:nvPr/>
          </p:nvSpPr>
          <p:spPr>
            <a:xfrm>
              <a:off x="6276975" y="2257425"/>
              <a:ext cx="800100" cy="390525"/>
            </a:xfrm>
            <a:prstGeom prst="rect">
              <a:avLst/>
            </a:prstGeom>
            <a:solidFill>
              <a:srgbClr val="FAFCFE"/>
            </a:solidFill>
            <a:ln>
              <a:noFill/>
            </a:ln>
          </p:spPr>
        </p:sp>
        <p:sp>
          <p:nvSpPr>
            <p:cNvPr id="67" name="TextBox 67"/>
            <p:cNvSpPr txBox="1"/>
            <p:nvPr/>
          </p:nvSpPr>
          <p:spPr>
            <a:xfrm>
              <a:off x="6583458" y="2432209"/>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68" name="Rectangle 68"/>
            <p:cNvSpPr/>
            <p:nvPr/>
          </p:nvSpPr>
          <p:spPr>
            <a:xfrm>
              <a:off x="7096125" y="2257425"/>
              <a:ext cx="800100" cy="390525"/>
            </a:xfrm>
            <a:prstGeom prst="rect">
              <a:avLst/>
            </a:prstGeom>
            <a:solidFill>
              <a:srgbClr val="FAFCFE"/>
            </a:solidFill>
            <a:ln>
              <a:noFill/>
            </a:ln>
          </p:spPr>
        </p:sp>
        <p:sp>
          <p:nvSpPr>
            <p:cNvPr id="69" name="TextBox 69"/>
            <p:cNvSpPr txBox="1"/>
            <p:nvPr/>
          </p:nvSpPr>
          <p:spPr>
            <a:xfrm>
              <a:off x="7402608" y="2432209"/>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70" name="Rectangle 70"/>
            <p:cNvSpPr/>
            <p:nvPr/>
          </p:nvSpPr>
          <p:spPr>
            <a:xfrm>
              <a:off x="838200" y="2667000"/>
              <a:ext cx="514350" cy="390525"/>
            </a:xfrm>
            <a:prstGeom prst="rect">
              <a:avLst/>
            </a:prstGeom>
            <a:solidFill>
              <a:srgbClr val="DDEBF7"/>
            </a:solidFill>
            <a:ln>
              <a:noFill/>
            </a:ln>
          </p:spPr>
        </p:sp>
        <p:sp>
          <p:nvSpPr>
            <p:cNvPr id="71" name="TextBox 71"/>
            <p:cNvSpPr txBox="1"/>
            <p:nvPr/>
          </p:nvSpPr>
          <p:spPr>
            <a:xfrm>
              <a:off x="992830" y="2841784"/>
              <a:ext cx="205090"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AA​</a:t>
              </a:r>
            </a:p>
          </p:txBody>
        </p:sp>
        <p:sp>
          <p:nvSpPr>
            <p:cNvPr id="72" name="Rectangle 72"/>
            <p:cNvSpPr/>
            <p:nvPr/>
          </p:nvSpPr>
          <p:spPr>
            <a:xfrm>
              <a:off x="1362075" y="2667000"/>
              <a:ext cx="800100" cy="390525"/>
            </a:xfrm>
            <a:prstGeom prst="rect">
              <a:avLst/>
            </a:prstGeom>
            <a:solidFill>
              <a:srgbClr val="FAD6D0"/>
            </a:solidFill>
            <a:ln>
              <a:noFill/>
            </a:ln>
          </p:spPr>
        </p:sp>
        <p:sp>
          <p:nvSpPr>
            <p:cNvPr id="73" name="TextBox 73"/>
            <p:cNvSpPr txBox="1"/>
            <p:nvPr/>
          </p:nvSpPr>
          <p:spPr>
            <a:xfrm>
              <a:off x="1668558" y="284178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3.8​</a:t>
              </a:r>
            </a:p>
          </p:txBody>
        </p:sp>
        <p:sp>
          <p:nvSpPr>
            <p:cNvPr id="74" name="Rectangle 74"/>
            <p:cNvSpPr/>
            <p:nvPr/>
          </p:nvSpPr>
          <p:spPr>
            <a:xfrm>
              <a:off x="2181225" y="2667000"/>
              <a:ext cx="800100" cy="390525"/>
            </a:xfrm>
            <a:prstGeom prst="rect">
              <a:avLst/>
            </a:prstGeom>
            <a:solidFill>
              <a:srgbClr val="E83E1B"/>
            </a:solidFill>
            <a:ln>
              <a:noFill/>
            </a:ln>
          </p:spPr>
        </p:sp>
        <p:sp>
          <p:nvSpPr>
            <p:cNvPr id="75" name="TextBox 75"/>
            <p:cNvSpPr txBox="1"/>
            <p:nvPr/>
          </p:nvSpPr>
          <p:spPr>
            <a:xfrm>
              <a:off x="2460992" y="2841784"/>
              <a:ext cx="24056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88.1​</a:t>
              </a:r>
            </a:p>
          </p:txBody>
        </p:sp>
        <p:sp>
          <p:nvSpPr>
            <p:cNvPr id="76" name="Rectangle 76"/>
            <p:cNvSpPr/>
            <p:nvPr/>
          </p:nvSpPr>
          <p:spPr>
            <a:xfrm>
              <a:off x="3000375" y="2667000"/>
              <a:ext cx="800100" cy="390525"/>
            </a:xfrm>
            <a:prstGeom prst="rect">
              <a:avLst/>
            </a:prstGeom>
            <a:solidFill>
              <a:srgbClr val="F8C4BB"/>
            </a:solidFill>
            <a:ln>
              <a:noFill/>
            </a:ln>
          </p:spPr>
        </p:sp>
        <p:sp>
          <p:nvSpPr>
            <p:cNvPr id="77" name="TextBox 77"/>
            <p:cNvSpPr txBox="1"/>
            <p:nvPr/>
          </p:nvSpPr>
          <p:spPr>
            <a:xfrm>
              <a:off x="3306858" y="284178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6.2​</a:t>
              </a:r>
            </a:p>
          </p:txBody>
        </p:sp>
        <p:sp>
          <p:nvSpPr>
            <p:cNvPr id="78" name="Rectangle 78"/>
            <p:cNvSpPr/>
            <p:nvPr/>
          </p:nvSpPr>
          <p:spPr>
            <a:xfrm>
              <a:off x="3819525" y="2667000"/>
              <a:ext cx="800100" cy="390525"/>
            </a:xfrm>
            <a:prstGeom prst="rect">
              <a:avLst/>
            </a:prstGeom>
            <a:solidFill>
              <a:srgbClr val="FBE4E2"/>
            </a:solidFill>
            <a:ln>
              <a:noFill/>
            </a:ln>
          </p:spPr>
        </p:sp>
        <p:sp>
          <p:nvSpPr>
            <p:cNvPr id="79" name="TextBox 79"/>
            <p:cNvSpPr txBox="1"/>
            <p:nvPr/>
          </p:nvSpPr>
          <p:spPr>
            <a:xfrm>
              <a:off x="4126008" y="284178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1.4​</a:t>
              </a:r>
            </a:p>
          </p:txBody>
        </p:sp>
        <p:sp>
          <p:nvSpPr>
            <p:cNvPr id="80" name="Rectangle 80"/>
            <p:cNvSpPr/>
            <p:nvPr/>
          </p:nvSpPr>
          <p:spPr>
            <a:xfrm>
              <a:off x="4638675" y="2667000"/>
              <a:ext cx="800100" cy="390525"/>
            </a:xfrm>
            <a:prstGeom prst="rect">
              <a:avLst/>
            </a:prstGeom>
            <a:solidFill>
              <a:srgbClr val="FBF0EF"/>
            </a:solidFill>
            <a:ln>
              <a:noFill/>
            </a:ln>
          </p:spPr>
        </p:sp>
        <p:sp>
          <p:nvSpPr>
            <p:cNvPr id="81" name="TextBox 81"/>
            <p:cNvSpPr txBox="1"/>
            <p:nvPr/>
          </p:nvSpPr>
          <p:spPr>
            <a:xfrm>
              <a:off x="4945158" y="284178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0.4​</a:t>
              </a:r>
            </a:p>
          </p:txBody>
        </p:sp>
        <p:sp>
          <p:nvSpPr>
            <p:cNvPr id="82" name="Rectangle 82"/>
            <p:cNvSpPr/>
            <p:nvPr/>
          </p:nvSpPr>
          <p:spPr>
            <a:xfrm>
              <a:off x="5457825" y="2667000"/>
              <a:ext cx="800100" cy="390525"/>
            </a:xfrm>
            <a:prstGeom prst="rect">
              <a:avLst/>
            </a:prstGeom>
            <a:solidFill>
              <a:srgbClr val="FBF0EF"/>
            </a:solidFill>
            <a:ln>
              <a:noFill/>
            </a:ln>
          </p:spPr>
        </p:sp>
        <p:sp>
          <p:nvSpPr>
            <p:cNvPr id="83" name="TextBox 83"/>
            <p:cNvSpPr txBox="1"/>
            <p:nvPr/>
          </p:nvSpPr>
          <p:spPr>
            <a:xfrm>
              <a:off x="5764308" y="284178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0.1​</a:t>
              </a:r>
            </a:p>
          </p:txBody>
        </p:sp>
        <p:sp>
          <p:nvSpPr>
            <p:cNvPr id="84" name="Rectangle 84"/>
            <p:cNvSpPr/>
            <p:nvPr/>
          </p:nvSpPr>
          <p:spPr>
            <a:xfrm>
              <a:off x="6276975" y="2667000"/>
              <a:ext cx="800100" cy="390525"/>
            </a:xfrm>
            <a:prstGeom prst="rect">
              <a:avLst/>
            </a:prstGeom>
            <a:solidFill>
              <a:srgbClr val="FAFCFE"/>
            </a:solidFill>
            <a:ln>
              <a:noFill/>
            </a:ln>
          </p:spPr>
        </p:sp>
        <p:sp>
          <p:nvSpPr>
            <p:cNvPr id="85" name="TextBox 85"/>
            <p:cNvSpPr txBox="1"/>
            <p:nvPr/>
          </p:nvSpPr>
          <p:spPr>
            <a:xfrm>
              <a:off x="6583458" y="2841784"/>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86" name="Rectangle 86"/>
            <p:cNvSpPr/>
            <p:nvPr/>
          </p:nvSpPr>
          <p:spPr>
            <a:xfrm>
              <a:off x="7096125" y="2667000"/>
              <a:ext cx="800100" cy="390525"/>
            </a:xfrm>
            <a:prstGeom prst="rect">
              <a:avLst/>
            </a:prstGeom>
            <a:solidFill>
              <a:srgbClr val="FAFCFE"/>
            </a:solidFill>
            <a:ln>
              <a:noFill/>
            </a:ln>
          </p:spPr>
        </p:sp>
        <p:sp>
          <p:nvSpPr>
            <p:cNvPr id="87" name="TextBox 87"/>
            <p:cNvSpPr txBox="1"/>
            <p:nvPr/>
          </p:nvSpPr>
          <p:spPr>
            <a:xfrm>
              <a:off x="7402608" y="2841784"/>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88" name="Rectangle 88"/>
            <p:cNvSpPr/>
            <p:nvPr/>
          </p:nvSpPr>
          <p:spPr>
            <a:xfrm>
              <a:off x="838200" y="3076575"/>
              <a:ext cx="514350" cy="390525"/>
            </a:xfrm>
            <a:prstGeom prst="rect">
              <a:avLst/>
            </a:prstGeom>
            <a:solidFill>
              <a:srgbClr val="DDEBF7"/>
            </a:solidFill>
            <a:ln>
              <a:noFill/>
            </a:ln>
          </p:spPr>
        </p:sp>
        <p:sp>
          <p:nvSpPr>
            <p:cNvPr id="89" name="TextBox 89"/>
            <p:cNvSpPr txBox="1"/>
            <p:nvPr/>
          </p:nvSpPr>
          <p:spPr>
            <a:xfrm>
              <a:off x="1027757" y="3251359"/>
              <a:ext cx="135236"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A​</a:t>
              </a:r>
            </a:p>
          </p:txBody>
        </p:sp>
        <p:sp>
          <p:nvSpPr>
            <p:cNvPr id="90" name="Rectangle 90"/>
            <p:cNvSpPr/>
            <p:nvPr/>
          </p:nvSpPr>
          <p:spPr>
            <a:xfrm>
              <a:off x="1362075" y="3076575"/>
              <a:ext cx="800100" cy="390525"/>
            </a:xfrm>
            <a:prstGeom prst="rect">
              <a:avLst/>
            </a:prstGeom>
            <a:solidFill>
              <a:srgbClr val="FBE4E2"/>
            </a:solidFill>
            <a:ln>
              <a:noFill/>
            </a:ln>
          </p:spPr>
        </p:sp>
        <p:sp>
          <p:nvSpPr>
            <p:cNvPr id="91" name="TextBox 91"/>
            <p:cNvSpPr txBox="1"/>
            <p:nvPr/>
          </p:nvSpPr>
          <p:spPr>
            <a:xfrm>
              <a:off x="1668558" y="325135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1.2​</a:t>
              </a:r>
            </a:p>
          </p:txBody>
        </p:sp>
        <p:sp>
          <p:nvSpPr>
            <p:cNvPr id="92" name="Rectangle 92"/>
            <p:cNvSpPr/>
            <p:nvPr/>
          </p:nvSpPr>
          <p:spPr>
            <a:xfrm>
              <a:off x="2181225" y="3076575"/>
              <a:ext cx="800100" cy="390525"/>
            </a:xfrm>
            <a:prstGeom prst="rect">
              <a:avLst/>
            </a:prstGeom>
            <a:solidFill>
              <a:srgbClr val="F8C4BB"/>
            </a:solidFill>
            <a:ln>
              <a:noFill/>
            </a:ln>
          </p:spPr>
        </p:sp>
        <p:sp>
          <p:nvSpPr>
            <p:cNvPr id="93" name="TextBox 93"/>
            <p:cNvSpPr txBox="1"/>
            <p:nvPr/>
          </p:nvSpPr>
          <p:spPr>
            <a:xfrm>
              <a:off x="2487708" y="325135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6.5​</a:t>
              </a:r>
            </a:p>
          </p:txBody>
        </p:sp>
        <p:sp>
          <p:nvSpPr>
            <p:cNvPr id="94" name="Rectangle 94"/>
            <p:cNvSpPr/>
            <p:nvPr/>
          </p:nvSpPr>
          <p:spPr>
            <a:xfrm>
              <a:off x="3000375" y="3076575"/>
              <a:ext cx="800100" cy="390525"/>
            </a:xfrm>
            <a:prstGeom prst="rect">
              <a:avLst/>
            </a:prstGeom>
            <a:solidFill>
              <a:srgbClr val="E83E1B"/>
            </a:solidFill>
            <a:ln>
              <a:noFill/>
            </a:ln>
          </p:spPr>
        </p:sp>
        <p:sp>
          <p:nvSpPr>
            <p:cNvPr id="95" name="TextBox 95"/>
            <p:cNvSpPr txBox="1"/>
            <p:nvPr/>
          </p:nvSpPr>
          <p:spPr>
            <a:xfrm>
              <a:off x="3280142" y="3251359"/>
              <a:ext cx="24056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82.0​</a:t>
              </a:r>
            </a:p>
          </p:txBody>
        </p:sp>
        <p:sp>
          <p:nvSpPr>
            <p:cNvPr id="96" name="Rectangle 96"/>
            <p:cNvSpPr/>
            <p:nvPr/>
          </p:nvSpPr>
          <p:spPr>
            <a:xfrm>
              <a:off x="3819525" y="3076575"/>
              <a:ext cx="800100" cy="390525"/>
            </a:xfrm>
            <a:prstGeom prst="rect">
              <a:avLst/>
            </a:prstGeom>
            <a:solidFill>
              <a:srgbClr val="F8C4BB"/>
            </a:solidFill>
            <a:ln>
              <a:noFill/>
            </a:ln>
          </p:spPr>
        </p:sp>
        <p:sp>
          <p:nvSpPr>
            <p:cNvPr id="97" name="TextBox 97"/>
            <p:cNvSpPr txBox="1"/>
            <p:nvPr/>
          </p:nvSpPr>
          <p:spPr>
            <a:xfrm>
              <a:off x="4126008" y="325135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7.1​</a:t>
              </a:r>
            </a:p>
          </p:txBody>
        </p:sp>
        <p:sp>
          <p:nvSpPr>
            <p:cNvPr id="98" name="Rectangle 98"/>
            <p:cNvSpPr/>
            <p:nvPr/>
          </p:nvSpPr>
          <p:spPr>
            <a:xfrm>
              <a:off x="4638675" y="3076575"/>
              <a:ext cx="800100" cy="390525"/>
            </a:xfrm>
            <a:prstGeom prst="rect">
              <a:avLst/>
            </a:prstGeom>
            <a:solidFill>
              <a:srgbClr val="FBE4E2"/>
            </a:solidFill>
            <a:ln>
              <a:noFill/>
            </a:ln>
          </p:spPr>
        </p:sp>
        <p:sp>
          <p:nvSpPr>
            <p:cNvPr id="99" name="TextBox 99"/>
            <p:cNvSpPr txBox="1"/>
            <p:nvPr/>
          </p:nvSpPr>
          <p:spPr>
            <a:xfrm>
              <a:off x="4945158" y="325135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2.4​</a:t>
              </a:r>
            </a:p>
          </p:txBody>
        </p:sp>
        <p:sp>
          <p:nvSpPr>
            <p:cNvPr id="100" name="Rectangle 100"/>
            <p:cNvSpPr/>
            <p:nvPr/>
          </p:nvSpPr>
          <p:spPr>
            <a:xfrm>
              <a:off x="5457825" y="3076575"/>
              <a:ext cx="800100" cy="390525"/>
            </a:xfrm>
            <a:prstGeom prst="rect">
              <a:avLst/>
            </a:prstGeom>
            <a:solidFill>
              <a:srgbClr val="FBF0EF"/>
            </a:solidFill>
            <a:ln>
              <a:noFill/>
            </a:ln>
          </p:spPr>
        </p:sp>
        <p:sp>
          <p:nvSpPr>
            <p:cNvPr id="101" name="TextBox 101"/>
            <p:cNvSpPr txBox="1"/>
            <p:nvPr/>
          </p:nvSpPr>
          <p:spPr>
            <a:xfrm>
              <a:off x="5764308" y="325135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0.6​</a:t>
              </a:r>
            </a:p>
          </p:txBody>
        </p:sp>
        <p:sp>
          <p:nvSpPr>
            <p:cNvPr id="102" name="Rectangle 102"/>
            <p:cNvSpPr/>
            <p:nvPr/>
          </p:nvSpPr>
          <p:spPr>
            <a:xfrm>
              <a:off x="6276975" y="3076575"/>
              <a:ext cx="800100" cy="390525"/>
            </a:xfrm>
            <a:prstGeom prst="rect">
              <a:avLst/>
            </a:prstGeom>
            <a:solidFill>
              <a:srgbClr val="FBF0EF"/>
            </a:solidFill>
            <a:ln>
              <a:noFill/>
            </a:ln>
          </p:spPr>
        </p:sp>
        <p:sp>
          <p:nvSpPr>
            <p:cNvPr id="103" name="TextBox 103"/>
            <p:cNvSpPr txBox="1"/>
            <p:nvPr/>
          </p:nvSpPr>
          <p:spPr>
            <a:xfrm>
              <a:off x="6583458" y="325135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0.2​</a:t>
              </a:r>
            </a:p>
          </p:txBody>
        </p:sp>
        <p:sp>
          <p:nvSpPr>
            <p:cNvPr id="104" name="Rectangle 104"/>
            <p:cNvSpPr/>
            <p:nvPr/>
          </p:nvSpPr>
          <p:spPr>
            <a:xfrm>
              <a:off x="7096125" y="3076575"/>
              <a:ext cx="800100" cy="390525"/>
            </a:xfrm>
            <a:prstGeom prst="rect">
              <a:avLst/>
            </a:prstGeom>
            <a:solidFill>
              <a:srgbClr val="FAFCFE"/>
            </a:solidFill>
            <a:ln>
              <a:noFill/>
            </a:ln>
          </p:spPr>
        </p:sp>
        <p:sp>
          <p:nvSpPr>
            <p:cNvPr id="105" name="TextBox 105"/>
            <p:cNvSpPr txBox="1"/>
            <p:nvPr/>
          </p:nvSpPr>
          <p:spPr>
            <a:xfrm>
              <a:off x="7402608" y="3251359"/>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106" name="Rectangle 106"/>
            <p:cNvSpPr/>
            <p:nvPr/>
          </p:nvSpPr>
          <p:spPr>
            <a:xfrm>
              <a:off x="838200" y="3486150"/>
              <a:ext cx="514350" cy="390525"/>
            </a:xfrm>
            <a:prstGeom prst="rect">
              <a:avLst/>
            </a:prstGeom>
            <a:solidFill>
              <a:srgbClr val="DDEBF7"/>
            </a:solidFill>
            <a:ln>
              <a:noFill/>
            </a:ln>
          </p:spPr>
        </p:sp>
        <p:sp>
          <p:nvSpPr>
            <p:cNvPr id="107" name="TextBox 107"/>
            <p:cNvSpPr txBox="1"/>
            <p:nvPr/>
          </p:nvSpPr>
          <p:spPr>
            <a:xfrm>
              <a:off x="957903" y="3660934"/>
              <a:ext cx="274943"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BBB​</a:t>
              </a:r>
            </a:p>
          </p:txBody>
        </p:sp>
        <p:sp>
          <p:nvSpPr>
            <p:cNvPr id="108" name="Rectangle 108"/>
            <p:cNvSpPr/>
            <p:nvPr/>
          </p:nvSpPr>
          <p:spPr>
            <a:xfrm>
              <a:off x="1362075" y="3486150"/>
              <a:ext cx="800100" cy="390525"/>
            </a:xfrm>
            <a:prstGeom prst="rect">
              <a:avLst/>
            </a:prstGeom>
            <a:solidFill>
              <a:srgbClr val="FBF0EF"/>
            </a:solidFill>
            <a:ln>
              <a:noFill/>
            </a:ln>
          </p:spPr>
        </p:sp>
        <p:sp>
          <p:nvSpPr>
            <p:cNvPr id="109" name="TextBox 109"/>
            <p:cNvSpPr txBox="1"/>
            <p:nvPr/>
          </p:nvSpPr>
          <p:spPr>
            <a:xfrm>
              <a:off x="1668558" y="366093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0.3​</a:t>
              </a:r>
            </a:p>
          </p:txBody>
        </p:sp>
        <p:sp>
          <p:nvSpPr>
            <p:cNvPr id="110" name="Rectangle 110"/>
            <p:cNvSpPr/>
            <p:nvPr/>
          </p:nvSpPr>
          <p:spPr>
            <a:xfrm>
              <a:off x="2181225" y="3486150"/>
              <a:ext cx="800100" cy="390525"/>
            </a:xfrm>
            <a:prstGeom prst="rect">
              <a:avLst/>
            </a:prstGeom>
            <a:solidFill>
              <a:srgbClr val="FBE4E2"/>
            </a:solidFill>
            <a:ln>
              <a:noFill/>
            </a:ln>
          </p:spPr>
        </p:sp>
        <p:sp>
          <p:nvSpPr>
            <p:cNvPr id="111" name="TextBox 111"/>
            <p:cNvSpPr txBox="1"/>
            <p:nvPr/>
          </p:nvSpPr>
          <p:spPr>
            <a:xfrm>
              <a:off x="2487708" y="366093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1.9​</a:t>
              </a:r>
            </a:p>
          </p:txBody>
        </p:sp>
        <p:sp>
          <p:nvSpPr>
            <p:cNvPr id="112" name="Rectangle 112"/>
            <p:cNvSpPr/>
            <p:nvPr/>
          </p:nvSpPr>
          <p:spPr>
            <a:xfrm>
              <a:off x="3000375" y="3486150"/>
              <a:ext cx="800100" cy="390525"/>
            </a:xfrm>
            <a:prstGeom prst="rect">
              <a:avLst/>
            </a:prstGeom>
            <a:solidFill>
              <a:srgbClr val="F8C4BB"/>
            </a:solidFill>
            <a:ln>
              <a:noFill/>
            </a:ln>
          </p:spPr>
        </p:sp>
        <p:sp>
          <p:nvSpPr>
            <p:cNvPr id="113" name="TextBox 113"/>
            <p:cNvSpPr txBox="1"/>
            <p:nvPr/>
          </p:nvSpPr>
          <p:spPr>
            <a:xfrm>
              <a:off x="3306858" y="366093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8.6​</a:t>
              </a:r>
            </a:p>
          </p:txBody>
        </p:sp>
        <p:sp>
          <p:nvSpPr>
            <p:cNvPr id="114" name="Rectangle 114"/>
            <p:cNvSpPr/>
            <p:nvPr/>
          </p:nvSpPr>
          <p:spPr>
            <a:xfrm>
              <a:off x="3819525" y="3486150"/>
              <a:ext cx="800100" cy="390525"/>
            </a:xfrm>
            <a:prstGeom prst="rect">
              <a:avLst/>
            </a:prstGeom>
            <a:solidFill>
              <a:srgbClr val="E83E1B"/>
            </a:solidFill>
            <a:ln>
              <a:noFill/>
            </a:ln>
          </p:spPr>
        </p:sp>
        <p:sp>
          <p:nvSpPr>
            <p:cNvPr id="115" name="TextBox 115"/>
            <p:cNvSpPr txBox="1"/>
            <p:nvPr/>
          </p:nvSpPr>
          <p:spPr>
            <a:xfrm>
              <a:off x="4099292" y="3660934"/>
              <a:ext cx="24056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74.1​</a:t>
              </a:r>
            </a:p>
          </p:txBody>
        </p:sp>
        <p:sp>
          <p:nvSpPr>
            <p:cNvPr id="116" name="Rectangle 116"/>
            <p:cNvSpPr/>
            <p:nvPr/>
          </p:nvSpPr>
          <p:spPr>
            <a:xfrm>
              <a:off x="4638675" y="3486150"/>
              <a:ext cx="800100" cy="390525"/>
            </a:xfrm>
            <a:prstGeom prst="rect">
              <a:avLst/>
            </a:prstGeom>
            <a:solidFill>
              <a:srgbClr val="F6B3A7"/>
            </a:solidFill>
            <a:ln>
              <a:noFill/>
            </a:ln>
          </p:spPr>
        </p:sp>
        <p:sp>
          <p:nvSpPr>
            <p:cNvPr id="117" name="TextBox 117"/>
            <p:cNvSpPr txBox="1"/>
            <p:nvPr/>
          </p:nvSpPr>
          <p:spPr>
            <a:xfrm>
              <a:off x="4919700" y="3660934"/>
              <a:ext cx="238049"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10.2​</a:t>
              </a:r>
            </a:p>
          </p:txBody>
        </p:sp>
        <p:sp>
          <p:nvSpPr>
            <p:cNvPr id="118" name="Rectangle 118"/>
            <p:cNvSpPr/>
            <p:nvPr/>
          </p:nvSpPr>
          <p:spPr>
            <a:xfrm>
              <a:off x="5457825" y="3486150"/>
              <a:ext cx="800100" cy="390525"/>
            </a:xfrm>
            <a:prstGeom prst="rect">
              <a:avLst/>
            </a:prstGeom>
            <a:solidFill>
              <a:srgbClr val="FAD6D0"/>
            </a:solidFill>
            <a:ln>
              <a:noFill/>
            </a:ln>
          </p:spPr>
        </p:sp>
        <p:sp>
          <p:nvSpPr>
            <p:cNvPr id="119" name="TextBox 119"/>
            <p:cNvSpPr txBox="1"/>
            <p:nvPr/>
          </p:nvSpPr>
          <p:spPr>
            <a:xfrm>
              <a:off x="5764308" y="366093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3.6​</a:t>
              </a:r>
            </a:p>
          </p:txBody>
        </p:sp>
        <p:sp>
          <p:nvSpPr>
            <p:cNvPr id="120" name="Rectangle 120"/>
            <p:cNvSpPr/>
            <p:nvPr/>
          </p:nvSpPr>
          <p:spPr>
            <a:xfrm>
              <a:off x="6276975" y="3486150"/>
              <a:ext cx="800100" cy="390525"/>
            </a:xfrm>
            <a:prstGeom prst="rect">
              <a:avLst/>
            </a:prstGeom>
            <a:solidFill>
              <a:srgbClr val="FBE4E2"/>
            </a:solidFill>
            <a:ln>
              <a:noFill/>
            </a:ln>
          </p:spPr>
        </p:sp>
        <p:sp>
          <p:nvSpPr>
            <p:cNvPr id="121" name="TextBox 121"/>
            <p:cNvSpPr txBox="1"/>
            <p:nvPr/>
          </p:nvSpPr>
          <p:spPr>
            <a:xfrm>
              <a:off x="6583458" y="366093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1.0​</a:t>
              </a:r>
            </a:p>
          </p:txBody>
        </p:sp>
        <p:sp>
          <p:nvSpPr>
            <p:cNvPr id="122" name="Rectangle 122"/>
            <p:cNvSpPr/>
            <p:nvPr/>
          </p:nvSpPr>
          <p:spPr>
            <a:xfrm>
              <a:off x="7096125" y="3486150"/>
              <a:ext cx="800100" cy="390525"/>
            </a:xfrm>
            <a:prstGeom prst="rect">
              <a:avLst/>
            </a:prstGeom>
            <a:solidFill>
              <a:srgbClr val="FBF0EF"/>
            </a:solidFill>
            <a:ln>
              <a:noFill/>
            </a:ln>
          </p:spPr>
        </p:sp>
        <p:sp>
          <p:nvSpPr>
            <p:cNvPr id="123" name="TextBox 123"/>
            <p:cNvSpPr txBox="1"/>
            <p:nvPr/>
          </p:nvSpPr>
          <p:spPr>
            <a:xfrm>
              <a:off x="7402608" y="366093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0.3​</a:t>
              </a:r>
            </a:p>
          </p:txBody>
        </p:sp>
        <p:sp>
          <p:nvSpPr>
            <p:cNvPr id="124" name="Rectangle 124"/>
            <p:cNvSpPr/>
            <p:nvPr/>
          </p:nvSpPr>
          <p:spPr>
            <a:xfrm>
              <a:off x="838200" y="3895725"/>
              <a:ext cx="514350" cy="390525"/>
            </a:xfrm>
            <a:prstGeom prst="rect">
              <a:avLst/>
            </a:prstGeom>
            <a:solidFill>
              <a:srgbClr val="DDEBF7"/>
            </a:solidFill>
            <a:ln>
              <a:noFill/>
            </a:ln>
          </p:spPr>
        </p:sp>
        <p:sp>
          <p:nvSpPr>
            <p:cNvPr id="125" name="TextBox 125"/>
            <p:cNvSpPr txBox="1"/>
            <p:nvPr/>
          </p:nvSpPr>
          <p:spPr>
            <a:xfrm>
              <a:off x="992830" y="4070509"/>
              <a:ext cx="205090"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BB​</a:t>
              </a:r>
            </a:p>
          </p:txBody>
        </p:sp>
        <p:sp>
          <p:nvSpPr>
            <p:cNvPr id="126" name="Rectangle 126"/>
            <p:cNvSpPr/>
            <p:nvPr/>
          </p:nvSpPr>
          <p:spPr>
            <a:xfrm>
              <a:off x="1362075" y="3895725"/>
              <a:ext cx="800100" cy="390525"/>
            </a:xfrm>
            <a:prstGeom prst="rect">
              <a:avLst/>
            </a:prstGeom>
            <a:solidFill>
              <a:srgbClr val="FBF0EF"/>
            </a:solidFill>
            <a:ln>
              <a:noFill/>
            </a:ln>
          </p:spPr>
        </p:sp>
        <p:sp>
          <p:nvSpPr>
            <p:cNvPr id="127" name="TextBox 127"/>
            <p:cNvSpPr txBox="1"/>
            <p:nvPr/>
          </p:nvSpPr>
          <p:spPr>
            <a:xfrm>
              <a:off x="1668558" y="407050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0.1​</a:t>
              </a:r>
            </a:p>
          </p:txBody>
        </p:sp>
        <p:sp>
          <p:nvSpPr>
            <p:cNvPr id="128" name="Rectangle 128"/>
            <p:cNvSpPr/>
            <p:nvPr/>
          </p:nvSpPr>
          <p:spPr>
            <a:xfrm>
              <a:off x="2181225" y="3895725"/>
              <a:ext cx="800100" cy="390525"/>
            </a:xfrm>
            <a:prstGeom prst="rect">
              <a:avLst/>
            </a:prstGeom>
            <a:solidFill>
              <a:srgbClr val="FBF0EF"/>
            </a:solidFill>
            <a:ln>
              <a:noFill/>
            </a:ln>
          </p:spPr>
        </p:sp>
        <p:sp>
          <p:nvSpPr>
            <p:cNvPr id="129" name="TextBox 129"/>
            <p:cNvSpPr txBox="1"/>
            <p:nvPr/>
          </p:nvSpPr>
          <p:spPr>
            <a:xfrm>
              <a:off x="2487708" y="407050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0.4​</a:t>
              </a:r>
            </a:p>
          </p:txBody>
        </p:sp>
        <p:sp>
          <p:nvSpPr>
            <p:cNvPr id="130" name="Rectangle 130"/>
            <p:cNvSpPr/>
            <p:nvPr/>
          </p:nvSpPr>
          <p:spPr>
            <a:xfrm>
              <a:off x="3000375" y="3895725"/>
              <a:ext cx="800100" cy="390525"/>
            </a:xfrm>
            <a:prstGeom prst="rect">
              <a:avLst/>
            </a:prstGeom>
            <a:solidFill>
              <a:srgbClr val="FBE4E2"/>
            </a:solidFill>
            <a:ln>
              <a:noFill/>
            </a:ln>
          </p:spPr>
        </p:sp>
        <p:sp>
          <p:nvSpPr>
            <p:cNvPr id="131" name="TextBox 131"/>
            <p:cNvSpPr txBox="1"/>
            <p:nvPr/>
          </p:nvSpPr>
          <p:spPr>
            <a:xfrm>
              <a:off x="3306858" y="407050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2.9​</a:t>
              </a:r>
            </a:p>
          </p:txBody>
        </p:sp>
        <p:sp>
          <p:nvSpPr>
            <p:cNvPr id="132" name="Rectangle 132"/>
            <p:cNvSpPr/>
            <p:nvPr/>
          </p:nvSpPr>
          <p:spPr>
            <a:xfrm>
              <a:off x="3819525" y="3895725"/>
              <a:ext cx="800100" cy="390525"/>
            </a:xfrm>
            <a:prstGeom prst="rect">
              <a:avLst/>
            </a:prstGeom>
            <a:solidFill>
              <a:srgbClr val="F6B3A7"/>
            </a:solidFill>
            <a:ln>
              <a:noFill/>
            </a:ln>
          </p:spPr>
        </p:sp>
        <p:sp>
          <p:nvSpPr>
            <p:cNvPr id="133" name="TextBox 133"/>
            <p:cNvSpPr txBox="1"/>
            <p:nvPr/>
          </p:nvSpPr>
          <p:spPr>
            <a:xfrm>
              <a:off x="4100550" y="4070509"/>
              <a:ext cx="238049"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11.8​</a:t>
              </a:r>
            </a:p>
          </p:txBody>
        </p:sp>
        <p:sp>
          <p:nvSpPr>
            <p:cNvPr id="134" name="Rectangle 134"/>
            <p:cNvSpPr/>
            <p:nvPr/>
          </p:nvSpPr>
          <p:spPr>
            <a:xfrm>
              <a:off x="4638675" y="3895725"/>
              <a:ext cx="800100" cy="390525"/>
            </a:xfrm>
            <a:prstGeom prst="rect">
              <a:avLst/>
            </a:prstGeom>
            <a:solidFill>
              <a:srgbClr val="E83E1B"/>
            </a:solidFill>
            <a:ln>
              <a:noFill/>
            </a:ln>
          </p:spPr>
        </p:sp>
        <p:sp>
          <p:nvSpPr>
            <p:cNvPr id="135" name="TextBox 135"/>
            <p:cNvSpPr txBox="1"/>
            <p:nvPr/>
          </p:nvSpPr>
          <p:spPr>
            <a:xfrm>
              <a:off x="4918442" y="4070509"/>
              <a:ext cx="24056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68.5​</a:t>
              </a:r>
            </a:p>
          </p:txBody>
        </p:sp>
        <p:sp>
          <p:nvSpPr>
            <p:cNvPr id="136" name="Rectangle 136"/>
            <p:cNvSpPr/>
            <p:nvPr/>
          </p:nvSpPr>
          <p:spPr>
            <a:xfrm>
              <a:off x="5457825" y="3895725"/>
              <a:ext cx="800100" cy="390525"/>
            </a:xfrm>
            <a:prstGeom prst="rect">
              <a:avLst/>
            </a:prstGeom>
            <a:solidFill>
              <a:srgbClr val="F6B3A7"/>
            </a:solidFill>
            <a:ln>
              <a:noFill/>
            </a:ln>
          </p:spPr>
        </p:sp>
        <p:sp>
          <p:nvSpPr>
            <p:cNvPr id="137" name="TextBox 137"/>
            <p:cNvSpPr txBox="1"/>
            <p:nvPr/>
          </p:nvSpPr>
          <p:spPr>
            <a:xfrm>
              <a:off x="5738850" y="4070509"/>
              <a:ext cx="238049"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12.4​</a:t>
              </a:r>
            </a:p>
          </p:txBody>
        </p:sp>
        <p:sp>
          <p:nvSpPr>
            <p:cNvPr id="138" name="Rectangle 138"/>
            <p:cNvSpPr/>
            <p:nvPr/>
          </p:nvSpPr>
          <p:spPr>
            <a:xfrm>
              <a:off x="6276975" y="3895725"/>
              <a:ext cx="800100" cy="390525"/>
            </a:xfrm>
            <a:prstGeom prst="rect">
              <a:avLst/>
            </a:prstGeom>
            <a:solidFill>
              <a:srgbClr val="FAD6D0"/>
            </a:solidFill>
            <a:ln>
              <a:noFill/>
            </a:ln>
          </p:spPr>
        </p:sp>
        <p:sp>
          <p:nvSpPr>
            <p:cNvPr id="139" name="TextBox 139"/>
            <p:cNvSpPr txBox="1"/>
            <p:nvPr/>
          </p:nvSpPr>
          <p:spPr>
            <a:xfrm>
              <a:off x="6583458" y="407050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3.5​</a:t>
              </a:r>
            </a:p>
          </p:txBody>
        </p:sp>
        <p:sp>
          <p:nvSpPr>
            <p:cNvPr id="140" name="Rectangle 140"/>
            <p:cNvSpPr/>
            <p:nvPr/>
          </p:nvSpPr>
          <p:spPr>
            <a:xfrm>
              <a:off x="7096125" y="3895725"/>
              <a:ext cx="800100" cy="390525"/>
            </a:xfrm>
            <a:prstGeom prst="rect">
              <a:avLst/>
            </a:prstGeom>
            <a:solidFill>
              <a:srgbClr val="FBF0EF"/>
            </a:solidFill>
            <a:ln>
              <a:noFill/>
            </a:ln>
          </p:spPr>
        </p:sp>
        <p:sp>
          <p:nvSpPr>
            <p:cNvPr id="141" name="TextBox 141"/>
            <p:cNvSpPr txBox="1"/>
            <p:nvPr/>
          </p:nvSpPr>
          <p:spPr>
            <a:xfrm>
              <a:off x="7402608" y="407050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0.4​</a:t>
              </a:r>
            </a:p>
          </p:txBody>
        </p:sp>
        <p:sp>
          <p:nvSpPr>
            <p:cNvPr id="142" name="Rectangle 142"/>
            <p:cNvSpPr/>
            <p:nvPr/>
          </p:nvSpPr>
          <p:spPr>
            <a:xfrm>
              <a:off x="838200" y="4305300"/>
              <a:ext cx="514350" cy="390525"/>
            </a:xfrm>
            <a:prstGeom prst="rect">
              <a:avLst/>
            </a:prstGeom>
            <a:solidFill>
              <a:srgbClr val="DDEBF7"/>
            </a:solidFill>
            <a:ln>
              <a:noFill/>
            </a:ln>
          </p:spPr>
        </p:sp>
        <p:sp>
          <p:nvSpPr>
            <p:cNvPr id="143" name="TextBox 143"/>
            <p:cNvSpPr txBox="1"/>
            <p:nvPr/>
          </p:nvSpPr>
          <p:spPr>
            <a:xfrm>
              <a:off x="1027757" y="4480084"/>
              <a:ext cx="135236"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B​</a:t>
              </a:r>
            </a:p>
          </p:txBody>
        </p:sp>
        <p:sp>
          <p:nvSpPr>
            <p:cNvPr id="144" name="Rectangle 144"/>
            <p:cNvSpPr/>
            <p:nvPr/>
          </p:nvSpPr>
          <p:spPr>
            <a:xfrm>
              <a:off x="1362075" y="4305300"/>
              <a:ext cx="800100" cy="390525"/>
            </a:xfrm>
            <a:prstGeom prst="rect">
              <a:avLst/>
            </a:prstGeom>
            <a:solidFill>
              <a:srgbClr val="FAFCFE"/>
            </a:solidFill>
            <a:ln>
              <a:noFill/>
            </a:ln>
          </p:spPr>
        </p:sp>
        <p:sp>
          <p:nvSpPr>
            <p:cNvPr id="145" name="TextBox 145"/>
            <p:cNvSpPr txBox="1"/>
            <p:nvPr/>
          </p:nvSpPr>
          <p:spPr>
            <a:xfrm>
              <a:off x="1668558" y="4480084"/>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146" name="Rectangle 146"/>
            <p:cNvSpPr/>
            <p:nvPr/>
          </p:nvSpPr>
          <p:spPr>
            <a:xfrm>
              <a:off x="2181225" y="4305300"/>
              <a:ext cx="800100" cy="390525"/>
            </a:xfrm>
            <a:prstGeom prst="rect">
              <a:avLst/>
            </a:prstGeom>
            <a:solidFill>
              <a:srgbClr val="FBF0EF"/>
            </a:solidFill>
            <a:ln>
              <a:noFill/>
            </a:ln>
          </p:spPr>
        </p:sp>
        <p:sp>
          <p:nvSpPr>
            <p:cNvPr id="147" name="TextBox 147"/>
            <p:cNvSpPr txBox="1"/>
            <p:nvPr/>
          </p:nvSpPr>
          <p:spPr>
            <a:xfrm>
              <a:off x="2487708" y="448008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0.1​</a:t>
              </a:r>
            </a:p>
          </p:txBody>
        </p:sp>
        <p:sp>
          <p:nvSpPr>
            <p:cNvPr id="148" name="Rectangle 148"/>
            <p:cNvSpPr/>
            <p:nvPr/>
          </p:nvSpPr>
          <p:spPr>
            <a:xfrm>
              <a:off x="3000375" y="4305300"/>
              <a:ext cx="800100" cy="390525"/>
            </a:xfrm>
            <a:prstGeom prst="rect">
              <a:avLst/>
            </a:prstGeom>
            <a:solidFill>
              <a:srgbClr val="FBE4E2"/>
            </a:solidFill>
            <a:ln>
              <a:noFill/>
            </a:ln>
          </p:spPr>
        </p:sp>
        <p:sp>
          <p:nvSpPr>
            <p:cNvPr id="149" name="TextBox 149"/>
            <p:cNvSpPr txBox="1"/>
            <p:nvPr/>
          </p:nvSpPr>
          <p:spPr>
            <a:xfrm>
              <a:off x="3306858" y="448008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1.1​</a:t>
              </a:r>
            </a:p>
          </p:txBody>
        </p:sp>
        <p:sp>
          <p:nvSpPr>
            <p:cNvPr id="150" name="Rectangle 150"/>
            <p:cNvSpPr/>
            <p:nvPr/>
          </p:nvSpPr>
          <p:spPr>
            <a:xfrm>
              <a:off x="3819525" y="4305300"/>
              <a:ext cx="800100" cy="390525"/>
            </a:xfrm>
            <a:prstGeom prst="rect">
              <a:avLst/>
            </a:prstGeom>
            <a:solidFill>
              <a:srgbClr val="FAD6D0"/>
            </a:solidFill>
            <a:ln>
              <a:noFill/>
            </a:ln>
          </p:spPr>
        </p:sp>
        <p:sp>
          <p:nvSpPr>
            <p:cNvPr id="151" name="TextBox 151"/>
            <p:cNvSpPr txBox="1"/>
            <p:nvPr/>
          </p:nvSpPr>
          <p:spPr>
            <a:xfrm>
              <a:off x="4126008" y="448008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5.6​</a:t>
              </a:r>
            </a:p>
          </p:txBody>
        </p:sp>
        <p:sp>
          <p:nvSpPr>
            <p:cNvPr id="152" name="Rectangle 152"/>
            <p:cNvSpPr/>
            <p:nvPr/>
          </p:nvSpPr>
          <p:spPr>
            <a:xfrm>
              <a:off x="4638675" y="4305300"/>
              <a:ext cx="800100" cy="390525"/>
            </a:xfrm>
            <a:prstGeom prst="rect">
              <a:avLst/>
            </a:prstGeom>
            <a:solidFill>
              <a:srgbClr val="F28D7C"/>
            </a:solidFill>
            <a:ln>
              <a:noFill/>
            </a:ln>
          </p:spPr>
        </p:sp>
        <p:sp>
          <p:nvSpPr>
            <p:cNvPr id="153" name="TextBox 153"/>
            <p:cNvSpPr txBox="1"/>
            <p:nvPr/>
          </p:nvSpPr>
          <p:spPr>
            <a:xfrm>
              <a:off x="4919700" y="4480084"/>
              <a:ext cx="238049" cy="133350"/>
            </a:xfrm>
            <a:prstGeom prst="rect">
              <a:avLst/>
            </a:prstGeom>
            <a:noFill/>
            <a:ln>
              <a:noFill/>
            </a:ln>
          </p:spPr>
          <p:txBody>
            <a:bodyPr wrap="none" lIns="0" tIns="0" rIns="0" bIns="0" anchor="t" anchorCtr="0">
              <a:spAutoFit/>
            </a:bodyPr>
            <a:lstStyle/>
            <a:p>
              <a:pPr algn="ctr"/>
              <a:r>
                <a:rPr lang="zh-CN" sz="680" dirty="0">
                  <a:solidFill>
                    <a:srgbClr val="7A3024"/>
                  </a:solidFill>
                  <a:latin typeface="+mj-lt"/>
                  <a:ea typeface="+mj-ea"/>
                  <a:cs typeface="+mj-cs"/>
                </a:rPr>
                <a:t>16.3​</a:t>
              </a:r>
            </a:p>
          </p:txBody>
        </p:sp>
        <p:sp>
          <p:nvSpPr>
            <p:cNvPr id="154" name="Rectangle 154"/>
            <p:cNvSpPr/>
            <p:nvPr/>
          </p:nvSpPr>
          <p:spPr>
            <a:xfrm>
              <a:off x="5457825" y="4305300"/>
              <a:ext cx="800100" cy="390525"/>
            </a:xfrm>
            <a:prstGeom prst="rect">
              <a:avLst/>
            </a:prstGeom>
            <a:solidFill>
              <a:srgbClr val="E83E1B"/>
            </a:solidFill>
            <a:ln>
              <a:noFill/>
            </a:ln>
          </p:spPr>
        </p:sp>
        <p:sp>
          <p:nvSpPr>
            <p:cNvPr id="155" name="TextBox 155"/>
            <p:cNvSpPr txBox="1"/>
            <p:nvPr/>
          </p:nvSpPr>
          <p:spPr>
            <a:xfrm>
              <a:off x="5737592" y="4480084"/>
              <a:ext cx="24056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60.2​</a:t>
              </a:r>
            </a:p>
          </p:txBody>
        </p:sp>
        <p:sp>
          <p:nvSpPr>
            <p:cNvPr id="156" name="Rectangle 156"/>
            <p:cNvSpPr/>
            <p:nvPr/>
          </p:nvSpPr>
          <p:spPr>
            <a:xfrm>
              <a:off x="6276975" y="4305300"/>
              <a:ext cx="800100" cy="390525"/>
            </a:xfrm>
            <a:prstGeom prst="rect">
              <a:avLst/>
            </a:prstGeom>
            <a:solidFill>
              <a:srgbClr val="F6B3A7"/>
            </a:solidFill>
            <a:ln>
              <a:noFill/>
            </a:ln>
          </p:spPr>
        </p:sp>
        <p:sp>
          <p:nvSpPr>
            <p:cNvPr id="157" name="TextBox 157"/>
            <p:cNvSpPr txBox="1"/>
            <p:nvPr/>
          </p:nvSpPr>
          <p:spPr>
            <a:xfrm>
              <a:off x="6558000" y="4480084"/>
              <a:ext cx="238049"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13.1​</a:t>
              </a:r>
            </a:p>
          </p:txBody>
        </p:sp>
        <p:sp>
          <p:nvSpPr>
            <p:cNvPr id="158" name="Rectangle 158"/>
            <p:cNvSpPr/>
            <p:nvPr/>
          </p:nvSpPr>
          <p:spPr>
            <a:xfrm>
              <a:off x="7096125" y="4305300"/>
              <a:ext cx="800100" cy="390525"/>
            </a:xfrm>
            <a:prstGeom prst="rect">
              <a:avLst/>
            </a:prstGeom>
            <a:solidFill>
              <a:srgbClr val="FAD6D0"/>
            </a:solidFill>
            <a:ln>
              <a:noFill/>
            </a:ln>
          </p:spPr>
        </p:sp>
        <p:sp>
          <p:nvSpPr>
            <p:cNvPr id="159" name="TextBox 159"/>
            <p:cNvSpPr txBox="1"/>
            <p:nvPr/>
          </p:nvSpPr>
          <p:spPr>
            <a:xfrm>
              <a:off x="7402608" y="448008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3.6​</a:t>
              </a:r>
            </a:p>
          </p:txBody>
        </p:sp>
        <p:sp>
          <p:nvSpPr>
            <p:cNvPr id="160" name="Rectangle 160"/>
            <p:cNvSpPr/>
            <p:nvPr/>
          </p:nvSpPr>
          <p:spPr>
            <a:xfrm>
              <a:off x="838200" y="4714875"/>
              <a:ext cx="514350" cy="390525"/>
            </a:xfrm>
            <a:prstGeom prst="rect">
              <a:avLst/>
            </a:prstGeom>
            <a:solidFill>
              <a:srgbClr val="DDEBF7"/>
            </a:solidFill>
            <a:ln>
              <a:noFill/>
            </a:ln>
          </p:spPr>
        </p:sp>
        <p:sp>
          <p:nvSpPr>
            <p:cNvPr id="161" name="TextBox 161"/>
            <p:cNvSpPr txBox="1"/>
            <p:nvPr/>
          </p:nvSpPr>
          <p:spPr>
            <a:xfrm>
              <a:off x="1027757" y="4889659"/>
              <a:ext cx="135236"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C​</a:t>
              </a:r>
            </a:p>
          </p:txBody>
        </p:sp>
        <p:sp>
          <p:nvSpPr>
            <p:cNvPr id="162" name="Rectangle 162"/>
            <p:cNvSpPr/>
            <p:nvPr/>
          </p:nvSpPr>
          <p:spPr>
            <a:xfrm>
              <a:off x="1362075" y="4714875"/>
              <a:ext cx="800100" cy="390525"/>
            </a:xfrm>
            <a:prstGeom prst="rect">
              <a:avLst/>
            </a:prstGeom>
            <a:solidFill>
              <a:srgbClr val="FAFCFE"/>
            </a:solidFill>
            <a:ln>
              <a:noFill/>
            </a:ln>
          </p:spPr>
        </p:sp>
        <p:sp>
          <p:nvSpPr>
            <p:cNvPr id="163" name="TextBox 163"/>
            <p:cNvSpPr txBox="1"/>
            <p:nvPr/>
          </p:nvSpPr>
          <p:spPr>
            <a:xfrm>
              <a:off x="1668558" y="4889659"/>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164" name="Rectangle 164"/>
            <p:cNvSpPr/>
            <p:nvPr/>
          </p:nvSpPr>
          <p:spPr>
            <a:xfrm>
              <a:off x="2181225" y="4714875"/>
              <a:ext cx="800100" cy="390525"/>
            </a:xfrm>
            <a:prstGeom prst="rect">
              <a:avLst/>
            </a:prstGeom>
            <a:solidFill>
              <a:srgbClr val="FAFCFE"/>
            </a:solidFill>
            <a:ln>
              <a:noFill/>
            </a:ln>
          </p:spPr>
        </p:sp>
        <p:sp>
          <p:nvSpPr>
            <p:cNvPr id="165" name="TextBox 165"/>
            <p:cNvSpPr txBox="1"/>
            <p:nvPr/>
          </p:nvSpPr>
          <p:spPr>
            <a:xfrm>
              <a:off x="2487708" y="4889659"/>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166" name="Rectangle 166"/>
            <p:cNvSpPr/>
            <p:nvPr/>
          </p:nvSpPr>
          <p:spPr>
            <a:xfrm>
              <a:off x="3000375" y="4714875"/>
              <a:ext cx="800100" cy="390525"/>
            </a:xfrm>
            <a:prstGeom prst="rect">
              <a:avLst/>
            </a:prstGeom>
            <a:solidFill>
              <a:srgbClr val="FBF0EF"/>
            </a:solidFill>
            <a:ln>
              <a:noFill/>
            </a:ln>
          </p:spPr>
        </p:sp>
        <p:sp>
          <p:nvSpPr>
            <p:cNvPr id="167" name="TextBox 167"/>
            <p:cNvSpPr txBox="1"/>
            <p:nvPr/>
          </p:nvSpPr>
          <p:spPr>
            <a:xfrm>
              <a:off x="3306858" y="488965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0.3​</a:t>
              </a:r>
            </a:p>
          </p:txBody>
        </p:sp>
        <p:sp>
          <p:nvSpPr>
            <p:cNvPr id="168" name="Rectangle 168"/>
            <p:cNvSpPr/>
            <p:nvPr/>
          </p:nvSpPr>
          <p:spPr>
            <a:xfrm>
              <a:off x="3819525" y="4714875"/>
              <a:ext cx="800100" cy="390525"/>
            </a:xfrm>
            <a:prstGeom prst="rect">
              <a:avLst/>
            </a:prstGeom>
            <a:solidFill>
              <a:srgbClr val="FBE4E2"/>
            </a:solidFill>
            <a:ln>
              <a:noFill/>
            </a:ln>
          </p:spPr>
        </p:sp>
        <p:sp>
          <p:nvSpPr>
            <p:cNvPr id="169" name="TextBox 169"/>
            <p:cNvSpPr txBox="1"/>
            <p:nvPr/>
          </p:nvSpPr>
          <p:spPr>
            <a:xfrm>
              <a:off x="4126008" y="488965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1.9​</a:t>
              </a:r>
            </a:p>
          </p:txBody>
        </p:sp>
        <p:sp>
          <p:nvSpPr>
            <p:cNvPr id="170" name="Rectangle 170"/>
            <p:cNvSpPr/>
            <p:nvPr/>
          </p:nvSpPr>
          <p:spPr>
            <a:xfrm>
              <a:off x="4638675" y="4714875"/>
              <a:ext cx="800100" cy="390525"/>
            </a:xfrm>
            <a:prstGeom prst="rect">
              <a:avLst/>
            </a:prstGeom>
            <a:solidFill>
              <a:srgbClr val="F8C4BB"/>
            </a:solidFill>
            <a:ln>
              <a:noFill/>
            </a:ln>
          </p:spPr>
        </p:sp>
        <p:sp>
          <p:nvSpPr>
            <p:cNvPr id="171" name="TextBox 171"/>
            <p:cNvSpPr txBox="1"/>
            <p:nvPr/>
          </p:nvSpPr>
          <p:spPr>
            <a:xfrm>
              <a:off x="4945158" y="4889659"/>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6.5​</a:t>
              </a:r>
            </a:p>
          </p:txBody>
        </p:sp>
        <p:sp>
          <p:nvSpPr>
            <p:cNvPr id="172" name="Rectangle 172"/>
            <p:cNvSpPr/>
            <p:nvPr/>
          </p:nvSpPr>
          <p:spPr>
            <a:xfrm>
              <a:off x="5457825" y="4714875"/>
              <a:ext cx="800100" cy="390525"/>
            </a:xfrm>
            <a:prstGeom prst="rect">
              <a:avLst/>
            </a:prstGeom>
            <a:solidFill>
              <a:srgbClr val="F28D7C"/>
            </a:solidFill>
            <a:ln>
              <a:noFill/>
            </a:ln>
          </p:spPr>
        </p:sp>
        <p:sp>
          <p:nvSpPr>
            <p:cNvPr id="173" name="TextBox 173"/>
            <p:cNvSpPr txBox="1"/>
            <p:nvPr/>
          </p:nvSpPr>
          <p:spPr>
            <a:xfrm>
              <a:off x="5738850" y="4889659"/>
              <a:ext cx="238049" cy="133350"/>
            </a:xfrm>
            <a:prstGeom prst="rect">
              <a:avLst/>
            </a:prstGeom>
            <a:noFill/>
            <a:ln>
              <a:noFill/>
            </a:ln>
          </p:spPr>
          <p:txBody>
            <a:bodyPr wrap="none" lIns="0" tIns="0" rIns="0" bIns="0" anchor="t" anchorCtr="0">
              <a:spAutoFit/>
            </a:bodyPr>
            <a:lstStyle/>
            <a:p>
              <a:pPr algn="ctr"/>
              <a:r>
                <a:rPr lang="zh-CN" sz="680" dirty="0">
                  <a:solidFill>
                    <a:srgbClr val="7A3024"/>
                  </a:solidFill>
                  <a:latin typeface="+mj-lt"/>
                  <a:ea typeface="+mj-ea"/>
                  <a:cs typeface="+mj-cs"/>
                </a:rPr>
                <a:t>21.8​</a:t>
              </a:r>
            </a:p>
          </p:txBody>
        </p:sp>
        <p:sp>
          <p:nvSpPr>
            <p:cNvPr id="174" name="Rectangle 174"/>
            <p:cNvSpPr/>
            <p:nvPr/>
          </p:nvSpPr>
          <p:spPr>
            <a:xfrm>
              <a:off x="6276975" y="4714875"/>
              <a:ext cx="800100" cy="390525"/>
            </a:xfrm>
            <a:prstGeom prst="rect">
              <a:avLst/>
            </a:prstGeom>
            <a:solidFill>
              <a:srgbClr val="E83E1B"/>
            </a:solidFill>
            <a:ln>
              <a:noFill/>
            </a:ln>
          </p:spPr>
        </p:sp>
        <p:sp>
          <p:nvSpPr>
            <p:cNvPr id="175" name="TextBox 175"/>
            <p:cNvSpPr txBox="1"/>
            <p:nvPr/>
          </p:nvSpPr>
          <p:spPr>
            <a:xfrm>
              <a:off x="6556742" y="4889659"/>
              <a:ext cx="24056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52.1​</a:t>
              </a:r>
            </a:p>
          </p:txBody>
        </p:sp>
        <p:sp>
          <p:nvSpPr>
            <p:cNvPr id="176" name="Rectangle 176"/>
            <p:cNvSpPr/>
            <p:nvPr/>
          </p:nvSpPr>
          <p:spPr>
            <a:xfrm>
              <a:off x="7096125" y="4714875"/>
              <a:ext cx="800100" cy="390525"/>
            </a:xfrm>
            <a:prstGeom prst="rect">
              <a:avLst/>
            </a:prstGeom>
            <a:solidFill>
              <a:srgbClr val="F59D8E"/>
            </a:solidFill>
            <a:ln>
              <a:noFill/>
            </a:ln>
          </p:spPr>
        </p:sp>
        <p:sp>
          <p:nvSpPr>
            <p:cNvPr id="177" name="TextBox 177"/>
            <p:cNvSpPr txBox="1"/>
            <p:nvPr/>
          </p:nvSpPr>
          <p:spPr>
            <a:xfrm>
              <a:off x="7377150" y="4889659"/>
              <a:ext cx="238049" cy="133350"/>
            </a:xfrm>
            <a:prstGeom prst="rect">
              <a:avLst/>
            </a:prstGeom>
            <a:noFill/>
            <a:ln>
              <a:noFill/>
            </a:ln>
          </p:spPr>
          <p:txBody>
            <a:bodyPr wrap="none" lIns="0" tIns="0" rIns="0" bIns="0" anchor="t" anchorCtr="0">
              <a:spAutoFit/>
            </a:bodyPr>
            <a:lstStyle/>
            <a:p>
              <a:pPr algn="ctr"/>
              <a:r>
                <a:rPr lang="zh-CN" sz="680" dirty="0">
                  <a:solidFill>
                    <a:srgbClr val="7A3024"/>
                  </a:solidFill>
                  <a:latin typeface="+mj-lt"/>
                  <a:ea typeface="+mj-ea"/>
                  <a:cs typeface="+mj-cs"/>
                </a:rPr>
                <a:t>17.4​</a:t>
              </a:r>
            </a:p>
          </p:txBody>
        </p:sp>
        <p:sp>
          <p:nvSpPr>
            <p:cNvPr id="178" name="Rectangle 178"/>
            <p:cNvSpPr/>
            <p:nvPr/>
          </p:nvSpPr>
          <p:spPr>
            <a:xfrm>
              <a:off x="838200" y="5124450"/>
              <a:ext cx="514350" cy="390525"/>
            </a:xfrm>
            <a:prstGeom prst="rect">
              <a:avLst/>
            </a:prstGeom>
            <a:solidFill>
              <a:srgbClr val="DDEBF7"/>
            </a:solidFill>
            <a:ln>
              <a:noFill/>
            </a:ln>
          </p:spPr>
        </p:sp>
        <p:sp>
          <p:nvSpPr>
            <p:cNvPr id="179" name="TextBox 179"/>
            <p:cNvSpPr txBox="1"/>
            <p:nvPr/>
          </p:nvSpPr>
          <p:spPr>
            <a:xfrm>
              <a:off x="1027757" y="5299234"/>
              <a:ext cx="135236" cy="133350"/>
            </a:xfrm>
            <a:prstGeom prst="rect">
              <a:avLst/>
            </a:prstGeom>
            <a:noFill/>
            <a:ln>
              <a:noFill/>
            </a:ln>
          </p:spPr>
          <p:txBody>
            <a:bodyPr wrap="none" lIns="0" tIns="0" rIns="0" bIns="0" anchor="t" anchorCtr="0">
              <a:spAutoFit/>
            </a:bodyPr>
            <a:lstStyle/>
            <a:p>
              <a:pPr algn="ctr"/>
              <a:r>
                <a:rPr lang="en-US" sz="680" b="1" dirty="0">
                  <a:solidFill>
                    <a:srgbClr val="9E311B"/>
                  </a:solidFill>
                  <a:latin typeface="+mj-lt"/>
                  <a:ea typeface="+mj-ea"/>
                  <a:cs typeface="+mj-cs"/>
                </a:rPr>
                <a:t>D​</a:t>
              </a:r>
            </a:p>
          </p:txBody>
        </p:sp>
        <p:sp>
          <p:nvSpPr>
            <p:cNvPr id="180" name="Rectangle 180"/>
            <p:cNvSpPr/>
            <p:nvPr/>
          </p:nvSpPr>
          <p:spPr>
            <a:xfrm>
              <a:off x="1362075" y="5124450"/>
              <a:ext cx="800100" cy="390525"/>
            </a:xfrm>
            <a:prstGeom prst="rect">
              <a:avLst/>
            </a:prstGeom>
            <a:solidFill>
              <a:srgbClr val="FAFCFE"/>
            </a:solidFill>
            <a:ln>
              <a:noFill/>
            </a:ln>
          </p:spPr>
        </p:sp>
        <p:sp>
          <p:nvSpPr>
            <p:cNvPr id="181" name="TextBox 181"/>
            <p:cNvSpPr txBox="1"/>
            <p:nvPr/>
          </p:nvSpPr>
          <p:spPr>
            <a:xfrm>
              <a:off x="1668558" y="5299234"/>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182" name="Rectangle 182"/>
            <p:cNvSpPr/>
            <p:nvPr/>
          </p:nvSpPr>
          <p:spPr>
            <a:xfrm>
              <a:off x="2181225" y="5124450"/>
              <a:ext cx="800100" cy="390525"/>
            </a:xfrm>
            <a:prstGeom prst="rect">
              <a:avLst/>
            </a:prstGeom>
            <a:solidFill>
              <a:srgbClr val="FAFCFE"/>
            </a:solidFill>
            <a:ln>
              <a:noFill/>
            </a:ln>
          </p:spPr>
        </p:sp>
        <p:sp>
          <p:nvSpPr>
            <p:cNvPr id="183" name="TextBox 183"/>
            <p:cNvSpPr txBox="1"/>
            <p:nvPr/>
          </p:nvSpPr>
          <p:spPr>
            <a:xfrm>
              <a:off x="2487708" y="5299234"/>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184" name="Rectangle 184"/>
            <p:cNvSpPr/>
            <p:nvPr/>
          </p:nvSpPr>
          <p:spPr>
            <a:xfrm>
              <a:off x="3000375" y="5124450"/>
              <a:ext cx="800100" cy="390525"/>
            </a:xfrm>
            <a:prstGeom prst="rect">
              <a:avLst/>
            </a:prstGeom>
            <a:solidFill>
              <a:srgbClr val="FAFCFE"/>
            </a:solidFill>
            <a:ln>
              <a:noFill/>
            </a:ln>
          </p:spPr>
        </p:sp>
        <p:sp>
          <p:nvSpPr>
            <p:cNvPr id="185" name="TextBox 185"/>
            <p:cNvSpPr txBox="1"/>
            <p:nvPr/>
          </p:nvSpPr>
          <p:spPr>
            <a:xfrm>
              <a:off x="3306858" y="5299234"/>
              <a:ext cx="187134" cy="133350"/>
            </a:xfrm>
            <a:prstGeom prst="rect">
              <a:avLst/>
            </a:prstGeom>
            <a:noFill/>
            <a:ln>
              <a:noFill/>
            </a:ln>
          </p:spPr>
          <p:txBody>
            <a:bodyPr wrap="none" lIns="0" tIns="0" rIns="0" bIns="0" anchor="t" anchorCtr="0">
              <a:spAutoFit/>
            </a:bodyPr>
            <a:lstStyle/>
            <a:p>
              <a:pPr algn="ctr"/>
              <a:r>
                <a:rPr lang="zh-CN" sz="680" dirty="0">
                  <a:solidFill>
                    <a:srgbClr val="9AA9B8"/>
                  </a:solidFill>
                  <a:latin typeface="+mj-lt"/>
                  <a:ea typeface="+mj-ea"/>
                  <a:cs typeface="+mj-cs"/>
                </a:rPr>
                <a:t>0.0​</a:t>
              </a:r>
            </a:p>
          </p:txBody>
        </p:sp>
        <p:sp>
          <p:nvSpPr>
            <p:cNvPr id="186" name="Rectangle 186"/>
            <p:cNvSpPr/>
            <p:nvPr/>
          </p:nvSpPr>
          <p:spPr>
            <a:xfrm>
              <a:off x="3819525" y="5124450"/>
              <a:ext cx="800100" cy="390525"/>
            </a:xfrm>
            <a:prstGeom prst="rect">
              <a:avLst/>
            </a:prstGeom>
            <a:solidFill>
              <a:srgbClr val="FBF0EF"/>
            </a:solidFill>
            <a:ln>
              <a:noFill/>
            </a:ln>
          </p:spPr>
        </p:sp>
        <p:sp>
          <p:nvSpPr>
            <p:cNvPr id="187" name="TextBox 187"/>
            <p:cNvSpPr txBox="1"/>
            <p:nvPr/>
          </p:nvSpPr>
          <p:spPr>
            <a:xfrm>
              <a:off x="4126008" y="529923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0.1​</a:t>
              </a:r>
            </a:p>
          </p:txBody>
        </p:sp>
        <p:sp>
          <p:nvSpPr>
            <p:cNvPr id="188" name="Rectangle 188"/>
            <p:cNvSpPr/>
            <p:nvPr/>
          </p:nvSpPr>
          <p:spPr>
            <a:xfrm>
              <a:off x="4638675" y="5124450"/>
              <a:ext cx="800100" cy="390525"/>
            </a:xfrm>
            <a:prstGeom prst="rect">
              <a:avLst/>
            </a:prstGeom>
            <a:solidFill>
              <a:srgbClr val="FBF0EF"/>
            </a:solidFill>
            <a:ln>
              <a:noFill/>
            </a:ln>
          </p:spPr>
        </p:sp>
        <p:sp>
          <p:nvSpPr>
            <p:cNvPr id="189" name="TextBox 189"/>
            <p:cNvSpPr txBox="1"/>
            <p:nvPr/>
          </p:nvSpPr>
          <p:spPr>
            <a:xfrm>
              <a:off x="4945158" y="529923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0.4​</a:t>
              </a:r>
            </a:p>
          </p:txBody>
        </p:sp>
        <p:sp>
          <p:nvSpPr>
            <p:cNvPr id="190" name="Rectangle 190"/>
            <p:cNvSpPr/>
            <p:nvPr/>
          </p:nvSpPr>
          <p:spPr>
            <a:xfrm>
              <a:off x="5457825" y="5124450"/>
              <a:ext cx="800100" cy="390525"/>
            </a:xfrm>
            <a:prstGeom prst="rect">
              <a:avLst/>
            </a:prstGeom>
            <a:solidFill>
              <a:srgbClr val="FAD6D0"/>
            </a:solidFill>
            <a:ln>
              <a:noFill/>
            </a:ln>
          </p:spPr>
        </p:sp>
        <p:sp>
          <p:nvSpPr>
            <p:cNvPr id="191" name="TextBox 191"/>
            <p:cNvSpPr txBox="1"/>
            <p:nvPr/>
          </p:nvSpPr>
          <p:spPr>
            <a:xfrm>
              <a:off x="5764308" y="5299234"/>
              <a:ext cx="187134"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3.2​</a:t>
              </a:r>
            </a:p>
          </p:txBody>
        </p:sp>
        <p:sp>
          <p:nvSpPr>
            <p:cNvPr id="192" name="Rectangle 192"/>
            <p:cNvSpPr/>
            <p:nvPr/>
          </p:nvSpPr>
          <p:spPr>
            <a:xfrm>
              <a:off x="6276975" y="5124450"/>
              <a:ext cx="800100" cy="390525"/>
            </a:xfrm>
            <a:prstGeom prst="rect">
              <a:avLst/>
            </a:prstGeom>
            <a:solidFill>
              <a:srgbClr val="F6B3A7"/>
            </a:solidFill>
            <a:ln>
              <a:noFill/>
            </a:ln>
          </p:spPr>
        </p:sp>
        <p:sp>
          <p:nvSpPr>
            <p:cNvPr id="193" name="TextBox 193"/>
            <p:cNvSpPr txBox="1"/>
            <p:nvPr/>
          </p:nvSpPr>
          <p:spPr>
            <a:xfrm>
              <a:off x="6558000" y="5299234"/>
              <a:ext cx="238049" cy="133350"/>
            </a:xfrm>
            <a:prstGeom prst="rect">
              <a:avLst/>
            </a:prstGeom>
            <a:noFill/>
            <a:ln>
              <a:noFill/>
            </a:ln>
          </p:spPr>
          <p:txBody>
            <a:bodyPr wrap="none" lIns="0" tIns="0" rIns="0" bIns="0" anchor="t" anchorCtr="0">
              <a:spAutoFit/>
            </a:bodyPr>
            <a:lstStyle/>
            <a:p>
              <a:pPr algn="ctr"/>
              <a:r>
                <a:rPr lang="zh-CN" sz="680" dirty="0">
                  <a:solidFill>
                    <a:srgbClr val="7A4A42"/>
                  </a:solidFill>
                  <a:latin typeface="+mj-lt"/>
                  <a:ea typeface="+mj-ea"/>
                  <a:cs typeface="+mj-cs"/>
                </a:rPr>
                <a:t>15.6​</a:t>
              </a:r>
            </a:p>
          </p:txBody>
        </p:sp>
        <p:sp>
          <p:nvSpPr>
            <p:cNvPr id="194" name="Rectangle 194"/>
            <p:cNvSpPr/>
            <p:nvPr/>
          </p:nvSpPr>
          <p:spPr>
            <a:xfrm>
              <a:off x="7096125" y="5124450"/>
              <a:ext cx="800100" cy="390525"/>
            </a:xfrm>
            <a:prstGeom prst="rect">
              <a:avLst/>
            </a:prstGeom>
            <a:solidFill>
              <a:srgbClr val="C23717"/>
            </a:solidFill>
            <a:ln>
              <a:noFill/>
            </a:ln>
          </p:spPr>
        </p:sp>
        <p:sp>
          <p:nvSpPr>
            <p:cNvPr id="195" name="TextBox 195"/>
            <p:cNvSpPr txBox="1"/>
            <p:nvPr/>
          </p:nvSpPr>
          <p:spPr>
            <a:xfrm>
              <a:off x="7375892" y="5299234"/>
              <a:ext cx="24056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80.7​</a:t>
              </a:r>
            </a:p>
          </p:txBody>
        </p:sp>
        <p:sp>
          <p:nvSpPr>
            <p:cNvPr id="196" name="Line 196"/>
            <p:cNvSpPr/>
            <p:nvPr/>
          </p:nvSpPr>
          <p:spPr>
            <a:xfrm>
              <a:off x="3543300" y="1885950"/>
              <a:ext cx="1181100" cy="1257300"/>
            </a:xfrm>
            <a:custGeom>
              <a:avLst/>
              <a:gdLst/>
              <a:ahLst/>
              <a:cxnLst/>
              <a:rect l="l" t="t" r="r" b="b"/>
              <a:pathLst>
                <a:path w="1181100" h="1257300">
                  <a:moveTo>
                    <a:pt x="1181100" y="0"/>
                  </a:moveTo>
                  <a:lnTo>
                    <a:pt x="0" y="1257300"/>
                  </a:lnTo>
                </a:path>
              </a:pathLst>
            </a:custGeom>
            <a:noFill/>
            <a:ln w="14288">
              <a:solidFill>
                <a:srgbClr val="C4472E"/>
              </a:solidFill>
            </a:ln>
          </p:spPr>
        </p:sp>
        <p:sp>
          <p:nvSpPr>
            <p:cNvPr id="197" name="Ellipse 197"/>
            <p:cNvSpPr/>
            <p:nvPr/>
          </p:nvSpPr>
          <p:spPr>
            <a:xfrm>
              <a:off x="3509962" y="3109912"/>
              <a:ext cx="66675" cy="66675"/>
            </a:xfrm>
            <a:prstGeom prst="ellipse">
              <a:avLst/>
            </a:prstGeom>
            <a:solidFill>
              <a:srgbClr val="FFFFFF"/>
            </a:solidFill>
            <a:ln w="14288">
              <a:solidFill>
                <a:srgbClr val="C4472E"/>
              </a:solidFill>
            </a:ln>
          </p:spPr>
        </p:sp>
        <p:sp>
          <p:nvSpPr>
            <p:cNvPr id="198" name="Line 198"/>
            <p:cNvSpPr/>
            <p:nvPr/>
          </p:nvSpPr>
          <p:spPr>
            <a:xfrm>
              <a:off x="3619500" y="5057775"/>
              <a:ext cx="819150" cy="657225"/>
            </a:xfrm>
            <a:custGeom>
              <a:avLst/>
              <a:gdLst/>
              <a:ahLst/>
              <a:cxnLst/>
              <a:rect l="l" t="t" r="r" b="b"/>
              <a:pathLst>
                <a:path w="819150" h="657225">
                  <a:moveTo>
                    <a:pt x="0" y="657225"/>
                  </a:moveTo>
                  <a:lnTo>
                    <a:pt x="819150" y="0"/>
                  </a:lnTo>
                </a:path>
              </a:pathLst>
            </a:custGeom>
            <a:noFill/>
            <a:ln w="14288">
              <a:solidFill>
                <a:srgbClr val="C8452F"/>
              </a:solidFill>
            </a:ln>
          </p:spPr>
        </p:sp>
        <p:sp>
          <p:nvSpPr>
            <p:cNvPr id="199" name="Ellipse 199"/>
            <p:cNvSpPr/>
            <p:nvPr/>
          </p:nvSpPr>
          <p:spPr>
            <a:xfrm>
              <a:off x="4405312" y="5024438"/>
              <a:ext cx="66675" cy="66675"/>
            </a:xfrm>
            <a:prstGeom prst="ellipse">
              <a:avLst/>
            </a:prstGeom>
            <a:solidFill>
              <a:srgbClr val="FFFFFF"/>
            </a:solidFill>
            <a:ln w="14288">
              <a:solidFill>
                <a:srgbClr val="C8452F"/>
              </a:solidFill>
            </a:ln>
          </p:spPr>
        </p:sp>
        <p:sp>
          <p:nvSpPr>
            <p:cNvPr id="200" name="Rectangle 200"/>
            <p:cNvSpPr/>
            <p:nvPr/>
          </p:nvSpPr>
          <p:spPr>
            <a:xfrm>
              <a:off x="914400" y="5715000"/>
              <a:ext cx="3429000" cy="552450"/>
            </a:xfrm>
            <a:prstGeom prst="roundRect">
              <a:avLst>
                <a:gd name="adj" fmla="val 13793"/>
              </a:avLst>
            </a:prstGeom>
            <a:solidFill>
              <a:srgbClr val="FFFFFF"/>
            </a:solidFill>
            <a:ln w="11430">
              <a:solidFill>
                <a:srgbClr val="C8452F"/>
              </a:solidFill>
            </a:ln>
          </p:spPr>
        </p:sp>
        <p:sp>
          <p:nvSpPr>
            <p:cNvPr id="201" name="Freeform 201"/>
            <p:cNvSpPr/>
            <p:nvPr/>
          </p:nvSpPr>
          <p:spPr>
            <a:xfrm>
              <a:off x="1123950" y="5810250"/>
              <a:ext cx="266700" cy="266700"/>
            </a:xfrm>
            <a:prstGeom prst="downArrow">
              <a:avLst/>
            </a:prstGeom>
            <a:solidFill>
              <a:srgbClr val="C8452F"/>
            </a:solidFill>
            <a:ln>
              <a:noFill/>
            </a:ln>
          </p:spPr>
        </p:sp>
        <p:sp>
          <p:nvSpPr>
            <p:cNvPr id="202" name="TextBox 202"/>
            <p:cNvSpPr txBox="1"/>
            <p:nvPr/>
          </p:nvSpPr>
          <p:spPr>
            <a:xfrm>
              <a:off x="1519238" y="5816441"/>
              <a:ext cx="451079" cy="161925"/>
            </a:xfrm>
            <a:prstGeom prst="rect">
              <a:avLst/>
            </a:prstGeom>
            <a:noFill/>
            <a:ln>
              <a:noFill/>
            </a:ln>
          </p:spPr>
          <p:txBody>
            <a:bodyPr wrap="none" lIns="0" tIns="0" rIns="0" bIns="0" anchor="t" anchorCtr="0">
              <a:spAutoFit/>
            </a:bodyPr>
            <a:lstStyle/>
            <a:p>
              <a:pPr algn="l"/>
              <a:r>
                <a:rPr lang="zh-CN" sz="820" b="1" dirty="0">
                  <a:solidFill>
                    <a:srgbClr val="C8452F"/>
                  </a:solidFill>
                  <a:latin typeface="+mn-lt"/>
                  <a:ea typeface="+mn-ea"/>
                  <a:cs typeface="+mn-cs"/>
                </a:rPr>
                <a:t>降级迁徙</a:t>
              </a:r>
            </a:p>
          </p:txBody>
        </p:sp>
        <p:sp>
          <p:nvSpPr>
            <p:cNvPr id="203" name="TextBox 203"/>
            <p:cNvSpPr txBox="1"/>
            <p:nvPr/>
          </p:nvSpPr>
          <p:spPr>
            <a:xfrm>
              <a:off x="1519238" y="5989082"/>
              <a:ext cx="98488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5C3A33"/>
                  </a:solidFill>
                  <a:latin typeface="+mn-lt"/>
                  <a:ea typeface="+mn-ea"/>
                  <a:cs typeface="+mn-cs"/>
                </a:rPr>
                <a:t>位于对角线下方的单元格，</a:t>
              </a:r>
              <a:br/>
              <a:r>
                <a:rPr lang="zh-CN" sz="640" dirty="0">
                  <a:solidFill>
                    <a:srgbClr val="5C3A33"/>
                  </a:solidFill>
                  <a:latin typeface="+mn-lt"/>
                  <a:ea typeface="+mn-ea"/>
                  <a:cs typeface="+mn-cs"/>
                </a:rPr>
                <a:t>表示评级下调的比例。</a:t>
              </a:r>
            </a:p>
          </p:txBody>
        </p:sp>
        <p:sp>
          <p:nvSpPr>
            <p:cNvPr id="204" name="Line 204"/>
            <p:cNvSpPr/>
            <p:nvPr/>
          </p:nvSpPr>
          <p:spPr>
            <a:xfrm>
              <a:off x="7620000" y="5543550"/>
              <a:ext cx="9525" cy="171450"/>
            </a:xfrm>
            <a:custGeom>
              <a:avLst/>
              <a:gdLst/>
              <a:ahLst/>
              <a:cxnLst/>
              <a:rect l="l" t="t" r="r" b="b"/>
              <a:pathLst>
                <a:path w="9525" h="171450">
                  <a:moveTo>
                    <a:pt x="0" y="171450"/>
                  </a:moveTo>
                  <a:lnTo>
                    <a:pt x="0" y="0"/>
                  </a:lnTo>
                </a:path>
              </a:pathLst>
            </a:custGeom>
            <a:noFill/>
            <a:ln w="14288">
              <a:solidFill>
                <a:srgbClr val="C8452F"/>
              </a:solidFill>
            </a:ln>
          </p:spPr>
        </p:sp>
        <p:sp>
          <p:nvSpPr>
            <p:cNvPr id="205" name="Ellipse 205"/>
            <p:cNvSpPr/>
            <p:nvPr/>
          </p:nvSpPr>
          <p:spPr>
            <a:xfrm>
              <a:off x="7586662" y="5510212"/>
              <a:ext cx="66675" cy="66675"/>
            </a:xfrm>
            <a:prstGeom prst="ellipse">
              <a:avLst/>
            </a:prstGeom>
            <a:solidFill>
              <a:srgbClr val="FFFFFF"/>
            </a:solidFill>
            <a:ln w="14288">
              <a:solidFill>
                <a:srgbClr val="C8452F"/>
              </a:solidFill>
            </a:ln>
          </p:spPr>
        </p:sp>
        <p:sp>
          <p:nvSpPr>
            <p:cNvPr id="206" name="Rectangle 206"/>
            <p:cNvSpPr/>
            <p:nvPr/>
          </p:nvSpPr>
          <p:spPr>
            <a:xfrm>
              <a:off x="4514850" y="5715000"/>
              <a:ext cx="3429000" cy="552450"/>
            </a:xfrm>
            <a:prstGeom prst="roundRect">
              <a:avLst>
                <a:gd name="adj" fmla="val 13793"/>
              </a:avLst>
            </a:prstGeom>
            <a:solidFill>
              <a:srgbClr val="FFFFFF"/>
            </a:solidFill>
            <a:ln w="11430">
              <a:solidFill>
                <a:srgbClr val="C8452F"/>
              </a:solidFill>
            </a:ln>
          </p:spPr>
        </p:sp>
        <p:grpSp>
          <p:nvGrpSpPr>
            <p:cNvPr id="210" name="Group 210"/>
            <p:cNvGrpSpPr/>
            <p:nvPr/>
          </p:nvGrpSpPr>
          <p:grpSpPr>
            <a:xfrm>
              <a:off x="4667959" y="5856828"/>
              <a:ext cx="208123" cy="178805"/>
              <a:chOff x="4667959" y="5856828"/>
              <a:chExt cx="208123" cy="178805"/>
            </a:xfrm>
          </p:grpSpPr>
          <p:sp>
            <p:nvSpPr>
              <p:cNvPr id="207" name="Freeform 207"/>
              <p:cNvSpPr/>
              <p:nvPr/>
            </p:nvSpPr>
            <p:spPr>
              <a:xfrm>
                <a:off x="4772025" y="5922168"/>
                <a:ext cx="9525" cy="41275"/>
              </a:xfrm>
              <a:custGeom>
                <a:avLst/>
                <a:gdLst/>
                <a:ahLst/>
                <a:cxnLst/>
                <a:rect l="l" t="t" r="r" b="b"/>
                <a:pathLst>
                  <a:path w="9525" h="41275">
                    <a:moveTo>
                      <a:pt x="0" y="0"/>
                    </a:moveTo>
                    <a:lnTo>
                      <a:pt x="0" y="41275"/>
                    </a:lnTo>
                  </a:path>
                </a:pathLst>
              </a:custGeom>
              <a:noFill/>
              <a:ln w="20637">
                <a:solidFill>
                  <a:srgbClr val="C8452F"/>
                </a:solidFill>
              </a:ln>
            </p:spPr>
          </p:sp>
          <p:sp>
            <p:nvSpPr>
              <p:cNvPr id="208" name="Freeform 208"/>
              <p:cNvSpPr/>
              <p:nvPr/>
            </p:nvSpPr>
            <p:spPr>
              <a:xfrm>
                <a:off x="4667959" y="5856828"/>
                <a:ext cx="208123" cy="178805"/>
              </a:xfrm>
              <a:custGeom>
                <a:avLst/>
                <a:gdLst/>
                <a:ahLst/>
                <a:cxnLst/>
                <a:rect l="l" t="t" r="r" b="b"/>
                <a:pathLst>
                  <a:path w="208123" h="178805">
                    <a:moveTo>
                      <a:pt x="87174" y="9526"/>
                    </a:moveTo>
                    <a:lnTo>
                      <a:pt x="3530" y="149180"/>
                    </a:lnTo>
                    <a:cubicBezTo>
                      <a:pt x="21" y="155256"/>
                      <a:pt x="0" y="162738"/>
                      <a:pt x="3474" y="168834"/>
                    </a:cubicBezTo>
                    <a:cubicBezTo>
                      <a:pt x="6948" y="174931"/>
                      <a:pt x="13395" y="178726"/>
                      <a:pt x="20412" y="178805"/>
                    </a:cubicBezTo>
                    <a:lnTo>
                      <a:pt x="187719" y="178805"/>
                    </a:lnTo>
                    <a:cubicBezTo>
                      <a:pt x="194732" y="178724"/>
                      <a:pt x="201176" y="174930"/>
                      <a:pt x="204650" y="168837"/>
                    </a:cubicBezTo>
                    <a:cubicBezTo>
                      <a:pt x="208123" y="162744"/>
                      <a:pt x="208104" y="155266"/>
                      <a:pt x="204601" y="149190"/>
                    </a:cubicBezTo>
                    <a:lnTo>
                      <a:pt x="120957" y="9516"/>
                    </a:lnTo>
                    <a:cubicBezTo>
                      <a:pt x="117378" y="3609"/>
                      <a:pt x="110973" y="0"/>
                      <a:pt x="104065" y="0"/>
                    </a:cubicBezTo>
                    <a:cubicBezTo>
                      <a:pt x="97158" y="0"/>
                      <a:pt x="90753" y="3609"/>
                      <a:pt x="87174" y="9516"/>
                    </a:cubicBezTo>
                  </a:path>
                </a:pathLst>
              </a:custGeom>
              <a:noFill/>
              <a:ln w="20637">
                <a:solidFill>
                  <a:srgbClr val="C8452F"/>
                </a:solidFill>
              </a:ln>
            </p:spPr>
          </p:sp>
          <p:sp>
            <p:nvSpPr>
              <p:cNvPr id="209" name="Freeform 209"/>
              <p:cNvSpPr/>
              <p:nvPr/>
            </p:nvSpPr>
            <p:spPr>
              <a:xfrm>
                <a:off x="4772025" y="5994399"/>
                <a:ext cx="9525" cy="9525"/>
              </a:xfrm>
              <a:custGeom>
                <a:avLst/>
                <a:gdLst/>
                <a:ahLst/>
                <a:cxnLst/>
                <a:rect l="l" t="t" r="r" b="b"/>
                <a:pathLst>
                  <a:path w="9525" h="9525">
                    <a:moveTo>
                      <a:pt x="0" y="0"/>
                    </a:moveTo>
                    <a:lnTo>
                      <a:pt x="103" y="0"/>
                    </a:lnTo>
                  </a:path>
                </a:pathLst>
              </a:custGeom>
              <a:noFill/>
              <a:ln w="20637">
                <a:solidFill>
                  <a:srgbClr val="C8452F"/>
                </a:solidFill>
              </a:ln>
            </p:spPr>
          </p:sp>
        </p:grpSp>
        <p:sp>
          <p:nvSpPr>
            <p:cNvPr id="211" name="TextBox 211"/>
            <p:cNvSpPr txBox="1"/>
            <p:nvPr/>
          </p:nvSpPr>
          <p:spPr>
            <a:xfrm>
              <a:off x="5043488" y="5816441"/>
              <a:ext cx="451079" cy="161925"/>
            </a:xfrm>
            <a:prstGeom prst="rect">
              <a:avLst/>
            </a:prstGeom>
            <a:noFill/>
            <a:ln>
              <a:noFill/>
            </a:ln>
          </p:spPr>
          <p:txBody>
            <a:bodyPr wrap="none" lIns="0" tIns="0" rIns="0" bIns="0" anchor="t" anchorCtr="0">
              <a:spAutoFit/>
            </a:bodyPr>
            <a:lstStyle/>
            <a:p>
              <a:pPr algn="l"/>
              <a:r>
                <a:rPr lang="zh-CN" sz="820" b="1" dirty="0">
                  <a:solidFill>
                    <a:srgbClr val="C8452F"/>
                  </a:solidFill>
                  <a:latin typeface="+mn-lt"/>
                  <a:ea typeface="+mn-ea"/>
                  <a:cs typeface="+mn-cs"/>
                </a:rPr>
                <a:t>违约迁徙</a:t>
              </a:r>
            </a:p>
          </p:txBody>
        </p:sp>
        <p:sp>
          <p:nvSpPr>
            <p:cNvPr id="212" name="TextBox 212"/>
            <p:cNvSpPr txBox="1"/>
            <p:nvPr/>
          </p:nvSpPr>
          <p:spPr>
            <a:xfrm>
              <a:off x="5043488" y="5989082"/>
              <a:ext cx="122872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5C3A33"/>
                  </a:solidFill>
                  <a:latin typeface="+mn-lt"/>
                  <a:ea typeface="+mn-ea"/>
                  <a:cs typeface="+mn-cs"/>
                </a:rPr>
                <a:t>指迁徙到D的比例，</a:t>
              </a:r>
              <a:br/>
              <a:r>
                <a:rPr lang="zh-CN" sz="640" dirty="0">
                  <a:solidFill>
                    <a:srgbClr val="5C3A33"/>
                  </a:solidFill>
                  <a:latin typeface="+mn-lt"/>
                  <a:ea typeface="+mn-ea"/>
                  <a:cs typeface="+mn-cs"/>
                </a:rPr>
                <a:t>反映了不同评级主体的违约风险。</a:t>
              </a:r>
            </a:p>
          </p:txBody>
        </p:sp>
      </p:grpSp>
      <p:grpSp>
        <p:nvGrpSpPr>
          <p:cNvPr id="247" name="insight-col"/>
          <p:cNvGrpSpPr/>
          <p:nvPr/>
        </p:nvGrpSpPr>
        <p:grpSpPr>
          <a:xfrm>
            <a:off x="8343900" y="1009650"/>
            <a:ext cx="3657600" cy="5467350"/>
            <a:chOff x="8343900" y="1009650"/>
            <a:chExt cx="3657600" cy="5467350"/>
          </a:xfrm>
        </p:grpSpPr>
        <p:sp>
          <p:nvSpPr>
            <p:cNvPr id="214" name="Rectangle 214"/>
            <p:cNvSpPr/>
            <p:nvPr/>
          </p:nvSpPr>
          <p:spPr>
            <a:xfrm>
              <a:off x="8343900" y="1009650"/>
              <a:ext cx="3657600" cy="266700"/>
            </a:xfrm>
            <a:prstGeom prst="roundRect">
              <a:avLst>
                <a:gd name="adj" fmla="val 35714"/>
              </a:avLst>
            </a:prstGeom>
            <a:solidFill>
              <a:srgbClr val="9E311B"/>
            </a:solidFill>
            <a:ln>
              <a:noFill/>
            </a:ln>
          </p:spPr>
        </p:sp>
        <p:sp>
          <p:nvSpPr>
            <p:cNvPr id="215" name="Rectangle 215"/>
            <p:cNvSpPr/>
            <p:nvPr/>
          </p:nvSpPr>
          <p:spPr>
            <a:xfrm>
              <a:off x="8343900" y="1143000"/>
              <a:ext cx="3657600" cy="133350"/>
            </a:xfrm>
            <a:prstGeom prst="rect">
              <a:avLst/>
            </a:prstGeom>
            <a:solidFill>
              <a:srgbClr val="9E311B"/>
            </a:solidFill>
            <a:ln>
              <a:noFill/>
            </a:ln>
          </p:spPr>
        </p:sp>
        <p:sp>
          <p:nvSpPr>
            <p:cNvPr id="216" name="TextBox 216"/>
            <p:cNvSpPr txBox="1"/>
            <p:nvPr/>
          </p:nvSpPr>
          <p:spPr>
            <a:xfrm>
              <a:off x="8491538" y="1098947"/>
              <a:ext cx="1148410"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迁徙矩阵能看什么？</a:t>
              </a:r>
            </a:p>
          </p:txBody>
        </p:sp>
        <p:sp>
          <p:nvSpPr>
            <p:cNvPr id="217" name="Rectangle 217"/>
            <p:cNvSpPr/>
            <p:nvPr/>
          </p:nvSpPr>
          <p:spPr>
            <a:xfrm>
              <a:off x="8343900" y="1371600"/>
              <a:ext cx="3657600" cy="1219200"/>
            </a:xfrm>
            <a:prstGeom prst="roundRect">
              <a:avLst>
                <a:gd name="adj" fmla="val 6250"/>
              </a:avLst>
            </a:prstGeom>
            <a:solidFill>
              <a:srgbClr val="F4F9FD"/>
            </a:solidFill>
            <a:ln w="9525">
              <a:solidFill>
                <a:srgbClr val="CFE2F2"/>
              </a:solidFill>
            </a:ln>
          </p:spPr>
        </p:sp>
        <p:grpSp>
          <p:nvGrpSpPr>
            <p:cNvPr id="220" name="Group 220"/>
            <p:cNvGrpSpPr/>
            <p:nvPr/>
          </p:nvGrpSpPr>
          <p:grpSpPr>
            <a:xfrm>
              <a:off x="8557981" y="1852612"/>
              <a:ext cx="279010" cy="257176"/>
              <a:chOff x="8557981" y="1852612"/>
              <a:chExt cx="279010" cy="257176"/>
            </a:xfrm>
          </p:grpSpPr>
          <p:sp>
            <p:nvSpPr>
              <p:cNvPr id="218" name="Freeform 218"/>
              <p:cNvSpPr/>
              <p:nvPr/>
            </p:nvSpPr>
            <p:spPr>
              <a:xfrm>
                <a:off x="8557981" y="18526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28575">
                <a:solidFill>
                  <a:srgbClr val="C4472E"/>
                </a:solidFill>
              </a:ln>
            </p:spPr>
          </p:sp>
          <p:sp>
            <p:nvSpPr>
              <p:cNvPr id="219" name="Freeform 219"/>
              <p:cNvSpPr/>
              <p:nvPr/>
            </p:nvSpPr>
            <p:spPr>
              <a:xfrm>
                <a:off x="8748712" y="2052638"/>
                <a:ext cx="85725" cy="57150"/>
              </a:xfrm>
              <a:custGeom>
                <a:avLst/>
                <a:gdLst/>
                <a:ahLst/>
                <a:cxnLst/>
                <a:rect l="l" t="t" r="r" b="b"/>
                <a:pathLst>
                  <a:path w="85725" h="57150">
                    <a:moveTo>
                      <a:pt x="0" y="28575"/>
                    </a:moveTo>
                    <a:lnTo>
                      <a:pt x="28575" y="57150"/>
                    </a:lnTo>
                    <a:lnTo>
                      <a:pt x="85725" y="0"/>
                    </a:lnTo>
                  </a:path>
                </a:pathLst>
              </a:custGeom>
              <a:noFill/>
              <a:ln w="28575">
                <a:solidFill>
                  <a:srgbClr val="C4472E"/>
                </a:solidFill>
              </a:ln>
            </p:spPr>
          </p:sp>
        </p:grpSp>
        <p:sp>
          <p:nvSpPr>
            <p:cNvPr id="221" name="TextBox 221"/>
            <p:cNvSpPr txBox="1"/>
            <p:nvPr/>
          </p:nvSpPr>
          <p:spPr>
            <a:xfrm>
              <a:off x="9024938" y="1625441"/>
              <a:ext cx="196070" cy="161925"/>
            </a:xfrm>
            <a:prstGeom prst="rect">
              <a:avLst/>
            </a:prstGeom>
            <a:noFill/>
            <a:ln>
              <a:noFill/>
            </a:ln>
          </p:spPr>
          <p:txBody>
            <a:bodyPr wrap="none" lIns="0" tIns="0" rIns="0" bIns="0" anchor="t" anchorCtr="0">
              <a:spAutoFit/>
            </a:bodyPr>
            <a:lstStyle/>
            <a:p>
              <a:pPr algn="l"/>
              <a:r>
                <a:rPr lang="zh-CN" sz="820" b="1" dirty="0">
                  <a:solidFill>
                    <a:srgbClr val="C4472E"/>
                  </a:solidFill>
                  <a:latin typeface="+mj-lt"/>
                  <a:ea typeface="+mj-ea"/>
                  <a:cs typeface="+mj-cs"/>
                </a:rPr>
                <a:t>01​</a:t>
              </a:r>
            </a:p>
          </p:txBody>
        </p:sp>
        <p:sp>
          <p:nvSpPr>
            <p:cNvPr id="222" name="TextBox 222"/>
            <p:cNvSpPr txBox="1"/>
            <p:nvPr/>
          </p:nvSpPr>
          <p:spPr>
            <a:xfrm>
              <a:off x="9253538" y="1617345"/>
              <a:ext cx="615315" cy="176212"/>
            </a:xfrm>
            <a:prstGeom prst="rect">
              <a:avLst/>
            </a:prstGeom>
            <a:noFill/>
            <a:ln>
              <a:noFill/>
            </a:ln>
          </p:spPr>
          <p:txBody>
            <a:bodyPr wrap="none" lIns="0" tIns="0" rIns="0" bIns="0" anchor="t" anchorCtr="0">
              <a:spAutoFit/>
            </a:bodyPr>
            <a:lstStyle/>
            <a:p>
              <a:pPr algn="l"/>
              <a:r>
                <a:rPr lang="zh-CN" sz="900" b="1" dirty="0">
                  <a:solidFill>
                    <a:srgbClr val="3E1810"/>
                  </a:solidFill>
                  <a:latin typeface="+mn-lt"/>
                  <a:ea typeface="+mn-ea"/>
                  <a:cs typeface="+mn-cs"/>
                </a:rPr>
                <a:t>评级稳定性</a:t>
              </a:r>
            </a:p>
          </p:txBody>
        </p:sp>
        <p:sp>
          <p:nvSpPr>
            <p:cNvPr id="223" name="TextBox 223"/>
            <p:cNvSpPr txBox="1"/>
            <p:nvPr/>
          </p:nvSpPr>
          <p:spPr>
            <a:xfrm>
              <a:off x="9024938" y="1851184"/>
              <a:ext cx="1304925" cy="276225"/>
            </a:xfrm>
            <a:prstGeom prst="rect">
              <a:avLst/>
            </a:prstGeom>
            <a:noFill/>
            <a:ln>
              <a:noFill/>
            </a:ln>
          </p:spPr>
          <p:txBody>
            <a:bodyPr wrap="none" lIns="0" tIns="0" rIns="0" bIns="0" anchor="t" anchorCtr="0">
              <a:spAutoFit/>
            </a:bodyPr>
            <a:lstStyle/>
            <a:p>
              <a:pPr algn="l">
                <a:lnSpc>
                  <a:spcPts val="1125"/>
                </a:lnSpc>
              </a:pPr>
              <a:r>
                <a:rPr lang="zh-CN" sz="680" dirty="0">
                  <a:solidFill>
                    <a:srgbClr val="5C3A33"/>
                  </a:solidFill>
                  <a:latin typeface="+mn-lt"/>
                  <a:ea typeface="+mn-ea"/>
                  <a:cs typeface="+mn-cs"/>
                </a:rPr>
                <a:t>对角线值反映各评级的稳定程度，</a:t>
              </a:r>
              <a:br/>
              <a:r>
                <a:rPr lang="zh-CN" sz="680" dirty="0">
                  <a:solidFill>
                    <a:srgbClr val="5C3A33"/>
                  </a:solidFill>
                  <a:latin typeface="+mn-lt"/>
                  <a:ea typeface="+mn-ea"/>
                  <a:cs typeface="+mn-cs"/>
                </a:rPr>
                <a:t>可判断整体信用质量是否稳健。</a:t>
              </a:r>
            </a:p>
          </p:txBody>
        </p:sp>
        <p:sp>
          <p:nvSpPr>
            <p:cNvPr id="224" name="Rectangle 224"/>
            <p:cNvSpPr/>
            <p:nvPr/>
          </p:nvSpPr>
          <p:spPr>
            <a:xfrm>
              <a:off x="8343900" y="2667000"/>
              <a:ext cx="3657600" cy="1219200"/>
            </a:xfrm>
            <a:prstGeom prst="roundRect">
              <a:avLst>
                <a:gd name="adj" fmla="val 6250"/>
              </a:avLst>
            </a:prstGeom>
            <a:solidFill>
              <a:srgbClr val="F4F9FD"/>
            </a:solidFill>
            <a:ln w="9525">
              <a:solidFill>
                <a:srgbClr val="CFE2F2"/>
              </a:solidFill>
            </a:ln>
          </p:spPr>
        </p:sp>
        <p:grpSp>
          <p:nvGrpSpPr>
            <p:cNvPr id="229" name="Group 229"/>
            <p:cNvGrpSpPr/>
            <p:nvPr/>
          </p:nvGrpSpPr>
          <p:grpSpPr>
            <a:xfrm>
              <a:off x="8577262" y="3162300"/>
              <a:ext cx="257175" cy="238125"/>
              <a:chOff x="8577262" y="3162300"/>
              <a:chExt cx="257175" cy="238125"/>
            </a:xfrm>
          </p:grpSpPr>
          <p:sp>
            <p:nvSpPr>
              <p:cNvPr id="225" name="Freeform 225"/>
              <p:cNvSpPr/>
              <p:nvPr/>
            </p:nvSpPr>
            <p:spPr>
              <a:xfrm>
                <a:off x="8577262" y="3276600"/>
                <a:ext cx="85725" cy="114300"/>
              </a:xfrm>
              <a:custGeom>
                <a:avLst/>
                <a:gdLst/>
                <a:ahLst/>
                <a:cxnLst/>
                <a:rect l="l" t="t" r="r" b="b"/>
                <a:pathLst>
                  <a:path w="85725" h="114300">
                    <a:moveTo>
                      <a:pt x="0" y="14288"/>
                    </a:moveTo>
                    <a:cubicBezTo>
                      <a:pt x="0" y="6397"/>
                      <a:pt x="6397" y="0"/>
                      <a:pt x="14288" y="0"/>
                    </a:cubicBezTo>
                    <a:lnTo>
                      <a:pt x="71438" y="0"/>
                    </a:lnTo>
                    <a:cubicBezTo>
                      <a:pt x="79328" y="0"/>
                      <a:pt x="85725" y="6397"/>
                      <a:pt x="85725" y="14288"/>
                    </a:cubicBezTo>
                    <a:lnTo>
                      <a:pt x="85725" y="100012"/>
                    </a:lnTo>
                    <a:cubicBezTo>
                      <a:pt x="85725" y="107903"/>
                      <a:pt x="79328" y="114300"/>
                      <a:pt x="71438" y="114300"/>
                    </a:cubicBezTo>
                    <a:lnTo>
                      <a:pt x="14288" y="114300"/>
                    </a:lnTo>
                    <a:cubicBezTo>
                      <a:pt x="6397" y="114300"/>
                      <a:pt x="0" y="107903"/>
                      <a:pt x="0" y="100012"/>
                    </a:cubicBezTo>
                    <a:lnTo>
                      <a:pt x="0" y="14288"/>
                    </a:lnTo>
                  </a:path>
                </a:pathLst>
              </a:custGeom>
              <a:noFill/>
              <a:ln w="28575">
                <a:solidFill>
                  <a:srgbClr val="C4472E"/>
                </a:solidFill>
              </a:ln>
            </p:spPr>
          </p:sp>
          <p:sp>
            <p:nvSpPr>
              <p:cNvPr id="226" name="Freeform 226"/>
              <p:cNvSpPr/>
              <p:nvPr/>
            </p:nvSpPr>
            <p:spPr>
              <a:xfrm>
                <a:off x="8748712" y="3219450"/>
                <a:ext cx="85725" cy="171450"/>
              </a:xfrm>
              <a:custGeom>
                <a:avLst/>
                <a:gdLst/>
                <a:ahLst/>
                <a:cxnLst/>
                <a:rect l="l" t="t" r="r" b="b"/>
                <a:pathLst>
                  <a:path w="85725" h="171450">
                    <a:moveTo>
                      <a:pt x="0" y="14288"/>
                    </a:moveTo>
                    <a:cubicBezTo>
                      <a:pt x="0" y="6397"/>
                      <a:pt x="6397" y="0"/>
                      <a:pt x="14288" y="0"/>
                    </a:cubicBezTo>
                    <a:lnTo>
                      <a:pt x="71438" y="0"/>
                    </a:lnTo>
                    <a:cubicBezTo>
                      <a:pt x="79328" y="0"/>
                      <a:pt x="85725" y="6397"/>
                      <a:pt x="85725" y="14288"/>
                    </a:cubicBezTo>
                    <a:lnTo>
                      <a:pt x="85725" y="157162"/>
                    </a:lnTo>
                    <a:cubicBezTo>
                      <a:pt x="85725" y="165053"/>
                      <a:pt x="79328" y="171450"/>
                      <a:pt x="71438" y="171450"/>
                    </a:cubicBezTo>
                    <a:lnTo>
                      <a:pt x="14288" y="171450"/>
                    </a:lnTo>
                    <a:cubicBezTo>
                      <a:pt x="6397" y="171450"/>
                      <a:pt x="0" y="165053"/>
                      <a:pt x="0" y="157162"/>
                    </a:cubicBezTo>
                    <a:lnTo>
                      <a:pt x="0" y="14288"/>
                    </a:lnTo>
                  </a:path>
                </a:pathLst>
              </a:custGeom>
              <a:noFill/>
              <a:ln w="28575">
                <a:solidFill>
                  <a:srgbClr val="C4472E"/>
                </a:solidFill>
              </a:ln>
            </p:spPr>
          </p:sp>
          <p:sp>
            <p:nvSpPr>
              <p:cNvPr id="227" name="Freeform 227"/>
              <p:cNvSpPr/>
              <p:nvPr/>
            </p:nvSpPr>
            <p:spPr>
              <a:xfrm>
                <a:off x="8662988" y="3162300"/>
                <a:ext cx="85725" cy="228600"/>
              </a:xfrm>
              <a:custGeom>
                <a:avLst/>
                <a:gdLst/>
                <a:ahLst/>
                <a:cxnLst/>
                <a:rect l="l" t="t" r="r" b="b"/>
                <a:pathLst>
                  <a:path w="85725" h="228600">
                    <a:moveTo>
                      <a:pt x="0" y="14288"/>
                    </a:moveTo>
                    <a:cubicBezTo>
                      <a:pt x="0" y="6397"/>
                      <a:pt x="6397" y="0"/>
                      <a:pt x="14288" y="0"/>
                    </a:cubicBezTo>
                    <a:lnTo>
                      <a:pt x="71438" y="0"/>
                    </a:lnTo>
                    <a:cubicBezTo>
                      <a:pt x="79328" y="0"/>
                      <a:pt x="85725" y="6397"/>
                      <a:pt x="85725" y="14288"/>
                    </a:cubicBezTo>
                    <a:lnTo>
                      <a:pt x="85725" y="214312"/>
                    </a:lnTo>
                    <a:cubicBezTo>
                      <a:pt x="85725" y="222203"/>
                      <a:pt x="79328" y="228600"/>
                      <a:pt x="71438" y="228600"/>
                    </a:cubicBezTo>
                    <a:lnTo>
                      <a:pt x="14288" y="228600"/>
                    </a:lnTo>
                    <a:cubicBezTo>
                      <a:pt x="6397" y="228600"/>
                      <a:pt x="0" y="222203"/>
                      <a:pt x="0" y="214312"/>
                    </a:cubicBezTo>
                    <a:lnTo>
                      <a:pt x="0" y="14288"/>
                    </a:lnTo>
                  </a:path>
                </a:pathLst>
              </a:custGeom>
              <a:noFill/>
              <a:ln w="28575">
                <a:solidFill>
                  <a:srgbClr val="C4472E"/>
                </a:solidFill>
              </a:ln>
            </p:spPr>
          </p:sp>
          <p:sp>
            <p:nvSpPr>
              <p:cNvPr id="228" name="Freeform 228"/>
              <p:cNvSpPr/>
              <p:nvPr/>
            </p:nvSpPr>
            <p:spPr>
              <a:xfrm>
                <a:off x="8591550" y="3390900"/>
                <a:ext cx="200025" cy="9525"/>
              </a:xfrm>
              <a:custGeom>
                <a:avLst/>
                <a:gdLst/>
                <a:ahLst/>
                <a:cxnLst/>
                <a:rect l="l" t="t" r="r" b="b"/>
                <a:pathLst>
                  <a:path w="200025" h="9525">
                    <a:moveTo>
                      <a:pt x="0" y="0"/>
                    </a:moveTo>
                    <a:lnTo>
                      <a:pt x="200025" y="0"/>
                    </a:lnTo>
                  </a:path>
                </a:pathLst>
              </a:custGeom>
              <a:noFill/>
              <a:ln w="28575">
                <a:solidFill>
                  <a:srgbClr val="C4472E"/>
                </a:solidFill>
              </a:ln>
            </p:spPr>
          </p:sp>
        </p:grpSp>
        <p:sp>
          <p:nvSpPr>
            <p:cNvPr id="230" name="TextBox 230"/>
            <p:cNvSpPr txBox="1"/>
            <p:nvPr/>
          </p:nvSpPr>
          <p:spPr>
            <a:xfrm>
              <a:off x="9024938" y="2920841"/>
              <a:ext cx="196070" cy="161925"/>
            </a:xfrm>
            <a:prstGeom prst="rect">
              <a:avLst/>
            </a:prstGeom>
            <a:noFill/>
            <a:ln>
              <a:noFill/>
            </a:ln>
          </p:spPr>
          <p:txBody>
            <a:bodyPr wrap="none" lIns="0" tIns="0" rIns="0" bIns="0" anchor="t" anchorCtr="0">
              <a:spAutoFit/>
            </a:bodyPr>
            <a:lstStyle/>
            <a:p>
              <a:pPr algn="l"/>
              <a:r>
                <a:rPr lang="zh-CN" sz="820" b="1" dirty="0">
                  <a:solidFill>
                    <a:srgbClr val="C4472E"/>
                  </a:solidFill>
                  <a:latin typeface="+mj-lt"/>
                  <a:ea typeface="+mj-ea"/>
                  <a:cs typeface="+mj-cs"/>
                </a:rPr>
                <a:t>02​</a:t>
              </a:r>
            </a:p>
          </p:txBody>
        </p:sp>
        <p:sp>
          <p:nvSpPr>
            <p:cNvPr id="231" name="TextBox 231"/>
            <p:cNvSpPr txBox="1"/>
            <p:nvPr/>
          </p:nvSpPr>
          <p:spPr>
            <a:xfrm>
              <a:off x="9253538" y="2912745"/>
              <a:ext cx="615315" cy="176212"/>
            </a:xfrm>
            <a:prstGeom prst="rect">
              <a:avLst/>
            </a:prstGeom>
            <a:noFill/>
            <a:ln>
              <a:noFill/>
            </a:ln>
          </p:spPr>
          <p:txBody>
            <a:bodyPr wrap="none" lIns="0" tIns="0" rIns="0" bIns="0" anchor="t" anchorCtr="0">
              <a:spAutoFit/>
            </a:bodyPr>
            <a:lstStyle/>
            <a:p>
              <a:pPr algn="l"/>
              <a:r>
                <a:rPr lang="zh-CN" sz="900" b="1" dirty="0">
                  <a:solidFill>
                    <a:srgbClr val="3E1810"/>
                  </a:solidFill>
                  <a:latin typeface="+mn-lt"/>
                  <a:ea typeface="+mn-ea"/>
                  <a:cs typeface="+mn-cs"/>
                </a:rPr>
                <a:t>风险敏感性</a:t>
              </a:r>
            </a:p>
          </p:txBody>
        </p:sp>
        <p:sp>
          <p:nvSpPr>
            <p:cNvPr id="232" name="TextBox 232"/>
            <p:cNvSpPr txBox="1"/>
            <p:nvPr/>
          </p:nvSpPr>
          <p:spPr>
            <a:xfrm>
              <a:off x="9024938" y="3146584"/>
              <a:ext cx="1132205" cy="419100"/>
            </a:xfrm>
            <a:prstGeom prst="rect">
              <a:avLst/>
            </a:prstGeom>
            <a:noFill/>
            <a:ln>
              <a:noFill/>
            </a:ln>
          </p:spPr>
          <p:txBody>
            <a:bodyPr wrap="none" lIns="0" tIns="0" rIns="0" bIns="0" anchor="t" anchorCtr="0">
              <a:spAutoFit/>
            </a:bodyPr>
            <a:lstStyle/>
            <a:p>
              <a:pPr algn="l">
                <a:lnSpc>
                  <a:spcPts val="1125"/>
                </a:lnSpc>
              </a:pPr>
              <a:r>
                <a:rPr lang="zh-CN" sz="680" dirty="0">
                  <a:solidFill>
                    <a:srgbClr val="5C3A33"/>
                  </a:solidFill>
                  <a:latin typeface="+mn-lt"/>
                  <a:ea typeface="+mn-ea"/>
                  <a:cs typeface="+mn-cs"/>
                </a:rPr>
                <a:t>观察不同行业、时期或外部</a:t>
              </a:r>
              <a:br/>
              <a:r>
                <a:rPr lang="zh-CN" sz="680" dirty="0">
                  <a:solidFill>
                    <a:srgbClr val="5C3A33"/>
                  </a:solidFill>
                  <a:latin typeface="+mn-lt"/>
                  <a:ea typeface="+mn-ea"/>
                  <a:cs typeface="+mn-cs"/>
                </a:rPr>
                <a:t>冲击下的迁徙变化，识别风险</a:t>
              </a:r>
              <a:br/>
              <a:r>
                <a:rPr lang="zh-CN" sz="680" dirty="0">
                  <a:solidFill>
                    <a:srgbClr val="5C3A33"/>
                  </a:solidFill>
                  <a:latin typeface="+mn-lt"/>
                  <a:ea typeface="+mn-ea"/>
                  <a:cs typeface="+mn-cs"/>
                </a:rPr>
                <a:t>上升的早期信号。</a:t>
              </a:r>
            </a:p>
          </p:txBody>
        </p:sp>
        <p:sp>
          <p:nvSpPr>
            <p:cNvPr id="233" name="Rectangle 233"/>
            <p:cNvSpPr/>
            <p:nvPr/>
          </p:nvSpPr>
          <p:spPr>
            <a:xfrm>
              <a:off x="8343900" y="3962400"/>
              <a:ext cx="3657600" cy="1219200"/>
            </a:xfrm>
            <a:prstGeom prst="roundRect">
              <a:avLst>
                <a:gd name="adj" fmla="val 6250"/>
              </a:avLst>
            </a:prstGeom>
            <a:solidFill>
              <a:srgbClr val="F4F9FD"/>
            </a:solidFill>
            <a:ln w="9525">
              <a:solidFill>
                <a:srgbClr val="CFE2F2"/>
              </a:solidFill>
            </a:ln>
          </p:spPr>
        </p:sp>
        <p:grpSp>
          <p:nvGrpSpPr>
            <p:cNvPr id="236" name="Group 236"/>
            <p:cNvGrpSpPr/>
            <p:nvPr/>
          </p:nvGrpSpPr>
          <p:grpSpPr>
            <a:xfrm>
              <a:off x="8573280" y="4445869"/>
              <a:ext cx="258300" cy="258701"/>
              <a:chOff x="8573280" y="4445869"/>
              <a:chExt cx="258300" cy="258701"/>
            </a:xfrm>
          </p:grpSpPr>
          <p:sp>
            <p:nvSpPr>
              <p:cNvPr id="234" name="Freeform 234"/>
              <p:cNvSpPr/>
              <p:nvPr/>
            </p:nvSpPr>
            <p:spPr>
              <a:xfrm>
                <a:off x="8573280" y="4445869"/>
                <a:ext cx="258300" cy="258701"/>
              </a:xfrm>
              <a:custGeom>
                <a:avLst/>
                <a:gdLst/>
                <a:ahLst/>
                <a:cxnLst/>
                <a:rect l="l" t="t" r="r" b="b"/>
                <a:pathLst>
                  <a:path w="258300" h="258701">
                    <a:moveTo>
                      <a:pt x="103995" y="401"/>
                    </a:moveTo>
                    <a:cubicBezTo>
                      <a:pt x="42130" y="14742"/>
                      <a:pt x="0" y="72099"/>
                      <a:pt x="4818" y="135421"/>
                    </a:cubicBezTo>
                    <a:cubicBezTo>
                      <a:pt x="9635" y="198743"/>
                      <a:pt x="59958" y="249066"/>
                      <a:pt x="123280" y="253883"/>
                    </a:cubicBezTo>
                    <a:cubicBezTo>
                      <a:pt x="186602" y="258701"/>
                      <a:pt x="243958" y="216570"/>
                      <a:pt x="258300" y="154706"/>
                    </a:cubicBezTo>
                    <a:cubicBezTo>
                      <a:pt x="258300" y="146815"/>
                      <a:pt x="251903" y="140418"/>
                      <a:pt x="244013" y="140418"/>
                    </a:cubicBezTo>
                    <a:lnTo>
                      <a:pt x="146858" y="140418"/>
                    </a:lnTo>
                    <a:cubicBezTo>
                      <a:pt x="131076" y="140418"/>
                      <a:pt x="118283" y="127625"/>
                      <a:pt x="118283" y="111843"/>
                    </a:cubicBezTo>
                    <a:lnTo>
                      <a:pt x="118283" y="11831"/>
                    </a:lnTo>
                    <a:cubicBezTo>
                      <a:pt x="117924" y="8412"/>
                      <a:pt x="116211" y="5278"/>
                      <a:pt x="113527" y="3131"/>
                    </a:cubicBezTo>
                    <a:cubicBezTo>
                      <a:pt x="110842" y="983"/>
                      <a:pt x="107409" y="0"/>
                      <a:pt x="103995" y="401"/>
                    </a:cubicBezTo>
                  </a:path>
                </a:pathLst>
              </a:custGeom>
              <a:noFill/>
              <a:ln w="28575">
                <a:solidFill>
                  <a:srgbClr val="C4472E"/>
                </a:solidFill>
              </a:ln>
            </p:spPr>
          </p:sp>
          <p:sp>
            <p:nvSpPr>
              <p:cNvPr id="235" name="Freeform 235"/>
              <p:cNvSpPr/>
              <p:nvPr/>
            </p:nvSpPr>
            <p:spPr>
              <a:xfrm>
                <a:off x="8748712" y="4450556"/>
                <a:ext cx="78581" cy="78581"/>
              </a:xfrm>
              <a:custGeom>
                <a:avLst/>
                <a:gdLst/>
                <a:ahLst/>
                <a:cxnLst/>
                <a:rect l="l" t="t" r="r" b="b"/>
                <a:pathLst>
                  <a:path w="78581" h="78581">
                    <a:moveTo>
                      <a:pt x="0" y="0"/>
                    </a:moveTo>
                    <a:cubicBezTo>
                      <a:pt x="36745" y="12938"/>
                      <a:pt x="65643" y="41837"/>
                      <a:pt x="78581" y="78581"/>
                    </a:cubicBezTo>
                    <a:lnTo>
                      <a:pt x="14288" y="78581"/>
                    </a:lnTo>
                    <a:cubicBezTo>
                      <a:pt x="6397" y="78581"/>
                      <a:pt x="0" y="72185"/>
                      <a:pt x="0" y="64294"/>
                    </a:cubicBezTo>
                    <a:lnTo>
                      <a:pt x="0" y="0"/>
                    </a:lnTo>
                  </a:path>
                </a:pathLst>
              </a:custGeom>
              <a:noFill/>
              <a:ln w="28575">
                <a:solidFill>
                  <a:srgbClr val="C4472E"/>
                </a:solidFill>
              </a:ln>
            </p:spPr>
          </p:sp>
        </p:grpSp>
        <p:sp>
          <p:nvSpPr>
            <p:cNvPr id="237" name="TextBox 237"/>
            <p:cNvSpPr txBox="1"/>
            <p:nvPr/>
          </p:nvSpPr>
          <p:spPr>
            <a:xfrm>
              <a:off x="9024938" y="4216241"/>
              <a:ext cx="196070" cy="161925"/>
            </a:xfrm>
            <a:prstGeom prst="rect">
              <a:avLst/>
            </a:prstGeom>
            <a:noFill/>
            <a:ln>
              <a:noFill/>
            </a:ln>
          </p:spPr>
          <p:txBody>
            <a:bodyPr wrap="none" lIns="0" tIns="0" rIns="0" bIns="0" anchor="t" anchorCtr="0">
              <a:spAutoFit/>
            </a:bodyPr>
            <a:lstStyle/>
            <a:p>
              <a:pPr algn="l"/>
              <a:r>
                <a:rPr lang="zh-CN" sz="820" b="1" dirty="0">
                  <a:solidFill>
                    <a:srgbClr val="C4472E"/>
                  </a:solidFill>
                  <a:latin typeface="+mj-lt"/>
                  <a:ea typeface="+mj-ea"/>
                  <a:cs typeface="+mj-cs"/>
                </a:rPr>
                <a:t>03​</a:t>
              </a:r>
            </a:p>
          </p:txBody>
        </p:sp>
        <p:sp>
          <p:nvSpPr>
            <p:cNvPr id="238" name="TextBox 238"/>
            <p:cNvSpPr txBox="1"/>
            <p:nvPr/>
          </p:nvSpPr>
          <p:spPr>
            <a:xfrm>
              <a:off x="9253538" y="4208145"/>
              <a:ext cx="494157" cy="176212"/>
            </a:xfrm>
            <a:prstGeom prst="rect">
              <a:avLst/>
            </a:prstGeom>
            <a:noFill/>
            <a:ln>
              <a:noFill/>
            </a:ln>
          </p:spPr>
          <p:txBody>
            <a:bodyPr wrap="none" lIns="0" tIns="0" rIns="0" bIns="0" anchor="t" anchorCtr="0">
              <a:spAutoFit/>
            </a:bodyPr>
            <a:lstStyle/>
            <a:p>
              <a:pPr algn="l"/>
              <a:r>
                <a:rPr lang="zh-CN" sz="900" b="1" dirty="0">
                  <a:solidFill>
                    <a:srgbClr val="3E1810"/>
                  </a:solidFill>
                  <a:latin typeface="+mn-lt"/>
                  <a:ea typeface="+mn-ea"/>
                  <a:cs typeface="+mn-cs"/>
                </a:rPr>
                <a:t>组合变化</a:t>
              </a:r>
            </a:p>
          </p:txBody>
        </p:sp>
        <p:sp>
          <p:nvSpPr>
            <p:cNvPr id="239" name="TextBox 239"/>
            <p:cNvSpPr txBox="1"/>
            <p:nvPr/>
          </p:nvSpPr>
          <p:spPr>
            <a:xfrm>
              <a:off x="9024938" y="4441984"/>
              <a:ext cx="1391285" cy="276225"/>
            </a:xfrm>
            <a:prstGeom prst="rect">
              <a:avLst/>
            </a:prstGeom>
            <a:noFill/>
            <a:ln>
              <a:noFill/>
            </a:ln>
          </p:spPr>
          <p:txBody>
            <a:bodyPr wrap="none" lIns="0" tIns="0" rIns="0" bIns="0" anchor="t" anchorCtr="0">
              <a:spAutoFit/>
            </a:bodyPr>
            <a:lstStyle/>
            <a:p>
              <a:pPr algn="l">
                <a:lnSpc>
                  <a:spcPts val="1125"/>
                </a:lnSpc>
              </a:pPr>
              <a:r>
                <a:rPr lang="zh-CN" sz="680" dirty="0">
                  <a:solidFill>
                    <a:srgbClr val="5C3A33"/>
                  </a:solidFill>
                  <a:latin typeface="+mn-lt"/>
                  <a:ea typeface="+mn-ea"/>
                  <a:cs typeface="+mn-cs"/>
                </a:rPr>
                <a:t>展示评级在各等级之间的流动情况，</a:t>
              </a:r>
              <a:br/>
              <a:r>
                <a:rPr lang="zh-CN" sz="680" dirty="0">
                  <a:solidFill>
                    <a:srgbClr val="5C3A33"/>
                  </a:solidFill>
                  <a:latin typeface="+mn-lt"/>
                  <a:ea typeface="+mn-ea"/>
                  <a:cs typeface="+mn-cs"/>
                </a:rPr>
                <a:t>帮助分析组合信用质量的演变趋势。</a:t>
              </a:r>
            </a:p>
          </p:txBody>
        </p:sp>
        <p:sp>
          <p:nvSpPr>
            <p:cNvPr id="240" name="Rectangle 240"/>
            <p:cNvSpPr/>
            <p:nvPr/>
          </p:nvSpPr>
          <p:spPr>
            <a:xfrm>
              <a:off x="8343900" y="5257800"/>
              <a:ext cx="3657600" cy="1219200"/>
            </a:xfrm>
            <a:prstGeom prst="roundRect">
              <a:avLst>
                <a:gd name="adj" fmla="val 6250"/>
              </a:avLst>
            </a:prstGeom>
            <a:solidFill>
              <a:srgbClr val="F4F9FD"/>
            </a:solidFill>
            <a:ln w="9525">
              <a:solidFill>
                <a:srgbClr val="CFE2F2"/>
              </a:solidFill>
            </a:ln>
          </p:spPr>
        </p:sp>
        <p:grpSp>
          <p:nvGrpSpPr>
            <p:cNvPr id="243" name="Group 243"/>
            <p:cNvGrpSpPr/>
            <p:nvPr/>
          </p:nvGrpSpPr>
          <p:grpSpPr>
            <a:xfrm>
              <a:off x="8570990" y="5732540"/>
              <a:ext cx="269719" cy="269719"/>
              <a:chOff x="8570990" y="5732540"/>
              <a:chExt cx="269719" cy="269719"/>
            </a:xfrm>
          </p:grpSpPr>
          <p:sp>
            <p:nvSpPr>
              <p:cNvPr id="241" name="Freeform 241"/>
              <p:cNvSpPr/>
              <p:nvPr/>
            </p:nvSpPr>
            <p:spPr>
              <a:xfrm>
                <a:off x="8570990" y="5732540"/>
                <a:ext cx="269719" cy="269719"/>
              </a:xfrm>
              <a:custGeom>
                <a:avLst/>
                <a:gdLst/>
                <a:ahLst/>
                <a:cxnLst/>
                <a:rect l="l" t="t" r="r" b="b"/>
                <a:pathLst>
                  <a:path w="269719" h="269719">
                    <a:moveTo>
                      <a:pt x="110928" y="25089"/>
                    </a:moveTo>
                    <a:cubicBezTo>
                      <a:pt x="117015" y="0"/>
                      <a:pt x="152705" y="0"/>
                      <a:pt x="158791" y="25089"/>
                    </a:cubicBezTo>
                    <a:cubicBezTo>
                      <a:pt x="160644" y="32734"/>
                      <a:pt x="166036" y="39034"/>
                      <a:pt x="173302" y="42044"/>
                    </a:cubicBezTo>
                    <a:cubicBezTo>
                      <a:pt x="180569" y="45055"/>
                      <a:pt x="188837" y="44414"/>
                      <a:pt x="195553" y="40319"/>
                    </a:cubicBezTo>
                    <a:cubicBezTo>
                      <a:pt x="217599" y="26889"/>
                      <a:pt x="242845" y="52121"/>
                      <a:pt x="229414" y="74181"/>
                    </a:cubicBezTo>
                    <a:cubicBezTo>
                      <a:pt x="225325" y="80894"/>
                      <a:pt x="224686" y="89155"/>
                      <a:pt x="227693" y="96417"/>
                    </a:cubicBezTo>
                    <a:cubicBezTo>
                      <a:pt x="230700" y="103680"/>
                      <a:pt x="236993" y="109071"/>
                      <a:pt x="244631" y="110928"/>
                    </a:cubicBezTo>
                    <a:cubicBezTo>
                      <a:pt x="269719" y="117015"/>
                      <a:pt x="269719" y="152705"/>
                      <a:pt x="244631" y="158791"/>
                    </a:cubicBezTo>
                    <a:cubicBezTo>
                      <a:pt x="236986" y="160644"/>
                      <a:pt x="230686" y="166036"/>
                      <a:pt x="227675" y="173302"/>
                    </a:cubicBezTo>
                    <a:cubicBezTo>
                      <a:pt x="224664" y="180569"/>
                      <a:pt x="225305" y="188837"/>
                      <a:pt x="229400" y="195553"/>
                    </a:cubicBezTo>
                    <a:cubicBezTo>
                      <a:pt x="242830" y="217599"/>
                      <a:pt x="217599" y="242845"/>
                      <a:pt x="195539" y="229414"/>
                    </a:cubicBezTo>
                    <a:cubicBezTo>
                      <a:pt x="188826" y="225325"/>
                      <a:pt x="180564" y="224686"/>
                      <a:pt x="173302" y="227693"/>
                    </a:cubicBezTo>
                    <a:cubicBezTo>
                      <a:pt x="166040" y="230700"/>
                      <a:pt x="160649" y="236993"/>
                      <a:pt x="158791" y="244631"/>
                    </a:cubicBezTo>
                    <a:cubicBezTo>
                      <a:pt x="152705" y="269719"/>
                      <a:pt x="117015" y="269719"/>
                      <a:pt x="110928" y="244631"/>
                    </a:cubicBezTo>
                    <a:cubicBezTo>
                      <a:pt x="109076" y="236986"/>
                      <a:pt x="103684" y="230686"/>
                      <a:pt x="96417" y="227675"/>
                    </a:cubicBezTo>
                    <a:cubicBezTo>
                      <a:pt x="89150" y="224664"/>
                      <a:pt x="80882" y="225305"/>
                      <a:pt x="74166" y="229400"/>
                    </a:cubicBezTo>
                    <a:cubicBezTo>
                      <a:pt x="52121" y="242830"/>
                      <a:pt x="26875" y="217599"/>
                      <a:pt x="40305" y="195539"/>
                    </a:cubicBezTo>
                    <a:cubicBezTo>
                      <a:pt x="44394" y="188826"/>
                      <a:pt x="45033" y="180564"/>
                      <a:pt x="42026" y="173302"/>
                    </a:cubicBezTo>
                    <a:cubicBezTo>
                      <a:pt x="39019" y="166040"/>
                      <a:pt x="32727" y="160649"/>
                      <a:pt x="25089" y="158791"/>
                    </a:cubicBezTo>
                    <a:cubicBezTo>
                      <a:pt x="0" y="152705"/>
                      <a:pt x="0" y="117015"/>
                      <a:pt x="25089" y="110928"/>
                    </a:cubicBezTo>
                    <a:cubicBezTo>
                      <a:pt x="32734" y="109076"/>
                      <a:pt x="39034" y="103684"/>
                      <a:pt x="42044" y="96417"/>
                    </a:cubicBezTo>
                    <a:cubicBezTo>
                      <a:pt x="45055" y="89150"/>
                      <a:pt x="44414" y="80882"/>
                      <a:pt x="40319" y="74166"/>
                    </a:cubicBezTo>
                    <a:cubicBezTo>
                      <a:pt x="26889" y="52121"/>
                      <a:pt x="52121" y="26875"/>
                      <a:pt x="74181" y="40305"/>
                    </a:cubicBezTo>
                    <a:cubicBezTo>
                      <a:pt x="88468" y="48992"/>
                      <a:pt x="106985" y="41305"/>
                      <a:pt x="110928" y="25089"/>
                    </a:cubicBezTo>
                  </a:path>
                </a:pathLst>
              </a:custGeom>
              <a:noFill/>
              <a:ln w="28575">
                <a:solidFill>
                  <a:srgbClr val="C4472E"/>
                </a:solidFill>
              </a:ln>
            </p:spPr>
          </p:sp>
          <p:sp>
            <p:nvSpPr>
              <p:cNvPr id="242" name="Freeform 242"/>
              <p:cNvSpPr/>
              <p:nvPr/>
            </p:nvSpPr>
            <p:spPr>
              <a:xfrm>
                <a:off x="8662988" y="58245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28575">
                <a:solidFill>
                  <a:srgbClr val="C4472E"/>
                </a:solidFill>
              </a:ln>
            </p:spPr>
          </p:sp>
        </p:grpSp>
        <p:sp>
          <p:nvSpPr>
            <p:cNvPr id="244" name="TextBox 244"/>
            <p:cNvSpPr txBox="1"/>
            <p:nvPr/>
          </p:nvSpPr>
          <p:spPr>
            <a:xfrm>
              <a:off x="9024938" y="5511641"/>
              <a:ext cx="196070" cy="161925"/>
            </a:xfrm>
            <a:prstGeom prst="rect">
              <a:avLst/>
            </a:prstGeom>
            <a:noFill/>
            <a:ln>
              <a:noFill/>
            </a:ln>
          </p:spPr>
          <p:txBody>
            <a:bodyPr wrap="none" lIns="0" tIns="0" rIns="0" bIns="0" anchor="t" anchorCtr="0">
              <a:spAutoFit/>
            </a:bodyPr>
            <a:lstStyle/>
            <a:p>
              <a:pPr algn="l"/>
              <a:r>
                <a:rPr lang="zh-CN" sz="820" b="1" dirty="0">
                  <a:solidFill>
                    <a:srgbClr val="C4472E"/>
                  </a:solidFill>
                  <a:latin typeface="+mj-lt"/>
                  <a:ea typeface="+mj-ea"/>
                  <a:cs typeface="+mj-cs"/>
                </a:rPr>
                <a:t>04​</a:t>
              </a:r>
            </a:p>
          </p:txBody>
        </p:sp>
        <p:sp>
          <p:nvSpPr>
            <p:cNvPr id="245" name="TextBox 245"/>
            <p:cNvSpPr txBox="1"/>
            <p:nvPr/>
          </p:nvSpPr>
          <p:spPr>
            <a:xfrm>
              <a:off x="9253538" y="5503545"/>
              <a:ext cx="736473" cy="176212"/>
            </a:xfrm>
            <a:prstGeom prst="rect">
              <a:avLst/>
            </a:prstGeom>
            <a:noFill/>
            <a:ln>
              <a:noFill/>
            </a:ln>
          </p:spPr>
          <p:txBody>
            <a:bodyPr wrap="none" lIns="0" tIns="0" rIns="0" bIns="0" anchor="t" anchorCtr="0">
              <a:spAutoFit/>
            </a:bodyPr>
            <a:lstStyle/>
            <a:p>
              <a:pPr algn="l"/>
              <a:r>
                <a:rPr lang="zh-CN" sz="900" b="1" dirty="0">
                  <a:solidFill>
                    <a:srgbClr val="3E1810"/>
                  </a:solidFill>
                  <a:latin typeface="+mn-lt"/>
                  <a:ea typeface="+mn-ea"/>
                  <a:cs typeface="+mn-cs"/>
                </a:rPr>
                <a:t>模型校准效果</a:t>
              </a:r>
            </a:p>
          </p:txBody>
        </p:sp>
        <p:sp>
          <p:nvSpPr>
            <p:cNvPr id="246" name="TextBox 246"/>
            <p:cNvSpPr txBox="1"/>
            <p:nvPr/>
          </p:nvSpPr>
          <p:spPr>
            <a:xfrm>
              <a:off x="9024938" y="5737384"/>
              <a:ext cx="1477645" cy="276225"/>
            </a:xfrm>
            <a:prstGeom prst="rect">
              <a:avLst/>
            </a:prstGeom>
            <a:noFill/>
            <a:ln>
              <a:noFill/>
            </a:ln>
          </p:spPr>
          <p:txBody>
            <a:bodyPr wrap="none" lIns="0" tIns="0" rIns="0" bIns="0" anchor="t" anchorCtr="0">
              <a:spAutoFit/>
            </a:bodyPr>
            <a:lstStyle/>
            <a:p>
              <a:pPr algn="l">
                <a:lnSpc>
                  <a:spcPts val="1125"/>
                </a:lnSpc>
              </a:pPr>
              <a:r>
                <a:rPr lang="zh-CN" sz="680" dirty="0">
                  <a:solidFill>
                    <a:srgbClr val="5C3A33"/>
                  </a:solidFill>
                  <a:latin typeface="+mn-lt"/>
                  <a:ea typeface="+mn-ea"/>
                  <a:cs typeface="+mn-cs"/>
                </a:rPr>
                <a:t>将实际迁徙矩阵与模型预测结果对比，</a:t>
              </a:r>
              <a:br/>
              <a:r>
                <a:rPr lang="zh-CN" sz="680" dirty="0">
                  <a:solidFill>
                    <a:srgbClr val="5C3A33"/>
                  </a:solidFill>
                  <a:latin typeface="+mn-lt"/>
                  <a:ea typeface="+mn-ea"/>
                  <a:cs typeface="+mn-cs"/>
                </a:rPr>
                <a:t>评估和优化信用评级模型的准确性。</a:t>
              </a:r>
            </a:p>
          </p:txBody>
        </p:sp>
      </p:grpSp>
      <p:grpSp>
        <p:nvGrpSpPr>
          <p:cNvPr id="253" name="footer"/>
          <p:cNvGrpSpPr/>
          <p:nvPr/>
        </p:nvGrpSpPr>
        <p:grpSpPr>
          <a:xfrm>
            <a:off x="0" y="6648450"/>
            <a:ext cx="12192000" cy="222886"/>
            <a:chOff x="0" y="6648450"/>
            <a:chExt cx="12192000" cy="222886"/>
          </a:xfrm>
        </p:grpSpPr>
        <p:sp>
          <p:nvSpPr>
            <p:cNvPr id="248" name="Rectangle 248"/>
            <p:cNvSpPr/>
            <p:nvPr/>
          </p:nvSpPr>
          <p:spPr>
            <a:xfrm>
              <a:off x="0" y="6648450"/>
              <a:ext cx="12192000" cy="209550"/>
            </a:xfrm>
            <a:prstGeom prst="rect">
              <a:avLst/>
            </a:prstGeom>
            <a:solidFill>
              <a:srgbClr val="DDECF9"/>
            </a:solidFill>
            <a:ln>
              <a:noFill/>
            </a:ln>
          </p:spPr>
        </p:sp>
        <p:sp>
          <p:nvSpPr>
            <p:cNvPr id="249" name="TextBox 249"/>
            <p:cNvSpPr txBox="1"/>
            <p:nvPr/>
          </p:nvSpPr>
          <p:spPr>
            <a:xfrm>
              <a:off x="223838" y="6676311"/>
              <a:ext cx="889580" cy="140494"/>
            </a:xfrm>
            <a:prstGeom prst="rect">
              <a:avLst/>
            </a:prstGeom>
            <a:noFill/>
            <a:ln>
              <a:noFill/>
            </a:ln>
          </p:spPr>
          <p:txBody>
            <a:bodyPr wrap="none" lIns="0" tIns="0" rIns="0" bIns="0" anchor="t" anchorCtr="0">
              <a:spAutoFit/>
            </a:bodyPr>
            <a:lstStyle/>
            <a:p>
              <a:pPr algn="l"/>
              <a:r>
                <a:rPr lang="zh-CN" sz="710" b="1" dirty="0">
                  <a:solidFill>
                    <a:srgbClr val="96574A"/>
                  </a:solidFill>
                  <a:latin typeface="+mn-lt"/>
                  <a:ea typeface="+mn-ea"/>
                  <a:cs typeface="+mn-cs"/>
                </a:rPr>
                <a:t>稳健经营 · 专业致远</a:t>
              </a:r>
            </a:p>
          </p:txBody>
        </p:sp>
        <p:sp>
          <p:nvSpPr>
            <p:cNvPr id="250" name="TextBox 250"/>
            <p:cNvSpPr txBox="1"/>
            <p:nvPr/>
          </p:nvSpPr>
          <p:spPr>
            <a:xfrm>
              <a:off x="223838" y="6780848"/>
              <a:ext cx="1634291" cy="90488"/>
            </a:xfrm>
            <a:prstGeom prst="rect">
              <a:avLst/>
            </a:prstGeom>
            <a:noFill/>
            <a:ln>
              <a:noFill/>
            </a:ln>
          </p:spPr>
          <p:txBody>
            <a:bodyPr wrap="none" lIns="0" tIns="0" rIns="0" bIns="0" anchor="t" anchorCtr="0">
              <a:spAutoFit/>
            </a:bodyPr>
            <a:lstStyle/>
            <a:p>
              <a:pPr algn="l"/>
              <a:r>
                <a:rPr lang="en-US" sz="450" dirty="0">
                  <a:solidFill>
                    <a:srgbClr val="C4988F"/>
                  </a:solidFill>
                  <a:latin typeface="+mj-lt"/>
                  <a:ea typeface="+mj-ea"/>
                  <a:cs typeface="+mj-cs"/>
                </a:rPr>
                <a:t>PRUDENT BANKING FOR A BRIGHTER TOMORROW​</a:t>
              </a:r>
            </a:p>
          </p:txBody>
        </p:sp>
        <p:sp>
          <p:nvSpPr>
            <p:cNvPr id="251" name="TextBox 251"/>
            <p:cNvSpPr txBox="1"/>
            <p:nvPr/>
          </p:nvSpPr>
          <p:spPr>
            <a:xfrm>
              <a:off x="10696262" y="6676311"/>
              <a:ext cx="1271900" cy="140494"/>
            </a:xfrm>
            <a:prstGeom prst="rect">
              <a:avLst/>
            </a:prstGeom>
            <a:noFill/>
            <a:ln>
              <a:noFill/>
            </a:ln>
          </p:spPr>
          <p:txBody>
            <a:bodyPr wrap="none" lIns="0" tIns="0" rIns="0" bIns="0" anchor="t" anchorCtr="0">
              <a:spAutoFit/>
            </a:bodyPr>
            <a:lstStyle/>
            <a:p>
              <a:pPr algn="r"/>
              <a:r>
                <a:rPr lang="zh-CN" sz="710" b="1" dirty="0">
                  <a:solidFill>
                    <a:srgbClr val="96574A"/>
                  </a:solidFill>
                  <a:latin typeface="+mn-lt"/>
                  <a:ea typeface="+mn-ea"/>
                  <a:cs typeface="+mn-cs"/>
                </a:rPr>
                <a:t>金融向善 · 与实体经济共成长</a:t>
              </a:r>
            </a:p>
          </p:txBody>
        </p:sp>
        <p:sp>
          <p:nvSpPr>
            <p:cNvPr id="252" name="TextBox 252"/>
            <p:cNvSpPr txBox="1"/>
            <p:nvPr/>
          </p:nvSpPr>
          <p:spPr>
            <a:xfrm>
              <a:off x="10625338" y="6780848"/>
              <a:ext cx="1342824" cy="90488"/>
            </a:xfrm>
            <a:prstGeom prst="rect">
              <a:avLst/>
            </a:prstGeom>
            <a:noFill/>
            <a:ln>
              <a:noFill/>
            </a:ln>
          </p:spPr>
          <p:txBody>
            <a:bodyPr wrap="none" lIns="0" tIns="0" rIns="0" bIns="0" anchor="t" anchorCtr="0">
              <a:spAutoFit/>
            </a:bodyPr>
            <a:lstStyle/>
            <a:p>
              <a:pPr algn="r"/>
              <a:r>
                <a:rPr lang="en-US" sz="450" dirty="0">
                  <a:solidFill>
                    <a:srgbClr val="C4988F"/>
                  </a:solidFill>
                  <a:latin typeface="+mj-lt"/>
                  <a:ea typeface="+mj-ea"/>
                  <a:cs typeface="+mj-cs"/>
                </a:rPr>
                <a:t>FINANCE FOR A BETTER REAL ECONOMY​</a:t>
              </a:r>
            </a:p>
          </p:txBody>
        </p:sp>
      </p:gr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9" name="header"/>
          <p:cNvGrpSpPr/>
          <p:nvPr/>
        </p:nvGrpSpPr>
        <p:grpSpPr>
          <a:xfrm>
            <a:off x="0" y="0"/>
            <a:ext cx="12025313" cy="542925"/>
            <a:chOff x="0" y="0"/>
            <a:chExt cx="12025313"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472E"/>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07</a:t>
              </a:r>
            </a:p>
          </p:txBody>
        </p:sp>
        <p:sp>
          <p:nvSpPr>
            <p:cNvPr id="4" name="TextBox 4"/>
            <p:cNvSpPr txBox="1"/>
            <p:nvPr/>
          </p:nvSpPr>
          <p:spPr>
            <a:xfrm>
              <a:off x="942594" y="151448"/>
              <a:ext cx="3625596" cy="381381"/>
            </a:xfrm>
            <a:prstGeom prst="rect">
              <a:avLst/>
            </a:prstGeom>
            <a:noFill/>
            <a:ln>
              <a:noFill/>
            </a:ln>
          </p:spPr>
          <p:txBody>
            <a:bodyPr wrap="none" lIns="0" tIns="0" rIns="0" bIns="0" anchor="t" anchorCtr="0">
              <a:spAutoFit/>
            </a:bodyPr>
            <a:lstStyle/>
            <a:p>
              <a:pPr algn="l"/>
              <a:r>
                <a:rPr lang="zh-CN" sz="1950" b="1" dirty="0">
                  <a:solidFill>
                    <a:srgbClr val="3E1810"/>
                  </a:solidFill>
                  <a:latin typeface="SimSun"/>
                  <a:ea typeface="SimSun"/>
                  <a:cs typeface="SimSun"/>
                </a:rPr>
                <a:t>压力测试：从情景到</a:t>
              </a:r>
              <a:r>
                <a:rPr lang="zh-CN" sz="1950" b="1" dirty="0">
                  <a:solidFill>
                    <a:srgbClr val="C4472E"/>
                  </a:solidFill>
                  <a:latin typeface="SimSun"/>
                  <a:ea typeface="SimSun"/>
                  <a:cs typeface="SimSun"/>
                </a:rPr>
                <a:t>资本影响</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C4472E"/>
              </a:solidFill>
            </a:ln>
          </p:spPr>
        </p:sp>
        <p:sp>
          <p:nvSpPr>
            <p:cNvPr id="6" name="TextBox 6"/>
            <p:cNvSpPr txBox="1"/>
            <p:nvPr/>
          </p:nvSpPr>
          <p:spPr>
            <a:xfrm>
              <a:off x="10447444" y="63341"/>
              <a:ext cx="1577868" cy="161925"/>
            </a:xfrm>
            <a:prstGeom prst="rect">
              <a:avLst/>
            </a:prstGeom>
            <a:noFill/>
            <a:ln>
              <a:noFill/>
            </a:ln>
          </p:spPr>
          <p:txBody>
            <a:bodyPr wrap="none" lIns="0" tIns="0" rIns="0" bIns="0" anchor="t" anchorCtr="0">
              <a:spAutoFit/>
            </a:bodyPr>
            <a:lstStyle/>
            <a:p>
              <a:pPr algn="r"/>
              <a:r>
                <a:rPr lang="zh-CN" sz="820" b="1" dirty="0">
                  <a:solidFill>
                    <a:srgbClr val="9E311B"/>
                  </a:solidFill>
                  <a:latin typeface="+mn-lt"/>
                  <a:ea typeface="+mn-ea"/>
                  <a:cs typeface="+mn-cs"/>
                </a:rPr>
                <a:t>以压力测试 · 构筑更稳健的未来</a:t>
              </a:r>
            </a:p>
          </p:txBody>
        </p:sp>
        <p:sp>
          <p:nvSpPr>
            <p:cNvPr id="7" name="TextBox 7"/>
            <p:cNvSpPr txBox="1"/>
            <p:nvPr/>
          </p:nvSpPr>
          <p:spPr>
            <a:xfrm>
              <a:off x="10882826" y="255032"/>
              <a:ext cx="1142487" cy="126206"/>
            </a:xfrm>
            <a:prstGeom prst="rect">
              <a:avLst/>
            </a:prstGeom>
            <a:noFill/>
            <a:ln>
              <a:noFill/>
            </a:ln>
          </p:spPr>
          <p:txBody>
            <a:bodyPr wrap="none" lIns="0" tIns="0" rIns="0" bIns="0" anchor="t" anchorCtr="0">
              <a:spAutoFit/>
            </a:bodyPr>
            <a:lstStyle/>
            <a:p>
              <a:pPr algn="r"/>
              <a:r>
                <a:rPr lang="zh-CN" sz="640" dirty="0">
                  <a:solidFill>
                    <a:srgbClr val="8C716B"/>
                  </a:solidFill>
                  <a:latin typeface="+mn-lt"/>
                  <a:ea typeface="+mn-ea"/>
                  <a:cs typeface="+mn-cs"/>
                </a:rPr>
                <a:t>数据驱动风险 · 专业创造价值</a:t>
              </a:r>
            </a:p>
          </p:txBody>
        </p:sp>
        <p:sp>
          <p:nvSpPr>
            <p:cNvPr id="8" name="TextBox 8"/>
            <p:cNvSpPr txBox="1"/>
            <p:nvPr/>
          </p:nvSpPr>
          <p:spPr>
            <a:xfrm>
              <a:off x="10503993" y="407432"/>
              <a:ext cx="1521320" cy="126206"/>
            </a:xfrm>
            <a:prstGeom prst="rect">
              <a:avLst/>
            </a:prstGeom>
            <a:noFill/>
            <a:ln>
              <a:noFill/>
            </a:ln>
          </p:spPr>
          <p:txBody>
            <a:bodyPr wrap="none" lIns="0" tIns="0" rIns="0" bIns="0" anchor="t" anchorCtr="0">
              <a:spAutoFit/>
            </a:bodyPr>
            <a:lstStyle/>
            <a:p>
              <a:pPr algn="r"/>
              <a:r>
                <a:rPr lang="en-US" sz="640" dirty="0">
                  <a:solidFill>
                    <a:srgbClr val="8C716B"/>
                  </a:solidFill>
                  <a:latin typeface="+mj-lt"/>
                  <a:ea typeface="+mj-ea"/>
                  <a:cs typeface="+mj-cs"/>
                </a:rPr>
                <a:t>BETTER RISK · BETTER FINANCE​</a:t>
              </a:r>
            </a:p>
          </p:txBody>
        </p:sp>
      </p:grpSp>
      <p:grpSp>
        <p:nvGrpSpPr>
          <p:cNvPr id="11" name="intro"/>
          <p:cNvGrpSpPr/>
          <p:nvPr/>
        </p:nvGrpSpPr>
        <p:grpSpPr>
          <a:xfrm>
            <a:off x="2953918" y="648414"/>
            <a:ext cx="6284163" cy="154781"/>
            <a:chOff x="2953918" y="648414"/>
            <a:chExt cx="6284163" cy="154781"/>
          </a:xfrm>
        </p:grpSpPr>
        <p:sp>
          <p:nvSpPr>
            <p:cNvPr id="10" name="TextBox 10"/>
            <p:cNvSpPr txBox="1"/>
            <p:nvPr/>
          </p:nvSpPr>
          <p:spPr>
            <a:xfrm>
              <a:off x="2953918" y="648414"/>
              <a:ext cx="6284163" cy="154781"/>
            </a:xfrm>
            <a:prstGeom prst="rect">
              <a:avLst/>
            </a:prstGeom>
            <a:noFill/>
            <a:ln>
              <a:noFill/>
            </a:ln>
          </p:spPr>
          <p:txBody>
            <a:bodyPr wrap="none" lIns="0" tIns="0" rIns="0" bIns="0" anchor="t" anchorCtr="0">
              <a:spAutoFit/>
            </a:bodyPr>
            <a:lstStyle/>
            <a:p>
              <a:pPr algn="ctr"/>
              <a:r>
                <a:rPr lang="zh-CN" sz="790" dirty="0">
                  <a:solidFill>
                    <a:srgbClr val="8C716B"/>
                  </a:solidFill>
                  <a:latin typeface="+mn-lt"/>
                  <a:ea typeface="+mn-ea"/>
                  <a:cs typeface="+mn-cs"/>
                </a:rPr>
                <a:t>通过设定宏观经济情景，评估风险冲击在实体经济和企业层面的传导，量化违约损失与风险加权资产变化，进而衡量对银行资本的影响</a:t>
              </a:r>
            </a:p>
          </p:txBody>
        </p:sp>
      </p:grpSp>
      <p:grpSp>
        <p:nvGrpSpPr>
          <p:cNvPr id="14" name="notice-bar"/>
          <p:cNvGrpSpPr/>
          <p:nvPr/>
        </p:nvGrpSpPr>
        <p:grpSpPr>
          <a:xfrm>
            <a:off x="3238500" y="847725"/>
            <a:ext cx="5715000" cy="193834"/>
            <a:chOff x="3238500" y="847725"/>
            <a:chExt cx="5715000" cy="193834"/>
          </a:xfrm>
        </p:grpSpPr>
        <p:sp>
          <p:nvSpPr>
            <p:cNvPr id="12" name="Rectangle 12"/>
            <p:cNvSpPr/>
            <p:nvPr/>
          </p:nvSpPr>
          <p:spPr>
            <a:xfrm>
              <a:off x="3238500" y="847725"/>
              <a:ext cx="5715000" cy="190500"/>
            </a:xfrm>
            <a:prstGeom prst="roundRect">
              <a:avLst>
                <a:gd name="adj" fmla="val 50000"/>
              </a:avLst>
            </a:prstGeom>
            <a:solidFill>
              <a:srgbClr val="EAF3FB"/>
            </a:solidFill>
            <a:ln w="9525">
              <a:solidFill>
                <a:srgbClr val="CFE2F2"/>
              </a:solidFill>
            </a:ln>
          </p:spPr>
        </p:sp>
        <p:sp>
          <p:nvSpPr>
            <p:cNvPr id="13" name="TextBox 13"/>
            <p:cNvSpPr txBox="1"/>
            <p:nvPr/>
          </p:nvSpPr>
          <p:spPr>
            <a:xfrm>
              <a:off x="4351947" y="908209"/>
              <a:ext cx="3488106" cy="133350"/>
            </a:xfrm>
            <a:prstGeom prst="rect">
              <a:avLst/>
            </a:prstGeom>
            <a:noFill/>
            <a:ln>
              <a:noFill/>
            </a:ln>
          </p:spPr>
          <p:txBody>
            <a:bodyPr wrap="none" lIns="0" tIns="0" rIns="0" bIns="0" anchor="t" anchorCtr="0">
              <a:spAutoFit/>
            </a:bodyPr>
            <a:lstStyle/>
            <a:p>
              <a:pPr algn="ctr"/>
              <a:r>
                <a:rPr lang="zh-CN" sz="680" dirty="0">
                  <a:solidFill>
                    <a:srgbClr val="96574A"/>
                  </a:solidFill>
                  <a:latin typeface="+mn-lt"/>
                  <a:ea typeface="+mn-ea"/>
                  <a:cs typeface="+mn-cs"/>
                </a:rPr>
                <a:t>本图为教学示意图，仅用于说明压力测试的一般逻辑，不代表任何机构的实际测算结果</a:t>
              </a:r>
            </a:p>
          </p:txBody>
        </p:sp>
      </p:grpSp>
      <p:grpSp>
        <p:nvGrpSpPr>
          <p:cNvPr id="17" name="chain-banner"/>
          <p:cNvGrpSpPr/>
          <p:nvPr/>
        </p:nvGrpSpPr>
        <p:grpSpPr>
          <a:xfrm>
            <a:off x="3143250" y="1123950"/>
            <a:ext cx="6000750" cy="247650"/>
            <a:chOff x="3143250" y="1123950"/>
            <a:chExt cx="6000750" cy="247650"/>
          </a:xfrm>
        </p:grpSpPr>
        <p:sp>
          <p:nvSpPr>
            <p:cNvPr id="15" name="Polygon 15"/>
            <p:cNvSpPr/>
            <p:nvPr/>
          </p:nvSpPr>
          <p:spPr>
            <a:xfrm>
              <a:off x="3143250" y="1123950"/>
              <a:ext cx="6000750" cy="247650"/>
            </a:xfrm>
            <a:custGeom>
              <a:avLst/>
              <a:gdLst/>
              <a:ahLst/>
              <a:cxnLst/>
              <a:rect l="l" t="t" r="r" b="b"/>
              <a:pathLst>
                <a:path w="6000750" h="247650">
                  <a:moveTo>
                    <a:pt x="0" y="0"/>
                  </a:moveTo>
                  <a:lnTo>
                    <a:pt x="5867400" y="0"/>
                  </a:lnTo>
                  <a:lnTo>
                    <a:pt x="6000750" y="123825"/>
                  </a:lnTo>
                  <a:lnTo>
                    <a:pt x="5867400" y="247650"/>
                  </a:lnTo>
                  <a:lnTo>
                    <a:pt x="0" y="247650"/>
                  </a:lnTo>
                  <a:close/>
                </a:path>
              </a:pathLst>
            </a:custGeom>
            <a:gradFill>
              <a:gsLst>
                <a:gs pos="0">
                  <a:srgbClr val="9E311B"/>
                </a:gs>
                <a:gs pos="100000">
                  <a:srgbClr val="C4472E"/>
                </a:gs>
              </a:gsLst>
              <a:lin ang="0" scaled="1"/>
            </a:gradFill>
            <a:ln>
              <a:noFill/>
            </a:ln>
          </p:spPr>
        </p:sp>
        <p:sp>
          <p:nvSpPr>
            <p:cNvPr id="16" name="TextBox 16"/>
            <p:cNvSpPr txBox="1"/>
            <p:nvPr/>
          </p:nvSpPr>
          <p:spPr>
            <a:xfrm>
              <a:off x="4873434" y="1184672"/>
              <a:ext cx="254038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压力测试的传导链条：从宏观情景到资本影响</a:t>
              </a:r>
            </a:p>
          </p:txBody>
        </p:sp>
      </p:grpSp>
      <p:sp>
        <p:nvSpPr>
          <p:cNvPr id="18" name="chain-arrow-1"/>
          <p:cNvSpPr/>
          <p:nvPr/>
        </p:nvSpPr>
        <p:spPr>
          <a:xfrm>
            <a:off x="2038350" y="2686050"/>
            <a:ext cx="114300" cy="152400"/>
          </a:xfrm>
          <a:custGeom>
            <a:avLst/>
            <a:gdLst/>
            <a:ahLst/>
            <a:cxnLst/>
            <a:rect l="l" t="t" r="r" b="b"/>
            <a:pathLst>
              <a:path w="114300" h="152400">
                <a:moveTo>
                  <a:pt x="0" y="0"/>
                </a:moveTo>
                <a:lnTo>
                  <a:pt x="114300" y="76200"/>
                </a:lnTo>
                <a:lnTo>
                  <a:pt x="0" y="152400"/>
                </a:lnTo>
                <a:close/>
              </a:path>
            </a:pathLst>
          </a:custGeom>
          <a:solidFill>
            <a:srgbClr val="C4472E"/>
          </a:solidFill>
          <a:ln>
            <a:noFill/>
          </a:ln>
        </p:spPr>
      </p:sp>
      <p:sp>
        <p:nvSpPr>
          <p:cNvPr id="19" name="chain-arrow-2"/>
          <p:cNvSpPr/>
          <p:nvPr/>
        </p:nvSpPr>
        <p:spPr>
          <a:xfrm>
            <a:off x="4057650" y="2686050"/>
            <a:ext cx="114300" cy="152400"/>
          </a:xfrm>
          <a:custGeom>
            <a:avLst/>
            <a:gdLst/>
            <a:ahLst/>
            <a:cxnLst/>
            <a:rect l="l" t="t" r="r" b="b"/>
            <a:pathLst>
              <a:path w="114300" h="152400">
                <a:moveTo>
                  <a:pt x="0" y="0"/>
                </a:moveTo>
                <a:lnTo>
                  <a:pt x="114300" y="76200"/>
                </a:lnTo>
                <a:lnTo>
                  <a:pt x="0" y="152400"/>
                </a:lnTo>
                <a:close/>
              </a:path>
            </a:pathLst>
          </a:custGeom>
          <a:solidFill>
            <a:srgbClr val="C4472E"/>
          </a:solidFill>
          <a:ln>
            <a:noFill/>
          </a:ln>
        </p:spPr>
      </p:sp>
      <p:sp>
        <p:nvSpPr>
          <p:cNvPr id="20" name="chain-arrow-3"/>
          <p:cNvSpPr/>
          <p:nvPr/>
        </p:nvSpPr>
        <p:spPr>
          <a:xfrm>
            <a:off x="6076950" y="2686050"/>
            <a:ext cx="114300" cy="152400"/>
          </a:xfrm>
          <a:custGeom>
            <a:avLst/>
            <a:gdLst/>
            <a:ahLst/>
            <a:cxnLst/>
            <a:rect l="l" t="t" r="r" b="b"/>
            <a:pathLst>
              <a:path w="114300" h="152400">
                <a:moveTo>
                  <a:pt x="0" y="0"/>
                </a:moveTo>
                <a:lnTo>
                  <a:pt x="114300" y="76200"/>
                </a:lnTo>
                <a:lnTo>
                  <a:pt x="0" y="152400"/>
                </a:lnTo>
                <a:close/>
              </a:path>
            </a:pathLst>
          </a:custGeom>
          <a:solidFill>
            <a:srgbClr val="C4472E"/>
          </a:solidFill>
          <a:ln>
            <a:noFill/>
          </a:ln>
        </p:spPr>
      </p:sp>
      <p:sp>
        <p:nvSpPr>
          <p:cNvPr id="21" name="chain-arrow-4"/>
          <p:cNvSpPr/>
          <p:nvPr/>
        </p:nvSpPr>
        <p:spPr>
          <a:xfrm>
            <a:off x="8096250" y="2686050"/>
            <a:ext cx="114300" cy="152400"/>
          </a:xfrm>
          <a:custGeom>
            <a:avLst/>
            <a:gdLst/>
            <a:ahLst/>
            <a:cxnLst/>
            <a:rect l="l" t="t" r="r" b="b"/>
            <a:pathLst>
              <a:path w="114300" h="152400">
                <a:moveTo>
                  <a:pt x="0" y="0"/>
                </a:moveTo>
                <a:lnTo>
                  <a:pt x="114300" y="76200"/>
                </a:lnTo>
                <a:lnTo>
                  <a:pt x="0" y="152400"/>
                </a:lnTo>
                <a:close/>
              </a:path>
            </a:pathLst>
          </a:custGeom>
          <a:solidFill>
            <a:srgbClr val="C4472E"/>
          </a:solidFill>
          <a:ln>
            <a:noFill/>
          </a:ln>
        </p:spPr>
      </p:sp>
      <p:sp>
        <p:nvSpPr>
          <p:cNvPr id="22" name="chain-arrow-5"/>
          <p:cNvSpPr/>
          <p:nvPr/>
        </p:nvSpPr>
        <p:spPr>
          <a:xfrm>
            <a:off x="10115550" y="2686050"/>
            <a:ext cx="114300" cy="152400"/>
          </a:xfrm>
          <a:custGeom>
            <a:avLst/>
            <a:gdLst/>
            <a:ahLst/>
            <a:cxnLst/>
            <a:rect l="l" t="t" r="r" b="b"/>
            <a:pathLst>
              <a:path w="114300" h="152400">
                <a:moveTo>
                  <a:pt x="0" y="0"/>
                </a:moveTo>
                <a:lnTo>
                  <a:pt x="114300" y="76200"/>
                </a:lnTo>
                <a:lnTo>
                  <a:pt x="0" y="152400"/>
                </a:lnTo>
                <a:close/>
              </a:path>
            </a:pathLst>
          </a:custGeom>
          <a:solidFill>
            <a:srgbClr val="C4472E"/>
          </a:solidFill>
          <a:ln>
            <a:noFill/>
          </a:ln>
        </p:spPr>
      </p:sp>
      <p:grpSp>
        <p:nvGrpSpPr>
          <p:cNvPr id="38" name="chain-01"/>
          <p:cNvGrpSpPr/>
          <p:nvPr/>
        </p:nvGrpSpPr>
        <p:grpSpPr>
          <a:xfrm>
            <a:off x="190500" y="1428750"/>
            <a:ext cx="1809750" cy="2667000"/>
            <a:chOff x="190500" y="1428750"/>
            <a:chExt cx="1809750" cy="2667000"/>
          </a:xfrm>
        </p:grpSpPr>
        <p:sp>
          <p:nvSpPr>
            <p:cNvPr id="23" name="Rectangle 23"/>
            <p:cNvSpPr/>
            <p:nvPr/>
          </p:nvSpPr>
          <p:spPr>
            <a:xfrm>
              <a:off x="190500" y="1428750"/>
              <a:ext cx="1809750" cy="2667000"/>
            </a:xfrm>
            <a:prstGeom prst="roundRect">
              <a:avLst>
                <a:gd name="adj" fmla="val 4211"/>
              </a:avLst>
            </a:prstGeom>
            <a:solidFill>
              <a:srgbClr val="F4F9FD"/>
            </a:solidFill>
            <a:ln w="9525">
              <a:solidFill>
                <a:srgbClr val="CFE2F2"/>
              </a:solidFill>
            </a:ln>
          </p:spPr>
        </p:sp>
        <p:sp>
          <p:nvSpPr>
            <p:cNvPr id="24" name="Ellipse 24"/>
            <p:cNvSpPr/>
            <p:nvPr/>
          </p:nvSpPr>
          <p:spPr>
            <a:xfrm>
              <a:off x="295275" y="1514475"/>
              <a:ext cx="171450" cy="171450"/>
            </a:xfrm>
            <a:prstGeom prst="ellipse">
              <a:avLst/>
            </a:prstGeom>
            <a:solidFill>
              <a:srgbClr val="C4472E"/>
            </a:solidFill>
            <a:ln>
              <a:noFill/>
            </a:ln>
          </p:spPr>
        </p:sp>
        <p:sp>
          <p:nvSpPr>
            <p:cNvPr id="25" name="TextBox 25"/>
            <p:cNvSpPr txBox="1"/>
            <p:nvPr/>
          </p:nvSpPr>
          <p:spPr>
            <a:xfrm>
              <a:off x="298889" y="1560671"/>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01​</a:t>
              </a:r>
            </a:p>
          </p:txBody>
        </p:sp>
        <p:sp>
          <p:nvSpPr>
            <p:cNvPr id="26" name="TextBox 26"/>
            <p:cNvSpPr txBox="1"/>
            <p:nvPr/>
          </p:nvSpPr>
          <p:spPr>
            <a:xfrm>
              <a:off x="528638" y="1553289"/>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宏观情景</a:t>
              </a:r>
            </a:p>
          </p:txBody>
        </p:sp>
        <p:sp>
          <p:nvSpPr>
            <p:cNvPr id="27" name="TextBox 27"/>
            <p:cNvSpPr txBox="1"/>
            <p:nvPr/>
          </p:nvSpPr>
          <p:spPr>
            <a:xfrm>
              <a:off x="300038" y="1764030"/>
              <a:ext cx="898017"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设定不同的宏观经济情景</a:t>
              </a:r>
            </a:p>
          </p:txBody>
        </p:sp>
        <p:grpSp>
          <p:nvGrpSpPr>
            <p:cNvPr id="30" name="Group 30"/>
            <p:cNvGrpSpPr/>
            <p:nvPr/>
          </p:nvGrpSpPr>
          <p:grpSpPr>
            <a:xfrm>
              <a:off x="968375" y="2038350"/>
              <a:ext cx="254001" cy="215901"/>
              <a:chOff x="968375" y="2038350"/>
              <a:chExt cx="254001" cy="215901"/>
            </a:xfrm>
          </p:grpSpPr>
          <p:sp>
            <p:nvSpPr>
              <p:cNvPr id="28" name="Freeform 28"/>
              <p:cNvSpPr/>
              <p:nvPr/>
            </p:nvSpPr>
            <p:spPr>
              <a:xfrm>
                <a:off x="968375" y="2244726"/>
                <a:ext cx="254001" cy="9525"/>
              </a:xfrm>
              <a:custGeom>
                <a:avLst/>
                <a:gdLst/>
                <a:ahLst/>
                <a:cxnLst/>
                <a:rect l="l" t="t" r="r" b="b"/>
                <a:pathLst>
                  <a:path w="254001" h="9525">
                    <a:moveTo>
                      <a:pt x="0" y="0"/>
                    </a:moveTo>
                    <a:lnTo>
                      <a:pt x="254001" y="0"/>
                    </a:lnTo>
                  </a:path>
                </a:pathLst>
              </a:custGeom>
              <a:noFill/>
              <a:ln w="31750">
                <a:solidFill>
                  <a:srgbClr val="C4472E"/>
                </a:solidFill>
              </a:ln>
            </p:spPr>
          </p:sp>
          <p:sp>
            <p:nvSpPr>
              <p:cNvPr id="29" name="Freeform 29"/>
              <p:cNvSpPr/>
              <p:nvPr/>
            </p:nvSpPr>
            <p:spPr>
              <a:xfrm>
                <a:off x="968375" y="2038350"/>
                <a:ext cx="254001" cy="142875"/>
              </a:xfrm>
              <a:custGeom>
                <a:avLst/>
                <a:gdLst/>
                <a:ahLst/>
                <a:cxnLst/>
                <a:rect l="l" t="t" r="r" b="b"/>
                <a:pathLst>
                  <a:path w="254001" h="142875">
                    <a:moveTo>
                      <a:pt x="0" y="142875"/>
                    </a:moveTo>
                    <a:lnTo>
                      <a:pt x="63500" y="47625"/>
                    </a:lnTo>
                    <a:lnTo>
                      <a:pt x="127000" y="79375"/>
                    </a:lnTo>
                    <a:lnTo>
                      <a:pt x="190500" y="0"/>
                    </a:lnTo>
                    <a:lnTo>
                      <a:pt x="254001" y="63500"/>
                    </a:lnTo>
                  </a:path>
                </a:pathLst>
              </a:custGeom>
              <a:noFill/>
              <a:ln w="31750">
                <a:solidFill>
                  <a:srgbClr val="C4472E"/>
                </a:solidFill>
              </a:ln>
            </p:spPr>
          </p:sp>
        </p:grpSp>
        <p:sp>
          <p:nvSpPr>
            <p:cNvPr id="31" name="Line 31"/>
            <p:cNvSpPr/>
            <p:nvPr/>
          </p:nvSpPr>
          <p:spPr>
            <a:xfrm>
              <a:off x="304800" y="2419350"/>
              <a:ext cx="1581150" cy="9525"/>
            </a:xfrm>
            <a:custGeom>
              <a:avLst/>
              <a:gdLst/>
              <a:ahLst/>
              <a:cxnLst/>
              <a:rect l="l" t="t" r="r" b="b"/>
              <a:pathLst>
                <a:path w="1581150" h="9525">
                  <a:moveTo>
                    <a:pt x="0" y="0"/>
                  </a:moveTo>
                  <a:lnTo>
                    <a:pt x="1581150" y="0"/>
                  </a:lnTo>
                </a:path>
              </a:pathLst>
            </a:custGeom>
            <a:noFill/>
            <a:ln w="9525">
              <a:solidFill>
                <a:srgbClr val="CFE2F2"/>
              </a:solidFill>
            </a:ln>
          </p:spPr>
        </p:sp>
        <p:sp>
          <p:nvSpPr>
            <p:cNvPr id="32" name="TextBox 32"/>
            <p:cNvSpPr txBox="1"/>
            <p:nvPr/>
          </p:nvSpPr>
          <p:spPr>
            <a:xfrm>
              <a:off x="300038" y="2541032"/>
              <a:ext cx="455308"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en-US" sz="640" dirty="0">
                  <a:solidFill>
                    <a:srgbClr val="5C3A33"/>
                  </a:solidFill>
                  <a:latin typeface="+mj-lt"/>
                  <a:ea typeface="+mj-ea"/>
                  <a:cs typeface="+mj-cs"/>
                </a:rPr>
                <a:t>GDP</a:t>
              </a:r>
              <a:r>
                <a:rPr lang="zh-CN" sz="640" dirty="0">
                  <a:solidFill>
                    <a:srgbClr val="5C3A33"/>
                  </a:solidFill>
                  <a:latin typeface="+mn-lt"/>
                  <a:ea typeface="+mn-ea"/>
                  <a:cs typeface="+mn-cs"/>
                </a:rPr>
                <a:t>增速</a:t>
              </a:r>
            </a:p>
          </p:txBody>
        </p:sp>
        <p:sp>
          <p:nvSpPr>
            <p:cNvPr id="33" name="TextBox 33"/>
            <p:cNvSpPr txBox="1"/>
            <p:nvPr/>
          </p:nvSpPr>
          <p:spPr>
            <a:xfrm>
              <a:off x="300038" y="2741057"/>
              <a:ext cx="43035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利率水平</a:t>
              </a:r>
            </a:p>
          </p:txBody>
        </p:sp>
        <p:sp>
          <p:nvSpPr>
            <p:cNvPr id="34" name="TextBox 34"/>
            <p:cNvSpPr txBox="1"/>
            <p:nvPr/>
          </p:nvSpPr>
          <p:spPr>
            <a:xfrm>
              <a:off x="300038" y="2941082"/>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房地产市场</a:t>
              </a:r>
            </a:p>
          </p:txBody>
        </p:sp>
        <p:sp>
          <p:nvSpPr>
            <p:cNvPr id="35" name="TextBox 35"/>
            <p:cNvSpPr txBox="1"/>
            <p:nvPr/>
          </p:nvSpPr>
          <p:spPr>
            <a:xfrm>
              <a:off x="300038" y="3141107"/>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行业景气度</a:t>
              </a:r>
            </a:p>
          </p:txBody>
        </p:sp>
        <p:sp>
          <p:nvSpPr>
            <p:cNvPr id="36" name="TextBox 36"/>
            <p:cNvSpPr txBox="1"/>
            <p:nvPr/>
          </p:nvSpPr>
          <p:spPr>
            <a:xfrm>
              <a:off x="300038" y="3341132"/>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通胀与汇率</a:t>
              </a:r>
            </a:p>
          </p:txBody>
        </p:sp>
        <p:sp>
          <p:nvSpPr>
            <p:cNvPr id="37" name="TextBox 37"/>
            <p:cNvSpPr txBox="1"/>
            <p:nvPr/>
          </p:nvSpPr>
          <p:spPr>
            <a:xfrm>
              <a:off x="300038" y="3541157"/>
              <a:ext cx="41742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a:t>
              </a:r>
            </a:p>
          </p:txBody>
        </p:sp>
      </p:grpSp>
      <p:grpSp>
        <p:nvGrpSpPr>
          <p:cNvPr id="52" name="chain-02"/>
          <p:cNvGrpSpPr/>
          <p:nvPr/>
        </p:nvGrpSpPr>
        <p:grpSpPr>
          <a:xfrm>
            <a:off x="2209800" y="1428750"/>
            <a:ext cx="1809750" cy="2667000"/>
            <a:chOff x="2209800" y="1428750"/>
            <a:chExt cx="1809750" cy="2667000"/>
          </a:xfrm>
        </p:grpSpPr>
        <p:sp>
          <p:nvSpPr>
            <p:cNvPr id="39" name="Rectangle 39"/>
            <p:cNvSpPr/>
            <p:nvPr/>
          </p:nvSpPr>
          <p:spPr>
            <a:xfrm>
              <a:off x="2209800" y="1428750"/>
              <a:ext cx="1809750" cy="2667000"/>
            </a:xfrm>
            <a:prstGeom prst="roundRect">
              <a:avLst>
                <a:gd name="adj" fmla="val 4211"/>
              </a:avLst>
            </a:prstGeom>
            <a:solidFill>
              <a:srgbClr val="F4F9FD"/>
            </a:solidFill>
            <a:ln w="9525">
              <a:solidFill>
                <a:srgbClr val="CFE2F2"/>
              </a:solidFill>
            </a:ln>
          </p:spPr>
        </p:sp>
        <p:sp>
          <p:nvSpPr>
            <p:cNvPr id="40" name="Ellipse 40"/>
            <p:cNvSpPr/>
            <p:nvPr/>
          </p:nvSpPr>
          <p:spPr>
            <a:xfrm>
              <a:off x="2314575" y="1514475"/>
              <a:ext cx="171450" cy="171450"/>
            </a:xfrm>
            <a:prstGeom prst="ellipse">
              <a:avLst/>
            </a:prstGeom>
            <a:solidFill>
              <a:srgbClr val="C4472E"/>
            </a:solidFill>
            <a:ln>
              <a:noFill/>
            </a:ln>
          </p:spPr>
        </p:sp>
        <p:sp>
          <p:nvSpPr>
            <p:cNvPr id="41" name="TextBox 41"/>
            <p:cNvSpPr txBox="1"/>
            <p:nvPr/>
          </p:nvSpPr>
          <p:spPr>
            <a:xfrm>
              <a:off x="2318189" y="1560671"/>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02​</a:t>
              </a:r>
            </a:p>
          </p:txBody>
        </p:sp>
        <p:sp>
          <p:nvSpPr>
            <p:cNvPr id="42" name="TextBox 42"/>
            <p:cNvSpPr txBox="1"/>
            <p:nvPr/>
          </p:nvSpPr>
          <p:spPr>
            <a:xfrm>
              <a:off x="2547938" y="1553289"/>
              <a:ext cx="6476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风险因子冲击</a:t>
              </a:r>
            </a:p>
          </p:txBody>
        </p:sp>
        <p:sp>
          <p:nvSpPr>
            <p:cNvPr id="43" name="TextBox 43"/>
            <p:cNvSpPr txBox="1"/>
            <p:nvPr/>
          </p:nvSpPr>
          <p:spPr>
            <a:xfrm>
              <a:off x="2319338" y="1764030"/>
              <a:ext cx="1059561"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宏观情景转化为风险因子变化</a:t>
              </a:r>
            </a:p>
          </p:txBody>
        </p:sp>
        <p:sp>
          <p:nvSpPr>
            <p:cNvPr id="44" name="Freeform 44"/>
            <p:cNvSpPr/>
            <p:nvPr/>
          </p:nvSpPr>
          <p:spPr>
            <a:xfrm>
              <a:off x="2987675" y="2006600"/>
              <a:ext cx="254001" cy="269876"/>
            </a:xfrm>
            <a:custGeom>
              <a:avLst/>
              <a:gdLst/>
              <a:ahLst/>
              <a:cxnLst/>
              <a:rect l="l" t="t" r="r" b="b"/>
              <a:pathLst>
                <a:path w="254001" h="269876">
                  <a:moveTo>
                    <a:pt x="0" y="0"/>
                  </a:moveTo>
                  <a:lnTo>
                    <a:pt x="254001" y="0"/>
                  </a:lnTo>
                  <a:lnTo>
                    <a:pt x="254001" y="34481"/>
                  </a:lnTo>
                  <a:cubicBezTo>
                    <a:pt x="253999" y="42901"/>
                    <a:pt x="250652" y="50975"/>
                    <a:pt x="244698" y="56928"/>
                  </a:cubicBezTo>
                  <a:lnTo>
                    <a:pt x="174625" y="127000"/>
                  </a:lnTo>
                  <a:lnTo>
                    <a:pt x="174625" y="238125"/>
                  </a:lnTo>
                  <a:lnTo>
                    <a:pt x="79375" y="269876"/>
                  </a:lnTo>
                  <a:lnTo>
                    <a:pt x="79375" y="134938"/>
                  </a:lnTo>
                  <a:lnTo>
                    <a:pt x="8255" y="56706"/>
                  </a:lnTo>
                  <a:cubicBezTo>
                    <a:pt x="2944" y="50862"/>
                    <a:pt x="1" y="43250"/>
                    <a:pt x="0" y="35354"/>
                  </a:cubicBezTo>
                  <a:lnTo>
                    <a:pt x="0" y="0"/>
                  </a:lnTo>
                </a:path>
              </a:pathLst>
            </a:custGeom>
            <a:noFill/>
            <a:ln w="31750">
              <a:solidFill>
                <a:srgbClr val="C4472E"/>
              </a:solidFill>
            </a:ln>
          </p:spPr>
        </p:sp>
        <p:sp>
          <p:nvSpPr>
            <p:cNvPr id="45" name="Line 45"/>
            <p:cNvSpPr/>
            <p:nvPr/>
          </p:nvSpPr>
          <p:spPr>
            <a:xfrm>
              <a:off x="2324100" y="2419350"/>
              <a:ext cx="1581150" cy="9525"/>
            </a:xfrm>
            <a:custGeom>
              <a:avLst/>
              <a:gdLst/>
              <a:ahLst/>
              <a:cxnLst/>
              <a:rect l="l" t="t" r="r" b="b"/>
              <a:pathLst>
                <a:path w="1581150" h="9525">
                  <a:moveTo>
                    <a:pt x="0" y="0"/>
                  </a:moveTo>
                  <a:lnTo>
                    <a:pt x="1581150" y="0"/>
                  </a:lnTo>
                </a:path>
              </a:pathLst>
            </a:custGeom>
            <a:noFill/>
            <a:ln w="9525">
              <a:solidFill>
                <a:srgbClr val="CFE2F2"/>
              </a:solidFill>
            </a:ln>
          </p:spPr>
        </p:sp>
        <p:sp>
          <p:nvSpPr>
            <p:cNvPr id="46" name="TextBox 46"/>
            <p:cNvSpPr txBox="1"/>
            <p:nvPr/>
          </p:nvSpPr>
          <p:spPr>
            <a:xfrm>
              <a:off x="2319338" y="25410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行业需求下降</a:t>
              </a:r>
            </a:p>
          </p:txBody>
        </p:sp>
        <p:sp>
          <p:nvSpPr>
            <p:cNvPr id="47" name="TextBox 47"/>
            <p:cNvSpPr txBox="1"/>
            <p:nvPr/>
          </p:nvSpPr>
          <p:spPr>
            <a:xfrm>
              <a:off x="2319338" y="2741057"/>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企业收入下滑</a:t>
              </a:r>
            </a:p>
          </p:txBody>
        </p:sp>
        <p:sp>
          <p:nvSpPr>
            <p:cNvPr id="48" name="TextBox 48"/>
            <p:cNvSpPr txBox="1"/>
            <p:nvPr/>
          </p:nvSpPr>
          <p:spPr>
            <a:xfrm>
              <a:off x="2319338" y="294108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资产价格下跌</a:t>
              </a:r>
            </a:p>
          </p:txBody>
        </p:sp>
        <p:sp>
          <p:nvSpPr>
            <p:cNvPr id="49" name="TextBox 49"/>
            <p:cNvSpPr txBox="1"/>
            <p:nvPr/>
          </p:nvSpPr>
          <p:spPr>
            <a:xfrm>
              <a:off x="2319338" y="3141107"/>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融资成本上升</a:t>
              </a:r>
            </a:p>
          </p:txBody>
        </p:sp>
        <p:sp>
          <p:nvSpPr>
            <p:cNvPr id="50" name="TextBox 50"/>
            <p:cNvSpPr txBox="1"/>
            <p:nvPr/>
          </p:nvSpPr>
          <p:spPr>
            <a:xfrm>
              <a:off x="2319338" y="3341132"/>
              <a:ext cx="77497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客户偿债能力减弱</a:t>
              </a:r>
            </a:p>
          </p:txBody>
        </p:sp>
        <p:sp>
          <p:nvSpPr>
            <p:cNvPr id="51" name="TextBox 51"/>
            <p:cNvSpPr txBox="1"/>
            <p:nvPr/>
          </p:nvSpPr>
          <p:spPr>
            <a:xfrm>
              <a:off x="2319338" y="3541157"/>
              <a:ext cx="41742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a:t>
              </a:r>
            </a:p>
          </p:txBody>
        </p:sp>
      </p:grpSp>
      <p:grpSp>
        <p:nvGrpSpPr>
          <p:cNvPr id="70" name="chain-03"/>
          <p:cNvGrpSpPr/>
          <p:nvPr/>
        </p:nvGrpSpPr>
        <p:grpSpPr>
          <a:xfrm>
            <a:off x="4229100" y="1428750"/>
            <a:ext cx="1809750" cy="2667000"/>
            <a:chOff x="4229100" y="1428750"/>
            <a:chExt cx="1809750" cy="2667000"/>
          </a:xfrm>
        </p:grpSpPr>
        <p:sp>
          <p:nvSpPr>
            <p:cNvPr id="53" name="Rectangle 53"/>
            <p:cNvSpPr/>
            <p:nvPr/>
          </p:nvSpPr>
          <p:spPr>
            <a:xfrm>
              <a:off x="4229100" y="1428750"/>
              <a:ext cx="1809750" cy="2667000"/>
            </a:xfrm>
            <a:prstGeom prst="roundRect">
              <a:avLst>
                <a:gd name="adj" fmla="val 4211"/>
              </a:avLst>
            </a:prstGeom>
            <a:solidFill>
              <a:srgbClr val="F4F9FD"/>
            </a:solidFill>
            <a:ln w="9525">
              <a:solidFill>
                <a:srgbClr val="CFE2F2"/>
              </a:solidFill>
            </a:ln>
          </p:spPr>
        </p:sp>
        <p:sp>
          <p:nvSpPr>
            <p:cNvPr id="54" name="Ellipse 54"/>
            <p:cNvSpPr/>
            <p:nvPr/>
          </p:nvSpPr>
          <p:spPr>
            <a:xfrm>
              <a:off x="4333875" y="1514475"/>
              <a:ext cx="171450" cy="171450"/>
            </a:xfrm>
            <a:prstGeom prst="ellipse">
              <a:avLst/>
            </a:prstGeom>
            <a:solidFill>
              <a:srgbClr val="C4472E"/>
            </a:solidFill>
            <a:ln>
              <a:noFill/>
            </a:ln>
          </p:spPr>
        </p:sp>
        <p:sp>
          <p:nvSpPr>
            <p:cNvPr id="55" name="TextBox 55"/>
            <p:cNvSpPr txBox="1"/>
            <p:nvPr/>
          </p:nvSpPr>
          <p:spPr>
            <a:xfrm>
              <a:off x="4337489" y="1560671"/>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03​</a:t>
              </a:r>
            </a:p>
          </p:txBody>
        </p:sp>
        <p:sp>
          <p:nvSpPr>
            <p:cNvPr id="56" name="TextBox 56"/>
            <p:cNvSpPr txBox="1"/>
            <p:nvPr/>
          </p:nvSpPr>
          <p:spPr>
            <a:xfrm>
              <a:off x="4567238" y="1553289"/>
              <a:ext cx="1073023"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企业经营与现金流变化</a:t>
              </a:r>
            </a:p>
          </p:txBody>
        </p:sp>
        <p:sp>
          <p:nvSpPr>
            <p:cNvPr id="57" name="TextBox 57"/>
            <p:cNvSpPr txBox="1"/>
            <p:nvPr/>
          </p:nvSpPr>
          <p:spPr>
            <a:xfrm>
              <a:off x="4338638" y="1764030"/>
              <a:ext cx="736473"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冲击传导至企业层面</a:t>
              </a:r>
            </a:p>
          </p:txBody>
        </p:sp>
        <p:grpSp>
          <p:nvGrpSpPr>
            <p:cNvPr id="62" name="Group 62"/>
            <p:cNvGrpSpPr/>
            <p:nvPr/>
          </p:nvGrpSpPr>
          <p:grpSpPr>
            <a:xfrm>
              <a:off x="4991100" y="1990725"/>
              <a:ext cx="285751" cy="269875"/>
              <a:chOff x="4991100" y="1990725"/>
              <a:chExt cx="285751" cy="269875"/>
            </a:xfrm>
          </p:grpSpPr>
          <p:sp>
            <p:nvSpPr>
              <p:cNvPr id="58" name="Freeform 58"/>
              <p:cNvSpPr/>
              <p:nvPr/>
            </p:nvSpPr>
            <p:spPr>
              <a:xfrm>
                <a:off x="4991100" y="2054225"/>
                <a:ext cx="285751" cy="206375"/>
              </a:xfrm>
              <a:custGeom>
                <a:avLst/>
                <a:gdLst/>
                <a:ahLst/>
                <a:cxnLst/>
                <a:rect l="l" t="t" r="r" b="b"/>
                <a:pathLst>
                  <a:path w="285751" h="206375">
                    <a:moveTo>
                      <a:pt x="0" y="31750"/>
                    </a:moveTo>
                    <a:cubicBezTo>
                      <a:pt x="0" y="14215"/>
                      <a:pt x="14215" y="0"/>
                      <a:pt x="31750" y="0"/>
                    </a:cubicBezTo>
                    <a:lnTo>
                      <a:pt x="254001" y="0"/>
                    </a:lnTo>
                    <a:cubicBezTo>
                      <a:pt x="271536" y="0"/>
                      <a:pt x="285751" y="14215"/>
                      <a:pt x="285751" y="31750"/>
                    </a:cubicBezTo>
                    <a:lnTo>
                      <a:pt x="285751" y="174625"/>
                    </a:lnTo>
                    <a:cubicBezTo>
                      <a:pt x="285751" y="192160"/>
                      <a:pt x="271536" y="206375"/>
                      <a:pt x="254001" y="206375"/>
                    </a:cubicBezTo>
                    <a:lnTo>
                      <a:pt x="31750" y="206375"/>
                    </a:lnTo>
                    <a:cubicBezTo>
                      <a:pt x="14215" y="206375"/>
                      <a:pt x="0" y="192160"/>
                      <a:pt x="0" y="174625"/>
                    </a:cubicBezTo>
                    <a:lnTo>
                      <a:pt x="0" y="31750"/>
                    </a:lnTo>
                  </a:path>
                </a:pathLst>
              </a:custGeom>
              <a:noFill/>
              <a:ln w="31750">
                <a:solidFill>
                  <a:srgbClr val="C4472E"/>
                </a:solidFill>
              </a:ln>
            </p:spPr>
          </p:sp>
          <p:sp>
            <p:nvSpPr>
              <p:cNvPr id="59" name="Freeform 59"/>
              <p:cNvSpPr/>
              <p:nvPr/>
            </p:nvSpPr>
            <p:spPr>
              <a:xfrm>
                <a:off x="5070475" y="1990725"/>
                <a:ext cx="127000" cy="63500"/>
              </a:xfrm>
              <a:custGeom>
                <a:avLst/>
                <a:gdLst/>
                <a:ahLst/>
                <a:cxnLst/>
                <a:rect l="l" t="t" r="r" b="b"/>
                <a:pathLst>
                  <a:path w="127000" h="63500">
                    <a:moveTo>
                      <a:pt x="0" y="63500"/>
                    </a:moveTo>
                    <a:lnTo>
                      <a:pt x="0" y="31750"/>
                    </a:lnTo>
                    <a:cubicBezTo>
                      <a:pt x="0" y="14215"/>
                      <a:pt x="14215" y="0"/>
                      <a:pt x="31750" y="0"/>
                    </a:cubicBezTo>
                    <a:lnTo>
                      <a:pt x="95250" y="0"/>
                    </a:lnTo>
                    <a:cubicBezTo>
                      <a:pt x="112785" y="0"/>
                      <a:pt x="127000" y="14215"/>
                      <a:pt x="127000" y="31750"/>
                    </a:cubicBezTo>
                    <a:lnTo>
                      <a:pt x="127000" y="63500"/>
                    </a:lnTo>
                  </a:path>
                </a:pathLst>
              </a:custGeom>
              <a:noFill/>
              <a:ln w="31750">
                <a:solidFill>
                  <a:srgbClr val="C4472E"/>
                </a:solidFill>
              </a:ln>
            </p:spPr>
          </p:sp>
          <p:sp>
            <p:nvSpPr>
              <p:cNvPr id="60" name="Freeform 60"/>
              <p:cNvSpPr/>
              <p:nvPr/>
            </p:nvSpPr>
            <p:spPr>
              <a:xfrm>
                <a:off x="5133975" y="2133600"/>
                <a:ext cx="9525" cy="9525"/>
              </a:xfrm>
              <a:custGeom>
                <a:avLst/>
                <a:gdLst/>
                <a:ahLst/>
                <a:cxnLst/>
                <a:rect l="l" t="t" r="r" b="b"/>
                <a:pathLst>
                  <a:path w="9525" h="9525">
                    <a:moveTo>
                      <a:pt x="0" y="0"/>
                    </a:moveTo>
                    <a:lnTo>
                      <a:pt x="0" y="159"/>
                    </a:lnTo>
                  </a:path>
                </a:pathLst>
              </a:custGeom>
              <a:noFill/>
              <a:ln w="31750">
                <a:solidFill>
                  <a:srgbClr val="C4472E"/>
                </a:solidFill>
              </a:ln>
            </p:spPr>
          </p:sp>
          <p:sp>
            <p:nvSpPr>
              <p:cNvPr id="61" name="Freeform 61"/>
              <p:cNvSpPr/>
              <p:nvPr/>
            </p:nvSpPr>
            <p:spPr>
              <a:xfrm>
                <a:off x="4991100" y="2149475"/>
                <a:ext cx="285751" cy="45285"/>
              </a:xfrm>
              <a:custGeom>
                <a:avLst/>
                <a:gdLst/>
                <a:ahLst/>
                <a:cxnLst/>
                <a:rect l="l" t="t" r="r" b="b"/>
                <a:pathLst>
                  <a:path w="285751" h="45285">
                    <a:moveTo>
                      <a:pt x="0" y="0"/>
                    </a:moveTo>
                    <a:cubicBezTo>
                      <a:pt x="89868" y="45285"/>
                      <a:pt x="195883" y="45285"/>
                      <a:pt x="285751" y="0"/>
                    </a:cubicBezTo>
                  </a:path>
                </a:pathLst>
              </a:custGeom>
              <a:noFill/>
              <a:ln w="31750">
                <a:solidFill>
                  <a:srgbClr val="C4472E"/>
                </a:solidFill>
              </a:ln>
            </p:spPr>
          </p:sp>
        </p:grpSp>
        <p:sp>
          <p:nvSpPr>
            <p:cNvPr id="63" name="Line 63"/>
            <p:cNvSpPr/>
            <p:nvPr/>
          </p:nvSpPr>
          <p:spPr>
            <a:xfrm>
              <a:off x="4343400" y="2419350"/>
              <a:ext cx="1581150" cy="9525"/>
            </a:xfrm>
            <a:custGeom>
              <a:avLst/>
              <a:gdLst/>
              <a:ahLst/>
              <a:cxnLst/>
              <a:rect l="l" t="t" r="r" b="b"/>
              <a:pathLst>
                <a:path w="1581150" h="9525">
                  <a:moveTo>
                    <a:pt x="0" y="0"/>
                  </a:moveTo>
                  <a:lnTo>
                    <a:pt x="1581150" y="0"/>
                  </a:lnTo>
                </a:path>
              </a:pathLst>
            </a:custGeom>
            <a:noFill/>
            <a:ln w="9525">
              <a:solidFill>
                <a:srgbClr val="CFE2F2"/>
              </a:solidFill>
            </a:ln>
          </p:spPr>
        </p:sp>
        <p:sp>
          <p:nvSpPr>
            <p:cNvPr id="64" name="TextBox 64"/>
            <p:cNvSpPr txBox="1"/>
            <p:nvPr/>
          </p:nvSpPr>
          <p:spPr>
            <a:xfrm>
              <a:off x="4338638" y="25410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营业收入下降</a:t>
              </a:r>
            </a:p>
          </p:txBody>
        </p:sp>
        <p:sp>
          <p:nvSpPr>
            <p:cNvPr id="65" name="TextBox 65"/>
            <p:cNvSpPr txBox="1"/>
            <p:nvPr/>
          </p:nvSpPr>
          <p:spPr>
            <a:xfrm>
              <a:off x="4338638" y="2741057"/>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利润空间收窄</a:t>
              </a:r>
            </a:p>
          </p:txBody>
        </p:sp>
        <p:sp>
          <p:nvSpPr>
            <p:cNvPr id="66" name="TextBox 66"/>
            <p:cNvSpPr txBox="1"/>
            <p:nvPr/>
          </p:nvSpPr>
          <p:spPr>
            <a:xfrm>
              <a:off x="4338638" y="2941082"/>
              <a:ext cx="51650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现金流紧张</a:t>
              </a:r>
            </a:p>
          </p:txBody>
        </p:sp>
        <p:sp>
          <p:nvSpPr>
            <p:cNvPr id="67" name="TextBox 67"/>
            <p:cNvSpPr txBox="1"/>
            <p:nvPr/>
          </p:nvSpPr>
          <p:spPr>
            <a:xfrm>
              <a:off x="4338638" y="3141107"/>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偿债能力减弱</a:t>
              </a:r>
            </a:p>
          </p:txBody>
        </p:sp>
        <p:sp>
          <p:nvSpPr>
            <p:cNvPr id="68" name="TextBox 68"/>
            <p:cNvSpPr txBox="1"/>
            <p:nvPr/>
          </p:nvSpPr>
          <p:spPr>
            <a:xfrm>
              <a:off x="4338638" y="3341132"/>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债务负担恶化</a:t>
              </a:r>
            </a:p>
          </p:txBody>
        </p:sp>
        <p:sp>
          <p:nvSpPr>
            <p:cNvPr id="69" name="TextBox 69"/>
            <p:cNvSpPr txBox="1"/>
            <p:nvPr/>
          </p:nvSpPr>
          <p:spPr>
            <a:xfrm>
              <a:off x="4338638" y="3541157"/>
              <a:ext cx="41742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a:t>
              </a:r>
            </a:p>
          </p:txBody>
        </p:sp>
      </p:grpSp>
      <p:grpSp>
        <p:nvGrpSpPr>
          <p:cNvPr id="85" name="chain-04"/>
          <p:cNvGrpSpPr/>
          <p:nvPr/>
        </p:nvGrpSpPr>
        <p:grpSpPr>
          <a:xfrm>
            <a:off x="6248400" y="1428750"/>
            <a:ext cx="1809750" cy="2667000"/>
            <a:chOff x="6248400" y="1428750"/>
            <a:chExt cx="1809750" cy="2667000"/>
          </a:xfrm>
        </p:grpSpPr>
        <p:sp>
          <p:nvSpPr>
            <p:cNvPr id="71" name="Rectangle 71"/>
            <p:cNvSpPr/>
            <p:nvPr/>
          </p:nvSpPr>
          <p:spPr>
            <a:xfrm>
              <a:off x="6248400" y="1428750"/>
              <a:ext cx="1809750" cy="2667000"/>
            </a:xfrm>
            <a:prstGeom prst="roundRect">
              <a:avLst>
                <a:gd name="adj" fmla="val 4211"/>
              </a:avLst>
            </a:prstGeom>
            <a:solidFill>
              <a:srgbClr val="F4F9FD"/>
            </a:solidFill>
            <a:ln w="9525">
              <a:solidFill>
                <a:srgbClr val="CFE2F2"/>
              </a:solidFill>
            </a:ln>
          </p:spPr>
        </p:sp>
        <p:sp>
          <p:nvSpPr>
            <p:cNvPr id="72" name="Ellipse 72"/>
            <p:cNvSpPr/>
            <p:nvPr/>
          </p:nvSpPr>
          <p:spPr>
            <a:xfrm>
              <a:off x="6353175" y="1514475"/>
              <a:ext cx="171450" cy="171450"/>
            </a:xfrm>
            <a:prstGeom prst="ellipse">
              <a:avLst/>
            </a:prstGeom>
            <a:solidFill>
              <a:srgbClr val="C4472E"/>
            </a:solidFill>
            <a:ln>
              <a:noFill/>
            </a:ln>
          </p:spPr>
        </p:sp>
        <p:sp>
          <p:nvSpPr>
            <p:cNvPr id="73" name="TextBox 73"/>
            <p:cNvSpPr txBox="1"/>
            <p:nvPr/>
          </p:nvSpPr>
          <p:spPr>
            <a:xfrm>
              <a:off x="6356789" y="1560671"/>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04​</a:t>
              </a:r>
            </a:p>
          </p:txBody>
        </p:sp>
        <p:sp>
          <p:nvSpPr>
            <p:cNvPr id="74" name="TextBox 74"/>
            <p:cNvSpPr txBox="1"/>
            <p:nvPr/>
          </p:nvSpPr>
          <p:spPr>
            <a:xfrm>
              <a:off x="6586538" y="1553289"/>
              <a:ext cx="926562" cy="154781"/>
            </a:xfrm>
            <a:prstGeom prst="rect">
              <a:avLst/>
            </a:prstGeom>
            <a:noFill/>
            <a:ln>
              <a:noFill/>
            </a:ln>
          </p:spPr>
          <p:txBody>
            <a:bodyPr wrap="none" lIns="0" tIns="0" rIns="0" bIns="0" anchor="t" anchorCtr="0">
              <a:spAutoFit/>
            </a:bodyPr>
            <a:lstStyle/>
            <a:p>
              <a:pPr algn="l"/>
              <a:r>
                <a:rPr lang="en-US" sz="790" b="1" dirty="0">
                  <a:solidFill>
                    <a:srgbClr val="3E1810"/>
                  </a:solidFill>
                  <a:latin typeface="+mj-lt"/>
                  <a:ea typeface="+mj-ea"/>
                  <a:cs typeface="+mj-cs"/>
                </a:rPr>
                <a:t>PD</a:t>
              </a:r>
              <a:r>
                <a:rPr lang="zh-CN" sz="790" b="1" dirty="0">
                  <a:solidFill>
                    <a:srgbClr val="3E1810"/>
                  </a:solidFill>
                  <a:latin typeface="+mn-lt"/>
                  <a:ea typeface="+mn-ea"/>
                  <a:cs typeface="+mn-cs"/>
                </a:rPr>
                <a:t>上升/评级下迁​</a:t>
              </a:r>
            </a:p>
          </p:txBody>
        </p:sp>
        <p:sp>
          <p:nvSpPr>
            <p:cNvPr id="75" name="TextBox 75"/>
            <p:cNvSpPr txBox="1"/>
            <p:nvPr/>
          </p:nvSpPr>
          <p:spPr>
            <a:xfrm>
              <a:off x="6357938" y="1764030"/>
              <a:ext cx="655701"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企业违约风险上升</a:t>
              </a:r>
            </a:p>
          </p:txBody>
        </p:sp>
        <p:grpSp>
          <p:nvGrpSpPr>
            <p:cNvPr id="78" name="Group 78"/>
            <p:cNvGrpSpPr/>
            <p:nvPr/>
          </p:nvGrpSpPr>
          <p:grpSpPr>
            <a:xfrm>
              <a:off x="7010400" y="2054225"/>
              <a:ext cx="285751" cy="158750"/>
              <a:chOff x="7010400" y="2054225"/>
              <a:chExt cx="285751" cy="158750"/>
            </a:xfrm>
          </p:grpSpPr>
          <p:sp>
            <p:nvSpPr>
              <p:cNvPr id="76" name="Freeform 76"/>
              <p:cNvSpPr/>
              <p:nvPr/>
            </p:nvSpPr>
            <p:spPr>
              <a:xfrm>
                <a:off x="7010400" y="2054225"/>
                <a:ext cx="285751" cy="158750"/>
              </a:xfrm>
              <a:custGeom>
                <a:avLst/>
                <a:gdLst/>
                <a:ahLst/>
                <a:cxnLst/>
                <a:rect l="l" t="t" r="r" b="b"/>
                <a:pathLst>
                  <a:path w="285751" h="158750">
                    <a:moveTo>
                      <a:pt x="0" y="158750"/>
                    </a:moveTo>
                    <a:lnTo>
                      <a:pt x="95250" y="63500"/>
                    </a:lnTo>
                    <a:lnTo>
                      <a:pt x="158750" y="127000"/>
                    </a:lnTo>
                    <a:lnTo>
                      <a:pt x="285751" y="0"/>
                    </a:lnTo>
                  </a:path>
                </a:pathLst>
              </a:custGeom>
              <a:noFill/>
              <a:ln w="31750">
                <a:solidFill>
                  <a:srgbClr val="C4472E"/>
                </a:solidFill>
              </a:ln>
            </p:spPr>
          </p:sp>
          <p:sp>
            <p:nvSpPr>
              <p:cNvPr id="77" name="Freeform 77"/>
              <p:cNvSpPr/>
              <p:nvPr/>
            </p:nvSpPr>
            <p:spPr>
              <a:xfrm>
                <a:off x="7185025" y="2054225"/>
                <a:ext cx="111125" cy="111125"/>
              </a:xfrm>
              <a:custGeom>
                <a:avLst/>
                <a:gdLst/>
                <a:ahLst/>
                <a:cxnLst/>
                <a:rect l="l" t="t" r="r" b="b"/>
                <a:pathLst>
                  <a:path w="111125" h="111125">
                    <a:moveTo>
                      <a:pt x="0" y="0"/>
                    </a:moveTo>
                    <a:lnTo>
                      <a:pt x="111125" y="0"/>
                    </a:lnTo>
                    <a:lnTo>
                      <a:pt x="111125" y="111125"/>
                    </a:lnTo>
                  </a:path>
                </a:pathLst>
              </a:custGeom>
              <a:noFill/>
              <a:ln w="31750">
                <a:solidFill>
                  <a:srgbClr val="C4472E"/>
                </a:solidFill>
              </a:ln>
            </p:spPr>
          </p:sp>
        </p:grpSp>
        <p:sp>
          <p:nvSpPr>
            <p:cNvPr id="79" name="Line 79"/>
            <p:cNvSpPr/>
            <p:nvPr/>
          </p:nvSpPr>
          <p:spPr>
            <a:xfrm>
              <a:off x="6362700" y="2419350"/>
              <a:ext cx="1581150" cy="9525"/>
            </a:xfrm>
            <a:custGeom>
              <a:avLst/>
              <a:gdLst/>
              <a:ahLst/>
              <a:cxnLst/>
              <a:rect l="l" t="t" r="r" b="b"/>
              <a:pathLst>
                <a:path w="1581150" h="9525">
                  <a:moveTo>
                    <a:pt x="0" y="0"/>
                  </a:moveTo>
                  <a:lnTo>
                    <a:pt x="1581150" y="0"/>
                  </a:lnTo>
                </a:path>
              </a:pathLst>
            </a:custGeom>
            <a:noFill/>
            <a:ln w="9525">
              <a:solidFill>
                <a:srgbClr val="CFE2F2"/>
              </a:solidFill>
            </a:ln>
          </p:spPr>
        </p:sp>
        <p:sp>
          <p:nvSpPr>
            <p:cNvPr id="80" name="TextBox 80"/>
            <p:cNvSpPr txBox="1"/>
            <p:nvPr/>
          </p:nvSpPr>
          <p:spPr>
            <a:xfrm>
              <a:off x="6357938" y="2541032"/>
              <a:ext cx="901443"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违约概率（</a:t>
              </a:r>
              <a:r>
                <a:rPr lang="en-US" sz="640" dirty="0">
                  <a:solidFill>
                    <a:srgbClr val="5C3A33"/>
                  </a:solidFill>
                  <a:latin typeface="+mj-lt"/>
                  <a:ea typeface="+mj-ea"/>
                  <a:cs typeface="+mj-cs"/>
                </a:rPr>
                <a:t>PD</a:t>
              </a:r>
              <a:r>
                <a:rPr lang="zh-CN" sz="640" dirty="0">
                  <a:solidFill>
                    <a:srgbClr val="5C3A33"/>
                  </a:solidFill>
                  <a:latin typeface="+mn-lt"/>
                  <a:ea typeface="+mn-ea"/>
                  <a:cs typeface="+mn-cs"/>
                </a:rPr>
                <a:t>）上升</a:t>
              </a:r>
            </a:p>
          </p:txBody>
        </p:sp>
        <p:sp>
          <p:nvSpPr>
            <p:cNvPr id="81" name="TextBox 81"/>
            <p:cNvSpPr txBox="1"/>
            <p:nvPr/>
          </p:nvSpPr>
          <p:spPr>
            <a:xfrm>
              <a:off x="6357938" y="2741057"/>
              <a:ext cx="688823"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内外部评级下迁</a:t>
              </a:r>
            </a:p>
          </p:txBody>
        </p:sp>
        <p:sp>
          <p:nvSpPr>
            <p:cNvPr id="82" name="TextBox 82"/>
            <p:cNvSpPr txBox="1"/>
            <p:nvPr/>
          </p:nvSpPr>
          <p:spPr>
            <a:xfrm>
              <a:off x="6357938" y="2941082"/>
              <a:ext cx="86113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高风险客户占比提升</a:t>
              </a:r>
            </a:p>
          </p:txBody>
        </p:sp>
        <p:sp>
          <p:nvSpPr>
            <p:cNvPr id="83" name="TextBox 83"/>
            <p:cNvSpPr txBox="1"/>
            <p:nvPr/>
          </p:nvSpPr>
          <p:spPr>
            <a:xfrm>
              <a:off x="6357938" y="3141107"/>
              <a:ext cx="77497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迁徙矩阵向下移动</a:t>
              </a:r>
            </a:p>
          </p:txBody>
        </p:sp>
        <p:sp>
          <p:nvSpPr>
            <p:cNvPr id="84" name="TextBox 84"/>
            <p:cNvSpPr txBox="1"/>
            <p:nvPr/>
          </p:nvSpPr>
          <p:spPr>
            <a:xfrm>
              <a:off x="6357938" y="3341132"/>
              <a:ext cx="41742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a:t>
              </a:r>
            </a:p>
          </p:txBody>
        </p:sp>
      </p:grpSp>
      <p:grpSp>
        <p:nvGrpSpPr>
          <p:cNvPr id="103" name="chain-05"/>
          <p:cNvGrpSpPr/>
          <p:nvPr/>
        </p:nvGrpSpPr>
        <p:grpSpPr>
          <a:xfrm>
            <a:off x="8267700" y="1428750"/>
            <a:ext cx="1809750" cy="2667000"/>
            <a:chOff x="8267700" y="1428750"/>
            <a:chExt cx="1809750" cy="2667000"/>
          </a:xfrm>
        </p:grpSpPr>
        <p:sp>
          <p:nvSpPr>
            <p:cNvPr id="86" name="Rectangle 86"/>
            <p:cNvSpPr/>
            <p:nvPr/>
          </p:nvSpPr>
          <p:spPr>
            <a:xfrm>
              <a:off x="8267700" y="1428750"/>
              <a:ext cx="1809750" cy="2667000"/>
            </a:xfrm>
            <a:prstGeom prst="roundRect">
              <a:avLst>
                <a:gd name="adj" fmla="val 4211"/>
              </a:avLst>
            </a:prstGeom>
            <a:solidFill>
              <a:srgbClr val="F4F9FD"/>
            </a:solidFill>
            <a:ln w="9525">
              <a:solidFill>
                <a:srgbClr val="CFE2F2"/>
              </a:solidFill>
            </a:ln>
          </p:spPr>
        </p:sp>
        <p:sp>
          <p:nvSpPr>
            <p:cNvPr id="87" name="Ellipse 87"/>
            <p:cNvSpPr/>
            <p:nvPr/>
          </p:nvSpPr>
          <p:spPr>
            <a:xfrm>
              <a:off x="8372475" y="1514475"/>
              <a:ext cx="171450" cy="171450"/>
            </a:xfrm>
            <a:prstGeom prst="ellipse">
              <a:avLst/>
            </a:prstGeom>
            <a:solidFill>
              <a:srgbClr val="C4472E"/>
            </a:solidFill>
            <a:ln>
              <a:noFill/>
            </a:ln>
          </p:spPr>
        </p:sp>
        <p:sp>
          <p:nvSpPr>
            <p:cNvPr id="88" name="TextBox 88"/>
            <p:cNvSpPr txBox="1"/>
            <p:nvPr/>
          </p:nvSpPr>
          <p:spPr>
            <a:xfrm>
              <a:off x="8376089" y="1560671"/>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05​</a:t>
              </a:r>
            </a:p>
          </p:txBody>
        </p:sp>
        <p:sp>
          <p:nvSpPr>
            <p:cNvPr id="89" name="TextBox 89"/>
            <p:cNvSpPr txBox="1"/>
            <p:nvPr/>
          </p:nvSpPr>
          <p:spPr>
            <a:xfrm>
              <a:off x="8605838" y="1553289"/>
              <a:ext cx="1083752"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违约损失与</a:t>
              </a:r>
              <a:r>
                <a:rPr lang="en-US" sz="790" b="1" dirty="0">
                  <a:solidFill>
                    <a:srgbClr val="3E1810"/>
                  </a:solidFill>
                  <a:latin typeface="+mj-lt"/>
                  <a:ea typeface="+mj-ea"/>
                  <a:cs typeface="+mj-cs"/>
                </a:rPr>
                <a:t>RWA</a:t>
              </a:r>
              <a:r>
                <a:rPr lang="zh-CN" sz="790" b="1" dirty="0">
                  <a:solidFill>
                    <a:srgbClr val="3E1810"/>
                  </a:solidFill>
                  <a:latin typeface="+mn-lt"/>
                  <a:ea typeface="+mn-ea"/>
                  <a:cs typeface="+mn-cs"/>
                </a:rPr>
                <a:t>变化​</a:t>
              </a:r>
            </a:p>
          </p:txBody>
        </p:sp>
        <p:sp>
          <p:nvSpPr>
            <p:cNvPr id="90" name="TextBox 90"/>
            <p:cNvSpPr txBox="1"/>
            <p:nvPr/>
          </p:nvSpPr>
          <p:spPr>
            <a:xfrm>
              <a:off x="8377238" y="1764030"/>
              <a:ext cx="1221105"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信用损失增加，风险加权资产上升</a:t>
              </a:r>
            </a:p>
          </p:txBody>
        </p:sp>
        <p:grpSp>
          <p:nvGrpSpPr>
            <p:cNvPr id="96" name="Group 96"/>
            <p:cNvGrpSpPr/>
            <p:nvPr/>
          </p:nvGrpSpPr>
          <p:grpSpPr>
            <a:xfrm>
              <a:off x="9029700" y="1988598"/>
              <a:ext cx="285750" cy="287877"/>
              <a:chOff x="9029700" y="1988598"/>
              <a:chExt cx="285750" cy="287877"/>
            </a:xfrm>
          </p:grpSpPr>
          <p:sp>
            <p:nvSpPr>
              <p:cNvPr id="91" name="Freeform 91"/>
              <p:cNvSpPr/>
              <p:nvPr/>
            </p:nvSpPr>
            <p:spPr>
              <a:xfrm>
                <a:off x="9124950" y="2117725"/>
                <a:ext cx="190500" cy="95250"/>
              </a:xfrm>
              <a:custGeom>
                <a:avLst/>
                <a:gdLst/>
                <a:ahLst/>
                <a:cxnLst/>
                <a:rect l="l" t="t" r="r" b="b"/>
                <a:pathLst>
                  <a:path w="190500" h="95250">
                    <a:moveTo>
                      <a:pt x="0" y="47625"/>
                    </a:moveTo>
                    <a:cubicBezTo>
                      <a:pt x="0" y="73930"/>
                      <a:pt x="42640" y="95250"/>
                      <a:pt x="95250" y="95250"/>
                    </a:cubicBezTo>
                    <a:cubicBezTo>
                      <a:pt x="147860" y="95250"/>
                      <a:pt x="190500" y="73930"/>
                      <a:pt x="190500" y="47625"/>
                    </a:cubicBezTo>
                    <a:cubicBezTo>
                      <a:pt x="190500" y="21320"/>
                      <a:pt x="147860" y="0"/>
                      <a:pt x="95250" y="0"/>
                    </a:cubicBezTo>
                    <a:cubicBezTo>
                      <a:pt x="42640" y="0"/>
                      <a:pt x="0" y="21320"/>
                      <a:pt x="0" y="47625"/>
                    </a:cubicBezTo>
                  </a:path>
                </a:pathLst>
              </a:custGeom>
              <a:noFill/>
              <a:ln w="31750">
                <a:solidFill>
                  <a:srgbClr val="C4472E"/>
                </a:solidFill>
              </a:ln>
            </p:spPr>
          </p:sp>
          <p:sp>
            <p:nvSpPr>
              <p:cNvPr id="92" name="Freeform 92"/>
              <p:cNvSpPr/>
              <p:nvPr/>
            </p:nvSpPr>
            <p:spPr>
              <a:xfrm>
                <a:off x="9124950" y="2165350"/>
                <a:ext cx="190500" cy="111125"/>
              </a:xfrm>
              <a:custGeom>
                <a:avLst/>
                <a:gdLst/>
                <a:ahLst/>
                <a:cxnLst/>
                <a:rect l="l" t="t" r="r" b="b"/>
                <a:pathLst>
                  <a:path w="190500" h="111125">
                    <a:moveTo>
                      <a:pt x="0" y="0"/>
                    </a:moveTo>
                    <a:lnTo>
                      <a:pt x="0" y="63500"/>
                    </a:lnTo>
                    <a:cubicBezTo>
                      <a:pt x="0" y="89789"/>
                      <a:pt x="42640" y="111125"/>
                      <a:pt x="95250" y="111125"/>
                    </a:cubicBezTo>
                    <a:cubicBezTo>
                      <a:pt x="147860" y="111125"/>
                      <a:pt x="190500" y="89789"/>
                      <a:pt x="190500" y="63500"/>
                    </a:cubicBezTo>
                    <a:lnTo>
                      <a:pt x="190500" y="0"/>
                    </a:lnTo>
                  </a:path>
                </a:pathLst>
              </a:custGeom>
              <a:noFill/>
              <a:ln w="31750">
                <a:solidFill>
                  <a:srgbClr val="C4472E"/>
                </a:solidFill>
              </a:ln>
            </p:spPr>
          </p:sp>
          <p:sp>
            <p:nvSpPr>
              <p:cNvPr id="93" name="Freeform 93"/>
              <p:cNvSpPr/>
              <p:nvPr/>
            </p:nvSpPr>
            <p:spPr>
              <a:xfrm>
                <a:off x="9029700" y="1988598"/>
                <a:ext cx="190500" cy="99505"/>
              </a:xfrm>
              <a:custGeom>
                <a:avLst/>
                <a:gdLst/>
                <a:ahLst/>
                <a:cxnLst/>
                <a:rect l="l" t="t" r="r" b="b"/>
                <a:pathLst>
                  <a:path w="190500" h="99505">
                    <a:moveTo>
                      <a:pt x="0" y="49752"/>
                    </a:moveTo>
                    <a:cubicBezTo>
                      <a:pt x="0" y="66770"/>
                      <a:pt x="18161" y="82487"/>
                      <a:pt x="47625" y="90996"/>
                    </a:cubicBezTo>
                    <a:cubicBezTo>
                      <a:pt x="77089" y="99505"/>
                      <a:pt x="113411" y="99505"/>
                      <a:pt x="142875" y="90996"/>
                    </a:cubicBezTo>
                    <a:cubicBezTo>
                      <a:pt x="172339" y="82487"/>
                      <a:pt x="190500" y="66770"/>
                      <a:pt x="190500" y="49752"/>
                    </a:cubicBezTo>
                    <a:cubicBezTo>
                      <a:pt x="190500" y="32734"/>
                      <a:pt x="172339" y="17018"/>
                      <a:pt x="142875" y="8509"/>
                    </a:cubicBezTo>
                    <a:cubicBezTo>
                      <a:pt x="113411" y="0"/>
                      <a:pt x="77089" y="0"/>
                      <a:pt x="47625" y="8509"/>
                    </a:cubicBezTo>
                    <a:cubicBezTo>
                      <a:pt x="18161" y="17018"/>
                      <a:pt x="0" y="32734"/>
                      <a:pt x="0" y="49752"/>
                    </a:cubicBezTo>
                  </a:path>
                </a:pathLst>
              </a:custGeom>
              <a:noFill/>
              <a:ln w="31750">
                <a:solidFill>
                  <a:srgbClr val="C4472E"/>
                </a:solidFill>
              </a:ln>
            </p:spPr>
          </p:sp>
          <p:sp>
            <p:nvSpPr>
              <p:cNvPr id="94" name="Freeform 94"/>
              <p:cNvSpPr/>
              <p:nvPr/>
            </p:nvSpPr>
            <p:spPr>
              <a:xfrm>
                <a:off x="9029700" y="2038350"/>
                <a:ext cx="31750" cy="190500"/>
              </a:xfrm>
              <a:custGeom>
                <a:avLst/>
                <a:gdLst/>
                <a:ahLst/>
                <a:cxnLst/>
                <a:rect l="l" t="t" r="r" b="b"/>
                <a:pathLst>
                  <a:path w="31750" h="190500">
                    <a:moveTo>
                      <a:pt x="0" y="0"/>
                    </a:moveTo>
                    <a:lnTo>
                      <a:pt x="0" y="158750"/>
                    </a:lnTo>
                    <a:cubicBezTo>
                      <a:pt x="0" y="172847"/>
                      <a:pt x="12256" y="181769"/>
                      <a:pt x="31750" y="190500"/>
                    </a:cubicBezTo>
                  </a:path>
                </a:pathLst>
              </a:custGeom>
              <a:noFill/>
              <a:ln w="31750">
                <a:solidFill>
                  <a:srgbClr val="C4472E"/>
                </a:solidFill>
              </a:ln>
            </p:spPr>
          </p:sp>
          <p:sp>
            <p:nvSpPr>
              <p:cNvPr id="95" name="Freeform 95"/>
              <p:cNvSpPr/>
              <p:nvPr/>
            </p:nvSpPr>
            <p:spPr>
              <a:xfrm>
                <a:off x="9029700" y="2117725"/>
                <a:ext cx="31750" cy="31750"/>
              </a:xfrm>
              <a:custGeom>
                <a:avLst/>
                <a:gdLst/>
                <a:ahLst/>
                <a:cxnLst/>
                <a:rect l="l" t="t" r="r" b="b"/>
                <a:pathLst>
                  <a:path w="31750" h="31750">
                    <a:moveTo>
                      <a:pt x="0" y="0"/>
                    </a:moveTo>
                    <a:cubicBezTo>
                      <a:pt x="0" y="14097"/>
                      <a:pt x="12256" y="23019"/>
                      <a:pt x="31750" y="31750"/>
                    </a:cubicBezTo>
                  </a:path>
                </a:pathLst>
              </a:custGeom>
              <a:noFill/>
              <a:ln w="31750">
                <a:solidFill>
                  <a:srgbClr val="C4472E"/>
                </a:solidFill>
              </a:ln>
            </p:spPr>
          </p:sp>
        </p:grpSp>
        <p:sp>
          <p:nvSpPr>
            <p:cNvPr id="97" name="Line 97"/>
            <p:cNvSpPr/>
            <p:nvPr/>
          </p:nvSpPr>
          <p:spPr>
            <a:xfrm>
              <a:off x="8382000" y="2419350"/>
              <a:ext cx="1581150" cy="9525"/>
            </a:xfrm>
            <a:custGeom>
              <a:avLst/>
              <a:gdLst/>
              <a:ahLst/>
              <a:cxnLst/>
              <a:rect l="l" t="t" r="r" b="b"/>
              <a:pathLst>
                <a:path w="1581150" h="9525">
                  <a:moveTo>
                    <a:pt x="0" y="0"/>
                  </a:moveTo>
                  <a:lnTo>
                    <a:pt x="1581150" y="0"/>
                  </a:lnTo>
                </a:path>
              </a:pathLst>
            </a:custGeom>
            <a:noFill/>
            <a:ln w="9525">
              <a:solidFill>
                <a:srgbClr val="CFE2F2"/>
              </a:solidFill>
            </a:ln>
          </p:spPr>
        </p:sp>
        <p:sp>
          <p:nvSpPr>
            <p:cNvPr id="98" name="TextBox 98"/>
            <p:cNvSpPr txBox="1"/>
            <p:nvPr/>
          </p:nvSpPr>
          <p:spPr>
            <a:xfrm>
              <a:off x="8377238" y="2541032"/>
              <a:ext cx="886332"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预期损失（</a:t>
              </a:r>
              <a:r>
                <a:rPr lang="en-US" sz="640" dirty="0">
                  <a:solidFill>
                    <a:srgbClr val="5C3A33"/>
                  </a:solidFill>
                  <a:latin typeface="+mj-lt"/>
                  <a:ea typeface="+mj-ea"/>
                  <a:cs typeface="+mj-cs"/>
                </a:rPr>
                <a:t>EL</a:t>
              </a:r>
              <a:r>
                <a:rPr lang="zh-CN" sz="640" dirty="0">
                  <a:solidFill>
                    <a:srgbClr val="5C3A33"/>
                  </a:solidFill>
                  <a:latin typeface="+mn-lt"/>
                  <a:ea typeface="+mn-ea"/>
                  <a:cs typeface="+mn-cs"/>
                </a:rPr>
                <a:t>）增加</a:t>
              </a:r>
            </a:p>
          </p:txBody>
        </p:sp>
        <p:sp>
          <p:nvSpPr>
            <p:cNvPr id="99" name="TextBox 99"/>
            <p:cNvSpPr txBox="1"/>
            <p:nvPr/>
          </p:nvSpPr>
          <p:spPr>
            <a:xfrm>
              <a:off x="8377238" y="2741057"/>
              <a:ext cx="977514"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非预期损失（</a:t>
              </a:r>
              <a:r>
                <a:rPr lang="en-US" sz="640" dirty="0">
                  <a:solidFill>
                    <a:srgbClr val="5C3A33"/>
                  </a:solidFill>
                  <a:latin typeface="+mj-lt"/>
                  <a:ea typeface="+mj-ea"/>
                  <a:cs typeface="+mj-cs"/>
                </a:rPr>
                <a:t>UL</a:t>
              </a:r>
              <a:r>
                <a:rPr lang="zh-CN" sz="640" dirty="0">
                  <a:solidFill>
                    <a:srgbClr val="5C3A33"/>
                  </a:solidFill>
                  <a:latin typeface="+mn-lt"/>
                  <a:ea typeface="+mn-ea"/>
                  <a:cs typeface="+mn-cs"/>
                </a:rPr>
                <a:t>）上升</a:t>
              </a:r>
            </a:p>
          </p:txBody>
        </p:sp>
        <p:sp>
          <p:nvSpPr>
            <p:cNvPr id="100" name="TextBox 100"/>
            <p:cNvSpPr txBox="1"/>
            <p:nvPr/>
          </p:nvSpPr>
          <p:spPr>
            <a:xfrm>
              <a:off x="8377238" y="2941082"/>
              <a:ext cx="1159674"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风险加权资产（</a:t>
              </a:r>
              <a:r>
                <a:rPr lang="en-US" sz="640" dirty="0">
                  <a:solidFill>
                    <a:srgbClr val="5C3A33"/>
                  </a:solidFill>
                  <a:latin typeface="+mj-lt"/>
                  <a:ea typeface="+mj-ea"/>
                  <a:cs typeface="+mj-cs"/>
                </a:rPr>
                <a:t>RWA</a:t>
              </a:r>
              <a:r>
                <a:rPr lang="zh-CN" sz="640" dirty="0">
                  <a:solidFill>
                    <a:srgbClr val="5C3A33"/>
                  </a:solidFill>
                  <a:latin typeface="+mn-lt"/>
                  <a:ea typeface="+mn-ea"/>
                  <a:cs typeface="+mn-cs"/>
                </a:rPr>
                <a:t>）扩大</a:t>
              </a:r>
            </a:p>
          </p:txBody>
        </p:sp>
        <p:sp>
          <p:nvSpPr>
            <p:cNvPr id="101" name="TextBox 101"/>
            <p:cNvSpPr txBox="1"/>
            <p:nvPr/>
          </p:nvSpPr>
          <p:spPr>
            <a:xfrm>
              <a:off x="8377238" y="3141107"/>
              <a:ext cx="602666"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拨备需求上升</a:t>
              </a:r>
            </a:p>
          </p:txBody>
        </p:sp>
        <p:sp>
          <p:nvSpPr>
            <p:cNvPr id="102" name="TextBox 102"/>
            <p:cNvSpPr txBox="1"/>
            <p:nvPr/>
          </p:nvSpPr>
          <p:spPr>
            <a:xfrm>
              <a:off x="8377238" y="3341132"/>
              <a:ext cx="41742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a:t>
              </a:r>
            </a:p>
          </p:txBody>
        </p:sp>
      </p:grpSp>
      <p:grpSp>
        <p:nvGrpSpPr>
          <p:cNvPr id="124" name="chain-06"/>
          <p:cNvGrpSpPr/>
          <p:nvPr/>
        </p:nvGrpSpPr>
        <p:grpSpPr>
          <a:xfrm>
            <a:off x="10287000" y="1428750"/>
            <a:ext cx="1809750" cy="2667000"/>
            <a:chOff x="10287000" y="1428750"/>
            <a:chExt cx="1809750" cy="2667000"/>
          </a:xfrm>
        </p:grpSpPr>
        <p:sp>
          <p:nvSpPr>
            <p:cNvPr id="104" name="Rectangle 104"/>
            <p:cNvSpPr/>
            <p:nvPr/>
          </p:nvSpPr>
          <p:spPr>
            <a:xfrm>
              <a:off x="10287000" y="1428750"/>
              <a:ext cx="1809750" cy="2667000"/>
            </a:xfrm>
            <a:prstGeom prst="roundRect">
              <a:avLst>
                <a:gd name="adj" fmla="val 4211"/>
              </a:avLst>
            </a:prstGeom>
            <a:solidFill>
              <a:srgbClr val="F4F9FD"/>
            </a:solidFill>
            <a:ln w="9525">
              <a:solidFill>
                <a:srgbClr val="CFE2F2"/>
              </a:solidFill>
            </a:ln>
          </p:spPr>
        </p:sp>
        <p:sp>
          <p:nvSpPr>
            <p:cNvPr id="105" name="Ellipse 105"/>
            <p:cNvSpPr/>
            <p:nvPr/>
          </p:nvSpPr>
          <p:spPr>
            <a:xfrm>
              <a:off x="10391775" y="1514475"/>
              <a:ext cx="171450" cy="171450"/>
            </a:xfrm>
            <a:prstGeom prst="ellipse">
              <a:avLst/>
            </a:prstGeom>
            <a:solidFill>
              <a:srgbClr val="C4472E"/>
            </a:solidFill>
            <a:ln>
              <a:noFill/>
            </a:ln>
          </p:spPr>
        </p:sp>
        <p:sp>
          <p:nvSpPr>
            <p:cNvPr id="106" name="TextBox 106"/>
            <p:cNvSpPr txBox="1"/>
            <p:nvPr/>
          </p:nvSpPr>
          <p:spPr>
            <a:xfrm>
              <a:off x="10395389" y="1560671"/>
              <a:ext cx="1642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j-lt"/>
                  <a:ea typeface="+mj-ea"/>
                  <a:cs typeface="+mj-cs"/>
                </a:rPr>
                <a:t>06​</a:t>
              </a:r>
            </a:p>
          </p:txBody>
        </p:sp>
        <p:sp>
          <p:nvSpPr>
            <p:cNvPr id="107" name="TextBox 107"/>
            <p:cNvSpPr txBox="1"/>
            <p:nvPr/>
          </p:nvSpPr>
          <p:spPr>
            <a:xfrm>
              <a:off x="10625138" y="1553289"/>
              <a:ext cx="434924" cy="154781"/>
            </a:xfrm>
            <a:prstGeom prst="rect">
              <a:avLst/>
            </a:prstGeom>
            <a:noFill/>
            <a:ln>
              <a:noFill/>
            </a:ln>
          </p:spPr>
          <p:txBody>
            <a:bodyPr wrap="none" lIns="0" tIns="0" rIns="0" bIns="0" anchor="t" anchorCtr="0">
              <a:spAutoFit/>
            </a:bodyPr>
            <a:lstStyle/>
            <a:p>
              <a:pPr algn="l"/>
              <a:r>
                <a:rPr lang="zh-CN" sz="790" b="1" dirty="0">
                  <a:solidFill>
                    <a:srgbClr val="3E1810"/>
                  </a:solidFill>
                  <a:latin typeface="+mn-lt"/>
                  <a:ea typeface="+mn-ea"/>
                  <a:cs typeface="+mn-cs"/>
                </a:rPr>
                <a:t>资本影响</a:t>
              </a:r>
            </a:p>
          </p:txBody>
        </p:sp>
        <p:sp>
          <p:nvSpPr>
            <p:cNvPr id="108" name="TextBox 108"/>
            <p:cNvSpPr txBox="1"/>
            <p:nvPr/>
          </p:nvSpPr>
          <p:spPr>
            <a:xfrm>
              <a:off x="10396538" y="1764030"/>
              <a:ext cx="574929"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资本充足率下降</a:t>
              </a:r>
            </a:p>
          </p:txBody>
        </p:sp>
        <p:grpSp>
          <p:nvGrpSpPr>
            <p:cNvPr id="117" name="Group 117"/>
            <p:cNvGrpSpPr/>
            <p:nvPr/>
          </p:nvGrpSpPr>
          <p:grpSpPr>
            <a:xfrm>
              <a:off x="11049000" y="1990725"/>
              <a:ext cx="285751" cy="295276"/>
              <a:chOff x="11049000" y="1990725"/>
              <a:chExt cx="285751" cy="295276"/>
            </a:xfrm>
          </p:grpSpPr>
          <p:sp>
            <p:nvSpPr>
              <p:cNvPr id="109" name="Freeform 109"/>
              <p:cNvSpPr/>
              <p:nvPr/>
            </p:nvSpPr>
            <p:spPr>
              <a:xfrm>
                <a:off x="11049000" y="2276476"/>
                <a:ext cx="285751" cy="9525"/>
              </a:xfrm>
              <a:custGeom>
                <a:avLst/>
                <a:gdLst/>
                <a:ahLst/>
                <a:cxnLst/>
                <a:rect l="l" t="t" r="r" b="b"/>
                <a:pathLst>
                  <a:path w="285751" h="9525">
                    <a:moveTo>
                      <a:pt x="0" y="0"/>
                    </a:moveTo>
                    <a:lnTo>
                      <a:pt x="285751" y="0"/>
                    </a:lnTo>
                  </a:path>
                </a:pathLst>
              </a:custGeom>
              <a:noFill/>
              <a:ln w="31750">
                <a:solidFill>
                  <a:srgbClr val="C4472E"/>
                </a:solidFill>
              </a:ln>
            </p:spPr>
          </p:sp>
          <p:sp>
            <p:nvSpPr>
              <p:cNvPr id="110" name="Freeform 110"/>
              <p:cNvSpPr/>
              <p:nvPr/>
            </p:nvSpPr>
            <p:spPr>
              <a:xfrm>
                <a:off x="11049000" y="2101850"/>
                <a:ext cx="285751" cy="9525"/>
              </a:xfrm>
              <a:custGeom>
                <a:avLst/>
                <a:gdLst/>
                <a:ahLst/>
                <a:cxnLst/>
                <a:rect l="l" t="t" r="r" b="b"/>
                <a:pathLst>
                  <a:path w="285751" h="9525">
                    <a:moveTo>
                      <a:pt x="0" y="0"/>
                    </a:moveTo>
                    <a:lnTo>
                      <a:pt x="285751" y="0"/>
                    </a:lnTo>
                  </a:path>
                </a:pathLst>
              </a:custGeom>
              <a:noFill/>
              <a:ln w="31750">
                <a:solidFill>
                  <a:srgbClr val="C4472E"/>
                </a:solidFill>
              </a:ln>
            </p:spPr>
          </p:sp>
          <p:sp>
            <p:nvSpPr>
              <p:cNvPr id="111" name="Freeform 111"/>
              <p:cNvSpPr/>
              <p:nvPr/>
            </p:nvSpPr>
            <p:spPr>
              <a:xfrm>
                <a:off x="11080750" y="1990725"/>
                <a:ext cx="222250" cy="47625"/>
              </a:xfrm>
              <a:custGeom>
                <a:avLst/>
                <a:gdLst/>
                <a:ahLst/>
                <a:cxnLst/>
                <a:rect l="l" t="t" r="r" b="b"/>
                <a:pathLst>
                  <a:path w="222250" h="47625">
                    <a:moveTo>
                      <a:pt x="0" y="47625"/>
                    </a:moveTo>
                    <a:lnTo>
                      <a:pt x="111125" y="0"/>
                    </a:lnTo>
                    <a:lnTo>
                      <a:pt x="222250" y="47625"/>
                    </a:lnTo>
                  </a:path>
                </a:pathLst>
              </a:custGeom>
              <a:noFill/>
              <a:ln w="31750">
                <a:solidFill>
                  <a:srgbClr val="C4472E"/>
                </a:solidFill>
              </a:ln>
            </p:spPr>
          </p:sp>
          <p:sp>
            <p:nvSpPr>
              <p:cNvPr id="112" name="Freeform 112"/>
              <p:cNvSpPr/>
              <p:nvPr/>
            </p:nvSpPr>
            <p:spPr>
              <a:xfrm>
                <a:off x="11064875" y="2101850"/>
                <a:ext cx="9525" cy="174625"/>
              </a:xfrm>
              <a:custGeom>
                <a:avLst/>
                <a:gdLst/>
                <a:ahLst/>
                <a:cxnLst/>
                <a:rect l="l" t="t" r="r" b="b"/>
                <a:pathLst>
                  <a:path w="9525" h="174625">
                    <a:moveTo>
                      <a:pt x="0" y="0"/>
                    </a:moveTo>
                    <a:lnTo>
                      <a:pt x="0" y="174625"/>
                    </a:lnTo>
                  </a:path>
                </a:pathLst>
              </a:custGeom>
              <a:noFill/>
              <a:ln w="31750">
                <a:solidFill>
                  <a:srgbClr val="C4472E"/>
                </a:solidFill>
              </a:ln>
            </p:spPr>
          </p:sp>
          <p:sp>
            <p:nvSpPr>
              <p:cNvPr id="113" name="Freeform 113"/>
              <p:cNvSpPr/>
              <p:nvPr/>
            </p:nvSpPr>
            <p:spPr>
              <a:xfrm>
                <a:off x="11318876" y="2101850"/>
                <a:ext cx="9525" cy="174625"/>
              </a:xfrm>
              <a:custGeom>
                <a:avLst/>
                <a:gdLst/>
                <a:ahLst/>
                <a:cxnLst/>
                <a:rect l="l" t="t" r="r" b="b"/>
                <a:pathLst>
                  <a:path w="9525" h="174625">
                    <a:moveTo>
                      <a:pt x="0" y="0"/>
                    </a:moveTo>
                    <a:lnTo>
                      <a:pt x="0" y="174625"/>
                    </a:lnTo>
                  </a:path>
                </a:pathLst>
              </a:custGeom>
              <a:noFill/>
              <a:ln w="31750">
                <a:solidFill>
                  <a:srgbClr val="C4472E"/>
                </a:solidFill>
              </a:ln>
            </p:spPr>
          </p:sp>
          <p:sp>
            <p:nvSpPr>
              <p:cNvPr id="114" name="Freeform 114"/>
              <p:cNvSpPr/>
              <p:nvPr/>
            </p:nvSpPr>
            <p:spPr>
              <a:xfrm>
                <a:off x="11128375" y="2165350"/>
                <a:ext cx="9525" cy="47625"/>
              </a:xfrm>
              <a:custGeom>
                <a:avLst/>
                <a:gdLst/>
                <a:ahLst/>
                <a:cxnLst/>
                <a:rect l="l" t="t" r="r" b="b"/>
                <a:pathLst>
                  <a:path w="9525" h="47625">
                    <a:moveTo>
                      <a:pt x="0" y="0"/>
                    </a:moveTo>
                    <a:lnTo>
                      <a:pt x="0" y="47625"/>
                    </a:lnTo>
                  </a:path>
                </a:pathLst>
              </a:custGeom>
              <a:noFill/>
              <a:ln w="31750">
                <a:solidFill>
                  <a:srgbClr val="C4472E"/>
                </a:solidFill>
              </a:ln>
            </p:spPr>
          </p:sp>
          <p:sp>
            <p:nvSpPr>
              <p:cNvPr id="115" name="Freeform 115"/>
              <p:cNvSpPr/>
              <p:nvPr/>
            </p:nvSpPr>
            <p:spPr>
              <a:xfrm>
                <a:off x="11191875" y="2165350"/>
                <a:ext cx="9525" cy="47625"/>
              </a:xfrm>
              <a:custGeom>
                <a:avLst/>
                <a:gdLst/>
                <a:ahLst/>
                <a:cxnLst/>
                <a:rect l="l" t="t" r="r" b="b"/>
                <a:pathLst>
                  <a:path w="9525" h="47625">
                    <a:moveTo>
                      <a:pt x="0" y="0"/>
                    </a:moveTo>
                    <a:lnTo>
                      <a:pt x="0" y="47625"/>
                    </a:lnTo>
                  </a:path>
                </a:pathLst>
              </a:custGeom>
              <a:noFill/>
              <a:ln w="31750">
                <a:solidFill>
                  <a:srgbClr val="C4472E"/>
                </a:solidFill>
              </a:ln>
            </p:spPr>
          </p:sp>
          <p:sp>
            <p:nvSpPr>
              <p:cNvPr id="116" name="Freeform 116"/>
              <p:cNvSpPr/>
              <p:nvPr/>
            </p:nvSpPr>
            <p:spPr>
              <a:xfrm>
                <a:off x="11255376" y="2165350"/>
                <a:ext cx="9525" cy="47625"/>
              </a:xfrm>
              <a:custGeom>
                <a:avLst/>
                <a:gdLst/>
                <a:ahLst/>
                <a:cxnLst/>
                <a:rect l="l" t="t" r="r" b="b"/>
                <a:pathLst>
                  <a:path w="9525" h="47625">
                    <a:moveTo>
                      <a:pt x="0" y="0"/>
                    </a:moveTo>
                    <a:lnTo>
                      <a:pt x="0" y="47625"/>
                    </a:lnTo>
                  </a:path>
                </a:pathLst>
              </a:custGeom>
              <a:noFill/>
              <a:ln w="31750">
                <a:solidFill>
                  <a:srgbClr val="C4472E"/>
                </a:solidFill>
              </a:ln>
            </p:spPr>
          </p:sp>
        </p:grpSp>
        <p:sp>
          <p:nvSpPr>
            <p:cNvPr id="118" name="Line 118"/>
            <p:cNvSpPr/>
            <p:nvPr/>
          </p:nvSpPr>
          <p:spPr>
            <a:xfrm>
              <a:off x="10401300" y="2419350"/>
              <a:ext cx="1581150" cy="9525"/>
            </a:xfrm>
            <a:custGeom>
              <a:avLst/>
              <a:gdLst/>
              <a:ahLst/>
              <a:cxnLst/>
              <a:rect l="l" t="t" r="r" b="b"/>
              <a:pathLst>
                <a:path w="1581150" h="9525">
                  <a:moveTo>
                    <a:pt x="0" y="0"/>
                  </a:moveTo>
                  <a:lnTo>
                    <a:pt x="1581150" y="0"/>
                  </a:lnTo>
                </a:path>
              </a:pathLst>
            </a:custGeom>
            <a:noFill/>
            <a:ln w="9525">
              <a:solidFill>
                <a:srgbClr val="CFE2F2"/>
              </a:solidFill>
            </a:ln>
          </p:spPr>
        </p:sp>
        <p:sp>
          <p:nvSpPr>
            <p:cNvPr id="119" name="TextBox 119"/>
            <p:cNvSpPr txBox="1"/>
            <p:nvPr/>
          </p:nvSpPr>
          <p:spPr>
            <a:xfrm>
              <a:off x="10396538" y="2541032"/>
              <a:ext cx="77497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核心一级资本消耗</a:t>
              </a:r>
            </a:p>
          </p:txBody>
        </p:sp>
        <p:sp>
          <p:nvSpPr>
            <p:cNvPr id="120" name="TextBox 120"/>
            <p:cNvSpPr txBox="1"/>
            <p:nvPr/>
          </p:nvSpPr>
          <p:spPr>
            <a:xfrm>
              <a:off x="10396538" y="2741057"/>
              <a:ext cx="688823"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资本充足率下降</a:t>
              </a:r>
            </a:p>
          </p:txBody>
        </p:sp>
        <p:sp>
          <p:nvSpPr>
            <p:cNvPr id="121" name="TextBox 121"/>
            <p:cNvSpPr txBox="1"/>
            <p:nvPr/>
          </p:nvSpPr>
          <p:spPr>
            <a:xfrm>
              <a:off x="10396538" y="2941082"/>
              <a:ext cx="77497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可能触碰监管要求</a:t>
              </a:r>
            </a:p>
          </p:txBody>
        </p:sp>
        <p:sp>
          <p:nvSpPr>
            <p:cNvPr id="122" name="TextBox 122"/>
            <p:cNvSpPr txBox="1"/>
            <p:nvPr/>
          </p:nvSpPr>
          <p:spPr>
            <a:xfrm>
              <a:off x="10396538" y="3141107"/>
              <a:ext cx="1033450"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需要资本补充或业务调整</a:t>
              </a:r>
            </a:p>
          </p:txBody>
        </p:sp>
        <p:sp>
          <p:nvSpPr>
            <p:cNvPr id="123" name="TextBox 123"/>
            <p:cNvSpPr txBox="1"/>
            <p:nvPr/>
          </p:nvSpPr>
          <p:spPr>
            <a:xfrm>
              <a:off x="10396538" y="3341132"/>
              <a:ext cx="417429" cy="126206"/>
            </a:xfrm>
            <a:prstGeom prst="rect">
              <a:avLst/>
            </a:prstGeom>
            <a:noFill/>
            <a:ln>
              <a:noFill/>
            </a:ln>
          </p:spPr>
          <p:txBody>
            <a:bodyPr wrap="none" lIns="0" tIns="0" rIns="0" bIns="0" anchor="t" anchorCtr="0">
              <a:spAutoFit/>
            </a:bodyPr>
            <a:lstStyle/>
            <a:p>
              <a:pPr algn="l" marL="76200" indent="-76200">
                <a:buClr>
                  <a:srgbClr val="5C3A33"/>
                </a:buClr>
                <a:buSzTx/>
                <a:buFontTx/>
                <a:buChar char="•"/>
              </a:pPr>
              <a:r>
                <a:rPr lang="zh-CN" sz="640" dirty="0">
                  <a:solidFill>
                    <a:srgbClr val="5C3A33"/>
                  </a:solidFill>
                  <a:latin typeface="+mn-lt"/>
                  <a:ea typeface="+mn-ea"/>
                  <a:cs typeface="+mn-cs"/>
                </a:rPr>
                <a:t>......​</a:t>
              </a:r>
            </a:p>
          </p:txBody>
        </p:sp>
      </p:grpSp>
      <p:grpSp>
        <p:nvGrpSpPr>
          <p:cNvPr id="193" name="scenario-table"/>
          <p:cNvGrpSpPr/>
          <p:nvPr/>
        </p:nvGrpSpPr>
        <p:grpSpPr>
          <a:xfrm>
            <a:off x="190500" y="4171950"/>
            <a:ext cx="4762500" cy="2362200"/>
            <a:chOff x="190500" y="4171950"/>
            <a:chExt cx="4762500" cy="2362200"/>
          </a:xfrm>
        </p:grpSpPr>
        <p:sp>
          <p:nvSpPr>
            <p:cNvPr id="125" name="Rectangle 125"/>
            <p:cNvSpPr/>
            <p:nvPr/>
          </p:nvSpPr>
          <p:spPr>
            <a:xfrm>
              <a:off x="190500" y="4171950"/>
              <a:ext cx="4762500" cy="2362200"/>
            </a:xfrm>
            <a:prstGeom prst="roundRect">
              <a:avLst>
                <a:gd name="adj" fmla="val 3226"/>
              </a:avLst>
            </a:prstGeom>
            <a:solidFill>
              <a:srgbClr val="FFFFFF"/>
            </a:solidFill>
            <a:ln w="9525">
              <a:solidFill>
                <a:srgbClr val="CFE2F2"/>
              </a:solidFill>
            </a:ln>
          </p:spPr>
        </p:sp>
        <p:grpSp>
          <p:nvGrpSpPr>
            <p:cNvPr id="132" name="Group 132"/>
            <p:cNvGrpSpPr/>
            <p:nvPr/>
          </p:nvGrpSpPr>
          <p:grpSpPr>
            <a:xfrm>
              <a:off x="346075" y="4276725"/>
              <a:ext cx="104775" cy="95250"/>
              <a:chOff x="346075" y="4276725"/>
              <a:chExt cx="104775" cy="95250"/>
            </a:xfrm>
          </p:grpSpPr>
          <p:sp>
            <p:nvSpPr>
              <p:cNvPr id="126" name="Freeform 126"/>
              <p:cNvSpPr/>
              <p:nvPr/>
            </p:nvSpPr>
            <p:spPr>
              <a:xfrm>
                <a:off x="346075" y="4276725"/>
                <a:ext cx="25400" cy="15875"/>
              </a:xfrm>
              <a:custGeom>
                <a:avLst/>
                <a:gdLst/>
                <a:ahLst/>
                <a:cxnLst/>
                <a:rect l="l" t="t" r="r" b="b"/>
                <a:pathLst>
                  <a:path w="25400" h="15875">
                    <a:moveTo>
                      <a:pt x="0" y="6350"/>
                    </a:moveTo>
                    <a:lnTo>
                      <a:pt x="9525" y="15875"/>
                    </a:lnTo>
                    <a:lnTo>
                      <a:pt x="25400" y="0"/>
                    </a:lnTo>
                  </a:path>
                </a:pathLst>
              </a:custGeom>
              <a:noFill/>
              <a:ln w="12700">
                <a:solidFill>
                  <a:srgbClr val="C4472E"/>
                </a:solidFill>
              </a:ln>
            </p:spPr>
          </p:sp>
          <p:sp>
            <p:nvSpPr>
              <p:cNvPr id="127" name="Freeform 127"/>
              <p:cNvSpPr/>
              <p:nvPr/>
            </p:nvSpPr>
            <p:spPr>
              <a:xfrm>
                <a:off x="346075" y="4314825"/>
                <a:ext cx="25400" cy="15875"/>
              </a:xfrm>
              <a:custGeom>
                <a:avLst/>
                <a:gdLst/>
                <a:ahLst/>
                <a:cxnLst/>
                <a:rect l="l" t="t" r="r" b="b"/>
                <a:pathLst>
                  <a:path w="25400" h="15875">
                    <a:moveTo>
                      <a:pt x="0" y="6350"/>
                    </a:moveTo>
                    <a:lnTo>
                      <a:pt x="9525" y="15875"/>
                    </a:lnTo>
                    <a:lnTo>
                      <a:pt x="25400" y="0"/>
                    </a:lnTo>
                  </a:path>
                </a:pathLst>
              </a:custGeom>
              <a:noFill/>
              <a:ln w="12700">
                <a:solidFill>
                  <a:srgbClr val="C4472E"/>
                </a:solidFill>
              </a:ln>
            </p:spPr>
          </p:sp>
          <p:sp>
            <p:nvSpPr>
              <p:cNvPr id="128" name="Freeform 128"/>
              <p:cNvSpPr/>
              <p:nvPr/>
            </p:nvSpPr>
            <p:spPr>
              <a:xfrm>
                <a:off x="346075" y="4352925"/>
                <a:ext cx="25400" cy="15875"/>
              </a:xfrm>
              <a:custGeom>
                <a:avLst/>
                <a:gdLst/>
                <a:ahLst/>
                <a:cxnLst/>
                <a:rect l="l" t="t" r="r" b="b"/>
                <a:pathLst>
                  <a:path w="25400" h="15875">
                    <a:moveTo>
                      <a:pt x="0" y="6350"/>
                    </a:moveTo>
                    <a:lnTo>
                      <a:pt x="9525" y="15875"/>
                    </a:lnTo>
                    <a:lnTo>
                      <a:pt x="25400" y="0"/>
                    </a:lnTo>
                  </a:path>
                </a:pathLst>
              </a:custGeom>
              <a:noFill/>
              <a:ln w="12700">
                <a:solidFill>
                  <a:srgbClr val="C4472E"/>
                </a:solidFill>
              </a:ln>
            </p:spPr>
          </p:sp>
          <p:sp>
            <p:nvSpPr>
              <p:cNvPr id="129" name="Freeform 129"/>
              <p:cNvSpPr/>
              <p:nvPr/>
            </p:nvSpPr>
            <p:spPr>
              <a:xfrm>
                <a:off x="393700" y="4286250"/>
                <a:ext cx="57150" cy="9525"/>
              </a:xfrm>
              <a:custGeom>
                <a:avLst/>
                <a:gdLst/>
                <a:ahLst/>
                <a:cxnLst/>
                <a:rect l="l" t="t" r="r" b="b"/>
                <a:pathLst>
                  <a:path w="57150" h="9525">
                    <a:moveTo>
                      <a:pt x="0" y="0"/>
                    </a:moveTo>
                    <a:lnTo>
                      <a:pt x="57150" y="0"/>
                    </a:lnTo>
                  </a:path>
                </a:pathLst>
              </a:custGeom>
              <a:noFill/>
              <a:ln w="12700">
                <a:solidFill>
                  <a:srgbClr val="C4472E"/>
                </a:solidFill>
              </a:ln>
            </p:spPr>
          </p:sp>
          <p:sp>
            <p:nvSpPr>
              <p:cNvPr id="130" name="Freeform 130"/>
              <p:cNvSpPr/>
              <p:nvPr/>
            </p:nvSpPr>
            <p:spPr>
              <a:xfrm>
                <a:off x="393700" y="4324350"/>
                <a:ext cx="57150" cy="9525"/>
              </a:xfrm>
              <a:custGeom>
                <a:avLst/>
                <a:gdLst/>
                <a:ahLst/>
                <a:cxnLst/>
                <a:rect l="l" t="t" r="r" b="b"/>
                <a:pathLst>
                  <a:path w="57150" h="9525">
                    <a:moveTo>
                      <a:pt x="0" y="0"/>
                    </a:moveTo>
                    <a:lnTo>
                      <a:pt x="57150" y="0"/>
                    </a:lnTo>
                  </a:path>
                </a:pathLst>
              </a:custGeom>
              <a:noFill/>
              <a:ln w="12700">
                <a:solidFill>
                  <a:srgbClr val="C4472E"/>
                </a:solidFill>
              </a:ln>
            </p:spPr>
          </p:sp>
          <p:sp>
            <p:nvSpPr>
              <p:cNvPr id="131" name="Freeform 131"/>
              <p:cNvSpPr/>
              <p:nvPr/>
            </p:nvSpPr>
            <p:spPr>
              <a:xfrm>
                <a:off x="393700" y="4362450"/>
                <a:ext cx="57150" cy="9525"/>
              </a:xfrm>
              <a:custGeom>
                <a:avLst/>
                <a:gdLst/>
                <a:ahLst/>
                <a:cxnLst/>
                <a:rect l="l" t="t" r="r" b="b"/>
                <a:pathLst>
                  <a:path w="57150" h="9525">
                    <a:moveTo>
                      <a:pt x="0" y="0"/>
                    </a:moveTo>
                    <a:lnTo>
                      <a:pt x="57150" y="0"/>
                    </a:lnTo>
                  </a:path>
                </a:pathLst>
              </a:custGeom>
              <a:noFill/>
              <a:ln w="12700">
                <a:solidFill>
                  <a:srgbClr val="C4472E"/>
                </a:solidFill>
              </a:ln>
            </p:spPr>
          </p:sp>
        </p:grpSp>
        <p:sp>
          <p:nvSpPr>
            <p:cNvPr id="133" name="TextBox 133"/>
            <p:cNvSpPr txBox="1"/>
            <p:nvPr/>
          </p:nvSpPr>
          <p:spPr>
            <a:xfrm>
              <a:off x="528638" y="4278868"/>
              <a:ext cx="1283030" cy="169069"/>
            </a:xfrm>
            <a:prstGeom prst="rect">
              <a:avLst/>
            </a:prstGeom>
            <a:noFill/>
            <a:ln>
              <a:noFill/>
            </a:ln>
          </p:spPr>
          <p:txBody>
            <a:bodyPr wrap="none" lIns="0" tIns="0" rIns="0" bIns="0" anchor="t" anchorCtr="0">
              <a:spAutoFit/>
            </a:bodyPr>
            <a:lstStyle/>
            <a:p>
              <a:pPr algn="l"/>
              <a:r>
                <a:rPr lang="zh-CN" sz="860" b="1" dirty="0">
                  <a:solidFill>
                    <a:srgbClr val="3E1810"/>
                  </a:solidFill>
                  <a:latin typeface="+mn-lt"/>
                  <a:ea typeface="+mn-ea"/>
                  <a:cs typeface="+mn-cs"/>
                </a:rPr>
                <a:t>情景设定示例（教学用）</a:t>
              </a:r>
            </a:p>
          </p:txBody>
        </p:sp>
        <p:sp>
          <p:nvSpPr>
            <p:cNvPr id="134" name="Rectangle 134"/>
            <p:cNvSpPr/>
            <p:nvPr/>
          </p:nvSpPr>
          <p:spPr>
            <a:xfrm>
              <a:off x="304800" y="4476750"/>
              <a:ext cx="1428750" cy="304800"/>
            </a:xfrm>
            <a:prstGeom prst="rect">
              <a:avLst/>
            </a:prstGeom>
            <a:solidFill>
              <a:srgbClr val="9E311B"/>
            </a:solidFill>
            <a:ln>
              <a:noFill/>
            </a:ln>
          </p:spPr>
        </p:sp>
        <p:sp>
          <p:nvSpPr>
            <p:cNvPr id="135" name="TextBox 135"/>
            <p:cNvSpPr txBox="1"/>
            <p:nvPr/>
          </p:nvSpPr>
          <p:spPr>
            <a:xfrm>
              <a:off x="922871" y="4594384"/>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指标</a:t>
              </a:r>
            </a:p>
          </p:txBody>
        </p:sp>
        <p:sp>
          <p:nvSpPr>
            <p:cNvPr id="136" name="Rectangle 136"/>
            <p:cNvSpPr/>
            <p:nvPr/>
          </p:nvSpPr>
          <p:spPr>
            <a:xfrm>
              <a:off x="1733550" y="4476750"/>
              <a:ext cx="1028700" cy="304800"/>
            </a:xfrm>
            <a:prstGeom prst="rect">
              <a:avLst/>
            </a:prstGeom>
            <a:solidFill>
              <a:srgbClr val="C4472E"/>
            </a:solidFill>
            <a:ln>
              <a:noFill/>
            </a:ln>
          </p:spPr>
        </p:sp>
        <p:sp>
          <p:nvSpPr>
            <p:cNvPr id="137" name="TextBox 137"/>
            <p:cNvSpPr txBox="1"/>
            <p:nvPr/>
          </p:nvSpPr>
          <p:spPr>
            <a:xfrm>
              <a:off x="2060054" y="45372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基准情景</a:t>
              </a:r>
            </a:p>
          </p:txBody>
        </p:sp>
        <p:sp>
          <p:nvSpPr>
            <p:cNvPr id="138" name="TextBox 138"/>
            <p:cNvSpPr txBox="1"/>
            <p:nvPr/>
          </p:nvSpPr>
          <p:spPr>
            <a:xfrm>
              <a:off x="1986488" y="4667726"/>
              <a:ext cx="522825"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j-lt"/>
                  <a:ea typeface="+mj-ea"/>
                  <a:cs typeface="+mj-cs"/>
                </a:rPr>
                <a:t>（2024-2026）​</a:t>
              </a:r>
            </a:p>
          </p:txBody>
        </p:sp>
        <p:sp>
          <p:nvSpPr>
            <p:cNvPr id="139" name="Rectangle 139"/>
            <p:cNvSpPr/>
            <p:nvPr/>
          </p:nvSpPr>
          <p:spPr>
            <a:xfrm>
              <a:off x="2762250" y="4476750"/>
              <a:ext cx="1028700" cy="304800"/>
            </a:xfrm>
            <a:prstGeom prst="rect">
              <a:avLst/>
            </a:prstGeom>
            <a:solidFill>
              <a:srgbClr val="9D331F"/>
            </a:solidFill>
            <a:ln>
              <a:noFill/>
            </a:ln>
          </p:spPr>
        </p:sp>
        <p:sp>
          <p:nvSpPr>
            <p:cNvPr id="140" name="TextBox 140"/>
            <p:cNvSpPr txBox="1"/>
            <p:nvPr/>
          </p:nvSpPr>
          <p:spPr>
            <a:xfrm>
              <a:off x="3088754" y="45372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轻度压力</a:t>
              </a:r>
            </a:p>
          </p:txBody>
        </p:sp>
        <p:sp>
          <p:nvSpPr>
            <p:cNvPr id="141" name="TextBox 141"/>
            <p:cNvSpPr txBox="1"/>
            <p:nvPr/>
          </p:nvSpPr>
          <p:spPr>
            <a:xfrm>
              <a:off x="3061830" y="4667726"/>
              <a:ext cx="429539"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（下行情景）</a:t>
              </a:r>
            </a:p>
          </p:txBody>
        </p:sp>
        <p:sp>
          <p:nvSpPr>
            <p:cNvPr id="142" name="Rectangle 142"/>
            <p:cNvSpPr/>
            <p:nvPr/>
          </p:nvSpPr>
          <p:spPr>
            <a:xfrm>
              <a:off x="3790950" y="4476750"/>
              <a:ext cx="1028700" cy="304800"/>
            </a:xfrm>
            <a:prstGeom prst="rect">
              <a:avLst/>
            </a:prstGeom>
            <a:solidFill>
              <a:srgbClr val="E03012"/>
            </a:solidFill>
            <a:ln>
              <a:noFill/>
            </a:ln>
          </p:spPr>
        </p:sp>
        <p:sp>
          <p:nvSpPr>
            <p:cNvPr id="143" name="TextBox 143"/>
            <p:cNvSpPr txBox="1"/>
            <p:nvPr/>
          </p:nvSpPr>
          <p:spPr>
            <a:xfrm>
              <a:off x="4117454" y="45372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重度压力</a:t>
              </a:r>
            </a:p>
          </p:txBody>
        </p:sp>
        <p:sp>
          <p:nvSpPr>
            <p:cNvPr id="144" name="TextBox 144"/>
            <p:cNvSpPr txBox="1"/>
            <p:nvPr/>
          </p:nvSpPr>
          <p:spPr>
            <a:xfrm>
              <a:off x="4020528" y="4667726"/>
              <a:ext cx="569544"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（严重下行情景）</a:t>
              </a:r>
            </a:p>
          </p:txBody>
        </p:sp>
        <p:sp>
          <p:nvSpPr>
            <p:cNvPr id="145" name="Rectangle 145"/>
            <p:cNvSpPr/>
            <p:nvPr/>
          </p:nvSpPr>
          <p:spPr>
            <a:xfrm>
              <a:off x="304800" y="4781550"/>
              <a:ext cx="1428750" cy="266700"/>
            </a:xfrm>
            <a:prstGeom prst="rect">
              <a:avLst/>
            </a:prstGeom>
            <a:solidFill>
              <a:srgbClr val="F4F9FD"/>
            </a:solidFill>
            <a:ln>
              <a:noFill/>
            </a:ln>
          </p:spPr>
        </p:sp>
        <p:sp>
          <p:nvSpPr>
            <p:cNvPr id="146" name="Rectangle 146"/>
            <p:cNvSpPr/>
            <p:nvPr/>
          </p:nvSpPr>
          <p:spPr>
            <a:xfrm>
              <a:off x="1733550" y="4781550"/>
              <a:ext cx="1028700" cy="266700"/>
            </a:xfrm>
            <a:prstGeom prst="rect">
              <a:avLst/>
            </a:prstGeom>
            <a:solidFill>
              <a:srgbClr val="EAF3FB"/>
            </a:solidFill>
            <a:ln>
              <a:noFill/>
            </a:ln>
          </p:spPr>
        </p:sp>
        <p:sp>
          <p:nvSpPr>
            <p:cNvPr id="147" name="Rectangle 147"/>
            <p:cNvSpPr/>
            <p:nvPr/>
          </p:nvSpPr>
          <p:spPr>
            <a:xfrm>
              <a:off x="2762250" y="4781550"/>
              <a:ext cx="1028700" cy="266700"/>
            </a:xfrm>
            <a:prstGeom prst="rect">
              <a:avLst/>
            </a:prstGeom>
            <a:solidFill>
              <a:srgbClr val="E5F4EB"/>
            </a:solidFill>
            <a:ln>
              <a:noFill/>
            </a:ln>
          </p:spPr>
        </p:sp>
        <p:sp>
          <p:nvSpPr>
            <p:cNvPr id="148" name="Rectangle 148"/>
            <p:cNvSpPr/>
            <p:nvPr/>
          </p:nvSpPr>
          <p:spPr>
            <a:xfrm>
              <a:off x="3790950" y="4781550"/>
              <a:ext cx="1028700" cy="266700"/>
            </a:xfrm>
            <a:prstGeom prst="rect">
              <a:avLst/>
            </a:prstGeom>
            <a:solidFill>
              <a:srgbClr val="FDF4DC"/>
            </a:solidFill>
            <a:ln>
              <a:noFill/>
            </a:ln>
          </p:spPr>
        </p:sp>
        <p:sp>
          <p:nvSpPr>
            <p:cNvPr id="149" name="TextBox 149"/>
            <p:cNvSpPr txBox="1"/>
            <p:nvPr/>
          </p:nvSpPr>
          <p:spPr>
            <a:xfrm>
              <a:off x="376238" y="4884182"/>
              <a:ext cx="663426" cy="126206"/>
            </a:xfrm>
            <a:prstGeom prst="rect">
              <a:avLst/>
            </a:prstGeom>
            <a:noFill/>
            <a:ln>
              <a:noFill/>
            </a:ln>
          </p:spPr>
          <p:txBody>
            <a:bodyPr wrap="none" lIns="0" tIns="0" rIns="0" bIns="0" anchor="t" anchorCtr="0">
              <a:spAutoFit/>
            </a:bodyPr>
            <a:lstStyle/>
            <a:p>
              <a:pPr algn="l"/>
              <a:r>
                <a:rPr lang="en-US" sz="640" dirty="0">
                  <a:solidFill>
                    <a:srgbClr val="5C3A33"/>
                  </a:solidFill>
                  <a:latin typeface="+mj-lt"/>
                  <a:ea typeface="+mj-ea"/>
                  <a:cs typeface="+mj-cs"/>
                </a:rPr>
                <a:t>GDP</a:t>
              </a:r>
              <a:r>
                <a:rPr lang="zh-CN" sz="640" dirty="0">
                  <a:solidFill>
                    <a:srgbClr val="5C3A33"/>
                  </a:solidFill>
                  <a:latin typeface="+mn-lt"/>
                  <a:ea typeface="+mn-ea"/>
                  <a:cs typeface="+mn-cs"/>
                </a:rPr>
                <a:t>增速（%）​</a:t>
              </a:r>
            </a:p>
          </p:txBody>
        </p:sp>
        <p:sp>
          <p:nvSpPr>
            <p:cNvPr id="150" name="TextBox 150"/>
            <p:cNvSpPr txBox="1"/>
            <p:nvPr/>
          </p:nvSpPr>
          <p:spPr>
            <a:xfrm>
              <a:off x="2154333" y="48801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5.0​</a:t>
              </a:r>
            </a:p>
          </p:txBody>
        </p:sp>
        <p:sp>
          <p:nvSpPr>
            <p:cNvPr id="151" name="TextBox 151"/>
            <p:cNvSpPr txBox="1"/>
            <p:nvPr/>
          </p:nvSpPr>
          <p:spPr>
            <a:xfrm>
              <a:off x="3183033" y="48801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3.0​</a:t>
              </a:r>
            </a:p>
          </p:txBody>
        </p:sp>
        <p:sp>
          <p:nvSpPr>
            <p:cNvPr id="152" name="TextBox 152"/>
            <p:cNvSpPr txBox="1"/>
            <p:nvPr/>
          </p:nvSpPr>
          <p:spPr>
            <a:xfrm>
              <a:off x="4211733" y="48801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1.0​</a:t>
              </a:r>
            </a:p>
          </p:txBody>
        </p:sp>
        <p:sp>
          <p:nvSpPr>
            <p:cNvPr id="153" name="Rectangle 153"/>
            <p:cNvSpPr/>
            <p:nvPr/>
          </p:nvSpPr>
          <p:spPr>
            <a:xfrm>
              <a:off x="304800" y="5048250"/>
              <a:ext cx="1428750" cy="266700"/>
            </a:xfrm>
            <a:prstGeom prst="rect">
              <a:avLst/>
            </a:prstGeom>
            <a:solidFill>
              <a:srgbClr val="FFFFFF"/>
            </a:solidFill>
            <a:ln>
              <a:noFill/>
            </a:ln>
          </p:spPr>
        </p:sp>
        <p:sp>
          <p:nvSpPr>
            <p:cNvPr id="154" name="Rectangle 154"/>
            <p:cNvSpPr/>
            <p:nvPr/>
          </p:nvSpPr>
          <p:spPr>
            <a:xfrm>
              <a:off x="1733550" y="5048250"/>
              <a:ext cx="1028700" cy="266700"/>
            </a:xfrm>
            <a:prstGeom prst="rect">
              <a:avLst/>
            </a:prstGeom>
            <a:solidFill>
              <a:srgbClr val="F2F8FD"/>
            </a:solidFill>
            <a:ln>
              <a:noFill/>
            </a:ln>
          </p:spPr>
        </p:sp>
        <p:sp>
          <p:nvSpPr>
            <p:cNvPr id="155" name="Rectangle 155"/>
            <p:cNvSpPr/>
            <p:nvPr/>
          </p:nvSpPr>
          <p:spPr>
            <a:xfrm>
              <a:off x="2762250" y="5048250"/>
              <a:ext cx="1028700" cy="266700"/>
            </a:xfrm>
            <a:prstGeom prst="rect">
              <a:avLst/>
            </a:prstGeom>
            <a:solidFill>
              <a:srgbClr val="F0F9F4"/>
            </a:solidFill>
            <a:ln>
              <a:noFill/>
            </a:ln>
          </p:spPr>
        </p:sp>
        <p:sp>
          <p:nvSpPr>
            <p:cNvPr id="156" name="Rectangle 156"/>
            <p:cNvSpPr/>
            <p:nvPr/>
          </p:nvSpPr>
          <p:spPr>
            <a:xfrm>
              <a:off x="3790950" y="5048250"/>
              <a:ext cx="1028700" cy="266700"/>
            </a:xfrm>
            <a:prstGeom prst="rect">
              <a:avLst/>
            </a:prstGeom>
            <a:solidFill>
              <a:srgbClr val="FEF9EC"/>
            </a:solidFill>
            <a:ln>
              <a:noFill/>
            </a:ln>
          </p:spPr>
        </p:sp>
        <p:sp>
          <p:nvSpPr>
            <p:cNvPr id="157" name="TextBox 157"/>
            <p:cNvSpPr txBox="1"/>
            <p:nvPr/>
          </p:nvSpPr>
          <p:spPr>
            <a:xfrm>
              <a:off x="376238" y="5150882"/>
              <a:ext cx="906624"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j-lt"/>
                  <a:ea typeface="+mj-ea"/>
                  <a:cs typeface="+mj-cs"/>
                </a:rPr>
                <a:t>10</a:t>
              </a:r>
              <a:r>
                <a:rPr lang="zh-CN" sz="640" dirty="0">
                  <a:solidFill>
                    <a:srgbClr val="5C3A33"/>
                  </a:solidFill>
                  <a:latin typeface="+mn-lt"/>
                  <a:ea typeface="+mn-ea"/>
                  <a:cs typeface="+mn-cs"/>
                </a:rPr>
                <a:t>年期国债利率（%）​</a:t>
              </a:r>
            </a:p>
          </p:txBody>
        </p:sp>
        <p:sp>
          <p:nvSpPr>
            <p:cNvPr id="158" name="TextBox 158"/>
            <p:cNvSpPr txBox="1"/>
            <p:nvPr/>
          </p:nvSpPr>
          <p:spPr>
            <a:xfrm>
              <a:off x="2154333" y="51468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2.8​</a:t>
              </a:r>
            </a:p>
          </p:txBody>
        </p:sp>
        <p:sp>
          <p:nvSpPr>
            <p:cNvPr id="159" name="TextBox 159"/>
            <p:cNvSpPr txBox="1"/>
            <p:nvPr/>
          </p:nvSpPr>
          <p:spPr>
            <a:xfrm>
              <a:off x="3183033" y="51468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3.2​</a:t>
              </a:r>
            </a:p>
          </p:txBody>
        </p:sp>
        <p:sp>
          <p:nvSpPr>
            <p:cNvPr id="160" name="TextBox 160"/>
            <p:cNvSpPr txBox="1"/>
            <p:nvPr/>
          </p:nvSpPr>
          <p:spPr>
            <a:xfrm>
              <a:off x="4211733" y="51468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3.8​</a:t>
              </a:r>
            </a:p>
          </p:txBody>
        </p:sp>
        <p:sp>
          <p:nvSpPr>
            <p:cNvPr id="161" name="Rectangle 161"/>
            <p:cNvSpPr/>
            <p:nvPr/>
          </p:nvSpPr>
          <p:spPr>
            <a:xfrm>
              <a:off x="304800" y="5314950"/>
              <a:ext cx="1428750" cy="266700"/>
            </a:xfrm>
            <a:prstGeom prst="rect">
              <a:avLst/>
            </a:prstGeom>
            <a:solidFill>
              <a:srgbClr val="F4F9FD"/>
            </a:solidFill>
            <a:ln>
              <a:noFill/>
            </a:ln>
          </p:spPr>
        </p:sp>
        <p:sp>
          <p:nvSpPr>
            <p:cNvPr id="162" name="Rectangle 162"/>
            <p:cNvSpPr/>
            <p:nvPr/>
          </p:nvSpPr>
          <p:spPr>
            <a:xfrm>
              <a:off x="1733550" y="5314950"/>
              <a:ext cx="1028700" cy="266700"/>
            </a:xfrm>
            <a:prstGeom prst="rect">
              <a:avLst/>
            </a:prstGeom>
            <a:solidFill>
              <a:srgbClr val="EAF3FB"/>
            </a:solidFill>
            <a:ln>
              <a:noFill/>
            </a:ln>
          </p:spPr>
        </p:sp>
        <p:sp>
          <p:nvSpPr>
            <p:cNvPr id="163" name="Rectangle 163"/>
            <p:cNvSpPr/>
            <p:nvPr/>
          </p:nvSpPr>
          <p:spPr>
            <a:xfrm>
              <a:off x="2762250" y="5314950"/>
              <a:ext cx="1028700" cy="266700"/>
            </a:xfrm>
            <a:prstGeom prst="rect">
              <a:avLst/>
            </a:prstGeom>
            <a:solidFill>
              <a:srgbClr val="E5F4EB"/>
            </a:solidFill>
            <a:ln>
              <a:noFill/>
            </a:ln>
          </p:spPr>
        </p:sp>
        <p:sp>
          <p:nvSpPr>
            <p:cNvPr id="164" name="Rectangle 164"/>
            <p:cNvSpPr/>
            <p:nvPr/>
          </p:nvSpPr>
          <p:spPr>
            <a:xfrm>
              <a:off x="3790950" y="5314950"/>
              <a:ext cx="1028700" cy="266700"/>
            </a:xfrm>
            <a:prstGeom prst="rect">
              <a:avLst/>
            </a:prstGeom>
            <a:solidFill>
              <a:srgbClr val="FDF4DC"/>
            </a:solidFill>
            <a:ln>
              <a:noFill/>
            </a:ln>
          </p:spPr>
        </p:sp>
        <p:sp>
          <p:nvSpPr>
            <p:cNvPr id="165" name="TextBox 165"/>
            <p:cNvSpPr txBox="1"/>
            <p:nvPr/>
          </p:nvSpPr>
          <p:spPr>
            <a:xfrm>
              <a:off x="376238" y="5417582"/>
              <a:ext cx="724626"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房地产价格（%）​</a:t>
              </a:r>
            </a:p>
          </p:txBody>
        </p:sp>
        <p:sp>
          <p:nvSpPr>
            <p:cNvPr id="166" name="TextBox 166"/>
            <p:cNvSpPr txBox="1"/>
            <p:nvPr/>
          </p:nvSpPr>
          <p:spPr>
            <a:xfrm>
              <a:off x="2192506" y="5413534"/>
              <a:ext cx="110788"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0​</a:t>
              </a:r>
            </a:p>
          </p:txBody>
        </p:sp>
        <p:sp>
          <p:nvSpPr>
            <p:cNvPr id="167" name="TextBox 167"/>
            <p:cNvSpPr txBox="1"/>
            <p:nvPr/>
          </p:nvSpPr>
          <p:spPr>
            <a:xfrm>
              <a:off x="3180506" y="5413534"/>
              <a:ext cx="192187"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-10​</a:t>
              </a:r>
            </a:p>
          </p:txBody>
        </p:sp>
        <p:sp>
          <p:nvSpPr>
            <p:cNvPr id="168" name="TextBox 168"/>
            <p:cNvSpPr txBox="1"/>
            <p:nvPr/>
          </p:nvSpPr>
          <p:spPr>
            <a:xfrm>
              <a:off x="4209206" y="5413534"/>
              <a:ext cx="192187"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-30​</a:t>
              </a:r>
            </a:p>
          </p:txBody>
        </p:sp>
        <p:sp>
          <p:nvSpPr>
            <p:cNvPr id="169" name="Rectangle 169"/>
            <p:cNvSpPr/>
            <p:nvPr/>
          </p:nvSpPr>
          <p:spPr>
            <a:xfrm>
              <a:off x="304800" y="5581650"/>
              <a:ext cx="1428750" cy="266700"/>
            </a:xfrm>
            <a:prstGeom prst="rect">
              <a:avLst/>
            </a:prstGeom>
            <a:solidFill>
              <a:srgbClr val="FFFFFF"/>
            </a:solidFill>
            <a:ln>
              <a:noFill/>
            </a:ln>
          </p:spPr>
        </p:sp>
        <p:sp>
          <p:nvSpPr>
            <p:cNvPr id="170" name="Rectangle 170"/>
            <p:cNvSpPr/>
            <p:nvPr/>
          </p:nvSpPr>
          <p:spPr>
            <a:xfrm>
              <a:off x="1733550" y="5581650"/>
              <a:ext cx="1028700" cy="266700"/>
            </a:xfrm>
            <a:prstGeom prst="rect">
              <a:avLst/>
            </a:prstGeom>
            <a:solidFill>
              <a:srgbClr val="F2F8FD"/>
            </a:solidFill>
            <a:ln>
              <a:noFill/>
            </a:ln>
          </p:spPr>
        </p:sp>
        <p:sp>
          <p:nvSpPr>
            <p:cNvPr id="171" name="Rectangle 171"/>
            <p:cNvSpPr/>
            <p:nvPr/>
          </p:nvSpPr>
          <p:spPr>
            <a:xfrm>
              <a:off x="2762250" y="5581650"/>
              <a:ext cx="1028700" cy="266700"/>
            </a:xfrm>
            <a:prstGeom prst="rect">
              <a:avLst/>
            </a:prstGeom>
            <a:solidFill>
              <a:srgbClr val="F0F9F4"/>
            </a:solidFill>
            <a:ln>
              <a:noFill/>
            </a:ln>
          </p:spPr>
        </p:sp>
        <p:sp>
          <p:nvSpPr>
            <p:cNvPr id="172" name="Rectangle 172"/>
            <p:cNvSpPr/>
            <p:nvPr/>
          </p:nvSpPr>
          <p:spPr>
            <a:xfrm>
              <a:off x="3790950" y="5581650"/>
              <a:ext cx="1028700" cy="266700"/>
            </a:xfrm>
            <a:prstGeom prst="rect">
              <a:avLst/>
            </a:prstGeom>
            <a:solidFill>
              <a:srgbClr val="FEF9EC"/>
            </a:solidFill>
            <a:ln>
              <a:noFill/>
            </a:ln>
          </p:spPr>
        </p:sp>
        <p:sp>
          <p:nvSpPr>
            <p:cNvPr id="173" name="TextBox 173"/>
            <p:cNvSpPr txBox="1"/>
            <p:nvPr/>
          </p:nvSpPr>
          <p:spPr>
            <a:xfrm>
              <a:off x="376238" y="5684282"/>
              <a:ext cx="896940"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工业增加值增速（%）​</a:t>
              </a:r>
            </a:p>
          </p:txBody>
        </p:sp>
        <p:sp>
          <p:nvSpPr>
            <p:cNvPr id="174" name="TextBox 174"/>
            <p:cNvSpPr txBox="1"/>
            <p:nvPr/>
          </p:nvSpPr>
          <p:spPr>
            <a:xfrm>
              <a:off x="2154333" y="56802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5.5​</a:t>
              </a:r>
            </a:p>
          </p:txBody>
        </p:sp>
        <p:sp>
          <p:nvSpPr>
            <p:cNvPr id="175" name="TextBox 175"/>
            <p:cNvSpPr txBox="1"/>
            <p:nvPr/>
          </p:nvSpPr>
          <p:spPr>
            <a:xfrm>
              <a:off x="3183033" y="56802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2.0​</a:t>
              </a:r>
            </a:p>
          </p:txBody>
        </p:sp>
        <p:sp>
          <p:nvSpPr>
            <p:cNvPr id="176" name="TextBox 176"/>
            <p:cNvSpPr txBox="1"/>
            <p:nvPr/>
          </p:nvSpPr>
          <p:spPr>
            <a:xfrm>
              <a:off x="4196491" y="5680234"/>
              <a:ext cx="217617"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-2.0​</a:t>
              </a:r>
            </a:p>
          </p:txBody>
        </p:sp>
        <p:sp>
          <p:nvSpPr>
            <p:cNvPr id="177" name="Rectangle 177"/>
            <p:cNvSpPr/>
            <p:nvPr/>
          </p:nvSpPr>
          <p:spPr>
            <a:xfrm>
              <a:off x="304800" y="5848350"/>
              <a:ext cx="1428750" cy="266700"/>
            </a:xfrm>
            <a:prstGeom prst="rect">
              <a:avLst/>
            </a:prstGeom>
            <a:solidFill>
              <a:srgbClr val="F4F9FD"/>
            </a:solidFill>
            <a:ln>
              <a:noFill/>
            </a:ln>
          </p:spPr>
        </p:sp>
        <p:sp>
          <p:nvSpPr>
            <p:cNvPr id="178" name="Rectangle 178"/>
            <p:cNvSpPr/>
            <p:nvPr/>
          </p:nvSpPr>
          <p:spPr>
            <a:xfrm>
              <a:off x="1733550" y="5848350"/>
              <a:ext cx="1028700" cy="266700"/>
            </a:xfrm>
            <a:prstGeom prst="rect">
              <a:avLst/>
            </a:prstGeom>
            <a:solidFill>
              <a:srgbClr val="EAF3FB"/>
            </a:solidFill>
            <a:ln>
              <a:noFill/>
            </a:ln>
          </p:spPr>
        </p:sp>
        <p:sp>
          <p:nvSpPr>
            <p:cNvPr id="179" name="Rectangle 179"/>
            <p:cNvSpPr/>
            <p:nvPr/>
          </p:nvSpPr>
          <p:spPr>
            <a:xfrm>
              <a:off x="2762250" y="5848350"/>
              <a:ext cx="1028700" cy="266700"/>
            </a:xfrm>
            <a:prstGeom prst="rect">
              <a:avLst/>
            </a:prstGeom>
            <a:solidFill>
              <a:srgbClr val="E5F4EB"/>
            </a:solidFill>
            <a:ln>
              <a:noFill/>
            </a:ln>
          </p:spPr>
        </p:sp>
        <p:sp>
          <p:nvSpPr>
            <p:cNvPr id="180" name="Rectangle 180"/>
            <p:cNvSpPr/>
            <p:nvPr/>
          </p:nvSpPr>
          <p:spPr>
            <a:xfrm>
              <a:off x="3790950" y="5848350"/>
              <a:ext cx="1028700" cy="266700"/>
            </a:xfrm>
            <a:prstGeom prst="rect">
              <a:avLst/>
            </a:prstGeom>
            <a:solidFill>
              <a:srgbClr val="FDF4DC"/>
            </a:solidFill>
            <a:ln>
              <a:noFill/>
            </a:ln>
          </p:spPr>
        </p:sp>
        <p:sp>
          <p:nvSpPr>
            <p:cNvPr id="181" name="TextBox 181"/>
            <p:cNvSpPr txBox="1"/>
            <p:nvPr/>
          </p:nvSpPr>
          <p:spPr>
            <a:xfrm>
              <a:off x="376238" y="5950982"/>
              <a:ext cx="1069254"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社会消费品零售增速（%）​</a:t>
              </a:r>
            </a:p>
          </p:txBody>
        </p:sp>
        <p:sp>
          <p:nvSpPr>
            <p:cNvPr id="182" name="TextBox 182"/>
            <p:cNvSpPr txBox="1"/>
            <p:nvPr/>
          </p:nvSpPr>
          <p:spPr>
            <a:xfrm>
              <a:off x="2154333" y="59469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5.0​</a:t>
              </a:r>
            </a:p>
          </p:txBody>
        </p:sp>
        <p:sp>
          <p:nvSpPr>
            <p:cNvPr id="183" name="TextBox 183"/>
            <p:cNvSpPr txBox="1"/>
            <p:nvPr/>
          </p:nvSpPr>
          <p:spPr>
            <a:xfrm>
              <a:off x="3183033" y="59469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2.0​</a:t>
              </a:r>
            </a:p>
          </p:txBody>
        </p:sp>
        <p:sp>
          <p:nvSpPr>
            <p:cNvPr id="184" name="TextBox 184"/>
            <p:cNvSpPr txBox="1"/>
            <p:nvPr/>
          </p:nvSpPr>
          <p:spPr>
            <a:xfrm>
              <a:off x="4196491" y="5946934"/>
              <a:ext cx="217617"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-1.0​</a:t>
              </a:r>
            </a:p>
          </p:txBody>
        </p:sp>
        <p:sp>
          <p:nvSpPr>
            <p:cNvPr id="185" name="Rectangle 185"/>
            <p:cNvSpPr/>
            <p:nvPr/>
          </p:nvSpPr>
          <p:spPr>
            <a:xfrm>
              <a:off x="304800" y="6115050"/>
              <a:ext cx="1428750" cy="266700"/>
            </a:xfrm>
            <a:prstGeom prst="rect">
              <a:avLst/>
            </a:prstGeom>
            <a:solidFill>
              <a:srgbClr val="FFFFFF"/>
            </a:solidFill>
            <a:ln>
              <a:noFill/>
            </a:ln>
          </p:spPr>
        </p:sp>
        <p:sp>
          <p:nvSpPr>
            <p:cNvPr id="186" name="Rectangle 186"/>
            <p:cNvSpPr/>
            <p:nvPr/>
          </p:nvSpPr>
          <p:spPr>
            <a:xfrm>
              <a:off x="1733550" y="6115050"/>
              <a:ext cx="1028700" cy="266700"/>
            </a:xfrm>
            <a:prstGeom prst="rect">
              <a:avLst/>
            </a:prstGeom>
            <a:solidFill>
              <a:srgbClr val="F2F8FD"/>
            </a:solidFill>
            <a:ln>
              <a:noFill/>
            </a:ln>
          </p:spPr>
        </p:sp>
        <p:sp>
          <p:nvSpPr>
            <p:cNvPr id="187" name="Rectangle 187"/>
            <p:cNvSpPr/>
            <p:nvPr/>
          </p:nvSpPr>
          <p:spPr>
            <a:xfrm>
              <a:off x="2762250" y="6115050"/>
              <a:ext cx="1028700" cy="266700"/>
            </a:xfrm>
            <a:prstGeom prst="rect">
              <a:avLst/>
            </a:prstGeom>
            <a:solidFill>
              <a:srgbClr val="F0F9F4"/>
            </a:solidFill>
            <a:ln>
              <a:noFill/>
            </a:ln>
          </p:spPr>
        </p:sp>
        <p:sp>
          <p:nvSpPr>
            <p:cNvPr id="188" name="Rectangle 188"/>
            <p:cNvSpPr/>
            <p:nvPr/>
          </p:nvSpPr>
          <p:spPr>
            <a:xfrm>
              <a:off x="3790950" y="6115050"/>
              <a:ext cx="1028700" cy="266700"/>
            </a:xfrm>
            <a:prstGeom prst="rect">
              <a:avLst/>
            </a:prstGeom>
            <a:solidFill>
              <a:srgbClr val="FEF9EC"/>
            </a:solidFill>
            <a:ln>
              <a:noFill/>
            </a:ln>
          </p:spPr>
        </p:sp>
        <p:sp>
          <p:nvSpPr>
            <p:cNvPr id="189" name="TextBox 189"/>
            <p:cNvSpPr txBox="1"/>
            <p:nvPr/>
          </p:nvSpPr>
          <p:spPr>
            <a:xfrm>
              <a:off x="376238" y="6217682"/>
              <a:ext cx="552313" cy="126206"/>
            </a:xfrm>
            <a:prstGeom prst="rect">
              <a:avLst/>
            </a:prstGeom>
            <a:noFill/>
            <a:ln>
              <a:noFill/>
            </a:ln>
          </p:spPr>
          <p:txBody>
            <a:bodyPr wrap="none" lIns="0" tIns="0" rIns="0" bIns="0" anchor="t" anchorCtr="0">
              <a:spAutoFit/>
            </a:bodyPr>
            <a:lstStyle/>
            <a:p>
              <a:pPr algn="l"/>
              <a:r>
                <a:rPr lang="zh-CN" sz="640" dirty="0">
                  <a:solidFill>
                    <a:srgbClr val="5C3A33"/>
                  </a:solidFill>
                  <a:latin typeface="+mn-lt"/>
                  <a:ea typeface="+mn-ea"/>
                  <a:cs typeface="+mn-cs"/>
                </a:rPr>
                <a:t>失业率（%）​</a:t>
              </a:r>
            </a:p>
          </p:txBody>
        </p:sp>
        <p:sp>
          <p:nvSpPr>
            <p:cNvPr id="190" name="TextBox 190"/>
            <p:cNvSpPr txBox="1"/>
            <p:nvPr/>
          </p:nvSpPr>
          <p:spPr>
            <a:xfrm>
              <a:off x="2154333" y="62136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5.0​</a:t>
              </a:r>
            </a:p>
          </p:txBody>
        </p:sp>
        <p:sp>
          <p:nvSpPr>
            <p:cNvPr id="191" name="TextBox 191"/>
            <p:cNvSpPr txBox="1"/>
            <p:nvPr/>
          </p:nvSpPr>
          <p:spPr>
            <a:xfrm>
              <a:off x="3183033" y="62136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6.0​</a:t>
              </a:r>
            </a:p>
          </p:txBody>
        </p:sp>
        <p:sp>
          <p:nvSpPr>
            <p:cNvPr id="192" name="TextBox 192"/>
            <p:cNvSpPr txBox="1"/>
            <p:nvPr/>
          </p:nvSpPr>
          <p:spPr>
            <a:xfrm>
              <a:off x="4211733" y="6213634"/>
              <a:ext cx="187134" cy="133350"/>
            </a:xfrm>
            <a:prstGeom prst="rect">
              <a:avLst/>
            </a:prstGeom>
            <a:noFill/>
            <a:ln>
              <a:noFill/>
            </a:ln>
          </p:spPr>
          <p:txBody>
            <a:bodyPr wrap="none" lIns="0" tIns="0" rIns="0" bIns="0" anchor="t" anchorCtr="0">
              <a:spAutoFit/>
            </a:bodyPr>
            <a:lstStyle/>
            <a:p>
              <a:pPr algn="ctr"/>
              <a:r>
                <a:rPr lang="zh-CN" sz="680" dirty="0">
                  <a:solidFill>
                    <a:srgbClr val="5C3A33"/>
                  </a:solidFill>
                  <a:latin typeface="+mj-lt"/>
                  <a:ea typeface="+mj-ea"/>
                  <a:cs typeface="+mj-cs"/>
                </a:rPr>
                <a:t>8.0​</a:t>
              </a:r>
            </a:p>
          </p:txBody>
        </p:sp>
      </p:grpSp>
      <p:grpSp>
        <p:nvGrpSpPr>
          <p:cNvPr id="223" name="capital-chart"/>
          <p:cNvGrpSpPr/>
          <p:nvPr/>
        </p:nvGrpSpPr>
        <p:grpSpPr>
          <a:xfrm>
            <a:off x="5067300" y="4171950"/>
            <a:ext cx="3143250" cy="2362200"/>
            <a:chOff x="5067300" y="4171950"/>
            <a:chExt cx="3143250" cy="2362200"/>
          </a:xfrm>
        </p:grpSpPr>
        <p:sp>
          <p:nvSpPr>
            <p:cNvPr id="194" name="Rectangle 194"/>
            <p:cNvSpPr/>
            <p:nvPr/>
          </p:nvSpPr>
          <p:spPr>
            <a:xfrm>
              <a:off x="5067300" y="4171950"/>
              <a:ext cx="3143250" cy="2362200"/>
            </a:xfrm>
            <a:prstGeom prst="roundRect">
              <a:avLst>
                <a:gd name="adj" fmla="val 3226"/>
              </a:avLst>
            </a:prstGeom>
            <a:solidFill>
              <a:srgbClr val="FFFFFF"/>
            </a:solidFill>
            <a:ln w="9525">
              <a:solidFill>
                <a:srgbClr val="CFE2F2"/>
              </a:solidFill>
            </a:ln>
          </p:spPr>
        </p:sp>
        <p:grpSp>
          <p:nvGrpSpPr>
            <p:cNvPr id="199" name="Group 199"/>
            <p:cNvGrpSpPr/>
            <p:nvPr/>
          </p:nvGrpSpPr>
          <p:grpSpPr>
            <a:xfrm>
              <a:off x="5219700" y="4273550"/>
              <a:ext cx="114300" cy="111125"/>
              <a:chOff x="5219700" y="4273550"/>
              <a:chExt cx="114300" cy="111125"/>
            </a:xfrm>
          </p:grpSpPr>
          <p:sp>
            <p:nvSpPr>
              <p:cNvPr id="195" name="Freeform 195"/>
              <p:cNvSpPr/>
              <p:nvPr/>
            </p:nvSpPr>
            <p:spPr>
              <a:xfrm>
                <a:off x="5219700" y="43243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C4472E"/>
                </a:solidFill>
              </a:ln>
            </p:spPr>
          </p:sp>
          <p:sp>
            <p:nvSpPr>
              <p:cNvPr id="196" name="Freeform 196"/>
              <p:cNvSpPr/>
              <p:nvPr/>
            </p:nvSpPr>
            <p:spPr>
              <a:xfrm>
                <a:off x="5295900" y="42989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C4472E"/>
                </a:solidFill>
              </a:ln>
            </p:spPr>
          </p:sp>
          <p:sp>
            <p:nvSpPr>
              <p:cNvPr id="197" name="Freeform 197"/>
              <p:cNvSpPr/>
              <p:nvPr/>
            </p:nvSpPr>
            <p:spPr>
              <a:xfrm>
                <a:off x="5257800" y="42735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C4472E"/>
                </a:solidFill>
              </a:ln>
            </p:spPr>
          </p:sp>
          <p:sp>
            <p:nvSpPr>
              <p:cNvPr id="198" name="Freeform 198"/>
              <p:cNvSpPr/>
              <p:nvPr/>
            </p:nvSpPr>
            <p:spPr>
              <a:xfrm>
                <a:off x="5226050" y="4375150"/>
                <a:ext cx="88900" cy="9525"/>
              </a:xfrm>
              <a:custGeom>
                <a:avLst/>
                <a:gdLst/>
                <a:ahLst/>
                <a:cxnLst/>
                <a:rect l="l" t="t" r="r" b="b"/>
                <a:pathLst>
                  <a:path w="88900" h="9525">
                    <a:moveTo>
                      <a:pt x="0" y="0"/>
                    </a:moveTo>
                    <a:lnTo>
                      <a:pt x="88900" y="0"/>
                    </a:lnTo>
                  </a:path>
                </a:pathLst>
              </a:custGeom>
              <a:noFill/>
              <a:ln w="12700">
                <a:solidFill>
                  <a:srgbClr val="C4472E"/>
                </a:solidFill>
              </a:ln>
            </p:spPr>
          </p:sp>
        </p:grpSp>
        <p:sp>
          <p:nvSpPr>
            <p:cNvPr id="200" name="TextBox 200"/>
            <p:cNvSpPr txBox="1"/>
            <p:nvPr/>
          </p:nvSpPr>
          <p:spPr>
            <a:xfrm>
              <a:off x="5405438" y="4278868"/>
              <a:ext cx="1167257" cy="169069"/>
            </a:xfrm>
            <a:prstGeom prst="rect">
              <a:avLst/>
            </a:prstGeom>
            <a:noFill/>
            <a:ln>
              <a:noFill/>
            </a:ln>
          </p:spPr>
          <p:txBody>
            <a:bodyPr wrap="none" lIns="0" tIns="0" rIns="0" bIns="0" anchor="t" anchorCtr="0">
              <a:spAutoFit/>
            </a:bodyPr>
            <a:lstStyle/>
            <a:p>
              <a:pPr algn="l"/>
              <a:r>
                <a:rPr lang="zh-CN" sz="860" b="1" dirty="0">
                  <a:solidFill>
                    <a:srgbClr val="3E1810"/>
                  </a:solidFill>
                  <a:latin typeface="+mn-lt"/>
                  <a:ea typeface="+mn-ea"/>
                  <a:cs typeface="+mn-cs"/>
                </a:rPr>
                <a:t>资本消耗变化（示例）</a:t>
              </a:r>
            </a:p>
          </p:txBody>
        </p:sp>
        <p:sp>
          <p:nvSpPr>
            <p:cNvPr id="201" name="TextBox 201"/>
            <p:cNvSpPr txBox="1"/>
            <p:nvPr/>
          </p:nvSpPr>
          <p:spPr>
            <a:xfrm>
              <a:off x="5195888" y="4469130"/>
              <a:ext cx="1059561" cy="119062"/>
            </a:xfrm>
            <a:prstGeom prst="rect">
              <a:avLst/>
            </a:prstGeom>
            <a:noFill/>
            <a:ln>
              <a:noFill/>
            </a:ln>
          </p:spPr>
          <p:txBody>
            <a:bodyPr wrap="none" lIns="0" tIns="0" rIns="0" bIns="0" anchor="t" anchorCtr="0">
              <a:spAutoFit/>
            </a:bodyPr>
            <a:lstStyle/>
            <a:p>
              <a:pPr algn="l"/>
              <a:r>
                <a:rPr lang="zh-CN" sz="600" dirty="0">
                  <a:solidFill>
                    <a:srgbClr val="8C716B"/>
                  </a:solidFill>
                  <a:latin typeface="+mn-lt"/>
                  <a:ea typeface="+mn-ea"/>
                  <a:cs typeface="+mn-cs"/>
                </a:rPr>
                <a:t>核心一级资本消耗（百分点）</a:t>
              </a:r>
            </a:p>
          </p:txBody>
        </p:sp>
        <p:sp>
          <p:nvSpPr>
            <p:cNvPr id="202" name="Line 202"/>
            <p:cNvSpPr/>
            <p:nvPr/>
          </p:nvSpPr>
          <p:spPr>
            <a:xfrm>
              <a:off x="5562600" y="4762500"/>
              <a:ext cx="2495550" cy="9525"/>
            </a:xfrm>
            <a:custGeom>
              <a:avLst/>
              <a:gdLst/>
              <a:ahLst/>
              <a:cxnLst/>
              <a:rect l="l" t="t" r="r" b="b"/>
              <a:pathLst>
                <a:path w="2495550" h="9525">
                  <a:moveTo>
                    <a:pt x="0" y="0"/>
                  </a:moveTo>
                  <a:lnTo>
                    <a:pt x="2495550" y="0"/>
                  </a:lnTo>
                </a:path>
              </a:pathLst>
            </a:custGeom>
            <a:noFill/>
            <a:ln w="9525">
              <a:solidFill>
                <a:srgbClr val="E4EDF5"/>
              </a:solidFill>
            </a:ln>
          </p:spPr>
        </p:sp>
        <p:sp>
          <p:nvSpPr>
            <p:cNvPr id="203" name="Line 203"/>
            <p:cNvSpPr/>
            <p:nvPr/>
          </p:nvSpPr>
          <p:spPr>
            <a:xfrm>
              <a:off x="5562600" y="5038725"/>
              <a:ext cx="2495550" cy="9525"/>
            </a:xfrm>
            <a:custGeom>
              <a:avLst/>
              <a:gdLst/>
              <a:ahLst/>
              <a:cxnLst/>
              <a:rect l="l" t="t" r="r" b="b"/>
              <a:pathLst>
                <a:path w="2495550" h="9525">
                  <a:moveTo>
                    <a:pt x="0" y="0"/>
                  </a:moveTo>
                  <a:lnTo>
                    <a:pt x="2495550" y="0"/>
                  </a:lnTo>
                </a:path>
              </a:pathLst>
            </a:custGeom>
            <a:noFill/>
            <a:ln w="9525">
              <a:solidFill>
                <a:srgbClr val="E4EDF5"/>
              </a:solidFill>
            </a:ln>
          </p:spPr>
        </p:sp>
        <p:sp>
          <p:nvSpPr>
            <p:cNvPr id="204" name="Line 204"/>
            <p:cNvSpPr/>
            <p:nvPr/>
          </p:nvSpPr>
          <p:spPr>
            <a:xfrm>
              <a:off x="5562600" y="5314950"/>
              <a:ext cx="2495550" cy="9525"/>
            </a:xfrm>
            <a:custGeom>
              <a:avLst/>
              <a:gdLst/>
              <a:ahLst/>
              <a:cxnLst/>
              <a:rect l="l" t="t" r="r" b="b"/>
              <a:pathLst>
                <a:path w="2495550" h="9525">
                  <a:moveTo>
                    <a:pt x="0" y="0"/>
                  </a:moveTo>
                  <a:lnTo>
                    <a:pt x="2495550" y="0"/>
                  </a:lnTo>
                </a:path>
              </a:pathLst>
            </a:custGeom>
            <a:noFill/>
            <a:ln w="9525">
              <a:solidFill>
                <a:srgbClr val="E4EDF5"/>
              </a:solidFill>
            </a:ln>
          </p:spPr>
        </p:sp>
        <p:sp>
          <p:nvSpPr>
            <p:cNvPr id="205" name="Line 205"/>
            <p:cNvSpPr/>
            <p:nvPr/>
          </p:nvSpPr>
          <p:spPr>
            <a:xfrm>
              <a:off x="5562600" y="5600700"/>
              <a:ext cx="2495550" cy="9525"/>
            </a:xfrm>
            <a:custGeom>
              <a:avLst/>
              <a:gdLst/>
              <a:ahLst/>
              <a:cxnLst/>
              <a:rect l="l" t="t" r="r" b="b"/>
              <a:pathLst>
                <a:path w="2495550" h="9525">
                  <a:moveTo>
                    <a:pt x="0" y="0"/>
                  </a:moveTo>
                  <a:lnTo>
                    <a:pt x="2495550" y="0"/>
                  </a:lnTo>
                </a:path>
              </a:pathLst>
            </a:custGeom>
            <a:noFill/>
            <a:ln w="9525">
              <a:solidFill>
                <a:srgbClr val="E4EDF5"/>
              </a:solidFill>
            </a:ln>
          </p:spPr>
        </p:sp>
        <p:sp>
          <p:nvSpPr>
            <p:cNvPr id="206" name="Line 206"/>
            <p:cNvSpPr/>
            <p:nvPr/>
          </p:nvSpPr>
          <p:spPr>
            <a:xfrm>
              <a:off x="5562600" y="5876925"/>
              <a:ext cx="2495550" cy="9525"/>
            </a:xfrm>
            <a:custGeom>
              <a:avLst/>
              <a:gdLst/>
              <a:ahLst/>
              <a:cxnLst/>
              <a:rect l="l" t="t" r="r" b="b"/>
              <a:pathLst>
                <a:path w="2495550" h="9525">
                  <a:moveTo>
                    <a:pt x="0" y="0"/>
                  </a:moveTo>
                  <a:lnTo>
                    <a:pt x="2495550" y="0"/>
                  </a:lnTo>
                </a:path>
              </a:pathLst>
            </a:custGeom>
            <a:noFill/>
            <a:ln w="9525">
              <a:solidFill>
                <a:srgbClr val="E4EDF5"/>
              </a:solidFill>
            </a:ln>
          </p:spPr>
        </p:sp>
        <p:sp>
          <p:nvSpPr>
            <p:cNvPr id="207" name="TextBox 207"/>
            <p:cNvSpPr txBox="1"/>
            <p:nvPr/>
          </p:nvSpPr>
          <p:spPr>
            <a:xfrm>
              <a:off x="5354421" y="4730353"/>
              <a:ext cx="155791"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2.5​</a:t>
              </a:r>
            </a:p>
          </p:txBody>
        </p:sp>
        <p:sp>
          <p:nvSpPr>
            <p:cNvPr id="208" name="TextBox 208"/>
            <p:cNvSpPr txBox="1"/>
            <p:nvPr/>
          </p:nvSpPr>
          <p:spPr>
            <a:xfrm>
              <a:off x="5354421" y="5006578"/>
              <a:ext cx="155791"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2.0​</a:t>
              </a:r>
            </a:p>
          </p:txBody>
        </p:sp>
        <p:sp>
          <p:nvSpPr>
            <p:cNvPr id="209" name="TextBox 209"/>
            <p:cNvSpPr txBox="1"/>
            <p:nvPr/>
          </p:nvSpPr>
          <p:spPr>
            <a:xfrm>
              <a:off x="5354421" y="5282803"/>
              <a:ext cx="155791"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1.5​</a:t>
              </a:r>
            </a:p>
          </p:txBody>
        </p:sp>
        <p:sp>
          <p:nvSpPr>
            <p:cNvPr id="210" name="TextBox 210"/>
            <p:cNvSpPr txBox="1"/>
            <p:nvPr/>
          </p:nvSpPr>
          <p:spPr>
            <a:xfrm>
              <a:off x="5354421" y="5568553"/>
              <a:ext cx="155791"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1.0​</a:t>
              </a:r>
            </a:p>
          </p:txBody>
        </p:sp>
        <p:sp>
          <p:nvSpPr>
            <p:cNvPr id="211" name="TextBox 211"/>
            <p:cNvSpPr txBox="1"/>
            <p:nvPr/>
          </p:nvSpPr>
          <p:spPr>
            <a:xfrm>
              <a:off x="5354421" y="5844778"/>
              <a:ext cx="155791"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0.5​</a:t>
              </a:r>
            </a:p>
          </p:txBody>
        </p:sp>
        <p:sp>
          <p:nvSpPr>
            <p:cNvPr id="212" name="TextBox 212"/>
            <p:cNvSpPr txBox="1"/>
            <p:nvPr/>
          </p:nvSpPr>
          <p:spPr>
            <a:xfrm>
              <a:off x="5354421" y="6121003"/>
              <a:ext cx="155791"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j-lt"/>
                  <a:ea typeface="+mj-ea"/>
                  <a:cs typeface="+mj-cs"/>
                </a:rPr>
                <a:t>0.0​</a:t>
              </a:r>
            </a:p>
          </p:txBody>
        </p:sp>
        <p:sp>
          <p:nvSpPr>
            <p:cNvPr id="213" name="Rectangle 213"/>
            <p:cNvSpPr/>
            <p:nvPr/>
          </p:nvSpPr>
          <p:spPr>
            <a:xfrm>
              <a:off x="5829300" y="5934075"/>
              <a:ext cx="533400" cy="219075"/>
            </a:xfrm>
            <a:prstGeom prst="rect">
              <a:avLst/>
            </a:prstGeom>
            <a:solidFill>
              <a:srgbClr val="C4472E"/>
            </a:solidFill>
            <a:ln>
              <a:noFill/>
            </a:ln>
          </p:spPr>
        </p:sp>
        <p:sp>
          <p:nvSpPr>
            <p:cNvPr id="214" name="TextBox 214"/>
            <p:cNvSpPr txBox="1"/>
            <p:nvPr/>
          </p:nvSpPr>
          <p:spPr>
            <a:xfrm>
              <a:off x="5997201" y="5800011"/>
              <a:ext cx="197598" cy="140494"/>
            </a:xfrm>
            <a:prstGeom prst="rect">
              <a:avLst/>
            </a:prstGeom>
            <a:noFill/>
            <a:ln>
              <a:noFill/>
            </a:ln>
          </p:spPr>
          <p:txBody>
            <a:bodyPr wrap="none" lIns="0" tIns="0" rIns="0" bIns="0" anchor="t" anchorCtr="0">
              <a:spAutoFit/>
            </a:bodyPr>
            <a:lstStyle/>
            <a:p>
              <a:pPr algn="ctr"/>
              <a:r>
                <a:rPr lang="zh-CN" sz="710" b="1" dirty="0">
                  <a:solidFill>
                    <a:srgbClr val="3E1810"/>
                  </a:solidFill>
                  <a:latin typeface="+mj-lt"/>
                  <a:ea typeface="+mj-ea"/>
                  <a:cs typeface="+mj-cs"/>
                </a:rPr>
                <a:t>0.4​</a:t>
              </a:r>
            </a:p>
          </p:txBody>
        </p:sp>
        <p:sp>
          <p:nvSpPr>
            <p:cNvPr id="215" name="Rectangle 215"/>
            <p:cNvSpPr/>
            <p:nvPr/>
          </p:nvSpPr>
          <p:spPr>
            <a:xfrm>
              <a:off x="6648450" y="5486400"/>
              <a:ext cx="533400" cy="666750"/>
            </a:xfrm>
            <a:prstGeom prst="rect">
              <a:avLst/>
            </a:prstGeom>
            <a:solidFill>
              <a:srgbClr val="9D331F"/>
            </a:solidFill>
            <a:ln>
              <a:noFill/>
            </a:ln>
          </p:spPr>
        </p:sp>
        <p:sp>
          <p:nvSpPr>
            <p:cNvPr id="216" name="TextBox 216"/>
            <p:cNvSpPr txBox="1"/>
            <p:nvPr/>
          </p:nvSpPr>
          <p:spPr>
            <a:xfrm>
              <a:off x="6816351" y="5352336"/>
              <a:ext cx="197598" cy="140494"/>
            </a:xfrm>
            <a:prstGeom prst="rect">
              <a:avLst/>
            </a:prstGeom>
            <a:noFill/>
            <a:ln>
              <a:noFill/>
            </a:ln>
          </p:spPr>
          <p:txBody>
            <a:bodyPr wrap="none" lIns="0" tIns="0" rIns="0" bIns="0" anchor="t" anchorCtr="0">
              <a:spAutoFit/>
            </a:bodyPr>
            <a:lstStyle/>
            <a:p>
              <a:pPr algn="ctr"/>
              <a:r>
                <a:rPr lang="zh-CN" sz="710" b="1" dirty="0">
                  <a:solidFill>
                    <a:srgbClr val="3E1810"/>
                  </a:solidFill>
                  <a:latin typeface="+mj-lt"/>
                  <a:ea typeface="+mj-ea"/>
                  <a:cs typeface="+mj-cs"/>
                </a:rPr>
                <a:t>1.2​</a:t>
              </a:r>
            </a:p>
          </p:txBody>
        </p:sp>
        <p:sp>
          <p:nvSpPr>
            <p:cNvPr id="217" name="Rectangle 217"/>
            <p:cNvSpPr/>
            <p:nvPr/>
          </p:nvSpPr>
          <p:spPr>
            <a:xfrm>
              <a:off x="7467600" y="4981575"/>
              <a:ext cx="533400" cy="1171575"/>
            </a:xfrm>
            <a:prstGeom prst="rect">
              <a:avLst/>
            </a:prstGeom>
            <a:solidFill>
              <a:srgbClr val="E03012"/>
            </a:solidFill>
            <a:ln>
              <a:noFill/>
            </a:ln>
          </p:spPr>
        </p:sp>
        <p:sp>
          <p:nvSpPr>
            <p:cNvPr id="218" name="TextBox 218"/>
            <p:cNvSpPr txBox="1"/>
            <p:nvPr/>
          </p:nvSpPr>
          <p:spPr>
            <a:xfrm>
              <a:off x="7635501" y="4847511"/>
              <a:ext cx="197598" cy="140494"/>
            </a:xfrm>
            <a:prstGeom prst="rect">
              <a:avLst/>
            </a:prstGeom>
            <a:noFill/>
            <a:ln>
              <a:noFill/>
            </a:ln>
          </p:spPr>
          <p:txBody>
            <a:bodyPr wrap="none" lIns="0" tIns="0" rIns="0" bIns="0" anchor="t" anchorCtr="0">
              <a:spAutoFit/>
            </a:bodyPr>
            <a:lstStyle/>
            <a:p>
              <a:pPr algn="ctr"/>
              <a:r>
                <a:rPr lang="zh-CN" sz="710" b="1" dirty="0">
                  <a:solidFill>
                    <a:srgbClr val="3E1810"/>
                  </a:solidFill>
                  <a:latin typeface="+mj-lt"/>
                  <a:ea typeface="+mj-ea"/>
                  <a:cs typeface="+mj-cs"/>
                </a:rPr>
                <a:t>2.1​</a:t>
              </a:r>
            </a:p>
          </p:txBody>
        </p:sp>
        <p:sp>
          <p:nvSpPr>
            <p:cNvPr id="219" name="Line 219"/>
            <p:cNvSpPr/>
            <p:nvPr/>
          </p:nvSpPr>
          <p:spPr>
            <a:xfrm>
              <a:off x="5562600" y="6153150"/>
              <a:ext cx="2495550" cy="9525"/>
            </a:xfrm>
            <a:custGeom>
              <a:avLst/>
              <a:gdLst/>
              <a:ahLst/>
              <a:cxnLst/>
              <a:rect l="l" t="t" r="r" b="b"/>
              <a:pathLst>
                <a:path w="2495550" h="9525">
                  <a:moveTo>
                    <a:pt x="0" y="0"/>
                  </a:moveTo>
                  <a:lnTo>
                    <a:pt x="2495550" y="0"/>
                  </a:lnTo>
                </a:path>
              </a:pathLst>
            </a:custGeom>
            <a:noFill/>
            <a:ln w="9525">
              <a:solidFill>
                <a:srgbClr val="B9C6D2"/>
              </a:solidFill>
            </a:ln>
          </p:spPr>
        </p:sp>
        <p:sp>
          <p:nvSpPr>
            <p:cNvPr id="220" name="TextBox 220"/>
            <p:cNvSpPr txBox="1"/>
            <p:nvPr/>
          </p:nvSpPr>
          <p:spPr>
            <a:xfrm>
              <a:off x="5918924" y="6227207"/>
              <a:ext cx="354152"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基准情景</a:t>
              </a:r>
            </a:p>
          </p:txBody>
        </p:sp>
        <p:sp>
          <p:nvSpPr>
            <p:cNvPr id="221" name="TextBox 221"/>
            <p:cNvSpPr txBox="1"/>
            <p:nvPr/>
          </p:nvSpPr>
          <p:spPr>
            <a:xfrm>
              <a:off x="6738074" y="6227207"/>
              <a:ext cx="354152"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轻度压力</a:t>
              </a:r>
            </a:p>
          </p:txBody>
        </p:sp>
        <p:sp>
          <p:nvSpPr>
            <p:cNvPr id="222" name="TextBox 222"/>
            <p:cNvSpPr txBox="1"/>
            <p:nvPr/>
          </p:nvSpPr>
          <p:spPr>
            <a:xfrm>
              <a:off x="7557224" y="6227207"/>
              <a:ext cx="354152" cy="126206"/>
            </a:xfrm>
            <a:prstGeom prst="rect">
              <a:avLst/>
            </a:prstGeom>
            <a:noFill/>
            <a:ln>
              <a:noFill/>
            </a:ln>
          </p:spPr>
          <p:txBody>
            <a:bodyPr wrap="none" lIns="0" tIns="0" rIns="0" bIns="0" anchor="t" anchorCtr="0">
              <a:spAutoFit/>
            </a:bodyPr>
            <a:lstStyle/>
            <a:p>
              <a:pPr algn="ctr"/>
              <a:r>
                <a:rPr lang="zh-CN" sz="640" dirty="0">
                  <a:solidFill>
                    <a:srgbClr val="8C716B"/>
                  </a:solidFill>
                  <a:latin typeface="+mn-lt"/>
                  <a:ea typeface="+mn-ea"/>
                  <a:cs typeface="+mn-cs"/>
                </a:rPr>
                <a:t>重度压力</a:t>
              </a:r>
            </a:p>
          </p:txBody>
        </p:sp>
      </p:grpSp>
      <p:grpSp>
        <p:nvGrpSpPr>
          <p:cNvPr id="247" name="insight-card"/>
          <p:cNvGrpSpPr/>
          <p:nvPr/>
        </p:nvGrpSpPr>
        <p:grpSpPr>
          <a:xfrm>
            <a:off x="8324850" y="4171950"/>
            <a:ext cx="3676650" cy="2362200"/>
            <a:chOff x="8324850" y="4171950"/>
            <a:chExt cx="3676650" cy="2362200"/>
          </a:xfrm>
        </p:grpSpPr>
        <p:sp>
          <p:nvSpPr>
            <p:cNvPr id="224" name="Rectangle 224"/>
            <p:cNvSpPr/>
            <p:nvPr/>
          </p:nvSpPr>
          <p:spPr>
            <a:xfrm>
              <a:off x="8324850" y="4171950"/>
              <a:ext cx="3676650" cy="2362200"/>
            </a:xfrm>
            <a:prstGeom prst="roundRect">
              <a:avLst>
                <a:gd name="adj" fmla="val 3226"/>
              </a:avLst>
            </a:prstGeom>
            <a:solidFill>
              <a:srgbClr val="F0F7FD"/>
            </a:solidFill>
            <a:ln w="9525">
              <a:solidFill>
                <a:srgbClr val="CFE2F2"/>
              </a:solidFill>
            </a:ln>
          </p:spPr>
        </p:sp>
        <p:grpSp>
          <p:nvGrpSpPr>
            <p:cNvPr id="228" name="Group 228"/>
            <p:cNvGrpSpPr/>
            <p:nvPr/>
          </p:nvGrpSpPr>
          <p:grpSpPr>
            <a:xfrm>
              <a:off x="8477250" y="4267200"/>
              <a:ext cx="114300" cy="114300"/>
              <a:chOff x="8477250" y="4267200"/>
              <a:chExt cx="114300" cy="114300"/>
            </a:xfrm>
          </p:grpSpPr>
          <p:sp>
            <p:nvSpPr>
              <p:cNvPr id="225" name="Freeform 225"/>
              <p:cNvSpPr/>
              <p:nvPr/>
            </p:nvSpPr>
            <p:spPr>
              <a:xfrm>
                <a:off x="8477250" y="426720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E83313"/>
                </a:solidFill>
              </a:ln>
            </p:spPr>
          </p:sp>
          <p:sp>
            <p:nvSpPr>
              <p:cNvPr id="226" name="Freeform 226"/>
              <p:cNvSpPr/>
              <p:nvPr/>
            </p:nvSpPr>
            <p:spPr>
              <a:xfrm>
                <a:off x="8499958" y="429260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E83313"/>
                </a:solidFill>
              </a:ln>
            </p:spPr>
          </p:sp>
          <p:sp>
            <p:nvSpPr>
              <p:cNvPr id="227" name="Freeform 227"/>
              <p:cNvSpPr/>
              <p:nvPr/>
            </p:nvSpPr>
            <p:spPr>
              <a:xfrm>
                <a:off x="8519795" y="4356100"/>
                <a:ext cx="29210" cy="9525"/>
              </a:xfrm>
              <a:custGeom>
                <a:avLst/>
                <a:gdLst/>
                <a:ahLst/>
                <a:cxnLst/>
                <a:rect l="l" t="t" r="r" b="b"/>
                <a:pathLst>
                  <a:path w="29210" h="9525">
                    <a:moveTo>
                      <a:pt x="0" y="0"/>
                    </a:moveTo>
                    <a:lnTo>
                      <a:pt x="29210" y="0"/>
                    </a:lnTo>
                  </a:path>
                </a:pathLst>
              </a:custGeom>
              <a:noFill/>
              <a:ln w="12700">
                <a:solidFill>
                  <a:srgbClr val="E83313"/>
                </a:solidFill>
              </a:ln>
            </p:spPr>
          </p:sp>
        </p:grpSp>
        <p:sp>
          <p:nvSpPr>
            <p:cNvPr id="229" name="TextBox 229"/>
            <p:cNvSpPr txBox="1"/>
            <p:nvPr/>
          </p:nvSpPr>
          <p:spPr>
            <a:xfrm>
              <a:off x="8662988" y="4278868"/>
              <a:ext cx="472618" cy="169069"/>
            </a:xfrm>
            <a:prstGeom prst="rect">
              <a:avLst/>
            </a:prstGeom>
            <a:noFill/>
            <a:ln>
              <a:noFill/>
            </a:ln>
          </p:spPr>
          <p:txBody>
            <a:bodyPr wrap="none" lIns="0" tIns="0" rIns="0" bIns="0" anchor="t" anchorCtr="0">
              <a:spAutoFit/>
            </a:bodyPr>
            <a:lstStyle/>
            <a:p>
              <a:pPr algn="l"/>
              <a:r>
                <a:rPr lang="zh-CN" sz="860" b="1" dirty="0">
                  <a:solidFill>
                    <a:srgbClr val="3E1810"/>
                  </a:solidFill>
                  <a:latin typeface="+mn-lt"/>
                  <a:ea typeface="+mn-ea"/>
                  <a:cs typeface="+mn-cs"/>
                </a:rPr>
                <a:t>关键启示</a:t>
              </a:r>
            </a:p>
          </p:txBody>
        </p:sp>
        <p:grpSp>
          <p:nvGrpSpPr>
            <p:cNvPr id="232" name="Group 232"/>
            <p:cNvGrpSpPr/>
            <p:nvPr/>
          </p:nvGrpSpPr>
          <p:grpSpPr>
            <a:xfrm>
              <a:off x="8496300" y="4552950"/>
              <a:ext cx="114300" cy="114300"/>
              <a:chOff x="8496300" y="4552950"/>
              <a:chExt cx="114300" cy="114300"/>
            </a:xfrm>
          </p:grpSpPr>
          <p:sp>
            <p:nvSpPr>
              <p:cNvPr id="230" name="Freeform 230"/>
              <p:cNvSpPr/>
              <p:nvPr/>
            </p:nvSpPr>
            <p:spPr>
              <a:xfrm>
                <a:off x="8496300" y="45529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D331F"/>
                </a:solidFill>
              </a:ln>
            </p:spPr>
          </p:sp>
          <p:sp>
            <p:nvSpPr>
              <p:cNvPr id="231" name="Freeform 231"/>
              <p:cNvSpPr/>
              <p:nvPr/>
            </p:nvSpPr>
            <p:spPr>
              <a:xfrm>
                <a:off x="8534400" y="4597400"/>
                <a:ext cx="38100" cy="25400"/>
              </a:xfrm>
              <a:custGeom>
                <a:avLst/>
                <a:gdLst/>
                <a:ahLst/>
                <a:cxnLst/>
                <a:rect l="l" t="t" r="r" b="b"/>
                <a:pathLst>
                  <a:path w="38100" h="25400">
                    <a:moveTo>
                      <a:pt x="0" y="12700"/>
                    </a:moveTo>
                    <a:lnTo>
                      <a:pt x="12700" y="25400"/>
                    </a:lnTo>
                    <a:lnTo>
                      <a:pt x="38100" y="0"/>
                    </a:lnTo>
                  </a:path>
                </a:pathLst>
              </a:custGeom>
              <a:noFill/>
              <a:ln w="12700">
                <a:solidFill>
                  <a:srgbClr val="9D331F"/>
                </a:solidFill>
              </a:ln>
            </p:spPr>
          </p:sp>
        </p:grpSp>
        <p:sp>
          <p:nvSpPr>
            <p:cNvPr id="233" name="TextBox 233"/>
            <p:cNvSpPr txBox="1"/>
            <p:nvPr/>
          </p:nvSpPr>
          <p:spPr>
            <a:xfrm>
              <a:off x="8701088" y="4575334"/>
              <a:ext cx="1132205" cy="266700"/>
            </a:xfrm>
            <a:prstGeom prst="rect">
              <a:avLst/>
            </a:prstGeom>
            <a:noFill/>
            <a:ln>
              <a:noFill/>
            </a:ln>
          </p:spPr>
          <p:txBody>
            <a:bodyPr wrap="none" lIns="0" tIns="0" rIns="0" bIns="0" anchor="t" anchorCtr="0">
              <a:spAutoFit/>
            </a:bodyPr>
            <a:lstStyle/>
            <a:p>
              <a:pPr algn="l">
                <a:lnSpc>
                  <a:spcPts val="1050"/>
                </a:lnSpc>
              </a:pPr>
              <a:r>
                <a:rPr lang="zh-CN" sz="680" dirty="0">
                  <a:solidFill>
                    <a:srgbClr val="5C3A33"/>
                  </a:solidFill>
                  <a:latin typeface="+mn-lt"/>
                  <a:ea typeface="+mn-ea"/>
                  <a:cs typeface="+mn-cs"/>
                </a:rPr>
                <a:t>宏观冲击会通过多重渠道传导</a:t>
              </a:r>
              <a:br/>
              <a:r>
                <a:rPr lang="zh-CN" sz="680" dirty="0">
                  <a:solidFill>
                    <a:srgbClr val="5C3A33"/>
                  </a:solidFill>
                  <a:latin typeface="+mn-lt"/>
                  <a:ea typeface="+mn-ea"/>
                  <a:cs typeface="+mn-cs"/>
                </a:rPr>
                <a:t>至企业违约风险。</a:t>
              </a:r>
            </a:p>
          </p:txBody>
        </p:sp>
        <p:grpSp>
          <p:nvGrpSpPr>
            <p:cNvPr id="236" name="Group 236"/>
            <p:cNvGrpSpPr/>
            <p:nvPr/>
          </p:nvGrpSpPr>
          <p:grpSpPr>
            <a:xfrm>
              <a:off x="8496300" y="5010150"/>
              <a:ext cx="114300" cy="114300"/>
              <a:chOff x="8496300" y="5010150"/>
              <a:chExt cx="114300" cy="114300"/>
            </a:xfrm>
          </p:grpSpPr>
          <p:sp>
            <p:nvSpPr>
              <p:cNvPr id="234" name="Freeform 234"/>
              <p:cNvSpPr/>
              <p:nvPr/>
            </p:nvSpPr>
            <p:spPr>
              <a:xfrm>
                <a:off x="8496300" y="50101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D331F"/>
                </a:solidFill>
              </a:ln>
            </p:spPr>
          </p:sp>
          <p:sp>
            <p:nvSpPr>
              <p:cNvPr id="235" name="Freeform 235"/>
              <p:cNvSpPr/>
              <p:nvPr/>
            </p:nvSpPr>
            <p:spPr>
              <a:xfrm>
                <a:off x="8534400" y="5054600"/>
                <a:ext cx="38100" cy="25400"/>
              </a:xfrm>
              <a:custGeom>
                <a:avLst/>
                <a:gdLst/>
                <a:ahLst/>
                <a:cxnLst/>
                <a:rect l="l" t="t" r="r" b="b"/>
                <a:pathLst>
                  <a:path w="38100" h="25400">
                    <a:moveTo>
                      <a:pt x="0" y="12700"/>
                    </a:moveTo>
                    <a:lnTo>
                      <a:pt x="12700" y="25400"/>
                    </a:lnTo>
                    <a:lnTo>
                      <a:pt x="38100" y="0"/>
                    </a:lnTo>
                  </a:path>
                </a:pathLst>
              </a:custGeom>
              <a:noFill/>
              <a:ln w="12700">
                <a:solidFill>
                  <a:srgbClr val="9D331F"/>
                </a:solidFill>
              </a:ln>
            </p:spPr>
          </p:sp>
        </p:grpSp>
        <p:sp>
          <p:nvSpPr>
            <p:cNvPr id="237" name="TextBox 237"/>
            <p:cNvSpPr txBox="1"/>
            <p:nvPr/>
          </p:nvSpPr>
          <p:spPr>
            <a:xfrm>
              <a:off x="8701088" y="5032534"/>
              <a:ext cx="1428852"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压力情景下，违约损失与RWA上升​</a:t>
              </a:r>
            </a:p>
          </p:txBody>
        </p:sp>
        <p:sp>
          <p:nvSpPr>
            <p:cNvPr id="238" name="TextBox 238"/>
            <p:cNvSpPr txBox="1"/>
            <p:nvPr/>
          </p:nvSpPr>
          <p:spPr>
            <a:xfrm>
              <a:off x="8701088" y="5165884"/>
              <a:ext cx="741858" cy="133350"/>
            </a:xfrm>
            <a:prstGeom prst="rect">
              <a:avLst/>
            </a:prstGeom>
            <a:noFill/>
            <a:ln>
              <a:noFill/>
            </a:ln>
          </p:spPr>
          <p:txBody>
            <a:bodyPr wrap="none" lIns="0" tIns="0" rIns="0" bIns="0" anchor="t" anchorCtr="0">
              <a:spAutoFit/>
            </a:bodyPr>
            <a:lstStyle/>
            <a:p>
              <a:pPr algn="l"/>
              <a:r>
                <a:rPr lang="zh-CN" sz="680" dirty="0">
                  <a:solidFill>
                    <a:srgbClr val="5C3A33"/>
                  </a:solidFill>
                  <a:latin typeface="+mn-lt"/>
                  <a:ea typeface="+mn-ea"/>
                  <a:cs typeface="+mn-cs"/>
                </a:rPr>
                <a:t>将消耗银行资本。</a:t>
              </a:r>
            </a:p>
          </p:txBody>
        </p:sp>
        <p:grpSp>
          <p:nvGrpSpPr>
            <p:cNvPr id="241" name="Group 241"/>
            <p:cNvGrpSpPr/>
            <p:nvPr/>
          </p:nvGrpSpPr>
          <p:grpSpPr>
            <a:xfrm>
              <a:off x="8496300" y="5467350"/>
              <a:ext cx="114300" cy="114300"/>
              <a:chOff x="8496300" y="5467350"/>
              <a:chExt cx="114300" cy="114300"/>
            </a:xfrm>
          </p:grpSpPr>
          <p:sp>
            <p:nvSpPr>
              <p:cNvPr id="239" name="Freeform 239"/>
              <p:cNvSpPr/>
              <p:nvPr/>
            </p:nvSpPr>
            <p:spPr>
              <a:xfrm>
                <a:off x="8496300" y="54673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D331F"/>
                </a:solidFill>
              </a:ln>
            </p:spPr>
          </p:sp>
          <p:sp>
            <p:nvSpPr>
              <p:cNvPr id="240" name="Freeform 240"/>
              <p:cNvSpPr/>
              <p:nvPr/>
            </p:nvSpPr>
            <p:spPr>
              <a:xfrm>
                <a:off x="8534400" y="5511800"/>
                <a:ext cx="38100" cy="25400"/>
              </a:xfrm>
              <a:custGeom>
                <a:avLst/>
                <a:gdLst/>
                <a:ahLst/>
                <a:cxnLst/>
                <a:rect l="l" t="t" r="r" b="b"/>
                <a:pathLst>
                  <a:path w="38100" h="25400">
                    <a:moveTo>
                      <a:pt x="0" y="12700"/>
                    </a:moveTo>
                    <a:lnTo>
                      <a:pt x="12700" y="25400"/>
                    </a:lnTo>
                    <a:lnTo>
                      <a:pt x="38100" y="0"/>
                    </a:lnTo>
                  </a:path>
                </a:pathLst>
              </a:custGeom>
              <a:noFill/>
              <a:ln w="12700">
                <a:solidFill>
                  <a:srgbClr val="9D331F"/>
                </a:solidFill>
              </a:ln>
            </p:spPr>
          </p:sp>
        </p:grpSp>
        <p:sp>
          <p:nvSpPr>
            <p:cNvPr id="242" name="TextBox 242"/>
            <p:cNvSpPr txBox="1"/>
            <p:nvPr/>
          </p:nvSpPr>
          <p:spPr>
            <a:xfrm>
              <a:off x="8701088" y="5489734"/>
              <a:ext cx="1218565" cy="266700"/>
            </a:xfrm>
            <a:prstGeom prst="rect">
              <a:avLst/>
            </a:prstGeom>
            <a:noFill/>
            <a:ln>
              <a:noFill/>
            </a:ln>
          </p:spPr>
          <p:txBody>
            <a:bodyPr wrap="none" lIns="0" tIns="0" rIns="0" bIns="0" anchor="t" anchorCtr="0">
              <a:spAutoFit/>
            </a:bodyPr>
            <a:lstStyle/>
            <a:p>
              <a:pPr algn="l">
                <a:lnSpc>
                  <a:spcPts val="1050"/>
                </a:lnSpc>
              </a:pPr>
              <a:r>
                <a:rPr lang="zh-CN" sz="680" dirty="0">
                  <a:solidFill>
                    <a:srgbClr val="5C3A33"/>
                  </a:solidFill>
                  <a:latin typeface="+mn-lt"/>
                  <a:ea typeface="+mn-ea"/>
                  <a:cs typeface="+mn-cs"/>
                </a:rPr>
                <a:t>压力测试有助于识别薄弱环节、</a:t>
              </a:r>
              <a:br/>
              <a:r>
                <a:rPr lang="zh-CN" sz="680" dirty="0">
                  <a:solidFill>
                    <a:srgbClr val="5C3A33"/>
                  </a:solidFill>
                  <a:latin typeface="+mn-lt"/>
                  <a:ea typeface="+mn-ea"/>
                  <a:cs typeface="+mn-cs"/>
                </a:rPr>
                <a:t>制定资本补充和风险应对策略。</a:t>
              </a:r>
            </a:p>
          </p:txBody>
        </p:sp>
        <p:grpSp>
          <p:nvGrpSpPr>
            <p:cNvPr id="245" name="Group 245"/>
            <p:cNvGrpSpPr/>
            <p:nvPr/>
          </p:nvGrpSpPr>
          <p:grpSpPr>
            <a:xfrm>
              <a:off x="8496300" y="5924550"/>
              <a:ext cx="114300" cy="114300"/>
              <a:chOff x="8496300" y="5924550"/>
              <a:chExt cx="114300" cy="114300"/>
            </a:xfrm>
          </p:grpSpPr>
          <p:sp>
            <p:nvSpPr>
              <p:cNvPr id="243" name="Freeform 243"/>
              <p:cNvSpPr/>
              <p:nvPr/>
            </p:nvSpPr>
            <p:spPr>
              <a:xfrm>
                <a:off x="8496300" y="59245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D331F"/>
                </a:solidFill>
              </a:ln>
            </p:spPr>
          </p:sp>
          <p:sp>
            <p:nvSpPr>
              <p:cNvPr id="244" name="Freeform 244"/>
              <p:cNvSpPr/>
              <p:nvPr/>
            </p:nvSpPr>
            <p:spPr>
              <a:xfrm>
                <a:off x="8534400" y="5969000"/>
                <a:ext cx="38100" cy="25400"/>
              </a:xfrm>
              <a:custGeom>
                <a:avLst/>
                <a:gdLst/>
                <a:ahLst/>
                <a:cxnLst/>
                <a:rect l="l" t="t" r="r" b="b"/>
                <a:pathLst>
                  <a:path w="38100" h="25400">
                    <a:moveTo>
                      <a:pt x="0" y="12700"/>
                    </a:moveTo>
                    <a:lnTo>
                      <a:pt x="12700" y="25400"/>
                    </a:lnTo>
                    <a:lnTo>
                      <a:pt x="38100" y="0"/>
                    </a:lnTo>
                  </a:path>
                </a:pathLst>
              </a:custGeom>
              <a:noFill/>
              <a:ln w="12700">
                <a:solidFill>
                  <a:srgbClr val="9D331F"/>
                </a:solidFill>
              </a:ln>
            </p:spPr>
          </p:sp>
        </p:grpSp>
        <p:sp>
          <p:nvSpPr>
            <p:cNvPr id="246" name="TextBox 246"/>
            <p:cNvSpPr txBox="1"/>
            <p:nvPr/>
          </p:nvSpPr>
          <p:spPr>
            <a:xfrm>
              <a:off x="8701088" y="5946934"/>
              <a:ext cx="1304925" cy="266700"/>
            </a:xfrm>
            <a:prstGeom prst="rect">
              <a:avLst/>
            </a:prstGeom>
            <a:noFill/>
            <a:ln>
              <a:noFill/>
            </a:ln>
          </p:spPr>
          <p:txBody>
            <a:bodyPr wrap="none" lIns="0" tIns="0" rIns="0" bIns="0" anchor="t" anchorCtr="0">
              <a:spAutoFit/>
            </a:bodyPr>
            <a:lstStyle/>
            <a:p>
              <a:pPr algn="l">
                <a:lnSpc>
                  <a:spcPts val="1050"/>
                </a:lnSpc>
              </a:pPr>
              <a:r>
                <a:rPr lang="zh-CN" sz="680" dirty="0">
                  <a:solidFill>
                    <a:srgbClr val="5C3A33"/>
                  </a:solidFill>
                  <a:latin typeface="+mn-lt"/>
                  <a:ea typeface="+mn-ea"/>
                  <a:cs typeface="+mn-cs"/>
                </a:rPr>
                <a:t>不同情景下的影响存在显著差异，</a:t>
              </a:r>
              <a:br/>
              <a:r>
                <a:rPr lang="zh-CN" sz="680" dirty="0">
                  <a:solidFill>
                    <a:srgbClr val="5C3A33"/>
                  </a:solidFill>
                  <a:latin typeface="+mn-lt"/>
                  <a:ea typeface="+mn-ea"/>
                  <a:cs typeface="+mn-cs"/>
                </a:rPr>
                <a:t>需结合自身特点开展测算。</a:t>
              </a:r>
            </a:p>
          </p:txBody>
        </p:sp>
      </p:grpSp>
      <p:grpSp>
        <p:nvGrpSpPr>
          <p:cNvPr id="249" name="disclaimer"/>
          <p:cNvGrpSpPr/>
          <p:nvPr/>
        </p:nvGrpSpPr>
        <p:grpSpPr>
          <a:xfrm>
            <a:off x="8566214" y="6559153"/>
            <a:ext cx="3401949" cy="111919"/>
            <a:chOff x="8566214" y="6559153"/>
            <a:chExt cx="3401949" cy="111919"/>
          </a:xfrm>
        </p:grpSpPr>
        <p:sp>
          <p:nvSpPr>
            <p:cNvPr id="248" name="TextBox 248"/>
            <p:cNvSpPr txBox="1"/>
            <p:nvPr/>
          </p:nvSpPr>
          <p:spPr>
            <a:xfrm>
              <a:off x="8566214" y="6559153"/>
              <a:ext cx="3401949" cy="111919"/>
            </a:xfrm>
            <a:prstGeom prst="rect">
              <a:avLst/>
            </a:prstGeom>
            <a:noFill/>
            <a:ln>
              <a:noFill/>
            </a:ln>
          </p:spPr>
          <p:txBody>
            <a:bodyPr wrap="none" lIns="0" tIns="0" rIns="0" bIns="0" anchor="t" anchorCtr="0">
              <a:spAutoFit/>
            </a:bodyPr>
            <a:lstStyle/>
            <a:p>
              <a:pPr algn="r"/>
              <a:r>
                <a:rPr lang="zh-CN" sz="560" dirty="0">
                  <a:solidFill>
                    <a:srgbClr val="C4988F"/>
                  </a:solidFill>
                  <a:latin typeface="+mn-lt"/>
                  <a:ea typeface="+mn-ea"/>
                  <a:cs typeface="+mn-cs"/>
                </a:rPr>
                <a:t>本图为教学示意图，假设数据仅用于说明压力测试的分析框架，不构成任何投资建议或实际业务指引。</a:t>
              </a:r>
            </a:p>
          </p:txBody>
        </p:sp>
      </p:grpSp>
      <p:grpSp>
        <p:nvGrpSpPr>
          <p:cNvPr id="255" name="footer"/>
          <p:cNvGrpSpPr/>
          <p:nvPr/>
        </p:nvGrpSpPr>
        <p:grpSpPr>
          <a:xfrm>
            <a:off x="0" y="6648450"/>
            <a:ext cx="12192000" cy="222886"/>
            <a:chOff x="0" y="6648450"/>
            <a:chExt cx="12192000" cy="222886"/>
          </a:xfrm>
        </p:grpSpPr>
        <p:sp>
          <p:nvSpPr>
            <p:cNvPr id="250" name="Rectangle 250"/>
            <p:cNvSpPr/>
            <p:nvPr/>
          </p:nvSpPr>
          <p:spPr>
            <a:xfrm>
              <a:off x="0" y="6648450"/>
              <a:ext cx="12192000" cy="209550"/>
            </a:xfrm>
            <a:prstGeom prst="rect">
              <a:avLst/>
            </a:prstGeom>
            <a:solidFill>
              <a:srgbClr val="DDECF9"/>
            </a:solidFill>
            <a:ln>
              <a:noFill/>
            </a:ln>
          </p:spPr>
        </p:sp>
        <p:sp>
          <p:nvSpPr>
            <p:cNvPr id="251" name="TextBox 251"/>
            <p:cNvSpPr txBox="1"/>
            <p:nvPr/>
          </p:nvSpPr>
          <p:spPr>
            <a:xfrm>
              <a:off x="223838" y="6676311"/>
              <a:ext cx="889580" cy="140494"/>
            </a:xfrm>
            <a:prstGeom prst="rect">
              <a:avLst/>
            </a:prstGeom>
            <a:noFill/>
            <a:ln>
              <a:noFill/>
            </a:ln>
          </p:spPr>
          <p:txBody>
            <a:bodyPr wrap="none" lIns="0" tIns="0" rIns="0" bIns="0" anchor="t" anchorCtr="0">
              <a:spAutoFit/>
            </a:bodyPr>
            <a:lstStyle/>
            <a:p>
              <a:pPr algn="l"/>
              <a:r>
                <a:rPr lang="zh-CN" sz="710" b="1" dirty="0">
                  <a:solidFill>
                    <a:srgbClr val="96574A"/>
                  </a:solidFill>
                  <a:latin typeface="+mn-lt"/>
                  <a:ea typeface="+mn-ea"/>
                  <a:cs typeface="+mn-cs"/>
                </a:rPr>
                <a:t>稳健经营 · 专业致远</a:t>
              </a:r>
            </a:p>
          </p:txBody>
        </p:sp>
        <p:sp>
          <p:nvSpPr>
            <p:cNvPr id="252" name="TextBox 252"/>
            <p:cNvSpPr txBox="1"/>
            <p:nvPr/>
          </p:nvSpPr>
          <p:spPr>
            <a:xfrm>
              <a:off x="223838" y="6780848"/>
              <a:ext cx="1634291" cy="90488"/>
            </a:xfrm>
            <a:prstGeom prst="rect">
              <a:avLst/>
            </a:prstGeom>
            <a:noFill/>
            <a:ln>
              <a:noFill/>
            </a:ln>
          </p:spPr>
          <p:txBody>
            <a:bodyPr wrap="none" lIns="0" tIns="0" rIns="0" bIns="0" anchor="t" anchorCtr="0">
              <a:spAutoFit/>
            </a:bodyPr>
            <a:lstStyle/>
            <a:p>
              <a:pPr algn="l"/>
              <a:r>
                <a:rPr lang="en-US" sz="450" dirty="0">
                  <a:solidFill>
                    <a:srgbClr val="C4988F"/>
                  </a:solidFill>
                  <a:latin typeface="+mj-lt"/>
                  <a:ea typeface="+mj-ea"/>
                  <a:cs typeface="+mj-cs"/>
                </a:rPr>
                <a:t>PRUDENT BANKING FOR A BRIGHTER TOMORROW​</a:t>
              </a:r>
            </a:p>
          </p:txBody>
        </p:sp>
        <p:sp>
          <p:nvSpPr>
            <p:cNvPr id="253" name="TextBox 253"/>
            <p:cNvSpPr txBox="1"/>
            <p:nvPr/>
          </p:nvSpPr>
          <p:spPr>
            <a:xfrm>
              <a:off x="10696262" y="6676311"/>
              <a:ext cx="1271900" cy="140494"/>
            </a:xfrm>
            <a:prstGeom prst="rect">
              <a:avLst/>
            </a:prstGeom>
            <a:noFill/>
            <a:ln>
              <a:noFill/>
            </a:ln>
          </p:spPr>
          <p:txBody>
            <a:bodyPr wrap="none" lIns="0" tIns="0" rIns="0" bIns="0" anchor="t" anchorCtr="0">
              <a:spAutoFit/>
            </a:bodyPr>
            <a:lstStyle/>
            <a:p>
              <a:pPr algn="r"/>
              <a:r>
                <a:rPr lang="zh-CN" sz="710" b="1" dirty="0">
                  <a:solidFill>
                    <a:srgbClr val="96574A"/>
                  </a:solidFill>
                  <a:latin typeface="+mn-lt"/>
                  <a:ea typeface="+mn-ea"/>
                  <a:cs typeface="+mn-cs"/>
                </a:rPr>
                <a:t>金融向善 · 与实体经济共成长</a:t>
              </a:r>
            </a:p>
          </p:txBody>
        </p:sp>
        <p:sp>
          <p:nvSpPr>
            <p:cNvPr id="254" name="TextBox 254"/>
            <p:cNvSpPr txBox="1"/>
            <p:nvPr/>
          </p:nvSpPr>
          <p:spPr>
            <a:xfrm>
              <a:off x="10625338" y="6780848"/>
              <a:ext cx="1342824" cy="90488"/>
            </a:xfrm>
            <a:prstGeom prst="rect">
              <a:avLst/>
            </a:prstGeom>
            <a:noFill/>
            <a:ln>
              <a:noFill/>
            </a:ln>
          </p:spPr>
          <p:txBody>
            <a:bodyPr wrap="none" lIns="0" tIns="0" rIns="0" bIns="0" anchor="t" anchorCtr="0">
              <a:spAutoFit/>
            </a:bodyPr>
            <a:lstStyle/>
            <a:p>
              <a:pPr algn="r"/>
              <a:r>
                <a:rPr lang="en-US" sz="450" dirty="0">
                  <a:solidFill>
                    <a:srgbClr val="C4988F"/>
                  </a:solidFill>
                  <a:latin typeface="+mj-lt"/>
                  <a:ea typeface="+mj-ea"/>
                  <a:cs typeface="+mj-cs"/>
                </a:rPr>
                <a:t>FINANCE FOR A BETTER REAL ECONOMY​</a:t>
              </a:r>
            </a:p>
          </p:txBody>
        </p:sp>
      </p:gr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band-right"/>
          <p:cNvSpPr/>
          <p:nvPr/>
        </p:nvSpPr>
        <p:spPr>
          <a:xfrm>
            <a:off x="6286500" y="0"/>
            <a:ext cx="5905500" cy="4476750"/>
          </a:xfrm>
          <a:custGeom>
            <a:avLst/>
            <a:gdLst/>
            <a:ahLst/>
            <a:cxnLst/>
            <a:rect l="l" t="t" r="r" b="b"/>
            <a:pathLst>
              <a:path w="5905500" h="4476750">
                <a:moveTo>
                  <a:pt x="0" y="0"/>
                </a:moveTo>
                <a:lnTo>
                  <a:pt x="5905500" y="0"/>
                </a:lnTo>
                <a:lnTo>
                  <a:pt x="5905500" y="4476750"/>
                </a:lnTo>
                <a:close/>
              </a:path>
            </a:pathLst>
          </a:custGeom>
          <a:solidFill>
            <a:srgbClr val="BE290B">
              <a:alpha val="45000"/>
            </a:srgbClr>
          </a:solidFill>
          <a:ln>
            <a:noFill/>
          </a:ln>
        </p:spPr>
      </p:sp>
      <p:sp>
        <p:nvSpPr>
          <p:cNvPr id="3" name="deco-band-top"/>
          <p:cNvSpPr/>
          <p:nvPr/>
        </p:nvSpPr>
        <p:spPr>
          <a:xfrm>
            <a:off x="8572500" y="0"/>
            <a:ext cx="3619500" cy="3429000"/>
          </a:xfrm>
          <a:custGeom>
            <a:avLst/>
            <a:gdLst/>
            <a:ahLst/>
            <a:cxnLst/>
            <a:rect l="l" t="t" r="r" b="b"/>
            <a:pathLst>
              <a:path w="3619500" h="3429000">
                <a:moveTo>
                  <a:pt x="0" y="0"/>
                </a:moveTo>
                <a:lnTo>
                  <a:pt x="3619500" y="0"/>
                </a:lnTo>
                <a:lnTo>
                  <a:pt x="3619500" y="1714500"/>
                </a:lnTo>
                <a:lnTo>
                  <a:pt x="1428750" y="3429000"/>
                </a:lnTo>
                <a:close/>
              </a:path>
            </a:pathLst>
          </a:custGeom>
          <a:solidFill>
            <a:srgbClr val="801600">
              <a:alpha val="75000"/>
            </a:srgbClr>
          </a:solidFill>
          <a:ln>
            <a:noFill/>
          </a:ln>
        </p:spPr>
      </p:sp>
      <p:sp>
        <p:nvSpPr>
          <p:cNvPr id="4" name="deco-band-left"/>
          <p:cNvSpPr/>
          <p:nvPr/>
        </p:nvSpPr>
        <p:spPr>
          <a:xfrm>
            <a:off x="0" y="4095750"/>
            <a:ext cx="2857500" cy="2762250"/>
          </a:xfrm>
          <a:custGeom>
            <a:avLst/>
            <a:gdLst/>
            <a:ahLst/>
            <a:cxnLst/>
            <a:rect l="l" t="t" r="r" b="b"/>
            <a:pathLst>
              <a:path w="2857500" h="2762250">
                <a:moveTo>
                  <a:pt x="0" y="0"/>
                </a:moveTo>
                <a:lnTo>
                  <a:pt x="2857500" y="2762250"/>
                </a:lnTo>
                <a:lnTo>
                  <a:pt x="0" y="2762250"/>
                </a:lnTo>
                <a:close/>
              </a:path>
            </a:pathLst>
          </a:custGeom>
          <a:solidFill>
            <a:srgbClr val="801600">
              <a:alpha val="85000"/>
            </a:srgbClr>
          </a:solidFill>
          <a:ln>
            <a:noFill/>
          </a:ln>
        </p:spPr>
      </p:sp>
      <p:sp>
        <p:nvSpPr>
          <p:cNvPr id="5" name="deco-tri-left"/>
          <p:cNvSpPr/>
          <p:nvPr/>
        </p:nvSpPr>
        <p:spPr>
          <a:xfrm>
            <a:off x="0" y="2762250"/>
            <a:ext cx="1809750" cy="1714500"/>
          </a:xfrm>
          <a:custGeom>
            <a:avLst/>
            <a:gdLst/>
            <a:ahLst/>
            <a:cxnLst/>
            <a:rect l="l" t="t" r="r" b="b"/>
            <a:pathLst>
              <a:path w="1809750" h="1714500">
                <a:moveTo>
                  <a:pt x="0" y="0"/>
                </a:moveTo>
                <a:lnTo>
                  <a:pt x="1809750" y="0"/>
                </a:lnTo>
                <a:lnTo>
                  <a:pt x="0" y="1714500"/>
                </a:lnTo>
                <a:close/>
              </a:path>
            </a:pathLst>
          </a:custGeom>
          <a:solidFill>
            <a:srgbClr val="BE290B">
              <a:alpha val="40000"/>
            </a:srgbClr>
          </a:solidFill>
          <a:ln>
            <a:noFill/>
          </a:ln>
        </p:spPr>
      </p:sp>
      <p:sp>
        <p:nvSpPr>
          <p:cNvPr id="6" name="deco-band-bottom"/>
          <p:cNvSpPr/>
          <p:nvPr/>
        </p:nvSpPr>
        <p:spPr>
          <a:xfrm>
            <a:off x="6096000" y="2857500"/>
            <a:ext cx="6096000" cy="4000500"/>
          </a:xfrm>
          <a:custGeom>
            <a:avLst/>
            <a:gdLst/>
            <a:ahLst/>
            <a:cxnLst/>
            <a:rect l="l" t="t" r="r" b="b"/>
            <a:pathLst>
              <a:path w="6096000" h="4000500">
                <a:moveTo>
                  <a:pt x="0" y="4000500"/>
                </a:moveTo>
                <a:lnTo>
                  <a:pt x="6096000" y="0"/>
                </a:lnTo>
                <a:lnTo>
                  <a:pt x="6096000" y="4000500"/>
                </a:lnTo>
                <a:close/>
              </a:path>
            </a:pathLst>
          </a:custGeom>
          <a:solidFill>
            <a:srgbClr val="801600">
              <a:alpha val="80000"/>
            </a:srgbClr>
          </a:solidFill>
          <a:ln>
            <a:noFill/>
          </a:ln>
        </p:spPr>
      </p:sp>
      <p:sp>
        <p:nvSpPr>
          <p:cNvPr id="7" name="deco-tri-right"/>
          <p:cNvSpPr/>
          <p:nvPr/>
        </p:nvSpPr>
        <p:spPr>
          <a:xfrm>
            <a:off x="9715500" y="5143500"/>
            <a:ext cx="2476500" cy="1714500"/>
          </a:xfrm>
          <a:custGeom>
            <a:avLst/>
            <a:gdLst/>
            <a:ahLst/>
            <a:cxnLst/>
            <a:rect l="l" t="t" r="r" b="b"/>
            <a:pathLst>
              <a:path w="2476500" h="1714500">
                <a:moveTo>
                  <a:pt x="0" y="1714500"/>
                </a:moveTo>
                <a:lnTo>
                  <a:pt x="2476500" y="0"/>
                </a:lnTo>
                <a:lnTo>
                  <a:pt x="2476500" y="1714500"/>
                </a:lnTo>
                <a:close/>
              </a:path>
            </a:pathLst>
          </a:custGeom>
          <a:solidFill>
            <a:srgbClr val="BE290B">
              <a:alpha val="55000"/>
            </a:srgbClr>
          </a:solidFill>
          <a:ln>
            <a:noFill/>
          </a:ln>
        </p:spPr>
      </p:sp>
      <p:grpSp>
        <p:nvGrpSpPr>
          <p:cNvPr id="16" name="logo-corner"/>
          <p:cNvGrpSpPr/>
          <p:nvPr/>
        </p:nvGrpSpPr>
        <p:grpSpPr>
          <a:xfrm>
            <a:off x="0" y="0"/>
            <a:ext cx="4095750" cy="1733550"/>
            <a:chOff x="0" y="0"/>
            <a:chExt cx="4095750" cy="1733550"/>
          </a:xfrm>
        </p:grpSpPr>
        <p:sp>
          <p:nvSpPr>
            <p:cNvPr id="8" name="Polygon 8"/>
            <p:cNvSpPr/>
            <p:nvPr/>
          </p:nvSpPr>
          <p:spPr>
            <a:xfrm>
              <a:off x="0" y="0"/>
              <a:ext cx="4095750" cy="1733550"/>
            </a:xfrm>
            <a:custGeom>
              <a:avLst/>
              <a:gdLst/>
              <a:ahLst/>
              <a:cxnLst/>
              <a:rect l="l" t="t" r="r" b="b"/>
              <a:pathLst>
                <a:path w="4095750" h="1733550">
                  <a:moveTo>
                    <a:pt x="0" y="0"/>
                  </a:moveTo>
                  <a:lnTo>
                    <a:pt x="4095750" y="0"/>
                  </a:lnTo>
                  <a:lnTo>
                    <a:pt x="2247900" y="1733550"/>
                  </a:lnTo>
                  <a:lnTo>
                    <a:pt x="0" y="1733550"/>
                  </a:lnTo>
                  <a:close/>
                </a:path>
              </a:pathLst>
            </a:custGeom>
            <a:solidFill>
              <a:srgbClr val="FFFFFF"/>
            </a:solidFill>
            <a:ln>
              <a:noFill/>
            </a:ln>
          </p:spPr>
        </p:sp>
        <p:sp>
          <p:nvSpPr>
            <p:cNvPr id="9" name="TextBox 9"/>
            <p:cNvSpPr txBox="1"/>
            <p:nvPr/>
          </p:nvSpPr>
          <p:spPr>
            <a:xfrm>
              <a:off x="541020" y="500062"/>
              <a:ext cx="883416" cy="440055"/>
            </a:xfrm>
            <a:prstGeom prst="rect">
              <a:avLst/>
            </a:prstGeom>
            <a:noFill/>
            <a:ln>
              <a:noFill/>
            </a:ln>
          </p:spPr>
          <p:txBody>
            <a:bodyPr wrap="none" lIns="0" tIns="0" rIns="0" bIns="0" anchor="t" anchorCtr="0">
              <a:spAutoFit/>
            </a:bodyPr>
            <a:lstStyle/>
            <a:p>
              <a:pPr algn="l"/>
              <a:r>
                <a:rPr lang="en-US" sz="2250" b="1" i="1" dirty="0">
                  <a:solidFill>
                    <a:srgbClr val="B8351A"/>
                  </a:solidFill>
                  <a:latin typeface="+mj-lt"/>
                  <a:ea typeface="+mj-ea"/>
                  <a:cs typeface="+mj-cs"/>
                </a:rPr>
                <a:t>CEC​</a:t>
              </a:r>
            </a:p>
          </p:txBody>
        </p:sp>
        <p:sp>
          <p:nvSpPr>
            <p:cNvPr id="10" name="TextBox 10"/>
            <p:cNvSpPr txBox="1"/>
            <p:nvPr/>
          </p:nvSpPr>
          <p:spPr>
            <a:xfrm>
              <a:off x="547688" y="855345"/>
              <a:ext cx="494157" cy="176212"/>
            </a:xfrm>
            <a:prstGeom prst="rect">
              <a:avLst/>
            </a:prstGeom>
            <a:noFill/>
            <a:ln>
              <a:noFill/>
            </a:ln>
          </p:spPr>
          <p:txBody>
            <a:bodyPr wrap="none" lIns="0" tIns="0" rIns="0" bIns="0" anchor="t" anchorCtr="0">
              <a:spAutoFit/>
            </a:bodyPr>
            <a:lstStyle/>
            <a:p>
              <a:pPr algn="l"/>
              <a:r>
                <a:rPr lang="zh-CN" sz="900" b="1" dirty="0">
                  <a:solidFill>
                    <a:srgbClr val="B8351A"/>
                  </a:solidFill>
                  <a:latin typeface="+mn-lt"/>
                  <a:ea typeface="+mn-ea"/>
                  <a:cs typeface="+mn-cs"/>
                </a:rPr>
                <a:t>中国电子</a:t>
              </a:r>
            </a:p>
          </p:txBody>
        </p:sp>
        <p:sp>
          <p:nvSpPr>
            <p:cNvPr id="11" name="Line 11"/>
            <p:cNvSpPr/>
            <p:nvPr/>
          </p:nvSpPr>
          <p:spPr>
            <a:xfrm>
              <a:off x="1447800" y="533400"/>
              <a:ext cx="9525" cy="438150"/>
            </a:xfrm>
            <a:custGeom>
              <a:avLst/>
              <a:gdLst/>
              <a:ahLst/>
              <a:cxnLst/>
              <a:rect l="l" t="t" r="r" b="b"/>
              <a:pathLst>
                <a:path w="9525" h="438150">
                  <a:moveTo>
                    <a:pt x="0" y="0"/>
                  </a:moveTo>
                  <a:lnTo>
                    <a:pt x="0" y="438150"/>
                  </a:lnTo>
                </a:path>
              </a:pathLst>
            </a:custGeom>
            <a:noFill/>
            <a:ln w="14288">
              <a:solidFill>
                <a:srgbClr val="F7D1C9"/>
              </a:solidFill>
            </a:ln>
          </p:spPr>
        </p:sp>
        <p:sp>
          <p:nvSpPr>
            <p:cNvPr id="12" name="Rectangle 12"/>
            <p:cNvSpPr/>
            <p:nvPr/>
          </p:nvSpPr>
          <p:spPr>
            <a:xfrm>
              <a:off x="1619250" y="552450"/>
              <a:ext cx="323850" cy="323850"/>
            </a:xfrm>
            <a:prstGeom prst="roundRect">
              <a:avLst>
                <a:gd name="adj" fmla="val 14706"/>
              </a:avLst>
            </a:prstGeom>
            <a:noFill/>
            <a:ln w="47625">
              <a:solidFill>
                <a:srgbClr val="E3462C"/>
              </a:solidFill>
            </a:ln>
          </p:spPr>
        </p:sp>
        <p:sp>
          <p:nvSpPr>
            <p:cNvPr id="13" name="Rectangle 13"/>
            <p:cNvSpPr/>
            <p:nvPr/>
          </p:nvSpPr>
          <p:spPr>
            <a:xfrm>
              <a:off x="1704975" y="638175"/>
              <a:ext cx="152400" cy="152400"/>
            </a:xfrm>
            <a:prstGeom prst="rect">
              <a:avLst/>
            </a:prstGeom>
            <a:solidFill>
              <a:srgbClr val="B8351A"/>
            </a:solidFill>
            <a:ln>
              <a:noFill/>
            </a:ln>
          </p:spPr>
        </p:sp>
        <p:sp>
          <p:nvSpPr>
            <p:cNvPr id="14" name="TextBox 14"/>
            <p:cNvSpPr txBox="1"/>
            <p:nvPr/>
          </p:nvSpPr>
          <p:spPr>
            <a:xfrm>
              <a:off x="2030349" y="591979"/>
              <a:ext cx="866800" cy="308039"/>
            </a:xfrm>
            <a:prstGeom prst="rect">
              <a:avLst/>
            </a:prstGeom>
            <a:noFill/>
            <a:ln>
              <a:noFill/>
            </a:ln>
          </p:spPr>
          <p:txBody>
            <a:bodyPr wrap="none" lIns="0" tIns="0" rIns="0" bIns="0" anchor="t" anchorCtr="0">
              <a:spAutoFit/>
            </a:bodyPr>
            <a:lstStyle/>
            <a:p>
              <a:pPr algn="l"/>
              <a:r>
                <a:rPr lang="zh-CN" sz="1580" b="1" dirty="0">
                  <a:solidFill>
                    <a:srgbClr val="B8351A"/>
                  </a:solidFill>
                  <a:latin typeface="+mn-lt"/>
                  <a:ea typeface="+mn-ea"/>
                  <a:cs typeface="+mn-cs"/>
                </a:rPr>
                <a:t>中电金信</a:t>
              </a:r>
            </a:p>
          </p:txBody>
        </p:sp>
        <p:sp>
          <p:nvSpPr>
            <p:cNvPr id="15" name="TextBox 15"/>
            <p:cNvSpPr txBox="1"/>
            <p:nvPr/>
          </p:nvSpPr>
          <p:spPr>
            <a:xfrm>
              <a:off x="2033588" y="855345"/>
              <a:ext cx="640365" cy="176212"/>
            </a:xfrm>
            <a:prstGeom prst="rect">
              <a:avLst/>
            </a:prstGeom>
            <a:noFill/>
            <a:ln>
              <a:noFill/>
            </a:ln>
          </p:spPr>
          <p:txBody>
            <a:bodyPr wrap="none" lIns="0" tIns="0" rIns="0" bIns="0" anchor="t" anchorCtr="0">
              <a:spAutoFit/>
            </a:bodyPr>
            <a:lstStyle/>
            <a:p>
              <a:pPr algn="l"/>
              <a:r>
                <a:rPr lang="en-US" sz="900" b="1" dirty="0">
                  <a:solidFill>
                    <a:srgbClr val="B8351A"/>
                  </a:solidFill>
                  <a:latin typeface="+mj-lt"/>
                  <a:ea typeface="+mj-ea"/>
                  <a:cs typeface="+mj-cs"/>
                </a:rPr>
                <a:t>GienTech​</a:t>
              </a:r>
            </a:p>
          </p:txBody>
        </p:sp>
      </p:grpSp>
      <p:grpSp>
        <p:nvGrpSpPr>
          <p:cNvPr id="19" name="title"/>
          <p:cNvGrpSpPr/>
          <p:nvPr/>
        </p:nvGrpSpPr>
        <p:grpSpPr>
          <a:xfrm>
            <a:off x="824103" y="2576989"/>
            <a:ext cx="8261553" cy="1095184"/>
            <a:chOff x="824103" y="2576989"/>
            <a:chExt cx="8261553" cy="1095184"/>
          </a:xfrm>
        </p:grpSpPr>
        <p:sp>
          <p:nvSpPr>
            <p:cNvPr id="17" name="TextBox 17"/>
            <p:cNvSpPr txBox="1"/>
            <p:nvPr/>
          </p:nvSpPr>
          <p:spPr>
            <a:xfrm>
              <a:off x="824103" y="2576989"/>
              <a:ext cx="8261553" cy="542734"/>
            </a:xfrm>
            <a:prstGeom prst="rect">
              <a:avLst/>
            </a:prstGeom>
            <a:noFill/>
            <a:ln>
              <a:noFill/>
            </a:ln>
          </p:spPr>
          <p:txBody>
            <a:bodyPr wrap="none" lIns="0" tIns="0" rIns="0" bIns="0" anchor="t" anchorCtr="0">
              <a:spAutoFit/>
            </a:bodyPr>
            <a:lstStyle/>
            <a:p>
              <a:pPr algn="l"/>
              <a:r>
                <a:rPr lang="zh-CN" sz="2780" b="1" dirty="0">
                  <a:solidFill>
                    <a:srgbClr val="FFFFFF"/>
                  </a:solidFill>
                  <a:latin typeface="+mn-lt"/>
                  <a:ea typeface="+mn-ea"/>
                  <a:cs typeface="+mn-cs"/>
                </a:rPr>
                <a:t>商业银行长尾客群数字化营销与运营策略研究报告</a:t>
              </a:r>
            </a:p>
          </p:txBody>
        </p:sp>
        <p:sp>
          <p:nvSpPr>
            <p:cNvPr id="18" name="TextBox 18"/>
            <p:cNvSpPr txBox="1"/>
            <p:nvPr/>
          </p:nvSpPr>
          <p:spPr>
            <a:xfrm>
              <a:off x="824103" y="3129439"/>
              <a:ext cx="1899412" cy="542734"/>
            </a:xfrm>
            <a:prstGeom prst="rect">
              <a:avLst/>
            </a:prstGeom>
            <a:noFill/>
            <a:ln>
              <a:noFill/>
            </a:ln>
          </p:spPr>
          <p:txBody>
            <a:bodyPr wrap="none" lIns="0" tIns="0" rIns="0" bIns="0" anchor="t" anchorCtr="0">
              <a:spAutoFit/>
            </a:bodyPr>
            <a:lstStyle/>
            <a:p>
              <a:pPr algn="l"/>
              <a:r>
                <a:rPr lang="zh-CN" sz="2780" b="1" dirty="0">
                  <a:solidFill>
                    <a:srgbClr val="FFFFFF"/>
                  </a:solidFill>
                  <a:latin typeface="+mn-lt"/>
                  <a:ea typeface="+mn-ea"/>
                  <a:cs typeface="+mn-cs"/>
                </a:rPr>
                <a:t>【精华版】</a:t>
              </a:r>
            </a:p>
          </p:txBody>
        </p:sp>
      </p:grpSp>
      <p:grpSp>
        <p:nvGrpSpPr>
          <p:cNvPr id="22" name="org"/>
          <p:cNvGrpSpPr/>
          <p:nvPr/>
        </p:nvGrpSpPr>
        <p:grpSpPr>
          <a:xfrm>
            <a:off x="830580" y="3914775"/>
            <a:ext cx="3851910" cy="617220"/>
            <a:chOff x="830580" y="3914775"/>
            <a:chExt cx="3851910" cy="617220"/>
          </a:xfrm>
        </p:grpSpPr>
        <p:sp>
          <p:nvSpPr>
            <p:cNvPr id="20" name="TextBox 20"/>
            <p:cNvSpPr txBox="1"/>
            <p:nvPr/>
          </p:nvSpPr>
          <p:spPr>
            <a:xfrm>
              <a:off x="830580" y="3914775"/>
              <a:ext cx="3851910"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中电金信数字化营销咨询与运营增长业务部</a:t>
              </a:r>
            </a:p>
          </p:txBody>
        </p:sp>
        <p:sp>
          <p:nvSpPr>
            <p:cNvPr id="21" name="TextBox 21"/>
            <p:cNvSpPr txBox="1"/>
            <p:nvPr/>
          </p:nvSpPr>
          <p:spPr>
            <a:xfrm>
              <a:off x="830580" y="4238625"/>
              <a:ext cx="1085469"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2026年7月​</a:t>
              </a:r>
            </a:p>
          </p:txBody>
        </p:sp>
      </p:grpSp>
      <p:grpSp>
        <p:nvGrpSpPr>
          <p:cNvPr id="24" name="slogan"/>
          <p:cNvGrpSpPr/>
          <p:nvPr/>
        </p:nvGrpSpPr>
        <p:grpSpPr>
          <a:xfrm>
            <a:off x="832866" y="6173152"/>
            <a:ext cx="1883569" cy="205359"/>
            <a:chOff x="832866" y="6173152"/>
            <a:chExt cx="1883569" cy="205359"/>
          </a:xfrm>
        </p:grpSpPr>
        <p:sp>
          <p:nvSpPr>
            <p:cNvPr id="23" name="TextBox 23"/>
            <p:cNvSpPr txBox="1"/>
            <p:nvPr/>
          </p:nvSpPr>
          <p:spPr>
            <a:xfrm>
              <a:off x="832866" y="6173152"/>
              <a:ext cx="1883569" cy="205359"/>
            </a:xfrm>
            <a:prstGeom prst="rect">
              <a:avLst/>
            </a:prstGeom>
            <a:noFill/>
            <a:ln>
              <a:noFill/>
            </a:ln>
          </p:spPr>
          <p:txBody>
            <a:bodyPr wrap="none" lIns="0" tIns="0" rIns="0" bIns="0" anchor="t" anchorCtr="0">
              <a:spAutoFit/>
            </a:bodyPr>
            <a:lstStyle/>
            <a:p>
              <a:pPr algn="l"/>
              <a:r>
                <a:rPr lang="zh-CN" sz="1050" dirty="0">
                  <a:solidFill>
                    <a:srgbClr val="FFFFFF">
                      <a:alphaMod val="85000"/>
                    </a:srgbClr>
                  </a:solidFill>
                  <a:latin typeface="+mn-lt"/>
                  <a:ea typeface="+mn-ea"/>
                  <a:cs typeface="+mn-cs"/>
                </a:rPr>
                <a:t>数 字 科 技 成 就 美 好 世 界​</a:t>
              </a:r>
            </a:p>
          </p:txBody>
        </p:sp>
      </p:grpSp>
      <p:grpSp>
        <p:nvGrpSpPr>
          <p:cNvPr id="45" name="qr"/>
          <p:cNvGrpSpPr/>
          <p:nvPr/>
        </p:nvGrpSpPr>
        <p:grpSpPr>
          <a:xfrm>
            <a:off x="10506075" y="5362575"/>
            <a:ext cx="1181100" cy="1181100"/>
            <a:chOff x="10506075" y="5362575"/>
            <a:chExt cx="1181100" cy="1181100"/>
          </a:xfrm>
        </p:grpSpPr>
        <p:sp>
          <p:nvSpPr>
            <p:cNvPr id="25" name="Rectangle 25"/>
            <p:cNvSpPr/>
            <p:nvPr/>
          </p:nvSpPr>
          <p:spPr>
            <a:xfrm>
              <a:off x="10506075" y="5362575"/>
              <a:ext cx="1181100" cy="1181100"/>
            </a:xfrm>
            <a:prstGeom prst="roundRect">
              <a:avLst>
                <a:gd name="adj" fmla="val 6452"/>
              </a:avLst>
            </a:prstGeom>
            <a:solidFill>
              <a:srgbClr val="FFFFFF"/>
            </a:solidFill>
            <a:ln>
              <a:noFill/>
            </a:ln>
          </p:spPr>
        </p:sp>
        <p:sp>
          <p:nvSpPr>
            <p:cNvPr id="26" name="Rectangle 26"/>
            <p:cNvSpPr/>
            <p:nvPr/>
          </p:nvSpPr>
          <p:spPr>
            <a:xfrm>
              <a:off x="10629900" y="5486400"/>
              <a:ext cx="266700" cy="266700"/>
            </a:xfrm>
            <a:prstGeom prst="rect">
              <a:avLst/>
            </a:prstGeom>
            <a:solidFill>
              <a:srgbClr val="9B1A00"/>
            </a:solidFill>
            <a:ln>
              <a:noFill/>
            </a:ln>
          </p:spPr>
        </p:sp>
        <p:sp>
          <p:nvSpPr>
            <p:cNvPr id="27" name="Rectangle 27"/>
            <p:cNvSpPr/>
            <p:nvPr/>
          </p:nvSpPr>
          <p:spPr>
            <a:xfrm>
              <a:off x="10687050" y="5543550"/>
              <a:ext cx="152400" cy="152400"/>
            </a:xfrm>
            <a:prstGeom prst="rect">
              <a:avLst/>
            </a:prstGeom>
            <a:solidFill>
              <a:srgbClr val="FFFFFF"/>
            </a:solidFill>
            <a:ln>
              <a:noFill/>
            </a:ln>
          </p:spPr>
        </p:sp>
        <p:sp>
          <p:nvSpPr>
            <p:cNvPr id="28" name="Rectangle 28"/>
            <p:cNvSpPr/>
            <p:nvPr/>
          </p:nvSpPr>
          <p:spPr>
            <a:xfrm>
              <a:off x="10725150" y="5581650"/>
              <a:ext cx="76200" cy="76200"/>
            </a:xfrm>
            <a:prstGeom prst="rect">
              <a:avLst/>
            </a:prstGeom>
            <a:solidFill>
              <a:srgbClr val="9B1A00"/>
            </a:solidFill>
            <a:ln>
              <a:noFill/>
            </a:ln>
          </p:spPr>
        </p:sp>
        <p:sp>
          <p:nvSpPr>
            <p:cNvPr id="29" name="Rectangle 29"/>
            <p:cNvSpPr/>
            <p:nvPr/>
          </p:nvSpPr>
          <p:spPr>
            <a:xfrm>
              <a:off x="11296650" y="5486400"/>
              <a:ext cx="266700" cy="266700"/>
            </a:xfrm>
            <a:prstGeom prst="rect">
              <a:avLst/>
            </a:prstGeom>
            <a:solidFill>
              <a:srgbClr val="9B1A00"/>
            </a:solidFill>
            <a:ln>
              <a:noFill/>
            </a:ln>
          </p:spPr>
        </p:sp>
        <p:sp>
          <p:nvSpPr>
            <p:cNvPr id="30" name="Rectangle 30"/>
            <p:cNvSpPr/>
            <p:nvPr/>
          </p:nvSpPr>
          <p:spPr>
            <a:xfrm>
              <a:off x="11353800" y="5543550"/>
              <a:ext cx="152400" cy="152400"/>
            </a:xfrm>
            <a:prstGeom prst="rect">
              <a:avLst/>
            </a:prstGeom>
            <a:solidFill>
              <a:srgbClr val="FFFFFF"/>
            </a:solidFill>
            <a:ln>
              <a:noFill/>
            </a:ln>
          </p:spPr>
        </p:sp>
        <p:sp>
          <p:nvSpPr>
            <p:cNvPr id="31" name="Rectangle 31"/>
            <p:cNvSpPr/>
            <p:nvPr/>
          </p:nvSpPr>
          <p:spPr>
            <a:xfrm>
              <a:off x="11391900" y="5581650"/>
              <a:ext cx="76200" cy="76200"/>
            </a:xfrm>
            <a:prstGeom prst="rect">
              <a:avLst/>
            </a:prstGeom>
            <a:solidFill>
              <a:srgbClr val="9B1A00"/>
            </a:solidFill>
            <a:ln>
              <a:noFill/>
            </a:ln>
          </p:spPr>
        </p:sp>
        <p:sp>
          <p:nvSpPr>
            <p:cNvPr id="32" name="Rectangle 32"/>
            <p:cNvSpPr/>
            <p:nvPr/>
          </p:nvSpPr>
          <p:spPr>
            <a:xfrm>
              <a:off x="10629900" y="6153150"/>
              <a:ext cx="266700" cy="266700"/>
            </a:xfrm>
            <a:prstGeom prst="rect">
              <a:avLst/>
            </a:prstGeom>
            <a:solidFill>
              <a:srgbClr val="9B1A00"/>
            </a:solidFill>
            <a:ln>
              <a:noFill/>
            </a:ln>
          </p:spPr>
        </p:sp>
        <p:sp>
          <p:nvSpPr>
            <p:cNvPr id="33" name="Rectangle 33"/>
            <p:cNvSpPr/>
            <p:nvPr/>
          </p:nvSpPr>
          <p:spPr>
            <a:xfrm>
              <a:off x="10687050" y="6210300"/>
              <a:ext cx="152400" cy="152400"/>
            </a:xfrm>
            <a:prstGeom prst="rect">
              <a:avLst/>
            </a:prstGeom>
            <a:solidFill>
              <a:srgbClr val="FFFFFF"/>
            </a:solidFill>
            <a:ln>
              <a:noFill/>
            </a:ln>
          </p:spPr>
        </p:sp>
        <p:sp>
          <p:nvSpPr>
            <p:cNvPr id="34" name="Rectangle 34"/>
            <p:cNvSpPr/>
            <p:nvPr/>
          </p:nvSpPr>
          <p:spPr>
            <a:xfrm>
              <a:off x="10725150" y="6248400"/>
              <a:ext cx="76200" cy="76200"/>
            </a:xfrm>
            <a:prstGeom prst="rect">
              <a:avLst/>
            </a:prstGeom>
            <a:solidFill>
              <a:srgbClr val="9B1A00"/>
            </a:solidFill>
            <a:ln>
              <a:noFill/>
            </a:ln>
          </p:spPr>
        </p:sp>
        <p:sp>
          <p:nvSpPr>
            <p:cNvPr id="35" name="Rectangle 35"/>
            <p:cNvSpPr/>
            <p:nvPr/>
          </p:nvSpPr>
          <p:spPr>
            <a:xfrm>
              <a:off x="10972800" y="5505450"/>
              <a:ext cx="95250" cy="95250"/>
            </a:xfrm>
            <a:prstGeom prst="rect">
              <a:avLst/>
            </a:prstGeom>
            <a:solidFill>
              <a:srgbClr val="9B1A00"/>
            </a:solidFill>
            <a:ln>
              <a:noFill/>
            </a:ln>
          </p:spPr>
        </p:sp>
        <p:sp>
          <p:nvSpPr>
            <p:cNvPr id="36" name="Rectangle 36"/>
            <p:cNvSpPr/>
            <p:nvPr/>
          </p:nvSpPr>
          <p:spPr>
            <a:xfrm>
              <a:off x="11144250" y="5657850"/>
              <a:ext cx="95250" cy="95250"/>
            </a:xfrm>
            <a:prstGeom prst="rect">
              <a:avLst/>
            </a:prstGeom>
            <a:solidFill>
              <a:srgbClr val="9B1A00"/>
            </a:solidFill>
            <a:ln>
              <a:noFill/>
            </a:ln>
          </p:spPr>
        </p:sp>
        <p:sp>
          <p:nvSpPr>
            <p:cNvPr id="37" name="Rectangle 37"/>
            <p:cNvSpPr/>
            <p:nvPr/>
          </p:nvSpPr>
          <p:spPr>
            <a:xfrm>
              <a:off x="10972800" y="5829300"/>
              <a:ext cx="247650" cy="95250"/>
            </a:xfrm>
            <a:prstGeom prst="rect">
              <a:avLst/>
            </a:prstGeom>
            <a:solidFill>
              <a:srgbClr val="9B1A00"/>
            </a:solidFill>
            <a:ln>
              <a:noFill/>
            </a:ln>
          </p:spPr>
        </p:sp>
        <p:sp>
          <p:nvSpPr>
            <p:cNvPr id="38" name="Rectangle 38"/>
            <p:cNvSpPr/>
            <p:nvPr/>
          </p:nvSpPr>
          <p:spPr>
            <a:xfrm>
              <a:off x="10953750" y="6000750"/>
              <a:ext cx="95250" cy="95250"/>
            </a:xfrm>
            <a:prstGeom prst="rect">
              <a:avLst/>
            </a:prstGeom>
            <a:solidFill>
              <a:srgbClr val="9B1A00"/>
            </a:solidFill>
            <a:ln>
              <a:noFill/>
            </a:ln>
          </p:spPr>
        </p:sp>
        <p:sp>
          <p:nvSpPr>
            <p:cNvPr id="39" name="Rectangle 39"/>
            <p:cNvSpPr/>
            <p:nvPr/>
          </p:nvSpPr>
          <p:spPr>
            <a:xfrm>
              <a:off x="11106150" y="6000750"/>
              <a:ext cx="95250" cy="95250"/>
            </a:xfrm>
            <a:prstGeom prst="rect">
              <a:avLst/>
            </a:prstGeom>
            <a:solidFill>
              <a:srgbClr val="9B1A00"/>
            </a:solidFill>
            <a:ln>
              <a:noFill/>
            </a:ln>
          </p:spPr>
        </p:sp>
        <p:sp>
          <p:nvSpPr>
            <p:cNvPr id="40" name="Rectangle 40"/>
            <p:cNvSpPr/>
            <p:nvPr/>
          </p:nvSpPr>
          <p:spPr>
            <a:xfrm>
              <a:off x="11296650" y="5867400"/>
              <a:ext cx="95250" cy="95250"/>
            </a:xfrm>
            <a:prstGeom prst="rect">
              <a:avLst/>
            </a:prstGeom>
            <a:solidFill>
              <a:srgbClr val="9B1A00"/>
            </a:solidFill>
            <a:ln>
              <a:noFill/>
            </a:ln>
          </p:spPr>
        </p:sp>
        <p:sp>
          <p:nvSpPr>
            <p:cNvPr id="41" name="Rectangle 41"/>
            <p:cNvSpPr/>
            <p:nvPr/>
          </p:nvSpPr>
          <p:spPr>
            <a:xfrm>
              <a:off x="11296650" y="6096000"/>
              <a:ext cx="266700" cy="95250"/>
            </a:xfrm>
            <a:prstGeom prst="rect">
              <a:avLst/>
            </a:prstGeom>
            <a:solidFill>
              <a:srgbClr val="9B1A00"/>
            </a:solidFill>
            <a:ln>
              <a:noFill/>
            </a:ln>
          </p:spPr>
        </p:sp>
        <p:sp>
          <p:nvSpPr>
            <p:cNvPr id="42" name="Rectangle 42"/>
            <p:cNvSpPr/>
            <p:nvPr/>
          </p:nvSpPr>
          <p:spPr>
            <a:xfrm>
              <a:off x="11296650" y="6286500"/>
              <a:ext cx="95250" cy="95250"/>
            </a:xfrm>
            <a:prstGeom prst="rect">
              <a:avLst/>
            </a:prstGeom>
            <a:solidFill>
              <a:srgbClr val="9B1A00"/>
            </a:solidFill>
            <a:ln>
              <a:noFill/>
            </a:ln>
          </p:spPr>
        </p:sp>
        <p:sp>
          <p:nvSpPr>
            <p:cNvPr id="43" name="Rectangle 43"/>
            <p:cNvSpPr/>
            <p:nvPr/>
          </p:nvSpPr>
          <p:spPr>
            <a:xfrm>
              <a:off x="10991850" y="6210300"/>
              <a:ext cx="171450" cy="209550"/>
            </a:xfrm>
            <a:prstGeom prst="rect">
              <a:avLst/>
            </a:prstGeom>
            <a:solidFill>
              <a:srgbClr val="E74726"/>
            </a:solidFill>
            <a:ln>
              <a:noFill/>
            </a:ln>
          </p:spPr>
        </p:sp>
        <p:sp>
          <p:nvSpPr>
            <p:cNvPr id="44" name="TextBox 44"/>
            <p:cNvSpPr txBox="1"/>
            <p:nvPr/>
          </p:nvSpPr>
          <p:spPr>
            <a:xfrm>
              <a:off x="11051476" y="6288405"/>
              <a:ext cx="9029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金</a:t>
              </a:r>
            </a:p>
          </p:txBody>
        </p:sp>
      </p:gr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01</a:t>
              </a:r>
            </a:p>
          </p:txBody>
        </p:sp>
        <p:sp>
          <p:nvSpPr>
            <p:cNvPr id="4" name="TextBox 4"/>
            <p:cNvSpPr txBox="1"/>
            <p:nvPr/>
          </p:nvSpPr>
          <p:spPr>
            <a:xfrm>
              <a:off x="942594" y="151448"/>
              <a:ext cx="574548"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引言</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23" name="body-text"/>
          <p:cNvGrpSpPr/>
          <p:nvPr/>
        </p:nvGrpSpPr>
        <p:grpSpPr>
          <a:xfrm>
            <a:off x="831342" y="1473518"/>
            <a:ext cx="5102352" cy="4797933"/>
            <a:chOff x="831342" y="1473518"/>
            <a:chExt cx="5102352" cy="4797933"/>
          </a:xfrm>
        </p:grpSpPr>
        <p:sp>
          <p:nvSpPr>
            <p:cNvPr id="8" name="TextBox 8"/>
            <p:cNvSpPr txBox="1"/>
            <p:nvPr/>
          </p:nvSpPr>
          <p:spPr>
            <a:xfrm>
              <a:off x="831342" y="1473518"/>
              <a:ext cx="4920615" cy="264033"/>
            </a:xfrm>
            <a:prstGeom prst="rect">
              <a:avLst/>
            </a:prstGeom>
            <a:noFill/>
            <a:ln>
              <a:noFill/>
            </a:ln>
          </p:spPr>
          <p:txBody>
            <a:bodyPr wrap="none" lIns="0" tIns="0" rIns="0" bIns="0" anchor="t" anchorCtr="0">
              <a:spAutoFit/>
            </a:bodyPr>
            <a:lstStyle/>
            <a:p>
              <a:pPr algn="l"/>
              <a:r>
                <a:rPr lang="zh-CN" sz="1350" b="1" dirty="0">
                  <a:solidFill>
                    <a:srgbClr val="E74726"/>
                  </a:solidFill>
                  <a:latin typeface="+mn-lt"/>
                  <a:ea typeface="+mn-ea"/>
                  <a:cs typeface="+mn-cs"/>
                </a:rPr>
                <a:t>随着</a:t>
              </a:r>
              <a:r>
                <a:rPr lang="zh-CN" sz="1350" dirty="0">
                  <a:solidFill>
                    <a:srgbClr val="523833"/>
                  </a:solidFill>
                  <a:latin typeface="+mn-lt"/>
                  <a:ea typeface="+mn-ea"/>
                  <a:cs typeface="+mn-cs"/>
                </a:rPr>
                <a:t>国内银行业从增量扩张步入存量深耕阶段，传统依靠物理</a:t>
              </a:r>
            </a:p>
          </p:txBody>
        </p:sp>
        <p:sp>
          <p:nvSpPr>
            <p:cNvPr id="9" name="TextBox 9"/>
            <p:cNvSpPr txBox="1"/>
            <p:nvPr/>
          </p:nvSpPr>
          <p:spPr>
            <a:xfrm>
              <a:off x="831342" y="1787842"/>
              <a:ext cx="4920615"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网点和流量红利的跑马圈地模式边际效益锐减，而占零售客户</a:t>
              </a:r>
            </a:p>
          </p:txBody>
        </p:sp>
        <p:sp>
          <p:nvSpPr>
            <p:cNvPr id="10" name="TextBox 10"/>
            <p:cNvSpPr txBox="1"/>
            <p:nvPr/>
          </p:nvSpPr>
          <p:spPr>
            <a:xfrm>
              <a:off x="831342" y="2102168"/>
              <a:ext cx="4811573"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总量70%以上的长尾客群成为待挖掘池，放弃长尾即意味着​</a:t>
              </a:r>
            </a:p>
          </p:txBody>
        </p:sp>
        <p:sp>
          <p:nvSpPr>
            <p:cNvPr id="11" name="TextBox 11"/>
            <p:cNvSpPr txBox="1"/>
            <p:nvPr/>
          </p:nvSpPr>
          <p:spPr>
            <a:xfrm>
              <a:off x="831342" y="2416492"/>
              <a:ext cx="4920615"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主动丢失最大的存量基本盘。尽管单客贡献有限，但长尾客群</a:t>
              </a:r>
            </a:p>
          </p:txBody>
        </p:sp>
        <p:sp>
          <p:nvSpPr>
            <p:cNvPr id="12" name="TextBox 12"/>
            <p:cNvSpPr txBox="1"/>
            <p:nvPr/>
          </p:nvSpPr>
          <p:spPr>
            <a:xfrm>
              <a:off x="831342" y="2730818"/>
              <a:ext cx="4920615"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具有极强的规模聚合效应，不仅能提供稳定且低成本的资金来</a:t>
              </a:r>
            </a:p>
          </p:txBody>
        </p:sp>
        <p:sp>
          <p:nvSpPr>
            <p:cNvPr id="13" name="TextBox 13"/>
            <p:cNvSpPr txBox="1"/>
            <p:nvPr/>
          </p:nvSpPr>
          <p:spPr>
            <a:xfrm>
              <a:off x="831342" y="3045142"/>
              <a:ext cx="4920615"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源以对冲息差收窄压力，更能依托数字化手段大幅降低单客服</a:t>
              </a:r>
            </a:p>
          </p:txBody>
        </p:sp>
        <p:sp>
          <p:nvSpPr>
            <p:cNvPr id="14" name="TextBox 14"/>
            <p:cNvSpPr txBox="1"/>
            <p:nvPr/>
          </p:nvSpPr>
          <p:spPr>
            <a:xfrm>
              <a:off x="831342" y="3359468"/>
              <a:ext cx="4920615"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务成本，推动长尾客群从低资产向中高资产的梯级跃迁，构建</a:t>
              </a:r>
            </a:p>
          </p:txBody>
        </p:sp>
        <p:sp>
          <p:nvSpPr>
            <p:cNvPr id="15" name="TextBox 15"/>
            <p:cNvSpPr txBox="1"/>
            <p:nvPr/>
          </p:nvSpPr>
          <p:spPr>
            <a:xfrm>
              <a:off x="831342" y="3673792"/>
              <a:ext cx="2558034"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可持续的零售业务增长新引擎。</a:t>
              </a:r>
            </a:p>
          </p:txBody>
        </p:sp>
        <p:sp>
          <p:nvSpPr>
            <p:cNvPr id="16" name="TextBox 16"/>
            <p:cNvSpPr txBox="1"/>
            <p:nvPr/>
          </p:nvSpPr>
          <p:spPr>
            <a:xfrm>
              <a:off x="831342" y="4121468"/>
              <a:ext cx="4738878"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商业银行对长尾客群的数字化运营布局，是顺应行业发展阶</a:t>
              </a:r>
            </a:p>
          </p:txBody>
        </p:sp>
        <p:sp>
          <p:nvSpPr>
            <p:cNvPr id="17" name="TextBox 17"/>
            <p:cNvSpPr txBox="1"/>
            <p:nvPr/>
          </p:nvSpPr>
          <p:spPr>
            <a:xfrm>
              <a:off x="831342" y="4435792"/>
              <a:ext cx="4738878"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段更迭、破解传统经营瓶颈的必然战略选择。在此背景下，</a:t>
              </a:r>
            </a:p>
          </p:txBody>
        </p:sp>
        <p:sp>
          <p:nvSpPr>
            <p:cNvPr id="18" name="TextBox 18"/>
            <p:cNvSpPr txBox="1"/>
            <p:nvPr/>
          </p:nvSpPr>
          <p:spPr>
            <a:xfrm>
              <a:off x="831342" y="4750118"/>
              <a:ext cx="4698442"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中电金信于2026年正式对外发布</a:t>
              </a:r>
              <a:r>
                <a:rPr lang="zh-CN" sz="1350" b="1" dirty="0">
                  <a:solidFill>
                    <a:srgbClr val="E74726"/>
                  </a:solidFill>
                  <a:latin typeface="+mn-lt"/>
                  <a:ea typeface="+mn-ea"/>
                  <a:cs typeface="+mn-cs"/>
                </a:rPr>
                <a:t>《商业银行长尾客群数字​</a:t>
              </a:r>
            </a:p>
          </p:txBody>
        </p:sp>
        <p:sp>
          <p:nvSpPr>
            <p:cNvPr id="19" name="TextBox 19"/>
            <p:cNvSpPr txBox="1"/>
            <p:nvPr/>
          </p:nvSpPr>
          <p:spPr>
            <a:xfrm>
              <a:off x="831342" y="5064442"/>
              <a:ext cx="4920615" cy="264033"/>
            </a:xfrm>
            <a:prstGeom prst="rect">
              <a:avLst/>
            </a:prstGeom>
            <a:noFill/>
            <a:ln>
              <a:noFill/>
            </a:ln>
          </p:spPr>
          <p:txBody>
            <a:bodyPr wrap="none" lIns="0" tIns="0" rIns="0" bIns="0" anchor="t" anchorCtr="0">
              <a:spAutoFit/>
            </a:bodyPr>
            <a:lstStyle/>
            <a:p>
              <a:pPr algn="l"/>
              <a:r>
                <a:rPr lang="zh-CN" sz="1350" b="1" dirty="0">
                  <a:solidFill>
                    <a:srgbClr val="E74726"/>
                  </a:solidFill>
                  <a:latin typeface="+mn-lt"/>
                  <a:ea typeface="+mn-ea"/>
                  <a:cs typeface="+mn-cs"/>
                </a:rPr>
                <a:t>化营销与运营策略研究报告</a:t>
              </a:r>
              <a:r>
                <a:rPr lang="zh-CN" sz="1350" dirty="0">
                  <a:solidFill>
                    <a:srgbClr val="523833"/>
                  </a:solidFill>
                  <a:latin typeface="+mn-lt"/>
                  <a:ea typeface="+mn-ea"/>
                  <a:cs typeface="+mn-cs"/>
                </a:rPr>
                <a:t>》（简称《报告》），从领先同业</a:t>
              </a:r>
            </a:p>
          </p:txBody>
        </p:sp>
        <p:sp>
          <p:nvSpPr>
            <p:cNvPr id="20" name="TextBox 20"/>
            <p:cNvSpPr txBox="1"/>
            <p:nvPr/>
          </p:nvSpPr>
          <p:spPr>
            <a:xfrm>
              <a:off x="831342" y="5378768"/>
              <a:ext cx="5102352"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实践调研出发，梳理长尾客群经营的策略框架与运营能力体系，</a:t>
              </a:r>
            </a:p>
          </p:txBody>
        </p:sp>
        <p:sp>
          <p:nvSpPr>
            <p:cNvPr id="21" name="TextBox 21"/>
            <p:cNvSpPr txBox="1"/>
            <p:nvPr/>
          </p:nvSpPr>
          <p:spPr>
            <a:xfrm>
              <a:off x="831342" y="5693092"/>
              <a:ext cx="4920615"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最终形成一套成熟可复制的经营方法论，为商业银行开展长尾</a:t>
              </a:r>
            </a:p>
          </p:txBody>
        </p:sp>
        <p:sp>
          <p:nvSpPr>
            <p:cNvPr id="22" name="TextBox 22"/>
            <p:cNvSpPr txBox="1"/>
            <p:nvPr/>
          </p:nvSpPr>
          <p:spPr>
            <a:xfrm>
              <a:off x="831342" y="6007418"/>
              <a:ext cx="2739771" cy="264033"/>
            </a:xfrm>
            <a:prstGeom prst="rect">
              <a:avLst/>
            </a:prstGeom>
            <a:noFill/>
            <a:ln>
              <a:noFill/>
            </a:ln>
          </p:spPr>
          <p:txBody>
            <a:bodyPr wrap="none" lIns="0" tIns="0" rIns="0" bIns="0" anchor="t" anchorCtr="0">
              <a:spAutoFit/>
            </a:bodyPr>
            <a:lstStyle/>
            <a:p>
              <a:pPr algn="l"/>
              <a:r>
                <a:rPr lang="zh-CN" sz="1350" dirty="0">
                  <a:solidFill>
                    <a:srgbClr val="523833"/>
                  </a:solidFill>
                  <a:latin typeface="+mn-lt"/>
                  <a:ea typeface="+mn-ea"/>
                  <a:cs typeface="+mn-cs"/>
                </a:rPr>
                <a:t>客群数字化营销与运营提供参考。</a:t>
              </a:r>
            </a:p>
          </p:txBody>
        </p:sp>
      </p:grpSp>
      <p:grpSp>
        <p:nvGrpSpPr>
          <p:cNvPr id="55" name="illus-3d"/>
          <p:cNvGrpSpPr/>
          <p:nvPr/>
        </p:nvGrpSpPr>
        <p:grpSpPr>
          <a:xfrm>
            <a:off x="7524750" y="1714500"/>
            <a:ext cx="4191000" cy="4819650"/>
            <a:chOff x="7524750" y="1714500"/>
            <a:chExt cx="4191000" cy="4819650"/>
          </a:xfrm>
        </p:grpSpPr>
        <p:sp>
          <p:nvSpPr>
            <p:cNvPr id="24" name="Ellipse 24"/>
            <p:cNvSpPr/>
            <p:nvPr/>
          </p:nvSpPr>
          <p:spPr>
            <a:xfrm>
              <a:off x="7524750" y="5657850"/>
              <a:ext cx="4191000" cy="876300"/>
            </a:xfrm>
            <a:prstGeom prst="ellipse">
              <a:avLst/>
            </a:prstGeom>
            <a:gradFill>
              <a:gsLst>
                <a:gs pos="0">
                  <a:srgbClr val="DCE8FB"/>
                </a:gs>
                <a:gs pos="100000">
                  <a:srgbClr val="F3AD9F"/>
                </a:gs>
              </a:gsLst>
              <a:lin ang="5400000" scaled="1"/>
            </a:gradFill>
            <a:ln>
              <a:noFill/>
            </a:ln>
          </p:spPr>
        </p:sp>
        <p:sp>
          <p:nvSpPr>
            <p:cNvPr id="25" name="Ellipse 25"/>
            <p:cNvSpPr/>
            <p:nvPr/>
          </p:nvSpPr>
          <p:spPr>
            <a:xfrm>
              <a:off x="8096250" y="5600700"/>
              <a:ext cx="3048000" cy="647700"/>
            </a:xfrm>
            <a:prstGeom prst="ellipse">
              <a:avLst/>
            </a:prstGeom>
            <a:solidFill>
              <a:srgbClr val="F7D1C9"/>
            </a:solidFill>
            <a:ln>
              <a:noFill/>
            </a:ln>
          </p:spPr>
        </p:sp>
        <p:sp>
          <p:nvSpPr>
            <p:cNvPr id="26" name="Ellipse 26"/>
            <p:cNvSpPr/>
            <p:nvPr/>
          </p:nvSpPr>
          <p:spPr>
            <a:xfrm>
              <a:off x="8477250" y="5581650"/>
              <a:ext cx="2286000" cy="495300"/>
            </a:xfrm>
            <a:prstGeom prst="ellipse">
              <a:avLst/>
            </a:prstGeom>
            <a:solidFill>
              <a:srgbClr val="EAF2FD"/>
            </a:solidFill>
            <a:ln>
              <a:noFill/>
            </a:ln>
          </p:spPr>
        </p:sp>
        <p:sp>
          <p:nvSpPr>
            <p:cNvPr id="27" name="Rectangle 27"/>
            <p:cNvSpPr/>
            <p:nvPr/>
          </p:nvSpPr>
          <p:spPr>
            <a:xfrm>
              <a:off x="8763000" y="1714500"/>
              <a:ext cx="2381250" cy="1809750"/>
            </a:xfrm>
            <a:prstGeom prst="roundRect">
              <a:avLst>
                <a:gd name="adj" fmla="val 8421"/>
              </a:avLst>
            </a:prstGeom>
            <a:solidFill>
              <a:srgbClr val="FFFFFF"/>
            </a:solidFill>
            <a:ln w="19050">
              <a:solidFill>
                <a:srgbClr val="F7D1C9"/>
              </a:solidFill>
            </a:ln>
          </p:spPr>
        </p:sp>
        <p:sp>
          <p:nvSpPr>
            <p:cNvPr id="28" name="Rectangle 28"/>
            <p:cNvSpPr/>
            <p:nvPr/>
          </p:nvSpPr>
          <p:spPr>
            <a:xfrm>
              <a:off x="8763000" y="1714500"/>
              <a:ext cx="2381250" cy="1809750"/>
            </a:xfrm>
            <a:prstGeom prst="roundRect">
              <a:avLst>
                <a:gd name="adj" fmla="val 8421"/>
              </a:avLst>
            </a:prstGeom>
            <a:solidFill>
              <a:srgbClr val="EAF2FD">
                <a:alpha val="50000"/>
              </a:srgbClr>
            </a:solidFill>
            <a:ln>
              <a:noFill/>
            </a:ln>
          </p:spPr>
        </p:sp>
        <p:sp>
          <p:nvSpPr>
            <p:cNvPr id="29" name="Rectangle 29"/>
            <p:cNvSpPr/>
            <p:nvPr/>
          </p:nvSpPr>
          <p:spPr>
            <a:xfrm>
              <a:off x="9048750" y="2762250"/>
              <a:ext cx="266700" cy="533400"/>
            </a:xfrm>
            <a:prstGeom prst="roundRect">
              <a:avLst>
                <a:gd name="adj" fmla="val 14286"/>
              </a:avLst>
            </a:prstGeom>
            <a:solidFill>
              <a:srgbClr val="F0745B"/>
            </a:solidFill>
            <a:ln>
              <a:noFill/>
            </a:ln>
          </p:spPr>
        </p:sp>
        <p:sp>
          <p:nvSpPr>
            <p:cNvPr id="30" name="Rectangle 30"/>
            <p:cNvSpPr/>
            <p:nvPr/>
          </p:nvSpPr>
          <p:spPr>
            <a:xfrm>
              <a:off x="9448800" y="2495550"/>
              <a:ext cx="266700" cy="800100"/>
            </a:xfrm>
            <a:prstGeom prst="roundRect">
              <a:avLst>
                <a:gd name="adj" fmla="val 14286"/>
              </a:avLst>
            </a:prstGeom>
            <a:solidFill>
              <a:srgbClr val="E74726"/>
            </a:solidFill>
            <a:ln>
              <a:noFill/>
            </a:ln>
          </p:spPr>
        </p:sp>
        <p:sp>
          <p:nvSpPr>
            <p:cNvPr id="31" name="Rectangle 31"/>
            <p:cNvSpPr/>
            <p:nvPr/>
          </p:nvSpPr>
          <p:spPr>
            <a:xfrm>
              <a:off x="9848850" y="2266950"/>
              <a:ext cx="266700" cy="1028700"/>
            </a:xfrm>
            <a:prstGeom prst="roundRect">
              <a:avLst>
                <a:gd name="adj" fmla="val 14286"/>
              </a:avLst>
            </a:prstGeom>
            <a:solidFill>
              <a:srgbClr val="B8351A"/>
            </a:solidFill>
            <a:ln>
              <a:noFill/>
            </a:ln>
          </p:spPr>
        </p:sp>
        <p:sp>
          <p:nvSpPr>
            <p:cNvPr id="32" name="Rectangle 32"/>
            <p:cNvSpPr/>
            <p:nvPr/>
          </p:nvSpPr>
          <p:spPr>
            <a:xfrm>
              <a:off x="10248900" y="2857500"/>
              <a:ext cx="266700" cy="438150"/>
            </a:xfrm>
            <a:prstGeom prst="roundRect">
              <a:avLst>
                <a:gd name="adj" fmla="val 14286"/>
              </a:avLst>
            </a:prstGeom>
            <a:solidFill>
              <a:srgbClr val="F5A08F"/>
            </a:solidFill>
            <a:ln>
              <a:noFill/>
            </a:ln>
          </p:spPr>
        </p:sp>
        <p:sp>
          <p:nvSpPr>
            <p:cNvPr id="33" name="Rectangle 33"/>
            <p:cNvSpPr/>
            <p:nvPr/>
          </p:nvSpPr>
          <p:spPr>
            <a:xfrm>
              <a:off x="8096250" y="3619500"/>
              <a:ext cx="2857500" cy="1714500"/>
            </a:xfrm>
            <a:prstGeom prst="roundRect">
              <a:avLst>
                <a:gd name="adj" fmla="val 7778"/>
              </a:avLst>
            </a:prstGeom>
            <a:solidFill>
              <a:srgbClr val="FFFFFF"/>
            </a:solidFill>
            <a:ln w="19050">
              <a:solidFill>
                <a:srgbClr val="F7D1C9"/>
              </a:solidFill>
            </a:ln>
          </p:spPr>
        </p:sp>
        <p:grpSp>
          <p:nvGrpSpPr>
            <p:cNvPr id="45" name="Group 45"/>
            <p:cNvGrpSpPr/>
            <p:nvPr/>
          </p:nvGrpSpPr>
          <p:grpSpPr>
            <a:xfrm>
              <a:off x="8248650" y="3752850"/>
              <a:ext cx="2552700" cy="1447800"/>
              <a:chOff x="8248650" y="3752850"/>
              <a:chExt cx="2552700" cy="1447800"/>
            </a:xfrm>
          </p:grpSpPr>
          <p:sp>
            <p:nvSpPr>
              <p:cNvPr id="34" name="Line 34"/>
              <p:cNvSpPr/>
              <p:nvPr/>
            </p:nvSpPr>
            <p:spPr>
              <a:xfrm>
                <a:off x="8248650" y="3905250"/>
                <a:ext cx="2552700" cy="9525"/>
              </a:xfrm>
              <a:custGeom>
                <a:avLst/>
                <a:gdLst/>
                <a:ahLst/>
                <a:cxnLst/>
                <a:rect l="l" t="t" r="r" b="b"/>
                <a:pathLst>
                  <a:path w="2552700" h="9525">
                    <a:moveTo>
                      <a:pt x="0" y="0"/>
                    </a:moveTo>
                    <a:lnTo>
                      <a:pt x="2552700" y="0"/>
                    </a:lnTo>
                  </a:path>
                </a:pathLst>
              </a:custGeom>
              <a:noFill/>
              <a:ln w="14288">
                <a:solidFill>
                  <a:srgbClr val="F5C3B9"/>
                </a:solidFill>
              </a:ln>
            </p:spPr>
          </p:sp>
          <p:sp>
            <p:nvSpPr>
              <p:cNvPr id="35" name="Line 35"/>
              <p:cNvSpPr/>
              <p:nvPr/>
            </p:nvSpPr>
            <p:spPr>
              <a:xfrm>
                <a:off x="8248650" y="4191000"/>
                <a:ext cx="2552700" cy="9525"/>
              </a:xfrm>
              <a:custGeom>
                <a:avLst/>
                <a:gdLst/>
                <a:ahLst/>
                <a:cxnLst/>
                <a:rect l="l" t="t" r="r" b="b"/>
                <a:pathLst>
                  <a:path w="2552700" h="9525">
                    <a:moveTo>
                      <a:pt x="0" y="0"/>
                    </a:moveTo>
                    <a:lnTo>
                      <a:pt x="2552700" y="0"/>
                    </a:lnTo>
                  </a:path>
                </a:pathLst>
              </a:custGeom>
              <a:noFill/>
              <a:ln w="14288">
                <a:solidFill>
                  <a:srgbClr val="F5C3B9"/>
                </a:solidFill>
              </a:ln>
            </p:spPr>
          </p:sp>
          <p:sp>
            <p:nvSpPr>
              <p:cNvPr id="36" name="Line 36"/>
              <p:cNvSpPr/>
              <p:nvPr/>
            </p:nvSpPr>
            <p:spPr>
              <a:xfrm>
                <a:off x="8248650" y="4476750"/>
                <a:ext cx="2552700" cy="9525"/>
              </a:xfrm>
              <a:custGeom>
                <a:avLst/>
                <a:gdLst/>
                <a:ahLst/>
                <a:cxnLst/>
                <a:rect l="l" t="t" r="r" b="b"/>
                <a:pathLst>
                  <a:path w="2552700" h="9525">
                    <a:moveTo>
                      <a:pt x="0" y="0"/>
                    </a:moveTo>
                    <a:lnTo>
                      <a:pt x="2552700" y="0"/>
                    </a:lnTo>
                  </a:path>
                </a:pathLst>
              </a:custGeom>
              <a:noFill/>
              <a:ln w="14288">
                <a:solidFill>
                  <a:srgbClr val="F5C3B9"/>
                </a:solidFill>
              </a:ln>
            </p:spPr>
          </p:sp>
          <p:sp>
            <p:nvSpPr>
              <p:cNvPr id="37" name="Line 37"/>
              <p:cNvSpPr/>
              <p:nvPr/>
            </p:nvSpPr>
            <p:spPr>
              <a:xfrm>
                <a:off x="8248650" y="4762500"/>
                <a:ext cx="2552700" cy="9525"/>
              </a:xfrm>
              <a:custGeom>
                <a:avLst/>
                <a:gdLst/>
                <a:ahLst/>
                <a:cxnLst/>
                <a:rect l="l" t="t" r="r" b="b"/>
                <a:pathLst>
                  <a:path w="2552700" h="9525">
                    <a:moveTo>
                      <a:pt x="0" y="0"/>
                    </a:moveTo>
                    <a:lnTo>
                      <a:pt x="2552700" y="0"/>
                    </a:lnTo>
                  </a:path>
                </a:pathLst>
              </a:custGeom>
              <a:noFill/>
              <a:ln w="14288">
                <a:solidFill>
                  <a:srgbClr val="F5C3B9"/>
                </a:solidFill>
              </a:ln>
            </p:spPr>
          </p:sp>
          <p:sp>
            <p:nvSpPr>
              <p:cNvPr id="38" name="Line 38"/>
              <p:cNvSpPr/>
              <p:nvPr/>
            </p:nvSpPr>
            <p:spPr>
              <a:xfrm>
                <a:off x="8248650" y="5048250"/>
                <a:ext cx="2552700" cy="9525"/>
              </a:xfrm>
              <a:custGeom>
                <a:avLst/>
                <a:gdLst/>
                <a:ahLst/>
                <a:cxnLst/>
                <a:rect l="l" t="t" r="r" b="b"/>
                <a:pathLst>
                  <a:path w="2552700" h="9525">
                    <a:moveTo>
                      <a:pt x="0" y="0"/>
                    </a:moveTo>
                    <a:lnTo>
                      <a:pt x="2552700" y="0"/>
                    </a:lnTo>
                  </a:path>
                </a:pathLst>
              </a:custGeom>
              <a:noFill/>
              <a:ln w="14288">
                <a:solidFill>
                  <a:srgbClr val="F5C3B9"/>
                </a:solidFill>
              </a:ln>
            </p:spPr>
          </p:sp>
          <p:sp>
            <p:nvSpPr>
              <p:cNvPr id="39" name="Line 39"/>
              <p:cNvSpPr/>
              <p:nvPr/>
            </p:nvSpPr>
            <p:spPr>
              <a:xfrm>
                <a:off x="8629650" y="3752850"/>
                <a:ext cx="9525" cy="1447800"/>
              </a:xfrm>
              <a:custGeom>
                <a:avLst/>
                <a:gdLst/>
                <a:ahLst/>
                <a:cxnLst/>
                <a:rect l="l" t="t" r="r" b="b"/>
                <a:pathLst>
                  <a:path w="9525" h="1447800">
                    <a:moveTo>
                      <a:pt x="0" y="0"/>
                    </a:moveTo>
                    <a:lnTo>
                      <a:pt x="0" y="1447800"/>
                    </a:lnTo>
                  </a:path>
                </a:pathLst>
              </a:custGeom>
              <a:noFill/>
              <a:ln w="14288">
                <a:solidFill>
                  <a:srgbClr val="F5C3B9"/>
                </a:solidFill>
              </a:ln>
            </p:spPr>
          </p:sp>
          <p:sp>
            <p:nvSpPr>
              <p:cNvPr id="40" name="Line 40"/>
              <p:cNvSpPr/>
              <p:nvPr/>
            </p:nvSpPr>
            <p:spPr>
              <a:xfrm>
                <a:off x="9010650" y="3752850"/>
                <a:ext cx="9525" cy="1447800"/>
              </a:xfrm>
              <a:custGeom>
                <a:avLst/>
                <a:gdLst/>
                <a:ahLst/>
                <a:cxnLst/>
                <a:rect l="l" t="t" r="r" b="b"/>
                <a:pathLst>
                  <a:path w="9525" h="1447800">
                    <a:moveTo>
                      <a:pt x="0" y="0"/>
                    </a:moveTo>
                    <a:lnTo>
                      <a:pt x="0" y="1447800"/>
                    </a:lnTo>
                  </a:path>
                </a:pathLst>
              </a:custGeom>
              <a:noFill/>
              <a:ln w="14288">
                <a:solidFill>
                  <a:srgbClr val="F5C3B9"/>
                </a:solidFill>
              </a:ln>
            </p:spPr>
          </p:sp>
          <p:sp>
            <p:nvSpPr>
              <p:cNvPr id="41" name="Line 41"/>
              <p:cNvSpPr/>
              <p:nvPr/>
            </p:nvSpPr>
            <p:spPr>
              <a:xfrm>
                <a:off x="9391650" y="3752850"/>
                <a:ext cx="9525" cy="1447800"/>
              </a:xfrm>
              <a:custGeom>
                <a:avLst/>
                <a:gdLst/>
                <a:ahLst/>
                <a:cxnLst/>
                <a:rect l="l" t="t" r="r" b="b"/>
                <a:pathLst>
                  <a:path w="9525" h="1447800">
                    <a:moveTo>
                      <a:pt x="0" y="0"/>
                    </a:moveTo>
                    <a:lnTo>
                      <a:pt x="0" y="1447800"/>
                    </a:lnTo>
                  </a:path>
                </a:pathLst>
              </a:custGeom>
              <a:noFill/>
              <a:ln w="14288">
                <a:solidFill>
                  <a:srgbClr val="F5C3B9"/>
                </a:solidFill>
              </a:ln>
            </p:spPr>
          </p:sp>
          <p:sp>
            <p:nvSpPr>
              <p:cNvPr id="42" name="Line 42"/>
              <p:cNvSpPr/>
              <p:nvPr/>
            </p:nvSpPr>
            <p:spPr>
              <a:xfrm>
                <a:off x="9772650" y="3752850"/>
                <a:ext cx="9525" cy="1447800"/>
              </a:xfrm>
              <a:custGeom>
                <a:avLst/>
                <a:gdLst/>
                <a:ahLst/>
                <a:cxnLst/>
                <a:rect l="l" t="t" r="r" b="b"/>
                <a:pathLst>
                  <a:path w="9525" h="1447800">
                    <a:moveTo>
                      <a:pt x="0" y="0"/>
                    </a:moveTo>
                    <a:lnTo>
                      <a:pt x="0" y="1447800"/>
                    </a:lnTo>
                  </a:path>
                </a:pathLst>
              </a:custGeom>
              <a:noFill/>
              <a:ln w="14288">
                <a:solidFill>
                  <a:srgbClr val="F5C3B9"/>
                </a:solidFill>
              </a:ln>
            </p:spPr>
          </p:sp>
          <p:sp>
            <p:nvSpPr>
              <p:cNvPr id="43" name="Line 43"/>
              <p:cNvSpPr/>
              <p:nvPr/>
            </p:nvSpPr>
            <p:spPr>
              <a:xfrm>
                <a:off x="10153650" y="3752850"/>
                <a:ext cx="9525" cy="1447800"/>
              </a:xfrm>
              <a:custGeom>
                <a:avLst/>
                <a:gdLst/>
                <a:ahLst/>
                <a:cxnLst/>
                <a:rect l="l" t="t" r="r" b="b"/>
                <a:pathLst>
                  <a:path w="9525" h="1447800">
                    <a:moveTo>
                      <a:pt x="0" y="0"/>
                    </a:moveTo>
                    <a:lnTo>
                      <a:pt x="0" y="1447800"/>
                    </a:lnTo>
                  </a:path>
                </a:pathLst>
              </a:custGeom>
              <a:noFill/>
              <a:ln w="14288">
                <a:solidFill>
                  <a:srgbClr val="F5C3B9"/>
                </a:solidFill>
              </a:ln>
            </p:spPr>
          </p:sp>
          <p:sp>
            <p:nvSpPr>
              <p:cNvPr id="44" name="Line 44"/>
              <p:cNvSpPr/>
              <p:nvPr/>
            </p:nvSpPr>
            <p:spPr>
              <a:xfrm>
                <a:off x="10534650" y="3752850"/>
                <a:ext cx="9525" cy="1447800"/>
              </a:xfrm>
              <a:custGeom>
                <a:avLst/>
                <a:gdLst/>
                <a:ahLst/>
                <a:cxnLst/>
                <a:rect l="l" t="t" r="r" b="b"/>
                <a:pathLst>
                  <a:path w="9525" h="1447800">
                    <a:moveTo>
                      <a:pt x="0" y="0"/>
                    </a:moveTo>
                    <a:lnTo>
                      <a:pt x="0" y="1447800"/>
                    </a:lnTo>
                  </a:path>
                </a:pathLst>
              </a:custGeom>
              <a:noFill/>
              <a:ln w="14288">
                <a:solidFill>
                  <a:srgbClr val="F5C3B9"/>
                </a:solidFill>
              </a:ln>
            </p:spPr>
          </p:sp>
        </p:grpSp>
        <p:sp>
          <p:nvSpPr>
            <p:cNvPr id="46" name="Freeform 46"/>
            <p:cNvSpPr/>
            <p:nvPr/>
          </p:nvSpPr>
          <p:spPr>
            <a:xfrm>
              <a:off x="8210550" y="3333750"/>
              <a:ext cx="2743200" cy="1619250"/>
            </a:xfrm>
            <a:custGeom>
              <a:avLst/>
              <a:gdLst/>
              <a:ahLst/>
              <a:cxnLst/>
              <a:rect l="l" t="t" r="r" b="b"/>
              <a:pathLst>
                <a:path w="2743200" h="1619250">
                  <a:moveTo>
                    <a:pt x="0" y="1619250"/>
                  </a:moveTo>
                  <a:cubicBezTo>
                    <a:pt x="647700" y="1428750"/>
                    <a:pt x="933450" y="762000"/>
                    <a:pt x="1600200" y="476250"/>
                  </a:cubicBezTo>
                  <a:cubicBezTo>
                    <a:pt x="2076450" y="266700"/>
                    <a:pt x="2457450" y="114300"/>
                    <a:pt x="2743200" y="0"/>
                  </a:cubicBezTo>
                </a:path>
              </a:pathLst>
            </a:custGeom>
            <a:noFill/>
            <a:ln w="133350" cap="rnd">
              <a:solidFill>
                <a:srgbClr val="E74726"/>
              </a:solidFill>
            </a:ln>
          </p:spPr>
        </p:sp>
        <p:sp>
          <p:nvSpPr>
            <p:cNvPr id="47" name="Polygon 47"/>
            <p:cNvSpPr/>
            <p:nvPr/>
          </p:nvSpPr>
          <p:spPr>
            <a:xfrm>
              <a:off x="10953750" y="3200400"/>
              <a:ext cx="247650" cy="304800"/>
            </a:xfrm>
            <a:custGeom>
              <a:avLst/>
              <a:gdLst/>
              <a:ahLst/>
              <a:cxnLst/>
              <a:rect l="l" t="t" r="r" b="b"/>
              <a:pathLst>
                <a:path w="247650" h="304800">
                  <a:moveTo>
                    <a:pt x="247650" y="0"/>
                  </a:moveTo>
                  <a:lnTo>
                    <a:pt x="0" y="95250"/>
                  </a:lnTo>
                  <a:lnTo>
                    <a:pt x="152400" y="304800"/>
                  </a:lnTo>
                  <a:close/>
                </a:path>
              </a:pathLst>
            </a:custGeom>
            <a:solidFill>
              <a:srgbClr val="B8351A"/>
            </a:solidFill>
            <a:ln>
              <a:noFill/>
            </a:ln>
          </p:spPr>
        </p:sp>
        <p:sp>
          <p:nvSpPr>
            <p:cNvPr id="48" name="Ellipse 48"/>
            <p:cNvSpPr/>
            <p:nvPr/>
          </p:nvSpPr>
          <p:spPr>
            <a:xfrm>
              <a:off x="8058150" y="5429250"/>
              <a:ext cx="647700" cy="190500"/>
            </a:xfrm>
            <a:prstGeom prst="ellipse">
              <a:avLst/>
            </a:prstGeom>
            <a:solidFill>
              <a:srgbClr val="F5735C"/>
            </a:solidFill>
            <a:ln>
              <a:noFill/>
            </a:ln>
          </p:spPr>
        </p:sp>
        <p:sp>
          <p:nvSpPr>
            <p:cNvPr id="49" name="Rectangle 49"/>
            <p:cNvSpPr/>
            <p:nvPr/>
          </p:nvSpPr>
          <p:spPr>
            <a:xfrm>
              <a:off x="8058150" y="5219700"/>
              <a:ext cx="647700" cy="285750"/>
            </a:xfrm>
            <a:prstGeom prst="roundRect">
              <a:avLst>
                <a:gd name="adj" fmla="val 20000"/>
              </a:avLst>
            </a:prstGeom>
            <a:solidFill>
              <a:srgbClr val="F5735C"/>
            </a:solidFill>
            <a:ln>
              <a:noFill/>
            </a:ln>
          </p:spPr>
        </p:sp>
        <p:sp>
          <p:nvSpPr>
            <p:cNvPr id="50" name="TextBox 50"/>
            <p:cNvSpPr txBox="1"/>
            <p:nvPr/>
          </p:nvSpPr>
          <p:spPr>
            <a:xfrm>
              <a:off x="8295036" y="5315902"/>
              <a:ext cx="173928" cy="205359"/>
            </a:xfrm>
            <a:prstGeom prst="rect">
              <a:avLst/>
            </a:prstGeom>
            <a:noFill/>
            <a:ln>
              <a:noFill/>
            </a:ln>
          </p:spPr>
          <p:txBody>
            <a:bodyPr wrap="none" lIns="0" tIns="0" rIns="0" bIns="0" anchor="t" anchorCtr="0">
              <a:spAutoFit/>
            </a:bodyPr>
            <a:lstStyle/>
            <a:p>
              <a:pPr algn="ctr"/>
              <a:r>
                <a:rPr lang="zh-CN" sz="1050" b="1" dirty="0">
                  <a:solidFill>
                    <a:srgbClr val="B8250B"/>
                  </a:solidFill>
                  <a:latin typeface="+mn-lt"/>
                  <a:ea typeface="+mn-ea"/>
                  <a:cs typeface="+mn-cs"/>
                </a:rPr>
                <a:t>¥​</a:t>
              </a:r>
            </a:p>
          </p:txBody>
        </p:sp>
        <p:sp>
          <p:nvSpPr>
            <p:cNvPr id="51" name="Ellipse 51"/>
            <p:cNvSpPr/>
            <p:nvPr/>
          </p:nvSpPr>
          <p:spPr>
            <a:xfrm>
              <a:off x="10763250" y="5248275"/>
              <a:ext cx="571500" cy="171450"/>
            </a:xfrm>
            <a:prstGeom prst="ellipse">
              <a:avLst/>
            </a:prstGeom>
            <a:solidFill>
              <a:srgbClr val="F3AD9F"/>
            </a:solidFill>
            <a:ln>
              <a:noFill/>
            </a:ln>
          </p:spPr>
        </p:sp>
        <p:sp>
          <p:nvSpPr>
            <p:cNvPr id="52" name="Rectangle 52"/>
            <p:cNvSpPr/>
            <p:nvPr/>
          </p:nvSpPr>
          <p:spPr>
            <a:xfrm>
              <a:off x="10763250" y="5067300"/>
              <a:ext cx="571500" cy="247650"/>
            </a:xfrm>
            <a:prstGeom prst="roundRect">
              <a:avLst>
                <a:gd name="adj" fmla="val 23077"/>
              </a:avLst>
            </a:prstGeom>
            <a:solidFill>
              <a:srgbClr val="F3AD9F"/>
            </a:solidFill>
            <a:ln>
              <a:noFill/>
            </a:ln>
          </p:spPr>
        </p:sp>
        <p:sp>
          <p:nvSpPr>
            <p:cNvPr id="53" name="Ellipse 53"/>
            <p:cNvSpPr/>
            <p:nvPr/>
          </p:nvSpPr>
          <p:spPr>
            <a:xfrm>
              <a:off x="8324850" y="2133600"/>
              <a:ext cx="495300" cy="495300"/>
            </a:xfrm>
            <a:prstGeom prst="ellipse">
              <a:avLst/>
            </a:prstGeom>
            <a:solidFill>
              <a:srgbClr val="F0745B">
                <a:alpha val="35000"/>
              </a:srgbClr>
            </a:solidFill>
            <a:ln>
              <a:noFill/>
            </a:ln>
          </p:spPr>
        </p:sp>
        <p:sp>
          <p:nvSpPr>
            <p:cNvPr id="54" name="Ellipse 54"/>
            <p:cNvSpPr/>
            <p:nvPr/>
          </p:nvSpPr>
          <p:spPr>
            <a:xfrm>
              <a:off x="11163300" y="3924300"/>
              <a:ext cx="342900" cy="342900"/>
            </a:xfrm>
            <a:prstGeom prst="ellipse">
              <a:avLst/>
            </a:prstGeom>
            <a:solidFill>
              <a:srgbClr val="E74726">
                <a:alpha val="30000"/>
              </a:srgbClr>
            </a:solidFill>
            <a:ln>
              <a:noFill/>
            </a:ln>
          </p:spPr>
        </p:sp>
      </p:grpSp>
      <p:sp>
        <p:nvSpPr>
          <p:cNvPr id="56" name="TextBox 56"/>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942594" y="151448"/>
              <a:ext cx="1684020"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研究方法说明</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banner"/>
          <p:cNvGrpSpPr/>
          <p:nvPr/>
        </p:nvGrpSpPr>
        <p:grpSpPr>
          <a:xfrm>
            <a:off x="381000" y="704850"/>
            <a:ext cx="11430000" cy="571500"/>
            <a:chOff x="381000" y="704850"/>
            <a:chExt cx="11430000" cy="571500"/>
          </a:xfrm>
        </p:grpSpPr>
        <p:sp>
          <p:nvSpPr>
            <p:cNvPr id="8" name="Rectangle 8"/>
            <p:cNvSpPr/>
            <p:nvPr/>
          </p:nvSpPr>
          <p:spPr>
            <a:xfrm>
              <a:off x="381000" y="704850"/>
              <a:ext cx="11430000" cy="571500"/>
            </a:xfrm>
            <a:prstGeom prst="roundRect">
              <a:avLst>
                <a:gd name="adj" fmla="val 16667"/>
              </a:avLst>
            </a:prstGeom>
            <a:solidFill>
              <a:srgbClr val="E74726"/>
            </a:solidFill>
            <a:ln>
              <a:noFill/>
            </a:ln>
          </p:spPr>
        </p:sp>
        <p:sp>
          <p:nvSpPr>
            <p:cNvPr id="9" name="TextBox 9"/>
            <p:cNvSpPr txBox="1"/>
            <p:nvPr/>
          </p:nvSpPr>
          <p:spPr>
            <a:xfrm>
              <a:off x="565976" y="825579"/>
              <a:ext cx="9402140" cy="212693"/>
            </a:xfrm>
            <a:prstGeom prst="rect">
              <a:avLst/>
            </a:prstGeom>
            <a:noFill/>
            <a:ln>
              <a:noFill/>
            </a:ln>
          </p:spPr>
          <p:txBody>
            <a:bodyPr wrap="none" lIns="0" tIns="0" rIns="0" bIns="0" anchor="t" anchorCtr="0">
              <a:spAutoFit/>
            </a:bodyPr>
            <a:lstStyle/>
            <a:p>
              <a:pPr algn="l"/>
              <a:r>
                <a:rPr lang="zh-CN" sz="1090" dirty="0">
                  <a:solidFill>
                    <a:srgbClr val="FFFFFF"/>
                  </a:solidFill>
                  <a:latin typeface="+mn-lt"/>
                  <a:ea typeface="+mn-ea"/>
                  <a:cs typeface="+mn-cs"/>
                </a:rPr>
                <a:t>《商业银行长尾客群数字化营销与运营策略研究报告》基于中电金信长期以来对银行零售业务的洞察与长尾客群运营相关项目实践，从客群特征、</a:t>
              </a:r>
            </a:p>
          </p:txBody>
        </p:sp>
        <p:sp>
          <p:nvSpPr>
            <p:cNvPr id="10" name="TextBox 10"/>
            <p:cNvSpPr txBox="1"/>
            <p:nvPr/>
          </p:nvSpPr>
          <p:spPr>
            <a:xfrm>
              <a:off x="565976" y="1054179"/>
              <a:ext cx="9989083" cy="212693"/>
            </a:xfrm>
            <a:prstGeom prst="rect">
              <a:avLst/>
            </a:prstGeom>
            <a:noFill/>
            <a:ln>
              <a:noFill/>
            </a:ln>
          </p:spPr>
          <p:txBody>
            <a:bodyPr wrap="none" lIns="0" tIns="0" rIns="0" bIns="0" anchor="t" anchorCtr="0">
              <a:spAutoFit/>
            </a:bodyPr>
            <a:lstStyle/>
            <a:p>
              <a:pPr algn="l"/>
              <a:r>
                <a:rPr lang="zh-CN" sz="1090" dirty="0">
                  <a:solidFill>
                    <a:srgbClr val="FFFFFF"/>
                  </a:solidFill>
                  <a:latin typeface="+mn-lt"/>
                  <a:ea typeface="+mn-ea"/>
                  <a:cs typeface="+mn-cs"/>
                </a:rPr>
                <a:t>精细化分层分群、数字化营销运营能力等核心维度切入，为银行业提供兼具前瞻性与实操性的专业建议，助力银行提升长尾客群经营质效，提高客群价值。</a:t>
              </a:r>
            </a:p>
          </p:txBody>
        </p:sp>
      </p:grpSp>
      <p:grpSp>
        <p:nvGrpSpPr>
          <p:cNvPr id="19" name="card-1"/>
          <p:cNvGrpSpPr/>
          <p:nvPr/>
        </p:nvGrpSpPr>
        <p:grpSpPr>
          <a:xfrm>
            <a:off x="571500" y="1543050"/>
            <a:ext cx="3429000" cy="4667250"/>
            <a:chOff x="571500" y="1543050"/>
            <a:chExt cx="3429000" cy="4667250"/>
          </a:xfrm>
        </p:grpSpPr>
        <p:sp>
          <p:nvSpPr>
            <p:cNvPr id="12" name="Rectangle 12"/>
            <p:cNvSpPr/>
            <p:nvPr/>
          </p:nvSpPr>
          <p:spPr>
            <a:xfrm>
              <a:off x="571500" y="1543050"/>
              <a:ext cx="3429000" cy="4667250"/>
            </a:xfrm>
            <a:prstGeom prst="roundRect">
              <a:avLst>
                <a:gd name="adj" fmla="val 3889"/>
              </a:avLst>
            </a:prstGeom>
            <a:gradFill>
              <a:gsLst>
                <a:gs pos="0">
                  <a:srgbClr val="D7E3FA"/>
                </a:gs>
                <a:gs pos="100000">
                  <a:srgbClr val="F0F5FE"/>
                </a:gs>
              </a:gsLst>
              <a:lin ang="5400000" scaled="1"/>
            </a:gradFill>
            <a:ln>
              <a:noFill/>
            </a:ln>
            <a:effectLst>
              <a:outerShdw blurRad="152400" dist="57150" dir="5400000" algn="ctr" rotWithShape="0">
                <a:srgbClr val="B8351A">
                  <a:alpha val="9000"/>
                </a:srgbClr>
              </a:outerShdw>
            </a:effectLst>
          </p:spPr>
        </p:sp>
        <p:sp>
          <p:nvSpPr>
            <p:cNvPr id="13" name="TextBox 13"/>
            <p:cNvSpPr txBox="1"/>
            <p:nvPr/>
          </p:nvSpPr>
          <p:spPr>
            <a:xfrm>
              <a:off x="3199632" y="1780222"/>
              <a:ext cx="551694" cy="674751"/>
            </a:xfrm>
            <a:prstGeom prst="rect">
              <a:avLst/>
            </a:prstGeom>
            <a:noFill/>
            <a:ln>
              <a:noFill/>
            </a:ln>
          </p:spPr>
          <p:txBody>
            <a:bodyPr wrap="none" lIns="0" tIns="0" rIns="0" bIns="0" anchor="t" anchorCtr="0">
              <a:spAutoFit/>
            </a:bodyPr>
            <a:lstStyle/>
            <a:p>
              <a:pPr algn="r"/>
              <a:r>
                <a:rPr lang="zh-CN" sz="3450" b="1" dirty="0">
                  <a:solidFill>
                    <a:srgbClr val="C5D3EA"/>
                  </a:solidFill>
                  <a:latin typeface="+mj-lt"/>
                  <a:ea typeface="+mj-ea"/>
                  <a:cs typeface="+mj-cs"/>
                </a:rPr>
                <a:t>01</a:t>
              </a:r>
            </a:p>
          </p:txBody>
        </p:sp>
        <p:sp>
          <p:nvSpPr>
            <p:cNvPr id="14" name="TextBox 14"/>
            <p:cNvSpPr txBox="1"/>
            <p:nvPr/>
          </p:nvSpPr>
          <p:spPr>
            <a:xfrm>
              <a:off x="850773" y="1881664"/>
              <a:ext cx="702208" cy="249364"/>
            </a:xfrm>
            <a:prstGeom prst="rect">
              <a:avLst/>
            </a:prstGeom>
            <a:noFill/>
            <a:ln>
              <a:noFill/>
            </a:ln>
          </p:spPr>
          <p:txBody>
            <a:bodyPr wrap="none" lIns="0" tIns="0" rIns="0" bIns="0" anchor="t" anchorCtr="0">
              <a:spAutoFit/>
            </a:bodyPr>
            <a:lstStyle/>
            <a:p>
              <a:pPr algn="l"/>
              <a:r>
                <a:rPr lang="zh-CN" sz="1280" b="1" dirty="0">
                  <a:solidFill>
                    <a:srgbClr val="E74726"/>
                  </a:solidFill>
                  <a:latin typeface="+mn-lt"/>
                  <a:ea typeface="+mn-ea"/>
                  <a:cs typeface="+mn-cs"/>
                </a:rPr>
                <a:t>研究范围</a:t>
              </a:r>
            </a:p>
          </p:txBody>
        </p:sp>
        <p:sp>
          <p:nvSpPr>
            <p:cNvPr id="15" name="Rectangle 15"/>
            <p:cNvSpPr/>
            <p:nvPr/>
          </p:nvSpPr>
          <p:spPr>
            <a:xfrm>
              <a:off x="857250" y="2095500"/>
              <a:ext cx="609600" cy="28575"/>
            </a:xfrm>
            <a:prstGeom prst="rect">
              <a:avLst/>
            </a:prstGeom>
            <a:solidFill>
              <a:srgbClr val="E74726"/>
            </a:solidFill>
            <a:ln>
              <a:noFill/>
            </a:ln>
          </p:spPr>
        </p:sp>
        <p:sp>
          <p:nvSpPr>
            <p:cNvPr id="16" name="TextBox 16"/>
            <p:cNvSpPr txBox="1"/>
            <p:nvPr/>
          </p:nvSpPr>
          <p:spPr>
            <a:xfrm>
              <a:off x="852297" y="2561749"/>
              <a:ext cx="2648458" cy="190690"/>
            </a:xfrm>
            <a:prstGeom prst="rect">
              <a:avLst/>
            </a:prstGeom>
            <a:noFill/>
            <a:ln>
              <a:noFill/>
            </a:ln>
          </p:spPr>
          <p:txBody>
            <a:bodyPr wrap="none" lIns="0" tIns="0" rIns="0" bIns="0" anchor="t" anchorCtr="0">
              <a:spAutoFit/>
            </a:bodyPr>
            <a:lstStyle/>
            <a:p>
              <a:pPr algn="l"/>
              <a:r>
                <a:rPr lang="zh-CN" sz="980" dirty="0">
                  <a:solidFill>
                    <a:srgbClr val="523833"/>
                  </a:solidFill>
                  <a:latin typeface="+mn-lt"/>
                  <a:ea typeface="+mn-ea"/>
                  <a:cs typeface="+mn-cs"/>
                </a:rPr>
                <a:t>本报告从对同业调研和中电金信项目实施经验</a:t>
              </a:r>
            </a:p>
          </p:txBody>
        </p:sp>
        <p:sp>
          <p:nvSpPr>
            <p:cNvPr id="17" name="TextBox 17"/>
            <p:cNvSpPr txBox="1"/>
            <p:nvPr/>
          </p:nvSpPr>
          <p:spPr>
            <a:xfrm>
              <a:off x="852297" y="2847499"/>
              <a:ext cx="2516530" cy="190690"/>
            </a:xfrm>
            <a:prstGeom prst="rect">
              <a:avLst/>
            </a:prstGeom>
            <a:noFill/>
            <a:ln>
              <a:noFill/>
            </a:ln>
          </p:spPr>
          <p:txBody>
            <a:bodyPr wrap="none" lIns="0" tIns="0" rIns="0" bIns="0" anchor="t" anchorCtr="0">
              <a:spAutoFit/>
            </a:bodyPr>
            <a:lstStyle/>
            <a:p>
              <a:pPr algn="l"/>
              <a:r>
                <a:rPr lang="zh-CN" sz="980" dirty="0">
                  <a:solidFill>
                    <a:srgbClr val="523833"/>
                  </a:solidFill>
                  <a:latin typeface="+mn-lt"/>
                  <a:ea typeface="+mn-ea"/>
                  <a:cs typeface="+mn-cs"/>
                </a:rPr>
                <a:t>总结出发，对</a:t>
              </a:r>
              <a:r>
                <a:rPr lang="zh-CN" sz="980" b="1" dirty="0">
                  <a:solidFill>
                    <a:srgbClr val="1F1F1F"/>
                  </a:solidFill>
                  <a:latin typeface="+mn-lt"/>
                  <a:ea typeface="+mn-ea"/>
                  <a:cs typeface="+mn-cs"/>
                </a:rPr>
                <a:t>商业银行长尾客群数字化营销</a:t>
              </a:r>
            </a:p>
          </p:txBody>
        </p:sp>
        <p:sp>
          <p:nvSpPr>
            <p:cNvPr id="18" name="TextBox 18"/>
            <p:cNvSpPr txBox="1"/>
            <p:nvPr/>
          </p:nvSpPr>
          <p:spPr>
            <a:xfrm>
              <a:off x="852297" y="3133249"/>
              <a:ext cx="1329182"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与运营专题</a:t>
              </a:r>
              <a:r>
                <a:rPr lang="zh-CN" sz="980" dirty="0">
                  <a:solidFill>
                    <a:srgbClr val="523833"/>
                  </a:solidFill>
                  <a:latin typeface="+mn-lt"/>
                  <a:ea typeface="+mn-ea"/>
                  <a:cs typeface="+mn-cs"/>
                </a:rPr>
                <a:t>展开研究。</a:t>
              </a:r>
            </a:p>
          </p:txBody>
        </p:sp>
      </p:grpSp>
      <p:grpSp>
        <p:nvGrpSpPr>
          <p:cNvPr id="33" name="card-2"/>
          <p:cNvGrpSpPr/>
          <p:nvPr/>
        </p:nvGrpSpPr>
        <p:grpSpPr>
          <a:xfrm>
            <a:off x="4381500" y="1543050"/>
            <a:ext cx="3429000" cy="4667250"/>
            <a:chOff x="4381500" y="1543050"/>
            <a:chExt cx="3429000" cy="4667250"/>
          </a:xfrm>
        </p:grpSpPr>
        <p:sp>
          <p:nvSpPr>
            <p:cNvPr id="20" name="Rectangle 20"/>
            <p:cNvSpPr/>
            <p:nvPr/>
          </p:nvSpPr>
          <p:spPr>
            <a:xfrm>
              <a:off x="4381500" y="1543050"/>
              <a:ext cx="3429000" cy="4667250"/>
            </a:xfrm>
            <a:prstGeom prst="roundRect">
              <a:avLst>
                <a:gd name="adj" fmla="val 3889"/>
              </a:avLst>
            </a:prstGeom>
            <a:gradFill>
              <a:gsLst>
                <a:gs pos="0">
                  <a:srgbClr val="D7E3FA"/>
                </a:gs>
                <a:gs pos="100000">
                  <a:srgbClr val="F0F5FE"/>
                </a:gs>
              </a:gsLst>
              <a:lin ang="5400000" scaled="1"/>
            </a:gradFill>
            <a:ln>
              <a:noFill/>
            </a:ln>
            <a:effectLst>
              <a:outerShdw blurRad="152400" dist="57150" dir="5400000" algn="ctr" rotWithShape="0">
                <a:srgbClr val="B8351A">
                  <a:alpha val="9000"/>
                </a:srgbClr>
              </a:outerShdw>
            </a:effectLst>
          </p:spPr>
        </p:sp>
        <p:sp>
          <p:nvSpPr>
            <p:cNvPr id="21" name="TextBox 21"/>
            <p:cNvSpPr txBox="1"/>
            <p:nvPr/>
          </p:nvSpPr>
          <p:spPr>
            <a:xfrm>
              <a:off x="7009632" y="1780222"/>
              <a:ext cx="551694" cy="674751"/>
            </a:xfrm>
            <a:prstGeom prst="rect">
              <a:avLst/>
            </a:prstGeom>
            <a:noFill/>
            <a:ln>
              <a:noFill/>
            </a:ln>
          </p:spPr>
          <p:txBody>
            <a:bodyPr wrap="none" lIns="0" tIns="0" rIns="0" bIns="0" anchor="t" anchorCtr="0">
              <a:spAutoFit/>
            </a:bodyPr>
            <a:lstStyle/>
            <a:p>
              <a:pPr algn="r"/>
              <a:r>
                <a:rPr lang="zh-CN" sz="3450" b="1" dirty="0">
                  <a:solidFill>
                    <a:srgbClr val="C5D3EA"/>
                  </a:solidFill>
                  <a:latin typeface="+mj-lt"/>
                  <a:ea typeface="+mj-ea"/>
                  <a:cs typeface="+mj-cs"/>
                </a:rPr>
                <a:t>02</a:t>
              </a:r>
            </a:p>
          </p:txBody>
        </p:sp>
        <p:sp>
          <p:nvSpPr>
            <p:cNvPr id="22" name="TextBox 22"/>
            <p:cNvSpPr txBox="1"/>
            <p:nvPr/>
          </p:nvSpPr>
          <p:spPr>
            <a:xfrm>
              <a:off x="4660773" y="1881664"/>
              <a:ext cx="702208" cy="249364"/>
            </a:xfrm>
            <a:prstGeom prst="rect">
              <a:avLst/>
            </a:prstGeom>
            <a:noFill/>
            <a:ln>
              <a:noFill/>
            </a:ln>
          </p:spPr>
          <p:txBody>
            <a:bodyPr wrap="none" lIns="0" tIns="0" rIns="0" bIns="0" anchor="t" anchorCtr="0">
              <a:spAutoFit/>
            </a:bodyPr>
            <a:lstStyle/>
            <a:p>
              <a:pPr algn="l"/>
              <a:r>
                <a:rPr lang="zh-CN" sz="1280" b="1" dirty="0">
                  <a:solidFill>
                    <a:srgbClr val="E74726"/>
                  </a:solidFill>
                  <a:latin typeface="+mn-lt"/>
                  <a:ea typeface="+mn-ea"/>
                  <a:cs typeface="+mn-cs"/>
                </a:rPr>
                <a:t>研究方案</a:t>
              </a:r>
            </a:p>
          </p:txBody>
        </p:sp>
        <p:sp>
          <p:nvSpPr>
            <p:cNvPr id="23" name="Rectangle 23"/>
            <p:cNvSpPr/>
            <p:nvPr/>
          </p:nvSpPr>
          <p:spPr>
            <a:xfrm>
              <a:off x="4667250" y="2095500"/>
              <a:ext cx="609600" cy="28575"/>
            </a:xfrm>
            <a:prstGeom prst="rect">
              <a:avLst/>
            </a:prstGeom>
            <a:solidFill>
              <a:srgbClr val="E74726"/>
            </a:solidFill>
            <a:ln>
              <a:noFill/>
            </a:ln>
          </p:spPr>
        </p:sp>
        <p:sp>
          <p:nvSpPr>
            <p:cNvPr id="24" name="TextBox 24"/>
            <p:cNvSpPr txBox="1"/>
            <p:nvPr/>
          </p:nvSpPr>
          <p:spPr>
            <a:xfrm>
              <a:off x="4662106" y="2348151"/>
              <a:ext cx="554152" cy="198025"/>
            </a:xfrm>
            <a:prstGeom prst="rect">
              <a:avLst/>
            </a:prstGeom>
            <a:noFill/>
            <a:ln>
              <a:noFill/>
            </a:ln>
          </p:spPr>
          <p:txBody>
            <a:bodyPr wrap="none" lIns="0" tIns="0" rIns="0" bIns="0" anchor="t" anchorCtr="0">
              <a:spAutoFit/>
            </a:bodyPr>
            <a:lstStyle/>
            <a:p>
              <a:pPr algn="l"/>
              <a:r>
                <a:rPr lang="zh-CN" sz="1010" b="1" dirty="0">
                  <a:solidFill>
                    <a:srgbClr val="1F1F1F"/>
                  </a:solidFill>
                  <a:latin typeface="+mn-lt"/>
                  <a:ea typeface="+mn-ea"/>
                  <a:cs typeface="+mn-cs"/>
                </a:rPr>
                <a:t>行业调研</a:t>
              </a:r>
            </a:p>
          </p:txBody>
        </p:sp>
        <p:sp>
          <p:nvSpPr>
            <p:cNvPr id="25" name="TextBox 25"/>
            <p:cNvSpPr txBox="1"/>
            <p:nvPr/>
          </p:nvSpPr>
          <p:spPr>
            <a:xfrm>
              <a:off x="4662488" y="2584847"/>
              <a:ext cx="2666924" cy="183356"/>
            </a:xfrm>
            <a:prstGeom prst="rect">
              <a:avLst/>
            </a:prstGeom>
            <a:noFill/>
            <a:ln>
              <a:noFill/>
            </a:ln>
          </p:spPr>
          <p:txBody>
            <a:bodyPr wrap="none" lIns="0" tIns="0" rIns="0" bIns="0" anchor="t" anchorCtr="0">
              <a:spAutoFit/>
            </a:bodyPr>
            <a:lstStyle/>
            <a:p>
              <a:pPr algn="l"/>
              <a:r>
                <a:rPr lang="zh-CN" sz="940" dirty="0">
                  <a:solidFill>
                    <a:srgbClr val="523833"/>
                  </a:solidFill>
                  <a:latin typeface="+mn-lt"/>
                  <a:ea typeface="+mn-ea"/>
                  <a:cs typeface="+mn-cs"/>
                </a:rPr>
                <a:t>从宏观和行业视角把握商业银行长尾客群经营现</a:t>
              </a:r>
            </a:p>
          </p:txBody>
        </p:sp>
        <p:sp>
          <p:nvSpPr>
            <p:cNvPr id="26" name="TextBox 26"/>
            <p:cNvSpPr txBox="1"/>
            <p:nvPr/>
          </p:nvSpPr>
          <p:spPr>
            <a:xfrm>
              <a:off x="4662488" y="2794397"/>
              <a:ext cx="2540381" cy="183356"/>
            </a:xfrm>
            <a:prstGeom prst="rect">
              <a:avLst/>
            </a:prstGeom>
            <a:noFill/>
            <a:ln>
              <a:noFill/>
            </a:ln>
          </p:spPr>
          <p:txBody>
            <a:bodyPr wrap="none" lIns="0" tIns="0" rIns="0" bIns="0" anchor="t" anchorCtr="0">
              <a:spAutoFit/>
            </a:bodyPr>
            <a:lstStyle/>
            <a:p>
              <a:pPr algn="l"/>
              <a:r>
                <a:rPr lang="zh-CN" sz="940" dirty="0">
                  <a:solidFill>
                    <a:srgbClr val="523833"/>
                  </a:solidFill>
                  <a:latin typeface="+mn-lt"/>
                  <a:ea typeface="+mn-ea"/>
                  <a:cs typeface="+mn-cs"/>
                </a:rPr>
                <a:t>状、优秀行业实践、亟待解决的痛点问题等。</a:t>
              </a:r>
            </a:p>
          </p:txBody>
        </p:sp>
        <p:sp>
          <p:nvSpPr>
            <p:cNvPr id="27" name="TextBox 27"/>
            <p:cNvSpPr txBox="1"/>
            <p:nvPr/>
          </p:nvSpPr>
          <p:spPr>
            <a:xfrm>
              <a:off x="4662106" y="3167301"/>
              <a:ext cx="554152" cy="198025"/>
            </a:xfrm>
            <a:prstGeom prst="rect">
              <a:avLst/>
            </a:prstGeom>
            <a:noFill/>
            <a:ln>
              <a:noFill/>
            </a:ln>
          </p:spPr>
          <p:txBody>
            <a:bodyPr wrap="none" lIns="0" tIns="0" rIns="0" bIns="0" anchor="t" anchorCtr="0">
              <a:spAutoFit/>
            </a:bodyPr>
            <a:lstStyle/>
            <a:p>
              <a:pPr algn="l"/>
              <a:r>
                <a:rPr lang="zh-CN" sz="1010" b="1" dirty="0">
                  <a:solidFill>
                    <a:srgbClr val="1F1F1F"/>
                  </a:solidFill>
                  <a:latin typeface="+mn-lt"/>
                  <a:ea typeface="+mn-ea"/>
                  <a:cs typeface="+mn-cs"/>
                </a:rPr>
                <a:t>实践讨论</a:t>
              </a:r>
            </a:p>
          </p:txBody>
        </p:sp>
        <p:sp>
          <p:nvSpPr>
            <p:cNvPr id="28" name="TextBox 28"/>
            <p:cNvSpPr txBox="1"/>
            <p:nvPr/>
          </p:nvSpPr>
          <p:spPr>
            <a:xfrm>
              <a:off x="4662488" y="3403997"/>
              <a:ext cx="2666924" cy="183356"/>
            </a:xfrm>
            <a:prstGeom prst="rect">
              <a:avLst/>
            </a:prstGeom>
            <a:noFill/>
            <a:ln>
              <a:noFill/>
            </a:ln>
          </p:spPr>
          <p:txBody>
            <a:bodyPr wrap="none" lIns="0" tIns="0" rIns="0" bIns="0" anchor="t" anchorCtr="0">
              <a:spAutoFit/>
            </a:bodyPr>
            <a:lstStyle/>
            <a:p>
              <a:pPr algn="l"/>
              <a:r>
                <a:rPr lang="zh-CN" sz="940" dirty="0">
                  <a:solidFill>
                    <a:srgbClr val="523833"/>
                  </a:solidFill>
                  <a:latin typeface="+mn-lt"/>
                  <a:ea typeface="+mn-ea"/>
                  <a:cs typeface="+mn-cs"/>
                </a:rPr>
                <a:t>为提高本《报告》的可读性与可参考性，将理论</a:t>
              </a:r>
            </a:p>
          </p:txBody>
        </p:sp>
        <p:sp>
          <p:nvSpPr>
            <p:cNvPr id="29" name="TextBox 29"/>
            <p:cNvSpPr txBox="1"/>
            <p:nvPr/>
          </p:nvSpPr>
          <p:spPr>
            <a:xfrm>
              <a:off x="4662488" y="3613547"/>
              <a:ext cx="2666924" cy="183356"/>
            </a:xfrm>
            <a:prstGeom prst="rect">
              <a:avLst/>
            </a:prstGeom>
            <a:noFill/>
            <a:ln>
              <a:noFill/>
            </a:ln>
          </p:spPr>
          <p:txBody>
            <a:bodyPr wrap="none" lIns="0" tIns="0" rIns="0" bIns="0" anchor="t" anchorCtr="0">
              <a:spAutoFit/>
            </a:bodyPr>
            <a:lstStyle/>
            <a:p>
              <a:pPr algn="l"/>
              <a:r>
                <a:rPr lang="zh-CN" sz="940" dirty="0">
                  <a:solidFill>
                    <a:srgbClr val="523833"/>
                  </a:solidFill>
                  <a:latin typeface="+mn-lt"/>
                  <a:ea typeface="+mn-ea"/>
                  <a:cs typeface="+mn-cs"/>
                </a:rPr>
                <a:t>与实践相结合，在方法论之下进行解读与分析。</a:t>
              </a:r>
            </a:p>
          </p:txBody>
        </p:sp>
        <p:sp>
          <p:nvSpPr>
            <p:cNvPr id="30" name="TextBox 30"/>
            <p:cNvSpPr txBox="1"/>
            <p:nvPr/>
          </p:nvSpPr>
          <p:spPr>
            <a:xfrm>
              <a:off x="4662106" y="3986451"/>
              <a:ext cx="554152" cy="198025"/>
            </a:xfrm>
            <a:prstGeom prst="rect">
              <a:avLst/>
            </a:prstGeom>
            <a:noFill/>
            <a:ln>
              <a:noFill/>
            </a:ln>
          </p:spPr>
          <p:txBody>
            <a:bodyPr wrap="none" lIns="0" tIns="0" rIns="0" bIns="0" anchor="t" anchorCtr="0">
              <a:spAutoFit/>
            </a:bodyPr>
            <a:lstStyle/>
            <a:p>
              <a:pPr algn="l"/>
              <a:r>
                <a:rPr lang="zh-CN" sz="1010" b="1" dirty="0">
                  <a:solidFill>
                    <a:srgbClr val="1F1F1F"/>
                  </a:solidFill>
                  <a:latin typeface="+mn-lt"/>
                  <a:ea typeface="+mn-ea"/>
                  <a:cs typeface="+mn-cs"/>
                </a:rPr>
                <a:t>体系构建</a:t>
              </a:r>
            </a:p>
          </p:txBody>
        </p:sp>
        <p:sp>
          <p:nvSpPr>
            <p:cNvPr id="31" name="TextBox 31"/>
            <p:cNvSpPr txBox="1"/>
            <p:nvPr/>
          </p:nvSpPr>
          <p:spPr>
            <a:xfrm>
              <a:off x="4662488" y="4223147"/>
              <a:ext cx="2666924" cy="183356"/>
            </a:xfrm>
            <a:prstGeom prst="rect">
              <a:avLst/>
            </a:prstGeom>
            <a:noFill/>
            <a:ln>
              <a:noFill/>
            </a:ln>
          </p:spPr>
          <p:txBody>
            <a:bodyPr wrap="none" lIns="0" tIns="0" rIns="0" bIns="0" anchor="t" anchorCtr="0">
              <a:spAutoFit/>
            </a:bodyPr>
            <a:lstStyle/>
            <a:p>
              <a:pPr algn="l"/>
              <a:r>
                <a:rPr lang="zh-CN" sz="940" dirty="0">
                  <a:solidFill>
                    <a:srgbClr val="523833"/>
                  </a:solidFill>
                  <a:latin typeface="+mn-lt"/>
                  <a:ea typeface="+mn-ea"/>
                  <a:cs typeface="+mn-cs"/>
                </a:rPr>
                <a:t>结合中电金信项目实践经验，构建体系化的长尾</a:t>
              </a:r>
            </a:p>
          </p:txBody>
        </p:sp>
        <p:sp>
          <p:nvSpPr>
            <p:cNvPr id="32" name="TextBox 32"/>
            <p:cNvSpPr txBox="1"/>
            <p:nvPr/>
          </p:nvSpPr>
          <p:spPr>
            <a:xfrm>
              <a:off x="4662488" y="4432697"/>
              <a:ext cx="2540381" cy="183356"/>
            </a:xfrm>
            <a:prstGeom prst="rect">
              <a:avLst/>
            </a:prstGeom>
            <a:noFill/>
            <a:ln>
              <a:noFill/>
            </a:ln>
          </p:spPr>
          <p:txBody>
            <a:bodyPr wrap="none" lIns="0" tIns="0" rIns="0" bIns="0" anchor="t" anchorCtr="0">
              <a:spAutoFit/>
            </a:bodyPr>
            <a:lstStyle/>
            <a:p>
              <a:pPr algn="l"/>
              <a:r>
                <a:rPr lang="zh-CN" sz="940" dirty="0">
                  <a:solidFill>
                    <a:srgbClr val="523833"/>
                  </a:solidFill>
                  <a:latin typeface="+mn-lt"/>
                  <a:ea typeface="+mn-ea"/>
                  <a:cs typeface="+mn-cs"/>
                </a:rPr>
                <a:t>客群数字化营销运营方案，为银行提供参考。</a:t>
              </a:r>
            </a:p>
          </p:txBody>
        </p:sp>
      </p:grpSp>
      <p:grpSp>
        <p:nvGrpSpPr>
          <p:cNvPr id="44" name="card-3"/>
          <p:cNvGrpSpPr/>
          <p:nvPr/>
        </p:nvGrpSpPr>
        <p:grpSpPr>
          <a:xfrm>
            <a:off x="8191500" y="1543050"/>
            <a:ext cx="3429000" cy="4667250"/>
            <a:chOff x="8191500" y="1543050"/>
            <a:chExt cx="3429000" cy="4667250"/>
          </a:xfrm>
        </p:grpSpPr>
        <p:sp>
          <p:nvSpPr>
            <p:cNvPr id="34" name="Rectangle 34"/>
            <p:cNvSpPr/>
            <p:nvPr/>
          </p:nvSpPr>
          <p:spPr>
            <a:xfrm>
              <a:off x="8191500" y="1543050"/>
              <a:ext cx="3429000" cy="4667250"/>
            </a:xfrm>
            <a:prstGeom prst="roundRect">
              <a:avLst>
                <a:gd name="adj" fmla="val 3889"/>
              </a:avLst>
            </a:prstGeom>
            <a:gradFill>
              <a:gsLst>
                <a:gs pos="0">
                  <a:srgbClr val="D7E3FA"/>
                </a:gs>
                <a:gs pos="100000">
                  <a:srgbClr val="F0F5FE"/>
                </a:gs>
              </a:gsLst>
              <a:lin ang="5400000" scaled="1"/>
            </a:gradFill>
            <a:ln>
              <a:noFill/>
            </a:ln>
            <a:effectLst>
              <a:outerShdw blurRad="152400" dist="57150" dir="5400000" algn="ctr" rotWithShape="0">
                <a:srgbClr val="B8351A">
                  <a:alpha val="9000"/>
                </a:srgbClr>
              </a:outerShdw>
            </a:effectLst>
          </p:spPr>
        </p:sp>
        <p:sp>
          <p:nvSpPr>
            <p:cNvPr id="35" name="TextBox 35"/>
            <p:cNvSpPr txBox="1"/>
            <p:nvPr/>
          </p:nvSpPr>
          <p:spPr>
            <a:xfrm>
              <a:off x="10819632" y="1780222"/>
              <a:ext cx="551694" cy="674751"/>
            </a:xfrm>
            <a:prstGeom prst="rect">
              <a:avLst/>
            </a:prstGeom>
            <a:noFill/>
            <a:ln>
              <a:noFill/>
            </a:ln>
          </p:spPr>
          <p:txBody>
            <a:bodyPr wrap="none" lIns="0" tIns="0" rIns="0" bIns="0" anchor="t" anchorCtr="0">
              <a:spAutoFit/>
            </a:bodyPr>
            <a:lstStyle/>
            <a:p>
              <a:pPr algn="r"/>
              <a:r>
                <a:rPr lang="zh-CN" sz="3450" b="1" dirty="0">
                  <a:solidFill>
                    <a:srgbClr val="C5D3EA"/>
                  </a:solidFill>
                  <a:latin typeface="+mj-lt"/>
                  <a:ea typeface="+mj-ea"/>
                  <a:cs typeface="+mj-cs"/>
                </a:rPr>
                <a:t>03</a:t>
              </a:r>
            </a:p>
          </p:txBody>
        </p:sp>
        <p:sp>
          <p:nvSpPr>
            <p:cNvPr id="36" name="TextBox 36"/>
            <p:cNvSpPr txBox="1"/>
            <p:nvPr/>
          </p:nvSpPr>
          <p:spPr>
            <a:xfrm>
              <a:off x="8470773" y="1881664"/>
              <a:ext cx="702208" cy="249364"/>
            </a:xfrm>
            <a:prstGeom prst="rect">
              <a:avLst/>
            </a:prstGeom>
            <a:noFill/>
            <a:ln>
              <a:noFill/>
            </a:ln>
          </p:spPr>
          <p:txBody>
            <a:bodyPr wrap="none" lIns="0" tIns="0" rIns="0" bIns="0" anchor="t" anchorCtr="0">
              <a:spAutoFit/>
            </a:bodyPr>
            <a:lstStyle/>
            <a:p>
              <a:pPr algn="l"/>
              <a:r>
                <a:rPr lang="zh-CN" sz="1280" b="1" dirty="0">
                  <a:solidFill>
                    <a:srgbClr val="E74726"/>
                  </a:solidFill>
                  <a:latin typeface="+mn-lt"/>
                  <a:ea typeface="+mn-ea"/>
                  <a:cs typeface="+mn-cs"/>
                </a:rPr>
                <a:t>研究方法</a:t>
              </a:r>
            </a:p>
          </p:txBody>
        </p:sp>
        <p:sp>
          <p:nvSpPr>
            <p:cNvPr id="37" name="Rectangle 37"/>
            <p:cNvSpPr/>
            <p:nvPr/>
          </p:nvSpPr>
          <p:spPr>
            <a:xfrm>
              <a:off x="8477250" y="2095500"/>
              <a:ext cx="609600" cy="28575"/>
            </a:xfrm>
            <a:prstGeom prst="rect">
              <a:avLst/>
            </a:prstGeom>
            <a:solidFill>
              <a:srgbClr val="E74726"/>
            </a:solidFill>
            <a:ln>
              <a:noFill/>
            </a:ln>
          </p:spPr>
        </p:sp>
        <p:sp>
          <p:nvSpPr>
            <p:cNvPr id="38" name="TextBox 38"/>
            <p:cNvSpPr txBox="1"/>
            <p:nvPr/>
          </p:nvSpPr>
          <p:spPr>
            <a:xfrm>
              <a:off x="8472297" y="2485549"/>
              <a:ext cx="2516530" cy="190690"/>
            </a:xfrm>
            <a:prstGeom prst="rect">
              <a:avLst/>
            </a:prstGeom>
            <a:noFill/>
            <a:ln>
              <a:noFill/>
            </a:ln>
          </p:spPr>
          <p:txBody>
            <a:bodyPr wrap="none" lIns="0" tIns="0" rIns="0" bIns="0" anchor="t" anchorCtr="0">
              <a:spAutoFit/>
            </a:bodyPr>
            <a:lstStyle/>
            <a:p>
              <a:pPr algn="l"/>
              <a:r>
                <a:rPr lang="zh-CN" sz="980" dirty="0">
                  <a:solidFill>
                    <a:srgbClr val="523833"/>
                  </a:solidFill>
                  <a:latin typeface="+mn-lt"/>
                  <a:ea typeface="+mn-ea"/>
                  <a:cs typeface="+mn-cs"/>
                </a:rPr>
                <a:t>此次报告撰写过程中，研究人员开展了大量</a:t>
              </a:r>
            </a:p>
          </p:txBody>
        </p:sp>
        <p:sp>
          <p:nvSpPr>
            <p:cNvPr id="39" name="TextBox 39"/>
            <p:cNvSpPr txBox="1"/>
            <p:nvPr/>
          </p:nvSpPr>
          <p:spPr>
            <a:xfrm>
              <a:off x="8472297" y="2752249"/>
              <a:ext cx="2516530" cy="190690"/>
            </a:xfrm>
            <a:prstGeom prst="rect">
              <a:avLst/>
            </a:prstGeom>
            <a:noFill/>
            <a:ln>
              <a:noFill/>
            </a:ln>
          </p:spPr>
          <p:txBody>
            <a:bodyPr wrap="none" lIns="0" tIns="0" rIns="0" bIns="0" anchor="t" anchorCtr="0">
              <a:spAutoFit/>
            </a:bodyPr>
            <a:lstStyle/>
            <a:p>
              <a:pPr algn="l"/>
              <a:r>
                <a:rPr lang="zh-CN" sz="980" dirty="0">
                  <a:solidFill>
                    <a:srgbClr val="523833"/>
                  </a:solidFill>
                  <a:latin typeface="+mn-lt"/>
                  <a:ea typeface="+mn-ea"/>
                  <a:cs typeface="+mn-cs"/>
                </a:rPr>
                <a:t>的调研工作，并通过公开详实的数据测算与</a:t>
              </a:r>
            </a:p>
          </p:txBody>
        </p:sp>
        <p:sp>
          <p:nvSpPr>
            <p:cNvPr id="40" name="TextBox 40"/>
            <p:cNvSpPr txBox="1"/>
            <p:nvPr/>
          </p:nvSpPr>
          <p:spPr>
            <a:xfrm>
              <a:off x="8472297" y="3018949"/>
              <a:ext cx="2536979" cy="190690"/>
            </a:xfrm>
            <a:prstGeom prst="rect">
              <a:avLst/>
            </a:prstGeom>
            <a:noFill/>
            <a:ln>
              <a:noFill/>
            </a:ln>
          </p:spPr>
          <p:txBody>
            <a:bodyPr wrap="none" lIns="0" tIns="0" rIns="0" bIns="0" anchor="t" anchorCtr="0">
              <a:spAutoFit/>
            </a:bodyPr>
            <a:lstStyle/>
            <a:p>
              <a:pPr algn="l"/>
              <a:r>
                <a:rPr lang="zh-CN" sz="980" dirty="0">
                  <a:solidFill>
                    <a:srgbClr val="523833"/>
                  </a:solidFill>
                  <a:latin typeface="+mn-lt"/>
                  <a:ea typeface="+mn-ea"/>
                  <a:cs typeface="+mn-cs"/>
                </a:rPr>
                <a:t>引用，尽可能</a:t>
              </a:r>
              <a:r>
                <a:rPr lang="zh-CN" sz="980" b="1" dirty="0">
                  <a:solidFill>
                    <a:srgbClr val="1F1F1F"/>
                  </a:solidFill>
                  <a:latin typeface="+mn-lt"/>
                  <a:ea typeface="+mn-ea"/>
                  <a:cs typeface="+mn-cs"/>
                </a:rPr>
                <a:t>“具像化、落地化”</a:t>
              </a:r>
              <a:r>
                <a:rPr lang="zh-CN" sz="980" dirty="0">
                  <a:solidFill>
                    <a:srgbClr val="523833"/>
                  </a:solidFill>
                  <a:latin typeface="+mn-lt"/>
                  <a:ea typeface="+mn-ea"/>
                  <a:cs typeface="+mn-cs"/>
                </a:rPr>
                <a:t>的向本报告</a:t>
              </a:r>
            </a:p>
          </p:txBody>
        </p:sp>
        <p:sp>
          <p:nvSpPr>
            <p:cNvPr id="41" name="TextBox 41"/>
            <p:cNvSpPr txBox="1"/>
            <p:nvPr/>
          </p:nvSpPr>
          <p:spPr>
            <a:xfrm>
              <a:off x="8472297" y="3285649"/>
              <a:ext cx="2516530" cy="190690"/>
            </a:xfrm>
            <a:prstGeom prst="rect">
              <a:avLst/>
            </a:prstGeom>
            <a:noFill/>
            <a:ln>
              <a:noFill/>
            </a:ln>
          </p:spPr>
          <p:txBody>
            <a:bodyPr wrap="none" lIns="0" tIns="0" rIns="0" bIns="0" anchor="t" anchorCtr="0">
              <a:spAutoFit/>
            </a:bodyPr>
            <a:lstStyle/>
            <a:p>
              <a:pPr algn="l"/>
              <a:r>
                <a:rPr lang="zh-CN" sz="980" dirty="0">
                  <a:solidFill>
                    <a:srgbClr val="523833"/>
                  </a:solidFill>
                  <a:latin typeface="+mn-lt"/>
                  <a:ea typeface="+mn-ea"/>
                  <a:cs typeface="+mn-cs"/>
                </a:rPr>
                <a:t>读者提供观点论证。同时，我们采访了行业</a:t>
              </a:r>
            </a:p>
          </p:txBody>
        </p:sp>
        <p:sp>
          <p:nvSpPr>
            <p:cNvPr id="42" name="TextBox 42"/>
            <p:cNvSpPr txBox="1"/>
            <p:nvPr/>
          </p:nvSpPr>
          <p:spPr>
            <a:xfrm>
              <a:off x="8472297" y="3552349"/>
              <a:ext cx="2516530" cy="190690"/>
            </a:xfrm>
            <a:prstGeom prst="rect">
              <a:avLst/>
            </a:prstGeom>
            <a:noFill/>
            <a:ln>
              <a:noFill/>
            </a:ln>
          </p:spPr>
          <p:txBody>
            <a:bodyPr wrap="none" lIns="0" tIns="0" rIns="0" bIns="0" anchor="t" anchorCtr="0">
              <a:spAutoFit/>
            </a:bodyPr>
            <a:lstStyle/>
            <a:p>
              <a:pPr algn="l"/>
              <a:r>
                <a:rPr lang="zh-CN" sz="980" dirty="0">
                  <a:solidFill>
                    <a:srgbClr val="523833"/>
                  </a:solidFill>
                  <a:latin typeface="+mn-lt"/>
                  <a:ea typeface="+mn-ea"/>
                  <a:cs typeface="+mn-cs"/>
                </a:rPr>
                <a:t>内部及公司内部专家，</a:t>
              </a:r>
              <a:r>
                <a:rPr lang="zh-CN" sz="980" b="1" dirty="0">
                  <a:solidFill>
                    <a:srgbClr val="1F1F1F"/>
                  </a:solidFill>
                  <a:latin typeface="+mn-lt"/>
                  <a:ea typeface="+mn-ea"/>
                  <a:cs typeface="+mn-cs"/>
                </a:rPr>
                <a:t>结合项目实施经验，</a:t>
              </a:r>
            </a:p>
          </p:txBody>
        </p:sp>
        <p:sp>
          <p:nvSpPr>
            <p:cNvPr id="43" name="TextBox 43"/>
            <p:cNvSpPr txBox="1"/>
            <p:nvPr/>
          </p:nvSpPr>
          <p:spPr>
            <a:xfrm>
              <a:off x="8472297" y="3819049"/>
              <a:ext cx="1856892"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为读者提供有价值的观点输出。</a:t>
              </a:r>
            </a:p>
          </p:txBody>
        </p:sp>
      </p:grpSp>
      <p:sp>
        <p:nvSpPr>
          <p:cNvPr id="45" name="TextBox 45"/>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03</a:t>
              </a:r>
            </a:p>
          </p:txBody>
        </p:sp>
        <p:sp>
          <p:nvSpPr>
            <p:cNvPr id="4" name="TextBox 4"/>
            <p:cNvSpPr txBox="1"/>
            <p:nvPr/>
          </p:nvSpPr>
          <p:spPr>
            <a:xfrm>
              <a:off x="942594" y="151448"/>
              <a:ext cx="574548"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目录</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40" name="illus-left"/>
          <p:cNvGrpSpPr/>
          <p:nvPr/>
        </p:nvGrpSpPr>
        <p:grpSpPr>
          <a:xfrm>
            <a:off x="190500" y="822960"/>
            <a:ext cx="2857500" cy="5654040"/>
            <a:chOff x="190500" y="822960"/>
            <a:chExt cx="2857500" cy="5654040"/>
          </a:xfrm>
        </p:grpSpPr>
        <p:sp>
          <p:nvSpPr>
            <p:cNvPr id="8" name="TextBox 8"/>
            <p:cNvSpPr txBox="1"/>
            <p:nvPr/>
          </p:nvSpPr>
          <p:spPr>
            <a:xfrm>
              <a:off x="565404" y="822960"/>
              <a:ext cx="711742" cy="234696"/>
            </a:xfrm>
            <a:prstGeom prst="rect">
              <a:avLst/>
            </a:prstGeom>
            <a:noFill/>
            <a:ln>
              <a:noFill/>
            </a:ln>
          </p:spPr>
          <p:txBody>
            <a:bodyPr wrap="none" lIns="0" tIns="0" rIns="0" bIns="0" anchor="t" anchorCtr="0">
              <a:spAutoFit/>
            </a:bodyPr>
            <a:lstStyle/>
            <a:p>
              <a:pPr algn="l"/>
              <a:r>
                <a:rPr lang="en-US" sz="1200" i="1" dirty="0">
                  <a:solidFill>
                    <a:srgbClr val="9AA5B4"/>
                  </a:solidFill>
                  <a:latin typeface="+mj-lt"/>
                  <a:ea typeface="+mj-ea"/>
                  <a:cs typeface="+mj-cs"/>
                </a:rPr>
                <a:t>contents​</a:t>
              </a:r>
            </a:p>
          </p:txBody>
        </p:sp>
        <p:sp>
          <p:nvSpPr>
            <p:cNvPr id="9" name="Rectangle 9"/>
            <p:cNvSpPr/>
            <p:nvPr/>
          </p:nvSpPr>
          <p:spPr>
            <a:xfrm>
              <a:off x="381000" y="1428750"/>
              <a:ext cx="2667000" cy="5048250"/>
            </a:xfrm>
            <a:prstGeom prst="roundRect">
              <a:avLst>
                <a:gd name="adj" fmla="val 10000"/>
              </a:avLst>
            </a:prstGeom>
            <a:solidFill>
              <a:srgbClr val="EAF2FD"/>
            </a:solidFill>
            <a:ln>
              <a:noFill/>
            </a:ln>
          </p:spPr>
        </p:sp>
        <p:sp>
          <p:nvSpPr>
            <p:cNvPr id="10" name="Ellipse 10"/>
            <p:cNvSpPr/>
            <p:nvPr/>
          </p:nvSpPr>
          <p:spPr>
            <a:xfrm>
              <a:off x="190500" y="1524000"/>
              <a:ext cx="1333500" cy="1333500"/>
            </a:xfrm>
            <a:prstGeom prst="ellipse">
              <a:avLst/>
            </a:prstGeom>
            <a:solidFill>
              <a:srgbClr val="DCE8FB"/>
            </a:solidFill>
            <a:ln>
              <a:noFill/>
            </a:ln>
          </p:spPr>
        </p:sp>
        <p:sp>
          <p:nvSpPr>
            <p:cNvPr id="11" name="Rectangle 11"/>
            <p:cNvSpPr/>
            <p:nvPr/>
          </p:nvSpPr>
          <p:spPr>
            <a:xfrm>
              <a:off x="666750" y="2381250"/>
              <a:ext cx="1238250" cy="857250"/>
            </a:xfrm>
            <a:prstGeom prst="roundRect">
              <a:avLst>
                <a:gd name="adj" fmla="val 8889"/>
              </a:avLst>
            </a:prstGeom>
            <a:solidFill>
              <a:srgbClr val="FFFFFF"/>
            </a:solidFill>
            <a:ln w="14288">
              <a:solidFill>
                <a:srgbClr val="F7D1C9"/>
              </a:solidFill>
            </a:ln>
          </p:spPr>
        </p:sp>
        <p:sp>
          <p:nvSpPr>
            <p:cNvPr id="12" name="Rectangle 12"/>
            <p:cNvSpPr/>
            <p:nvPr/>
          </p:nvSpPr>
          <p:spPr>
            <a:xfrm>
              <a:off x="666750" y="2381250"/>
              <a:ext cx="1238250" cy="171450"/>
            </a:xfrm>
            <a:prstGeom prst="roundRect">
              <a:avLst>
                <a:gd name="adj" fmla="val 33333"/>
              </a:avLst>
            </a:prstGeom>
            <a:solidFill>
              <a:srgbClr val="E74726"/>
            </a:solidFill>
            <a:ln>
              <a:noFill/>
            </a:ln>
          </p:spPr>
        </p:sp>
        <p:sp>
          <p:nvSpPr>
            <p:cNvPr id="13" name="Rectangle 13"/>
            <p:cNvSpPr/>
            <p:nvPr/>
          </p:nvSpPr>
          <p:spPr>
            <a:xfrm>
              <a:off x="800100" y="2705100"/>
              <a:ext cx="857250" cy="57150"/>
            </a:xfrm>
            <a:prstGeom prst="roundRect">
              <a:avLst>
                <a:gd name="adj" fmla="val 50000"/>
              </a:avLst>
            </a:prstGeom>
            <a:solidFill>
              <a:srgbClr val="F7D1C9"/>
            </a:solidFill>
            <a:ln>
              <a:noFill/>
            </a:ln>
          </p:spPr>
        </p:sp>
        <p:sp>
          <p:nvSpPr>
            <p:cNvPr id="14" name="Rectangle 14"/>
            <p:cNvSpPr/>
            <p:nvPr/>
          </p:nvSpPr>
          <p:spPr>
            <a:xfrm>
              <a:off x="800100" y="2857500"/>
              <a:ext cx="666750" cy="57150"/>
            </a:xfrm>
            <a:prstGeom prst="roundRect">
              <a:avLst>
                <a:gd name="adj" fmla="val 50000"/>
              </a:avLst>
            </a:prstGeom>
            <a:solidFill>
              <a:srgbClr val="F7D1C9"/>
            </a:solidFill>
            <a:ln>
              <a:noFill/>
            </a:ln>
          </p:spPr>
        </p:sp>
        <p:sp>
          <p:nvSpPr>
            <p:cNvPr id="15" name="Rectangle 15"/>
            <p:cNvSpPr/>
            <p:nvPr/>
          </p:nvSpPr>
          <p:spPr>
            <a:xfrm>
              <a:off x="800100" y="3009900"/>
              <a:ext cx="952500" cy="57150"/>
            </a:xfrm>
            <a:prstGeom prst="roundRect">
              <a:avLst>
                <a:gd name="adj" fmla="val 50000"/>
              </a:avLst>
            </a:prstGeom>
            <a:solidFill>
              <a:srgbClr val="F7D1C9"/>
            </a:solidFill>
            <a:ln>
              <a:noFill/>
            </a:ln>
          </p:spPr>
        </p:sp>
        <p:sp>
          <p:nvSpPr>
            <p:cNvPr id="16" name="Rectangle 16"/>
            <p:cNvSpPr/>
            <p:nvPr/>
          </p:nvSpPr>
          <p:spPr>
            <a:xfrm>
              <a:off x="1714500" y="2857500"/>
              <a:ext cx="1143000" cy="666750"/>
            </a:xfrm>
            <a:prstGeom prst="roundRect">
              <a:avLst>
                <a:gd name="adj" fmla="val 11429"/>
              </a:avLst>
            </a:prstGeom>
            <a:solidFill>
              <a:srgbClr val="FFFFFF"/>
            </a:solidFill>
            <a:ln w="14288">
              <a:solidFill>
                <a:srgbClr val="F7D1C9"/>
              </a:solidFill>
            </a:ln>
          </p:spPr>
        </p:sp>
        <p:sp>
          <p:nvSpPr>
            <p:cNvPr id="17" name="Rectangle 17"/>
            <p:cNvSpPr/>
            <p:nvPr/>
          </p:nvSpPr>
          <p:spPr>
            <a:xfrm>
              <a:off x="1714500" y="2857500"/>
              <a:ext cx="1143000" cy="152400"/>
            </a:xfrm>
            <a:prstGeom prst="roundRect">
              <a:avLst>
                <a:gd name="adj" fmla="val 37500"/>
              </a:avLst>
            </a:prstGeom>
            <a:solidFill>
              <a:srgbClr val="F0745B"/>
            </a:solidFill>
            <a:ln>
              <a:noFill/>
            </a:ln>
          </p:spPr>
        </p:sp>
        <p:sp>
          <p:nvSpPr>
            <p:cNvPr id="18" name="Rectangle 18"/>
            <p:cNvSpPr/>
            <p:nvPr/>
          </p:nvSpPr>
          <p:spPr>
            <a:xfrm>
              <a:off x="1847850" y="3143250"/>
              <a:ext cx="762000" cy="57150"/>
            </a:xfrm>
            <a:prstGeom prst="roundRect">
              <a:avLst>
                <a:gd name="adj" fmla="val 50000"/>
              </a:avLst>
            </a:prstGeom>
            <a:solidFill>
              <a:srgbClr val="F7D1C9"/>
            </a:solidFill>
            <a:ln>
              <a:noFill/>
            </a:ln>
          </p:spPr>
        </p:sp>
        <p:sp>
          <p:nvSpPr>
            <p:cNvPr id="19" name="Rectangle 19"/>
            <p:cNvSpPr/>
            <p:nvPr/>
          </p:nvSpPr>
          <p:spPr>
            <a:xfrm>
              <a:off x="1847850" y="3295650"/>
              <a:ext cx="571500" cy="57150"/>
            </a:xfrm>
            <a:prstGeom prst="roundRect">
              <a:avLst>
                <a:gd name="adj" fmla="val 50000"/>
              </a:avLst>
            </a:prstGeom>
            <a:solidFill>
              <a:srgbClr val="F7D1C9"/>
            </a:solidFill>
            <a:ln>
              <a:noFill/>
            </a:ln>
          </p:spPr>
        </p:sp>
        <p:sp>
          <p:nvSpPr>
            <p:cNvPr id="20" name="Rectangle 20"/>
            <p:cNvSpPr/>
            <p:nvPr/>
          </p:nvSpPr>
          <p:spPr>
            <a:xfrm>
              <a:off x="571500" y="3810000"/>
              <a:ext cx="1333500" cy="552450"/>
            </a:xfrm>
            <a:prstGeom prst="roundRect">
              <a:avLst>
                <a:gd name="adj" fmla="val 13793"/>
              </a:avLst>
            </a:prstGeom>
            <a:solidFill>
              <a:srgbClr val="E87C63"/>
            </a:solidFill>
            <a:ln>
              <a:noFill/>
            </a:ln>
          </p:spPr>
        </p:sp>
        <p:sp>
          <p:nvSpPr>
            <p:cNvPr id="21" name="Ellipse 21"/>
            <p:cNvSpPr/>
            <p:nvPr/>
          </p:nvSpPr>
          <p:spPr>
            <a:xfrm>
              <a:off x="685800" y="3952875"/>
              <a:ext cx="266700" cy="266700"/>
            </a:xfrm>
            <a:prstGeom prst="ellipse">
              <a:avLst/>
            </a:prstGeom>
            <a:solidFill>
              <a:srgbClr val="FFFFFF">
                <a:alpha val="90000"/>
              </a:srgbClr>
            </a:solidFill>
            <a:ln>
              <a:noFill/>
            </a:ln>
          </p:spPr>
        </p:sp>
        <p:sp>
          <p:nvSpPr>
            <p:cNvPr id="22" name="Rectangle 22"/>
            <p:cNvSpPr/>
            <p:nvPr/>
          </p:nvSpPr>
          <p:spPr>
            <a:xfrm>
              <a:off x="1047750" y="4000500"/>
              <a:ext cx="666750" cy="57150"/>
            </a:xfrm>
            <a:prstGeom prst="roundRect">
              <a:avLst>
                <a:gd name="adj" fmla="val 50000"/>
              </a:avLst>
            </a:prstGeom>
            <a:solidFill>
              <a:srgbClr val="FFFFFF">
                <a:alpha val="90000"/>
              </a:srgbClr>
            </a:solidFill>
            <a:ln>
              <a:noFill/>
            </a:ln>
          </p:spPr>
        </p:sp>
        <p:sp>
          <p:nvSpPr>
            <p:cNvPr id="23" name="Rectangle 23"/>
            <p:cNvSpPr/>
            <p:nvPr/>
          </p:nvSpPr>
          <p:spPr>
            <a:xfrm>
              <a:off x="1047750" y="4152900"/>
              <a:ext cx="476250" cy="57150"/>
            </a:xfrm>
            <a:prstGeom prst="roundRect">
              <a:avLst>
                <a:gd name="adj" fmla="val 50000"/>
              </a:avLst>
            </a:prstGeom>
            <a:solidFill>
              <a:srgbClr val="FFFFFF">
                <a:alpha val="70000"/>
              </a:srgbClr>
            </a:solidFill>
            <a:ln>
              <a:noFill/>
            </a:ln>
          </p:spPr>
        </p:sp>
        <p:sp>
          <p:nvSpPr>
            <p:cNvPr id="24" name="Rectangle 24"/>
            <p:cNvSpPr/>
            <p:nvPr/>
          </p:nvSpPr>
          <p:spPr>
            <a:xfrm>
              <a:off x="952500" y="4572000"/>
              <a:ext cx="1428750" cy="666750"/>
            </a:xfrm>
            <a:prstGeom prst="roundRect">
              <a:avLst>
                <a:gd name="adj" fmla="val 11429"/>
              </a:avLst>
            </a:prstGeom>
            <a:solidFill>
              <a:srgbClr val="FFFFFF"/>
            </a:solidFill>
            <a:ln w="14288">
              <a:solidFill>
                <a:srgbClr val="F7D1C9"/>
              </a:solidFill>
            </a:ln>
          </p:spPr>
        </p:sp>
        <p:sp>
          <p:nvSpPr>
            <p:cNvPr id="25" name="Rectangle 25"/>
            <p:cNvSpPr/>
            <p:nvPr/>
          </p:nvSpPr>
          <p:spPr>
            <a:xfrm>
              <a:off x="1085850" y="4724400"/>
              <a:ext cx="381000" cy="381000"/>
            </a:xfrm>
            <a:prstGeom prst="roundRect">
              <a:avLst>
                <a:gd name="adj" fmla="val 15000"/>
              </a:avLst>
            </a:prstGeom>
            <a:solidFill>
              <a:srgbClr val="DCE8FB"/>
            </a:solidFill>
            <a:ln>
              <a:noFill/>
            </a:ln>
          </p:spPr>
        </p:sp>
        <p:sp>
          <p:nvSpPr>
            <p:cNvPr id="26" name="Rectangle 26"/>
            <p:cNvSpPr/>
            <p:nvPr/>
          </p:nvSpPr>
          <p:spPr>
            <a:xfrm>
              <a:off x="1562100" y="4762500"/>
              <a:ext cx="666750" cy="57150"/>
            </a:xfrm>
            <a:prstGeom prst="roundRect">
              <a:avLst>
                <a:gd name="adj" fmla="val 50000"/>
              </a:avLst>
            </a:prstGeom>
            <a:solidFill>
              <a:srgbClr val="F7D1C9"/>
            </a:solidFill>
            <a:ln>
              <a:noFill/>
            </a:ln>
          </p:spPr>
        </p:sp>
        <p:sp>
          <p:nvSpPr>
            <p:cNvPr id="27" name="Rectangle 27"/>
            <p:cNvSpPr/>
            <p:nvPr/>
          </p:nvSpPr>
          <p:spPr>
            <a:xfrm>
              <a:off x="1562100" y="4914900"/>
              <a:ext cx="533400" cy="57150"/>
            </a:xfrm>
            <a:prstGeom prst="roundRect">
              <a:avLst>
                <a:gd name="adj" fmla="val 50000"/>
              </a:avLst>
            </a:prstGeom>
            <a:solidFill>
              <a:srgbClr val="F7D1C9"/>
            </a:solidFill>
            <a:ln>
              <a:noFill/>
            </a:ln>
          </p:spPr>
        </p:sp>
        <p:sp>
          <p:nvSpPr>
            <p:cNvPr id="28" name="Rectangle 28"/>
            <p:cNvSpPr/>
            <p:nvPr/>
          </p:nvSpPr>
          <p:spPr>
            <a:xfrm>
              <a:off x="1562100" y="5067300"/>
              <a:ext cx="609600" cy="57150"/>
            </a:xfrm>
            <a:prstGeom prst="roundRect">
              <a:avLst>
                <a:gd name="adj" fmla="val 50000"/>
              </a:avLst>
            </a:prstGeom>
            <a:solidFill>
              <a:srgbClr val="F7D1C9"/>
            </a:solidFill>
            <a:ln>
              <a:noFill/>
            </a:ln>
          </p:spPr>
        </p:sp>
        <p:sp>
          <p:nvSpPr>
            <p:cNvPr id="29" name="Ellipse 29"/>
            <p:cNvSpPr/>
            <p:nvPr/>
          </p:nvSpPr>
          <p:spPr>
            <a:xfrm>
              <a:off x="2133600" y="5181600"/>
              <a:ext cx="304800" cy="304800"/>
            </a:xfrm>
            <a:prstGeom prst="ellipse">
              <a:avLst/>
            </a:prstGeom>
            <a:solidFill>
              <a:srgbClr val="523F3B"/>
            </a:solidFill>
            <a:ln>
              <a:noFill/>
            </a:ln>
          </p:spPr>
        </p:sp>
        <p:sp>
          <p:nvSpPr>
            <p:cNvPr id="30" name="Rectangle 30"/>
            <p:cNvSpPr/>
            <p:nvPr/>
          </p:nvSpPr>
          <p:spPr>
            <a:xfrm>
              <a:off x="2114550" y="5505450"/>
              <a:ext cx="342900" cy="666750"/>
            </a:xfrm>
            <a:prstGeom prst="roundRect">
              <a:avLst>
                <a:gd name="adj" fmla="val 33333"/>
              </a:avLst>
            </a:prstGeom>
            <a:solidFill>
              <a:srgbClr val="D6705B"/>
            </a:solidFill>
            <a:ln>
              <a:noFill/>
            </a:ln>
          </p:spPr>
        </p:sp>
        <p:sp>
          <p:nvSpPr>
            <p:cNvPr id="31" name="Rectangle 31"/>
            <p:cNvSpPr/>
            <p:nvPr/>
          </p:nvSpPr>
          <p:spPr>
            <a:xfrm>
              <a:off x="2171700" y="6172200"/>
              <a:ext cx="95250" cy="285750"/>
            </a:xfrm>
            <a:prstGeom prst="roundRect">
              <a:avLst>
                <a:gd name="adj" fmla="val 40000"/>
              </a:avLst>
            </a:prstGeom>
            <a:solidFill>
              <a:srgbClr val="523F3B"/>
            </a:solidFill>
            <a:ln>
              <a:noFill/>
            </a:ln>
          </p:spPr>
        </p:sp>
        <p:sp>
          <p:nvSpPr>
            <p:cNvPr id="32" name="Rectangle 32"/>
            <p:cNvSpPr/>
            <p:nvPr/>
          </p:nvSpPr>
          <p:spPr>
            <a:xfrm>
              <a:off x="2324100" y="6172200"/>
              <a:ext cx="95250" cy="285750"/>
            </a:xfrm>
            <a:prstGeom prst="roundRect">
              <a:avLst>
                <a:gd name="adj" fmla="val 40000"/>
              </a:avLst>
            </a:prstGeom>
            <a:solidFill>
              <a:srgbClr val="523F3B"/>
            </a:solidFill>
            <a:ln>
              <a:noFill/>
            </a:ln>
          </p:spPr>
        </p:sp>
        <p:sp>
          <p:nvSpPr>
            <p:cNvPr id="33" name="Ellipse 33"/>
            <p:cNvSpPr/>
            <p:nvPr/>
          </p:nvSpPr>
          <p:spPr>
            <a:xfrm>
              <a:off x="638175" y="5324475"/>
              <a:ext cx="285750" cy="285750"/>
            </a:xfrm>
            <a:prstGeom prst="ellipse">
              <a:avLst/>
            </a:prstGeom>
            <a:solidFill>
              <a:srgbClr val="523F3B"/>
            </a:solidFill>
            <a:ln>
              <a:noFill/>
            </a:ln>
          </p:spPr>
        </p:sp>
        <p:sp>
          <p:nvSpPr>
            <p:cNvPr id="34" name="Rectangle 34"/>
            <p:cNvSpPr/>
            <p:nvPr/>
          </p:nvSpPr>
          <p:spPr>
            <a:xfrm>
              <a:off x="628650" y="5629275"/>
              <a:ext cx="304800" cy="571500"/>
            </a:xfrm>
            <a:prstGeom prst="roundRect">
              <a:avLst>
                <a:gd name="adj" fmla="val 34375"/>
              </a:avLst>
            </a:prstGeom>
            <a:solidFill>
              <a:srgbClr val="E74726"/>
            </a:solidFill>
            <a:ln>
              <a:noFill/>
            </a:ln>
          </p:spPr>
        </p:sp>
        <p:sp>
          <p:nvSpPr>
            <p:cNvPr id="35" name="Rectangle 35"/>
            <p:cNvSpPr/>
            <p:nvPr/>
          </p:nvSpPr>
          <p:spPr>
            <a:xfrm>
              <a:off x="666750" y="6200775"/>
              <a:ext cx="85725" cy="257175"/>
            </a:xfrm>
            <a:prstGeom prst="roundRect">
              <a:avLst>
                <a:gd name="adj" fmla="val 44444"/>
              </a:avLst>
            </a:prstGeom>
            <a:solidFill>
              <a:srgbClr val="B8351A"/>
            </a:solidFill>
            <a:ln>
              <a:noFill/>
            </a:ln>
          </p:spPr>
        </p:sp>
        <p:sp>
          <p:nvSpPr>
            <p:cNvPr id="36" name="Rectangle 36"/>
            <p:cNvSpPr/>
            <p:nvPr/>
          </p:nvSpPr>
          <p:spPr>
            <a:xfrm>
              <a:off x="819150" y="6200775"/>
              <a:ext cx="85725" cy="257175"/>
            </a:xfrm>
            <a:prstGeom prst="roundRect">
              <a:avLst>
                <a:gd name="adj" fmla="val 44444"/>
              </a:avLst>
            </a:prstGeom>
            <a:solidFill>
              <a:srgbClr val="B8351A"/>
            </a:solidFill>
            <a:ln>
              <a:noFill/>
            </a:ln>
          </p:spPr>
        </p:sp>
        <p:sp>
          <p:nvSpPr>
            <p:cNvPr id="37" name="Ellipse 37"/>
            <p:cNvSpPr/>
            <p:nvPr/>
          </p:nvSpPr>
          <p:spPr>
            <a:xfrm>
              <a:off x="2609850" y="5715000"/>
              <a:ext cx="304800" cy="571500"/>
            </a:xfrm>
            <a:prstGeom prst="ellipse">
              <a:avLst/>
            </a:prstGeom>
            <a:solidFill>
              <a:srgbClr val="AF5C4C"/>
            </a:solidFill>
            <a:ln>
              <a:noFill/>
            </a:ln>
          </p:spPr>
        </p:sp>
        <p:sp>
          <p:nvSpPr>
            <p:cNvPr id="38" name="Ellipse 38"/>
            <p:cNvSpPr/>
            <p:nvPr/>
          </p:nvSpPr>
          <p:spPr>
            <a:xfrm>
              <a:off x="2457450" y="5886450"/>
              <a:ext cx="228600" cy="419100"/>
            </a:xfrm>
            <a:prstGeom prst="ellipse">
              <a:avLst/>
            </a:prstGeom>
            <a:solidFill>
              <a:srgbClr val="C37A6C"/>
            </a:solidFill>
            <a:ln>
              <a:noFill/>
            </a:ln>
          </p:spPr>
        </p:sp>
        <p:sp>
          <p:nvSpPr>
            <p:cNvPr id="39" name="Rectangle 39"/>
            <p:cNvSpPr/>
            <p:nvPr/>
          </p:nvSpPr>
          <p:spPr>
            <a:xfrm>
              <a:off x="2571750" y="6248400"/>
              <a:ext cx="381000" cy="228600"/>
            </a:xfrm>
            <a:prstGeom prst="roundRect">
              <a:avLst>
                <a:gd name="adj" fmla="val 16667"/>
              </a:avLst>
            </a:prstGeom>
            <a:solidFill>
              <a:srgbClr val="F0745B"/>
            </a:solidFill>
            <a:ln>
              <a:noFill/>
            </a:ln>
          </p:spPr>
        </p:sp>
      </p:grpSp>
      <p:grpSp>
        <p:nvGrpSpPr>
          <p:cNvPr id="49" name="toc-1"/>
          <p:cNvGrpSpPr/>
          <p:nvPr/>
        </p:nvGrpSpPr>
        <p:grpSpPr>
          <a:xfrm>
            <a:off x="3333750" y="762000"/>
            <a:ext cx="8382000" cy="1657350"/>
            <a:chOff x="3333750" y="762000"/>
            <a:chExt cx="8382000" cy="1657350"/>
          </a:xfrm>
        </p:grpSpPr>
        <p:sp>
          <p:nvSpPr>
            <p:cNvPr id="41" name="Rectangle 41"/>
            <p:cNvSpPr/>
            <p:nvPr/>
          </p:nvSpPr>
          <p:spPr>
            <a:xfrm>
              <a:off x="3333750" y="762000"/>
              <a:ext cx="8382000" cy="1657350"/>
            </a:xfrm>
            <a:prstGeom prst="roundRect">
              <a:avLst>
                <a:gd name="adj" fmla="val 6897"/>
              </a:avLst>
            </a:prstGeom>
            <a:solidFill>
              <a:srgbClr val="E74726"/>
            </a:solidFill>
            <a:ln>
              <a:noFill/>
            </a:ln>
            <a:effectLst>
              <a:outerShdw blurRad="152400" dist="57150" dir="5400000" algn="ctr" rotWithShape="0">
                <a:srgbClr val="B8351A">
                  <a:alpha val="7500"/>
                </a:srgbClr>
              </a:outerShdw>
            </a:effectLst>
          </p:spPr>
        </p:sp>
        <p:sp>
          <p:nvSpPr>
            <p:cNvPr id="42" name="TextBox 42"/>
            <p:cNvSpPr txBox="1"/>
            <p:nvPr/>
          </p:nvSpPr>
          <p:spPr>
            <a:xfrm>
              <a:off x="3600450" y="1262062"/>
              <a:ext cx="824294" cy="1019175"/>
            </a:xfrm>
            <a:prstGeom prst="rect">
              <a:avLst/>
            </a:prstGeom>
            <a:noFill/>
            <a:ln>
              <a:noFill/>
            </a:ln>
          </p:spPr>
          <p:txBody>
            <a:bodyPr wrap="none" lIns="0" tIns="0" rIns="0" bIns="0" anchor="t" anchorCtr="0">
              <a:spAutoFit/>
            </a:bodyPr>
            <a:lstStyle/>
            <a:p>
              <a:pPr algn="l"/>
              <a:r>
                <a:rPr lang="zh-CN" sz="5250" dirty="0">
                  <a:solidFill>
                    <a:srgbClr val="FFFFFF"/>
                  </a:solidFill>
                  <a:latin typeface="+mj-lt"/>
                  <a:ea typeface="+mj-ea"/>
                  <a:cs typeface="+mj-cs"/>
                </a:rPr>
                <a:t>01</a:t>
              </a:r>
            </a:p>
          </p:txBody>
        </p:sp>
        <p:sp>
          <p:nvSpPr>
            <p:cNvPr id="43" name="Line 43"/>
            <p:cNvSpPr/>
            <p:nvPr/>
          </p:nvSpPr>
          <p:spPr>
            <a:xfrm>
              <a:off x="4810125" y="1066800"/>
              <a:ext cx="9525" cy="1047750"/>
            </a:xfrm>
            <a:custGeom>
              <a:avLst/>
              <a:gdLst/>
              <a:ahLst/>
              <a:cxnLst/>
              <a:rect l="l" t="t" r="r" b="b"/>
              <a:pathLst>
                <a:path w="9525" h="1047750">
                  <a:moveTo>
                    <a:pt x="0" y="0"/>
                  </a:moveTo>
                  <a:lnTo>
                    <a:pt x="0" y="1047750"/>
                  </a:lnTo>
                </a:path>
              </a:pathLst>
            </a:custGeom>
            <a:noFill/>
            <a:ln w="19050">
              <a:solidFill>
                <a:srgbClr val="FFFFFF">
                  <a:alpha val="85000"/>
                </a:srgbClr>
              </a:solidFill>
            </a:ln>
          </p:spPr>
        </p:sp>
        <p:sp>
          <p:nvSpPr>
            <p:cNvPr id="44" name="TextBox 44"/>
            <p:cNvSpPr txBox="1"/>
            <p:nvPr/>
          </p:nvSpPr>
          <p:spPr>
            <a:xfrm>
              <a:off x="5099685" y="102155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前言背景</a:t>
              </a:r>
            </a:p>
          </p:txBody>
        </p:sp>
        <p:sp>
          <p:nvSpPr>
            <p:cNvPr id="45" name="TextBox 45"/>
            <p:cNvSpPr txBox="1"/>
            <p:nvPr/>
          </p:nvSpPr>
          <p:spPr>
            <a:xfrm>
              <a:off x="5098542" y="1302068"/>
              <a:ext cx="328498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商业银行长尾客群数字化营销与运营背景</a:t>
              </a:r>
            </a:p>
          </p:txBody>
        </p:sp>
        <p:sp>
          <p:nvSpPr>
            <p:cNvPr id="46" name="TextBox 46"/>
            <p:cNvSpPr txBox="1"/>
            <p:nvPr/>
          </p:nvSpPr>
          <p:spPr>
            <a:xfrm>
              <a:off x="5138738" y="1617345"/>
              <a:ext cx="1560576" cy="176212"/>
            </a:xfrm>
            <a:prstGeom prst="rect">
              <a:avLst/>
            </a:prstGeom>
            <a:noFill/>
            <a:ln>
              <a:noFill/>
            </a:ln>
          </p:spPr>
          <p:txBody>
            <a:bodyPr wrap="none" lIns="0" tIns="0" rIns="0" bIns="0" anchor="t" anchorCtr="0">
              <a:spAutoFit/>
            </a:bodyPr>
            <a:lstStyle/>
            <a:p>
              <a:pPr algn="l" marL="97155" indent="-97155">
                <a:buClr>
                  <a:srgbClr val="FFFFFF"/>
                </a:buClr>
                <a:buSzTx/>
                <a:buFontTx/>
                <a:buChar char="•"/>
              </a:pPr>
              <a:r>
                <a:rPr lang="zh-CN" sz="900" dirty="0">
                  <a:solidFill>
                    <a:srgbClr val="FFFFFF"/>
                  </a:solidFill>
                  <a:latin typeface="+mn-lt"/>
                  <a:ea typeface="+mn-ea"/>
                  <a:cs typeface="+mn-cs"/>
                </a:rPr>
                <a:t>商业银行长尾客群运营背景</a:t>
              </a:r>
            </a:p>
          </p:txBody>
        </p:sp>
        <p:sp>
          <p:nvSpPr>
            <p:cNvPr id="47" name="TextBox 47"/>
            <p:cNvSpPr txBox="1"/>
            <p:nvPr/>
          </p:nvSpPr>
          <p:spPr>
            <a:xfrm>
              <a:off x="5138738" y="1826895"/>
              <a:ext cx="1318260" cy="176212"/>
            </a:xfrm>
            <a:prstGeom prst="rect">
              <a:avLst/>
            </a:prstGeom>
            <a:noFill/>
            <a:ln>
              <a:noFill/>
            </a:ln>
          </p:spPr>
          <p:txBody>
            <a:bodyPr wrap="none" lIns="0" tIns="0" rIns="0" bIns="0" anchor="t" anchorCtr="0">
              <a:spAutoFit/>
            </a:bodyPr>
            <a:lstStyle/>
            <a:p>
              <a:pPr algn="l" marL="97155" indent="-97155">
                <a:buClr>
                  <a:srgbClr val="FFFFFF"/>
                </a:buClr>
                <a:buSzTx/>
                <a:buFontTx/>
                <a:buChar char="•"/>
              </a:pPr>
              <a:r>
                <a:rPr lang="zh-CN" sz="900" dirty="0">
                  <a:solidFill>
                    <a:srgbClr val="FFFFFF"/>
                  </a:solidFill>
                  <a:latin typeface="+mn-lt"/>
                  <a:ea typeface="+mn-ea"/>
                  <a:cs typeface="+mn-cs"/>
                </a:rPr>
                <a:t>商业银行长尾客群定义</a:t>
              </a:r>
            </a:p>
          </p:txBody>
        </p:sp>
        <p:sp>
          <p:nvSpPr>
            <p:cNvPr id="48" name="TextBox 48"/>
            <p:cNvSpPr txBox="1"/>
            <p:nvPr/>
          </p:nvSpPr>
          <p:spPr>
            <a:xfrm>
              <a:off x="5138738" y="2036445"/>
              <a:ext cx="1318260" cy="176212"/>
            </a:xfrm>
            <a:prstGeom prst="rect">
              <a:avLst/>
            </a:prstGeom>
            <a:noFill/>
            <a:ln>
              <a:noFill/>
            </a:ln>
          </p:spPr>
          <p:txBody>
            <a:bodyPr wrap="none" lIns="0" tIns="0" rIns="0" bIns="0" anchor="t" anchorCtr="0">
              <a:spAutoFit/>
            </a:bodyPr>
            <a:lstStyle/>
            <a:p>
              <a:pPr algn="l" marL="97155" indent="-97155">
                <a:buClr>
                  <a:srgbClr val="FFFFFF"/>
                </a:buClr>
                <a:buSzTx/>
                <a:buFontTx/>
                <a:buChar char="•"/>
              </a:pPr>
              <a:r>
                <a:rPr lang="zh-CN" sz="900" dirty="0">
                  <a:solidFill>
                    <a:srgbClr val="FFFFFF"/>
                  </a:solidFill>
                  <a:latin typeface="+mn-lt"/>
                  <a:ea typeface="+mn-ea"/>
                  <a:cs typeface="+mn-cs"/>
                </a:rPr>
                <a:t>商业银行长尾客群特征</a:t>
              </a:r>
            </a:p>
          </p:txBody>
        </p:sp>
      </p:grpSp>
      <p:grpSp>
        <p:nvGrpSpPr>
          <p:cNvPr id="58" name="toc-2"/>
          <p:cNvGrpSpPr/>
          <p:nvPr/>
        </p:nvGrpSpPr>
        <p:grpSpPr>
          <a:xfrm>
            <a:off x="3333750" y="2705100"/>
            <a:ext cx="8382000" cy="1657350"/>
            <a:chOff x="3333750" y="2705100"/>
            <a:chExt cx="8382000" cy="1657350"/>
          </a:xfrm>
        </p:grpSpPr>
        <p:sp>
          <p:nvSpPr>
            <p:cNvPr id="50" name="Rectangle 50"/>
            <p:cNvSpPr/>
            <p:nvPr/>
          </p:nvSpPr>
          <p:spPr>
            <a:xfrm>
              <a:off x="3333750" y="2705100"/>
              <a:ext cx="8382000" cy="1657350"/>
            </a:xfrm>
            <a:prstGeom prst="roundRect">
              <a:avLst>
                <a:gd name="adj" fmla="val 6897"/>
              </a:avLst>
            </a:prstGeom>
            <a:solidFill>
              <a:srgbClr val="FFFFFF"/>
            </a:solidFill>
            <a:ln w="14288">
              <a:solidFill>
                <a:srgbClr val="DCE8FB"/>
              </a:solidFill>
            </a:ln>
            <a:effectLst>
              <a:outerShdw blurRad="152400" dist="57150" dir="5400000" algn="ctr" rotWithShape="0">
                <a:srgbClr val="B8351A">
                  <a:alpha val="7500"/>
                </a:srgbClr>
              </a:outerShdw>
            </a:effectLst>
          </p:spPr>
        </p:sp>
        <p:sp>
          <p:nvSpPr>
            <p:cNvPr id="51" name="TextBox 51"/>
            <p:cNvSpPr txBox="1"/>
            <p:nvPr/>
          </p:nvSpPr>
          <p:spPr>
            <a:xfrm>
              <a:off x="3600450" y="3205162"/>
              <a:ext cx="824294" cy="1019175"/>
            </a:xfrm>
            <a:prstGeom prst="rect">
              <a:avLst/>
            </a:prstGeom>
            <a:noFill/>
            <a:ln>
              <a:noFill/>
            </a:ln>
          </p:spPr>
          <p:txBody>
            <a:bodyPr wrap="none" lIns="0" tIns="0" rIns="0" bIns="0" anchor="t" anchorCtr="0">
              <a:spAutoFit/>
            </a:bodyPr>
            <a:lstStyle/>
            <a:p>
              <a:pPr algn="l"/>
              <a:r>
                <a:rPr lang="zh-CN" sz="5250" dirty="0">
                  <a:solidFill>
                    <a:srgbClr val="846F6B"/>
                  </a:solidFill>
                  <a:latin typeface="+mj-lt"/>
                  <a:ea typeface="+mj-ea"/>
                  <a:cs typeface="+mj-cs"/>
                </a:rPr>
                <a:t>02</a:t>
              </a:r>
            </a:p>
          </p:txBody>
        </p:sp>
        <p:sp>
          <p:nvSpPr>
            <p:cNvPr id="52" name="Line 52"/>
            <p:cNvSpPr/>
            <p:nvPr/>
          </p:nvSpPr>
          <p:spPr>
            <a:xfrm>
              <a:off x="4810125" y="3009900"/>
              <a:ext cx="9525" cy="1047750"/>
            </a:xfrm>
            <a:custGeom>
              <a:avLst/>
              <a:gdLst/>
              <a:ahLst/>
              <a:cxnLst/>
              <a:rect l="l" t="t" r="r" b="b"/>
              <a:pathLst>
                <a:path w="9525" h="1047750">
                  <a:moveTo>
                    <a:pt x="0" y="0"/>
                  </a:moveTo>
                  <a:lnTo>
                    <a:pt x="0" y="1047750"/>
                  </a:lnTo>
                </a:path>
              </a:pathLst>
            </a:custGeom>
            <a:noFill/>
            <a:ln w="19050">
              <a:solidFill>
                <a:srgbClr val="846F6B"/>
              </a:solidFill>
            </a:ln>
          </p:spPr>
        </p:sp>
        <p:sp>
          <p:nvSpPr>
            <p:cNvPr id="53" name="TextBox 53"/>
            <p:cNvSpPr txBox="1"/>
            <p:nvPr/>
          </p:nvSpPr>
          <p:spPr>
            <a:xfrm>
              <a:off x="5099685" y="2964656"/>
              <a:ext cx="614528" cy="220028"/>
            </a:xfrm>
            <a:prstGeom prst="rect">
              <a:avLst/>
            </a:prstGeom>
            <a:noFill/>
            <a:ln>
              <a:noFill/>
            </a:ln>
          </p:spPr>
          <p:txBody>
            <a:bodyPr wrap="none" lIns="0" tIns="0" rIns="0" bIns="0" anchor="t" anchorCtr="0">
              <a:spAutoFit/>
            </a:bodyPr>
            <a:lstStyle/>
            <a:p>
              <a:pPr algn="l"/>
              <a:r>
                <a:rPr lang="zh-CN" sz="1120" b="1" dirty="0">
                  <a:solidFill>
                    <a:srgbClr val="523833"/>
                  </a:solidFill>
                  <a:latin typeface="+mn-lt"/>
                  <a:ea typeface="+mn-ea"/>
                  <a:cs typeface="+mn-cs"/>
                </a:rPr>
                <a:t>运营实践</a:t>
              </a:r>
            </a:p>
          </p:txBody>
        </p:sp>
        <p:sp>
          <p:nvSpPr>
            <p:cNvPr id="54" name="TextBox 54"/>
            <p:cNvSpPr txBox="1"/>
            <p:nvPr/>
          </p:nvSpPr>
          <p:spPr>
            <a:xfrm>
              <a:off x="5098542" y="3245168"/>
              <a:ext cx="3284982" cy="264033"/>
            </a:xfrm>
            <a:prstGeom prst="rect">
              <a:avLst/>
            </a:prstGeom>
            <a:noFill/>
            <a:ln>
              <a:noFill/>
            </a:ln>
          </p:spPr>
          <p:txBody>
            <a:bodyPr wrap="none" lIns="0" tIns="0" rIns="0" bIns="0" anchor="t" anchorCtr="0">
              <a:spAutoFit/>
            </a:bodyPr>
            <a:lstStyle/>
            <a:p>
              <a:pPr algn="l"/>
              <a:r>
                <a:rPr lang="zh-CN" sz="1350" b="1" dirty="0">
                  <a:solidFill>
                    <a:srgbClr val="1F1F1F"/>
                  </a:solidFill>
                  <a:latin typeface="+mn-lt"/>
                  <a:ea typeface="+mn-ea"/>
                  <a:cs typeface="+mn-cs"/>
                </a:rPr>
                <a:t>商业银行长尾客群数字化营销与运营实践</a:t>
              </a:r>
            </a:p>
          </p:txBody>
        </p:sp>
        <p:sp>
          <p:nvSpPr>
            <p:cNvPr id="55" name="TextBox 55"/>
            <p:cNvSpPr txBox="1"/>
            <p:nvPr/>
          </p:nvSpPr>
          <p:spPr>
            <a:xfrm>
              <a:off x="5138738" y="3560445"/>
              <a:ext cx="2045208" cy="176212"/>
            </a:xfrm>
            <a:prstGeom prst="rect">
              <a:avLst/>
            </a:prstGeom>
            <a:noFill/>
            <a:ln>
              <a:noFill/>
            </a:ln>
          </p:spPr>
          <p:txBody>
            <a:bodyPr wrap="none" lIns="0" tIns="0" rIns="0" bIns="0" anchor="t" anchorCtr="0">
              <a:spAutoFit/>
            </a:bodyPr>
            <a:lstStyle/>
            <a:p>
              <a:pPr algn="l" marL="97155" indent="-97155">
                <a:buClr>
                  <a:srgbClr val="523833"/>
                </a:buClr>
                <a:buSzTx/>
                <a:buFontTx/>
                <a:buChar char="•"/>
              </a:pPr>
              <a:r>
                <a:rPr lang="zh-CN" sz="900" dirty="0">
                  <a:solidFill>
                    <a:srgbClr val="523833"/>
                  </a:solidFill>
                  <a:latin typeface="+mn-lt"/>
                  <a:ea typeface="+mn-ea"/>
                  <a:cs typeface="+mn-cs"/>
                </a:rPr>
                <a:t>商业银行长尾客群精准分层分群体系</a:t>
              </a:r>
            </a:p>
          </p:txBody>
        </p:sp>
        <p:sp>
          <p:nvSpPr>
            <p:cNvPr id="56" name="TextBox 56"/>
            <p:cNvSpPr txBox="1"/>
            <p:nvPr/>
          </p:nvSpPr>
          <p:spPr>
            <a:xfrm>
              <a:off x="5138738" y="3769995"/>
              <a:ext cx="1802892" cy="176212"/>
            </a:xfrm>
            <a:prstGeom prst="rect">
              <a:avLst/>
            </a:prstGeom>
            <a:noFill/>
            <a:ln>
              <a:noFill/>
            </a:ln>
          </p:spPr>
          <p:txBody>
            <a:bodyPr wrap="none" lIns="0" tIns="0" rIns="0" bIns="0" anchor="t" anchorCtr="0">
              <a:spAutoFit/>
            </a:bodyPr>
            <a:lstStyle/>
            <a:p>
              <a:pPr algn="l" marL="97155" indent="-97155">
                <a:buClr>
                  <a:srgbClr val="523833"/>
                </a:buClr>
                <a:buSzTx/>
                <a:buFontTx/>
                <a:buChar char="•"/>
              </a:pPr>
              <a:r>
                <a:rPr lang="zh-CN" sz="900" dirty="0">
                  <a:solidFill>
                    <a:srgbClr val="523833"/>
                  </a:solidFill>
                  <a:latin typeface="+mn-lt"/>
                  <a:ea typeface="+mn-ea"/>
                  <a:cs typeface="+mn-cs"/>
                </a:rPr>
                <a:t>商业银行长尾客群运营能力体系</a:t>
              </a:r>
            </a:p>
          </p:txBody>
        </p:sp>
        <p:sp>
          <p:nvSpPr>
            <p:cNvPr id="57" name="TextBox 57"/>
            <p:cNvSpPr txBox="1"/>
            <p:nvPr/>
          </p:nvSpPr>
          <p:spPr>
            <a:xfrm>
              <a:off x="5138738" y="3979545"/>
              <a:ext cx="1802892" cy="176212"/>
            </a:xfrm>
            <a:prstGeom prst="rect">
              <a:avLst/>
            </a:prstGeom>
            <a:noFill/>
            <a:ln>
              <a:noFill/>
            </a:ln>
          </p:spPr>
          <p:txBody>
            <a:bodyPr wrap="none" lIns="0" tIns="0" rIns="0" bIns="0" anchor="t" anchorCtr="0">
              <a:spAutoFit/>
            </a:bodyPr>
            <a:lstStyle/>
            <a:p>
              <a:pPr algn="l" marL="97155" indent="-97155">
                <a:buClr>
                  <a:srgbClr val="523833"/>
                </a:buClr>
                <a:buSzTx/>
                <a:buFontTx/>
                <a:buChar char="•"/>
              </a:pPr>
              <a:r>
                <a:rPr lang="zh-CN" sz="900" dirty="0">
                  <a:solidFill>
                    <a:srgbClr val="523833"/>
                  </a:solidFill>
                  <a:latin typeface="+mn-lt"/>
                  <a:ea typeface="+mn-ea"/>
                  <a:cs typeface="+mn-cs"/>
                </a:rPr>
                <a:t>商业银行长尾客群运营支撑体系</a:t>
              </a:r>
            </a:p>
          </p:txBody>
        </p:sp>
      </p:grpSp>
      <p:grpSp>
        <p:nvGrpSpPr>
          <p:cNvPr id="67" name="toc-3"/>
          <p:cNvGrpSpPr/>
          <p:nvPr/>
        </p:nvGrpSpPr>
        <p:grpSpPr>
          <a:xfrm>
            <a:off x="3333750" y="4648200"/>
            <a:ext cx="8382000" cy="1657350"/>
            <a:chOff x="3333750" y="4648200"/>
            <a:chExt cx="8382000" cy="1657350"/>
          </a:xfrm>
        </p:grpSpPr>
        <p:sp>
          <p:nvSpPr>
            <p:cNvPr id="59" name="Rectangle 59"/>
            <p:cNvSpPr/>
            <p:nvPr/>
          </p:nvSpPr>
          <p:spPr>
            <a:xfrm>
              <a:off x="3333750" y="4648200"/>
              <a:ext cx="8382000" cy="1657350"/>
            </a:xfrm>
            <a:prstGeom prst="roundRect">
              <a:avLst>
                <a:gd name="adj" fmla="val 6897"/>
              </a:avLst>
            </a:prstGeom>
            <a:solidFill>
              <a:srgbClr val="FFFFFF"/>
            </a:solidFill>
            <a:ln w="14288">
              <a:solidFill>
                <a:srgbClr val="DCE8FB"/>
              </a:solidFill>
            </a:ln>
            <a:effectLst>
              <a:outerShdw blurRad="152400" dist="57150" dir="5400000" algn="ctr" rotWithShape="0">
                <a:srgbClr val="B8351A">
                  <a:alpha val="7500"/>
                </a:srgbClr>
              </a:outerShdw>
            </a:effectLst>
          </p:spPr>
        </p:sp>
        <p:sp>
          <p:nvSpPr>
            <p:cNvPr id="60" name="TextBox 60"/>
            <p:cNvSpPr txBox="1"/>
            <p:nvPr/>
          </p:nvSpPr>
          <p:spPr>
            <a:xfrm>
              <a:off x="3600450" y="5148262"/>
              <a:ext cx="824294" cy="1019175"/>
            </a:xfrm>
            <a:prstGeom prst="rect">
              <a:avLst/>
            </a:prstGeom>
            <a:noFill/>
            <a:ln>
              <a:noFill/>
            </a:ln>
          </p:spPr>
          <p:txBody>
            <a:bodyPr wrap="none" lIns="0" tIns="0" rIns="0" bIns="0" anchor="t" anchorCtr="0">
              <a:spAutoFit/>
            </a:bodyPr>
            <a:lstStyle/>
            <a:p>
              <a:pPr algn="l"/>
              <a:r>
                <a:rPr lang="zh-CN" sz="5250" dirty="0">
                  <a:solidFill>
                    <a:srgbClr val="846F6B"/>
                  </a:solidFill>
                  <a:latin typeface="+mj-lt"/>
                  <a:ea typeface="+mj-ea"/>
                  <a:cs typeface="+mj-cs"/>
                </a:rPr>
                <a:t>03</a:t>
              </a:r>
            </a:p>
          </p:txBody>
        </p:sp>
        <p:sp>
          <p:nvSpPr>
            <p:cNvPr id="61" name="Line 61"/>
            <p:cNvSpPr/>
            <p:nvPr/>
          </p:nvSpPr>
          <p:spPr>
            <a:xfrm>
              <a:off x="4810125" y="4953000"/>
              <a:ext cx="9525" cy="1047750"/>
            </a:xfrm>
            <a:custGeom>
              <a:avLst/>
              <a:gdLst/>
              <a:ahLst/>
              <a:cxnLst/>
              <a:rect l="l" t="t" r="r" b="b"/>
              <a:pathLst>
                <a:path w="9525" h="1047750">
                  <a:moveTo>
                    <a:pt x="0" y="0"/>
                  </a:moveTo>
                  <a:lnTo>
                    <a:pt x="0" y="1047750"/>
                  </a:lnTo>
                </a:path>
              </a:pathLst>
            </a:custGeom>
            <a:noFill/>
            <a:ln w="19050">
              <a:solidFill>
                <a:srgbClr val="846F6B"/>
              </a:solidFill>
            </a:ln>
          </p:spPr>
        </p:sp>
        <p:sp>
          <p:nvSpPr>
            <p:cNvPr id="62" name="TextBox 62"/>
            <p:cNvSpPr txBox="1"/>
            <p:nvPr/>
          </p:nvSpPr>
          <p:spPr>
            <a:xfrm>
              <a:off x="5099685" y="4907756"/>
              <a:ext cx="614528" cy="220028"/>
            </a:xfrm>
            <a:prstGeom prst="rect">
              <a:avLst/>
            </a:prstGeom>
            <a:noFill/>
            <a:ln>
              <a:noFill/>
            </a:ln>
          </p:spPr>
          <p:txBody>
            <a:bodyPr wrap="none" lIns="0" tIns="0" rIns="0" bIns="0" anchor="t" anchorCtr="0">
              <a:spAutoFit/>
            </a:bodyPr>
            <a:lstStyle/>
            <a:p>
              <a:pPr algn="l"/>
              <a:r>
                <a:rPr lang="zh-CN" sz="1120" b="1" dirty="0">
                  <a:solidFill>
                    <a:srgbClr val="523833"/>
                  </a:solidFill>
                  <a:latin typeface="+mn-lt"/>
                  <a:ea typeface="+mn-ea"/>
                  <a:cs typeface="+mn-cs"/>
                </a:rPr>
                <a:t>运营指南</a:t>
              </a:r>
            </a:p>
          </p:txBody>
        </p:sp>
        <p:sp>
          <p:nvSpPr>
            <p:cNvPr id="63" name="TextBox 63"/>
            <p:cNvSpPr txBox="1"/>
            <p:nvPr/>
          </p:nvSpPr>
          <p:spPr>
            <a:xfrm>
              <a:off x="5098542" y="5188268"/>
              <a:ext cx="3648456" cy="264033"/>
            </a:xfrm>
            <a:prstGeom prst="rect">
              <a:avLst/>
            </a:prstGeom>
            <a:noFill/>
            <a:ln>
              <a:noFill/>
            </a:ln>
          </p:spPr>
          <p:txBody>
            <a:bodyPr wrap="none" lIns="0" tIns="0" rIns="0" bIns="0" anchor="t" anchorCtr="0">
              <a:spAutoFit/>
            </a:bodyPr>
            <a:lstStyle/>
            <a:p>
              <a:pPr algn="l"/>
              <a:r>
                <a:rPr lang="zh-CN" sz="1350" b="1" dirty="0">
                  <a:solidFill>
                    <a:srgbClr val="1F1F1F"/>
                  </a:solidFill>
                  <a:latin typeface="+mn-lt"/>
                  <a:ea typeface="+mn-ea"/>
                  <a:cs typeface="+mn-cs"/>
                </a:rPr>
                <a:t>商业银行长尾客群数字化营销与运营实践指南</a:t>
              </a:r>
            </a:p>
          </p:txBody>
        </p:sp>
        <p:sp>
          <p:nvSpPr>
            <p:cNvPr id="64" name="TextBox 64"/>
            <p:cNvSpPr txBox="1"/>
            <p:nvPr/>
          </p:nvSpPr>
          <p:spPr>
            <a:xfrm>
              <a:off x="5138738" y="5503545"/>
              <a:ext cx="1924050" cy="176212"/>
            </a:xfrm>
            <a:prstGeom prst="rect">
              <a:avLst/>
            </a:prstGeom>
            <a:noFill/>
            <a:ln>
              <a:noFill/>
            </a:ln>
          </p:spPr>
          <p:txBody>
            <a:bodyPr wrap="none" lIns="0" tIns="0" rIns="0" bIns="0" anchor="t" anchorCtr="0">
              <a:spAutoFit/>
            </a:bodyPr>
            <a:lstStyle/>
            <a:p>
              <a:pPr algn="l" marL="97155" indent="-97155">
                <a:buClr>
                  <a:srgbClr val="523833"/>
                </a:buClr>
                <a:buSzTx/>
                <a:buFontTx/>
                <a:buChar char="•"/>
              </a:pPr>
              <a:r>
                <a:rPr lang="zh-CN" sz="900" dirty="0">
                  <a:solidFill>
                    <a:srgbClr val="523833"/>
                  </a:solidFill>
                  <a:latin typeface="+mn-lt"/>
                  <a:ea typeface="+mn-ea"/>
                  <a:cs typeface="+mn-cs"/>
                </a:rPr>
                <a:t>商业银行长尾客群经营痛难点分析</a:t>
              </a:r>
            </a:p>
          </p:txBody>
        </p:sp>
        <p:sp>
          <p:nvSpPr>
            <p:cNvPr id="65" name="TextBox 65"/>
            <p:cNvSpPr txBox="1"/>
            <p:nvPr/>
          </p:nvSpPr>
          <p:spPr>
            <a:xfrm>
              <a:off x="5138738" y="5713095"/>
              <a:ext cx="2529840" cy="176212"/>
            </a:xfrm>
            <a:prstGeom prst="rect">
              <a:avLst/>
            </a:prstGeom>
            <a:noFill/>
            <a:ln>
              <a:noFill/>
            </a:ln>
          </p:spPr>
          <p:txBody>
            <a:bodyPr wrap="none" lIns="0" tIns="0" rIns="0" bIns="0" anchor="t" anchorCtr="0">
              <a:spAutoFit/>
            </a:bodyPr>
            <a:lstStyle/>
            <a:p>
              <a:pPr algn="l" marL="97155" indent="-97155">
                <a:buClr>
                  <a:srgbClr val="523833"/>
                </a:buClr>
                <a:buSzTx/>
                <a:buFontTx/>
                <a:buChar char="•"/>
              </a:pPr>
              <a:r>
                <a:rPr lang="zh-CN" sz="900" dirty="0">
                  <a:solidFill>
                    <a:srgbClr val="523833"/>
                  </a:solidFill>
                  <a:latin typeface="+mn-lt"/>
                  <a:ea typeface="+mn-ea"/>
                  <a:cs typeface="+mn-cs"/>
                </a:rPr>
                <a:t>商业银行长尾客群数字化营销与运营解决方案</a:t>
              </a:r>
            </a:p>
          </p:txBody>
        </p:sp>
        <p:sp>
          <p:nvSpPr>
            <p:cNvPr id="66" name="TextBox 66"/>
            <p:cNvSpPr txBox="1"/>
            <p:nvPr/>
          </p:nvSpPr>
          <p:spPr>
            <a:xfrm>
              <a:off x="5138738" y="5922645"/>
              <a:ext cx="1924050" cy="176212"/>
            </a:xfrm>
            <a:prstGeom prst="rect">
              <a:avLst/>
            </a:prstGeom>
            <a:noFill/>
            <a:ln>
              <a:noFill/>
            </a:ln>
          </p:spPr>
          <p:txBody>
            <a:bodyPr wrap="none" lIns="0" tIns="0" rIns="0" bIns="0" anchor="t" anchorCtr="0">
              <a:spAutoFit/>
            </a:bodyPr>
            <a:lstStyle/>
            <a:p>
              <a:pPr algn="l" marL="97155" indent="-97155">
                <a:buClr>
                  <a:srgbClr val="523833"/>
                </a:buClr>
                <a:buSzTx/>
                <a:buFontTx/>
                <a:buChar char="•"/>
              </a:pPr>
              <a:r>
                <a:rPr lang="zh-CN" sz="900" dirty="0">
                  <a:solidFill>
                    <a:srgbClr val="523833"/>
                  </a:solidFill>
                  <a:latin typeface="+mn-lt"/>
                  <a:ea typeface="+mn-ea"/>
                  <a:cs typeface="+mn-cs"/>
                </a:rPr>
                <a:t>中电金信长尾客群数字化经营服务</a:t>
              </a:r>
            </a:p>
          </p:txBody>
        </p:sp>
      </p:grpSp>
      <p:sp>
        <p:nvSpPr>
          <p:cNvPr id="68" name="TextBox 68"/>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04</a:t>
              </a:r>
            </a:p>
          </p:txBody>
        </p:sp>
        <p:sp>
          <p:nvSpPr>
            <p:cNvPr id="4" name="TextBox 4"/>
            <p:cNvSpPr txBox="1"/>
            <p:nvPr/>
          </p:nvSpPr>
          <p:spPr>
            <a:xfrm>
              <a:off x="942594" y="151448"/>
              <a:ext cx="8618220"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零售银行三阶段发展演进，聚焦</a:t>
              </a:r>
              <a:r>
                <a:rPr lang="zh-CN" sz="1950" b="1" dirty="0">
                  <a:solidFill>
                    <a:srgbClr val="E74726"/>
                  </a:solidFill>
                  <a:latin typeface="SimSun"/>
                  <a:ea typeface="SimSun"/>
                  <a:cs typeface="SimSun"/>
                </a:rPr>
                <a:t>存量时代长尾客群</a:t>
              </a:r>
              <a:r>
                <a:rPr lang="zh-CN" sz="1950" b="1" dirty="0">
                  <a:solidFill>
                    <a:srgbClr val="1F1F1F"/>
                  </a:solidFill>
                  <a:latin typeface="SimSun"/>
                  <a:ea typeface="SimSun"/>
                  <a:cs typeface="SimSun"/>
                </a:rPr>
                <a:t>精细化经营转型之路</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527364" cy="551260"/>
            <a:chOff x="566166" y="667702"/>
            <a:chExt cx="6527364" cy="551260"/>
          </a:xfrm>
        </p:grpSpPr>
        <p:sp>
          <p:nvSpPr>
            <p:cNvPr id="8" name="TextBox 8"/>
            <p:cNvSpPr txBox="1"/>
            <p:nvPr/>
          </p:nvSpPr>
          <p:spPr>
            <a:xfrm>
              <a:off x="566166" y="667702"/>
              <a:ext cx="5947410"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渠道时代抢地盘、流量时代抢用户、存量时代抢价值，长尾客群是零售客群价值输送链的第一环</a:t>
              </a:r>
            </a:p>
          </p:txBody>
        </p:sp>
        <p:sp>
          <p:nvSpPr>
            <p:cNvPr id="9" name="TextBox 9"/>
            <p:cNvSpPr txBox="1"/>
            <p:nvPr/>
          </p:nvSpPr>
          <p:spPr>
            <a:xfrm>
              <a:off x="566738" y="887968"/>
              <a:ext cx="6526792"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银行零售历经三阶段：渠道时代网点为王，跑马圈地，长尾仅作开户基数；流量时代APP崛起，线上引流，长尾广撒网式覆盖；​</a:t>
              </a:r>
            </a:p>
          </p:txBody>
        </p:sp>
        <p:sp>
          <p:nvSpPr>
            <p:cNvPr id="10" name="TextBox 10"/>
            <p:cNvSpPr txBox="1"/>
            <p:nvPr/>
          </p:nvSpPr>
          <p:spPr>
            <a:xfrm>
              <a:off x="566738" y="1049893"/>
              <a:ext cx="6377051"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存量时代价值为王，数据驱动客户分层分群经营，长尾作为价值输送的源头，数字化撬动其向上成长，是存量时代核心突破口</a:t>
              </a:r>
            </a:p>
          </p:txBody>
        </p:sp>
      </p:grpSp>
      <p:grpSp>
        <p:nvGrpSpPr>
          <p:cNvPr id="18" name="stage-heads"/>
          <p:cNvGrpSpPr/>
          <p:nvPr/>
        </p:nvGrpSpPr>
        <p:grpSpPr>
          <a:xfrm>
            <a:off x="2047875" y="1257300"/>
            <a:ext cx="9763125" cy="361950"/>
            <a:chOff x="2047875" y="1257300"/>
            <a:chExt cx="9763125" cy="361950"/>
          </a:xfrm>
        </p:grpSpPr>
        <p:sp>
          <p:nvSpPr>
            <p:cNvPr id="12" name="Freeform 12"/>
            <p:cNvSpPr/>
            <p:nvPr/>
          </p:nvSpPr>
          <p:spPr>
            <a:xfrm>
              <a:off x="2047875" y="1257300"/>
              <a:ext cx="3257550" cy="361950"/>
            </a:xfrm>
            <a:prstGeom prst="homePlate">
              <a:avLst>
                <a:gd name="adj" fmla="val 40000"/>
              </a:avLst>
            </a:prstGeom>
            <a:solidFill>
              <a:srgbClr val="E74726"/>
            </a:solidFill>
            <a:ln>
              <a:noFill/>
            </a:ln>
          </p:spPr>
        </p:sp>
        <p:sp>
          <p:nvSpPr>
            <p:cNvPr id="13" name="Freeform 13"/>
            <p:cNvSpPr/>
            <p:nvPr/>
          </p:nvSpPr>
          <p:spPr>
            <a:xfrm>
              <a:off x="5219700" y="1257300"/>
              <a:ext cx="3352800" cy="361950"/>
            </a:xfrm>
            <a:prstGeom prst="chevron">
              <a:avLst>
                <a:gd name="adj" fmla="val 40000"/>
              </a:avLst>
            </a:prstGeom>
            <a:solidFill>
              <a:srgbClr val="E74726"/>
            </a:solidFill>
            <a:ln>
              <a:noFill/>
            </a:ln>
          </p:spPr>
        </p:sp>
        <p:sp>
          <p:nvSpPr>
            <p:cNvPr id="14" name="Freeform 14"/>
            <p:cNvSpPr/>
            <p:nvPr/>
          </p:nvSpPr>
          <p:spPr>
            <a:xfrm>
              <a:off x="8486775" y="1257300"/>
              <a:ext cx="3324225" cy="361950"/>
            </a:xfrm>
            <a:prstGeom prst="chevron">
              <a:avLst>
                <a:gd name="adj" fmla="val 40000"/>
              </a:avLst>
            </a:prstGeom>
            <a:solidFill>
              <a:srgbClr val="E74726"/>
            </a:solidFill>
            <a:ln>
              <a:noFill/>
            </a:ln>
          </p:spPr>
        </p:sp>
        <p:sp>
          <p:nvSpPr>
            <p:cNvPr id="15" name="TextBox 15"/>
            <p:cNvSpPr txBox="1"/>
            <p:nvPr/>
          </p:nvSpPr>
          <p:spPr>
            <a:xfrm>
              <a:off x="2602655" y="1372552"/>
              <a:ext cx="199558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阶段1:渠道时代（2013年前）​</a:t>
              </a:r>
            </a:p>
          </p:txBody>
        </p:sp>
        <p:sp>
          <p:nvSpPr>
            <p:cNvPr id="16" name="TextBox 16"/>
            <p:cNvSpPr txBox="1"/>
            <p:nvPr/>
          </p:nvSpPr>
          <p:spPr>
            <a:xfrm>
              <a:off x="5803005" y="1372552"/>
              <a:ext cx="226238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阶段2:流量时代（2013—2020年）​</a:t>
              </a:r>
            </a:p>
          </p:txBody>
        </p:sp>
        <p:sp>
          <p:nvSpPr>
            <p:cNvPr id="17" name="TextBox 17"/>
            <p:cNvSpPr txBox="1"/>
            <p:nvPr/>
          </p:nvSpPr>
          <p:spPr>
            <a:xfrm>
              <a:off x="9093419" y="1372552"/>
              <a:ext cx="219666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阶段3：存量时代（2020年至今）​</a:t>
              </a:r>
            </a:p>
          </p:txBody>
        </p:sp>
      </p:grpSp>
      <p:grpSp>
        <p:nvGrpSpPr>
          <p:cNvPr id="56" name="stage-table"/>
          <p:cNvGrpSpPr/>
          <p:nvPr/>
        </p:nvGrpSpPr>
        <p:grpSpPr>
          <a:xfrm>
            <a:off x="381000" y="1714500"/>
            <a:ext cx="11430000" cy="4476750"/>
            <a:chOff x="381000" y="1714500"/>
            <a:chExt cx="11430000" cy="4476750"/>
          </a:xfrm>
        </p:grpSpPr>
        <p:sp>
          <p:nvSpPr>
            <p:cNvPr id="19" name="Rectangle 19"/>
            <p:cNvSpPr/>
            <p:nvPr/>
          </p:nvSpPr>
          <p:spPr>
            <a:xfrm>
              <a:off x="381000" y="1714500"/>
              <a:ext cx="11430000" cy="4476750"/>
            </a:xfrm>
            <a:prstGeom prst="roundRect">
              <a:avLst>
                <a:gd name="adj" fmla="val 1277"/>
              </a:avLst>
            </a:prstGeom>
            <a:solidFill>
              <a:srgbClr val="FFFFFF"/>
            </a:solidFill>
            <a:ln w="9525">
              <a:solidFill>
                <a:srgbClr val="DCE8FB"/>
              </a:solidFill>
            </a:ln>
          </p:spPr>
        </p:sp>
        <p:grpSp>
          <p:nvGrpSpPr>
            <p:cNvPr id="28" name="Group 28"/>
            <p:cNvGrpSpPr/>
            <p:nvPr/>
          </p:nvGrpSpPr>
          <p:grpSpPr>
            <a:xfrm>
              <a:off x="381000" y="1714500"/>
              <a:ext cx="11430000" cy="4476750"/>
              <a:chOff x="381000" y="1714500"/>
              <a:chExt cx="11430000" cy="4476750"/>
            </a:xfrm>
          </p:grpSpPr>
          <p:sp>
            <p:nvSpPr>
              <p:cNvPr id="20" name="Line 20"/>
              <p:cNvSpPr/>
              <p:nvPr/>
            </p:nvSpPr>
            <p:spPr>
              <a:xfrm>
                <a:off x="2047875" y="1714500"/>
                <a:ext cx="9525" cy="4476750"/>
              </a:xfrm>
              <a:custGeom>
                <a:avLst/>
                <a:gdLst/>
                <a:ahLst/>
                <a:cxnLst/>
                <a:rect l="l" t="t" r="r" b="b"/>
                <a:pathLst>
                  <a:path w="9525" h="4476750">
                    <a:moveTo>
                      <a:pt x="0" y="0"/>
                    </a:moveTo>
                    <a:lnTo>
                      <a:pt x="0" y="4476750"/>
                    </a:lnTo>
                  </a:path>
                </a:pathLst>
              </a:custGeom>
              <a:noFill/>
              <a:ln w="9525">
                <a:solidFill>
                  <a:srgbClr val="F7D1C9"/>
                </a:solidFill>
                <a:prstDash val="dash"/>
              </a:ln>
            </p:spPr>
          </p:sp>
          <p:sp>
            <p:nvSpPr>
              <p:cNvPr id="21" name="Line 21"/>
              <p:cNvSpPr/>
              <p:nvPr/>
            </p:nvSpPr>
            <p:spPr>
              <a:xfrm>
                <a:off x="5286375" y="1714500"/>
                <a:ext cx="9525" cy="4476750"/>
              </a:xfrm>
              <a:custGeom>
                <a:avLst/>
                <a:gdLst/>
                <a:ahLst/>
                <a:cxnLst/>
                <a:rect l="l" t="t" r="r" b="b"/>
                <a:pathLst>
                  <a:path w="9525" h="4476750">
                    <a:moveTo>
                      <a:pt x="0" y="0"/>
                    </a:moveTo>
                    <a:lnTo>
                      <a:pt x="0" y="4476750"/>
                    </a:lnTo>
                  </a:path>
                </a:pathLst>
              </a:custGeom>
              <a:noFill/>
              <a:ln w="9525">
                <a:solidFill>
                  <a:srgbClr val="F7D1C9"/>
                </a:solidFill>
                <a:prstDash val="dash"/>
              </a:ln>
            </p:spPr>
          </p:sp>
          <p:sp>
            <p:nvSpPr>
              <p:cNvPr id="22" name="Line 22"/>
              <p:cNvSpPr/>
              <p:nvPr/>
            </p:nvSpPr>
            <p:spPr>
              <a:xfrm>
                <a:off x="8524875" y="1714500"/>
                <a:ext cx="9525" cy="4476750"/>
              </a:xfrm>
              <a:custGeom>
                <a:avLst/>
                <a:gdLst/>
                <a:ahLst/>
                <a:cxnLst/>
                <a:rect l="l" t="t" r="r" b="b"/>
                <a:pathLst>
                  <a:path w="9525" h="4476750">
                    <a:moveTo>
                      <a:pt x="0" y="0"/>
                    </a:moveTo>
                    <a:lnTo>
                      <a:pt x="0" y="4476750"/>
                    </a:lnTo>
                  </a:path>
                </a:pathLst>
              </a:custGeom>
              <a:noFill/>
              <a:ln w="9525">
                <a:solidFill>
                  <a:srgbClr val="F7D1C9"/>
                </a:solidFill>
                <a:prstDash val="dash"/>
              </a:ln>
            </p:spPr>
          </p:sp>
          <p:sp>
            <p:nvSpPr>
              <p:cNvPr id="23" name="Line 23"/>
              <p:cNvSpPr/>
              <p:nvPr/>
            </p:nvSpPr>
            <p:spPr>
              <a:xfrm>
                <a:off x="381000" y="2457450"/>
                <a:ext cx="11430000" cy="9525"/>
              </a:xfrm>
              <a:custGeom>
                <a:avLst/>
                <a:gdLst/>
                <a:ahLst/>
                <a:cxnLst/>
                <a:rect l="l" t="t" r="r" b="b"/>
                <a:pathLst>
                  <a:path w="11430000" h="9525">
                    <a:moveTo>
                      <a:pt x="0" y="0"/>
                    </a:moveTo>
                    <a:lnTo>
                      <a:pt x="11430000" y="0"/>
                    </a:lnTo>
                  </a:path>
                </a:pathLst>
              </a:custGeom>
              <a:noFill/>
              <a:ln w="9525">
                <a:solidFill>
                  <a:srgbClr val="F7D1C9"/>
                </a:solidFill>
                <a:prstDash val="dash"/>
              </a:ln>
            </p:spPr>
          </p:sp>
          <p:sp>
            <p:nvSpPr>
              <p:cNvPr id="24" name="Line 24"/>
              <p:cNvSpPr/>
              <p:nvPr/>
            </p:nvSpPr>
            <p:spPr>
              <a:xfrm>
                <a:off x="381000" y="3200400"/>
                <a:ext cx="11430000" cy="9525"/>
              </a:xfrm>
              <a:custGeom>
                <a:avLst/>
                <a:gdLst/>
                <a:ahLst/>
                <a:cxnLst/>
                <a:rect l="l" t="t" r="r" b="b"/>
                <a:pathLst>
                  <a:path w="11430000" h="9525">
                    <a:moveTo>
                      <a:pt x="0" y="0"/>
                    </a:moveTo>
                    <a:lnTo>
                      <a:pt x="11430000" y="0"/>
                    </a:lnTo>
                  </a:path>
                </a:pathLst>
              </a:custGeom>
              <a:noFill/>
              <a:ln w="9525">
                <a:solidFill>
                  <a:srgbClr val="F7D1C9"/>
                </a:solidFill>
                <a:prstDash val="dash"/>
              </a:ln>
            </p:spPr>
          </p:sp>
          <p:sp>
            <p:nvSpPr>
              <p:cNvPr id="25" name="Line 25"/>
              <p:cNvSpPr/>
              <p:nvPr/>
            </p:nvSpPr>
            <p:spPr>
              <a:xfrm>
                <a:off x="381000" y="3943350"/>
                <a:ext cx="11430000" cy="9525"/>
              </a:xfrm>
              <a:custGeom>
                <a:avLst/>
                <a:gdLst/>
                <a:ahLst/>
                <a:cxnLst/>
                <a:rect l="l" t="t" r="r" b="b"/>
                <a:pathLst>
                  <a:path w="11430000" h="9525">
                    <a:moveTo>
                      <a:pt x="0" y="0"/>
                    </a:moveTo>
                    <a:lnTo>
                      <a:pt x="11430000" y="0"/>
                    </a:lnTo>
                  </a:path>
                </a:pathLst>
              </a:custGeom>
              <a:noFill/>
              <a:ln w="9525">
                <a:solidFill>
                  <a:srgbClr val="F7D1C9"/>
                </a:solidFill>
                <a:prstDash val="dash"/>
              </a:ln>
            </p:spPr>
          </p:sp>
          <p:sp>
            <p:nvSpPr>
              <p:cNvPr id="26" name="Line 26"/>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rgbClr val="F7D1C9"/>
                </a:solidFill>
                <a:prstDash val="dash"/>
              </a:ln>
            </p:spPr>
          </p:sp>
          <p:sp>
            <p:nvSpPr>
              <p:cNvPr id="27" name="Line 27"/>
              <p:cNvSpPr/>
              <p:nvPr/>
            </p:nvSpPr>
            <p:spPr>
              <a:xfrm>
                <a:off x="381000" y="5429250"/>
                <a:ext cx="11430000" cy="9525"/>
              </a:xfrm>
              <a:custGeom>
                <a:avLst/>
                <a:gdLst/>
                <a:ahLst/>
                <a:cxnLst/>
                <a:rect l="l" t="t" r="r" b="b"/>
                <a:pathLst>
                  <a:path w="11430000" h="9525">
                    <a:moveTo>
                      <a:pt x="0" y="0"/>
                    </a:moveTo>
                    <a:lnTo>
                      <a:pt x="11430000" y="0"/>
                    </a:lnTo>
                  </a:path>
                </a:pathLst>
              </a:custGeom>
              <a:noFill/>
              <a:ln w="9525">
                <a:solidFill>
                  <a:srgbClr val="F7D1C9"/>
                </a:solidFill>
                <a:prstDash val="dash"/>
              </a:ln>
            </p:spPr>
          </p:sp>
        </p:grpSp>
        <p:sp>
          <p:nvSpPr>
            <p:cNvPr id="29" name="TextBox 29"/>
            <p:cNvSpPr txBox="1"/>
            <p:nvPr/>
          </p:nvSpPr>
          <p:spPr>
            <a:xfrm>
              <a:off x="921639" y="2020252"/>
              <a:ext cx="576072" cy="205359"/>
            </a:xfrm>
            <a:prstGeom prst="rect">
              <a:avLst/>
            </a:prstGeom>
            <a:noFill/>
            <a:ln>
              <a:noFill/>
            </a:ln>
          </p:spPr>
          <p:txBody>
            <a:bodyPr wrap="none" lIns="0" tIns="0" rIns="0" bIns="0" anchor="t" anchorCtr="0">
              <a:spAutoFit/>
            </a:bodyPr>
            <a:lstStyle/>
            <a:p>
              <a:pPr algn="ctr"/>
              <a:r>
                <a:rPr lang="zh-CN" sz="1050" b="1" dirty="0">
                  <a:solidFill>
                    <a:srgbClr val="1F1F1F"/>
                  </a:solidFill>
                  <a:latin typeface="+mn-lt"/>
                  <a:ea typeface="+mn-ea"/>
                  <a:cs typeface="+mn-cs"/>
                </a:rPr>
                <a:t>时代特征</a:t>
              </a:r>
            </a:p>
          </p:txBody>
        </p:sp>
        <p:sp>
          <p:nvSpPr>
            <p:cNvPr id="30" name="TextBox 30"/>
            <p:cNvSpPr txBox="1"/>
            <p:nvPr/>
          </p:nvSpPr>
          <p:spPr>
            <a:xfrm>
              <a:off x="2713292" y="2032397"/>
              <a:ext cx="1907667"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网点为王、供给驱动、同质化竞争</a:t>
              </a:r>
            </a:p>
          </p:txBody>
        </p:sp>
        <p:sp>
          <p:nvSpPr>
            <p:cNvPr id="31" name="TextBox 31"/>
            <p:cNvSpPr txBox="1"/>
            <p:nvPr/>
          </p:nvSpPr>
          <p:spPr>
            <a:xfrm>
              <a:off x="6015063" y="2032397"/>
              <a:ext cx="1781124"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线上爆发、场景融合、规模竞赛</a:t>
              </a:r>
            </a:p>
          </p:txBody>
        </p:sp>
        <p:sp>
          <p:nvSpPr>
            <p:cNvPr id="32" name="TextBox 32"/>
            <p:cNvSpPr txBox="1"/>
            <p:nvPr/>
          </p:nvSpPr>
          <p:spPr>
            <a:xfrm>
              <a:off x="9082799" y="2032397"/>
              <a:ext cx="2160753"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增量见顶、分化加剧、技术驱动精细化</a:t>
              </a:r>
            </a:p>
          </p:txBody>
        </p:sp>
        <p:sp>
          <p:nvSpPr>
            <p:cNvPr id="33" name="TextBox 33"/>
            <p:cNvSpPr txBox="1"/>
            <p:nvPr/>
          </p:nvSpPr>
          <p:spPr>
            <a:xfrm>
              <a:off x="921639" y="2763202"/>
              <a:ext cx="576072" cy="205359"/>
            </a:xfrm>
            <a:prstGeom prst="rect">
              <a:avLst/>
            </a:prstGeom>
            <a:noFill/>
            <a:ln>
              <a:noFill/>
            </a:ln>
          </p:spPr>
          <p:txBody>
            <a:bodyPr wrap="none" lIns="0" tIns="0" rIns="0" bIns="0" anchor="t" anchorCtr="0">
              <a:spAutoFit/>
            </a:bodyPr>
            <a:lstStyle/>
            <a:p>
              <a:pPr algn="ctr"/>
              <a:r>
                <a:rPr lang="zh-CN" sz="1050" b="1" dirty="0">
                  <a:solidFill>
                    <a:srgbClr val="1F1F1F"/>
                  </a:solidFill>
                  <a:latin typeface="+mn-lt"/>
                  <a:ea typeface="+mn-ea"/>
                  <a:cs typeface="+mn-cs"/>
                </a:rPr>
                <a:t>战略重心</a:t>
              </a:r>
            </a:p>
          </p:txBody>
        </p:sp>
        <p:sp>
          <p:nvSpPr>
            <p:cNvPr id="34" name="TextBox 34"/>
            <p:cNvSpPr txBox="1"/>
            <p:nvPr/>
          </p:nvSpPr>
          <p:spPr>
            <a:xfrm>
              <a:off x="2776563" y="2775347"/>
              <a:ext cx="1781124"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跑马圈地，规模优先，被动响应</a:t>
              </a:r>
            </a:p>
          </p:txBody>
        </p:sp>
        <p:sp>
          <p:nvSpPr>
            <p:cNvPr id="35" name="TextBox 35"/>
            <p:cNvSpPr txBox="1"/>
            <p:nvPr/>
          </p:nvSpPr>
          <p:spPr>
            <a:xfrm>
              <a:off x="5888520" y="2775347"/>
              <a:ext cx="2034210"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流量为王，先圈人再变现，营销驱动</a:t>
              </a:r>
            </a:p>
          </p:txBody>
        </p:sp>
        <p:sp>
          <p:nvSpPr>
            <p:cNvPr id="36" name="TextBox 36"/>
            <p:cNvSpPr txBox="1"/>
            <p:nvPr/>
          </p:nvSpPr>
          <p:spPr>
            <a:xfrm>
              <a:off x="8956256" y="2775347"/>
              <a:ext cx="2413838"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价值为王，深挖单客生命周期，陪伴式服务</a:t>
              </a:r>
            </a:p>
          </p:txBody>
        </p:sp>
        <p:sp>
          <p:nvSpPr>
            <p:cNvPr id="37" name="TextBox 37"/>
            <p:cNvSpPr txBox="1"/>
            <p:nvPr/>
          </p:nvSpPr>
          <p:spPr>
            <a:xfrm>
              <a:off x="921639" y="3506152"/>
              <a:ext cx="576072" cy="205359"/>
            </a:xfrm>
            <a:prstGeom prst="rect">
              <a:avLst/>
            </a:prstGeom>
            <a:noFill/>
            <a:ln>
              <a:noFill/>
            </a:ln>
          </p:spPr>
          <p:txBody>
            <a:bodyPr wrap="none" lIns="0" tIns="0" rIns="0" bIns="0" anchor="t" anchorCtr="0">
              <a:spAutoFit/>
            </a:bodyPr>
            <a:lstStyle/>
            <a:p>
              <a:pPr algn="ctr"/>
              <a:r>
                <a:rPr lang="zh-CN" sz="1050" b="1" dirty="0">
                  <a:solidFill>
                    <a:srgbClr val="1F1F1F"/>
                  </a:solidFill>
                  <a:latin typeface="+mn-lt"/>
                  <a:ea typeface="+mn-ea"/>
                  <a:cs typeface="+mn-cs"/>
                </a:rPr>
                <a:t>经营逻辑</a:t>
              </a:r>
            </a:p>
          </p:txBody>
        </p:sp>
        <p:sp>
          <p:nvSpPr>
            <p:cNvPr id="38" name="TextBox 38"/>
            <p:cNvSpPr txBox="1"/>
            <p:nvPr/>
          </p:nvSpPr>
          <p:spPr>
            <a:xfrm>
              <a:off x="2953723" y="3518297"/>
              <a:ext cx="1426804"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铺网点→拉存款→放贷款​​</a:t>
              </a:r>
            </a:p>
          </p:txBody>
        </p:sp>
        <p:sp>
          <p:nvSpPr>
            <p:cNvPr id="39" name="TextBox 39"/>
            <p:cNvSpPr txBox="1"/>
            <p:nvPr/>
          </p:nvSpPr>
          <p:spPr>
            <a:xfrm>
              <a:off x="5912277" y="3518297"/>
              <a:ext cx="1986697"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建APP→拉新客→促活跃→做转化​​​​</a:t>
              </a:r>
            </a:p>
          </p:txBody>
        </p:sp>
        <p:sp>
          <p:nvSpPr>
            <p:cNvPr id="40" name="TextBox 40"/>
            <p:cNvSpPr txBox="1"/>
            <p:nvPr/>
          </p:nvSpPr>
          <p:spPr>
            <a:xfrm>
              <a:off x="8747460" y="3518297"/>
              <a:ext cx="2831429"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分层分群→精准触达→价值提升→全生命周期经营​​​</a:t>
              </a:r>
            </a:p>
          </p:txBody>
        </p:sp>
        <p:sp>
          <p:nvSpPr>
            <p:cNvPr id="41" name="TextBox 41"/>
            <p:cNvSpPr txBox="1"/>
            <p:nvPr/>
          </p:nvSpPr>
          <p:spPr>
            <a:xfrm>
              <a:off x="921639" y="4249102"/>
              <a:ext cx="576072" cy="205359"/>
            </a:xfrm>
            <a:prstGeom prst="rect">
              <a:avLst/>
            </a:prstGeom>
            <a:noFill/>
            <a:ln>
              <a:noFill/>
            </a:ln>
          </p:spPr>
          <p:txBody>
            <a:bodyPr wrap="none" lIns="0" tIns="0" rIns="0" bIns="0" anchor="t" anchorCtr="0">
              <a:spAutoFit/>
            </a:bodyPr>
            <a:lstStyle/>
            <a:p>
              <a:pPr algn="ctr"/>
              <a:r>
                <a:rPr lang="zh-CN" sz="1050" b="1" dirty="0">
                  <a:solidFill>
                    <a:srgbClr val="1F1F1F"/>
                  </a:solidFill>
                  <a:latin typeface="+mn-lt"/>
                  <a:ea typeface="+mn-ea"/>
                  <a:cs typeface="+mn-cs"/>
                </a:rPr>
                <a:t>获客模式</a:t>
              </a:r>
            </a:p>
          </p:txBody>
        </p:sp>
        <p:sp>
          <p:nvSpPr>
            <p:cNvPr id="42" name="TextBox 42"/>
            <p:cNvSpPr txBox="1"/>
            <p:nvPr/>
          </p:nvSpPr>
          <p:spPr>
            <a:xfrm>
              <a:off x="2460206" y="4261247"/>
              <a:ext cx="2413838"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网点辐射＋自然到店＋关系拓展＋对公带私</a:t>
              </a:r>
            </a:p>
          </p:txBody>
        </p:sp>
        <p:sp>
          <p:nvSpPr>
            <p:cNvPr id="43" name="TextBox 43"/>
            <p:cNvSpPr txBox="1"/>
            <p:nvPr/>
          </p:nvSpPr>
          <p:spPr>
            <a:xfrm>
              <a:off x="6015063" y="4261247"/>
              <a:ext cx="1781124"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线上引流＋场景嵌入＋裂变拉新</a:t>
              </a:r>
            </a:p>
          </p:txBody>
        </p:sp>
        <p:sp>
          <p:nvSpPr>
            <p:cNvPr id="44" name="TextBox 44"/>
            <p:cNvSpPr txBox="1"/>
            <p:nvPr/>
          </p:nvSpPr>
          <p:spPr>
            <a:xfrm>
              <a:off x="9272613" y="4261247"/>
              <a:ext cx="1781124"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老客转介＋私域裂变＋生态共建</a:t>
              </a:r>
            </a:p>
          </p:txBody>
        </p:sp>
        <p:sp>
          <p:nvSpPr>
            <p:cNvPr id="45" name="TextBox 45"/>
            <p:cNvSpPr txBox="1"/>
            <p:nvPr/>
          </p:nvSpPr>
          <p:spPr>
            <a:xfrm>
              <a:off x="921639" y="4992052"/>
              <a:ext cx="576072" cy="205359"/>
            </a:xfrm>
            <a:prstGeom prst="rect">
              <a:avLst/>
            </a:prstGeom>
            <a:noFill/>
            <a:ln>
              <a:noFill/>
            </a:ln>
          </p:spPr>
          <p:txBody>
            <a:bodyPr wrap="none" lIns="0" tIns="0" rIns="0" bIns="0" anchor="t" anchorCtr="0">
              <a:spAutoFit/>
            </a:bodyPr>
            <a:lstStyle/>
            <a:p>
              <a:pPr algn="ctr"/>
              <a:r>
                <a:rPr lang="zh-CN" sz="1050" b="1" dirty="0">
                  <a:solidFill>
                    <a:srgbClr val="1F1F1F"/>
                  </a:solidFill>
                  <a:latin typeface="+mn-lt"/>
                  <a:ea typeface="+mn-ea"/>
                  <a:cs typeface="+mn-cs"/>
                </a:rPr>
                <a:t>经营模式</a:t>
              </a:r>
            </a:p>
          </p:txBody>
        </p:sp>
        <p:sp>
          <p:nvSpPr>
            <p:cNvPr id="46" name="TextBox 46"/>
            <p:cNvSpPr txBox="1"/>
            <p:nvPr/>
          </p:nvSpPr>
          <p:spPr>
            <a:xfrm>
              <a:off x="2776563" y="4918472"/>
              <a:ext cx="1781124"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以产品为中心，线下渠道驱动，</a:t>
              </a:r>
            </a:p>
          </p:txBody>
        </p:sp>
        <p:sp>
          <p:nvSpPr>
            <p:cNvPr id="47" name="TextBox 47"/>
            <p:cNvSpPr txBox="1"/>
            <p:nvPr/>
          </p:nvSpPr>
          <p:spPr>
            <a:xfrm>
              <a:off x="2903106" y="5108972"/>
              <a:ext cx="1528039"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粗放式分层，资源集中头部</a:t>
              </a:r>
            </a:p>
          </p:txBody>
        </p:sp>
        <p:sp>
          <p:nvSpPr>
            <p:cNvPr id="48" name="TextBox 48"/>
            <p:cNvSpPr txBox="1"/>
            <p:nvPr/>
          </p:nvSpPr>
          <p:spPr>
            <a:xfrm>
              <a:off x="6015063" y="4918472"/>
              <a:ext cx="1781124"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以用户为中心起步，数据驱动，</a:t>
              </a:r>
            </a:p>
          </p:txBody>
        </p:sp>
        <p:sp>
          <p:nvSpPr>
            <p:cNvPr id="49" name="TextBox 49"/>
            <p:cNvSpPr txBox="1"/>
            <p:nvPr/>
          </p:nvSpPr>
          <p:spPr>
            <a:xfrm>
              <a:off x="6457963" y="5108972"/>
              <a:ext cx="895325"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标准化批量运营</a:t>
              </a:r>
            </a:p>
          </p:txBody>
        </p:sp>
        <p:sp>
          <p:nvSpPr>
            <p:cNvPr id="50" name="TextBox 50"/>
            <p:cNvSpPr txBox="1"/>
            <p:nvPr/>
          </p:nvSpPr>
          <p:spPr>
            <a:xfrm>
              <a:off x="9272613" y="4918472"/>
              <a:ext cx="1781124"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以客户为中心，数据智能驱动，</a:t>
              </a:r>
            </a:p>
          </p:txBody>
        </p:sp>
        <p:sp>
          <p:nvSpPr>
            <p:cNvPr id="51" name="TextBox 51"/>
            <p:cNvSpPr txBox="1"/>
            <p:nvPr/>
          </p:nvSpPr>
          <p:spPr>
            <a:xfrm>
              <a:off x="9525698" y="5108972"/>
              <a:ext cx="1274953"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全生命周期精细化陪伴</a:t>
              </a:r>
            </a:p>
          </p:txBody>
        </p:sp>
        <p:sp>
          <p:nvSpPr>
            <p:cNvPr id="52" name="TextBox 52"/>
            <p:cNvSpPr txBox="1"/>
            <p:nvPr/>
          </p:nvSpPr>
          <p:spPr>
            <a:xfrm>
              <a:off x="921639" y="5735002"/>
              <a:ext cx="576072" cy="205359"/>
            </a:xfrm>
            <a:prstGeom prst="rect">
              <a:avLst/>
            </a:prstGeom>
            <a:noFill/>
            <a:ln>
              <a:noFill/>
            </a:ln>
          </p:spPr>
          <p:txBody>
            <a:bodyPr wrap="none" lIns="0" tIns="0" rIns="0" bIns="0" anchor="t" anchorCtr="0">
              <a:spAutoFit/>
            </a:bodyPr>
            <a:lstStyle/>
            <a:p>
              <a:pPr algn="ctr"/>
              <a:r>
                <a:rPr lang="zh-CN" sz="1050" b="1" dirty="0">
                  <a:solidFill>
                    <a:srgbClr val="1F1F1F"/>
                  </a:solidFill>
                  <a:latin typeface="+mn-lt"/>
                  <a:ea typeface="+mn-ea"/>
                  <a:cs typeface="+mn-cs"/>
                </a:rPr>
                <a:t>长尾策略</a:t>
              </a:r>
            </a:p>
          </p:txBody>
        </p:sp>
        <p:sp>
          <p:nvSpPr>
            <p:cNvPr id="53" name="TextBox 53"/>
            <p:cNvSpPr txBox="1"/>
            <p:nvPr/>
          </p:nvSpPr>
          <p:spPr>
            <a:xfrm>
              <a:off x="2384280" y="5747147"/>
              <a:ext cx="2565690"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长尾客户仅作为“开户基数”，无差异化经营​​</a:t>
              </a:r>
            </a:p>
          </p:txBody>
        </p:sp>
        <p:sp>
          <p:nvSpPr>
            <p:cNvPr id="54" name="TextBox 54"/>
            <p:cNvSpPr txBox="1"/>
            <p:nvPr/>
          </p:nvSpPr>
          <p:spPr>
            <a:xfrm>
              <a:off x="6157424" y="5747147"/>
              <a:ext cx="1496403"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“广撒网”式的粗放运营​​​</a:t>
              </a:r>
            </a:p>
          </p:txBody>
        </p:sp>
        <p:sp>
          <p:nvSpPr>
            <p:cNvPr id="55" name="TextBox 55"/>
            <p:cNvSpPr txBox="1"/>
            <p:nvPr/>
          </p:nvSpPr>
          <p:spPr>
            <a:xfrm>
              <a:off x="9019527" y="5747147"/>
              <a:ext cx="2287295" cy="183356"/>
            </a:xfrm>
            <a:prstGeom prst="rect">
              <a:avLst/>
            </a:prstGeom>
            <a:noFill/>
            <a:ln>
              <a:noFill/>
            </a:ln>
          </p:spPr>
          <p:txBody>
            <a:bodyPr wrap="none" lIns="0" tIns="0" rIns="0" bIns="0" anchor="t" anchorCtr="0">
              <a:spAutoFit/>
            </a:bodyPr>
            <a:lstStyle/>
            <a:p>
              <a:pPr algn="ctr"/>
              <a:r>
                <a:rPr lang="zh-CN" sz="940" dirty="0">
                  <a:solidFill>
                    <a:srgbClr val="523833"/>
                  </a:solidFill>
                  <a:latin typeface="+mn-lt"/>
                  <a:ea typeface="+mn-ea"/>
                  <a:cs typeface="+mn-cs"/>
                </a:rPr>
                <a:t>核心输送口＋数字化＋轻量化＋分层递进</a:t>
              </a:r>
            </a:p>
          </p:txBody>
        </p:sp>
      </p:grpSp>
      <p:sp>
        <p:nvSpPr>
          <p:cNvPr id="57" name="TextBox 57"/>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05</a:t>
              </a:r>
            </a:p>
          </p:txBody>
        </p:sp>
        <p:sp>
          <p:nvSpPr>
            <p:cNvPr id="4" name="TextBox 4"/>
            <p:cNvSpPr txBox="1"/>
            <p:nvPr/>
          </p:nvSpPr>
          <p:spPr>
            <a:xfrm>
              <a:off x="942594" y="151448"/>
              <a:ext cx="7786116"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长尾客群是增长蓝海，数字化经营可</a:t>
              </a:r>
              <a:r>
                <a:rPr lang="zh-CN" sz="1950" b="1" dirty="0">
                  <a:solidFill>
                    <a:srgbClr val="E74726"/>
                  </a:solidFill>
                  <a:latin typeface="SimSun"/>
                  <a:ea typeface="SimSun"/>
                  <a:cs typeface="SimSun"/>
                </a:rPr>
                <a:t>聚沙成塔</a:t>
              </a:r>
              <a:r>
                <a:rPr lang="zh-CN" sz="1950" b="1" dirty="0">
                  <a:solidFill>
                    <a:srgbClr val="1F1F1F"/>
                  </a:solidFill>
                  <a:latin typeface="SimSun"/>
                  <a:ea typeface="SimSun"/>
                  <a:cs typeface="SimSun"/>
                </a:rPr>
                <a:t>，挖掘存量新增长</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795516" cy="551260"/>
            <a:chOff x="566166" y="667702"/>
            <a:chExt cx="6795516" cy="551260"/>
          </a:xfrm>
        </p:grpSpPr>
        <p:sp>
          <p:nvSpPr>
            <p:cNvPr id="8" name="TextBox 8"/>
            <p:cNvSpPr txBox="1"/>
            <p:nvPr/>
          </p:nvSpPr>
          <p:spPr>
            <a:xfrm>
              <a:off x="566166" y="667702"/>
              <a:ext cx="6795516"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头部增长放缓，长尾客群凭借庞大基数与数字化边际成本优势，可优化客户结构，稳定基本盘并输送高潜价值</a:t>
              </a:r>
            </a:p>
          </p:txBody>
        </p:sp>
        <p:sp>
          <p:nvSpPr>
            <p:cNvPr id="9" name="TextBox 9"/>
            <p:cNvSpPr txBox="1"/>
            <p:nvPr/>
          </p:nvSpPr>
          <p:spPr>
            <a:xfrm>
              <a:off x="566738" y="887968"/>
              <a:ext cx="6492824"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存量竞争下头部增长承压，长尾客群成为破局关键。数字化经营赋予三重价值：规模效应叠加边际成本下降，开拓新利润空间；</a:t>
              </a:r>
            </a:p>
          </p:txBody>
        </p:sp>
        <p:sp>
          <p:nvSpPr>
            <p:cNvPr id="10" name="TextBox 10"/>
            <p:cNvSpPr txBox="1"/>
            <p:nvPr/>
          </p:nvSpPr>
          <p:spPr>
            <a:xfrm>
              <a:off x="566738" y="1049893"/>
              <a:ext cx="6400206"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稳定基础客群并筛选高净值潜力，打破单一风险；通过精准标签与分层触达，将“沉默多数”转化为有效资产，实现价值跃迁​​</a:t>
              </a:r>
            </a:p>
          </p:txBody>
        </p:sp>
      </p:grpSp>
      <p:grpSp>
        <p:nvGrpSpPr>
          <p:cNvPr id="33" name="pyramid"/>
          <p:cNvGrpSpPr/>
          <p:nvPr/>
        </p:nvGrpSpPr>
        <p:grpSpPr>
          <a:xfrm>
            <a:off x="419100" y="1353502"/>
            <a:ext cx="3810000" cy="4971098"/>
            <a:chOff x="419100" y="1353502"/>
            <a:chExt cx="3810000" cy="4971098"/>
          </a:xfrm>
        </p:grpSpPr>
        <p:sp>
          <p:nvSpPr>
            <p:cNvPr id="12" name="TextBox 12"/>
            <p:cNvSpPr txBox="1"/>
            <p:nvPr/>
          </p:nvSpPr>
          <p:spPr>
            <a:xfrm>
              <a:off x="1437513" y="1353502"/>
              <a:ext cx="858774" cy="205359"/>
            </a:xfrm>
            <a:prstGeom prst="rect">
              <a:avLst/>
            </a:prstGeom>
            <a:noFill/>
            <a:ln>
              <a:noFill/>
            </a:ln>
          </p:spPr>
          <p:txBody>
            <a:bodyPr wrap="none" lIns="0" tIns="0" rIns="0" bIns="0" anchor="t" anchorCtr="0">
              <a:spAutoFit/>
            </a:bodyPr>
            <a:lstStyle/>
            <a:p>
              <a:pPr algn="ctr"/>
              <a:r>
                <a:rPr lang="zh-CN" sz="1050" b="1" dirty="0">
                  <a:solidFill>
                    <a:srgbClr val="E74726"/>
                  </a:solidFill>
                  <a:latin typeface="+mn-lt"/>
                  <a:ea typeface="+mn-ea"/>
                  <a:cs typeface="+mn-cs"/>
                </a:rPr>
                <a:t>客户资产分层</a:t>
              </a:r>
            </a:p>
          </p:txBody>
        </p:sp>
        <p:sp>
          <p:nvSpPr>
            <p:cNvPr id="13" name="Line 13"/>
            <p:cNvSpPr/>
            <p:nvPr/>
          </p:nvSpPr>
          <p:spPr>
            <a:xfrm>
              <a:off x="1428750" y="1524000"/>
              <a:ext cx="876300" cy="9525"/>
            </a:xfrm>
            <a:custGeom>
              <a:avLst/>
              <a:gdLst/>
              <a:ahLst/>
              <a:cxnLst/>
              <a:rect l="l" t="t" r="r" b="b"/>
              <a:pathLst>
                <a:path w="876300" h="9525">
                  <a:moveTo>
                    <a:pt x="0" y="0"/>
                  </a:moveTo>
                  <a:lnTo>
                    <a:pt x="876300" y="0"/>
                  </a:lnTo>
                </a:path>
              </a:pathLst>
            </a:custGeom>
            <a:noFill/>
            <a:ln w="14288">
              <a:solidFill>
                <a:srgbClr val="E74726"/>
              </a:solidFill>
            </a:ln>
          </p:spPr>
        </p:sp>
        <p:sp>
          <p:nvSpPr>
            <p:cNvPr id="14" name="Polygon 14"/>
            <p:cNvSpPr/>
            <p:nvPr/>
          </p:nvSpPr>
          <p:spPr>
            <a:xfrm>
              <a:off x="1447800" y="1695450"/>
              <a:ext cx="838200" cy="1371600"/>
            </a:xfrm>
            <a:custGeom>
              <a:avLst/>
              <a:gdLst/>
              <a:ahLst/>
              <a:cxnLst/>
              <a:rect l="l" t="t" r="r" b="b"/>
              <a:pathLst>
                <a:path w="838200" h="1371600">
                  <a:moveTo>
                    <a:pt x="419100" y="0"/>
                  </a:moveTo>
                  <a:lnTo>
                    <a:pt x="838200" y="1371600"/>
                  </a:lnTo>
                  <a:lnTo>
                    <a:pt x="0" y="1371600"/>
                  </a:lnTo>
                  <a:close/>
                </a:path>
              </a:pathLst>
            </a:custGeom>
            <a:gradFill>
              <a:gsLst>
                <a:gs pos="0">
                  <a:srgbClr val="F0745B"/>
                </a:gs>
                <a:gs pos="100000">
                  <a:srgbClr val="E74726"/>
                </a:gs>
              </a:gsLst>
              <a:lin ang="5400000" scaled="1"/>
            </a:gradFill>
            <a:ln>
              <a:noFill/>
            </a:ln>
          </p:spPr>
        </p:sp>
        <p:sp>
          <p:nvSpPr>
            <p:cNvPr id="15" name="Line 15"/>
            <p:cNvSpPr/>
            <p:nvPr/>
          </p:nvSpPr>
          <p:spPr>
            <a:xfrm>
              <a:off x="419100" y="3143250"/>
              <a:ext cx="3771900" cy="9525"/>
            </a:xfrm>
            <a:custGeom>
              <a:avLst/>
              <a:gdLst/>
              <a:ahLst/>
              <a:cxnLst/>
              <a:rect l="l" t="t" r="r" b="b"/>
              <a:pathLst>
                <a:path w="3771900" h="9525">
                  <a:moveTo>
                    <a:pt x="0" y="0"/>
                  </a:moveTo>
                  <a:lnTo>
                    <a:pt x="3771900" y="0"/>
                  </a:lnTo>
                </a:path>
              </a:pathLst>
            </a:custGeom>
            <a:noFill/>
            <a:ln w="9525">
              <a:solidFill>
                <a:srgbClr val="9AA5B4"/>
              </a:solidFill>
              <a:custDash>
                <a:ds d="500000" sp="400000"/>
              </a:custDash>
            </a:ln>
          </p:spPr>
        </p:sp>
        <p:sp>
          <p:nvSpPr>
            <p:cNvPr id="16" name="TextBox 16"/>
            <p:cNvSpPr txBox="1"/>
            <p:nvPr/>
          </p:nvSpPr>
          <p:spPr>
            <a:xfrm>
              <a:off x="433388" y="3010614"/>
              <a:ext cx="541274" cy="154781"/>
            </a:xfrm>
            <a:prstGeom prst="rect">
              <a:avLst/>
            </a:prstGeom>
            <a:noFill/>
            <a:ln>
              <a:noFill/>
            </a:ln>
          </p:spPr>
          <p:txBody>
            <a:bodyPr wrap="none" lIns="0" tIns="0" rIns="0" bIns="0" anchor="t" anchorCtr="0">
              <a:spAutoFit/>
            </a:bodyPr>
            <a:lstStyle/>
            <a:p>
              <a:pPr algn="l"/>
              <a:r>
                <a:rPr lang="zh-CN" sz="790" dirty="0">
                  <a:solidFill>
                    <a:srgbClr val="846F6B"/>
                  </a:solidFill>
                  <a:latin typeface="+mn-lt"/>
                  <a:ea typeface="+mn-ea"/>
                  <a:cs typeface="+mn-cs"/>
                </a:rPr>
                <a:t>万元分界线</a:t>
              </a:r>
            </a:p>
          </p:txBody>
        </p:sp>
        <p:sp>
          <p:nvSpPr>
            <p:cNvPr id="17" name="TextBox 17"/>
            <p:cNvSpPr txBox="1"/>
            <p:nvPr/>
          </p:nvSpPr>
          <p:spPr>
            <a:xfrm>
              <a:off x="2490788" y="2063591"/>
              <a:ext cx="981151" cy="161925"/>
            </a:xfrm>
            <a:prstGeom prst="rect">
              <a:avLst/>
            </a:prstGeom>
            <a:noFill/>
            <a:ln>
              <a:noFill/>
            </a:ln>
          </p:spPr>
          <p:txBody>
            <a:bodyPr wrap="none" lIns="0" tIns="0" rIns="0" bIns="0" anchor="t" anchorCtr="0">
              <a:spAutoFit/>
            </a:bodyPr>
            <a:lstStyle/>
            <a:p>
              <a:pPr algn="l" marL="88519" indent="-88519">
                <a:buClr>
                  <a:srgbClr val="523833"/>
                </a:buClr>
                <a:buSzTx/>
                <a:buFontTx/>
                <a:buChar char="•"/>
              </a:pPr>
              <a:r>
                <a:rPr lang="zh-CN" sz="820" dirty="0">
                  <a:solidFill>
                    <a:srgbClr val="523833"/>
                  </a:solidFill>
                  <a:latin typeface="+mn-lt"/>
                  <a:ea typeface="+mn-ea"/>
                  <a:cs typeface="+mn-cs"/>
                </a:rPr>
                <a:t>客户总量小、价值</a:t>
              </a:r>
            </a:p>
          </p:txBody>
        </p:sp>
        <p:sp>
          <p:nvSpPr>
            <p:cNvPr id="18" name="TextBox 18"/>
            <p:cNvSpPr txBox="1"/>
            <p:nvPr/>
          </p:nvSpPr>
          <p:spPr>
            <a:xfrm>
              <a:off x="2490788" y="2235041"/>
              <a:ext cx="340690"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贡献大</a:t>
              </a:r>
            </a:p>
          </p:txBody>
        </p:sp>
        <p:sp>
          <p:nvSpPr>
            <p:cNvPr id="19" name="TextBox 19"/>
            <p:cNvSpPr txBox="1"/>
            <p:nvPr/>
          </p:nvSpPr>
          <p:spPr>
            <a:xfrm>
              <a:off x="2490788" y="2444591"/>
              <a:ext cx="760374" cy="161925"/>
            </a:xfrm>
            <a:prstGeom prst="rect">
              <a:avLst/>
            </a:prstGeom>
            <a:noFill/>
            <a:ln>
              <a:noFill/>
            </a:ln>
          </p:spPr>
          <p:txBody>
            <a:bodyPr wrap="none" lIns="0" tIns="0" rIns="0" bIns="0" anchor="t" anchorCtr="0">
              <a:spAutoFit/>
            </a:bodyPr>
            <a:lstStyle/>
            <a:p>
              <a:pPr algn="l" marL="88519" indent="-88519">
                <a:buClr>
                  <a:srgbClr val="523833"/>
                </a:buClr>
                <a:buSzTx/>
                <a:buFontTx/>
                <a:buChar char="•"/>
              </a:pPr>
              <a:r>
                <a:rPr lang="zh-CN" sz="820" dirty="0">
                  <a:solidFill>
                    <a:srgbClr val="523833"/>
                  </a:solidFill>
                  <a:latin typeface="+mn-lt"/>
                  <a:ea typeface="+mn-ea"/>
                  <a:cs typeface="+mn-cs"/>
                </a:rPr>
                <a:t>专人管户营销</a:t>
              </a:r>
            </a:p>
          </p:txBody>
        </p:sp>
        <p:sp>
          <p:nvSpPr>
            <p:cNvPr id="20" name="TextBox 20"/>
            <p:cNvSpPr txBox="1"/>
            <p:nvPr/>
          </p:nvSpPr>
          <p:spPr>
            <a:xfrm>
              <a:off x="2490788" y="2654141"/>
              <a:ext cx="760374" cy="161925"/>
            </a:xfrm>
            <a:prstGeom prst="rect">
              <a:avLst/>
            </a:prstGeom>
            <a:noFill/>
            <a:ln>
              <a:noFill/>
            </a:ln>
          </p:spPr>
          <p:txBody>
            <a:bodyPr wrap="none" lIns="0" tIns="0" rIns="0" bIns="0" anchor="t" anchorCtr="0">
              <a:spAutoFit/>
            </a:bodyPr>
            <a:lstStyle/>
            <a:p>
              <a:pPr algn="l" marL="88519" indent="-88519">
                <a:buClr>
                  <a:srgbClr val="523833"/>
                </a:buClr>
                <a:buSzTx/>
                <a:buFontTx/>
                <a:buChar char="•"/>
              </a:pPr>
              <a:r>
                <a:rPr lang="zh-CN" sz="820" dirty="0">
                  <a:solidFill>
                    <a:srgbClr val="523833"/>
                  </a:solidFill>
                  <a:latin typeface="+mn-lt"/>
                  <a:ea typeface="+mn-ea"/>
                  <a:cs typeface="+mn-cs"/>
                </a:rPr>
                <a:t>存量竞争激烈</a:t>
              </a:r>
            </a:p>
          </p:txBody>
        </p:sp>
        <p:sp>
          <p:nvSpPr>
            <p:cNvPr id="21" name="Rectangle 21"/>
            <p:cNvSpPr/>
            <p:nvPr/>
          </p:nvSpPr>
          <p:spPr>
            <a:xfrm>
              <a:off x="419100" y="3276600"/>
              <a:ext cx="3810000" cy="3048000"/>
            </a:xfrm>
            <a:prstGeom prst="roundRect">
              <a:avLst>
                <a:gd name="adj" fmla="val 4375"/>
              </a:avLst>
            </a:prstGeom>
            <a:noFill/>
            <a:ln w="14288">
              <a:solidFill>
                <a:srgbClr val="E74726"/>
              </a:solidFill>
              <a:custDash>
                <a:ds d="466667" sp="333333"/>
              </a:custDash>
            </a:ln>
          </p:spPr>
        </p:sp>
        <p:sp>
          <p:nvSpPr>
            <p:cNvPr id="22" name="Polygon 22"/>
            <p:cNvSpPr/>
            <p:nvPr/>
          </p:nvSpPr>
          <p:spPr>
            <a:xfrm>
              <a:off x="457200" y="3352800"/>
              <a:ext cx="2819400" cy="2857500"/>
            </a:xfrm>
            <a:custGeom>
              <a:avLst/>
              <a:gdLst/>
              <a:ahLst/>
              <a:cxnLst/>
              <a:rect l="l" t="t" r="r" b="b"/>
              <a:pathLst>
                <a:path w="2819400" h="2857500">
                  <a:moveTo>
                    <a:pt x="971550" y="0"/>
                  </a:moveTo>
                  <a:lnTo>
                    <a:pt x="1847850" y="0"/>
                  </a:lnTo>
                  <a:lnTo>
                    <a:pt x="2819400" y="2857500"/>
                  </a:lnTo>
                  <a:lnTo>
                    <a:pt x="0" y="2857500"/>
                  </a:lnTo>
                  <a:close/>
                </a:path>
              </a:pathLst>
            </a:custGeom>
            <a:gradFill>
              <a:gsLst>
                <a:gs pos="0">
                  <a:srgbClr val="DCE8FB"/>
                </a:gs>
                <a:gs pos="100000">
                  <a:srgbClr val="F5C3B9"/>
                </a:gs>
              </a:gsLst>
              <a:lin ang="5400000" scaled="1"/>
            </a:gradFill>
            <a:ln>
              <a:noFill/>
            </a:ln>
          </p:spPr>
        </p:sp>
        <p:sp>
          <p:nvSpPr>
            <p:cNvPr id="23" name="TextBox 23"/>
            <p:cNvSpPr txBox="1"/>
            <p:nvPr/>
          </p:nvSpPr>
          <p:spPr>
            <a:xfrm>
              <a:off x="1537716" y="4556760"/>
              <a:ext cx="658368" cy="234696"/>
            </a:xfrm>
            <a:prstGeom prst="rect">
              <a:avLst/>
            </a:prstGeom>
            <a:noFill/>
            <a:ln>
              <a:noFill/>
            </a:ln>
          </p:spPr>
          <p:txBody>
            <a:bodyPr wrap="none" lIns="0" tIns="0" rIns="0" bIns="0" anchor="t" anchorCtr="0">
              <a:spAutoFit/>
            </a:bodyPr>
            <a:lstStyle/>
            <a:p>
              <a:pPr algn="ctr"/>
              <a:r>
                <a:rPr lang="zh-CN" sz="1200" b="1" dirty="0">
                  <a:solidFill>
                    <a:srgbClr val="1F1F1F"/>
                  </a:solidFill>
                  <a:latin typeface="+mn-lt"/>
                  <a:ea typeface="+mn-ea"/>
                  <a:cs typeface="+mn-cs"/>
                </a:rPr>
                <a:t>长尾客户</a:t>
              </a:r>
            </a:p>
          </p:txBody>
        </p:sp>
        <p:sp>
          <p:nvSpPr>
            <p:cNvPr id="24" name="TextBox 24"/>
            <p:cNvSpPr txBox="1"/>
            <p:nvPr/>
          </p:nvSpPr>
          <p:spPr>
            <a:xfrm>
              <a:off x="1495715" y="4823460"/>
              <a:ext cx="742371" cy="234696"/>
            </a:xfrm>
            <a:prstGeom prst="rect">
              <a:avLst/>
            </a:prstGeom>
            <a:noFill/>
            <a:ln>
              <a:noFill/>
            </a:ln>
          </p:spPr>
          <p:txBody>
            <a:bodyPr wrap="none" lIns="0" tIns="0" rIns="0" bIns="0" anchor="t" anchorCtr="0">
              <a:spAutoFit/>
            </a:bodyPr>
            <a:lstStyle/>
            <a:p>
              <a:pPr algn="ctr"/>
              <a:r>
                <a:rPr lang="zh-CN" sz="1200" b="1" dirty="0">
                  <a:solidFill>
                    <a:srgbClr val="1F1F1F"/>
                  </a:solidFill>
                  <a:latin typeface="+mn-lt"/>
                  <a:ea typeface="+mn-ea"/>
                  <a:cs typeface="+mn-cs"/>
                </a:rPr>
                <a:t>70%以上​</a:t>
              </a:r>
            </a:p>
          </p:txBody>
        </p:sp>
        <p:sp>
          <p:nvSpPr>
            <p:cNvPr id="25" name="TextBox 25"/>
            <p:cNvSpPr txBox="1"/>
            <p:nvPr/>
          </p:nvSpPr>
          <p:spPr>
            <a:xfrm>
              <a:off x="2490788" y="4006691"/>
              <a:ext cx="981151" cy="161925"/>
            </a:xfrm>
            <a:prstGeom prst="rect">
              <a:avLst/>
            </a:prstGeom>
            <a:noFill/>
            <a:ln>
              <a:noFill/>
            </a:ln>
          </p:spPr>
          <p:txBody>
            <a:bodyPr wrap="none" lIns="0" tIns="0" rIns="0" bIns="0" anchor="t" anchorCtr="0">
              <a:spAutoFit/>
            </a:bodyPr>
            <a:lstStyle/>
            <a:p>
              <a:pPr algn="l" marL="88519" indent="-88519">
                <a:buClr>
                  <a:srgbClr val="523833"/>
                </a:buClr>
                <a:buSzTx/>
                <a:buFontTx/>
                <a:buChar char="•"/>
              </a:pPr>
              <a:r>
                <a:rPr lang="zh-CN" sz="820" dirty="0">
                  <a:solidFill>
                    <a:srgbClr val="523833"/>
                  </a:solidFill>
                  <a:latin typeface="+mn-lt"/>
                  <a:ea typeface="+mn-ea"/>
                  <a:cs typeface="+mn-cs"/>
                </a:rPr>
                <a:t>客户总量大、价值</a:t>
              </a:r>
            </a:p>
          </p:txBody>
        </p:sp>
        <p:sp>
          <p:nvSpPr>
            <p:cNvPr id="26" name="TextBox 26"/>
            <p:cNvSpPr txBox="1"/>
            <p:nvPr/>
          </p:nvSpPr>
          <p:spPr>
            <a:xfrm>
              <a:off x="2490788" y="4178141"/>
              <a:ext cx="340690"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贡献低</a:t>
              </a:r>
            </a:p>
          </p:txBody>
        </p:sp>
        <p:sp>
          <p:nvSpPr>
            <p:cNvPr id="27" name="TextBox 27"/>
            <p:cNvSpPr txBox="1"/>
            <p:nvPr/>
          </p:nvSpPr>
          <p:spPr>
            <a:xfrm>
              <a:off x="2490788" y="4387691"/>
              <a:ext cx="981151" cy="161925"/>
            </a:xfrm>
            <a:prstGeom prst="rect">
              <a:avLst/>
            </a:prstGeom>
            <a:noFill/>
            <a:ln>
              <a:noFill/>
            </a:ln>
          </p:spPr>
          <p:txBody>
            <a:bodyPr wrap="none" lIns="0" tIns="0" rIns="0" bIns="0" anchor="t" anchorCtr="0">
              <a:spAutoFit/>
            </a:bodyPr>
            <a:lstStyle/>
            <a:p>
              <a:pPr algn="l" marL="88519" indent="-88519">
                <a:buClr>
                  <a:srgbClr val="523833"/>
                </a:buClr>
                <a:buSzTx/>
                <a:buFontTx/>
                <a:buChar char="•"/>
              </a:pPr>
              <a:r>
                <a:rPr lang="zh-CN" sz="820" dirty="0">
                  <a:solidFill>
                    <a:srgbClr val="523833"/>
                  </a:solidFill>
                  <a:latin typeface="+mn-lt"/>
                  <a:ea typeface="+mn-ea"/>
                  <a:cs typeface="+mn-cs"/>
                </a:rPr>
                <a:t>营销人员无暇顾及</a:t>
              </a:r>
            </a:p>
          </p:txBody>
        </p:sp>
        <p:sp>
          <p:nvSpPr>
            <p:cNvPr id="28" name="TextBox 28"/>
            <p:cNvSpPr txBox="1"/>
            <p:nvPr/>
          </p:nvSpPr>
          <p:spPr>
            <a:xfrm>
              <a:off x="2490788" y="4597241"/>
              <a:ext cx="981151" cy="161925"/>
            </a:xfrm>
            <a:prstGeom prst="rect">
              <a:avLst/>
            </a:prstGeom>
            <a:noFill/>
            <a:ln>
              <a:noFill/>
            </a:ln>
          </p:spPr>
          <p:txBody>
            <a:bodyPr wrap="none" lIns="0" tIns="0" rIns="0" bIns="0" anchor="t" anchorCtr="0">
              <a:spAutoFit/>
            </a:bodyPr>
            <a:lstStyle/>
            <a:p>
              <a:pPr algn="l" marL="88519" indent="-88519">
                <a:buClr>
                  <a:srgbClr val="523833"/>
                </a:buClr>
                <a:buSzTx/>
                <a:buFontTx/>
                <a:buChar char="•"/>
              </a:pPr>
              <a:r>
                <a:rPr lang="zh-CN" sz="820" dirty="0">
                  <a:solidFill>
                    <a:srgbClr val="523833"/>
                  </a:solidFill>
                  <a:latin typeface="+mn-lt"/>
                  <a:ea typeface="+mn-ea"/>
                  <a:cs typeface="+mn-cs"/>
                </a:rPr>
                <a:t>客户经营成本收益</a:t>
              </a:r>
            </a:p>
          </p:txBody>
        </p:sp>
        <p:sp>
          <p:nvSpPr>
            <p:cNvPr id="29" name="TextBox 29"/>
            <p:cNvSpPr txBox="1"/>
            <p:nvPr/>
          </p:nvSpPr>
          <p:spPr>
            <a:xfrm>
              <a:off x="2490788" y="4768691"/>
              <a:ext cx="340690"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难把控</a:t>
              </a:r>
            </a:p>
          </p:txBody>
        </p:sp>
        <p:sp>
          <p:nvSpPr>
            <p:cNvPr id="30" name="TextBox 30"/>
            <p:cNvSpPr txBox="1"/>
            <p:nvPr/>
          </p:nvSpPr>
          <p:spPr>
            <a:xfrm>
              <a:off x="2490788" y="4978241"/>
              <a:ext cx="981151" cy="161925"/>
            </a:xfrm>
            <a:prstGeom prst="rect">
              <a:avLst/>
            </a:prstGeom>
            <a:noFill/>
            <a:ln>
              <a:noFill/>
            </a:ln>
          </p:spPr>
          <p:txBody>
            <a:bodyPr wrap="none" lIns="0" tIns="0" rIns="0" bIns="0" anchor="t" anchorCtr="0">
              <a:spAutoFit/>
            </a:bodyPr>
            <a:lstStyle/>
            <a:p>
              <a:pPr algn="l" marL="88519" indent="-88519">
                <a:buClr>
                  <a:srgbClr val="523833"/>
                </a:buClr>
                <a:buSzTx/>
                <a:buFontTx/>
                <a:buChar char="•"/>
              </a:pPr>
              <a:r>
                <a:rPr lang="zh-CN" sz="820" dirty="0">
                  <a:solidFill>
                    <a:srgbClr val="523833"/>
                  </a:solidFill>
                  <a:latin typeface="+mn-lt"/>
                  <a:ea typeface="+mn-ea"/>
                  <a:cs typeface="+mn-cs"/>
                </a:rPr>
                <a:t>规模大，挖掘潜力</a:t>
              </a:r>
            </a:p>
          </p:txBody>
        </p:sp>
        <p:sp>
          <p:nvSpPr>
            <p:cNvPr id="31" name="TextBox 31"/>
            <p:cNvSpPr txBox="1"/>
            <p:nvPr/>
          </p:nvSpPr>
          <p:spPr>
            <a:xfrm>
              <a:off x="2490788" y="5149691"/>
              <a:ext cx="119913"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大</a:t>
              </a:r>
            </a:p>
          </p:txBody>
        </p:sp>
        <p:sp>
          <p:nvSpPr>
            <p:cNvPr id="32" name="TextBox 32"/>
            <p:cNvSpPr txBox="1"/>
            <p:nvPr/>
          </p:nvSpPr>
          <p:spPr>
            <a:xfrm>
              <a:off x="4009517" y="4352449"/>
              <a:ext cx="134366" cy="676466"/>
            </a:xfrm>
            <a:prstGeom prst="rect">
              <a:avLst/>
            </a:prstGeom>
            <a:noFill/>
            <a:ln>
              <a:noFill/>
            </a:ln>
          </p:spPr>
          <p:txBody>
            <a:bodyPr wrap="none" lIns="0" tIns="0" rIns="0" bIns="0" anchor="t" anchorCtr="0">
              <a:spAutoFit/>
            </a:bodyPr>
            <a:lstStyle/>
            <a:p>
              <a:pPr algn="ctr">
                <a:lnSpc>
                  <a:spcPts val="1275"/>
                </a:lnSpc>
              </a:pPr>
              <a:r>
                <a:rPr lang="zh-CN" sz="980" b="1" dirty="0">
                  <a:solidFill>
                    <a:srgbClr val="523833"/>
                  </a:solidFill>
                  <a:latin typeface="+mn-lt"/>
                  <a:ea typeface="+mn-ea"/>
                  <a:cs typeface="+mn-cs"/>
                </a:rPr>
                <a:t>增</a:t>
              </a:r>
              <a:br/>
              <a:r>
                <a:rPr lang="zh-CN" sz="980" b="1" dirty="0">
                  <a:solidFill>
                    <a:srgbClr val="523833"/>
                  </a:solidFill>
                  <a:latin typeface="+mn-lt"/>
                  <a:ea typeface="+mn-ea"/>
                  <a:cs typeface="+mn-cs"/>
                </a:rPr>
                <a:t>长</a:t>
              </a:r>
              <a:br/>
              <a:r>
                <a:rPr lang="zh-CN" sz="980" b="1" dirty="0">
                  <a:solidFill>
                    <a:srgbClr val="523833"/>
                  </a:solidFill>
                  <a:latin typeface="+mn-lt"/>
                  <a:ea typeface="+mn-ea"/>
                  <a:cs typeface="+mn-cs"/>
                </a:rPr>
                <a:t>蓝</a:t>
              </a:r>
              <a:br/>
              <a:r>
                <a:rPr lang="zh-CN" sz="980" b="1" dirty="0">
                  <a:solidFill>
                    <a:srgbClr val="523833"/>
                  </a:solidFill>
                  <a:latin typeface="+mn-lt"/>
                  <a:ea typeface="+mn-ea"/>
                  <a:cs typeface="+mn-cs"/>
                </a:rPr>
                <a:t>海</a:t>
              </a:r>
            </a:p>
          </p:txBody>
        </p:sp>
      </p:grpSp>
      <p:grpSp>
        <p:nvGrpSpPr>
          <p:cNvPr id="66" name="leaders"/>
          <p:cNvGrpSpPr/>
          <p:nvPr/>
        </p:nvGrpSpPr>
        <p:grpSpPr>
          <a:xfrm>
            <a:off x="4471416" y="1334452"/>
            <a:ext cx="7244334" cy="1027510"/>
            <a:chOff x="4471416" y="1334452"/>
            <a:chExt cx="7244334" cy="1027510"/>
          </a:xfrm>
        </p:grpSpPr>
        <p:sp>
          <p:nvSpPr>
            <p:cNvPr id="34" name="TextBox 34"/>
            <p:cNvSpPr txBox="1"/>
            <p:nvPr/>
          </p:nvSpPr>
          <p:spPr>
            <a:xfrm>
              <a:off x="4471416" y="1334452"/>
              <a:ext cx="4392549" cy="205359"/>
            </a:xfrm>
            <a:prstGeom prst="rect">
              <a:avLst/>
            </a:prstGeom>
            <a:noFill/>
            <a:ln>
              <a:noFill/>
            </a:ln>
          </p:spPr>
          <p:txBody>
            <a:bodyPr wrap="none" lIns="0" tIns="0" rIns="0" bIns="0" anchor="t" anchorCtr="0">
              <a:spAutoFit/>
            </a:bodyPr>
            <a:lstStyle/>
            <a:p>
              <a:pPr algn="l"/>
              <a:r>
                <a:rPr lang="zh-CN" sz="1050" b="1" dirty="0">
                  <a:solidFill>
                    <a:srgbClr val="E74726"/>
                  </a:solidFill>
                  <a:latin typeface="+mn-lt"/>
                  <a:ea typeface="+mn-ea"/>
                  <a:cs typeface="+mn-cs"/>
                </a:rPr>
                <a:t>领先同业已经将长尾客群作为重点战略客群进行经营，筑牢零售基本盘</a:t>
              </a:r>
            </a:p>
          </p:txBody>
        </p:sp>
        <p:sp>
          <p:nvSpPr>
            <p:cNvPr id="35" name="TextBox 35"/>
            <p:cNvSpPr txBox="1"/>
            <p:nvPr/>
          </p:nvSpPr>
          <p:spPr>
            <a:xfrm>
              <a:off x="4471988" y="1636395"/>
              <a:ext cx="144301" cy="176212"/>
            </a:xfrm>
            <a:prstGeom prst="rect">
              <a:avLst/>
            </a:prstGeom>
            <a:noFill/>
            <a:ln>
              <a:noFill/>
            </a:ln>
          </p:spPr>
          <p:txBody>
            <a:bodyPr wrap="none" lIns="0" tIns="0" rIns="0" bIns="0" anchor="t" anchorCtr="0">
              <a:spAutoFit/>
            </a:bodyPr>
            <a:lstStyle/>
            <a:p>
              <a:pPr algn="l"/>
              <a:r>
                <a:rPr lang="zh-CN" sz="900" b="1" i="1" dirty="0">
                  <a:solidFill>
                    <a:srgbClr val="E74726"/>
                  </a:solidFill>
                  <a:latin typeface="+mj-lt"/>
                  <a:ea typeface="+mj-ea"/>
                  <a:cs typeface="+mj-cs"/>
                </a:rPr>
                <a:t>01</a:t>
              </a:r>
            </a:p>
          </p:txBody>
        </p:sp>
        <p:sp>
          <p:nvSpPr>
            <p:cNvPr id="36" name="Line 36"/>
            <p:cNvSpPr/>
            <p:nvPr/>
          </p:nvSpPr>
          <p:spPr>
            <a:xfrm>
              <a:off x="4476750" y="1809750"/>
              <a:ext cx="2286000" cy="9525"/>
            </a:xfrm>
            <a:custGeom>
              <a:avLst/>
              <a:gdLst/>
              <a:ahLst/>
              <a:cxnLst/>
              <a:rect l="l" t="t" r="r" b="b"/>
              <a:pathLst>
                <a:path w="2286000" h="9525">
                  <a:moveTo>
                    <a:pt x="0" y="0"/>
                  </a:moveTo>
                  <a:lnTo>
                    <a:pt x="2286000" y="0"/>
                  </a:lnTo>
                </a:path>
              </a:pathLst>
            </a:custGeom>
            <a:noFill/>
            <a:ln w="9525">
              <a:solidFill>
                <a:srgbClr val="F7D1C9"/>
              </a:solidFill>
            </a:ln>
          </p:spPr>
        </p:sp>
        <p:grpSp>
          <p:nvGrpSpPr>
            <p:cNvPr id="43" name="Group 43"/>
            <p:cNvGrpSpPr/>
            <p:nvPr/>
          </p:nvGrpSpPr>
          <p:grpSpPr>
            <a:xfrm>
              <a:off x="4543425" y="1990725"/>
              <a:ext cx="285751" cy="285751"/>
              <a:chOff x="4543425" y="1990725"/>
              <a:chExt cx="285751" cy="285751"/>
            </a:xfrm>
          </p:grpSpPr>
          <p:sp>
            <p:nvSpPr>
              <p:cNvPr id="37" name="Freeform 37"/>
              <p:cNvSpPr/>
              <p:nvPr/>
            </p:nvSpPr>
            <p:spPr>
              <a:xfrm>
                <a:off x="4654550" y="211772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31750">
                <a:solidFill>
                  <a:srgbClr val="F0745B"/>
                </a:solidFill>
              </a:ln>
            </p:spPr>
          </p:sp>
          <p:sp>
            <p:nvSpPr>
              <p:cNvPr id="38" name="Freeform 38"/>
              <p:cNvSpPr/>
              <p:nvPr/>
            </p:nvSpPr>
            <p:spPr>
              <a:xfrm>
                <a:off x="4622800" y="2228851"/>
                <a:ext cx="127000" cy="47625"/>
              </a:xfrm>
              <a:custGeom>
                <a:avLst/>
                <a:gdLst/>
                <a:ahLst/>
                <a:cxnLst/>
                <a:rect l="l" t="t" r="r" b="b"/>
                <a:pathLst>
                  <a:path w="127000" h="47625">
                    <a:moveTo>
                      <a:pt x="0" y="47625"/>
                    </a:moveTo>
                    <a:lnTo>
                      <a:pt x="0" y="31750"/>
                    </a:lnTo>
                    <a:cubicBezTo>
                      <a:pt x="0" y="14215"/>
                      <a:pt x="14215" y="0"/>
                      <a:pt x="31750" y="0"/>
                    </a:cubicBezTo>
                    <a:lnTo>
                      <a:pt x="95250" y="0"/>
                    </a:lnTo>
                    <a:cubicBezTo>
                      <a:pt x="112785" y="0"/>
                      <a:pt x="127000" y="14215"/>
                      <a:pt x="127000" y="31750"/>
                    </a:cubicBezTo>
                    <a:lnTo>
                      <a:pt x="127000" y="47625"/>
                    </a:lnTo>
                  </a:path>
                </a:pathLst>
              </a:custGeom>
              <a:noFill/>
              <a:ln w="31750">
                <a:solidFill>
                  <a:srgbClr val="F0745B"/>
                </a:solidFill>
              </a:ln>
            </p:spPr>
          </p:sp>
          <p:sp>
            <p:nvSpPr>
              <p:cNvPr id="39" name="Freeform 39"/>
              <p:cNvSpPr/>
              <p:nvPr/>
            </p:nvSpPr>
            <p:spPr>
              <a:xfrm>
                <a:off x="4733925" y="199072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31750">
                <a:solidFill>
                  <a:srgbClr val="F0745B"/>
                </a:solidFill>
              </a:ln>
            </p:spPr>
          </p:sp>
          <p:sp>
            <p:nvSpPr>
              <p:cNvPr id="40" name="Freeform 40"/>
              <p:cNvSpPr/>
              <p:nvPr/>
            </p:nvSpPr>
            <p:spPr>
              <a:xfrm>
                <a:off x="4765676" y="2101850"/>
                <a:ext cx="63500" cy="47625"/>
              </a:xfrm>
              <a:custGeom>
                <a:avLst/>
                <a:gdLst/>
                <a:ahLst/>
                <a:cxnLst/>
                <a:rect l="l" t="t" r="r" b="b"/>
                <a:pathLst>
                  <a:path w="63500" h="47625">
                    <a:moveTo>
                      <a:pt x="0" y="0"/>
                    </a:moveTo>
                    <a:lnTo>
                      <a:pt x="31750" y="0"/>
                    </a:lnTo>
                    <a:cubicBezTo>
                      <a:pt x="49285" y="0"/>
                      <a:pt x="63500" y="14215"/>
                      <a:pt x="63500" y="31750"/>
                    </a:cubicBezTo>
                    <a:lnTo>
                      <a:pt x="63500" y="47625"/>
                    </a:lnTo>
                  </a:path>
                </a:pathLst>
              </a:custGeom>
              <a:noFill/>
              <a:ln w="31750">
                <a:solidFill>
                  <a:srgbClr val="F0745B"/>
                </a:solidFill>
              </a:ln>
            </p:spPr>
          </p:sp>
          <p:sp>
            <p:nvSpPr>
              <p:cNvPr id="41" name="Freeform 41"/>
              <p:cNvSpPr/>
              <p:nvPr/>
            </p:nvSpPr>
            <p:spPr>
              <a:xfrm>
                <a:off x="4575175" y="199072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31750">
                <a:solidFill>
                  <a:srgbClr val="F0745B"/>
                </a:solidFill>
              </a:ln>
            </p:spPr>
          </p:sp>
          <p:sp>
            <p:nvSpPr>
              <p:cNvPr id="42" name="Freeform 42"/>
              <p:cNvSpPr/>
              <p:nvPr/>
            </p:nvSpPr>
            <p:spPr>
              <a:xfrm>
                <a:off x="4543425" y="2101850"/>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31750">
                <a:solidFill>
                  <a:srgbClr val="F0745B"/>
                </a:solidFill>
              </a:ln>
            </p:spPr>
          </p:sp>
        </p:grpSp>
        <p:sp>
          <p:nvSpPr>
            <p:cNvPr id="44" name="TextBox 44"/>
            <p:cNvSpPr txBox="1"/>
            <p:nvPr/>
          </p:nvSpPr>
          <p:spPr>
            <a:xfrm>
              <a:off x="4967288" y="2021443"/>
              <a:ext cx="1178834"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总行大众/长尾客群集​</a:t>
              </a:r>
            </a:p>
          </p:txBody>
        </p:sp>
        <p:sp>
          <p:nvSpPr>
            <p:cNvPr id="45" name="TextBox 45"/>
            <p:cNvSpPr txBox="1"/>
            <p:nvPr/>
          </p:nvSpPr>
          <p:spPr>
            <a:xfrm>
              <a:off x="4967288" y="2192893"/>
              <a:ext cx="1063061"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约化经营团队/部门​</a:t>
              </a:r>
            </a:p>
          </p:txBody>
        </p:sp>
        <p:sp>
          <p:nvSpPr>
            <p:cNvPr id="46" name="TextBox 46"/>
            <p:cNvSpPr txBox="1"/>
            <p:nvPr/>
          </p:nvSpPr>
          <p:spPr>
            <a:xfrm>
              <a:off x="6948488" y="1636395"/>
              <a:ext cx="144301" cy="176212"/>
            </a:xfrm>
            <a:prstGeom prst="rect">
              <a:avLst/>
            </a:prstGeom>
            <a:noFill/>
            <a:ln>
              <a:noFill/>
            </a:ln>
          </p:spPr>
          <p:txBody>
            <a:bodyPr wrap="none" lIns="0" tIns="0" rIns="0" bIns="0" anchor="t" anchorCtr="0">
              <a:spAutoFit/>
            </a:bodyPr>
            <a:lstStyle/>
            <a:p>
              <a:pPr algn="l"/>
              <a:r>
                <a:rPr lang="zh-CN" sz="900" b="1" i="1" dirty="0">
                  <a:solidFill>
                    <a:srgbClr val="E74726"/>
                  </a:solidFill>
                  <a:latin typeface="+mj-lt"/>
                  <a:ea typeface="+mj-ea"/>
                  <a:cs typeface="+mj-cs"/>
                </a:rPr>
                <a:t>02</a:t>
              </a:r>
            </a:p>
          </p:txBody>
        </p:sp>
        <p:sp>
          <p:nvSpPr>
            <p:cNvPr id="47" name="Line 47"/>
            <p:cNvSpPr/>
            <p:nvPr/>
          </p:nvSpPr>
          <p:spPr>
            <a:xfrm>
              <a:off x="6953250" y="1809750"/>
              <a:ext cx="2286000" cy="9525"/>
            </a:xfrm>
            <a:custGeom>
              <a:avLst/>
              <a:gdLst/>
              <a:ahLst/>
              <a:cxnLst/>
              <a:rect l="l" t="t" r="r" b="b"/>
              <a:pathLst>
                <a:path w="2286000" h="9525">
                  <a:moveTo>
                    <a:pt x="0" y="0"/>
                  </a:moveTo>
                  <a:lnTo>
                    <a:pt x="2286000" y="0"/>
                  </a:lnTo>
                </a:path>
              </a:pathLst>
            </a:custGeom>
            <a:noFill/>
            <a:ln w="9525">
              <a:solidFill>
                <a:srgbClr val="F7D1C9"/>
              </a:solidFill>
            </a:ln>
          </p:spPr>
        </p:sp>
        <p:grpSp>
          <p:nvGrpSpPr>
            <p:cNvPr id="53" name="Group 53"/>
            <p:cNvGrpSpPr/>
            <p:nvPr/>
          </p:nvGrpSpPr>
          <p:grpSpPr>
            <a:xfrm>
              <a:off x="7019925" y="1990725"/>
              <a:ext cx="285750" cy="285750"/>
              <a:chOff x="7019925" y="1990725"/>
              <a:chExt cx="285750" cy="285750"/>
            </a:xfrm>
          </p:grpSpPr>
          <p:sp>
            <p:nvSpPr>
              <p:cNvPr id="48" name="Freeform 48"/>
              <p:cNvSpPr/>
              <p:nvPr/>
            </p:nvSpPr>
            <p:spPr>
              <a:xfrm>
                <a:off x="7019925" y="2181225"/>
                <a:ext cx="95250" cy="95250"/>
              </a:xfrm>
              <a:custGeom>
                <a:avLst/>
                <a:gdLst/>
                <a:ahLst/>
                <a:cxnLst/>
                <a:rect l="l" t="t" r="r" b="b"/>
                <a:pathLst>
                  <a:path w="95250" h="95250">
                    <a:moveTo>
                      <a:pt x="0" y="31750"/>
                    </a:moveTo>
                    <a:cubicBezTo>
                      <a:pt x="0" y="14215"/>
                      <a:pt x="14215" y="0"/>
                      <a:pt x="31750" y="0"/>
                    </a:cubicBezTo>
                    <a:lnTo>
                      <a:pt x="63500" y="0"/>
                    </a:lnTo>
                    <a:cubicBezTo>
                      <a:pt x="81035" y="0"/>
                      <a:pt x="95250" y="14215"/>
                      <a:pt x="95250" y="31750"/>
                    </a:cubicBezTo>
                    <a:lnTo>
                      <a:pt x="95250" y="63500"/>
                    </a:lnTo>
                    <a:cubicBezTo>
                      <a:pt x="95250" y="81035"/>
                      <a:pt x="81035" y="95250"/>
                      <a:pt x="63500" y="95250"/>
                    </a:cubicBezTo>
                    <a:lnTo>
                      <a:pt x="31750" y="95250"/>
                    </a:lnTo>
                    <a:cubicBezTo>
                      <a:pt x="14215" y="95250"/>
                      <a:pt x="0" y="81035"/>
                      <a:pt x="0" y="63500"/>
                    </a:cubicBezTo>
                    <a:lnTo>
                      <a:pt x="0" y="31750"/>
                    </a:lnTo>
                  </a:path>
                </a:pathLst>
              </a:custGeom>
              <a:noFill/>
              <a:ln w="31750">
                <a:solidFill>
                  <a:srgbClr val="F0745B"/>
                </a:solidFill>
              </a:ln>
            </p:spPr>
          </p:sp>
          <p:sp>
            <p:nvSpPr>
              <p:cNvPr id="49" name="Freeform 49"/>
              <p:cNvSpPr/>
              <p:nvPr/>
            </p:nvSpPr>
            <p:spPr>
              <a:xfrm>
                <a:off x="7210425" y="2181225"/>
                <a:ext cx="95250" cy="95250"/>
              </a:xfrm>
              <a:custGeom>
                <a:avLst/>
                <a:gdLst/>
                <a:ahLst/>
                <a:cxnLst/>
                <a:rect l="l" t="t" r="r" b="b"/>
                <a:pathLst>
                  <a:path w="95250" h="95250">
                    <a:moveTo>
                      <a:pt x="0" y="31750"/>
                    </a:moveTo>
                    <a:cubicBezTo>
                      <a:pt x="0" y="14215"/>
                      <a:pt x="14215" y="0"/>
                      <a:pt x="31750" y="0"/>
                    </a:cubicBezTo>
                    <a:lnTo>
                      <a:pt x="63500" y="0"/>
                    </a:lnTo>
                    <a:cubicBezTo>
                      <a:pt x="81035" y="0"/>
                      <a:pt x="95250" y="14215"/>
                      <a:pt x="95250" y="31750"/>
                    </a:cubicBezTo>
                    <a:lnTo>
                      <a:pt x="95250" y="63500"/>
                    </a:lnTo>
                    <a:cubicBezTo>
                      <a:pt x="95250" y="81035"/>
                      <a:pt x="81035" y="95250"/>
                      <a:pt x="63500" y="95250"/>
                    </a:cubicBezTo>
                    <a:lnTo>
                      <a:pt x="31750" y="95250"/>
                    </a:lnTo>
                    <a:cubicBezTo>
                      <a:pt x="14215" y="95250"/>
                      <a:pt x="0" y="81035"/>
                      <a:pt x="0" y="63500"/>
                    </a:cubicBezTo>
                    <a:lnTo>
                      <a:pt x="0" y="31750"/>
                    </a:lnTo>
                  </a:path>
                </a:pathLst>
              </a:custGeom>
              <a:noFill/>
              <a:ln w="31750">
                <a:solidFill>
                  <a:srgbClr val="F0745B"/>
                </a:solidFill>
              </a:ln>
            </p:spPr>
          </p:sp>
          <p:sp>
            <p:nvSpPr>
              <p:cNvPr id="50" name="Freeform 50"/>
              <p:cNvSpPr/>
              <p:nvPr/>
            </p:nvSpPr>
            <p:spPr>
              <a:xfrm>
                <a:off x="7115175" y="1990725"/>
                <a:ext cx="95250" cy="95250"/>
              </a:xfrm>
              <a:custGeom>
                <a:avLst/>
                <a:gdLst/>
                <a:ahLst/>
                <a:cxnLst/>
                <a:rect l="l" t="t" r="r" b="b"/>
                <a:pathLst>
                  <a:path w="95250" h="95250">
                    <a:moveTo>
                      <a:pt x="0" y="31750"/>
                    </a:moveTo>
                    <a:cubicBezTo>
                      <a:pt x="0" y="14215"/>
                      <a:pt x="14215" y="0"/>
                      <a:pt x="31750" y="0"/>
                    </a:cubicBezTo>
                    <a:lnTo>
                      <a:pt x="63500" y="0"/>
                    </a:lnTo>
                    <a:cubicBezTo>
                      <a:pt x="81035" y="0"/>
                      <a:pt x="95250" y="14215"/>
                      <a:pt x="95250" y="31750"/>
                    </a:cubicBezTo>
                    <a:lnTo>
                      <a:pt x="95250" y="63500"/>
                    </a:lnTo>
                    <a:cubicBezTo>
                      <a:pt x="95250" y="81035"/>
                      <a:pt x="81035" y="95250"/>
                      <a:pt x="63500" y="95250"/>
                    </a:cubicBezTo>
                    <a:lnTo>
                      <a:pt x="31750" y="95250"/>
                    </a:lnTo>
                    <a:cubicBezTo>
                      <a:pt x="14215" y="95250"/>
                      <a:pt x="0" y="81035"/>
                      <a:pt x="0" y="63500"/>
                    </a:cubicBezTo>
                    <a:lnTo>
                      <a:pt x="0" y="31750"/>
                    </a:lnTo>
                  </a:path>
                </a:pathLst>
              </a:custGeom>
              <a:noFill/>
              <a:ln w="31750">
                <a:solidFill>
                  <a:srgbClr val="F0745B"/>
                </a:solidFill>
              </a:ln>
            </p:spPr>
          </p:sp>
          <p:sp>
            <p:nvSpPr>
              <p:cNvPr id="51" name="Freeform 51"/>
              <p:cNvSpPr/>
              <p:nvPr/>
            </p:nvSpPr>
            <p:spPr>
              <a:xfrm>
                <a:off x="7067550" y="2133600"/>
                <a:ext cx="190500" cy="47625"/>
              </a:xfrm>
              <a:custGeom>
                <a:avLst/>
                <a:gdLst/>
                <a:ahLst/>
                <a:cxnLst/>
                <a:rect l="l" t="t" r="r" b="b"/>
                <a:pathLst>
                  <a:path w="190500" h="47625">
                    <a:moveTo>
                      <a:pt x="0" y="47625"/>
                    </a:moveTo>
                    <a:lnTo>
                      <a:pt x="0" y="31750"/>
                    </a:lnTo>
                    <a:cubicBezTo>
                      <a:pt x="0" y="14215"/>
                      <a:pt x="14215" y="0"/>
                      <a:pt x="31750" y="0"/>
                    </a:cubicBezTo>
                    <a:lnTo>
                      <a:pt x="158750" y="0"/>
                    </a:lnTo>
                    <a:cubicBezTo>
                      <a:pt x="176285" y="0"/>
                      <a:pt x="190500" y="14215"/>
                      <a:pt x="190500" y="31750"/>
                    </a:cubicBezTo>
                    <a:lnTo>
                      <a:pt x="190500" y="47625"/>
                    </a:lnTo>
                  </a:path>
                </a:pathLst>
              </a:custGeom>
              <a:noFill/>
              <a:ln w="31750">
                <a:solidFill>
                  <a:srgbClr val="F0745B"/>
                </a:solidFill>
              </a:ln>
            </p:spPr>
          </p:sp>
          <p:sp>
            <p:nvSpPr>
              <p:cNvPr id="52" name="Freeform 52"/>
              <p:cNvSpPr/>
              <p:nvPr/>
            </p:nvSpPr>
            <p:spPr>
              <a:xfrm>
                <a:off x="7162800" y="2085975"/>
                <a:ext cx="9525" cy="47625"/>
              </a:xfrm>
              <a:custGeom>
                <a:avLst/>
                <a:gdLst/>
                <a:ahLst/>
                <a:cxnLst/>
                <a:rect l="l" t="t" r="r" b="b"/>
                <a:pathLst>
                  <a:path w="9525" h="47625">
                    <a:moveTo>
                      <a:pt x="0" y="0"/>
                    </a:moveTo>
                    <a:lnTo>
                      <a:pt x="0" y="47625"/>
                    </a:lnTo>
                  </a:path>
                </a:pathLst>
              </a:custGeom>
              <a:noFill/>
              <a:ln w="31750">
                <a:solidFill>
                  <a:srgbClr val="F0745B"/>
                </a:solidFill>
              </a:ln>
            </p:spPr>
          </p:sp>
        </p:grpSp>
        <p:sp>
          <p:nvSpPr>
            <p:cNvPr id="54" name="TextBox 54"/>
            <p:cNvSpPr txBox="1"/>
            <p:nvPr/>
          </p:nvSpPr>
          <p:spPr>
            <a:xfrm>
              <a:off x="7443788" y="2021443"/>
              <a:ext cx="935711"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全周期数字化分层</a:t>
              </a:r>
            </a:p>
          </p:txBody>
        </p:sp>
        <p:sp>
          <p:nvSpPr>
            <p:cNvPr id="55" name="TextBox 55"/>
            <p:cNvSpPr txBox="1"/>
            <p:nvPr/>
          </p:nvSpPr>
          <p:spPr>
            <a:xfrm>
              <a:off x="7443788" y="2192893"/>
              <a:ext cx="704164"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分群经营体系</a:t>
              </a:r>
            </a:p>
          </p:txBody>
        </p:sp>
        <p:sp>
          <p:nvSpPr>
            <p:cNvPr id="56" name="TextBox 56"/>
            <p:cNvSpPr txBox="1"/>
            <p:nvPr/>
          </p:nvSpPr>
          <p:spPr>
            <a:xfrm>
              <a:off x="9424988" y="1636395"/>
              <a:ext cx="144301" cy="176212"/>
            </a:xfrm>
            <a:prstGeom prst="rect">
              <a:avLst/>
            </a:prstGeom>
            <a:noFill/>
            <a:ln>
              <a:noFill/>
            </a:ln>
          </p:spPr>
          <p:txBody>
            <a:bodyPr wrap="none" lIns="0" tIns="0" rIns="0" bIns="0" anchor="t" anchorCtr="0">
              <a:spAutoFit/>
            </a:bodyPr>
            <a:lstStyle/>
            <a:p>
              <a:pPr algn="l"/>
              <a:r>
                <a:rPr lang="zh-CN" sz="900" b="1" i="1" dirty="0">
                  <a:solidFill>
                    <a:srgbClr val="E74726"/>
                  </a:solidFill>
                  <a:latin typeface="+mj-lt"/>
                  <a:ea typeface="+mj-ea"/>
                  <a:cs typeface="+mj-cs"/>
                </a:rPr>
                <a:t>03</a:t>
              </a:r>
            </a:p>
          </p:txBody>
        </p:sp>
        <p:sp>
          <p:nvSpPr>
            <p:cNvPr id="57" name="Line 57"/>
            <p:cNvSpPr/>
            <p:nvPr/>
          </p:nvSpPr>
          <p:spPr>
            <a:xfrm>
              <a:off x="9429750" y="1809750"/>
              <a:ext cx="2286000" cy="9525"/>
            </a:xfrm>
            <a:custGeom>
              <a:avLst/>
              <a:gdLst/>
              <a:ahLst/>
              <a:cxnLst/>
              <a:rect l="l" t="t" r="r" b="b"/>
              <a:pathLst>
                <a:path w="2286000" h="9525">
                  <a:moveTo>
                    <a:pt x="0" y="0"/>
                  </a:moveTo>
                  <a:lnTo>
                    <a:pt x="2286000" y="0"/>
                  </a:lnTo>
                </a:path>
              </a:pathLst>
            </a:custGeom>
            <a:noFill/>
            <a:ln w="9525">
              <a:solidFill>
                <a:srgbClr val="F7D1C9"/>
              </a:solidFill>
            </a:ln>
          </p:spPr>
        </p:sp>
        <p:grpSp>
          <p:nvGrpSpPr>
            <p:cNvPr id="63" name="Group 63"/>
            <p:cNvGrpSpPr/>
            <p:nvPr/>
          </p:nvGrpSpPr>
          <p:grpSpPr>
            <a:xfrm>
              <a:off x="9528175" y="1990725"/>
              <a:ext cx="222250" cy="285751"/>
              <a:chOff x="9528175" y="1990725"/>
              <a:chExt cx="222250" cy="285751"/>
            </a:xfrm>
          </p:grpSpPr>
          <p:sp>
            <p:nvSpPr>
              <p:cNvPr id="58" name="Freeform 58"/>
              <p:cNvSpPr/>
              <p:nvPr/>
            </p:nvSpPr>
            <p:spPr>
              <a:xfrm>
                <a:off x="9671050" y="19907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31750">
                <a:solidFill>
                  <a:srgbClr val="F0745B"/>
                </a:solidFill>
              </a:ln>
            </p:spPr>
          </p:sp>
          <p:sp>
            <p:nvSpPr>
              <p:cNvPr id="59" name="Freeform 59"/>
              <p:cNvSpPr/>
              <p:nvPr/>
            </p:nvSpPr>
            <p:spPr>
              <a:xfrm>
                <a:off x="9528175" y="1990725"/>
                <a:ext cx="222250" cy="285751"/>
              </a:xfrm>
              <a:custGeom>
                <a:avLst/>
                <a:gdLst/>
                <a:ahLst/>
                <a:cxnLst/>
                <a:rect l="l" t="t" r="r" b="b"/>
                <a:pathLst>
                  <a:path w="222250" h="285751">
                    <a:moveTo>
                      <a:pt x="190500" y="285751"/>
                    </a:moveTo>
                    <a:lnTo>
                      <a:pt x="31750" y="285751"/>
                    </a:lnTo>
                    <a:cubicBezTo>
                      <a:pt x="14215" y="285751"/>
                      <a:pt x="0" y="271536"/>
                      <a:pt x="0" y="254001"/>
                    </a:cubicBezTo>
                    <a:lnTo>
                      <a:pt x="0" y="31750"/>
                    </a:lnTo>
                    <a:cubicBezTo>
                      <a:pt x="0" y="14215"/>
                      <a:pt x="14215" y="0"/>
                      <a:pt x="31750" y="0"/>
                    </a:cubicBezTo>
                    <a:lnTo>
                      <a:pt x="142875" y="0"/>
                    </a:lnTo>
                    <a:lnTo>
                      <a:pt x="222250" y="79375"/>
                    </a:lnTo>
                    <a:lnTo>
                      <a:pt x="222250" y="254001"/>
                    </a:lnTo>
                    <a:cubicBezTo>
                      <a:pt x="222250" y="271536"/>
                      <a:pt x="208035" y="285751"/>
                      <a:pt x="190500" y="285751"/>
                    </a:cubicBezTo>
                  </a:path>
                </a:pathLst>
              </a:custGeom>
              <a:noFill/>
              <a:ln w="31750">
                <a:solidFill>
                  <a:srgbClr val="F0745B"/>
                </a:solidFill>
              </a:ln>
            </p:spPr>
          </p:sp>
          <p:sp>
            <p:nvSpPr>
              <p:cNvPr id="60" name="Freeform 60"/>
              <p:cNvSpPr/>
              <p:nvPr/>
            </p:nvSpPr>
            <p:spPr>
              <a:xfrm>
                <a:off x="9591675" y="2085975"/>
                <a:ext cx="15875" cy="9525"/>
              </a:xfrm>
              <a:custGeom>
                <a:avLst/>
                <a:gdLst/>
                <a:ahLst/>
                <a:cxnLst/>
                <a:rect l="l" t="t" r="r" b="b"/>
                <a:pathLst>
                  <a:path w="15875" h="9525">
                    <a:moveTo>
                      <a:pt x="0" y="0"/>
                    </a:moveTo>
                    <a:lnTo>
                      <a:pt x="15875" y="0"/>
                    </a:lnTo>
                  </a:path>
                </a:pathLst>
              </a:custGeom>
              <a:noFill/>
              <a:ln w="31750">
                <a:solidFill>
                  <a:srgbClr val="F0745B"/>
                </a:solidFill>
              </a:ln>
            </p:spPr>
          </p:sp>
          <p:sp>
            <p:nvSpPr>
              <p:cNvPr id="61" name="Freeform 61"/>
              <p:cNvSpPr/>
              <p:nvPr/>
            </p:nvSpPr>
            <p:spPr>
              <a:xfrm>
                <a:off x="9591675" y="2149475"/>
                <a:ext cx="95250" cy="9525"/>
              </a:xfrm>
              <a:custGeom>
                <a:avLst/>
                <a:gdLst/>
                <a:ahLst/>
                <a:cxnLst/>
                <a:rect l="l" t="t" r="r" b="b"/>
                <a:pathLst>
                  <a:path w="95250" h="9525">
                    <a:moveTo>
                      <a:pt x="0" y="0"/>
                    </a:moveTo>
                    <a:lnTo>
                      <a:pt x="95250" y="0"/>
                    </a:lnTo>
                  </a:path>
                </a:pathLst>
              </a:custGeom>
              <a:noFill/>
              <a:ln w="31750">
                <a:solidFill>
                  <a:srgbClr val="F0745B"/>
                </a:solidFill>
              </a:ln>
            </p:spPr>
          </p:sp>
          <p:sp>
            <p:nvSpPr>
              <p:cNvPr id="62" name="Freeform 62"/>
              <p:cNvSpPr/>
              <p:nvPr/>
            </p:nvSpPr>
            <p:spPr>
              <a:xfrm>
                <a:off x="9591675" y="2212976"/>
                <a:ext cx="95250" cy="9525"/>
              </a:xfrm>
              <a:custGeom>
                <a:avLst/>
                <a:gdLst/>
                <a:ahLst/>
                <a:cxnLst/>
                <a:rect l="l" t="t" r="r" b="b"/>
                <a:pathLst>
                  <a:path w="95250" h="9525">
                    <a:moveTo>
                      <a:pt x="0" y="0"/>
                    </a:moveTo>
                    <a:lnTo>
                      <a:pt x="95250" y="0"/>
                    </a:lnTo>
                  </a:path>
                </a:pathLst>
              </a:custGeom>
              <a:noFill/>
              <a:ln w="31750">
                <a:solidFill>
                  <a:srgbClr val="F0745B"/>
                </a:solidFill>
              </a:ln>
            </p:spPr>
          </p:sp>
        </p:grpSp>
        <p:sp>
          <p:nvSpPr>
            <p:cNvPr id="64" name="TextBox 64"/>
            <p:cNvSpPr txBox="1"/>
            <p:nvPr/>
          </p:nvSpPr>
          <p:spPr>
            <a:xfrm>
              <a:off x="9920288" y="2021443"/>
              <a:ext cx="819937"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经营能力、支撑</a:t>
              </a:r>
            </a:p>
          </p:txBody>
        </p:sp>
        <p:sp>
          <p:nvSpPr>
            <p:cNvPr id="65" name="TextBox 65"/>
            <p:cNvSpPr txBox="1"/>
            <p:nvPr/>
          </p:nvSpPr>
          <p:spPr>
            <a:xfrm>
              <a:off x="9920288" y="2192893"/>
              <a:ext cx="819937"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能力、协同能力</a:t>
              </a:r>
            </a:p>
          </p:txBody>
        </p:sp>
      </p:grpSp>
      <p:grpSp>
        <p:nvGrpSpPr>
          <p:cNvPr id="74" name="opportunity-banner"/>
          <p:cNvGrpSpPr/>
          <p:nvPr/>
        </p:nvGrpSpPr>
        <p:grpSpPr>
          <a:xfrm>
            <a:off x="4457700" y="2590800"/>
            <a:ext cx="7258050" cy="342900"/>
            <a:chOff x="4457700" y="2590800"/>
            <a:chExt cx="7258050" cy="342900"/>
          </a:xfrm>
        </p:grpSpPr>
        <p:sp>
          <p:nvSpPr>
            <p:cNvPr id="67" name="Rectangle 67"/>
            <p:cNvSpPr/>
            <p:nvPr/>
          </p:nvSpPr>
          <p:spPr>
            <a:xfrm>
              <a:off x="4457700" y="2590800"/>
              <a:ext cx="7258050" cy="342900"/>
            </a:xfrm>
            <a:prstGeom prst="roundRect">
              <a:avLst>
                <a:gd name="adj" fmla="val 22222"/>
              </a:avLst>
            </a:prstGeom>
            <a:gradFill>
              <a:gsLst>
                <a:gs pos="0">
                  <a:srgbClr val="F0745B"/>
                </a:gs>
                <a:gs pos="100000">
                  <a:srgbClr val="B8351A"/>
                </a:gs>
              </a:gsLst>
              <a:lin ang="0" scaled="1"/>
            </a:gradFill>
            <a:ln>
              <a:noFill/>
            </a:ln>
          </p:spPr>
        </p:sp>
        <p:sp>
          <p:nvSpPr>
            <p:cNvPr id="68" name="TextBox 68"/>
            <p:cNvSpPr txBox="1"/>
            <p:nvPr/>
          </p:nvSpPr>
          <p:spPr>
            <a:xfrm>
              <a:off x="6418896" y="2706052"/>
              <a:ext cx="316420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机遇：通过数字化经营实现长尾客群“聚沙成塔”​​</a:t>
              </a:r>
            </a:p>
          </p:txBody>
        </p:sp>
        <p:grpSp>
          <p:nvGrpSpPr>
            <p:cNvPr id="73" name="Group 73"/>
            <p:cNvGrpSpPr/>
            <p:nvPr/>
          </p:nvGrpSpPr>
          <p:grpSpPr>
            <a:xfrm>
              <a:off x="11325225" y="2686050"/>
              <a:ext cx="171450" cy="161925"/>
              <a:chOff x="11325225" y="2686050"/>
              <a:chExt cx="171450" cy="161925"/>
            </a:xfrm>
          </p:grpSpPr>
          <p:sp>
            <p:nvSpPr>
              <p:cNvPr id="69" name="Freeform 69"/>
              <p:cNvSpPr/>
              <p:nvPr/>
            </p:nvSpPr>
            <p:spPr>
              <a:xfrm>
                <a:off x="11325225" y="27622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70" name="Freeform 70"/>
              <p:cNvSpPr/>
              <p:nvPr/>
            </p:nvSpPr>
            <p:spPr>
              <a:xfrm>
                <a:off x="11439525" y="27241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71" name="Freeform 71"/>
              <p:cNvSpPr/>
              <p:nvPr/>
            </p:nvSpPr>
            <p:spPr>
              <a:xfrm>
                <a:off x="11382375" y="26860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72" name="Freeform 72"/>
              <p:cNvSpPr/>
              <p:nvPr/>
            </p:nvSpPr>
            <p:spPr>
              <a:xfrm>
                <a:off x="11334750" y="2838450"/>
                <a:ext cx="133350" cy="9525"/>
              </a:xfrm>
              <a:custGeom>
                <a:avLst/>
                <a:gdLst/>
                <a:ahLst/>
                <a:cxnLst/>
                <a:rect l="l" t="t" r="r" b="b"/>
                <a:pathLst>
                  <a:path w="133350" h="9525">
                    <a:moveTo>
                      <a:pt x="0" y="0"/>
                    </a:moveTo>
                    <a:lnTo>
                      <a:pt x="133350" y="0"/>
                    </a:lnTo>
                  </a:path>
                </a:pathLst>
              </a:custGeom>
              <a:noFill/>
              <a:ln w="19050">
                <a:solidFill>
                  <a:srgbClr val="FFFFFF"/>
                </a:solidFill>
              </a:ln>
            </p:spPr>
          </p:sp>
        </p:grpSp>
      </p:grpSp>
      <p:grpSp>
        <p:nvGrpSpPr>
          <p:cNvPr id="100" name="points"/>
          <p:cNvGrpSpPr/>
          <p:nvPr/>
        </p:nvGrpSpPr>
        <p:grpSpPr>
          <a:xfrm>
            <a:off x="4495800" y="3162300"/>
            <a:ext cx="5716715" cy="2355532"/>
            <a:chOff x="4495800" y="3162300"/>
            <a:chExt cx="5716715" cy="2355532"/>
          </a:xfrm>
        </p:grpSpPr>
        <p:sp>
          <p:nvSpPr>
            <p:cNvPr id="75" name="Ellipse 75"/>
            <p:cNvSpPr/>
            <p:nvPr/>
          </p:nvSpPr>
          <p:spPr>
            <a:xfrm>
              <a:off x="4495800" y="3162300"/>
              <a:ext cx="266700" cy="266700"/>
            </a:xfrm>
            <a:prstGeom prst="ellipse">
              <a:avLst/>
            </a:prstGeom>
            <a:solidFill>
              <a:srgbClr val="DCE8FB"/>
            </a:solidFill>
            <a:ln>
              <a:noFill/>
            </a:ln>
          </p:spPr>
        </p:sp>
        <p:grpSp>
          <p:nvGrpSpPr>
            <p:cNvPr id="78" name="Group 78"/>
            <p:cNvGrpSpPr/>
            <p:nvPr/>
          </p:nvGrpSpPr>
          <p:grpSpPr>
            <a:xfrm>
              <a:off x="4564856" y="3259931"/>
              <a:ext cx="128588" cy="71438"/>
              <a:chOff x="4564856" y="3259931"/>
              <a:chExt cx="128588" cy="71438"/>
            </a:xfrm>
          </p:grpSpPr>
          <p:sp>
            <p:nvSpPr>
              <p:cNvPr id="76" name="Freeform 76"/>
              <p:cNvSpPr/>
              <p:nvPr/>
            </p:nvSpPr>
            <p:spPr>
              <a:xfrm>
                <a:off x="4564856" y="3259931"/>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E74726"/>
                </a:solidFill>
              </a:ln>
            </p:spPr>
          </p:sp>
          <p:sp>
            <p:nvSpPr>
              <p:cNvPr id="77" name="Freeform 77"/>
              <p:cNvSpPr/>
              <p:nvPr/>
            </p:nvSpPr>
            <p:spPr>
              <a:xfrm>
                <a:off x="4643438" y="3259931"/>
                <a:ext cx="50006" cy="50006"/>
              </a:xfrm>
              <a:custGeom>
                <a:avLst/>
                <a:gdLst/>
                <a:ahLst/>
                <a:cxnLst/>
                <a:rect l="l" t="t" r="r" b="b"/>
                <a:pathLst>
                  <a:path w="50006" h="50006">
                    <a:moveTo>
                      <a:pt x="0" y="0"/>
                    </a:moveTo>
                    <a:lnTo>
                      <a:pt x="50006" y="0"/>
                    </a:lnTo>
                    <a:lnTo>
                      <a:pt x="50006" y="50006"/>
                    </a:lnTo>
                  </a:path>
                </a:pathLst>
              </a:custGeom>
              <a:noFill/>
              <a:ln w="14288">
                <a:solidFill>
                  <a:srgbClr val="E74726"/>
                </a:solidFill>
              </a:ln>
            </p:spPr>
          </p:sp>
        </p:grpSp>
        <p:sp>
          <p:nvSpPr>
            <p:cNvPr id="79" name="TextBox 79"/>
            <p:cNvSpPr txBox="1"/>
            <p:nvPr/>
          </p:nvSpPr>
          <p:spPr>
            <a:xfrm>
              <a:off x="4871847" y="3238024"/>
              <a:ext cx="2120748" cy="190690"/>
            </a:xfrm>
            <a:prstGeom prst="rect">
              <a:avLst/>
            </a:prstGeom>
            <a:noFill/>
            <a:ln>
              <a:noFill/>
            </a:ln>
          </p:spPr>
          <p:txBody>
            <a:bodyPr wrap="none" lIns="0" tIns="0" rIns="0" bIns="0" anchor="t" anchorCtr="0">
              <a:spAutoFit/>
            </a:bodyPr>
            <a:lstStyle/>
            <a:p>
              <a:pPr algn="l"/>
              <a:r>
                <a:rPr lang="zh-CN" sz="980" b="1" dirty="0">
                  <a:solidFill>
                    <a:srgbClr val="E74726"/>
                  </a:solidFill>
                  <a:latin typeface="+mn-lt"/>
                  <a:ea typeface="+mn-ea"/>
                  <a:cs typeface="+mn-cs"/>
                </a:rPr>
                <a:t>数字化赋能，提高长尾客群经营质效</a:t>
              </a:r>
            </a:p>
          </p:txBody>
        </p:sp>
        <p:sp>
          <p:nvSpPr>
            <p:cNvPr id="80" name="TextBox 80"/>
            <p:cNvSpPr txBox="1"/>
            <p:nvPr/>
          </p:nvSpPr>
          <p:spPr>
            <a:xfrm>
              <a:off x="4872038" y="3474720"/>
              <a:ext cx="5340477" cy="176212"/>
            </a:xfrm>
            <a:prstGeom prst="rect">
              <a:avLst/>
            </a:prstGeom>
            <a:noFill/>
            <a:ln>
              <a:noFill/>
            </a:ln>
          </p:spPr>
          <p:txBody>
            <a:bodyPr wrap="none" lIns="0" tIns="0" rIns="0" bIns="0" anchor="t" anchorCtr="0">
              <a:spAutoFit/>
            </a:bodyPr>
            <a:lstStyle/>
            <a:p>
              <a:pPr algn="l"/>
              <a:r>
                <a:rPr lang="zh-CN" sz="900" dirty="0">
                  <a:solidFill>
                    <a:srgbClr val="523833"/>
                  </a:solidFill>
                  <a:latin typeface="+mn-lt"/>
                  <a:ea typeface="+mn-ea"/>
                  <a:cs typeface="+mn-cs"/>
                </a:rPr>
                <a:t>庞大基数形成的聚合效应，结合数字化运营降低的边际成本，可对冲头部客户增长放缓的利润缺口，</a:t>
              </a:r>
            </a:p>
          </p:txBody>
        </p:sp>
        <p:sp>
          <p:nvSpPr>
            <p:cNvPr id="81" name="TextBox 81"/>
            <p:cNvSpPr txBox="1"/>
            <p:nvPr/>
          </p:nvSpPr>
          <p:spPr>
            <a:xfrm>
              <a:off x="4872038" y="3665220"/>
              <a:ext cx="1099947" cy="176212"/>
            </a:xfrm>
            <a:prstGeom prst="rect">
              <a:avLst/>
            </a:prstGeom>
            <a:noFill/>
            <a:ln>
              <a:noFill/>
            </a:ln>
          </p:spPr>
          <p:txBody>
            <a:bodyPr wrap="none" lIns="0" tIns="0" rIns="0" bIns="0" anchor="t" anchorCtr="0">
              <a:spAutoFit/>
            </a:bodyPr>
            <a:lstStyle/>
            <a:p>
              <a:pPr algn="l"/>
              <a:r>
                <a:rPr lang="zh-CN" sz="900" dirty="0">
                  <a:solidFill>
                    <a:srgbClr val="523833"/>
                  </a:solidFill>
                  <a:latin typeface="+mn-lt"/>
                  <a:ea typeface="+mn-ea"/>
                  <a:cs typeface="+mn-cs"/>
                </a:rPr>
                <a:t>成为新盈利增长点。</a:t>
              </a:r>
            </a:p>
          </p:txBody>
        </p:sp>
        <p:sp>
          <p:nvSpPr>
            <p:cNvPr id="82" name="Ellipse 82"/>
            <p:cNvSpPr/>
            <p:nvPr/>
          </p:nvSpPr>
          <p:spPr>
            <a:xfrm>
              <a:off x="4495800" y="4057650"/>
              <a:ext cx="266700" cy="266700"/>
            </a:xfrm>
            <a:prstGeom prst="ellipse">
              <a:avLst/>
            </a:prstGeom>
            <a:solidFill>
              <a:srgbClr val="DCE8FB"/>
            </a:solidFill>
            <a:ln>
              <a:noFill/>
            </a:ln>
          </p:spPr>
        </p:sp>
        <p:grpSp>
          <p:nvGrpSpPr>
            <p:cNvPr id="87" name="Group 87"/>
            <p:cNvGrpSpPr/>
            <p:nvPr/>
          </p:nvGrpSpPr>
          <p:grpSpPr>
            <a:xfrm>
              <a:off x="4564856" y="4126706"/>
              <a:ext cx="128587" cy="128588"/>
              <a:chOff x="4564856" y="4126706"/>
              <a:chExt cx="128587" cy="128588"/>
            </a:xfrm>
          </p:grpSpPr>
          <p:sp>
            <p:nvSpPr>
              <p:cNvPr id="83" name="Freeform 83"/>
              <p:cNvSpPr/>
              <p:nvPr/>
            </p:nvSpPr>
            <p:spPr>
              <a:xfrm>
                <a:off x="4579144" y="41267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E74726"/>
                </a:solidFill>
              </a:ln>
            </p:spPr>
          </p:sp>
          <p:sp>
            <p:nvSpPr>
              <p:cNvPr id="84" name="Freeform 84"/>
              <p:cNvSpPr/>
              <p:nvPr/>
            </p:nvSpPr>
            <p:spPr>
              <a:xfrm>
                <a:off x="4564856" y="42124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E74726"/>
                </a:solidFill>
              </a:ln>
            </p:spPr>
          </p:sp>
          <p:sp>
            <p:nvSpPr>
              <p:cNvPr id="85" name="Freeform 85"/>
              <p:cNvSpPr/>
              <p:nvPr/>
            </p:nvSpPr>
            <p:spPr>
              <a:xfrm>
                <a:off x="4657725" y="41276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E74726"/>
                </a:solidFill>
              </a:ln>
            </p:spPr>
          </p:sp>
          <p:sp>
            <p:nvSpPr>
              <p:cNvPr id="86" name="Freeform 86"/>
              <p:cNvSpPr/>
              <p:nvPr/>
            </p:nvSpPr>
            <p:spPr>
              <a:xfrm>
                <a:off x="4672012" y="42135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E74726"/>
                </a:solidFill>
              </a:ln>
            </p:spPr>
          </p:sp>
        </p:grpSp>
        <p:sp>
          <p:nvSpPr>
            <p:cNvPr id="88" name="TextBox 88"/>
            <p:cNvSpPr txBox="1"/>
            <p:nvPr/>
          </p:nvSpPr>
          <p:spPr>
            <a:xfrm>
              <a:off x="4871847" y="4133374"/>
              <a:ext cx="1724965" cy="190690"/>
            </a:xfrm>
            <a:prstGeom prst="rect">
              <a:avLst/>
            </a:prstGeom>
            <a:noFill/>
            <a:ln>
              <a:noFill/>
            </a:ln>
          </p:spPr>
          <p:txBody>
            <a:bodyPr wrap="none" lIns="0" tIns="0" rIns="0" bIns="0" anchor="t" anchorCtr="0">
              <a:spAutoFit/>
            </a:bodyPr>
            <a:lstStyle/>
            <a:p>
              <a:pPr algn="l"/>
              <a:r>
                <a:rPr lang="zh-CN" sz="980" b="1" dirty="0">
                  <a:solidFill>
                    <a:srgbClr val="E74726"/>
                  </a:solidFill>
                  <a:latin typeface="+mn-lt"/>
                  <a:ea typeface="+mn-ea"/>
                  <a:cs typeface="+mn-cs"/>
                </a:rPr>
                <a:t>优化客户结构，做好价值输送</a:t>
              </a:r>
            </a:p>
          </p:txBody>
        </p:sp>
        <p:sp>
          <p:nvSpPr>
            <p:cNvPr id="89" name="TextBox 89"/>
            <p:cNvSpPr txBox="1"/>
            <p:nvPr/>
          </p:nvSpPr>
          <p:spPr>
            <a:xfrm>
              <a:off x="4872038" y="4370070"/>
              <a:ext cx="4613529" cy="176212"/>
            </a:xfrm>
            <a:prstGeom prst="rect">
              <a:avLst/>
            </a:prstGeom>
            <a:noFill/>
            <a:ln>
              <a:noFill/>
            </a:ln>
          </p:spPr>
          <p:txBody>
            <a:bodyPr wrap="none" lIns="0" tIns="0" rIns="0" bIns="0" anchor="t" anchorCtr="0">
              <a:spAutoFit/>
            </a:bodyPr>
            <a:lstStyle/>
            <a:p>
              <a:pPr algn="l"/>
              <a:r>
                <a:rPr lang="zh-CN" sz="900" dirty="0">
                  <a:solidFill>
                    <a:srgbClr val="523833"/>
                  </a:solidFill>
                  <a:latin typeface="+mn-lt"/>
                  <a:ea typeface="+mn-ea"/>
                  <a:cs typeface="+mn-cs"/>
                </a:rPr>
                <a:t>可稳定客户基础、挖掘高潜客户，实现客户价值链式输送，打破客户结构单一的风险。</a:t>
              </a:r>
            </a:p>
          </p:txBody>
        </p:sp>
        <p:sp>
          <p:nvSpPr>
            <p:cNvPr id="90" name="Ellipse 90"/>
            <p:cNvSpPr/>
            <p:nvPr/>
          </p:nvSpPr>
          <p:spPr>
            <a:xfrm>
              <a:off x="4495800" y="4838700"/>
              <a:ext cx="266700" cy="266700"/>
            </a:xfrm>
            <a:prstGeom prst="ellipse">
              <a:avLst/>
            </a:prstGeom>
            <a:solidFill>
              <a:srgbClr val="DCE8FB"/>
            </a:solidFill>
            <a:ln>
              <a:noFill/>
            </a:ln>
          </p:spPr>
        </p:sp>
        <p:grpSp>
          <p:nvGrpSpPr>
            <p:cNvPr id="96" name="Group 96"/>
            <p:cNvGrpSpPr/>
            <p:nvPr/>
          </p:nvGrpSpPr>
          <p:grpSpPr>
            <a:xfrm>
              <a:off x="4564856" y="4906799"/>
              <a:ext cx="128588" cy="129545"/>
              <a:chOff x="4564856" y="4906799"/>
              <a:chExt cx="128588" cy="129545"/>
            </a:xfrm>
          </p:grpSpPr>
          <p:sp>
            <p:nvSpPr>
              <p:cNvPr id="91" name="Freeform 91"/>
              <p:cNvSpPr/>
              <p:nvPr/>
            </p:nvSpPr>
            <p:spPr>
              <a:xfrm>
                <a:off x="4607719" y="496490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E74726"/>
                </a:solidFill>
              </a:ln>
            </p:spPr>
          </p:sp>
          <p:sp>
            <p:nvSpPr>
              <p:cNvPr id="92" name="Freeform 92"/>
              <p:cNvSpPr/>
              <p:nvPr/>
            </p:nvSpPr>
            <p:spPr>
              <a:xfrm>
                <a:off x="4607719" y="498633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E74726"/>
                </a:solidFill>
              </a:ln>
            </p:spPr>
          </p:sp>
          <p:sp>
            <p:nvSpPr>
              <p:cNvPr id="93" name="Freeform 93"/>
              <p:cNvSpPr/>
              <p:nvPr/>
            </p:nvSpPr>
            <p:spPr>
              <a:xfrm>
                <a:off x="4564856" y="490679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E74726"/>
                </a:solidFill>
              </a:ln>
            </p:spPr>
          </p:sp>
          <p:sp>
            <p:nvSpPr>
              <p:cNvPr id="94" name="Freeform 94"/>
              <p:cNvSpPr/>
              <p:nvPr/>
            </p:nvSpPr>
            <p:spPr>
              <a:xfrm>
                <a:off x="4564856" y="492918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E74726"/>
                </a:solidFill>
              </a:ln>
            </p:spPr>
          </p:sp>
          <p:sp>
            <p:nvSpPr>
              <p:cNvPr id="95" name="Freeform 95"/>
              <p:cNvSpPr/>
              <p:nvPr/>
            </p:nvSpPr>
            <p:spPr>
              <a:xfrm>
                <a:off x="4564856" y="496490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E74726"/>
                </a:solidFill>
              </a:ln>
            </p:spPr>
          </p:sp>
        </p:grpSp>
        <p:sp>
          <p:nvSpPr>
            <p:cNvPr id="97" name="TextBox 97"/>
            <p:cNvSpPr txBox="1"/>
            <p:nvPr/>
          </p:nvSpPr>
          <p:spPr>
            <a:xfrm>
              <a:off x="4871847" y="4914424"/>
              <a:ext cx="2293573" cy="190690"/>
            </a:xfrm>
            <a:prstGeom prst="rect">
              <a:avLst/>
            </a:prstGeom>
            <a:noFill/>
            <a:ln>
              <a:noFill/>
            </a:ln>
          </p:spPr>
          <p:txBody>
            <a:bodyPr wrap="none" lIns="0" tIns="0" rIns="0" bIns="0" anchor="t" anchorCtr="0">
              <a:spAutoFit/>
            </a:bodyPr>
            <a:lstStyle/>
            <a:p>
              <a:pPr algn="l"/>
              <a:r>
                <a:rPr lang="zh-CN" sz="980" b="1" dirty="0">
                  <a:solidFill>
                    <a:srgbClr val="E74726"/>
                  </a:solidFill>
                  <a:latin typeface="+mn-lt"/>
                  <a:ea typeface="+mn-ea"/>
                  <a:cs typeface="+mn-cs"/>
                </a:rPr>
                <a:t>提升运营能力，批量挖掘“存量价值”​​</a:t>
              </a:r>
            </a:p>
          </p:txBody>
        </p:sp>
        <p:sp>
          <p:nvSpPr>
            <p:cNvPr id="98" name="TextBox 98"/>
            <p:cNvSpPr txBox="1"/>
            <p:nvPr/>
          </p:nvSpPr>
          <p:spPr>
            <a:xfrm>
              <a:off x="4872038" y="5151120"/>
              <a:ext cx="5146624" cy="176212"/>
            </a:xfrm>
            <a:prstGeom prst="rect">
              <a:avLst/>
            </a:prstGeom>
            <a:noFill/>
            <a:ln>
              <a:noFill/>
            </a:ln>
          </p:spPr>
          <p:txBody>
            <a:bodyPr wrap="none" lIns="0" tIns="0" rIns="0" bIns="0" anchor="t" anchorCtr="0">
              <a:spAutoFit/>
            </a:bodyPr>
            <a:lstStyle/>
            <a:p>
              <a:pPr algn="l"/>
              <a:r>
                <a:rPr lang="zh-CN" sz="900" dirty="0">
                  <a:solidFill>
                    <a:srgbClr val="523833"/>
                  </a:solidFill>
                  <a:latin typeface="+mn-lt"/>
                  <a:ea typeface="+mn-ea"/>
                  <a:cs typeface="+mn-cs"/>
                </a:rPr>
                <a:t>将“沉默的大多数”转化为“可运营的个体”，凭借客群数据勾勒精准画像，匹配差异化产品、​​​​</a:t>
              </a:r>
            </a:p>
          </p:txBody>
        </p:sp>
        <p:sp>
          <p:nvSpPr>
            <p:cNvPr id="99" name="TextBox 99"/>
            <p:cNvSpPr txBox="1"/>
            <p:nvPr/>
          </p:nvSpPr>
          <p:spPr>
            <a:xfrm>
              <a:off x="4872038" y="5341620"/>
              <a:ext cx="2432685" cy="176212"/>
            </a:xfrm>
            <a:prstGeom prst="rect">
              <a:avLst/>
            </a:prstGeom>
            <a:noFill/>
            <a:ln>
              <a:noFill/>
            </a:ln>
          </p:spPr>
          <p:txBody>
            <a:bodyPr wrap="none" lIns="0" tIns="0" rIns="0" bIns="0" anchor="t" anchorCtr="0">
              <a:spAutoFit/>
            </a:bodyPr>
            <a:lstStyle/>
            <a:p>
              <a:pPr algn="l"/>
              <a:r>
                <a:rPr lang="zh-CN" sz="900" dirty="0">
                  <a:solidFill>
                    <a:srgbClr val="523833"/>
                  </a:solidFill>
                  <a:latin typeface="+mn-lt"/>
                  <a:ea typeface="+mn-ea"/>
                  <a:cs typeface="+mn-cs"/>
                </a:rPr>
                <a:t>活动、触达策略，实现存量价值的批量挖掘。</a:t>
              </a:r>
            </a:p>
          </p:txBody>
        </p:sp>
      </p:grpSp>
      <p:sp>
        <p:nvSpPr>
          <p:cNvPr id="101" name="TextBox 101"/>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06</a:t>
              </a:r>
            </a:p>
          </p:txBody>
        </p:sp>
        <p:sp>
          <p:nvSpPr>
            <p:cNvPr id="4" name="TextBox 4"/>
            <p:cNvSpPr txBox="1"/>
            <p:nvPr/>
          </p:nvSpPr>
          <p:spPr>
            <a:xfrm>
              <a:off x="942594" y="151448"/>
              <a:ext cx="7711920"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2.运营体系总览｜</a:t>
              </a:r>
              <a:r>
                <a:rPr lang="zh-CN" sz="1950" b="1" dirty="0">
                  <a:solidFill>
                    <a:srgbClr val="E74726"/>
                  </a:solidFill>
                  <a:latin typeface="SimSun"/>
                  <a:ea typeface="SimSun"/>
                  <a:cs typeface="SimSun"/>
                </a:rPr>
                <a:t>以分层分群破题</a:t>
              </a:r>
              <a:r>
                <a:rPr lang="zh-CN" sz="1950" b="1" dirty="0">
                  <a:solidFill>
                    <a:srgbClr val="1F1F1F"/>
                  </a:solidFill>
                  <a:latin typeface="SimSun"/>
                  <a:ea typeface="SimSun"/>
                  <a:cs typeface="SimSun"/>
                </a:rPr>
                <a:t>，配套能力与保障体系落地​</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551829" cy="551260"/>
            <a:chOff x="566166" y="667702"/>
            <a:chExt cx="6551829" cy="551260"/>
          </a:xfrm>
        </p:grpSpPr>
        <p:sp>
          <p:nvSpPr>
            <p:cNvPr id="8" name="TextBox 8"/>
            <p:cNvSpPr txBox="1"/>
            <p:nvPr/>
          </p:nvSpPr>
          <p:spPr>
            <a:xfrm>
              <a:off x="566166" y="667702"/>
              <a:ext cx="6088761"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以分层分群作为长尾运营起点，配套四大运营能力，依托组织与系统支撑，落地客群运营完整闭环</a:t>
              </a:r>
            </a:p>
          </p:txBody>
        </p:sp>
        <p:sp>
          <p:nvSpPr>
            <p:cNvPr id="9" name="TextBox 9"/>
            <p:cNvSpPr txBox="1"/>
            <p:nvPr/>
          </p:nvSpPr>
          <p:spPr>
            <a:xfrm>
              <a:off x="566738" y="887968"/>
              <a:ext cx="6551257"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长尾客群经营从分层分群切入，通过AUM划档与高潜客群挖掘明确经营方向，配套建设活动、产品、权益、渠道四大运营能力，​</a:t>
              </a:r>
            </a:p>
          </p:txBody>
        </p:sp>
        <p:sp>
          <p:nvSpPr>
            <p:cNvPr id="10" name="TextBox 10"/>
            <p:cNvSpPr txBox="1"/>
            <p:nvPr/>
          </p:nvSpPr>
          <p:spPr>
            <a:xfrm>
              <a:off x="566738" y="1049893"/>
              <a:ext cx="4293133"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依托集约化组织架构及数字化系统平台，实现从策略设计到成效复盘的完整运营闭环</a:t>
              </a:r>
            </a:p>
          </p:txBody>
        </p:sp>
      </p:grpSp>
      <p:grpSp>
        <p:nvGrpSpPr>
          <p:cNvPr id="33" name="side-labels"/>
          <p:cNvGrpSpPr/>
          <p:nvPr/>
        </p:nvGrpSpPr>
        <p:grpSpPr>
          <a:xfrm>
            <a:off x="381000" y="1295400"/>
            <a:ext cx="762000" cy="5257800"/>
            <a:chOff x="381000" y="1295400"/>
            <a:chExt cx="762000" cy="5257800"/>
          </a:xfrm>
        </p:grpSpPr>
        <p:sp>
          <p:nvSpPr>
            <p:cNvPr id="12" name="Rectangle 12"/>
            <p:cNvSpPr/>
            <p:nvPr/>
          </p:nvSpPr>
          <p:spPr>
            <a:xfrm>
              <a:off x="381000" y="1295400"/>
              <a:ext cx="762000" cy="1581150"/>
            </a:xfrm>
            <a:prstGeom prst="roundRect">
              <a:avLst>
                <a:gd name="adj" fmla="val 10000"/>
              </a:avLst>
            </a:prstGeom>
            <a:solidFill>
              <a:srgbClr val="E74726"/>
            </a:solidFill>
            <a:ln>
              <a:noFill/>
            </a:ln>
          </p:spPr>
        </p:sp>
        <p:grpSp>
          <p:nvGrpSpPr>
            <p:cNvPr id="15" name="Group 15"/>
            <p:cNvGrpSpPr/>
            <p:nvPr/>
          </p:nvGrpSpPr>
          <p:grpSpPr>
            <a:xfrm>
              <a:off x="660400" y="1752600"/>
              <a:ext cx="203199" cy="174624"/>
              <a:chOff x="660400" y="1752600"/>
              <a:chExt cx="203199" cy="174624"/>
            </a:xfrm>
          </p:grpSpPr>
          <p:sp>
            <p:nvSpPr>
              <p:cNvPr id="13" name="Freeform 13"/>
              <p:cNvSpPr/>
              <p:nvPr/>
            </p:nvSpPr>
            <p:spPr>
              <a:xfrm>
                <a:off x="660400" y="1917699"/>
                <a:ext cx="203199" cy="9525"/>
              </a:xfrm>
              <a:custGeom>
                <a:avLst/>
                <a:gdLst/>
                <a:ahLst/>
                <a:cxnLst/>
                <a:rect l="l" t="t" r="r" b="b"/>
                <a:pathLst>
                  <a:path w="203199" h="9525">
                    <a:moveTo>
                      <a:pt x="0" y="0"/>
                    </a:moveTo>
                    <a:lnTo>
                      <a:pt x="203199" y="0"/>
                    </a:lnTo>
                  </a:path>
                </a:pathLst>
              </a:custGeom>
              <a:noFill/>
              <a:ln w="25400">
                <a:solidFill>
                  <a:srgbClr val="FFFFFF"/>
                </a:solidFill>
              </a:ln>
            </p:spPr>
          </p:sp>
          <p:sp>
            <p:nvSpPr>
              <p:cNvPr id="14" name="Freeform 14"/>
              <p:cNvSpPr/>
              <p:nvPr/>
            </p:nvSpPr>
            <p:spPr>
              <a:xfrm>
                <a:off x="660400" y="1752600"/>
                <a:ext cx="203199" cy="114300"/>
              </a:xfrm>
              <a:custGeom>
                <a:avLst/>
                <a:gdLst/>
                <a:ahLst/>
                <a:cxnLst/>
                <a:rect l="l" t="t" r="r" b="b"/>
                <a:pathLst>
                  <a:path w="203199" h="114300">
                    <a:moveTo>
                      <a:pt x="0" y="114300"/>
                    </a:moveTo>
                    <a:lnTo>
                      <a:pt x="50800" y="38100"/>
                    </a:lnTo>
                    <a:lnTo>
                      <a:pt x="101600" y="63500"/>
                    </a:lnTo>
                    <a:lnTo>
                      <a:pt x="152400" y="0"/>
                    </a:lnTo>
                    <a:lnTo>
                      <a:pt x="203199" y="50800"/>
                    </a:lnTo>
                  </a:path>
                </a:pathLst>
              </a:custGeom>
              <a:noFill/>
              <a:ln w="25400">
                <a:solidFill>
                  <a:srgbClr val="FFFFFF"/>
                </a:solidFill>
              </a:ln>
            </p:spPr>
          </p:sp>
        </p:grpSp>
        <p:sp>
          <p:nvSpPr>
            <p:cNvPr id="16" name="TextBox 16"/>
            <p:cNvSpPr txBox="1"/>
            <p:nvPr/>
          </p:nvSpPr>
          <p:spPr>
            <a:xfrm>
              <a:off x="630695" y="21466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运营</a:t>
              </a:r>
            </a:p>
          </p:txBody>
        </p:sp>
        <p:sp>
          <p:nvSpPr>
            <p:cNvPr id="17" name="TextBox 17"/>
            <p:cNvSpPr txBox="1"/>
            <p:nvPr/>
          </p:nvSpPr>
          <p:spPr>
            <a:xfrm>
              <a:off x="630695" y="23371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起点</a:t>
              </a:r>
            </a:p>
          </p:txBody>
        </p:sp>
        <p:sp>
          <p:nvSpPr>
            <p:cNvPr id="18" name="Rectangle 18"/>
            <p:cNvSpPr/>
            <p:nvPr/>
          </p:nvSpPr>
          <p:spPr>
            <a:xfrm>
              <a:off x="381000" y="2971800"/>
              <a:ext cx="762000" cy="2076450"/>
            </a:xfrm>
            <a:prstGeom prst="roundRect">
              <a:avLst>
                <a:gd name="adj" fmla="val 10000"/>
              </a:avLst>
            </a:prstGeom>
            <a:solidFill>
              <a:srgbClr val="E74726"/>
            </a:solidFill>
            <a:ln>
              <a:noFill/>
            </a:ln>
          </p:spPr>
        </p:sp>
        <p:grpSp>
          <p:nvGrpSpPr>
            <p:cNvPr id="23" name="Group 23"/>
            <p:cNvGrpSpPr/>
            <p:nvPr/>
          </p:nvGrpSpPr>
          <p:grpSpPr>
            <a:xfrm>
              <a:off x="647700" y="3613150"/>
              <a:ext cx="228600" cy="212724"/>
              <a:chOff x="647700" y="3613150"/>
              <a:chExt cx="228600" cy="212724"/>
            </a:xfrm>
          </p:grpSpPr>
          <p:sp>
            <p:nvSpPr>
              <p:cNvPr id="19" name="Freeform 19"/>
              <p:cNvSpPr/>
              <p:nvPr/>
            </p:nvSpPr>
            <p:spPr>
              <a:xfrm>
                <a:off x="647700" y="3714750"/>
                <a:ext cx="76200" cy="101600"/>
              </a:xfrm>
              <a:custGeom>
                <a:avLst/>
                <a:gdLst/>
                <a:ahLst/>
                <a:cxnLst/>
                <a:rect l="l" t="t" r="r" b="b"/>
                <a:pathLst>
                  <a:path w="76200" h="101600">
                    <a:moveTo>
                      <a:pt x="0" y="12700"/>
                    </a:moveTo>
                    <a:cubicBezTo>
                      <a:pt x="0" y="5686"/>
                      <a:pt x="5686" y="0"/>
                      <a:pt x="12700" y="0"/>
                    </a:cubicBezTo>
                    <a:lnTo>
                      <a:pt x="63500" y="0"/>
                    </a:lnTo>
                    <a:cubicBezTo>
                      <a:pt x="70514" y="0"/>
                      <a:pt x="76200" y="5686"/>
                      <a:pt x="76200" y="12700"/>
                    </a:cubicBezTo>
                    <a:lnTo>
                      <a:pt x="76200" y="88900"/>
                    </a:lnTo>
                    <a:cubicBezTo>
                      <a:pt x="76200" y="95914"/>
                      <a:pt x="70514" y="101600"/>
                      <a:pt x="63500" y="101600"/>
                    </a:cubicBezTo>
                    <a:lnTo>
                      <a:pt x="12700" y="101600"/>
                    </a:lnTo>
                    <a:cubicBezTo>
                      <a:pt x="5686" y="101600"/>
                      <a:pt x="0" y="95914"/>
                      <a:pt x="0" y="88900"/>
                    </a:cubicBezTo>
                    <a:lnTo>
                      <a:pt x="0" y="12700"/>
                    </a:lnTo>
                  </a:path>
                </a:pathLst>
              </a:custGeom>
              <a:noFill/>
              <a:ln w="25400">
                <a:solidFill>
                  <a:srgbClr val="FFFFFF"/>
                </a:solidFill>
              </a:ln>
            </p:spPr>
          </p:sp>
          <p:sp>
            <p:nvSpPr>
              <p:cNvPr id="20" name="Freeform 20"/>
              <p:cNvSpPr/>
              <p:nvPr/>
            </p:nvSpPr>
            <p:spPr>
              <a:xfrm>
                <a:off x="800100" y="3663950"/>
                <a:ext cx="76200" cy="152400"/>
              </a:xfrm>
              <a:custGeom>
                <a:avLst/>
                <a:gdLst/>
                <a:ahLst/>
                <a:cxnLst/>
                <a:rect l="l" t="t" r="r" b="b"/>
                <a:pathLst>
                  <a:path w="76200" h="152400">
                    <a:moveTo>
                      <a:pt x="0" y="12700"/>
                    </a:moveTo>
                    <a:cubicBezTo>
                      <a:pt x="0" y="5686"/>
                      <a:pt x="5686" y="0"/>
                      <a:pt x="12700" y="0"/>
                    </a:cubicBezTo>
                    <a:lnTo>
                      <a:pt x="63500" y="0"/>
                    </a:lnTo>
                    <a:cubicBezTo>
                      <a:pt x="70514" y="0"/>
                      <a:pt x="76200" y="5686"/>
                      <a:pt x="76200" y="12700"/>
                    </a:cubicBezTo>
                    <a:lnTo>
                      <a:pt x="76200" y="139700"/>
                    </a:lnTo>
                    <a:cubicBezTo>
                      <a:pt x="76200" y="146714"/>
                      <a:pt x="70514" y="152400"/>
                      <a:pt x="63500" y="152400"/>
                    </a:cubicBezTo>
                    <a:lnTo>
                      <a:pt x="12700" y="152400"/>
                    </a:lnTo>
                    <a:cubicBezTo>
                      <a:pt x="5686" y="152400"/>
                      <a:pt x="0" y="146714"/>
                      <a:pt x="0" y="139700"/>
                    </a:cubicBezTo>
                    <a:lnTo>
                      <a:pt x="0" y="12700"/>
                    </a:lnTo>
                  </a:path>
                </a:pathLst>
              </a:custGeom>
              <a:noFill/>
              <a:ln w="25400">
                <a:solidFill>
                  <a:srgbClr val="FFFFFF"/>
                </a:solidFill>
              </a:ln>
            </p:spPr>
          </p:sp>
          <p:sp>
            <p:nvSpPr>
              <p:cNvPr id="21" name="Freeform 21"/>
              <p:cNvSpPr/>
              <p:nvPr/>
            </p:nvSpPr>
            <p:spPr>
              <a:xfrm>
                <a:off x="723900" y="3613150"/>
                <a:ext cx="76200" cy="203199"/>
              </a:xfrm>
              <a:custGeom>
                <a:avLst/>
                <a:gdLst/>
                <a:ahLst/>
                <a:cxnLst/>
                <a:rect l="l" t="t" r="r" b="b"/>
                <a:pathLst>
                  <a:path w="76200" h="203199">
                    <a:moveTo>
                      <a:pt x="0" y="12700"/>
                    </a:moveTo>
                    <a:cubicBezTo>
                      <a:pt x="0" y="5686"/>
                      <a:pt x="5686" y="0"/>
                      <a:pt x="12700" y="0"/>
                    </a:cubicBezTo>
                    <a:lnTo>
                      <a:pt x="63500" y="0"/>
                    </a:lnTo>
                    <a:cubicBezTo>
                      <a:pt x="70514" y="0"/>
                      <a:pt x="76200" y="5686"/>
                      <a:pt x="76200" y="12700"/>
                    </a:cubicBezTo>
                    <a:lnTo>
                      <a:pt x="76200" y="190500"/>
                    </a:lnTo>
                    <a:cubicBezTo>
                      <a:pt x="76200" y="197514"/>
                      <a:pt x="70514" y="203199"/>
                      <a:pt x="63500" y="203199"/>
                    </a:cubicBezTo>
                    <a:lnTo>
                      <a:pt x="12700" y="203199"/>
                    </a:lnTo>
                    <a:cubicBezTo>
                      <a:pt x="5686" y="203199"/>
                      <a:pt x="0" y="197514"/>
                      <a:pt x="0" y="190500"/>
                    </a:cubicBezTo>
                    <a:lnTo>
                      <a:pt x="0" y="12700"/>
                    </a:lnTo>
                  </a:path>
                </a:pathLst>
              </a:custGeom>
              <a:noFill/>
              <a:ln w="25400">
                <a:solidFill>
                  <a:srgbClr val="FFFFFF"/>
                </a:solidFill>
              </a:ln>
            </p:spPr>
          </p:sp>
          <p:sp>
            <p:nvSpPr>
              <p:cNvPr id="22" name="Freeform 22"/>
              <p:cNvSpPr/>
              <p:nvPr/>
            </p:nvSpPr>
            <p:spPr>
              <a:xfrm>
                <a:off x="660400" y="3816349"/>
                <a:ext cx="177800" cy="9525"/>
              </a:xfrm>
              <a:custGeom>
                <a:avLst/>
                <a:gdLst/>
                <a:ahLst/>
                <a:cxnLst/>
                <a:rect l="l" t="t" r="r" b="b"/>
                <a:pathLst>
                  <a:path w="177800" h="9525">
                    <a:moveTo>
                      <a:pt x="0" y="0"/>
                    </a:moveTo>
                    <a:lnTo>
                      <a:pt x="177800" y="0"/>
                    </a:lnTo>
                  </a:path>
                </a:pathLst>
              </a:custGeom>
              <a:noFill/>
              <a:ln w="25400">
                <a:solidFill>
                  <a:srgbClr val="FFFFFF"/>
                </a:solidFill>
              </a:ln>
            </p:spPr>
          </p:sp>
        </p:grpSp>
        <p:sp>
          <p:nvSpPr>
            <p:cNvPr id="24" name="TextBox 24"/>
            <p:cNvSpPr txBox="1"/>
            <p:nvPr/>
          </p:nvSpPr>
          <p:spPr>
            <a:xfrm>
              <a:off x="630695" y="40516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运营</a:t>
              </a:r>
            </a:p>
          </p:txBody>
        </p:sp>
        <p:sp>
          <p:nvSpPr>
            <p:cNvPr id="25" name="TextBox 25"/>
            <p:cNvSpPr txBox="1"/>
            <p:nvPr/>
          </p:nvSpPr>
          <p:spPr>
            <a:xfrm>
              <a:off x="630695" y="42421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能力</a:t>
              </a:r>
            </a:p>
          </p:txBody>
        </p:sp>
        <p:sp>
          <p:nvSpPr>
            <p:cNvPr id="26" name="TextBox 26"/>
            <p:cNvSpPr txBox="1"/>
            <p:nvPr/>
          </p:nvSpPr>
          <p:spPr>
            <a:xfrm>
              <a:off x="630695" y="44326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配套</a:t>
              </a:r>
            </a:p>
          </p:txBody>
        </p:sp>
        <p:sp>
          <p:nvSpPr>
            <p:cNvPr id="27" name="Rectangle 27"/>
            <p:cNvSpPr/>
            <p:nvPr/>
          </p:nvSpPr>
          <p:spPr>
            <a:xfrm>
              <a:off x="381000" y="5143500"/>
              <a:ext cx="762000" cy="1409700"/>
            </a:xfrm>
            <a:prstGeom prst="roundRect">
              <a:avLst>
                <a:gd name="adj" fmla="val 10000"/>
              </a:avLst>
            </a:prstGeom>
            <a:solidFill>
              <a:srgbClr val="E74726"/>
            </a:solidFill>
            <a:ln>
              <a:noFill/>
            </a:ln>
          </p:spPr>
        </p:sp>
        <p:grpSp>
          <p:nvGrpSpPr>
            <p:cNvPr id="30" name="Group 30"/>
            <p:cNvGrpSpPr/>
            <p:nvPr/>
          </p:nvGrpSpPr>
          <p:grpSpPr>
            <a:xfrm>
              <a:off x="642125" y="5499875"/>
              <a:ext cx="239750" cy="239750"/>
              <a:chOff x="642125" y="5499875"/>
              <a:chExt cx="239750" cy="239750"/>
            </a:xfrm>
          </p:grpSpPr>
          <p:sp>
            <p:nvSpPr>
              <p:cNvPr id="28" name="Freeform 28"/>
              <p:cNvSpPr/>
              <p:nvPr/>
            </p:nvSpPr>
            <p:spPr>
              <a:xfrm>
                <a:off x="642125" y="5499875"/>
                <a:ext cx="239750" cy="239750"/>
              </a:xfrm>
              <a:custGeom>
                <a:avLst/>
                <a:gdLst/>
                <a:ahLst/>
                <a:cxnLst/>
                <a:rect l="l" t="t" r="r" b="b"/>
                <a:pathLst>
                  <a:path w="239750" h="239750">
                    <a:moveTo>
                      <a:pt x="98603" y="22301"/>
                    </a:moveTo>
                    <a:cubicBezTo>
                      <a:pt x="104013" y="0"/>
                      <a:pt x="135737" y="0"/>
                      <a:pt x="141147" y="22301"/>
                    </a:cubicBezTo>
                    <a:cubicBezTo>
                      <a:pt x="142794" y="29096"/>
                      <a:pt x="147587" y="34697"/>
                      <a:pt x="154046" y="37373"/>
                    </a:cubicBezTo>
                    <a:cubicBezTo>
                      <a:pt x="160506" y="40049"/>
                      <a:pt x="167855" y="39479"/>
                      <a:pt x="173824" y="35839"/>
                    </a:cubicBezTo>
                    <a:cubicBezTo>
                      <a:pt x="193421" y="23901"/>
                      <a:pt x="215861" y="46329"/>
                      <a:pt x="203923" y="65938"/>
                    </a:cubicBezTo>
                    <a:cubicBezTo>
                      <a:pt x="200289" y="71905"/>
                      <a:pt x="199720" y="79249"/>
                      <a:pt x="202393" y="85704"/>
                    </a:cubicBezTo>
                    <a:cubicBezTo>
                      <a:pt x="205066" y="92160"/>
                      <a:pt x="210660" y="96952"/>
                      <a:pt x="217449" y="98603"/>
                    </a:cubicBezTo>
                    <a:cubicBezTo>
                      <a:pt x="239750" y="104013"/>
                      <a:pt x="239750" y="135737"/>
                      <a:pt x="217449" y="141147"/>
                    </a:cubicBezTo>
                    <a:cubicBezTo>
                      <a:pt x="210654" y="142794"/>
                      <a:pt x="205053" y="147587"/>
                      <a:pt x="202377" y="154046"/>
                    </a:cubicBezTo>
                    <a:cubicBezTo>
                      <a:pt x="199701" y="160506"/>
                      <a:pt x="200271" y="167855"/>
                      <a:pt x="203911" y="173824"/>
                    </a:cubicBezTo>
                    <a:cubicBezTo>
                      <a:pt x="215849" y="193421"/>
                      <a:pt x="193421" y="215861"/>
                      <a:pt x="173812" y="203923"/>
                    </a:cubicBezTo>
                    <a:cubicBezTo>
                      <a:pt x="167845" y="200289"/>
                      <a:pt x="160501" y="199720"/>
                      <a:pt x="154046" y="202393"/>
                    </a:cubicBezTo>
                    <a:cubicBezTo>
                      <a:pt x="147590" y="205066"/>
                      <a:pt x="142798" y="210660"/>
                      <a:pt x="141147" y="217449"/>
                    </a:cubicBezTo>
                    <a:cubicBezTo>
                      <a:pt x="135737" y="239750"/>
                      <a:pt x="104013" y="239750"/>
                      <a:pt x="98603" y="217449"/>
                    </a:cubicBezTo>
                    <a:cubicBezTo>
                      <a:pt x="96956" y="210654"/>
                      <a:pt x="92163" y="205053"/>
                      <a:pt x="85704" y="202377"/>
                    </a:cubicBezTo>
                    <a:cubicBezTo>
                      <a:pt x="79244" y="199701"/>
                      <a:pt x="71895" y="200271"/>
                      <a:pt x="65926" y="203911"/>
                    </a:cubicBezTo>
                    <a:cubicBezTo>
                      <a:pt x="46329" y="215849"/>
                      <a:pt x="23889" y="193421"/>
                      <a:pt x="35827" y="173812"/>
                    </a:cubicBezTo>
                    <a:cubicBezTo>
                      <a:pt x="39461" y="167845"/>
                      <a:pt x="40030" y="160501"/>
                      <a:pt x="37357" y="154046"/>
                    </a:cubicBezTo>
                    <a:cubicBezTo>
                      <a:pt x="34684" y="147590"/>
                      <a:pt x="29090" y="142798"/>
                      <a:pt x="22301" y="141147"/>
                    </a:cubicBezTo>
                    <a:cubicBezTo>
                      <a:pt x="0" y="135737"/>
                      <a:pt x="0" y="104013"/>
                      <a:pt x="22301" y="98603"/>
                    </a:cubicBezTo>
                    <a:cubicBezTo>
                      <a:pt x="29096" y="96956"/>
                      <a:pt x="34697" y="92163"/>
                      <a:pt x="37373" y="85704"/>
                    </a:cubicBezTo>
                    <a:cubicBezTo>
                      <a:pt x="40049" y="79244"/>
                      <a:pt x="39479" y="71895"/>
                      <a:pt x="35839" y="65926"/>
                    </a:cubicBezTo>
                    <a:cubicBezTo>
                      <a:pt x="23901" y="46329"/>
                      <a:pt x="46329" y="23889"/>
                      <a:pt x="65938" y="35827"/>
                    </a:cubicBezTo>
                    <a:cubicBezTo>
                      <a:pt x="78638" y="43548"/>
                      <a:pt x="95097" y="36716"/>
                      <a:pt x="98603" y="22301"/>
                    </a:cubicBezTo>
                  </a:path>
                </a:pathLst>
              </a:custGeom>
              <a:noFill/>
              <a:ln w="25400">
                <a:solidFill>
                  <a:srgbClr val="FFFFFF"/>
                </a:solidFill>
              </a:ln>
            </p:spPr>
          </p:sp>
          <p:sp>
            <p:nvSpPr>
              <p:cNvPr id="29" name="Freeform 29"/>
              <p:cNvSpPr/>
              <p:nvPr/>
            </p:nvSpPr>
            <p:spPr>
              <a:xfrm>
                <a:off x="723900" y="55816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5400">
                <a:solidFill>
                  <a:srgbClr val="FFFFFF"/>
                </a:solidFill>
              </a:ln>
            </p:spPr>
          </p:sp>
        </p:grpSp>
        <p:sp>
          <p:nvSpPr>
            <p:cNvPr id="31" name="TextBox 31"/>
            <p:cNvSpPr txBox="1"/>
            <p:nvPr/>
          </p:nvSpPr>
          <p:spPr>
            <a:xfrm>
              <a:off x="630695" y="59566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运营</a:t>
              </a:r>
            </a:p>
          </p:txBody>
        </p:sp>
        <p:sp>
          <p:nvSpPr>
            <p:cNvPr id="32" name="TextBox 32"/>
            <p:cNvSpPr txBox="1"/>
            <p:nvPr/>
          </p:nvSpPr>
          <p:spPr>
            <a:xfrm>
              <a:off x="630695" y="61471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支撑</a:t>
              </a:r>
            </a:p>
          </p:txBody>
        </p:sp>
      </p:grpSp>
      <p:grpSp>
        <p:nvGrpSpPr>
          <p:cNvPr id="52" name="band-1"/>
          <p:cNvGrpSpPr/>
          <p:nvPr/>
        </p:nvGrpSpPr>
        <p:grpSpPr>
          <a:xfrm>
            <a:off x="1238250" y="1342549"/>
            <a:ext cx="10572750" cy="1534001"/>
            <a:chOff x="1238250" y="1342549"/>
            <a:chExt cx="10572750" cy="1534001"/>
          </a:xfrm>
        </p:grpSpPr>
        <p:sp>
          <p:nvSpPr>
            <p:cNvPr id="34" name="TextBox 34"/>
            <p:cNvSpPr txBox="1"/>
            <p:nvPr/>
          </p:nvSpPr>
          <p:spPr>
            <a:xfrm>
              <a:off x="5200396" y="1342549"/>
              <a:ext cx="2648458" cy="190690"/>
            </a:xfrm>
            <a:prstGeom prst="rect">
              <a:avLst/>
            </a:prstGeom>
            <a:noFill/>
            <a:ln>
              <a:noFill/>
            </a:ln>
          </p:spPr>
          <p:txBody>
            <a:bodyPr wrap="none" lIns="0" tIns="0" rIns="0" bIns="0" anchor="t" anchorCtr="0">
              <a:spAutoFit/>
            </a:bodyPr>
            <a:lstStyle/>
            <a:p>
              <a:pPr algn="ctr"/>
              <a:r>
                <a:rPr lang="zh-CN" sz="980" b="1" dirty="0">
                  <a:solidFill>
                    <a:srgbClr val="E74726"/>
                  </a:solidFill>
                  <a:latin typeface="+mn-lt"/>
                  <a:ea typeface="+mn-ea"/>
                  <a:cs typeface="+mn-cs"/>
                </a:rPr>
                <a:t>通过完成长尾客群的分层分群，明确经营方向</a:t>
              </a:r>
            </a:p>
          </p:txBody>
        </p:sp>
        <p:sp>
          <p:nvSpPr>
            <p:cNvPr id="35" name="Rectangle 35"/>
            <p:cNvSpPr/>
            <p:nvPr/>
          </p:nvSpPr>
          <p:spPr>
            <a:xfrm>
              <a:off x="1238250" y="1524000"/>
              <a:ext cx="10572750" cy="1352550"/>
            </a:xfrm>
            <a:prstGeom prst="roundRect">
              <a:avLst>
                <a:gd name="adj" fmla="val 5634"/>
              </a:avLst>
            </a:prstGeom>
            <a:solidFill>
              <a:srgbClr val="EAF2FD"/>
            </a:solidFill>
            <a:ln>
              <a:noFill/>
            </a:ln>
          </p:spPr>
        </p:sp>
        <p:sp>
          <p:nvSpPr>
            <p:cNvPr id="36" name="Rectangle 36"/>
            <p:cNvSpPr/>
            <p:nvPr/>
          </p:nvSpPr>
          <p:spPr>
            <a:xfrm>
              <a:off x="1333500" y="1600200"/>
              <a:ext cx="5143500" cy="1200150"/>
            </a:xfrm>
            <a:prstGeom prst="roundRect">
              <a:avLst>
                <a:gd name="adj" fmla="val 4762"/>
              </a:avLst>
            </a:prstGeom>
            <a:solidFill>
              <a:srgbClr val="FFFFFF"/>
            </a:solidFill>
            <a:ln>
              <a:noFill/>
            </a:ln>
          </p:spPr>
        </p:sp>
        <p:sp>
          <p:nvSpPr>
            <p:cNvPr id="37" name="Rectangle 37"/>
            <p:cNvSpPr/>
            <p:nvPr/>
          </p:nvSpPr>
          <p:spPr>
            <a:xfrm>
              <a:off x="1409700" y="1657350"/>
              <a:ext cx="4991100" cy="247650"/>
            </a:xfrm>
            <a:prstGeom prst="roundRect">
              <a:avLst>
                <a:gd name="adj" fmla="val 15385"/>
              </a:avLst>
            </a:prstGeom>
            <a:solidFill>
              <a:srgbClr val="E74726"/>
            </a:solidFill>
            <a:ln>
              <a:noFill/>
            </a:ln>
          </p:spPr>
        </p:sp>
        <p:sp>
          <p:nvSpPr>
            <p:cNvPr id="38" name="TextBox 38"/>
            <p:cNvSpPr txBox="1"/>
            <p:nvPr/>
          </p:nvSpPr>
          <p:spPr>
            <a:xfrm>
              <a:off x="2974830" y="1727597"/>
              <a:ext cx="186084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分层运营：按AUM划档，全覆盖​</a:t>
              </a:r>
            </a:p>
          </p:txBody>
        </p:sp>
        <p:sp>
          <p:nvSpPr>
            <p:cNvPr id="39" name="TextBox 39"/>
            <p:cNvSpPr txBox="1"/>
            <p:nvPr/>
          </p:nvSpPr>
          <p:spPr>
            <a:xfrm>
              <a:off x="1481138" y="2025491"/>
              <a:ext cx="3465411" cy="161925"/>
            </a:xfrm>
            <a:prstGeom prst="rect">
              <a:avLst/>
            </a:prstGeom>
            <a:noFill/>
            <a:ln>
              <a:noFill/>
            </a:ln>
          </p:spPr>
          <p:txBody>
            <a:bodyPr wrap="none" lIns="0" tIns="0" rIns="0" bIns="0" anchor="t" anchorCtr="0">
              <a:spAutoFit/>
            </a:bodyPr>
            <a:lstStyle/>
            <a:p>
              <a:pPr algn="l" marL="88519" indent="-88519">
                <a:buClr>
                  <a:srgbClr val="523833"/>
                </a:buClr>
                <a:buSzTx/>
                <a:buFontTx/>
                <a:buChar char="•"/>
              </a:pPr>
              <a:r>
                <a:rPr lang="zh-CN" sz="820" dirty="0">
                  <a:solidFill>
                    <a:srgbClr val="523833"/>
                  </a:solidFill>
                  <a:latin typeface="+mn-lt"/>
                  <a:ea typeface="+mn-ea"/>
                  <a:cs typeface="+mn-cs"/>
                </a:rPr>
                <a:t>以AUM为核心指标，按资产档位划定客户梯队，标准化、批量化培育​</a:t>
              </a:r>
            </a:p>
          </p:txBody>
        </p:sp>
        <p:sp>
          <p:nvSpPr>
            <p:cNvPr id="40" name="Rectangle 40"/>
            <p:cNvSpPr/>
            <p:nvPr/>
          </p:nvSpPr>
          <p:spPr>
            <a:xfrm>
              <a:off x="1409700" y="2247900"/>
              <a:ext cx="2438400" cy="457200"/>
            </a:xfrm>
            <a:prstGeom prst="roundRect">
              <a:avLst>
                <a:gd name="adj" fmla="val 8333"/>
              </a:avLst>
            </a:prstGeom>
            <a:solidFill>
              <a:srgbClr val="EAF2FD"/>
            </a:solidFill>
            <a:ln>
              <a:noFill/>
            </a:ln>
          </p:spPr>
        </p:sp>
        <p:sp>
          <p:nvSpPr>
            <p:cNvPr id="41" name="TextBox 41"/>
            <p:cNvSpPr txBox="1"/>
            <p:nvPr/>
          </p:nvSpPr>
          <p:spPr>
            <a:xfrm>
              <a:off x="1519238" y="2435066"/>
              <a:ext cx="1582560" cy="161925"/>
            </a:xfrm>
            <a:prstGeom prst="rect">
              <a:avLst/>
            </a:prstGeom>
            <a:noFill/>
            <a:ln>
              <a:noFill/>
            </a:ln>
          </p:spPr>
          <p:txBody>
            <a:bodyPr wrap="none" lIns="0" tIns="0" rIns="0" bIns="0" anchor="t" anchorCtr="0">
              <a:spAutoFit/>
            </a:bodyPr>
            <a:lstStyle/>
            <a:p>
              <a:pPr algn="l"/>
              <a:r>
                <a:rPr lang="zh-CN" sz="820" dirty="0">
                  <a:solidFill>
                    <a:srgbClr val="E74726"/>
                  </a:solidFill>
                  <a:latin typeface="+mn-lt"/>
                  <a:ea typeface="+mn-ea"/>
                  <a:cs typeface="+mn-cs"/>
                </a:rPr>
                <a:t>①常态分级从简 + 营销分级做细​</a:t>
              </a:r>
            </a:p>
          </p:txBody>
        </p:sp>
        <p:sp>
          <p:nvSpPr>
            <p:cNvPr id="42" name="Rectangle 42"/>
            <p:cNvSpPr/>
            <p:nvPr/>
          </p:nvSpPr>
          <p:spPr>
            <a:xfrm>
              <a:off x="3962400" y="2247900"/>
              <a:ext cx="2438400" cy="457200"/>
            </a:xfrm>
            <a:prstGeom prst="roundRect">
              <a:avLst>
                <a:gd name="adj" fmla="val 8333"/>
              </a:avLst>
            </a:prstGeom>
            <a:solidFill>
              <a:srgbClr val="EAF2FD"/>
            </a:solidFill>
            <a:ln>
              <a:noFill/>
            </a:ln>
          </p:spPr>
        </p:sp>
        <p:sp>
          <p:nvSpPr>
            <p:cNvPr id="43" name="TextBox 43"/>
            <p:cNvSpPr txBox="1"/>
            <p:nvPr/>
          </p:nvSpPr>
          <p:spPr>
            <a:xfrm>
              <a:off x="4071938" y="2435066"/>
              <a:ext cx="1174123" cy="161925"/>
            </a:xfrm>
            <a:prstGeom prst="rect">
              <a:avLst/>
            </a:prstGeom>
            <a:noFill/>
            <a:ln>
              <a:noFill/>
            </a:ln>
          </p:spPr>
          <p:txBody>
            <a:bodyPr wrap="none" lIns="0" tIns="0" rIns="0" bIns="0" anchor="t" anchorCtr="0">
              <a:spAutoFit/>
            </a:bodyPr>
            <a:lstStyle/>
            <a:p>
              <a:pPr algn="l"/>
              <a:r>
                <a:rPr lang="zh-CN" sz="820" dirty="0">
                  <a:solidFill>
                    <a:srgbClr val="E74726"/>
                  </a:solidFill>
                  <a:latin typeface="+mn-lt"/>
                  <a:ea typeface="+mn-ea"/>
                  <a:cs typeface="+mn-cs"/>
                </a:rPr>
                <a:t>②常态与营销双重精细化</a:t>
              </a:r>
            </a:p>
          </p:txBody>
        </p:sp>
        <p:sp>
          <p:nvSpPr>
            <p:cNvPr id="44" name="Rectangle 44"/>
            <p:cNvSpPr/>
            <p:nvPr/>
          </p:nvSpPr>
          <p:spPr>
            <a:xfrm>
              <a:off x="6572250" y="1600200"/>
              <a:ext cx="5143500" cy="1200150"/>
            </a:xfrm>
            <a:prstGeom prst="roundRect">
              <a:avLst>
                <a:gd name="adj" fmla="val 4762"/>
              </a:avLst>
            </a:prstGeom>
            <a:solidFill>
              <a:srgbClr val="FFFFFF"/>
            </a:solidFill>
            <a:ln>
              <a:noFill/>
            </a:ln>
          </p:spPr>
        </p:sp>
        <p:sp>
          <p:nvSpPr>
            <p:cNvPr id="45" name="Rectangle 45"/>
            <p:cNvSpPr/>
            <p:nvPr/>
          </p:nvSpPr>
          <p:spPr>
            <a:xfrm>
              <a:off x="6648450" y="1657350"/>
              <a:ext cx="4991100" cy="247650"/>
            </a:xfrm>
            <a:prstGeom prst="roundRect">
              <a:avLst>
                <a:gd name="adj" fmla="val 15385"/>
              </a:avLst>
            </a:prstGeom>
            <a:solidFill>
              <a:srgbClr val="E74726"/>
            </a:solidFill>
            <a:ln>
              <a:noFill/>
            </a:ln>
          </p:spPr>
        </p:sp>
        <p:sp>
          <p:nvSpPr>
            <p:cNvPr id="46" name="TextBox 46"/>
            <p:cNvSpPr txBox="1"/>
            <p:nvPr/>
          </p:nvSpPr>
          <p:spPr>
            <a:xfrm>
              <a:off x="8190166" y="1727597"/>
              <a:ext cx="190766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分群运营：聚焦高潜力，精准打击</a:t>
              </a:r>
            </a:p>
          </p:txBody>
        </p:sp>
        <p:sp>
          <p:nvSpPr>
            <p:cNvPr id="47" name="TextBox 47"/>
            <p:cNvSpPr txBox="1"/>
            <p:nvPr/>
          </p:nvSpPr>
          <p:spPr>
            <a:xfrm>
              <a:off x="6719888" y="2025491"/>
              <a:ext cx="2526589" cy="161925"/>
            </a:xfrm>
            <a:prstGeom prst="rect">
              <a:avLst/>
            </a:prstGeom>
            <a:noFill/>
            <a:ln>
              <a:noFill/>
            </a:ln>
          </p:spPr>
          <p:txBody>
            <a:bodyPr wrap="none" lIns="0" tIns="0" rIns="0" bIns="0" anchor="t" anchorCtr="0">
              <a:spAutoFit/>
            </a:bodyPr>
            <a:lstStyle/>
            <a:p>
              <a:pPr algn="l" marL="88519" indent="-88519">
                <a:buClr>
                  <a:srgbClr val="523833"/>
                </a:buClr>
                <a:buSzTx/>
                <a:buFontTx/>
                <a:buChar char="•"/>
              </a:pPr>
              <a:r>
                <a:rPr lang="zh-CN" sz="820" dirty="0">
                  <a:solidFill>
                    <a:srgbClr val="523833"/>
                  </a:solidFill>
                  <a:latin typeface="+mn-lt"/>
                  <a:ea typeface="+mn-ea"/>
                  <a:cs typeface="+mn-cs"/>
                </a:rPr>
                <a:t>从海量长尾中筛选高潜力客户，集中资源定向突破</a:t>
              </a:r>
            </a:p>
          </p:txBody>
        </p:sp>
        <p:sp>
          <p:nvSpPr>
            <p:cNvPr id="48" name="Rectangle 48"/>
            <p:cNvSpPr/>
            <p:nvPr/>
          </p:nvSpPr>
          <p:spPr>
            <a:xfrm>
              <a:off x="6648450" y="2247900"/>
              <a:ext cx="2438400" cy="457200"/>
            </a:xfrm>
            <a:prstGeom prst="roundRect">
              <a:avLst>
                <a:gd name="adj" fmla="val 8333"/>
              </a:avLst>
            </a:prstGeom>
            <a:solidFill>
              <a:srgbClr val="EAF2FD"/>
            </a:solidFill>
            <a:ln>
              <a:noFill/>
            </a:ln>
          </p:spPr>
        </p:sp>
        <p:sp>
          <p:nvSpPr>
            <p:cNvPr id="49" name="TextBox 49"/>
            <p:cNvSpPr txBox="1"/>
            <p:nvPr/>
          </p:nvSpPr>
          <p:spPr>
            <a:xfrm>
              <a:off x="6757988" y="2435066"/>
              <a:ext cx="1394899" cy="161925"/>
            </a:xfrm>
            <a:prstGeom prst="rect">
              <a:avLst/>
            </a:prstGeom>
            <a:noFill/>
            <a:ln>
              <a:noFill/>
            </a:ln>
          </p:spPr>
          <p:txBody>
            <a:bodyPr wrap="none" lIns="0" tIns="0" rIns="0" bIns="0" anchor="t" anchorCtr="0">
              <a:spAutoFit/>
            </a:bodyPr>
            <a:lstStyle/>
            <a:p>
              <a:pPr algn="l"/>
              <a:r>
                <a:rPr lang="zh-CN" sz="820" dirty="0">
                  <a:solidFill>
                    <a:srgbClr val="E74726"/>
                  </a:solidFill>
                  <a:latin typeface="+mn-lt"/>
                  <a:ea typeface="+mn-ea"/>
                  <a:cs typeface="+mn-cs"/>
                </a:rPr>
                <a:t>①按客户特征分群：精准提升</a:t>
              </a:r>
            </a:p>
          </p:txBody>
        </p:sp>
        <p:sp>
          <p:nvSpPr>
            <p:cNvPr id="50" name="Rectangle 50"/>
            <p:cNvSpPr/>
            <p:nvPr/>
          </p:nvSpPr>
          <p:spPr>
            <a:xfrm>
              <a:off x="9201150" y="2247900"/>
              <a:ext cx="2438400" cy="457200"/>
            </a:xfrm>
            <a:prstGeom prst="roundRect">
              <a:avLst>
                <a:gd name="adj" fmla="val 8333"/>
              </a:avLst>
            </a:prstGeom>
            <a:solidFill>
              <a:srgbClr val="EAF2FD"/>
            </a:solidFill>
            <a:ln>
              <a:noFill/>
            </a:ln>
          </p:spPr>
        </p:sp>
        <p:sp>
          <p:nvSpPr>
            <p:cNvPr id="51" name="TextBox 51"/>
            <p:cNvSpPr txBox="1"/>
            <p:nvPr/>
          </p:nvSpPr>
          <p:spPr>
            <a:xfrm>
              <a:off x="9310688" y="2435066"/>
              <a:ext cx="1174123" cy="161925"/>
            </a:xfrm>
            <a:prstGeom prst="rect">
              <a:avLst/>
            </a:prstGeom>
            <a:noFill/>
            <a:ln>
              <a:noFill/>
            </a:ln>
          </p:spPr>
          <p:txBody>
            <a:bodyPr wrap="none" lIns="0" tIns="0" rIns="0" bIns="0" anchor="t" anchorCtr="0">
              <a:spAutoFit/>
            </a:bodyPr>
            <a:lstStyle/>
            <a:p>
              <a:pPr algn="l"/>
              <a:r>
                <a:rPr lang="zh-CN" sz="820" dirty="0">
                  <a:solidFill>
                    <a:srgbClr val="E74726"/>
                  </a:solidFill>
                  <a:latin typeface="+mn-lt"/>
                  <a:ea typeface="+mn-ea"/>
                  <a:cs typeface="+mn-cs"/>
                </a:rPr>
                <a:t>②按事件分群：需求捕捉</a:t>
              </a:r>
            </a:p>
          </p:txBody>
        </p:sp>
      </p:grpSp>
      <p:grpSp>
        <p:nvGrpSpPr>
          <p:cNvPr id="100" name="band-2"/>
          <p:cNvGrpSpPr/>
          <p:nvPr/>
        </p:nvGrpSpPr>
        <p:grpSpPr>
          <a:xfrm>
            <a:off x="1238250" y="3018949"/>
            <a:ext cx="10572750" cy="2029301"/>
            <a:chOff x="1238250" y="3018949"/>
            <a:chExt cx="10572750" cy="2029301"/>
          </a:xfrm>
        </p:grpSpPr>
        <p:sp>
          <p:nvSpPr>
            <p:cNvPr id="53" name="TextBox 53"/>
            <p:cNvSpPr txBox="1"/>
            <p:nvPr/>
          </p:nvSpPr>
          <p:spPr>
            <a:xfrm>
              <a:off x="5002505" y="3018949"/>
              <a:ext cx="3044241" cy="190690"/>
            </a:xfrm>
            <a:prstGeom prst="rect">
              <a:avLst/>
            </a:prstGeom>
            <a:noFill/>
            <a:ln>
              <a:noFill/>
            </a:ln>
          </p:spPr>
          <p:txBody>
            <a:bodyPr wrap="none" lIns="0" tIns="0" rIns="0" bIns="0" anchor="t" anchorCtr="0">
              <a:spAutoFit/>
            </a:bodyPr>
            <a:lstStyle/>
            <a:p>
              <a:pPr algn="ctr"/>
              <a:r>
                <a:rPr lang="zh-CN" sz="980" b="1" dirty="0">
                  <a:solidFill>
                    <a:srgbClr val="E74726"/>
                  </a:solidFill>
                  <a:latin typeface="+mn-lt"/>
                  <a:ea typeface="+mn-ea"/>
                  <a:cs typeface="+mn-cs"/>
                </a:rPr>
                <a:t>配套四大运营能力，将分层分群策略落地为经营动作</a:t>
              </a:r>
            </a:p>
          </p:txBody>
        </p:sp>
        <p:sp>
          <p:nvSpPr>
            <p:cNvPr id="54" name="Rectangle 54"/>
            <p:cNvSpPr/>
            <p:nvPr/>
          </p:nvSpPr>
          <p:spPr>
            <a:xfrm>
              <a:off x="1238250" y="3200400"/>
              <a:ext cx="10572750" cy="1847850"/>
            </a:xfrm>
            <a:prstGeom prst="roundRect">
              <a:avLst>
                <a:gd name="adj" fmla="val 4124"/>
              </a:avLst>
            </a:prstGeom>
            <a:solidFill>
              <a:srgbClr val="EAF2FD"/>
            </a:solidFill>
            <a:ln>
              <a:noFill/>
            </a:ln>
          </p:spPr>
        </p:sp>
        <p:sp>
          <p:nvSpPr>
            <p:cNvPr id="55" name="Rectangle 55"/>
            <p:cNvSpPr/>
            <p:nvPr/>
          </p:nvSpPr>
          <p:spPr>
            <a:xfrm>
              <a:off x="1333500" y="3257550"/>
              <a:ext cx="2524125" cy="1219200"/>
            </a:xfrm>
            <a:prstGeom prst="roundRect">
              <a:avLst>
                <a:gd name="adj" fmla="val 4688"/>
              </a:avLst>
            </a:prstGeom>
            <a:solidFill>
              <a:srgbClr val="FFFFFF"/>
            </a:solidFill>
            <a:ln>
              <a:noFill/>
            </a:ln>
          </p:spPr>
        </p:sp>
        <p:sp>
          <p:nvSpPr>
            <p:cNvPr id="56" name="Rectangle 56"/>
            <p:cNvSpPr/>
            <p:nvPr/>
          </p:nvSpPr>
          <p:spPr>
            <a:xfrm>
              <a:off x="1333500" y="3257550"/>
              <a:ext cx="2524125" cy="247650"/>
            </a:xfrm>
            <a:prstGeom prst="roundRect">
              <a:avLst>
                <a:gd name="adj" fmla="val 23077"/>
              </a:avLst>
            </a:prstGeom>
            <a:solidFill>
              <a:srgbClr val="E74726"/>
            </a:solidFill>
            <a:ln>
              <a:noFill/>
            </a:ln>
          </p:spPr>
        </p:sp>
        <p:sp>
          <p:nvSpPr>
            <p:cNvPr id="57" name="TextBox 57"/>
            <p:cNvSpPr txBox="1"/>
            <p:nvPr/>
          </p:nvSpPr>
          <p:spPr>
            <a:xfrm>
              <a:off x="2206409" y="332779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活动运营能力</a:t>
              </a:r>
            </a:p>
          </p:txBody>
        </p:sp>
        <p:sp>
          <p:nvSpPr>
            <p:cNvPr id="58" name="Rectangle 58"/>
            <p:cNvSpPr/>
            <p:nvPr/>
          </p:nvSpPr>
          <p:spPr>
            <a:xfrm>
              <a:off x="1733550" y="3581400"/>
              <a:ext cx="1714500" cy="190500"/>
            </a:xfrm>
            <a:prstGeom prst="roundRect">
              <a:avLst>
                <a:gd name="adj" fmla="val 50000"/>
              </a:avLst>
            </a:prstGeom>
            <a:noFill/>
            <a:ln w="9525">
              <a:solidFill>
                <a:srgbClr val="E74726"/>
              </a:solidFill>
            </a:ln>
          </p:spPr>
        </p:sp>
        <p:sp>
          <p:nvSpPr>
            <p:cNvPr id="59" name="TextBox 59"/>
            <p:cNvSpPr txBox="1"/>
            <p:nvPr/>
          </p:nvSpPr>
          <p:spPr>
            <a:xfrm>
              <a:off x="2107463" y="3629739"/>
              <a:ext cx="966673" cy="154781"/>
            </a:xfrm>
            <a:prstGeom prst="rect">
              <a:avLst/>
            </a:prstGeom>
            <a:noFill/>
            <a:ln>
              <a:noFill/>
            </a:ln>
          </p:spPr>
          <p:txBody>
            <a:bodyPr wrap="none" lIns="0" tIns="0" rIns="0" bIns="0" anchor="t" anchorCtr="0">
              <a:spAutoFit/>
            </a:bodyPr>
            <a:lstStyle/>
            <a:p>
              <a:pPr algn="ctr"/>
              <a:r>
                <a:rPr lang="zh-CN" sz="790" dirty="0">
                  <a:solidFill>
                    <a:srgbClr val="E74726"/>
                  </a:solidFill>
                  <a:latin typeface="+mn-lt"/>
                  <a:ea typeface="+mn-ea"/>
                  <a:cs typeface="+mn-cs"/>
                </a:rPr>
                <a:t>营销钩子，流量入口</a:t>
              </a:r>
            </a:p>
          </p:txBody>
        </p:sp>
        <p:sp>
          <p:nvSpPr>
            <p:cNvPr id="60" name="TextBox 60"/>
            <p:cNvSpPr txBox="1"/>
            <p:nvPr/>
          </p:nvSpPr>
          <p:spPr>
            <a:xfrm>
              <a:off x="1423988" y="3896439"/>
              <a:ext cx="1796402" cy="154781"/>
            </a:xfrm>
            <a:prstGeom prst="rect">
              <a:avLst/>
            </a:prstGeom>
            <a:noFill/>
            <a:ln>
              <a:noFill/>
            </a:ln>
          </p:spPr>
          <p:txBody>
            <a:bodyPr wrap="none" lIns="0" tIns="0" rIns="0" bIns="0" anchor="t" anchorCtr="0">
              <a:spAutoFit/>
            </a:bodyPr>
            <a:lstStyle/>
            <a:p>
              <a:pPr algn="l" marL="85280" indent="-85280">
                <a:buClr>
                  <a:srgbClr val="523833"/>
                </a:buClr>
                <a:buSzTx/>
                <a:buFontTx/>
                <a:buChar char="•"/>
              </a:pPr>
              <a:r>
                <a:rPr lang="zh-CN" sz="790" dirty="0">
                  <a:solidFill>
                    <a:srgbClr val="523833"/>
                  </a:solidFill>
                  <a:latin typeface="+mn-lt"/>
                  <a:ea typeface="+mn-ea"/>
                  <a:cs typeface="+mn-cs"/>
                </a:rPr>
                <a:t>构建多元互动玩法，打造高频、轻量</a:t>
              </a:r>
            </a:p>
          </p:txBody>
        </p:sp>
        <p:sp>
          <p:nvSpPr>
            <p:cNvPr id="61" name="TextBox 61"/>
            <p:cNvSpPr txBox="1"/>
            <p:nvPr/>
          </p:nvSpPr>
          <p:spPr>
            <a:xfrm>
              <a:off x="1423988" y="4058364"/>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化的客户激活与触达抓手，打开流量</a:t>
              </a:r>
            </a:p>
          </p:txBody>
        </p:sp>
        <p:sp>
          <p:nvSpPr>
            <p:cNvPr id="62" name="TextBox 62"/>
            <p:cNvSpPr txBox="1"/>
            <p:nvPr/>
          </p:nvSpPr>
          <p:spPr>
            <a:xfrm>
              <a:off x="1423988" y="4220289"/>
              <a:ext cx="222225"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入口</a:t>
              </a:r>
            </a:p>
          </p:txBody>
        </p:sp>
        <p:sp>
          <p:nvSpPr>
            <p:cNvPr id="63" name="Rectangle 63"/>
            <p:cNvSpPr/>
            <p:nvPr/>
          </p:nvSpPr>
          <p:spPr>
            <a:xfrm>
              <a:off x="3952875" y="3257550"/>
              <a:ext cx="2524125" cy="1219200"/>
            </a:xfrm>
            <a:prstGeom prst="roundRect">
              <a:avLst>
                <a:gd name="adj" fmla="val 4688"/>
              </a:avLst>
            </a:prstGeom>
            <a:solidFill>
              <a:srgbClr val="FFFFFF"/>
            </a:solidFill>
            <a:ln>
              <a:noFill/>
            </a:ln>
          </p:spPr>
        </p:sp>
        <p:sp>
          <p:nvSpPr>
            <p:cNvPr id="64" name="Rectangle 64"/>
            <p:cNvSpPr/>
            <p:nvPr/>
          </p:nvSpPr>
          <p:spPr>
            <a:xfrm>
              <a:off x="3952875" y="3257550"/>
              <a:ext cx="2524125" cy="247650"/>
            </a:xfrm>
            <a:prstGeom prst="roundRect">
              <a:avLst>
                <a:gd name="adj" fmla="val 23077"/>
              </a:avLst>
            </a:prstGeom>
            <a:solidFill>
              <a:srgbClr val="E74726"/>
            </a:solidFill>
            <a:ln>
              <a:noFill/>
            </a:ln>
          </p:spPr>
        </p:sp>
        <p:sp>
          <p:nvSpPr>
            <p:cNvPr id="65" name="TextBox 65"/>
            <p:cNvSpPr txBox="1"/>
            <p:nvPr/>
          </p:nvSpPr>
          <p:spPr>
            <a:xfrm>
              <a:off x="4825784" y="332779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产品运营能力</a:t>
              </a:r>
            </a:p>
          </p:txBody>
        </p:sp>
        <p:sp>
          <p:nvSpPr>
            <p:cNvPr id="66" name="Rectangle 66"/>
            <p:cNvSpPr/>
            <p:nvPr/>
          </p:nvSpPr>
          <p:spPr>
            <a:xfrm>
              <a:off x="4352925" y="3581400"/>
              <a:ext cx="1714500" cy="190500"/>
            </a:xfrm>
            <a:prstGeom prst="roundRect">
              <a:avLst>
                <a:gd name="adj" fmla="val 50000"/>
              </a:avLst>
            </a:prstGeom>
            <a:noFill/>
            <a:ln w="9525">
              <a:solidFill>
                <a:srgbClr val="E74726"/>
              </a:solidFill>
            </a:ln>
          </p:spPr>
        </p:sp>
        <p:sp>
          <p:nvSpPr>
            <p:cNvPr id="67" name="TextBox 67"/>
            <p:cNvSpPr txBox="1"/>
            <p:nvPr/>
          </p:nvSpPr>
          <p:spPr>
            <a:xfrm>
              <a:off x="4726838" y="3629739"/>
              <a:ext cx="966673" cy="154781"/>
            </a:xfrm>
            <a:prstGeom prst="rect">
              <a:avLst/>
            </a:prstGeom>
            <a:noFill/>
            <a:ln>
              <a:noFill/>
            </a:ln>
          </p:spPr>
          <p:txBody>
            <a:bodyPr wrap="none" lIns="0" tIns="0" rIns="0" bIns="0" anchor="t" anchorCtr="0">
              <a:spAutoFit/>
            </a:bodyPr>
            <a:lstStyle/>
            <a:p>
              <a:pPr algn="ctr"/>
              <a:r>
                <a:rPr lang="zh-CN" sz="790" dirty="0">
                  <a:solidFill>
                    <a:srgbClr val="E74726"/>
                  </a:solidFill>
                  <a:latin typeface="+mn-lt"/>
                  <a:ea typeface="+mn-ea"/>
                  <a:cs typeface="+mn-cs"/>
                </a:rPr>
                <a:t>承接基石，需求转化</a:t>
              </a:r>
            </a:p>
          </p:txBody>
        </p:sp>
        <p:sp>
          <p:nvSpPr>
            <p:cNvPr id="68" name="TextBox 68"/>
            <p:cNvSpPr txBox="1"/>
            <p:nvPr/>
          </p:nvSpPr>
          <p:spPr>
            <a:xfrm>
              <a:off x="4043362" y="3896439"/>
              <a:ext cx="1796402" cy="154781"/>
            </a:xfrm>
            <a:prstGeom prst="rect">
              <a:avLst/>
            </a:prstGeom>
            <a:noFill/>
            <a:ln>
              <a:noFill/>
            </a:ln>
          </p:spPr>
          <p:txBody>
            <a:bodyPr wrap="none" lIns="0" tIns="0" rIns="0" bIns="0" anchor="t" anchorCtr="0">
              <a:spAutoFit/>
            </a:bodyPr>
            <a:lstStyle/>
            <a:p>
              <a:pPr algn="l" marL="85280" indent="-85280">
                <a:buClr>
                  <a:srgbClr val="523833"/>
                </a:buClr>
                <a:buSzTx/>
                <a:buFontTx/>
                <a:buChar char="•"/>
              </a:pPr>
              <a:r>
                <a:rPr lang="zh-CN" sz="790" dirty="0">
                  <a:solidFill>
                    <a:srgbClr val="523833"/>
                  </a:solidFill>
                  <a:latin typeface="+mn-lt"/>
                  <a:ea typeface="+mn-ea"/>
                  <a:cs typeface="+mn-cs"/>
                </a:rPr>
                <a:t>精准匹配客群日常资金打理的碎片化</a:t>
              </a:r>
            </a:p>
          </p:txBody>
        </p:sp>
        <p:sp>
          <p:nvSpPr>
            <p:cNvPr id="69" name="TextBox 69"/>
            <p:cNvSpPr txBox="1"/>
            <p:nvPr/>
          </p:nvSpPr>
          <p:spPr>
            <a:xfrm>
              <a:off x="4043362" y="4058364"/>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需求，完成需求落地转化，挖掘零散</a:t>
              </a:r>
            </a:p>
          </p:txBody>
        </p:sp>
        <p:sp>
          <p:nvSpPr>
            <p:cNvPr id="70" name="TextBox 70"/>
            <p:cNvSpPr txBox="1"/>
            <p:nvPr/>
          </p:nvSpPr>
          <p:spPr>
            <a:xfrm>
              <a:off x="4043362" y="422028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资金背后的长期客户价值</a:t>
              </a:r>
            </a:p>
          </p:txBody>
        </p:sp>
        <p:sp>
          <p:nvSpPr>
            <p:cNvPr id="71" name="Rectangle 71"/>
            <p:cNvSpPr/>
            <p:nvPr/>
          </p:nvSpPr>
          <p:spPr>
            <a:xfrm>
              <a:off x="6572250" y="3257550"/>
              <a:ext cx="2524125" cy="1219200"/>
            </a:xfrm>
            <a:prstGeom prst="roundRect">
              <a:avLst>
                <a:gd name="adj" fmla="val 4688"/>
              </a:avLst>
            </a:prstGeom>
            <a:solidFill>
              <a:srgbClr val="FFFFFF"/>
            </a:solidFill>
            <a:ln>
              <a:noFill/>
            </a:ln>
          </p:spPr>
        </p:sp>
        <p:sp>
          <p:nvSpPr>
            <p:cNvPr id="72" name="Rectangle 72"/>
            <p:cNvSpPr/>
            <p:nvPr/>
          </p:nvSpPr>
          <p:spPr>
            <a:xfrm>
              <a:off x="6572250" y="3257550"/>
              <a:ext cx="2524125" cy="247650"/>
            </a:xfrm>
            <a:prstGeom prst="roundRect">
              <a:avLst>
                <a:gd name="adj" fmla="val 23077"/>
              </a:avLst>
            </a:prstGeom>
            <a:solidFill>
              <a:srgbClr val="E74726"/>
            </a:solidFill>
            <a:ln>
              <a:noFill/>
            </a:ln>
          </p:spPr>
        </p:sp>
        <p:sp>
          <p:nvSpPr>
            <p:cNvPr id="73" name="TextBox 73"/>
            <p:cNvSpPr txBox="1"/>
            <p:nvPr/>
          </p:nvSpPr>
          <p:spPr>
            <a:xfrm>
              <a:off x="7445159" y="332779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权益运营能力</a:t>
              </a:r>
            </a:p>
          </p:txBody>
        </p:sp>
        <p:sp>
          <p:nvSpPr>
            <p:cNvPr id="74" name="Rectangle 74"/>
            <p:cNvSpPr/>
            <p:nvPr/>
          </p:nvSpPr>
          <p:spPr>
            <a:xfrm>
              <a:off x="6972300" y="3581400"/>
              <a:ext cx="1714500" cy="190500"/>
            </a:xfrm>
            <a:prstGeom prst="roundRect">
              <a:avLst>
                <a:gd name="adj" fmla="val 50000"/>
              </a:avLst>
            </a:prstGeom>
            <a:noFill/>
            <a:ln w="9525">
              <a:solidFill>
                <a:srgbClr val="E74726"/>
              </a:solidFill>
            </a:ln>
          </p:spPr>
        </p:sp>
        <p:sp>
          <p:nvSpPr>
            <p:cNvPr id="75" name="TextBox 75"/>
            <p:cNvSpPr txBox="1"/>
            <p:nvPr/>
          </p:nvSpPr>
          <p:spPr>
            <a:xfrm>
              <a:off x="7346213" y="3629739"/>
              <a:ext cx="966673" cy="154781"/>
            </a:xfrm>
            <a:prstGeom prst="rect">
              <a:avLst/>
            </a:prstGeom>
            <a:noFill/>
            <a:ln>
              <a:noFill/>
            </a:ln>
          </p:spPr>
          <p:txBody>
            <a:bodyPr wrap="none" lIns="0" tIns="0" rIns="0" bIns="0" anchor="t" anchorCtr="0">
              <a:spAutoFit/>
            </a:bodyPr>
            <a:lstStyle/>
            <a:p>
              <a:pPr algn="ctr"/>
              <a:r>
                <a:rPr lang="zh-CN" sz="790" dirty="0">
                  <a:solidFill>
                    <a:srgbClr val="E74726"/>
                  </a:solidFill>
                  <a:latin typeface="+mn-lt"/>
                  <a:ea typeface="+mn-ea"/>
                  <a:cs typeface="+mn-cs"/>
                </a:rPr>
                <a:t>关系纽带，留存促活</a:t>
              </a:r>
            </a:p>
          </p:txBody>
        </p:sp>
        <p:sp>
          <p:nvSpPr>
            <p:cNvPr id="76" name="TextBox 76"/>
            <p:cNvSpPr txBox="1"/>
            <p:nvPr/>
          </p:nvSpPr>
          <p:spPr>
            <a:xfrm>
              <a:off x="6662738" y="3896439"/>
              <a:ext cx="1796402" cy="154781"/>
            </a:xfrm>
            <a:prstGeom prst="rect">
              <a:avLst/>
            </a:prstGeom>
            <a:noFill/>
            <a:ln>
              <a:noFill/>
            </a:ln>
          </p:spPr>
          <p:txBody>
            <a:bodyPr wrap="none" lIns="0" tIns="0" rIns="0" bIns="0" anchor="t" anchorCtr="0">
              <a:spAutoFit/>
            </a:bodyPr>
            <a:lstStyle/>
            <a:p>
              <a:pPr algn="l" marL="85280" indent="-85280">
                <a:buClr>
                  <a:srgbClr val="523833"/>
                </a:buClr>
                <a:buSzTx/>
                <a:buFontTx/>
                <a:buChar char="•"/>
              </a:pPr>
              <a:r>
                <a:rPr lang="zh-CN" sz="790" dirty="0">
                  <a:solidFill>
                    <a:srgbClr val="523833"/>
                  </a:solidFill>
                  <a:latin typeface="+mn-lt"/>
                  <a:ea typeface="+mn-ea"/>
                  <a:cs typeface="+mn-cs"/>
                </a:rPr>
                <a:t>作为促活与留存的核心驱动，维系客</a:t>
              </a:r>
            </a:p>
          </p:txBody>
        </p:sp>
        <p:sp>
          <p:nvSpPr>
            <p:cNvPr id="77" name="TextBox 77"/>
            <p:cNvSpPr txBox="1"/>
            <p:nvPr/>
          </p:nvSpPr>
          <p:spPr>
            <a:xfrm>
              <a:off x="6662738" y="4058364"/>
              <a:ext cx="8603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群关系的持续温度</a:t>
              </a:r>
            </a:p>
          </p:txBody>
        </p:sp>
        <p:sp>
          <p:nvSpPr>
            <p:cNvPr id="78" name="Rectangle 78"/>
            <p:cNvSpPr/>
            <p:nvPr/>
          </p:nvSpPr>
          <p:spPr>
            <a:xfrm>
              <a:off x="9191625" y="3257550"/>
              <a:ext cx="2524125" cy="1219200"/>
            </a:xfrm>
            <a:prstGeom prst="roundRect">
              <a:avLst>
                <a:gd name="adj" fmla="val 4688"/>
              </a:avLst>
            </a:prstGeom>
            <a:solidFill>
              <a:srgbClr val="FFFFFF"/>
            </a:solidFill>
            <a:ln>
              <a:noFill/>
            </a:ln>
          </p:spPr>
        </p:sp>
        <p:sp>
          <p:nvSpPr>
            <p:cNvPr id="79" name="Rectangle 79"/>
            <p:cNvSpPr/>
            <p:nvPr/>
          </p:nvSpPr>
          <p:spPr>
            <a:xfrm>
              <a:off x="9191625" y="3257550"/>
              <a:ext cx="2524125" cy="247650"/>
            </a:xfrm>
            <a:prstGeom prst="roundRect">
              <a:avLst>
                <a:gd name="adj" fmla="val 23077"/>
              </a:avLst>
            </a:prstGeom>
            <a:solidFill>
              <a:srgbClr val="E74726"/>
            </a:solidFill>
            <a:ln>
              <a:noFill/>
            </a:ln>
          </p:spPr>
        </p:sp>
        <p:sp>
          <p:nvSpPr>
            <p:cNvPr id="80" name="TextBox 80"/>
            <p:cNvSpPr txBox="1"/>
            <p:nvPr/>
          </p:nvSpPr>
          <p:spPr>
            <a:xfrm>
              <a:off x="10064534" y="332779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渠道运营能力</a:t>
              </a:r>
            </a:p>
          </p:txBody>
        </p:sp>
        <p:sp>
          <p:nvSpPr>
            <p:cNvPr id="81" name="Rectangle 81"/>
            <p:cNvSpPr/>
            <p:nvPr/>
          </p:nvSpPr>
          <p:spPr>
            <a:xfrm>
              <a:off x="9591675" y="3581400"/>
              <a:ext cx="1714500" cy="190500"/>
            </a:xfrm>
            <a:prstGeom prst="roundRect">
              <a:avLst>
                <a:gd name="adj" fmla="val 50000"/>
              </a:avLst>
            </a:prstGeom>
            <a:noFill/>
            <a:ln w="9525">
              <a:solidFill>
                <a:srgbClr val="E74726"/>
              </a:solidFill>
            </a:ln>
          </p:spPr>
        </p:sp>
        <p:sp>
          <p:nvSpPr>
            <p:cNvPr id="82" name="TextBox 82"/>
            <p:cNvSpPr txBox="1"/>
            <p:nvPr/>
          </p:nvSpPr>
          <p:spPr>
            <a:xfrm>
              <a:off x="9965588" y="3629739"/>
              <a:ext cx="966673" cy="154781"/>
            </a:xfrm>
            <a:prstGeom prst="rect">
              <a:avLst/>
            </a:prstGeom>
            <a:noFill/>
            <a:ln>
              <a:noFill/>
            </a:ln>
          </p:spPr>
          <p:txBody>
            <a:bodyPr wrap="none" lIns="0" tIns="0" rIns="0" bIns="0" anchor="t" anchorCtr="0">
              <a:spAutoFit/>
            </a:bodyPr>
            <a:lstStyle/>
            <a:p>
              <a:pPr algn="ctr"/>
              <a:r>
                <a:rPr lang="zh-CN" sz="790" dirty="0">
                  <a:solidFill>
                    <a:srgbClr val="E74726"/>
                  </a:solidFill>
                  <a:latin typeface="+mn-lt"/>
                  <a:ea typeface="+mn-ea"/>
                  <a:cs typeface="+mn-cs"/>
                </a:rPr>
                <a:t>全域触点，触达矩阵</a:t>
              </a:r>
            </a:p>
          </p:txBody>
        </p:sp>
        <p:sp>
          <p:nvSpPr>
            <p:cNvPr id="83" name="TextBox 83"/>
            <p:cNvSpPr txBox="1"/>
            <p:nvPr/>
          </p:nvSpPr>
          <p:spPr>
            <a:xfrm>
              <a:off x="9282112" y="3896439"/>
              <a:ext cx="1796402" cy="154781"/>
            </a:xfrm>
            <a:prstGeom prst="rect">
              <a:avLst/>
            </a:prstGeom>
            <a:noFill/>
            <a:ln>
              <a:noFill/>
            </a:ln>
          </p:spPr>
          <p:txBody>
            <a:bodyPr wrap="none" lIns="0" tIns="0" rIns="0" bIns="0" anchor="t" anchorCtr="0">
              <a:spAutoFit/>
            </a:bodyPr>
            <a:lstStyle/>
            <a:p>
              <a:pPr algn="l" marL="85280" indent="-85280">
                <a:buClr>
                  <a:srgbClr val="523833"/>
                </a:buClr>
                <a:buSzTx/>
                <a:buFontTx/>
                <a:buChar char="•"/>
              </a:pPr>
              <a:r>
                <a:rPr lang="zh-CN" sz="790" dirty="0">
                  <a:solidFill>
                    <a:srgbClr val="523833"/>
                  </a:solidFill>
                  <a:latin typeface="+mn-lt"/>
                  <a:ea typeface="+mn-ea"/>
                  <a:cs typeface="+mn-cs"/>
                </a:rPr>
                <a:t>统筹线上线下资源，搭建全域一体化</a:t>
              </a:r>
            </a:p>
          </p:txBody>
        </p:sp>
        <p:sp>
          <p:nvSpPr>
            <p:cNvPr id="84" name="TextBox 84"/>
            <p:cNvSpPr txBox="1"/>
            <p:nvPr/>
          </p:nvSpPr>
          <p:spPr>
            <a:xfrm>
              <a:off x="9282112" y="4058364"/>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触达矩阵，确保长尾客群随时可触、</a:t>
              </a:r>
            </a:p>
          </p:txBody>
        </p:sp>
        <p:sp>
          <p:nvSpPr>
            <p:cNvPr id="85" name="TextBox 85"/>
            <p:cNvSpPr txBox="1"/>
            <p:nvPr/>
          </p:nvSpPr>
          <p:spPr>
            <a:xfrm>
              <a:off x="9282112" y="4220289"/>
              <a:ext cx="222225"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可连</a:t>
              </a:r>
            </a:p>
          </p:txBody>
        </p:sp>
        <p:sp>
          <p:nvSpPr>
            <p:cNvPr id="86" name="Rectangle 86"/>
            <p:cNvSpPr/>
            <p:nvPr/>
          </p:nvSpPr>
          <p:spPr>
            <a:xfrm>
              <a:off x="1333500" y="4591050"/>
              <a:ext cx="1238250" cy="342900"/>
            </a:xfrm>
            <a:prstGeom prst="roundRect">
              <a:avLst>
                <a:gd name="adj" fmla="val 11111"/>
              </a:avLst>
            </a:prstGeom>
            <a:solidFill>
              <a:srgbClr val="DCE8FB"/>
            </a:solidFill>
            <a:ln>
              <a:noFill/>
            </a:ln>
          </p:spPr>
        </p:sp>
        <p:sp>
          <p:nvSpPr>
            <p:cNvPr id="87" name="TextBox 87"/>
            <p:cNvSpPr txBox="1"/>
            <p:nvPr/>
          </p:nvSpPr>
          <p:spPr>
            <a:xfrm>
              <a:off x="1705546" y="4712970"/>
              <a:ext cx="494157" cy="176212"/>
            </a:xfrm>
            <a:prstGeom prst="rect">
              <a:avLst/>
            </a:prstGeom>
            <a:noFill/>
            <a:ln>
              <a:noFill/>
            </a:ln>
          </p:spPr>
          <p:txBody>
            <a:bodyPr wrap="none" lIns="0" tIns="0" rIns="0" bIns="0" anchor="t" anchorCtr="0">
              <a:spAutoFit/>
            </a:bodyPr>
            <a:lstStyle/>
            <a:p>
              <a:pPr algn="ctr"/>
              <a:r>
                <a:rPr lang="zh-CN" sz="900" b="1" dirty="0">
                  <a:solidFill>
                    <a:srgbClr val="E74726"/>
                  </a:solidFill>
                  <a:latin typeface="+mn-lt"/>
                  <a:ea typeface="+mn-ea"/>
                  <a:cs typeface="+mn-cs"/>
                </a:rPr>
                <a:t>运营闭环</a:t>
              </a:r>
            </a:p>
          </p:txBody>
        </p:sp>
        <p:sp>
          <p:nvSpPr>
            <p:cNvPr id="88" name="Line 88"/>
            <p:cNvSpPr/>
            <p:nvPr/>
          </p:nvSpPr>
          <p:spPr>
            <a:xfrm>
              <a:off x="2647950" y="4762500"/>
              <a:ext cx="323850" cy="1"/>
            </a:xfrm>
            <a:prstGeom prst="line">
              <a:avLst/>
            </a:prstGeom>
            <a:noFill/>
            <a:ln w="19050">
              <a:solidFill>
                <a:srgbClr val="F0745B"/>
              </a:solidFill>
              <a:tailEnd type="triangle" w="med" len="med"/>
            </a:ln>
          </p:spPr>
        </p:sp>
        <p:sp>
          <p:nvSpPr>
            <p:cNvPr id="89" name="Rectangle 89"/>
            <p:cNvSpPr/>
            <p:nvPr/>
          </p:nvSpPr>
          <p:spPr>
            <a:xfrm>
              <a:off x="3048000" y="4591050"/>
              <a:ext cx="1905000" cy="342900"/>
            </a:xfrm>
            <a:prstGeom prst="roundRect">
              <a:avLst>
                <a:gd name="adj" fmla="val 11111"/>
              </a:avLst>
            </a:prstGeom>
            <a:solidFill>
              <a:srgbClr val="FFFFFF"/>
            </a:solidFill>
            <a:ln w="9525">
              <a:solidFill>
                <a:srgbClr val="F7D1C9"/>
              </a:solidFill>
            </a:ln>
          </p:spPr>
        </p:sp>
        <p:sp>
          <p:nvSpPr>
            <p:cNvPr id="90" name="TextBox 90"/>
            <p:cNvSpPr txBox="1"/>
            <p:nvPr/>
          </p:nvSpPr>
          <p:spPr>
            <a:xfrm>
              <a:off x="3635292" y="4712970"/>
              <a:ext cx="730415" cy="176212"/>
            </a:xfrm>
            <a:prstGeom prst="rect">
              <a:avLst/>
            </a:prstGeom>
            <a:noFill/>
            <a:ln>
              <a:noFill/>
            </a:ln>
          </p:spPr>
          <p:txBody>
            <a:bodyPr wrap="none" lIns="0" tIns="0" rIns="0" bIns="0" anchor="t" anchorCtr="0">
              <a:spAutoFit/>
            </a:bodyPr>
            <a:lstStyle/>
            <a:p>
              <a:pPr algn="ctr"/>
              <a:r>
                <a:rPr lang="zh-CN" sz="900" dirty="0">
                  <a:solidFill>
                    <a:srgbClr val="523833"/>
                  </a:solidFill>
                  <a:latin typeface="+mn-lt"/>
                  <a:ea typeface="+mn-ea"/>
                  <a:cs typeface="+mn-cs"/>
                </a:rPr>
                <a:t>01 客群圈选​</a:t>
              </a:r>
            </a:p>
          </p:txBody>
        </p:sp>
        <p:sp>
          <p:nvSpPr>
            <p:cNvPr id="91" name="Line 91"/>
            <p:cNvSpPr/>
            <p:nvPr/>
          </p:nvSpPr>
          <p:spPr>
            <a:xfrm>
              <a:off x="5010150" y="4762500"/>
              <a:ext cx="209550" cy="1"/>
            </a:xfrm>
            <a:prstGeom prst="line">
              <a:avLst/>
            </a:prstGeom>
            <a:noFill/>
            <a:ln w="19050">
              <a:solidFill>
                <a:srgbClr val="F0745B"/>
              </a:solidFill>
              <a:tailEnd type="triangle" w="med" len="med"/>
            </a:ln>
          </p:spPr>
        </p:sp>
        <p:sp>
          <p:nvSpPr>
            <p:cNvPr id="92" name="Rectangle 92"/>
            <p:cNvSpPr/>
            <p:nvPr/>
          </p:nvSpPr>
          <p:spPr>
            <a:xfrm>
              <a:off x="5295900" y="4591050"/>
              <a:ext cx="1905000" cy="342900"/>
            </a:xfrm>
            <a:prstGeom prst="roundRect">
              <a:avLst>
                <a:gd name="adj" fmla="val 11111"/>
              </a:avLst>
            </a:prstGeom>
            <a:solidFill>
              <a:srgbClr val="FFFFFF"/>
            </a:solidFill>
            <a:ln w="9525">
              <a:solidFill>
                <a:srgbClr val="F7D1C9"/>
              </a:solidFill>
            </a:ln>
          </p:spPr>
        </p:sp>
        <p:sp>
          <p:nvSpPr>
            <p:cNvPr id="93" name="TextBox 93"/>
            <p:cNvSpPr txBox="1"/>
            <p:nvPr/>
          </p:nvSpPr>
          <p:spPr>
            <a:xfrm>
              <a:off x="5883192" y="4712970"/>
              <a:ext cx="730415" cy="176212"/>
            </a:xfrm>
            <a:prstGeom prst="rect">
              <a:avLst/>
            </a:prstGeom>
            <a:noFill/>
            <a:ln>
              <a:noFill/>
            </a:ln>
          </p:spPr>
          <p:txBody>
            <a:bodyPr wrap="none" lIns="0" tIns="0" rIns="0" bIns="0" anchor="t" anchorCtr="0">
              <a:spAutoFit/>
            </a:bodyPr>
            <a:lstStyle/>
            <a:p>
              <a:pPr algn="ctr"/>
              <a:r>
                <a:rPr lang="zh-CN" sz="900" dirty="0">
                  <a:solidFill>
                    <a:srgbClr val="523833"/>
                  </a:solidFill>
                  <a:latin typeface="+mn-lt"/>
                  <a:ea typeface="+mn-ea"/>
                  <a:cs typeface="+mn-cs"/>
                </a:rPr>
                <a:t>02 资源匹配​</a:t>
              </a:r>
            </a:p>
          </p:txBody>
        </p:sp>
        <p:sp>
          <p:nvSpPr>
            <p:cNvPr id="94" name="Line 94"/>
            <p:cNvSpPr/>
            <p:nvPr/>
          </p:nvSpPr>
          <p:spPr>
            <a:xfrm>
              <a:off x="7258050" y="4762500"/>
              <a:ext cx="209550" cy="1"/>
            </a:xfrm>
            <a:prstGeom prst="line">
              <a:avLst/>
            </a:prstGeom>
            <a:noFill/>
            <a:ln w="19050">
              <a:solidFill>
                <a:srgbClr val="F0745B"/>
              </a:solidFill>
              <a:tailEnd type="triangle" w="med" len="med"/>
            </a:ln>
          </p:spPr>
        </p:sp>
        <p:sp>
          <p:nvSpPr>
            <p:cNvPr id="95" name="Rectangle 95"/>
            <p:cNvSpPr/>
            <p:nvPr/>
          </p:nvSpPr>
          <p:spPr>
            <a:xfrm>
              <a:off x="7543800" y="4591050"/>
              <a:ext cx="1905000" cy="342900"/>
            </a:xfrm>
            <a:prstGeom prst="roundRect">
              <a:avLst>
                <a:gd name="adj" fmla="val 11111"/>
              </a:avLst>
            </a:prstGeom>
            <a:solidFill>
              <a:srgbClr val="FFFFFF"/>
            </a:solidFill>
            <a:ln w="9525">
              <a:solidFill>
                <a:srgbClr val="F7D1C9"/>
              </a:solidFill>
            </a:ln>
          </p:spPr>
        </p:sp>
        <p:sp>
          <p:nvSpPr>
            <p:cNvPr id="96" name="TextBox 96"/>
            <p:cNvSpPr txBox="1"/>
            <p:nvPr/>
          </p:nvSpPr>
          <p:spPr>
            <a:xfrm>
              <a:off x="8131092" y="4712970"/>
              <a:ext cx="730415" cy="176212"/>
            </a:xfrm>
            <a:prstGeom prst="rect">
              <a:avLst/>
            </a:prstGeom>
            <a:noFill/>
            <a:ln>
              <a:noFill/>
            </a:ln>
          </p:spPr>
          <p:txBody>
            <a:bodyPr wrap="none" lIns="0" tIns="0" rIns="0" bIns="0" anchor="t" anchorCtr="0">
              <a:spAutoFit/>
            </a:bodyPr>
            <a:lstStyle/>
            <a:p>
              <a:pPr algn="ctr"/>
              <a:r>
                <a:rPr lang="zh-CN" sz="900" dirty="0">
                  <a:solidFill>
                    <a:srgbClr val="523833"/>
                  </a:solidFill>
                  <a:latin typeface="+mn-lt"/>
                  <a:ea typeface="+mn-ea"/>
                  <a:cs typeface="+mn-cs"/>
                </a:rPr>
                <a:t>03 渠道触达​</a:t>
              </a:r>
            </a:p>
          </p:txBody>
        </p:sp>
        <p:sp>
          <p:nvSpPr>
            <p:cNvPr id="97" name="Line 97"/>
            <p:cNvSpPr/>
            <p:nvPr/>
          </p:nvSpPr>
          <p:spPr>
            <a:xfrm>
              <a:off x="9505950" y="4762500"/>
              <a:ext cx="209550" cy="1"/>
            </a:xfrm>
            <a:prstGeom prst="line">
              <a:avLst/>
            </a:prstGeom>
            <a:noFill/>
            <a:ln w="19050">
              <a:solidFill>
                <a:srgbClr val="F0745B"/>
              </a:solidFill>
              <a:tailEnd type="triangle" w="med" len="med"/>
            </a:ln>
          </p:spPr>
        </p:sp>
        <p:sp>
          <p:nvSpPr>
            <p:cNvPr id="98" name="Rectangle 98"/>
            <p:cNvSpPr/>
            <p:nvPr/>
          </p:nvSpPr>
          <p:spPr>
            <a:xfrm>
              <a:off x="9791700" y="4591050"/>
              <a:ext cx="1924050" cy="342900"/>
            </a:xfrm>
            <a:prstGeom prst="roundRect">
              <a:avLst>
                <a:gd name="adj" fmla="val 11111"/>
              </a:avLst>
            </a:prstGeom>
            <a:solidFill>
              <a:srgbClr val="FFFFFF"/>
            </a:solidFill>
            <a:ln w="9525">
              <a:solidFill>
                <a:srgbClr val="F7D1C9"/>
              </a:solidFill>
            </a:ln>
          </p:spPr>
        </p:sp>
        <p:sp>
          <p:nvSpPr>
            <p:cNvPr id="99" name="TextBox 99"/>
            <p:cNvSpPr txBox="1"/>
            <p:nvPr/>
          </p:nvSpPr>
          <p:spPr>
            <a:xfrm>
              <a:off x="10388517" y="4712970"/>
              <a:ext cx="730415" cy="176212"/>
            </a:xfrm>
            <a:prstGeom prst="rect">
              <a:avLst/>
            </a:prstGeom>
            <a:noFill/>
            <a:ln>
              <a:noFill/>
            </a:ln>
          </p:spPr>
          <p:txBody>
            <a:bodyPr wrap="none" lIns="0" tIns="0" rIns="0" bIns="0" anchor="t" anchorCtr="0">
              <a:spAutoFit/>
            </a:bodyPr>
            <a:lstStyle/>
            <a:p>
              <a:pPr algn="ctr"/>
              <a:r>
                <a:rPr lang="zh-CN" sz="900" dirty="0">
                  <a:solidFill>
                    <a:srgbClr val="523833"/>
                  </a:solidFill>
                  <a:latin typeface="+mn-lt"/>
                  <a:ea typeface="+mn-ea"/>
                  <a:cs typeface="+mn-cs"/>
                </a:rPr>
                <a:t>04 成效复盘​</a:t>
              </a:r>
            </a:p>
          </p:txBody>
        </p:sp>
      </p:grpSp>
      <p:grpSp>
        <p:nvGrpSpPr>
          <p:cNvPr id="122" name="band-3"/>
          <p:cNvGrpSpPr/>
          <p:nvPr/>
        </p:nvGrpSpPr>
        <p:grpSpPr>
          <a:xfrm>
            <a:off x="1238250" y="5200650"/>
            <a:ext cx="10572750" cy="1352550"/>
            <a:chOff x="1238250" y="5200650"/>
            <a:chExt cx="10572750" cy="1352550"/>
          </a:xfrm>
        </p:grpSpPr>
        <p:sp>
          <p:nvSpPr>
            <p:cNvPr id="101" name="Rectangle 101"/>
            <p:cNvSpPr/>
            <p:nvPr/>
          </p:nvSpPr>
          <p:spPr>
            <a:xfrm>
              <a:off x="1238250" y="5200650"/>
              <a:ext cx="10572750" cy="1352550"/>
            </a:xfrm>
            <a:prstGeom prst="roundRect">
              <a:avLst>
                <a:gd name="adj" fmla="val 5634"/>
              </a:avLst>
            </a:prstGeom>
            <a:solidFill>
              <a:srgbClr val="EAF2FD"/>
            </a:solidFill>
            <a:ln>
              <a:noFill/>
            </a:ln>
          </p:spPr>
        </p:sp>
        <p:sp>
          <p:nvSpPr>
            <p:cNvPr id="102" name="Rectangle 102"/>
            <p:cNvSpPr/>
            <p:nvPr/>
          </p:nvSpPr>
          <p:spPr>
            <a:xfrm>
              <a:off x="1333500" y="5276850"/>
              <a:ext cx="5143500" cy="1200150"/>
            </a:xfrm>
            <a:prstGeom prst="roundRect">
              <a:avLst>
                <a:gd name="adj" fmla="val 4762"/>
              </a:avLst>
            </a:prstGeom>
            <a:solidFill>
              <a:srgbClr val="FFFFFF"/>
            </a:solidFill>
            <a:ln>
              <a:noFill/>
            </a:ln>
          </p:spPr>
        </p:sp>
        <p:sp>
          <p:nvSpPr>
            <p:cNvPr id="103" name="Rectangle 103"/>
            <p:cNvSpPr/>
            <p:nvPr/>
          </p:nvSpPr>
          <p:spPr>
            <a:xfrm>
              <a:off x="3143250" y="5353050"/>
              <a:ext cx="1524000" cy="247650"/>
            </a:xfrm>
            <a:prstGeom prst="roundRect">
              <a:avLst>
                <a:gd name="adj" fmla="val 50000"/>
              </a:avLst>
            </a:prstGeom>
            <a:solidFill>
              <a:srgbClr val="FFFFFF"/>
            </a:solidFill>
            <a:ln w="11430">
              <a:solidFill>
                <a:srgbClr val="E74726"/>
              </a:solidFill>
            </a:ln>
          </p:spPr>
        </p:sp>
        <p:sp>
          <p:nvSpPr>
            <p:cNvPr id="104" name="TextBox 104"/>
            <p:cNvSpPr txBox="1"/>
            <p:nvPr/>
          </p:nvSpPr>
          <p:spPr>
            <a:xfrm>
              <a:off x="3520859" y="5423297"/>
              <a:ext cx="768782" cy="183356"/>
            </a:xfrm>
            <a:prstGeom prst="rect">
              <a:avLst/>
            </a:prstGeom>
            <a:noFill/>
            <a:ln>
              <a:noFill/>
            </a:ln>
          </p:spPr>
          <p:txBody>
            <a:bodyPr wrap="none" lIns="0" tIns="0" rIns="0" bIns="0" anchor="t" anchorCtr="0">
              <a:spAutoFit/>
            </a:bodyPr>
            <a:lstStyle/>
            <a:p>
              <a:pPr algn="ctr"/>
              <a:r>
                <a:rPr lang="zh-CN" sz="940" b="1" dirty="0">
                  <a:solidFill>
                    <a:srgbClr val="E74726"/>
                  </a:solidFill>
                  <a:latin typeface="+mn-lt"/>
                  <a:ea typeface="+mn-ea"/>
                  <a:cs typeface="+mn-cs"/>
                </a:rPr>
                <a:t>运营组织支撑</a:t>
              </a:r>
            </a:p>
          </p:txBody>
        </p:sp>
        <p:sp>
          <p:nvSpPr>
            <p:cNvPr id="105" name="TextBox 105"/>
            <p:cNvSpPr txBox="1"/>
            <p:nvPr/>
          </p:nvSpPr>
          <p:spPr>
            <a:xfrm>
              <a:off x="2189467" y="5759291"/>
              <a:ext cx="3431565" cy="161925"/>
            </a:xfrm>
            <a:prstGeom prst="rect">
              <a:avLst/>
            </a:prstGeom>
            <a:noFill/>
            <a:ln>
              <a:noFill/>
            </a:ln>
          </p:spPr>
          <p:txBody>
            <a:bodyPr wrap="none" lIns="0" tIns="0" rIns="0" bIns="0" anchor="t" anchorCtr="0">
              <a:spAutoFit/>
            </a:bodyPr>
            <a:lstStyle/>
            <a:p>
              <a:pPr algn="ctr"/>
              <a:r>
                <a:rPr lang="zh-CN" sz="820" dirty="0">
                  <a:solidFill>
                    <a:srgbClr val="523833"/>
                  </a:solidFill>
                  <a:latin typeface="+mn-lt"/>
                  <a:ea typeface="+mn-ea"/>
                  <a:cs typeface="+mn-cs"/>
                </a:rPr>
                <a:t>摒弃传统人工管户，以集约化、数字化、标准化为核心，重构经营架构</a:t>
              </a:r>
            </a:p>
          </p:txBody>
        </p:sp>
        <p:sp>
          <p:nvSpPr>
            <p:cNvPr id="106" name="Rectangle 106"/>
            <p:cNvSpPr/>
            <p:nvPr/>
          </p:nvSpPr>
          <p:spPr>
            <a:xfrm>
              <a:off x="1905000" y="6019800"/>
              <a:ext cx="1905000" cy="323850"/>
            </a:xfrm>
            <a:prstGeom prst="roundRect">
              <a:avLst>
                <a:gd name="adj" fmla="val 11765"/>
              </a:avLst>
            </a:prstGeom>
            <a:solidFill>
              <a:srgbClr val="EAF2FD"/>
            </a:solidFill>
            <a:ln>
              <a:noFill/>
            </a:ln>
          </p:spPr>
        </p:sp>
        <p:sp>
          <p:nvSpPr>
            <p:cNvPr id="107" name="TextBox 107"/>
            <p:cNvSpPr txBox="1"/>
            <p:nvPr/>
          </p:nvSpPr>
          <p:spPr>
            <a:xfrm>
              <a:off x="2505418" y="6136243"/>
              <a:ext cx="704164"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总行直营模式</a:t>
              </a:r>
            </a:p>
          </p:txBody>
        </p:sp>
        <p:sp>
          <p:nvSpPr>
            <p:cNvPr id="108" name="Rectangle 108"/>
            <p:cNvSpPr/>
            <p:nvPr/>
          </p:nvSpPr>
          <p:spPr>
            <a:xfrm>
              <a:off x="4000500" y="6019800"/>
              <a:ext cx="1905000" cy="323850"/>
            </a:xfrm>
            <a:prstGeom prst="roundRect">
              <a:avLst>
                <a:gd name="adj" fmla="val 11765"/>
              </a:avLst>
            </a:prstGeom>
            <a:solidFill>
              <a:srgbClr val="EAF2FD"/>
            </a:solidFill>
            <a:ln>
              <a:noFill/>
            </a:ln>
          </p:spPr>
        </p:sp>
        <p:sp>
          <p:nvSpPr>
            <p:cNvPr id="109" name="TextBox 109"/>
            <p:cNvSpPr txBox="1"/>
            <p:nvPr/>
          </p:nvSpPr>
          <p:spPr>
            <a:xfrm>
              <a:off x="4543031" y="6136243"/>
              <a:ext cx="819937"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总分行协同模式</a:t>
              </a:r>
            </a:p>
          </p:txBody>
        </p:sp>
        <p:sp>
          <p:nvSpPr>
            <p:cNvPr id="110" name="Rectangle 110"/>
            <p:cNvSpPr/>
            <p:nvPr/>
          </p:nvSpPr>
          <p:spPr>
            <a:xfrm>
              <a:off x="6572250" y="5276850"/>
              <a:ext cx="5143500" cy="1200150"/>
            </a:xfrm>
            <a:prstGeom prst="roundRect">
              <a:avLst>
                <a:gd name="adj" fmla="val 4762"/>
              </a:avLst>
            </a:prstGeom>
            <a:solidFill>
              <a:srgbClr val="FFFFFF"/>
            </a:solidFill>
            <a:ln>
              <a:noFill/>
            </a:ln>
          </p:spPr>
        </p:sp>
        <p:sp>
          <p:nvSpPr>
            <p:cNvPr id="111" name="Rectangle 111"/>
            <p:cNvSpPr/>
            <p:nvPr/>
          </p:nvSpPr>
          <p:spPr>
            <a:xfrm>
              <a:off x="8382000" y="5353050"/>
              <a:ext cx="1524000" cy="247650"/>
            </a:xfrm>
            <a:prstGeom prst="roundRect">
              <a:avLst>
                <a:gd name="adj" fmla="val 50000"/>
              </a:avLst>
            </a:prstGeom>
            <a:solidFill>
              <a:srgbClr val="FFFFFF"/>
            </a:solidFill>
            <a:ln w="11430">
              <a:solidFill>
                <a:srgbClr val="E74726"/>
              </a:solidFill>
            </a:ln>
          </p:spPr>
        </p:sp>
        <p:sp>
          <p:nvSpPr>
            <p:cNvPr id="112" name="TextBox 112"/>
            <p:cNvSpPr txBox="1"/>
            <p:nvPr/>
          </p:nvSpPr>
          <p:spPr>
            <a:xfrm>
              <a:off x="8759609" y="5423297"/>
              <a:ext cx="768782" cy="183356"/>
            </a:xfrm>
            <a:prstGeom prst="rect">
              <a:avLst/>
            </a:prstGeom>
            <a:noFill/>
            <a:ln>
              <a:noFill/>
            </a:ln>
          </p:spPr>
          <p:txBody>
            <a:bodyPr wrap="none" lIns="0" tIns="0" rIns="0" bIns="0" anchor="t" anchorCtr="0">
              <a:spAutoFit/>
            </a:bodyPr>
            <a:lstStyle/>
            <a:p>
              <a:pPr algn="ctr"/>
              <a:r>
                <a:rPr lang="zh-CN" sz="940" b="1" dirty="0">
                  <a:solidFill>
                    <a:srgbClr val="E74726"/>
                  </a:solidFill>
                  <a:latin typeface="+mn-lt"/>
                  <a:ea typeface="+mn-ea"/>
                  <a:cs typeface="+mn-cs"/>
                </a:rPr>
                <a:t>运营系统支撑</a:t>
              </a:r>
            </a:p>
          </p:txBody>
        </p:sp>
        <p:sp>
          <p:nvSpPr>
            <p:cNvPr id="113" name="TextBox 113"/>
            <p:cNvSpPr txBox="1"/>
            <p:nvPr/>
          </p:nvSpPr>
          <p:spPr>
            <a:xfrm>
              <a:off x="7373023" y="5759291"/>
              <a:ext cx="3541954" cy="161925"/>
            </a:xfrm>
            <a:prstGeom prst="rect">
              <a:avLst/>
            </a:prstGeom>
            <a:noFill/>
            <a:ln>
              <a:noFill/>
            </a:ln>
          </p:spPr>
          <p:txBody>
            <a:bodyPr wrap="none" lIns="0" tIns="0" rIns="0" bIns="0" anchor="t" anchorCtr="0">
              <a:spAutoFit/>
            </a:bodyPr>
            <a:lstStyle/>
            <a:p>
              <a:pPr algn="ctr"/>
              <a:r>
                <a:rPr lang="zh-CN" sz="820" dirty="0">
                  <a:solidFill>
                    <a:srgbClr val="523833"/>
                  </a:solidFill>
                  <a:latin typeface="+mn-lt"/>
                  <a:ea typeface="+mn-ea"/>
                  <a:cs typeface="+mn-cs"/>
                </a:rPr>
                <a:t>以金融科技为底层支撑，以系统平台为载体，让策略设计走向规模化运转</a:t>
              </a:r>
            </a:p>
          </p:txBody>
        </p:sp>
        <p:sp>
          <p:nvSpPr>
            <p:cNvPr id="114" name="Rectangle 114"/>
            <p:cNvSpPr/>
            <p:nvPr/>
          </p:nvSpPr>
          <p:spPr>
            <a:xfrm>
              <a:off x="6667500" y="6019800"/>
              <a:ext cx="1162050" cy="323850"/>
            </a:xfrm>
            <a:prstGeom prst="roundRect">
              <a:avLst>
                <a:gd name="adj" fmla="val 11765"/>
              </a:avLst>
            </a:prstGeom>
            <a:solidFill>
              <a:srgbClr val="EAF2FD"/>
            </a:solidFill>
            <a:ln>
              <a:noFill/>
            </a:ln>
          </p:spPr>
        </p:sp>
        <p:sp>
          <p:nvSpPr>
            <p:cNvPr id="115" name="TextBox 115"/>
            <p:cNvSpPr txBox="1"/>
            <p:nvPr/>
          </p:nvSpPr>
          <p:spPr>
            <a:xfrm>
              <a:off x="7012216" y="6136243"/>
              <a:ext cx="472618"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数据平台</a:t>
              </a:r>
            </a:p>
          </p:txBody>
        </p:sp>
        <p:sp>
          <p:nvSpPr>
            <p:cNvPr id="116" name="Rectangle 116"/>
            <p:cNvSpPr/>
            <p:nvPr/>
          </p:nvSpPr>
          <p:spPr>
            <a:xfrm>
              <a:off x="7905750" y="6019800"/>
              <a:ext cx="1238250" cy="323850"/>
            </a:xfrm>
            <a:prstGeom prst="roundRect">
              <a:avLst>
                <a:gd name="adj" fmla="val 11765"/>
              </a:avLst>
            </a:prstGeom>
            <a:solidFill>
              <a:srgbClr val="EAF2FD"/>
            </a:solidFill>
            <a:ln>
              <a:noFill/>
            </a:ln>
          </p:spPr>
        </p:sp>
        <p:sp>
          <p:nvSpPr>
            <p:cNvPr id="117" name="TextBox 117"/>
            <p:cNvSpPr txBox="1"/>
            <p:nvPr/>
          </p:nvSpPr>
          <p:spPr>
            <a:xfrm>
              <a:off x="8057020" y="6136243"/>
              <a:ext cx="935711"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智能营销运营平台</a:t>
              </a:r>
            </a:p>
          </p:txBody>
        </p:sp>
        <p:sp>
          <p:nvSpPr>
            <p:cNvPr id="118" name="Rectangle 118"/>
            <p:cNvSpPr/>
            <p:nvPr/>
          </p:nvSpPr>
          <p:spPr>
            <a:xfrm>
              <a:off x="9220200" y="6019800"/>
              <a:ext cx="1162050" cy="323850"/>
            </a:xfrm>
            <a:prstGeom prst="roundRect">
              <a:avLst>
                <a:gd name="adj" fmla="val 11765"/>
              </a:avLst>
            </a:prstGeom>
            <a:solidFill>
              <a:srgbClr val="EAF2FD"/>
            </a:solidFill>
            <a:ln>
              <a:noFill/>
            </a:ln>
          </p:spPr>
        </p:sp>
        <p:sp>
          <p:nvSpPr>
            <p:cNvPr id="119" name="TextBox 119"/>
            <p:cNvSpPr txBox="1"/>
            <p:nvPr/>
          </p:nvSpPr>
          <p:spPr>
            <a:xfrm>
              <a:off x="9449143" y="6136243"/>
              <a:ext cx="704164"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渠道协同平台</a:t>
              </a:r>
            </a:p>
          </p:txBody>
        </p:sp>
        <p:sp>
          <p:nvSpPr>
            <p:cNvPr id="120" name="Rectangle 120"/>
            <p:cNvSpPr/>
            <p:nvPr/>
          </p:nvSpPr>
          <p:spPr>
            <a:xfrm>
              <a:off x="10458450" y="6019800"/>
              <a:ext cx="1181100" cy="323850"/>
            </a:xfrm>
            <a:prstGeom prst="roundRect">
              <a:avLst>
                <a:gd name="adj" fmla="val 11765"/>
              </a:avLst>
            </a:prstGeom>
            <a:solidFill>
              <a:srgbClr val="EAF2FD"/>
            </a:solidFill>
            <a:ln>
              <a:noFill/>
            </a:ln>
          </p:spPr>
        </p:sp>
        <p:sp>
          <p:nvSpPr>
            <p:cNvPr id="121" name="TextBox 121"/>
            <p:cNvSpPr txBox="1"/>
            <p:nvPr/>
          </p:nvSpPr>
          <p:spPr>
            <a:xfrm>
              <a:off x="10581145" y="6136243"/>
              <a:ext cx="935711"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智能风控合规平台</a:t>
              </a:r>
            </a:p>
          </p:txBody>
        </p:sp>
      </p:grpSp>
      <p:sp>
        <p:nvSpPr>
          <p:cNvPr id="123" name="TextBox 123"/>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07</a:t>
              </a:r>
            </a:p>
          </p:txBody>
        </p:sp>
        <p:sp>
          <p:nvSpPr>
            <p:cNvPr id="4" name="TextBox 4"/>
            <p:cNvSpPr txBox="1"/>
            <p:nvPr/>
          </p:nvSpPr>
          <p:spPr>
            <a:xfrm>
              <a:off x="942594" y="151448"/>
              <a:ext cx="7404735"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2.1 分层分群｜做好长尾客户的分层分群是</a:t>
              </a:r>
              <a:r>
                <a:rPr lang="zh-CN" sz="1950" b="1" dirty="0">
                  <a:solidFill>
                    <a:srgbClr val="E74726"/>
                  </a:solidFill>
                  <a:latin typeface="SimSun"/>
                  <a:ea typeface="SimSun"/>
                  <a:cs typeface="SimSun"/>
                </a:rPr>
                <a:t>经营破局的起点</a:t>
              </a:r>
              <a:r>
                <a:rPr lang="zh-CN" sz="1950" b="1" dirty="0">
                  <a:solidFill>
                    <a:srgbClr val="1F1F1F"/>
                  </a:solidFill>
                  <a:latin typeface="SimSun"/>
                  <a:ea typeface="SimSun"/>
                  <a:cs typeface="SimSun"/>
                </a:rPr>
                <a:t>​</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0" name="lead"/>
          <p:cNvGrpSpPr/>
          <p:nvPr/>
        </p:nvGrpSpPr>
        <p:grpSpPr>
          <a:xfrm>
            <a:off x="566166" y="667702"/>
            <a:ext cx="6980686" cy="417910"/>
            <a:chOff x="566166" y="667702"/>
            <a:chExt cx="6980686" cy="417910"/>
          </a:xfrm>
        </p:grpSpPr>
        <p:sp>
          <p:nvSpPr>
            <p:cNvPr id="8" name="TextBox 8"/>
            <p:cNvSpPr txBox="1"/>
            <p:nvPr/>
          </p:nvSpPr>
          <p:spPr>
            <a:xfrm>
              <a:off x="566166" y="667702"/>
              <a:ext cx="6980686"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商业银行零售长尾客群的经营破局，核心在于打破“一刀切”的粗放管理，转向以分层分群为基础的精细化运营​​</a:t>
              </a:r>
            </a:p>
          </p:txBody>
        </p:sp>
        <p:sp>
          <p:nvSpPr>
            <p:cNvPr id="9" name="TextBox 9"/>
            <p:cNvSpPr txBox="1"/>
            <p:nvPr/>
          </p:nvSpPr>
          <p:spPr>
            <a:xfrm>
              <a:off x="566738" y="916543"/>
              <a:ext cx="3366948"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只有先把客户分清楚，才能知道该对谁、用什么方式、推什么内容</a:t>
              </a:r>
            </a:p>
          </p:txBody>
        </p:sp>
      </p:grpSp>
      <p:grpSp>
        <p:nvGrpSpPr>
          <p:cNvPr id="29" name="steps"/>
          <p:cNvGrpSpPr/>
          <p:nvPr/>
        </p:nvGrpSpPr>
        <p:grpSpPr>
          <a:xfrm>
            <a:off x="476250" y="1333024"/>
            <a:ext cx="11239500" cy="1048226"/>
            <a:chOff x="476250" y="1333024"/>
            <a:chExt cx="11239500" cy="1048226"/>
          </a:xfrm>
        </p:grpSpPr>
        <p:sp>
          <p:nvSpPr>
            <p:cNvPr id="11" name="TextBox 11"/>
            <p:cNvSpPr txBox="1"/>
            <p:nvPr/>
          </p:nvSpPr>
          <p:spPr>
            <a:xfrm>
              <a:off x="566547" y="1333024"/>
              <a:ext cx="1461110" cy="190690"/>
            </a:xfrm>
            <a:prstGeom prst="rect">
              <a:avLst/>
            </a:prstGeom>
            <a:noFill/>
            <a:ln>
              <a:noFill/>
            </a:ln>
          </p:spPr>
          <p:txBody>
            <a:bodyPr wrap="none" lIns="0" tIns="0" rIns="0" bIns="0" anchor="t" anchorCtr="0">
              <a:spAutoFit/>
            </a:bodyPr>
            <a:lstStyle/>
            <a:p>
              <a:pPr algn="l"/>
              <a:r>
                <a:rPr lang="zh-CN" sz="980" b="1" dirty="0">
                  <a:solidFill>
                    <a:srgbClr val="E74726"/>
                  </a:solidFill>
                  <a:latin typeface="+mn-lt"/>
                  <a:ea typeface="+mn-ea"/>
                  <a:cs typeface="+mn-cs"/>
                </a:rPr>
                <a:t>构建科学的分层分群流程</a:t>
              </a:r>
            </a:p>
          </p:txBody>
        </p:sp>
        <p:sp>
          <p:nvSpPr>
            <p:cNvPr id="12" name="Rectangle 12"/>
            <p:cNvSpPr/>
            <p:nvPr/>
          </p:nvSpPr>
          <p:spPr>
            <a:xfrm>
              <a:off x="476250" y="1543050"/>
              <a:ext cx="2667000" cy="838200"/>
            </a:xfrm>
            <a:prstGeom prst="roundRect">
              <a:avLst>
                <a:gd name="adj" fmla="val 6818"/>
              </a:avLst>
            </a:prstGeom>
            <a:solidFill>
              <a:srgbClr val="FFFFFF"/>
            </a:solidFill>
            <a:ln w="9525">
              <a:solidFill>
                <a:srgbClr val="E3EBF7"/>
              </a:solidFill>
            </a:ln>
            <a:effectLst>
              <a:outerShdw blurRad="114300" dist="38100" dir="5400000" algn="ctr" rotWithShape="0">
                <a:srgbClr val="B8351A">
                  <a:alpha val="7500"/>
                </a:srgbClr>
              </a:outerShdw>
            </a:effectLst>
          </p:spPr>
        </p:sp>
        <p:sp>
          <p:nvSpPr>
            <p:cNvPr id="13" name="TextBox 13"/>
            <p:cNvSpPr txBox="1"/>
            <p:nvPr/>
          </p:nvSpPr>
          <p:spPr>
            <a:xfrm>
              <a:off x="585788" y="1625441"/>
              <a:ext cx="132321" cy="161925"/>
            </a:xfrm>
            <a:prstGeom prst="rect">
              <a:avLst/>
            </a:prstGeom>
            <a:noFill/>
            <a:ln>
              <a:noFill/>
            </a:ln>
          </p:spPr>
          <p:txBody>
            <a:bodyPr wrap="none" lIns="0" tIns="0" rIns="0" bIns="0" anchor="t" anchorCtr="0">
              <a:spAutoFit/>
            </a:bodyPr>
            <a:lstStyle/>
            <a:p>
              <a:pPr algn="l"/>
              <a:r>
                <a:rPr lang="zh-CN" sz="820" i="1" dirty="0">
                  <a:solidFill>
                    <a:srgbClr val="9AA5B4"/>
                  </a:solidFill>
                  <a:latin typeface="+mj-lt"/>
                  <a:ea typeface="+mj-ea"/>
                  <a:cs typeface="+mj-cs"/>
                </a:rPr>
                <a:t>01</a:t>
              </a:r>
            </a:p>
          </p:txBody>
        </p:sp>
        <p:sp>
          <p:nvSpPr>
            <p:cNvPr id="14" name="TextBox 14"/>
            <p:cNvSpPr txBox="1"/>
            <p:nvPr/>
          </p:nvSpPr>
          <p:spPr>
            <a:xfrm>
              <a:off x="585216" y="1829752"/>
              <a:ext cx="858774"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多维标签分析</a:t>
              </a:r>
            </a:p>
          </p:txBody>
        </p:sp>
        <p:sp>
          <p:nvSpPr>
            <p:cNvPr id="15" name="TextBox 15"/>
            <p:cNvSpPr txBox="1"/>
            <p:nvPr/>
          </p:nvSpPr>
          <p:spPr>
            <a:xfrm>
              <a:off x="585788" y="2048589"/>
              <a:ext cx="1955726"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资产/收入/年龄/行为/风险偏好等多维​​</a:t>
              </a:r>
            </a:p>
          </p:txBody>
        </p:sp>
        <p:sp>
          <p:nvSpPr>
            <p:cNvPr id="16" name="TextBox 16"/>
            <p:cNvSpPr txBox="1"/>
            <p:nvPr/>
          </p:nvSpPr>
          <p:spPr>
            <a:xfrm>
              <a:off x="585788" y="2200989"/>
              <a:ext cx="1604772"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标签体系，对客群进行画像分析。</a:t>
              </a:r>
            </a:p>
          </p:txBody>
        </p:sp>
        <p:sp>
          <p:nvSpPr>
            <p:cNvPr id="17" name="Rectangle 17"/>
            <p:cNvSpPr/>
            <p:nvPr/>
          </p:nvSpPr>
          <p:spPr>
            <a:xfrm>
              <a:off x="3333750" y="1543050"/>
              <a:ext cx="2667000" cy="838200"/>
            </a:xfrm>
            <a:prstGeom prst="roundRect">
              <a:avLst>
                <a:gd name="adj" fmla="val 6818"/>
              </a:avLst>
            </a:prstGeom>
            <a:solidFill>
              <a:srgbClr val="FFFFFF"/>
            </a:solidFill>
            <a:ln w="9525">
              <a:solidFill>
                <a:srgbClr val="E3EBF7"/>
              </a:solidFill>
            </a:ln>
            <a:effectLst>
              <a:outerShdw blurRad="114300" dist="38100" dir="5400000" algn="ctr" rotWithShape="0">
                <a:srgbClr val="B8351A">
                  <a:alpha val="7500"/>
                </a:srgbClr>
              </a:outerShdw>
            </a:effectLst>
          </p:spPr>
        </p:sp>
        <p:sp>
          <p:nvSpPr>
            <p:cNvPr id="18" name="TextBox 18"/>
            <p:cNvSpPr txBox="1"/>
            <p:nvPr/>
          </p:nvSpPr>
          <p:spPr>
            <a:xfrm>
              <a:off x="3443288" y="1625441"/>
              <a:ext cx="132321" cy="161925"/>
            </a:xfrm>
            <a:prstGeom prst="rect">
              <a:avLst/>
            </a:prstGeom>
            <a:noFill/>
            <a:ln>
              <a:noFill/>
            </a:ln>
          </p:spPr>
          <p:txBody>
            <a:bodyPr wrap="none" lIns="0" tIns="0" rIns="0" bIns="0" anchor="t" anchorCtr="0">
              <a:spAutoFit/>
            </a:bodyPr>
            <a:lstStyle/>
            <a:p>
              <a:pPr algn="l"/>
              <a:r>
                <a:rPr lang="zh-CN" sz="820" i="1" dirty="0">
                  <a:solidFill>
                    <a:srgbClr val="9AA5B4"/>
                  </a:solidFill>
                  <a:latin typeface="+mj-lt"/>
                  <a:ea typeface="+mj-ea"/>
                  <a:cs typeface="+mj-cs"/>
                </a:rPr>
                <a:t>02</a:t>
              </a:r>
            </a:p>
          </p:txBody>
        </p:sp>
        <p:sp>
          <p:nvSpPr>
            <p:cNvPr id="19" name="TextBox 19"/>
            <p:cNvSpPr txBox="1"/>
            <p:nvPr/>
          </p:nvSpPr>
          <p:spPr>
            <a:xfrm>
              <a:off x="3442716" y="1829752"/>
              <a:ext cx="858774"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划定科学分层</a:t>
              </a:r>
            </a:p>
          </p:txBody>
        </p:sp>
        <p:sp>
          <p:nvSpPr>
            <p:cNvPr id="20" name="TextBox 20"/>
            <p:cNvSpPr txBox="1"/>
            <p:nvPr/>
          </p:nvSpPr>
          <p:spPr>
            <a:xfrm>
              <a:off x="3443288" y="2048589"/>
              <a:ext cx="1552099"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按AUM资产划定细分运营梯队。​</a:t>
              </a:r>
            </a:p>
          </p:txBody>
        </p:sp>
        <p:sp>
          <p:nvSpPr>
            <p:cNvPr id="21" name="Rectangle 21"/>
            <p:cNvSpPr/>
            <p:nvPr/>
          </p:nvSpPr>
          <p:spPr>
            <a:xfrm>
              <a:off x="6191250" y="1543050"/>
              <a:ext cx="2667000" cy="838200"/>
            </a:xfrm>
            <a:prstGeom prst="roundRect">
              <a:avLst>
                <a:gd name="adj" fmla="val 6818"/>
              </a:avLst>
            </a:prstGeom>
            <a:solidFill>
              <a:srgbClr val="FFFFFF"/>
            </a:solidFill>
            <a:ln w="9525">
              <a:solidFill>
                <a:srgbClr val="E3EBF7"/>
              </a:solidFill>
            </a:ln>
            <a:effectLst>
              <a:outerShdw blurRad="114300" dist="38100" dir="5400000" algn="ctr" rotWithShape="0">
                <a:srgbClr val="B8351A">
                  <a:alpha val="7500"/>
                </a:srgbClr>
              </a:outerShdw>
            </a:effectLst>
          </p:spPr>
        </p:sp>
        <p:sp>
          <p:nvSpPr>
            <p:cNvPr id="22" name="TextBox 22"/>
            <p:cNvSpPr txBox="1"/>
            <p:nvPr/>
          </p:nvSpPr>
          <p:spPr>
            <a:xfrm>
              <a:off x="6300788" y="1625441"/>
              <a:ext cx="132321" cy="161925"/>
            </a:xfrm>
            <a:prstGeom prst="rect">
              <a:avLst/>
            </a:prstGeom>
            <a:noFill/>
            <a:ln>
              <a:noFill/>
            </a:ln>
          </p:spPr>
          <p:txBody>
            <a:bodyPr wrap="none" lIns="0" tIns="0" rIns="0" bIns="0" anchor="t" anchorCtr="0">
              <a:spAutoFit/>
            </a:bodyPr>
            <a:lstStyle/>
            <a:p>
              <a:pPr algn="l"/>
              <a:r>
                <a:rPr lang="zh-CN" sz="820" i="1" dirty="0">
                  <a:solidFill>
                    <a:srgbClr val="9AA5B4"/>
                  </a:solidFill>
                  <a:latin typeface="+mj-lt"/>
                  <a:ea typeface="+mj-ea"/>
                  <a:cs typeface="+mj-cs"/>
                </a:rPr>
                <a:t>03</a:t>
              </a:r>
            </a:p>
          </p:txBody>
        </p:sp>
        <p:sp>
          <p:nvSpPr>
            <p:cNvPr id="23" name="TextBox 23"/>
            <p:cNvSpPr txBox="1"/>
            <p:nvPr/>
          </p:nvSpPr>
          <p:spPr>
            <a:xfrm>
              <a:off x="6300216" y="1829752"/>
              <a:ext cx="858774"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实施精准分群</a:t>
              </a:r>
            </a:p>
          </p:txBody>
        </p:sp>
        <p:sp>
          <p:nvSpPr>
            <p:cNvPr id="24" name="TextBox 24"/>
            <p:cNvSpPr txBox="1"/>
            <p:nvPr/>
          </p:nvSpPr>
          <p:spPr>
            <a:xfrm>
              <a:off x="6300788" y="2048589"/>
              <a:ext cx="1083658"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特征分群+事件分群。​</a:t>
              </a:r>
            </a:p>
          </p:txBody>
        </p:sp>
        <p:sp>
          <p:nvSpPr>
            <p:cNvPr id="25" name="Rectangle 25"/>
            <p:cNvSpPr/>
            <p:nvPr/>
          </p:nvSpPr>
          <p:spPr>
            <a:xfrm>
              <a:off x="9048750" y="1543050"/>
              <a:ext cx="2667000" cy="838200"/>
            </a:xfrm>
            <a:prstGeom prst="roundRect">
              <a:avLst>
                <a:gd name="adj" fmla="val 6818"/>
              </a:avLst>
            </a:prstGeom>
            <a:solidFill>
              <a:srgbClr val="FFFFFF"/>
            </a:solidFill>
            <a:ln w="9525">
              <a:solidFill>
                <a:srgbClr val="E3EBF7"/>
              </a:solidFill>
            </a:ln>
            <a:effectLst>
              <a:outerShdw blurRad="114300" dist="38100" dir="5400000" algn="ctr" rotWithShape="0">
                <a:srgbClr val="B8351A">
                  <a:alpha val="7500"/>
                </a:srgbClr>
              </a:outerShdw>
            </a:effectLst>
          </p:spPr>
        </p:sp>
        <p:sp>
          <p:nvSpPr>
            <p:cNvPr id="26" name="TextBox 26"/>
            <p:cNvSpPr txBox="1"/>
            <p:nvPr/>
          </p:nvSpPr>
          <p:spPr>
            <a:xfrm>
              <a:off x="9158288" y="1625441"/>
              <a:ext cx="132321" cy="161925"/>
            </a:xfrm>
            <a:prstGeom prst="rect">
              <a:avLst/>
            </a:prstGeom>
            <a:noFill/>
            <a:ln>
              <a:noFill/>
            </a:ln>
          </p:spPr>
          <p:txBody>
            <a:bodyPr wrap="none" lIns="0" tIns="0" rIns="0" bIns="0" anchor="t" anchorCtr="0">
              <a:spAutoFit/>
            </a:bodyPr>
            <a:lstStyle/>
            <a:p>
              <a:pPr algn="l"/>
              <a:r>
                <a:rPr lang="zh-CN" sz="820" i="1" dirty="0">
                  <a:solidFill>
                    <a:srgbClr val="9AA5B4"/>
                  </a:solidFill>
                  <a:latin typeface="+mj-lt"/>
                  <a:ea typeface="+mj-ea"/>
                  <a:cs typeface="+mj-cs"/>
                </a:rPr>
                <a:t>04</a:t>
              </a:r>
            </a:p>
          </p:txBody>
        </p:sp>
        <p:sp>
          <p:nvSpPr>
            <p:cNvPr id="27" name="TextBox 27"/>
            <p:cNvSpPr txBox="1"/>
            <p:nvPr/>
          </p:nvSpPr>
          <p:spPr>
            <a:xfrm>
              <a:off x="9157716" y="1829752"/>
              <a:ext cx="858774"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制定精细策略</a:t>
              </a:r>
            </a:p>
          </p:txBody>
        </p:sp>
        <p:sp>
          <p:nvSpPr>
            <p:cNvPr id="28" name="TextBox 28"/>
            <p:cNvSpPr txBox="1"/>
            <p:nvPr/>
          </p:nvSpPr>
          <p:spPr>
            <a:xfrm>
              <a:off x="9158288" y="2048589"/>
              <a:ext cx="1498422"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根据分层分群设计差异化策略。</a:t>
              </a:r>
            </a:p>
          </p:txBody>
        </p:sp>
      </p:grpSp>
      <p:grpSp>
        <p:nvGrpSpPr>
          <p:cNvPr id="33" name="goal-bar"/>
          <p:cNvGrpSpPr/>
          <p:nvPr/>
        </p:nvGrpSpPr>
        <p:grpSpPr>
          <a:xfrm>
            <a:off x="476250" y="2495550"/>
            <a:ext cx="11239500" cy="304800"/>
            <a:chOff x="476250" y="2495550"/>
            <a:chExt cx="11239500" cy="304800"/>
          </a:xfrm>
        </p:grpSpPr>
        <p:sp>
          <p:nvSpPr>
            <p:cNvPr id="30" name="Rectangle 30"/>
            <p:cNvSpPr/>
            <p:nvPr/>
          </p:nvSpPr>
          <p:spPr>
            <a:xfrm>
              <a:off x="476250" y="2495550"/>
              <a:ext cx="11239500" cy="304800"/>
            </a:xfrm>
            <a:prstGeom prst="roundRect">
              <a:avLst>
                <a:gd name="adj" fmla="val 12500"/>
              </a:avLst>
            </a:prstGeom>
            <a:solidFill>
              <a:srgbClr val="EAF2FD"/>
            </a:solidFill>
            <a:ln>
              <a:noFill/>
            </a:ln>
          </p:spPr>
        </p:sp>
        <p:sp>
          <p:nvSpPr>
            <p:cNvPr id="31" name="Rectangle 31"/>
            <p:cNvSpPr/>
            <p:nvPr/>
          </p:nvSpPr>
          <p:spPr>
            <a:xfrm>
              <a:off x="476250" y="2495550"/>
              <a:ext cx="47625" cy="304800"/>
            </a:xfrm>
            <a:prstGeom prst="rect">
              <a:avLst/>
            </a:prstGeom>
            <a:solidFill>
              <a:srgbClr val="E74726"/>
            </a:solidFill>
            <a:ln>
              <a:noFill/>
            </a:ln>
          </p:spPr>
        </p:sp>
        <p:sp>
          <p:nvSpPr>
            <p:cNvPr id="32" name="TextBox 32"/>
            <p:cNvSpPr txBox="1"/>
            <p:nvPr/>
          </p:nvSpPr>
          <p:spPr>
            <a:xfrm>
              <a:off x="642938" y="2594372"/>
              <a:ext cx="4691609" cy="183356"/>
            </a:xfrm>
            <a:prstGeom prst="rect">
              <a:avLst/>
            </a:prstGeom>
            <a:noFill/>
            <a:ln>
              <a:noFill/>
            </a:ln>
          </p:spPr>
          <p:txBody>
            <a:bodyPr wrap="none" lIns="0" tIns="0" rIns="0" bIns="0" anchor="t" anchorCtr="0">
              <a:spAutoFit/>
            </a:bodyPr>
            <a:lstStyle/>
            <a:p>
              <a:pPr algn="l"/>
              <a:r>
                <a:rPr lang="zh-CN" sz="940" b="1" dirty="0">
                  <a:solidFill>
                    <a:srgbClr val="1F1F1F"/>
                  </a:solidFill>
                  <a:latin typeface="+mn-lt"/>
                  <a:ea typeface="+mn-ea"/>
                  <a:cs typeface="+mn-cs"/>
                </a:rPr>
                <a:t>分层分群目标：</a:t>
              </a:r>
              <a:r>
                <a:rPr lang="zh-CN" sz="940" dirty="0">
                  <a:solidFill>
                    <a:srgbClr val="523833"/>
                  </a:solidFill>
                  <a:latin typeface="+mn-lt"/>
                  <a:ea typeface="+mn-ea"/>
                  <a:cs typeface="+mn-cs"/>
                </a:rPr>
                <a:t>只有先把客户分清楚，才能知道该对谁、用什么方式、推什么内容。</a:t>
              </a:r>
            </a:p>
          </p:txBody>
        </p:sp>
      </p:grpSp>
      <p:grpSp>
        <p:nvGrpSpPr>
          <p:cNvPr id="54" name="col-left"/>
          <p:cNvGrpSpPr/>
          <p:nvPr/>
        </p:nvGrpSpPr>
        <p:grpSpPr>
          <a:xfrm>
            <a:off x="438150" y="2971800"/>
            <a:ext cx="5334000" cy="3562350"/>
            <a:chOff x="438150" y="2971800"/>
            <a:chExt cx="5334000" cy="3562350"/>
          </a:xfrm>
        </p:grpSpPr>
        <p:sp>
          <p:nvSpPr>
            <p:cNvPr id="34" name="Rectangle 34"/>
            <p:cNvSpPr/>
            <p:nvPr/>
          </p:nvSpPr>
          <p:spPr>
            <a:xfrm>
              <a:off x="438150" y="2971800"/>
              <a:ext cx="5334000" cy="342900"/>
            </a:xfrm>
            <a:prstGeom prst="roundRect">
              <a:avLst>
                <a:gd name="adj" fmla="val 16667"/>
              </a:avLst>
            </a:prstGeom>
            <a:solidFill>
              <a:srgbClr val="E74726"/>
            </a:solidFill>
            <a:ln>
              <a:noFill/>
            </a:ln>
          </p:spPr>
        </p:sp>
        <p:sp>
          <p:nvSpPr>
            <p:cNvPr id="35" name="TextBox 35"/>
            <p:cNvSpPr txBox="1"/>
            <p:nvPr/>
          </p:nvSpPr>
          <p:spPr>
            <a:xfrm>
              <a:off x="2337934" y="3087052"/>
              <a:ext cx="153443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2.1.1 分层确保广覆盖​</a:t>
              </a:r>
            </a:p>
          </p:txBody>
        </p:sp>
        <p:sp>
          <p:nvSpPr>
            <p:cNvPr id="36" name="Rectangle 36"/>
            <p:cNvSpPr/>
            <p:nvPr/>
          </p:nvSpPr>
          <p:spPr>
            <a:xfrm>
              <a:off x="438150" y="3371850"/>
              <a:ext cx="5334000" cy="3162300"/>
            </a:xfrm>
            <a:prstGeom prst="roundRect">
              <a:avLst>
                <a:gd name="adj" fmla="val 1807"/>
              </a:avLst>
            </a:prstGeom>
            <a:solidFill>
              <a:srgbClr val="FFFFFF"/>
            </a:solidFill>
            <a:ln w="11430">
              <a:solidFill>
                <a:srgbClr val="DCE8FB"/>
              </a:solidFill>
            </a:ln>
          </p:spPr>
        </p:sp>
        <p:sp>
          <p:nvSpPr>
            <p:cNvPr id="37" name="TextBox 37"/>
            <p:cNvSpPr txBox="1"/>
            <p:nvPr/>
          </p:nvSpPr>
          <p:spPr>
            <a:xfrm>
              <a:off x="566547" y="3533299"/>
              <a:ext cx="801472" cy="190690"/>
            </a:xfrm>
            <a:prstGeom prst="rect">
              <a:avLst/>
            </a:prstGeom>
            <a:noFill/>
            <a:ln>
              <a:noFill/>
            </a:ln>
          </p:spPr>
          <p:txBody>
            <a:bodyPr wrap="none" lIns="0" tIns="0" rIns="0" bIns="0" anchor="t" anchorCtr="0">
              <a:spAutoFit/>
            </a:bodyPr>
            <a:lstStyle/>
            <a:p>
              <a:pPr algn="l"/>
              <a:r>
                <a:rPr lang="zh-CN" sz="980" b="1" dirty="0">
                  <a:solidFill>
                    <a:srgbClr val="E74726"/>
                  </a:solidFill>
                  <a:latin typeface="+mn-lt"/>
                  <a:ea typeface="+mn-ea"/>
                  <a:cs typeface="+mn-cs"/>
                </a:rPr>
                <a:t>两套分层思路</a:t>
              </a:r>
            </a:p>
          </p:txBody>
        </p:sp>
        <p:sp>
          <p:nvSpPr>
            <p:cNvPr id="38" name="TextBox 38"/>
            <p:cNvSpPr txBox="1"/>
            <p:nvPr/>
          </p:nvSpPr>
          <p:spPr>
            <a:xfrm>
              <a:off x="566738" y="3808095"/>
              <a:ext cx="844607" cy="176212"/>
            </a:xfrm>
            <a:prstGeom prst="rect">
              <a:avLst/>
            </a:prstGeom>
            <a:noFill/>
            <a:ln>
              <a:noFill/>
            </a:ln>
          </p:spPr>
          <p:txBody>
            <a:bodyPr wrap="none" lIns="0" tIns="0" rIns="0" bIns="0" anchor="t" anchorCtr="0">
              <a:spAutoFit/>
            </a:bodyPr>
            <a:lstStyle/>
            <a:p>
              <a:pPr algn="l"/>
              <a:r>
                <a:rPr lang="zh-CN" sz="900" b="1" dirty="0">
                  <a:solidFill>
                    <a:srgbClr val="E74726"/>
                  </a:solidFill>
                  <a:latin typeface="+mn-lt"/>
                  <a:ea typeface="+mn-ea"/>
                  <a:cs typeface="+mn-cs"/>
                </a:rPr>
                <a:t>思路① 常态从简</a:t>
              </a:r>
            </a:p>
          </p:txBody>
        </p:sp>
        <p:sp>
          <p:nvSpPr>
            <p:cNvPr id="39" name="TextBox 39"/>
            <p:cNvSpPr txBox="1"/>
            <p:nvPr/>
          </p:nvSpPr>
          <p:spPr>
            <a:xfrm>
              <a:off x="566738" y="4025741"/>
              <a:ext cx="1003021"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常态从简，营销做细</a:t>
              </a:r>
            </a:p>
          </p:txBody>
        </p:sp>
        <p:sp>
          <p:nvSpPr>
            <p:cNvPr id="40" name="TextBox 40"/>
            <p:cNvSpPr txBox="1"/>
            <p:nvPr/>
          </p:nvSpPr>
          <p:spPr>
            <a:xfrm>
              <a:off x="566738" y="4216241"/>
              <a:ext cx="1775739"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会员体系仅设少量宽档位覆盖长尾区</a:t>
              </a:r>
            </a:p>
          </p:txBody>
        </p:sp>
        <p:sp>
          <p:nvSpPr>
            <p:cNvPr id="41" name="TextBox 41"/>
            <p:cNvSpPr txBox="1"/>
            <p:nvPr/>
          </p:nvSpPr>
          <p:spPr>
            <a:xfrm>
              <a:off x="566738" y="4387691"/>
              <a:ext cx="1775739"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间；专项营销活动进一步拆分梯度。</a:t>
              </a:r>
            </a:p>
          </p:txBody>
        </p:sp>
        <p:sp>
          <p:nvSpPr>
            <p:cNvPr id="42" name="Rectangle 42"/>
            <p:cNvSpPr/>
            <p:nvPr/>
          </p:nvSpPr>
          <p:spPr>
            <a:xfrm>
              <a:off x="552450" y="4629150"/>
              <a:ext cx="2533650" cy="723900"/>
            </a:xfrm>
            <a:prstGeom prst="roundRect">
              <a:avLst>
                <a:gd name="adj" fmla="val 5263"/>
              </a:avLst>
            </a:prstGeom>
            <a:solidFill>
              <a:srgbClr val="EAF2FD"/>
            </a:solidFill>
            <a:ln>
              <a:noFill/>
            </a:ln>
          </p:spPr>
        </p:sp>
        <p:sp>
          <p:nvSpPr>
            <p:cNvPr id="43" name="TextBox 43"/>
            <p:cNvSpPr txBox="1"/>
            <p:nvPr/>
          </p:nvSpPr>
          <p:spPr>
            <a:xfrm>
              <a:off x="642938" y="4734639"/>
              <a:ext cx="1498422"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例如工行：</a:t>
              </a:r>
              <a:r>
                <a:rPr lang="zh-CN" sz="790" dirty="0">
                  <a:solidFill>
                    <a:srgbClr val="523833"/>
                  </a:solidFill>
                  <a:latin typeface="+mn-lt"/>
                  <a:ea typeface="+mn-ea"/>
                  <a:cs typeface="+mn-cs"/>
                </a:rPr>
                <a:t>长尾客户等级设置准</a:t>
              </a:r>
            </a:p>
          </p:txBody>
        </p:sp>
        <p:sp>
          <p:nvSpPr>
            <p:cNvPr id="44" name="TextBox 44"/>
            <p:cNvSpPr txBox="1"/>
            <p:nvPr/>
          </p:nvSpPr>
          <p:spPr>
            <a:xfrm>
              <a:off x="642938" y="4906089"/>
              <a:ext cx="1743027"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星级+二星级两大档；“升金有礼”​​​</a:t>
              </a:r>
            </a:p>
          </p:txBody>
        </p:sp>
        <p:sp>
          <p:nvSpPr>
            <p:cNvPr id="45" name="TextBox 45"/>
            <p:cNvSpPr txBox="1"/>
            <p:nvPr/>
          </p:nvSpPr>
          <p:spPr>
            <a:xfrm>
              <a:off x="642938" y="5077539"/>
              <a:ext cx="162604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活动设置千元/五千/万多梯度。​​</a:t>
              </a:r>
            </a:p>
          </p:txBody>
        </p:sp>
        <p:sp>
          <p:nvSpPr>
            <p:cNvPr id="46" name="TextBox 46"/>
            <p:cNvSpPr txBox="1"/>
            <p:nvPr/>
          </p:nvSpPr>
          <p:spPr>
            <a:xfrm>
              <a:off x="3233738" y="3808095"/>
              <a:ext cx="844607" cy="176212"/>
            </a:xfrm>
            <a:prstGeom prst="rect">
              <a:avLst/>
            </a:prstGeom>
            <a:noFill/>
            <a:ln>
              <a:noFill/>
            </a:ln>
          </p:spPr>
          <p:txBody>
            <a:bodyPr wrap="none" lIns="0" tIns="0" rIns="0" bIns="0" anchor="t" anchorCtr="0">
              <a:spAutoFit/>
            </a:bodyPr>
            <a:lstStyle/>
            <a:p>
              <a:pPr algn="l"/>
              <a:r>
                <a:rPr lang="zh-CN" sz="900" b="1" dirty="0">
                  <a:solidFill>
                    <a:srgbClr val="E74726"/>
                  </a:solidFill>
                  <a:latin typeface="+mn-lt"/>
                  <a:ea typeface="+mn-ea"/>
                  <a:cs typeface="+mn-cs"/>
                </a:rPr>
                <a:t>思路② 双重精细</a:t>
              </a:r>
            </a:p>
          </p:txBody>
        </p:sp>
        <p:sp>
          <p:nvSpPr>
            <p:cNvPr id="47" name="TextBox 47"/>
            <p:cNvSpPr txBox="1"/>
            <p:nvPr/>
          </p:nvSpPr>
          <p:spPr>
            <a:xfrm>
              <a:off x="3233738" y="4025741"/>
              <a:ext cx="1003021"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常态与营销双重精细</a:t>
              </a:r>
            </a:p>
          </p:txBody>
        </p:sp>
        <p:sp>
          <p:nvSpPr>
            <p:cNvPr id="48" name="TextBox 48"/>
            <p:cNvSpPr txBox="1"/>
            <p:nvPr/>
          </p:nvSpPr>
          <p:spPr>
            <a:xfrm>
              <a:off x="3233738" y="4216241"/>
              <a:ext cx="1775739"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高密度会员等级，档位多、区间窄，</a:t>
              </a:r>
            </a:p>
          </p:txBody>
        </p:sp>
        <p:sp>
          <p:nvSpPr>
            <p:cNvPr id="49" name="TextBox 49"/>
            <p:cNvSpPr txBox="1"/>
            <p:nvPr/>
          </p:nvSpPr>
          <p:spPr>
            <a:xfrm>
              <a:off x="3233738" y="4387691"/>
              <a:ext cx="1886128"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日常管理与营销共用同一套分层规则。</a:t>
              </a:r>
            </a:p>
          </p:txBody>
        </p:sp>
        <p:sp>
          <p:nvSpPr>
            <p:cNvPr id="50" name="Rectangle 50"/>
            <p:cNvSpPr/>
            <p:nvPr/>
          </p:nvSpPr>
          <p:spPr>
            <a:xfrm>
              <a:off x="3200400" y="4629150"/>
              <a:ext cx="2495550" cy="723900"/>
            </a:xfrm>
            <a:prstGeom prst="roundRect">
              <a:avLst>
                <a:gd name="adj" fmla="val 5263"/>
              </a:avLst>
            </a:prstGeom>
            <a:solidFill>
              <a:srgbClr val="EAF2FD"/>
            </a:solidFill>
            <a:ln>
              <a:noFill/>
            </a:ln>
          </p:spPr>
        </p:sp>
        <p:sp>
          <p:nvSpPr>
            <p:cNvPr id="51" name="TextBox 51"/>
            <p:cNvSpPr txBox="1"/>
            <p:nvPr/>
          </p:nvSpPr>
          <p:spPr>
            <a:xfrm>
              <a:off x="3290888" y="4734639"/>
              <a:ext cx="1540962"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例如中信银行：</a:t>
              </a:r>
              <a:r>
                <a:rPr lang="zh-CN" sz="790" dirty="0">
                  <a:solidFill>
                    <a:srgbClr val="523833"/>
                  </a:solidFill>
                  <a:latin typeface="+mn-lt"/>
                  <a:ea typeface="+mn-ea"/>
                  <a:cs typeface="+mn-cs"/>
                </a:rPr>
                <a:t>以100元、1000​</a:t>
              </a:r>
            </a:p>
          </p:txBody>
        </p:sp>
        <p:sp>
          <p:nvSpPr>
            <p:cNvPr id="52" name="TextBox 52"/>
            <p:cNvSpPr txBox="1"/>
            <p:nvPr/>
          </p:nvSpPr>
          <p:spPr>
            <a:xfrm>
              <a:off x="3290888" y="4906089"/>
              <a:ext cx="1530327"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、10000元为核心梯度，将长尾​</a:t>
              </a:r>
            </a:p>
          </p:txBody>
        </p:sp>
        <p:sp>
          <p:nvSpPr>
            <p:cNvPr id="53" name="TextBox 53"/>
            <p:cNvSpPr txBox="1"/>
            <p:nvPr/>
          </p:nvSpPr>
          <p:spPr>
            <a:xfrm>
              <a:off x="3290888" y="5077539"/>
              <a:ext cx="144053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客群划分为R1-R4四个层级。​</a:t>
              </a:r>
            </a:p>
          </p:txBody>
        </p:sp>
      </p:grpSp>
      <p:grpSp>
        <p:nvGrpSpPr>
          <p:cNvPr id="57" name="plus-circle"/>
          <p:cNvGrpSpPr/>
          <p:nvPr/>
        </p:nvGrpSpPr>
        <p:grpSpPr>
          <a:xfrm>
            <a:off x="5924550" y="4591050"/>
            <a:ext cx="342900" cy="369570"/>
            <a:chOff x="5924550" y="4591050"/>
            <a:chExt cx="342900" cy="369570"/>
          </a:xfrm>
        </p:grpSpPr>
        <p:sp>
          <p:nvSpPr>
            <p:cNvPr id="55" name="Ellipse 55"/>
            <p:cNvSpPr/>
            <p:nvPr/>
          </p:nvSpPr>
          <p:spPr>
            <a:xfrm>
              <a:off x="5924550" y="4591050"/>
              <a:ext cx="342900" cy="342900"/>
            </a:xfrm>
            <a:prstGeom prst="ellipse">
              <a:avLst/>
            </a:prstGeom>
            <a:solidFill>
              <a:srgbClr val="FFFFFF"/>
            </a:solidFill>
            <a:ln w="14288">
              <a:solidFill>
                <a:srgbClr val="E74726"/>
              </a:solidFill>
            </a:ln>
          </p:spPr>
        </p:sp>
        <p:sp>
          <p:nvSpPr>
            <p:cNvPr id="56" name="TextBox 56"/>
            <p:cNvSpPr txBox="1"/>
            <p:nvPr/>
          </p:nvSpPr>
          <p:spPr>
            <a:xfrm>
              <a:off x="5971765" y="4667250"/>
              <a:ext cx="248469" cy="293370"/>
            </a:xfrm>
            <a:prstGeom prst="rect">
              <a:avLst/>
            </a:prstGeom>
            <a:noFill/>
            <a:ln>
              <a:noFill/>
            </a:ln>
          </p:spPr>
          <p:txBody>
            <a:bodyPr wrap="none" lIns="0" tIns="0" rIns="0" bIns="0" anchor="t" anchorCtr="0">
              <a:spAutoFit/>
            </a:bodyPr>
            <a:lstStyle/>
            <a:p>
              <a:pPr algn="ctr"/>
              <a:r>
                <a:rPr lang="zh-CN" sz="1500" b="1" dirty="0">
                  <a:solidFill>
                    <a:srgbClr val="E74726"/>
                  </a:solidFill>
                  <a:latin typeface="+mn-lt"/>
                  <a:ea typeface="+mn-ea"/>
                  <a:cs typeface="+mn-cs"/>
                </a:rPr>
                <a:t>+​</a:t>
              </a:r>
            </a:p>
          </p:txBody>
        </p:sp>
      </p:grpSp>
      <p:grpSp>
        <p:nvGrpSpPr>
          <p:cNvPr id="77" name="col-right"/>
          <p:cNvGrpSpPr/>
          <p:nvPr/>
        </p:nvGrpSpPr>
        <p:grpSpPr>
          <a:xfrm>
            <a:off x="6438900" y="2971800"/>
            <a:ext cx="5334000" cy="3562350"/>
            <a:chOff x="6438900" y="2971800"/>
            <a:chExt cx="5334000" cy="3562350"/>
          </a:xfrm>
        </p:grpSpPr>
        <p:sp>
          <p:nvSpPr>
            <p:cNvPr id="58" name="Rectangle 58"/>
            <p:cNvSpPr/>
            <p:nvPr/>
          </p:nvSpPr>
          <p:spPr>
            <a:xfrm>
              <a:off x="6438900" y="2971800"/>
              <a:ext cx="5334000" cy="342900"/>
            </a:xfrm>
            <a:prstGeom prst="roundRect">
              <a:avLst>
                <a:gd name="adj" fmla="val 16667"/>
              </a:avLst>
            </a:prstGeom>
            <a:solidFill>
              <a:srgbClr val="E74726"/>
            </a:solidFill>
            <a:ln>
              <a:noFill/>
            </a:ln>
          </p:spPr>
        </p:sp>
        <p:sp>
          <p:nvSpPr>
            <p:cNvPr id="59" name="TextBox 59"/>
            <p:cNvSpPr txBox="1"/>
            <p:nvPr/>
          </p:nvSpPr>
          <p:spPr>
            <a:xfrm>
              <a:off x="8268009" y="3087052"/>
              <a:ext cx="167578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2.1.2 分群聚焦精准打击​</a:t>
              </a:r>
            </a:p>
          </p:txBody>
        </p:sp>
        <p:sp>
          <p:nvSpPr>
            <p:cNvPr id="60" name="Rectangle 60"/>
            <p:cNvSpPr/>
            <p:nvPr/>
          </p:nvSpPr>
          <p:spPr>
            <a:xfrm>
              <a:off x="6438900" y="3371850"/>
              <a:ext cx="5334000" cy="3162300"/>
            </a:xfrm>
            <a:prstGeom prst="roundRect">
              <a:avLst>
                <a:gd name="adj" fmla="val 1807"/>
              </a:avLst>
            </a:prstGeom>
            <a:solidFill>
              <a:srgbClr val="FFFFFF"/>
            </a:solidFill>
            <a:ln w="11430">
              <a:solidFill>
                <a:srgbClr val="DCE8FB"/>
              </a:solidFill>
            </a:ln>
          </p:spPr>
        </p:sp>
        <p:sp>
          <p:nvSpPr>
            <p:cNvPr id="61" name="TextBox 61"/>
            <p:cNvSpPr txBox="1"/>
            <p:nvPr/>
          </p:nvSpPr>
          <p:spPr>
            <a:xfrm>
              <a:off x="6567297" y="3533299"/>
              <a:ext cx="801472" cy="190690"/>
            </a:xfrm>
            <a:prstGeom prst="rect">
              <a:avLst/>
            </a:prstGeom>
            <a:noFill/>
            <a:ln>
              <a:noFill/>
            </a:ln>
          </p:spPr>
          <p:txBody>
            <a:bodyPr wrap="none" lIns="0" tIns="0" rIns="0" bIns="0" anchor="t" anchorCtr="0">
              <a:spAutoFit/>
            </a:bodyPr>
            <a:lstStyle/>
            <a:p>
              <a:pPr algn="l"/>
              <a:r>
                <a:rPr lang="zh-CN" sz="980" b="1" dirty="0">
                  <a:solidFill>
                    <a:srgbClr val="E74726"/>
                  </a:solidFill>
                  <a:latin typeface="+mn-lt"/>
                  <a:ea typeface="+mn-ea"/>
                  <a:cs typeface="+mn-cs"/>
                </a:rPr>
                <a:t>两种分群策略</a:t>
              </a:r>
            </a:p>
          </p:txBody>
        </p:sp>
        <p:sp>
          <p:nvSpPr>
            <p:cNvPr id="62" name="TextBox 62"/>
            <p:cNvSpPr txBox="1"/>
            <p:nvPr/>
          </p:nvSpPr>
          <p:spPr>
            <a:xfrm>
              <a:off x="6567488" y="3808095"/>
              <a:ext cx="1125087" cy="176212"/>
            </a:xfrm>
            <a:prstGeom prst="rect">
              <a:avLst/>
            </a:prstGeom>
            <a:noFill/>
            <a:ln>
              <a:noFill/>
            </a:ln>
          </p:spPr>
          <p:txBody>
            <a:bodyPr wrap="none" lIns="0" tIns="0" rIns="0" bIns="0" anchor="t" anchorCtr="0">
              <a:spAutoFit/>
            </a:bodyPr>
            <a:lstStyle/>
            <a:p>
              <a:pPr algn="l"/>
              <a:r>
                <a:rPr lang="zh-CN" sz="900" b="1" dirty="0">
                  <a:solidFill>
                    <a:srgbClr val="E74726"/>
                  </a:solidFill>
                  <a:latin typeface="+mn-lt"/>
                  <a:ea typeface="+mn-ea"/>
                  <a:cs typeface="+mn-cs"/>
                </a:rPr>
                <a:t>特征分群 · 精准提升</a:t>
              </a:r>
            </a:p>
          </p:txBody>
        </p:sp>
        <p:sp>
          <p:nvSpPr>
            <p:cNvPr id="63" name="TextBox 63"/>
            <p:cNvSpPr txBox="1"/>
            <p:nvPr/>
          </p:nvSpPr>
          <p:spPr>
            <a:xfrm>
              <a:off x="6567488" y="4025741"/>
              <a:ext cx="1113409"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按标签识别高潜力客群</a:t>
              </a:r>
            </a:p>
          </p:txBody>
        </p:sp>
        <p:sp>
          <p:nvSpPr>
            <p:cNvPr id="64" name="TextBox 64"/>
            <p:cNvSpPr txBox="1"/>
            <p:nvPr/>
          </p:nvSpPr>
          <p:spPr>
            <a:xfrm>
              <a:off x="6567488" y="4216241"/>
              <a:ext cx="1908205"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按资产状况/交易频次/产品持有等多​​</a:t>
              </a:r>
            </a:p>
          </p:txBody>
        </p:sp>
        <p:sp>
          <p:nvSpPr>
            <p:cNvPr id="65" name="TextBox 65"/>
            <p:cNvSpPr txBox="1"/>
            <p:nvPr/>
          </p:nvSpPr>
          <p:spPr>
            <a:xfrm>
              <a:off x="6567488" y="4387691"/>
              <a:ext cx="1223797"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维标签识别高潜力客群。</a:t>
              </a:r>
            </a:p>
          </p:txBody>
        </p:sp>
        <p:sp>
          <p:nvSpPr>
            <p:cNvPr id="66" name="Rectangle 66"/>
            <p:cNvSpPr/>
            <p:nvPr/>
          </p:nvSpPr>
          <p:spPr>
            <a:xfrm>
              <a:off x="6553200" y="4629150"/>
              <a:ext cx="2533650" cy="723900"/>
            </a:xfrm>
            <a:prstGeom prst="roundRect">
              <a:avLst>
                <a:gd name="adj" fmla="val 5263"/>
              </a:avLst>
            </a:prstGeom>
            <a:solidFill>
              <a:srgbClr val="EAF2FD"/>
            </a:solidFill>
            <a:ln>
              <a:noFill/>
            </a:ln>
          </p:spPr>
        </p:sp>
        <p:sp>
          <p:nvSpPr>
            <p:cNvPr id="67" name="TextBox 67"/>
            <p:cNvSpPr txBox="1"/>
            <p:nvPr/>
          </p:nvSpPr>
          <p:spPr>
            <a:xfrm>
              <a:off x="6643688" y="4734639"/>
              <a:ext cx="1498422"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例如工行：</a:t>
              </a:r>
              <a:r>
                <a:rPr lang="zh-CN" sz="790" dirty="0">
                  <a:solidFill>
                    <a:srgbClr val="523833"/>
                  </a:solidFill>
                  <a:latin typeface="+mn-lt"/>
                  <a:ea typeface="+mn-ea"/>
                  <a:cs typeface="+mn-cs"/>
                </a:rPr>
                <a:t>整合多维数据，预测</a:t>
              </a:r>
            </a:p>
          </p:txBody>
        </p:sp>
        <p:sp>
          <p:nvSpPr>
            <p:cNvPr id="68" name="TextBox 68"/>
            <p:cNvSpPr txBox="1"/>
            <p:nvPr/>
          </p:nvSpPr>
          <p:spPr>
            <a:xfrm>
              <a:off x="6643688" y="4906089"/>
              <a:ext cx="1610089"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精准度85%+，锁定长尾新开卡/​​</a:t>
              </a:r>
            </a:p>
          </p:txBody>
        </p:sp>
        <p:sp>
          <p:nvSpPr>
            <p:cNvPr id="69" name="TextBox 69"/>
            <p:cNvSpPr txBox="1"/>
            <p:nvPr/>
          </p:nvSpPr>
          <p:spPr>
            <a:xfrm>
              <a:off x="6643688" y="5077539"/>
              <a:ext cx="162604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代发/信用卡/长辈等核心客群。​​</a:t>
              </a:r>
            </a:p>
          </p:txBody>
        </p:sp>
        <p:sp>
          <p:nvSpPr>
            <p:cNvPr id="70" name="TextBox 70"/>
            <p:cNvSpPr txBox="1"/>
            <p:nvPr/>
          </p:nvSpPr>
          <p:spPr>
            <a:xfrm>
              <a:off x="9234488" y="3808095"/>
              <a:ext cx="1125087" cy="176212"/>
            </a:xfrm>
            <a:prstGeom prst="rect">
              <a:avLst/>
            </a:prstGeom>
            <a:noFill/>
            <a:ln>
              <a:noFill/>
            </a:ln>
          </p:spPr>
          <p:txBody>
            <a:bodyPr wrap="none" lIns="0" tIns="0" rIns="0" bIns="0" anchor="t" anchorCtr="0">
              <a:spAutoFit/>
            </a:bodyPr>
            <a:lstStyle/>
            <a:p>
              <a:pPr algn="l"/>
              <a:r>
                <a:rPr lang="zh-CN" sz="900" b="1" dirty="0">
                  <a:solidFill>
                    <a:srgbClr val="E74726"/>
                  </a:solidFill>
                  <a:latin typeface="+mn-lt"/>
                  <a:ea typeface="+mn-ea"/>
                  <a:cs typeface="+mn-cs"/>
                </a:rPr>
                <a:t>事件分群 · 需求捕捉</a:t>
              </a:r>
            </a:p>
          </p:txBody>
        </p:sp>
        <p:sp>
          <p:nvSpPr>
            <p:cNvPr id="71" name="TextBox 71"/>
            <p:cNvSpPr txBox="1"/>
            <p:nvPr/>
          </p:nvSpPr>
          <p:spPr>
            <a:xfrm>
              <a:off x="9234488" y="4025741"/>
              <a:ext cx="1003021"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在决策窗口精准触达</a:t>
              </a:r>
            </a:p>
          </p:txBody>
        </p:sp>
        <p:sp>
          <p:nvSpPr>
            <p:cNvPr id="72" name="TextBox 72"/>
            <p:cNvSpPr txBox="1"/>
            <p:nvPr/>
          </p:nvSpPr>
          <p:spPr>
            <a:xfrm>
              <a:off x="9234488" y="4216241"/>
              <a:ext cx="1908205"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捕捉产品到期/资金异动/购买中断等​​</a:t>
              </a:r>
            </a:p>
          </p:txBody>
        </p:sp>
        <p:sp>
          <p:nvSpPr>
            <p:cNvPr id="73" name="TextBox 73"/>
            <p:cNvSpPr txBox="1"/>
            <p:nvPr/>
          </p:nvSpPr>
          <p:spPr>
            <a:xfrm>
              <a:off x="9234488" y="4387691"/>
              <a:ext cx="1665351"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关键事件，在决策窗口精准触达。</a:t>
              </a:r>
            </a:p>
          </p:txBody>
        </p:sp>
        <p:sp>
          <p:nvSpPr>
            <p:cNvPr id="74" name="Rectangle 74"/>
            <p:cNvSpPr/>
            <p:nvPr/>
          </p:nvSpPr>
          <p:spPr>
            <a:xfrm>
              <a:off x="9201150" y="4629150"/>
              <a:ext cx="2495550" cy="723900"/>
            </a:xfrm>
            <a:prstGeom prst="roundRect">
              <a:avLst>
                <a:gd name="adj" fmla="val 5263"/>
              </a:avLst>
            </a:prstGeom>
            <a:solidFill>
              <a:srgbClr val="EAF2FD"/>
            </a:solidFill>
            <a:ln>
              <a:noFill/>
            </a:ln>
          </p:spPr>
        </p:sp>
        <p:sp>
          <p:nvSpPr>
            <p:cNvPr id="75" name="TextBox 75"/>
            <p:cNvSpPr txBox="1"/>
            <p:nvPr/>
          </p:nvSpPr>
          <p:spPr>
            <a:xfrm>
              <a:off x="9291638" y="4734639"/>
              <a:ext cx="1498422"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例如邮储银行：</a:t>
              </a:r>
              <a:r>
                <a:rPr lang="zh-CN" sz="790" dirty="0">
                  <a:solidFill>
                    <a:srgbClr val="523833"/>
                  </a:solidFill>
                  <a:latin typeface="+mn-lt"/>
                  <a:ea typeface="+mn-ea"/>
                  <a:cs typeface="+mn-cs"/>
                </a:rPr>
                <a:t>系统化识别与推</a:t>
              </a:r>
            </a:p>
          </p:txBody>
        </p:sp>
        <p:sp>
          <p:nvSpPr>
            <p:cNvPr id="76" name="TextBox 76"/>
            <p:cNvSpPr txBox="1"/>
            <p:nvPr/>
          </p:nvSpPr>
          <p:spPr>
            <a:xfrm>
              <a:off x="9291638" y="4906089"/>
              <a:ext cx="109429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送→执行→反馈闭环。​​</a:t>
              </a:r>
            </a:p>
          </p:txBody>
        </p:sp>
      </p:grpSp>
      <p:sp>
        <p:nvSpPr>
          <p:cNvPr id="78" name="TextBox 78"/>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08</a:t>
              </a:r>
            </a:p>
          </p:txBody>
        </p:sp>
        <p:sp>
          <p:nvSpPr>
            <p:cNvPr id="4" name="TextBox 4"/>
            <p:cNvSpPr txBox="1"/>
            <p:nvPr/>
          </p:nvSpPr>
          <p:spPr>
            <a:xfrm>
              <a:off x="942594" y="151448"/>
              <a:ext cx="8816885"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2.1.1 客户分层｜</a:t>
              </a:r>
              <a:r>
                <a:rPr lang="zh-CN" sz="1950" b="1" dirty="0">
                  <a:solidFill>
                    <a:srgbClr val="E74726"/>
                  </a:solidFill>
                  <a:latin typeface="SimSun"/>
                  <a:ea typeface="SimSun"/>
                  <a:cs typeface="SimSun"/>
                </a:rPr>
                <a:t>以AUM为分层核心依据</a:t>
              </a:r>
              <a:r>
                <a:rPr lang="zh-CN" sz="1950" b="1" dirty="0">
                  <a:solidFill>
                    <a:srgbClr val="1F1F1F"/>
                  </a:solidFill>
                  <a:latin typeface="SimSun"/>
                  <a:ea typeface="SimSun"/>
                  <a:cs typeface="SimSun"/>
                </a:rPr>
                <a:t>，全量阶梯式培育长尾客群​​</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936867" cy="551260"/>
            <a:chOff x="566166" y="667702"/>
            <a:chExt cx="6936867" cy="551260"/>
          </a:xfrm>
        </p:grpSpPr>
        <p:sp>
          <p:nvSpPr>
            <p:cNvPr id="8" name="TextBox 8"/>
            <p:cNvSpPr txBox="1"/>
            <p:nvPr/>
          </p:nvSpPr>
          <p:spPr>
            <a:xfrm>
              <a:off x="566166" y="667702"/>
              <a:ext cx="6936867"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按资产档位划定长尾梯队，明确各层级的资产提升目标与对应经营策略，以此开展长尾客群标准化、批量化培育</a:t>
              </a:r>
            </a:p>
          </p:txBody>
        </p:sp>
        <p:sp>
          <p:nvSpPr>
            <p:cNvPr id="9" name="TextBox 9"/>
            <p:cNvSpPr txBox="1"/>
            <p:nvPr/>
          </p:nvSpPr>
          <p:spPr>
            <a:xfrm>
              <a:off x="566738" y="887968"/>
              <a:ext cx="6377051"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现阶段国内商业银行针对长尾客群已沉淀出两套成熟、差异化的分层运营思路（常态营销双轨分级与统一精细化分级），各家</a:t>
              </a:r>
            </a:p>
          </p:txBody>
        </p:sp>
        <p:sp>
          <p:nvSpPr>
            <p:cNvPr id="10" name="TextBox 10"/>
            <p:cNvSpPr txBox="1"/>
            <p:nvPr/>
          </p:nvSpPr>
          <p:spPr>
            <a:xfrm>
              <a:off x="566738" y="1049893"/>
              <a:ext cx="2903855"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机构可结合自身客群结构、运营能力与战略定位灵活选用</a:t>
              </a:r>
            </a:p>
          </p:txBody>
        </p:sp>
      </p:grpSp>
      <p:grpSp>
        <p:nvGrpSpPr>
          <p:cNvPr id="19" name="banner-left"/>
          <p:cNvGrpSpPr/>
          <p:nvPr/>
        </p:nvGrpSpPr>
        <p:grpSpPr>
          <a:xfrm>
            <a:off x="438150" y="1295400"/>
            <a:ext cx="5276850" cy="914400"/>
            <a:chOff x="438150" y="1295400"/>
            <a:chExt cx="5276850" cy="914400"/>
          </a:xfrm>
        </p:grpSpPr>
        <p:sp>
          <p:nvSpPr>
            <p:cNvPr id="12" name="Rectangle 12"/>
            <p:cNvSpPr/>
            <p:nvPr/>
          </p:nvSpPr>
          <p:spPr>
            <a:xfrm>
              <a:off x="438150" y="1295400"/>
              <a:ext cx="5276850" cy="914400"/>
            </a:xfrm>
            <a:prstGeom prst="roundRect">
              <a:avLst>
                <a:gd name="adj" fmla="val 12500"/>
              </a:avLst>
            </a:prstGeom>
            <a:solidFill>
              <a:srgbClr val="E74726"/>
            </a:solidFill>
            <a:ln>
              <a:noFill/>
            </a:ln>
          </p:spPr>
        </p:sp>
        <p:sp>
          <p:nvSpPr>
            <p:cNvPr id="13" name="Ellipse 13"/>
            <p:cNvSpPr/>
            <p:nvPr/>
          </p:nvSpPr>
          <p:spPr>
            <a:xfrm>
              <a:off x="647700" y="1447800"/>
              <a:ext cx="609600" cy="609600"/>
            </a:xfrm>
            <a:prstGeom prst="ellipse">
              <a:avLst/>
            </a:prstGeom>
            <a:solidFill>
              <a:srgbClr val="FFFFFF"/>
            </a:solidFill>
            <a:ln>
              <a:noFill/>
            </a:ln>
          </p:spPr>
        </p:sp>
        <p:sp>
          <p:nvSpPr>
            <p:cNvPr id="14" name="TextBox 14"/>
            <p:cNvSpPr txBox="1"/>
            <p:nvPr/>
          </p:nvSpPr>
          <p:spPr>
            <a:xfrm>
              <a:off x="821195" y="1613297"/>
              <a:ext cx="262611" cy="183356"/>
            </a:xfrm>
            <a:prstGeom prst="rect">
              <a:avLst/>
            </a:prstGeom>
            <a:noFill/>
            <a:ln>
              <a:noFill/>
            </a:ln>
          </p:spPr>
          <p:txBody>
            <a:bodyPr wrap="none" lIns="0" tIns="0" rIns="0" bIns="0" anchor="t" anchorCtr="0">
              <a:spAutoFit/>
            </a:bodyPr>
            <a:lstStyle/>
            <a:p>
              <a:pPr algn="ctr"/>
              <a:r>
                <a:rPr lang="zh-CN" sz="940" b="1" dirty="0">
                  <a:solidFill>
                    <a:srgbClr val="E74726"/>
                  </a:solidFill>
                  <a:latin typeface="+mn-lt"/>
                  <a:ea typeface="+mn-ea"/>
                  <a:cs typeface="+mn-cs"/>
                </a:rPr>
                <a:t>控本</a:t>
              </a:r>
            </a:p>
          </p:txBody>
        </p:sp>
        <p:sp>
          <p:nvSpPr>
            <p:cNvPr id="15" name="TextBox 15"/>
            <p:cNvSpPr txBox="1"/>
            <p:nvPr/>
          </p:nvSpPr>
          <p:spPr>
            <a:xfrm>
              <a:off x="821195" y="1775222"/>
              <a:ext cx="262611" cy="183356"/>
            </a:xfrm>
            <a:prstGeom prst="rect">
              <a:avLst/>
            </a:prstGeom>
            <a:noFill/>
            <a:ln>
              <a:noFill/>
            </a:ln>
          </p:spPr>
          <p:txBody>
            <a:bodyPr wrap="none" lIns="0" tIns="0" rIns="0" bIns="0" anchor="t" anchorCtr="0">
              <a:spAutoFit/>
            </a:bodyPr>
            <a:lstStyle/>
            <a:p>
              <a:pPr algn="ctr"/>
              <a:r>
                <a:rPr lang="zh-CN" sz="940" b="1" dirty="0">
                  <a:solidFill>
                    <a:srgbClr val="E74726"/>
                  </a:solidFill>
                  <a:latin typeface="+mn-lt"/>
                  <a:ea typeface="+mn-ea"/>
                  <a:cs typeface="+mn-cs"/>
                </a:rPr>
                <a:t>增效</a:t>
              </a:r>
            </a:p>
          </p:txBody>
        </p:sp>
        <p:sp>
          <p:nvSpPr>
            <p:cNvPr id="16" name="TextBox 16"/>
            <p:cNvSpPr txBox="1"/>
            <p:nvPr/>
          </p:nvSpPr>
          <p:spPr>
            <a:xfrm>
              <a:off x="1423035" y="1440656"/>
              <a:ext cx="1971497"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常态分级从简，营销分级做细</a:t>
              </a:r>
            </a:p>
          </p:txBody>
        </p:sp>
        <p:sp>
          <p:nvSpPr>
            <p:cNvPr id="17" name="TextBox 17"/>
            <p:cNvSpPr txBox="1"/>
            <p:nvPr/>
          </p:nvSpPr>
          <p:spPr>
            <a:xfrm>
              <a:off x="1423988" y="1720691"/>
              <a:ext cx="2879623"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长尾客群常规采用宽档位标准化运营控本增效，专项营销时</a:t>
              </a:r>
            </a:p>
          </p:txBody>
        </p:sp>
        <p:sp>
          <p:nvSpPr>
            <p:cNvPr id="18" name="TextBox 18"/>
            <p:cNvSpPr txBox="1"/>
            <p:nvPr/>
          </p:nvSpPr>
          <p:spPr>
            <a:xfrm>
              <a:off x="1423988" y="1892141"/>
              <a:ext cx="2658847"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再细分梯度配套差异化权益，精准引导客户资产提升。</a:t>
              </a:r>
            </a:p>
          </p:txBody>
        </p:sp>
      </p:grpSp>
      <p:grpSp>
        <p:nvGrpSpPr>
          <p:cNvPr id="27" name="banner-right"/>
          <p:cNvGrpSpPr/>
          <p:nvPr/>
        </p:nvGrpSpPr>
        <p:grpSpPr>
          <a:xfrm>
            <a:off x="6477000" y="1295400"/>
            <a:ext cx="5276850" cy="914400"/>
            <a:chOff x="6477000" y="1295400"/>
            <a:chExt cx="5276850" cy="914400"/>
          </a:xfrm>
        </p:grpSpPr>
        <p:sp>
          <p:nvSpPr>
            <p:cNvPr id="20" name="Rectangle 20"/>
            <p:cNvSpPr/>
            <p:nvPr/>
          </p:nvSpPr>
          <p:spPr>
            <a:xfrm>
              <a:off x="6477000" y="1295400"/>
              <a:ext cx="5276850" cy="914400"/>
            </a:xfrm>
            <a:prstGeom prst="roundRect">
              <a:avLst>
                <a:gd name="adj" fmla="val 12500"/>
              </a:avLst>
            </a:prstGeom>
            <a:solidFill>
              <a:srgbClr val="E74726"/>
            </a:solidFill>
            <a:ln>
              <a:noFill/>
            </a:ln>
          </p:spPr>
        </p:sp>
        <p:sp>
          <p:nvSpPr>
            <p:cNvPr id="21" name="TextBox 21"/>
            <p:cNvSpPr txBox="1"/>
            <p:nvPr/>
          </p:nvSpPr>
          <p:spPr>
            <a:xfrm>
              <a:off x="6661785" y="1440656"/>
              <a:ext cx="182072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常态与营销分级双重精细化</a:t>
              </a:r>
            </a:p>
          </p:txBody>
        </p:sp>
        <p:sp>
          <p:nvSpPr>
            <p:cNvPr id="22" name="TextBox 22"/>
            <p:cNvSpPr txBox="1"/>
            <p:nvPr/>
          </p:nvSpPr>
          <p:spPr>
            <a:xfrm>
              <a:off x="6662738" y="1720691"/>
              <a:ext cx="3061764"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客户资产小幅增长即可晋升等级、解锁权益，形成“资产提升​​</a:t>
              </a:r>
            </a:p>
          </p:txBody>
        </p:sp>
        <p:sp>
          <p:nvSpPr>
            <p:cNvPr id="23" name="TextBox 23"/>
            <p:cNvSpPr txBox="1"/>
            <p:nvPr/>
          </p:nvSpPr>
          <p:spPr>
            <a:xfrm>
              <a:off x="6662738" y="1892141"/>
              <a:ext cx="2962415"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—等级晋升—权益升级”的即时正向激励，驱动客户自成长。​​</a:t>
              </a:r>
            </a:p>
          </p:txBody>
        </p:sp>
        <p:sp>
          <p:nvSpPr>
            <p:cNvPr id="24" name="Ellipse 24"/>
            <p:cNvSpPr/>
            <p:nvPr/>
          </p:nvSpPr>
          <p:spPr>
            <a:xfrm>
              <a:off x="10934700" y="1447800"/>
              <a:ext cx="609600" cy="609600"/>
            </a:xfrm>
            <a:prstGeom prst="ellipse">
              <a:avLst/>
            </a:prstGeom>
            <a:solidFill>
              <a:srgbClr val="FFFFFF"/>
            </a:solidFill>
            <a:ln>
              <a:noFill/>
            </a:ln>
          </p:spPr>
        </p:sp>
        <p:sp>
          <p:nvSpPr>
            <p:cNvPr id="25" name="TextBox 25"/>
            <p:cNvSpPr txBox="1"/>
            <p:nvPr/>
          </p:nvSpPr>
          <p:spPr>
            <a:xfrm>
              <a:off x="11108195" y="1613297"/>
              <a:ext cx="262611" cy="183356"/>
            </a:xfrm>
            <a:prstGeom prst="rect">
              <a:avLst/>
            </a:prstGeom>
            <a:noFill/>
            <a:ln>
              <a:noFill/>
            </a:ln>
          </p:spPr>
          <p:txBody>
            <a:bodyPr wrap="none" lIns="0" tIns="0" rIns="0" bIns="0" anchor="t" anchorCtr="0">
              <a:spAutoFit/>
            </a:bodyPr>
            <a:lstStyle/>
            <a:p>
              <a:pPr algn="ctr"/>
              <a:r>
                <a:rPr lang="zh-CN" sz="940" b="1" dirty="0">
                  <a:solidFill>
                    <a:srgbClr val="E74726"/>
                  </a:solidFill>
                  <a:latin typeface="+mn-lt"/>
                  <a:ea typeface="+mn-ea"/>
                  <a:cs typeface="+mn-cs"/>
                </a:rPr>
                <a:t>精细</a:t>
              </a:r>
            </a:p>
          </p:txBody>
        </p:sp>
        <p:sp>
          <p:nvSpPr>
            <p:cNvPr id="26" name="TextBox 26"/>
            <p:cNvSpPr txBox="1"/>
            <p:nvPr/>
          </p:nvSpPr>
          <p:spPr>
            <a:xfrm>
              <a:off x="11108195" y="1775222"/>
              <a:ext cx="262611" cy="183356"/>
            </a:xfrm>
            <a:prstGeom prst="rect">
              <a:avLst/>
            </a:prstGeom>
            <a:noFill/>
            <a:ln>
              <a:noFill/>
            </a:ln>
          </p:spPr>
          <p:txBody>
            <a:bodyPr wrap="none" lIns="0" tIns="0" rIns="0" bIns="0" anchor="t" anchorCtr="0">
              <a:spAutoFit/>
            </a:bodyPr>
            <a:lstStyle/>
            <a:p>
              <a:pPr algn="ctr"/>
              <a:r>
                <a:rPr lang="zh-CN" sz="940" b="1" dirty="0">
                  <a:solidFill>
                    <a:srgbClr val="E74726"/>
                  </a:solidFill>
                  <a:latin typeface="+mn-lt"/>
                  <a:ea typeface="+mn-ea"/>
                  <a:cs typeface="+mn-cs"/>
                </a:rPr>
                <a:t>管理</a:t>
              </a:r>
            </a:p>
          </p:txBody>
        </p:sp>
      </p:grpSp>
      <p:grpSp>
        <p:nvGrpSpPr>
          <p:cNvPr id="30" name="vs-mark"/>
          <p:cNvGrpSpPr/>
          <p:nvPr/>
        </p:nvGrpSpPr>
        <p:grpSpPr>
          <a:xfrm>
            <a:off x="5977837" y="3833812"/>
            <a:ext cx="236327" cy="840105"/>
            <a:chOff x="5977837" y="3833812"/>
            <a:chExt cx="236327" cy="840105"/>
          </a:xfrm>
        </p:grpSpPr>
        <p:sp>
          <p:nvSpPr>
            <p:cNvPr id="28" name="TextBox 28"/>
            <p:cNvSpPr txBox="1"/>
            <p:nvPr/>
          </p:nvSpPr>
          <p:spPr>
            <a:xfrm>
              <a:off x="5977837" y="3833812"/>
              <a:ext cx="236327" cy="440055"/>
            </a:xfrm>
            <a:prstGeom prst="rect">
              <a:avLst/>
            </a:prstGeom>
            <a:noFill/>
            <a:ln>
              <a:noFill/>
            </a:ln>
          </p:spPr>
          <p:txBody>
            <a:bodyPr wrap="none" lIns="0" tIns="0" rIns="0" bIns="0" anchor="t" anchorCtr="0">
              <a:spAutoFit/>
            </a:bodyPr>
            <a:lstStyle/>
            <a:p>
              <a:pPr algn="ctr"/>
              <a:r>
                <a:rPr lang="en-US" sz="2250" b="1" dirty="0">
                  <a:solidFill>
                    <a:srgbClr val="E74726"/>
                  </a:solidFill>
                  <a:latin typeface="+mj-lt"/>
                  <a:ea typeface="+mj-ea"/>
                  <a:cs typeface="+mj-cs"/>
                </a:rPr>
                <a:t>V</a:t>
              </a:r>
            </a:p>
          </p:txBody>
        </p:sp>
        <p:sp>
          <p:nvSpPr>
            <p:cNvPr id="29" name="TextBox 29"/>
            <p:cNvSpPr txBox="1"/>
            <p:nvPr/>
          </p:nvSpPr>
          <p:spPr>
            <a:xfrm>
              <a:off x="5977837" y="4233862"/>
              <a:ext cx="236327" cy="440055"/>
            </a:xfrm>
            <a:prstGeom prst="rect">
              <a:avLst/>
            </a:prstGeom>
            <a:noFill/>
            <a:ln>
              <a:noFill/>
            </a:ln>
          </p:spPr>
          <p:txBody>
            <a:bodyPr wrap="none" lIns="0" tIns="0" rIns="0" bIns="0" anchor="t" anchorCtr="0">
              <a:spAutoFit/>
            </a:bodyPr>
            <a:lstStyle/>
            <a:p>
              <a:pPr algn="ctr"/>
              <a:r>
                <a:rPr lang="en-US" sz="2250" b="1" dirty="0">
                  <a:solidFill>
                    <a:srgbClr val="E74726"/>
                  </a:solidFill>
                  <a:latin typeface="+mj-lt"/>
                  <a:ea typeface="+mj-ea"/>
                  <a:cs typeface="+mj-cs"/>
                </a:rPr>
                <a:t>S</a:t>
              </a:r>
            </a:p>
          </p:txBody>
        </p:sp>
      </p:grpSp>
      <p:grpSp>
        <p:nvGrpSpPr>
          <p:cNvPr id="64" name="left-body"/>
          <p:cNvGrpSpPr/>
          <p:nvPr/>
        </p:nvGrpSpPr>
        <p:grpSpPr>
          <a:xfrm>
            <a:off x="395288" y="2428875"/>
            <a:ext cx="5129212" cy="4159091"/>
            <a:chOff x="395288" y="2428875"/>
            <a:chExt cx="5129212" cy="4159091"/>
          </a:xfrm>
        </p:grpSpPr>
        <p:sp>
          <p:nvSpPr>
            <p:cNvPr id="31" name="Ellipse 31"/>
            <p:cNvSpPr/>
            <p:nvPr/>
          </p:nvSpPr>
          <p:spPr>
            <a:xfrm>
              <a:off x="685800" y="2428875"/>
              <a:ext cx="1485900" cy="323850"/>
            </a:xfrm>
            <a:prstGeom prst="ellipse">
              <a:avLst/>
            </a:prstGeom>
            <a:solidFill>
              <a:srgbClr val="FFFFFF"/>
            </a:solidFill>
            <a:ln w="14288">
              <a:solidFill>
                <a:srgbClr val="E74726"/>
              </a:solidFill>
            </a:ln>
          </p:spPr>
        </p:sp>
        <p:sp>
          <p:nvSpPr>
            <p:cNvPr id="32" name="TextBox 32"/>
            <p:cNvSpPr txBox="1"/>
            <p:nvPr/>
          </p:nvSpPr>
          <p:spPr>
            <a:xfrm>
              <a:off x="1060514" y="2541270"/>
              <a:ext cx="736473" cy="176212"/>
            </a:xfrm>
            <a:prstGeom prst="rect">
              <a:avLst/>
            </a:prstGeom>
            <a:noFill/>
            <a:ln>
              <a:noFill/>
            </a:ln>
          </p:spPr>
          <p:txBody>
            <a:bodyPr wrap="none" lIns="0" tIns="0" rIns="0" bIns="0" anchor="t" anchorCtr="0">
              <a:spAutoFit/>
            </a:bodyPr>
            <a:lstStyle/>
            <a:p>
              <a:pPr algn="ctr"/>
              <a:r>
                <a:rPr lang="zh-CN" sz="900" b="1" dirty="0">
                  <a:solidFill>
                    <a:srgbClr val="E74726"/>
                  </a:solidFill>
                  <a:latin typeface="+mn-lt"/>
                  <a:ea typeface="+mn-ea"/>
                  <a:cs typeface="+mn-cs"/>
                </a:rPr>
                <a:t>全行客户等级</a:t>
              </a:r>
            </a:p>
          </p:txBody>
        </p:sp>
        <p:sp>
          <p:nvSpPr>
            <p:cNvPr id="33" name="Line 33"/>
            <p:cNvSpPr/>
            <p:nvPr/>
          </p:nvSpPr>
          <p:spPr>
            <a:xfrm>
              <a:off x="2286000" y="2590800"/>
              <a:ext cx="1066800" cy="1"/>
            </a:xfrm>
            <a:prstGeom prst="line">
              <a:avLst/>
            </a:prstGeom>
            <a:noFill/>
            <a:ln w="14288">
              <a:solidFill>
                <a:srgbClr val="9AA5B4"/>
              </a:solidFill>
              <a:headEnd type="triangle" w="med" len="med"/>
              <a:tailEnd type="triangle" w="med" len="med"/>
            </a:ln>
          </p:spPr>
        </p:sp>
        <p:sp>
          <p:nvSpPr>
            <p:cNvPr id="34" name="TextBox 34"/>
            <p:cNvSpPr txBox="1"/>
            <p:nvPr/>
          </p:nvSpPr>
          <p:spPr>
            <a:xfrm>
              <a:off x="2593861" y="2730341"/>
              <a:ext cx="451079" cy="161925"/>
            </a:xfrm>
            <a:prstGeom prst="rect">
              <a:avLst/>
            </a:prstGeom>
            <a:noFill/>
            <a:ln>
              <a:noFill/>
            </a:ln>
          </p:spPr>
          <p:txBody>
            <a:bodyPr wrap="none" lIns="0" tIns="0" rIns="0" bIns="0" anchor="t" anchorCtr="0">
              <a:spAutoFit/>
            </a:bodyPr>
            <a:lstStyle/>
            <a:p>
              <a:pPr algn="ctr"/>
              <a:r>
                <a:rPr lang="zh-CN" sz="820" dirty="0">
                  <a:solidFill>
                    <a:srgbClr val="846F6B"/>
                  </a:solidFill>
                  <a:latin typeface="+mn-lt"/>
                  <a:ea typeface="+mn-ea"/>
                  <a:cs typeface="+mn-cs"/>
                </a:rPr>
                <a:t>双轨并行</a:t>
              </a:r>
            </a:p>
          </p:txBody>
        </p:sp>
        <p:sp>
          <p:nvSpPr>
            <p:cNvPr id="35" name="Ellipse 35"/>
            <p:cNvSpPr/>
            <p:nvPr/>
          </p:nvSpPr>
          <p:spPr>
            <a:xfrm>
              <a:off x="3448050" y="2428875"/>
              <a:ext cx="1485900" cy="323850"/>
            </a:xfrm>
            <a:prstGeom prst="ellipse">
              <a:avLst/>
            </a:prstGeom>
            <a:solidFill>
              <a:srgbClr val="FFFFFF"/>
            </a:solidFill>
            <a:ln w="14288">
              <a:solidFill>
                <a:srgbClr val="E74726"/>
              </a:solidFill>
            </a:ln>
          </p:spPr>
        </p:sp>
        <p:sp>
          <p:nvSpPr>
            <p:cNvPr id="36" name="TextBox 36"/>
            <p:cNvSpPr txBox="1"/>
            <p:nvPr/>
          </p:nvSpPr>
          <p:spPr>
            <a:xfrm>
              <a:off x="3822763" y="2541270"/>
              <a:ext cx="736473" cy="176212"/>
            </a:xfrm>
            <a:prstGeom prst="rect">
              <a:avLst/>
            </a:prstGeom>
            <a:noFill/>
            <a:ln>
              <a:noFill/>
            </a:ln>
          </p:spPr>
          <p:txBody>
            <a:bodyPr wrap="none" lIns="0" tIns="0" rIns="0" bIns="0" anchor="t" anchorCtr="0">
              <a:spAutoFit/>
            </a:bodyPr>
            <a:lstStyle/>
            <a:p>
              <a:pPr algn="ctr"/>
              <a:r>
                <a:rPr lang="zh-CN" sz="900" b="1" dirty="0">
                  <a:solidFill>
                    <a:srgbClr val="E74726"/>
                  </a:solidFill>
                  <a:latin typeface="+mn-lt"/>
                  <a:ea typeface="+mn-ea"/>
                  <a:cs typeface="+mn-cs"/>
                </a:rPr>
                <a:t>专项活动分层</a:t>
              </a:r>
            </a:p>
          </p:txBody>
        </p:sp>
        <p:sp>
          <p:nvSpPr>
            <p:cNvPr id="37" name="Polygon 37"/>
            <p:cNvSpPr/>
            <p:nvPr/>
          </p:nvSpPr>
          <p:spPr>
            <a:xfrm>
              <a:off x="742950" y="3105150"/>
              <a:ext cx="1752600" cy="3086100"/>
            </a:xfrm>
            <a:custGeom>
              <a:avLst/>
              <a:gdLst/>
              <a:ahLst/>
              <a:cxnLst/>
              <a:rect l="l" t="t" r="r" b="b"/>
              <a:pathLst>
                <a:path w="1752600" h="3086100">
                  <a:moveTo>
                    <a:pt x="876300" y="0"/>
                  </a:moveTo>
                  <a:lnTo>
                    <a:pt x="1752600" y="3086100"/>
                  </a:lnTo>
                  <a:lnTo>
                    <a:pt x="0" y="3086100"/>
                  </a:lnTo>
                  <a:close/>
                </a:path>
              </a:pathLst>
            </a:custGeom>
            <a:gradFill>
              <a:gsLst>
                <a:gs pos="0">
                  <a:srgbClr val="E74726"/>
                </a:gs>
                <a:gs pos="100000">
                  <a:srgbClr val="EAF2FD"/>
                </a:gs>
              </a:gsLst>
              <a:lin ang="5400000" scaled="1"/>
            </a:gradFill>
            <a:ln>
              <a:noFill/>
            </a:ln>
          </p:spPr>
        </p:sp>
        <p:sp>
          <p:nvSpPr>
            <p:cNvPr id="38" name="TextBox 38"/>
            <p:cNvSpPr txBox="1"/>
            <p:nvPr/>
          </p:nvSpPr>
          <p:spPr>
            <a:xfrm>
              <a:off x="1957388" y="3393043"/>
              <a:ext cx="356845"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三星级</a:t>
              </a:r>
            </a:p>
          </p:txBody>
        </p:sp>
        <p:sp>
          <p:nvSpPr>
            <p:cNvPr id="39" name="TextBox 39"/>
            <p:cNvSpPr txBox="1"/>
            <p:nvPr/>
          </p:nvSpPr>
          <p:spPr>
            <a:xfrm>
              <a:off x="1957388" y="3564493"/>
              <a:ext cx="356845"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及以上</a:t>
              </a:r>
            </a:p>
          </p:txBody>
        </p:sp>
        <p:sp>
          <p:nvSpPr>
            <p:cNvPr id="40" name="Rectangle 40"/>
            <p:cNvSpPr/>
            <p:nvPr/>
          </p:nvSpPr>
          <p:spPr>
            <a:xfrm>
              <a:off x="552450" y="4095750"/>
              <a:ext cx="2190750" cy="2228850"/>
            </a:xfrm>
            <a:prstGeom prst="roundRect">
              <a:avLst>
                <a:gd name="adj" fmla="val 5217"/>
              </a:avLst>
            </a:prstGeom>
            <a:noFill/>
            <a:ln w="14288">
              <a:solidFill>
                <a:srgbClr val="E74726"/>
              </a:solidFill>
              <a:custDash>
                <a:ds d="466667" sp="333333"/>
              </a:custDash>
            </a:ln>
          </p:spPr>
        </p:sp>
        <p:sp>
          <p:nvSpPr>
            <p:cNvPr id="41" name="TextBox 41"/>
            <p:cNvSpPr txBox="1"/>
            <p:nvPr/>
          </p:nvSpPr>
          <p:spPr>
            <a:xfrm>
              <a:off x="395288" y="4665345"/>
              <a:ext cx="123825" cy="633412"/>
            </a:xfrm>
            <a:prstGeom prst="rect">
              <a:avLst/>
            </a:prstGeom>
            <a:noFill/>
            <a:ln>
              <a:noFill/>
            </a:ln>
          </p:spPr>
          <p:txBody>
            <a:bodyPr wrap="none" lIns="0" tIns="0" rIns="0" bIns="0" anchor="t" anchorCtr="0">
              <a:spAutoFit/>
            </a:bodyPr>
            <a:lstStyle/>
            <a:p>
              <a:pPr algn="ctr">
                <a:lnSpc>
                  <a:spcPts val="1200"/>
                </a:lnSpc>
              </a:pPr>
              <a:r>
                <a:rPr lang="zh-CN" sz="900" dirty="0">
                  <a:solidFill>
                    <a:srgbClr val="523833"/>
                  </a:solidFill>
                  <a:latin typeface="+mn-lt"/>
                  <a:ea typeface="+mn-ea"/>
                  <a:cs typeface="+mn-cs"/>
                </a:rPr>
                <a:t>长</a:t>
              </a:r>
              <a:br/>
              <a:r>
                <a:rPr lang="zh-CN" sz="900" dirty="0">
                  <a:solidFill>
                    <a:srgbClr val="523833"/>
                  </a:solidFill>
                  <a:latin typeface="+mn-lt"/>
                  <a:ea typeface="+mn-ea"/>
                  <a:cs typeface="+mn-cs"/>
                </a:rPr>
                <a:t>尾</a:t>
              </a:r>
              <a:br/>
              <a:r>
                <a:rPr lang="zh-CN" sz="900" dirty="0">
                  <a:solidFill>
                    <a:srgbClr val="523833"/>
                  </a:solidFill>
                  <a:latin typeface="+mn-lt"/>
                  <a:ea typeface="+mn-ea"/>
                  <a:cs typeface="+mn-cs"/>
                </a:rPr>
                <a:t>客</a:t>
              </a:r>
              <a:br/>
              <a:r>
                <a:rPr lang="zh-CN" sz="900" dirty="0">
                  <a:solidFill>
                    <a:srgbClr val="523833"/>
                  </a:solidFill>
                  <a:latin typeface="+mn-lt"/>
                  <a:ea typeface="+mn-ea"/>
                  <a:cs typeface="+mn-cs"/>
                </a:rPr>
                <a:t>户</a:t>
              </a:r>
            </a:p>
          </p:txBody>
        </p:sp>
        <p:sp>
          <p:nvSpPr>
            <p:cNvPr id="42" name="TextBox 42"/>
            <p:cNvSpPr txBox="1"/>
            <p:nvPr/>
          </p:nvSpPr>
          <p:spPr>
            <a:xfrm>
              <a:off x="947738" y="4783693"/>
              <a:ext cx="1562038" cy="169069"/>
            </a:xfrm>
            <a:prstGeom prst="rect">
              <a:avLst/>
            </a:prstGeom>
            <a:noFill/>
            <a:ln>
              <a:noFill/>
            </a:ln>
          </p:spPr>
          <p:txBody>
            <a:bodyPr wrap="none" lIns="0" tIns="0" rIns="0" bIns="0" anchor="t" anchorCtr="0">
              <a:spAutoFit/>
            </a:bodyPr>
            <a:lstStyle/>
            <a:p>
              <a:pPr algn="l"/>
              <a:r>
                <a:rPr lang="zh-CN" sz="860" b="1" dirty="0">
                  <a:solidFill>
                    <a:srgbClr val="E0462C"/>
                  </a:solidFill>
                  <a:latin typeface="+mn-lt"/>
                  <a:ea typeface="+mn-ea"/>
                  <a:cs typeface="+mn-cs"/>
                </a:rPr>
                <a:t>二星级 0＜AUM＜1万元​​​​​</a:t>
              </a:r>
            </a:p>
          </p:txBody>
        </p:sp>
        <p:sp>
          <p:nvSpPr>
            <p:cNvPr id="43" name="TextBox 43"/>
            <p:cNvSpPr txBox="1"/>
            <p:nvPr/>
          </p:nvSpPr>
          <p:spPr>
            <a:xfrm>
              <a:off x="947738" y="5317093"/>
              <a:ext cx="844927" cy="169069"/>
            </a:xfrm>
            <a:prstGeom prst="rect">
              <a:avLst/>
            </a:prstGeom>
            <a:noFill/>
            <a:ln>
              <a:noFill/>
            </a:ln>
          </p:spPr>
          <p:txBody>
            <a:bodyPr wrap="none" lIns="0" tIns="0" rIns="0" bIns="0" anchor="t" anchorCtr="0">
              <a:spAutoFit/>
            </a:bodyPr>
            <a:lstStyle/>
            <a:p>
              <a:pPr algn="l"/>
              <a:r>
                <a:rPr lang="zh-CN" sz="860" b="1" dirty="0">
                  <a:solidFill>
                    <a:srgbClr val="E0462C"/>
                  </a:solidFill>
                  <a:latin typeface="+mn-lt"/>
                  <a:ea typeface="+mn-ea"/>
                  <a:cs typeface="+mn-cs"/>
                </a:rPr>
                <a:t>准星级 AUM=0​</a:t>
              </a:r>
            </a:p>
          </p:txBody>
        </p:sp>
        <p:sp>
          <p:nvSpPr>
            <p:cNvPr id="44" name="TextBox 44"/>
            <p:cNvSpPr txBox="1"/>
            <p:nvPr/>
          </p:nvSpPr>
          <p:spPr>
            <a:xfrm>
              <a:off x="1228128" y="6426041"/>
              <a:ext cx="782244" cy="161925"/>
            </a:xfrm>
            <a:prstGeom prst="rect">
              <a:avLst/>
            </a:prstGeom>
            <a:noFill/>
            <a:ln>
              <a:noFill/>
            </a:ln>
          </p:spPr>
          <p:txBody>
            <a:bodyPr wrap="none" lIns="0" tIns="0" rIns="0" bIns="0" anchor="t" anchorCtr="0">
              <a:spAutoFit/>
            </a:bodyPr>
            <a:lstStyle/>
            <a:p>
              <a:pPr algn="ctr"/>
              <a:r>
                <a:rPr lang="zh-CN" sz="820" dirty="0">
                  <a:solidFill>
                    <a:srgbClr val="846F6B"/>
                  </a:solidFill>
                  <a:latin typeface="+mn-lt"/>
                  <a:ea typeface="+mn-ea"/>
                  <a:cs typeface="+mn-cs"/>
                </a:rPr>
                <a:t>以工商银行为例</a:t>
              </a:r>
            </a:p>
          </p:txBody>
        </p:sp>
        <p:sp>
          <p:nvSpPr>
            <p:cNvPr id="45" name="TextBox 45"/>
            <p:cNvSpPr txBox="1"/>
            <p:nvPr/>
          </p:nvSpPr>
          <p:spPr>
            <a:xfrm>
              <a:off x="3024188" y="3240643"/>
              <a:ext cx="1589829"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资产提升活动设置1千元、5千​</a:t>
              </a:r>
            </a:p>
          </p:txBody>
        </p:sp>
        <p:sp>
          <p:nvSpPr>
            <p:cNvPr id="46" name="TextBox 46"/>
            <p:cNvSpPr txBox="1"/>
            <p:nvPr/>
          </p:nvSpPr>
          <p:spPr>
            <a:xfrm>
              <a:off x="3024188" y="3412093"/>
              <a:ext cx="1063061" cy="169069"/>
            </a:xfrm>
            <a:prstGeom prst="rect">
              <a:avLst/>
            </a:prstGeom>
            <a:noFill/>
            <a:ln>
              <a:noFill/>
            </a:ln>
          </p:spPr>
          <p:txBody>
            <a:bodyPr wrap="none" lIns="0" tIns="0" rIns="0" bIns="0" anchor="t" anchorCtr="0">
              <a:spAutoFit/>
            </a:bodyPr>
            <a:lstStyle/>
            <a:p>
              <a:pPr algn="l"/>
              <a:r>
                <a:rPr lang="zh-CN" sz="860" dirty="0">
                  <a:solidFill>
                    <a:srgbClr val="523833"/>
                  </a:solidFill>
                  <a:latin typeface="+mn-lt"/>
                  <a:ea typeface="+mn-ea"/>
                  <a:cs typeface="+mn-cs"/>
                </a:rPr>
                <a:t>元、1万元达标任务​</a:t>
              </a:r>
            </a:p>
          </p:txBody>
        </p:sp>
        <p:sp>
          <p:nvSpPr>
            <p:cNvPr id="47" name="Rectangle 47"/>
            <p:cNvSpPr/>
            <p:nvPr/>
          </p:nvSpPr>
          <p:spPr>
            <a:xfrm>
              <a:off x="3143250" y="3695700"/>
              <a:ext cx="2381250" cy="2590800"/>
            </a:xfrm>
            <a:prstGeom prst="roundRect">
              <a:avLst>
                <a:gd name="adj" fmla="val 4000"/>
              </a:avLst>
            </a:prstGeom>
            <a:solidFill>
              <a:srgbClr val="FDEDEA"/>
            </a:solidFill>
            <a:ln w="9525">
              <a:solidFill>
                <a:srgbClr val="F3B8AE"/>
              </a:solidFill>
            </a:ln>
          </p:spPr>
        </p:sp>
        <p:sp>
          <p:nvSpPr>
            <p:cNvPr id="48" name="Rectangle 48"/>
            <p:cNvSpPr/>
            <p:nvPr/>
          </p:nvSpPr>
          <p:spPr>
            <a:xfrm>
              <a:off x="3143250" y="3695700"/>
              <a:ext cx="2381250" cy="323850"/>
            </a:xfrm>
            <a:prstGeom prst="roundRect">
              <a:avLst>
                <a:gd name="adj" fmla="val 29412"/>
              </a:avLst>
            </a:prstGeom>
            <a:solidFill>
              <a:srgbClr val="E8553C"/>
            </a:solidFill>
            <a:ln>
              <a:noFill/>
            </a:ln>
          </p:spPr>
        </p:sp>
        <p:sp>
          <p:nvSpPr>
            <p:cNvPr id="49" name="TextBox 49"/>
            <p:cNvSpPr txBox="1"/>
            <p:nvPr/>
          </p:nvSpPr>
          <p:spPr>
            <a:xfrm>
              <a:off x="3870173" y="3825716"/>
              <a:ext cx="92740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提升越多 回馈越多</a:t>
              </a:r>
            </a:p>
          </p:txBody>
        </p:sp>
        <p:sp>
          <p:nvSpPr>
            <p:cNvPr id="50" name="Rectangle 50"/>
            <p:cNvSpPr/>
            <p:nvPr/>
          </p:nvSpPr>
          <p:spPr>
            <a:xfrm>
              <a:off x="3429000" y="4114800"/>
              <a:ext cx="1809750" cy="209550"/>
            </a:xfrm>
            <a:prstGeom prst="roundRect">
              <a:avLst>
                <a:gd name="adj" fmla="val 50000"/>
              </a:avLst>
            </a:prstGeom>
            <a:solidFill>
              <a:srgbClr val="F6A79A"/>
            </a:solidFill>
            <a:ln>
              <a:noFill/>
            </a:ln>
          </p:spPr>
        </p:sp>
        <p:sp>
          <p:nvSpPr>
            <p:cNvPr id="51" name="TextBox 51"/>
            <p:cNvSpPr txBox="1"/>
            <p:nvPr/>
          </p:nvSpPr>
          <p:spPr>
            <a:xfrm>
              <a:off x="4010063" y="4182189"/>
              <a:ext cx="6476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您已报名成功</a:t>
              </a:r>
            </a:p>
          </p:txBody>
        </p:sp>
        <p:sp>
          <p:nvSpPr>
            <p:cNvPr id="52" name="TextBox 52"/>
            <p:cNvSpPr txBox="1"/>
            <p:nvPr/>
          </p:nvSpPr>
          <p:spPr>
            <a:xfrm>
              <a:off x="3463163" y="4486989"/>
              <a:ext cx="541274" cy="154781"/>
            </a:xfrm>
            <a:prstGeom prst="rect">
              <a:avLst/>
            </a:prstGeom>
            <a:noFill/>
            <a:ln>
              <a:noFill/>
            </a:ln>
          </p:spPr>
          <p:txBody>
            <a:bodyPr wrap="none" lIns="0" tIns="0" rIns="0" bIns="0" anchor="t" anchorCtr="0">
              <a:spAutoFit/>
            </a:bodyPr>
            <a:lstStyle/>
            <a:p>
              <a:pPr algn="ctr"/>
              <a:r>
                <a:rPr lang="zh-CN" sz="790" dirty="0">
                  <a:solidFill>
                    <a:srgbClr val="B36C60"/>
                  </a:solidFill>
                  <a:latin typeface="+mn-lt"/>
                  <a:ea typeface="+mn-ea"/>
                  <a:cs typeface="+mn-cs"/>
                </a:rPr>
                <a:t>月月升金礼</a:t>
              </a:r>
            </a:p>
          </p:txBody>
        </p:sp>
        <p:sp>
          <p:nvSpPr>
            <p:cNvPr id="53" name="TextBox 53"/>
            <p:cNvSpPr txBox="1"/>
            <p:nvPr/>
          </p:nvSpPr>
          <p:spPr>
            <a:xfrm>
              <a:off x="4644263" y="4486989"/>
              <a:ext cx="541274" cy="154781"/>
            </a:xfrm>
            <a:prstGeom prst="rect">
              <a:avLst/>
            </a:prstGeom>
            <a:noFill/>
            <a:ln>
              <a:noFill/>
            </a:ln>
          </p:spPr>
          <p:txBody>
            <a:bodyPr wrap="none" lIns="0" tIns="0" rIns="0" bIns="0" anchor="t" anchorCtr="0">
              <a:spAutoFit/>
            </a:bodyPr>
            <a:lstStyle/>
            <a:p>
              <a:pPr algn="ctr"/>
              <a:r>
                <a:rPr lang="zh-CN" sz="790" b="1" dirty="0">
                  <a:solidFill>
                    <a:srgbClr val="E8553C"/>
                  </a:solidFill>
                  <a:latin typeface="+mn-lt"/>
                  <a:ea typeface="+mn-ea"/>
                  <a:cs typeface="+mn-cs"/>
                </a:rPr>
                <a:t>资产达标礼</a:t>
              </a:r>
            </a:p>
          </p:txBody>
        </p:sp>
        <p:sp>
          <p:nvSpPr>
            <p:cNvPr id="54" name="Rectangle 54"/>
            <p:cNvSpPr/>
            <p:nvPr/>
          </p:nvSpPr>
          <p:spPr>
            <a:xfrm>
              <a:off x="4591050" y="4629150"/>
              <a:ext cx="647700" cy="19050"/>
            </a:xfrm>
            <a:prstGeom prst="rect">
              <a:avLst/>
            </a:prstGeom>
            <a:solidFill>
              <a:srgbClr val="E8553C"/>
            </a:solidFill>
            <a:ln>
              <a:noFill/>
            </a:ln>
          </p:spPr>
        </p:sp>
        <p:sp>
          <p:nvSpPr>
            <p:cNvPr id="55" name="Rectangle 55"/>
            <p:cNvSpPr/>
            <p:nvPr/>
          </p:nvSpPr>
          <p:spPr>
            <a:xfrm>
              <a:off x="3257550" y="4743450"/>
              <a:ext cx="2152650" cy="400050"/>
            </a:xfrm>
            <a:prstGeom prst="roundRect">
              <a:avLst>
                <a:gd name="adj" fmla="val 14286"/>
              </a:avLst>
            </a:prstGeom>
            <a:solidFill>
              <a:srgbClr val="FFFFFF"/>
            </a:solidFill>
            <a:ln>
              <a:noFill/>
            </a:ln>
          </p:spPr>
        </p:sp>
        <p:sp>
          <p:nvSpPr>
            <p:cNvPr id="56" name="Rectangle 56"/>
            <p:cNvSpPr/>
            <p:nvPr/>
          </p:nvSpPr>
          <p:spPr>
            <a:xfrm>
              <a:off x="3352800" y="4848225"/>
              <a:ext cx="171450" cy="171450"/>
            </a:xfrm>
            <a:prstGeom prst="roundRect">
              <a:avLst>
                <a:gd name="adj" fmla="val 22222"/>
              </a:avLst>
            </a:prstGeom>
            <a:solidFill>
              <a:srgbClr val="F5735C"/>
            </a:solidFill>
            <a:ln>
              <a:noFill/>
            </a:ln>
          </p:spPr>
        </p:sp>
        <p:sp>
          <p:nvSpPr>
            <p:cNvPr id="57" name="TextBox 57"/>
            <p:cNvSpPr txBox="1"/>
            <p:nvPr/>
          </p:nvSpPr>
          <p:spPr>
            <a:xfrm>
              <a:off x="3614738" y="4896564"/>
              <a:ext cx="1077543" cy="154781"/>
            </a:xfrm>
            <a:prstGeom prst="rect">
              <a:avLst/>
            </a:prstGeom>
            <a:noFill/>
            <a:ln>
              <a:noFill/>
            </a:ln>
          </p:spPr>
          <p:txBody>
            <a:bodyPr wrap="none" lIns="0" tIns="0" rIns="0" bIns="0" anchor="t" anchorCtr="0">
              <a:spAutoFit/>
            </a:bodyPr>
            <a:lstStyle/>
            <a:p>
              <a:pPr algn="l"/>
              <a:r>
                <a:rPr lang="zh-CN" sz="790" b="1" dirty="0">
                  <a:solidFill>
                    <a:srgbClr val="5A3630"/>
                  </a:solidFill>
                  <a:latin typeface="+mn-lt"/>
                  <a:ea typeface="+mn-ea"/>
                  <a:cs typeface="+mn-cs"/>
                </a:rPr>
                <a:t>达标1000元(含)以上​</a:t>
              </a:r>
            </a:p>
          </p:txBody>
        </p:sp>
        <p:sp>
          <p:nvSpPr>
            <p:cNvPr id="58" name="Rectangle 58"/>
            <p:cNvSpPr/>
            <p:nvPr/>
          </p:nvSpPr>
          <p:spPr>
            <a:xfrm>
              <a:off x="3257550" y="5219700"/>
              <a:ext cx="2152650" cy="400050"/>
            </a:xfrm>
            <a:prstGeom prst="roundRect">
              <a:avLst>
                <a:gd name="adj" fmla="val 14286"/>
              </a:avLst>
            </a:prstGeom>
            <a:solidFill>
              <a:srgbClr val="FFFFFF"/>
            </a:solidFill>
            <a:ln>
              <a:noFill/>
            </a:ln>
          </p:spPr>
        </p:sp>
        <p:sp>
          <p:nvSpPr>
            <p:cNvPr id="59" name="Rectangle 59"/>
            <p:cNvSpPr/>
            <p:nvPr/>
          </p:nvSpPr>
          <p:spPr>
            <a:xfrm>
              <a:off x="3352800" y="5324475"/>
              <a:ext cx="171450" cy="171450"/>
            </a:xfrm>
            <a:prstGeom prst="roundRect">
              <a:avLst>
                <a:gd name="adj" fmla="val 22222"/>
              </a:avLst>
            </a:prstGeom>
            <a:solidFill>
              <a:srgbClr val="F5735C"/>
            </a:solidFill>
            <a:ln>
              <a:noFill/>
            </a:ln>
          </p:spPr>
        </p:sp>
        <p:sp>
          <p:nvSpPr>
            <p:cNvPr id="60" name="TextBox 60"/>
            <p:cNvSpPr txBox="1"/>
            <p:nvPr/>
          </p:nvSpPr>
          <p:spPr>
            <a:xfrm>
              <a:off x="3614738" y="5372814"/>
              <a:ext cx="1077543" cy="154781"/>
            </a:xfrm>
            <a:prstGeom prst="rect">
              <a:avLst/>
            </a:prstGeom>
            <a:noFill/>
            <a:ln>
              <a:noFill/>
            </a:ln>
          </p:spPr>
          <p:txBody>
            <a:bodyPr wrap="none" lIns="0" tIns="0" rIns="0" bIns="0" anchor="t" anchorCtr="0">
              <a:spAutoFit/>
            </a:bodyPr>
            <a:lstStyle/>
            <a:p>
              <a:pPr algn="l"/>
              <a:r>
                <a:rPr lang="zh-CN" sz="790" b="1" dirty="0">
                  <a:solidFill>
                    <a:srgbClr val="5A3630"/>
                  </a:solidFill>
                  <a:latin typeface="+mn-lt"/>
                  <a:ea typeface="+mn-ea"/>
                  <a:cs typeface="+mn-cs"/>
                </a:rPr>
                <a:t>达标5000元(含)以上​</a:t>
              </a:r>
            </a:p>
          </p:txBody>
        </p:sp>
        <p:sp>
          <p:nvSpPr>
            <p:cNvPr id="61" name="Rectangle 61"/>
            <p:cNvSpPr/>
            <p:nvPr/>
          </p:nvSpPr>
          <p:spPr>
            <a:xfrm>
              <a:off x="3257550" y="5695950"/>
              <a:ext cx="2152650" cy="400050"/>
            </a:xfrm>
            <a:prstGeom prst="roundRect">
              <a:avLst>
                <a:gd name="adj" fmla="val 14286"/>
              </a:avLst>
            </a:prstGeom>
            <a:solidFill>
              <a:srgbClr val="FFFFFF"/>
            </a:solidFill>
            <a:ln>
              <a:noFill/>
            </a:ln>
          </p:spPr>
        </p:sp>
        <p:sp>
          <p:nvSpPr>
            <p:cNvPr id="62" name="Rectangle 62"/>
            <p:cNvSpPr/>
            <p:nvPr/>
          </p:nvSpPr>
          <p:spPr>
            <a:xfrm>
              <a:off x="3352800" y="5800725"/>
              <a:ext cx="171450" cy="171450"/>
            </a:xfrm>
            <a:prstGeom prst="roundRect">
              <a:avLst>
                <a:gd name="adj" fmla="val 22222"/>
              </a:avLst>
            </a:prstGeom>
            <a:solidFill>
              <a:srgbClr val="F5735C"/>
            </a:solidFill>
            <a:ln>
              <a:noFill/>
            </a:ln>
          </p:spPr>
        </p:sp>
        <p:sp>
          <p:nvSpPr>
            <p:cNvPr id="63" name="TextBox 63"/>
            <p:cNvSpPr txBox="1"/>
            <p:nvPr/>
          </p:nvSpPr>
          <p:spPr>
            <a:xfrm>
              <a:off x="3614738" y="5849064"/>
              <a:ext cx="999642" cy="154781"/>
            </a:xfrm>
            <a:prstGeom prst="rect">
              <a:avLst/>
            </a:prstGeom>
            <a:noFill/>
            <a:ln>
              <a:noFill/>
            </a:ln>
          </p:spPr>
          <p:txBody>
            <a:bodyPr wrap="none" lIns="0" tIns="0" rIns="0" bIns="0" anchor="t" anchorCtr="0">
              <a:spAutoFit/>
            </a:bodyPr>
            <a:lstStyle/>
            <a:p>
              <a:pPr algn="l"/>
              <a:r>
                <a:rPr lang="zh-CN" sz="790" b="1" dirty="0">
                  <a:solidFill>
                    <a:srgbClr val="5A3630"/>
                  </a:solidFill>
                  <a:latin typeface="+mn-lt"/>
                  <a:ea typeface="+mn-ea"/>
                  <a:cs typeface="+mn-cs"/>
                </a:rPr>
                <a:t>达标1万元(含)以上​</a:t>
              </a:r>
            </a:p>
          </p:txBody>
        </p:sp>
      </p:grpSp>
      <p:grpSp>
        <p:nvGrpSpPr>
          <p:cNvPr id="120" name="right-body"/>
          <p:cNvGrpSpPr/>
          <p:nvPr/>
        </p:nvGrpSpPr>
        <p:grpSpPr>
          <a:xfrm>
            <a:off x="6667500" y="2428875"/>
            <a:ext cx="5048250" cy="4159091"/>
            <a:chOff x="6667500" y="2428875"/>
            <a:chExt cx="5048250" cy="4159091"/>
          </a:xfrm>
        </p:grpSpPr>
        <p:sp>
          <p:nvSpPr>
            <p:cNvPr id="65" name="Ellipse 65"/>
            <p:cNvSpPr/>
            <p:nvPr/>
          </p:nvSpPr>
          <p:spPr>
            <a:xfrm>
              <a:off x="6781800" y="2428875"/>
              <a:ext cx="1485900" cy="323850"/>
            </a:xfrm>
            <a:prstGeom prst="ellipse">
              <a:avLst/>
            </a:prstGeom>
            <a:solidFill>
              <a:srgbClr val="FFFFFF"/>
            </a:solidFill>
            <a:ln w="14288">
              <a:solidFill>
                <a:srgbClr val="E74726"/>
              </a:solidFill>
            </a:ln>
          </p:spPr>
        </p:sp>
        <p:sp>
          <p:nvSpPr>
            <p:cNvPr id="66" name="TextBox 66"/>
            <p:cNvSpPr txBox="1"/>
            <p:nvPr/>
          </p:nvSpPr>
          <p:spPr>
            <a:xfrm>
              <a:off x="7156514" y="2541270"/>
              <a:ext cx="736473" cy="176212"/>
            </a:xfrm>
            <a:prstGeom prst="rect">
              <a:avLst/>
            </a:prstGeom>
            <a:noFill/>
            <a:ln>
              <a:noFill/>
            </a:ln>
          </p:spPr>
          <p:txBody>
            <a:bodyPr wrap="none" lIns="0" tIns="0" rIns="0" bIns="0" anchor="t" anchorCtr="0">
              <a:spAutoFit/>
            </a:bodyPr>
            <a:lstStyle/>
            <a:p>
              <a:pPr algn="ctr"/>
              <a:r>
                <a:rPr lang="zh-CN" sz="900" b="1" dirty="0">
                  <a:solidFill>
                    <a:srgbClr val="E74726"/>
                  </a:solidFill>
                  <a:latin typeface="+mn-lt"/>
                  <a:ea typeface="+mn-ea"/>
                  <a:cs typeface="+mn-cs"/>
                </a:rPr>
                <a:t>全行客户等级</a:t>
              </a:r>
            </a:p>
          </p:txBody>
        </p:sp>
        <p:sp>
          <p:nvSpPr>
            <p:cNvPr id="67" name="Line 67"/>
            <p:cNvSpPr/>
            <p:nvPr/>
          </p:nvSpPr>
          <p:spPr>
            <a:xfrm>
              <a:off x="8572500" y="2533650"/>
              <a:ext cx="1047750" cy="9525"/>
            </a:xfrm>
            <a:custGeom>
              <a:avLst/>
              <a:gdLst/>
              <a:ahLst/>
              <a:cxnLst/>
              <a:rect l="l" t="t" r="r" b="b"/>
              <a:pathLst>
                <a:path w="1047750" h="9525">
                  <a:moveTo>
                    <a:pt x="0" y="0"/>
                  </a:moveTo>
                  <a:lnTo>
                    <a:pt x="1047750" y="0"/>
                  </a:lnTo>
                </a:path>
              </a:pathLst>
            </a:custGeom>
            <a:noFill/>
            <a:ln w="23812">
              <a:solidFill>
                <a:srgbClr val="9AA5B4"/>
              </a:solidFill>
            </a:ln>
          </p:spPr>
        </p:sp>
        <p:sp>
          <p:nvSpPr>
            <p:cNvPr id="68" name="Line 68"/>
            <p:cNvSpPr/>
            <p:nvPr/>
          </p:nvSpPr>
          <p:spPr>
            <a:xfrm>
              <a:off x="8572500" y="2647950"/>
              <a:ext cx="1047750" cy="9525"/>
            </a:xfrm>
            <a:custGeom>
              <a:avLst/>
              <a:gdLst/>
              <a:ahLst/>
              <a:cxnLst/>
              <a:rect l="l" t="t" r="r" b="b"/>
              <a:pathLst>
                <a:path w="1047750" h="9525">
                  <a:moveTo>
                    <a:pt x="0" y="0"/>
                  </a:moveTo>
                  <a:lnTo>
                    <a:pt x="1047750" y="0"/>
                  </a:lnTo>
                </a:path>
              </a:pathLst>
            </a:custGeom>
            <a:noFill/>
            <a:ln w="23812">
              <a:solidFill>
                <a:srgbClr val="9AA5B4"/>
              </a:solidFill>
            </a:ln>
          </p:spPr>
        </p:sp>
        <p:sp>
          <p:nvSpPr>
            <p:cNvPr id="69" name="TextBox 69"/>
            <p:cNvSpPr txBox="1"/>
            <p:nvPr/>
          </p:nvSpPr>
          <p:spPr>
            <a:xfrm>
              <a:off x="8760447" y="2749391"/>
              <a:ext cx="671855" cy="161925"/>
            </a:xfrm>
            <a:prstGeom prst="rect">
              <a:avLst/>
            </a:prstGeom>
            <a:noFill/>
            <a:ln>
              <a:noFill/>
            </a:ln>
          </p:spPr>
          <p:txBody>
            <a:bodyPr wrap="none" lIns="0" tIns="0" rIns="0" bIns="0" anchor="t" anchorCtr="0">
              <a:spAutoFit/>
            </a:bodyPr>
            <a:lstStyle/>
            <a:p>
              <a:pPr algn="ctr"/>
              <a:r>
                <a:rPr lang="zh-CN" sz="820" dirty="0">
                  <a:solidFill>
                    <a:srgbClr val="846F6B"/>
                  </a:solidFill>
                  <a:latin typeface="+mn-lt"/>
                  <a:ea typeface="+mn-ea"/>
                  <a:cs typeface="+mn-cs"/>
                </a:rPr>
                <a:t>共用一套规则</a:t>
              </a:r>
            </a:p>
          </p:txBody>
        </p:sp>
        <p:sp>
          <p:nvSpPr>
            <p:cNvPr id="70" name="Ellipse 70"/>
            <p:cNvSpPr/>
            <p:nvPr/>
          </p:nvSpPr>
          <p:spPr>
            <a:xfrm>
              <a:off x="9925050" y="2428875"/>
              <a:ext cx="1485900" cy="323850"/>
            </a:xfrm>
            <a:prstGeom prst="ellipse">
              <a:avLst/>
            </a:prstGeom>
            <a:solidFill>
              <a:srgbClr val="FFFFFF"/>
            </a:solidFill>
            <a:ln w="14288">
              <a:solidFill>
                <a:srgbClr val="E74726"/>
              </a:solidFill>
            </a:ln>
          </p:spPr>
        </p:sp>
        <p:sp>
          <p:nvSpPr>
            <p:cNvPr id="71" name="TextBox 71"/>
            <p:cNvSpPr txBox="1"/>
            <p:nvPr/>
          </p:nvSpPr>
          <p:spPr>
            <a:xfrm>
              <a:off x="10299764" y="2541270"/>
              <a:ext cx="736473" cy="176212"/>
            </a:xfrm>
            <a:prstGeom prst="rect">
              <a:avLst/>
            </a:prstGeom>
            <a:noFill/>
            <a:ln>
              <a:noFill/>
            </a:ln>
          </p:spPr>
          <p:txBody>
            <a:bodyPr wrap="none" lIns="0" tIns="0" rIns="0" bIns="0" anchor="t" anchorCtr="0">
              <a:spAutoFit/>
            </a:bodyPr>
            <a:lstStyle/>
            <a:p>
              <a:pPr algn="ctr"/>
              <a:r>
                <a:rPr lang="zh-CN" sz="900" b="1" dirty="0">
                  <a:solidFill>
                    <a:srgbClr val="E74726"/>
                  </a:solidFill>
                  <a:latin typeface="+mn-lt"/>
                  <a:ea typeface="+mn-ea"/>
                  <a:cs typeface="+mn-cs"/>
                </a:rPr>
                <a:t>专项活动分层</a:t>
              </a:r>
            </a:p>
          </p:txBody>
        </p:sp>
        <p:sp>
          <p:nvSpPr>
            <p:cNvPr id="72" name="Rectangle 72"/>
            <p:cNvSpPr/>
            <p:nvPr/>
          </p:nvSpPr>
          <p:spPr>
            <a:xfrm>
              <a:off x="6667500" y="3028950"/>
              <a:ext cx="2381250" cy="3276600"/>
            </a:xfrm>
            <a:prstGeom prst="roundRect">
              <a:avLst>
                <a:gd name="adj" fmla="val 4000"/>
              </a:avLst>
            </a:prstGeom>
            <a:solidFill>
              <a:srgbClr val="FFFFFF"/>
            </a:solidFill>
            <a:ln w="14288">
              <a:solidFill>
                <a:srgbClr val="DCE8FB"/>
              </a:solidFill>
            </a:ln>
          </p:spPr>
        </p:sp>
        <p:sp>
          <p:nvSpPr>
            <p:cNvPr id="73" name="TextBox 73"/>
            <p:cNvSpPr txBox="1"/>
            <p:nvPr/>
          </p:nvSpPr>
          <p:spPr>
            <a:xfrm>
              <a:off x="7632586" y="3149441"/>
              <a:ext cx="451079" cy="161925"/>
            </a:xfrm>
            <a:prstGeom prst="rect">
              <a:avLst/>
            </a:prstGeom>
            <a:noFill/>
            <a:ln>
              <a:noFill/>
            </a:ln>
          </p:spPr>
          <p:txBody>
            <a:bodyPr wrap="none" lIns="0" tIns="0" rIns="0" bIns="0" anchor="t" anchorCtr="0">
              <a:spAutoFit/>
            </a:bodyPr>
            <a:lstStyle/>
            <a:p>
              <a:pPr algn="ctr"/>
              <a:r>
                <a:rPr lang="zh-CN" sz="820" b="1" dirty="0">
                  <a:solidFill>
                    <a:srgbClr val="523833"/>
                  </a:solidFill>
                  <a:latin typeface="+mn-lt"/>
                  <a:ea typeface="+mn-ea"/>
                  <a:cs typeface="+mn-cs"/>
                </a:rPr>
                <a:t>规则说明</a:t>
              </a:r>
            </a:p>
          </p:txBody>
        </p:sp>
        <p:sp>
          <p:nvSpPr>
            <p:cNvPr id="74" name="Line 74"/>
            <p:cNvSpPr/>
            <p:nvPr/>
          </p:nvSpPr>
          <p:spPr>
            <a:xfrm>
              <a:off x="6667500" y="3333750"/>
              <a:ext cx="2381250" cy="9525"/>
            </a:xfrm>
            <a:custGeom>
              <a:avLst/>
              <a:gdLst/>
              <a:ahLst/>
              <a:cxnLst/>
              <a:rect l="l" t="t" r="r" b="b"/>
              <a:pathLst>
                <a:path w="2381250" h="9525">
                  <a:moveTo>
                    <a:pt x="0" y="0"/>
                  </a:moveTo>
                  <a:lnTo>
                    <a:pt x="2381250" y="0"/>
                  </a:lnTo>
                </a:path>
              </a:pathLst>
            </a:custGeom>
            <a:noFill/>
            <a:ln w="9525">
              <a:solidFill>
                <a:srgbClr val="EAF2FD"/>
              </a:solidFill>
            </a:ln>
          </p:spPr>
        </p:sp>
        <p:sp>
          <p:nvSpPr>
            <p:cNvPr id="75" name="TextBox 75"/>
            <p:cNvSpPr txBox="1"/>
            <p:nvPr/>
          </p:nvSpPr>
          <p:spPr>
            <a:xfrm>
              <a:off x="7548432" y="3458289"/>
              <a:ext cx="619386" cy="154781"/>
            </a:xfrm>
            <a:prstGeom prst="rect">
              <a:avLst/>
            </a:prstGeom>
            <a:noFill/>
            <a:ln>
              <a:noFill/>
            </a:ln>
          </p:spPr>
          <p:txBody>
            <a:bodyPr wrap="none" lIns="0" tIns="0" rIns="0" bIns="0" anchor="t" anchorCtr="0">
              <a:spAutoFit/>
            </a:bodyPr>
            <a:lstStyle/>
            <a:p>
              <a:pPr algn="ctr" marL="89545" indent="-89545">
                <a:buClr>
                  <a:srgbClr val="8A483C"/>
                </a:buClr>
                <a:buSzTx/>
                <a:buFontTx/>
                <a:buChar char="•"/>
              </a:pPr>
              <a:r>
                <a:rPr lang="zh-CN" sz="790" b="1" dirty="0">
                  <a:solidFill>
                    <a:srgbClr val="8A483C"/>
                  </a:solidFill>
                  <a:latin typeface="+mn-lt"/>
                  <a:ea typeface="+mn-ea"/>
                  <a:cs typeface="+mn-cs"/>
                </a:rPr>
                <a:t>等级介绍 ·</a:t>
              </a:r>
            </a:p>
          </p:txBody>
        </p:sp>
        <p:sp>
          <p:nvSpPr>
            <p:cNvPr id="76" name="Rectangle 76"/>
            <p:cNvSpPr/>
            <p:nvPr/>
          </p:nvSpPr>
          <p:spPr>
            <a:xfrm>
              <a:off x="6781800" y="3657600"/>
              <a:ext cx="2152650" cy="209550"/>
            </a:xfrm>
            <a:prstGeom prst="roundRect">
              <a:avLst>
                <a:gd name="adj" fmla="val 13636"/>
              </a:avLst>
            </a:prstGeom>
            <a:solidFill>
              <a:srgbClr val="FBF3E6"/>
            </a:solidFill>
            <a:ln>
              <a:noFill/>
            </a:ln>
          </p:spPr>
        </p:sp>
        <p:sp>
          <p:nvSpPr>
            <p:cNvPr id="77" name="TextBox 77"/>
            <p:cNvSpPr txBox="1"/>
            <p:nvPr/>
          </p:nvSpPr>
          <p:spPr>
            <a:xfrm>
              <a:off x="7024357" y="3723561"/>
              <a:ext cx="200685" cy="140494"/>
            </a:xfrm>
            <a:prstGeom prst="rect">
              <a:avLst/>
            </a:prstGeom>
            <a:noFill/>
            <a:ln>
              <a:noFill/>
            </a:ln>
          </p:spPr>
          <p:txBody>
            <a:bodyPr wrap="none" lIns="0" tIns="0" rIns="0" bIns="0" anchor="t" anchorCtr="0">
              <a:spAutoFit/>
            </a:bodyPr>
            <a:lstStyle/>
            <a:p>
              <a:pPr algn="ctr"/>
              <a:r>
                <a:rPr lang="zh-CN" sz="710" b="1" dirty="0">
                  <a:solidFill>
                    <a:srgbClr val="8A483C"/>
                  </a:solidFill>
                  <a:latin typeface="+mn-lt"/>
                  <a:ea typeface="+mn-ea"/>
                  <a:cs typeface="+mn-cs"/>
                </a:rPr>
                <a:t>等级</a:t>
              </a:r>
            </a:p>
          </p:txBody>
        </p:sp>
        <p:sp>
          <p:nvSpPr>
            <p:cNvPr id="78" name="TextBox 78"/>
            <p:cNvSpPr txBox="1"/>
            <p:nvPr/>
          </p:nvSpPr>
          <p:spPr>
            <a:xfrm>
              <a:off x="7578250" y="3723561"/>
              <a:ext cx="1226500" cy="140494"/>
            </a:xfrm>
            <a:prstGeom prst="rect">
              <a:avLst/>
            </a:prstGeom>
            <a:noFill/>
            <a:ln>
              <a:noFill/>
            </a:ln>
          </p:spPr>
          <p:txBody>
            <a:bodyPr wrap="none" lIns="0" tIns="0" rIns="0" bIns="0" anchor="t" anchorCtr="0">
              <a:spAutoFit/>
            </a:bodyPr>
            <a:lstStyle/>
            <a:p>
              <a:pPr algn="ctr"/>
              <a:r>
                <a:rPr lang="zh-CN" sz="710" b="1" dirty="0">
                  <a:solidFill>
                    <a:srgbClr val="8A483C"/>
                  </a:solidFill>
                  <a:latin typeface="+mn-lt"/>
                  <a:ea typeface="+mn-ea"/>
                  <a:cs typeface="+mn-cs"/>
                </a:rPr>
                <a:t>上月月日均金融资产值(元)​</a:t>
              </a:r>
            </a:p>
          </p:txBody>
        </p:sp>
        <p:grpSp>
          <p:nvGrpSpPr>
            <p:cNvPr id="87" name="Group 87"/>
            <p:cNvGrpSpPr/>
            <p:nvPr/>
          </p:nvGrpSpPr>
          <p:grpSpPr>
            <a:xfrm>
              <a:off x="7031926" y="3995738"/>
              <a:ext cx="1520238" cy="947738"/>
              <a:chOff x="7031926" y="3995738"/>
              <a:chExt cx="1520238" cy="947738"/>
            </a:xfrm>
          </p:grpSpPr>
          <p:sp>
            <p:nvSpPr>
              <p:cNvPr id="79" name="TextBox 79"/>
              <p:cNvSpPr txBox="1"/>
              <p:nvPr/>
            </p:nvSpPr>
            <p:spPr>
              <a:xfrm>
                <a:off x="7031926" y="3995738"/>
                <a:ext cx="185547" cy="147638"/>
              </a:xfrm>
              <a:prstGeom prst="rect">
                <a:avLst/>
              </a:prstGeom>
              <a:noFill/>
              <a:ln>
                <a:noFill/>
              </a:ln>
            </p:spPr>
            <p:txBody>
              <a:bodyPr wrap="none" lIns="0" tIns="0" rIns="0" bIns="0" anchor="t" anchorCtr="0">
                <a:spAutoFit/>
              </a:bodyPr>
              <a:lstStyle/>
              <a:p>
                <a:pPr algn="ctr"/>
                <a:r>
                  <a:rPr lang="en-US" sz="750" dirty="0">
                    <a:solidFill>
                      <a:srgbClr val="5A403C"/>
                    </a:solidFill>
                    <a:latin typeface="+mn-lt"/>
                    <a:ea typeface="+mn-ea"/>
                    <a:cs typeface="+mn-cs"/>
                  </a:rPr>
                  <a:t>R1​</a:t>
                </a:r>
              </a:p>
            </p:txBody>
          </p:sp>
          <p:sp>
            <p:nvSpPr>
              <p:cNvPr id="80" name="TextBox 80"/>
              <p:cNvSpPr txBox="1"/>
              <p:nvPr/>
            </p:nvSpPr>
            <p:spPr>
              <a:xfrm>
                <a:off x="7863650" y="3995738"/>
                <a:ext cx="655701" cy="147638"/>
              </a:xfrm>
              <a:prstGeom prst="rect">
                <a:avLst/>
              </a:prstGeom>
              <a:noFill/>
              <a:ln>
                <a:noFill/>
              </a:ln>
            </p:spPr>
            <p:txBody>
              <a:bodyPr wrap="none" lIns="0" tIns="0" rIns="0" bIns="0" anchor="t" anchorCtr="0">
                <a:spAutoFit/>
              </a:bodyPr>
              <a:lstStyle/>
              <a:p>
                <a:pPr algn="ctr"/>
                <a:r>
                  <a:rPr lang="zh-CN" sz="750" dirty="0">
                    <a:solidFill>
                      <a:srgbClr val="5A403C"/>
                    </a:solidFill>
                    <a:latin typeface="+mn-lt"/>
                    <a:ea typeface="+mn-ea"/>
                    <a:cs typeface="+mn-cs"/>
                  </a:rPr>
                  <a:t>0(不含)-100​</a:t>
                </a:r>
              </a:p>
            </p:txBody>
          </p:sp>
          <p:sp>
            <p:nvSpPr>
              <p:cNvPr id="81" name="TextBox 81"/>
              <p:cNvSpPr txBox="1"/>
              <p:nvPr/>
            </p:nvSpPr>
            <p:spPr>
              <a:xfrm>
                <a:off x="7031926" y="4262438"/>
                <a:ext cx="185547" cy="147638"/>
              </a:xfrm>
              <a:prstGeom prst="rect">
                <a:avLst/>
              </a:prstGeom>
              <a:noFill/>
              <a:ln>
                <a:noFill/>
              </a:ln>
            </p:spPr>
            <p:txBody>
              <a:bodyPr wrap="none" lIns="0" tIns="0" rIns="0" bIns="0" anchor="t" anchorCtr="0">
                <a:spAutoFit/>
              </a:bodyPr>
              <a:lstStyle/>
              <a:p>
                <a:pPr algn="ctr"/>
                <a:r>
                  <a:rPr lang="en-US" sz="750" dirty="0">
                    <a:solidFill>
                      <a:srgbClr val="5A403C"/>
                    </a:solidFill>
                    <a:latin typeface="+mn-lt"/>
                    <a:ea typeface="+mn-ea"/>
                    <a:cs typeface="+mn-cs"/>
                  </a:rPr>
                  <a:t>R2​</a:t>
                </a:r>
              </a:p>
            </p:txBody>
          </p:sp>
          <p:sp>
            <p:nvSpPr>
              <p:cNvPr id="82" name="TextBox 82"/>
              <p:cNvSpPr txBox="1"/>
              <p:nvPr/>
            </p:nvSpPr>
            <p:spPr>
              <a:xfrm>
                <a:off x="7830836" y="4262438"/>
                <a:ext cx="721328" cy="147638"/>
              </a:xfrm>
              <a:prstGeom prst="rect">
                <a:avLst/>
              </a:prstGeom>
              <a:noFill/>
              <a:ln>
                <a:noFill/>
              </a:ln>
            </p:spPr>
            <p:txBody>
              <a:bodyPr wrap="none" lIns="0" tIns="0" rIns="0" bIns="0" anchor="t" anchorCtr="0">
                <a:spAutoFit/>
              </a:bodyPr>
              <a:lstStyle/>
              <a:p>
                <a:pPr algn="ctr"/>
                <a:r>
                  <a:rPr lang="zh-CN" sz="750" dirty="0">
                    <a:solidFill>
                      <a:srgbClr val="5A403C"/>
                    </a:solidFill>
                    <a:latin typeface="+mn-lt"/>
                    <a:ea typeface="+mn-ea"/>
                    <a:cs typeface="+mn-cs"/>
                  </a:rPr>
                  <a:t>100(含)-1000​</a:t>
                </a:r>
              </a:p>
            </p:txBody>
          </p:sp>
          <p:sp>
            <p:nvSpPr>
              <p:cNvPr id="83" name="TextBox 83"/>
              <p:cNvSpPr txBox="1"/>
              <p:nvPr/>
            </p:nvSpPr>
            <p:spPr>
              <a:xfrm>
                <a:off x="7031926" y="4529138"/>
                <a:ext cx="185547" cy="147638"/>
              </a:xfrm>
              <a:prstGeom prst="rect">
                <a:avLst/>
              </a:prstGeom>
              <a:noFill/>
              <a:ln>
                <a:noFill/>
              </a:ln>
            </p:spPr>
            <p:txBody>
              <a:bodyPr wrap="none" lIns="0" tIns="0" rIns="0" bIns="0" anchor="t" anchorCtr="0">
                <a:spAutoFit/>
              </a:bodyPr>
              <a:lstStyle/>
              <a:p>
                <a:pPr algn="ctr"/>
                <a:r>
                  <a:rPr lang="en-US" sz="750" dirty="0">
                    <a:solidFill>
                      <a:srgbClr val="5A403C"/>
                    </a:solidFill>
                    <a:latin typeface="+mn-lt"/>
                    <a:ea typeface="+mn-ea"/>
                    <a:cs typeface="+mn-cs"/>
                  </a:rPr>
                  <a:t>R3​</a:t>
                </a:r>
              </a:p>
            </p:txBody>
          </p:sp>
          <p:sp>
            <p:nvSpPr>
              <p:cNvPr id="84" name="TextBox 84"/>
              <p:cNvSpPr txBox="1"/>
              <p:nvPr/>
            </p:nvSpPr>
            <p:spPr>
              <a:xfrm>
                <a:off x="7835884" y="4529138"/>
                <a:ext cx="711232" cy="147638"/>
              </a:xfrm>
              <a:prstGeom prst="rect">
                <a:avLst/>
              </a:prstGeom>
              <a:noFill/>
              <a:ln>
                <a:noFill/>
              </a:ln>
            </p:spPr>
            <p:txBody>
              <a:bodyPr wrap="none" lIns="0" tIns="0" rIns="0" bIns="0" anchor="t" anchorCtr="0">
                <a:spAutoFit/>
              </a:bodyPr>
              <a:lstStyle/>
              <a:p>
                <a:pPr algn="ctr"/>
                <a:r>
                  <a:rPr lang="zh-CN" sz="750" dirty="0">
                    <a:solidFill>
                      <a:srgbClr val="5A403C"/>
                    </a:solidFill>
                    <a:latin typeface="+mn-lt"/>
                    <a:ea typeface="+mn-ea"/>
                    <a:cs typeface="+mn-cs"/>
                  </a:rPr>
                  <a:t>1000(含)-1万​</a:t>
                </a:r>
              </a:p>
            </p:txBody>
          </p:sp>
          <p:sp>
            <p:nvSpPr>
              <p:cNvPr id="85" name="TextBox 85"/>
              <p:cNvSpPr txBox="1"/>
              <p:nvPr/>
            </p:nvSpPr>
            <p:spPr>
              <a:xfrm>
                <a:off x="7031926" y="4795838"/>
                <a:ext cx="185547" cy="147638"/>
              </a:xfrm>
              <a:prstGeom prst="rect">
                <a:avLst/>
              </a:prstGeom>
              <a:noFill/>
              <a:ln>
                <a:noFill/>
              </a:ln>
            </p:spPr>
            <p:txBody>
              <a:bodyPr wrap="none" lIns="0" tIns="0" rIns="0" bIns="0" anchor="t" anchorCtr="0">
                <a:spAutoFit/>
              </a:bodyPr>
              <a:lstStyle/>
              <a:p>
                <a:pPr algn="ctr"/>
                <a:r>
                  <a:rPr lang="en-US" sz="750" dirty="0">
                    <a:solidFill>
                      <a:srgbClr val="5A403C"/>
                    </a:solidFill>
                    <a:latin typeface="+mn-lt"/>
                    <a:ea typeface="+mn-ea"/>
                    <a:cs typeface="+mn-cs"/>
                  </a:rPr>
                  <a:t>R4​</a:t>
                </a:r>
              </a:p>
            </p:txBody>
          </p:sp>
          <p:sp>
            <p:nvSpPr>
              <p:cNvPr id="86" name="TextBox 86"/>
              <p:cNvSpPr txBox="1"/>
              <p:nvPr/>
            </p:nvSpPr>
            <p:spPr>
              <a:xfrm>
                <a:off x="7868698" y="4795838"/>
                <a:ext cx="645604" cy="147638"/>
              </a:xfrm>
              <a:prstGeom prst="rect">
                <a:avLst/>
              </a:prstGeom>
              <a:noFill/>
              <a:ln>
                <a:noFill/>
              </a:ln>
            </p:spPr>
            <p:txBody>
              <a:bodyPr wrap="none" lIns="0" tIns="0" rIns="0" bIns="0" anchor="t" anchorCtr="0">
                <a:spAutoFit/>
              </a:bodyPr>
              <a:lstStyle/>
              <a:p>
                <a:pPr algn="ctr"/>
                <a:r>
                  <a:rPr lang="zh-CN" sz="750" dirty="0">
                    <a:solidFill>
                      <a:srgbClr val="5A403C"/>
                    </a:solidFill>
                    <a:latin typeface="+mn-lt"/>
                    <a:ea typeface="+mn-ea"/>
                    <a:cs typeface="+mn-cs"/>
                  </a:rPr>
                  <a:t>1万(含)-5万​</a:t>
                </a:r>
              </a:p>
            </p:txBody>
          </p:sp>
        </p:grpSp>
        <p:grpSp>
          <p:nvGrpSpPr>
            <p:cNvPr id="91" name="Group 91"/>
            <p:cNvGrpSpPr/>
            <p:nvPr/>
          </p:nvGrpSpPr>
          <p:grpSpPr>
            <a:xfrm>
              <a:off x="6781800" y="4191000"/>
              <a:ext cx="2152650" cy="542925"/>
              <a:chOff x="6781800" y="4191000"/>
              <a:chExt cx="2152650" cy="542925"/>
            </a:xfrm>
          </p:grpSpPr>
          <p:sp>
            <p:nvSpPr>
              <p:cNvPr id="88" name="Line 88"/>
              <p:cNvSpPr/>
              <p:nvPr/>
            </p:nvSpPr>
            <p:spPr>
              <a:xfrm>
                <a:off x="6781800" y="4191000"/>
                <a:ext cx="2152650" cy="9525"/>
              </a:xfrm>
              <a:custGeom>
                <a:avLst/>
                <a:gdLst/>
                <a:ahLst/>
                <a:cxnLst/>
                <a:rect l="l" t="t" r="r" b="b"/>
                <a:pathLst>
                  <a:path w="2152650" h="9525">
                    <a:moveTo>
                      <a:pt x="0" y="0"/>
                    </a:moveTo>
                    <a:lnTo>
                      <a:pt x="2152650" y="0"/>
                    </a:lnTo>
                  </a:path>
                </a:pathLst>
              </a:custGeom>
              <a:noFill/>
              <a:ln w="9525">
                <a:solidFill>
                  <a:srgbClr val="F3E6D2"/>
                </a:solidFill>
              </a:ln>
            </p:spPr>
          </p:sp>
          <p:sp>
            <p:nvSpPr>
              <p:cNvPr id="89" name="Line 89"/>
              <p:cNvSpPr/>
              <p:nvPr/>
            </p:nvSpPr>
            <p:spPr>
              <a:xfrm>
                <a:off x="6781800" y="4457700"/>
                <a:ext cx="2152650" cy="9525"/>
              </a:xfrm>
              <a:custGeom>
                <a:avLst/>
                <a:gdLst/>
                <a:ahLst/>
                <a:cxnLst/>
                <a:rect l="l" t="t" r="r" b="b"/>
                <a:pathLst>
                  <a:path w="2152650" h="9525">
                    <a:moveTo>
                      <a:pt x="0" y="0"/>
                    </a:moveTo>
                    <a:lnTo>
                      <a:pt x="2152650" y="0"/>
                    </a:lnTo>
                  </a:path>
                </a:pathLst>
              </a:custGeom>
              <a:noFill/>
              <a:ln w="9525">
                <a:solidFill>
                  <a:srgbClr val="F3E6D2"/>
                </a:solidFill>
              </a:ln>
            </p:spPr>
          </p:sp>
          <p:sp>
            <p:nvSpPr>
              <p:cNvPr id="90" name="Line 90"/>
              <p:cNvSpPr/>
              <p:nvPr/>
            </p:nvSpPr>
            <p:spPr>
              <a:xfrm>
                <a:off x="6781800" y="4724400"/>
                <a:ext cx="2152650" cy="9525"/>
              </a:xfrm>
              <a:custGeom>
                <a:avLst/>
                <a:gdLst/>
                <a:ahLst/>
                <a:cxnLst/>
                <a:rect l="l" t="t" r="r" b="b"/>
                <a:pathLst>
                  <a:path w="2152650" h="9525">
                    <a:moveTo>
                      <a:pt x="0" y="0"/>
                    </a:moveTo>
                    <a:lnTo>
                      <a:pt x="2152650" y="0"/>
                    </a:lnTo>
                  </a:path>
                </a:pathLst>
              </a:custGeom>
              <a:noFill/>
              <a:ln w="9525">
                <a:solidFill>
                  <a:srgbClr val="F3E6D2"/>
                </a:solidFill>
              </a:ln>
            </p:spPr>
          </p:sp>
        </p:grpSp>
        <p:sp>
          <p:nvSpPr>
            <p:cNvPr id="92" name="Rectangle 92"/>
            <p:cNvSpPr/>
            <p:nvPr/>
          </p:nvSpPr>
          <p:spPr>
            <a:xfrm>
              <a:off x="6743700" y="3905250"/>
              <a:ext cx="2228850" cy="1066800"/>
            </a:xfrm>
            <a:prstGeom prst="roundRect">
              <a:avLst>
                <a:gd name="adj" fmla="val 1786"/>
              </a:avLst>
            </a:prstGeom>
            <a:noFill/>
            <a:ln w="19050">
              <a:solidFill>
                <a:srgbClr val="E0462C"/>
              </a:solidFill>
            </a:ln>
          </p:spPr>
        </p:sp>
        <p:sp>
          <p:nvSpPr>
            <p:cNvPr id="93" name="TextBox 93"/>
            <p:cNvSpPr txBox="1"/>
            <p:nvPr/>
          </p:nvSpPr>
          <p:spPr>
            <a:xfrm>
              <a:off x="7347815" y="5228749"/>
              <a:ext cx="1020621" cy="190690"/>
            </a:xfrm>
            <a:prstGeom prst="rect">
              <a:avLst/>
            </a:prstGeom>
            <a:noFill/>
            <a:ln>
              <a:noFill/>
            </a:ln>
          </p:spPr>
          <p:txBody>
            <a:bodyPr wrap="none" lIns="0" tIns="0" rIns="0" bIns="0" anchor="t" anchorCtr="0">
              <a:spAutoFit/>
            </a:bodyPr>
            <a:lstStyle/>
            <a:p>
              <a:pPr algn="ctr"/>
              <a:r>
                <a:rPr lang="zh-CN" sz="980" b="1" dirty="0">
                  <a:solidFill>
                    <a:srgbClr val="1F1F1F"/>
                  </a:solidFill>
                  <a:latin typeface="+mn-lt"/>
                  <a:ea typeface="+mn-ea"/>
                  <a:cs typeface="+mn-cs"/>
                </a:rPr>
                <a:t>中信银行R1-R4​</a:t>
              </a:r>
            </a:p>
          </p:txBody>
        </p:sp>
        <p:sp>
          <p:nvSpPr>
            <p:cNvPr id="94" name="TextBox 94"/>
            <p:cNvSpPr txBox="1"/>
            <p:nvPr/>
          </p:nvSpPr>
          <p:spPr>
            <a:xfrm>
              <a:off x="7088721" y="5561886"/>
              <a:ext cx="1538808" cy="140494"/>
            </a:xfrm>
            <a:prstGeom prst="rect">
              <a:avLst/>
            </a:prstGeom>
            <a:noFill/>
            <a:ln>
              <a:noFill/>
            </a:ln>
          </p:spPr>
          <p:txBody>
            <a:bodyPr wrap="none" lIns="0" tIns="0" rIns="0" bIns="0" anchor="t" anchorCtr="0">
              <a:spAutoFit/>
            </a:bodyPr>
            <a:lstStyle/>
            <a:p>
              <a:pPr algn="ctr"/>
              <a:r>
                <a:rPr lang="zh-CN" sz="710" dirty="0">
                  <a:solidFill>
                    <a:srgbClr val="9AA5B4"/>
                  </a:solidFill>
                  <a:latin typeface="+mn-lt"/>
                  <a:ea typeface="+mn-ea"/>
                  <a:cs typeface="+mn-cs"/>
                </a:rPr>
                <a:t>中信红会员等级，按客户上月月日均</a:t>
              </a:r>
            </a:p>
          </p:txBody>
        </p:sp>
        <p:sp>
          <p:nvSpPr>
            <p:cNvPr id="95" name="TextBox 95"/>
            <p:cNvSpPr txBox="1"/>
            <p:nvPr/>
          </p:nvSpPr>
          <p:spPr>
            <a:xfrm>
              <a:off x="7009867" y="5714286"/>
              <a:ext cx="1696516" cy="140494"/>
            </a:xfrm>
            <a:prstGeom prst="rect">
              <a:avLst/>
            </a:prstGeom>
            <a:noFill/>
            <a:ln>
              <a:noFill/>
            </a:ln>
          </p:spPr>
          <p:txBody>
            <a:bodyPr wrap="none" lIns="0" tIns="0" rIns="0" bIns="0" anchor="t" anchorCtr="0">
              <a:spAutoFit/>
            </a:bodyPr>
            <a:lstStyle/>
            <a:p>
              <a:pPr algn="ctr"/>
              <a:r>
                <a:rPr lang="zh-CN" sz="710" dirty="0">
                  <a:solidFill>
                    <a:srgbClr val="9AA5B4"/>
                  </a:solidFill>
                  <a:latin typeface="+mn-lt"/>
                  <a:ea typeface="+mn-ea"/>
                  <a:cs typeface="+mn-cs"/>
                </a:rPr>
                <a:t>金融资产值划分为14个等级，不同等级​</a:t>
              </a:r>
            </a:p>
          </p:txBody>
        </p:sp>
        <p:sp>
          <p:nvSpPr>
            <p:cNvPr id="96" name="TextBox 96"/>
            <p:cNvSpPr txBox="1"/>
            <p:nvPr/>
          </p:nvSpPr>
          <p:spPr>
            <a:xfrm>
              <a:off x="7232091" y="5866686"/>
              <a:ext cx="1252068" cy="140494"/>
            </a:xfrm>
            <a:prstGeom prst="rect">
              <a:avLst/>
            </a:prstGeom>
            <a:noFill/>
            <a:ln>
              <a:noFill/>
            </a:ln>
          </p:spPr>
          <p:txBody>
            <a:bodyPr wrap="none" lIns="0" tIns="0" rIns="0" bIns="0" anchor="t" anchorCtr="0">
              <a:spAutoFit/>
            </a:bodyPr>
            <a:lstStyle/>
            <a:p>
              <a:pPr algn="ctr"/>
              <a:r>
                <a:rPr lang="zh-CN" sz="710" dirty="0">
                  <a:solidFill>
                    <a:srgbClr val="9AA5B4"/>
                  </a:solidFill>
                  <a:latin typeface="+mn-lt"/>
                  <a:ea typeface="+mn-ea"/>
                  <a:cs typeface="+mn-cs"/>
                </a:rPr>
                <a:t>可享受对应等级的等级权益。</a:t>
              </a:r>
            </a:p>
          </p:txBody>
        </p:sp>
        <p:sp>
          <p:nvSpPr>
            <p:cNvPr id="97" name="Rectangle 97"/>
            <p:cNvSpPr/>
            <p:nvPr/>
          </p:nvSpPr>
          <p:spPr>
            <a:xfrm>
              <a:off x="9334500" y="3028950"/>
              <a:ext cx="2381250" cy="3276600"/>
            </a:xfrm>
            <a:prstGeom prst="roundRect">
              <a:avLst>
                <a:gd name="adj" fmla="val 4000"/>
              </a:avLst>
            </a:prstGeom>
            <a:solidFill>
              <a:srgbClr val="FFFFFF"/>
            </a:solidFill>
            <a:ln w="14288">
              <a:solidFill>
                <a:srgbClr val="DCE8FB"/>
              </a:solidFill>
            </a:ln>
          </p:spPr>
        </p:sp>
        <p:sp>
          <p:nvSpPr>
            <p:cNvPr id="98" name="TextBox 98"/>
            <p:cNvSpPr txBox="1"/>
            <p:nvPr/>
          </p:nvSpPr>
          <p:spPr>
            <a:xfrm>
              <a:off x="10189197" y="3149441"/>
              <a:ext cx="671855" cy="161925"/>
            </a:xfrm>
            <a:prstGeom prst="rect">
              <a:avLst/>
            </a:prstGeom>
            <a:noFill/>
            <a:ln>
              <a:noFill/>
            </a:ln>
          </p:spPr>
          <p:txBody>
            <a:bodyPr wrap="none" lIns="0" tIns="0" rIns="0" bIns="0" anchor="t" anchorCtr="0">
              <a:spAutoFit/>
            </a:bodyPr>
            <a:lstStyle/>
            <a:p>
              <a:pPr algn="ctr"/>
              <a:r>
                <a:rPr lang="zh-CN" sz="820" b="1" dirty="0">
                  <a:solidFill>
                    <a:srgbClr val="523833"/>
                  </a:solidFill>
                  <a:latin typeface="+mn-lt"/>
                  <a:ea typeface="+mn-ea"/>
                  <a:cs typeface="+mn-cs"/>
                </a:rPr>
                <a:t>成长等级说明</a:t>
              </a:r>
            </a:p>
          </p:txBody>
        </p:sp>
        <p:sp>
          <p:nvSpPr>
            <p:cNvPr id="99" name="Line 99"/>
            <p:cNvSpPr/>
            <p:nvPr/>
          </p:nvSpPr>
          <p:spPr>
            <a:xfrm>
              <a:off x="9334500" y="3333750"/>
              <a:ext cx="2381250" cy="9525"/>
            </a:xfrm>
            <a:custGeom>
              <a:avLst/>
              <a:gdLst/>
              <a:ahLst/>
              <a:cxnLst/>
              <a:rect l="l" t="t" r="r" b="b"/>
              <a:pathLst>
                <a:path w="2381250" h="9525">
                  <a:moveTo>
                    <a:pt x="0" y="0"/>
                  </a:moveTo>
                  <a:lnTo>
                    <a:pt x="2381250" y="0"/>
                  </a:lnTo>
                </a:path>
              </a:pathLst>
            </a:custGeom>
            <a:noFill/>
            <a:ln w="9525">
              <a:solidFill>
                <a:srgbClr val="EAF2FD"/>
              </a:solidFill>
            </a:ln>
          </p:spPr>
        </p:sp>
        <p:sp>
          <p:nvSpPr>
            <p:cNvPr id="100" name="TextBox 100"/>
            <p:cNvSpPr txBox="1"/>
            <p:nvPr/>
          </p:nvSpPr>
          <p:spPr>
            <a:xfrm>
              <a:off x="10215432" y="3458289"/>
              <a:ext cx="619386" cy="154781"/>
            </a:xfrm>
            <a:prstGeom prst="rect">
              <a:avLst/>
            </a:prstGeom>
            <a:noFill/>
            <a:ln>
              <a:noFill/>
            </a:ln>
          </p:spPr>
          <p:txBody>
            <a:bodyPr wrap="none" lIns="0" tIns="0" rIns="0" bIns="0" anchor="t" anchorCtr="0">
              <a:spAutoFit/>
            </a:bodyPr>
            <a:lstStyle/>
            <a:p>
              <a:pPr algn="ctr" marL="89545" indent="-89545">
                <a:buClr>
                  <a:srgbClr val="E74726"/>
                </a:buClr>
                <a:buSzTx/>
                <a:buFontTx/>
                <a:buChar char="•"/>
              </a:pPr>
              <a:r>
                <a:rPr lang="zh-CN" sz="790" b="1" dirty="0">
                  <a:solidFill>
                    <a:srgbClr val="E74726"/>
                  </a:solidFill>
                  <a:latin typeface="+mn-lt"/>
                  <a:ea typeface="+mn-ea"/>
                  <a:cs typeface="+mn-cs"/>
                </a:rPr>
                <a:t>等级介绍 ·</a:t>
              </a:r>
            </a:p>
          </p:txBody>
        </p:sp>
        <p:sp>
          <p:nvSpPr>
            <p:cNvPr id="101" name="Rectangle 101"/>
            <p:cNvSpPr/>
            <p:nvPr/>
          </p:nvSpPr>
          <p:spPr>
            <a:xfrm>
              <a:off x="9448800" y="3657600"/>
              <a:ext cx="2152650" cy="209550"/>
            </a:xfrm>
            <a:prstGeom prst="roundRect">
              <a:avLst>
                <a:gd name="adj" fmla="val 13636"/>
              </a:avLst>
            </a:prstGeom>
            <a:solidFill>
              <a:srgbClr val="EAF2FD"/>
            </a:solidFill>
            <a:ln>
              <a:noFill/>
            </a:ln>
          </p:spPr>
        </p:sp>
        <p:sp>
          <p:nvSpPr>
            <p:cNvPr id="102" name="TextBox 102"/>
            <p:cNvSpPr txBox="1"/>
            <p:nvPr/>
          </p:nvSpPr>
          <p:spPr>
            <a:xfrm>
              <a:off x="9633877" y="3723561"/>
              <a:ext cx="391846" cy="140494"/>
            </a:xfrm>
            <a:prstGeom prst="rect">
              <a:avLst/>
            </a:prstGeom>
            <a:noFill/>
            <a:ln>
              <a:noFill/>
            </a:ln>
          </p:spPr>
          <p:txBody>
            <a:bodyPr wrap="none" lIns="0" tIns="0" rIns="0" bIns="0" anchor="t" anchorCtr="0">
              <a:spAutoFit/>
            </a:bodyPr>
            <a:lstStyle/>
            <a:p>
              <a:pPr algn="ctr"/>
              <a:r>
                <a:rPr lang="zh-CN" sz="710" b="1" dirty="0">
                  <a:solidFill>
                    <a:srgbClr val="684F4A"/>
                  </a:solidFill>
                  <a:latin typeface="+mn-lt"/>
                  <a:ea typeface="+mn-ea"/>
                  <a:cs typeface="+mn-cs"/>
                </a:rPr>
                <a:t>会员等级</a:t>
              </a:r>
            </a:p>
          </p:txBody>
        </p:sp>
        <p:sp>
          <p:nvSpPr>
            <p:cNvPr id="103" name="TextBox 103"/>
            <p:cNvSpPr txBox="1"/>
            <p:nvPr/>
          </p:nvSpPr>
          <p:spPr>
            <a:xfrm>
              <a:off x="10710037" y="3723561"/>
              <a:ext cx="487426" cy="140494"/>
            </a:xfrm>
            <a:prstGeom prst="rect">
              <a:avLst/>
            </a:prstGeom>
            <a:noFill/>
            <a:ln>
              <a:noFill/>
            </a:ln>
          </p:spPr>
          <p:txBody>
            <a:bodyPr wrap="none" lIns="0" tIns="0" rIns="0" bIns="0" anchor="t" anchorCtr="0">
              <a:spAutoFit/>
            </a:bodyPr>
            <a:lstStyle/>
            <a:p>
              <a:pPr algn="ctr"/>
              <a:r>
                <a:rPr lang="zh-CN" sz="710" b="1" dirty="0">
                  <a:solidFill>
                    <a:srgbClr val="684F4A"/>
                  </a:solidFill>
                  <a:latin typeface="+mn-lt"/>
                  <a:ea typeface="+mn-ea"/>
                  <a:cs typeface="+mn-cs"/>
                </a:rPr>
                <a:t>财富值区间</a:t>
              </a:r>
            </a:p>
          </p:txBody>
        </p:sp>
        <p:grpSp>
          <p:nvGrpSpPr>
            <p:cNvPr id="112" name="Group 112"/>
            <p:cNvGrpSpPr/>
            <p:nvPr/>
          </p:nvGrpSpPr>
          <p:grpSpPr>
            <a:xfrm>
              <a:off x="9737026" y="3995738"/>
              <a:ext cx="1640491" cy="947738"/>
              <a:chOff x="9737026" y="3995738"/>
              <a:chExt cx="1640491" cy="947738"/>
            </a:xfrm>
          </p:grpSpPr>
          <p:sp>
            <p:nvSpPr>
              <p:cNvPr id="104" name="TextBox 104"/>
              <p:cNvSpPr txBox="1"/>
              <p:nvPr/>
            </p:nvSpPr>
            <p:spPr>
              <a:xfrm>
                <a:off x="9737026" y="3995738"/>
                <a:ext cx="185547" cy="147638"/>
              </a:xfrm>
              <a:prstGeom prst="rect">
                <a:avLst/>
              </a:prstGeom>
              <a:noFill/>
              <a:ln>
                <a:noFill/>
              </a:ln>
            </p:spPr>
            <p:txBody>
              <a:bodyPr wrap="none" lIns="0" tIns="0" rIns="0" bIns="0" anchor="t" anchorCtr="0">
                <a:spAutoFit/>
              </a:bodyPr>
              <a:lstStyle/>
              <a:p>
                <a:pPr algn="ctr"/>
                <a:r>
                  <a:rPr lang="en-US" sz="750" dirty="0">
                    <a:solidFill>
                      <a:srgbClr val="523833"/>
                    </a:solidFill>
                    <a:latin typeface="+mn-lt"/>
                    <a:ea typeface="+mn-ea"/>
                    <a:cs typeface="+mn-cs"/>
                  </a:rPr>
                  <a:t>V0​</a:t>
                </a:r>
              </a:p>
            </p:txBody>
          </p:sp>
          <p:sp>
            <p:nvSpPr>
              <p:cNvPr id="105" name="TextBox 105"/>
              <p:cNvSpPr txBox="1"/>
              <p:nvPr/>
            </p:nvSpPr>
            <p:spPr>
              <a:xfrm>
                <a:off x="10580465" y="3995738"/>
                <a:ext cx="746570" cy="147638"/>
              </a:xfrm>
              <a:prstGeom prst="rect">
                <a:avLst/>
              </a:prstGeom>
              <a:noFill/>
              <a:ln>
                <a:noFill/>
              </a:ln>
            </p:spPr>
            <p:txBody>
              <a:bodyPr wrap="none" lIns="0" tIns="0" rIns="0" bIns="0" anchor="t" anchorCtr="0">
                <a:spAutoFit/>
              </a:bodyPr>
              <a:lstStyle/>
              <a:p>
                <a:pPr algn="ctr"/>
                <a:r>
                  <a:rPr lang="zh-CN" sz="750" dirty="0">
                    <a:solidFill>
                      <a:srgbClr val="523833"/>
                    </a:solidFill>
                    <a:latin typeface="+mn-lt"/>
                    <a:ea typeface="+mn-ea"/>
                    <a:cs typeface="+mn-cs"/>
                  </a:rPr>
                  <a:t>0元(含)-1千元​</a:t>
                </a:r>
              </a:p>
            </p:txBody>
          </p:sp>
          <p:sp>
            <p:nvSpPr>
              <p:cNvPr id="106" name="TextBox 106"/>
              <p:cNvSpPr txBox="1"/>
              <p:nvPr/>
            </p:nvSpPr>
            <p:spPr>
              <a:xfrm>
                <a:off x="9737026" y="4262438"/>
                <a:ext cx="185547" cy="147638"/>
              </a:xfrm>
              <a:prstGeom prst="rect">
                <a:avLst/>
              </a:prstGeom>
              <a:noFill/>
              <a:ln>
                <a:noFill/>
              </a:ln>
            </p:spPr>
            <p:txBody>
              <a:bodyPr wrap="none" lIns="0" tIns="0" rIns="0" bIns="0" anchor="t" anchorCtr="0">
                <a:spAutoFit/>
              </a:bodyPr>
              <a:lstStyle/>
              <a:p>
                <a:pPr algn="ctr"/>
                <a:r>
                  <a:rPr lang="en-US" sz="750" dirty="0">
                    <a:solidFill>
                      <a:srgbClr val="523833"/>
                    </a:solidFill>
                    <a:latin typeface="+mn-lt"/>
                    <a:ea typeface="+mn-ea"/>
                    <a:cs typeface="+mn-cs"/>
                  </a:rPr>
                  <a:t>V1​</a:t>
                </a:r>
              </a:p>
            </p:txBody>
          </p:sp>
          <p:sp>
            <p:nvSpPr>
              <p:cNvPr id="107" name="TextBox 107"/>
              <p:cNvSpPr txBox="1"/>
              <p:nvPr/>
            </p:nvSpPr>
            <p:spPr>
              <a:xfrm>
                <a:off x="10529983" y="4262438"/>
                <a:ext cx="847534" cy="147638"/>
              </a:xfrm>
              <a:prstGeom prst="rect">
                <a:avLst/>
              </a:prstGeom>
              <a:noFill/>
              <a:ln>
                <a:noFill/>
              </a:ln>
            </p:spPr>
            <p:txBody>
              <a:bodyPr wrap="none" lIns="0" tIns="0" rIns="0" bIns="0" anchor="t" anchorCtr="0">
                <a:spAutoFit/>
              </a:bodyPr>
              <a:lstStyle/>
              <a:p>
                <a:pPr algn="ctr"/>
                <a:r>
                  <a:rPr lang="zh-CN" sz="750" dirty="0">
                    <a:solidFill>
                      <a:srgbClr val="523833"/>
                    </a:solidFill>
                    <a:latin typeface="+mn-lt"/>
                    <a:ea typeface="+mn-ea"/>
                    <a:cs typeface="+mn-cs"/>
                  </a:rPr>
                  <a:t>1千元(含)-1万元​</a:t>
                </a:r>
              </a:p>
            </p:txBody>
          </p:sp>
          <p:sp>
            <p:nvSpPr>
              <p:cNvPr id="108" name="TextBox 108"/>
              <p:cNvSpPr txBox="1"/>
              <p:nvPr/>
            </p:nvSpPr>
            <p:spPr>
              <a:xfrm>
                <a:off x="9737026" y="4529138"/>
                <a:ext cx="185547" cy="147638"/>
              </a:xfrm>
              <a:prstGeom prst="rect">
                <a:avLst/>
              </a:prstGeom>
              <a:noFill/>
              <a:ln>
                <a:noFill/>
              </a:ln>
            </p:spPr>
            <p:txBody>
              <a:bodyPr wrap="none" lIns="0" tIns="0" rIns="0" bIns="0" anchor="t" anchorCtr="0">
                <a:spAutoFit/>
              </a:bodyPr>
              <a:lstStyle/>
              <a:p>
                <a:pPr algn="ctr"/>
                <a:r>
                  <a:rPr lang="en-US" sz="750" dirty="0">
                    <a:solidFill>
                      <a:srgbClr val="523833"/>
                    </a:solidFill>
                    <a:latin typeface="+mn-lt"/>
                    <a:ea typeface="+mn-ea"/>
                    <a:cs typeface="+mn-cs"/>
                  </a:rPr>
                  <a:t>V2​</a:t>
                </a:r>
              </a:p>
            </p:txBody>
          </p:sp>
          <p:sp>
            <p:nvSpPr>
              <p:cNvPr id="109" name="TextBox 109"/>
              <p:cNvSpPr txBox="1"/>
              <p:nvPr/>
            </p:nvSpPr>
            <p:spPr>
              <a:xfrm>
                <a:off x="10529983" y="4529138"/>
                <a:ext cx="847534" cy="147638"/>
              </a:xfrm>
              <a:prstGeom prst="rect">
                <a:avLst/>
              </a:prstGeom>
              <a:noFill/>
              <a:ln>
                <a:noFill/>
              </a:ln>
            </p:spPr>
            <p:txBody>
              <a:bodyPr wrap="none" lIns="0" tIns="0" rIns="0" bIns="0" anchor="t" anchorCtr="0">
                <a:spAutoFit/>
              </a:bodyPr>
              <a:lstStyle/>
              <a:p>
                <a:pPr algn="ctr"/>
                <a:r>
                  <a:rPr lang="zh-CN" sz="750" dirty="0">
                    <a:solidFill>
                      <a:srgbClr val="523833"/>
                    </a:solidFill>
                    <a:latin typeface="+mn-lt"/>
                    <a:ea typeface="+mn-ea"/>
                    <a:cs typeface="+mn-cs"/>
                  </a:rPr>
                  <a:t>1万元(含)-3万元​</a:t>
                </a:r>
              </a:p>
            </p:txBody>
          </p:sp>
          <p:sp>
            <p:nvSpPr>
              <p:cNvPr id="110" name="TextBox 110"/>
              <p:cNvSpPr txBox="1"/>
              <p:nvPr/>
            </p:nvSpPr>
            <p:spPr>
              <a:xfrm>
                <a:off x="9737026" y="4795838"/>
                <a:ext cx="185547" cy="147638"/>
              </a:xfrm>
              <a:prstGeom prst="rect">
                <a:avLst/>
              </a:prstGeom>
              <a:noFill/>
              <a:ln>
                <a:noFill/>
              </a:ln>
            </p:spPr>
            <p:txBody>
              <a:bodyPr wrap="none" lIns="0" tIns="0" rIns="0" bIns="0" anchor="t" anchorCtr="0">
                <a:spAutoFit/>
              </a:bodyPr>
              <a:lstStyle/>
              <a:p>
                <a:pPr algn="ctr"/>
                <a:r>
                  <a:rPr lang="en-US" sz="750" dirty="0">
                    <a:solidFill>
                      <a:srgbClr val="523833"/>
                    </a:solidFill>
                    <a:latin typeface="+mn-lt"/>
                    <a:ea typeface="+mn-ea"/>
                    <a:cs typeface="+mn-cs"/>
                  </a:rPr>
                  <a:t>V3​</a:t>
                </a:r>
              </a:p>
            </p:txBody>
          </p:sp>
          <p:sp>
            <p:nvSpPr>
              <p:cNvPr id="111" name="TextBox 111"/>
              <p:cNvSpPr txBox="1"/>
              <p:nvPr/>
            </p:nvSpPr>
            <p:spPr>
              <a:xfrm>
                <a:off x="10529983" y="4795838"/>
                <a:ext cx="847534" cy="147638"/>
              </a:xfrm>
              <a:prstGeom prst="rect">
                <a:avLst/>
              </a:prstGeom>
              <a:noFill/>
              <a:ln>
                <a:noFill/>
              </a:ln>
            </p:spPr>
            <p:txBody>
              <a:bodyPr wrap="none" lIns="0" tIns="0" rIns="0" bIns="0" anchor="t" anchorCtr="0">
                <a:spAutoFit/>
              </a:bodyPr>
              <a:lstStyle/>
              <a:p>
                <a:pPr algn="ctr"/>
                <a:r>
                  <a:rPr lang="zh-CN" sz="750" dirty="0">
                    <a:solidFill>
                      <a:srgbClr val="523833"/>
                    </a:solidFill>
                    <a:latin typeface="+mn-lt"/>
                    <a:ea typeface="+mn-ea"/>
                    <a:cs typeface="+mn-cs"/>
                  </a:rPr>
                  <a:t>3万元(含)-5万元​</a:t>
                </a:r>
              </a:p>
            </p:txBody>
          </p:sp>
        </p:grpSp>
        <p:grpSp>
          <p:nvGrpSpPr>
            <p:cNvPr id="116" name="Group 116"/>
            <p:cNvGrpSpPr/>
            <p:nvPr/>
          </p:nvGrpSpPr>
          <p:grpSpPr>
            <a:xfrm>
              <a:off x="9448800" y="4191000"/>
              <a:ext cx="2152650" cy="542925"/>
              <a:chOff x="9448800" y="4191000"/>
              <a:chExt cx="2152650" cy="542925"/>
            </a:xfrm>
          </p:grpSpPr>
          <p:sp>
            <p:nvSpPr>
              <p:cNvPr id="113" name="Line 113"/>
              <p:cNvSpPr/>
              <p:nvPr/>
            </p:nvSpPr>
            <p:spPr>
              <a:xfrm>
                <a:off x="9448800" y="4191000"/>
                <a:ext cx="2152650" cy="9525"/>
              </a:xfrm>
              <a:custGeom>
                <a:avLst/>
                <a:gdLst/>
                <a:ahLst/>
                <a:cxnLst/>
                <a:rect l="l" t="t" r="r" b="b"/>
                <a:pathLst>
                  <a:path w="2152650" h="9525">
                    <a:moveTo>
                      <a:pt x="0" y="0"/>
                    </a:moveTo>
                    <a:lnTo>
                      <a:pt x="2152650" y="0"/>
                    </a:lnTo>
                  </a:path>
                </a:pathLst>
              </a:custGeom>
              <a:noFill/>
              <a:ln w="9525">
                <a:solidFill>
                  <a:srgbClr val="EAF2FD"/>
                </a:solidFill>
              </a:ln>
            </p:spPr>
          </p:sp>
          <p:sp>
            <p:nvSpPr>
              <p:cNvPr id="114" name="Line 114"/>
              <p:cNvSpPr/>
              <p:nvPr/>
            </p:nvSpPr>
            <p:spPr>
              <a:xfrm>
                <a:off x="9448800" y="4457700"/>
                <a:ext cx="2152650" cy="9525"/>
              </a:xfrm>
              <a:custGeom>
                <a:avLst/>
                <a:gdLst/>
                <a:ahLst/>
                <a:cxnLst/>
                <a:rect l="l" t="t" r="r" b="b"/>
                <a:pathLst>
                  <a:path w="2152650" h="9525">
                    <a:moveTo>
                      <a:pt x="0" y="0"/>
                    </a:moveTo>
                    <a:lnTo>
                      <a:pt x="2152650" y="0"/>
                    </a:lnTo>
                  </a:path>
                </a:pathLst>
              </a:custGeom>
              <a:noFill/>
              <a:ln w="9525">
                <a:solidFill>
                  <a:srgbClr val="EAF2FD"/>
                </a:solidFill>
              </a:ln>
            </p:spPr>
          </p:sp>
          <p:sp>
            <p:nvSpPr>
              <p:cNvPr id="115" name="Line 115"/>
              <p:cNvSpPr/>
              <p:nvPr/>
            </p:nvSpPr>
            <p:spPr>
              <a:xfrm>
                <a:off x="9448800" y="4724400"/>
                <a:ext cx="2152650" cy="9525"/>
              </a:xfrm>
              <a:custGeom>
                <a:avLst/>
                <a:gdLst/>
                <a:ahLst/>
                <a:cxnLst/>
                <a:rect l="l" t="t" r="r" b="b"/>
                <a:pathLst>
                  <a:path w="2152650" h="9525">
                    <a:moveTo>
                      <a:pt x="0" y="0"/>
                    </a:moveTo>
                    <a:lnTo>
                      <a:pt x="2152650" y="0"/>
                    </a:lnTo>
                  </a:path>
                </a:pathLst>
              </a:custGeom>
              <a:noFill/>
              <a:ln w="9525">
                <a:solidFill>
                  <a:srgbClr val="EAF2FD"/>
                </a:solidFill>
              </a:ln>
            </p:spPr>
          </p:sp>
        </p:grpSp>
        <p:sp>
          <p:nvSpPr>
            <p:cNvPr id="117" name="Rectangle 117"/>
            <p:cNvSpPr/>
            <p:nvPr/>
          </p:nvSpPr>
          <p:spPr>
            <a:xfrm>
              <a:off x="9410700" y="3905250"/>
              <a:ext cx="2228850" cy="1066800"/>
            </a:xfrm>
            <a:prstGeom prst="roundRect">
              <a:avLst>
                <a:gd name="adj" fmla="val 1786"/>
              </a:avLst>
            </a:prstGeom>
            <a:noFill/>
            <a:ln w="19050">
              <a:solidFill>
                <a:srgbClr val="E0462C"/>
              </a:solidFill>
            </a:ln>
          </p:spPr>
        </p:sp>
        <p:sp>
          <p:nvSpPr>
            <p:cNvPr id="118" name="TextBox 118"/>
            <p:cNvSpPr txBox="1"/>
            <p:nvPr/>
          </p:nvSpPr>
          <p:spPr>
            <a:xfrm>
              <a:off x="10014815" y="5228749"/>
              <a:ext cx="1020621" cy="190690"/>
            </a:xfrm>
            <a:prstGeom prst="rect">
              <a:avLst/>
            </a:prstGeom>
            <a:noFill/>
            <a:ln>
              <a:noFill/>
            </a:ln>
          </p:spPr>
          <p:txBody>
            <a:bodyPr wrap="none" lIns="0" tIns="0" rIns="0" bIns="0" anchor="t" anchorCtr="0">
              <a:spAutoFit/>
            </a:bodyPr>
            <a:lstStyle/>
            <a:p>
              <a:pPr algn="ctr"/>
              <a:r>
                <a:rPr lang="zh-CN" sz="980" b="1" dirty="0">
                  <a:solidFill>
                    <a:srgbClr val="1F1F1F"/>
                  </a:solidFill>
                  <a:latin typeface="+mn-lt"/>
                  <a:ea typeface="+mn-ea"/>
                  <a:cs typeface="+mn-cs"/>
                </a:rPr>
                <a:t>浦发银行V0-V3​</a:t>
              </a:r>
            </a:p>
          </p:txBody>
        </p:sp>
        <p:sp>
          <p:nvSpPr>
            <p:cNvPr id="119" name="TextBox 119"/>
            <p:cNvSpPr txBox="1"/>
            <p:nvPr/>
          </p:nvSpPr>
          <p:spPr>
            <a:xfrm>
              <a:off x="7834344" y="6426041"/>
              <a:ext cx="2714562" cy="161925"/>
            </a:xfrm>
            <a:prstGeom prst="rect">
              <a:avLst/>
            </a:prstGeom>
            <a:noFill/>
            <a:ln>
              <a:noFill/>
            </a:ln>
          </p:spPr>
          <p:txBody>
            <a:bodyPr wrap="none" lIns="0" tIns="0" rIns="0" bIns="0" anchor="t" anchorCtr="0">
              <a:spAutoFit/>
            </a:bodyPr>
            <a:lstStyle/>
            <a:p>
              <a:pPr algn="ctr"/>
              <a:r>
                <a:rPr lang="zh-CN" sz="820" dirty="0">
                  <a:solidFill>
                    <a:srgbClr val="846F6B"/>
                  </a:solidFill>
                  <a:latin typeface="+mn-lt"/>
                  <a:ea typeface="+mn-ea"/>
                  <a:cs typeface="+mn-cs"/>
                </a:rPr>
                <a:t>以中信银行、浦发银行长尾客户会员等级AUM分层为例​</a:t>
              </a:r>
            </a:p>
          </p:txBody>
        </p:sp>
      </p:grpSp>
      <p:sp>
        <p:nvSpPr>
          <p:cNvPr id="121" name="TextBox 121"/>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09</a:t>
              </a:r>
            </a:p>
          </p:txBody>
        </p:sp>
        <p:sp>
          <p:nvSpPr>
            <p:cNvPr id="4" name="TextBox 4"/>
            <p:cNvSpPr txBox="1"/>
            <p:nvPr/>
          </p:nvSpPr>
          <p:spPr>
            <a:xfrm>
              <a:off x="942594" y="151448"/>
              <a:ext cx="9272115"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2.1.2 客户分群｜依托客户特征及行为事件</a:t>
              </a:r>
              <a:r>
                <a:rPr lang="zh-CN" sz="1950" b="1" dirty="0">
                  <a:solidFill>
                    <a:srgbClr val="E74726"/>
                  </a:solidFill>
                  <a:latin typeface="SimSun"/>
                  <a:ea typeface="SimSun"/>
                  <a:cs typeface="SimSun"/>
                </a:rPr>
                <a:t>筛选高潜力长尾客群</a:t>
              </a:r>
              <a:r>
                <a:rPr lang="zh-CN" sz="1950" b="1" dirty="0">
                  <a:solidFill>
                    <a:srgbClr val="1F1F1F"/>
                  </a:solidFill>
                  <a:latin typeface="SimSun"/>
                  <a:ea typeface="SimSun"/>
                  <a:cs typeface="SimSun"/>
                </a:rPr>
                <a:t>重点攻坚​​</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377623" cy="551260"/>
            <a:chOff x="566166" y="667702"/>
            <a:chExt cx="6377623" cy="551260"/>
          </a:xfrm>
        </p:grpSpPr>
        <p:sp>
          <p:nvSpPr>
            <p:cNvPr id="8" name="TextBox 8"/>
            <p:cNvSpPr txBox="1"/>
            <p:nvPr/>
          </p:nvSpPr>
          <p:spPr>
            <a:xfrm>
              <a:off x="566166" y="667702"/>
              <a:ext cx="4533900"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特征分群挖掘潜力客群，事件分群捕捉场景需求，双线落地长尾精准运营</a:t>
              </a:r>
            </a:p>
          </p:txBody>
        </p:sp>
        <p:sp>
          <p:nvSpPr>
            <p:cNvPr id="9" name="TextBox 9"/>
            <p:cNvSpPr txBox="1"/>
            <p:nvPr/>
          </p:nvSpPr>
          <p:spPr>
            <a:xfrm>
              <a:off x="566738" y="887968"/>
              <a:ext cx="6377051"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一是按客户特征分群，通过资产、交易频次、产品持有等多维标签，识别出具备提升潜力的目标客群进行精准突破。二是按行</a:t>
              </a:r>
            </a:p>
          </p:txBody>
        </p:sp>
        <p:sp>
          <p:nvSpPr>
            <p:cNvPr id="10" name="TextBox 10"/>
            <p:cNvSpPr txBox="1"/>
            <p:nvPr/>
          </p:nvSpPr>
          <p:spPr>
            <a:xfrm>
              <a:off x="566738" y="1049893"/>
              <a:ext cx="6261278"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为事件分群，捕捉客户需求信号，如大额入账、产品到期等关键事件节点，在决策窗口期内精准触达，以高时效性驱动转化</a:t>
              </a:r>
            </a:p>
          </p:txBody>
        </p:sp>
      </p:grpSp>
      <p:grpSp>
        <p:nvGrpSpPr>
          <p:cNvPr id="16" name="left-title"/>
          <p:cNvGrpSpPr/>
          <p:nvPr/>
        </p:nvGrpSpPr>
        <p:grpSpPr>
          <a:xfrm>
            <a:off x="438150" y="1295400"/>
            <a:ext cx="5429250" cy="381000"/>
            <a:chOff x="438150" y="1295400"/>
            <a:chExt cx="5429250" cy="381000"/>
          </a:xfrm>
        </p:grpSpPr>
        <p:sp>
          <p:nvSpPr>
            <p:cNvPr id="12" name="Rectangle 12"/>
            <p:cNvSpPr/>
            <p:nvPr/>
          </p:nvSpPr>
          <p:spPr>
            <a:xfrm>
              <a:off x="438150" y="1295400"/>
              <a:ext cx="5429250" cy="381000"/>
            </a:xfrm>
            <a:prstGeom prst="roundRect">
              <a:avLst>
                <a:gd name="adj" fmla="val 50000"/>
              </a:avLst>
            </a:prstGeom>
            <a:solidFill>
              <a:srgbClr val="E74726"/>
            </a:solidFill>
            <a:ln>
              <a:noFill/>
            </a:ln>
          </p:spPr>
        </p:sp>
        <p:sp>
          <p:nvSpPr>
            <p:cNvPr id="13" name="Ellipse 13"/>
            <p:cNvSpPr/>
            <p:nvPr/>
          </p:nvSpPr>
          <p:spPr>
            <a:xfrm>
              <a:off x="552450" y="1314450"/>
              <a:ext cx="342900" cy="342900"/>
            </a:xfrm>
            <a:prstGeom prst="ellipse">
              <a:avLst/>
            </a:prstGeom>
            <a:solidFill>
              <a:srgbClr val="FFFFFF"/>
            </a:solidFill>
            <a:ln>
              <a:noFill/>
            </a:ln>
          </p:spPr>
        </p:sp>
        <p:sp>
          <p:nvSpPr>
            <p:cNvPr id="14" name="TextBox 14"/>
            <p:cNvSpPr txBox="1"/>
            <p:nvPr/>
          </p:nvSpPr>
          <p:spPr>
            <a:xfrm>
              <a:off x="645569" y="1437799"/>
              <a:ext cx="156662" cy="190690"/>
            </a:xfrm>
            <a:prstGeom prst="rect">
              <a:avLst/>
            </a:prstGeom>
            <a:noFill/>
            <a:ln>
              <a:noFill/>
            </a:ln>
          </p:spPr>
          <p:txBody>
            <a:bodyPr wrap="none" lIns="0" tIns="0" rIns="0" bIns="0" anchor="t" anchorCtr="0">
              <a:spAutoFit/>
            </a:bodyPr>
            <a:lstStyle/>
            <a:p>
              <a:pPr algn="ctr"/>
              <a:r>
                <a:rPr lang="zh-CN" sz="980" b="1" dirty="0">
                  <a:solidFill>
                    <a:srgbClr val="E74726"/>
                  </a:solidFill>
                  <a:latin typeface="+mj-lt"/>
                  <a:ea typeface="+mj-ea"/>
                  <a:cs typeface="+mj-cs"/>
                </a:rPr>
                <a:t>01</a:t>
              </a:r>
            </a:p>
          </p:txBody>
        </p:sp>
        <p:sp>
          <p:nvSpPr>
            <p:cNvPr id="15" name="TextBox 15"/>
            <p:cNvSpPr txBox="1"/>
            <p:nvPr/>
          </p:nvSpPr>
          <p:spPr>
            <a:xfrm>
              <a:off x="2468575" y="1421606"/>
              <a:ext cx="136840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特征分群：精准提升</a:t>
              </a:r>
            </a:p>
          </p:txBody>
        </p:sp>
      </p:grpSp>
      <p:grpSp>
        <p:nvGrpSpPr>
          <p:cNvPr id="29" name="left-card-1"/>
          <p:cNvGrpSpPr/>
          <p:nvPr/>
        </p:nvGrpSpPr>
        <p:grpSpPr>
          <a:xfrm>
            <a:off x="438150" y="1828800"/>
            <a:ext cx="5429250" cy="1581150"/>
            <a:chOff x="438150" y="1828800"/>
            <a:chExt cx="5429250" cy="1581150"/>
          </a:xfrm>
        </p:grpSpPr>
        <p:sp>
          <p:nvSpPr>
            <p:cNvPr id="17" name="Rectangle 17"/>
            <p:cNvSpPr/>
            <p:nvPr/>
          </p:nvSpPr>
          <p:spPr>
            <a:xfrm>
              <a:off x="438150" y="1828800"/>
              <a:ext cx="5429250" cy="1581150"/>
            </a:xfrm>
            <a:prstGeom prst="roundRect">
              <a:avLst>
                <a:gd name="adj" fmla="val 3614"/>
              </a:avLst>
            </a:prstGeom>
            <a:solidFill>
              <a:srgbClr val="FFFFFF"/>
            </a:solidFill>
            <a:ln w="11430">
              <a:solidFill>
                <a:srgbClr val="DCE8FB"/>
              </a:solidFill>
            </a:ln>
          </p:spPr>
        </p:sp>
        <p:sp>
          <p:nvSpPr>
            <p:cNvPr id="18" name="TextBox 18"/>
            <p:cNvSpPr txBox="1"/>
            <p:nvPr/>
          </p:nvSpPr>
          <p:spPr>
            <a:xfrm>
              <a:off x="585788" y="2006441"/>
              <a:ext cx="3762731"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以工商银行为例，该行基于客群特征与零售经营战略，重点锁定</a:t>
              </a:r>
              <a:r>
                <a:rPr lang="zh-CN" sz="820" b="1" dirty="0">
                  <a:solidFill>
                    <a:srgbClr val="1F1F1F"/>
                  </a:solidFill>
                  <a:latin typeface="+mn-lt"/>
                  <a:ea typeface="+mn-ea"/>
                  <a:cs typeface="+mn-cs"/>
                </a:rPr>
                <a:t>长尾新开卡、</a:t>
              </a:r>
            </a:p>
          </p:txBody>
        </p:sp>
        <p:sp>
          <p:nvSpPr>
            <p:cNvPr id="19" name="TextBox 19"/>
            <p:cNvSpPr txBox="1"/>
            <p:nvPr/>
          </p:nvSpPr>
          <p:spPr>
            <a:xfrm>
              <a:off x="585788" y="2196941"/>
              <a:ext cx="3652342" cy="161925"/>
            </a:xfrm>
            <a:prstGeom prst="rect">
              <a:avLst/>
            </a:prstGeom>
            <a:noFill/>
            <a:ln>
              <a:noFill/>
            </a:ln>
          </p:spPr>
          <p:txBody>
            <a:bodyPr wrap="none" lIns="0" tIns="0" rIns="0" bIns="0" anchor="t" anchorCtr="0">
              <a:spAutoFit/>
            </a:bodyPr>
            <a:lstStyle/>
            <a:p>
              <a:pPr algn="l"/>
              <a:r>
                <a:rPr lang="zh-CN" sz="820" b="1" dirty="0">
                  <a:solidFill>
                    <a:srgbClr val="1F1F1F"/>
                  </a:solidFill>
                  <a:latin typeface="+mn-lt"/>
                  <a:ea typeface="+mn-ea"/>
                  <a:cs typeface="+mn-cs"/>
                </a:rPr>
                <a:t>长尾代发、长尾信用卡、长尾长辈及易降级等核心客群</a:t>
              </a:r>
              <a:r>
                <a:rPr lang="zh-CN" sz="820" dirty="0">
                  <a:solidFill>
                    <a:srgbClr val="523833"/>
                  </a:solidFill>
                  <a:latin typeface="+mn-lt"/>
                  <a:ea typeface="+mn-ea"/>
                  <a:cs typeface="+mn-cs"/>
                </a:rPr>
                <a:t>，以更低营销成本、</a:t>
              </a:r>
            </a:p>
          </p:txBody>
        </p:sp>
        <p:sp>
          <p:nvSpPr>
            <p:cNvPr id="20" name="TextBox 20"/>
            <p:cNvSpPr txBox="1"/>
            <p:nvPr/>
          </p:nvSpPr>
          <p:spPr>
            <a:xfrm>
              <a:off x="585788" y="2387441"/>
              <a:ext cx="1886128"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更高转化效率实现客户价值深度挖掘。</a:t>
              </a:r>
            </a:p>
          </p:txBody>
        </p:sp>
        <p:sp>
          <p:nvSpPr>
            <p:cNvPr id="21" name="Rectangle 21"/>
            <p:cNvSpPr/>
            <p:nvPr/>
          </p:nvSpPr>
          <p:spPr>
            <a:xfrm>
              <a:off x="590550" y="2705100"/>
              <a:ext cx="1200150" cy="323850"/>
            </a:xfrm>
            <a:prstGeom prst="roundRect">
              <a:avLst>
                <a:gd name="adj" fmla="val 11765"/>
              </a:avLst>
            </a:prstGeom>
            <a:solidFill>
              <a:srgbClr val="FFFFFF"/>
            </a:solidFill>
            <a:ln w="9525">
              <a:solidFill>
                <a:srgbClr val="E74726"/>
              </a:solidFill>
            </a:ln>
          </p:spPr>
        </p:sp>
        <p:sp>
          <p:nvSpPr>
            <p:cNvPr id="22" name="TextBox 22"/>
            <p:cNvSpPr txBox="1"/>
            <p:nvPr/>
          </p:nvSpPr>
          <p:spPr>
            <a:xfrm>
              <a:off x="864592" y="2821543"/>
              <a:ext cx="652066" cy="169069"/>
            </a:xfrm>
            <a:prstGeom prst="rect">
              <a:avLst/>
            </a:prstGeom>
            <a:noFill/>
            <a:ln>
              <a:noFill/>
            </a:ln>
          </p:spPr>
          <p:txBody>
            <a:bodyPr wrap="none" lIns="0" tIns="0" rIns="0" bIns="0" anchor="t" anchorCtr="0">
              <a:spAutoFit/>
            </a:bodyPr>
            <a:lstStyle/>
            <a:p>
              <a:pPr algn="ctr"/>
              <a:r>
                <a:rPr lang="zh-CN" sz="860" dirty="0">
                  <a:solidFill>
                    <a:srgbClr val="E74726"/>
                  </a:solidFill>
                  <a:latin typeface="+mn-lt"/>
                  <a:ea typeface="+mn-ea"/>
                  <a:cs typeface="+mn-cs"/>
                </a:rPr>
                <a:t>长尾新开卡​</a:t>
              </a:r>
            </a:p>
          </p:txBody>
        </p:sp>
        <p:sp>
          <p:nvSpPr>
            <p:cNvPr id="23" name="Rectangle 23"/>
            <p:cNvSpPr/>
            <p:nvPr/>
          </p:nvSpPr>
          <p:spPr>
            <a:xfrm>
              <a:off x="1905000" y="2705100"/>
              <a:ext cx="1200150" cy="323850"/>
            </a:xfrm>
            <a:prstGeom prst="roundRect">
              <a:avLst>
                <a:gd name="adj" fmla="val 11765"/>
              </a:avLst>
            </a:prstGeom>
            <a:solidFill>
              <a:srgbClr val="FFFFFF"/>
            </a:solidFill>
            <a:ln w="9525">
              <a:solidFill>
                <a:srgbClr val="E74726"/>
              </a:solidFill>
            </a:ln>
          </p:spPr>
        </p:sp>
        <p:sp>
          <p:nvSpPr>
            <p:cNvPr id="24" name="TextBox 24"/>
            <p:cNvSpPr txBox="1"/>
            <p:nvPr/>
          </p:nvSpPr>
          <p:spPr>
            <a:xfrm>
              <a:off x="2179042" y="2821543"/>
              <a:ext cx="652066" cy="169069"/>
            </a:xfrm>
            <a:prstGeom prst="rect">
              <a:avLst/>
            </a:prstGeom>
            <a:noFill/>
            <a:ln>
              <a:noFill/>
            </a:ln>
          </p:spPr>
          <p:txBody>
            <a:bodyPr wrap="none" lIns="0" tIns="0" rIns="0" bIns="0" anchor="t" anchorCtr="0">
              <a:spAutoFit/>
            </a:bodyPr>
            <a:lstStyle/>
            <a:p>
              <a:pPr algn="ctr"/>
              <a:r>
                <a:rPr lang="zh-CN" sz="860" dirty="0">
                  <a:solidFill>
                    <a:srgbClr val="E74726"/>
                  </a:solidFill>
                  <a:latin typeface="+mn-lt"/>
                  <a:ea typeface="+mn-ea"/>
                  <a:cs typeface="+mn-cs"/>
                </a:rPr>
                <a:t>长尾信用卡​</a:t>
              </a:r>
            </a:p>
          </p:txBody>
        </p:sp>
        <p:sp>
          <p:nvSpPr>
            <p:cNvPr id="25" name="Rectangle 25"/>
            <p:cNvSpPr/>
            <p:nvPr/>
          </p:nvSpPr>
          <p:spPr>
            <a:xfrm>
              <a:off x="3219450" y="2705100"/>
              <a:ext cx="1200150" cy="323850"/>
            </a:xfrm>
            <a:prstGeom prst="roundRect">
              <a:avLst>
                <a:gd name="adj" fmla="val 11765"/>
              </a:avLst>
            </a:prstGeom>
            <a:solidFill>
              <a:srgbClr val="FFFFFF"/>
            </a:solidFill>
            <a:ln w="9525">
              <a:solidFill>
                <a:srgbClr val="E74726"/>
              </a:solidFill>
            </a:ln>
          </p:spPr>
        </p:sp>
        <p:sp>
          <p:nvSpPr>
            <p:cNvPr id="26" name="TextBox 26"/>
            <p:cNvSpPr txBox="1"/>
            <p:nvPr/>
          </p:nvSpPr>
          <p:spPr>
            <a:xfrm>
              <a:off x="3551378" y="2821543"/>
              <a:ext cx="536293" cy="169069"/>
            </a:xfrm>
            <a:prstGeom prst="rect">
              <a:avLst/>
            </a:prstGeom>
            <a:noFill/>
            <a:ln>
              <a:noFill/>
            </a:ln>
          </p:spPr>
          <p:txBody>
            <a:bodyPr wrap="none" lIns="0" tIns="0" rIns="0" bIns="0" anchor="t" anchorCtr="0">
              <a:spAutoFit/>
            </a:bodyPr>
            <a:lstStyle/>
            <a:p>
              <a:pPr algn="ctr"/>
              <a:r>
                <a:rPr lang="zh-CN" sz="860" dirty="0">
                  <a:solidFill>
                    <a:srgbClr val="E74726"/>
                  </a:solidFill>
                  <a:latin typeface="+mn-lt"/>
                  <a:ea typeface="+mn-ea"/>
                  <a:cs typeface="+mn-cs"/>
                </a:rPr>
                <a:t>长尾代发​</a:t>
              </a:r>
            </a:p>
          </p:txBody>
        </p:sp>
        <p:sp>
          <p:nvSpPr>
            <p:cNvPr id="27" name="Rectangle 27"/>
            <p:cNvSpPr/>
            <p:nvPr/>
          </p:nvSpPr>
          <p:spPr>
            <a:xfrm>
              <a:off x="4533900" y="2705100"/>
              <a:ext cx="1200150" cy="323850"/>
            </a:xfrm>
            <a:prstGeom prst="roundRect">
              <a:avLst>
                <a:gd name="adj" fmla="val 11765"/>
              </a:avLst>
            </a:prstGeom>
            <a:solidFill>
              <a:srgbClr val="FFFFFF"/>
            </a:solidFill>
            <a:ln w="9525">
              <a:solidFill>
                <a:srgbClr val="E74726"/>
              </a:solidFill>
            </a:ln>
          </p:spPr>
        </p:sp>
        <p:sp>
          <p:nvSpPr>
            <p:cNvPr id="28" name="TextBox 28"/>
            <p:cNvSpPr txBox="1"/>
            <p:nvPr/>
          </p:nvSpPr>
          <p:spPr>
            <a:xfrm>
              <a:off x="4865828" y="2821543"/>
              <a:ext cx="536293" cy="169069"/>
            </a:xfrm>
            <a:prstGeom prst="rect">
              <a:avLst/>
            </a:prstGeom>
            <a:noFill/>
            <a:ln>
              <a:noFill/>
            </a:ln>
          </p:spPr>
          <p:txBody>
            <a:bodyPr wrap="none" lIns="0" tIns="0" rIns="0" bIns="0" anchor="t" anchorCtr="0">
              <a:spAutoFit/>
            </a:bodyPr>
            <a:lstStyle/>
            <a:p>
              <a:pPr algn="ctr"/>
              <a:r>
                <a:rPr lang="zh-CN" sz="860" dirty="0">
                  <a:solidFill>
                    <a:srgbClr val="E74726"/>
                  </a:solidFill>
                  <a:latin typeface="+mn-lt"/>
                  <a:ea typeface="+mn-ea"/>
                  <a:cs typeface="+mn-cs"/>
                </a:rPr>
                <a:t>长尾长辈​</a:t>
              </a:r>
            </a:p>
          </p:txBody>
        </p:sp>
      </p:grpSp>
      <p:grpSp>
        <p:nvGrpSpPr>
          <p:cNvPr id="64" name="left-card-2"/>
          <p:cNvGrpSpPr/>
          <p:nvPr/>
        </p:nvGrpSpPr>
        <p:grpSpPr>
          <a:xfrm>
            <a:off x="438150" y="3562350"/>
            <a:ext cx="5429250" cy="2971800"/>
            <a:chOff x="438150" y="3562350"/>
            <a:chExt cx="5429250" cy="2971800"/>
          </a:xfrm>
        </p:grpSpPr>
        <p:sp>
          <p:nvSpPr>
            <p:cNvPr id="30" name="Rectangle 30"/>
            <p:cNvSpPr/>
            <p:nvPr/>
          </p:nvSpPr>
          <p:spPr>
            <a:xfrm>
              <a:off x="438150" y="3562350"/>
              <a:ext cx="5429250" cy="2971800"/>
            </a:xfrm>
            <a:prstGeom prst="roundRect">
              <a:avLst>
                <a:gd name="adj" fmla="val 1923"/>
              </a:avLst>
            </a:prstGeom>
            <a:solidFill>
              <a:srgbClr val="FFFFFF"/>
            </a:solidFill>
            <a:ln w="11430">
              <a:solidFill>
                <a:srgbClr val="DCE8FB"/>
              </a:solidFill>
            </a:ln>
          </p:spPr>
        </p:sp>
        <p:sp>
          <p:nvSpPr>
            <p:cNvPr id="31" name="TextBox 31"/>
            <p:cNvSpPr txBox="1"/>
            <p:nvPr/>
          </p:nvSpPr>
          <p:spPr>
            <a:xfrm>
              <a:off x="585788" y="3739991"/>
              <a:ext cx="3706807"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同时，工商银行基于全域大数据与XGBoost模型，自主研发了客户资产提升​</a:t>
              </a:r>
            </a:p>
          </p:txBody>
        </p:sp>
        <p:sp>
          <p:nvSpPr>
            <p:cNvPr id="32" name="TextBox 32"/>
            <p:cNvSpPr txBox="1"/>
            <p:nvPr/>
          </p:nvSpPr>
          <p:spPr>
            <a:xfrm>
              <a:off x="585788" y="3930491"/>
              <a:ext cx="561467"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预测模型：</a:t>
              </a:r>
            </a:p>
          </p:txBody>
        </p:sp>
        <p:sp>
          <p:nvSpPr>
            <p:cNvPr id="33" name="Ellipse 33"/>
            <p:cNvSpPr/>
            <p:nvPr/>
          </p:nvSpPr>
          <p:spPr>
            <a:xfrm>
              <a:off x="1066800" y="4305300"/>
              <a:ext cx="647700" cy="647700"/>
            </a:xfrm>
            <a:prstGeom prst="ellipse">
              <a:avLst/>
            </a:prstGeom>
            <a:solidFill>
              <a:srgbClr val="F0745B"/>
            </a:solidFill>
            <a:ln>
              <a:noFill/>
            </a:ln>
          </p:spPr>
        </p:sp>
        <p:grpSp>
          <p:nvGrpSpPr>
            <p:cNvPr id="37" name="Group 37"/>
            <p:cNvGrpSpPr/>
            <p:nvPr/>
          </p:nvGrpSpPr>
          <p:grpSpPr>
            <a:xfrm>
              <a:off x="1301750" y="4433888"/>
              <a:ext cx="177801" cy="200025"/>
              <a:chOff x="1301750" y="4433888"/>
              <a:chExt cx="177801" cy="200025"/>
            </a:xfrm>
          </p:grpSpPr>
          <p:sp>
            <p:nvSpPr>
              <p:cNvPr id="34" name="Freeform 34"/>
              <p:cNvSpPr/>
              <p:nvPr/>
            </p:nvSpPr>
            <p:spPr>
              <a:xfrm>
                <a:off x="1301750" y="443388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22225">
                <a:solidFill>
                  <a:srgbClr val="FFFFFF"/>
                </a:solidFill>
              </a:ln>
            </p:spPr>
          </p:sp>
          <p:sp>
            <p:nvSpPr>
              <p:cNvPr id="35" name="Freeform 35"/>
              <p:cNvSpPr/>
              <p:nvPr/>
            </p:nvSpPr>
            <p:spPr>
              <a:xfrm>
                <a:off x="1301750" y="446722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FFFFFF"/>
                </a:solidFill>
              </a:ln>
            </p:spPr>
          </p:sp>
          <p:sp>
            <p:nvSpPr>
              <p:cNvPr id="36" name="Freeform 36"/>
              <p:cNvSpPr/>
              <p:nvPr/>
            </p:nvSpPr>
            <p:spPr>
              <a:xfrm>
                <a:off x="1301750" y="45339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FFFFFF"/>
                </a:solidFill>
              </a:ln>
            </p:spPr>
          </p:sp>
        </p:grpSp>
        <p:sp>
          <p:nvSpPr>
            <p:cNvPr id="38" name="TextBox 38"/>
            <p:cNvSpPr txBox="1"/>
            <p:nvPr/>
          </p:nvSpPr>
          <p:spPr>
            <a:xfrm>
              <a:off x="1173188" y="47536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整合数据</a:t>
              </a:r>
            </a:p>
          </p:txBody>
        </p:sp>
        <p:sp>
          <p:nvSpPr>
            <p:cNvPr id="39" name="Line 39"/>
            <p:cNvSpPr/>
            <p:nvPr/>
          </p:nvSpPr>
          <p:spPr>
            <a:xfrm>
              <a:off x="1828800" y="4629150"/>
              <a:ext cx="742950" cy="1"/>
            </a:xfrm>
            <a:prstGeom prst="line">
              <a:avLst/>
            </a:prstGeom>
            <a:noFill/>
            <a:ln w="19050">
              <a:solidFill>
                <a:srgbClr val="F0745B"/>
              </a:solidFill>
              <a:custDash>
                <a:ds d="300000" sp="200000"/>
              </a:custDash>
              <a:tailEnd type="triangle" w="med" len="med"/>
            </a:ln>
          </p:spPr>
        </p:sp>
        <p:sp>
          <p:nvSpPr>
            <p:cNvPr id="40" name="Ellipse 40"/>
            <p:cNvSpPr/>
            <p:nvPr/>
          </p:nvSpPr>
          <p:spPr>
            <a:xfrm>
              <a:off x="2828925" y="4305300"/>
              <a:ext cx="647700" cy="647700"/>
            </a:xfrm>
            <a:prstGeom prst="ellipse">
              <a:avLst/>
            </a:prstGeom>
            <a:solidFill>
              <a:srgbClr val="ED5B3D"/>
            </a:solidFill>
            <a:ln>
              <a:noFill/>
            </a:ln>
          </p:spPr>
        </p:sp>
        <p:grpSp>
          <p:nvGrpSpPr>
            <p:cNvPr id="43" name="Group 43"/>
            <p:cNvGrpSpPr/>
            <p:nvPr/>
          </p:nvGrpSpPr>
          <p:grpSpPr>
            <a:xfrm>
              <a:off x="3052763" y="4433888"/>
              <a:ext cx="200025" cy="200025"/>
              <a:chOff x="3052763" y="4433888"/>
              <a:chExt cx="200025" cy="200025"/>
            </a:xfrm>
          </p:grpSpPr>
          <p:sp>
            <p:nvSpPr>
              <p:cNvPr id="41" name="Freeform 41"/>
              <p:cNvSpPr/>
              <p:nvPr/>
            </p:nvSpPr>
            <p:spPr>
              <a:xfrm>
                <a:off x="3052763" y="4433888"/>
                <a:ext cx="155575" cy="155575"/>
              </a:xfrm>
              <a:custGeom>
                <a:avLst/>
                <a:gdLst/>
                <a:ahLst/>
                <a:cxnLst/>
                <a:rect l="l" t="t" r="r" b="b"/>
                <a:pathLst>
                  <a:path w="155575" h="155575">
                    <a:moveTo>
                      <a:pt x="0" y="77788"/>
                    </a:moveTo>
                    <a:cubicBezTo>
                      <a:pt x="0" y="120749"/>
                      <a:pt x="34827" y="155575"/>
                      <a:pt x="77788" y="155575"/>
                    </a:cubicBezTo>
                    <a:cubicBezTo>
                      <a:pt x="120749" y="155575"/>
                      <a:pt x="155575" y="120749"/>
                      <a:pt x="155575" y="77788"/>
                    </a:cubicBezTo>
                    <a:cubicBezTo>
                      <a:pt x="155575" y="34827"/>
                      <a:pt x="120749" y="0"/>
                      <a:pt x="77788" y="0"/>
                    </a:cubicBezTo>
                    <a:cubicBezTo>
                      <a:pt x="34827" y="0"/>
                      <a:pt x="0" y="34827"/>
                      <a:pt x="0" y="77788"/>
                    </a:cubicBezTo>
                  </a:path>
                </a:pathLst>
              </a:custGeom>
              <a:noFill/>
              <a:ln w="22225">
                <a:solidFill>
                  <a:srgbClr val="FFFFFF"/>
                </a:solidFill>
              </a:ln>
            </p:spPr>
          </p:sp>
          <p:sp>
            <p:nvSpPr>
              <p:cNvPr id="42" name="Freeform 42"/>
              <p:cNvSpPr/>
              <p:nvPr/>
            </p:nvSpPr>
            <p:spPr>
              <a:xfrm>
                <a:off x="3186113" y="4567238"/>
                <a:ext cx="66675" cy="66675"/>
              </a:xfrm>
              <a:custGeom>
                <a:avLst/>
                <a:gdLst/>
                <a:ahLst/>
                <a:cxnLst/>
                <a:rect l="l" t="t" r="r" b="b"/>
                <a:pathLst>
                  <a:path w="66675" h="66675">
                    <a:moveTo>
                      <a:pt x="66675" y="66675"/>
                    </a:moveTo>
                    <a:lnTo>
                      <a:pt x="0" y="0"/>
                    </a:lnTo>
                  </a:path>
                </a:pathLst>
              </a:custGeom>
              <a:noFill/>
              <a:ln w="22225">
                <a:solidFill>
                  <a:srgbClr val="FFFFFF"/>
                </a:solidFill>
              </a:ln>
            </p:spPr>
          </p:sp>
        </p:grpSp>
        <p:sp>
          <p:nvSpPr>
            <p:cNvPr id="44" name="TextBox 44"/>
            <p:cNvSpPr txBox="1"/>
            <p:nvPr/>
          </p:nvSpPr>
          <p:spPr>
            <a:xfrm>
              <a:off x="2935313" y="47536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精准识别</a:t>
              </a:r>
            </a:p>
          </p:txBody>
        </p:sp>
        <p:sp>
          <p:nvSpPr>
            <p:cNvPr id="45" name="Line 45"/>
            <p:cNvSpPr/>
            <p:nvPr/>
          </p:nvSpPr>
          <p:spPr>
            <a:xfrm>
              <a:off x="3590925" y="4629150"/>
              <a:ext cx="742950" cy="1"/>
            </a:xfrm>
            <a:prstGeom prst="line">
              <a:avLst/>
            </a:prstGeom>
            <a:noFill/>
            <a:ln w="19050">
              <a:solidFill>
                <a:srgbClr val="F0745B"/>
              </a:solidFill>
              <a:custDash>
                <a:ds d="300000" sp="200000"/>
              </a:custDash>
              <a:tailEnd type="triangle" w="med" len="med"/>
            </a:ln>
          </p:spPr>
        </p:sp>
        <p:sp>
          <p:nvSpPr>
            <p:cNvPr id="46" name="Ellipse 46"/>
            <p:cNvSpPr/>
            <p:nvPr/>
          </p:nvSpPr>
          <p:spPr>
            <a:xfrm>
              <a:off x="4591050" y="4305300"/>
              <a:ext cx="647700" cy="647700"/>
            </a:xfrm>
            <a:prstGeom prst="ellipse">
              <a:avLst/>
            </a:prstGeom>
            <a:solidFill>
              <a:srgbClr val="E74726"/>
            </a:solidFill>
            <a:ln>
              <a:noFill/>
            </a:ln>
          </p:spPr>
        </p:sp>
        <p:grpSp>
          <p:nvGrpSpPr>
            <p:cNvPr id="50" name="Group 50"/>
            <p:cNvGrpSpPr/>
            <p:nvPr/>
          </p:nvGrpSpPr>
          <p:grpSpPr>
            <a:xfrm>
              <a:off x="4822490" y="4445000"/>
              <a:ext cx="181311" cy="181310"/>
              <a:chOff x="4822490" y="4445000"/>
              <a:chExt cx="181311" cy="181310"/>
            </a:xfrm>
          </p:grpSpPr>
          <p:sp>
            <p:nvSpPr>
              <p:cNvPr id="47" name="Freeform 47"/>
              <p:cNvSpPr/>
              <p:nvPr/>
            </p:nvSpPr>
            <p:spPr>
              <a:xfrm>
                <a:off x="4826000" y="4445000"/>
                <a:ext cx="177801" cy="177801"/>
              </a:xfrm>
              <a:custGeom>
                <a:avLst/>
                <a:gdLst/>
                <a:ahLst/>
                <a:cxnLst/>
                <a:rect l="l" t="t" r="r" b="b"/>
                <a:pathLst>
                  <a:path w="177801" h="177801">
                    <a:moveTo>
                      <a:pt x="0" y="100013"/>
                    </a:moveTo>
                    <a:cubicBezTo>
                      <a:pt x="40785" y="104860"/>
                      <a:pt x="72941" y="137015"/>
                      <a:pt x="77788" y="177801"/>
                    </a:cubicBezTo>
                    <a:cubicBezTo>
                      <a:pt x="97758" y="166288"/>
                      <a:pt x="110364" y="145276"/>
                      <a:pt x="111125" y="122238"/>
                    </a:cubicBezTo>
                    <a:cubicBezTo>
                      <a:pt x="149283" y="108814"/>
                      <a:pt x="175598" y="73728"/>
                      <a:pt x="177801" y="33338"/>
                    </a:cubicBezTo>
                    <a:cubicBezTo>
                      <a:pt x="177801" y="14926"/>
                      <a:pt x="162875" y="0"/>
                      <a:pt x="144463" y="0"/>
                    </a:cubicBezTo>
                    <a:cubicBezTo>
                      <a:pt x="104073" y="2202"/>
                      <a:pt x="68986" y="28517"/>
                      <a:pt x="55563" y="66675"/>
                    </a:cubicBezTo>
                    <a:cubicBezTo>
                      <a:pt x="32524" y="67436"/>
                      <a:pt x="11513" y="80043"/>
                      <a:pt x="0" y="100013"/>
                    </a:cubicBezTo>
                  </a:path>
                </a:pathLst>
              </a:custGeom>
              <a:noFill/>
              <a:ln w="22225">
                <a:solidFill>
                  <a:srgbClr val="FFFFFF"/>
                </a:solidFill>
              </a:ln>
            </p:spPr>
          </p:sp>
          <p:sp>
            <p:nvSpPr>
              <p:cNvPr id="48" name="Freeform 48"/>
              <p:cNvSpPr/>
              <p:nvPr/>
            </p:nvSpPr>
            <p:spPr>
              <a:xfrm>
                <a:off x="4822490" y="4556125"/>
                <a:ext cx="70185" cy="70185"/>
              </a:xfrm>
              <a:custGeom>
                <a:avLst/>
                <a:gdLst/>
                <a:ahLst/>
                <a:cxnLst/>
                <a:rect l="l" t="t" r="r" b="b"/>
                <a:pathLst>
                  <a:path w="70185" h="70185">
                    <a:moveTo>
                      <a:pt x="36848" y="0"/>
                    </a:moveTo>
                    <a:cubicBezTo>
                      <a:pt x="13188" y="13357"/>
                      <a:pt x="0" y="39734"/>
                      <a:pt x="3510" y="66675"/>
                    </a:cubicBezTo>
                    <a:cubicBezTo>
                      <a:pt x="30452" y="70185"/>
                      <a:pt x="56828" y="56997"/>
                      <a:pt x="70185" y="33338"/>
                    </a:cubicBezTo>
                  </a:path>
                </a:pathLst>
              </a:custGeom>
              <a:noFill/>
              <a:ln w="22225">
                <a:solidFill>
                  <a:srgbClr val="FFFFFF"/>
                </a:solidFill>
              </a:ln>
            </p:spPr>
          </p:sp>
          <p:sp>
            <p:nvSpPr>
              <p:cNvPr id="49" name="Freeform 49"/>
              <p:cNvSpPr/>
              <p:nvPr/>
            </p:nvSpPr>
            <p:spPr>
              <a:xfrm>
                <a:off x="4937125" y="4489450"/>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FFFFFF"/>
                </a:solidFill>
              </a:ln>
            </p:spPr>
          </p:sp>
        </p:grpSp>
        <p:sp>
          <p:nvSpPr>
            <p:cNvPr id="51" name="TextBox 51"/>
            <p:cNvSpPr txBox="1"/>
            <p:nvPr/>
          </p:nvSpPr>
          <p:spPr>
            <a:xfrm>
              <a:off x="4697438" y="47536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快速部署</a:t>
              </a:r>
            </a:p>
          </p:txBody>
        </p:sp>
        <p:sp>
          <p:nvSpPr>
            <p:cNvPr id="52" name="TextBox 52"/>
            <p:cNvSpPr txBox="1"/>
            <p:nvPr/>
          </p:nvSpPr>
          <p:spPr>
            <a:xfrm>
              <a:off x="814388" y="5134689"/>
              <a:ext cx="1073023"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整合客户身份、交易轨</a:t>
              </a:r>
            </a:p>
          </p:txBody>
        </p:sp>
        <p:sp>
          <p:nvSpPr>
            <p:cNvPr id="53" name="TextBox 53"/>
            <p:cNvSpPr txBox="1"/>
            <p:nvPr/>
          </p:nvSpPr>
          <p:spPr>
            <a:xfrm>
              <a:off x="814388" y="5306139"/>
              <a:ext cx="1073023"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迹、资产偏好、收支流</a:t>
              </a:r>
            </a:p>
          </p:txBody>
        </p:sp>
        <p:sp>
          <p:nvSpPr>
            <p:cNvPr id="54" name="TextBox 54"/>
            <p:cNvSpPr txBox="1"/>
            <p:nvPr/>
          </p:nvSpPr>
          <p:spPr>
            <a:xfrm>
              <a:off x="814388" y="5477589"/>
              <a:ext cx="1073023"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水、场景行为等多维数</a:t>
              </a:r>
            </a:p>
          </p:txBody>
        </p:sp>
        <p:sp>
          <p:nvSpPr>
            <p:cNvPr id="55" name="TextBox 55"/>
            <p:cNvSpPr txBox="1"/>
            <p:nvPr/>
          </p:nvSpPr>
          <p:spPr>
            <a:xfrm>
              <a:off x="814388" y="5649039"/>
              <a:ext cx="328574"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据源。</a:t>
              </a:r>
            </a:p>
          </p:txBody>
        </p:sp>
        <p:sp>
          <p:nvSpPr>
            <p:cNvPr id="56" name="TextBox 56"/>
            <p:cNvSpPr txBox="1"/>
            <p:nvPr/>
          </p:nvSpPr>
          <p:spPr>
            <a:xfrm>
              <a:off x="2576512" y="5134689"/>
              <a:ext cx="1073023"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精准识别长尾客群中资</a:t>
              </a:r>
            </a:p>
          </p:txBody>
        </p:sp>
        <p:sp>
          <p:nvSpPr>
            <p:cNvPr id="57" name="TextBox 57"/>
            <p:cNvSpPr txBox="1"/>
            <p:nvPr/>
          </p:nvSpPr>
          <p:spPr>
            <a:xfrm>
              <a:off x="2576512" y="5306139"/>
              <a:ext cx="1073023"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产扩增意愿强、资金沉</a:t>
              </a:r>
            </a:p>
          </p:txBody>
        </p:sp>
        <p:sp>
          <p:nvSpPr>
            <p:cNvPr id="58" name="TextBox 58"/>
            <p:cNvSpPr txBox="1"/>
            <p:nvPr/>
          </p:nvSpPr>
          <p:spPr>
            <a:xfrm>
              <a:off x="2576512" y="5477589"/>
              <a:ext cx="966673"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淀空间大的高潜力客</a:t>
              </a:r>
            </a:p>
          </p:txBody>
        </p:sp>
        <p:sp>
          <p:nvSpPr>
            <p:cNvPr id="59" name="TextBox 59"/>
            <p:cNvSpPr txBox="1"/>
            <p:nvPr/>
          </p:nvSpPr>
          <p:spPr>
            <a:xfrm>
              <a:off x="2576512" y="5649039"/>
              <a:ext cx="222225"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户。</a:t>
              </a:r>
            </a:p>
          </p:txBody>
        </p:sp>
        <p:sp>
          <p:nvSpPr>
            <p:cNvPr id="60" name="TextBox 60"/>
            <p:cNvSpPr txBox="1"/>
            <p:nvPr/>
          </p:nvSpPr>
          <p:spPr>
            <a:xfrm>
              <a:off x="4338638" y="5134689"/>
              <a:ext cx="1073023"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运营人员可据此快速筛</a:t>
              </a:r>
            </a:p>
          </p:txBody>
        </p:sp>
        <p:sp>
          <p:nvSpPr>
            <p:cNvPr id="61" name="TextBox 61"/>
            <p:cNvSpPr txBox="1"/>
            <p:nvPr/>
          </p:nvSpPr>
          <p:spPr>
            <a:xfrm>
              <a:off x="4338638" y="5306139"/>
              <a:ext cx="1073023"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选高潜力客户清单，部</a:t>
              </a:r>
            </a:p>
          </p:txBody>
        </p:sp>
        <p:sp>
          <p:nvSpPr>
            <p:cNvPr id="62" name="TextBox 62"/>
            <p:cNvSpPr txBox="1"/>
            <p:nvPr/>
          </p:nvSpPr>
          <p:spPr>
            <a:xfrm>
              <a:off x="4338638" y="5477589"/>
              <a:ext cx="1073023"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署差异化的激活与资产</a:t>
              </a:r>
            </a:p>
          </p:txBody>
        </p:sp>
        <p:sp>
          <p:nvSpPr>
            <p:cNvPr id="63" name="TextBox 63"/>
            <p:cNvSpPr txBox="1"/>
            <p:nvPr/>
          </p:nvSpPr>
          <p:spPr>
            <a:xfrm>
              <a:off x="4338638" y="5649039"/>
              <a:ext cx="541274" cy="154781"/>
            </a:xfrm>
            <a:prstGeom prst="rect">
              <a:avLst/>
            </a:prstGeom>
            <a:noFill/>
            <a:ln>
              <a:noFill/>
            </a:ln>
          </p:spPr>
          <p:txBody>
            <a:bodyPr wrap="none" lIns="0" tIns="0" rIns="0" bIns="0" anchor="t" anchorCtr="0">
              <a:spAutoFit/>
            </a:bodyPr>
            <a:lstStyle/>
            <a:p>
              <a:pPr algn="l"/>
              <a:r>
                <a:rPr lang="zh-CN" sz="790" dirty="0">
                  <a:solidFill>
                    <a:srgbClr val="684F4A"/>
                  </a:solidFill>
                  <a:latin typeface="+mn-lt"/>
                  <a:ea typeface="+mn-ea"/>
                  <a:cs typeface="+mn-cs"/>
                </a:rPr>
                <a:t>提升活动。</a:t>
              </a:r>
            </a:p>
          </p:txBody>
        </p:sp>
      </p:grpSp>
      <p:grpSp>
        <p:nvGrpSpPr>
          <p:cNvPr id="69" name="right-title"/>
          <p:cNvGrpSpPr/>
          <p:nvPr/>
        </p:nvGrpSpPr>
        <p:grpSpPr>
          <a:xfrm>
            <a:off x="6324600" y="1295400"/>
            <a:ext cx="5429250" cy="381000"/>
            <a:chOff x="6324600" y="1295400"/>
            <a:chExt cx="5429250" cy="381000"/>
          </a:xfrm>
        </p:grpSpPr>
        <p:sp>
          <p:nvSpPr>
            <p:cNvPr id="65" name="Rectangle 65"/>
            <p:cNvSpPr/>
            <p:nvPr/>
          </p:nvSpPr>
          <p:spPr>
            <a:xfrm>
              <a:off x="6324600" y="1295400"/>
              <a:ext cx="5429250" cy="381000"/>
            </a:xfrm>
            <a:prstGeom prst="roundRect">
              <a:avLst>
                <a:gd name="adj" fmla="val 50000"/>
              </a:avLst>
            </a:prstGeom>
            <a:solidFill>
              <a:srgbClr val="E74726"/>
            </a:solidFill>
            <a:ln>
              <a:noFill/>
            </a:ln>
          </p:spPr>
        </p:sp>
        <p:sp>
          <p:nvSpPr>
            <p:cNvPr id="66" name="Ellipse 66"/>
            <p:cNvSpPr/>
            <p:nvPr/>
          </p:nvSpPr>
          <p:spPr>
            <a:xfrm>
              <a:off x="6438900" y="1314450"/>
              <a:ext cx="342900" cy="342900"/>
            </a:xfrm>
            <a:prstGeom prst="ellipse">
              <a:avLst/>
            </a:prstGeom>
            <a:solidFill>
              <a:srgbClr val="FFFFFF"/>
            </a:solidFill>
            <a:ln>
              <a:noFill/>
            </a:ln>
          </p:spPr>
        </p:sp>
        <p:sp>
          <p:nvSpPr>
            <p:cNvPr id="67" name="TextBox 67"/>
            <p:cNvSpPr txBox="1"/>
            <p:nvPr/>
          </p:nvSpPr>
          <p:spPr>
            <a:xfrm>
              <a:off x="6532019" y="1437799"/>
              <a:ext cx="156662" cy="190690"/>
            </a:xfrm>
            <a:prstGeom prst="rect">
              <a:avLst/>
            </a:prstGeom>
            <a:noFill/>
            <a:ln>
              <a:noFill/>
            </a:ln>
          </p:spPr>
          <p:txBody>
            <a:bodyPr wrap="none" lIns="0" tIns="0" rIns="0" bIns="0" anchor="t" anchorCtr="0">
              <a:spAutoFit/>
            </a:bodyPr>
            <a:lstStyle/>
            <a:p>
              <a:pPr algn="ctr"/>
              <a:r>
                <a:rPr lang="zh-CN" sz="980" b="1" dirty="0">
                  <a:solidFill>
                    <a:srgbClr val="E74726"/>
                  </a:solidFill>
                  <a:latin typeface="+mj-lt"/>
                  <a:ea typeface="+mj-ea"/>
                  <a:cs typeface="+mj-cs"/>
                </a:rPr>
                <a:t>02</a:t>
              </a:r>
            </a:p>
          </p:txBody>
        </p:sp>
        <p:sp>
          <p:nvSpPr>
            <p:cNvPr id="68" name="TextBox 68"/>
            <p:cNvSpPr txBox="1"/>
            <p:nvPr/>
          </p:nvSpPr>
          <p:spPr>
            <a:xfrm>
              <a:off x="8355025" y="1421606"/>
              <a:ext cx="136840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事件分群：需求捕捉</a:t>
              </a:r>
            </a:p>
          </p:txBody>
        </p:sp>
      </p:grpSp>
      <p:grpSp>
        <p:nvGrpSpPr>
          <p:cNvPr id="76" name="right-card"/>
          <p:cNvGrpSpPr/>
          <p:nvPr/>
        </p:nvGrpSpPr>
        <p:grpSpPr>
          <a:xfrm>
            <a:off x="6324600" y="1828800"/>
            <a:ext cx="5429250" cy="1504950"/>
            <a:chOff x="6324600" y="1828800"/>
            <a:chExt cx="5429250" cy="1504950"/>
          </a:xfrm>
        </p:grpSpPr>
        <p:sp>
          <p:nvSpPr>
            <p:cNvPr id="70" name="Rectangle 70"/>
            <p:cNvSpPr/>
            <p:nvPr/>
          </p:nvSpPr>
          <p:spPr>
            <a:xfrm>
              <a:off x="6324600" y="1828800"/>
              <a:ext cx="5429250" cy="1504950"/>
            </a:xfrm>
            <a:prstGeom prst="roundRect">
              <a:avLst>
                <a:gd name="adj" fmla="val 3797"/>
              </a:avLst>
            </a:prstGeom>
            <a:solidFill>
              <a:srgbClr val="FFFFFF"/>
            </a:solidFill>
            <a:ln w="11430">
              <a:solidFill>
                <a:srgbClr val="DCE8FB"/>
              </a:solidFill>
            </a:ln>
          </p:spPr>
        </p:sp>
        <p:sp>
          <p:nvSpPr>
            <p:cNvPr id="71" name="TextBox 71"/>
            <p:cNvSpPr txBox="1"/>
            <p:nvPr/>
          </p:nvSpPr>
          <p:spPr>
            <a:xfrm>
              <a:off x="6472238" y="2006441"/>
              <a:ext cx="3652342"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以邮储银行为例，该行针对长尾客户触发的各类事件及业务场景进行系统化</a:t>
              </a:r>
            </a:p>
          </p:txBody>
        </p:sp>
        <p:sp>
          <p:nvSpPr>
            <p:cNvPr id="72" name="TextBox 72"/>
            <p:cNvSpPr txBox="1"/>
            <p:nvPr/>
          </p:nvSpPr>
          <p:spPr>
            <a:xfrm>
              <a:off x="6472238" y="2196941"/>
              <a:ext cx="3652342"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的识别与梳理，如</a:t>
              </a:r>
              <a:r>
                <a:rPr lang="zh-CN" sz="820" b="1" dirty="0">
                  <a:solidFill>
                    <a:srgbClr val="1F1F1F"/>
                  </a:solidFill>
                  <a:latin typeface="+mn-lt"/>
                  <a:ea typeface="+mn-ea"/>
                  <a:cs typeface="+mn-cs"/>
                </a:rPr>
                <a:t>产品到期、产品购买流程断点、账户资金异动、客户生日</a:t>
              </a:r>
            </a:p>
          </p:txBody>
        </p:sp>
        <p:sp>
          <p:nvSpPr>
            <p:cNvPr id="73" name="TextBox 73"/>
            <p:cNvSpPr txBox="1"/>
            <p:nvPr/>
          </p:nvSpPr>
          <p:spPr>
            <a:xfrm>
              <a:off x="6472238" y="2387441"/>
              <a:ext cx="3652342" cy="161925"/>
            </a:xfrm>
            <a:prstGeom prst="rect">
              <a:avLst/>
            </a:prstGeom>
            <a:noFill/>
            <a:ln>
              <a:noFill/>
            </a:ln>
          </p:spPr>
          <p:txBody>
            <a:bodyPr wrap="none" lIns="0" tIns="0" rIns="0" bIns="0" anchor="t" anchorCtr="0">
              <a:spAutoFit/>
            </a:bodyPr>
            <a:lstStyle/>
            <a:p>
              <a:pPr algn="l"/>
              <a:r>
                <a:rPr lang="zh-CN" sz="820" b="1" dirty="0">
                  <a:solidFill>
                    <a:srgbClr val="1F1F1F"/>
                  </a:solidFill>
                  <a:latin typeface="+mn-lt"/>
                  <a:ea typeface="+mn-ea"/>
                  <a:cs typeface="+mn-cs"/>
                </a:rPr>
                <a:t>等关键节点</a:t>
              </a:r>
              <a:r>
                <a:rPr lang="zh-CN" sz="820" dirty="0">
                  <a:solidFill>
                    <a:srgbClr val="523833"/>
                  </a:solidFill>
                  <a:latin typeface="+mn-lt"/>
                  <a:ea typeface="+mn-ea"/>
                  <a:cs typeface="+mn-cs"/>
                </a:rPr>
                <a:t>，精准捕捉长尾客户的需求窗口，并以自动化机制将营销线索实</a:t>
              </a:r>
            </a:p>
          </p:txBody>
        </p:sp>
        <p:sp>
          <p:nvSpPr>
            <p:cNvPr id="74" name="TextBox 74"/>
            <p:cNvSpPr txBox="1"/>
            <p:nvPr/>
          </p:nvSpPr>
          <p:spPr>
            <a:xfrm>
              <a:off x="6472238" y="2577941"/>
              <a:ext cx="3696498"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时分发至触达渠道，形成识别→推送→执行→反馈的自动化闭环，从“人找​​​​</a:t>
              </a:r>
            </a:p>
          </p:txBody>
        </p:sp>
        <p:sp>
          <p:nvSpPr>
            <p:cNvPr id="75" name="TextBox 75"/>
            <p:cNvSpPr txBox="1"/>
            <p:nvPr/>
          </p:nvSpPr>
          <p:spPr>
            <a:xfrm>
              <a:off x="6472238" y="2768441"/>
              <a:ext cx="1477691"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客户”向“线索找人”转变。​​​</a:t>
              </a:r>
            </a:p>
          </p:txBody>
        </p:sp>
      </p:grpSp>
      <p:grpSp>
        <p:nvGrpSpPr>
          <p:cNvPr id="111" name="right-table"/>
          <p:cNvGrpSpPr/>
          <p:nvPr/>
        </p:nvGrpSpPr>
        <p:grpSpPr>
          <a:xfrm>
            <a:off x="6324600" y="3486150"/>
            <a:ext cx="5429250" cy="3048000"/>
            <a:chOff x="6324600" y="3486150"/>
            <a:chExt cx="5429250" cy="3048000"/>
          </a:xfrm>
        </p:grpSpPr>
        <p:sp>
          <p:nvSpPr>
            <p:cNvPr id="77" name="Rectangle 77"/>
            <p:cNvSpPr/>
            <p:nvPr/>
          </p:nvSpPr>
          <p:spPr>
            <a:xfrm>
              <a:off x="6324600" y="3486150"/>
              <a:ext cx="5429250" cy="3048000"/>
            </a:xfrm>
            <a:prstGeom prst="roundRect">
              <a:avLst>
                <a:gd name="adj" fmla="val 1250"/>
              </a:avLst>
            </a:prstGeom>
            <a:solidFill>
              <a:srgbClr val="FFFFFF"/>
            </a:solidFill>
            <a:ln w="9525">
              <a:solidFill>
                <a:srgbClr val="DCE8FB"/>
              </a:solidFill>
            </a:ln>
          </p:spPr>
        </p:sp>
        <p:sp>
          <p:nvSpPr>
            <p:cNvPr id="78" name="Rectangle 78"/>
            <p:cNvSpPr/>
            <p:nvPr/>
          </p:nvSpPr>
          <p:spPr>
            <a:xfrm>
              <a:off x="6324600" y="3486150"/>
              <a:ext cx="5429250" cy="285750"/>
            </a:xfrm>
            <a:prstGeom prst="roundRect">
              <a:avLst>
                <a:gd name="adj" fmla="val 13333"/>
              </a:avLst>
            </a:prstGeom>
            <a:solidFill>
              <a:srgbClr val="E74726"/>
            </a:solidFill>
            <a:ln>
              <a:noFill/>
            </a:ln>
          </p:spPr>
        </p:sp>
        <p:sp>
          <p:nvSpPr>
            <p:cNvPr id="79" name="TextBox 79"/>
            <p:cNvSpPr txBox="1"/>
            <p:nvPr/>
          </p:nvSpPr>
          <p:spPr>
            <a:xfrm>
              <a:off x="6564541" y="35835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营销事件</a:t>
              </a:r>
            </a:p>
          </p:txBody>
        </p:sp>
        <p:sp>
          <p:nvSpPr>
            <p:cNvPr id="80" name="TextBox 80"/>
            <p:cNvSpPr txBox="1"/>
            <p:nvPr/>
          </p:nvSpPr>
          <p:spPr>
            <a:xfrm>
              <a:off x="7517041" y="35835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营销目标</a:t>
              </a:r>
            </a:p>
          </p:txBody>
        </p:sp>
        <p:sp>
          <p:nvSpPr>
            <p:cNvPr id="81" name="TextBox 81"/>
            <p:cNvSpPr txBox="1"/>
            <p:nvPr/>
          </p:nvSpPr>
          <p:spPr>
            <a:xfrm>
              <a:off x="8593366" y="35835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事件规则</a:t>
              </a:r>
            </a:p>
          </p:txBody>
        </p:sp>
        <p:sp>
          <p:nvSpPr>
            <p:cNvPr id="82" name="TextBox 82"/>
            <p:cNvSpPr txBox="1"/>
            <p:nvPr/>
          </p:nvSpPr>
          <p:spPr>
            <a:xfrm>
              <a:off x="10374541" y="35835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策略概述</a:t>
              </a:r>
            </a:p>
          </p:txBody>
        </p:sp>
        <p:sp>
          <p:nvSpPr>
            <p:cNvPr id="83" name="Rectangle 83"/>
            <p:cNvSpPr/>
            <p:nvPr/>
          </p:nvSpPr>
          <p:spPr>
            <a:xfrm>
              <a:off x="6324600" y="3771900"/>
              <a:ext cx="914400" cy="495300"/>
            </a:xfrm>
            <a:prstGeom prst="rect">
              <a:avLst/>
            </a:prstGeom>
            <a:solidFill>
              <a:srgbClr val="EAF2FD"/>
            </a:solidFill>
            <a:ln>
              <a:noFill/>
            </a:ln>
          </p:spPr>
        </p:sp>
        <p:sp>
          <p:nvSpPr>
            <p:cNvPr id="84" name="TextBox 84"/>
            <p:cNvSpPr txBox="1"/>
            <p:nvPr/>
          </p:nvSpPr>
          <p:spPr>
            <a:xfrm>
              <a:off x="6583388" y="3972639"/>
              <a:ext cx="434924" cy="154781"/>
            </a:xfrm>
            <a:prstGeom prst="rect">
              <a:avLst/>
            </a:prstGeom>
            <a:noFill/>
            <a:ln>
              <a:noFill/>
            </a:ln>
          </p:spPr>
          <p:txBody>
            <a:bodyPr wrap="none" lIns="0" tIns="0" rIns="0" bIns="0" anchor="t" anchorCtr="0">
              <a:spAutoFit/>
            </a:bodyPr>
            <a:lstStyle/>
            <a:p>
              <a:pPr algn="ctr"/>
              <a:r>
                <a:rPr lang="zh-CN" sz="790" b="1" dirty="0">
                  <a:solidFill>
                    <a:srgbClr val="E74726"/>
                  </a:solidFill>
                  <a:latin typeface="+mn-lt"/>
                  <a:ea typeface="+mn-ea"/>
                  <a:cs typeface="+mn-cs"/>
                </a:rPr>
                <a:t>生日祝福</a:t>
              </a:r>
            </a:p>
          </p:txBody>
        </p:sp>
        <p:sp>
          <p:nvSpPr>
            <p:cNvPr id="85" name="TextBox 85"/>
            <p:cNvSpPr txBox="1"/>
            <p:nvPr/>
          </p:nvSpPr>
          <p:spPr>
            <a:xfrm>
              <a:off x="7535888" y="3972639"/>
              <a:ext cx="434924"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活跃提升</a:t>
              </a:r>
            </a:p>
          </p:txBody>
        </p:sp>
        <p:sp>
          <p:nvSpPr>
            <p:cNvPr id="86" name="TextBox 86"/>
            <p:cNvSpPr txBox="1"/>
            <p:nvPr/>
          </p:nvSpPr>
          <p:spPr>
            <a:xfrm>
              <a:off x="8612213" y="3972639"/>
              <a:ext cx="434924"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生日当天</a:t>
              </a:r>
            </a:p>
          </p:txBody>
        </p:sp>
        <p:sp>
          <p:nvSpPr>
            <p:cNvPr id="87" name="TextBox 87"/>
            <p:cNvSpPr txBox="1"/>
            <p:nvPr/>
          </p:nvSpPr>
          <p:spPr>
            <a:xfrm>
              <a:off x="9424988" y="3972639"/>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发送生日祝福，推送近期权益活动。</a:t>
              </a:r>
            </a:p>
          </p:txBody>
        </p:sp>
        <p:sp>
          <p:nvSpPr>
            <p:cNvPr id="88" name="Rectangle 88"/>
            <p:cNvSpPr/>
            <p:nvPr/>
          </p:nvSpPr>
          <p:spPr>
            <a:xfrm>
              <a:off x="6324600" y="4267200"/>
              <a:ext cx="914400" cy="1028700"/>
            </a:xfrm>
            <a:prstGeom prst="rect">
              <a:avLst/>
            </a:prstGeom>
            <a:solidFill>
              <a:srgbClr val="EAF2FD"/>
            </a:solidFill>
            <a:ln>
              <a:noFill/>
            </a:ln>
          </p:spPr>
        </p:sp>
        <p:sp>
          <p:nvSpPr>
            <p:cNvPr id="89" name="TextBox 89"/>
            <p:cNvSpPr txBox="1"/>
            <p:nvPr/>
          </p:nvSpPr>
          <p:spPr>
            <a:xfrm>
              <a:off x="6689738" y="4734639"/>
              <a:ext cx="222225" cy="154781"/>
            </a:xfrm>
            <a:prstGeom prst="rect">
              <a:avLst/>
            </a:prstGeom>
            <a:noFill/>
            <a:ln>
              <a:noFill/>
            </a:ln>
          </p:spPr>
          <p:txBody>
            <a:bodyPr wrap="none" lIns="0" tIns="0" rIns="0" bIns="0" anchor="t" anchorCtr="0">
              <a:spAutoFit/>
            </a:bodyPr>
            <a:lstStyle/>
            <a:p>
              <a:pPr algn="ctr"/>
              <a:r>
                <a:rPr lang="zh-CN" sz="790" b="1" dirty="0">
                  <a:solidFill>
                    <a:srgbClr val="E74726"/>
                  </a:solidFill>
                  <a:latin typeface="+mn-lt"/>
                  <a:ea typeface="+mn-ea"/>
                  <a:cs typeface="+mn-cs"/>
                </a:rPr>
                <a:t>交易</a:t>
              </a:r>
            </a:p>
          </p:txBody>
        </p:sp>
        <p:sp>
          <p:nvSpPr>
            <p:cNvPr id="90" name="TextBox 90"/>
            <p:cNvSpPr txBox="1"/>
            <p:nvPr/>
          </p:nvSpPr>
          <p:spPr>
            <a:xfrm>
              <a:off x="7589063" y="4467939"/>
              <a:ext cx="328574"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促转化</a:t>
              </a:r>
            </a:p>
          </p:txBody>
        </p:sp>
        <p:sp>
          <p:nvSpPr>
            <p:cNvPr id="91" name="TextBox 91"/>
            <p:cNvSpPr txBox="1"/>
            <p:nvPr/>
          </p:nvSpPr>
          <p:spPr>
            <a:xfrm>
              <a:off x="8452688" y="4467939"/>
              <a:ext cx="753974"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浏览基金未购买</a:t>
              </a:r>
            </a:p>
          </p:txBody>
        </p:sp>
        <p:sp>
          <p:nvSpPr>
            <p:cNvPr id="92" name="TextBox 92"/>
            <p:cNvSpPr txBox="1"/>
            <p:nvPr/>
          </p:nvSpPr>
          <p:spPr>
            <a:xfrm>
              <a:off x="9424988" y="4467939"/>
              <a:ext cx="208866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通过短信、手机银行弹窗等方式进行提示，​</a:t>
              </a:r>
            </a:p>
          </p:txBody>
        </p:sp>
        <p:sp>
          <p:nvSpPr>
            <p:cNvPr id="93" name="TextBox 93"/>
            <p:cNvSpPr txBox="1"/>
            <p:nvPr/>
          </p:nvSpPr>
          <p:spPr>
            <a:xfrm>
              <a:off x="9424988" y="4639389"/>
              <a:ext cx="75397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促进交易流程。</a:t>
              </a:r>
            </a:p>
          </p:txBody>
        </p:sp>
        <p:sp>
          <p:nvSpPr>
            <p:cNvPr id="94" name="TextBox 94"/>
            <p:cNvSpPr txBox="1"/>
            <p:nvPr/>
          </p:nvSpPr>
          <p:spPr>
            <a:xfrm>
              <a:off x="7589063" y="4963239"/>
              <a:ext cx="328574"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促活跃</a:t>
              </a:r>
            </a:p>
          </p:txBody>
        </p:sp>
        <p:sp>
          <p:nvSpPr>
            <p:cNvPr id="95" name="TextBox 95"/>
            <p:cNvSpPr txBox="1"/>
            <p:nvPr/>
          </p:nvSpPr>
          <p:spPr>
            <a:xfrm>
              <a:off x="8399513" y="4963239"/>
              <a:ext cx="860323"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特色卡权益未领取</a:t>
              </a:r>
            </a:p>
          </p:txBody>
        </p:sp>
        <p:sp>
          <p:nvSpPr>
            <p:cNvPr id="96" name="TextBox 96"/>
            <p:cNvSpPr txBox="1"/>
            <p:nvPr/>
          </p:nvSpPr>
          <p:spPr>
            <a:xfrm>
              <a:off x="9424988" y="4963239"/>
              <a:ext cx="1923821"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推送特色卡权益活动页面，提示及时领取</a:t>
              </a:r>
            </a:p>
          </p:txBody>
        </p:sp>
        <p:sp>
          <p:nvSpPr>
            <p:cNvPr id="97" name="Rectangle 97"/>
            <p:cNvSpPr/>
            <p:nvPr/>
          </p:nvSpPr>
          <p:spPr>
            <a:xfrm>
              <a:off x="6324600" y="5295900"/>
              <a:ext cx="914400" cy="1238250"/>
            </a:xfrm>
            <a:prstGeom prst="rect">
              <a:avLst/>
            </a:prstGeom>
            <a:solidFill>
              <a:srgbClr val="EAF2FD"/>
            </a:solidFill>
            <a:ln>
              <a:noFill/>
            </a:ln>
          </p:spPr>
        </p:sp>
        <p:sp>
          <p:nvSpPr>
            <p:cNvPr id="98" name="TextBox 98"/>
            <p:cNvSpPr txBox="1"/>
            <p:nvPr/>
          </p:nvSpPr>
          <p:spPr>
            <a:xfrm>
              <a:off x="6689738" y="5868114"/>
              <a:ext cx="222225" cy="154781"/>
            </a:xfrm>
            <a:prstGeom prst="rect">
              <a:avLst/>
            </a:prstGeom>
            <a:noFill/>
            <a:ln>
              <a:noFill/>
            </a:ln>
          </p:spPr>
          <p:txBody>
            <a:bodyPr wrap="none" lIns="0" tIns="0" rIns="0" bIns="0" anchor="t" anchorCtr="0">
              <a:spAutoFit/>
            </a:bodyPr>
            <a:lstStyle/>
            <a:p>
              <a:pPr algn="ctr"/>
              <a:r>
                <a:rPr lang="zh-CN" sz="790" b="1" dirty="0">
                  <a:solidFill>
                    <a:srgbClr val="E74726"/>
                  </a:solidFill>
                  <a:latin typeface="+mn-lt"/>
                  <a:ea typeface="+mn-ea"/>
                  <a:cs typeface="+mn-cs"/>
                </a:rPr>
                <a:t>资金</a:t>
              </a:r>
            </a:p>
          </p:txBody>
        </p:sp>
        <p:sp>
          <p:nvSpPr>
            <p:cNvPr id="99" name="TextBox 99"/>
            <p:cNvSpPr txBox="1"/>
            <p:nvPr/>
          </p:nvSpPr>
          <p:spPr>
            <a:xfrm>
              <a:off x="7535888" y="5496639"/>
              <a:ext cx="434924"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产品到期</a:t>
              </a:r>
            </a:p>
          </p:txBody>
        </p:sp>
        <p:sp>
          <p:nvSpPr>
            <p:cNvPr id="100" name="TextBox 100"/>
            <p:cNvSpPr txBox="1"/>
            <p:nvPr/>
          </p:nvSpPr>
          <p:spPr>
            <a:xfrm>
              <a:off x="8399513" y="5496639"/>
              <a:ext cx="860323"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定期存款产品到期</a:t>
              </a:r>
            </a:p>
          </p:txBody>
        </p:sp>
        <p:sp>
          <p:nvSpPr>
            <p:cNvPr id="101" name="TextBox 101"/>
            <p:cNvSpPr txBox="1"/>
            <p:nvPr/>
          </p:nvSpPr>
          <p:spPr>
            <a:xfrm>
              <a:off x="9424988" y="5496639"/>
              <a:ext cx="137080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在到期前3天 - 到期后3天，​</a:t>
              </a:r>
            </a:p>
          </p:txBody>
        </p:sp>
        <p:sp>
          <p:nvSpPr>
            <p:cNvPr id="102" name="TextBox 102"/>
            <p:cNvSpPr txBox="1"/>
            <p:nvPr/>
          </p:nvSpPr>
          <p:spPr>
            <a:xfrm>
              <a:off x="9424988" y="5668089"/>
              <a:ext cx="9666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推荐当月承接产品。</a:t>
              </a:r>
            </a:p>
          </p:txBody>
        </p:sp>
        <p:sp>
          <p:nvSpPr>
            <p:cNvPr id="103" name="TextBox 103"/>
            <p:cNvSpPr txBox="1"/>
            <p:nvPr/>
          </p:nvSpPr>
          <p:spPr>
            <a:xfrm>
              <a:off x="7535888" y="5953839"/>
              <a:ext cx="434924"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资金留存</a:t>
              </a:r>
            </a:p>
          </p:txBody>
        </p:sp>
        <p:sp>
          <p:nvSpPr>
            <p:cNvPr id="104" name="TextBox 104"/>
            <p:cNvSpPr txBox="1"/>
            <p:nvPr/>
          </p:nvSpPr>
          <p:spPr>
            <a:xfrm>
              <a:off x="8505863" y="5953839"/>
              <a:ext cx="647624"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大额资金到账</a:t>
              </a:r>
            </a:p>
          </p:txBody>
        </p:sp>
        <p:sp>
          <p:nvSpPr>
            <p:cNvPr id="105" name="TextBox 105"/>
            <p:cNvSpPr txBox="1"/>
            <p:nvPr/>
          </p:nvSpPr>
          <p:spPr>
            <a:xfrm>
              <a:off x="8489911" y="6125289"/>
              <a:ext cx="679529" cy="154781"/>
            </a:xfrm>
            <a:prstGeom prst="rect">
              <a:avLst/>
            </a:prstGeom>
            <a:noFill/>
            <a:ln>
              <a:noFill/>
            </a:ln>
          </p:spPr>
          <p:txBody>
            <a:bodyPr wrap="none" lIns="0" tIns="0" rIns="0" bIns="0" anchor="t" anchorCtr="0">
              <a:spAutoFit/>
            </a:bodyPr>
            <a:lstStyle/>
            <a:p>
              <a:pPr algn="ctr"/>
              <a:r>
                <a:rPr lang="zh-CN" sz="790" dirty="0">
                  <a:solidFill>
                    <a:srgbClr val="523833"/>
                  </a:solidFill>
                  <a:latin typeface="+mn-lt"/>
                  <a:ea typeface="+mn-ea"/>
                  <a:cs typeface="+mn-cs"/>
                </a:rPr>
                <a:t>（≥5000元）​</a:t>
              </a:r>
            </a:p>
          </p:txBody>
        </p:sp>
        <p:sp>
          <p:nvSpPr>
            <p:cNvPr id="106" name="TextBox 106"/>
            <p:cNvSpPr txBox="1"/>
            <p:nvPr/>
          </p:nvSpPr>
          <p:spPr>
            <a:xfrm>
              <a:off x="9424988" y="5953839"/>
              <a:ext cx="14984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推荐活期理财产品，及时沉淀、</a:t>
              </a:r>
            </a:p>
          </p:txBody>
        </p:sp>
        <p:sp>
          <p:nvSpPr>
            <p:cNvPr id="107" name="TextBox 107"/>
            <p:cNvSpPr txBox="1"/>
            <p:nvPr/>
          </p:nvSpPr>
          <p:spPr>
            <a:xfrm>
              <a:off x="9424988" y="6125289"/>
              <a:ext cx="75397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挽留客户资金。</a:t>
              </a:r>
            </a:p>
          </p:txBody>
        </p:sp>
        <p:grpSp>
          <p:nvGrpSpPr>
            <p:cNvPr id="110" name="Group 110"/>
            <p:cNvGrpSpPr/>
            <p:nvPr/>
          </p:nvGrpSpPr>
          <p:grpSpPr>
            <a:xfrm>
              <a:off x="6324600" y="4267200"/>
              <a:ext cx="5429250" cy="1038225"/>
              <a:chOff x="6324600" y="4267200"/>
              <a:chExt cx="5429250" cy="1038225"/>
            </a:xfrm>
          </p:grpSpPr>
          <p:sp>
            <p:nvSpPr>
              <p:cNvPr id="108" name="Line 108"/>
              <p:cNvSpPr/>
              <p:nvPr/>
            </p:nvSpPr>
            <p:spPr>
              <a:xfrm>
                <a:off x="6324600" y="4267200"/>
                <a:ext cx="5429250" cy="9525"/>
              </a:xfrm>
              <a:custGeom>
                <a:avLst/>
                <a:gdLst/>
                <a:ahLst/>
                <a:cxnLst/>
                <a:rect l="l" t="t" r="r" b="b"/>
                <a:pathLst>
                  <a:path w="5429250" h="9525">
                    <a:moveTo>
                      <a:pt x="0" y="0"/>
                    </a:moveTo>
                    <a:lnTo>
                      <a:pt x="5429250" y="0"/>
                    </a:lnTo>
                  </a:path>
                </a:pathLst>
              </a:custGeom>
              <a:noFill/>
              <a:ln w="9525">
                <a:solidFill>
                  <a:srgbClr val="EAF2FD"/>
                </a:solidFill>
              </a:ln>
            </p:spPr>
          </p:sp>
          <p:sp>
            <p:nvSpPr>
              <p:cNvPr id="109" name="Line 109"/>
              <p:cNvSpPr/>
              <p:nvPr/>
            </p:nvSpPr>
            <p:spPr>
              <a:xfrm>
                <a:off x="6324600" y="5295900"/>
                <a:ext cx="5429250" cy="9525"/>
              </a:xfrm>
              <a:custGeom>
                <a:avLst/>
                <a:gdLst/>
                <a:ahLst/>
                <a:cxnLst/>
                <a:rect l="l" t="t" r="r" b="b"/>
                <a:pathLst>
                  <a:path w="5429250" h="9525">
                    <a:moveTo>
                      <a:pt x="0" y="0"/>
                    </a:moveTo>
                    <a:lnTo>
                      <a:pt x="5429250" y="0"/>
                    </a:lnTo>
                  </a:path>
                </a:pathLst>
              </a:custGeom>
              <a:noFill/>
              <a:ln w="9525">
                <a:solidFill>
                  <a:srgbClr val="EAF2FD"/>
                </a:solidFill>
              </a:ln>
            </p:spPr>
          </p:sp>
        </p:grpSp>
      </p:grpSp>
      <p:sp>
        <p:nvSpPr>
          <p:cNvPr id="112" name="TextBox 112"/>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10</a:t>
              </a:r>
            </a:p>
          </p:txBody>
        </p:sp>
        <p:sp>
          <p:nvSpPr>
            <p:cNvPr id="4" name="TextBox 4"/>
            <p:cNvSpPr txBox="1"/>
            <p:nvPr/>
          </p:nvSpPr>
          <p:spPr>
            <a:xfrm>
              <a:off x="942594" y="151448"/>
              <a:ext cx="8514207"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2.2 运营能力｜构建</a:t>
              </a:r>
              <a:r>
                <a:rPr lang="zh-CN" sz="1950" b="1" dirty="0">
                  <a:solidFill>
                    <a:srgbClr val="E74726"/>
                  </a:solidFill>
                  <a:latin typeface="SimSun"/>
                  <a:ea typeface="SimSun"/>
                  <a:cs typeface="SimSun"/>
                </a:rPr>
                <a:t>四大运营能力</a:t>
              </a:r>
              <a:r>
                <a:rPr lang="zh-CN" sz="1950" b="1" dirty="0">
                  <a:solidFill>
                    <a:srgbClr val="1F1F1F"/>
                  </a:solidFill>
                  <a:latin typeface="SimSun"/>
                  <a:ea typeface="SimSun"/>
                  <a:cs typeface="SimSun"/>
                </a:rPr>
                <a:t>，支撑长尾分层分群策略落地执行​</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512814" cy="551260"/>
            <a:chOff x="566166" y="667702"/>
            <a:chExt cx="6512814" cy="551260"/>
          </a:xfrm>
        </p:grpSpPr>
        <p:sp>
          <p:nvSpPr>
            <p:cNvPr id="8" name="TextBox 8"/>
            <p:cNvSpPr txBox="1"/>
            <p:nvPr/>
          </p:nvSpPr>
          <p:spPr>
            <a:xfrm>
              <a:off x="566166" y="667702"/>
              <a:ext cx="6512814"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打造活动、产品、权益、渠道四大核心运营能力，通过资源匹配与渠道触达闭环，赋能分层分群策略落地</a:t>
              </a:r>
            </a:p>
          </p:txBody>
        </p:sp>
        <p:sp>
          <p:nvSpPr>
            <p:cNvPr id="9" name="TextBox 9"/>
            <p:cNvSpPr txBox="1"/>
            <p:nvPr/>
          </p:nvSpPr>
          <p:spPr>
            <a:xfrm>
              <a:off x="566738" y="887968"/>
              <a:ext cx="6336530"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在完成长尾客群的分层分群的经营方向后，下一步关键在于配套活动、产品、权益、渠道四大运营能力，通过客群圈选→资​​</a:t>
              </a:r>
            </a:p>
          </p:txBody>
        </p:sp>
        <p:sp>
          <p:nvSpPr>
            <p:cNvPr id="10" name="TextBox 10"/>
            <p:cNvSpPr txBox="1"/>
            <p:nvPr/>
          </p:nvSpPr>
          <p:spPr>
            <a:xfrm>
              <a:off x="566738" y="1049893"/>
              <a:ext cx="5254051"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源（活动/产品/权益）匹配→渠道触达→成效复盘的持续循环，实现对长尾客群的集约化、批量化经营​​</a:t>
              </a:r>
            </a:p>
          </p:txBody>
        </p:sp>
      </p:grpSp>
      <p:grpSp>
        <p:nvGrpSpPr>
          <p:cNvPr id="32" name="card-activity"/>
          <p:cNvGrpSpPr/>
          <p:nvPr/>
        </p:nvGrpSpPr>
        <p:grpSpPr>
          <a:xfrm>
            <a:off x="381000" y="1257300"/>
            <a:ext cx="2714625" cy="3505200"/>
            <a:chOff x="381000" y="1257300"/>
            <a:chExt cx="2714625" cy="3505200"/>
          </a:xfrm>
        </p:grpSpPr>
        <p:sp>
          <p:nvSpPr>
            <p:cNvPr id="12" name="Rectangle 12"/>
            <p:cNvSpPr/>
            <p:nvPr/>
          </p:nvSpPr>
          <p:spPr>
            <a:xfrm>
              <a:off x="381000" y="1257300"/>
              <a:ext cx="2714625" cy="3505200"/>
            </a:xfrm>
            <a:prstGeom prst="roundRect">
              <a:avLst>
                <a:gd name="adj" fmla="val 2807"/>
              </a:avLst>
            </a:prstGeom>
            <a:solidFill>
              <a:srgbClr val="FFFFFF"/>
            </a:solidFill>
            <a:ln w="9525">
              <a:solidFill>
                <a:srgbClr val="E3EBF7"/>
              </a:solidFill>
            </a:ln>
          </p:spPr>
        </p:sp>
        <p:sp>
          <p:nvSpPr>
            <p:cNvPr id="13" name="Ellipse 13"/>
            <p:cNvSpPr/>
            <p:nvPr/>
          </p:nvSpPr>
          <p:spPr>
            <a:xfrm>
              <a:off x="514350" y="1390650"/>
              <a:ext cx="381000" cy="381000"/>
            </a:xfrm>
            <a:prstGeom prst="ellipse">
              <a:avLst/>
            </a:prstGeom>
            <a:solidFill>
              <a:srgbClr val="E74726"/>
            </a:solidFill>
            <a:ln>
              <a:noFill/>
            </a:ln>
          </p:spPr>
        </p:sp>
        <p:grpSp>
          <p:nvGrpSpPr>
            <p:cNvPr id="16" name="Group 16"/>
            <p:cNvGrpSpPr/>
            <p:nvPr/>
          </p:nvGrpSpPr>
          <p:grpSpPr>
            <a:xfrm>
              <a:off x="638175" y="1496323"/>
              <a:ext cx="133350" cy="170552"/>
              <a:chOff x="638175" y="1496323"/>
              <a:chExt cx="133350" cy="170552"/>
            </a:xfrm>
          </p:grpSpPr>
          <p:sp>
            <p:nvSpPr>
              <p:cNvPr id="14" name="Freeform 14"/>
              <p:cNvSpPr/>
              <p:nvPr/>
            </p:nvSpPr>
            <p:spPr>
              <a:xfrm>
                <a:off x="638175" y="1496323"/>
                <a:ext cx="133350" cy="122029"/>
              </a:xfrm>
              <a:custGeom>
                <a:avLst/>
                <a:gdLst/>
                <a:ahLst/>
                <a:cxnLst/>
                <a:rect l="l" t="t" r="r" b="b"/>
                <a:pathLst>
                  <a:path w="133350" h="122029">
                    <a:moveTo>
                      <a:pt x="0" y="18152"/>
                    </a:moveTo>
                    <a:cubicBezTo>
                      <a:pt x="18519" y="0"/>
                      <a:pt x="48156" y="0"/>
                      <a:pt x="66675" y="18152"/>
                    </a:cubicBezTo>
                    <a:cubicBezTo>
                      <a:pt x="85194" y="36304"/>
                      <a:pt x="114831" y="36304"/>
                      <a:pt x="133350" y="18152"/>
                    </a:cubicBezTo>
                    <a:lnTo>
                      <a:pt x="133350" y="103877"/>
                    </a:lnTo>
                    <a:cubicBezTo>
                      <a:pt x="114831" y="122029"/>
                      <a:pt x="85194" y="122029"/>
                      <a:pt x="66675" y="103877"/>
                    </a:cubicBezTo>
                    <a:cubicBezTo>
                      <a:pt x="48156" y="85725"/>
                      <a:pt x="18519" y="85725"/>
                      <a:pt x="0" y="103877"/>
                    </a:cubicBezTo>
                    <a:lnTo>
                      <a:pt x="0" y="18152"/>
                    </a:lnTo>
                  </a:path>
                </a:pathLst>
              </a:custGeom>
              <a:noFill/>
              <a:ln w="19050">
                <a:solidFill>
                  <a:srgbClr val="FFFFFF"/>
                </a:solidFill>
              </a:ln>
            </p:spPr>
          </p:sp>
          <p:sp>
            <p:nvSpPr>
              <p:cNvPr id="15" name="Freeform 15"/>
              <p:cNvSpPr/>
              <p:nvPr/>
            </p:nvSpPr>
            <p:spPr>
              <a:xfrm>
                <a:off x="638175" y="1600200"/>
                <a:ext cx="9525" cy="66675"/>
              </a:xfrm>
              <a:custGeom>
                <a:avLst/>
                <a:gdLst/>
                <a:ahLst/>
                <a:cxnLst/>
                <a:rect l="l" t="t" r="r" b="b"/>
                <a:pathLst>
                  <a:path w="9525" h="66675">
                    <a:moveTo>
                      <a:pt x="0" y="66675"/>
                    </a:moveTo>
                    <a:lnTo>
                      <a:pt x="0" y="0"/>
                    </a:lnTo>
                  </a:path>
                </a:pathLst>
              </a:custGeom>
              <a:noFill/>
              <a:ln w="19050">
                <a:solidFill>
                  <a:srgbClr val="FFFFFF"/>
                </a:solidFill>
              </a:ln>
            </p:spPr>
          </p:sp>
        </p:grpSp>
        <p:sp>
          <p:nvSpPr>
            <p:cNvPr id="17" name="TextBox 17"/>
            <p:cNvSpPr txBox="1"/>
            <p:nvPr/>
          </p:nvSpPr>
          <p:spPr>
            <a:xfrm>
              <a:off x="965835" y="1516856"/>
              <a:ext cx="916076" cy="220028"/>
            </a:xfrm>
            <a:prstGeom prst="rect">
              <a:avLst/>
            </a:prstGeom>
            <a:noFill/>
            <a:ln>
              <a:noFill/>
            </a:ln>
          </p:spPr>
          <p:txBody>
            <a:bodyPr wrap="none" lIns="0" tIns="0" rIns="0" bIns="0" anchor="t" anchorCtr="0">
              <a:spAutoFit/>
            </a:bodyPr>
            <a:lstStyle/>
            <a:p>
              <a:pPr algn="l"/>
              <a:r>
                <a:rPr lang="zh-CN" sz="1120" b="1" dirty="0">
                  <a:solidFill>
                    <a:srgbClr val="1F1F1F"/>
                  </a:solidFill>
                  <a:latin typeface="+mn-lt"/>
                  <a:ea typeface="+mn-ea"/>
                  <a:cs typeface="+mn-cs"/>
                </a:rPr>
                <a:t>活动运营能力</a:t>
              </a:r>
            </a:p>
          </p:txBody>
        </p:sp>
        <p:sp>
          <p:nvSpPr>
            <p:cNvPr id="18" name="Rectangle 18"/>
            <p:cNvSpPr/>
            <p:nvPr/>
          </p:nvSpPr>
          <p:spPr>
            <a:xfrm>
              <a:off x="2257425" y="1390650"/>
              <a:ext cx="762000" cy="190500"/>
            </a:xfrm>
            <a:prstGeom prst="roundRect">
              <a:avLst>
                <a:gd name="adj" fmla="val 50000"/>
              </a:avLst>
            </a:prstGeom>
            <a:solidFill>
              <a:srgbClr val="E0462C"/>
            </a:solidFill>
            <a:ln>
              <a:noFill/>
            </a:ln>
          </p:spPr>
        </p:sp>
        <p:sp>
          <p:nvSpPr>
            <p:cNvPr id="19" name="TextBox 19"/>
            <p:cNvSpPr txBox="1"/>
            <p:nvPr/>
          </p:nvSpPr>
          <p:spPr>
            <a:xfrm>
              <a:off x="2442502" y="14470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营销钩子</a:t>
              </a:r>
            </a:p>
          </p:txBody>
        </p:sp>
        <p:sp>
          <p:nvSpPr>
            <p:cNvPr id="20" name="Rectangle 20"/>
            <p:cNvSpPr/>
            <p:nvPr/>
          </p:nvSpPr>
          <p:spPr>
            <a:xfrm>
              <a:off x="533400" y="1866900"/>
              <a:ext cx="2409825" cy="400050"/>
            </a:xfrm>
            <a:prstGeom prst="roundRect">
              <a:avLst>
                <a:gd name="adj" fmla="val 50000"/>
              </a:avLst>
            </a:prstGeom>
            <a:solidFill>
              <a:srgbClr val="FFFFFF"/>
            </a:solidFill>
            <a:ln w="9525">
              <a:solidFill>
                <a:srgbClr val="E74726"/>
              </a:solidFill>
            </a:ln>
          </p:spPr>
        </p:sp>
        <p:sp>
          <p:nvSpPr>
            <p:cNvPr id="21" name="TextBox 21"/>
            <p:cNvSpPr txBox="1"/>
            <p:nvPr/>
          </p:nvSpPr>
          <p:spPr>
            <a:xfrm>
              <a:off x="1452816" y="1939766"/>
              <a:ext cx="561467"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阶梯式设计</a:t>
              </a:r>
            </a:p>
          </p:txBody>
        </p:sp>
        <p:sp>
          <p:nvSpPr>
            <p:cNvPr id="22" name="TextBox 22"/>
            <p:cNvSpPr txBox="1"/>
            <p:nvPr/>
          </p:nvSpPr>
          <p:spPr>
            <a:xfrm>
              <a:off x="1287234" y="2101691"/>
              <a:ext cx="892632"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引导客户价值跃迁</a:t>
              </a:r>
            </a:p>
          </p:txBody>
        </p:sp>
        <p:sp>
          <p:nvSpPr>
            <p:cNvPr id="23" name="Rectangle 23"/>
            <p:cNvSpPr/>
            <p:nvPr/>
          </p:nvSpPr>
          <p:spPr>
            <a:xfrm>
              <a:off x="533400" y="2362200"/>
              <a:ext cx="2409825" cy="685800"/>
            </a:xfrm>
            <a:prstGeom prst="roundRect">
              <a:avLst>
                <a:gd name="adj" fmla="val 5556"/>
              </a:avLst>
            </a:prstGeom>
            <a:solidFill>
              <a:srgbClr val="FFFFFF"/>
            </a:solidFill>
            <a:ln w="9525">
              <a:solidFill>
                <a:srgbClr val="F7D1C9"/>
              </a:solidFill>
              <a:custDash>
                <a:ds d="300000" sp="300000"/>
              </a:custDash>
            </a:ln>
          </p:spPr>
        </p:sp>
        <p:sp>
          <p:nvSpPr>
            <p:cNvPr id="24" name="TextBox 24"/>
            <p:cNvSpPr txBox="1"/>
            <p:nvPr/>
          </p:nvSpPr>
          <p:spPr>
            <a:xfrm>
              <a:off x="623888" y="2505789"/>
              <a:ext cx="160477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支付绑卡：</a:t>
              </a:r>
              <a:r>
                <a:rPr lang="zh-CN" sz="790" dirty="0">
                  <a:solidFill>
                    <a:srgbClr val="523833"/>
                  </a:solidFill>
                  <a:latin typeface="+mn-lt"/>
                  <a:ea typeface="+mn-ea"/>
                  <a:cs typeface="+mn-cs"/>
                </a:rPr>
                <a:t>降低门槛，放大即时权</a:t>
              </a:r>
            </a:p>
          </p:txBody>
        </p:sp>
        <p:sp>
          <p:nvSpPr>
            <p:cNvPr id="25" name="TextBox 25"/>
            <p:cNvSpPr txBox="1"/>
            <p:nvPr/>
          </p:nvSpPr>
          <p:spPr>
            <a:xfrm>
              <a:off x="623888" y="267723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益，驱动客户迈出首步。</a:t>
              </a:r>
            </a:p>
          </p:txBody>
        </p:sp>
        <p:sp>
          <p:nvSpPr>
            <p:cNvPr id="26" name="Rectangle 26"/>
            <p:cNvSpPr/>
            <p:nvPr/>
          </p:nvSpPr>
          <p:spPr>
            <a:xfrm>
              <a:off x="533400" y="3124200"/>
              <a:ext cx="2409825" cy="685800"/>
            </a:xfrm>
            <a:prstGeom prst="roundRect">
              <a:avLst>
                <a:gd name="adj" fmla="val 5556"/>
              </a:avLst>
            </a:prstGeom>
            <a:solidFill>
              <a:srgbClr val="FFFFFF"/>
            </a:solidFill>
            <a:ln w="9525">
              <a:solidFill>
                <a:srgbClr val="F7D1C9"/>
              </a:solidFill>
              <a:custDash>
                <a:ds d="300000" sp="300000"/>
              </a:custDash>
            </a:ln>
          </p:spPr>
        </p:sp>
        <p:sp>
          <p:nvSpPr>
            <p:cNvPr id="27" name="TextBox 27"/>
            <p:cNvSpPr txBox="1"/>
            <p:nvPr/>
          </p:nvSpPr>
          <p:spPr>
            <a:xfrm>
              <a:off x="623888" y="3267789"/>
              <a:ext cx="160477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生活消费：</a:t>
              </a:r>
              <a:r>
                <a:rPr lang="zh-CN" sz="790" dirty="0">
                  <a:solidFill>
                    <a:srgbClr val="523833"/>
                  </a:solidFill>
                  <a:latin typeface="+mn-lt"/>
                  <a:ea typeface="+mn-ea"/>
                  <a:cs typeface="+mn-cs"/>
                </a:rPr>
                <a:t>以高频场景激活账户，</a:t>
              </a:r>
            </a:p>
          </p:txBody>
        </p:sp>
        <p:sp>
          <p:nvSpPr>
            <p:cNvPr id="28" name="TextBox 28"/>
            <p:cNvSpPr txBox="1"/>
            <p:nvPr/>
          </p:nvSpPr>
          <p:spPr>
            <a:xfrm>
              <a:off x="623888" y="343923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从绑而不用转向高频活户。</a:t>
              </a:r>
            </a:p>
          </p:txBody>
        </p:sp>
        <p:sp>
          <p:nvSpPr>
            <p:cNvPr id="29" name="Rectangle 29"/>
            <p:cNvSpPr/>
            <p:nvPr/>
          </p:nvSpPr>
          <p:spPr>
            <a:xfrm>
              <a:off x="533400" y="3886200"/>
              <a:ext cx="2409825" cy="685800"/>
            </a:xfrm>
            <a:prstGeom prst="roundRect">
              <a:avLst>
                <a:gd name="adj" fmla="val 5556"/>
              </a:avLst>
            </a:prstGeom>
            <a:solidFill>
              <a:srgbClr val="FFFFFF"/>
            </a:solidFill>
            <a:ln w="9525">
              <a:solidFill>
                <a:srgbClr val="F7D1C9"/>
              </a:solidFill>
              <a:custDash>
                <a:ds d="300000" sp="300000"/>
              </a:custDash>
            </a:ln>
          </p:spPr>
        </p:sp>
        <p:sp>
          <p:nvSpPr>
            <p:cNvPr id="30" name="TextBox 30"/>
            <p:cNvSpPr txBox="1"/>
            <p:nvPr/>
          </p:nvSpPr>
          <p:spPr>
            <a:xfrm>
              <a:off x="623888" y="4029789"/>
              <a:ext cx="160477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财富进阶：</a:t>
              </a:r>
              <a:r>
                <a:rPr lang="zh-CN" sz="790" dirty="0">
                  <a:solidFill>
                    <a:srgbClr val="523833"/>
                  </a:solidFill>
                  <a:latin typeface="+mn-lt"/>
                  <a:ea typeface="+mn-ea"/>
                  <a:cs typeface="+mn-cs"/>
                </a:rPr>
                <a:t>引导资金向高价值资产</a:t>
              </a:r>
            </a:p>
          </p:txBody>
        </p:sp>
        <p:sp>
          <p:nvSpPr>
            <p:cNvPr id="31" name="TextBox 31"/>
            <p:cNvSpPr txBox="1"/>
            <p:nvPr/>
          </p:nvSpPr>
          <p:spPr>
            <a:xfrm>
              <a:off x="623888" y="4201239"/>
              <a:ext cx="14984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迁移，实现客户资产实质增长。</a:t>
              </a:r>
            </a:p>
          </p:txBody>
        </p:sp>
      </p:grpSp>
      <p:grpSp>
        <p:nvGrpSpPr>
          <p:cNvPr id="55" name="card-product"/>
          <p:cNvGrpSpPr/>
          <p:nvPr/>
        </p:nvGrpSpPr>
        <p:grpSpPr>
          <a:xfrm>
            <a:off x="3286125" y="1257300"/>
            <a:ext cx="2714625" cy="3505200"/>
            <a:chOff x="3286125" y="1257300"/>
            <a:chExt cx="2714625" cy="3505200"/>
          </a:xfrm>
        </p:grpSpPr>
        <p:sp>
          <p:nvSpPr>
            <p:cNvPr id="33" name="Rectangle 33"/>
            <p:cNvSpPr/>
            <p:nvPr/>
          </p:nvSpPr>
          <p:spPr>
            <a:xfrm>
              <a:off x="3286125" y="1257300"/>
              <a:ext cx="2714625" cy="3505200"/>
            </a:xfrm>
            <a:prstGeom prst="roundRect">
              <a:avLst>
                <a:gd name="adj" fmla="val 2807"/>
              </a:avLst>
            </a:prstGeom>
            <a:solidFill>
              <a:srgbClr val="FFFFFF"/>
            </a:solidFill>
            <a:ln w="9525">
              <a:solidFill>
                <a:srgbClr val="E3EBF7"/>
              </a:solidFill>
            </a:ln>
          </p:spPr>
        </p:sp>
        <p:sp>
          <p:nvSpPr>
            <p:cNvPr id="34" name="Ellipse 34"/>
            <p:cNvSpPr/>
            <p:nvPr/>
          </p:nvSpPr>
          <p:spPr>
            <a:xfrm>
              <a:off x="3419475" y="1390650"/>
              <a:ext cx="381000" cy="381000"/>
            </a:xfrm>
            <a:prstGeom prst="ellipse">
              <a:avLst/>
            </a:prstGeom>
            <a:solidFill>
              <a:srgbClr val="E74726"/>
            </a:solidFill>
            <a:ln>
              <a:noFill/>
            </a:ln>
          </p:spPr>
        </p:sp>
        <p:grpSp>
          <p:nvGrpSpPr>
            <p:cNvPr id="39" name="Group 39"/>
            <p:cNvGrpSpPr/>
            <p:nvPr/>
          </p:nvGrpSpPr>
          <p:grpSpPr>
            <a:xfrm>
              <a:off x="3524250" y="1495425"/>
              <a:ext cx="171450" cy="161925"/>
              <a:chOff x="3524250" y="1495425"/>
              <a:chExt cx="171450" cy="161925"/>
            </a:xfrm>
          </p:grpSpPr>
          <p:sp>
            <p:nvSpPr>
              <p:cNvPr id="35" name="Freeform 35"/>
              <p:cNvSpPr/>
              <p:nvPr/>
            </p:nvSpPr>
            <p:spPr>
              <a:xfrm>
                <a:off x="3524250" y="153352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FFFFFF"/>
                </a:solidFill>
              </a:ln>
            </p:spPr>
          </p:sp>
          <p:sp>
            <p:nvSpPr>
              <p:cNvPr id="36" name="Freeform 36"/>
              <p:cNvSpPr/>
              <p:nvPr/>
            </p:nvSpPr>
            <p:spPr>
              <a:xfrm>
                <a:off x="3571875" y="149542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FFFFFF"/>
                </a:solidFill>
              </a:ln>
            </p:spPr>
          </p:sp>
          <p:sp>
            <p:nvSpPr>
              <p:cNvPr id="37" name="Freeform 37"/>
              <p:cNvSpPr/>
              <p:nvPr/>
            </p:nvSpPr>
            <p:spPr>
              <a:xfrm>
                <a:off x="3609975" y="1581150"/>
                <a:ext cx="9525" cy="9525"/>
              </a:xfrm>
              <a:custGeom>
                <a:avLst/>
                <a:gdLst/>
                <a:ahLst/>
                <a:cxnLst/>
                <a:rect l="l" t="t" r="r" b="b"/>
                <a:pathLst>
                  <a:path w="9525" h="9525">
                    <a:moveTo>
                      <a:pt x="0" y="0"/>
                    </a:moveTo>
                    <a:lnTo>
                      <a:pt x="0" y="95"/>
                    </a:lnTo>
                  </a:path>
                </a:pathLst>
              </a:custGeom>
              <a:noFill/>
              <a:ln w="19050">
                <a:solidFill>
                  <a:srgbClr val="FFFFFF"/>
                </a:solidFill>
              </a:ln>
            </p:spPr>
          </p:sp>
          <p:sp>
            <p:nvSpPr>
              <p:cNvPr id="38" name="Freeform 38"/>
              <p:cNvSpPr/>
              <p:nvPr/>
            </p:nvSpPr>
            <p:spPr>
              <a:xfrm>
                <a:off x="3524250" y="159067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FFFFFF"/>
                </a:solidFill>
              </a:ln>
            </p:spPr>
          </p:sp>
        </p:grpSp>
        <p:sp>
          <p:nvSpPr>
            <p:cNvPr id="40" name="TextBox 40"/>
            <p:cNvSpPr txBox="1"/>
            <p:nvPr/>
          </p:nvSpPr>
          <p:spPr>
            <a:xfrm>
              <a:off x="3870960" y="1516856"/>
              <a:ext cx="916076" cy="220028"/>
            </a:xfrm>
            <a:prstGeom prst="rect">
              <a:avLst/>
            </a:prstGeom>
            <a:noFill/>
            <a:ln>
              <a:noFill/>
            </a:ln>
          </p:spPr>
          <p:txBody>
            <a:bodyPr wrap="none" lIns="0" tIns="0" rIns="0" bIns="0" anchor="t" anchorCtr="0">
              <a:spAutoFit/>
            </a:bodyPr>
            <a:lstStyle/>
            <a:p>
              <a:pPr algn="l"/>
              <a:r>
                <a:rPr lang="zh-CN" sz="1120" b="1" dirty="0">
                  <a:solidFill>
                    <a:srgbClr val="1F1F1F"/>
                  </a:solidFill>
                  <a:latin typeface="+mn-lt"/>
                  <a:ea typeface="+mn-ea"/>
                  <a:cs typeface="+mn-cs"/>
                </a:rPr>
                <a:t>产品运营能力</a:t>
              </a:r>
            </a:p>
          </p:txBody>
        </p:sp>
        <p:sp>
          <p:nvSpPr>
            <p:cNvPr id="41" name="Rectangle 41"/>
            <p:cNvSpPr/>
            <p:nvPr/>
          </p:nvSpPr>
          <p:spPr>
            <a:xfrm>
              <a:off x="5162550" y="1390650"/>
              <a:ext cx="762000" cy="190500"/>
            </a:xfrm>
            <a:prstGeom prst="roundRect">
              <a:avLst>
                <a:gd name="adj" fmla="val 50000"/>
              </a:avLst>
            </a:prstGeom>
            <a:solidFill>
              <a:srgbClr val="E0462C"/>
            </a:solidFill>
            <a:ln>
              <a:noFill/>
            </a:ln>
          </p:spPr>
        </p:sp>
        <p:sp>
          <p:nvSpPr>
            <p:cNvPr id="42" name="TextBox 42"/>
            <p:cNvSpPr txBox="1"/>
            <p:nvPr/>
          </p:nvSpPr>
          <p:spPr>
            <a:xfrm>
              <a:off x="5347627" y="14470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转化基石</a:t>
              </a:r>
            </a:p>
          </p:txBody>
        </p:sp>
        <p:sp>
          <p:nvSpPr>
            <p:cNvPr id="43" name="Rectangle 43"/>
            <p:cNvSpPr/>
            <p:nvPr/>
          </p:nvSpPr>
          <p:spPr>
            <a:xfrm>
              <a:off x="3438525" y="1866900"/>
              <a:ext cx="2409825" cy="400050"/>
            </a:xfrm>
            <a:prstGeom prst="roundRect">
              <a:avLst>
                <a:gd name="adj" fmla="val 50000"/>
              </a:avLst>
            </a:prstGeom>
            <a:solidFill>
              <a:srgbClr val="FFFFFF"/>
            </a:solidFill>
            <a:ln w="9525">
              <a:solidFill>
                <a:srgbClr val="E74726"/>
              </a:solidFill>
            </a:ln>
          </p:spPr>
        </p:sp>
        <p:sp>
          <p:nvSpPr>
            <p:cNvPr id="44" name="TextBox 44"/>
            <p:cNvSpPr txBox="1"/>
            <p:nvPr/>
          </p:nvSpPr>
          <p:spPr>
            <a:xfrm>
              <a:off x="3916388" y="1939766"/>
              <a:ext cx="1444574"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轻量化体系、去专业化呈现，</a:t>
              </a:r>
            </a:p>
          </p:txBody>
        </p:sp>
        <p:sp>
          <p:nvSpPr>
            <p:cNvPr id="45" name="TextBox 45"/>
            <p:cNvSpPr txBox="1"/>
            <p:nvPr/>
          </p:nvSpPr>
          <p:spPr>
            <a:xfrm>
              <a:off x="4413136" y="2101691"/>
              <a:ext cx="451079"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激发需求</a:t>
              </a:r>
            </a:p>
          </p:txBody>
        </p:sp>
        <p:sp>
          <p:nvSpPr>
            <p:cNvPr id="46" name="Rectangle 46"/>
            <p:cNvSpPr/>
            <p:nvPr/>
          </p:nvSpPr>
          <p:spPr>
            <a:xfrm>
              <a:off x="3438525" y="2362200"/>
              <a:ext cx="2409825" cy="685800"/>
            </a:xfrm>
            <a:prstGeom prst="roundRect">
              <a:avLst>
                <a:gd name="adj" fmla="val 5556"/>
              </a:avLst>
            </a:prstGeom>
            <a:solidFill>
              <a:srgbClr val="FFFFFF"/>
            </a:solidFill>
            <a:ln w="9525">
              <a:solidFill>
                <a:srgbClr val="F7D1C9"/>
              </a:solidFill>
              <a:custDash>
                <a:ds d="300000" sp="300000"/>
              </a:custDash>
            </a:ln>
          </p:spPr>
        </p:sp>
        <p:sp>
          <p:nvSpPr>
            <p:cNvPr id="47" name="TextBox 47"/>
            <p:cNvSpPr txBox="1"/>
            <p:nvPr/>
          </p:nvSpPr>
          <p:spPr>
            <a:xfrm>
              <a:off x="3529012" y="2505789"/>
              <a:ext cx="160477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极致亲民：</a:t>
              </a:r>
              <a:r>
                <a:rPr lang="zh-CN" sz="790" dirty="0">
                  <a:solidFill>
                    <a:srgbClr val="523833"/>
                  </a:solidFill>
                  <a:latin typeface="+mn-lt"/>
                  <a:ea typeface="+mn-ea"/>
                  <a:cs typeface="+mn-cs"/>
                </a:rPr>
                <a:t>随存随取、超低起购，</a:t>
              </a:r>
            </a:p>
          </p:txBody>
        </p:sp>
        <p:sp>
          <p:nvSpPr>
            <p:cNvPr id="48" name="TextBox 48"/>
            <p:cNvSpPr txBox="1"/>
            <p:nvPr/>
          </p:nvSpPr>
          <p:spPr>
            <a:xfrm>
              <a:off x="3529012" y="267723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降低客户尝试与决策门槛。</a:t>
              </a:r>
            </a:p>
          </p:txBody>
        </p:sp>
        <p:sp>
          <p:nvSpPr>
            <p:cNvPr id="49" name="Rectangle 49"/>
            <p:cNvSpPr/>
            <p:nvPr/>
          </p:nvSpPr>
          <p:spPr>
            <a:xfrm>
              <a:off x="3438525" y="3124200"/>
              <a:ext cx="2409825" cy="685800"/>
            </a:xfrm>
            <a:prstGeom prst="roundRect">
              <a:avLst>
                <a:gd name="adj" fmla="val 5556"/>
              </a:avLst>
            </a:prstGeom>
            <a:solidFill>
              <a:srgbClr val="FFFFFF"/>
            </a:solidFill>
            <a:ln w="9525">
              <a:solidFill>
                <a:srgbClr val="F7D1C9"/>
              </a:solidFill>
              <a:custDash>
                <a:ds d="300000" sp="300000"/>
              </a:custDash>
            </a:ln>
          </p:spPr>
        </p:sp>
        <p:sp>
          <p:nvSpPr>
            <p:cNvPr id="50" name="TextBox 50"/>
            <p:cNvSpPr txBox="1"/>
            <p:nvPr/>
          </p:nvSpPr>
          <p:spPr>
            <a:xfrm>
              <a:off x="3529012" y="3267789"/>
              <a:ext cx="171112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去专业化：</a:t>
              </a:r>
              <a:r>
                <a:rPr lang="zh-CN" sz="790" dirty="0">
                  <a:solidFill>
                    <a:srgbClr val="523833"/>
                  </a:solidFill>
                  <a:latin typeface="+mn-lt"/>
                  <a:ea typeface="+mn-ea"/>
                  <a:cs typeface="+mn-cs"/>
                </a:rPr>
                <a:t>标语通俗、场景具象化，</a:t>
              </a:r>
            </a:p>
          </p:txBody>
        </p:sp>
        <p:sp>
          <p:nvSpPr>
            <p:cNvPr id="51" name="TextBox 51"/>
            <p:cNvSpPr txBox="1"/>
            <p:nvPr/>
          </p:nvSpPr>
          <p:spPr>
            <a:xfrm>
              <a:off x="3529012" y="343923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贴合生活，增强直观感知。</a:t>
              </a:r>
            </a:p>
          </p:txBody>
        </p:sp>
        <p:sp>
          <p:nvSpPr>
            <p:cNvPr id="52" name="Rectangle 52"/>
            <p:cNvSpPr/>
            <p:nvPr/>
          </p:nvSpPr>
          <p:spPr>
            <a:xfrm>
              <a:off x="3438525" y="3886200"/>
              <a:ext cx="2409825" cy="685800"/>
            </a:xfrm>
            <a:prstGeom prst="roundRect">
              <a:avLst>
                <a:gd name="adj" fmla="val 5556"/>
              </a:avLst>
            </a:prstGeom>
            <a:solidFill>
              <a:srgbClr val="FFFFFF"/>
            </a:solidFill>
            <a:ln w="9525">
              <a:solidFill>
                <a:srgbClr val="F7D1C9"/>
              </a:solidFill>
              <a:custDash>
                <a:ds d="300000" sp="300000"/>
              </a:custDash>
            </a:ln>
          </p:spPr>
        </p:sp>
        <p:sp>
          <p:nvSpPr>
            <p:cNvPr id="53" name="TextBox 53"/>
            <p:cNvSpPr txBox="1"/>
            <p:nvPr/>
          </p:nvSpPr>
          <p:spPr>
            <a:xfrm>
              <a:off x="3529012" y="4029789"/>
              <a:ext cx="175366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资金闭环：</a:t>
              </a:r>
              <a:r>
                <a:rPr lang="zh-CN" sz="790" dirty="0">
                  <a:solidFill>
                    <a:srgbClr val="523833"/>
                  </a:solidFill>
                  <a:latin typeface="+mn-lt"/>
                  <a:ea typeface="+mn-ea"/>
                  <a:cs typeface="+mn-cs"/>
                </a:rPr>
                <a:t>打通“赚钱”与“用钱”​​​​</a:t>
              </a:r>
            </a:p>
          </p:txBody>
        </p:sp>
        <p:sp>
          <p:nvSpPr>
            <p:cNvPr id="54" name="TextBox 54"/>
            <p:cNvSpPr txBox="1"/>
            <p:nvPr/>
          </p:nvSpPr>
          <p:spPr>
            <a:xfrm>
              <a:off x="3529012" y="4201239"/>
              <a:ext cx="166326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场景，实现资金自动留存与复投。​</a:t>
              </a:r>
            </a:p>
          </p:txBody>
        </p:sp>
      </p:grpSp>
      <p:grpSp>
        <p:nvGrpSpPr>
          <p:cNvPr id="78" name="card-rights"/>
          <p:cNvGrpSpPr/>
          <p:nvPr/>
        </p:nvGrpSpPr>
        <p:grpSpPr>
          <a:xfrm>
            <a:off x="6191250" y="1257300"/>
            <a:ext cx="2714625" cy="3505200"/>
            <a:chOff x="6191250" y="1257300"/>
            <a:chExt cx="2714625" cy="3505200"/>
          </a:xfrm>
        </p:grpSpPr>
        <p:sp>
          <p:nvSpPr>
            <p:cNvPr id="56" name="Rectangle 56"/>
            <p:cNvSpPr/>
            <p:nvPr/>
          </p:nvSpPr>
          <p:spPr>
            <a:xfrm>
              <a:off x="6191250" y="1257300"/>
              <a:ext cx="2714625" cy="3505200"/>
            </a:xfrm>
            <a:prstGeom prst="roundRect">
              <a:avLst>
                <a:gd name="adj" fmla="val 2807"/>
              </a:avLst>
            </a:prstGeom>
            <a:solidFill>
              <a:srgbClr val="FFFFFF"/>
            </a:solidFill>
            <a:ln w="9525">
              <a:solidFill>
                <a:srgbClr val="E3EBF7"/>
              </a:solidFill>
            </a:ln>
          </p:spPr>
        </p:sp>
        <p:sp>
          <p:nvSpPr>
            <p:cNvPr id="57" name="Ellipse 57"/>
            <p:cNvSpPr/>
            <p:nvPr/>
          </p:nvSpPr>
          <p:spPr>
            <a:xfrm>
              <a:off x="6324600" y="1390650"/>
              <a:ext cx="381000" cy="381000"/>
            </a:xfrm>
            <a:prstGeom prst="ellipse">
              <a:avLst/>
            </a:prstGeom>
            <a:solidFill>
              <a:srgbClr val="E74726"/>
            </a:solidFill>
            <a:ln>
              <a:noFill/>
            </a:ln>
          </p:spPr>
        </p:sp>
        <p:grpSp>
          <p:nvGrpSpPr>
            <p:cNvPr id="62" name="Group 62"/>
            <p:cNvGrpSpPr/>
            <p:nvPr/>
          </p:nvGrpSpPr>
          <p:grpSpPr>
            <a:xfrm>
              <a:off x="6429375" y="1495097"/>
              <a:ext cx="171450" cy="171778"/>
              <a:chOff x="6429375" y="1495097"/>
              <a:chExt cx="171450" cy="171778"/>
            </a:xfrm>
          </p:grpSpPr>
          <p:sp>
            <p:nvSpPr>
              <p:cNvPr id="58" name="Freeform 58"/>
              <p:cNvSpPr/>
              <p:nvPr/>
            </p:nvSpPr>
            <p:spPr>
              <a:xfrm>
                <a:off x="6429375" y="1543050"/>
                <a:ext cx="171450" cy="38100"/>
              </a:xfrm>
              <a:custGeom>
                <a:avLst/>
                <a:gdLst/>
                <a:ahLst/>
                <a:cxnLst/>
                <a:rect l="l" t="t" r="r" b="b"/>
                <a:pathLst>
                  <a:path w="171450" h="38100">
                    <a:moveTo>
                      <a:pt x="0" y="9525"/>
                    </a:moveTo>
                    <a:cubicBezTo>
                      <a:pt x="0" y="4264"/>
                      <a:pt x="4264" y="0"/>
                      <a:pt x="9525" y="0"/>
                    </a:cubicBezTo>
                    <a:lnTo>
                      <a:pt x="161925" y="0"/>
                    </a:lnTo>
                    <a:cubicBezTo>
                      <a:pt x="167186" y="0"/>
                      <a:pt x="171450" y="4264"/>
                      <a:pt x="171450" y="9525"/>
                    </a:cubicBezTo>
                    <a:lnTo>
                      <a:pt x="171450" y="28575"/>
                    </a:lnTo>
                    <a:cubicBezTo>
                      <a:pt x="171450" y="33836"/>
                      <a:pt x="167186" y="38100"/>
                      <a:pt x="161925" y="38100"/>
                    </a:cubicBezTo>
                    <a:lnTo>
                      <a:pt x="9525" y="38100"/>
                    </a:lnTo>
                    <a:cubicBezTo>
                      <a:pt x="4264" y="38100"/>
                      <a:pt x="0" y="33836"/>
                      <a:pt x="0" y="28575"/>
                    </a:cubicBezTo>
                    <a:lnTo>
                      <a:pt x="0" y="9525"/>
                    </a:lnTo>
                  </a:path>
                </a:pathLst>
              </a:custGeom>
              <a:noFill/>
              <a:ln w="19050">
                <a:solidFill>
                  <a:srgbClr val="FFFFFF"/>
                </a:solidFill>
              </a:ln>
            </p:spPr>
          </p:sp>
          <p:sp>
            <p:nvSpPr>
              <p:cNvPr id="59" name="Freeform 59"/>
              <p:cNvSpPr/>
              <p:nvPr/>
            </p:nvSpPr>
            <p:spPr>
              <a:xfrm>
                <a:off x="6515100" y="1543050"/>
                <a:ext cx="9525" cy="123825"/>
              </a:xfrm>
              <a:custGeom>
                <a:avLst/>
                <a:gdLst/>
                <a:ahLst/>
                <a:cxnLst/>
                <a:rect l="l" t="t" r="r" b="b"/>
                <a:pathLst>
                  <a:path w="9525" h="123825">
                    <a:moveTo>
                      <a:pt x="0" y="0"/>
                    </a:moveTo>
                    <a:lnTo>
                      <a:pt x="0" y="123825"/>
                    </a:lnTo>
                  </a:path>
                </a:pathLst>
              </a:custGeom>
              <a:noFill/>
              <a:ln w="19050">
                <a:solidFill>
                  <a:srgbClr val="FFFFFF"/>
                </a:solidFill>
              </a:ln>
            </p:spPr>
          </p:sp>
          <p:sp>
            <p:nvSpPr>
              <p:cNvPr id="60" name="Freeform 60"/>
              <p:cNvSpPr/>
              <p:nvPr/>
            </p:nvSpPr>
            <p:spPr>
              <a:xfrm>
                <a:off x="6448425" y="1581150"/>
                <a:ext cx="133350" cy="85725"/>
              </a:xfrm>
              <a:custGeom>
                <a:avLst/>
                <a:gdLst/>
                <a:ahLst/>
                <a:cxnLst/>
                <a:rect l="l" t="t" r="r" b="b"/>
                <a:pathLst>
                  <a:path w="133350" h="85725">
                    <a:moveTo>
                      <a:pt x="133350" y="0"/>
                    </a:moveTo>
                    <a:lnTo>
                      <a:pt x="133350" y="66675"/>
                    </a:lnTo>
                    <a:cubicBezTo>
                      <a:pt x="133350" y="77196"/>
                      <a:pt x="124821" y="85725"/>
                      <a:pt x="114300" y="85725"/>
                    </a:cubicBezTo>
                    <a:lnTo>
                      <a:pt x="19050" y="85725"/>
                    </a:lnTo>
                    <a:cubicBezTo>
                      <a:pt x="8529" y="85725"/>
                      <a:pt x="0" y="77196"/>
                      <a:pt x="0" y="66675"/>
                    </a:cubicBezTo>
                    <a:lnTo>
                      <a:pt x="0" y="0"/>
                    </a:lnTo>
                  </a:path>
                </a:pathLst>
              </a:custGeom>
              <a:noFill/>
              <a:ln w="19050">
                <a:solidFill>
                  <a:srgbClr val="FFFFFF"/>
                </a:solidFill>
              </a:ln>
            </p:spPr>
          </p:sp>
          <p:sp>
            <p:nvSpPr>
              <p:cNvPr id="61" name="Freeform 61"/>
              <p:cNvSpPr/>
              <p:nvPr/>
            </p:nvSpPr>
            <p:spPr>
              <a:xfrm>
                <a:off x="6448425" y="1495097"/>
                <a:ext cx="133350" cy="47953"/>
              </a:xfrm>
              <a:custGeom>
                <a:avLst/>
                <a:gdLst/>
                <a:ahLst/>
                <a:cxnLst/>
                <a:rect l="l" t="t" r="r" b="b"/>
                <a:pathLst>
                  <a:path w="133350" h="47953">
                    <a:moveTo>
                      <a:pt x="23812" y="47953"/>
                    </a:moveTo>
                    <a:cubicBezTo>
                      <a:pt x="10661" y="47953"/>
                      <a:pt x="0" y="37291"/>
                      <a:pt x="0" y="24140"/>
                    </a:cubicBezTo>
                    <a:cubicBezTo>
                      <a:pt x="0" y="10989"/>
                      <a:pt x="10661" y="328"/>
                      <a:pt x="23812" y="328"/>
                    </a:cubicBezTo>
                    <a:cubicBezTo>
                      <a:pt x="42617" y="0"/>
                      <a:pt x="59624" y="18897"/>
                      <a:pt x="66675" y="47953"/>
                    </a:cubicBezTo>
                    <a:cubicBezTo>
                      <a:pt x="73726" y="18897"/>
                      <a:pt x="90733" y="0"/>
                      <a:pt x="109538" y="328"/>
                    </a:cubicBezTo>
                    <a:cubicBezTo>
                      <a:pt x="122689" y="328"/>
                      <a:pt x="133350" y="10989"/>
                      <a:pt x="133350" y="24140"/>
                    </a:cubicBezTo>
                    <a:cubicBezTo>
                      <a:pt x="133350" y="37291"/>
                      <a:pt x="122689" y="47953"/>
                      <a:pt x="109538" y="47953"/>
                    </a:cubicBezTo>
                  </a:path>
                </a:pathLst>
              </a:custGeom>
              <a:noFill/>
              <a:ln w="19050">
                <a:solidFill>
                  <a:srgbClr val="FFFFFF"/>
                </a:solidFill>
              </a:ln>
            </p:spPr>
          </p:sp>
        </p:grpSp>
        <p:sp>
          <p:nvSpPr>
            <p:cNvPr id="63" name="TextBox 63"/>
            <p:cNvSpPr txBox="1"/>
            <p:nvPr/>
          </p:nvSpPr>
          <p:spPr>
            <a:xfrm>
              <a:off x="6776085" y="1516856"/>
              <a:ext cx="916076" cy="220028"/>
            </a:xfrm>
            <a:prstGeom prst="rect">
              <a:avLst/>
            </a:prstGeom>
            <a:noFill/>
            <a:ln>
              <a:noFill/>
            </a:ln>
          </p:spPr>
          <p:txBody>
            <a:bodyPr wrap="none" lIns="0" tIns="0" rIns="0" bIns="0" anchor="t" anchorCtr="0">
              <a:spAutoFit/>
            </a:bodyPr>
            <a:lstStyle/>
            <a:p>
              <a:pPr algn="l"/>
              <a:r>
                <a:rPr lang="zh-CN" sz="1120" b="1" dirty="0">
                  <a:solidFill>
                    <a:srgbClr val="1F1F1F"/>
                  </a:solidFill>
                  <a:latin typeface="+mn-lt"/>
                  <a:ea typeface="+mn-ea"/>
                  <a:cs typeface="+mn-cs"/>
                </a:rPr>
                <a:t>权益运营能力</a:t>
              </a:r>
            </a:p>
          </p:txBody>
        </p:sp>
        <p:sp>
          <p:nvSpPr>
            <p:cNvPr id="64" name="Rectangle 64"/>
            <p:cNvSpPr/>
            <p:nvPr/>
          </p:nvSpPr>
          <p:spPr>
            <a:xfrm>
              <a:off x="8067675" y="1390650"/>
              <a:ext cx="762000" cy="190500"/>
            </a:xfrm>
            <a:prstGeom prst="roundRect">
              <a:avLst>
                <a:gd name="adj" fmla="val 50000"/>
              </a:avLst>
            </a:prstGeom>
            <a:solidFill>
              <a:srgbClr val="E0462C"/>
            </a:solidFill>
            <a:ln>
              <a:noFill/>
            </a:ln>
          </p:spPr>
        </p:sp>
        <p:sp>
          <p:nvSpPr>
            <p:cNvPr id="65" name="TextBox 65"/>
            <p:cNvSpPr txBox="1"/>
            <p:nvPr/>
          </p:nvSpPr>
          <p:spPr>
            <a:xfrm>
              <a:off x="8252752" y="14470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留存纽带</a:t>
              </a:r>
            </a:p>
          </p:txBody>
        </p:sp>
        <p:sp>
          <p:nvSpPr>
            <p:cNvPr id="66" name="Rectangle 66"/>
            <p:cNvSpPr/>
            <p:nvPr/>
          </p:nvSpPr>
          <p:spPr>
            <a:xfrm>
              <a:off x="6343650" y="1866900"/>
              <a:ext cx="2409825" cy="400050"/>
            </a:xfrm>
            <a:prstGeom prst="roundRect">
              <a:avLst>
                <a:gd name="adj" fmla="val 50000"/>
              </a:avLst>
            </a:prstGeom>
            <a:solidFill>
              <a:srgbClr val="FFFFFF"/>
            </a:solidFill>
            <a:ln w="9525">
              <a:solidFill>
                <a:srgbClr val="E74726"/>
              </a:solidFill>
            </a:ln>
          </p:spPr>
        </p:sp>
        <p:sp>
          <p:nvSpPr>
            <p:cNvPr id="67" name="TextBox 67"/>
            <p:cNvSpPr txBox="1"/>
            <p:nvPr/>
          </p:nvSpPr>
          <p:spPr>
            <a:xfrm>
              <a:off x="7036770" y="1939766"/>
              <a:ext cx="1014059"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长效+短期双轮驱动​</a:t>
              </a:r>
            </a:p>
          </p:txBody>
        </p:sp>
        <p:sp>
          <p:nvSpPr>
            <p:cNvPr id="68" name="TextBox 68"/>
            <p:cNvSpPr txBox="1"/>
            <p:nvPr/>
          </p:nvSpPr>
          <p:spPr>
            <a:xfrm>
              <a:off x="7318261" y="2101691"/>
              <a:ext cx="451079"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精细分层</a:t>
              </a:r>
            </a:p>
          </p:txBody>
        </p:sp>
        <p:sp>
          <p:nvSpPr>
            <p:cNvPr id="69" name="Rectangle 69"/>
            <p:cNvSpPr/>
            <p:nvPr/>
          </p:nvSpPr>
          <p:spPr>
            <a:xfrm>
              <a:off x="6343650" y="2362200"/>
              <a:ext cx="2409825" cy="838200"/>
            </a:xfrm>
            <a:prstGeom prst="roundRect">
              <a:avLst>
                <a:gd name="adj" fmla="val 4545"/>
              </a:avLst>
            </a:prstGeom>
            <a:solidFill>
              <a:srgbClr val="FFFFFF"/>
            </a:solidFill>
            <a:ln w="9525">
              <a:solidFill>
                <a:srgbClr val="F7D1C9"/>
              </a:solidFill>
              <a:custDash>
                <a:ds d="300000" sp="300000"/>
              </a:custDash>
            </a:ln>
          </p:spPr>
        </p:sp>
        <p:sp>
          <p:nvSpPr>
            <p:cNvPr id="70" name="TextBox 70"/>
            <p:cNvSpPr txBox="1"/>
            <p:nvPr/>
          </p:nvSpPr>
          <p:spPr>
            <a:xfrm>
              <a:off x="6434138" y="2505789"/>
              <a:ext cx="160477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长效体系：</a:t>
              </a:r>
              <a:r>
                <a:rPr lang="zh-CN" sz="790" dirty="0">
                  <a:solidFill>
                    <a:srgbClr val="523833"/>
                  </a:solidFill>
                  <a:latin typeface="+mn-lt"/>
                  <a:ea typeface="+mn-ea"/>
                  <a:cs typeface="+mn-cs"/>
                </a:rPr>
                <a:t>聚焦两大核心支柱：一</a:t>
              </a:r>
            </a:p>
          </p:txBody>
        </p:sp>
        <p:sp>
          <p:nvSpPr>
            <p:cNvPr id="71" name="TextBox 71"/>
            <p:cNvSpPr txBox="1"/>
            <p:nvPr/>
          </p:nvSpPr>
          <p:spPr>
            <a:xfrm>
              <a:off x="6434138" y="2677239"/>
              <a:ext cx="160477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是丰富且适配的权益内容，二是清</a:t>
              </a:r>
            </a:p>
          </p:txBody>
        </p:sp>
        <p:sp>
          <p:nvSpPr>
            <p:cNvPr id="72" name="TextBox 72"/>
            <p:cNvSpPr txBox="1"/>
            <p:nvPr/>
          </p:nvSpPr>
          <p:spPr>
            <a:xfrm>
              <a:off x="6434138" y="2848689"/>
              <a:ext cx="10730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晰可感知的层级差异。</a:t>
              </a:r>
            </a:p>
          </p:txBody>
        </p:sp>
        <p:sp>
          <p:nvSpPr>
            <p:cNvPr id="73" name="Rectangle 73"/>
            <p:cNvSpPr/>
            <p:nvPr/>
          </p:nvSpPr>
          <p:spPr>
            <a:xfrm>
              <a:off x="6343650" y="3276600"/>
              <a:ext cx="2409825" cy="1009650"/>
            </a:xfrm>
            <a:prstGeom prst="roundRect">
              <a:avLst>
                <a:gd name="adj" fmla="val 3774"/>
              </a:avLst>
            </a:prstGeom>
            <a:solidFill>
              <a:srgbClr val="FFFFFF"/>
            </a:solidFill>
            <a:ln w="9525">
              <a:solidFill>
                <a:srgbClr val="F7D1C9"/>
              </a:solidFill>
              <a:custDash>
                <a:ds d="300000" sp="300000"/>
              </a:custDash>
            </a:ln>
          </p:spPr>
        </p:sp>
        <p:sp>
          <p:nvSpPr>
            <p:cNvPr id="74" name="TextBox 74"/>
            <p:cNvSpPr txBox="1"/>
            <p:nvPr/>
          </p:nvSpPr>
          <p:spPr>
            <a:xfrm>
              <a:off x="6434138" y="3420189"/>
              <a:ext cx="160477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短期抓手：</a:t>
              </a:r>
              <a:r>
                <a:rPr lang="zh-CN" sz="790" dirty="0">
                  <a:solidFill>
                    <a:srgbClr val="523833"/>
                  </a:solidFill>
                  <a:latin typeface="+mn-lt"/>
                  <a:ea typeface="+mn-ea"/>
                  <a:cs typeface="+mn-cs"/>
                </a:rPr>
                <a:t>高频小额、即时感知的</a:t>
              </a:r>
            </a:p>
          </p:txBody>
        </p:sp>
        <p:sp>
          <p:nvSpPr>
            <p:cNvPr id="75" name="TextBox 75"/>
            <p:cNvSpPr txBox="1"/>
            <p:nvPr/>
          </p:nvSpPr>
          <p:spPr>
            <a:xfrm>
              <a:off x="6434138" y="3591639"/>
              <a:ext cx="160477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活动权益，快速拉升客户活跃度。</a:t>
              </a:r>
            </a:p>
          </p:txBody>
        </p:sp>
        <p:sp>
          <p:nvSpPr>
            <p:cNvPr id="76" name="TextBox 76"/>
            <p:cNvSpPr txBox="1"/>
            <p:nvPr/>
          </p:nvSpPr>
          <p:spPr>
            <a:xfrm>
              <a:off x="6434138" y="3763089"/>
              <a:ext cx="160477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活动参与和权益领取方式确保低门</a:t>
              </a:r>
            </a:p>
          </p:txBody>
        </p:sp>
        <p:sp>
          <p:nvSpPr>
            <p:cNvPr id="77" name="TextBox 77"/>
            <p:cNvSpPr txBox="1"/>
            <p:nvPr/>
          </p:nvSpPr>
          <p:spPr>
            <a:xfrm>
              <a:off x="6434138" y="3934539"/>
              <a:ext cx="10730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槛、低认知成本设计。</a:t>
              </a:r>
            </a:p>
          </p:txBody>
        </p:sp>
      </p:grpSp>
      <p:grpSp>
        <p:nvGrpSpPr>
          <p:cNvPr id="103" name="card-channel"/>
          <p:cNvGrpSpPr/>
          <p:nvPr/>
        </p:nvGrpSpPr>
        <p:grpSpPr>
          <a:xfrm>
            <a:off x="9096375" y="1257300"/>
            <a:ext cx="2714625" cy="3505200"/>
            <a:chOff x="9096375" y="1257300"/>
            <a:chExt cx="2714625" cy="3505200"/>
          </a:xfrm>
        </p:grpSpPr>
        <p:sp>
          <p:nvSpPr>
            <p:cNvPr id="79" name="Rectangle 79"/>
            <p:cNvSpPr/>
            <p:nvPr/>
          </p:nvSpPr>
          <p:spPr>
            <a:xfrm>
              <a:off x="9096375" y="1257300"/>
              <a:ext cx="2714625" cy="3505200"/>
            </a:xfrm>
            <a:prstGeom prst="roundRect">
              <a:avLst>
                <a:gd name="adj" fmla="val 2807"/>
              </a:avLst>
            </a:prstGeom>
            <a:solidFill>
              <a:srgbClr val="FFFFFF"/>
            </a:solidFill>
            <a:ln w="9525">
              <a:solidFill>
                <a:srgbClr val="E3EBF7"/>
              </a:solidFill>
            </a:ln>
          </p:spPr>
        </p:sp>
        <p:sp>
          <p:nvSpPr>
            <p:cNvPr id="80" name="Ellipse 80"/>
            <p:cNvSpPr/>
            <p:nvPr/>
          </p:nvSpPr>
          <p:spPr>
            <a:xfrm>
              <a:off x="9229725" y="1390650"/>
              <a:ext cx="381000" cy="381000"/>
            </a:xfrm>
            <a:prstGeom prst="ellipse">
              <a:avLst/>
            </a:prstGeom>
            <a:solidFill>
              <a:srgbClr val="E74726"/>
            </a:solidFill>
            <a:ln>
              <a:noFill/>
            </a:ln>
          </p:spPr>
        </p:sp>
        <p:grpSp>
          <p:nvGrpSpPr>
            <p:cNvPr id="84" name="Group 84"/>
            <p:cNvGrpSpPr/>
            <p:nvPr/>
          </p:nvGrpSpPr>
          <p:grpSpPr>
            <a:xfrm>
              <a:off x="9363075" y="1495425"/>
              <a:ext cx="114300" cy="171450"/>
              <a:chOff x="9363075" y="1495425"/>
              <a:chExt cx="114300" cy="171450"/>
            </a:xfrm>
          </p:grpSpPr>
          <p:sp>
            <p:nvSpPr>
              <p:cNvPr id="81" name="Freeform 81"/>
              <p:cNvSpPr/>
              <p:nvPr/>
            </p:nvSpPr>
            <p:spPr>
              <a:xfrm>
                <a:off x="9363075" y="149542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FFFFFF"/>
                </a:solidFill>
              </a:ln>
            </p:spPr>
          </p:sp>
          <p:sp>
            <p:nvSpPr>
              <p:cNvPr id="82" name="Freeform 82"/>
              <p:cNvSpPr/>
              <p:nvPr/>
            </p:nvSpPr>
            <p:spPr>
              <a:xfrm>
                <a:off x="9410700" y="1504950"/>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83" name="Freeform 83"/>
              <p:cNvSpPr/>
              <p:nvPr/>
            </p:nvSpPr>
            <p:spPr>
              <a:xfrm>
                <a:off x="9420225" y="1628775"/>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85" name="TextBox 85"/>
            <p:cNvSpPr txBox="1"/>
            <p:nvPr/>
          </p:nvSpPr>
          <p:spPr>
            <a:xfrm>
              <a:off x="9681210" y="1516856"/>
              <a:ext cx="916076" cy="220028"/>
            </a:xfrm>
            <a:prstGeom prst="rect">
              <a:avLst/>
            </a:prstGeom>
            <a:noFill/>
            <a:ln>
              <a:noFill/>
            </a:ln>
          </p:spPr>
          <p:txBody>
            <a:bodyPr wrap="none" lIns="0" tIns="0" rIns="0" bIns="0" anchor="t" anchorCtr="0">
              <a:spAutoFit/>
            </a:bodyPr>
            <a:lstStyle/>
            <a:p>
              <a:pPr algn="l"/>
              <a:r>
                <a:rPr lang="zh-CN" sz="1120" b="1" dirty="0">
                  <a:solidFill>
                    <a:srgbClr val="1F1F1F"/>
                  </a:solidFill>
                  <a:latin typeface="+mn-lt"/>
                  <a:ea typeface="+mn-ea"/>
                  <a:cs typeface="+mn-cs"/>
                </a:rPr>
                <a:t>渠道运营能力</a:t>
              </a:r>
            </a:p>
          </p:txBody>
        </p:sp>
        <p:sp>
          <p:nvSpPr>
            <p:cNvPr id="86" name="Rectangle 86"/>
            <p:cNvSpPr/>
            <p:nvPr/>
          </p:nvSpPr>
          <p:spPr>
            <a:xfrm>
              <a:off x="10972800" y="1390650"/>
              <a:ext cx="762000" cy="190500"/>
            </a:xfrm>
            <a:prstGeom prst="roundRect">
              <a:avLst>
                <a:gd name="adj" fmla="val 50000"/>
              </a:avLst>
            </a:prstGeom>
            <a:solidFill>
              <a:srgbClr val="E0462C"/>
            </a:solidFill>
            <a:ln>
              <a:noFill/>
            </a:ln>
          </p:spPr>
        </p:sp>
        <p:sp>
          <p:nvSpPr>
            <p:cNvPr id="87" name="TextBox 87"/>
            <p:cNvSpPr txBox="1"/>
            <p:nvPr/>
          </p:nvSpPr>
          <p:spPr>
            <a:xfrm>
              <a:off x="11157877" y="14470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全域触点</a:t>
              </a:r>
            </a:p>
          </p:txBody>
        </p:sp>
        <p:sp>
          <p:nvSpPr>
            <p:cNvPr id="88" name="Rectangle 88"/>
            <p:cNvSpPr/>
            <p:nvPr/>
          </p:nvSpPr>
          <p:spPr>
            <a:xfrm>
              <a:off x="9248775" y="1866900"/>
              <a:ext cx="2409825" cy="400050"/>
            </a:xfrm>
            <a:prstGeom prst="roundRect">
              <a:avLst>
                <a:gd name="adj" fmla="val 50000"/>
              </a:avLst>
            </a:prstGeom>
            <a:solidFill>
              <a:srgbClr val="FFFFFF"/>
            </a:solidFill>
            <a:ln w="9525">
              <a:solidFill>
                <a:srgbClr val="E74726"/>
              </a:solidFill>
            </a:ln>
          </p:spPr>
        </p:sp>
        <p:sp>
          <p:nvSpPr>
            <p:cNvPr id="89" name="TextBox 89"/>
            <p:cNvSpPr txBox="1"/>
            <p:nvPr/>
          </p:nvSpPr>
          <p:spPr>
            <a:xfrm>
              <a:off x="10112997" y="1939766"/>
              <a:ext cx="671855"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四大渠道协同</a:t>
              </a:r>
            </a:p>
          </p:txBody>
        </p:sp>
        <p:sp>
          <p:nvSpPr>
            <p:cNvPr id="90" name="TextBox 90"/>
            <p:cNvSpPr txBox="1"/>
            <p:nvPr/>
          </p:nvSpPr>
          <p:spPr>
            <a:xfrm>
              <a:off x="10002609" y="2101691"/>
              <a:ext cx="892632"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全链路触达与经营</a:t>
              </a:r>
            </a:p>
          </p:txBody>
        </p:sp>
        <p:sp>
          <p:nvSpPr>
            <p:cNvPr id="91" name="Rectangle 91"/>
            <p:cNvSpPr/>
            <p:nvPr/>
          </p:nvSpPr>
          <p:spPr>
            <a:xfrm>
              <a:off x="9248775" y="2362200"/>
              <a:ext cx="2409825" cy="533400"/>
            </a:xfrm>
            <a:prstGeom prst="roundRect">
              <a:avLst>
                <a:gd name="adj" fmla="val 7143"/>
              </a:avLst>
            </a:prstGeom>
            <a:solidFill>
              <a:srgbClr val="FFFFFF"/>
            </a:solidFill>
            <a:ln w="9525">
              <a:solidFill>
                <a:srgbClr val="F7D1C9"/>
              </a:solidFill>
              <a:custDash>
                <a:ds d="300000" sp="300000"/>
              </a:custDash>
            </a:ln>
          </p:spPr>
        </p:sp>
        <p:sp>
          <p:nvSpPr>
            <p:cNvPr id="92" name="TextBox 92"/>
            <p:cNvSpPr txBox="1"/>
            <p:nvPr/>
          </p:nvSpPr>
          <p:spPr>
            <a:xfrm>
              <a:off x="9339262" y="2486739"/>
              <a:ext cx="1721757"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外呼破冰：</a:t>
              </a:r>
              <a:r>
                <a:rPr lang="zh-CN" sz="790" dirty="0">
                  <a:solidFill>
                    <a:srgbClr val="523833"/>
                  </a:solidFill>
                  <a:latin typeface="+mn-lt"/>
                  <a:ea typeface="+mn-ea"/>
                  <a:cs typeface="+mn-cs"/>
                </a:rPr>
                <a:t>人工+智能分层路由，针​</a:t>
              </a:r>
            </a:p>
          </p:txBody>
        </p:sp>
        <p:sp>
          <p:nvSpPr>
            <p:cNvPr id="93" name="TextBox 93"/>
            <p:cNvSpPr txBox="1"/>
            <p:nvPr/>
          </p:nvSpPr>
          <p:spPr>
            <a:xfrm>
              <a:off x="9339262" y="2658189"/>
              <a:ext cx="1402707"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对沉默/低活客户主动唤醒。​</a:t>
              </a:r>
            </a:p>
          </p:txBody>
        </p:sp>
        <p:sp>
          <p:nvSpPr>
            <p:cNvPr id="94" name="Rectangle 94"/>
            <p:cNvSpPr/>
            <p:nvPr/>
          </p:nvSpPr>
          <p:spPr>
            <a:xfrm>
              <a:off x="9248775" y="2971800"/>
              <a:ext cx="2409825" cy="533400"/>
            </a:xfrm>
            <a:prstGeom prst="roundRect">
              <a:avLst>
                <a:gd name="adj" fmla="val 7143"/>
              </a:avLst>
            </a:prstGeom>
            <a:solidFill>
              <a:srgbClr val="FFFFFF"/>
            </a:solidFill>
            <a:ln w="9525">
              <a:solidFill>
                <a:srgbClr val="F7D1C9"/>
              </a:solidFill>
              <a:custDash>
                <a:ds d="300000" sp="300000"/>
              </a:custDash>
            </a:ln>
          </p:spPr>
        </p:sp>
        <p:sp>
          <p:nvSpPr>
            <p:cNvPr id="95" name="TextBox 95"/>
            <p:cNvSpPr txBox="1"/>
            <p:nvPr/>
          </p:nvSpPr>
          <p:spPr>
            <a:xfrm>
              <a:off x="9339262" y="3096339"/>
              <a:ext cx="160477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私域深耕：</a:t>
              </a:r>
              <a:r>
                <a:rPr lang="zh-CN" sz="790" dirty="0">
                  <a:solidFill>
                    <a:srgbClr val="523833"/>
                  </a:solidFill>
                  <a:latin typeface="+mn-lt"/>
                  <a:ea typeface="+mn-ea"/>
                  <a:cs typeface="+mn-cs"/>
                </a:rPr>
                <a:t>企微构建全生命周期运</a:t>
              </a:r>
            </a:p>
          </p:txBody>
        </p:sp>
        <p:sp>
          <p:nvSpPr>
            <p:cNvPr id="96" name="TextBox 96"/>
            <p:cNvSpPr txBox="1"/>
            <p:nvPr/>
          </p:nvSpPr>
          <p:spPr>
            <a:xfrm>
              <a:off x="9339262" y="3267789"/>
              <a:ext cx="139207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营，实现高频、精细化互动。</a:t>
              </a:r>
            </a:p>
          </p:txBody>
        </p:sp>
        <p:sp>
          <p:nvSpPr>
            <p:cNvPr id="97" name="Rectangle 97"/>
            <p:cNvSpPr/>
            <p:nvPr/>
          </p:nvSpPr>
          <p:spPr>
            <a:xfrm>
              <a:off x="9248775" y="3581400"/>
              <a:ext cx="2409825" cy="533400"/>
            </a:xfrm>
            <a:prstGeom prst="roundRect">
              <a:avLst>
                <a:gd name="adj" fmla="val 7143"/>
              </a:avLst>
            </a:prstGeom>
            <a:solidFill>
              <a:srgbClr val="FFFFFF"/>
            </a:solidFill>
            <a:ln w="9525">
              <a:solidFill>
                <a:srgbClr val="F7D1C9"/>
              </a:solidFill>
              <a:custDash>
                <a:ds d="300000" sp="300000"/>
              </a:custDash>
            </a:ln>
          </p:spPr>
        </p:sp>
        <p:sp>
          <p:nvSpPr>
            <p:cNvPr id="98" name="TextBox 98"/>
            <p:cNvSpPr txBox="1"/>
            <p:nvPr/>
          </p:nvSpPr>
          <p:spPr>
            <a:xfrm>
              <a:off x="9339262" y="3705939"/>
              <a:ext cx="171112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手机银行：</a:t>
              </a:r>
              <a:r>
                <a:rPr lang="zh-CN" sz="790" dirty="0">
                  <a:solidFill>
                    <a:srgbClr val="523833"/>
                  </a:solidFill>
                  <a:latin typeface="+mn-lt"/>
                  <a:ea typeface="+mn-ea"/>
                  <a:cs typeface="+mn-cs"/>
                </a:rPr>
                <a:t>核心线上服务端口，承载</a:t>
              </a:r>
            </a:p>
          </p:txBody>
        </p:sp>
        <p:sp>
          <p:nvSpPr>
            <p:cNvPr id="99" name="TextBox 99"/>
            <p:cNvSpPr txBox="1"/>
            <p:nvPr/>
          </p:nvSpPr>
          <p:spPr>
            <a:xfrm>
              <a:off x="9339262" y="3877389"/>
              <a:ext cx="10730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全场景金融与生活服务</a:t>
              </a:r>
            </a:p>
          </p:txBody>
        </p:sp>
        <p:sp>
          <p:nvSpPr>
            <p:cNvPr id="100" name="Rectangle 100"/>
            <p:cNvSpPr/>
            <p:nvPr/>
          </p:nvSpPr>
          <p:spPr>
            <a:xfrm>
              <a:off x="9248775" y="4191000"/>
              <a:ext cx="2409825" cy="533400"/>
            </a:xfrm>
            <a:prstGeom prst="roundRect">
              <a:avLst>
                <a:gd name="adj" fmla="val 7143"/>
              </a:avLst>
            </a:prstGeom>
            <a:solidFill>
              <a:srgbClr val="FFFFFF"/>
            </a:solidFill>
            <a:ln w="9525">
              <a:solidFill>
                <a:srgbClr val="F7D1C9"/>
              </a:solidFill>
              <a:custDash>
                <a:ds d="300000" sp="300000"/>
              </a:custDash>
            </a:ln>
          </p:spPr>
        </p:sp>
        <p:sp>
          <p:nvSpPr>
            <p:cNvPr id="101" name="TextBox 101"/>
            <p:cNvSpPr txBox="1"/>
            <p:nvPr/>
          </p:nvSpPr>
          <p:spPr>
            <a:xfrm>
              <a:off x="9339262" y="4315539"/>
              <a:ext cx="1711122"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短信通道：</a:t>
              </a:r>
              <a:r>
                <a:rPr lang="zh-CN" sz="790" dirty="0">
                  <a:solidFill>
                    <a:srgbClr val="523833"/>
                  </a:solidFill>
                  <a:latin typeface="+mn-lt"/>
                  <a:ea typeface="+mn-ea"/>
                  <a:cs typeface="+mn-cs"/>
                </a:rPr>
                <a:t>全域触达兜底，覆盖广、</a:t>
              </a:r>
            </a:p>
          </p:txBody>
        </p:sp>
        <p:sp>
          <p:nvSpPr>
            <p:cNvPr id="102" name="TextBox 102"/>
            <p:cNvSpPr txBox="1"/>
            <p:nvPr/>
          </p:nvSpPr>
          <p:spPr>
            <a:xfrm>
              <a:off x="9339262" y="448698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零门槛，基础信息通知。</a:t>
              </a:r>
            </a:p>
          </p:txBody>
        </p:sp>
      </p:grpSp>
      <p:grpSp>
        <p:nvGrpSpPr>
          <p:cNvPr id="107" name="loop-banner"/>
          <p:cNvGrpSpPr/>
          <p:nvPr/>
        </p:nvGrpSpPr>
        <p:grpSpPr>
          <a:xfrm>
            <a:off x="381000" y="4895850"/>
            <a:ext cx="11430000" cy="685800"/>
            <a:chOff x="381000" y="4895850"/>
            <a:chExt cx="11430000" cy="685800"/>
          </a:xfrm>
        </p:grpSpPr>
        <p:sp>
          <p:nvSpPr>
            <p:cNvPr id="104" name="Rectangle 104"/>
            <p:cNvSpPr/>
            <p:nvPr/>
          </p:nvSpPr>
          <p:spPr>
            <a:xfrm>
              <a:off x="381000" y="4895850"/>
              <a:ext cx="11430000" cy="685800"/>
            </a:xfrm>
            <a:prstGeom prst="roundRect">
              <a:avLst>
                <a:gd name="adj" fmla="val 13889"/>
              </a:avLst>
            </a:prstGeom>
            <a:solidFill>
              <a:srgbClr val="E74726"/>
            </a:solidFill>
            <a:ln>
              <a:noFill/>
            </a:ln>
          </p:spPr>
        </p:sp>
        <p:sp>
          <p:nvSpPr>
            <p:cNvPr id="105" name="TextBox 105"/>
            <p:cNvSpPr txBox="1"/>
            <p:nvPr/>
          </p:nvSpPr>
          <p:spPr>
            <a:xfrm>
              <a:off x="5629300" y="5057299"/>
              <a:ext cx="93339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运营闭环核心：</a:t>
              </a:r>
            </a:p>
          </p:txBody>
        </p:sp>
        <p:sp>
          <p:nvSpPr>
            <p:cNvPr id="106" name="TextBox 106"/>
            <p:cNvSpPr txBox="1"/>
            <p:nvPr/>
          </p:nvSpPr>
          <p:spPr>
            <a:xfrm>
              <a:off x="2439786" y="5304949"/>
              <a:ext cx="7312428"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通过客群圈选→资源（活动/产品/权益）匹配→渠道触达→成效复盘的持续循环，实现对长尾客群的集约化、批量化经营​​​​​​</a:t>
              </a:r>
            </a:p>
          </p:txBody>
        </p:sp>
      </p:grpSp>
      <p:sp>
        <p:nvSpPr>
          <p:cNvPr id="108" name="TextBox 108"/>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11</a:t>
              </a:r>
            </a:p>
          </p:txBody>
        </p:sp>
        <p:sp>
          <p:nvSpPr>
            <p:cNvPr id="4" name="TextBox 4"/>
            <p:cNvSpPr txBox="1"/>
            <p:nvPr/>
          </p:nvSpPr>
          <p:spPr>
            <a:xfrm>
              <a:off x="942594" y="151448"/>
              <a:ext cx="8557199"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2.2.1 活动运营｜搭建</a:t>
              </a:r>
              <a:r>
                <a:rPr lang="zh-CN" sz="1950" b="1" dirty="0">
                  <a:solidFill>
                    <a:srgbClr val="E74726"/>
                  </a:solidFill>
                  <a:latin typeface="SimSun"/>
                  <a:ea typeface="SimSun"/>
                  <a:cs typeface="SimSun"/>
                </a:rPr>
                <a:t>阶梯式活动链路</a:t>
              </a:r>
              <a:r>
                <a:rPr lang="zh-CN" sz="1950" b="1" dirty="0">
                  <a:solidFill>
                    <a:srgbClr val="1F1F1F"/>
                  </a:solidFill>
                  <a:latin typeface="SimSun"/>
                  <a:ea typeface="SimSun"/>
                  <a:cs typeface="SimSun"/>
                </a:rPr>
                <a:t>，驱动长尾客户价值向上迁移​</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654165" cy="551260"/>
            <a:chOff x="566166" y="667702"/>
            <a:chExt cx="6654165" cy="551260"/>
          </a:xfrm>
        </p:grpSpPr>
        <p:sp>
          <p:nvSpPr>
            <p:cNvPr id="8" name="TextBox 8"/>
            <p:cNvSpPr txBox="1"/>
            <p:nvPr/>
          </p:nvSpPr>
          <p:spPr>
            <a:xfrm>
              <a:off x="566166" y="667702"/>
              <a:ext cx="6654165"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支付绑卡培养结算习惯，生活消费激活交易活跃，财富进阶促进资产提升，三层活动架构实现长尾价值进阶</a:t>
              </a:r>
            </a:p>
          </p:txBody>
        </p:sp>
        <p:sp>
          <p:nvSpPr>
            <p:cNvPr id="9" name="TextBox 9"/>
            <p:cNvSpPr txBox="1"/>
            <p:nvPr/>
          </p:nvSpPr>
          <p:spPr>
            <a:xfrm>
              <a:off x="566738" y="887968"/>
              <a:ext cx="6463881"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长尾客群的活动运营，其本质绝非简单的“撒网式发福利”、价格战或单次促销，而是在海量低资产客户中构建一条清晰、可​​​</a:t>
              </a:r>
            </a:p>
          </p:txBody>
        </p:sp>
        <p:sp>
          <p:nvSpPr>
            <p:cNvPr id="10" name="TextBox 10"/>
            <p:cNvSpPr txBox="1"/>
            <p:nvPr/>
          </p:nvSpPr>
          <p:spPr>
            <a:xfrm>
              <a:off x="566738" y="1049893"/>
              <a:ext cx="6116561"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量化、可牵引的价值成长路径（绑卡激活→消费促活→财富提升），三阶环环相扣，实现从低粘低值到高粘高潜的质变​​​</a:t>
              </a:r>
            </a:p>
          </p:txBody>
        </p:sp>
      </p:grpSp>
      <p:sp>
        <p:nvSpPr>
          <p:cNvPr id="12" name="stair-line"/>
          <p:cNvSpPr/>
          <p:nvPr/>
        </p:nvSpPr>
        <p:spPr>
          <a:xfrm>
            <a:off x="381000" y="1219200"/>
            <a:ext cx="11220450" cy="1428750"/>
          </a:xfrm>
          <a:custGeom>
            <a:avLst/>
            <a:gdLst/>
            <a:ahLst/>
            <a:cxnLst/>
            <a:rect l="l" t="t" r="r" b="b"/>
            <a:pathLst>
              <a:path w="11220450" h="1428750">
                <a:moveTo>
                  <a:pt x="0" y="1428750"/>
                </a:moveTo>
                <a:lnTo>
                  <a:pt x="3886200" y="1428750"/>
                </a:lnTo>
                <a:lnTo>
                  <a:pt x="3886200" y="666750"/>
                </a:lnTo>
                <a:lnTo>
                  <a:pt x="7696200" y="666750"/>
                </a:lnTo>
                <a:lnTo>
                  <a:pt x="7696200" y="0"/>
                </a:lnTo>
                <a:lnTo>
                  <a:pt x="11220450" y="0"/>
                </a:lnTo>
              </a:path>
            </a:pathLst>
          </a:custGeom>
          <a:noFill/>
          <a:ln w="47625">
            <a:solidFill>
              <a:srgbClr val="E74726"/>
            </a:solidFill>
            <a:tailEnd type="triangle" w="med" len="med"/>
          </a:ln>
        </p:spPr>
      </p:sp>
      <p:grpSp>
        <p:nvGrpSpPr>
          <p:cNvPr id="35" name="step-1"/>
          <p:cNvGrpSpPr/>
          <p:nvPr/>
        </p:nvGrpSpPr>
        <p:grpSpPr>
          <a:xfrm>
            <a:off x="495300" y="2724150"/>
            <a:ext cx="3771900" cy="3524250"/>
            <a:chOff x="495300" y="2724150"/>
            <a:chExt cx="3771900" cy="3524250"/>
          </a:xfrm>
        </p:grpSpPr>
        <p:sp>
          <p:nvSpPr>
            <p:cNvPr id="13" name="Rectangle 13"/>
            <p:cNvSpPr/>
            <p:nvPr/>
          </p:nvSpPr>
          <p:spPr>
            <a:xfrm>
              <a:off x="495300" y="2724150"/>
              <a:ext cx="3771900" cy="3524250"/>
            </a:xfrm>
            <a:prstGeom prst="roundRect">
              <a:avLst>
                <a:gd name="adj" fmla="val 2162"/>
              </a:avLst>
            </a:prstGeom>
            <a:solidFill>
              <a:srgbClr val="FFFFFF"/>
            </a:solidFill>
            <a:ln w="9525">
              <a:solidFill>
                <a:srgbClr val="DCE8FB"/>
              </a:solidFill>
            </a:ln>
          </p:spPr>
        </p:sp>
        <p:sp>
          <p:nvSpPr>
            <p:cNvPr id="14" name="Ellipse 14"/>
            <p:cNvSpPr/>
            <p:nvPr/>
          </p:nvSpPr>
          <p:spPr>
            <a:xfrm>
              <a:off x="647700" y="2876550"/>
              <a:ext cx="381000" cy="381000"/>
            </a:xfrm>
            <a:prstGeom prst="ellipse">
              <a:avLst/>
            </a:prstGeom>
            <a:solidFill>
              <a:srgbClr val="E74726"/>
            </a:solidFill>
            <a:ln>
              <a:noFill/>
            </a:ln>
          </p:spPr>
        </p:sp>
        <p:sp>
          <p:nvSpPr>
            <p:cNvPr id="15" name="TextBox 15"/>
            <p:cNvSpPr txBox="1"/>
            <p:nvPr/>
          </p:nvSpPr>
          <p:spPr>
            <a:xfrm>
              <a:off x="759869" y="301894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01</a:t>
              </a:r>
            </a:p>
          </p:txBody>
        </p:sp>
        <p:sp>
          <p:nvSpPr>
            <p:cNvPr id="16" name="TextBox 16"/>
            <p:cNvSpPr txBox="1"/>
            <p:nvPr/>
          </p:nvSpPr>
          <p:spPr>
            <a:xfrm>
              <a:off x="1118235" y="2907506"/>
              <a:ext cx="614528" cy="220028"/>
            </a:xfrm>
            <a:prstGeom prst="rect">
              <a:avLst/>
            </a:prstGeom>
            <a:noFill/>
            <a:ln>
              <a:noFill/>
            </a:ln>
          </p:spPr>
          <p:txBody>
            <a:bodyPr wrap="none" lIns="0" tIns="0" rIns="0" bIns="0" anchor="t" anchorCtr="0">
              <a:spAutoFit/>
            </a:bodyPr>
            <a:lstStyle/>
            <a:p>
              <a:pPr algn="l"/>
              <a:r>
                <a:rPr lang="zh-CN" sz="1120" b="1" dirty="0">
                  <a:solidFill>
                    <a:srgbClr val="E74726"/>
                  </a:solidFill>
                  <a:latin typeface="+mn-lt"/>
                  <a:ea typeface="+mn-ea"/>
                  <a:cs typeface="+mn-cs"/>
                </a:rPr>
                <a:t>支付绑卡</a:t>
              </a:r>
            </a:p>
          </p:txBody>
        </p:sp>
        <p:sp>
          <p:nvSpPr>
            <p:cNvPr id="17" name="TextBox 17"/>
            <p:cNvSpPr txBox="1"/>
            <p:nvPr/>
          </p:nvSpPr>
          <p:spPr>
            <a:xfrm>
              <a:off x="1119188" y="3126343"/>
              <a:ext cx="935711" cy="169069"/>
            </a:xfrm>
            <a:prstGeom prst="rect">
              <a:avLst/>
            </a:prstGeom>
            <a:noFill/>
            <a:ln>
              <a:noFill/>
            </a:ln>
          </p:spPr>
          <p:txBody>
            <a:bodyPr wrap="none" lIns="0" tIns="0" rIns="0" bIns="0" anchor="t" anchorCtr="0">
              <a:spAutoFit/>
            </a:bodyPr>
            <a:lstStyle/>
            <a:p>
              <a:pPr algn="l"/>
              <a:r>
                <a:rPr lang="zh-CN" sz="860" b="1" dirty="0">
                  <a:solidFill>
                    <a:srgbClr val="E0462C"/>
                  </a:solidFill>
                  <a:latin typeface="+mn-lt"/>
                  <a:ea typeface="+mn-ea"/>
                  <a:cs typeface="+mn-cs"/>
                </a:rPr>
                <a:t>价值链路第一台阶</a:t>
              </a:r>
            </a:p>
          </p:txBody>
        </p:sp>
        <p:sp>
          <p:nvSpPr>
            <p:cNvPr id="18" name="TextBox 18"/>
            <p:cNvSpPr txBox="1"/>
            <p:nvPr/>
          </p:nvSpPr>
          <p:spPr>
            <a:xfrm>
              <a:off x="661988" y="3515439"/>
              <a:ext cx="2136521"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阶段定位：</a:t>
              </a:r>
              <a:r>
                <a:rPr lang="zh-CN" sz="790" dirty="0">
                  <a:solidFill>
                    <a:srgbClr val="523833"/>
                  </a:solidFill>
                  <a:latin typeface="+mn-lt"/>
                  <a:ea typeface="+mn-ea"/>
                  <a:cs typeface="+mn-cs"/>
                </a:rPr>
                <a:t>长尾客户由静态账户转为可线上运</a:t>
              </a:r>
            </a:p>
          </p:txBody>
        </p:sp>
        <p:sp>
          <p:nvSpPr>
            <p:cNvPr id="19" name="TextBox 19"/>
            <p:cNvSpPr txBox="1"/>
            <p:nvPr/>
          </p:nvSpPr>
          <p:spPr>
            <a:xfrm>
              <a:off x="661988" y="3686889"/>
              <a:ext cx="9666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营客群的关键门槛。</a:t>
              </a:r>
            </a:p>
          </p:txBody>
        </p:sp>
        <p:sp>
          <p:nvSpPr>
            <p:cNvPr id="20" name="TextBox 20"/>
            <p:cNvSpPr txBox="1"/>
            <p:nvPr/>
          </p:nvSpPr>
          <p:spPr>
            <a:xfrm>
              <a:off x="661988" y="3915489"/>
              <a:ext cx="2136521"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核心痛点：</a:t>
              </a:r>
              <a:r>
                <a:rPr lang="zh-CN" sz="790" dirty="0">
                  <a:solidFill>
                    <a:srgbClr val="523833"/>
                  </a:solidFill>
                  <a:latin typeface="+mn-lt"/>
                  <a:ea typeface="+mn-ea"/>
                  <a:cs typeface="+mn-cs"/>
                </a:rPr>
                <a:t>大量客户仅仅线下开户，未绑定三</a:t>
              </a:r>
            </a:p>
          </p:txBody>
        </p:sp>
        <p:sp>
          <p:nvSpPr>
            <p:cNvPr id="21" name="TextBox 21"/>
            <p:cNvSpPr txBox="1"/>
            <p:nvPr/>
          </p:nvSpPr>
          <p:spPr>
            <a:xfrm>
              <a:off x="661988" y="4086939"/>
              <a:ext cx="2136521"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方支付，行为数据脱离银行体系，无法开展精</a:t>
              </a:r>
            </a:p>
          </p:txBody>
        </p:sp>
        <p:sp>
          <p:nvSpPr>
            <p:cNvPr id="22" name="TextBox 22"/>
            <p:cNvSpPr txBox="1"/>
            <p:nvPr/>
          </p:nvSpPr>
          <p:spPr>
            <a:xfrm>
              <a:off x="661988" y="4258389"/>
              <a:ext cx="54127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细化运营。</a:t>
              </a:r>
            </a:p>
          </p:txBody>
        </p:sp>
        <p:sp>
          <p:nvSpPr>
            <p:cNvPr id="23" name="TextBox 23"/>
            <p:cNvSpPr txBox="1"/>
            <p:nvPr/>
          </p:nvSpPr>
          <p:spPr>
            <a:xfrm>
              <a:off x="661988" y="4486989"/>
              <a:ext cx="2136521"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运营核心：</a:t>
              </a:r>
              <a:r>
                <a:rPr lang="zh-CN" sz="790" dirty="0">
                  <a:solidFill>
                    <a:srgbClr val="523833"/>
                  </a:solidFill>
                  <a:latin typeface="+mn-lt"/>
                  <a:ea typeface="+mn-ea"/>
                  <a:cs typeface="+mn-cs"/>
                </a:rPr>
                <a:t>降低操作门槛，强化即时权益，驱</a:t>
              </a:r>
            </a:p>
          </p:txBody>
        </p:sp>
        <p:sp>
          <p:nvSpPr>
            <p:cNvPr id="24" name="TextBox 24"/>
            <p:cNvSpPr txBox="1"/>
            <p:nvPr/>
          </p:nvSpPr>
          <p:spPr>
            <a:xfrm>
              <a:off x="661988" y="4658439"/>
              <a:ext cx="8603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动客户主动绑卡。</a:t>
              </a:r>
            </a:p>
          </p:txBody>
        </p:sp>
        <p:sp>
          <p:nvSpPr>
            <p:cNvPr id="25" name="Rectangle 25"/>
            <p:cNvSpPr/>
            <p:nvPr/>
          </p:nvSpPr>
          <p:spPr>
            <a:xfrm>
              <a:off x="628650" y="5715000"/>
              <a:ext cx="1123950" cy="342900"/>
            </a:xfrm>
            <a:prstGeom prst="roundRect">
              <a:avLst>
                <a:gd name="adj" fmla="val 11111"/>
              </a:avLst>
            </a:prstGeom>
            <a:solidFill>
              <a:srgbClr val="FFFFFF"/>
            </a:solidFill>
            <a:ln w="9525">
              <a:solidFill>
                <a:srgbClr val="E74726"/>
              </a:solidFill>
            </a:ln>
          </p:spPr>
        </p:sp>
        <p:sp>
          <p:nvSpPr>
            <p:cNvPr id="26" name="TextBox 26"/>
            <p:cNvSpPr txBox="1"/>
            <p:nvPr/>
          </p:nvSpPr>
          <p:spPr>
            <a:xfrm>
              <a:off x="933450" y="5776912"/>
              <a:ext cx="514350"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直接性绑卡</a:t>
              </a:r>
            </a:p>
          </p:txBody>
        </p:sp>
        <p:sp>
          <p:nvSpPr>
            <p:cNvPr id="27" name="TextBox 27"/>
            <p:cNvSpPr txBox="1"/>
            <p:nvPr/>
          </p:nvSpPr>
          <p:spPr>
            <a:xfrm>
              <a:off x="1084898" y="5919788"/>
              <a:ext cx="211455"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活动</a:t>
              </a:r>
            </a:p>
          </p:txBody>
        </p:sp>
        <p:sp>
          <p:nvSpPr>
            <p:cNvPr id="28" name="Rectangle 28"/>
            <p:cNvSpPr/>
            <p:nvPr/>
          </p:nvSpPr>
          <p:spPr>
            <a:xfrm>
              <a:off x="1828800" y="5715000"/>
              <a:ext cx="1123950" cy="342900"/>
            </a:xfrm>
            <a:prstGeom prst="roundRect">
              <a:avLst>
                <a:gd name="adj" fmla="val 11111"/>
              </a:avLst>
            </a:prstGeom>
            <a:solidFill>
              <a:srgbClr val="FFFFFF"/>
            </a:solidFill>
            <a:ln w="9525">
              <a:solidFill>
                <a:srgbClr val="E74726"/>
              </a:solidFill>
            </a:ln>
          </p:spPr>
        </p:sp>
        <p:sp>
          <p:nvSpPr>
            <p:cNvPr id="29" name="TextBox 29"/>
            <p:cNvSpPr txBox="1"/>
            <p:nvPr/>
          </p:nvSpPr>
          <p:spPr>
            <a:xfrm>
              <a:off x="2133600" y="5776912"/>
              <a:ext cx="514350"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场景嵌入型</a:t>
              </a:r>
            </a:p>
          </p:txBody>
        </p:sp>
        <p:sp>
          <p:nvSpPr>
            <p:cNvPr id="30" name="TextBox 30"/>
            <p:cNvSpPr txBox="1"/>
            <p:nvPr/>
          </p:nvSpPr>
          <p:spPr>
            <a:xfrm>
              <a:off x="2184082" y="5919788"/>
              <a:ext cx="413385"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绑卡活动</a:t>
              </a:r>
            </a:p>
          </p:txBody>
        </p:sp>
        <p:sp>
          <p:nvSpPr>
            <p:cNvPr id="31" name="Rectangle 31"/>
            <p:cNvSpPr/>
            <p:nvPr/>
          </p:nvSpPr>
          <p:spPr>
            <a:xfrm>
              <a:off x="3028950" y="5715000"/>
              <a:ext cx="1123950" cy="342900"/>
            </a:xfrm>
            <a:prstGeom prst="roundRect">
              <a:avLst>
                <a:gd name="adj" fmla="val 11111"/>
              </a:avLst>
            </a:prstGeom>
            <a:solidFill>
              <a:srgbClr val="FFFFFF"/>
            </a:solidFill>
            <a:ln w="9525">
              <a:solidFill>
                <a:srgbClr val="E74726"/>
              </a:solidFill>
            </a:ln>
          </p:spPr>
        </p:sp>
        <p:sp>
          <p:nvSpPr>
            <p:cNvPr id="32" name="TextBox 32"/>
            <p:cNvSpPr txBox="1"/>
            <p:nvPr/>
          </p:nvSpPr>
          <p:spPr>
            <a:xfrm>
              <a:off x="3333750" y="5776912"/>
              <a:ext cx="514350"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任务解锁型</a:t>
              </a:r>
            </a:p>
          </p:txBody>
        </p:sp>
        <p:sp>
          <p:nvSpPr>
            <p:cNvPr id="33" name="TextBox 33"/>
            <p:cNvSpPr txBox="1"/>
            <p:nvPr/>
          </p:nvSpPr>
          <p:spPr>
            <a:xfrm>
              <a:off x="3384232" y="5919788"/>
              <a:ext cx="413385"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绑卡活动</a:t>
              </a:r>
            </a:p>
          </p:txBody>
        </p:sp>
        <p:sp>
          <p:nvSpPr>
            <p:cNvPr id="34" name="Rectangle 34"/>
            <p:cNvSpPr/>
            <p:nvPr/>
          </p:nvSpPr>
          <p:spPr>
            <a:xfrm>
              <a:off x="495300" y="6172200"/>
              <a:ext cx="3771900" cy="76200"/>
            </a:xfrm>
            <a:prstGeom prst="rect">
              <a:avLst/>
            </a:prstGeom>
            <a:solidFill>
              <a:srgbClr val="E74726"/>
            </a:solidFill>
            <a:ln>
              <a:noFill/>
            </a:ln>
          </p:spPr>
        </p:sp>
      </p:grpSp>
      <p:grpSp>
        <p:nvGrpSpPr>
          <p:cNvPr id="59" name="step-2"/>
          <p:cNvGrpSpPr/>
          <p:nvPr/>
        </p:nvGrpSpPr>
        <p:grpSpPr>
          <a:xfrm>
            <a:off x="4419600" y="1962150"/>
            <a:ext cx="3695700" cy="4286250"/>
            <a:chOff x="4419600" y="1962150"/>
            <a:chExt cx="3695700" cy="4286250"/>
          </a:xfrm>
        </p:grpSpPr>
        <p:sp>
          <p:nvSpPr>
            <p:cNvPr id="36" name="Rectangle 36"/>
            <p:cNvSpPr/>
            <p:nvPr/>
          </p:nvSpPr>
          <p:spPr>
            <a:xfrm>
              <a:off x="4419600" y="1962150"/>
              <a:ext cx="3695700" cy="4286250"/>
            </a:xfrm>
            <a:prstGeom prst="roundRect">
              <a:avLst>
                <a:gd name="adj" fmla="val 2062"/>
              </a:avLst>
            </a:prstGeom>
            <a:solidFill>
              <a:srgbClr val="FFFFFF"/>
            </a:solidFill>
            <a:ln w="9525">
              <a:solidFill>
                <a:srgbClr val="DCE8FB"/>
              </a:solidFill>
            </a:ln>
          </p:spPr>
        </p:sp>
        <p:sp>
          <p:nvSpPr>
            <p:cNvPr id="37" name="Ellipse 37"/>
            <p:cNvSpPr/>
            <p:nvPr/>
          </p:nvSpPr>
          <p:spPr>
            <a:xfrm>
              <a:off x="4572000" y="2114550"/>
              <a:ext cx="381000" cy="381000"/>
            </a:xfrm>
            <a:prstGeom prst="ellipse">
              <a:avLst/>
            </a:prstGeom>
            <a:solidFill>
              <a:srgbClr val="E74726"/>
            </a:solidFill>
            <a:ln>
              <a:noFill/>
            </a:ln>
          </p:spPr>
        </p:sp>
        <p:sp>
          <p:nvSpPr>
            <p:cNvPr id="38" name="TextBox 38"/>
            <p:cNvSpPr txBox="1"/>
            <p:nvPr/>
          </p:nvSpPr>
          <p:spPr>
            <a:xfrm>
              <a:off x="4684169" y="225694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02</a:t>
              </a:r>
            </a:p>
          </p:txBody>
        </p:sp>
        <p:sp>
          <p:nvSpPr>
            <p:cNvPr id="39" name="TextBox 39"/>
            <p:cNvSpPr txBox="1"/>
            <p:nvPr/>
          </p:nvSpPr>
          <p:spPr>
            <a:xfrm>
              <a:off x="5042535" y="2145506"/>
              <a:ext cx="614528" cy="220028"/>
            </a:xfrm>
            <a:prstGeom prst="rect">
              <a:avLst/>
            </a:prstGeom>
            <a:noFill/>
            <a:ln>
              <a:noFill/>
            </a:ln>
          </p:spPr>
          <p:txBody>
            <a:bodyPr wrap="none" lIns="0" tIns="0" rIns="0" bIns="0" anchor="t" anchorCtr="0">
              <a:spAutoFit/>
            </a:bodyPr>
            <a:lstStyle/>
            <a:p>
              <a:pPr algn="l"/>
              <a:r>
                <a:rPr lang="zh-CN" sz="1120" b="1" dirty="0">
                  <a:solidFill>
                    <a:srgbClr val="E74726"/>
                  </a:solidFill>
                  <a:latin typeface="+mn-lt"/>
                  <a:ea typeface="+mn-ea"/>
                  <a:cs typeface="+mn-cs"/>
                </a:rPr>
                <a:t>生活消费</a:t>
              </a:r>
            </a:p>
          </p:txBody>
        </p:sp>
        <p:sp>
          <p:nvSpPr>
            <p:cNvPr id="40" name="TextBox 40"/>
            <p:cNvSpPr txBox="1"/>
            <p:nvPr/>
          </p:nvSpPr>
          <p:spPr>
            <a:xfrm>
              <a:off x="5043488" y="2364343"/>
              <a:ext cx="935711" cy="169069"/>
            </a:xfrm>
            <a:prstGeom prst="rect">
              <a:avLst/>
            </a:prstGeom>
            <a:noFill/>
            <a:ln>
              <a:noFill/>
            </a:ln>
          </p:spPr>
          <p:txBody>
            <a:bodyPr wrap="none" lIns="0" tIns="0" rIns="0" bIns="0" anchor="t" anchorCtr="0">
              <a:spAutoFit/>
            </a:bodyPr>
            <a:lstStyle/>
            <a:p>
              <a:pPr algn="l"/>
              <a:r>
                <a:rPr lang="zh-CN" sz="860" b="1" dirty="0">
                  <a:solidFill>
                    <a:srgbClr val="E0462C"/>
                  </a:solidFill>
                  <a:latin typeface="+mn-lt"/>
                  <a:ea typeface="+mn-ea"/>
                  <a:cs typeface="+mn-cs"/>
                </a:rPr>
                <a:t>价值链路加速引擎</a:t>
              </a:r>
            </a:p>
          </p:txBody>
        </p:sp>
        <p:sp>
          <p:nvSpPr>
            <p:cNvPr id="41" name="TextBox 41"/>
            <p:cNvSpPr txBox="1"/>
            <p:nvPr/>
          </p:nvSpPr>
          <p:spPr>
            <a:xfrm>
              <a:off x="4586288" y="2753439"/>
              <a:ext cx="2136521"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阶段定位：</a:t>
              </a:r>
              <a:r>
                <a:rPr lang="zh-CN" sz="790" dirty="0">
                  <a:solidFill>
                    <a:srgbClr val="523833"/>
                  </a:solidFill>
                  <a:latin typeface="+mn-lt"/>
                  <a:ea typeface="+mn-ea"/>
                  <a:cs typeface="+mn-cs"/>
                </a:rPr>
                <a:t>推动客户将绑定的银行卡用起来、</a:t>
              </a:r>
            </a:p>
          </p:txBody>
        </p:sp>
        <p:sp>
          <p:nvSpPr>
            <p:cNvPr id="42" name="TextBox 42"/>
            <p:cNvSpPr txBox="1"/>
            <p:nvPr/>
          </p:nvSpPr>
          <p:spPr>
            <a:xfrm>
              <a:off x="4586288" y="2924889"/>
              <a:ext cx="2179061"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高频用，实现从“静态绑卡”到“动态活卡”​​​​</a:t>
              </a:r>
            </a:p>
          </p:txBody>
        </p:sp>
        <p:sp>
          <p:nvSpPr>
            <p:cNvPr id="43" name="TextBox 43"/>
            <p:cNvSpPr txBox="1"/>
            <p:nvPr/>
          </p:nvSpPr>
          <p:spPr>
            <a:xfrm>
              <a:off x="4586288" y="3096339"/>
              <a:ext cx="551909"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的转变。​​</a:t>
              </a:r>
            </a:p>
          </p:txBody>
        </p:sp>
        <p:sp>
          <p:nvSpPr>
            <p:cNvPr id="44" name="TextBox 44"/>
            <p:cNvSpPr txBox="1"/>
            <p:nvPr/>
          </p:nvSpPr>
          <p:spPr>
            <a:xfrm>
              <a:off x="4586288" y="3324939"/>
              <a:ext cx="2030171"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核心痛点：</a:t>
              </a:r>
              <a:r>
                <a:rPr lang="zh-CN" sz="790" dirty="0">
                  <a:solidFill>
                    <a:srgbClr val="523833"/>
                  </a:solidFill>
                  <a:latin typeface="+mn-lt"/>
                  <a:ea typeface="+mn-ea"/>
                  <a:cs typeface="+mn-cs"/>
                </a:rPr>
                <a:t>只绑卡不引导使用，客户易二次</a:t>
              </a:r>
            </a:p>
          </p:txBody>
        </p:sp>
        <p:sp>
          <p:nvSpPr>
            <p:cNvPr id="45" name="TextBox 45"/>
            <p:cNvSpPr txBox="1"/>
            <p:nvPr/>
          </p:nvSpPr>
          <p:spPr>
            <a:xfrm>
              <a:off x="4586288" y="3496389"/>
              <a:ext cx="10730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沉睡，浪费获客投入。</a:t>
              </a:r>
            </a:p>
          </p:txBody>
        </p:sp>
        <p:sp>
          <p:nvSpPr>
            <p:cNvPr id="46" name="TextBox 46"/>
            <p:cNvSpPr txBox="1"/>
            <p:nvPr/>
          </p:nvSpPr>
          <p:spPr>
            <a:xfrm>
              <a:off x="4586288" y="3724989"/>
              <a:ext cx="2030171"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运营逻辑：</a:t>
              </a:r>
              <a:r>
                <a:rPr lang="zh-CN" sz="790" dirty="0">
                  <a:solidFill>
                    <a:srgbClr val="523833"/>
                  </a:solidFill>
                  <a:latin typeface="+mn-lt"/>
                  <a:ea typeface="+mn-ea"/>
                  <a:cs typeface="+mn-cs"/>
                </a:rPr>
                <a:t>借助衣食住行低门槛高频场景，</a:t>
              </a:r>
            </a:p>
          </p:txBody>
        </p:sp>
        <p:sp>
          <p:nvSpPr>
            <p:cNvPr id="47" name="TextBox 47"/>
            <p:cNvSpPr txBox="1"/>
            <p:nvPr/>
          </p:nvSpPr>
          <p:spPr>
            <a:xfrm>
              <a:off x="4586288" y="3896439"/>
              <a:ext cx="2030171"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常态化权益激活支付行为，提升动户率与粘</a:t>
              </a:r>
            </a:p>
          </p:txBody>
        </p:sp>
        <p:sp>
          <p:nvSpPr>
            <p:cNvPr id="48" name="TextBox 48"/>
            <p:cNvSpPr txBox="1"/>
            <p:nvPr/>
          </p:nvSpPr>
          <p:spPr>
            <a:xfrm>
              <a:off x="4586288" y="4067889"/>
              <a:ext cx="183874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性，打通卡活-资产-资金滚动链条。​​</a:t>
              </a:r>
            </a:p>
          </p:txBody>
        </p:sp>
        <p:sp>
          <p:nvSpPr>
            <p:cNvPr id="49" name="Rectangle 49"/>
            <p:cNvSpPr/>
            <p:nvPr/>
          </p:nvSpPr>
          <p:spPr>
            <a:xfrm>
              <a:off x="4552950" y="5715000"/>
              <a:ext cx="1123950" cy="342900"/>
            </a:xfrm>
            <a:prstGeom prst="roundRect">
              <a:avLst>
                <a:gd name="adj" fmla="val 11111"/>
              </a:avLst>
            </a:prstGeom>
            <a:solidFill>
              <a:srgbClr val="FFFFFF"/>
            </a:solidFill>
            <a:ln w="9525">
              <a:solidFill>
                <a:srgbClr val="E74726"/>
              </a:solidFill>
            </a:ln>
          </p:spPr>
        </p:sp>
        <p:sp>
          <p:nvSpPr>
            <p:cNvPr id="50" name="TextBox 50"/>
            <p:cNvSpPr txBox="1"/>
            <p:nvPr/>
          </p:nvSpPr>
          <p:spPr>
            <a:xfrm>
              <a:off x="4829985" y="5776912"/>
              <a:ext cx="569881"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场景化满减/</a:t>
              </a:r>
            </a:p>
          </p:txBody>
        </p:sp>
        <p:sp>
          <p:nvSpPr>
            <p:cNvPr id="51" name="TextBox 51"/>
            <p:cNvSpPr txBox="1"/>
            <p:nvPr/>
          </p:nvSpPr>
          <p:spPr>
            <a:xfrm>
              <a:off x="4908232" y="5919788"/>
              <a:ext cx="413385"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返现活动</a:t>
              </a:r>
            </a:p>
          </p:txBody>
        </p:sp>
        <p:sp>
          <p:nvSpPr>
            <p:cNvPr id="52" name="Rectangle 52"/>
            <p:cNvSpPr/>
            <p:nvPr/>
          </p:nvSpPr>
          <p:spPr>
            <a:xfrm>
              <a:off x="5753100" y="5715000"/>
              <a:ext cx="1123950" cy="342900"/>
            </a:xfrm>
            <a:prstGeom prst="roundRect">
              <a:avLst>
                <a:gd name="adj" fmla="val 11111"/>
              </a:avLst>
            </a:prstGeom>
            <a:solidFill>
              <a:srgbClr val="FFFFFF"/>
            </a:solidFill>
            <a:ln w="9525">
              <a:solidFill>
                <a:srgbClr val="E74726"/>
              </a:solidFill>
            </a:ln>
          </p:spPr>
        </p:sp>
        <p:sp>
          <p:nvSpPr>
            <p:cNvPr id="53" name="TextBox 53"/>
            <p:cNvSpPr txBox="1"/>
            <p:nvPr/>
          </p:nvSpPr>
          <p:spPr>
            <a:xfrm>
              <a:off x="6057900" y="5776912"/>
              <a:ext cx="514350"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消费达标进</a:t>
              </a:r>
            </a:p>
          </p:txBody>
        </p:sp>
        <p:sp>
          <p:nvSpPr>
            <p:cNvPr id="54" name="TextBox 54"/>
            <p:cNvSpPr txBox="1"/>
            <p:nvPr/>
          </p:nvSpPr>
          <p:spPr>
            <a:xfrm>
              <a:off x="6158865" y="5919788"/>
              <a:ext cx="312420"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阶活动</a:t>
              </a:r>
            </a:p>
          </p:txBody>
        </p:sp>
        <p:sp>
          <p:nvSpPr>
            <p:cNvPr id="55" name="Rectangle 55"/>
            <p:cNvSpPr/>
            <p:nvPr/>
          </p:nvSpPr>
          <p:spPr>
            <a:xfrm>
              <a:off x="6953250" y="5715000"/>
              <a:ext cx="1047750" cy="342900"/>
            </a:xfrm>
            <a:prstGeom prst="roundRect">
              <a:avLst>
                <a:gd name="adj" fmla="val 11111"/>
              </a:avLst>
            </a:prstGeom>
            <a:solidFill>
              <a:srgbClr val="FFFFFF"/>
            </a:solidFill>
            <a:ln w="9525">
              <a:solidFill>
                <a:srgbClr val="E74726"/>
              </a:solidFill>
            </a:ln>
          </p:spPr>
        </p:sp>
        <p:sp>
          <p:nvSpPr>
            <p:cNvPr id="56" name="TextBox 56"/>
            <p:cNvSpPr txBox="1"/>
            <p:nvPr/>
          </p:nvSpPr>
          <p:spPr>
            <a:xfrm>
              <a:off x="7219950" y="5776912"/>
              <a:ext cx="514350"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节日主题营</a:t>
              </a:r>
            </a:p>
          </p:txBody>
        </p:sp>
        <p:sp>
          <p:nvSpPr>
            <p:cNvPr id="57" name="TextBox 57"/>
            <p:cNvSpPr txBox="1"/>
            <p:nvPr/>
          </p:nvSpPr>
          <p:spPr>
            <a:xfrm>
              <a:off x="7320915" y="5919788"/>
              <a:ext cx="312420"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销活动</a:t>
              </a:r>
            </a:p>
          </p:txBody>
        </p:sp>
        <p:sp>
          <p:nvSpPr>
            <p:cNvPr id="58" name="Rectangle 58"/>
            <p:cNvSpPr/>
            <p:nvPr/>
          </p:nvSpPr>
          <p:spPr>
            <a:xfrm>
              <a:off x="4419600" y="6172200"/>
              <a:ext cx="3695700" cy="76200"/>
            </a:xfrm>
            <a:prstGeom prst="rect">
              <a:avLst/>
            </a:prstGeom>
            <a:solidFill>
              <a:srgbClr val="E74726"/>
            </a:solidFill>
            <a:ln>
              <a:noFill/>
            </a:ln>
          </p:spPr>
        </p:sp>
      </p:grpSp>
      <p:grpSp>
        <p:nvGrpSpPr>
          <p:cNvPr id="76" name="step-3"/>
          <p:cNvGrpSpPr/>
          <p:nvPr/>
        </p:nvGrpSpPr>
        <p:grpSpPr>
          <a:xfrm>
            <a:off x="8229600" y="1295400"/>
            <a:ext cx="3619500" cy="4953000"/>
            <a:chOff x="8229600" y="1295400"/>
            <a:chExt cx="3619500" cy="4953000"/>
          </a:xfrm>
        </p:grpSpPr>
        <p:sp>
          <p:nvSpPr>
            <p:cNvPr id="60" name="Rectangle 60"/>
            <p:cNvSpPr/>
            <p:nvPr/>
          </p:nvSpPr>
          <p:spPr>
            <a:xfrm>
              <a:off x="8229600" y="1295400"/>
              <a:ext cx="3619500" cy="4953000"/>
            </a:xfrm>
            <a:prstGeom prst="roundRect">
              <a:avLst>
                <a:gd name="adj" fmla="val 2105"/>
              </a:avLst>
            </a:prstGeom>
            <a:solidFill>
              <a:srgbClr val="FFFFFF"/>
            </a:solidFill>
            <a:ln w="9525">
              <a:solidFill>
                <a:srgbClr val="DCE8FB"/>
              </a:solidFill>
            </a:ln>
          </p:spPr>
        </p:sp>
        <p:sp>
          <p:nvSpPr>
            <p:cNvPr id="61" name="Ellipse 61"/>
            <p:cNvSpPr/>
            <p:nvPr/>
          </p:nvSpPr>
          <p:spPr>
            <a:xfrm>
              <a:off x="8382000" y="1447800"/>
              <a:ext cx="381000" cy="381000"/>
            </a:xfrm>
            <a:prstGeom prst="ellipse">
              <a:avLst/>
            </a:prstGeom>
            <a:solidFill>
              <a:srgbClr val="E74726"/>
            </a:solidFill>
            <a:ln>
              <a:noFill/>
            </a:ln>
          </p:spPr>
        </p:sp>
        <p:sp>
          <p:nvSpPr>
            <p:cNvPr id="62" name="TextBox 62"/>
            <p:cNvSpPr txBox="1"/>
            <p:nvPr/>
          </p:nvSpPr>
          <p:spPr>
            <a:xfrm>
              <a:off x="8494169" y="159019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03</a:t>
              </a:r>
            </a:p>
          </p:txBody>
        </p:sp>
        <p:sp>
          <p:nvSpPr>
            <p:cNvPr id="63" name="TextBox 63"/>
            <p:cNvSpPr txBox="1"/>
            <p:nvPr/>
          </p:nvSpPr>
          <p:spPr>
            <a:xfrm>
              <a:off x="8852535" y="1478756"/>
              <a:ext cx="614528" cy="220028"/>
            </a:xfrm>
            <a:prstGeom prst="rect">
              <a:avLst/>
            </a:prstGeom>
            <a:noFill/>
            <a:ln>
              <a:noFill/>
            </a:ln>
          </p:spPr>
          <p:txBody>
            <a:bodyPr wrap="none" lIns="0" tIns="0" rIns="0" bIns="0" anchor="t" anchorCtr="0">
              <a:spAutoFit/>
            </a:bodyPr>
            <a:lstStyle/>
            <a:p>
              <a:pPr algn="l"/>
              <a:r>
                <a:rPr lang="zh-CN" sz="1120" b="1" dirty="0">
                  <a:solidFill>
                    <a:srgbClr val="E74726"/>
                  </a:solidFill>
                  <a:latin typeface="+mn-lt"/>
                  <a:ea typeface="+mn-ea"/>
                  <a:cs typeface="+mn-cs"/>
                </a:rPr>
                <a:t>财富进阶</a:t>
              </a:r>
            </a:p>
          </p:txBody>
        </p:sp>
        <p:sp>
          <p:nvSpPr>
            <p:cNvPr id="64" name="TextBox 64"/>
            <p:cNvSpPr txBox="1"/>
            <p:nvPr/>
          </p:nvSpPr>
          <p:spPr>
            <a:xfrm>
              <a:off x="8853488" y="1697593"/>
              <a:ext cx="935711" cy="169069"/>
            </a:xfrm>
            <a:prstGeom prst="rect">
              <a:avLst/>
            </a:prstGeom>
            <a:noFill/>
            <a:ln>
              <a:noFill/>
            </a:ln>
          </p:spPr>
          <p:txBody>
            <a:bodyPr wrap="none" lIns="0" tIns="0" rIns="0" bIns="0" anchor="t" anchorCtr="0">
              <a:spAutoFit/>
            </a:bodyPr>
            <a:lstStyle/>
            <a:p>
              <a:pPr algn="l"/>
              <a:r>
                <a:rPr lang="zh-CN" sz="860" b="1" dirty="0">
                  <a:solidFill>
                    <a:srgbClr val="E0462C"/>
                  </a:solidFill>
                  <a:latin typeface="+mn-lt"/>
                  <a:ea typeface="+mn-ea"/>
                  <a:cs typeface="+mn-cs"/>
                </a:rPr>
                <a:t>价值链路终极跃迁</a:t>
              </a:r>
            </a:p>
          </p:txBody>
        </p:sp>
        <p:sp>
          <p:nvSpPr>
            <p:cNvPr id="65" name="TextBox 65"/>
            <p:cNvSpPr txBox="1"/>
            <p:nvPr/>
          </p:nvSpPr>
          <p:spPr>
            <a:xfrm>
              <a:off x="8396288" y="2086689"/>
              <a:ext cx="2136521"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阶段定位：</a:t>
              </a:r>
              <a:r>
                <a:rPr lang="zh-CN" sz="790" dirty="0">
                  <a:solidFill>
                    <a:srgbClr val="523833"/>
                  </a:solidFill>
                  <a:latin typeface="+mn-lt"/>
                  <a:ea typeface="+mn-ea"/>
                  <a:cs typeface="+mn-cs"/>
                </a:rPr>
                <a:t>长尾客群运营最终目标，打破低资</a:t>
              </a:r>
            </a:p>
          </p:txBody>
        </p:sp>
        <p:sp>
          <p:nvSpPr>
            <p:cNvPr id="66" name="TextBox 66"/>
            <p:cNvSpPr txBox="1"/>
            <p:nvPr/>
          </p:nvSpPr>
          <p:spPr>
            <a:xfrm>
              <a:off x="8396288" y="2258139"/>
              <a:ext cx="1923821"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产、低沉淀现状，实现资产实质性增长。</a:t>
              </a:r>
            </a:p>
          </p:txBody>
        </p:sp>
        <p:sp>
          <p:nvSpPr>
            <p:cNvPr id="67" name="TextBox 67"/>
            <p:cNvSpPr txBox="1"/>
            <p:nvPr/>
          </p:nvSpPr>
          <p:spPr>
            <a:xfrm>
              <a:off x="8396288" y="2486739"/>
              <a:ext cx="2136521" cy="154781"/>
            </a:xfrm>
            <a:prstGeom prst="rect">
              <a:avLst/>
            </a:prstGeom>
            <a:noFill/>
            <a:ln>
              <a:noFill/>
            </a:ln>
          </p:spPr>
          <p:txBody>
            <a:bodyPr wrap="none" lIns="0" tIns="0" rIns="0" bIns="0" anchor="t" anchorCtr="0">
              <a:spAutoFit/>
            </a:bodyPr>
            <a:lstStyle/>
            <a:p>
              <a:pPr algn="l"/>
              <a:r>
                <a:rPr lang="zh-CN" sz="790" b="1" dirty="0">
                  <a:solidFill>
                    <a:srgbClr val="E74726"/>
                  </a:solidFill>
                  <a:latin typeface="+mn-lt"/>
                  <a:ea typeface="+mn-ea"/>
                  <a:cs typeface="+mn-cs"/>
                </a:rPr>
                <a:t>运营逻辑：</a:t>
              </a:r>
              <a:r>
                <a:rPr lang="zh-CN" sz="790" dirty="0">
                  <a:solidFill>
                    <a:srgbClr val="523833"/>
                  </a:solidFill>
                  <a:latin typeface="+mn-lt"/>
                  <a:ea typeface="+mn-ea"/>
                  <a:cs typeface="+mn-cs"/>
                </a:rPr>
                <a:t>承接绑卡、消费阶段基础，遵循低</a:t>
              </a:r>
            </a:p>
          </p:txBody>
        </p:sp>
        <p:sp>
          <p:nvSpPr>
            <p:cNvPr id="68" name="TextBox 68"/>
            <p:cNvSpPr txBox="1"/>
            <p:nvPr/>
          </p:nvSpPr>
          <p:spPr>
            <a:xfrm>
              <a:off x="8396288" y="2658189"/>
              <a:ext cx="2136521"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门槛切入、高权益感知原则开展财富类活动。</a:t>
              </a:r>
            </a:p>
          </p:txBody>
        </p:sp>
        <p:sp>
          <p:nvSpPr>
            <p:cNvPr id="69" name="Rectangle 69"/>
            <p:cNvSpPr/>
            <p:nvPr/>
          </p:nvSpPr>
          <p:spPr>
            <a:xfrm>
              <a:off x="8401050" y="4476750"/>
              <a:ext cx="3276600" cy="323850"/>
            </a:xfrm>
            <a:prstGeom prst="roundRect">
              <a:avLst>
                <a:gd name="adj" fmla="val 11765"/>
              </a:avLst>
            </a:prstGeom>
            <a:solidFill>
              <a:srgbClr val="FFFFFF"/>
            </a:solidFill>
            <a:ln w="9525">
              <a:solidFill>
                <a:srgbClr val="E74726"/>
              </a:solidFill>
            </a:ln>
          </p:spPr>
        </p:sp>
        <p:sp>
          <p:nvSpPr>
            <p:cNvPr id="70" name="TextBox 70"/>
            <p:cNvSpPr txBox="1"/>
            <p:nvPr/>
          </p:nvSpPr>
          <p:spPr>
            <a:xfrm>
              <a:off x="9537840" y="4597241"/>
              <a:ext cx="1003021"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多档位资产提升活动</a:t>
              </a:r>
            </a:p>
          </p:txBody>
        </p:sp>
        <p:sp>
          <p:nvSpPr>
            <p:cNvPr id="71" name="Rectangle 71"/>
            <p:cNvSpPr/>
            <p:nvPr/>
          </p:nvSpPr>
          <p:spPr>
            <a:xfrm>
              <a:off x="8401050" y="4914900"/>
              <a:ext cx="3276600" cy="323850"/>
            </a:xfrm>
            <a:prstGeom prst="roundRect">
              <a:avLst>
                <a:gd name="adj" fmla="val 11765"/>
              </a:avLst>
            </a:prstGeom>
            <a:solidFill>
              <a:srgbClr val="FFFFFF"/>
            </a:solidFill>
            <a:ln w="9525">
              <a:solidFill>
                <a:srgbClr val="E74726"/>
              </a:solidFill>
            </a:ln>
          </p:spPr>
        </p:sp>
        <p:sp>
          <p:nvSpPr>
            <p:cNvPr id="72" name="TextBox 72"/>
            <p:cNvSpPr txBox="1"/>
            <p:nvPr/>
          </p:nvSpPr>
          <p:spPr>
            <a:xfrm>
              <a:off x="9256349" y="5035391"/>
              <a:ext cx="1566001"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区分月日均、时点资产2种维度​</a:t>
              </a:r>
            </a:p>
          </p:txBody>
        </p:sp>
        <p:sp>
          <p:nvSpPr>
            <p:cNvPr id="73" name="Rectangle 73"/>
            <p:cNvSpPr/>
            <p:nvPr/>
          </p:nvSpPr>
          <p:spPr>
            <a:xfrm>
              <a:off x="8401050" y="5353050"/>
              <a:ext cx="3276600" cy="323850"/>
            </a:xfrm>
            <a:prstGeom prst="roundRect">
              <a:avLst>
                <a:gd name="adj" fmla="val 11765"/>
              </a:avLst>
            </a:prstGeom>
            <a:solidFill>
              <a:srgbClr val="FFFFFF"/>
            </a:solidFill>
            <a:ln w="9525">
              <a:solidFill>
                <a:srgbClr val="E74726"/>
              </a:solidFill>
            </a:ln>
          </p:spPr>
        </p:sp>
        <p:sp>
          <p:nvSpPr>
            <p:cNvPr id="74" name="TextBox 74"/>
            <p:cNvSpPr txBox="1"/>
            <p:nvPr/>
          </p:nvSpPr>
          <p:spPr>
            <a:xfrm>
              <a:off x="9593034" y="5473541"/>
              <a:ext cx="892632"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资产达标留存活动</a:t>
              </a:r>
            </a:p>
          </p:txBody>
        </p:sp>
        <p:sp>
          <p:nvSpPr>
            <p:cNvPr id="75" name="Rectangle 75"/>
            <p:cNvSpPr/>
            <p:nvPr/>
          </p:nvSpPr>
          <p:spPr>
            <a:xfrm>
              <a:off x="8229600" y="6172200"/>
              <a:ext cx="3619500" cy="76200"/>
            </a:xfrm>
            <a:prstGeom prst="rect">
              <a:avLst/>
            </a:prstGeom>
            <a:solidFill>
              <a:srgbClr val="E74726"/>
            </a:solidFill>
            <a:ln>
              <a:noFill/>
            </a:ln>
          </p:spPr>
        </p:sp>
      </p:grpSp>
      <p:sp>
        <p:nvSpPr>
          <p:cNvPr id="77" name="TextBox 77"/>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12</a:t>
              </a:r>
            </a:p>
          </p:txBody>
        </p:sp>
        <p:sp>
          <p:nvSpPr>
            <p:cNvPr id="4" name="TextBox 4"/>
            <p:cNvSpPr txBox="1"/>
            <p:nvPr/>
          </p:nvSpPr>
          <p:spPr>
            <a:xfrm>
              <a:off x="942594" y="151448"/>
              <a:ext cx="6861787"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2.2.1 活动运营｜支付绑卡——价值链路的</a:t>
              </a:r>
              <a:r>
                <a:rPr lang="zh-CN" sz="1950" b="1" dirty="0">
                  <a:solidFill>
                    <a:srgbClr val="E74726"/>
                  </a:solidFill>
                  <a:latin typeface="SimSun"/>
                  <a:ea typeface="SimSun"/>
                  <a:cs typeface="SimSun"/>
                </a:rPr>
                <a:t>“第一台阶”</a:t>
              </a:r>
              <a:r>
                <a:rPr lang="zh-CN" sz="1950" b="1" dirty="0">
                  <a:solidFill>
                    <a:srgbClr val="1F1F1F"/>
                  </a:solidFill>
                  <a:latin typeface="SimSun"/>
                  <a:ea typeface="SimSun"/>
                  <a:cs typeface="SimSun"/>
                </a:rPr>
                <a:t>​​</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377623" cy="551260"/>
            <a:chOff x="566166" y="667702"/>
            <a:chExt cx="6377623" cy="551260"/>
          </a:xfrm>
        </p:grpSpPr>
        <p:sp>
          <p:nvSpPr>
            <p:cNvPr id="8" name="TextBox 8"/>
            <p:cNvSpPr txBox="1"/>
            <p:nvPr/>
          </p:nvSpPr>
          <p:spPr>
            <a:xfrm>
              <a:off x="566166" y="667702"/>
              <a:ext cx="3968496"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支付绑卡是长尾客户从静态账户转向线上可运营活客的关键门槛</a:t>
              </a:r>
            </a:p>
          </p:txBody>
        </p:sp>
        <p:sp>
          <p:nvSpPr>
            <p:cNvPr id="9" name="TextBox 9"/>
            <p:cNvSpPr txBox="1"/>
            <p:nvPr/>
          </p:nvSpPr>
          <p:spPr>
            <a:xfrm>
              <a:off x="566738" y="887968"/>
              <a:ext cx="6377051"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绑卡阶段的运营核心在于降低操作门槛、放大即时权益，以低门槛、高感知的利益点驱动客户主动完成绑卡转化，商业银行撬</a:t>
              </a:r>
            </a:p>
          </p:txBody>
        </p:sp>
        <p:sp>
          <p:nvSpPr>
            <p:cNvPr id="10" name="TextBox 10"/>
            <p:cNvSpPr txBox="1"/>
            <p:nvPr/>
          </p:nvSpPr>
          <p:spPr>
            <a:xfrm>
              <a:off x="566738" y="1049893"/>
              <a:ext cx="5103546"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动长尾客群完成支付绑卡，主要有直接性绑卡、场景嵌入型绑卡、任务解锁型绑卡三类活动活动形式</a:t>
              </a:r>
            </a:p>
          </p:txBody>
        </p:sp>
      </p:grpSp>
      <p:grpSp>
        <p:nvGrpSpPr>
          <p:cNvPr id="70" name="col-direct"/>
          <p:cNvGrpSpPr/>
          <p:nvPr/>
        </p:nvGrpSpPr>
        <p:grpSpPr>
          <a:xfrm>
            <a:off x="414338" y="1276350"/>
            <a:ext cx="3586162" cy="5038726"/>
            <a:chOff x="414338" y="1276350"/>
            <a:chExt cx="3586162" cy="5038726"/>
          </a:xfrm>
        </p:grpSpPr>
        <p:sp>
          <p:nvSpPr>
            <p:cNvPr id="12" name="Ellipse 12"/>
            <p:cNvSpPr/>
            <p:nvPr/>
          </p:nvSpPr>
          <p:spPr>
            <a:xfrm>
              <a:off x="438150" y="1276350"/>
              <a:ext cx="342900" cy="342900"/>
            </a:xfrm>
            <a:prstGeom prst="ellipse">
              <a:avLst/>
            </a:prstGeom>
            <a:solidFill>
              <a:srgbClr val="E74726"/>
            </a:solidFill>
            <a:ln>
              <a:noFill/>
            </a:ln>
          </p:spPr>
        </p:sp>
        <p:sp>
          <p:nvSpPr>
            <p:cNvPr id="13" name="TextBox 13"/>
            <p:cNvSpPr txBox="1"/>
            <p:nvPr/>
          </p:nvSpPr>
          <p:spPr>
            <a:xfrm>
              <a:off x="531269" y="139969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01</a:t>
              </a:r>
            </a:p>
          </p:txBody>
        </p:sp>
        <p:sp>
          <p:nvSpPr>
            <p:cNvPr id="14" name="Rectangle 14"/>
            <p:cNvSpPr/>
            <p:nvPr/>
          </p:nvSpPr>
          <p:spPr>
            <a:xfrm>
              <a:off x="876300" y="1276350"/>
              <a:ext cx="3086100" cy="342900"/>
            </a:xfrm>
            <a:prstGeom prst="roundRect">
              <a:avLst>
                <a:gd name="adj" fmla="val 11111"/>
              </a:avLst>
            </a:prstGeom>
            <a:solidFill>
              <a:srgbClr val="FFFFFF"/>
            </a:solidFill>
            <a:ln w="14288">
              <a:solidFill>
                <a:srgbClr val="E74726"/>
              </a:solidFill>
            </a:ln>
          </p:spPr>
        </p:sp>
        <p:sp>
          <p:nvSpPr>
            <p:cNvPr id="15" name="TextBox 15"/>
            <p:cNvSpPr txBox="1"/>
            <p:nvPr/>
          </p:nvSpPr>
          <p:spPr>
            <a:xfrm>
              <a:off x="1919288" y="1391602"/>
              <a:ext cx="1000125" cy="205359"/>
            </a:xfrm>
            <a:prstGeom prst="rect">
              <a:avLst/>
            </a:prstGeom>
            <a:noFill/>
            <a:ln>
              <a:noFill/>
            </a:ln>
          </p:spPr>
          <p:txBody>
            <a:bodyPr wrap="none" lIns="0" tIns="0" rIns="0" bIns="0" anchor="t" anchorCtr="0">
              <a:spAutoFit/>
            </a:bodyPr>
            <a:lstStyle/>
            <a:p>
              <a:pPr algn="ctr"/>
              <a:r>
                <a:rPr lang="zh-CN" sz="1050" b="1" dirty="0">
                  <a:solidFill>
                    <a:srgbClr val="E74726"/>
                  </a:solidFill>
                  <a:latin typeface="+mn-lt"/>
                  <a:ea typeface="+mn-ea"/>
                  <a:cs typeface="+mn-cs"/>
                </a:rPr>
                <a:t>直接性绑卡活动</a:t>
              </a:r>
            </a:p>
          </p:txBody>
        </p:sp>
        <p:sp>
          <p:nvSpPr>
            <p:cNvPr id="16" name="TextBox 16"/>
            <p:cNvSpPr txBox="1"/>
            <p:nvPr/>
          </p:nvSpPr>
          <p:spPr>
            <a:xfrm>
              <a:off x="414338" y="176569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设计逻辑</a:t>
              </a:r>
            </a:p>
          </p:txBody>
        </p:sp>
        <p:sp>
          <p:nvSpPr>
            <p:cNvPr id="17" name="TextBox 17"/>
            <p:cNvSpPr txBox="1"/>
            <p:nvPr/>
          </p:nvSpPr>
          <p:spPr>
            <a:xfrm>
              <a:off x="1119188" y="1781889"/>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简化流程、即时回馈，降低参与门槛</a:t>
              </a:r>
            </a:p>
          </p:txBody>
        </p:sp>
        <p:sp>
          <p:nvSpPr>
            <p:cNvPr id="18" name="TextBox 18"/>
            <p:cNvSpPr txBox="1"/>
            <p:nvPr/>
          </p:nvSpPr>
          <p:spPr>
            <a:xfrm>
              <a:off x="414338" y="201334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核心玩法</a:t>
              </a:r>
            </a:p>
          </p:txBody>
        </p:sp>
        <p:sp>
          <p:nvSpPr>
            <p:cNvPr id="19" name="TextBox 19"/>
            <p:cNvSpPr txBox="1"/>
            <p:nvPr/>
          </p:nvSpPr>
          <p:spPr>
            <a:xfrm>
              <a:off x="1119188" y="2029539"/>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绑定微信、支付宝、云闪付等主流三</a:t>
              </a:r>
            </a:p>
          </p:txBody>
        </p:sp>
        <p:sp>
          <p:nvSpPr>
            <p:cNvPr id="20" name="TextBox 20"/>
            <p:cNvSpPr txBox="1"/>
            <p:nvPr/>
          </p:nvSpPr>
          <p:spPr>
            <a:xfrm>
              <a:off x="1119188" y="2200989"/>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方支付渠道，立领话费券、微信立减</a:t>
              </a:r>
            </a:p>
          </p:txBody>
        </p:sp>
        <p:sp>
          <p:nvSpPr>
            <p:cNvPr id="21" name="TextBox 21"/>
            <p:cNvSpPr txBox="1"/>
            <p:nvPr/>
          </p:nvSpPr>
          <p:spPr>
            <a:xfrm>
              <a:off x="1119188" y="2372439"/>
              <a:ext cx="64762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金等即时权益</a:t>
              </a:r>
            </a:p>
          </p:txBody>
        </p:sp>
        <p:sp>
          <p:nvSpPr>
            <p:cNvPr id="22" name="TextBox 22"/>
            <p:cNvSpPr txBox="1"/>
            <p:nvPr/>
          </p:nvSpPr>
          <p:spPr>
            <a:xfrm>
              <a:off x="414338" y="260389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活动价值</a:t>
              </a:r>
            </a:p>
          </p:txBody>
        </p:sp>
        <p:sp>
          <p:nvSpPr>
            <p:cNvPr id="23" name="TextBox 23"/>
            <p:cNvSpPr txBox="1"/>
            <p:nvPr/>
          </p:nvSpPr>
          <p:spPr>
            <a:xfrm>
              <a:off x="1119188" y="2620089"/>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规避流程繁琐、权益滞后痛点，快速</a:t>
              </a:r>
            </a:p>
          </p:txBody>
        </p:sp>
        <p:sp>
          <p:nvSpPr>
            <p:cNvPr id="24" name="TextBox 24"/>
            <p:cNvSpPr txBox="1"/>
            <p:nvPr/>
          </p:nvSpPr>
          <p:spPr>
            <a:xfrm>
              <a:off x="1119188" y="2791539"/>
              <a:ext cx="8603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减少长尾客群流失</a:t>
              </a:r>
            </a:p>
          </p:txBody>
        </p:sp>
        <p:sp>
          <p:nvSpPr>
            <p:cNvPr id="25" name="TextBox 25"/>
            <p:cNvSpPr txBox="1"/>
            <p:nvPr/>
          </p:nvSpPr>
          <p:spPr>
            <a:xfrm>
              <a:off x="1452512" y="3221593"/>
              <a:ext cx="1514577" cy="169069"/>
            </a:xfrm>
            <a:prstGeom prst="rect">
              <a:avLst/>
            </a:prstGeom>
            <a:noFill/>
            <a:ln>
              <a:noFill/>
            </a:ln>
          </p:spPr>
          <p:txBody>
            <a:bodyPr wrap="none" lIns="0" tIns="0" rIns="0" bIns="0" anchor="t" anchorCtr="0">
              <a:spAutoFit/>
            </a:bodyPr>
            <a:lstStyle/>
            <a:p>
              <a:pPr algn="ctr"/>
              <a:r>
                <a:rPr lang="zh-CN" sz="860" b="1" dirty="0">
                  <a:solidFill>
                    <a:srgbClr val="E74726"/>
                  </a:solidFill>
                  <a:latin typeface="+mn-lt"/>
                  <a:ea typeface="+mn-ea"/>
                  <a:cs typeface="+mn-cs"/>
                </a:rPr>
                <a:t>商业银行直接性绑卡活动示例</a:t>
              </a:r>
            </a:p>
          </p:txBody>
        </p:sp>
        <p:sp>
          <p:nvSpPr>
            <p:cNvPr id="26" name="Rectangle 26"/>
            <p:cNvSpPr/>
            <p:nvPr/>
          </p:nvSpPr>
          <p:spPr>
            <a:xfrm>
              <a:off x="419100" y="3429000"/>
              <a:ext cx="838200" cy="2590800"/>
            </a:xfrm>
            <a:prstGeom prst="roundRect">
              <a:avLst>
                <a:gd name="adj" fmla="val 9091"/>
              </a:avLst>
            </a:prstGeom>
            <a:solidFill>
              <a:srgbClr val="FFFFFF"/>
            </a:solidFill>
            <a:ln w="9525">
              <a:solidFill>
                <a:srgbClr val="E0E6EF"/>
              </a:solidFill>
            </a:ln>
          </p:spPr>
        </p:sp>
        <p:sp>
          <p:nvSpPr>
            <p:cNvPr id="27" name="Rectangle 27"/>
            <p:cNvSpPr/>
            <p:nvPr/>
          </p:nvSpPr>
          <p:spPr>
            <a:xfrm>
              <a:off x="419100" y="3429000"/>
              <a:ext cx="838200" cy="361950"/>
            </a:xfrm>
            <a:prstGeom prst="roundRect">
              <a:avLst>
                <a:gd name="adj" fmla="val 21053"/>
              </a:avLst>
            </a:prstGeom>
            <a:solidFill>
              <a:srgbClr val="E8553C"/>
            </a:solidFill>
            <a:ln>
              <a:noFill/>
            </a:ln>
          </p:spPr>
        </p:sp>
        <p:sp>
          <p:nvSpPr>
            <p:cNvPr id="28" name="Rectangle 28"/>
            <p:cNvSpPr/>
            <p:nvPr/>
          </p:nvSpPr>
          <p:spPr>
            <a:xfrm>
              <a:off x="495300" y="3886200"/>
              <a:ext cx="685800" cy="66675"/>
            </a:xfrm>
            <a:prstGeom prst="roundRect">
              <a:avLst>
                <a:gd name="adj" fmla="val 42857"/>
              </a:avLst>
            </a:prstGeom>
            <a:solidFill>
              <a:srgbClr val="F0F0F0"/>
            </a:solidFill>
            <a:ln>
              <a:noFill/>
            </a:ln>
          </p:spPr>
        </p:sp>
        <p:sp>
          <p:nvSpPr>
            <p:cNvPr id="29" name="Rectangle 29"/>
            <p:cNvSpPr/>
            <p:nvPr/>
          </p:nvSpPr>
          <p:spPr>
            <a:xfrm>
              <a:off x="495300" y="4038600"/>
              <a:ext cx="533400" cy="66675"/>
            </a:xfrm>
            <a:prstGeom prst="roundRect">
              <a:avLst>
                <a:gd name="adj" fmla="val 42857"/>
              </a:avLst>
            </a:prstGeom>
            <a:solidFill>
              <a:srgbClr val="F0F0F0"/>
            </a:solidFill>
            <a:ln>
              <a:noFill/>
            </a:ln>
          </p:spPr>
        </p:sp>
        <p:sp>
          <p:nvSpPr>
            <p:cNvPr id="30" name="Rectangle 30"/>
            <p:cNvSpPr/>
            <p:nvPr/>
          </p:nvSpPr>
          <p:spPr>
            <a:xfrm>
              <a:off x="495300" y="4248150"/>
              <a:ext cx="685800" cy="438150"/>
            </a:xfrm>
            <a:prstGeom prst="roundRect">
              <a:avLst>
                <a:gd name="adj" fmla="val 8696"/>
              </a:avLst>
            </a:prstGeom>
            <a:solidFill>
              <a:srgbClr val="FDEDEA"/>
            </a:solidFill>
            <a:ln>
              <a:noFill/>
            </a:ln>
          </p:spPr>
        </p:sp>
        <p:sp>
          <p:nvSpPr>
            <p:cNvPr id="31" name="Rectangle 31"/>
            <p:cNvSpPr/>
            <p:nvPr/>
          </p:nvSpPr>
          <p:spPr>
            <a:xfrm>
              <a:off x="571500" y="4343400"/>
              <a:ext cx="381000" cy="152400"/>
            </a:xfrm>
            <a:prstGeom prst="roundRect">
              <a:avLst>
                <a:gd name="adj" fmla="val 50000"/>
              </a:avLst>
            </a:prstGeom>
            <a:solidFill>
              <a:srgbClr val="E8553C"/>
            </a:solidFill>
            <a:ln>
              <a:noFill/>
            </a:ln>
          </p:spPr>
        </p:sp>
        <p:sp>
          <p:nvSpPr>
            <p:cNvPr id="32" name="Rectangle 32"/>
            <p:cNvSpPr/>
            <p:nvPr/>
          </p:nvSpPr>
          <p:spPr>
            <a:xfrm>
              <a:off x="495300" y="4781550"/>
              <a:ext cx="685800" cy="66675"/>
            </a:xfrm>
            <a:prstGeom prst="roundRect">
              <a:avLst>
                <a:gd name="adj" fmla="val 42857"/>
              </a:avLst>
            </a:prstGeom>
            <a:solidFill>
              <a:srgbClr val="F0F0F0"/>
            </a:solidFill>
            <a:ln>
              <a:noFill/>
            </a:ln>
          </p:spPr>
        </p:sp>
        <p:sp>
          <p:nvSpPr>
            <p:cNvPr id="33" name="Rectangle 33"/>
            <p:cNvSpPr/>
            <p:nvPr/>
          </p:nvSpPr>
          <p:spPr>
            <a:xfrm>
              <a:off x="495300" y="4933950"/>
              <a:ext cx="609600" cy="66675"/>
            </a:xfrm>
            <a:prstGeom prst="roundRect">
              <a:avLst>
                <a:gd name="adj" fmla="val 42857"/>
              </a:avLst>
            </a:prstGeom>
            <a:solidFill>
              <a:srgbClr val="F0F0F0"/>
            </a:solidFill>
            <a:ln>
              <a:noFill/>
            </a:ln>
          </p:spPr>
        </p:sp>
        <p:sp>
          <p:nvSpPr>
            <p:cNvPr id="34" name="Rectangle 34"/>
            <p:cNvSpPr/>
            <p:nvPr/>
          </p:nvSpPr>
          <p:spPr>
            <a:xfrm>
              <a:off x="495300" y="5143500"/>
              <a:ext cx="685800" cy="66675"/>
            </a:xfrm>
            <a:prstGeom prst="roundRect">
              <a:avLst>
                <a:gd name="adj" fmla="val 42857"/>
              </a:avLst>
            </a:prstGeom>
            <a:solidFill>
              <a:srgbClr val="F0F0F0"/>
            </a:solidFill>
            <a:ln>
              <a:noFill/>
            </a:ln>
          </p:spPr>
        </p:sp>
        <p:sp>
          <p:nvSpPr>
            <p:cNvPr id="35" name="Rectangle 35"/>
            <p:cNvSpPr/>
            <p:nvPr/>
          </p:nvSpPr>
          <p:spPr>
            <a:xfrm>
              <a:off x="533400" y="5429250"/>
              <a:ext cx="609600" cy="171450"/>
            </a:xfrm>
            <a:prstGeom prst="roundRect">
              <a:avLst>
                <a:gd name="adj" fmla="val 50000"/>
              </a:avLst>
            </a:prstGeom>
            <a:solidFill>
              <a:srgbClr val="E8553C"/>
            </a:solidFill>
            <a:ln>
              <a:noFill/>
            </a:ln>
          </p:spPr>
        </p:sp>
        <p:sp>
          <p:nvSpPr>
            <p:cNvPr id="36" name="Rectangle 36"/>
            <p:cNvSpPr/>
            <p:nvPr/>
          </p:nvSpPr>
          <p:spPr>
            <a:xfrm>
              <a:off x="1333500" y="3429000"/>
              <a:ext cx="838200" cy="2590800"/>
            </a:xfrm>
            <a:prstGeom prst="roundRect">
              <a:avLst>
                <a:gd name="adj" fmla="val 9091"/>
              </a:avLst>
            </a:prstGeom>
            <a:solidFill>
              <a:srgbClr val="FFFFFF"/>
            </a:solidFill>
            <a:ln w="9525">
              <a:solidFill>
                <a:srgbClr val="E0E6EF"/>
              </a:solidFill>
            </a:ln>
          </p:spPr>
        </p:sp>
        <p:sp>
          <p:nvSpPr>
            <p:cNvPr id="37" name="Rectangle 37"/>
            <p:cNvSpPr/>
            <p:nvPr/>
          </p:nvSpPr>
          <p:spPr>
            <a:xfrm>
              <a:off x="1333500" y="3429000"/>
              <a:ext cx="838200" cy="361950"/>
            </a:xfrm>
            <a:prstGeom prst="roundRect">
              <a:avLst>
                <a:gd name="adj" fmla="val 21053"/>
              </a:avLst>
            </a:prstGeom>
            <a:solidFill>
              <a:srgbClr val="E8553C"/>
            </a:solidFill>
            <a:ln>
              <a:noFill/>
            </a:ln>
          </p:spPr>
        </p:sp>
        <p:sp>
          <p:nvSpPr>
            <p:cNvPr id="38" name="Rectangle 38"/>
            <p:cNvSpPr/>
            <p:nvPr/>
          </p:nvSpPr>
          <p:spPr>
            <a:xfrm>
              <a:off x="1409700" y="3886200"/>
              <a:ext cx="685800" cy="66675"/>
            </a:xfrm>
            <a:prstGeom prst="roundRect">
              <a:avLst>
                <a:gd name="adj" fmla="val 42857"/>
              </a:avLst>
            </a:prstGeom>
            <a:solidFill>
              <a:srgbClr val="F0F0F0"/>
            </a:solidFill>
            <a:ln>
              <a:noFill/>
            </a:ln>
          </p:spPr>
        </p:sp>
        <p:sp>
          <p:nvSpPr>
            <p:cNvPr id="39" name="Rectangle 39"/>
            <p:cNvSpPr/>
            <p:nvPr/>
          </p:nvSpPr>
          <p:spPr>
            <a:xfrm>
              <a:off x="1409700" y="4038600"/>
              <a:ext cx="476250" cy="66675"/>
            </a:xfrm>
            <a:prstGeom prst="roundRect">
              <a:avLst>
                <a:gd name="adj" fmla="val 42857"/>
              </a:avLst>
            </a:prstGeom>
            <a:solidFill>
              <a:srgbClr val="F0F0F0"/>
            </a:solidFill>
            <a:ln>
              <a:noFill/>
            </a:ln>
          </p:spPr>
        </p:sp>
        <p:sp>
          <p:nvSpPr>
            <p:cNvPr id="40" name="Rectangle 40"/>
            <p:cNvSpPr/>
            <p:nvPr/>
          </p:nvSpPr>
          <p:spPr>
            <a:xfrm>
              <a:off x="1409700" y="4248150"/>
              <a:ext cx="685800" cy="438150"/>
            </a:xfrm>
            <a:prstGeom prst="roundRect">
              <a:avLst>
                <a:gd name="adj" fmla="val 8696"/>
              </a:avLst>
            </a:prstGeom>
            <a:solidFill>
              <a:srgbClr val="FDEDEA"/>
            </a:solidFill>
            <a:ln>
              <a:noFill/>
            </a:ln>
          </p:spPr>
        </p:sp>
        <p:sp>
          <p:nvSpPr>
            <p:cNvPr id="41" name="Rectangle 41"/>
            <p:cNvSpPr/>
            <p:nvPr/>
          </p:nvSpPr>
          <p:spPr>
            <a:xfrm>
              <a:off x="1485900" y="4343400"/>
              <a:ext cx="381000" cy="152400"/>
            </a:xfrm>
            <a:prstGeom prst="roundRect">
              <a:avLst>
                <a:gd name="adj" fmla="val 50000"/>
              </a:avLst>
            </a:prstGeom>
            <a:solidFill>
              <a:srgbClr val="E8553C"/>
            </a:solidFill>
            <a:ln>
              <a:noFill/>
            </a:ln>
          </p:spPr>
        </p:sp>
        <p:sp>
          <p:nvSpPr>
            <p:cNvPr id="42" name="Rectangle 42"/>
            <p:cNvSpPr/>
            <p:nvPr/>
          </p:nvSpPr>
          <p:spPr>
            <a:xfrm>
              <a:off x="1409700" y="4781550"/>
              <a:ext cx="685800" cy="66675"/>
            </a:xfrm>
            <a:prstGeom prst="roundRect">
              <a:avLst>
                <a:gd name="adj" fmla="val 42857"/>
              </a:avLst>
            </a:prstGeom>
            <a:solidFill>
              <a:srgbClr val="F0F0F0"/>
            </a:solidFill>
            <a:ln>
              <a:noFill/>
            </a:ln>
          </p:spPr>
        </p:sp>
        <p:sp>
          <p:nvSpPr>
            <p:cNvPr id="43" name="Rectangle 43"/>
            <p:cNvSpPr/>
            <p:nvPr/>
          </p:nvSpPr>
          <p:spPr>
            <a:xfrm>
              <a:off x="1409700" y="4933950"/>
              <a:ext cx="571500" cy="66675"/>
            </a:xfrm>
            <a:prstGeom prst="roundRect">
              <a:avLst>
                <a:gd name="adj" fmla="val 42857"/>
              </a:avLst>
            </a:prstGeom>
            <a:solidFill>
              <a:srgbClr val="F0F0F0"/>
            </a:solidFill>
            <a:ln>
              <a:noFill/>
            </a:ln>
          </p:spPr>
        </p:sp>
        <p:sp>
          <p:nvSpPr>
            <p:cNvPr id="44" name="Rectangle 44"/>
            <p:cNvSpPr/>
            <p:nvPr/>
          </p:nvSpPr>
          <p:spPr>
            <a:xfrm>
              <a:off x="1409700" y="5143500"/>
              <a:ext cx="685800" cy="66675"/>
            </a:xfrm>
            <a:prstGeom prst="roundRect">
              <a:avLst>
                <a:gd name="adj" fmla="val 42857"/>
              </a:avLst>
            </a:prstGeom>
            <a:solidFill>
              <a:srgbClr val="F0F0F0"/>
            </a:solidFill>
            <a:ln>
              <a:noFill/>
            </a:ln>
          </p:spPr>
        </p:sp>
        <p:sp>
          <p:nvSpPr>
            <p:cNvPr id="45" name="Rectangle 45"/>
            <p:cNvSpPr/>
            <p:nvPr/>
          </p:nvSpPr>
          <p:spPr>
            <a:xfrm>
              <a:off x="1447800" y="5429250"/>
              <a:ext cx="609600" cy="171450"/>
            </a:xfrm>
            <a:prstGeom prst="roundRect">
              <a:avLst>
                <a:gd name="adj" fmla="val 50000"/>
              </a:avLst>
            </a:prstGeom>
            <a:solidFill>
              <a:srgbClr val="E8553C"/>
            </a:solidFill>
            <a:ln>
              <a:noFill/>
            </a:ln>
          </p:spPr>
        </p:sp>
        <p:sp>
          <p:nvSpPr>
            <p:cNvPr id="46" name="Rectangle 46"/>
            <p:cNvSpPr/>
            <p:nvPr/>
          </p:nvSpPr>
          <p:spPr>
            <a:xfrm>
              <a:off x="2247900" y="3429000"/>
              <a:ext cx="838200" cy="2590800"/>
            </a:xfrm>
            <a:prstGeom prst="roundRect">
              <a:avLst>
                <a:gd name="adj" fmla="val 9091"/>
              </a:avLst>
            </a:prstGeom>
            <a:solidFill>
              <a:srgbClr val="FFFFFF"/>
            </a:solidFill>
            <a:ln w="9525">
              <a:solidFill>
                <a:srgbClr val="E0E6EF"/>
              </a:solidFill>
            </a:ln>
          </p:spPr>
        </p:sp>
        <p:sp>
          <p:nvSpPr>
            <p:cNvPr id="47" name="Rectangle 47"/>
            <p:cNvSpPr/>
            <p:nvPr/>
          </p:nvSpPr>
          <p:spPr>
            <a:xfrm>
              <a:off x="2247900" y="3429000"/>
              <a:ext cx="838200" cy="361950"/>
            </a:xfrm>
            <a:prstGeom prst="roundRect">
              <a:avLst>
                <a:gd name="adj" fmla="val 21053"/>
              </a:avLst>
            </a:prstGeom>
            <a:solidFill>
              <a:srgbClr val="E0462C"/>
            </a:solidFill>
            <a:ln>
              <a:noFill/>
            </a:ln>
          </p:spPr>
        </p:sp>
        <p:sp>
          <p:nvSpPr>
            <p:cNvPr id="48" name="Rectangle 48"/>
            <p:cNvSpPr/>
            <p:nvPr/>
          </p:nvSpPr>
          <p:spPr>
            <a:xfrm>
              <a:off x="2324100" y="3886200"/>
              <a:ext cx="685800" cy="66675"/>
            </a:xfrm>
            <a:prstGeom prst="roundRect">
              <a:avLst>
                <a:gd name="adj" fmla="val 42857"/>
              </a:avLst>
            </a:prstGeom>
            <a:solidFill>
              <a:srgbClr val="F0F0F0"/>
            </a:solidFill>
            <a:ln>
              <a:noFill/>
            </a:ln>
          </p:spPr>
        </p:sp>
        <p:sp>
          <p:nvSpPr>
            <p:cNvPr id="49" name="Rectangle 49"/>
            <p:cNvSpPr/>
            <p:nvPr/>
          </p:nvSpPr>
          <p:spPr>
            <a:xfrm>
              <a:off x="2324100" y="4038600"/>
              <a:ext cx="552450" cy="66675"/>
            </a:xfrm>
            <a:prstGeom prst="roundRect">
              <a:avLst>
                <a:gd name="adj" fmla="val 42857"/>
              </a:avLst>
            </a:prstGeom>
            <a:solidFill>
              <a:srgbClr val="F0F0F0"/>
            </a:solidFill>
            <a:ln>
              <a:noFill/>
            </a:ln>
          </p:spPr>
        </p:sp>
        <p:sp>
          <p:nvSpPr>
            <p:cNvPr id="50" name="Rectangle 50"/>
            <p:cNvSpPr/>
            <p:nvPr/>
          </p:nvSpPr>
          <p:spPr>
            <a:xfrm>
              <a:off x="2324100" y="4248150"/>
              <a:ext cx="685800" cy="438150"/>
            </a:xfrm>
            <a:prstGeom prst="roundRect">
              <a:avLst>
                <a:gd name="adj" fmla="val 8696"/>
              </a:avLst>
            </a:prstGeom>
            <a:solidFill>
              <a:srgbClr val="FDECEC"/>
            </a:solidFill>
            <a:ln>
              <a:noFill/>
            </a:ln>
          </p:spPr>
        </p:sp>
        <p:sp>
          <p:nvSpPr>
            <p:cNvPr id="51" name="Rectangle 51"/>
            <p:cNvSpPr/>
            <p:nvPr/>
          </p:nvSpPr>
          <p:spPr>
            <a:xfrm>
              <a:off x="2400300" y="4343400"/>
              <a:ext cx="381000" cy="152400"/>
            </a:xfrm>
            <a:prstGeom prst="roundRect">
              <a:avLst>
                <a:gd name="adj" fmla="val 50000"/>
              </a:avLst>
            </a:prstGeom>
            <a:solidFill>
              <a:srgbClr val="E0462C"/>
            </a:solidFill>
            <a:ln>
              <a:noFill/>
            </a:ln>
          </p:spPr>
        </p:sp>
        <p:sp>
          <p:nvSpPr>
            <p:cNvPr id="52" name="Rectangle 52"/>
            <p:cNvSpPr/>
            <p:nvPr/>
          </p:nvSpPr>
          <p:spPr>
            <a:xfrm>
              <a:off x="2324100" y="4781550"/>
              <a:ext cx="685800" cy="66675"/>
            </a:xfrm>
            <a:prstGeom prst="roundRect">
              <a:avLst>
                <a:gd name="adj" fmla="val 42857"/>
              </a:avLst>
            </a:prstGeom>
            <a:solidFill>
              <a:srgbClr val="F0F0F0"/>
            </a:solidFill>
            <a:ln>
              <a:noFill/>
            </a:ln>
          </p:spPr>
        </p:sp>
        <p:sp>
          <p:nvSpPr>
            <p:cNvPr id="53" name="Rectangle 53"/>
            <p:cNvSpPr/>
            <p:nvPr/>
          </p:nvSpPr>
          <p:spPr>
            <a:xfrm>
              <a:off x="2324100" y="4933950"/>
              <a:ext cx="609600" cy="66675"/>
            </a:xfrm>
            <a:prstGeom prst="roundRect">
              <a:avLst>
                <a:gd name="adj" fmla="val 42857"/>
              </a:avLst>
            </a:prstGeom>
            <a:solidFill>
              <a:srgbClr val="F0F0F0"/>
            </a:solidFill>
            <a:ln>
              <a:noFill/>
            </a:ln>
          </p:spPr>
        </p:sp>
        <p:sp>
          <p:nvSpPr>
            <p:cNvPr id="54" name="Rectangle 54"/>
            <p:cNvSpPr/>
            <p:nvPr/>
          </p:nvSpPr>
          <p:spPr>
            <a:xfrm>
              <a:off x="2324100" y="5143500"/>
              <a:ext cx="685800" cy="66675"/>
            </a:xfrm>
            <a:prstGeom prst="roundRect">
              <a:avLst>
                <a:gd name="adj" fmla="val 42857"/>
              </a:avLst>
            </a:prstGeom>
            <a:solidFill>
              <a:srgbClr val="F0F0F0"/>
            </a:solidFill>
            <a:ln>
              <a:noFill/>
            </a:ln>
          </p:spPr>
        </p:sp>
        <p:sp>
          <p:nvSpPr>
            <p:cNvPr id="55" name="Rectangle 55"/>
            <p:cNvSpPr/>
            <p:nvPr/>
          </p:nvSpPr>
          <p:spPr>
            <a:xfrm>
              <a:off x="2362200" y="5429250"/>
              <a:ext cx="609600" cy="171450"/>
            </a:xfrm>
            <a:prstGeom prst="roundRect">
              <a:avLst>
                <a:gd name="adj" fmla="val 50000"/>
              </a:avLst>
            </a:prstGeom>
            <a:solidFill>
              <a:srgbClr val="E0462C"/>
            </a:solidFill>
            <a:ln>
              <a:noFill/>
            </a:ln>
          </p:spPr>
        </p:sp>
        <p:sp>
          <p:nvSpPr>
            <p:cNvPr id="56" name="Rectangle 56"/>
            <p:cNvSpPr/>
            <p:nvPr/>
          </p:nvSpPr>
          <p:spPr>
            <a:xfrm>
              <a:off x="3162300" y="3429000"/>
              <a:ext cx="838200" cy="2590800"/>
            </a:xfrm>
            <a:prstGeom prst="roundRect">
              <a:avLst>
                <a:gd name="adj" fmla="val 9091"/>
              </a:avLst>
            </a:prstGeom>
            <a:solidFill>
              <a:srgbClr val="FFFFFF"/>
            </a:solidFill>
            <a:ln w="9525">
              <a:solidFill>
                <a:srgbClr val="E0E6EF"/>
              </a:solidFill>
            </a:ln>
          </p:spPr>
        </p:sp>
        <p:sp>
          <p:nvSpPr>
            <p:cNvPr id="57" name="Rectangle 57"/>
            <p:cNvSpPr/>
            <p:nvPr/>
          </p:nvSpPr>
          <p:spPr>
            <a:xfrm>
              <a:off x="3162300" y="3429000"/>
              <a:ext cx="838200" cy="361950"/>
            </a:xfrm>
            <a:prstGeom prst="roundRect">
              <a:avLst>
                <a:gd name="adj" fmla="val 21053"/>
              </a:avLst>
            </a:prstGeom>
            <a:solidFill>
              <a:srgbClr val="E8563C"/>
            </a:solidFill>
            <a:ln>
              <a:noFill/>
            </a:ln>
          </p:spPr>
        </p:sp>
        <p:sp>
          <p:nvSpPr>
            <p:cNvPr id="58" name="Rectangle 58"/>
            <p:cNvSpPr/>
            <p:nvPr/>
          </p:nvSpPr>
          <p:spPr>
            <a:xfrm>
              <a:off x="3238500" y="3886200"/>
              <a:ext cx="685800" cy="66675"/>
            </a:xfrm>
            <a:prstGeom prst="roundRect">
              <a:avLst>
                <a:gd name="adj" fmla="val 42857"/>
              </a:avLst>
            </a:prstGeom>
            <a:solidFill>
              <a:srgbClr val="F0F0F0"/>
            </a:solidFill>
            <a:ln>
              <a:noFill/>
            </a:ln>
          </p:spPr>
        </p:sp>
        <p:sp>
          <p:nvSpPr>
            <p:cNvPr id="59" name="Rectangle 59"/>
            <p:cNvSpPr/>
            <p:nvPr/>
          </p:nvSpPr>
          <p:spPr>
            <a:xfrm>
              <a:off x="3238500" y="4038600"/>
              <a:ext cx="495300" cy="66675"/>
            </a:xfrm>
            <a:prstGeom prst="roundRect">
              <a:avLst>
                <a:gd name="adj" fmla="val 42857"/>
              </a:avLst>
            </a:prstGeom>
            <a:solidFill>
              <a:srgbClr val="F0F0F0"/>
            </a:solidFill>
            <a:ln>
              <a:noFill/>
            </a:ln>
          </p:spPr>
        </p:sp>
        <p:sp>
          <p:nvSpPr>
            <p:cNvPr id="60" name="Rectangle 60"/>
            <p:cNvSpPr/>
            <p:nvPr/>
          </p:nvSpPr>
          <p:spPr>
            <a:xfrm>
              <a:off x="3238500" y="4248150"/>
              <a:ext cx="685800" cy="438150"/>
            </a:xfrm>
            <a:prstGeom prst="roundRect">
              <a:avLst>
                <a:gd name="adj" fmla="val 8696"/>
              </a:avLst>
            </a:prstGeom>
            <a:solidFill>
              <a:srgbClr val="FDF6EA"/>
            </a:solidFill>
            <a:ln>
              <a:noFill/>
            </a:ln>
          </p:spPr>
        </p:sp>
        <p:sp>
          <p:nvSpPr>
            <p:cNvPr id="61" name="Rectangle 61"/>
            <p:cNvSpPr/>
            <p:nvPr/>
          </p:nvSpPr>
          <p:spPr>
            <a:xfrm>
              <a:off x="3314700" y="4343400"/>
              <a:ext cx="381000" cy="152400"/>
            </a:xfrm>
            <a:prstGeom prst="roundRect">
              <a:avLst>
                <a:gd name="adj" fmla="val 50000"/>
              </a:avLst>
            </a:prstGeom>
            <a:solidFill>
              <a:srgbClr val="E8563C"/>
            </a:solidFill>
            <a:ln>
              <a:noFill/>
            </a:ln>
          </p:spPr>
        </p:sp>
        <p:sp>
          <p:nvSpPr>
            <p:cNvPr id="62" name="Rectangle 62"/>
            <p:cNvSpPr/>
            <p:nvPr/>
          </p:nvSpPr>
          <p:spPr>
            <a:xfrm>
              <a:off x="3238500" y="4781550"/>
              <a:ext cx="685800" cy="66675"/>
            </a:xfrm>
            <a:prstGeom prst="roundRect">
              <a:avLst>
                <a:gd name="adj" fmla="val 42857"/>
              </a:avLst>
            </a:prstGeom>
            <a:solidFill>
              <a:srgbClr val="F0F0F0"/>
            </a:solidFill>
            <a:ln>
              <a:noFill/>
            </a:ln>
          </p:spPr>
        </p:sp>
        <p:sp>
          <p:nvSpPr>
            <p:cNvPr id="63" name="Rectangle 63"/>
            <p:cNvSpPr/>
            <p:nvPr/>
          </p:nvSpPr>
          <p:spPr>
            <a:xfrm>
              <a:off x="3238500" y="4933950"/>
              <a:ext cx="552450" cy="66675"/>
            </a:xfrm>
            <a:prstGeom prst="roundRect">
              <a:avLst>
                <a:gd name="adj" fmla="val 42857"/>
              </a:avLst>
            </a:prstGeom>
            <a:solidFill>
              <a:srgbClr val="F0F0F0"/>
            </a:solidFill>
            <a:ln>
              <a:noFill/>
            </a:ln>
          </p:spPr>
        </p:sp>
        <p:sp>
          <p:nvSpPr>
            <p:cNvPr id="64" name="Rectangle 64"/>
            <p:cNvSpPr/>
            <p:nvPr/>
          </p:nvSpPr>
          <p:spPr>
            <a:xfrm>
              <a:off x="3238500" y="5143500"/>
              <a:ext cx="685800" cy="66675"/>
            </a:xfrm>
            <a:prstGeom prst="roundRect">
              <a:avLst>
                <a:gd name="adj" fmla="val 42857"/>
              </a:avLst>
            </a:prstGeom>
            <a:solidFill>
              <a:srgbClr val="F0F0F0"/>
            </a:solidFill>
            <a:ln>
              <a:noFill/>
            </a:ln>
          </p:spPr>
        </p:sp>
        <p:sp>
          <p:nvSpPr>
            <p:cNvPr id="65" name="Rectangle 65"/>
            <p:cNvSpPr/>
            <p:nvPr/>
          </p:nvSpPr>
          <p:spPr>
            <a:xfrm>
              <a:off x="3276600" y="5429250"/>
              <a:ext cx="609600" cy="171450"/>
            </a:xfrm>
            <a:prstGeom prst="roundRect">
              <a:avLst>
                <a:gd name="adj" fmla="val 50000"/>
              </a:avLst>
            </a:prstGeom>
            <a:solidFill>
              <a:srgbClr val="E8563C"/>
            </a:solidFill>
            <a:ln>
              <a:noFill/>
            </a:ln>
          </p:spPr>
        </p:sp>
        <p:sp>
          <p:nvSpPr>
            <p:cNvPr id="66" name="TextBox 66"/>
            <p:cNvSpPr txBox="1"/>
            <p:nvPr/>
          </p:nvSpPr>
          <p:spPr>
            <a:xfrm>
              <a:off x="631508" y="61674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工商银行</a:t>
              </a:r>
            </a:p>
          </p:txBody>
        </p:sp>
        <p:sp>
          <p:nvSpPr>
            <p:cNvPr id="67" name="TextBox 67"/>
            <p:cNvSpPr txBox="1"/>
            <p:nvPr/>
          </p:nvSpPr>
          <p:spPr>
            <a:xfrm>
              <a:off x="1545908" y="61674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农业银行</a:t>
              </a:r>
            </a:p>
          </p:txBody>
        </p:sp>
        <p:sp>
          <p:nvSpPr>
            <p:cNvPr id="68" name="TextBox 68"/>
            <p:cNvSpPr txBox="1"/>
            <p:nvPr/>
          </p:nvSpPr>
          <p:spPr>
            <a:xfrm>
              <a:off x="2460308" y="61674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浦发银行</a:t>
              </a:r>
            </a:p>
          </p:txBody>
        </p:sp>
        <p:sp>
          <p:nvSpPr>
            <p:cNvPr id="69" name="TextBox 69"/>
            <p:cNvSpPr txBox="1"/>
            <p:nvPr/>
          </p:nvSpPr>
          <p:spPr>
            <a:xfrm>
              <a:off x="3374708" y="61674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成都银行</a:t>
              </a:r>
            </a:p>
          </p:txBody>
        </p:sp>
      </p:grpSp>
      <p:grpSp>
        <p:nvGrpSpPr>
          <p:cNvPr id="121" name="col-scene"/>
          <p:cNvGrpSpPr/>
          <p:nvPr/>
        </p:nvGrpSpPr>
        <p:grpSpPr>
          <a:xfrm>
            <a:off x="4367212" y="1276350"/>
            <a:ext cx="3843338" cy="5229226"/>
            <a:chOff x="4367212" y="1276350"/>
            <a:chExt cx="3843338" cy="5229226"/>
          </a:xfrm>
        </p:grpSpPr>
        <p:sp>
          <p:nvSpPr>
            <p:cNvPr id="71" name="Ellipse 71"/>
            <p:cNvSpPr/>
            <p:nvPr/>
          </p:nvSpPr>
          <p:spPr>
            <a:xfrm>
              <a:off x="4391025" y="1276350"/>
              <a:ext cx="342900" cy="342900"/>
            </a:xfrm>
            <a:prstGeom prst="ellipse">
              <a:avLst/>
            </a:prstGeom>
            <a:solidFill>
              <a:srgbClr val="E74726"/>
            </a:solidFill>
            <a:ln>
              <a:noFill/>
            </a:ln>
          </p:spPr>
        </p:sp>
        <p:sp>
          <p:nvSpPr>
            <p:cNvPr id="72" name="TextBox 72"/>
            <p:cNvSpPr txBox="1"/>
            <p:nvPr/>
          </p:nvSpPr>
          <p:spPr>
            <a:xfrm>
              <a:off x="4484144" y="139969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02</a:t>
              </a:r>
            </a:p>
          </p:txBody>
        </p:sp>
        <p:sp>
          <p:nvSpPr>
            <p:cNvPr id="73" name="Rectangle 73"/>
            <p:cNvSpPr/>
            <p:nvPr/>
          </p:nvSpPr>
          <p:spPr>
            <a:xfrm>
              <a:off x="4829175" y="1276350"/>
              <a:ext cx="3086100" cy="342900"/>
            </a:xfrm>
            <a:prstGeom prst="roundRect">
              <a:avLst>
                <a:gd name="adj" fmla="val 11111"/>
              </a:avLst>
            </a:prstGeom>
            <a:solidFill>
              <a:srgbClr val="FFFFFF"/>
            </a:solidFill>
            <a:ln w="14288">
              <a:solidFill>
                <a:srgbClr val="E74726"/>
              </a:solidFill>
            </a:ln>
          </p:spPr>
        </p:sp>
        <p:sp>
          <p:nvSpPr>
            <p:cNvPr id="74" name="TextBox 74"/>
            <p:cNvSpPr txBox="1"/>
            <p:nvPr/>
          </p:nvSpPr>
          <p:spPr>
            <a:xfrm>
              <a:off x="5730812" y="1391602"/>
              <a:ext cx="1282827" cy="205359"/>
            </a:xfrm>
            <a:prstGeom prst="rect">
              <a:avLst/>
            </a:prstGeom>
            <a:noFill/>
            <a:ln>
              <a:noFill/>
            </a:ln>
          </p:spPr>
          <p:txBody>
            <a:bodyPr wrap="none" lIns="0" tIns="0" rIns="0" bIns="0" anchor="t" anchorCtr="0">
              <a:spAutoFit/>
            </a:bodyPr>
            <a:lstStyle/>
            <a:p>
              <a:pPr algn="ctr"/>
              <a:r>
                <a:rPr lang="zh-CN" sz="1050" b="1" dirty="0">
                  <a:solidFill>
                    <a:srgbClr val="E74726"/>
                  </a:solidFill>
                  <a:latin typeface="+mn-lt"/>
                  <a:ea typeface="+mn-ea"/>
                  <a:cs typeface="+mn-cs"/>
                </a:rPr>
                <a:t>场景嵌入型绑卡活动</a:t>
              </a:r>
            </a:p>
          </p:txBody>
        </p:sp>
        <p:sp>
          <p:nvSpPr>
            <p:cNvPr id="75" name="TextBox 75"/>
            <p:cNvSpPr txBox="1"/>
            <p:nvPr/>
          </p:nvSpPr>
          <p:spPr>
            <a:xfrm>
              <a:off x="4367212" y="176569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设计逻辑</a:t>
              </a:r>
            </a:p>
          </p:txBody>
        </p:sp>
        <p:sp>
          <p:nvSpPr>
            <p:cNvPr id="76" name="TextBox 76"/>
            <p:cNvSpPr txBox="1"/>
            <p:nvPr/>
          </p:nvSpPr>
          <p:spPr>
            <a:xfrm>
              <a:off x="5072062" y="1781889"/>
              <a:ext cx="181747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刚需场景自然植入，驱动客户主动绑卡</a:t>
              </a:r>
            </a:p>
          </p:txBody>
        </p:sp>
        <p:sp>
          <p:nvSpPr>
            <p:cNvPr id="77" name="TextBox 77"/>
            <p:cNvSpPr txBox="1"/>
            <p:nvPr/>
          </p:nvSpPr>
          <p:spPr>
            <a:xfrm>
              <a:off x="4367212" y="201334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核心玩法</a:t>
              </a:r>
            </a:p>
          </p:txBody>
        </p:sp>
        <p:sp>
          <p:nvSpPr>
            <p:cNvPr id="78" name="TextBox 78"/>
            <p:cNvSpPr txBox="1"/>
            <p:nvPr/>
          </p:nvSpPr>
          <p:spPr>
            <a:xfrm>
              <a:off x="5072062" y="2029539"/>
              <a:ext cx="966673"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聚焦三大核心场景：</a:t>
              </a:r>
            </a:p>
          </p:txBody>
        </p:sp>
        <p:sp>
          <p:nvSpPr>
            <p:cNvPr id="79" name="TextBox 79"/>
            <p:cNvSpPr txBox="1"/>
            <p:nvPr/>
          </p:nvSpPr>
          <p:spPr>
            <a:xfrm>
              <a:off x="5072062" y="2200989"/>
              <a:ext cx="166326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①生活缴费：水电燃气、社保医保等</a:t>
              </a:r>
            </a:p>
          </p:txBody>
        </p:sp>
        <p:sp>
          <p:nvSpPr>
            <p:cNvPr id="80" name="TextBox 80"/>
            <p:cNvSpPr txBox="1"/>
            <p:nvPr/>
          </p:nvSpPr>
          <p:spPr>
            <a:xfrm>
              <a:off x="5072062" y="2372439"/>
              <a:ext cx="176961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②出行通勤：地铁公交、网约车打车、</a:t>
              </a:r>
            </a:p>
          </p:txBody>
        </p:sp>
        <p:sp>
          <p:nvSpPr>
            <p:cNvPr id="81" name="TextBox 81"/>
            <p:cNvSpPr txBox="1"/>
            <p:nvPr/>
          </p:nvSpPr>
          <p:spPr>
            <a:xfrm>
              <a:off x="5072062" y="2543889"/>
              <a:ext cx="977308"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单车月卡/月卡折扣​</a:t>
              </a:r>
            </a:p>
          </p:txBody>
        </p:sp>
        <p:sp>
          <p:nvSpPr>
            <p:cNvPr id="82" name="TextBox 82"/>
            <p:cNvSpPr txBox="1"/>
            <p:nvPr/>
          </p:nvSpPr>
          <p:spPr>
            <a:xfrm>
              <a:off x="5072062" y="2715339"/>
              <a:ext cx="1721757"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③线上电商：主流购物平台首绑补贴/</a:t>
              </a:r>
            </a:p>
          </p:txBody>
        </p:sp>
        <p:sp>
          <p:nvSpPr>
            <p:cNvPr id="83" name="TextBox 83"/>
            <p:cNvSpPr txBox="1"/>
            <p:nvPr/>
          </p:nvSpPr>
          <p:spPr>
            <a:xfrm>
              <a:off x="5072062" y="2886789"/>
              <a:ext cx="706116"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无门槛优惠券​</a:t>
              </a:r>
            </a:p>
          </p:txBody>
        </p:sp>
        <p:sp>
          <p:nvSpPr>
            <p:cNvPr id="84" name="TextBox 84"/>
            <p:cNvSpPr txBox="1"/>
            <p:nvPr/>
          </p:nvSpPr>
          <p:spPr>
            <a:xfrm>
              <a:off x="4367212" y="309919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活动价值</a:t>
              </a:r>
            </a:p>
          </p:txBody>
        </p:sp>
        <p:sp>
          <p:nvSpPr>
            <p:cNvPr id="85" name="TextBox 85"/>
            <p:cNvSpPr txBox="1"/>
            <p:nvPr/>
          </p:nvSpPr>
          <p:spPr>
            <a:xfrm>
              <a:off x="5072062" y="3115389"/>
              <a:ext cx="181747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借日常刚需与省钱心理，实现绑卡自然</a:t>
              </a:r>
            </a:p>
          </p:txBody>
        </p:sp>
        <p:sp>
          <p:nvSpPr>
            <p:cNvPr id="86" name="TextBox 86"/>
            <p:cNvSpPr txBox="1"/>
            <p:nvPr/>
          </p:nvSpPr>
          <p:spPr>
            <a:xfrm>
              <a:off x="5072062" y="3286839"/>
              <a:ext cx="75397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渗透与长效留存</a:t>
              </a:r>
            </a:p>
          </p:txBody>
        </p:sp>
        <p:sp>
          <p:nvSpPr>
            <p:cNvPr id="87" name="TextBox 87"/>
            <p:cNvSpPr txBox="1"/>
            <p:nvPr/>
          </p:nvSpPr>
          <p:spPr>
            <a:xfrm>
              <a:off x="5499164" y="3564493"/>
              <a:ext cx="1746123" cy="169069"/>
            </a:xfrm>
            <a:prstGeom prst="rect">
              <a:avLst/>
            </a:prstGeom>
            <a:noFill/>
            <a:ln>
              <a:noFill/>
            </a:ln>
          </p:spPr>
          <p:txBody>
            <a:bodyPr wrap="none" lIns="0" tIns="0" rIns="0" bIns="0" anchor="t" anchorCtr="0">
              <a:spAutoFit/>
            </a:bodyPr>
            <a:lstStyle/>
            <a:p>
              <a:pPr algn="ctr"/>
              <a:r>
                <a:rPr lang="zh-CN" sz="860" b="1" dirty="0">
                  <a:solidFill>
                    <a:srgbClr val="E74726"/>
                  </a:solidFill>
                  <a:latin typeface="+mn-lt"/>
                  <a:ea typeface="+mn-ea"/>
                  <a:cs typeface="+mn-cs"/>
                </a:rPr>
                <a:t>商业银行场景嵌入型绑卡活动示例</a:t>
              </a:r>
            </a:p>
          </p:txBody>
        </p:sp>
        <p:sp>
          <p:nvSpPr>
            <p:cNvPr id="88" name="Rectangle 88"/>
            <p:cNvSpPr/>
            <p:nvPr/>
          </p:nvSpPr>
          <p:spPr>
            <a:xfrm>
              <a:off x="4572000" y="3771900"/>
              <a:ext cx="1047750" cy="2400300"/>
            </a:xfrm>
            <a:prstGeom prst="roundRect">
              <a:avLst>
                <a:gd name="adj" fmla="val 7273"/>
              </a:avLst>
            </a:prstGeom>
            <a:solidFill>
              <a:srgbClr val="FFFFFF"/>
            </a:solidFill>
            <a:ln w="9525">
              <a:solidFill>
                <a:srgbClr val="E0E6EF"/>
              </a:solidFill>
            </a:ln>
          </p:spPr>
        </p:sp>
        <p:sp>
          <p:nvSpPr>
            <p:cNvPr id="89" name="Rectangle 89"/>
            <p:cNvSpPr/>
            <p:nvPr/>
          </p:nvSpPr>
          <p:spPr>
            <a:xfrm>
              <a:off x="4572000" y="3771900"/>
              <a:ext cx="1047750" cy="381000"/>
            </a:xfrm>
            <a:prstGeom prst="roundRect">
              <a:avLst>
                <a:gd name="adj" fmla="val 20000"/>
              </a:avLst>
            </a:prstGeom>
            <a:solidFill>
              <a:srgbClr val="D64A2E"/>
            </a:solidFill>
            <a:ln>
              <a:noFill/>
            </a:ln>
          </p:spPr>
        </p:sp>
        <p:sp>
          <p:nvSpPr>
            <p:cNvPr id="90" name="Rectangle 90"/>
            <p:cNvSpPr/>
            <p:nvPr/>
          </p:nvSpPr>
          <p:spPr>
            <a:xfrm>
              <a:off x="4667250" y="4248150"/>
              <a:ext cx="857250" cy="66675"/>
            </a:xfrm>
            <a:prstGeom prst="roundRect">
              <a:avLst>
                <a:gd name="adj" fmla="val 42857"/>
              </a:avLst>
            </a:prstGeom>
            <a:solidFill>
              <a:srgbClr val="F0F0F0"/>
            </a:solidFill>
            <a:ln>
              <a:noFill/>
            </a:ln>
          </p:spPr>
        </p:sp>
        <p:sp>
          <p:nvSpPr>
            <p:cNvPr id="91" name="Rectangle 91"/>
            <p:cNvSpPr/>
            <p:nvPr/>
          </p:nvSpPr>
          <p:spPr>
            <a:xfrm>
              <a:off x="4667250" y="4400550"/>
              <a:ext cx="666750" cy="66675"/>
            </a:xfrm>
            <a:prstGeom prst="roundRect">
              <a:avLst>
                <a:gd name="adj" fmla="val 42857"/>
              </a:avLst>
            </a:prstGeom>
            <a:solidFill>
              <a:srgbClr val="F0F0F0"/>
            </a:solidFill>
            <a:ln>
              <a:noFill/>
            </a:ln>
          </p:spPr>
        </p:sp>
        <p:sp>
          <p:nvSpPr>
            <p:cNvPr id="92" name="Rectangle 92"/>
            <p:cNvSpPr/>
            <p:nvPr/>
          </p:nvSpPr>
          <p:spPr>
            <a:xfrm>
              <a:off x="4667250" y="4591050"/>
              <a:ext cx="857250" cy="571500"/>
            </a:xfrm>
            <a:prstGeom prst="roundRect">
              <a:avLst>
                <a:gd name="adj" fmla="val 6667"/>
              </a:avLst>
            </a:prstGeom>
            <a:solidFill>
              <a:srgbClr val="E7F0FC"/>
            </a:solidFill>
            <a:ln>
              <a:noFill/>
            </a:ln>
          </p:spPr>
        </p:sp>
        <p:sp>
          <p:nvSpPr>
            <p:cNvPr id="93" name="Rectangle 93"/>
            <p:cNvSpPr/>
            <p:nvPr/>
          </p:nvSpPr>
          <p:spPr>
            <a:xfrm>
              <a:off x="4762500" y="4724400"/>
              <a:ext cx="457200" cy="171450"/>
            </a:xfrm>
            <a:prstGeom prst="roundRect">
              <a:avLst>
                <a:gd name="adj" fmla="val 50000"/>
              </a:avLst>
            </a:prstGeom>
            <a:solidFill>
              <a:srgbClr val="D64A2E"/>
            </a:solidFill>
            <a:ln>
              <a:noFill/>
            </a:ln>
          </p:spPr>
        </p:sp>
        <p:sp>
          <p:nvSpPr>
            <p:cNvPr id="94" name="Rectangle 94"/>
            <p:cNvSpPr/>
            <p:nvPr/>
          </p:nvSpPr>
          <p:spPr>
            <a:xfrm>
              <a:off x="4667250" y="5257800"/>
              <a:ext cx="857250" cy="66675"/>
            </a:xfrm>
            <a:prstGeom prst="roundRect">
              <a:avLst>
                <a:gd name="adj" fmla="val 42857"/>
              </a:avLst>
            </a:prstGeom>
            <a:solidFill>
              <a:srgbClr val="F0F0F0"/>
            </a:solidFill>
            <a:ln>
              <a:noFill/>
            </a:ln>
          </p:spPr>
        </p:sp>
        <p:sp>
          <p:nvSpPr>
            <p:cNvPr id="95" name="Rectangle 95"/>
            <p:cNvSpPr/>
            <p:nvPr/>
          </p:nvSpPr>
          <p:spPr>
            <a:xfrm>
              <a:off x="4667250" y="5410200"/>
              <a:ext cx="762000" cy="66675"/>
            </a:xfrm>
            <a:prstGeom prst="roundRect">
              <a:avLst>
                <a:gd name="adj" fmla="val 42857"/>
              </a:avLst>
            </a:prstGeom>
            <a:solidFill>
              <a:srgbClr val="F0F0F0"/>
            </a:solidFill>
            <a:ln>
              <a:noFill/>
            </a:ln>
          </p:spPr>
        </p:sp>
        <p:sp>
          <p:nvSpPr>
            <p:cNvPr id="96" name="Rectangle 96"/>
            <p:cNvSpPr/>
            <p:nvPr/>
          </p:nvSpPr>
          <p:spPr>
            <a:xfrm>
              <a:off x="4724400" y="5638800"/>
              <a:ext cx="742950" cy="190500"/>
            </a:xfrm>
            <a:prstGeom prst="roundRect">
              <a:avLst>
                <a:gd name="adj" fmla="val 50000"/>
              </a:avLst>
            </a:prstGeom>
            <a:solidFill>
              <a:srgbClr val="D64A2E"/>
            </a:solidFill>
            <a:ln>
              <a:noFill/>
            </a:ln>
          </p:spPr>
        </p:sp>
        <p:sp>
          <p:nvSpPr>
            <p:cNvPr id="97" name="Rectangle 97"/>
            <p:cNvSpPr/>
            <p:nvPr/>
          </p:nvSpPr>
          <p:spPr>
            <a:xfrm>
              <a:off x="5867400" y="3771900"/>
              <a:ext cx="1047750" cy="2400300"/>
            </a:xfrm>
            <a:prstGeom prst="roundRect">
              <a:avLst>
                <a:gd name="adj" fmla="val 7273"/>
              </a:avLst>
            </a:prstGeom>
            <a:solidFill>
              <a:srgbClr val="FFFFFF"/>
            </a:solidFill>
            <a:ln w="9525">
              <a:solidFill>
                <a:srgbClr val="E0E6EF"/>
              </a:solidFill>
            </a:ln>
          </p:spPr>
        </p:sp>
        <p:sp>
          <p:nvSpPr>
            <p:cNvPr id="98" name="Rectangle 98"/>
            <p:cNvSpPr/>
            <p:nvPr/>
          </p:nvSpPr>
          <p:spPr>
            <a:xfrm>
              <a:off x="5867400" y="3771900"/>
              <a:ext cx="1047750" cy="381000"/>
            </a:xfrm>
            <a:prstGeom prst="roundRect">
              <a:avLst>
                <a:gd name="adj" fmla="val 20000"/>
              </a:avLst>
            </a:prstGeom>
            <a:solidFill>
              <a:srgbClr val="F04B2E"/>
            </a:solidFill>
            <a:ln>
              <a:noFill/>
            </a:ln>
          </p:spPr>
        </p:sp>
        <p:sp>
          <p:nvSpPr>
            <p:cNvPr id="99" name="Rectangle 99"/>
            <p:cNvSpPr/>
            <p:nvPr/>
          </p:nvSpPr>
          <p:spPr>
            <a:xfrm>
              <a:off x="5962650" y="4248150"/>
              <a:ext cx="857250" cy="66675"/>
            </a:xfrm>
            <a:prstGeom prst="roundRect">
              <a:avLst>
                <a:gd name="adj" fmla="val 42857"/>
              </a:avLst>
            </a:prstGeom>
            <a:solidFill>
              <a:srgbClr val="F0F0F0"/>
            </a:solidFill>
            <a:ln>
              <a:noFill/>
            </a:ln>
          </p:spPr>
        </p:sp>
        <p:sp>
          <p:nvSpPr>
            <p:cNvPr id="100" name="Rectangle 100"/>
            <p:cNvSpPr/>
            <p:nvPr/>
          </p:nvSpPr>
          <p:spPr>
            <a:xfrm>
              <a:off x="5962650" y="4400550"/>
              <a:ext cx="628650" cy="66675"/>
            </a:xfrm>
            <a:prstGeom prst="roundRect">
              <a:avLst>
                <a:gd name="adj" fmla="val 42857"/>
              </a:avLst>
            </a:prstGeom>
            <a:solidFill>
              <a:srgbClr val="F0F0F0"/>
            </a:solidFill>
            <a:ln>
              <a:noFill/>
            </a:ln>
          </p:spPr>
        </p:sp>
        <p:sp>
          <p:nvSpPr>
            <p:cNvPr id="101" name="Rectangle 101"/>
            <p:cNvSpPr/>
            <p:nvPr/>
          </p:nvSpPr>
          <p:spPr>
            <a:xfrm>
              <a:off x="5962650" y="4591050"/>
              <a:ext cx="857250" cy="571500"/>
            </a:xfrm>
            <a:prstGeom prst="roundRect">
              <a:avLst>
                <a:gd name="adj" fmla="val 6667"/>
              </a:avLst>
            </a:prstGeom>
            <a:solidFill>
              <a:srgbClr val="FDF1E3"/>
            </a:solidFill>
            <a:ln>
              <a:noFill/>
            </a:ln>
          </p:spPr>
        </p:sp>
        <p:sp>
          <p:nvSpPr>
            <p:cNvPr id="102" name="Rectangle 102"/>
            <p:cNvSpPr/>
            <p:nvPr/>
          </p:nvSpPr>
          <p:spPr>
            <a:xfrm>
              <a:off x="6057900" y="4724400"/>
              <a:ext cx="457200" cy="171450"/>
            </a:xfrm>
            <a:prstGeom prst="roundRect">
              <a:avLst>
                <a:gd name="adj" fmla="val 50000"/>
              </a:avLst>
            </a:prstGeom>
            <a:solidFill>
              <a:srgbClr val="F04B2E"/>
            </a:solidFill>
            <a:ln>
              <a:noFill/>
            </a:ln>
          </p:spPr>
        </p:sp>
        <p:sp>
          <p:nvSpPr>
            <p:cNvPr id="103" name="Rectangle 103"/>
            <p:cNvSpPr/>
            <p:nvPr/>
          </p:nvSpPr>
          <p:spPr>
            <a:xfrm>
              <a:off x="5962650" y="5257800"/>
              <a:ext cx="857250" cy="66675"/>
            </a:xfrm>
            <a:prstGeom prst="roundRect">
              <a:avLst>
                <a:gd name="adj" fmla="val 42857"/>
              </a:avLst>
            </a:prstGeom>
            <a:solidFill>
              <a:srgbClr val="F0F0F0"/>
            </a:solidFill>
            <a:ln>
              <a:noFill/>
            </a:ln>
          </p:spPr>
        </p:sp>
        <p:sp>
          <p:nvSpPr>
            <p:cNvPr id="104" name="Rectangle 104"/>
            <p:cNvSpPr/>
            <p:nvPr/>
          </p:nvSpPr>
          <p:spPr>
            <a:xfrm>
              <a:off x="5962650" y="5410200"/>
              <a:ext cx="723900" cy="66675"/>
            </a:xfrm>
            <a:prstGeom prst="roundRect">
              <a:avLst>
                <a:gd name="adj" fmla="val 42857"/>
              </a:avLst>
            </a:prstGeom>
            <a:solidFill>
              <a:srgbClr val="F0F0F0"/>
            </a:solidFill>
            <a:ln>
              <a:noFill/>
            </a:ln>
          </p:spPr>
        </p:sp>
        <p:sp>
          <p:nvSpPr>
            <p:cNvPr id="105" name="Rectangle 105"/>
            <p:cNvSpPr/>
            <p:nvPr/>
          </p:nvSpPr>
          <p:spPr>
            <a:xfrm>
              <a:off x="6019800" y="5638800"/>
              <a:ext cx="742950" cy="190500"/>
            </a:xfrm>
            <a:prstGeom prst="roundRect">
              <a:avLst>
                <a:gd name="adj" fmla="val 50000"/>
              </a:avLst>
            </a:prstGeom>
            <a:solidFill>
              <a:srgbClr val="F04B2E"/>
            </a:solidFill>
            <a:ln>
              <a:noFill/>
            </a:ln>
          </p:spPr>
        </p:sp>
        <p:sp>
          <p:nvSpPr>
            <p:cNvPr id="106" name="Rectangle 106"/>
            <p:cNvSpPr/>
            <p:nvPr/>
          </p:nvSpPr>
          <p:spPr>
            <a:xfrm>
              <a:off x="7162800" y="3771900"/>
              <a:ext cx="1047750" cy="2400300"/>
            </a:xfrm>
            <a:prstGeom prst="roundRect">
              <a:avLst>
                <a:gd name="adj" fmla="val 7273"/>
              </a:avLst>
            </a:prstGeom>
            <a:solidFill>
              <a:srgbClr val="FFFFFF"/>
            </a:solidFill>
            <a:ln w="9525">
              <a:solidFill>
                <a:srgbClr val="E0E6EF"/>
              </a:solidFill>
            </a:ln>
          </p:spPr>
        </p:sp>
        <p:sp>
          <p:nvSpPr>
            <p:cNvPr id="107" name="Rectangle 107"/>
            <p:cNvSpPr/>
            <p:nvPr/>
          </p:nvSpPr>
          <p:spPr>
            <a:xfrm>
              <a:off x="7162800" y="3771900"/>
              <a:ext cx="1047750" cy="381000"/>
            </a:xfrm>
            <a:prstGeom prst="roundRect">
              <a:avLst>
                <a:gd name="adj" fmla="val 20000"/>
              </a:avLst>
            </a:prstGeom>
            <a:solidFill>
              <a:srgbClr val="1A1A1A"/>
            </a:solidFill>
            <a:ln>
              <a:noFill/>
            </a:ln>
          </p:spPr>
        </p:sp>
        <p:sp>
          <p:nvSpPr>
            <p:cNvPr id="108" name="Rectangle 108"/>
            <p:cNvSpPr/>
            <p:nvPr/>
          </p:nvSpPr>
          <p:spPr>
            <a:xfrm>
              <a:off x="7258050" y="4248150"/>
              <a:ext cx="857250" cy="66675"/>
            </a:xfrm>
            <a:prstGeom prst="roundRect">
              <a:avLst>
                <a:gd name="adj" fmla="val 42857"/>
              </a:avLst>
            </a:prstGeom>
            <a:solidFill>
              <a:srgbClr val="F0F0F0"/>
            </a:solidFill>
            <a:ln>
              <a:noFill/>
            </a:ln>
          </p:spPr>
        </p:sp>
        <p:sp>
          <p:nvSpPr>
            <p:cNvPr id="109" name="Rectangle 109"/>
            <p:cNvSpPr/>
            <p:nvPr/>
          </p:nvSpPr>
          <p:spPr>
            <a:xfrm>
              <a:off x="7258050" y="4400550"/>
              <a:ext cx="685800" cy="66675"/>
            </a:xfrm>
            <a:prstGeom prst="roundRect">
              <a:avLst>
                <a:gd name="adj" fmla="val 42857"/>
              </a:avLst>
            </a:prstGeom>
            <a:solidFill>
              <a:srgbClr val="F0F0F0"/>
            </a:solidFill>
            <a:ln>
              <a:noFill/>
            </a:ln>
          </p:spPr>
        </p:sp>
        <p:sp>
          <p:nvSpPr>
            <p:cNvPr id="110" name="Rectangle 110"/>
            <p:cNvSpPr/>
            <p:nvPr/>
          </p:nvSpPr>
          <p:spPr>
            <a:xfrm>
              <a:off x="7258050" y="4591050"/>
              <a:ext cx="857250" cy="571500"/>
            </a:xfrm>
            <a:prstGeom prst="roundRect">
              <a:avLst>
                <a:gd name="adj" fmla="val 6667"/>
              </a:avLst>
            </a:prstGeom>
            <a:solidFill>
              <a:srgbClr val="EFEFEF"/>
            </a:solidFill>
            <a:ln>
              <a:noFill/>
            </a:ln>
          </p:spPr>
        </p:sp>
        <p:sp>
          <p:nvSpPr>
            <p:cNvPr id="111" name="Rectangle 111"/>
            <p:cNvSpPr/>
            <p:nvPr/>
          </p:nvSpPr>
          <p:spPr>
            <a:xfrm>
              <a:off x="7353300" y="4724400"/>
              <a:ext cx="457200" cy="171450"/>
            </a:xfrm>
            <a:prstGeom prst="roundRect">
              <a:avLst>
                <a:gd name="adj" fmla="val 50000"/>
              </a:avLst>
            </a:prstGeom>
            <a:solidFill>
              <a:srgbClr val="1A1A1A"/>
            </a:solidFill>
            <a:ln>
              <a:noFill/>
            </a:ln>
          </p:spPr>
        </p:sp>
        <p:sp>
          <p:nvSpPr>
            <p:cNvPr id="112" name="Rectangle 112"/>
            <p:cNvSpPr/>
            <p:nvPr/>
          </p:nvSpPr>
          <p:spPr>
            <a:xfrm>
              <a:off x="7258050" y="5257800"/>
              <a:ext cx="857250" cy="66675"/>
            </a:xfrm>
            <a:prstGeom prst="roundRect">
              <a:avLst>
                <a:gd name="adj" fmla="val 42857"/>
              </a:avLst>
            </a:prstGeom>
            <a:solidFill>
              <a:srgbClr val="F0F0F0"/>
            </a:solidFill>
            <a:ln>
              <a:noFill/>
            </a:ln>
          </p:spPr>
        </p:sp>
        <p:sp>
          <p:nvSpPr>
            <p:cNvPr id="113" name="Rectangle 113"/>
            <p:cNvSpPr/>
            <p:nvPr/>
          </p:nvSpPr>
          <p:spPr>
            <a:xfrm>
              <a:off x="7258050" y="5410200"/>
              <a:ext cx="666750" cy="66675"/>
            </a:xfrm>
            <a:prstGeom prst="roundRect">
              <a:avLst>
                <a:gd name="adj" fmla="val 42857"/>
              </a:avLst>
            </a:prstGeom>
            <a:solidFill>
              <a:srgbClr val="F0F0F0"/>
            </a:solidFill>
            <a:ln>
              <a:noFill/>
            </a:ln>
          </p:spPr>
        </p:sp>
        <p:sp>
          <p:nvSpPr>
            <p:cNvPr id="114" name="Rectangle 114"/>
            <p:cNvSpPr/>
            <p:nvPr/>
          </p:nvSpPr>
          <p:spPr>
            <a:xfrm>
              <a:off x="7315200" y="5638800"/>
              <a:ext cx="742950" cy="190500"/>
            </a:xfrm>
            <a:prstGeom prst="roundRect">
              <a:avLst>
                <a:gd name="adj" fmla="val 50000"/>
              </a:avLst>
            </a:prstGeom>
            <a:solidFill>
              <a:srgbClr val="1A1A1A"/>
            </a:solidFill>
            <a:ln>
              <a:noFill/>
            </a:ln>
          </p:spPr>
        </p:sp>
        <p:sp>
          <p:nvSpPr>
            <p:cNvPr id="115" name="TextBox 115"/>
            <p:cNvSpPr txBox="1"/>
            <p:nvPr/>
          </p:nvSpPr>
          <p:spPr>
            <a:xfrm>
              <a:off x="4788218" y="6224588"/>
              <a:ext cx="61531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生活缴费活动</a:t>
              </a:r>
            </a:p>
          </p:txBody>
        </p:sp>
        <p:sp>
          <p:nvSpPr>
            <p:cNvPr id="116" name="TextBox 116"/>
            <p:cNvSpPr txBox="1"/>
            <p:nvPr/>
          </p:nvSpPr>
          <p:spPr>
            <a:xfrm>
              <a:off x="4889182" y="63579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建设银行</a:t>
              </a:r>
            </a:p>
          </p:txBody>
        </p:sp>
        <p:sp>
          <p:nvSpPr>
            <p:cNvPr id="117" name="TextBox 117"/>
            <p:cNvSpPr txBox="1"/>
            <p:nvPr/>
          </p:nvSpPr>
          <p:spPr>
            <a:xfrm>
              <a:off x="6083618" y="6224588"/>
              <a:ext cx="61531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出行通勤活动</a:t>
              </a:r>
            </a:p>
          </p:txBody>
        </p:sp>
        <p:sp>
          <p:nvSpPr>
            <p:cNvPr id="118" name="TextBox 118"/>
            <p:cNvSpPr txBox="1"/>
            <p:nvPr/>
          </p:nvSpPr>
          <p:spPr>
            <a:xfrm>
              <a:off x="6184582" y="63579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成都银行</a:t>
              </a:r>
            </a:p>
          </p:txBody>
        </p:sp>
        <p:sp>
          <p:nvSpPr>
            <p:cNvPr id="119" name="TextBox 119"/>
            <p:cNvSpPr txBox="1"/>
            <p:nvPr/>
          </p:nvSpPr>
          <p:spPr>
            <a:xfrm>
              <a:off x="7379018" y="6224588"/>
              <a:ext cx="61531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线上平台活动</a:t>
              </a:r>
            </a:p>
          </p:txBody>
        </p:sp>
        <p:sp>
          <p:nvSpPr>
            <p:cNvPr id="120" name="TextBox 120"/>
            <p:cNvSpPr txBox="1"/>
            <p:nvPr/>
          </p:nvSpPr>
          <p:spPr>
            <a:xfrm>
              <a:off x="7479982" y="63579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抖音绑卡</a:t>
              </a:r>
            </a:p>
          </p:txBody>
        </p:sp>
      </p:grpSp>
      <p:grpSp>
        <p:nvGrpSpPr>
          <p:cNvPr id="170" name="col-task"/>
          <p:cNvGrpSpPr/>
          <p:nvPr/>
        </p:nvGrpSpPr>
        <p:grpSpPr>
          <a:xfrm>
            <a:off x="8320088" y="1276350"/>
            <a:ext cx="3529012" cy="5153026"/>
            <a:chOff x="8320088" y="1276350"/>
            <a:chExt cx="3529012" cy="5153026"/>
          </a:xfrm>
        </p:grpSpPr>
        <p:sp>
          <p:nvSpPr>
            <p:cNvPr id="122" name="Ellipse 122"/>
            <p:cNvSpPr/>
            <p:nvPr/>
          </p:nvSpPr>
          <p:spPr>
            <a:xfrm>
              <a:off x="8343900" y="1276350"/>
              <a:ext cx="342900" cy="342900"/>
            </a:xfrm>
            <a:prstGeom prst="ellipse">
              <a:avLst/>
            </a:prstGeom>
            <a:solidFill>
              <a:srgbClr val="E74726"/>
            </a:solidFill>
            <a:ln>
              <a:noFill/>
            </a:ln>
          </p:spPr>
        </p:sp>
        <p:sp>
          <p:nvSpPr>
            <p:cNvPr id="123" name="TextBox 123"/>
            <p:cNvSpPr txBox="1"/>
            <p:nvPr/>
          </p:nvSpPr>
          <p:spPr>
            <a:xfrm>
              <a:off x="8437019" y="139969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03</a:t>
              </a:r>
            </a:p>
          </p:txBody>
        </p:sp>
        <p:sp>
          <p:nvSpPr>
            <p:cNvPr id="124" name="Rectangle 124"/>
            <p:cNvSpPr/>
            <p:nvPr/>
          </p:nvSpPr>
          <p:spPr>
            <a:xfrm>
              <a:off x="8782050" y="1276350"/>
              <a:ext cx="2971800" cy="342900"/>
            </a:xfrm>
            <a:prstGeom prst="roundRect">
              <a:avLst>
                <a:gd name="adj" fmla="val 11111"/>
              </a:avLst>
            </a:prstGeom>
            <a:solidFill>
              <a:srgbClr val="FFFFFF"/>
            </a:solidFill>
            <a:ln w="14288">
              <a:solidFill>
                <a:srgbClr val="E74726"/>
              </a:solidFill>
            </a:ln>
          </p:spPr>
        </p:sp>
        <p:sp>
          <p:nvSpPr>
            <p:cNvPr id="125" name="TextBox 125"/>
            <p:cNvSpPr txBox="1"/>
            <p:nvPr/>
          </p:nvSpPr>
          <p:spPr>
            <a:xfrm>
              <a:off x="9626536" y="1391602"/>
              <a:ext cx="1282827" cy="205359"/>
            </a:xfrm>
            <a:prstGeom prst="rect">
              <a:avLst/>
            </a:prstGeom>
            <a:noFill/>
            <a:ln>
              <a:noFill/>
            </a:ln>
          </p:spPr>
          <p:txBody>
            <a:bodyPr wrap="none" lIns="0" tIns="0" rIns="0" bIns="0" anchor="t" anchorCtr="0">
              <a:spAutoFit/>
            </a:bodyPr>
            <a:lstStyle/>
            <a:p>
              <a:pPr algn="ctr"/>
              <a:r>
                <a:rPr lang="zh-CN" sz="1050" b="1" dirty="0">
                  <a:solidFill>
                    <a:srgbClr val="E74726"/>
                  </a:solidFill>
                  <a:latin typeface="+mn-lt"/>
                  <a:ea typeface="+mn-ea"/>
                  <a:cs typeface="+mn-cs"/>
                </a:rPr>
                <a:t>任务解锁型绑卡活动</a:t>
              </a:r>
            </a:p>
          </p:txBody>
        </p:sp>
        <p:sp>
          <p:nvSpPr>
            <p:cNvPr id="126" name="TextBox 126"/>
            <p:cNvSpPr txBox="1"/>
            <p:nvPr/>
          </p:nvSpPr>
          <p:spPr>
            <a:xfrm>
              <a:off x="8320088" y="176569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设计逻辑</a:t>
              </a:r>
            </a:p>
          </p:txBody>
        </p:sp>
        <p:sp>
          <p:nvSpPr>
            <p:cNvPr id="127" name="TextBox 127"/>
            <p:cNvSpPr txBox="1"/>
            <p:nvPr/>
          </p:nvSpPr>
          <p:spPr>
            <a:xfrm>
              <a:off x="9024938" y="1781889"/>
              <a:ext cx="14984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以轻量化任务提升客户绑卡意愿</a:t>
              </a:r>
            </a:p>
          </p:txBody>
        </p:sp>
        <p:sp>
          <p:nvSpPr>
            <p:cNvPr id="128" name="TextBox 128"/>
            <p:cNvSpPr txBox="1"/>
            <p:nvPr/>
          </p:nvSpPr>
          <p:spPr>
            <a:xfrm>
              <a:off x="8320088" y="201334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核心玩法</a:t>
              </a:r>
            </a:p>
          </p:txBody>
        </p:sp>
        <p:sp>
          <p:nvSpPr>
            <p:cNvPr id="129" name="TextBox 129"/>
            <p:cNvSpPr txBox="1"/>
            <p:nvPr/>
          </p:nvSpPr>
          <p:spPr>
            <a:xfrm>
              <a:off x="9024938" y="2029539"/>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搭建手机银行新手任务体系，完成绑</a:t>
              </a:r>
            </a:p>
          </p:txBody>
        </p:sp>
        <p:sp>
          <p:nvSpPr>
            <p:cNvPr id="130" name="TextBox 130"/>
            <p:cNvSpPr txBox="1"/>
            <p:nvPr/>
          </p:nvSpPr>
          <p:spPr>
            <a:xfrm>
              <a:off x="9024938" y="2200989"/>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卡后解锁会员升级、积分、抽奖等权</a:t>
              </a:r>
            </a:p>
          </p:txBody>
        </p:sp>
        <p:sp>
          <p:nvSpPr>
            <p:cNvPr id="131" name="TextBox 131"/>
            <p:cNvSpPr txBox="1"/>
            <p:nvPr/>
          </p:nvSpPr>
          <p:spPr>
            <a:xfrm>
              <a:off x="9024938" y="237243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益，积分可兑换实物礼品</a:t>
              </a:r>
            </a:p>
          </p:txBody>
        </p:sp>
        <p:sp>
          <p:nvSpPr>
            <p:cNvPr id="132" name="TextBox 132"/>
            <p:cNvSpPr txBox="1"/>
            <p:nvPr/>
          </p:nvSpPr>
          <p:spPr>
            <a:xfrm>
              <a:off x="8320088" y="260389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活动价值</a:t>
              </a:r>
            </a:p>
          </p:txBody>
        </p:sp>
        <p:sp>
          <p:nvSpPr>
            <p:cNvPr id="133" name="TextBox 133"/>
            <p:cNvSpPr txBox="1"/>
            <p:nvPr/>
          </p:nvSpPr>
          <p:spPr>
            <a:xfrm>
              <a:off x="9024938" y="2620089"/>
              <a:ext cx="17111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引导主动绑卡的同时，同步完成手机</a:t>
              </a:r>
            </a:p>
          </p:txBody>
        </p:sp>
        <p:sp>
          <p:nvSpPr>
            <p:cNvPr id="134" name="TextBox 134"/>
            <p:cNvSpPr txBox="1"/>
            <p:nvPr/>
          </p:nvSpPr>
          <p:spPr>
            <a:xfrm>
              <a:off x="9024938" y="2791539"/>
              <a:ext cx="8603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银行使用路径渗透</a:t>
              </a:r>
            </a:p>
          </p:txBody>
        </p:sp>
        <p:sp>
          <p:nvSpPr>
            <p:cNvPr id="135" name="TextBox 135"/>
            <p:cNvSpPr txBox="1"/>
            <p:nvPr/>
          </p:nvSpPr>
          <p:spPr>
            <a:xfrm>
              <a:off x="9224728" y="3221593"/>
              <a:ext cx="1648295" cy="169069"/>
            </a:xfrm>
            <a:prstGeom prst="rect">
              <a:avLst/>
            </a:prstGeom>
            <a:noFill/>
            <a:ln>
              <a:noFill/>
            </a:ln>
          </p:spPr>
          <p:txBody>
            <a:bodyPr wrap="none" lIns="0" tIns="0" rIns="0" bIns="0" anchor="t" anchorCtr="0">
              <a:spAutoFit/>
            </a:bodyPr>
            <a:lstStyle/>
            <a:p>
              <a:pPr algn="ctr"/>
              <a:r>
                <a:rPr lang="zh-CN" sz="860" b="1" dirty="0">
                  <a:solidFill>
                    <a:srgbClr val="E74726"/>
                  </a:solidFill>
                  <a:latin typeface="+mn-lt"/>
                  <a:ea typeface="+mn-ea"/>
                  <a:cs typeface="+mn-cs"/>
                </a:rPr>
                <a:t>任务解锁型活动示例-中信银行​</a:t>
              </a:r>
            </a:p>
          </p:txBody>
        </p:sp>
        <p:sp>
          <p:nvSpPr>
            <p:cNvPr id="136" name="Rectangle 136"/>
            <p:cNvSpPr/>
            <p:nvPr/>
          </p:nvSpPr>
          <p:spPr>
            <a:xfrm>
              <a:off x="8382000" y="3771900"/>
              <a:ext cx="914400" cy="2400300"/>
            </a:xfrm>
            <a:prstGeom prst="roundRect">
              <a:avLst>
                <a:gd name="adj" fmla="val 8333"/>
              </a:avLst>
            </a:prstGeom>
            <a:solidFill>
              <a:srgbClr val="FFFFFF"/>
            </a:solidFill>
            <a:ln w="9525">
              <a:solidFill>
                <a:srgbClr val="E0E6EF"/>
              </a:solidFill>
            </a:ln>
          </p:spPr>
        </p:sp>
        <p:sp>
          <p:nvSpPr>
            <p:cNvPr id="137" name="Rectangle 137"/>
            <p:cNvSpPr/>
            <p:nvPr/>
          </p:nvSpPr>
          <p:spPr>
            <a:xfrm>
              <a:off x="8382000" y="3771900"/>
              <a:ext cx="914400" cy="342900"/>
            </a:xfrm>
            <a:prstGeom prst="roundRect">
              <a:avLst>
                <a:gd name="adj" fmla="val 22222"/>
              </a:avLst>
            </a:prstGeom>
            <a:solidFill>
              <a:srgbClr val="E0462C"/>
            </a:solidFill>
            <a:ln>
              <a:noFill/>
            </a:ln>
          </p:spPr>
        </p:sp>
        <p:sp>
          <p:nvSpPr>
            <p:cNvPr id="138" name="Rectangle 138"/>
            <p:cNvSpPr/>
            <p:nvPr/>
          </p:nvSpPr>
          <p:spPr>
            <a:xfrm>
              <a:off x="8477250" y="4210050"/>
              <a:ext cx="723900" cy="66675"/>
            </a:xfrm>
            <a:prstGeom prst="roundRect">
              <a:avLst>
                <a:gd name="adj" fmla="val 42857"/>
              </a:avLst>
            </a:prstGeom>
            <a:solidFill>
              <a:srgbClr val="F0F0F0"/>
            </a:solidFill>
            <a:ln>
              <a:noFill/>
            </a:ln>
          </p:spPr>
        </p:sp>
        <p:sp>
          <p:nvSpPr>
            <p:cNvPr id="139" name="Rectangle 139"/>
            <p:cNvSpPr/>
            <p:nvPr/>
          </p:nvSpPr>
          <p:spPr>
            <a:xfrm>
              <a:off x="8477250" y="4362450"/>
              <a:ext cx="571500" cy="66675"/>
            </a:xfrm>
            <a:prstGeom prst="roundRect">
              <a:avLst>
                <a:gd name="adj" fmla="val 42857"/>
              </a:avLst>
            </a:prstGeom>
            <a:solidFill>
              <a:srgbClr val="F0F0F0"/>
            </a:solidFill>
            <a:ln>
              <a:noFill/>
            </a:ln>
          </p:spPr>
        </p:sp>
        <p:sp>
          <p:nvSpPr>
            <p:cNvPr id="140" name="Rectangle 140"/>
            <p:cNvSpPr/>
            <p:nvPr/>
          </p:nvSpPr>
          <p:spPr>
            <a:xfrm>
              <a:off x="8477250" y="4552950"/>
              <a:ext cx="723900" cy="533400"/>
            </a:xfrm>
            <a:prstGeom prst="roundRect">
              <a:avLst>
                <a:gd name="adj" fmla="val 7143"/>
              </a:avLst>
            </a:prstGeom>
            <a:solidFill>
              <a:srgbClr val="FDECEC"/>
            </a:solidFill>
            <a:ln>
              <a:noFill/>
            </a:ln>
          </p:spPr>
        </p:sp>
        <p:sp>
          <p:nvSpPr>
            <p:cNvPr id="141" name="Rectangle 141"/>
            <p:cNvSpPr/>
            <p:nvPr/>
          </p:nvSpPr>
          <p:spPr>
            <a:xfrm>
              <a:off x="8477250" y="5181600"/>
              <a:ext cx="723900" cy="66675"/>
            </a:xfrm>
            <a:prstGeom prst="roundRect">
              <a:avLst>
                <a:gd name="adj" fmla="val 42857"/>
              </a:avLst>
            </a:prstGeom>
            <a:solidFill>
              <a:srgbClr val="F0F0F0"/>
            </a:solidFill>
            <a:ln>
              <a:noFill/>
            </a:ln>
          </p:spPr>
        </p:sp>
        <p:sp>
          <p:nvSpPr>
            <p:cNvPr id="142" name="Rectangle 142"/>
            <p:cNvSpPr/>
            <p:nvPr/>
          </p:nvSpPr>
          <p:spPr>
            <a:xfrm>
              <a:off x="8477250" y="5334000"/>
              <a:ext cx="666750" cy="66675"/>
            </a:xfrm>
            <a:prstGeom prst="roundRect">
              <a:avLst>
                <a:gd name="adj" fmla="val 42857"/>
              </a:avLst>
            </a:prstGeom>
            <a:solidFill>
              <a:srgbClr val="F0F0F0"/>
            </a:solidFill>
            <a:ln>
              <a:noFill/>
            </a:ln>
          </p:spPr>
        </p:sp>
        <p:sp>
          <p:nvSpPr>
            <p:cNvPr id="143" name="Rectangle 143"/>
            <p:cNvSpPr/>
            <p:nvPr/>
          </p:nvSpPr>
          <p:spPr>
            <a:xfrm>
              <a:off x="8515350" y="5562600"/>
              <a:ext cx="647700" cy="190500"/>
            </a:xfrm>
            <a:prstGeom prst="roundRect">
              <a:avLst>
                <a:gd name="adj" fmla="val 50000"/>
              </a:avLst>
            </a:prstGeom>
            <a:solidFill>
              <a:srgbClr val="E0462C"/>
            </a:solidFill>
            <a:ln>
              <a:noFill/>
            </a:ln>
          </p:spPr>
        </p:sp>
        <p:sp>
          <p:nvSpPr>
            <p:cNvPr id="144" name="Rectangle 144"/>
            <p:cNvSpPr/>
            <p:nvPr/>
          </p:nvSpPr>
          <p:spPr>
            <a:xfrm>
              <a:off x="8553450" y="4191000"/>
              <a:ext cx="571500" cy="171450"/>
            </a:xfrm>
            <a:prstGeom prst="roundRect">
              <a:avLst>
                <a:gd name="adj" fmla="val 22222"/>
              </a:avLst>
            </a:prstGeom>
            <a:solidFill>
              <a:srgbClr val="F6A79A"/>
            </a:solidFill>
            <a:ln>
              <a:noFill/>
            </a:ln>
          </p:spPr>
        </p:sp>
        <p:sp>
          <p:nvSpPr>
            <p:cNvPr id="145" name="Line 145"/>
            <p:cNvSpPr/>
            <p:nvPr/>
          </p:nvSpPr>
          <p:spPr>
            <a:xfrm>
              <a:off x="9372600" y="4972050"/>
              <a:ext cx="209550" cy="1"/>
            </a:xfrm>
            <a:prstGeom prst="line">
              <a:avLst/>
            </a:prstGeom>
            <a:noFill/>
            <a:ln w="19050">
              <a:solidFill>
                <a:srgbClr val="E74726"/>
              </a:solidFill>
              <a:tailEnd type="triangle" w="med" len="med"/>
            </a:ln>
          </p:spPr>
        </p:sp>
        <p:sp>
          <p:nvSpPr>
            <p:cNvPr id="146" name="TextBox 146"/>
            <p:cNvSpPr txBox="1"/>
            <p:nvPr/>
          </p:nvSpPr>
          <p:spPr>
            <a:xfrm>
              <a:off x="9371648" y="4757738"/>
              <a:ext cx="211455"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任务</a:t>
              </a:r>
            </a:p>
          </p:txBody>
        </p:sp>
        <p:sp>
          <p:nvSpPr>
            <p:cNvPr id="147" name="TextBox 147"/>
            <p:cNvSpPr txBox="1"/>
            <p:nvPr/>
          </p:nvSpPr>
          <p:spPr>
            <a:xfrm>
              <a:off x="9371648" y="5062538"/>
              <a:ext cx="211455" cy="147638"/>
            </a:xfrm>
            <a:prstGeom prst="rect">
              <a:avLst/>
            </a:prstGeom>
            <a:noFill/>
            <a:ln>
              <a:noFill/>
            </a:ln>
          </p:spPr>
          <p:txBody>
            <a:bodyPr wrap="none" lIns="0" tIns="0" rIns="0" bIns="0" anchor="t" anchorCtr="0">
              <a:spAutoFit/>
            </a:bodyPr>
            <a:lstStyle/>
            <a:p>
              <a:pPr algn="ctr"/>
              <a:r>
                <a:rPr lang="zh-CN" sz="750" dirty="0">
                  <a:solidFill>
                    <a:srgbClr val="E74726"/>
                  </a:solidFill>
                  <a:latin typeface="+mn-lt"/>
                  <a:ea typeface="+mn-ea"/>
                  <a:cs typeface="+mn-cs"/>
                </a:rPr>
                <a:t>权益</a:t>
              </a:r>
            </a:p>
          </p:txBody>
        </p:sp>
        <p:sp>
          <p:nvSpPr>
            <p:cNvPr id="148" name="Rectangle 148"/>
            <p:cNvSpPr/>
            <p:nvPr/>
          </p:nvSpPr>
          <p:spPr>
            <a:xfrm>
              <a:off x="9658350" y="3771900"/>
              <a:ext cx="914400" cy="2400300"/>
            </a:xfrm>
            <a:prstGeom prst="roundRect">
              <a:avLst>
                <a:gd name="adj" fmla="val 8333"/>
              </a:avLst>
            </a:prstGeom>
            <a:solidFill>
              <a:srgbClr val="FFFFFF"/>
            </a:solidFill>
            <a:ln w="9525">
              <a:solidFill>
                <a:srgbClr val="E0E6EF"/>
              </a:solidFill>
            </a:ln>
          </p:spPr>
        </p:sp>
        <p:sp>
          <p:nvSpPr>
            <p:cNvPr id="149" name="Rectangle 149"/>
            <p:cNvSpPr/>
            <p:nvPr/>
          </p:nvSpPr>
          <p:spPr>
            <a:xfrm>
              <a:off x="9658350" y="3771900"/>
              <a:ext cx="914400" cy="342900"/>
            </a:xfrm>
            <a:prstGeom prst="roundRect">
              <a:avLst>
                <a:gd name="adj" fmla="val 22222"/>
              </a:avLst>
            </a:prstGeom>
            <a:solidFill>
              <a:srgbClr val="E8553C"/>
            </a:solidFill>
            <a:ln>
              <a:noFill/>
            </a:ln>
          </p:spPr>
        </p:sp>
        <p:sp>
          <p:nvSpPr>
            <p:cNvPr id="150" name="Rectangle 150"/>
            <p:cNvSpPr/>
            <p:nvPr/>
          </p:nvSpPr>
          <p:spPr>
            <a:xfrm>
              <a:off x="9753600" y="4210050"/>
              <a:ext cx="723900" cy="66675"/>
            </a:xfrm>
            <a:prstGeom prst="roundRect">
              <a:avLst>
                <a:gd name="adj" fmla="val 42857"/>
              </a:avLst>
            </a:prstGeom>
            <a:solidFill>
              <a:srgbClr val="F0F0F0"/>
            </a:solidFill>
            <a:ln>
              <a:noFill/>
            </a:ln>
          </p:spPr>
        </p:sp>
        <p:sp>
          <p:nvSpPr>
            <p:cNvPr id="151" name="Rectangle 151"/>
            <p:cNvSpPr/>
            <p:nvPr/>
          </p:nvSpPr>
          <p:spPr>
            <a:xfrm>
              <a:off x="9753600" y="4362450"/>
              <a:ext cx="609600" cy="66675"/>
            </a:xfrm>
            <a:prstGeom prst="roundRect">
              <a:avLst>
                <a:gd name="adj" fmla="val 42857"/>
              </a:avLst>
            </a:prstGeom>
            <a:solidFill>
              <a:srgbClr val="F0F0F0"/>
            </a:solidFill>
            <a:ln>
              <a:noFill/>
            </a:ln>
          </p:spPr>
        </p:sp>
        <p:sp>
          <p:nvSpPr>
            <p:cNvPr id="152" name="Rectangle 152"/>
            <p:cNvSpPr/>
            <p:nvPr/>
          </p:nvSpPr>
          <p:spPr>
            <a:xfrm>
              <a:off x="9753600" y="4552950"/>
              <a:ext cx="723900" cy="533400"/>
            </a:xfrm>
            <a:prstGeom prst="roundRect">
              <a:avLst>
                <a:gd name="adj" fmla="val 7143"/>
              </a:avLst>
            </a:prstGeom>
            <a:solidFill>
              <a:srgbClr val="FDEDEA"/>
            </a:solidFill>
            <a:ln>
              <a:noFill/>
            </a:ln>
          </p:spPr>
        </p:sp>
        <p:sp>
          <p:nvSpPr>
            <p:cNvPr id="153" name="Rectangle 153"/>
            <p:cNvSpPr/>
            <p:nvPr/>
          </p:nvSpPr>
          <p:spPr>
            <a:xfrm>
              <a:off x="9829800" y="4667250"/>
              <a:ext cx="342900" cy="342900"/>
            </a:xfrm>
            <a:prstGeom prst="roundRect">
              <a:avLst>
                <a:gd name="adj" fmla="val 11111"/>
              </a:avLst>
            </a:prstGeom>
            <a:solidFill>
              <a:srgbClr val="F5735C"/>
            </a:solidFill>
            <a:ln>
              <a:noFill/>
            </a:ln>
          </p:spPr>
        </p:sp>
        <p:sp>
          <p:nvSpPr>
            <p:cNvPr id="154" name="Rectangle 154"/>
            <p:cNvSpPr/>
            <p:nvPr/>
          </p:nvSpPr>
          <p:spPr>
            <a:xfrm>
              <a:off x="9753600" y="5181600"/>
              <a:ext cx="723900" cy="66675"/>
            </a:xfrm>
            <a:prstGeom prst="roundRect">
              <a:avLst>
                <a:gd name="adj" fmla="val 42857"/>
              </a:avLst>
            </a:prstGeom>
            <a:solidFill>
              <a:srgbClr val="F0F0F0"/>
            </a:solidFill>
            <a:ln>
              <a:noFill/>
            </a:ln>
          </p:spPr>
        </p:sp>
        <p:sp>
          <p:nvSpPr>
            <p:cNvPr id="155" name="Rectangle 155"/>
            <p:cNvSpPr/>
            <p:nvPr/>
          </p:nvSpPr>
          <p:spPr>
            <a:xfrm>
              <a:off x="9753600" y="5334000"/>
              <a:ext cx="552450" cy="66675"/>
            </a:xfrm>
            <a:prstGeom prst="roundRect">
              <a:avLst>
                <a:gd name="adj" fmla="val 42857"/>
              </a:avLst>
            </a:prstGeom>
            <a:solidFill>
              <a:srgbClr val="F0F0F0"/>
            </a:solidFill>
            <a:ln>
              <a:noFill/>
            </a:ln>
          </p:spPr>
        </p:sp>
        <p:sp>
          <p:nvSpPr>
            <p:cNvPr id="156" name="Rectangle 156"/>
            <p:cNvSpPr/>
            <p:nvPr/>
          </p:nvSpPr>
          <p:spPr>
            <a:xfrm>
              <a:off x="9791700" y="5562600"/>
              <a:ext cx="647700" cy="190500"/>
            </a:xfrm>
            <a:prstGeom prst="roundRect">
              <a:avLst>
                <a:gd name="adj" fmla="val 50000"/>
              </a:avLst>
            </a:prstGeom>
            <a:solidFill>
              <a:srgbClr val="E8553C"/>
            </a:solidFill>
            <a:ln>
              <a:noFill/>
            </a:ln>
          </p:spPr>
        </p:sp>
        <p:sp>
          <p:nvSpPr>
            <p:cNvPr id="157" name="Line 157"/>
            <p:cNvSpPr/>
            <p:nvPr/>
          </p:nvSpPr>
          <p:spPr>
            <a:xfrm>
              <a:off x="10648950" y="4972050"/>
              <a:ext cx="209550" cy="1"/>
            </a:xfrm>
            <a:prstGeom prst="line">
              <a:avLst/>
            </a:prstGeom>
            <a:noFill/>
            <a:ln w="19050">
              <a:solidFill>
                <a:srgbClr val="E74726"/>
              </a:solidFill>
              <a:tailEnd type="triangle" w="med" len="med"/>
            </a:ln>
          </p:spPr>
        </p:sp>
        <p:sp>
          <p:nvSpPr>
            <p:cNvPr id="158" name="Rectangle 158"/>
            <p:cNvSpPr/>
            <p:nvPr/>
          </p:nvSpPr>
          <p:spPr>
            <a:xfrm>
              <a:off x="10934700" y="3771900"/>
              <a:ext cx="914400" cy="2400300"/>
            </a:xfrm>
            <a:prstGeom prst="roundRect">
              <a:avLst>
                <a:gd name="adj" fmla="val 8333"/>
              </a:avLst>
            </a:prstGeom>
            <a:solidFill>
              <a:srgbClr val="FFFFFF"/>
            </a:solidFill>
            <a:ln w="9525">
              <a:solidFill>
                <a:srgbClr val="E0E6EF"/>
              </a:solidFill>
            </a:ln>
          </p:spPr>
        </p:sp>
        <p:sp>
          <p:nvSpPr>
            <p:cNvPr id="159" name="Rectangle 159"/>
            <p:cNvSpPr/>
            <p:nvPr/>
          </p:nvSpPr>
          <p:spPr>
            <a:xfrm>
              <a:off x="10934700" y="3771900"/>
              <a:ext cx="914400" cy="342900"/>
            </a:xfrm>
            <a:prstGeom prst="roundRect">
              <a:avLst>
                <a:gd name="adj" fmla="val 22222"/>
              </a:avLst>
            </a:prstGeom>
            <a:solidFill>
              <a:srgbClr val="E8553C"/>
            </a:solidFill>
            <a:ln>
              <a:noFill/>
            </a:ln>
          </p:spPr>
        </p:sp>
        <p:sp>
          <p:nvSpPr>
            <p:cNvPr id="160" name="Rectangle 160"/>
            <p:cNvSpPr/>
            <p:nvPr/>
          </p:nvSpPr>
          <p:spPr>
            <a:xfrm>
              <a:off x="11029950" y="4210050"/>
              <a:ext cx="723900" cy="66675"/>
            </a:xfrm>
            <a:prstGeom prst="roundRect">
              <a:avLst>
                <a:gd name="adj" fmla="val 42857"/>
              </a:avLst>
            </a:prstGeom>
            <a:solidFill>
              <a:srgbClr val="F0F0F0"/>
            </a:solidFill>
            <a:ln>
              <a:noFill/>
            </a:ln>
          </p:spPr>
        </p:sp>
        <p:sp>
          <p:nvSpPr>
            <p:cNvPr id="161" name="Rectangle 161"/>
            <p:cNvSpPr/>
            <p:nvPr/>
          </p:nvSpPr>
          <p:spPr>
            <a:xfrm>
              <a:off x="11029950" y="4362450"/>
              <a:ext cx="590550" cy="66675"/>
            </a:xfrm>
            <a:prstGeom prst="roundRect">
              <a:avLst>
                <a:gd name="adj" fmla="val 42857"/>
              </a:avLst>
            </a:prstGeom>
            <a:solidFill>
              <a:srgbClr val="F0F0F0"/>
            </a:solidFill>
            <a:ln>
              <a:noFill/>
            </a:ln>
          </p:spPr>
        </p:sp>
        <p:sp>
          <p:nvSpPr>
            <p:cNvPr id="162" name="Rectangle 162"/>
            <p:cNvSpPr/>
            <p:nvPr/>
          </p:nvSpPr>
          <p:spPr>
            <a:xfrm>
              <a:off x="11029950" y="4552950"/>
              <a:ext cx="723900" cy="533400"/>
            </a:xfrm>
            <a:prstGeom prst="roundRect">
              <a:avLst>
                <a:gd name="adj" fmla="val 7143"/>
              </a:avLst>
            </a:prstGeom>
            <a:solidFill>
              <a:srgbClr val="FDF1E3"/>
            </a:solidFill>
            <a:ln>
              <a:noFill/>
            </a:ln>
          </p:spPr>
        </p:sp>
        <p:sp>
          <p:nvSpPr>
            <p:cNvPr id="163" name="Rectangle 163"/>
            <p:cNvSpPr/>
            <p:nvPr/>
          </p:nvSpPr>
          <p:spPr>
            <a:xfrm>
              <a:off x="11106150" y="4667250"/>
              <a:ext cx="342900" cy="342900"/>
            </a:xfrm>
            <a:prstGeom prst="roundRect">
              <a:avLst>
                <a:gd name="adj" fmla="val 11111"/>
              </a:avLst>
            </a:prstGeom>
            <a:solidFill>
              <a:srgbClr val="E8563C"/>
            </a:solidFill>
            <a:ln>
              <a:noFill/>
            </a:ln>
          </p:spPr>
        </p:sp>
        <p:sp>
          <p:nvSpPr>
            <p:cNvPr id="164" name="Rectangle 164"/>
            <p:cNvSpPr/>
            <p:nvPr/>
          </p:nvSpPr>
          <p:spPr>
            <a:xfrm>
              <a:off x="11029950" y="5181600"/>
              <a:ext cx="723900" cy="66675"/>
            </a:xfrm>
            <a:prstGeom prst="roundRect">
              <a:avLst>
                <a:gd name="adj" fmla="val 42857"/>
              </a:avLst>
            </a:prstGeom>
            <a:solidFill>
              <a:srgbClr val="F0F0F0"/>
            </a:solidFill>
            <a:ln>
              <a:noFill/>
            </a:ln>
          </p:spPr>
        </p:sp>
        <p:sp>
          <p:nvSpPr>
            <p:cNvPr id="165" name="Rectangle 165"/>
            <p:cNvSpPr/>
            <p:nvPr/>
          </p:nvSpPr>
          <p:spPr>
            <a:xfrm>
              <a:off x="11029950" y="5334000"/>
              <a:ext cx="628650" cy="66675"/>
            </a:xfrm>
            <a:prstGeom prst="roundRect">
              <a:avLst>
                <a:gd name="adj" fmla="val 42857"/>
              </a:avLst>
            </a:prstGeom>
            <a:solidFill>
              <a:srgbClr val="F0F0F0"/>
            </a:solidFill>
            <a:ln>
              <a:noFill/>
            </a:ln>
          </p:spPr>
        </p:sp>
        <p:sp>
          <p:nvSpPr>
            <p:cNvPr id="166" name="Rectangle 166"/>
            <p:cNvSpPr/>
            <p:nvPr/>
          </p:nvSpPr>
          <p:spPr>
            <a:xfrm>
              <a:off x="11068050" y="5562600"/>
              <a:ext cx="647700" cy="190500"/>
            </a:xfrm>
            <a:prstGeom prst="roundRect">
              <a:avLst>
                <a:gd name="adj" fmla="val 50000"/>
              </a:avLst>
            </a:prstGeom>
            <a:solidFill>
              <a:srgbClr val="E8553C"/>
            </a:solidFill>
            <a:ln>
              <a:noFill/>
            </a:ln>
          </p:spPr>
        </p:sp>
        <p:sp>
          <p:nvSpPr>
            <p:cNvPr id="167" name="TextBox 167"/>
            <p:cNvSpPr txBox="1"/>
            <p:nvPr/>
          </p:nvSpPr>
          <p:spPr>
            <a:xfrm>
              <a:off x="8632508" y="62817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绑卡任务</a:t>
              </a:r>
            </a:p>
          </p:txBody>
        </p:sp>
        <p:sp>
          <p:nvSpPr>
            <p:cNvPr id="168" name="TextBox 168"/>
            <p:cNvSpPr txBox="1"/>
            <p:nvPr/>
          </p:nvSpPr>
          <p:spPr>
            <a:xfrm>
              <a:off x="9858375" y="6281738"/>
              <a:ext cx="514350"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能量值抽奖</a:t>
              </a:r>
            </a:p>
          </p:txBody>
        </p:sp>
        <p:sp>
          <p:nvSpPr>
            <p:cNvPr id="169" name="TextBox 169"/>
            <p:cNvSpPr txBox="1"/>
            <p:nvPr/>
          </p:nvSpPr>
          <p:spPr>
            <a:xfrm>
              <a:off x="11134725" y="6281738"/>
              <a:ext cx="514350"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能量值兑换</a:t>
              </a:r>
            </a:p>
          </p:txBody>
        </p:sp>
      </p:grpSp>
      <p:sp>
        <p:nvSpPr>
          <p:cNvPr id="171" name="TextBox 171"/>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13</a:t>
              </a:r>
            </a:p>
          </p:txBody>
        </p:sp>
        <p:sp>
          <p:nvSpPr>
            <p:cNvPr id="4" name="TextBox 4"/>
            <p:cNvSpPr txBox="1"/>
            <p:nvPr/>
          </p:nvSpPr>
          <p:spPr>
            <a:xfrm>
              <a:off x="942594" y="151448"/>
              <a:ext cx="6861787"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2.2.1 活动运营｜生活消费——价值链路的</a:t>
              </a:r>
              <a:r>
                <a:rPr lang="zh-CN" sz="1950" b="1" dirty="0">
                  <a:solidFill>
                    <a:srgbClr val="E74726"/>
                  </a:solidFill>
                  <a:latin typeface="SimSun"/>
                  <a:ea typeface="SimSun"/>
                  <a:cs typeface="SimSun"/>
                </a:rPr>
                <a:t>“加速引擎”</a:t>
              </a:r>
              <a:r>
                <a:rPr lang="zh-CN" sz="1950" b="1" dirty="0">
                  <a:solidFill>
                    <a:srgbClr val="1F1F1F"/>
                  </a:solidFill>
                  <a:latin typeface="SimSun"/>
                  <a:ea typeface="SimSun"/>
                  <a:cs typeface="SimSun"/>
                </a:rPr>
                <a:t>​​</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393372" cy="551260"/>
            <a:chOff x="566166" y="667702"/>
            <a:chExt cx="6393372" cy="551260"/>
          </a:xfrm>
        </p:grpSpPr>
        <p:sp>
          <p:nvSpPr>
            <p:cNvPr id="8" name="TextBox 8"/>
            <p:cNvSpPr txBox="1"/>
            <p:nvPr/>
          </p:nvSpPr>
          <p:spPr>
            <a:xfrm>
              <a:off x="566166" y="667702"/>
              <a:ext cx="6393372"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建立场景化满减/返现、消费达标进阶、节日主题营销三维生活消费活动矩阵，提升长尾客户的活跃性​</a:t>
              </a:r>
            </a:p>
          </p:txBody>
        </p:sp>
        <p:sp>
          <p:nvSpPr>
            <p:cNvPr id="9" name="TextBox 9"/>
            <p:cNvSpPr txBox="1"/>
            <p:nvPr/>
          </p:nvSpPr>
          <p:spPr>
            <a:xfrm>
              <a:off x="566738" y="887968"/>
              <a:ext cx="6388628"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场景化满减/返现覆盖民生高频场景，降低用卡门槛；消费达标以权益梯度形成正向激励，实现一直用、用更多；节日主题活​</a:t>
              </a:r>
            </a:p>
          </p:txBody>
        </p:sp>
        <p:sp>
          <p:nvSpPr>
            <p:cNvPr id="10" name="TextBox 10"/>
            <p:cNvSpPr txBox="1"/>
            <p:nvPr/>
          </p:nvSpPr>
          <p:spPr>
            <a:xfrm>
              <a:off x="566738" y="1049893"/>
              <a:ext cx="6145505"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动集中造势，批量拉动交易规模，三者结合，系统化提升长尾客群用卡频次与粘性，为后续资产提升与交叉销售奠定基础</a:t>
              </a:r>
            </a:p>
          </p:txBody>
        </p:sp>
      </p:grpSp>
      <p:grpSp>
        <p:nvGrpSpPr>
          <p:cNvPr id="46" name="col-scene"/>
          <p:cNvGrpSpPr/>
          <p:nvPr/>
        </p:nvGrpSpPr>
        <p:grpSpPr>
          <a:xfrm>
            <a:off x="419100" y="1276350"/>
            <a:ext cx="3543300" cy="5044916"/>
            <a:chOff x="419100" y="1276350"/>
            <a:chExt cx="3543300" cy="5044916"/>
          </a:xfrm>
        </p:grpSpPr>
        <p:sp>
          <p:nvSpPr>
            <p:cNvPr id="12" name="Ellipse 12"/>
            <p:cNvSpPr/>
            <p:nvPr/>
          </p:nvSpPr>
          <p:spPr>
            <a:xfrm>
              <a:off x="438150" y="1276350"/>
              <a:ext cx="342900" cy="342900"/>
            </a:xfrm>
            <a:prstGeom prst="ellipse">
              <a:avLst/>
            </a:prstGeom>
            <a:solidFill>
              <a:srgbClr val="E74726"/>
            </a:solidFill>
            <a:ln>
              <a:noFill/>
            </a:ln>
          </p:spPr>
        </p:sp>
        <p:sp>
          <p:nvSpPr>
            <p:cNvPr id="13" name="TextBox 13"/>
            <p:cNvSpPr txBox="1"/>
            <p:nvPr/>
          </p:nvSpPr>
          <p:spPr>
            <a:xfrm>
              <a:off x="531269" y="139969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01</a:t>
              </a:r>
            </a:p>
          </p:txBody>
        </p:sp>
        <p:sp>
          <p:nvSpPr>
            <p:cNvPr id="14" name="Rectangle 14"/>
            <p:cNvSpPr/>
            <p:nvPr/>
          </p:nvSpPr>
          <p:spPr>
            <a:xfrm>
              <a:off x="876300" y="1276350"/>
              <a:ext cx="3086100" cy="342900"/>
            </a:xfrm>
            <a:prstGeom prst="roundRect">
              <a:avLst>
                <a:gd name="adj" fmla="val 11111"/>
              </a:avLst>
            </a:prstGeom>
            <a:solidFill>
              <a:srgbClr val="FFFFFF"/>
            </a:solidFill>
            <a:ln w="14288">
              <a:solidFill>
                <a:srgbClr val="E74726"/>
              </a:solidFill>
            </a:ln>
          </p:spPr>
        </p:sp>
        <p:sp>
          <p:nvSpPr>
            <p:cNvPr id="15" name="TextBox 15"/>
            <p:cNvSpPr txBox="1"/>
            <p:nvPr/>
          </p:nvSpPr>
          <p:spPr>
            <a:xfrm>
              <a:off x="1696306" y="1391602"/>
              <a:ext cx="1446087" cy="205359"/>
            </a:xfrm>
            <a:prstGeom prst="rect">
              <a:avLst/>
            </a:prstGeom>
            <a:noFill/>
            <a:ln>
              <a:noFill/>
            </a:ln>
          </p:spPr>
          <p:txBody>
            <a:bodyPr wrap="none" lIns="0" tIns="0" rIns="0" bIns="0" anchor="t" anchorCtr="0">
              <a:spAutoFit/>
            </a:bodyPr>
            <a:lstStyle/>
            <a:p>
              <a:pPr algn="ctr"/>
              <a:r>
                <a:rPr lang="zh-CN" sz="1050" b="1" dirty="0">
                  <a:solidFill>
                    <a:srgbClr val="E74726"/>
                  </a:solidFill>
                  <a:latin typeface="+mn-lt"/>
                  <a:ea typeface="+mn-ea"/>
                  <a:cs typeface="+mn-cs"/>
                </a:rPr>
                <a:t>场景化满减/返现活动​</a:t>
              </a:r>
            </a:p>
          </p:txBody>
        </p:sp>
        <p:sp>
          <p:nvSpPr>
            <p:cNvPr id="16" name="Rectangle 16"/>
            <p:cNvSpPr/>
            <p:nvPr/>
          </p:nvSpPr>
          <p:spPr>
            <a:xfrm>
              <a:off x="419100" y="1752600"/>
              <a:ext cx="1619250" cy="4000500"/>
            </a:xfrm>
            <a:prstGeom prst="roundRect">
              <a:avLst>
                <a:gd name="adj" fmla="val 5882"/>
              </a:avLst>
            </a:prstGeom>
            <a:solidFill>
              <a:srgbClr val="FFFFFF"/>
            </a:solidFill>
            <a:ln w="9525">
              <a:solidFill>
                <a:srgbClr val="E0E6EF"/>
              </a:solidFill>
            </a:ln>
          </p:spPr>
        </p:sp>
        <p:sp>
          <p:nvSpPr>
            <p:cNvPr id="17" name="Rectangle 17"/>
            <p:cNvSpPr/>
            <p:nvPr/>
          </p:nvSpPr>
          <p:spPr>
            <a:xfrm>
              <a:off x="419100" y="1752600"/>
              <a:ext cx="1619250" cy="285750"/>
            </a:xfrm>
            <a:prstGeom prst="roundRect">
              <a:avLst>
                <a:gd name="adj" fmla="val 33333"/>
              </a:avLst>
            </a:prstGeom>
            <a:solidFill>
              <a:srgbClr val="F5F5F5"/>
            </a:solidFill>
            <a:ln>
              <a:noFill/>
            </a:ln>
          </p:spPr>
        </p:sp>
        <p:sp>
          <p:nvSpPr>
            <p:cNvPr id="18" name="TextBox 18"/>
            <p:cNvSpPr txBox="1"/>
            <p:nvPr/>
          </p:nvSpPr>
          <p:spPr>
            <a:xfrm>
              <a:off x="661988" y="1866186"/>
              <a:ext cx="391846" cy="140494"/>
            </a:xfrm>
            <a:prstGeom prst="rect">
              <a:avLst/>
            </a:prstGeom>
            <a:noFill/>
            <a:ln>
              <a:noFill/>
            </a:ln>
          </p:spPr>
          <p:txBody>
            <a:bodyPr wrap="none" lIns="0" tIns="0" rIns="0" bIns="0" anchor="t" anchorCtr="0">
              <a:spAutoFit/>
            </a:bodyPr>
            <a:lstStyle/>
            <a:p>
              <a:pPr algn="l"/>
              <a:r>
                <a:rPr lang="zh-CN" sz="710" dirty="0">
                  <a:solidFill>
                    <a:srgbClr val="846F6B"/>
                  </a:solidFill>
                  <a:latin typeface="+mn-lt"/>
                  <a:ea typeface="+mn-ea"/>
                  <a:cs typeface="+mn-cs"/>
                </a:rPr>
                <a:t>茶咖专区</a:t>
              </a:r>
            </a:p>
          </p:txBody>
        </p:sp>
        <p:sp>
          <p:nvSpPr>
            <p:cNvPr id="19" name="Rectangle 19"/>
            <p:cNvSpPr/>
            <p:nvPr/>
          </p:nvSpPr>
          <p:spPr>
            <a:xfrm>
              <a:off x="514350" y="2133600"/>
              <a:ext cx="1428750" cy="1428750"/>
            </a:xfrm>
            <a:prstGeom prst="roundRect">
              <a:avLst>
                <a:gd name="adj" fmla="val 5333"/>
              </a:avLst>
            </a:prstGeom>
            <a:solidFill>
              <a:srgbClr val="FDEDEA"/>
            </a:solidFill>
            <a:ln>
              <a:noFill/>
            </a:ln>
          </p:spPr>
        </p:sp>
        <p:sp>
          <p:nvSpPr>
            <p:cNvPr id="20" name="TextBox 20"/>
            <p:cNvSpPr txBox="1"/>
            <p:nvPr/>
          </p:nvSpPr>
          <p:spPr>
            <a:xfrm>
              <a:off x="584857" y="2640806"/>
              <a:ext cx="1287735" cy="220028"/>
            </a:xfrm>
            <a:prstGeom prst="rect">
              <a:avLst/>
            </a:prstGeom>
            <a:noFill/>
            <a:ln>
              <a:noFill/>
            </a:ln>
          </p:spPr>
          <p:txBody>
            <a:bodyPr wrap="none" lIns="0" tIns="0" rIns="0" bIns="0" anchor="t" anchorCtr="0">
              <a:spAutoFit/>
            </a:bodyPr>
            <a:lstStyle/>
            <a:p>
              <a:pPr algn="ctr"/>
              <a:r>
                <a:rPr lang="zh-CN" sz="1120" b="1" dirty="0">
                  <a:solidFill>
                    <a:srgbClr val="E0462C"/>
                  </a:solidFill>
                  <a:latin typeface="+mn-lt"/>
                  <a:ea typeface="+mn-ea"/>
                  <a:cs typeface="+mn-cs"/>
                </a:rPr>
                <a:t>“5返半价”奶茶​​​</a:t>
              </a:r>
            </a:p>
          </p:txBody>
        </p:sp>
        <p:sp>
          <p:nvSpPr>
            <p:cNvPr id="21" name="Ellipse 21"/>
            <p:cNvSpPr/>
            <p:nvPr/>
          </p:nvSpPr>
          <p:spPr>
            <a:xfrm>
              <a:off x="723900" y="3105150"/>
              <a:ext cx="266700" cy="266700"/>
            </a:xfrm>
            <a:prstGeom prst="ellipse">
              <a:avLst/>
            </a:prstGeom>
            <a:solidFill>
              <a:srgbClr val="F6A79A"/>
            </a:solidFill>
            <a:ln>
              <a:noFill/>
            </a:ln>
          </p:spPr>
        </p:sp>
        <p:sp>
          <p:nvSpPr>
            <p:cNvPr id="22" name="Ellipse 22"/>
            <p:cNvSpPr/>
            <p:nvPr/>
          </p:nvSpPr>
          <p:spPr>
            <a:xfrm>
              <a:off x="1104900" y="3105150"/>
              <a:ext cx="266700" cy="266700"/>
            </a:xfrm>
            <a:prstGeom prst="ellipse">
              <a:avLst/>
            </a:prstGeom>
            <a:solidFill>
              <a:srgbClr val="F5735C"/>
            </a:solidFill>
            <a:ln>
              <a:noFill/>
            </a:ln>
          </p:spPr>
        </p:sp>
        <p:sp>
          <p:nvSpPr>
            <p:cNvPr id="23" name="Ellipse 23"/>
            <p:cNvSpPr/>
            <p:nvPr/>
          </p:nvSpPr>
          <p:spPr>
            <a:xfrm>
              <a:off x="1485900" y="3105150"/>
              <a:ext cx="266700" cy="266700"/>
            </a:xfrm>
            <a:prstGeom prst="ellipse">
              <a:avLst/>
            </a:prstGeom>
            <a:solidFill>
              <a:srgbClr val="F04B2E"/>
            </a:solidFill>
            <a:ln>
              <a:noFill/>
            </a:ln>
          </p:spPr>
        </p:sp>
        <p:sp>
          <p:nvSpPr>
            <p:cNvPr id="24" name="Rectangle 24"/>
            <p:cNvSpPr/>
            <p:nvPr/>
          </p:nvSpPr>
          <p:spPr>
            <a:xfrm>
              <a:off x="514350" y="3676650"/>
              <a:ext cx="1428750" cy="666750"/>
            </a:xfrm>
            <a:prstGeom prst="roundRect">
              <a:avLst>
                <a:gd name="adj" fmla="val 11429"/>
              </a:avLst>
            </a:prstGeom>
            <a:solidFill>
              <a:srgbClr val="E8553C"/>
            </a:solidFill>
            <a:ln>
              <a:noFill/>
            </a:ln>
          </p:spPr>
        </p:sp>
        <p:sp>
          <p:nvSpPr>
            <p:cNvPr id="25" name="TextBox 25"/>
            <p:cNvSpPr txBox="1"/>
            <p:nvPr/>
          </p:nvSpPr>
          <p:spPr>
            <a:xfrm>
              <a:off x="799909" y="3865245"/>
              <a:ext cx="85763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下午半价喝奶茶</a:t>
              </a:r>
            </a:p>
          </p:txBody>
        </p:sp>
        <p:sp>
          <p:nvSpPr>
            <p:cNvPr id="26" name="Rectangle 26"/>
            <p:cNvSpPr/>
            <p:nvPr/>
          </p:nvSpPr>
          <p:spPr>
            <a:xfrm>
              <a:off x="762000" y="4095750"/>
              <a:ext cx="933450" cy="133350"/>
            </a:xfrm>
            <a:prstGeom prst="roundRect">
              <a:avLst>
                <a:gd name="adj" fmla="val 50000"/>
              </a:avLst>
            </a:prstGeom>
            <a:solidFill>
              <a:srgbClr val="FFFFFF">
                <a:alpha val="35000"/>
              </a:srgbClr>
            </a:solidFill>
            <a:ln>
              <a:noFill/>
            </a:ln>
          </p:spPr>
        </p:sp>
        <p:sp>
          <p:nvSpPr>
            <p:cNvPr id="27" name="Rectangle 27"/>
            <p:cNvSpPr/>
            <p:nvPr/>
          </p:nvSpPr>
          <p:spPr>
            <a:xfrm>
              <a:off x="514350" y="4457700"/>
              <a:ext cx="1428750" cy="76200"/>
            </a:xfrm>
            <a:prstGeom prst="roundRect">
              <a:avLst>
                <a:gd name="adj" fmla="val 50000"/>
              </a:avLst>
            </a:prstGeom>
            <a:solidFill>
              <a:srgbClr val="F0F0F0"/>
            </a:solidFill>
            <a:ln>
              <a:noFill/>
            </a:ln>
          </p:spPr>
        </p:sp>
        <p:sp>
          <p:nvSpPr>
            <p:cNvPr id="28" name="Rectangle 28"/>
            <p:cNvSpPr/>
            <p:nvPr/>
          </p:nvSpPr>
          <p:spPr>
            <a:xfrm>
              <a:off x="514350" y="4629150"/>
              <a:ext cx="1143000" cy="76200"/>
            </a:xfrm>
            <a:prstGeom prst="roundRect">
              <a:avLst>
                <a:gd name="adj" fmla="val 50000"/>
              </a:avLst>
            </a:prstGeom>
            <a:solidFill>
              <a:srgbClr val="F0F0F0"/>
            </a:solidFill>
            <a:ln>
              <a:noFill/>
            </a:ln>
          </p:spPr>
        </p:sp>
        <p:sp>
          <p:nvSpPr>
            <p:cNvPr id="29" name="Rectangle 29"/>
            <p:cNvSpPr/>
            <p:nvPr/>
          </p:nvSpPr>
          <p:spPr>
            <a:xfrm>
              <a:off x="514350" y="4838700"/>
              <a:ext cx="666750" cy="666750"/>
            </a:xfrm>
            <a:prstGeom prst="roundRect">
              <a:avLst>
                <a:gd name="adj" fmla="val 8571"/>
              </a:avLst>
            </a:prstGeom>
            <a:solidFill>
              <a:srgbClr val="FDF6EA"/>
            </a:solidFill>
            <a:ln>
              <a:noFill/>
            </a:ln>
          </p:spPr>
        </p:sp>
        <p:sp>
          <p:nvSpPr>
            <p:cNvPr id="30" name="Rectangle 30"/>
            <p:cNvSpPr/>
            <p:nvPr/>
          </p:nvSpPr>
          <p:spPr>
            <a:xfrm>
              <a:off x="1276350" y="4838700"/>
              <a:ext cx="666750" cy="666750"/>
            </a:xfrm>
            <a:prstGeom prst="roundRect">
              <a:avLst>
                <a:gd name="adj" fmla="val 8571"/>
              </a:avLst>
            </a:prstGeom>
            <a:solidFill>
              <a:srgbClr val="FDEDEA"/>
            </a:solidFill>
            <a:ln>
              <a:noFill/>
            </a:ln>
          </p:spPr>
        </p:sp>
        <p:sp>
          <p:nvSpPr>
            <p:cNvPr id="31" name="TextBox 31"/>
            <p:cNvSpPr txBox="1"/>
            <p:nvPr/>
          </p:nvSpPr>
          <p:spPr>
            <a:xfrm>
              <a:off x="2147888" y="1826895"/>
              <a:ext cx="659538"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 设计逻辑</a:t>
              </a:r>
            </a:p>
          </p:txBody>
        </p:sp>
        <p:sp>
          <p:nvSpPr>
            <p:cNvPr id="32" name="TextBox 32"/>
            <p:cNvSpPr txBox="1"/>
            <p:nvPr/>
          </p:nvSpPr>
          <p:spPr>
            <a:xfrm>
              <a:off x="2147888" y="202953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锚定高频刚需场景，以小</a:t>
              </a:r>
            </a:p>
          </p:txBody>
        </p:sp>
        <p:sp>
          <p:nvSpPr>
            <p:cNvPr id="33" name="TextBox 33"/>
            <p:cNvSpPr txBox="1"/>
            <p:nvPr/>
          </p:nvSpPr>
          <p:spPr>
            <a:xfrm>
              <a:off x="2147888" y="2200989"/>
              <a:ext cx="9666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额普惠降低参与门槛</a:t>
              </a:r>
            </a:p>
          </p:txBody>
        </p:sp>
        <p:sp>
          <p:nvSpPr>
            <p:cNvPr id="34" name="TextBox 34"/>
            <p:cNvSpPr txBox="1"/>
            <p:nvPr/>
          </p:nvSpPr>
          <p:spPr>
            <a:xfrm>
              <a:off x="2147888" y="2455545"/>
              <a:ext cx="659538"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 核心玩法</a:t>
              </a:r>
            </a:p>
          </p:txBody>
        </p:sp>
        <p:sp>
          <p:nvSpPr>
            <p:cNvPr id="35" name="TextBox 35"/>
            <p:cNvSpPr txBox="1"/>
            <p:nvPr/>
          </p:nvSpPr>
          <p:spPr>
            <a:xfrm>
              <a:off x="2147888" y="265818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覆盖商超生鲜、外卖出行、</a:t>
              </a:r>
            </a:p>
          </p:txBody>
        </p:sp>
        <p:sp>
          <p:nvSpPr>
            <p:cNvPr id="36" name="TextBox 36"/>
            <p:cNvSpPr txBox="1"/>
            <p:nvPr/>
          </p:nvSpPr>
          <p:spPr>
            <a:xfrm>
              <a:off x="2147888" y="282963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生活缴费等民生场景，常态</a:t>
              </a:r>
            </a:p>
          </p:txBody>
        </p:sp>
        <p:sp>
          <p:nvSpPr>
            <p:cNvPr id="37" name="TextBox 37"/>
            <p:cNvSpPr txBox="1"/>
            <p:nvPr/>
          </p:nvSpPr>
          <p:spPr>
            <a:xfrm>
              <a:off x="2147888" y="3001089"/>
              <a:ext cx="139207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化上线随机立减、满额立减、</a:t>
              </a:r>
            </a:p>
          </p:txBody>
        </p:sp>
        <p:sp>
          <p:nvSpPr>
            <p:cNvPr id="38" name="TextBox 38"/>
            <p:cNvSpPr txBox="1"/>
            <p:nvPr/>
          </p:nvSpPr>
          <p:spPr>
            <a:xfrm>
              <a:off x="2147888" y="317253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消费返现、周度达标礼等轻</a:t>
              </a:r>
            </a:p>
          </p:txBody>
        </p:sp>
        <p:sp>
          <p:nvSpPr>
            <p:cNvPr id="39" name="TextBox 39"/>
            <p:cNvSpPr txBox="1"/>
            <p:nvPr/>
          </p:nvSpPr>
          <p:spPr>
            <a:xfrm>
              <a:off x="2147888" y="3343989"/>
              <a:ext cx="43492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量化活动</a:t>
              </a:r>
            </a:p>
          </p:txBody>
        </p:sp>
        <p:sp>
          <p:nvSpPr>
            <p:cNvPr id="40" name="TextBox 40"/>
            <p:cNvSpPr txBox="1"/>
            <p:nvPr/>
          </p:nvSpPr>
          <p:spPr>
            <a:xfrm>
              <a:off x="2147888" y="3598545"/>
              <a:ext cx="659538"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 运营价值</a:t>
              </a:r>
            </a:p>
          </p:txBody>
        </p:sp>
        <p:sp>
          <p:nvSpPr>
            <p:cNvPr id="41" name="TextBox 41"/>
            <p:cNvSpPr txBox="1"/>
            <p:nvPr/>
          </p:nvSpPr>
          <p:spPr>
            <a:xfrm>
              <a:off x="2147888" y="380118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贴合碎片化消费需求，持续</a:t>
              </a:r>
            </a:p>
          </p:txBody>
        </p:sp>
        <p:sp>
          <p:nvSpPr>
            <p:cNvPr id="42" name="TextBox 42"/>
            <p:cNvSpPr txBox="1"/>
            <p:nvPr/>
          </p:nvSpPr>
          <p:spPr>
            <a:xfrm>
              <a:off x="2147888" y="397263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引导优先用卡，稳步提升日</a:t>
              </a:r>
            </a:p>
          </p:txBody>
        </p:sp>
        <p:sp>
          <p:nvSpPr>
            <p:cNvPr id="43" name="TextBox 43"/>
            <p:cNvSpPr txBox="1"/>
            <p:nvPr/>
          </p:nvSpPr>
          <p:spPr>
            <a:xfrm>
              <a:off x="2147888" y="4144089"/>
              <a:ext cx="54127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常交易频次</a:t>
              </a:r>
            </a:p>
          </p:txBody>
        </p:sp>
        <p:sp>
          <p:nvSpPr>
            <p:cNvPr id="44" name="TextBox 44"/>
            <p:cNvSpPr txBox="1"/>
            <p:nvPr/>
          </p:nvSpPr>
          <p:spPr>
            <a:xfrm>
              <a:off x="556113" y="5968841"/>
              <a:ext cx="1345225"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场景化满减/返现活动示例​</a:t>
              </a:r>
            </a:p>
          </p:txBody>
        </p:sp>
        <p:sp>
          <p:nvSpPr>
            <p:cNvPr id="45" name="TextBox 45"/>
            <p:cNvSpPr txBox="1"/>
            <p:nvPr/>
          </p:nvSpPr>
          <p:spPr>
            <a:xfrm>
              <a:off x="1003186" y="6159341"/>
              <a:ext cx="451079"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浦发银行</a:t>
              </a:r>
            </a:p>
          </p:txBody>
        </p:sp>
      </p:grpSp>
      <p:grpSp>
        <p:nvGrpSpPr>
          <p:cNvPr id="86" name="col-tier"/>
          <p:cNvGrpSpPr/>
          <p:nvPr/>
        </p:nvGrpSpPr>
        <p:grpSpPr>
          <a:xfrm>
            <a:off x="4371975" y="1276350"/>
            <a:ext cx="3543300" cy="5044916"/>
            <a:chOff x="4371975" y="1276350"/>
            <a:chExt cx="3543300" cy="5044916"/>
          </a:xfrm>
        </p:grpSpPr>
        <p:sp>
          <p:nvSpPr>
            <p:cNvPr id="47" name="Ellipse 47"/>
            <p:cNvSpPr/>
            <p:nvPr/>
          </p:nvSpPr>
          <p:spPr>
            <a:xfrm>
              <a:off x="4391025" y="1276350"/>
              <a:ext cx="342900" cy="342900"/>
            </a:xfrm>
            <a:prstGeom prst="ellipse">
              <a:avLst/>
            </a:prstGeom>
            <a:solidFill>
              <a:srgbClr val="E74726"/>
            </a:solidFill>
            <a:ln>
              <a:noFill/>
            </a:ln>
          </p:spPr>
        </p:sp>
        <p:sp>
          <p:nvSpPr>
            <p:cNvPr id="48" name="TextBox 48"/>
            <p:cNvSpPr txBox="1"/>
            <p:nvPr/>
          </p:nvSpPr>
          <p:spPr>
            <a:xfrm>
              <a:off x="4484144" y="139969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02</a:t>
              </a:r>
            </a:p>
          </p:txBody>
        </p:sp>
        <p:sp>
          <p:nvSpPr>
            <p:cNvPr id="49" name="Rectangle 49"/>
            <p:cNvSpPr/>
            <p:nvPr/>
          </p:nvSpPr>
          <p:spPr>
            <a:xfrm>
              <a:off x="4829175" y="1276350"/>
              <a:ext cx="3086100" cy="342900"/>
            </a:xfrm>
            <a:prstGeom prst="roundRect">
              <a:avLst>
                <a:gd name="adj" fmla="val 11111"/>
              </a:avLst>
            </a:prstGeom>
            <a:solidFill>
              <a:srgbClr val="FFFFFF"/>
            </a:solidFill>
            <a:ln w="14288">
              <a:solidFill>
                <a:srgbClr val="E74726"/>
              </a:solidFill>
            </a:ln>
          </p:spPr>
        </p:sp>
        <p:sp>
          <p:nvSpPr>
            <p:cNvPr id="50" name="TextBox 50"/>
            <p:cNvSpPr txBox="1"/>
            <p:nvPr/>
          </p:nvSpPr>
          <p:spPr>
            <a:xfrm>
              <a:off x="5801487" y="1391602"/>
              <a:ext cx="1141476" cy="205359"/>
            </a:xfrm>
            <a:prstGeom prst="rect">
              <a:avLst/>
            </a:prstGeom>
            <a:noFill/>
            <a:ln>
              <a:noFill/>
            </a:ln>
          </p:spPr>
          <p:txBody>
            <a:bodyPr wrap="none" lIns="0" tIns="0" rIns="0" bIns="0" anchor="t" anchorCtr="0">
              <a:spAutoFit/>
            </a:bodyPr>
            <a:lstStyle/>
            <a:p>
              <a:pPr algn="ctr"/>
              <a:r>
                <a:rPr lang="zh-CN" sz="1050" b="1" dirty="0">
                  <a:solidFill>
                    <a:srgbClr val="E74726"/>
                  </a:solidFill>
                  <a:latin typeface="+mn-lt"/>
                  <a:ea typeface="+mn-ea"/>
                  <a:cs typeface="+mn-cs"/>
                </a:rPr>
                <a:t>消费达标进阶活动</a:t>
              </a:r>
            </a:p>
          </p:txBody>
        </p:sp>
        <p:sp>
          <p:nvSpPr>
            <p:cNvPr id="51" name="Rectangle 51"/>
            <p:cNvSpPr/>
            <p:nvPr/>
          </p:nvSpPr>
          <p:spPr>
            <a:xfrm>
              <a:off x="4371975" y="1752600"/>
              <a:ext cx="1619250" cy="4000500"/>
            </a:xfrm>
            <a:prstGeom prst="roundRect">
              <a:avLst>
                <a:gd name="adj" fmla="val 5882"/>
              </a:avLst>
            </a:prstGeom>
            <a:solidFill>
              <a:srgbClr val="FFFFFF"/>
            </a:solidFill>
            <a:ln w="9525">
              <a:solidFill>
                <a:srgbClr val="E0E6EF"/>
              </a:solidFill>
            </a:ln>
          </p:spPr>
        </p:sp>
        <p:sp>
          <p:nvSpPr>
            <p:cNvPr id="52" name="Rectangle 52"/>
            <p:cNvSpPr/>
            <p:nvPr/>
          </p:nvSpPr>
          <p:spPr>
            <a:xfrm>
              <a:off x="4371975" y="1752600"/>
              <a:ext cx="1619250" cy="571500"/>
            </a:xfrm>
            <a:prstGeom prst="roundRect">
              <a:avLst>
                <a:gd name="adj" fmla="val 16667"/>
              </a:avLst>
            </a:prstGeom>
            <a:solidFill>
              <a:srgbClr val="F04B2E"/>
            </a:solidFill>
            <a:ln>
              <a:noFill/>
            </a:ln>
          </p:spPr>
        </p:sp>
        <p:sp>
          <p:nvSpPr>
            <p:cNvPr id="53" name="TextBox 53"/>
            <p:cNvSpPr txBox="1"/>
            <p:nvPr/>
          </p:nvSpPr>
          <p:spPr>
            <a:xfrm>
              <a:off x="4596642" y="1998345"/>
              <a:ext cx="1169916"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本月福利·刷卡抽红包</a:t>
              </a:r>
            </a:p>
          </p:txBody>
        </p:sp>
        <p:sp>
          <p:nvSpPr>
            <p:cNvPr id="54" name="Rectangle 54"/>
            <p:cNvSpPr/>
            <p:nvPr/>
          </p:nvSpPr>
          <p:spPr>
            <a:xfrm>
              <a:off x="4467225" y="2419350"/>
              <a:ext cx="1428750" cy="666750"/>
            </a:xfrm>
            <a:prstGeom prst="roundRect">
              <a:avLst>
                <a:gd name="adj" fmla="val 11429"/>
              </a:avLst>
            </a:prstGeom>
            <a:solidFill>
              <a:srgbClr val="FDF6EA"/>
            </a:solidFill>
            <a:ln>
              <a:noFill/>
            </a:ln>
          </p:spPr>
        </p:sp>
        <p:sp>
          <p:nvSpPr>
            <p:cNvPr id="55" name="Ellipse 55"/>
            <p:cNvSpPr/>
            <p:nvPr/>
          </p:nvSpPr>
          <p:spPr>
            <a:xfrm>
              <a:off x="4572000" y="2628900"/>
              <a:ext cx="228600" cy="228600"/>
            </a:xfrm>
            <a:prstGeom prst="ellipse">
              <a:avLst/>
            </a:prstGeom>
            <a:solidFill>
              <a:srgbClr val="F5735C"/>
            </a:solidFill>
            <a:ln>
              <a:noFill/>
            </a:ln>
          </p:spPr>
        </p:sp>
        <p:sp>
          <p:nvSpPr>
            <p:cNvPr id="56" name="Ellipse 56"/>
            <p:cNvSpPr/>
            <p:nvPr/>
          </p:nvSpPr>
          <p:spPr>
            <a:xfrm>
              <a:off x="4857750" y="2628900"/>
              <a:ext cx="228600" cy="228600"/>
            </a:xfrm>
            <a:prstGeom prst="ellipse">
              <a:avLst/>
            </a:prstGeom>
            <a:solidFill>
              <a:srgbClr val="F5735C"/>
            </a:solidFill>
            <a:ln>
              <a:noFill/>
            </a:ln>
          </p:spPr>
        </p:sp>
        <p:sp>
          <p:nvSpPr>
            <p:cNvPr id="57" name="Ellipse 57"/>
            <p:cNvSpPr/>
            <p:nvPr/>
          </p:nvSpPr>
          <p:spPr>
            <a:xfrm>
              <a:off x="5143500" y="2628900"/>
              <a:ext cx="228600" cy="228600"/>
            </a:xfrm>
            <a:prstGeom prst="ellipse">
              <a:avLst/>
            </a:prstGeom>
            <a:solidFill>
              <a:srgbClr val="F5735C"/>
            </a:solidFill>
            <a:ln>
              <a:noFill/>
            </a:ln>
          </p:spPr>
        </p:sp>
        <p:sp>
          <p:nvSpPr>
            <p:cNvPr id="58" name="Ellipse 58"/>
            <p:cNvSpPr/>
            <p:nvPr/>
          </p:nvSpPr>
          <p:spPr>
            <a:xfrm>
              <a:off x="5429250" y="2628900"/>
              <a:ext cx="228600" cy="228600"/>
            </a:xfrm>
            <a:prstGeom prst="ellipse">
              <a:avLst/>
            </a:prstGeom>
            <a:solidFill>
              <a:srgbClr val="F5735C"/>
            </a:solidFill>
            <a:ln>
              <a:noFill/>
            </a:ln>
          </p:spPr>
        </p:sp>
        <p:sp>
          <p:nvSpPr>
            <p:cNvPr id="59" name="Rectangle 59"/>
            <p:cNvSpPr/>
            <p:nvPr/>
          </p:nvSpPr>
          <p:spPr>
            <a:xfrm>
              <a:off x="4467225" y="3181350"/>
              <a:ext cx="1428750" cy="76200"/>
            </a:xfrm>
            <a:prstGeom prst="roundRect">
              <a:avLst>
                <a:gd name="adj" fmla="val 50000"/>
              </a:avLst>
            </a:prstGeom>
            <a:solidFill>
              <a:srgbClr val="F0F0F0"/>
            </a:solidFill>
            <a:ln>
              <a:noFill/>
            </a:ln>
          </p:spPr>
        </p:sp>
        <p:sp>
          <p:nvSpPr>
            <p:cNvPr id="60" name="Rectangle 60"/>
            <p:cNvSpPr/>
            <p:nvPr/>
          </p:nvSpPr>
          <p:spPr>
            <a:xfrm>
              <a:off x="4467225" y="3352800"/>
              <a:ext cx="1047750" cy="76200"/>
            </a:xfrm>
            <a:prstGeom prst="roundRect">
              <a:avLst>
                <a:gd name="adj" fmla="val 50000"/>
              </a:avLst>
            </a:prstGeom>
            <a:solidFill>
              <a:srgbClr val="F0F0F0"/>
            </a:solidFill>
            <a:ln>
              <a:noFill/>
            </a:ln>
          </p:spPr>
        </p:sp>
        <p:sp>
          <p:nvSpPr>
            <p:cNvPr id="61" name="Rectangle 61"/>
            <p:cNvSpPr/>
            <p:nvPr/>
          </p:nvSpPr>
          <p:spPr>
            <a:xfrm>
              <a:off x="4467225" y="3543300"/>
              <a:ext cx="647700" cy="647700"/>
            </a:xfrm>
            <a:prstGeom prst="roundRect">
              <a:avLst>
                <a:gd name="adj" fmla="val 11765"/>
              </a:avLst>
            </a:prstGeom>
            <a:solidFill>
              <a:srgbClr val="FDEDEA"/>
            </a:solidFill>
            <a:ln>
              <a:noFill/>
            </a:ln>
          </p:spPr>
        </p:sp>
        <p:sp>
          <p:nvSpPr>
            <p:cNvPr id="62" name="Rectangle 62"/>
            <p:cNvSpPr/>
            <p:nvPr/>
          </p:nvSpPr>
          <p:spPr>
            <a:xfrm>
              <a:off x="5248275" y="3543300"/>
              <a:ext cx="647700" cy="647700"/>
            </a:xfrm>
            <a:prstGeom prst="roundRect">
              <a:avLst>
                <a:gd name="adj" fmla="val 11765"/>
              </a:avLst>
            </a:prstGeom>
            <a:solidFill>
              <a:srgbClr val="FDEDEA"/>
            </a:solidFill>
            <a:ln>
              <a:noFill/>
            </a:ln>
          </p:spPr>
        </p:sp>
        <p:sp>
          <p:nvSpPr>
            <p:cNvPr id="63" name="Rectangle 63"/>
            <p:cNvSpPr/>
            <p:nvPr/>
          </p:nvSpPr>
          <p:spPr>
            <a:xfrm>
              <a:off x="4467225" y="4305300"/>
              <a:ext cx="647700" cy="647700"/>
            </a:xfrm>
            <a:prstGeom prst="roundRect">
              <a:avLst>
                <a:gd name="adj" fmla="val 11765"/>
              </a:avLst>
            </a:prstGeom>
            <a:solidFill>
              <a:srgbClr val="FDEDEA"/>
            </a:solidFill>
            <a:ln>
              <a:noFill/>
            </a:ln>
          </p:spPr>
        </p:sp>
        <p:sp>
          <p:nvSpPr>
            <p:cNvPr id="64" name="Rectangle 64"/>
            <p:cNvSpPr/>
            <p:nvPr/>
          </p:nvSpPr>
          <p:spPr>
            <a:xfrm>
              <a:off x="5248275" y="4305300"/>
              <a:ext cx="647700" cy="647700"/>
            </a:xfrm>
            <a:prstGeom prst="roundRect">
              <a:avLst>
                <a:gd name="adj" fmla="val 11765"/>
              </a:avLst>
            </a:prstGeom>
            <a:solidFill>
              <a:srgbClr val="FDEDEA"/>
            </a:solidFill>
            <a:ln>
              <a:noFill/>
            </a:ln>
          </p:spPr>
        </p:sp>
        <p:sp>
          <p:nvSpPr>
            <p:cNvPr id="65" name="Ellipse 65"/>
            <p:cNvSpPr/>
            <p:nvPr/>
          </p:nvSpPr>
          <p:spPr>
            <a:xfrm>
              <a:off x="4600575" y="3676650"/>
              <a:ext cx="381000" cy="381000"/>
            </a:xfrm>
            <a:prstGeom prst="ellipse">
              <a:avLst/>
            </a:prstGeom>
            <a:solidFill>
              <a:srgbClr val="E8553C"/>
            </a:solidFill>
            <a:ln>
              <a:noFill/>
            </a:ln>
          </p:spPr>
        </p:sp>
        <p:sp>
          <p:nvSpPr>
            <p:cNvPr id="66" name="Ellipse 66"/>
            <p:cNvSpPr/>
            <p:nvPr/>
          </p:nvSpPr>
          <p:spPr>
            <a:xfrm>
              <a:off x="5381625" y="3676650"/>
              <a:ext cx="381000" cy="381000"/>
            </a:xfrm>
            <a:prstGeom prst="ellipse">
              <a:avLst/>
            </a:prstGeom>
            <a:solidFill>
              <a:srgbClr val="E8553C"/>
            </a:solidFill>
            <a:ln>
              <a:noFill/>
            </a:ln>
          </p:spPr>
        </p:sp>
        <p:sp>
          <p:nvSpPr>
            <p:cNvPr id="67" name="Ellipse 67"/>
            <p:cNvSpPr/>
            <p:nvPr/>
          </p:nvSpPr>
          <p:spPr>
            <a:xfrm>
              <a:off x="4600575" y="4438650"/>
              <a:ext cx="381000" cy="381000"/>
            </a:xfrm>
            <a:prstGeom prst="ellipse">
              <a:avLst/>
            </a:prstGeom>
            <a:solidFill>
              <a:srgbClr val="E8553C"/>
            </a:solidFill>
            <a:ln>
              <a:noFill/>
            </a:ln>
          </p:spPr>
        </p:sp>
        <p:sp>
          <p:nvSpPr>
            <p:cNvPr id="68" name="Ellipse 68"/>
            <p:cNvSpPr/>
            <p:nvPr/>
          </p:nvSpPr>
          <p:spPr>
            <a:xfrm>
              <a:off x="5381625" y="4438650"/>
              <a:ext cx="381000" cy="381000"/>
            </a:xfrm>
            <a:prstGeom prst="ellipse">
              <a:avLst/>
            </a:prstGeom>
            <a:solidFill>
              <a:srgbClr val="E8553C"/>
            </a:solidFill>
            <a:ln>
              <a:noFill/>
            </a:ln>
          </p:spPr>
        </p:sp>
        <p:sp>
          <p:nvSpPr>
            <p:cNvPr id="69" name="Rectangle 69"/>
            <p:cNvSpPr/>
            <p:nvPr/>
          </p:nvSpPr>
          <p:spPr>
            <a:xfrm>
              <a:off x="4467225" y="5105400"/>
              <a:ext cx="1428750" cy="76200"/>
            </a:xfrm>
            <a:prstGeom prst="roundRect">
              <a:avLst>
                <a:gd name="adj" fmla="val 50000"/>
              </a:avLst>
            </a:prstGeom>
            <a:solidFill>
              <a:srgbClr val="F0F0F0"/>
            </a:solidFill>
            <a:ln>
              <a:noFill/>
            </a:ln>
          </p:spPr>
        </p:sp>
        <p:sp>
          <p:nvSpPr>
            <p:cNvPr id="70" name="Rectangle 70"/>
            <p:cNvSpPr/>
            <p:nvPr/>
          </p:nvSpPr>
          <p:spPr>
            <a:xfrm>
              <a:off x="4467225" y="5276850"/>
              <a:ext cx="1238250" cy="76200"/>
            </a:xfrm>
            <a:prstGeom prst="roundRect">
              <a:avLst>
                <a:gd name="adj" fmla="val 50000"/>
              </a:avLst>
            </a:prstGeom>
            <a:solidFill>
              <a:srgbClr val="F0F0F0"/>
            </a:solidFill>
            <a:ln>
              <a:noFill/>
            </a:ln>
          </p:spPr>
        </p:sp>
        <p:sp>
          <p:nvSpPr>
            <p:cNvPr id="71" name="Rectangle 71"/>
            <p:cNvSpPr/>
            <p:nvPr/>
          </p:nvSpPr>
          <p:spPr>
            <a:xfrm>
              <a:off x="4467225" y="5448300"/>
              <a:ext cx="1333500" cy="76200"/>
            </a:xfrm>
            <a:prstGeom prst="roundRect">
              <a:avLst>
                <a:gd name="adj" fmla="val 50000"/>
              </a:avLst>
            </a:prstGeom>
            <a:solidFill>
              <a:srgbClr val="F0F0F0"/>
            </a:solidFill>
            <a:ln>
              <a:noFill/>
            </a:ln>
          </p:spPr>
        </p:sp>
        <p:sp>
          <p:nvSpPr>
            <p:cNvPr id="72" name="TextBox 72"/>
            <p:cNvSpPr txBox="1"/>
            <p:nvPr/>
          </p:nvSpPr>
          <p:spPr>
            <a:xfrm>
              <a:off x="6100762" y="1826895"/>
              <a:ext cx="659538"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 设计逻辑</a:t>
              </a:r>
            </a:p>
          </p:txBody>
        </p:sp>
        <p:sp>
          <p:nvSpPr>
            <p:cNvPr id="73" name="TextBox 73"/>
            <p:cNvSpPr txBox="1"/>
            <p:nvPr/>
          </p:nvSpPr>
          <p:spPr>
            <a:xfrm>
              <a:off x="6100762" y="202953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消费绑定权益梯度，建立</a:t>
              </a:r>
            </a:p>
          </p:txBody>
        </p:sp>
        <p:sp>
          <p:nvSpPr>
            <p:cNvPr id="74" name="TextBox 74"/>
            <p:cNvSpPr txBox="1"/>
            <p:nvPr/>
          </p:nvSpPr>
          <p:spPr>
            <a:xfrm>
              <a:off x="6100762" y="2200989"/>
              <a:ext cx="64762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正向激励闭环</a:t>
              </a:r>
            </a:p>
          </p:txBody>
        </p:sp>
        <p:sp>
          <p:nvSpPr>
            <p:cNvPr id="75" name="TextBox 75"/>
            <p:cNvSpPr txBox="1"/>
            <p:nvPr/>
          </p:nvSpPr>
          <p:spPr>
            <a:xfrm>
              <a:off x="6100762" y="2455545"/>
              <a:ext cx="659538"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 核心玩法</a:t>
              </a:r>
            </a:p>
          </p:txBody>
        </p:sp>
        <p:sp>
          <p:nvSpPr>
            <p:cNvPr id="76" name="TextBox 76"/>
            <p:cNvSpPr txBox="1"/>
            <p:nvPr/>
          </p:nvSpPr>
          <p:spPr>
            <a:xfrm>
              <a:off x="6100762" y="265818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设置多档权益梯度，将日常</a:t>
              </a:r>
            </a:p>
          </p:txBody>
        </p:sp>
        <p:sp>
          <p:nvSpPr>
            <p:cNvPr id="77" name="TextBox 77"/>
            <p:cNvSpPr txBox="1"/>
            <p:nvPr/>
          </p:nvSpPr>
          <p:spPr>
            <a:xfrm>
              <a:off x="6100762" y="282963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零散小额消费转化为权益积</a:t>
              </a:r>
            </a:p>
          </p:txBody>
        </p:sp>
        <p:sp>
          <p:nvSpPr>
            <p:cNvPr id="78" name="TextBox 78"/>
            <p:cNvSpPr txBox="1"/>
            <p:nvPr/>
          </p:nvSpPr>
          <p:spPr>
            <a:xfrm>
              <a:off x="6100762" y="300108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累，打造清晰可感知的消费</a:t>
              </a:r>
            </a:p>
          </p:txBody>
        </p:sp>
        <p:sp>
          <p:nvSpPr>
            <p:cNvPr id="79" name="TextBox 79"/>
            <p:cNvSpPr txBox="1"/>
            <p:nvPr/>
          </p:nvSpPr>
          <p:spPr>
            <a:xfrm>
              <a:off x="6100762" y="3172539"/>
              <a:ext cx="43492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激励体系</a:t>
              </a:r>
            </a:p>
          </p:txBody>
        </p:sp>
        <p:sp>
          <p:nvSpPr>
            <p:cNvPr id="80" name="TextBox 80"/>
            <p:cNvSpPr txBox="1"/>
            <p:nvPr/>
          </p:nvSpPr>
          <p:spPr>
            <a:xfrm>
              <a:off x="6100762" y="3427095"/>
              <a:ext cx="659538"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 运营价值</a:t>
              </a:r>
            </a:p>
          </p:txBody>
        </p:sp>
        <p:sp>
          <p:nvSpPr>
            <p:cNvPr id="81" name="TextBox 81"/>
            <p:cNvSpPr txBox="1"/>
            <p:nvPr/>
          </p:nvSpPr>
          <p:spPr>
            <a:xfrm>
              <a:off x="6100762" y="362973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潜移默化培养支付习惯，引</a:t>
              </a:r>
            </a:p>
          </p:txBody>
        </p:sp>
        <p:sp>
          <p:nvSpPr>
            <p:cNvPr id="82" name="TextBox 82"/>
            <p:cNvSpPr txBox="1"/>
            <p:nvPr/>
          </p:nvSpPr>
          <p:spPr>
            <a:xfrm>
              <a:off x="6100762" y="3801189"/>
              <a:ext cx="12857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导拓宽消费场景，提升账户</a:t>
              </a:r>
            </a:p>
          </p:txBody>
        </p:sp>
        <p:sp>
          <p:nvSpPr>
            <p:cNvPr id="83" name="TextBox 83"/>
            <p:cNvSpPr txBox="1"/>
            <p:nvPr/>
          </p:nvSpPr>
          <p:spPr>
            <a:xfrm>
              <a:off x="6100762" y="3972639"/>
              <a:ext cx="9666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依存度与客群活跃度</a:t>
              </a:r>
            </a:p>
          </p:txBody>
        </p:sp>
        <p:sp>
          <p:nvSpPr>
            <p:cNvPr id="84" name="TextBox 84"/>
            <p:cNvSpPr txBox="1"/>
            <p:nvPr/>
          </p:nvSpPr>
          <p:spPr>
            <a:xfrm>
              <a:off x="4624896" y="5968841"/>
              <a:ext cx="1113409"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消费达标进阶活动示例</a:t>
              </a:r>
            </a:p>
          </p:txBody>
        </p:sp>
        <p:sp>
          <p:nvSpPr>
            <p:cNvPr id="85" name="TextBox 85"/>
            <p:cNvSpPr txBox="1"/>
            <p:nvPr/>
          </p:nvSpPr>
          <p:spPr>
            <a:xfrm>
              <a:off x="4956061" y="6159341"/>
              <a:ext cx="451079"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浦发银行</a:t>
              </a:r>
            </a:p>
          </p:txBody>
        </p:sp>
      </p:grpSp>
      <p:grpSp>
        <p:nvGrpSpPr>
          <p:cNvPr id="122" name="col-festival"/>
          <p:cNvGrpSpPr/>
          <p:nvPr/>
        </p:nvGrpSpPr>
        <p:grpSpPr>
          <a:xfrm>
            <a:off x="8324850" y="1276350"/>
            <a:ext cx="3429000" cy="5044916"/>
            <a:chOff x="8324850" y="1276350"/>
            <a:chExt cx="3429000" cy="5044916"/>
          </a:xfrm>
        </p:grpSpPr>
        <p:sp>
          <p:nvSpPr>
            <p:cNvPr id="87" name="Ellipse 87"/>
            <p:cNvSpPr/>
            <p:nvPr/>
          </p:nvSpPr>
          <p:spPr>
            <a:xfrm>
              <a:off x="8343900" y="1276350"/>
              <a:ext cx="342900" cy="342900"/>
            </a:xfrm>
            <a:prstGeom prst="ellipse">
              <a:avLst/>
            </a:prstGeom>
            <a:solidFill>
              <a:srgbClr val="E74726"/>
            </a:solidFill>
            <a:ln>
              <a:noFill/>
            </a:ln>
          </p:spPr>
        </p:sp>
        <p:sp>
          <p:nvSpPr>
            <p:cNvPr id="88" name="TextBox 88"/>
            <p:cNvSpPr txBox="1"/>
            <p:nvPr/>
          </p:nvSpPr>
          <p:spPr>
            <a:xfrm>
              <a:off x="8437019" y="139969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03</a:t>
              </a:r>
            </a:p>
          </p:txBody>
        </p:sp>
        <p:sp>
          <p:nvSpPr>
            <p:cNvPr id="89" name="Rectangle 89"/>
            <p:cNvSpPr/>
            <p:nvPr/>
          </p:nvSpPr>
          <p:spPr>
            <a:xfrm>
              <a:off x="8782050" y="1276350"/>
              <a:ext cx="2971800" cy="342900"/>
            </a:xfrm>
            <a:prstGeom prst="roundRect">
              <a:avLst>
                <a:gd name="adj" fmla="val 11111"/>
              </a:avLst>
            </a:prstGeom>
            <a:solidFill>
              <a:srgbClr val="FFFFFF"/>
            </a:solidFill>
            <a:ln w="14288">
              <a:solidFill>
                <a:srgbClr val="E74726"/>
              </a:solidFill>
            </a:ln>
          </p:spPr>
        </p:sp>
        <p:sp>
          <p:nvSpPr>
            <p:cNvPr id="90" name="TextBox 90"/>
            <p:cNvSpPr txBox="1"/>
            <p:nvPr/>
          </p:nvSpPr>
          <p:spPr>
            <a:xfrm>
              <a:off x="9697212" y="1391602"/>
              <a:ext cx="1141476" cy="205359"/>
            </a:xfrm>
            <a:prstGeom prst="rect">
              <a:avLst/>
            </a:prstGeom>
            <a:noFill/>
            <a:ln>
              <a:noFill/>
            </a:ln>
          </p:spPr>
          <p:txBody>
            <a:bodyPr wrap="none" lIns="0" tIns="0" rIns="0" bIns="0" anchor="t" anchorCtr="0">
              <a:spAutoFit/>
            </a:bodyPr>
            <a:lstStyle/>
            <a:p>
              <a:pPr algn="ctr"/>
              <a:r>
                <a:rPr lang="zh-CN" sz="1050" b="1" dirty="0">
                  <a:solidFill>
                    <a:srgbClr val="E74726"/>
                  </a:solidFill>
                  <a:latin typeface="+mn-lt"/>
                  <a:ea typeface="+mn-ea"/>
                  <a:cs typeface="+mn-cs"/>
                </a:rPr>
                <a:t>节日主题营销活动</a:t>
              </a:r>
            </a:p>
          </p:txBody>
        </p:sp>
        <p:sp>
          <p:nvSpPr>
            <p:cNvPr id="91" name="Rectangle 91"/>
            <p:cNvSpPr/>
            <p:nvPr/>
          </p:nvSpPr>
          <p:spPr>
            <a:xfrm>
              <a:off x="8324850" y="1752600"/>
              <a:ext cx="1619250" cy="4000500"/>
            </a:xfrm>
            <a:prstGeom prst="roundRect">
              <a:avLst>
                <a:gd name="adj" fmla="val 5882"/>
              </a:avLst>
            </a:prstGeom>
            <a:solidFill>
              <a:srgbClr val="E0462C"/>
            </a:solidFill>
            <a:ln>
              <a:noFill/>
            </a:ln>
          </p:spPr>
        </p:sp>
        <p:sp>
          <p:nvSpPr>
            <p:cNvPr id="92" name="Rectangle 92"/>
            <p:cNvSpPr/>
            <p:nvPr/>
          </p:nvSpPr>
          <p:spPr>
            <a:xfrm>
              <a:off x="8420100" y="1866900"/>
              <a:ext cx="1428750" cy="247650"/>
            </a:xfrm>
            <a:prstGeom prst="roundRect">
              <a:avLst>
                <a:gd name="adj" fmla="val 50000"/>
              </a:avLst>
            </a:prstGeom>
            <a:solidFill>
              <a:srgbClr val="FFFFFF"/>
            </a:solidFill>
            <a:ln>
              <a:noFill/>
            </a:ln>
          </p:spPr>
        </p:sp>
        <p:sp>
          <p:nvSpPr>
            <p:cNvPr id="93" name="TextBox 93"/>
            <p:cNvSpPr txBox="1"/>
            <p:nvPr/>
          </p:nvSpPr>
          <p:spPr>
            <a:xfrm>
              <a:off x="8813202" y="1949291"/>
              <a:ext cx="642545" cy="161925"/>
            </a:xfrm>
            <a:prstGeom prst="rect">
              <a:avLst/>
            </a:prstGeom>
            <a:noFill/>
            <a:ln>
              <a:noFill/>
            </a:ln>
          </p:spPr>
          <p:txBody>
            <a:bodyPr wrap="none" lIns="0" tIns="0" rIns="0" bIns="0" anchor="t" anchorCtr="0">
              <a:spAutoFit/>
            </a:bodyPr>
            <a:lstStyle/>
            <a:p>
              <a:pPr algn="ctr" marL="92945" indent="-92945">
                <a:buClr>
                  <a:srgbClr val="E0462C"/>
                </a:buClr>
                <a:buSzTx/>
                <a:buFontTx/>
                <a:buChar char="•"/>
              </a:pPr>
              <a:r>
                <a:rPr lang="zh-CN" sz="820" b="1" dirty="0">
                  <a:solidFill>
                    <a:srgbClr val="E0462C"/>
                  </a:solidFill>
                  <a:latin typeface="+mn-lt"/>
                  <a:ea typeface="+mn-ea"/>
                  <a:cs typeface="+mn-cs"/>
                </a:rPr>
                <a:t>笔笔返现 ·</a:t>
              </a:r>
            </a:p>
          </p:txBody>
        </p:sp>
        <p:sp>
          <p:nvSpPr>
            <p:cNvPr id="94" name="TextBox 94"/>
            <p:cNvSpPr txBox="1"/>
            <p:nvPr/>
          </p:nvSpPr>
          <p:spPr>
            <a:xfrm>
              <a:off x="8724519" y="2308860"/>
              <a:ext cx="81991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就该这么花</a:t>
              </a:r>
            </a:p>
          </p:txBody>
        </p:sp>
        <p:sp>
          <p:nvSpPr>
            <p:cNvPr id="95" name="Rectangle 95"/>
            <p:cNvSpPr/>
            <p:nvPr/>
          </p:nvSpPr>
          <p:spPr>
            <a:xfrm>
              <a:off x="8420100" y="2628900"/>
              <a:ext cx="1428750" cy="762000"/>
            </a:xfrm>
            <a:prstGeom prst="roundRect">
              <a:avLst>
                <a:gd name="adj" fmla="val 10000"/>
              </a:avLst>
            </a:prstGeom>
            <a:solidFill>
              <a:srgbClr val="FFFFFF">
                <a:alpha val="92000"/>
              </a:srgbClr>
            </a:solidFill>
            <a:ln>
              <a:noFill/>
            </a:ln>
          </p:spPr>
        </p:sp>
        <p:sp>
          <p:nvSpPr>
            <p:cNvPr id="96" name="Rectangle 96"/>
            <p:cNvSpPr/>
            <p:nvPr/>
          </p:nvSpPr>
          <p:spPr>
            <a:xfrm>
              <a:off x="8534400" y="2762250"/>
              <a:ext cx="1200150" cy="76200"/>
            </a:xfrm>
            <a:prstGeom prst="roundRect">
              <a:avLst>
                <a:gd name="adj" fmla="val 50000"/>
              </a:avLst>
            </a:prstGeom>
            <a:solidFill>
              <a:srgbClr val="F0F0F0"/>
            </a:solidFill>
            <a:ln>
              <a:noFill/>
            </a:ln>
          </p:spPr>
        </p:sp>
        <p:sp>
          <p:nvSpPr>
            <p:cNvPr id="97" name="Rectangle 97"/>
            <p:cNvSpPr/>
            <p:nvPr/>
          </p:nvSpPr>
          <p:spPr>
            <a:xfrm>
              <a:off x="8534400" y="2933700"/>
              <a:ext cx="952500" cy="76200"/>
            </a:xfrm>
            <a:prstGeom prst="roundRect">
              <a:avLst>
                <a:gd name="adj" fmla="val 50000"/>
              </a:avLst>
            </a:prstGeom>
            <a:solidFill>
              <a:srgbClr val="F0F0F0"/>
            </a:solidFill>
            <a:ln>
              <a:noFill/>
            </a:ln>
          </p:spPr>
        </p:sp>
        <p:sp>
          <p:nvSpPr>
            <p:cNvPr id="98" name="Rectangle 98"/>
            <p:cNvSpPr/>
            <p:nvPr/>
          </p:nvSpPr>
          <p:spPr>
            <a:xfrm>
              <a:off x="8534400" y="3105150"/>
              <a:ext cx="1104900" cy="76200"/>
            </a:xfrm>
            <a:prstGeom prst="roundRect">
              <a:avLst>
                <a:gd name="adj" fmla="val 50000"/>
              </a:avLst>
            </a:prstGeom>
            <a:solidFill>
              <a:srgbClr val="F0F0F0"/>
            </a:solidFill>
            <a:ln>
              <a:noFill/>
            </a:ln>
          </p:spPr>
        </p:sp>
        <p:sp>
          <p:nvSpPr>
            <p:cNvPr id="99" name="Rectangle 99"/>
            <p:cNvSpPr/>
            <p:nvPr/>
          </p:nvSpPr>
          <p:spPr>
            <a:xfrm>
              <a:off x="8420100" y="3486150"/>
              <a:ext cx="1428750" cy="762000"/>
            </a:xfrm>
            <a:prstGeom prst="roundRect">
              <a:avLst>
                <a:gd name="adj" fmla="val 10000"/>
              </a:avLst>
            </a:prstGeom>
            <a:solidFill>
              <a:srgbClr val="FFFFFF">
                <a:alpha val="92000"/>
              </a:srgbClr>
            </a:solidFill>
            <a:ln>
              <a:noFill/>
            </a:ln>
          </p:spPr>
        </p:sp>
        <p:sp>
          <p:nvSpPr>
            <p:cNvPr id="100" name="Rectangle 100"/>
            <p:cNvSpPr/>
            <p:nvPr/>
          </p:nvSpPr>
          <p:spPr>
            <a:xfrm>
              <a:off x="8534400" y="3619500"/>
              <a:ext cx="1200150" cy="76200"/>
            </a:xfrm>
            <a:prstGeom prst="roundRect">
              <a:avLst>
                <a:gd name="adj" fmla="val 50000"/>
              </a:avLst>
            </a:prstGeom>
            <a:solidFill>
              <a:srgbClr val="F0F0F0"/>
            </a:solidFill>
            <a:ln>
              <a:noFill/>
            </a:ln>
          </p:spPr>
        </p:sp>
        <p:sp>
          <p:nvSpPr>
            <p:cNvPr id="101" name="Rectangle 101"/>
            <p:cNvSpPr/>
            <p:nvPr/>
          </p:nvSpPr>
          <p:spPr>
            <a:xfrm>
              <a:off x="8534400" y="3790950"/>
              <a:ext cx="857250" cy="76200"/>
            </a:xfrm>
            <a:prstGeom prst="roundRect">
              <a:avLst>
                <a:gd name="adj" fmla="val 50000"/>
              </a:avLst>
            </a:prstGeom>
            <a:solidFill>
              <a:srgbClr val="F0F0F0"/>
            </a:solidFill>
            <a:ln>
              <a:noFill/>
            </a:ln>
          </p:spPr>
        </p:sp>
        <p:sp>
          <p:nvSpPr>
            <p:cNvPr id="102" name="Rectangle 102"/>
            <p:cNvSpPr/>
            <p:nvPr/>
          </p:nvSpPr>
          <p:spPr>
            <a:xfrm>
              <a:off x="8534400" y="3962400"/>
              <a:ext cx="1047750" cy="76200"/>
            </a:xfrm>
            <a:prstGeom prst="roundRect">
              <a:avLst>
                <a:gd name="adj" fmla="val 50000"/>
              </a:avLst>
            </a:prstGeom>
            <a:solidFill>
              <a:srgbClr val="F0F0F0"/>
            </a:solidFill>
            <a:ln>
              <a:noFill/>
            </a:ln>
          </p:spPr>
        </p:sp>
        <p:sp>
          <p:nvSpPr>
            <p:cNvPr id="103" name="Rectangle 103"/>
            <p:cNvSpPr/>
            <p:nvPr/>
          </p:nvSpPr>
          <p:spPr>
            <a:xfrm>
              <a:off x="8420100" y="4343400"/>
              <a:ext cx="1428750" cy="952500"/>
            </a:xfrm>
            <a:prstGeom prst="roundRect">
              <a:avLst>
                <a:gd name="adj" fmla="val 8000"/>
              </a:avLst>
            </a:prstGeom>
            <a:solidFill>
              <a:srgbClr val="FFFFFF">
                <a:alpha val="92000"/>
              </a:srgbClr>
            </a:solidFill>
            <a:ln>
              <a:noFill/>
            </a:ln>
          </p:spPr>
        </p:sp>
        <p:sp>
          <p:nvSpPr>
            <p:cNvPr id="104" name="Rectangle 104"/>
            <p:cNvSpPr/>
            <p:nvPr/>
          </p:nvSpPr>
          <p:spPr>
            <a:xfrm>
              <a:off x="8534400" y="4476750"/>
              <a:ext cx="571500" cy="704850"/>
            </a:xfrm>
            <a:prstGeom prst="roundRect">
              <a:avLst>
                <a:gd name="adj" fmla="val 10000"/>
              </a:avLst>
            </a:prstGeom>
            <a:solidFill>
              <a:srgbClr val="FDEDEA"/>
            </a:solidFill>
            <a:ln>
              <a:noFill/>
            </a:ln>
          </p:spPr>
        </p:sp>
        <p:sp>
          <p:nvSpPr>
            <p:cNvPr id="105" name="Rectangle 105"/>
            <p:cNvSpPr/>
            <p:nvPr/>
          </p:nvSpPr>
          <p:spPr>
            <a:xfrm>
              <a:off x="9182100" y="4476750"/>
              <a:ext cx="552450" cy="704850"/>
            </a:xfrm>
            <a:prstGeom prst="roundRect">
              <a:avLst>
                <a:gd name="adj" fmla="val 10345"/>
              </a:avLst>
            </a:prstGeom>
            <a:solidFill>
              <a:srgbClr val="FDF6EA"/>
            </a:solidFill>
            <a:ln>
              <a:noFill/>
            </a:ln>
          </p:spPr>
        </p:sp>
        <p:sp>
          <p:nvSpPr>
            <p:cNvPr id="106" name="Rectangle 106"/>
            <p:cNvSpPr/>
            <p:nvPr/>
          </p:nvSpPr>
          <p:spPr>
            <a:xfrm>
              <a:off x="8610600" y="5448300"/>
              <a:ext cx="1047750" cy="171450"/>
            </a:xfrm>
            <a:prstGeom prst="roundRect">
              <a:avLst>
                <a:gd name="adj" fmla="val 50000"/>
              </a:avLst>
            </a:prstGeom>
            <a:solidFill>
              <a:srgbClr val="F5735C"/>
            </a:solidFill>
            <a:ln>
              <a:noFill/>
            </a:ln>
          </p:spPr>
        </p:sp>
        <p:sp>
          <p:nvSpPr>
            <p:cNvPr id="107" name="TextBox 107"/>
            <p:cNvSpPr txBox="1"/>
            <p:nvPr/>
          </p:nvSpPr>
          <p:spPr>
            <a:xfrm>
              <a:off x="10053638" y="1826895"/>
              <a:ext cx="659538"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 设计逻辑</a:t>
              </a:r>
            </a:p>
          </p:txBody>
        </p:sp>
        <p:sp>
          <p:nvSpPr>
            <p:cNvPr id="108" name="TextBox 108"/>
            <p:cNvSpPr txBox="1"/>
            <p:nvPr/>
          </p:nvSpPr>
          <p:spPr>
            <a:xfrm>
              <a:off x="10053638" y="202953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借势全民消费节点，集中</a:t>
              </a:r>
            </a:p>
          </p:txBody>
        </p:sp>
        <p:sp>
          <p:nvSpPr>
            <p:cNvPr id="109" name="TextBox 109"/>
            <p:cNvSpPr txBox="1"/>
            <p:nvPr/>
          </p:nvSpPr>
          <p:spPr>
            <a:xfrm>
              <a:off x="10053638" y="2200989"/>
              <a:ext cx="1227030"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资源打造支付主题IP活动​</a:t>
              </a:r>
            </a:p>
          </p:txBody>
        </p:sp>
        <p:sp>
          <p:nvSpPr>
            <p:cNvPr id="110" name="TextBox 110"/>
            <p:cNvSpPr txBox="1"/>
            <p:nvPr/>
          </p:nvSpPr>
          <p:spPr>
            <a:xfrm>
              <a:off x="10053638" y="2455545"/>
              <a:ext cx="659538"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 核心玩法</a:t>
              </a:r>
            </a:p>
          </p:txBody>
        </p:sp>
        <p:sp>
          <p:nvSpPr>
            <p:cNvPr id="111" name="TextBox 111"/>
            <p:cNvSpPr txBox="1"/>
            <p:nvPr/>
          </p:nvSpPr>
          <p:spPr>
            <a:xfrm>
              <a:off x="10053638" y="2658189"/>
              <a:ext cx="1280405"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紧扣春节/618/双11等消​​</a:t>
              </a:r>
            </a:p>
          </p:txBody>
        </p:sp>
        <p:sp>
          <p:nvSpPr>
            <p:cNvPr id="112" name="TextBox 112"/>
            <p:cNvSpPr txBox="1"/>
            <p:nvPr/>
          </p:nvSpPr>
          <p:spPr>
            <a:xfrm>
              <a:off x="10053638" y="282963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费节点，集中加码全场景</a:t>
              </a:r>
            </a:p>
          </p:txBody>
        </p:sp>
        <p:sp>
          <p:nvSpPr>
            <p:cNvPr id="113" name="TextBox 113"/>
            <p:cNvSpPr txBox="1"/>
            <p:nvPr/>
          </p:nvSpPr>
          <p:spPr>
            <a:xfrm>
              <a:off x="10053638" y="300108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立减、幸运抽奖、积分翻</a:t>
              </a:r>
            </a:p>
          </p:txBody>
        </p:sp>
        <p:sp>
          <p:nvSpPr>
            <p:cNvPr id="114" name="TextBox 114"/>
            <p:cNvSpPr txBox="1"/>
            <p:nvPr/>
          </p:nvSpPr>
          <p:spPr>
            <a:xfrm>
              <a:off x="10053638" y="3172539"/>
              <a:ext cx="9666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倍、限时秒杀等权益</a:t>
              </a:r>
            </a:p>
          </p:txBody>
        </p:sp>
        <p:sp>
          <p:nvSpPr>
            <p:cNvPr id="115" name="TextBox 115"/>
            <p:cNvSpPr txBox="1"/>
            <p:nvPr/>
          </p:nvSpPr>
          <p:spPr>
            <a:xfrm>
              <a:off x="10053638" y="3427095"/>
              <a:ext cx="659538"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 运营价值</a:t>
              </a:r>
            </a:p>
          </p:txBody>
        </p:sp>
        <p:sp>
          <p:nvSpPr>
            <p:cNvPr id="116" name="TextBox 116"/>
            <p:cNvSpPr txBox="1"/>
            <p:nvPr/>
          </p:nvSpPr>
          <p:spPr>
            <a:xfrm>
              <a:off x="10053638" y="362973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短期批量拉升动户率与交</a:t>
              </a:r>
            </a:p>
          </p:txBody>
        </p:sp>
        <p:sp>
          <p:nvSpPr>
            <p:cNvPr id="117" name="TextBox 117"/>
            <p:cNvSpPr txBox="1"/>
            <p:nvPr/>
          </p:nvSpPr>
          <p:spPr>
            <a:xfrm>
              <a:off x="10053638" y="380118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易规模，强化支付权益口</a:t>
              </a:r>
            </a:p>
          </p:txBody>
        </p:sp>
        <p:sp>
          <p:nvSpPr>
            <p:cNvPr id="118" name="TextBox 118"/>
            <p:cNvSpPr txBox="1"/>
            <p:nvPr/>
          </p:nvSpPr>
          <p:spPr>
            <a:xfrm>
              <a:off x="10053638" y="3972639"/>
              <a:ext cx="117937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碑与品牌认知，夯实常态</a:t>
              </a:r>
            </a:p>
          </p:txBody>
        </p:sp>
        <p:sp>
          <p:nvSpPr>
            <p:cNvPr id="119" name="TextBox 119"/>
            <p:cNvSpPr txBox="1"/>
            <p:nvPr/>
          </p:nvSpPr>
          <p:spPr>
            <a:xfrm>
              <a:off x="10053638" y="4144089"/>
              <a:ext cx="54127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化运营基础</a:t>
              </a:r>
            </a:p>
          </p:txBody>
        </p:sp>
        <p:sp>
          <p:nvSpPr>
            <p:cNvPr id="120" name="TextBox 120"/>
            <p:cNvSpPr txBox="1"/>
            <p:nvPr/>
          </p:nvSpPr>
          <p:spPr>
            <a:xfrm>
              <a:off x="8577770" y="5968841"/>
              <a:ext cx="1113409"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节日主题营销活动示例</a:t>
              </a:r>
            </a:p>
          </p:txBody>
        </p:sp>
        <p:sp>
          <p:nvSpPr>
            <p:cNvPr id="121" name="TextBox 121"/>
            <p:cNvSpPr txBox="1"/>
            <p:nvPr/>
          </p:nvSpPr>
          <p:spPr>
            <a:xfrm>
              <a:off x="8908936" y="6159341"/>
              <a:ext cx="451079" cy="161925"/>
            </a:xfrm>
            <a:prstGeom prst="rect">
              <a:avLst/>
            </a:prstGeom>
            <a:noFill/>
            <a:ln>
              <a:noFill/>
            </a:ln>
          </p:spPr>
          <p:txBody>
            <a:bodyPr wrap="none" lIns="0" tIns="0" rIns="0" bIns="0" anchor="t" anchorCtr="0">
              <a:spAutoFit/>
            </a:bodyPr>
            <a:lstStyle/>
            <a:p>
              <a:pPr algn="ctr"/>
              <a:r>
                <a:rPr lang="zh-CN" sz="820" dirty="0">
                  <a:solidFill>
                    <a:srgbClr val="E74726"/>
                  </a:solidFill>
                  <a:latin typeface="+mn-lt"/>
                  <a:ea typeface="+mn-ea"/>
                  <a:cs typeface="+mn-cs"/>
                </a:rPr>
                <a:t>招商银行</a:t>
              </a:r>
            </a:p>
          </p:txBody>
        </p:sp>
      </p:grpSp>
      <p:sp>
        <p:nvSpPr>
          <p:cNvPr id="123" name="TextBox 123"/>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14</a:t>
              </a:r>
            </a:p>
          </p:txBody>
        </p:sp>
        <p:sp>
          <p:nvSpPr>
            <p:cNvPr id="4" name="TextBox 4"/>
            <p:cNvSpPr txBox="1"/>
            <p:nvPr/>
          </p:nvSpPr>
          <p:spPr>
            <a:xfrm>
              <a:off x="942594" y="151448"/>
              <a:ext cx="6861787"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2.2.1 活动运营｜财富进阶——价值链路的</a:t>
              </a:r>
              <a:r>
                <a:rPr lang="zh-CN" sz="1950" b="1" dirty="0">
                  <a:solidFill>
                    <a:srgbClr val="E74726"/>
                  </a:solidFill>
                  <a:latin typeface="SimSun"/>
                  <a:ea typeface="SimSun"/>
                  <a:cs typeface="SimSun"/>
                </a:rPr>
                <a:t>“终极跃迁”</a:t>
              </a:r>
              <a:r>
                <a:rPr lang="zh-CN" sz="1950" b="1" dirty="0">
                  <a:solidFill>
                    <a:srgbClr val="1F1F1F"/>
                  </a:solidFill>
                  <a:latin typeface="SimSun"/>
                  <a:ea typeface="SimSun"/>
                  <a:cs typeface="SimSun"/>
                </a:rPr>
                <a:t>​​</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377623" cy="551260"/>
            <a:chOff x="566166" y="667702"/>
            <a:chExt cx="6377623" cy="551260"/>
          </a:xfrm>
        </p:grpSpPr>
        <p:sp>
          <p:nvSpPr>
            <p:cNvPr id="8" name="TextBox 8"/>
            <p:cNvSpPr txBox="1"/>
            <p:nvPr/>
          </p:nvSpPr>
          <p:spPr>
            <a:xfrm>
              <a:off x="566166" y="667702"/>
              <a:ext cx="6177805"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在绑卡活卡、消费促活的基础上，以阶梯式资产提升活动承接客户进阶需求，实现AUM实质性增长​</a:t>
              </a:r>
            </a:p>
          </p:txBody>
        </p:sp>
        <p:sp>
          <p:nvSpPr>
            <p:cNvPr id="9" name="TextBox 9"/>
            <p:cNvSpPr txBox="1"/>
            <p:nvPr/>
          </p:nvSpPr>
          <p:spPr>
            <a:xfrm>
              <a:off x="566738" y="887968"/>
              <a:ext cx="6377051"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多档阶梯门槛覆盖不同资金实力客群，广泛撬动长尾参与；双维度考核平衡短期冲量节奏与长期规模沉淀；达标留存任务以高</a:t>
              </a:r>
            </a:p>
          </p:txBody>
        </p:sp>
        <p:sp>
          <p:nvSpPr>
            <p:cNvPr id="10" name="TextBox 10"/>
            <p:cNvSpPr txBox="1"/>
            <p:nvPr/>
          </p:nvSpPr>
          <p:spPr>
            <a:xfrm>
              <a:off x="566738" y="1049893"/>
              <a:ext cx="4455216"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阶权益锁定资金，规避快进快出，三阶递进确保资产从“提升”到“留存”的完整闭环​​​​</a:t>
              </a:r>
            </a:p>
          </p:txBody>
        </p:sp>
      </p:grpSp>
      <p:grpSp>
        <p:nvGrpSpPr>
          <p:cNvPr id="36" name="left-blocks"/>
          <p:cNvGrpSpPr/>
          <p:nvPr/>
        </p:nvGrpSpPr>
        <p:grpSpPr>
          <a:xfrm>
            <a:off x="438150" y="1333500"/>
            <a:ext cx="5295900" cy="4400550"/>
            <a:chOff x="438150" y="1333500"/>
            <a:chExt cx="5295900" cy="4400550"/>
          </a:xfrm>
        </p:grpSpPr>
        <p:sp>
          <p:nvSpPr>
            <p:cNvPr id="12" name="Ellipse 12"/>
            <p:cNvSpPr/>
            <p:nvPr/>
          </p:nvSpPr>
          <p:spPr>
            <a:xfrm>
              <a:off x="438150" y="1333500"/>
              <a:ext cx="342900" cy="342900"/>
            </a:xfrm>
            <a:prstGeom prst="ellipse">
              <a:avLst/>
            </a:prstGeom>
            <a:solidFill>
              <a:srgbClr val="E74726"/>
            </a:solidFill>
            <a:ln>
              <a:noFill/>
            </a:ln>
          </p:spPr>
        </p:sp>
        <p:sp>
          <p:nvSpPr>
            <p:cNvPr id="13" name="TextBox 13"/>
            <p:cNvSpPr txBox="1"/>
            <p:nvPr/>
          </p:nvSpPr>
          <p:spPr>
            <a:xfrm>
              <a:off x="531269" y="145684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01</a:t>
              </a:r>
            </a:p>
          </p:txBody>
        </p:sp>
        <p:sp>
          <p:nvSpPr>
            <p:cNvPr id="14" name="Rectangle 14"/>
            <p:cNvSpPr/>
            <p:nvPr/>
          </p:nvSpPr>
          <p:spPr>
            <a:xfrm>
              <a:off x="876300" y="1352550"/>
              <a:ext cx="3048000" cy="304800"/>
            </a:xfrm>
            <a:prstGeom prst="roundRect">
              <a:avLst>
                <a:gd name="adj" fmla="val 12500"/>
              </a:avLst>
            </a:prstGeom>
            <a:solidFill>
              <a:srgbClr val="FFFFFF"/>
            </a:solidFill>
            <a:ln w="14288">
              <a:solidFill>
                <a:srgbClr val="E74726"/>
              </a:solidFill>
            </a:ln>
          </p:spPr>
        </p:sp>
        <p:sp>
          <p:nvSpPr>
            <p:cNvPr id="15" name="TextBox 15"/>
            <p:cNvSpPr txBox="1"/>
            <p:nvPr/>
          </p:nvSpPr>
          <p:spPr>
            <a:xfrm>
              <a:off x="1471854" y="1456849"/>
              <a:ext cx="1856892" cy="190690"/>
            </a:xfrm>
            <a:prstGeom prst="rect">
              <a:avLst/>
            </a:prstGeom>
            <a:noFill/>
            <a:ln>
              <a:noFill/>
            </a:ln>
          </p:spPr>
          <p:txBody>
            <a:bodyPr wrap="none" lIns="0" tIns="0" rIns="0" bIns="0" anchor="t" anchorCtr="0">
              <a:spAutoFit/>
            </a:bodyPr>
            <a:lstStyle/>
            <a:p>
              <a:pPr algn="ctr"/>
              <a:r>
                <a:rPr lang="zh-CN" sz="980" b="1" dirty="0">
                  <a:solidFill>
                    <a:srgbClr val="E74726"/>
                  </a:solidFill>
                  <a:latin typeface="+mn-lt"/>
                  <a:ea typeface="+mn-ea"/>
                  <a:cs typeface="+mn-cs"/>
                </a:rPr>
                <a:t>设置多档位阶梯式资产提升计划</a:t>
              </a:r>
            </a:p>
          </p:txBody>
        </p:sp>
        <p:sp>
          <p:nvSpPr>
            <p:cNvPr id="16" name="Rectangle 16"/>
            <p:cNvSpPr/>
            <p:nvPr/>
          </p:nvSpPr>
          <p:spPr>
            <a:xfrm>
              <a:off x="476250" y="1771650"/>
              <a:ext cx="5257800" cy="857250"/>
            </a:xfrm>
            <a:prstGeom prst="roundRect">
              <a:avLst>
                <a:gd name="adj" fmla="val 6667"/>
              </a:avLst>
            </a:prstGeom>
            <a:solidFill>
              <a:srgbClr val="F4F6FA"/>
            </a:solidFill>
            <a:ln>
              <a:noFill/>
            </a:ln>
          </p:spPr>
        </p:sp>
        <p:sp>
          <p:nvSpPr>
            <p:cNvPr id="17" name="TextBox 17"/>
            <p:cNvSpPr txBox="1"/>
            <p:nvPr/>
          </p:nvSpPr>
          <p:spPr>
            <a:xfrm>
              <a:off x="604838" y="1934289"/>
              <a:ext cx="4472494"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 核心玩法：</a:t>
              </a:r>
              <a:r>
                <a:rPr lang="zh-CN" sz="790" dirty="0">
                  <a:solidFill>
                    <a:srgbClr val="523833"/>
                  </a:solidFill>
                  <a:latin typeface="+mn-lt"/>
                  <a:ea typeface="+mn-ea"/>
                  <a:cs typeface="+mn-cs"/>
                </a:rPr>
                <a:t>划分3000元、5000元、1万元、5万元多档梯度门槛，对应匹配积分、立减金、​​</a:t>
              </a:r>
            </a:p>
          </p:txBody>
        </p:sp>
        <p:sp>
          <p:nvSpPr>
            <p:cNvPr id="18" name="TextBox 18"/>
            <p:cNvSpPr txBox="1"/>
            <p:nvPr/>
          </p:nvSpPr>
          <p:spPr>
            <a:xfrm>
              <a:off x="604838" y="2105739"/>
              <a:ext cx="160477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实物礼品、会员特权等差异化权益</a:t>
              </a:r>
            </a:p>
          </p:txBody>
        </p:sp>
        <p:sp>
          <p:nvSpPr>
            <p:cNvPr id="19" name="TextBox 19"/>
            <p:cNvSpPr txBox="1"/>
            <p:nvPr/>
          </p:nvSpPr>
          <p:spPr>
            <a:xfrm>
              <a:off x="604838" y="2353389"/>
              <a:ext cx="3345186"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 运营价值：</a:t>
              </a:r>
              <a:r>
                <a:rPr lang="zh-CN" sz="790" dirty="0">
                  <a:solidFill>
                    <a:srgbClr val="523833"/>
                  </a:solidFill>
                  <a:latin typeface="+mn-lt"/>
                  <a:ea typeface="+mn-ea"/>
                  <a:cs typeface="+mn-cs"/>
                </a:rPr>
                <a:t>覆盖不同资金实力客群，广泛撬动长尾客户参与资产提升</a:t>
              </a:r>
            </a:p>
          </p:txBody>
        </p:sp>
        <p:sp>
          <p:nvSpPr>
            <p:cNvPr id="20" name="Ellipse 20"/>
            <p:cNvSpPr/>
            <p:nvPr/>
          </p:nvSpPr>
          <p:spPr>
            <a:xfrm>
              <a:off x="438150" y="2800350"/>
              <a:ext cx="342900" cy="342900"/>
            </a:xfrm>
            <a:prstGeom prst="ellipse">
              <a:avLst/>
            </a:prstGeom>
            <a:solidFill>
              <a:srgbClr val="E74726"/>
            </a:solidFill>
            <a:ln>
              <a:noFill/>
            </a:ln>
          </p:spPr>
        </p:sp>
        <p:sp>
          <p:nvSpPr>
            <p:cNvPr id="21" name="TextBox 21"/>
            <p:cNvSpPr txBox="1"/>
            <p:nvPr/>
          </p:nvSpPr>
          <p:spPr>
            <a:xfrm>
              <a:off x="531269" y="292369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02</a:t>
              </a:r>
            </a:p>
          </p:txBody>
        </p:sp>
        <p:sp>
          <p:nvSpPr>
            <p:cNvPr id="22" name="Rectangle 22"/>
            <p:cNvSpPr/>
            <p:nvPr/>
          </p:nvSpPr>
          <p:spPr>
            <a:xfrm>
              <a:off x="876300" y="2819400"/>
              <a:ext cx="3048000" cy="304800"/>
            </a:xfrm>
            <a:prstGeom prst="roundRect">
              <a:avLst>
                <a:gd name="adj" fmla="val 12500"/>
              </a:avLst>
            </a:prstGeom>
            <a:solidFill>
              <a:srgbClr val="FFFFFF"/>
            </a:solidFill>
            <a:ln w="14288">
              <a:solidFill>
                <a:srgbClr val="E74726"/>
              </a:solidFill>
            </a:ln>
          </p:spPr>
        </p:sp>
        <p:sp>
          <p:nvSpPr>
            <p:cNvPr id="23" name="TextBox 23"/>
            <p:cNvSpPr txBox="1"/>
            <p:nvPr/>
          </p:nvSpPr>
          <p:spPr>
            <a:xfrm>
              <a:off x="1669745" y="2923699"/>
              <a:ext cx="1461110" cy="190690"/>
            </a:xfrm>
            <a:prstGeom prst="rect">
              <a:avLst/>
            </a:prstGeom>
            <a:noFill/>
            <a:ln>
              <a:noFill/>
            </a:ln>
          </p:spPr>
          <p:txBody>
            <a:bodyPr wrap="none" lIns="0" tIns="0" rIns="0" bIns="0" anchor="t" anchorCtr="0">
              <a:spAutoFit/>
            </a:bodyPr>
            <a:lstStyle/>
            <a:p>
              <a:pPr algn="ctr"/>
              <a:r>
                <a:rPr lang="zh-CN" sz="980" b="1" dirty="0">
                  <a:solidFill>
                    <a:srgbClr val="E74726"/>
                  </a:solidFill>
                  <a:latin typeface="+mn-lt"/>
                  <a:ea typeface="+mn-ea"/>
                  <a:cs typeface="+mn-cs"/>
                </a:rPr>
                <a:t>设置双维度考核激励机制</a:t>
              </a:r>
            </a:p>
          </p:txBody>
        </p:sp>
        <p:sp>
          <p:nvSpPr>
            <p:cNvPr id="24" name="Rectangle 24"/>
            <p:cNvSpPr/>
            <p:nvPr/>
          </p:nvSpPr>
          <p:spPr>
            <a:xfrm>
              <a:off x="476250" y="3238500"/>
              <a:ext cx="5257800" cy="857250"/>
            </a:xfrm>
            <a:prstGeom prst="roundRect">
              <a:avLst>
                <a:gd name="adj" fmla="val 6667"/>
              </a:avLst>
            </a:prstGeom>
            <a:solidFill>
              <a:srgbClr val="F4F6FA"/>
            </a:solidFill>
            <a:ln>
              <a:noFill/>
            </a:ln>
          </p:spPr>
        </p:sp>
        <p:sp>
          <p:nvSpPr>
            <p:cNvPr id="25" name="TextBox 25"/>
            <p:cNvSpPr txBox="1"/>
            <p:nvPr/>
          </p:nvSpPr>
          <p:spPr>
            <a:xfrm>
              <a:off x="604838" y="3401139"/>
              <a:ext cx="4429954"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 核心玩法：</a:t>
              </a:r>
              <a:r>
                <a:rPr lang="zh-CN" sz="790" dirty="0">
                  <a:solidFill>
                    <a:srgbClr val="523833"/>
                  </a:solidFill>
                  <a:latin typeface="+mn-lt"/>
                  <a:ea typeface="+mn-ea"/>
                  <a:cs typeface="+mn-cs"/>
                </a:rPr>
                <a:t>设置「月日均资产提升」「时点资产余额提升」双考核维度，分别匹配对应​​​​</a:t>
              </a:r>
            </a:p>
          </p:txBody>
        </p:sp>
        <p:sp>
          <p:nvSpPr>
            <p:cNvPr id="26" name="TextBox 26"/>
            <p:cNvSpPr txBox="1"/>
            <p:nvPr/>
          </p:nvSpPr>
          <p:spPr>
            <a:xfrm>
              <a:off x="604838" y="3572589"/>
              <a:ext cx="43492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激励规则</a:t>
              </a:r>
            </a:p>
          </p:txBody>
        </p:sp>
        <p:sp>
          <p:nvSpPr>
            <p:cNvPr id="27" name="TextBox 27"/>
            <p:cNvSpPr txBox="1"/>
            <p:nvPr/>
          </p:nvSpPr>
          <p:spPr>
            <a:xfrm>
              <a:off x="604838" y="3820239"/>
              <a:ext cx="3557886"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 运营价值：</a:t>
              </a:r>
              <a:r>
                <a:rPr lang="zh-CN" sz="790" dirty="0">
                  <a:solidFill>
                    <a:srgbClr val="523833"/>
                  </a:solidFill>
                  <a:latin typeface="+mn-lt"/>
                  <a:ea typeface="+mn-ea"/>
                  <a:cs typeface="+mn-cs"/>
                </a:rPr>
                <a:t>兼顾短期资金冲量与长期规模沉淀，平衡运营节奏与长效价值</a:t>
              </a:r>
            </a:p>
          </p:txBody>
        </p:sp>
        <p:sp>
          <p:nvSpPr>
            <p:cNvPr id="28" name="Ellipse 28"/>
            <p:cNvSpPr/>
            <p:nvPr/>
          </p:nvSpPr>
          <p:spPr>
            <a:xfrm>
              <a:off x="438150" y="4267200"/>
              <a:ext cx="342900" cy="342900"/>
            </a:xfrm>
            <a:prstGeom prst="ellipse">
              <a:avLst/>
            </a:prstGeom>
            <a:solidFill>
              <a:srgbClr val="E74726"/>
            </a:solidFill>
            <a:ln>
              <a:noFill/>
            </a:ln>
          </p:spPr>
        </p:sp>
        <p:sp>
          <p:nvSpPr>
            <p:cNvPr id="29" name="TextBox 29"/>
            <p:cNvSpPr txBox="1"/>
            <p:nvPr/>
          </p:nvSpPr>
          <p:spPr>
            <a:xfrm>
              <a:off x="531269" y="4390549"/>
              <a:ext cx="15666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j-lt"/>
                  <a:ea typeface="+mj-ea"/>
                  <a:cs typeface="+mj-cs"/>
                </a:rPr>
                <a:t>03</a:t>
              </a:r>
            </a:p>
          </p:txBody>
        </p:sp>
        <p:sp>
          <p:nvSpPr>
            <p:cNvPr id="30" name="Rectangle 30"/>
            <p:cNvSpPr/>
            <p:nvPr/>
          </p:nvSpPr>
          <p:spPr>
            <a:xfrm>
              <a:off x="876300" y="4286250"/>
              <a:ext cx="3048000" cy="304800"/>
            </a:xfrm>
            <a:prstGeom prst="roundRect">
              <a:avLst>
                <a:gd name="adj" fmla="val 12500"/>
              </a:avLst>
            </a:prstGeom>
            <a:solidFill>
              <a:srgbClr val="FFFFFF"/>
            </a:solidFill>
            <a:ln w="14288">
              <a:solidFill>
                <a:srgbClr val="E74726"/>
              </a:solidFill>
            </a:ln>
          </p:spPr>
        </p:sp>
        <p:sp>
          <p:nvSpPr>
            <p:cNvPr id="31" name="TextBox 31"/>
            <p:cNvSpPr txBox="1"/>
            <p:nvPr/>
          </p:nvSpPr>
          <p:spPr>
            <a:xfrm>
              <a:off x="1735709" y="4390549"/>
              <a:ext cx="1329182" cy="190690"/>
            </a:xfrm>
            <a:prstGeom prst="rect">
              <a:avLst/>
            </a:prstGeom>
            <a:noFill/>
            <a:ln>
              <a:noFill/>
            </a:ln>
          </p:spPr>
          <p:txBody>
            <a:bodyPr wrap="none" lIns="0" tIns="0" rIns="0" bIns="0" anchor="t" anchorCtr="0">
              <a:spAutoFit/>
            </a:bodyPr>
            <a:lstStyle/>
            <a:p>
              <a:pPr algn="ctr"/>
              <a:r>
                <a:rPr lang="zh-CN" sz="980" b="1" dirty="0">
                  <a:solidFill>
                    <a:srgbClr val="E74726"/>
                  </a:solidFill>
                  <a:latin typeface="+mn-lt"/>
                  <a:ea typeface="+mn-ea"/>
                  <a:cs typeface="+mn-cs"/>
                </a:rPr>
                <a:t>设计资产达标留存任务</a:t>
              </a:r>
            </a:p>
          </p:txBody>
        </p:sp>
        <p:sp>
          <p:nvSpPr>
            <p:cNvPr id="32" name="Rectangle 32"/>
            <p:cNvSpPr/>
            <p:nvPr/>
          </p:nvSpPr>
          <p:spPr>
            <a:xfrm>
              <a:off x="476250" y="4705350"/>
              <a:ext cx="5257800" cy="1028700"/>
            </a:xfrm>
            <a:prstGeom prst="roundRect">
              <a:avLst>
                <a:gd name="adj" fmla="val 5556"/>
              </a:avLst>
            </a:prstGeom>
            <a:solidFill>
              <a:srgbClr val="F4F6FA"/>
            </a:solidFill>
            <a:ln>
              <a:noFill/>
            </a:ln>
          </p:spPr>
        </p:sp>
        <p:sp>
          <p:nvSpPr>
            <p:cNvPr id="33" name="TextBox 33"/>
            <p:cNvSpPr txBox="1"/>
            <p:nvPr/>
          </p:nvSpPr>
          <p:spPr>
            <a:xfrm>
              <a:off x="604838" y="4867989"/>
              <a:ext cx="4323605"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 核心玩法：</a:t>
              </a:r>
              <a:r>
                <a:rPr lang="zh-CN" sz="790" dirty="0">
                  <a:solidFill>
                    <a:srgbClr val="523833"/>
                  </a:solidFill>
                  <a:latin typeface="+mn-lt"/>
                  <a:ea typeface="+mn-ea"/>
                  <a:cs typeface="+mn-cs"/>
                </a:rPr>
                <a:t>配套资产达标留存任务，例如客户资产提升至5万元后，达标后持续留存1个​​</a:t>
              </a:r>
            </a:p>
          </p:txBody>
        </p:sp>
        <p:sp>
          <p:nvSpPr>
            <p:cNvPr id="34" name="TextBox 34"/>
            <p:cNvSpPr txBox="1"/>
            <p:nvPr/>
          </p:nvSpPr>
          <p:spPr>
            <a:xfrm>
              <a:off x="604838" y="5039439"/>
              <a:ext cx="1721757"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月、3个月可逐级解锁高阶专属权益​</a:t>
              </a:r>
            </a:p>
          </p:txBody>
        </p:sp>
        <p:sp>
          <p:nvSpPr>
            <p:cNvPr id="35" name="TextBox 35"/>
            <p:cNvSpPr txBox="1"/>
            <p:nvPr/>
          </p:nvSpPr>
          <p:spPr>
            <a:xfrm>
              <a:off x="604838" y="5287089"/>
              <a:ext cx="3451536" cy="154781"/>
            </a:xfrm>
            <a:prstGeom prst="rect">
              <a:avLst/>
            </a:prstGeom>
            <a:noFill/>
            <a:ln>
              <a:noFill/>
            </a:ln>
          </p:spPr>
          <p:txBody>
            <a:bodyPr wrap="none" lIns="0" tIns="0" rIns="0" bIns="0" anchor="t" anchorCtr="0">
              <a:spAutoFit/>
            </a:bodyPr>
            <a:lstStyle/>
            <a:p>
              <a:pPr algn="l"/>
              <a:r>
                <a:rPr lang="zh-CN" sz="790" b="1" dirty="0">
                  <a:solidFill>
                    <a:srgbClr val="1F1F1F"/>
                  </a:solidFill>
                  <a:latin typeface="+mn-lt"/>
                  <a:ea typeface="+mn-ea"/>
                  <a:cs typeface="+mn-cs"/>
                </a:rPr>
                <a:t>➤ 运营价值：</a:t>
              </a:r>
              <a:r>
                <a:rPr lang="zh-CN" sz="790" dirty="0">
                  <a:solidFill>
                    <a:srgbClr val="523833"/>
                  </a:solidFill>
                  <a:latin typeface="+mn-lt"/>
                  <a:ea typeface="+mn-ea"/>
                  <a:cs typeface="+mn-cs"/>
                </a:rPr>
                <a:t>规避资金快进快出，实现资产有效沉淀与客群价值长效增长</a:t>
              </a:r>
            </a:p>
          </p:txBody>
        </p:sp>
      </p:grpSp>
      <p:grpSp>
        <p:nvGrpSpPr>
          <p:cNvPr id="117" name="right-examples"/>
          <p:cNvGrpSpPr/>
          <p:nvPr/>
        </p:nvGrpSpPr>
        <p:grpSpPr>
          <a:xfrm>
            <a:off x="6096000" y="1295400"/>
            <a:ext cx="5676900" cy="5181600"/>
            <a:chOff x="6096000" y="1295400"/>
            <a:chExt cx="5676900" cy="5181600"/>
          </a:xfrm>
        </p:grpSpPr>
        <p:sp>
          <p:nvSpPr>
            <p:cNvPr id="37" name="Rectangle 37"/>
            <p:cNvSpPr/>
            <p:nvPr/>
          </p:nvSpPr>
          <p:spPr>
            <a:xfrm>
              <a:off x="6096000" y="1428750"/>
              <a:ext cx="5676900" cy="5048250"/>
            </a:xfrm>
            <a:prstGeom prst="roundRect">
              <a:avLst>
                <a:gd name="adj" fmla="val 1887"/>
              </a:avLst>
            </a:prstGeom>
            <a:noFill/>
            <a:ln w="14288">
              <a:solidFill>
                <a:srgbClr val="E74726"/>
              </a:solidFill>
              <a:custDash>
                <a:ds d="466667" sp="333333"/>
              </a:custDash>
            </a:ln>
          </p:spPr>
        </p:sp>
        <p:sp>
          <p:nvSpPr>
            <p:cNvPr id="38" name="Rectangle 38"/>
            <p:cNvSpPr/>
            <p:nvPr/>
          </p:nvSpPr>
          <p:spPr>
            <a:xfrm>
              <a:off x="7810500" y="1295400"/>
              <a:ext cx="2247900" cy="247650"/>
            </a:xfrm>
            <a:prstGeom prst="rect">
              <a:avLst/>
            </a:prstGeom>
            <a:solidFill>
              <a:srgbClr val="FFFFFF"/>
            </a:solidFill>
            <a:ln>
              <a:noFill/>
            </a:ln>
          </p:spPr>
        </p:sp>
        <p:sp>
          <p:nvSpPr>
            <p:cNvPr id="39" name="TextBox 39"/>
            <p:cNvSpPr txBox="1"/>
            <p:nvPr/>
          </p:nvSpPr>
          <p:spPr>
            <a:xfrm>
              <a:off x="8061743" y="1371124"/>
              <a:ext cx="1745414" cy="190690"/>
            </a:xfrm>
            <a:prstGeom prst="rect">
              <a:avLst/>
            </a:prstGeom>
            <a:noFill/>
            <a:ln>
              <a:noFill/>
            </a:ln>
          </p:spPr>
          <p:txBody>
            <a:bodyPr wrap="none" lIns="0" tIns="0" rIns="0" bIns="0" anchor="t" anchorCtr="0">
              <a:spAutoFit/>
            </a:bodyPr>
            <a:lstStyle/>
            <a:p>
              <a:pPr algn="ctr"/>
              <a:r>
                <a:rPr lang="zh-CN" sz="980" b="1" dirty="0">
                  <a:solidFill>
                    <a:srgbClr val="E74726"/>
                  </a:solidFill>
                  <a:latin typeface="+mn-lt"/>
                  <a:ea typeface="+mn-ea"/>
                  <a:cs typeface="+mn-cs"/>
                </a:rPr>
                <a:t>工商银行-升金有礼活动示例​</a:t>
              </a:r>
            </a:p>
          </p:txBody>
        </p:sp>
        <p:sp>
          <p:nvSpPr>
            <p:cNvPr id="40" name="Rectangle 40"/>
            <p:cNvSpPr/>
            <p:nvPr/>
          </p:nvSpPr>
          <p:spPr>
            <a:xfrm>
              <a:off x="6305550" y="1809750"/>
              <a:ext cx="1619250" cy="4191000"/>
            </a:xfrm>
            <a:prstGeom prst="roundRect">
              <a:avLst>
                <a:gd name="adj" fmla="val 5882"/>
              </a:avLst>
            </a:prstGeom>
            <a:gradFill>
              <a:gsLst>
                <a:gs pos="0">
                  <a:srgbClr val="F9C8C0"/>
                </a:gs>
                <a:gs pos="100000">
                  <a:srgbClr val="FDEDEA"/>
                </a:gs>
              </a:gsLst>
              <a:lin ang="5400000" scaled="1"/>
            </a:gradFill>
            <a:ln w="9525">
              <a:solidFill>
                <a:srgbClr val="F3B8AE"/>
              </a:solidFill>
            </a:ln>
          </p:spPr>
        </p:sp>
        <p:sp>
          <p:nvSpPr>
            <p:cNvPr id="41" name="TextBox 41"/>
            <p:cNvSpPr txBox="1"/>
            <p:nvPr/>
          </p:nvSpPr>
          <p:spPr>
            <a:xfrm>
              <a:off x="6668263" y="1953339"/>
              <a:ext cx="893824" cy="154781"/>
            </a:xfrm>
            <a:prstGeom prst="rect">
              <a:avLst/>
            </a:prstGeom>
            <a:noFill/>
            <a:ln>
              <a:noFill/>
            </a:ln>
          </p:spPr>
          <p:txBody>
            <a:bodyPr wrap="none" lIns="0" tIns="0" rIns="0" bIns="0" anchor="t" anchorCtr="0">
              <a:spAutoFit/>
            </a:bodyPr>
            <a:lstStyle/>
            <a:p>
              <a:pPr algn="ctr"/>
              <a:r>
                <a:rPr lang="zh-CN" sz="790" b="1" dirty="0">
                  <a:solidFill>
                    <a:srgbClr val="E8553C"/>
                  </a:solidFill>
                  <a:latin typeface="+mn-lt"/>
                  <a:ea typeface="+mn-ea"/>
                  <a:cs typeface="+mn-cs"/>
                </a:rPr>
                <a:t>提升越多 回馈越多</a:t>
              </a:r>
            </a:p>
          </p:txBody>
        </p:sp>
        <p:sp>
          <p:nvSpPr>
            <p:cNvPr id="42" name="Rectangle 42"/>
            <p:cNvSpPr/>
            <p:nvPr/>
          </p:nvSpPr>
          <p:spPr>
            <a:xfrm>
              <a:off x="6457950" y="2171700"/>
              <a:ext cx="1314450" cy="476250"/>
            </a:xfrm>
            <a:prstGeom prst="roundRect">
              <a:avLst>
                <a:gd name="adj" fmla="val 12000"/>
              </a:avLst>
            </a:prstGeom>
            <a:solidFill>
              <a:srgbClr val="F6A79A"/>
            </a:solidFill>
            <a:ln>
              <a:noFill/>
            </a:ln>
          </p:spPr>
        </p:sp>
        <p:sp>
          <p:nvSpPr>
            <p:cNvPr id="43" name="Rectangle 43"/>
            <p:cNvSpPr/>
            <p:nvPr/>
          </p:nvSpPr>
          <p:spPr>
            <a:xfrm>
              <a:off x="6572250" y="2343150"/>
              <a:ext cx="1085850" cy="171450"/>
            </a:xfrm>
            <a:prstGeom prst="roundRect">
              <a:avLst>
                <a:gd name="adj" fmla="val 50000"/>
              </a:avLst>
            </a:prstGeom>
            <a:solidFill>
              <a:srgbClr val="FFFFFF"/>
            </a:solidFill>
            <a:ln>
              <a:noFill/>
            </a:ln>
          </p:spPr>
        </p:sp>
        <p:sp>
          <p:nvSpPr>
            <p:cNvPr id="44" name="TextBox 44"/>
            <p:cNvSpPr txBox="1"/>
            <p:nvPr/>
          </p:nvSpPr>
          <p:spPr>
            <a:xfrm>
              <a:off x="6823672" y="2390061"/>
              <a:ext cx="583006" cy="140494"/>
            </a:xfrm>
            <a:prstGeom prst="rect">
              <a:avLst/>
            </a:prstGeom>
            <a:noFill/>
            <a:ln>
              <a:noFill/>
            </a:ln>
          </p:spPr>
          <p:txBody>
            <a:bodyPr wrap="none" lIns="0" tIns="0" rIns="0" bIns="0" anchor="t" anchorCtr="0">
              <a:spAutoFit/>
            </a:bodyPr>
            <a:lstStyle/>
            <a:p>
              <a:pPr algn="ctr"/>
              <a:r>
                <a:rPr lang="zh-CN" sz="710" b="1" dirty="0">
                  <a:solidFill>
                    <a:srgbClr val="E8553C"/>
                  </a:solidFill>
                  <a:latin typeface="+mn-lt"/>
                  <a:ea typeface="+mn-ea"/>
                  <a:cs typeface="+mn-cs"/>
                </a:rPr>
                <a:t>您已报名成功</a:t>
              </a:r>
            </a:p>
          </p:txBody>
        </p:sp>
        <p:sp>
          <p:nvSpPr>
            <p:cNvPr id="45" name="Rectangle 45"/>
            <p:cNvSpPr/>
            <p:nvPr/>
          </p:nvSpPr>
          <p:spPr>
            <a:xfrm>
              <a:off x="6457950" y="2743200"/>
              <a:ext cx="1314450" cy="533400"/>
            </a:xfrm>
            <a:prstGeom prst="roundRect">
              <a:avLst>
                <a:gd name="adj" fmla="val 10714"/>
              </a:avLst>
            </a:prstGeom>
            <a:solidFill>
              <a:srgbClr val="FFFFFF">
                <a:alpha val="85000"/>
              </a:srgbClr>
            </a:solidFill>
            <a:ln>
              <a:noFill/>
            </a:ln>
          </p:spPr>
        </p:sp>
        <p:sp>
          <p:nvSpPr>
            <p:cNvPr id="46" name="Rectangle 46"/>
            <p:cNvSpPr/>
            <p:nvPr/>
          </p:nvSpPr>
          <p:spPr>
            <a:xfrm>
              <a:off x="6553200" y="2838450"/>
              <a:ext cx="571500" cy="66675"/>
            </a:xfrm>
            <a:prstGeom prst="roundRect">
              <a:avLst>
                <a:gd name="adj" fmla="val 42857"/>
              </a:avLst>
            </a:prstGeom>
            <a:solidFill>
              <a:srgbClr val="F3B8AE"/>
            </a:solidFill>
            <a:ln>
              <a:noFill/>
            </a:ln>
          </p:spPr>
        </p:sp>
        <p:sp>
          <p:nvSpPr>
            <p:cNvPr id="47" name="Rectangle 47"/>
            <p:cNvSpPr/>
            <p:nvPr/>
          </p:nvSpPr>
          <p:spPr>
            <a:xfrm>
              <a:off x="6553200" y="2971800"/>
              <a:ext cx="952500" cy="66675"/>
            </a:xfrm>
            <a:prstGeom prst="roundRect">
              <a:avLst>
                <a:gd name="adj" fmla="val 42857"/>
              </a:avLst>
            </a:prstGeom>
            <a:solidFill>
              <a:srgbClr val="F3B8AE"/>
            </a:solidFill>
            <a:ln>
              <a:noFill/>
            </a:ln>
          </p:spPr>
        </p:sp>
        <p:sp>
          <p:nvSpPr>
            <p:cNvPr id="48" name="Rectangle 48"/>
            <p:cNvSpPr/>
            <p:nvPr/>
          </p:nvSpPr>
          <p:spPr>
            <a:xfrm>
              <a:off x="6553200" y="3105150"/>
              <a:ext cx="762000" cy="66675"/>
            </a:xfrm>
            <a:prstGeom prst="roundRect">
              <a:avLst>
                <a:gd name="adj" fmla="val 42857"/>
              </a:avLst>
            </a:prstGeom>
            <a:solidFill>
              <a:srgbClr val="F3B8AE"/>
            </a:solidFill>
            <a:ln>
              <a:noFill/>
            </a:ln>
          </p:spPr>
        </p:sp>
        <p:sp>
          <p:nvSpPr>
            <p:cNvPr id="49" name="TextBox 49"/>
            <p:cNvSpPr txBox="1"/>
            <p:nvPr/>
          </p:nvSpPr>
          <p:spPr>
            <a:xfrm>
              <a:off x="6538087" y="3428286"/>
              <a:ext cx="487426" cy="140494"/>
            </a:xfrm>
            <a:prstGeom prst="rect">
              <a:avLst/>
            </a:prstGeom>
            <a:noFill/>
            <a:ln>
              <a:noFill/>
            </a:ln>
          </p:spPr>
          <p:txBody>
            <a:bodyPr wrap="none" lIns="0" tIns="0" rIns="0" bIns="0" anchor="t" anchorCtr="0">
              <a:spAutoFit/>
            </a:bodyPr>
            <a:lstStyle/>
            <a:p>
              <a:pPr algn="ctr"/>
              <a:r>
                <a:rPr lang="zh-CN" sz="710" dirty="0">
                  <a:solidFill>
                    <a:srgbClr val="B36C60"/>
                  </a:solidFill>
                  <a:latin typeface="+mn-lt"/>
                  <a:ea typeface="+mn-ea"/>
                  <a:cs typeface="+mn-cs"/>
                </a:rPr>
                <a:t>月月升金礼</a:t>
              </a:r>
            </a:p>
          </p:txBody>
        </p:sp>
        <p:sp>
          <p:nvSpPr>
            <p:cNvPr id="50" name="TextBox 50"/>
            <p:cNvSpPr txBox="1"/>
            <p:nvPr/>
          </p:nvSpPr>
          <p:spPr>
            <a:xfrm>
              <a:off x="7242937" y="3428286"/>
              <a:ext cx="487426" cy="140494"/>
            </a:xfrm>
            <a:prstGeom prst="rect">
              <a:avLst/>
            </a:prstGeom>
            <a:noFill/>
            <a:ln>
              <a:noFill/>
            </a:ln>
          </p:spPr>
          <p:txBody>
            <a:bodyPr wrap="none" lIns="0" tIns="0" rIns="0" bIns="0" anchor="t" anchorCtr="0">
              <a:spAutoFit/>
            </a:bodyPr>
            <a:lstStyle/>
            <a:p>
              <a:pPr algn="ctr"/>
              <a:r>
                <a:rPr lang="zh-CN" sz="710" b="1" dirty="0">
                  <a:solidFill>
                    <a:srgbClr val="E8553C"/>
                  </a:solidFill>
                  <a:latin typeface="+mn-lt"/>
                  <a:ea typeface="+mn-ea"/>
                  <a:cs typeface="+mn-cs"/>
                </a:rPr>
                <a:t>资产达标礼</a:t>
              </a:r>
            </a:p>
          </p:txBody>
        </p:sp>
        <p:sp>
          <p:nvSpPr>
            <p:cNvPr id="51" name="Rectangle 51"/>
            <p:cNvSpPr/>
            <p:nvPr/>
          </p:nvSpPr>
          <p:spPr>
            <a:xfrm>
              <a:off x="7258050" y="3562350"/>
              <a:ext cx="457200" cy="19050"/>
            </a:xfrm>
            <a:prstGeom prst="rect">
              <a:avLst/>
            </a:prstGeom>
            <a:solidFill>
              <a:srgbClr val="E8553C"/>
            </a:solidFill>
            <a:ln>
              <a:noFill/>
            </a:ln>
          </p:spPr>
        </p:sp>
        <p:sp>
          <p:nvSpPr>
            <p:cNvPr id="52" name="Rectangle 52"/>
            <p:cNvSpPr/>
            <p:nvPr/>
          </p:nvSpPr>
          <p:spPr>
            <a:xfrm>
              <a:off x="6457950" y="3676650"/>
              <a:ext cx="1314450" cy="342900"/>
            </a:xfrm>
            <a:prstGeom prst="roundRect">
              <a:avLst>
                <a:gd name="adj" fmla="val 13889"/>
              </a:avLst>
            </a:prstGeom>
            <a:solidFill>
              <a:srgbClr val="FFFFFF"/>
            </a:solidFill>
            <a:ln>
              <a:noFill/>
            </a:ln>
          </p:spPr>
        </p:sp>
        <p:sp>
          <p:nvSpPr>
            <p:cNvPr id="53" name="TextBox 53"/>
            <p:cNvSpPr txBox="1"/>
            <p:nvPr/>
          </p:nvSpPr>
          <p:spPr>
            <a:xfrm>
              <a:off x="6567488" y="3813334"/>
              <a:ext cx="928832" cy="133350"/>
            </a:xfrm>
            <a:prstGeom prst="rect">
              <a:avLst/>
            </a:prstGeom>
            <a:noFill/>
            <a:ln>
              <a:noFill/>
            </a:ln>
          </p:spPr>
          <p:txBody>
            <a:bodyPr wrap="none" lIns="0" tIns="0" rIns="0" bIns="0" anchor="t" anchorCtr="0">
              <a:spAutoFit/>
            </a:bodyPr>
            <a:lstStyle/>
            <a:p>
              <a:pPr algn="l"/>
              <a:r>
                <a:rPr lang="zh-CN" sz="680" b="1" dirty="0">
                  <a:solidFill>
                    <a:srgbClr val="5A3630"/>
                  </a:solidFill>
                  <a:latin typeface="+mn-lt"/>
                  <a:ea typeface="+mn-ea"/>
                  <a:cs typeface="+mn-cs"/>
                </a:rPr>
                <a:t>达标1000元(含)以上​</a:t>
              </a:r>
            </a:p>
          </p:txBody>
        </p:sp>
        <p:sp>
          <p:nvSpPr>
            <p:cNvPr id="54" name="Rectangle 54"/>
            <p:cNvSpPr/>
            <p:nvPr/>
          </p:nvSpPr>
          <p:spPr>
            <a:xfrm>
              <a:off x="6457950" y="4095750"/>
              <a:ext cx="1314450" cy="342900"/>
            </a:xfrm>
            <a:prstGeom prst="roundRect">
              <a:avLst>
                <a:gd name="adj" fmla="val 13889"/>
              </a:avLst>
            </a:prstGeom>
            <a:solidFill>
              <a:srgbClr val="FFFFFF"/>
            </a:solidFill>
            <a:ln>
              <a:noFill/>
            </a:ln>
          </p:spPr>
        </p:sp>
        <p:sp>
          <p:nvSpPr>
            <p:cNvPr id="55" name="TextBox 55"/>
            <p:cNvSpPr txBox="1"/>
            <p:nvPr/>
          </p:nvSpPr>
          <p:spPr>
            <a:xfrm>
              <a:off x="6567488" y="4232434"/>
              <a:ext cx="928832" cy="133350"/>
            </a:xfrm>
            <a:prstGeom prst="rect">
              <a:avLst/>
            </a:prstGeom>
            <a:noFill/>
            <a:ln>
              <a:noFill/>
            </a:ln>
          </p:spPr>
          <p:txBody>
            <a:bodyPr wrap="none" lIns="0" tIns="0" rIns="0" bIns="0" anchor="t" anchorCtr="0">
              <a:spAutoFit/>
            </a:bodyPr>
            <a:lstStyle/>
            <a:p>
              <a:pPr algn="l"/>
              <a:r>
                <a:rPr lang="zh-CN" sz="680" b="1" dirty="0">
                  <a:solidFill>
                    <a:srgbClr val="5A3630"/>
                  </a:solidFill>
                  <a:latin typeface="+mn-lt"/>
                  <a:ea typeface="+mn-ea"/>
                  <a:cs typeface="+mn-cs"/>
                </a:rPr>
                <a:t>达标5000元(含)以上​</a:t>
              </a:r>
            </a:p>
          </p:txBody>
        </p:sp>
        <p:sp>
          <p:nvSpPr>
            <p:cNvPr id="56" name="Rectangle 56"/>
            <p:cNvSpPr/>
            <p:nvPr/>
          </p:nvSpPr>
          <p:spPr>
            <a:xfrm>
              <a:off x="6457950" y="4514850"/>
              <a:ext cx="1314450" cy="342900"/>
            </a:xfrm>
            <a:prstGeom prst="roundRect">
              <a:avLst>
                <a:gd name="adj" fmla="val 13889"/>
              </a:avLst>
            </a:prstGeom>
            <a:solidFill>
              <a:srgbClr val="FFFFFF"/>
            </a:solidFill>
            <a:ln>
              <a:noFill/>
            </a:ln>
          </p:spPr>
        </p:sp>
        <p:sp>
          <p:nvSpPr>
            <p:cNvPr id="57" name="TextBox 57"/>
            <p:cNvSpPr txBox="1"/>
            <p:nvPr/>
          </p:nvSpPr>
          <p:spPr>
            <a:xfrm>
              <a:off x="6567488" y="4651534"/>
              <a:ext cx="861777" cy="133350"/>
            </a:xfrm>
            <a:prstGeom prst="rect">
              <a:avLst/>
            </a:prstGeom>
            <a:noFill/>
            <a:ln>
              <a:noFill/>
            </a:ln>
          </p:spPr>
          <p:txBody>
            <a:bodyPr wrap="none" lIns="0" tIns="0" rIns="0" bIns="0" anchor="t" anchorCtr="0">
              <a:spAutoFit/>
            </a:bodyPr>
            <a:lstStyle/>
            <a:p>
              <a:pPr algn="l"/>
              <a:r>
                <a:rPr lang="zh-CN" sz="680" b="1" dirty="0">
                  <a:solidFill>
                    <a:srgbClr val="5A3630"/>
                  </a:solidFill>
                  <a:latin typeface="+mn-lt"/>
                  <a:ea typeface="+mn-ea"/>
                  <a:cs typeface="+mn-cs"/>
                </a:rPr>
                <a:t>达标1万元(含)以上​</a:t>
              </a:r>
            </a:p>
          </p:txBody>
        </p:sp>
        <p:sp>
          <p:nvSpPr>
            <p:cNvPr id="58" name="Rectangle 58"/>
            <p:cNvSpPr/>
            <p:nvPr/>
          </p:nvSpPr>
          <p:spPr>
            <a:xfrm>
              <a:off x="6457950" y="4933950"/>
              <a:ext cx="1314450" cy="342900"/>
            </a:xfrm>
            <a:prstGeom prst="roundRect">
              <a:avLst>
                <a:gd name="adj" fmla="val 13889"/>
              </a:avLst>
            </a:prstGeom>
            <a:solidFill>
              <a:srgbClr val="FFFFFF"/>
            </a:solidFill>
            <a:ln>
              <a:noFill/>
            </a:ln>
          </p:spPr>
        </p:sp>
        <p:sp>
          <p:nvSpPr>
            <p:cNvPr id="59" name="Rectangle 59"/>
            <p:cNvSpPr/>
            <p:nvPr/>
          </p:nvSpPr>
          <p:spPr>
            <a:xfrm>
              <a:off x="6553200" y="5048250"/>
              <a:ext cx="952500" cy="66675"/>
            </a:xfrm>
            <a:prstGeom prst="roundRect">
              <a:avLst>
                <a:gd name="adj" fmla="val 42857"/>
              </a:avLst>
            </a:prstGeom>
            <a:solidFill>
              <a:srgbClr val="F3B8AE"/>
            </a:solidFill>
            <a:ln>
              <a:noFill/>
            </a:ln>
          </p:spPr>
        </p:sp>
        <p:sp>
          <p:nvSpPr>
            <p:cNvPr id="60" name="Rectangle 60"/>
            <p:cNvSpPr/>
            <p:nvPr/>
          </p:nvSpPr>
          <p:spPr>
            <a:xfrm>
              <a:off x="6457950" y="5353050"/>
              <a:ext cx="1314450" cy="342900"/>
            </a:xfrm>
            <a:prstGeom prst="roundRect">
              <a:avLst>
                <a:gd name="adj" fmla="val 13889"/>
              </a:avLst>
            </a:prstGeom>
            <a:solidFill>
              <a:srgbClr val="FFFFFF"/>
            </a:solidFill>
            <a:ln>
              <a:noFill/>
            </a:ln>
          </p:spPr>
        </p:sp>
        <p:sp>
          <p:nvSpPr>
            <p:cNvPr id="61" name="Rectangle 61"/>
            <p:cNvSpPr/>
            <p:nvPr/>
          </p:nvSpPr>
          <p:spPr>
            <a:xfrm>
              <a:off x="6553200" y="5467350"/>
              <a:ext cx="857250" cy="66675"/>
            </a:xfrm>
            <a:prstGeom prst="roundRect">
              <a:avLst>
                <a:gd name="adj" fmla="val 42857"/>
              </a:avLst>
            </a:prstGeom>
            <a:solidFill>
              <a:srgbClr val="F3B8AE"/>
            </a:solidFill>
            <a:ln>
              <a:noFill/>
            </a:ln>
          </p:spPr>
        </p:sp>
        <p:sp>
          <p:nvSpPr>
            <p:cNvPr id="62" name="Rectangle 62"/>
            <p:cNvSpPr/>
            <p:nvPr/>
          </p:nvSpPr>
          <p:spPr>
            <a:xfrm>
              <a:off x="8115300" y="1809750"/>
              <a:ext cx="1619250" cy="4191000"/>
            </a:xfrm>
            <a:prstGeom prst="roundRect">
              <a:avLst>
                <a:gd name="adj" fmla="val 5882"/>
              </a:avLst>
            </a:prstGeom>
            <a:gradFill>
              <a:gsLst>
                <a:gs pos="0">
                  <a:srgbClr val="F9C8C0"/>
                </a:gs>
                <a:gs pos="100000">
                  <a:srgbClr val="FDEDEA"/>
                </a:gs>
              </a:gsLst>
              <a:lin ang="5400000" scaled="1"/>
            </a:gradFill>
            <a:ln w="9525">
              <a:solidFill>
                <a:srgbClr val="F3B8AE"/>
              </a:solidFill>
            </a:ln>
          </p:spPr>
        </p:sp>
        <p:sp>
          <p:nvSpPr>
            <p:cNvPr id="63" name="TextBox 63"/>
            <p:cNvSpPr txBox="1"/>
            <p:nvPr/>
          </p:nvSpPr>
          <p:spPr>
            <a:xfrm>
              <a:off x="8478013" y="1953339"/>
              <a:ext cx="893824" cy="154781"/>
            </a:xfrm>
            <a:prstGeom prst="rect">
              <a:avLst/>
            </a:prstGeom>
            <a:noFill/>
            <a:ln>
              <a:noFill/>
            </a:ln>
          </p:spPr>
          <p:txBody>
            <a:bodyPr wrap="none" lIns="0" tIns="0" rIns="0" bIns="0" anchor="t" anchorCtr="0">
              <a:spAutoFit/>
            </a:bodyPr>
            <a:lstStyle/>
            <a:p>
              <a:pPr algn="ctr"/>
              <a:r>
                <a:rPr lang="zh-CN" sz="790" b="1" dirty="0">
                  <a:solidFill>
                    <a:srgbClr val="E8553C"/>
                  </a:solidFill>
                  <a:latin typeface="+mn-lt"/>
                  <a:ea typeface="+mn-ea"/>
                  <a:cs typeface="+mn-cs"/>
                </a:rPr>
                <a:t>提升越多 回馈越多</a:t>
              </a:r>
            </a:p>
          </p:txBody>
        </p:sp>
        <p:sp>
          <p:nvSpPr>
            <p:cNvPr id="64" name="TextBox 64"/>
            <p:cNvSpPr txBox="1"/>
            <p:nvPr/>
          </p:nvSpPr>
          <p:spPr>
            <a:xfrm>
              <a:off x="8472297" y="2279332"/>
              <a:ext cx="905256" cy="322707"/>
            </a:xfrm>
            <a:prstGeom prst="rect">
              <a:avLst/>
            </a:prstGeom>
            <a:noFill/>
            <a:ln>
              <a:noFill/>
            </a:ln>
          </p:spPr>
          <p:txBody>
            <a:bodyPr wrap="none" lIns="0" tIns="0" rIns="0" bIns="0" anchor="t" anchorCtr="0">
              <a:spAutoFit/>
            </a:bodyPr>
            <a:lstStyle/>
            <a:p>
              <a:pPr algn="ctr"/>
              <a:r>
                <a:rPr lang="zh-CN" sz="1650" b="1" dirty="0">
                  <a:solidFill>
                    <a:srgbClr val="E0462C"/>
                  </a:solidFill>
                  <a:latin typeface="+mn-lt"/>
                  <a:ea typeface="+mn-ea"/>
                  <a:cs typeface="+mn-cs"/>
                </a:rPr>
                <a:t>升金有礼</a:t>
              </a:r>
            </a:p>
          </p:txBody>
        </p:sp>
        <p:sp>
          <p:nvSpPr>
            <p:cNvPr id="65" name="Rectangle 65"/>
            <p:cNvSpPr/>
            <p:nvPr/>
          </p:nvSpPr>
          <p:spPr>
            <a:xfrm>
              <a:off x="8382000" y="2590800"/>
              <a:ext cx="1085850" cy="171450"/>
            </a:xfrm>
            <a:prstGeom prst="roundRect">
              <a:avLst>
                <a:gd name="adj" fmla="val 50000"/>
              </a:avLst>
            </a:prstGeom>
            <a:solidFill>
              <a:srgbClr val="FFFFFF"/>
            </a:solidFill>
            <a:ln>
              <a:noFill/>
            </a:ln>
          </p:spPr>
        </p:sp>
        <p:sp>
          <p:nvSpPr>
            <p:cNvPr id="66" name="TextBox 66"/>
            <p:cNvSpPr txBox="1"/>
            <p:nvPr/>
          </p:nvSpPr>
          <p:spPr>
            <a:xfrm>
              <a:off x="8633422" y="2637711"/>
              <a:ext cx="583006" cy="140494"/>
            </a:xfrm>
            <a:prstGeom prst="rect">
              <a:avLst/>
            </a:prstGeom>
            <a:noFill/>
            <a:ln>
              <a:noFill/>
            </a:ln>
          </p:spPr>
          <p:txBody>
            <a:bodyPr wrap="none" lIns="0" tIns="0" rIns="0" bIns="0" anchor="t" anchorCtr="0">
              <a:spAutoFit/>
            </a:bodyPr>
            <a:lstStyle/>
            <a:p>
              <a:pPr algn="ctr"/>
              <a:r>
                <a:rPr lang="zh-CN" sz="710" b="1" dirty="0">
                  <a:solidFill>
                    <a:srgbClr val="E8553C"/>
                  </a:solidFill>
                  <a:latin typeface="+mn-lt"/>
                  <a:ea typeface="+mn-ea"/>
                  <a:cs typeface="+mn-cs"/>
                </a:rPr>
                <a:t>您已报名成功</a:t>
              </a:r>
            </a:p>
          </p:txBody>
        </p:sp>
        <p:sp>
          <p:nvSpPr>
            <p:cNvPr id="67" name="Rectangle 67"/>
            <p:cNvSpPr/>
            <p:nvPr/>
          </p:nvSpPr>
          <p:spPr>
            <a:xfrm>
              <a:off x="8267700" y="2857500"/>
              <a:ext cx="1314450" cy="533400"/>
            </a:xfrm>
            <a:prstGeom prst="roundRect">
              <a:avLst>
                <a:gd name="adj" fmla="val 10714"/>
              </a:avLst>
            </a:prstGeom>
            <a:solidFill>
              <a:srgbClr val="FFFFFF">
                <a:alpha val="85000"/>
              </a:srgbClr>
            </a:solidFill>
            <a:ln>
              <a:noFill/>
            </a:ln>
          </p:spPr>
        </p:sp>
        <p:sp>
          <p:nvSpPr>
            <p:cNvPr id="68" name="Rectangle 68"/>
            <p:cNvSpPr/>
            <p:nvPr/>
          </p:nvSpPr>
          <p:spPr>
            <a:xfrm>
              <a:off x="8362950" y="2952750"/>
              <a:ext cx="571500" cy="66675"/>
            </a:xfrm>
            <a:prstGeom prst="roundRect">
              <a:avLst>
                <a:gd name="adj" fmla="val 42857"/>
              </a:avLst>
            </a:prstGeom>
            <a:solidFill>
              <a:srgbClr val="F3B8AE"/>
            </a:solidFill>
            <a:ln>
              <a:noFill/>
            </a:ln>
          </p:spPr>
        </p:sp>
        <p:sp>
          <p:nvSpPr>
            <p:cNvPr id="69" name="Rectangle 69"/>
            <p:cNvSpPr/>
            <p:nvPr/>
          </p:nvSpPr>
          <p:spPr>
            <a:xfrm>
              <a:off x="8362950" y="3086100"/>
              <a:ext cx="952500" cy="66675"/>
            </a:xfrm>
            <a:prstGeom prst="roundRect">
              <a:avLst>
                <a:gd name="adj" fmla="val 42857"/>
              </a:avLst>
            </a:prstGeom>
            <a:solidFill>
              <a:srgbClr val="F3B8AE"/>
            </a:solidFill>
            <a:ln>
              <a:noFill/>
            </a:ln>
          </p:spPr>
        </p:sp>
        <p:sp>
          <p:nvSpPr>
            <p:cNvPr id="70" name="Rectangle 70"/>
            <p:cNvSpPr/>
            <p:nvPr/>
          </p:nvSpPr>
          <p:spPr>
            <a:xfrm>
              <a:off x="8362950" y="3219450"/>
              <a:ext cx="762000" cy="66675"/>
            </a:xfrm>
            <a:prstGeom prst="roundRect">
              <a:avLst>
                <a:gd name="adj" fmla="val 42857"/>
              </a:avLst>
            </a:prstGeom>
            <a:solidFill>
              <a:srgbClr val="F3B8AE"/>
            </a:solidFill>
            <a:ln>
              <a:noFill/>
            </a:ln>
          </p:spPr>
        </p:sp>
        <p:sp>
          <p:nvSpPr>
            <p:cNvPr id="71" name="TextBox 71"/>
            <p:cNvSpPr txBox="1"/>
            <p:nvPr/>
          </p:nvSpPr>
          <p:spPr>
            <a:xfrm>
              <a:off x="8347837" y="3542586"/>
              <a:ext cx="487426" cy="140494"/>
            </a:xfrm>
            <a:prstGeom prst="rect">
              <a:avLst/>
            </a:prstGeom>
            <a:noFill/>
            <a:ln>
              <a:noFill/>
            </a:ln>
          </p:spPr>
          <p:txBody>
            <a:bodyPr wrap="none" lIns="0" tIns="0" rIns="0" bIns="0" anchor="t" anchorCtr="0">
              <a:spAutoFit/>
            </a:bodyPr>
            <a:lstStyle/>
            <a:p>
              <a:pPr algn="ctr"/>
              <a:r>
                <a:rPr lang="zh-CN" sz="710" b="1" dirty="0">
                  <a:solidFill>
                    <a:srgbClr val="E8553C"/>
                  </a:solidFill>
                  <a:latin typeface="+mn-lt"/>
                  <a:ea typeface="+mn-ea"/>
                  <a:cs typeface="+mn-cs"/>
                </a:rPr>
                <a:t>月月升金礼</a:t>
              </a:r>
            </a:p>
          </p:txBody>
        </p:sp>
        <p:sp>
          <p:nvSpPr>
            <p:cNvPr id="72" name="Rectangle 72"/>
            <p:cNvSpPr/>
            <p:nvPr/>
          </p:nvSpPr>
          <p:spPr>
            <a:xfrm>
              <a:off x="8362950" y="3676650"/>
              <a:ext cx="457200" cy="19050"/>
            </a:xfrm>
            <a:prstGeom prst="rect">
              <a:avLst/>
            </a:prstGeom>
            <a:solidFill>
              <a:srgbClr val="E8553C"/>
            </a:solidFill>
            <a:ln>
              <a:noFill/>
            </a:ln>
          </p:spPr>
        </p:sp>
        <p:sp>
          <p:nvSpPr>
            <p:cNvPr id="73" name="TextBox 73"/>
            <p:cNvSpPr txBox="1"/>
            <p:nvPr/>
          </p:nvSpPr>
          <p:spPr>
            <a:xfrm>
              <a:off x="9052687" y="3542586"/>
              <a:ext cx="487426" cy="140494"/>
            </a:xfrm>
            <a:prstGeom prst="rect">
              <a:avLst/>
            </a:prstGeom>
            <a:noFill/>
            <a:ln>
              <a:noFill/>
            </a:ln>
          </p:spPr>
          <p:txBody>
            <a:bodyPr wrap="none" lIns="0" tIns="0" rIns="0" bIns="0" anchor="t" anchorCtr="0">
              <a:spAutoFit/>
            </a:bodyPr>
            <a:lstStyle/>
            <a:p>
              <a:pPr algn="ctr"/>
              <a:r>
                <a:rPr lang="zh-CN" sz="710" dirty="0">
                  <a:solidFill>
                    <a:srgbClr val="B36C60"/>
                  </a:solidFill>
                  <a:latin typeface="+mn-lt"/>
                  <a:ea typeface="+mn-ea"/>
                  <a:cs typeface="+mn-cs"/>
                </a:rPr>
                <a:t>资产达标礼</a:t>
              </a:r>
            </a:p>
          </p:txBody>
        </p:sp>
        <p:sp>
          <p:nvSpPr>
            <p:cNvPr id="74" name="Rectangle 74"/>
            <p:cNvSpPr/>
            <p:nvPr/>
          </p:nvSpPr>
          <p:spPr>
            <a:xfrm>
              <a:off x="8267700" y="3790950"/>
              <a:ext cx="1314450" cy="342900"/>
            </a:xfrm>
            <a:prstGeom prst="roundRect">
              <a:avLst>
                <a:gd name="adj" fmla="val 13889"/>
              </a:avLst>
            </a:prstGeom>
            <a:solidFill>
              <a:srgbClr val="FFFFFF"/>
            </a:solidFill>
            <a:ln>
              <a:noFill/>
            </a:ln>
          </p:spPr>
        </p:sp>
        <p:sp>
          <p:nvSpPr>
            <p:cNvPr id="75" name="Rectangle 75"/>
            <p:cNvSpPr/>
            <p:nvPr/>
          </p:nvSpPr>
          <p:spPr>
            <a:xfrm>
              <a:off x="8362950" y="3905250"/>
              <a:ext cx="171450" cy="133350"/>
            </a:xfrm>
            <a:prstGeom prst="roundRect">
              <a:avLst>
                <a:gd name="adj" fmla="val 21429"/>
              </a:avLst>
            </a:prstGeom>
            <a:solidFill>
              <a:srgbClr val="F5735C"/>
            </a:solidFill>
            <a:ln>
              <a:noFill/>
            </a:ln>
          </p:spPr>
        </p:sp>
        <p:sp>
          <p:nvSpPr>
            <p:cNvPr id="76" name="Rectangle 76"/>
            <p:cNvSpPr/>
            <p:nvPr/>
          </p:nvSpPr>
          <p:spPr>
            <a:xfrm>
              <a:off x="8591550" y="3924300"/>
              <a:ext cx="762000" cy="76200"/>
            </a:xfrm>
            <a:prstGeom prst="roundRect">
              <a:avLst>
                <a:gd name="adj" fmla="val 37500"/>
              </a:avLst>
            </a:prstGeom>
            <a:solidFill>
              <a:srgbClr val="F3B8AE"/>
            </a:solidFill>
            <a:ln>
              <a:noFill/>
            </a:ln>
          </p:spPr>
        </p:sp>
        <p:sp>
          <p:nvSpPr>
            <p:cNvPr id="77" name="Rectangle 77"/>
            <p:cNvSpPr/>
            <p:nvPr/>
          </p:nvSpPr>
          <p:spPr>
            <a:xfrm>
              <a:off x="8267700" y="4210050"/>
              <a:ext cx="1314450" cy="342900"/>
            </a:xfrm>
            <a:prstGeom prst="roundRect">
              <a:avLst>
                <a:gd name="adj" fmla="val 13889"/>
              </a:avLst>
            </a:prstGeom>
            <a:solidFill>
              <a:srgbClr val="FFFFFF"/>
            </a:solidFill>
            <a:ln>
              <a:noFill/>
            </a:ln>
          </p:spPr>
        </p:sp>
        <p:sp>
          <p:nvSpPr>
            <p:cNvPr id="78" name="Rectangle 78"/>
            <p:cNvSpPr/>
            <p:nvPr/>
          </p:nvSpPr>
          <p:spPr>
            <a:xfrm>
              <a:off x="8362950" y="4324350"/>
              <a:ext cx="171450" cy="133350"/>
            </a:xfrm>
            <a:prstGeom prst="roundRect">
              <a:avLst>
                <a:gd name="adj" fmla="val 21429"/>
              </a:avLst>
            </a:prstGeom>
            <a:solidFill>
              <a:srgbClr val="F5735C"/>
            </a:solidFill>
            <a:ln>
              <a:noFill/>
            </a:ln>
          </p:spPr>
        </p:sp>
        <p:sp>
          <p:nvSpPr>
            <p:cNvPr id="79" name="Rectangle 79"/>
            <p:cNvSpPr/>
            <p:nvPr/>
          </p:nvSpPr>
          <p:spPr>
            <a:xfrm>
              <a:off x="8591550" y="4343400"/>
              <a:ext cx="666750" cy="76200"/>
            </a:xfrm>
            <a:prstGeom prst="roundRect">
              <a:avLst>
                <a:gd name="adj" fmla="val 37500"/>
              </a:avLst>
            </a:prstGeom>
            <a:solidFill>
              <a:srgbClr val="F3B8AE"/>
            </a:solidFill>
            <a:ln>
              <a:noFill/>
            </a:ln>
          </p:spPr>
        </p:sp>
        <p:sp>
          <p:nvSpPr>
            <p:cNvPr id="80" name="Rectangle 80"/>
            <p:cNvSpPr/>
            <p:nvPr/>
          </p:nvSpPr>
          <p:spPr>
            <a:xfrm>
              <a:off x="8267700" y="4629150"/>
              <a:ext cx="1314450" cy="342900"/>
            </a:xfrm>
            <a:prstGeom prst="roundRect">
              <a:avLst>
                <a:gd name="adj" fmla="val 13889"/>
              </a:avLst>
            </a:prstGeom>
            <a:solidFill>
              <a:srgbClr val="FFFFFF"/>
            </a:solidFill>
            <a:ln>
              <a:noFill/>
            </a:ln>
          </p:spPr>
        </p:sp>
        <p:sp>
          <p:nvSpPr>
            <p:cNvPr id="81" name="Rectangle 81"/>
            <p:cNvSpPr/>
            <p:nvPr/>
          </p:nvSpPr>
          <p:spPr>
            <a:xfrm>
              <a:off x="8362950" y="4743450"/>
              <a:ext cx="171450" cy="133350"/>
            </a:xfrm>
            <a:prstGeom prst="roundRect">
              <a:avLst>
                <a:gd name="adj" fmla="val 21429"/>
              </a:avLst>
            </a:prstGeom>
            <a:solidFill>
              <a:srgbClr val="F5735C"/>
            </a:solidFill>
            <a:ln>
              <a:noFill/>
            </a:ln>
          </p:spPr>
        </p:sp>
        <p:sp>
          <p:nvSpPr>
            <p:cNvPr id="82" name="Rectangle 82"/>
            <p:cNvSpPr/>
            <p:nvPr/>
          </p:nvSpPr>
          <p:spPr>
            <a:xfrm>
              <a:off x="8591550" y="4762500"/>
              <a:ext cx="819150" cy="76200"/>
            </a:xfrm>
            <a:prstGeom prst="roundRect">
              <a:avLst>
                <a:gd name="adj" fmla="val 37500"/>
              </a:avLst>
            </a:prstGeom>
            <a:solidFill>
              <a:srgbClr val="F3B8AE"/>
            </a:solidFill>
            <a:ln>
              <a:noFill/>
            </a:ln>
          </p:spPr>
        </p:sp>
        <p:sp>
          <p:nvSpPr>
            <p:cNvPr id="83" name="Rectangle 83"/>
            <p:cNvSpPr/>
            <p:nvPr/>
          </p:nvSpPr>
          <p:spPr>
            <a:xfrm>
              <a:off x="8267700" y="5048250"/>
              <a:ext cx="1314450" cy="342900"/>
            </a:xfrm>
            <a:prstGeom prst="roundRect">
              <a:avLst>
                <a:gd name="adj" fmla="val 13889"/>
              </a:avLst>
            </a:prstGeom>
            <a:solidFill>
              <a:srgbClr val="FFFFFF"/>
            </a:solidFill>
            <a:ln>
              <a:noFill/>
            </a:ln>
          </p:spPr>
        </p:sp>
        <p:sp>
          <p:nvSpPr>
            <p:cNvPr id="84" name="Rectangle 84"/>
            <p:cNvSpPr/>
            <p:nvPr/>
          </p:nvSpPr>
          <p:spPr>
            <a:xfrm>
              <a:off x="8362950" y="5162550"/>
              <a:ext cx="171450" cy="133350"/>
            </a:xfrm>
            <a:prstGeom prst="roundRect">
              <a:avLst>
                <a:gd name="adj" fmla="val 21429"/>
              </a:avLst>
            </a:prstGeom>
            <a:solidFill>
              <a:srgbClr val="F5735C"/>
            </a:solidFill>
            <a:ln>
              <a:noFill/>
            </a:ln>
          </p:spPr>
        </p:sp>
        <p:sp>
          <p:nvSpPr>
            <p:cNvPr id="85" name="Rectangle 85"/>
            <p:cNvSpPr/>
            <p:nvPr/>
          </p:nvSpPr>
          <p:spPr>
            <a:xfrm>
              <a:off x="8591550" y="5181600"/>
              <a:ext cx="723900" cy="76200"/>
            </a:xfrm>
            <a:prstGeom prst="roundRect">
              <a:avLst>
                <a:gd name="adj" fmla="val 37500"/>
              </a:avLst>
            </a:prstGeom>
            <a:solidFill>
              <a:srgbClr val="F3B8AE"/>
            </a:solidFill>
            <a:ln>
              <a:noFill/>
            </a:ln>
          </p:spPr>
        </p:sp>
        <p:sp>
          <p:nvSpPr>
            <p:cNvPr id="86" name="Rectangle 86"/>
            <p:cNvSpPr/>
            <p:nvPr/>
          </p:nvSpPr>
          <p:spPr>
            <a:xfrm>
              <a:off x="8267700" y="5467350"/>
              <a:ext cx="1314450" cy="342900"/>
            </a:xfrm>
            <a:prstGeom prst="roundRect">
              <a:avLst>
                <a:gd name="adj" fmla="val 13889"/>
              </a:avLst>
            </a:prstGeom>
            <a:solidFill>
              <a:srgbClr val="FFFFFF"/>
            </a:solidFill>
            <a:ln>
              <a:noFill/>
            </a:ln>
          </p:spPr>
        </p:sp>
        <p:sp>
          <p:nvSpPr>
            <p:cNvPr id="87" name="Rectangle 87"/>
            <p:cNvSpPr/>
            <p:nvPr/>
          </p:nvSpPr>
          <p:spPr>
            <a:xfrm>
              <a:off x="8362950" y="5581650"/>
              <a:ext cx="171450" cy="133350"/>
            </a:xfrm>
            <a:prstGeom prst="roundRect">
              <a:avLst>
                <a:gd name="adj" fmla="val 21429"/>
              </a:avLst>
            </a:prstGeom>
            <a:solidFill>
              <a:srgbClr val="F5735C"/>
            </a:solidFill>
            <a:ln>
              <a:noFill/>
            </a:ln>
          </p:spPr>
        </p:sp>
        <p:sp>
          <p:nvSpPr>
            <p:cNvPr id="88" name="Rectangle 88"/>
            <p:cNvSpPr/>
            <p:nvPr/>
          </p:nvSpPr>
          <p:spPr>
            <a:xfrm>
              <a:off x="8591550" y="5600700"/>
              <a:ext cx="781050" cy="76200"/>
            </a:xfrm>
            <a:prstGeom prst="roundRect">
              <a:avLst>
                <a:gd name="adj" fmla="val 37500"/>
              </a:avLst>
            </a:prstGeom>
            <a:solidFill>
              <a:srgbClr val="F3B8AE"/>
            </a:solidFill>
            <a:ln>
              <a:noFill/>
            </a:ln>
          </p:spPr>
        </p:sp>
        <p:sp>
          <p:nvSpPr>
            <p:cNvPr id="89" name="Rectangle 89"/>
            <p:cNvSpPr/>
            <p:nvPr/>
          </p:nvSpPr>
          <p:spPr>
            <a:xfrm>
              <a:off x="9925050" y="1809750"/>
              <a:ext cx="1619250" cy="4191000"/>
            </a:xfrm>
            <a:prstGeom prst="roundRect">
              <a:avLst>
                <a:gd name="adj" fmla="val 5882"/>
              </a:avLst>
            </a:prstGeom>
            <a:solidFill>
              <a:srgbClr val="FFFFFF"/>
            </a:solidFill>
            <a:ln w="9525">
              <a:solidFill>
                <a:srgbClr val="F3B8AE"/>
              </a:solidFill>
            </a:ln>
          </p:spPr>
        </p:sp>
        <p:sp>
          <p:nvSpPr>
            <p:cNvPr id="90" name="Rectangle 90"/>
            <p:cNvSpPr/>
            <p:nvPr/>
          </p:nvSpPr>
          <p:spPr>
            <a:xfrm>
              <a:off x="9925050" y="1809750"/>
              <a:ext cx="1619250" cy="476250"/>
            </a:xfrm>
            <a:prstGeom prst="roundRect">
              <a:avLst>
                <a:gd name="adj" fmla="val 20000"/>
              </a:avLst>
            </a:prstGeom>
            <a:gradFill>
              <a:gsLst>
                <a:gs pos="0">
                  <a:srgbClr val="F9C8C0"/>
                </a:gs>
                <a:gs pos="100000">
                  <a:srgbClr val="FDEDEA"/>
                </a:gs>
              </a:gsLst>
              <a:lin ang="5400000" scaled="1"/>
            </a:gradFill>
            <a:ln>
              <a:noFill/>
            </a:ln>
          </p:spPr>
        </p:sp>
        <p:sp>
          <p:nvSpPr>
            <p:cNvPr id="91" name="TextBox 91"/>
            <p:cNvSpPr txBox="1"/>
            <p:nvPr/>
          </p:nvSpPr>
          <p:spPr>
            <a:xfrm>
              <a:off x="10405491" y="1985010"/>
              <a:ext cx="658368" cy="234696"/>
            </a:xfrm>
            <a:prstGeom prst="rect">
              <a:avLst/>
            </a:prstGeom>
            <a:noFill/>
            <a:ln>
              <a:noFill/>
            </a:ln>
          </p:spPr>
          <p:txBody>
            <a:bodyPr wrap="none" lIns="0" tIns="0" rIns="0" bIns="0" anchor="t" anchorCtr="0">
              <a:spAutoFit/>
            </a:bodyPr>
            <a:lstStyle/>
            <a:p>
              <a:pPr algn="ctr"/>
              <a:r>
                <a:rPr lang="zh-CN" sz="1200" b="1" dirty="0">
                  <a:solidFill>
                    <a:srgbClr val="E0462C"/>
                  </a:solidFill>
                  <a:latin typeface="+mn-lt"/>
                  <a:ea typeface="+mn-ea"/>
                  <a:cs typeface="+mn-cs"/>
                </a:rPr>
                <a:t>升金有礼</a:t>
              </a:r>
            </a:p>
          </p:txBody>
        </p:sp>
        <p:sp>
          <p:nvSpPr>
            <p:cNvPr id="92" name="TextBox 92"/>
            <p:cNvSpPr txBox="1"/>
            <p:nvPr/>
          </p:nvSpPr>
          <p:spPr>
            <a:xfrm>
              <a:off x="10225088" y="2422684"/>
              <a:ext cx="467233" cy="133350"/>
            </a:xfrm>
            <a:prstGeom prst="rect">
              <a:avLst/>
            </a:prstGeom>
            <a:noFill/>
            <a:ln>
              <a:noFill/>
            </a:ln>
          </p:spPr>
          <p:txBody>
            <a:bodyPr wrap="none" lIns="0" tIns="0" rIns="0" bIns="0" anchor="t" anchorCtr="0">
              <a:spAutoFit/>
            </a:bodyPr>
            <a:lstStyle/>
            <a:p>
              <a:pPr algn="l"/>
              <a:r>
                <a:rPr lang="zh-CN" sz="680" dirty="0">
                  <a:solidFill>
                    <a:srgbClr val="5A3630"/>
                  </a:solidFill>
                  <a:latin typeface="+mn-lt"/>
                  <a:ea typeface="+mn-ea"/>
                  <a:cs typeface="+mn-cs"/>
                </a:rPr>
                <a:t>月月升金礼</a:t>
              </a:r>
            </a:p>
          </p:txBody>
        </p:sp>
        <p:sp>
          <p:nvSpPr>
            <p:cNvPr id="93" name="Rectangle 93"/>
            <p:cNvSpPr/>
            <p:nvPr/>
          </p:nvSpPr>
          <p:spPr>
            <a:xfrm>
              <a:off x="10039350" y="2571750"/>
              <a:ext cx="1390650" cy="857250"/>
            </a:xfrm>
            <a:prstGeom prst="roundRect">
              <a:avLst>
                <a:gd name="adj" fmla="val 4444"/>
              </a:avLst>
            </a:prstGeom>
            <a:solidFill>
              <a:srgbClr val="FDF1EF"/>
            </a:solidFill>
            <a:ln>
              <a:noFill/>
            </a:ln>
          </p:spPr>
        </p:sp>
        <p:grpSp>
          <p:nvGrpSpPr>
            <p:cNvPr id="99" name="Group 99"/>
            <p:cNvGrpSpPr/>
            <p:nvPr/>
          </p:nvGrpSpPr>
          <p:grpSpPr>
            <a:xfrm>
              <a:off x="10115550" y="2667000"/>
              <a:ext cx="1238250" cy="590550"/>
              <a:chOff x="10115550" y="2667000"/>
              <a:chExt cx="1238250" cy="590550"/>
            </a:xfrm>
          </p:grpSpPr>
          <p:sp>
            <p:nvSpPr>
              <p:cNvPr id="94" name="Rectangle 94"/>
              <p:cNvSpPr/>
              <p:nvPr/>
            </p:nvSpPr>
            <p:spPr>
              <a:xfrm>
                <a:off x="10115550" y="2667000"/>
                <a:ext cx="1238250" cy="57150"/>
              </a:xfrm>
              <a:prstGeom prst="roundRect">
                <a:avLst>
                  <a:gd name="adj" fmla="val 50000"/>
                </a:avLst>
              </a:prstGeom>
              <a:solidFill>
                <a:srgbClr val="F3B8AE"/>
              </a:solidFill>
              <a:ln>
                <a:noFill/>
              </a:ln>
            </p:spPr>
          </p:sp>
          <p:sp>
            <p:nvSpPr>
              <p:cNvPr id="95" name="Rectangle 95"/>
              <p:cNvSpPr/>
              <p:nvPr/>
            </p:nvSpPr>
            <p:spPr>
              <a:xfrm>
                <a:off x="10115550" y="2800350"/>
                <a:ext cx="1047750" cy="57150"/>
              </a:xfrm>
              <a:prstGeom prst="roundRect">
                <a:avLst>
                  <a:gd name="adj" fmla="val 50000"/>
                </a:avLst>
              </a:prstGeom>
              <a:solidFill>
                <a:srgbClr val="F3B8AE"/>
              </a:solidFill>
              <a:ln>
                <a:noFill/>
              </a:ln>
            </p:spPr>
          </p:sp>
          <p:sp>
            <p:nvSpPr>
              <p:cNvPr id="96" name="Rectangle 96"/>
              <p:cNvSpPr/>
              <p:nvPr/>
            </p:nvSpPr>
            <p:spPr>
              <a:xfrm>
                <a:off x="10115550" y="2933700"/>
                <a:ext cx="1143000" cy="57150"/>
              </a:xfrm>
              <a:prstGeom prst="roundRect">
                <a:avLst>
                  <a:gd name="adj" fmla="val 50000"/>
                </a:avLst>
              </a:prstGeom>
              <a:solidFill>
                <a:srgbClr val="F3B8AE"/>
              </a:solidFill>
              <a:ln>
                <a:noFill/>
              </a:ln>
            </p:spPr>
          </p:sp>
          <p:sp>
            <p:nvSpPr>
              <p:cNvPr id="97" name="Rectangle 97"/>
              <p:cNvSpPr/>
              <p:nvPr/>
            </p:nvSpPr>
            <p:spPr>
              <a:xfrm>
                <a:off x="10115550" y="3067050"/>
                <a:ext cx="952500" cy="57150"/>
              </a:xfrm>
              <a:prstGeom prst="roundRect">
                <a:avLst>
                  <a:gd name="adj" fmla="val 50000"/>
                </a:avLst>
              </a:prstGeom>
              <a:solidFill>
                <a:srgbClr val="F3B8AE"/>
              </a:solidFill>
              <a:ln>
                <a:noFill/>
              </a:ln>
            </p:spPr>
          </p:sp>
          <p:sp>
            <p:nvSpPr>
              <p:cNvPr id="98" name="Rectangle 98"/>
              <p:cNvSpPr/>
              <p:nvPr/>
            </p:nvSpPr>
            <p:spPr>
              <a:xfrm>
                <a:off x="10115550" y="3200400"/>
                <a:ext cx="1200150" cy="57150"/>
              </a:xfrm>
              <a:prstGeom prst="roundRect">
                <a:avLst>
                  <a:gd name="adj" fmla="val 50000"/>
                </a:avLst>
              </a:prstGeom>
              <a:solidFill>
                <a:srgbClr val="F3B8AE"/>
              </a:solidFill>
              <a:ln>
                <a:noFill/>
              </a:ln>
            </p:spPr>
          </p:sp>
        </p:grpSp>
        <p:sp>
          <p:nvSpPr>
            <p:cNvPr id="100" name="TextBox 100"/>
            <p:cNvSpPr txBox="1"/>
            <p:nvPr/>
          </p:nvSpPr>
          <p:spPr>
            <a:xfrm>
              <a:off x="10225088" y="3584734"/>
              <a:ext cx="467233" cy="133350"/>
            </a:xfrm>
            <a:prstGeom prst="rect">
              <a:avLst/>
            </a:prstGeom>
            <a:noFill/>
            <a:ln>
              <a:noFill/>
            </a:ln>
          </p:spPr>
          <p:txBody>
            <a:bodyPr wrap="none" lIns="0" tIns="0" rIns="0" bIns="0" anchor="t" anchorCtr="0">
              <a:spAutoFit/>
            </a:bodyPr>
            <a:lstStyle/>
            <a:p>
              <a:pPr algn="l"/>
              <a:r>
                <a:rPr lang="zh-CN" sz="680" dirty="0">
                  <a:solidFill>
                    <a:srgbClr val="5A3630"/>
                  </a:solidFill>
                  <a:latin typeface="+mn-lt"/>
                  <a:ea typeface="+mn-ea"/>
                  <a:cs typeface="+mn-cs"/>
                </a:rPr>
                <a:t>资产达标礼</a:t>
              </a:r>
            </a:p>
          </p:txBody>
        </p:sp>
        <p:sp>
          <p:nvSpPr>
            <p:cNvPr id="101" name="Rectangle 101"/>
            <p:cNvSpPr/>
            <p:nvPr/>
          </p:nvSpPr>
          <p:spPr>
            <a:xfrm>
              <a:off x="10039350" y="3733800"/>
              <a:ext cx="1390650" cy="1047750"/>
            </a:xfrm>
            <a:prstGeom prst="roundRect">
              <a:avLst>
                <a:gd name="adj" fmla="val 3636"/>
              </a:avLst>
            </a:prstGeom>
            <a:solidFill>
              <a:srgbClr val="FDF1EF"/>
            </a:solidFill>
            <a:ln>
              <a:noFill/>
            </a:ln>
          </p:spPr>
        </p:sp>
        <p:grpSp>
          <p:nvGrpSpPr>
            <p:cNvPr id="109" name="Group 109"/>
            <p:cNvGrpSpPr/>
            <p:nvPr/>
          </p:nvGrpSpPr>
          <p:grpSpPr>
            <a:xfrm>
              <a:off x="10115550" y="3829050"/>
              <a:ext cx="1238250" cy="857250"/>
              <a:chOff x="10115550" y="3829050"/>
              <a:chExt cx="1238250" cy="857250"/>
            </a:xfrm>
          </p:grpSpPr>
          <p:sp>
            <p:nvSpPr>
              <p:cNvPr id="102" name="Rectangle 102"/>
              <p:cNvSpPr/>
              <p:nvPr/>
            </p:nvSpPr>
            <p:spPr>
              <a:xfrm>
                <a:off x="10115550" y="3829050"/>
                <a:ext cx="1238250" cy="57150"/>
              </a:xfrm>
              <a:prstGeom prst="roundRect">
                <a:avLst>
                  <a:gd name="adj" fmla="val 50000"/>
                </a:avLst>
              </a:prstGeom>
              <a:solidFill>
                <a:srgbClr val="F3B8AE"/>
              </a:solidFill>
              <a:ln>
                <a:noFill/>
              </a:ln>
            </p:spPr>
          </p:sp>
          <p:sp>
            <p:nvSpPr>
              <p:cNvPr id="103" name="Rectangle 103"/>
              <p:cNvSpPr/>
              <p:nvPr/>
            </p:nvSpPr>
            <p:spPr>
              <a:xfrm>
                <a:off x="10115550" y="3962400"/>
                <a:ext cx="1047750" cy="57150"/>
              </a:xfrm>
              <a:prstGeom prst="roundRect">
                <a:avLst>
                  <a:gd name="adj" fmla="val 50000"/>
                </a:avLst>
              </a:prstGeom>
              <a:solidFill>
                <a:srgbClr val="F3B8AE"/>
              </a:solidFill>
              <a:ln>
                <a:noFill/>
              </a:ln>
            </p:spPr>
          </p:sp>
          <p:sp>
            <p:nvSpPr>
              <p:cNvPr id="104" name="Rectangle 104"/>
              <p:cNvSpPr/>
              <p:nvPr/>
            </p:nvSpPr>
            <p:spPr>
              <a:xfrm>
                <a:off x="10115550" y="4095750"/>
                <a:ext cx="1143000" cy="57150"/>
              </a:xfrm>
              <a:prstGeom prst="roundRect">
                <a:avLst>
                  <a:gd name="adj" fmla="val 50000"/>
                </a:avLst>
              </a:prstGeom>
              <a:solidFill>
                <a:srgbClr val="F3B8AE"/>
              </a:solidFill>
              <a:ln>
                <a:noFill/>
              </a:ln>
            </p:spPr>
          </p:sp>
          <p:sp>
            <p:nvSpPr>
              <p:cNvPr id="105" name="Rectangle 105"/>
              <p:cNvSpPr/>
              <p:nvPr/>
            </p:nvSpPr>
            <p:spPr>
              <a:xfrm>
                <a:off x="10115550" y="4229100"/>
                <a:ext cx="952500" cy="57150"/>
              </a:xfrm>
              <a:prstGeom prst="roundRect">
                <a:avLst>
                  <a:gd name="adj" fmla="val 50000"/>
                </a:avLst>
              </a:prstGeom>
              <a:solidFill>
                <a:srgbClr val="F3B8AE"/>
              </a:solidFill>
              <a:ln>
                <a:noFill/>
              </a:ln>
            </p:spPr>
          </p:sp>
          <p:sp>
            <p:nvSpPr>
              <p:cNvPr id="106" name="Rectangle 106"/>
              <p:cNvSpPr/>
              <p:nvPr/>
            </p:nvSpPr>
            <p:spPr>
              <a:xfrm>
                <a:off x="10115550" y="4362450"/>
                <a:ext cx="1200150" cy="57150"/>
              </a:xfrm>
              <a:prstGeom prst="roundRect">
                <a:avLst>
                  <a:gd name="adj" fmla="val 50000"/>
                </a:avLst>
              </a:prstGeom>
              <a:solidFill>
                <a:srgbClr val="F3B8AE"/>
              </a:solidFill>
              <a:ln>
                <a:noFill/>
              </a:ln>
            </p:spPr>
          </p:sp>
          <p:sp>
            <p:nvSpPr>
              <p:cNvPr id="107" name="Rectangle 107"/>
              <p:cNvSpPr/>
              <p:nvPr/>
            </p:nvSpPr>
            <p:spPr>
              <a:xfrm>
                <a:off x="10115550" y="4495800"/>
                <a:ext cx="857250" cy="57150"/>
              </a:xfrm>
              <a:prstGeom prst="roundRect">
                <a:avLst>
                  <a:gd name="adj" fmla="val 50000"/>
                </a:avLst>
              </a:prstGeom>
              <a:solidFill>
                <a:srgbClr val="F3B8AE"/>
              </a:solidFill>
              <a:ln>
                <a:noFill/>
              </a:ln>
            </p:spPr>
          </p:sp>
          <p:sp>
            <p:nvSpPr>
              <p:cNvPr id="108" name="Rectangle 108"/>
              <p:cNvSpPr/>
              <p:nvPr/>
            </p:nvSpPr>
            <p:spPr>
              <a:xfrm>
                <a:off x="10115550" y="4629150"/>
                <a:ext cx="1123950" cy="57150"/>
              </a:xfrm>
              <a:prstGeom prst="roundRect">
                <a:avLst>
                  <a:gd name="adj" fmla="val 50000"/>
                </a:avLst>
              </a:prstGeom>
              <a:solidFill>
                <a:srgbClr val="F3B8AE"/>
              </a:solidFill>
              <a:ln>
                <a:noFill/>
              </a:ln>
            </p:spPr>
          </p:sp>
        </p:grpSp>
        <p:grpSp>
          <p:nvGrpSpPr>
            <p:cNvPr id="116" name="Group 116"/>
            <p:cNvGrpSpPr/>
            <p:nvPr/>
          </p:nvGrpSpPr>
          <p:grpSpPr>
            <a:xfrm>
              <a:off x="10039350" y="4895850"/>
              <a:ext cx="1390650" cy="723900"/>
              <a:chOff x="10039350" y="4895850"/>
              <a:chExt cx="1390650" cy="723900"/>
            </a:xfrm>
          </p:grpSpPr>
          <p:sp>
            <p:nvSpPr>
              <p:cNvPr id="110" name="Rectangle 110"/>
              <p:cNvSpPr/>
              <p:nvPr/>
            </p:nvSpPr>
            <p:spPr>
              <a:xfrm>
                <a:off x="10039350" y="4895850"/>
                <a:ext cx="1390650" cy="57150"/>
              </a:xfrm>
              <a:prstGeom prst="roundRect">
                <a:avLst>
                  <a:gd name="adj" fmla="val 50000"/>
                </a:avLst>
              </a:prstGeom>
              <a:solidFill>
                <a:srgbClr val="F3B8AE"/>
              </a:solidFill>
              <a:ln>
                <a:noFill/>
              </a:ln>
            </p:spPr>
          </p:sp>
          <p:sp>
            <p:nvSpPr>
              <p:cNvPr id="111" name="Rectangle 111"/>
              <p:cNvSpPr/>
              <p:nvPr/>
            </p:nvSpPr>
            <p:spPr>
              <a:xfrm>
                <a:off x="10039350" y="5029200"/>
                <a:ext cx="1200150" cy="57150"/>
              </a:xfrm>
              <a:prstGeom prst="roundRect">
                <a:avLst>
                  <a:gd name="adj" fmla="val 50000"/>
                </a:avLst>
              </a:prstGeom>
              <a:solidFill>
                <a:srgbClr val="F3B8AE"/>
              </a:solidFill>
              <a:ln>
                <a:noFill/>
              </a:ln>
            </p:spPr>
          </p:sp>
          <p:sp>
            <p:nvSpPr>
              <p:cNvPr id="112" name="Rectangle 112"/>
              <p:cNvSpPr/>
              <p:nvPr/>
            </p:nvSpPr>
            <p:spPr>
              <a:xfrm>
                <a:off x="10039350" y="5162550"/>
                <a:ext cx="1333500" cy="57150"/>
              </a:xfrm>
              <a:prstGeom prst="roundRect">
                <a:avLst>
                  <a:gd name="adj" fmla="val 50000"/>
                </a:avLst>
              </a:prstGeom>
              <a:solidFill>
                <a:srgbClr val="F3B8AE"/>
              </a:solidFill>
              <a:ln>
                <a:noFill/>
              </a:ln>
            </p:spPr>
          </p:sp>
          <p:sp>
            <p:nvSpPr>
              <p:cNvPr id="113" name="Rectangle 113"/>
              <p:cNvSpPr/>
              <p:nvPr/>
            </p:nvSpPr>
            <p:spPr>
              <a:xfrm>
                <a:off x="10039350" y="5295900"/>
                <a:ext cx="1047750" cy="57150"/>
              </a:xfrm>
              <a:prstGeom prst="roundRect">
                <a:avLst>
                  <a:gd name="adj" fmla="val 50000"/>
                </a:avLst>
              </a:prstGeom>
              <a:solidFill>
                <a:srgbClr val="F3B8AE"/>
              </a:solidFill>
              <a:ln>
                <a:noFill/>
              </a:ln>
            </p:spPr>
          </p:sp>
          <p:sp>
            <p:nvSpPr>
              <p:cNvPr id="114" name="Rectangle 114"/>
              <p:cNvSpPr/>
              <p:nvPr/>
            </p:nvSpPr>
            <p:spPr>
              <a:xfrm>
                <a:off x="10039350" y="5429250"/>
                <a:ext cx="1295400" cy="57150"/>
              </a:xfrm>
              <a:prstGeom prst="roundRect">
                <a:avLst>
                  <a:gd name="adj" fmla="val 50000"/>
                </a:avLst>
              </a:prstGeom>
              <a:solidFill>
                <a:srgbClr val="F3B8AE"/>
              </a:solidFill>
              <a:ln>
                <a:noFill/>
              </a:ln>
            </p:spPr>
          </p:sp>
          <p:sp>
            <p:nvSpPr>
              <p:cNvPr id="115" name="Rectangle 115"/>
              <p:cNvSpPr/>
              <p:nvPr/>
            </p:nvSpPr>
            <p:spPr>
              <a:xfrm>
                <a:off x="10039350" y="5562600"/>
                <a:ext cx="1143000" cy="57150"/>
              </a:xfrm>
              <a:prstGeom prst="roundRect">
                <a:avLst>
                  <a:gd name="adj" fmla="val 50000"/>
                </a:avLst>
              </a:prstGeom>
              <a:solidFill>
                <a:srgbClr val="F3B8AE"/>
              </a:solidFill>
              <a:ln>
                <a:noFill/>
              </a:ln>
            </p:spPr>
          </p:sp>
        </p:grpSp>
      </p:grpSp>
      <p:sp>
        <p:nvSpPr>
          <p:cNvPr id="118" name="TextBox 118"/>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15</a:t>
              </a:r>
            </a:p>
          </p:txBody>
        </p:sp>
        <p:sp>
          <p:nvSpPr>
            <p:cNvPr id="4" name="TextBox 4"/>
            <p:cNvSpPr txBox="1"/>
            <p:nvPr/>
          </p:nvSpPr>
          <p:spPr>
            <a:xfrm>
              <a:off x="942594" y="151448"/>
              <a:ext cx="9111935"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2.2.2 产品运营｜产品降门槛，运营提效率，</a:t>
              </a:r>
              <a:r>
                <a:rPr lang="zh-CN" sz="1950" b="1" dirty="0">
                  <a:solidFill>
                    <a:srgbClr val="E74726"/>
                  </a:solidFill>
                  <a:latin typeface="SimSun"/>
                  <a:ea typeface="SimSun"/>
                  <a:cs typeface="SimSun"/>
                </a:rPr>
                <a:t>闭环驱动</a:t>
              </a:r>
              <a:r>
                <a:rPr lang="zh-CN" sz="1950" b="1" dirty="0">
                  <a:solidFill>
                    <a:srgbClr val="1F1F1F"/>
                  </a:solidFill>
                  <a:latin typeface="SimSun"/>
                  <a:ea typeface="SimSun"/>
                  <a:cs typeface="SimSun"/>
                </a:rPr>
                <a:t>长尾客户产品转化​</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481010" cy="551260"/>
            <a:chOff x="566166" y="667702"/>
            <a:chExt cx="6481010" cy="551260"/>
          </a:xfrm>
        </p:grpSpPr>
        <p:sp>
          <p:nvSpPr>
            <p:cNvPr id="8" name="TextBox 8"/>
            <p:cNvSpPr txBox="1"/>
            <p:nvPr/>
          </p:nvSpPr>
          <p:spPr>
            <a:xfrm>
              <a:off x="566166" y="667702"/>
              <a:ext cx="6481010"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产品端降门槛，运营端去专业、提效率，双端协同构建“引流—停留—留存—复购—资产升级”运营闭环​​​​</a:t>
              </a:r>
            </a:p>
          </p:txBody>
        </p:sp>
        <p:sp>
          <p:nvSpPr>
            <p:cNvPr id="9" name="TextBox 9"/>
            <p:cNvSpPr txBox="1"/>
            <p:nvPr/>
          </p:nvSpPr>
          <p:spPr>
            <a:xfrm>
              <a:off x="566738" y="887968"/>
              <a:ext cx="6377051"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产品设计贴合长尾零散资金体量与稳健偏好，覆盖零钱打理至稳健配置全场景；呈现运营以一键认知、一键购买简化决策，黄</a:t>
              </a:r>
            </a:p>
          </p:txBody>
        </p:sp>
        <p:sp>
          <p:nvSpPr>
            <p:cNvPr id="10" name="TextBox 10"/>
            <p:cNvSpPr txBox="1"/>
            <p:nvPr/>
          </p:nvSpPr>
          <p:spPr>
            <a:xfrm>
              <a:off x="566738" y="1049893"/>
              <a:ext cx="1746123"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金位专区集中曝光，提升转化效率</a:t>
              </a:r>
            </a:p>
          </p:txBody>
        </p:sp>
      </p:grpSp>
      <p:grpSp>
        <p:nvGrpSpPr>
          <p:cNvPr id="34" name="card-design"/>
          <p:cNvGrpSpPr/>
          <p:nvPr/>
        </p:nvGrpSpPr>
        <p:grpSpPr>
          <a:xfrm>
            <a:off x="495300" y="1562100"/>
            <a:ext cx="5143500" cy="3486150"/>
            <a:chOff x="495300" y="1562100"/>
            <a:chExt cx="5143500" cy="3486150"/>
          </a:xfrm>
        </p:grpSpPr>
        <p:sp>
          <p:nvSpPr>
            <p:cNvPr id="12" name="Rectangle 12"/>
            <p:cNvSpPr/>
            <p:nvPr/>
          </p:nvSpPr>
          <p:spPr>
            <a:xfrm>
              <a:off x="762000" y="2038350"/>
              <a:ext cx="4876800" cy="3009900"/>
            </a:xfrm>
            <a:prstGeom prst="roundRect">
              <a:avLst>
                <a:gd name="adj" fmla="val 2532"/>
              </a:avLst>
            </a:prstGeom>
            <a:solidFill>
              <a:srgbClr val="FFFFFF"/>
            </a:solidFill>
            <a:ln w="11430">
              <a:solidFill>
                <a:srgbClr val="DCE8FB"/>
              </a:solidFill>
            </a:ln>
          </p:spPr>
        </p:sp>
        <p:sp>
          <p:nvSpPr>
            <p:cNvPr id="13" name="Rectangle 13"/>
            <p:cNvSpPr/>
            <p:nvPr/>
          </p:nvSpPr>
          <p:spPr>
            <a:xfrm>
              <a:off x="1047750" y="1619250"/>
              <a:ext cx="4591050" cy="419100"/>
            </a:xfrm>
            <a:prstGeom prst="roundRect">
              <a:avLst>
                <a:gd name="adj" fmla="val 18182"/>
              </a:avLst>
            </a:prstGeom>
            <a:solidFill>
              <a:srgbClr val="E74726"/>
            </a:solidFill>
            <a:ln>
              <a:noFill/>
            </a:ln>
          </p:spPr>
        </p:sp>
        <p:sp>
          <p:nvSpPr>
            <p:cNvPr id="14" name="TextBox 14"/>
            <p:cNvSpPr txBox="1"/>
            <p:nvPr/>
          </p:nvSpPr>
          <p:spPr>
            <a:xfrm>
              <a:off x="2432914" y="1774031"/>
              <a:ext cx="182072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产品设计端：降低参与门槛</a:t>
              </a:r>
            </a:p>
          </p:txBody>
        </p:sp>
        <p:sp>
          <p:nvSpPr>
            <p:cNvPr id="15" name="Ellipse 15"/>
            <p:cNvSpPr/>
            <p:nvPr/>
          </p:nvSpPr>
          <p:spPr>
            <a:xfrm>
              <a:off x="495300" y="1562100"/>
              <a:ext cx="533400" cy="533400"/>
            </a:xfrm>
            <a:prstGeom prst="ellipse">
              <a:avLst/>
            </a:prstGeom>
            <a:solidFill>
              <a:srgbClr val="FFFFFF"/>
            </a:solidFill>
            <a:ln w="19050">
              <a:solidFill>
                <a:srgbClr val="E74726"/>
              </a:solidFill>
            </a:ln>
          </p:spPr>
        </p:sp>
        <p:sp>
          <p:nvSpPr>
            <p:cNvPr id="16" name="Freeform 16"/>
            <p:cNvSpPr/>
            <p:nvPr/>
          </p:nvSpPr>
          <p:spPr>
            <a:xfrm>
              <a:off x="647700" y="1714500"/>
              <a:ext cx="228599" cy="228599"/>
            </a:xfrm>
            <a:custGeom>
              <a:avLst/>
              <a:gdLst/>
              <a:ahLst/>
              <a:cxnLst/>
              <a:rect l="l" t="t" r="r" b="b"/>
              <a:pathLst>
                <a:path w="228599" h="228599">
                  <a:moveTo>
                    <a:pt x="12700" y="50800"/>
                  </a:moveTo>
                  <a:lnTo>
                    <a:pt x="50800" y="50800"/>
                  </a:lnTo>
                  <a:cubicBezTo>
                    <a:pt x="57814" y="50800"/>
                    <a:pt x="63500" y="45114"/>
                    <a:pt x="63500" y="38100"/>
                  </a:cubicBezTo>
                  <a:lnTo>
                    <a:pt x="63500" y="25400"/>
                  </a:lnTo>
                  <a:cubicBezTo>
                    <a:pt x="63500" y="11372"/>
                    <a:pt x="74872" y="0"/>
                    <a:pt x="88900" y="0"/>
                  </a:cubicBezTo>
                  <a:cubicBezTo>
                    <a:pt x="102928" y="0"/>
                    <a:pt x="114300" y="11372"/>
                    <a:pt x="114300" y="25400"/>
                  </a:cubicBezTo>
                  <a:lnTo>
                    <a:pt x="114300" y="38100"/>
                  </a:lnTo>
                  <a:cubicBezTo>
                    <a:pt x="114300" y="45114"/>
                    <a:pt x="119986" y="50800"/>
                    <a:pt x="127000" y="50800"/>
                  </a:cubicBezTo>
                  <a:lnTo>
                    <a:pt x="165100" y="50800"/>
                  </a:lnTo>
                  <a:cubicBezTo>
                    <a:pt x="172114" y="50800"/>
                    <a:pt x="177800" y="56486"/>
                    <a:pt x="177800" y="63500"/>
                  </a:cubicBezTo>
                  <a:lnTo>
                    <a:pt x="177800" y="101600"/>
                  </a:lnTo>
                  <a:cubicBezTo>
                    <a:pt x="177800" y="108614"/>
                    <a:pt x="183486" y="114300"/>
                    <a:pt x="190500" y="114300"/>
                  </a:cubicBezTo>
                  <a:lnTo>
                    <a:pt x="203199" y="114300"/>
                  </a:lnTo>
                  <a:cubicBezTo>
                    <a:pt x="217227" y="114300"/>
                    <a:pt x="228599" y="125672"/>
                    <a:pt x="228599" y="139700"/>
                  </a:cubicBezTo>
                  <a:cubicBezTo>
                    <a:pt x="228599" y="153728"/>
                    <a:pt x="217227" y="165100"/>
                    <a:pt x="203199" y="165100"/>
                  </a:cubicBezTo>
                  <a:lnTo>
                    <a:pt x="190500" y="165100"/>
                  </a:lnTo>
                  <a:cubicBezTo>
                    <a:pt x="183486" y="165100"/>
                    <a:pt x="177800" y="170786"/>
                    <a:pt x="177800" y="177800"/>
                  </a:cubicBezTo>
                  <a:lnTo>
                    <a:pt x="177800" y="215899"/>
                  </a:lnTo>
                  <a:cubicBezTo>
                    <a:pt x="177800" y="222913"/>
                    <a:pt x="172114" y="228599"/>
                    <a:pt x="165100" y="228599"/>
                  </a:cubicBezTo>
                  <a:lnTo>
                    <a:pt x="127000" y="228599"/>
                  </a:lnTo>
                  <a:cubicBezTo>
                    <a:pt x="119986" y="228599"/>
                    <a:pt x="114300" y="222913"/>
                    <a:pt x="114300" y="215899"/>
                  </a:cubicBezTo>
                  <a:lnTo>
                    <a:pt x="114300" y="203199"/>
                  </a:lnTo>
                  <a:cubicBezTo>
                    <a:pt x="114300" y="189171"/>
                    <a:pt x="102928" y="177800"/>
                    <a:pt x="88900" y="177800"/>
                  </a:cubicBezTo>
                  <a:cubicBezTo>
                    <a:pt x="74872" y="177800"/>
                    <a:pt x="63500" y="189171"/>
                    <a:pt x="63500" y="203199"/>
                  </a:cubicBezTo>
                  <a:lnTo>
                    <a:pt x="63500" y="215899"/>
                  </a:lnTo>
                  <a:cubicBezTo>
                    <a:pt x="63500" y="222913"/>
                    <a:pt x="57814" y="228599"/>
                    <a:pt x="50800" y="228599"/>
                  </a:cubicBezTo>
                  <a:lnTo>
                    <a:pt x="12700" y="228599"/>
                  </a:lnTo>
                  <a:cubicBezTo>
                    <a:pt x="5686" y="228599"/>
                    <a:pt x="0" y="222913"/>
                    <a:pt x="0" y="215899"/>
                  </a:cubicBezTo>
                  <a:lnTo>
                    <a:pt x="0" y="177800"/>
                  </a:lnTo>
                  <a:cubicBezTo>
                    <a:pt x="0" y="170786"/>
                    <a:pt x="5686" y="165100"/>
                    <a:pt x="12700" y="165100"/>
                  </a:cubicBezTo>
                  <a:lnTo>
                    <a:pt x="25400" y="165100"/>
                  </a:lnTo>
                  <a:cubicBezTo>
                    <a:pt x="39428" y="165100"/>
                    <a:pt x="50800" y="153728"/>
                    <a:pt x="50800" y="139700"/>
                  </a:cubicBezTo>
                  <a:cubicBezTo>
                    <a:pt x="50800" y="125672"/>
                    <a:pt x="39428" y="114300"/>
                    <a:pt x="25400" y="114300"/>
                  </a:cubicBezTo>
                  <a:lnTo>
                    <a:pt x="12700" y="114300"/>
                  </a:lnTo>
                  <a:cubicBezTo>
                    <a:pt x="5686" y="114300"/>
                    <a:pt x="0" y="108614"/>
                    <a:pt x="0" y="101600"/>
                  </a:cubicBezTo>
                  <a:lnTo>
                    <a:pt x="0" y="63500"/>
                  </a:lnTo>
                  <a:cubicBezTo>
                    <a:pt x="0" y="56486"/>
                    <a:pt x="5686" y="50800"/>
                    <a:pt x="12700" y="50800"/>
                  </a:cubicBezTo>
                </a:path>
              </a:pathLst>
            </a:custGeom>
            <a:noFill/>
            <a:ln w="25400">
              <a:solidFill>
                <a:srgbClr val="E74726"/>
              </a:solidFill>
            </a:ln>
          </p:spPr>
        </p:sp>
        <p:grpSp>
          <p:nvGrpSpPr>
            <p:cNvPr id="22" name="Group 22"/>
            <p:cNvGrpSpPr/>
            <p:nvPr/>
          </p:nvGrpSpPr>
          <p:grpSpPr>
            <a:xfrm>
              <a:off x="995362" y="2386012"/>
              <a:ext cx="142875" cy="142875"/>
              <a:chOff x="995362" y="2386012"/>
              <a:chExt cx="142875" cy="142875"/>
            </a:xfrm>
          </p:grpSpPr>
          <p:sp>
            <p:nvSpPr>
              <p:cNvPr id="17" name="Freeform 17"/>
              <p:cNvSpPr/>
              <p:nvPr/>
            </p:nvSpPr>
            <p:spPr>
              <a:xfrm>
                <a:off x="1050925" y="23860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74726"/>
                </a:solidFill>
              </a:ln>
            </p:spPr>
          </p:sp>
          <p:sp>
            <p:nvSpPr>
              <p:cNvPr id="18" name="Freeform 18"/>
              <p:cNvSpPr/>
              <p:nvPr/>
            </p:nvSpPr>
            <p:spPr>
              <a:xfrm>
                <a:off x="995362" y="24971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74726"/>
                </a:solidFill>
              </a:ln>
            </p:spPr>
          </p:sp>
          <p:sp>
            <p:nvSpPr>
              <p:cNvPr id="19" name="Freeform 19"/>
              <p:cNvSpPr/>
              <p:nvPr/>
            </p:nvSpPr>
            <p:spPr>
              <a:xfrm>
                <a:off x="1106487" y="24971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74726"/>
                </a:solidFill>
              </a:ln>
            </p:spPr>
          </p:sp>
          <p:sp>
            <p:nvSpPr>
              <p:cNvPr id="20" name="Freeform 20"/>
              <p:cNvSpPr/>
              <p:nvPr/>
            </p:nvSpPr>
            <p:spPr>
              <a:xfrm>
                <a:off x="1023144" y="2465387"/>
                <a:ext cx="87312" cy="35719"/>
              </a:xfrm>
              <a:custGeom>
                <a:avLst/>
                <a:gdLst/>
                <a:ahLst/>
                <a:cxnLst/>
                <a:rect l="l" t="t" r="r" b="b"/>
                <a:pathLst>
                  <a:path w="87312" h="35719">
                    <a:moveTo>
                      <a:pt x="0" y="35719"/>
                    </a:moveTo>
                    <a:lnTo>
                      <a:pt x="43656" y="0"/>
                    </a:lnTo>
                    <a:lnTo>
                      <a:pt x="87312" y="35719"/>
                    </a:lnTo>
                  </a:path>
                </a:pathLst>
              </a:custGeom>
              <a:noFill/>
              <a:ln w="15875">
                <a:solidFill>
                  <a:srgbClr val="E74726"/>
                </a:solidFill>
              </a:ln>
            </p:spPr>
          </p:sp>
          <p:sp>
            <p:nvSpPr>
              <p:cNvPr id="21" name="Freeform 21"/>
              <p:cNvSpPr/>
              <p:nvPr/>
            </p:nvSpPr>
            <p:spPr>
              <a:xfrm>
                <a:off x="1066800" y="2417762"/>
                <a:ext cx="9525" cy="47625"/>
              </a:xfrm>
              <a:custGeom>
                <a:avLst/>
                <a:gdLst/>
                <a:ahLst/>
                <a:cxnLst/>
                <a:rect l="l" t="t" r="r" b="b"/>
                <a:pathLst>
                  <a:path w="9525" h="47625">
                    <a:moveTo>
                      <a:pt x="0" y="0"/>
                    </a:moveTo>
                    <a:lnTo>
                      <a:pt x="0" y="47625"/>
                    </a:lnTo>
                  </a:path>
                </a:pathLst>
              </a:custGeom>
              <a:noFill/>
              <a:ln w="15875">
                <a:solidFill>
                  <a:srgbClr val="E74726"/>
                </a:solidFill>
              </a:ln>
            </p:spPr>
          </p:sp>
        </p:grpSp>
        <p:sp>
          <p:nvSpPr>
            <p:cNvPr id="23" name="TextBox 23"/>
            <p:cNvSpPr txBox="1"/>
            <p:nvPr/>
          </p:nvSpPr>
          <p:spPr>
            <a:xfrm>
              <a:off x="1233106" y="2405301"/>
              <a:ext cx="826084" cy="198025"/>
            </a:xfrm>
            <a:prstGeom prst="rect">
              <a:avLst/>
            </a:prstGeom>
            <a:noFill/>
            <a:ln>
              <a:noFill/>
            </a:ln>
          </p:spPr>
          <p:txBody>
            <a:bodyPr wrap="none" lIns="0" tIns="0" rIns="0" bIns="0" anchor="t" anchorCtr="0">
              <a:spAutoFit/>
            </a:bodyPr>
            <a:lstStyle/>
            <a:p>
              <a:pPr algn="l"/>
              <a:r>
                <a:rPr lang="zh-CN" sz="1010" b="1" dirty="0">
                  <a:solidFill>
                    <a:srgbClr val="1F1F1F"/>
                  </a:solidFill>
                  <a:latin typeface="+mn-lt"/>
                  <a:ea typeface="+mn-ea"/>
                  <a:cs typeface="+mn-cs"/>
                </a:rPr>
                <a:t>四大特质匹配</a:t>
              </a:r>
            </a:p>
          </p:txBody>
        </p:sp>
        <p:sp>
          <p:nvSpPr>
            <p:cNvPr id="24" name="TextBox 24"/>
            <p:cNvSpPr txBox="1"/>
            <p:nvPr/>
          </p:nvSpPr>
          <p:spPr>
            <a:xfrm>
              <a:off x="1233488" y="2692241"/>
              <a:ext cx="1979958"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① 随存随取：满足高流动性资金使用需求</a:t>
              </a:r>
            </a:p>
          </p:txBody>
        </p:sp>
        <p:sp>
          <p:nvSpPr>
            <p:cNvPr id="25" name="TextBox 25"/>
            <p:cNvSpPr txBox="1"/>
            <p:nvPr/>
          </p:nvSpPr>
          <p:spPr>
            <a:xfrm>
              <a:off x="1233488" y="2882741"/>
              <a:ext cx="2200735"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② 起购门槛极低：适配长尾客群零散资金体量</a:t>
              </a:r>
            </a:p>
          </p:txBody>
        </p:sp>
        <p:sp>
          <p:nvSpPr>
            <p:cNvPr id="26" name="TextBox 26"/>
            <p:cNvSpPr txBox="1"/>
            <p:nvPr/>
          </p:nvSpPr>
          <p:spPr>
            <a:xfrm>
              <a:off x="1233488" y="3073241"/>
              <a:ext cx="2311123"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③ 期限灵活分层：分层覆盖短、中周期理财需求</a:t>
              </a:r>
            </a:p>
          </p:txBody>
        </p:sp>
        <p:sp>
          <p:nvSpPr>
            <p:cNvPr id="27" name="TextBox 27"/>
            <p:cNvSpPr txBox="1"/>
            <p:nvPr/>
          </p:nvSpPr>
          <p:spPr>
            <a:xfrm>
              <a:off x="1233488" y="3263741"/>
              <a:ext cx="2090346"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④ 风险等级偏低：契合客群稳健型投资偏好</a:t>
              </a:r>
            </a:p>
          </p:txBody>
        </p:sp>
        <p:grpSp>
          <p:nvGrpSpPr>
            <p:cNvPr id="31" name="Group 31"/>
            <p:cNvGrpSpPr/>
            <p:nvPr/>
          </p:nvGrpSpPr>
          <p:grpSpPr>
            <a:xfrm>
              <a:off x="1019175" y="3757612"/>
              <a:ext cx="95250" cy="142875"/>
              <a:chOff x="1019175" y="3757612"/>
              <a:chExt cx="95250" cy="142875"/>
            </a:xfrm>
          </p:grpSpPr>
          <p:sp>
            <p:nvSpPr>
              <p:cNvPr id="28" name="Freeform 28"/>
              <p:cNvSpPr/>
              <p:nvPr/>
            </p:nvSpPr>
            <p:spPr>
              <a:xfrm>
                <a:off x="1019175" y="375761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E74726"/>
                </a:solidFill>
              </a:ln>
            </p:spPr>
          </p:sp>
          <p:sp>
            <p:nvSpPr>
              <p:cNvPr id="29" name="Freeform 29"/>
              <p:cNvSpPr/>
              <p:nvPr/>
            </p:nvSpPr>
            <p:spPr>
              <a:xfrm>
                <a:off x="1058862" y="3765550"/>
                <a:ext cx="15875" cy="9525"/>
              </a:xfrm>
              <a:custGeom>
                <a:avLst/>
                <a:gdLst/>
                <a:ahLst/>
                <a:cxnLst/>
                <a:rect l="l" t="t" r="r" b="b"/>
                <a:pathLst>
                  <a:path w="15875" h="9525">
                    <a:moveTo>
                      <a:pt x="0" y="0"/>
                    </a:moveTo>
                    <a:lnTo>
                      <a:pt x="15875" y="0"/>
                    </a:lnTo>
                  </a:path>
                </a:pathLst>
              </a:custGeom>
              <a:noFill/>
              <a:ln w="15875">
                <a:solidFill>
                  <a:srgbClr val="E74726"/>
                </a:solidFill>
              </a:ln>
            </p:spPr>
          </p:sp>
          <p:sp>
            <p:nvSpPr>
              <p:cNvPr id="30" name="Freeform 30"/>
              <p:cNvSpPr/>
              <p:nvPr/>
            </p:nvSpPr>
            <p:spPr>
              <a:xfrm>
                <a:off x="1066800" y="3868737"/>
                <a:ext cx="9525" cy="9525"/>
              </a:xfrm>
              <a:custGeom>
                <a:avLst/>
                <a:gdLst/>
                <a:ahLst/>
                <a:cxnLst/>
                <a:rect l="l" t="t" r="r" b="b"/>
                <a:pathLst>
                  <a:path w="9525" h="9525">
                    <a:moveTo>
                      <a:pt x="0" y="0"/>
                    </a:moveTo>
                    <a:lnTo>
                      <a:pt x="0" y="79"/>
                    </a:lnTo>
                  </a:path>
                </a:pathLst>
              </a:custGeom>
              <a:noFill/>
              <a:ln w="15875">
                <a:solidFill>
                  <a:srgbClr val="E74726"/>
                </a:solidFill>
              </a:ln>
            </p:spPr>
          </p:sp>
        </p:grpSp>
        <p:sp>
          <p:nvSpPr>
            <p:cNvPr id="32" name="TextBox 32"/>
            <p:cNvSpPr txBox="1"/>
            <p:nvPr/>
          </p:nvSpPr>
          <p:spPr>
            <a:xfrm>
              <a:off x="1233106" y="3776901"/>
              <a:ext cx="1098017" cy="198025"/>
            </a:xfrm>
            <a:prstGeom prst="rect">
              <a:avLst/>
            </a:prstGeom>
            <a:noFill/>
            <a:ln>
              <a:noFill/>
            </a:ln>
          </p:spPr>
          <p:txBody>
            <a:bodyPr wrap="none" lIns="0" tIns="0" rIns="0" bIns="0" anchor="t" anchorCtr="0">
              <a:spAutoFit/>
            </a:bodyPr>
            <a:lstStyle/>
            <a:p>
              <a:pPr algn="l"/>
              <a:r>
                <a:rPr lang="zh-CN" sz="1010" b="1" dirty="0">
                  <a:solidFill>
                    <a:srgbClr val="1F1F1F"/>
                  </a:solidFill>
                  <a:latin typeface="+mn-lt"/>
                  <a:ea typeface="+mn-ea"/>
                  <a:cs typeface="+mn-cs"/>
                </a:rPr>
                <a:t>日常资金场景覆盖</a:t>
              </a:r>
            </a:p>
          </p:txBody>
        </p:sp>
        <p:sp>
          <p:nvSpPr>
            <p:cNvPr id="33" name="TextBox 33"/>
            <p:cNvSpPr txBox="1"/>
            <p:nvPr/>
          </p:nvSpPr>
          <p:spPr>
            <a:xfrm>
              <a:off x="1233488" y="4063841"/>
              <a:ext cx="2769235"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覆盖零钱打理、短期理财、稳健配置等日常资金管理需求</a:t>
              </a:r>
            </a:p>
          </p:txBody>
        </p:sp>
      </p:grpSp>
      <p:grpSp>
        <p:nvGrpSpPr>
          <p:cNvPr id="37" name="plus-circle"/>
          <p:cNvGrpSpPr/>
          <p:nvPr/>
        </p:nvGrpSpPr>
        <p:grpSpPr>
          <a:xfrm>
            <a:off x="5924550" y="3067050"/>
            <a:ext cx="342900" cy="369570"/>
            <a:chOff x="5924550" y="3067050"/>
            <a:chExt cx="342900" cy="369570"/>
          </a:xfrm>
        </p:grpSpPr>
        <p:sp>
          <p:nvSpPr>
            <p:cNvPr id="35" name="Ellipse 35"/>
            <p:cNvSpPr/>
            <p:nvPr/>
          </p:nvSpPr>
          <p:spPr>
            <a:xfrm>
              <a:off x="5924550" y="3067050"/>
              <a:ext cx="342900" cy="342900"/>
            </a:xfrm>
            <a:prstGeom prst="ellipse">
              <a:avLst/>
            </a:prstGeom>
            <a:solidFill>
              <a:srgbClr val="FFFFFF"/>
            </a:solidFill>
            <a:ln w="14288">
              <a:solidFill>
                <a:srgbClr val="E74726"/>
              </a:solidFill>
            </a:ln>
          </p:spPr>
        </p:sp>
        <p:sp>
          <p:nvSpPr>
            <p:cNvPr id="36" name="TextBox 36"/>
            <p:cNvSpPr txBox="1"/>
            <p:nvPr/>
          </p:nvSpPr>
          <p:spPr>
            <a:xfrm>
              <a:off x="5971765" y="3143250"/>
              <a:ext cx="248469" cy="293370"/>
            </a:xfrm>
            <a:prstGeom prst="rect">
              <a:avLst/>
            </a:prstGeom>
            <a:noFill/>
            <a:ln>
              <a:noFill/>
            </a:ln>
          </p:spPr>
          <p:txBody>
            <a:bodyPr wrap="none" lIns="0" tIns="0" rIns="0" bIns="0" anchor="t" anchorCtr="0">
              <a:spAutoFit/>
            </a:bodyPr>
            <a:lstStyle/>
            <a:p>
              <a:pPr algn="ctr"/>
              <a:r>
                <a:rPr lang="zh-CN" sz="1500" b="1" dirty="0">
                  <a:solidFill>
                    <a:srgbClr val="E74726"/>
                  </a:solidFill>
                  <a:latin typeface="+mn-lt"/>
                  <a:ea typeface="+mn-ea"/>
                  <a:cs typeface="+mn-cs"/>
                </a:rPr>
                <a:t>+​</a:t>
              </a:r>
            </a:p>
          </p:txBody>
        </p:sp>
      </p:grpSp>
      <p:grpSp>
        <p:nvGrpSpPr>
          <p:cNvPr id="60" name="card-operate"/>
          <p:cNvGrpSpPr/>
          <p:nvPr/>
        </p:nvGrpSpPr>
        <p:grpSpPr>
          <a:xfrm>
            <a:off x="6572250" y="1562100"/>
            <a:ext cx="5219700" cy="3486150"/>
            <a:chOff x="6572250" y="1562100"/>
            <a:chExt cx="5219700" cy="3486150"/>
          </a:xfrm>
        </p:grpSpPr>
        <p:sp>
          <p:nvSpPr>
            <p:cNvPr id="38" name="Rectangle 38"/>
            <p:cNvSpPr/>
            <p:nvPr/>
          </p:nvSpPr>
          <p:spPr>
            <a:xfrm>
              <a:off x="6838950" y="2038350"/>
              <a:ext cx="4953000" cy="3009900"/>
            </a:xfrm>
            <a:prstGeom prst="roundRect">
              <a:avLst>
                <a:gd name="adj" fmla="val 2532"/>
              </a:avLst>
            </a:prstGeom>
            <a:solidFill>
              <a:srgbClr val="FFFFFF"/>
            </a:solidFill>
            <a:ln w="11430">
              <a:solidFill>
                <a:srgbClr val="DCE8FB"/>
              </a:solidFill>
            </a:ln>
          </p:spPr>
        </p:sp>
        <p:sp>
          <p:nvSpPr>
            <p:cNvPr id="39" name="Rectangle 39"/>
            <p:cNvSpPr/>
            <p:nvPr/>
          </p:nvSpPr>
          <p:spPr>
            <a:xfrm>
              <a:off x="7124700" y="1619250"/>
              <a:ext cx="4667250" cy="419100"/>
            </a:xfrm>
            <a:prstGeom prst="roundRect">
              <a:avLst>
                <a:gd name="adj" fmla="val 18182"/>
              </a:avLst>
            </a:prstGeom>
            <a:solidFill>
              <a:srgbClr val="E74726"/>
            </a:solidFill>
            <a:ln>
              <a:noFill/>
            </a:ln>
          </p:spPr>
        </p:sp>
        <p:sp>
          <p:nvSpPr>
            <p:cNvPr id="40" name="TextBox 40"/>
            <p:cNvSpPr txBox="1"/>
            <p:nvPr/>
          </p:nvSpPr>
          <p:spPr>
            <a:xfrm>
              <a:off x="8246415" y="1774031"/>
              <a:ext cx="242382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呈现运营端：快速激发需求促成转化</a:t>
              </a:r>
            </a:p>
          </p:txBody>
        </p:sp>
        <p:sp>
          <p:nvSpPr>
            <p:cNvPr id="41" name="Ellipse 41"/>
            <p:cNvSpPr/>
            <p:nvPr/>
          </p:nvSpPr>
          <p:spPr>
            <a:xfrm>
              <a:off x="6572250" y="1562100"/>
              <a:ext cx="533400" cy="533400"/>
            </a:xfrm>
            <a:prstGeom prst="ellipse">
              <a:avLst/>
            </a:prstGeom>
            <a:solidFill>
              <a:srgbClr val="FFFFFF"/>
            </a:solidFill>
            <a:ln w="19050">
              <a:solidFill>
                <a:srgbClr val="E74726"/>
              </a:solidFill>
            </a:ln>
          </p:spPr>
        </p:sp>
        <p:grpSp>
          <p:nvGrpSpPr>
            <p:cNvPr id="46" name="Group 46"/>
            <p:cNvGrpSpPr/>
            <p:nvPr/>
          </p:nvGrpSpPr>
          <p:grpSpPr>
            <a:xfrm>
              <a:off x="6724650" y="1727200"/>
              <a:ext cx="228599" cy="212724"/>
              <a:chOff x="6724650" y="1727200"/>
              <a:chExt cx="228599" cy="212724"/>
            </a:xfrm>
          </p:grpSpPr>
          <p:sp>
            <p:nvSpPr>
              <p:cNvPr id="42" name="Freeform 42"/>
              <p:cNvSpPr/>
              <p:nvPr/>
            </p:nvSpPr>
            <p:spPr>
              <a:xfrm>
                <a:off x="6724650" y="1727200"/>
                <a:ext cx="228599" cy="152400"/>
              </a:xfrm>
              <a:custGeom>
                <a:avLst/>
                <a:gdLst/>
                <a:ahLst/>
                <a:cxnLst/>
                <a:rect l="l" t="t" r="r" b="b"/>
                <a:pathLst>
                  <a:path w="228599" h="152400">
                    <a:moveTo>
                      <a:pt x="0" y="12700"/>
                    </a:moveTo>
                    <a:cubicBezTo>
                      <a:pt x="0" y="5686"/>
                      <a:pt x="5686" y="0"/>
                      <a:pt x="12700" y="0"/>
                    </a:cubicBezTo>
                    <a:lnTo>
                      <a:pt x="215899" y="0"/>
                    </a:lnTo>
                    <a:cubicBezTo>
                      <a:pt x="222913" y="0"/>
                      <a:pt x="228599" y="5686"/>
                      <a:pt x="228599" y="12700"/>
                    </a:cubicBezTo>
                    <a:lnTo>
                      <a:pt x="228599" y="139700"/>
                    </a:lnTo>
                    <a:cubicBezTo>
                      <a:pt x="228599" y="146714"/>
                      <a:pt x="222913" y="152400"/>
                      <a:pt x="215899" y="152400"/>
                    </a:cubicBezTo>
                    <a:lnTo>
                      <a:pt x="12700" y="152400"/>
                    </a:lnTo>
                    <a:cubicBezTo>
                      <a:pt x="5686" y="152400"/>
                      <a:pt x="0" y="146714"/>
                      <a:pt x="0" y="139700"/>
                    </a:cubicBezTo>
                    <a:lnTo>
                      <a:pt x="0" y="12700"/>
                    </a:lnTo>
                  </a:path>
                </a:pathLst>
              </a:custGeom>
              <a:noFill/>
              <a:ln w="25400">
                <a:solidFill>
                  <a:srgbClr val="E74726"/>
                </a:solidFill>
              </a:ln>
            </p:spPr>
          </p:sp>
          <p:sp>
            <p:nvSpPr>
              <p:cNvPr id="43" name="Freeform 43"/>
              <p:cNvSpPr/>
              <p:nvPr/>
            </p:nvSpPr>
            <p:spPr>
              <a:xfrm>
                <a:off x="6775450" y="1930399"/>
                <a:ext cx="127000" cy="9525"/>
              </a:xfrm>
              <a:custGeom>
                <a:avLst/>
                <a:gdLst/>
                <a:ahLst/>
                <a:cxnLst/>
                <a:rect l="l" t="t" r="r" b="b"/>
                <a:pathLst>
                  <a:path w="127000" h="9525">
                    <a:moveTo>
                      <a:pt x="0" y="0"/>
                    </a:moveTo>
                    <a:lnTo>
                      <a:pt x="127000" y="0"/>
                    </a:lnTo>
                  </a:path>
                </a:pathLst>
              </a:custGeom>
              <a:noFill/>
              <a:ln w="25400">
                <a:solidFill>
                  <a:srgbClr val="E74726"/>
                </a:solidFill>
              </a:ln>
            </p:spPr>
          </p:sp>
          <p:sp>
            <p:nvSpPr>
              <p:cNvPr id="44" name="Freeform 44"/>
              <p:cNvSpPr/>
              <p:nvPr/>
            </p:nvSpPr>
            <p:spPr>
              <a:xfrm>
                <a:off x="6800850" y="1879599"/>
                <a:ext cx="9525" cy="50800"/>
              </a:xfrm>
              <a:custGeom>
                <a:avLst/>
                <a:gdLst/>
                <a:ahLst/>
                <a:cxnLst/>
                <a:rect l="l" t="t" r="r" b="b"/>
                <a:pathLst>
                  <a:path w="9525" h="50800">
                    <a:moveTo>
                      <a:pt x="0" y="0"/>
                    </a:moveTo>
                    <a:lnTo>
                      <a:pt x="0" y="50800"/>
                    </a:lnTo>
                  </a:path>
                </a:pathLst>
              </a:custGeom>
              <a:noFill/>
              <a:ln w="25400">
                <a:solidFill>
                  <a:srgbClr val="E74726"/>
                </a:solidFill>
              </a:ln>
            </p:spPr>
          </p:sp>
          <p:sp>
            <p:nvSpPr>
              <p:cNvPr id="45" name="Freeform 45"/>
              <p:cNvSpPr/>
              <p:nvPr/>
            </p:nvSpPr>
            <p:spPr>
              <a:xfrm>
                <a:off x="6877050" y="1879599"/>
                <a:ext cx="9525" cy="50800"/>
              </a:xfrm>
              <a:custGeom>
                <a:avLst/>
                <a:gdLst/>
                <a:ahLst/>
                <a:cxnLst/>
                <a:rect l="l" t="t" r="r" b="b"/>
                <a:pathLst>
                  <a:path w="9525" h="50800">
                    <a:moveTo>
                      <a:pt x="0" y="0"/>
                    </a:moveTo>
                    <a:lnTo>
                      <a:pt x="0" y="50800"/>
                    </a:lnTo>
                  </a:path>
                </a:pathLst>
              </a:custGeom>
              <a:noFill/>
              <a:ln w="25400">
                <a:solidFill>
                  <a:srgbClr val="E74726"/>
                </a:solidFill>
              </a:ln>
            </p:spPr>
          </p:sp>
        </p:grpSp>
        <p:grpSp>
          <p:nvGrpSpPr>
            <p:cNvPr id="50" name="Group 50"/>
            <p:cNvGrpSpPr/>
            <p:nvPr/>
          </p:nvGrpSpPr>
          <p:grpSpPr>
            <a:xfrm>
              <a:off x="7088187" y="2386012"/>
              <a:ext cx="111125" cy="142875"/>
              <a:chOff x="7088187" y="2386012"/>
              <a:chExt cx="111125" cy="142875"/>
            </a:xfrm>
          </p:grpSpPr>
          <p:sp>
            <p:nvSpPr>
              <p:cNvPr id="47" name="Freeform 47"/>
              <p:cNvSpPr/>
              <p:nvPr/>
            </p:nvSpPr>
            <p:spPr>
              <a:xfrm>
                <a:off x="7088187" y="243363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E74726"/>
                </a:solidFill>
              </a:ln>
            </p:spPr>
          </p:sp>
          <p:sp>
            <p:nvSpPr>
              <p:cNvPr id="48" name="Freeform 48"/>
              <p:cNvSpPr/>
              <p:nvPr/>
            </p:nvSpPr>
            <p:spPr>
              <a:xfrm>
                <a:off x="7143750" y="2386012"/>
                <a:ext cx="9525" cy="87312"/>
              </a:xfrm>
              <a:custGeom>
                <a:avLst/>
                <a:gdLst/>
                <a:ahLst/>
                <a:cxnLst/>
                <a:rect l="l" t="t" r="r" b="b"/>
                <a:pathLst>
                  <a:path w="9525" h="87312">
                    <a:moveTo>
                      <a:pt x="0" y="87312"/>
                    </a:moveTo>
                    <a:lnTo>
                      <a:pt x="0" y="0"/>
                    </a:lnTo>
                  </a:path>
                </a:pathLst>
              </a:custGeom>
              <a:noFill/>
              <a:ln w="15875">
                <a:solidFill>
                  <a:srgbClr val="E74726"/>
                </a:solidFill>
              </a:ln>
            </p:spPr>
          </p:sp>
          <p:sp>
            <p:nvSpPr>
              <p:cNvPr id="49" name="Freeform 49"/>
              <p:cNvSpPr/>
              <p:nvPr/>
            </p:nvSpPr>
            <p:spPr>
              <a:xfrm>
                <a:off x="7119937" y="2386012"/>
                <a:ext cx="47625" cy="23812"/>
              </a:xfrm>
              <a:custGeom>
                <a:avLst/>
                <a:gdLst/>
                <a:ahLst/>
                <a:cxnLst/>
                <a:rect l="l" t="t" r="r" b="b"/>
                <a:pathLst>
                  <a:path w="47625" h="23812">
                    <a:moveTo>
                      <a:pt x="0" y="23812"/>
                    </a:moveTo>
                    <a:lnTo>
                      <a:pt x="23812" y="0"/>
                    </a:lnTo>
                    <a:lnTo>
                      <a:pt x="47625" y="23812"/>
                    </a:lnTo>
                  </a:path>
                </a:pathLst>
              </a:custGeom>
              <a:noFill/>
              <a:ln w="15875">
                <a:solidFill>
                  <a:srgbClr val="E74726"/>
                </a:solidFill>
              </a:ln>
            </p:spPr>
          </p:sp>
        </p:grpSp>
        <p:sp>
          <p:nvSpPr>
            <p:cNvPr id="51" name="TextBox 51"/>
            <p:cNvSpPr txBox="1"/>
            <p:nvPr/>
          </p:nvSpPr>
          <p:spPr>
            <a:xfrm>
              <a:off x="7310056" y="2405301"/>
              <a:ext cx="826084" cy="198025"/>
            </a:xfrm>
            <a:prstGeom prst="rect">
              <a:avLst/>
            </a:prstGeom>
            <a:noFill/>
            <a:ln>
              <a:noFill/>
            </a:ln>
          </p:spPr>
          <p:txBody>
            <a:bodyPr wrap="none" lIns="0" tIns="0" rIns="0" bIns="0" anchor="t" anchorCtr="0">
              <a:spAutoFit/>
            </a:bodyPr>
            <a:lstStyle/>
            <a:p>
              <a:pPr algn="l"/>
              <a:r>
                <a:rPr lang="zh-CN" sz="1010" b="1" dirty="0">
                  <a:solidFill>
                    <a:srgbClr val="1F1F1F"/>
                  </a:solidFill>
                  <a:latin typeface="+mn-lt"/>
                  <a:ea typeface="+mn-ea"/>
                  <a:cs typeface="+mn-cs"/>
                </a:rPr>
                <a:t>表达去专业化</a:t>
              </a:r>
            </a:p>
          </p:txBody>
        </p:sp>
        <p:sp>
          <p:nvSpPr>
            <p:cNvPr id="52" name="TextBox 52"/>
            <p:cNvSpPr txBox="1"/>
            <p:nvPr/>
          </p:nvSpPr>
          <p:spPr>
            <a:xfrm>
              <a:off x="7310438" y="2692241"/>
              <a:ext cx="3100400"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弱化专业术语与复杂投资逻辑，实现一键认知、一键购买、一键</a:t>
              </a:r>
            </a:p>
          </p:txBody>
        </p:sp>
        <p:sp>
          <p:nvSpPr>
            <p:cNvPr id="53" name="TextBox 53"/>
            <p:cNvSpPr txBox="1"/>
            <p:nvPr/>
          </p:nvSpPr>
          <p:spPr>
            <a:xfrm>
              <a:off x="7310438" y="2882741"/>
              <a:ext cx="1554963"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赎回，零理财基础也可轻松参与</a:t>
              </a:r>
            </a:p>
          </p:txBody>
        </p:sp>
        <p:grpSp>
          <p:nvGrpSpPr>
            <p:cNvPr id="56" name="Group 56"/>
            <p:cNvGrpSpPr/>
            <p:nvPr/>
          </p:nvGrpSpPr>
          <p:grpSpPr>
            <a:xfrm>
              <a:off x="7072312" y="3351212"/>
              <a:ext cx="142875" cy="79375"/>
              <a:chOff x="7072312" y="3351212"/>
              <a:chExt cx="142875" cy="79375"/>
            </a:xfrm>
          </p:grpSpPr>
          <p:sp>
            <p:nvSpPr>
              <p:cNvPr id="54" name="Freeform 54"/>
              <p:cNvSpPr/>
              <p:nvPr/>
            </p:nvSpPr>
            <p:spPr>
              <a:xfrm>
                <a:off x="7072312" y="335121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E74726"/>
                </a:solidFill>
              </a:ln>
            </p:spPr>
          </p:sp>
          <p:sp>
            <p:nvSpPr>
              <p:cNvPr id="55" name="Freeform 55"/>
              <p:cNvSpPr/>
              <p:nvPr/>
            </p:nvSpPr>
            <p:spPr>
              <a:xfrm>
                <a:off x="7159625" y="3351212"/>
                <a:ext cx="55562" cy="55562"/>
              </a:xfrm>
              <a:custGeom>
                <a:avLst/>
                <a:gdLst/>
                <a:ahLst/>
                <a:cxnLst/>
                <a:rect l="l" t="t" r="r" b="b"/>
                <a:pathLst>
                  <a:path w="55562" h="55562">
                    <a:moveTo>
                      <a:pt x="0" y="0"/>
                    </a:moveTo>
                    <a:lnTo>
                      <a:pt x="55562" y="0"/>
                    </a:lnTo>
                    <a:lnTo>
                      <a:pt x="55562" y="55562"/>
                    </a:lnTo>
                  </a:path>
                </a:pathLst>
              </a:custGeom>
              <a:noFill/>
              <a:ln w="15875">
                <a:solidFill>
                  <a:srgbClr val="E74726"/>
                </a:solidFill>
              </a:ln>
            </p:spPr>
          </p:sp>
        </p:grpSp>
        <p:sp>
          <p:nvSpPr>
            <p:cNvPr id="57" name="TextBox 57"/>
            <p:cNvSpPr txBox="1"/>
            <p:nvPr/>
          </p:nvSpPr>
          <p:spPr>
            <a:xfrm>
              <a:off x="7310056" y="3338751"/>
              <a:ext cx="962050" cy="198025"/>
            </a:xfrm>
            <a:prstGeom prst="rect">
              <a:avLst/>
            </a:prstGeom>
            <a:noFill/>
            <a:ln>
              <a:noFill/>
            </a:ln>
          </p:spPr>
          <p:txBody>
            <a:bodyPr wrap="none" lIns="0" tIns="0" rIns="0" bIns="0" anchor="t" anchorCtr="0">
              <a:spAutoFit/>
            </a:bodyPr>
            <a:lstStyle/>
            <a:p>
              <a:pPr algn="l"/>
              <a:r>
                <a:rPr lang="zh-CN" sz="1010" b="1" dirty="0">
                  <a:solidFill>
                    <a:srgbClr val="1F1F1F"/>
                  </a:solidFill>
                  <a:latin typeface="+mn-lt"/>
                  <a:ea typeface="+mn-ea"/>
                  <a:cs typeface="+mn-cs"/>
                </a:rPr>
                <a:t>黄金位集中曝光</a:t>
              </a:r>
            </a:p>
          </p:txBody>
        </p:sp>
        <p:sp>
          <p:nvSpPr>
            <p:cNvPr id="58" name="TextBox 58"/>
            <p:cNvSpPr txBox="1"/>
            <p:nvPr/>
          </p:nvSpPr>
          <p:spPr>
            <a:xfrm>
              <a:off x="7310438" y="3625691"/>
              <a:ext cx="3210789"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将最主推、最易参与的产品置于财富频道首页黄金位集中曝光、专</a:t>
              </a:r>
            </a:p>
          </p:txBody>
        </p:sp>
        <p:sp>
          <p:nvSpPr>
            <p:cNvPr id="59" name="TextBox 59"/>
            <p:cNvSpPr txBox="1"/>
            <p:nvPr/>
          </p:nvSpPr>
          <p:spPr>
            <a:xfrm>
              <a:off x="7310438" y="3816191"/>
              <a:ext cx="3100400"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区聚合，在客户浏览的第一时间触达，规模化承接自然浏览流量</a:t>
              </a:r>
            </a:p>
          </p:txBody>
        </p:sp>
      </p:grpSp>
      <p:grpSp>
        <p:nvGrpSpPr>
          <p:cNvPr id="68" name="path-banner"/>
          <p:cNvGrpSpPr/>
          <p:nvPr/>
        </p:nvGrpSpPr>
        <p:grpSpPr>
          <a:xfrm>
            <a:off x="476250" y="5295900"/>
            <a:ext cx="11334750" cy="552450"/>
            <a:chOff x="476250" y="5295900"/>
            <a:chExt cx="11334750" cy="552450"/>
          </a:xfrm>
        </p:grpSpPr>
        <p:sp>
          <p:nvSpPr>
            <p:cNvPr id="61" name="Rectangle 61"/>
            <p:cNvSpPr/>
            <p:nvPr/>
          </p:nvSpPr>
          <p:spPr>
            <a:xfrm>
              <a:off x="476250" y="5295900"/>
              <a:ext cx="11334750" cy="552450"/>
            </a:xfrm>
            <a:prstGeom prst="roundRect">
              <a:avLst>
                <a:gd name="adj" fmla="val 13793"/>
              </a:avLst>
            </a:prstGeom>
            <a:solidFill>
              <a:srgbClr val="F4F8FE"/>
            </a:solidFill>
            <a:ln w="11430">
              <a:solidFill>
                <a:srgbClr val="E74726"/>
              </a:solidFill>
            </a:ln>
          </p:spPr>
        </p:sp>
        <p:grpSp>
          <p:nvGrpSpPr>
            <p:cNvPr id="66" name="Group 66"/>
            <p:cNvGrpSpPr/>
            <p:nvPr/>
          </p:nvGrpSpPr>
          <p:grpSpPr>
            <a:xfrm>
              <a:off x="700088" y="5483225"/>
              <a:ext cx="200026" cy="177800"/>
              <a:chOff x="700088" y="5483225"/>
              <a:chExt cx="200026" cy="177800"/>
            </a:xfrm>
          </p:grpSpPr>
          <p:sp>
            <p:nvSpPr>
              <p:cNvPr id="62" name="Freeform 62"/>
              <p:cNvSpPr/>
              <p:nvPr/>
            </p:nvSpPr>
            <p:spPr>
              <a:xfrm>
                <a:off x="700088" y="5516563"/>
                <a:ext cx="200026" cy="9525"/>
              </a:xfrm>
              <a:custGeom>
                <a:avLst/>
                <a:gdLst/>
                <a:ahLst/>
                <a:cxnLst/>
                <a:rect l="l" t="t" r="r" b="b"/>
                <a:pathLst>
                  <a:path w="200026" h="9525">
                    <a:moveTo>
                      <a:pt x="200026" y="0"/>
                    </a:moveTo>
                    <a:lnTo>
                      <a:pt x="0" y="0"/>
                    </a:lnTo>
                  </a:path>
                </a:pathLst>
              </a:custGeom>
              <a:noFill/>
              <a:ln w="22225">
                <a:solidFill>
                  <a:srgbClr val="E74726"/>
                </a:solidFill>
              </a:ln>
            </p:spPr>
          </p:sp>
          <p:sp>
            <p:nvSpPr>
              <p:cNvPr id="63" name="Freeform 63"/>
              <p:cNvSpPr/>
              <p:nvPr/>
            </p:nvSpPr>
            <p:spPr>
              <a:xfrm>
                <a:off x="866776" y="5483225"/>
                <a:ext cx="33338" cy="66675"/>
              </a:xfrm>
              <a:custGeom>
                <a:avLst/>
                <a:gdLst/>
                <a:ahLst/>
                <a:cxnLst/>
                <a:rect l="l" t="t" r="r" b="b"/>
                <a:pathLst>
                  <a:path w="33338" h="66675">
                    <a:moveTo>
                      <a:pt x="0" y="66675"/>
                    </a:moveTo>
                    <a:lnTo>
                      <a:pt x="33338" y="33338"/>
                    </a:lnTo>
                    <a:lnTo>
                      <a:pt x="0" y="0"/>
                    </a:lnTo>
                  </a:path>
                </a:pathLst>
              </a:custGeom>
              <a:noFill/>
              <a:ln w="22225">
                <a:solidFill>
                  <a:srgbClr val="E74726"/>
                </a:solidFill>
              </a:ln>
            </p:spPr>
          </p:sp>
          <p:sp>
            <p:nvSpPr>
              <p:cNvPr id="64" name="Freeform 64"/>
              <p:cNvSpPr/>
              <p:nvPr/>
            </p:nvSpPr>
            <p:spPr>
              <a:xfrm>
                <a:off x="700088" y="5594350"/>
                <a:ext cx="33338" cy="66675"/>
              </a:xfrm>
              <a:custGeom>
                <a:avLst/>
                <a:gdLst/>
                <a:ahLst/>
                <a:cxnLst/>
                <a:rect l="l" t="t" r="r" b="b"/>
                <a:pathLst>
                  <a:path w="33338" h="66675">
                    <a:moveTo>
                      <a:pt x="33338" y="66675"/>
                    </a:moveTo>
                    <a:lnTo>
                      <a:pt x="0" y="33338"/>
                    </a:lnTo>
                    <a:lnTo>
                      <a:pt x="33338" y="0"/>
                    </a:lnTo>
                  </a:path>
                </a:pathLst>
              </a:custGeom>
              <a:noFill/>
              <a:ln w="22225">
                <a:solidFill>
                  <a:srgbClr val="E74726"/>
                </a:solidFill>
              </a:ln>
            </p:spPr>
          </p:sp>
          <p:sp>
            <p:nvSpPr>
              <p:cNvPr id="65" name="Freeform 65"/>
              <p:cNvSpPr/>
              <p:nvPr/>
            </p:nvSpPr>
            <p:spPr>
              <a:xfrm>
                <a:off x="700088" y="5627688"/>
                <a:ext cx="200026" cy="9525"/>
              </a:xfrm>
              <a:custGeom>
                <a:avLst/>
                <a:gdLst/>
                <a:ahLst/>
                <a:cxnLst/>
                <a:rect l="l" t="t" r="r" b="b"/>
                <a:pathLst>
                  <a:path w="200026" h="9525">
                    <a:moveTo>
                      <a:pt x="0" y="0"/>
                    </a:moveTo>
                    <a:lnTo>
                      <a:pt x="200026" y="0"/>
                    </a:lnTo>
                  </a:path>
                </a:pathLst>
              </a:custGeom>
              <a:noFill/>
              <a:ln w="22225">
                <a:solidFill>
                  <a:srgbClr val="E74726"/>
                </a:solidFill>
              </a:ln>
            </p:spPr>
          </p:sp>
        </p:grpSp>
        <p:sp>
          <p:nvSpPr>
            <p:cNvPr id="67" name="TextBox 67"/>
            <p:cNvSpPr txBox="1"/>
            <p:nvPr/>
          </p:nvSpPr>
          <p:spPr>
            <a:xfrm>
              <a:off x="1042797" y="5524024"/>
              <a:ext cx="7303013"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触达路径：</a:t>
              </a:r>
              <a:r>
                <a:rPr lang="zh-CN" sz="980" dirty="0">
                  <a:solidFill>
                    <a:srgbClr val="E74726"/>
                  </a:solidFill>
                  <a:latin typeface="+mn-lt"/>
                  <a:ea typeface="+mn-ea"/>
                  <a:cs typeface="+mn-cs"/>
                </a:rPr>
                <a:t>构建“引流—停留—留存—复购—资产升级”的完整运营闭环，持续提升App打开频次、产品持有率与活钱转化率​​​​​​</a:t>
              </a:r>
            </a:p>
          </p:txBody>
        </p:sp>
      </p:grpSp>
      <p:sp>
        <p:nvSpPr>
          <p:cNvPr id="69" name="TextBox 69"/>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16</a:t>
              </a:r>
            </a:p>
          </p:txBody>
        </p:sp>
        <p:sp>
          <p:nvSpPr>
            <p:cNvPr id="4" name="TextBox 4"/>
            <p:cNvSpPr txBox="1"/>
            <p:nvPr/>
          </p:nvSpPr>
          <p:spPr>
            <a:xfrm>
              <a:off x="942594" y="151448"/>
              <a:ext cx="5228783"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2.2.2 产品运营｜</a:t>
              </a:r>
              <a:r>
                <a:rPr lang="zh-CN" sz="1950" b="1" dirty="0">
                  <a:solidFill>
                    <a:srgbClr val="E74726"/>
                  </a:solidFill>
                  <a:latin typeface="SimSun"/>
                  <a:ea typeface="SimSun"/>
                  <a:cs typeface="SimSun"/>
                </a:rPr>
                <a:t>招行银行</a:t>
              </a:r>
              <a:r>
                <a:rPr lang="zh-CN" sz="1950" b="1" dirty="0">
                  <a:solidFill>
                    <a:srgbClr val="1F1F1F"/>
                  </a:solidFill>
                  <a:latin typeface="SimSun"/>
                  <a:ea typeface="SimSun"/>
                  <a:cs typeface="SimSun"/>
                </a:rPr>
                <a:t>产品运营示例​</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7307207" cy="551260"/>
            <a:chOff x="566166" y="667702"/>
            <a:chExt cx="7307207" cy="551260"/>
          </a:xfrm>
        </p:grpSpPr>
        <p:sp>
          <p:nvSpPr>
            <p:cNvPr id="8" name="TextBox 8"/>
            <p:cNvSpPr txBox="1"/>
            <p:nvPr/>
          </p:nvSpPr>
          <p:spPr>
            <a:xfrm>
              <a:off x="566166" y="667702"/>
              <a:ext cx="7307207"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梯度产品体系(朝朝宝入门→朝朝盈进阶→多宝系列升级)匹配去术语化、场景化、决策轻量化运营，驱动产品转化​​​​</a:t>
              </a:r>
            </a:p>
          </p:txBody>
        </p:sp>
        <p:sp>
          <p:nvSpPr>
            <p:cNvPr id="9" name="TextBox 9"/>
            <p:cNvSpPr txBox="1"/>
            <p:nvPr/>
          </p:nvSpPr>
          <p:spPr>
            <a:xfrm>
              <a:off x="566738" y="887968"/>
              <a:ext cx="6631752"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产品端以朝朝宝-朝朝盈-多宝系列搭建轻量化阶梯矩阵，降低理财入门门槛；运营端以去专业化表达、从众效应背书、他行资金​​</a:t>
              </a:r>
            </a:p>
          </p:txBody>
        </p:sp>
        <p:sp>
          <p:nvSpPr>
            <p:cNvPr id="10" name="TextBox 10"/>
            <p:cNvSpPr txBox="1"/>
            <p:nvPr/>
          </p:nvSpPr>
          <p:spPr>
            <a:xfrm>
              <a:off x="566738" y="1049893"/>
              <a:ext cx="3945814"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归集、阶梯产品引导等手段，承接活钱并推动长尾客户向阶段性稳健配置进阶</a:t>
              </a:r>
            </a:p>
          </p:txBody>
        </p:sp>
      </p:grpSp>
      <p:grpSp>
        <p:nvGrpSpPr>
          <p:cNvPr id="14" name="matrix-label"/>
          <p:cNvGrpSpPr/>
          <p:nvPr/>
        </p:nvGrpSpPr>
        <p:grpSpPr>
          <a:xfrm>
            <a:off x="381000" y="1295400"/>
            <a:ext cx="400050" cy="1752600"/>
            <a:chOff x="381000" y="1295400"/>
            <a:chExt cx="400050" cy="1752600"/>
          </a:xfrm>
        </p:grpSpPr>
        <p:sp>
          <p:nvSpPr>
            <p:cNvPr id="12" name="Rectangle 12"/>
            <p:cNvSpPr/>
            <p:nvPr/>
          </p:nvSpPr>
          <p:spPr>
            <a:xfrm>
              <a:off x="381000" y="1295400"/>
              <a:ext cx="400050" cy="1752600"/>
            </a:xfrm>
            <a:prstGeom prst="roundRect">
              <a:avLst>
                <a:gd name="adj" fmla="val 14286"/>
              </a:avLst>
            </a:prstGeom>
            <a:solidFill>
              <a:srgbClr val="E74726"/>
            </a:solidFill>
            <a:ln>
              <a:noFill/>
            </a:ln>
          </p:spPr>
        </p:sp>
        <p:sp>
          <p:nvSpPr>
            <p:cNvPr id="13" name="TextBox 13"/>
            <p:cNvSpPr txBox="1"/>
            <p:nvPr/>
          </p:nvSpPr>
          <p:spPr>
            <a:xfrm>
              <a:off x="516572" y="1708547"/>
              <a:ext cx="128905" cy="831056"/>
            </a:xfrm>
            <a:prstGeom prst="rect">
              <a:avLst/>
            </a:prstGeom>
            <a:noFill/>
            <a:ln>
              <a:noFill/>
            </a:ln>
          </p:spPr>
          <p:txBody>
            <a:bodyPr wrap="none" lIns="0" tIns="0" rIns="0" bIns="0" anchor="t" anchorCtr="0">
              <a:spAutoFit/>
            </a:bodyPr>
            <a:lstStyle/>
            <a:p>
              <a:pPr algn="ctr">
                <a:lnSpc>
                  <a:spcPts val="1275"/>
                </a:lnSpc>
              </a:pPr>
              <a:r>
                <a:rPr lang="zh-CN" sz="940" b="1" dirty="0">
                  <a:solidFill>
                    <a:srgbClr val="FFFFFF"/>
                  </a:solidFill>
                  <a:latin typeface="+mn-lt"/>
                  <a:ea typeface="+mn-ea"/>
                  <a:cs typeface="+mn-cs"/>
                </a:rPr>
                <a:t>轻</a:t>
              </a:r>
              <a:br/>
              <a:r>
                <a:rPr lang="zh-CN" sz="940" b="1" dirty="0">
                  <a:solidFill>
                    <a:srgbClr val="FFFFFF"/>
                  </a:solidFill>
                  <a:latin typeface="+mn-lt"/>
                  <a:ea typeface="+mn-ea"/>
                  <a:cs typeface="+mn-cs"/>
                </a:rPr>
                <a:t>量</a:t>
              </a:r>
              <a:br/>
              <a:r>
                <a:rPr lang="zh-CN" sz="940" b="1" dirty="0">
                  <a:solidFill>
                    <a:srgbClr val="FFFFFF"/>
                  </a:solidFill>
                  <a:latin typeface="+mn-lt"/>
                  <a:ea typeface="+mn-ea"/>
                  <a:cs typeface="+mn-cs"/>
                </a:rPr>
                <a:t>化</a:t>
              </a:r>
              <a:br/>
              <a:r>
                <a:rPr lang="zh-CN" sz="940" b="1" dirty="0">
                  <a:solidFill>
                    <a:srgbClr val="FFFFFF"/>
                  </a:solidFill>
                  <a:latin typeface="+mn-lt"/>
                  <a:ea typeface="+mn-ea"/>
                  <a:cs typeface="+mn-cs"/>
                </a:rPr>
                <a:t>矩</a:t>
              </a:r>
              <a:br/>
              <a:r>
                <a:rPr lang="zh-CN" sz="940" b="1" dirty="0">
                  <a:solidFill>
                    <a:srgbClr val="FFFFFF"/>
                  </a:solidFill>
                  <a:latin typeface="+mn-lt"/>
                  <a:ea typeface="+mn-ea"/>
                  <a:cs typeface="+mn-cs"/>
                </a:rPr>
                <a:t>阵</a:t>
              </a:r>
            </a:p>
          </p:txBody>
        </p:sp>
      </p:grpSp>
      <p:grpSp>
        <p:nvGrpSpPr>
          <p:cNvPr id="39" name="matrix-table"/>
          <p:cNvGrpSpPr/>
          <p:nvPr/>
        </p:nvGrpSpPr>
        <p:grpSpPr>
          <a:xfrm>
            <a:off x="876300" y="1295400"/>
            <a:ext cx="10934700" cy="1752600"/>
            <a:chOff x="876300" y="1295400"/>
            <a:chExt cx="10934700" cy="1752600"/>
          </a:xfrm>
        </p:grpSpPr>
        <p:sp>
          <p:nvSpPr>
            <p:cNvPr id="15" name="Rectangle 15"/>
            <p:cNvSpPr/>
            <p:nvPr/>
          </p:nvSpPr>
          <p:spPr>
            <a:xfrm>
              <a:off x="876300" y="1295400"/>
              <a:ext cx="10934700" cy="1752600"/>
            </a:xfrm>
            <a:prstGeom prst="roundRect">
              <a:avLst>
                <a:gd name="adj" fmla="val 3261"/>
              </a:avLst>
            </a:prstGeom>
            <a:solidFill>
              <a:srgbClr val="FFFFFF"/>
            </a:solidFill>
            <a:ln w="9525">
              <a:solidFill>
                <a:srgbClr val="DCE8FB"/>
              </a:solidFill>
            </a:ln>
          </p:spPr>
        </p:sp>
        <p:sp>
          <p:nvSpPr>
            <p:cNvPr id="16" name="Rectangle 16"/>
            <p:cNvSpPr/>
            <p:nvPr/>
          </p:nvSpPr>
          <p:spPr>
            <a:xfrm>
              <a:off x="2857500" y="1371600"/>
              <a:ext cx="1238250" cy="285750"/>
            </a:xfrm>
            <a:prstGeom prst="roundRect">
              <a:avLst>
                <a:gd name="adj" fmla="val 20000"/>
              </a:avLst>
            </a:prstGeom>
            <a:solidFill>
              <a:srgbClr val="E74726"/>
            </a:solidFill>
            <a:ln>
              <a:noFill/>
            </a:ln>
          </p:spPr>
        </p:sp>
        <p:sp>
          <p:nvSpPr>
            <p:cNvPr id="17" name="TextBox 17"/>
            <p:cNvSpPr txBox="1"/>
            <p:nvPr/>
          </p:nvSpPr>
          <p:spPr>
            <a:xfrm>
              <a:off x="3273781" y="146637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朝朝宝</a:t>
              </a:r>
            </a:p>
          </p:txBody>
        </p:sp>
        <p:sp>
          <p:nvSpPr>
            <p:cNvPr id="18" name="Rectangle 18"/>
            <p:cNvSpPr/>
            <p:nvPr/>
          </p:nvSpPr>
          <p:spPr>
            <a:xfrm>
              <a:off x="6191250" y="1371600"/>
              <a:ext cx="1238250" cy="285750"/>
            </a:xfrm>
            <a:prstGeom prst="roundRect">
              <a:avLst>
                <a:gd name="adj" fmla="val 20000"/>
              </a:avLst>
            </a:prstGeom>
            <a:solidFill>
              <a:srgbClr val="E74726"/>
            </a:solidFill>
            <a:ln>
              <a:noFill/>
            </a:ln>
          </p:spPr>
        </p:sp>
        <p:sp>
          <p:nvSpPr>
            <p:cNvPr id="19" name="TextBox 19"/>
            <p:cNvSpPr txBox="1"/>
            <p:nvPr/>
          </p:nvSpPr>
          <p:spPr>
            <a:xfrm>
              <a:off x="6607531" y="146637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朝朝盈</a:t>
              </a:r>
            </a:p>
          </p:txBody>
        </p:sp>
        <p:sp>
          <p:nvSpPr>
            <p:cNvPr id="20" name="Rectangle 20"/>
            <p:cNvSpPr/>
            <p:nvPr/>
          </p:nvSpPr>
          <p:spPr>
            <a:xfrm>
              <a:off x="9525000" y="1371600"/>
              <a:ext cx="1238250" cy="285750"/>
            </a:xfrm>
            <a:prstGeom prst="roundRect">
              <a:avLst>
                <a:gd name="adj" fmla="val 20000"/>
              </a:avLst>
            </a:prstGeom>
            <a:solidFill>
              <a:srgbClr val="E74726"/>
            </a:solidFill>
            <a:ln>
              <a:noFill/>
            </a:ln>
          </p:spPr>
        </p:sp>
        <p:sp>
          <p:nvSpPr>
            <p:cNvPr id="21" name="TextBox 21"/>
            <p:cNvSpPr txBox="1"/>
            <p:nvPr/>
          </p:nvSpPr>
          <p:spPr>
            <a:xfrm>
              <a:off x="9875317" y="14663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多宝系列</a:t>
              </a:r>
            </a:p>
          </p:txBody>
        </p:sp>
        <p:grpSp>
          <p:nvGrpSpPr>
            <p:cNvPr id="26" name="Group 26"/>
            <p:cNvGrpSpPr/>
            <p:nvPr/>
          </p:nvGrpSpPr>
          <p:grpSpPr>
            <a:xfrm>
              <a:off x="952500" y="1733550"/>
              <a:ext cx="10782300" cy="1238250"/>
              <a:chOff x="952500" y="1733550"/>
              <a:chExt cx="10782300" cy="1238250"/>
            </a:xfrm>
          </p:grpSpPr>
          <p:sp>
            <p:nvSpPr>
              <p:cNvPr id="22" name="Line 22"/>
              <p:cNvSpPr/>
              <p:nvPr/>
            </p:nvSpPr>
            <p:spPr>
              <a:xfrm>
                <a:off x="952500" y="1733550"/>
                <a:ext cx="10782300" cy="9525"/>
              </a:xfrm>
              <a:custGeom>
                <a:avLst/>
                <a:gdLst/>
                <a:ahLst/>
                <a:cxnLst/>
                <a:rect l="l" t="t" r="r" b="b"/>
                <a:pathLst>
                  <a:path w="10782300" h="9525">
                    <a:moveTo>
                      <a:pt x="0" y="0"/>
                    </a:moveTo>
                    <a:lnTo>
                      <a:pt x="10782300" y="0"/>
                    </a:lnTo>
                  </a:path>
                </a:pathLst>
              </a:custGeom>
              <a:noFill/>
              <a:ln w="9525">
                <a:solidFill>
                  <a:srgbClr val="F7D1C9"/>
                </a:solidFill>
                <a:prstDash val="dash"/>
              </a:ln>
            </p:spPr>
          </p:sp>
          <p:sp>
            <p:nvSpPr>
              <p:cNvPr id="23" name="Line 23"/>
              <p:cNvSpPr/>
              <p:nvPr/>
            </p:nvSpPr>
            <p:spPr>
              <a:xfrm>
                <a:off x="952500" y="2209800"/>
                <a:ext cx="10782300" cy="9525"/>
              </a:xfrm>
              <a:custGeom>
                <a:avLst/>
                <a:gdLst/>
                <a:ahLst/>
                <a:cxnLst/>
                <a:rect l="l" t="t" r="r" b="b"/>
                <a:pathLst>
                  <a:path w="10782300" h="9525">
                    <a:moveTo>
                      <a:pt x="0" y="0"/>
                    </a:moveTo>
                    <a:lnTo>
                      <a:pt x="10782300" y="0"/>
                    </a:lnTo>
                  </a:path>
                </a:pathLst>
              </a:custGeom>
              <a:noFill/>
              <a:ln w="9525">
                <a:solidFill>
                  <a:srgbClr val="F7D1C9"/>
                </a:solidFill>
                <a:prstDash val="dash"/>
              </a:ln>
            </p:spPr>
          </p:sp>
          <p:sp>
            <p:nvSpPr>
              <p:cNvPr id="24" name="Line 24"/>
              <p:cNvSpPr/>
              <p:nvPr/>
            </p:nvSpPr>
            <p:spPr>
              <a:xfrm>
                <a:off x="5143500" y="1733550"/>
                <a:ext cx="9525" cy="1238250"/>
              </a:xfrm>
              <a:custGeom>
                <a:avLst/>
                <a:gdLst/>
                <a:ahLst/>
                <a:cxnLst/>
                <a:rect l="l" t="t" r="r" b="b"/>
                <a:pathLst>
                  <a:path w="9525" h="1238250">
                    <a:moveTo>
                      <a:pt x="0" y="0"/>
                    </a:moveTo>
                    <a:lnTo>
                      <a:pt x="0" y="1238250"/>
                    </a:lnTo>
                  </a:path>
                </a:pathLst>
              </a:custGeom>
              <a:noFill/>
              <a:ln w="9525">
                <a:solidFill>
                  <a:srgbClr val="F7D1C9"/>
                </a:solidFill>
                <a:prstDash val="dash"/>
              </a:ln>
            </p:spPr>
          </p:sp>
          <p:sp>
            <p:nvSpPr>
              <p:cNvPr id="25" name="Line 25"/>
              <p:cNvSpPr/>
              <p:nvPr/>
            </p:nvSpPr>
            <p:spPr>
              <a:xfrm>
                <a:off x="8477250" y="1733550"/>
                <a:ext cx="9525" cy="1238250"/>
              </a:xfrm>
              <a:custGeom>
                <a:avLst/>
                <a:gdLst/>
                <a:ahLst/>
                <a:cxnLst/>
                <a:rect l="l" t="t" r="r" b="b"/>
                <a:pathLst>
                  <a:path w="9525" h="1238250">
                    <a:moveTo>
                      <a:pt x="0" y="0"/>
                    </a:moveTo>
                    <a:lnTo>
                      <a:pt x="0" y="1238250"/>
                    </a:lnTo>
                  </a:path>
                </a:pathLst>
              </a:custGeom>
              <a:noFill/>
              <a:ln w="9525">
                <a:solidFill>
                  <a:srgbClr val="F7D1C9"/>
                </a:solidFill>
                <a:prstDash val="dash"/>
              </a:ln>
            </p:spPr>
          </p:sp>
        </p:grpSp>
        <p:sp>
          <p:nvSpPr>
            <p:cNvPr id="27" name="TextBox 27"/>
            <p:cNvSpPr txBox="1"/>
            <p:nvPr/>
          </p:nvSpPr>
          <p:spPr>
            <a:xfrm>
              <a:off x="1064692" y="1914049"/>
              <a:ext cx="537616" cy="190690"/>
            </a:xfrm>
            <a:prstGeom prst="rect">
              <a:avLst/>
            </a:prstGeom>
            <a:noFill/>
            <a:ln>
              <a:noFill/>
            </a:ln>
          </p:spPr>
          <p:txBody>
            <a:bodyPr wrap="none" lIns="0" tIns="0" rIns="0" bIns="0" anchor="t" anchorCtr="0">
              <a:spAutoFit/>
            </a:bodyPr>
            <a:lstStyle/>
            <a:p>
              <a:pPr algn="ctr"/>
              <a:r>
                <a:rPr lang="zh-CN" sz="980" b="1" dirty="0">
                  <a:solidFill>
                    <a:srgbClr val="1F1F1F"/>
                  </a:solidFill>
                  <a:latin typeface="+mn-lt"/>
                  <a:ea typeface="+mn-ea"/>
                  <a:cs typeface="+mn-cs"/>
                </a:rPr>
                <a:t>核心定位</a:t>
              </a:r>
            </a:p>
          </p:txBody>
        </p:sp>
        <p:sp>
          <p:nvSpPr>
            <p:cNvPr id="28" name="TextBox 28"/>
            <p:cNvSpPr txBox="1"/>
            <p:nvPr/>
          </p:nvSpPr>
          <p:spPr>
            <a:xfrm>
              <a:off x="2835110" y="1926193"/>
              <a:ext cx="1283030"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极致灵活的活期承接工具</a:t>
              </a:r>
            </a:p>
          </p:txBody>
        </p:sp>
        <p:sp>
          <p:nvSpPr>
            <p:cNvPr id="29" name="TextBox 29"/>
            <p:cNvSpPr txBox="1"/>
            <p:nvPr/>
          </p:nvSpPr>
          <p:spPr>
            <a:xfrm>
              <a:off x="6226746" y="1926193"/>
              <a:ext cx="1167257"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极低门槛理财入门载体</a:t>
              </a:r>
            </a:p>
          </p:txBody>
        </p:sp>
        <p:sp>
          <p:nvSpPr>
            <p:cNvPr id="30" name="TextBox 30"/>
            <p:cNvSpPr txBox="1"/>
            <p:nvPr/>
          </p:nvSpPr>
          <p:spPr>
            <a:xfrm>
              <a:off x="9618383" y="1926193"/>
              <a:ext cx="1051484"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阶梯化稳健配置选择</a:t>
              </a:r>
            </a:p>
          </p:txBody>
        </p:sp>
        <p:sp>
          <p:nvSpPr>
            <p:cNvPr id="31" name="TextBox 31"/>
            <p:cNvSpPr txBox="1"/>
            <p:nvPr/>
          </p:nvSpPr>
          <p:spPr>
            <a:xfrm>
              <a:off x="1064692" y="2542699"/>
              <a:ext cx="537616" cy="190690"/>
            </a:xfrm>
            <a:prstGeom prst="rect">
              <a:avLst/>
            </a:prstGeom>
            <a:noFill/>
            <a:ln>
              <a:noFill/>
            </a:ln>
          </p:spPr>
          <p:txBody>
            <a:bodyPr wrap="none" lIns="0" tIns="0" rIns="0" bIns="0" anchor="t" anchorCtr="0">
              <a:spAutoFit/>
            </a:bodyPr>
            <a:lstStyle/>
            <a:p>
              <a:pPr algn="ctr"/>
              <a:r>
                <a:rPr lang="zh-CN" sz="980" b="1" dirty="0">
                  <a:solidFill>
                    <a:srgbClr val="1F1F1F"/>
                  </a:solidFill>
                  <a:latin typeface="+mn-lt"/>
                  <a:ea typeface="+mn-ea"/>
                  <a:cs typeface="+mn-cs"/>
                </a:rPr>
                <a:t>匹配需求</a:t>
              </a:r>
            </a:p>
          </p:txBody>
        </p:sp>
        <p:sp>
          <p:nvSpPr>
            <p:cNvPr id="32" name="TextBox 32"/>
            <p:cNvSpPr txBox="1"/>
            <p:nvPr/>
          </p:nvSpPr>
          <p:spPr>
            <a:xfrm>
              <a:off x="2588755" y="2425541"/>
              <a:ext cx="1775739" cy="161925"/>
            </a:xfrm>
            <a:prstGeom prst="rect">
              <a:avLst/>
            </a:prstGeom>
            <a:noFill/>
            <a:ln>
              <a:noFill/>
            </a:ln>
          </p:spPr>
          <p:txBody>
            <a:bodyPr wrap="none" lIns="0" tIns="0" rIns="0" bIns="0" anchor="t" anchorCtr="0">
              <a:spAutoFit/>
            </a:bodyPr>
            <a:lstStyle/>
            <a:p>
              <a:pPr algn="ctr"/>
              <a:r>
                <a:rPr lang="zh-CN" sz="820" dirty="0">
                  <a:solidFill>
                    <a:srgbClr val="523833"/>
                  </a:solidFill>
                  <a:latin typeface="+mn-lt"/>
                  <a:ea typeface="+mn-ea"/>
                  <a:cs typeface="+mn-cs"/>
                </a:rPr>
                <a:t>主打极致灵活，实时支取且可直接消</a:t>
              </a:r>
            </a:p>
          </p:txBody>
        </p:sp>
        <p:sp>
          <p:nvSpPr>
            <p:cNvPr id="33" name="TextBox 33"/>
            <p:cNvSpPr txBox="1"/>
            <p:nvPr/>
          </p:nvSpPr>
          <p:spPr>
            <a:xfrm>
              <a:off x="2643950" y="2616041"/>
              <a:ext cx="1665351" cy="161925"/>
            </a:xfrm>
            <a:prstGeom prst="rect">
              <a:avLst/>
            </a:prstGeom>
            <a:noFill/>
            <a:ln>
              <a:noFill/>
            </a:ln>
          </p:spPr>
          <p:txBody>
            <a:bodyPr wrap="none" lIns="0" tIns="0" rIns="0" bIns="0" anchor="t" anchorCtr="0">
              <a:spAutoFit/>
            </a:bodyPr>
            <a:lstStyle/>
            <a:p>
              <a:pPr algn="ctr"/>
              <a:r>
                <a:rPr lang="zh-CN" sz="820" dirty="0">
                  <a:solidFill>
                    <a:srgbClr val="523833"/>
                  </a:solidFill>
                  <a:latin typeface="+mn-lt"/>
                  <a:ea typeface="+mn-ea"/>
                  <a:cs typeface="+mn-cs"/>
                </a:rPr>
                <a:t>费支付，承接日常零钱与活期闲钱</a:t>
              </a:r>
            </a:p>
          </p:txBody>
        </p:sp>
        <p:sp>
          <p:nvSpPr>
            <p:cNvPr id="34" name="TextBox 34"/>
            <p:cNvSpPr txBox="1"/>
            <p:nvPr/>
          </p:nvSpPr>
          <p:spPr>
            <a:xfrm>
              <a:off x="5812117" y="2425541"/>
              <a:ext cx="1996516" cy="161925"/>
            </a:xfrm>
            <a:prstGeom prst="rect">
              <a:avLst/>
            </a:prstGeom>
            <a:noFill/>
            <a:ln>
              <a:noFill/>
            </a:ln>
          </p:spPr>
          <p:txBody>
            <a:bodyPr wrap="none" lIns="0" tIns="0" rIns="0" bIns="0" anchor="t" anchorCtr="0">
              <a:spAutoFit/>
            </a:bodyPr>
            <a:lstStyle/>
            <a:p>
              <a:pPr algn="ctr"/>
              <a:r>
                <a:rPr lang="zh-CN" sz="820" dirty="0">
                  <a:solidFill>
                    <a:srgbClr val="523833"/>
                  </a:solidFill>
                  <a:latin typeface="+mn-lt"/>
                  <a:ea typeface="+mn-ea"/>
                  <a:cs typeface="+mn-cs"/>
                </a:rPr>
                <a:t>超低起购、操作极简、低风险稳健收益，</a:t>
              </a:r>
            </a:p>
          </p:txBody>
        </p:sp>
        <p:sp>
          <p:nvSpPr>
            <p:cNvPr id="35" name="TextBox 35"/>
            <p:cNvSpPr txBox="1"/>
            <p:nvPr/>
          </p:nvSpPr>
          <p:spPr>
            <a:xfrm>
              <a:off x="6088088" y="2616041"/>
              <a:ext cx="1444574" cy="161925"/>
            </a:xfrm>
            <a:prstGeom prst="rect">
              <a:avLst/>
            </a:prstGeom>
            <a:noFill/>
            <a:ln>
              <a:noFill/>
            </a:ln>
          </p:spPr>
          <p:txBody>
            <a:bodyPr wrap="none" lIns="0" tIns="0" rIns="0" bIns="0" anchor="t" anchorCtr="0">
              <a:spAutoFit/>
            </a:bodyPr>
            <a:lstStyle/>
            <a:p>
              <a:pPr algn="ctr"/>
              <a:r>
                <a:rPr lang="zh-CN" sz="820" dirty="0">
                  <a:solidFill>
                    <a:srgbClr val="523833"/>
                  </a:solidFill>
                  <a:latin typeface="+mn-lt"/>
                  <a:ea typeface="+mn-ea"/>
                  <a:cs typeface="+mn-cs"/>
                </a:rPr>
                <a:t>降低理财新手的首次决策门槛</a:t>
              </a:r>
            </a:p>
          </p:txBody>
        </p:sp>
        <p:sp>
          <p:nvSpPr>
            <p:cNvPr id="36" name="TextBox 36"/>
            <p:cNvSpPr txBox="1"/>
            <p:nvPr/>
          </p:nvSpPr>
          <p:spPr>
            <a:xfrm>
              <a:off x="8980284" y="2349341"/>
              <a:ext cx="2327681" cy="161925"/>
            </a:xfrm>
            <a:prstGeom prst="rect">
              <a:avLst/>
            </a:prstGeom>
            <a:noFill/>
            <a:ln>
              <a:noFill/>
            </a:ln>
          </p:spPr>
          <p:txBody>
            <a:bodyPr wrap="none" lIns="0" tIns="0" rIns="0" bIns="0" anchor="t" anchorCtr="0">
              <a:spAutoFit/>
            </a:bodyPr>
            <a:lstStyle/>
            <a:p>
              <a:pPr algn="ctr"/>
              <a:r>
                <a:rPr lang="zh-CN" sz="820" dirty="0">
                  <a:solidFill>
                    <a:srgbClr val="523833"/>
                  </a:solidFill>
                  <a:latin typeface="+mn-lt"/>
                  <a:ea typeface="+mn-ea"/>
                  <a:cs typeface="+mn-cs"/>
                </a:rPr>
                <a:t>按月度、季度、半年分层设计，低风险加期限梯</a:t>
              </a:r>
            </a:p>
          </p:txBody>
        </p:sp>
        <p:sp>
          <p:nvSpPr>
            <p:cNvPr id="37" name="TextBox 37"/>
            <p:cNvSpPr txBox="1"/>
            <p:nvPr/>
          </p:nvSpPr>
          <p:spPr>
            <a:xfrm>
              <a:off x="8980284" y="2520791"/>
              <a:ext cx="2327681" cy="161925"/>
            </a:xfrm>
            <a:prstGeom prst="rect">
              <a:avLst/>
            </a:prstGeom>
            <a:noFill/>
            <a:ln>
              <a:noFill/>
            </a:ln>
          </p:spPr>
          <p:txBody>
            <a:bodyPr wrap="none" lIns="0" tIns="0" rIns="0" bIns="0" anchor="t" anchorCtr="0">
              <a:spAutoFit/>
            </a:bodyPr>
            <a:lstStyle/>
            <a:p>
              <a:pPr algn="ctr"/>
              <a:r>
                <a:rPr lang="zh-CN" sz="820" dirty="0">
                  <a:solidFill>
                    <a:srgbClr val="523833"/>
                  </a:solidFill>
                  <a:latin typeface="+mn-lt"/>
                  <a:ea typeface="+mn-ea"/>
                  <a:cs typeface="+mn-cs"/>
                </a:rPr>
                <a:t>度收益，承接溢出资金，满足从零钱理财到阶段</a:t>
              </a:r>
            </a:p>
          </p:txBody>
        </p:sp>
        <p:sp>
          <p:nvSpPr>
            <p:cNvPr id="38" name="TextBox 38"/>
            <p:cNvSpPr txBox="1"/>
            <p:nvPr/>
          </p:nvSpPr>
          <p:spPr>
            <a:xfrm>
              <a:off x="9587420" y="2692241"/>
              <a:ext cx="1113409" cy="161925"/>
            </a:xfrm>
            <a:prstGeom prst="rect">
              <a:avLst/>
            </a:prstGeom>
            <a:noFill/>
            <a:ln>
              <a:noFill/>
            </a:ln>
          </p:spPr>
          <p:txBody>
            <a:bodyPr wrap="none" lIns="0" tIns="0" rIns="0" bIns="0" anchor="t" anchorCtr="0">
              <a:spAutoFit/>
            </a:bodyPr>
            <a:lstStyle/>
            <a:p>
              <a:pPr algn="ctr"/>
              <a:r>
                <a:rPr lang="zh-CN" sz="820" dirty="0">
                  <a:solidFill>
                    <a:srgbClr val="523833"/>
                  </a:solidFill>
                  <a:latin typeface="+mn-lt"/>
                  <a:ea typeface="+mn-ea"/>
                  <a:cs typeface="+mn-cs"/>
                </a:rPr>
                <a:t>性稳健配置的递进需求</a:t>
              </a:r>
            </a:p>
          </p:txBody>
        </p:sp>
      </p:grpSp>
      <p:grpSp>
        <p:nvGrpSpPr>
          <p:cNvPr id="42" name="ops-label"/>
          <p:cNvGrpSpPr/>
          <p:nvPr/>
        </p:nvGrpSpPr>
        <p:grpSpPr>
          <a:xfrm>
            <a:off x="381000" y="3219450"/>
            <a:ext cx="400050" cy="3314700"/>
            <a:chOff x="381000" y="3219450"/>
            <a:chExt cx="400050" cy="3314700"/>
          </a:xfrm>
        </p:grpSpPr>
        <p:sp>
          <p:nvSpPr>
            <p:cNvPr id="40" name="Rectangle 40"/>
            <p:cNvSpPr/>
            <p:nvPr/>
          </p:nvSpPr>
          <p:spPr>
            <a:xfrm>
              <a:off x="381000" y="3219450"/>
              <a:ext cx="400050" cy="3314700"/>
            </a:xfrm>
            <a:prstGeom prst="roundRect">
              <a:avLst>
                <a:gd name="adj" fmla="val 14286"/>
              </a:avLst>
            </a:prstGeom>
            <a:solidFill>
              <a:srgbClr val="E74726"/>
            </a:solidFill>
            <a:ln>
              <a:noFill/>
            </a:ln>
          </p:spPr>
        </p:sp>
        <p:sp>
          <p:nvSpPr>
            <p:cNvPr id="41" name="TextBox 41"/>
            <p:cNvSpPr txBox="1"/>
            <p:nvPr/>
          </p:nvSpPr>
          <p:spPr>
            <a:xfrm>
              <a:off x="516572" y="4375547"/>
              <a:ext cx="128905" cy="992981"/>
            </a:xfrm>
            <a:prstGeom prst="rect">
              <a:avLst/>
            </a:prstGeom>
            <a:noFill/>
            <a:ln>
              <a:noFill/>
            </a:ln>
          </p:spPr>
          <p:txBody>
            <a:bodyPr wrap="none" lIns="0" tIns="0" rIns="0" bIns="0" anchor="t" anchorCtr="0">
              <a:spAutoFit/>
            </a:bodyPr>
            <a:lstStyle/>
            <a:p>
              <a:pPr algn="ctr">
                <a:lnSpc>
                  <a:spcPts val="1275"/>
                </a:lnSpc>
              </a:pPr>
              <a:r>
                <a:rPr lang="zh-CN" sz="940" b="1" dirty="0">
                  <a:solidFill>
                    <a:srgbClr val="FFFFFF"/>
                  </a:solidFill>
                  <a:latin typeface="+mn-lt"/>
                  <a:ea typeface="+mn-ea"/>
                  <a:cs typeface="+mn-cs"/>
                </a:rPr>
                <a:t>去</a:t>
              </a:r>
              <a:br/>
              <a:r>
                <a:rPr lang="zh-CN" sz="940" b="1" dirty="0">
                  <a:solidFill>
                    <a:srgbClr val="FFFFFF"/>
                  </a:solidFill>
                  <a:latin typeface="+mn-lt"/>
                  <a:ea typeface="+mn-ea"/>
                  <a:cs typeface="+mn-cs"/>
                </a:rPr>
                <a:t>专</a:t>
              </a:r>
              <a:br/>
              <a:r>
                <a:rPr lang="zh-CN" sz="940" b="1" dirty="0">
                  <a:solidFill>
                    <a:srgbClr val="FFFFFF"/>
                  </a:solidFill>
                  <a:latin typeface="+mn-lt"/>
                  <a:ea typeface="+mn-ea"/>
                  <a:cs typeface="+mn-cs"/>
                </a:rPr>
                <a:t>业</a:t>
              </a:r>
              <a:br/>
              <a:r>
                <a:rPr lang="zh-CN" sz="940" b="1" dirty="0">
                  <a:solidFill>
                    <a:srgbClr val="FFFFFF"/>
                  </a:solidFill>
                  <a:latin typeface="+mn-lt"/>
                  <a:ea typeface="+mn-ea"/>
                  <a:cs typeface="+mn-cs"/>
                </a:rPr>
                <a:t>化</a:t>
              </a:r>
              <a:br/>
              <a:r>
                <a:rPr lang="zh-CN" sz="940" b="1" dirty="0">
                  <a:solidFill>
                    <a:srgbClr val="FFFFFF"/>
                  </a:solidFill>
                  <a:latin typeface="+mn-lt"/>
                  <a:ea typeface="+mn-ea"/>
                  <a:cs typeface="+mn-cs"/>
                </a:rPr>
                <a:t>运</a:t>
              </a:r>
              <a:br/>
              <a:r>
                <a:rPr lang="zh-CN" sz="940" b="1" dirty="0">
                  <a:solidFill>
                    <a:srgbClr val="FFFFFF"/>
                  </a:solidFill>
                  <a:latin typeface="+mn-lt"/>
                  <a:ea typeface="+mn-ea"/>
                  <a:cs typeface="+mn-cs"/>
                </a:rPr>
                <a:t>营</a:t>
              </a:r>
            </a:p>
          </p:txBody>
        </p:sp>
      </p:grpSp>
      <p:grpSp>
        <p:nvGrpSpPr>
          <p:cNvPr id="105" name="phones"/>
          <p:cNvGrpSpPr/>
          <p:nvPr/>
        </p:nvGrpSpPr>
        <p:grpSpPr>
          <a:xfrm>
            <a:off x="876300" y="3543300"/>
            <a:ext cx="5753100" cy="3025855"/>
            <a:chOff x="876300" y="3543300"/>
            <a:chExt cx="5753100" cy="3025855"/>
          </a:xfrm>
        </p:grpSpPr>
        <p:sp>
          <p:nvSpPr>
            <p:cNvPr id="43" name="Rectangle 43"/>
            <p:cNvSpPr/>
            <p:nvPr/>
          </p:nvSpPr>
          <p:spPr>
            <a:xfrm>
              <a:off x="1809750" y="3543300"/>
              <a:ext cx="1190625" cy="2781300"/>
            </a:xfrm>
            <a:prstGeom prst="roundRect">
              <a:avLst>
                <a:gd name="adj" fmla="val 8000"/>
              </a:avLst>
            </a:prstGeom>
            <a:solidFill>
              <a:srgbClr val="FFFFFF"/>
            </a:solidFill>
            <a:ln w="9525">
              <a:solidFill>
                <a:srgbClr val="E0E6EF"/>
              </a:solidFill>
            </a:ln>
          </p:spPr>
        </p:sp>
        <p:sp>
          <p:nvSpPr>
            <p:cNvPr id="44" name="Rectangle 44"/>
            <p:cNvSpPr/>
            <p:nvPr/>
          </p:nvSpPr>
          <p:spPr>
            <a:xfrm>
              <a:off x="1809750" y="3543300"/>
              <a:ext cx="1190625" cy="266700"/>
            </a:xfrm>
            <a:prstGeom prst="roundRect">
              <a:avLst>
                <a:gd name="adj" fmla="val 35714"/>
              </a:avLst>
            </a:prstGeom>
            <a:solidFill>
              <a:srgbClr val="F5F5F5"/>
            </a:solidFill>
            <a:ln>
              <a:noFill/>
            </a:ln>
          </p:spPr>
        </p:sp>
        <p:sp>
          <p:nvSpPr>
            <p:cNvPr id="45" name="TextBox 45"/>
            <p:cNvSpPr txBox="1"/>
            <p:nvPr/>
          </p:nvSpPr>
          <p:spPr>
            <a:xfrm>
              <a:off x="2252167" y="3647361"/>
              <a:ext cx="296266" cy="140494"/>
            </a:xfrm>
            <a:prstGeom prst="rect">
              <a:avLst/>
            </a:prstGeom>
            <a:noFill/>
            <a:ln>
              <a:noFill/>
            </a:ln>
          </p:spPr>
          <p:txBody>
            <a:bodyPr wrap="none" lIns="0" tIns="0" rIns="0" bIns="0" anchor="t" anchorCtr="0">
              <a:spAutoFit/>
            </a:bodyPr>
            <a:lstStyle/>
            <a:p>
              <a:pPr algn="ctr"/>
              <a:r>
                <a:rPr lang="zh-CN" sz="710" dirty="0">
                  <a:solidFill>
                    <a:srgbClr val="846F6B"/>
                  </a:solidFill>
                  <a:latin typeface="+mn-lt"/>
                  <a:ea typeface="+mn-ea"/>
                  <a:cs typeface="+mn-cs"/>
                </a:rPr>
                <a:t>朝朝宝</a:t>
              </a:r>
            </a:p>
          </p:txBody>
        </p:sp>
        <p:sp>
          <p:nvSpPr>
            <p:cNvPr id="46" name="Rectangle 46"/>
            <p:cNvSpPr/>
            <p:nvPr/>
          </p:nvSpPr>
          <p:spPr>
            <a:xfrm>
              <a:off x="1885950" y="3886200"/>
              <a:ext cx="1038225" cy="628650"/>
            </a:xfrm>
            <a:prstGeom prst="roundRect">
              <a:avLst>
                <a:gd name="adj" fmla="val 9091"/>
              </a:avLst>
            </a:prstGeom>
            <a:solidFill>
              <a:srgbClr val="E0462C"/>
            </a:solidFill>
            <a:ln>
              <a:noFill/>
            </a:ln>
          </p:spPr>
        </p:sp>
        <p:sp>
          <p:nvSpPr>
            <p:cNvPr id="47" name="Rectangle 47"/>
            <p:cNvSpPr/>
            <p:nvPr/>
          </p:nvSpPr>
          <p:spPr>
            <a:xfrm>
              <a:off x="1981200" y="4000500"/>
              <a:ext cx="666750" cy="76200"/>
            </a:xfrm>
            <a:prstGeom prst="roundRect">
              <a:avLst>
                <a:gd name="adj" fmla="val 50000"/>
              </a:avLst>
            </a:prstGeom>
            <a:solidFill>
              <a:srgbClr val="FFFFFF">
                <a:alpha val="90000"/>
              </a:srgbClr>
            </a:solidFill>
            <a:ln>
              <a:noFill/>
            </a:ln>
          </p:spPr>
        </p:sp>
        <p:sp>
          <p:nvSpPr>
            <p:cNvPr id="48" name="Rectangle 48"/>
            <p:cNvSpPr/>
            <p:nvPr/>
          </p:nvSpPr>
          <p:spPr>
            <a:xfrm>
              <a:off x="1981200" y="4152900"/>
              <a:ext cx="857250" cy="57150"/>
            </a:xfrm>
            <a:prstGeom prst="roundRect">
              <a:avLst>
                <a:gd name="adj" fmla="val 50000"/>
              </a:avLst>
            </a:prstGeom>
            <a:solidFill>
              <a:srgbClr val="FFFFFF">
                <a:alpha val="60000"/>
              </a:srgbClr>
            </a:solidFill>
            <a:ln>
              <a:noFill/>
            </a:ln>
          </p:spPr>
        </p:sp>
        <p:sp>
          <p:nvSpPr>
            <p:cNvPr id="49" name="Rectangle 49"/>
            <p:cNvSpPr/>
            <p:nvPr/>
          </p:nvSpPr>
          <p:spPr>
            <a:xfrm>
              <a:off x="1981200" y="4305300"/>
              <a:ext cx="476250" cy="57150"/>
            </a:xfrm>
            <a:prstGeom prst="roundRect">
              <a:avLst>
                <a:gd name="adj" fmla="val 50000"/>
              </a:avLst>
            </a:prstGeom>
            <a:solidFill>
              <a:srgbClr val="FFFFFF">
                <a:alpha val="60000"/>
              </a:srgbClr>
            </a:solidFill>
            <a:ln>
              <a:noFill/>
            </a:ln>
          </p:spPr>
        </p:sp>
        <p:sp>
          <p:nvSpPr>
            <p:cNvPr id="50" name="Rectangle 50"/>
            <p:cNvSpPr/>
            <p:nvPr/>
          </p:nvSpPr>
          <p:spPr>
            <a:xfrm>
              <a:off x="1885950" y="4610100"/>
              <a:ext cx="1038225" cy="381000"/>
            </a:xfrm>
            <a:prstGeom prst="roundRect">
              <a:avLst>
                <a:gd name="adj" fmla="val 15000"/>
              </a:avLst>
            </a:prstGeom>
            <a:solidFill>
              <a:srgbClr val="FDECEC"/>
            </a:solidFill>
            <a:ln>
              <a:noFill/>
            </a:ln>
          </p:spPr>
        </p:sp>
        <p:sp>
          <p:nvSpPr>
            <p:cNvPr id="51" name="Ellipse 51"/>
            <p:cNvSpPr/>
            <p:nvPr/>
          </p:nvSpPr>
          <p:spPr>
            <a:xfrm>
              <a:off x="1962150" y="4724400"/>
              <a:ext cx="152400" cy="152400"/>
            </a:xfrm>
            <a:prstGeom prst="ellipse">
              <a:avLst/>
            </a:prstGeom>
            <a:solidFill>
              <a:srgbClr val="E0462C"/>
            </a:solidFill>
            <a:ln>
              <a:noFill/>
            </a:ln>
          </p:spPr>
        </p:sp>
        <p:sp>
          <p:nvSpPr>
            <p:cNvPr id="52" name="Ellipse 52"/>
            <p:cNvSpPr/>
            <p:nvPr/>
          </p:nvSpPr>
          <p:spPr>
            <a:xfrm>
              <a:off x="2171700" y="4724400"/>
              <a:ext cx="152400" cy="152400"/>
            </a:xfrm>
            <a:prstGeom prst="ellipse">
              <a:avLst/>
            </a:prstGeom>
            <a:solidFill>
              <a:srgbClr val="F04B2E"/>
            </a:solidFill>
            <a:ln>
              <a:noFill/>
            </a:ln>
          </p:spPr>
        </p:sp>
        <p:sp>
          <p:nvSpPr>
            <p:cNvPr id="53" name="Ellipse 53"/>
            <p:cNvSpPr/>
            <p:nvPr/>
          </p:nvSpPr>
          <p:spPr>
            <a:xfrm>
              <a:off x="2381250" y="4724400"/>
              <a:ext cx="152400" cy="152400"/>
            </a:xfrm>
            <a:prstGeom prst="ellipse">
              <a:avLst/>
            </a:prstGeom>
            <a:solidFill>
              <a:srgbClr val="F5735C"/>
            </a:solidFill>
            <a:ln>
              <a:noFill/>
            </a:ln>
          </p:spPr>
        </p:sp>
        <p:sp>
          <p:nvSpPr>
            <p:cNvPr id="54" name="Ellipse 54"/>
            <p:cNvSpPr/>
            <p:nvPr/>
          </p:nvSpPr>
          <p:spPr>
            <a:xfrm>
              <a:off x="2590800" y="4724400"/>
              <a:ext cx="152400" cy="152400"/>
            </a:xfrm>
            <a:prstGeom prst="ellipse">
              <a:avLst/>
            </a:prstGeom>
            <a:solidFill>
              <a:srgbClr val="F0745B"/>
            </a:solidFill>
            <a:ln>
              <a:noFill/>
            </a:ln>
          </p:spPr>
        </p:sp>
        <p:sp>
          <p:nvSpPr>
            <p:cNvPr id="55" name="Rectangle 55"/>
            <p:cNvSpPr/>
            <p:nvPr/>
          </p:nvSpPr>
          <p:spPr>
            <a:xfrm>
              <a:off x="1885950" y="5086350"/>
              <a:ext cx="1038225" cy="66675"/>
            </a:xfrm>
            <a:prstGeom prst="roundRect">
              <a:avLst>
                <a:gd name="adj" fmla="val 42857"/>
              </a:avLst>
            </a:prstGeom>
            <a:solidFill>
              <a:srgbClr val="F0F0F0"/>
            </a:solidFill>
            <a:ln>
              <a:noFill/>
            </a:ln>
          </p:spPr>
        </p:sp>
        <p:sp>
          <p:nvSpPr>
            <p:cNvPr id="56" name="Rectangle 56"/>
            <p:cNvSpPr/>
            <p:nvPr/>
          </p:nvSpPr>
          <p:spPr>
            <a:xfrm>
              <a:off x="1885950" y="5238750"/>
              <a:ext cx="762000" cy="66675"/>
            </a:xfrm>
            <a:prstGeom prst="roundRect">
              <a:avLst>
                <a:gd name="adj" fmla="val 42857"/>
              </a:avLst>
            </a:prstGeom>
            <a:solidFill>
              <a:srgbClr val="F0F0F0"/>
            </a:solidFill>
            <a:ln>
              <a:noFill/>
            </a:ln>
          </p:spPr>
        </p:sp>
        <p:sp>
          <p:nvSpPr>
            <p:cNvPr id="57" name="TextBox 57"/>
            <p:cNvSpPr txBox="1"/>
            <p:nvPr/>
          </p:nvSpPr>
          <p:spPr>
            <a:xfrm>
              <a:off x="2172910" y="5522595"/>
              <a:ext cx="454781" cy="176212"/>
            </a:xfrm>
            <a:prstGeom prst="rect">
              <a:avLst/>
            </a:prstGeom>
            <a:noFill/>
            <a:ln>
              <a:noFill/>
            </a:ln>
          </p:spPr>
          <p:txBody>
            <a:bodyPr wrap="none" lIns="0" tIns="0" rIns="0" bIns="0" anchor="t" anchorCtr="0">
              <a:spAutoFit/>
            </a:bodyPr>
            <a:lstStyle/>
            <a:p>
              <a:pPr algn="ctr"/>
              <a:r>
                <a:rPr lang="zh-CN" sz="900" b="1" dirty="0">
                  <a:solidFill>
                    <a:srgbClr val="E0462C"/>
                  </a:solidFill>
                  <a:latin typeface="+mn-lt"/>
                  <a:ea typeface="+mn-ea"/>
                  <a:cs typeface="+mn-cs"/>
                </a:rPr>
                <a:t>1.37%​</a:t>
              </a:r>
            </a:p>
          </p:txBody>
        </p:sp>
        <p:sp>
          <p:nvSpPr>
            <p:cNvPr id="58" name="Rectangle 58"/>
            <p:cNvSpPr/>
            <p:nvPr/>
          </p:nvSpPr>
          <p:spPr>
            <a:xfrm>
              <a:off x="1885950" y="5715000"/>
              <a:ext cx="1038225" cy="66675"/>
            </a:xfrm>
            <a:prstGeom prst="roundRect">
              <a:avLst>
                <a:gd name="adj" fmla="val 42857"/>
              </a:avLst>
            </a:prstGeom>
            <a:solidFill>
              <a:srgbClr val="F0F0F0"/>
            </a:solidFill>
            <a:ln>
              <a:noFill/>
            </a:ln>
          </p:spPr>
        </p:sp>
        <p:sp>
          <p:nvSpPr>
            <p:cNvPr id="59" name="Rectangle 59"/>
            <p:cNvSpPr/>
            <p:nvPr/>
          </p:nvSpPr>
          <p:spPr>
            <a:xfrm>
              <a:off x="1962150" y="5981700"/>
              <a:ext cx="885825" cy="190500"/>
            </a:xfrm>
            <a:prstGeom prst="roundRect">
              <a:avLst>
                <a:gd name="adj" fmla="val 50000"/>
              </a:avLst>
            </a:prstGeom>
            <a:solidFill>
              <a:srgbClr val="E0462C"/>
            </a:solidFill>
            <a:ln>
              <a:noFill/>
            </a:ln>
          </p:spPr>
        </p:sp>
        <p:sp>
          <p:nvSpPr>
            <p:cNvPr id="60" name="Rectangle 60"/>
            <p:cNvSpPr/>
            <p:nvPr/>
          </p:nvSpPr>
          <p:spPr>
            <a:xfrm>
              <a:off x="3143250" y="3543300"/>
              <a:ext cx="1190625" cy="2781300"/>
            </a:xfrm>
            <a:prstGeom prst="roundRect">
              <a:avLst>
                <a:gd name="adj" fmla="val 8000"/>
              </a:avLst>
            </a:prstGeom>
            <a:solidFill>
              <a:srgbClr val="FFFFFF"/>
            </a:solidFill>
            <a:ln w="9525">
              <a:solidFill>
                <a:srgbClr val="E0E6EF"/>
              </a:solidFill>
            </a:ln>
          </p:spPr>
        </p:sp>
        <p:sp>
          <p:nvSpPr>
            <p:cNvPr id="61" name="Rectangle 61"/>
            <p:cNvSpPr/>
            <p:nvPr/>
          </p:nvSpPr>
          <p:spPr>
            <a:xfrm>
              <a:off x="3143250" y="3543300"/>
              <a:ext cx="1190625" cy="762000"/>
            </a:xfrm>
            <a:prstGeom prst="roundRect">
              <a:avLst>
                <a:gd name="adj" fmla="val 12500"/>
              </a:avLst>
            </a:prstGeom>
            <a:solidFill>
              <a:srgbClr val="E74726"/>
            </a:solidFill>
            <a:ln>
              <a:noFill/>
            </a:ln>
          </p:spPr>
        </p:sp>
        <p:sp>
          <p:nvSpPr>
            <p:cNvPr id="62" name="Rectangle 62"/>
            <p:cNvSpPr/>
            <p:nvPr/>
          </p:nvSpPr>
          <p:spPr>
            <a:xfrm>
              <a:off x="3238500" y="3676650"/>
              <a:ext cx="762000" cy="85725"/>
            </a:xfrm>
            <a:prstGeom prst="roundRect">
              <a:avLst>
                <a:gd name="adj" fmla="val 44444"/>
              </a:avLst>
            </a:prstGeom>
            <a:solidFill>
              <a:srgbClr val="FFFFFF">
                <a:alpha val="90000"/>
              </a:srgbClr>
            </a:solidFill>
            <a:ln>
              <a:noFill/>
            </a:ln>
          </p:spPr>
        </p:sp>
        <p:sp>
          <p:nvSpPr>
            <p:cNvPr id="63" name="Rectangle 63"/>
            <p:cNvSpPr/>
            <p:nvPr/>
          </p:nvSpPr>
          <p:spPr>
            <a:xfrm>
              <a:off x="3238500" y="3848100"/>
              <a:ext cx="952500" cy="66675"/>
            </a:xfrm>
            <a:prstGeom prst="roundRect">
              <a:avLst>
                <a:gd name="adj" fmla="val 42857"/>
              </a:avLst>
            </a:prstGeom>
            <a:solidFill>
              <a:srgbClr val="FFFFFF">
                <a:alpha val="60000"/>
              </a:srgbClr>
            </a:solidFill>
            <a:ln>
              <a:noFill/>
            </a:ln>
          </p:spPr>
        </p:sp>
        <p:sp>
          <p:nvSpPr>
            <p:cNvPr id="64" name="Rectangle 64"/>
            <p:cNvSpPr/>
            <p:nvPr/>
          </p:nvSpPr>
          <p:spPr>
            <a:xfrm>
              <a:off x="3238500" y="4000500"/>
              <a:ext cx="571500" cy="66675"/>
            </a:xfrm>
            <a:prstGeom prst="roundRect">
              <a:avLst>
                <a:gd name="adj" fmla="val 42857"/>
              </a:avLst>
            </a:prstGeom>
            <a:solidFill>
              <a:srgbClr val="FFFFFF">
                <a:alpha val="60000"/>
              </a:srgbClr>
            </a:solidFill>
            <a:ln>
              <a:noFill/>
            </a:ln>
          </p:spPr>
        </p:sp>
        <p:sp>
          <p:nvSpPr>
            <p:cNvPr id="65" name="TextBox 65"/>
            <p:cNvSpPr txBox="1"/>
            <p:nvPr/>
          </p:nvSpPr>
          <p:spPr>
            <a:xfrm>
              <a:off x="3430867" y="4499610"/>
              <a:ext cx="605866" cy="234696"/>
            </a:xfrm>
            <a:prstGeom prst="rect">
              <a:avLst/>
            </a:prstGeom>
            <a:noFill/>
            <a:ln>
              <a:noFill/>
            </a:ln>
          </p:spPr>
          <p:txBody>
            <a:bodyPr wrap="none" lIns="0" tIns="0" rIns="0" bIns="0" anchor="t" anchorCtr="0">
              <a:spAutoFit/>
            </a:bodyPr>
            <a:lstStyle/>
            <a:p>
              <a:pPr algn="ctr"/>
              <a:r>
                <a:rPr lang="zh-CN" sz="1200" b="1" dirty="0">
                  <a:solidFill>
                    <a:srgbClr val="E0462C"/>
                  </a:solidFill>
                  <a:latin typeface="+mn-lt"/>
                  <a:ea typeface="+mn-ea"/>
                  <a:cs typeface="+mn-cs"/>
                </a:rPr>
                <a:t>1.37%​</a:t>
              </a:r>
            </a:p>
          </p:txBody>
        </p:sp>
        <p:sp>
          <p:nvSpPr>
            <p:cNvPr id="66" name="Rectangle 66"/>
            <p:cNvSpPr/>
            <p:nvPr/>
          </p:nvSpPr>
          <p:spPr>
            <a:xfrm>
              <a:off x="3219450" y="4724400"/>
              <a:ext cx="1038225" cy="66675"/>
            </a:xfrm>
            <a:prstGeom prst="roundRect">
              <a:avLst>
                <a:gd name="adj" fmla="val 42857"/>
              </a:avLst>
            </a:prstGeom>
            <a:solidFill>
              <a:srgbClr val="F0F0F0"/>
            </a:solidFill>
            <a:ln>
              <a:noFill/>
            </a:ln>
          </p:spPr>
        </p:sp>
        <p:sp>
          <p:nvSpPr>
            <p:cNvPr id="67" name="Rectangle 67"/>
            <p:cNvSpPr/>
            <p:nvPr/>
          </p:nvSpPr>
          <p:spPr>
            <a:xfrm>
              <a:off x="3295650" y="4914900"/>
              <a:ext cx="885825" cy="209550"/>
            </a:xfrm>
            <a:prstGeom prst="roundRect">
              <a:avLst>
                <a:gd name="adj" fmla="val 18182"/>
              </a:avLst>
            </a:prstGeom>
            <a:solidFill>
              <a:srgbClr val="FFFFFF"/>
            </a:solidFill>
            <a:ln w="9525">
              <a:solidFill>
                <a:srgbClr val="E74726"/>
              </a:solidFill>
            </a:ln>
          </p:spPr>
        </p:sp>
        <p:sp>
          <p:nvSpPr>
            <p:cNvPr id="68" name="TextBox 68"/>
            <p:cNvSpPr txBox="1"/>
            <p:nvPr/>
          </p:nvSpPr>
          <p:spPr>
            <a:xfrm>
              <a:off x="3442297" y="4980861"/>
              <a:ext cx="583006" cy="140494"/>
            </a:xfrm>
            <a:prstGeom prst="rect">
              <a:avLst/>
            </a:prstGeom>
            <a:noFill/>
            <a:ln>
              <a:noFill/>
            </a:ln>
          </p:spPr>
          <p:txBody>
            <a:bodyPr wrap="none" lIns="0" tIns="0" rIns="0" bIns="0" anchor="t" anchorCtr="0">
              <a:spAutoFit/>
            </a:bodyPr>
            <a:lstStyle/>
            <a:p>
              <a:pPr algn="ctr"/>
              <a:r>
                <a:rPr lang="zh-CN" sz="710" dirty="0">
                  <a:solidFill>
                    <a:srgbClr val="E74726"/>
                  </a:solidFill>
                  <a:latin typeface="+mn-lt"/>
                  <a:ea typeface="+mn-ea"/>
                  <a:cs typeface="+mn-cs"/>
                </a:rPr>
                <a:t>产品详情购买</a:t>
              </a:r>
            </a:p>
          </p:txBody>
        </p:sp>
        <p:sp>
          <p:nvSpPr>
            <p:cNvPr id="69" name="Rectangle 69"/>
            <p:cNvSpPr/>
            <p:nvPr/>
          </p:nvSpPr>
          <p:spPr>
            <a:xfrm>
              <a:off x="3295650" y="5219700"/>
              <a:ext cx="885825" cy="209550"/>
            </a:xfrm>
            <a:prstGeom prst="roundRect">
              <a:avLst>
                <a:gd name="adj" fmla="val 50000"/>
              </a:avLst>
            </a:prstGeom>
            <a:solidFill>
              <a:srgbClr val="E0462C"/>
            </a:solidFill>
            <a:ln>
              <a:noFill/>
            </a:ln>
          </p:spPr>
        </p:sp>
        <p:sp>
          <p:nvSpPr>
            <p:cNvPr id="70" name="Rectangle 70"/>
            <p:cNvSpPr/>
            <p:nvPr/>
          </p:nvSpPr>
          <p:spPr>
            <a:xfrm>
              <a:off x="3219450" y="5581650"/>
              <a:ext cx="1038225" cy="66675"/>
            </a:xfrm>
            <a:prstGeom prst="roundRect">
              <a:avLst>
                <a:gd name="adj" fmla="val 42857"/>
              </a:avLst>
            </a:prstGeom>
            <a:solidFill>
              <a:srgbClr val="F0F0F0"/>
            </a:solidFill>
            <a:ln>
              <a:noFill/>
            </a:ln>
          </p:spPr>
        </p:sp>
        <p:sp>
          <p:nvSpPr>
            <p:cNvPr id="71" name="Rectangle 71"/>
            <p:cNvSpPr/>
            <p:nvPr/>
          </p:nvSpPr>
          <p:spPr>
            <a:xfrm>
              <a:off x="3219450" y="5734050"/>
              <a:ext cx="857250" cy="66675"/>
            </a:xfrm>
            <a:prstGeom prst="roundRect">
              <a:avLst>
                <a:gd name="adj" fmla="val 42857"/>
              </a:avLst>
            </a:prstGeom>
            <a:solidFill>
              <a:srgbClr val="F0F0F0"/>
            </a:solidFill>
            <a:ln>
              <a:noFill/>
            </a:ln>
          </p:spPr>
        </p:sp>
        <p:sp>
          <p:nvSpPr>
            <p:cNvPr id="72" name="Rectangle 72"/>
            <p:cNvSpPr/>
            <p:nvPr/>
          </p:nvSpPr>
          <p:spPr>
            <a:xfrm>
              <a:off x="3219450" y="5886450"/>
              <a:ext cx="952500" cy="66675"/>
            </a:xfrm>
            <a:prstGeom prst="roundRect">
              <a:avLst>
                <a:gd name="adj" fmla="val 42857"/>
              </a:avLst>
            </a:prstGeom>
            <a:solidFill>
              <a:srgbClr val="F0F0F0"/>
            </a:solidFill>
            <a:ln>
              <a:noFill/>
            </a:ln>
          </p:spPr>
        </p:sp>
        <p:sp>
          <p:nvSpPr>
            <p:cNvPr id="73" name="Rectangle 73"/>
            <p:cNvSpPr/>
            <p:nvPr/>
          </p:nvSpPr>
          <p:spPr>
            <a:xfrm>
              <a:off x="4476750" y="3543300"/>
              <a:ext cx="1190625" cy="2781300"/>
            </a:xfrm>
            <a:prstGeom prst="roundRect">
              <a:avLst>
                <a:gd name="adj" fmla="val 8000"/>
              </a:avLst>
            </a:prstGeom>
            <a:solidFill>
              <a:srgbClr val="FFFFFF"/>
            </a:solidFill>
            <a:ln w="9525">
              <a:solidFill>
                <a:srgbClr val="E0E6EF"/>
              </a:solidFill>
            </a:ln>
          </p:spPr>
        </p:sp>
        <p:sp>
          <p:nvSpPr>
            <p:cNvPr id="74" name="Rectangle 74"/>
            <p:cNvSpPr/>
            <p:nvPr/>
          </p:nvSpPr>
          <p:spPr>
            <a:xfrm>
              <a:off x="4476750" y="3543300"/>
              <a:ext cx="1190625" cy="266700"/>
            </a:xfrm>
            <a:prstGeom prst="roundRect">
              <a:avLst>
                <a:gd name="adj" fmla="val 35714"/>
              </a:avLst>
            </a:prstGeom>
            <a:solidFill>
              <a:srgbClr val="F5F5F5"/>
            </a:solidFill>
            <a:ln>
              <a:noFill/>
            </a:ln>
          </p:spPr>
        </p:sp>
        <p:sp>
          <p:nvSpPr>
            <p:cNvPr id="75" name="TextBox 75"/>
            <p:cNvSpPr txBox="1"/>
            <p:nvPr/>
          </p:nvSpPr>
          <p:spPr>
            <a:xfrm>
              <a:off x="4919167" y="3647361"/>
              <a:ext cx="296266" cy="140494"/>
            </a:xfrm>
            <a:prstGeom prst="rect">
              <a:avLst/>
            </a:prstGeom>
            <a:noFill/>
            <a:ln>
              <a:noFill/>
            </a:ln>
          </p:spPr>
          <p:txBody>
            <a:bodyPr wrap="none" lIns="0" tIns="0" rIns="0" bIns="0" anchor="t" anchorCtr="0">
              <a:spAutoFit/>
            </a:bodyPr>
            <a:lstStyle/>
            <a:p>
              <a:pPr algn="ctr"/>
              <a:r>
                <a:rPr lang="zh-CN" sz="710" dirty="0">
                  <a:solidFill>
                    <a:srgbClr val="846F6B"/>
                  </a:solidFill>
                  <a:latin typeface="+mn-lt"/>
                  <a:ea typeface="+mn-ea"/>
                  <a:cs typeface="+mn-cs"/>
                </a:rPr>
                <a:t>朝朝宝</a:t>
              </a:r>
            </a:p>
          </p:txBody>
        </p:sp>
        <p:sp>
          <p:nvSpPr>
            <p:cNvPr id="76" name="Rectangle 76"/>
            <p:cNvSpPr/>
            <p:nvPr/>
          </p:nvSpPr>
          <p:spPr>
            <a:xfrm>
              <a:off x="4552950" y="3886200"/>
              <a:ext cx="1038225" cy="285750"/>
            </a:xfrm>
            <a:prstGeom prst="roundRect">
              <a:avLst>
                <a:gd name="adj" fmla="val 13333"/>
              </a:avLst>
            </a:prstGeom>
            <a:solidFill>
              <a:srgbClr val="F0F0F0"/>
            </a:solidFill>
            <a:ln>
              <a:noFill/>
            </a:ln>
          </p:spPr>
        </p:sp>
        <p:sp>
          <p:nvSpPr>
            <p:cNvPr id="77" name="Rectangle 77"/>
            <p:cNvSpPr/>
            <p:nvPr/>
          </p:nvSpPr>
          <p:spPr>
            <a:xfrm>
              <a:off x="4552950" y="4248150"/>
              <a:ext cx="1038225" cy="285750"/>
            </a:xfrm>
            <a:prstGeom prst="roundRect">
              <a:avLst>
                <a:gd name="adj" fmla="val 13333"/>
              </a:avLst>
            </a:prstGeom>
            <a:solidFill>
              <a:srgbClr val="FFFFFF"/>
            </a:solidFill>
            <a:ln w="11430">
              <a:solidFill>
                <a:srgbClr val="E0462C"/>
              </a:solidFill>
            </a:ln>
          </p:spPr>
        </p:sp>
        <p:sp>
          <p:nvSpPr>
            <p:cNvPr id="78" name="Rectangle 78"/>
            <p:cNvSpPr/>
            <p:nvPr/>
          </p:nvSpPr>
          <p:spPr>
            <a:xfrm>
              <a:off x="4629150" y="4343400"/>
              <a:ext cx="571500" cy="95250"/>
            </a:xfrm>
            <a:prstGeom prst="roundRect">
              <a:avLst>
                <a:gd name="adj" fmla="val 30000"/>
              </a:avLst>
            </a:prstGeom>
            <a:solidFill>
              <a:srgbClr val="F5735C"/>
            </a:solidFill>
            <a:ln>
              <a:noFill/>
            </a:ln>
          </p:spPr>
        </p:sp>
        <p:sp>
          <p:nvSpPr>
            <p:cNvPr id="79" name="Rectangle 79"/>
            <p:cNvSpPr/>
            <p:nvPr/>
          </p:nvSpPr>
          <p:spPr>
            <a:xfrm>
              <a:off x="4552950" y="4610100"/>
              <a:ext cx="1038225" cy="571500"/>
            </a:xfrm>
            <a:prstGeom prst="roundRect">
              <a:avLst>
                <a:gd name="adj" fmla="val 10000"/>
              </a:avLst>
            </a:prstGeom>
            <a:solidFill>
              <a:srgbClr val="FDF1EF"/>
            </a:solidFill>
            <a:ln>
              <a:noFill/>
            </a:ln>
          </p:spPr>
        </p:sp>
        <p:sp>
          <p:nvSpPr>
            <p:cNvPr id="80" name="Rectangle 80"/>
            <p:cNvSpPr/>
            <p:nvPr/>
          </p:nvSpPr>
          <p:spPr>
            <a:xfrm>
              <a:off x="4629150" y="4705350"/>
              <a:ext cx="857250" cy="57150"/>
            </a:xfrm>
            <a:prstGeom prst="roundRect">
              <a:avLst>
                <a:gd name="adj" fmla="val 50000"/>
              </a:avLst>
            </a:prstGeom>
            <a:solidFill>
              <a:srgbClr val="F3B8AE"/>
            </a:solidFill>
            <a:ln>
              <a:noFill/>
            </a:ln>
          </p:spPr>
        </p:sp>
        <p:sp>
          <p:nvSpPr>
            <p:cNvPr id="81" name="Rectangle 81"/>
            <p:cNvSpPr/>
            <p:nvPr/>
          </p:nvSpPr>
          <p:spPr>
            <a:xfrm>
              <a:off x="4629150" y="4838700"/>
              <a:ext cx="666750" cy="57150"/>
            </a:xfrm>
            <a:prstGeom prst="roundRect">
              <a:avLst>
                <a:gd name="adj" fmla="val 50000"/>
              </a:avLst>
            </a:prstGeom>
            <a:solidFill>
              <a:srgbClr val="F3B8AE"/>
            </a:solidFill>
            <a:ln>
              <a:noFill/>
            </a:ln>
          </p:spPr>
        </p:sp>
        <p:sp>
          <p:nvSpPr>
            <p:cNvPr id="82" name="Rectangle 82"/>
            <p:cNvSpPr/>
            <p:nvPr/>
          </p:nvSpPr>
          <p:spPr>
            <a:xfrm>
              <a:off x="4629150" y="4972050"/>
              <a:ext cx="819150" cy="57150"/>
            </a:xfrm>
            <a:prstGeom prst="roundRect">
              <a:avLst>
                <a:gd name="adj" fmla="val 50000"/>
              </a:avLst>
            </a:prstGeom>
            <a:solidFill>
              <a:srgbClr val="F3B8AE"/>
            </a:solidFill>
            <a:ln>
              <a:noFill/>
            </a:ln>
          </p:spPr>
        </p:sp>
        <p:sp>
          <p:nvSpPr>
            <p:cNvPr id="83" name="Rectangle 83"/>
            <p:cNvSpPr/>
            <p:nvPr/>
          </p:nvSpPr>
          <p:spPr>
            <a:xfrm>
              <a:off x="4552950" y="5257800"/>
              <a:ext cx="1038225" cy="247650"/>
            </a:xfrm>
            <a:prstGeom prst="roundRect">
              <a:avLst>
                <a:gd name="adj" fmla="val 15385"/>
              </a:avLst>
            </a:prstGeom>
            <a:solidFill>
              <a:srgbClr val="FFFFFF"/>
            </a:solidFill>
            <a:ln w="9525">
              <a:solidFill>
                <a:srgbClr val="E0E6EF"/>
              </a:solidFill>
            </a:ln>
          </p:spPr>
        </p:sp>
        <p:sp>
          <p:nvSpPr>
            <p:cNvPr id="84" name="TextBox 84"/>
            <p:cNvSpPr txBox="1"/>
            <p:nvPr/>
          </p:nvSpPr>
          <p:spPr>
            <a:xfrm>
              <a:off x="4662488" y="5356384"/>
              <a:ext cx="284150" cy="133350"/>
            </a:xfrm>
            <a:prstGeom prst="rect">
              <a:avLst/>
            </a:prstGeom>
            <a:noFill/>
            <a:ln>
              <a:noFill/>
            </a:ln>
          </p:spPr>
          <p:txBody>
            <a:bodyPr wrap="none" lIns="0" tIns="0" rIns="0" bIns="0" anchor="t" anchorCtr="0">
              <a:spAutoFit/>
            </a:bodyPr>
            <a:lstStyle/>
            <a:p>
              <a:pPr algn="l"/>
              <a:r>
                <a:rPr lang="zh-CN" sz="680" dirty="0">
                  <a:solidFill>
                    <a:srgbClr val="523833"/>
                  </a:solidFill>
                  <a:latin typeface="+mn-lt"/>
                  <a:ea typeface="+mn-ea"/>
                  <a:cs typeface="+mn-cs"/>
                </a:rPr>
                <a:t>朝朝盈</a:t>
              </a:r>
            </a:p>
          </p:txBody>
        </p:sp>
        <p:sp>
          <p:nvSpPr>
            <p:cNvPr id="85" name="Rectangle 85"/>
            <p:cNvSpPr/>
            <p:nvPr/>
          </p:nvSpPr>
          <p:spPr>
            <a:xfrm>
              <a:off x="4552950" y="5562600"/>
              <a:ext cx="1038225" cy="247650"/>
            </a:xfrm>
            <a:prstGeom prst="roundRect">
              <a:avLst>
                <a:gd name="adj" fmla="val 15385"/>
              </a:avLst>
            </a:prstGeom>
            <a:solidFill>
              <a:srgbClr val="FFFFFF"/>
            </a:solidFill>
            <a:ln w="9525">
              <a:solidFill>
                <a:srgbClr val="E0E6EF"/>
              </a:solidFill>
            </a:ln>
          </p:spPr>
        </p:sp>
        <p:sp>
          <p:nvSpPr>
            <p:cNvPr id="86" name="TextBox 86"/>
            <p:cNvSpPr txBox="1"/>
            <p:nvPr/>
          </p:nvSpPr>
          <p:spPr>
            <a:xfrm>
              <a:off x="4662488" y="5661184"/>
              <a:ext cx="375691" cy="133350"/>
            </a:xfrm>
            <a:prstGeom prst="rect">
              <a:avLst/>
            </a:prstGeom>
            <a:noFill/>
            <a:ln>
              <a:noFill/>
            </a:ln>
          </p:spPr>
          <p:txBody>
            <a:bodyPr wrap="none" lIns="0" tIns="0" rIns="0" bIns="0" anchor="t" anchorCtr="0">
              <a:spAutoFit/>
            </a:bodyPr>
            <a:lstStyle/>
            <a:p>
              <a:pPr algn="l"/>
              <a:r>
                <a:rPr lang="zh-CN" sz="680" dirty="0">
                  <a:solidFill>
                    <a:srgbClr val="523833"/>
                  </a:solidFill>
                  <a:latin typeface="+mn-lt"/>
                  <a:ea typeface="+mn-ea"/>
                  <a:cs typeface="+mn-cs"/>
                </a:rPr>
                <a:t>多宝系列</a:t>
              </a:r>
            </a:p>
          </p:txBody>
        </p:sp>
        <p:sp>
          <p:nvSpPr>
            <p:cNvPr id="87" name="Rectangle 87"/>
            <p:cNvSpPr/>
            <p:nvPr/>
          </p:nvSpPr>
          <p:spPr>
            <a:xfrm>
              <a:off x="4552950" y="5886450"/>
              <a:ext cx="1038225" cy="285750"/>
            </a:xfrm>
            <a:prstGeom prst="roundRect">
              <a:avLst>
                <a:gd name="adj" fmla="val 13333"/>
              </a:avLst>
            </a:prstGeom>
            <a:solidFill>
              <a:srgbClr val="F0F0F0"/>
            </a:solidFill>
            <a:ln>
              <a:noFill/>
            </a:ln>
          </p:spPr>
        </p:sp>
        <p:sp>
          <p:nvSpPr>
            <p:cNvPr id="88" name="Rectangle 88"/>
            <p:cNvSpPr/>
            <p:nvPr/>
          </p:nvSpPr>
          <p:spPr>
            <a:xfrm>
              <a:off x="876300" y="3733800"/>
              <a:ext cx="838200" cy="190500"/>
            </a:xfrm>
            <a:prstGeom prst="roundRect">
              <a:avLst>
                <a:gd name="adj" fmla="val 50000"/>
              </a:avLst>
            </a:prstGeom>
            <a:solidFill>
              <a:srgbClr val="E74726"/>
            </a:solidFill>
            <a:ln>
              <a:noFill/>
            </a:ln>
          </p:spPr>
        </p:sp>
        <p:sp>
          <p:nvSpPr>
            <p:cNvPr id="89" name="TextBox 89"/>
            <p:cNvSpPr txBox="1"/>
            <p:nvPr/>
          </p:nvSpPr>
          <p:spPr>
            <a:xfrm>
              <a:off x="1003897" y="3790236"/>
              <a:ext cx="58300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标语简单明了</a:t>
              </a:r>
            </a:p>
          </p:txBody>
        </p:sp>
        <p:sp>
          <p:nvSpPr>
            <p:cNvPr id="90" name="Line 90"/>
            <p:cNvSpPr/>
            <p:nvPr/>
          </p:nvSpPr>
          <p:spPr>
            <a:xfrm>
              <a:off x="1714500" y="3829050"/>
              <a:ext cx="171450" cy="152400"/>
            </a:xfrm>
            <a:custGeom>
              <a:avLst/>
              <a:gdLst/>
              <a:ahLst/>
              <a:cxnLst/>
              <a:rect l="l" t="t" r="r" b="b"/>
              <a:pathLst>
                <a:path w="171450" h="152400">
                  <a:moveTo>
                    <a:pt x="0" y="0"/>
                  </a:moveTo>
                  <a:lnTo>
                    <a:pt x="171450" y="152400"/>
                  </a:lnTo>
                </a:path>
              </a:pathLst>
            </a:custGeom>
            <a:noFill/>
            <a:ln w="9525">
              <a:solidFill>
                <a:srgbClr val="E74726"/>
              </a:solidFill>
            </a:ln>
          </p:spPr>
        </p:sp>
        <p:sp>
          <p:nvSpPr>
            <p:cNvPr id="91" name="Rectangle 91"/>
            <p:cNvSpPr/>
            <p:nvPr/>
          </p:nvSpPr>
          <p:spPr>
            <a:xfrm>
              <a:off x="876300" y="4286250"/>
              <a:ext cx="838200" cy="190500"/>
            </a:xfrm>
            <a:prstGeom prst="roundRect">
              <a:avLst>
                <a:gd name="adj" fmla="val 50000"/>
              </a:avLst>
            </a:prstGeom>
            <a:solidFill>
              <a:srgbClr val="E74726"/>
            </a:solidFill>
            <a:ln>
              <a:noFill/>
            </a:ln>
          </p:spPr>
        </p:sp>
        <p:sp>
          <p:nvSpPr>
            <p:cNvPr id="92" name="TextBox 92"/>
            <p:cNvSpPr txBox="1"/>
            <p:nvPr/>
          </p:nvSpPr>
          <p:spPr>
            <a:xfrm>
              <a:off x="1003897" y="4342686"/>
              <a:ext cx="58300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功能场景清晰</a:t>
              </a:r>
            </a:p>
          </p:txBody>
        </p:sp>
        <p:sp>
          <p:nvSpPr>
            <p:cNvPr id="93" name="Line 93"/>
            <p:cNvSpPr/>
            <p:nvPr/>
          </p:nvSpPr>
          <p:spPr>
            <a:xfrm>
              <a:off x="1714500" y="4381500"/>
              <a:ext cx="171450" cy="381000"/>
            </a:xfrm>
            <a:custGeom>
              <a:avLst/>
              <a:gdLst/>
              <a:ahLst/>
              <a:cxnLst/>
              <a:rect l="l" t="t" r="r" b="b"/>
              <a:pathLst>
                <a:path w="171450" h="381000">
                  <a:moveTo>
                    <a:pt x="0" y="0"/>
                  </a:moveTo>
                  <a:lnTo>
                    <a:pt x="171450" y="381000"/>
                  </a:lnTo>
                </a:path>
              </a:pathLst>
            </a:custGeom>
            <a:noFill/>
            <a:ln w="9525">
              <a:solidFill>
                <a:srgbClr val="E74726"/>
              </a:solidFill>
            </a:ln>
          </p:spPr>
        </p:sp>
        <p:sp>
          <p:nvSpPr>
            <p:cNvPr id="94" name="Rectangle 94"/>
            <p:cNvSpPr/>
            <p:nvPr/>
          </p:nvSpPr>
          <p:spPr>
            <a:xfrm>
              <a:off x="876300" y="5334000"/>
              <a:ext cx="838200" cy="190500"/>
            </a:xfrm>
            <a:prstGeom prst="roundRect">
              <a:avLst>
                <a:gd name="adj" fmla="val 50000"/>
              </a:avLst>
            </a:prstGeom>
            <a:solidFill>
              <a:srgbClr val="E74726"/>
            </a:solidFill>
            <a:ln>
              <a:noFill/>
            </a:ln>
          </p:spPr>
        </p:sp>
        <p:sp>
          <p:nvSpPr>
            <p:cNvPr id="95" name="TextBox 95"/>
            <p:cNvSpPr txBox="1"/>
            <p:nvPr/>
          </p:nvSpPr>
          <p:spPr>
            <a:xfrm>
              <a:off x="1003897" y="5390436"/>
              <a:ext cx="58300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从众效应背书</a:t>
              </a:r>
            </a:p>
          </p:txBody>
        </p:sp>
        <p:sp>
          <p:nvSpPr>
            <p:cNvPr id="96" name="Line 96"/>
            <p:cNvSpPr/>
            <p:nvPr/>
          </p:nvSpPr>
          <p:spPr>
            <a:xfrm>
              <a:off x="1714500" y="5429250"/>
              <a:ext cx="342900" cy="152400"/>
            </a:xfrm>
            <a:custGeom>
              <a:avLst/>
              <a:gdLst/>
              <a:ahLst/>
              <a:cxnLst/>
              <a:rect l="l" t="t" r="r" b="b"/>
              <a:pathLst>
                <a:path w="342900" h="152400">
                  <a:moveTo>
                    <a:pt x="0" y="0"/>
                  </a:moveTo>
                  <a:lnTo>
                    <a:pt x="342900" y="152400"/>
                  </a:lnTo>
                </a:path>
              </a:pathLst>
            </a:custGeom>
            <a:noFill/>
            <a:ln w="9525">
              <a:solidFill>
                <a:srgbClr val="E74726"/>
              </a:solidFill>
            </a:ln>
          </p:spPr>
        </p:sp>
        <p:sp>
          <p:nvSpPr>
            <p:cNvPr id="97" name="Rectangle 97"/>
            <p:cNvSpPr/>
            <p:nvPr/>
          </p:nvSpPr>
          <p:spPr>
            <a:xfrm>
              <a:off x="5791200" y="4191000"/>
              <a:ext cx="838200" cy="190500"/>
            </a:xfrm>
            <a:prstGeom prst="roundRect">
              <a:avLst>
                <a:gd name="adj" fmla="val 50000"/>
              </a:avLst>
            </a:prstGeom>
            <a:solidFill>
              <a:srgbClr val="E74726"/>
            </a:solidFill>
            <a:ln>
              <a:noFill/>
            </a:ln>
          </p:spPr>
        </p:sp>
        <p:sp>
          <p:nvSpPr>
            <p:cNvPr id="98" name="TextBox 98"/>
            <p:cNvSpPr txBox="1"/>
            <p:nvPr/>
          </p:nvSpPr>
          <p:spPr>
            <a:xfrm>
              <a:off x="5918797" y="4247436"/>
              <a:ext cx="58300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他行资金归集</a:t>
              </a:r>
            </a:p>
          </p:txBody>
        </p:sp>
        <p:sp>
          <p:nvSpPr>
            <p:cNvPr id="99" name="Line 99"/>
            <p:cNvSpPr/>
            <p:nvPr/>
          </p:nvSpPr>
          <p:spPr>
            <a:xfrm>
              <a:off x="5600700" y="4286250"/>
              <a:ext cx="190500" cy="95250"/>
            </a:xfrm>
            <a:custGeom>
              <a:avLst/>
              <a:gdLst/>
              <a:ahLst/>
              <a:cxnLst/>
              <a:rect l="l" t="t" r="r" b="b"/>
              <a:pathLst>
                <a:path w="190500" h="95250">
                  <a:moveTo>
                    <a:pt x="190500" y="0"/>
                  </a:moveTo>
                  <a:lnTo>
                    <a:pt x="0" y="95250"/>
                  </a:lnTo>
                </a:path>
              </a:pathLst>
            </a:custGeom>
            <a:noFill/>
            <a:ln w="9525">
              <a:solidFill>
                <a:srgbClr val="E74726"/>
              </a:solidFill>
            </a:ln>
          </p:spPr>
        </p:sp>
        <p:sp>
          <p:nvSpPr>
            <p:cNvPr id="100" name="Rectangle 100"/>
            <p:cNvSpPr/>
            <p:nvPr/>
          </p:nvSpPr>
          <p:spPr>
            <a:xfrm>
              <a:off x="5791200" y="5295900"/>
              <a:ext cx="838200" cy="190500"/>
            </a:xfrm>
            <a:prstGeom prst="roundRect">
              <a:avLst>
                <a:gd name="adj" fmla="val 50000"/>
              </a:avLst>
            </a:prstGeom>
            <a:solidFill>
              <a:srgbClr val="E74726"/>
            </a:solidFill>
            <a:ln>
              <a:noFill/>
            </a:ln>
          </p:spPr>
        </p:sp>
        <p:sp>
          <p:nvSpPr>
            <p:cNvPr id="101" name="TextBox 101"/>
            <p:cNvSpPr txBox="1"/>
            <p:nvPr/>
          </p:nvSpPr>
          <p:spPr>
            <a:xfrm>
              <a:off x="5918797" y="5352336"/>
              <a:ext cx="58300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短期产品引导</a:t>
              </a:r>
            </a:p>
          </p:txBody>
        </p:sp>
        <p:sp>
          <p:nvSpPr>
            <p:cNvPr id="102" name="Line 102"/>
            <p:cNvSpPr/>
            <p:nvPr/>
          </p:nvSpPr>
          <p:spPr>
            <a:xfrm>
              <a:off x="5600700" y="5391150"/>
              <a:ext cx="190500" cy="133350"/>
            </a:xfrm>
            <a:custGeom>
              <a:avLst/>
              <a:gdLst/>
              <a:ahLst/>
              <a:cxnLst/>
              <a:rect l="l" t="t" r="r" b="b"/>
              <a:pathLst>
                <a:path w="190500" h="133350">
                  <a:moveTo>
                    <a:pt x="190500" y="0"/>
                  </a:moveTo>
                  <a:lnTo>
                    <a:pt x="0" y="133350"/>
                  </a:lnTo>
                </a:path>
              </a:pathLst>
            </a:custGeom>
            <a:noFill/>
            <a:ln w="9525">
              <a:solidFill>
                <a:srgbClr val="E74726"/>
              </a:solidFill>
            </a:ln>
          </p:spPr>
        </p:sp>
        <p:sp>
          <p:nvSpPr>
            <p:cNvPr id="103" name="Rectangle 103"/>
            <p:cNvSpPr/>
            <p:nvPr/>
          </p:nvSpPr>
          <p:spPr>
            <a:xfrm>
              <a:off x="3314700" y="6381750"/>
              <a:ext cx="838200" cy="171450"/>
            </a:xfrm>
            <a:prstGeom prst="roundRect">
              <a:avLst>
                <a:gd name="adj" fmla="val 50000"/>
              </a:avLst>
            </a:prstGeom>
            <a:solidFill>
              <a:srgbClr val="E74726"/>
            </a:solidFill>
            <a:ln>
              <a:noFill/>
            </a:ln>
          </p:spPr>
        </p:sp>
        <p:sp>
          <p:nvSpPr>
            <p:cNvPr id="104" name="TextBox 104"/>
            <p:cNvSpPr txBox="1"/>
            <p:nvPr/>
          </p:nvSpPr>
          <p:spPr>
            <a:xfrm>
              <a:off x="3442297" y="6428661"/>
              <a:ext cx="58300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产品详情购买</a:t>
              </a:r>
            </a:p>
          </p:txBody>
        </p:sp>
      </p:grpSp>
      <p:grpSp>
        <p:nvGrpSpPr>
          <p:cNvPr id="117" name="right-panel"/>
          <p:cNvGrpSpPr/>
          <p:nvPr/>
        </p:nvGrpSpPr>
        <p:grpSpPr>
          <a:xfrm>
            <a:off x="6858000" y="3257550"/>
            <a:ext cx="4914900" cy="2511266"/>
            <a:chOff x="6858000" y="3257550"/>
            <a:chExt cx="4914900" cy="2511266"/>
          </a:xfrm>
        </p:grpSpPr>
        <p:sp>
          <p:nvSpPr>
            <p:cNvPr id="106" name="Rectangle 106"/>
            <p:cNvSpPr/>
            <p:nvPr/>
          </p:nvSpPr>
          <p:spPr>
            <a:xfrm>
              <a:off x="6858000" y="3257550"/>
              <a:ext cx="4914900" cy="323850"/>
            </a:xfrm>
            <a:prstGeom prst="roundRect">
              <a:avLst>
                <a:gd name="adj" fmla="val 17647"/>
              </a:avLst>
            </a:prstGeom>
            <a:solidFill>
              <a:srgbClr val="E74726"/>
            </a:solidFill>
            <a:ln>
              <a:noFill/>
            </a:ln>
          </p:spPr>
        </p:sp>
        <p:sp>
          <p:nvSpPr>
            <p:cNvPr id="107" name="TextBox 107"/>
            <p:cNvSpPr txBox="1"/>
            <p:nvPr/>
          </p:nvSpPr>
          <p:spPr>
            <a:xfrm>
              <a:off x="8442743" y="3371374"/>
              <a:ext cx="174541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招商银行朝朝宝-产品运营页​</a:t>
              </a:r>
            </a:p>
          </p:txBody>
        </p:sp>
        <p:sp>
          <p:nvSpPr>
            <p:cNvPr id="108" name="TextBox 108"/>
            <p:cNvSpPr txBox="1"/>
            <p:nvPr/>
          </p:nvSpPr>
          <p:spPr>
            <a:xfrm>
              <a:off x="6929438" y="3759041"/>
              <a:ext cx="2973454"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① 标语简单明了：用生活化文案直达产品优势，降低理解门槛</a:t>
              </a:r>
            </a:p>
          </p:txBody>
        </p:sp>
        <p:sp>
          <p:nvSpPr>
            <p:cNvPr id="109" name="TextBox 109"/>
            <p:cNvSpPr txBox="1"/>
            <p:nvPr/>
          </p:nvSpPr>
          <p:spPr>
            <a:xfrm>
              <a:off x="6929438" y="4025741"/>
              <a:ext cx="3415007"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② 功能场景清晰：整合产品支付、转账、还款、理财等场景功能，打造</a:t>
              </a:r>
            </a:p>
          </p:txBody>
        </p:sp>
        <p:sp>
          <p:nvSpPr>
            <p:cNvPr id="110" name="TextBox 110"/>
            <p:cNvSpPr txBox="1"/>
            <p:nvPr/>
          </p:nvSpPr>
          <p:spPr>
            <a:xfrm>
              <a:off x="6929438" y="4197191"/>
              <a:ext cx="2228332"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生活+财富一体化超级账户，强化使用体验。​</a:t>
              </a:r>
            </a:p>
          </p:txBody>
        </p:sp>
        <p:sp>
          <p:nvSpPr>
            <p:cNvPr id="111" name="TextBox 111"/>
            <p:cNvSpPr txBox="1"/>
            <p:nvPr/>
          </p:nvSpPr>
          <p:spPr>
            <a:xfrm>
              <a:off x="6929438" y="4463891"/>
              <a:ext cx="2863065"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③ 从众效应背书：展示用户规模数据，打消客户决策顾虑。</a:t>
              </a:r>
            </a:p>
          </p:txBody>
        </p:sp>
        <p:sp>
          <p:nvSpPr>
            <p:cNvPr id="112" name="TextBox 112"/>
            <p:cNvSpPr txBox="1"/>
            <p:nvPr/>
          </p:nvSpPr>
          <p:spPr>
            <a:xfrm>
              <a:off x="6929438" y="4730591"/>
              <a:ext cx="3194230"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④ 产品详情购买：详情页增设立即购买入口，缩短决策与操作路径</a:t>
              </a:r>
            </a:p>
          </p:txBody>
        </p:sp>
        <p:sp>
          <p:nvSpPr>
            <p:cNvPr id="113" name="TextBox 113"/>
            <p:cNvSpPr txBox="1"/>
            <p:nvPr/>
          </p:nvSpPr>
          <p:spPr>
            <a:xfrm>
              <a:off x="6929438" y="4997291"/>
              <a:ext cx="3415007"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⑤ 他行资金归集：支持他行资金一键转入，拓展行外增量资金，打造核</a:t>
              </a:r>
            </a:p>
          </p:txBody>
        </p:sp>
        <p:sp>
          <p:nvSpPr>
            <p:cNvPr id="114" name="TextBox 114"/>
            <p:cNvSpPr txBox="1"/>
            <p:nvPr/>
          </p:nvSpPr>
          <p:spPr>
            <a:xfrm>
              <a:off x="6929438" y="5168741"/>
              <a:ext cx="671855"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心资金账户。</a:t>
              </a:r>
            </a:p>
          </p:txBody>
        </p:sp>
        <p:sp>
          <p:nvSpPr>
            <p:cNvPr id="115" name="TextBox 115"/>
            <p:cNvSpPr txBox="1"/>
            <p:nvPr/>
          </p:nvSpPr>
          <p:spPr>
            <a:xfrm>
              <a:off x="6929438" y="5435441"/>
              <a:ext cx="3437085"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⑥ 短期产品引导：同页串联朝朝宝→朝朝盈→多宝系列产品路径，搭建​​</a:t>
              </a:r>
            </a:p>
          </p:txBody>
        </p:sp>
        <p:sp>
          <p:nvSpPr>
            <p:cNvPr id="116" name="TextBox 116"/>
            <p:cNvSpPr txBox="1"/>
            <p:nvPr/>
          </p:nvSpPr>
          <p:spPr>
            <a:xfrm>
              <a:off x="6929438" y="5606891"/>
              <a:ext cx="1775739"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梯度理财体系，加强客户产品绑定。</a:t>
              </a:r>
            </a:p>
          </p:txBody>
        </p:sp>
      </p:grpSp>
      <p:sp>
        <p:nvSpPr>
          <p:cNvPr id="118" name="TextBox 118"/>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025312" cy="542925"/>
            <a:chOff x="0" y="0"/>
            <a:chExt cx="12025312"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17</a:t>
              </a:r>
            </a:p>
          </p:txBody>
        </p:sp>
        <p:sp>
          <p:nvSpPr>
            <p:cNvPr id="4" name="TextBox 4"/>
            <p:cNvSpPr txBox="1"/>
            <p:nvPr/>
          </p:nvSpPr>
          <p:spPr>
            <a:xfrm>
              <a:off x="942594" y="151448"/>
              <a:ext cx="7490719"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2.2.2 产品运营｜中国银行产品运营示例-</a:t>
              </a:r>
              <a:r>
                <a:rPr lang="zh-CN" sz="1950" b="1" dirty="0">
                  <a:solidFill>
                    <a:srgbClr val="E74726"/>
                  </a:solidFill>
                  <a:latin typeface="SimSun"/>
                  <a:ea typeface="SimSun"/>
                  <a:cs typeface="SimSun"/>
                </a:rPr>
                <a:t>活钱宝用钱场景</a:t>
              </a:r>
              <a:r>
                <a:rPr lang="zh-CN" sz="1950" b="1" dirty="0">
                  <a:solidFill>
                    <a:srgbClr val="1F1F1F"/>
                  </a:solidFill>
                  <a:latin typeface="SimSun"/>
                  <a:ea typeface="SimSun"/>
                  <a:cs typeface="SimSun"/>
                </a:rPr>
                <a:t>​​</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E74726"/>
              </a:solidFill>
            </a:ln>
          </p:spPr>
        </p:sp>
        <p:sp>
          <p:nvSpPr>
            <p:cNvPr id="6" name="TextBox 6"/>
            <p:cNvSpPr txBox="1"/>
            <p:nvPr/>
          </p:nvSpPr>
          <p:spPr>
            <a:xfrm>
              <a:off x="10126193" y="139541"/>
              <a:ext cx="1899119" cy="161925"/>
            </a:xfrm>
            <a:prstGeom prst="rect">
              <a:avLst/>
            </a:prstGeom>
            <a:noFill/>
            <a:ln>
              <a:noFill/>
            </a:ln>
          </p:spPr>
          <p:txBody>
            <a:bodyPr wrap="none" lIns="0" tIns="0" rIns="0" bIns="0" anchor="t" anchorCtr="0">
              <a:spAutoFit/>
            </a:bodyPr>
            <a:lstStyle/>
            <a:p>
              <a:pPr algn="r"/>
              <a:r>
                <a:rPr lang="zh-CN" sz="820" b="1" dirty="0">
                  <a:solidFill>
                    <a:srgbClr val="B8351A"/>
                  </a:solidFill>
                  <a:latin typeface="+mn-lt"/>
                  <a:ea typeface="+mn-ea"/>
                  <a:cs typeface="+mn-cs"/>
                </a:rPr>
                <a:t>CEC 中国电子 ｜ 中电金信 GienTech​</a:t>
              </a:r>
            </a:p>
          </p:txBody>
        </p:sp>
      </p:grpSp>
      <p:grpSp>
        <p:nvGrpSpPr>
          <p:cNvPr id="11" name="lead"/>
          <p:cNvGrpSpPr/>
          <p:nvPr/>
        </p:nvGrpSpPr>
        <p:grpSpPr>
          <a:xfrm>
            <a:off x="566166" y="667702"/>
            <a:ext cx="6493396" cy="551260"/>
            <a:chOff x="566166" y="667702"/>
            <a:chExt cx="6493396" cy="551260"/>
          </a:xfrm>
        </p:grpSpPr>
        <p:sp>
          <p:nvSpPr>
            <p:cNvPr id="8" name="TextBox 8"/>
            <p:cNvSpPr txBox="1"/>
            <p:nvPr/>
          </p:nvSpPr>
          <p:spPr>
            <a:xfrm>
              <a:off x="566166" y="667702"/>
              <a:ext cx="4392549"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构建还款支付智能流出闭环，免手动赎回提升体验，锁定长尾资金沉淀</a:t>
              </a:r>
            </a:p>
          </p:txBody>
        </p:sp>
        <p:sp>
          <p:nvSpPr>
            <p:cNvPr id="9" name="TextBox 9"/>
            <p:cNvSpPr txBox="1"/>
            <p:nvPr/>
          </p:nvSpPr>
          <p:spPr>
            <a:xfrm>
              <a:off x="566738" y="887968"/>
              <a:ext cx="6492824"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以信用卡自动还款、贷款还款管家、智能自动赎回三大场景，打通理财与支付体系，实现资金无感调配，在保障支付流畅的同时</a:t>
              </a:r>
            </a:p>
          </p:txBody>
        </p:sp>
        <p:sp>
          <p:nvSpPr>
            <p:cNvPr id="10" name="TextBox 10"/>
            <p:cNvSpPr txBox="1"/>
            <p:nvPr/>
          </p:nvSpPr>
          <p:spPr>
            <a:xfrm>
              <a:off x="566738" y="1049893"/>
              <a:ext cx="1514577" cy="169069"/>
            </a:xfrm>
            <a:prstGeom prst="rect">
              <a:avLst/>
            </a:prstGeom>
            <a:noFill/>
            <a:ln>
              <a:noFill/>
            </a:ln>
          </p:spPr>
          <p:txBody>
            <a:bodyPr wrap="none" lIns="0" tIns="0" rIns="0" bIns="0" anchor="t" anchorCtr="0">
              <a:spAutoFit/>
            </a:bodyPr>
            <a:lstStyle/>
            <a:p>
              <a:pPr algn="l"/>
              <a:r>
                <a:rPr lang="zh-CN" sz="860" dirty="0">
                  <a:solidFill>
                    <a:srgbClr val="684F4A"/>
                  </a:solidFill>
                  <a:latin typeface="+mn-lt"/>
                  <a:ea typeface="+mn-ea"/>
                  <a:cs typeface="+mn-cs"/>
                </a:rPr>
                <a:t>锁定闲钱留存，提升账户粘性</a:t>
              </a:r>
            </a:p>
          </p:txBody>
        </p:sp>
      </p:grpSp>
      <p:grpSp>
        <p:nvGrpSpPr>
          <p:cNvPr id="33" name="left-content"/>
          <p:cNvGrpSpPr/>
          <p:nvPr/>
        </p:nvGrpSpPr>
        <p:grpSpPr>
          <a:xfrm>
            <a:off x="400050" y="1428750"/>
            <a:ext cx="4627830" cy="3594020"/>
            <a:chOff x="400050" y="1428750"/>
            <a:chExt cx="4627830" cy="3594020"/>
          </a:xfrm>
        </p:grpSpPr>
        <p:sp>
          <p:nvSpPr>
            <p:cNvPr id="12" name="Ellipse 12"/>
            <p:cNvSpPr/>
            <p:nvPr/>
          </p:nvSpPr>
          <p:spPr>
            <a:xfrm>
              <a:off x="400050" y="1428750"/>
              <a:ext cx="381000" cy="381000"/>
            </a:xfrm>
            <a:prstGeom prst="ellipse">
              <a:avLst/>
            </a:prstGeom>
            <a:solidFill>
              <a:srgbClr val="E74726"/>
            </a:solidFill>
            <a:ln>
              <a:noFill/>
            </a:ln>
          </p:spPr>
        </p:sp>
        <p:grpSp>
          <p:nvGrpSpPr>
            <p:cNvPr id="15" name="Group 15"/>
            <p:cNvGrpSpPr/>
            <p:nvPr/>
          </p:nvGrpSpPr>
          <p:grpSpPr>
            <a:xfrm>
              <a:off x="490538" y="1519238"/>
              <a:ext cx="200026" cy="200026"/>
              <a:chOff x="490538" y="1519238"/>
              <a:chExt cx="200026" cy="200026"/>
            </a:xfrm>
          </p:grpSpPr>
          <p:sp>
            <p:nvSpPr>
              <p:cNvPr id="13" name="Freeform 13"/>
              <p:cNvSpPr/>
              <p:nvPr/>
            </p:nvSpPr>
            <p:spPr>
              <a:xfrm>
                <a:off x="490538" y="15192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FFFFFF"/>
                </a:solidFill>
              </a:ln>
            </p:spPr>
          </p:sp>
          <p:sp>
            <p:nvSpPr>
              <p:cNvPr id="14" name="Freeform 14"/>
              <p:cNvSpPr/>
              <p:nvPr/>
            </p:nvSpPr>
            <p:spPr>
              <a:xfrm>
                <a:off x="557213" y="1597025"/>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16" name="Rectangle 16"/>
            <p:cNvSpPr/>
            <p:nvPr/>
          </p:nvSpPr>
          <p:spPr>
            <a:xfrm>
              <a:off x="952500" y="1447800"/>
              <a:ext cx="3810000" cy="342900"/>
            </a:xfrm>
            <a:prstGeom prst="roundRect">
              <a:avLst>
                <a:gd name="adj" fmla="val 16667"/>
              </a:avLst>
            </a:prstGeom>
            <a:solidFill>
              <a:srgbClr val="E74726"/>
            </a:solidFill>
            <a:ln>
              <a:noFill/>
            </a:ln>
          </p:spPr>
        </p:sp>
        <p:sp>
          <p:nvSpPr>
            <p:cNvPr id="17" name="TextBox 17"/>
            <p:cNvSpPr txBox="1"/>
            <p:nvPr/>
          </p:nvSpPr>
          <p:spPr>
            <a:xfrm>
              <a:off x="1933384" y="1563052"/>
              <a:ext cx="184823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用钱场景：资金智能自动流出</a:t>
              </a:r>
            </a:p>
          </p:txBody>
        </p:sp>
        <p:sp>
          <p:nvSpPr>
            <p:cNvPr id="18" name="Rectangle 18"/>
            <p:cNvSpPr/>
            <p:nvPr/>
          </p:nvSpPr>
          <p:spPr>
            <a:xfrm>
              <a:off x="476250" y="1981200"/>
              <a:ext cx="952500" cy="266700"/>
            </a:xfrm>
            <a:prstGeom prst="roundRect">
              <a:avLst>
                <a:gd name="adj" fmla="val 14286"/>
              </a:avLst>
            </a:prstGeom>
            <a:solidFill>
              <a:srgbClr val="FFFFFF"/>
            </a:solidFill>
            <a:ln w="9525">
              <a:solidFill>
                <a:srgbClr val="E74726"/>
              </a:solidFill>
              <a:custDash>
                <a:ds d="400000" sp="300000"/>
              </a:custDash>
            </a:ln>
          </p:spPr>
        </p:sp>
        <p:sp>
          <p:nvSpPr>
            <p:cNvPr id="19" name="TextBox 19"/>
            <p:cNvSpPr txBox="1"/>
            <p:nvPr/>
          </p:nvSpPr>
          <p:spPr>
            <a:xfrm>
              <a:off x="716191" y="2069068"/>
              <a:ext cx="472618" cy="169069"/>
            </a:xfrm>
            <a:prstGeom prst="rect">
              <a:avLst/>
            </a:prstGeom>
            <a:noFill/>
            <a:ln>
              <a:noFill/>
            </a:ln>
          </p:spPr>
          <p:txBody>
            <a:bodyPr wrap="none" lIns="0" tIns="0" rIns="0" bIns="0" anchor="t" anchorCtr="0">
              <a:spAutoFit/>
            </a:bodyPr>
            <a:lstStyle/>
            <a:p>
              <a:pPr algn="ctr"/>
              <a:r>
                <a:rPr lang="zh-CN" sz="860" b="1" dirty="0">
                  <a:solidFill>
                    <a:srgbClr val="E74726"/>
                  </a:solidFill>
                  <a:latin typeface="+mn-lt"/>
                  <a:ea typeface="+mn-ea"/>
                  <a:cs typeface="+mn-cs"/>
                </a:rPr>
                <a:t>核心逻辑</a:t>
              </a:r>
            </a:p>
          </p:txBody>
        </p:sp>
        <p:sp>
          <p:nvSpPr>
            <p:cNvPr id="20" name="TextBox 20"/>
            <p:cNvSpPr txBox="1"/>
            <p:nvPr/>
          </p:nvSpPr>
          <p:spPr>
            <a:xfrm>
              <a:off x="1557338" y="2073116"/>
              <a:ext cx="3111439"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让客户在要支付/还款时无需手动赎回，系统自动完成资金调配​</a:t>
              </a:r>
            </a:p>
          </p:txBody>
        </p:sp>
        <p:sp>
          <p:nvSpPr>
            <p:cNvPr id="21" name="Rectangle 21"/>
            <p:cNvSpPr/>
            <p:nvPr/>
          </p:nvSpPr>
          <p:spPr>
            <a:xfrm>
              <a:off x="476250" y="2381250"/>
              <a:ext cx="952500" cy="266700"/>
            </a:xfrm>
            <a:prstGeom prst="roundRect">
              <a:avLst>
                <a:gd name="adj" fmla="val 14286"/>
              </a:avLst>
            </a:prstGeom>
            <a:solidFill>
              <a:srgbClr val="FFFFFF"/>
            </a:solidFill>
            <a:ln w="9525">
              <a:solidFill>
                <a:srgbClr val="E74726"/>
              </a:solidFill>
              <a:custDash>
                <a:ds d="400000" sp="300000"/>
              </a:custDash>
            </a:ln>
          </p:spPr>
        </p:sp>
        <p:sp>
          <p:nvSpPr>
            <p:cNvPr id="22" name="TextBox 22"/>
            <p:cNvSpPr txBox="1"/>
            <p:nvPr/>
          </p:nvSpPr>
          <p:spPr>
            <a:xfrm>
              <a:off x="716191" y="2469118"/>
              <a:ext cx="472618" cy="169069"/>
            </a:xfrm>
            <a:prstGeom prst="rect">
              <a:avLst/>
            </a:prstGeom>
            <a:noFill/>
            <a:ln>
              <a:noFill/>
            </a:ln>
          </p:spPr>
          <p:txBody>
            <a:bodyPr wrap="none" lIns="0" tIns="0" rIns="0" bIns="0" anchor="t" anchorCtr="0">
              <a:spAutoFit/>
            </a:bodyPr>
            <a:lstStyle/>
            <a:p>
              <a:pPr algn="ctr"/>
              <a:r>
                <a:rPr lang="zh-CN" sz="860" b="1" dirty="0">
                  <a:solidFill>
                    <a:srgbClr val="E74726"/>
                  </a:solidFill>
                  <a:latin typeface="+mn-lt"/>
                  <a:ea typeface="+mn-ea"/>
                  <a:cs typeface="+mn-cs"/>
                </a:rPr>
                <a:t>三大场景</a:t>
              </a:r>
            </a:p>
          </p:txBody>
        </p:sp>
        <p:sp>
          <p:nvSpPr>
            <p:cNvPr id="23" name="TextBox 23"/>
            <p:cNvSpPr txBox="1"/>
            <p:nvPr/>
          </p:nvSpPr>
          <p:spPr>
            <a:xfrm>
              <a:off x="1557338" y="2473166"/>
              <a:ext cx="2327681" cy="161925"/>
            </a:xfrm>
            <a:prstGeom prst="rect">
              <a:avLst/>
            </a:prstGeom>
            <a:noFill/>
            <a:ln>
              <a:noFill/>
            </a:ln>
          </p:spPr>
          <p:txBody>
            <a:bodyPr wrap="none" lIns="0" tIns="0" rIns="0" bIns="0" anchor="t" anchorCtr="0">
              <a:spAutoFit/>
            </a:bodyPr>
            <a:lstStyle/>
            <a:p>
              <a:pPr algn="l"/>
              <a:r>
                <a:rPr lang="zh-CN" sz="820" dirty="0">
                  <a:solidFill>
                    <a:srgbClr val="523833"/>
                  </a:solidFill>
                  <a:latin typeface="+mn-lt"/>
                  <a:ea typeface="+mn-ea"/>
                  <a:cs typeface="+mn-cs"/>
                </a:rPr>
                <a:t>规划三大功能模块体验无感操作，引导资金留存</a:t>
              </a:r>
            </a:p>
          </p:txBody>
        </p:sp>
        <p:sp>
          <p:nvSpPr>
            <p:cNvPr id="24" name="TextBox 24"/>
            <p:cNvSpPr txBox="1"/>
            <p:nvPr/>
          </p:nvSpPr>
          <p:spPr>
            <a:xfrm>
              <a:off x="528638" y="2912745"/>
              <a:ext cx="1067537"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①信用卡自动还款​​</a:t>
              </a:r>
            </a:p>
          </p:txBody>
        </p:sp>
        <p:sp>
          <p:nvSpPr>
            <p:cNvPr id="25" name="TextBox 25"/>
            <p:cNvSpPr txBox="1"/>
            <p:nvPr/>
          </p:nvSpPr>
          <p:spPr>
            <a:xfrm>
              <a:off x="604838" y="3134439"/>
              <a:ext cx="3231924"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 核心机制：打通理财与信用卡账单系统，账单日自动划转完成还款</a:t>
              </a:r>
            </a:p>
          </p:txBody>
        </p:sp>
        <p:sp>
          <p:nvSpPr>
            <p:cNvPr id="26" name="TextBox 26"/>
            <p:cNvSpPr txBox="1"/>
            <p:nvPr/>
          </p:nvSpPr>
          <p:spPr>
            <a:xfrm>
              <a:off x="604838" y="3305889"/>
              <a:ext cx="442304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 双向价值：闲钱持续增值+免手动操作+杜绝逾期；将低频还款资金转化为常态化稳定留存​​</a:t>
              </a:r>
            </a:p>
          </p:txBody>
        </p:sp>
        <p:sp>
          <p:nvSpPr>
            <p:cNvPr id="27" name="TextBox 27"/>
            <p:cNvSpPr txBox="1"/>
            <p:nvPr/>
          </p:nvSpPr>
          <p:spPr>
            <a:xfrm>
              <a:off x="528638" y="3693795"/>
              <a:ext cx="946379"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②贷款还款管家​​</a:t>
              </a:r>
            </a:p>
          </p:txBody>
        </p:sp>
        <p:sp>
          <p:nvSpPr>
            <p:cNvPr id="28" name="TextBox 28"/>
            <p:cNvSpPr txBox="1"/>
            <p:nvPr/>
          </p:nvSpPr>
          <p:spPr>
            <a:xfrm>
              <a:off x="604838" y="3915489"/>
              <a:ext cx="2912875"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 核心机制：打通贷款还款账户，还款日自动赎回并划扣资金</a:t>
              </a:r>
            </a:p>
          </p:txBody>
        </p:sp>
        <p:sp>
          <p:nvSpPr>
            <p:cNvPr id="29" name="TextBox 29"/>
            <p:cNvSpPr txBox="1"/>
            <p:nvPr/>
          </p:nvSpPr>
          <p:spPr>
            <a:xfrm>
              <a:off x="604838" y="4086939"/>
              <a:ext cx="408272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 双向价值：资金增值、按期还款的全流程自动化；锁定还款资金，增加交叉销售触点</a:t>
              </a:r>
            </a:p>
          </p:txBody>
        </p:sp>
        <p:sp>
          <p:nvSpPr>
            <p:cNvPr id="30" name="TextBox 30"/>
            <p:cNvSpPr txBox="1"/>
            <p:nvPr/>
          </p:nvSpPr>
          <p:spPr>
            <a:xfrm>
              <a:off x="528638" y="4474845"/>
              <a:ext cx="774032"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③自动赎回​​​</a:t>
              </a:r>
            </a:p>
          </p:txBody>
        </p:sp>
        <p:sp>
          <p:nvSpPr>
            <p:cNvPr id="31" name="TextBox 31"/>
            <p:cNvSpPr txBox="1"/>
            <p:nvPr/>
          </p:nvSpPr>
          <p:spPr>
            <a:xfrm>
              <a:off x="604838" y="4696539"/>
              <a:ext cx="3657323"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 核心机制：活期余额不足时，自动赎回活钱宝份额补足交易，全程客户无感</a:t>
              </a:r>
            </a:p>
          </p:txBody>
        </p:sp>
        <p:sp>
          <p:nvSpPr>
            <p:cNvPr id="32" name="TextBox 32"/>
            <p:cNvSpPr txBox="1"/>
            <p:nvPr/>
          </p:nvSpPr>
          <p:spPr>
            <a:xfrm>
              <a:off x="604838" y="4867989"/>
              <a:ext cx="4189072" cy="154781"/>
            </a:xfrm>
            <a:prstGeom prst="rect">
              <a:avLst/>
            </a:prstGeom>
            <a:noFill/>
            <a:ln>
              <a:noFill/>
            </a:ln>
          </p:spPr>
          <p:txBody>
            <a:bodyPr wrap="none" lIns="0" tIns="0" rIns="0" bIns="0" anchor="t" anchorCtr="0">
              <a:spAutoFit/>
            </a:bodyPr>
            <a:lstStyle/>
            <a:p>
              <a:pPr algn="l"/>
              <a:r>
                <a:rPr lang="zh-CN" sz="790" dirty="0">
                  <a:solidFill>
                    <a:srgbClr val="523833"/>
                  </a:solidFill>
                  <a:latin typeface="+mn-lt"/>
                  <a:ea typeface="+mn-ea"/>
                  <a:cs typeface="+mn-cs"/>
                </a:rPr>
                <a:t>✓ 双向价值：覆盖计划外支出，保障支付流畅体验；锁定客户主账户地位，提升账户粘性</a:t>
              </a:r>
            </a:p>
          </p:txBody>
        </p:sp>
      </p:grpSp>
      <p:grpSp>
        <p:nvGrpSpPr>
          <p:cNvPr id="109" name="right-case"/>
          <p:cNvGrpSpPr/>
          <p:nvPr/>
        </p:nvGrpSpPr>
        <p:grpSpPr>
          <a:xfrm>
            <a:off x="6096000" y="1295400"/>
            <a:ext cx="5676900" cy="5213270"/>
            <a:chOff x="6096000" y="1295400"/>
            <a:chExt cx="5676900" cy="5213270"/>
          </a:xfrm>
        </p:grpSpPr>
        <p:sp>
          <p:nvSpPr>
            <p:cNvPr id="34" name="Rectangle 34"/>
            <p:cNvSpPr/>
            <p:nvPr/>
          </p:nvSpPr>
          <p:spPr>
            <a:xfrm>
              <a:off x="6096000" y="1428750"/>
              <a:ext cx="5676900" cy="4762500"/>
            </a:xfrm>
            <a:prstGeom prst="roundRect">
              <a:avLst>
                <a:gd name="adj" fmla="val 2000"/>
              </a:avLst>
            </a:prstGeom>
            <a:noFill/>
            <a:ln w="14288">
              <a:solidFill>
                <a:srgbClr val="E74726"/>
              </a:solidFill>
              <a:custDash>
                <a:ds d="466667" sp="333333"/>
              </a:custDash>
            </a:ln>
          </p:spPr>
        </p:sp>
        <p:sp>
          <p:nvSpPr>
            <p:cNvPr id="35" name="Rectangle 35"/>
            <p:cNvSpPr/>
            <p:nvPr/>
          </p:nvSpPr>
          <p:spPr>
            <a:xfrm>
              <a:off x="7620000" y="1295400"/>
              <a:ext cx="2628900" cy="247650"/>
            </a:xfrm>
            <a:prstGeom prst="rect">
              <a:avLst/>
            </a:prstGeom>
            <a:solidFill>
              <a:srgbClr val="FFFFFF"/>
            </a:solidFill>
            <a:ln>
              <a:noFill/>
            </a:ln>
          </p:spPr>
        </p:sp>
        <p:sp>
          <p:nvSpPr>
            <p:cNvPr id="36" name="TextBox 36"/>
            <p:cNvSpPr txBox="1"/>
            <p:nvPr/>
          </p:nvSpPr>
          <p:spPr>
            <a:xfrm>
              <a:off x="8006004" y="1371124"/>
              <a:ext cx="1856892" cy="190690"/>
            </a:xfrm>
            <a:prstGeom prst="rect">
              <a:avLst/>
            </a:prstGeom>
            <a:noFill/>
            <a:ln>
              <a:noFill/>
            </a:ln>
          </p:spPr>
          <p:txBody>
            <a:bodyPr wrap="none" lIns="0" tIns="0" rIns="0" bIns="0" anchor="t" anchorCtr="0">
              <a:spAutoFit/>
            </a:bodyPr>
            <a:lstStyle/>
            <a:p>
              <a:pPr algn="ctr"/>
              <a:r>
                <a:rPr lang="zh-CN" sz="980" b="1" dirty="0">
                  <a:solidFill>
                    <a:srgbClr val="E74726"/>
                  </a:solidFill>
                  <a:latin typeface="+mn-lt"/>
                  <a:ea typeface="+mn-ea"/>
                  <a:cs typeface="+mn-cs"/>
                </a:rPr>
                <a:t>中国银行长尾客群产品运营案例</a:t>
              </a:r>
            </a:p>
          </p:txBody>
        </p:sp>
        <p:sp>
          <p:nvSpPr>
            <p:cNvPr id="37" name="Rectangle 37"/>
            <p:cNvSpPr/>
            <p:nvPr/>
          </p:nvSpPr>
          <p:spPr>
            <a:xfrm>
              <a:off x="6248400" y="1866900"/>
              <a:ext cx="1333500" cy="3810000"/>
            </a:xfrm>
            <a:prstGeom prst="roundRect">
              <a:avLst>
                <a:gd name="adj" fmla="val 5714"/>
              </a:avLst>
            </a:prstGeom>
            <a:solidFill>
              <a:srgbClr val="FFFFFF"/>
            </a:solidFill>
            <a:ln w="9525">
              <a:solidFill>
                <a:srgbClr val="E0E6EF"/>
              </a:solidFill>
            </a:ln>
          </p:spPr>
        </p:sp>
        <p:sp>
          <p:nvSpPr>
            <p:cNvPr id="38" name="Rectangle 38"/>
            <p:cNvSpPr/>
            <p:nvPr/>
          </p:nvSpPr>
          <p:spPr>
            <a:xfrm>
              <a:off x="6248400" y="1866900"/>
              <a:ext cx="1333500" cy="247650"/>
            </a:xfrm>
            <a:prstGeom prst="roundRect">
              <a:avLst>
                <a:gd name="adj" fmla="val 30769"/>
              </a:avLst>
            </a:prstGeom>
            <a:solidFill>
              <a:srgbClr val="F5F5F5"/>
            </a:solidFill>
            <a:ln>
              <a:noFill/>
            </a:ln>
          </p:spPr>
        </p:sp>
        <p:sp>
          <p:nvSpPr>
            <p:cNvPr id="39" name="TextBox 39"/>
            <p:cNvSpPr txBox="1"/>
            <p:nvPr/>
          </p:nvSpPr>
          <p:spPr>
            <a:xfrm>
              <a:off x="6719227" y="1961436"/>
              <a:ext cx="391846" cy="140494"/>
            </a:xfrm>
            <a:prstGeom prst="rect">
              <a:avLst/>
            </a:prstGeom>
            <a:noFill/>
            <a:ln>
              <a:noFill/>
            </a:ln>
          </p:spPr>
          <p:txBody>
            <a:bodyPr wrap="none" lIns="0" tIns="0" rIns="0" bIns="0" anchor="t" anchorCtr="0">
              <a:spAutoFit/>
            </a:bodyPr>
            <a:lstStyle/>
            <a:p>
              <a:pPr algn="ctr"/>
              <a:r>
                <a:rPr lang="zh-CN" sz="710" dirty="0">
                  <a:solidFill>
                    <a:srgbClr val="846F6B"/>
                  </a:solidFill>
                  <a:latin typeface="+mn-lt"/>
                  <a:ea typeface="+mn-ea"/>
                  <a:cs typeface="+mn-cs"/>
                </a:rPr>
                <a:t>薪酬理财</a:t>
              </a:r>
            </a:p>
          </p:txBody>
        </p:sp>
        <p:sp>
          <p:nvSpPr>
            <p:cNvPr id="40" name="Rectangle 40"/>
            <p:cNvSpPr/>
            <p:nvPr/>
          </p:nvSpPr>
          <p:spPr>
            <a:xfrm>
              <a:off x="6324600" y="2209800"/>
              <a:ext cx="1181100" cy="66675"/>
            </a:xfrm>
            <a:prstGeom prst="roundRect">
              <a:avLst>
                <a:gd name="adj" fmla="val 42857"/>
              </a:avLst>
            </a:prstGeom>
            <a:solidFill>
              <a:srgbClr val="F0F0F0"/>
            </a:solidFill>
            <a:ln>
              <a:noFill/>
            </a:ln>
          </p:spPr>
        </p:sp>
        <p:sp>
          <p:nvSpPr>
            <p:cNvPr id="41" name="Rectangle 41"/>
            <p:cNvSpPr/>
            <p:nvPr/>
          </p:nvSpPr>
          <p:spPr>
            <a:xfrm>
              <a:off x="6305550" y="2381250"/>
              <a:ext cx="1219200" cy="952500"/>
            </a:xfrm>
            <a:prstGeom prst="roundRect">
              <a:avLst>
                <a:gd name="adj" fmla="val 4000"/>
              </a:avLst>
            </a:prstGeom>
            <a:noFill/>
            <a:ln w="14288">
              <a:solidFill>
                <a:srgbClr val="E0462C"/>
              </a:solidFill>
            </a:ln>
          </p:spPr>
        </p:sp>
        <p:sp>
          <p:nvSpPr>
            <p:cNvPr id="42" name="Rectangle 42"/>
            <p:cNvSpPr/>
            <p:nvPr/>
          </p:nvSpPr>
          <p:spPr>
            <a:xfrm>
              <a:off x="6362700" y="2457450"/>
              <a:ext cx="571500" cy="152400"/>
            </a:xfrm>
            <a:prstGeom prst="roundRect">
              <a:avLst>
                <a:gd name="adj" fmla="val 18750"/>
              </a:avLst>
            </a:prstGeom>
            <a:solidFill>
              <a:srgbClr val="E0462C"/>
            </a:solidFill>
            <a:ln>
              <a:noFill/>
            </a:ln>
          </p:spPr>
        </p:sp>
        <p:sp>
          <p:nvSpPr>
            <p:cNvPr id="43" name="TextBox 43"/>
            <p:cNvSpPr txBox="1"/>
            <p:nvPr/>
          </p:nvSpPr>
          <p:spPr>
            <a:xfrm>
              <a:off x="6460604" y="24988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赚钱场景</a:t>
              </a:r>
            </a:p>
          </p:txBody>
        </p:sp>
        <p:sp>
          <p:nvSpPr>
            <p:cNvPr id="44" name="TextBox 44"/>
            <p:cNvSpPr txBox="1"/>
            <p:nvPr/>
          </p:nvSpPr>
          <p:spPr>
            <a:xfrm>
              <a:off x="6396038" y="2780586"/>
              <a:ext cx="583006" cy="140494"/>
            </a:xfrm>
            <a:prstGeom prst="rect">
              <a:avLst/>
            </a:prstGeom>
            <a:noFill/>
            <a:ln>
              <a:noFill/>
            </a:ln>
          </p:spPr>
          <p:txBody>
            <a:bodyPr wrap="none" lIns="0" tIns="0" rIns="0" bIns="0" anchor="t" anchorCtr="0">
              <a:spAutoFit/>
            </a:bodyPr>
            <a:lstStyle/>
            <a:p>
              <a:pPr algn="l"/>
              <a:r>
                <a:rPr lang="zh-CN" sz="710" dirty="0">
                  <a:solidFill>
                    <a:srgbClr val="523833"/>
                  </a:solidFill>
                  <a:latin typeface="+mn-lt"/>
                  <a:ea typeface="+mn-ea"/>
                  <a:cs typeface="+mn-cs"/>
                </a:rPr>
                <a:t>余额自动申购</a:t>
              </a:r>
            </a:p>
          </p:txBody>
        </p:sp>
        <p:sp>
          <p:nvSpPr>
            <p:cNvPr id="45" name="TextBox 45"/>
            <p:cNvSpPr txBox="1"/>
            <p:nvPr/>
          </p:nvSpPr>
          <p:spPr>
            <a:xfrm>
              <a:off x="6396038" y="3066336"/>
              <a:ext cx="391846" cy="140494"/>
            </a:xfrm>
            <a:prstGeom prst="rect">
              <a:avLst/>
            </a:prstGeom>
            <a:noFill/>
            <a:ln>
              <a:noFill/>
            </a:ln>
          </p:spPr>
          <p:txBody>
            <a:bodyPr wrap="none" lIns="0" tIns="0" rIns="0" bIns="0" anchor="t" anchorCtr="0">
              <a:spAutoFit/>
            </a:bodyPr>
            <a:lstStyle/>
            <a:p>
              <a:pPr algn="l"/>
              <a:r>
                <a:rPr lang="zh-CN" sz="710" dirty="0">
                  <a:solidFill>
                    <a:srgbClr val="523833"/>
                  </a:solidFill>
                  <a:latin typeface="+mn-lt"/>
                  <a:ea typeface="+mn-ea"/>
                  <a:cs typeface="+mn-cs"/>
                </a:rPr>
                <a:t>工资定投</a:t>
              </a:r>
            </a:p>
          </p:txBody>
        </p:sp>
        <p:sp>
          <p:nvSpPr>
            <p:cNvPr id="46" name="Rectangle 46"/>
            <p:cNvSpPr/>
            <p:nvPr/>
          </p:nvSpPr>
          <p:spPr>
            <a:xfrm>
              <a:off x="6305550" y="3486150"/>
              <a:ext cx="1219200" cy="1333500"/>
            </a:xfrm>
            <a:prstGeom prst="roundRect">
              <a:avLst>
                <a:gd name="adj" fmla="val 3125"/>
              </a:avLst>
            </a:prstGeom>
            <a:noFill/>
            <a:ln w="14288">
              <a:solidFill>
                <a:srgbClr val="E0462C"/>
              </a:solidFill>
            </a:ln>
          </p:spPr>
        </p:sp>
        <p:sp>
          <p:nvSpPr>
            <p:cNvPr id="47" name="Rectangle 47"/>
            <p:cNvSpPr/>
            <p:nvPr/>
          </p:nvSpPr>
          <p:spPr>
            <a:xfrm>
              <a:off x="6362700" y="3562350"/>
              <a:ext cx="571500" cy="152400"/>
            </a:xfrm>
            <a:prstGeom prst="roundRect">
              <a:avLst>
                <a:gd name="adj" fmla="val 18750"/>
              </a:avLst>
            </a:prstGeom>
            <a:solidFill>
              <a:srgbClr val="E0462C"/>
            </a:solidFill>
            <a:ln>
              <a:noFill/>
            </a:ln>
          </p:spPr>
        </p:sp>
        <p:sp>
          <p:nvSpPr>
            <p:cNvPr id="48" name="TextBox 48"/>
            <p:cNvSpPr txBox="1"/>
            <p:nvPr/>
          </p:nvSpPr>
          <p:spPr>
            <a:xfrm>
              <a:off x="6460604" y="36037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用钱场景</a:t>
              </a:r>
            </a:p>
          </p:txBody>
        </p:sp>
        <p:sp>
          <p:nvSpPr>
            <p:cNvPr id="49" name="TextBox 49"/>
            <p:cNvSpPr txBox="1"/>
            <p:nvPr/>
          </p:nvSpPr>
          <p:spPr>
            <a:xfrm>
              <a:off x="6396038" y="3885486"/>
              <a:ext cx="678586" cy="140494"/>
            </a:xfrm>
            <a:prstGeom prst="rect">
              <a:avLst/>
            </a:prstGeom>
            <a:noFill/>
            <a:ln>
              <a:noFill/>
            </a:ln>
          </p:spPr>
          <p:txBody>
            <a:bodyPr wrap="none" lIns="0" tIns="0" rIns="0" bIns="0" anchor="t" anchorCtr="0">
              <a:spAutoFit/>
            </a:bodyPr>
            <a:lstStyle/>
            <a:p>
              <a:pPr algn="l"/>
              <a:r>
                <a:rPr lang="zh-CN" sz="710" dirty="0">
                  <a:solidFill>
                    <a:srgbClr val="523833"/>
                  </a:solidFill>
                  <a:latin typeface="+mn-lt"/>
                  <a:ea typeface="+mn-ea"/>
                  <a:cs typeface="+mn-cs"/>
                </a:rPr>
                <a:t>信用卡自动还款</a:t>
              </a:r>
            </a:p>
          </p:txBody>
        </p:sp>
        <p:sp>
          <p:nvSpPr>
            <p:cNvPr id="50" name="TextBox 50"/>
            <p:cNvSpPr txBox="1"/>
            <p:nvPr/>
          </p:nvSpPr>
          <p:spPr>
            <a:xfrm>
              <a:off x="6396038" y="4190286"/>
              <a:ext cx="583006" cy="140494"/>
            </a:xfrm>
            <a:prstGeom prst="rect">
              <a:avLst/>
            </a:prstGeom>
            <a:noFill/>
            <a:ln>
              <a:noFill/>
            </a:ln>
          </p:spPr>
          <p:txBody>
            <a:bodyPr wrap="none" lIns="0" tIns="0" rIns="0" bIns="0" anchor="t" anchorCtr="0">
              <a:spAutoFit/>
            </a:bodyPr>
            <a:lstStyle/>
            <a:p>
              <a:pPr algn="l"/>
              <a:r>
                <a:rPr lang="zh-CN" sz="710" dirty="0">
                  <a:solidFill>
                    <a:srgbClr val="523833"/>
                  </a:solidFill>
                  <a:latin typeface="+mn-lt"/>
                  <a:ea typeface="+mn-ea"/>
                  <a:cs typeface="+mn-cs"/>
                </a:rPr>
                <a:t>贷款还款管家</a:t>
              </a:r>
            </a:p>
          </p:txBody>
        </p:sp>
        <p:sp>
          <p:nvSpPr>
            <p:cNvPr id="51" name="TextBox 51"/>
            <p:cNvSpPr txBox="1"/>
            <p:nvPr/>
          </p:nvSpPr>
          <p:spPr>
            <a:xfrm>
              <a:off x="6396038" y="4495086"/>
              <a:ext cx="391846" cy="140494"/>
            </a:xfrm>
            <a:prstGeom prst="rect">
              <a:avLst/>
            </a:prstGeom>
            <a:noFill/>
            <a:ln>
              <a:noFill/>
            </a:ln>
          </p:spPr>
          <p:txBody>
            <a:bodyPr wrap="none" lIns="0" tIns="0" rIns="0" bIns="0" anchor="t" anchorCtr="0">
              <a:spAutoFit/>
            </a:bodyPr>
            <a:lstStyle/>
            <a:p>
              <a:pPr algn="l"/>
              <a:r>
                <a:rPr lang="zh-CN" sz="710" dirty="0">
                  <a:solidFill>
                    <a:srgbClr val="523833"/>
                  </a:solidFill>
                  <a:latin typeface="+mn-lt"/>
                  <a:ea typeface="+mn-ea"/>
                  <a:cs typeface="+mn-cs"/>
                </a:rPr>
                <a:t>自动赎回</a:t>
              </a:r>
            </a:p>
          </p:txBody>
        </p:sp>
        <p:sp>
          <p:nvSpPr>
            <p:cNvPr id="52" name="Rectangle 52"/>
            <p:cNvSpPr/>
            <p:nvPr/>
          </p:nvSpPr>
          <p:spPr>
            <a:xfrm>
              <a:off x="6324600" y="4953000"/>
              <a:ext cx="1181100" cy="66675"/>
            </a:xfrm>
            <a:prstGeom prst="roundRect">
              <a:avLst>
                <a:gd name="adj" fmla="val 42857"/>
              </a:avLst>
            </a:prstGeom>
            <a:solidFill>
              <a:srgbClr val="F0F0F0"/>
            </a:solidFill>
            <a:ln>
              <a:noFill/>
            </a:ln>
          </p:spPr>
        </p:sp>
        <p:sp>
          <p:nvSpPr>
            <p:cNvPr id="53" name="Rectangle 53"/>
            <p:cNvSpPr/>
            <p:nvPr/>
          </p:nvSpPr>
          <p:spPr>
            <a:xfrm>
              <a:off x="6324600" y="5105400"/>
              <a:ext cx="952500" cy="66675"/>
            </a:xfrm>
            <a:prstGeom prst="roundRect">
              <a:avLst>
                <a:gd name="adj" fmla="val 42857"/>
              </a:avLst>
            </a:prstGeom>
            <a:solidFill>
              <a:srgbClr val="F0F0F0"/>
            </a:solidFill>
            <a:ln>
              <a:noFill/>
            </a:ln>
          </p:spPr>
        </p:sp>
        <p:sp>
          <p:nvSpPr>
            <p:cNvPr id="54" name="TextBox 54"/>
            <p:cNvSpPr txBox="1"/>
            <p:nvPr/>
          </p:nvSpPr>
          <p:spPr>
            <a:xfrm>
              <a:off x="6537355" y="5451634"/>
              <a:ext cx="755589" cy="133350"/>
            </a:xfrm>
            <a:prstGeom prst="rect">
              <a:avLst/>
            </a:prstGeom>
            <a:noFill/>
            <a:ln>
              <a:noFill/>
            </a:ln>
          </p:spPr>
          <p:txBody>
            <a:bodyPr wrap="none" lIns="0" tIns="0" rIns="0" bIns="0" anchor="t" anchorCtr="0">
              <a:spAutoFit/>
            </a:bodyPr>
            <a:lstStyle/>
            <a:p>
              <a:pPr algn="ctr"/>
              <a:r>
                <a:rPr lang="zh-CN" sz="680" dirty="0">
                  <a:solidFill>
                    <a:srgbClr val="E0462C"/>
                  </a:solidFill>
                  <a:latin typeface="+mn-lt"/>
                  <a:ea typeface="+mn-ea"/>
                  <a:cs typeface="+mn-cs"/>
                </a:rPr>
                <a:t>中国银行 · 活钱宝</a:t>
              </a:r>
            </a:p>
          </p:txBody>
        </p:sp>
        <p:sp>
          <p:nvSpPr>
            <p:cNvPr id="55" name="Line 55"/>
            <p:cNvSpPr/>
            <p:nvPr/>
          </p:nvSpPr>
          <p:spPr>
            <a:xfrm>
              <a:off x="7581900" y="2857500"/>
              <a:ext cx="152400" cy="9525"/>
            </a:xfrm>
            <a:custGeom>
              <a:avLst/>
              <a:gdLst/>
              <a:ahLst/>
              <a:cxnLst/>
              <a:rect l="l" t="t" r="r" b="b"/>
              <a:pathLst>
                <a:path w="152400" h="9525">
                  <a:moveTo>
                    <a:pt x="0" y="0"/>
                  </a:moveTo>
                  <a:lnTo>
                    <a:pt x="152400" y="0"/>
                  </a:lnTo>
                </a:path>
              </a:pathLst>
            </a:custGeom>
            <a:noFill/>
            <a:ln w="14288">
              <a:solidFill>
                <a:srgbClr val="E74726"/>
              </a:solidFill>
            </a:ln>
          </p:spPr>
        </p:sp>
        <p:sp>
          <p:nvSpPr>
            <p:cNvPr id="56" name="Line 56"/>
            <p:cNvSpPr/>
            <p:nvPr/>
          </p:nvSpPr>
          <p:spPr>
            <a:xfrm>
              <a:off x="7581900" y="4191000"/>
              <a:ext cx="152400" cy="9525"/>
            </a:xfrm>
            <a:custGeom>
              <a:avLst/>
              <a:gdLst/>
              <a:ahLst/>
              <a:cxnLst/>
              <a:rect l="l" t="t" r="r" b="b"/>
              <a:pathLst>
                <a:path w="152400" h="9525">
                  <a:moveTo>
                    <a:pt x="0" y="0"/>
                  </a:moveTo>
                  <a:lnTo>
                    <a:pt x="152400" y="0"/>
                  </a:lnTo>
                </a:path>
              </a:pathLst>
            </a:custGeom>
            <a:noFill/>
            <a:ln w="14288">
              <a:solidFill>
                <a:srgbClr val="E74726"/>
              </a:solidFill>
            </a:ln>
          </p:spPr>
        </p:sp>
        <p:sp>
          <p:nvSpPr>
            <p:cNvPr id="57" name="Rectangle 57"/>
            <p:cNvSpPr/>
            <p:nvPr/>
          </p:nvSpPr>
          <p:spPr>
            <a:xfrm>
              <a:off x="7867650" y="1866900"/>
              <a:ext cx="1190625" cy="3238500"/>
            </a:xfrm>
            <a:prstGeom prst="roundRect">
              <a:avLst>
                <a:gd name="adj" fmla="val 8000"/>
              </a:avLst>
            </a:prstGeom>
            <a:solidFill>
              <a:srgbClr val="FFFFFF"/>
            </a:solidFill>
            <a:ln w="9525">
              <a:solidFill>
                <a:srgbClr val="E0E6EF"/>
              </a:solidFill>
            </a:ln>
          </p:spPr>
        </p:sp>
        <p:sp>
          <p:nvSpPr>
            <p:cNvPr id="58" name="Rectangle 58"/>
            <p:cNvSpPr/>
            <p:nvPr/>
          </p:nvSpPr>
          <p:spPr>
            <a:xfrm>
              <a:off x="7867650" y="1866900"/>
              <a:ext cx="1190625" cy="1143000"/>
            </a:xfrm>
            <a:prstGeom prst="roundRect">
              <a:avLst>
                <a:gd name="adj" fmla="val 8333"/>
              </a:avLst>
            </a:prstGeom>
            <a:gradFill>
              <a:gsLst>
                <a:gs pos="0">
                  <a:srgbClr val="F04B2E"/>
                </a:gs>
                <a:gs pos="100000">
                  <a:srgbClr val="FDEDEA"/>
                </a:gs>
              </a:gsLst>
              <a:lin ang="5400000" scaled="1"/>
            </a:gradFill>
            <a:ln>
              <a:noFill/>
            </a:ln>
          </p:spPr>
        </p:sp>
        <p:sp>
          <p:nvSpPr>
            <p:cNvPr id="59" name="Rectangle 59"/>
            <p:cNvSpPr/>
            <p:nvPr/>
          </p:nvSpPr>
          <p:spPr>
            <a:xfrm>
              <a:off x="8001000" y="2038350"/>
              <a:ext cx="666750" cy="85725"/>
            </a:xfrm>
            <a:prstGeom prst="roundRect">
              <a:avLst>
                <a:gd name="adj" fmla="val 44444"/>
              </a:avLst>
            </a:prstGeom>
            <a:solidFill>
              <a:srgbClr val="FFFFFF">
                <a:alpha val="90000"/>
              </a:srgbClr>
            </a:solidFill>
            <a:ln>
              <a:noFill/>
            </a:ln>
          </p:spPr>
        </p:sp>
        <p:sp>
          <p:nvSpPr>
            <p:cNvPr id="60" name="Rectangle 60"/>
            <p:cNvSpPr/>
            <p:nvPr/>
          </p:nvSpPr>
          <p:spPr>
            <a:xfrm>
              <a:off x="8001000" y="2209800"/>
              <a:ext cx="914400" cy="66675"/>
            </a:xfrm>
            <a:prstGeom prst="roundRect">
              <a:avLst>
                <a:gd name="adj" fmla="val 42857"/>
              </a:avLst>
            </a:prstGeom>
            <a:solidFill>
              <a:srgbClr val="FFFFFF">
                <a:alpha val="70000"/>
              </a:srgbClr>
            </a:solidFill>
            <a:ln>
              <a:noFill/>
            </a:ln>
          </p:spPr>
        </p:sp>
        <p:sp>
          <p:nvSpPr>
            <p:cNvPr id="61" name="Ellipse 61"/>
            <p:cNvSpPr/>
            <p:nvPr/>
          </p:nvSpPr>
          <p:spPr>
            <a:xfrm>
              <a:off x="8248650" y="2495550"/>
              <a:ext cx="419100" cy="419100"/>
            </a:xfrm>
            <a:prstGeom prst="ellipse">
              <a:avLst/>
            </a:prstGeom>
            <a:solidFill>
              <a:srgbClr val="FFFFFF">
                <a:alpha val="85000"/>
              </a:srgbClr>
            </a:solidFill>
            <a:ln>
              <a:noFill/>
            </a:ln>
          </p:spPr>
        </p:sp>
        <p:grpSp>
          <p:nvGrpSpPr>
            <p:cNvPr id="66" name="Group 66"/>
            <p:cNvGrpSpPr/>
            <p:nvPr/>
          </p:nvGrpSpPr>
          <p:grpSpPr>
            <a:xfrm>
              <a:off x="8372475" y="2638425"/>
              <a:ext cx="171450" cy="133350"/>
              <a:chOff x="8372475" y="2638425"/>
              <a:chExt cx="171450" cy="133350"/>
            </a:xfrm>
          </p:grpSpPr>
          <p:sp>
            <p:nvSpPr>
              <p:cNvPr id="62" name="Freeform 62"/>
              <p:cNvSpPr/>
              <p:nvPr/>
            </p:nvSpPr>
            <p:spPr>
              <a:xfrm>
                <a:off x="8372475" y="2638425"/>
                <a:ext cx="171450" cy="133350"/>
              </a:xfrm>
              <a:custGeom>
                <a:avLst/>
                <a:gdLst/>
                <a:ahLst/>
                <a:cxnLst/>
                <a:rect l="l" t="t" r="r" b="b"/>
                <a:pathLst>
                  <a:path w="171450" h="133350">
                    <a:moveTo>
                      <a:pt x="0" y="28575"/>
                    </a:move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28575" y="133350"/>
                    </a:lnTo>
                    <a:cubicBezTo>
                      <a:pt x="12793" y="133350"/>
                      <a:pt x="0" y="120557"/>
                      <a:pt x="0" y="104775"/>
                    </a:cubicBezTo>
                    <a:lnTo>
                      <a:pt x="0" y="28575"/>
                    </a:lnTo>
                  </a:path>
                </a:pathLst>
              </a:custGeom>
              <a:noFill/>
              <a:ln w="19050">
                <a:solidFill>
                  <a:srgbClr val="F04B2E"/>
                </a:solidFill>
              </a:ln>
            </p:spPr>
          </p:sp>
          <p:sp>
            <p:nvSpPr>
              <p:cNvPr id="63" name="Freeform 63"/>
              <p:cNvSpPr/>
              <p:nvPr/>
            </p:nvSpPr>
            <p:spPr>
              <a:xfrm>
                <a:off x="8372475" y="2686050"/>
                <a:ext cx="171450" cy="9525"/>
              </a:xfrm>
              <a:custGeom>
                <a:avLst/>
                <a:gdLst/>
                <a:ahLst/>
                <a:cxnLst/>
                <a:rect l="l" t="t" r="r" b="b"/>
                <a:pathLst>
                  <a:path w="171450" h="9525">
                    <a:moveTo>
                      <a:pt x="0" y="0"/>
                    </a:moveTo>
                    <a:lnTo>
                      <a:pt x="171450" y="0"/>
                    </a:lnTo>
                  </a:path>
                </a:pathLst>
              </a:custGeom>
              <a:noFill/>
              <a:ln w="19050">
                <a:solidFill>
                  <a:srgbClr val="F04B2E"/>
                </a:solidFill>
              </a:ln>
            </p:spPr>
          </p:sp>
          <p:sp>
            <p:nvSpPr>
              <p:cNvPr id="64" name="Freeform 64"/>
              <p:cNvSpPr/>
              <p:nvPr/>
            </p:nvSpPr>
            <p:spPr>
              <a:xfrm>
                <a:off x="8410575" y="2733675"/>
                <a:ext cx="9525" cy="9525"/>
              </a:xfrm>
              <a:custGeom>
                <a:avLst/>
                <a:gdLst/>
                <a:ahLst/>
                <a:cxnLst/>
                <a:rect l="l" t="t" r="r" b="b"/>
                <a:pathLst>
                  <a:path w="9525" h="9525">
                    <a:moveTo>
                      <a:pt x="0" y="0"/>
                    </a:moveTo>
                    <a:lnTo>
                      <a:pt x="95" y="0"/>
                    </a:lnTo>
                  </a:path>
                </a:pathLst>
              </a:custGeom>
              <a:noFill/>
              <a:ln w="19050">
                <a:solidFill>
                  <a:srgbClr val="F04B2E"/>
                </a:solidFill>
              </a:ln>
            </p:spPr>
          </p:sp>
          <p:sp>
            <p:nvSpPr>
              <p:cNvPr id="65" name="Freeform 65"/>
              <p:cNvSpPr/>
              <p:nvPr/>
            </p:nvSpPr>
            <p:spPr>
              <a:xfrm>
                <a:off x="8448675" y="2733675"/>
                <a:ext cx="19050" cy="9525"/>
              </a:xfrm>
              <a:custGeom>
                <a:avLst/>
                <a:gdLst/>
                <a:ahLst/>
                <a:cxnLst/>
                <a:rect l="l" t="t" r="r" b="b"/>
                <a:pathLst>
                  <a:path w="19050" h="9525">
                    <a:moveTo>
                      <a:pt x="0" y="0"/>
                    </a:moveTo>
                    <a:lnTo>
                      <a:pt x="19050" y="0"/>
                    </a:lnTo>
                  </a:path>
                </a:pathLst>
              </a:custGeom>
              <a:noFill/>
              <a:ln w="19050">
                <a:solidFill>
                  <a:srgbClr val="F04B2E"/>
                </a:solidFill>
              </a:ln>
            </p:spPr>
          </p:sp>
        </p:grpSp>
        <p:sp>
          <p:nvSpPr>
            <p:cNvPr id="67" name="Rectangle 67"/>
            <p:cNvSpPr/>
            <p:nvPr/>
          </p:nvSpPr>
          <p:spPr>
            <a:xfrm>
              <a:off x="7962900" y="3143250"/>
              <a:ext cx="1000125" cy="66675"/>
            </a:xfrm>
            <a:prstGeom prst="roundRect">
              <a:avLst>
                <a:gd name="adj" fmla="val 42857"/>
              </a:avLst>
            </a:prstGeom>
            <a:solidFill>
              <a:srgbClr val="F0F0F0"/>
            </a:solidFill>
            <a:ln>
              <a:noFill/>
            </a:ln>
          </p:spPr>
        </p:sp>
        <p:sp>
          <p:nvSpPr>
            <p:cNvPr id="68" name="Rectangle 68"/>
            <p:cNvSpPr/>
            <p:nvPr/>
          </p:nvSpPr>
          <p:spPr>
            <a:xfrm>
              <a:off x="7962900" y="3295650"/>
              <a:ext cx="762000" cy="66675"/>
            </a:xfrm>
            <a:prstGeom prst="roundRect">
              <a:avLst>
                <a:gd name="adj" fmla="val 42857"/>
              </a:avLst>
            </a:prstGeom>
            <a:solidFill>
              <a:srgbClr val="F0F0F0"/>
            </a:solidFill>
            <a:ln>
              <a:noFill/>
            </a:ln>
          </p:spPr>
        </p:sp>
        <p:sp>
          <p:nvSpPr>
            <p:cNvPr id="69" name="Rectangle 69"/>
            <p:cNvSpPr/>
            <p:nvPr/>
          </p:nvSpPr>
          <p:spPr>
            <a:xfrm>
              <a:off x="7962900" y="3467100"/>
              <a:ext cx="1000125" cy="571500"/>
            </a:xfrm>
            <a:prstGeom prst="roundRect">
              <a:avLst>
                <a:gd name="adj" fmla="val 10000"/>
              </a:avLst>
            </a:prstGeom>
            <a:solidFill>
              <a:srgbClr val="FDF1E3"/>
            </a:solidFill>
            <a:ln>
              <a:noFill/>
            </a:ln>
          </p:spPr>
        </p:sp>
        <p:sp>
          <p:nvSpPr>
            <p:cNvPr id="70" name="Rectangle 70"/>
            <p:cNvSpPr/>
            <p:nvPr/>
          </p:nvSpPr>
          <p:spPr>
            <a:xfrm>
              <a:off x="7962900" y="4152900"/>
              <a:ext cx="1000125" cy="66675"/>
            </a:xfrm>
            <a:prstGeom prst="roundRect">
              <a:avLst>
                <a:gd name="adj" fmla="val 42857"/>
              </a:avLst>
            </a:prstGeom>
            <a:solidFill>
              <a:srgbClr val="F0F0F0"/>
            </a:solidFill>
            <a:ln>
              <a:noFill/>
            </a:ln>
          </p:spPr>
        </p:sp>
        <p:sp>
          <p:nvSpPr>
            <p:cNvPr id="71" name="Rectangle 71"/>
            <p:cNvSpPr/>
            <p:nvPr/>
          </p:nvSpPr>
          <p:spPr>
            <a:xfrm>
              <a:off x="7962900" y="4305300"/>
              <a:ext cx="857250" cy="66675"/>
            </a:xfrm>
            <a:prstGeom prst="roundRect">
              <a:avLst>
                <a:gd name="adj" fmla="val 42857"/>
              </a:avLst>
            </a:prstGeom>
            <a:solidFill>
              <a:srgbClr val="F0F0F0"/>
            </a:solidFill>
            <a:ln>
              <a:noFill/>
            </a:ln>
          </p:spPr>
        </p:sp>
        <p:sp>
          <p:nvSpPr>
            <p:cNvPr id="72" name="Rectangle 72"/>
            <p:cNvSpPr/>
            <p:nvPr/>
          </p:nvSpPr>
          <p:spPr>
            <a:xfrm>
              <a:off x="7962900" y="4457700"/>
              <a:ext cx="666750" cy="66675"/>
            </a:xfrm>
            <a:prstGeom prst="roundRect">
              <a:avLst>
                <a:gd name="adj" fmla="val 42857"/>
              </a:avLst>
            </a:prstGeom>
            <a:solidFill>
              <a:srgbClr val="F0F0F0"/>
            </a:solidFill>
            <a:ln>
              <a:noFill/>
            </a:ln>
          </p:spPr>
        </p:sp>
        <p:sp>
          <p:nvSpPr>
            <p:cNvPr id="73" name="Rectangle 73"/>
            <p:cNvSpPr/>
            <p:nvPr/>
          </p:nvSpPr>
          <p:spPr>
            <a:xfrm>
              <a:off x="8020050" y="4762500"/>
              <a:ext cx="885825" cy="190500"/>
            </a:xfrm>
            <a:prstGeom prst="roundRect">
              <a:avLst>
                <a:gd name="adj" fmla="val 50000"/>
              </a:avLst>
            </a:prstGeom>
            <a:solidFill>
              <a:srgbClr val="E0462C"/>
            </a:solidFill>
            <a:ln>
              <a:noFill/>
            </a:ln>
          </p:spPr>
        </p:sp>
        <p:sp>
          <p:nvSpPr>
            <p:cNvPr id="74" name="TextBox 74"/>
            <p:cNvSpPr txBox="1"/>
            <p:nvPr/>
          </p:nvSpPr>
          <p:spPr>
            <a:xfrm>
              <a:off x="8048231" y="5259943"/>
              <a:ext cx="819937"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信用卡自动还款</a:t>
              </a:r>
            </a:p>
          </p:txBody>
        </p:sp>
        <p:sp>
          <p:nvSpPr>
            <p:cNvPr id="75" name="Rectangle 75"/>
            <p:cNvSpPr/>
            <p:nvPr/>
          </p:nvSpPr>
          <p:spPr>
            <a:xfrm>
              <a:off x="9201150" y="1866900"/>
              <a:ext cx="1190625" cy="3238500"/>
            </a:xfrm>
            <a:prstGeom prst="roundRect">
              <a:avLst>
                <a:gd name="adj" fmla="val 8000"/>
              </a:avLst>
            </a:prstGeom>
            <a:solidFill>
              <a:srgbClr val="FFFFFF"/>
            </a:solidFill>
            <a:ln w="9525">
              <a:solidFill>
                <a:srgbClr val="E0E6EF"/>
              </a:solidFill>
            </a:ln>
          </p:spPr>
        </p:sp>
        <p:sp>
          <p:nvSpPr>
            <p:cNvPr id="76" name="Rectangle 76"/>
            <p:cNvSpPr/>
            <p:nvPr/>
          </p:nvSpPr>
          <p:spPr>
            <a:xfrm>
              <a:off x="9201150" y="1866900"/>
              <a:ext cx="1190625" cy="1143000"/>
            </a:xfrm>
            <a:prstGeom prst="roundRect">
              <a:avLst>
                <a:gd name="adj" fmla="val 8333"/>
              </a:avLst>
            </a:prstGeom>
            <a:gradFill>
              <a:gsLst>
                <a:gs pos="0">
                  <a:srgbClr val="F04B2E"/>
                </a:gs>
                <a:gs pos="100000">
                  <a:srgbClr val="FDEDEA"/>
                </a:gs>
              </a:gsLst>
              <a:lin ang="5400000" scaled="1"/>
            </a:gradFill>
            <a:ln>
              <a:noFill/>
            </a:ln>
          </p:spPr>
        </p:sp>
        <p:sp>
          <p:nvSpPr>
            <p:cNvPr id="77" name="Rectangle 77"/>
            <p:cNvSpPr/>
            <p:nvPr/>
          </p:nvSpPr>
          <p:spPr>
            <a:xfrm>
              <a:off x="9334500" y="2038350"/>
              <a:ext cx="666750" cy="85725"/>
            </a:xfrm>
            <a:prstGeom prst="roundRect">
              <a:avLst>
                <a:gd name="adj" fmla="val 44444"/>
              </a:avLst>
            </a:prstGeom>
            <a:solidFill>
              <a:srgbClr val="FFFFFF">
                <a:alpha val="90000"/>
              </a:srgbClr>
            </a:solidFill>
            <a:ln>
              <a:noFill/>
            </a:ln>
          </p:spPr>
        </p:sp>
        <p:sp>
          <p:nvSpPr>
            <p:cNvPr id="78" name="Rectangle 78"/>
            <p:cNvSpPr/>
            <p:nvPr/>
          </p:nvSpPr>
          <p:spPr>
            <a:xfrm>
              <a:off x="9334500" y="2209800"/>
              <a:ext cx="914400" cy="66675"/>
            </a:xfrm>
            <a:prstGeom prst="roundRect">
              <a:avLst>
                <a:gd name="adj" fmla="val 42857"/>
              </a:avLst>
            </a:prstGeom>
            <a:solidFill>
              <a:srgbClr val="FFFFFF">
                <a:alpha val="70000"/>
              </a:srgbClr>
            </a:solidFill>
            <a:ln>
              <a:noFill/>
            </a:ln>
          </p:spPr>
        </p:sp>
        <p:sp>
          <p:nvSpPr>
            <p:cNvPr id="79" name="Ellipse 79"/>
            <p:cNvSpPr/>
            <p:nvPr/>
          </p:nvSpPr>
          <p:spPr>
            <a:xfrm>
              <a:off x="9582150" y="2495550"/>
              <a:ext cx="419100" cy="419100"/>
            </a:xfrm>
            <a:prstGeom prst="ellipse">
              <a:avLst/>
            </a:prstGeom>
            <a:solidFill>
              <a:srgbClr val="FFFFFF">
                <a:alpha val="85000"/>
              </a:srgbClr>
            </a:solidFill>
            <a:ln>
              <a:noFill/>
            </a:ln>
          </p:spPr>
        </p:sp>
        <p:grpSp>
          <p:nvGrpSpPr>
            <p:cNvPr id="83" name="Group 83"/>
            <p:cNvGrpSpPr/>
            <p:nvPr/>
          </p:nvGrpSpPr>
          <p:grpSpPr>
            <a:xfrm>
              <a:off x="9705975" y="2619375"/>
              <a:ext cx="171450" cy="171450"/>
              <a:chOff x="9705975" y="2619375"/>
              <a:chExt cx="171450" cy="171450"/>
            </a:xfrm>
          </p:grpSpPr>
          <p:sp>
            <p:nvSpPr>
              <p:cNvPr id="80" name="Freeform 80"/>
              <p:cNvSpPr/>
              <p:nvPr/>
            </p:nvSpPr>
            <p:spPr>
              <a:xfrm>
                <a:off x="9705975" y="261937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F04B2E"/>
                </a:solidFill>
              </a:ln>
            </p:spPr>
          </p:sp>
          <p:sp>
            <p:nvSpPr>
              <p:cNvPr id="81" name="Freeform 81"/>
              <p:cNvSpPr/>
              <p:nvPr/>
            </p:nvSpPr>
            <p:spPr>
              <a:xfrm>
                <a:off x="9725025" y="270510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F04B2E"/>
                </a:solidFill>
              </a:ln>
            </p:spPr>
          </p:sp>
          <p:sp>
            <p:nvSpPr>
              <p:cNvPr id="82" name="Freeform 82"/>
              <p:cNvSpPr/>
              <p:nvPr/>
            </p:nvSpPr>
            <p:spPr>
              <a:xfrm>
                <a:off x="9763125" y="271462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F04B2E"/>
                </a:solidFill>
              </a:ln>
            </p:spPr>
          </p:sp>
        </p:grpSp>
        <p:sp>
          <p:nvSpPr>
            <p:cNvPr id="84" name="Rectangle 84"/>
            <p:cNvSpPr/>
            <p:nvPr/>
          </p:nvSpPr>
          <p:spPr>
            <a:xfrm>
              <a:off x="9296400" y="3143250"/>
              <a:ext cx="1000125" cy="66675"/>
            </a:xfrm>
            <a:prstGeom prst="roundRect">
              <a:avLst>
                <a:gd name="adj" fmla="val 42857"/>
              </a:avLst>
            </a:prstGeom>
            <a:solidFill>
              <a:srgbClr val="F0F0F0"/>
            </a:solidFill>
            <a:ln>
              <a:noFill/>
            </a:ln>
          </p:spPr>
        </p:sp>
        <p:sp>
          <p:nvSpPr>
            <p:cNvPr id="85" name="Rectangle 85"/>
            <p:cNvSpPr/>
            <p:nvPr/>
          </p:nvSpPr>
          <p:spPr>
            <a:xfrm>
              <a:off x="9296400" y="3295650"/>
              <a:ext cx="762000" cy="66675"/>
            </a:xfrm>
            <a:prstGeom prst="roundRect">
              <a:avLst>
                <a:gd name="adj" fmla="val 42857"/>
              </a:avLst>
            </a:prstGeom>
            <a:solidFill>
              <a:srgbClr val="F0F0F0"/>
            </a:solidFill>
            <a:ln>
              <a:noFill/>
            </a:ln>
          </p:spPr>
        </p:sp>
        <p:sp>
          <p:nvSpPr>
            <p:cNvPr id="86" name="Rectangle 86"/>
            <p:cNvSpPr/>
            <p:nvPr/>
          </p:nvSpPr>
          <p:spPr>
            <a:xfrm>
              <a:off x="9296400" y="3467100"/>
              <a:ext cx="1000125" cy="571500"/>
            </a:xfrm>
            <a:prstGeom prst="roundRect">
              <a:avLst>
                <a:gd name="adj" fmla="val 10000"/>
              </a:avLst>
            </a:prstGeom>
            <a:solidFill>
              <a:srgbClr val="FDF1E3"/>
            </a:solidFill>
            <a:ln>
              <a:noFill/>
            </a:ln>
          </p:spPr>
        </p:sp>
        <p:sp>
          <p:nvSpPr>
            <p:cNvPr id="87" name="Rectangle 87"/>
            <p:cNvSpPr/>
            <p:nvPr/>
          </p:nvSpPr>
          <p:spPr>
            <a:xfrm>
              <a:off x="9296400" y="4152900"/>
              <a:ext cx="1000125" cy="66675"/>
            </a:xfrm>
            <a:prstGeom prst="roundRect">
              <a:avLst>
                <a:gd name="adj" fmla="val 42857"/>
              </a:avLst>
            </a:prstGeom>
            <a:solidFill>
              <a:srgbClr val="F0F0F0"/>
            </a:solidFill>
            <a:ln>
              <a:noFill/>
            </a:ln>
          </p:spPr>
        </p:sp>
        <p:sp>
          <p:nvSpPr>
            <p:cNvPr id="88" name="Rectangle 88"/>
            <p:cNvSpPr/>
            <p:nvPr/>
          </p:nvSpPr>
          <p:spPr>
            <a:xfrm>
              <a:off x="9296400" y="4305300"/>
              <a:ext cx="857250" cy="66675"/>
            </a:xfrm>
            <a:prstGeom prst="roundRect">
              <a:avLst>
                <a:gd name="adj" fmla="val 42857"/>
              </a:avLst>
            </a:prstGeom>
            <a:solidFill>
              <a:srgbClr val="F0F0F0"/>
            </a:solidFill>
            <a:ln>
              <a:noFill/>
            </a:ln>
          </p:spPr>
        </p:sp>
        <p:sp>
          <p:nvSpPr>
            <p:cNvPr id="89" name="Rectangle 89"/>
            <p:cNvSpPr/>
            <p:nvPr/>
          </p:nvSpPr>
          <p:spPr>
            <a:xfrm>
              <a:off x="9296400" y="4457700"/>
              <a:ext cx="666750" cy="66675"/>
            </a:xfrm>
            <a:prstGeom prst="roundRect">
              <a:avLst>
                <a:gd name="adj" fmla="val 42857"/>
              </a:avLst>
            </a:prstGeom>
            <a:solidFill>
              <a:srgbClr val="F0F0F0"/>
            </a:solidFill>
            <a:ln>
              <a:noFill/>
            </a:ln>
          </p:spPr>
        </p:sp>
        <p:sp>
          <p:nvSpPr>
            <p:cNvPr id="90" name="Rectangle 90"/>
            <p:cNvSpPr/>
            <p:nvPr/>
          </p:nvSpPr>
          <p:spPr>
            <a:xfrm>
              <a:off x="9353550" y="4762500"/>
              <a:ext cx="885825" cy="190500"/>
            </a:xfrm>
            <a:prstGeom prst="roundRect">
              <a:avLst>
                <a:gd name="adj" fmla="val 50000"/>
              </a:avLst>
            </a:prstGeom>
            <a:solidFill>
              <a:srgbClr val="E0462C"/>
            </a:solidFill>
            <a:ln>
              <a:noFill/>
            </a:ln>
          </p:spPr>
        </p:sp>
        <p:sp>
          <p:nvSpPr>
            <p:cNvPr id="91" name="TextBox 91"/>
            <p:cNvSpPr txBox="1"/>
            <p:nvPr/>
          </p:nvSpPr>
          <p:spPr>
            <a:xfrm>
              <a:off x="9439618" y="5259943"/>
              <a:ext cx="704164"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贷款还款管家</a:t>
              </a:r>
            </a:p>
          </p:txBody>
        </p:sp>
        <p:sp>
          <p:nvSpPr>
            <p:cNvPr id="92" name="Rectangle 92"/>
            <p:cNvSpPr/>
            <p:nvPr/>
          </p:nvSpPr>
          <p:spPr>
            <a:xfrm>
              <a:off x="10534650" y="1866900"/>
              <a:ext cx="1190625" cy="3238500"/>
            </a:xfrm>
            <a:prstGeom prst="roundRect">
              <a:avLst>
                <a:gd name="adj" fmla="val 8000"/>
              </a:avLst>
            </a:prstGeom>
            <a:solidFill>
              <a:srgbClr val="FFFFFF"/>
            </a:solidFill>
            <a:ln w="9525">
              <a:solidFill>
                <a:srgbClr val="E0E6EF"/>
              </a:solidFill>
            </a:ln>
          </p:spPr>
        </p:sp>
        <p:sp>
          <p:nvSpPr>
            <p:cNvPr id="93" name="Rectangle 93"/>
            <p:cNvSpPr/>
            <p:nvPr/>
          </p:nvSpPr>
          <p:spPr>
            <a:xfrm>
              <a:off x="10534650" y="1866900"/>
              <a:ext cx="1190625" cy="1143000"/>
            </a:xfrm>
            <a:prstGeom prst="roundRect">
              <a:avLst>
                <a:gd name="adj" fmla="val 8333"/>
              </a:avLst>
            </a:prstGeom>
            <a:gradFill>
              <a:gsLst>
                <a:gs pos="0">
                  <a:srgbClr val="F04B2E"/>
                </a:gs>
                <a:gs pos="100000">
                  <a:srgbClr val="FDEDEA"/>
                </a:gs>
              </a:gsLst>
              <a:lin ang="5400000" scaled="1"/>
            </a:gradFill>
            <a:ln>
              <a:noFill/>
            </a:ln>
          </p:spPr>
        </p:sp>
        <p:sp>
          <p:nvSpPr>
            <p:cNvPr id="94" name="Rectangle 94"/>
            <p:cNvSpPr/>
            <p:nvPr/>
          </p:nvSpPr>
          <p:spPr>
            <a:xfrm>
              <a:off x="10668000" y="2038350"/>
              <a:ext cx="666750" cy="85725"/>
            </a:xfrm>
            <a:prstGeom prst="roundRect">
              <a:avLst>
                <a:gd name="adj" fmla="val 44444"/>
              </a:avLst>
            </a:prstGeom>
            <a:solidFill>
              <a:srgbClr val="FFFFFF">
                <a:alpha val="90000"/>
              </a:srgbClr>
            </a:solidFill>
            <a:ln>
              <a:noFill/>
            </a:ln>
          </p:spPr>
        </p:sp>
        <p:sp>
          <p:nvSpPr>
            <p:cNvPr id="95" name="Rectangle 95"/>
            <p:cNvSpPr/>
            <p:nvPr/>
          </p:nvSpPr>
          <p:spPr>
            <a:xfrm>
              <a:off x="10668000" y="2209800"/>
              <a:ext cx="914400" cy="66675"/>
            </a:xfrm>
            <a:prstGeom prst="roundRect">
              <a:avLst>
                <a:gd name="adj" fmla="val 42857"/>
              </a:avLst>
            </a:prstGeom>
            <a:solidFill>
              <a:srgbClr val="FFFFFF">
                <a:alpha val="70000"/>
              </a:srgbClr>
            </a:solidFill>
            <a:ln>
              <a:noFill/>
            </a:ln>
          </p:spPr>
        </p:sp>
        <p:sp>
          <p:nvSpPr>
            <p:cNvPr id="96" name="Ellipse 96"/>
            <p:cNvSpPr/>
            <p:nvPr/>
          </p:nvSpPr>
          <p:spPr>
            <a:xfrm>
              <a:off x="10915650" y="2495550"/>
              <a:ext cx="419100" cy="419100"/>
            </a:xfrm>
            <a:prstGeom prst="ellipse">
              <a:avLst/>
            </a:prstGeom>
            <a:solidFill>
              <a:srgbClr val="FFFFFF">
                <a:alpha val="85000"/>
              </a:srgbClr>
            </a:solidFill>
            <a:ln>
              <a:noFill/>
            </a:ln>
          </p:spPr>
        </p:sp>
        <p:grpSp>
          <p:nvGrpSpPr>
            <p:cNvPr id="99" name="Group 99"/>
            <p:cNvGrpSpPr/>
            <p:nvPr/>
          </p:nvGrpSpPr>
          <p:grpSpPr>
            <a:xfrm>
              <a:off x="11049000" y="2625225"/>
              <a:ext cx="152400" cy="159750"/>
              <a:chOff x="11049000" y="2625225"/>
              <a:chExt cx="152400" cy="159750"/>
            </a:xfrm>
          </p:grpSpPr>
          <p:sp>
            <p:nvSpPr>
              <p:cNvPr id="97" name="Freeform 97"/>
              <p:cNvSpPr/>
              <p:nvPr/>
            </p:nvSpPr>
            <p:spPr>
              <a:xfrm>
                <a:off x="11049000" y="26252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F04B2E"/>
                </a:solidFill>
              </a:ln>
            </p:spPr>
          </p:sp>
          <p:sp>
            <p:nvSpPr>
              <p:cNvPr id="98" name="Freeform 98"/>
              <p:cNvSpPr/>
              <p:nvPr/>
            </p:nvSpPr>
            <p:spPr>
              <a:xfrm>
                <a:off x="11049000" y="27146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F04B2E"/>
                </a:solidFill>
              </a:ln>
            </p:spPr>
          </p:sp>
        </p:grpSp>
        <p:sp>
          <p:nvSpPr>
            <p:cNvPr id="100" name="Rectangle 100"/>
            <p:cNvSpPr/>
            <p:nvPr/>
          </p:nvSpPr>
          <p:spPr>
            <a:xfrm>
              <a:off x="10629900" y="3143250"/>
              <a:ext cx="1000125" cy="66675"/>
            </a:xfrm>
            <a:prstGeom prst="roundRect">
              <a:avLst>
                <a:gd name="adj" fmla="val 42857"/>
              </a:avLst>
            </a:prstGeom>
            <a:solidFill>
              <a:srgbClr val="F0F0F0"/>
            </a:solidFill>
            <a:ln>
              <a:noFill/>
            </a:ln>
          </p:spPr>
        </p:sp>
        <p:sp>
          <p:nvSpPr>
            <p:cNvPr id="101" name="Rectangle 101"/>
            <p:cNvSpPr/>
            <p:nvPr/>
          </p:nvSpPr>
          <p:spPr>
            <a:xfrm>
              <a:off x="10629900" y="3295650"/>
              <a:ext cx="762000" cy="66675"/>
            </a:xfrm>
            <a:prstGeom prst="roundRect">
              <a:avLst>
                <a:gd name="adj" fmla="val 42857"/>
              </a:avLst>
            </a:prstGeom>
            <a:solidFill>
              <a:srgbClr val="F0F0F0"/>
            </a:solidFill>
            <a:ln>
              <a:noFill/>
            </a:ln>
          </p:spPr>
        </p:sp>
        <p:sp>
          <p:nvSpPr>
            <p:cNvPr id="102" name="Rectangle 102"/>
            <p:cNvSpPr/>
            <p:nvPr/>
          </p:nvSpPr>
          <p:spPr>
            <a:xfrm>
              <a:off x="10629900" y="3467100"/>
              <a:ext cx="1000125" cy="571500"/>
            </a:xfrm>
            <a:prstGeom prst="roundRect">
              <a:avLst>
                <a:gd name="adj" fmla="val 10000"/>
              </a:avLst>
            </a:prstGeom>
            <a:solidFill>
              <a:srgbClr val="FDF1E3"/>
            </a:solidFill>
            <a:ln>
              <a:noFill/>
            </a:ln>
          </p:spPr>
        </p:sp>
        <p:sp>
          <p:nvSpPr>
            <p:cNvPr id="103" name="Rectangle 103"/>
            <p:cNvSpPr/>
            <p:nvPr/>
          </p:nvSpPr>
          <p:spPr>
            <a:xfrm>
              <a:off x="10629900" y="4152900"/>
              <a:ext cx="1000125" cy="66675"/>
            </a:xfrm>
            <a:prstGeom prst="roundRect">
              <a:avLst>
                <a:gd name="adj" fmla="val 42857"/>
              </a:avLst>
            </a:prstGeom>
            <a:solidFill>
              <a:srgbClr val="F0F0F0"/>
            </a:solidFill>
            <a:ln>
              <a:noFill/>
            </a:ln>
          </p:spPr>
        </p:sp>
        <p:sp>
          <p:nvSpPr>
            <p:cNvPr id="104" name="Rectangle 104"/>
            <p:cNvSpPr/>
            <p:nvPr/>
          </p:nvSpPr>
          <p:spPr>
            <a:xfrm>
              <a:off x="10629900" y="4305300"/>
              <a:ext cx="857250" cy="66675"/>
            </a:xfrm>
            <a:prstGeom prst="roundRect">
              <a:avLst>
                <a:gd name="adj" fmla="val 42857"/>
              </a:avLst>
            </a:prstGeom>
            <a:solidFill>
              <a:srgbClr val="F0F0F0"/>
            </a:solidFill>
            <a:ln>
              <a:noFill/>
            </a:ln>
          </p:spPr>
        </p:sp>
        <p:sp>
          <p:nvSpPr>
            <p:cNvPr id="105" name="Rectangle 105"/>
            <p:cNvSpPr/>
            <p:nvPr/>
          </p:nvSpPr>
          <p:spPr>
            <a:xfrm>
              <a:off x="10629900" y="4457700"/>
              <a:ext cx="666750" cy="66675"/>
            </a:xfrm>
            <a:prstGeom prst="roundRect">
              <a:avLst>
                <a:gd name="adj" fmla="val 42857"/>
              </a:avLst>
            </a:prstGeom>
            <a:solidFill>
              <a:srgbClr val="F0F0F0"/>
            </a:solidFill>
            <a:ln>
              <a:noFill/>
            </a:ln>
          </p:spPr>
        </p:sp>
        <p:sp>
          <p:nvSpPr>
            <p:cNvPr id="106" name="Rectangle 106"/>
            <p:cNvSpPr/>
            <p:nvPr/>
          </p:nvSpPr>
          <p:spPr>
            <a:xfrm>
              <a:off x="10687050" y="4762500"/>
              <a:ext cx="885825" cy="190500"/>
            </a:xfrm>
            <a:prstGeom prst="roundRect">
              <a:avLst>
                <a:gd name="adj" fmla="val 50000"/>
              </a:avLst>
            </a:prstGeom>
            <a:solidFill>
              <a:srgbClr val="E0462C"/>
            </a:solidFill>
            <a:ln>
              <a:noFill/>
            </a:ln>
          </p:spPr>
        </p:sp>
        <p:sp>
          <p:nvSpPr>
            <p:cNvPr id="107" name="TextBox 107"/>
            <p:cNvSpPr txBox="1"/>
            <p:nvPr/>
          </p:nvSpPr>
          <p:spPr>
            <a:xfrm>
              <a:off x="10888891" y="5259943"/>
              <a:ext cx="472618" cy="169069"/>
            </a:xfrm>
            <a:prstGeom prst="rect">
              <a:avLst/>
            </a:prstGeom>
            <a:noFill/>
            <a:ln>
              <a:noFill/>
            </a:ln>
          </p:spPr>
          <p:txBody>
            <a:bodyPr wrap="none" lIns="0" tIns="0" rIns="0" bIns="0" anchor="t" anchorCtr="0">
              <a:spAutoFit/>
            </a:bodyPr>
            <a:lstStyle/>
            <a:p>
              <a:pPr algn="ctr"/>
              <a:r>
                <a:rPr lang="zh-CN" sz="860" dirty="0">
                  <a:solidFill>
                    <a:srgbClr val="523833"/>
                  </a:solidFill>
                  <a:latin typeface="+mn-lt"/>
                  <a:ea typeface="+mn-ea"/>
                  <a:cs typeface="+mn-cs"/>
                </a:rPr>
                <a:t>自动赎回</a:t>
              </a:r>
            </a:p>
          </p:txBody>
        </p:sp>
        <p:sp>
          <p:nvSpPr>
            <p:cNvPr id="108" name="TextBox 108"/>
            <p:cNvSpPr txBox="1"/>
            <p:nvPr/>
          </p:nvSpPr>
          <p:spPr>
            <a:xfrm>
              <a:off x="8078889" y="6353889"/>
              <a:ext cx="1711122" cy="154781"/>
            </a:xfrm>
            <a:prstGeom prst="rect">
              <a:avLst/>
            </a:prstGeom>
            <a:noFill/>
            <a:ln>
              <a:noFill/>
            </a:ln>
          </p:spPr>
          <p:txBody>
            <a:bodyPr wrap="none" lIns="0" tIns="0" rIns="0" bIns="0" anchor="t" anchorCtr="0">
              <a:spAutoFit/>
            </a:bodyPr>
            <a:lstStyle/>
            <a:p>
              <a:pPr algn="ctr"/>
              <a:r>
                <a:rPr lang="zh-CN" sz="790" dirty="0">
                  <a:solidFill>
                    <a:srgbClr val="846F6B"/>
                  </a:solidFill>
                  <a:latin typeface="+mn-lt"/>
                  <a:ea typeface="+mn-ea"/>
                  <a:cs typeface="+mn-cs"/>
                </a:rPr>
                <a:t>数据来源：公开信息、中电金信整理</a:t>
              </a:r>
            </a:p>
          </p:txBody>
        </p:sp>
      </p:grpSp>
      <p:sp>
        <p:nvSpPr>
          <p:cNvPr id="110" name="TextBox 110"/>
          <p:cNvSpPr txBox="1"/>
          <p:nvPr/>
        </p:nvSpPr>
        <p:spPr>
          <a:xfrm>
            <a:off x="185738" y="6693932"/>
            <a:ext cx="9495226" cy="126206"/>
          </a:xfrm>
          <a:prstGeom prst="rect">
            <a:avLst/>
          </a:prstGeom>
          <a:noFill/>
          <a:ln>
            <a:noFill/>
          </a:ln>
        </p:spPr>
        <p:txBody>
          <a:bodyPr wrap="none" lIns="0" tIns="0" rIns="0" bIns="0" anchor="t" anchorCtr="0">
            <a:spAutoFit/>
          </a:bodyPr>
          <a:lstStyle/>
          <a:p>
            <a:pPr algn="l"/>
            <a:r>
              <a:rPr lang="zh-CN" sz="640" dirty="0">
                <a:solidFill>
                  <a:srgbClr val="8A94A6"/>
                </a:solidFill>
                <a:latin typeface="+mn-lt"/>
                <a:ea typeface="+mn-ea"/>
                <a:cs typeface="+mn-cs"/>
              </a:rPr>
              <a:t>@中电金信数字化营销咨询与运营增长业务部——涵盖组织规划咨询、管理体系咨询、精准营销咨询、营销策划运营、人才队伍培训、IT系统集成等内容，助力银行实现客户管理精细化、产品营销数字化、渠道服务一体化的战略级、可落地的咨询服务。​</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20​</a:t>
              </a:r>
            </a:p>
          </p:txBody>
        </p:sp>
        <p:sp>
          <p:nvSpPr>
            <p:cNvPr id="4" name="TextBox 4"/>
            <p:cNvSpPr txBox="1"/>
            <p:nvPr/>
          </p:nvSpPr>
          <p:spPr>
            <a:xfrm>
              <a:off x="885444" y="160973"/>
              <a:ext cx="765089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2.2.2 产品运营｜</a:t>
              </a:r>
              <a:r>
                <a:rPr lang="zh-CN" sz="1950" b="1" dirty="0">
                  <a:solidFill>
                    <a:srgbClr val="E74726"/>
                  </a:solidFill>
                  <a:latin typeface="+mj-lt"/>
                  <a:ea typeface="+mj-ea"/>
                  <a:cs typeface="+mj-cs"/>
                </a:rPr>
                <a:t>中国银行产品运营示例-活钱宝赚钱场景</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5798814" cy="249364"/>
            <a:chOff x="374523" y="681514"/>
            <a:chExt cx="5798814" cy="249364"/>
          </a:xfrm>
        </p:grpSpPr>
        <p:sp>
          <p:nvSpPr>
            <p:cNvPr id="16" name="TextBox 16"/>
            <p:cNvSpPr txBox="1"/>
            <p:nvPr/>
          </p:nvSpPr>
          <p:spPr>
            <a:xfrm>
              <a:off x="374523" y="681514"/>
              <a:ext cx="5798814"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搭建余额自动申购、工资定投双机制，实现长尾闲散资金自动归集增值沉淀​</a:t>
              </a:r>
            </a:p>
          </p:txBody>
        </p:sp>
      </p:grpSp>
      <p:grpSp>
        <p:nvGrpSpPr>
          <p:cNvPr id="19" name="guide"/>
          <p:cNvGrpSpPr/>
          <p:nvPr/>
        </p:nvGrpSpPr>
        <p:grpSpPr>
          <a:xfrm>
            <a:off x="376047" y="990124"/>
            <a:ext cx="7633828" cy="190690"/>
            <a:chOff x="376047" y="990124"/>
            <a:chExt cx="7633828" cy="190690"/>
          </a:xfrm>
        </p:grpSpPr>
        <p:sp>
          <p:nvSpPr>
            <p:cNvPr id="18" name="TextBox 18"/>
            <p:cNvSpPr txBox="1"/>
            <p:nvPr/>
          </p:nvSpPr>
          <p:spPr>
            <a:xfrm>
              <a:off x="376047" y="990124"/>
              <a:ext cx="7633828"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打造资金自动归集蓄水场景，借助余额自动申购、工资定投双重机制，无感盘活长尾闲散资金，兼顾客户收益与银行 AUM 沉淀​​​​</a:t>
              </a:r>
            </a:p>
          </p:txBody>
        </p:sp>
      </p:grpSp>
      <p:grpSp>
        <p:nvGrpSpPr>
          <p:cNvPr id="38" name="left-panel"/>
          <p:cNvGrpSpPr/>
          <p:nvPr/>
        </p:nvGrpSpPr>
        <p:grpSpPr>
          <a:xfrm>
            <a:off x="435769" y="1635919"/>
            <a:ext cx="4961899" cy="3469481"/>
            <a:chOff x="435769" y="1635919"/>
            <a:chExt cx="4961899" cy="3469481"/>
          </a:xfrm>
        </p:grpSpPr>
        <p:sp>
          <p:nvSpPr>
            <p:cNvPr id="20" name="Rectangle 20"/>
            <p:cNvSpPr/>
            <p:nvPr/>
          </p:nvSpPr>
          <p:spPr>
            <a:xfrm>
              <a:off x="933450" y="1714500"/>
              <a:ext cx="95250" cy="3390900"/>
            </a:xfrm>
            <a:prstGeom prst="rect">
              <a:avLst/>
            </a:prstGeom>
            <a:solidFill>
              <a:srgbClr val="E7EFFC"/>
            </a:solidFill>
            <a:ln>
              <a:noFill/>
            </a:ln>
          </p:spPr>
        </p:sp>
        <p:grpSp>
          <p:nvGrpSpPr>
            <p:cNvPr id="23" name="Group 23"/>
            <p:cNvGrpSpPr/>
            <p:nvPr/>
          </p:nvGrpSpPr>
          <p:grpSpPr>
            <a:xfrm>
              <a:off x="435769" y="1635919"/>
              <a:ext cx="328613" cy="328613"/>
              <a:chOff x="435769" y="1635919"/>
              <a:chExt cx="328613" cy="328613"/>
            </a:xfrm>
          </p:grpSpPr>
          <p:sp>
            <p:nvSpPr>
              <p:cNvPr id="21" name="Freeform 21"/>
              <p:cNvSpPr/>
              <p:nvPr/>
            </p:nvSpPr>
            <p:spPr>
              <a:xfrm>
                <a:off x="435769" y="1635919"/>
                <a:ext cx="328613" cy="328613"/>
              </a:xfrm>
              <a:custGeom>
                <a:avLst/>
                <a:gdLst/>
                <a:ahLst/>
                <a:cxnLst/>
                <a:rect l="l" t="t" r="r" b="b"/>
                <a:pathLst>
                  <a:path w="328613" h="328613">
                    <a:moveTo>
                      <a:pt x="0" y="164307"/>
                    </a:moveTo>
                    <a:cubicBezTo>
                      <a:pt x="0" y="255051"/>
                      <a:pt x="73563" y="328613"/>
                      <a:pt x="164307" y="328613"/>
                    </a:cubicBezTo>
                    <a:cubicBezTo>
                      <a:pt x="255051" y="328613"/>
                      <a:pt x="328613" y="255051"/>
                      <a:pt x="328613" y="164307"/>
                    </a:cubicBezTo>
                    <a:cubicBezTo>
                      <a:pt x="328613" y="73563"/>
                      <a:pt x="255051" y="0"/>
                      <a:pt x="164307" y="0"/>
                    </a:cubicBezTo>
                    <a:cubicBezTo>
                      <a:pt x="73563" y="0"/>
                      <a:pt x="0" y="73563"/>
                      <a:pt x="0" y="164307"/>
                    </a:cubicBezTo>
                  </a:path>
                </a:pathLst>
              </a:custGeom>
              <a:noFill/>
              <a:ln w="36513">
                <a:solidFill>
                  <a:srgbClr val="E74726"/>
                </a:solidFill>
              </a:ln>
            </p:spPr>
          </p:sp>
          <p:sp>
            <p:nvSpPr>
              <p:cNvPr id="22" name="Freeform 22"/>
              <p:cNvSpPr/>
              <p:nvPr/>
            </p:nvSpPr>
            <p:spPr>
              <a:xfrm>
                <a:off x="545307" y="1763713"/>
                <a:ext cx="109538" cy="73025"/>
              </a:xfrm>
              <a:custGeom>
                <a:avLst/>
                <a:gdLst/>
                <a:ahLst/>
                <a:cxnLst/>
                <a:rect l="l" t="t" r="r" b="b"/>
                <a:pathLst>
                  <a:path w="109538" h="73025">
                    <a:moveTo>
                      <a:pt x="0" y="36513"/>
                    </a:moveTo>
                    <a:lnTo>
                      <a:pt x="36513" y="73025"/>
                    </a:lnTo>
                    <a:lnTo>
                      <a:pt x="109538" y="0"/>
                    </a:lnTo>
                  </a:path>
                </a:pathLst>
              </a:custGeom>
              <a:noFill/>
              <a:ln w="36513">
                <a:solidFill>
                  <a:srgbClr val="E74726"/>
                </a:solidFill>
              </a:ln>
            </p:spPr>
          </p:sp>
        </p:grpSp>
        <p:sp>
          <p:nvSpPr>
            <p:cNvPr id="24" name="Rectangle 24"/>
            <p:cNvSpPr/>
            <p:nvPr/>
          </p:nvSpPr>
          <p:spPr>
            <a:xfrm>
              <a:off x="1428750" y="1638300"/>
              <a:ext cx="3429000" cy="323850"/>
            </a:xfrm>
            <a:prstGeom prst="roundRect">
              <a:avLst>
                <a:gd name="adj" fmla="val 17647"/>
              </a:avLst>
            </a:prstGeom>
            <a:solidFill>
              <a:srgbClr val="E74726"/>
            </a:solidFill>
            <a:ln>
              <a:noFill/>
            </a:ln>
          </p:spPr>
        </p:sp>
        <p:sp>
          <p:nvSpPr>
            <p:cNvPr id="25" name="TextBox 25"/>
            <p:cNvSpPr txBox="1"/>
            <p:nvPr/>
          </p:nvSpPr>
          <p:spPr>
            <a:xfrm>
              <a:off x="2087118" y="1727835"/>
              <a:ext cx="211226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赚钱场景：资金自动归集蓄水</a:t>
              </a:r>
            </a:p>
          </p:txBody>
        </p:sp>
        <p:sp>
          <p:nvSpPr>
            <p:cNvPr id="26" name="Rectangle 26"/>
            <p:cNvSpPr/>
            <p:nvPr/>
          </p:nvSpPr>
          <p:spPr>
            <a:xfrm>
              <a:off x="523875" y="2133600"/>
              <a:ext cx="838200" cy="266700"/>
            </a:xfrm>
            <a:prstGeom prst="roundRect">
              <a:avLst>
                <a:gd name="adj" fmla="val 10714"/>
              </a:avLst>
            </a:prstGeom>
            <a:solidFill>
              <a:srgbClr val="FFFFFF"/>
            </a:solidFill>
            <a:ln w="9525">
              <a:solidFill>
                <a:srgbClr val="F1917D"/>
              </a:solidFill>
            </a:ln>
          </p:spPr>
        </p:sp>
        <p:sp>
          <p:nvSpPr>
            <p:cNvPr id="27" name="TextBox 27"/>
            <p:cNvSpPr txBox="1"/>
            <p:nvPr/>
          </p:nvSpPr>
          <p:spPr>
            <a:xfrm>
              <a:off x="674167" y="2209324"/>
              <a:ext cx="537616"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核心逻辑</a:t>
              </a:r>
            </a:p>
          </p:txBody>
        </p:sp>
        <p:sp>
          <p:nvSpPr>
            <p:cNvPr id="28" name="TextBox 28"/>
            <p:cNvSpPr txBox="1"/>
            <p:nvPr/>
          </p:nvSpPr>
          <p:spPr>
            <a:xfrm>
              <a:off x="1519047" y="2209324"/>
              <a:ext cx="3512584"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聚焦于让长尾客户的闲散资金实现自动、无感、持续的增值​</a:t>
              </a:r>
            </a:p>
          </p:txBody>
        </p:sp>
        <p:sp>
          <p:nvSpPr>
            <p:cNvPr id="29" name="Rectangle 29"/>
            <p:cNvSpPr/>
            <p:nvPr/>
          </p:nvSpPr>
          <p:spPr>
            <a:xfrm>
              <a:off x="523875" y="2590800"/>
              <a:ext cx="838200" cy="266700"/>
            </a:xfrm>
            <a:prstGeom prst="roundRect">
              <a:avLst>
                <a:gd name="adj" fmla="val 10714"/>
              </a:avLst>
            </a:prstGeom>
            <a:solidFill>
              <a:srgbClr val="FFFFFF"/>
            </a:solidFill>
            <a:ln w="9525">
              <a:solidFill>
                <a:srgbClr val="F1917D"/>
              </a:solidFill>
            </a:ln>
          </p:spPr>
        </p:sp>
        <p:sp>
          <p:nvSpPr>
            <p:cNvPr id="30" name="TextBox 30"/>
            <p:cNvSpPr txBox="1"/>
            <p:nvPr/>
          </p:nvSpPr>
          <p:spPr>
            <a:xfrm>
              <a:off x="674167" y="2666524"/>
              <a:ext cx="537616"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双重机制</a:t>
              </a:r>
            </a:p>
          </p:txBody>
        </p:sp>
        <p:sp>
          <p:nvSpPr>
            <p:cNvPr id="31" name="TextBox 31"/>
            <p:cNvSpPr txBox="1"/>
            <p:nvPr/>
          </p:nvSpPr>
          <p:spPr>
            <a:xfrm>
              <a:off x="1519047" y="2666524"/>
              <a:ext cx="3507232"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设置余额自动申购和工资定投两重自动化机制，确保客户资金​​</a:t>
              </a:r>
              <a:br/>
              <a:r>
                <a:rPr lang="zh-CN" sz="980" dirty="0">
                  <a:solidFill>
                    <a:srgbClr val="333333"/>
                  </a:solidFill>
                  <a:latin typeface="+mn-lt"/>
                  <a:ea typeface="+mn-ea"/>
                  <a:cs typeface="+mn-cs"/>
                </a:rPr>
                <a:t>不闲置、不站岗</a:t>
              </a:r>
            </a:p>
          </p:txBody>
        </p:sp>
        <p:sp>
          <p:nvSpPr>
            <p:cNvPr id="32" name="TextBox 32"/>
            <p:cNvSpPr txBox="1"/>
            <p:nvPr/>
          </p:nvSpPr>
          <p:spPr>
            <a:xfrm>
              <a:off x="518541" y="3239452"/>
              <a:ext cx="1022034" cy="205359"/>
            </a:xfrm>
            <a:prstGeom prst="rect">
              <a:avLst/>
            </a:prstGeom>
            <a:noFill/>
            <a:ln>
              <a:noFill/>
            </a:ln>
          </p:spPr>
          <p:txBody>
            <a:bodyPr wrap="none" lIns="0" tIns="0" rIns="0" bIns="0" anchor="t" anchorCtr="0">
              <a:spAutoFit/>
            </a:bodyPr>
            <a:lstStyle/>
            <a:p>
              <a:pPr algn="l"/>
              <a:r>
                <a:rPr lang="zh-CN" sz="1050" b="1" dirty="0">
                  <a:solidFill>
                    <a:srgbClr val="262626"/>
                  </a:solidFill>
                  <a:latin typeface="+mn-lt"/>
                  <a:ea typeface="+mn-ea"/>
                  <a:cs typeface="+mn-cs"/>
                </a:rPr>
                <a:t>①余额自动申购​</a:t>
              </a:r>
            </a:p>
          </p:txBody>
        </p:sp>
        <p:sp>
          <p:nvSpPr>
            <p:cNvPr id="33" name="TextBox 33"/>
            <p:cNvSpPr txBox="1"/>
            <p:nvPr/>
          </p:nvSpPr>
          <p:spPr>
            <a:xfrm>
              <a:off x="585597" y="3476149"/>
              <a:ext cx="4548215"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 核心机制：客户自主设定活期最低留存额，超出部分系统自动申购活钱宝​​</a:t>
              </a:r>
            </a:p>
          </p:txBody>
        </p:sp>
        <p:sp>
          <p:nvSpPr>
            <p:cNvPr id="34" name="TextBox 34"/>
            <p:cNvSpPr txBox="1"/>
            <p:nvPr/>
          </p:nvSpPr>
          <p:spPr>
            <a:xfrm>
              <a:off x="585597" y="3685699"/>
              <a:ext cx="4484243"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双向价值：客户兼顾支付流动性与资金收益，无需主动决策；银行将易流失​​​</a:t>
              </a:r>
              <a:br/>
              <a:r>
                <a:rPr lang="zh-CN" sz="980" dirty="0">
                  <a:solidFill>
                    <a:srgbClr val="333333"/>
                  </a:solidFill>
                  <a:latin typeface="+mn-lt"/>
                  <a:ea typeface="+mn-ea"/>
                  <a:cs typeface="+mn-cs"/>
                </a:rPr>
                <a:t xml:space="preserve">　活期转化为稳定理财资金，加固 AUM 沉淀​​</a:t>
              </a:r>
            </a:p>
          </p:txBody>
        </p:sp>
        <p:sp>
          <p:nvSpPr>
            <p:cNvPr id="35" name="TextBox 35"/>
            <p:cNvSpPr txBox="1"/>
            <p:nvPr/>
          </p:nvSpPr>
          <p:spPr>
            <a:xfrm>
              <a:off x="518541" y="4191952"/>
              <a:ext cx="739332" cy="205359"/>
            </a:xfrm>
            <a:prstGeom prst="rect">
              <a:avLst/>
            </a:prstGeom>
            <a:noFill/>
            <a:ln>
              <a:noFill/>
            </a:ln>
          </p:spPr>
          <p:txBody>
            <a:bodyPr wrap="none" lIns="0" tIns="0" rIns="0" bIns="0" anchor="t" anchorCtr="0">
              <a:spAutoFit/>
            </a:bodyPr>
            <a:lstStyle/>
            <a:p>
              <a:pPr algn="l"/>
              <a:r>
                <a:rPr lang="zh-CN" sz="1050" b="1" dirty="0">
                  <a:solidFill>
                    <a:srgbClr val="262626"/>
                  </a:solidFill>
                  <a:latin typeface="+mn-lt"/>
                  <a:ea typeface="+mn-ea"/>
                  <a:cs typeface="+mn-cs"/>
                </a:rPr>
                <a:t>②工资定投​</a:t>
              </a:r>
            </a:p>
          </p:txBody>
        </p:sp>
        <p:sp>
          <p:nvSpPr>
            <p:cNvPr id="36" name="TextBox 36"/>
            <p:cNvSpPr txBox="1"/>
            <p:nvPr/>
          </p:nvSpPr>
          <p:spPr>
            <a:xfrm>
              <a:off x="585597" y="4428649"/>
              <a:ext cx="4812071"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 核心机制：深度绑定代发工资账户，薪资到账自动划转存入，支持自定义规则​​</a:t>
              </a:r>
            </a:p>
          </p:txBody>
        </p:sp>
        <p:sp>
          <p:nvSpPr>
            <p:cNvPr id="37" name="TextBox 37"/>
            <p:cNvSpPr txBox="1"/>
            <p:nvPr/>
          </p:nvSpPr>
          <p:spPr>
            <a:xfrm>
              <a:off x="585597" y="4638199"/>
              <a:ext cx="4670933"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双向价值：形成“到账—归集—增值—支取”资金闭环；精准破解代发客群留​​​​​​​​</a:t>
              </a:r>
              <a:br/>
              <a:r>
                <a:rPr lang="zh-CN" sz="980" dirty="0">
                  <a:solidFill>
                    <a:srgbClr val="333333"/>
                  </a:solidFill>
                  <a:latin typeface="+mn-lt"/>
                  <a:ea typeface="+mn-ea"/>
                  <a:cs typeface="+mn-cs"/>
                </a:rPr>
                <a:t xml:space="preserve">　存难题，构筑长效资金留存防线</a:t>
              </a:r>
            </a:p>
          </p:txBody>
        </p:sp>
      </p:grpSp>
      <p:grpSp>
        <p:nvGrpSpPr>
          <p:cNvPr id="134" name="case-panel"/>
          <p:cNvGrpSpPr/>
          <p:nvPr/>
        </p:nvGrpSpPr>
        <p:grpSpPr>
          <a:xfrm>
            <a:off x="6286500" y="1581150"/>
            <a:ext cx="5524500" cy="4612957"/>
            <a:chOff x="6286500" y="1581150"/>
            <a:chExt cx="5524500" cy="4612957"/>
          </a:xfrm>
        </p:grpSpPr>
        <p:sp>
          <p:nvSpPr>
            <p:cNvPr id="39" name="Rectangle 39"/>
            <p:cNvSpPr/>
            <p:nvPr/>
          </p:nvSpPr>
          <p:spPr>
            <a:xfrm>
              <a:off x="6286500" y="1762125"/>
              <a:ext cx="5524500" cy="4095750"/>
            </a:xfrm>
            <a:prstGeom prst="roundRect">
              <a:avLst>
                <a:gd name="adj" fmla="val 930"/>
              </a:avLst>
            </a:prstGeom>
            <a:solidFill>
              <a:srgbClr val="FFFFFF"/>
            </a:solidFill>
            <a:ln w="9525">
              <a:solidFill>
                <a:srgbClr val="F1917D"/>
              </a:solidFill>
              <a:custDash>
                <a:ds d="600000" sp="400000"/>
              </a:custDash>
            </a:ln>
          </p:spPr>
        </p:sp>
        <p:sp>
          <p:nvSpPr>
            <p:cNvPr id="40" name="Rectangle 40"/>
            <p:cNvSpPr/>
            <p:nvPr/>
          </p:nvSpPr>
          <p:spPr>
            <a:xfrm>
              <a:off x="7524750" y="1581150"/>
              <a:ext cx="3048000" cy="247650"/>
            </a:xfrm>
            <a:prstGeom prst="rect">
              <a:avLst/>
            </a:prstGeom>
            <a:solidFill>
              <a:srgbClr val="FFFFFF"/>
            </a:solidFill>
            <a:ln>
              <a:noFill/>
            </a:ln>
          </p:spPr>
        </p:sp>
        <p:sp>
          <p:nvSpPr>
            <p:cNvPr id="41" name="TextBox 41"/>
            <p:cNvSpPr txBox="1"/>
            <p:nvPr/>
          </p:nvSpPr>
          <p:spPr>
            <a:xfrm>
              <a:off x="7911846" y="1632585"/>
              <a:ext cx="2273808" cy="234696"/>
            </a:xfrm>
            <a:prstGeom prst="rect">
              <a:avLst/>
            </a:prstGeom>
            <a:noFill/>
            <a:ln>
              <a:noFill/>
            </a:ln>
          </p:spPr>
          <p:txBody>
            <a:bodyPr wrap="none" lIns="0" tIns="0" rIns="0" bIns="0" anchor="t" anchorCtr="0">
              <a:spAutoFit/>
            </a:bodyPr>
            <a:lstStyle/>
            <a:p>
              <a:pPr algn="ctr"/>
              <a:r>
                <a:rPr lang="zh-CN" sz="1200" b="1" dirty="0">
                  <a:solidFill>
                    <a:srgbClr val="E74726"/>
                  </a:solidFill>
                  <a:latin typeface="+mn-lt"/>
                  <a:ea typeface="+mn-ea"/>
                  <a:cs typeface="+mn-cs"/>
                </a:rPr>
                <a:t>中国银行长尾客群产品运营案例</a:t>
              </a:r>
            </a:p>
          </p:txBody>
        </p:sp>
        <p:grpSp>
          <p:nvGrpSpPr>
            <p:cNvPr id="69" name="phone-list"/>
            <p:cNvGrpSpPr/>
            <p:nvPr/>
          </p:nvGrpSpPr>
          <p:grpSpPr>
            <a:xfrm>
              <a:off x="6572250" y="1952625"/>
              <a:ext cx="1460030" cy="2762250"/>
              <a:chOff x="6572250" y="1952625"/>
              <a:chExt cx="1460030" cy="2762250"/>
            </a:xfrm>
          </p:grpSpPr>
          <p:sp>
            <p:nvSpPr>
              <p:cNvPr id="42" name="Rectangle 42"/>
              <p:cNvSpPr/>
              <p:nvPr/>
            </p:nvSpPr>
            <p:spPr>
              <a:xfrm>
                <a:off x="6572250" y="1952625"/>
                <a:ext cx="1428750" cy="2762250"/>
              </a:xfrm>
              <a:prstGeom prst="roundRect">
                <a:avLst>
                  <a:gd name="adj" fmla="val 6667"/>
                </a:avLst>
              </a:prstGeom>
              <a:solidFill>
                <a:srgbClr val="FFFFFF"/>
              </a:solidFill>
              <a:ln w="9525">
                <a:solidFill>
                  <a:srgbClr val="D9D9D9"/>
                </a:solidFill>
              </a:ln>
            </p:spPr>
          </p:sp>
          <p:sp>
            <p:nvSpPr>
              <p:cNvPr id="43" name="TextBox 43"/>
              <p:cNvSpPr txBox="1"/>
              <p:nvPr/>
            </p:nvSpPr>
            <p:spPr>
              <a:xfrm>
                <a:off x="6662738" y="2041684"/>
                <a:ext cx="361960"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 活钱宝</a:t>
                </a:r>
              </a:p>
            </p:txBody>
          </p:sp>
          <p:sp>
            <p:nvSpPr>
              <p:cNvPr id="44" name="TextBox 44"/>
              <p:cNvSpPr txBox="1"/>
              <p:nvPr/>
            </p:nvSpPr>
            <p:spPr>
              <a:xfrm>
                <a:off x="7672134" y="2041684"/>
                <a:ext cx="23837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 ⊗​​</a:t>
                </a:r>
              </a:p>
            </p:txBody>
          </p:sp>
          <p:sp>
            <p:nvSpPr>
              <p:cNvPr id="45" name="Rectangle 45"/>
              <p:cNvSpPr/>
              <p:nvPr/>
            </p:nvSpPr>
            <p:spPr>
              <a:xfrm>
                <a:off x="6648450" y="2209800"/>
                <a:ext cx="1276350" cy="1047750"/>
              </a:xfrm>
              <a:prstGeom prst="roundRect">
                <a:avLst>
                  <a:gd name="adj" fmla="val 3636"/>
                </a:avLst>
              </a:prstGeom>
              <a:solidFill>
                <a:srgbClr val="FDEBDD"/>
              </a:solidFill>
              <a:ln w="14288">
                <a:solidFill>
                  <a:srgbClr val="E8553C"/>
                </a:solidFill>
              </a:ln>
            </p:spPr>
          </p:sp>
          <p:sp>
            <p:nvSpPr>
              <p:cNvPr id="46" name="TextBox 46"/>
              <p:cNvSpPr txBox="1"/>
              <p:nvPr/>
            </p:nvSpPr>
            <p:spPr>
              <a:xfrm>
                <a:off x="6700838" y="2270284"/>
                <a:ext cx="375691" cy="133350"/>
              </a:xfrm>
              <a:prstGeom prst="rect">
                <a:avLst/>
              </a:prstGeom>
              <a:noFill/>
              <a:ln>
                <a:noFill/>
              </a:ln>
            </p:spPr>
            <p:txBody>
              <a:bodyPr wrap="none" lIns="0" tIns="0" rIns="0" bIns="0" anchor="t" anchorCtr="0">
                <a:spAutoFit/>
              </a:bodyPr>
              <a:lstStyle/>
              <a:p>
                <a:pPr algn="l"/>
                <a:r>
                  <a:rPr lang="zh-CN" sz="680" b="1" dirty="0">
                    <a:solidFill>
                      <a:srgbClr val="C0412B"/>
                    </a:solidFill>
                    <a:latin typeface="+mn-lt"/>
                    <a:ea typeface="+mn-ea"/>
                    <a:cs typeface="+mn-cs"/>
                  </a:rPr>
                  <a:t>赚钱管家</a:t>
                </a:r>
              </a:p>
            </p:txBody>
          </p:sp>
          <p:sp>
            <p:nvSpPr>
              <p:cNvPr id="47" name="TextBox 47"/>
              <p:cNvSpPr txBox="1"/>
              <p:nvPr/>
            </p:nvSpPr>
            <p:spPr>
              <a:xfrm>
                <a:off x="6700838" y="2396728"/>
                <a:ext cx="620161" cy="111919"/>
              </a:xfrm>
              <a:prstGeom prst="rect">
                <a:avLst/>
              </a:prstGeom>
              <a:noFill/>
              <a:ln>
                <a:noFill/>
              </a:ln>
            </p:spPr>
            <p:txBody>
              <a:bodyPr wrap="none" lIns="0" tIns="0" rIns="0" bIns="0" anchor="t" anchorCtr="0">
                <a:spAutoFit/>
              </a:bodyPr>
              <a:lstStyle/>
              <a:p>
                <a:pPr algn="l"/>
                <a:r>
                  <a:rPr lang="zh-CN" sz="560" dirty="0">
                    <a:solidFill>
                      <a:srgbClr val="666666"/>
                    </a:solidFill>
                    <a:latin typeface="+mn-lt"/>
                    <a:ea typeface="+mn-ea"/>
                    <a:cs typeface="+mn-cs"/>
                  </a:rPr>
                  <a:t>及时转入享收益​​</a:t>
                </a:r>
              </a:p>
            </p:txBody>
          </p:sp>
          <p:sp>
            <p:nvSpPr>
              <p:cNvPr id="48" name="Rectangle 48"/>
              <p:cNvSpPr/>
              <p:nvPr/>
            </p:nvSpPr>
            <p:spPr>
              <a:xfrm>
                <a:off x="6686550" y="2533650"/>
                <a:ext cx="1200150" cy="666750"/>
              </a:xfrm>
              <a:prstGeom prst="roundRect">
                <a:avLst>
                  <a:gd name="adj" fmla="val 5714"/>
                </a:avLst>
              </a:prstGeom>
              <a:solidFill>
                <a:srgbClr val="FFFFFF"/>
              </a:solidFill>
              <a:ln>
                <a:noFill/>
              </a:ln>
            </p:spPr>
          </p:sp>
          <p:sp>
            <p:nvSpPr>
              <p:cNvPr id="49" name="Ellipse 49"/>
              <p:cNvSpPr/>
              <p:nvPr/>
            </p:nvSpPr>
            <p:spPr>
              <a:xfrm>
                <a:off x="6724650" y="2695575"/>
                <a:ext cx="95250" cy="95250"/>
              </a:xfrm>
              <a:prstGeom prst="ellipse">
                <a:avLst/>
              </a:prstGeom>
              <a:solidFill>
                <a:srgbClr val="F7725B"/>
              </a:solidFill>
              <a:ln>
                <a:noFill/>
              </a:ln>
            </p:spPr>
          </p:sp>
          <p:sp>
            <p:nvSpPr>
              <p:cNvPr id="50" name="TextBox 50"/>
              <p:cNvSpPr txBox="1"/>
              <p:nvPr/>
            </p:nvSpPr>
            <p:spPr>
              <a:xfrm>
                <a:off x="6843712" y="2711053"/>
                <a:ext cx="548920" cy="111919"/>
              </a:xfrm>
              <a:prstGeom prst="rect">
                <a:avLst/>
              </a:prstGeom>
              <a:noFill/>
              <a:ln>
                <a:noFill/>
              </a:ln>
            </p:spPr>
            <p:txBody>
              <a:bodyPr wrap="none" lIns="0" tIns="0" rIns="0" bIns="0" anchor="t" anchorCtr="0">
                <a:spAutoFit/>
              </a:bodyPr>
              <a:lstStyle/>
              <a:p>
                <a:pPr algn="l"/>
                <a:r>
                  <a:rPr lang="zh-CN" sz="560" b="1" dirty="0">
                    <a:solidFill>
                      <a:srgbClr val="333333"/>
                    </a:solidFill>
                    <a:latin typeface="+mn-lt"/>
                    <a:ea typeface="+mn-ea"/>
                    <a:cs typeface="+mn-cs"/>
                  </a:rPr>
                  <a:t>余额自动申购​​</a:t>
                </a:r>
              </a:p>
            </p:txBody>
          </p:sp>
          <p:sp>
            <p:nvSpPr>
              <p:cNvPr id="51" name="TextBox 51"/>
              <p:cNvSpPr txBox="1"/>
              <p:nvPr/>
            </p:nvSpPr>
            <p:spPr>
              <a:xfrm>
                <a:off x="6843712" y="2818448"/>
                <a:ext cx="621373" cy="90488"/>
              </a:xfrm>
              <a:prstGeom prst="rect">
                <a:avLst/>
              </a:prstGeom>
              <a:noFill/>
              <a:ln>
                <a:noFill/>
              </a:ln>
            </p:spPr>
            <p:txBody>
              <a:bodyPr wrap="none" lIns="0" tIns="0" rIns="0" bIns="0" anchor="t" anchorCtr="0">
                <a:spAutoFit/>
              </a:bodyPr>
              <a:lstStyle/>
              <a:p>
                <a:pPr algn="l"/>
                <a:r>
                  <a:rPr lang="zh-CN" sz="450" dirty="0">
                    <a:solidFill>
                      <a:srgbClr val="999999"/>
                    </a:solidFill>
                    <a:latin typeface="+mn-lt"/>
                    <a:ea typeface="+mn-ea"/>
                    <a:cs typeface="+mn-cs"/>
                  </a:rPr>
                  <a:t>按产品余额自动转入​​</a:t>
                </a:r>
              </a:p>
            </p:txBody>
          </p:sp>
          <p:sp>
            <p:nvSpPr>
              <p:cNvPr id="52" name="Ellipse 52"/>
              <p:cNvSpPr/>
              <p:nvPr/>
            </p:nvSpPr>
            <p:spPr>
              <a:xfrm>
                <a:off x="7334250" y="2695575"/>
                <a:ext cx="95250" cy="95250"/>
              </a:xfrm>
              <a:prstGeom prst="ellipse">
                <a:avLst/>
              </a:prstGeom>
              <a:solidFill>
                <a:srgbClr val="F7725B"/>
              </a:solidFill>
              <a:ln>
                <a:noFill/>
              </a:ln>
            </p:spPr>
          </p:sp>
          <p:sp>
            <p:nvSpPr>
              <p:cNvPr id="53" name="TextBox 53"/>
              <p:cNvSpPr txBox="1"/>
              <p:nvPr/>
            </p:nvSpPr>
            <p:spPr>
              <a:xfrm>
                <a:off x="7453312" y="2711053"/>
                <a:ext cx="398146" cy="111919"/>
              </a:xfrm>
              <a:prstGeom prst="rect">
                <a:avLst/>
              </a:prstGeom>
              <a:noFill/>
              <a:ln>
                <a:noFill/>
              </a:ln>
            </p:spPr>
            <p:txBody>
              <a:bodyPr wrap="none" lIns="0" tIns="0" rIns="0" bIns="0" anchor="t" anchorCtr="0">
                <a:spAutoFit/>
              </a:bodyPr>
              <a:lstStyle/>
              <a:p>
                <a:pPr algn="l"/>
                <a:r>
                  <a:rPr lang="zh-CN" sz="560" b="1" dirty="0">
                    <a:solidFill>
                      <a:srgbClr val="333333"/>
                    </a:solidFill>
                    <a:latin typeface="+mn-lt"/>
                    <a:ea typeface="+mn-ea"/>
                    <a:cs typeface="+mn-cs"/>
                  </a:rPr>
                  <a:t>工资定投​​</a:t>
                </a:r>
              </a:p>
            </p:txBody>
          </p:sp>
          <p:sp>
            <p:nvSpPr>
              <p:cNvPr id="54" name="TextBox 54"/>
              <p:cNvSpPr txBox="1"/>
              <p:nvPr/>
            </p:nvSpPr>
            <p:spPr>
              <a:xfrm>
                <a:off x="7453312" y="2818448"/>
                <a:ext cx="578968" cy="90488"/>
              </a:xfrm>
              <a:prstGeom prst="rect">
                <a:avLst/>
              </a:prstGeom>
              <a:noFill/>
              <a:ln>
                <a:noFill/>
              </a:ln>
            </p:spPr>
            <p:txBody>
              <a:bodyPr wrap="none" lIns="0" tIns="0" rIns="0" bIns="0" anchor="t" anchorCtr="0">
                <a:spAutoFit/>
              </a:bodyPr>
              <a:lstStyle/>
              <a:p>
                <a:pPr algn="l"/>
                <a:r>
                  <a:rPr lang="zh-CN" sz="450" dirty="0">
                    <a:solidFill>
                      <a:srgbClr val="999999"/>
                    </a:solidFill>
                    <a:latin typeface="+mn-lt"/>
                    <a:ea typeface="+mn-ea"/>
                    <a:cs typeface="+mn-cs"/>
                  </a:rPr>
                  <a:t>定期申购 锁定收益​​</a:t>
                </a:r>
              </a:p>
            </p:txBody>
          </p:sp>
          <p:sp>
            <p:nvSpPr>
              <p:cNvPr id="55" name="Rectangle 55"/>
              <p:cNvSpPr/>
              <p:nvPr/>
            </p:nvSpPr>
            <p:spPr>
              <a:xfrm>
                <a:off x="6648450" y="3333750"/>
                <a:ext cx="1276350" cy="1143000"/>
              </a:xfrm>
              <a:prstGeom prst="roundRect">
                <a:avLst>
                  <a:gd name="adj" fmla="val 3333"/>
                </a:avLst>
              </a:prstGeom>
              <a:solidFill>
                <a:srgbClr val="FDEBDD"/>
              </a:solidFill>
              <a:ln w="14288">
                <a:solidFill>
                  <a:srgbClr val="E8553C"/>
                </a:solidFill>
              </a:ln>
            </p:spPr>
          </p:sp>
          <p:sp>
            <p:nvSpPr>
              <p:cNvPr id="56" name="TextBox 56"/>
              <p:cNvSpPr txBox="1"/>
              <p:nvPr/>
            </p:nvSpPr>
            <p:spPr>
              <a:xfrm>
                <a:off x="6700838" y="3394234"/>
                <a:ext cx="375691" cy="133350"/>
              </a:xfrm>
              <a:prstGeom prst="rect">
                <a:avLst/>
              </a:prstGeom>
              <a:noFill/>
              <a:ln>
                <a:noFill/>
              </a:ln>
            </p:spPr>
            <p:txBody>
              <a:bodyPr wrap="none" lIns="0" tIns="0" rIns="0" bIns="0" anchor="t" anchorCtr="0">
                <a:spAutoFit/>
              </a:bodyPr>
              <a:lstStyle/>
              <a:p>
                <a:pPr algn="l"/>
                <a:r>
                  <a:rPr lang="zh-CN" sz="680" b="1" dirty="0">
                    <a:solidFill>
                      <a:srgbClr val="C0412B"/>
                    </a:solidFill>
                    <a:latin typeface="+mn-lt"/>
                    <a:ea typeface="+mn-ea"/>
                    <a:cs typeface="+mn-cs"/>
                  </a:rPr>
                  <a:t>用钱管家</a:t>
                </a:r>
              </a:p>
            </p:txBody>
          </p:sp>
          <p:sp>
            <p:nvSpPr>
              <p:cNvPr id="57" name="TextBox 57"/>
              <p:cNvSpPr txBox="1"/>
              <p:nvPr/>
            </p:nvSpPr>
            <p:spPr>
              <a:xfrm>
                <a:off x="6700838" y="3520678"/>
                <a:ext cx="620161" cy="111919"/>
              </a:xfrm>
              <a:prstGeom prst="rect">
                <a:avLst/>
              </a:prstGeom>
              <a:noFill/>
              <a:ln>
                <a:noFill/>
              </a:ln>
            </p:spPr>
            <p:txBody>
              <a:bodyPr wrap="none" lIns="0" tIns="0" rIns="0" bIns="0" anchor="t" anchorCtr="0">
                <a:spAutoFit/>
              </a:bodyPr>
              <a:lstStyle/>
              <a:p>
                <a:pPr algn="l"/>
                <a:r>
                  <a:rPr lang="zh-CN" sz="560" dirty="0">
                    <a:solidFill>
                      <a:srgbClr val="666666"/>
                    </a:solidFill>
                    <a:latin typeface="+mn-lt"/>
                    <a:ea typeface="+mn-ea"/>
                    <a:cs typeface="+mn-cs"/>
                  </a:rPr>
                  <a:t>便捷取用更省心​​</a:t>
                </a:r>
              </a:p>
            </p:txBody>
          </p:sp>
          <p:sp>
            <p:nvSpPr>
              <p:cNvPr id="58" name="Rectangle 58"/>
              <p:cNvSpPr/>
              <p:nvPr/>
            </p:nvSpPr>
            <p:spPr>
              <a:xfrm>
                <a:off x="6686550" y="3657600"/>
                <a:ext cx="1200150" cy="762000"/>
              </a:xfrm>
              <a:prstGeom prst="roundRect">
                <a:avLst>
                  <a:gd name="adj" fmla="val 5000"/>
                </a:avLst>
              </a:prstGeom>
              <a:solidFill>
                <a:srgbClr val="FFFFFF"/>
              </a:solidFill>
              <a:ln>
                <a:noFill/>
              </a:ln>
            </p:spPr>
          </p:sp>
          <p:sp>
            <p:nvSpPr>
              <p:cNvPr id="59" name="Ellipse 59"/>
              <p:cNvSpPr/>
              <p:nvPr/>
            </p:nvSpPr>
            <p:spPr>
              <a:xfrm>
                <a:off x="6724650" y="3800475"/>
                <a:ext cx="95250" cy="95250"/>
              </a:xfrm>
              <a:prstGeom prst="ellipse">
                <a:avLst/>
              </a:prstGeom>
              <a:solidFill>
                <a:srgbClr val="F7725B"/>
              </a:solidFill>
              <a:ln>
                <a:noFill/>
              </a:ln>
            </p:spPr>
          </p:sp>
          <p:sp>
            <p:nvSpPr>
              <p:cNvPr id="60" name="TextBox 60"/>
              <p:cNvSpPr txBox="1"/>
              <p:nvPr/>
            </p:nvSpPr>
            <p:spPr>
              <a:xfrm>
                <a:off x="6843712" y="3815953"/>
                <a:ext cx="473533" cy="111919"/>
              </a:xfrm>
              <a:prstGeom prst="rect">
                <a:avLst/>
              </a:prstGeom>
              <a:noFill/>
              <a:ln>
                <a:noFill/>
              </a:ln>
            </p:spPr>
            <p:txBody>
              <a:bodyPr wrap="none" lIns="0" tIns="0" rIns="0" bIns="0" anchor="t" anchorCtr="0">
                <a:spAutoFit/>
              </a:bodyPr>
              <a:lstStyle/>
              <a:p>
                <a:pPr algn="l"/>
                <a:r>
                  <a:rPr lang="zh-CN" sz="560" b="1" dirty="0">
                    <a:solidFill>
                      <a:srgbClr val="333333"/>
                    </a:solidFill>
                    <a:latin typeface="+mn-lt"/>
                    <a:ea typeface="+mn-ea"/>
                    <a:cs typeface="+mn-cs"/>
                  </a:rPr>
                  <a:t>信用卡还款​​</a:t>
                </a:r>
              </a:p>
            </p:txBody>
          </p:sp>
          <p:sp>
            <p:nvSpPr>
              <p:cNvPr id="61" name="TextBox 61"/>
              <p:cNvSpPr txBox="1"/>
              <p:nvPr/>
            </p:nvSpPr>
            <p:spPr>
              <a:xfrm>
                <a:off x="6843712" y="3923348"/>
                <a:ext cx="578968" cy="90488"/>
              </a:xfrm>
              <a:prstGeom prst="rect">
                <a:avLst/>
              </a:prstGeom>
              <a:noFill/>
              <a:ln>
                <a:noFill/>
              </a:ln>
            </p:spPr>
            <p:txBody>
              <a:bodyPr wrap="none" lIns="0" tIns="0" rIns="0" bIns="0" anchor="t" anchorCtr="0">
                <a:spAutoFit/>
              </a:bodyPr>
              <a:lstStyle/>
              <a:p>
                <a:pPr algn="l"/>
                <a:r>
                  <a:rPr lang="zh-CN" sz="450" dirty="0">
                    <a:solidFill>
                      <a:srgbClr val="999999"/>
                    </a:solidFill>
                    <a:latin typeface="+mn-lt"/>
                    <a:ea typeface="+mn-ea"/>
                    <a:cs typeface="+mn-cs"/>
                  </a:rPr>
                  <a:t>按时还款 省心省力​​</a:t>
                </a:r>
              </a:p>
            </p:txBody>
          </p:sp>
          <p:sp>
            <p:nvSpPr>
              <p:cNvPr id="62" name="Ellipse 62"/>
              <p:cNvSpPr/>
              <p:nvPr/>
            </p:nvSpPr>
            <p:spPr>
              <a:xfrm>
                <a:off x="7334250" y="3800475"/>
                <a:ext cx="95250" cy="95250"/>
              </a:xfrm>
              <a:prstGeom prst="ellipse">
                <a:avLst/>
              </a:prstGeom>
              <a:solidFill>
                <a:srgbClr val="F7725B"/>
              </a:solidFill>
              <a:ln>
                <a:noFill/>
              </a:ln>
            </p:spPr>
          </p:sp>
          <p:sp>
            <p:nvSpPr>
              <p:cNvPr id="63" name="TextBox 63"/>
              <p:cNvSpPr txBox="1"/>
              <p:nvPr/>
            </p:nvSpPr>
            <p:spPr>
              <a:xfrm>
                <a:off x="7453312" y="3815953"/>
                <a:ext cx="548920" cy="111919"/>
              </a:xfrm>
              <a:prstGeom prst="rect">
                <a:avLst/>
              </a:prstGeom>
              <a:noFill/>
              <a:ln>
                <a:noFill/>
              </a:ln>
            </p:spPr>
            <p:txBody>
              <a:bodyPr wrap="none" lIns="0" tIns="0" rIns="0" bIns="0" anchor="t" anchorCtr="0">
                <a:spAutoFit/>
              </a:bodyPr>
              <a:lstStyle/>
              <a:p>
                <a:pPr algn="l"/>
                <a:r>
                  <a:rPr lang="zh-CN" sz="560" b="1" dirty="0">
                    <a:solidFill>
                      <a:srgbClr val="333333"/>
                    </a:solidFill>
                    <a:latin typeface="+mn-lt"/>
                    <a:ea typeface="+mn-ea"/>
                    <a:cs typeface="+mn-cs"/>
                  </a:rPr>
                  <a:t>贷款还款管家​​</a:t>
                </a:r>
              </a:p>
            </p:txBody>
          </p:sp>
          <p:sp>
            <p:nvSpPr>
              <p:cNvPr id="64" name="TextBox 64"/>
              <p:cNvSpPr txBox="1"/>
              <p:nvPr/>
            </p:nvSpPr>
            <p:spPr>
              <a:xfrm>
                <a:off x="7453312" y="3923348"/>
                <a:ext cx="578968" cy="90488"/>
              </a:xfrm>
              <a:prstGeom prst="rect">
                <a:avLst/>
              </a:prstGeom>
              <a:noFill/>
              <a:ln>
                <a:noFill/>
              </a:ln>
            </p:spPr>
            <p:txBody>
              <a:bodyPr wrap="none" lIns="0" tIns="0" rIns="0" bIns="0" anchor="t" anchorCtr="0">
                <a:spAutoFit/>
              </a:bodyPr>
              <a:lstStyle/>
              <a:p>
                <a:pPr algn="l"/>
                <a:r>
                  <a:rPr lang="zh-CN" sz="450" dirty="0">
                    <a:solidFill>
                      <a:srgbClr val="999999"/>
                    </a:solidFill>
                    <a:latin typeface="+mn-lt"/>
                    <a:ea typeface="+mn-ea"/>
                    <a:cs typeface="+mn-cs"/>
                  </a:rPr>
                  <a:t>按期赎回 智能还款​​</a:t>
                </a:r>
              </a:p>
            </p:txBody>
          </p:sp>
          <p:sp>
            <p:nvSpPr>
              <p:cNvPr id="65" name="Ellipse 65"/>
              <p:cNvSpPr/>
              <p:nvPr/>
            </p:nvSpPr>
            <p:spPr>
              <a:xfrm>
                <a:off x="6724650" y="4143375"/>
                <a:ext cx="95250" cy="95250"/>
              </a:xfrm>
              <a:prstGeom prst="ellipse">
                <a:avLst/>
              </a:prstGeom>
              <a:solidFill>
                <a:srgbClr val="F7725B"/>
              </a:solidFill>
              <a:ln>
                <a:noFill/>
              </a:ln>
            </p:spPr>
          </p:sp>
          <p:sp>
            <p:nvSpPr>
              <p:cNvPr id="66" name="TextBox 66"/>
              <p:cNvSpPr txBox="1"/>
              <p:nvPr/>
            </p:nvSpPr>
            <p:spPr>
              <a:xfrm>
                <a:off x="6843712" y="4158853"/>
                <a:ext cx="398146" cy="111919"/>
              </a:xfrm>
              <a:prstGeom prst="rect">
                <a:avLst/>
              </a:prstGeom>
              <a:noFill/>
              <a:ln>
                <a:noFill/>
              </a:ln>
            </p:spPr>
            <p:txBody>
              <a:bodyPr wrap="none" lIns="0" tIns="0" rIns="0" bIns="0" anchor="t" anchorCtr="0">
                <a:spAutoFit/>
              </a:bodyPr>
              <a:lstStyle/>
              <a:p>
                <a:pPr algn="l"/>
                <a:r>
                  <a:rPr lang="zh-CN" sz="560" b="1" dirty="0">
                    <a:solidFill>
                      <a:srgbClr val="333333"/>
                    </a:solidFill>
                    <a:latin typeface="+mn-lt"/>
                    <a:ea typeface="+mn-ea"/>
                    <a:cs typeface="+mn-cs"/>
                  </a:rPr>
                  <a:t>自动赎回​​</a:t>
                </a:r>
              </a:p>
            </p:txBody>
          </p:sp>
          <p:sp>
            <p:nvSpPr>
              <p:cNvPr id="67" name="TextBox 67"/>
              <p:cNvSpPr txBox="1"/>
              <p:nvPr/>
            </p:nvSpPr>
            <p:spPr>
              <a:xfrm>
                <a:off x="6843712" y="4266248"/>
                <a:ext cx="578968" cy="90488"/>
              </a:xfrm>
              <a:prstGeom prst="rect">
                <a:avLst/>
              </a:prstGeom>
              <a:noFill/>
              <a:ln>
                <a:noFill/>
              </a:ln>
            </p:spPr>
            <p:txBody>
              <a:bodyPr wrap="none" lIns="0" tIns="0" rIns="0" bIns="0" anchor="t" anchorCtr="0">
                <a:spAutoFit/>
              </a:bodyPr>
              <a:lstStyle/>
              <a:p>
                <a:pPr algn="l"/>
                <a:r>
                  <a:rPr lang="zh-CN" sz="450" dirty="0">
                    <a:solidFill>
                      <a:srgbClr val="999999"/>
                    </a:solidFill>
                    <a:latin typeface="+mn-lt"/>
                    <a:ea typeface="+mn-ea"/>
                    <a:cs typeface="+mn-cs"/>
                  </a:rPr>
                  <a:t>智能赎回 支付无忧​​</a:t>
                </a:r>
              </a:p>
            </p:txBody>
          </p:sp>
          <p:sp>
            <p:nvSpPr>
              <p:cNvPr id="68" name="TextBox 68"/>
              <p:cNvSpPr txBox="1"/>
              <p:nvPr/>
            </p:nvSpPr>
            <p:spPr>
              <a:xfrm>
                <a:off x="6958101" y="4582001"/>
                <a:ext cx="657047" cy="104775"/>
              </a:xfrm>
              <a:prstGeom prst="rect">
                <a:avLst/>
              </a:prstGeom>
              <a:noFill/>
              <a:ln>
                <a:noFill/>
              </a:ln>
            </p:spPr>
            <p:txBody>
              <a:bodyPr wrap="none" lIns="0" tIns="0" rIns="0" bIns="0" anchor="t" anchorCtr="0">
                <a:spAutoFit/>
              </a:bodyPr>
              <a:lstStyle/>
              <a:p>
                <a:pPr algn="ctr"/>
                <a:r>
                  <a:rPr lang="zh-CN" sz="520" dirty="0">
                    <a:solidFill>
                      <a:srgbClr val="C0412B"/>
                    </a:solidFill>
                    <a:latin typeface="+mn-lt"/>
                    <a:ea typeface="+mn-ea"/>
                    <a:cs typeface="+mn-cs"/>
                  </a:rPr>
                  <a:t>中国银行 · 活钱宝​​</a:t>
                </a:r>
              </a:p>
            </p:txBody>
          </p:sp>
        </p:grpSp>
        <p:grpSp>
          <p:nvGrpSpPr>
            <p:cNvPr id="72" name="ribbon-earn"/>
            <p:cNvGrpSpPr/>
            <p:nvPr/>
          </p:nvGrpSpPr>
          <p:grpSpPr>
            <a:xfrm rot="2280000">
              <a:off x="7599924" y="2285647"/>
              <a:ext cx="762000" cy="193834"/>
              <a:chOff x="7600950" y="2286000"/>
              <a:chExt cx="762000" cy="193834"/>
            </a:xfrm>
          </p:grpSpPr>
          <p:sp>
            <p:nvSpPr>
              <p:cNvPr id="70" name="Rectangle 70"/>
              <p:cNvSpPr/>
              <p:nvPr/>
            </p:nvSpPr>
            <p:spPr>
              <a:xfrm>
                <a:off x="7600950" y="2286000"/>
                <a:ext cx="762000" cy="190500"/>
              </a:xfrm>
              <a:prstGeom prst="roundRect">
                <a:avLst>
                  <a:gd name="adj" fmla="val 15000"/>
                </a:avLst>
              </a:prstGeom>
              <a:solidFill>
                <a:srgbClr val="E74726"/>
              </a:solidFill>
              <a:ln>
                <a:noFill/>
              </a:ln>
            </p:spPr>
          </p:sp>
          <p:sp>
            <p:nvSpPr>
              <p:cNvPr id="71" name="TextBox 71"/>
              <p:cNvSpPr txBox="1"/>
              <p:nvPr/>
            </p:nvSpPr>
            <p:spPr>
              <a:xfrm>
                <a:off x="7794104" y="23464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赚钱场景</a:t>
                </a:r>
              </a:p>
            </p:txBody>
          </p:sp>
        </p:grpSp>
        <p:grpSp>
          <p:nvGrpSpPr>
            <p:cNvPr id="75" name="ribbon-spend"/>
            <p:cNvGrpSpPr/>
            <p:nvPr/>
          </p:nvGrpSpPr>
          <p:grpSpPr>
            <a:xfrm rot="2280000">
              <a:off x="7599924" y="3447697"/>
              <a:ext cx="762000" cy="193834"/>
              <a:chOff x="7600950" y="3448050"/>
              <a:chExt cx="762000" cy="193834"/>
            </a:xfrm>
          </p:grpSpPr>
          <p:sp>
            <p:nvSpPr>
              <p:cNvPr id="73" name="Rectangle 73"/>
              <p:cNvSpPr/>
              <p:nvPr/>
            </p:nvSpPr>
            <p:spPr>
              <a:xfrm>
                <a:off x="7600950" y="3448050"/>
                <a:ext cx="762000" cy="190500"/>
              </a:xfrm>
              <a:prstGeom prst="roundRect">
                <a:avLst>
                  <a:gd name="adj" fmla="val 15000"/>
                </a:avLst>
              </a:prstGeom>
              <a:solidFill>
                <a:srgbClr val="E74726"/>
              </a:solidFill>
              <a:ln>
                <a:noFill/>
              </a:ln>
            </p:spPr>
          </p:sp>
          <p:sp>
            <p:nvSpPr>
              <p:cNvPr id="74" name="TextBox 74"/>
              <p:cNvSpPr txBox="1"/>
              <p:nvPr/>
            </p:nvSpPr>
            <p:spPr>
              <a:xfrm>
                <a:off x="7794104" y="35085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用钱场景</a:t>
                </a:r>
              </a:p>
            </p:txBody>
          </p:sp>
        </p:grpSp>
        <p:sp>
          <p:nvSpPr>
            <p:cNvPr id="76" name="Freeform 76"/>
            <p:cNvSpPr/>
            <p:nvPr/>
          </p:nvSpPr>
          <p:spPr>
            <a:xfrm>
              <a:off x="8058150" y="2686050"/>
              <a:ext cx="285750" cy="933450"/>
            </a:xfrm>
            <a:custGeom>
              <a:avLst/>
              <a:gdLst/>
              <a:ahLst/>
              <a:cxnLst/>
              <a:rect l="l" t="t" r="r" b="b"/>
              <a:pathLst>
                <a:path w="285750" h="933450">
                  <a:moveTo>
                    <a:pt x="0" y="0"/>
                  </a:moveTo>
                  <a:lnTo>
                    <a:pt x="190500" y="0"/>
                  </a:lnTo>
                  <a:lnTo>
                    <a:pt x="190500" y="933450"/>
                  </a:lnTo>
                  <a:lnTo>
                    <a:pt x="285750" y="933450"/>
                  </a:lnTo>
                </a:path>
              </a:pathLst>
            </a:custGeom>
            <a:noFill/>
            <a:ln w="14288">
              <a:solidFill>
                <a:srgbClr val="E74726"/>
              </a:solidFill>
              <a:tailEnd type="triangle" w="lg" len="lg"/>
            </a:ln>
          </p:spPr>
        </p:sp>
        <p:grpSp>
          <p:nvGrpSpPr>
            <p:cNvPr id="102" name="phone-auto"/>
            <p:cNvGrpSpPr/>
            <p:nvPr/>
          </p:nvGrpSpPr>
          <p:grpSpPr>
            <a:xfrm>
              <a:off x="8382000" y="2143125"/>
              <a:ext cx="1524000" cy="2571750"/>
              <a:chOff x="8382000" y="2143125"/>
              <a:chExt cx="1524000" cy="2571750"/>
            </a:xfrm>
          </p:grpSpPr>
          <p:sp>
            <p:nvSpPr>
              <p:cNvPr id="77" name="Rectangle 77"/>
              <p:cNvSpPr/>
              <p:nvPr/>
            </p:nvSpPr>
            <p:spPr>
              <a:xfrm>
                <a:off x="8382000" y="2143125"/>
                <a:ext cx="1524000" cy="2571750"/>
              </a:xfrm>
              <a:prstGeom prst="roundRect">
                <a:avLst>
                  <a:gd name="adj" fmla="val 6250"/>
                </a:avLst>
              </a:prstGeom>
              <a:solidFill>
                <a:srgbClr val="FFFFFF"/>
              </a:solidFill>
              <a:ln w="9525">
                <a:solidFill>
                  <a:srgbClr val="D9D9D9"/>
                </a:solidFill>
              </a:ln>
            </p:spPr>
          </p:sp>
          <p:sp>
            <p:nvSpPr>
              <p:cNvPr id="78" name="TextBox 78"/>
              <p:cNvSpPr txBox="1"/>
              <p:nvPr/>
            </p:nvSpPr>
            <p:spPr>
              <a:xfrm>
                <a:off x="8472488" y="2232184"/>
                <a:ext cx="361960"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 活钱宝</a:t>
                </a:r>
              </a:p>
            </p:txBody>
          </p:sp>
          <p:sp>
            <p:nvSpPr>
              <p:cNvPr id="79" name="TextBox 79"/>
              <p:cNvSpPr txBox="1"/>
              <p:nvPr/>
            </p:nvSpPr>
            <p:spPr>
              <a:xfrm>
                <a:off x="9577134" y="2232184"/>
                <a:ext cx="23837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 ⊗​​</a:t>
                </a:r>
              </a:p>
            </p:txBody>
          </p:sp>
          <p:sp>
            <p:nvSpPr>
              <p:cNvPr id="80" name="Rectangle 80"/>
              <p:cNvSpPr/>
              <p:nvPr/>
            </p:nvSpPr>
            <p:spPr>
              <a:xfrm>
                <a:off x="8391525" y="2381250"/>
                <a:ext cx="1504950" cy="762000"/>
              </a:xfrm>
              <a:prstGeom prst="rect">
                <a:avLst/>
              </a:prstGeom>
              <a:gradFill>
                <a:gsLst>
                  <a:gs pos="0">
                    <a:srgbClr val="F7725B"/>
                  </a:gs>
                  <a:gs pos="100000">
                    <a:srgbClr val="FDD3CC"/>
                  </a:gs>
                </a:gsLst>
                <a:lin ang="5400000" scaled="1"/>
              </a:gradFill>
              <a:ln>
                <a:noFill/>
              </a:ln>
            </p:spPr>
          </p:sp>
          <p:sp>
            <p:nvSpPr>
              <p:cNvPr id="81" name="TextBox 81"/>
              <p:cNvSpPr txBox="1"/>
              <p:nvPr/>
            </p:nvSpPr>
            <p:spPr>
              <a:xfrm>
                <a:off x="8491538" y="2482691"/>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余额自动申购</a:t>
                </a:r>
              </a:p>
            </p:txBody>
          </p:sp>
          <p:sp>
            <p:nvSpPr>
              <p:cNvPr id="82" name="Rectangle 82"/>
              <p:cNvSpPr/>
              <p:nvPr/>
            </p:nvSpPr>
            <p:spPr>
              <a:xfrm>
                <a:off x="8496300" y="2647950"/>
                <a:ext cx="1143000" cy="38100"/>
              </a:xfrm>
              <a:prstGeom prst="roundRect">
                <a:avLst>
                  <a:gd name="adj" fmla="val 50000"/>
                </a:avLst>
              </a:prstGeom>
              <a:solidFill>
                <a:srgbClr val="FFFFFF">
                  <a:alpha val="70000"/>
                </a:srgbClr>
              </a:solidFill>
              <a:ln>
                <a:noFill/>
              </a:ln>
            </p:spPr>
          </p:sp>
          <p:sp>
            <p:nvSpPr>
              <p:cNvPr id="83" name="Rectangle 83"/>
              <p:cNvSpPr/>
              <p:nvPr/>
            </p:nvSpPr>
            <p:spPr>
              <a:xfrm>
                <a:off x="8496300" y="2724150"/>
                <a:ext cx="952500" cy="38100"/>
              </a:xfrm>
              <a:prstGeom prst="roundRect">
                <a:avLst>
                  <a:gd name="adj" fmla="val 50000"/>
                </a:avLst>
              </a:prstGeom>
              <a:solidFill>
                <a:srgbClr val="FFFFFF">
                  <a:alpha val="70000"/>
                </a:srgbClr>
              </a:solidFill>
              <a:ln>
                <a:noFill/>
              </a:ln>
            </p:spPr>
          </p:sp>
          <p:sp>
            <p:nvSpPr>
              <p:cNvPr id="84" name="Ellipse 84"/>
              <p:cNvSpPr/>
              <p:nvPr/>
            </p:nvSpPr>
            <p:spPr>
              <a:xfrm>
                <a:off x="8534400" y="2828925"/>
                <a:ext cx="171450" cy="171450"/>
              </a:xfrm>
              <a:prstGeom prst="ellipse">
                <a:avLst/>
              </a:prstGeom>
              <a:solidFill>
                <a:srgbClr val="F2715B"/>
              </a:solidFill>
              <a:ln>
                <a:noFill/>
              </a:ln>
            </p:spPr>
          </p:sp>
          <p:sp>
            <p:nvSpPr>
              <p:cNvPr id="85" name="Ellipse 85"/>
              <p:cNvSpPr/>
              <p:nvPr/>
            </p:nvSpPr>
            <p:spPr>
              <a:xfrm>
                <a:off x="9058275" y="2828925"/>
                <a:ext cx="171450" cy="171450"/>
              </a:xfrm>
              <a:prstGeom prst="ellipse">
                <a:avLst/>
              </a:prstGeom>
              <a:solidFill>
                <a:srgbClr val="F7725B"/>
              </a:solidFill>
              <a:ln>
                <a:noFill/>
              </a:ln>
            </p:spPr>
          </p:sp>
          <p:sp>
            <p:nvSpPr>
              <p:cNvPr id="86" name="Ellipse 86"/>
              <p:cNvSpPr/>
              <p:nvPr/>
            </p:nvSpPr>
            <p:spPr>
              <a:xfrm>
                <a:off x="9582150" y="2828925"/>
                <a:ext cx="171450" cy="171450"/>
              </a:xfrm>
              <a:prstGeom prst="ellipse">
                <a:avLst/>
              </a:prstGeom>
              <a:solidFill>
                <a:srgbClr val="E8553C"/>
              </a:solidFill>
              <a:ln>
                <a:noFill/>
              </a:ln>
            </p:spPr>
          </p:sp>
          <p:sp>
            <p:nvSpPr>
              <p:cNvPr id="87" name="TextBox 87"/>
              <p:cNvSpPr txBox="1"/>
              <p:nvPr/>
            </p:nvSpPr>
            <p:spPr>
              <a:xfrm>
                <a:off x="8480137" y="3042999"/>
                <a:ext cx="279977" cy="97631"/>
              </a:xfrm>
              <a:prstGeom prst="rect">
                <a:avLst/>
              </a:prstGeom>
              <a:noFill/>
              <a:ln>
                <a:noFill/>
              </a:ln>
            </p:spPr>
            <p:txBody>
              <a:bodyPr wrap="none" lIns="0" tIns="0" rIns="0" bIns="0" anchor="t" anchorCtr="0">
                <a:spAutoFit/>
              </a:bodyPr>
              <a:lstStyle/>
              <a:p>
                <a:pPr algn="ctr"/>
                <a:r>
                  <a:rPr lang="zh-CN" sz="490" dirty="0">
                    <a:solidFill>
                      <a:srgbClr val="666666"/>
                    </a:solidFill>
                    <a:latin typeface="+mn-lt"/>
                    <a:ea typeface="+mn-ea"/>
                    <a:cs typeface="+mn-cs"/>
                  </a:rPr>
                  <a:t>自动转​​</a:t>
                </a:r>
              </a:p>
            </p:txBody>
          </p:sp>
          <p:sp>
            <p:nvSpPr>
              <p:cNvPr id="88" name="TextBox 88"/>
              <p:cNvSpPr txBox="1"/>
              <p:nvPr/>
            </p:nvSpPr>
            <p:spPr>
              <a:xfrm>
                <a:off x="9004012" y="3042999"/>
                <a:ext cx="279977" cy="97631"/>
              </a:xfrm>
              <a:prstGeom prst="rect">
                <a:avLst/>
              </a:prstGeom>
              <a:noFill/>
              <a:ln>
                <a:noFill/>
              </a:ln>
            </p:spPr>
            <p:txBody>
              <a:bodyPr wrap="none" lIns="0" tIns="0" rIns="0" bIns="0" anchor="t" anchorCtr="0">
                <a:spAutoFit/>
              </a:bodyPr>
              <a:lstStyle/>
              <a:p>
                <a:pPr algn="ctr"/>
                <a:r>
                  <a:rPr lang="zh-CN" sz="490" dirty="0">
                    <a:solidFill>
                      <a:srgbClr val="666666"/>
                    </a:solidFill>
                    <a:latin typeface="+mn-lt"/>
                    <a:ea typeface="+mn-ea"/>
                    <a:cs typeface="+mn-cs"/>
                  </a:rPr>
                  <a:t>赚收益​​</a:t>
                </a:r>
              </a:p>
            </p:txBody>
          </p:sp>
          <p:sp>
            <p:nvSpPr>
              <p:cNvPr id="89" name="TextBox 89"/>
              <p:cNvSpPr txBox="1"/>
              <p:nvPr/>
            </p:nvSpPr>
            <p:spPr>
              <a:xfrm>
                <a:off x="9527887" y="3042999"/>
                <a:ext cx="279977" cy="97631"/>
              </a:xfrm>
              <a:prstGeom prst="rect">
                <a:avLst/>
              </a:prstGeom>
              <a:noFill/>
              <a:ln>
                <a:noFill/>
              </a:ln>
            </p:spPr>
            <p:txBody>
              <a:bodyPr wrap="none" lIns="0" tIns="0" rIns="0" bIns="0" anchor="t" anchorCtr="0">
                <a:spAutoFit/>
              </a:bodyPr>
              <a:lstStyle/>
              <a:p>
                <a:pPr algn="ctr"/>
                <a:r>
                  <a:rPr lang="zh-CN" sz="490" dirty="0">
                    <a:solidFill>
                      <a:srgbClr val="666666"/>
                    </a:solidFill>
                    <a:latin typeface="+mn-lt"/>
                    <a:ea typeface="+mn-ea"/>
                    <a:cs typeface="+mn-cs"/>
                  </a:rPr>
                  <a:t>灵活取​​</a:t>
                </a:r>
              </a:p>
            </p:txBody>
          </p:sp>
          <p:sp>
            <p:nvSpPr>
              <p:cNvPr id="90" name="Freeform 90"/>
              <p:cNvSpPr/>
              <p:nvPr/>
            </p:nvSpPr>
            <p:spPr>
              <a:xfrm>
                <a:off x="8620125" y="3238500"/>
                <a:ext cx="1095375" cy="952500"/>
              </a:xfrm>
              <a:custGeom>
                <a:avLst/>
                <a:gdLst/>
                <a:ahLst/>
                <a:cxnLst/>
                <a:rect l="l" t="t" r="r" b="b"/>
                <a:pathLst>
                  <a:path w="1095375" h="952500">
                    <a:moveTo>
                      <a:pt x="0" y="142875"/>
                    </a:moveTo>
                    <a:cubicBezTo>
                      <a:pt x="523875" y="0"/>
                      <a:pt x="809625" y="285750"/>
                      <a:pt x="1000125" y="523875"/>
                    </a:cubicBezTo>
                    <a:cubicBezTo>
                      <a:pt x="1095375" y="714375"/>
                      <a:pt x="523875" y="762000"/>
                      <a:pt x="333375" y="952500"/>
                    </a:cubicBezTo>
                  </a:path>
                </a:pathLst>
              </a:custGeom>
              <a:noFill/>
              <a:ln w="14288">
                <a:solidFill>
                  <a:srgbClr val="F5BBB1"/>
                </a:solidFill>
                <a:custDash>
                  <a:ds d="200000" sp="200000"/>
                </a:custDash>
              </a:ln>
            </p:spPr>
          </p:sp>
          <p:sp>
            <p:nvSpPr>
              <p:cNvPr id="91" name="Ellipse 91"/>
              <p:cNvSpPr/>
              <p:nvPr/>
            </p:nvSpPr>
            <p:spPr>
              <a:xfrm>
                <a:off x="8562975" y="3324225"/>
                <a:ext cx="114300" cy="114300"/>
              </a:xfrm>
              <a:prstGeom prst="ellipse">
                <a:avLst/>
              </a:prstGeom>
              <a:solidFill>
                <a:srgbClr val="FDEBDD"/>
              </a:solidFill>
              <a:ln>
                <a:noFill/>
              </a:ln>
            </p:spPr>
          </p:sp>
          <p:sp>
            <p:nvSpPr>
              <p:cNvPr id="92" name="TextBox 92"/>
              <p:cNvSpPr txBox="1"/>
              <p:nvPr/>
            </p:nvSpPr>
            <p:spPr>
              <a:xfrm>
                <a:off x="8739188" y="3288030"/>
                <a:ext cx="532120" cy="119062"/>
              </a:xfrm>
              <a:prstGeom prst="rect">
                <a:avLst/>
              </a:prstGeom>
              <a:noFill/>
              <a:ln>
                <a:noFill/>
              </a:ln>
            </p:spPr>
            <p:txBody>
              <a:bodyPr wrap="none" lIns="0" tIns="0" rIns="0" bIns="0" anchor="t" anchorCtr="0">
                <a:spAutoFit/>
              </a:bodyPr>
              <a:lstStyle/>
              <a:p>
                <a:pPr algn="l"/>
                <a:r>
                  <a:rPr lang="zh-CN" sz="600" b="1" dirty="0">
                    <a:solidFill>
                      <a:srgbClr val="C0412B"/>
                    </a:solidFill>
                    <a:latin typeface="+mn-lt"/>
                    <a:ea typeface="+mn-ea"/>
                    <a:cs typeface="+mn-cs"/>
                  </a:rPr>
                  <a:t>第①步 定计划​</a:t>
                </a:r>
              </a:p>
            </p:txBody>
          </p:sp>
          <p:sp>
            <p:nvSpPr>
              <p:cNvPr id="93" name="TextBox 93"/>
              <p:cNvSpPr txBox="1"/>
              <p:nvPr/>
            </p:nvSpPr>
            <p:spPr>
              <a:xfrm>
                <a:off x="8739188" y="3399472"/>
                <a:ext cx="821284" cy="90488"/>
              </a:xfrm>
              <a:prstGeom prst="rect">
                <a:avLst/>
              </a:prstGeom>
              <a:noFill/>
              <a:ln>
                <a:noFill/>
              </a:ln>
            </p:spPr>
            <p:txBody>
              <a:bodyPr wrap="none" lIns="0" tIns="0" rIns="0" bIns="0" anchor="t" anchorCtr="0">
                <a:spAutoFit/>
              </a:bodyPr>
              <a:lstStyle/>
              <a:p>
                <a:pPr algn="l"/>
                <a:r>
                  <a:rPr lang="zh-CN" sz="450" dirty="0">
                    <a:solidFill>
                      <a:srgbClr val="999999"/>
                    </a:solidFill>
                    <a:latin typeface="+mn-lt"/>
                    <a:ea typeface="+mn-ea"/>
                    <a:cs typeface="+mn-cs"/>
                  </a:rPr>
                  <a:t>操作简单 设置最小留存金额​​</a:t>
                </a:r>
              </a:p>
            </p:txBody>
          </p:sp>
          <p:sp>
            <p:nvSpPr>
              <p:cNvPr id="94" name="Ellipse 94"/>
              <p:cNvSpPr/>
              <p:nvPr/>
            </p:nvSpPr>
            <p:spPr>
              <a:xfrm>
                <a:off x="9563100" y="3705225"/>
                <a:ext cx="114300" cy="114300"/>
              </a:xfrm>
              <a:prstGeom prst="ellipse">
                <a:avLst/>
              </a:prstGeom>
              <a:solidFill>
                <a:srgbClr val="FDEBDD"/>
              </a:solidFill>
              <a:ln>
                <a:noFill/>
              </a:ln>
            </p:spPr>
          </p:sp>
          <p:sp>
            <p:nvSpPr>
              <p:cNvPr id="95" name="TextBox 95"/>
              <p:cNvSpPr txBox="1"/>
              <p:nvPr/>
            </p:nvSpPr>
            <p:spPr>
              <a:xfrm>
                <a:off x="9016693" y="3669030"/>
                <a:ext cx="532120" cy="119062"/>
              </a:xfrm>
              <a:prstGeom prst="rect">
                <a:avLst/>
              </a:prstGeom>
              <a:noFill/>
              <a:ln>
                <a:noFill/>
              </a:ln>
            </p:spPr>
            <p:txBody>
              <a:bodyPr wrap="none" lIns="0" tIns="0" rIns="0" bIns="0" anchor="t" anchorCtr="0">
                <a:spAutoFit/>
              </a:bodyPr>
              <a:lstStyle/>
              <a:p>
                <a:pPr algn="r"/>
                <a:r>
                  <a:rPr lang="zh-CN" sz="600" b="1" dirty="0">
                    <a:solidFill>
                      <a:srgbClr val="C0412B"/>
                    </a:solidFill>
                    <a:latin typeface="+mn-lt"/>
                    <a:ea typeface="+mn-ea"/>
                    <a:cs typeface="+mn-cs"/>
                  </a:rPr>
                  <a:t>第②步 自动转​</a:t>
                </a:r>
              </a:p>
            </p:txBody>
          </p:sp>
          <p:sp>
            <p:nvSpPr>
              <p:cNvPr id="96" name="TextBox 96"/>
              <p:cNvSpPr txBox="1"/>
              <p:nvPr/>
            </p:nvSpPr>
            <p:spPr>
              <a:xfrm>
                <a:off x="8969845" y="3780472"/>
                <a:ext cx="578968" cy="90488"/>
              </a:xfrm>
              <a:prstGeom prst="rect">
                <a:avLst/>
              </a:prstGeom>
              <a:noFill/>
              <a:ln>
                <a:noFill/>
              </a:ln>
            </p:spPr>
            <p:txBody>
              <a:bodyPr wrap="none" lIns="0" tIns="0" rIns="0" bIns="0" anchor="t" anchorCtr="0">
                <a:spAutoFit/>
              </a:bodyPr>
              <a:lstStyle/>
              <a:p>
                <a:pPr algn="r"/>
                <a:r>
                  <a:rPr lang="zh-CN" sz="450" dirty="0">
                    <a:solidFill>
                      <a:srgbClr val="999999"/>
                    </a:solidFill>
                    <a:latin typeface="+mn-lt"/>
                    <a:ea typeface="+mn-ea"/>
                    <a:cs typeface="+mn-cs"/>
                  </a:rPr>
                  <a:t>一次设置 天天省心​​</a:t>
                </a:r>
              </a:p>
            </p:txBody>
          </p:sp>
          <p:sp>
            <p:nvSpPr>
              <p:cNvPr id="97" name="Ellipse 97"/>
              <p:cNvSpPr/>
              <p:nvPr/>
            </p:nvSpPr>
            <p:spPr>
              <a:xfrm>
                <a:off x="8896350" y="4133850"/>
                <a:ext cx="114300" cy="114300"/>
              </a:xfrm>
              <a:prstGeom prst="ellipse">
                <a:avLst/>
              </a:prstGeom>
              <a:solidFill>
                <a:srgbClr val="FDEBDD"/>
              </a:solidFill>
              <a:ln>
                <a:noFill/>
              </a:ln>
            </p:spPr>
          </p:sp>
          <p:sp>
            <p:nvSpPr>
              <p:cNvPr id="98" name="TextBox 98"/>
              <p:cNvSpPr txBox="1"/>
              <p:nvPr/>
            </p:nvSpPr>
            <p:spPr>
              <a:xfrm>
                <a:off x="9063038" y="4097655"/>
                <a:ext cx="532120" cy="119062"/>
              </a:xfrm>
              <a:prstGeom prst="rect">
                <a:avLst/>
              </a:prstGeom>
              <a:noFill/>
              <a:ln>
                <a:noFill/>
              </a:ln>
            </p:spPr>
            <p:txBody>
              <a:bodyPr wrap="none" lIns="0" tIns="0" rIns="0" bIns="0" anchor="t" anchorCtr="0">
                <a:spAutoFit/>
              </a:bodyPr>
              <a:lstStyle/>
              <a:p>
                <a:pPr algn="l"/>
                <a:r>
                  <a:rPr lang="zh-CN" sz="600" b="1" dirty="0">
                    <a:solidFill>
                      <a:srgbClr val="C0412B"/>
                    </a:solidFill>
                    <a:latin typeface="+mn-lt"/>
                    <a:ea typeface="+mn-ea"/>
                    <a:cs typeface="+mn-cs"/>
                  </a:rPr>
                  <a:t>第③步 灵活取​</a:t>
                </a:r>
              </a:p>
            </p:txBody>
          </p:sp>
          <p:sp>
            <p:nvSpPr>
              <p:cNvPr id="99" name="TextBox 99"/>
              <p:cNvSpPr txBox="1"/>
              <p:nvPr/>
            </p:nvSpPr>
            <p:spPr>
              <a:xfrm>
                <a:off x="9063038" y="4209098"/>
                <a:ext cx="578968" cy="90488"/>
              </a:xfrm>
              <a:prstGeom prst="rect">
                <a:avLst/>
              </a:prstGeom>
              <a:noFill/>
              <a:ln>
                <a:noFill/>
              </a:ln>
            </p:spPr>
            <p:txBody>
              <a:bodyPr wrap="none" lIns="0" tIns="0" rIns="0" bIns="0" anchor="t" anchorCtr="0">
                <a:spAutoFit/>
              </a:bodyPr>
              <a:lstStyle/>
              <a:p>
                <a:pPr algn="l"/>
                <a:r>
                  <a:rPr lang="zh-CN" sz="450" dirty="0">
                    <a:solidFill>
                      <a:srgbClr val="999999"/>
                    </a:solidFill>
                    <a:latin typeface="+mn-lt"/>
                    <a:ea typeface="+mn-ea"/>
                    <a:cs typeface="+mn-cs"/>
                  </a:rPr>
                  <a:t>随时支取 灵活方便​​</a:t>
                </a:r>
              </a:p>
            </p:txBody>
          </p:sp>
          <p:sp>
            <p:nvSpPr>
              <p:cNvPr id="100" name="Rectangle 100"/>
              <p:cNvSpPr/>
              <p:nvPr/>
            </p:nvSpPr>
            <p:spPr>
              <a:xfrm>
                <a:off x="8496300" y="4381500"/>
                <a:ext cx="1295400" cy="209550"/>
              </a:xfrm>
              <a:prstGeom prst="roundRect">
                <a:avLst>
                  <a:gd name="adj" fmla="val 18182"/>
                </a:avLst>
              </a:prstGeom>
              <a:solidFill>
                <a:srgbClr val="E8553C"/>
              </a:solidFill>
              <a:ln>
                <a:noFill/>
              </a:ln>
            </p:spPr>
          </p:sp>
          <p:sp>
            <p:nvSpPr>
              <p:cNvPr id="101" name="TextBox 101"/>
              <p:cNvSpPr txBox="1"/>
              <p:nvPr/>
            </p:nvSpPr>
            <p:spPr>
              <a:xfrm>
                <a:off x="8910384" y="4451509"/>
                <a:ext cx="467233"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马上去体验</a:t>
                </a:r>
              </a:p>
            </p:txBody>
          </p:sp>
        </p:grpSp>
        <p:sp>
          <p:nvSpPr>
            <p:cNvPr id="103" name="TextBox 103"/>
            <p:cNvSpPr txBox="1"/>
            <p:nvPr/>
          </p:nvSpPr>
          <p:spPr>
            <a:xfrm>
              <a:off x="8714613" y="4887278"/>
              <a:ext cx="858774"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余额自动申购</a:t>
              </a:r>
            </a:p>
          </p:txBody>
        </p:sp>
        <p:grpSp>
          <p:nvGrpSpPr>
            <p:cNvPr id="131" name="phone-salary"/>
            <p:cNvGrpSpPr/>
            <p:nvPr/>
          </p:nvGrpSpPr>
          <p:grpSpPr>
            <a:xfrm>
              <a:off x="10144125" y="2143125"/>
              <a:ext cx="1524000" cy="2571750"/>
              <a:chOff x="10144125" y="2143125"/>
              <a:chExt cx="1524000" cy="2571750"/>
            </a:xfrm>
          </p:grpSpPr>
          <p:sp>
            <p:nvSpPr>
              <p:cNvPr id="104" name="Rectangle 104"/>
              <p:cNvSpPr/>
              <p:nvPr/>
            </p:nvSpPr>
            <p:spPr>
              <a:xfrm>
                <a:off x="10144125" y="2143125"/>
                <a:ext cx="1524000" cy="2571750"/>
              </a:xfrm>
              <a:prstGeom prst="roundRect">
                <a:avLst>
                  <a:gd name="adj" fmla="val 6250"/>
                </a:avLst>
              </a:prstGeom>
              <a:solidFill>
                <a:srgbClr val="FFFFFF"/>
              </a:solidFill>
              <a:ln w="9525">
                <a:solidFill>
                  <a:srgbClr val="D9D9D9"/>
                </a:solidFill>
              </a:ln>
            </p:spPr>
          </p:sp>
          <p:sp>
            <p:nvSpPr>
              <p:cNvPr id="105" name="TextBox 105"/>
              <p:cNvSpPr txBox="1"/>
              <p:nvPr/>
            </p:nvSpPr>
            <p:spPr>
              <a:xfrm>
                <a:off x="10234612" y="2232184"/>
                <a:ext cx="361960"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 活钱宝</a:t>
                </a:r>
              </a:p>
            </p:txBody>
          </p:sp>
          <p:sp>
            <p:nvSpPr>
              <p:cNvPr id="106" name="TextBox 106"/>
              <p:cNvSpPr txBox="1"/>
              <p:nvPr/>
            </p:nvSpPr>
            <p:spPr>
              <a:xfrm>
                <a:off x="11339258" y="2232184"/>
                <a:ext cx="23837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 ⊗​​</a:t>
                </a:r>
              </a:p>
            </p:txBody>
          </p:sp>
          <p:sp>
            <p:nvSpPr>
              <p:cNvPr id="107" name="Rectangle 107"/>
              <p:cNvSpPr/>
              <p:nvPr/>
            </p:nvSpPr>
            <p:spPr>
              <a:xfrm>
                <a:off x="10220325" y="2381250"/>
                <a:ext cx="1371600" cy="876300"/>
              </a:xfrm>
              <a:prstGeom prst="roundRect">
                <a:avLst>
                  <a:gd name="adj" fmla="val 6522"/>
                </a:avLst>
              </a:prstGeom>
              <a:solidFill>
                <a:srgbClr val="FBE9E9"/>
              </a:solidFill>
              <a:ln>
                <a:noFill/>
              </a:ln>
            </p:spPr>
          </p:sp>
          <p:sp>
            <p:nvSpPr>
              <p:cNvPr id="108" name="Polygon 108"/>
              <p:cNvSpPr/>
              <p:nvPr/>
            </p:nvSpPr>
            <p:spPr>
              <a:xfrm>
                <a:off x="10401300" y="2857500"/>
                <a:ext cx="152400" cy="171450"/>
              </a:xfrm>
              <a:custGeom>
                <a:avLst/>
                <a:gdLst/>
                <a:ahLst/>
                <a:cxnLst/>
                <a:rect l="l" t="t" r="r" b="b"/>
                <a:pathLst>
                  <a:path w="152400" h="171450">
                    <a:moveTo>
                      <a:pt x="0" y="171450"/>
                    </a:moveTo>
                    <a:lnTo>
                      <a:pt x="76200" y="0"/>
                    </a:lnTo>
                    <a:lnTo>
                      <a:pt x="152400" y="171450"/>
                    </a:lnTo>
                    <a:close/>
                  </a:path>
                </a:pathLst>
              </a:custGeom>
              <a:solidFill>
                <a:srgbClr val="A86B5F"/>
              </a:solidFill>
              <a:ln>
                <a:noFill/>
              </a:ln>
            </p:spPr>
          </p:sp>
          <p:sp>
            <p:nvSpPr>
              <p:cNvPr id="109" name="Rectangle 109"/>
              <p:cNvSpPr/>
              <p:nvPr/>
            </p:nvSpPr>
            <p:spPr>
              <a:xfrm>
                <a:off x="10458450" y="3028950"/>
                <a:ext cx="38100" cy="76200"/>
              </a:xfrm>
              <a:prstGeom prst="rect">
                <a:avLst/>
              </a:prstGeom>
              <a:solidFill>
                <a:srgbClr val="8B392B"/>
              </a:solidFill>
              <a:ln>
                <a:noFill/>
              </a:ln>
            </p:spPr>
          </p:sp>
          <p:sp>
            <p:nvSpPr>
              <p:cNvPr id="110" name="Ellipse 110"/>
              <p:cNvSpPr/>
              <p:nvPr/>
            </p:nvSpPr>
            <p:spPr>
              <a:xfrm>
                <a:off x="10801350" y="2914650"/>
                <a:ext cx="304800" cy="114300"/>
              </a:xfrm>
              <a:prstGeom prst="ellipse">
                <a:avLst/>
              </a:prstGeom>
              <a:solidFill>
                <a:srgbClr val="F55D42"/>
              </a:solidFill>
              <a:ln w="9525">
                <a:solidFill>
                  <a:srgbClr val="E3381A"/>
                </a:solidFill>
              </a:ln>
            </p:spPr>
          </p:sp>
          <p:sp>
            <p:nvSpPr>
              <p:cNvPr id="111" name="Ellipse 111"/>
              <p:cNvSpPr/>
              <p:nvPr/>
            </p:nvSpPr>
            <p:spPr>
              <a:xfrm>
                <a:off x="10801350" y="2819400"/>
                <a:ext cx="304800" cy="114300"/>
              </a:xfrm>
              <a:prstGeom prst="ellipse">
                <a:avLst/>
              </a:prstGeom>
              <a:solidFill>
                <a:srgbClr val="F55D42"/>
              </a:solidFill>
              <a:ln w="9525">
                <a:solidFill>
                  <a:srgbClr val="E3381A"/>
                </a:solidFill>
              </a:ln>
            </p:spPr>
          </p:sp>
          <p:sp>
            <p:nvSpPr>
              <p:cNvPr id="112" name="Ellipse 112"/>
              <p:cNvSpPr/>
              <p:nvPr/>
            </p:nvSpPr>
            <p:spPr>
              <a:xfrm>
                <a:off x="10801350" y="2724150"/>
                <a:ext cx="304800" cy="114300"/>
              </a:xfrm>
              <a:prstGeom prst="ellipse">
                <a:avLst/>
              </a:prstGeom>
              <a:solidFill>
                <a:srgbClr val="F55D42"/>
              </a:solidFill>
              <a:ln w="9525">
                <a:solidFill>
                  <a:srgbClr val="E3381A"/>
                </a:solidFill>
              </a:ln>
            </p:spPr>
          </p:sp>
          <p:sp>
            <p:nvSpPr>
              <p:cNvPr id="113" name="Ellipse 113"/>
              <p:cNvSpPr/>
              <p:nvPr/>
            </p:nvSpPr>
            <p:spPr>
              <a:xfrm>
                <a:off x="10801350" y="2628900"/>
                <a:ext cx="304800" cy="114300"/>
              </a:xfrm>
              <a:prstGeom prst="ellipse">
                <a:avLst/>
              </a:prstGeom>
              <a:solidFill>
                <a:srgbClr val="FA8D7A"/>
              </a:solidFill>
              <a:ln w="9525">
                <a:solidFill>
                  <a:srgbClr val="E3381A"/>
                </a:solidFill>
              </a:ln>
            </p:spPr>
          </p:sp>
          <p:sp>
            <p:nvSpPr>
              <p:cNvPr id="114" name="Line 114"/>
              <p:cNvSpPr/>
              <p:nvPr/>
            </p:nvSpPr>
            <p:spPr>
              <a:xfrm>
                <a:off x="11201400" y="2590800"/>
                <a:ext cx="76200" cy="571500"/>
              </a:xfrm>
              <a:custGeom>
                <a:avLst/>
                <a:gdLst/>
                <a:ahLst/>
                <a:cxnLst/>
                <a:rect l="l" t="t" r="r" b="b"/>
                <a:pathLst>
                  <a:path w="76200" h="571500">
                    <a:moveTo>
                      <a:pt x="0" y="571500"/>
                    </a:moveTo>
                    <a:lnTo>
                      <a:pt x="76200" y="0"/>
                    </a:lnTo>
                  </a:path>
                </a:pathLst>
              </a:custGeom>
              <a:noFill/>
              <a:ln w="19050">
                <a:solidFill>
                  <a:srgbClr val="E8553C"/>
                </a:solidFill>
              </a:ln>
            </p:spPr>
          </p:sp>
          <p:sp>
            <p:nvSpPr>
              <p:cNvPr id="115" name="Line 115"/>
              <p:cNvSpPr/>
              <p:nvPr/>
            </p:nvSpPr>
            <p:spPr>
              <a:xfrm>
                <a:off x="11334750" y="2590800"/>
                <a:ext cx="76200" cy="571500"/>
              </a:xfrm>
              <a:custGeom>
                <a:avLst/>
                <a:gdLst/>
                <a:ahLst/>
                <a:cxnLst/>
                <a:rect l="l" t="t" r="r" b="b"/>
                <a:pathLst>
                  <a:path w="76200" h="571500">
                    <a:moveTo>
                      <a:pt x="0" y="571500"/>
                    </a:moveTo>
                    <a:lnTo>
                      <a:pt x="76200" y="0"/>
                    </a:lnTo>
                  </a:path>
                </a:pathLst>
              </a:custGeom>
              <a:noFill/>
              <a:ln w="19050">
                <a:solidFill>
                  <a:srgbClr val="E8553C"/>
                </a:solidFill>
              </a:ln>
            </p:spPr>
          </p:sp>
          <p:sp>
            <p:nvSpPr>
              <p:cNvPr id="116" name="Line 116"/>
              <p:cNvSpPr/>
              <p:nvPr/>
            </p:nvSpPr>
            <p:spPr>
              <a:xfrm>
                <a:off x="11229975" y="3009900"/>
                <a:ext cx="133350" cy="9525"/>
              </a:xfrm>
              <a:custGeom>
                <a:avLst/>
                <a:gdLst/>
                <a:ahLst/>
                <a:cxnLst/>
                <a:rect l="l" t="t" r="r" b="b"/>
                <a:pathLst>
                  <a:path w="133350" h="9525">
                    <a:moveTo>
                      <a:pt x="0" y="0"/>
                    </a:moveTo>
                    <a:lnTo>
                      <a:pt x="133350" y="0"/>
                    </a:lnTo>
                  </a:path>
                </a:pathLst>
              </a:custGeom>
              <a:noFill/>
              <a:ln w="14288">
                <a:solidFill>
                  <a:srgbClr val="E8553C"/>
                </a:solidFill>
              </a:ln>
            </p:spPr>
          </p:sp>
          <p:sp>
            <p:nvSpPr>
              <p:cNvPr id="117" name="Line 117"/>
              <p:cNvSpPr/>
              <p:nvPr/>
            </p:nvSpPr>
            <p:spPr>
              <a:xfrm>
                <a:off x="11249025" y="2876550"/>
                <a:ext cx="133350" cy="9525"/>
              </a:xfrm>
              <a:custGeom>
                <a:avLst/>
                <a:gdLst/>
                <a:ahLst/>
                <a:cxnLst/>
                <a:rect l="l" t="t" r="r" b="b"/>
                <a:pathLst>
                  <a:path w="133350" h="9525">
                    <a:moveTo>
                      <a:pt x="0" y="0"/>
                    </a:moveTo>
                    <a:lnTo>
                      <a:pt x="133350" y="0"/>
                    </a:lnTo>
                  </a:path>
                </a:pathLst>
              </a:custGeom>
              <a:noFill/>
              <a:ln w="14288">
                <a:solidFill>
                  <a:srgbClr val="E8553C"/>
                </a:solidFill>
              </a:ln>
            </p:spPr>
          </p:sp>
          <p:sp>
            <p:nvSpPr>
              <p:cNvPr id="118" name="Line 118"/>
              <p:cNvSpPr/>
              <p:nvPr/>
            </p:nvSpPr>
            <p:spPr>
              <a:xfrm>
                <a:off x="11268075" y="2743200"/>
                <a:ext cx="133350" cy="9525"/>
              </a:xfrm>
              <a:custGeom>
                <a:avLst/>
                <a:gdLst/>
                <a:ahLst/>
                <a:cxnLst/>
                <a:rect l="l" t="t" r="r" b="b"/>
                <a:pathLst>
                  <a:path w="133350" h="9525">
                    <a:moveTo>
                      <a:pt x="0" y="0"/>
                    </a:moveTo>
                    <a:lnTo>
                      <a:pt x="133350" y="0"/>
                    </a:lnTo>
                  </a:path>
                </a:pathLst>
              </a:custGeom>
              <a:noFill/>
              <a:ln w="14288">
                <a:solidFill>
                  <a:srgbClr val="E8553C"/>
                </a:solidFill>
              </a:ln>
            </p:spPr>
          </p:sp>
          <p:sp>
            <p:nvSpPr>
              <p:cNvPr id="119" name="TextBox 119"/>
              <p:cNvSpPr txBox="1"/>
              <p:nvPr/>
            </p:nvSpPr>
            <p:spPr>
              <a:xfrm>
                <a:off x="10244138" y="3375184"/>
                <a:ext cx="375691" cy="133350"/>
              </a:xfrm>
              <a:prstGeom prst="rect">
                <a:avLst/>
              </a:prstGeom>
              <a:noFill/>
              <a:ln>
                <a:noFill/>
              </a:ln>
            </p:spPr>
            <p:txBody>
              <a:bodyPr wrap="none" lIns="0" tIns="0" rIns="0" bIns="0" anchor="t" anchorCtr="0">
                <a:spAutoFit/>
              </a:bodyPr>
              <a:lstStyle/>
              <a:p>
                <a:pPr algn="l"/>
                <a:r>
                  <a:rPr lang="zh-CN" sz="680" b="1" dirty="0">
                    <a:solidFill>
                      <a:srgbClr val="C0412B"/>
                    </a:solidFill>
                    <a:latin typeface="+mn-lt"/>
                    <a:ea typeface="+mn-ea"/>
                    <a:cs typeface="+mn-cs"/>
                  </a:rPr>
                  <a:t>工资定投</a:t>
                </a:r>
              </a:p>
            </p:txBody>
          </p:sp>
          <p:sp>
            <p:nvSpPr>
              <p:cNvPr id="120" name="Rectangle 120"/>
              <p:cNvSpPr/>
              <p:nvPr/>
            </p:nvSpPr>
            <p:spPr>
              <a:xfrm>
                <a:off x="10248900" y="3524250"/>
                <a:ext cx="1257300" cy="28575"/>
              </a:xfrm>
              <a:prstGeom prst="roundRect">
                <a:avLst>
                  <a:gd name="adj" fmla="val 50000"/>
                </a:avLst>
              </a:prstGeom>
              <a:solidFill>
                <a:srgbClr val="DDDDDD"/>
              </a:solidFill>
              <a:ln>
                <a:noFill/>
              </a:ln>
            </p:spPr>
          </p:sp>
          <p:sp>
            <p:nvSpPr>
              <p:cNvPr id="121" name="Rectangle 121"/>
              <p:cNvSpPr/>
              <p:nvPr/>
            </p:nvSpPr>
            <p:spPr>
              <a:xfrm>
                <a:off x="10248900" y="3590925"/>
                <a:ext cx="1181100" cy="28575"/>
              </a:xfrm>
              <a:prstGeom prst="roundRect">
                <a:avLst>
                  <a:gd name="adj" fmla="val 50000"/>
                </a:avLst>
              </a:prstGeom>
              <a:solidFill>
                <a:srgbClr val="DDDDDD"/>
              </a:solidFill>
              <a:ln>
                <a:noFill/>
              </a:ln>
            </p:spPr>
          </p:sp>
          <p:sp>
            <p:nvSpPr>
              <p:cNvPr id="122" name="Rectangle 122"/>
              <p:cNvSpPr/>
              <p:nvPr/>
            </p:nvSpPr>
            <p:spPr>
              <a:xfrm>
                <a:off x="10248900" y="3657600"/>
                <a:ext cx="876300" cy="28575"/>
              </a:xfrm>
              <a:prstGeom prst="roundRect">
                <a:avLst>
                  <a:gd name="adj" fmla="val 50000"/>
                </a:avLst>
              </a:prstGeom>
              <a:solidFill>
                <a:srgbClr val="DDDDDD"/>
              </a:solidFill>
              <a:ln>
                <a:noFill/>
              </a:ln>
            </p:spPr>
          </p:sp>
          <p:sp>
            <p:nvSpPr>
              <p:cNvPr id="123" name="Ellipse 123"/>
              <p:cNvSpPr/>
              <p:nvPr/>
            </p:nvSpPr>
            <p:spPr>
              <a:xfrm>
                <a:off x="10315575" y="3819525"/>
                <a:ext cx="171450" cy="171450"/>
              </a:xfrm>
              <a:prstGeom prst="ellipse">
                <a:avLst/>
              </a:prstGeom>
              <a:solidFill>
                <a:srgbClr val="F2715B"/>
              </a:solidFill>
              <a:ln>
                <a:noFill/>
              </a:ln>
            </p:spPr>
          </p:sp>
          <p:sp>
            <p:nvSpPr>
              <p:cNvPr id="124" name="Ellipse 124"/>
              <p:cNvSpPr/>
              <p:nvPr/>
            </p:nvSpPr>
            <p:spPr>
              <a:xfrm>
                <a:off x="10820400" y="3819525"/>
                <a:ext cx="171450" cy="171450"/>
              </a:xfrm>
              <a:prstGeom prst="ellipse">
                <a:avLst/>
              </a:prstGeom>
              <a:solidFill>
                <a:srgbClr val="F7725B"/>
              </a:solidFill>
              <a:ln>
                <a:noFill/>
              </a:ln>
            </p:spPr>
          </p:sp>
          <p:sp>
            <p:nvSpPr>
              <p:cNvPr id="125" name="Ellipse 125"/>
              <p:cNvSpPr/>
              <p:nvPr/>
            </p:nvSpPr>
            <p:spPr>
              <a:xfrm>
                <a:off x="11325225" y="3819525"/>
                <a:ext cx="171450" cy="171450"/>
              </a:xfrm>
              <a:prstGeom prst="ellipse">
                <a:avLst/>
              </a:prstGeom>
              <a:solidFill>
                <a:srgbClr val="E8553C"/>
              </a:solidFill>
              <a:ln>
                <a:noFill/>
              </a:ln>
            </p:spPr>
          </p:sp>
          <p:sp>
            <p:nvSpPr>
              <p:cNvPr id="126" name="TextBox 126"/>
              <p:cNvSpPr txBox="1"/>
              <p:nvPr/>
            </p:nvSpPr>
            <p:spPr>
              <a:xfrm>
                <a:off x="10261312" y="4033599"/>
                <a:ext cx="279977" cy="97631"/>
              </a:xfrm>
              <a:prstGeom prst="rect">
                <a:avLst/>
              </a:prstGeom>
              <a:noFill/>
              <a:ln>
                <a:noFill/>
              </a:ln>
            </p:spPr>
            <p:txBody>
              <a:bodyPr wrap="none" lIns="0" tIns="0" rIns="0" bIns="0" anchor="t" anchorCtr="0">
                <a:spAutoFit/>
              </a:bodyPr>
              <a:lstStyle/>
              <a:p>
                <a:pPr algn="ctr"/>
                <a:r>
                  <a:rPr lang="zh-CN" sz="490" dirty="0">
                    <a:solidFill>
                      <a:srgbClr val="666666"/>
                    </a:solidFill>
                    <a:latin typeface="+mn-lt"/>
                    <a:ea typeface="+mn-ea"/>
                    <a:cs typeface="+mn-cs"/>
                  </a:rPr>
                  <a:t>自动存​​</a:t>
                </a:r>
              </a:p>
            </p:txBody>
          </p:sp>
          <p:sp>
            <p:nvSpPr>
              <p:cNvPr id="127" name="TextBox 127"/>
              <p:cNvSpPr txBox="1"/>
              <p:nvPr/>
            </p:nvSpPr>
            <p:spPr>
              <a:xfrm>
                <a:off x="10766137" y="4033599"/>
                <a:ext cx="279977" cy="97631"/>
              </a:xfrm>
              <a:prstGeom prst="rect">
                <a:avLst/>
              </a:prstGeom>
              <a:noFill/>
              <a:ln>
                <a:noFill/>
              </a:ln>
            </p:spPr>
            <p:txBody>
              <a:bodyPr wrap="none" lIns="0" tIns="0" rIns="0" bIns="0" anchor="t" anchorCtr="0">
                <a:spAutoFit/>
              </a:bodyPr>
              <a:lstStyle/>
              <a:p>
                <a:pPr algn="ctr"/>
                <a:r>
                  <a:rPr lang="zh-CN" sz="490" dirty="0">
                    <a:solidFill>
                      <a:srgbClr val="666666"/>
                    </a:solidFill>
                    <a:latin typeface="+mn-lt"/>
                    <a:ea typeface="+mn-ea"/>
                    <a:cs typeface="+mn-cs"/>
                  </a:rPr>
                  <a:t>赚收益​​</a:t>
                </a:r>
              </a:p>
            </p:txBody>
          </p:sp>
          <p:sp>
            <p:nvSpPr>
              <p:cNvPr id="128" name="TextBox 128"/>
              <p:cNvSpPr txBox="1"/>
              <p:nvPr/>
            </p:nvSpPr>
            <p:spPr>
              <a:xfrm>
                <a:off x="11270962" y="4033599"/>
                <a:ext cx="279977" cy="97631"/>
              </a:xfrm>
              <a:prstGeom prst="rect">
                <a:avLst/>
              </a:prstGeom>
              <a:noFill/>
              <a:ln>
                <a:noFill/>
              </a:ln>
            </p:spPr>
            <p:txBody>
              <a:bodyPr wrap="none" lIns="0" tIns="0" rIns="0" bIns="0" anchor="t" anchorCtr="0">
                <a:spAutoFit/>
              </a:bodyPr>
              <a:lstStyle/>
              <a:p>
                <a:pPr algn="ctr"/>
                <a:r>
                  <a:rPr lang="zh-CN" sz="490" dirty="0">
                    <a:solidFill>
                      <a:srgbClr val="666666"/>
                    </a:solidFill>
                    <a:latin typeface="+mn-lt"/>
                    <a:ea typeface="+mn-ea"/>
                    <a:cs typeface="+mn-cs"/>
                  </a:rPr>
                  <a:t>灵活取​​</a:t>
                </a:r>
              </a:p>
            </p:txBody>
          </p:sp>
          <p:sp>
            <p:nvSpPr>
              <p:cNvPr id="129" name="Rectangle 129"/>
              <p:cNvSpPr/>
              <p:nvPr/>
            </p:nvSpPr>
            <p:spPr>
              <a:xfrm>
                <a:off x="10258425" y="4381500"/>
                <a:ext cx="1295400" cy="209550"/>
              </a:xfrm>
              <a:prstGeom prst="roundRect">
                <a:avLst>
                  <a:gd name="adj" fmla="val 18182"/>
                </a:avLst>
              </a:prstGeom>
              <a:solidFill>
                <a:srgbClr val="E8553C"/>
              </a:solidFill>
              <a:ln>
                <a:noFill/>
              </a:ln>
            </p:spPr>
          </p:sp>
          <p:sp>
            <p:nvSpPr>
              <p:cNvPr id="130" name="TextBox 130"/>
              <p:cNvSpPr txBox="1"/>
              <p:nvPr/>
            </p:nvSpPr>
            <p:spPr>
              <a:xfrm>
                <a:off x="10672508" y="4451509"/>
                <a:ext cx="467233"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马上去体验</a:t>
                </a:r>
              </a:p>
            </p:txBody>
          </p:sp>
        </p:grpSp>
        <p:sp>
          <p:nvSpPr>
            <p:cNvPr id="132" name="TextBox 132"/>
            <p:cNvSpPr txBox="1"/>
            <p:nvPr/>
          </p:nvSpPr>
          <p:spPr>
            <a:xfrm>
              <a:off x="10618089" y="4887278"/>
              <a:ext cx="576072"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工资定投</a:t>
              </a:r>
            </a:p>
          </p:txBody>
        </p:sp>
        <p:sp>
          <p:nvSpPr>
            <p:cNvPr id="133" name="TextBox 133"/>
            <p:cNvSpPr txBox="1"/>
            <p:nvPr/>
          </p:nvSpPr>
          <p:spPr>
            <a:xfrm>
              <a:off x="8074724" y="6017895"/>
              <a:ext cx="1948053" cy="176212"/>
            </a:xfrm>
            <a:prstGeom prst="rect">
              <a:avLst/>
            </a:prstGeom>
            <a:noFill/>
            <a:ln>
              <a:noFill/>
            </a:ln>
          </p:spPr>
          <p:txBody>
            <a:bodyPr wrap="none" lIns="0" tIns="0" rIns="0" bIns="0" anchor="t" anchorCtr="0">
              <a:spAutoFit/>
            </a:bodyPr>
            <a:lstStyle/>
            <a:p>
              <a:pPr algn="ctr"/>
              <a:r>
                <a:rPr lang="zh-CN" sz="900" dirty="0">
                  <a:solidFill>
                    <a:srgbClr val="555555"/>
                  </a:solidFill>
                  <a:latin typeface="+mn-lt"/>
                  <a:ea typeface="+mn-ea"/>
                  <a:cs typeface="+mn-cs"/>
                </a:rPr>
                <a:t>数据来源：公开信息、中电金信整理</a:t>
              </a:r>
            </a:p>
          </p:txBody>
        </p:sp>
      </p:grpSp>
      <p:grpSp>
        <p:nvGrpSpPr>
          <p:cNvPr id="137" name="footer"/>
          <p:cNvGrpSpPr/>
          <p:nvPr/>
        </p:nvGrpSpPr>
        <p:grpSpPr>
          <a:xfrm>
            <a:off x="0" y="6438900"/>
            <a:ext cx="12192000" cy="342900"/>
            <a:chOff x="0" y="6438900"/>
            <a:chExt cx="12192000" cy="342900"/>
          </a:xfrm>
        </p:grpSpPr>
        <p:sp>
          <p:nvSpPr>
            <p:cNvPr id="135" name="Line 135"/>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136" name="TextBox 136"/>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21​</a:t>
              </a:r>
            </a:p>
          </p:txBody>
        </p:sp>
        <p:sp>
          <p:nvSpPr>
            <p:cNvPr id="4" name="TextBox 4"/>
            <p:cNvSpPr txBox="1"/>
            <p:nvPr/>
          </p:nvSpPr>
          <p:spPr>
            <a:xfrm>
              <a:off x="885444" y="160973"/>
              <a:ext cx="8045455"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2.2.3 权益运营｜</a:t>
              </a:r>
              <a:r>
                <a:rPr lang="zh-CN" sz="1950" b="1" dirty="0">
                  <a:solidFill>
                    <a:srgbClr val="E74726"/>
                  </a:solidFill>
                  <a:latin typeface="+mj-lt"/>
                  <a:ea typeface="+mj-ea"/>
                  <a:cs typeface="+mj-cs"/>
                </a:rPr>
                <a:t>长短权益搭配发力，破解长尾客群运营痛点</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7349636" cy="249364"/>
            <a:chOff x="374523" y="681514"/>
            <a:chExt cx="7349636" cy="249364"/>
          </a:xfrm>
        </p:grpSpPr>
        <p:sp>
          <p:nvSpPr>
            <p:cNvPr id="16" name="TextBox 16"/>
            <p:cNvSpPr txBox="1"/>
            <p:nvPr/>
          </p:nvSpPr>
          <p:spPr>
            <a:xfrm>
              <a:off x="374523" y="681514"/>
              <a:ext cx="7349636"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构建长效分层权益与短期轻量活动权益，以差异感知和低门槛快速盘活长尾客户，驱动客户成长​</a:t>
              </a:r>
            </a:p>
          </p:txBody>
        </p:sp>
      </p:grpSp>
      <p:grpSp>
        <p:nvGrpSpPr>
          <p:cNvPr id="19" name="guide"/>
          <p:cNvGrpSpPr/>
          <p:nvPr/>
        </p:nvGrpSpPr>
        <p:grpSpPr>
          <a:xfrm>
            <a:off x="376047" y="990124"/>
            <a:ext cx="7359269" cy="371666"/>
            <a:chOff x="376047" y="990124"/>
            <a:chExt cx="7359269" cy="371666"/>
          </a:xfrm>
        </p:grpSpPr>
        <p:sp>
          <p:nvSpPr>
            <p:cNvPr id="18" name="TextBox 18"/>
            <p:cNvSpPr txBox="1"/>
            <p:nvPr/>
          </p:nvSpPr>
          <p:spPr>
            <a:xfrm>
              <a:off x="376047" y="990124"/>
              <a:ext cx="7359269"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构建培育型权益体系，以阶梯化权益绑定长尾客户资产成长与金融行为，形成“升级→权益→价值”正向循环，驱动客户自成长；​​​​​​​</a:t>
              </a:r>
              <a:br/>
              <a:r>
                <a:rPr lang="zh-CN" sz="980" dirty="0">
                  <a:solidFill>
                    <a:srgbClr val="333333"/>
                  </a:solidFill>
                  <a:latin typeface="+mn-lt"/>
                  <a:ea typeface="+mn-ea"/>
                  <a:cs typeface="+mn-cs"/>
                </a:rPr>
                <a:t>配套短期主题活动权益，通过限时、专属、轻量的权益刺激，快速撬动长尾客户主动行为，实现速赢​</a:t>
              </a:r>
            </a:p>
          </p:txBody>
        </p:sp>
      </p:grpSp>
      <p:grpSp>
        <p:nvGrpSpPr>
          <p:cNvPr id="22" name="banner-long"/>
          <p:cNvGrpSpPr/>
          <p:nvPr/>
        </p:nvGrpSpPr>
        <p:grpSpPr>
          <a:xfrm>
            <a:off x="381000" y="1809750"/>
            <a:ext cx="11430000" cy="330803"/>
            <a:chOff x="381000" y="1809750"/>
            <a:chExt cx="11430000" cy="330803"/>
          </a:xfrm>
        </p:grpSpPr>
        <p:sp>
          <p:nvSpPr>
            <p:cNvPr id="20" name="Rectangle 20"/>
            <p:cNvSpPr/>
            <p:nvPr/>
          </p:nvSpPr>
          <p:spPr>
            <a:xfrm>
              <a:off x="381000" y="1809750"/>
              <a:ext cx="11430000" cy="323850"/>
            </a:xfrm>
            <a:prstGeom prst="roundRect">
              <a:avLst>
                <a:gd name="adj" fmla="val 5882"/>
              </a:avLst>
            </a:prstGeom>
            <a:solidFill>
              <a:srgbClr val="E74726"/>
            </a:solidFill>
            <a:ln>
              <a:noFill/>
            </a:ln>
          </p:spPr>
        </p:sp>
        <p:sp>
          <p:nvSpPr>
            <p:cNvPr id="21" name="TextBox 21"/>
            <p:cNvSpPr txBox="1"/>
            <p:nvPr/>
          </p:nvSpPr>
          <p:spPr>
            <a:xfrm>
              <a:off x="4353033" y="1891189"/>
              <a:ext cx="348593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长效培育型权益体系设计，主要聚焦2大支柱​</a:t>
              </a:r>
            </a:p>
          </p:txBody>
        </p:sp>
      </p:grpSp>
      <p:grpSp>
        <p:nvGrpSpPr>
          <p:cNvPr id="33" name="card-pillar1"/>
          <p:cNvGrpSpPr/>
          <p:nvPr/>
        </p:nvGrpSpPr>
        <p:grpSpPr>
          <a:xfrm>
            <a:off x="381000" y="2266950"/>
            <a:ext cx="5619750" cy="2133600"/>
            <a:chOff x="381000" y="2266950"/>
            <a:chExt cx="5619750" cy="2133600"/>
          </a:xfrm>
        </p:grpSpPr>
        <p:sp>
          <p:nvSpPr>
            <p:cNvPr id="23" name="Rectangle 23"/>
            <p:cNvSpPr/>
            <p:nvPr/>
          </p:nvSpPr>
          <p:spPr>
            <a:xfrm>
              <a:off x="381000" y="2266950"/>
              <a:ext cx="5619750" cy="2133600"/>
            </a:xfrm>
            <a:prstGeom prst="roundRect">
              <a:avLst>
                <a:gd name="adj" fmla="val 3571"/>
              </a:avLst>
            </a:prstGeom>
            <a:solidFill>
              <a:srgbClr val="FFFFFF"/>
            </a:solidFill>
            <a:ln w="14288">
              <a:solidFill>
                <a:srgbClr val="D4E2FA"/>
              </a:solidFill>
            </a:ln>
          </p:spPr>
        </p:sp>
        <p:sp>
          <p:nvSpPr>
            <p:cNvPr id="24" name="Rectangle 24"/>
            <p:cNvSpPr/>
            <p:nvPr/>
          </p:nvSpPr>
          <p:spPr>
            <a:xfrm>
              <a:off x="1666875" y="2381250"/>
              <a:ext cx="3048000" cy="285750"/>
            </a:xfrm>
            <a:prstGeom prst="roundRect">
              <a:avLst>
                <a:gd name="adj" fmla="val 13333"/>
              </a:avLst>
            </a:prstGeom>
            <a:solidFill>
              <a:srgbClr val="FFFFFF"/>
            </a:solidFill>
            <a:ln w="9525">
              <a:solidFill>
                <a:srgbClr val="F1917D"/>
              </a:solidFill>
              <a:custDash>
                <a:ds d="400000" sp="300000"/>
              </a:custDash>
            </a:ln>
          </p:spPr>
        </p:sp>
        <p:sp>
          <p:nvSpPr>
            <p:cNvPr id="25" name="TextBox 25"/>
            <p:cNvSpPr txBox="1"/>
            <p:nvPr/>
          </p:nvSpPr>
          <p:spPr>
            <a:xfrm>
              <a:off x="2196084" y="2458402"/>
              <a:ext cx="1989582" cy="205359"/>
            </a:xfrm>
            <a:prstGeom prst="rect">
              <a:avLst/>
            </a:prstGeom>
            <a:noFill/>
            <a:ln>
              <a:noFill/>
            </a:ln>
          </p:spPr>
          <p:txBody>
            <a:bodyPr wrap="none" lIns="0" tIns="0" rIns="0" bIns="0" anchor="t" anchorCtr="0">
              <a:spAutoFit/>
            </a:bodyPr>
            <a:lstStyle/>
            <a:p>
              <a:pPr algn="ctr"/>
              <a:r>
                <a:rPr lang="zh-CN" sz="1050" dirty="0">
                  <a:solidFill>
                    <a:srgbClr val="E74726"/>
                  </a:solidFill>
                  <a:latin typeface="+mn-lt"/>
                  <a:ea typeface="+mn-ea"/>
                  <a:cs typeface="+mn-cs"/>
                </a:rPr>
                <a:t>支柱一：丰富且适配的权益内容</a:t>
              </a:r>
            </a:p>
          </p:txBody>
        </p:sp>
        <p:sp>
          <p:nvSpPr>
            <p:cNvPr id="26" name="Rectangle 26"/>
            <p:cNvSpPr/>
            <p:nvPr/>
          </p:nvSpPr>
          <p:spPr>
            <a:xfrm>
              <a:off x="571500" y="2857500"/>
              <a:ext cx="857250" cy="266700"/>
            </a:xfrm>
            <a:prstGeom prst="roundRect">
              <a:avLst>
                <a:gd name="adj" fmla="val 10714"/>
              </a:avLst>
            </a:prstGeom>
            <a:solidFill>
              <a:srgbClr val="FFFFFF"/>
            </a:solidFill>
            <a:ln w="9525">
              <a:solidFill>
                <a:srgbClr val="F1917D"/>
              </a:solidFill>
            </a:ln>
          </p:spPr>
        </p:sp>
        <p:sp>
          <p:nvSpPr>
            <p:cNvPr id="27" name="TextBox 27"/>
            <p:cNvSpPr txBox="1"/>
            <p:nvPr/>
          </p:nvSpPr>
          <p:spPr>
            <a:xfrm>
              <a:off x="731317" y="2933224"/>
              <a:ext cx="537616"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金融权益</a:t>
              </a:r>
            </a:p>
          </p:txBody>
        </p:sp>
        <p:sp>
          <p:nvSpPr>
            <p:cNvPr id="28" name="TextBox 28"/>
            <p:cNvSpPr txBox="1"/>
            <p:nvPr/>
          </p:nvSpPr>
          <p:spPr>
            <a:xfrm>
              <a:off x="1595247" y="2866549"/>
              <a:ext cx="3488563"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聚焦核心产品，兼顾服务赋能与引流。包括提供免费转账​​​</a:t>
              </a:r>
              <a:br/>
              <a:r>
                <a:rPr lang="zh-CN" sz="980" dirty="0">
                  <a:solidFill>
                    <a:srgbClr val="333333"/>
                  </a:solidFill>
                  <a:latin typeface="+mn-lt"/>
                  <a:ea typeface="+mn-ea"/>
                  <a:cs typeface="+mn-cs"/>
                </a:rPr>
                <a:t xml:space="preserve">　等基础服务，同时叠加信用卡立减、理财体验金等福利。​​</a:t>
              </a:r>
            </a:p>
          </p:txBody>
        </p:sp>
        <p:sp>
          <p:nvSpPr>
            <p:cNvPr id="29" name="Rectangle 29"/>
            <p:cNvSpPr/>
            <p:nvPr/>
          </p:nvSpPr>
          <p:spPr>
            <a:xfrm>
              <a:off x="571500" y="3390900"/>
              <a:ext cx="857250" cy="266700"/>
            </a:xfrm>
            <a:prstGeom prst="roundRect">
              <a:avLst>
                <a:gd name="adj" fmla="val 10714"/>
              </a:avLst>
            </a:prstGeom>
            <a:solidFill>
              <a:srgbClr val="FFFFFF"/>
            </a:solidFill>
            <a:ln w="9525">
              <a:solidFill>
                <a:srgbClr val="F1917D"/>
              </a:solidFill>
            </a:ln>
          </p:spPr>
        </p:sp>
        <p:sp>
          <p:nvSpPr>
            <p:cNvPr id="30" name="TextBox 30"/>
            <p:cNvSpPr txBox="1"/>
            <p:nvPr/>
          </p:nvSpPr>
          <p:spPr>
            <a:xfrm>
              <a:off x="665353" y="3466624"/>
              <a:ext cx="669544"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非金融权益</a:t>
              </a:r>
            </a:p>
          </p:txBody>
        </p:sp>
        <p:sp>
          <p:nvSpPr>
            <p:cNvPr id="31" name="TextBox 31"/>
            <p:cNvSpPr txBox="1"/>
            <p:nvPr/>
          </p:nvSpPr>
          <p:spPr>
            <a:xfrm>
              <a:off x="1595247" y="3399949"/>
              <a:ext cx="3488563"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聚焦高频生活场景，覆盖娱乐、出行、健康等维度，提供​​​</a:t>
              </a:r>
              <a:br/>
              <a:r>
                <a:rPr lang="zh-CN" sz="980" dirty="0">
                  <a:solidFill>
                    <a:srgbClr val="333333"/>
                  </a:solidFill>
                  <a:latin typeface="+mn-lt"/>
                  <a:ea typeface="+mn-ea"/>
                  <a:cs typeface="+mn-cs"/>
                </a:rPr>
                <a:t xml:space="preserve">　音视频会员、打车券包、亲子折扣等权益。</a:t>
              </a:r>
            </a:p>
          </p:txBody>
        </p:sp>
        <p:sp>
          <p:nvSpPr>
            <p:cNvPr id="32" name="TextBox 32"/>
            <p:cNvSpPr txBox="1"/>
            <p:nvPr/>
          </p:nvSpPr>
          <p:spPr>
            <a:xfrm>
              <a:off x="566738" y="3930491"/>
              <a:ext cx="4274058"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7F7F7F"/>
                  </a:solidFill>
                  <a:latin typeface="+mn-lt"/>
                  <a:ea typeface="+mn-ea"/>
                  <a:cs typeface="+mn-cs"/>
                </a:rPr>
                <a:t>➢ 两者协同，金融权益拉动资产深度，非金融权益强化场景粘性，共同构建长尾客户与银​​​</a:t>
              </a:r>
              <a:br/>
              <a:r>
                <a:rPr lang="zh-CN" sz="820" dirty="0">
                  <a:solidFill>
                    <a:srgbClr val="7F7F7F"/>
                  </a:solidFill>
                  <a:latin typeface="+mn-lt"/>
                  <a:ea typeface="+mn-ea"/>
                  <a:cs typeface="+mn-cs"/>
                </a:rPr>
                <a:t xml:space="preserve">　行的多维价值连接。</a:t>
              </a:r>
            </a:p>
          </p:txBody>
        </p:sp>
      </p:grpSp>
      <p:grpSp>
        <p:nvGrpSpPr>
          <p:cNvPr id="43" name="card-pillar2"/>
          <p:cNvGrpSpPr/>
          <p:nvPr/>
        </p:nvGrpSpPr>
        <p:grpSpPr>
          <a:xfrm>
            <a:off x="6191250" y="2266950"/>
            <a:ext cx="5619750" cy="2133600"/>
            <a:chOff x="6191250" y="2266950"/>
            <a:chExt cx="5619750" cy="2133600"/>
          </a:xfrm>
        </p:grpSpPr>
        <p:sp>
          <p:nvSpPr>
            <p:cNvPr id="34" name="Rectangle 34"/>
            <p:cNvSpPr/>
            <p:nvPr/>
          </p:nvSpPr>
          <p:spPr>
            <a:xfrm>
              <a:off x="6191250" y="2266950"/>
              <a:ext cx="5619750" cy="2133600"/>
            </a:xfrm>
            <a:prstGeom prst="roundRect">
              <a:avLst>
                <a:gd name="adj" fmla="val 3571"/>
              </a:avLst>
            </a:prstGeom>
            <a:solidFill>
              <a:srgbClr val="FFFFFF"/>
            </a:solidFill>
            <a:ln w="14288">
              <a:solidFill>
                <a:srgbClr val="D4E2FA"/>
              </a:solidFill>
            </a:ln>
          </p:spPr>
        </p:sp>
        <p:sp>
          <p:nvSpPr>
            <p:cNvPr id="35" name="Rectangle 35"/>
            <p:cNvSpPr/>
            <p:nvPr/>
          </p:nvSpPr>
          <p:spPr>
            <a:xfrm>
              <a:off x="7477125" y="2381250"/>
              <a:ext cx="3048000" cy="285750"/>
            </a:xfrm>
            <a:prstGeom prst="roundRect">
              <a:avLst>
                <a:gd name="adj" fmla="val 13333"/>
              </a:avLst>
            </a:prstGeom>
            <a:solidFill>
              <a:srgbClr val="FFFFFF"/>
            </a:solidFill>
            <a:ln w="9525">
              <a:solidFill>
                <a:srgbClr val="F1917D"/>
              </a:solidFill>
              <a:custDash>
                <a:ds d="400000" sp="300000"/>
              </a:custDash>
            </a:ln>
          </p:spPr>
        </p:sp>
        <p:sp>
          <p:nvSpPr>
            <p:cNvPr id="36" name="TextBox 36"/>
            <p:cNvSpPr txBox="1"/>
            <p:nvPr/>
          </p:nvSpPr>
          <p:spPr>
            <a:xfrm>
              <a:off x="8006334" y="2458402"/>
              <a:ext cx="1989582" cy="205359"/>
            </a:xfrm>
            <a:prstGeom prst="rect">
              <a:avLst/>
            </a:prstGeom>
            <a:noFill/>
            <a:ln>
              <a:noFill/>
            </a:ln>
          </p:spPr>
          <p:txBody>
            <a:bodyPr wrap="none" lIns="0" tIns="0" rIns="0" bIns="0" anchor="t" anchorCtr="0">
              <a:spAutoFit/>
            </a:bodyPr>
            <a:lstStyle/>
            <a:p>
              <a:pPr algn="ctr"/>
              <a:r>
                <a:rPr lang="zh-CN" sz="1050" dirty="0">
                  <a:solidFill>
                    <a:srgbClr val="E74726"/>
                  </a:solidFill>
                  <a:latin typeface="+mn-lt"/>
                  <a:ea typeface="+mn-ea"/>
                  <a:cs typeface="+mn-cs"/>
                </a:rPr>
                <a:t>支柱二：清晰可感知的层级差异</a:t>
              </a:r>
            </a:p>
          </p:txBody>
        </p:sp>
        <p:sp>
          <p:nvSpPr>
            <p:cNvPr id="37" name="Rectangle 37"/>
            <p:cNvSpPr/>
            <p:nvPr/>
          </p:nvSpPr>
          <p:spPr>
            <a:xfrm>
              <a:off x="6381750" y="2857500"/>
              <a:ext cx="857250" cy="266700"/>
            </a:xfrm>
            <a:prstGeom prst="roundRect">
              <a:avLst>
                <a:gd name="adj" fmla="val 10714"/>
              </a:avLst>
            </a:prstGeom>
            <a:solidFill>
              <a:srgbClr val="FFFFFF"/>
            </a:solidFill>
            <a:ln w="9525">
              <a:solidFill>
                <a:srgbClr val="F1917D"/>
              </a:solidFill>
            </a:ln>
          </p:spPr>
        </p:sp>
        <p:sp>
          <p:nvSpPr>
            <p:cNvPr id="38" name="TextBox 38"/>
            <p:cNvSpPr txBox="1"/>
            <p:nvPr/>
          </p:nvSpPr>
          <p:spPr>
            <a:xfrm>
              <a:off x="6475603" y="2933224"/>
              <a:ext cx="669544"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数量差异化</a:t>
              </a:r>
            </a:p>
          </p:txBody>
        </p:sp>
        <p:sp>
          <p:nvSpPr>
            <p:cNvPr id="39" name="TextBox 39"/>
            <p:cNvSpPr txBox="1"/>
            <p:nvPr/>
          </p:nvSpPr>
          <p:spPr>
            <a:xfrm>
              <a:off x="7405497" y="2866549"/>
              <a:ext cx="3488563"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伴随客户资产提升，权益数量呈阶梯式增长，让客户直观​​​</a:t>
              </a:r>
              <a:br/>
              <a:r>
                <a:rPr lang="zh-CN" sz="980" dirty="0">
                  <a:solidFill>
                    <a:srgbClr val="333333"/>
                  </a:solidFill>
                  <a:latin typeface="+mn-lt"/>
                  <a:ea typeface="+mn-ea"/>
                  <a:cs typeface="+mn-cs"/>
                </a:rPr>
                <a:t xml:space="preserve">　感知资产留存带来的收益增量。</a:t>
              </a:r>
            </a:p>
          </p:txBody>
        </p:sp>
        <p:sp>
          <p:nvSpPr>
            <p:cNvPr id="40" name="Rectangle 40"/>
            <p:cNvSpPr/>
            <p:nvPr/>
          </p:nvSpPr>
          <p:spPr>
            <a:xfrm>
              <a:off x="6381750" y="3390900"/>
              <a:ext cx="857250" cy="266700"/>
            </a:xfrm>
            <a:prstGeom prst="roundRect">
              <a:avLst>
                <a:gd name="adj" fmla="val 10714"/>
              </a:avLst>
            </a:prstGeom>
            <a:solidFill>
              <a:srgbClr val="FFFFFF"/>
            </a:solidFill>
            <a:ln w="9525">
              <a:solidFill>
                <a:srgbClr val="F1917D"/>
              </a:solidFill>
            </a:ln>
          </p:spPr>
        </p:sp>
        <p:sp>
          <p:nvSpPr>
            <p:cNvPr id="41" name="TextBox 41"/>
            <p:cNvSpPr txBox="1"/>
            <p:nvPr/>
          </p:nvSpPr>
          <p:spPr>
            <a:xfrm>
              <a:off x="6475603" y="3466624"/>
              <a:ext cx="669544"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内容差异化</a:t>
              </a:r>
            </a:p>
          </p:txBody>
        </p:sp>
        <p:sp>
          <p:nvSpPr>
            <p:cNvPr id="42" name="TextBox 42"/>
            <p:cNvSpPr txBox="1"/>
            <p:nvPr/>
          </p:nvSpPr>
          <p:spPr>
            <a:xfrm>
              <a:off x="7405497" y="3399949"/>
              <a:ext cx="3507232"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不同层级匹配不同质的权益组合，基础层级提供通用立减​​​</a:t>
              </a:r>
              <a:br/>
              <a:r>
                <a:rPr lang="zh-CN" sz="980" dirty="0">
                  <a:solidFill>
                    <a:srgbClr val="333333"/>
                  </a:solidFill>
                  <a:latin typeface="+mn-lt"/>
                  <a:ea typeface="+mn-ea"/>
                  <a:cs typeface="+mn-cs"/>
                </a:rPr>
                <a:t xml:space="preserve">　金，进阶层级解锁稀缺增值服务，精准引导长尾客户升级。​​</a:t>
              </a:r>
            </a:p>
          </p:txBody>
        </p:sp>
      </p:grpSp>
      <p:grpSp>
        <p:nvGrpSpPr>
          <p:cNvPr id="46" name="banner-short"/>
          <p:cNvGrpSpPr/>
          <p:nvPr/>
        </p:nvGrpSpPr>
        <p:grpSpPr>
          <a:xfrm>
            <a:off x="381000" y="4552950"/>
            <a:ext cx="11430000" cy="330803"/>
            <a:chOff x="381000" y="4552950"/>
            <a:chExt cx="11430000" cy="330803"/>
          </a:xfrm>
        </p:grpSpPr>
        <p:sp>
          <p:nvSpPr>
            <p:cNvPr id="44" name="Rectangle 44"/>
            <p:cNvSpPr/>
            <p:nvPr/>
          </p:nvSpPr>
          <p:spPr>
            <a:xfrm>
              <a:off x="381000" y="4552950"/>
              <a:ext cx="11430000" cy="323850"/>
            </a:xfrm>
            <a:prstGeom prst="roundRect">
              <a:avLst>
                <a:gd name="adj" fmla="val 5882"/>
              </a:avLst>
            </a:prstGeom>
            <a:solidFill>
              <a:srgbClr val="E74726"/>
            </a:solidFill>
            <a:ln>
              <a:noFill/>
            </a:ln>
          </p:spPr>
        </p:sp>
        <p:sp>
          <p:nvSpPr>
            <p:cNvPr id="45" name="TextBox 45"/>
            <p:cNvSpPr txBox="1"/>
            <p:nvPr/>
          </p:nvSpPr>
          <p:spPr>
            <a:xfrm>
              <a:off x="4107917" y="4634389"/>
              <a:ext cx="3976167"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短期主题活动权益的设计与执行，主要遵循两大原则</a:t>
              </a:r>
            </a:p>
          </p:txBody>
        </p:sp>
      </p:grpSp>
      <p:grpSp>
        <p:nvGrpSpPr>
          <p:cNvPr id="54" name="principles"/>
          <p:cNvGrpSpPr/>
          <p:nvPr/>
        </p:nvGrpSpPr>
        <p:grpSpPr>
          <a:xfrm>
            <a:off x="381000" y="4991100"/>
            <a:ext cx="11430000" cy="1295400"/>
            <a:chOff x="381000" y="4991100"/>
            <a:chExt cx="11430000" cy="1295400"/>
          </a:xfrm>
        </p:grpSpPr>
        <p:sp>
          <p:nvSpPr>
            <p:cNvPr id="47" name="Rectangle 47"/>
            <p:cNvSpPr/>
            <p:nvPr/>
          </p:nvSpPr>
          <p:spPr>
            <a:xfrm>
              <a:off x="381000" y="4991100"/>
              <a:ext cx="11430000" cy="1295400"/>
            </a:xfrm>
            <a:prstGeom prst="roundRect">
              <a:avLst>
                <a:gd name="adj" fmla="val 5882"/>
              </a:avLst>
            </a:prstGeom>
            <a:solidFill>
              <a:srgbClr val="FFFFFF"/>
            </a:solidFill>
            <a:ln w="14288">
              <a:solidFill>
                <a:srgbClr val="D4E2FA"/>
              </a:solidFill>
            </a:ln>
          </p:spPr>
        </p:sp>
        <p:sp>
          <p:nvSpPr>
            <p:cNvPr id="48" name="Rectangle 48"/>
            <p:cNvSpPr/>
            <p:nvPr/>
          </p:nvSpPr>
          <p:spPr>
            <a:xfrm>
              <a:off x="1762125" y="5124450"/>
              <a:ext cx="2857500" cy="285750"/>
            </a:xfrm>
            <a:prstGeom prst="roundRect">
              <a:avLst>
                <a:gd name="adj" fmla="val 13333"/>
              </a:avLst>
            </a:prstGeom>
            <a:solidFill>
              <a:srgbClr val="FFFFFF"/>
            </a:solidFill>
            <a:ln w="9525">
              <a:solidFill>
                <a:srgbClr val="F1917D"/>
              </a:solidFill>
              <a:custDash>
                <a:ds d="400000" sp="300000"/>
              </a:custDash>
            </a:ln>
          </p:spPr>
        </p:sp>
        <p:sp>
          <p:nvSpPr>
            <p:cNvPr id="49" name="TextBox 49"/>
            <p:cNvSpPr txBox="1"/>
            <p:nvPr/>
          </p:nvSpPr>
          <p:spPr>
            <a:xfrm>
              <a:off x="2266760" y="5201602"/>
              <a:ext cx="1848231" cy="205359"/>
            </a:xfrm>
            <a:prstGeom prst="rect">
              <a:avLst/>
            </a:prstGeom>
            <a:noFill/>
            <a:ln>
              <a:noFill/>
            </a:ln>
          </p:spPr>
          <p:txBody>
            <a:bodyPr wrap="none" lIns="0" tIns="0" rIns="0" bIns="0" anchor="t" anchorCtr="0">
              <a:spAutoFit/>
            </a:bodyPr>
            <a:lstStyle/>
            <a:p>
              <a:pPr algn="ctr"/>
              <a:r>
                <a:rPr lang="zh-CN" sz="1050" dirty="0">
                  <a:solidFill>
                    <a:srgbClr val="E74726"/>
                  </a:solidFill>
                  <a:latin typeface="+mn-lt"/>
                  <a:ea typeface="+mn-ea"/>
                  <a:cs typeface="+mn-cs"/>
                </a:rPr>
                <a:t>坚持高频小额与即时感知优先</a:t>
              </a:r>
            </a:p>
          </p:txBody>
        </p:sp>
        <p:sp>
          <p:nvSpPr>
            <p:cNvPr id="50" name="TextBox 50"/>
            <p:cNvSpPr txBox="1"/>
            <p:nvPr/>
          </p:nvSpPr>
          <p:spPr>
            <a:xfrm>
              <a:off x="899922" y="5609749"/>
              <a:ext cx="4110863"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主要选择微信立减金、外卖红包、话费券、加油满减等高频生活场景​​​</a:t>
              </a:r>
              <a:br/>
              <a:r>
                <a:rPr lang="zh-CN" sz="980" dirty="0">
                  <a:solidFill>
                    <a:srgbClr val="333333"/>
                  </a:solidFill>
                  <a:latin typeface="+mn-lt"/>
                  <a:ea typeface="+mn-ea"/>
                  <a:cs typeface="+mn-cs"/>
                </a:rPr>
                <a:t xml:space="preserve">　权益，强调用了马上省、参与即受益。</a:t>
              </a:r>
            </a:p>
          </p:txBody>
        </p:sp>
        <p:sp>
          <p:nvSpPr>
            <p:cNvPr id="51" name="Rectangle 51"/>
            <p:cNvSpPr/>
            <p:nvPr/>
          </p:nvSpPr>
          <p:spPr>
            <a:xfrm>
              <a:off x="7572375" y="5124450"/>
              <a:ext cx="2857500" cy="285750"/>
            </a:xfrm>
            <a:prstGeom prst="roundRect">
              <a:avLst>
                <a:gd name="adj" fmla="val 13333"/>
              </a:avLst>
            </a:prstGeom>
            <a:solidFill>
              <a:srgbClr val="FFFFFF"/>
            </a:solidFill>
            <a:ln w="9525">
              <a:solidFill>
                <a:srgbClr val="F1917D"/>
              </a:solidFill>
              <a:custDash>
                <a:ds d="400000" sp="300000"/>
              </a:custDash>
            </a:ln>
          </p:spPr>
        </p:sp>
        <p:sp>
          <p:nvSpPr>
            <p:cNvPr id="52" name="TextBox 52"/>
            <p:cNvSpPr txBox="1"/>
            <p:nvPr/>
          </p:nvSpPr>
          <p:spPr>
            <a:xfrm>
              <a:off x="8218361" y="5201602"/>
              <a:ext cx="1565529" cy="205359"/>
            </a:xfrm>
            <a:prstGeom prst="rect">
              <a:avLst/>
            </a:prstGeom>
            <a:noFill/>
            <a:ln>
              <a:noFill/>
            </a:ln>
          </p:spPr>
          <p:txBody>
            <a:bodyPr wrap="none" lIns="0" tIns="0" rIns="0" bIns="0" anchor="t" anchorCtr="0">
              <a:spAutoFit/>
            </a:bodyPr>
            <a:lstStyle/>
            <a:p>
              <a:pPr algn="ctr"/>
              <a:r>
                <a:rPr lang="zh-CN" sz="1050" dirty="0">
                  <a:solidFill>
                    <a:srgbClr val="E74726"/>
                  </a:solidFill>
                  <a:latin typeface="+mn-lt"/>
                  <a:ea typeface="+mn-ea"/>
                  <a:cs typeface="+mn-cs"/>
                </a:rPr>
                <a:t>确保低门槛与低认知成本</a:t>
              </a:r>
            </a:p>
          </p:txBody>
        </p:sp>
        <p:sp>
          <p:nvSpPr>
            <p:cNvPr id="53" name="TextBox 53"/>
            <p:cNvSpPr txBox="1"/>
            <p:nvPr/>
          </p:nvSpPr>
          <p:spPr>
            <a:xfrm>
              <a:off x="6376797" y="5609749"/>
              <a:ext cx="4484243"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贯彻轻量化、极简化，避免多档位叠加、人工审核或长周期等复杂机制，采​​​</a:t>
              </a:r>
              <a:br/>
              <a:r>
                <a:rPr lang="zh-CN" sz="980" dirty="0">
                  <a:solidFill>
                    <a:srgbClr val="333333"/>
                  </a:solidFill>
                  <a:latin typeface="+mn-lt"/>
                  <a:ea typeface="+mn-ea"/>
                  <a:cs typeface="+mn-cs"/>
                </a:rPr>
                <a:t xml:space="preserve">　用一键领取、自动核销、实时到账的简化模式。</a:t>
              </a:r>
            </a:p>
          </p:txBody>
        </p:sp>
      </p:grpSp>
      <p:grpSp>
        <p:nvGrpSpPr>
          <p:cNvPr id="57" name="footer"/>
          <p:cNvGrpSpPr/>
          <p:nvPr/>
        </p:nvGrpSpPr>
        <p:grpSpPr>
          <a:xfrm>
            <a:off x="0" y="6438900"/>
            <a:ext cx="12192000" cy="342900"/>
            <a:chOff x="0" y="6438900"/>
            <a:chExt cx="12192000" cy="342900"/>
          </a:xfrm>
        </p:grpSpPr>
        <p:sp>
          <p:nvSpPr>
            <p:cNvPr id="55" name="Line 55"/>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56" name="TextBox 56"/>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22​</a:t>
              </a:r>
            </a:p>
          </p:txBody>
        </p:sp>
        <p:sp>
          <p:nvSpPr>
            <p:cNvPr id="4" name="TextBox 4"/>
            <p:cNvSpPr txBox="1"/>
            <p:nvPr/>
          </p:nvSpPr>
          <p:spPr>
            <a:xfrm>
              <a:off x="885444" y="160973"/>
              <a:ext cx="6221067"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2.2.3 权益运营｜</a:t>
              </a:r>
              <a:r>
                <a:rPr lang="zh-CN" sz="1950" b="1" dirty="0">
                  <a:solidFill>
                    <a:srgbClr val="E74726"/>
                  </a:solidFill>
                  <a:latin typeface="+mj-lt"/>
                  <a:ea typeface="+mj-ea"/>
                  <a:cs typeface="+mj-cs"/>
                </a:rPr>
                <a:t>中信银行中信红会员体系案例</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7140007" cy="249364"/>
            <a:chOff x="374523" y="681514"/>
            <a:chExt cx="7140007" cy="249364"/>
          </a:xfrm>
        </p:grpSpPr>
        <p:sp>
          <p:nvSpPr>
            <p:cNvPr id="16" name="TextBox 16"/>
            <p:cNvSpPr txBox="1"/>
            <p:nvPr/>
          </p:nvSpPr>
          <p:spPr>
            <a:xfrm>
              <a:off x="374523" y="681514"/>
              <a:ext cx="7140007"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细分R1-R4四大等级，以权益数量叠加与稀缺内容解锁，双轮驱动长尾客户价值快速提升​​​​</a:t>
              </a:r>
            </a:p>
          </p:txBody>
        </p:sp>
      </p:grpSp>
      <p:grpSp>
        <p:nvGrpSpPr>
          <p:cNvPr id="19" name="guide"/>
          <p:cNvGrpSpPr/>
          <p:nvPr/>
        </p:nvGrpSpPr>
        <p:grpSpPr>
          <a:xfrm>
            <a:off x="376047" y="990124"/>
            <a:ext cx="7060565" cy="371666"/>
            <a:chOff x="376047" y="990124"/>
            <a:chExt cx="7060565" cy="371666"/>
          </a:xfrm>
        </p:grpSpPr>
        <p:sp>
          <p:nvSpPr>
            <p:cNvPr id="18" name="TextBox 18"/>
            <p:cNvSpPr txBox="1"/>
            <p:nvPr/>
          </p:nvSpPr>
          <p:spPr>
            <a:xfrm>
              <a:off x="376047" y="990124"/>
              <a:ext cx="7060565"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层级差异是引导长尾客户成长的关键机制，一方面实施数量差异化，伴随长尾客户资产提升，权益数量呈阶梯式增长，直观感​​​</a:t>
              </a:r>
              <a:br/>
              <a:r>
                <a:rPr lang="zh-CN" sz="980" dirty="0">
                  <a:solidFill>
                    <a:srgbClr val="333333"/>
                  </a:solidFill>
                  <a:latin typeface="+mn-lt"/>
                  <a:ea typeface="+mn-ea"/>
                  <a:cs typeface="+mn-cs"/>
                </a:rPr>
                <a:t>知资产留存的收益增量；另一方面落实内容差异化，不同层级匹配不同质的权益组合，精准引导长尾客户升级​</a:t>
              </a:r>
            </a:p>
          </p:txBody>
        </p:sp>
      </p:grpSp>
      <p:grpSp>
        <p:nvGrpSpPr>
          <p:cNvPr id="53" name="rule-panel"/>
          <p:cNvGrpSpPr/>
          <p:nvPr/>
        </p:nvGrpSpPr>
        <p:grpSpPr>
          <a:xfrm>
            <a:off x="381000" y="1600200"/>
            <a:ext cx="4953000" cy="3733800"/>
            <a:chOff x="381000" y="1600200"/>
            <a:chExt cx="4953000" cy="3733800"/>
          </a:xfrm>
        </p:grpSpPr>
        <p:sp>
          <p:nvSpPr>
            <p:cNvPr id="20" name="Rectangle 20"/>
            <p:cNvSpPr/>
            <p:nvPr/>
          </p:nvSpPr>
          <p:spPr>
            <a:xfrm>
              <a:off x="381000" y="1762125"/>
              <a:ext cx="4953000" cy="3571875"/>
            </a:xfrm>
            <a:prstGeom prst="roundRect">
              <a:avLst>
                <a:gd name="adj" fmla="val 2667"/>
              </a:avLst>
            </a:prstGeom>
            <a:solidFill>
              <a:srgbClr val="FFFFFF"/>
            </a:solidFill>
            <a:ln w="14288">
              <a:solidFill>
                <a:srgbClr val="D4E2FA"/>
              </a:solidFill>
            </a:ln>
          </p:spPr>
        </p:sp>
        <p:sp>
          <p:nvSpPr>
            <p:cNvPr id="21" name="Rectangle 21"/>
            <p:cNvSpPr/>
            <p:nvPr/>
          </p:nvSpPr>
          <p:spPr>
            <a:xfrm>
              <a:off x="952500" y="1600200"/>
              <a:ext cx="3810000" cy="247650"/>
            </a:xfrm>
            <a:prstGeom prst="rect">
              <a:avLst/>
            </a:prstGeom>
            <a:solidFill>
              <a:srgbClr val="FFFFFF"/>
            </a:solidFill>
            <a:ln>
              <a:noFill/>
            </a:ln>
          </p:spPr>
        </p:sp>
        <p:sp>
          <p:nvSpPr>
            <p:cNvPr id="22" name="TextBox 22"/>
            <p:cNvSpPr txBox="1"/>
            <p:nvPr/>
          </p:nvSpPr>
          <p:spPr>
            <a:xfrm>
              <a:off x="1316736" y="1642110"/>
              <a:ext cx="3081528" cy="234696"/>
            </a:xfrm>
            <a:prstGeom prst="rect">
              <a:avLst/>
            </a:prstGeom>
            <a:noFill/>
            <a:ln>
              <a:noFill/>
            </a:ln>
          </p:spPr>
          <p:txBody>
            <a:bodyPr wrap="none" lIns="0" tIns="0" rIns="0" bIns="0" anchor="t" anchorCtr="0">
              <a:spAutoFit/>
            </a:bodyPr>
            <a:lstStyle/>
            <a:p>
              <a:pPr algn="ctr"/>
              <a:r>
                <a:rPr lang="zh-CN" sz="1200" b="1" dirty="0">
                  <a:solidFill>
                    <a:srgbClr val="E74726"/>
                  </a:solidFill>
                  <a:latin typeface="+mn-lt"/>
                  <a:ea typeface="+mn-ea"/>
                  <a:cs typeface="+mn-cs"/>
                </a:rPr>
                <a:t>在权益数量配置上严格落实阶梯差异化规则</a:t>
              </a:r>
            </a:p>
          </p:txBody>
        </p:sp>
        <p:grpSp>
          <p:nvGrpSpPr>
            <p:cNvPr id="33" name="tier-1"/>
            <p:cNvGrpSpPr/>
            <p:nvPr/>
          </p:nvGrpSpPr>
          <p:grpSpPr>
            <a:xfrm>
              <a:off x="590550" y="2019300"/>
              <a:ext cx="4572000" cy="838200"/>
              <a:chOff x="590550" y="2019300"/>
              <a:chExt cx="4572000" cy="838200"/>
            </a:xfrm>
          </p:grpSpPr>
          <p:sp>
            <p:nvSpPr>
              <p:cNvPr id="23" name="Rectangle 23"/>
              <p:cNvSpPr/>
              <p:nvPr/>
            </p:nvSpPr>
            <p:spPr>
              <a:xfrm>
                <a:off x="590550" y="2019300"/>
                <a:ext cx="1190625" cy="838200"/>
              </a:xfrm>
              <a:prstGeom prst="roundRect">
                <a:avLst>
                  <a:gd name="adj" fmla="val 9091"/>
                </a:avLst>
              </a:prstGeom>
              <a:solidFill>
                <a:srgbClr val="E74726"/>
              </a:solidFill>
              <a:ln>
                <a:noFill/>
              </a:ln>
            </p:spPr>
          </p:sp>
          <p:sp>
            <p:nvSpPr>
              <p:cNvPr id="24" name="TextBox 24"/>
              <p:cNvSpPr txBox="1"/>
              <p:nvPr/>
            </p:nvSpPr>
            <p:spPr>
              <a:xfrm>
                <a:off x="695350" y="2329815"/>
                <a:ext cx="438100"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01​</a:t>
                </a:r>
              </a:p>
            </p:txBody>
          </p:sp>
          <p:grpSp>
            <p:nvGrpSpPr>
              <p:cNvPr id="29" name="Group 29"/>
              <p:cNvGrpSpPr/>
              <p:nvPr/>
            </p:nvGrpSpPr>
            <p:grpSpPr>
              <a:xfrm>
                <a:off x="1285875" y="2295525"/>
                <a:ext cx="285751" cy="269875"/>
                <a:chOff x="1285875" y="2295525"/>
                <a:chExt cx="285751" cy="269875"/>
              </a:xfrm>
            </p:grpSpPr>
            <p:sp>
              <p:nvSpPr>
                <p:cNvPr id="25" name="Freeform 25"/>
                <p:cNvSpPr/>
                <p:nvPr/>
              </p:nvSpPr>
              <p:spPr>
                <a:xfrm>
                  <a:off x="1285875" y="2359025"/>
                  <a:ext cx="285751" cy="206375"/>
                </a:xfrm>
                <a:custGeom>
                  <a:avLst/>
                  <a:gdLst/>
                  <a:ahLst/>
                  <a:cxnLst/>
                  <a:rect l="l" t="t" r="r" b="b"/>
                  <a:pathLst>
                    <a:path w="285751" h="206375">
                      <a:moveTo>
                        <a:pt x="0" y="31750"/>
                      </a:moveTo>
                      <a:cubicBezTo>
                        <a:pt x="0" y="14215"/>
                        <a:pt x="14215" y="0"/>
                        <a:pt x="31750" y="0"/>
                      </a:cubicBezTo>
                      <a:lnTo>
                        <a:pt x="254001" y="0"/>
                      </a:lnTo>
                      <a:cubicBezTo>
                        <a:pt x="271536" y="0"/>
                        <a:pt x="285751" y="14215"/>
                        <a:pt x="285751" y="31750"/>
                      </a:cubicBezTo>
                      <a:lnTo>
                        <a:pt x="285751" y="174625"/>
                      </a:lnTo>
                      <a:cubicBezTo>
                        <a:pt x="285751" y="192160"/>
                        <a:pt x="271536" y="206375"/>
                        <a:pt x="254001" y="206375"/>
                      </a:cubicBezTo>
                      <a:lnTo>
                        <a:pt x="31750" y="206375"/>
                      </a:lnTo>
                      <a:cubicBezTo>
                        <a:pt x="14215" y="206375"/>
                        <a:pt x="0" y="192160"/>
                        <a:pt x="0" y="174625"/>
                      </a:cubicBezTo>
                      <a:lnTo>
                        <a:pt x="0" y="31750"/>
                      </a:lnTo>
                    </a:path>
                  </a:pathLst>
                </a:custGeom>
                <a:noFill/>
                <a:ln w="23813">
                  <a:solidFill>
                    <a:srgbClr val="FFFFFF"/>
                  </a:solidFill>
                </a:ln>
              </p:spPr>
            </p:sp>
            <p:sp>
              <p:nvSpPr>
                <p:cNvPr id="26" name="Freeform 26"/>
                <p:cNvSpPr/>
                <p:nvPr/>
              </p:nvSpPr>
              <p:spPr>
                <a:xfrm>
                  <a:off x="1365250" y="2295525"/>
                  <a:ext cx="127000" cy="63500"/>
                </a:xfrm>
                <a:custGeom>
                  <a:avLst/>
                  <a:gdLst/>
                  <a:ahLst/>
                  <a:cxnLst/>
                  <a:rect l="l" t="t" r="r" b="b"/>
                  <a:pathLst>
                    <a:path w="127000" h="63500">
                      <a:moveTo>
                        <a:pt x="0" y="63500"/>
                      </a:moveTo>
                      <a:lnTo>
                        <a:pt x="0" y="31750"/>
                      </a:lnTo>
                      <a:cubicBezTo>
                        <a:pt x="0" y="14215"/>
                        <a:pt x="14215" y="0"/>
                        <a:pt x="31750" y="0"/>
                      </a:cubicBezTo>
                      <a:lnTo>
                        <a:pt x="95250" y="0"/>
                      </a:lnTo>
                      <a:cubicBezTo>
                        <a:pt x="112785" y="0"/>
                        <a:pt x="127000" y="14215"/>
                        <a:pt x="127000" y="31750"/>
                      </a:cubicBezTo>
                      <a:lnTo>
                        <a:pt x="127000" y="63500"/>
                      </a:lnTo>
                    </a:path>
                  </a:pathLst>
                </a:custGeom>
                <a:noFill/>
                <a:ln w="23813">
                  <a:solidFill>
                    <a:srgbClr val="FFFFFF"/>
                  </a:solidFill>
                </a:ln>
              </p:spPr>
            </p:sp>
            <p:sp>
              <p:nvSpPr>
                <p:cNvPr id="27" name="Freeform 27"/>
                <p:cNvSpPr/>
                <p:nvPr/>
              </p:nvSpPr>
              <p:spPr>
                <a:xfrm>
                  <a:off x="1428750" y="2438400"/>
                  <a:ext cx="9525" cy="9525"/>
                </a:xfrm>
                <a:custGeom>
                  <a:avLst/>
                  <a:gdLst/>
                  <a:ahLst/>
                  <a:cxnLst/>
                  <a:rect l="l" t="t" r="r" b="b"/>
                  <a:pathLst>
                    <a:path w="9525" h="9525">
                      <a:moveTo>
                        <a:pt x="0" y="0"/>
                      </a:moveTo>
                      <a:lnTo>
                        <a:pt x="0" y="159"/>
                      </a:lnTo>
                    </a:path>
                  </a:pathLst>
                </a:custGeom>
                <a:noFill/>
                <a:ln w="23813">
                  <a:solidFill>
                    <a:srgbClr val="FFFFFF"/>
                  </a:solidFill>
                </a:ln>
              </p:spPr>
            </p:sp>
            <p:sp>
              <p:nvSpPr>
                <p:cNvPr id="28" name="Freeform 28"/>
                <p:cNvSpPr/>
                <p:nvPr/>
              </p:nvSpPr>
              <p:spPr>
                <a:xfrm>
                  <a:off x="1285875" y="2454275"/>
                  <a:ext cx="285751" cy="45285"/>
                </a:xfrm>
                <a:custGeom>
                  <a:avLst/>
                  <a:gdLst/>
                  <a:ahLst/>
                  <a:cxnLst/>
                  <a:rect l="l" t="t" r="r" b="b"/>
                  <a:pathLst>
                    <a:path w="285751" h="45285">
                      <a:moveTo>
                        <a:pt x="0" y="0"/>
                      </a:moveTo>
                      <a:cubicBezTo>
                        <a:pt x="89868" y="45285"/>
                        <a:pt x="195883" y="45285"/>
                        <a:pt x="285751" y="0"/>
                      </a:cubicBezTo>
                    </a:path>
                  </a:pathLst>
                </a:custGeom>
                <a:noFill/>
                <a:ln w="23813">
                  <a:solidFill>
                    <a:srgbClr val="FFFFFF"/>
                  </a:solidFill>
                </a:ln>
              </p:spPr>
            </p:sp>
          </p:grpSp>
          <p:sp>
            <p:nvSpPr>
              <p:cNvPr id="30" name="Rectangle 30"/>
              <p:cNvSpPr/>
              <p:nvPr/>
            </p:nvSpPr>
            <p:spPr>
              <a:xfrm>
                <a:off x="1781175" y="2019300"/>
                <a:ext cx="3381375" cy="838200"/>
              </a:xfrm>
              <a:prstGeom prst="roundRect">
                <a:avLst>
                  <a:gd name="adj" fmla="val 4545"/>
                </a:avLst>
              </a:prstGeom>
              <a:solidFill>
                <a:srgbClr val="F2F2F2"/>
              </a:solidFill>
              <a:ln>
                <a:noFill/>
              </a:ln>
            </p:spPr>
          </p:sp>
          <p:sp>
            <p:nvSpPr>
              <p:cNvPr id="31" name="TextBox 31"/>
              <p:cNvSpPr txBox="1"/>
              <p:nvPr/>
            </p:nvSpPr>
            <p:spPr>
              <a:xfrm>
                <a:off x="1946910" y="2193131"/>
                <a:ext cx="1274222" cy="220028"/>
              </a:xfrm>
              <a:prstGeom prst="rect">
                <a:avLst/>
              </a:prstGeom>
              <a:noFill/>
              <a:ln>
                <a:noFill/>
              </a:ln>
            </p:spPr>
            <p:txBody>
              <a:bodyPr wrap="none" lIns="0" tIns="0" rIns="0" bIns="0" anchor="t" anchorCtr="0">
                <a:spAutoFit/>
              </a:bodyPr>
              <a:lstStyle/>
              <a:p>
                <a:pPr algn="l"/>
                <a:r>
                  <a:rPr lang="zh-CN" sz="1120" b="1" dirty="0">
                    <a:solidFill>
                      <a:srgbClr val="E74726"/>
                    </a:solidFill>
                    <a:latin typeface="+mn-lt"/>
                    <a:ea typeface="+mn-ea"/>
                    <a:cs typeface="+mn-cs"/>
                  </a:rPr>
                  <a:t>入门R1层级客户​​</a:t>
                </a:r>
              </a:p>
            </p:txBody>
          </p:sp>
          <p:sp>
            <p:nvSpPr>
              <p:cNvPr id="32" name="TextBox 32"/>
              <p:cNvSpPr txBox="1"/>
              <p:nvPr/>
            </p:nvSpPr>
            <p:spPr>
              <a:xfrm>
                <a:off x="1947672" y="2514124"/>
                <a:ext cx="2701229"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 6项基础权益，覆盖基础金融与非金融福利​</a:t>
                </a:r>
              </a:p>
            </p:txBody>
          </p:sp>
        </p:grpSp>
        <p:grpSp>
          <p:nvGrpSpPr>
            <p:cNvPr id="45" name="tier-2"/>
            <p:cNvGrpSpPr/>
            <p:nvPr/>
          </p:nvGrpSpPr>
          <p:grpSpPr>
            <a:xfrm>
              <a:off x="590550" y="3067050"/>
              <a:ext cx="4572000" cy="981075"/>
              <a:chOff x="590550" y="3067050"/>
              <a:chExt cx="4572000" cy="981075"/>
            </a:xfrm>
          </p:grpSpPr>
          <p:sp>
            <p:nvSpPr>
              <p:cNvPr id="34" name="Rectangle 34"/>
              <p:cNvSpPr/>
              <p:nvPr/>
            </p:nvSpPr>
            <p:spPr>
              <a:xfrm>
                <a:off x="590550" y="3067050"/>
                <a:ext cx="1190625" cy="981075"/>
              </a:xfrm>
              <a:prstGeom prst="roundRect">
                <a:avLst>
                  <a:gd name="adj" fmla="val 7767"/>
                </a:avLst>
              </a:prstGeom>
              <a:solidFill>
                <a:srgbClr val="E74726"/>
              </a:solidFill>
              <a:ln>
                <a:noFill/>
              </a:ln>
            </p:spPr>
          </p:sp>
          <p:sp>
            <p:nvSpPr>
              <p:cNvPr id="35" name="TextBox 35"/>
              <p:cNvSpPr txBox="1"/>
              <p:nvPr/>
            </p:nvSpPr>
            <p:spPr>
              <a:xfrm>
                <a:off x="695350" y="3444240"/>
                <a:ext cx="438100"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02​</a:t>
                </a:r>
              </a:p>
            </p:txBody>
          </p:sp>
          <p:grpSp>
            <p:nvGrpSpPr>
              <p:cNvPr id="41" name="Group 41"/>
              <p:cNvGrpSpPr/>
              <p:nvPr/>
            </p:nvGrpSpPr>
            <p:grpSpPr>
              <a:xfrm>
                <a:off x="1285875" y="3407823"/>
                <a:ext cx="285750" cy="287877"/>
                <a:chOff x="1285875" y="3407823"/>
                <a:chExt cx="285750" cy="287877"/>
              </a:xfrm>
            </p:grpSpPr>
            <p:sp>
              <p:nvSpPr>
                <p:cNvPr id="36" name="Freeform 36"/>
                <p:cNvSpPr/>
                <p:nvPr/>
              </p:nvSpPr>
              <p:spPr>
                <a:xfrm>
                  <a:off x="1381125" y="3536950"/>
                  <a:ext cx="190500" cy="95250"/>
                </a:xfrm>
                <a:custGeom>
                  <a:avLst/>
                  <a:gdLst/>
                  <a:ahLst/>
                  <a:cxnLst/>
                  <a:rect l="l" t="t" r="r" b="b"/>
                  <a:pathLst>
                    <a:path w="190500" h="95250">
                      <a:moveTo>
                        <a:pt x="0" y="47625"/>
                      </a:moveTo>
                      <a:cubicBezTo>
                        <a:pt x="0" y="73930"/>
                        <a:pt x="42640" y="95250"/>
                        <a:pt x="95250" y="95250"/>
                      </a:cubicBezTo>
                      <a:cubicBezTo>
                        <a:pt x="147860" y="95250"/>
                        <a:pt x="190500" y="73930"/>
                        <a:pt x="190500" y="47625"/>
                      </a:cubicBezTo>
                      <a:cubicBezTo>
                        <a:pt x="190500" y="21320"/>
                        <a:pt x="147860" y="0"/>
                        <a:pt x="95250" y="0"/>
                      </a:cubicBezTo>
                      <a:cubicBezTo>
                        <a:pt x="42640" y="0"/>
                        <a:pt x="0" y="21320"/>
                        <a:pt x="0" y="47625"/>
                      </a:cubicBezTo>
                    </a:path>
                  </a:pathLst>
                </a:custGeom>
                <a:noFill/>
                <a:ln w="23813">
                  <a:solidFill>
                    <a:srgbClr val="FFFFFF"/>
                  </a:solidFill>
                </a:ln>
              </p:spPr>
            </p:sp>
            <p:sp>
              <p:nvSpPr>
                <p:cNvPr id="37" name="Freeform 37"/>
                <p:cNvSpPr/>
                <p:nvPr/>
              </p:nvSpPr>
              <p:spPr>
                <a:xfrm>
                  <a:off x="1381125" y="3584575"/>
                  <a:ext cx="190500" cy="111125"/>
                </a:xfrm>
                <a:custGeom>
                  <a:avLst/>
                  <a:gdLst/>
                  <a:ahLst/>
                  <a:cxnLst/>
                  <a:rect l="l" t="t" r="r" b="b"/>
                  <a:pathLst>
                    <a:path w="190500" h="111125">
                      <a:moveTo>
                        <a:pt x="0" y="0"/>
                      </a:moveTo>
                      <a:lnTo>
                        <a:pt x="0" y="63500"/>
                      </a:lnTo>
                      <a:cubicBezTo>
                        <a:pt x="0" y="89789"/>
                        <a:pt x="42640" y="111125"/>
                        <a:pt x="95250" y="111125"/>
                      </a:cubicBezTo>
                      <a:cubicBezTo>
                        <a:pt x="147860" y="111125"/>
                        <a:pt x="190500" y="89789"/>
                        <a:pt x="190500" y="63500"/>
                      </a:cubicBezTo>
                      <a:lnTo>
                        <a:pt x="190500" y="0"/>
                      </a:lnTo>
                    </a:path>
                  </a:pathLst>
                </a:custGeom>
                <a:noFill/>
                <a:ln w="23813">
                  <a:solidFill>
                    <a:srgbClr val="FFFFFF"/>
                  </a:solidFill>
                </a:ln>
              </p:spPr>
            </p:sp>
            <p:sp>
              <p:nvSpPr>
                <p:cNvPr id="38" name="Freeform 38"/>
                <p:cNvSpPr/>
                <p:nvPr/>
              </p:nvSpPr>
              <p:spPr>
                <a:xfrm>
                  <a:off x="1285875" y="3407823"/>
                  <a:ext cx="190500" cy="99505"/>
                </a:xfrm>
                <a:custGeom>
                  <a:avLst/>
                  <a:gdLst/>
                  <a:ahLst/>
                  <a:cxnLst/>
                  <a:rect l="l" t="t" r="r" b="b"/>
                  <a:pathLst>
                    <a:path w="190500" h="99505">
                      <a:moveTo>
                        <a:pt x="0" y="49752"/>
                      </a:moveTo>
                      <a:cubicBezTo>
                        <a:pt x="0" y="66770"/>
                        <a:pt x="18161" y="82487"/>
                        <a:pt x="47625" y="90996"/>
                      </a:cubicBezTo>
                      <a:cubicBezTo>
                        <a:pt x="77089" y="99505"/>
                        <a:pt x="113411" y="99505"/>
                        <a:pt x="142875" y="90996"/>
                      </a:cubicBezTo>
                      <a:cubicBezTo>
                        <a:pt x="172339" y="82487"/>
                        <a:pt x="190500" y="66770"/>
                        <a:pt x="190500" y="49752"/>
                      </a:cubicBezTo>
                      <a:cubicBezTo>
                        <a:pt x="190500" y="32734"/>
                        <a:pt x="172339" y="17018"/>
                        <a:pt x="142875" y="8509"/>
                      </a:cubicBezTo>
                      <a:cubicBezTo>
                        <a:pt x="113411" y="0"/>
                        <a:pt x="77089" y="0"/>
                        <a:pt x="47625" y="8509"/>
                      </a:cubicBezTo>
                      <a:cubicBezTo>
                        <a:pt x="18161" y="17018"/>
                        <a:pt x="0" y="32734"/>
                        <a:pt x="0" y="49752"/>
                      </a:cubicBezTo>
                    </a:path>
                  </a:pathLst>
                </a:custGeom>
                <a:noFill/>
                <a:ln w="23813">
                  <a:solidFill>
                    <a:srgbClr val="FFFFFF"/>
                  </a:solidFill>
                </a:ln>
              </p:spPr>
            </p:sp>
            <p:sp>
              <p:nvSpPr>
                <p:cNvPr id="39" name="Freeform 39"/>
                <p:cNvSpPr/>
                <p:nvPr/>
              </p:nvSpPr>
              <p:spPr>
                <a:xfrm>
                  <a:off x="1285875" y="3457575"/>
                  <a:ext cx="31750" cy="190500"/>
                </a:xfrm>
                <a:custGeom>
                  <a:avLst/>
                  <a:gdLst/>
                  <a:ahLst/>
                  <a:cxnLst/>
                  <a:rect l="l" t="t" r="r" b="b"/>
                  <a:pathLst>
                    <a:path w="31750" h="190500">
                      <a:moveTo>
                        <a:pt x="0" y="0"/>
                      </a:moveTo>
                      <a:lnTo>
                        <a:pt x="0" y="158750"/>
                      </a:lnTo>
                      <a:cubicBezTo>
                        <a:pt x="0" y="172847"/>
                        <a:pt x="12256" y="181769"/>
                        <a:pt x="31750" y="190500"/>
                      </a:cubicBezTo>
                    </a:path>
                  </a:pathLst>
                </a:custGeom>
                <a:noFill/>
                <a:ln w="23813">
                  <a:solidFill>
                    <a:srgbClr val="FFFFFF"/>
                  </a:solidFill>
                </a:ln>
              </p:spPr>
            </p:sp>
            <p:sp>
              <p:nvSpPr>
                <p:cNvPr id="40" name="Freeform 40"/>
                <p:cNvSpPr/>
                <p:nvPr/>
              </p:nvSpPr>
              <p:spPr>
                <a:xfrm>
                  <a:off x="1285875" y="3536950"/>
                  <a:ext cx="31750" cy="31750"/>
                </a:xfrm>
                <a:custGeom>
                  <a:avLst/>
                  <a:gdLst/>
                  <a:ahLst/>
                  <a:cxnLst/>
                  <a:rect l="l" t="t" r="r" b="b"/>
                  <a:pathLst>
                    <a:path w="31750" h="31750">
                      <a:moveTo>
                        <a:pt x="0" y="0"/>
                      </a:moveTo>
                      <a:cubicBezTo>
                        <a:pt x="0" y="14097"/>
                        <a:pt x="12256" y="23019"/>
                        <a:pt x="31750" y="31750"/>
                      </a:cubicBezTo>
                    </a:path>
                  </a:pathLst>
                </a:custGeom>
                <a:noFill/>
                <a:ln w="23813">
                  <a:solidFill>
                    <a:srgbClr val="FFFFFF"/>
                  </a:solidFill>
                </a:ln>
              </p:spPr>
            </p:sp>
          </p:grpSp>
          <p:sp>
            <p:nvSpPr>
              <p:cNvPr id="42" name="Rectangle 42"/>
              <p:cNvSpPr/>
              <p:nvPr/>
            </p:nvSpPr>
            <p:spPr>
              <a:xfrm>
                <a:off x="1781175" y="3067050"/>
                <a:ext cx="3381375" cy="981075"/>
              </a:xfrm>
              <a:prstGeom prst="roundRect">
                <a:avLst>
                  <a:gd name="adj" fmla="val 3883"/>
                </a:avLst>
              </a:prstGeom>
              <a:solidFill>
                <a:srgbClr val="F2F2F2"/>
              </a:solidFill>
              <a:ln>
                <a:noFill/>
              </a:ln>
            </p:spPr>
          </p:sp>
          <p:sp>
            <p:nvSpPr>
              <p:cNvPr id="43" name="TextBox 43"/>
              <p:cNvSpPr txBox="1"/>
              <p:nvPr/>
            </p:nvSpPr>
            <p:spPr>
              <a:xfrm>
                <a:off x="1946910" y="3231356"/>
                <a:ext cx="1092973" cy="220028"/>
              </a:xfrm>
              <a:prstGeom prst="rect">
                <a:avLst/>
              </a:prstGeom>
              <a:noFill/>
              <a:ln>
                <a:noFill/>
              </a:ln>
            </p:spPr>
            <p:txBody>
              <a:bodyPr wrap="none" lIns="0" tIns="0" rIns="0" bIns="0" anchor="t" anchorCtr="0">
                <a:spAutoFit/>
              </a:bodyPr>
              <a:lstStyle/>
              <a:p>
                <a:pPr algn="l"/>
                <a:r>
                  <a:rPr lang="zh-CN" sz="1120" b="1" dirty="0">
                    <a:solidFill>
                      <a:srgbClr val="E74726"/>
                    </a:solidFill>
                    <a:latin typeface="+mn-lt"/>
                    <a:ea typeface="+mn-ea"/>
                    <a:cs typeface="+mn-cs"/>
                  </a:rPr>
                  <a:t>R2至R4层级​​​</a:t>
                </a:r>
              </a:p>
            </p:txBody>
          </p:sp>
          <p:sp>
            <p:nvSpPr>
              <p:cNvPr id="44" name="TextBox 44"/>
              <p:cNvSpPr txBox="1"/>
              <p:nvPr/>
            </p:nvSpPr>
            <p:spPr>
              <a:xfrm>
                <a:off x="1947672" y="3533299"/>
                <a:ext cx="2990723"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客户权益升级至7项，在基础权益之上叠加专属能​​</a:t>
                </a:r>
                <a:br/>
                <a:r>
                  <a:rPr lang="zh-CN" sz="980" dirty="0">
                    <a:solidFill>
                      <a:srgbClr val="333333"/>
                    </a:solidFill>
                    <a:latin typeface="+mn-lt"/>
                    <a:ea typeface="+mn-ea"/>
                    <a:cs typeface="+mn-cs"/>
                  </a:rPr>
                  <a:t xml:space="preserve">　力值福利，并在各层级内部实现精细化差异区分</a:t>
                </a:r>
              </a:p>
            </p:txBody>
          </p:sp>
        </p:grpSp>
        <p:grpSp>
          <p:nvGrpSpPr>
            <p:cNvPr id="52" name="tier-3"/>
            <p:cNvGrpSpPr/>
            <p:nvPr/>
          </p:nvGrpSpPr>
          <p:grpSpPr>
            <a:xfrm>
              <a:off x="590550" y="4257675"/>
              <a:ext cx="4572000" cy="933450"/>
              <a:chOff x="590550" y="4257675"/>
              <a:chExt cx="4572000" cy="933450"/>
            </a:xfrm>
          </p:grpSpPr>
          <p:sp>
            <p:nvSpPr>
              <p:cNvPr id="46" name="Rectangle 46"/>
              <p:cNvSpPr/>
              <p:nvPr/>
            </p:nvSpPr>
            <p:spPr>
              <a:xfrm>
                <a:off x="590550" y="4257675"/>
                <a:ext cx="1190625" cy="933450"/>
              </a:xfrm>
              <a:prstGeom prst="roundRect">
                <a:avLst>
                  <a:gd name="adj" fmla="val 8163"/>
                </a:avLst>
              </a:prstGeom>
              <a:solidFill>
                <a:srgbClr val="E74726"/>
              </a:solidFill>
              <a:ln>
                <a:noFill/>
              </a:ln>
            </p:spPr>
          </p:sp>
          <p:sp>
            <p:nvSpPr>
              <p:cNvPr id="47" name="TextBox 47"/>
              <p:cNvSpPr txBox="1"/>
              <p:nvPr/>
            </p:nvSpPr>
            <p:spPr>
              <a:xfrm>
                <a:off x="695350" y="4606290"/>
                <a:ext cx="438100"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03​</a:t>
                </a:r>
              </a:p>
            </p:txBody>
          </p:sp>
          <p:sp>
            <p:nvSpPr>
              <p:cNvPr id="48" name="Freeform 48"/>
              <p:cNvSpPr/>
              <p:nvPr/>
            </p:nvSpPr>
            <p:spPr>
              <a:xfrm>
                <a:off x="1269619" y="4585097"/>
                <a:ext cx="316929" cy="280940"/>
              </a:xfrm>
              <a:custGeom>
                <a:avLst/>
                <a:gdLst/>
                <a:ahLst/>
                <a:cxnLst/>
                <a:rect l="l" t="t" r="r" b="b"/>
                <a:pathLst>
                  <a:path w="316929" h="280940">
                    <a:moveTo>
                      <a:pt x="16256" y="266304"/>
                    </a:moveTo>
                    <a:lnTo>
                      <a:pt x="36894" y="204391"/>
                    </a:lnTo>
                    <a:cubicBezTo>
                      <a:pt x="0" y="149829"/>
                      <a:pt x="14256" y="79423"/>
                      <a:pt x="70231" y="39703"/>
                    </a:cubicBezTo>
                    <a:cubicBezTo>
                      <a:pt x="126207" y="0"/>
                      <a:pt x="206598" y="3254"/>
                      <a:pt x="258271" y="47323"/>
                    </a:cubicBezTo>
                    <a:cubicBezTo>
                      <a:pt x="309944" y="91408"/>
                      <a:pt x="316929" y="162671"/>
                      <a:pt x="274606" y="214027"/>
                    </a:cubicBezTo>
                    <a:cubicBezTo>
                      <a:pt x="232283" y="265383"/>
                      <a:pt x="153718" y="280940"/>
                      <a:pt x="90869" y="250429"/>
                    </a:cubicBezTo>
                    <a:lnTo>
                      <a:pt x="16256" y="266304"/>
                    </a:lnTo>
                  </a:path>
                </a:pathLst>
              </a:custGeom>
              <a:noFill/>
              <a:ln w="23813">
                <a:solidFill>
                  <a:srgbClr val="FFFFFF"/>
                </a:solidFill>
              </a:ln>
            </p:spPr>
          </p:sp>
          <p:sp>
            <p:nvSpPr>
              <p:cNvPr id="49" name="Rectangle 49"/>
              <p:cNvSpPr/>
              <p:nvPr/>
            </p:nvSpPr>
            <p:spPr>
              <a:xfrm>
                <a:off x="1781175" y="4257675"/>
                <a:ext cx="3381375" cy="933450"/>
              </a:xfrm>
              <a:prstGeom prst="roundRect">
                <a:avLst>
                  <a:gd name="adj" fmla="val 4082"/>
                </a:avLst>
              </a:prstGeom>
              <a:solidFill>
                <a:srgbClr val="F2F2F2"/>
              </a:solidFill>
              <a:ln>
                <a:noFill/>
              </a:ln>
            </p:spPr>
          </p:sp>
          <p:sp>
            <p:nvSpPr>
              <p:cNvPr id="50" name="TextBox 50"/>
              <p:cNvSpPr txBox="1"/>
              <p:nvPr/>
            </p:nvSpPr>
            <p:spPr>
              <a:xfrm>
                <a:off x="1946910" y="4421981"/>
                <a:ext cx="1335748" cy="220028"/>
              </a:xfrm>
              <a:prstGeom prst="rect">
                <a:avLst/>
              </a:prstGeom>
              <a:noFill/>
              <a:ln>
                <a:noFill/>
              </a:ln>
            </p:spPr>
            <p:txBody>
              <a:bodyPr wrap="none" lIns="0" tIns="0" rIns="0" bIns="0" anchor="t" anchorCtr="0">
                <a:spAutoFit/>
              </a:bodyPr>
              <a:lstStyle/>
              <a:p>
                <a:pPr algn="l"/>
                <a:r>
                  <a:rPr lang="zh-CN" sz="1120" b="1" dirty="0">
                    <a:solidFill>
                      <a:srgbClr val="E74726"/>
                    </a:solidFill>
                    <a:latin typeface="+mn-lt"/>
                    <a:ea typeface="+mn-ea"/>
                    <a:cs typeface="+mn-cs"/>
                  </a:rPr>
                  <a:t>R5-R9高阶层级​​​</a:t>
                </a:r>
              </a:p>
            </p:txBody>
          </p:sp>
          <p:sp>
            <p:nvSpPr>
              <p:cNvPr id="51" name="TextBox 51"/>
              <p:cNvSpPr txBox="1"/>
              <p:nvPr/>
            </p:nvSpPr>
            <p:spPr>
              <a:xfrm>
                <a:off x="1947672" y="4704874"/>
                <a:ext cx="2685796"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解锁多达18项的全域权益服务，权益广度、​​</a:t>
                </a:r>
                <a:br/>
                <a:r>
                  <a:rPr lang="zh-CN" sz="980" dirty="0">
                    <a:solidFill>
                      <a:srgbClr val="333333"/>
                    </a:solidFill>
                    <a:latin typeface="+mn-lt"/>
                    <a:ea typeface="+mn-ea"/>
                    <a:cs typeface="+mn-cs"/>
                  </a:rPr>
                  <a:t xml:space="preserve">　深度、价值实现跨越式提升</a:t>
                </a:r>
              </a:p>
            </p:txBody>
          </p:sp>
        </p:grpSp>
      </p:grpSp>
      <p:grpSp>
        <p:nvGrpSpPr>
          <p:cNvPr id="200" name="case-panel"/>
          <p:cNvGrpSpPr/>
          <p:nvPr/>
        </p:nvGrpSpPr>
        <p:grpSpPr>
          <a:xfrm>
            <a:off x="5619750" y="1581150"/>
            <a:ext cx="6191250" cy="4612957"/>
            <a:chOff x="5619750" y="1581150"/>
            <a:chExt cx="6191250" cy="4612957"/>
          </a:xfrm>
        </p:grpSpPr>
        <p:sp>
          <p:nvSpPr>
            <p:cNvPr id="54" name="Rectangle 54"/>
            <p:cNvSpPr/>
            <p:nvPr/>
          </p:nvSpPr>
          <p:spPr>
            <a:xfrm>
              <a:off x="5619750" y="1762125"/>
              <a:ext cx="6191250" cy="4095750"/>
            </a:xfrm>
            <a:prstGeom prst="roundRect">
              <a:avLst>
                <a:gd name="adj" fmla="val 930"/>
              </a:avLst>
            </a:prstGeom>
            <a:solidFill>
              <a:srgbClr val="FFFFFF"/>
            </a:solidFill>
            <a:ln w="9525">
              <a:solidFill>
                <a:srgbClr val="F1917D"/>
              </a:solidFill>
              <a:custDash>
                <a:ds d="600000" sp="400000"/>
              </a:custDash>
            </a:ln>
          </p:spPr>
        </p:sp>
        <p:sp>
          <p:nvSpPr>
            <p:cNvPr id="55" name="Rectangle 55"/>
            <p:cNvSpPr/>
            <p:nvPr/>
          </p:nvSpPr>
          <p:spPr>
            <a:xfrm>
              <a:off x="7239000" y="1581150"/>
              <a:ext cx="3048000" cy="247650"/>
            </a:xfrm>
            <a:prstGeom prst="rect">
              <a:avLst/>
            </a:prstGeom>
            <a:solidFill>
              <a:srgbClr val="FFFFFF"/>
            </a:solidFill>
            <a:ln>
              <a:noFill/>
            </a:ln>
          </p:spPr>
        </p:sp>
        <p:sp>
          <p:nvSpPr>
            <p:cNvPr id="56" name="TextBox 56"/>
            <p:cNvSpPr txBox="1"/>
            <p:nvPr/>
          </p:nvSpPr>
          <p:spPr>
            <a:xfrm>
              <a:off x="7404407" y="1632585"/>
              <a:ext cx="2621935" cy="234696"/>
            </a:xfrm>
            <a:prstGeom prst="rect">
              <a:avLst/>
            </a:prstGeom>
            <a:noFill/>
            <a:ln>
              <a:noFill/>
            </a:ln>
          </p:spPr>
          <p:txBody>
            <a:bodyPr wrap="none" lIns="0" tIns="0" rIns="0" bIns="0" anchor="t" anchorCtr="0">
              <a:spAutoFit/>
            </a:bodyPr>
            <a:lstStyle/>
            <a:p>
              <a:pPr algn="ctr"/>
              <a:r>
                <a:rPr lang="zh-CN" sz="1200" b="1" dirty="0">
                  <a:solidFill>
                    <a:srgbClr val="E74726"/>
                  </a:solidFill>
                  <a:latin typeface="+mn-lt"/>
                  <a:ea typeface="+mn-ea"/>
                  <a:cs typeface="+mn-cs"/>
                </a:rPr>
                <a:t>中信银行-中信红会员体系案例示例​</a:t>
              </a:r>
            </a:p>
          </p:txBody>
        </p:sp>
        <p:grpSp>
          <p:nvGrpSpPr>
            <p:cNvPr id="94" name="shot-levels"/>
            <p:cNvGrpSpPr/>
            <p:nvPr/>
          </p:nvGrpSpPr>
          <p:grpSpPr>
            <a:xfrm>
              <a:off x="5810250" y="1981200"/>
              <a:ext cx="1952625" cy="2857500"/>
              <a:chOff x="5810250" y="1981200"/>
              <a:chExt cx="1952625" cy="2857500"/>
            </a:xfrm>
          </p:grpSpPr>
          <p:sp>
            <p:nvSpPr>
              <p:cNvPr id="57" name="Rectangle 57"/>
              <p:cNvSpPr/>
              <p:nvPr/>
            </p:nvSpPr>
            <p:spPr>
              <a:xfrm>
                <a:off x="5810250" y="1981200"/>
                <a:ext cx="1809750" cy="2857500"/>
              </a:xfrm>
              <a:prstGeom prst="roundRect">
                <a:avLst>
                  <a:gd name="adj" fmla="val 4211"/>
                </a:avLst>
              </a:prstGeom>
              <a:solidFill>
                <a:srgbClr val="FFFFFF"/>
              </a:solidFill>
              <a:ln w="9525">
                <a:solidFill>
                  <a:srgbClr val="D9D9D9"/>
                </a:solidFill>
              </a:ln>
            </p:spPr>
          </p:sp>
          <p:sp>
            <p:nvSpPr>
              <p:cNvPr id="58" name="TextBox 58"/>
              <p:cNvSpPr txBox="1"/>
              <p:nvPr/>
            </p:nvSpPr>
            <p:spPr>
              <a:xfrm>
                <a:off x="6392713" y="2098834"/>
                <a:ext cx="644824" cy="133350"/>
              </a:xfrm>
              <a:prstGeom prst="rect">
                <a:avLst/>
              </a:prstGeom>
              <a:noFill/>
              <a:ln>
                <a:noFill/>
              </a:ln>
            </p:spPr>
            <p:txBody>
              <a:bodyPr wrap="none" lIns="0" tIns="0" rIns="0" bIns="0" anchor="t" anchorCtr="0">
                <a:spAutoFit/>
              </a:bodyPr>
              <a:lstStyle/>
              <a:p>
                <a:pPr algn="ctr"/>
                <a:r>
                  <a:rPr lang="zh-CN" sz="680" b="1" dirty="0">
                    <a:solidFill>
                      <a:srgbClr val="B8250B"/>
                    </a:solidFill>
                    <a:latin typeface="+mn-lt"/>
                    <a:ea typeface="+mn-ea"/>
                    <a:cs typeface="+mn-cs"/>
                  </a:rPr>
                  <a:t>— 等级介绍 —​​</a:t>
                </a:r>
              </a:p>
            </p:txBody>
          </p:sp>
          <p:sp>
            <p:nvSpPr>
              <p:cNvPr id="59" name="TextBox 59"/>
              <p:cNvSpPr txBox="1"/>
              <p:nvPr/>
            </p:nvSpPr>
            <p:spPr>
              <a:xfrm>
                <a:off x="5900738" y="2252424"/>
                <a:ext cx="1599253" cy="97631"/>
              </a:xfrm>
              <a:prstGeom prst="rect">
                <a:avLst/>
              </a:prstGeom>
              <a:noFill/>
              <a:ln>
                <a:noFill/>
              </a:ln>
            </p:spPr>
            <p:txBody>
              <a:bodyPr wrap="none" lIns="0" tIns="0" rIns="0" bIns="0" anchor="t" anchorCtr="0">
                <a:spAutoFit/>
              </a:bodyPr>
              <a:lstStyle/>
              <a:p>
                <a:pPr algn="l"/>
                <a:r>
                  <a:rPr lang="zh-CN" sz="490" dirty="0">
                    <a:solidFill>
                      <a:srgbClr val="666666"/>
                    </a:solidFill>
                    <a:latin typeface="+mn-lt"/>
                    <a:ea typeface="+mn-ea"/>
                    <a:cs typeface="+mn-cs"/>
                  </a:rPr>
                  <a:t>中信红会员等级，按客户上月月日均金融资产值划分​​</a:t>
                </a:r>
              </a:p>
            </p:txBody>
          </p:sp>
          <p:sp>
            <p:nvSpPr>
              <p:cNvPr id="60" name="TextBox 60"/>
              <p:cNvSpPr txBox="1"/>
              <p:nvPr/>
            </p:nvSpPr>
            <p:spPr>
              <a:xfrm>
                <a:off x="5900738" y="2338149"/>
                <a:ext cx="1407958" cy="97631"/>
              </a:xfrm>
              <a:prstGeom prst="rect">
                <a:avLst/>
              </a:prstGeom>
              <a:noFill/>
              <a:ln>
                <a:noFill/>
              </a:ln>
            </p:spPr>
            <p:txBody>
              <a:bodyPr wrap="none" lIns="0" tIns="0" rIns="0" bIns="0" anchor="t" anchorCtr="0">
                <a:spAutoFit/>
              </a:bodyPr>
              <a:lstStyle/>
              <a:p>
                <a:pPr algn="l"/>
                <a:r>
                  <a:rPr lang="zh-CN" sz="490" dirty="0">
                    <a:solidFill>
                      <a:srgbClr val="666666"/>
                    </a:solidFill>
                    <a:latin typeface="+mn-lt"/>
                    <a:ea typeface="+mn-ea"/>
                    <a:cs typeface="+mn-cs"/>
                  </a:rPr>
                  <a:t>为14个等级，不同等级可享受对应等级权益。​​</a:t>
                </a:r>
              </a:p>
            </p:txBody>
          </p:sp>
          <p:sp>
            <p:nvSpPr>
              <p:cNvPr id="61" name="Rectangle 61"/>
              <p:cNvSpPr/>
              <p:nvPr/>
            </p:nvSpPr>
            <p:spPr>
              <a:xfrm>
                <a:off x="5867400" y="2438400"/>
                <a:ext cx="1695450" cy="123825"/>
              </a:xfrm>
              <a:prstGeom prst="rect">
                <a:avLst/>
              </a:prstGeom>
              <a:solidFill>
                <a:srgbClr val="FBE9D9"/>
              </a:solidFill>
              <a:ln>
                <a:noFill/>
              </a:ln>
            </p:spPr>
          </p:sp>
          <p:sp>
            <p:nvSpPr>
              <p:cNvPr id="62" name="TextBox 62"/>
              <p:cNvSpPr txBox="1"/>
              <p:nvPr/>
            </p:nvSpPr>
            <p:spPr>
              <a:xfrm>
                <a:off x="5910980" y="2481024"/>
                <a:ext cx="217641" cy="97631"/>
              </a:xfrm>
              <a:prstGeom prst="rect">
                <a:avLst/>
              </a:prstGeom>
              <a:noFill/>
              <a:ln>
                <a:noFill/>
              </a:ln>
            </p:spPr>
            <p:txBody>
              <a:bodyPr wrap="none" lIns="0" tIns="0" rIns="0" bIns="0" anchor="t" anchorCtr="0">
                <a:spAutoFit/>
              </a:bodyPr>
              <a:lstStyle/>
              <a:p>
                <a:pPr algn="ctr"/>
                <a:r>
                  <a:rPr lang="zh-CN" sz="490" b="1" dirty="0">
                    <a:solidFill>
                      <a:srgbClr val="8B2614"/>
                    </a:solidFill>
                    <a:latin typeface="+mn-lt"/>
                    <a:ea typeface="+mn-ea"/>
                    <a:cs typeface="+mn-cs"/>
                  </a:rPr>
                  <a:t>等级​​</a:t>
                </a:r>
              </a:p>
            </p:txBody>
          </p:sp>
          <p:sp>
            <p:nvSpPr>
              <p:cNvPr id="63" name="TextBox 63"/>
              <p:cNvSpPr txBox="1"/>
              <p:nvPr/>
            </p:nvSpPr>
            <p:spPr>
              <a:xfrm>
                <a:off x="6518306" y="2481024"/>
                <a:ext cx="679387" cy="97631"/>
              </a:xfrm>
              <a:prstGeom prst="rect">
                <a:avLst/>
              </a:prstGeom>
              <a:noFill/>
              <a:ln>
                <a:noFill/>
              </a:ln>
            </p:spPr>
            <p:txBody>
              <a:bodyPr wrap="none" lIns="0" tIns="0" rIns="0" bIns="0" anchor="t" anchorCtr="0">
                <a:spAutoFit/>
              </a:bodyPr>
              <a:lstStyle/>
              <a:p>
                <a:pPr algn="ctr"/>
                <a:r>
                  <a:rPr lang="zh-CN" sz="490" b="1" dirty="0">
                    <a:solidFill>
                      <a:srgbClr val="8B2614"/>
                    </a:solidFill>
                    <a:latin typeface="+mn-lt"/>
                    <a:ea typeface="+mn-ea"/>
                    <a:cs typeface="+mn-cs"/>
                  </a:rPr>
                  <a:t>上月月日均金融资产​​</a:t>
                </a:r>
              </a:p>
            </p:txBody>
          </p:sp>
          <p:sp>
            <p:nvSpPr>
              <p:cNvPr id="64" name="TextBox 64"/>
              <p:cNvSpPr txBox="1"/>
              <p:nvPr/>
            </p:nvSpPr>
            <p:spPr>
              <a:xfrm>
                <a:off x="5919203" y="2604849"/>
                <a:ext cx="201193" cy="97631"/>
              </a:xfrm>
              <a:prstGeom prst="rect">
                <a:avLst/>
              </a:prstGeom>
              <a:noFill/>
              <a:ln>
                <a:noFill/>
              </a:ln>
            </p:spPr>
            <p:txBody>
              <a:bodyPr wrap="none" lIns="0" tIns="0" rIns="0" bIns="0" anchor="t" anchorCtr="0">
                <a:spAutoFit/>
              </a:bodyPr>
              <a:lstStyle/>
              <a:p>
                <a:pPr algn="ctr"/>
                <a:r>
                  <a:rPr lang="en-US" sz="490" dirty="0">
                    <a:solidFill>
                      <a:srgbClr val="333333"/>
                    </a:solidFill>
                    <a:latin typeface="+mn-lt"/>
                    <a:ea typeface="+mn-ea"/>
                    <a:cs typeface="+mn-cs"/>
                  </a:rPr>
                  <a:t>R1​​​</a:t>
                </a:r>
              </a:p>
            </p:txBody>
          </p:sp>
          <p:sp>
            <p:nvSpPr>
              <p:cNvPr id="65" name="TextBox 65"/>
              <p:cNvSpPr txBox="1"/>
              <p:nvPr/>
            </p:nvSpPr>
            <p:spPr>
              <a:xfrm>
                <a:off x="6594330" y="2604849"/>
                <a:ext cx="527341"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0（不含）-100​​</a:t>
                </a:r>
              </a:p>
            </p:txBody>
          </p:sp>
          <p:sp>
            <p:nvSpPr>
              <p:cNvPr id="66" name="TextBox 66"/>
              <p:cNvSpPr txBox="1"/>
              <p:nvPr/>
            </p:nvSpPr>
            <p:spPr>
              <a:xfrm>
                <a:off x="5919203" y="2728674"/>
                <a:ext cx="201193" cy="97631"/>
              </a:xfrm>
              <a:prstGeom prst="rect">
                <a:avLst/>
              </a:prstGeom>
              <a:noFill/>
              <a:ln>
                <a:noFill/>
              </a:ln>
            </p:spPr>
            <p:txBody>
              <a:bodyPr wrap="none" lIns="0" tIns="0" rIns="0" bIns="0" anchor="t" anchorCtr="0">
                <a:spAutoFit/>
              </a:bodyPr>
              <a:lstStyle/>
              <a:p>
                <a:pPr algn="ctr"/>
                <a:r>
                  <a:rPr lang="en-US" sz="490" dirty="0">
                    <a:solidFill>
                      <a:srgbClr val="333333"/>
                    </a:solidFill>
                    <a:latin typeface="+mn-lt"/>
                    <a:ea typeface="+mn-ea"/>
                    <a:cs typeface="+mn-cs"/>
                  </a:rPr>
                  <a:t>R2​​​</a:t>
                </a:r>
              </a:p>
            </p:txBody>
          </p:sp>
          <p:sp>
            <p:nvSpPr>
              <p:cNvPr id="67" name="TextBox 67"/>
              <p:cNvSpPr txBox="1"/>
              <p:nvPr/>
            </p:nvSpPr>
            <p:spPr>
              <a:xfrm>
                <a:off x="6572891" y="2728674"/>
                <a:ext cx="570217"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100（含）-1000​​</a:t>
                </a:r>
              </a:p>
            </p:txBody>
          </p:sp>
          <p:sp>
            <p:nvSpPr>
              <p:cNvPr id="68" name="TextBox 68"/>
              <p:cNvSpPr txBox="1"/>
              <p:nvPr/>
            </p:nvSpPr>
            <p:spPr>
              <a:xfrm>
                <a:off x="5919203" y="2852499"/>
                <a:ext cx="201193" cy="97631"/>
              </a:xfrm>
              <a:prstGeom prst="rect">
                <a:avLst/>
              </a:prstGeom>
              <a:noFill/>
              <a:ln>
                <a:noFill/>
              </a:ln>
            </p:spPr>
            <p:txBody>
              <a:bodyPr wrap="none" lIns="0" tIns="0" rIns="0" bIns="0" anchor="t" anchorCtr="0">
                <a:spAutoFit/>
              </a:bodyPr>
              <a:lstStyle/>
              <a:p>
                <a:pPr algn="ctr"/>
                <a:r>
                  <a:rPr lang="en-US" sz="490" dirty="0">
                    <a:solidFill>
                      <a:srgbClr val="333333"/>
                    </a:solidFill>
                    <a:latin typeface="+mn-lt"/>
                    <a:ea typeface="+mn-ea"/>
                    <a:cs typeface="+mn-cs"/>
                  </a:rPr>
                  <a:t>R3​​​</a:t>
                </a:r>
              </a:p>
            </p:txBody>
          </p:sp>
          <p:sp>
            <p:nvSpPr>
              <p:cNvPr id="69" name="TextBox 69"/>
              <p:cNvSpPr txBox="1"/>
              <p:nvPr/>
            </p:nvSpPr>
            <p:spPr>
              <a:xfrm>
                <a:off x="6576190" y="2852499"/>
                <a:ext cx="563621"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1000（含）-1万​​</a:t>
                </a:r>
              </a:p>
            </p:txBody>
          </p:sp>
          <p:sp>
            <p:nvSpPr>
              <p:cNvPr id="70" name="TextBox 70"/>
              <p:cNvSpPr txBox="1"/>
              <p:nvPr/>
            </p:nvSpPr>
            <p:spPr>
              <a:xfrm>
                <a:off x="5919203" y="2976324"/>
                <a:ext cx="201193" cy="97631"/>
              </a:xfrm>
              <a:prstGeom prst="rect">
                <a:avLst/>
              </a:prstGeom>
              <a:noFill/>
              <a:ln>
                <a:noFill/>
              </a:ln>
            </p:spPr>
            <p:txBody>
              <a:bodyPr wrap="none" lIns="0" tIns="0" rIns="0" bIns="0" anchor="t" anchorCtr="0">
                <a:spAutoFit/>
              </a:bodyPr>
              <a:lstStyle/>
              <a:p>
                <a:pPr algn="ctr"/>
                <a:r>
                  <a:rPr lang="en-US" sz="490" dirty="0">
                    <a:solidFill>
                      <a:srgbClr val="333333"/>
                    </a:solidFill>
                    <a:latin typeface="+mn-lt"/>
                    <a:ea typeface="+mn-ea"/>
                    <a:cs typeface="+mn-cs"/>
                  </a:rPr>
                  <a:t>R4​​​</a:t>
                </a:r>
              </a:p>
            </p:txBody>
          </p:sp>
          <p:sp>
            <p:nvSpPr>
              <p:cNvPr id="71" name="TextBox 71"/>
              <p:cNvSpPr txBox="1"/>
              <p:nvPr/>
            </p:nvSpPr>
            <p:spPr>
              <a:xfrm>
                <a:off x="6597628" y="2976324"/>
                <a:ext cx="520744"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1万（含）-5万​​</a:t>
                </a:r>
              </a:p>
            </p:txBody>
          </p:sp>
          <p:sp>
            <p:nvSpPr>
              <p:cNvPr id="72" name="TextBox 72"/>
              <p:cNvSpPr txBox="1"/>
              <p:nvPr/>
            </p:nvSpPr>
            <p:spPr>
              <a:xfrm>
                <a:off x="5919203" y="3100149"/>
                <a:ext cx="201193" cy="97631"/>
              </a:xfrm>
              <a:prstGeom prst="rect">
                <a:avLst/>
              </a:prstGeom>
              <a:noFill/>
              <a:ln>
                <a:noFill/>
              </a:ln>
            </p:spPr>
            <p:txBody>
              <a:bodyPr wrap="none" lIns="0" tIns="0" rIns="0" bIns="0" anchor="t" anchorCtr="0">
                <a:spAutoFit/>
              </a:bodyPr>
              <a:lstStyle/>
              <a:p>
                <a:pPr algn="ctr"/>
                <a:r>
                  <a:rPr lang="en-US" sz="490" dirty="0">
                    <a:solidFill>
                      <a:srgbClr val="333333"/>
                    </a:solidFill>
                    <a:latin typeface="+mn-lt"/>
                    <a:ea typeface="+mn-ea"/>
                    <a:cs typeface="+mn-cs"/>
                  </a:rPr>
                  <a:t>R5​​​</a:t>
                </a:r>
              </a:p>
            </p:txBody>
          </p:sp>
          <p:sp>
            <p:nvSpPr>
              <p:cNvPr id="73" name="TextBox 73"/>
              <p:cNvSpPr txBox="1"/>
              <p:nvPr/>
            </p:nvSpPr>
            <p:spPr>
              <a:xfrm>
                <a:off x="6579488" y="3100149"/>
                <a:ext cx="557025"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5万（含）-20万​​</a:t>
                </a:r>
              </a:p>
            </p:txBody>
          </p:sp>
          <p:sp>
            <p:nvSpPr>
              <p:cNvPr id="74" name="TextBox 74"/>
              <p:cNvSpPr txBox="1"/>
              <p:nvPr/>
            </p:nvSpPr>
            <p:spPr>
              <a:xfrm>
                <a:off x="5919203" y="3223974"/>
                <a:ext cx="201193" cy="97631"/>
              </a:xfrm>
              <a:prstGeom prst="rect">
                <a:avLst/>
              </a:prstGeom>
              <a:noFill/>
              <a:ln>
                <a:noFill/>
              </a:ln>
            </p:spPr>
            <p:txBody>
              <a:bodyPr wrap="none" lIns="0" tIns="0" rIns="0" bIns="0" anchor="t" anchorCtr="0">
                <a:spAutoFit/>
              </a:bodyPr>
              <a:lstStyle/>
              <a:p>
                <a:pPr algn="ctr"/>
                <a:r>
                  <a:rPr lang="en-US" sz="490" dirty="0">
                    <a:solidFill>
                      <a:srgbClr val="333333"/>
                    </a:solidFill>
                    <a:latin typeface="+mn-lt"/>
                    <a:ea typeface="+mn-ea"/>
                    <a:cs typeface="+mn-cs"/>
                  </a:rPr>
                  <a:t>R6​​​</a:t>
                </a:r>
              </a:p>
            </p:txBody>
          </p:sp>
          <p:sp>
            <p:nvSpPr>
              <p:cNvPr id="75" name="TextBox 75"/>
              <p:cNvSpPr txBox="1"/>
              <p:nvPr/>
            </p:nvSpPr>
            <p:spPr>
              <a:xfrm>
                <a:off x="6561348" y="3223974"/>
                <a:ext cx="593305"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20万（含）-50万​​</a:t>
                </a:r>
              </a:p>
            </p:txBody>
          </p:sp>
          <p:sp>
            <p:nvSpPr>
              <p:cNvPr id="76" name="TextBox 76"/>
              <p:cNvSpPr txBox="1"/>
              <p:nvPr/>
            </p:nvSpPr>
            <p:spPr>
              <a:xfrm>
                <a:off x="5919203" y="3347799"/>
                <a:ext cx="201193" cy="97631"/>
              </a:xfrm>
              <a:prstGeom prst="rect">
                <a:avLst/>
              </a:prstGeom>
              <a:noFill/>
              <a:ln>
                <a:noFill/>
              </a:ln>
            </p:spPr>
            <p:txBody>
              <a:bodyPr wrap="none" lIns="0" tIns="0" rIns="0" bIns="0" anchor="t" anchorCtr="0">
                <a:spAutoFit/>
              </a:bodyPr>
              <a:lstStyle/>
              <a:p>
                <a:pPr algn="ctr"/>
                <a:r>
                  <a:rPr lang="en-US" sz="490" dirty="0">
                    <a:solidFill>
                      <a:srgbClr val="333333"/>
                    </a:solidFill>
                    <a:latin typeface="+mn-lt"/>
                    <a:ea typeface="+mn-ea"/>
                    <a:cs typeface="+mn-cs"/>
                  </a:rPr>
                  <a:t>R7​​​</a:t>
                </a:r>
              </a:p>
            </p:txBody>
          </p:sp>
          <p:sp>
            <p:nvSpPr>
              <p:cNvPr id="77" name="TextBox 77"/>
              <p:cNvSpPr txBox="1"/>
              <p:nvPr/>
            </p:nvSpPr>
            <p:spPr>
              <a:xfrm>
                <a:off x="6543208" y="3347799"/>
                <a:ext cx="629585"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50万（含）-100万​​</a:t>
                </a:r>
              </a:p>
            </p:txBody>
          </p:sp>
          <p:sp>
            <p:nvSpPr>
              <p:cNvPr id="78" name="TextBox 78"/>
              <p:cNvSpPr txBox="1"/>
              <p:nvPr/>
            </p:nvSpPr>
            <p:spPr>
              <a:xfrm>
                <a:off x="5919203" y="3471624"/>
                <a:ext cx="201193" cy="97631"/>
              </a:xfrm>
              <a:prstGeom prst="rect">
                <a:avLst/>
              </a:prstGeom>
              <a:noFill/>
              <a:ln>
                <a:noFill/>
              </a:ln>
            </p:spPr>
            <p:txBody>
              <a:bodyPr wrap="none" lIns="0" tIns="0" rIns="0" bIns="0" anchor="t" anchorCtr="0">
                <a:spAutoFit/>
              </a:bodyPr>
              <a:lstStyle/>
              <a:p>
                <a:pPr algn="ctr"/>
                <a:r>
                  <a:rPr lang="en-US" sz="490" dirty="0">
                    <a:solidFill>
                      <a:srgbClr val="333333"/>
                    </a:solidFill>
                    <a:latin typeface="+mn-lt"/>
                    <a:ea typeface="+mn-ea"/>
                    <a:cs typeface="+mn-cs"/>
                  </a:rPr>
                  <a:t>R8​​​</a:t>
                </a:r>
              </a:p>
            </p:txBody>
          </p:sp>
          <p:sp>
            <p:nvSpPr>
              <p:cNvPr id="79" name="TextBox 79"/>
              <p:cNvSpPr txBox="1"/>
              <p:nvPr/>
            </p:nvSpPr>
            <p:spPr>
              <a:xfrm>
                <a:off x="6525068" y="3471624"/>
                <a:ext cx="665865"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100万（含）-300万​​</a:t>
                </a:r>
              </a:p>
            </p:txBody>
          </p:sp>
          <p:sp>
            <p:nvSpPr>
              <p:cNvPr id="80" name="TextBox 80"/>
              <p:cNvSpPr txBox="1"/>
              <p:nvPr/>
            </p:nvSpPr>
            <p:spPr>
              <a:xfrm>
                <a:off x="5919203" y="3595449"/>
                <a:ext cx="201193" cy="97631"/>
              </a:xfrm>
              <a:prstGeom prst="rect">
                <a:avLst/>
              </a:prstGeom>
              <a:noFill/>
              <a:ln>
                <a:noFill/>
              </a:ln>
            </p:spPr>
            <p:txBody>
              <a:bodyPr wrap="none" lIns="0" tIns="0" rIns="0" bIns="0" anchor="t" anchorCtr="0">
                <a:spAutoFit/>
              </a:bodyPr>
              <a:lstStyle/>
              <a:p>
                <a:pPr algn="ctr"/>
                <a:r>
                  <a:rPr lang="en-US" sz="490" dirty="0">
                    <a:solidFill>
                      <a:srgbClr val="333333"/>
                    </a:solidFill>
                    <a:latin typeface="+mn-lt"/>
                    <a:ea typeface="+mn-ea"/>
                    <a:cs typeface="+mn-cs"/>
                  </a:rPr>
                  <a:t>R9​​​</a:t>
                </a:r>
              </a:p>
            </p:txBody>
          </p:sp>
          <p:sp>
            <p:nvSpPr>
              <p:cNvPr id="81" name="TextBox 81"/>
              <p:cNvSpPr txBox="1"/>
              <p:nvPr/>
            </p:nvSpPr>
            <p:spPr>
              <a:xfrm>
                <a:off x="6525068" y="3595449"/>
                <a:ext cx="665865"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300万（含）-600万​​</a:t>
                </a:r>
              </a:p>
            </p:txBody>
          </p:sp>
          <p:sp>
            <p:nvSpPr>
              <p:cNvPr id="82" name="TextBox 82"/>
              <p:cNvSpPr txBox="1"/>
              <p:nvPr/>
            </p:nvSpPr>
            <p:spPr>
              <a:xfrm>
                <a:off x="5906197" y="3719274"/>
                <a:ext cx="227206"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a:t>
                </a:r>
              </a:p>
            </p:txBody>
          </p:sp>
          <p:sp>
            <p:nvSpPr>
              <p:cNvPr id="83" name="TextBox 83"/>
              <p:cNvSpPr txBox="1"/>
              <p:nvPr/>
            </p:nvSpPr>
            <p:spPr>
              <a:xfrm>
                <a:off x="6744397" y="3719274"/>
                <a:ext cx="227206" cy="97631"/>
              </a:xfrm>
              <a:prstGeom prst="rect">
                <a:avLst/>
              </a:prstGeom>
              <a:noFill/>
              <a:ln>
                <a:noFill/>
              </a:ln>
            </p:spPr>
            <p:txBody>
              <a:bodyPr wrap="none" lIns="0" tIns="0" rIns="0" bIns="0" anchor="t" anchorCtr="0">
                <a:spAutoFit/>
              </a:bodyPr>
              <a:lstStyle/>
              <a:p>
                <a:pPr algn="ctr"/>
                <a:r>
                  <a:rPr lang="zh-CN" sz="490" dirty="0">
                    <a:solidFill>
                      <a:srgbClr val="333333"/>
                    </a:solidFill>
                    <a:latin typeface="+mn-lt"/>
                    <a:ea typeface="+mn-ea"/>
                    <a:cs typeface="+mn-cs"/>
                  </a:rPr>
                  <a:t>……​​​​</a:t>
                </a:r>
              </a:p>
            </p:txBody>
          </p:sp>
          <p:sp>
            <p:nvSpPr>
              <p:cNvPr id="84" name="Line 84"/>
              <p:cNvSpPr/>
              <p:nvPr/>
            </p:nvSpPr>
            <p:spPr>
              <a:xfrm>
                <a:off x="5867400" y="2562225"/>
                <a:ext cx="1695450" cy="9525"/>
              </a:xfrm>
              <a:custGeom>
                <a:avLst/>
                <a:gdLst/>
                <a:ahLst/>
                <a:cxnLst/>
                <a:rect l="l" t="t" r="r" b="b"/>
                <a:pathLst>
                  <a:path w="1695450" h="9525">
                    <a:moveTo>
                      <a:pt x="0" y="0"/>
                    </a:moveTo>
                    <a:lnTo>
                      <a:pt x="1695450" y="0"/>
                    </a:lnTo>
                  </a:path>
                </a:pathLst>
              </a:custGeom>
              <a:noFill/>
              <a:ln w="4762">
                <a:solidFill>
                  <a:srgbClr val="EEE3D0"/>
                </a:solidFill>
              </a:ln>
            </p:spPr>
          </p:sp>
          <p:sp>
            <p:nvSpPr>
              <p:cNvPr id="85" name="Line 85"/>
              <p:cNvSpPr/>
              <p:nvPr/>
            </p:nvSpPr>
            <p:spPr>
              <a:xfrm>
                <a:off x="5867400" y="3057525"/>
                <a:ext cx="1695450" cy="9525"/>
              </a:xfrm>
              <a:custGeom>
                <a:avLst/>
                <a:gdLst/>
                <a:ahLst/>
                <a:cxnLst/>
                <a:rect l="l" t="t" r="r" b="b"/>
                <a:pathLst>
                  <a:path w="1695450" h="9525">
                    <a:moveTo>
                      <a:pt x="0" y="0"/>
                    </a:moveTo>
                    <a:lnTo>
                      <a:pt x="1695450" y="0"/>
                    </a:lnTo>
                  </a:path>
                </a:pathLst>
              </a:custGeom>
              <a:noFill/>
              <a:ln w="4762">
                <a:solidFill>
                  <a:srgbClr val="EEE3D0"/>
                </a:solidFill>
              </a:ln>
            </p:spPr>
          </p:sp>
          <p:sp>
            <p:nvSpPr>
              <p:cNvPr id="86" name="Line 86"/>
              <p:cNvSpPr/>
              <p:nvPr/>
            </p:nvSpPr>
            <p:spPr>
              <a:xfrm>
                <a:off x="5867400" y="3552825"/>
                <a:ext cx="1695450" cy="9525"/>
              </a:xfrm>
              <a:custGeom>
                <a:avLst/>
                <a:gdLst/>
                <a:ahLst/>
                <a:cxnLst/>
                <a:rect l="l" t="t" r="r" b="b"/>
                <a:pathLst>
                  <a:path w="1695450" h="9525">
                    <a:moveTo>
                      <a:pt x="0" y="0"/>
                    </a:moveTo>
                    <a:lnTo>
                      <a:pt x="1695450" y="0"/>
                    </a:lnTo>
                  </a:path>
                </a:pathLst>
              </a:custGeom>
              <a:noFill/>
              <a:ln w="4762">
                <a:solidFill>
                  <a:srgbClr val="EEE3D0"/>
                </a:solidFill>
              </a:ln>
            </p:spPr>
          </p:sp>
          <p:sp>
            <p:nvSpPr>
              <p:cNvPr id="87" name="Rectangle 87"/>
              <p:cNvSpPr/>
              <p:nvPr/>
            </p:nvSpPr>
            <p:spPr>
              <a:xfrm>
                <a:off x="5867400" y="2571750"/>
                <a:ext cx="1695450" cy="485775"/>
              </a:xfrm>
              <a:prstGeom prst="rect">
                <a:avLst/>
              </a:prstGeom>
              <a:noFill/>
              <a:ln w="14288">
                <a:solidFill>
                  <a:srgbClr val="E74726"/>
                </a:solidFill>
              </a:ln>
            </p:spPr>
          </p:sp>
          <p:grpSp>
            <p:nvGrpSpPr>
              <p:cNvPr id="90" name="Group 90"/>
              <p:cNvGrpSpPr/>
              <p:nvPr/>
            </p:nvGrpSpPr>
            <p:grpSpPr>
              <a:xfrm rot="2280000">
                <a:off x="6903573" y="2656768"/>
                <a:ext cx="857250" cy="178117"/>
                <a:chOff x="6905625" y="2657475"/>
                <a:chExt cx="857250" cy="178117"/>
              </a:xfrm>
            </p:grpSpPr>
            <p:sp>
              <p:nvSpPr>
                <p:cNvPr id="88" name="Rectangle 88"/>
                <p:cNvSpPr/>
                <p:nvPr/>
              </p:nvSpPr>
              <p:spPr>
                <a:xfrm>
                  <a:off x="6905625" y="2657475"/>
                  <a:ext cx="857250" cy="171450"/>
                </a:xfrm>
                <a:prstGeom prst="roundRect">
                  <a:avLst>
                    <a:gd name="adj" fmla="val 16667"/>
                  </a:avLst>
                </a:prstGeom>
                <a:solidFill>
                  <a:srgbClr val="E74726"/>
                </a:solidFill>
                <a:ln>
                  <a:noFill/>
                </a:ln>
              </p:spPr>
            </p:sp>
            <p:sp>
              <p:nvSpPr>
                <p:cNvPr id="89" name="TextBox 89"/>
                <p:cNvSpPr txBox="1"/>
                <p:nvPr/>
              </p:nvSpPr>
              <p:spPr>
                <a:xfrm>
                  <a:off x="7006400" y="2716530"/>
                  <a:ext cx="65570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大众长尾客户分层</a:t>
                  </a:r>
                </a:p>
              </p:txBody>
            </p:sp>
          </p:grpSp>
          <p:sp>
            <p:nvSpPr>
              <p:cNvPr id="91" name="Rectangle 91"/>
              <p:cNvSpPr/>
              <p:nvPr/>
            </p:nvSpPr>
            <p:spPr>
              <a:xfrm>
                <a:off x="5905500" y="3981450"/>
                <a:ext cx="1619250" cy="28575"/>
              </a:xfrm>
              <a:prstGeom prst="roundRect">
                <a:avLst>
                  <a:gd name="adj" fmla="val 50000"/>
                </a:avLst>
              </a:prstGeom>
              <a:solidFill>
                <a:srgbClr val="E5E5E5"/>
              </a:solidFill>
              <a:ln>
                <a:noFill/>
              </a:ln>
            </p:spPr>
          </p:sp>
          <p:sp>
            <p:nvSpPr>
              <p:cNvPr id="92" name="Rectangle 92"/>
              <p:cNvSpPr/>
              <p:nvPr/>
            </p:nvSpPr>
            <p:spPr>
              <a:xfrm>
                <a:off x="5905500" y="4057650"/>
                <a:ext cx="1428750" cy="28575"/>
              </a:xfrm>
              <a:prstGeom prst="roundRect">
                <a:avLst>
                  <a:gd name="adj" fmla="val 50000"/>
                </a:avLst>
              </a:prstGeom>
              <a:solidFill>
                <a:srgbClr val="E5E5E5"/>
              </a:solidFill>
              <a:ln>
                <a:noFill/>
              </a:ln>
            </p:spPr>
          </p:sp>
          <p:sp>
            <p:nvSpPr>
              <p:cNvPr id="93" name="Rectangle 93"/>
              <p:cNvSpPr/>
              <p:nvPr/>
            </p:nvSpPr>
            <p:spPr>
              <a:xfrm>
                <a:off x="5905500" y="4133850"/>
                <a:ext cx="1524000" cy="28575"/>
              </a:xfrm>
              <a:prstGeom prst="roundRect">
                <a:avLst>
                  <a:gd name="adj" fmla="val 50000"/>
                </a:avLst>
              </a:prstGeom>
              <a:solidFill>
                <a:srgbClr val="E5E5E5"/>
              </a:solidFill>
              <a:ln>
                <a:noFill/>
              </a:ln>
            </p:spPr>
          </p:sp>
        </p:grpSp>
        <p:sp>
          <p:nvSpPr>
            <p:cNvPr id="95" name="TextBox 95"/>
            <p:cNvSpPr txBox="1"/>
            <p:nvPr/>
          </p:nvSpPr>
          <p:spPr>
            <a:xfrm>
              <a:off x="6215062" y="5030152"/>
              <a:ext cx="1000125"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中信红会员等级</a:t>
              </a:r>
            </a:p>
          </p:txBody>
        </p:sp>
        <p:grpSp>
          <p:nvGrpSpPr>
            <p:cNvPr id="146" name="shot-r1r4"/>
            <p:cNvGrpSpPr/>
            <p:nvPr/>
          </p:nvGrpSpPr>
          <p:grpSpPr>
            <a:xfrm>
              <a:off x="7810500" y="1981200"/>
              <a:ext cx="1988677" cy="2857500"/>
              <a:chOff x="7810500" y="1981200"/>
              <a:chExt cx="1988677" cy="2857500"/>
            </a:xfrm>
          </p:grpSpPr>
          <p:sp>
            <p:nvSpPr>
              <p:cNvPr id="96" name="Rectangle 96"/>
              <p:cNvSpPr/>
              <p:nvPr/>
            </p:nvSpPr>
            <p:spPr>
              <a:xfrm>
                <a:off x="7810500" y="1981200"/>
                <a:ext cx="1905000" cy="2857500"/>
              </a:xfrm>
              <a:prstGeom prst="roundRect">
                <a:avLst>
                  <a:gd name="adj" fmla="val 4000"/>
                </a:avLst>
              </a:prstGeom>
              <a:solidFill>
                <a:srgbClr val="FFFFFF"/>
              </a:solidFill>
              <a:ln w="9525">
                <a:solidFill>
                  <a:srgbClr val="D9D9D9"/>
                </a:solidFill>
              </a:ln>
            </p:spPr>
          </p:sp>
          <p:sp>
            <p:nvSpPr>
              <p:cNvPr id="97" name="Rectangle 97"/>
              <p:cNvSpPr/>
              <p:nvPr/>
            </p:nvSpPr>
            <p:spPr>
              <a:xfrm>
                <a:off x="7810500" y="1981200"/>
                <a:ext cx="1905000" cy="247650"/>
              </a:xfrm>
              <a:prstGeom prst="roundRect">
                <a:avLst>
                  <a:gd name="adj" fmla="val 23077"/>
                </a:avLst>
              </a:prstGeom>
              <a:solidFill>
                <a:srgbClr val="E62B00"/>
              </a:solidFill>
              <a:ln>
                <a:noFill/>
              </a:ln>
            </p:spPr>
          </p:sp>
          <p:sp>
            <p:nvSpPr>
              <p:cNvPr id="98" name="TextBox 98"/>
              <p:cNvSpPr txBox="1"/>
              <p:nvPr/>
            </p:nvSpPr>
            <p:spPr>
              <a:xfrm>
                <a:off x="7881938" y="2078355"/>
                <a:ext cx="332613" cy="119062"/>
              </a:xfrm>
              <a:prstGeom prst="rect">
                <a:avLst/>
              </a:prstGeom>
              <a:noFill/>
              <a:ln>
                <a:noFill/>
              </a:ln>
            </p:spPr>
            <p:txBody>
              <a:bodyPr wrap="none" lIns="0" tIns="0" rIns="0" bIns="0" anchor="t" anchorCtr="0">
                <a:spAutoFit/>
              </a:bodyPr>
              <a:lstStyle/>
              <a:p>
                <a:pPr algn="l"/>
                <a:r>
                  <a:rPr lang="zh-CN" sz="600" b="1" dirty="0">
                    <a:solidFill>
                      <a:srgbClr val="FFFFFF"/>
                    </a:solidFill>
                    <a:latin typeface="+mn-lt"/>
                    <a:ea typeface="+mn-ea"/>
                    <a:cs typeface="+mn-cs"/>
                  </a:rPr>
                  <a:t>等级权益</a:t>
                </a:r>
              </a:p>
            </p:txBody>
          </p:sp>
          <p:sp>
            <p:nvSpPr>
              <p:cNvPr id="99" name="TextBox 99"/>
              <p:cNvSpPr txBox="1"/>
              <p:nvPr/>
            </p:nvSpPr>
            <p:spPr>
              <a:xfrm>
                <a:off x="8516790" y="2078355"/>
                <a:ext cx="206670"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R1​​</a:t>
                </a:r>
              </a:p>
            </p:txBody>
          </p:sp>
          <p:sp>
            <p:nvSpPr>
              <p:cNvPr id="100" name="TextBox 100"/>
              <p:cNvSpPr txBox="1"/>
              <p:nvPr/>
            </p:nvSpPr>
            <p:spPr>
              <a:xfrm>
                <a:off x="8850165" y="2078355"/>
                <a:ext cx="206670"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R2​​</a:t>
                </a:r>
              </a:p>
            </p:txBody>
          </p:sp>
          <p:sp>
            <p:nvSpPr>
              <p:cNvPr id="101" name="TextBox 101"/>
              <p:cNvSpPr txBox="1"/>
              <p:nvPr/>
            </p:nvSpPr>
            <p:spPr>
              <a:xfrm>
                <a:off x="9183540" y="2078355"/>
                <a:ext cx="206670"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R3​​</a:t>
                </a:r>
              </a:p>
            </p:txBody>
          </p:sp>
          <p:sp>
            <p:nvSpPr>
              <p:cNvPr id="102" name="TextBox 102"/>
              <p:cNvSpPr txBox="1"/>
              <p:nvPr/>
            </p:nvSpPr>
            <p:spPr>
              <a:xfrm>
                <a:off x="9516915" y="2078355"/>
                <a:ext cx="206670"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R4​​</a:t>
                </a:r>
              </a:p>
            </p:txBody>
          </p:sp>
          <p:sp>
            <p:nvSpPr>
              <p:cNvPr id="103" name="Rectangle 103"/>
              <p:cNvSpPr/>
              <p:nvPr/>
            </p:nvSpPr>
            <p:spPr>
              <a:xfrm>
                <a:off x="7820025" y="2228850"/>
                <a:ext cx="1885950" cy="133350"/>
              </a:xfrm>
              <a:prstGeom prst="rect">
                <a:avLst/>
              </a:prstGeom>
              <a:solidFill>
                <a:srgbClr val="FDECEC"/>
              </a:solidFill>
              <a:ln>
                <a:noFill/>
              </a:ln>
            </p:spPr>
          </p:sp>
          <p:sp>
            <p:nvSpPr>
              <p:cNvPr id="104" name="TextBox 104"/>
              <p:cNvSpPr txBox="1"/>
              <p:nvPr/>
            </p:nvSpPr>
            <p:spPr>
              <a:xfrm>
                <a:off x="7881938" y="2272903"/>
                <a:ext cx="398146" cy="111919"/>
              </a:xfrm>
              <a:prstGeom prst="rect">
                <a:avLst/>
              </a:prstGeom>
              <a:noFill/>
              <a:ln>
                <a:noFill/>
              </a:ln>
            </p:spPr>
            <p:txBody>
              <a:bodyPr wrap="none" lIns="0" tIns="0" rIns="0" bIns="0" anchor="t" anchorCtr="0">
                <a:spAutoFit/>
              </a:bodyPr>
              <a:lstStyle/>
              <a:p>
                <a:pPr algn="l"/>
                <a:r>
                  <a:rPr lang="zh-CN" sz="560" b="1" dirty="0">
                    <a:solidFill>
                      <a:srgbClr val="C93D25"/>
                    </a:solidFill>
                    <a:latin typeface="+mn-lt"/>
                    <a:ea typeface="+mn-ea"/>
                    <a:cs typeface="+mn-cs"/>
                  </a:rPr>
                  <a:t>金融礼遇​​</a:t>
                </a:r>
              </a:p>
            </p:txBody>
          </p:sp>
          <p:sp>
            <p:nvSpPr>
              <p:cNvPr id="105" name="TextBox 105"/>
              <p:cNvSpPr txBox="1"/>
              <p:nvPr/>
            </p:nvSpPr>
            <p:spPr>
              <a:xfrm>
                <a:off x="7881938" y="2448401"/>
                <a:ext cx="506542" cy="104775"/>
              </a:xfrm>
              <a:prstGeom prst="rect">
                <a:avLst/>
              </a:prstGeom>
              <a:noFill/>
              <a:ln>
                <a:noFill/>
              </a:ln>
            </p:spPr>
            <p:txBody>
              <a:bodyPr wrap="none" lIns="0" tIns="0" rIns="0" bIns="0" anchor="t" anchorCtr="0">
                <a:spAutoFit/>
              </a:bodyPr>
              <a:lstStyle/>
              <a:p>
                <a:pPr algn="l"/>
                <a:r>
                  <a:rPr lang="zh-CN" sz="520" dirty="0">
                    <a:solidFill>
                      <a:srgbClr val="333333"/>
                    </a:solidFill>
                    <a:latin typeface="+mn-lt"/>
                    <a:ea typeface="+mn-ea"/>
                    <a:cs typeface="+mn-cs"/>
                  </a:rPr>
                  <a:t>手续费率优惠​​</a:t>
                </a:r>
              </a:p>
            </p:txBody>
          </p:sp>
          <p:sp>
            <p:nvSpPr>
              <p:cNvPr id="106" name="TextBox 106"/>
              <p:cNvSpPr txBox="1"/>
              <p:nvPr/>
            </p:nvSpPr>
            <p:spPr>
              <a:xfrm>
                <a:off x="8681923" y="2418398"/>
                <a:ext cx="867004" cy="90488"/>
              </a:xfrm>
              <a:prstGeom prst="rect">
                <a:avLst/>
              </a:prstGeom>
              <a:noFill/>
              <a:ln>
                <a:noFill/>
              </a:ln>
            </p:spPr>
            <p:txBody>
              <a:bodyPr wrap="none" lIns="0" tIns="0" rIns="0" bIns="0" anchor="t" anchorCtr="0">
                <a:spAutoFit/>
              </a:bodyPr>
              <a:lstStyle/>
              <a:p>
                <a:pPr algn="ctr"/>
                <a:r>
                  <a:rPr lang="zh-CN" sz="450" dirty="0">
                    <a:solidFill>
                      <a:srgbClr val="C93D25"/>
                    </a:solidFill>
                    <a:latin typeface="+mn-lt"/>
                    <a:ea typeface="+mn-ea"/>
                    <a:cs typeface="+mn-cs"/>
                  </a:rPr>
                  <a:t>本行ATM存取款境内全免费​​​​</a:t>
                </a:r>
              </a:p>
            </p:txBody>
          </p:sp>
          <p:sp>
            <p:nvSpPr>
              <p:cNvPr id="107" name="TextBox 107"/>
              <p:cNvSpPr txBox="1"/>
              <p:nvPr/>
            </p:nvSpPr>
            <p:spPr>
              <a:xfrm>
                <a:off x="8757790" y="2504122"/>
                <a:ext cx="715270" cy="90488"/>
              </a:xfrm>
              <a:prstGeom prst="rect">
                <a:avLst/>
              </a:prstGeom>
              <a:noFill/>
              <a:ln>
                <a:noFill/>
              </a:ln>
            </p:spPr>
            <p:txBody>
              <a:bodyPr wrap="none" lIns="0" tIns="0" rIns="0" bIns="0" anchor="t" anchorCtr="0">
                <a:spAutoFit/>
              </a:bodyPr>
              <a:lstStyle/>
              <a:p>
                <a:pPr algn="ctr"/>
                <a:r>
                  <a:rPr lang="zh-CN" sz="450" dirty="0">
                    <a:solidFill>
                      <a:srgbClr val="C93D25"/>
                    </a:solidFill>
                    <a:latin typeface="+mn-lt"/>
                    <a:ea typeface="+mn-ea"/>
                    <a:cs typeface="+mn-cs"/>
                  </a:rPr>
                  <a:t>跨行境内取款前2笔免费​​</a:t>
                </a:r>
              </a:p>
            </p:txBody>
          </p:sp>
          <p:sp>
            <p:nvSpPr>
              <p:cNvPr id="108" name="Line 108"/>
              <p:cNvSpPr/>
              <p:nvPr/>
            </p:nvSpPr>
            <p:spPr>
              <a:xfrm>
                <a:off x="7820025" y="2590800"/>
                <a:ext cx="1885950" cy="9525"/>
              </a:xfrm>
              <a:custGeom>
                <a:avLst/>
                <a:gdLst/>
                <a:ahLst/>
                <a:cxnLst/>
                <a:rect l="l" t="t" r="r" b="b"/>
                <a:pathLst>
                  <a:path w="1885950" h="9525">
                    <a:moveTo>
                      <a:pt x="0" y="0"/>
                    </a:moveTo>
                    <a:lnTo>
                      <a:pt x="1885950" y="0"/>
                    </a:lnTo>
                  </a:path>
                </a:pathLst>
              </a:custGeom>
              <a:noFill/>
              <a:ln w="4762">
                <a:solidFill>
                  <a:srgbClr val="F3D6D6"/>
                </a:solidFill>
              </a:ln>
            </p:spPr>
          </p:sp>
          <p:sp>
            <p:nvSpPr>
              <p:cNvPr id="109" name="TextBox 109"/>
              <p:cNvSpPr txBox="1"/>
              <p:nvPr/>
            </p:nvSpPr>
            <p:spPr>
              <a:xfrm>
                <a:off x="7881938" y="2657951"/>
                <a:ext cx="436540" cy="104775"/>
              </a:xfrm>
              <a:prstGeom prst="rect">
                <a:avLst/>
              </a:prstGeom>
              <a:noFill/>
              <a:ln>
                <a:noFill/>
              </a:ln>
            </p:spPr>
            <p:txBody>
              <a:bodyPr wrap="none" lIns="0" tIns="0" rIns="0" bIns="0" anchor="t" anchorCtr="0">
                <a:spAutoFit/>
              </a:bodyPr>
              <a:lstStyle/>
              <a:p>
                <a:pPr algn="l"/>
                <a:r>
                  <a:rPr lang="zh-CN" sz="520" dirty="0">
                    <a:solidFill>
                      <a:srgbClr val="333333"/>
                    </a:solidFill>
                    <a:latin typeface="+mn-lt"/>
                    <a:ea typeface="+mn-ea"/>
                    <a:cs typeface="+mn-cs"/>
                  </a:rPr>
                  <a:t>资产负债表​​</a:t>
                </a:r>
              </a:p>
            </p:txBody>
          </p:sp>
          <p:sp>
            <p:nvSpPr>
              <p:cNvPr id="110" name="TextBox 110"/>
              <p:cNvSpPr txBox="1"/>
              <p:nvPr/>
            </p:nvSpPr>
            <p:spPr>
              <a:xfrm>
                <a:off x="8540871" y="26512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11" name="TextBox 111"/>
              <p:cNvSpPr txBox="1"/>
              <p:nvPr/>
            </p:nvSpPr>
            <p:spPr>
              <a:xfrm>
                <a:off x="8874246" y="26512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12" name="TextBox 112"/>
              <p:cNvSpPr txBox="1"/>
              <p:nvPr/>
            </p:nvSpPr>
            <p:spPr>
              <a:xfrm>
                <a:off x="9207621" y="26512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13" name="TextBox 113"/>
              <p:cNvSpPr txBox="1"/>
              <p:nvPr/>
            </p:nvSpPr>
            <p:spPr>
              <a:xfrm>
                <a:off x="9540996" y="26512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14" name="Line 114"/>
              <p:cNvSpPr/>
              <p:nvPr/>
            </p:nvSpPr>
            <p:spPr>
              <a:xfrm>
                <a:off x="7820025" y="2762250"/>
                <a:ext cx="1885950" cy="9525"/>
              </a:xfrm>
              <a:custGeom>
                <a:avLst/>
                <a:gdLst/>
                <a:ahLst/>
                <a:cxnLst/>
                <a:rect l="l" t="t" r="r" b="b"/>
                <a:pathLst>
                  <a:path w="1885950" h="9525">
                    <a:moveTo>
                      <a:pt x="0" y="0"/>
                    </a:moveTo>
                    <a:lnTo>
                      <a:pt x="1885950" y="0"/>
                    </a:lnTo>
                  </a:path>
                </a:pathLst>
              </a:custGeom>
              <a:noFill/>
              <a:ln w="4762">
                <a:solidFill>
                  <a:srgbClr val="F3D6D6"/>
                </a:solidFill>
              </a:ln>
            </p:spPr>
          </p:sp>
          <p:sp>
            <p:nvSpPr>
              <p:cNvPr id="115" name="TextBox 115"/>
              <p:cNvSpPr txBox="1"/>
              <p:nvPr/>
            </p:nvSpPr>
            <p:spPr>
              <a:xfrm>
                <a:off x="7881938" y="2829401"/>
                <a:ext cx="366537" cy="104775"/>
              </a:xfrm>
              <a:prstGeom prst="rect">
                <a:avLst/>
              </a:prstGeom>
              <a:noFill/>
              <a:ln>
                <a:noFill/>
              </a:ln>
            </p:spPr>
            <p:txBody>
              <a:bodyPr wrap="none" lIns="0" tIns="0" rIns="0" bIns="0" anchor="t" anchorCtr="0">
                <a:spAutoFit/>
              </a:bodyPr>
              <a:lstStyle/>
              <a:p>
                <a:pPr algn="l"/>
                <a:r>
                  <a:rPr lang="zh-CN" sz="520" dirty="0">
                    <a:solidFill>
                      <a:srgbClr val="333333"/>
                    </a:solidFill>
                    <a:latin typeface="+mn-lt"/>
                    <a:ea typeface="+mn-ea"/>
                    <a:cs typeface="+mn-cs"/>
                  </a:rPr>
                  <a:t>月度账单​​</a:t>
                </a:r>
              </a:p>
            </p:txBody>
          </p:sp>
          <p:sp>
            <p:nvSpPr>
              <p:cNvPr id="116" name="TextBox 116"/>
              <p:cNvSpPr txBox="1"/>
              <p:nvPr/>
            </p:nvSpPr>
            <p:spPr>
              <a:xfrm>
                <a:off x="8540871" y="282273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17" name="TextBox 117"/>
              <p:cNvSpPr txBox="1"/>
              <p:nvPr/>
            </p:nvSpPr>
            <p:spPr>
              <a:xfrm>
                <a:off x="8874246" y="282273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18" name="TextBox 118"/>
              <p:cNvSpPr txBox="1"/>
              <p:nvPr/>
            </p:nvSpPr>
            <p:spPr>
              <a:xfrm>
                <a:off x="9207621" y="282273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19" name="TextBox 119"/>
              <p:cNvSpPr txBox="1"/>
              <p:nvPr/>
            </p:nvSpPr>
            <p:spPr>
              <a:xfrm>
                <a:off x="9540996" y="282273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20" name="Line 120"/>
              <p:cNvSpPr/>
              <p:nvPr/>
            </p:nvSpPr>
            <p:spPr>
              <a:xfrm>
                <a:off x="7820025" y="2933700"/>
                <a:ext cx="1885950" cy="9525"/>
              </a:xfrm>
              <a:custGeom>
                <a:avLst/>
                <a:gdLst/>
                <a:ahLst/>
                <a:cxnLst/>
                <a:rect l="l" t="t" r="r" b="b"/>
                <a:pathLst>
                  <a:path w="1885950" h="9525">
                    <a:moveTo>
                      <a:pt x="0" y="0"/>
                    </a:moveTo>
                    <a:lnTo>
                      <a:pt x="1885950" y="0"/>
                    </a:lnTo>
                  </a:path>
                </a:pathLst>
              </a:custGeom>
              <a:noFill/>
              <a:ln w="4762">
                <a:solidFill>
                  <a:srgbClr val="F3D6D6"/>
                </a:solidFill>
              </a:ln>
            </p:spPr>
          </p:sp>
          <p:sp>
            <p:nvSpPr>
              <p:cNvPr id="121" name="TextBox 121"/>
              <p:cNvSpPr txBox="1"/>
              <p:nvPr/>
            </p:nvSpPr>
            <p:spPr>
              <a:xfrm>
                <a:off x="7881938" y="3000851"/>
                <a:ext cx="506542" cy="104775"/>
              </a:xfrm>
              <a:prstGeom prst="rect">
                <a:avLst/>
              </a:prstGeom>
              <a:noFill/>
              <a:ln>
                <a:noFill/>
              </a:ln>
            </p:spPr>
            <p:txBody>
              <a:bodyPr wrap="none" lIns="0" tIns="0" rIns="0" bIns="0" anchor="t" anchorCtr="0">
                <a:spAutoFit/>
              </a:bodyPr>
              <a:lstStyle/>
              <a:p>
                <a:pPr algn="l"/>
                <a:r>
                  <a:rPr lang="zh-CN" sz="520" dirty="0">
                    <a:solidFill>
                      <a:srgbClr val="333333"/>
                    </a:solidFill>
                    <a:latin typeface="+mn-lt"/>
                    <a:ea typeface="+mn-ea"/>
                    <a:cs typeface="+mn-cs"/>
                  </a:rPr>
                  <a:t>财富投教课程​​</a:t>
                </a:r>
              </a:p>
            </p:txBody>
          </p:sp>
          <p:sp>
            <p:nvSpPr>
              <p:cNvPr id="122" name="TextBox 122"/>
              <p:cNvSpPr txBox="1"/>
              <p:nvPr/>
            </p:nvSpPr>
            <p:spPr>
              <a:xfrm>
                <a:off x="8540871" y="29941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23" name="TextBox 123"/>
              <p:cNvSpPr txBox="1"/>
              <p:nvPr/>
            </p:nvSpPr>
            <p:spPr>
              <a:xfrm>
                <a:off x="8874246" y="29941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24" name="TextBox 124"/>
              <p:cNvSpPr txBox="1"/>
              <p:nvPr/>
            </p:nvSpPr>
            <p:spPr>
              <a:xfrm>
                <a:off x="9207621" y="29941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25" name="TextBox 125"/>
              <p:cNvSpPr txBox="1"/>
              <p:nvPr/>
            </p:nvSpPr>
            <p:spPr>
              <a:xfrm>
                <a:off x="9540996" y="29941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26" name="Rectangle 126"/>
              <p:cNvSpPr/>
              <p:nvPr/>
            </p:nvSpPr>
            <p:spPr>
              <a:xfrm>
                <a:off x="7820025" y="3105150"/>
                <a:ext cx="1885950" cy="133350"/>
              </a:xfrm>
              <a:prstGeom prst="rect">
                <a:avLst/>
              </a:prstGeom>
              <a:solidFill>
                <a:srgbClr val="FDECEC"/>
              </a:solidFill>
              <a:ln>
                <a:noFill/>
              </a:ln>
            </p:spPr>
          </p:sp>
          <p:sp>
            <p:nvSpPr>
              <p:cNvPr id="127" name="TextBox 127"/>
              <p:cNvSpPr txBox="1"/>
              <p:nvPr/>
            </p:nvSpPr>
            <p:spPr>
              <a:xfrm>
                <a:off x="7881938" y="3149203"/>
                <a:ext cx="398146" cy="111919"/>
              </a:xfrm>
              <a:prstGeom prst="rect">
                <a:avLst/>
              </a:prstGeom>
              <a:noFill/>
              <a:ln>
                <a:noFill/>
              </a:ln>
            </p:spPr>
            <p:txBody>
              <a:bodyPr wrap="none" lIns="0" tIns="0" rIns="0" bIns="0" anchor="t" anchorCtr="0">
                <a:spAutoFit/>
              </a:bodyPr>
              <a:lstStyle/>
              <a:p>
                <a:pPr algn="l"/>
                <a:r>
                  <a:rPr lang="zh-CN" sz="560" b="1" dirty="0">
                    <a:solidFill>
                      <a:srgbClr val="C93D25"/>
                    </a:solidFill>
                    <a:latin typeface="+mn-lt"/>
                    <a:ea typeface="+mn-ea"/>
                    <a:cs typeface="+mn-cs"/>
                  </a:rPr>
                  <a:t>生活礼遇​​</a:t>
                </a:r>
              </a:p>
            </p:txBody>
          </p:sp>
          <p:sp>
            <p:nvSpPr>
              <p:cNvPr id="128" name="TextBox 128"/>
              <p:cNvSpPr txBox="1"/>
              <p:nvPr/>
            </p:nvSpPr>
            <p:spPr>
              <a:xfrm>
                <a:off x="7881938" y="3305651"/>
                <a:ext cx="366537" cy="104775"/>
              </a:xfrm>
              <a:prstGeom prst="rect">
                <a:avLst/>
              </a:prstGeom>
              <a:noFill/>
              <a:ln>
                <a:noFill/>
              </a:ln>
            </p:spPr>
            <p:txBody>
              <a:bodyPr wrap="none" lIns="0" tIns="0" rIns="0" bIns="0" anchor="t" anchorCtr="0">
                <a:spAutoFit/>
              </a:bodyPr>
              <a:lstStyle/>
              <a:p>
                <a:pPr algn="l"/>
                <a:r>
                  <a:rPr lang="zh-CN" sz="520" dirty="0">
                    <a:solidFill>
                      <a:srgbClr val="333333"/>
                    </a:solidFill>
                    <a:latin typeface="+mn-lt"/>
                    <a:ea typeface="+mn-ea"/>
                    <a:cs typeface="+mn-cs"/>
                  </a:rPr>
                  <a:t>信享好书​​</a:t>
                </a:r>
              </a:p>
            </p:txBody>
          </p:sp>
          <p:sp>
            <p:nvSpPr>
              <p:cNvPr id="129" name="TextBox 129"/>
              <p:cNvSpPr txBox="1"/>
              <p:nvPr/>
            </p:nvSpPr>
            <p:spPr>
              <a:xfrm>
                <a:off x="8540871" y="32989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30" name="TextBox 130"/>
              <p:cNvSpPr txBox="1"/>
              <p:nvPr/>
            </p:nvSpPr>
            <p:spPr>
              <a:xfrm>
                <a:off x="8874246" y="32989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31" name="TextBox 131"/>
              <p:cNvSpPr txBox="1"/>
              <p:nvPr/>
            </p:nvSpPr>
            <p:spPr>
              <a:xfrm>
                <a:off x="9207621" y="32989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32" name="TextBox 132"/>
              <p:cNvSpPr txBox="1"/>
              <p:nvPr/>
            </p:nvSpPr>
            <p:spPr>
              <a:xfrm>
                <a:off x="9540996" y="3298984"/>
                <a:ext cx="158509" cy="133350"/>
              </a:xfrm>
              <a:prstGeom prst="rect">
                <a:avLst/>
              </a:prstGeom>
              <a:noFill/>
              <a:ln>
                <a:noFill/>
              </a:ln>
            </p:spPr>
            <p:txBody>
              <a:bodyPr wrap="none" lIns="0" tIns="0" rIns="0" bIns="0" anchor="t" anchorCtr="0">
                <a:spAutoFit/>
              </a:bodyPr>
              <a:lstStyle/>
              <a:p>
                <a:pPr algn="ctr"/>
                <a:r>
                  <a:rPr lang="zh-CN" sz="680" b="1" dirty="0">
                    <a:solidFill>
                      <a:srgbClr val="C93D25"/>
                    </a:solidFill>
                    <a:latin typeface="+mn-lt"/>
                    <a:ea typeface="+mn-ea"/>
                    <a:cs typeface="+mn-cs"/>
                  </a:rPr>
                  <a:t>✓​</a:t>
                </a:r>
              </a:p>
            </p:txBody>
          </p:sp>
          <p:sp>
            <p:nvSpPr>
              <p:cNvPr id="133" name="Line 133"/>
              <p:cNvSpPr/>
              <p:nvPr/>
            </p:nvSpPr>
            <p:spPr>
              <a:xfrm>
                <a:off x="7820025" y="3409950"/>
                <a:ext cx="1885950" cy="9525"/>
              </a:xfrm>
              <a:custGeom>
                <a:avLst/>
                <a:gdLst/>
                <a:ahLst/>
                <a:cxnLst/>
                <a:rect l="l" t="t" r="r" b="b"/>
                <a:pathLst>
                  <a:path w="1885950" h="9525">
                    <a:moveTo>
                      <a:pt x="0" y="0"/>
                    </a:moveTo>
                    <a:lnTo>
                      <a:pt x="1885950" y="0"/>
                    </a:lnTo>
                  </a:path>
                </a:pathLst>
              </a:custGeom>
              <a:noFill/>
              <a:ln w="4762">
                <a:solidFill>
                  <a:srgbClr val="F3D6D6"/>
                </a:solidFill>
              </a:ln>
            </p:spPr>
          </p:sp>
          <p:sp>
            <p:nvSpPr>
              <p:cNvPr id="134" name="TextBox 134"/>
              <p:cNvSpPr txBox="1"/>
              <p:nvPr/>
            </p:nvSpPr>
            <p:spPr>
              <a:xfrm>
                <a:off x="7881938" y="3477101"/>
                <a:ext cx="296535" cy="104775"/>
              </a:xfrm>
              <a:prstGeom prst="rect">
                <a:avLst/>
              </a:prstGeom>
              <a:noFill/>
              <a:ln>
                <a:noFill/>
              </a:ln>
            </p:spPr>
            <p:txBody>
              <a:bodyPr wrap="none" lIns="0" tIns="0" rIns="0" bIns="0" anchor="t" anchorCtr="0">
                <a:spAutoFit/>
              </a:bodyPr>
              <a:lstStyle/>
              <a:p>
                <a:pPr algn="l"/>
                <a:r>
                  <a:rPr lang="zh-CN" sz="520" dirty="0">
                    <a:solidFill>
                      <a:srgbClr val="333333"/>
                    </a:solidFill>
                    <a:latin typeface="+mn-lt"/>
                    <a:ea typeface="+mn-ea"/>
                    <a:cs typeface="+mn-cs"/>
                  </a:rPr>
                  <a:t>能量值​​</a:t>
                </a:r>
              </a:p>
            </p:txBody>
          </p:sp>
          <p:sp>
            <p:nvSpPr>
              <p:cNvPr id="135" name="TextBox 135"/>
              <p:cNvSpPr txBox="1"/>
              <p:nvPr/>
            </p:nvSpPr>
            <p:spPr>
              <a:xfrm>
                <a:off x="8774573" y="3485198"/>
                <a:ext cx="357854" cy="90488"/>
              </a:xfrm>
              <a:prstGeom prst="rect">
                <a:avLst/>
              </a:prstGeom>
              <a:noFill/>
              <a:ln>
                <a:noFill/>
              </a:ln>
            </p:spPr>
            <p:txBody>
              <a:bodyPr wrap="none" lIns="0" tIns="0" rIns="0" bIns="0" anchor="t" anchorCtr="0">
                <a:spAutoFit/>
              </a:bodyPr>
              <a:lstStyle/>
              <a:p>
                <a:pPr algn="ctr"/>
                <a:r>
                  <a:rPr lang="zh-CN" sz="450" dirty="0">
                    <a:solidFill>
                      <a:srgbClr val="C93D25"/>
                    </a:solidFill>
                    <a:latin typeface="+mn-lt"/>
                    <a:ea typeface="+mn-ea"/>
                    <a:cs typeface="+mn-cs"/>
                  </a:rPr>
                  <a:t>100能量值​​</a:t>
                </a:r>
              </a:p>
            </p:txBody>
          </p:sp>
          <p:sp>
            <p:nvSpPr>
              <p:cNvPr id="136" name="TextBox 136"/>
              <p:cNvSpPr txBox="1"/>
              <p:nvPr/>
            </p:nvSpPr>
            <p:spPr>
              <a:xfrm>
                <a:off x="9107948" y="3485198"/>
                <a:ext cx="357854" cy="90488"/>
              </a:xfrm>
              <a:prstGeom prst="rect">
                <a:avLst/>
              </a:prstGeom>
              <a:noFill/>
              <a:ln>
                <a:noFill/>
              </a:ln>
            </p:spPr>
            <p:txBody>
              <a:bodyPr wrap="none" lIns="0" tIns="0" rIns="0" bIns="0" anchor="t" anchorCtr="0">
                <a:spAutoFit/>
              </a:bodyPr>
              <a:lstStyle/>
              <a:p>
                <a:pPr algn="ctr"/>
                <a:r>
                  <a:rPr lang="zh-CN" sz="450" dirty="0">
                    <a:solidFill>
                      <a:srgbClr val="C93D25"/>
                    </a:solidFill>
                    <a:latin typeface="+mn-lt"/>
                    <a:ea typeface="+mn-ea"/>
                    <a:cs typeface="+mn-cs"/>
                  </a:rPr>
                  <a:t>100能量值​​</a:t>
                </a:r>
              </a:p>
            </p:txBody>
          </p:sp>
          <p:sp>
            <p:nvSpPr>
              <p:cNvPr id="137" name="TextBox 137"/>
              <p:cNvSpPr txBox="1"/>
              <p:nvPr/>
            </p:nvSpPr>
            <p:spPr>
              <a:xfrm>
                <a:off x="9441323" y="3485198"/>
                <a:ext cx="357854" cy="90488"/>
              </a:xfrm>
              <a:prstGeom prst="rect">
                <a:avLst/>
              </a:prstGeom>
              <a:noFill/>
              <a:ln>
                <a:noFill/>
              </a:ln>
            </p:spPr>
            <p:txBody>
              <a:bodyPr wrap="none" lIns="0" tIns="0" rIns="0" bIns="0" anchor="t" anchorCtr="0">
                <a:spAutoFit/>
              </a:bodyPr>
              <a:lstStyle/>
              <a:p>
                <a:pPr algn="ctr"/>
                <a:r>
                  <a:rPr lang="zh-CN" sz="450" dirty="0">
                    <a:solidFill>
                      <a:srgbClr val="C93D25"/>
                    </a:solidFill>
                    <a:latin typeface="+mn-lt"/>
                    <a:ea typeface="+mn-ea"/>
                    <a:cs typeface="+mn-cs"/>
                  </a:rPr>
                  <a:t>200能量值​​</a:t>
                </a:r>
              </a:p>
            </p:txBody>
          </p:sp>
          <p:sp>
            <p:nvSpPr>
              <p:cNvPr id="138" name="Rectangle 138"/>
              <p:cNvSpPr/>
              <p:nvPr/>
            </p:nvSpPr>
            <p:spPr>
              <a:xfrm>
                <a:off x="7839075" y="3419475"/>
                <a:ext cx="1847850" cy="161925"/>
              </a:xfrm>
              <a:prstGeom prst="rect">
                <a:avLst/>
              </a:prstGeom>
              <a:noFill/>
              <a:ln w="14288">
                <a:solidFill>
                  <a:srgbClr val="E74726"/>
                </a:solidFill>
              </a:ln>
            </p:spPr>
          </p:sp>
          <p:sp>
            <p:nvSpPr>
              <p:cNvPr id="139" name="Rectangle 139"/>
              <p:cNvSpPr/>
              <p:nvPr/>
            </p:nvSpPr>
            <p:spPr>
              <a:xfrm>
                <a:off x="7820025" y="3600450"/>
                <a:ext cx="1885950" cy="133350"/>
              </a:xfrm>
              <a:prstGeom prst="rect">
                <a:avLst/>
              </a:prstGeom>
              <a:solidFill>
                <a:srgbClr val="FDECEC"/>
              </a:solidFill>
              <a:ln>
                <a:noFill/>
              </a:ln>
            </p:spPr>
          </p:sp>
          <p:sp>
            <p:nvSpPr>
              <p:cNvPr id="140" name="TextBox 140"/>
              <p:cNvSpPr txBox="1"/>
              <p:nvPr/>
            </p:nvSpPr>
            <p:spPr>
              <a:xfrm>
                <a:off x="7881938" y="3644503"/>
                <a:ext cx="398146" cy="111919"/>
              </a:xfrm>
              <a:prstGeom prst="rect">
                <a:avLst/>
              </a:prstGeom>
              <a:noFill/>
              <a:ln>
                <a:noFill/>
              </a:ln>
            </p:spPr>
            <p:txBody>
              <a:bodyPr wrap="none" lIns="0" tIns="0" rIns="0" bIns="0" anchor="t" anchorCtr="0">
                <a:spAutoFit/>
              </a:bodyPr>
              <a:lstStyle/>
              <a:p>
                <a:pPr algn="l"/>
                <a:r>
                  <a:rPr lang="zh-CN" sz="560" b="1" dirty="0">
                    <a:solidFill>
                      <a:srgbClr val="C93D25"/>
                    </a:solidFill>
                    <a:latin typeface="+mn-lt"/>
                    <a:ea typeface="+mn-ea"/>
                    <a:cs typeface="+mn-cs"/>
                  </a:rPr>
                  <a:t>亲子礼遇​​</a:t>
                </a:r>
              </a:p>
            </p:txBody>
          </p:sp>
          <p:sp>
            <p:nvSpPr>
              <p:cNvPr id="141" name="TextBox 141"/>
              <p:cNvSpPr txBox="1"/>
              <p:nvPr/>
            </p:nvSpPr>
            <p:spPr>
              <a:xfrm>
                <a:off x="7881938" y="3800951"/>
                <a:ext cx="436540" cy="104775"/>
              </a:xfrm>
              <a:prstGeom prst="rect">
                <a:avLst/>
              </a:prstGeom>
              <a:noFill/>
              <a:ln>
                <a:noFill/>
              </a:ln>
            </p:spPr>
            <p:txBody>
              <a:bodyPr wrap="none" lIns="0" tIns="0" rIns="0" bIns="0" anchor="t" anchorCtr="0">
                <a:spAutoFit/>
              </a:bodyPr>
              <a:lstStyle/>
              <a:p>
                <a:pPr algn="l"/>
                <a:r>
                  <a:rPr lang="zh-CN" sz="520" dirty="0">
                    <a:solidFill>
                      <a:srgbClr val="333333"/>
                    </a:solidFill>
                    <a:latin typeface="+mn-lt"/>
                    <a:ea typeface="+mn-ea"/>
                    <a:cs typeface="+mn-cs"/>
                  </a:rPr>
                  <a:t>开卡享好礼​​</a:t>
                </a:r>
              </a:p>
            </p:txBody>
          </p:sp>
          <p:sp>
            <p:nvSpPr>
              <p:cNvPr id="142" name="TextBox 142"/>
              <p:cNvSpPr txBox="1"/>
              <p:nvPr/>
            </p:nvSpPr>
            <p:spPr>
              <a:xfrm>
                <a:off x="8876491" y="3804999"/>
                <a:ext cx="477868" cy="97631"/>
              </a:xfrm>
              <a:prstGeom prst="rect">
                <a:avLst/>
              </a:prstGeom>
              <a:noFill/>
              <a:ln>
                <a:noFill/>
              </a:ln>
            </p:spPr>
            <p:txBody>
              <a:bodyPr wrap="none" lIns="0" tIns="0" rIns="0" bIns="0" anchor="t" anchorCtr="0">
                <a:spAutoFit/>
              </a:bodyPr>
              <a:lstStyle/>
              <a:p>
                <a:pPr algn="ctr"/>
                <a:r>
                  <a:rPr lang="zh-CN" sz="490" dirty="0">
                    <a:solidFill>
                      <a:srgbClr val="C93D25"/>
                    </a:solidFill>
                    <a:latin typeface="+mn-lt"/>
                    <a:ea typeface="+mn-ea"/>
                    <a:cs typeface="+mn-cs"/>
                  </a:rPr>
                  <a:t>小狗钱钱周边​​</a:t>
                </a:r>
              </a:p>
            </p:txBody>
          </p:sp>
          <p:sp>
            <p:nvSpPr>
              <p:cNvPr id="143" name="Line 143"/>
              <p:cNvSpPr/>
              <p:nvPr/>
            </p:nvSpPr>
            <p:spPr>
              <a:xfrm>
                <a:off x="7820025" y="3905250"/>
                <a:ext cx="1885950" cy="9525"/>
              </a:xfrm>
              <a:custGeom>
                <a:avLst/>
                <a:gdLst/>
                <a:ahLst/>
                <a:cxnLst/>
                <a:rect l="l" t="t" r="r" b="b"/>
                <a:pathLst>
                  <a:path w="1885950" h="9525">
                    <a:moveTo>
                      <a:pt x="0" y="0"/>
                    </a:moveTo>
                    <a:lnTo>
                      <a:pt x="1885950" y="0"/>
                    </a:lnTo>
                  </a:path>
                </a:pathLst>
              </a:custGeom>
              <a:noFill/>
              <a:ln w="4762">
                <a:solidFill>
                  <a:srgbClr val="F3D6D6"/>
                </a:solidFill>
              </a:ln>
            </p:spPr>
          </p:sp>
          <p:sp>
            <p:nvSpPr>
              <p:cNvPr id="144" name="Rectangle 144"/>
              <p:cNvSpPr/>
              <p:nvPr/>
            </p:nvSpPr>
            <p:spPr>
              <a:xfrm>
                <a:off x="7886700" y="4095750"/>
                <a:ext cx="1714500" cy="28575"/>
              </a:xfrm>
              <a:prstGeom prst="roundRect">
                <a:avLst>
                  <a:gd name="adj" fmla="val 50000"/>
                </a:avLst>
              </a:prstGeom>
              <a:solidFill>
                <a:srgbClr val="E5E5E5"/>
              </a:solidFill>
              <a:ln>
                <a:noFill/>
              </a:ln>
            </p:spPr>
          </p:sp>
          <p:sp>
            <p:nvSpPr>
              <p:cNvPr id="145" name="Rectangle 145"/>
              <p:cNvSpPr/>
              <p:nvPr/>
            </p:nvSpPr>
            <p:spPr>
              <a:xfrm>
                <a:off x="7886700" y="4171950"/>
                <a:ext cx="1428750" cy="28575"/>
              </a:xfrm>
              <a:prstGeom prst="roundRect">
                <a:avLst>
                  <a:gd name="adj" fmla="val 50000"/>
                </a:avLst>
              </a:prstGeom>
              <a:solidFill>
                <a:srgbClr val="E5E5E5"/>
              </a:solidFill>
              <a:ln>
                <a:noFill/>
              </a:ln>
            </p:spPr>
          </p:sp>
        </p:grpSp>
        <p:sp>
          <p:nvSpPr>
            <p:cNvPr id="147" name="TextBox 147"/>
            <p:cNvSpPr txBox="1"/>
            <p:nvPr/>
          </p:nvSpPr>
          <p:spPr>
            <a:xfrm>
              <a:off x="8230733" y="5030152"/>
              <a:ext cx="1064533"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R1-R4会员权益​</a:t>
              </a:r>
            </a:p>
          </p:txBody>
        </p:sp>
        <p:grpSp>
          <p:nvGrpSpPr>
            <p:cNvPr id="197" name="shot-r5r9"/>
            <p:cNvGrpSpPr/>
            <p:nvPr/>
          </p:nvGrpSpPr>
          <p:grpSpPr>
            <a:xfrm>
              <a:off x="9906000" y="1981200"/>
              <a:ext cx="1762125" cy="2857500"/>
              <a:chOff x="9906000" y="1981200"/>
              <a:chExt cx="1762125" cy="2857500"/>
            </a:xfrm>
          </p:grpSpPr>
          <p:sp>
            <p:nvSpPr>
              <p:cNvPr id="148" name="Rectangle 148"/>
              <p:cNvSpPr/>
              <p:nvPr/>
            </p:nvSpPr>
            <p:spPr>
              <a:xfrm>
                <a:off x="9906000" y="1981200"/>
                <a:ext cx="1762125" cy="2857500"/>
              </a:xfrm>
              <a:prstGeom prst="roundRect">
                <a:avLst>
                  <a:gd name="adj" fmla="val 4324"/>
                </a:avLst>
              </a:prstGeom>
              <a:solidFill>
                <a:srgbClr val="FFFFFF"/>
              </a:solidFill>
              <a:ln w="9525">
                <a:solidFill>
                  <a:srgbClr val="D9D9D9"/>
                </a:solidFill>
              </a:ln>
            </p:spPr>
          </p:sp>
          <p:sp>
            <p:nvSpPr>
              <p:cNvPr id="149" name="Rectangle 149"/>
              <p:cNvSpPr/>
              <p:nvPr/>
            </p:nvSpPr>
            <p:spPr>
              <a:xfrm>
                <a:off x="9906000" y="1981200"/>
                <a:ext cx="1762125" cy="247650"/>
              </a:xfrm>
              <a:prstGeom prst="roundRect">
                <a:avLst>
                  <a:gd name="adj" fmla="val 23077"/>
                </a:avLst>
              </a:prstGeom>
              <a:solidFill>
                <a:srgbClr val="932F1B"/>
              </a:solidFill>
              <a:ln>
                <a:noFill/>
              </a:ln>
            </p:spPr>
          </p:sp>
          <p:sp>
            <p:nvSpPr>
              <p:cNvPr id="150" name="TextBox 150"/>
              <p:cNvSpPr txBox="1"/>
              <p:nvPr/>
            </p:nvSpPr>
            <p:spPr>
              <a:xfrm>
                <a:off x="9967912" y="2086451"/>
                <a:ext cx="370387" cy="104775"/>
              </a:xfrm>
              <a:prstGeom prst="rect">
                <a:avLst/>
              </a:prstGeom>
              <a:noFill/>
              <a:ln>
                <a:noFill/>
              </a:ln>
            </p:spPr>
            <p:txBody>
              <a:bodyPr wrap="none" lIns="0" tIns="0" rIns="0" bIns="0" anchor="t" anchorCtr="0">
                <a:spAutoFit/>
              </a:bodyPr>
              <a:lstStyle/>
              <a:p>
                <a:pPr algn="l"/>
                <a:r>
                  <a:rPr lang="zh-CN" sz="520" b="1" dirty="0">
                    <a:solidFill>
                      <a:srgbClr val="FFFFFF"/>
                    </a:solidFill>
                    <a:latin typeface="+mn-lt"/>
                    <a:ea typeface="+mn-ea"/>
                    <a:cs typeface="+mn-cs"/>
                  </a:rPr>
                  <a:t>等级权益​​</a:t>
                </a:r>
              </a:p>
            </p:txBody>
          </p:sp>
          <p:sp>
            <p:nvSpPr>
              <p:cNvPr id="151" name="TextBox 151"/>
              <p:cNvSpPr txBox="1"/>
              <p:nvPr/>
            </p:nvSpPr>
            <p:spPr>
              <a:xfrm>
                <a:off x="10351986" y="2090499"/>
                <a:ext cx="251027" cy="97631"/>
              </a:xfrm>
              <a:prstGeom prst="rect">
                <a:avLst/>
              </a:prstGeom>
              <a:noFill/>
              <a:ln>
                <a:noFill/>
              </a:ln>
            </p:spPr>
            <p:txBody>
              <a:bodyPr wrap="none" lIns="0" tIns="0" rIns="0" bIns="0" anchor="t" anchorCtr="0">
                <a:spAutoFit/>
              </a:bodyPr>
              <a:lstStyle/>
              <a:p>
                <a:pPr algn="ctr"/>
                <a:r>
                  <a:rPr lang="en-US" sz="490" b="1" dirty="0">
                    <a:solidFill>
                      <a:srgbClr val="FFFFFF"/>
                    </a:solidFill>
                    <a:latin typeface="+mn-lt"/>
                    <a:ea typeface="+mn-ea"/>
                    <a:cs typeface="+mn-cs"/>
                  </a:rPr>
                  <a:t>R5​​​​</a:t>
                </a:r>
              </a:p>
            </p:txBody>
          </p:sp>
          <p:sp>
            <p:nvSpPr>
              <p:cNvPr id="152" name="TextBox 152"/>
              <p:cNvSpPr txBox="1"/>
              <p:nvPr/>
            </p:nvSpPr>
            <p:spPr>
              <a:xfrm>
                <a:off x="10590111" y="2090499"/>
                <a:ext cx="251027" cy="97631"/>
              </a:xfrm>
              <a:prstGeom prst="rect">
                <a:avLst/>
              </a:prstGeom>
              <a:noFill/>
              <a:ln>
                <a:noFill/>
              </a:ln>
            </p:spPr>
            <p:txBody>
              <a:bodyPr wrap="none" lIns="0" tIns="0" rIns="0" bIns="0" anchor="t" anchorCtr="0">
                <a:spAutoFit/>
              </a:bodyPr>
              <a:lstStyle/>
              <a:p>
                <a:pPr algn="ctr"/>
                <a:r>
                  <a:rPr lang="en-US" sz="490" b="1" dirty="0">
                    <a:solidFill>
                      <a:srgbClr val="FFFFFF"/>
                    </a:solidFill>
                    <a:latin typeface="+mn-lt"/>
                    <a:ea typeface="+mn-ea"/>
                    <a:cs typeface="+mn-cs"/>
                  </a:rPr>
                  <a:t>R6​​​​</a:t>
                </a:r>
              </a:p>
            </p:txBody>
          </p:sp>
          <p:sp>
            <p:nvSpPr>
              <p:cNvPr id="153" name="TextBox 153"/>
              <p:cNvSpPr txBox="1"/>
              <p:nvPr/>
            </p:nvSpPr>
            <p:spPr>
              <a:xfrm>
                <a:off x="10828236" y="2090499"/>
                <a:ext cx="251027" cy="97631"/>
              </a:xfrm>
              <a:prstGeom prst="rect">
                <a:avLst/>
              </a:prstGeom>
              <a:noFill/>
              <a:ln>
                <a:noFill/>
              </a:ln>
            </p:spPr>
            <p:txBody>
              <a:bodyPr wrap="none" lIns="0" tIns="0" rIns="0" bIns="0" anchor="t" anchorCtr="0">
                <a:spAutoFit/>
              </a:bodyPr>
              <a:lstStyle/>
              <a:p>
                <a:pPr algn="ctr"/>
                <a:r>
                  <a:rPr lang="en-US" sz="490" b="1" dirty="0">
                    <a:solidFill>
                      <a:srgbClr val="FFFFFF"/>
                    </a:solidFill>
                    <a:latin typeface="+mn-lt"/>
                    <a:ea typeface="+mn-ea"/>
                    <a:cs typeface="+mn-cs"/>
                  </a:rPr>
                  <a:t>R7​​​​</a:t>
                </a:r>
              </a:p>
            </p:txBody>
          </p:sp>
          <p:sp>
            <p:nvSpPr>
              <p:cNvPr id="154" name="TextBox 154"/>
              <p:cNvSpPr txBox="1"/>
              <p:nvPr/>
            </p:nvSpPr>
            <p:spPr>
              <a:xfrm>
                <a:off x="11066361" y="2090499"/>
                <a:ext cx="251027" cy="97631"/>
              </a:xfrm>
              <a:prstGeom prst="rect">
                <a:avLst/>
              </a:prstGeom>
              <a:noFill/>
              <a:ln>
                <a:noFill/>
              </a:ln>
            </p:spPr>
            <p:txBody>
              <a:bodyPr wrap="none" lIns="0" tIns="0" rIns="0" bIns="0" anchor="t" anchorCtr="0">
                <a:spAutoFit/>
              </a:bodyPr>
              <a:lstStyle/>
              <a:p>
                <a:pPr algn="ctr"/>
                <a:r>
                  <a:rPr lang="en-US" sz="490" b="1" dirty="0">
                    <a:solidFill>
                      <a:srgbClr val="FFFFFF"/>
                    </a:solidFill>
                    <a:latin typeface="+mn-lt"/>
                    <a:ea typeface="+mn-ea"/>
                    <a:cs typeface="+mn-cs"/>
                  </a:rPr>
                  <a:t>R8​​​​</a:t>
                </a:r>
              </a:p>
            </p:txBody>
          </p:sp>
          <p:sp>
            <p:nvSpPr>
              <p:cNvPr id="155" name="TextBox 155"/>
              <p:cNvSpPr txBox="1"/>
              <p:nvPr/>
            </p:nvSpPr>
            <p:spPr>
              <a:xfrm>
                <a:off x="11304486" y="2090499"/>
                <a:ext cx="251027" cy="97631"/>
              </a:xfrm>
              <a:prstGeom prst="rect">
                <a:avLst/>
              </a:prstGeom>
              <a:noFill/>
              <a:ln>
                <a:noFill/>
              </a:ln>
            </p:spPr>
            <p:txBody>
              <a:bodyPr wrap="none" lIns="0" tIns="0" rIns="0" bIns="0" anchor="t" anchorCtr="0">
                <a:spAutoFit/>
              </a:bodyPr>
              <a:lstStyle/>
              <a:p>
                <a:pPr algn="ctr"/>
                <a:r>
                  <a:rPr lang="en-US" sz="490" b="1" dirty="0">
                    <a:solidFill>
                      <a:srgbClr val="FFFFFF"/>
                    </a:solidFill>
                    <a:latin typeface="+mn-lt"/>
                    <a:ea typeface="+mn-ea"/>
                    <a:cs typeface="+mn-cs"/>
                  </a:rPr>
                  <a:t>R9​​​​</a:t>
                </a:r>
              </a:p>
            </p:txBody>
          </p:sp>
          <p:sp>
            <p:nvSpPr>
              <p:cNvPr id="156" name="Rectangle 156"/>
              <p:cNvSpPr/>
              <p:nvPr/>
            </p:nvSpPr>
            <p:spPr>
              <a:xfrm>
                <a:off x="9915525" y="2228850"/>
                <a:ext cx="1743075" cy="114300"/>
              </a:xfrm>
              <a:prstGeom prst="rect">
                <a:avLst/>
              </a:prstGeom>
              <a:solidFill>
                <a:srgbClr val="E7EFFC"/>
              </a:solidFill>
              <a:ln>
                <a:noFill/>
              </a:ln>
            </p:spPr>
          </p:sp>
          <p:sp>
            <p:nvSpPr>
              <p:cNvPr id="157" name="TextBox 157"/>
              <p:cNvSpPr txBox="1"/>
              <p:nvPr/>
            </p:nvSpPr>
            <p:spPr>
              <a:xfrm>
                <a:off x="9967912" y="2261949"/>
                <a:ext cx="349568" cy="97631"/>
              </a:xfrm>
              <a:prstGeom prst="rect">
                <a:avLst/>
              </a:prstGeom>
              <a:noFill/>
              <a:ln>
                <a:noFill/>
              </a:ln>
            </p:spPr>
            <p:txBody>
              <a:bodyPr wrap="none" lIns="0" tIns="0" rIns="0" bIns="0" anchor="t" anchorCtr="0">
                <a:spAutoFit/>
              </a:bodyPr>
              <a:lstStyle/>
              <a:p>
                <a:pPr algn="l"/>
                <a:r>
                  <a:rPr lang="zh-CN" sz="490" b="1" dirty="0">
                    <a:solidFill>
                      <a:srgbClr val="932F1B"/>
                    </a:solidFill>
                    <a:latin typeface="+mn-lt"/>
                    <a:ea typeface="+mn-ea"/>
                    <a:cs typeface="+mn-cs"/>
                  </a:rPr>
                  <a:t>金融礼遇​​</a:t>
                </a:r>
              </a:p>
            </p:txBody>
          </p:sp>
          <p:sp>
            <p:nvSpPr>
              <p:cNvPr id="158" name="Rectangle 158"/>
              <p:cNvSpPr/>
              <p:nvPr/>
            </p:nvSpPr>
            <p:spPr>
              <a:xfrm>
                <a:off x="9972675" y="2400300"/>
                <a:ext cx="381000" cy="28575"/>
              </a:xfrm>
              <a:prstGeom prst="roundRect">
                <a:avLst>
                  <a:gd name="adj" fmla="val 50000"/>
                </a:avLst>
              </a:prstGeom>
              <a:solidFill>
                <a:srgbClr val="DDDDDD"/>
              </a:solidFill>
              <a:ln>
                <a:noFill/>
              </a:ln>
            </p:spPr>
          </p:sp>
          <p:sp>
            <p:nvSpPr>
              <p:cNvPr id="159" name="Rectangle 159"/>
              <p:cNvSpPr/>
              <p:nvPr/>
            </p:nvSpPr>
            <p:spPr>
              <a:xfrm>
                <a:off x="10429875" y="2381250"/>
                <a:ext cx="1047750" cy="28575"/>
              </a:xfrm>
              <a:prstGeom prst="roundRect">
                <a:avLst>
                  <a:gd name="adj" fmla="val 50000"/>
                </a:avLst>
              </a:prstGeom>
              <a:solidFill>
                <a:srgbClr val="EEEEEE"/>
              </a:solidFill>
              <a:ln>
                <a:noFill/>
              </a:ln>
            </p:spPr>
          </p:sp>
          <p:sp>
            <p:nvSpPr>
              <p:cNvPr id="160" name="Rectangle 160"/>
              <p:cNvSpPr/>
              <p:nvPr/>
            </p:nvSpPr>
            <p:spPr>
              <a:xfrm>
                <a:off x="10429875" y="2438400"/>
                <a:ext cx="857250" cy="28575"/>
              </a:xfrm>
              <a:prstGeom prst="roundRect">
                <a:avLst>
                  <a:gd name="adj" fmla="val 50000"/>
                </a:avLst>
              </a:prstGeom>
              <a:solidFill>
                <a:srgbClr val="EEEEEE"/>
              </a:solidFill>
              <a:ln>
                <a:noFill/>
              </a:ln>
            </p:spPr>
          </p:sp>
          <p:sp>
            <p:nvSpPr>
              <p:cNvPr id="161" name="Rectangle 161"/>
              <p:cNvSpPr/>
              <p:nvPr/>
            </p:nvSpPr>
            <p:spPr>
              <a:xfrm>
                <a:off x="9972675" y="2552700"/>
                <a:ext cx="342900" cy="28575"/>
              </a:xfrm>
              <a:prstGeom prst="roundRect">
                <a:avLst>
                  <a:gd name="adj" fmla="val 50000"/>
                </a:avLst>
              </a:prstGeom>
              <a:solidFill>
                <a:srgbClr val="DDDDDD"/>
              </a:solidFill>
              <a:ln>
                <a:noFill/>
              </a:ln>
            </p:spPr>
          </p:sp>
          <p:sp>
            <p:nvSpPr>
              <p:cNvPr id="162" name="TextBox 162"/>
              <p:cNvSpPr txBox="1"/>
              <p:nvPr/>
            </p:nvSpPr>
            <p:spPr>
              <a:xfrm>
                <a:off x="10375347" y="2543651"/>
                <a:ext cx="204307" cy="104775"/>
              </a:xfrm>
              <a:prstGeom prst="rect">
                <a:avLst/>
              </a:prstGeom>
              <a:noFill/>
              <a:ln>
                <a:noFill/>
              </a:ln>
            </p:spPr>
            <p:txBody>
              <a:bodyPr wrap="none" lIns="0" tIns="0" rIns="0" bIns="0" anchor="t" anchorCtr="0">
                <a:spAutoFit/>
              </a:bodyPr>
              <a:lstStyle/>
              <a:p>
                <a:pPr algn="ctr"/>
                <a:r>
                  <a:rPr lang="zh-CN" sz="520" b="1" dirty="0">
                    <a:solidFill>
                      <a:srgbClr val="932F1B"/>
                    </a:solidFill>
                    <a:latin typeface="+mn-lt"/>
                    <a:ea typeface="+mn-ea"/>
                    <a:cs typeface="+mn-cs"/>
                  </a:rPr>
                  <a:t>✓​​​</a:t>
                </a:r>
              </a:p>
            </p:txBody>
          </p:sp>
          <p:sp>
            <p:nvSpPr>
              <p:cNvPr id="163" name="TextBox 163"/>
              <p:cNvSpPr txBox="1"/>
              <p:nvPr/>
            </p:nvSpPr>
            <p:spPr>
              <a:xfrm>
                <a:off x="10613472" y="2543651"/>
                <a:ext cx="204307" cy="104775"/>
              </a:xfrm>
              <a:prstGeom prst="rect">
                <a:avLst/>
              </a:prstGeom>
              <a:noFill/>
              <a:ln>
                <a:noFill/>
              </a:ln>
            </p:spPr>
            <p:txBody>
              <a:bodyPr wrap="none" lIns="0" tIns="0" rIns="0" bIns="0" anchor="t" anchorCtr="0">
                <a:spAutoFit/>
              </a:bodyPr>
              <a:lstStyle/>
              <a:p>
                <a:pPr algn="ctr"/>
                <a:r>
                  <a:rPr lang="zh-CN" sz="520" b="1" dirty="0">
                    <a:solidFill>
                      <a:srgbClr val="932F1B"/>
                    </a:solidFill>
                    <a:latin typeface="+mn-lt"/>
                    <a:ea typeface="+mn-ea"/>
                    <a:cs typeface="+mn-cs"/>
                  </a:rPr>
                  <a:t>✓​​​</a:t>
                </a:r>
              </a:p>
            </p:txBody>
          </p:sp>
          <p:sp>
            <p:nvSpPr>
              <p:cNvPr id="164" name="TextBox 164"/>
              <p:cNvSpPr txBox="1"/>
              <p:nvPr/>
            </p:nvSpPr>
            <p:spPr>
              <a:xfrm>
                <a:off x="10851597" y="2543651"/>
                <a:ext cx="204307" cy="104775"/>
              </a:xfrm>
              <a:prstGeom prst="rect">
                <a:avLst/>
              </a:prstGeom>
              <a:noFill/>
              <a:ln>
                <a:noFill/>
              </a:ln>
            </p:spPr>
            <p:txBody>
              <a:bodyPr wrap="none" lIns="0" tIns="0" rIns="0" bIns="0" anchor="t" anchorCtr="0">
                <a:spAutoFit/>
              </a:bodyPr>
              <a:lstStyle/>
              <a:p>
                <a:pPr algn="ctr"/>
                <a:r>
                  <a:rPr lang="zh-CN" sz="520" b="1" dirty="0">
                    <a:solidFill>
                      <a:srgbClr val="932F1B"/>
                    </a:solidFill>
                    <a:latin typeface="+mn-lt"/>
                    <a:ea typeface="+mn-ea"/>
                    <a:cs typeface="+mn-cs"/>
                  </a:rPr>
                  <a:t>✓​​​</a:t>
                </a:r>
              </a:p>
            </p:txBody>
          </p:sp>
          <p:sp>
            <p:nvSpPr>
              <p:cNvPr id="165" name="TextBox 165"/>
              <p:cNvSpPr txBox="1"/>
              <p:nvPr/>
            </p:nvSpPr>
            <p:spPr>
              <a:xfrm>
                <a:off x="11089722" y="2543651"/>
                <a:ext cx="204307" cy="104775"/>
              </a:xfrm>
              <a:prstGeom prst="rect">
                <a:avLst/>
              </a:prstGeom>
              <a:noFill/>
              <a:ln>
                <a:noFill/>
              </a:ln>
            </p:spPr>
            <p:txBody>
              <a:bodyPr wrap="none" lIns="0" tIns="0" rIns="0" bIns="0" anchor="t" anchorCtr="0">
                <a:spAutoFit/>
              </a:bodyPr>
              <a:lstStyle/>
              <a:p>
                <a:pPr algn="ctr"/>
                <a:r>
                  <a:rPr lang="zh-CN" sz="520" b="1" dirty="0">
                    <a:solidFill>
                      <a:srgbClr val="932F1B"/>
                    </a:solidFill>
                    <a:latin typeface="+mn-lt"/>
                    <a:ea typeface="+mn-ea"/>
                    <a:cs typeface="+mn-cs"/>
                  </a:rPr>
                  <a:t>✓​​​</a:t>
                </a:r>
              </a:p>
            </p:txBody>
          </p:sp>
          <p:sp>
            <p:nvSpPr>
              <p:cNvPr id="166" name="TextBox 166"/>
              <p:cNvSpPr txBox="1"/>
              <p:nvPr/>
            </p:nvSpPr>
            <p:spPr>
              <a:xfrm>
                <a:off x="11327847" y="2543651"/>
                <a:ext cx="204307" cy="104775"/>
              </a:xfrm>
              <a:prstGeom prst="rect">
                <a:avLst/>
              </a:prstGeom>
              <a:noFill/>
              <a:ln>
                <a:noFill/>
              </a:ln>
            </p:spPr>
            <p:txBody>
              <a:bodyPr wrap="none" lIns="0" tIns="0" rIns="0" bIns="0" anchor="t" anchorCtr="0">
                <a:spAutoFit/>
              </a:bodyPr>
              <a:lstStyle/>
              <a:p>
                <a:pPr algn="ctr"/>
                <a:r>
                  <a:rPr lang="zh-CN" sz="520" b="1" dirty="0">
                    <a:solidFill>
                      <a:srgbClr val="932F1B"/>
                    </a:solidFill>
                    <a:latin typeface="+mn-lt"/>
                    <a:ea typeface="+mn-ea"/>
                    <a:cs typeface="+mn-cs"/>
                  </a:rPr>
                  <a:t>✓​​​</a:t>
                </a:r>
              </a:p>
            </p:txBody>
          </p:sp>
          <p:sp>
            <p:nvSpPr>
              <p:cNvPr id="167" name="Rectangle 167"/>
              <p:cNvSpPr/>
              <p:nvPr/>
            </p:nvSpPr>
            <p:spPr>
              <a:xfrm>
                <a:off x="9915525" y="2667000"/>
                <a:ext cx="1743075" cy="114300"/>
              </a:xfrm>
              <a:prstGeom prst="rect">
                <a:avLst/>
              </a:prstGeom>
              <a:solidFill>
                <a:srgbClr val="E7EFFC"/>
              </a:solidFill>
              <a:ln>
                <a:noFill/>
              </a:ln>
            </p:spPr>
          </p:sp>
          <p:sp>
            <p:nvSpPr>
              <p:cNvPr id="168" name="TextBox 168"/>
              <p:cNvSpPr txBox="1"/>
              <p:nvPr/>
            </p:nvSpPr>
            <p:spPr>
              <a:xfrm>
                <a:off x="9967912" y="2700099"/>
                <a:ext cx="349568" cy="97631"/>
              </a:xfrm>
              <a:prstGeom prst="rect">
                <a:avLst/>
              </a:prstGeom>
              <a:noFill/>
              <a:ln>
                <a:noFill/>
              </a:ln>
            </p:spPr>
            <p:txBody>
              <a:bodyPr wrap="none" lIns="0" tIns="0" rIns="0" bIns="0" anchor="t" anchorCtr="0">
                <a:spAutoFit/>
              </a:bodyPr>
              <a:lstStyle/>
              <a:p>
                <a:pPr algn="l"/>
                <a:r>
                  <a:rPr lang="zh-CN" sz="490" b="1" dirty="0">
                    <a:solidFill>
                      <a:srgbClr val="932F1B"/>
                    </a:solidFill>
                    <a:latin typeface="+mn-lt"/>
                    <a:ea typeface="+mn-ea"/>
                    <a:cs typeface="+mn-cs"/>
                  </a:rPr>
                  <a:t>生活礼遇​​</a:t>
                </a:r>
              </a:p>
            </p:txBody>
          </p:sp>
          <p:sp>
            <p:nvSpPr>
              <p:cNvPr id="169" name="Rectangle 169"/>
              <p:cNvSpPr/>
              <p:nvPr/>
            </p:nvSpPr>
            <p:spPr>
              <a:xfrm>
                <a:off x="9972675" y="2838450"/>
                <a:ext cx="342900" cy="28575"/>
              </a:xfrm>
              <a:prstGeom prst="roundRect">
                <a:avLst>
                  <a:gd name="adj" fmla="val 50000"/>
                </a:avLst>
              </a:prstGeom>
              <a:solidFill>
                <a:srgbClr val="DDDDDD"/>
              </a:solidFill>
              <a:ln>
                <a:noFill/>
              </a:ln>
            </p:spPr>
          </p:sp>
          <p:sp>
            <p:nvSpPr>
              <p:cNvPr id="170" name="Rectangle 170"/>
              <p:cNvSpPr/>
              <p:nvPr/>
            </p:nvSpPr>
            <p:spPr>
              <a:xfrm>
                <a:off x="10429875" y="2838450"/>
                <a:ext cx="1047750" cy="28575"/>
              </a:xfrm>
              <a:prstGeom prst="roundRect">
                <a:avLst>
                  <a:gd name="adj" fmla="val 50000"/>
                </a:avLst>
              </a:prstGeom>
              <a:solidFill>
                <a:srgbClr val="EEEEEE"/>
              </a:solidFill>
              <a:ln>
                <a:noFill/>
              </a:ln>
            </p:spPr>
          </p:sp>
          <p:sp>
            <p:nvSpPr>
              <p:cNvPr id="171" name="Rectangle 171"/>
              <p:cNvSpPr/>
              <p:nvPr/>
            </p:nvSpPr>
            <p:spPr>
              <a:xfrm>
                <a:off x="9972675" y="2971800"/>
                <a:ext cx="285750" cy="28575"/>
              </a:xfrm>
              <a:prstGeom prst="roundRect">
                <a:avLst>
                  <a:gd name="adj" fmla="val 50000"/>
                </a:avLst>
              </a:prstGeom>
              <a:solidFill>
                <a:srgbClr val="DDDDDD"/>
              </a:solidFill>
              <a:ln>
                <a:noFill/>
              </a:ln>
            </p:spPr>
          </p:sp>
          <p:sp>
            <p:nvSpPr>
              <p:cNvPr id="172" name="Rectangle 172"/>
              <p:cNvSpPr/>
              <p:nvPr/>
            </p:nvSpPr>
            <p:spPr>
              <a:xfrm>
                <a:off x="10429875" y="2971800"/>
                <a:ext cx="1047750" cy="28575"/>
              </a:xfrm>
              <a:prstGeom prst="roundRect">
                <a:avLst>
                  <a:gd name="adj" fmla="val 50000"/>
                </a:avLst>
              </a:prstGeom>
              <a:solidFill>
                <a:srgbClr val="EEEEEE"/>
              </a:solidFill>
              <a:ln>
                <a:noFill/>
              </a:ln>
            </p:spPr>
          </p:sp>
          <p:sp>
            <p:nvSpPr>
              <p:cNvPr id="173" name="Rectangle 173"/>
              <p:cNvSpPr/>
              <p:nvPr/>
            </p:nvSpPr>
            <p:spPr>
              <a:xfrm>
                <a:off x="9972675" y="3105150"/>
                <a:ext cx="342900" cy="28575"/>
              </a:xfrm>
              <a:prstGeom prst="roundRect">
                <a:avLst>
                  <a:gd name="adj" fmla="val 50000"/>
                </a:avLst>
              </a:prstGeom>
              <a:solidFill>
                <a:srgbClr val="DDDDDD"/>
              </a:solidFill>
              <a:ln>
                <a:noFill/>
              </a:ln>
            </p:spPr>
          </p:sp>
          <p:sp>
            <p:nvSpPr>
              <p:cNvPr id="174" name="Rectangle 174"/>
              <p:cNvSpPr/>
              <p:nvPr/>
            </p:nvSpPr>
            <p:spPr>
              <a:xfrm>
                <a:off x="10429875" y="3105150"/>
                <a:ext cx="1047750" cy="28575"/>
              </a:xfrm>
              <a:prstGeom prst="roundRect">
                <a:avLst>
                  <a:gd name="adj" fmla="val 50000"/>
                </a:avLst>
              </a:prstGeom>
              <a:solidFill>
                <a:srgbClr val="EEEEEE"/>
              </a:solidFill>
              <a:ln>
                <a:noFill/>
              </a:ln>
            </p:spPr>
          </p:sp>
          <p:sp>
            <p:nvSpPr>
              <p:cNvPr id="175" name="Rectangle 175"/>
              <p:cNvSpPr/>
              <p:nvPr/>
            </p:nvSpPr>
            <p:spPr>
              <a:xfrm>
                <a:off x="9915525" y="3219450"/>
                <a:ext cx="1743075" cy="114300"/>
              </a:xfrm>
              <a:prstGeom prst="rect">
                <a:avLst/>
              </a:prstGeom>
              <a:solidFill>
                <a:srgbClr val="E7EFFC"/>
              </a:solidFill>
              <a:ln>
                <a:noFill/>
              </a:ln>
            </p:spPr>
          </p:sp>
          <p:sp>
            <p:nvSpPr>
              <p:cNvPr id="176" name="TextBox 176"/>
              <p:cNvSpPr txBox="1"/>
              <p:nvPr/>
            </p:nvSpPr>
            <p:spPr>
              <a:xfrm>
                <a:off x="9967912" y="3252549"/>
                <a:ext cx="349568" cy="97631"/>
              </a:xfrm>
              <a:prstGeom prst="rect">
                <a:avLst/>
              </a:prstGeom>
              <a:noFill/>
              <a:ln>
                <a:noFill/>
              </a:ln>
            </p:spPr>
            <p:txBody>
              <a:bodyPr wrap="none" lIns="0" tIns="0" rIns="0" bIns="0" anchor="t" anchorCtr="0">
                <a:spAutoFit/>
              </a:bodyPr>
              <a:lstStyle/>
              <a:p>
                <a:pPr algn="l"/>
                <a:r>
                  <a:rPr lang="zh-CN" sz="490" b="1" dirty="0">
                    <a:solidFill>
                      <a:srgbClr val="932F1B"/>
                    </a:solidFill>
                    <a:latin typeface="+mn-lt"/>
                    <a:ea typeface="+mn-ea"/>
                    <a:cs typeface="+mn-cs"/>
                  </a:rPr>
                  <a:t>健康礼遇​​</a:t>
                </a:r>
              </a:p>
            </p:txBody>
          </p:sp>
          <p:sp>
            <p:nvSpPr>
              <p:cNvPr id="177" name="Rectangle 177"/>
              <p:cNvSpPr/>
              <p:nvPr/>
            </p:nvSpPr>
            <p:spPr>
              <a:xfrm>
                <a:off x="9972675" y="3390900"/>
                <a:ext cx="381000" cy="28575"/>
              </a:xfrm>
              <a:prstGeom prst="roundRect">
                <a:avLst>
                  <a:gd name="adj" fmla="val 50000"/>
                </a:avLst>
              </a:prstGeom>
              <a:solidFill>
                <a:srgbClr val="DDDDDD"/>
              </a:solidFill>
              <a:ln>
                <a:noFill/>
              </a:ln>
            </p:spPr>
          </p:sp>
          <p:sp>
            <p:nvSpPr>
              <p:cNvPr id="178" name="Rectangle 178"/>
              <p:cNvSpPr/>
              <p:nvPr/>
            </p:nvSpPr>
            <p:spPr>
              <a:xfrm>
                <a:off x="10429875" y="3390900"/>
                <a:ext cx="1047750" cy="28575"/>
              </a:xfrm>
              <a:prstGeom prst="roundRect">
                <a:avLst>
                  <a:gd name="adj" fmla="val 50000"/>
                </a:avLst>
              </a:prstGeom>
              <a:solidFill>
                <a:srgbClr val="EEEEEE"/>
              </a:solidFill>
              <a:ln>
                <a:noFill/>
              </a:ln>
            </p:spPr>
          </p:sp>
          <p:sp>
            <p:nvSpPr>
              <p:cNvPr id="179" name="Rectangle 179"/>
              <p:cNvSpPr/>
              <p:nvPr/>
            </p:nvSpPr>
            <p:spPr>
              <a:xfrm>
                <a:off x="10429875" y="3448050"/>
                <a:ext cx="762000" cy="28575"/>
              </a:xfrm>
              <a:prstGeom prst="roundRect">
                <a:avLst>
                  <a:gd name="adj" fmla="val 50000"/>
                </a:avLst>
              </a:prstGeom>
              <a:solidFill>
                <a:srgbClr val="EEEEEE"/>
              </a:solidFill>
              <a:ln>
                <a:noFill/>
              </a:ln>
            </p:spPr>
          </p:sp>
          <p:sp>
            <p:nvSpPr>
              <p:cNvPr id="180" name="Rectangle 180"/>
              <p:cNvSpPr/>
              <p:nvPr/>
            </p:nvSpPr>
            <p:spPr>
              <a:xfrm>
                <a:off x="9915525" y="3543300"/>
                <a:ext cx="1743075" cy="114300"/>
              </a:xfrm>
              <a:prstGeom prst="rect">
                <a:avLst/>
              </a:prstGeom>
              <a:solidFill>
                <a:srgbClr val="E7EFFC"/>
              </a:solidFill>
              <a:ln>
                <a:noFill/>
              </a:ln>
            </p:spPr>
          </p:sp>
          <p:sp>
            <p:nvSpPr>
              <p:cNvPr id="181" name="TextBox 181"/>
              <p:cNvSpPr txBox="1"/>
              <p:nvPr/>
            </p:nvSpPr>
            <p:spPr>
              <a:xfrm>
                <a:off x="9967912" y="3576399"/>
                <a:ext cx="349568" cy="97631"/>
              </a:xfrm>
              <a:prstGeom prst="rect">
                <a:avLst/>
              </a:prstGeom>
              <a:noFill/>
              <a:ln>
                <a:noFill/>
              </a:ln>
            </p:spPr>
            <p:txBody>
              <a:bodyPr wrap="none" lIns="0" tIns="0" rIns="0" bIns="0" anchor="t" anchorCtr="0">
                <a:spAutoFit/>
              </a:bodyPr>
              <a:lstStyle/>
              <a:p>
                <a:pPr algn="l"/>
                <a:r>
                  <a:rPr lang="zh-CN" sz="490" b="1" dirty="0">
                    <a:solidFill>
                      <a:srgbClr val="932F1B"/>
                    </a:solidFill>
                    <a:latin typeface="+mn-lt"/>
                    <a:ea typeface="+mn-ea"/>
                    <a:cs typeface="+mn-cs"/>
                  </a:rPr>
                  <a:t>出行礼遇​​</a:t>
                </a:r>
              </a:p>
            </p:txBody>
          </p:sp>
          <p:sp>
            <p:nvSpPr>
              <p:cNvPr id="182" name="Rectangle 182"/>
              <p:cNvSpPr/>
              <p:nvPr/>
            </p:nvSpPr>
            <p:spPr>
              <a:xfrm>
                <a:off x="9972675" y="3714750"/>
                <a:ext cx="381000" cy="28575"/>
              </a:xfrm>
              <a:prstGeom prst="roundRect">
                <a:avLst>
                  <a:gd name="adj" fmla="val 50000"/>
                </a:avLst>
              </a:prstGeom>
              <a:solidFill>
                <a:srgbClr val="DDDDDD"/>
              </a:solidFill>
              <a:ln>
                <a:noFill/>
              </a:ln>
            </p:spPr>
          </p:sp>
          <p:sp>
            <p:nvSpPr>
              <p:cNvPr id="183" name="Rectangle 183"/>
              <p:cNvSpPr/>
              <p:nvPr/>
            </p:nvSpPr>
            <p:spPr>
              <a:xfrm>
                <a:off x="10429875" y="3714750"/>
                <a:ext cx="1047750" cy="28575"/>
              </a:xfrm>
              <a:prstGeom prst="roundRect">
                <a:avLst>
                  <a:gd name="adj" fmla="val 50000"/>
                </a:avLst>
              </a:prstGeom>
              <a:solidFill>
                <a:srgbClr val="EEEEEE"/>
              </a:solidFill>
              <a:ln>
                <a:noFill/>
              </a:ln>
            </p:spPr>
          </p:sp>
          <p:sp>
            <p:nvSpPr>
              <p:cNvPr id="184" name="Rectangle 184"/>
              <p:cNvSpPr/>
              <p:nvPr/>
            </p:nvSpPr>
            <p:spPr>
              <a:xfrm>
                <a:off x="9972675" y="3848100"/>
                <a:ext cx="285750" cy="28575"/>
              </a:xfrm>
              <a:prstGeom prst="roundRect">
                <a:avLst>
                  <a:gd name="adj" fmla="val 50000"/>
                </a:avLst>
              </a:prstGeom>
              <a:solidFill>
                <a:srgbClr val="DDDDDD"/>
              </a:solidFill>
              <a:ln>
                <a:noFill/>
              </a:ln>
            </p:spPr>
          </p:sp>
          <p:sp>
            <p:nvSpPr>
              <p:cNvPr id="185" name="TextBox 185"/>
              <p:cNvSpPr txBox="1"/>
              <p:nvPr/>
            </p:nvSpPr>
            <p:spPr>
              <a:xfrm>
                <a:off x="10851597" y="3839051"/>
                <a:ext cx="204307" cy="104775"/>
              </a:xfrm>
              <a:prstGeom prst="rect">
                <a:avLst/>
              </a:prstGeom>
              <a:noFill/>
              <a:ln>
                <a:noFill/>
              </a:ln>
            </p:spPr>
            <p:txBody>
              <a:bodyPr wrap="none" lIns="0" tIns="0" rIns="0" bIns="0" anchor="t" anchorCtr="0">
                <a:spAutoFit/>
              </a:bodyPr>
              <a:lstStyle/>
              <a:p>
                <a:pPr algn="ctr"/>
                <a:r>
                  <a:rPr lang="zh-CN" sz="520" b="1" dirty="0">
                    <a:solidFill>
                      <a:srgbClr val="932F1B"/>
                    </a:solidFill>
                    <a:latin typeface="+mn-lt"/>
                    <a:ea typeface="+mn-ea"/>
                    <a:cs typeface="+mn-cs"/>
                  </a:rPr>
                  <a:t>✓​​​</a:t>
                </a:r>
              </a:p>
            </p:txBody>
          </p:sp>
          <p:sp>
            <p:nvSpPr>
              <p:cNvPr id="186" name="TextBox 186"/>
              <p:cNvSpPr txBox="1"/>
              <p:nvPr/>
            </p:nvSpPr>
            <p:spPr>
              <a:xfrm>
                <a:off x="11089722" y="3839051"/>
                <a:ext cx="204307" cy="104775"/>
              </a:xfrm>
              <a:prstGeom prst="rect">
                <a:avLst/>
              </a:prstGeom>
              <a:noFill/>
              <a:ln>
                <a:noFill/>
              </a:ln>
            </p:spPr>
            <p:txBody>
              <a:bodyPr wrap="none" lIns="0" tIns="0" rIns="0" bIns="0" anchor="t" anchorCtr="0">
                <a:spAutoFit/>
              </a:bodyPr>
              <a:lstStyle/>
              <a:p>
                <a:pPr algn="ctr"/>
                <a:r>
                  <a:rPr lang="zh-CN" sz="520" b="1" dirty="0">
                    <a:solidFill>
                      <a:srgbClr val="932F1B"/>
                    </a:solidFill>
                    <a:latin typeface="+mn-lt"/>
                    <a:ea typeface="+mn-ea"/>
                    <a:cs typeface="+mn-cs"/>
                  </a:rPr>
                  <a:t>✓​​​</a:t>
                </a:r>
              </a:p>
            </p:txBody>
          </p:sp>
          <p:sp>
            <p:nvSpPr>
              <p:cNvPr id="187" name="TextBox 187"/>
              <p:cNvSpPr txBox="1"/>
              <p:nvPr/>
            </p:nvSpPr>
            <p:spPr>
              <a:xfrm>
                <a:off x="11327847" y="3839051"/>
                <a:ext cx="204307" cy="104775"/>
              </a:xfrm>
              <a:prstGeom prst="rect">
                <a:avLst/>
              </a:prstGeom>
              <a:noFill/>
              <a:ln>
                <a:noFill/>
              </a:ln>
            </p:spPr>
            <p:txBody>
              <a:bodyPr wrap="none" lIns="0" tIns="0" rIns="0" bIns="0" anchor="t" anchorCtr="0">
                <a:spAutoFit/>
              </a:bodyPr>
              <a:lstStyle/>
              <a:p>
                <a:pPr algn="ctr"/>
                <a:r>
                  <a:rPr lang="zh-CN" sz="520" b="1" dirty="0">
                    <a:solidFill>
                      <a:srgbClr val="932F1B"/>
                    </a:solidFill>
                    <a:latin typeface="+mn-lt"/>
                    <a:ea typeface="+mn-ea"/>
                    <a:cs typeface="+mn-cs"/>
                  </a:rPr>
                  <a:t>✓​​​</a:t>
                </a:r>
              </a:p>
            </p:txBody>
          </p:sp>
          <p:sp>
            <p:nvSpPr>
              <p:cNvPr id="188" name="Rectangle 188"/>
              <p:cNvSpPr/>
              <p:nvPr/>
            </p:nvSpPr>
            <p:spPr>
              <a:xfrm>
                <a:off x="9915525" y="3962400"/>
                <a:ext cx="1743075" cy="114300"/>
              </a:xfrm>
              <a:prstGeom prst="rect">
                <a:avLst/>
              </a:prstGeom>
              <a:solidFill>
                <a:srgbClr val="E7EFFC"/>
              </a:solidFill>
              <a:ln>
                <a:noFill/>
              </a:ln>
            </p:spPr>
          </p:sp>
          <p:sp>
            <p:nvSpPr>
              <p:cNvPr id="189" name="TextBox 189"/>
              <p:cNvSpPr txBox="1"/>
              <p:nvPr/>
            </p:nvSpPr>
            <p:spPr>
              <a:xfrm>
                <a:off x="9967912" y="3995499"/>
                <a:ext cx="349568" cy="97631"/>
              </a:xfrm>
              <a:prstGeom prst="rect">
                <a:avLst/>
              </a:prstGeom>
              <a:noFill/>
              <a:ln>
                <a:noFill/>
              </a:ln>
            </p:spPr>
            <p:txBody>
              <a:bodyPr wrap="none" lIns="0" tIns="0" rIns="0" bIns="0" anchor="t" anchorCtr="0">
                <a:spAutoFit/>
              </a:bodyPr>
              <a:lstStyle/>
              <a:p>
                <a:pPr algn="l"/>
                <a:r>
                  <a:rPr lang="zh-CN" sz="490" b="1" dirty="0">
                    <a:solidFill>
                      <a:srgbClr val="932F1B"/>
                    </a:solidFill>
                    <a:latin typeface="+mn-lt"/>
                    <a:ea typeface="+mn-ea"/>
                    <a:cs typeface="+mn-cs"/>
                  </a:rPr>
                  <a:t>亲子礼遇​​</a:t>
                </a:r>
              </a:p>
            </p:txBody>
          </p:sp>
          <p:sp>
            <p:nvSpPr>
              <p:cNvPr id="190" name="Rectangle 190"/>
              <p:cNvSpPr/>
              <p:nvPr/>
            </p:nvSpPr>
            <p:spPr>
              <a:xfrm>
                <a:off x="9972675" y="4133850"/>
                <a:ext cx="342900" cy="28575"/>
              </a:xfrm>
              <a:prstGeom prst="roundRect">
                <a:avLst>
                  <a:gd name="adj" fmla="val 50000"/>
                </a:avLst>
              </a:prstGeom>
              <a:solidFill>
                <a:srgbClr val="DDDDDD"/>
              </a:solidFill>
              <a:ln>
                <a:noFill/>
              </a:ln>
            </p:spPr>
          </p:sp>
          <p:sp>
            <p:nvSpPr>
              <p:cNvPr id="191" name="Rectangle 191"/>
              <p:cNvSpPr/>
              <p:nvPr/>
            </p:nvSpPr>
            <p:spPr>
              <a:xfrm>
                <a:off x="10429875" y="4133850"/>
                <a:ext cx="1047750" cy="28575"/>
              </a:xfrm>
              <a:prstGeom prst="roundRect">
                <a:avLst>
                  <a:gd name="adj" fmla="val 50000"/>
                </a:avLst>
              </a:prstGeom>
              <a:solidFill>
                <a:srgbClr val="EEEEEE"/>
              </a:solidFill>
              <a:ln>
                <a:noFill/>
              </a:ln>
            </p:spPr>
          </p:sp>
          <p:sp>
            <p:nvSpPr>
              <p:cNvPr id="192" name="Rectangle 192"/>
              <p:cNvSpPr/>
              <p:nvPr/>
            </p:nvSpPr>
            <p:spPr>
              <a:xfrm>
                <a:off x="9972675" y="4267200"/>
                <a:ext cx="342900" cy="28575"/>
              </a:xfrm>
              <a:prstGeom prst="roundRect">
                <a:avLst>
                  <a:gd name="adj" fmla="val 50000"/>
                </a:avLst>
              </a:prstGeom>
              <a:solidFill>
                <a:srgbClr val="DDDDDD"/>
              </a:solidFill>
              <a:ln>
                <a:noFill/>
              </a:ln>
            </p:spPr>
          </p:sp>
          <p:sp>
            <p:nvSpPr>
              <p:cNvPr id="193" name="Rectangle 193"/>
              <p:cNvSpPr/>
              <p:nvPr/>
            </p:nvSpPr>
            <p:spPr>
              <a:xfrm>
                <a:off x="10429875" y="4267200"/>
                <a:ext cx="1047750" cy="28575"/>
              </a:xfrm>
              <a:prstGeom prst="roundRect">
                <a:avLst>
                  <a:gd name="adj" fmla="val 50000"/>
                </a:avLst>
              </a:prstGeom>
              <a:solidFill>
                <a:srgbClr val="EEEEEE"/>
              </a:solidFill>
              <a:ln>
                <a:noFill/>
              </a:ln>
            </p:spPr>
          </p:sp>
          <p:sp>
            <p:nvSpPr>
              <p:cNvPr id="194" name="Rectangle 194"/>
              <p:cNvSpPr/>
              <p:nvPr/>
            </p:nvSpPr>
            <p:spPr>
              <a:xfrm>
                <a:off x="9972675" y="4400550"/>
                <a:ext cx="381000" cy="28575"/>
              </a:xfrm>
              <a:prstGeom prst="roundRect">
                <a:avLst>
                  <a:gd name="adj" fmla="val 50000"/>
                </a:avLst>
              </a:prstGeom>
              <a:solidFill>
                <a:srgbClr val="DDDDDD"/>
              </a:solidFill>
              <a:ln>
                <a:noFill/>
              </a:ln>
            </p:spPr>
          </p:sp>
          <p:sp>
            <p:nvSpPr>
              <p:cNvPr id="195" name="Rectangle 195"/>
              <p:cNvSpPr/>
              <p:nvPr/>
            </p:nvSpPr>
            <p:spPr>
              <a:xfrm>
                <a:off x="10429875" y="4400550"/>
                <a:ext cx="1047750" cy="28575"/>
              </a:xfrm>
              <a:prstGeom prst="roundRect">
                <a:avLst>
                  <a:gd name="adj" fmla="val 50000"/>
                </a:avLst>
              </a:prstGeom>
              <a:solidFill>
                <a:srgbClr val="EEEEEE"/>
              </a:solidFill>
              <a:ln>
                <a:noFill/>
              </a:ln>
            </p:spPr>
          </p:sp>
          <p:sp>
            <p:nvSpPr>
              <p:cNvPr id="196" name="Rectangle 196"/>
              <p:cNvSpPr/>
              <p:nvPr/>
            </p:nvSpPr>
            <p:spPr>
              <a:xfrm>
                <a:off x="9972675" y="4619625"/>
                <a:ext cx="1524000" cy="28575"/>
              </a:xfrm>
              <a:prstGeom prst="roundRect">
                <a:avLst>
                  <a:gd name="adj" fmla="val 50000"/>
                </a:avLst>
              </a:prstGeom>
              <a:solidFill>
                <a:srgbClr val="EEEEEE"/>
              </a:solidFill>
              <a:ln>
                <a:noFill/>
              </a:ln>
            </p:spPr>
          </p:sp>
        </p:grpSp>
        <p:sp>
          <p:nvSpPr>
            <p:cNvPr id="198" name="TextBox 198"/>
            <p:cNvSpPr txBox="1"/>
            <p:nvPr/>
          </p:nvSpPr>
          <p:spPr>
            <a:xfrm>
              <a:off x="10250033" y="5030152"/>
              <a:ext cx="1064533"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R5-R9会员权益​</a:t>
              </a:r>
            </a:p>
          </p:txBody>
        </p:sp>
        <p:sp>
          <p:nvSpPr>
            <p:cNvPr id="199" name="TextBox 199"/>
            <p:cNvSpPr txBox="1"/>
            <p:nvPr/>
          </p:nvSpPr>
          <p:spPr>
            <a:xfrm>
              <a:off x="7741348" y="6017895"/>
              <a:ext cx="1948053" cy="176212"/>
            </a:xfrm>
            <a:prstGeom prst="rect">
              <a:avLst/>
            </a:prstGeom>
            <a:noFill/>
            <a:ln>
              <a:noFill/>
            </a:ln>
          </p:spPr>
          <p:txBody>
            <a:bodyPr wrap="none" lIns="0" tIns="0" rIns="0" bIns="0" anchor="t" anchorCtr="0">
              <a:spAutoFit/>
            </a:bodyPr>
            <a:lstStyle/>
            <a:p>
              <a:pPr algn="ctr"/>
              <a:r>
                <a:rPr lang="zh-CN" sz="900" dirty="0">
                  <a:solidFill>
                    <a:srgbClr val="555555"/>
                  </a:solidFill>
                  <a:latin typeface="+mn-lt"/>
                  <a:ea typeface="+mn-ea"/>
                  <a:cs typeface="+mn-cs"/>
                </a:rPr>
                <a:t>数据来源：公开信息、中电金信整理</a:t>
              </a:r>
            </a:p>
          </p:txBody>
        </p:sp>
      </p:grpSp>
      <p:grpSp>
        <p:nvGrpSpPr>
          <p:cNvPr id="203" name="footer"/>
          <p:cNvGrpSpPr/>
          <p:nvPr/>
        </p:nvGrpSpPr>
        <p:grpSpPr>
          <a:xfrm>
            <a:off x="0" y="6438900"/>
            <a:ext cx="12192000" cy="342900"/>
            <a:chOff x="0" y="6438900"/>
            <a:chExt cx="12192000" cy="342900"/>
          </a:xfrm>
        </p:grpSpPr>
        <p:sp>
          <p:nvSpPr>
            <p:cNvPr id="201" name="Line 201"/>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202" name="TextBox 202"/>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23​</a:t>
              </a:r>
            </a:p>
          </p:txBody>
        </p:sp>
        <p:sp>
          <p:nvSpPr>
            <p:cNvPr id="4" name="TextBox 4"/>
            <p:cNvSpPr txBox="1"/>
            <p:nvPr/>
          </p:nvSpPr>
          <p:spPr>
            <a:xfrm>
              <a:off x="885444" y="160973"/>
              <a:ext cx="7213351"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2.2.3 权益运营｜</a:t>
              </a:r>
              <a:r>
                <a:rPr lang="zh-CN" sz="1950" b="1" dirty="0">
                  <a:solidFill>
                    <a:srgbClr val="E74726"/>
                  </a:solidFill>
                  <a:latin typeface="+mj-lt"/>
                  <a:ea typeface="+mj-ea"/>
                  <a:cs typeface="+mj-cs"/>
                </a:rPr>
                <a:t>领先同业长尾客户活动权益配置案例</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8211204" cy="249364"/>
            <a:chOff x="374523" y="681514"/>
            <a:chExt cx="8211204" cy="249364"/>
          </a:xfrm>
        </p:grpSpPr>
        <p:sp>
          <p:nvSpPr>
            <p:cNvPr id="16" name="TextBox 16"/>
            <p:cNvSpPr txBox="1"/>
            <p:nvPr/>
          </p:nvSpPr>
          <p:spPr>
            <a:xfrm>
              <a:off x="374523" y="681514"/>
              <a:ext cx="8211204"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短期主题活动权益主打瞬时破局、精准提效，通过限时、高频、轻量的权益刺激，实现阶段性业务指标速赢​</a:t>
              </a:r>
            </a:p>
          </p:txBody>
        </p:sp>
      </p:grpSp>
      <p:grpSp>
        <p:nvGrpSpPr>
          <p:cNvPr id="19" name="guide"/>
          <p:cNvGrpSpPr/>
          <p:nvPr/>
        </p:nvGrpSpPr>
        <p:grpSpPr>
          <a:xfrm>
            <a:off x="376047" y="990124"/>
            <a:ext cx="7060565" cy="371666"/>
            <a:chOff x="376047" y="990124"/>
            <a:chExt cx="7060565" cy="371666"/>
          </a:xfrm>
        </p:grpSpPr>
        <p:sp>
          <p:nvSpPr>
            <p:cNvPr id="18" name="TextBox 18"/>
            <p:cNvSpPr txBox="1"/>
            <p:nvPr/>
          </p:nvSpPr>
          <p:spPr>
            <a:xfrm>
              <a:off x="376047" y="990124"/>
              <a:ext cx="7060565"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短期主题活动权益的设计与执行，一是坚持高频小额与即时感知优先，二是确保低门槛与低认知成本，以精准匹配长尾客群画​​​</a:t>
              </a:r>
              <a:br/>
              <a:r>
                <a:rPr lang="zh-CN" sz="980" dirty="0">
                  <a:solidFill>
                    <a:srgbClr val="333333"/>
                  </a:solidFill>
                  <a:latin typeface="+mn-lt"/>
                  <a:ea typeface="+mn-ea"/>
                  <a:cs typeface="+mn-cs"/>
                </a:rPr>
                <a:t>像，最大化活动参与率与权益转化率。</a:t>
              </a:r>
            </a:p>
          </p:txBody>
        </p:sp>
      </p:grpSp>
      <p:grpSp>
        <p:nvGrpSpPr>
          <p:cNvPr id="26" name="bank-cmb"/>
          <p:cNvGrpSpPr/>
          <p:nvPr/>
        </p:nvGrpSpPr>
        <p:grpSpPr>
          <a:xfrm>
            <a:off x="400050" y="1762125"/>
            <a:ext cx="3982212" cy="1495140"/>
            <a:chOff x="400050" y="1762125"/>
            <a:chExt cx="3982212" cy="1495140"/>
          </a:xfrm>
        </p:grpSpPr>
        <p:sp>
          <p:nvSpPr>
            <p:cNvPr id="20" name="Ellipse 20"/>
            <p:cNvSpPr/>
            <p:nvPr/>
          </p:nvSpPr>
          <p:spPr>
            <a:xfrm>
              <a:off x="400050" y="1762125"/>
              <a:ext cx="381000" cy="381000"/>
            </a:xfrm>
            <a:prstGeom prst="ellipse">
              <a:avLst/>
            </a:prstGeom>
            <a:solidFill>
              <a:srgbClr val="E62B00"/>
            </a:solidFill>
            <a:ln>
              <a:noFill/>
            </a:ln>
          </p:spPr>
        </p:sp>
        <p:sp>
          <p:nvSpPr>
            <p:cNvPr id="21" name="TextBox 21"/>
            <p:cNvSpPr txBox="1"/>
            <p:nvPr/>
          </p:nvSpPr>
          <p:spPr>
            <a:xfrm>
              <a:off x="503682" y="1880235"/>
              <a:ext cx="17373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招</a:t>
              </a:r>
            </a:p>
          </p:txBody>
        </p:sp>
        <p:sp>
          <p:nvSpPr>
            <p:cNvPr id="22" name="TextBox 22"/>
            <p:cNvSpPr txBox="1"/>
            <p:nvPr/>
          </p:nvSpPr>
          <p:spPr>
            <a:xfrm>
              <a:off x="898398" y="1881664"/>
              <a:ext cx="1736090" cy="249364"/>
            </a:xfrm>
            <a:prstGeom prst="rect">
              <a:avLst/>
            </a:prstGeom>
            <a:noFill/>
            <a:ln>
              <a:noFill/>
            </a:ln>
          </p:spPr>
          <p:txBody>
            <a:bodyPr wrap="none" lIns="0" tIns="0" rIns="0" bIns="0" anchor="t" anchorCtr="0">
              <a:spAutoFit/>
            </a:bodyPr>
            <a:lstStyle/>
            <a:p>
              <a:pPr algn="l"/>
              <a:r>
                <a:rPr lang="zh-CN" sz="1280" b="1" dirty="0">
                  <a:solidFill>
                    <a:srgbClr val="E74726"/>
                  </a:solidFill>
                  <a:latin typeface="+mn-lt"/>
                  <a:ea typeface="+mn-ea"/>
                  <a:cs typeface="+mn-cs"/>
                </a:rPr>
                <a:t>招商银行｜会员升级礼</a:t>
              </a:r>
            </a:p>
          </p:txBody>
        </p:sp>
        <p:sp>
          <p:nvSpPr>
            <p:cNvPr id="23" name="TextBox 23"/>
            <p:cNvSpPr txBox="1"/>
            <p:nvPr/>
          </p:nvSpPr>
          <p:spPr>
            <a:xfrm>
              <a:off x="899922" y="2209324"/>
              <a:ext cx="3482340"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提升至大众M2档位后，提供4选1权益包组合，涵盖实物​​​​</a:t>
              </a:r>
              <a:br/>
              <a:r>
                <a:rPr lang="zh-CN" sz="980" dirty="0">
                  <a:solidFill>
                    <a:srgbClr val="333333"/>
                  </a:solidFill>
                  <a:latin typeface="+mn-lt"/>
                  <a:ea typeface="+mn-ea"/>
                  <a:cs typeface="+mn-cs"/>
                </a:rPr>
                <a:t xml:space="preserve">　礼品 + 金融返现​</a:t>
              </a:r>
            </a:p>
          </p:txBody>
        </p:sp>
        <p:sp>
          <p:nvSpPr>
            <p:cNvPr id="24" name="TextBox 24"/>
            <p:cNvSpPr txBox="1"/>
            <p:nvPr/>
          </p:nvSpPr>
          <p:spPr>
            <a:xfrm>
              <a:off x="899922" y="2656999"/>
              <a:ext cx="3371695"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 小招喵 IP 周边产品：日常高频触达，沉淀品牌好感​​​</a:t>
              </a:r>
            </a:p>
          </p:txBody>
        </p:sp>
        <p:sp>
          <p:nvSpPr>
            <p:cNvPr id="25" name="TextBox 25"/>
            <p:cNvSpPr txBox="1"/>
            <p:nvPr/>
          </p:nvSpPr>
          <p:spPr>
            <a:xfrm>
              <a:off x="899922" y="2876074"/>
              <a:ext cx="3457448"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5元支付 / 还款返现券：绑定招行 APP、信用卡生态，​​​​​</a:t>
              </a:r>
              <a:br/>
              <a:r>
                <a:rPr lang="zh-CN" sz="980" dirty="0">
                  <a:solidFill>
                    <a:srgbClr val="333333"/>
                  </a:solidFill>
                  <a:latin typeface="+mn-lt"/>
                  <a:ea typeface="+mn-ea"/>
                  <a:cs typeface="+mn-cs"/>
                </a:rPr>
                <a:t xml:space="preserve">　串联多元金融行为</a:t>
              </a:r>
            </a:p>
          </p:txBody>
        </p:sp>
      </p:grpSp>
      <p:grpSp>
        <p:nvGrpSpPr>
          <p:cNvPr id="32" name="bank-citic"/>
          <p:cNvGrpSpPr/>
          <p:nvPr/>
        </p:nvGrpSpPr>
        <p:grpSpPr>
          <a:xfrm>
            <a:off x="400050" y="3619500"/>
            <a:ext cx="4342275" cy="1037940"/>
            <a:chOff x="400050" y="3619500"/>
            <a:chExt cx="4342275" cy="1037940"/>
          </a:xfrm>
        </p:grpSpPr>
        <p:sp>
          <p:nvSpPr>
            <p:cNvPr id="27" name="Ellipse 27"/>
            <p:cNvSpPr/>
            <p:nvPr/>
          </p:nvSpPr>
          <p:spPr>
            <a:xfrm>
              <a:off x="400050" y="3619500"/>
              <a:ext cx="381000" cy="381000"/>
            </a:xfrm>
            <a:prstGeom prst="ellipse">
              <a:avLst/>
            </a:prstGeom>
            <a:solidFill>
              <a:srgbClr val="E62B00"/>
            </a:solidFill>
            <a:ln>
              <a:noFill/>
            </a:ln>
          </p:spPr>
        </p:sp>
        <p:sp>
          <p:nvSpPr>
            <p:cNvPr id="28" name="TextBox 28"/>
            <p:cNvSpPr txBox="1"/>
            <p:nvPr/>
          </p:nvSpPr>
          <p:spPr>
            <a:xfrm>
              <a:off x="484822" y="377666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中信</a:t>
              </a:r>
            </a:p>
          </p:txBody>
        </p:sp>
        <p:sp>
          <p:nvSpPr>
            <p:cNvPr id="29" name="TextBox 29"/>
            <p:cNvSpPr txBox="1"/>
            <p:nvPr/>
          </p:nvSpPr>
          <p:spPr>
            <a:xfrm>
              <a:off x="898398" y="3739039"/>
              <a:ext cx="1736090" cy="249364"/>
            </a:xfrm>
            <a:prstGeom prst="rect">
              <a:avLst/>
            </a:prstGeom>
            <a:noFill/>
            <a:ln>
              <a:noFill/>
            </a:ln>
          </p:spPr>
          <p:txBody>
            <a:bodyPr wrap="none" lIns="0" tIns="0" rIns="0" bIns="0" anchor="t" anchorCtr="0">
              <a:spAutoFit/>
            </a:bodyPr>
            <a:lstStyle/>
            <a:p>
              <a:pPr algn="l"/>
              <a:r>
                <a:rPr lang="zh-CN" sz="1280" b="1" dirty="0">
                  <a:solidFill>
                    <a:srgbClr val="E74726"/>
                  </a:solidFill>
                  <a:latin typeface="+mn-lt"/>
                  <a:ea typeface="+mn-ea"/>
                  <a:cs typeface="+mn-cs"/>
                </a:rPr>
                <a:t>中信银行｜会员升级礼</a:t>
              </a:r>
            </a:p>
          </p:txBody>
        </p:sp>
        <p:sp>
          <p:nvSpPr>
            <p:cNvPr id="30" name="TextBox 30"/>
            <p:cNvSpPr txBox="1"/>
            <p:nvPr/>
          </p:nvSpPr>
          <p:spPr>
            <a:xfrm>
              <a:off x="899922" y="4066699"/>
              <a:ext cx="3842403"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 客户资产提升至5万元等级档位后，直接赠送50元微信立减金​​</a:t>
              </a:r>
            </a:p>
          </p:txBody>
        </p:sp>
        <p:sp>
          <p:nvSpPr>
            <p:cNvPr id="31" name="TextBox 31"/>
            <p:cNvSpPr txBox="1"/>
            <p:nvPr/>
          </p:nvSpPr>
          <p:spPr>
            <a:xfrm>
              <a:off x="899922" y="4276249"/>
              <a:ext cx="3364103"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权益价值感突出、门槛清晰明确，迅速在客户心中建立​​​</a:t>
              </a:r>
              <a:br/>
              <a:r>
                <a:rPr lang="zh-CN" sz="980" dirty="0">
                  <a:solidFill>
                    <a:srgbClr val="333333"/>
                  </a:solidFill>
                  <a:latin typeface="+mn-lt"/>
                  <a:ea typeface="+mn-ea"/>
                  <a:cs typeface="+mn-cs"/>
                </a:rPr>
                <a:t xml:space="preserve">　起提升资产即可获得真金白银的强感知</a:t>
              </a:r>
            </a:p>
          </p:txBody>
        </p:sp>
      </p:grpSp>
      <p:grpSp>
        <p:nvGrpSpPr>
          <p:cNvPr id="38" name="bank-spdb"/>
          <p:cNvGrpSpPr/>
          <p:nvPr/>
        </p:nvGrpSpPr>
        <p:grpSpPr>
          <a:xfrm>
            <a:off x="400050" y="4667250"/>
            <a:ext cx="4374261" cy="1076039"/>
            <a:chOff x="400050" y="4667250"/>
            <a:chExt cx="4374261" cy="1076039"/>
          </a:xfrm>
        </p:grpSpPr>
        <p:sp>
          <p:nvSpPr>
            <p:cNvPr id="33" name="Ellipse 33"/>
            <p:cNvSpPr/>
            <p:nvPr/>
          </p:nvSpPr>
          <p:spPr>
            <a:xfrm>
              <a:off x="400050" y="4667250"/>
              <a:ext cx="381000" cy="381000"/>
            </a:xfrm>
            <a:prstGeom prst="ellipse">
              <a:avLst/>
            </a:prstGeom>
            <a:solidFill>
              <a:srgbClr val="A11B00"/>
            </a:solidFill>
            <a:ln>
              <a:noFill/>
            </a:ln>
          </p:spPr>
        </p:sp>
        <p:sp>
          <p:nvSpPr>
            <p:cNvPr id="34" name="TextBox 34"/>
            <p:cNvSpPr txBox="1"/>
            <p:nvPr/>
          </p:nvSpPr>
          <p:spPr>
            <a:xfrm>
              <a:off x="484822" y="482441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浦发</a:t>
              </a:r>
            </a:p>
          </p:txBody>
        </p:sp>
        <p:sp>
          <p:nvSpPr>
            <p:cNvPr id="35" name="TextBox 35"/>
            <p:cNvSpPr txBox="1"/>
            <p:nvPr/>
          </p:nvSpPr>
          <p:spPr>
            <a:xfrm>
              <a:off x="898398" y="4786789"/>
              <a:ext cx="1736090" cy="249364"/>
            </a:xfrm>
            <a:prstGeom prst="rect">
              <a:avLst/>
            </a:prstGeom>
            <a:noFill/>
            <a:ln>
              <a:noFill/>
            </a:ln>
          </p:spPr>
          <p:txBody>
            <a:bodyPr wrap="none" lIns="0" tIns="0" rIns="0" bIns="0" anchor="t" anchorCtr="0">
              <a:spAutoFit/>
            </a:bodyPr>
            <a:lstStyle/>
            <a:p>
              <a:pPr algn="l"/>
              <a:r>
                <a:rPr lang="zh-CN" sz="1280" b="1" dirty="0">
                  <a:solidFill>
                    <a:srgbClr val="E74726"/>
                  </a:solidFill>
                  <a:latin typeface="+mn-lt"/>
                  <a:ea typeface="+mn-ea"/>
                  <a:cs typeface="+mn-cs"/>
                </a:rPr>
                <a:t>浦发银行｜会员升级礼</a:t>
              </a:r>
            </a:p>
          </p:txBody>
        </p:sp>
        <p:sp>
          <p:nvSpPr>
            <p:cNvPr id="36" name="TextBox 36"/>
            <p:cNvSpPr txBox="1"/>
            <p:nvPr/>
          </p:nvSpPr>
          <p:spPr>
            <a:xfrm>
              <a:off x="899922" y="5114449"/>
              <a:ext cx="3874389" cy="381191"/>
            </a:xfrm>
            <a:prstGeom prst="rect">
              <a:avLst/>
            </a:prstGeom>
            <a:noFill/>
            <a:ln>
              <a:noFill/>
            </a:ln>
          </p:spPr>
          <p:txBody>
            <a:bodyPr wrap="none" lIns="0" tIns="0" rIns="0" bIns="0" anchor="t" anchorCtr="0">
              <a:spAutoFit/>
            </a:bodyPr>
            <a:lstStyle/>
            <a:p>
              <a:pPr algn="l">
                <a:lnSpc>
                  <a:spcPts val="1500"/>
                </a:lnSpc>
              </a:pPr>
              <a:r>
                <a:rPr lang="zh-CN" sz="980" dirty="0">
                  <a:solidFill>
                    <a:srgbClr val="333333"/>
                  </a:solidFill>
                  <a:latin typeface="+mn-lt"/>
                  <a:ea typeface="+mn-ea"/>
                  <a:cs typeface="+mn-cs"/>
                </a:rPr>
                <a:t>✓ 客户资产提升至万元后，提供5元信用卡还款金、肯德基5元券、​​​</a:t>
              </a:r>
              <a:br/>
              <a:r>
                <a:rPr lang="zh-CN" sz="980" dirty="0">
                  <a:solidFill>
                    <a:srgbClr val="333333"/>
                  </a:solidFill>
                  <a:latin typeface="+mn-lt"/>
                  <a:ea typeface="+mn-ea"/>
                  <a:cs typeface="+mn-cs"/>
                </a:rPr>
                <a:t xml:space="preserve">　美团外卖5元券、滴滴打车元券</a:t>
              </a:r>
            </a:p>
          </p:txBody>
        </p:sp>
        <p:sp>
          <p:nvSpPr>
            <p:cNvPr id="37" name="TextBox 37"/>
            <p:cNvSpPr txBox="1"/>
            <p:nvPr/>
          </p:nvSpPr>
          <p:spPr>
            <a:xfrm>
              <a:off x="899922" y="5552599"/>
              <a:ext cx="2892524"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 以场景化、生活化权益拉近与长尾客群的距离​</a:t>
              </a:r>
            </a:p>
          </p:txBody>
        </p:sp>
      </p:grpSp>
      <p:grpSp>
        <p:nvGrpSpPr>
          <p:cNvPr id="135" name="case-panel"/>
          <p:cNvGrpSpPr/>
          <p:nvPr/>
        </p:nvGrpSpPr>
        <p:grpSpPr>
          <a:xfrm>
            <a:off x="5572125" y="1581150"/>
            <a:ext cx="6238875" cy="4562475"/>
            <a:chOff x="5572125" y="1581150"/>
            <a:chExt cx="6238875" cy="4562475"/>
          </a:xfrm>
        </p:grpSpPr>
        <p:sp>
          <p:nvSpPr>
            <p:cNvPr id="39" name="Rectangle 39"/>
            <p:cNvSpPr/>
            <p:nvPr/>
          </p:nvSpPr>
          <p:spPr>
            <a:xfrm>
              <a:off x="5572125" y="1762125"/>
              <a:ext cx="6238875" cy="4381500"/>
            </a:xfrm>
            <a:prstGeom prst="roundRect">
              <a:avLst>
                <a:gd name="adj" fmla="val 870"/>
              </a:avLst>
            </a:prstGeom>
            <a:solidFill>
              <a:srgbClr val="FFFFFF"/>
            </a:solidFill>
            <a:ln w="9525">
              <a:solidFill>
                <a:srgbClr val="F1917D"/>
              </a:solidFill>
              <a:custDash>
                <a:ds d="600000" sp="400000"/>
              </a:custDash>
            </a:ln>
          </p:spPr>
        </p:sp>
        <p:sp>
          <p:nvSpPr>
            <p:cNvPr id="40" name="Rectangle 40"/>
            <p:cNvSpPr/>
            <p:nvPr/>
          </p:nvSpPr>
          <p:spPr>
            <a:xfrm>
              <a:off x="7000875" y="1581150"/>
              <a:ext cx="3429000" cy="247650"/>
            </a:xfrm>
            <a:prstGeom prst="rect">
              <a:avLst/>
            </a:prstGeom>
            <a:solidFill>
              <a:srgbClr val="FFFFFF"/>
            </a:solidFill>
            <a:ln>
              <a:noFill/>
            </a:ln>
          </p:spPr>
        </p:sp>
        <p:sp>
          <p:nvSpPr>
            <p:cNvPr id="41" name="TextBox 41"/>
            <p:cNvSpPr txBox="1"/>
            <p:nvPr/>
          </p:nvSpPr>
          <p:spPr>
            <a:xfrm>
              <a:off x="7469124" y="1632585"/>
              <a:ext cx="2435352" cy="234696"/>
            </a:xfrm>
            <a:prstGeom prst="rect">
              <a:avLst/>
            </a:prstGeom>
            <a:noFill/>
            <a:ln>
              <a:noFill/>
            </a:ln>
          </p:spPr>
          <p:txBody>
            <a:bodyPr wrap="none" lIns="0" tIns="0" rIns="0" bIns="0" anchor="t" anchorCtr="0">
              <a:spAutoFit/>
            </a:bodyPr>
            <a:lstStyle/>
            <a:p>
              <a:pPr algn="ctr"/>
              <a:r>
                <a:rPr lang="zh-CN" sz="1200" b="1" dirty="0">
                  <a:solidFill>
                    <a:srgbClr val="E74726"/>
                  </a:solidFill>
                  <a:latin typeface="+mn-lt"/>
                  <a:ea typeface="+mn-ea"/>
                  <a:cs typeface="+mn-cs"/>
                </a:rPr>
                <a:t>三家银行长尾客群会员升级礼示例</a:t>
              </a:r>
            </a:p>
          </p:txBody>
        </p:sp>
        <p:grpSp>
          <p:nvGrpSpPr>
            <p:cNvPr id="72" name="shot-cmb"/>
            <p:cNvGrpSpPr/>
            <p:nvPr/>
          </p:nvGrpSpPr>
          <p:grpSpPr>
            <a:xfrm>
              <a:off x="5715000" y="1952625"/>
              <a:ext cx="1857375" cy="3286125"/>
              <a:chOff x="5715000" y="1952625"/>
              <a:chExt cx="1857375" cy="3286125"/>
            </a:xfrm>
          </p:grpSpPr>
          <p:sp>
            <p:nvSpPr>
              <p:cNvPr id="42" name="Rectangle 42"/>
              <p:cNvSpPr/>
              <p:nvPr/>
            </p:nvSpPr>
            <p:spPr>
              <a:xfrm>
                <a:off x="5715000" y="1952625"/>
                <a:ext cx="1857375" cy="3286125"/>
              </a:xfrm>
              <a:prstGeom prst="roundRect">
                <a:avLst>
                  <a:gd name="adj" fmla="val 5128"/>
                </a:avLst>
              </a:prstGeom>
              <a:solidFill>
                <a:srgbClr val="FFFFFF"/>
              </a:solidFill>
              <a:ln w="9525">
                <a:solidFill>
                  <a:srgbClr val="D9D9D9"/>
                </a:solidFill>
              </a:ln>
            </p:spPr>
          </p:sp>
          <p:sp>
            <p:nvSpPr>
              <p:cNvPr id="43" name="Rectangle 43"/>
              <p:cNvSpPr/>
              <p:nvPr/>
            </p:nvSpPr>
            <p:spPr>
              <a:xfrm>
                <a:off x="5715000" y="1952625"/>
                <a:ext cx="1857375" cy="552450"/>
              </a:xfrm>
              <a:prstGeom prst="roundRect">
                <a:avLst>
                  <a:gd name="adj" fmla="val 17241"/>
                </a:avLst>
              </a:prstGeom>
              <a:gradFill>
                <a:gsLst>
                  <a:gs pos="0">
                    <a:srgbClr val="E8553C"/>
                  </a:gs>
                  <a:gs pos="100000">
                    <a:srgbClr val="C83E1E"/>
                  </a:gs>
                </a:gsLst>
                <a:lin ang="5400000" scaled="1"/>
              </a:gradFill>
              <a:ln>
                <a:noFill/>
              </a:ln>
            </p:spPr>
          </p:sp>
          <p:sp>
            <p:nvSpPr>
              <p:cNvPr id="44" name="TextBox 44"/>
              <p:cNvSpPr txBox="1"/>
              <p:nvPr/>
            </p:nvSpPr>
            <p:spPr>
              <a:xfrm>
                <a:off x="5824347" y="2066449"/>
                <a:ext cx="956455"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M+升级有礼​​​</a:t>
                </a:r>
              </a:p>
            </p:txBody>
          </p:sp>
          <p:sp>
            <p:nvSpPr>
              <p:cNvPr id="45" name="TextBox 45"/>
              <p:cNvSpPr txBox="1"/>
              <p:nvPr/>
            </p:nvSpPr>
            <p:spPr>
              <a:xfrm>
                <a:off x="5824538" y="2248376"/>
                <a:ext cx="576544" cy="104775"/>
              </a:xfrm>
              <a:prstGeom prst="rect">
                <a:avLst/>
              </a:prstGeom>
              <a:noFill/>
              <a:ln>
                <a:noFill/>
              </a:ln>
            </p:spPr>
            <p:txBody>
              <a:bodyPr wrap="none" lIns="0" tIns="0" rIns="0" bIns="0" anchor="t" anchorCtr="0">
                <a:spAutoFit/>
              </a:bodyPr>
              <a:lstStyle/>
              <a:p>
                <a:pPr algn="l"/>
                <a:r>
                  <a:rPr lang="zh-CN" sz="520" dirty="0">
                    <a:solidFill>
                      <a:srgbClr val="FFE1DD"/>
                    </a:solidFill>
                    <a:latin typeface="+mn-lt"/>
                    <a:ea typeface="+mn-ea"/>
                    <a:cs typeface="+mn-cs"/>
                  </a:rPr>
                  <a:t>提升升级享好礼​​</a:t>
                </a:r>
              </a:p>
            </p:txBody>
          </p:sp>
          <p:sp>
            <p:nvSpPr>
              <p:cNvPr id="46" name="Rectangle 46"/>
              <p:cNvSpPr/>
              <p:nvPr/>
            </p:nvSpPr>
            <p:spPr>
              <a:xfrm>
                <a:off x="7096125" y="2057400"/>
                <a:ext cx="361950" cy="152400"/>
              </a:xfrm>
              <a:prstGeom prst="roundRect">
                <a:avLst>
                  <a:gd name="adj" fmla="val 50000"/>
                </a:avLst>
              </a:prstGeom>
              <a:solidFill>
                <a:srgbClr val="FFFFFF">
                  <a:alpha val="25000"/>
                </a:srgbClr>
              </a:solidFill>
              <a:ln>
                <a:noFill/>
              </a:ln>
            </p:spPr>
          </p:sp>
          <p:sp>
            <p:nvSpPr>
              <p:cNvPr id="47" name="TextBox 47"/>
              <p:cNvSpPr txBox="1"/>
              <p:nvPr/>
            </p:nvSpPr>
            <p:spPr>
              <a:xfrm>
                <a:off x="7128833" y="2115026"/>
                <a:ext cx="296535"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去升级​​</a:t>
                </a:r>
              </a:p>
            </p:txBody>
          </p:sp>
          <p:sp>
            <p:nvSpPr>
              <p:cNvPr id="48" name="TextBox 48"/>
              <p:cNvSpPr txBox="1"/>
              <p:nvPr/>
            </p:nvSpPr>
            <p:spPr>
              <a:xfrm>
                <a:off x="6091238" y="2391251"/>
                <a:ext cx="421350" cy="104775"/>
              </a:xfrm>
              <a:prstGeom prst="rect">
                <a:avLst/>
              </a:prstGeom>
              <a:noFill/>
              <a:ln>
                <a:noFill/>
              </a:ln>
            </p:spPr>
            <p:txBody>
              <a:bodyPr wrap="none" lIns="0" tIns="0" rIns="0" bIns="0" anchor="t" anchorCtr="0">
                <a:spAutoFit/>
              </a:bodyPr>
              <a:lstStyle/>
              <a:p>
                <a:pPr algn="l"/>
                <a:r>
                  <a:rPr lang="zh-CN" sz="520" b="1" dirty="0">
                    <a:solidFill>
                      <a:srgbClr val="FFFFFF"/>
                    </a:solidFill>
                    <a:latin typeface="+mn-lt"/>
                    <a:ea typeface="+mn-ea"/>
                    <a:cs typeface="+mn-cs"/>
                  </a:rPr>
                  <a:t>大众M2​​​​</a:t>
                </a:r>
              </a:p>
            </p:txBody>
          </p:sp>
          <p:sp>
            <p:nvSpPr>
              <p:cNvPr id="49" name="TextBox 49"/>
              <p:cNvSpPr txBox="1"/>
              <p:nvPr/>
            </p:nvSpPr>
            <p:spPr>
              <a:xfrm>
                <a:off x="7138988" y="2391251"/>
                <a:ext cx="367726" cy="104775"/>
              </a:xfrm>
              <a:prstGeom prst="rect">
                <a:avLst/>
              </a:prstGeom>
              <a:noFill/>
              <a:ln>
                <a:noFill/>
              </a:ln>
            </p:spPr>
            <p:txBody>
              <a:bodyPr wrap="none" lIns="0" tIns="0" rIns="0" bIns="0" anchor="t" anchorCtr="0">
                <a:spAutoFit/>
              </a:bodyPr>
              <a:lstStyle/>
              <a:p>
                <a:pPr algn="l"/>
                <a:r>
                  <a:rPr lang="zh-CN" sz="520" dirty="0">
                    <a:solidFill>
                      <a:srgbClr val="FFD7D0"/>
                    </a:solidFill>
                    <a:latin typeface="+mn-lt"/>
                    <a:ea typeface="+mn-ea"/>
                    <a:cs typeface="+mn-cs"/>
                  </a:rPr>
                  <a:t>金卡M1​​​</a:t>
                </a:r>
              </a:p>
            </p:txBody>
          </p:sp>
          <p:sp>
            <p:nvSpPr>
              <p:cNvPr id="50" name="Rectangle 50"/>
              <p:cNvSpPr/>
              <p:nvPr/>
            </p:nvSpPr>
            <p:spPr>
              <a:xfrm>
                <a:off x="5829300" y="2590800"/>
                <a:ext cx="1628775" cy="2000250"/>
              </a:xfrm>
              <a:prstGeom prst="roundRect">
                <a:avLst>
                  <a:gd name="adj" fmla="val 3509"/>
                </a:avLst>
              </a:prstGeom>
              <a:solidFill>
                <a:srgbClr val="FFFFFF"/>
              </a:solidFill>
              <a:ln w="9525">
                <a:solidFill>
                  <a:srgbClr val="EEEEEE"/>
                </a:solidFill>
              </a:ln>
            </p:spPr>
          </p:sp>
          <p:sp>
            <p:nvSpPr>
              <p:cNvPr id="51" name="TextBox 51"/>
              <p:cNvSpPr txBox="1"/>
              <p:nvPr/>
            </p:nvSpPr>
            <p:spPr>
              <a:xfrm>
                <a:off x="5900738" y="2689384"/>
                <a:ext cx="704991" cy="133350"/>
              </a:xfrm>
              <a:prstGeom prst="rect">
                <a:avLst/>
              </a:prstGeom>
              <a:noFill/>
              <a:ln>
                <a:noFill/>
              </a:ln>
            </p:spPr>
            <p:txBody>
              <a:bodyPr wrap="none" lIns="0" tIns="0" rIns="0" bIns="0" anchor="t" anchorCtr="0">
                <a:spAutoFit/>
              </a:bodyPr>
              <a:lstStyle/>
              <a:p>
                <a:pPr algn="l"/>
                <a:r>
                  <a:rPr lang="zh-CN" sz="680" b="1" dirty="0">
                    <a:solidFill>
                      <a:srgbClr val="333333"/>
                    </a:solidFill>
                    <a:latin typeface="+mn-lt"/>
                    <a:ea typeface="+mn-ea"/>
                    <a:cs typeface="+mn-cs"/>
                  </a:rPr>
                  <a:t>大众M2升级礼​​</a:t>
                </a:r>
              </a:p>
            </p:txBody>
          </p:sp>
          <p:sp>
            <p:nvSpPr>
              <p:cNvPr id="52" name="TextBox 52"/>
              <p:cNvSpPr txBox="1"/>
              <p:nvPr/>
            </p:nvSpPr>
            <p:spPr>
              <a:xfrm>
                <a:off x="5900738" y="2830830"/>
                <a:ext cx="230234" cy="119062"/>
              </a:xfrm>
              <a:prstGeom prst="rect">
                <a:avLst/>
              </a:prstGeom>
              <a:noFill/>
              <a:ln>
                <a:noFill/>
              </a:ln>
            </p:spPr>
            <p:txBody>
              <a:bodyPr wrap="none" lIns="0" tIns="0" rIns="0" bIns="0" anchor="t" anchorCtr="0">
                <a:spAutoFit/>
              </a:bodyPr>
              <a:lstStyle/>
              <a:p>
                <a:pPr algn="l"/>
                <a:r>
                  <a:rPr lang="zh-CN" sz="600" b="1" dirty="0">
                    <a:solidFill>
                      <a:srgbClr val="E8553C"/>
                    </a:solidFill>
                    <a:latin typeface="+mn-lt"/>
                    <a:ea typeface="+mn-ea"/>
                    <a:cs typeface="+mn-cs"/>
                  </a:rPr>
                  <a:t>4选1​</a:t>
                </a:r>
              </a:p>
            </p:txBody>
          </p:sp>
          <p:sp>
            <p:nvSpPr>
              <p:cNvPr id="53" name="TextBox 53"/>
              <p:cNvSpPr txBox="1"/>
              <p:nvPr/>
            </p:nvSpPr>
            <p:spPr>
              <a:xfrm>
                <a:off x="5900738" y="2946321"/>
                <a:ext cx="975424" cy="83344"/>
              </a:xfrm>
              <a:prstGeom prst="rect">
                <a:avLst/>
              </a:prstGeom>
              <a:noFill/>
              <a:ln>
                <a:noFill/>
              </a:ln>
            </p:spPr>
            <p:txBody>
              <a:bodyPr wrap="none" lIns="0" tIns="0" rIns="0" bIns="0" anchor="t" anchorCtr="0">
                <a:spAutoFit/>
              </a:bodyPr>
              <a:lstStyle/>
              <a:p>
                <a:pPr algn="l"/>
                <a:r>
                  <a:rPr lang="zh-CN" sz="410" dirty="0">
                    <a:solidFill>
                      <a:srgbClr val="999999"/>
                    </a:solidFill>
                    <a:latin typeface="+mn-lt"/>
                    <a:ea typeface="+mn-ea"/>
                    <a:cs typeface="+mn-cs"/>
                  </a:rPr>
                  <a:t>活动周期 2026.01.01-2026.12.31​​​</a:t>
                </a:r>
              </a:p>
            </p:txBody>
          </p:sp>
          <p:sp>
            <p:nvSpPr>
              <p:cNvPr id="54" name="Rectangle 54"/>
              <p:cNvSpPr/>
              <p:nvPr/>
            </p:nvSpPr>
            <p:spPr>
              <a:xfrm>
                <a:off x="5905500" y="3067050"/>
                <a:ext cx="742950" cy="495300"/>
              </a:xfrm>
              <a:prstGeom prst="roundRect">
                <a:avLst>
                  <a:gd name="adj" fmla="val 7692"/>
                </a:avLst>
              </a:prstGeom>
              <a:solidFill>
                <a:srgbClr val="FDF0F0"/>
              </a:solidFill>
              <a:ln>
                <a:noFill/>
              </a:ln>
            </p:spPr>
          </p:sp>
          <p:sp>
            <p:nvSpPr>
              <p:cNvPr id="55" name="Rectangle 55"/>
              <p:cNvSpPr/>
              <p:nvPr/>
            </p:nvSpPr>
            <p:spPr>
              <a:xfrm>
                <a:off x="6715125" y="3067050"/>
                <a:ext cx="742950" cy="495300"/>
              </a:xfrm>
              <a:prstGeom prst="roundRect">
                <a:avLst>
                  <a:gd name="adj" fmla="val 7692"/>
                </a:avLst>
              </a:prstGeom>
              <a:solidFill>
                <a:srgbClr val="FDF0F0"/>
              </a:solidFill>
              <a:ln>
                <a:noFill/>
              </a:ln>
            </p:spPr>
          </p:sp>
          <p:sp>
            <p:nvSpPr>
              <p:cNvPr id="56" name="Rectangle 56"/>
              <p:cNvSpPr/>
              <p:nvPr/>
            </p:nvSpPr>
            <p:spPr>
              <a:xfrm>
                <a:off x="5905500" y="3638550"/>
                <a:ext cx="742950" cy="495300"/>
              </a:xfrm>
              <a:prstGeom prst="roundRect">
                <a:avLst>
                  <a:gd name="adj" fmla="val 7692"/>
                </a:avLst>
              </a:prstGeom>
              <a:solidFill>
                <a:srgbClr val="FDF0F0"/>
              </a:solidFill>
              <a:ln>
                <a:noFill/>
              </a:ln>
            </p:spPr>
          </p:sp>
          <p:sp>
            <p:nvSpPr>
              <p:cNvPr id="57" name="Rectangle 57"/>
              <p:cNvSpPr/>
              <p:nvPr/>
            </p:nvSpPr>
            <p:spPr>
              <a:xfrm>
                <a:off x="6715125" y="3638550"/>
                <a:ext cx="742950" cy="495300"/>
              </a:xfrm>
              <a:prstGeom prst="roundRect">
                <a:avLst>
                  <a:gd name="adj" fmla="val 7692"/>
                </a:avLst>
              </a:prstGeom>
              <a:solidFill>
                <a:srgbClr val="FDF0F0"/>
              </a:solidFill>
              <a:ln>
                <a:noFill/>
              </a:ln>
            </p:spPr>
          </p:sp>
          <p:sp>
            <p:nvSpPr>
              <p:cNvPr id="58" name="Rectangle 58"/>
              <p:cNvSpPr/>
              <p:nvPr/>
            </p:nvSpPr>
            <p:spPr>
              <a:xfrm>
                <a:off x="6172200" y="3124200"/>
                <a:ext cx="209550" cy="209550"/>
              </a:xfrm>
              <a:prstGeom prst="roundRect">
                <a:avLst>
                  <a:gd name="adj" fmla="val 18182"/>
                </a:avLst>
              </a:prstGeom>
              <a:solidFill>
                <a:srgbClr val="E8553C"/>
              </a:solidFill>
              <a:ln>
                <a:noFill/>
              </a:ln>
            </p:spPr>
          </p:sp>
          <p:sp>
            <p:nvSpPr>
              <p:cNvPr id="59" name="Rectangle 59"/>
              <p:cNvSpPr/>
              <p:nvPr/>
            </p:nvSpPr>
            <p:spPr>
              <a:xfrm>
                <a:off x="6981825" y="3124200"/>
                <a:ext cx="209550" cy="209550"/>
              </a:xfrm>
              <a:prstGeom prst="roundRect">
                <a:avLst>
                  <a:gd name="adj" fmla="val 18182"/>
                </a:avLst>
              </a:prstGeom>
              <a:solidFill>
                <a:srgbClr val="F55D42"/>
              </a:solidFill>
              <a:ln>
                <a:noFill/>
              </a:ln>
            </p:spPr>
          </p:sp>
          <p:sp>
            <p:nvSpPr>
              <p:cNvPr id="60" name="Rectangle 60"/>
              <p:cNvSpPr/>
              <p:nvPr/>
            </p:nvSpPr>
            <p:spPr>
              <a:xfrm>
                <a:off x="6172200" y="3695700"/>
                <a:ext cx="209550" cy="209550"/>
              </a:xfrm>
              <a:prstGeom prst="roundRect">
                <a:avLst>
                  <a:gd name="adj" fmla="val 18182"/>
                </a:avLst>
              </a:prstGeom>
              <a:solidFill>
                <a:srgbClr val="D4634C"/>
              </a:solidFill>
              <a:ln>
                <a:noFill/>
              </a:ln>
            </p:spPr>
          </p:sp>
          <p:sp>
            <p:nvSpPr>
              <p:cNvPr id="61" name="Rectangle 61"/>
              <p:cNvSpPr/>
              <p:nvPr/>
            </p:nvSpPr>
            <p:spPr>
              <a:xfrm>
                <a:off x="6981825" y="3695700"/>
                <a:ext cx="209550" cy="209550"/>
              </a:xfrm>
              <a:prstGeom prst="roundRect">
                <a:avLst>
                  <a:gd name="adj" fmla="val 18182"/>
                </a:avLst>
              </a:prstGeom>
              <a:solidFill>
                <a:srgbClr val="A86B5F"/>
              </a:solidFill>
              <a:ln>
                <a:noFill/>
              </a:ln>
            </p:spPr>
          </p:sp>
          <p:sp>
            <p:nvSpPr>
              <p:cNvPr id="62" name="TextBox 62"/>
              <p:cNvSpPr txBox="1"/>
              <p:nvPr/>
            </p:nvSpPr>
            <p:spPr>
              <a:xfrm>
                <a:off x="6021079" y="3441621"/>
                <a:ext cx="511792" cy="83344"/>
              </a:xfrm>
              <a:prstGeom prst="rect">
                <a:avLst/>
              </a:prstGeom>
              <a:noFill/>
              <a:ln>
                <a:noFill/>
              </a:ln>
            </p:spPr>
            <p:txBody>
              <a:bodyPr wrap="none" lIns="0" tIns="0" rIns="0" bIns="0" anchor="t" anchorCtr="0">
                <a:spAutoFit/>
              </a:bodyPr>
              <a:lstStyle/>
              <a:p>
                <a:pPr algn="ctr"/>
                <a:r>
                  <a:rPr lang="zh-CN" sz="410" dirty="0">
                    <a:solidFill>
                      <a:srgbClr val="888888"/>
                    </a:solidFill>
                    <a:latin typeface="+mn-lt"/>
                    <a:ea typeface="+mn-ea"/>
                    <a:cs typeface="+mn-cs"/>
                  </a:rPr>
                  <a:t>小招喵防滑垫被芯​​</a:t>
                </a:r>
              </a:p>
            </p:txBody>
          </p:sp>
          <p:sp>
            <p:nvSpPr>
              <p:cNvPr id="63" name="TextBox 63"/>
              <p:cNvSpPr txBox="1"/>
              <p:nvPr/>
            </p:nvSpPr>
            <p:spPr>
              <a:xfrm>
                <a:off x="6812766" y="3441621"/>
                <a:ext cx="547668" cy="83344"/>
              </a:xfrm>
              <a:prstGeom prst="rect">
                <a:avLst/>
              </a:prstGeom>
              <a:noFill/>
              <a:ln>
                <a:noFill/>
              </a:ln>
            </p:spPr>
            <p:txBody>
              <a:bodyPr wrap="none" lIns="0" tIns="0" rIns="0" bIns="0" anchor="t" anchorCtr="0">
                <a:spAutoFit/>
              </a:bodyPr>
              <a:lstStyle/>
              <a:p>
                <a:pPr algn="ctr"/>
                <a:r>
                  <a:rPr lang="zh-CN" sz="410" dirty="0">
                    <a:solidFill>
                      <a:srgbClr val="888888"/>
                    </a:solidFill>
                    <a:latin typeface="+mn-lt"/>
                    <a:ea typeface="+mn-ea"/>
                    <a:cs typeface="+mn-cs"/>
                  </a:rPr>
                  <a:t>清风原木手帕纸1…​​​</a:t>
                </a:r>
              </a:p>
            </p:txBody>
          </p:sp>
          <p:sp>
            <p:nvSpPr>
              <p:cNvPr id="64" name="TextBox 64"/>
              <p:cNvSpPr txBox="1"/>
              <p:nvPr/>
            </p:nvSpPr>
            <p:spPr>
              <a:xfrm>
                <a:off x="6061095" y="4013121"/>
                <a:ext cx="431761" cy="83344"/>
              </a:xfrm>
              <a:prstGeom prst="rect">
                <a:avLst/>
              </a:prstGeom>
              <a:noFill/>
              <a:ln>
                <a:noFill/>
              </a:ln>
            </p:spPr>
            <p:txBody>
              <a:bodyPr wrap="none" lIns="0" tIns="0" rIns="0" bIns="0" anchor="t" anchorCtr="0">
                <a:spAutoFit/>
              </a:bodyPr>
              <a:lstStyle/>
              <a:p>
                <a:pPr algn="ctr"/>
                <a:r>
                  <a:rPr lang="zh-CN" sz="410" dirty="0">
                    <a:solidFill>
                      <a:srgbClr val="888888"/>
                    </a:solidFill>
                    <a:latin typeface="+mn-lt"/>
                    <a:ea typeface="+mn-ea"/>
                    <a:cs typeface="+mn-cs"/>
                  </a:rPr>
                  <a:t>5元支付返现券​​</a:t>
                </a:r>
              </a:p>
            </p:txBody>
          </p:sp>
          <p:sp>
            <p:nvSpPr>
              <p:cNvPr id="65" name="TextBox 65"/>
              <p:cNvSpPr txBox="1"/>
              <p:nvPr/>
            </p:nvSpPr>
            <p:spPr>
              <a:xfrm>
                <a:off x="6870720" y="4013121"/>
                <a:ext cx="431761" cy="83344"/>
              </a:xfrm>
              <a:prstGeom prst="rect">
                <a:avLst/>
              </a:prstGeom>
              <a:noFill/>
              <a:ln>
                <a:noFill/>
              </a:ln>
            </p:spPr>
            <p:txBody>
              <a:bodyPr wrap="none" lIns="0" tIns="0" rIns="0" bIns="0" anchor="t" anchorCtr="0">
                <a:spAutoFit/>
              </a:bodyPr>
              <a:lstStyle/>
              <a:p>
                <a:pPr algn="ctr"/>
                <a:r>
                  <a:rPr lang="zh-CN" sz="410" dirty="0">
                    <a:solidFill>
                      <a:srgbClr val="888888"/>
                    </a:solidFill>
                    <a:latin typeface="+mn-lt"/>
                    <a:ea typeface="+mn-ea"/>
                    <a:cs typeface="+mn-cs"/>
                  </a:rPr>
                  <a:t>5元还款返现券​​</a:t>
                </a:r>
              </a:p>
            </p:txBody>
          </p:sp>
          <p:sp>
            <p:nvSpPr>
              <p:cNvPr id="66" name="Rectangle 66"/>
              <p:cNvSpPr/>
              <p:nvPr/>
            </p:nvSpPr>
            <p:spPr>
              <a:xfrm>
                <a:off x="5829300" y="3009900"/>
                <a:ext cx="1628775" cy="1181100"/>
              </a:xfrm>
              <a:prstGeom prst="rect">
                <a:avLst/>
              </a:prstGeom>
              <a:noFill/>
              <a:ln w="19050">
                <a:solidFill>
                  <a:srgbClr val="E62B00"/>
                </a:solidFill>
              </a:ln>
            </p:spPr>
          </p:sp>
          <p:sp>
            <p:nvSpPr>
              <p:cNvPr id="67" name="Rectangle 67"/>
              <p:cNvSpPr/>
              <p:nvPr/>
            </p:nvSpPr>
            <p:spPr>
              <a:xfrm>
                <a:off x="5905500" y="4267200"/>
                <a:ext cx="1476375" cy="190500"/>
              </a:xfrm>
              <a:prstGeom prst="roundRect">
                <a:avLst>
                  <a:gd name="adj" fmla="val 50000"/>
                </a:avLst>
              </a:prstGeom>
              <a:solidFill>
                <a:srgbClr val="EEEEEE"/>
              </a:solidFill>
              <a:ln>
                <a:noFill/>
              </a:ln>
            </p:spPr>
          </p:sp>
          <p:sp>
            <p:nvSpPr>
              <p:cNvPr id="68" name="TextBox 68"/>
              <p:cNvSpPr txBox="1"/>
              <p:nvPr/>
            </p:nvSpPr>
            <p:spPr>
              <a:xfrm>
                <a:off x="6311074" y="4335780"/>
                <a:ext cx="655701" cy="119062"/>
              </a:xfrm>
              <a:prstGeom prst="rect">
                <a:avLst/>
              </a:prstGeom>
              <a:noFill/>
              <a:ln>
                <a:noFill/>
              </a:ln>
            </p:spPr>
            <p:txBody>
              <a:bodyPr wrap="none" lIns="0" tIns="0" rIns="0" bIns="0" anchor="t" anchorCtr="0">
                <a:spAutoFit/>
              </a:bodyPr>
              <a:lstStyle/>
              <a:p>
                <a:pPr algn="ctr"/>
                <a:r>
                  <a:rPr lang="zh-CN" sz="600" dirty="0">
                    <a:solidFill>
                      <a:srgbClr val="999999"/>
                    </a:solidFill>
                    <a:latin typeface="+mn-lt"/>
                    <a:ea typeface="+mn-ea"/>
                    <a:cs typeface="+mn-cs"/>
                  </a:rPr>
                  <a:t>暂未满足领取条件</a:t>
                </a:r>
              </a:p>
            </p:txBody>
          </p:sp>
          <p:sp>
            <p:nvSpPr>
              <p:cNvPr id="69" name="TextBox 69"/>
              <p:cNvSpPr txBox="1"/>
              <p:nvPr/>
            </p:nvSpPr>
            <p:spPr>
              <a:xfrm>
                <a:off x="5900738" y="4629626"/>
                <a:ext cx="366537" cy="104775"/>
              </a:xfrm>
              <a:prstGeom prst="rect">
                <a:avLst/>
              </a:prstGeom>
              <a:noFill/>
              <a:ln>
                <a:noFill/>
              </a:ln>
            </p:spPr>
            <p:txBody>
              <a:bodyPr wrap="none" lIns="0" tIns="0" rIns="0" bIns="0" anchor="t" anchorCtr="0">
                <a:spAutoFit/>
              </a:bodyPr>
              <a:lstStyle/>
              <a:p>
                <a:pPr algn="l"/>
                <a:r>
                  <a:rPr lang="zh-CN" sz="520" dirty="0">
                    <a:solidFill>
                      <a:srgbClr val="888888"/>
                    </a:solidFill>
                    <a:latin typeface="+mn-lt"/>
                    <a:ea typeface="+mn-ea"/>
                    <a:cs typeface="+mn-cs"/>
                  </a:rPr>
                  <a:t>活动细则​​</a:t>
                </a:r>
              </a:p>
            </p:txBody>
          </p:sp>
          <p:sp>
            <p:nvSpPr>
              <p:cNvPr id="70" name="Rectangle 70"/>
              <p:cNvSpPr/>
              <p:nvPr/>
            </p:nvSpPr>
            <p:spPr>
              <a:xfrm>
                <a:off x="5905500" y="4743450"/>
                <a:ext cx="1428750" cy="28575"/>
              </a:xfrm>
              <a:prstGeom prst="roundRect">
                <a:avLst>
                  <a:gd name="adj" fmla="val 50000"/>
                </a:avLst>
              </a:prstGeom>
              <a:solidFill>
                <a:srgbClr val="E5E5E5"/>
              </a:solidFill>
              <a:ln>
                <a:noFill/>
              </a:ln>
            </p:spPr>
          </p:sp>
          <p:sp>
            <p:nvSpPr>
              <p:cNvPr id="71" name="Rectangle 71"/>
              <p:cNvSpPr/>
              <p:nvPr/>
            </p:nvSpPr>
            <p:spPr>
              <a:xfrm>
                <a:off x="5905500" y="4819650"/>
                <a:ext cx="1143000" cy="28575"/>
              </a:xfrm>
              <a:prstGeom prst="roundRect">
                <a:avLst>
                  <a:gd name="adj" fmla="val 50000"/>
                </a:avLst>
              </a:prstGeom>
              <a:solidFill>
                <a:srgbClr val="E5E5E5"/>
              </a:solidFill>
              <a:ln>
                <a:noFill/>
              </a:ln>
            </p:spPr>
          </p:sp>
        </p:grpSp>
        <p:sp>
          <p:nvSpPr>
            <p:cNvPr id="73" name="TextBox 73"/>
            <p:cNvSpPr txBox="1"/>
            <p:nvPr/>
          </p:nvSpPr>
          <p:spPr>
            <a:xfrm>
              <a:off x="5997512" y="5411152"/>
              <a:ext cx="1282827"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招商银行会员升级礼</a:t>
              </a:r>
            </a:p>
          </p:txBody>
        </p:sp>
        <p:grpSp>
          <p:nvGrpSpPr>
            <p:cNvPr id="103" name="shot-citic"/>
            <p:cNvGrpSpPr/>
            <p:nvPr/>
          </p:nvGrpSpPr>
          <p:grpSpPr>
            <a:xfrm>
              <a:off x="7810500" y="1952625"/>
              <a:ext cx="1942801" cy="3286125"/>
              <a:chOff x="7810500" y="1952625"/>
              <a:chExt cx="1942801" cy="3286125"/>
            </a:xfrm>
          </p:grpSpPr>
          <p:sp>
            <p:nvSpPr>
              <p:cNvPr id="74" name="Rectangle 74"/>
              <p:cNvSpPr/>
              <p:nvPr/>
            </p:nvSpPr>
            <p:spPr>
              <a:xfrm>
                <a:off x="7810500" y="1952625"/>
                <a:ext cx="1857375" cy="3286125"/>
              </a:xfrm>
              <a:prstGeom prst="roundRect">
                <a:avLst>
                  <a:gd name="adj" fmla="val 5128"/>
                </a:avLst>
              </a:prstGeom>
              <a:solidFill>
                <a:srgbClr val="FFFFFF"/>
              </a:solidFill>
              <a:ln w="9525">
                <a:solidFill>
                  <a:srgbClr val="D9D9D9"/>
                </a:solidFill>
              </a:ln>
            </p:spPr>
          </p:sp>
          <p:sp>
            <p:nvSpPr>
              <p:cNvPr id="75" name="Rectangle 75"/>
              <p:cNvSpPr/>
              <p:nvPr/>
            </p:nvSpPr>
            <p:spPr>
              <a:xfrm>
                <a:off x="7810500" y="1952625"/>
                <a:ext cx="1857375" cy="476250"/>
              </a:xfrm>
              <a:prstGeom prst="roundRect">
                <a:avLst>
                  <a:gd name="adj" fmla="val 20000"/>
                </a:avLst>
              </a:prstGeom>
              <a:gradFill>
                <a:gsLst>
                  <a:gs pos="0">
                    <a:srgbClr val="F54223"/>
                  </a:gs>
                  <a:gs pos="100000">
                    <a:srgbClr val="E8462A"/>
                  </a:gs>
                </a:gsLst>
                <a:lin ang="5400000" scaled="1"/>
              </a:gradFill>
              <a:ln>
                <a:noFill/>
              </a:ln>
            </p:spPr>
          </p:sp>
          <p:sp>
            <p:nvSpPr>
              <p:cNvPr id="76" name="TextBox 76"/>
              <p:cNvSpPr txBox="1"/>
              <p:nvPr/>
            </p:nvSpPr>
            <p:spPr>
              <a:xfrm>
                <a:off x="7900988" y="2068830"/>
                <a:ext cx="53950" cy="119062"/>
              </a:xfrm>
              <a:prstGeom prst="rect">
                <a:avLst/>
              </a:prstGeom>
              <a:noFill/>
              <a:ln>
                <a:noFill/>
              </a:ln>
            </p:spPr>
            <p:txBody>
              <a:bodyPr wrap="none" lIns="0" tIns="0" rIns="0" bIns="0" anchor="t" anchorCtr="0">
                <a:spAutoFit/>
              </a:bodyPr>
              <a:lstStyle/>
              <a:p>
                <a:pPr algn="l"/>
                <a:r>
                  <a:rPr lang="zh-CN" sz="600" dirty="0">
                    <a:solidFill>
                      <a:srgbClr val="FFFFFF"/>
                    </a:solidFill>
                    <a:latin typeface="+mn-lt"/>
                    <a:ea typeface="+mn-ea"/>
                    <a:cs typeface="+mn-cs"/>
                  </a:rPr>
                  <a:t>‹</a:t>
                </a:r>
              </a:p>
            </p:txBody>
          </p:sp>
          <p:sp>
            <p:nvSpPr>
              <p:cNvPr id="77" name="TextBox 77"/>
              <p:cNvSpPr txBox="1"/>
              <p:nvPr/>
            </p:nvSpPr>
            <p:spPr>
              <a:xfrm>
                <a:off x="8375714" y="2077402"/>
                <a:ext cx="71742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会员升级礼</a:t>
                </a:r>
              </a:p>
            </p:txBody>
          </p:sp>
          <p:sp>
            <p:nvSpPr>
              <p:cNvPr id="78" name="TextBox 78"/>
              <p:cNvSpPr txBox="1"/>
              <p:nvPr/>
            </p:nvSpPr>
            <p:spPr>
              <a:xfrm>
                <a:off x="9539288" y="2080974"/>
                <a:ext cx="214013" cy="97631"/>
              </a:xfrm>
              <a:prstGeom prst="rect">
                <a:avLst/>
              </a:prstGeom>
              <a:noFill/>
              <a:ln>
                <a:noFill/>
              </a:ln>
            </p:spPr>
            <p:txBody>
              <a:bodyPr wrap="none" lIns="0" tIns="0" rIns="0" bIns="0" anchor="t" anchorCtr="0">
                <a:spAutoFit/>
              </a:bodyPr>
              <a:lstStyle/>
              <a:p>
                <a:pPr algn="l"/>
                <a:r>
                  <a:rPr lang="zh-CN" sz="490" dirty="0">
                    <a:solidFill>
                      <a:srgbClr val="FFFFFF"/>
                    </a:solidFill>
                    <a:latin typeface="+mn-lt"/>
                    <a:ea typeface="+mn-ea"/>
                    <a:cs typeface="+mn-cs"/>
                  </a:rPr>
                  <a:t>规则​​</a:t>
                </a:r>
              </a:p>
            </p:txBody>
          </p:sp>
          <p:sp>
            <p:nvSpPr>
              <p:cNvPr id="79" name="Rectangle 79"/>
              <p:cNvSpPr/>
              <p:nvPr/>
            </p:nvSpPr>
            <p:spPr>
              <a:xfrm>
                <a:off x="8048625" y="2495550"/>
                <a:ext cx="571500" cy="342900"/>
              </a:xfrm>
              <a:prstGeom prst="roundRect">
                <a:avLst>
                  <a:gd name="adj" fmla="val 11111"/>
                </a:avLst>
              </a:prstGeom>
              <a:solidFill>
                <a:srgbClr val="D4634C"/>
              </a:solidFill>
              <a:ln>
                <a:noFill/>
              </a:ln>
            </p:spPr>
          </p:sp>
          <p:sp>
            <p:nvSpPr>
              <p:cNvPr id="80" name="TextBox 80"/>
              <p:cNvSpPr txBox="1"/>
              <p:nvPr/>
            </p:nvSpPr>
            <p:spPr>
              <a:xfrm>
                <a:off x="8136903" y="2599372"/>
                <a:ext cx="394945" cy="90488"/>
              </a:xfrm>
              <a:prstGeom prst="rect">
                <a:avLst/>
              </a:prstGeom>
              <a:noFill/>
              <a:ln>
                <a:noFill/>
              </a:ln>
            </p:spPr>
            <p:txBody>
              <a:bodyPr wrap="none" lIns="0" tIns="0" rIns="0" bIns="0" anchor="t" anchorCtr="0">
                <a:spAutoFit/>
              </a:bodyPr>
              <a:lstStyle/>
              <a:p>
                <a:pPr algn="ctr"/>
                <a:r>
                  <a:rPr lang="zh-CN" sz="450" dirty="0">
                    <a:solidFill>
                      <a:srgbClr val="FFFFFF"/>
                    </a:solidFill>
                    <a:latin typeface="+mn-lt"/>
                    <a:ea typeface="+mn-ea"/>
                    <a:cs typeface="+mn-cs"/>
                  </a:rPr>
                  <a:t>V1档-升级​​​</a:t>
                </a:r>
              </a:p>
            </p:txBody>
          </p:sp>
          <p:sp>
            <p:nvSpPr>
              <p:cNvPr id="81" name="TextBox 81"/>
              <p:cNvSpPr txBox="1"/>
              <p:nvPr/>
            </p:nvSpPr>
            <p:spPr>
              <a:xfrm>
                <a:off x="8175136" y="2694622"/>
                <a:ext cx="318478" cy="90488"/>
              </a:xfrm>
              <a:prstGeom prst="rect">
                <a:avLst/>
              </a:prstGeom>
              <a:noFill/>
              <a:ln>
                <a:noFill/>
              </a:ln>
            </p:spPr>
            <p:txBody>
              <a:bodyPr wrap="none" lIns="0" tIns="0" rIns="0" bIns="0" anchor="t" anchorCtr="0">
                <a:spAutoFit/>
              </a:bodyPr>
              <a:lstStyle/>
              <a:p>
                <a:pPr algn="ctr"/>
                <a:r>
                  <a:rPr lang="zh-CN" sz="450" dirty="0">
                    <a:solidFill>
                      <a:srgbClr val="FFFFFF"/>
                    </a:solidFill>
                    <a:latin typeface="+mn-lt"/>
                    <a:ea typeface="+mn-ea"/>
                    <a:cs typeface="+mn-cs"/>
                  </a:rPr>
                  <a:t>礼金翻倍​​</a:t>
                </a:r>
              </a:p>
            </p:txBody>
          </p:sp>
          <p:sp>
            <p:nvSpPr>
              <p:cNvPr id="82" name="Rectangle 82"/>
              <p:cNvSpPr/>
              <p:nvPr/>
            </p:nvSpPr>
            <p:spPr>
              <a:xfrm>
                <a:off x="8858250" y="2495550"/>
                <a:ext cx="571500" cy="342900"/>
              </a:xfrm>
              <a:prstGeom prst="roundRect">
                <a:avLst>
                  <a:gd name="adj" fmla="val 11111"/>
                </a:avLst>
              </a:prstGeom>
              <a:solidFill>
                <a:srgbClr val="333333"/>
              </a:solidFill>
              <a:ln>
                <a:noFill/>
              </a:ln>
            </p:spPr>
          </p:sp>
          <p:sp>
            <p:nvSpPr>
              <p:cNvPr id="83" name="TextBox 83"/>
              <p:cNvSpPr txBox="1"/>
              <p:nvPr/>
            </p:nvSpPr>
            <p:spPr>
              <a:xfrm>
                <a:off x="8940670" y="2599372"/>
                <a:ext cx="406660" cy="90488"/>
              </a:xfrm>
              <a:prstGeom prst="rect">
                <a:avLst/>
              </a:prstGeom>
              <a:noFill/>
              <a:ln>
                <a:noFill/>
              </a:ln>
            </p:spPr>
            <p:txBody>
              <a:bodyPr wrap="none" lIns="0" tIns="0" rIns="0" bIns="0" anchor="t" anchorCtr="0">
                <a:spAutoFit/>
              </a:bodyPr>
              <a:lstStyle/>
              <a:p>
                <a:pPr algn="ctr"/>
                <a:r>
                  <a:rPr lang="zh-CN" sz="450" dirty="0">
                    <a:solidFill>
                      <a:srgbClr val="FFFFFF"/>
                    </a:solidFill>
                    <a:latin typeface="+mn-lt"/>
                    <a:ea typeface="+mn-ea"/>
                    <a:cs typeface="+mn-cs"/>
                  </a:rPr>
                  <a:t>V1档-V9档​​​</a:t>
                </a:r>
              </a:p>
            </p:txBody>
          </p:sp>
          <p:sp>
            <p:nvSpPr>
              <p:cNvPr id="84" name="TextBox 84"/>
              <p:cNvSpPr txBox="1"/>
              <p:nvPr/>
            </p:nvSpPr>
            <p:spPr>
              <a:xfrm>
                <a:off x="8984761" y="2694622"/>
                <a:ext cx="318478" cy="90488"/>
              </a:xfrm>
              <a:prstGeom prst="rect">
                <a:avLst/>
              </a:prstGeom>
              <a:noFill/>
              <a:ln>
                <a:noFill/>
              </a:ln>
            </p:spPr>
            <p:txBody>
              <a:bodyPr wrap="none" lIns="0" tIns="0" rIns="0" bIns="0" anchor="t" anchorCtr="0">
                <a:spAutoFit/>
              </a:bodyPr>
              <a:lstStyle/>
              <a:p>
                <a:pPr algn="ctr"/>
                <a:r>
                  <a:rPr lang="zh-CN" sz="450" dirty="0">
                    <a:solidFill>
                      <a:srgbClr val="FFFFFF"/>
                    </a:solidFill>
                    <a:latin typeface="+mn-lt"/>
                    <a:ea typeface="+mn-ea"/>
                    <a:cs typeface="+mn-cs"/>
                  </a:rPr>
                  <a:t>爆贴权益​​</a:t>
                </a:r>
              </a:p>
            </p:txBody>
          </p:sp>
          <p:sp>
            <p:nvSpPr>
              <p:cNvPr id="85" name="TextBox 85"/>
              <p:cNvSpPr txBox="1"/>
              <p:nvPr/>
            </p:nvSpPr>
            <p:spPr>
              <a:xfrm>
                <a:off x="8048250" y="2975134"/>
                <a:ext cx="1372351" cy="133350"/>
              </a:xfrm>
              <a:prstGeom prst="rect">
                <a:avLst/>
              </a:prstGeom>
              <a:noFill/>
              <a:ln>
                <a:noFill/>
              </a:ln>
            </p:spPr>
            <p:txBody>
              <a:bodyPr wrap="none" lIns="0" tIns="0" rIns="0" bIns="0" anchor="t" anchorCtr="0">
                <a:spAutoFit/>
              </a:bodyPr>
              <a:lstStyle/>
              <a:p>
                <a:pPr algn="ctr"/>
                <a:r>
                  <a:rPr lang="zh-CN" sz="680" b="1" dirty="0">
                    <a:solidFill>
                      <a:srgbClr val="C0412B"/>
                    </a:solidFill>
                    <a:latin typeface="+mn-lt"/>
                    <a:ea typeface="+mn-ea"/>
                    <a:cs typeface="+mn-cs"/>
                  </a:rPr>
                  <a:t>提资产领至高300元微信代金券​​</a:t>
                </a:r>
              </a:p>
            </p:txBody>
          </p:sp>
          <p:sp>
            <p:nvSpPr>
              <p:cNvPr id="86" name="TextBox 86"/>
              <p:cNvSpPr txBox="1"/>
              <p:nvPr/>
            </p:nvSpPr>
            <p:spPr>
              <a:xfrm>
                <a:off x="8211712" y="3113722"/>
                <a:ext cx="1045426" cy="90488"/>
              </a:xfrm>
              <a:prstGeom prst="rect">
                <a:avLst/>
              </a:prstGeom>
              <a:noFill/>
              <a:ln>
                <a:noFill/>
              </a:ln>
            </p:spPr>
            <p:txBody>
              <a:bodyPr wrap="none" lIns="0" tIns="0" rIns="0" bIns="0" anchor="t" anchorCtr="0">
                <a:spAutoFit/>
              </a:bodyPr>
              <a:lstStyle/>
              <a:p>
                <a:pPr algn="ctr"/>
                <a:r>
                  <a:rPr lang="zh-CN" sz="450" dirty="0">
                    <a:solidFill>
                      <a:srgbClr val="999999"/>
                    </a:solidFill>
                    <a:latin typeface="+mn-lt"/>
                    <a:ea typeface="+mn-ea"/>
                    <a:cs typeface="+mn-cs"/>
                  </a:rPr>
                  <a:t>完成相应资格任务，可获得对应奖励​​</a:t>
                </a:r>
              </a:p>
            </p:txBody>
          </p:sp>
          <p:sp>
            <p:nvSpPr>
              <p:cNvPr id="87" name="Rectangle 87"/>
              <p:cNvSpPr/>
              <p:nvPr/>
            </p:nvSpPr>
            <p:spPr>
              <a:xfrm>
                <a:off x="7953375" y="3238500"/>
                <a:ext cx="552450" cy="495300"/>
              </a:xfrm>
              <a:prstGeom prst="roundRect">
                <a:avLst>
                  <a:gd name="adj" fmla="val 7692"/>
                </a:avLst>
              </a:prstGeom>
              <a:solidFill>
                <a:srgbClr val="EAF2FD"/>
              </a:solidFill>
              <a:ln w="7620">
                <a:solidFill>
                  <a:srgbClr val="F1917D"/>
                </a:solidFill>
              </a:ln>
            </p:spPr>
          </p:sp>
          <p:sp>
            <p:nvSpPr>
              <p:cNvPr id="88" name="Rectangle 88"/>
              <p:cNvSpPr/>
              <p:nvPr/>
            </p:nvSpPr>
            <p:spPr>
              <a:xfrm>
                <a:off x="8553450" y="3238500"/>
                <a:ext cx="552450" cy="495300"/>
              </a:xfrm>
              <a:prstGeom prst="roundRect">
                <a:avLst>
                  <a:gd name="adj" fmla="val 7692"/>
                </a:avLst>
              </a:prstGeom>
              <a:solidFill>
                <a:srgbClr val="EAF2FD"/>
              </a:solidFill>
              <a:ln w="7620">
                <a:solidFill>
                  <a:srgbClr val="F1917D"/>
                </a:solidFill>
              </a:ln>
            </p:spPr>
          </p:sp>
          <p:sp>
            <p:nvSpPr>
              <p:cNvPr id="89" name="Rectangle 89"/>
              <p:cNvSpPr/>
              <p:nvPr/>
            </p:nvSpPr>
            <p:spPr>
              <a:xfrm>
                <a:off x="7953375" y="3848100"/>
                <a:ext cx="552450" cy="495300"/>
              </a:xfrm>
              <a:prstGeom prst="roundRect">
                <a:avLst>
                  <a:gd name="adj" fmla="val 7692"/>
                </a:avLst>
              </a:prstGeom>
              <a:solidFill>
                <a:srgbClr val="EAF2FD"/>
              </a:solidFill>
              <a:ln w="7620">
                <a:solidFill>
                  <a:srgbClr val="F1917D"/>
                </a:solidFill>
              </a:ln>
            </p:spPr>
          </p:sp>
          <p:sp>
            <p:nvSpPr>
              <p:cNvPr id="90" name="Rectangle 90"/>
              <p:cNvSpPr/>
              <p:nvPr/>
            </p:nvSpPr>
            <p:spPr>
              <a:xfrm>
                <a:off x="8553450" y="3848100"/>
                <a:ext cx="552450" cy="495300"/>
              </a:xfrm>
              <a:prstGeom prst="roundRect">
                <a:avLst>
                  <a:gd name="adj" fmla="val 7692"/>
                </a:avLst>
              </a:prstGeom>
              <a:solidFill>
                <a:srgbClr val="EAF2FD"/>
              </a:solidFill>
              <a:ln w="7620">
                <a:solidFill>
                  <a:srgbClr val="F1917D"/>
                </a:solidFill>
              </a:ln>
            </p:spPr>
          </p:sp>
          <p:sp>
            <p:nvSpPr>
              <p:cNvPr id="91" name="TextBox 91"/>
              <p:cNvSpPr txBox="1"/>
              <p:nvPr/>
            </p:nvSpPr>
            <p:spPr>
              <a:xfrm>
                <a:off x="8010270" y="3339941"/>
                <a:ext cx="438660" cy="161925"/>
              </a:xfrm>
              <a:prstGeom prst="rect">
                <a:avLst/>
              </a:prstGeom>
              <a:noFill/>
              <a:ln>
                <a:noFill/>
              </a:ln>
            </p:spPr>
            <p:txBody>
              <a:bodyPr wrap="none" lIns="0" tIns="0" rIns="0" bIns="0" anchor="t" anchorCtr="0">
                <a:spAutoFit/>
              </a:bodyPr>
              <a:lstStyle/>
              <a:p>
                <a:pPr algn="ctr"/>
                <a:r>
                  <a:rPr lang="zh-CN" sz="820" b="1" dirty="0">
                    <a:solidFill>
                      <a:srgbClr val="932F1B"/>
                    </a:solidFill>
                    <a:latin typeface="+mn-lt"/>
                    <a:ea typeface="+mn-ea"/>
                    <a:cs typeface="+mn-cs"/>
                  </a:rPr>
                  <a:t>300元​​</a:t>
                </a:r>
              </a:p>
            </p:txBody>
          </p:sp>
          <p:sp>
            <p:nvSpPr>
              <p:cNvPr id="92" name="TextBox 92"/>
              <p:cNvSpPr txBox="1"/>
              <p:nvPr/>
            </p:nvSpPr>
            <p:spPr>
              <a:xfrm>
                <a:off x="7924298" y="3493294"/>
                <a:ext cx="610603" cy="76200"/>
              </a:xfrm>
              <a:prstGeom prst="rect">
                <a:avLst/>
              </a:prstGeom>
              <a:noFill/>
              <a:ln>
                <a:noFill/>
              </a:ln>
            </p:spPr>
            <p:txBody>
              <a:bodyPr wrap="none" lIns="0" tIns="0" rIns="0" bIns="0" anchor="t" anchorCtr="0">
                <a:spAutoFit/>
              </a:bodyPr>
              <a:lstStyle/>
              <a:p>
                <a:pPr algn="ctr"/>
                <a:r>
                  <a:rPr lang="zh-CN" sz="380" dirty="0">
                    <a:solidFill>
                      <a:srgbClr val="666666"/>
                    </a:solidFill>
                    <a:latin typeface="+mn-lt"/>
                    <a:ea typeface="+mn-ea"/>
                    <a:cs typeface="+mn-cs"/>
                  </a:rPr>
                  <a:t>金融资产提升100万档位​​</a:t>
                </a:r>
              </a:p>
            </p:txBody>
          </p:sp>
          <p:sp>
            <p:nvSpPr>
              <p:cNvPr id="93" name="TextBox 93"/>
              <p:cNvSpPr txBox="1"/>
              <p:nvPr/>
            </p:nvSpPr>
            <p:spPr>
              <a:xfrm>
                <a:off x="8610345" y="3339941"/>
                <a:ext cx="438660" cy="161925"/>
              </a:xfrm>
              <a:prstGeom prst="rect">
                <a:avLst/>
              </a:prstGeom>
              <a:noFill/>
              <a:ln>
                <a:noFill/>
              </a:ln>
            </p:spPr>
            <p:txBody>
              <a:bodyPr wrap="none" lIns="0" tIns="0" rIns="0" bIns="0" anchor="t" anchorCtr="0">
                <a:spAutoFit/>
              </a:bodyPr>
              <a:lstStyle/>
              <a:p>
                <a:pPr algn="ctr"/>
                <a:r>
                  <a:rPr lang="zh-CN" sz="820" b="1" dirty="0">
                    <a:solidFill>
                      <a:srgbClr val="932F1B"/>
                    </a:solidFill>
                    <a:latin typeface="+mn-lt"/>
                    <a:ea typeface="+mn-ea"/>
                    <a:cs typeface="+mn-cs"/>
                  </a:rPr>
                  <a:t>200元​​</a:t>
                </a:r>
              </a:p>
            </p:txBody>
          </p:sp>
          <p:sp>
            <p:nvSpPr>
              <p:cNvPr id="94" name="TextBox 94"/>
              <p:cNvSpPr txBox="1"/>
              <p:nvPr/>
            </p:nvSpPr>
            <p:spPr>
              <a:xfrm>
                <a:off x="8538441" y="3493294"/>
                <a:ext cx="582468" cy="76200"/>
              </a:xfrm>
              <a:prstGeom prst="rect">
                <a:avLst/>
              </a:prstGeom>
              <a:noFill/>
              <a:ln>
                <a:noFill/>
              </a:ln>
            </p:spPr>
            <p:txBody>
              <a:bodyPr wrap="none" lIns="0" tIns="0" rIns="0" bIns="0" anchor="t" anchorCtr="0">
                <a:spAutoFit/>
              </a:bodyPr>
              <a:lstStyle/>
              <a:p>
                <a:pPr algn="ctr"/>
                <a:r>
                  <a:rPr lang="zh-CN" sz="380" dirty="0">
                    <a:solidFill>
                      <a:srgbClr val="666666"/>
                    </a:solidFill>
                    <a:latin typeface="+mn-lt"/>
                    <a:ea typeface="+mn-ea"/>
                    <a:cs typeface="+mn-cs"/>
                  </a:rPr>
                  <a:t>金融资产提升50万档位​​</a:t>
                </a:r>
              </a:p>
            </p:txBody>
          </p:sp>
          <p:sp>
            <p:nvSpPr>
              <p:cNvPr id="95" name="TextBox 95"/>
              <p:cNvSpPr txBox="1"/>
              <p:nvPr/>
            </p:nvSpPr>
            <p:spPr>
              <a:xfrm>
                <a:off x="8010270" y="3949541"/>
                <a:ext cx="438660" cy="161925"/>
              </a:xfrm>
              <a:prstGeom prst="rect">
                <a:avLst/>
              </a:prstGeom>
              <a:noFill/>
              <a:ln>
                <a:noFill/>
              </a:ln>
            </p:spPr>
            <p:txBody>
              <a:bodyPr wrap="none" lIns="0" tIns="0" rIns="0" bIns="0" anchor="t" anchorCtr="0">
                <a:spAutoFit/>
              </a:bodyPr>
              <a:lstStyle/>
              <a:p>
                <a:pPr algn="ctr"/>
                <a:r>
                  <a:rPr lang="zh-CN" sz="820" b="1" dirty="0">
                    <a:solidFill>
                      <a:srgbClr val="932F1B"/>
                    </a:solidFill>
                    <a:latin typeface="+mn-lt"/>
                    <a:ea typeface="+mn-ea"/>
                    <a:cs typeface="+mn-cs"/>
                  </a:rPr>
                  <a:t>100元​​</a:t>
                </a:r>
              </a:p>
            </p:txBody>
          </p:sp>
          <p:sp>
            <p:nvSpPr>
              <p:cNvPr id="96" name="TextBox 96"/>
              <p:cNvSpPr txBox="1"/>
              <p:nvPr/>
            </p:nvSpPr>
            <p:spPr>
              <a:xfrm>
                <a:off x="7938366" y="4102894"/>
                <a:ext cx="582468" cy="76200"/>
              </a:xfrm>
              <a:prstGeom prst="rect">
                <a:avLst/>
              </a:prstGeom>
              <a:noFill/>
              <a:ln>
                <a:noFill/>
              </a:ln>
            </p:spPr>
            <p:txBody>
              <a:bodyPr wrap="none" lIns="0" tIns="0" rIns="0" bIns="0" anchor="t" anchorCtr="0">
                <a:spAutoFit/>
              </a:bodyPr>
              <a:lstStyle/>
              <a:p>
                <a:pPr algn="ctr"/>
                <a:r>
                  <a:rPr lang="zh-CN" sz="380" dirty="0">
                    <a:solidFill>
                      <a:srgbClr val="666666"/>
                    </a:solidFill>
                    <a:latin typeface="+mn-lt"/>
                    <a:ea typeface="+mn-ea"/>
                    <a:cs typeface="+mn-cs"/>
                  </a:rPr>
                  <a:t>金融资产提升20万档位​​</a:t>
                </a:r>
              </a:p>
            </p:txBody>
          </p:sp>
          <p:sp>
            <p:nvSpPr>
              <p:cNvPr id="97" name="TextBox 97"/>
              <p:cNvSpPr txBox="1"/>
              <p:nvPr/>
            </p:nvSpPr>
            <p:spPr>
              <a:xfrm>
                <a:off x="8674094" y="3949541"/>
                <a:ext cx="311161" cy="161925"/>
              </a:xfrm>
              <a:prstGeom prst="rect">
                <a:avLst/>
              </a:prstGeom>
              <a:noFill/>
              <a:ln>
                <a:noFill/>
              </a:ln>
            </p:spPr>
            <p:txBody>
              <a:bodyPr wrap="none" lIns="0" tIns="0" rIns="0" bIns="0" anchor="t" anchorCtr="0">
                <a:spAutoFit/>
              </a:bodyPr>
              <a:lstStyle/>
              <a:p>
                <a:pPr algn="ctr"/>
                <a:r>
                  <a:rPr lang="zh-CN" sz="820" b="1" dirty="0">
                    <a:solidFill>
                      <a:srgbClr val="932F1B"/>
                    </a:solidFill>
                    <a:latin typeface="+mn-lt"/>
                    <a:ea typeface="+mn-ea"/>
                    <a:cs typeface="+mn-cs"/>
                  </a:rPr>
                  <a:t>50元​</a:t>
                </a:r>
              </a:p>
            </p:txBody>
          </p:sp>
          <p:sp>
            <p:nvSpPr>
              <p:cNvPr id="98" name="TextBox 98"/>
              <p:cNvSpPr txBox="1"/>
              <p:nvPr/>
            </p:nvSpPr>
            <p:spPr>
              <a:xfrm>
                <a:off x="8552509" y="4102894"/>
                <a:ext cx="554332" cy="76200"/>
              </a:xfrm>
              <a:prstGeom prst="rect">
                <a:avLst/>
              </a:prstGeom>
              <a:noFill/>
              <a:ln>
                <a:noFill/>
              </a:ln>
            </p:spPr>
            <p:txBody>
              <a:bodyPr wrap="none" lIns="0" tIns="0" rIns="0" bIns="0" anchor="t" anchorCtr="0">
                <a:spAutoFit/>
              </a:bodyPr>
              <a:lstStyle/>
              <a:p>
                <a:pPr algn="ctr"/>
                <a:r>
                  <a:rPr lang="zh-CN" sz="380" dirty="0">
                    <a:solidFill>
                      <a:srgbClr val="666666"/>
                    </a:solidFill>
                    <a:latin typeface="+mn-lt"/>
                    <a:ea typeface="+mn-ea"/>
                    <a:cs typeface="+mn-cs"/>
                  </a:rPr>
                  <a:t>金融资产提升6万档位​​</a:t>
                </a:r>
              </a:p>
            </p:txBody>
          </p:sp>
          <p:sp>
            <p:nvSpPr>
              <p:cNvPr id="99" name="Rectangle 99"/>
              <p:cNvSpPr/>
              <p:nvPr/>
            </p:nvSpPr>
            <p:spPr>
              <a:xfrm>
                <a:off x="8001000" y="4495800"/>
                <a:ext cx="1476375" cy="209550"/>
              </a:xfrm>
              <a:prstGeom prst="roundRect">
                <a:avLst>
                  <a:gd name="adj" fmla="val 50000"/>
                </a:avLst>
              </a:prstGeom>
              <a:solidFill>
                <a:srgbClr val="E8462A"/>
              </a:solidFill>
              <a:ln>
                <a:noFill/>
              </a:ln>
            </p:spPr>
          </p:sp>
          <p:sp>
            <p:nvSpPr>
              <p:cNvPr id="100" name="TextBox 100"/>
              <p:cNvSpPr txBox="1"/>
              <p:nvPr/>
            </p:nvSpPr>
            <p:spPr>
              <a:xfrm>
                <a:off x="8546579" y="4565809"/>
                <a:ext cx="37569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前往参加</a:t>
                </a:r>
              </a:p>
            </p:txBody>
          </p:sp>
          <p:sp>
            <p:nvSpPr>
              <p:cNvPr id="101" name="Rectangle 101"/>
              <p:cNvSpPr/>
              <p:nvPr/>
            </p:nvSpPr>
            <p:spPr>
              <a:xfrm>
                <a:off x="8001000" y="4800600"/>
                <a:ext cx="1428750" cy="28575"/>
              </a:xfrm>
              <a:prstGeom prst="roundRect">
                <a:avLst>
                  <a:gd name="adj" fmla="val 50000"/>
                </a:avLst>
              </a:prstGeom>
              <a:solidFill>
                <a:srgbClr val="E5E5E5"/>
              </a:solidFill>
              <a:ln>
                <a:noFill/>
              </a:ln>
            </p:spPr>
          </p:sp>
          <p:sp>
            <p:nvSpPr>
              <p:cNvPr id="102" name="Rectangle 102"/>
              <p:cNvSpPr/>
              <p:nvPr/>
            </p:nvSpPr>
            <p:spPr>
              <a:xfrm>
                <a:off x="8001000" y="4876800"/>
                <a:ext cx="1047750" cy="28575"/>
              </a:xfrm>
              <a:prstGeom prst="roundRect">
                <a:avLst>
                  <a:gd name="adj" fmla="val 50000"/>
                </a:avLst>
              </a:prstGeom>
              <a:solidFill>
                <a:srgbClr val="E5E5E5"/>
              </a:solidFill>
              <a:ln>
                <a:noFill/>
              </a:ln>
            </p:spPr>
          </p:sp>
        </p:grpSp>
        <p:sp>
          <p:nvSpPr>
            <p:cNvPr id="104" name="TextBox 104"/>
            <p:cNvSpPr txBox="1"/>
            <p:nvPr/>
          </p:nvSpPr>
          <p:spPr>
            <a:xfrm>
              <a:off x="8093012" y="5411152"/>
              <a:ext cx="1282827"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中信银行会员升级礼</a:t>
              </a:r>
            </a:p>
          </p:txBody>
        </p:sp>
        <p:grpSp>
          <p:nvGrpSpPr>
            <p:cNvPr id="133" name="shot-spdb"/>
            <p:cNvGrpSpPr/>
            <p:nvPr/>
          </p:nvGrpSpPr>
          <p:grpSpPr>
            <a:xfrm>
              <a:off x="9906000" y="1952625"/>
              <a:ext cx="1857375" cy="3286125"/>
              <a:chOff x="9906000" y="1952625"/>
              <a:chExt cx="1857375" cy="3286125"/>
            </a:xfrm>
          </p:grpSpPr>
          <p:sp>
            <p:nvSpPr>
              <p:cNvPr id="105" name="Rectangle 105"/>
              <p:cNvSpPr/>
              <p:nvPr/>
            </p:nvSpPr>
            <p:spPr>
              <a:xfrm>
                <a:off x="9906000" y="1952625"/>
                <a:ext cx="1857375" cy="3286125"/>
              </a:xfrm>
              <a:prstGeom prst="roundRect">
                <a:avLst>
                  <a:gd name="adj" fmla="val 5128"/>
                </a:avLst>
              </a:prstGeom>
              <a:solidFill>
                <a:srgbClr val="FFFFFF"/>
              </a:solidFill>
              <a:ln w="9525">
                <a:solidFill>
                  <a:srgbClr val="D9D9D9"/>
                </a:solidFill>
              </a:ln>
            </p:spPr>
          </p:sp>
          <p:sp>
            <p:nvSpPr>
              <p:cNvPr id="106" name="Rectangle 106"/>
              <p:cNvSpPr/>
              <p:nvPr/>
            </p:nvSpPr>
            <p:spPr>
              <a:xfrm>
                <a:off x="9906000" y="1952625"/>
                <a:ext cx="1857375" cy="476250"/>
              </a:xfrm>
              <a:prstGeom prst="roundRect">
                <a:avLst>
                  <a:gd name="adj" fmla="val 20000"/>
                </a:avLst>
              </a:prstGeom>
              <a:gradFill>
                <a:gsLst>
                  <a:gs pos="0">
                    <a:srgbClr val="B3776A"/>
                  </a:gs>
                  <a:gs pos="100000">
                    <a:srgbClr val="E8775D"/>
                  </a:gs>
                </a:gsLst>
                <a:lin ang="5400000" scaled="1"/>
              </a:gradFill>
              <a:ln>
                <a:noFill/>
              </a:ln>
            </p:spPr>
          </p:sp>
          <p:sp>
            <p:nvSpPr>
              <p:cNvPr id="107" name="TextBox 107"/>
              <p:cNvSpPr txBox="1"/>
              <p:nvPr/>
            </p:nvSpPr>
            <p:spPr>
              <a:xfrm>
                <a:off x="9996488" y="2068830"/>
                <a:ext cx="53950" cy="119062"/>
              </a:xfrm>
              <a:prstGeom prst="rect">
                <a:avLst/>
              </a:prstGeom>
              <a:noFill/>
              <a:ln>
                <a:noFill/>
              </a:ln>
            </p:spPr>
            <p:txBody>
              <a:bodyPr wrap="none" lIns="0" tIns="0" rIns="0" bIns="0" anchor="t" anchorCtr="0">
                <a:spAutoFit/>
              </a:bodyPr>
              <a:lstStyle/>
              <a:p>
                <a:pPr algn="l"/>
                <a:r>
                  <a:rPr lang="zh-CN" sz="600" dirty="0">
                    <a:solidFill>
                      <a:srgbClr val="FFFFFF"/>
                    </a:solidFill>
                    <a:latin typeface="+mn-lt"/>
                    <a:ea typeface="+mn-ea"/>
                    <a:cs typeface="+mn-cs"/>
                  </a:rPr>
                  <a:t>‹</a:t>
                </a:r>
              </a:p>
            </p:txBody>
          </p:sp>
          <p:sp>
            <p:nvSpPr>
              <p:cNvPr id="108" name="TextBox 108"/>
              <p:cNvSpPr txBox="1"/>
              <p:nvPr/>
            </p:nvSpPr>
            <p:spPr>
              <a:xfrm>
                <a:off x="10110597" y="20854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进阶好礼</a:t>
                </a:r>
              </a:p>
            </p:txBody>
          </p:sp>
          <p:sp>
            <p:nvSpPr>
              <p:cNvPr id="109" name="TextBox 109"/>
              <p:cNvSpPr txBox="1"/>
              <p:nvPr/>
            </p:nvSpPr>
            <p:spPr>
              <a:xfrm>
                <a:off x="11298372" y="2080974"/>
                <a:ext cx="345940" cy="97631"/>
              </a:xfrm>
              <a:prstGeom prst="rect">
                <a:avLst/>
              </a:prstGeom>
              <a:noFill/>
              <a:ln>
                <a:noFill/>
              </a:ln>
            </p:spPr>
            <p:txBody>
              <a:bodyPr wrap="none" lIns="0" tIns="0" rIns="0" bIns="0" anchor="t" anchorCtr="0">
                <a:spAutoFit/>
              </a:bodyPr>
              <a:lstStyle/>
              <a:p>
                <a:pPr algn="r"/>
                <a:r>
                  <a:rPr lang="zh-CN" sz="490" dirty="0">
                    <a:solidFill>
                      <a:srgbClr val="FFFFFF"/>
                    </a:solidFill>
                    <a:latin typeface="+mn-lt"/>
                    <a:ea typeface="+mn-ea"/>
                    <a:cs typeface="+mn-cs"/>
                  </a:rPr>
                  <a:t>账单记录​​</a:t>
                </a:r>
              </a:p>
            </p:txBody>
          </p:sp>
          <p:sp>
            <p:nvSpPr>
              <p:cNvPr id="110" name="TextBox 110"/>
              <p:cNvSpPr txBox="1"/>
              <p:nvPr/>
            </p:nvSpPr>
            <p:spPr>
              <a:xfrm>
                <a:off x="10110788" y="2313622"/>
                <a:ext cx="427863" cy="90488"/>
              </a:xfrm>
              <a:prstGeom prst="rect">
                <a:avLst/>
              </a:prstGeom>
              <a:noFill/>
              <a:ln>
                <a:noFill/>
              </a:ln>
            </p:spPr>
            <p:txBody>
              <a:bodyPr wrap="none" lIns="0" tIns="0" rIns="0" bIns="0" anchor="t" anchorCtr="0">
                <a:spAutoFit/>
              </a:bodyPr>
              <a:lstStyle/>
              <a:p>
                <a:pPr algn="l"/>
                <a:r>
                  <a:rPr lang="zh-CN" sz="450" dirty="0">
                    <a:solidFill>
                      <a:srgbClr val="F3E3F7"/>
                    </a:solidFill>
                    <a:latin typeface="+mn-lt"/>
                    <a:ea typeface="+mn-ea"/>
                    <a:cs typeface="+mn-cs"/>
                  </a:rPr>
                  <a:t>财富优客V4​​​</a:t>
                </a:r>
              </a:p>
            </p:txBody>
          </p:sp>
          <p:sp>
            <p:nvSpPr>
              <p:cNvPr id="111" name="Rectangle 111"/>
              <p:cNvSpPr/>
              <p:nvPr/>
            </p:nvSpPr>
            <p:spPr>
              <a:xfrm>
                <a:off x="9982200" y="2495550"/>
                <a:ext cx="1714500" cy="1771650"/>
              </a:xfrm>
              <a:prstGeom prst="roundRect">
                <a:avLst>
                  <a:gd name="adj" fmla="val 3333"/>
                </a:avLst>
              </a:prstGeom>
              <a:solidFill>
                <a:srgbClr val="FFFFFF"/>
              </a:solidFill>
              <a:ln w="9525">
                <a:solidFill>
                  <a:srgbClr val="EEEEEE"/>
                </a:solidFill>
              </a:ln>
            </p:spPr>
          </p:sp>
          <p:sp>
            <p:nvSpPr>
              <p:cNvPr id="112" name="TextBox 112"/>
              <p:cNvSpPr txBox="1"/>
              <p:nvPr/>
            </p:nvSpPr>
            <p:spPr>
              <a:xfrm>
                <a:off x="10053638" y="2621280"/>
                <a:ext cx="766793" cy="119062"/>
              </a:xfrm>
              <a:prstGeom prst="rect">
                <a:avLst/>
              </a:prstGeom>
              <a:noFill/>
              <a:ln>
                <a:noFill/>
              </a:ln>
            </p:spPr>
            <p:txBody>
              <a:bodyPr wrap="none" lIns="0" tIns="0" rIns="0" bIns="0" anchor="t" anchorCtr="0">
                <a:spAutoFit/>
              </a:bodyPr>
              <a:lstStyle/>
              <a:p>
                <a:pPr algn="l"/>
                <a:r>
                  <a:rPr lang="zh-CN" sz="600" b="1" dirty="0">
                    <a:solidFill>
                      <a:srgbClr val="333333"/>
                    </a:solidFill>
                    <a:latin typeface="+mn-lt"/>
                    <a:ea typeface="+mn-ea"/>
                    <a:cs typeface="+mn-cs"/>
                  </a:rPr>
                  <a:t>财富优客V4升级礼​​</a:t>
                </a:r>
              </a:p>
            </p:txBody>
          </p:sp>
          <p:sp>
            <p:nvSpPr>
              <p:cNvPr id="113" name="TextBox 113"/>
              <p:cNvSpPr txBox="1"/>
              <p:nvPr/>
            </p:nvSpPr>
            <p:spPr>
              <a:xfrm>
                <a:off x="11364032" y="2637472"/>
                <a:ext cx="261231" cy="90488"/>
              </a:xfrm>
              <a:prstGeom prst="rect">
                <a:avLst/>
              </a:prstGeom>
              <a:noFill/>
              <a:ln>
                <a:noFill/>
              </a:ln>
            </p:spPr>
            <p:txBody>
              <a:bodyPr wrap="none" lIns="0" tIns="0" rIns="0" bIns="0" anchor="t" anchorCtr="0">
                <a:spAutoFit/>
              </a:bodyPr>
              <a:lstStyle/>
              <a:p>
                <a:pPr algn="r"/>
                <a:r>
                  <a:rPr lang="zh-CN" sz="450" b="1" dirty="0">
                    <a:solidFill>
                      <a:srgbClr val="E8553C"/>
                    </a:solidFill>
                    <a:latin typeface="+mn-lt"/>
                    <a:ea typeface="+mn-ea"/>
                    <a:cs typeface="+mn-cs"/>
                  </a:rPr>
                  <a:t>未达标​​</a:t>
                </a:r>
              </a:p>
            </p:txBody>
          </p:sp>
          <p:sp>
            <p:nvSpPr>
              <p:cNvPr id="114" name="TextBox 114"/>
              <p:cNvSpPr txBox="1"/>
              <p:nvPr/>
            </p:nvSpPr>
            <p:spPr>
              <a:xfrm>
                <a:off x="10053638" y="2755821"/>
                <a:ext cx="702212" cy="83344"/>
              </a:xfrm>
              <a:prstGeom prst="rect">
                <a:avLst/>
              </a:prstGeom>
              <a:noFill/>
              <a:ln>
                <a:noFill/>
              </a:ln>
            </p:spPr>
            <p:txBody>
              <a:bodyPr wrap="none" lIns="0" tIns="0" rIns="0" bIns="0" anchor="t" anchorCtr="0">
                <a:spAutoFit/>
              </a:bodyPr>
              <a:lstStyle/>
              <a:p>
                <a:pPr algn="l"/>
                <a:r>
                  <a:rPr lang="zh-CN" sz="410" dirty="0">
                    <a:solidFill>
                      <a:srgbClr val="999999"/>
                    </a:solidFill>
                    <a:latin typeface="+mn-lt"/>
                    <a:ea typeface="+mn-ea"/>
                    <a:cs typeface="+mn-cs"/>
                  </a:rPr>
                  <a:t>活动周期 2026.4-2027.3​​</a:t>
                </a:r>
              </a:p>
            </p:txBody>
          </p:sp>
          <p:sp>
            <p:nvSpPr>
              <p:cNvPr id="115" name="Rectangle 115"/>
              <p:cNvSpPr/>
              <p:nvPr/>
            </p:nvSpPr>
            <p:spPr>
              <a:xfrm>
                <a:off x="10058400" y="2876550"/>
                <a:ext cx="723900" cy="533400"/>
              </a:xfrm>
              <a:prstGeom prst="roundRect">
                <a:avLst>
                  <a:gd name="adj" fmla="val 7143"/>
                </a:avLst>
              </a:prstGeom>
              <a:solidFill>
                <a:srgbClr val="FDF3F5"/>
              </a:solidFill>
              <a:ln>
                <a:noFill/>
              </a:ln>
            </p:spPr>
          </p:sp>
          <p:sp>
            <p:nvSpPr>
              <p:cNvPr id="116" name="Rectangle 116"/>
              <p:cNvSpPr/>
              <p:nvPr/>
            </p:nvSpPr>
            <p:spPr>
              <a:xfrm>
                <a:off x="10858500" y="2876550"/>
                <a:ext cx="723900" cy="533400"/>
              </a:xfrm>
              <a:prstGeom prst="roundRect">
                <a:avLst>
                  <a:gd name="adj" fmla="val 7143"/>
                </a:avLst>
              </a:prstGeom>
              <a:solidFill>
                <a:srgbClr val="FDF3F5"/>
              </a:solidFill>
              <a:ln>
                <a:noFill/>
              </a:ln>
            </p:spPr>
          </p:sp>
          <p:sp>
            <p:nvSpPr>
              <p:cNvPr id="117" name="Rectangle 117"/>
              <p:cNvSpPr/>
              <p:nvPr/>
            </p:nvSpPr>
            <p:spPr>
              <a:xfrm>
                <a:off x="10058400" y="3486150"/>
                <a:ext cx="723900" cy="533400"/>
              </a:xfrm>
              <a:prstGeom prst="roundRect">
                <a:avLst>
                  <a:gd name="adj" fmla="val 7143"/>
                </a:avLst>
              </a:prstGeom>
              <a:solidFill>
                <a:srgbClr val="FDF3F5"/>
              </a:solidFill>
              <a:ln>
                <a:noFill/>
              </a:ln>
            </p:spPr>
          </p:sp>
          <p:sp>
            <p:nvSpPr>
              <p:cNvPr id="118" name="Rectangle 118"/>
              <p:cNvSpPr/>
              <p:nvPr/>
            </p:nvSpPr>
            <p:spPr>
              <a:xfrm>
                <a:off x="10858500" y="3486150"/>
                <a:ext cx="723900" cy="533400"/>
              </a:xfrm>
              <a:prstGeom prst="roundRect">
                <a:avLst>
                  <a:gd name="adj" fmla="val 7143"/>
                </a:avLst>
              </a:prstGeom>
              <a:solidFill>
                <a:srgbClr val="FDF3F5"/>
              </a:solidFill>
              <a:ln>
                <a:noFill/>
              </a:ln>
            </p:spPr>
          </p:sp>
          <p:sp>
            <p:nvSpPr>
              <p:cNvPr id="119" name="TextBox 119"/>
              <p:cNvSpPr txBox="1"/>
              <p:nvPr/>
            </p:nvSpPr>
            <p:spPr>
              <a:xfrm>
                <a:off x="10116639" y="2977991"/>
                <a:ext cx="264522" cy="161925"/>
              </a:xfrm>
              <a:prstGeom prst="rect">
                <a:avLst/>
              </a:prstGeom>
              <a:noFill/>
              <a:ln>
                <a:noFill/>
              </a:ln>
            </p:spPr>
            <p:txBody>
              <a:bodyPr wrap="none" lIns="0" tIns="0" rIns="0" bIns="0" anchor="t" anchorCtr="0">
                <a:spAutoFit/>
              </a:bodyPr>
              <a:lstStyle/>
              <a:p>
                <a:pPr algn="ctr"/>
                <a:r>
                  <a:rPr lang="zh-CN" sz="820" b="1" dirty="0">
                    <a:solidFill>
                      <a:srgbClr val="C93D25"/>
                    </a:solidFill>
                    <a:latin typeface="+mn-lt"/>
                    <a:ea typeface="+mn-ea"/>
                    <a:cs typeface="+mn-cs"/>
                  </a:rPr>
                  <a:t>¥5​​</a:t>
                </a:r>
              </a:p>
            </p:txBody>
          </p:sp>
          <p:sp>
            <p:nvSpPr>
              <p:cNvPr id="120" name="TextBox 120"/>
              <p:cNvSpPr txBox="1"/>
              <p:nvPr/>
            </p:nvSpPr>
            <p:spPr>
              <a:xfrm>
                <a:off x="10140626" y="3293269"/>
                <a:ext cx="559448" cy="76200"/>
              </a:xfrm>
              <a:prstGeom prst="rect">
                <a:avLst/>
              </a:prstGeom>
              <a:noFill/>
              <a:ln>
                <a:noFill/>
              </a:ln>
            </p:spPr>
            <p:txBody>
              <a:bodyPr wrap="none" lIns="0" tIns="0" rIns="0" bIns="0" anchor="t" anchorCtr="0">
                <a:spAutoFit/>
              </a:bodyPr>
              <a:lstStyle/>
              <a:p>
                <a:pPr algn="ctr"/>
                <a:r>
                  <a:rPr lang="zh-CN" sz="380" dirty="0">
                    <a:solidFill>
                      <a:srgbClr val="888888"/>
                    </a:solidFill>
                    <a:latin typeface="+mn-lt"/>
                    <a:ea typeface="+mn-ea"/>
                    <a:cs typeface="+mn-cs"/>
                  </a:rPr>
                  <a:t>五元微信卡还款金×3​​​</a:t>
                </a:r>
              </a:p>
            </p:txBody>
          </p:sp>
          <p:sp>
            <p:nvSpPr>
              <p:cNvPr id="121" name="Rectangle 121"/>
              <p:cNvSpPr/>
              <p:nvPr/>
            </p:nvSpPr>
            <p:spPr>
              <a:xfrm>
                <a:off x="11315700" y="3009900"/>
                <a:ext cx="190500" cy="133350"/>
              </a:xfrm>
              <a:prstGeom prst="roundRect">
                <a:avLst>
                  <a:gd name="adj" fmla="val 14286"/>
                </a:avLst>
              </a:prstGeom>
              <a:solidFill>
                <a:srgbClr val="C93D25"/>
              </a:solidFill>
              <a:ln>
                <a:noFill/>
              </a:ln>
            </p:spPr>
          </p:sp>
          <p:sp>
            <p:nvSpPr>
              <p:cNvPr id="122" name="TextBox 122"/>
              <p:cNvSpPr txBox="1"/>
              <p:nvPr/>
            </p:nvSpPr>
            <p:spPr>
              <a:xfrm>
                <a:off x="11239847" y="3056572"/>
                <a:ext cx="342207" cy="90488"/>
              </a:xfrm>
              <a:prstGeom prst="rect">
                <a:avLst/>
              </a:prstGeom>
              <a:noFill/>
              <a:ln>
                <a:noFill/>
              </a:ln>
            </p:spPr>
            <p:txBody>
              <a:bodyPr wrap="none" lIns="0" tIns="0" rIns="0" bIns="0" anchor="t" anchorCtr="0">
                <a:spAutoFit/>
              </a:bodyPr>
              <a:lstStyle/>
              <a:p>
                <a:pPr algn="ctr"/>
                <a:r>
                  <a:rPr lang="en-US" sz="450" b="1" dirty="0">
                    <a:solidFill>
                      <a:srgbClr val="FFFFFF"/>
                    </a:solidFill>
                    <a:latin typeface="+mn-lt"/>
                    <a:ea typeface="+mn-ea"/>
                    <a:cs typeface="+mn-cs"/>
                  </a:rPr>
                  <a:t>KFC​​​​​​</a:t>
                </a:r>
              </a:p>
            </p:txBody>
          </p:sp>
          <p:sp>
            <p:nvSpPr>
              <p:cNvPr id="123" name="TextBox 123"/>
              <p:cNvSpPr txBox="1"/>
              <p:nvPr/>
            </p:nvSpPr>
            <p:spPr>
              <a:xfrm>
                <a:off x="11045595" y="3293269"/>
                <a:ext cx="349710" cy="76200"/>
              </a:xfrm>
              <a:prstGeom prst="rect">
                <a:avLst/>
              </a:prstGeom>
              <a:noFill/>
              <a:ln>
                <a:noFill/>
              </a:ln>
            </p:spPr>
            <p:txBody>
              <a:bodyPr wrap="none" lIns="0" tIns="0" rIns="0" bIns="0" anchor="t" anchorCtr="0">
                <a:spAutoFit/>
              </a:bodyPr>
              <a:lstStyle/>
              <a:p>
                <a:pPr algn="ctr"/>
                <a:r>
                  <a:rPr lang="zh-CN" sz="380" dirty="0">
                    <a:solidFill>
                      <a:srgbClr val="888888"/>
                    </a:solidFill>
                    <a:latin typeface="+mn-lt"/>
                    <a:ea typeface="+mn-ea"/>
                    <a:cs typeface="+mn-cs"/>
                  </a:rPr>
                  <a:t>肯德基5元券​​</a:t>
                </a:r>
              </a:p>
            </p:txBody>
          </p:sp>
          <p:sp>
            <p:nvSpPr>
              <p:cNvPr id="124" name="TextBox 124"/>
              <p:cNvSpPr txBox="1"/>
              <p:nvPr/>
            </p:nvSpPr>
            <p:spPr>
              <a:xfrm>
                <a:off x="10116639" y="3606641"/>
                <a:ext cx="264522" cy="161925"/>
              </a:xfrm>
              <a:prstGeom prst="rect">
                <a:avLst/>
              </a:prstGeom>
              <a:noFill/>
              <a:ln>
                <a:noFill/>
              </a:ln>
            </p:spPr>
            <p:txBody>
              <a:bodyPr wrap="none" lIns="0" tIns="0" rIns="0" bIns="0" anchor="t" anchorCtr="0">
                <a:spAutoFit/>
              </a:bodyPr>
              <a:lstStyle/>
              <a:p>
                <a:pPr algn="ctr"/>
                <a:r>
                  <a:rPr lang="zh-CN" sz="820" b="1" dirty="0">
                    <a:solidFill>
                      <a:srgbClr val="C93D25"/>
                    </a:solidFill>
                    <a:latin typeface="+mn-lt"/>
                    <a:ea typeface="+mn-ea"/>
                    <a:cs typeface="+mn-cs"/>
                  </a:rPr>
                  <a:t>¥5​​</a:t>
                </a:r>
              </a:p>
            </p:txBody>
          </p:sp>
          <p:sp>
            <p:nvSpPr>
              <p:cNvPr id="125" name="TextBox 125"/>
              <p:cNvSpPr txBox="1"/>
              <p:nvPr/>
            </p:nvSpPr>
            <p:spPr>
              <a:xfrm>
                <a:off x="10219917" y="3902869"/>
                <a:ext cx="400865" cy="76200"/>
              </a:xfrm>
              <a:prstGeom prst="rect">
                <a:avLst/>
              </a:prstGeom>
              <a:noFill/>
              <a:ln>
                <a:noFill/>
              </a:ln>
            </p:spPr>
            <p:txBody>
              <a:bodyPr wrap="none" lIns="0" tIns="0" rIns="0" bIns="0" anchor="t" anchorCtr="0">
                <a:spAutoFit/>
              </a:bodyPr>
              <a:lstStyle/>
              <a:p>
                <a:pPr algn="ctr"/>
                <a:r>
                  <a:rPr lang="zh-CN" sz="380" dirty="0">
                    <a:solidFill>
                      <a:srgbClr val="888888"/>
                    </a:solidFill>
                    <a:latin typeface="+mn-lt"/>
                    <a:ea typeface="+mn-ea"/>
                    <a:cs typeface="+mn-cs"/>
                  </a:rPr>
                  <a:t>美团外卖5元券​​</a:t>
                </a:r>
              </a:p>
            </p:txBody>
          </p:sp>
          <p:sp>
            <p:nvSpPr>
              <p:cNvPr id="126" name="TextBox 126"/>
              <p:cNvSpPr txBox="1"/>
              <p:nvPr/>
            </p:nvSpPr>
            <p:spPr>
              <a:xfrm>
                <a:off x="11130136" y="3670221"/>
                <a:ext cx="180627" cy="83344"/>
              </a:xfrm>
              <a:prstGeom prst="rect">
                <a:avLst/>
              </a:prstGeom>
              <a:noFill/>
              <a:ln>
                <a:noFill/>
              </a:ln>
            </p:spPr>
            <p:txBody>
              <a:bodyPr wrap="none" lIns="0" tIns="0" rIns="0" bIns="0" anchor="t" anchorCtr="0">
                <a:spAutoFit/>
              </a:bodyPr>
              <a:lstStyle/>
              <a:p>
                <a:pPr algn="ctr"/>
                <a:r>
                  <a:rPr lang="zh-CN" sz="410" dirty="0">
                    <a:solidFill>
                      <a:srgbClr val="888888"/>
                    </a:solidFill>
                    <a:latin typeface="+mn-lt"/>
                    <a:ea typeface="+mn-ea"/>
                    <a:cs typeface="+mn-cs"/>
                  </a:rPr>
                  <a:t>滴滴​​</a:t>
                </a:r>
              </a:p>
            </p:txBody>
          </p:sp>
          <p:sp>
            <p:nvSpPr>
              <p:cNvPr id="127" name="TextBox 127"/>
              <p:cNvSpPr txBox="1"/>
              <p:nvPr/>
            </p:nvSpPr>
            <p:spPr>
              <a:xfrm>
                <a:off x="11020017" y="3902869"/>
                <a:ext cx="400865" cy="76200"/>
              </a:xfrm>
              <a:prstGeom prst="rect">
                <a:avLst/>
              </a:prstGeom>
              <a:noFill/>
              <a:ln>
                <a:noFill/>
              </a:ln>
            </p:spPr>
            <p:txBody>
              <a:bodyPr wrap="none" lIns="0" tIns="0" rIns="0" bIns="0" anchor="t" anchorCtr="0">
                <a:spAutoFit/>
              </a:bodyPr>
              <a:lstStyle/>
              <a:p>
                <a:pPr algn="ctr"/>
                <a:r>
                  <a:rPr lang="zh-CN" sz="380" dirty="0">
                    <a:solidFill>
                      <a:srgbClr val="888888"/>
                    </a:solidFill>
                    <a:latin typeface="+mn-lt"/>
                    <a:ea typeface="+mn-ea"/>
                    <a:cs typeface="+mn-cs"/>
                  </a:rPr>
                  <a:t>5元滴滴打车券​​</a:t>
                </a:r>
              </a:p>
            </p:txBody>
          </p:sp>
          <p:sp>
            <p:nvSpPr>
              <p:cNvPr id="128" name="Rectangle 128"/>
              <p:cNvSpPr/>
              <p:nvPr/>
            </p:nvSpPr>
            <p:spPr>
              <a:xfrm>
                <a:off x="9982200" y="2819400"/>
                <a:ext cx="1714500" cy="1257300"/>
              </a:xfrm>
              <a:prstGeom prst="rect">
                <a:avLst/>
              </a:prstGeom>
              <a:noFill/>
              <a:ln w="19050">
                <a:solidFill>
                  <a:srgbClr val="E62B00"/>
                </a:solidFill>
              </a:ln>
            </p:spPr>
          </p:sp>
          <p:sp>
            <p:nvSpPr>
              <p:cNvPr id="129" name="Rectangle 129"/>
              <p:cNvSpPr/>
              <p:nvPr/>
            </p:nvSpPr>
            <p:spPr>
              <a:xfrm>
                <a:off x="10058400" y="4400550"/>
                <a:ext cx="1562100" cy="190500"/>
              </a:xfrm>
              <a:prstGeom prst="roundRect">
                <a:avLst>
                  <a:gd name="adj" fmla="val 50000"/>
                </a:avLst>
              </a:prstGeom>
              <a:solidFill>
                <a:srgbClr val="D4634C"/>
              </a:solidFill>
              <a:ln>
                <a:noFill/>
              </a:ln>
            </p:spPr>
          </p:sp>
          <p:sp>
            <p:nvSpPr>
              <p:cNvPr id="130" name="TextBox 130"/>
              <p:cNvSpPr txBox="1"/>
              <p:nvPr/>
            </p:nvSpPr>
            <p:spPr>
              <a:xfrm>
                <a:off x="10632758" y="4469130"/>
                <a:ext cx="413385"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等级未达标</a:t>
                </a:r>
              </a:p>
            </p:txBody>
          </p:sp>
          <p:sp>
            <p:nvSpPr>
              <p:cNvPr id="131" name="Rectangle 131"/>
              <p:cNvSpPr/>
              <p:nvPr/>
            </p:nvSpPr>
            <p:spPr>
              <a:xfrm>
                <a:off x="10058400" y="4705350"/>
                <a:ext cx="1428750" cy="28575"/>
              </a:xfrm>
              <a:prstGeom prst="roundRect">
                <a:avLst>
                  <a:gd name="adj" fmla="val 50000"/>
                </a:avLst>
              </a:prstGeom>
              <a:solidFill>
                <a:srgbClr val="E5E5E5"/>
              </a:solidFill>
              <a:ln>
                <a:noFill/>
              </a:ln>
            </p:spPr>
          </p:sp>
          <p:sp>
            <p:nvSpPr>
              <p:cNvPr id="132" name="Rectangle 132"/>
              <p:cNvSpPr/>
              <p:nvPr/>
            </p:nvSpPr>
            <p:spPr>
              <a:xfrm>
                <a:off x="10058400" y="4781550"/>
                <a:ext cx="1143000" cy="28575"/>
              </a:xfrm>
              <a:prstGeom prst="roundRect">
                <a:avLst>
                  <a:gd name="adj" fmla="val 50000"/>
                </a:avLst>
              </a:prstGeom>
              <a:solidFill>
                <a:srgbClr val="E5E5E5"/>
              </a:solidFill>
              <a:ln>
                <a:noFill/>
              </a:ln>
            </p:spPr>
          </p:sp>
        </p:grpSp>
        <p:sp>
          <p:nvSpPr>
            <p:cNvPr id="134" name="TextBox 134"/>
            <p:cNvSpPr txBox="1"/>
            <p:nvPr/>
          </p:nvSpPr>
          <p:spPr>
            <a:xfrm>
              <a:off x="10188512" y="5411152"/>
              <a:ext cx="1282827"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浦发银行会员升级礼</a:t>
              </a:r>
            </a:p>
          </p:txBody>
        </p:sp>
      </p:grpSp>
      <p:grpSp>
        <p:nvGrpSpPr>
          <p:cNvPr id="138" name="footer"/>
          <p:cNvGrpSpPr/>
          <p:nvPr/>
        </p:nvGrpSpPr>
        <p:grpSpPr>
          <a:xfrm>
            <a:off x="0" y="6438900"/>
            <a:ext cx="12192000" cy="342900"/>
            <a:chOff x="0" y="6438900"/>
            <a:chExt cx="12192000" cy="342900"/>
          </a:xfrm>
        </p:grpSpPr>
        <p:sp>
          <p:nvSpPr>
            <p:cNvPr id="136" name="Line 136"/>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137" name="TextBox 137"/>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24​</a:t>
              </a:r>
            </a:p>
          </p:txBody>
        </p:sp>
        <p:sp>
          <p:nvSpPr>
            <p:cNvPr id="4" name="TextBox 4"/>
            <p:cNvSpPr txBox="1"/>
            <p:nvPr/>
          </p:nvSpPr>
          <p:spPr>
            <a:xfrm>
              <a:off x="885444" y="160973"/>
              <a:ext cx="7213351"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2.2.3 权益运营｜</a:t>
              </a:r>
              <a:r>
                <a:rPr lang="zh-CN" sz="1950" b="1" dirty="0">
                  <a:solidFill>
                    <a:srgbClr val="E74726"/>
                  </a:solidFill>
                  <a:latin typeface="+mj-lt"/>
                  <a:ea typeface="+mj-ea"/>
                  <a:cs typeface="+mj-cs"/>
                </a:rPr>
                <a:t>招商银行长尾客群分层会员权益示例</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8642769" cy="249364"/>
            <a:chOff x="374523" y="681514"/>
            <a:chExt cx="8642769" cy="249364"/>
          </a:xfrm>
        </p:grpSpPr>
        <p:sp>
          <p:nvSpPr>
            <p:cNvPr id="16" name="TextBox 16"/>
            <p:cNvSpPr txBox="1"/>
            <p:nvPr/>
          </p:nvSpPr>
          <p:spPr>
            <a:xfrm>
              <a:off x="374523" y="681514"/>
              <a:ext cx="8642769"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划分大众M1、M2两大层级，配套15项金融+非金融综合权益，正向鼓励客户主动沉淀资金、做大资产规模​​​​​​</a:t>
              </a:r>
            </a:p>
          </p:txBody>
        </p:sp>
      </p:grpSp>
      <p:grpSp>
        <p:nvGrpSpPr>
          <p:cNvPr id="19" name="guide"/>
          <p:cNvGrpSpPr/>
          <p:nvPr/>
        </p:nvGrpSpPr>
        <p:grpSpPr>
          <a:xfrm>
            <a:off x="376047" y="990124"/>
            <a:ext cx="7060565" cy="371666"/>
            <a:chOff x="376047" y="990124"/>
            <a:chExt cx="7060565" cy="371666"/>
          </a:xfrm>
        </p:grpSpPr>
        <p:sp>
          <p:nvSpPr>
            <p:cNvPr id="18" name="TextBox 18"/>
            <p:cNvSpPr txBox="1"/>
            <p:nvPr/>
          </p:nvSpPr>
          <p:spPr>
            <a:xfrm>
              <a:off x="376047" y="990124"/>
              <a:ext cx="7060565"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金融权益聚焦朝朝宝、信贷、信用卡等轻量化低门槛产品，鼓励长尾客户完成重点产品购买、信用卡办理等首次关键行为；非​​​</a:t>
              </a:r>
              <a:br/>
              <a:r>
                <a:rPr lang="zh-CN" sz="980" dirty="0">
                  <a:solidFill>
                    <a:srgbClr val="333333"/>
                  </a:solidFill>
                  <a:latin typeface="+mn-lt"/>
                  <a:ea typeface="+mn-ea"/>
                  <a:cs typeface="+mn-cs"/>
                </a:rPr>
                <a:t>金融权益聚焦生活、出行、亲子高频场景，提供普惠型生活福利，直接拉动App MAU增长​​​</a:t>
              </a:r>
            </a:p>
          </p:txBody>
        </p:sp>
      </p:grpSp>
      <p:grpSp>
        <p:nvGrpSpPr>
          <p:cNvPr id="104" name="benefit-table"/>
          <p:cNvGrpSpPr/>
          <p:nvPr/>
        </p:nvGrpSpPr>
        <p:grpSpPr>
          <a:xfrm>
            <a:off x="285750" y="1428750"/>
            <a:ext cx="11610975" cy="4914900"/>
            <a:chOff x="285750" y="1428750"/>
            <a:chExt cx="11610975" cy="4914900"/>
          </a:xfrm>
        </p:grpSpPr>
        <p:sp>
          <p:nvSpPr>
            <p:cNvPr id="20" name="Rectangle 20"/>
            <p:cNvSpPr/>
            <p:nvPr/>
          </p:nvSpPr>
          <p:spPr>
            <a:xfrm>
              <a:off x="285750" y="1428750"/>
              <a:ext cx="11601450" cy="304800"/>
            </a:xfrm>
            <a:prstGeom prst="rect">
              <a:avLst/>
            </a:prstGeom>
            <a:solidFill>
              <a:srgbClr val="D4E2FA"/>
            </a:solidFill>
            <a:ln>
              <a:noFill/>
            </a:ln>
          </p:spPr>
        </p:sp>
        <p:sp>
          <p:nvSpPr>
            <p:cNvPr id="21" name="Rectangle 21"/>
            <p:cNvSpPr/>
            <p:nvPr/>
          </p:nvSpPr>
          <p:spPr>
            <a:xfrm>
              <a:off x="285750" y="1733550"/>
              <a:ext cx="11601450" cy="266700"/>
            </a:xfrm>
            <a:prstGeom prst="rect">
              <a:avLst/>
            </a:prstGeom>
            <a:solidFill>
              <a:srgbClr val="D4E2FA"/>
            </a:solidFill>
            <a:ln>
              <a:noFill/>
            </a:ln>
          </p:spPr>
        </p:sp>
        <p:sp>
          <p:nvSpPr>
            <p:cNvPr id="22" name="Rectangle 22"/>
            <p:cNvSpPr/>
            <p:nvPr/>
          </p:nvSpPr>
          <p:spPr>
            <a:xfrm>
              <a:off x="285750" y="2000250"/>
              <a:ext cx="11601450" cy="476250"/>
            </a:xfrm>
            <a:prstGeom prst="rect">
              <a:avLst/>
            </a:prstGeom>
            <a:solidFill>
              <a:srgbClr val="D4E2FA"/>
            </a:solidFill>
            <a:ln>
              <a:noFill/>
            </a:ln>
          </p:spPr>
        </p:sp>
        <p:sp>
          <p:nvSpPr>
            <p:cNvPr id="23" name="TextBox 23"/>
            <p:cNvSpPr txBox="1"/>
            <p:nvPr/>
          </p:nvSpPr>
          <p:spPr>
            <a:xfrm>
              <a:off x="4439222" y="1531620"/>
              <a:ext cx="494157" cy="176212"/>
            </a:xfrm>
            <a:prstGeom prst="rect">
              <a:avLst/>
            </a:prstGeom>
            <a:noFill/>
            <a:ln>
              <a:noFill/>
            </a:ln>
          </p:spPr>
          <p:txBody>
            <a:bodyPr wrap="none" lIns="0" tIns="0" rIns="0" bIns="0" anchor="t" anchorCtr="0">
              <a:spAutoFit/>
            </a:bodyPr>
            <a:lstStyle/>
            <a:p>
              <a:pPr algn="ctr"/>
              <a:r>
                <a:rPr lang="zh-CN" sz="900" b="1" dirty="0">
                  <a:solidFill>
                    <a:srgbClr val="1A1A1A"/>
                  </a:solidFill>
                  <a:latin typeface="+mn-lt"/>
                  <a:ea typeface="+mn-ea"/>
                  <a:cs typeface="+mn-cs"/>
                </a:rPr>
                <a:t>金融权益</a:t>
              </a:r>
            </a:p>
          </p:txBody>
        </p:sp>
        <p:sp>
          <p:nvSpPr>
            <p:cNvPr id="24" name="TextBox 24"/>
            <p:cNvSpPr txBox="1"/>
            <p:nvPr/>
          </p:nvSpPr>
          <p:spPr>
            <a:xfrm>
              <a:off x="9007792" y="1531620"/>
              <a:ext cx="615315" cy="176212"/>
            </a:xfrm>
            <a:prstGeom prst="rect">
              <a:avLst/>
            </a:prstGeom>
            <a:noFill/>
            <a:ln>
              <a:noFill/>
            </a:ln>
          </p:spPr>
          <p:txBody>
            <a:bodyPr wrap="none" lIns="0" tIns="0" rIns="0" bIns="0" anchor="t" anchorCtr="0">
              <a:spAutoFit/>
            </a:bodyPr>
            <a:lstStyle/>
            <a:p>
              <a:pPr algn="ctr"/>
              <a:r>
                <a:rPr lang="zh-CN" sz="900" b="1" dirty="0">
                  <a:solidFill>
                    <a:srgbClr val="1A1A1A"/>
                  </a:solidFill>
                  <a:latin typeface="+mn-lt"/>
                  <a:ea typeface="+mn-ea"/>
                  <a:cs typeface="+mn-cs"/>
                </a:rPr>
                <a:t>非金融权益</a:t>
              </a:r>
            </a:p>
          </p:txBody>
        </p:sp>
        <p:sp>
          <p:nvSpPr>
            <p:cNvPr id="25" name="TextBox 25"/>
            <p:cNvSpPr txBox="1"/>
            <p:nvPr/>
          </p:nvSpPr>
          <p:spPr>
            <a:xfrm>
              <a:off x="4460761" y="1825466"/>
              <a:ext cx="451079" cy="161925"/>
            </a:xfrm>
            <a:prstGeom prst="rect">
              <a:avLst/>
            </a:prstGeom>
            <a:noFill/>
            <a:ln>
              <a:noFill/>
            </a:ln>
          </p:spPr>
          <p:txBody>
            <a:bodyPr wrap="none" lIns="0" tIns="0" rIns="0" bIns="0" anchor="t" anchorCtr="0">
              <a:spAutoFit/>
            </a:bodyPr>
            <a:lstStyle/>
            <a:p>
              <a:pPr algn="ctr"/>
              <a:r>
                <a:rPr lang="zh-CN" sz="820" b="1" dirty="0">
                  <a:solidFill>
                    <a:srgbClr val="1A1A1A"/>
                  </a:solidFill>
                  <a:latin typeface="+mn-lt"/>
                  <a:ea typeface="+mn-ea"/>
                  <a:cs typeface="+mn-cs"/>
                </a:rPr>
                <a:t>金融礼遇</a:t>
              </a:r>
            </a:p>
          </p:txBody>
        </p:sp>
        <p:sp>
          <p:nvSpPr>
            <p:cNvPr id="26" name="TextBox 26"/>
            <p:cNvSpPr txBox="1"/>
            <p:nvPr/>
          </p:nvSpPr>
          <p:spPr>
            <a:xfrm>
              <a:off x="8061211" y="1825466"/>
              <a:ext cx="451079" cy="161925"/>
            </a:xfrm>
            <a:prstGeom prst="rect">
              <a:avLst/>
            </a:prstGeom>
            <a:noFill/>
            <a:ln>
              <a:noFill/>
            </a:ln>
          </p:spPr>
          <p:txBody>
            <a:bodyPr wrap="none" lIns="0" tIns="0" rIns="0" bIns="0" anchor="t" anchorCtr="0">
              <a:spAutoFit/>
            </a:bodyPr>
            <a:lstStyle/>
            <a:p>
              <a:pPr algn="ctr"/>
              <a:r>
                <a:rPr lang="zh-CN" sz="820" b="1" dirty="0">
                  <a:solidFill>
                    <a:srgbClr val="1A1A1A"/>
                  </a:solidFill>
                  <a:latin typeface="+mn-lt"/>
                  <a:ea typeface="+mn-ea"/>
                  <a:cs typeface="+mn-cs"/>
                </a:rPr>
                <a:t>生活礼遇</a:t>
              </a:r>
            </a:p>
          </p:txBody>
        </p:sp>
        <p:sp>
          <p:nvSpPr>
            <p:cNvPr id="27" name="TextBox 27"/>
            <p:cNvSpPr txBox="1"/>
            <p:nvPr/>
          </p:nvSpPr>
          <p:spPr>
            <a:xfrm>
              <a:off x="9861436" y="1825466"/>
              <a:ext cx="451079" cy="161925"/>
            </a:xfrm>
            <a:prstGeom prst="rect">
              <a:avLst/>
            </a:prstGeom>
            <a:noFill/>
            <a:ln>
              <a:noFill/>
            </a:ln>
          </p:spPr>
          <p:txBody>
            <a:bodyPr wrap="none" lIns="0" tIns="0" rIns="0" bIns="0" anchor="t" anchorCtr="0">
              <a:spAutoFit/>
            </a:bodyPr>
            <a:lstStyle/>
            <a:p>
              <a:pPr algn="ctr"/>
              <a:r>
                <a:rPr lang="zh-CN" sz="820" b="1" dirty="0">
                  <a:solidFill>
                    <a:srgbClr val="1A1A1A"/>
                  </a:solidFill>
                  <a:latin typeface="+mn-lt"/>
                  <a:ea typeface="+mn-ea"/>
                  <a:cs typeface="+mn-cs"/>
                </a:rPr>
                <a:t>出行礼遇</a:t>
              </a:r>
            </a:p>
          </p:txBody>
        </p:sp>
        <p:sp>
          <p:nvSpPr>
            <p:cNvPr id="28" name="TextBox 28"/>
            <p:cNvSpPr txBox="1"/>
            <p:nvPr/>
          </p:nvSpPr>
          <p:spPr>
            <a:xfrm>
              <a:off x="10890136" y="1825466"/>
              <a:ext cx="451079" cy="161925"/>
            </a:xfrm>
            <a:prstGeom prst="rect">
              <a:avLst/>
            </a:prstGeom>
            <a:noFill/>
            <a:ln>
              <a:noFill/>
            </a:ln>
          </p:spPr>
          <p:txBody>
            <a:bodyPr wrap="none" lIns="0" tIns="0" rIns="0" bIns="0" anchor="t" anchorCtr="0">
              <a:spAutoFit/>
            </a:bodyPr>
            <a:lstStyle/>
            <a:p>
              <a:pPr algn="ctr"/>
              <a:r>
                <a:rPr lang="zh-CN" sz="820" b="1" dirty="0">
                  <a:solidFill>
                    <a:srgbClr val="1A1A1A"/>
                  </a:solidFill>
                  <a:latin typeface="+mn-lt"/>
                  <a:ea typeface="+mn-ea"/>
                  <a:cs typeface="+mn-cs"/>
                </a:rPr>
                <a:t>亲子礼遇</a:t>
              </a:r>
            </a:p>
          </p:txBody>
        </p:sp>
        <p:sp>
          <p:nvSpPr>
            <p:cNvPr id="29" name="TextBox 29"/>
            <p:cNvSpPr txBox="1"/>
            <p:nvPr/>
          </p:nvSpPr>
          <p:spPr>
            <a:xfrm>
              <a:off x="393586" y="1901666"/>
              <a:ext cx="451079" cy="161925"/>
            </a:xfrm>
            <a:prstGeom prst="rect">
              <a:avLst/>
            </a:prstGeom>
            <a:noFill/>
            <a:ln>
              <a:noFill/>
            </a:ln>
          </p:spPr>
          <p:txBody>
            <a:bodyPr wrap="none" lIns="0" tIns="0" rIns="0" bIns="0" anchor="t" anchorCtr="0">
              <a:spAutoFit/>
            </a:bodyPr>
            <a:lstStyle/>
            <a:p>
              <a:pPr algn="ctr"/>
              <a:r>
                <a:rPr lang="zh-CN" sz="820" b="1" dirty="0">
                  <a:solidFill>
                    <a:srgbClr val="1A1A1A"/>
                  </a:solidFill>
                  <a:latin typeface="+mn-lt"/>
                  <a:ea typeface="+mn-ea"/>
                  <a:cs typeface="+mn-cs"/>
                </a:rPr>
                <a:t>客户分层</a:t>
              </a:r>
            </a:p>
          </p:txBody>
        </p:sp>
        <p:sp>
          <p:nvSpPr>
            <p:cNvPr id="30" name="TextBox 30"/>
            <p:cNvSpPr txBox="1"/>
            <p:nvPr/>
          </p:nvSpPr>
          <p:spPr>
            <a:xfrm>
              <a:off x="1250836" y="1901666"/>
              <a:ext cx="451079" cy="161925"/>
            </a:xfrm>
            <a:prstGeom prst="rect">
              <a:avLst/>
            </a:prstGeom>
            <a:noFill/>
            <a:ln>
              <a:noFill/>
            </a:ln>
          </p:spPr>
          <p:txBody>
            <a:bodyPr wrap="none" lIns="0" tIns="0" rIns="0" bIns="0" anchor="t" anchorCtr="0">
              <a:spAutoFit/>
            </a:bodyPr>
            <a:lstStyle/>
            <a:p>
              <a:pPr algn="ctr"/>
              <a:r>
                <a:rPr lang="zh-CN" sz="820" b="1" dirty="0">
                  <a:solidFill>
                    <a:srgbClr val="1A1A1A"/>
                  </a:solidFill>
                  <a:latin typeface="+mn-lt"/>
                  <a:ea typeface="+mn-ea"/>
                  <a:cs typeface="+mn-cs"/>
                </a:rPr>
                <a:t>分层定义</a:t>
              </a:r>
            </a:p>
          </p:txBody>
        </p:sp>
        <p:sp>
          <p:nvSpPr>
            <p:cNvPr id="31" name="TextBox 31"/>
            <p:cNvSpPr txBox="1"/>
            <p:nvPr/>
          </p:nvSpPr>
          <p:spPr>
            <a:xfrm>
              <a:off x="2057400" y="1909762"/>
              <a:ext cx="514350"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权益配置数</a:t>
              </a:r>
            </a:p>
          </p:txBody>
        </p:sp>
        <p:sp>
          <p:nvSpPr>
            <p:cNvPr id="32" name="TextBox 32"/>
            <p:cNvSpPr txBox="1"/>
            <p:nvPr/>
          </p:nvSpPr>
          <p:spPr>
            <a:xfrm>
              <a:off x="2679382" y="2195512"/>
              <a:ext cx="413385"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每月福利</a:t>
              </a:r>
            </a:p>
          </p:txBody>
        </p:sp>
        <p:sp>
          <p:nvSpPr>
            <p:cNvPr id="33" name="TextBox 33"/>
            <p:cNvSpPr txBox="1"/>
            <p:nvPr/>
          </p:nvSpPr>
          <p:spPr>
            <a:xfrm>
              <a:off x="3225284" y="2100262"/>
              <a:ext cx="350282"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1A1A1A"/>
                  </a:solidFill>
                  <a:latin typeface="+mn-lt"/>
                  <a:ea typeface="+mn-ea"/>
                  <a:cs typeface="+mn-cs"/>
                </a:rPr>
                <a:t>闪电贷​</a:t>
              </a:r>
              <a:br/>
              <a:r>
                <a:rPr lang="zh-CN" sz="750" b="1" dirty="0">
                  <a:solidFill>
                    <a:srgbClr val="1A1A1A"/>
                  </a:solidFill>
                  <a:latin typeface="+mn-lt"/>
                  <a:ea typeface="+mn-ea"/>
                  <a:cs typeface="+mn-cs"/>
                </a:rPr>
                <a:t>优惠</a:t>
              </a:r>
            </a:p>
          </p:txBody>
        </p:sp>
        <p:sp>
          <p:nvSpPr>
            <p:cNvPr id="34" name="TextBox 34"/>
            <p:cNvSpPr txBox="1"/>
            <p:nvPr/>
          </p:nvSpPr>
          <p:spPr>
            <a:xfrm>
              <a:off x="3739634" y="2100262"/>
              <a:ext cx="350282"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1A1A1A"/>
                  </a:solidFill>
                  <a:latin typeface="+mn-lt"/>
                  <a:ea typeface="+mn-ea"/>
                  <a:cs typeface="+mn-cs"/>
                </a:rPr>
                <a:t>好期贷​</a:t>
              </a:r>
              <a:br/>
              <a:r>
                <a:rPr lang="zh-CN" sz="750" b="1" dirty="0">
                  <a:solidFill>
                    <a:srgbClr val="1A1A1A"/>
                  </a:solidFill>
                  <a:latin typeface="+mn-lt"/>
                  <a:ea typeface="+mn-ea"/>
                  <a:cs typeface="+mn-cs"/>
                </a:rPr>
                <a:t>优惠</a:t>
              </a:r>
            </a:p>
          </p:txBody>
        </p:sp>
        <p:sp>
          <p:nvSpPr>
            <p:cNvPr id="35" name="TextBox 35"/>
            <p:cNvSpPr txBox="1"/>
            <p:nvPr/>
          </p:nvSpPr>
          <p:spPr>
            <a:xfrm>
              <a:off x="4253984" y="2100262"/>
              <a:ext cx="350282"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1A1A1A"/>
                  </a:solidFill>
                  <a:latin typeface="+mn-lt"/>
                  <a:ea typeface="+mn-ea"/>
                  <a:cs typeface="+mn-cs"/>
                </a:rPr>
                <a:t>信用卡​</a:t>
              </a:r>
              <a:br/>
              <a:r>
                <a:rPr lang="zh-CN" sz="750" b="1" dirty="0">
                  <a:solidFill>
                    <a:srgbClr val="1A1A1A"/>
                  </a:solidFill>
                  <a:latin typeface="+mn-lt"/>
                  <a:ea typeface="+mn-ea"/>
                  <a:cs typeface="+mn-cs"/>
                </a:rPr>
                <a:t>分期</a:t>
              </a:r>
            </a:p>
          </p:txBody>
        </p:sp>
        <p:sp>
          <p:nvSpPr>
            <p:cNvPr id="36" name="TextBox 36"/>
            <p:cNvSpPr txBox="1"/>
            <p:nvPr/>
          </p:nvSpPr>
          <p:spPr>
            <a:xfrm>
              <a:off x="4760952" y="2100262"/>
              <a:ext cx="365046"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1A1A1A"/>
                  </a:solidFill>
                  <a:latin typeface="+mn-lt"/>
                  <a:ea typeface="+mn-ea"/>
                  <a:cs typeface="+mn-cs"/>
                </a:rPr>
                <a:t>e招贷​​</a:t>
              </a:r>
              <a:br/>
              <a:r>
                <a:rPr lang="zh-CN" sz="750" b="1" dirty="0">
                  <a:solidFill>
                    <a:srgbClr val="1A1A1A"/>
                  </a:solidFill>
                  <a:latin typeface="+mn-lt"/>
                  <a:ea typeface="+mn-ea"/>
                  <a:cs typeface="+mn-cs"/>
                </a:rPr>
                <a:t>优惠</a:t>
              </a:r>
            </a:p>
          </p:txBody>
        </p:sp>
        <p:sp>
          <p:nvSpPr>
            <p:cNvPr id="37" name="TextBox 37"/>
            <p:cNvSpPr txBox="1"/>
            <p:nvPr/>
          </p:nvSpPr>
          <p:spPr>
            <a:xfrm>
              <a:off x="5251132" y="2195512"/>
              <a:ext cx="413385"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征信报告</a:t>
              </a:r>
            </a:p>
          </p:txBody>
        </p:sp>
        <p:sp>
          <p:nvSpPr>
            <p:cNvPr id="38" name="TextBox 38"/>
            <p:cNvSpPr txBox="1"/>
            <p:nvPr/>
          </p:nvSpPr>
          <p:spPr>
            <a:xfrm>
              <a:off x="5765482" y="2195512"/>
              <a:ext cx="413385"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财富管家</a:t>
              </a:r>
            </a:p>
          </p:txBody>
        </p:sp>
        <p:sp>
          <p:nvSpPr>
            <p:cNvPr id="39" name="TextBox 39"/>
            <p:cNvSpPr txBox="1"/>
            <p:nvPr/>
          </p:nvSpPr>
          <p:spPr>
            <a:xfrm>
              <a:off x="6311384" y="2100262"/>
              <a:ext cx="350282"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1A1A1A"/>
                  </a:solidFill>
                  <a:latin typeface="+mn-lt"/>
                  <a:ea typeface="+mn-ea"/>
                  <a:cs typeface="+mn-cs"/>
                </a:rPr>
                <a:t>他行信​</a:t>
              </a:r>
              <a:br/>
              <a:r>
                <a:rPr lang="zh-CN" sz="750" b="1" dirty="0">
                  <a:solidFill>
                    <a:srgbClr val="1A1A1A"/>
                  </a:solidFill>
                  <a:latin typeface="+mn-lt"/>
                  <a:ea typeface="+mn-ea"/>
                  <a:cs typeface="+mn-cs"/>
                </a:rPr>
                <a:t>用卡</a:t>
              </a:r>
            </a:p>
          </p:txBody>
        </p:sp>
        <p:sp>
          <p:nvSpPr>
            <p:cNvPr id="40" name="TextBox 40"/>
            <p:cNvSpPr txBox="1"/>
            <p:nvPr/>
          </p:nvSpPr>
          <p:spPr>
            <a:xfrm>
              <a:off x="6825734" y="2100262"/>
              <a:ext cx="350282"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1A1A1A"/>
                  </a:solidFill>
                  <a:latin typeface="+mn-lt"/>
                  <a:ea typeface="+mn-ea"/>
                  <a:cs typeface="+mn-cs"/>
                </a:rPr>
                <a:t>星巴克​</a:t>
              </a:r>
              <a:br/>
              <a:r>
                <a:rPr lang="zh-CN" sz="750" b="1" dirty="0">
                  <a:solidFill>
                    <a:srgbClr val="1A1A1A"/>
                  </a:solidFill>
                  <a:latin typeface="+mn-lt"/>
                  <a:ea typeface="+mn-ea"/>
                  <a:cs typeface="+mn-cs"/>
                </a:rPr>
                <a:t>立减</a:t>
              </a:r>
            </a:p>
          </p:txBody>
        </p:sp>
        <p:sp>
          <p:nvSpPr>
            <p:cNvPr id="41" name="TextBox 41"/>
            <p:cNvSpPr txBox="1"/>
            <p:nvPr/>
          </p:nvSpPr>
          <p:spPr>
            <a:xfrm>
              <a:off x="7308532" y="2195512"/>
              <a:ext cx="413385"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视听优享</a:t>
              </a:r>
            </a:p>
          </p:txBody>
        </p:sp>
        <p:sp>
          <p:nvSpPr>
            <p:cNvPr id="42" name="TextBox 42"/>
            <p:cNvSpPr txBox="1"/>
            <p:nvPr/>
          </p:nvSpPr>
          <p:spPr>
            <a:xfrm>
              <a:off x="7873365" y="2195512"/>
              <a:ext cx="312420"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生日礼</a:t>
              </a:r>
            </a:p>
          </p:txBody>
        </p:sp>
        <p:sp>
          <p:nvSpPr>
            <p:cNvPr id="43" name="TextBox 43"/>
            <p:cNvSpPr txBox="1"/>
            <p:nvPr/>
          </p:nvSpPr>
          <p:spPr>
            <a:xfrm>
              <a:off x="8368784" y="2100262"/>
              <a:ext cx="350282"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1A1A1A"/>
                  </a:solidFill>
                  <a:latin typeface="+mn-lt"/>
                  <a:ea typeface="+mn-ea"/>
                  <a:cs typeface="+mn-cs"/>
                </a:rPr>
                <a:t>小招喵​</a:t>
              </a:r>
              <a:br/>
              <a:r>
                <a:rPr lang="zh-CN" sz="750" b="1" dirty="0">
                  <a:solidFill>
                    <a:srgbClr val="1A1A1A"/>
                  </a:solidFill>
                  <a:latin typeface="+mn-lt"/>
                  <a:ea typeface="+mn-ea"/>
                  <a:cs typeface="+mn-cs"/>
                </a:rPr>
                <a:t>周边</a:t>
              </a:r>
            </a:p>
          </p:txBody>
        </p:sp>
        <p:sp>
          <p:nvSpPr>
            <p:cNvPr id="44" name="TextBox 44"/>
            <p:cNvSpPr txBox="1"/>
            <p:nvPr/>
          </p:nvSpPr>
          <p:spPr>
            <a:xfrm>
              <a:off x="8851582" y="2195512"/>
              <a:ext cx="413385"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数币红包</a:t>
              </a:r>
            </a:p>
          </p:txBody>
        </p:sp>
        <p:sp>
          <p:nvSpPr>
            <p:cNvPr id="45" name="TextBox 45"/>
            <p:cNvSpPr txBox="1"/>
            <p:nvPr/>
          </p:nvSpPr>
          <p:spPr>
            <a:xfrm>
              <a:off x="9397484" y="2100262"/>
              <a:ext cx="350282"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1A1A1A"/>
                  </a:solidFill>
                  <a:latin typeface="+mn-lt"/>
                  <a:ea typeface="+mn-ea"/>
                  <a:cs typeface="+mn-cs"/>
                </a:rPr>
                <a:t>发工资​</a:t>
              </a:r>
              <a:br/>
              <a:r>
                <a:rPr lang="zh-CN" sz="750" b="1" dirty="0">
                  <a:solidFill>
                    <a:srgbClr val="1A1A1A"/>
                  </a:solidFill>
                  <a:latin typeface="+mn-lt"/>
                  <a:ea typeface="+mn-ea"/>
                  <a:cs typeface="+mn-cs"/>
                </a:rPr>
                <a:t>9元购​</a:t>
              </a:r>
            </a:p>
          </p:txBody>
        </p:sp>
        <p:sp>
          <p:nvSpPr>
            <p:cNvPr id="46" name="TextBox 46"/>
            <p:cNvSpPr txBox="1"/>
            <p:nvPr/>
          </p:nvSpPr>
          <p:spPr>
            <a:xfrm>
              <a:off x="9880282" y="2195512"/>
              <a:ext cx="413385"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购车优惠</a:t>
              </a:r>
            </a:p>
          </p:txBody>
        </p:sp>
        <p:sp>
          <p:nvSpPr>
            <p:cNvPr id="47" name="TextBox 47"/>
            <p:cNvSpPr txBox="1"/>
            <p:nvPr/>
          </p:nvSpPr>
          <p:spPr>
            <a:xfrm>
              <a:off x="10426184" y="2100262"/>
              <a:ext cx="350282" cy="280988"/>
            </a:xfrm>
            <a:prstGeom prst="rect">
              <a:avLst/>
            </a:prstGeom>
            <a:noFill/>
            <a:ln>
              <a:noFill/>
            </a:ln>
          </p:spPr>
          <p:txBody>
            <a:bodyPr wrap="none" lIns="0" tIns="0" rIns="0" bIns="0" anchor="t" anchorCtr="0">
              <a:spAutoFit/>
            </a:bodyPr>
            <a:lstStyle/>
            <a:p>
              <a:pPr algn="ctr">
                <a:lnSpc>
                  <a:spcPts val="1050"/>
                </a:lnSpc>
              </a:pPr>
              <a:r>
                <a:rPr lang="zh-CN" sz="750" b="1" dirty="0">
                  <a:solidFill>
                    <a:srgbClr val="1A1A1A"/>
                  </a:solidFill>
                  <a:latin typeface="+mn-lt"/>
                  <a:ea typeface="+mn-ea"/>
                  <a:cs typeface="+mn-cs"/>
                </a:rPr>
                <a:t>金小葵​</a:t>
              </a:r>
              <a:br/>
              <a:r>
                <a:rPr lang="zh-CN" sz="750" b="1" dirty="0">
                  <a:solidFill>
                    <a:srgbClr val="1A1A1A"/>
                  </a:solidFill>
                  <a:latin typeface="+mn-lt"/>
                  <a:ea typeface="+mn-ea"/>
                  <a:cs typeface="+mn-cs"/>
                </a:rPr>
                <a:t>管家</a:t>
              </a:r>
            </a:p>
          </p:txBody>
        </p:sp>
        <p:sp>
          <p:nvSpPr>
            <p:cNvPr id="48" name="TextBox 48"/>
            <p:cNvSpPr txBox="1"/>
            <p:nvPr/>
          </p:nvSpPr>
          <p:spPr>
            <a:xfrm>
              <a:off x="10908982" y="2195512"/>
              <a:ext cx="413385"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财商课堂</a:t>
              </a:r>
            </a:p>
          </p:txBody>
        </p:sp>
        <p:sp>
          <p:nvSpPr>
            <p:cNvPr id="49" name="TextBox 49"/>
            <p:cNvSpPr txBox="1"/>
            <p:nvPr/>
          </p:nvSpPr>
          <p:spPr>
            <a:xfrm>
              <a:off x="11423332" y="2195512"/>
              <a:ext cx="413385"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阅读教育</a:t>
              </a:r>
            </a:p>
          </p:txBody>
        </p:sp>
        <p:sp>
          <p:nvSpPr>
            <p:cNvPr id="50" name="TextBox 50"/>
            <p:cNvSpPr txBox="1"/>
            <p:nvPr/>
          </p:nvSpPr>
          <p:spPr>
            <a:xfrm>
              <a:off x="378981" y="3433762"/>
              <a:ext cx="480289"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大众M1​​</a:t>
              </a:r>
            </a:p>
          </p:txBody>
        </p:sp>
        <p:sp>
          <p:nvSpPr>
            <p:cNvPr id="51" name="TextBox 51"/>
            <p:cNvSpPr txBox="1"/>
            <p:nvPr/>
          </p:nvSpPr>
          <p:spPr>
            <a:xfrm>
              <a:off x="1063593" y="3323511"/>
              <a:ext cx="825564" cy="369094"/>
            </a:xfrm>
            <a:prstGeom prst="rect">
              <a:avLst/>
            </a:prstGeom>
            <a:noFill/>
            <a:ln>
              <a:noFill/>
            </a:ln>
          </p:spPr>
          <p:txBody>
            <a:bodyPr wrap="none" lIns="0" tIns="0" rIns="0" bIns="0" anchor="t" anchorCtr="0">
              <a:spAutoFit/>
            </a:bodyPr>
            <a:lstStyle/>
            <a:p>
              <a:pPr algn="ctr">
                <a:lnSpc>
                  <a:spcPts val="900"/>
                </a:lnSpc>
              </a:pPr>
              <a:r>
                <a:rPr lang="zh-CN" sz="710" dirty="0">
                  <a:solidFill>
                    <a:srgbClr val="333333"/>
                  </a:solidFill>
                  <a:latin typeface="+mn-lt"/>
                  <a:ea typeface="+mn-ea"/>
                  <a:cs typeface="+mn-cs"/>
                </a:rPr>
                <a:t>上月月日均资产</a:t>
              </a:r>
              <a:br/>
              <a:r>
                <a:rPr lang="zh-CN" sz="710" dirty="0">
                  <a:solidFill>
                    <a:srgbClr val="333333"/>
                  </a:solidFill>
                  <a:latin typeface="+mn-lt"/>
                  <a:ea typeface="+mn-ea"/>
                  <a:cs typeface="+mn-cs"/>
                </a:rPr>
                <a:t>∈[0,1000)＋当月​​</a:t>
              </a:r>
              <a:br/>
              <a:r>
                <a:rPr lang="zh-CN" sz="710" dirty="0">
                  <a:solidFill>
                    <a:srgbClr val="333333"/>
                  </a:solidFill>
                  <a:latin typeface="+mn-lt"/>
                  <a:ea typeface="+mn-ea"/>
                  <a:cs typeface="+mn-cs"/>
                </a:rPr>
                <a:t>新客户</a:t>
              </a:r>
            </a:p>
          </p:txBody>
        </p:sp>
        <p:sp>
          <p:nvSpPr>
            <p:cNvPr id="52" name="TextBox 52"/>
            <p:cNvSpPr txBox="1"/>
            <p:nvPr/>
          </p:nvSpPr>
          <p:spPr>
            <a:xfrm>
              <a:off x="2176034" y="3433762"/>
              <a:ext cx="277082"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15项​</a:t>
              </a:r>
            </a:p>
          </p:txBody>
        </p:sp>
        <p:sp>
          <p:nvSpPr>
            <p:cNvPr id="53" name="TextBox 53"/>
            <p:cNvSpPr txBox="1"/>
            <p:nvPr/>
          </p:nvSpPr>
          <p:spPr>
            <a:xfrm>
              <a:off x="378981" y="5367338"/>
              <a:ext cx="480289"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大众M2​​</a:t>
              </a:r>
            </a:p>
          </p:txBody>
        </p:sp>
        <p:sp>
          <p:nvSpPr>
            <p:cNvPr id="54" name="TextBox 54"/>
            <p:cNvSpPr txBox="1"/>
            <p:nvPr/>
          </p:nvSpPr>
          <p:spPr>
            <a:xfrm>
              <a:off x="1099661" y="5257086"/>
              <a:ext cx="753428" cy="254794"/>
            </a:xfrm>
            <a:prstGeom prst="rect">
              <a:avLst/>
            </a:prstGeom>
            <a:noFill/>
            <a:ln>
              <a:noFill/>
            </a:ln>
          </p:spPr>
          <p:txBody>
            <a:bodyPr wrap="none" lIns="0" tIns="0" rIns="0" bIns="0" anchor="t" anchorCtr="0">
              <a:spAutoFit/>
            </a:bodyPr>
            <a:lstStyle/>
            <a:p>
              <a:pPr algn="ctr">
                <a:lnSpc>
                  <a:spcPts val="900"/>
                </a:lnSpc>
              </a:pPr>
              <a:r>
                <a:rPr lang="zh-CN" sz="710" dirty="0">
                  <a:solidFill>
                    <a:srgbClr val="333333"/>
                  </a:solidFill>
                  <a:latin typeface="+mn-lt"/>
                  <a:ea typeface="+mn-ea"/>
                  <a:cs typeface="+mn-cs"/>
                </a:rPr>
                <a:t>上月月日均资产​</a:t>
              </a:r>
              <a:br/>
              <a:r>
                <a:rPr lang="zh-CN" sz="710" dirty="0">
                  <a:solidFill>
                    <a:srgbClr val="333333"/>
                  </a:solidFill>
                  <a:latin typeface="+mn-lt"/>
                  <a:ea typeface="+mn-ea"/>
                  <a:cs typeface="+mn-cs"/>
                </a:rPr>
                <a:t>∈[1000,50000)​​</a:t>
              </a:r>
            </a:p>
          </p:txBody>
        </p:sp>
        <p:sp>
          <p:nvSpPr>
            <p:cNvPr id="55" name="TextBox 55"/>
            <p:cNvSpPr txBox="1"/>
            <p:nvPr/>
          </p:nvSpPr>
          <p:spPr>
            <a:xfrm>
              <a:off x="2176034" y="5367338"/>
              <a:ext cx="277082"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15项​</a:t>
              </a:r>
            </a:p>
          </p:txBody>
        </p:sp>
        <p:sp>
          <p:nvSpPr>
            <p:cNvPr id="56" name="TextBox 56"/>
            <p:cNvSpPr txBox="1"/>
            <p:nvPr/>
          </p:nvSpPr>
          <p:spPr>
            <a:xfrm>
              <a:off x="2676176" y="3904536"/>
              <a:ext cx="419799" cy="1016794"/>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①1.8元​</a:t>
              </a:r>
              <a:br/>
              <a:r>
                <a:rPr lang="zh-CN" sz="710" dirty="0">
                  <a:solidFill>
                    <a:srgbClr val="333333"/>
                  </a:solidFill>
                  <a:latin typeface="+mn-lt"/>
                  <a:ea typeface="+mn-ea"/>
                  <a:cs typeface="+mn-cs"/>
                </a:rPr>
                <a:t>消费返现​</a:t>
              </a:r>
              <a:br/>
              <a:r>
                <a:rPr lang="zh-CN" sz="710" dirty="0">
                  <a:solidFill>
                    <a:srgbClr val="333333"/>
                  </a:solidFill>
                  <a:latin typeface="+mn-lt"/>
                  <a:ea typeface="+mn-ea"/>
                  <a:cs typeface="+mn-cs"/>
                </a:rPr>
                <a:t>券</a:t>
              </a:r>
              <a:br/>
              <a:r>
                <a:rPr lang="zh-CN" sz="710" dirty="0">
                  <a:solidFill>
                    <a:srgbClr val="333333"/>
                  </a:solidFill>
                  <a:latin typeface="+mn-lt"/>
                  <a:ea typeface="+mn-ea"/>
                  <a:cs typeface="+mn-cs"/>
                </a:rPr>
                <a:t>②1.8元​</a:t>
              </a:r>
              <a:br/>
              <a:r>
                <a:rPr lang="zh-CN" sz="710" dirty="0">
                  <a:solidFill>
                    <a:srgbClr val="333333"/>
                  </a:solidFill>
                  <a:latin typeface="+mn-lt"/>
                  <a:ea typeface="+mn-ea"/>
                  <a:cs typeface="+mn-cs"/>
                </a:rPr>
                <a:t>信用卡还​</a:t>
              </a:r>
              <a:br/>
              <a:r>
                <a:rPr lang="zh-CN" sz="710" dirty="0">
                  <a:solidFill>
                    <a:srgbClr val="333333"/>
                  </a:solidFill>
                  <a:latin typeface="+mn-lt"/>
                  <a:ea typeface="+mn-ea"/>
                  <a:cs typeface="+mn-cs"/>
                </a:rPr>
                <a:t>款返现券​</a:t>
              </a:r>
              <a:br/>
              <a:r>
                <a:rPr lang="zh-CN" sz="710" dirty="0">
                  <a:solidFill>
                    <a:srgbClr val="333333"/>
                  </a:solidFill>
                  <a:latin typeface="+mn-lt"/>
                  <a:ea typeface="+mn-ea"/>
                  <a:cs typeface="+mn-cs"/>
                </a:rPr>
                <a:t>③4万元​</a:t>
              </a:r>
              <a:br/>
              <a:r>
                <a:rPr lang="zh-CN" sz="710" dirty="0">
                  <a:solidFill>
                    <a:srgbClr val="333333"/>
                  </a:solidFill>
                  <a:latin typeface="+mn-lt"/>
                  <a:ea typeface="+mn-ea"/>
                  <a:cs typeface="+mn-cs"/>
                </a:rPr>
                <a:t>1天朝朝</a:t>
              </a:r>
              <a:br/>
              <a:r>
                <a:rPr lang="zh-CN" sz="710" dirty="0">
                  <a:solidFill>
                    <a:srgbClr val="333333"/>
                  </a:solidFill>
                  <a:latin typeface="+mn-lt"/>
                  <a:ea typeface="+mn-ea"/>
                  <a:cs typeface="+mn-cs"/>
                </a:rPr>
                <a:t>宝体验金​</a:t>
              </a:r>
            </a:p>
          </p:txBody>
        </p:sp>
        <p:sp>
          <p:nvSpPr>
            <p:cNvPr id="57" name="TextBox 57"/>
            <p:cNvSpPr txBox="1"/>
            <p:nvPr/>
          </p:nvSpPr>
          <p:spPr>
            <a:xfrm>
              <a:off x="3190526" y="4304586"/>
              <a:ext cx="419799" cy="250031"/>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9.5折利</a:t>
              </a:r>
              <a:br/>
              <a:r>
                <a:rPr lang="zh-CN" sz="710" dirty="0">
                  <a:solidFill>
                    <a:srgbClr val="333333"/>
                  </a:solidFill>
                  <a:latin typeface="+mn-lt"/>
                  <a:ea typeface="+mn-ea"/>
                  <a:cs typeface="+mn-cs"/>
                </a:rPr>
                <a:t>率折扣券​</a:t>
              </a:r>
            </a:p>
          </p:txBody>
        </p:sp>
        <p:sp>
          <p:nvSpPr>
            <p:cNvPr id="58" name="TextBox 58"/>
            <p:cNvSpPr txBox="1"/>
            <p:nvPr/>
          </p:nvSpPr>
          <p:spPr>
            <a:xfrm>
              <a:off x="3720656" y="3285411"/>
              <a:ext cx="388239" cy="359569"/>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9.5折利​</a:t>
              </a:r>
              <a:br/>
              <a:r>
                <a:rPr lang="zh-CN" sz="710" dirty="0">
                  <a:solidFill>
                    <a:srgbClr val="333333"/>
                  </a:solidFill>
                  <a:latin typeface="+mn-lt"/>
                  <a:ea typeface="+mn-ea"/>
                  <a:cs typeface="+mn-cs"/>
                </a:rPr>
                <a:t>息折扣</a:t>
              </a:r>
              <a:br/>
              <a:r>
                <a:rPr lang="zh-CN" sz="710" dirty="0">
                  <a:solidFill>
                    <a:srgbClr val="333333"/>
                  </a:solidFill>
                  <a:latin typeface="+mn-lt"/>
                  <a:ea typeface="+mn-ea"/>
                  <a:cs typeface="+mn-cs"/>
                </a:rPr>
                <a:t>券</a:t>
              </a:r>
            </a:p>
          </p:txBody>
        </p:sp>
        <p:sp>
          <p:nvSpPr>
            <p:cNvPr id="59" name="TextBox 59"/>
            <p:cNvSpPr txBox="1"/>
            <p:nvPr/>
          </p:nvSpPr>
          <p:spPr>
            <a:xfrm>
              <a:off x="3725164" y="5314236"/>
              <a:ext cx="379222" cy="250031"/>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9折利息​</a:t>
              </a:r>
              <a:br/>
              <a:r>
                <a:rPr lang="zh-CN" sz="710" dirty="0">
                  <a:solidFill>
                    <a:srgbClr val="333333"/>
                  </a:solidFill>
                  <a:latin typeface="+mn-lt"/>
                  <a:ea typeface="+mn-ea"/>
                  <a:cs typeface="+mn-cs"/>
                </a:rPr>
                <a:t>折扣券</a:t>
              </a:r>
            </a:p>
          </p:txBody>
        </p:sp>
        <p:sp>
          <p:nvSpPr>
            <p:cNvPr id="60" name="TextBox 60"/>
            <p:cNvSpPr txBox="1"/>
            <p:nvPr/>
          </p:nvSpPr>
          <p:spPr>
            <a:xfrm>
              <a:off x="4219226" y="4133136"/>
              <a:ext cx="419799" cy="578644"/>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25元利</a:t>
              </a:r>
              <a:br/>
              <a:r>
                <a:rPr lang="zh-CN" sz="710" dirty="0">
                  <a:solidFill>
                    <a:srgbClr val="333333"/>
                  </a:solidFill>
                  <a:latin typeface="+mn-lt"/>
                  <a:ea typeface="+mn-ea"/>
                  <a:cs typeface="+mn-cs"/>
                </a:rPr>
                <a:t>息优惠券​</a:t>
              </a:r>
              <a:br/>
              <a:r>
                <a:rPr lang="zh-CN" sz="710" dirty="0">
                  <a:solidFill>
                    <a:srgbClr val="333333"/>
                  </a:solidFill>
                  <a:latin typeface="+mn-lt"/>
                  <a:ea typeface="+mn-ea"/>
                  <a:cs typeface="+mn-cs"/>
                </a:rPr>
                <a:t>（3000</a:t>
              </a:r>
              <a:br/>
              <a:r>
                <a:rPr lang="zh-CN" sz="710" dirty="0">
                  <a:solidFill>
                    <a:srgbClr val="333333"/>
                  </a:solidFill>
                  <a:latin typeface="+mn-lt"/>
                  <a:ea typeface="+mn-ea"/>
                  <a:cs typeface="+mn-cs"/>
                </a:rPr>
                <a:t>元3期以</a:t>
              </a:r>
              <a:br/>
              <a:r>
                <a:rPr lang="zh-CN" sz="710" dirty="0">
                  <a:solidFill>
                    <a:srgbClr val="333333"/>
                  </a:solidFill>
                  <a:latin typeface="+mn-lt"/>
                  <a:ea typeface="+mn-ea"/>
                  <a:cs typeface="+mn-cs"/>
                </a:rPr>
                <a:t>上可用）​</a:t>
              </a:r>
            </a:p>
          </p:txBody>
        </p:sp>
        <p:sp>
          <p:nvSpPr>
            <p:cNvPr id="61" name="TextBox 61"/>
            <p:cNvSpPr txBox="1"/>
            <p:nvPr/>
          </p:nvSpPr>
          <p:spPr>
            <a:xfrm>
              <a:off x="4724559" y="3733086"/>
              <a:ext cx="437832" cy="1345406"/>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①1万元​</a:t>
              </a:r>
              <a:br/>
              <a:r>
                <a:rPr lang="zh-CN" sz="710" dirty="0">
                  <a:solidFill>
                    <a:srgbClr val="333333"/>
                  </a:solidFill>
                  <a:latin typeface="+mn-lt"/>
                  <a:ea typeface="+mn-ea"/>
                  <a:cs typeface="+mn-cs"/>
                </a:rPr>
                <a:t>12期-</a:t>
              </a:r>
              <a:br/>
              <a:r>
                <a:rPr lang="zh-CN" sz="710" dirty="0">
                  <a:solidFill>
                    <a:srgbClr val="333333"/>
                  </a:solidFill>
                  <a:latin typeface="+mn-lt"/>
                  <a:ea typeface="+mn-ea"/>
                  <a:cs typeface="+mn-cs"/>
                </a:rPr>
                <a:t>150元利</a:t>
              </a:r>
              <a:br/>
              <a:r>
                <a:rPr lang="zh-CN" sz="710" dirty="0">
                  <a:solidFill>
                    <a:srgbClr val="333333"/>
                  </a:solidFill>
                  <a:latin typeface="+mn-lt"/>
                  <a:ea typeface="+mn-ea"/>
                  <a:cs typeface="+mn-cs"/>
                </a:rPr>
                <a:t>息抵用券</a:t>
              </a:r>
              <a:br/>
              <a:r>
                <a:rPr lang="zh-CN" sz="710" dirty="0">
                  <a:solidFill>
                    <a:srgbClr val="333333"/>
                  </a:solidFill>
                  <a:latin typeface="+mn-lt"/>
                  <a:ea typeface="+mn-ea"/>
                  <a:cs typeface="+mn-cs"/>
                </a:rPr>
                <a:t>②3万元​</a:t>
              </a:r>
              <a:br/>
              <a:r>
                <a:rPr lang="zh-CN" sz="710" dirty="0">
                  <a:solidFill>
                    <a:srgbClr val="333333"/>
                  </a:solidFill>
                  <a:latin typeface="+mn-lt"/>
                  <a:ea typeface="+mn-ea"/>
                  <a:cs typeface="+mn-cs"/>
                </a:rPr>
                <a:t>12期-</a:t>
              </a:r>
              <a:br/>
              <a:r>
                <a:rPr lang="zh-CN" sz="710" dirty="0">
                  <a:solidFill>
                    <a:srgbClr val="333333"/>
                  </a:solidFill>
                  <a:latin typeface="+mn-lt"/>
                  <a:ea typeface="+mn-ea"/>
                  <a:cs typeface="+mn-cs"/>
                </a:rPr>
                <a:t>500元利</a:t>
              </a:r>
              <a:br/>
              <a:r>
                <a:rPr lang="zh-CN" sz="710" dirty="0">
                  <a:solidFill>
                    <a:srgbClr val="333333"/>
                  </a:solidFill>
                  <a:latin typeface="+mn-lt"/>
                  <a:ea typeface="+mn-ea"/>
                  <a:cs typeface="+mn-cs"/>
                </a:rPr>
                <a:t>息抵用券</a:t>
              </a:r>
              <a:br/>
              <a:r>
                <a:rPr lang="zh-CN" sz="710" dirty="0">
                  <a:solidFill>
                    <a:srgbClr val="333333"/>
                  </a:solidFill>
                  <a:latin typeface="+mn-lt"/>
                  <a:ea typeface="+mn-ea"/>
                  <a:cs typeface="+mn-cs"/>
                </a:rPr>
                <a:t>③5万元​</a:t>
              </a:r>
              <a:br/>
              <a:r>
                <a:rPr lang="zh-CN" sz="710" dirty="0">
                  <a:solidFill>
                    <a:srgbClr val="333333"/>
                  </a:solidFill>
                  <a:latin typeface="+mn-lt"/>
                  <a:ea typeface="+mn-ea"/>
                  <a:cs typeface="+mn-cs"/>
                </a:rPr>
                <a:t>12期-</a:t>
              </a:r>
              <a:br/>
              <a:r>
                <a:rPr lang="zh-CN" sz="710" dirty="0">
                  <a:solidFill>
                    <a:srgbClr val="333333"/>
                  </a:solidFill>
                  <a:latin typeface="+mn-lt"/>
                  <a:ea typeface="+mn-ea"/>
                  <a:cs typeface="+mn-cs"/>
                </a:rPr>
                <a:t>1000元利​</a:t>
              </a:r>
              <a:br/>
              <a:r>
                <a:rPr lang="zh-CN" sz="710" dirty="0">
                  <a:solidFill>
                    <a:srgbClr val="333333"/>
                  </a:solidFill>
                  <a:latin typeface="+mn-lt"/>
                  <a:ea typeface="+mn-ea"/>
                  <a:cs typeface="+mn-cs"/>
                </a:rPr>
                <a:t>息抵用券</a:t>
              </a:r>
            </a:p>
          </p:txBody>
        </p:sp>
        <p:sp>
          <p:nvSpPr>
            <p:cNvPr id="62" name="TextBox 62"/>
            <p:cNvSpPr txBox="1"/>
            <p:nvPr/>
          </p:nvSpPr>
          <p:spPr>
            <a:xfrm>
              <a:off x="5293011" y="4304586"/>
              <a:ext cx="329628" cy="250031"/>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免费查​</a:t>
              </a:r>
              <a:br/>
              <a:r>
                <a:rPr lang="zh-CN" sz="710" dirty="0">
                  <a:solidFill>
                    <a:srgbClr val="333333"/>
                  </a:solidFill>
                  <a:latin typeface="+mn-lt"/>
                  <a:ea typeface="+mn-ea"/>
                  <a:cs typeface="+mn-cs"/>
                </a:rPr>
                <a:t>询</a:t>
              </a:r>
            </a:p>
          </p:txBody>
        </p:sp>
        <p:sp>
          <p:nvSpPr>
            <p:cNvPr id="63" name="TextBox 63"/>
            <p:cNvSpPr txBox="1"/>
            <p:nvPr/>
          </p:nvSpPr>
          <p:spPr>
            <a:xfrm>
              <a:off x="5871832" y="4361736"/>
              <a:ext cx="200685"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小招</a:t>
              </a:r>
            </a:p>
          </p:txBody>
        </p:sp>
        <p:sp>
          <p:nvSpPr>
            <p:cNvPr id="64" name="TextBox 64"/>
            <p:cNvSpPr txBox="1"/>
            <p:nvPr/>
          </p:nvSpPr>
          <p:spPr>
            <a:xfrm>
              <a:off x="6321711" y="4304586"/>
              <a:ext cx="329628" cy="250031"/>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还款0</a:t>
              </a:r>
              <a:br/>
              <a:r>
                <a:rPr lang="zh-CN" sz="710" dirty="0">
                  <a:solidFill>
                    <a:srgbClr val="333333"/>
                  </a:solidFill>
                  <a:latin typeface="+mn-lt"/>
                  <a:ea typeface="+mn-ea"/>
                  <a:cs typeface="+mn-cs"/>
                </a:rPr>
                <a:t>手续费​</a:t>
              </a:r>
            </a:p>
          </p:txBody>
        </p:sp>
        <p:sp>
          <p:nvSpPr>
            <p:cNvPr id="65" name="TextBox 65"/>
            <p:cNvSpPr txBox="1"/>
            <p:nvPr/>
          </p:nvSpPr>
          <p:spPr>
            <a:xfrm>
              <a:off x="6786467" y="4247436"/>
              <a:ext cx="428816" cy="469106"/>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笔笔立减​</a:t>
              </a:r>
              <a:br/>
              <a:r>
                <a:rPr lang="zh-CN" sz="710" dirty="0">
                  <a:solidFill>
                    <a:srgbClr val="333333"/>
                  </a:solidFill>
                  <a:latin typeface="+mn-lt"/>
                  <a:ea typeface="+mn-ea"/>
                  <a:cs typeface="+mn-cs"/>
                </a:rPr>
                <a:t>2元起</a:t>
              </a:r>
              <a:br/>
              <a:r>
                <a:rPr lang="zh-CN" sz="710" dirty="0">
                  <a:solidFill>
                    <a:srgbClr val="333333"/>
                  </a:solidFill>
                  <a:latin typeface="+mn-lt"/>
                  <a:ea typeface="+mn-ea"/>
                  <a:cs typeface="+mn-cs"/>
                </a:rPr>
                <a:t>（每月10​</a:t>
              </a:r>
              <a:br/>
              <a:r>
                <a:rPr lang="zh-CN" sz="710" dirty="0">
                  <a:solidFill>
                    <a:srgbClr val="333333"/>
                  </a:solidFill>
                  <a:latin typeface="+mn-lt"/>
                  <a:ea typeface="+mn-ea"/>
                  <a:cs typeface="+mn-cs"/>
                </a:rPr>
                <a:t>次）</a:t>
              </a:r>
            </a:p>
          </p:txBody>
        </p:sp>
        <p:sp>
          <p:nvSpPr>
            <p:cNvPr id="66" name="TextBox 66"/>
            <p:cNvSpPr txBox="1"/>
            <p:nvPr/>
          </p:nvSpPr>
          <p:spPr>
            <a:xfrm>
              <a:off x="7325614" y="4285536"/>
              <a:ext cx="379222" cy="359569"/>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5大视听​</a:t>
              </a:r>
              <a:br/>
              <a:r>
                <a:rPr lang="zh-CN" sz="710" dirty="0">
                  <a:solidFill>
                    <a:srgbClr val="333333"/>
                  </a:solidFill>
                  <a:latin typeface="+mn-lt"/>
                  <a:ea typeface="+mn-ea"/>
                  <a:cs typeface="+mn-cs"/>
                </a:rPr>
                <a:t>会员6元​</a:t>
              </a:r>
              <a:br/>
              <a:r>
                <a:rPr lang="zh-CN" sz="710" dirty="0">
                  <a:solidFill>
                    <a:srgbClr val="333333"/>
                  </a:solidFill>
                  <a:latin typeface="+mn-lt"/>
                  <a:ea typeface="+mn-ea"/>
                  <a:cs typeface="+mn-cs"/>
                </a:rPr>
                <a:t>折扣券</a:t>
              </a:r>
            </a:p>
          </p:txBody>
        </p:sp>
        <p:sp>
          <p:nvSpPr>
            <p:cNvPr id="67" name="TextBox 67"/>
            <p:cNvSpPr txBox="1"/>
            <p:nvPr/>
          </p:nvSpPr>
          <p:spPr>
            <a:xfrm>
              <a:off x="7776845" y="4037886"/>
              <a:ext cx="505460" cy="797719"/>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3-8元打</a:t>
              </a:r>
              <a:br/>
              <a:r>
                <a:rPr lang="zh-CN" sz="710" dirty="0">
                  <a:solidFill>
                    <a:srgbClr val="333333"/>
                  </a:solidFill>
                  <a:latin typeface="+mn-lt"/>
                  <a:ea typeface="+mn-ea"/>
                  <a:cs typeface="+mn-cs"/>
                </a:rPr>
                <a:t>车券、</a:t>
              </a:r>
              <a:br/>
              <a:r>
                <a:rPr lang="zh-CN" sz="710" dirty="0">
                  <a:solidFill>
                    <a:srgbClr val="333333"/>
                  </a:solidFill>
                  <a:latin typeface="+mn-lt"/>
                  <a:ea typeface="+mn-ea"/>
                  <a:cs typeface="+mn-cs"/>
                </a:rPr>
                <a:t>3-8元饭</a:t>
              </a:r>
              <a:br/>
              <a:r>
                <a:rPr lang="zh-CN" sz="710" dirty="0">
                  <a:solidFill>
                    <a:srgbClr val="333333"/>
                  </a:solidFill>
                  <a:latin typeface="+mn-lt"/>
                  <a:ea typeface="+mn-ea"/>
                  <a:cs typeface="+mn-cs"/>
                </a:rPr>
                <a:t>票、1.8—​</a:t>
              </a:r>
              <a:br/>
              <a:r>
                <a:rPr lang="zh-CN" sz="710" dirty="0">
                  <a:solidFill>
                    <a:srgbClr val="333333"/>
                  </a:solidFill>
                  <a:latin typeface="+mn-lt"/>
                  <a:ea typeface="+mn-ea"/>
                  <a:cs typeface="+mn-cs"/>
                </a:rPr>
                <a:t>5.8mg黄金​</a:t>
              </a:r>
              <a:br/>
              <a:r>
                <a:rPr lang="zh-CN" sz="710" dirty="0">
                  <a:solidFill>
                    <a:srgbClr val="333333"/>
                  </a:solidFill>
                  <a:latin typeface="+mn-lt"/>
                  <a:ea typeface="+mn-ea"/>
                  <a:cs typeface="+mn-cs"/>
                </a:rPr>
                <a:t>红包盲盒</a:t>
              </a:r>
              <a:br/>
              <a:r>
                <a:rPr lang="zh-CN" sz="710" dirty="0">
                  <a:solidFill>
                    <a:srgbClr val="333333"/>
                  </a:solidFill>
                  <a:latin typeface="+mn-lt"/>
                  <a:ea typeface="+mn-ea"/>
                  <a:cs typeface="+mn-cs"/>
                </a:rPr>
                <a:t>三选一</a:t>
              </a:r>
            </a:p>
          </p:txBody>
        </p:sp>
        <p:sp>
          <p:nvSpPr>
            <p:cNvPr id="68" name="TextBox 68"/>
            <p:cNvSpPr txBox="1"/>
            <p:nvPr/>
          </p:nvSpPr>
          <p:spPr>
            <a:xfrm>
              <a:off x="8354314" y="4304586"/>
              <a:ext cx="379222" cy="250031"/>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低至7折​</a:t>
              </a:r>
              <a:br/>
              <a:r>
                <a:rPr lang="zh-CN" sz="710" dirty="0">
                  <a:solidFill>
                    <a:srgbClr val="333333"/>
                  </a:solidFill>
                  <a:latin typeface="+mn-lt"/>
                  <a:ea typeface="+mn-ea"/>
                  <a:cs typeface="+mn-cs"/>
                </a:rPr>
                <a:t>起</a:t>
              </a:r>
            </a:p>
          </p:txBody>
        </p:sp>
        <p:sp>
          <p:nvSpPr>
            <p:cNvPr id="69" name="TextBox 69"/>
            <p:cNvSpPr txBox="1"/>
            <p:nvPr/>
          </p:nvSpPr>
          <p:spPr>
            <a:xfrm>
              <a:off x="8848376" y="4304586"/>
              <a:ext cx="419799" cy="250031"/>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3元数币</a:t>
              </a:r>
              <a:br/>
              <a:r>
                <a:rPr lang="zh-CN" sz="710" dirty="0">
                  <a:solidFill>
                    <a:srgbClr val="333333"/>
                  </a:solidFill>
                  <a:latin typeface="+mn-lt"/>
                  <a:ea typeface="+mn-ea"/>
                  <a:cs typeface="+mn-cs"/>
                </a:rPr>
                <a:t>消费红包​</a:t>
              </a:r>
            </a:p>
          </p:txBody>
        </p:sp>
        <p:sp>
          <p:nvSpPr>
            <p:cNvPr id="70" name="TextBox 70"/>
            <p:cNvSpPr txBox="1"/>
            <p:nvPr/>
          </p:nvSpPr>
          <p:spPr>
            <a:xfrm>
              <a:off x="9383014" y="4304586"/>
              <a:ext cx="379222" cy="250031"/>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6款商品​</a:t>
              </a:r>
              <a:br/>
              <a:r>
                <a:rPr lang="zh-CN" sz="710" dirty="0">
                  <a:solidFill>
                    <a:srgbClr val="333333"/>
                  </a:solidFill>
                  <a:latin typeface="+mn-lt"/>
                  <a:ea typeface="+mn-ea"/>
                  <a:cs typeface="+mn-cs"/>
                </a:rPr>
                <a:t>9元购</a:t>
              </a:r>
            </a:p>
          </p:txBody>
        </p:sp>
        <p:sp>
          <p:nvSpPr>
            <p:cNvPr id="71" name="TextBox 71"/>
            <p:cNvSpPr txBox="1"/>
            <p:nvPr/>
          </p:nvSpPr>
          <p:spPr>
            <a:xfrm>
              <a:off x="9838754" y="3733086"/>
              <a:ext cx="496443" cy="1345406"/>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①分期≥​​</a:t>
              </a:r>
              <a:br/>
              <a:r>
                <a:rPr lang="zh-CN" sz="710" dirty="0">
                  <a:solidFill>
                    <a:srgbClr val="333333"/>
                  </a:solidFill>
                  <a:latin typeface="+mn-lt"/>
                  <a:ea typeface="+mn-ea"/>
                  <a:cs typeface="+mn-cs"/>
                </a:rPr>
                <a:t>20万-2000​</a:t>
              </a:r>
              <a:br/>
              <a:r>
                <a:rPr lang="zh-CN" sz="710" dirty="0">
                  <a:solidFill>
                    <a:srgbClr val="333333"/>
                  </a:solidFill>
                  <a:latin typeface="+mn-lt"/>
                  <a:ea typeface="+mn-ea"/>
                  <a:cs typeface="+mn-cs"/>
                </a:rPr>
                <a:t>元还款金</a:t>
              </a:r>
              <a:br/>
              <a:r>
                <a:rPr lang="zh-CN" sz="710" dirty="0">
                  <a:solidFill>
                    <a:srgbClr val="333333"/>
                  </a:solidFill>
                  <a:latin typeface="+mn-lt"/>
                  <a:ea typeface="+mn-ea"/>
                  <a:cs typeface="+mn-cs"/>
                </a:rPr>
                <a:t>②分期≥​​</a:t>
              </a:r>
              <a:br/>
              <a:r>
                <a:rPr lang="zh-CN" sz="710" dirty="0">
                  <a:solidFill>
                    <a:srgbClr val="333333"/>
                  </a:solidFill>
                  <a:latin typeface="+mn-lt"/>
                  <a:ea typeface="+mn-ea"/>
                  <a:cs typeface="+mn-cs"/>
                </a:rPr>
                <a:t>15万-1000​</a:t>
              </a:r>
              <a:br/>
              <a:r>
                <a:rPr lang="zh-CN" sz="710" dirty="0">
                  <a:solidFill>
                    <a:srgbClr val="333333"/>
                  </a:solidFill>
                  <a:latin typeface="+mn-lt"/>
                  <a:ea typeface="+mn-ea"/>
                  <a:cs typeface="+mn-cs"/>
                </a:rPr>
                <a:t>元还款金</a:t>
              </a:r>
              <a:br/>
              <a:r>
                <a:rPr lang="zh-CN" sz="710" dirty="0">
                  <a:solidFill>
                    <a:srgbClr val="333333"/>
                  </a:solidFill>
                  <a:latin typeface="+mn-lt"/>
                  <a:ea typeface="+mn-ea"/>
                  <a:cs typeface="+mn-cs"/>
                </a:rPr>
                <a:t>③分期≥​​</a:t>
              </a:r>
              <a:br/>
              <a:r>
                <a:rPr lang="zh-CN" sz="710" dirty="0">
                  <a:solidFill>
                    <a:srgbClr val="333333"/>
                  </a:solidFill>
                  <a:latin typeface="+mn-lt"/>
                  <a:ea typeface="+mn-ea"/>
                  <a:cs typeface="+mn-cs"/>
                </a:rPr>
                <a:t>10万-600</a:t>
              </a:r>
              <a:br/>
              <a:r>
                <a:rPr lang="zh-CN" sz="710" dirty="0">
                  <a:solidFill>
                    <a:srgbClr val="333333"/>
                  </a:solidFill>
                  <a:latin typeface="+mn-lt"/>
                  <a:ea typeface="+mn-ea"/>
                  <a:cs typeface="+mn-cs"/>
                </a:rPr>
                <a:t>元还款金</a:t>
              </a:r>
              <a:br/>
              <a:r>
                <a:rPr lang="zh-CN" sz="710" dirty="0">
                  <a:solidFill>
                    <a:srgbClr val="333333"/>
                  </a:solidFill>
                  <a:latin typeface="+mn-lt"/>
                  <a:ea typeface="+mn-ea"/>
                  <a:cs typeface="+mn-cs"/>
                </a:rPr>
                <a:t>④分期≥​​</a:t>
              </a:r>
              <a:br/>
              <a:r>
                <a:rPr lang="zh-CN" sz="710" dirty="0">
                  <a:solidFill>
                    <a:srgbClr val="333333"/>
                  </a:solidFill>
                  <a:latin typeface="+mn-lt"/>
                  <a:ea typeface="+mn-ea"/>
                  <a:cs typeface="+mn-cs"/>
                </a:rPr>
                <a:t>5万-400</a:t>
              </a:r>
              <a:br/>
              <a:r>
                <a:rPr lang="zh-CN" sz="710" dirty="0">
                  <a:solidFill>
                    <a:srgbClr val="333333"/>
                  </a:solidFill>
                  <a:latin typeface="+mn-lt"/>
                  <a:ea typeface="+mn-ea"/>
                  <a:cs typeface="+mn-cs"/>
                </a:rPr>
                <a:t>元还款金</a:t>
              </a:r>
            </a:p>
          </p:txBody>
        </p:sp>
        <p:sp>
          <p:nvSpPr>
            <p:cNvPr id="72" name="TextBox 72"/>
            <p:cNvSpPr txBox="1"/>
            <p:nvPr/>
          </p:nvSpPr>
          <p:spPr>
            <a:xfrm>
              <a:off x="10391426" y="4247436"/>
              <a:ext cx="419799" cy="469106"/>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宝贝银行​</a:t>
              </a:r>
              <a:br/>
              <a:r>
                <a:rPr lang="zh-CN" sz="710" dirty="0">
                  <a:solidFill>
                    <a:srgbClr val="333333"/>
                  </a:solidFill>
                  <a:latin typeface="+mn-lt"/>
                  <a:ea typeface="+mn-ea"/>
                  <a:cs typeface="+mn-cs"/>
                </a:rPr>
                <a:t>卡管理/</a:t>
              </a:r>
              <a:br/>
              <a:r>
                <a:rPr lang="zh-CN" sz="710" dirty="0">
                  <a:solidFill>
                    <a:srgbClr val="333333"/>
                  </a:solidFill>
                  <a:latin typeface="+mn-lt"/>
                  <a:ea typeface="+mn-ea"/>
                  <a:cs typeface="+mn-cs"/>
                </a:rPr>
                <a:t>家长教育​</a:t>
              </a:r>
              <a:br/>
              <a:r>
                <a:rPr lang="zh-CN" sz="710" dirty="0">
                  <a:solidFill>
                    <a:srgbClr val="333333"/>
                  </a:solidFill>
                  <a:latin typeface="+mn-lt"/>
                  <a:ea typeface="+mn-ea"/>
                  <a:cs typeface="+mn-cs"/>
                </a:rPr>
                <a:t>专项账户​</a:t>
              </a:r>
            </a:p>
          </p:txBody>
        </p:sp>
        <p:sp>
          <p:nvSpPr>
            <p:cNvPr id="73" name="TextBox 73"/>
            <p:cNvSpPr txBox="1"/>
            <p:nvPr/>
          </p:nvSpPr>
          <p:spPr>
            <a:xfrm>
              <a:off x="10905776" y="4247436"/>
              <a:ext cx="419799" cy="469106"/>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6-12岁​</a:t>
              </a:r>
              <a:br/>
              <a:r>
                <a:rPr lang="zh-CN" sz="710" dirty="0">
                  <a:solidFill>
                    <a:srgbClr val="333333"/>
                  </a:solidFill>
                  <a:latin typeface="+mn-lt"/>
                  <a:ea typeface="+mn-ea"/>
                  <a:cs typeface="+mn-cs"/>
                </a:rPr>
                <a:t>儿童特别​</a:t>
              </a:r>
              <a:br/>
              <a:r>
                <a:rPr lang="zh-CN" sz="710" dirty="0">
                  <a:solidFill>
                    <a:srgbClr val="333333"/>
                  </a:solidFill>
                  <a:latin typeface="+mn-lt"/>
                  <a:ea typeface="+mn-ea"/>
                  <a:cs typeface="+mn-cs"/>
                </a:rPr>
                <a:t>定制财商​</a:t>
              </a:r>
              <a:br/>
              <a:r>
                <a:rPr lang="zh-CN" sz="710" dirty="0">
                  <a:solidFill>
                    <a:srgbClr val="333333"/>
                  </a:solidFill>
                  <a:latin typeface="+mn-lt"/>
                  <a:ea typeface="+mn-ea"/>
                  <a:cs typeface="+mn-cs"/>
                </a:rPr>
                <a:t>课程</a:t>
              </a:r>
            </a:p>
          </p:txBody>
        </p:sp>
        <p:sp>
          <p:nvSpPr>
            <p:cNvPr id="74" name="TextBox 74"/>
            <p:cNvSpPr txBox="1"/>
            <p:nvPr/>
          </p:nvSpPr>
          <p:spPr>
            <a:xfrm>
              <a:off x="11420126" y="4247436"/>
              <a:ext cx="419799" cy="469106"/>
            </a:xfrm>
            <a:prstGeom prst="rect">
              <a:avLst/>
            </a:prstGeom>
            <a:noFill/>
            <a:ln>
              <a:noFill/>
            </a:ln>
          </p:spPr>
          <p:txBody>
            <a:bodyPr wrap="none" lIns="0" tIns="0" rIns="0" bIns="0" anchor="t" anchorCtr="0">
              <a:spAutoFit/>
            </a:bodyPr>
            <a:lstStyle/>
            <a:p>
              <a:pPr algn="ctr">
                <a:lnSpc>
                  <a:spcPts val="862"/>
                </a:lnSpc>
              </a:pPr>
              <a:r>
                <a:rPr lang="zh-CN" sz="710" dirty="0">
                  <a:solidFill>
                    <a:srgbClr val="333333"/>
                  </a:solidFill>
                  <a:latin typeface="+mn-lt"/>
                  <a:ea typeface="+mn-ea"/>
                  <a:cs typeface="+mn-cs"/>
                </a:rPr>
                <a:t>5大阅读</a:t>
              </a:r>
              <a:br/>
              <a:r>
                <a:rPr lang="zh-CN" sz="710" dirty="0">
                  <a:solidFill>
                    <a:srgbClr val="333333"/>
                  </a:solidFill>
                  <a:latin typeface="+mn-lt"/>
                  <a:ea typeface="+mn-ea"/>
                  <a:cs typeface="+mn-cs"/>
                </a:rPr>
                <a:t>教育会员​</a:t>
              </a:r>
              <a:br/>
              <a:r>
                <a:rPr lang="zh-CN" sz="710" dirty="0">
                  <a:solidFill>
                    <a:srgbClr val="333333"/>
                  </a:solidFill>
                  <a:latin typeface="+mn-lt"/>
                  <a:ea typeface="+mn-ea"/>
                  <a:cs typeface="+mn-cs"/>
                </a:rPr>
                <a:t>6元折扣</a:t>
              </a:r>
              <a:br/>
              <a:r>
                <a:rPr lang="zh-CN" sz="710" dirty="0">
                  <a:solidFill>
                    <a:srgbClr val="333333"/>
                  </a:solidFill>
                  <a:latin typeface="+mn-lt"/>
                  <a:ea typeface="+mn-ea"/>
                  <a:cs typeface="+mn-cs"/>
                </a:rPr>
                <a:t>券</a:t>
              </a:r>
            </a:p>
          </p:txBody>
        </p:sp>
        <p:sp>
          <p:nvSpPr>
            <p:cNvPr id="75" name="Line 75"/>
            <p:cNvSpPr/>
            <p:nvPr/>
          </p:nvSpPr>
          <p:spPr>
            <a:xfrm>
              <a:off x="285750" y="1428750"/>
              <a:ext cx="11601450" cy="9525"/>
            </a:xfrm>
            <a:custGeom>
              <a:avLst/>
              <a:gdLst/>
              <a:ahLst/>
              <a:cxnLst/>
              <a:rect l="l" t="t" r="r" b="b"/>
              <a:pathLst>
                <a:path w="11601450" h="9525">
                  <a:moveTo>
                    <a:pt x="0" y="0"/>
                  </a:moveTo>
                  <a:lnTo>
                    <a:pt x="11601450" y="0"/>
                  </a:lnTo>
                </a:path>
              </a:pathLst>
            </a:custGeom>
            <a:noFill/>
            <a:ln w="9525">
              <a:solidFill>
                <a:srgbClr val="F1917D"/>
              </a:solidFill>
            </a:ln>
          </p:spPr>
        </p:sp>
        <p:sp>
          <p:nvSpPr>
            <p:cNvPr id="76" name="Line 76"/>
            <p:cNvSpPr/>
            <p:nvPr/>
          </p:nvSpPr>
          <p:spPr>
            <a:xfrm>
              <a:off x="2628900" y="1733550"/>
              <a:ext cx="9258300" cy="9525"/>
            </a:xfrm>
            <a:custGeom>
              <a:avLst/>
              <a:gdLst/>
              <a:ahLst/>
              <a:cxnLst/>
              <a:rect l="l" t="t" r="r" b="b"/>
              <a:pathLst>
                <a:path w="9258300" h="9525">
                  <a:moveTo>
                    <a:pt x="0" y="0"/>
                  </a:moveTo>
                  <a:lnTo>
                    <a:pt x="9258300" y="0"/>
                  </a:lnTo>
                </a:path>
              </a:pathLst>
            </a:custGeom>
            <a:noFill/>
            <a:ln w="9525">
              <a:solidFill>
                <a:srgbClr val="F1917D"/>
              </a:solidFill>
            </a:ln>
          </p:spPr>
        </p:sp>
        <p:sp>
          <p:nvSpPr>
            <p:cNvPr id="77" name="Line 77"/>
            <p:cNvSpPr/>
            <p:nvPr/>
          </p:nvSpPr>
          <p:spPr>
            <a:xfrm>
              <a:off x="2628900" y="2000250"/>
              <a:ext cx="9258300" cy="9525"/>
            </a:xfrm>
            <a:custGeom>
              <a:avLst/>
              <a:gdLst/>
              <a:ahLst/>
              <a:cxnLst/>
              <a:rect l="l" t="t" r="r" b="b"/>
              <a:pathLst>
                <a:path w="9258300" h="9525">
                  <a:moveTo>
                    <a:pt x="0" y="0"/>
                  </a:moveTo>
                  <a:lnTo>
                    <a:pt x="9258300" y="0"/>
                  </a:lnTo>
                </a:path>
              </a:pathLst>
            </a:custGeom>
            <a:noFill/>
            <a:ln w="9525">
              <a:solidFill>
                <a:srgbClr val="F1917D"/>
              </a:solidFill>
            </a:ln>
          </p:spPr>
        </p:sp>
        <p:sp>
          <p:nvSpPr>
            <p:cNvPr id="78" name="Line 78"/>
            <p:cNvSpPr/>
            <p:nvPr/>
          </p:nvSpPr>
          <p:spPr>
            <a:xfrm>
              <a:off x="285750" y="2476500"/>
              <a:ext cx="11601450" cy="9525"/>
            </a:xfrm>
            <a:custGeom>
              <a:avLst/>
              <a:gdLst/>
              <a:ahLst/>
              <a:cxnLst/>
              <a:rect l="l" t="t" r="r" b="b"/>
              <a:pathLst>
                <a:path w="11601450" h="9525">
                  <a:moveTo>
                    <a:pt x="0" y="0"/>
                  </a:moveTo>
                  <a:lnTo>
                    <a:pt x="11601450" y="0"/>
                  </a:lnTo>
                </a:path>
              </a:pathLst>
            </a:custGeom>
            <a:noFill/>
            <a:ln w="9525">
              <a:solidFill>
                <a:srgbClr val="F1917D"/>
              </a:solidFill>
            </a:ln>
          </p:spPr>
        </p:sp>
        <p:sp>
          <p:nvSpPr>
            <p:cNvPr id="79" name="Line 79"/>
            <p:cNvSpPr/>
            <p:nvPr/>
          </p:nvSpPr>
          <p:spPr>
            <a:xfrm>
              <a:off x="285750" y="4410075"/>
              <a:ext cx="2343150" cy="9525"/>
            </a:xfrm>
            <a:custGeom>
              <a:avLst/>
              <a:gdLst/>
              <a:ahLst/>
              <a:cxnLst/>
              <a:rect l="l" t="t" r="r" b="b"/>
              <a:pathLst>
                <a:path w="2343150" h="9525">
                  <a:moveTo>
                    <a:pt x="0" y="0"/>
                  </a:moveTo>
                  <a:lnTo>
                    <a:pt x="2343150" y="0"/>
                  </a:lnTo>
                </a:path>
              </a:pathLst>
            </a:custGeom>
            <a:noFill/>
            <a:ln w="9525">
              <a:solidFill>
                <a:srgbClr val="F1917D"/>
              </a:solidFill>
            </a:ln>
          </p:spPr>
        </p:sp>
        <p:sp>
          <p:nvSpPr>
            <p:cNvPr id="80" name="Line 80"/>
            <p:cNvSpPr/>
            <p:nvPr/>
          </p:nvSpPr>
          <p:spPr>
            <a:xfrm>
              <a:off x="3657600" y="4410075"/>
              <a:ext cx="514350" cy="9525"/>
            </a:xfrm>
            <a:custGeom>
              <a:avLst/>
              <a:gdLst/>
              <a:ahLst/>
              <a:cxnLst/>
              <a:rect l="l" t="t" r="r" b="b"/>
              <a:pathLst>
                <a:path w="514350" h="9525">
                  <a:moveTo>
                    <a:pt x="0" y="0"/>
                  </a:moveTo>
                  <a:lnTo>
                    <a:pt x="514350" y="0"/>
                  </a:lnTo>
                </a:path>
              </a:pathLst>
            </a:custGeom>
            <a:noFill/>
            <a:ln w="9525">
              <a:solidFill>
                <a:srgbClr val="F1917D"/>
              </a:solidFill>
            </a:ln>
          </p:spPr>
        </p:sp>
        <p:sp>
          <p:nvSpPr>
            <p:cNvPr id="81" name="Line 81"/>
            <p:cNvSpPr/>
            <p:nvPr/>
          </p:nvSpPr>
          <p:spPr>
            <a:xfrm>
              <a:off x="285750" y="6334125"/>
              <a:ext cx="11601450" cy="9525"/>
            </a:xfrm>
            <a:custGeom>
              <a:avLst/>
              <a:gdLst/>
              <a:ahLst/>
              <a:cxnLst/>
              <a:rect l="l" t="t" r="r" b="b"/>
              <a:pathLst>
                <a:path w="11601450" h="9525">
                  <a:moveTo>
                    <a:pt x="0" y="0"/>
                  </a:moveTo>
                  <a:lnTo>
                    <a:pt x="11601450" y="0"/>
                  </a:lnTo>
                </a:path>
              </a:pathLst>
            </a:custGeom>
            <a:noFill/>
            <a:ln w="9525">
              <a:solidFill>
                <a:srgbClr val="F1917D"/>
              </a:solidFill>
            </a:ln>
          </p:spPr>
        </p:sp>
        <p:sp>
          <p:nvSpPr>
            <p:cNvPr id="82" name="Line 82"/>
            <p:cNvSpPr/>
            <p:nvPr/>
          </p:nvSpPr>
          <p:spPr>
            <a:xfrm>
              <a:off x="285750" y="1428750"/>
              <a:ext cx="9525" cy="4905375"/>
            </a:xfrm>
            <a:custGeom>
              <a:avLst/>
              <a:gdLst/>
              <a:ahLst/>
              <a:cxnLst/>
              <a:rect l="l" t="t" r="r" b="b"/>
              <a:pathLst>
                <a:path w="9525" h="4905375">
                  <a:moveTo>
                    <a:pt x="0" y="0"/>
                  </a:moveTo>
                  <a:lnTo>
                    <a:pt x="0" y="4905375"/>
                  </a:lnTo>
                </a:path>
              </a:pathLst>
            </a:custGeom>
            <a:noFill/>
            <a:ln w="9525">
              <a:solidFill>
                <a:srgbClr val="F1917D"/>
              </a:solidFill>
            </a:ln>
          </p:spPr>
        </p:sp>
        <p:sp>
          <p:nvSpPr>
            <p:cNvPr id="83" name="Line 83"/>
            <p:cNvSpPr/>
            <p:nvPr/>
          </p:nvSpPr>
          <p:spPr>
            <a:xfrm>
              <a:off x="11887200" y="1428750"/>
              <a:ext cx="9525" cy="4905375"/>
            </a:xfrm>
            <a:custGeom>
              <a:avLst/>
              <a:gdLst/>
              <a:ahLst/>
              <a:cxnLst/>
              <a:rect l="l" t="t" r="r" b="b"/>
              <a:pathLst>
                <a:path w="9525" h="4905375">
                  <a:moveTo>
                    <a:pt x="0" y="0"/>
                  </a:moveTo>
                  <a:lnTo>
                    <a:pt x="0" y="4905375"/>
                  </a:lnTo>
                </a:path>
              </a:pathLst>
            </a:custGeom>
            <a:noFill/>
            <a:ln w="9525">
              <a:solidFill>
                <a:srgbClr val="F1917D"/>
              </a:solidFill>
            </a:ln>
          </p:spPr>
        </p:sp>
        <p:sp>
          <p:nvSpPr>
            <p:cNvPr id="84" name="Line 84"/>
            <p:cNvSpPr/>
            <p:nvPr/>
          </p:nvSpPr>
          <p:spPr>
            <a:xfrm>
              <a:off x="9525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85" name="Line 85"/>
            <p:cNvSpPr/>
            <p:nvPr/>
          </p:nvSpPr>
          <p:spPr>
            <a:xfrm>
              <a:off x="20002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86" name="Line 86"/>
            <p:cNvSpPr/>
            <p:nvPr/>
          </p:nvSpPr>
          <p:spPr>
            <a:xfrm>
              <a:off x="26289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87" name="Line 87"/>
            <p:cNvSpPr/>
            <p:nvPr/>
          </p:nvSpPr>
          <p:spPr>
            <a:xfrm>
              <a:off x="31432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88" name="Line 88"/>
            <p:cNvSpPr/>
            <p:nvPr/>
          </p:nvSpPr>
          <p:spPr>
            <a:xfrm>
              <a:off x="36576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89" name="Line 89"/>
            <p:cNvSpPr/>
            <p:nvPr/>
          </p:nvSpPr>
          <p:spPr>
            <a:xfrm>
              <a:off x="41719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0" name="Line 90"/>
            <p:cNvSpPr/>
            <p:nvPr/>
          </p:nvSpPr>
          <p:spPr>
            <a:xfrm>
              <a:off x="46863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1" name="Line 91"/>
            <p:cNvSpPr/>
            <p:nvPr/>
          </p:nvSpPr>
          <p:spPr>
            <a:xfrm>
              <a:off x="52006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2" name="Line 92"/>
            <p:cNvSpPr/>
            <p:nvPr/>
          </p:nvSpPr>
          <p:spPr>
            <a:xfrm>
              <a:off x="57150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3" name="Line 93"/>
            <p:cNvSpPr/>
            <p:nvPr/>
          </p:nvSpPr>
          <p:spPr>
            <a:xfrm>
              <a:off x="62293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4" name="Line 94"/>
            <p:cNvSpPr/>
            <p:nvPr/>
          </p:nvSpPr>
          <p:spPr>
            <a:xfrm>
              <a:off x="67437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5" name="Line 95"/>
            <p:cNvSpPr/>
            <p:nvPr/>
          </p:nvSpPr>
          <p:spPr>
            <a:xfrm>
              <a:off x="72580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6" name="Line 96"/>
            <p:cNvSpPr/>
            <p:nvPr/>
          </p:nvSpPr>
          <p:spPr>
            <a:xfrm>
              <a:off x="77724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7" name="Line 97"/>
            <p:cNvSpPr/>
            <p:nvPr/>
          </p:nvSpPr>
          <p:spPr>
            <a:xfrm>
              <a:off x="82867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8" name="Line 98"/>
            <p:cNvSpPr/>
            <p:nvPr/>
          </p:nvSpPr>
          <p:spPr>
            <a:xfrm>
              <a:off x="88011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99" name="Line 99"/>
            <p:cNvSpPr/>
            <p:nvPr/>
          </p:nvSpPr>
          <p:spPr>
            <a:xfrm>
              <a:off x="93154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100" name="Line 100"/>
            <p:cNvSpPr/>
            <p:nvPr/>
          </p:nvSpPr>
          <p:spPr>
            <a:xfrm>
              <a:off x="98298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101" name="Line 101"/>
            <p:cNvSpPr/>
            <p:nvPr/>
          </p:nvSpPr>
          <p:spPr>
            <a:xfrm>
              <a:off x="103441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102" name="Line 102"/>
            <p:cNvSpPr/>
            <p:nvPr/>
          </p:nvSpPr>
          <p:spPr>
            <a:xfrm>
              <a:off x="1085850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sp>
          <p:nvSpPr>
            <p:cNvPr id="103" name="Line 103"/>
            <p:cNvSpPr/>
            <p:nvPr/>
          </p:nvSpPr>
          <p:spPr>
            <a:xfrm>
              <a:off x="11372850" y="1428750"/>
              <a:ext cx="9525" cy="4905375"/>
            </a:xfrm>
            <a:custGeom>
              <a:avLst/>
              <a:gdLst/>
              <a:ahLst/>
              <a:cxnLst/>
              <a:rect l="l" t="t" r="r" b="b"/>
              <a:pathLst>
                <a:path w="9525" h="4905375">
                  <a:moveTo>
                    <a:pt x="0" y="0"/>
                  </a:moveTo>
                  <a:lnTo>
                    <a:pt x="0" y="4905375"/>
                  </a:lnTo>
                </a:path>
              </a:pathLst>
            </a:custGeom>
            <a:noFill/>
            <a:ln w="7620">
              <a:solidFill>
                <a:srgbClr val="F4AC9D"/>
              </a:solidFill>
              <a:custDash>
                <a:ds d="187500" sp="312500"/>
              </a:custDash>
            </a:ln>
          </p:spPr>
        </p:sp>
      </p:grpSp>
      <p:grpSp>
        <p:nvGrpSpPr>
          <p:cNvPr id="107" name="footer"/>
          <p:cNvGrpSpPr/>
          <p:nvPr/>
        </p:nvGrpSpPr>
        <p:grpSpPr>
          <a:xfrm>
            <a:off x="0" y="6438900"/>
            <a:ext cx="12192000" cy="342900"/>
            <a:chOff x="0" y="6438900"/>
            <a:chExt cx="12192000" cy="342900"/>
          </a:xfrm>
        </p:grpSpPr>
        <p:sp>
          <p:nvSpPr>
            <p:cNvPr id="105" name="Line 105"/>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106" name="TextBox 106"/>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25​</a:t>
              </a:r>
            </a:p>
          </p:txBody>
        </p:sp>
        <p:sp>
          <p:nvSpPr>
            <p:cNvPr id="4" name="TextBox 4"/>
            <p:cNvSpPr txBox="1"/>
            <p:nvPr/>
          </p:nvSpPr>
          <p:spPr>
            <a:xfrm>
              <a:off x="885444" y="160973"/>
              <a:ext cx="8322823"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2.2.4 渠道运营｜</a:t>
              </a:r>
              <a:r>
                <a:rPr lang="zh-CN" sz="1950" b="1" dirty="0">
                  <a:solidFill>
                    <a:srgbClr val="E74726"/>
                  </a:solidFill>
                  <a:latin typeface="+mj-lt"/>
                  <a:ea typeface="+mj-ea"/>
                  <a:cs typeface="+mj-cs"/>
                </a:rPr>
                <a:t>四大渠道协同联动，构建全场景长尾触达体系</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7827807" cy="249364"/>
            <a:chOff x="374523" y="681514"/>
            <a:chExt cx="7827807" cy="249364"/>
          </a:xfrm>
        </p:grpSpPr>
        <p:sp>
          <p:nvSpPr>
            <p:cNvPr id="16" name="TextBox 16"/>
            <p:cNvSpPr txBox="1"/>
            <p:nvPr/>
          </p:nvSpPr>
          <p:spPr>
            <a:xfrm>
              <a:off x="374523" y="681514"/>
              <a:ext cx="7827807"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各渠道依托自身差异化优势，形成“主动挖掘+日常经营+私域留存+全域兜底”的全链路运营模式​​​​​​</a:t>
              </a:r>
            </a:p>
          </p:txBody>
        </p:sp>
      </p:grpSp>
      <p:grpSp>
        <p:nvGrpSpPr>
          <p:cNvPr id="19" name="guide"/>
          <p:cNvGrpSpPr/>
          <p:nvPr/>
        </p:nvGrpSpPr>
        <p:grpSpPr>
          <a:xfrm>
            <a:off x="376047" y="990124"/>
            <a:ext cx="7185025" cy="371666"/>
            <a:chOff x="376047" y="990124"/>
            <a:chExt cx="7185025" cy="371666"/>
          </a:xfrm>
        </p:grpSpPr>
        <p:sp>
          <p:nvSpPr>
            <p:cNvPr id="18" name="TextBox 18"/>
            <p:cNvSpPr txBox="1"/>
            <p:nvPr/>
          </p:nvSpPr>
          <p:spPr>
            <a:xfrm>
              <a:off x="376047" y="990124"/>
              <a:ext cx="7185025"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长尾客群触达体系以四维渠道协同构建完整矩阵：外呼破冰引导高价值沟通，手机银行全链路运营中枢，企微直营深度连接私域​​​</a:t>
              </a:r>
              <a:br/>
              <a:r>
                <a:rPr lang="zh-CN" sz="980" dirty="0">
                  <a:solidFill>
                    <a:srgbClr val="333333"/>
                  </a:solidFill>
                  <a:latin typeface="+mn-lt"/>
                  <a:ea typeface="+mn-ea"/>
                  <a:cs typeface="+mn-cs"/>
                </a:rPr>
                <a:t>留存，短信广域覆盖兜底唤醒，系统化盘活长尾客群聚合价值​</a:t>
              </a:r>
            </a:p>
          </p:txBody>
        </p:sp>
      </p:grpSp>
      <p:grpSp>
        <p:nvGrpSpPr>
          <p:cNvPr id="34" name="card-outbound"/>
          <p:cNvGrpSpPr/>
          <p:nvPr/>
        </p:nvGrpSpPr>
        <p:grpSpPr>
          <a:xfrm>
            <a:off x="381000" y="1428750"/>
            <a:ext cx="2743200" cy="3905250"/>
            <a:chOff x="381000" y="1428750"/>
            <a:chExt cx="2743200" cy="3905250"/>
          </a:xfrm>
        </p:grpSpPr>
        <p:sp>
          <p:nvSpPr>
            <p:cNvPr id="20" name="Rectangle 20"/>
            <p:cNvSpPr/>
            <p:nvPr/>
          </p:nvSpPr>
          <p:spPr>
            <a:xfrm>
              <a:off x="381000" y="1428750"/>
              <a:ext cx="2743200" cy="3905250"/>
            </a:xfrm>
            <a:prstGeom prst="roundRect">
              <a:avLst>
                <a:gd name="adj" fmla="val 3472"/>
              </a:avLst>
            </a:prstGeom>
            <a:solidFill>
              <a:srgbClr val="FFFFFF"/>
            </a:solidFill>
            <a:ln w="14288">
              <a:solidFill>
                <a:srgbClr val="E74726"/>
              </a:solidFill>
            </a:ln>
          </p:spPr>
        </p:sp>
        <p:grpSp>
          <p:nvGrpSpPr>
            <p:cNvPr id="24" name="Group 24"/>
            <p:cNvGrpSpPr/>
            <p:nvPr/>
          </p:nvGrpSpPr>
          <p:grpSpPr>
            <a:xfrm>
              <a:off x="1588294" y="1626394"/>
              <a:ext cx="328613" cy="328613"/>
              <a:chOff x="1588294" y="1626394"/>
              <a:chExt cx="328613" cy="328613"/>
            </a:xfrm>
          </p:grpSpPr>
          <p:sp>
            <p:nvSpPr>
              <p:cNvPr id="21" name="Freeform 21"/>
              <p:cNvSpPr/>
              <p:nvPr/>
            </p:nvSpPr>
            <p:spPr>
              <a:xfrm>
                <a:off x="1588294" y="1644650"/>
                <a:ext cx="310357" cy="310357"/>
              </a:xfrm>
              <a:custGeom>
                <a:avLst/>
                <a:gdLst/>
                <a:ahLst/>
                <a:cxnLst/>
                <a:rect l="l" t="t" r="r" b="b"/>
                <a:pathLst>
                  <a:path w="310357" h="310357">
                    <a:moveTo>
                      <a:pt x="36513" y="0"/>
                    </a:moveTo>
                    <a:lnTo>
                      <a:pt x="109538" y="0"/>
                    </a:lnTo>
                    <a:lnTo>
                      <a:pt x="146050" y="91281"/>
                    </a:lnTo>
                    <a:lnTo>
                      <a:pt x="100410" y="118666"/>
                    </a:lnTo>
                    <a:cubicBezTo>
                      <a:pt x="119961" y="158310"/>
                      <a:pt x="152047" y="190396"/>
                      <a:pt x="191691" y="209947"/>
                    </a:cubicBezTo>
                    <a:lnTo>
                      <a:pt x="219075" y="164307"/>
                    </a:lnTo>
                    <a:lnTo>
                      <a:pt x="310357" y="200819"/>
                    </a:lnTo>
                    <a:lnTo>
                      <a:pt x="310357" y="273844"/>
                    </a:lnTo>
                    <a:cubicBezTo>
                      <a:pt x="310357" y="294010"/>
                      <a:pt x="294010" y="310357"/>
                      <a:pt x="273844" y="310357"/>
                    </a:cubicBezTo>
                    <a:cubicBezTo>
                      <a:pt x="126473" y="301401"/>
                      <a:pt x="8956" y="183884"/>
                      <a:pt x="0" y="36513"/>
                    </a:cubicBezTo>
                    <a:cubicBezTo>
                      <a:pt x="0" y="16347"/>
                      <a:pt x="16347" y="0"/>
                      <a:pt x="36513" y="0"/>
                    </a:cubicBezTo>
                  </a:path>
                </a:pathLst>
              </a:custGeom>
              <a:noFill/>
              <a:ln w="27384">
                <a:solidFill>
                  <a:srgbClr val="E74726"/>
                </a:solidFill>
              </a:ln>
            </p:spPr>
          </p:sp>
          <p:sp>
            <p:nvSpPr>
              <p:cNvPr id="22" name="Freeform 22"/>
              <p:cNvSpPr/>
              <p:nvPr/>
            </p:nvSpPr>
            <p:spPr>
              <a:xfrm>
                <a:off x="1807369" y="1699419"/>
                <a:ext cx="36513" cy="36513"/>
              </a:xfrm>
              <a:custGeom>
                <a:avLst/>
                <a:gdLst/>
                <a:ahLst/>
                <a:cxnLst/>
                <a:rect l="l" t="t" r="r" b="b"/>
                <a:pathLst>
                  <a:path w="36513" h="36513">
                    <a:moveTo>
                      <a:pt x="0" y="0"/>
                    </a:moveTo>
                    <a:cubicBezTo>
                      <a:pt x="20165" y="0"/>
                      <a:pt x="36513" y="16347"/>
                      <a:pt x="36513" y="36513"/>
                    </a:cubicBezTo>
                  </a:path>
                </a:pathLst>
              </a:custGeom>
              <a:noFill/>
              <a:ln w="27384">
                <a:solidFill>
                  <a:srgbClr val="E74726"/>
                </a:solidFill>
              </a:ln>
            </p:spPr>
          </p:sp>
          <p:sp>
            <p:nvSpPr>
              <p:cNvPr id="23" name="Freeform 23"/>
              <p:cNvSpPr/>
              <p:nvPr/>
            </p:nvSpPr>
            <p:spPr>
              <a:xfrm>
                <a:off x="1807369" y="1626394"/>
                <a:ext cx="109538" cy="109538"/>
              </a:xfrm>
              <a:custGeom>
                <a:avLst/>
                <a:gdLst/>
                <a:ahLst/>
                <a:cxnLst/>
                <a:rect l="l" t="t" r="r" b="b"/>
                <a:pathLst>
                  <a:path w="109538" h="109538">
                    <a:moveTo>
                      <a:pt x="0" y="0"/>
                    </a:moveTo>
                    <a:cubicBezTo>
                      <a:pt x="60496" y="0"/>
                      <a:pt x="109538" y="49042"/>
                      <a:pt x="109538" y="109538"/>
                    </a:cubicBezTo>
                  </a:path>
                </a:pathLst>
              </a:custGeom>
              <a:noFill/>
              <a:ln w="27384">
                <a:solidFill>
                  <a:srgbClr val="E74726"/>
                </a:solidFill>
              </a:ln>
            </p:spPr>
          </p:sp>
        </p:grpSp>
        <p:sp>
          <p:nvSpPr>
            <p:cNvPr id="25" name="TextBox 25"/>
            <p:cNvSpPr txBox="1"/>
            <p:nvPr/>
          </p:nvSpPr>
          <p:spPr>
            <a:xfrm>
              <a:off x="1382268" y="2187892"/>
              <a:ext cx="740664" cy="264033"/>
            </a:xfrm>
            <a:prstGeom prst="rect">
              <a:avLst/>
            </a:prstGeom>
            <a:noFill/>
            <a:ln>
              <a:noFill/>
            </a:ln>
          </p:spPr>
          <p:txBody>
            <a:bodyPr wrap="none" lIns="0" tIns="0" rIns="0" bIns="0" anchor="t" anchorCtr="0">
              <a:spAutoFit/>
            </a:bodyPr>
            <a:lstStyle/>
            <a:p>
              <a:pPr algn="ctr"/>
              <a:r>
                <a:rPr lang="zh-CN" sz="1350" b="1" dirty="0">
                  <a:solidFill>
                    <a:srgbClr val="E74726"/>
                  </a:solidFill>
                  <a:latin typeface="+mn-lt"/>
                  <a:ea typeface="+mn-ea"/>
                  <a:cs typeface="+mn-cs"/>
                </a:rPr>
                <a:t>外呼渠道</a:t>
              </a:r>
            </a:p>
          </p:txBody>
        </p:sp>
        <p:sp>
          <p:nvSpPr>
            <p:cNvPr id="26" name="Rectangle 26"/>
            <p:cNvSpPr/>
            <p:nvPr/>
          </p:nvSpPr>
          <p:spPr>
            <a:xfrm>
              <a:off x="571500" y="2476500"/>
              <a:ext cx="2362200" cy="285750"/>
            </a:xfrm>
            <a:prstGeom prst="roundRect">
              <a:avLst>
                <a:gd name="adj" fmla="val 50000"/>
              </a:avLst>
            </a:prstGeom>
            <a:solidFill>
              <a:srgbClr val="E74726"/>
            </a:solidFill>
            <a:ln>
              <a:noFill/>
            </a:ln>
          </p:spPr>
        </p:sp>
        <p:sp>
          <p:nvSpPr>
            <p:cNvPr id="27" name="TextBox 27"/>
            <p:cNvSpPr txBox="1"/>
            <p:nvPr/>
          </p:nvSpPr>
          <p:spPr>
            <a:xfrm>
              <a:off x="956081" y="2561749"/>
              <a:ext cx="159303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主动破冰，强效引导式触达</a:t>
              </a:r>
            </a:p>
          </p:txBody>
        </p:sp>
        <p:sp>
          <p:nvSpPr>
            <p:cNvPr id="28" name="Rectangle 28"/>
            <p:cNvSpPr/>
            <p:nvPr/>
          </p:nvSpPr>
          <p:spPr>
            <a:xfrm>
              <a:off x="552450" y="2905125"/>
              <a:ext cx="2400300" cy="609600"/>
            </a:xfrm>
            <a:prstGeom prst="roundRect">
              <a:avLst>
                <a:gd name="adj" fmla="val 6250"/>
              </a:avLst>
            </a:prstGeom>
            <a:solidFill>
              <a:srgbClr val="FFFFFF"/>
            </a:solidFill>
            <a:ln w="9525">
              <a:solidFill>
                <a:srgbClr val="D4E2FA"/>
              </a:solidFill>
            </a:ln>
          </p:spPr>
        </p:sp>
        <p:sp>
          <p:nvSpPr>
            <p:cNvPr id="29" name="TextBox 29"/>
            <p:cNvSpPr txBox="1"/>
            <p:nvPr/>
          </p:nvSpPr>
          <p:spPr>
            <a:xfrm>
              <a:off x="642938" y="3002518"/>
              <a:ext cx="1707896" cy="311944"/>
            </a:xfrm>
            <a:prstGeom prst="rect">
              <a:avLst/>
            </a:prstGeom>
            <a:noFill/>
            <a:ln>
              <a:noFill/>
            </a:ln>
          </p:spPr>
          <p:txBody>
            <a:bodyPr wrap="none" lIns="0" tIns="0" rIns="0" bIns="0" anchor="t" anchorCtr="0">
              <a:spAutoFit/>
            </a:bodyPr>
            <a:lstStyle/>
            <a:p>
              <a:pPr algn="l">
                <a:lnSpc>
                  <a:spcPts val="1125"/>
                </a:lnSpc>
              </a:pPr>
              <a:r>
                <a:rPr lang="zh-CN" sz="860" b="1" dirty="0">
                  <a:solidFill>
                    <a:srgbClr val="E74726"/>
                  </a:solidFill>
                  <a:latin typeface="+mn-lt"/>
                  <a:ea typeface="+mn-ea"/>
                  <a:cs typeface="+mn-cs"/>
                </a:rPr>
                <a:t>人工外呼：</a:t>
              </a:r>
              <a:r>
                <a:rPr lang="zh-CN" sz="860" dirty="0">
                  <a:solidFill>
                    <a:srgbClr val="333333"/>
                  </a:solidFill>
                  <a:latin typeface="+mn-lt"/>
                  <a:ea typeface="+mn-ea"/>
                  <a:cs typeface="+mn-cs"/>
                </a:rPr>
                <a:t>高价值沟通、复杂权益​</a:t>
              </a:r>
              <a:br/>
              <a:r>
                <a:rPr lang="zh-CN" sz="860" dirty="0">
                  <a:solidFill>
                    <a:srgbClr val="333333"/>
                  </a:solidFill>
                  <a:latin typeface="+mn-lt"/>
                  <a:ea typeface="+mn-ea"/>
                  <a:cs typeface="+mn-cs"/>
                </a:rPr>
                <a:t>解释、高价值客户挽留</a:t>
              </a:r>
            </a:p>
          </p:txBody>
        </p:sp>
        <p:sp>
          <p:nvSpPr>
            <p:cNvPr id="30" name="Rectangle 30"/>
            <p:cNvSpPr/>
            <p:nvPr/>
          </p:nvSpPr>
          <p:spPr>
            <a:xfrm>
              <a:off x="552450" y="3667125"/>
              <a:ext cx="2400300" cy="609600"/>
            </a:xfrm>
            <a:prstGeom prst="roundRect">
              <a:avLst>
                <a:gd name="adj" fmla="val 6250"/>
              </a:avLst>
            </a:prstGeom>
            <a:solidFill>
              <a:srgbClr val="FFFFFF"/>
            </a:solidFill>
            <a:ln w="9525">
              <a:solidFill>
                <a:srgbClr val="D4E2FA"/>
              </a:solidFill>
            </a:ln>
          </p:spPr>
        </p:sp>
        <p:sp>
          <p:nvSpPr>
            <p:cNvPr id="31" name="TextBox 31"/>
            <p:cNvSpPr txBox="1"/>
            <p:nvPr/>
          </p:nvSpPr>
          <p:spPr>
            <a:xfrm>
              <a:off x="642938" y="3745468"/>
              <a:ext cx="1707896" cy="454819"/>
            </a:xfrm>
            <a:prstGeom prst="rect">
              <a:avLst/>
            </a:prstGeom>
            <a:noFill/>
            <a:ln>
              <a:noFill/>
            </a:ln>
          </p:spPr>
          <p:txBody>
            <a:bodyPr wrap="none" lIns="0" tIns="0" rIns="0" bIns="0" anchor="t" anchorCtr="0">
              <a:spAutoFit/>
            </a:bodyPr>
            <a:lstStyle/>
            <a:p>
              <a:pPr algn="l">
                <a:lnSpc>
                  <a:spcPts val="1125"/>
                </a:lnSpc>
              </a:pPr>
              <a:r>
                <a:rPr lang="zh-CN" sz="860" b="1" dirty="0">
                  <a:solidFill>
                    <a:srgbClr val="E74726"/>
                  </a:solidFill>
                  <a:latin typeface="+mn-lt"/>
                  <a:ea typeface="+mn-ea"/>
                  <a:cs typeface="+mn-cs"/>
                </a:rPr>
                <a:t>智能外呼：</a:t>
              </a:r>
              <a:r>
                <a:rPr lang="zh-CN" sz="860" dirty="0">
                  <a:solidFill>
                    <a:srgbClr val="333333"/>
                  </a:solidFill>
                  <a:latin typeface="+mn-lt"/>
                  <a:ea typeface="+mn-ea"/>
                  <a:cs typeface="+mn-cs"/>
                </a:rPr>
                <a:t>适用于大规模、标准化​</a:t>
              </a:r>
              <a:br/>
              <a:r>
                <a:rPr lang="zh-CN" sz="860" dirty="0">
                  <a:solidFill>
                    <a:srgbClr val="333333"/>
                  </a:solidFill>
                  <a:latin typeface="+mn-lt"/>
                  <a:ea typeface="+mn-ea"/>
                  <a:cs typeface="+mn-cs"/>
                </a:rPr>
                <a:t>高触达场景，如活动提醒、权益</a:t>
              </a:r>
              <a:br/>
              <a:r>
                <a:rPr lang="zh-CN" sz="860" dirty="0">
                  <a:solidFill>
                    <a:srgbClr val="333333"/>
                  </a:solidFill>
                  <a:latin typeface="+mn-lt"/>
                  <a:ea typeface="+mn-ea"/>
                  <a:cs typeface="+mn-cs"/>
                </a:rPr>
                <a:t>通知、简单任务引导</a:t>
              </a:r>
            </a:p>
          </p:txBody>
        </p:sp>
        <p:sp>
          <p:nvSpPr>
            <p:cNvPr id="32" name="Rectangle 32"/>
            <p:cNvSpPr/>
            <p:nvPr/>
          </p:nvSpPr>
          <p:spPr>
            <a:xfrm>
              <a:off x="552450" y="4429125"/>
              <a:ext cx="2400300" cy="609600"/>
            </a:xfrm>
            <a:prstGeom prst="roundRect">
              <a:avLst>
                <a:gd name="adj" fmla="val 6250"/>
              </a:avLst>
            </a:prstGeom>
            <a:solidFill>
              <a:srgbClr val="FFFFFF"/>
            </a:solidFill>
            <a:ln w="9525">
              <a:solidFill>
                <a:srgbClr val="D4E2FA"/>
              </a:solidFill>
            </a:ln>
          </p:spPr>
        </p:sp>
        <p:sp>
          <p:nvSpPr>
            <p:cNvPr id="33" name="TextBox 33"/>
            <p:cNvSpPr txBox="1"/>
            <p:nvPr/>
          </p:nvSpPr>
          <p:spPr>
            <a:xfrm>
              <a:off x="642938" y="4507468"/>
              <a:ext cx="1707896" cy="454819"/>
            </a:xfrm>
            <a:prstGeom prst="rect">
              <a:avLst/>
            </a:prstGeom>
            <a:noFill/>
            <a:ln>
              <a:noFill/>
            </a:ln>
          </p:spPr>
          <p:txBody>
            <a:bodyPr wrap="none" lIns="0" tIns="0" rIns="0" bIns="0" anchor="t" anchorCtr="0">
              <a:spAutoFit/>
            </a:bodyPr>
            <a:lstStyle/>
            <a:p>
              <a:pPr algn="l">
                <a:lnSpc>
                  <a:spcPts val="1125"/>
                </a:lnSpc>
              </a:pPr>
              <a:r>
                <a:rPr lang="zh-CN" sz="860" b="1" dirty="0">
                  <a:solidFill>
                    <a:srgbClr val="E74726"/>
                  </a:solidFill>
                  <a:latin typeface="+mn-lt"/>
                  <a:ea typeface="+mn-ea"/>
                  <a:cs typeface="+mn-cs"/>
                </a:rPr>
                <a:t>协同机制：</a:t>
              </a:r>
              <a:r>
                <a:rPr lang="zh-CN" sz="860" dirty="0">
                  <a:solidFill>
                    <a:srgbClr val="333333"/>
                  </a:solidFill>
                  <a:latin typeface="+mn-lt"/>
                  <a:ea typeface="+mn-ea"/>
                  <a:cs typeface="+mn-cs"/>
                </a:rPr>
                <a:t>低意向客户由智能外呼​</a:t>
              </a:r>
              <a:br/>
              <a:r>
                <a:rPr lang="zh-CN" sz="860" dirty="0">
                  <a:solidFill>
                    <a:srgbClr val="333333"/>
                  </a:solidFill>
                  <a:latin typeface="+mn-lt"/>
                  <a:ea typeface="+mn-ea"/>
                  <a:cs typeface="+mn-cs"/>
                </a:rPr>
                <a:t>低成本覆盖，高意向客户转人工跟​</a:t>
              </a:r>
              <a:br/>
              <a:r>
                <a:rPr lang="zh-CN" sz="860" dirty="0">
                  <a:solidFill>
                    <a:srgbClr val="333333"/>
                  </a:solidFill>
                  <a:latin typeface="+mn-lt"/>
                  <a:ea typeface="+mn-ea"/>
                  <a:cs typeface="+mn-cs"/>
                </a:rPr>
                <a:t>进</a:t>
              </a:r>
            </a:p>
          </p:txBody>
        </p:sp>
      </p:grpSp>
      <p:grpSp>
        <p:nvGrpSpPr>
          <p:cNvPr id="51" name="card-mbank"/>
          <p:cNvGrpSpPr/>
          <p:nvPr/>
        </p:nvGrpSpPr>
        <p:grpSpPr>
          <a:xfrm>
            <a:off x="3276600" y="1428750"/>
            <a:ext cx="2743200" cy="3905250"/>
            <a:chOff x="3276600" y="1428750"/>
            <a:chExt cx="2743200" cy="3905250"/>
          </a:xfrm>
        </p:grpSpPr>
        <p:sp>
          <p:nvSpPr>
            <p:cNvPr id="35" name="Rectangle 35"/>
            <p:cNvSpPr/>
            <p:nvPr/>
          </p:nvSpPr>
          <p:spPr>
            <a:xfrm>
              <a:off x="3276600" y="1428750"/>
              <a:ext cx="2743200" cy="3905250"/>
            </a:xfrm>
            <a:prstGeom prst="roundRect">
              <a:avLst>
                <a:gd name="adj" fmla="val 3472"/>
              </a:avLst>
            </a:prstGeom>
            <a:solidFill>
              <a:srgbClr val="FFFFFF"/>
            </a:solidFill>
            <a:ln w="14288">
              <a:solidFill>
                <a:srgbClr val="E74726"/>
              </a:solidFill>
            </a:ln>
          </p:spPr>
        </p:sp>
        <p:grpSp>
          <p:nvGrpSpPr>
            <p:cNvPr id="41" name="Group 41"/>
            <p:cNvGrpSpPr/>
            <p:nvPr/>
          </p:nvGrpSpPr>
          <p:grpSpPr>
            <a:xfrm>
              <a:off x="4483894" y="1644650"/>
              <a:ext cx="328613" cy="292101"/>
              <a:chOff x="4483894" y="1644650"/>
              <a:chExt cx="328613" cy="292101"/>
            </a:xfrm>
          </p:grpSpPr>
          <p:sp>
            <p:nvSpPr>
              <p:cNvPr id="36" name="Freeform 36"/>
              <p:cNvSpPr/>
              <p:nvPr/>
            </p:nvSpPr>
            <p:spPr>
              <a:xfrm>
                <a:off x="4483894" y="1644650"/>
                <a:ext cx="328613" cy="292101"/>
              </a:xfrm>
              <a:custGeom>
                <a:avLst/>
                <a:gdLst/>
                <a:ahLst/>
                <a:cxnLst/>
                <a:rect l="l" t="t" r="r" b="b"/>
                <a:pathLst>
                  <a:path w="328613" h="292101">
                    <a:moveTo>
                      <a:pt x="0" y="54769"/>
                    </a:moveTo>
                    <a:cubicBezTo>
                      <a:pt x="0" y="24521"/>
                      <a:pt x="24521" y="0"/>
                      <a:pt x="54769" y="0"/>
                    </a:cubicBezTo>
                    <a:lnTo>
                      <a:pt x="273844" y="0"/>
                    </a:lnTo>
                    <a:cubicBezTo>
                      <a:pt x="304092" y="0"/>
                      <a:pt x="328613" y="24521"/>
                      <a:pt x="328613" y="54769"/>
                    </a:cubicBezTo>
                    <a:lnTo>
                      <a:pt x="328613" y="237332"/>
                    </a:lnTo>
                    <a:cubicBezTo>
                      <a:pt x="328613" y="267580"/>
                      <a:pt x="304092" y="292101"/>
                      <a:pt x="273844" y="292101"/>
                    </a:cubicBezTo>
                    <a:lnTo>
                      <a:pt x="54769" y="292101"/>
                    </a:lnTo>
                    <a:cubicBezTo>
                      <a:pt x="24521" y="292101"/>
                      <a:pt x="0" y="267580"/>
                      <a:pt x="0" y="237332"/>
                    </a:cubicBezTo>
                    <a:lnTo>
                      <a:pt x="0" y="54769"/>
                    </a:lnTo>
                  </a:path>
                </a:pathLst>
              </a:custGeom>
              <a:noFill/>
              <a:ln w="27384">
                <a:solidFill>
                  <a:srgbClr val="E74726"/>
                </a:solidFill>
              </a:ln>
            </p:spPr>
          </p:sp>
          <p:sp>
            <p:nvSpPr>
              <p:cNvPr id="37" name="Freeform 37"/>
              <p:cNvSpPr/>
              <p:nvPr/>
            </p:nvSpPr>
            <p:spPr>
              <a:xfrm>
                <a:off x="4556919" y="1717675"/>
                <a:ext cx="73025" cy="73025"/>
              </a:xfrm>
              <a:custGeom>
                <a:avLst/>
                <a:gdLst/>
                <a:ahLst/>
                <a:cxnLst/>
                <a:rect l="l" t="t" r="r" b="b"/>
                <a:pathLst>
                  <a:path w="73025" h="73025">
                    <a:moveTo>
                      <a:pt x="0" y="36513"/>
                    </a:moveTo>
                    <a:cubicBezTo>
                      <a:pt x="0" y="56678"/>
                      <a:pt x="16347" y="73025"/>
                      <a:pt x="36513" y="73025"/>
                    </a:cubicBezTo>
                    <a:cubicBezTo>
                      <a:pt x="56678" y="73025"/>
                      <a:pt x="73025" y="56678"/>
                      <a:pt x="73025" y="36513"/>
                    </a:cubicBezTo>
                    <a:cubicBezTo>
                      <a:pt x="73025" y="16347"/>
                      <a:pt x="56678" y="0"/>
                      <a:pt x="36513" y="0"/>
                    </a:cubicBezTo>
                    <a:cubicBezTo>
                      <a:pt x="16347" y="0"/>
                      <a:pt x="0" y="16347"/>
                      <a:pt x="0" y="36513"/>
                    </a:cubicBezTo>
                  </a:path>
                </a:pathLst>
              </a:custGeom>
              <a:noFill/>
              <a:ln w="27384">
                <a:solidFill>
                  <a:srgbClr val="E74726"/>
                </a:solidFill>
              </a:ln>
            </p:spPr>
          </p:sp>
          <p:sp>
            <p:nvSpPr>
              <p:cNvPr id="38" name="Freeform 38"/>
              <p:cNvSpPr/>
              <p:nvPr/>
            </p:nvSpPr>
            <p:spPr>
              <a:xfrm>
                <a:off x="4702969" y="1717675"/>
                <a:ext cx="36513" cy="9525"/>
              </a:xfrm>
              <a:custGeom>
                <a:avLst/>
                <a:gdLst/>
                <a:ahLst/>
                <a:cxnLst/>
                <a:rect l="l" t="t" r="r" b="b"/>
                <a:pathLst>
                  <a:path w="36513" h="9525">
                    <a:moveTo>
                      <a:pt x="0" y="0"/>
                    </a:moveTo>
                    <a:lnTo>
                      <a:pt x="36513" y="0"/>
                    </a:lnTo>
                  </a:path>
                </a:pathLst>
              </a:custGeom>
              <a:noFill/>
              <a:ln w="27384">
                <a:solidFill>
                  <a:srgbClr val="E74726"/>
                </a:solidFill>
              </a:ln>
            </p:spPr>
          </p:sp>
          <p:sp>
            <p:nvSpPr>
              <p:cNvPr id="39" name="Freeform 39"/>
              <p:cNvSpPr/>
              <p:nvPr/>
            </p:nvSpPr>
            <p:spPr>
              <a:xfrm>
                <a:off x="4702969" y="1790700"/>
                <a:ext cx="36513" cy="9525"/>
              </a:xfrm>
              <a:custGeom>
                <a:avLst/>
                <a:gdLst/>
                <a:ahLst/>
                <a:cxnLst/>
                <a:rect l="l" t="t" r="r" b="b"/>
                <a:pathLst>
                  <a:path w="36513" h="9525">
                    <a:moveTo>
                      <a:pt x="0" y="0"/>
                    </a:moveTo>
                    <a:lnTo>
                      <a:pt x="36513" y="0"/>
                    </a:lnTo>
                  </a:path>
                </a:pathLst>
              </a:custGeom>
              <a:noFill/>
              <a:ln w="27384">
                <a:solidFill>
                  <a:srgbClr val="E74726"/>
                </a:solidFill>
              </a:ln>
            </p:spPr>
          </p:sp>
          <p:sp>
            <p:nvSpPr>
              <p:cNvPr id="40" name="Freeform 40"/>
              <p:cNvSpPr/>
              <p:nvPr/>
            </p:nvSpPr>
            <p:spPr>
              <a:xfrm>
                <a:off x="4556919" y="1863726"/>
                <a:ext cx="182563" cy="9525"/>
              </a:xfrm>
              <a:custGeom>
                <a:avLst/>
                <a:gdLst/>
                <a:ahLst/>
                <a:cxnLst/>
                <a:rect l="l" t="t" r="r" b="b"/>
                <a:pathLst>
                  <a:path w="182563" h="9525">
                    <a:moveTo>
                      <a:pt x="0" y="0"/>
                    </a:moveTo>
                    <a:lnTo>
                      <a:pt x="182563" y="0"/>
                    </a:lnTo>
                  </a:path>
                </a:pathLst>
              </a:custGeom>
              <a:noFill/>
              <a:ln w="27384">
                <a:solidFill>
                  <a:srgbClr val="E74726"/>
                </a:solidFill>
              </a:ln>
            </p:spPr>
          </p:sp>
        </p:grpSp>
        <p:sp>
          <p:nvSpPr>
            <p:cNvPr id="42" name="TextBox 42"/>
            <p:cNvSpPr txBox="1"/>
            <p:nvPr/>
          </p:nvSpPr>
          <p:spPr>
            <a:xfrm>
              <a:off x="4096131" y="2187892"/>
              <a:ext cx="1104138" cy="264033"/>
            </a:xfrm>
            <a:prstGeom prst="rect">
              <a:avLst/>
            </a:prstGeom>
            <a:noFill/>
            <a:ln>
              <a:noFill/>
            </a:ln>
          </p:spPr>
          <p:txBody>
            <a:bodyPr wrap="none" lIns="0" tIns="0" rIns="0" bIns="0" anchor="t" anchorCtr="0">
              <a:spAutoFit/>
            </a:bodyPr>
            <a:lstStyle/>
            <a:p>
              <a:pPr algn="ctr"/>
              <a:r>
                <a:rPr lang="zh-CN" sz="1350" b="1" dirty="0">
                  <a:solidFill>
                    <a:srgbClr val="E74726"/>
                  </a:solidFill>
                  <a:latin typeface="+mn-lt"/>
                  <a:ea typeface="+mn-ea"/>
                  <a:cs typeface="+mn-cs"/>
                </a:rPr>
                <a:t>手机银行渠道</a:t>
              </a:r>
            </a:p>
          </p:txBody>
        </p:sp>
        <p:sp>
          <p:nvSpPr>
            <p:cNvPr id="43" name="Rectangle 43"/>
            <p:cNvSpPr/>
            <p:nvPr/>
          </p:nvSpPr>
          <p:spPr>
            <a:xfrm>
              <a:off x="3467100" y="2476500"/>
              <a:ext cx="2362200" cy="285750"/>
            </a:xfrm>
            <a:prstGeom prst="roundRect">
              <a:avLst>
                <a:gd name="adj" fmla="val 50000"/>
              </a:avLst>
            </a:prstGeom>
            <a:solidFill>
              <a:srgbClr val="E74726"/>
            </a:solidFill>
            <a:ln>
              <a:noFill/>
            </a:ln>
          </p:spPr>
        </p:sp>
        <p:sp>
          <p:nvSpPr>
            <p:cNvPr id="44" name="TextBox 44"/>
            <p:cNvSpPr txBox="1"/>
            <p:nvPr/>
          </p:nvSpPr>
          <p:spPr>
            <a:xfrm>
              <a:off x="3851681" y="2561749"/>
              <a:ext cx="159303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自有阵地，全链路运营中枢</a:t>
              </a:r>
            </a:p>
          </p:txBody>
        </p:sp>
        <p:sp>
          <p:nvSpPr>
            <p:cNvPr id="45" name="Rectangle 45"/>
            <p:cNvSpPr/>
            <p:nvPr/>
          </p:nvSpPr>
          <p:spPr>
            <a:xfrm>
              <a:off x="3448050" y="2905125"/>
              <a:ext cx="2400300" cy="609600"/>
            </a:xfrm>
            <a:prstGeom prst="roundRect">
              <a:avLst>
                <a:gd name="adj" fmla="val 6250"/>
              </a:avLst>
            </a:prstGeom>
            <a:solidFill>
              <a:srgbClr val="FFFFFF"/>
            </a:solidFill>
            <a:ln w="9525">
              <a:solidFill>
                <a:srgbClr val="D4E2FA"/>
              </a:solidFill>
            </a:ln>
          </p:spPr>
        </p:sp>
        <p:sp>
          <p:nvSpPr>
            <p:cNvPr id="46" name="TextBox 46"/>
            <p:cNvSpPr txBox="1"/>
            <p:nvPr/>
          </p:nvSpPr>
          <p:spPr>
            <a:xfrm>
              <a:off x="3538538" y="3002518"/>
              <a:ext cx="1707896" cy="311944"/>
            </a:xfrm>
            <a:prstGeom prst="rect">
              <a:avLst/>
            </a:prstGeom>
            <a:noFill/>
            <a:ln>
              <a:noFill/>
            </a:ln>
          </p:spPr>
          <p:txBody>
            <a:bodyPr wrap="none" lIns="0" tIns="0" rIns="0" bIns="0" anchor="t" anchorCtr="0">
              <a:spAutoFit/>
            </a:bodyPr>
            <a:lstStyle/>
            <a:p>
              <a:pPr algn="l">
                <a:lnSpc>
                  <a:spcPts val="1125"/>
                </a:lnSpc>
              </a:pPr>
              <a:r>
                <a:rPr lang="zh-CN" sz="860" b="1" dirty="0">
                  <a:solidFill>
                    <a:srgbClr val="E74726"/>
                  </a:solidFill>
                  <a:latin typeface="+mn-lt"/>
                  <a:ea typeface="+mn-ea"/>
                  <a:cs typeface="+mn-cs"/>
                </a:rPr>
                <a:t>站内信：</a:t>
              </a:r>
              <a:r>
                <a:rPr lang="zh-CN" sz="860" dirty="0">
                  <a:solidFill>
                    <a:srgbClr val="333333"/>
                  </a:solidFill>
                  <a:latin typeface="+mn-lt"/>
                  <a:ea typeface="+mn-ea"/>
                  <a:cs typeface="+mn-cs"/>
                </a:rPr>
                <a:t>告知性内容推送与长期活​</a:t>
              </a:r>
              <a:br/>
              <a:r>
                <a:rPr lang="zh-CN" sz="860" dirty="0">
                  <a:solidFill>
                    <a:srgbClr val="333333"/>
                  </a:solidFill>
                  <a:latin typeface="+mn-lt"/>
                  <a:ea typeface="+mn-ea"/>
                  <a:cs typeface="+mn-cs"/>
                </a:rPr>
                <a:t>动入口展示，如权益规则说明</a:t>
              </a:r>
            </a:p>
          </p:txBody>
        </p:sp>
        <p:sp>
          <p:nvSpPr>
            <p:cNvPr id="47" name="Rectangle 47"/>
            <p:cNvSpPr/>
            <p:nvPr/>
          </p:nvSpPr>
          <p:spPr>
            <a:xfrm>
              <a:off x="3448050" y="3667125"/>
              <a:ext cx="2400300" cy="609600"/>
            </a:xfrm>
            <a:prstGeom prst="roundRect">
              <a:avLst>
                <a:gd name="adj" fmla="val 6250"/>
              </a:avLst>
            </a:prstGeom>
            <a:solidFill>
              <a:srgbClr val="FFFFFF"/>
            </a:solidFill>
            <a:ln w="9525">
              <a:solidFill>
                <a:srgbClr val="D4E2FA"/>
              </a:solidFill>
            </a:ln>
          </p:spPr>
        </p:sp>
        <p:sp>
          <p:nvSpPr>
            <p:cNvPr id="48" name="TextBox 48"/>
            <p:cNvSpPr txBox="1"/>
            <p:nvPr/>
          </p:nvSpPr>
          <p:spPr>
            <a:xfrm>
              <a:off x="3538538" y="3745468"/>
              <a:ext cx="1707896" cy="454819"/>
            </a:xfrm>
            <a:prstGeom prst="rect">
              <a:avLst/>
            </a:prstGeom>
            <a:noFill/>
            <a:ln>
              <a:noFill/>
            </a:ln>
          </p:spPr>
          <p:txBody>
            <a:bodyPr wrap="none" lIns="0" tIns="0" rIns="0" bIns="0" anchor="t" anchorCtr="0">
              <a:spAutoFit/>
            </a:bodyPr>
            <a:lstStyle/>
            <a:p>
              <a:pPr algn="l">
                <a:lnSpc>
                  <a:spcPts val="1125"/>
                </a:lnSpc>
              </a:pPr>
              <a:r>
                <a:rPr lang="zh-CN" sz="860" b="1" dirty="0">
                  <a:solidFill>
                    <a:srgbClr val="E74726"/>
                  </a:solidFill>
                  <a:latin typeface="+mn-lt"/>
                  <a:ea typeface="+mn-ea"/>
                  <a:cs typeface="+mn-cs"/>
                </a:rPr>
                <a:t>弹窗：</a:t>
              </a:r>
              <a:r>
                <a:rPr lang="zh-CN" sz="860" dirty="0">
                  <a:solidFill>
                    <a:srgbClr val="333333"/>
                  </a:solidFill>
                  <a:latin typeface="+mn-lt"/>
                  <a:ea typeface="+mn-ea"/>
                  <a:cs typeface="+mn-cs"/>
                </a:rPr>
                <a:t>强视觉干预和即时决策，适​</a:t>
              </a:r>
              <a:br/>
              <a:r>
                <a:rPr lang="zh-CN" sz="860" dirty="0">
                  <a:solidFill>
                    <a:srgbClr val="333333"/>
                  </a:solidFill>
                  <a:latin typeface="+mn-lt"/>
                  <a:ea typeface="+mn-ea"/>
                  <a:cs typeface="+mn-cs"/>
                </a:rPr>
                <a:t>用于高价值权益领取、热门活动提​</a:t>
              </a:r>
              <a:br/>
              <a:r>
                <a:rPr lang="zh-CN" sz="860" dirty="0">
                  <a:solidFill>
                    <a:srgbClr val="333333"/>
                  </a:solidFill>
                  <a:latin typeface="+mn-lt"/>
                  <a:ea typeface="+mn-ea"/>
                  <a:cs typeface="+mn-cs"/>
                </a:rPr>
                <a:t>醒、倒计时任务启动</a:t>
              </a:r>
            </a:p>
          </p:txBody>
        </p:sp>
        <p:sp>
          <p:nvSpPr>
            <p:cNvPr id="49" name="Rectangle 49"/>
            <p:cNvSpPr/>
            <p:nvPr/>
          </p:nvSpPr>
          <p:spPr>
            <a:xfrm>
              <a:off x="3448050" y="4429125"/>
              <a:ext cx="2400300" cy="609600"/>
            </a:xfrm>
            <a:prstGeom prst="roundRect">
              <a:avLst>
                <a:gd name="adj" fmla="val 6250"/>
              </a:avLst>
            </a:prstGeom>
            <a:solidFill>
              <a:srgbClr val="FFFFFF"/>
            </a:solidFill>
            <a:ln w="9525">
              <a:solidFill>
                <a:srgbClr val="D4E2FA"/>
              </a:solidFill>
            </a:ln>
          </p:spPr>
        </p:sp>
        <p:sp>
          <p:nvSpPr>
            <p:cNvPr id="50" name="TextBox 50"/>
            <p:cNvSpPr txBox="1"/>
            <p:nvPr/>
          </p:nvSpPr>
          <p:spPr>
            <a:xfrm>
              <a:off x="3538538" y="4507468"/>
              <a:ext cx="1692605" cy="311944"/>
            </a:xfrm>
            <a:prstGeom prst="rect">
              <a:avLst/>
            </a:prstGeom>
            <a:noFill/>
            <a:ln>
              <a:noFill/>
            </a:ln>
          </p:spPr>
          <p:txBody>
            <a:bodyPr wrap="none" lIns="0" tIns="0" rIns="0" bIns="0" anchor="t" anchorCtr="0">
              <a:spAutoFit/>
            </a:bodyPr>
            <a:lstStyle/>
            <a:p>
              <a:pPr algn="l">
                <a:lnSpc>
                  <a:spcPts val="1125"/>
                </a:lnSpc>
              </a:pPr>
              <a:r>
                <a:rPr lang="zh-CN" sz="860" b="1" dirty="0">
                  <a:solidFill>
                    <a:srgbClr val="E74726"/>
                  </a:solidFill>
                  <a:latin typeface="+mn-lt"/>
                  <a:ea typeface="+mn-ea"/>
                  <a:cs typeface="+mn-cs"/>
                </a:rPr>
                <a:t>Push：</a:t>
              </a:r>
              <a:r>
                <a:rPr lang="zh-CN" sz="860" dirty="0">
                  <a:solidFill>
                    <a:srgbClr val="333333"/>
                  </a:solidFill>
                  <a:latin typeface="+mn-lt"/>
                  <a:ea typeface="+mn-ea"/>
                  <a:cs typeface="+mn-cs"/>
                </a:rPr>
                <a:t>沉睡客户唤醒与时效性传​​</a:t>
              </a:r>
              <a:br/>
              <a:r>
                <a:rPr lang="zh-CN" sz="860" dirty="0">
                  <a:solidFill>
                    <a:srgbClr val="333333"/>
                  </a:solidFill>
                  <a:latin typeface="+mn-lt"/>
                  <a:ea typeface="+mn-ea"/>
                  <a:cs typeface="+mn-cs"/>
                </a:rPr>
                <a:t>达，如时效权益提醒、限时活动​</a:t>
              </a:r>
            </a:p>
          </p:txBody>
        </p:sp>
      </p:grpSp>
      <p:grpSp>
        <p:nvGrpSpPr>
          <p:cNvPr id="67" name="card-wecom"/>
          <p:cNvGrpSpPr/>
          <p:nvPr/>
        </p:nvGrpSpPr>
        <p:grpSpPr>
          <a:xfrm>
            <a:off x="6172200" y="1428750"/>
            <a:ext cx="2743200" cy="3905250"/>
            <a:chOff x="6172200" y="1428750"/>
            <a:chExt cx="2743200" cy="3905250"/>
          </a:xfrm>
        </p:grpSpPr>
        <p:sp>
          <p:nvSpPr>
            <p:cNvPr id="52" name="Rectangle 52"/>
            <p:cNvSpPr/>
            <p:nvPr/>
          </p:nvSpPr>
          <p:spPr>
            <a:xfrm>
              <a:off x="6172200" y="1428750"/>
              <a:ext cx="2743200" cy="3905250"/>
            </a:xfrm>
            <a:prstGeom prst="roundRect">
              <a:avLst>
                <a:gd name="adj" fmla="val 3472"/>
              </a:avLst>
            </a:prstGeom>
            <a:solidFill>
              <a:srgbClr val="FFFFFF"/>
            </a:solidFill>
            <a:ln w="14288">
              <a:solidFill>
                <a:srgbClr val="E74726"/>
              </a:solidFill>
            </a:ln>
          </p:spPr>
        </p:sp>
        <p:grpSp>
          <p:nvGrpSpPr>
            <p:cNvPr id="57" name="Group 57"/>
            <p:cNvGrpSpPr/>
            <p:nvPr/>
          </p:nvGrpSpPr>
          <p:grpSpPr>
            <a:xfrm>
              <a:off x="7379494" y="1626394"/>
              <a:ext cx="328613" cy="328613"/>
              <a:chOff x="7379494" y="1626394"/>
              <a:chExt cx="328613" cy="328613"/>
            </a:xfrm>
          </p:grpSpPr>
          <p:sp>
            <p:nvSpPr>
              <p:cNvPr id="53" name="Freeform 53"/>
              <p:cNvSpPr/>
              <p:nvPr/>
            </p:nvSpPr>
            <p:spPr>
              <a:xfrm>
                <a:off x="7379494" y="1626394"/>
                <a:ext cx="328613" cy="328613"/>
              </a:xfrm>
              <a:custGeom>
                <a:avLst/>
                <a:gdLst/>
                <a:ahLst/>
                <a:cxnLst/>
                <a:rect l="l" t="t" r="r" b="b"/>
                <a:pathLst>
                  <a:path w="328613" h="328613">
                    <a:moveTo>
                      <a:pt x="0" y="164307"/>
                    </a:moveTo>
                    <a:cubicBezTo>
                      <a:pt x="0" y="255051"/>
                      <a:pt x="73563" y="328613"/>
                      <a:pt x="164307" y="328613"/>
                    </a:cubicBezTo>
                    <a:cubicBezTo>
                      <a:pt x="255051" y="328613"/>
                      <a:pt x="328613" y="255051"/>
                      <a:pt x="328613" y="164307"/>
                    </a:cubicBezTo>
                    <a:cubicBezTo>
                      <a:pt x="328613" y="73563"/>
                      <a:pt x="255051" y="0"/>
                      <a:pt x="164307" y="0"/>
                    </a:cubicBezTo>
                    <a:cubicBezTo>
                      <a:pt x="73563" y="0"/>
                      <a:pt x="0" y="73563"/>
                      <a:pt x="0" y="164307"/>
                    </a:cubicBezTo>
                  </a:path>
                </a:pathLst>
              </a:custGeom>
              <a:noFill/>
              <a:ln w="27384">
                <a:solidFill>
                  <a:srgbClr val="E74726"/>
                </a:solidFill>
              </a:ln>
            </p:spPr>
          </p:sp>
          <p:sp>
            <p:nvSpPr>
              <p:cNvPr id="54" name="Freeform 54"/>
              <p:cNvSpPr/>
              <p:nvPr/>
            </p:nvSpPr>
            <p:spPr>
              <a:xfrm>
                <a:off x="7489032" y="1754188"/>
                <a:ext cx="9525" cy="9525"/>
              </a:xfrm>
              <a:custGeom>
                <a:avLst/>
                <a:gdLst/>
                <a:ahLst/>
                <a:cxnLst/>
                <a:rect l="l" t="t" r="r" b="b"/>
                <a:pathLst>
                  <a:path w="9525" h="9525">
                    <a:moveTo>
                      <a:pt x="0" y="0"/>
                    </a:moveTo>
                    <a:lnTo>
                      <a:pt x="183" y="0"/>
                    </a:lnTo>
                  </a:path>
                </a:pathLst>
              </a:custGeom>
              <a:noFill/>
              <a:ln w="27384">
                <a:solidFill>
                  <a:srgbClr val="E74726"/>
                </a:solidFill>
              </a:ln>
            </p:spPr>
          </p:sp>
          <p:sp>
            <p:nvSpPr>
              <p:cNvPr id="55" name="Freeform 55"/>
              <p:cNvSpPr/>
              <p:nvPr/>
            </p:nvSpPr>
            <p:spPr>
              <a:xfrm>
                <a:off x="7598569" y="1754188"/>
                <a:ext cx="9525" cy="9525"/>
              </a:xfrm>
              <a:custGeom>
                <a:avLst/>
                <a:gdLst/>
                <a:ahLst/>
                <a:cxnLst/>
                <a:rect l="l" t="t" r="r" b="b"/>
                <a:pathLst>
                  <a:path w="9525" h="9525">
                    <a:moveTo>
                      <a:pt x="0" y="0"/>
                    </a:moveTo>
                    <a:lnTo>
                      <a:pt x="183" y="0"/>
                    </a:lnTo>
                  </a:path>
                </a:pathLst>
              </a:custGeom>
              <a:noFill/>
              <a:ln w="27384">
                <a:solidFill>
                  <a:srgbClr val="E74726"/>
                </a:solidFill>
              </a:ln>
            </p:spPr>
          </p:sp>
          <p:sp>
            <p:nvSpPr>
              <p:cNvPr id="56" name="Freeform 56"/>
              <p:cNvSpPr/>
              <p:nvPr/>
            </p:nvSpPr>
            <p:spPr>
              <a:xfrm>
                <a:off x="7498160" y="1845469"/>
                <a:ext cx="91281" cy="19178"/>
              </a:xfrm>
              <a:custGeom>
                <a:avLst/>
                <a:gdLst/>
                <a:ahLst/>
                <a:cxnLst/>
                <a:rect l="l" t="t" r="r" b="b"/>
                <a:pathLst>
                  <a:path w="91281" h="19178">
                    <a:moveTo>
                      <a:pt x="0" y="0"/>
                    </a:moveTo>
                    <a:cubicBezTo>
                      <a:pt x="12018" y="12266"/>
                      <a:pt x="28468" y="19178"/>
                      <a:pt x="45641" y="19178"/>
                    </a:cubicBezTo>
                    <a:cubicBezTo>
                      <a:pt x="62813" y="19178"/>
                      <a:pt x="79263" y="12266"/>
                      <a:pt x="91281" y="0"/>
                    </a:cubicBezTo>
                  </a:path>
                </a:pathLst>
              </a:custGeom>
              <a:noFill/>
              <a:ln w="27384">
                <a:solidFill>
                  <a:srgbClr val="E74726"/>
                </a:solidFill>
              </a:ln>
            </p:spPr>
          </p:sp>
        </p:grpSp>
        <p:sp>
          <p:nvSpPr>
            <p:cNvPr id="58" name="TextBox 58"/>
            <p:cNvSpPr txBox="1"/>
            <p:nvPr/>
          </p:nvSpPr>
          <p:spPr>
            <a:xfrm>
              <a:off x="7173468" y="2187892"/>
              <a:ext cx="740664" cy="264033"/>
            </a:xfrm>
            <a:prstGeom prst="rect">
              <a:avLst/>
            </a:prstGeom>
            <a:noFill/>
            <a:ln>
              <a:noFill/>
            </a:ln>
          </p:spPr>
          <p:txBody>
            <a:bodyPr wrap="none" lIns="0" tIns="0" rIns="0" bIns="0" anchor="t" anchorCtr="0">
              <a:spAutoFit/>
            </a:bodyPr>
            <a:lstStyle/>
            <a:p>
              <a:pPr algn="ctr"/>
              <a:r>
                <a:rPr lang="zh-CN" sz="1350" b="1" dirty="0">
                  <a:solidFill>
                    <a:srgbClr val="E74726"/>
                  </a:solidFill>
                  <a:latin typeface="+mn-lt"/>
                  <a:ea typeface="+mn-ea"/>
                  <a:cs typeface="+mn-cs"/>
                </a:rPr>
                <a:t>企微渠道</a:t>
              </a:r>
            </a:p>
          </p:txBody>
        </p:sp>
        <p:sp>
          <p:nvSpPr>
            <p:cNvPr id="59" name="Rectangle 59"/>
            <p:cNvSpPr/>
            <p:nvPr/>
          </p:nvSpPr>
          <p:spPr>
            <a:xfrm>
              <a:off x="6362700" y="2476500"/>
              <a:ext cx="2362200" cy="285750"/>
            </a:xfrm>
            <a:prstGeom prst="roundRect">
              <a:avLst>
                <a:gd name="adj" fmla="val 50000"/>
              </a:avLst>
            </a:prstGeom>
            <a:solidFill>
              <a:srgbClr val="E74726"/>
            </a:solidFill>
            <a:ln>
              <a:noFill/>
            </a:ln>
          </p:spPr>
        </p:sp>
        <p:sp>
          <p:nvSpPr>
            <p:cNvPr id="60" name="TextBox 60"/>
            <p:cNvSpPr txBox="1"/>
            <p:nvPr/>
          </p:nvSpPr>
          <p:spPr>
            <a:xfrm>
              <a:off x="6747281" y="2561749"/>
              <a:ext cx="159303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深度连接，集中直营主战场</a:t>
              </a:r>
            </a:p>
          </p:txBody>
        </p:sp>
        <p:sp>
          <p:nvSpPr>
            <p:cNvPr id="61" name="Rectangle 61"/>
            <p:cNvSpPr/>
            <p:nvPr/>
          </p:nvSpPr>
          <p:spPr>
            <a:xfrm>
              <a:off x="6343650" y="2905125"/>
              <a:ext cx="2400300" cy="609600"/>
            </a:xfrm>
            <a:prstGeom prst="roundRect">
              <a:avLst>
                <a:gd name="adj" fmla="val 6250"/>
              </a:avLst>
            </a:prstGeom>
            <a:solidFill>
              <a:srgbClr val="FFFFFF"/>
            </a:solidFill>
            <a:ln w="9525">
              <a:solidFill>
                <a:srgbClr val="D4E2FA"/>
              </a:solidFill>
            </a:ln>
          </p:spPr>
        </p:sp>
        <p:sp>
          <p:nvSpPr>
            <p:cNvPr id="62" name="TextBox 62"/>
            <p:cNvSpPr txBox="1"/>
            <p:nvPr/>
          </p:nvSpPr>
          <p:spPr>
            <a:xfrm>
              <a:off x="6434138" y="3002518"/>
              <a:ext cx="1707896" cy="311944"/>
            </a:xfrm>
            <a:prstGeom prst="rect">
              <a:avLst/>
            </a:prstGeom>
            <a:noFill/>
            <a:ln>
              <a:noFill/>
            </a:ln>
          </p:spPr>
          <p:txBody>
            <a:bodyPr wrap="none" lIns="0" tIns="0" rIns="0" bIns="0" anchor="t" anchorCtr="0">
              <a:spAutoFit/>
            </a:bodyPr>
            <a:lstStyle/>
            <a:p>
              <a:pPr algn="l">
                <a:lnSpc>
                  <a:spcPts val="1125"/>
                </a:lnSpc>
              </a:pPr>
              <a:r>
                <a:rPr lang="zh-CN" sz="860" b="1" dirty="0">
                  <a:solidFill>
                    <a:srgbClr val="E74726"/>
                  </a:solidFill>
                  <a:latin typeface="+mn-lt"/>
                  <a:ea typeface="+mn-ea"/>
                  <a:cs typeface="+mn-cs"/>
                </a:rPr>
                <a:t>客户添加：</a:t>
              </a:r>
              <a:r>
                <a:rPr lang="zh-CN" sz="860" dirty="0">
                  <a:solidFill>
                    <a:srgbClr val="333333"/>
                  </a:solidFill>
                  <a:latin typeface="+mn-lt"/>
                  <a:ea typeface="+mn-ea"/>
                  <a:cs typeface="+mn-cs"/>
                </a:rPr>
                <a:t>全渠道活码获客；客户​</a:t>
              </a:r>
              <a:br/>
              <a:r>
                <a:rPr lang="zh-CN" sz="860" dirty="0">
                  <a:solidFill>
                    <a:srgbClr val="333333"/>
                  </a:solidFill>
                  <a:latin typeface="+mn-lt"/>
                  <a:ea typeface="+mn-ea"/>
                  <a:cs typeface="+mn-cs"/>
                </a:rPr>
                <a:t>识别：标签分层与需求洞察</a:t>
              </a:r>
            </a:p>
          </p:txBody>
        </p:sp>
        <p:sp>
          <p:nvSpPr>
            <p:cNvPr id="63" name="Rectangle 63"/>
            <p:cNvSpPr/>
            <p:nvPr/>
          </p:nvSpPr>
          <p:spPr>
            <a:xfrm>
              <a:off x="6343650" y="3667125"/>
              <a:ext cx="2400300" cy="609600"/>
            </a:xfrm>
            <a:prstGeom prst="roundRect">
              <a:avLst>
                <a:gd name="adj" fmla="val 6250"/>
              </a:avLst>
            </a:prstGeom>
            <a:solidFill>
              <a:srgbClr val="FFFFFF"/>
            </a:solidFill>
            <a:ln w="9525">
              <a:solidFill>
                <a:srgbClr val="D4E2FA"/>
              </a:solidFill>
            </a:ln>
          </p:spPr>
        </p:sp>
        <p:sp>
          <p:nvSpPr>
            <p:cNvPr id="64" name="TextBox 64"/>
            <p:cNvSpPr txBox="1"/>
            <p:nvPr/>
          </p:nvSpPr>
          <p:spPr>
            <a:xfrm>
              <a:off x="6434138" y="3745468"/>
              <a:ext cx="1817116" cy="311944"/>
            </a:xfrm>
            <a:prstGeom prst="rect">
              <a:avLst/>
            </a:prstGeom>
            <a:noFill/>
            <a:ln>
              <a:noFill/>
            </a:ln>
          </p:spPr>
          <p:txBody>
            <a:bodyPr wrap="none" lIns="0" tIns="0" rIns="0" bIns="0" anchor="t" anchorCtr="0">
              <a:spAutoFit/>
            </a:bodyPr>
            <a:lstStyle/>
            <a:p>
              <a:pPr algn="l">
                <a:lnSpc>
                  <a:spcPts val="1125"/>
                </a:lnSpc>
              </a:pPr>
              <a:r>
                <a:rPr lang="zh-CN" sz="860" b="1" dirty="0">
                  <a:solidFill>
                    <a:srgbClr val="E74726"/>
                  </a:solidFill>
                  <a:latin typeface="+mn-lt"/>
                  <a:ea typeface="+mn-ea"/>
                  <a:cs typeface="+mn-cs"/>
                </a:rPr>
                <a:t>客户经营：</a:t>
              </a:r>
              <a:r>
                <a:rPr lang="zh-CN" sz="860" dirty="0">
                  <a:solidFill>
                    <a:srgbClr val="333333"/>
                  </a:solidFill>
                  <a:latin typeface="+mn-lt"/>
                  <a:ea typeface="+mn-ea"/>
                  <a:cs typeface="+mn-cs"/>
                </a:rPr>
                <a:t>欢迎语、群发、朋友圈、​</a:t>
              </a:r>
              <a:br/>
              <a:r>
                <a:rPr lang="zh-CN" sz="860" dirty="0">
                  <a:solidFill>
                    <a:srgbClr val="333333"/>
                  </a:solidFill>
                  <a:latin typeface="+mn-lt"/>
                  <a:ea typeface="+mn-ea"/>
                  <a:cs typeface="+mn-cs"/>
                </a:rPr>
                <a:t>自动回复</a:t>
              </a:r>
            </a:p>
          </p:txBody>
        </p:sp>
        <p:sp>
          <p:nvSpPr>
            <p:cNvPr id="65" name="Rectangle 65"/>
            <p:cNvSpPr/>
            <p:nvPr/>
          </p:nvSpPr>
          <p:spPr>
            <a:xfrm>
              <a:off x="6343650" y="4429125"/>
              <a:ext cx="2400300" cy="609600"/>
            </a:xfrm>
            <a:prstGeom prst="roundRect">
              <a:avLst>
                <a:gd name="adj" fmla="val 6250"/>
              </a:avLst>
            </a:prstGeom>
            <a:solidFill>
              <a:srgbClr val="FFFFFF"/>
            </a:solidFill>
            <a:ln w="9525">
              <a:solidFill>
                <a:srgbClr val="D4E2FA"/>
              </a:solidFill>
            </a:ln>
          </p:spPr>
        </p:sp>
        <p:sp>
          <p:nvSpPr>
            <p:cNvPr id="66" name="TextBox 66"/>
            <p:cNvSpPr txBox="1"/>
            <p:nvPr/>
          </p:nvSpPr>
          <p:spPr>
            <a:xfrm>
              <a:off x="6434138" y="4507468"/>
              <a:ext cx="1707896" cy="311944"/>
            </a:xfrm>
            <a:prstGeom prst="rect">
              <a:avLst/>
            </a:prstGeom>
            <a:noFill/>
            <a:ln>
              <a:noFill/>
            </a:ln>
          </p:spPr>
          <p:txBody>
            <a:bodyPr wrap="none" lIns="0" tIns="0" rIns="0" bIns="0" anchor="t" anchorCtr="0">
              <a:spAutoFit/>
            </a:bodyPr>
            <a:lstStyle/>
            <a:p>
              <a:pPr algn="l">
                <a:lnSpc>
                  <a:spcPts val="1125"/>
                </a:lnSpc>
              </a:pPr>
              <a:r>
                <a:rPr lang="zh-CN" sz="860" b="1" dirty="0">
                  <a:solidFill>
                    <a:srgbClr val="E74726"/>
                  </a:solidFill>
                  <a:latin typeface="+mn-lt"/>
                  <a:ea typeface="+mn-ea"/>
                  <a:cs typeface="+mn-cs"/>
                </a:rPr>
                <a:t>客户维系：</a:t>
              </a:r>
              <a:r>
                <a:rPr lang="zh-CN" sz="860" dirty="0">
                  <a:solidFill>
                    <a:srgbClr val="333333"/>
                  </a:solidFill>
                  <a:latin typeface="+mn-lt"/>
                  <a:ea typeface="+mn-ea"/>
                  <a:cs typeface="+mn-cs"/>
                </a:rPr>
                <a:t>定时互动、生日关怀、​</a:t>
              </a:r>
              <a:br/>
              <a:r>
                <a:rPr lang="zh-CN" sz="860" dirty="0">
                  <a:solidFill>
                    <a:srgbClr val="333333"/>
                  </a:solidFill>
                  <a:latin typeface="+mn-lt"/>
                  <a:ea typeface="+mn-ea"/>
                  <a:cs typeface="+mn-cs"/>
                </a:rPr>
                <a:t>流失预警</a:t>
              </a:r>
            </a:p>
          </p:txBody>
        </p:sp>
      </p:grpSp>
      <p:grpSp>
        <p:nvGrpSpPr>
          <p:cNvPr id="81" name="card-sms"/>
          <p:cNvGrpSpPr/>
          <p:nvPr/>
        </p:nvGrpSpPr>
        <p:grpSpPr>
          <a:xfrm>
            <a:off x="9067800" y="1428750"/>
            <a:ext cx="2743200" cy="3905250"/>
            <a:chOff x="9067800" y="1428750"/>
            <a:chExt cx="2743200" cy="3905250"/>
          </a:xfrm>
        </p:grpSpPr>
        <p:sp>
          <p:nvSpPr>
            <p:cNvPr id="68" name="Rectangle 68"/>
            <p:cNvSpPr/>
            <p:nvPr/>
          </p:nvSpPr>
          <p:spPr>
            <a:xfrm>
              <a:off x="9067800" y="1428750"/>
              <a:ext cx="2743200" cy="3905250"/>
            </a:xfrm>
            <a:prstGeom prst="roundRect">
              <a:avLst>
                <a:gd name="adj" fmla="val 3472"/>
              </a:avLst>
            </a:prstGeom>
            <a:solidFill>
              <a:srgbClr val="FFFFFF"/>
            </a:solidFill>
            <a:ln w="14288">
              <a:solidFill>
                <a:srgbClr val="E74726"/>
              </a:solidFill>
            </a:ln>
          </p:spPr>
        </p:sp>
        <p:grpSp>
          <p:nvGrpSpPr>
            <p:cNvPr id="71" name="Group 71"/>
            <p:cNvGrpSpPr/>
            <p:nvPr/>
          </p:nvGrpSpPr>
          <p:grpSpPr>
            <a:xfrm>
              <a:off x="10275094" y="1626394"/>
              <a:ext cx="328613" cy="328613"/>
              <a:chOff x="10275094" y="1626394"/>
              <a:chExt cx="328613" cy="328613"/>
            </a:xfrm>
          </p:grpSpPr>
          <p:sp>
            <p:nvSpPr>
              <p:cNvPr id="69" name="Freeform 69"/>
              <p:cNvSpPr/>
              <p:nvPr/>
            </p:nvSpPr>
            <p:spPr>
              <a:xfrm>
                <a:off x="10402888" y="1626394"/>
                <a:ext cx="200819" cy="200819"/>
              </a:xfrm>
              <a:custGeom>
                <a:avLst/>
                <a:gdLst/>
                <a:ahLst/>
                <a:cxnLst/>
                <a:rect l="l" t="t" r="r" b="b"/>
                <a:pathLst>
                  <a:path w="200819" h="200819">
                    <a:moveTo>
                      <a:pt x="200819" y="200819"/>
                    </a:moveTo>
                    <a:lnTo>
                      <a:pt x="146050" y="146050"/>
                    </a:lnTo>
                    <a:lnTo>
                      <a:pt x="18256" y="146050"/>
                    </a:lnTo>
                    <a:cubicBezTo>
                      <a:pt x="8174" y="146050"/>
                      <a:pt x="0" y="137877"/>
                      <a:pt x="0" y="127794"/>
                    </a:cubicBezTo>
                    <a:lnTo>
                      <a:pt x="0" y="18256"/>
                    </a:lnTo>
                    <a:cubicBezTo>
                      <a:pt x="0" y="8174"/>
                      <a:pt x="8174" y="0"/>
                      <a:pt x="18256" y="0"/>
                    </a:cubicBezTo>
                    <a:lnTo>
                      <a:pt x="182563" y="0"/>
                    </a:lnTo>
                    <a:cubicBezTo>
                      <a:pt x="192645" y="0"/>
                      <a:pt x="200819" y="8174"/>
                      <a:pt x="200819" y="18256"/>
                    </a:cubicBezTo>
                    <a:lnTo>
                      <a:pt x="200819" y="200819"/>
                    </a:lnTo>
                  </a:path>
                </a:pathLst>
              </a:custGeom>
              <a:noFill/>
              <a:ln w="27384">
                <a:solidFill>
                  <a:srgbClr val="E74726"/>
                </a:solidFill>
              </a:ln>
            </p:spPr>
          </p:sp>
          <p:sp>
            <p:nvSpPr>
              <p:cNvPr id="70" name="Freeform 70"/>
              <p:cNvSpPr/>
              <p:nvPr/>
            </p:nvSpPr>
            <p:spPr>
              <a:xfrm>
                <a:off x="10275094" y="1754188"/>
                <a:ext cx="200819" cy="200819"/>
              </a:xfrm>
              <a:custGeom>
                <a:avLst/>
                <a:gdLst/>
                <a:ahLst/>
                <a:cxnLst/>
                <a:rect l="l" t="t" r="r" b="b"/>
                <a:pathLst>
                  <a:path w="200819" h="200819">
                    <a:moveTo>
                      <a:pt x="200819" y="91281"/>
                    </a:moveTo>
                    <a:lnTo>
                      <a:pt x="200819" y="127794"/>
                    </a:lnTo>
                    <a:cubicBezTo>
                      <a:pt x="200819" y="137877"/>
                      <a:pt x="192645" y="146050"/>
                      <a:pt x="182563" y="146050"/>
                    </a:cubicBezTo>
                    <a:lnTo>
                      <a:pt x="54769" y="146050"/>
                    </a:lnTo>
                    <a:lnTo>
                      <a:pt x="0" y="200819"/>
                    </a:lnTo>
                    <a:lnTo>
                      <a:pt x="0" y="18256"/>
                    </a:lnTo>
                    <a:cubicBezTo>
                      <a:pt x="0" y="8174"/>
                      <a:pt x="8174" y="0"/>
                      <a:pt x="18256" y="0"/>
                    </a:cubicBezTo>
                    <a:lnTo>
                      <a:pt x="54769" y="0"/>
                    </a:lnTo>
                  </a:path>
                </a:pathLst>
              </a:custGeom>
              <a:noFill/>
              <a:ln w="27384">
                <a:solidFill>
                  <a:srgbClr val="E74726"/>
                </a:solidFill>
              </a:ln>
            </p:spPr>
          </p:sp>
        </p:grpSp>
        <p:sp>
          <p:nvSpPr>
            <p:cNvPr id="72" name="TextBox 72"/>
            <p:cNvSpPr txBox="1"/>
            <p:nvPr/>
          </p:nvSpPr>
          <p:spPr>
            <a:xfrm>
              <a:off x="10069068" y="2187892"/>
              <a:ext cx="740664" cy="264033"/>
            </a:xfrm>
            <a:prstGeom prst="rect">
              <a:avLst/>
            </a:prstGeom>
            <a:noFill/>
            <a:ln>
              <a:noFill/>
            </a:ln>
          </p:spPr>
          <p:txBody>
            <a:bodyPr wrap="none" lIns="0" tIns="0" rIns="0" bIns="0" anchor="t" anchorCtr="0">
              <a:spAutoFit/>
            </a:bodyPr>
            <a:lstStyle/>
            <a:p>
              <a:pPr algn="ctr"/>
              <a:r>
                <a:rPr lang="zh-CN" sz="1350" b="1" dirty="0">
                  <a:solidFill>
                    <a:srgbClr val="E74726"/>
                  </a:solidFill>
                  <a:latin typeface="+mn-lt"/>
                  <a:ea typeface="+mn-ea"/>
                  <a:cs typeface="+mn-cs"/>
                </a:rPr>
                <a:t>短信渠道</a:t>
              </a:r>
            </a:p>
          </p:txBody>
        </p:sp>
        <p:sp>
          <p:nvSpPr>
            <p:cNvPr id="73" name="Rectangle 73"/>
            <p:cNvSpPr/>
            <p:nvPr/>
          </p:nvSpPr>
          <p:spPr>
            <a:xfrm>
              <a:off x="9258300" y="2476500"/>
              <a:ext cx="2362200" cy="285750"/>
            </a:xfrm>
            <a:prstGeom prst="roundRect">
              <a:avLst>
                <a:gd name="adj" fmla="val 50000"/>
              </a:avLst>
            </a:prstGeom>
            <a:solidFill>
              <a:srgbClr val="E74726"/>
            </a:solidFill>
            <a:ln>
              <a:noFill/>
            </a:ln>
          </p:spPr>
        </p:sp>
        <p:sp>
          <p:nvSpPr>
            <p:cNvPr id="74" name="TextBox 74"/>
            <p:cNvSpPr txBox="1"/>
            <p:nvPr/>
          </p:nvSpPr>
          <p:spPr>
            <a:xfrm>
              <a:off x="9642881" y="2561749"/>
              <a:ext cx="159303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广域覆盖，高效唤醒做兜底</a:t>
              </a:r>
            </a:p>
          </p:txBody>
        </p:sp>
        <p:sp>
          <p:nvSpPr>
            <p:cNvPr id="75" name="Rectangle 75"/>
            <p:cNvSpPr/>
            <p:nvPr/>
          </p:nvSpPr>
          <p:spPr>
            <a:xfrm>
              <a:off x="9239250" y="2905125"/>
              <a:ext cx="2400300" cy="609600"/>
            </a:xfrm>
            <a:prstGeom prst="roundRect">
              <a:avLst>
                <a:gd name="adj" fmla="val 6250"/>
              </a:avLst>
            </a:prstGeom>
            <a:solidFill>
              <a:srgbClr val="FFFFFF"/>
            </a:solidFill>
            <a:ln w="9525">
              <a:solidFill>
                <a:srgbClr val="D4E2FA"/>
              </a:solidFill>
            </a:ln>
          </p:spPr>
        </p:sp>
        <p:sp>
          <p:nvSpPr>
            <p:cNvPr id="76" name="TextBox 76"/>
            <p:cNvSpPr txBox="1"/>
            <p:nvPr/>
          </p:nvSpPr>
          <p:spPr>
            <a:xfrm>
              <a:off x="9329738" y="3002518"/>
              <a:ext cx="1707896" cy="311944"/>
            </a:xfrm>
            <a:prstGeom prst="rect">
              <a:avLst/>
            </a:prstGeom>
            <a:noFill/>
            <a:ln>
              <a:noFill/>
            </a:ln>
          </p:spPr>
          <p:txBody>
            <a:bodyPr wrap="none" lIns="0" tIns="0" rIns="0" bIns="0" anchor="t" anchorCtr="0">
              <a:spAutoFit/>
            </a:bodyPr>
            <a:lstStyle/>
            <a:p>
              <a:pPr algn="l">
                <a:lnSpc>
                  <a:spcPts val="1125"/>
                </a:lnSpc>
              </a:pPr>
              <a:r>
                <a:rPr lang="zh-CN" sz="860" dirty="0">
                  <a:solidFill>
                    <a:srgbClr val="333333"/>
                  </a:solidFill>
                  <a:latin typeface="+mn-lt"/>
                  <a:ea typeface="+mn-ea"/>
                  <a:cs typeface="+mn-cs"/>
                </a:rPr>
                <a:t>零门槛触达、高送达率、全量客户​</a:t>
              </a:r>
              <a:br/>
              <a:r>
                <a:rPr lang="zh-CN" sz="860" dirty="0">
                  <a:solidFill>
                    <a:srgbClr val="333333"/>
                  </a:solidFill>
                  <a:latin typeface="+mn-lt"/>
                  <a:ea typeface="+mn-ea"/>
                  <a:cs typeface="+mn-cs"/>
                </a:rPr>
                <a:t>覆盖</a:t>
              </a:r>
            </a:p>
          </p:txBody>
        </p:sp>
        <p:sp>
          <p:nvSpPr>
            <p:cNvPr id="77" name="Rectangle 77"/>
            <p:cNvSpPr/>
            <p:nvPr/>
          </p:nvSpPr>
          <p:spPr>
            <a:xfrm>
              <a:off x="9239250" y="3667125"/>
              <a:ext cx="2400300" cy="609600"/>
            </a:xfrm>
            <a:prstGeom prst="roundRect">
              <a:avLst>
                <a:gd name="adj" fmla="val 6250"/>
              </a:avLst>
            </a:prstGeom>
            <a:solidFill>
              <a:srgbClr val="FFFFFF"/>
            </a:solidFill>
            <a:ln w="9525">
              <a:solidFill>
                <a:srgbClr val="D4E2FA"/>
              </a:solidFill>
            </a:ln>
          </p:spPr>
        </p:sp>
        <p:sp>
          <p:nvSpPr>
            <p:cNvPr id="78" name="TextBox 78"/>
            <p:cNvSpPr txBox="1"/>
            <p:nvPr/>
          </p:nvSpPr>
          <p:spPr>
            <a:xfrm>
              <a:off x="9329738" y="3745468"/>
              <a:ext cx="1707896" cy="311944"/>
            </a:xfrm>
            <a:prstGeom prst="rect">
              <a:avLst/>
            </a:prstGeom>
            <a:noFill/>
            <a:ln>
              <a:noFill/>
            </a:ln>
          </p:spPr>
          <p:txBody>
            <a:bodyPr wrap="none" lIns="0" tIns="0" rIns="0" bIns="0" anchor="t" anchorCtr="0">
              <a:spAutoFit/>
            </a:bodyPr>
            <a:lstStyle/>
            <a:p>
              <a:pPr algn="l">
                <a:lnSpc>
                  <a:spcPts val="1125"/>
                </a:lnSpc>
              </a:pPr>
              <a:r>
                <a:rPr lang="zh-CN" sz="860" dirty="0">
                  <a:solidFill>
                    <a:srgbClr val="333333"/>
                  </a:solidFill>
                  <a:latin typeface="+mn-lt"/>
                  <a:ea typeface="+mn-ea"/>
                  <a:cs typeface="+mn-cs"/>
                </a:rPr>
                <a:t>不适合常态化推送，聚焦节点性、​</a:t>
              </a:r>
              <a:br/>
              <a:r>
                <a:rPr lang="zh-CN" sz="860" dirty="0">
                  <a:solidFill>
                    <a:srgbClr val="333333"/>
                  </a:solidFill>
                  <a:latin typeface="+mn-lt"/>
                  <a:ea typeface="+mn-ea"/>
                  <a:cs typeface="+mn-cs"/>
                </a:rPr>
                <a:t>高热门的活动场景</a:t>
              </a:r>
            </a:p>
          </p:txBody>
        </p:sp>
        <p:sp>
          <p:nvSpPr>
            <p:cNvPr id="79" name="Rectangle 79"/>
            <p:cNvSpPr/>
            <p:nvPr/>
          </p:nvSpPr>
          <p:spPr>
            <a:xfrm>
              <a:off x="9239250" y="4429125"/>
              <a:ext cx="2400300" cy="609600"/>
            </a:xfrm>
            <a:prstGeom prst="roundRect">
              <a:avLst>
                <a:gd name="adj" fmla="val 6250"/>
              </a:avLst>
            </a:prstGeom>
            <a:solidFill>
              <a:srgbClr val="FFFFFF"/>
            </a:solidFill>
            <a:ln w="9525">
              <a:solidFill>
                <a:srgbClr val="D4E2FA"/>
              </a:solidFill>
            </a:ln>
          </p:spPr>
        </p:sp>
        <p:sp>
          <p:nvSpPr>
            <p:cNvPr id="80" name="TextBox 80"/>
            <p:cNvSpPr txBox="1"/>
            <p:nvPr/>
          </p:nvSpPr>
          <p:spPr>
            <a:xfrm>
              <a:off x="9329738" y="4507468"/>
              <a:ext cx="1707896" cy="311944"/>
            </a:xfrm>
            <a:prstGeom prst="rect">
              <a:avLst/>
            </a:prstGeom>
            <a:noFill/>
            <a:ln>
              <a:noFill/>
            </a:ln>
          </p:spPr>
          <p:txBody>
            <a:bodyPr wrap="none" lIns="0" tIns="0" rIns="0" bIns="0" anchor="t" anchorCtr="0">
              <a:spAutoFit/>
            </a:bodyPr>
            <a:lstStyle/>
            <a:p>
              <a:pPr algn="l">
                <a:lnSpc>
                  <a:spcPts val="1125"/>
                </a:lnSpc>
              </a:pPr>
              <a:r>
                <a:rPr lang="zh-CN" sz="860" dirty="0">
                  <a:solidFill>
                    <a:srgbClr val="333333"/>
                  </a:solidFill>
                  <a:latin typeface="+mn-lt"/>
                  <a:ea typeface="+mn-ea"/>
                  <a:cs typeface="+mn-cs"/>
                </a:rPr>
                <a:t>通过简洁的福利邀请引导客户跳转​</a:t>
              </a:r>
              <a:br/>
              <a:r>
                <a:rPr lang="zh-CN" sz="860" dirty="0">
                  <a:solidFill>
                    <a:srgbClr val="333333"/>
                  </a:solidFill>
                  <a:latin typeface="+mn-lt"/>
                  <a:ea typeface="+mn-ea"/>
                  <a:cs typeface="+mn-cs"/>
                </a:rPr>
                <a:t>至手机银行、企业微信等核心阵地​</a:t>
              </a:r>
            </a:p>
          </p:txBody>
        </p:sp>
      </p:grpSp>
      <p:grpSp>
        <p:nvGrpSpPr>
          <p:cNvPr id="84" name="banner-closing"/>
          <p:cNvGrpSpPr/>
          <p:nvPr/>
        </p:nvGrpSpPr>
        <p:grpSpPr>
          <a:xfrm>
            <a:off x="381000" y="5562600"/>
            <a:ext cx="11430000" cy="438150"/>
            <a:chOff x="381000" y="5562600"/>
            <a:chExt cx="11430000" cy="438150"/>
          </a:xfrm>
        </p:grpSpPr>
        <p:sp>
          <p:nvSpPr>
            <p:cNvPr id="82" name="Rectangle 82"/>
            <p:cNvSpPr/>
            <p:nvPr/>
          </p:nvSpPr>
          <p:spPr>
            <a:xfrm>
              <a:off x="381000" y="5562600"/>
              <a:ext cx="11430000" cy="438150"/>
            </a:xfrm>
            <a:prstGeom prst="roundRect">
              <a:avLst>
                <a:gd name="adj" fmla="val 13043"/>
              </a:avLst>
            </a:prstGeom>
            <a:solidFill>
              <a:srgbClr val="E74726"/>
            </a:solidFill>
            <a:ln>
              <a:noFill/>
            </a:ln>
          </p:spPr>
        </p:sp>
        <p:sp>
          <p:nvSpPr>
            <p:cNvPr id="83" name="TextBox 83"/>
            <p:cNvSpPr txBox="1"/>
            <p:nvPr/>
          </p:nvSpPr>
          <p:spPr>
            <a:xfrm>
              <a:off x="2752244" y="5686425"/>
              <a:ext cx="6687512"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主动挖掘+日常经营+私域留存+全域兜底，共同盘活长尾客群聚合价值​​​​</a:t>
              </a:r>
            </a:p>
          </p:txBody>
        </p:sp>
      </p:grpSp>
      <p:grpSp>
        <p:nvGrpSpPr>
          <p:cNvPr id="87" name="footer"/>
          <p:cNvGrpSpPr/>
          <p:nvPr/>
        </p:nvGrpSpPr>
        <p:grpSpPr>
          <a:xfrm>
            <a:off x="0" y="6438900"/>
            <a:ext cx="12192000" cy="342900"/>
            <a:chOff x="0" y="6438900"/>
            <a:chExt cx="12192000" cy="342900"/>
          </a:xfrm>
        </p:grpSpPr>
        <p:sp>
          <p:nvSpPr>
            <p:cNvPr id="85" name="Line 85"/>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86" name="TextBox 86"/>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26​</a:t>
              </a:r>
            </a:p>
          </p:txBody>
        </p:sp>
        <p:sp>
          <p:nvSpPr>
            <p:cNvPr id="4" name="TextBox 4"/>
            <p:cNvSpPr txBox="1"/>
            <p:nvPr/>
          </p:nvSpPr>
          <p:spPr>
            <a:xfrm>
              <a:off x="885444" y="160973"/>
              <a:ext cx="8322823"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2.2.4 渠道运营｜</a:t>
              </a:r>
              <a:r>
                <a:rPr lang="zh-CN" sz="1950" b="1" dirty="0">
                  <a:solidFill>
                    <a:srgbClr val="E74726"/>
                  </a:solidFill>
                  <a:latin typeface="+mj-lt"/>
                  <a:ea typeface="+mj-ea"/>
                  <a:cs typeface="+mj-cs"/>
                </a:rPr>
                <a:t>搭建渠道协同模式实现从各自为战到矩阵联动</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6912821" cy="249364"/>
            <a:chOff x="374523" y="681514"/>
            <a:chExt cx="6912821" cy="249364"/>
          </a:xfrm>
        </p:grpSpPr>
        <p:sp>
          <p:nvSpPr>
            <p:cNvPr id="16" name="TextBox 16"/>
            <p:cNvSpPr txBox="1"/>
            <p:nvPr/>
          </p:nvSpPr>
          <p:spPr>
            <a:xfrm>
              <a:off x="374523" y="681514"/>
              <a:ext cx="6912821"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建立唤醒—承接—培育—反馈协同触达体系，分层精准转化，持续释放长尾客户价值潜力​​​​</a:t>
              </a:r>
            </a:p>
          </p:txBody>
        </p:sp>
      </p:grpSp>
      <p:grpSp>
        <p:nvGrpSpPr>
          <p:cNvPr id="19" name="guide"/>
          <p:cNvGrpSpPr/>
          <p:nvPr/>
        </p:nvGrpSpPr>
        <p:grpSpPr>
          <a:xfrm>
            <a:off x="376047" y="990124"/>
            <a:ext cx="6973443" cy="371666"/>
            <a:chOff x="376047" y="990124"/>
            <a:chExt cx="6973443" cy="371666"/>
          </a:xfrm>
        </p:grpSpPr>
        <p:sp>
          <p:nvSpPr>
            <p:cNvPr id="18" name="TextBox 18"/>
            <p:cNvSpPr txBox="1"/>
            <p:nvPr/>
          </p:nvSpPr>
          <p:spPr>
            <a:xfrm>
              <a:off x="376047" y="990124"/>
              <a:ext cx="6973443"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构建首次唤醒—承接引导—深度培育—闭环反馈四阶段长尾客群渠道运营链路，区分高低意向客群实施分层触达，联动多渠​​​​​​</a:t>
              </a:r>
              <a:br/>
              <a:r>
                <a:rPr lang="zh-CN" sz="980" dirty="0">
                  <a:solidFill>
                    <a:srgbClr val="333333"/>
                  </a:solidFill>
                  <a:latin typeface="+mn-lt"/>
                  <a:ea typeface="+mn-ea"/>
                  <a:cs typeface="+mn-cs"/>
                </a:rPr>
                <a:t>道开展精准营销，归集客户互动数据迭代策略，实现长尾客户从唤醒激活到持续复购的全周期运营​</a:t>
              </a:r>
            </a:p>
          </p:txBody>
        </p:sp>
      </p:grpSp>
      <p:grpSp>
        <p:nvGrpSpPr>
          <p:cNvPr id="36" name="stage-strip"/>
          <p:cNvGrpSpPr/>
          <p:nvPr/>
        </p:nvGrpSpPr>
        <p:grpSpPr>
          <a:xfrm>
            <a:off x="381000" y="1428750"/>
            <a:ext cx="11372850" cy="1504950"/>
            <a:chOff x="381000" y="1428750"/>
            <a:chExt cx="11372850" cy="1504950"/>
          </a:xfrm>
        </p:grpSpPr>
        <p:sp>
          <p:nvSpPr>
            <p:cNvPr id="20" name="Freeform 20"/>
            <p:cNvSpPr/>
            <p:nvPr/>
          </p:nvSpPr>
          <p:spPr>
            <a:xfrm>
              <a:off x="381000" y="1428750"/>
              <a:ext cx="2914650" cy="361950"/>
            </a:xfrm>
            <a:prstGeom prst="homePlate">
              <a:avLst/>
            </a:prstGeom>
            <a:solidFill>
              <a:srgbClr val="D3563D"/>
            </a:solidFill>
            <a:ln>
              <a:noFill/>
            </a:ln>
          </p:spPr>
        </p:sp>
        <p:sp>
          <p:nvSpPr>
            <p:cNvPr id="21" name="Freeform 21"/>
            <p:cNvSpPr/>
            <p:nvPr/>
          </p:nvSpPr>
          <p:spPr>
            <a:xfrm>
              <a:off x="3200400" y="1428750"/>
              <a:ext cx="2914650" cy="361950"/>
            </a:xfrm>
            <a:prstGeom prst="chevron">
              <a:avLst/>
            </a:prstGeom>
            <a:solidFill>
              <a:srgbClr val="DC4D30"/>
            </a:solidFill>
            <a:ln>
              <a:noFill/>
            </a:ln>
          </p:spPr>
        </p:sp>
        <p:sp>
          <p:nvSpPr>
            <p:cNvPr id="22" name="Freeform 22"/>
            <p:cNvSpPr/>
            <p:nvPr/>
          </p:nvSpPr>
          <p:spPr>
            <a:xfrm>
              <a:off x="6019800" y="1428750"/>
              <a:ext cx="2914650" cy="361950"/>
            </a:xfrm>
            <a:prstGeom prst="chevron">
              <a:avLst/>
            </a:prstGeom>
            <a:solidFill>
              <a:srgbClr val="E3492A"/>
            </a:solidFill>
            <a:ln>
              <a:noFill/>
            </a:ln>
          </p:spPr>
        </p:sp>
        <p:sp>
          <p:nvSpPr>
            <p:cNvPr id="23" name="Freeform 23"/>
            <p:cNvSpPr/>
            <p:nvPr/>
          </p:nvSpPr>
          <p:spPr>
            <a:xfrm>
              <a:off x="8839200" y="1428750"/>
              <a:ext cx="2914650" cy="361950"/>
            </a:xfrm>
            <a:prstGeom prst="chevron">
              <a:avLst/>
            </a:prstGeom>
            <a:solidFill>
              <a:srgbClr val="E74726"/>
            </a:solidFill>
            <a:ln>
              <a:noFill/>
            </a:ln>
          </p:spPr>
        </p:sp>
        <p:sp>
          <p:nvSpPr>
            <p:cNvPr id="24" name="TextBox 24"/>
            <p:cNvSpPr txBox="1"/>
            <p:nvPr/>
          </p:nvSpPr>
          <p:spPr>
            <a:xfrm>
              <a:off x="1461516" y="153733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首次唤醒</a:t>
              </a:r>
            </a:p>
          </p:txBody>
        </p:sp>
        <p:sp>
          <p:nvSpPr>
            <p:cNvPr id="25" name="TextBox 25"/>
            <p:cNvSpPr txBox="1"/>
            <p:nvPr/>
          </p:nvSpPr>
          <p:spPr>
            <a:xfrm>
              <a:off x="4376166" y="153733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承接引导</a:t>
              </a:r>
            </a:p>
          </p:txBody>
        </p:sp>
        <p:sp>
          <p:nvSpPr>
            <p:cNvPr id="26" name="TextBox 26"/>
            <p:cNvSpPr txBox="1"/>
            <p:nvPr/>
          </p:nvSpPr>
          <p:spPr>
            <a:xfrm>
              <a:off x="7195566" y="153733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深度培育</a:t>
              </a:r>
            </a:p>
          </p:txBody>
        </p:sp>
        <p:sp>
          <p:nvSpPr>
            <p:cNvPr id="27" name="TextBox 27"/>
            <p:cNvSpPr txBox="1"/>
            <p:nvPr/>
          </p:nvSpPr>
          <p:spPr>
            <a:xfrm>
              <a:off x="10014966" y="153733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闭环反馈</a:t>
              </a:r>
            </a:p>
          </p:txBody>
        </p:sp>
        <p:sp>
          <p:nvSpPr>
            <p:cNvPr id="28" name="Rectangle 28"/>
            <p:cNvSpPr/>
            <p:nvPr/>
          </p:nvSpPr>
          <p:spPr>
            <a:xfrm>
              <a:off x="381000" y="1866900"/>
              <a:ext cx="2819400" cy="1066800"/>
            </a:xfrm>
            <a:prstGeom prst="roundRect">
              <a:avLst>
                <a:gd name="adj" fmla="val 3571"/>
              </a:avLst>
            </a:prstGeom>
            <a:solidFill>
              <a:srgbClr val="E7EFFC"/>
            </a:solidFill>
            <a:ln>
              <a:noFill/>
            </a:ln>
          </p:spPr>
        </p:sp>
        <p:sp>
          <p:nvSpPr>
            <p:cNvPr id="29" name="TextBox 29"/>
            <p:cNvSpPr txBox="1"/>
            <p:nvPr/>
          </p:nvSpPr>
          <p:spPr>
            <a:xfrm>
              <a:off x="490538" y="1965722"/>
              <a:ext cx="2104644" cy="697706"/>
            </a:xfrm>
            <a:prstGeom prst="rect">
              <a:avLst/>
            </a:prstGeom>
            <a:noFill/>
            <a:ln>
              <a:noFill/>
            </a:ln>
          </p:spPr>
          <p:txBody>
            <a:bodyPr wrap="none" lIns="0" tIns="0" rIns="0" bIns="0" anchor="t" anchorCtr="0">
              <a:spAutoFit/>
            </a:bodyPr>
            <a:lstStyle/>
            <a:p>
              <a:pPr algn="l">
                <a:lnSpc>
                  <a:spcPts val="1350"/>
                </a:lnSpc>
              </a:pPr>
              <a:r>
                <a:rPr lang="zh-CN" sz="940" dirty="0">
                  <a:solidFill>
                    <a:srgbClr val="333333"/>
                  </a:solidFill>
                  <a:latin typeface="+mn-lt"/>
                  <a:ea typeface="+mn-ea"/>
                  <a:cs typeface="+mn-cs"/>
                </a:rPr>
                <a:t>通过智能外呼、手机银行弹窗、站内</a:t>
              </a:r>
              <a:br/>
              <a:r>
                <a:rPr lang="zh-CN" sz="940" dirty="0">
                  <a:solidFill>
                    <a:srgbClr val="333333"/>
                  </a:solidFill>
                  <a:latin typeface="+mn-lt"/>
                  <a:ea typeface="+mn-ea"/>
                  <a:cs typeface="+mn-cs"/>
                </a:rPr>
                <a:t>信、短信对低活跃客户进行首轮触达，​</a:t>
              </a:r>
              <a:br/>
              <a:r>
                <a:rPr lang="zh-CN" sz="940" dirty="0">
                  <a:solidFill>
                    <a:srgbClr val="333333"/>
                  </a:solidFill>
                  <a:latin typeface="+mn-lt"/>
                  <a:ea typeface="+mn-ea"/>
                  <a:cs typeface="+mn-cs"/>
                </a:rPr>
                <a:t>告知、权益活动和福利，对引流失败</a:t>
              </a:r>
              <a:br/>
              <a:r>
                <a:rPr lang="zh-CN" sz="940" dirty="0">
                  <a:solidFill>
                    <a:srgbClr val="333333"/>
                  </a:solidFill>
                  <a:latin typeface="+mn-lt"/>
                  <a:ea typeface="+mn-ea"/>
                  <a:cs typeface="+mn-cs"/>
                </a:rPr>
                <a:t>者启动承接引导</a:t>
              </a:r>
            </a:p>
          </p:txBody>
        </p:sp>
        <p:sp>
          <p:nvSpPr>
            <p:cNvPr id="30" name="Rectangle 30"/>
            <p:cNvSpPr/>
            <p:nvPr/>
          </p:nvSpPr>
          <p:spPr>
            <a:xfrm>
              <a:off x="3200400" y="1866900"/>
              <a:ext cx="2819400" cy="1066800"/>
            </a:xfrm>
            <a:prstGeom prst="roundRect">
              <a:avLst>
                <a:gd name="adj" fmla="val 3571"/>
              </a:avLst>
            </a:prstGeom>
            <a:solidFill>
              <a:srgbClr val="E7EFFC"/>
            </a:solidFill>
            <a:ln>
              <a:noFill/>
            </a:ln>
          </p:spPr>
        </p:sp>
        <p:sp>
          <p:nvSpPr>
            <p:cNvPr id="31" name="TextBox 31"/>
            <p:cNvSpPr txBox="1"/>
            <p:nvPr/>
          </p:nvSpPr>
          <p:spPr>
            <a:xfrm>
              <a:off x="3309938" y="1965722"/>
              <a:ext cx="2050923" cy="697706"/>
            </a:xfrm>
            <a:prstGeom prst="rect">
              <a:avLst/>
            </a:prstGeom>
            <a:noFill/>
            <a:ln>
              <a:noFill/>
            </a:ln>
          </p:spPr>
          <p:txBody>
            <a:bodyPr wrap="none" lIns="0" tIns="0" rIns="0" bIns="0" anchor="t" anchorCtr="0">
              <a:spAutoFit/>
            </a:bodyPr>
            <a:lstStyle/>
            <a:p>
              <a:pPr algn="l">
                <a:lnSpc>
                  <a:spcPts val="1350"/>
                </a:lnSpc>
              </a:pPr>
              <a:r>
                <a:rPr lang="zh-CN" sz="940" dirty="0">
                  <a:solidFill>
                    <a:srgbClr val="333333"/>
                  </a:solidFill>
                  <a:latin typeface="+mn-lt"/>
                  <a:ea typeface="+mn-ea"/>
                  <a:cs typeface="+mn-cs"/>
                </a:rPr>
                <a:t>对高意向客户采用企微或人工外呼1</a:t>
              </a:r>
              <a:br/>
              <a:r>
                <a:rPr lang="zh-CN" sz="940" dirty="0">
                  <a:solidFill>
                    <a:srgbClr val="333333"/>
                  </a:solidFill>
                  <a:latin typeface="+mn-lt"/>
                  <a:ea typeface="+mn-ea"/>
                  <a:cs typeface="+mn-cs"/>
                </a:rPr>
                <a:t>对1重点触达，确保转化；对低意向客​</a:t>
              </a:r>
              <a:br/>
              <a:r>
                <a:rPr lang="zh-CN" sz="940" dirty="0">
                  <a:solidFill>
                    <a:srgbClr val="333333"/>
                  </a:solidFill>
                  <a:latin typeface="+mn-lt"/>
                  <a:ea typeface="+mn-ea"/>
                  <a:cs typeface="+mn-cs"/>
                </a:rPr>
                <a:t>户在一定周期内进行智能渠道的二次</a:t>
              </a:r>
              <a:br/>
              <a:r>
                <a:rPr lang="zh-CN" sz="940" dirty="0">
                  <a:solidFill>
                    <a:srgbClr val="333333"/>
                  </a:solidFill>
                  <a:latin typeface="+mn-lt"/>
                  <a:ea typeface="+mn-ea"/>
                  <a:cs typeface="+mn-cs"/>
                </a:rPr>
                <a:t>触达，加强渗透</a:t>
              </a:r>
            </a:p>
          </p:txBody>
        </p:sp>
        <p:sp>
          <p:nvSpPr>
            <p:cNvPr id="32" name="Rectangle 32"/>
            <p:cNvSpPr/>
            <p:nvPr/>
          </p:nvSpPr>
          <p:spPr>
            <a:xfrm>
              <a:off x="6019800" y="1866900"/>
              <a:ext cx="2819400" cy="1066800"/>
            </a:xfrm>
            <a:prstGeom prst="roundRect">
              <a:avLst>
                <a:gd name="adj" fmla="val 3571"/>
              </a:avLst>
            </a:prstGeom>
            <a:solidFill>
              <a:srgbClr val="E7EFFC"/>
            </a:solidFill>
            <a:ln>
              <a:noFill/>
            </a:ln>
          </p:spPr>
        </p:sp>
        <p:sp>
          <p:nvSpPr>
            <p:cNvPr id="33" name="TextBox 33"/>
            <p:cNvSpPr txBox="1"/>
            <p:nvPr/>
          </p:nvSpPr>
          <p:spPr>
            <a:xfrm>
              <a:off x="6129338" y="1965722"/>
              <a:ext cx="1985264" cy="697706"/>
            </a:xfrm>
            <a:prstGeom prst="rect">
              <a:avLst/>
            </a:prstGeom>
            <a:noFill/>
            <a:ln>
              <a:noFill/>
            </a:ln>
          </p:spPr>
          <p:txBody>
            <a:bodyPr wrap="none" lIns="0" tIns="0" rIns="0" bIns="0" anchor="t" anchorCtr="0">
              <a:spAutoFit/>
            </a:bodyPr>
            <a:lstStyle/>
            <a:p>
              <a:pPr algn="l">
                <a:lnSpc>
                  <a:spcPts val="1350"/>
                </a:lnSpc>
              </a:pPr>
              <a:r>
                <a:rPr lang="zh-CN" sz="940" dirty="0">
                  <a:solidFill>
                    <a:srgbClr val="333333"/>
                  </a:solidFill>
                  <a:latin typeface="+mn-lt"/>
                  <a:ea typeface="+mn-ea"/>
                  <a:cs typeface="+mn-cs"/>
                </a:rPr>
                <a:t>对于已参与活动或购买产品的客户，​</a:t>
              </a:r>
              <a:br/>
              <a:r>
                <a:rPr lang="zh-CN" sz="940" dirty="0">
                  <a:solidFill>
                    <a:srgbClr val="333333"/>
                  </a:solidFill>
                  <a:latin typeface="+mn-lt"/>
                  <a:ea typeface="+mn-ea"/>
                  <a:cs typeface="+mn-cs"/>
                </a:rPr>
                <a:t>依据其行为数据推送层级成长任务及​</a:t>
              </a:r>
              <a:br/>
              <a:r>
                <a:rPr lang="zh-CN" sz="940" dirty="0">
                  <a:solidFill>
                    <a:srgbClr val="333333"/>
                  </a:solidFill>
                  <a:latin typeface="+mn-lt"/>
                  <a:ea typeface="+mn-ea"/>
                  <a:cs typeface="+mn-cs"/>
                </a:rPr>
                <a:t>专属产品推荐，推动长尾客户从一次​</a:t>
              </a:r>
              <a:br/>
              <a:r>
                <a:rPr lang="zh-CN" sz="940" dirty="0">
                  <a:solidFill>
                    <a:srgbClr val="333333"/>
                  </a:solidFill>
                  <a:latin typeface="+mn-lt"/>
                  <a:ea typeface="+mn-ea"/>
                  <a:cs typeface="+mn-cs"/>
                </a:rPr>
                <a:t>性参与走向周期性使用</a:t>
              </a:r>
            </a:p>
          </p:txBody>
        </p:sp>
        <p:sp>
          <p:nvSpPr>
            <p:cNvPr id="34" name="Rectangle 34"/>
            <p:cNvSpPr/>
            <p:nvPr/>
          </p:nvSpPr>
          <p:spPr>
            <a:xfrm>
              <a:off x="8839200" y="1866900"/>
              <a:ext cx="2914650" cy="1066800"/>
            </a:xfrm>
            <a:prstGeom prst="roundRect">
              <a:avLst>
                <a:gd name="adj" fmla="val 3571"/>
              </a:avLst>
            </a:prstGeom>
            <a:solidFill>
              <a:srgbClr val="E7EFFC"/>
            </a:solidFill>
            <a:ln>
              <a:noFill/>
            </a:ln>
          </p:spPr>
        </p:sp>
        <p:sp>
          <p:nvSpPr>
            <p:cNvPr id="35" name="TextBox 35"/>
            <p:cNvSpPr txBox="1"/>
            <p:nvPr/>
          </p:nvSpPr>
          <p:spPr>
            <a:xfrm>
              <a:off x="8948738" y="1965722"/>
              <a:ext cx="2104644" cy="697706"/>
            </a:xfrm>
            <a:prstGeom prst="rect">
              <a:avLst/>
            </a:prstGeom>
            <a:noFill/>
            <a:ln>
              <a:noFill/>
            </a:ln>
          </p:spPr>
          <p:txBody>
            <a:bodyPr wrap="none" lIns="0" tIns="0" rIns="0" bIns="0" anchor="t" anchorCtr="0">
              <a:spAutoFit/>
            </a:bodyPr>
            <a:lstStyle/>
            <a:p>
              <a:pPr algn="l">
                <a:lnSpc>
                  <a:spcPts val="1350"/>
                </a:lnSpc>
              </a:pPr>
              <a:r>
                <a:rPr lang="zh-CN" sz="940" dirty="0">
                  <a:solidFill>
                    <a:srgbClr val="333333"/>
                  </a:solidFill>
                  <a:latin typeface="+mn-lt"/>
                  <a:ea typeface="+mn-ea"/>
                  <a:cs typeface="+mn-cs"/>
                </a:rPr>
                <a:t>各渠道产生的长尾客户互动数据（如</a:t>
              </a:r>
              <a:br/>
              <a:r>
                <a:rPr lang="zh-CN" sz="940" dirty="0">
                  <a:solidFill>
                    <a:srgbClr val="333333"/>
                  </a:solidFill>
                  <a:latin typeface="+mn-lt"/>
                  <a:ea typeface="+mn-ea"/>
                  <a:cs typeface="+mn-cs"/>
                </a:rPr>
                <a:t>短信点击、外呼接听、手机银行登录、​</a:t>
              </a:r>
              <a:br/>
              <a:r>
                <a:rPr lang="zh-CN" sz="940" dirty="0">
                  <a:solidFill>
                    <a:srgbClr val="333333"/>
                  </a:solidFill>
                  <a:latin typeface="+mn-lt"/>
                  <a:ea typeface="+mn-ea"/>
                  <a:cs typeface="+mn-cs"/>
                </a:rPr>
                <a:t>企微回复）统一归集至客户画像系统，​</a:t>
              </a:r>
              <a:br/>
              <a:r>
                <a:rPr lang="zh-CN" sz="940" dirty="0">
                  <a:solidFill>
                    <a:srgbClr val="333333"/>
                  </a:solidFill>
                  <a:latin typeface="+mn-lt"/>
                  <a:ea typeface="+mn-ea"/>
                  <a:cs typeface="+mn-cs"/>
                </a:rPr>
                <a:t>用于优化后续触达策略</a:t>
              </a:r>
            </a:p>
          </p:txBody>
        </p:sp>
      </p:grpSp>
      <p:grpSp>
        <p:nvGrpSpPr>
          <p:cNvPr id="67" name="flow-diagram"/>
          <p:cNvGrpSpPr/>
          <p:nvPr/>
        </p:nvGrpSpPr>
        <p:grpSpPr>
          <a:xfrm>
            <a:off x="504825" y="3495675"/>
            <a:ext cx="11068050" cy="2752725"/>
            <a:chOff x="504825" y="3495675"/>
            <a:chExt cx="11068050" cy="2752725"/>
          </a:xfrm>
        </p:grpSpPr>
        <p:sp>
          <p:nvSpPr>
            <p:cNvPr id="37" name="Rectangle 37"/>
            <p:cNvSpPr/>
            <p:nvPr/>
          </p:nvSpPr>
          <p:spPr>
            <a:xfrm>
              <a:off x="504825" y="3495675"/>
              <a:ext cx="1466850" cy="2600325"/>
            </a:xfrm>
            <a:prstGeom prst="rect">
              <a:avLst/>
            </a:prstGeom>
            <a:solidFill>
              <a:srgbClr val="D4E2FA"/>
            </a:solidFill>
            <a:ln>
              <a:noFill/>
            </a:ln>
          </p:spPr>
        </p:sp>
        <p:sp>
          <p:nvSpPr>
            <p:cNvPr id="38" name="TextBox 38"/>
            <p:cNvSpPr txBox="1"/>
            <p:nvPr/>
          </p:nvSpPr>
          <p:spPr>
            <a:xfrm>
              <a:off x="950151" y="3657124"/>
              <a:ext cx="576199" cy="2190940"/>
            </a:xfrm>
            <a:prstGeom prst="rect">
              <a:avLst/>
            </a:prstGeom>
            <a:noFill/>
            <a:ln>
              <a:noFill/>
            </a:ln>
          </p:spPr>
          <p:txBody>
            <a:bodyPr wrap="none" lIns="0" tIns="0" rIns="0" bIns="0" anchor="t" anchorCtr="0">
              <a:spAutoFit/>
            </a:bodyPr>
            <a:lstStyle/>
            <a:p>
              <a:pPr algn="ctr">
                <a:lnSpc>
                  <a:spcPts val="2250"/>
                </a:lnSpc>
              </a:pPr>
              <a:r>
                <a:rPr lang="zh-CN" sz="980" dirty="0">
                  <a:solidFill>
                    <a:srgbClr val="333333"/>
                  </a:solidFill>
                  <a:latin typeface="+mn-lt"/>
                  <a:ea typeface="+mn-ea"/>
                  <a:cs typeface="+mn-cs"/>
                </a:rPr>
                <a:t>智能外呼​</a:t>
              </a:r>
              <a:br/>
              <a:r>
                <a:rPr lang="zh-CN" sz="980" dirty="0">
                  <a:solidFill>
                    <a:srgbClr val="333333"/>
                  </a:solidFill>
                  <a:latin typeface="+mn-lt"/>
                  <a:ea typeface="+mn-ea"/>
                  <a:cs typeface="+mn-cs"/>
                </a:rPr>
                <a:t>弹窗</a:t>
              </a:r>
              <a:br/>
              <a:r>
                <a:rPr lang="zh-CN" sz="980" dirty="0">
                  <a:solidFill>
                    <a:srgbClr val="333333"/>
                  </a:solidFill>
                  <a:latin typeface="+mn-lt"/>
                  <a:ea typeface="+mn-ea"/>
                  <a:cs typeface="+mn-cs"/>
                </a:rPr>
                <a:t>站内信</a:t>
              </a:r>
              <a:br/>
              <a:r>
                <a:rPr lang="zh-CN" sz="980" dirty="0">
                  <a:solidFill>
                    <a:srgbClr val="333333"/>
                  </a:solidFill>
                  <a:latin typeface="+mn-lt"/>
                  <a:ea typeface="+mn-ea"/>
                  <a:cs typeface="+mn-cs"/>
                </a:rPr>
                <a:t>短信</a:t>
              </a:r>
              <a:br/>
              <a:r>
                <a:rPr lang="en-US" sz="980" dirty="0">
                  <a:solidFill>
                    <a:srgbClr val="333333"/>
                  </a:solidFill>
                  <a:latin typeface="+mn-lt"/>
                  <a:ea typeface="+mn-ea"/>
                  <a:cs typeface="+mn-cs"/>
                </a:rPr>
                <a:t>banner</a:t>
              </a:r>
              <a:br/>
              <a:r>
                <a:rPr lang="zh-CN" sz="980" dirty="0">
                  <a:solidFill>
                    <a:srgbClr val="333333"/>
                  </a:solidFill>
                  <a:latin typeface="+mn-lt"/>
                  <a:ea typeface="+mn-ea"/>
                  <a:cs typeface="+mn-cs"/>
                </a:rPr>
                <a:t>朋友圈</a:t>
              </a:r>
              <a:br/>
              <a:r>
                <a:rPr lang="zh-CN" sz="980" dirty="0">
                  <a:solidFill>
                    <a:srgbClr val="333333"/>
                  </a:solidFill>
                  <a:latin typeface="+mn-lt"/>
                  <a:ea typeface="+mn-ea"/>
                  <a:cs typeface="+mn-cs"/>
                </a:rPr>
                <a:t>企微</a:t>
              </a:r>
              <a:br/>
              <a:r>
                <a:rPr lang="zh-CN" sz="980" dirty="0">
                  <a:solidFill>
                    <a:srgbClr val="333333"/>
                  </a:solidFill>
                  <a:latin typeface="+mn-lt"/>
                  <a:ea typeface="+mn-ea"/>
                  <a:cs typeface="+mn-cs"/>
                </a:rPr>
                <a:t>…​</a:t>
              </a:r>
            </a:p>
          </p:txBody>
        </p:sp>
        <p:sp>
          <p:nvSpPr>
            <p:cNvPr id="39" name="Rectangle 39"/>
            <p:cNvSpPr/>
            <p:nvPr/>
          </p:nvSpPr>
          <p:spPr>
            <a:xfrm>
              <a:off x="3219450" y="4010025"/>
              <a:ext cx="1409700" cy="733425"/>
            </a:xfrm>
            <a:prstGeom prst="rect">
              <a:avLst/>
            </a:prstGeom>
            <a:solidFill>
              <a:srgbClr val="D4E2FA"/>
            </a:solidFill>
            <a:ln>
              <a:noFill/>
            </a:ln>
          </p:spPr>
        </p:sp>
        <p:sp>
          <p:nvSpPr>
            <p:cNvPr id="40" name="TextBox 40"/>
            <p:cNvSpPr txBox="1"/>
            <p:nvPr/>
          </p:nvSpPr>
          <p:spPr>
            <a:xfrm>
              <a:off x="3589528" y="4314349"/>
              <a:ext cx="669544"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高意向客群</a:t>
              </a:r>
            </a:p>
          </p:txBody>
        </p:sp>
        <p:sp>
          <p:nvSpPr>
            <p:cNvPr id="41" name="Rectangle 41"/>
            <p:cNvSpPr/>
            <p:nvPr/>
          </p:nvSpPr>
          <p:spPr>
            <a:xfrm>
              <a:off x="3219450" y="4962525"/>
              <a:ext cx="1409700" cy="733425"/>
            </a:xfrm>
            <a:prstGeom prst="rect">
              <a:avLst/>
            </a:prstGeom>
            <a:solidFill>
              <a:srgbClr val="D4E2FA"/>
            </a:solidFill>
            <a:ln>
              <a:noFill/>
            </a:ln>
          </p:spPr>
        </p:sp>
        <p:sp>
          <p:nvSpPr>
            <p:cNvPr id="42" name="TextBox 42"/>
            <p:cNvSpPr txBox="1"/>
            <p:nvPr/>
          </p:nvSpPr>
          <p:spPr>
            <a:xfrm>
              <a:off x="3589528" y="5266849"/>
              <a:ext cx="669544"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低意向客群</a:t>
              </a:r>
            </a:p>
          </p:txBody>
        </p:sp>
        <p:sp>
          <p:nvSpPr>
            <p:cNvPr id="43" name="Rectangle 43"/>
            <p:cNvSpPr/>
            <p:nvPr/>
          </p:nvSpPr>
          <p:spPr>
            <a:xfrm>
              <a:off x="6153150" y="3495675"/>
              <a:ext cx="1466850" cy="2600325"/>
            </a:xfrm>
            <a:prstGeom prst="rect">
              <a:avLst/>
            </a:prstGeom>
            <a:solidFill>
              <a:srgbClr val="D4E2FA"/>
            </a:solidFill>
            <a:ln>
              <a:noFill/>
            </a:ln>
          </p:spPr>
        </p:sp>
        <p:sp>
          <p:nvSpPr>
            <p:cNvPr id="44" name="TextBox 44"/>
            <p:cNvSpPr txBox="1"/>
            <p:nvPr/>
          </p:nvSpPr>
          <p:spPr>
            <a:xfrm>
              <a:off x="6411786" y="4581049"/>
              <a:ext cx="949579" cy="571690"/>
            </a:xfrm>
            <a:prstGeom prst="rect">
              <a:avLst/>
            </a:prstGeom>
            <a:noFill/>
            <a:ln>
              <a:noFill/>
            </a:ln>
          </p:spPr>
          <p:txBody>
            <a:bodyPr wrap="none" lIns="0" tIns="0" rIns="0" bIns="0" anchor="t" anchorCtr="0">
              <a:spAutoFit/>
            </a:bodyPr>
            <a:lstStyle/>
            <a:p>
              <a:pPr algn="ctr">
                <a:lnSpc>
                  <a:spcPts val="1500"/>
                </a:lnSpc>
              </a:pPr>
              <a:r>
                <a:rPr lang="zh-CN" sz="980" dirty="0">
                  <a:solidFill>
                    <a:srgbClr val="333333"/>
                  </a:solidFill>
                  <a:latin typeface="+mn-lt"/>
                  <a:ea typeface="+mn-ea"/>
                  <a:cs typeface="+mn-cs"/>
                </a:rPr>
                <a:t>手机银行、网点​</a:t>
              </a:r>
              <a:br/>
              <a:r>
                <a:rPr lang="zh-CN" sz="980" dirty="0">
                  <a:solidFill>
                    <a:srgbClr val="333333"/>
                  </a:solidFill>
                  <a:latin typeface="+mn-lt"/>
                  <a:ea typeface="+mn-ea"/>
                  <a:cs typeface="+mn-cs"/>
                </a:rPr>
                <a:t>完成交易或活动​</a:t>
              </a:r>
              <a:br/>
              <a:r>
                <a:rPr lang="zh-CN" sz="980" dirty="0">
                  <a:solidFill>
                    <a:srgbClr val="333333"/>
                  </a:solidFill>
                  <a:latin typeface="+mn-lt"/>
                  <a:ea typeface="+mn-ea"/>
                  <a:cs typeface="+mn-cs"/>
                </a:rPr>
                <a:t>参与</a:t>
              </a:r>
            </a:p>
          </p:txBody>
        </p:sp>
        <p:sp>
          <p:nvSpPr>
            <p:cNvPr id="45" name="Rectangle 45"/>
            <p:cNvSpPr/>
            <p:nvPr/>
          </p:nvSpPr>
          <p:spPr>
            <a:xfrm>
              <a:off x="9096375" y="3857625"/>
              <a:ext cx="2171700" cy="1666875"/>
            </a:xfrm>
            <a:prstGeom prst="rect">
              <a:avLst/>
            </a:prstGeom>
            <a:noFill/>
            <a:ln w="9525">
              <a:solidFill>
                <a:srgbClr val="F1917D"/>
              </a:solidFill>
              <a:custDash>
                <a:ds d="400000" sp="300000"/>
              </a:custDash>
            </a:ln>
          </p:spPr>
        </p:sp>
        <p:sp>
          <p:nvSpPr>
            <p:cNvPr id="46" name="Rectangle 46"/>
            <p:cNvSpPr/>
            <p:nvPr/>
          </p:nvSpPr>
          <p:spPr>
            <a:xfrm>
              <a:off x="9372600" y="3952875"/>
              <a:ext cx="1743075" cy="504825"/>
            </a:xfrm>
            <a:prstGeom prst="rect">
              <a:avLst/>
            </a:prstGeom>
            <a:solidFill>
              <a:srgbClr val="D4E2FA"/>
            </a:solidFill>
            <a:ln>
              <a:noFill/>
            </a:ln>
          </p:spPr>
        </p:sp>
        <p:sp>
          <p:nvSpPr>
            <p:cNvPr id="47" name="TextBox 47"/>
            <p:cNvSpPr txBox="1"/>
            <p:nvPr/>
          </p:nvSpPr>
          <p:spPr>
            <a:xfrm>
              <a:off x="10102494" y="4142899"/>
              <a:ext cx="273761"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企微</a:t>
              </a:r>
            </a:p>
          </p:txBody>
        </p:sp>
        <p:sp>
          <p:nvSpPr>
            <p:cNvPr id="48" name="Rectangle 48"/>
            <p:cNvSpPr/>
            <p:nvPr/>
          </p:nvSpPr>
          <p:spPr>
            <a:xfrm>
              <a:off x="9372600" y="4857750"/>
              <a:ext cx="1743075" cy="504825"/>
            </a:xfrm>
            <a:prstGeom prst="rect">
              <a:avLst/>
            </a:prstGeom>
            <a:solidFill>
              <a:srgbClr val="D4E2FA"/>
            </a:solidFill>
            <a:ln>
              <a:noFill/>
            </a:ln>
          </p:spPr>
        </p:sp>
        <p:sp>
          <p:nvSpPr>
            <p:cNvPr id="49" name="TextBox 49"/>
            <p:cNvSpPr txBox="1"/>
            <p:nvPr/>
          </p:nvSpPr>
          <p:spPr>
            <a:xfrm>
              <a:off x="9970567" y="5047774"/>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人工外呼</a:t>
              </a:r>
            </a:p>
          </p:txBody>
        </p:sp>
        <p:sp>
          <p:nvSpPr>
            <p:cNvPr id="50" name="Rectangle 50"/>
            <p:cNvSpPr/>
            <p:nvPr/>
          </p:nvSpPr>
          <p:spPr>
            <a:xfrm>
              <a:off x="8915400" y="5591175"/>
              <a:ext cx="2352675" cy="447675"/>
            </a:xfrm>
            <a:prstGeom prst="rect">
              <a:avLst/>
            </a:prstGeom>
            <a:solidFill>
              <a:srgbClr val="D4E2FA"/>
            </a:solidFill>
            <a:ln>
              <a:noFill/>
            </a:ln>
          </p:spPr>
        </p:sp>
        <p:sp>
          <p:nvSpPr>
            <p:cNvPr id="51" name="TextBox 51"/>
            <p:cNvSpPr txBox="1"/>
            <p:nvPr/>
          </p:nvSpPr>
          <p:spPr>
            <a:xfrm>
              <a:off x="9488348" y="5752624"/>
              <a:ext cx="1197254"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持续跟踪，推荐复购</a:t>
              </a:r>
            </a:p>
          </p:txBody>
        </p:sp>
        <p:sp>
          <p:nvSpPr>
            <p:cNvPr id="52" name="Line 52"/>
            <p:cNvSpPr/>
            <p:nvPr/>
          </p:nvSpPr>
          <p:spPr>
            <a:xfrm>
              <a:off x="1971675" y="3667125"/>
              <a:ext cx="4162425" cy="1"/>
            </a:xfrm>
            <a:prstGeom prst="line">
              <a:avLst/>
            </a:prstGeom>
            <a:noFill/>
            <a:ln w="11430">
              <a:solidFill>
                <a:srgbClr val="8C8C8C"/>
              </a:solidFill>
              <a:tailEnd type="triangle" w="lg" len="lg"/>
            </a:ln>
          </p:spPr>
        </p:sp>
        <p:sp>
          <p:nvSpPr>
            <p:cNvPr id="53" name="TextBox 53"/>
            <p:cNvSpPr txBox="1"/>
            <p:nvPr/>
          </p:nvSpPr>
          <p:spPr>
            <a:xfrm>
              <a:off x="3832111" y="35113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触达成功</a:t>
              </a:r>
            </a:p>
          </p:txBody>
        </p:sp>
        <p:sp>
          <p:nvSpPr>
            <p:cNvPr id="54" name="Freeform 54"/>
            <p:cNvSpPr/>
            <p:nvPr/>
          </p:nvSpPr>
          <p:spPr>
            <a:xfrm>
              <a:off x="1971675" y="4381500"/>
              <a:ext cx="1228725" cy="95250"/>
            </a:xfrm>
            <a:custGeom>
              <a:avLst/>
              <a:gdLst/>
              <a:ahLst/>
              <a:cxnLst/>
              <a:rect l="l" t="t" r="r" b="b"/>
              <a:pathLst>
                <a:path w="1228725" h="95250">
                  <a:moveTo>
                    <a:pt x="0" y="95250"/>
                  </a:moveTo>
                  <a:lnTo>
                    <a:pt x="504825" y="95250"/>
                  </a:lnTo>
                  <a:lnTo>
                    <a:pt x="504825" y="0"/>
                  </a:lnTo>
                  <a:lnTo>
                    <a:pt x="1228725" y="0"/>
                  </a:lnTo>
                </a:path>
              </a:pathLst>
            </a:custGeom>
            <a:noFill/>
            <a:ln w="11430">
              <a:solidFill>
                <a:srgbClr val="8C8C8C"/>
              </a:solidFill>
              <a:tailEnd type="triangle" w="lg" len="lg"/>
            </a:ln>
          </p:spPr>
        </p:sp>
        <p:sp>
          <p:nvSpPr>
            <p:cNvPr id="55" name="Freeform 55"/>
            <p:cNvSpPr/>
            <p:nvPr/>
          </p:nvSpPr>
          <p:spPr>
            <a:xfrm>
              <a:off x="2476500" y="4476750"/>
              <a:ext cx="723900" cy="857250"/>
            </a:xfrm>
            <a:custGeom>
              <a:avLst/>
              <a:gdLst/>
              <a:ahLst/>
              <a:cxnLst/>
              <a:rect l="l" t="t" r="r" b="b"/>
              <a:pathLst>
                <a:path w="723900" h="857250">
                  <a:moveTo>
                    <a:pt x="0" y="0"/>
                  </a:moveTo>
                  <a:lnTo>
                    <a:pt x="0" y="857250"/>
                  </a:lnTo>
                  <a:lnTo>
                    <a:pt x="723900" y="857250"/>
                  </a:lnTo>
                </a:path>
              </a:pathLst>
            </a:custGeom>
            <a:noFill/>
            <a:ln w="11430">
              <a:solidFill>
                <a:srgbClr val="8C8C8C"/>
              </a:solidFill>
              <a:tailEnd type="triangle" w="lg" len="lg"/>
            </a:ln>
          </p:spPr>
        </p:sp>
        <p:sp>
          <p:nvSpPr>
            <p:cNvPr id="56" name="TextBox 56"/>
            <p:cNvSpPr txBox="1"/>
            <p:nvPr/>
          </p:nvSpPr>
          <p:spPr>
            <a:xfrm>
              <a:off x="2072259" y="467344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触达​</a:t>
              </a:r>
              <a:br/>
              <a:r>
                <a:rPr lang="zh-CN" sz="820" dirty="0">
                  <a:solidFill>
                    <a:srgbClr val="333333"/>
                  </a:solidFill>
                  <a:latin typeface="+mn-lt"/>
                  <a:ea typeface="+mn-ea"/>
                  <a:cs typeface="+mn-cs"/>
                </a:rPr>
                <a:t>失败​</a:t>
              </a:r>
            </a:p>
          </p:txBody>
        </p:sp>
        <p:sp>
          <p:nvSpPr>
            <p:cNvPr id="57" name="Line 57"/>
            <p:cNvSpPr/>
            <p:nvPr/>
          </p:nvSpPr>
          <p:spPr>
            <a:xfrm>
              <a:off x="4629150" y="4381500"/>
              <a:ext cx="1504950" cy="1"/>
            </a:xfrm>
            <a:prstGeom prst="line">
              <a:avLst/>
            </a:prstGeom>
            <a:noFill/>
            <a:ln w="11430">
              <a:solidFill>
                <a:srgbClr val="8C8C8C"/>
              </a:solidFill>
              <a:tailEnd type="triangle" w="lg" len="lg"/>
            </a:ln>
          </p:spPr>
        </p:sp>
        <p:sp>
          <p:nvSpPr>
            <p:cNvPr id="58" name="TextBox 58"/>
            <p:cNvSpPr txBox="1"/>
            <p:nvPr/>
          </p:nvSpPr>
          <p:spPr>
            <a:xfrm>
              <a:off x="5030216" y="3953589"/>
              <a:ext cx="721868" cy="383381"/>
            </a:xfrm>
            <a:prstGeom prst="rect">
              <a:avLst/>
            </a:prstGeom>
            <a:noFill/>
            <a:ln>
              <a:noFill/>
            </a:ln>
          </p:spPr>
          <p:txBody>
            <a:bodyPr wrap="none" lIns="0" tIns="0" rIns="0" bIns="0" anchor="t" anchorCtr="0">
              <a:spAutoFit/>
            </a:bodyPr>
            <a:lstStyle/>
            <a:p>
              <a:pPr algn="ctr">
                <a:lnSpc>
                  <a:spcPts val="900"/>
                </a:lnSpc>
              </a:pPr>
              <a:r>
                <a:rPr lang="zh-CN" sz="790" dirty="0">
                  <a:solidFill>
                    <a:srgbClr val="333333"/>
                  </a:solidFill>
                  <a:latin typeface="+mn-lt"/>
                  <a:ea typeface="+mn-ea"/>
                  <a:cs typeface="+mn-cs"/>
                </a:rPr>
                <a:t>1对1​</a:t>
              </a:r>
              <a:br/>
              <a:r>
                <a:rPr lang="zh-CN" sz="790" dirty="0">
                  <a:solidFill>
                    <a:srgbClr val="333333"/>
                  </a:solidFill>
                  <a:latin typeface="+mn-lt"/>
                  <a:ea typeface="+mn-ea"/>
                  <a:cs typeface="+mn-cs"/>
                </a:rPr>
                <a:t>企微/人工外呼​</a:t>
              </a:r>
              <a:br/>
              <a:r>
                <a:rPr lang="zh-CN" sz="790" dirty="0">
                  <a:solidFill>
                    <a:srgbClr val="333333"/>
                  </a:solidFill>
                  <a:latin typeface="+mn-lt"/>
                  <a:ea typeface="+mn-ea"/>
                  <a:cs typeface="+mn-cs"/>
                </a:rPr>
                <a:t>精准触达</a:t>
              </a:r>
            </a:p>
          </p:txBody>
        </p:sp>
        <p:sp>
          <p:nvSpPr>
            <p:cNvPr id="59" name="Freeform 59"/>
            <p:cNvSpPr/>
            <p:nvPr/>
          </p:nvSpPr>
          <p:spPr>
            <a:xfrm>
              <a:off x="1990725" y="5334000"/>
              <a:ext cx="3057525" cy="542925"/>
            </a:xfrm>
            <a:custGeom>
              <a:avLst/>
              <a:gdLst/>
              <a:ahLst/>
              <a:cxnLst/>
              <a:rect l="l" t="t" r="r" b="b"/>
              <a:pathLst>
                <a:path w="3057525" h="542925">
                  <a:moveTo>
                    <a:pt x="2638425" y="0"/>
                  </a:moveTo>
                  <a:lnTo>
                    <a:pt x="3057525" y="0"/>
                  </a:lnTo>
                  <a:lnTo>
                    <a:pt x="3057525" y="542925"/>
                  </a:lnTo>
                  <a:lnTo>
                    <a:pt x="0" y="542925"/>
                  </a:lnTo>
                </a:path>
              </a:pathLst>
            </a:custGeom>
            <a:noFill/>
            <a:ln w="11430">
              <a:solidFill>
                <a:srgbClr val="8C8C8C"/>
              </a:solidFill>
              <a:tailEnd type="triangle" w="lg" len="lg"/>
            </a:ln>
          </p:spPr>
        </p:sp>
        <p:sp>
          <p:nvSpPr>
            <p:cNvPr id="60" name="TextBox 60"/>
            <p:cNvSpPr txBox="1"/>
            <p:nvPr/>
          </p:nvSpPr>
          <p:spPr>
            <a:xfrm>
              <a:off x="5082159" y="553069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二次​</a:t>
              </a:r>
              <a:br/>
              <a:r>
                <a:rPr lang="zh-CN" sz="820" dirty="0">
                  <a:solidFill>
                    <a:srgbClr val="333333"/>
                  </a:solidFill>
                  <a:latin typeface="+mn-lt"/>
                  <a:ea typeface="+mn-ea"/>
                  <a:cs typeface="+mn-cs"/>
                </a:rPr>
                <a:t>触达​</a:t>
              </a:r>
            </a:p>
          </p:txBody>
        </p:sp>
        <p:sp>
          <p:nvSpPr>
            <p:cNvPr id="61" name="Line 61"/>
            <p:cNvSpPr/>
            <p:nvPr/>
          </p:nvSpPr>
          <p:spPr>
            <a:xfrm>
              <a:off x="7620000" y="4572000"/>
              <a:ext cx="1457325" cy="1"/>
            </a:xfrm>
            <a:prstGeom prst="line">
              <a:avLst/>
            </a:prstGeom>
            <a:noFill/>
            <a:ln w="11430">
              <a:solidFill>
                <a:srgbClr val="8C8C8C"/>
              </a:solidFill>
              <a:tailEnd type="triangle" w="lg" len="lg"/>
            </a:ln>
          </p:spPr>
        </p:sp>
        <p:sp>
          <p:nvSpPr>
            <p:cNvPr id="62" name="TextBox 62"/>
            <p:cNvSpPr txBox="1"/>
            <p:nvPr/>
          </p:nvSpPr>
          <p:spPr>
            <a:xfrm>
              <a:off x="8225409" y="436864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转化​</a:t>
              </a:r>
              <a:br/>
              <a:r>
                <a:rPr lang="zh-CN" sz="820" dirty="0">
                  <a:solidFill>
                    <a:srgbClr val="333333"/>
                  </a:solidFill>
                  <a:latin typeface="+mn-lt"/>
                  <a:ea typeface="+mn-ea"/>
                  <a:cs typeface="+mn-cs"/>
                </a:rPr>
                <a:t>失败​</a:t>
              </a:r>
            </a:p>
          </p:txBody>
        </p:sp>
        <p:sp>
          <p:nvSpPr>
            <p:cNvPr id="63" name="Freeform 63"/>
            <p:cNvSpPr/>
            <p:nvPr/>
          </p:nvSpPr>
          <p:spPr>
            <a:xfrm>
              <a:off x="7639050" y="3676650"/>
              <a:ext cx="3933825" cy="523875"/>
            </a:xfrm>
            <a:custGeom>
              <a:avLst/>
              <a:gdLst/>
              <a:ahLst/>
              <a:cxnLst/>
              <a:rect l="l" t="t" r="r" b="b"/>
              <a:pathLst>
                <a:path w="3933825" h="523875">
                  <a:moveTo>
                    <a:pt x="3476625" y="523875"/>
                  </a:moveTo>
                  <a:lnTo>
                    <a:pt x="3933825" y="523875"/>
                  </a:lnTo>
                  <a:lnTo>
                    <a:pt x="3933825" y="0"/>
                  </a:lnTo>
                  <a:lnTo>
                    <a:pt x="0" y="0"/>
                  </a:lnTo>
                </a:path>
              </a:pathLst>
            </a:custGeom>
            <a:noFill/>
            <a:ln w="11430">
              <a:solidFill>
                <a:srgbClr val="8C8C8C"/>
              </a:solidFill>
              <a:tailEnd type="triangle" w="lg" len="lg"/>
            </a:ln>
          </p:spPr>
        </p:sp>
        <p:sp>
          <p:nvSpPr>
            <p:cNvPr id="64" name="TextBox 64"/>
            <p:cNvSpPr txBox="1"/>
            <p:nvPr/>
          </p:nvSpPr>
          <p:spPr>
            <a:xfrm>
              <a:off x="9153196" y="3511391"/>
              <a:ext cx="743608"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1对1精准触达​</a:t>
              </a:r>
            </a:p>
          </p:txBody>
        </p:sp>
        <p:sp>
          <p:nvSpPr>
            <p:cNvPr id="65" name="Line 65"/>
            <p:cNvSpPr/>
            <p:nvPr/>
          </p:nvSpPr>
          <p:spPr>
            <a:xfrm>
              <a:off x="7620000" y="5810250"/>
              <a:ext cx="1276350" cy="1"/>
            </a:xfrm>
            <a:prstGeom prst="line">
              <a:avLst/>
            </a:prstGeom>
            <a:noFill/>
            <a:ln w="11430">
              <a:solidFill>
                <a:srgbClr val="8C8C8C"/>
              </a:solidFill>
              <a:tailEnd type="triangle" w="lg" len="lg"/>
            </a:ln>
          </p:spPr>
        </p:sp>
        <p:sp>
          <p:nvSpPr>
            <p:cNvPr id="66" name="Freeform 66"/>
            <p:cNvSpPr/>
            <p:nvPr/>
          </p:nvSpPr>
          <p:spPr>
            <a:xfrm>
              <a:off x="1238250" y="5810250"/>
              <a:ext cx="10334625" cy="438150"/>
            </a:xfrm>
            <a:custGeom>
              <a:avLst/>
              <a:gdLst/>
              <a:ahLst/>
              <a:cxnLst/>
              <a:rect l="l" t="t" r="r" b="b"/>
              <a:pathLst>
                <a:path w="10334625" h="438150">
                  <a:moveTo>
                    <a:pt x="10029825" y="0"/>
                  </a:moveTo>
                  <a:lnTo>
                    <a:pt x="10334625" y="0"/>
                  </a:lnTo>
                  <a:lnTo>
                    <a:pt x="10334625" y="438150"/>
                  </a:lnTo>
                  <a:lnTo>
                    <a:pt x="0" y="438150"/>
                  </a:lnTo>
                  <a:lnTo>
                    <a:pt x="0" y="304800"/>
                  </a:lnTo>
                </a:path>
              </a:pathLst>
            </a:custGeom>
            <a:noFill/>
            <a:ln w="11430">
              <a:solidFill>
                <a:srgbClr val="8C8C8C"/>
              </a:solidFill>
              <a:tailEnd type="triangle" w="lg" len="lg"/>
            </a:ln>
          </p:spPr>
        </p:sp>
      </p:grpSp>
      <p:grpSp>
        <p:nvGrpSpPr>
          <p:cNvPr id="70" name="footer"/>
          <p:cNvGrpSpPr/>
          <p:nvPr/>
        </p:nvGrpSpPr>
        <p:grpSpPr>
          <a:xfrm>
            <a:off x="0" y="6438900"/>
            <a:ext cx="12192000" cy="342900"/>
            <a:chOff x="0" y="6438900"/>
            <a:chExt cx="12192000" cy="342900"/>
          </a:xfrm>
        </p:grpSpPr>
        <p:sp>
          <p:nvSpPr>
            <p:cNvPr id="68" name="Line 68"/>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69" name="TextBox 69"/>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27​</a:t>
              </a:r>
            </a:p>
          </p:txBody>
        </p:sp>
        <p:sp>
          <p:nvSpPr>
            <p:cNvPr id="4" name="TextBox 4"/>
            <p:cNvSpPr txBox="1"/>
            <p:nvPr/>
          </p:nvSpPr>
          <p:spPr>
            <a:xfrm>
              <a:off x="885444" y="160973"/>
              <a:ext cx="887755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2.3.1 运营组织支撑｜</a:t>
              </a:r>
              <a:r>
                <a:rPr lang="zh-CN" sz="1950" b="1" dirty="0">
                  <a:solidFill>
                    <a:srgbClr val="E74726"/>
                  </a:solidFill>
                  <a:latin typeface="+mj-lt"/>
                  <a:ea typeface="+mj-ea"/>
                  <a:cs typeface="+mj-cs"/>
                </a:rPr>
                <a:t>总行直营与总分协同，构建长尾客群组织模式</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8383518" cy="249364"/>
            <a:chOff x="374523" y="681514"/>
            <a:chExt cx="8383518" cy="249364"/>
          </a:xfrm>
        </p:grpSpPr>
        <p:sp>
          <p:nvSpPr>
            <p:cNvPr id="16" name="TextBox 16"/>
            <p:cNvSpPr txBox="1"/>
            <p:nvPr/>
          </p:nvSpPr>
          <p:spPr>
            <a:xfrm>
              <a:off x="374523" y="681514"/>
              <a:ext cx="8383518"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采用总行直营、总分协同直营两类组织模式，兼顾顶层策略统筹与属地化灵活落地，实现长尾客群集约化经营​</a:t>
              </a:r>
            </a:p>
          </p:txBody>
        </p:sp>
      </p:grpSp>
      <p:grpSp>
        <p:nvGrpSpPr>
          <p:cNvPr id="19" name="guide"/>
          <p:cNvGrpSpPr/>
          <p:nvPr/>
        </p:nvGrpSpPr>
        <p:grpSpPr>
          <a:xfrm>
            <a:off x="376047" y="990124"/>
            <a:ext cx="7060565" cy="371666"/>
            <a:chOff x="376047" y="990124"/>
            <a:chExt cx="7060565" cy="371666"/>
          </a:xfrm>
        </p:grpSpPr>
        <p:sp>
          <p:nvSpPr>
            <p:cNvPr id="18" name="TextBox 18"/>
            <p:cNvSpPr txBox="1"/>
            <p:nvPr/>
          </p:nvSpPr>
          <p:spPr>
            <a:xfrm>
              <a:off x="376047" y="990124"/>
              <a:ext cx="7060565"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长尾客群可选用总行直营、总分协同直营两类组织模式。总行直营将经营权限上收，组建专业化团队负责策略、触达及线上运​​​</a:t>
              </a:r>
              <a:br/>
              <a:r>
                <a:rPr lang="zh-CN" sz="980" dirty="0">
                  <a:solidFill>
                    <a:srgbClr val="333333"/>
                  </a:solidFill>
                  <a:latin typeface="+mn-lt"/>
                  <a:ea typeface="+mn-ea"/>
                  <a:cs typeface="+mn-cs"/>
                </a:rPr>
                <a:t>营；总分协同模式坚持总行顶层赋能、分行属地落地，兼顾集中管控与区域适配，缓解网点运营压力，提升客群经营效能​​</a:t>
              </a:r>
            </a:p>
          </p:txBody>
        </p:sp>
      </p:grpSp>
      <p:grpSp>
        <p:nvGrpSpPr>
          <p:cNvPr id="52" name="mode-hq"/>
          <p:cNvGrpSpPr/>
          <p:nvPr/>
        </p:nvGrpSpPr>
        <p:grpSpPr>
          <a:xfrm>
            <a:off x="381000" y="1428750"/>
            <a:ext cx="11430000" cy="2362200"/>
            <a:chOff x="381000" y="1428750"/>
            <a:chExt cx="11430000" cy="2362200"/>
          </a:xfrm>
        </p:grpSpPr>
        <p:sp>
          <p:nvSpPr>
            <p:cNvPr id="20" name="Rectangle 20"/>
            <p:cNvSpPr/>
            <p:nvPr/>
          </p:nvSpPr>
          <p:spPr>
            <a:xfrm>
              <a:off x="381000" y="1428750"/>
              <a:ext cx="495300" cy="2362200"/>
            </a:xfrm>
            <a:prstGeom prst="roundRect">
              <a:avLst>
                <a:gd name="adj" fmla="val 15385"/>
              </a:avLst>
            </a:prstGeom>
            <a:solidFill>
              <a:srgbClr val="932F1B"/>
            </a:solidFill>
            <a:ln>
              <a:noFill/>
            </a:ln>
          </p:spPr>
        </p:sp>
        <p:sp>
          <p:nvSpPr>
            <p:cNvPr id="21" name="TextBox 21"/>
            <p:cNvSpPr txBox="1"/>
            <p:nvPr/>
          </p:nvSpPr>
          <p:spPr>
            <a:xfrm>
              <a:off x="493954" y="1948339"/>
              <a:ext cx="269392" cy="1392364"/>
            </a:xfrm>
            <a:prstGeom prst="rect">
              <a:avLst/>
            </a:prstGeom>
            <a:noFill/>
            <a:ln>
              <a:noFill/>
            </a:ln>
          </p:spPr>
          <p:txBody>
            <a:bodyPr wrap="none" lIns="0" tIns="0" rIns="0" bIns="0" anchor="t" anchorCtr="0">
              <a:spAutoFit/>
            </a:bodyPr>
            <a:lstStyle/>
            <a:p>
              <a:pPr algn="ctr">
                <a:lnSpc>
                  <a:spcPts val="1800"/>
                </a:lnSpc>
              </a:pPr>
              <a:r>
                <a:rPr lang="zh-CN" sz="1280" b="1" dirty="0">
                  <a:solidFill>
                    <a:srgbClr val="FFFFFF"/>
                  </a:solidFill>
                  <a:latin typeface="+mn-lt"/>
                  <a:ea typeface="+mn-ea"/>
                  <a:cs typeface="+mn-cs"/>
                </a:rPr>
                <a:t>总​</a:t>
              </a:r>
              <a:br/>
              <a:r>
                <a:rPr lang="zh-CN" sz="1280" b="1" dirty="0">
                  <a:solidFill>
                    <a:srgbClr val="FFFFFF"/>
                  </a:solidFill>
                  <a:latin typeface="+mn-lt"/>
                  <a:ea typeface="+mn-ea"/>
                  <a:cs typeface="+mn-cs"/>
                </a:rPr>
                <a:t>行​</a:t>
              </a:r>
              <a:br/>
              <a:r>
                <a:rPr lang="zh-CN" sz="1280" b="1" dirty="0">
                  <a:solidFill>
                    <a:srgbClr val="FFFFFF"/>
                  </a:solidFill>
                  <a:latin typeface="+mn-lt"/>
                  <a:ea typeface="+mn-ea"/>
                  <a:cs typeface="+mn-cs"/>
                </a:rPr>
                <a:t>直​</a:t>
              </a:r>
              <a:br/>
              <a:r>
                <a:rPr lang="zh-CN" sz="1280" b="1" dirty="0">
                  <a:solidFill>
                    <a:srgbClr val="FFFFFF"/>
                  </a:solidFill>
                  <a:latin typeface="+mn-lt"/>
                  <a:ea typeface="+mn-ea"/>
                  <a:cs typeface="+mn-cs"/>
                </a:rPr>
                <a:t>营​</a:t>
              </a:r>
              <a:br/>
              <a:r>
                <a:rPr lang="zh-CN" sz="1280" b="1" dirty="0">
                  <a:solidFill>
                    <a:srgbClr val="FFFFFF"/>
                  </a:solidFill>
                  <a:latin typeface="+mn-lt"/>
                  <a:ea typeface="+mn-ea"/>
                  <a:cs typeface="+mn-cs"/>
                </a:rPr>
                <a:t>模​</a:t>
              </a:r>
              <a:br/>
              <a:r>
                <a:rPr lang="zh-CN" sz="1280" b="1" dirty="0">
                  <a:solidFill>
                    <a:srgbClr val="FFFFFF"/>
                  </a:solidFill>
                  <a:latin typeface="+mn-lt"/>
                  <a:ea typeface="+mn-ea"/>
                  <a:cs typeface="+mn-cs"/>
                </a:rPr>
                <a:t>式​</a:t>
              </a:r>
            </a:p>
          </p:txBody>
        </p:sp>
        <p:sp>
          <p:nvSpPr>
            <p:cNvPr id="22" name="Rectangle 22"/>
            <p:cNvSpPr/>
            <p:nvPr/>
          </p:nvSpPr>
          <p:spPr>
            <a:xfrm>
              <a:off x="952500" y="1428750"/>
              <a:ext cx="10858500" cy="2362200"/>
            </a:xfrm>
            <a:prstGeom prst="roundRect">
              <a:avLst>
                <a:gd name="adj" fmla="val 4032"/>
              </a:avLst>
            </a:prstGeom>
            <a:solidFill>
              <a:srgbClr val="F7FAFF"/>
            </a:solidFill>
            <a:ln w="14288">
              <a:solidFill>
                <a:srgbClr val="D4E2FA"/>
              </a:solidFill>
            </a:ln>
          </p:spPr>
        </p:sp>
        <p:sp>
          <p:nvSpPr>
            <p:cNvPr id="23" name="TextBox 23"/>
            <p:cNvSpPr txBox="1"/>
            <p:nvPr/>
          </p:nvSpPr>
          <p:spPr>
            <a:xfrm>
              <a:off x="1138047" y="1561624"/>
              <a:ext cx="5623425"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将全行长尾客群经营权集中上收至总行，由总行零售板块统筹，下设三支专业化团队各司其职。​</a:t>
              </a:r>
            </a:p>
          </p:txBody>
        </p:sp>
        <p:grpSp>
          <p:nvGrpSpPr>
            <p:cNvPr id="31" name="team-strategy"/>
            <p:cNvGrpSpPr/>
            <p:nvPr/>
          </p:nvGrpSpPr>
          <p:grpSpPr>
            <a:xfrm>
              <a:off x="1143000" y="1809750"/>
              <a:ext cx="3381375" cy="952500"/>
              <a:chOff x="1143000" y="1809750"/>
              <a:chExt cx="3381375" cy="952500"/>
            </a:xfrm>
          </p:grpSpPr>
          <p:sp>
            <p:nvSpPr>
              <p:cNvPr id="24" name="Rectangle 24"/>
              <p:cNvSpPr/>
              <p:nvPr/>
            </p:nvSpPr>
            <p:spPr>
              <a:xfrm>
                <a:off x="1143000" y="1809750"/>
                <a:ext cx="3381375" cy="247650"/>
              </a:xfrm>
              <a:prstGeom prst="rect">
                <a:avLst/>
              </a:prstGeom>
              <a:solidFill>
                <a:srgbClr val="D4E2FA"/>
              </a:solidFill>
              <a:ln>
                <a:noFill/>
              </a:ln>
            </p:spPr>
          </p:sp>
          <p:sp>
            <p:nvSpPr>
              <p:cNvPr id="25" name="TextBox 25"/>
              <p:cNvSpPr txBox="1"/>
              <p:nvPr/>
            </p:nvSpPr>
            <p:spPr>
              <a:xfrm>
                <a:off x="2317991" y="1879997"/>
                <a:ext cx="1021867"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长尾客群经营团队</a:t>
                </a:r>
              </a:p>
            </p:txBody>
          </p:sp>
          <p:sp>
            <p:nvSpPr>
              <p:cNvPr id="26" name="Rectangle 26"/>
              <p:cNvSpPr/>
              <p:nvPr/>
            </p:nvSpPr>
            <p:spPr>
              <a:xfrm>
                <a:off x="1143000" y="2057400"/>
                <a:ext cx="3381375" cy="228600"/>
              </a:xfrm>
              <a:prstGeom prst="rect">
                <a:avLst/>
              </a:prstGeom>
              <a:solidFill>
                <a:srgbClr val="EEEEEE"/>
              </a:solidFill>
              <a:ln>
                <a:noFill/>
              </a:ln>
            </p:spPr>
          </p:sp>
          <p:sp>
            <p:nvSpPr>
              <p:cNvPr id="27" name="TextBox 27"/>
              <p:cNvSpPr txBox="1"/>
              <p:nvPr/>
            </p:nvSpPr>
            <p:spPr>
              <a:xfrm>
                <a:off x="2581846" y="21221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策略统筹</a:t>
                </a:r>
              </a:p>
            </p:txBody>
          </p:sp>
          <p:sp>
            <p:nvSpPr>
              <p:cNvPr id="28" name="Rectangle 28"/>
              <p:cNvSpPr/>
              <p:nvPr/>
            </p:nvSpPr>
            <p:spPr>
              <a:xfrm>
                <a:off x="1143000" y="2324100"/>
                <a:ext cx="3381375" cy="438150"/>
              </a:xfrm>
              <a:prstGeom prst="rect">
                <a:avLst/>
              </a:prstGeom>
              <a:solidFill>
                <a:srgbClr val="FFFFFF"/>
              </a:solidFill>
              <a:ln w="9525">
                <a:solidFill>
                  <a:srgbClr val="F1917D"/>
                </a:solidFill>
                <a:custDash>
                  <a:ds d="400000" sp="300000"/>
                </a:custDash>
              </a:ln>
            </p:spPr>
          </p:sp>
          <p:sp>
            <p:nvSpPr>
              <p:cNvPr id="29" name="Ellipse 29"/>
              <p:cNvSpPr/>
              <p:nvPr/>
            </p:nvSpPr>
            <p:spPr>
              <a:xfrm>
                <a:off x="1257300" y="2466975"/>
                <a:ext cx="38100" cy="38100"/>
              </a:xfrm>
              <a:prstGeom prst="ellipse">
                <a:avLst/>
              </a:prstGeom>
              <a:solidFill>
                <a:srgbClr val="333333"/>
              </a:solidFill>
              <a:ln>
                <a:noFill/>
              </a:ln>
            </p:spPr>
          </p:sp>
          <p:sp>
            <p:nvSpPr>
              <p:cNvPr id="30" name="TextBox 30"/>
              <p:cNvSpPr txBox="1"/>
              <p:nvPr/>
            </p:nvSpPr>
            <p:spPr>
              <a:xfrm>
                <a:off x="1366838" y="2431018"/>
                <a:ext cx="2363216"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负责长尾客户分层分群、经营数据分析、营销策​</a:t>
                </a:r>
                <a:br/>
                <a:r>
                  <a:rPr lang="zh-CN" sz="860" dirty="0">
                    <a:solidFill>
                      <a:srgbClr val="333333"/>
                    </a:solidFill>
                    <a:latin typeface="+mn-lt"/>
                    <a:ea typeface="+mn-ea"/>
                    <a:cs typeface="+mn-cs"/>
                  </a:rPr>
                  <a:t>略制定、活动设计及全行运营标准统一搭建</a:t>
                </a:r>
              </a:p>
            </p:txBody>
          </p:sp>
        </p:grpSp>
        <p:grpSp>
          <p:nvGrpSpPr>
            <p:cNvPr id="39" name="team-remote"/>
            <p:cNvGrpSpPr/>
            <p:nvPr/>
          </p:nvGrpSpPr>
          <p:grpSpPr>
            <a:xfrm>
              <a:off x="4714875" y="1809750"/>
              <a:ext cx="3381375" cy="952500"/>
              <a:chOff x="4714875" y="1809750"/>
              <a:chExt cx="3381375" cy="952500"/>
            </a:xfrm>
          </p:grpSpPr>
          <p:sp>
            <p:nvSpPr>
              <p:cNvPr id="32" name="Rectangle 32"/>
              <p:cNvSpPr/>
              <p:nvPr/>
            </p:nvSpPr>
            <p:spPr>
              <a:xfrm>
                <a:off x="4714875" y="1809750"/>
                <a:ext cx="3381375" cy="247650"/>
              </a:xfrm>
              <a:prstGeom prst="rect">
                <a:avLst/>
              </a:prstGeom>
              <a:solidFill>
                <a:srgbClr val="D4E2FA"/>
              </a:solidFill>
              <a:ln>
                <a:noFill/>
              </a:ln>
            </p:spPr>
          </p:sp>
          <p:sp>
            <p:nvSpPr>
              <p:cNvPr id="33" name="TextBox 33"/>
              <p:cNvSpPr txBox="1"/>
              <p:nvPr/>
            </p:nvSpPr>
            <p:spPr>
              <a:xfrm>
                <a:off x="6016409" y="1879997"/>
                <a:ext cx="768782"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远程经营团队</a:t>
                </a:r>
              </a:p>
            </p:txBody>
          </p:sp>
          <p:sp>
            <p:nvSpPr>
              <p:cNvPr id="34" name="Rectangle 34"/>
              <p:cNvSpPr/>
              <p:nvPr/>
            </p:nvSpPr>
            <p:spPr>
              <a:xfrm>
                <a:off x="4714875" y="2057400"/>
                <a:ext cx="3381375" cy="228600"/>
              </a:xfrm>
              <a:prstGeom prst="rect">
                <a:avLst/>
              </a:prstGeom>
              <a:solidFill>
                <a:srgbClr val="EEEEEE"/>
              </a:solidFill>
              <a:ln>
                <a:noFill/>
              </a:ln>
            </p:spPr>
          </p:sp>
          <p:sp>
            <p:nvSpPr>
              <p:cNvPr id="35" name="TextBox 35"/>
              <p:cNvSpPr txBox="1"/>
              <p:nvPr/>
            </p:nvSpPr>
            <p:spPr>
              <a:xfrm>
                <a:off x="6153721" y="21221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远程触达</a:t>
                </a:r>
              </a:p>
            </p:txBody>
          </p:sp>
          <p:sp>
            <p:nvSpPr>
              <p:cNvPr id="36" name="Rectangle 36"/>
              <p:cNvSpPr/>
              <p:nvPr/>
            </p:nvSpPr>
            <p:spPr>
              <a:xfrm>
                <a:off x="4714875" y="2324100"/>
                <a:ext cx="3381375" cy="438150"/>
              </a:xfrm>
              <a:prstGeom prst="rect">
                <a:avLst/>
              </a:prstGeom>
              <a:solidFill>
                <a:srgbClr val="FFFFFF"/>
              </a:solidFill>
              <a:ln w="9525">
                <a:solidFill>
                  <a:srgbClr val="F1917D"/>
                </a:solidFill>
                <a:custDash>
                  <a:ds d="400000" sp="300000"/>
                </a:custDash>
              </a:ln>
            </p:spPr>
          </p:sp>
          <p:sp>
            <p:nvSpPr>
              <p:cNvPr id="37" name="Ellipse 37"/>
              <p:cNvSpPr/>
              <p:nvPr/>
            </p:nvSpPr>
            <p:spPr>
              <a:xfrm>
                <a:off x="4829175" y="2466975"/>
                <a:ext cx="38100" cy="38100"/>
              </a:xfrm>
              <a:prstGeom prst="ellipse">
                <a:avLst/>
              </a:prstGeom>
              <a:solidFill>
                <a:srgbClr val="333333"/>
              </a:solidFill>
              <a:ln>
                <a:noFill/>
              </a:ln>
            </p:spPr>
          </p:sp>
          <p:sp>
            <p:nvSpPr>
              <p:cNvPr id="38" name="TextBox 38"/>
              <p:cNvSpPr txBox="1"/>
              <p:nvPr/>
            </p:nvSpPr>
            <p:spPr>
              <a:xfrm>
                <a:off x="4938712" y="2431018"/>
                <a:ext cx="2363216"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依托企微、智能外呼、人工外呼等渠道，负责长​</a:t>
                </a:r>
                <a:br/>
                <a:r>
                  <a:rPr lang="zh-CN" sz="860" dirty="0">
                    <a:solidFill>
                      <a:srgbClr val="333333"/>
                    </a:solidFill>
                    <a:latin typeface="+mn-lt"/>
                    <a:ea typeface="+mn-ea"/>
                    <a:cs typeface="+mn-cs"/>
                  </a:rPr>
                  <a:t>尾客户的常态化触达、日常服务与需求转化工作​</a:t>
                </a:r>
              </a:p>
            </p:txBody>
          </p:sp>
        </p:grpSp>
        <p:grpSp>
          <p:nvGrpSpPr>
            <p:cNvPr id="47" name="team-online"/>
            <p:cNvGrpSpPr/>
            <p:nvPr/>
          </p:nvGrpSpPr>
          <p:grpSpPr>
            <a:xfrm>
              <a:off x="8286750" y="1809750"/>
              <a:ext cx="3381375" cy="952500"/>
              <a:chOff x="8286750" y="1809750"/>
              <a:chExt cx="3381375" cy="952500"/>
            </a:xfrm>
          </p:grpSpPr>
          <p:sp>
            <p:nvSpPr>
              <p:cNvPr id="40" name="Rectangle 40"/>
              <p:cNvSpPr/>
              <p:nvPr/>
            </p:nvSpPr>
            <p:spPr>
              <a:xfrm>
                <a:off x="8286750" y="1809750"/>
                <a:ext cx="3381375" cy="247650"/>
              </a:xfrm>
              <a:prstGeom prst="rect">
                <a:avLst/>
              </a:prstGeom>
              <a:solidFill>
                <a:srgbClr val="D4E2FA"/>
              </a:solidFill>
              <a:ln>
                <a:noFill/>
              </a:ln>
            </p:spPr>
          </p:sp>
          <p:sp>
            <p:nvSpPr>
              <p:cNvPr id="41" name="TextBox 41"/>
              <p:cNvSpPr txBox="1"/>
              <p:nvPr/>
            </p:nvSpPr>
            <p:spPr>
              <a:xfrm>
                <a:off x="9588284" y="1879997"/>
                <a:ext cx="768782"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线上运营团队</a:t>
                </a:r>
              </a:p>
            </p:txBody>
          </p:sp>
          <p:sp>
            <p:nvSpPr>
              <p:cNvPr id="42" name="Rectangle 42"/>
              <p:cNvSpPr/>
              <p:nvPr/>
            </p:nvSpPr>
            <p:spPr>
              <a:xfrm>
                <a:off x="8286750" y="2057400"/>
                <a:ext cx="3381375" cy="228600"/>
              </a:xfrm>
              <a:prstGeom prst="rect">
                <a:avLst/>
              </a:prstGeom>
              <a:solidFill>
                <a:srgbClr val="EEEEEE"/>
              </a:solidFill>
              <a:ln>
                <a:noFill/>
              </a:ln>
            </p:spPr>
          </p:sp>
          <p:sp>
            <p:nvSpPr>
              <p:cNvPr id="43" name="TextBox 43"/>
              <p:cNvSpPr txBox="1"/>
              <p:nvPr/>
            </p:nvSpPr>
            <p:spPr>
              <a:xfrm>
                <a:off x="9725596" y="21221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线上落地</a:t>
                </a:r>
              </a:p>
            </p:txBody>
          </p:sp>
          <p:sp>
            <p:nvSpPr>
              <p:cNvPr id="44" name="Rectangle 44"/>
              <p:cNvSpPr/>
              <p:nvPr/>
            </p:nvSpPr>
            <p:spPr>
              <a:xfrm>
                <a:off x="8286750" y="2324100"/>
                <a:ext cx="3381375" cy="438150"/>
              </a:xfrm>
              <a:prstGeom prst="rect">
                <a:avLst/>
              </a:prstGeom>
              <a:solidFill>
                <a:srgbClr val="FFFFFF"/>
              </a:solidFill>
              <a:ln w="9525">
                <a:solidFill>
                  <a:srgbClr val="F1917D"/>
                </a:solidFill>
                <a:custDash>
                  <a:ds d="400000" sp="300000"/>
                </a:custDash>
              </a:ln>
            </p:spPr>
          </p:sp>
          <p:sp>
            <p:nvSpPr>
              <p:cNvPr id="45" name="Ellipse 45"/>
              <p:cNvSpPr/>
              <p:nvPr/>
            </p:nvSpPr>
            <p:spPr>
              <a:xfrm>
                <a:off x="8401050" y="2466975"/>
                <a:ext cx="38100" cy="38100"/>
              </a:xfrm>
              <a:prstGeom prst="ellipse">
                <a:avLst/>
              </a:prstGeom>
              <a:solidFill>
                <a:srgbClr val="333333"/>
              </a:solidFill>
              <a:ln>
                <a:noFill/>
              </a:ln>
            </p:spPr>
          </p:sp>
          <p:sp>
            <p:nvSpPr>
              <p:cNvPr id="46" name="TextBox 46"/>
              <p:cNvSpPr txBox="1"/>
              <p:nvPr/>
            </p:nvSpPr>
            <p:spPr>
              <a:xfrm>
                <a:off x="8510588" y="2431018"/>
                <a:ext cx="2363216"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负责落地长尾客群在线上渠道策略的投放，如线​</a:t>
                </a:r>
                <a:br/>
                <a:r>
                  <a:rPr lang="zh-CN" sz="860" dirty="0">
                    <a:solidFill>
                      <a:srgbClr val="333333"/>
                    </a:solidFill>
                    <a:latin typeface="+mn-lt"/>
                    <a:ea typeface="+mn-ea"/>
                    <a:cs typeface="+mn-cs"/>
                  </a:rPr>
                  <a:t>上场景搭建、常态化营销活动落地等</a:t>
                </a:r>
              </a:p>
            </p:txBody>
          </p:sp>
        </p:grpSp>
        <p:sp>
          <p:nvSpPr>
            <p:cNvPr id="48" name="Rectangle 48"/>
            <p:cNvSpPr/>
            <p:nvPr/>
          </p:nvSpPr>
          <p:spPr>
            <a:xfrm>
              <a:off x="1143000" y="3067050"/>
              <a:ext cx="762000" cy="228600"/>
            </a:xfrm>
            <a:prstGeom prst="rect">
              <a:avLst/>
            </a:prstGeom>
            <a:solidFill>
              <a:srgbClr val="D4E2FA"/>
            </a:solidFill>
            <a:ln>
              <a:noFill/>
            </a:ln>
          </p:spPr>
        </p:sp>
        <p:sp>
          <p:nvSpPr>
            <p:cNvPr id="49" name="TextBox 49"/>
            <p:cNvSpPr txBox="1"/>
            <p:nvPr/>
          </p:nvSpPr>
          <p:spPr>
            <a:xfrm>
              <a:off x="1276922" y="3131820"/>
              <a:ext cx="494157" cy="176212"/>
            </a:xfrm>
            <a:prstGeom prst="rect">
              <a:avLst/>
            </a:prstGeom>
            <a:noFill/>
            <a:ln>
              <a:noFill/>
            </a:ln>
          </p:spPr>
          <p:txBody>
            <a:bodyPr wrap="none" lIns="0" tIns="0" rIns="0" bIns="0" anchor="t" anchorCtr="0">
              <a:spAutoFit/>
            </a:bodyPr>
            <a:lstStyle/>
            <a:p>
              <a:pPr algn="ctr"/>
              <a:r>
                <a:rPr lang="zh-CN" sz="900" dirty="0">
                  <a:solidFill>
                    <a:srgbClr val="E74726"/>
                  </a:solidFill>
                  <a:latin typeface="+mn-lt"/>
                  <a:ea typeface="+mn-ea"/>
                  <a:cs typeface="+mn-cs"/>
                </a:rPr>
                <a:t>标杆案例</a:t>
              </a:r>
            </a:p>
          </p:txBody>
        </p:sp>
        <p:sp>
          <p:nvSpPr>
            <p:cNvPr id="50" name="TextBox 50"/>
            <p:cNvSpPr txBox="1"/>
            <p:nvPr/>
          </p:nvSpPr>
          <p:spPr>
            <a:xfrm>
              <a:off x="2043112" y="2916793"/>
              <a:ext cx="8228330"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 xml:space="preserve">✓ </a:t>
              </a:r>
              <a:r>
                <a:rPr lang="zh-CN" sz="860" b="1" dirty="0">
                  <a:solidFill>
                    <a:srgbClr val="333333"/>
                  </a:solidFill>
                  <a:latin typeface="+mn-lt"/>
                  <a:ea typeface="+mn-ea"/>
                  <a:cs typeface="+mn-cs"/>
                </a:rPr>
                <a:t>招商银行：</a:t>
              </a:r>
              <a:r>
                <a:rPr lang="zh-CN" sz="860" dirty="0">
                  <a:solidFill>
                    <a:srgbClr val="333333"/>
                  </a:solidFill>
                  <a:latin typeface="+mn-lt"/>
                  <a:ea typeface="+mn-ea"/>
                  <a:cs typeface="+mn-cs"/>
                </a:rPr>
                <a:t>AUM≤20万客户收归总行零售客群部，下设客群综合团队、基础客群团队（主管AUM≤5万大众客户）、双金客群团队、远程经营服务中心（承担负​​​​​​​​​​</a:t>
              </a:r>
              <a:br/>
              <a:r>
                <a:rPr lang="zh-CN" sz="860" dirty="0">
                  <a:solidFill>
                    <a:srgbClr val="333333"/>
                  </a:solidFill>
                  <a:latin typeface="+mn-lt"/>
                  <a:ea typeface="+mn-ea"/>
                  <a:cs typeface="+mn-cs"/>
                </a:rPr>
                <a:t xml:space="preserve">　责AUM20万元以下客户批量触达）等专职部门。​​</a:t>
              </a:r>
            </a:p>
          </p:txBody>
        </p:sp>
        <p:sp>
          <p:nvSpPr>
            <p:cNvPr id="51" name="TextBox 51"/>
            <p:cNvSpPr txBox="1"/>
            <p:nvPr/>
          </p:nvSpPr>
          <p:spPr>
            <a:xfrm>
              <a:off x="2043112" y="3354943"/>
              <a:ext cx="8644567" cy="169069"/>
            </a:xfrm>
            <a:prstGeom prst="rect">
              <a:avLst/>
            </a:prstGeom>
            <a:noFill/>
            <a:ln>
              <a:noFill/>
            </a:ln>
          </p:spPr>
          <p:txBody>
            <a:bodyPr wrap="none" lIns="0" tIns="0" rIns="0" bIns="0" anchor="t" anchorCtr="0">
              <a:spAutoFit/>
            </a:bodyPr>
            <a:lstStyle/>
            <a:p>
              <a:pPr algn="l"/>
              <a:r>
                <a:rPr lang="zh-CN" sz="860" dirty="0">
                  <a:solidFill>
                    <a:srgbClr val="333333"/>
                  </a:solidFill>
                  <a:latin typeface="+mn-lt"/>
                  <a:ea typeface="+mn-ea"/>
                  <a:cs typeface="+mn-cs"/>
                </a:rPr>
                <a:t xml:space="preserve">✓ </a:t>
              </a:r>
              <a:r>
                <a:rPr lang="zh-CN" sz="860" b="1" dirty="0">
                  <a:solidFill>
                    <a:srgbClr val="333333"/>
                  </a:solidFill>
                  <a:latin typeface="+mn-lt"/>
                  <a:ea typeface="+mn-ea"/>
                  <a:cs typeface="+mn-cs"/>
                </a:rPr>
                <a:t>中信银行：</a:t>
              </a:r>
              <a:r>
                <a:rPr lang="zh-CN" sz="860" dirty="0">
                  <a:solidFill>
                    <a:srgbClr val="333333"/>
                  </a:solidFill>
                  <a:latin typeface="+mn-lt"/>
                  <a:ea typeface="+mn-ea"/>
                  <a:cs typeface="+mn-cs"/>
                </a:rPr>
                <a:t>由财富管理部统筹，下设基础客群处主管AUM5万以下客群经营，远程客户经营处以人工与智能外呼促资产提升，网络渠道处承担线上渠道投放执行。​​​​​</a:t>
              </a:r>
            </a:p>
          </p:txBody>
        </p:sp>
      </p:grpSp>
      <p:grpSp>
        <p:nvGrpSpPr>
          <p:cNvPr id="95" name="mode-branch"/>
          <p:cNvGrpSpPr/>
          <p:nvPr/>
        </p:nvGrpSpPr>
        <p:grpSpPr>
          <a:xfrm>
            <a:off x="381000" y="3924300"/>
            <a:ext cx="11430000" cy="2381250"/>
            <a:chOff x="381000" y="3924300"/>
            <a:chExt cx="11430000" cy="2381250"/>
          </a:xfrm>
        </p:grpSpPr>
        <p:sp>
          <p:nvSpPr>
            <p:cNvPr id="53" name="Rectangle 53"/>
            <p:cNvSpPr/>
            <p:nvPr/>
          </p:nvSpPr>
          <p:spPr>
            <a:xfrm>
              <a:off x="381000" y="3924300"/>
              <a:ext cx="495300" cy="2381250"/>
            </a:xfrm>
            <a:prstGeom prst="roundRect">
              <a:avLst>
                <a:gd name="adj" fmla="val 15385"/>
              </a:avLst>
            </a:prstGeom>
            <a:solidFill>
              <a:srgbClr val="932F1B"/>
            </a:solidFill>
            <a:ln>
              <a:noFill/>
            </a:ln>
          </p:spPr>
        </p:sp>
        <p:sp>
          <p:nvSpPr>
            <p:cNvPr id="54" name="TextBox 54"/>
            <p:cNvSpPr txBox="1"/>
            <p:nvPr/>
          </p:nvSpPr>
          <p:spPr>
            <a:xfrm>
              <a:off x="493954" y="4196239"/>
              <a:ext cx="269392" cy="1925764"/>
            </a:xfrm>
            <a:prstGeom prst="rect">
              <a:avLst/>
            </a:prstGeom>
            <a:noFill/>
            <a:ln>
              <a:noFill/>
            </a:ln>
          </p:spPr>
          <p:txBody>
            <a:bodyPr wrap="none" lIns="0" tIns="0" rIns="0" bIns="0" anchor="t" anchorCtr="0">
              <a:spAutoFit/>
            </a:bodyPr>
            <a:lstStyle/>
            <a:p>
              <a:pPr algn="ctr">
                <a:lnSpc>
                  <a:spcPts val="1650"/>
                </a:lnSpc>
              </a:pPr>
              <a:r>
                <a:rPr lang="zh-CN" sz="1280" b="1" dirty="0">
                  <a:solidFill>
                    <a:srgbClr val="FFFFFF"/>
                  </a:solidFill>
                  <a:latin typeface="+mn-lt"/>
                  <a:ea typeface="+mn-ea"/>
                  <a:cs typeface="+mn-cs"/>
                </a:rPr>
                <a:t>总​</a:t>
              </a:r>
              <a:br/>
              <a:r>
                <a:rPr lang="zh-CN" sz="1280" b="1" dirty="0">
                  <a:solidFill>
                    <a:srgbClr val="FFFFFF"/>
                  </a:solidFill>
                  <a:latin typeface="+mn-lt"/>
                  <a:ea typeface="+mn-ea"/>
                  <a:cs typeface="+mn-cs"/>
                </a:rPr>
                <a:t>分​</a:t>
              </a:r>
              <a:br/>
              <a:r>
                <a:rPr lang="zh-CN" sz="1280" b="1" dirty="0">
                  <a:solidFill>
                    <a:srgbClr val="FFFFFF"/>
                  </a:solidFill>
                  <a:latin typeface="+mn-lt"/>
                  <a:ea typeface="+mn-ea"/>
                  <a:cs typeface="+mn-cs"/>
                </a:rPr>
                <a:t>行​</a:t>
              </a:r>
              <a:br/>
              <a:r>
                <a:rPr lang="zh-CN" sz="1280" b="1" dirty="0">
                  <a:solidFill>
                    <a:srgbClr val="FFFFFF"/>
                  </a:solidFill>
                  <a:latin typeface="+mn-lt"/>
                  <a:ea typeface="+mn-ea"/>
                  <a:cs typeface="+mn-cs"/>
                </a:rPr>
                <a:t>协​</a:t>
              </a:r>
              <a:br/>
              <a:r>
                <a:rPr lang="zh-CN" sz="1280" b="1" dirty="0">
                  <a:solidFill>
                    <a:srgbClr val="FFFFFF"/>
                  </a:solidFill>
                  <a:latin typeface="+mn-lt"/>
                  <a:ea typeface="+mn-ea"/>
                  <a:cs typeface="+mn-cs"/>
                </a:rPr>
                <a:t>同​</a:t>
              </a:r>
              <a:br/>
              <a:r>
                <a:rPr lang="zh-CN" sz="1280" b="1" dirty="0">
                  <a:solidFill>
                    <a:srgbClr val="FFFFFF"/>
                  </a:solidFill>
                  <a:latin typeface="+mn-lt"/>
                  <a:ea typeface="+mn-ea"/>
                  <a:cs typeface="+mn-cs"/>
                </a:rPr>
                <a:t>直​</a:t>
              </a:r>
              <a:br/>
              <a:r>
                <a:rPr lang="zh-CN" sz="1280" b="1" dirty="0">
                  <a:solidFill>
                    <a:srgbClr val="FFFFFF"/>
                  </a:solidFill>
                  <a:latin typeface="+mn-lt"/>
                  <a:ea typeface="+mn-ea"/>
                  <a:cs typeface="+mn-cs"/>
                </a:rPr>
                <a:t>营​</a:t>
              </a:r>
              <a:br/>
              <a:r>
                <a:rPr lang="zh-CN" sz="1280" b="1" dirty="0">
                  <a:solidFill>
                    <a:srgbClr val="FFFFFF"/>
                  </a:solidFill>
                  <a:latin typeface="+mn-lt"/>
                  <a:ea typeface="+mn-ea"/>
                  <a:cs typeface="+mn-cs"/>
                </a:rPr>
                <a:t>模​</a:t>
              </a:r>
              <a:br/>
              <a:r>
                <a:rPr lang="zh-CN" sz="1280" b="1" dirty="0">
                  <a:solidFill>
                    <a:srgbClr val="FFFFFF"/>
                  </a:solidFill>
                  <a:latin typeface="+mn-lt"/>
                  <a:ea typeface="+mn-ea"/>
                  <a:cs typeface="+mn-cs"/>
                </a:rPr>
                <a:t>式​</a:t>
              </a:r>
            </a:p>
          </p:txBody>
        </p:sp>
        <p:sp>
          <p:nvSpPr>
            <p:cNvPr id="55" name="Rectangle 55"/>
            <p:cNvSpPr/>
            <p:nvPr/>
          </p:nvSpPr>
          <p:spPr>
            <a:xfrm>
              <a:off x="952500" y="3924300"/>
              <a:ext cx="10858500" cy="2381250"/>
            </a:xfrm>
            <a:prstGeom prst="roundRect">
              <a:avLst>
                <a:gd name="adj" fmla="val 4000"/>
              </a:avLst>
            </a:prstGeom>
            <a:solidFill>
              <a:srgbClr val="F7FAFF"/>
            </a:solidFill>
            <a:ln w="14288">
              <a:solidFill>
                <a:srgbClr val="D4E2FA"/>
              </a:solidFill>
            </a:ln>
          </p:spPr>
        </p:sp>
        <p:sp>
          <p:nvSpPr>
            <p:cNvPr id="56" name="TextBox 56"/>
            <p:cNvSpPr txBox="1"/>
            <p:nvPr/>
          </p:nvSpPr>
          <p:spPr>
            <a:xfrm>
              <a:off x="1138047" y="4057174"/>
              <a:ext cx="9020561"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采用“总行顶层赋能、分行属地落地”双层架构，适配大行网点广覆盖、区域差异大、属地客群分化的经营特点，弥补单一总行直营灵活性不足的短板。​​​​</a:t>
              </a:r>
            </a:p>
          </p:txBody>
        </p:sp>
        <p:grpSp>
          <p:nvGrpSpPr>
            <p:cNvPr id="73" name="org-hq"/>
            <p:cNvGrpSpPr/>
            <p:nvPr/>
          </p:nvGrpSpPr>
          <p:grpSpPr>
            <a:xfrm>
              <a:off x="1428750" y="4305300"/>
              <a:ext cx="3714750" cy="1219200"/>
              <a:chOff x="1428750" y="4305300"/>
              <a:chExt cx="3714750" cy="1219200"/>
            </a:xfrm>
          </p:grpSpPr>
          <p:sp>
            <p:nvSpPr>
              <p:cNvPr id="57" name="Freeform 57"/>
              <p:cNvSpPr/>
              <p:nvPr/>
            </p:nvSpPr>
            <p:spPr>
              <a:xfrm>
                <a:off x="1428750" y="4953000"/>
                <a:ext cx="3714750" cy="285750"/>
              </a:xfrm>
              <a:prstGeom prst="trapezoid">
                <a:avLst>
                  <a:gd name="adj" fmla="val 50000"/>
                </a:avLst>
              </a:prstGeom>
              <a:solidFill>
                <a:srgbClr val="D4E2FA"/>
              </a:solidFill>
              <a:ln>
                <a:noFill/>
              </a:ln>
            </p:spPr>
          </p:sp>
          <p:sp>
            <p:nvSpPr>
              <p:cNvPr id="58" name="Rectangle 58"/>
              <p:cNvSpPr/>
              <p:nvPr/>
            </p:nvSpPr>
            <p:spPr>
              <a:xfrm>
                <a:off x="1905000" y="4305300"/>
                <a:ext cx="2762250" cy="304800"/>
              </a:xfrm>
              <a:prstGeom prst="rect">
                <a:avLst/>
              </a:prstGeom>
              <a:solidFill>
                <a:srgbClr val="E74726"/>
              </a:solidFill>
              <a:ln>
                <a:noFill/>
              </a:ln>
            </p:spPr>
          </p:sp>
          <p:sp>
            <p:nvSpPr>
              <p:cNvPr id="59" name="TextBox 59"/>
              <p:cNvSpPr txBox="1"/>
              <p:nvPr/>
            </p:nvSpPr>
            <p:spPr>
              <a:xfrm>
                <a:off x="2621534" y="4400074"/>
                <a:ext cx="13291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总行长尾客群直营团队</a:t>
                </a:r>
              </a:p>
            </p:txBody>
          </p:sp>
          <p:sp>
            <p:nvSpPr>
              <p:cNvPr id="60" name="Line 60"/>
              <p:cNvSpPr/>
              <p:nvPr/>
            </p:nvSpPr>
            <p:spPr>
              <a:xfrm>
                <a:off x="3286125" y="4610100"/>
                <a:ext cx="9525" cy="95250"/>
              </a:xfrm>
              <a:custGeom>
                <a:avLst/>
                <a:gdLst/>
                <a:ahLst/>
                <a:cxnLst/>
                <a:rect l="l" t="t" r="r" b="b"/>
                <a:pathLst>
                  <a:path w="9525" h="95250">
                    <a:moveTo>
                      <a:pt x="0" y="0"/>
                    </a:moveTo>
                    <a:lnTo>
                      <a:pt x="0" y="95250"/>
                    </a:lnTo>
                  </a:path>
                </a:pathLst>
              </a:custGeom>
              <a:noFill/>
              <a:ln w="9525">
                <a:solidFill>
                  <a:srgbClr val="932F1B"/>
                </a:solidFill>
              </a:ln>
            </p:spPr>
          </p:sp>
          <p:sp>
            <p:nvSpPr>
              <p:cNvPr id="61" name="Rectangle 61"/>
              <p:cNvSpPr/>
              <p:nvPr/>
            </p:nvSpPr>
            <p:spPr>
              <a:xfrm>
                <a:off x="1905000" y="4705350"/>
                <a:ext cx="2762250" cy="247650"/>
              </a:xfrm>
              <a:prstGeom prst="rect">
                <a:avLst/>
              </a:prstGeom>
              <a:solidFill>
                <a:srgbClr val="FFFFFF"/>
              </a:solidFill>
              <a:ln w="9525">
                <a:solidFill>
                  <a:srgbClr val="932F1B"/>
                </a:solidFill>
              </a:ln>
            </p:spPr>
          </p:sp>
          <p:sp>
            <p:nvSpPr>
              <p:cNvPr id="62" name="TextBox 62"/>
              <p:cNvSpPr txBox="1"/>
              <p:nvPr/>
            </p:nvSpPr>
            <p:spPr>
              <a:xfrm>
                <a:off x="2857310" y="4779645"/>
                <a:ext cx="857631"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定标准、赋能力</a:t>
                </a:r>
              </a:p>
            </p:txBody>
          </p:sp>
          <p:sp>
            <p:nvSpPr>
              <p:cNvPr id="63" name="Rectangle 63"/>
              <p:cNvSpPr/>
              <p:nvPr/>
            </p:nvSpPr>
            <p:spPr>
              <a:xfrm>
                <a:off x="1428750" y="5257800"/>
                <a:ext cx="647700" cy="266700"/>
              </a:xfrm>
              <a:prstGeom prst="rect">
                <a:avLst/>
              </a:prstGeom>
              <a:solidFill>
                <a:srgbClr val="F2F2F2"/>
              </a:solidFill>
              <a:ln w="9525">
                <a:solidFill>
                  <a:srgbClr val="DDDDDD"/>
                </a:solidFill>
              </a:ln>
            </p:spPr>
          </p:sp>
          <p:sp>
            <p:nvSpPr>
              <p:cNvPr id="64" name="TextBox 64"/>
              <p:cNvSpPr txBox="1"/>
              <p:nvPr/>
            </p:nvSpPr>
            <p:spPr>
              <a:xfrm>
                <a:off x="1527061" y="53497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分层分群</a:t>
                </a:r>
              </a:p>
            </p:txBody>
          </p:sp>
          <p:sp>
            <p:nvSpPr>
              <p:cNvPr id="65" name="Rectangle 65"/>
              <p:cNvSpPr/>
              <p:nvPr/>
            </p:nvSpPr>
            <p:spPr>
              <a:xfrm>
                <a:off x="2152650" y="5257800"/>
                <a:ext cx="647700" cy="266700"/>
              </a:xfrm>
              <a:prstGeom prst="rect">
                <a:avLst/>
              </a:prstGeom>
              <a:solidFill>
                <a:srgbClr val="F2F2F2"/>
              </a:solidFill>
              <a:ln w="9525">
                <a:solidFill>
                  <a:srgbClr val="DDDDDD"/>
                </a:solidFill>
              </a:ln>
            </p:spPr>
          </p:sp>
          <p:sp>
            <p:nvSpPr>
              <p:cNvPr id="66" name="TextBox 66"/>
              <p:cNvSpPr txBox="1"/>
              <p:nvPr/>
            </p:nvSpPr>
            <p:spPr>
              <a:xfrm>
                <a:off x="2189310" y="5349716"/>
                <a:ext cx="57438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运营SOP​​</a:t>
                </a:r>
              </a:p>
            </p:txBody>
          </p:sp>
          <p:sp>
            <p:nvSpPr>
              <p:cNvPr id="67" name="Rectangle 67"/>
              <p:cNvSpPr/>
              <p:nvPr/>
            </p:nvSpPr>
            <p:spPr>
              <a:xfrm>
                <a:off x="2876550" y="5257800"/>
                <a:ext cx="647700" cy="266700"/>
              </a:xfrm>
              <a:prstGeom prst="rect">
                <a:avLst/>
              </a:prstGeom>
              <a:solidFill>
                <a:srgbClr val="F2F2F2"/>
              </a:solidFill>
              <a:ln w="9525">
                <a:solidFill>
                  <a:srgbClr val="DDDDDD"/>
                </a:solidFill>
              </a:ln>
            </p:spPr>
          </p:sp>
          <p:sp>
            <p:nvSpPr>
              <p:cNvPr id="68" name="TextBox 68"/>
              <p:cNvSpPr txBox="1"/>
              <p:nvPr/>
            </p:nvSpPr>
            <p:spPr>
              <a:xfrm>
                <a:off x="2974861" y="53497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营销模型</a:t>
                </a:r>
              </a:p>
            </p:txBody>
          </p:sp>
          <p:sp>
            <p:nvSpPr>
              <p:cNvPr id="69" name="Rectangle 69"/>
              <p:cNvSpPr/>
              <p:nvPr/>
            </p:nvSpPr>
            <p:spPr>
              <a:xfrm>
                <a:off x="3600450" y="5257800"/>
                <a:ext cx="647700" cy="266700"/>
              </a:xfrm>
              <a:prstGeom prst="rect">
                <a:avLst/>
              </a:prstGeom>
              <a:solidFill>
                <a:srgbClr val="F2F2F2"/>
              </a:solidFill>
              <a:ln w="9525">
                <a:solidFill>
                  <a:srgbClr val="DDDDDD"/>
                </a:solidFill>
              </a:ln>
            </p:spPr>
          </p:sp>
          <p:sp>
            <p:nvSpPr>
              <p:cNvPr id="70" name="TextBox 70"/>
              <p:cNvSpPr txBox="1"/>
              <p:nvPr/>
            </p:nvSpPr>
            <p:spPr>
              <a:xfrm>
                <a:off x="3698761" y="53497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活动策略</a:t>
                </a:r>
              </a:p>
            </p:txBody>
          </p:sp>
          <p:sp>
            <p:nvSpPr>
              <p:cNvPr id="71" name="Rectangle 71"/>
              <p:cNvSpPr/>
              <p:nvPr/>
            </p:nvSpPr>
            <p:spPr>
              <a:xfrm>
                <a:off x="4324350" y="5257800"/>
                <a:ext cx="647700" cy="266700"/>
              </a:xfrm>
              <a:prstGeom prst="rect">
                <a:avLst/>
              </a:prstGeom>
              <a:solidFill>
                <a:srgbClr val="F2F2F2"/>
              </a:solidFill>
              <a:ln w="9525">
                <a:solidFill>
                  <a:srgbClr val="DDDDDD"/>
                </a:solidFill>
              </a:ln>
            </p:spPr>
          </p:sp>
          <p:sp>
            <p:nvSpPr>
              <p:cNvPr id="72" name="TextBox 72"/>
              <p:cNvSpPr txBox="1"/>
              <p:nvPr/>
            </p:nvSpPr>
            <p:spPr>
              <a:xfrm>
                <a:off x="4582724" y="5349716"/>
                <a:ext cx="13095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a:t>
                </a:r>
              </a:p>
            </p:txBody>
          </p:sp>
        </p:grpSp>
        <p:sp>
          <p:nvSpPr>
            <p:cNvPr id="74" name="Freeform 74"/>
            <p:cNvSpPr/>
            <p:nvPr/>
          </p:nvSpPr>
          <p:spPr>
            <a:xfrm>
              <a:off x="5391150" y="4476750"/>
              <a:ext cx="304800" cy="571500"/>
            </a:xfrm>
            <a:prstGeom prst="chevron">
              <a:avLst/>
            </a:prstGeom>
            <a:solidFill>
              <a:srgbClr val="F4AC9D"/>
            </a:solidFill>
            <a:ln>
              <a:noFill/>
            </a:ln>
          </p:spPr>
        </p:sp>
        <p:grpSp>
          <p:nvGrpSpPr>
            <p:cNvPr id="91" name="org-branch"/>
            <p:cNvGrpSpPr/>
            <p:nvPr/>
          </p:nvGrpSpPr>
          <p:grpSpPr>
            <a:xfrm>
              <a:off x="6000750" y="4305300"/>
              <a:ext cx="3714750" cy="1219200"/>
              <a:chOff x="6000750" y="4305300"/>
              <a:chExt cx="3714750" cy="1219200"/>
            </a:xfrm>
          </p:grpSpPr>
          <p:sp>
            <p:nvSpPr>
              <p:cNvPr id="75" name="Freeform 75"/>
              <p:cNvSpPr/>
              <p:nvPr/>
            </p:nvSpPr>
            <p:spPr>
              <a:xfrm>
                <a:off x="6000750" y="4953000"/>
                <a:ext cx="3714750" cy="285750"/>
              </a:xfrm>
              <a:prstGeom prst="trapezoid">
                <a:avLst>
                  <a:gd name="adj" fmla="val 50000"/>
                </a:avLst>
              </a:prstGeom>
              <a:solidFill>
                <a:srgbClr val="D4E2FA"/>
              </a:solidFill>
              <a:ln>
                <a:noFill/>
              </a:ln>
            </p:spPr>
          </p:sp>
          <p:sp>
            <p:nvSpPr>
              <p:cNvPr id="76" name="Rectangle 76"/>
              <p:cNvSpPr/>
              <p:nvPr/>
            </p:nvSpPr>
            <p:spPr>
              <a:xfrm>
                <a:off x="6477000" y="4305300"/>
                <a:ext cx="2762250" cy="304800"/>
              </a:xfrm>
              <a:prstGeom prst="rect">
                <a:avLst/>
              </a:prstGeom>
              <a:solidFill>
                <a:srgbClr val="E74726"/>
              </a:solidFill>
              <a:ln>
                <a:noFill/>
              </a:ln>
            </p:spPr>
          </p:sp>
          <p:sp>
            <p:nvSpPr>
              <p:cNvPr id="77" name="TextBox 77"/>
              <p:cNvSpPr txBox="1"/>
              <p:nvPr/>
            </p:nvSpPr>
            <p:spPr>
              <a:xfrm>
                <a:off x="7193534" y="4400074"/>
                <a:ext cx="13291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分行长尾客群直营团队</a:t>
                </a:r>
              </a:p>
            </p:txBody>
          </p:sp>
          <p:sp>
            <p:nvSpPr>
              <p:cNvPr id="78" name="Line 78"/>
              <p:cNvSpPr/>
              <p:nvPr/>
            </p:nvSpPr>
            <p:spPr>
              <a:xfrm>
                <a:off x="7858125" y="4610100"/>
                <a:ext cx="9525" cy="95250"/>
              </a:xfrm>
              <a:custGeom>
                <a:avLst/>
                <a:gdLst/>
                <a:ahLst/>
                <a:cxnLst/>
                <a:rect l="l" t="t" r="r" b="b"/>
                <a:pathLst>
                  <a:path w="9525" h="95250">
                    <a:moveTo>
                      <a:pt x="0" y="0"/>
                    </a:moveTo>
                    <a:lnTo>
                      <a:pt x="0" y="95250"/>
                    </a:lnTo>
                  </a:path>
                </a:pathLst>
              </a:custGeom>
              <a:noFill/>
              <a:ln w="9525">
                <a:solidFill>
                  <a:srgbClr val="932F1B"/>
                </a:solidFill>
              </a:ln>
            </p:spPr>
          </p:sp>
          <p:sp>
            <p:nvSpPr>
              <p:cNvPr id="79" name="Rectangle 79"/>
              <p:cNvSpPr/>
              <p:nvPr/>
            </p:nvSpPr>
            <p:spPr>
              <a:xfrm>
                <a:off x="6477000" y="4705350"/>
                <a:ext cx="2762250" cy="247650"/>
              </a:xfrm>
              <a:prstGeom prst="rect">
                <a:avLst/>
              </a:prstGeom>
              <a:solidFill>
                <a:srgbClr val="FFFFFF"/>
              </a:solidFill>
              <a:ln w="9525">
                <a:solidFill>
                  <a:srgbClr val="932F1B"/>
                </a:solidFill>
              </a:ln>
            </p:spPr>
          </p:sp>
          <p:sp>
            <p:nvSpPr>
              <p:cNvPr id="80" name="TextBox 80"/>
              <p:cNvSpPr txBox="1"/>
              <p:nvPr/>
            </p:nvSpPr>
            <p:spPr>
              <a:xfrm>
                <a:off x="7429310" y="4779645"/>
                <a:ext cx="857631"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抓落地、做适配</a:t>
                </a:r>
              </a:p>
            </p:txBody>
          </p:sp>
          <p:sp>
            <p:nvSpPr>
              <p:cNvPr id="81" name="Rectangle 81"/>
              <p:cNvSpPr/>
              <p:nvPr/>
            </p:nvSpPr>
            <p:spPr>
              <a:xfrm>
                <a:off x="6000750" y="5257800"/>
                <a:ext cx="647700" cy="266700"/>
              </a:xfrm>
              <a:prstGeom prst="rect">
                <a:avLst/>
              </a:prstGeom>
              <a:solidFill>
                <a:srgbClr val="F2F2F2"/>
              </a:solidFill>
              <a:ln w="9525">
                <a:solidFill>
                  <a:srgbClr val="DDDDDD"/>
                </a:solidFill>
              </a:ln>
            </p:spPr>
          </p:sp>
          <p:sp>
            <p:nvSpPr>
              <p:cNvPr id="82" name="TextBox 82"/>
              <p:cNvSpPr txBox="1"/>
              <p:nvPr/>
            </p:nvSpPr>
            <p:spPr>
              <a:xfrm>
                <a:off x="6099061" y="53497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区域调优</a:t>
                </a:r>
              </a:p>
            </p:txBody>
          </p:sp>
          <p:sp>
            <p:nvSpPr>
              <p:cNvPr id="83" name="Rectangle 83"/>
              <p:cNvSpPr/>
              <p:nvPr/>
            </p:nvSpPr>
            <p:spPr>
              <a:xfrm>
                <a:off x="6724650" y="5257800"/>
                <a:ext cx="647700" cy="266700"/>
              </a:xfrm>
              <a:prstGeom prst="rect">
                <a:avLst/>
              </a:prstGeom>
              <a:solidFill>
                <a:srgbClr val="F2F2F2"/>
              </a:solidFill>
              <a:ln w="9525">
                <a:solidFill>
                  <a:srgbClr val="DDDDDD"/>
                </a:solidFill>
              </a:ln>
            </p:spPr>
          </p:sp>
          <p:sp>
            <p:nvSpPr>
              <p:cNvPr id="84" name="TextBox 84"/>
              <p:cNvSpPr txBox="1"/>
              <p:nvPr/>
            </p:nvSpPr>
            <p:spPr>
              <a:xfrm>
                <a:off x="6822961" y="53497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因地施策</a:t>
                </a:r>
              </a:p>
            </p:txBody>
          </p:sp>
          <p:sp>
            <p:nvSpPr>
              <p:cNvPr id="85" name="Rectangle 85"/>
              <p:cNvSpPr/>
              <p:nvPr/>
            </p:nvSpPr>
            <p:spPr>
              <a:xfrm>
                <a:off x="7448550" y="5257800"/>
                <a:ext cx="647700" cy="266700"/>
              </a:xfrm>
              <a:prstGeom prst="rect">
                <a:avLst/>
              </a:prstGeom>
              <a:solidFill>
                <a:srgbClr val="F2F2F2"/>
              </a:solidFill>
              <a:ln w="9525">
                <a:solidFill>
                  <a:srgbClr val="DDDDDD"/>
                </a:solidFill>
              </a:ln>
            </p:spPr>
          </p:sp>
          <p:sp>
            <p:nvSpPr>
              <p:cNvPr id="86" name="TextBox 86"/>
              <p:cNvSpPr txBox="1"/>
              <p:nvPr/>
            </p:nvSpPr>
            <p:spPr>
              <a:xfrm>
                <a:off x="7546861" y="53497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落地执行</a:t>
                </a:r>
              </a:p>
            </p:txBody>
          </p:sp>
          <p:sp>
            <p:nvSpPr>
              <p:cNvPr id="87" name="Rectangle 87"/>
              <p:cNvSpPr/>
              <p:nvPr/>
            </p:nvSpPr>
            <p:spPr>
              <a:xfrm>
                <a:off x="8172450" y="5257800"/>
                <a:ext cx="647700" cy="266700"/>
              </a:xfrm>
              <a:prstGeom prst="rect">
                <a:avLst/>
              </a:prstGeom>
              <a:solidFill>
                <a:srgbClr val="F2F2F2"/>
              </a:solidFill>
              <a:ln w="9525">
                <a:solidFill>
                  <a:srgbClr val="DDDDDD"/>
                </a:solidFill>
              </a:ln>
            </p:spPr>
          </p:sp>
          <p:sp>
            <p:nvSpPr>
              <p:cNvPr id="88" name="TextBox 88"/>
              <p:cNvSpPr txBox="1"/>
              <p:nvPr/>
            </p:nvSpPr>
            <p:spPr>
              <a:xfrm>
                <a:off x="8270761" y="53497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客户触达</a:t>
                </a:r>
              </a:p>
            </p:txBody>
          </p:sp>
          <p:sp>
            <p:nvSpPr>
              <p:cNvPr id="89" name="Rectangle 89"/>
              <p:cNvSpPr/>
              <p:nvPr/>
            </p:nvSpPr>
            <p:spPr>
              <a:xfrm>
                <a:off x="8896350" y="5257800"/>
                <a:ext cx="647700" cy="266700"/>
              </a:xfrm>
              <a:prstGeom prst="rect">
                <a:avLst/>
              </a:prstGeom>
              <a:solidFill>
                <a:srgbClr val="F2F2F2"/>
              </a:solidFill>
              <a:ln w="9525">
                <a:solidFill>
                  <a:srgbClr val="DDDDDD"/>
                </a:solidFill>
              </a:ln>
            </p:spPr>
          </p:sp>
          <p:sp>
            <p:nvSpPr>
              <p:cNvPr id="90" name="TextBox 90"/>
              <p:cNvSpPr txBox="1"/>
              <p:nvPr/>
            </p:nvSpPr>
            <p:spPr>
              <a:xfrm>
                <a:off x="9154724" y="5349716"/>
                <a:ext cx="13095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a:t>
                </a:r>
              </a:p>
            </p:txBody>
          </p:sp>
        </p:grpSp>
        <p:sp>
          <p:nvSpPr>
            <p:cNvPr id="92" name="Rectangle 92"/>
            <p:cNvSpPr/>
            <p:nvPr/>
          </p:nvSpPr>
          <p:spPr>
            <a:xfrm>
              <a:off x="1143000" y="5734050"/>
              <a:ext cx="762000" cy="228600"/>
            </a:xfrm>
            <a:prstGeom prst="rect">
              <a:avLst/>
            </a:prstGeom>
            <a:solidFill>
              <a:srgbClr val="D4E2FA"/>
            </a:solidFill>
            <a:ln>
              <a:noFill/>
            </a:ln>
          </p:spPr>
        </p:sp>
        <p:sp>
          <p:nvSpPr>
            <p:cNvPr id="93" name="TextBox 93"/>
            <p:cNvSpPr txBox="1"/>
            <p:nvPr/>
          </p:nvSpPr>
          <p:spPr>
            <a:xfrm>
              <a:off x="1276922" y="5798820"/>
              <a:ext cx="494157" cy="176212"/>
            </a:xfrm>
            <a:prstGeom prst="rect">
              <a:avLst/>
            </a:prstGeom>
            <a:noFill/>
            <a:ln>
              <a:noFill/>
            </a:ln>
          </p:spPr>
          <p:txBody>
            <a:bodyPr wrap="none" lIns="0" tIns="0" rIns="0" bIns="0" anchor="t" anchorCtr="0">
              <a:spAutoFit/>
            </a:bodyPr>
            <a:lstStyle/>
            <a:p>
              <a:pPr algn="ctr"/>
              <a:r>
                <a:rPr lang="zh-CN" sz="900" dirty="0">
                  <a:solidFill>
                    <a:srgbClr val="E74726"/>
                  </a:solidFill>
                  <a:latin typeface="+mn-lt"/>
                  <a:ea typeface="+mn-ea"/>
                  <a:cs typeface="+mn-cs"/>
                </a:rPr>
                <a:t>标杆案例</a:t>
              </a:r>
            </a:p>
          </p:txBody>
        </p:sp>
        <p:sp>
          <p:nvSpPr>
            <p:cNvPr id="94" name="TextBox 94"/>
            <p:cNvSpPr txBox="1"/>
            <p:nvPr/>
          </p:nvSpPr>
          <p:spPr>
            <a:xfrm>
              <a:off x="2043112" y="5736193"/>
              <a:ext cx="781875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 xml:space="preserve">✓ </a:t>
              </a:r>
              <a:r>
                <a:rPr lang="zh-CN" sz="860" b="1" dirty="0">
                  <a:solidFill>
                    <a:srgbClr val="333333"/>
                  </a:solidFill>
                  <a:latin typeface="+mn-lt"/>
                  <a:ea typeface="+mn-ea"/>
                  <a:cs typeface="+mn-cs"/>
                </a:rPr>
                <a:t>建设银行：</a:t>
              </a:r>
              <a:r>
                <a:rPr lang="zh-CN" sz="860" dirty="0">
                  <a:solidFill>
                    <a:srgbClr val="333333"/>
                  </a:solidFill>
                  <a:latin typeface="+mn-lt"/>
                  <a:ea typeface="+mn-ea"/>
                  <a:cs typeface="+mn-cs"/>
                </a:rPr>
                <a:t>省级分行设零售客户直营中心，专门承接无专职管户经理的个人基石客户的全流程经营，剥离基层网点海量基础客户运维压力，推动网点回归高​​​​</a:t>
              </a:r>
              <a:br/>
              <a:r>
                <a:rPr lang="zh-CN" sz="860" dirty="0">
                  <a:solidFill>
                    <a:srgbClr val="333333"/>
                  </a:solidFill>
                  <a:latin typeface="+mn-lt"/>
                  <a:ea typeface="+mn-ea"/>
                  <a:cs typeface="+mn-cs"/>
                </a:rPr>
                <a:t xml:space="preserve">　净值客户与线下复杂业务。</a:t>
              </a:r>
            </a:p>
          </p:txBody>
        </p:sp>
      </p:grpSp>
      <p:grpSp>
        <p:nvGrpSpPr>
          <p:cNvPr id="98" name="footer"/>
          <p:cNvGrpSpPr/>
          <p:nvPr/>
        </p:nvGrpSpPr>
        <p:grpSpPr>
          <a:xfrm>
            <a:off x="0" y="6438900"/>
            <a:ext cx="12192000" cy="342900"/>
            <a:chOff x="0" y="6438900"/>
            <a:chExt cx="12192000" cy="342900"/>
          </a:xfrm>
        </p:grpSpPr>
        <p:sp>
          <p:nvSpPr>
            <p:cNvPr id="96" name="Line 96"/>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97" name="TextBox 97"/>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28​</a:t>
              </a:r>
            </a:p>
          </p:txBody>
        </p:sp>
        <p:sp>
          <p:nvSpPr>
            <p:cNvPr id="4" name="TextBox 4"/>
            <p:cNvSpPr txBox="1"/>
            <p:nvPr/>
          </p:nvSpPr>
          <p:spPr>
            <a:xfrm>
              <a:off x="885444" y="160973"/>
              <a:ext cx="9154927"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2.3.2 运营系统支撑｜</a:t>
              </a:r>
              <a:r>
                <a:rPr lang="zh-CN" sz="1950" b="1" dirty="0">
                  <a:solidFill>
                    <a:srgbClr val="E74726"/>
                  </a:solidFill>
                  <a:latin typeface="+mj-lt"/>
                  <a:ea typeface="+mj-ea"/>
                  <a:cs typeface="+mj-cs"/>
                </a:rPr>
                <a:t>多系统协同联动，打通长尾客群全流程数智运营</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7694264" cy="249364"/>
            <a:chOff x="374523" y="681514"/>
            <a:chExt cx="7694264" cy="249364"/>
          </a:xfrm>
        </p:grpSpPr>
        <p:sp>
          <p:nvSpPr>
            <p:cNvPr id="16" name="TextBox 16"/>
            <p:cNvSpPr txBox="1"/>
            <p:nvPr/>
          </p:nvSpPr>
          <p:spPr>
            <a:xfrm>
              <a:off x="374523" y="681514"/>
              <a:ext cx="7694264"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依托四大系统平台协同运转，实现客群挖掘、策略下发、多渠道触达，支撑长尾客群规模化闭环运营​</a:t>
              </a:r>
            </a:p>
          </p:txBody>
        </p:sp>
      </p:grpSp>
      <p:grpSp>
        <p:nvGrpSpPr>
          <p:cNvPr id="19" name="guide"/>
          <p:cNvGrpSpPr/>
          <p:nvPr/>
        </p:nvGrpSpPr>
        <p:grpSpPr>
          <a:xfrm>
            <a:off x="376047" y="990124"/>
            <a:ext cx="7060565" cy="371666"/>
            <a:chOff x="376047" y="990124"/>
            <a:chExt cx="7060565" cy="371666"/>
          </a:xfrm>
        </p:grpSpPr>
        <p:sp>
          <p:nvSpPr>
            <p:cNvPr id="18" name="TextBox 18"/>
            <p:cNvSpPr txBox="1"/>
            <p:nvPr/>
          </p:nvSpPr>
          <p:spPr>
            <a:xfrm>
              <a:off x="376047" y="990124"/>
              <a:ext cx="7060565"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搭建多系统协同的长尾客群数字化运营底座，数据平台完成客户标签分层，智能营销平台开展策略配置，渠道协同平台执行触​​​</a:t>
              </a:r>
              <a:br/>
              <a:r>
                <a:rPr lang="zh-CN" sz="980" dirty="0">
                  <a:solidFill>
                    <a:srgbClr val="333333"/>
                  </a:solidFill>
                  <a:latin typeface="+mn-lt"/>
                  <a:ea typeface="+mn-ea"/>
                  <a:cs typeface="+mn-cs"/>
                </a:rPr>
                <a:t>达分发，风控合规贯穿全流程，形成任务部署、触达执行、效果回传、迭代优化的业务闭环​</a:t>
              </a:r>
            </a:p>
          </p:txBody>
        </p:sp>
      </p:grpSp>
      <p:grpSp>
        <p:nvGrpSpPr>
          <p:cNvPr id="22" name="banner-top"/>
          <p:cNvGrpSpPr/>
          <p:nvPr/>
        </p:nvGrpSpPr>
        <p:grpSpPr>
          <a:xfrm>
            <a:off x="571500" y="1428750"/>
            <a:ext cx="11049000" cy="381000"/>
            <a:chOff x="571500" y="1428750"/>
            <a:chExt cx="11049000" cy="381000"/>
          </a:xfrm>
        </p:grpSpPr>
        <p:sp>
          <p:nvSpPr>
            <p:cNvPr id="20" name="Rectangle 20"/>
            <p:cNvSpPr/>
            <p:nvPr/>
          </p:nvSpPr>
          <p:spPr>
            <a:xfrm>
              <a:off x="571500" y="1428750"/>
              <a:ext cx="11049000" cy="381000"/>
            </a:xfrm>
            <a:prstGeom prst="rect">
              <a:avLst/>
            </a:prstGeom>
            <a:solidFill>
              <a:srgbClr val="932F1B"/>
            </a:solidFill>
            <a:ln>
              <a:noFill/>
            </a:ln>
          </p:spPr>
        </p:sp>
        <p:sp>
          <p:nvSpPr>
            <p:cNvPr id="21" name="TextBox 21"/>
            <p:cNvSpPr txBox="1"/>
            <p:nvPr/>
          </p:nvSpPr>
          <p:spPr>
            <a:xfrm>
              <a:off x="4797171" y="1538764"/>
              <a:ext cx="2597658"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长尾客群运营多系统交互流程示例</a:t>
              </a:r>
            </a:p>
          </p:txBody>
        </p:sp>
      </p:grpSp>
      <p:grpSp>
        <p:nvGrpSpPr>
          <p:cNvPr id="54" name="system-diagram"/>
          <p:cNvGrpSpPr/>
          <p:nvPr/>
        </p:nvGrpSpPr>
        <p:grpSpPr>
          <a:xfrm>
            <a:off x="571500" y="1952625"/>
            <a:ext cx="10858500" cy="3524250"/>
            <a:chOff x="571500" y="1952625"/>
            <a:chExt cx="10858500" cy="3524250"/>
          </a:xfrm>
        </p:grpSpPr>
        <p:grpSp>
          <p:nvGrpSpPr>
            <p:cNvPr id="27" name="platform-data"/>
            <p:cNvGrpSpPr/>
            <p:nvPr/>
          </p:nvGrpSpPr>
          <p:grpSpPr>
            <a:xfrm>
              <a:off x="571500" y="1952625"/>
              <a:ext cx="3238500" cy="1238250"/>
              <a:chOff x="571500" y="1952625"/>
              <a:chExt cx="3238500" cy="1238250"/>
            </a:xfrm>
          </p:grpSpPr>
          <p:sp>
            <p:nvSpPr>
              <p:cNvPr id="23" name="Rectangle 23"/>
              <p:cNvSpPr/>
              <p:nvPr/>
            </p:nvSpPr>
            <p:spPr>
              <a:xfrm>
                <a:off x="571500" y="1952625"/>
                <a:ext cx="3238500" cy="1238250"/>
              </a:xfrm>
              <a:prstGeom prst="roundRect">
                <a:avLst>
                  <a:gd name="adj" fmla="val 9231"/>
                </a:avLst>
              </a:prstGeom>
              <a:solidFill>
                <a:srgbClr val="E7EFFC"/>
              </a:solidFill>
              <a:ln w="14288">
                <a:solidFill>
                  <a:srgbClr val="F1917D"/>
                </a:solidFill>
                <a:custDash>
                  <a:ds d="400000" sp="266667"/>
                </a:custDash>
              </a:ln>
            </p:spPr>
          </p:sp>
          <p:sp>
            <p:nvSpPr>
              <p:cNvPr id="24" name="TextBox 24"/>
              <p:cNvSpPr txBox="1"/>
              <p:nvPr/>
            </p:nvSpPr>
            <p:spPr>
              <a:xfrm>
                <a:off x="1861566" y="2080260"/>
                <a:ext cx="658368" cy="234696"/>
              </a:xfrm>
              <a:prstGeom prst="rect">
                <a:avLst/>
              </a:prstGeom>
              <a:noFill/>
              <a:ln>
                <a:noFill/>
              </a:ln>
            </p:spPr>
            <p:txBody>
              <a:bodyPr wrap="none" lIns="0" tIns="0" rIns="0" bIns="0" anchor="t" anchorCtr="0">
                <a:spAutoFit/>
              </a:bodyPr>
              <a:lstStyle/>
              <a:p>
                <a:pPr algn="ctr"/>
                <a:r>
                  <a:rPr lang="zh-CN" sz="1200" b="1" dirty="0">
                    <a:solidFill>
                      <a:srgbClr val="932F1B"/>
                    </a:solidFill>
                    <a:latin typeface="+mn-lt"/>
                    <a:ea typeface="+mn-ea"/>
                    <a:cs typeface="+mn-cs"/>
                  </a:rPr>
                  <a:t>数据平台</a:t>
                </a:r>
              </a:p>
            </p:txBody>
          </p:sp>
          <p:sp>
            <p:nvSpPr>
              <p:cNvPr id="25" name="Line 25"/>
              <p:cNvSpPr/>
              <p:nvPr/>
            </p:nvSpPr>
            <p:spPr>
              <a:xfrm>
                <a:off x="1619250" y="2286000"/>
                <a:ext cx="1143000" cy="9525"/>
              </a:xfrm>
              <a:custGeom>
                <a:avLst/>
                <a:gdLst/>
                <a:ahLst/>
                <a:cxnLst/>
                <a:rect l="l" t="t" r="r" b="b"/>
                <a:pathLst>
                  <a:path w="1143000" h="9525">
                    <a:moveTo>
                      <a:pt x="0" y="0"/>
                    </a:moveTo>
                    <a:lnTo>
                      <a:pt x="1143000" y="0"/>
                    </a:lnTo>
                  </a:path>
                </a:pathLst>
              </a:custGeom>
              <a:noFill/>
              <a:ln w="9525">
                <a:solidFill>
                  <a:srgbClr val="F1917D"/>
                </a:solidFill>
              </a:ln>
            </p:spPr>
          </p:sp>
          <p:sp>
            <p:nvSpPr>
              <p:cNvPr id="26" name="TextBox 26"/>
              <p:cNvSpPr txBox="1"/>
              <p:nvPr/>
            </p:nvSpPr>
            <p:spPr>
              <a:xfrm>
                <a:off x="1619504" y="2447449"/>
                <a:ext cx="1142492" cy="647890"/>
              </a:xfrm>
              <a:prstGeom prst="rect">
                <a:avLst/>
              </a:prstGeom>
              <a:noFill/>
              <a:ln>
                <a:noFill/>
              </a:ln>
            </p:spPr>
            <p:txBody>
              <a:bodyPr wrap="none" lIns="0" tIns="0" rIns="0" bIns="0" anchor="t" anchorCtr="0">
                <a:spAutoFit/>
              </a:bodyPr>
              <a:lstStyle/>
              <a:p>
                <a:pPr algn="ctr">
                  <a:lnSpc>
                    <a:spcPts val="1800"/>
                  </a:lnSpc>
                </a:pPr>
                <a:r>
                  <a:rPr lang="zh-CN" sz="980" dirty="0">
                    <a:solidFill>
                      <a:srgbClr val="333333"/>
                    </a:solidFill>
                    <a:latin typeface="+mn-lt"/>
                    <a:ea typeface="+mn-ea"/>
                    <a:cs typeface="+mn-cs"/>
                  </a:rPr>
                  <a:t>整合客户多维数据</a:t>
                </a:r>
                <a:br/>
                <a:r>
                  <a:rPr lang="zh-CN" sz="980" dirty="0">
                    <a:solidFill>
                      <a:srgbClr val="333333"/>
                    </a:solidFill>
                    <a:latin typeface="+mn-lt"/>
                    <a:ea typeface="+mn-ea"/>
                    <a:cs typeface="+mn-cs"/>
                  </a:rPr>
                  <a:t>标签体系/数据模型​</a:t>
                </a:r>
                <a:br/>
                <a:r>
                  <a:rPr lang="zh-CN" sz="980" dirty="0">
                    <a:solidFill>
                      <a:srgbClr val="333333"/>
                    </a:solidFill>
                    <a:latin typeface="+mn-lt"/>
                    <a:ea typeface="+mn-ea"/>
                    <a:cs typeface="+mn-cs"/>
                  </a:rPr>
                  <a:t>分层分群/需求挖掘​</a:t>
                </a:r>
              </a:p>
            </p:txBody>
          </p:sp>
        </p:grpSp>
        <p:grpSp>
          <p:nvGrpSpPr>
            <p:cNvPr id="32" name="platform-marketing"/>
            <p:cNvGrpSpPr/>
            <p:nvPr/>
          </p:nvGrpSpPr>
          <p:grpSpPr>
            <a:xfrm>
              <a:off x="4381500" y="1952625"/>
              <a:ext cx="3238500" cy="1238250"/>
              <a:chOff x="4381500" y="1952625"/>
              <a:chExt cx="3238500" cy="1238250"/>
            </a:xfrm>
          </p:grpSpPr>
          <p:sp>
            <p:nvSpPr>
              <p:cNvPr id="28" name="Rectangle 28"/>
              <p:cNvSpPr/>
              <p:nvPr/>
            </p:nvSpPr>
            <p:spPr>
              <a:xfrm>
                <a:off x="4381500" y="1952625"/>
                <a:ext cx="3238500" cy="1238250"/>
              </a:xfrm>
              <a:prstGeom prst="roundRect">
                <a:avLst>
                  <a:gd name="adj" fmla="val 9231"/>
                </a:avLst>
              </a:prstGeom>
              <a:solidFill>
                <a:srgbClr val="E7EFFC"/>
              </a:solidFill>
              <a:ln w="14288">
                <a:solidFill>
                  <a:srgbClr val="F1917D"/>
                </a:solidFill>
                <a:custDash>
                  <a:ds d="400000" sp="266667"/>
                </a:custDash>
              </a:ln>
            </p:spPr>
          </p:sp>
          <p:sp>
            <p:nvSpPr>
              <p:cNvPr id="29" name="TextBox 29"/>
              <p:cNvSpPr txBox="1"/>
              <p:nvPr/>
            </p:nvSpPr>
            <p:spPr>
              <a:xfrm>
                <a:off x="5348478" y="2080260"/>
                <a:ext cx="1304544" cy="234696"/>
              </a:xfrm>
              <a:prstGeom prst="rect">
                <a:avLst/>
              </a:prstGeom>
              <a:noFill/>
              <a:ln>
                <a:noFill/>
              </a:ln>
            </p:spPr>
            <p:txBody>
              <a:bodyPr wrap="none" lIns="0" tIns="0" rIns="0" bIns="0" anchor="t" anchorCtr="0">
                <a:spAutoFit/>
              </a:bodyPr>
              <a:lstStyle/>
              <a:p>
                <a:pPr algn="ctr"/>
                <a:r>
                  <a:rPr lang="zh-CN" sz="1200" b="1" dirty="0">
                    <a:solidFill>
                      <a:srgbClr val="932F1B"/>
                    </a:solidFill>
                    <a:latin typeface="+mn-lt"/>
                    <a:ea typeface="+mn-ea"/>
                    <a:cs typeface="+mn-cs"/>
                  </a:rPr>
                  <a:t>智能营销运营平台</a:t>
                </a:r>
              </a:p>
            </p:txBody>
          </p:sp>
          <p:sp>
            <p:nvSpPr>
              <p:cNvPr id="30" name="Line 30"/>
              <p:cNvSpPr/>
              <p:nvPr/>
            </p:nvSpPr>
            <p:spPr>
              <a:xfrm>
                <a:off x="5334000" y="2286000"/>
                <a:ext cx="1333500" cy="9525"/>
              </a:xfrm>
              <a:custGeom>
                <a:avLst/>
                <a:gdLst/>
                <a:ahLst/>
                <a:cxnLst/>
                <a:rect l="l" t="t" r="r" b="b"/>
                <a:pathLst>
                  <a:path w="1333500" h="9525">
                    <a:moveTo>
                      <a:pt x="0" y="0"/>
                    </a:moveTo>
                    <a:lnTo>
                      <a:pt x="1333500" y="0"/>
                    </a:lnTo>
                  </a:path>
                </a:pathLst>
              </a:custGeom>
              <a:noFill/>
              <a:ln w="9525">
                <a:solidFill>
                  <a:srgbClr val="F1917D"/>
                </a:solidFill>
              </a:ln>
            </p:spPr>
          </p:sp>
          <p:sp>
            <p:nvSpPr>
              <p:cNvPr id="31" name="TextBox 31"/>
              <p:cNvSpPr txBox="1"/>
              <p:nvPr/>
            </p:nvSpPr>
            <p:spPr>
              <a:xfrm>
                <a:off x="5429504" y="2447449"/>
                <a:ext cx="1142492" cy="647890"/>
              </a:xfrm>
              <a:prstGeom prst="rect">
                <a:avLst/>
              </a:prstGeom>
              <a:noFill/>
              <a:ln>
                <a:noFill/>
              </a:ln>
            </p:spPr>
            <p:txBody>
              <a:bodyPr wrap="none" lIns="0" tIns="0" rIns="0" bIns="0" anchor="t" anchorCtr="0">
                <a:spAutoFit/>
              </a:bodyPr>
              <a:lstStyle/>
              <a:p>
                <a:pPr algn="ctr">
                  <a:lnSpc>
                    <a:spcPts val="1800"/>
                  </a:lnSpc>
                </a:pPr>
                <a:r>
                  <a:rPr lang="zh-CN" sz="980" dirty="0">
                    <a:solidFill>
                      <a:srgbClr val="333333"/>
                    </a:solidFill>
                    <a:latin typeface="+mn-lt"/>
                    <a:ea typeface="+mn-ea"/>
                    <a:cs typeface="+mn-cs"/>
                  </a:rPr>
                  <a:t>策略配置/客群筛选​</a:t>
                </a:r>
                <a:br/>
                <a:r>
                  <a:rPr lang="zh-CN" sz="980" dirty="0">
                    <a:solidFill>
                      <a:srgbClr val="333333"/>
                    </a:solidFill>
                    <a:latin typeface="+mn-lt"/>
                    <a:ea typeface="+mn-ea"/>
                    <a:cs typeface="+mn-cs"/>
                  </a:rPr>
                  <a:t>任务下发/活动落地​</a:t>
                </a:r>
                <a:br/>
                <a:r>
                  <a:rPr lang="zh-CN" sz="980" dirty="0">
                    <a:solidFill>
                      <a:srgbClr val="333333"/>
                    </a:solidFill>
                    <a:latin typeface="+mn-lt"/>
                    <a:ea typeface="+mn-ea"/>
                    <a:cs typeface="+mn-cs"/>
                  </a:rPr>
                  <a:t>效果统计/策略迭代​</a:t>
                </a:r>
              </a:p>
            </p:txBody>
          </p:sp>
        </p:grpSp>
        <p:grpSp>
          <p:nvGrpSpPr>
            <p:cNvPr id="37" name="platform-channel"/>
            <p:cNvGrpSpPr/>
            <p:nvPr/>
          </p:nvGrpSpPr>
          <p:grpSpPr>
            <a:xfrm>
              <a:off x="8191500" y="1952625"/>
              <a:ext cx="3238500" cy="1238250"/>
              <a:chOff x="8191500" y="1952625"/>
              <a:chExt cx="3238500" cy="1238250"/>
            </a:xfrm>
          </p:grpSpPr>
          <p:sp>
            <p:nvSpPr>
              <p:cNvPr id="33" name="Rectangle 33"/>
              <p:cNvSpPr/>
              <p:nvPr/>
            </p:nvSpPr>
            <p:spPr>
              <a:xfrm>
                <a:off x="8191500" y="1952625"/>
                <a:ext cx="3238500" cy="1238250"/>
              </a:xfrm>
              <a:prstGeom prst="roundRect">
                <a:avLst>
                  <a:gd name="adj" fmla="val 9231"/>
                </a:avLst>
              </a:prstGeom>
              <a:solidFill>
                <a:srgbClr val="E7EFFC"/>
              </a:solidFill>
              <a:ln w="14288">
                <a:solidFill>
                  <a:srgbClr val="F1917D"/>
                </a:solidFill>
                <a:custDash>
                  <a:ds d="400000" sp="266667"/>
                </a:custDash>
              </a:ln>
            </p:spPr>
          </p:sp>
          <p:sp>
            <p:nvSpPr>
              <p:cNvPr id="34" name="TextBox 34"/>
              <p:cNvSpPr txBox="1"/>
              <p:nvPr/>
            </p:nvSpPr>
            <p:spPr>
              <a:xfrm>
                <a:off x="9320022" y="2080260"/>
                <a:ext cx="981456" cy="234696"/>
              </a:xfrm>
              <a:prstGeom prst="rect">
                <a:avLst/>
              </a:prstGeom>
              <a:noFill/>
              <a:ln>
                <a:noFill/>
              </a:ln>
            </p:spPr>
            <p:txBody>
              <a:bodyPr wrap="none" lIns="0" tIns="0" rIns="0" bIns="0" anchor="t" anchorCtr="0">
                <a:spAutoFit/>
              </a:bodyPr>
              <a:lstStyle/>
              <a:p>
                <a:pPr algn="ctr"/>
                <a:r>
                  <a:rPr lang="zh-CN" sz="1200" b="1" dirty="0">
                    <a:solidFill>
                      <a:srgbClr val="932F1B"/>
                    </a:solidFill>
                    <a:latin typeface="+mn-lt"/>
                    <a:ea typeface="+mn-ea"/>
                    <a:cs typeface="+mn-cs"/>
                  </a:rPr>
                  <a:t>渠道协同平台</a:t>
                </a:r>
              </a:p>
            </p:txBody>
          </p:sp>
          <p:sp>
            <p:nvSpPr>
              <p:cNvPr id="35" name="Line 35"/>
              <p:cNvSpPr/>
              <p:nvPr/>
            </p:nvSpPr>
            <p:spPr>
              <a:xfrm>
                <a:off x="9239250" y="2286000"/>
                <a:ext cx="1143000" cy="9525"/>
              </a:xfrm>
              <a:custGeom>
                <a:avLst/>
                <a:gdLst/>
                <a:ahLst/>
                <a:cxnLst/>
                <a:rect l="l" t="t" r="r" b="b"/>
                <a:pathLst>
                  <a:path w="1143000" h="9525">
                    <a:moveTo>
                      <a:pt x="0" y="0"/>
                    </a:moveTo>
                    <a:lnTo>
                      <a:pt x="1143000" y="0"/>
                    </a:lnTo>
                  </a:path>
                </a:pathLst>
              </a:custGeom>
              <a:noFill/>
              <a:ln w="9525">
                <a:solidFill>
                  <a:srgbClr val="F1917D"/>
                </a:solidFill>
              </a:ln>
            </p:spPr>
          </p:sp>
          <p:sp>
            <p:nvSpPr>
              <p:cNvPr id="36" name="TextBox 36"/>
              <p:cNvSpPr txBox="1"/>
              <p:nvPr/>
            </p:nvSpPr>
            <p:spPr>
              <a:xfrm>
                <a:off x="9239504" y="2447449"/>
                <a:ext cx="1142492" cy="647890"/>
              </a:xfrm>
              <a:prstGeom prst="rect">
                <a:avLst/>
              </a:prstGeom>
              <a:noFill/>
              <a:ln>
                <a:noFill/>
              </a:ln>
            </p:spPr>
            <p:txBody>
              <a:bodyPr wrap="none" lIns="0" tIns="0" rIns="0" bIns="0" anchor="t" anchorCtr="0">
                <a:spAutoFit/>
              </a:bodyPr>
              <a:lstStyle/>
              <a:p>
                <a:pPr algn="ctr">
                  <a:lnSpc>
                    <a:spcPts val="1800"/>
                  </a:lnSpc>
                </a:pPr>
                <a:r>
                  <a:rPr lang="zh-CN" sz="980" dirty="0">
                    <a:solidFill>
                      <a:srgbClr val="333333"/>
                    </a:solidFill>
                    <a:latin typeface="+mn-lt"/>
                    <a:ea typeface="+mn-ea"/>
                    <a:cs typeface="+mn-cs"/>
                  </a:rPr>
                  <a:t>企微/智能外呼</a:t>
                </a:r>
                <a:br/>
                <a:r>
                  <a:rPr lang="zh-CN" sz="980" dirty="0">
                    <a:solidFill>
                      <a:srgbClr val="333333"/>
                    </a:solidFill>
                    <a:latin typeface="+mn-lt"/>
                    <a:ea typeface="+mn-ea"/>
                    <a:cs typeface="+mn-cs"/>
                  </a:rPr>
                  <a:t>消息推送/弹窗触达​</a:t>
                </a:r>
                <a:br/>
                <a:r>
                  <a:rPr lang="zh-CN" sz="980" dirty="0">
                    <a:solidFill>
                      <a:srgbClr val="333333"/>
                    </a:solidFill>
                    <a:latin typeface="+mn-lt"/>
                    <a:ea typeface="+mn-ea"/>
                    <a:cs typeface="+mn-cs"/>
                  </a:rPr>
                  <a:t>最优触达匹配分发</a:t>
                </a:r>
              </a:p>
            </p:txBody>
          </p:sp>
        </p:grpSp>
        <p:sp>
          <p:nvSpPr>
            <p:cNvPr id="38" name="Line 38"/>
            <p:cNvSpPr/>
            <p:nvPr/>
          </p:nvSpPr>
          <p:spPr>
            <a:xfrm>
              <a:off x="3810000" y="2714625"/>
              <a:ext cx="552450" cy="1"/>
            </a:xfrm>
            <a:prstGeom prst="line">
              <a:avLst/>
            </a:prstGeom>
            <a:noFill/>
            <a:ln w="11430">
              <a:solidFill>
                <a:srgbClr val="D4634C"/>
              </a:solidFill>
              <a:tailEnd type="triangle" w="lg" len="lg"/>
            </a:ln>
          </p:spPr>
        </p:sp>
        <p:sp>
          <p:nvSpPr>
            <p:cNvPr id="39" name="TextBox 39"/>
            <p:cNvSpPr txBox="1"/>
            <p:nvPr/>
          </p:nvSpPr>
          <p:spPr>
            <a:xfrm>
              <a:off x="3854069" y="2406491"/>
              <a:ext cx="48336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供数据圈​</a:t>
              </a:r>
              <a:br/>
              <a:r>
                <a:rPr lang="zh-CN" sz="820" dirty="0">
                  <a:solidFill>
                    <a:srgbClr val="333333"/>
                  </a:solidFill>
                  <a:latin typeface="+mn-lt"/>
                  <a:ea typeface="+mn-ea"/>
                  <a:cs typeface="+mn-cs"/>
                </a:rPr>
                <a:t>客群</a:t>
              </a:r>
            </a:p>
          </p:txBody>
        </p:sp>
        <p:sp>
          <p:nvSpPr>
            <p:cNvPr id="40" name="Line 40"/>
            <p:cNvSpPr/>
            <p:nvPr/>
          </p:nvSpPr>
          <p:spPr>
            <a:xfrm>
              <a:off x="7620000" y="2495550"/>
              <a:ext cx="552450" cy="1"/>
            </a:xfrm>
            <a:prstGeom prst="line">
              <a:avLst/>
            </a:prstGeom>
            <a:noFill/>
            <a:ln w="11430">
              <a:solidFill>
                <a:srgbClr val="D4634C"/>
              </a:solidFill>
              <a:tailEnd type="triangle" w="lg" len="lg"/>
            </a:ln>
          </p:spPr>
        </p:sp>
        <p:sp>
          <p:nvSpPr>
            <p:cNvPr id="41" name="TextBox 41"/>
            <p:cNvSpPr txBox="1"/>
            <p:nvPr/>
          </p:nvSpPr>
          <p:spPr>
            <a:xfrm>
              <a:off x="7716139" y="2206466"/>
              <a:ext cx="37922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部署策​</a:t>
              </a:r>
              <a:br/>
              <a:r>
                <a:rPr lang="zh-CN" sz="820" dirty="0">
                  <a:solidFill>
                    <a:srgbClr val="333333"/>
                  </a:solidFill>
                  <a:latin typeface="+mn-lt"/>
                  <a:ea typeface="+mn-ea"/>
                  <a:cs typeface="+mn-cs"/>
                </a:rPr>
                <a:t>略任务​</a:t>
              </a:r>
            </a:p>
          </p:txBody>
        </p:sp>
        <p:sp>
          <p:nvSpPr>
            <p:cNvPr id="42" name="Line 42"/>
            <p:cNvSpPr/>
            <p:nvPr/>
          </p:nvSpPr>
          <p:spPr>
            <a:xfrm flipH="1">
              <a:off x="7639050" y="2905125"/>
              <a:ext cx="552450" cy="1"/>
            </a:xfrm>
            <a:prstGeom prst="line">
              <a:avLst/>
            </a:prstGeom>
            <a:noFill/>
            <a:ln w="11430">
              <a:solidFill>
                <a:srgbClr val="D4634C"/>
              </a:solidFill>
              <a:tailEnd type="triangle" w="lg" len="lg"/>
            </a:ln>
          </p:spPr>
        </p:sp>
        <p:sp>
          <p:nvSpPr>
            <p:cNvPr id="43" name="TextBox 43"/>
            <p:cNvSpPr txBox="1"/>
            <p:nvPr/>
          </p:nvSpPr>
          <p:spPr>
            <a:xfrm>
              <a:off x="7768209" y="3006566"/>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效果​</a:t>
              </a:r>
              <a:br/>
              <a:r>
                <a:rPr lang="zh-CN" sz="820" dirty="0">
                  <a:solidFill>
                    <a:srgbClr val="333333"/>
                  </a:solidFill>
                  <a:latin typeface="+mn-lt"/>
                  <a:ea typeface="+mn-ea"/>
                  <a:cs typeface="+mn-cs"/>
                </a:rPr>
                <a:t>回传​</a:t>
              </a:r>
            </a:p>
          </p:txBody>
        </p:sp>
        <p:grpSp>
          <p:nvGrpSpPr>
            <p:cNvPr id="47" name="platform-risk"/>
            <p:cNvGrpSpPr/>
            <p:nvPr/>
          </p:nvGrpSpPr>
          <p:grpSpPr>
            <a:xfrm>
              <a:off x="4095750" y="4095750"/>
              <a:ext cx="4000500" cy="1381125"/>
              <a:chOff x="4095750" y="4095750"/>
              <a:chExt cx="4000500" cy="1381125"/>
            </a:xfrm>
          </p:grpSpPr>
          <p:sp>
            <p:nvSpPr>
              <p:cNvPr id="44" name="Rectangle 44"/>
              <p:cNvSpPr/>
              <p:nvPr/>
            </p:nvSpPr>
            <p:spPr>
              <a:xfrm>
                <a:off x="4095750" y="4095750"/>
                <a:ext cx="4000500" cy="1381125"/>
              </a:xfrm>
              <a:prstGeom prst="roundRect">
                <a:avLst>
                  <a:gd name="adj" fmla="val 6897"/>
                </a:avLst>
              </a:prstGeom>
              <a:solidFill>
                <a:srgbClr val="FBF7EC"/>
              </a:solidFill>
              <a:ln w="14288">
                <a:solidFill>
                  <a:srgbClr val="FF411F"/>
                </a:solidFill>
                <a:custDash>
                  <a:ds d="400000" sp="266667"/>
                </a:custDash>
              </a:ln>
            </p:spPr>
          </p:sp>
          <p:sp>
            <p:nvSpPr>
              <p:cNvPr id="45" name="TextBox 45"/>
              <p:cNvSpPr txBox="1"/>
              <p:nvPr/>
            </p:nvSpPr>
            <p:spPr>
              <a:xfrm>
                <a:off x="5400269" y="4291489"/>
                <a:ext cx="1391463" cy="249364"/>
              </a:xfrm>
              <a:prstGeom prst="rect">
                <a:avLst/>
              </a:prstGeom>
              <a:noFill/>
              <a:ln>
                <a:noFill/>
              </a:ln>
            </p:spPr>
            <p:txBody>
              <a:bodyPr wrap="none" lIns="0" tIns="0" rIns="0" bIns="0" anchor="t" anchorCtr="0">
                <a:spAutoFit/>
              </a:bodyPr>
              <a:lstStyle/>
              <a:p>
                <a:pPr algn="ctr"/>
                <a:r>
                  <a:rPr lang="zh-CN" sz="1280" b="1" dirty="0">
                    <a:solidFill>
                      <a:srgbClr val="8D5042"/>
                    </a:solidFill>
                    <a:latin typeface="+mn-lt"/>
                    <a:ea typeface="+mn-ea"/>
                    <a:cs typeface="+mn-cs"/>
                  </a:rPr>
                  <a:t>智能风控合规平台</a:t>
                </a:r>
              </a:p>
            </p:txBody>
          </p:sp>
          <p:sp>
            <p:nvSpPr>
              <p:cNvPr id="46" name="TextBox 46"/>
              <p:cNvSpPr txBox="1"/>
              <p:nvPr/>
            </p:nvSpPr>
            <p:spPr>
              <a:xfrm>
                <a:off x="4541520" y="4704874"/>
                <a:ext cx="3108960" cy="438341"/>
              </a:xfrm>
              <a:prstGeom prst="rect">
                <a:avLst/>
              </a:prstGeom>
              <a:noFill/>
              <a:ln>
                <a:noFill/>
              </a:ln>
            </p:spPr>
            <p:txBody>
              <a:bodyPr wrap="none" lIns="0" tIns="0" rIns="0" bIns="0" anchor="t" anchorCtr="0">
                <a:spAutoFit/>
              </a:bodyPr>
              <a:lstStyle/>
              <a:p>
                <a:pPr algn="ctr">
                  <a:lnSpc>
                    <a:spcPts val="1950"/>
                  </a:lnSpc>
                </a:pPr>
                <a:r>
                  <a:rPr lang="zh-CN" sz="980" dirty="0">
                    <a:solidFill>
                      <a:srgbClr val="333333"/>
                    </a:solidFill>
                    <a:latin typeface="+mn-lt"/>
                    <a:ea typeface="+mn-ea"/>
                    <a:cs typeface="+mn-cs"/>
                  </a:rPr>
                  <a:t>内容审核 · 沟通质检 · 风险预警 · 违规甄别 · 7*24小​​</a:t>
                </a:r>
                <a:br/>
                <a:r>
                  <a:rPr lang="zh-CN" sz="980" dirty="0">
                    <a:solidFill>
                      <a:srgbClr val="333333"/>
                    </a:solidFill>
                    <a:latin typeface="+mn-lt"/>
                    <a:ea typeface="+mn-ea"/>
                    <a:cs typeface="+mn-cs"/>
                  </a:rPr>
                  <a:t>时智能巡检 · 合规底线守护</a:t>
                </a:r>
              </a:p>
            </p:txBody>
          </p:sp>
        </p:grpSp>
        <p:sp>
          <p:nvSpPr>
            <p:cNvPr id="48" name="TextBox 48"/>
            <p:cNvSpPr txBox="1"/>
            <p:nvPr/>
          </p:nvSpPr>
          <p:spPr>
            <a:xfrm>
              <a:off x="5760072" y="3397091"/>
              <a:ext cx="671855"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策略内容审核</a:t>
              </a:r>
            </a:p>
          </p:txBody>
        </p:sp>
        <p:sp>
          <p:nvSpPr>
            <p:cNvPr id="49" name="Line 49"/>
            <p:cNvSpPr/>
            <p:nvPr/>
          </p:nvSpPr>
          <p:spPr>
            <a:xfrm>
              <a:off x="6096000" y="3562350"/>
              <a:ext cx="1" cy="514350"/>
            </a:xfrm>
            <a:prstGeom prst="line">
              <a:avLst/>
            </a:prstGeom>
            <a:noFill/>
            <a:ln w="11430">
              <a:solidFill>
                <a:srgbClr val="D4634C"/>
              </a:solidFill>
              <a:tailEnd type="triangle" w="lg" len="lg"/>
            </a:ln>
          </p:spPr>
        </p:sp>
        <p:sp>
          <p:nvSpPr>
            <p:cNvPr id="50" name="Freeform 50"/>
            <p:cNvSpPr/>
            <p:nvPr/>
          </p:nvSpPr>
          <p:spPr>
            <a:xfrm>
              <a:off x="2190750" y="3190875"/>
              <a:ext cx="1885950" cy="1571625"/>
            </a:xfrm>
            <a:custGeom>
              <a:avLst/>
              <a:gdLst/>
              <a:ahLst/>
              <a:cxnLst/>
              <a:rect l="l" t="t" r="r" b="b"/>
              <a:pathLst>
                <a:path w="1885950" h="1571625">
                  <a:moveTo>
                    <a:pt x="0" y="0"/>
                  </a:moveTo>
                  <a:cubicBezTo>
                    <a:pt x="0" y="1047750"/>
                    <a:pt x="628650" y="1571625"/>
                    <a:pt x="1885950" y="1571625"/>
                  </a:cubicBezTo>
                </a:path>
              </a:pathLst>
            </a:custGeom>
            <a:noFill/>
            <a:ln w="11430">
              <a:solidFill>
                <a:srgbClr val="D4634C"/>
              </a:solidFill>
              <a:tailEnd type="triangle" w="lg" len="lg"/>
            </a:ln>
          </p:spPr>
        </p:sp>
        <p:sp>
          <p:nvSpPr>
            <p:cNvPr id="51" name="TextBox 51"/>
            <p:cNvSpPr txBox="1"/>
            <p:nvPr/>
          </p:nvSpPr>
          <p:spPr>
            <a:xfrm>
              <a:off x="2426322" y="4387691"/>
              <a:ext cx="671855"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数据风险预警</a:t>
              </a:r>
            </a:p>
          </p:txBody>
        </p:sp>
        <p:sp>
          <p:nvSpPr>
            <p:cNvPr id="52" name="Freeform 52"/>
            <p:cNvSpPr/>
            <p:nvPr/>
          </p:nvSpPr>
          <p:spPr>
            <a:xfrm>
              <a:off x="8115300" y="3190875"/>
              <a:ext cx="1695450" cy="1571625"/>
            </a:xfrm>
            <a:custGeom>
              <a:avLst/>
              <a:gdLst/>
              <a:ahLst/>
              <a:cxnLst/>
              <a:rect l="l" t="t" r="r" b="b"/>
              <a:pathLst>
                <a:path w="1695450" h="1571625">
                  <a:moveTo>
                    <a:pt x="1695450" y="0"/>
                  </a:moveTo>
                  <a:cubicBezTo>
                    <a:pt x="1695450" y="1047750"/>
                    <a:pt x="1130300" y="1571625"/>
                    <a:pt x="0" y="1571625"/>
                  </a:cubicBezTo>
                </a:path>
              </a:pathLst>
            </a:custGeom>
            <a:noFill/>
            <a:ln w="11430">
              <a:solidFill>
                <a:srgbClr val="D4634C"/>
              </a:solidFill>
              <a:tailEnd type="triangle" w="lg" len="lg"/>
            </a:ln>
          </p:spPr>
        </p:sp>
        <p:sp>
          <p:nvSpPr>
            <p:cNvPr id="53" name="TextBox 53"/>
            <p:cNvSpPr txBox="1"/>
            <p:nvPr/>
          </p:nvSpPr>
          <p:spPr>
            <a:xfrm>
              <a:off x="9036304" y="4311491"/>
              <a:ext cx="69164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触达质检</a:t>
              </a:r>
              <a:br/>
              <a:r>
                <a:rPr lang="zh-CN" sz="820" dirty="0">
                  <a:solidFill>
                    <a:srgbClr val="333333"/>
                  </a:solidFill>
                  <a:latin typeface="+mn-lt"/>
                  <a:ea typeface="+mn-ea"/>
                  <a:cs typeface="+mn-cs"/>
                </a:rPr>
                <a:t>合规反馈迭代​</a:t>
              </a:r>
            </a:p>
          </p:txBody>
        </p:sp>
      </p:grpSp>
      <p:grpSp>
        <p:nvGrpSpPr>
          <p:cNvPr id="57" name="banner-bottom"/>
          <p:cNvGrpSpPr/>
          <p:nvPr/>
        </p:nvGrpSpPr>
        <p:grpSpPr>
          <a:xfrm>
            <a:off x="571500" y="5715000"/>
            <a:ext cx="11049000" cy="381000"/>
            <a:chOff x="571500" y="5715000"/>
            <a:chExt cx="11049000" cy="381000"/>
          </a:xfrm>
        </p:grpSpPr>
        <p:sp>
          <p:nvSpPr>
            <p:cNvPr id="55" name="Rectangle 55"/>
            <p:cNvSpPr/>
            <p:nvPr/>
          </p:nvSpPr>
          <p:spPr>
            <a:xfrm>
              <a:off x="571500" y="5715000"/>
              <a:ext cx="11049000" cy="381000"/>
            </a:xfrm>
            <a:prstGeom prst="rect">
              <a:avLst/>
            </a:prstGeom>
            <a:solidFill>
              <a:srgbClr val="E74726"/>
            </a:solidFill>
            <a:ln>
              <a:noFill/>
            </a:ln>
          </p:spPr>
        </p:sp>
        <p:sp>
          <p:nvSpPr>
            <p:cNvPr id="56" name="TextBox 56"/>
            <p:cNvSpPr txBox="1"/>
            <p:nvPr/>
          </p:nvSpPr>
          <p:spPr>
            <a:xfrm>
              <a:off x="3097301" y="5833110"/>
              <a:ext cx="5997397"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打造闭环链路：数据洞察→策略部署→渠道触达→效果回传→风控合规→策略迭代​​​​​​</a:t>
              </a:r>
            </a:p>
          </p:txBody>
        </p:sp>
      </p:grpSp>
      <p:grpSp>
        <p:nvGrpSpPr>
          <p:cNvPr id="60" name="footer"/>
          <p:cNvGrpSpPr/>
          <p:nvPr/>
        </p:nvGrpSpPr>
        <p:grpSpPr>
          <a:xfrm>
            <a:off x="0" y="6438900"/>
            <a:ext cx="12192000" cy="342900"/>
            <a:chOff x="0" y="6438900"/>
            <a:chExt cx="12192000" cy="342900"/>
          </a:xfrm>
        </p:grpSpPr>
        <p:sp>
          <p:nvSpPr>
            <p:cNvPr id="58" name="Line 58"/>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59" name="TextBox 59"/>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29​</a:t>
              </a:r>
            </a:p>
          </p:txBody>
        </p:sp>
        <p:sp>
          <p:nvSpPr>
            <p:cNvPr id="4" name="TextBox 4"/>
            <p:cNvSpPr txBox="1"/>
            <p:nvPr/>
          </p:nvSpPr>
          <p:spPr>
            <a:xfrm>
              <a:off x="885444" y="160973"/>
              <a:ext cx="8119651"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3.1 经营痛难点｜</a:t>
              </a:r>
              <a:r>
                <a:rPr lang="zh-CN" sz="1950" b="1" dirty="0">
                  <a:solidFill>
                    <a:srgbClr val="E74726"/>
                  </a:solidFill>
                  <a:latin typeface="+mj-lt"/>
                  <a:ea typeface="+mj-ea"/>
                  <a:cs typeface="+mj-cs"/>
                </a:rPr>
                <a:t>剖析长尾运营三阶段痛点，分步破解经营难题</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8383518" cy="249364"/>
            <a:chOff x="374523" y="681514"/>
            <a:chExt cx="8383518" cy="249364"/>
          </a:xfrm>
        </p:grpSpPr>
        <p:sp>
          <p:nvSpPr>
            <p:cNvPr id="16" name="TextBox 16"/>
            <p:cNvSpPr txBox="1"/>
            <p:nvPr/>
          </p:nvSpPr>
          <p:spPr>
            <a:xfrm>
              <a:off x="374523" y="681514"/>
              <a:ext cx="8383518"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长尾客群经营中面临的困境，并非单一维度的局部问题，而是因所处发展阶段不同而呈现差异化的系统性痛点​</a:t>
              </a:r>
            </a:p>
          </p:txBody>
        </p:sp>
      </p:grpSp>
      <p:grpSp>
        <p:nvGrpSpPr>
          <p:cNvPr id="19" name="guide"/>
          <p:cNvGrpSpPr/>
          <p:nvPr/>
        </p:nvGrpSpPr>
        <p:grpSpPr>
          <a:xfrm>
            <a:off x="376047" y="990124"/>
            <a:ext cx="7172579" cy="371666"/>
            <a:chOff x="376047" y="990124"/>
            <a:chExt cx="7172579" cy="371666"/>
          </a:xfrm>
        </p:grpSpPr>
        <p:sp>
          <p:nvSpPr>
            <p:cNvPr id="18" name="TextBox 18"/>
            <p:cNvSpPr txBox="1"/>
            <p:nvPr/>
          </p:nvSpPr>
          <p:spPr>
            <a:xfrm>
              <a:off x="376047" y="990124"/>
              <a:ext cx="7172579"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从“不知道怎么做”到“做了但做不好”再到“有策略但缺少能力匹配”，对应的工作建议也从“先诊断再规划”到“整合零​​​​​​​​​​​​</a:t>
              </a:r>
              <a:br/>
              <a:r>
                <a:rPr lang="zh-CN" sz="980" dirty="0">
                  <a:solidFill>
                    <a:srgbClr val="333333"/>
                  </a:solidFill>
                  <a:latin typeface="+mn-lt"/>
                  <a:ea typeface="+mn-ea"/>
                  <a:cs typeface="+mn-cs"/>
                </a:rPr>
                <a:t>散建体系”再到“策略与能力双线补齐”，本质上是一条从认知到实践、从碎片到体系、从策略到支撑的渐进式成长路径​​​​​​</a:t>
              </a:r>
            </a:p>
          </p:txBody>
        </p:sp>
      </p:grpSp>
      <p:grpSp>
        <p:nvGrpSpPr>
          <p:cNvPr id="22" name="section-title"/>
          <p:cNvGrpSpPr/>
          <p:nvPr/>
        </p:nvGrpSpPr>
        <p:grpSpPr>
          <a:xfrm>
            <a:off x="375285" y="1516856"/>
            <a:ext cx="11435715" cy="220028"/>
            <a:chOff x="375285" y="1516856"/>
            <a:chExt cx="11435715" cy="220028"/>
          </a:xfrm>
        </p:grpSpPr>
        <p:sp>
          <p:nvSpPr>
            <p:cNvPr id="20" name="TextBox 20"/>
            <p:cNvSpPr txBox="1"/>
            <p:nvPr/>
          </p:nvSpPr>
          <p:spPr>
            <a:xfrm>
              <a:off x="375285" y="1516856"/>
              <a:ext cx="2455106" cy="220028"/>
            </a:xfrm>
            <a:prstGeom prst="rect">
              <a:avLst/>
            </a:prstGeom>
            <a:noFill/>
            <a:ln>
              <a:noFill/>
            </a:ln>
          </p:spPr>
          <p:txBody>
            <a:bodyPr wrap="none" lIns="0" tIns="0" rIns="0" bIns="0" anchor="t" anchorCtr="0">
              <a:spAutoFit/>
            </a:bodyPr>
            <a:lstStyle/>
            <a:p>
              <a:pPr algn="l"/>
              <a:r>
                <a:rPr lang="zh-CN" sz="1120" b="1" dirty="0">
                  <a:solidFill>
                    <a:srgbClr val="C93D25"/>
                  </a:solidFill>
                  <a:latin typeface="+mn-lt"/>
                  <a:ea typeface="+mn-ea"/>
                  <a:cs typeface="+mn-cs"/>
                </a:rPr>
                <a:t>三阶段痛点 · 从认知缺位到能力不足</a:t>
              </a:r>
            </a:p>
          </p:txBody>
        </p:sp>
        <p:sp>
          <p:nvSpPr>
            <p:cNvPr id="21" name="Line 21"/>
            <p:cNvSpPr/>
            <p:nvPr/>
          </p:nvSpPr>
          <p:spPr>
            <a:xfrm>
              <a:off x="381000" y="1714500"/>
              <a:ext cx="11430000" cy="9525"/>
            </a:xfrm>
            <a:custGeom>
              <a:avLst/>
              <a:gdLst/>
              <a:ahLst/>
              <a:cxnLst/>
              <a:rect l="l" t="t" r="r" b="b"/>
              <a:pathLst>
                <a:path w="11430000" h="9525">
                  <a:moveTo>
                    <a:pt x="0" y="0"/>
                  </a:moveTo>
                  <a:lnTo>
                    <a:pt x="11430000" y="0"/>
                  </a:lnTo>
                </a:path>
              </a:pathLst>
            </a:custGeom>
            <a:noFill/>
            <a:ln w="9525">
              <a:solidFill>
                <a:srgbClr val="E5E5E5"/>
              </a:solidFill>
            </a:ln>
          </p:spPr>
        </p:sp>
      </p:grpSp>
      <p:grpSp>
        <p:nvGrpSpPr>
          <p:cNvPr id="33" name="pain-1"/>
          <p:cNvGrpSpPr/>
          <p:nvPr/>
        </p:nvGrpSpPr>
        <p:grpSpPr>
          <a:xfrm>
            <a:off x="373380" y="1922145"/>
            <a:ext cx="3722370" cy="3488055"/>
            <a:chOff x="373380" y="1922145"/>
            <a:chExt cx="3722370" cy="3488055"/>
          </a:xfrm>
        </p:grpSpPr>
        <p:sp>
          <p:nvSpPr>
            <p:cNvPr id="23" name="TextBox 23"/>
            <p:cNvSpPr txBox="1"/>
            <p:nvPr/>
          </p:nvSpPr>
          <p:spPr>
            <a:xfrm>
              <a:off x="376238" y="1922145"/>
              <a:ext cx="421462" cy="176212"/>
            </a:xfrm>
            <a:prstGeom prst="rect">
              <a:avLst/>
            </a:prstGeom>
            <a:noFill/>
            <a:ln>
              <a:noFill/>
            </a:ln>
          </p:spPr>
          <p:txBody>
            <a:bodyPr wrap="none" lIns="0" tIns="0" rIns="0" bIns="0" anchor="t" anchorCtr="0">
              <a:spAutoFit/>
            </a:bodyPr>
            <a:lstStyle/>
            <a:p>
              <a:pPr algn="l"/>
              <a:r>
                <a:rPr lang="zh-CN" sz="900" dirty="0">
                  <a:solidFill>
                    <a:srgbClr val="666666"/>
                  </a:solidFill>
                  <a:latin typeface="+mn-lt"/>
                  <a:ea typeface="+mn-ea"/>
                  <a:cs typeface="+mn-cs"/>
                </a:rPr>
                <a:t>痛点 ①​</a:t>
              </a:r>
            </a:p>
          </p:txBody>
        </p:sp>
        <p:sp>
          <p:nvSpPr>
            <p:cNvPr id="24" name="TextBox 24"/>
            <p:cNvSpPr txBox="1"/>
            <p:nvPr/>
          </p:nvSpPr>
          <p:spPr>
            <a:xfrm>
              <a:off x="373380" y="2181225"/>
              <a:ext cx="822960" cy="293370"/>
            </a:xfrm>
            <a:prstGeom prst="rect">
              <a:avLst/>
            </a:prstGeom>
            <a:noFill/>
            <a:ln>
              <a:noFill/>
            </a:ln>
          </p:spPr>
          <p:txBody>
            <a:bodyPr wrap="none" lIns="0" tIns="0" rIns="0" bIns="0" anchor="t" anchorCtr="0">
              <a:spAutoFit/>
            </a:bodyPr>
            <a:lstStyle/>
            <a:p>
              <a:pPr algn="l"/>
              <a:r>
                <a:rPr lang="zh-CN" sz="1500" b="1" dirty="0">
                  <a:solidFill>
                    <a:srgbClr val="E74726"/>
                  </a:solidFill>
                  <a:latin typeface="+mn-lt"/>
                  <a:ea typeface="+mn-ea"/>
                  <a:cs typeface="+mn-cs"/>
                </a:rPr>
                <a:t>认知缺位</a:t>
              </a:r>
            </a:p>
          </p:txBody>
        </p:sp>
        <p:sp>
          <p:nvSpPr>
            <p:cNvPr id="25" name="TextBox 25"/>
            <p:cNvSpPr txBox="1"/>
            <p:nvPr/>
          </p:nvSpPr>
          <p:spPr>
            <a:xfrm>
              <a:off x="1233297" y="2237899"/>
              <a:ext cx="801472" cy="190690"/>
            </a:xfrm>
            <a:prstGeom prst="rect">
              <a:avLst/>
            </a:prstGeom>
            <a:noFill/>
            <a:ln>
              <a:noFill/>
            </a:ln>
          </p:spPr>
          <p:txBody>
            <a:bodyPr wrap="none" lIns="0" tIns="0" rIns="0" bIns="0" anchor="t" anchorCtr="0">
              <a:spAutoFit/>
            </a:bodyPr>
            <a:lstStyle/>
            <a:p>
              <a:pPr algn="l"/>
              <a:r>
                <a:rPr lang="zh-CN" sz="980" dirty="0">
                  <a:solidFill>
                    <a:srgbClr val="666666"/>
                  </a:solidFill>
                  <a:latin typeface="+mn-lt"/>
                  <a:ea typeface="+mn-ea"/>
                  <a:cs typeface="+mn-cs"/>
                </a:rPr>
                <a:t>不知道怎么做</a:t>
              </a:r>
            </a:p>
          </p:txBody>
        </p:sp>
        <p:sp>
          <p:nvSpPr>
            <p:cNvPr id="26" name="TextBox 26"/>
            <p:cNvSpPr txBox="1"/>
            <p:nvPr/>
          </p:nvSpPr>
          <p:spPr>
            <a:xfrm>
              <a:off x="376238" y="2508647"/>
              <a:ext cx="2582164" cy="354806"/>
            </a:xfrm>
            <a:prstGeom prst="rect">
              <a:avLst/>
            </a:prstGeom>
            <a:noFill/>
            <a:ln>
              <a:noFill/>
            </a:ln>
          </p:spPr>
          <p:txBody>
            <a:bodyPr wrap="none" lIns="0" tIns="0" rIns="0" bIns="0" anchor="t" anchorCtr="0">
              <a:spAutoFit/>
            </a:bodyPr>
            <a:lstStyle/>
            <a:p>
              <a:pPr algn="l">
                <a:lnSpc>
                  <a:spcPts val="1350"/>
                </a:lnSpc>
              </a:pPr>
              <a:r>
                <a:rPr lang="zh-CN" sz="940" dirty="0">
                  <a:solidFill>
                    <a:srgbClr val="666666"/>
                  </a:solidFill>
                  <a:latin typeface="+mn-lt"/>
                  <a:ea typeface="+mn-ea"/>
                  <a:cs typeface="+mn-cs"/>
                </a:rPr>
                <a:t>尚未建立专职运营团队，各部门各自为战，考核​</a:t>
              </a:r>
              <a:br/>
              <a:r>
                <a:rPr lang="zh-CN" sz="940" dirty="0">
                  <a:solidFill>
                    <a:srgbClr val="666666"/>
                  </a:solidFill>
                  <a:latin typeface="+mn-lt"/>
                  <a:ea typeface="+mn-ea"/>
                  <a:cs typeface="+mn-cs"/>
                </a:rPr>
                <a:t>侧重短期业绩，缺乏复合型人才</a:t>
              </a:r>
            </a:p>
          </p:txBody>
        </p:sp>
        <p:sp>
          <p:nvSpPr>
            <p:cNvPr id="27" name="Rectangle 27"/>
            <p:cNvSpPr/>
            <p:nvPr/>
          </p:nvSpPr>
          <p:spPr>
            <a:xfrm>
              <a:off x="381000" y="3028950"/>
              <a:ext cx="3714750" cy="304800"/>
            </a:xfrm>
            <a:prstGeom prst="rect">
              <a:avLst/>
            </a:prstGeom>
            <a:solidFill>
              <a:srgbClr val="D4E2FA"/>
            </a:solidFill>
            <a:ln>
              <a:noFill/>
            </a:ln>
          </p:spPr>
        </p:sp>
        <p:sp>
          <p:nvSpPr>
            <p:cNvPr id="28" name="TextBox 28"/>
            <p:cNvSpPr txBox="1"/>
            <p:nvPr/>
          </p:nvSpPr>
          <p:spPr>
            <a:xfrm>
              <a:off x="1780337" y="3117056"/>
              <a:ext cx="916076" cy="220028"/>
            </a:xfrm>
            <a:prstGeom prst="rect">
              <a:avLst/>
            </a:prstGeom>
            <a:noFill/>
            <a:ln>
              <a:noFill/>
            </a:ln>
          </p:spPr>
          <p:txBody>
            <a:bodyPr wrap="none" lIns="0" tIns="0" rIns="0" bIns="0" anchor="t" anchorCtr="0">
              <a:spAutoFit/>
            </a:bodyPr>
            <a:lstStyle/>
            <a:p>
              <a:pPr algn="ctr"/>
              <a:r>
                <a:rPr lang="zh-CN" sz="1120" dirty="0">
                  <a:solidFill>
                    <a:srgbClr val="932F1B"/>
                  </a:solidFill>
                  <a:latin typeface="+mn-lt"/>
                  <a:ea typeface="+mn-ea"/>
                  <a:cs typeface="+mn-cs"/>
                </a:rPr>
                <a:t>先诊断再规划</a:t>
              </a:r>
            </a:p>
          </p:txBody>
        </p:sp>
        <p:sp>
          <p:nvSpPr>
            <p:cNvPr id="29" name="Rectangle 29"/>
            <p:cNvSpPr/>
            <p:nvPr/>
          </p:nvSpPr>
          <p:spPr>
            <a:xfrm>
              <a:off x="381000" y="3543300"/>
              <a:ext cx="3714750" cy="1866900"/>
            </a:xfrm>
            <a:prstGeom prst="roundRect">
              <a:avLst>
                <a:gd name="adj" fmla="val 4082"/>
              </a:avLst>
            </a:prstGeom>
            <a:solidFill>
              <a:srgbClr val="FFFFFF"/>
            </a:solidFill>
            <a:ln w="9525">
              <a:solidFill>
                <a:srgbClr val="F1917D"/>
              </a:solidFill>
              <a:custDash>
                <a:ds d="500000" sp="300000"/>
              </a:custDash>
            </a:ln>
          </p:spPr>
        </p:sp>
        <p:sp>
          <p:nvSpPr>
            <p:cNvPr id="30" name="Ellipse 30"/>
            <p:cNvSpPr/>
            <p:nvPr/>
          </p:nvSpPr>
          <p:spPr>
            <a:xfrm>
              <a:off x="585788" y="3767138"/>
              <a:ext cx="47625" cy="47625"/>
            </a:xfrm>
            <a:prstGeom prst="ellipse">
              <a:avLst/>
            </a:prstGeom>
            <a:solidFill>
              <a:srgbClr val="333333"/>
            </a:solidFill>
            <a:ln>
              <a:noFill/>
            </a:ln>
          </p:spPr>
        </p:sp>
        <p:sp>
          <p:nvSpPr>
            <p:cNvPr id="31" name="TextBox 31"/>
            <p:cNvSpPr txBox="1"/>
            <p:nvPr/>
          </p:nvSpPr>
          <p:spPr>
            <a:xfrm>
              <a:off x="718947" y="3733324"/>
              <a:ext cx="1065327" cy="190690"/>
            </a:xfrm>
            <a:prstGeom prst="rect">
              <a:avLst/>
            </a:prstGeom>
            <a:noFill/>
            <a:ln>
              <a:noFill/>
            </a:ln>
          </p:spPr>
          <p:txBody>
            <a:bodyPr wrap="none" lIns="0" tIns="0" rIns="0" bIns="0" anchor="t" anchorCtr="0">
              <a:spAutoFit/>
            </a:bodyPr>
            <a:lstStyle/>
            <a:p>
              <a:pPr algn="l"/>
              <a:r>
                <a:rPr lang="zh-CN" sz="980" b="1" dirty="0">
                  <a:solidFill>
                    <a:srgbClr val="333333"/>
                  </a:solidFill>
                  <a:latin typeface="+mn-lt"/>
                  <a:ea typeface="+mn-ea"/>
                  <a:cs typeface="+mn-cs"/>
                </a:rPr>
                <a:t>先诊断、再规划：</a:t>
              </a:r>
            </a:p>
          </p:txBody>
        </p:sp>
        <p:sp>
          <p:nvSpPr>
            <p:cNvPr id="32" name="TextBox 32"/>
            <p:cNvSpPr txBox="1"/>
            <p:nvPr/>
          </p:nvSpPr>
          <p:spPr>
            <a:xfrm>
              <a:off x="566738" y="4032647"/>
              <a:ext cx="2462784" cy="726281"/>
            </a:xfrm>
            <a:prstGeom prst="rect">
              <a:avLst/>
            </a:prstGeom>
            <a:noFill/>
            <a:ln>
              <a:noFill/>
            </a:ln>
          </p:spPr>
          <p:txBody>
            <a:bodyPr wrap="none" lIns="0" tIns="0" rIns="0" bIns="0" anchor="t" anchorCtr="0">
              <a:spAutoFit/>
            </a:bodyPr>
            <a:lstStyle/>
            <a:p>
              <a:pPr algn="l">
                <a:lnSpc>
                  <a:spcPts val="1425"/>
                </a:lnSpc>
              </a:pPr>
              <a:r>
                <a:rPr lang="zh-CN" sz="940" dirty="0">
                  <a:solidFill>
                    <a:srgbClr val="333333"/>
                  </a:solidFill>
                  <a:latin typeface="+mn-lt"/>
                  <a:ea typeface="+mn-ea"/>
                  <a:cs typeface="+mn-cs"/>
                </a:rPr>
                <a:t>结合行内客群现状与自身能力水平，对标同业​</a:t>
              </a:r>
              <a:br/>
              <a:r>
                <a:rPr lang="zh-CN" sz="940" dirty="0">
                  <a:solidFill>
                    <a:srgbClr val="333333"/>
                  </a:solidFill>
                  <a:latin typeface="+mn-lt"/>
                  <a:ea typeface="+mn-ea"/>
                  <a:cs typeface="+mn-cs"/>
                </a:rPr>
                <a:t>领先实践，制定整体经营规划，明确阶段目标​</a:t>
              </a:r>
              <a:br/>
              <a:r>
                <a:rPr lang="zh-CN" sz="940" dirty="0">
                  <a:solidFill>
                    <a:srgbClr val="333333"/>
                  </a:solidFill>
                  <a:latin typeface="+mn-lt"/>
                  <a:ea typeface="+mn-ea"/>
                  <a:cs typeface="+mn-cs"/>
                </a:rPr>
                <a:t>与工作优先级，在有序推进落地前避免盲目铺​</a:t>
              </a:r>
              <a:br/>
              <a:r>
                <a:rPr lang="zh-CN" sz="940" dirty="0">
                  <a:solidFill>
                    <a:srgbClr val="333333"/>
                  </a:solidFill>
                  <a:latin typeface="+mn-lt"/>
                  <a:ea typeface="+mn-ea"/>
                  <a:cs typeface="+mn-cs"/>
                </a:rPr>
                <a:t>开。</a:t>
              </a:r>
            </a:p>
          </p:txBody>
        </p:sp>
      </p:grpSp>
      <p:grpSp>
        <p:nvGrpSpPr>
          <p:cNvPr id="44" name="pain-2"/>
          <p:cNvGrpSpPr/>
          <p:nvPr/>
        </p:nvGrpSpPr>
        <p:grpSpPr>
          <a:xfrm>
            <a:off x="4231005" y="1922145"/>
            <a:ext cx="3722370" cy="3488055"/>
            <a:chOff x="4231005" y="1922145"/>
            <a:chExt cx="3722370" cy="3488055"/>
          </a:xfrm>
        </p:grpSpPr>
        <p:sp>
          <p:nvSpPr>
            <p:cNvPr id="34" name="TextBox 34"/>
            <p:cNvSpPr txBox="1"/>
            <p:nvPr/>
          </p:nvSpPr>
          <p:spPr>
            <a:xfrm>
              <a:off x="4233862" y="1922145"/>
              <a:ext cx="421462" cy="176212"/>
            </a:xfrm>
            <a:prstGeom prst="rect">
              <a:avLst/>
            </a:prstGeom>
            <a:noFill/>
            <a:ln>
              <a:noFill/>
            </a:ln>
          </p:spPr>
          <p:txBody>
            <a:bodyPr wrap="none" lIns="0" tIns="0" rIns="0" bIns="0" anchor="t" anchorCtr="0">
              <a:spAutoFit/>
            </a:bodyPr>
            <a:lstStyle/>
            <a:p>
              <a:pPr algn="l"/>
              <a:r>
                <a:rPr lang="zh-CN" sz="900" dirty="0">
                  <a:solidFill>
                    <a:srgbClr val="666666"/>
                  </a:solidFill>
                  <a:latin typeface="+mn-lt"/>
                  <a:ea typeface="+mn-ea"/>
                  <a:cs typeface="+mn-cs"/>
                </a:rPr>
                <a:t>痛点 ②​</a:t>
              </a:r>
            </a:p>
          </p:txBody>
        </p:sp>
        <p:sp>
          <p:nvSpPr>
            <p:cNvPr id="35" name="TextBox 35"/>
            <p:cNvSpPr txBox="1"/>
            <p:nvPr/>
          </p:nvSpPr>
          <p:spPr>
            <a:xfrm>
              <a:off x="4231005" y="2181225"/>
              <a:ext cx="822960" cy="293370"/>
            </a:xfrm>
            <a:prstGeom prst="rect">
              <a:avLst/>
            </a:prstGeom>
            <a:noFill/>
            <a:ln>
              <a:noFill/>
            </a:ln>
          </p:spPr>
          <p:txBody>
            <a:bodyPr wrap="none" lIns="0" tIns="0" rIns="0" bIns="0" anchor="t" anchorCtr="0">
              <a:spAutoFit/>
            </a:bodyPr>
            <a:lstStyle/>
            <a:p>
              <a:pPr algn="l"/>
              <a:r>
                <a:rPr lang="zh-CN" sz="1500" b="1" dirty="0">
                  <a:solidFill>
                    <a:srgbClr val="E74726"/>
                  </a:solidFill>
                  <a:latin typeface="+mn-lt"/>
                  <a:ea typeface="+mn-ea"/>
                  <a:cs typeface="+mn-cs"/>
                </a:rPr>
                <a:t>零散尝试</a:t>
              </a:r>
            </a:p>
          </p:txBody>
        </p:sp>
        <p:sp>
          <p:nvSpPr>
            <p:cNvPr id="36" name="TextBox 36"/>
            <p:cNvSpPr txBox="1"/>
            <p:nvPr/>
          </p:nvSpPr>
          <p:spPr>
            <a:xfrm>
              <a:off x="5186172" y="2237899"/>
              <a:ext cx="801472" cy="190690"/>
            </a:xfrm>
            <a:prstGeom prst="rect">
              <a:avLst/>
            </a:prstGeom>
            <a:noFill/>
            <a:ln>
              <a:noFill/>
            </a:ln>
          </p:spPr>
          <p:txBody>
            <a:bodyPr wrap="none" lIns="0" tIns="0" rIns="0" bIns="0" anchor="t" anchorCtr="0">
              <a:spAutoFit/>
            </a:bodyPr>
            <a:lstStyle/>
            <a:p>
              <a:pPr algn="l"/>
              <a:r>
                <a:rPr lang="zh-CN" sz="980" dirty="0">
                  <a:solidFill>
                    <a:srgbClr val="666666"/>
                  </a:solidFill>
                  <a:latin typeface="+mn-lt"/>
                  <a:ea typeface="+mn-ea"/>
                  <a:cs typeface="+mn-cs"/>
                </a:rPr>
                <a:t>做了但做不好</a:t>
              </a:r>
            </a:p>
          </p:txBody>
        </p:sp>
        <p:sp>
          <p:nvSpPr>
            <p:cNvPr id="37" name="TextBox 37"/>
            <p:cNvSpPr txBox="1"/>
            <p:nvPr/>
          </p:nvSpPr>
          <p:spPr>
            <a:xfrm>
              <a:off x="4233862" y="2508647"/>
              <a:ext cx="2582164" cy="354806"/>
            </a:xfrm>
            <a:prstGeom prst="rect">
              <a:avLst/>
            </a:prstGeom>
            <a:noFill/>
            <a:ln>
              <a:noFill/>
            </a:ln>
          </p:spPr>
          <p:txBody>
            <a:bodyPr wrap="none" lIns="0" tIns="0" rIns="0" bIns="0" anchor="t" anchorCtr="0">
              <a:spAutoFit/>
            </a:bodyPr>
            <a:lstStyle/>
            <a:p>
              <a:pPr algn="l">
                <a:lnSpc>
                  <a:spcPts val="1350"/>
                </a:lnSpc>
              </a:pPr>
              <a:r>
                <a:rPr lang="zh-CN" sz="940" dirty="0">
                  <a:solidFill>
                    <a:srgbClr val="666666"/>
                  </a:solidFill>
                  <a:latin typeface="+mn-lt"/>
                  <a:ea typeface="+mn-ea"/>
                  <a:cs typeface="+mn-cs"/>
                </a:rPr>
                <a:t>分层仅靠静态属性，活动缺乏统筹，权益吸引力​</a:t>
              </a:r>
              <a:br/>
              <a:r>
                <a:rPr lang="zh-CN" sz="940" dirty="0">
                  <a:solidFill>
                    <a:srgbClr val="666666"/>
                  </a:solidFill>
                  <a:latin typeface="+mn-lt"/>
                  <a:ea typeface="+mn-ea"/>
                  <a:cs typeface="+mn-cs"/>
                </a:rPr>
                <a:t>弱/难续，渠道定位不清/数据割裂</a:t>
              </a:r>
            </a:p>
          </p:txBody>
        </p:sp>
        <p:sp>
          <p:nvSpPr>
            <p:cNvPr id="38" name="Rectangle 38"/>
            <p:cNvSpPr/>
            <p:nvPr/>
          </p:nvSpPr>
          <p:spPr>
            <a:xfrm>
              <a:off x="4238625" y="3028950"/>
              <a:ext cx="3714750" cy="304800"/>
            </a:xfrm>
            <a:prstGeom prst="rect">
              <a:avLst/>
            </a:prstGeom>
            <a:solidFill>
              <a:srgbClr val="D4E2FA"/>
            </a:solidFill>
            <a:ln>
              <a:noFill/>
            </a:ln>
          </p:spPr>
        </p:sp>
        <p:sp>
          <p:nvSpPr>
            <p:cNvPr id="39" name="TextBox 39"/>
            <p:cNvSpPr txBox="1"/>
            <p:nvPr/>
          </p:nvSpPr>
          <p:spPr>
            <a:xfrm>
              <a:off x="5562575" y="3117056"/>
              <a:ext cx="1066851" cy="220028"/>
            </a:xfrm>
            <a:prstGeom prst="rect">
              <a:avLst/>
            </a:prstGeom>
            <a:noFill/>
            <a:ln>
              <a:noFill/>
            </a:ln>
          </p:spPr>
          <p:txBody>
            <a:bodyPr wrap="none" lIns="0" tIns="0" rIns="0" bIns="0" anchor="t" anchorCtr="0">
              <a:spAutoFit/>
            </a:bodyPr>
            <a:lstStyle/>
            <a:p>
              <a:pPr algn="ctr"/>
              <a:r>
                <a:rPr lang="zh-CN" sz="1120" dirty="0">
                  <a:solidFill>
                    <a:srgbClr val="932F1B"/>
                  </a:solidFill>
                  <a:latin typeface="+mn-lt"/>
                  <a:ea typeface="+mn-ea"/>
                  <a:cs typeface="+mn-cs"/>
                </a:rPr>
                <a:t>整合零散建体系</a:t>
              </a:r>
            </a:p>
          </p:txBody>
        </p:sp>
        <p:sp>
          <p:nvSpPr>
            <p:cNvPr id="40" name="Rectangle 40"/>
            <p:cNvSpPr/>
            <p:nvPr/>
          </p:nvSpPr>
          <p:spPr>
            <a:xfrm>
              <a:off x="4238625" y="3543300"/>
              <a:ext cx="3714750" cy="1866900"/>
            </a:xfrm>
            <a:prstGeom prst="roundRect">
              <a:avLst>
                <a:gd name="adj" fmla="val 4082"/>
              </a:avLst>
            </a:prstGeom>
            <a:solidFill>
              <a:srgbClr val="FFFFFF"/>
            </a:solidFill>
            <a:ln w="9525">
              <a:solidFill>
                <a:srgbClr val="F1917D"/>
              </a:solidFill>
              <a:custDash>
                <a:ds d="500000" sp="300000"/>
              </a:custDash>
            </a:ln>
          </p:spPr>
        </p:sp>
        <p:sp>
          <p:nvSpPr>
            <p:cNvPr id="41" name="Ellipse 41"/>
            <p:cNvSpPr/>
            <p:nvPr/>
          </p:nvSpPr>
          <p:spPr>
            <a:xfrm>
              <a:off x="4443412" y="3767138"/>
              <a:ext cx="47625" cy="47625"/>
            </a:xfrm>
            <a:prstGeom prst="ellipse">
              <a:avLst/>
            </a:prstGeom>
            <a:solidFill>
              <a:srgbClr val="333333"/>
            </a:solidFill>
            <a:ln>
              <a:noFill/>
            </a:ln>
          </p:spPr>
        </p:sp>
        <p:sp>
          <p:nvSpPr>
            <p:cNvPr id="42" name="TextBox 42"/>
            <p:cNvSpPr txBox="1"/>
            <p:nvPr/>
          </p:nvSpPr>
          <p:spPr>
            <a:xfrm>
              <a:off x="4576572" y="3733324"/>
              <a:ext cx="1065327" cy="190690"/>
            </a:xfrm>
            <a:prstGeom prst="rect">
              <a:avLst/>
            </a:prstGeom>
            <a:noFill/>
            <a:ln>
              <a:noFill/>
            </a:ln>
          </p:spPr>
          <p:txBody>
            <a:bodyPr wrap="none" lIns="0" tIns="0" rIns="0" bIns="0" anchor="t" anchorCtr="0">
              <a:spAutoFit/>
            </a:bodyPr>
            <a:lstStyle/>
            <a:p>
              <a:pPr algn="l"/>
              <a:r>
                <a:rPr lang="zh-CN" sz="980" b="1" dirty="0">
                  <a:solidFill>
                    <a:srgbClr val="333333"/>
                  </a:solidFill>
                  <a:latin typeface="+mn-lt"/>
                  <a:ea typeface="+mn-ea"/>
                  <a:cs typeface="+mn-cs"/>
                </a:rPr>
                <a:t>再梳理，重整合：</a:t>
              </a:r>
            </a:p>
          </p:txBody>
        </p:sp>
        <p:sp>
          <p:nvSpPr>
            <p:cNvPr id="43" name="TextBox 43"/>
            <p:cNvSpPr txBox="1"/>
            <p:nvPr/>
          </p:nvSpPr>
          <p:spPr>
            <a:xfrm>
              <a:off x="4424362" y="4032647"/>
              <a:ext cx="2582164" cy="545306"/>
            </a:xfrm>
            <a:prstGeom prst="rect">
              <a:avLst/>
            </a:prstGeom>
            <a:noFill/>
            <a:ln>
              <a:noFill/>
            </a:ln>
          </p:spPr>
          <p:txBody>
            <a:bodyPr wrap="none" lIns="0" tIns="0" rIns="0" bIns="0" anchor="t" anchorCtr="0">
              <a:spAutoFit/>
            </a:bodyPr>
            <a:lstStyle/>
            <a:p>
              <a:pPr algn="l">
                <a:lnSpc>
                  <a:spcPts val="1425"/>
                </a:lnSpc>
              </a:pPr>
              <a:r>
                <a:rPr lang="zh-CN" sz="940" dirty="0">
                  <a:solidFill>
                    <a:srgbClr val="333333"/>
                  </a:solidFill>
                  <a:latin typeface="+mn-lt"/>
                  <a:ea typeface="+mn-ea"/>
                  <a:cs typeface="+mn-cs"/>
                </a:rPr>
                <a:t>系统梳理运营资源，将零散策略整合为线状流</a:t>
              </a:r>
              <a:br/>
              <a:r>
                <a:rPr lang="zh-CN" sz="940" dirty="0">
                  <a:solidFill>
                    <a:srgbClr val="333333"/>
                  </a:solidFill>
                  <a:latin typeface="+mn-lt"/>
                  <a:ea typeface="+mn-ea"/>
                  <a:cs typeface="+mn-cs"/>
                </a:rPr>
                <a:t>程与面状体系，从分层分群→活动运营→渠道​​</a:t>
              </a:r>
              <a:br/>
              <a:r>
                <a:rPr lang="zh-CN" sz="940" dirty="0">
                  <a:solidFill>
                    <a:srgbClr val="333333"/>
                  </a:solidFill>
                  <a:latin typeface="+mn-lt"/>
                  <a:ea typeface="+mn-ea"/>
                  <a:cs typeface="+mn-cs"/>
                </a:rPr>
                <a:t>触达建立完整闭环，形成可复制的标准化打法。​</a:t>
              </a:r>
            </a:p>
          </p:txBody>
        </p:sp>
      </p:grpSp>
      <p:grpSp>
        <p:nvGrpSpPr>
          <p:cNvPr id="55" name="pain-3"/>
          <p:cNvGrpSpPr/>
          <p:nvPr/>
        </p:nvGrpSpPr>
        <p:grpSpPr>
          <a:xfrm>
            <a:off x="8088630" y="1922145"/>
            <a:ext cx="3722370" cy="3488055"/>
            <a:chOff x="8088630" y="1922145"/>
            <a:chExt cx="3722370" cy="3488055"/>
          </a:xfrm>
        </p:grpSpPr>
        <p:sp>
          <p:nvSpPr>
            <p:cNvPr id="45" name="TextBox 45"/>
            <p:cNvSpPr txBox="1"/>
            <p:nvPr/>
          </p:nvSpPr>
          <p:spPr>
            <a:xfrm>
              <a:off x="8091488" y="1922145"/>
              <a:ext cx="421462" cy="176212"/>
            </a:xfrm>
            <a:prstGeom prst="rect">
              <a:avLst/>
            </a:prstGeom>
            <a:noFill/>
            <a:ln>
              <a:noFill/>
            </a:ln>
          </p:spPr>
          <p:txBody>
            <a:bodyPr wrap="none" lIns="0" tIns="0" rIns="0" bIns="0" anchor="t" anchorCtr="0">
              <a:spAutoFit/>
            </a:bodyPr>
            <a:lstStyle/>
            <a:p>
              <a:pPr algn="l"/>
              <a:r>
                <a:rPr lang="zh-CN" sz="900" dirty="0">
                  <a:solidFill>
                    <a:srgbClr val="666666"/>
                  </a:solidFill>
                  <a:latin typeface="+mn-lt"/>
                  <a:ea typeface="+mn-ea"/>
                  <a:cs typeface="+mn-cs"/>
                </a:rPr>
                <a:t>痛点 ③​</a:t>
              </a:r>
            </a:p>
          </p:txBody>
        </p:sp>
        <p:sp>
          <p:nvSpPr>
            <p:cNvPr id="46" name="TextBox 46"/>
            <p:cNvSpPr txBox="1"/>
            <p:nvPr/>
          </p:nvSpPr>
          <p:spPr>
            <a:xfrm>
              <a:off x="8088630" y="2181225"/>
              <a:ext cx="822960" cy="293370"/>
            </a:xfrm>
            <a:prstGeom prst="rect">
              <a:avLst/>
            </a:prstGeom>
            <a:noFill/>
            <a:ln>
              <a:noFill/>
            </a:ln>
          </p:spPr>
          <p:txBody>
            <a:bodyPr wrap="none" lIns="0" tIns="0" rIns="0" bIns="0" anchor="t" anchorCtr="0">
              <a:spAutoFit/>
            </a:bodyPr>
            <a:lstStyle/>
            <a:p>
              <a:pPr algn="l"/>
              <a:r>
                <a:rPr lang="zh-CN" sz="1500" b="1" dirty="0">
                  <a:solidFill>
                    <a:srgbClr val="E74726"/>
                  </a:solidFill>
                  <a:latin typeface="+mn-lt"/>
                  <a:ea typeface="+mn-ea"/>
                  <a:cs typeface="+mn-cs"/>
                </a:rPr>
                <a:t>能力不足</a:t>
              </a:r>
            </a:p>
          </p:txBody>
        </p:sp>
        <p:sp>
          <p:nvSpPr>
            <p:cNvPr id="47" name="TextBox 47"/>
            <p:cNvSpPr txBox="1"/>
            <p:nvPr/>
          </p:nvSpPr>
          <p:spPr>
            <a:xfrm>
              <a:off x="9043797" y="2237899"/>
              <a:ext cx="1461110" cy="190690"/>
            </a:xfrm>
            <a:prstGeom prst="rect">
              <a:avLst/>
            </a:prstGeom>
            <a:noFill/>
            <a:ln>
              <a:noFill/>
            </a:ln>
          </p:spPr>
          <p:txBody>
            <a:bodyPr wrap="none" lIns="0" tIns="0" rIns="0" bIns="0" anchor="t" anchorCtr="0">
              <a:spAutoFit/>
            </a:bodyPr>
            <a:lstStyle/>
            <a:p>
              <a:pPr algn="l"/>
              <a:r>
                <a:rPr lang="zh-CN" sz="980" dirty="0">
                  <a:solidFill>
                    <a:srgbClr val="666666"/>
                  </a:solidFill>
                  <a:latin typeface="+mn-lt"/>
                  <a:ea typeface="+mn-ea"/>
                  <a:cs typeface="+mn-cs"/>
                </a:rPr>
                <a:t>有策略有想法但能力欠缺</a:t>
              </a:r>
            </a:p>
          </p:txBody>
        </p:sp>
        <p:sp>
          <p:nvSpPr>
            <p:cNvPr id="48" name="TextBox 48"/>
            <p:cNvSpPr txBox="1"/>
            <p:nvPr/>
          </p:nvSpPr>
          <p:spPr>
            <a:xfrm>
              <a:off x="8091488" y="2508647"/>
              <a:ext cx="2528443" cy="354806"/>
            </a:xfrm>
            <a:prstGeom prst="rect">
              <a:avLst/>
            </a:prstGeom>
            <a:noFill/>
            <a:ln>
              <a:noFill/>
            </a:ln>
          </p:spPr>
          <p:txBody>
            <a:bodyPr wrap="none" lIns="0" tIns="0" rIns="0" bIns="0" anchor="t" anchorCtr="0">
              <a:spAutoFit/>
            </a:bodyPr>
            <a:lstStyle/>
            <a:p>
              <a:pPr algn="l">
                <a:lnSpc>
                  <a:spcPts val="1350"/>
                </a:lnSpc>
              </a:pPr>
              <a:r>
                <a:rPr lang="zh-CN" sz="940" dirty="0">
                  <a:solidFill>
                    <a:srgbClr val="666666"/>
                  </a:solidFill>
                  <a:latin typeface="+mn-lt"/>
                  <a:ea typeface="+mn-ea"/>
                  <a:cs typeface="+mn-cs"/>
                </a:rPr>
                <a:t>产品创新不足/高度同质化，数据孤岛未打通，​</a:t>
              </a:r>
              <a:br/>
              <a:r>
                <a:rPr lang="zh-CN" sz="940" dirty="0">
                  <a:solidFill>
                    <a:srgbClr val="666666"/>
                  </a:solidFill>
                  <a:latin typeface="+mn-lt"/>
                  <a:ea typeface="+mn-ea"/>
                  <a:cs typeface="+mn-cs"/>
                </a:rPr>
                <a:t>AI未深度融入核心场景​</a:t>
              </a:r>
            </a:p>
          </p:txBody>
        </p:sp>
        <p:sp>
          <p:nvSpPr>
            <p:cNvPr id="49" name="Rectangle 49"/>
            <p:cNvSpPr/>
            <p:nvPr/>
          </p:nvSpPr>
          <p:spPr>
            <a:xfrm>
              <a:off x="8096250" y="3028950"/>
              <a:ext cx="3714750" cy="304800"/>
            </a:xfrm>
            <a:prstGeom prst="rect">
              <a:avLst/>
            </a:prstGeom>
            <a:solidFill>
              <a:srgbClr val="D4E2FA"/>
            </a:solidFill>
            <a:ln>
              <a:noFill/>
            </a:ln>
          </p:spPr>
        </p:sp>
        <p:sp>
          <p:nvSpPr>
            <p:cNvPr id="50" name="TextBox 50"/>
            <p:cNvSpPr txBox="1"/>
            <p:nvPr/>
          </p:nvSpPr>
          <p:spPr>
            <a:xfrm>
              <a:off x="9269425" y="3117056"/>
              <a:ext cx="1368400" cy="220028"/>
            </a:xfrm>
            <a:prstGeom prst="rect">
              <a:avLst/>
            </a:prstGeom>
            <a:noFill/>
            <a:ln>
              <a:noFill/>
            </a:ln>
          </p:spPr>
          <p:txBody>
            <a:bodyPr wrap="none" lIns="0" tIns="0" rIns="0" bIns="0" anchor="t" anchorCtr="0">
              <a:spAutoFit/>
            </a:bodyPr>
            <a:lstStyle/>
            <a:p>
              <a:pPr algn="ctr"/>
              <a:r>
                <a:rPr lang="zh-CN" sz="1120" dirty="0">
                  <a:solidFill>
                    <a:srgbClr val="932F1B"/>
                  </a:solidFill>
                  <a:latin typeface="+mn-lt"/>
                  <a:ea typeface="+mn-ea"/>
                  <a:cs typeface="+mn-cs"/>
                </a:rPr>
                <a:t>策略与能力双线补齐</a:t>
              </a:r>
            </a:p>
          </p:txBody>
        </p:sp>
        <p:sp>
          <p:nvSpPr>
            <p:cNvPr id="51" name="Rectangle 51"/>
            <p:cNvSpPr/>
            <p:nvPr/>
          </p:nvSpPr>
          <p:spPr>
            <a:xfrm>
              <a:off x="8096250" y="3543300"/>
              <a:ext cx="3714750" cy="1866900"/>
            </a:xfrm>
            <a:prstGeom prst="roundRect">
              <a:avLst>
                <a:gd name="adj" fmla="val 4082"/>
              </a:avLst>
            </a:prstGeom>
            <a:solidFill>
              <a:srgbClr val="FFFFFF"/>
            </a:solidFill>
            <a:ln w="9525">
              <a:solidFill>
                <a:srgbClr val="F1917D"/>
              </a:solidFill>
              <a:custDash>
                <a:ds d="500000" sp="300000"/>
              </a:custDash>
            </a:ln>
          </p:spPr>
        </p:sp>
        <p:sp>
          <p:nvSpPr>
            <p:cNvPr id="52" name="Ellipse 52"/>
            <p:cNvSpPr/>
            <p:nvPr/>
          </p:nvSpPr>
          <p:spPr>
            <a:xfrm>
              <a:off x="8301038" y="3767138"/>
              <a:ext cx="47625" cy="47625"/>
            </a:xfrm>
            <a:prstGeom prst="ellipse">
              <a:avLst/>
            </a:prstGeom>
            <a:solidFill>
              <a:srgbClr val="333333"/>
            </a:solidFill>
            <a:ln>
              <a:noFill/>
            </a:ln>
          </p:spPr>
        </p:sp>
        <p:sp>
          <p:nvSpPr>
            <p:cNvPr id="53" name="TextBox 53"/>
            <p:cNvSpPr txBox="1"/>
            <p:nvPr/>
          </p:nvSpPr>
          <p:spPr>
            <a:xfrm>
              <a:off x="8434197" y="3733324"/>
              <a:ext cx="1329182" cy="190690"/>
            </a:xfrm>
            <a:prstGeom prst="rect">
              <a:avLst/>
            </a:prstGeom>
            <a:noFill/>
            <a:ln>
              <a:noFill/>
            </a:ln>
          </p:spPr>
          <p:txBody>
            <a:bodyPr wrap="none" lIns="0" tIns="0" rIns="0" bIns="0" anchor="t" anchorCtr="0">
              <a:spAutoFit/>
            </a:bodyPr>
            <a:lstStyle/>
            <a:p>
              <a:pPr algn="l"/>
              <a:r>
                <a:rPr lang="zh-CN" sz="980" b="1" dirty="0">
                  <a:solidFill>
                    <a:srgbClr val="333333"/>
                  </a:solidFill>
                  <a:latin typeface="+mn-lt"/>
                  <a:ea typeface="+mn-ea"/>
                  <a:cs typeface="+mn-cs"/>
                </a:rPr>
                <a:t>策略与能力双线推进：</a:t>
              </a:r>
            </a:p>
          </p:txBody>
        </p:sp>
        <p:sp>
          <p:nvSpPr>
            <p:cNvPr id="54" name="TextBox 54"/>
            <p:cNvSpPr txBox="1"/>
            <p:nvPr/>
          </p:nvSpPr>
          <p:spPr>
            <a:xfrm>
              <a:off x="8281988" y="4032647"/>
              <a:ext cx="2462784" cy="545306"/>
            </a:xfrm>
            <a:prstGeom prst="rect">
              <a:avLst/>
            </a:prstGeom>
            <a:noFill/>
            <a:ln>
              <a:noFill/>
            </a:ln>
          </p:spPr>
          <p:txBody>
            <a:bodyPr wrap="none" lIns="0" tIns="0" rIns="0" bIns="0" anchor="t" anchorCtr="0">
              <a:spAutoFit/>
            </a:bodyPr>
            <a:lstStyle/>
            <a:p>
              <a:pPr algn="l">
                <a:lnSpc>
                  <a:spcPts val="1425"/>
                </a:lnSpc>
              </a:pPr>
              <a:r>
                <a:rPr lang="zh-CN" sz="940" dirty="0">
                  <a:solidFill>
                    <a:srgbClr val="333333"/>
                  </a:solidFill>
                  <a:latin typeface="+mn-lt"/>
                  <a:ea typeface="+mn-ea"/>
                  <a:cs typeface="+mn-cs"/>
                </a:rPr>
                <a:t>在持续完善运营策略的同时，系统补齐数据平​</a:t>
              </a:r>
              <a:br/>
              <a:r>
                <a:rPr lang="zh-CN" sz="940" dirty="0">
                  <a:solidFill>
                    <a:srgbClr val="333333"/>
                  </a:solidFill>
                  <a:latin typeface="+mn-lt"/>
                  <a:ea typeface="+mn-ea"/>
                  <a:cs typeface="+mn-cs"/>
                </a:rPr>
                <a:t>台、产品供给、系统工具、人才队伍等能力短​</a:t>
              </a:r>
              <a:br/>
              <a:r>
                <a:rPr lang="zh-CN" sz="940" dirty="0">
                  <a:solidFill>
                    <a:srgbClr val="333333"/>
                  </a:solidFill>
                  <a:latin typeface="+mn-lt"/>
                  <a:ea typeface="+mn-ea"/>
                  <a:cs typeface="+mn-cs"/>
                </a:rPr>
                <a:t>板，推动策略精进与支撑升级协同推进。</a:t>
              </a:r>
            </a:p>
          </p:txBody>
        </p:sp>
      </p:grpSp>
      <p:grpSp>
        <p:nvGrpSpPr>
          <p:cNvPr id="58" name="footer"/>
          <p:cNvGrpSpPr/>
          <p:nvPr/>
        </p:nvGrpSpPr>
        <p:grpSpPr>
          <a:xfrm>
            <a:off x="0" y="6438900"/>
            <a:ext cx="12192000" cy="342900"/>
            <a:chOff x="0" y="6438900"/>
            <a:chExt cx="12192000" cy="342900"/>
          </a:xfrm>
        </p:grpSpPr>
        <p:sp>
          <p:nvSpPr>
            <p:cNvPr id="56" name="Line 56"/>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57" name="TextBox 57"/>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30​</a:t>
              </a:r>
            </a:p>
          </p:txBody>
        </p:sp>
        <p:sp>
          <p:nvSpPr>
            <p:cNvPr id="4" name="TextBox 4"/>
            <p:cNvSpPr txBox="1"/>
            <p:nvPr/>
          </p:nvSpPr>
          <p:spPr>
            <a:xfrm>
              <a:off x="885444" y="160973"/>
              <a:ext cx="8119651"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3.2 运营指南｜</a:t>
              </a:r>
              <a:r>
                <a:rPr lang="zh-CN" sz="1950" b="1" dirty="0">
                  <a:solidFill>
                    <a:srgbClr val="E74726"/>
                  </a:solidFill>
                  <a:latin typeface="+mj-lt"/>
                  <a:ea typeface="+mj-ea"/>
                  <a:cs typeface="+mj-cs"/>
                </a:rPr>
                <a:t>以双轮运营模式定方向、树标杆，筑牢经营核心</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5852231" cy="249364"/>
            <a:chOff x="374523" y="681514"/>
            <a:chExt cx="5852231" cy="249364"/>
          </a:xfrm>
        </p:grpSpPr>
        <p:sp>
          <p:nvSpPr>
            <p:cNvPr id="16" name="TextBox 16"/>
            <p:cNvSpPr txBox="1"/>
            <p:nvPr/>
          </p:nvSpPr>
          <p:spPr>
            <a:xfrm>
              <a:off x="374523" y="681514"/>
              <a:ext cx="5852231"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坚持“广覆盖筑链路、深挖掘做细分”双轨并行、双向赋能的核心运营思路​​​</a:t>
              </a:r>
            </a:p>
          </p:txBody>
        </p:sp>
      </p:grpSp>
      <p:grpSp>
        <p:nvGrpSpPr>
          <p:cNvPr id="19" name="guide"/>
          <p:cNvGrpSpPr/>
          <p:nvPr/>
        </p:nvGrpSpPr>
        <p:grpSpPr>
          <a:xfrm>
            <a:off x="376047" y="990124"/>
            <a:ext cx="7185025" cy="371666"/>
            <a:chOff x="376047" y="990124"/>
            <a:chExt cx="7185025" cy="371666"/>
          </a:xfrm>
        </p:grpSpPr>
        <p:sp>
          <p:nvSpPr>
            <p:cNvPr id="18" name="TextBox 18"/>
            <p:cNvSpPr txBox="1"/>
            <p:nvPr/>
          </p:nvSpPr>
          <p:spPr>
            <a:xfrm>
              <a:off x="376047" y="990124"/>
              <a:ext cx="7185025"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一方面，依托全域广覆盖的运营思维，聚焦长尾客群生命周期，打通客户服务全流程，循序渐进挖掘客户价值、稳固合作关系；​​​</a:t>
              </a:r>
              <a:br/>
              <a:r>
                <a:rPr lang="zh-CN" sz="980" dirty="0">
                  <a:solidFill>
                    <a:srgbClr val="333333"/>
                  </a:solidFill>
                  <a:latin typeface="+mn-lt"/>
                  <a:ea typeface="+mn-ea"/>
                  <a:cs typeface="+mn-cs"/>
                </a:rPr>
                <a:t>另一方面，以AUM提质增效为核心目标，围绕重点客群与事件客群两落实精准施策，推动量变到质变的跨越升级​​​​</a:t>
              </a:r>
            </a:p>
          </p:txBody>
        </p:sp>
      </p:grpSp>
      <p:grpSp>
        <p:nvGrpSpPr>
          <p:cNvPr id="62" name="band-wide"/>
          <p:cNvGrpSpPr/>
          <p:nvPr/>
        </p:nvGrpSpPr>
        <p:grpSpPr>
          <a:xfrm>
            <a:off x="381000" y="1428750"/>
            <a:ext cx="5524500" cy="3867150"/>
            <a:chOff x="381000" y="1428750"/>
            <a:chExt cx="5524500" cy="3867150"/>
          </a:xfrm>
        </p:grpSpPr>
        <p:sp>
          <p:nvSpPr>
            <p:cNvPr id="20" name="Rectangle 20"/>
            <p:cNvSpPr/>
            <p:nvPr/>
          </p:nvSpPr>
          <p:spPr>
            <a:xfrm>
              <a:off x="381000" y="1428750"/>
              <a:ext cx="5524500" cy="342900"/>
            </a:xfrm>
            <a:prstGeom prst="roundRect">
              <a:avLst>
                <a:gd name="adj" fmla="val 22222"/>
              </a:avLst>
            </a:prstGeom>
            <a:solidFill>
              <a:srgbClr val="E74726"/>
            </a:solidFill>
            <a:ln>
              <a:noFill/>
            </a:ln>
          </p:spPr>
        </p:sp>
        <p:sp>
          <p:nvSpPr>
            <p:cNvPr id="21" name="TextBox 21"/>
            <p:cNvSpPr txBox="1"/>
            <p:nvPr/>
          </p:nvSpPr>
          <p:spPr>
            <a:xfrm>
              <a:off x="1479017" y="1535906"/>
              <a:ext cx="3328467"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广覆盖筑链路：定位全量长尾客户，逐步引导提升</a:t>
              </a:r>
            </a:p>
          </p:txBody>
        </p:sp>
        <p:sp>
          <p:nvSpPr>
            <p:cNvPr id="22" name="Rectangle 22"/>
            <p:cNvSpPr/>
            <p:nvPr/>
          </p:nvSpPr>
          <p:spPr>
            <a:xfrm>
              <a:off x="381000" y="1771650"/>
              <a:ext cx="5524500" cy="3524250"/>
            </a:xfrm>
            <a:prstGeom prst="roundRect">
              <a:avLst>
                <a:gd name="adj" fmla="val 2162"/>
              </a:avLst>
            </a:prstGeom>
            <a:solidFill>
              <a:srgbClr val="FFFFFF"/>
            </a:solidFill>
            <a:ln w="14288">
              <a:solidFill>
                <a:srgbClr val="D4E2FA"/>
              </a:solidFill>
            </a:ln>
          </p:spPr>
        </p:sp>
        <p:sp>
          <p:nvSpPr>
            <p:cNvPr id="23" name="Line 23"/>
            <p:cNvSpPr/>
            <p:nvPr/>
          </p:nvSpPr>
          <p:spPr>
            <a:xfrm>
              <a:off x="571500" y="2047875"/>
              <a:ext cx="5143500" cy="1"/>
            </a:xfrm>
            <a:prstGeom prst="line">
              <a:avLst/>
            </a:prstGeom>
            <a:noFill/>
            <a:ln w="11430">
              <a:solidFill>
                <a:srgbClr val="F1917D"/>
              </a:solidFill>
              <a:tailEnd type="triangle" w="lg" len="lg"/>
            </a:ln>
          </p:spPr>
        </p:sp>
        <p:sp>
          <p:nvSpPr>
            <p:cNvPr id="24" name="Ellipse 24"/>
            <p:cNvSpPr/>
            <p:nvPr/>
          </p:nvSpPr>
          <p:spPr>
            <a:xfrm>
              <a:off x="1066800" y="1933575"/>
              <a:ext cx="914400" cy="228600"/>
            </a:xfrm>
            <a:prstGeom prst="ellipse">
              <a:avLst/>
            </a:prstGeom>
            <a:solidFill>
              <a:srgbClr val="D4E2FA"/>
            </a:solidFill>
            <a:ln>
              <a:noFill/>
            </a:ln>
          </p:spPr>
        </p:sp>
        <p:sp>
          <p:nvSpPr>
            <p:cNvPr id="25" name="TextBox 25"/>
            <p:cNvSpPr txBox="1"/>
            <p:nvPr/>
          </p:nvSpPr>
          <p:spPr>
            <a:xfrm>
              <a:off x="1222658" y="1990249"/>
              <a:ext cx="602684" cy="190690"/>
            </a:xfrm>
            <a:prstGeom prst="rect">
              <a:avLst/>
            </a:prstGeom>
            <a:noFill/>
            <a:ln>
              <a:noFill/>
            </a:ln>
          </p:spPr>
          <p:txBody>
            <a:bodyPr wrap="none" lIns="0" tIns="0" rIns="0" bIns="0" anchor="t" anchorCtr="0">
              <a:spAutoFit/>
            </a:bodyPr>
            <a:lstStyle/>
            <a:p>
              <a:pPr algn="ctr"/>
              <a:r>
                <a:rPr lang="en-US" sz="980" b="1" dirty="0">
                  <a:solidFill>
                    <a:srgbClr val="333333"/>
                  </a:solidFill>
                  <a:latin typeface="+mn-lt"/>
                  <a:ea typeface="+mn-ea"/>
                  <a:cs typeface="+mn-cs"/>
                </a:rPr>
                <a:t>MAU​​​​</a:t>
              </a:r>
            </a:p>
          </p:txBody>
        </p:sp>
        <p:sp>
          <p:nvSpPr>
            <p:cNvPr id="26" name="Ellipse 26"/>
            <p:cNvSpPr/>
            <p:nvPr/>
          </p:nvSpPr>
          <p:spPr>
            <a:xfrm>
              <a:off x="3524250" y="1933575"/>
              <a:ext cx="1143000" cy="228600"/>
            </a:xfrm>
            <a:prstGeom prst="ellipse">
              <a:avLst/>
            </a:prstGeom>
            <a:solidFill>
              <a:srgbClr val="D4E2FA"/>
            </a:solidFill>
            <a:ln>
              <a:noFill/>
            </a:ln>
          </p:spPr>
        </p:sp>
        <p:sp>
          <p:nvSpPr>
            <p:cNvPr id="27" name="TextBox 27"/>
            <p:cNvSpPr txBox="1"/>
            <p:nvPr/>
          </p:nvSpPr>
          <p:spPr>
            <a:xfrm>
              <a:off x="3794408" y="1990249"/>
              <a:ext cx="602684" cy="190690"/>
            </a:xfrm>
            <a:prstGeom prst="rect">
              <a:avLst/>
            </a:prstGeom>
            <a:noFill/>
            <a:ln>
              <a:noFill/>
            </a:ln>
          </p:spPr>
          <p:txBody>
            <a:bodyPr wrap="none" lIns="0" tIns="0" rIns="0" bIns="0" anchor="t" anchorCtr="0">
              <a:spAutoFit/>
            </a:bodyPr>
            <a:lstStyle/>
            <a:p>
              <a:pPr algn="ctr"/>
              <a:r>
                <a:rPr lang="en-US" sz="980" b="1" dirty="0">
                  <a:solidFill>
                    <a:srgbClr val="333333"/>
                  </a:solidFill>
                  <a:latin typeface="+mn-lt"/>
                  <a:ea typeface="+mn-ea"/>
                  <a:cs typeface="+mn-cs"/>
                </a:rPr>
                <a:t>AUM​​​​</a:t>
              </a:r>
            </a:p>
          </p:txBody>
        </p:sp>
        <p:sp>
          <p:nvSpPr>
            <p:cNvPr id="28" name="Freeform 28"/>
            <p:cNvSpPr/>
            <p:nvPr/>
          </p:nvSpPr>
          <p:spPr>
            <a:xfrm>
              <a:off x="571500" y="2305050"/>
              <a:ext cx="5143500" cy="571500"/>
            </a:xfrm>
            <a:custGeom>
              <a:avLst/>
              <a:gdLst/>
              <a:ahLst/>
              <a:cxnLst/>
              <a:rect l="l" t="t" r="r" b="b"/>
              <a:pathLst>
                <a:path w="5143500" h="571500">
                  <a:moveTo>
                    <a:pt x="0" y="571500"/>
                  </a:moveTo>
                  <a:cubicBezTo>
                    <a:pt x="1333500" y="533400"/>
                    <a:pt x="2286000" y="438150"/>
                    <a:pt x="3048000" y="190500"/>
                  </a:cubicBezTo>
                  <a:cubicBezTo>
                    <a:pt x="3429000" y="47625"/>
                    <a:pt x="3667125" y="0"/>
                    <a:pt x="3857625" y="47625"/>
                  </a:cubicBezTo>
                  <a:cubicBezTo>
                    <a:pt x="4143375" y="133350"/>
                    <a:pt x="4429125" y="342900"/>
                    <a:pt x="5143500" y="476250"/>
                  </a:cubicBezTo>
                  <a:lnTo>
                    <a:pt x="5143500" y="571500"/>
                  </a:lnTo>
                  <a:close/>
                </a:path>
              </a:pathLst>
            </a:custGeom>
            <a:solidFill>
              <a:srgbClr val="D4E2FA">
                <a:alpha val="75000"/>
              </a:srgbClr>
            </a:solidFill>
            <a:ln>
              <a:noFill/>
            </a:ln>
          </p:spPr>
        </p:sp>
        <p:sp>
          <p:nvSpPr>
            <p:cNvPr id="29" name="Freeform 29"/>
            <p:cNvSpPr/>
            <p:nvPr/>
          </p:nvSpPr>
          <p:spPr>
            <a:xfrm>
              <a:off x="571500" y="2305050"/>
              <a:ext cx="5143500" cy="571500"/>
            </a:xfrm>
            <a:custGeom>
              <a:avLst/>
              <a:gdLst/>
              <a:ahLst/>
              <a:cxnLst/>
              <a:rect l="l" t="t" r="r" b="b"/>
              <a:pathLst>
                <a:path w="5143500" h="571500">
                  <a:moveTo>
                    <a:pt x="0" y="571500"/>
                  </a:moveTo>
                  <a:cubicBezTo>
                    <a:pt x="1333500" y="533400"/>
                    <a:pt x="2286000" y="438150"/>
                    <a:pt x="3048000" y="190500"/>
                  </a:cubicBezTo>
                  <a:cubicBezTo>
                    <a:pt x="3429000" y="47625"/>
                    <a:pt x="3667125" y="0"/>
                    <a:pt x="3857625" y="47625"/>
                  </a:cubicBezTo>
                  <a:cubicBezTo>
                    <a:pt x="4143375" y="133350"/>
                    <a:pt x="4429125" y="342900"/>
                    <a:pt x="5143500" y="476250"/>
                  </a:cubicBezTo>
                </a:path>
              </a:pathLst>
            </a:custGeom>
            <a:noFill/>
            <a:ln w="11430">
              <a:solidFill>
                <a:srgbClr val="F1917D"/>
              </a:solidFill>
            </a:ln>
          </p:spPr>
        </p:sp>
        <p:sp>
          <p:nvSpPr>
            <p:cNvPr id="30" name="Line 30"/>
            <p:cNvSpPr/>
            <p:nvPr/>
          </p:nvSpPr>
          <p:spPr>
            <a:xfrm>
              <a:off x="1333500" y="2266950"/>
              <a:ext cx="9525" cy="609600"/>
            </a:xfrm>
            <a:custGeom>
              <a:avLst/>
              <a:gdLst/>
              <a:ahLst/>
              <a:cxnLst/>
              <a:rect l="l" t="t" r="r" b="b"/>
              <a:pathLst>
                <a:path w="9525" h="609600">
                  <a:moveTo>
                    <a:pt x="0" y="0"/>
                  </a:moveTo>
                  <a:lnTo>
                    <a:pt x="0" y="609600"/>
                  </a:lnTo>
                </a:path>
              </a:pathLst>
            </a:custGeom>
            <a:noFill/>
            <a:ln w="7620">
              <a:solidFill>
                <a:srgbClr val="BBBBBB"/>
              </a:solidFill>
              <a:custDash>
                <a:ds d="375000" sp="375000"/>
              </a:custDash>
            </a:ln>
          </p:spPr>
        </p:sp>
        <p:sp>
          <p:nvSpPr>
            <p:cNvPr id="31" name="Line 31"/>
            <p:cNvSpPr/>
            <p:nvPr/>
          </p:nvSpPr>
          <p:spPr>
            <a:xfrm>
              <a:off x="2381250" y="2266950"/>
              <a:ext cx="9525" cy="609600"/>
            </a:xfrm>
            <a:custGeom>
              <a:avLst/>
              <a:gdLst/>
              <a:ahLst/>
              <a:cxnLst/>
              <a:rect l="l" t="t" r="r" b="b"/>
              <a:pathLst>
                <a:path w="9525" h="609600">
                  <a:moveTo>
                    <a:pt x="0" y="0"/>
                  </a:moveTo>
                  <a:lnTo>
                    <a:pt x="0" y="609600"/>
                  </a:lnTo>
                </a:path>
              </a:pathLst>
            </a:custGeom>
            <a:noFill/>
            <a:ln w="7620">
              <a:solidFill>
                <a:srgbClr val="BBBBBB"/>
              </a:solidFill>
              <a:custDash>
                <a:ds d="375000" sp="375000"/>
              </a:custDash>
            </a:ln>
          </p:spPr>
        </p:sp>
        <p:sp>
          <p:nvSpPr>
            <p:cNvPr id="32" name="Line 32"/>
            <p:cNvSpPr/>
            <p:nvPr/>
          </p:nvSpPr>
          <p:spPr>
            <a:xfrm>
              <a:off x="3238500" y="2266950"/>
              <a:ext cx="9525" cy="609600"/>
            </a:xfrm>
            <a:custGeom>
              <a:avLst/>
              <a:gdLst/>
              <a:ahLst/>
              <a:cxnLst/>
              <a:rect l="l" t="t" r="r" b="b"/>
              <a:pathLst>
                <a:path w="9525" h="609600">
                  <a:moveTo>
                    <a:pt x="0" y="0"/>
                  </a:moveTo>
                  <a:lnTo>
                    <a:pt x="0" y="609600"/>
                  </a:lnTo>
                </a:path>
              </a:pathLst>
            </a:custGeom>
            <a:noFill/>
            <a:ln w="7620">
              <a:solidFill>
                <a:srgbClr val="BBBBBB"/>
              </a:solidFill>
              <a:custDash>
                <a:ds d="375000" sp="375000"/>
              </a:custDash>
            </a:ln>
          </p:spPr>
        </p:sp>
        <p:sp>
          <p:nvSpPr>
            <p:cNvPr id="33" name="Line 33"/>
            <p:cNvSpPr/>
            <p:nvPr/>
          </p:nvSpPr>
          <p:spPr>
            <a:xfrm>
              <a:off x="4381500" y="2266950"/>
              <a:ext cx="9525" cy="609600"/>
            </a:xfrm>
            <a:custGeom>
              <a:avLst/>
              <a:gdLst/>
              <a:ahLst/>
              <a:cxnLst/>
              <a:rect l="l" t="t" r="r" b="b"/>
              <a:pathLst>
                <a:path w="9525" h="609600">
                  <a:moveTo>
                    <a:pt x="0" y="0"/>
                  </a:moveTo>
                  <a:lnTo>
                    <a:pt x="0" y="609600"/>
                  </a:lnTo>
                </a:path>
              </a:pathLst>
            </a:custGeom>
            <a:noFill/>
            <a:ln w="7620">
              <a:solidFill>
                <a:srgbClr val="BBBBBB"/>
              </a:solidFill>
              <a:custDash>
                <a:ds d="375000" sp="375000"/>
              </a:custDash>
            </a:ln>
          </p:spPr>
        </p:sp>
        <p:sp>
          <p:nvSpPr>
            <p:cNvPr id="34" name="Line 34"/>
            <p:cNvSpPr/>
            <p:nvPr/>
          </p:nvSpPr>
          <p:spPr>
            <a:xfrm>
              <a:off x="5334000" y="2266950"/>
              <a:ext cx="9525" cy="609600"/>
            </a:xfrm>
            <a:custGeom>
              <a:avLst/>
              <a:gdLst/>
              <a:ahLst/>
              <a:cxnLst/>
              <a:rect l="l" t="t" r="r" b="b"/>
              <a:pathLst>
                <a:path w="9525" h="609600">
                  <a:moveTo>
                    <a:pt x="0" y="0"/>
                  </a:moveTo>
                  <a:lnTo>
                    <a:pt x="0" y="609600"/>
                  </a:lnTo>
                </a:path>
              </a:pathLst>
            </a:custGeom>
            <a:noFill/>
            <a:ln w="7620">
              <a:solidFill>
                <a:srgbClr val="BBBBBB"/>
              </a:solidFill>
              <a:custDash>
                <a:ds d="375000" sp="375000"/>
              </a:custDash>
            </a:ln>
          </p:spPr>
        </p:sp>
        <p:sp>
          <p:nvSpPr>
            <p:cNvPr id="35" name="Line 35"/>
            <p:cNvSpPr/>
            <p:nvPr/>
          </p:nvSpPr>
          <p:spPr>
            <a:xfrm>
              <a:off x="571500" y="2876550"/>
              <a:ext cx="5143500" cy="9525"/>
            </a:xfrm>
            <a:custGeom>
              <a:avLst/>
              <a:gdLst/>
              <a:ahLst/>
              <a:cxnLst/>
              <a:rect l="l" t="t" r="r" b="b"/>
              <a:pathLst>
                <a:path w="5143500" h="9525">
                  <a:moveTo>
                    <a:pt x="0" y="0"/>
                  </a:moveTo>
                  <a:lnTo>
                    <a:pt x="5143500" y="0"/>
                  </a:lnTo>
                </a:path>
              </a:pathLst>
            </a:custGeom>
            <a:noFill/>
            <a:ln w="9525">
              <a:solidFill>
                <a:srgbClr val="999999"/>
              </a:solidFill>
            </a:ln>
          </p:spPr>
        </p:sp>
        <p:sp>
          <p:nvSpPr>
            <p:cNvPr id="36" name="Line 36"/>
            <p:cNvSpPr/>
            <p:nvPr/>
          </p:nvSpPr>
          <p:spPr>
            <a:xfrm>
              <a:off x="3857625" y="2400300"/>
              <a:ext cx="1047750" cy="9525"/>
            </a:xfrm>
            <a:custGeom>
              <a:avLst/>
              <a:gdLst/>
              <a:ahLst/>
              <a:cxnLst/>
              <a:rect l="l" t="t" r="r" b="b"/>
              <a:pathLst>
                <a:path w="1047750" h="9525">
                  <a:moveTo>
                    <a:pt x="0" y="0"/>
                  </a:moveTo>
                  <a:lnTo>
                    <a:pt x="1047750" y="0"/>
                  </a:lnTo>
                </a:path>
              </a:pathLst>
            </a:custGeom>
            <a:noFill/>
            <a:ln w="9525">
              <a:solidFill>
                <a:srgbClr val="8C8C8C"/>
              </a:solidFill>
            </a:ln>
          </p:spPr>
        </p:sp>
        <p:sp>
          <p:nvSpPr>
            <p:cNvPr id="37" name="Polygon 37"/>
            <p:cNvSpPr/>
            <p:nvPr/>
          </p:nvSpPr>
          <p:spPr>
            <a:xfrm>
              <a:off x="3857625" y="2362200"/>
              <a:ext cx="76200" cy="76200"/>
            </a:xfrm>
            <a:custGeom>
              <a:avLst/>
              <a:gdLst/>
              <a:ahLst/>
              <a:cxnLst/>
              <a:rect l="l" t="t" r="r" b="b"/>
              <a:pathLst>
                <a:path w="76200" h="76200">
                  <a:moveTo>
                    <a:pt x="0" y="38100"/>
                  </a:moveTo>
                  <a:lnTo>
                    <a:pt x="76200" y="0"/>
                  </a:lnTo>
                  <a:lnTo>
                    <a:pt x="76200" y="76200"/>
                  </a:lnTo>
                  <a:close/>
                </a:path>
              </a:pathLst>
            </a:custGeom>
            <a:solidFill>
              <a:srgbClr val="8C8C8C"/>
            </a:solidFill>
            <a:ln>
              <a:noFill/>
            </a:ln>
          </p:spPr>
        </p:sp>
        <p:sp>
          <p:nvSpPr>
            <p:cNvPr id="38" name="Polygon 38"/>
            <p:cNvSpPr/>
            <p:nvPr/>
          </p:nvSpPr>
          <p:spPr>
            <a:xfrm>
              <a:off x="4829175" y="2362200"/>
              <a:ext cx="76200" cy="76200"/>
            </a:xfrm>
            <a:custGeom>
              <a:avLst/>
              <a:gdLst/>
              <a:ahLst/>
              <a:cxnLst/>
              <a:rect l="l" t="t" r="r" b="b"/>
              <a:pathLst>
                <a:path w="76200" h="76200">
                  <a:moveTo>
                    <a:pt x="76200" y="38100"/>
                  </a:moveTo>
                  <a:lnTo>
                    <a:pt x="0" y="0"/>
                  </a:lnTo>
                  <a:lnTo>
                    <a:pt x="0" y="76200"/>
                  </a:lnTo>
                  <a:close/>
                </a:path>
              </a:pathLst>
            </a:custGeom>
            <a:solidFill>
              <a:srgbClr val="8C8C8C"/>
            </a:solidFill>
            <a:ln>
              <a:noFill/>
            </a:ln>
          </p:spPr>
        </p:sp>
        <p:sp>
          <p:nvSpPr>
            <p:cNvPr id="39" name="Polygon 39"/>
            <p:cNvSpPr/>
            <p:nvPr/>
          </p:nvSpPr>
          <p:spPr>
            <a:xfrm>
              <a:off x="4343400" y="2266950"/>
              <a:ext cx="76200" cy="76200"/>
            </a:xfrm>
            <a:custGeom>
              <a:avLst/>
              <a:gdLst/>
              <a:ahLst/>
              <a:cxnLst/>
              <a:rect l="l" t="t" r="r" b="b"/>
              <a:pathLst>
                <a:path w="76200" h="76200">
                  <a:moveTo>
                    <a:pt x="38100" y="0"/>
                  </a:moveTo>
                  <a:lnTo>
                    <a:pt x="0" y="76200"/>
                  </a:lnTo>
                  <a:lnTo>
                    <a:pt x="76200" y="76200"/>
                  </a:lnTo>
                  <a:close/>
                </a:path>
              </a:pathLst>
            </a:custGeom>
            <a:solidFill>
              <a:srgbClr val="8C8C8C"/>
            </a:solidFill>
            <a:ln>
              <a:noFill/>
            </a:ln>
          </p:spPr>
        </p:sp>
        <p:sp>
          <p:nvSpPr>
            <p:cNvPr id="40" name="Polygon 40"/>
            <p:cNvSpPr/>
            <p:nvPr/>
          </p:nvSpPr>
          <p:spPr>
            <a:xfrm>
              <a:off x="4343400" y="2476500"/>
              <a:ext cx="76200" cy="76200"/>
            </a:xfrm>
            <a:custGeom>
              <a:avLst/>
              <a:gdLst/>
              <a:ahLst/>
              <a:cxnLst/>
              <a:rect l="l" t="t" r="r" b="b"/>
              <a:pathLst>
                <a:path w="76200" h="76200">
                  <a:moveTo>
                    <a:pt x="38100" y="76200"/>
                  </a:moveTo>
                  <a:lnTo>
                    <a:pt x="0" y="0"/>
                  </a:lnTo>
                  <a:lnTo>
                    <a:pt x="76200" y="0"/>
                  </a:lnTo>
                  <a:close/>
                </a:path>
              </a:pathLst>
            </a:custGeom>
            <a:solidFill>
              <a:srgbClr val="8C8C8C"/>
            </a:solidFill>
            <a:ln>
              <a:noFill/>
            </a:ln>
          </p:spPr>
        </p:sp>
        <p:sp>
          <p:nvSpPr>
            <p:cNvPr id="41" name="Freeform 41"/>
            <p:cNvSpPr/>
            <p:nvPr/>
          </p:nvSpPr>
          <p:spPr>
            <a:xfrm>
              <a:off x="571500" y="2971800"/>
              <a:ext cx="1047750" cy="285750"/>
            </a:xfrm>
            <a:prstGeom prst="homePlate">
              <a:avLst/>
            </a:prstGeom>
            <a:solidFill>
              <a:srgbClr val="D4E2FA"/>
            </a:solidFill>
            <a:ln>
              <a:noFill/>
            </a:ln>
          </p:spPr>
        </p:sp>
        <p:sp>
          <p:nvSpPr>
            <p:cNvPr id="42" name="Freeform 42"/>
            <p:cNvSpPr/>
            <p:nvPr/>
          </p:nvSpPr>
          <p:spPr>
            <a:xfrm>
              <a:off x="1581150" y="2971800"/>
              <a:ext cx="1047750" cy="285750"/>
            </a:xfrm>
            <a:prstGeom prst="chevron">
              <a:avLst/>
            </a:prstGeom>
            <a:solidFill>
              <a:srgbClr val="D4E2FA"/>
            </a:solidFill>
            <a:ln>
              <a:noFill/>
            </a:ln>
          </p:spPr>
        </p:sp>
        <p:sp>
          <p:nvSpPr>
            <p:cNvPr id="43" name="Freeform 43"/>
            <p:cNvSpPr/>
            <p:nvPr/>
          </p:nvSpPr>
          <p:spPr>
            <a:xfrm>
              <a:off x="2590800" y="2971800"/>
              <a:ext cx="1047750" cy="285750"/>
            </a:xfrm>
            <a:prstGeom prst="chevron">
              <a:avLst/>
            </a:prstGeom>
            <a:solidFill>
              <a:srgbClr val="D4E2FA"/>
            </a:solidFill>
            <a:ln>
              <a:noFill/>
            </a:ln>
          </p:spPr>
        </p:sp>
        <p:sp>
          <p:nvSpPr>
            <p:cNvPr id="44" name="Freeform 44"/>
            <p:cNvSpPr/>
            <p:nvPr/>
          </p:nvSpPr>
          <p:spPr>
            <a:xfrm>
              <a:off x="3600450" y="2971800"/>
              <a:ext cx="1047750" cy="285750"/>
            </a:xfrm>
            <a:prstGeom prst="chevron">
              <a:avLst/>
            </a:prstGeom>
            <a:solidFill>
              <a:srgbClr val="D4E2FA"/>
            </a:solidFill>
            <a:ln>
              <a:noFill/>
            </a:ln>
          </p:spPr>
        </p:sp>
        <p:sp>
          <p:nvSpPr>
            <p:cNvPr id="45" name="Freeform 45"/>
            <p:cNvSpPr/>
            <p:nvPr/>
          </p:nvSpPr>
          <p:spPr>
            <a:xfrm>
              <a:off x="4610100" y="2971800"/>
              <a:ext cx="1047750" cy="285750"/>
            </a:xfrm>
            <a:prstGeom prst="chevron">
              <a:avLst/>
            </a:prstGeom>
            <a:solidFill>
              <a:srgbClr val="D4E2FA"/>
            </a:solidFill>
            <a:ln>
              <a:noFill/>
            </a:ln>
          </p:spPr>
        </p:sp>
        <p:sp>
          <p:nvSpPr>
            <p:cNvPr id="46" name="TextBox 46"/>
            <p:cNvSpPr txBox="1"/>
            <p:nvPr/>
          </p:nvSpPr>
          <p:spPr>
            <a:xfrm>
              <a:off x="902056" y="3057049"/>
              <a:ext cx="40568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促签约</a:t>
              </a:r>
            </a:p>
          </p:txBody>
        </p:sp>
        <p:sp>
          <p:nvSpPr>
            <p:cNvPr id="47" name="TextBox 47"/>
            <p:cNvSpPr txBox="1"/>
            <p:nvPr/>
          </p:nvSpPr>
          <p:spPr>
            <a:xfrm>
              <a:off x="1911706" y="3057049"/>
              <a:ext cx="40568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促活跃</a:t>
              </a:r>
            </a:p>
          </p:txBody>
        </p:sp>
        <p:sp>
          <p:nvSpPr>
            <p:cNvPr id="48" name="TextBox 48"/>
            <p:cNvSpPr txBox="1"/>
            <p:nvPr/>
          </p:nvSpPr>
          <p:spPr>
            <a:xfrm>
              <a:off x="2921356" y="3057049"/>
              <a:ext cx="40568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促提升</a:t>
              </a:r>
            </a:p>
          </p:txBody>
        </p:sp>
        <p:sp>
          <p:nvSpPr>
            <p:cNvPr id="49" name="TextBox 49"/>
            <p:cNvSpPr txBox="1"/>
            <p:nvPr/>
          </p:nvSpPr>
          <p:spPr>
            <a:xfrm>
              <a:off x="3931006" y="3057049"/>
              <a:ext cx="40568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促提级</a:t>
              </a:r>
            </a:p>
          </p:txBody>
        </p:sp>
        <p:sp>
          <p:nvSpPr>
            <p:cNvPr id="50" name="TextBox 50"/>
            <p:cNvSpPr txBox="1"/>
            <p:nvPr/>
          </p:nvSpPr>
          <p:spPr>
            <a:xfrm>
              <a:off x="4940656" y="3057049"/>
              <a:ext cx="40568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防降级</a:t>
              </a:r>
            </a:p>
          </p:txBody>
        </p:sp>
        <p:grpSp>
          <p:nvGrpSpPr>
            <p:cNvPr id="61" name="wide-cards"/>
            <p:cNvGrpSpPr/>
            <p:nvPr/>
          </p:nvGrpSpPr>
          <p:grpSpPr>
            <a:xfrm>
              <a:off x="571500" y="3352800"/>
              <a:ext cx="5067300" cy="1809750"/>
              <a:chOff x="571500" y="3352800"/>
              <a:chExt cx="5067300" cy="1809750"/>
            </a:xfrm>
          </p:grpSpPr>
          <p:sp>
            <p:nvSpPr>
              <p:cNvPr id="51" name="Rectangle 51"/>
              <p:cNvSpPr/>
              <p:nvPr/>
            </p:nvSpPr>
            <p:spPr>
              <a:xfrm>
                <a:off x="571500" y="3352800"/>
                <a:ext cx="952500" cy="1809750"/>
              </a:xfrm>
              <a:prstGeom prst="roundRect">
                <a:avLst>
                  <a:gd name="adj" fmla="val 6000"/>
                </a:avLst>
              </a:prstGeom>
              <a:solidFill>
                <a:srgbClr val="FFFFFF"/>
              </a:solidFill>
              <a:ln w="9525">
                <a:solidFill>
                  <a:srgbClr val="D4E2FA"/>
                </a:solidFill>
              </a:ln>
            </p:spPr>
          </p:sp>
          <p:sp>
            <p:nvSpPr>
              <p:cNvPr id="52" name="TextBox 52"/>
              <p:cNvSpPr txBox="1"/>
              <p:nvPr/>
            </p:nvSpPr>
            <p:spPr>
              <a:xfrm>
                <a:off x="661988" y="3488293"/>
                <a:ext cx="724916" cy="1083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设计首绑即</a:t>
                </a:r>
                <a:br/>
                <a:r>
                  <a:rPr lang="zh-CN" sz="860" dirty="0">
                    <a:solidFill>
                      <a:srgbClr val="333333"/>
                    </a:solidFill>
                    <a:latin typeface="+mn-lt"/>
                    <a:ea typeface="+mn-ea"/>
                    <a:cs typeface="+mn-cs"/>
                  </a:rPr>
                  <a:t>得强利益点，​</a:t>
                </a:r>
                <a:br/>
                <a:r>
                  <a:rPr lang="zh-CN" sz="860" dirty="0">
                    <a:solidFill>
                      <a:srgbClr val="333333"/>
                    </a:solidFill>
                    <a:latin typeface="+mn-lt"/>
                    <a:ea typeface="+mn-ea"/>
                    <a:cs typeface="+mn-cs"/>
                  </a:rPr>
                  <a:t>以权益激励</a:t>
                </a:r>
                <a:br/>
                <a:r>
                  <a:rPr lang="zh-CN" sz="860" dirty="0">
                    <a:solidFill>
                      <a:srgbClr val="333333"/>
                    </a:solidFill>
                    <a:latin typeface="+mn-lt"/>
                    <a:ea typeface="+mn-ea"/>
                    <a:cs typeface="+mn-cs"/>
                  </a:rPr>
                  <a:t>和场景化服</a:t>
                </a:r>
                <a:br/>
                <a:r>
                  <a:rPr lang="zh-CN" sz="860" dirty="0">
                    <a:solidFill>
                      <a:srgbClr val="333333"/>
                    </a:solidFill>
                    <a:latin typeface="+mn-lt"/>
                    <a:ea typeface="+mn-ea"/>
                    <a:cs typeface="+mn-cs"/>
                  </a:rPr>
                  <a:t>务快速绑定</a:t>
                </a:r>
                <a:br/>
                <a:r>
                  <a:rPr lang="zh-CN" sz="860" dirty="0">
                    <a:solidFill>
                      <a:srgbClr val="333333"/>
                    </a:solidFill>
                    <a:latin typeface="+mn-lt"/>
                    <a:ea typeface="+mn-ea"/>
                    <a:cs typeface="+mn-cs"/>
                  </a:rPr>
                  <a:t>客户，做多</a:t>
                </a:r>
                <a:br/>
                <a:r>
                  <a:rPr lang="zh-CN" sz="860" dirty="0">
                    <a:solidFill>
                      <a:srgbClr val="333333"/>
                    </a:solidFill>
                    <a:latin typeface="+mn-lt"/>
                    <a:ea typeface="+mn-ea"/>
                    <a:cs typeface="+mn-cs"/>
                  </a:rPr>
                  <a:t>客户触点</a:t>
                </a:r>
              </a:p>
            </p:txBody>
          </p:sp>
          <p:sp>
            <p:nvSpPr>
              <p:cNvPr id="53" name="Rectangle 53"/>
              <p:cNvSpPr/>
              <p:nvPr/>
            </p:nvSpPr>
            <p:spPr>
              <a:xfrm>
                <a:off x="1600200" y="3352800"/>
                <a:ext cx="952500" cy="1809750"/>
              </a:xfrm>
              <a:prstGeom prst="roundRect">
                <a:avLst>
                  <a:gd name="adj" fmla="val 6000"/>
                </a:avLst>
              </a:prstGeom>
              <a:solidFill>
                <a:srgbClr val="FFFFFF"/>
              </a:solidFill>
              <a:ln w="9525">
                <a:solidFill>
                  <a:srgbClr val="D4E2FA"/>
                </a:solidFill>
              </a:ln>
            </p:spPr>
          </p:sp>
          <p:sp>
            <p:nvSpPr>
              <p:cNvPr id="54" name="TextBox 54"/>
              <p:cNvSpPr txBox="1"/>
              <p:nvPr/>
            </p:nvSpPr>
            <p:spPr>
              <a:xfrm>
                <a:off x="1690688" y="3488293"/>
                <a:ext cx="615696" cy="1083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强调渠道活​</a:t>
                </a:r>
                <a:br/>
                <a:r>
                  <a:rPr lang="zh-CN" sz="860" dirty="0">
                    <a:solidFill>
                      <a:srgbClr val="333333"/>
                    </a:solidFill>
                    <a:latin typeface="+mn-lt"/>
                    <a:ea typeface="+mn-ea"/>
                    <a:cs typeface="+mn-cs"/>
                  </a:rPr>
                  <a:t>跃与交易活​</a:t>
                </a:r>
                <a:br/>
                <a:r>
                  <a:rPr lang="zh-CN" sz="860" dirty="0">
                    <a:solidFill>
                      <a:srgbClr val="333333"/>
                    </a:solidFill>
                    <a:latin typeface="+mn-lt"/>
                    <a:ea typeface="+mn-ea"/>
                    <a:cs typeface="+mn-cs"/>
                  </a:rPr>
                  <a:t>跃，发力轻​</a:t>
                </a:r>
                <a:br/>
                <a:r>
                  <a:rPr lang="zh-CN" sz="860" dirty="0">
                    <a:solidFill>
                      <a:srgbClr val="333333"/>
                    </a:solidFill>
                    <a:latin typeface="+mn-lt"/>
                    <a:ea typeface="+mn-ea"/>
                    <a:cs typeface="+mn-cs"/>
                  </a:rPr>
                  <a:t>量化、游戏​</a:t>
                </a:r>
                <a:br/>
                <a:r>
                  <a:rPr lang="zh-CN" sz="860" dirty="0">
                    <a:solidFill>
                      <a:srgbClr val="333333"/>
                    </a:solidFill>
                    <a:latin typeface="+mn-lt"/>
                    <a:ea typeface="+mn-ea"/>
                    <a:cs typeface="+mn-cs"/>
                  </a:rPr>
                  <a:t>化运营及高​</a:t>
                </a:r>
                <a:br/>
                <a:r>
                  <a:rPr lang="zh-CN" sz="860" dirty="0">
                    <a:solidFill>
                      <a:srgbClr val="333333"/>
                    </a:solidFill>
                    <a:latin typeface="+mn-lt"/>
                    <a:ea typeface="+mn-ea"/>
                    <a:cs typeface="+mn-cs"/>
                  </a:rPr>
                  <a:t>频生活场景​</a:t>
                </a:r>
                <a:br/>
                <a:r>
                  <a:rPr lang="zh-CN" sz="860" dirty="0">
                    <a:solidFill>
                      <a:srgbClr val="333333"/>
                    </a:solidFill>
                    <a:latin typeface="+mn-lt"/>
                    <a:ea typeface="+mn-ea"/>
                    <a:cs typeface="+mn-cs"/>
                  </a:rPr>
                  <a:t>消费</a:t>
                </a:r>
              </a:p>
            </p:txBody>
          </p:sp>
          <p:sp>
            <p:nvSpPr>
              <p:cNvPr id="55" name="Rectangle 55"/>
              <p:cNvSpPr/>
              <p:nvPr/>
            </p:nvSpPr>
            <p:spPr>
              <a:xfrm>
                <a:off x="2628900" y="3352800"/>
                <a:ext cx="952500" cy="1809750"/>
              </a:xfrm>
              <a:prstGeom prst="roundRect">
                <a:avLst>
                  <a:gd name="adj" fmla="val 6000"/>
                </a:avLst>
              </a:prstGeom>
              <a:solidFill>
                <a:srgbClr val="FFFFFF"/>
              </a:solidFill>
              <a:ln w="9525">
                <a:solidFill>
                  <a:srgbClr val="D4E2FA"/>
                </a:solidFill>
              </a:ln>
            </p:spPr>
          </p:sp>
          <p:sp>
            <p:nvSpPr>
              <p:cNvPr id="56" name="TextBox 56"/>
              <p:cNvSpPr txBox="1"/>
              <p:nvPr/>
            </p:nvSpPr>
            <p:spPr>
              <a:xfrm>
                <a:off x="2719388" y="3488293"/>
                <a:ext cx="724916" cy="1083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拆解低门槛、​</a:t>
                </a:r>
                <a:br/>
                <a:r>
                  <a:rPr lang="zh-CN" sz="860" dirty="0">
                    <a:solidFill>
                      <a:srgbClr val="333333"/>
                    </a:solidFill>
                    <a:latin typeface="+mn-lt"/>
                    <a:ea typeface="+mn-ea"/>
                    <a:cs typeface="+mn-cs"/>
                  </a:rPr>
                  <a:t>可达成、阶</a:t>
                </a:r>
                <a:br/>
                <a:r>
                  <a:rPr lang="zh-CN" sz="860" dirty="0">
                    <a:solidFill>
                      <a:srgbClr val="333333"/>
                    </a:solidFill>
                    <a:latin typeface="+mn-lt"/>
                    <a:ea typeface="+mn-ea"/>
                    <a:cs typeface="+mn-cs"/>
                  </a:rPr>
                  <a:t>段性的小型</a:t>
                </a:r>
                <a:br/>
                <a:r>
                  <a:rPr lang="zh-CN" sz="860" dirty="0">
                    <a:solidFill>
                      <a:srgbClr val="333333"/>
                    </a:solidFill>
                    <a:latin typeface="+mn-lt"/>
                    <a:ea typeface="+mn-ea"/>
                    <a:cs typeface="+mn-cs"/>
                  </a:rPr>
                  <a:t>提升目标，</a:t>
                </a:r>
                <a:br/>
                <a:r>
                  <a:rPr lang="zh-CN" sz="860" dirty="0">
                    <a:solidFill>
                      <a:srgbClr val="333333"/>
                    </a:solidFill>
                    <a:latin typeface="+mn-lt"/>
                    <a:ea typeface="+mn-ea"/>
                    <a:cs typeface="+mn-cs"/>
                  </a:rPr>
                  <a:t>降低长尾客</a:t>
                </a:r>
                <a:br/>
                <a:r>
                  <a:rPr lang="zh-CN" sz="860" dirty="0">
                    <a:solidFill>
                      <a:srgbClr val="333333"/>
                    </a:solidFill>
                    <a:latin typeface="+mn-lt"/>
                    <a:ea typeface="+mn-ea"/>
                    <a:cs typeface="+mn-cs"/>
                  </a:rPr>
                  <a:t>户资产归集</a:t>
                </a:r>
                <a:br/>
                <a:r>
                  <a:rPr lang="zh-CN" sz="860" dirty="0">
                    <a:solidFill>
                      <a:srgbClr val="333333"/>
                    </a:solidFill>
                    <a:latin typeface="+mn-lt"/>
                    <a:ea typeface="+mn-ea"/>
                    <a:cs typeface="+mn-cs"/>
                  </a:rPr>
                  <a:t>门槛</a:t>
                </a:r>
              </a:p>
            </p:txBody>
          </p:sp>
          <p:sp>
            <p:nvSpPr>
              <p:cNvPr id="57" name="Rectangle 57"/>
              <p:cNvSpPr/>
              <p:nvPr/>
            </p:nvSpPr>
            <p:spPr>
              <a:xfrm>
                <a:off x="3657600" y="3352800"/>
                <a:ext cx="952500" cy="1809750"/>
              </a:xfrm>
              <a:prstGeom prst="roundRect">
                <a:avLst>
                  <a:gd name="adj" fmla="val 6000"/>
                </a:avLst>
              </a:prstGeom>
              <a:solidFill>
                <a:srgbClr val="FFFFFF"/>
              </a:solidFill>
              <a:ln w="9525">
                <a:solidFill>
                  <a:srgbClr val="D4E2FA"/>
                </a:solidFill>
              </a:ln>
            </p:spPr>
          </p:sp>
          <p:sp>
            <p:nvSpPr>
              <p:cNvPr id="58" name="TextBox 58"/>
              <p:cNvSpPr txBox="1"/>
              <p:nvPr/>
            </p:nvSpPr>
            <p:spPr>
              <a:xfrm>
                <a:off x="3748088" y="3488293"/>
                <a:ext cx="615696" cy="1083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通过限时冲​</a:t>
                </a:r>
                <a:br/>
                <a:r>
                  <a:rPr lang="zh-CN" sz="860" dirty="0">
                    <a:solidFill>
                      <a:srgbClr val="333333"/>
                    </a:solidFill>
                    <a:latin typeface="+mn-lt"/>
                    <a:ea typeface="+mn-ea"/>
                    <a:cs typeface="+mn-cs"/>
                  </a:rPr>
                  <a:t>刺、达标礼​</a:t>
                </a:r>
                <a:br/>
                <a:r>
                  <a:rPr lang="zh-CN" sz="860" dirty="0">
                    <a:solidFill>
                      <a:srgbClr val="333333"/>
                    </a:solidFill>
                    <a:latin typeface="+mn-lt"/>
                    <a:ea typeface="+mn-ea"/>
                    <a:cs typeface="+mn-cs"/>
                  </a:rPr>
                  <a:t>包等临门一​</a:t>
                </a:r>
                <a:br/>
                <a:r>
                  <a:rPr lang="zh-CN" sz="860" dirty="0">
                    <a:solidFill>
                      <a:srgbClr val="333333"/>
                    </a:solidFill>
                    <a:latin typeface="+mn-lt"/>
                    <a:ea typeface="+mn-ea"/>
                    <a:cs typeface="+mn-cs"/>
                  </a:rPr>
                  <a:t>脚式激励，​</a:t>
                </a:r>
                <a:br/>
                <a:r>
                  <a:rPr lang="zh-CN" sz="860" dirty="0">
                    <a:solidFill>
                      <a:srgbClr val="333333"/>
                    </a:solidFill>
                    <a:latin typeface="+mn-lt"/>
                    <a:ea typeface="+mn-ea"/>
                    <a:cs typeface="+mn-cs"/>
                  </a:rPr>
                  <a:t>助力客户快​</a:t>
                </a:r>
                <a:br/>
                <a:r>
                  <a:rPr lang="zh-CN" sz="860" dirty="0">
                    <a:solidFill>
                      <a:srgbClr val="333333"/>
                    </a:solidFill>
                    <a:latin typeface="+mn-lt"/>
                    <a:ea typeface="+mn-ea"/>
                    <a:cs typeface="+mn-cs"/>
                  </a:rPr>
                  <a:t>速突破长尾​</a:t>
                </a:r>
                <a:br/>
                <a:r>
                  <a:rPr lang="zh-CN" sz="860" dirty="0">
                    <a:solidFill>
                      <a:srgbClr val="333333"/>
                    </a:solidFill>
                    <a:latin typeface="+mn-lt"/>
                    <a:ea typeface="+mn-ea"/>
                    <a:cs typeface="+mn-cs"/>
                  </a:rPr>
                  <a:t>层级壁垒</a:t>
                </a:r>
              </a:p>
            </p:txBody>
          </p:sp>
          <p:sp>
            <p:nvSpPr>
              <p:cNvPr id="59" name="Rectangle 59"/>
              <p:cNvSpPr/>
              <p:nvPr/>
            </p:nvSpPr>
            <p:spPr>
              <a:xfrm>
                <a:off x="4686300" y="3352800"/>
                <a:ext cx="952500" cy="1809750"/>
              </a:xfrm>
              <a:prstGeom prst="roundRect">
                <a:avLst>
                  <a:gd name="adj" fmla="val 6000"/>
                </a:avLst>
              </a:prstGeom>
              <a:solidFill>
                <a:srgbClr val="FFFFFF"/>
              </a:solidFill>
              <a:ln w="9525">
                <a:solidFill>
                  <a:srgbClr val="D4E2FA"/>
                </a:solidFill>
              </a:ln>
            </p:spPr>
          </p:sp>
          <p:sp>
            <p:nvSpPr>
              <p:cNvPr id="60" name="TextBox 60"/>
              <p:cNvSpPr txBox="1"/>
              <p:nvPr/>
            </p:nvSpPr>
            <p:spPr>
              <a:xfrm>
                <a:off x="4776788" y="3488293"/>
                <a:ext cx="615696" cy="1083469"/>
              </a:xfrm>
              <a:prstGeom prst="rect">
                <a:avLst/>
              </a:prstGeom>
              <a:noFill/>
              <a:ln>
                <a:noFill/>
              </a:ln>
            </p:spPr>
            <p:txBody>
              <a:bodyPr wrap="none" lIns="0" tIns="0" rIns="0" bIns="0" anchor="t" anchorCtr="0">
                <a:spAutoFit/>
              </a:bodyPr>
              <a:lstStyle/>
              <a:p>
                <a:pPr algn="l">
                  <a:lnSpc>
                    <a:spcPts val="1200"/>
                  </a:lnSpc>
                </a:pPr>
                <a:r>
                  <a:rPr lang="zh-CN" sz="860" dirty="0">
                    <a:solidFill>
                      <a:srgbClr val="333333"/>
                    </a:solidFill>
                    <a:latin typeface="+mn-lt"/>
                    <a:ea typeface="+mn-ea"/>
                    <a:cs typeface="+mn-cs"/>
                  </a:rPr>
                  <a:t>以产品组合​</a:t>
                </a:r>
                <a:br/>
                <a:r>
                  <a:rPr lang="zh-CN" sz="860" dirty="0">
                    <a:solidFill>
                      <a:srgbClr val="333333"/>
                    </a:solidFill>
                    <a:latin typeface="+mn-lt"/>
                    <a:ea typeface="+mn-ea"/>
                    <a:cs typeface="+mn-cs"/>
                  </a:rPr>
                  <a:t>绑定、权益​</a:t>
                </a:r>
                <a:br/>
                <a:r>
                  <a:rPr lang="zh-CN" sz="860" dirty="0">
                    <a:solidFill>
                      <a:srgbClr val="333333"/>
                    </a:solidFill>
                    <a:latin typeface="+mn-lt"/>
                    <a:ea typeface="+mn-ea"/>
                    <a:cs typeface="+mn-cs"/>
                  </a:rPr>
                  <a:t>体系固化、​</a:t>
                </a:r>
                <a:br/>
                <a:r>
                  <a:rPr lang="zh-CN" sz="860" dirty="0">
                    <a:solidFill>
                      <a:srgbClr val="333333"/>
                    </a:solidFill>
                    <a:latin typeface="+mn-lt"/>
                    <a:ea typeface="+mn-ea"/>
                    <a:cs typeface="+mn-cs"/>
                  </a:rPr>
                  <a:t>常态化运维​</a:t>
                </a:r>
                <a:br/>
                <a:r>
                  <a:rPr lang="zh-CN" sz="860" dirty="0">
                    <a:solidFill>
                      <a:srgbClr val="333333"/>
                    </a:solidFill>
                    <a:latin typeface="+mn-lt"/>
                    <a:ea typeface="+mn-ea"/>
                    <a:cs typeface="+mn-cs"/>
                  </a:rPr>
                  <a:t>跟进、流失​</a:t>
                </a:r>
                <a:br/>
                <a:r>
                  <a:rPr lang="zh-CN" sz="860" dirty="0">
                    <a:solidFill>
                      <a:srgbClr val="333333"/>
                    </a:solidFill>
                    <a:latin typeface="+mn-lt"/>
                    <a:ea typeface="+mn-ea"/>
                    <a:cs typeface="+mn-cs"/>
                  </a:rPr>
                  <a:t>预警监测等​</a:t>
                </a:r>
                <a:br/>
                <a:r>
                  <a:rPr lang="zh-CN" sz="860" dirty="0">
                    <a:solidFill>
                      <a:srgbClr val="333333"/>
                    </a:solidFill>
                    <a:latin typeface="+mn-lt"/>
                    <a:ea typeface="+mn-ea"/>
                    <a:cs typeface="+mn-cs"/>
                  </a:rPr>
                  <a:t>方式助留存​</a:t>
                </a:r>
              </a:p>
            </p:txBody>
          </p:sp>
        </p:grpSp>
      </p:grpSp>
      <p:grpSp>
        <p:nvGrpSpPr>
          <p:cNvPr id="98" name="band-deep"/>
          <p:cNvGrpSpPr/>
          <p:nvPr/>
        </p:nvGrpSpPr>
        <p:grpSpPr>
          <a:xfrm>
            <a:off x="6096000" y="1428750"/>
            <a:ext cx="5715000" cy="3867150"/>
            <a:chOff x="6096000" y="1428750"/>
            <a:chExt cx="5715000" cy="3867150"/>
          </a:xfrm>
        </p:grpSpPr>
        <p:sp>
          <p:nvSpPr>
            <p:cNvPr id="63" name="Rectangle 63"/>
            <p:cNvSpPr/>
            <p:nvPr/>
          </p:nvSpPr>
          <p:spPr>
            <a:xfrm>
              <a:off x="6096000" y="1428750"/>
              <a:ext cx="5715000" cy="342900"/>
            </a:xfrm>
            <a:prstGeom prst="roundRect">
              <a:avLst>
                <a:gd name="adj" fmla="val 22222"/>
              </a:avLst>
            </a:prstGeom>
            <a:solidFill>
              <a:srgbClr val="E74726"/>
            </a:solidFill>
            <a:ln>
              <a:noFill/>
            </a:ln>
          </p:spPr>
        </p:sp>
        <p:sp>
          <p:nvSpPr>
            <p:cNvPr id="64" name="TextBox 64"/>
            <p:cNvSpPr txBox="1"/>
            <p:nvPr/>
          </p:nvSpPr>
          <p:spPr>
            <a:xfrm>
              <a:off x="7213879" y="1535906"/>
              <a:ext cx="347924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深挖掘做细分：精准锁定高潜客群，差异化营销提升</a:t>
              </a:r>
            </a:p>
          </p:txBody>
        </p:sp>
        <p:sp>
          <p:nvSpPr>
            <p:cNvPr id="65" name="Rectangle 65"/>
            <p:cNvSpPr/>
            <p:nvPr/>
          </p:nvSpPr>
          <p:spPr>
            <a:xfrm>
              <a:off x="6096000" y="1771650"/>
              <a:ext cx="5715000" cy="3524250"/>
            </a:xfrm>
            <a:prstGeom prst="roundRect">
              <a:avLst>
                <a:gd name="adj" fmla="val 2162"/>
              </a:avLst>
            </a:prstGeom>
            <a:solidFill>
              <a:srgbClr val="FFFFFF"/>
            </a:solidFill>
            <a:ln w="14288">
              <a:solidFill>
                <a:srgbClr val="D4E2FA"/>
              </a:solidFill>
            </a:ln>
          </p:spPr>
        </p:sp>
        <p:sp>
          <p:nvSpPr>
            <p:cNvPr id="66" name="Rectangle 66"/>
            <p:cNvSpPr/>
            <p:nvPr/>
          </p:nvSpPr>
          <p:spPr>
            <a:xfrm>
              <a:off x="6238875" y="1905000"/>
              <a:ext cx="495300" cy="1428750"/>
            </a:xfrm>
            <a:prstGeom prst="roundRect">
              <a:avLst>
                <a:gd name="adj" fmla="val 7692"/>
              </a:avLst>
            </a:prstGeom>
            <a:solidFill>
              <a:srgbClr val="D4E2FA"/>
            </a:solidFill>
            <a:ln>
              <a:noFill/>
            </a:ln>
          </p:spPr>
        </p:sp>
        <p:sp>
          <p:nvSpPr>
            <p:cNvPr id="67" name="TextBox 67"/>
            <p:cNvSpPr txBox="1"/>
            <p:nvPr/>
          </p:nvSpPr>
          <p:spPr>
            <a:xfrm>
              <a:off x="6322886" y="2428399"/>
              <a:ext cx="327279"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333333"/>
                  </a:solidFill>
                  <a:latin typeface="+mn-lt"/>
                  <a:ea typeface="+mn-ea"/>
                  <a:cs typeface="+mn-cs"/>
                </a:rPr>
                <a:t>重点​</a:t>
              </a:r>
              <a:br/>
              <a:r>
                <a:rPr lang="zh-CN" sz="980" dirty="0">
                  <a:solidFill>
                    <a:srgbClr val="333333"/>
                  </a:solidFill>
                  <a:latin typeface="+mn-lt"/>
                  <a:ea typeface="+mn-ea"/>
                  <a:cs typeface="+mn-cs"/>
                </a:rPr>
                <a:t>客群​</a:t>
              </a:r>
            </a:p>
          </p:txBody>
        </p:sp>
        <p:sp>
          <p:nvSpPr>
            <p:cNvPr id="68" name="Ellipse 68"/>
            <p:cNvSpPr/>
            <p:nvPr/>
          </p:nvSpPr>
          <p:spPr>
            <a:xfrm>
              <a:off x="6858000" y="2028825"/>
              <a:ext cx="38100" cy="38100"/>
            </a:xfrm>
            <a:prstGeom prst="ellipse">
              <a:avLst/>
            </a:prstGeom>
            <a:solidFill>
              <a:srgbClr val="E74726"/>
            </a:solidFill>
            <a:ln>
              <a:noFill/>
            </a:ln>
          </p:spPr>
        </p:sp>
        <p:sp>
          <p:nvSpPr>
            <p:cNvPr id="69" name="TextBox 69"/>
            <p:cNvSpPr txBox="1"/>
            <p:nvPr/>
          </p:nvSpPr>
          <p:spPr>
            <a:xfrm>
              <a:off x="6967538" y="1994297"/>
              <a:ext cx="3364103" cy="345281"/>
            </a:xfrm>
            <a:prstGeom prst="rect">
              <a:avLst/>
            </a:prstGeom>
            <a:noFill/>
            <a:ln>
              <a:noFill/>
            </a:ln>
          </p:spPr>
          <p:txBody>
            <a:bodyPr wrap="none" lIns="0" tIns="0" rIns="0" bIns="0" anchor="t" anchorCtr="0">
              <a:spAutoFit/>
            </a:bodyPr>
            <a:lstStyle/>
            <a:p>
              <a:pPr algn="l">
                <a:lnSpc>
                  <a:spcPts val="1275"/>
                </a:lnSpc>
              </a:pPr>
              <a:r>
                <a:rPr lang="zh-CN" sz="940" dirty="0">
                  <a:solidFill>
                    <a:srgbClr val="E74726"/>
                  </a:solidFill>
                  <a:latin typeface="+mn-lt"/>
                  <a:ea typeface="+mn-ea"/>
                  <a:cs typeface="+mn-cs"/>
                </a:rPr>
                <a:t>基于价值潜力、客群核心优势、旅程指引筛选长尾重点攻坚营​​</a:t>
              </a:r>
              <a:br/>
              <a:r>
                <a:rPr lang="zh-CN" sz="940" dirty="0">
                  <a:solidFill>
                    <a:srgbClr val="E74726"/>
                  </a:solidFill>
                  <a:latin typeface="+mn-lt"/>
                  <a:ea typeface="+mn-ea"/>
                  <a:cs typeface="+mn-cs"/>
                </a:rPr>
                <a:t>销客群,实施精细施策</a:t>
              </a:r>
            </a:p>
          </p:txBody>
        </p:sp>
        <p:sp>
          <p:nvSpPr>
            <p:cNvPr id="70" name="Rectangle 70"/>
            <p:cNvSpPr/>
            <p:nvPr/>
          </p:nvSpPr>
          <p:spPr>
            <a:xfrm>
              <a:off x="6953250" y="2400300"/>
              <a:ext cx="1333500" cy="381000"/>
            </a:xfrm>
            <a:prstGeom prst="roundRect">
              <a:avLst>
                <a:gd name="adj" fmla="val 10000"/>
              </a:avLst>
            </a:prstGeom>
            <a:solidFill>
              <a:srgbClr val="FFFFFF"/>
            </a:solidFill>
            <a:ln w="9525">
              <a:solidFill>
                <a:srgbClr val="D4E2FA"/>
              </a:solidFill>
            </a:ln>
          </p:spPr>
        </p:sp>
        <p:sp>
          <p:nvSpPr>
            <p:cNvPr id="71" name="TextBox 71"/>
            <p:cNvSpPr txBox="1"/>
            <p:nvPr/>
          </p:nvSpPr>
          <p:spPr>
            <a:xfrm>
              <a:off x="7366762" y="2459593"/>
              <a:ext cx="50647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新客百日​</a:t>
              </a:r>
              <a:br/>
              <a:r>
                <a:rPr lang="zh-CN" sz="860" dirty="0">
                  <a:solidFill>
                    <a:srgbClr val="333333"/>
                  </a:solidFill>
                  <a:latin typeface="+mn-lt"/>
                  <a:ea typeface="+mn-ea"/>
                  <a:cs typeface="+mn-cs"/>
                </a:rPr>
                <a:t>营销策略​</a:t>
              </a:r>
            </a:p>
          </p:txBody>
        </p:sp>
        <p:sp>
          <p:nvSpPr>
            <p:cNvPr id="72" name="Rectangle 72"/>
            <p:cNvSpPr/>
            <p:nvPr/>
          </p:nvSpPr>
          <p:spPr>
            <a:xfrm>
              <a:off x="8477250" y="2400300"/>
              <a:ext cx="1333500" cy="381000"/>
            </a:xfrm>
            <a:prstGeom prst="roundRect">
              <a:avLst>
                <a:gd name="adj" fmla="val 10000"/>
              </a:avLst>
            </a:prstGeom>
            <a:solidFill>
              <a:srgbClr val="FFFFFF"/>
            </a:solidFill>
            <a:ln w="9525">
              <a:solidFill>
                <a:srgbClr val="D4E2FA"/>
              </a:solidFill>
            </a:ln>
          </p:spPr>
        </p:sp>
        <p:sp>
          <p:nvSpPr>
            <p:cNvPr id="73" name="TextBox 73"/>
            <p:cNvSpPr txBox="1"/>
            <p:nvPr/>
          </p:nvSpPr>
          <p:spPr>
            <a:xfrm>
              <a:off x="8890762" y="2459593"/>
              <a:ext cx="50647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代发客群​</a:t>
              </a:r>
              <a:br/>
              <a:r>
                <a:rPr lang="zh-CN" sz="860" dirty="0">
                  <a:solidFill>
                    <a:srgbClr val="333333"/>
                  </a:solidFill>
                  <a:latin typeface="+mn-lt"/>
                  <a:ea typeface="+mn-ea"/>
                  <a:cs typeface="+mn-cs"/>
                </a:rPr>
                <a:t>留存策略​</a:t>
              </a:r>
            </a:p>
          </p:txBody>
        </p:sp>
        <p:sp>
          <p:nvSpPr>
            <p:cNvPr id="74" name="Rectangle 74"/>
            <p:cNvSpPr/>
            <p:nvPr/>
          </p:nvSpPr>
          <p:spPr>
            <a:xfrm>
              <a:off x="10001250" y="2400300"/>
              <a:ext cx="1333500" cy="381000"/>
            </a:xfrm>
            <a:prstGeom prst="roundRect">
              <a:avLst>
                <a:gd name="adj" fmla="val 10000"/>
              </a:avLst>
            </a:prstGeom>
            <a:solidFill>
              <a:srgbClr val="FFFFFF"/>
            </a:solidFill>
            <a:ln w="9525">
              <a:solidFill>
                <a:srgbClr val="D4E2FA"/>
              </a:solidFill>
            </a:ln>
          </p:spPr>
        </p:sp>
        <p:sp>
          <p:nvSpPr>
            <p:cNvPr id="75" name="TextBox 75"/>
            <p:cNvSpPr txBox="1"/>
            <p:nvPr/>
          </p:nvSpPr>
          <p:spPr>
            <a:xfrm>
              <a:off x="10414762" y="2459593"/>
              <a:ext cx="50647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老年客群​</a:t>
              </a:r>
              <a:br/>
              <a:r>
                <a:rPr lang="zh-CN" sz="860" dirty="0">
                  <a:solidFill>
                    <a:srgbClr val="333333"/>
                  </a:solidFill>
                  <a:latin typeface="+mn-lt"/>
                  <a:ea typeface="+mn-ea"/>
                  <a:cs typeface="+mn-cs"/>
                </a:rPr>
                <a:t>服务策略​</a:t>
              </a:r>
            </a:p>
          </p:txBody>
        </p:sp>
        <p:sp>
          <p:nvSpPr>
            <p:cNvPr id="76" name="Rectangle 76"/>
            <p:cNvSpPr/>
            <p:nvPr/>
          </p:nvSpPr>
          <p:spPr>
            <a:xfrm>
              <a:off x="6953250" y="2876550"/>
              <a:ext cx="1333500" cy="381000"/>
            </a:xfrm>
            <a:prstGeom prst="roundRect">
              <a:avLst>
                <a:gd name="adj" fmla="val 10000"/>
              </a:avLst>
            </a:prstGeom>
            <a:solidFill>
              <a:srgbClr val="FFFFFF"/>
            </a:solidFill>
            <a:ln w="9525">
              <a:solidFill>
                <a:srgbClr val="D4E2FA"/>
              </a:solidFill>
            </a:ln>
          </p:spPr>
        </p:sp>
        <p:sp>
          <p:nvSpPr>
            <p:cNvPr id="77" name="TextBox 77"/>
            <p:cNvSpPr txBox="1"/>
            <p:nvPr/>
          </p:nvSpPr>
          <p:spPr>
            <a:xfrm>
              <a:off x="7366762" y="2935843"/>
              <a:ext cx="50647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商户客群​</a:t>
              </a:r>
              <a:br/>
              <a:r>
                <a:rPr lang="zh-CN" sz="860" dirty="0">
                  <a:solidFill>
                    <a:srgbClr val="333333"/>
                  </a:solidFill>
                  <a:latin typeface="+mn-lt"/>
                  <a:ea typeface="+mn-ea"/>
                  <a:cs typeface="+mn-cs"/>
                </a:rPr>
                <a:t>增存策略​</a:t>
              </a:r>
            </a:p>
          </p:txBody>
        </p:sp>
        <p:sp>
          <p:nvSpPr>
            <p:cNvPr id="78" name="Rectangle 78"/>
            <p:cNvSpPr/>
            <p:nvPr/>
          </p:nvSpPr>
          <p:spPr>
            <a:xfrm>
              <a:off x="8477250" y="2876550"/>
              <a:ext cx="1333500" cy="381000"/>
            </a:xfrm>
            <a:prstGeom prst="roundRect">
              <a:avLst>
                <a:gd name="adj" fmla="val 10000"/>
              </a:avLst>
            </a:prstGeom>
            <a:solidFill>
              <a:srgbClr val="FFFFFF"/>
            </a:solidFill>
            <a:ln w="9525">
              <a:solidFill>
                <a:srgbClr val="D4E2FA"/>
              </a:solidFill>
            </a:ln>
          </p:spPr>
        </p:sp>
        <p:sp>
          <p:nvSpPr>
            <p:cNvPr id="79" name="TextBox 79"/>
            <p:cNvSpPr txBox="1"/>
            <p:nvPr/>
          </p:nvSpPr>
          <p:spPr>
            <a:xfrm>
              <a:off x="8836152" y="2935843"/>
              <a:ext cx="61569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信用卡客群​</a:t>
              </a:r>
              <a:br/>
              <a:r>
                <a:rPr lang="zh-CN" sz="860" dirty="0">
                  <a:solidFill>
                    <a:srgbClr val="333333"/>
                  </a:solidFill>
                  <a:latin typeface="+mn-lt"/>
                  <a:ea typeface="+mn-ea"/>
                  <a:cs typeface="+mn-cs"/>
                </a:rPr>
                <a:t>场景策略</a:t>
              </a:r>
            </a:p>
          </p:txBody>
        </p:sp>
        <p:sp>
          <p:nvSpPr>
            <p:cNvPr id="80" name="Rectangle 80"/>
            <p:cNvSpPr/>
            <p:nvPr/>
          </p:nvSpPr>
          <p:spPr>
            <a:xfrm>
              <a:off x="10001250" y="2876550"/>
              <a:ext cx="1333500" cy="381000"/>
            </a:xfrm>
            <a:prstGeom prst="roundRect">
              <a:avLst>
                <a:gd name="adj" fmla="val 10000"/>
              </a:avLst>
            </a:prstGeom>
            <a:solidFill>
              <a:srgbClr val="FFFFFF"/>
            </a:solidFill>
            <a:ln w="9525">
              <a:solidFill>
                <a:srgbClr val="D4E2FA"/>
              </a:solidFill>
            </a:ln>
          </p:spPr>
        </p:sp>
        <p:sp>
          <p:nvSpPr>
            <p:cNvPr id="81" name="TextBox 81"/>
            <p:cNvSpPr txBox="1"/>
            <p:nvPr/>
          </p:nvSpPr>
          <p:spPr>
            <a:xfrm>
              <a:off x="10599562" y="3012043"/>
              <a:ext cx="13687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sp>
          <p:nvSpPr>
            <p:cNvPr id="82" name="Rectangle 82"/>
            <p:cNvSpPr/>
            <p:nvPr/>
          </p:nvSpPr>
          <p:spPr>
            <a:xfrm>
              <a:off x="6238875" y="3476625"/>
              <a:ext cx="495300" cy="1666875"/>
            </a:xfrm>
            <a:prstGeom prst="roundRect">
              <a:avLst>
                <a:gd name="adj" fmla="val 7692"/>
              </a:avLst>
            </a:prstGeom>
            <a:solidFill>
              <a:srgbClr val="D4E2FA"/>
            </a:solidFill>
            <a:ln>
              <a:noFill/>
            </a:ln>
          </p:spPr>
        </p:sp>
        <p:sp>
          <p:nvSpPr>
            <p:cNvPr id="83" name="TextBox 83"/>
            <p:cNvSpPr txBox="1"/>
            <p:nvPr/>
          </p:nvSpPr>
          <p:spPr>
            <a:xfrm>
              <a:off x="6322886" y="4123849"/>
              <a:ext cx="327279"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333333"/>
                  </a:solidFill>
                  <a:latin typeface="+mn-lt"/>
                  <a:ea typeface="+mn-ea"/>
                  <a:cs typeface="+mn-cs"/>
                </a:rPr>
                <a:t>事件​</a:t>
              </a:r>
              <a:br/>
              <a:r>
                <a:rPr lang="zh-CN" sz="980" dirty="0">
                  <a:solidFill>
                    <a:srgbClr val="333333"/>
                  </a:solidFill>
                  <a:latin typeface="+mn-lt"/>
                  <a:ea typeface="+mn-ea"/>
                  <a:cs typeface="+mn-cs"/>
                </a:rPr>
                <a:t>客群​</a:t>
              </a:r>
            </a:p>
          </p:txBody>
        </p:sp>
        <p:sp>
          <p:nvSpPr>
            <p:cNvPr id="84" name="Ellipse 84"/>
            <p:cNvSpPr/>
            <p:nvPr/>
          </p:nvSpPr>
          <p:spPr>
            <a:xfrm>
              <a:off x="6858000" y="3600450"/>
              <a:ext cx="38100" cy="38100"/>
            </a:xfrm>
            <a:prstGeom prst="ellipse">
              <a:avLst/>
            </a:prstGeom>
            <a:solidFill>
              <a:srgbClr val="E74726"/>
            </a:solidFill>
            <a:ln>
              <a:noFill/>
            </a:ln>
          </p:spPr>
        </p:sp>
        <p:sp>
          <p:nvSpPr>
            <p:cNvPr id="85" name="TextBox 85"/>
            <p:cNvSpPr txBox="1"/>
            <p:nvPr/>
          </p:nvSpPr>
          <p:spPr>
            <a:xfrm>
              <a:off x="6967538" y="3565922"/>
              <a:ext cx="3429762" cy="345281"/>
            </a:xfrm>
            <a:prstGeom prst="rect">
              <a:avLst/>
            </a:prstGeom>
            <a:noFill/>
            <a:ln>
              <a:noFill/>
            </a:ln>
          </p:spPr>
          <p:txBody>
            <a:bodyPr wrap="none" lIns="0" tIns="0" rIns="0" bIns="0" anchor="t" anchorCtr="0">
              <a:spAutoFit/>
            </a:bodyPr>
            <a:lstStyle/>
            <a:p>
              <a:pPr algn="l">
                <a:lnSpc>
                  <a:spcPts val="1275"/>
                </a:lnSpc>
              </a:pPr>
              <a:r>
                <a:rPr lang="zh-CN" sz="940" dirty="0">
                  <a:solidFill>
                    <a:srgbClr val="E74726"/>
                  </a:solidFill>
                  <a:latin typeface="+mn-lt"/>
                  <a:ea typeface="+mn-ea"/>
                  <a:cs typeface="+mn-cs"/>
                </a:rPr>
                <a:t>以长尾客户交易数据、行为数据、产品数据等为基础,对数据触​​</a:t>
              </a:r>
              <a:br/>
              <a:r>
                <a:rPr lang="zh-CN" sz="940" dirty="0">
                  <a:solidFill>
                    <a:srgbClr val="E74726"/>
                  </a:solidFill>
                  <a:latin typeface="+mn-lt"/>
                  <a:ea typeface="+mn-ea"/>
                  <a:cs typeface="+mn-cs"/>
                </a:rPr>
                <a:t>发的事件及场景进行识别梳理,捕捉客户及时需求</a:t>
              </a:r>
            </a:p>
          </p:txBody>
        </p:sp>
        <p:sp>
          <p:nvSpPr>
            <p:cNvPr id="86" name="Rectangle 86"/>
            <p:cNvSpPr/>
            <p:nvPr/>
          </p:nvSpPr>
          <p:spPr>
            <a:xfrm>
              <a:off x="6953250" y="3952875"/>
              <a:ext cx="1333500" cy="381000"/>
            </a:xfrm>
            <a:prstGeom prst="roundRect">
              <a:avLst>
                <a:gd name="adj" fmla="val 10000"/>
              </a:avLst>
            </a:prstGeom>
            <a:solidFill>
              <a:srgbClr val="FFFFFF"/>
            </a:solidFill>
            <a:ln w="9525">
              <a:solidFill>
                <a:srgbClr val="D4E2FA"/>
              </a:solidFill>
            </a:ln>
          </p:spPr>
        </p:sp>
        <p:sp>
          <p:nvSpPr>
            <p:cNvPr id="87" name="TextBox 87"/>
            <p:cNvSpPr txBox="1"/>
            <p:nvPr/>
          </p:nvSpPr>
          <p:spPr>
            <a:xfrm>
              <a:off x="7257542" y="4012168"/>
              <a:ext cx="72491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风险评估中断​</a:t>
              </a:r>
              <a:br/>
              <a:r>
                <a:rPr lang="zh-CN" sz="860" dirty="0">
                  <a:solidFill>
                    <a:srgbClr val="333333"/>
                  </a:solidFill>
                  <a:latin typeface="+mn-lt"/>
                  <a:ea typeface="+mn-ea"/>
                  <a:cs typeface="+mn-cs"/>
                </a:rPr>
                <a:t>事件客群策略​</a:t>
              </a:r>
            </a:p>
          </p:txBody>
        </p:sp>
        <p:sp>
          <p:nvSpPr>
            <p:cNvPr id="88" name="Rectangle 88"/>
            <p:cNvSpPr/>
            <p:nvPr/>
          </p:nvSpPr>
          <p:spPr>
            <a:xfrm>
              <a:off x="8477250" y="3952875"/>
              <a:ext cx="1333500" cy="381000"/>
            </a:xfrm>
            <a:prstGeom prst="roundRect">
              <a:avLst>
                <a:gd name="adj" fmla="val 10000"/>
              </a:avLst>
            </a:prstGeom>
            <a:solidFill>
              <a:srgbClr val="FFFFFF"/>
            </a:solidFill>
            <a:ln w="9525">
              <a:solidFill>
                <a:srgbClr val="D4E2FA"/>
              </a:solidFill>
            </a:ln>
          </p:spPr>
        </p:sp>
        <p:sp>
          <p:nvSpPr>
            <p:cNvPr id="89" name="TextBox 89"/>
            <p:cNvSpPr txBox="1"/>
            <p:nvPr/>
          </p:nvSpPr>
          <p:spPr>
            <a:xfrm>
              <a:off x="8781542" y="4012168"/>
              <a:ext cx="72491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产品浏览中断​</a:t>
              </a:r>
              <a:br/>
              <a:r>
                <a:rPr lang="zh-CN" sz="860" dirty="0">
                  <a:solidFill>
                    <a:srgbClr val="333333"/>
                  </a:solidFill>
                  <a:latin typeface="+mn-lt"/>
                  <a:ea typeface="+mn-ea"/>
                  <a:cs typeface="+mn-cs"/>
                </a:rPr>
                <a:t>事件客群策略​</a:t>
              </a:r>
            </a:p>
          </p:txBody>
        </p:sp>
        <p:sp>
          <p:nvSpPr>
            <p:cNvPr id="90" name="Rectangle 90"/>
            <p:cNvSpPr/>
            <p:nvPr/>
          </p:nvSpPr>
          <p:spPr>
            <a:xfrm>
              <a:off x="10001250" y="3952875"/>
              <a:ext cx="1333500" cy="381000"/>
            </a:xfrm>
            <a:prstGeom prst="roundRect">
              <a:avLst>
                <a:gd name="adj" fmla="val 10000"/>
              </a:avLst>
            </a:prstGeom>
            <a:solidFill>
              <a:srgbClr val="FFFFFF"/>
            </a:solidFill>
            <a:ln w="9525">
              <a:solidFill>
                <a:srgbClr val="D4E2FA"/>
              </a:solidFill>
            </a:ln>
          </p:spPr>
        </p:sp>
        <p:sp>
          <p:nvSpPr>
            <p:cNvPr id="91" name="TextBox 91"/>
            <p:cNvSpPr txBox="1"/>
            <p:nvPr/>
          </p:nvSpPr>
          <p:spPr>
            <a:xfrm>
              <a:off x="10305542" y="4012168"/>
              <a:ext cx="72491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产品购买中断​</a:t>
              </a:r>
              <a:br/>
              <a:r>
                <a:rPr lang="zh-CN" sz="860" dirty="0">
                  <a:solidFill>
                    <a:srgbClr val="333333"/>
                  </a:solidFill>
                  <a:latin typeface="+mn-lt"/>
                  <a:ea typeface="+mn-ea"/>
                  <a:cs typeface="+mn-cs"/>
                </a:rPr>
                <a:t>事件客群策略​</a:t>
              </a:r>
            </a:p>
          </p:txBody>
        </p:sp>
        <p:sp>
          <p:nvSpPr>
            <p:cNvPr id="92" name="Rectangle 92"/>
            <p:cNvSpPr/>
            <p:nvPr/>
          </p:nvSpPr>
          <p:spPr>
            <a:xfrm>
              <a:off x="6953250" y="4429125"/>
              <a:ext cx="1333500" cy="381000"/>
            </a:xfrm>
            <a:prstGeom prst="roundRect">
              <a:avLst>
                <a:gd name="adj" fmla="val 10000"/>
              </a:avLst>
            </a:prstGeom>
            <a:solidFill>
              <a:srgbClr val="FFFFFF"/>
            </a:solidFill>
            <a:ln w="9525">
              <a:solidFill>
                <a:srgbClr val="D4E2FA"/>
              </a:solidFill>
            </a:ln>
          </p:spPr>
        </p:sp>
        <p:sp>
          <p:nvSpPr>
            <p:cNvPr id="93" name="TextBox 93"/>
            <p:cNvSpPr txBox="1"/>
            <p:nvPr/>
          </p:nvSpPr>
          <p:spPr>
            <a:xfrm>
              <a:off x="7257542" y="4488418"/>
              <a:ext cx="72491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产品大额赎回​</a:t>
              </a:r>
              <a:br/>
              <a:r>
                <a:rPr lang="zh-CN" sz="860" dirty="0">
                  <a:solidFill>
                    <a:srgbClr val="333333"/>
                  </a:solidFill>
                  <a:latin typeface="+mn-lt"/>
                  <a:ea typeface="+mn-ea"/>
                  <a:cs typeface="+mn-cs"/>
                </a:rPr>
                <a:t>事件客群策略​</a:t>
              </a:r>
            </a:p>
          </p:txBody>
        </p:sp>
        <p:sp>
          <p:nvSpPr>
            <p:cNvPr id="94" name="Rectangle 94"/>
            <p:cNvSpPr/>
            <p:nvPr/>
          </p:nvSpPr>
          <p:spPr>
            <a:xfrm>
              <a:off x="8477250" y="4429125"/>
              <a:ext cx="1333500" cy="381000"/>
            </a:xfrm>
            <a:prstGeom prst="roundRect">
              <a:avLst>
                <a:gd name="adj" fmla="val 10000"/>
              </a:avLst>
            </a:prstGeom>
            <a:solidFill>
              <a:srgbClr val="FFFFFF"/>
            </a:solidFill>
            <a:ln w="9525">
              <a:solidFill>
                <a:srgbClr val="D4E2FA"/>
              </a:solidFill>
            </a:ln>
          </p:spPr>
        </p:sp>
        <p:sp>
          <p:nvSpPr>
            <p:cNvPr id="95" name="TextBox 95"/>
            <p:cNvSpPr txBox="1"/>
            <p:nvPr/>
          </p:nvSpPr>
          <p:spPr>
            <a:xfrm>
              <a:off x="8781542" y="4488418"/>
              <a:ext cx="72491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大额资金流入​</a:t>
              </a:r>
              <a:br/>
              <a:r>
                <a:rPr lang="zh-CN" sz="860" dirty="0">
                  <a:solidFill>
                    <a:srgbClr val="333333"/>
                  </a:solidFill>
                  <a:latin typeface="+mn-lt"/>
                  <a:ea typeface="+mn-ea"/>
                  <a:cs typeface="+mn-cs"/>
                </a:rPr>
                <a:t>事件客群策略​</a:t>
              </a:r>
            </a:p>
          </p:txBody>
        </p:sp>
        <p:sp>
          <p:nvSpPr>
            <p:cNvPr id="96" name="Rectangle 96"/>
            <p:cNvSpPr/>
            <p:nvPr/>
          </p:nvSpPr>
          <p:spPr>
            <a:xfrm>
              <a:off x="10001250" y="4429125"/>
              <a:ext cx="1333500" cy="381000"/>
            </a:xfrm>
            <a:prstGeom prst="roundRect">
              <a:avLst>
                <a:gd name="adj" fmla="val 10000"/>
              </a:avLst>
            </a:prstGeom>
            <a:solidFill>
              <a:srgbClr val="FFFFFF"/>
            </a:solidFill>
            <a:ln w="9525">
              <a:solidFill>
                <a:srgbClr val="D4E2FA"/>
              </a:solidFill>
            </a:ln>
          </p:spPr>
        </p:sp>
        <p:sp>
          <p:nvSpPr>
            <p:cNvPr id="97" name="TextBox 97"/>
            <p:cNvSpPr txBox="1"/>
            <p:nvPr/>
          </p:nvSpPr>
          <p:spPr>
            <a:xfrm>
              <a:off x="10599562" y="4564618"/>
              <a:ext cx="13687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grpSp>
      <p:grpSp>
        <p:nvGrpSpPr>
          <p:cNvPr id="102" name="entry-321"/>
          <p:cNvGrpSpPr/>
          <p:nvPr/>
        </p:nvGrpSpPr>
        <p:grpSpPr>
          <a:xfrm>
            <a:off x="476250" y="5372100"/>
            <a:ext cx="5334000" cy="742950"/>
            <a:chOff x="476250" y="5372100"/>
            <a:chExt cx="5334000" cy="742950"/>
          </a:xfrm>
        </p:grpSpPr>
        <p:sp>
          <p:nvSpPr>
            <p:cNvPr id="99" name="Polygon 99"/>
            <p:cNvSpPr/>
            <p:nvPr/>
          </p:nvSpPr>
          <p:spPr>
            <a:xfrm>
              <a:off x="2381250" y="5372100"/>
              <a:ext cx="1524000" cy="266700"/>
            </a:xfrm>
            <a:custGeom>
              <a:avLst/>
              <a:gdLst/>
              <a:ahLst/>
              <a:cxnLst/>
              <a:rect l="l" t="t" r="r" b="b"/>
              <a:pathLst>
                <a:path w="1524000" h="266700">
                  <a:moveTo>
                    <a:pt x="0" y="0"/>
                  </a:moveTo>
                  <a:lnTo>
                    <a:pt x="1524000" y="0"/>
                  </a:lnTo>
                  <a:lnTo>
                    <a:pt x="762000" y="266700"/>
                  </a:lnTo>
                  <a:close/>
                </a:path>
              </a:pathLst>
            </a:custGeom>
            <a:solidFill>
              <a:srgbClr val="E7EFFC"/>
            </a:solidFill>
            <a:ln>
              <a:noFill/>
            </a:ln>
          </p:spPr>
        </p:sp>
        <p:sp>
          <p:nvSpPr>
            <p:cNvPr id="100" name="Ellipse 100"/>
            <p:cNvSpPr/>
            <p:nvPr/>
          </p:nvSpPr>
          <p:spPr>
            <a:xfrm>
              <a:off x="476250" y="5543550"/>
              <a:ext cx="5334000" cy="571500"/>
            </a:xfrm>
            <a:prstGeom prst="ellipse">
              <a:avLst/>
            </a:prstGeom>
            <a:solidFill>
              <a:srgbClr val="F7FAFF"/>
            </a:solidFill>
            <a:ln w="9525">
              <a:solidFill>
                <a:srgbClr val="F1917D"/>
              </a:solidFill>
              <a:custDash>
                <a:ds d="500000" sp="300000"/>
              </a:custDash>
            </a:ln>
          </p:spPr>
        </p:sp>
        <p:sp>
          <p:nvSpPr>
            <p:cNvPr id="101" name="TextBox 101"/>
            <p:cNvSpPr txBox="1"/>
            <p:nvPr/>
          </p:nvSpPr>
          <p:spPr>
            <a:xfrm>
              <a:off x="1727463" y="5758339"/>
              <a:ext cx="2831574" cy="249364"/>
            </a:xfrm>
            <a:prstGeom prst="rect">
              <a:avLst/>
            </a:prstGeom>
            <a:noFill/>
            <a:ln>
              <a:noFill/>
            </a:ln>
          </p:spPr>
          <p:txBody>
            <a:bodyPr wrap="none" lIns="0" tIns="0" rIns="0" bIns="0" anchor="t" anchorCtr="0">
              <a:spAutoFit/>
            </a:bodyPr>
            <a:lstStyle/>
            <a:p>
              <a:pPr algn="ctr"/>
              <a:r>
                <a:rPr lang="zh-CN" sz="1280" b="1" dirty="0">
                  <a:solidFill>
                    <a:srgbClr val="E74726"/>
                  </a:solidFill>
                  <a:latin typeface="+mn-lt"/>
                  <a:ea typeface="+mn-ea"/>
                  <a:cs typeface="+mn-cs"/>
                </a:rPr>
                <a:t>3.2.1 四维资源体系强化实战赋能​​</a:t>
              </a:r>
            </a:p>
          </p:txBody>
        </p:sp>
      </p:grpSp>
      <p:grpSp>
        <p:nvGrpSpPr>
          <p:cNvPr id="106" name="entry-322"/>
          <p:cNvGrpSpPr/>
          <p:nvPr/>
        </p:nvGrpSpPr>
        <p:grpSpPr>
          <a:xfrm>
            <a:off x="6286500" y="5372100"/>
            <a:ext cx="5334000" cy="742950"/>
            <a:chOff x="6286500" y="5372100"/>
            <a:chExt cx="5334000" cy="742950"/>
          </a:xfrm>
        </p:grpSpPr>
        <p:sp>
          <p:nvSpPr>
            <p:cNvPr id="103" name="Polygon 103"/>
            <p:cNvSpPr/>
            <p:nvPr/>
          </p:nvSpPr>
          <p:spPr>
            <a:xfrm>
              <a:off x="8191500" y="5372100"/>
              <a:ext cx="1524000" cy="266700"/>
            </a:xfrm>
            <a:custGeom>
              <a:avLst/>
              <a:gdLst/>
              <a:ahLst/>
              <a:cxnLst/>
              <a:rect l="l" t="t" r="r" b="b"/>
              <a:pathLst>
                <a:path w="1524000" h="266700">
                  <a:moveTo>
                    <a:pt x="0" y="0"/>
                  </a:moveTo>
                  <a:lnTo>
                    <a:pt x="1524000" y="0"/>
                  </a:lnTo>
                  <a:lnTo>
                    <a:pt x="762000" y="266700"/>
                  </a:lnTo>
                  <a:close/>
                </a:path>
              </a:pathLst>
            </a:custGeom>
            <a:solidFill>
              <a:srgbClr val="E7EFFC"/>
            </a:solidFill>
            <a:ln>
              <a:noFill/>
            </a:ln>
          </p:spPr>
        </p:sp>
        <p:sp>
          <p:nvSpPr>
            <p:cNvPr id="104" name="Ellipse 104"/>
            <p:cNvSpPr/>
            <p:nvPr/>
          </p:nvSpPr>
          <p:spPr>
            <a:xfrm>
              <a:off x="6286500" y="5543550"/>
              <a:ext cx="5334000" cy="571500"/>
            </a:xfrm>
            <a:prstGeom prst="ellipse">
              <a:avLst/>
            </a:prstGeom>
            <a:solidFill>
              <a:srgbClr val="F7FAFF"/>
            </a:solidFill>
            <a:ln w="9525">
              <a:solidFill>
                <a:srgbClr val="F1917D"/>
              </a:solidFill>
              <a:custDash>
                <a:ds d="500000" sp="300000"/>
              </a:custDash>
            </a:ln>
          </p:spPr>
        </p:sp>
        <p:sp>
          <p:nvSpPr>
            <p:cNvPr id="105" name="TextBox 105"/>
            <p:cNvSpPr txBox="1"/>
            <p:nvPr/>
          </p:nvSpPr>
          <p:spPr>
            <a:xfrm>
              <a:off x="7710027" y="5758339"/>
              <a:ext cx="2486947" cy="249364"/>
            </a:xfrm>
            <a:prstGeom prst="rect">
              <a:avLst/>
            </a:prstGeom>
            <a:noFill/>
            <a:ln>
              <a:noFill/>
            </a:ln>
          </p:spPr>
          <p:txBody>
            <a:bodyPr wrap="none" lIns="0" tIns="0" rIns="0" bIns="0" anchor="t" anchorCtr="0">
              <a:spAutoFit/>
            </a:bodyPr>
            <a:lstStyle/>
            <a:p>
              <a:pPr algn="ctr"/>
              <a:r>
                <a:rPr lang="zh-CN" sz="1280" b="1" dirty="0">
                  <a:solidFill>
                    <a:srgbClr val="E74726"/>
                  </a:solidFill>
                  <a:latin typeface="+mn-lt"/>
                  <a:ea typeface="+mn-ea"/>
                  <a:cs typeface="+mn-cs"/>
                </a:rPr>
                <a:t>3.2.2 两大支撑夯实运营保障​​</a:t>
              </a:r>
            </a:p>
          </p:txBody>
        </p:sp>
      </p:grpSp>
      <p:grpSp>
        <p:nvGrpSpPr>
          <p:cNvPr id="109" name="footer"/>
          <p:cNvGrpSpPr/>
          <p:nvPr/>
        </p:nvGrpSpPr>
        <p:grpSpPr>
          <a:xfrm>
            <a:off x="0" y="6438900"/>
            <a:ext cx="12192000" cy="342900"/>
            <a:chOff x="0" y="6438900"/>
            <a:chExt cx="12192000" cy="342900"/>
          </a:xfrm>
        </p:grpSpPr>
        <p:sp>
          <p:nvSpPr>
            <p:cNvPr id="107" name="Line 107"/>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108" name="TextBox 108"/>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31​</a:t>
              </a:r>
            </a:p>
          </p:txBody>
        </p:sp>
        <p:sp>
          <p:nvSpPr>
            <p:cNvPr id="4" name="TextBox 4"/>
            <p:cNvSpPr txBox="1"/>
            <p:nvPr/>
          </p:nvSpPr>
          <p:spPr>
            <a:xfrm>
              <a:off x="885444" y="160973"/>
              <a:ext cx="8600191"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3.2.1 资源赋能｜</a:t>
              </a:r>
              <a:r>
                <a:rPr lang="zh-CN" sz="1950" b="1" dirty="0">
                  <a:solidFill>
                    <a:srgbClr val="E74726"/>
                  </a:solidFill>
                  <a:latin typeface="+mj-lt"/>
                  <a:ea typeface="+mj-ea"/>
                  <a:cs typeface="+mj-cs"/>
                </a:rPr>
                <a:t>以四维资源体系强落地、提质效，强化实战赋能</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6488068" cy="249364"/>
            <a:chOff x="374523" y="681514"/>
            <a:chExt cx="6488068" cy="249364"/>
          </a:xfrm>
        </p:grpSpPr>
        <p:sp>
          <p:nvSpPr>
            <p:cNvPr id="16" name="TextBox 16"/>
            <p:cNvSpPr txBox="1"/>
            <p:nvPr/>
          </p:nvSpPr>
          <p:spPr>
            <a:xfrm>
              <a:off x="374523" y="681514"/>
              <a:ext cx="6488068"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优化产品供给、营销活动、权益配置与渠道触达，实现长尾客群分层分群精准化运营​</a:t>
              </a:r>
            </a:p>
          </p:txBody>
        </p:sp>
      </p:grpSp>
      <p:grpSp>
        <p:nvGrpSpPr>
          <p:cNvPr id="19" name="guide"/>
          <p:cNvGrpSpPr/>
          <p:nvPr/>
        </p:nvGrpSpPr>
        <p:grpSpPr>
          <a:xfrm>
            <a:off x="376047" y="990124"/>
            <a:ext cx="7209917" cy="371666"/>
            <a:chOff x="376047" y="990124"/>
            <a:chExt cx="7209917" cy="371666"/>
          </a:xfrm>
        </p:grpSpPr>
        <p:sp>
          <p:nvSpPr>
            <p:cNvPr id="18" name="TextBox 18"/>
            <p:cNvSpPr txBox="1"/>
            <p:nvPr/>
          </p:nvSpPr>
          <p:spPr>
            <a:xfrm>
              <a:off x="376047" y="990124"/>
              <a:ext cx="7209917"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为承接长尾客群“广覆盖与深挖掘”的双轮驱动运营策略，亟需搭建集产品、活动、权益、渠道于一体的资源配置闭环，既在供​​​​​</a:t>
              </a:r>
              <a:br/>
              <a:r>
                <a:rPr lang="zh-CN" sz="980" dirty="0">
                  <a:solidFill>
                    <a:srgbClr val="333333"/>
                  </a:solidFill>
                  <a:latin typeface="+mn-lt"/>
                  <a:ea typeface="+mn-ea"/>
                  <a:cs typeface="+mn-cs"/>
                </a:rPr>
                <a:t>给侧精准统筹资源、按需适配客群经营场景，筑牢资源保障底座，又在管理侧通过标准化、流程化手段提升运营质效​​</a:t>
              </a:r>
            </a:p>
          </p:txBody>
        </p:sp>
      </p:grpSp>
      <p:grpSp>
        <p:nvGrpSpPr>
          <p:cNvPr id="147" name="resource-matrix"/>
          <p:cNvGrpSpPr/>
          <p:nvPr/>
        </p:nvGrpSpPr>
        <p:grpSpPr>
          <a:xfrm>
            <a:off x="381000" y="1428750"/>
            <a:ext cx="11430000" cy="4095750"/>
            <a:chOff x="381000" y="1428750"/>
            <a:chExt cx="11430000" cy="4095750"/>
          </a:xfrm>
        </p:grpSpPr>
        <p:grpSp>
          <p:nvGrpSpPr>
            <p:cNvPr id="49" name="card-product"/>
            <p:cNvGrpSpPr/>
            <p:nvPr/>
          </p:nvGrpSpPr>
          <p:grpSpPr>
            <a:xfrm>
              <a:off x="381000" y="1428750"/>
              <a:ext cx="5286375" cy="1952625"/>
              <a:chOff x="381000" y="1428750"/>
              <a:chExt cx="5286375" cy="1952625"/>
            </a:xfrm>
          </p:grpSpPr>
          <p:sp>
            <p:nvSpPr>
              <p:cNvPr id="20" name="Rectangle 20"/>
              <p:cNvSpPr/>
              <p:nvPr/>
            </p:nvSpPr>
            <p:spPr>
              <a:xfrm>
                <a:off x="381000" y="1428750"/>
                <a:ext cx="5286375" cy="1952625"/>
              </a:xfrm>
              <a:prstGeom prst="roundRect">
                <a:avLst>
                  <a:gd name="adj" fmla="val 3902"/>
                </a:avLst>
              </a:prstGeom>
              <a:solidFill>
                <a:srgbClr val="FFFFFF"/>
              </a:solidFill>
              <a:ln w="14288">
                <a:solidFill>
                  <a:srgbClr val="D4E2FA"/>
                </a:solidFill>
              </a:ln>
            </p:spPr>
          </p:sp>
          <p:sp>
            <p:nvSpPr>
              <p:cNvPr id="21" name="Ellipse 21"/>
              <p:cNvSpPr/>
              <p:nvPr/>
            </p:nvSpPr>
            <p:spPr>
              <a:xfrm>
                <a:off x="528638" y="1604962"/>
                <a:ext cx="47625" cy="47625"/>
              </a:xfrm>
              <a:prstGeom prst="ellipse">
                <a:avLst/>
              </a:prstGeom>
              <a:solidFill>
                <a:srgbClr val="333333"/>
              </a:solidFill>
              <a:ln>
                <a:noFill/>
              </a:ln>
            </p:spPr>
          </p:sp>
          <p:sp>
            <p:nvSpPr>
              <p:cNvPr id="22" name="TextBox 22"/>
              <p:cNvSpPr txBox="1"/>
              <p:nvPr/>
            </p:nvSpPr>
            <p:spPr>
              <a:xfrm>
                <a:off x="661988" y="1575197"/>
                <a:ext cx="3841623" cy="345281"/>
              </a:xfrm>
              <a:prstGeom prst="rect">
                <a:avLst/>
              </a:prstGeom>
              <a:noFill/>
              <a:ln>
                <a:noFill/>
              </a:ln>
            </p:spPr>
            <p:txBody>
              <a:bodyPr wrap="none" lIns="0" tIns="0" rIns="0" bIns="0" anchor="t" anchorCtr="0">
                <a:spAutoFit/>
              </a:bodyPr>
              <a:lstStyle/>
              <a:p>
                <a:pPr algn="l">
                  <a:lnSpc>
                    <a:spcPts val="1275"/>
                  </a:lnSpc>
                </a:pPr>
                <a:r>
                  <a:rPr lang="zh-CN" sz="940" dirty="0">
                    <a:solidFill>
                      <a:srgbClr val="333333"/>
                    </a:solidFill>
                    <a:latin typeface="+mn-lt"/>
                    <a:ea typeface="+mn-ea"/>
                    <a:cs typeface="+mn-cs"/>
                  </a:rPr>
                  <a:t>聚焦产品配置与产品运营两大维度，通过完善产品货架、构建阶梯式产​​</a:t>
                </a:r>
                <a:br/>
                <a:r>
                  <a:rPr lang="zh-CN" sz="940" dirty="0">
                    <a:solidFill>
                      <a:srgbClr val="333333"/>
                    </a:solidFill>
                    <a:latin typeface="+mn-lt"/>
                    <a:ea typeface="+mn-ea"/>
                    <a:cs typeface="+mn-cs"/>
                  </a:rPr>
                  <a:t>品矩阵、分层精准配品、全旅程体验优化，提升长尾客群产品转化率。​​</a:t>
                </a:r>
              </a:p>
            </p:txBody>
          </p:sp>
          <p:sp>
            <p:nvSpPr>
              <p:cNvPr id="23" name="Rectangle 23"/>
              <p:cNvSpPr/>
              <p:nvPr/>
            </p:nvSpPr>
            <p:spPr>
              <a:xfrm>
                <a:off x="552450" y="1952625"/>
                <a:ext cx="476250" cy="609600"/>
              </a:xfrm>
              <a:prstGeom prst="rect">
                <a:avLst/>
              </a:prstGeom>
              <a:solidFill>
                <a:srgbClr val="D4E2FA"/>
              </a:solidFill>
              <a:ln>
                <a:noFill/>
              </a:ln>
            </p:spPr>
          </p:sp>
          <p:sp>
            <p:nvSpPr>
              <p:cNvPr id="24" name="TextBox 24"/>
              <p:cNvSpPr txBox="1"/>
              <p:nvPr/>
            </p:nvSpPr>
            <p:spPr>
              <a:xfrm>
                <a:off x="640080" y="2122170"/>
                <a:ext cx="300990"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E74726"/>
                    </a:solidFill>
                    <a:latin typeface="+mn-lt"/>
                    <a:ea typeface="+mn-ea"/>
                    <a:cs typeface="+mn-cs"/>
                  </a:rPr>
                  <a:t>产品​</a:t>
                </a:r>
                <a:br/>
                <a:r>
                  <a:rPr lang="zh-CN" sz="900" dirty="0">
                    <a:solidFill>
                      <a:srgbClr val="E74726"/>
                    </a:solidFill>
                    <a:latin typeface="+mn-lt"/>
                    <a:ea typeface="+mn-ea"/>
                    <a:cs typeface="+mn-cs"/>
                  </a:rPr>
                  <a:t>配置​</a:t>
                </a:r>
              </a:p>
            </p:txBody>
          </p:sp>
          <p:sp>
            <p:nvSpPr>
              <p:cNvPr id="25" name="TextBox 25"/>
              <p:cNvSpPr txBox="1"/>
              <p:nvPr/>
            </p:nvSpPr>
            <p:spPr>
              <a:xfrm>
                <a:off x="1119188" y="2074545"/>
                <a:ext cx="494157" cy="176212"/>
              </a:xfrm>
              <a:prstGeom prst="rect">
                <a:avLst/>
              </a:prstGeom>
              <a:noFill/>
              <a:ln>
                <a:noFill/>
              </a:ln>
            </p:spPr>
            <p:txBody>
              <a:bodyPr wrap="none" lIns="0" tIns="0" rIns="0" bIns="0" anchor="t" anchorCtr="0">
                <a:spAutoFit/>
              </a:bodyPr>
              <a:lstStyle/>
              <a:p>
                <a:pPr algn="l"/>
                <a:r>
                  <a:rPr lang="zh-CN" sz="900" dirty="0">
                    <a:solidFill>
                      <a:srgbClr val="E74726"/>
                    </a:solidFill>
                    <a:latin typeface="+mn-lt"/>
                    <a:ea typeface="+mn-ea"/>
                    <a:cs typeface="+mn-cs"/>
                  </a:rPr>
                  <a:t>全量客群</a:t>
                </a:r>
              </a:p>
            </p:txBody>
          </p:sp>
          <p:sp>
            <p:nvSpPr>
              <p:cNvPr id="26" name="Rectangle 26"/>
              <p:cNvSpPr/>
              <p:nvPr/>
            </p:nvSpPr>
            <p:spPr>
              <a:xfrm>
                <a:off x="1733550" y="2000250"/>
                <a:ext cx="3143250" cy="247650"/>
              </a:xfrm>
              <a:prstGeom prst="rect">
                <a:avLst/>
              </a:prstGeom>
              <a:solidFill>
                <a:srgbClr val="FFFFFF"/>
              </a:solidFill>
              <a:ln w="9525">
                <a:solidFill>
                  <a:srgbClr val="D4E2FA"/>
                </a:solidFill>
              </a:ln>
            </p:spPr>
          </p:sp>
          <p:sp>
            <p:nvSpPr>
              <p:cNvPr id="27" name="TextBox 27"/>
              <p:cNvSpPr txBox="1"/>
              <p:nvPr/>
            </p:nvSpPr>
            <p:spPr>
              <a:xfrm>
                <a:off x="1824038" y="2074545"/>
                <a:ext cx="2832506"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活期储蓄→灵活理财→锁定期产品→更高收益类产品​​​</a:t>
                </a:r>
              </a:p>
            </p:txBody>
          </p:sp>
          <p:sp>
            <p:nvSpPr>
              <p:cNvPr id="28" name="TextBox 28"/>
              <p:cNvSpPr txBox="1"/>
              <p:nvPr/>
            </p:nvSpPr>
            <p:spPr>
              <a:xfrm>
                <a:off x="1119188" y="2379345"/>
                <a:ext cx="494157" cy="176212"/>
              </a:xfrm>
              <a:prstGeom prst="rect">
                <a:avLst/>
              </a:prstGeom>
              <a:noFill/>
              <a:ln>
                <a:noFill/>
              </a:ln>
            </p:spPr>
            <p:txBody>
              <a:bodyPr wrap="none" lIns="0" tIns="0" rIns="0" bIns="0" anchor="t" anchorCtr="0">
                <a:spAutoFit/>
              </a:bodyPr>
              <a:lstStyle/>
              <a:p>
                <a:pPr algn="l"/>
                <a:r>
                  <a:rPr lang="zh-CN" sz="900" dirty="0">
                    <a:solidFill>
                      <a:srgbClr val="E74726"/>
                    </a:solidFill>
                    <a:latin typeface="+mn-lt"/>
                    <a:ea typeface="+mn-ea"/>
                    <a:cs typeface="+mn-cs"/>
                  </a:rPr>
                  <a:t>重点客群</a:t>
                </a:r>
              </a:p>
            </p:txBody>
          </p:sp>
          <p:sp>
            <p:nvSpPr>
              <p:cNvPr id="29" name="Rectangle 29"/>
              <p:cNvSpPr/>
              <p:nvPr/>
            </p:nvSpPr>
            <p:spPr>
              <a:xfrm>
                <a:off x="1733550" y="2305050"/>
                <a:ext cx="3143250" cy="247650"/>
              </a:xfrm>
              <a:prstGeom prst="rect">
                <a:avLst/>
              </a:prstGeom>
              <a:solidFill>
                <a:srgbClr val="FFFFFF"/>
              </a:solidFill>
              <a:ln w="9525">
                <a:solidFill>
                  <a:srgbClr val="D4E2FA"/>
                </a:solidFill>
              </a:ln>
            </p:spPr>
          </p:sp>
          <p:sp>
            <p:nvSpPr>
              <p:cNvPr id="30" name="TextBox 30"/>
              <p:cNvSpPr txBox="1"/>
              <p:nvPr/>
            </p:nvSpPr>
            <p:spPr>
              <a:xfrm>
                <a:off x="1824038" y="2379345"/>
                <a:ext cx="2796159"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基于重点及事件客群特征，制定差异化产品配置策略</a:t>
                </a:r>
              </a:p>
            </p:txBody>
          </p:sp>
          <p:sp>
            <p:nvSpPr>
              <p:cNvPr id="31" name="Rectangle 31"/>
              <p:cNvSpPr/>
              <p:nvPr/>
            </p:nvSpPr>
            <p:spPr>
              <a:xfrm>
                <a:off x="552450" y="2647950"/>
                <a:ext cx="476250" cy="609600"/>
              </a:xfrm>
              <a:prstGeom prst="rect">
                <a:avLst/>
              </a:prstGeom>
              <a:solidFill>
                <a:srgbClr val="D4E2FA"/>
              </a:solidFill>
              <a:ln>
                <a:noFill/>
              </a:ln>
            </p:spPr>
          </p:sp>
          <p:sp>
            <p:nvSpPr>
              <p:cNvPr id="32" name="TextBox 32"/>
              <p:cNvSpPr txBox="1"/>
              <p:nvPr/>
            </p:nvSpPr>
            <p:spPr>
              <a:xfrm>
                <a:off x="640080" y="2817495"/>
                <a:ext cx="300990"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E74726"/>
                    </a:solidFill>
                    <a:latin typeface="+mn-lt"/>
                    <a:ea typeface="+mn-ea"/>
                    <a:cs typeface="+mn-cs"/>
                  </a:rPr>
                  <a:t>产品​</a:t>
                </a:r>
                <a:br/>
                <a:r>
                  <a:rPr lang="zh-CN" sz="900" dirty="0">
                    <a:solidFill>
                      <a:srgbClr val="E74726"/>
                    </a:solidFill>
                    <a:latin typeface="+mn-lt"/>
                    <a:ea typeface="+mn-ea"/>
                    <a:cs typeface="+mn-cs"/>
                  </a:rPr>
                  <a:t>配置​</a:t>
                </a:r>
              </a:p>
            </p:txBody>
          </p:sp>
          <p:sp>
            <p:nvSpPr>
              <p:cNvPr id="33" name="TextBox 33"/>
              <p:cNvSpPr txBox="1"/>
              <p:nvPr/>
            </p:nvSpPr>
            <p:spPr>
              <a:xfrm>
                <a:off x="1119188" y="2769870"/>
                <a:ext cx="494157" cy="176212"/>
              </a:xfrm>
              <a:prstGeom prst="rect">
                <a:avLst/>
              </a:prstGeom>
              <a:noFill/>
              <a:ln>
                <a:noFill/>
              </a:ln>
            </p:spPr>
            <p:txBody>
              <a:bodyPr wrap="none" lIns="0" tIns="0" rIns="0" bIns="0" anchor="t" anchorCtr="0">
                <a:spAutoFit/>
              </a:bodyPr>
              <a:lstStyle/>
              <a:p>
                <a:pPr algn="l"/>
                <a:r>
                  <a:rPr lang="zh-CN" sz="900" dirty="0">
                    <a:solidFill>
                      <a:srgbClr val="E74726"/>
                    </a:solidFill>
                    <a:latin typeface="+mn-lt"/>
                    <a:ea typeface="+mn-ea"/>
                    <a:cs typeface="+mn-cs"/>
                  </a:rPr>
                  <a:t>产品包装</a:t>
                </a:r>
              </a:p>
            </p:txBody>
          </p:sp>
          <p:sp>
            <p:nvSpPr>
              <p:cNvPr id="34" name="Rectangle 34"/>
              <p:cNvSpPr/>
              <p:nvPr/>
            </p:nvSpPr>
            <p:spPr>
              <a:xfrm>
                <a:off x="1733550" y="2705100"/>
                <a:ext cx="723900" cy="247650"/>
              </a:xfrm>
              <a:prstGeom prst="rect">
                <a:avLst/>
              </a:prstGeom>
              <a:solidFill>
                <a:srgbClr val="FFFFFF"/>
              </a:solidFill>
              <a:ln w="9525">
                <a:solidFill>
                  <a:srgbClr val="D4E2FA"/>
                </a:solidFill>
              </a:ln>
            </p:spPr>
          </p:sp>
          <p:sp>
            <p:nvSpPr>
              <p:cNvPr id="35" name="TextBox 35"/>
              <p:cNvSpPr txBox="1"/>
              <p:nvPr/>
            </p:nvSpPr>
            <p:spPr>
              <a:xfrm>
                <a:off x="1848422" y="27793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去专业化</a:t>
                </a:r>
              </a:p>
            </p:txBody>
          </p:sp>
          <p:sp>
            <p:nvSpPr>
              <p:cNvPr id="36" name="Rectangle 36"/>
              <p:cNvSpPr/>
              <p:nvPr/>
            </p:nvSpPr>
            <p:spPr>
              <a:xfrm>
                <a:off x="2533650" y="2705100"/>
                <a:ext cx="952500" cy="247650"/>
              </a:xfrm>
              <a:prstGeom prst="rect">
                <a:avLst/>
              </a:prstGeom>
              <a:solidFill>
                <a:srgbClr val="FFFFFF"/>
              </a:solidFill>
              <a:ln w="9525">
                <a:solidFill>
                  <a:srgbClr val="D4E2FA"/>
                </a:solidFill>
              </a:ln>
            </p:spPr>
          </p:sp>
          <p:sp>
            <p:nvSpPr>
              <p:cNvPr id="37" name="TextBox 37"/>
              <p:cNvSpPr txBox="1"/>
              <p:nvPr/>
            </p:nvSpPr>
            <p:spPr>
              <a:xfrm>
                <a:off x="2641663" y="2779395"/>
                <a:ext cx="73647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简化交易流程</a:t>
                </a:r>
              </a:p>
            </p:txBody>
          </p:sp>
          <p:sp>
            <p:nvSpPr>
              <p:cNvPr id="38" name="Rectangle 38"/>
              <p:cNvSpPr/>
              <p:nvPr/>
            </p:nvSpPr>
            <p:spPr>
              <a:xfrm>
                <a:off x="3562350" y="2705100"/>
                <a:ext cx="952500" cy="247650"/>
              </a:xfrm>
              <a:prstGeom prst="rect">
                <a:avLst/>
              </a:prstGeom>
              <a:solidFill>
                <a:srgbClr val="FFFFFF"/>
              </a:solidFill>
              <a:ln w="9525">
                <a:solidFill>
                  <a:srgbClr val="D4E2FA"/>
                </a:solidFill>
              </a:ln>
            </p:spPr>
          </p:sp>
          <p:sp>
            <p:nvSpPr>
              <p:cNvPr id="39" name="TextBox 39"/>
              <p:cNvSpPr txBox="1"/>
              <p:nvPr/>
            </p:nvSpPr>
            <p:spPr>
              <a:xfrm>
                <a:off x="3670363" y="2779395"/>
                <a:ext cx="73647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资金归集功能</a:t>
                </a:r>
              </a:p>
            </p:txBody>
          </p:sp>
          <p:sp>
            <p:nvSpPr>
              <p:cNvPr id="40" name="TextBox 40"/>
              <p:cNvSpPr txBox="1"/>
              <p:nvPr/>
            </p:nvSpPr>
            <p:spPr>
              <a:xfrm>
                <a:off x="4662488" y="2779395"/>
                <a:ext cx="142799"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a:t>
                </a:r>
              </a:p>
            </p:txBody>
          </p:sp>
          <p:sp>
            <p:nvSpPr>
              <p:cNvPr id="41" name="TextBox 41"/>
              <p:cNvSpPr txBox="1"/>
              <p:nvPr/>
            </p:nvSpPr>
            <p:spPr>
              <a:xfrm>
                <a:off x="1119188" y="3074670"/>
                <a:ext cx="494157" cy="176212"/>
              </a:xfrm>
              <a:prstGeom prst="rect">
                <a:avLst/>
              </a:prstGeom>
              <a:noFill/>
              <a:ln>
                <a:noFill/>
              </a:ln>
            </p:spPr>
            <p:txBody>
              <a:bodyPr wrap="none" lIns="0" tIns="0" rIns="0" bIns="0" anchor="t" anchorCtr="0">
                <a:spAutoFit/>
              </a:bodyPr>
              <a:lstStyle/>
              <a:p>
                <a:pPr algn="l"/>
                <a:r>
                  <a:rPr lang="zh-CN" sz="900" dirty="0">
                    <a:solidFill>
                      <a:srgbClr val="E74726"/>
                    </a:solidFill>
                    <a:latin typeface="+mn-lt"/>
                    <a:ea typeface="+mn-ea"/>
                    <a:cs typeface="+mn-cs"/>
                  </a:rPr>
                  <a:t>产品场景</a:t>
                </a:r>
              </a:p>
            </p:txBody>
          </p:sp>
          <p:sp>
            <p:nvSpPr>
              <p:cNvPr id="42" name="Rectangle 42"/>
              <p:cNvSpPr/>
              <p:nvPr/>
            </p:nvSpPr>
            <p:spPr>
              <a:xfrm>
                <a:off x="1733550" y="3009900"/>
                <a:ext cx="723900" cy="247650"/>
              </a:xfrm>
              <a:prstGeom prst="rect">
                <a:avLst/>
              </a:prstGeom>
              <a:solidFill>
                <a:srgbClr val="FFFFFF"/>
              </a:solidFill>
              <a:ln w="9525">
                <a:solidFill>
                  <a:srgbClr val="D4E2FA"/>
                </a:solidFill>
              </a:ln>
            </p:spPr>
          </p:sp>
          <p:sp>
            <p:nvSpPr>
              <p:cNvPr id="43" name="TextBox 43"/>
              <p:cNvSpPr txBox="1"/>
              <p:nvPr/>
            </p:nvSpPr>
            <p:spPr>
              <a:xfrm>
                <a:off x="1848422" y="30841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工资定投</a:t>
                </a:r>
              </a:p>
            </p:txBody>
          </p:sp>
          <p:sp>
            <p:nvSpPr>
              <p:cNvPr id="44" name="Rectangle 44"/>
              <p:cNvSpPr/>
              <p:nvPr/>
            </p:nvSpPr>
            <p:spPr>
              <a:xfrm>
                <a:off x="2533650" y="3009900"/>
                <a:ext cx="723900" cy="247650"/>
              </a:xfrm>
              <a:prstGeom prst="rect">
                <a:avLst/>
              </a:prstGeom>
              <a:solidFill>
                <a:srgbClr val="FFFFFF"/>
              </a:solidFill>
              <a:ln w="9525">
                <a:solidFill>
                  <a:srgbClr val="D4E2FA"/>
                </a:solidFill>
              </a:ln>
            </p:spPr>
          </p:sp>
          <p:sp>
            <p:nvSpPr>
              <p:cNvPr id="45" name="TextBox 45"/>
              <p:cNvSpPr txBox="1"/>
              <p:nvPr/>
            </p:nvSpPr>
            <p:spPr>
              <a:xfrm>
                <a:off x="2648522" y="30841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贷款还款</a:t>
                </a:r>
              </a:p>
            </p:txBody>
          </p:sp>
          <p:sp>
            <p:nvSpPr>
              <p:cNvPr id="46" name="Rectangle 46"/>
              <p:cNvSpPr/>
              <p:nvPr/>
            </p:nvSpPr>
            <p:spPr>
              <a:xfrm>
                <a:off x="3333750" y="3009900"/>
                <a:ext cx="857250" cy="247650"/>
              </a:xfrm>
              <a:prstGeom prst="rect">
                <a:avLst/>
              </a:prstGeom>
              <a:solidFill>
                <a:srgbClr val="FFFFFF"/>
              </a:solidFill>
              <a:ln w="9525">
                <a:solidFill>
                  <a:srgbClr val="D4E2FA"/>
                </a:solidFill>
              </a:ln>
            </p:spPr>
          </p:sp>
          <p:sp>
            <p:nvSpPr>
              <p:cNvPr id="47" name="TextBox 47"/>
              <p:cNvSpPr txBox="1"/>
              <p:nvPr/>
            </p:nvSpPr>
            <p:spPr>
              <a:xfrm>
                <a:off x="3454718" y="3084195"/>
                <a:ext cx="615315"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信用卡还款</a:t>
                </a:r>
              </a:p>
            </p:txBody>
          </p:sp>
          <p:sp>
            <p:nvSpPr>
              <p:cNvPr id="48" name="TextBox 48"/>
              <p:cNvSpPr txBox="1"/>
              <p:nvPr/>
            </p:nvSpPr>
            <p:spPr>
              <a:xfrm>
                <a:off x="4338638" y="3084195"/>
                <a:ext cx="142799"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a:t>
                </a:r>
              </a:p>
            </p:txBody>
          </p:sp>
        </p:grpSp>
        <p:grpSp>
          <p:nvGrpSpPr>
            <p:cNvPr id="84" name="card-activity"/>
            <p:cNvGrpSpPr/>
            <p:nvPr/>
          </p:nvGrpSpPr>
          <p:grpSpPr>
            <a:xfrm>
              <a:off x="6524625" y="1428750"/>
              <a:ext cx="5286375" cy="1952625"/>
              <a:chOff x="6524625" y="1428750"/>
              <a:chExt cx="5286375" cy="1952625"/>
            </a:xfrm>
          </p:grpSpPr>
          <p:sp>
            <p:nvSpPr>
              <p:cNvPr id="50" name="Rectangle 50"/>
              <p:cNvSpPr/>
              <p:nvPr/>
            </p:nvSpPr>
            <p:spPr>
              <a:xfrm>
                <a:off x="6524625" y="1428750"/>
                <a:ext cx="5286375" cy="1952625"/>
              </a:xfrm>
              <a:prstGeom prst="roundRect">
                <a:avLst>
                  <a:gd name="adj" fmla="val 3902"/>
                </a:avLst>
              </a:prstGeom>
              <a:solidFill>
                <a:srgbClr val="FFFFFF"/>
              </a:solidFill>
              <a:ln w="14288">
                <a:solidFill>
                  <a:srgbClr val="D4E2FA"/>
                </a:solidFill>
              </a:ln>
            </p:spPr>
          </p:sp>
          <p:sp>
            <p:nvSpPr>
              <p:cNvPr id="51" name="Ellipse 51"/>
              <p:cNvSpPr/>
              <p:nvPr/>
            </p:nvSpPr>
            <p:spPr>
              <a:xfrm>
                <a:off x="6672262" y="1604962"/>
                <a:ext cx="47625" cy="47625"/>
              </a:xfrm>
              <a:prstGeom prst="ellipse">
                <a:avLst/>
              </a:prstGeom>
              <a:solidFill>
                <a:srgbClr val="333333"/>
              </a:solidFill>
              <a:ln>
                <a:noFill/>
              </a:ln>
            </p:spPr>
          </p:sp>
          <p:sp>
            <p:nvSpPr>
              <p:cNvPr id="52" name="TextBox 52"/>
              <p:cNvSpPr txBox="1"/>
              <p:nvPr/>
            </p:nvSpPr>
            <p:spPr>
              <a:xfrm>
                <a:off x="6805612" y="1575197"/>
                <a:ext cx="4080383" cy="345281"/>
              </a:xfrm>
              <a:prstGeom prst="rect">
                <a:avLst/>
              </a:prstGeom>
              <a:noFill/>
              <a:ln>
                <a:noFill/>
              </a:ln>
            </p:spPr>
            <p:txBody>
              <a:bodyPr wrap="none" lIns="0" tIns="0" rIns="0" bIns="0" anchor="t" anchorCtr="0">
                <a:spAutoFit/>
              </a:bodyPr>
              <a:lstStyle/>
              <a:p>
                <a:pPr algn="l">
                  <a:lnSpc>
                    <a:spcPts val="1275"/>
                  </a:lnSpc>
                </a:pPr>
                <a:r>
                  <a:rPr lang="zh-CN" sz="940" dirty="0">
                    <a:solidFill>
                      <a:srgbClr val="333333"/>
                    </a:solidFill>
                    <a:latin typeface="+mn-lt"/>
                    <a:ea typeface="+mn-ea"/>
                    <a:cs typeface="+mn-cs"/>
                  </a:rPr>
                  <a:t>搭建体系化布局、流程化管控、数据化评估的长尾客群全域营销活动体系，​​</a:t>
                </a:r>
                <a:br/>
                <a:r>
                  <a:rPr lang="zh-CN" sz="940" dirty="0">
                    <a:solidFill>
                      <a:srgbClr val="333333"/>
                    </a:solidFill>
                    <a:latin typeface="+mn-lt"/>
                    <a:ea typeface="+mn-ea"/>
                    <a:cs typeface="+mn-cs"/>
                  </a:rPr>
                  <a:t>最大化释放营销活动赋能价值，快速精准提升长尾客户MAU与AUM。​​​​</a:t>
                </a:r>
              </a:p>
            </p:txBody>
          </p:sp>
          <p:sp>
            <p:nvSpPr>
              <p:cNvPr id="53" name="Rectangle 53"/>
              <p:cNvSpPr/>
              <p:nvPr/>
            </p:nvSpPr>
            <p:spPr>
              <a:xfrm>
                <a:off x="6696075" y="1952625"/>
                <a:ext cx="476250" cy="361950"/>
              </a:xfrm>
              <a:prstGeom prst="rect">
                <a:avLst/>
              </a:prstGeom>
              <a:solidFill>
                <a:srgbClr val="D4E2FA"/>
              </a:solidFill>
              <a:ln>
                <a:noFill/>
              </a:ln>
            </p:spPr>
          </p:sp>
          <p:sp>
            <p:nvSpPr>
              <p:cNvPr id="54" name="TextBox 54"/>
              <p:cNvSpPr txBox="1"/>
              <p:nvPr/>
            </p:nvSpPr>
            <p:spPr>
              <a:xfrm>
                <a:off x="6783705" y="1998345"/>
                <a:ext cx="300990" cy="319088"/>
              </a:xfrm>
              <a:prstGeom prst="rect">
                <a:avLst/>
              </a:prstGeom>
              <a:noFill/>
              <a:ln>
                <a:noFill/>
              </a:ln>
            </p:spPr>
            <p:txBody>
              <a:bodyPr wrap="none" lIns="0" tIns="0" rIns="0" bIns="0" anchor="t" anchorCtr="0">
                <a:spAutoFit/>
              </a:bodyPr>
              <a:lstStyle/>
              <a:p>
                <a:pPr algn="ctr">
                  <a:lnSpc>
                    <a:spcPts val="1125"/>
                  </a:lnSpc>
                </a:pPr>
                <a:r>
                  <a:rPr lang="zh-CN" sz="900" dirty="0">
                    <a:solidFill>
                      <a:srgbClr val="E74726"/>
                    </a:solidFill>
                    <a:latin typeface="+mn-lt"/>
                    <a:ea typeface="+mn-ea"/>
                    <a:cs typeface="+mn-cs"/>
                  </a:rPr>
                  <a:t>活动​</a:t>
                </a:r>
                <a:br/>
                <a:r>
                  <a:rPr lang="zh-CN" sz="900" dirty="0">
                    <a:solidFill>
                      <a:srgbClr val="E74726"/>
                    </a:solidFill>
                    <a:latin typeface="+mn-lt"/>
                    <a:ea typeface="+mn-ea"/>
                    <a:cs typeface="+mn-cs"/>
                  </a:rPr>
                  <a:t>框架​</a:t>
                </a:r>
              </a:p>
            </p:txBody>
          </p:sp>
          <p:sp>
            <p:nvSpPr>
              <p:cNvPr id="55" name="Rectangle 55"/>
              <p:cNvSpPr/>
              <p:nvPr/>
            </p:nvSpPr>
            <p:spPr>
              <a:xfrm>
                <a:off x="7286625" y="1962150"/>
                <a:ext cx="1619250" cy="342900"/>
              </a:xfrm>
              <a:prstGeom prst="rect">
                <a:avLst/>
              </a:prstGeom>
              <a:solidFill>
                <a:srgbClr val="FFFFFF"/>
              </a:solidFill>
              <a:ln w="9525">
                <a:solidFill>
                  <a:srgbClr val="D4E2FA"/>
                </a:solidFill>
              </a:ln>
            </p:spPr>
          </p:sp>
          <p:sp>
            <p:nvSpPr>
              <p:cNvPr id="56" name="TextBox 56"/>
              <p:cNvSpPr txBox="1"/>
              <p:nvPr/>
            </p:nvSpPr>
            <p:spPr>
              <a:xfrm>
                <a:off x="7425118" y="2084070"/>
                <a:ext cx="134226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全量客户常态化旅程活动</a:t>
                </a:r>
              </a:p>
            </p:txBody>
          </p:sp>
          <p:sp>
            <p:nvSpPr>
              <p:cNvPr id="57" name="Freeform 57"/>
              <p:cNvSpPr/>
              <p:nvPr/>
            </p:nvSpPr>
            <p:spPr>
              <a:xfrm>
                <a:off x="9001125" y="2019300"/>
                <a:ext cx="247650" cy="247650"/>
              </a:xfrm>
              <a:prstGeom prst="plus">
                <a:avLst/>
              </a:prstGeom>
              <a:solidFill>
                <a:srgbClr val="F1917D"/>
              </a:solidFill>
              <a:ln>
                <a:noFill/>
              </a:ln>
            </p:spPr>
          </p:sp>
          <p:sp>
            <p:nvSpPr>
              <p:cNvPr id="58" name="Rectangle 58"/>
              <p:cNvSpPr/>
              <p:nvPr/>
            </p:nvSpPr>
            <p:spPr>
              <a:xfrm>
                <a:off x="9382125" y="1962150"/>
                <a:ext cx="1619250" cy="342900"/>
              </a:xfrm>
              <a:prstGeom prst="rect">
                <a:avLst/>
              </a:prstGeom>
              <a:solidFill>
                <a:srgbClr val="FFFFFF"/>
              </a:solidFill>
              <a:ln w="9525">
                <a:solidFill>
                  <a:srgbClr val="D4E2FA"/>
                </a:solidFill>
              </a:ln>
            </p:spPr>
          </p:sp>
          <p:sp>
            <p:nvSpPr>
              <p:cNvPr id="59" name="TextBox 59"/>
              <p:cNvSpPr txBox="1"/>
              <p:nvPr/>
            </p:nvSpPr>
            <p:spPr>
              <a:xfrm>
                <a:off x="9641776" y="2084070"/>
                <a:ext cx="109994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重点客群专属化活动</a:t>
                </a:r>
              </a:p>
            </p:txBody>
          </p:sp>
          <p:sp>
            <p:nvSpPr>
              <p:cNvPr id="60" name="Rectangle 60"/>
              <p:cNvSpPr/>
              <p:nvPr/>
            </p:nvSpPr>
            <p:spPr>
              <a:xfrm>
                <a:off x="6696075" y="2409825"/>
                <a:ext cx="476250" cy="361950"/>
              </a:xfrm>
              <a:prstGeom prst="rect">
                <a:avLst/>
              </a:prstGeom>
              <a:solidFill>
                <a:srgbClr val="D4E2FA"/>
              </a:solidFill>
              <a:ln>
                <a:noFill/>
              </a:ln>
            </p:spPr>
          </p:sp>
          <p:sp>
            <p:nvSpPr>
              <p:cNvPr id="61" name="TextBox 61"/>
              <p:cNvSpPr txBox="1"/>
              <p:nvPr/>
            </p:nvSpPr>
            <p:spPr>
              <a:xfrm>
                <a:off x="6783705" y="2455545"/>
                <a:ext cx="300990" cy="319088"/>
              </a:xfrm>
              <a:prstGeom prst="rect">
                <a:avLst/>
              </a:prstGeom>
              <a:noFill/>
              <a:ln>
                <a:noFill/>
              </a:ln>
            </p:spPr>
            <p:txBody>
              <a:bodyPr wrap="none" lIns="0" tIns="0" rIns="0" bIns="0" anchor="t" anchorCtr="0">
                <a:spAutoFit/>
              </a:bodyPr>
              <a:lstStyle/>
              <a:p>
                <a:pPr algn="ctr">
                  <a:lnSpc>
                    <a:spcPts val="1125"/>
                  </a:lnSpc>
                </a:pPr>
                <a:r>
                  <a:rPr lang="zh-CN" sz="900" dirty="0">
                    <a:solidFill>
                      <a:srgbClr val="E74726"/>
                    </a:solidFill>
                    <a:latin typeface="+mn-lt"/>
                    <a:ea typeface="+mn-ea"/>
                    <a:cs typeface="+mn-cs"/>
                  </a:rPr>
                  <a:t>活动​</a:t>
                </a:r>
                <a:br/>
                <a:r>
                  <a:rPr lang="zh-CN" sz="900" dirty="0">
                    <a:solidFill>
                      <a:srgbClr val="E74726"/>
                    </a:solidFill>
                    <a:latin typeface="+mn-lt"/>
                    <a:ea typeface="+mn-ea"/>
                    <a:cs typeface="+mn-cs"/>
                  </a:rPr>
                  <a:t>流程​</a:t>
                </a:r>
              </a:p>
            </p:txBody>
          </p:sp>
          <p:sp>
            <p:nvSpPr>
              <p:cNvPr id="62" name="Freeform 62"/>
              <p:cNvSpPr/>
              <p:nvPr/>
            </p:nvSpPr>
            <p:spPr>
              <a:xfrm>
                <a:off x="7286625" y="2447925"/>
                <a:ext cx="800100" cy="304800"/>
              </a:xfrm>
              <a:prstGeom prst="chevron">
                <a:avLst/>
              </a:prstGeom>
              <a:solidFill>
                <a:srgbClr val="F7FAFF"/>
              </a:solidFill>
              <a:ln w="9525">
                <a:solidFill>
                  <a:srgbClr val="F7C3B8"/>
                </a:solidFill>
              </a:ln>
            </p:spPr>
          </p:sp>
          <p:sp>
            <p:nvSpPr>
              <p:cNvPr id="63" name="Freeform 63"/>
              <p:cNvSpPr/>
              <p:nvPr/>
            </p:nvSpPr>
            <p:spPr>
              <a:xfrm>
                <a:off x="8086725" y="2447925"/>
                <a:ext cx="800100" cy="304800"/>
              </a:xfrm>
              <a:prstGeom prst="chevron">
                <a:avLst/>
              </a:prstGeom>
              <a:solidFill>
                <a:srgbClr val="F7FAFF"/>
              </a:solidFill>
              <a:ln w="9525">
                <a:solidFill>
                  <a:srgbClr val="F7C3B8"/>
                </a:solidFill>
              </a:ln>
            </p:spPr>
          </p:sp>
          <p:sp>
            <p:nvSpPr>
              <p:cNvPr id="64" name="Freeform 64"/>
              <p:cNvSpPr/>
              <p:nvPr/>
            </p:nvSpPr>
            <p:spPr>
              <a:xfrm>
                <a:off x="8886825" y="2447925"/>
                <a:ext cx="800100" cy="304800"/>
              </a:xfrm>
              <a:prstGeom prst="chevron">
                <a:avLst/>
              </a:prstGeom>
              <a:solidFill>
                <a:srgbClr val="F7FAFF"/>
              </a:solidFill>
              <a:ln w="9525">
                <a:solidFill>
                  <a:srgbClr val="F7C3B8"/>
                </a:solidFill>
              </a:ln>
            </p:spPr>
          </p:sp>
          <p:sp>
            <p:nvSpPr>
              <p:cNvPr id="65" name="Freeform 65"/>
              <p:cNvSpPr/>
              <p:nvPr/>
            </p:nvSpPr>
            <p:spPr>
              <a:xfrm>
                <a:off x="9686925" y="2447925"/>
                <a:ext cx="800100" cy="304800"/>
              </a:xfrm>
              <a:prstGeom prst="chevron">
                <a:avLst/>
              </a:prstGeom>
              <a:solidFill>
                <a:srgbClr val="F7FAFF"/>
              </a:solidFill>
              <a:ln w="9525">
                <a:solidFill>
                  <a:srgbClr val="F7C3B8"/>
                </a:solidFill>
              </a:ln>
            </p:spPr>
          </p:sp>
          <p:sp>
            <p:nvSpPr>
              <p:cNvPr id="66" name="Freeform 66"/>
              <p:cNvSpPr/>
              <p:nvPr/>
            </p:nvSpPr>
            <p:spPr>
              <a:xfrm>
                <a:off x="10487025" y="2447925"/>
                <a:ext cx="800100" cy="304800"/>
              </a:xfrm>
              <a:prstGeom prst="chevron">
                <a:avLst/>
              </a:prstGeom>
              <a:solidFill>
                <a:srgbClr val="F7FAFF"/>
              </a:solidFill>
              <a:ln w="9525">
                <a:solidFill>
                  <a:srgbClr val="F7C3B8"/>
                </a:solidFill>
              </a:ln>
            </p:spPr>
          </p:sp>
          <p:sp>
            <p:nvSpPr>
              <p:cNvPr id="67" name="TextBox 67"/>
              <p:cNvSpPr txBox="1"/>
              <p:nvPr/>
            </p:nvSpPr>
            <p:spPr>
              <a:xfrm>
                <a:off x="7511034" y="248269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目标​</a:t>
                </a:r>
                <a:br/>
                <a:r>
                  <a:rPr lang="zh-CN" sz="820" dirty="0">
                    <a:solidFill>
                      <a:srgbClr val="333333"/>
                    </a:solidFill>
                    <a:latin typeface="+mn-lt"/>
                    <a:ea typeface="+mn-ea"/>
                    <a:cs typeface="+mn-cs"/>
                  </a:rPr>
                  <a:t>定位​</a:t>
                </a:r>
              </a:p>
            </p:txBody>
          </p:sp>
          <p:sp>
            <p:nvSpPr>
              <p:cNvPr id="68" name="TextBox 68"/>
              <p:cNvSpPr txBox="1"/>
              <p:nvPr/>
            </p:nvSpPr>
            <p:spPr>
              <a:xfrm>
                <a:off x="8311134" y="248269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活动​</a:t>
                </a:r>
                <a:br/>
                <a:r>
                  <a:rPr lang="zh-CN" sz="820" dirty="0">
                    <a:solidFill>
                      <a:srgbClr val="333333"/>
                    </a:solidFill>
                    <a:latin typeface="+mn-lt"/>
                    <a:ea typeface="+mn-ea"/>
                    <a:cs typeface="+mn-cs"/>
                  </a:rPr>
                  <a:t>设计​</a:t>
                </a:r>
              </a:p>
            </p:txBody>
          </p:sp>
          <p:sp>
            <p:nvSpPr>
              <p:cNvPr id="69" name="TextBox 69"/>
              <p:cNvSpPr txBox="1"/>
              <p:nvPr/>
            </p:nvSpPr>
            <p:spPr>
              <a:xfrm>
                <a:off x="9111234" y="248269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开发​</a:t>
                </a:r>
                <a:br/>
                <a:r>
                  <a:rPr lang="zh-CN" sz="820" dirty="0">
                    <a:solidFill>
                      <a:srgbClr val="333333"/>
                    </a:solidFill>
                    <a:latin typeface="+mn-lt"/>
                    <a:ea typeface="+mn-ea"/>
                    <a:cs typeface="+mn-cs"/>
                  </a:rPr>
                  <a:t>落地​</a:t>
                </a:r>
              </a:p>
            </p:txBody>
          </p:sp>
          <p:sp>
            <p:nvSpPr>
              <p:cNvPr id="70" name="TextBox 70"/>
              <p:cNvSpPr txBox="1"/>
              <p:nvPr/>
            </p:nvSpPr>
            <p:spPr>
              <a:xfrm>
                <a:off x="9983399" y="2549366"/>
                <a:ext cx="13095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a:t>
                </a:r>
              </a:p>
            </p:txBody>
          </p:sp>
          <p:sp>
            <p:nvSpPr>
              <p:cNvPr id="71" name="TextBox 71"/>
              <p:cNvSpPr txBox="1"/>
              <p:nvPr/>
            </p:nvSpPr>
            <p:spPr>
              <a:xfrm>
                <a:off x="10711434" y="248269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效果​</a:t>
                </a:r>
                <a:br/>
                <a:r>
                  <a:rPr lang="zh-CN" sz="820" dirty="0">
                    <a:solidFill>
                      <a:srgbClr val="333333"/>
                    </a:solidFill>
                    <a:latin typeface="+mn-lt"/>
                    <a:ea typeface="+mn-ea"/>
                    <a:cs typeface="+mn-cs"/>
                  </a:rPr>
                  <a:t>复盘​</a:t>
                </a:r>
              </a:p>
            </p:txBody>
          </p:sp>
          <p:sp>
            <p:nvSpPr>
              <p:cNvPr id="72" name="Rectangle 72"/>
              <p:cNvSpPr/>
              <p:nvPr/>
            </p:nvSpPr>
            <p:spPr>
              <a:xfrm>
                <a:off x="6696075" y="2867025"/>
                <a:ext cx="476250" cy="361950"/>
              </a:xfrm>
              <a:prstGeom prst="rect">
                <a:avLst/>
              </a:prstGeom>
              <a:solidFill>
                <a:srgbClr val="D4E2FA"/>
              </a:solidFill>
              <a:ln>
                <a:noFill/>
              </a:ln>
            </p:spPr>
          </p:sp>
          <p:sp>
            <p:nvSpPr>
              <p:cNvPr id="73" name="TextBox 73"/>
              <p:cNvSpPr txBox="1"/>
              <p:nvPr/>
            </p:nvSpPr>
            <p:spPr>
              <a:xfrm>
                <a:off x="6783705" y="2912745"/>
                <a:ext cx="300990" cy="319088"/>
              </a:xfrm>
              <a:prstGeom prst="rect">
                <a:avLst/>
              </a:prstGeom>
              <a:noFill/>
              <a:ln>
                <a:noFill/>
              </a:ln>
            </p:spPr>
            <p:txBody>
              <a:bodyPr wrap="none" lIns="0" tIns="0" rIns="0" bIns="0" anchor="t" anchorCtr="0">
                <a:spAutoFit/>
              </a:bodyPr>
              <a:lstStyle/>
              <a:p>
                <a:pPr algn="ctr">
                  <a:lnSpc>
                    <a:spcPts val="1125"/>
                  </a:lnSpc>
                </a:pPr>
                <a:r>
                  <a:rPr lang="zh-CN" sz="900" dirty="0">
                    <a:solidFill>
                      <a:srgbClr val="E74726"/>
                    </a:solidFill>
                    <a:latin typeface="+mn-lt"/>
                    <a:ea typeface="+mn-ea"/>
                    <a:cs typeface="+mn-cs"/>
                  </a:rPr>
                  <a:t>活动​</a:t>
                </a:r>
                <a:br/>
                <a:r>
                  <a:rPr lang="zh-CN" sz="900" dirty="0">
                    <a:solidFill>
                      <a:srgbClr val="E74726"/>
                    </a:solidFill>
                    <a:latin typeface="+mn-lt"/>
                    <a:ea typeface="+mn-ea"/>
                    <a:cs typeface="+mn-cs"/>
                  </a:rPr>
                  <a:t>评估​</a:t>
                </a:r>
              </a:p>
            </p:txBody>
          </p:sp>
          <p:sp>
            <p:nvSpPr>
              <p:cNvPr id="74" name="Rectangle 74"/>
              <p:cNvSpPr/>
              <p:nvPr/>
            </p:nvSpPr>
            <p:spPr>
              <a:xfrm>
                <a:off x="7286625" y="2886075"/>
                <a:ext cx="723900" cy="342900"/>
              </a:xfrm>
              <a:prstGeom prst="rect">
                <a:avLst/>
              </a:prstGeom>
              <a:solidFill>
                <a:srgbClr val="FFFFFF"/>
              </a:solidFill>
              <a:ln w="9525">
                <a:solidFill>
                  <a:srgbClr val="D4E2FA"/>
                </a:solidFill>
              </a:ln>
            </p:spPr>
          </p:sp>
          <p:sp>
            <p:nvSpPr>
              <p:cNvPr id="75" name="TextBox 75"/>
              <p:cNvSpPr txBox="1"/>
              <p:nvPr/>
            </p:nvSpPr>
            <p:spPr>
              <a:xfrm>
                <a:off x="7511034" y="292084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触点​</a:t>
                </a:r>
                <a:br/>
                <a:r>
                  <a:rPr lang="zh-CN" sz="820" dirty="0">
                    <a:solidFill>
                      <a:srgbClr val="333333"/>
                    </a:solidFill>
                    <a:latin typeface="+mn-lt"/>
                    <a:ea typeface="+mn-ea"/>
                    <a:cs typeface="+mn-cs"/>
                  </a:rPr>
                  <a:t>渠道​</a:t>
                </a:r>
              </a:p>
            </p:txBody>
          </p:sp>
          <p:sp>
            <p:nvSpPr>
              <p:cNvPr id="76" name="Rectangle 76"/>
              <p:cNvSpPr/>
              <p:nvPr/>
            </p:nvSpPr>
            <p:spPr>
              <a:xfrm>
                <a:off x="8086725" y="2886075"/>
                <a:ext cx="723900" cy="342900"/>
              </a:xfrm>
              <a:prstGeom prst="rect">
                <a:avLst/>
              </a:prstGeom>
              <a:solidFill>
                <a:srgbClr val="FFFFFF"/>
              </a:solidFill>
              <a:ln w="9525">
                <a:solidFill>
                  <a:srgbClr val="D4E2FA"/>
                </a:solidFill>
              </a:ln>
            </p:spPr>
          </p:sp>
          <p:sp>
            <p:nvSpPr>
              <p:cNvPr id="77" name="TextBox 77"/>
              <p:cNvSpPr txBox="1"/>
              <p:nvPr/>
            </p:nvSpPr>
            <p:spPr>
              <a:xfrm>
                <a:off x="8311134" y="292084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活动​</a:t>
                </a:r>
                <a:br/>
                <a:r>
                  <a:rPr lang="zh-CN" sz="820" dirty="0">
                    <a:solidFill>
                      <a:srgbClr val="333333"/>
                    </a:solidFill>
                    <a:latin typeface="+mn-lt"/>
                    <a:ea typeface="+mn-ea"/>
                    <a:cs typeface="+mn-cs"/>
                  </a:rPr>
                  <a:t>访问​</a:t>
                </a:r>
              </a:p>
            </p:txBody>
          </p:sp>
          <p:sp>
            <p:nvSpPr>
              <p:cNvPr id="78" name="Rectangle 78"/>
              <p:cNvSpPr/>
              <p:nvPr/>
            </p:nvSpPr>
            <p:spPr>
              <a:xfrm>
                <a:off x="8886825" y="2886075"/>
                <a:ext cx="723900" cy="342900"/>
              </a:xfrm>
              <a:prstGeom prst="rect">
                <a:avLst/>
              </a:prstGeom>
              <a:solidFill>
                <a:srgbClr val="FFFFFF"/>
              </a:solidFill>
              <a:ln w="9525">
                <a:solidFill>
                  <a:srgbClr val="D4E2FA"/>
                </a:solidFill>
              </a:ln>
            </p:spPr>
          </p:sp>
          <p:sp>
            <p:nvSpPr>
              <p:cNvPr id="79" name="TextBox 79"/>
              <p:cNvSpPr txBox="1"/>
              <p:nvPr/>
            </p:nvSpPr>
            <p:spPr>
              <a:xfrm>
                <a:off x="9111234" y="292084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活动​</a:t>
                </a:r>
                <a:br/>
                <a:r>
                  <a:rPr lang="zh-CN" sz="820" dirty="0">
                    <a:solidFill>
                      <a:srgbClr val="333333"/>
                    </a:solidFill>
                    <a:latin typeface="+mn-lt"/>
                    <a:ea typeface="+mn-ea"/>
                    <a:cs typeface="+mn-cs"/>
                  </a:rPr>
                  <a:t>参与​</a:t>
                </a:r>
              </a:p>
            </p:txBody>
          </p:sp>
          <p:sp>
            <p:nvSpPr>
              <p:cNvPr id="80" name="Rectangle 80"/>
              <p:cNvSpPr/>
              <p:nvPr/>
            </p:nvSpPr>
            <p:spPr>
              <a:xfrm>
                <a:off x="9686925" y="2886075"/>
                <a:ext cx="723900" cy="342900"/>
              </a:xfrm>
              <a:prstGeom prst="rect">
                <a:avLst/>
              </a:prstGeom>
              <a:solidFill>
                <a:srgbClr val="FFFFFF"/>
              </a:solidFill>
              <a:ln w="9525">
                <a:solidFill>
                  <a:srgbClr val="D4E2FA"/>
                </a:solidFill>
              </a:ln>
            </p:spPr>
          </p:sp>
          <p:sp>
            <p:nvSpPr>
              <p:cNvPr id="81" name="TextBox 81"/>
              <p:cNvSpPr txBox="1"/>
              <p:nvPr/>
            </p:nvSpPr>
            <p:spPr>
              <a:xfrm>
                <a:off x="9911334" y="2920841"/>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活动​</a:t>
                </a:r>
                <a:br/>
                <a:r>
                  <a:rPr lang="zh-CN" sz="820" dirty="0">
                    <a:solidFill>
                      <a:srgbClr val="333333"/>
                    </a:solidFill>
                    <a:latin typeface="+mn-lt"/>
                    <a:ea typeface="+mn-ea"/>
                    <a:cs typeface="+mn-cs"/>
                  </a:rPr>
                  <a:t>漏斗​</a:t>
                </a:r>
              </a:p>
            </p:txBody>
          </p:sp>
          <p:sp>
            <p:nvSpPr>
              <p:cNvPr id="82" name="Rectangle 82"/>
              <p:cNvSpPr/>
              <p:nvPr/>
            </p:nvSpPr>
            <p:spPr>
              <a:xfrm>
                <a:off x="10487025" y="2886075"/>
                <a:ext cx="723900" cy="342900"/>
              </a:xfrm>
              <a:prstGeom prst="rect">
                <a:avLst/>
              </a:prstGeom>
              <a:solidFill>
                <a:srgbClr val="FFFFFF"/>
              </a:solidFill>
              <a:ln w="9525">
                <a:solidFill>
                  <a:srgbClr val="D4E2FA"/>
                </a:solidFill>
              </a:ln>
            </p:spPr>
          </p:sp>
          <p:sp>
            <p:nvSpPr>
              <p:cNvPr id="83" name="TextBox 83"/>
              <p:cNvSpPr txBox="1"/>
              <p:nvPr/>
            </p:nvSpPr>
            <p:spPr>
              <a:xfrm>
                <a:off x="10783499" y="3016091"/>
                <a:ext cx="13095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a:t>
                </a:r>
              </a:p>
            </p:txBody>
          </p:sp>
        </p:grpSp>
        <p:grpSp>
          <p:nvGrpSpPr>
            <p:cNvPr id="110" name="card-benefit"/>
            <p:cNvGrpSpPr/>
            <p:nvPr/>
          </p:nvGrpSpPr>
          <p:grpSpPr>
            <a:xfrm>
              <a:off x="381000" y="3619500"/>
              <a:ext cx="5286375" cy="1905000"/>
              <a:chOff x="381000" y="3619500"/>
              <a:chExt cx="5286375" cy="1905000"/>
            </a:xfrm>
          </p:grpSpPr>
          <p:sp>
            <p:nvSpPr>
              <p:cNvPr id="85" name="Rectangle 85"/>
              <p:cNvSpPr/>
              <p:nvPr/>
            </p:nvSpPr>
            <p:spPr>
              <a:xfrm>
                <a:off x="381000" y="3619500"/>
                <a:ext cx="5286375" cy="1905000"/>
              </a:xfrm>
              <a:prstGeom prst="roundRect">
                <a:avLst>
                  <a:gd name="adj" fmla="val 4000"/>
                </a:avLst>
              </a:prstGeom>
              <a:solidFill>
                <a:srgbClr val="FFFFFF"/>
              </a:solidFill>
              <a:ln w="14288">
                <a:solidFill>
                  <a:srgbClr val="D4E2FA"/>
                </a:solidFill>
              </a:ln>
            </p:spPr>
          </p:sp>
          <p:sp>
            <p:nvSpPr>
              <p:cNvPr id="86" name="Ellipse 86"/>
              <p:cNvSpPr/>
              <p:nvPr/>
            </p:nvSpPr>
            <p:spPr>
              <a:xfrm>
                <a:off x="528638" y="3795712"/>
                <a:ext cx="47625" cy="47625"/>
              </a:xfrm>
              <a:prstGeom prst="ellipse">
                <a:avLst/>
              </a:prstGeom>
              <a:solidFill>
                <a:srgbClr val="333333"/>
              </a:solidFill>
              <a:ln>
                <a:noFill/>
              </a:ln>
            </p:spPr>
          </p:sp>
          <p:sp>
            <p:nvSpPr>
              <p:cNvPr id="87" name="TextBox 87"/>
              <p:cNvSpPr txBox="1"/>
              <p:nvPr/>
            </p:nvSpPr>
            <p:spPr>
              <a:xfrm>
                <a:off x="661988" y="3765947"/>
                <a:ext cx="3734181" cy="345281"/>
              </a:xfrm>
              <a:prstGeom prst="rect">
                <a:avLst/>
              </a:prstGeom>
              <a:noFill/>
              <a:ln>
                <a:noFill/>
              </a:ln>
            </p:spPr>
            <p:txBody>
              <a:bodyPr wrap="none" lIns="0" tIns="0" rIns="0" bIns="0" anchor="t" anchorCtr="0">
                <a:spAutoFit/>
              </a:bodyPr>
              <a:lstStyle/>
              <a:p>
                <a:pPr algn="l">
                  <a:lnSpc>
                    <a:spcPts val="1275"/>
                  </a:lnSpc>
                </a:pPr>
                <a:r>
                  <a:rPr lang="zh-CN" sz="940" dirty="0">
                    <a:solidFill>
                      <a:srgbClr val="333333"/>
                    </a:solidFill>
                    <a:latin typeface="+mn-lt"/>
                    <a:ea typeface="+mn-ea"/>
                    <a:cs typeface="+mn-cs"/>
                  </a:rPr>
                  <a:t>搭建全旅程普惠权益+重点客群专属权益的布局体系，筑牢长尾客户​​​</a:t>
                </a:r>
                <a:br/>
                <a:r>
                  <a:rPr lang="zh-CN" sz="940" dirty="0">
                    <a:solidFill>
                      <a:srgbClr val="333333"/>
                    </a:solidFill>
                    <a:latin typeface="+mn-lt"/>
                    <a:ea typeface="+mn-ea"/>
                    <a:cs typeface="+mn-cs"/>
                  </a:rPr>
                  <a:t>粘性壁垒，建立标准化的权益管理流程，确保资源投放的精准高效​​</a:t>
                </a:r>
              </a:p>
            </p:txBody>
          </p:sp>
          <p:sp>
            <p:nvSpPr>
              <p:cNvPr id="88" name="Rectangle 88"/>
              <p:cNvSpPr/>
              <p:nvPr/>
            </p:nvSpPr>
            <p:spPr>
              <a:xfrm>
                <a:off x="552450" y="4191000"/>
                <a:ext cx="2286000" cy="228600"/>
              </a:xfrm>
              <a:prstGeom prst="rect">
                <a:avLst/>
              </a:prstGeom>
              <a:solidFill>
                <a:srgbClr val="D4E2FA"/>
              </a:solidFill>
              <a:ln>
                <a:noFill/>
              </a:ln>
            </p:spPr>
          </p:sp>
          <p:sp>
            <p:nvSpPr>
              <p:cNvPr id="89" name="TextBox 89"/>
              <p:cNvSpPr txBox="1"/>
              <p:nvPr/>
            </p:nvSpPr>
            <p:spPr>
              <a:xfrm>
                <a:off x="1448372" y="4255770"/>
                <a:ext cx="494157" cy="176212"/>
              </a:xfrm>
              <a:prstGeom prst="rect">
                <a:avLst/>
              </a:prstGeom>
              <a:noFill/>
              <a:ln>
                <a:noFill/>
              </a:ln>
            </p:spPr>
            <p:txBody>
              <a:bodyPr wrap="none" lIns="0" tIns="0" rIns="0" bIns="0" anchor="t" anchorCtr="0">
                <a:spAutoFit/>
              </a:bodyPr>
              <a:lstStyle/>
              <a:p>
                <a:pPr algn="ctr"/>
                <a:r>
                  <a:rPr lang="zh-CN" sz="900" dirty="0">
                    <a:solidFill>
                      <a:srgbClr val="E74726"/>
                    </a:solidFill>
                    <a:latin typeface="+mn-lt"/>
                    <a:ea typeface="+mn-ea"/>
                    <a:cs typeface="+mn-cs"/>
                  </a:rPr>
                  <a:t>权益配置</a:t>
                </a:r>
              </a:p>
            </p:txBody>
          </p:sp>
          <p:sp>
            <p:nvSpPr>
              <p:cNvPr id="90" name="TextBox 90"/>
              <p:cNvSpPr txBox="1"/>
              <p:nvPr/>
            </p:nvSpPr>
            <p:spPr>
              <a:xfrm>
                <a:off x="792391" y="4516993"/>
                <a:ext cx="472618" cy="169069"/>
              </a:xfrm>
              <a:prstGeom prst="rect">
                <a:avLst/>
              </a:prstGeom>
              <a:noFill/>
              <a:ln>
                <a:noFill/>
              </a:ln>
            </p:spPr>
            <p:txBody>
              <a:bodyPr wrap="none" lIns="0" tIns="0" rIns="0" bIns="0" anchor="t" anchorCtr="0">
                <a:spAutoFit/>
              </a:bodyPr>
              <a:lstStyle/>
              <a:p>
                <a:pPr algn="ctr"/>
                <a:r>
                  <a:rPr lang="zh-CN" sz="860" dirty="0">
                    <a:solidFill>
                      <a:srgbClr val="E74726"/>
                    </a:solidFill>
                    <a:latin typeface="+mn-lt"/>
                    <a:ea typeface="+mn-ea"/>
                    <a:cs typeface="+mn-cs"/>
                  </a:rPr>
                  <a:t>全量客群</a:t>
                </a:r>
              </a:p>
            </p:txBody>
          </p:sp>
          <p:sp>
            <p:nvSpPr>
              <p:cNvPr id="91" name="TextBox 91"/>
              <p:cNvSpPr txBox="1"/>
              <p:nvPr/>
            </p:nvSpPr>
            <p:spPr>
              <a:xfrm>
                <a:off x="2125891" y="4516993"/>
                <a:ext cx="472618" cy="169069"/>
              </a:xfrm>
              <a:prstGeom prst="rect">
                <a:avLst/>
              </a:prstGeom>
              <a:noFill/>
              <a:ln>
                <a:noFill/>
              </a:ln>
            </p:spPr>
            <p:txBody>
              <a:bodyPr wrap="none" lIns="0" tIns="0" rIns="0" bIns="0" anchor="t" anchorCtr="0">
                <a:spAutoFit/>
              </a:bodyPr>
              <a:lstStyle/>
              <a:p>
                <a:pPr algn="ctr"/>
                <a:r>
                  <a:rPr lang="zh-CN" sz="860" dirty="0">
                    <a:solidFill>
                      <a:srgbClr val="E74726"/>
                    </a:solidFill>
                    <a:latin typeface="+mn-lt"/>
                    <a:ea typeface="+mn-ea"/>
                    <a:cs typeface="+mn-cs"/>
                  </a:rPr>
                  <a:t>重点客群</a:t>
                </a:r>
              </a:p>
            </p:txBody>
          </p:sp>
          <p:sp>
            <p:nvSpPr>
              <p:cNvPr id="92" name="Rectangle 92"/>
              <p:cNvSpPr/>
              <p:nvPr/>
            </p:nvSpPr>
            <p:spPr>
              <a:xfrm>
                <a:off x="457200" y="4667250"/>
                <a:ext cx="1143000" cy="685800"/>
              </a:xfrm>
              <a:prstGeom prst="rect">
                <a:avLst/>
              </a:prstGeom>
              <a:solidFill>
                <a:srgbClr val="FFFFFF"/>
              </a:solidFill>
              <a:ln w="9525">
                <a:solidFill>
                  <a:srgbClr val="D4E2FA"/>
                </a:solidFill>
              </a:ln>
            </p:spPr>
          </p:sp>
          <p:sp>
            <p:nvSpPr>
              <p:cNvPr id="93" name="TextBox 93"/>
              <p:cNvSpPr txBox="1"/>
              <p:nvPr/>
            </p:nvSpPr>
            <p:spPr>
              <a:xfrm>
                <a:off x="611632" y="4764643"/>
                <a:ext cx="834136" cy="473869"/>
              </a:xfrm>
              <a:prstGeom prst="rect">
                <a:avLst/>
              </a:prstGeom>
              <a:noFill/>
              <a:ln>
                <a:noFill/>
              </a:ln>
            </p:spPr>
            <p:txBody>
              <a:bodyPr wrap="none" lIns="0" tIns="0" rIns="0" bIns="0" anchor="t" anchorCtr="0">
                <a:spAutoFit/>
              </a:bodyPr>
              <a:lstStyle/>
              <a:p>
                <a:pPr algn="ctr">
                  <a:lnSpc>
                    <a:spcPts val="1200"/>
                  </a:lnSpc>
                </a:pPr>
                <a:r>
                  <a:rPr lang="zh-CN" sz="860" dirty="0">
                    <a:solidFill>
                      <a:srgbClr val="333333"/>
                    </a:solidFill>
                    <a:latin typeface="+mn-lt"/>
                    <a:ea typeface="+mn-ea"/>
                    <a:cs typeface="+mn-cs"/>
                  </a:rPr>
                  <a:t>基于经营旅程搭​</a:t>
                </a:r>
                <a:br/>
                <a:r>
                  <a:rPr lang="zh-CN" sz="860" dirty="0">
                    <a:solidFill>
                      <a:srgbClr val="333333"/>
                    </a:solidFill>
                    <a:latin typeface="+mn-lt"/>
                    <a:ea typeface="+mn-ea"/>
                    <a:cs typeface="+mn-cs"/>
                  </a:rPr>
                  <a:t>建普惠权益配置​</a:t>
                </a:r>
                <a:br/>
                <a:r>
                  <a:rPr lang="zh-CN" sz="860" dirty="0">
                    <a:solidFill>
                      <a:srgbClr val="333333"/>
                    </a:solidFill>
                    <a:latin typeface="+mn-lt"/>
                    <a:ea typeface="+mn-ea"/>
                    <a:cs typeface="+mn-cs"/>
                  </a:rPr>
                  <a:t>链路</a:t>
                </a:r>
              </a:p>
            </p:txBody>
          </p:sp>
          <p:sp>
            <p:nvSpPr>
              <p:cNvPr id="94" name="Rectangle 94"/>
              <p:cNvSpPr/>
              <p:nvPr/>
            </p:nvSpPr>
            <p:spPr>
              <a:xfrm>
                <a:off x="1790700" y="4667250"/>
                <a:ext cx="1143000" cy="685800"/>
              </a:xfrm>
              <a:prstGeom prst="rect">
                <a:avLst/>
              </a:prstGeom>
              <a:solidFill>
                <a:srgbClr val="FFFFFF"/>
              </a:solidFill>
              <a:ln w="9525">
                <a:solidFill>
                  <a:srgbClr val="D4E2FA"/>
                </a:solidFill>
              </a:ln>
            </p:spPr>
          </p:sp>
          <p:sp>
            <p:nvSpPr>
              <p:cNvPr id="95" name="TextBox 95"/>
              <p:cNvSpPr txBox="1"/>
              <p:nvPr/>
            </p:nvSpPr>
            <p:spPr>
              <a:xfrm>
                <a:off x="1939671" y="4764643"/>
                <a:ext cx="845058" cy="473869"/>
              </a:xfrm>
              <a:prstGeom prst="rect">
                <a:avLst/>
              </a:prstGeom>
              <a:noFill/>
              <a:ln>
                <a:noFill/>
              </a:ln>
            </p:spPr>
            <p:txBody>
              <a:bodyPr wrap="none" lIns="0" tIns="0" rIns="0" bIns="0" anchor="t" anchorCtr="0">
                <a:spAutoFit/>
              </a:bodyPr>
              <a:lstStyle/>
              <a:p>
                <a:pPr algn="ctr">
                  <a:lnSpc>
                    <a:spcPts val="1200"/>
                  </a:lnSpc>
                </a:pPr>
                <a:r>
                  <a:rPr lang="zh-CN" sz="860" dirty="0">
                    <a:solidFill>
                      <a:srgbClr val="333333"/>
                    </a:solidFill>
                    <a:latin typeface="+mn-lt"/>
                    <a:ea typeface="+mn-ea"/>
                    <a:cs typeface="+mn-cs"/>
                  </a:rPr>
                  <a:t>“基础权益+专​​</a:t>
                </a:r>
                <a:br/>
                <a:r>
                  <a:rPr lang="zh-CN" sz="860" dirty="0">
                    <a:solidFill>
                      <a:srgbClr val="333333"/>
                    </a:solidFill>
                    <a:latin typeface="+mn-lt"/>
                    <a:ea typeface="+mn-ea"/>
                    <a:cs typeface="+mn-cs"/>
                  </a:rPr>
                  <a:t>属加码”的复合​​</a:t>
                </a:r>
                <a:br/>
                <a:r>
                  <a:rPr lang="zh-CN" sz="860" dirty="0">
                    <a:solidFill>
                      <a:srgbClr val="333333"/>
                    </a:solidFill>
                    <a:latin typeface="+mn-lt"/>
                    <a:ea typeface="+mn-ea"/>
                    <a:cs typeface="+mn-cs"/>
                  </a:rPr>
                  <a:t>权益</a:t>
                </a:r>
              </a:p>
            </p:txBody>
          </p:sp>
          <p:sp>
            <p:nvSpPr>
              <p:cNvPr id="96" name="Freeform 96"/>
              <p:cNvSpPr/>
              <p:nvPr/>
            </p:nvSpPr>
            <p:spPr>
              <a:xfrm>
                <a:off x="2971800" y="4810125"/>
                <a:ext cx="285750" cy="285750"/>
              </a:xfrm>
              <a:prstGeom prst="plus">
                <a:avLst/>
              </a:prstGeom>
              <a:solidFill>
                <a:srgbClr val="F1917D"/>
              </a:solidFill>
              <a:ln>
                <a:noFill/>
              </a:ln>
            </p:spPr>
          </p:sp>
          <p:sp>
            <p:nvSpPr>
              <p:cNvPr id="97" name="Rectangle 97"/>
              <p:cNvSpPr/>
              <p:nvPr/>
            </p:nvSpPr>
            <p:spPr>
              <a:xfrm>
                <a:off x="3143250" y="4191000"/>
                <a:ext cx="2286000" cy="228600"/>
              </a:xfrm>
              <a:prstGeom prst="rect">
                <a:avLst/>
              </a:prstGeom>
              <a:solidFill>
                <a:srgbClr val="D4E2FA"/>
              </a:solidFill>
              <a:ln>
                <a:noFill/>
              </a:ln>
            </p:spPr>
          </p:sp>
          <p:sp>
            <p:nvSpPr>
              <p:cNvPr id="98" name="TextBox 98"/>
              <p:cNvSpPr txBox="1"/>
              <p:nvPr/>
            </p:nvSpPr>
            <p:spPr>
              <a:xfrm>
                <a:off x="4039172" y="4255770"/>
                <a:ext cx="494157" cy="176212"/>
              </a:xfrm>
              <a:prstGeom prst="rect">
                <a:avLst/>
              </a:prstGeom>
              <a:noFill/>
              <a:ln>
                <a:noFill/>
              </a:ln>
            </p:spPr>
            <p:txBody>
              <a:bodyPr wrap="none" lIns="0" tIns="0" rIns="0" bIns="0" anchor="t" anchorCtr="0">
                <a:spAutoFit/>
              </a:bodyPr>
              <a:lstStyle/>
              <a:p>
                <a:pPr algn="ctr"/>
                <a:r>
                  <a:rPr lang="zh-CN" sz="900" dirty="0">
                    <a:solidFill>
                      <a:srgbClr val="E74726"/>
                    </a:solidFill>
                    <a:latin typeface="+mn-lt"/>
                    <a:ea typeface="+mn-ea"/>
                    <a:cs typeface="+mn-cs"/>
                  </a:rPr>
                  <a:t>权益管理</a:t>
                </a:r>
              </a:p>
            </p:txBody>
          </p:sp>
          <p:sp>
            <p:nvSpPr>
              <p:cNvPr id="99" name="Line 99"/>
              <p:cNvSpPr/>
              <p:nvPr/>
            </p:nvSpPr>
            <p:spPr>
              <a:xfrm>
                <a:off x="3286125" y="4552950"/>
                <a:ext cx="2047875" cy="1"/>
              </a:xfrm>
              <a:prstGeom prst="line">
                <a:avLst/>
              </a:prstGeom>
              <a:noFill/>
              <a:ln w="9525">
                <a:solidFill>
                  <a:srgbClr val="F1917D"/>
                </a:solidFill>
                <a:tailEnd type="triangle" w="lg" len="lg"/>
              </a:ln>
            </p:spPr>
          </p:sp>
          <p:sp>
            <p:nvSpPr>
              <p:cNvPr id="100" name="Rectangle 100"/>
              <p:cNvSpPr/>
              <p:nvPr/>
            </p:nvSpPr>
            <p:spPr>
              <a:xfrm>
                <a:off x="3352800" y="4667250"/>
                <a:ext cx="323850" cy="685800"/>
              </a:xfrm>
              <a:prstGeom prst="rect">
                <a:avLst/>
              </a:prstGeom>
              <a:solidFill>
                <a:srgbClr val="FFFFFF"/>
              </a:solidFill>
              <a:ln w="9525">
                <a:solidFill>
                  <a:srgbClr val="D4E2FA"/>
                </a:solidFill>
              </a:ln>
            </p:spPr>
          </p:sp>
          <p:sp>
            <p:nvSpPr>
              <p:cNvPr id="101" name="TextBox 101"/>
              <p:cNvSpPr txBox="1"/>
              <p:nvPr/>
            </p:nvSpPr>
            <p:spPr>
              <a:xfrm>
                <a:off x="3429254" y="4749641"/>
                <a:ext cx="170942"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333333"/>
                    </a:solidFill>
                    <a:latin typeface="+mn-lt"/>
                    <a:ea typeface="+mn-ea"/>
                    <a:cs typeface="+mn-cs"/>
                  </a:rPr>
                  <a:t>前​</a:t>
                </a:r>
                <a:br/>
                <a:r>
                  <a:rPr lang="zh-CN" sz="820" dirty="0">
                    <a:solidFill>
                      <a:srgbClr val="333333"/>
                    </a:solidFill>
                    <a:latin typeface="+mn-lt"/>
                    <a:ea typeface="+mn-ea"/>
                    <a:cs typeface="+mn-cs"/>
                  </a:rPr>
                  <a:t>期​</a:t>
                </a:r>
                <a:br/>
                <a:r>
                  <a:rPr lang="zh-CN" sz="820" dirty="0">
                    <a:solidFill>
                      <a:srgbClr val="333333"/>
                    </a:solidFill>
                    <a:latin typeface="+mn-lt"/>
                    <a:ea typeface="+mn-ea"/>
                    <a:cs typeface="+mn-cs"/>
                  </a:rPr>
                  <a:t>规​</a:t>
                </a:r>
                <a:br/>
                <a:r>
                  <a:rPr lang="zh-CN" sz="820" dirty="0">
                    <a:solidFill>
                      <a:srgbClr val="333333"/>
                    </a:solidFill>
                    <a:latin typeface="+mn-lt"/>
                    <a:ea typeface="+mn-ea"/>
                    <a:cs typeface="+mn-cs"/>
                  </a:rPr>
                  <a:t>划​</a:t>
                </a:r>
              </a:p>
            </p:txBody>
          </p:sp>
          <p:sp>
            <p:nvSpPr>
              <p:cNvPr id="102" name="Rectangle 102"/>
              <p:cNvSpPr/>
              <p:nvPr/>
            </p:nvSpPr>
            <p:spPr>
              <a:xfrm>
                <a:off x="3752850" y="4667250"/>
                <a:ext cx="323850" cy="685800"/>
              </a:xfrm>
              <a:prstGeom prst="rect">
                <a:avLst/>
              </a:prstGeom>
              <a:solidFill>
                <a:srgbClr val="FFFFFF"/>
              </a:solidFill>
              <a:ln w="9525">
                <a:solidFill>
                  <a:srgbClr val="D4E2FA"/>
                </a:solidFill>
              </a:ln>
            </p:spPr>
          </p:sp>
          <p:sp>
            <p:nvSpPr>
              <p:cNvPr id="103" name="TextBox 103"/>
              <p:cNvSpPr txBox="1"/>
              <p:nvPr/>
            </p:nvSpPr>
            <p:spPr>
              <a:xfrm>
                <a:off x="3829304" y="4749641"/>
                <a:ext cx="170942"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333333"/>
                    </a:solidFill>
                    <a:latin typeface="+mn-lt"/>
                    <a:ea typeface="+mn-ea"/>
                    <a:cs typeface="+mn-cs"/>
                  </a:rPr>
                  <a:t>预​</a:t>
                </a:r>
                <a:br/>
                <a:r>
                  <a:rPr lang="zh-CN" sz="820" dirty="0">
                    <a:solidFill>
                      <a:srgbClr val="333333"/>
                    </a:solidFill>
                    <a:latin typeface="+mn-lt"/>
                    <a:ea typeface="+mn-ea"/>
                    <a:cs typeface="+mn-cs"/>
                  </a:rPr>
                  <a:t>算​</a:t>
                </a:r>
                <a:br/>
                <a:r>
                  <a:rPr lang="zh-CN" sz="820" dirty="0">
                    <a:solidFill>
                      <a:srgbClr val="333333"/>
                    </a:solidFill>
                    <a:latin typeface="+mn-lt"/>
                    <a:ea typeface="+mn-ea"/>
                    <a:cs typeface="+mn-cs"/>
                  </a:rPr>
                  <a:t>配​</a:t>
                </a:r>
                <a:br/>
                <a:r>
                  <a:rPr lang="zh-CN" sz="820" dirty="0">
                    <a:solidFill>
                      <a:srgbClr val="333333"/>
                    </a:solidFill>
                    <a:latin typeface="+mn-lt"/>
                    <a:ea typeface="+mn-ea"/>
                    <a:cs typeface="+mn-cs"/>
                  </a:rPr>
                  <a:t>置​</a:t>
                </a:r>
              </a:p>
            </p:txBody>
          </p:sp>
          <p:sp>
            <p:nvSpPr>
              <p:cNvPr id="104" name="Rectangle 104"/>
              <p:cNvSpPr/>
              <p:nvPr/>
            </p:nvSpPr>
            <p:spPr>
              <a:xfrm>
                <a:off x="4152900" y="4667250"/>
                <a:ext cx="323850" cy="685800"/>
              </a:xfrm>
              <a:prstGeom prst="rect">
                <a:avLst/>
              </a:prstGeom>
              <a:solidFill>
                <a:srgbClr val="FFFFFF"/>
              </a:solidFill>
              <a:ln w="9525">
                <a:solidFill>
                  <a:srgbClr val="D4E2FA"/>
                </a:solidFill>
              </a:ln>
            </p:spPr>
          </p:sp>
          <p:sp>
            <p:nvSpPr>
              <p:cNvPr id="105" name="TextBox 105"/>
              <p:cNvSpPr txBox="1"/>
              <p:nvPr/>
            </p:nvSpPr>
            <p:spPr>
              <a:xfrm>
                <a:off x="4229354" y="4749641"/>
                <a:ext cx="170942"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333333"/>
                    </a:solidFill>
                    <a:latin typeface="+mn-lt"/>
                    <a:ea typeface="+mn-ea"/>
                    <a:cs typeface="+mn-cs"/>
                  </a:rPr>
                  <a:t>分​</a:t>
                </a:r>
                <a:br/>
                <a:r>
                  <a:rPr lang="zh-CN" sz="820" dirty="0">
                    <a:solidFill>
                      <a:srgbClr val="333333"/>
                    </a:solidFill>
                    <a:latin typeface="+mn-lt"/>
                    <a:ea typeface="+mn-ea"/>
                    <a:cs typeface="+mn-cs"/>
                  </a:rPr>
                  <a:t>层​</a:t>
                </a:r>
                <a:br/>
                <a:r>
                  <a:rPr lang="zh-CN" sz="820" dirty="0">
                    <a:solidFill>
                      <a:srgbClr val="333333"/>
                    </a:solidFill>
                    <a:latin typeface="+mn-lt"/>
                    <a:ea typeface="+mn-ea"/>
                    <a:cs typeface="+mn-cs"/>
                  </a:rPr>
                  <a:t>发​</a:t>
                </a:r>
                <a:br/>
                <a:r>
                  <a:rPr lang="zh-CN" sz="820" dirty="0">
                    <a:solidFill>
                      <a:srgbClr val="333333"/>
                    </a:solidFill>
                    <a:latin typeface="+mn-lt"/>
                    <a:ea typeface="+mn-ea"/>
                    <a:cs typeface="+mn-cs"/>
                  </a:rPr>
                  <a:t>放​</a:t>
                </a:r>
              </a:p>
            </p:txBody>
          </p:sp>
          <p:sp>
            <p:nvSpPr>
              <p:cNvPr id="106" name="Rectangle 106"/>
              <p:cNvSpPr/>
              <p:nvPr/>
            </p:nvSpPr>
            <p:spPr>
              <a:xfrm>
                <a:off x="4552950" y="4667250"/>
                <a:ext cx="323850" cy="685800"/>
              </a:xfrm>
              <a:prstGeom prst="rect">
                <a:avLst/>
              </a:prstGeom>
              <a:solidFill>
                <a:srgbClr val="FFFFFF"/>
              </a:solidFill>
              <a:ln w="9525">
                <a:solidFill>
                  <a:srgbClr val="D4E2FA"/>
                </a:solidFill>
              </a:ln>
            </p:spPr>
          </p:sp>
          <p:sp>
            <p:nvSpPr>
              <p:cNvPr id="107" name="TextBox 107"/>
              <p:cNvSpPr txBox="1"/>
              <p:nvPr/>
            </p:nvSpPr>
            <p:spPr>
              <a:xfrm>
                <a:off x="4649399" y="4768691"/>
                <a:ext cx="13095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a:t>
                </a:r>
              </a:p>
            </p:txBody>
          </p:sp>
          <p:sp>
            <p:nvSpPr>
              <p:cNvPr id="108" name="Rectangle 108"/>
              <p:cNvSpPr/>
              <p:nvPr/>
            </p:nvSpPr>
            <p:spPr>
              <a:xfrm>
                <a:off x="4953000" y="4667250"/>
                <a:ext cx="323850" cy="685800"/>
              </a:xfrm>
              <a:prstGeom prst="rect">
                <a:avLst/>
              </a:prstGeom>
              <a:solidFill>
                <a:srgbClr val="FFFFFF"/>
              </a:solidFill>
              <a:ln w="9525">
                <a:solidFill>
                  <a:srgbClr val="D4E2FA"/>
                </a:solidFill>
              </a:ln>
            </p:spPr>
          </p:sp>
          <p:sp>
            <p:nvSpPr>
              <p:cNvPr id="109" name="TextBox 109"/>
              <p:cNvSpPr txBox="1"/>
              <p:nvPr/>
            </p:nvSpPr>
            <p:spPr>
              <a:xfrm>
                <a:off x="5029454" y="4749641"/>
                <a:ext cx="170942"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333333"/>
                    </a:solidFill>
                    <a:latin typeface="+mn-lt"/>
                    <a:ea typeface="+mn-ea"/>
                    <a:cs typeface="+mn-cs"/>
                  </a:rPr>
                  <a:t>策​</a:t>
                </a:r>
                <a:br/>
                <a:r>
                  <a:rPr lang="zh-CN" sz="820" dirty="0">
                    <a:solidFill>
                      <a:srgbClr val="333333"/>
                    </a:solidFill>
                    <a:latin typeface="+mn-lt"/>
                    <a:ea typeface="+mn-ea"/>
                    <a:cs typeface="+mn-cs"/>
                  </a:rPr>
                  <a:t>略​</a:t>
                </a:r>
                <a:br/>
                <a:r>
                  <a:rPr lang="zh-CN" sz="820" dirty="0">
                    <a:solidFill>
                      <a:srgbClr val="333333"/>
                    </a:solidFill>
                    <a:latin typeface="+mn-lt"/>
                    <a:ea typeface="+mn-ea"/>
                    <a:cs typeface="+mn-cs"/>
                  </a:rPr>
                  <a:t>迭​</a:t>
                </a:r>
                <a:br/>
                <a:r>
                  <a:rPr lang="zh-CN" sz="820" dirty="0">
                    <a:solidFill>
                      <a:srgbClr val="333333"/>
                    </a:solidFill>
                    <a:latin typeface="+mn-lt"/>
                    <a:ea typeface="+mn-ea"/>
                    <a:cs typeface="+mn-cs"/>
                  </a:rPr>
                  <a:t>代​</a:t>
                </a:r>
              </a:p>
            </p:txBody>
          </p:sp>
        </p:grpSp>
        <p:grpSp>
          <p:nvGrpSpPr>
            <p:cNvPr id="139" name="card-channel"/>
            <p:cNvGrpSpPr/>
            <p:nvPr/>
          </p:nvGrpSpPr>
          <p:grpSpPr>
            <a:xfrm>
              <a:off x="6524625" y="3619500"/>
              <a:ext cx="5286375" cy="1905000"/>
              <a:chOff x="6524625" y="3619500"/>
              <a:chExt cx="5286375" cy="1905000"/>
            </a:xfrm>
          </p:grpSpPr>
          <p:sp>
            <p:nvSpPr>
              <p:cNvPr id="111" name="Rectangle 111"/>
              <p:cNvSpPr/>
              <p:nvPr/>
            </p:nvSpPr>
            <p:spPr>
              <a:xfrm>
                <a:off x="6524625" y="3619500"/>
                <a:ext cx="5286375" cy="1905000"/>
              </a:xfrm>
              <a:prstGeom prst="roundRect">
                <a:avLst>
                  <a:gd name="adj" fmla="val 4000"/>
                </a:avLst>
              </a:prstGeom>
              <a:solidFill>
                <a:srgbClr val="FFFFFF"/>
              </a:solidFill>
              <a:ln w="14288">
                <a:solidFill>
                  <a:srgbClr val="D4E2FA"/>
                </a:solidFill>
              </a:ln>
            </p:spPr>
          </p:sp>
          <p:sp>
            <p:nvSpPr>
              <p:cNvPr id="112" name="Ellipse 112"/>
              <p:cNvSpPr/>
              <p:nvPr/>
            </p:nvSpPr>
            <p:spPr>
              <a:xfrm>
                <a:off x="6958012" y="3795712"/>
                <a:ext cx="47625" cy="47625"/>
              </a:xfrm>
              <a:prstGeom prst="ellipse">
                <a:avLst/>
              </a:prstGeom>
              <a:solidFill>
                <a:srgbClr val="333333"/>
              </a:solidFill>
              <a:ln>
                <a:noFill/>
              </a:ln>
            </p:spPr>
          </p:sp>
          <p:sp>
            <p:nvSpPr>
              <p:cNvPr id="113" name="TextBox 113"/>
              <p:cNvSpPr txBox="1"/>
              <p:nvPr/>
            </p:nvSpPr>
            <p:spPr>
              <a:xfrm>
                <a:off x="7091362" y="3765947"/>
                <a:ext cx="3734181" cy="345281"/>
              </a:xfrm>
              <a:prstGeom prst="rect">
                <a:avLst/>
              </a:prstGeom>
              <a:noFill/>
              <a:ln>
                <a:noFill/>
              </a:ln>
            </p:spPr>
            <p:txBody>
              <a:bodyPr wrap="none" lIns="0" tIns="0" rIns="0" bIns="0" anchor="t" anchorCtr="0">
                <a:spAutoFit/>
              </a:bodyPr>
              <a:lstStyle/>
              <a:p>
                <a:pPr algn="l">
                  <a:lnSpc>
                    <a:spcPts val="1275"/>
                  </a:lnSpc>
                </a:pPr>
                <a:r>
                  <a:rPr lang="zh-CN" sz="940" dirty="0">
                    <a:solidFill>
                      <a:srgbClr val="333333"/>
                    </a:solidFill>
                    <a:latin typeface="+mn-lt"/>
                    <a:ea typeface="+mn-ea"/>
                    <a:cs typeface="+mn-cs"/>
                  </a:rPr>
                  <a:t>通过全渠道梳理、分层级施策、精准化匹配，构建“低成本广覆盖、​​​</a:t>
                </a:r>
                <a:br/>
                <a:r>
                  <a:rPr lang="zh-CN" sz="940" dirty="0">
                    <a:solidFill>
                      <a:srgbClr val="333333"/>
                    </a:solidFill>
                    <a:latin typeface="+mn-lt"/>
                    <a:ea typeface="+mn-ea"/>
                    <a:cs typeface="+mn-cs"/>
                  </a:rPr>
                  <a:t>高精准深挖掘”的差异化长尾触达体系，实现投入产出最优匹配​​</a:t>
                </a:r>
              </a:p>
            </p:txBody>
          </p:sp>
          <p:sp>
            <p:nvSpPr>
              <p:cNvPr id="114" name="Rectangle 114"/>
              <p:cNvSpPr/>
              <p:nvPr/>
            </p:nvSpPr>
            <p:spPr>
              <a:xfrm>
                <a:off x="6696075" y="4191000"/>
                <a:ext cx="476250" cy="419100"/>
              </a:xfrm>
              <a:prstGeom prst="rect">
                <a:avLst/>
              </a:prstGeom>
              <a:solidFill>
                <a:srgbClr val="D4E2FA"/>
              </a:solidFill>
              <a:ln>
                <a:noFill/>
              </a:ln>
            </p:spPr>
          </p:sp>
          <p:sp>
            <p:nvSpPr>
              <p:cNvPr id="115" name="TextBox 115"/>
              <p:cNvSpPr txBox="1"/>
              <p:nvPr/>
            </p:nvSpPr>
            <p:spPr>
              <a:xfrm>
                <a:off x="6783705" y="4265295"/>
                <a:ext cx="300990" cy="319088"/>
              </a:xfrm>
              <a:prstGeom prst="rect">
                <a:avLst/>
              </a:prstGeom>
              <a:noFill/>
              <a:ln>
                <a:noFill/>
              </a:ln>
            </p:spPr>
            <p:txBody>
              <a:bodyPr wrap="none" lIns="0" tIns="0" rIns="0" bIns="0" anchor="t" anchorCtr="0">
                <a:spAutoFit/>
              </a:bodyPr>
              <a:lstStyle/>
              <a:p>
                <a:pPr algn="ctr">
                  <a:lnSpc>
                    <a:spcPts val="1125"/>
                  </a:lnSpc>
                </a:pPr>
                <a:r>
                  <a:rPr lang="zh-CN" sz="900" dirty="0">
                    <a:solidFill>
                      <a:srgbClr val="E74726"/>
                    </a:solidFill>
                    <a:latin typeface="+mn-lt"/>
                    <a:ea typeface="+mn-ea"/>
                    <a:cs typeface="+mn-cs"/>
                  </a:rPr>
                  <a:t>触达​</a:t>
                </a:r>
                <a:br/>
                <a:r>
                  <a:rPr lang="zh-CN" sz="900" dirty="0">
                    <a:solidFill>
                      <a:srgbClr val="E74726"/>
                    </a:solidFill>
                    <a:latin typeface="+mn-lt"/>
                    <a:ea typeface="+mn-ea"/>
                    <a:cs typeface="+mn-cs"/>
                  </a:rPr>
                  <a:t>渠道​</a:t>
                </a:r>
              </a:p>
            </p:txBody>
          </p:sp>
          <p:sp>
            <p:nvSpPr>
              <p:cNvPr id="116" name="Rectangle 116"/>
              <p:cNvSpPr/>
              <p:nvPr/>
            </p:nvSpPr>
            <p:spPr>
              <a:xfrm>
                <a:off x="7286625" y="4191000"/>
                <a:ext cx="647700" cy="419100"/>
              </a:xfrm>
              <a:prstGeom prst="rect">
                <a:avLst/>
              </a:prstGeom>
              <a:solidFill>
                <a:srgbClr val="FFFFFF"/>
              </a:solidFill>
              <a:ln w="9525">
                <a:solidFill>
                  <a:srgbClr val="D4E2FA"/>
                </a:solidFill>
              </a:ln>
            </p:spPr>
          </p:sp>
          <p:sp>
            <p:nvSpPr>
              <p:cNvPr id="117" name="TextBox 117"/>
              <p:cNvSpPr txBox="1"/>
              <p:nvPr/>
            </p:nvSpPr>
            <p:spPr>
              <a:xfrm>
                <a:off x="7466457" y="4269343"/>
                <a:ext cx="28803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人工​</a:t>
                </a:r>
                <a:br/>
                <a:r>
                  <a:rPr lang="zh-CN" sz="860" dirty="0">
                    <a:solidFill>
                      <a:srgbClr val="333333"/>
                    </a:solidFill>
                    <a:latin typeface="+mn-lt"/>
                    <a:ea typeface="+mn-ea"/>
                    <a:cs typeface="+mn-cs"/>
                  </a:rPr>
                  <a:t>外呼​</a:t>
                </a:r>
              </a:p>
            </p:txBody>
          </p:sp>
          <p:sp>
            <p:nvSpPr>
              <p:cNvPr id="118" name="Rectangle 118"/>
              <p:cNvSpPr/>
              <p:nvPr/>
            </p:nvSpPr>
            <p:spPr>
              <a:xfrm>
                <a:off x="8029575" y="4191000"/>
                <a:ext cx="647700" cy="419100"/>
              </a:xfrm>
              <a:prstGeom prst="rect">
                <a:avLst/>
              </a:prstGeom>
              <a:solidFill>
                <a:srgbClr val="FFFFFF"/>
              </a:solidFill>
              <a:ln w="9525">
                <a:solidFill>
                  <a:srgbClr val="D4E2FA"/>
                </a:solidFill>
              </a:ln>
            </p:spPr>
          </p:sp>
          <p:sp>
            <p:nvSpPr>
              <p:cNvPr id="119" name="TextBox 119"/>
              <p:cNvSpPr txBox="1"/>
              <p:nvPr/>
            </p:nvSpPr>
            <p:spPr>
              <a:xfrm>
                <a:off x="8209407" y="4269343"/>
                <a:ext cx="28803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智能​</a:t>
                </a:r>
                <a:br/>
                <a:r>
                  <a:rPr lang="zh-CN" sz="860" dirty="0">
                    <a:solidFill>
                      <a:srgbClr val="333333"/>
                    </a:solidFill>
                    <a:latin typeface="+mn-lt"/>
                    <a:ea typeface="+mn-ea"/>
                    <a:cs typeface="+mn-cs"/>
                  </a:rPr>
                  <a:t>外呼​</a:t>
                </a:r>
              </a:p>
            </p:txBody>
          </p:sp>
          <p:sp>
            <p:nvSpPr>
              <p:cNvPr id="120" name="Rectangle 120"/>
              <p:cNvSpPr/>
              <p:nvPr/>
            </p:nvSpPr>
            <p:spPr>
              <a:xfrm>
                <a:off x="8772525" y="4191000"/>
                <a:ext cx="647700" cy="419100"/>
              </a:xfrm>
              <a:prstGeom prst="rect">
                <a:avLst/>
              </a:prstGeom>
              <a:solidFill>
                <a:srgbClr val="FFFFFF"/>
              </a:solidFill>
              <a:ln w="9525">
                <a:solidFill>
                  <a:srgbClr val="D4E2FA"/>
                </a:solidFill>
              </a:ln>
            </p:spPr>
          </p:sp>
          <p:sp>
            <p:nvSpPr>
              <p:cNvPr id="121" name="TextBox 121"/>
              <p:cNvSpPr txBox="1"/>
              <p:nvPr/>
            </p:nvSpPr>
            <p:spPr>
              <a:xfrm>
                <a:off x="8975839" y="4355068"/>
                <a:ext cx="24107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企微</a:t>
                </a:r>
              </a:p>
            </p:txBody>
          </p:sp>
          <p:sp>
            <p:nvSpPr>
              <p:cNvPr id="122" name="Rectangle 122"/>
              <p:cNvSpPr/>
              <p:nvPr/>
            </p:nvSpPr>
            <p:spPr>
              <a:xfrm>
                <a:off x="9515475" y="4191000"/>
                <a:ext cx="647700" cy="419100"/>
              </a:xfrm>
              <a:prstGeom prst="rect">
                <a:avLst/>
              </a:prstGeom>
              <a:solidFill>
                <a:srgbClr val="FFFFFF"/>
              </a:solidFill>
              <a:ln w="9525">
                <a:solidFill>
                  <a:srgbClr val="D4E2FA"/>
                </a:solidFill>
              </a:ln>
            </p:spPr>
          </p:sp>
          <p:sp>
            <p:nvSpPr>
              <p:cNvPr id="123" name="TextBox 123"/>
              <p:cNvSpPr txBox="1"/>
              <p:nvPr/>
            </p:nvSpPr>
            <p:spPr>
              <a:xfrm>
                <a:off x="9718789" y="4355068"/>
                <a:ext cx="24107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弹窗</a:t>
                </a:r>
              </a:p>
            </p:txBody>
          </p:sp>
          <p:sp>
            <p:nvSpPr>
              <p:cNvPr id="124" name="Rectangle 124"/>
              <p:cNvSpPr/>
              <p:nvPr/>
            </p:nvSpPr>
            <p:spPr>
              <a:xfrm>
                <a:off x="10258425" y="4191000"/>
                <a:ext cx="647700" cy="419100"/>
              </a:xfrm>
              <a:prstGeom prst="rect">
                <a:avLst/>
              </a:prstGeom>
              <a:solidFill>
                <a:srgbClr val="FFFFFF"/>
              </a:solidFill>
              <a:ln w="9525">
                <a:solidFill>
                  <a:srgbClr val="D4E2FA"/>
                </a:solidFill>
              </a:ln>
            </p:spPr>
          </p:sp>
          <p:sp>
            <p:nvSpPr>
              <p:cNvPr id="125" name="TextBox 125"/>
              <p:cNvSpPr txBox="1"/>
              <p:nvPr/>
            </p:nvSpPr>
            <p:spPr>
              <a:xfrm>
                <a:off x="10461739" y="4355068"/>
                <a:ext cx="24107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短信</a:t>
                </a:r>
              </a:p>
            </p:txBody>
          </p:sp>
          <p:sp>
            <p:nvSpPr>
              <p:cNvPr id="126" name="Rectangle 126"/>
              <p:cNvSpPr/>
              <p:nvPr/>
            </p:nvSpPr>
            <p:spPr>
              <a:xfrm>
                <a:off x="11001375" y="4191000"/>
                <a:ext cx="647700" cy="419100"/>
              </a:xfrm>
              <a:prstGeom prst="rect">
                <a:avLst/>
              </a:prstGeom>
              <a:solidFill>
                <a:srgbClr val="FFFFFF"/>
              </a:solidFill>
              <a:ln w="9525">
                <a:solidFill>
                  <a:srgbClr val="D4E2FA"/>
                </a:solidFill>
              </a:ln>
            </p:spPr>
          </p:sp>
          <p:sp>
            <p:nvSpPr>
              <p:cNvPr id="127" name="TextBox 127"/>
              <p:cNvSpPr txBox="1"/>
              <p:nvPr/>
            </p:nvSpPr>
            <p:spPr>
              <a:xfrm>
                <a:off x="11256787" y="4355068"/>
                <a:ext cx="13687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sp>
            <p:nvSpPr>
              <p:cNvPr id="128" name="Rectangle 128"/>
              <p:cNvSpPr/>
              <p:nvPr/>
            </p:nvSpPr>
            <p:spPr>
              <a:xfrm>
                <a:off x="6696075" y="4705350"/>
                <a:ext cx="476250" cy="723900"/>
              </a:xfrm>
              <a:prstGeom prst="rect">
                <a:avLst/>
              </a:prstGeom>
              <a:solidFill>
                <a:srgbClr val="D4E2FA"/>
              </a:solidFill>
              <a:ln>
                <a:noFill/>
              </a:ln>
            </p:spPr>
          </p:sp>
          <p:sp>
            <p:nvSpPr>
              <p:cNvPr id="129" name="TextBox 129"/>
              <p:cNvSpPr txBox="1"/>
              <p:nvPr/>
            </p:nvSpPr>
            <p:spPr>
              <a:xfrm>
                <a:off x="6783705" y="4874895"/>
                <a:ext cx="300990" cy="319088"/>
              </a:xfrm>
              <a:prstGeom prst="rect">
                <a:avLst/>
              </a:prstGeom>
              <a:noFill/>
              <a:ln>
                <a:noFill/>
              </a:ln>
            </p:spPr>
            <p:txBody>
              <a:bodyPr wrap="none" lIns="0" tIns="0" rIns="0" bIns="0" anchor="t" anchorCtr="0">
                <a:spAutoFit/>
              </a:bodyPr>
              <a:lstStyle/>
              <a:p>
                <a:pPr algn="ctr">
                  <a:lnSpc>
                    <a:spcPts val="1125"/>
                  </a:lnSpc>
                </a:pPr>
                <a:r>
                  <a:rPr lang="zh-CN" sz="900" dirty="0">
                    <a:solidFill>
                      <a:srgbClr val="E74726"/>
                    </a:solidFill>
                    <a:latin typeface="+mn-lt"/>
                    <a:ea typeface="+mn-ea"/>
                    <a:cs typeface="+mn-cs"/>
                  </a:rPr>
                  <a:t>触达​</a:t>
                </a:r>
                <a:br/>
                <a:r>
                  <a:rPr lang="zh-CN" sz="900" dirty="0">
                    <a:solidFill>
                      <a:srgbClr val="E74726"/>
                    </a:solidFill>
                    <a:latin typeface="+mn-lt"/>
                    <a:ea typeface="+mn-ea"/>
                    <a:cs typeface="+mn-cs"/>
                  </a:rPr>
                  <a:t>策略​</a:t>
                </a:r>
              </a:p>
            </p:txBody>
          </p:sp>
          <p:sp>
            <p:nvSpPr>
              <p:cNvPr id="130" name="TextBox 130"/>
              <p:cNvSpPr txBox="1"/>
              <p:nvPr/>
            </p:nvSpPr>
            <p:spPr>
              <a:xfrm>
                <a:off x="7669441" y="4764643"/>
                <a:ext cx="472618" cy="169069"/>
              </a:xfrm>
              <a:prstGeom prst="rect">
                <a:avLst/>
              </a:prstGeom>
              <a:noFill/>
              <a:ln>
                <a:noFill/>
              </a:ln>
            </p:spPr>
            <p:txBody>
              <a:bodyPr wrap="none" lIns="0" tIns="0" rIns="0" bIns="0" anchor="t" anchorCtr="0">
                <a:spAutoFit/>
              </a:bodyPr>
              <a:lstStyle/>
              <a:p>
                <a:pPr algn="ctr"/>
                <a:r>
                  <a:rPr lang="zh-CN" sz="860" dirty="0">
                    <a:solidFill>
                      <a:srgbClr val="E74726"/>
                    </a:solidFill>
                    <a:latin typeface="+mn-lt"/>
                    <a:ea typeface="+mn-ea"/>
                    <a:cs typeface="+mn-cs"/>
                  </a:rPr>
                  <a:t>全量客群</a:t>
                </a:r>
              </a:p>
            </p:txBody>
          </p:sp>
          <p:sp>
            <p:nvSpPr>
              <p:cNvPr id="131" name="TextBox 131"/>
              <p:cNvSpPr txBox="1"/>
              <p:nvPr/>
            </p:nvSpPr>
            <p:spPr>
              <a:xfrm>
                <a:off x="9145816" y="4764643"/>
                <a:ext cx="472618" cy="169069"/>
              </a:xfrm>
              <a:prstGeom prst="rect">
                <a:avLst/>
              </a:prstGeom>
              <a:noFill/>
              <a:ln>
                <a:noFill/>
              </a:ln>
            </p:spPr>
            <p:txBody>
              <a:bodyPr wrap="none" lIns="0" tIns="0" rIns="0" bIns="0" anchor="t" anchorCtr="0">
                <a:spAutoFit/>
              </a:bodyPr>
              <a:lstStyle/>
              <a:p>
                <a:pPr algn="ctr"/>
                <a:r>
                  <a:rPr lang="zh-CN" sz="860" dirty="0">
                    <a:solidFill>
                      <a:srgbClr val="E74726"/>
                    </a:solidFill>
                    <a:latin typeface="+mn-lt"/>
                    <a:ea typeface="+mn-ea"/>
                    <a:cs typeface="+mn-cs"/>
                  </a:rPr>
                  <a:t>重点客群</a:t>
                </a:r>
              </a:p>
            </p:txBody>
          </p:sp>
          <p:sp>
            <p:nvSpPr>
              <p:cNvPr id="132" name="TextBox 132"/>
              <p:cNvSpPr txBox="1"/>
              <p:nvPr/>
            </p:nvSpPr>
            <p:spPr>
              <a:xfrm>
                <a:off x="10622191" y="4764643"/>
                <a:ext cx="472618" cy="169069"/>
              </a:xfrm>
              <a:prstGeom prst="rect">
                <a:avLst/>
              </a:prstGeom>
              <a:noFill/>
              <a:ln>
                <a:noFill/>
              </a:ln>
            </p:spPr>
            <p:txBody>
              <a:bodyPr wrap="none" lIns="0" tIns="0" rIns="0" bIns="0" anchor="t" anchorCtr="0">
                <a:spAutoFit/>
              </a:bodyPr>
              <a:lstStyle/>
              <a:p>
                <a:pPr algn="ctr"/>
                <a:r>
                  <a:rPr lang="zh-CN" sz="860" dirty="0">
                    <a:solidFill>
                      <a:srgbClr val="E74726"/>
                    </a:solidFill>
                    <a:latin typeface="+mn-lt"/>
                    <a:ea typeface="+mn-ea"/>
                    <a:cs typeface="+mn-cs"/>
                  </a:rPr>
                  <a:t>事件客群</a:t>
                </a:r>
              </a:p>
            </p:txBody>
          </p:sp>
          <p:sp>
            <p:nvSpPr>
              <p:cNvPr id="133" name="Rectangle 133"/>
              <p:cNvSpPr/>
              <p:nvPr/>
            </p:nvSpPr>
            <p:spPr>
              <a:xfrm>
                <a:off x="7219950" y="4933950"/>
                <a:ext cx="1381125" cy="457200"/>
              </a:xfrm>
              <a:prstGeom prst="rect">
                <a:avLst/>
              </a:prstGeom>
              <a:solidFill>
                <a:srgbClr val="FFFFFF"/>
              </a:solidFill>
              <a:ln w="9525">
                <a:solidFill>
                  <a:srgbClr val="D4E2FA"/>
                </a:solidFill>
              </a:ln>
            </p:spPr>
          </p:sp>
          <p:sp>
            <p:nvSpPr>
              <p:cNvPr id="134" name="TextBox 134"/>
              <p:cNvSpPr txBox="1"/>
              <p:nvPr/>
            </p:nvSpPr>
            <p:spPr>
              <a:xfrm>
                <a:off x="7434072" y="5031343"/>
                <a:ext cx="94335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低成本、广覆盖、​</a:t>
                </a:r>
                <a:br/>
                <a:r>
                  <a:rPr lang="zh-CN" sz="860" dirty="0">
                    <a:solidFill>
                      <a:srgbClr val="333333"/>
                    </a:solidFill>
                    <a:latin typeface="+mn-lt"/>
                    <a:ea typeface="+mn-ea"/>
                    <a:cs typeface="+mn-cs"/>
                  </a:rPr>
                  <a:t>扩基数</a:t>
                </a:r>
              </a:p>
            </p:txBody>
          </p:sp>
          <p:sp>
            <p:nvSpPr>
              <p:cNvPr id="135" name="Rectangle 135"/>
              <p:cNvSpPr/>
              <p:nvPr/>
            </p:nvSpPr>
            <p:spPr>
              <a:xfrm>
                <a:off x="8696325" y="4933950"/>
                <a:ext cx="1381125" cy="457200"/>
              </a:xfrm>
              <a:prstGeom prst="rect">
                <a:avLst/>
              </a:prstGeom>
              <a:solidFill>
                <a:srgbClr val="FFFFFF"/>
              </a:solidFill>
              <a:ln w="9525">
                <a:solidFill>
                  <a:srgbClr val="D4E2FA"/>
                </a:solidFill>
              </a:ln>
            </p:spPr>
          </p:sp>
          <p:sp>
            <p:nvSpPr>
              <p:cNvPr id="136" name="TextBox 136"/>
              <p:cNvSpPr txBox="1"/>
              <p:nvPr/>
            </p:nvSpPr>
            <p:spPr>
              <a:xfrm>
                <a:off x="8910447" y="5031343"/>
                <a:ext cx="94335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高精准、深深耕、​</a:t>
                </a:r>
                <a:br/>
                <a:r>
                  <a:rPr lang="zh-CN" sz="860" dirty="0">
                    <a:solidFill>
                      <a:srgbClr val="333333"/>
                    </a:solidFill>
                    <a:latin typeface="+mn-lt"/>
                    <a:ea typeface="+mn-ea"/>
                    <a:cs typeface="+mn-cs"/>
                  </a:rPr>
                  <a:t>提转化</a:t>
                </a:r>
              </a:p>
            </p:txBody>
          </p:sp>
          <p:sp>
            <p:nvSpPr>
              <p:cNvPr id="137" name="Rectangle 137"/>
              <p:cNvSpPr/>
              <p:nvPr/>
            </p:nvSpPr>
            <p:spPr>
              <a:xfrm>
                <a:off x="10172700" y="4933950"/>
                <a:ext cx="1381125" cy="457200"/>
              </a:xfrm>
              <a:prstGeom prst="rect">
                <a:avLst/>
              </a:prstGeom>
              <a:solidFill>
                <a:srgbClr val="FFFFFF"/>
              </a:solidFill>
              <a:ln w="9525">
                <a:solidFill>
                  <a:srgbClr val="D4E2FA"/>
                </a:solidFill>
              </a:ln>
            </p:spPr>
          </p:sp>
          <p:sp>
            <p:nvSpPr>
              <p:cNvPr id="138" name="TextBox 138"/>
              <p:cNvSpPr txBox="1"/>
              <p:nvPr/>
            </p:nvSpPr>
            <p:spPr>
              <a:xfrm>
                <a:off x="10386822" y="5031343"/>
                <a:ext cx="943356"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强时效、快转化、​</a:t>
                </a:r>
                <a:br/>
                <a:r>
                  <a:rPr lang="zh-CN" sz="860" dirty="0">
                    <a:solidFill>
                      <a:srgbClr val="333333"/>
                    </a:solidFill>
                    <a:latin typeface="+mn-lt"/>
                    <a:ea typeface="+mn-ea"/>
                    <a:cs typeface="+mn-cs"/>
                  </a:rPr>
                  <a:t>控浪费</a:t>
                </a:r>
              </a:p>
            </p:txBody>
          </p:sp>
        </p:grpSp>
        <p:sp>
          <p:nvSpPr>
            <p:cNvPr id="140" name="Ellipse 140"/>
            <p:cNvSpPr/>
            <p:nvPr/>
          </p:nvSpPr>
          <p:spPr>
            <a:xfrm>
              <a:off x="5286375" y="3048000"/>
              <a:ext cx="1619250" cy="1619250"/>
            </a:xfrm>
            <a:prstGeom prst="ellipse">
              <a:avLst/>
            </a:prstGeom>
            <a:gradFill>
              <a:gsLst>
                <a:gs pos="0">
                  <a:srgbClr val="D4634C"/>
                </a:gs>
                <a:gs pos="100000">
                  <a:srgbClr val="E74726"/>
                </a:gs>
              </a:gsLst>
              <a:lin ang="2700000" scaled="1"/>
            </a:gradFill>
            <a:ln w="47625">
              <a:solidFill>
                <a:srgbClr val="FFFFFF"/>
              </a:solidFill>
            </a:ln>
          </p:spPr>
        </p:sp>
        <p:sp>
          <p:nvSpPr>
            <p:cNvPr id="141" name="Line 141"/>
            <p:cNvSpPr/>
            <p:nvPr/>
          </p:nvSpPr>
          <p:spPr>
            <a:xfrm>
              <a:off x="5305425" y="3857625"/>
              <a:ext cx="1581150" cy="9525"/>
            </a:xfrm>
            <a:custGeom>
              <a:avLst/>
              <a:gdLst/>
              <a:ahLst/>
              <a:cxnLst/>
              <a:rect l="l" t="t" r="r" b="b"/>
              <a:pathLst>
                <a:path w="1581150" h="9525">
                  <a:moveTo>
                    <a:pt x="0" y="0"/>
                  </a:moveTo>
                  <a:lnTo>
                    <a:pt x="1581150" y="0"/>
                  </a:lnTo>
                </a:path>
              </a:pathLst>
            </a:custGeom>
            <a:noFill/>
            <a:ln w="28575">
              <a:solidFill>
                <a:srgbClr val="FFFFFF"/>
              </a:solidFill>
            </a:ln>
          </p:spPr>
        </p:sp>
        <p:sp>
          <p:nvSpPr>
            <p:cNvPr id="142" name="Line 142"/>
            <p:cNvSpPr/>
            <p:nvPr/>
          </p:nvSpPr>
          <p:spPr>
            <a:xfrm>
              <a:off x="6096000" y="3067050"/>
              <a:ext cx="9525" cy="1581150"/>
            </a:xfrm>
            <a:custGeom>
              <a:avLst/>
              <a:gdLst/>
              <a:ahLst/>
              <a:cxnLst/>
              <a:rect l="l" t="t" r="r" b="b"/>
              <a:pathLst>
                <a:path w="9525" h="1581150">
                  <a:moveTo>
                    <a:pt x="0" y="0"/>
                  </a:moveTo>
                  <a:lnTo>
                    <a:pt x="0" y="1581150"/>
                  </a:lnTo>
                </a:path>
              </a:pathLst>
            </a:custGeom>
            <a:noFill/>
            <a:ln w="28575">
              <a:solidFill>
                <a:srgbClr val="FFFFFF"/>
              </a:solidFill>
            </a:ln>
          </p:spPr>
        </p:sp>
        <p:sp>
          <p:nvSpPr>
            <p:cNvPr id="143" name="TextBox 143"/>
            <p:cNvSpPr txBox="1"/>
            <p:nvPr/>
          </p:nvSpPr>
          <p:spPr>
            <a:xfrm>
              <a:off x="5506923" y="3650456"/>
              <a:ext cx="378054" cy="391478"/>
            </a:xfrm>
            <a:prstGeom prst="rect">
              <a:avLst/>
            </a:prstGeom>
            <a:noFill/>
            <a:ln>
              <a:noFill/>
            </a:ln>
          </p:spPr>
          <p:txBody>
            <a:bodyPr wrap="none" lIns="0" tIns="0" rIns="0" bIns="0" anchor="t" anchorCtr="0">
              <a:spAutoFit/>
            </a:bodyPr>
            <a:lstStyle/>
            <a:p>
              <a:pPr algn="ctr">
                <a:lnSpc>
                  <a:spcPts val="1350"/>
                </a:lnSpc>
              </a:pPr>
              <a:r>
                <a:rPr lang="zh-CN" sz="1120" b="1" dirty="0">
                  <a:solidFill>
                    <a:srgbClr val="FFFFFF"/>
                  </a:solidFill>
                  <a:latin typeface="+mn-lt"/>
                  <a:ea typeface="+mn-ea"/>
                  <a:cs typeface="+mn-cs"/>
                </a:rPr>
                <a:t>产品​</a:t>
              </a:r>
              <a:br/>
              <a:r>
                <a:rPr lang="zh-CN" sz="1120" b="1" dirty="0">
                  <a:solidFill>
                    <a:srgbClr val="FFFFFF"/>
                  </a:solidFill>
                  <a:latin typeface="+mn-lt"/>
                  <a:ea typeface="+mn-ea"/>
                  <a:cs typeface="+mn-cs"/>
                </a:rPr>
                <a:t>体系​</a:t>
              </a:r>
            </a:p>
          </p:txBody>
        </p:sp>
        <p:sp>
          <p:nvSpPr>
            <p:cNvPr id="144" name="TextBox 144"/>
            <p:cNvSpPr txBox="1"/>
            <p:nvPr/>
          </p:nvSpPr>
          <p:spPr>
            <a:xfrm>
              <a:off x="6307023" y="3650456"/>
              <a:ext cx="378054" cy="391478"/>
            </a:xfrm>
            <a:prstGeom prst="rect">
              <a:avLst/>
            </a:prstGeom>
            <a:noFill/>
            <a:ln>
              <a:noFill/>
            </a:ln>
          </p:spPr>
          <p:txBody>
            <a:bodyPr wrap="none" lIns="0" tIns="0" rIns="0" bIns="0" anchor="t" anchorCtr="0">
              <a:spAutoFit/>
            </a:bodyPr>
            <a:lstStyle/>
            <a:p>
              <a:pPr algn="ctr">
                <a:lnSpc>
                  <a:spcPts val="1350"/>
                </a:lnSpc>
              </a:pPr>
              <a:r>
                <a:rPr lang="zh-CN" sz="1120" b="1" dirty="0">
                  <a:solidFill>
                    <a:srgbClr val="FFFFFF"/>
                  </a:solidFill>
                  <a:latin typeface="+mn-lt"/>
                  <a:ea typeface="+mn-ea"/>
                  <a:cs typeface="+mn-cs"/>
                </a:rPr>
                <a:t>活动​</a:t>
              </a:r>
              <a:br/>
              <a:r>
                <a:rPr lang="zh-CN" sz="1120" b="1" dirty="0">
                  <a:solidFill>
                    <a:srgbClr val="FFFFFF"/>
                  </a:solidFill>
                  <a:latin typeface="+mn-lt"/>
                  <a:ea typeface="+mn-ea"/>
                  <a:cs typeface="+mn-cs"/>
                </a:rPr>
                <a:t>体系​</a:t>
              </a:r>
            </a:p>
          </p:txBody>
        </p:sp>
        <p:sp>
          <p:nvSpPr>
            <p:cNvPr id="145" name="TextBox 145"/>
            <p:cNvSpPr txBox="1"/>
            <p:nvPr/>
          </p:nvSpPr>
          <p:spPr>
            <a:xfrm>
              <a:off x="5506923" y="4126706"/>
              <a:ext cx="378054" cy="391478"/>
            </a:xfrm>
            <a:prstGeom prst="rect">
              <a:avLst/>
            </a:prstGeom>
            <a:noFill/>
            <a:ln>
              <a:noFill/>
            </a:ln>
          </p:spPr>
          <p:txBody>
            <a:bodyPr wrap="none" lIns="0" tIns="0" rIns="0" bIns="0" anchor="t" anchorCtr="0">
              <a:spAutoFit/>
            </a:bodyPr>
            <a:lstStyle/>
            <a:p>
              <a:pPr algn="ctr">
                <a:lnSpc>
                  <a:spcPts val="1350"/>
                </a:lnSpc>
              </a:pPr>
              <a:r>
                <a:rPr lang="zh-CN" sz="1120" b="1" dirty="0">
                  <a:solidFill>
                    <a:srgbClr val="FFFFFF"/>
                  </a:solidFill>
                  <a:latin typeface="+mn-lt"/>
                  <a:ea typeface="+mn-ea"/>
                  <a:cs typeface="+mn-cs"/>
                </a:rPr>
                <a:t>权益​</a:t>
              </a:r>
              <a:br/>
              <a:r>
                <a:rPr lang="zh-CN" sz="1120" b="1" dirty="0">
                  <a:solidFill>
                    <a:srgbClr val="FFFFFF"/>
                  </a:solidFill>
                  <a:latin typeface="+mn-lt"/>
                  <a:ea typeface="+mn-ea"/>
                  <a:cs typeface="+mn-cs"/>
                </a:rPr>
                <a:t>体系​</a:t>
              </a:r>
            </a:p>
          </p:txBody>
        </p:sp>
        <p:sp>
          <p:nvSpPr>
            <p:cNvPr id="146" name="TextBox 146"/>
            <p:cNvSpPr txBox="1"/>
            <p:nvPr/>
          </p:nvSpPr>
          <p:spPr>
            <a:xfrm>
              <a:off x="6307023" y="4126706"/>
              <a:ext cx="378054" cy="391478"/>
            </a:xfrm>
            <a:prstGeom prst="rect">
              <a:avLst/>
            </a:prstGeom>
            <a:noFill/>
            <a:ln>
              <a:noFill/>
            </a:ln>
          </p:spPr>
          <p:txBody>
            <a:bodyPr wrap="none" lIns="0" tIns="0" rIns="0" bIns="0" anchor="t" anchorCtr="0">
              <a:spAutoFit/>
            </a:bodyPr>
            <a:lstStyle/>
            <a:p>
              <a:pPr algn="ctr">
                <a:lnSpc>
                  <a:spcPts val="1350"/>
                </a:lnSpc>
              </a:pPr>
              <a:r>
                <a:rPr lang="zh-CN" sz="1120" b="1" dirty="0">
                  <a:solidFill>
                    <a:srgbClr val="FFFFFF"/>
                  </a:solidFill>
                  <a:latin typeface="+mn-lt"/>
                  <a:ea typeface="+mn-ea"/>
                  <a:cs typeface="+mn-cs"/>
                </a:rPr>
                <a:t>渠道​</a:t>
              </a:r>
              <a:br/>
              <a:r>
                <a:rPr lang="zh-CN" sz="1120" b="1" dirty="0">
                  <a:solidFill>
                    <a:srgbClr val="FFFFFF"/>
                  </a:solidFill>
                  <a:latin typeface="+mn-lt"/>
                  <a:ea typeface="+mn-ea"/>
                  <a:cs typeface="+mn-cs"/>
                </a:rPr>
                <a:t>触达​</a:t>
              </a:r>
            </a:p>
          </p:txBody>
        </p:sp>
      </p:grpSp>
      <p:grpSp>
        <p:nvGrpSpPr>
          <p:cNvPr id="150" name="footer"/>
          <p:cNvGrpSpPr/>
          <p:nvPr/>
        </p:nvGrpSpPr>
        <p:grpSpPr>
          <a:xfrm>
            <a:off x="0" y="6438900"/>
            <a:ext cx="12192000" cy="342900"/>
            <a:chOff x="0" y="6438900"/>
            <a:chExt cx="12192000" cy="342900"/>
          </a:xfrm>
        </p:grpSpPr>
        <p:sp>
          <p:nvSpPr>
            <p:cNvPr id="148" name="Line 148"/>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149" name="TextBox 149"/>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32​</a:t>
              </a:r>
            </a:p>
          </p:txBody>
        </p:sp>
        <p:sp>
          <p:nvSpPr>
            <p:cNvPr id="4" name="TextBox 4"/>
            <p:cNvSpPr txBox="1"/>
            <p:nvPr/>
          </p:nvSpPr>
          <p:spPr>
            <a:xfrm>
              <a:off x="885444" y="160973"/>
              <a:ext cx="8600191"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3.2.2 基石兜底｜</a:t>
              </a:r>
              <a:r>
                <a:rPr lang="zh-CN" sz="1950" b="1" dirty="0">
                  <a:solidFill>
                    <a:srgbClr val="E74726"/>
                  </a:solidFill>
                  <a:latin typeface="+mj-lt"/>
                  <a:ea typeface="+mj-ea"/>
                  <a:cs typeface="+mj-cs"/>
                </a:rPr>
                <a:t>以两大支撑基石守底线、稳运转，夯实运营保障</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6488068" cy="249364"/>
            <a:chOff x="374523" y="681514"/>
            <a:chExt cx="6488068" cy="249364"/>
          </a:xfrm>
        </p:grpSpPr>
        <p:sp>
          <p:nvSpPr>
            <p:cNvPr id="16" name="TextBox 16"/>
            <p:cNvSpPr txBox="1"/>
            <p:nvPr/>
          </p:nvSpPr>
          <p:spPr>
            <a:xfrm>
              <a:off x="374523" y="681514"/>
              <a:ext cx="6488068"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坚持以系统赋能、组织搭建为两大核心运营基石，全方位筑牢长尾客户长效运营底盘​</a:t>
              </a:r>
            </a:p>
          </p:txBody>
        </p:sp>
      </p:grpSp>
      <p:grpSp>
        <p:nvGrpSpPr>
          <p:cNvPr id="19" name="guide"/>
          <p:cNvGrpSpPr/>
          <p:nvPr/>
        </p:nvGrpSpPr>
        <p:grpSpPr>
          <a:xfrm>
            <a:off x="376047" y="990124"/>
            <a:ext cx="8598393" cy="190690"/>
            <a:chOff x="376047" y="990124"/>
            <a:chExt cx="8598393" cy="190690"/>
          </a:xfrm>
        </p:grpSpPr>
        <p:sp>
          <p:nvSpPr>
            <p:cNvPr id="18" name="TextBox 18"/>
            <p:cNvSpPr txBox="1"/>
            <p:nvPr/>
          </p:nvSpPr>
          <p:spPr>
            <a:xfrm>
              <a:off x="376047" y="990124"/>
              <a:ext cx="8598393"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为前端活客维护、精准营销、客户留存、价值挖掘等各类营销运营实施提供兜底支撑，助力整体长尾业务实现稳增长、提质效、固根基的发展目标​​</a:t>
              </a:r>
            </a:p>
          </p:txBody>
        </p:sp>
      </p:grpSp>
      <p:grpSp>
        <p:nvGrpSpPr>
          <p:cNvPr id="101" name="pillar-system"/>
          <p:cNvGrpSpPr/>
          <p:nvPr/>
        </p:nvGrpSpPr>
        <p:grpSpPr>
          <a:xfrm>
            <a:off x="381000" y="1428750"/>
            <a:ext cx="11430000" cy="2905125"/>
            <a:chOff x="381000" y="1428750"/>
            <a:chExt cx="11430000" cy="2905125"/>
          </a:xfrm>
        </p:grpSpPr>
        <p:sp>
          <p:nvSpPr>
            <p:cNvPr id="20" name="Rectangle 20"/>
            <p:cNvSpPr/>
            <p:nvPr/>
          </p:nvSpPr>
          <p:spPr>
            <a:xfrm>
              <a:off x="381000" y="1428750"/>
              <a:ext cx="476250" cy="2905125"/>
            </a:xfrm>
            <a:prstGeom prst="roundRect">
              <a:avLst>
                <a:gd name="adj" fmla="val 12000"/>
              </a:avLst>
            </a:prstGeom>
            <a:solidFill>
              <a:srgbClr val="E74726"/>
            </a:solidFill>
            <a:ln>
              <a:noFill/>
            </a:ln>
          </p:spPr>
        </p:sp>
        <p:sp>
          <p:nvSpPr>
            <p:cNvPr id="21" name="TextBox 21"/>
            <p:cNvSpPr txBox="1"/>
            <p:nvPr/>
          </p:nvSpPr>
          <p:spPr>
            <a:xfrm>
              <a:off x="477036" y="2426018"/>
              <a:ext cx="284178" cy="1006983"/>
            </a:xfrm>
            <a:prstGeom prst="rect">
              <a:avLst/>
            </a:prstGeom>
            <a:noFill/>
            <a:ln>
              <a:noFill/>
            </a:ln>
          </p:spPr>
          <p:txBody>
            <a:bodyPr wrap="none" lIns="0" tIns="0" rIns="0" bIns="0" anchor="t" anchorCtr="0">
              <a:spAutoFit/>
            </a:bodyPr>
            <a:lstStyle/>
            <a:p>
              <a:pPr algn="ctr">
                <a:lnSpc>
                  <a:spcPts val="1950"/>
                </a:lnSpc>
              </a:pPr>
              <a:r>
                <a:rPr lang="zh-CN" sz="1350" b="1" dirty="0">
                  <a:solidFill>
                    <a:srgbClr val="FFFFFF"/>
                  </a:solidFill>
                  <a:latin typeface="+mn-lt"/>
                  <a:ea typeface="+mn-ea"/>
                  <a:cs typeface="+mn-cs"/>
                </a:rPr>
                <a:t>系​</a:t>
              </a:r>
              <a:br/>
              <a:r>
                <a:rPr lang="zh-CN" sz="1350" b="1" dirty="0">
                  <a:solidFill>
                    <a:srgbClr val="FFFFFF"/>
                  </a:solidFill>
                  <a:latin typeface="+mn-lt"/>
                  <a:ea typeface="+mn-ea"/>
                  <a:cs typeface="+mn-cs"/>
                </a:rPr>
                <a:t>统​</a:t>
              </a:r>
              <a:br/>
              <a:r>
                <a:rPr lang="zh-CN" sz="1350" b="1" dirty="0">
                  <a:solidFill>
                    <a:srgbClr val="FFFFFF"/>
                  </a:solidFill>
                  <a:latin typeface="+mn-lt"/>
                  <a:ea typeface="+mn-ea"/>
                  <a:cs typeface="+mn-cs"/>
                </a:rPr>
                <a:t>建​</a:t>
              </a:r>
              <a:br/>
              <a:r>
                <a:rPr lang="zh-CN" sz="1350" b="1" dirty="0">
                  <a:solidFill>
                    <a:srgbClr val="FFFFFF"/>
                  </a:solidFill>
                  <a:latin typeface="+mn-lt"/>
                  <a:ea typeface="+mn-ea"/>
                  <a:cs typeface="+mn-cs"/>
                </a:rPr>
                <a:t>设​</a:t>
              </a:r>
            </a:p>
          </p:txBody>
        </p:sp>
        <p:sp>
          <p:nvSpPr>
            <p:cNvPr id="22" name="Rectangle 22"/>
            <p:cNvSpPr/>
            <p:nvPr/>
          </p:nvSpPr>
          <p:spPr>
            <a:xfrm>
              <a:off x="952500" y="1428750"/>
              <a:ext cx="10858500" cy="2905125"/>
            </a:xfrm>
            <a:prstGeom prst="roundRect">
              <a:avLst>
                <a:gd name="adj" fmla="val 2623"/>
              </a:avLst>
            </a:prstGeom>
            <a:solidFill>
              <a:srgbClr val="F7FAFF"/>
            </a:solidFill>
            <a:ln w="14288">
              <a:solidFill>
                <a:srgbClr val="D4E2FA"/>
              </a:solidFill>
            </a:ln>
          </p:spPr>
        </p:sp>
        <p:sp>
          <p:nvSpPr>
            <p:cNvPr id="23" name="Ellipse 23"/>
            <p:cNvSpPr/>
            <p:nvPr/>
          </p:nvSpPr>
          <p:spPr>
            <a:xfrm>
              <a:off x="1119188" y="1604962"/>
              <a:ext cx="47625" cy="47625"/>
            </a:xfrm>
            <a:prstGeom prst="ellipse">
              <a:avLst/>
            </a:prstGeom>
            <a:solidFill>
              <a:srgbClr val="333333"/>
            </a:solidFill>
            <a:ln>
              <a:noFill/>
            </a:ln>
          </p:spPr>
        </p:sp>
        <p:sp>
          <p:nvSpPr>
            <p:cNvPr id="24" name="TextBox 24"/>
            <p:cNvSpPr txBox="1"/>
            <p:nvPr/>
          </p:nvSpPr>
          <p:spPr>
            <a:xfrm>
              <a:off x="1281112" y="1565672"/>
              <a:ext cx="7488682" cy="345281"/>
            </a:xfrm>
            <a:prstGeom prst="rect">
              <a:avLst/>
            </a:prstGeom>
            <a:noFill/>
            <a:ln>
              <a:noFill/>
            </a:ln>
          </p:spPr>
          <p:txBody>
            <a:bodyPr wrap="none" lIns="0" tIns="0" rIns="0" bIns="0" anchor="t" anchorCtr="0">
              <a:spAutoFit/>
            </a:bodyPr>
            <a:lstStyle/>
            <a:p>
              <a:pPr algn="l">
                <a:lnSpc>
                  <a:spcPts val="1275"/>
                </a:lnSpc>
              </a:pPr>
              <a:r>
                <a:rPr lang="zh-CN" sz="940" dirty="0">
                  <a:solidFill>
                    <a:srgbClr val="333333"/>
                  </a:solidFill>
                  <a:latin typeface="+mn-lt"/>
                  <a:ea typeface="+mn-ea"/>
                  <a:cs typeface="+mn-cs"/>
                </a:rPr>
                <a:t>以人工智能技术为核心驱动力，全面重构长尾客户数字化运营体系，打通数策略、产品、活动、权益、渠道全链路，搭建智能化、自动化、​​​</a:t>
              </a:r>
              <a:br/>
              <a:r>
                <a:rPr lang="zh-CN" sz="940" dirty="0">
                  <a:solidFill>
                    <a:srgbClr val="333333"/>
                  </a:solidFill>
                  <a:latin typeface="+mn-lt"/>
                  <a:ea typeface="+mn-ea"/>
                  <a:cs typeface="+mn-cs"/>
                </a:rPr>
                <a:t>动态化的数字运营底座，以科技赋能替代传统人工粗放运营，提升长尾客群营销运营效率与精准度。​</a:t>
              </a:r>
            </a:p>
          </p:txBody>
        </p:sp>
        <p:sp>
          <p:nvSpPr>
            <p:cNvPr id="25" name="Rectangle 25"/>
            <p:cNvSpPr/>
            <p:nvPr/>
          </p:nvSpPr>
          <p:spPr>
            <a:xfrm>
              <a:off x="1143000" y="1952625"/>
              <a:ext cx="1714500" cy="247650"/>
            </a:xfrm>
            <a:prstGeom prst="rect">
              <a:avLst/>
            </a:prstGeom>
            <a:solidFill>
              <a:srgbClr val="D4E2FA"/>
            </a:solidFill>
            <a:ln>
              <a:noFill/>
            </a:ln>
          </p:spPr>
        </p:sp>
        <p:sp>
          <p:nvSpPr>
            <p:cNvPr id="26" name="TextBox 26"/>
            <p:cNvSpPr txBox="1"/>
            <p:nvPr/>
          </p:nvSpPr>
          <p:spPr>
            <a:xfrm>
              <a:off x="1731442" y="2018824"/>
              <a:ext cx="537616"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运营策略</a:t>
              </a:r>
            </a:p>
          </p:txBody>
        </p:sp>
        <p:sp>
          <p:nvSpPr>
            <p:cNvPr id="27" name="Rectangle 27"/>
            <p:cNvSpPr/>
            <p:nvPr/>
          </p:nvSpPr>
          <p:spPr>
            <a:xfrm>
              <a:off x="3048000" y="1952625"/>
              <a:ext cx="1714500" cy="247650"/>
            </a:xfrm>
            <a:prstGeom prst="rect">
              <a:avLst/>
            </a:prstGeom>
            <a:solidFill>
              <a:srgbClr val="D4E2FA"/>
            </a:solidFill>
            <a:ln>
              <a:noFill/>
            </a:ln>
          </p:spPr>
        </p:sp>
        <p:sp>
          <p:nvSpPr>
            <p:cNvPr id="28" name="TextBox 28"/>
            <p:cNvSpPr txBox="1"/>
            <p:nvPr/>
          </p:nvSpPr>
          <p:spPr>
            <a:xfrm>
              <a:off x="3636442" y="2018824"/>
              <a:ext cx="537616"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产品体系</a:t>
              </a:r>
            </a:p>
          </p:txBody>
        </p:sp>
        <p:sp>
          <p:nvSpPr>
            <p:cNvPr id="29" name="Rectangle 29"/>
            <p:cNvSpPr/>
            <p:nvPr/>
          </p:nvSpPr>
          <p:spPr>
            <a:xfrm>
              <a:off x="4953000" y="1952625"/>
              <a:ext cx="1714500" cy="247650"/>
            </a:xfrm>
            <a:prstGeom prst="rect">
              <a:avLst/>
            </a:prstGeom>
            <a:solidFill>
              <a:srgbClr val="D4E2FA"/>
            </a:solidFill>
            <a:ln>
              <a:noFill/>
            </a:ln>
          </p:spPr>
        </p:sp>
        <p:sp>
          <p:nvSpPr>
            <p:cNvPr id="30" name="TextBox 30"/>
            <p:cNvSpPr txBox="1"/>
            <p:nvPr/>
          </p:nvSpPr>
          <p:spPr>
            <a:xfrm>
              <a:off x="5541442" y="2018824"/>
              <a:ext cx="537616"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活动体系</a:t>
              </a:r>
            </a:p>
          </p:txBody>
        </p:sp>
        <p:sp>
          <p:nvSpPr>
            <p:cNvPr id="31" name="Rectangle 31"/>
            <p:cNvSpPr/>
            <p:nvPr/>
          </p:nvSpPr>
          <p:spPr>
            <a:xfrm>
              <a:off x="6858000" y="1952625"/>
              <a:ext cx="2095500" cy="247650"/>
            </a:xfrm>
            <a:prstGeom prst="rect">
              <a:avLst/>
            </a:prstGeom>
            <a:solidFill>
              <a:srgbClr val="D4E2FA"/>
            </a:solidFill>
            <a:ln>
              <a:noFill/>
            </a:ln>
          </p:spPr>
        </p:sp>
        <p:sp>
          <p:nvSpPr>
            <p:cNvPr id="32" name="TextBox 32"/>
            <p:cNvSpPr txBox="1"/>
            <p:nvPr/>
          </p:nvSpPr>
          <p:spPr>
            <a:xfrm>
              <a:off x="7636942" y="2018824"/>
              <a:ext cx="537616"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权益体系</a:t>
              </a:r>
            </a:p>
          </p:txBody>
        </p:sp>
        <p:sp>
          <p:nvSpPr>
            <p:cNvPr id="33" name="Rectangle 33"/>
            <p:cNvSpPr/>
            <p:nvPr/>
          </p:nvSpPr>
          <p:spPr>
            <a:xfrm>
              <a:off x="9144000" y="1952625"/>
              <a:ext cx="2524125" cy="247650"/>
            </a:xfrm>
            <a:prstGeom prst="rect">
              <a:avLst/>
            </a:prstGeom>
            <a:solidFill>
              <a:srgbClr val="D4E2FA"/>
            </a:solidFill>
            <a:ln>
              <a:noFill/>
            </a:ln>
          </p:spPr>
        </p:sp>
        <p:sp>
          <p:nvSpPr>
            <p:cNvPr id="34" name="TextBox 34"/>
            <p:cNvSpPr txBox="1"/>
            <p:nvPr/>
          </p:nvSpPr>
          <p:spPr>
            <a:xfrm>
              <a:off x="10132492" y="2018824"/>
              <a:ext cx="537616"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渠道触达</a:t>
              </a:r>
            </a:p>
          </p:txBody>
        </p:sp>
        <p:grpSp>
          <p:nvGrpSpPr>
            <p:cNvPr id="46" name="col-strategy"/>
            <p:cNvGrpSpPr/>
            <p:nvPr/>
          </p:nvGrpSpPr>
          <p:grpSpPr>
            <a:xfrm>
              <a:off x="1219200" y="2333625"/>
              <a:ext cx="1504950" cy="1428750"/>
              <a:chOff x="1219200" y="2333625"/>
              <a:chExt cx="1504950" cy="1428750"/>
            </a:xfrm>
          </p:grpSpPr>
          <p:sp>
            <p:nvSpPr>
              <p:cNvPr id="35" name="Rectangle 35"/>
              <p:cNvSpPr/>
              <p:nvPr/>
            </p:nvSpPr>
            <p:spPr>
              <a:xfrm>
                <a:off x="1219200" y="2333625"/>
                <a:ext cx="304800" cy="1428750"/>
              </a:xfrm>
              <a:prstGeom prst="rect">
                <a:avLst/>
              </a:prstGeom>
              <a:solidFill>
                <a:srgbClr val="FFFFFF"/>
              </a:solidFill>
              <a:ln w="9525">
                <a:solidFill>
                  <a:srgbClr val="D4E2FA"/>
                </a:solidFill>
              </a:ln>
            </p:spPr>
          </p:sp>
          <p:sp>
            <p:nvSpPr>
              <p:cNvPr id="36" name="TextBox 36"/>
              <p:cNvSpPr txBox="1"/>
              <p:nvPr/>
            </p:nvSpPr>
            <p:spPr>
              <a:xfrm>
                <a:off x="1282192" y="2745343"/>
                <a:ext cx="178816" cy="59769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数​</a:t>
                </a:r>
                <a:br/>
                <a:r>
                  <a:rPr lang="zh-CN" sz="860" dirty="0">
                    <a:solidFill>
                      <a:srgbClr val="333333"/>
                    </a:solidFill>
                    <a:latin typeface="+mn-lt"/>
                    <a:ea typeface="+mn-ea"/>
                    <a:cs typeface="+mn-cs"/>
                  </a:rPr>
                  <a:t>据​</a:t>
                </a:r>
                <a:br/>
                <a:r>
                  <a:rPr lang="zh-CN" sz="860" dirty="0">
                    <a:solidFill>
                      <a:srgbClr val="333333"/>
                    </a:solidFill>
                    <a:latin typeface="+mn-lt"/>
                    <a:ea typeface="+mn-ea"/>
                    <a:cs typeface="+mn-cs"/>
                  </a:rPr>
                  <a:t>感​</a:t>
                </a:r>
                <a:br/>
                <a:r>
                  <a:rPr lang="zh-CN" sz="860" dirty="0">
                    <a:solidFill>
                      <a:srgbClr val="333333"/>
                    </a:solidFill>
                    <a:latin typeface="+mn-lt"/>
                    <a:ea typeface="+mn-ea"/>
                    <a:cs typeface="+mn-cs"/>
                  </a:rPr>
                  <a:t>知​</a:t>
                </a:r>
              </a:p>
            </p:txBody>
          </p:sp>
          <p:sp>
            <p:nvSpPr>
              <p:cNvPr id="37" name="Rectangle 37"/>
              <p:cNvSpPr/>
              <p:nvPr/>
            </p:nvSpPr>
            <p:spPr>
              <a:xfrm>
                <a:off x="1619250" y="2333625"/>
                <a:ext cx="304800" cy="1428750"/>
              </a:xfrm>
              <a:prstGeom prst="rect">
                <a:avLst/>
              </a:prstGeom>
              <a:solidFill>
                <a:srgbClr val="FFFFFF"/>
              </a:solidFill>
              <a:ln w="9525">
                <a:solidFill>
                  <a:srgbClr val="D4E2FA"/>
                </a:solidFill>
              </a:ln>
            </p:spPr>
          </p:sp>
          <p:sp>
            <p:nvSpPr>
              <p:cNvPr id="38" name="TextBox 38"/>
              <p:cNvSpPr txBox="1"/>
              <p:nvPr/>
            </p:nvSpPr>
            <p:spPr>
              <a:xfrm>
                <a:off x="1682242" y="2745343"/>
                <a:ext cx="178816" cy="59769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策​</a:t>
                </a:r>
                <a:br/>
                <a:r>
                  <a:rPr lang="zh-CN" sz="860" dirty="0">
                    <a:solidFill>
                      <a:srgbClr val="333333"/>
                    </a:solidFill>
                    <a:latin typeface="+mn-lt"/>
                    <a:ea typeface="+mn-ea"/>
                    <a:cs typeface="+mn-cs"/>
                  </a:rPr>
                  <a:t>略​</a:t>
                </a:r>
                <a:br/>
                <a:r>
                  <a:rPr lang="zh-CN" sz="860" dirty="0">
                    <a:solidFill>
                      <a:srgbClr val="333333"/>
                    </a:solidFill>
                    <a:latin typeface="+mn-lt"/>
                    <a:ea typeface="+mn-ea"/>
                    <a:cs typeface="+mn-cs"/>
                  </a:rPr>
                  <a:t>生​</a:t>
                </a:r>
                <a:br/>
                <a:r>
                  <a:rPr lang="zh-CN" sz="860" dirty="0">
                    <a:solidFill>
                      <a:srgbClr val="333333"/>
                    </a:solidFill>
                    <a:latin typeface="+mn-lt"/>
                    <a:ea typeface="+mn-ea"/>
                    <a:cs typeface="+mn-cs"/>
                  </a:rPr>
                  <a:t>成​</a:t>
                </a:r>
              </a:p>
            </p:txBody>
          </p:sp>
          <p:sp>
            <p:nvSpPr>
              <p:cNvPr id="39" name="Rectangle 39"/>
              <p:cNvSpPr/>
              <p:nvPr/>
            </p:nvSpPr>
            <p:spPr>
              <a:xfrm>
                <a:off x="2019300" y="2333625"/>
                <a:ext cx="304800" cy="1428750"/>
              </a:xfrm>
              <a:prstGeom prst="rect">
                <a:avLst/>
              </a:prstGeom>
              <a:solidFill>
                <a:srgbClr val="FFFFFF"/>
              </a:solidFill>
              <a:ln w="9525">
                <a:solidFill>
                  <a:srgbClr val="D4E2FA"/>
                </a:solidFill>
              </a:ln>
            </p:spPr>
          </p:sp>
          <p:sp>
            <p:nvSpPr>
              <p:cNvPr id="40" name="TextBox 40"/>
              <p:cNvSpPr txBox="1"/>
              <p:nvPr/>
            </p:nvSpPr>
            <p:spPr>
              <a:xfrm>
                <a:off x="2082292" y="2745343"/>
                <a:ext cx="178816" cy="59769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自​</a:t>
                </a:r>
                <a:br/>
                <a:r>
                  <a:rPr lang="zh-CN" sz="860" dirty="0">
                    <a:solidFill>
                      <a:srgbClr val="333333"/>
                    </a:solidFill>
                    <a:latin typeface="+mn-lt"/>
                    <a:ea typeface="+mn-ea"/>
                    <a:cs typeface="+mn-cs"/>
                  </a:rPr>
                  <a:t>动​</a:t>
                </a:r>
                <a:br/>
                <a:r>
                  <a:rPr lang="zh-CN" sz="860" dirty="0">
                    <a:solidFill>
                      <a:srgbClr val="333333"/>
                    </a:solidFill>
                    <a:latin typeface="+mn-lt"/>
                    <a:ea typeface="+mn-ea"/>
                    <a:cs typeface="+mn-cs"/>
                  </a:rPr>
                  <a:t>执​</a:t>
                </a:r>
                <a:br/>
                <a:r>
                  <a:rPr lang="zh-CN" sz="860" dirty="0">
                    <a:solidFill>
                      <a:srgbClr val="333333"/>
                    </a:solidFill>
                    <a:latin typeface="+mn-lt"/>
                    <a:ea typeface="+mn-ea"/>
                    <a:cs typeface="+mn-cs"/>
                  </a:rPr>
                  <a:t>行​</a:t>
                </a:r>
              </a:p>
            </p:txBody>
          </p:sp>
          <p:sp>
            <p:nvSpPr>
              <p:cNvPr id="41" name="Rectangle 41"/>
              <p:cNvSpPr/>
              <p:nvPr/>
            </p:nvSpPr>
            <p:spPr>
              <a:xfrm>
                <a:off x="2419350" y="2333625"/>
                <a:ext cx="304800" cy="1428750"/>
              </a:xfrm>
              <a:prstGeom prst="rect">
                <a:avLst/>
              </a:prstGeom>
              <a:solidFill>
                <a:srgbClr val="FFFFFF"/>
              </a:solidFill>
              <a:ln w="9525">
                <a:solidFill>
                  <a:srgbClr val="D4E2FA"/>
                </a:solidFill>
              </a:ln>
            </p:spPr>
          </p:sp>
          <p:sp>
            <p:nvSpPr>
              <p:cNvPr id="42" name="TextBox 42"/>
              <p:cNvSpPr txBox="1"/>
              <p:nvPr/>
            </p:nvSpPr>
            <p:spPr>
              <a:xfrm>
                <a:off x="2482342" y="2745343"/>
                <a:ext cx="178816" cy="597694"/>
              </a:xfrm>
              <a:prstGeom prst="rect">
                <a:avLst/>
              </a:prstGeom>
              <a:noFill/>
              <a:ln>
                <a:noFill/>
              </a:ln>
            </p:spPr>
            <p:txBody>
              <a:bodyPr wrap="none" lIns="0" tIns="0" rIns="0" bIns="0" anchor="t" anchorCtr="0">
                <a:spAutoFit/>
              </a:bodyPr>
              <a:lstStyle/>
              <a:p>
                <a:pPr algn="ctr">
                  <a:lnSpc>
                    <a:spcPts val="1125"/>
                  </a:lnSpc>
                </a:pPr>
                <a:r>
                  <a:rPr lang="zh-CN" sz="860" dirty="0">
                    <a:solidFill>
                      <a:srgbClr val="333333"/>
                    </a:solidFill>
                    <a:latin typeface="+mn-lt"/>
                    <a:ea typeface="+mn-ea"/>
                    <a:cs typeface="+mn-cs"/>
                  </a:rPr>
                  <a:t>动​</a:t>
                </a:r>
                <a:br/>
                <a:r>
                  <a:rPr lang="zh-CN" sz="860" dirty="0">
                    <a:solidFill>
                      <a:srgbClr val="333333"/>
                    </a:solidFill>
                    <a:latin typeface="+mn-lt"/>
                    <a:ea typeface="+mn-ea"/>
                    <a:cs typeface="+mn-cs"/>
                  </a:rPr>
                  <a:t>态​</a:t>
                </a:r>
                <a:br/>
                <a:r>
                  <a:rPr lang="zh-CN" sz="860" dirty="0">
                    <a:solidFill>
                      <a:srgbClr val="333333"/>
                    </a:solidFill>
                    <a:latin typeface="+mn-lt"/>
                    <a:ea typeface="+mn-ea"/>
                    <a:cs typeface="+mn-cs"/>
                  </a:rPr>
                  <a:t>优​</a:t>
                </a:r>
                <a:br/>
                <a:r>
                  <a:rPr lang="zh-CN" sz="860" dirty="0">
                    <a:solidFill>
                      <a:srgbClr val="333333"/>
                    </a:solidFill>
                    <a:latin typeface="+mn-lt"/>
                    <a:ea typeface="+mn-ea"/>
                    <a:cs typeface="+mn-cs"/>
                  </a:rPr>
                  <a:t>化​</a:t>
                </a:r>
              </a:p>
            </p:txBody>
          </p:sp>
          <p:sp>
            <p:nvSpPr>
              <p:cNvPr id="43" name="Line 43"/>
              <p:cNvSpPr/>
              <p:nvPr/>
            </p:nvSpPr>
            <p:spPr>
              <a:xfrm>
                <a:off x="1524000" y="3048000"/>
                <a:ext cx="85725" cy="1"/>
              </a:xfrm>
              <a:prstGeom prst="line">
                <a:avLst/>
              </a:prstGeom>
              <a:noFill/>
              <a:ln w="9525">
                <a:solidFill>
                  <a:srgbClr val="F1917D"/>
                </a:solidFill>
                <a:tailEnd type="triangle" w="lg" len="lg"/>
              </a:ln>
            </p:spPr>
          </p:sp>
          <p:sp>
            <p:nvSpPr>
              <p:cNvPr id="44" name="Line 44"/>
              <p:cNvSpPr/>
              <p:nvPr/>
            </p:nvSpPr>
            <p:spPr>
              <a:xfrm>
                <a:off x="1924050" y="3048000"/>
                <a:ext cx="85725" cy="1"/>
              </a:xfrm>
              <a:prstGeom prst="line">
                <a:avLst/>
              </a:prstGeom>
              <a:noFill/>
              <a:ln w="9525">
                <a:solidFill>
                  <a:srgbClr val="F1917D"/>
                </a:solidFill>
                <a:tailEnd type="triangle" w="lg" len="lg"/>
              </a:ln>
            </p:spPr>
          </p:sp>
          <p:sp>
            <p:nvSpPr>
              <p:cNvPr id="45" name="Line 45"/>
              <p:cNvSpPr/>
              <p:nvPr/>
            </p:nvSpPr>
            <p:spPr>
              <a:xfrm>
                <a:off x="2324100" y="3048000"/>
                <a:ext cx="85725" cy="1"/>
              </a:xfrm>
              <a:prstGeom prst="line">
                <a:avLst/>
              </a:prstGeom>
              <a:noFill/>
              <a:ln w="9525">
                <a:solidFill>
                  <a:srgbClr val="F1917D"/>
                </a:solidFill>
                <a:tailEnd type="triangle" w="lg" len="lg"/>
              </a:ln>
            </p:spPr>
          </p:sp>
        </p:grpSp>
        <p:grpSp>
          <p:nvGrpSpPr>
            <p:cNvPr id="61" name="col-product"/>
            <p:cNvGrpSpPr/>
            <p:nvPr/>
          </p:nvGrpSpPr>
          <p:grpSpPr>
            <a:xfrm>
              <a:off x="3124200" y="2333625"/>
              <a:ext cx="1562100" cy="1390650"/>
              <a:chOff x="3124200" y="2333625"/>
              <a:chExt cx="1562100" cy="1390650"/>
            </a:xfrm>
          </p:grpSpPr>
          <p:sp>
            <p:nvSpPr>
              <p:cNvPr id="47" name="Rectangle 47"/>
              <p:cNvSpPr/>
              <p:nvPr/>
            </p:nvSpPr>
            <p:spPr>
              <a:xfrm>
                <a:off x="3124200" y="2333625"/>
                <a:ext cx="742950" cy="342900"/>
              </a:xfrm>
              <a:prstGeom prst="rect">
                <a:avLst/>
              </a:prstGeom>
              <a:solidFill>
                <a:srgbClr val="FFFFFF"/>
              </a:solidFill>
              <a:ln w="9525">
                <a:solidFill>
                  <a:srgbClr val="D4E2FA"/>
                </a:solidFill>
              </a:ln>
            </p:spPr>
          </p:sp>
          <p:sp>
            <p:nvSpPr>
              <p:cNvPr id="48" name="TextBox 48"/>
              <p:cNvSpPr txBox="1"/>
              <p:nvPr/>
            </p:nvSpPr>
            <p:spPr>
              <a:xfrm>
                <a:off x="3295650" y="2377916"/>
                <a:ext cx="400050"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KYC智​​</a:t>
                </a:r>
                <a:br/>
                <a:r>
                  <a:rPr lang="zh-CN" sz="820" dirty="0">
                    <a:solidFill>
                      <a:srgbClr val="333333"/>
                    </a:solidFill>
                    <a:latin typeface="+mn-lt"/>
                    <a:ea typeface="+mn-ea"/>
                    <a:cs typeface="+mn-cs"/>
                  </a:rPr>
                  <a:t>能洞察​</a:t>
                </a:r>
              </a:p>
            </p:txBody>
          </p:sp>
          <p:sp>
            <p:nvSpPr>
              <p:cNvPr id="49" name="Rectangle 49"/>
              <p:cNvSpPr/>
              <p:nvPr/>
            </p:nvSpPr>
            <p:spPr>
              <a:xfrm>
                <a:off x="3943350" y="2333625"/>
                <a:ext cx="742950" cy="342900"/>
              </a:xfrm>
              <a:prstGeom prst="rect">
                <a:avLst/>
              </a:prstGeom>
              <a:solidFill>
                <a:srgbClr val="FFFFFF"/>
              </a:solidFill>
              <a:ln w="9525">
                <a:solidFill>
                  <a:srgbClr val="D4E2FA"/>
                </a:solidFill>
              </a:ln>
            </p:spPr>
          </p:sp>
          <p:sp>
            <p:nvSpPr>
              <p:cNvPr id="50" name="TextBox 50"/>
              <p:cNvSpPr txBox="1"/>
              <p:nvPr/>
            </p:nvSpPr>
            <p:spPr>
              <a:xfrm>
                <a:off x="4114800" y="2377916"/>
                <a:ext cx="400050"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KYP产​​</a:t>
                </a:r>
                <a:br/>
                <a:r>
                  <a:rPr lang="zh-CN" sz="820" dirty="0">
                    <a:solidFill>
                      <a:srgbClr val="333333"/>
                    </a:solidFill>
                    <a:latin typeface="+mn-lt"/>
                    <a:ea typeface="+mn-ea"/>
                    <a:cs typeface="+mn-cs"/>
                  </a:rPr>
                  <a:t>品解构​</a:t>
                </a:r>
              </a:p>
            </p:txBody>
          </p:sp>
          <p:sp>
            <p:nvSpPr>
              <p:cNvPr id="51" name="Freeform 51"/>
              <p:cNvSpPr/>
              <p:nvPr/>
            </p:nvSpPr>
            <p:spPr>
              <a:xfrm>
                <a:off x="3495675" y="2676525"/>
                <a:ext cx="819150" cy="209550"/>
              </a:xfrm>
              <a:custGeom>
                <a:avLst/>
                <a:gdLst/>
                <a:ahLst/>
                <a:cxnLst/>
                <a:rect l="l" t="t" r="r" b="b"/>
                <a:pathLst>
                  <a:path w="819150" h="209550">
                    <a:moveTo>
                      <a:pt x="0" y="0"/>
                    </a:moveTo>
                    <a:lnTo>
                      <a:pt x="0" y="85725"/>
                    </a:lnTo>
                    <a:lnTo>
                      <a:pt x="819150" y="85725"/>
                    </a:lnTo>
                    <a:lnTo>
                      <a:pt x="819150" y="0"/>
                    </a:lnTo>
                    <a:moveTo>
                      <a:pt x="409575" y="85725"/>
                    </a:moveTo>
                    <a:lnTo>
                      <a:pt x="409575" y="209550"/>
                    </a:lnTo>
                  </a:path>
                </a:pathLst>
              </a:custGeom>
              <a:noFill/>
              <a:ln w="9525">
                <a:solidFill>
                  <a:srgbClr val="F1917D"/>
                </a:solidFill>
              </a:ln>
            </p:spPr>
          </p:sp>
          <p:sp>
            <p:nvSpPr>
              <p:cNvPr id="52" name="Ellipse 52"/>
              <p:cNvSpPr/>
              <p:nvPr/>
            </p:nvSpPr>
            <p:spPr>
              <a:xfrm>
                <a:off x="3314700" y="2886075"/>
                <a:ext cx="1181100" cy="285750"/>
              </a:xfrm>
              <a:prstGeom prst="ellipse">
                <a:avLst/>
              </a:prstGeom>
              <a:solidFill>
                <a:srgbClr val="FFFFFF"/>
              </a:solidFill>
              <a:ln w="9525">
                <a:solidFill>
                  <a:srgbClr val="F1917D"/>
                </a:solidFill>
              </a:ln>
            </p:spPr>
          </p:sp>
          <p:sp>
            <p:nvSpPr>
              <p:cNvPr id="53" name="TextBox 53"/>
              <p:cNvSpPr txBox="1"/>
              <p:nvPr/>
            </p:nvSpPr>
            <p:spPr>
              <a:xfrm>
                <a:off x="3553168" y="2973943"/>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智能推荐引擎</a:t>
                </a:r>
              </a:p>
            </p:txBody>
          </p:sp>
          <p:sp>
            <p:nvSpPr>
              <p:cNvPr id="54" name="Freeform 54"/>
              <p:cNvSpPr/>
              <p:nvPr/>
            </p:nvSpPr>
            <p:spPr>
              <a:xfrm>
                <a:off x="3495675" y="3171825"/>
                <a:ext cx="819150" cy="95250"/>
              </a:xfrm>
              <a:custGeom>
                <a:avLst/>
                <a:gdLst/>
                <a:ahLst/>
                <a:cxnLst/>
                <a:rect l="l" t="t" r="r" b="b"/>
                <a:pathLst>
                  <a:path w="819150" h="95250">
                    <a:moveTo>
                      <a:pt x="409575" y="0"/>
                    </a:moveTo>
                    <a:lnTo>
                      <a:pt x="409575" y="95250"/>
                    </a:lnTo>
                    <a:lnTo>
                      <a:pt x="0" y="95250"/>
                    </a:lnTo>
                    <a:moveTo>
                      <a:pt x="409575" y="95250"/>
                    </a:moveTo>
                    <a:lnTo>
                      <a:pt x="819150" y="95250"/>
                    </a:lnTo>
                  </a:path>
                </a:pathLst>
              </a:custGeom>
              <a:noFill/>
              <a:ln w="9525">
                <a:solidFill>
                  <a:srgbClr val="F1917D"/>
                </a:solidFill>
              </a:ln>
            </p:spPr>
          </p:sp>
          <p:sp>
            <p:nvSpPr>
              <p:cNvPr id="55" name="Line 55"/>
              <p:cNvSpPr/>
              <p:nvPr/>
            </p:nvSpPr>
            <p:spPr>
              <a:xfrm>
                <a:off x="3495675" y="3267075"/>
                <a:ext cx="1" cy="95250"/>
              </a:xfrm>
              <a:prstGeom prst="line">
                <a:avLst/>
              </a:prstGeom>
              <a:noFill/>
              <a:ln w="9525">
                <a:solidFill>
                  <a:srgbClr val="F1917D"/>
                </a:solidFill>
                <a:tailEnd type="triangle" w="lg" len="lg"/>
              </a:ln>
            </p:spPr>
          </p:sp>
          <p:sp>
            <p:nvSpPr>
              <p:cNvPr id="56" name="Line 56"/>
              <p:cNvSpPr/>
              <p:nvPr/>
            </p:nvSpPr>
            <p:spPr>
              <a:xfrm>
                <a:off x="4314825" y="3267075"/>
                <a:ext cx="1" cy="95250"/>
              </a:xfrm>
              <a:prstGeom prst="line">
                <a:avLst/>
              </a:prstGeom>
              <a:noFill/>
              <a:ln w="9525">
                <a:solidFill>
                  <a:srgbClr val="F1917D"/>
                </a:solidFill>
                <a:tailEnd type="triangle" w="lg" len="lg"/>
              </a:ln>
            </p:spPr>
          </p:sp>
          <p:sp>
            <p:nvSpPr>
              <p:cNvPr id="57" name="Rectangle 57"/>
              <p:cNvSpPr/>
              <p:nvPr/>
            </p:nvSpPr>
            <p:spPr>
              <a:xfrm>
                <a:off x="3124200" y="3381375"/>
                <a:ext cx="742950" cy="342900"/>
              </a:xfrm>
              <a:prstGeom prst="rect">
                <a:avLst/>
              </a:prstGeom>
              <a:solidFill>
                <a:srgbClr val="FFFFFF"/>
              </a:solidFill>
              <a:ln w="9525">
                <a:solidFill>
                  <a:srgbClr val="D4E2FA"/>
                </a:solidFill>
              </a:ln>
            </p:spPr>
          </p:sp>
          <p:sp>
            <p:nvSpPr>
              <p:cNvPr id="58" name="TextBox 58"/>
              <p:cNvSpPr txBox="1"/>
              <p:nvPr/>
            </p:nvSpPr>
            <p:spPr>
              <a:xfrm>
                <a:off x="3358134" y="3425666"/>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触达​</a:t>
                </a:r>
                <a:br/>
                <a:r>
                  <a:rPr lang="zh-CN" sz="820" dirty="0">
                    <a:solidFill>
                      <a:srgbClr val="333333"/>
                    </a:solidFill>
                    <a:latin typeface="+mn-lt"/>
                    <a:ea typeface="+mn-ea"/>
                    <a:cs typeface="+mn-cs"/>
                  </a:rPr>
                  <a:t>场景​</a:t>
                </a:r>
              </a:p>
            </p:txBody>
          </p:sp>
          <p:sp>
            <p:nvSpPr>
              <p:cNvPr id="59" name="Rectangle 59"/>
              <p:cNvSpPr/>
              <p:nvPr/>
            </p:nvSpPr>
            <p:spPr>
              <a:xfrm>
                <a:off x="3943350" y="3381375"/>
                <a:ext cx="742950" cy="342900"/>
              </a:xfrm>
              <a:prstGeom prst="rect">
                <a:avLst/>
              </a:prstGeom>
              <a:solidFill>
                <a:srgbClr val="FFFFFF"/>
              </a:solidFill>
              <a:ln w="9525">
                <a:solidFill>
                  <a:srgbClr val="D4E2FA"/>
                </a:solidFill>
              </a:ln>
            </p:spPr>
          </p:sp>
          <p:sp>
            <p:nvSpPr>
              <p:cNvPr id="60" name="TextBox 60"/>
              <p:cNvSpPr txBox="1"/>
              <p:nvPr/>
            </p:nvSpPr>
            <p:spPr>
              <a:xfrm>
                <a:off x="4177284" y="3425666"/>
                <a:ext cx="275082"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333333"/>
                    </a:solidFill>
                    <a:latin typeface="+mn-lt"/>
                    <a:ea typeface="+mn-ea"/>
                    <a:cs typeface="+mn-cs"/>
                  </a:rPr>
                  <a:t>触达​</a:t>
                </a:r>
                <a:br/>
                <a:r>
                  <a:rPr lang="zh-CN" sz="820" dirty="0">
                    <a:solidFill>
                      <a:srgbClr val="333333"/>
                    </a:solidFill>
                    <a:latin typeface="+mn-lt"/>
                    <a:ea typeface="+mn-ea"/>
                    <a:cs typeface="+mn-cs"/>
                  </a:rPr>
                  <a:t>渠道​</a:t>
                </a:r>
              </a:p>
            </p:txBody>
          </p:sp>
        </p:grpSp>
        <p:grpSp>
          <p:nvGrpSpPr>
            <p:cNvPr id="73" name="col-activity"/>
            <p:cNvGrpSpPr/>
            <p:nvPr/>
          </p:nvGrpSpPr>
          <p:grpSpPr>
            <a:xfrm>
              <a:off x="5029200" y="2333625"/>
              <a:ext cx="1504950" cy="1428750"/>
              <a:chOff x="5029200" y="2333625"/>
              <a:chExt cx="1504950" cy="1428750"/>
            </a:xfrm>
          </p:grpSpPr>
          <p:sp>
            <p:nvSpPr>
              <p:cNvPr id="62" name="Rectangle 62"/>
              <p:cNvSpPr/>
              <p:nvPr/>
            </p:nvSpPr>
            <p:spPr>
              <a:xfrm>
                <a:off x="5029200" y="2333625"/>
                <a:ext cx="304800" cy="1428750"/>
              </a:xfrm>
              <a:prstGeom prst="rect">
                <a:avLst/>
              </a:prstGeom>
              <a:solidFill>
                <a:srgbClr val="FFFFFF"/>
              </a:solidFill>
              <a:ln w="9525">
                <a:solidFill>
                  <a:srgbClr val="D4E2FA"/>
                </a:solidFill>
              </a:ln>
            </p:spPr>
          </p:sp>
          <p:sp>
            <p:nvSpPr>
              <p:cNvPr id="63" name="TextBox 63"/>
              <p:cNvSpPr txBox="1"/>
              <p:nvPr/>
            </p:nvSpPr>
            <p:spPr>
              <a:xfrm>
                <a:off x="5092192" y="2554843"/>
                <a:ext cx="178816" cy="969169"/>
              </a:xfrm>
              <a:prstGeom prst="rect">
                <a:avLst/>
              </a:prstGeom>
              <a:noFill/>
              <a:ln>
                <a:noFill/>
              </a:ln>
            </p:spPr>
            <p:txBody>
              <a:bodyPr wrap="none" lIns="0" tIns="0" rIns="0" bIns="0" anchor="t" anchorCtr="0">
                <a:spAutoFit/>
              </a:bodyPr>
              <a:lstStyle/>
              <a:p>
                <a:pPr algn="ctr">
                  <a:lnSpc>
                    <a:spcPts val="1050"/>
                  </a:lnSpc>
                </a:pPr>
                <a:r>
                  <a:rPr lang="zh-CN" sz="860" dirty="0">
                    <a:solidFill>
                      <a:srgbClr val="333333"/>
                    </a:solidFill>
                    <a:latin typeface="+mn-lt"/>
                    <a:ea typeface="+mn-ea"/>
                    <a:cs typeface="+mn-cs"/>
                  </a:rPr>
                  <a:t>标​</a:t>
                </a:r>
                <a:br/>
                <a:r>
                  <a:rPr lang="zh-CN" sz="860" dirty="0">
                    <a:solidFill>
                      <a:srgbClr val="333333"/>
                    </a:solidFill>
                    <a:latin typeface="+mn-lt"/>
                    <a:ea typeface="+mn-ea"/>
                    <a:cs typeface="+mn-cs"/>
                  </a:rPr>
                  <a:t>准​</a:t>
                </a:r>
                <a:br/>
                <a:r>
                  <a:rPr lang="zh-CN" sz="860" dirty="0">
                    <a:solidFill>
                      <a:srgbClr val="333333"/>
                    </a:solidFill>
                    <a:latin typeface="+mn-lt"/>
                    <a:ea typeface="+mn-ea"/>
                    <a:cs typeface="+mn-cs"/>
                  </a:rPr>
                  <a:t>活​</a:t>
                </a:r>
                <a:br/>
                <a:r>
                  <a:rPr lang="zh-CN" sz="860" dirty="0">
                    <a:solidFill>
                      <a:srgbClr val="333333"/>
                    </a:solidFill>
                    <a:latin typeface="+mn-lt"/>
                    <a:ea typeface="+mn-ea"/>
                    <a:cs typeface="+mn-cs"/>
                  </a:rPr>
                  <a:t>动​</a:t>
                </a:r>
                <a:br/>
                <a:r>
                  <a:rPr lang="zh-CN" sz="860" dirty="0">
                    <a:solidFill>
                      <a:srgbClr val="333333"/>
                    </a:solidFill>
                    <a:latin typeface="+mn-lt"/>
                    <a:ea typeface="+mn-ea"/>
                    <a:cs typeface="+mn-cs"/>
                  </a:rPr>
                  <a:t>模​</a:t>
                </a:r>
                <a:br/>
                <a:r>
                  <a:rPr lang="zh-CN" sz="860" dirty="0">
                    <a:solidFill>
                      <a:srgbClr val="333333"/>
                    </a:solidFill>
                    <a:latin typeface="+mn-lt"/>
                    <a:ea typeface="+mn-ea"/>
                    <a:cs typeface="+mn-cs"/>
                  </a:rPr>
                  <a:t>板​</a:t>
                </a:r>
                <a:br/>
                <a:r>
                  <a:rPr lang="zh-CN" sz="860" dirty="0">
                    <a:solidFill>
                      <a:srgbClr val="333333"/>
                    </a:solidFill>
                    <a:latin typeface="+mn-lt"/>
                    <a:ea typeface="+mn-ea"/>
                    <a:cs typeface="+mn-cs"/>
                  </a:rPr>
                  <a:t>库​</a:t>
                </a:r>
              </a:p>
            </p:txBody>
          </p:sp>
          <p:sp>
            <p:nvSpPr>
              <p:cNvPr id="64" name="Rectangle 64"/>
              <p:cNvSpPr/>
              <p:nvPr/>
            </p:nvSpPr>
            <p:spPr>
              <a:xfrm>
                <a:off x="5429250" y="2333625"/>
                <a:ext cx="304800" cy="1428750"/>
              </a:xfrm>
              <a:prstGeom prst="rect">
                <a:avLst/>
              </a:prstGeom>
              <a:solidFill>
                <a:srgbClr val="FFFFFF"/>
              </a:solidFill>
              <a:ln w="9525">
                <a:solidFill>
                  <a:srgbClr val="D4E2FA"/>
                </a:solidFill>
              </a:ln>
            </p:spPr>
          </p:sp>
          <p:sp>
            <p:nvSpPr>
              <p:cNvPr id="65" name="TextBox 65"/>
              <p:cNvSpPr txBox="1"/>
              <p:nvPr/>
            </p:nvSpPr>
            <p:spPr>
              <a:xfrm>
                <a:off x="5492242" y="2621518"/>
                <a:ext cx="178816" cy="835819"/>
              </a:xfrm>
              <a:prstGeom prst="rect">
                <a:avLst/>
              </a:prstGeom>
              <a:noFill/>
              <a:ln>
                <a:noFill/>
              </a:ln>
            </p:spPr>
            <p:txBody>
              <a:bodyPr wrap="none" lIns="0" tIns="0" rIns="0" bIns="0" anchor="t" anchorCtr="0">
                <a:spAutoFit/>
              </a:bodyPr>
              <a:lstStyle/>
              <a:p>
                <a:pPr algn="ctr">
                  <a:lnSpc>
                    <a:spcPts val="1050"/>
                  </a:lnSpc>
                </a:pPr>
                <a:r>
                  <a:rPr lang="en-US" sz="860" dirty="0">
                    <a:solidFill>
                      <a:srgbClr val="333333"/>
                    </a:solidFill>
                    <a:latin typeface="+mn-lt"/>
                    <a:ea typeface="+mn-ea"/>
                    <a:cs typeface="+mn-cs"/>
                  </a:rPr>
                  <a:t>A​</a:t>
                </a:r>
                <a:br/>
                <a:r>
                  <a:rPr lang="en-US" sz="860" dirty="0">
                    <a:solidFill>
                      <a:srgbClr val="333333"/>
                    </a:solidFill>
                    <a:latin typeface="+mn-lt"/>
                    <a:ea typeface="+mn-ea"/>
                    <a:cs typeface="+mn-cs"/>
                  </a:rPr>
                  <a:t>I​</a:t>
                </a:r>
                <a:br/>
                <a:r>
                  <a:rPr lang="zh-CN" sz="860" dirty="0">
                    <a:solidFill>
                      <a:srgbClr val="333333"/>
                    </a:solidFill>
                    <a:latin typeface="+mn-lt"/>
                    <a:ea typeface="+mn-ea"/>
                    <a:cs typeface="+mn-cs"/>
                  </a:rPr>
                  <a:t>活​</a:t>
                </a:r>
                <a:br/>
                <a:r>
                  <a:rPr lang="zh-CN" sz="860" dirty="0">
                    <a:solidFill>
                      <a:srgbClr val="333333"/>
                    </a:solidFill>
                    <a:latin typeface="+mn-lt"/>
                    <a:ea typeface="+mn-ea"/>
                    <a:cs typeface="+mn-cs"/>
                  </a:rPr>
                  <a:t>动​</a:t>
                </a:r>
                <a:br/>
                <a:r>
                  <a:rPr lang="zh-CN" sz="860" dirty="0">
                    <a:solidFill>
                      <a:srgbClr val="333333"/>
                    </a:solidFill>
                    <a:latin typeface="+mn-lt"/>
                    <a:ea typeface="+mn-ea"/>
                    <a:cs typeface="+mn-cs"/>
                  </a:rPr>
                  <a:t>设​</a:t>
                </a:r>
                <a:br/>
                <a:r>
                  <a:rPr lang="zh-CN" sz="860" dirty="0">
                    <a:solidFill>
                      <a:srgbClr val="333333"/>
                    </a:solidFill>
                    <a:latin typeface="+mn-lt"/>
                    <a:ea typeface="+mn-ea"/>
                    <a:cs typeface="+mn-cs"/>
                  </a:rPr>
                  <a:t>计​</a:t>
                </a:r>
              </a:p>
            </p:txBody>
          </p:sp>
          <p:sp>
            <p:nvSpPr>
              <p:cNvPr id="66" name="Rectangle 66"/>
              <p:cNvSpPr/>
              <p:nvPr/>
            </p:nvSpPr>
            <p:spPr>
              <a:xfrm>
                <a:off x="5829300" y="2333625"/>
                <a:ext cx="304800" cy="1428750"/>
              </a:xfrm>
              <a:prstGeom prst="rect">
                <a:avLst/>
              </a:prstGeom>
              <a:solidFill>
                <a:srgbClr val="FFFFFF"/>
              </a:solidFill>
              <a:ln w="9525">
                <a:solidFill>
                  <a:srgbClr val="D4E2FA"/>
                </a:solidFill>
              </a:ln>
            </p:spPr>
          </p:sp>
          <p:sp>
            <p:nvSpPr>
              <p:cNvPr id="67" name="TextBox 67"/>
              <p:cNvSpPr txBox="1"/>
              <p:nvPr/>
            </p:nvSpPr>
            <p:spPr>
              <a:xfrm>
                <a:off x="5892292" y="2621518"/>
                <a:ext cx="178816" cy="835819"/>
              </a:xfrm>
              <a:prstGeom prst="rect">
                <a:avLst/>
              </a:prstGeom>
              <a:noFill/>
              <a:ln>
                <a:noFill/>
              </a:ln>
            </p:spPr>
            <p:txBody>
              <a:bodyPr wrap="none" lIns="0" tIns="0" rIns="0" bIns="0" anchor="t" anchorCtr="0">
                <a:spAutoFit/>
              </a:bodyPr>
              <a:lstStyle/>
              <a:p>
                <a:pPr algn="ctr">
                  <a:lnSpc>
                    <a:spcPts val="1050"/>
                  </a:lnSpc>
                </a:pPr>
                <a:r>
                  <a:rPr lang="zh-CN" sz="860" dirty="0">
                    <a:solidFill>
                      <a:srgbClr val="333333"/>
                    </a:solidFill>
                    <a:latin typeface="+mn-lt"/>
                    <a:ea typeface="+mn-ea"/>
                    <a:cs typeface="+mn-cs"/>
                  </a:rPr>
                  <a:t>快​</a:t>
                </a:r>
                <a:br/>
                <a:r>
                  <a:rPr lang="zh-CN" sz="860" dirty="0">
                    <a:solidFill>
                      <a:srgbClr val="333333"/>
                    </a:solidFill>
                    <a:latin typeface="+mn-lt"/>
                    <a:ea typeface="+mn-ea"/>
                    <a:cs typeface="+mn-cs"/>
                  </a:rPr>
                  <a:t>速​</a:t>
                </a:r>
                <a:br/>
                <a:r>
                  <a:rPr lang="zh-CN" sz="860" dirty="0">
                    <a:solidFill>
                      <a:srgbClr val="333333"/>
                    </a:solidFill>
                    <a:latin typeface="+mn-lt"/>
                    <a:ea typeface="+mn-ea"/>
                    <a:cs typeface="+mn-cs"/>
                  </a:rPr>
                  <a:t>上​</a:t>
                </a:r>
                <a:br/>
                <a:r>
                  <a:rPr lang="zh-CN" sz="860" dirty="0">
                    <a:solidFill>
                      <a:srgbClr val="333333"/>
                    </a:solidFill>
                    <a:latin typeface="+mn-lt"/>
                    <a:ea typeface="+mn-ea"/>
                    <a:cs typeface="+mn-cs"/>
                  </a:rPr>
                  <a:t>线​</a:t>
                </a:r>
                <a:br/>
                <a:r>
                  <a:rPr lang="zh-CN" sz="860" dirty="0">
                    <a:solidFill>
                      <a:srgbClr val="333333"/>
                    </a:solidFill>
                    <a:latin typeface="+mn-lt"/>
                    <a:ea typeface="+mn-ea"/>
                    <a:cs typeface="+mn-cs"/>
                  </a:rPr>
                  <a:t>引​</a:t>
                </a:r>
                <a:br/>
                <a:r>
                  <a:rPr lang="zh-CN" sz="860" dirty="0">
                    <a:solidFill>
                      <a:srgbClr val="333333"/>
                    </a:solidFill>
                    <a:latin typeface="+mn-lt"/>
                    <a:ea typeface="+mn-ea"/>
                    <a:cs typeface="+mn-cs"/>
                  </a:rPr>
                  <a:t>擎​</a:t>
                </a:r>
              </a:p>
            </p:txBody>
          </p:sp>
          <p:sp>
            <p:nvSpPr>
              <p:cNvPr id="68" name="Rectangle 68"/>
              <p:cNvSpPr/>
              <p:nvPr/>
            </p:nvSpPr>
            <p:spPr>
              <a:xfrm>
                <a:off x="6229350" y="2333625"/>
                <a:ext cx="304800" cy="1428750"/>
              </a:xfrm>
              <a:prstGeom prst="rect">
                <a:avLst/>
              </a:prstGeom>
              <a:solidFill>
                <a:srgbClr val="FFFFFF"/>
              </a:solidFill>
              <a:ln w="9525">
                <a:solidFill>
                  <a:srgbClr val="D4E2FA"/>
                </a:solidFill>
              </a:ln>
            </p:spPr>
          </p:sp>
          <p:sp>
            <p:nvSpPr>
              <p:cNvPr id="69" name="TextBox 69"/>
              <p:cNvSpPr txBox="1"/>
              <p:nvPr/>
            </p:nvSpPr>
            <p:spPr>
              <a:xfrm>
                <a:off x="6292342" y="2621518"/>
                <a:ext cx="178816" cy="835819"/>
              </a:xfrm>
              <a:prstGeom prst="rect">
                <a:avLst/>
              </a:prstGeom>
              <a:noFill/>
              <a:ln>
                <a:noFill/>
              </a:ln>
            </p:spPr>
            <p:txBody>
              <a:bodyPr wrap="none" lIns="0" tIns="0" rIns="0" bIns="0" anchor="t" anchorCtr="0">
                <a:spAutoFit/>
              </a:bodyPr>
              <a:lstStyle/>
              <a:p>
                <a:pPr algn="ctr">
                  <a:lnSpc>
                    <a:spcPts val="1050"/>
                  </a:lnSpc>
                </a:pPr>
                <a:r>
                  <a:rPr lang="zh-CN" sz="860" dirty="0">
                    <a:solidFill>
                      <a:srgbClr val="333333"/>
                    </a:solidFill>
                    <a:latin typeface="+mn-lt"/>
                    <a:ea typeface="+mn-ea"/>
                    <a:cs typeface="+mn-cs"/>
                  </a:rPr>
                  <a:t>智​</a:t>
                </a:r>
                <a:br/>
                <a:r>
                  <a:rPr lang="zh-CN" sz="860" dirty="0">
                    <a:solidFill>
                      <a:srgbClr val="333333"/>
                    </a:solidFill>
                    <a:latin typeface="+mn-lt"/>
                    <a:ea typeface="+mn-ea"/>
                    <a:cs typeface="+mn-cs"/>
                  </a:rPr>
                  <a:t>能​</a:t>
                </a:r>
                <a:br/>
                <a:r>
                  <a:rPr lang="zh-CN" sz="860" dirty="0">
                    <a:solidFill>
                      <a:srgbClr val="333333"/>
                    </a:solidFill>
                    <a:latin typeface="+mn-lt"/>
                    <a:ea typeface="+mn-ea"/>
                    <a:cs typeface="+mn-cs"/>
                  </a:rPr>
                  <a:t>推​</a:t>
                </a:r>
                <a:br/>
                <a:r>
                  <a:rPr lang="zh-CN" sz="860" dirty="0">
                    <a:solidFill>
                      <a:srgbClr val="333333"/>
                    </a:solidFill>
                    <a:latin typeface="+mn-lt"/>
                    <a:ea typeface="+mn-ea"/>
                    <a:cs typeface="+mn-cs"/>
                  </a:rPr>
                  <a:t>送​</a:t>
                </a:r>
                <a:br/>
                <a:r>
                  <a:rPr lang="zh-CN" sz="860" dirty="0">
                    <a:solidFill>
                      <a:srgbClr val="333333"/>
                    </a:solidFill>
                    <a:latin typeface="+mn-lt"/>
                    <a:ea typeface="+mn-ea"/>
                    <a:cs typeface="+mn-cs"/>
                  </a:rPr>
                  <a:t>引​</a:t>
                </a:r>
                <a:br/>
                <a:r>
                  <a:rPr lang="zh-CN" sz="860" dirty="0">
                    <a:solidFill>
                      <a:srgbClr val="333333"/>
                    </a:solidFill>
                    <a:latin typeface="+mn-lt"/>
                    <a:ea typeface="+mn-ea"/>
                    <a:cs typeface="+mn-cs"/>
                  </a:rPr>
                  <a:t>擎​</a:t>
                </a:r>
              </a:p>
            </p:txBody>
          </p:sp>
          <p:sp>
            <p:nvSpPr>
              <p:cNvPr id="70" name="Line 70"/>
              <p:cNvSpPr/>
              <p:nvPr/>
            </p:nvSpPr>
            <p:spPr>
              <a:xfrm>
                <a:off x="5334000" y="3048000"/>
                <a:ext cx="85725" cy="1"/>
              </a:xfrm>
              <a:prstGeom prst="line">
                <a:avLst/>
              </a:prstGeom>
              <a:noFill/>
              <a:ln w="9525">
                <a:solidFill>
                  <a:srgbClr val="F1917D"/>
                </a:solidFill>
                <a:tailEnd type="triangle" w="lg" len="lg"/>
              </a:ln>
            </p:spPr>
          </p:sp>
          <p:sp>
            <p:nvSpPr>
              <p:cNvPr id="71" name="Line 71"/>
              <p:cNvSpPr/>
              <p:nvPr/>
            </p:nvSpPr>
            <p:spPr>
              <a:xfrm>
                <a:off x="5734050" y="3048000"/>
                <a:ext cx="85725" cy="1"/>
              </a:xfrm>
              <a:prstGeom prst="line">
                <a:avLst/>
              </a:prstGeom>
              <a:noFill/>
              <a:ln w="9525">
                <a:solidFill>
                  <a:srgbClr val="F1917D"/>
                </a:solidFill>
                <a:tailEnd type="triangle" w="lg" len="lg"/>
              </a:ln>
            </p:spPr>
          </p:sp>
          <p:sp>
            <p:nvSpPr>
              <p:cNvPr id="72" name="Line 72"/>
              <p:cNvSpPr/>
              <p:nvPr/>
            </p:nvSpPr>
            <p:spPr>
              <a:xfrm>
                <a:off x="6134100" y="3048000"/>
                <a:ext cx="85725" cy="1"/>
              </a:xfrm>
              <a:prstGeom prst="line">
                <a:avLst/>
              </a:prstGeom>
              <a:noFill/>
              <a:ln w="9525">
                <a:solidFill>
                  <a:srgbClr val="F1917D"/>
                </a:solidFill>
                <a:tailEnd type="triangle" w="lg" len="lg"/>
              </a:ln>
            </p:spPr>
          </p:sp>
        </p:grpSp>
        <p:grpSp>
          <p:nvGrpSpPr>
            <p:cNvPr id="86" name="col-benefit"/>
            <p:cNvGrpSpPr/>
            <p:nvPr/>
          </p:nvGrpSpPr>
          <p:grpSpPr>
            <a:xfrm>
              <a:off x="6934200" y="2394347"/>
              <a:ext cx="1771650" cy="1272778"/>
              <a:chOff x="6934200" y="2394347"/>
              <a:chExt cx="1771650" cy="1272778"/>
            </a:xfrm>
          </p:grpSpPr>
          <p:sp>
            <p:nvSpPr>
              <p:cNvPr id="74" name="TextBox 74"/>
              <p:cNvSpPr txBox="1"/>
              <p:nvPr/>
            </p:nvSpPr>
            <p:spPr>
              <a:xfrm>
                <a:off x="7394816" y="2394347"/>
                <a:ext cx="1021867" cy="183356"/>
              </a:xfrm>
              <a:prstGeom prst="rect">
                <a:avLst/>
              </a:prstGeom>
              <a:noFill/>
              <a:ln>
                <a:noFill/>
              </a:ln>
            </p:spPr>
            <p:txBody>
              <a:bodyPr wrap="none" lIns="0" tIns="0" rIns="0" bIns="0" anchor="t" anchorCtr="0">
                <a:spAutoFit/>
              </a:bodyPr>
              <a:lstStyle/>
              <a:p>
                <a:pPr algn="ctr"/>
                <a:r>
                  <a:rPr lang="zh-CN" sz="940" dirty="0">
                    <a:solidFill>
                      <a:srgbClr val="333333"/>
                    </a:solidFill>
                    <a:latin typeface="+mn-lt"/>
                    <a:ea typeface="+mn-ea"/>
                    <a:cs typeface="+mn-cs"/>
                  </a:rPr>
                  <a:t>权益智能调度引擎</a:t>
                </a:r>
              </a:p>
            </p:txBody>
          </p:sp>
          <p:sp>
            <p:nvSpPr>
              <p:cNvPr id="75" name="Freeform 75"/>
              <p:cNvSpPr/>
              <p:nvPr/>
            </p:nvSpPr>
            <p:spPr>
              <a:xfrm>
                <a:off x="7353300" y="2552700"/>
                <a:ext cx="933450" cy="114300"/>
              </a:xfrm>
              <a:custGeom>
                <a:avLst/>
                <a:gdLst/>
                <a:ahLst/>
                <a:cxnLst/>
                <a:rect l="l" t="t" r="r" b="b"/>
                <a:pathLst>
                  <a:path w="933450" h="114300">
                    <a:moveTo>
                      <a:pt x="552450" y="0"/>
                    </a:moveTo>
                    <a:lnTo>
                      <a:pt x="552450" y="114300"/>
                    </a:lnTo>
                    <a:moveTo>
                      <a:pt x="0" y="114300"/>
                    </a:moveTo>
                    <a:lnTo>
                      <a:pt x="933450" y="114300"/>
                    </a:lnTo>
                  </a:path>
                </a:pathLst>
              </a:custGeom>
              <a:noFill/>
              <a:ln w="9525">
                <a:solidFill>
                  <a:srgbClr val="F1917D"/>
                </a:solidFill>
              </a:ln>
            </p:spPr>
          </p:sp>
          <p:sp>
            <p:nvSpPr>
              <p:cNvPr id="76" name="Line 76"/>
              <p:cNvSpPr/>
              <p:nvPr/>
            </p:nvSpPr>
            <p:spPr>
              <a:xfrm>
                <a:off x="7353300" y="2667000"/>
                <a:ext cx="1" cy="76200"/>
              </a:xfrm>
              <a:prstGeom prst="line">
                <a:avLst/>
              </a:prstGeom>
              <a:noFill/>
              <a:ln w="9525">
                <a:solidFill>
                  <a:srgbClr val="F1917D"/>
                </a:solidFill>
                <a:tailEnd type="triangle" w="lg" len="lg"/>
              </a:ln>
            </p:spPr>
          </p:sp>
          <p:sp>
            <p:nvSpPr>
              <p:cNvPr id="77" name="Line 77"/>
              <p:cNvSpPr/>
              <p:nvPr/>
            </p:nvSpPr>
            <p:spPr>
              <a:xfrm>
                <a:off x="8286750" y="2667000"/>
                <a:ext cx="1" cy="76200"/>
              </a:xfrm>
              <a:prstGeom prst="line">
                <a:avLst/>
              </a:prstGeom>
              <a:noFill/>
              <a:ln w="9525">
                <a:solidFill>
                  <a:srgbClr val="F1917D"/>
                </a:solidFill>
                <a:tailEnd type="triangle" w="lg" len="lg"/>
              </a:ln>
            </p:spPr>
          </p:sp>
          <p:sp>
            <p:nvSpPr>
              <p:cNvPr id="78" name="Rectangle 78"/>
              <p:cNvSpPr/>
              <p:nvPr/>
            </p:nvSpPr>
            <p:spPr>
              <a:xfrm>
                <a:off x="6934200" y="2762250"/>
                <a:ext cx="838200" cy="381000"/>
              </a:xfrm>
              <a:prstGeom prst="rect">
                <a:avLst/>
              </a:prstGeom>
              <a:solidFill>
                <a:srgbClr val="FFFFFF"/>
              </a:solidFill>
              <a:ln w="9525">
                <a:solidFill>
                  <a:srgbClr val="D4E2FA"/>
                </a:solidFill>
              </a:ln>
            </p:spPr>
          </p:sp>
          <p:sp>
            <p:nvSpPr>
              <p:cNvPr id="79" name="TextBox 79"/>
              <p:cNvSpPr txBox="1"/>
              <p:nvPr/>
            </p:nvSpPr>
            <p:spPr>
              <a:xfrm>
                <a:off x="7059549" y="2825591"/>
                <a:ext cx="587502"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333333"/>
                    </a:solidFill>
                    <a:latin typeface="+mn-lt"/>
                    <a:ea typeface="+mn-ea"/>
                    <a:cs typeface="+mn-cs"/>
                  </a:rPr>
                  <a:t>自动识别客​</a:t>
                </a:r>
                <a:br/>
                <a:r>
                  <a:rPr lang="zh-CN" sz="820" dirty="0">
                    <a:solidFill>
                      <a:srgbClr val="333333"/>
                    </a:solidFill>
                    <a:latin typeface="+mn-lt"/>
                    <a:ea typeface="+mn-ea"/>
                    <a:cs typeface="+mn-cs"/>
                  </a:rPr>
                  <a:t>户信息</a:t>
                </a:r>
              </a:p>
            </p:txBody>
          </p:sp>
          <p:sp>
            <p:nvSpPr>
              <p:cNvPr id="80" name="Rectangle 80"/>
              <p:cNvSpPr/>
              <p:nvPr/>
            </p:nvSpPr>
            <p:spPr>
              <a:xfrm>
                <a:off x="7867650" y="2762250"/>
                <a:ext cx="838200" cy="381000"/>
              </a:xfrm>
              <a:prstGeom prst="rect">
                <a:avLst/>
              </a:prstGeom>
              <a:solidFill>
                <a:srgbClr val="FFFFFF"/>
              </a:solidFill>
              <a:ln w="9525">
                <a:solidFill>
                  <a:srgbClr val="D4E2FA"/>
                </a:solidFill>
              </a:ln>
            </p:spPr>
          </p:sp>
          <p:sp>
            <p:nvSpPr>
              <p:cNvPr id="81" name="TextBox 81"/>
              <p:cNvSpPr txBox="1"/>
              <p:nvPr/>
            </p:nvSpPr>
            <p:spPr>
              <a:xfrm>
                <a:off x="7992999" y="2825591"/>
                <a:ext cx="587502"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333333"/>
                    </a:solidFill>
                    <a:latin typeface="+mn-lt"/>
                    <a:ea typeface="+mn-ea"/>
                    <a:cs typeface="+mn-cs"/>
                  </a:rPr>
                  <a:t>自动匹配权​</a:t>
                </a:r>
                <a:br/>
                <a:r>
                  <a:rPr lang="zh-CN" sz="820" dirty="0">
                    <a:solidFill>
                      <a:srgbClr val="333333"/>
                    </a:solidFill>
                    <a:latin typeface="+mn-lt"/>
                    <a:ea typeface="+mn-ea"/>
                    <a:cs typeface="+mn-cs"/>
                  </a:rPr>
                  <a:t>益类型</a:t>
                </a:r>
              </a:p>
            </p:txBody>
          </p:sp>
          <p:sp>
            <p:nvSpPr>
              <p:cNvPr id="82" name="Rectangle 82"/>
              <p:cNvSpPr/>
              <p:nvPr/>
            </p:nvSpPr>
            <p:spPr>
              <a:xfrm>
                <a:off x="6934200" y="3286125"/>
                <a:ext cx="838200" cy="381000"/>
              </a:xfrm>
              <a:prstGeom prst="rect">
                <a:avLst/>
              </a:prstGeom>
              <a:solidFill>
                <a:srgbClr val="FFFFFF"/>
              </a:solidFill>
              <a:ln w="9525">
                <a:solidFill>
                  <a:srgbClr val="D4E2FA"/>
                </a:solidFill>
              </a:ln>
            </p:spPr>
          </p:sp>
          <p:sp>
            <p:nvSpPr>
              <p:cNvPr id="83" name="TextBox 83"/>
              <p:cNvSpPr txBox="1"/>
              <p:nvPr/>
            </p:nvSpPr>
            <p:spPr>
              <a:xfrm>
                <a:off x="7059549" y="3349466"/>
                <a:ext cx="587502"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333333"/>
                    </a:solidFill>
                    <a:latin typeface="+mn-lt"/>
                    <a:ea typeface="+mn-ea"/>
                    <a:cs typeface="+mn-cs"/>
                  </a:rPr>
                  <a:t>自动适配使​</a:t>
                </a:r>
                <a:br/>
                <a:r>
                  <a:rPr lang="zh-CN" sz="820" dirty="0">
                    <a:solidFill>
                      <a:srgbClr val="333333"/>
                    </a:solidFill>
                    <a:latin typeface="+mn-lt"/>
                    <a:ea typeface="+mn-ea"/>
                    <a:cs typeface="+mn-cs"/>
                  </a:rPr>
                  <a:t>用门款</a:t>
                </a:r>
              </a:p>
            </p:txBody>
          </p:sp>
          <p:sp>
            <p:nvSpPr>
              <p:cNvPr id="84" name="Rectangle 84"/>
              <p:cNvSpPr/>
              <p:nvPr/>
            </p:nvSpPr>
            <p:spPr>
              <a:xfrm>
                <a:off x="7867650" y="3286125"/>
                <a:ext cx="838200" cy="381000"/>
              </a:xfrm>
              <a:prstGeom prst="rect">
                <a:avLst/>
              </a:prstGeom>
              <a:solidFill>
                <a:srgbClr val="FFFFFF"/>
              </a:solidFill>
              <a:ln w="9525">
                <a:solidFill>
                  <a:srgbClr val="D4E2FA"/>
                </a:solidFill>
              </a:ln>
            </p:spPr>
          </p:sp>
          <p:sp>
            <p:nvSpPr>
              <p:cNvPr id="85" name="TextBox 85"/>
              <p:cNvSpPr txBox="1"/>
              <p:nvPr/>
            </p:nvSpPr>
            <p:spPr>
              <a:xfrm>
                <a:off x="7992999" y="3349466"/>
                <a:ext cx="587502"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333333"/>
                    </a:solidFill>
                    <a:latin typeface="+mn-lt"/>
                    <a:ea typeface="+mn-ea"/>
                    <a:cs typeface="+mn-cs"/>
                  </a:rPr>
                  <a:t>自动适配使​</a:t>
                </a:r>
                <a:br/>
                <a:r>
                  <a:rPr lang="zh-CN" sz="820" dirty="0">
                    <a:solidFill>
                      <a:srgbClr val="333333"/>
                    </a:solidFill>
                    <a:latin typeface="+mn-lt"/>
                    <a:ea typeface="+mn-ea"/>
                    <a:cs typeface="+mn-cs"/>
                  </a:rPr>
                  <a:t>用场景</a:t>
                </a:r>
              </a:p>
            </p:txBody>
          </p:sp>
        </p:grpSp>
        <p:grpSp>
          <p:nvGrpSpPr>
            <p:cNvPr id="100" name="col-channel"/>
            <p:cNvGrpSpPr/>
            <p:nvPr/>
          </p:nvGrpSpPr>
          <p:grpSpPr>
            <a:xfrm>
              <a:off x="9239250" y="2286000"/>
              <a:ext cx="2286000" cy="1552337"/>
              <a:chOff x="9239250" y="2286000"/>
              <a:chExt cx="2286000" cy="1552337"/>
            </a:xfrm>
          </p:grpSpPr>
          <p:sp>
            <p:nvSpPr>
              <p:cNvPr id="87" name="Freeform 87"/>
              <p:cNvSpPr/>
              <p:nvPr/>
            </p:nvSpPr>
            <p:spPr>
              <a:xfrm>
                <a:off x="9239250" y="2381250"/>
                <a:ext cx="209550" cy="1409700"/>
              </a:xfrm>
              <a:custGeom>
                <a:avLst/>
                <a:gdLst/>
                <a:ahLst/>
                <a:cxnLst/>
                <a:rect l="l" t="t" r="r" b="b"/>
                <a:pathLst>
                  <a:path w="209550" h="1409700">
                    <a:moveTo>
                      <a:pt x="209550" y="0"/>
                    </a:moveTo>
                    <a:cubicBezTo>
                      <a:pt x="0" y="476250"/>
                      <a:pt x="0" y="1143000"/>
                      <a:pt x="209550" y="1409700"/>
                    </a:cubicBezTo>
                  </a:path>
                </a:pathLst>
              </a:custGeom>
              <a:noFill/>
              <a:ln w="14288">
                <a:solidFill>
                  <a:srgbClr val="F1917D"/>
                </a:solidFill>
                <a:tailEnd type="triangle" w="lg" len="lg"/>
              </a:ln>
            </p:spPr>
          </p:sp>
          <p:sp>
            <p:nvSpPr>
              <p:cNvPr id="88" name="Rectangle 88"/>
              <p:cNvSpPr/>
              <p:nvPr/>
            </p:nvSpPr>
            <p:spPr>
              <a:xfrm>
                <a:off x="9620250" y="2286000"/>
                <a:ext cx="1905000" cy="209550"/>
              </a:xfrm>
              <a:prstGeom prst="rect">
                <a:avLst/>
              </a:prstGeom>
              <a:solidFill>
                <a:srgbClr val="FFFFFF"/>
              </a:solidFill>
              <a:ln w="9525">
                <a:solidFill>
                  <a:srgbClr val="D4E2FA"/>
                </a:solidFill>
              </a:ln>
            </p:spPr>
          </p:sp>
          <p:sp>
            <p:nvSpPr>
              <p:cNvPr id="89" name="TextBox 89"/>
              <p:cNvSpPr txBox="1"/>
              <p:nvPr/>
            </p:nvSpPr>
            <p:spPr>
              <a:xfrm>
                <a:off x="10220668" y="233576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触达策略输出</a:t>
                </a:r>
              </a:p>
            </p:txBody>
          </p:sp>
          <p:sp>
            <p:nvSpPr>
              <p:cNvPr id="90" name="Rectangle 90"/>
              <p:cNvSpPr/>
              <p:nvPr/>
            </p:nvSpPr>
            <p:spPr>
              <a:xfrm>
                <a:off x="9620250" y="2552700"/>
                <a:ext cx="1905000" cy="209550"/>
              </a:xfrm>
              <a:prstGeom prst="rect">
                <a:avLst/>
              </a:prstGeom>
              <a:solidFill>
                <a:srgbClr val="FFFFFF"/>
              </a:solidFill>
              <a:ln w="9525">
                <a:solidFill>
                  <a:srgbClr val="D4E2FA"/>
                </a:solidFill>
              </a:ln>
            </p:spPr>
          </p:sp>
          <p:sp>
            <p:nvSpPr>
              <p:cNvPr id="91" name="TextBox 91"/>
              <p:cNvSpPr txBox="1"/>
              <p:nvPr/>
            </p:nvSpPr>
            <p:spPr>
              <a:xfrm>
                <a:off x="10220668" y="260246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长尾数据准备</a:t>
                </a:r>
              </a:p>
            </p:txBody>
          </p:sp>
          <p:sp>
            <p:nvSpPr>
              <p:cNvPr id="92" name="Rectangle 92"/>
              <p:cNvSpPr/>
              <p:nvPr/>
            </p:nvSpPr>
            <p:spPr>
              <a:xfrm>
                <a:off x="9620250" y="2819400"/>
                <a:ext cx="1905000" cy="209550"/>
              </a:xfrm>
              <a:prstGeom prst="rect">
                <a:avLst/>
              </a:prstGeom>
              <a:solidFill>
                <a:srgbClr val="FFFFFF"/>
              </a:solidFill>
              <a:ln w="9525">
                <a:solidFill>
                  <a:srgbClr val="D4E2FA"/>
                </a:solidFill>
              </a:ln>
            </p:spPr>
          </p:sp>
          <p:sp>
            <p:nvSpPr>
              <p:cNvPr id="93" name="TextBox 93"/>
              <p:cNvSpPr txBox="1"/>
              <p:nvPr/>
            </p:nvSpPr>
            <p:spPr>
              <a:xfrm>
                <a:off x="10220668" y="286916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触发条件配置</a:t>
                </a:r>
              </a:p>
            </p:txBody>
          </p:sp>
          <p:sp>
            <p:nvSpPr>
              <p:cNvPr id="94" name="Rectangle 94"/>
              <p:cNvSpPr/>
              <p:nvPr/>
            </p:nvSpPr>
            <p:spPr>
              <a:xfrm>
                <a:off x="9620250" y="3086100"/>
                <a:ext cx="1905000" cy="209550"/>
              </a:xfrm>
              <a:prstGeom prst="rect">
                <a:avLst/>
              </a:prstGeom>
              <a:solidFill>
                <a:srgbClr val="FFFFFF"/>
              </a:solidFill>
              <a:ln w="9525">
                <a:solidFill>
                  <a:srgbClr val="D4E2FA"/>
                </a:solidFill>
              </a:ln>
            </p:spPr>
          </p:sp>
          <p:sp>
            <p:nvSpPr>
              <p:cNvPr id="95" name="TextBox 95"/>
              <p:cNvSpPr txBox="1"/>
              <p:nvPr/>
            </p:nvSpPr>
            <p:spPr>
              <a:xfrm>
                <a:off x="10220668" y="313586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触达渠道适配</a:t>
                </a:r>
              </a:p>
            </p:txBody>
          </p:sp>
          <p:sp>
            <p:nvSpPr>
              <p:cNvPr id="96" name="Rectangle 96"/>
              <p:cNvSpPr/>
              <p:nvPr/>
            </p:nvSpPr>
            <p:spPr>
              <a:xfrm>
                <a:off x="9620250" y="3352800"/>
                <a:ext cx="1905000" cy="209550"/>
              </a:xfrm>
              <a:prstGeom prst="rect">
                <a:avLst/>
              </a:prstGeom>
              <a:solidFill>
                <a:srgbClr val="FFFFFF"/>
              </a:solidFill>
              <a:ln w="9525">
                <a:solidFill>
                  <a:srgbClr val="D4E2FA"/>
                </a:solidFill>
              </a:ln>
            </p:spPr>
          </p:sp>
          <p:sp>
            <p:nvSpPr>
              <p:cNvPr id="97" name="TextBox 97"/>
              <p:cNvSpPr txBox="1"/>
              <p:nvPr/>
            </p:nvSpPr>
            <p:spPr>
              <a:xfrm>
                <a:off x="10220668" y="340256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触达效果追踪</a:t>
                </a:r>
              </a:p>
            </p:txBody>
          </p:sp>
          <p:sp>
            <p:nvSpPr>
              <p:cNvPr id="98" name="Rectangle 98"/>
              <p:cNvSpPr/>
              <p:nvPr/>
            </p:nvSpPr>
            <p:spPr>
              <a:xfrm>
                <a:off x="9620250" y="3619500"/>
                <a:ext cx="1905000" cy="209550"/>
              </a:xfrm>
              <a:prstGeom prst="rect">
                <a:avLst/>
              </a:prstGeom>
              <a:solidFill>
                <a:srgbClr val="FFFFFF"/>
              </a:solidFill>
              <a:ln w="9525">
                <a:solidFill>
                  <a:srgbClr val="D4E2FA"/>
                </a:solidFill>
              </a:ln>
            </p:spPr>
          </p:sp>
          <p:sp>
            <p:nvSpPr>
              <p:cNvPr id="99" name="TextBox 99"/>
              <p:cNvSpPr txBox="1"/>
              <p:nvPr/>
            </p:nvSpPr>
            <p:spPr>
              <a:xfrm>
                <a:off x="10220668" y="366926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策略优化迭代</a:t>
                </a:r>
              </a:p>
            </p:txBody>
          </p:sp>
        </p:grpSp>
      </p:grpSp>
      <p:grpSp>
        <p:nvGrpSpPr>
          <p:cNvPr id="130" name="pillar-org"/>
          <p:cNvGrpSpPr/>
          <p:nvPr/>
        </p:nvGrpSpPr>
        <p:grpSpPr>
          <a:xfrm>
            <a:off x="381000" y="4457700"/>
            <a:ext cx="11430000" cy="1847850"/>
            <a:chOff x="381000" y="4457700"/>
            <a:chExt cx="11430000" cy="1847850"/>
          </a:xfrm>
        </p:grpSpPr>
        <p:sp>
          <p:nvSpPr>
            <p:cNvPr id="102" name="Rectangle 102"/>
            <p:cNvSpPr/>
            <p:nvPr/>
          </p:nvSpPr>
          <p:spPr>
            <a:xfrm>
              <a:off x="381000" y="4457700"/>
              <a:ext cx="476250" cy="1847850"/>
            </a:xfrm>
            <a:prstGeom prst="roundRect">
              <a:avLst>
                <a:gd name="adj" fmla="val 12000"/>
              </a:avLst>
            </a:prstGeom>
            <a:solidFill>
              <a:srgbClr val="E74726"/>
            </a:solidFill>
            <a:ln>
              <a:noFill/>
            </a:ln>
          </p:spPr>
        </p:sp>
        <p:sp>
          <p:nvSpPr>
            <p:cNvPr id="103" name="TextBox 103"/>
            <p:cNvSpPr txBox="1"/>
            <p:nvPr/>
          </p:nvSpPr>
          <p:spPr>
            <a:xfrm>
              <a:off x="477036" y="5035868"/>
              <a:ext cx="284178" cy="1006983"/>
            </a:xfrm>
            <a:prstGeom prst="rect">
              <a:avLst/>
            </a:prstGeom>
            <a:noFill/>
            <a:ln>
              <a:noFill/>
            </a:ln>
          </p:spPr>
          <p:txBody>
            <a:bodyPr wrap="none" lIns="0" tIns="0" rIns="0" bIns="0" anchor="t" anchorCtr="0">
              <a:spAutoFit/>
            </a:bodyPr>
            <a:lstStyle/>
            <a:p>
              <a:pPr algn="ctr">
                <a:lnSpc>
                  <a:spcPts val="1950"/>
                </a:lnSpc>
              </a:pPr>
              <a:r>
                <a:rPr lang="zh-CN" sz="1350" b="1" dirty="0">
                  <a:solidFill>
                    <a:srgbClr val="FFFFFF"/>
                  </a:solidFill>
                  <a:latin typeface="+mn-lt"/>
                  <a:ea typeface="+mn-ea"/>
                  <a:cs typeface="+mn-cs"/>
                </a:rPr>
                <a:t>组​</a:t>
              </a:r>
              <a:br/>
              <a:r>
                <a:rPr lang="zh-CN" sz="1350" b="1" dirty="0">
                  <a:solidFill>
                    <a:srgbClr val="FFFFFF"/>
                  </a:solidFill>
                  <a:latin typeface="+mn-lt"/>
                  <a:ea typeface="+mn-ea"/>
                  <a:cs typeface="+mn-cs"/>
                </a:rPr>
                <a:t>织​</a:t>
              </a:r>
              <a:br/>
              <a:r>
                <a:rPr lang="zh-CN" sz="1350" b="1" dirty="0">
                  <a:solidFill>
                    <a:srgbClr val="FFFFFF"/>
                  </a:solidFill>
                  <a:latin typeface="+mn-lt"/>
                  <a:ea typeface="+mn-ea"/>
                  <a:cs typeface="+mn-cs"/>
                </a:rPr>
                <a:t>人​</a:t>
              </a:r>
              <a:br/>
              <a:r>
                <a:rPr lang="zh-CN" sz="1350" b="1" dirty="0">
                  <a:solidFill>
                    <a:srgbClr val="FFFFFF"/>
                  </a:solidFill>
                  <a:latin typeface="+mn-lt"/>
                  <a:ea typeface="+mn-ea"/>
                  <a:cs typeface="+mn-cs"/>
                </a:rPr>
                <a:t>员​</a:t>
              </a:r>
            </a:p>
          </p:txBody>
        </p:sp>
        <p:sp>
          <p:nvSpPr>
            <p:cNvPr id="104" name="Rectangle 104"/>
            <p:cNvSpPr/>
            <p:nvPr/>
          </p:nvSpPr>
          <p:spPr>
            <a:xfrm>
              <a:off x="952500" y="4457700"/>
              <a:ext cx="10858500" cy="1847850"/>
            </a:xfrm>
            <a:prstGeom prst="roundRect">
              <a:avLst>
                <a:gd name="adj" fmla="val 4124"/>
              </a:avLst>
            </a:prstGeom>
            <a:solidFill>
              <a:srgbClr val="F7FAFF"/>
            </a:solidFill>
            <a:ln w="14288">
              <a:solidFill>
                <a:srgbClr val="D4E2FA"/>
              </a:solidFill>
            </a:ln>
          </p:spPr>
        </p:sp>
        <p:sp>
          <p:nvSpPr>
            <p:cNvPr id="105" name="Ellipse 105"/>
            <p:cNvSpPr/>
            <p:nvPr/>
          </p:nvSpPr>
          <p:spPr>
            <a:xfrm>
              <a:off x="1119188" y="4624388"/>
              <a:ext cx="47625" cy="47625"/>
            </a:xfrm>
            <a:prstGeom prst="ellipse">
              <a:avLst/>
            </a:prstGeom>
            <a:solidFill>
              <a:srgbClr val="333333"/>
            </a:solidFill>
            <a:ln>
              <a:noFill/>
            </a:ln>
          </p:spPr>
        </p:sp>
        <p:sp>
          <p:nvSpPr>
            <p:cNvPr id="106" name="TextBox 106"/>
            <p:cNvSpPr txBox="1"/>
            <p:nvPr/>
          </p:nvSpPr>
          <p:spPr>
            <a:xfrm>
              <a:off x="1281112" y="4585097"/>
              <a:ext cx="7488204"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建立长尾客户直营团队，下设运营策略、活动运营、渠道触达、风控合规四大核心工作组，全方位保障长尾运营工作落地执行效果。​​</a:t>
              </a:r>
            </a:p>
          </p:txBody>
        </p:sp>
        <p:sp>
          <p:nvSpPr>
            <p:cNvPr id="107" name="Rectangle 107"/>
            <p:cNvSpPr/>
            <p:nvPr/>
          </p:nvSpPr>
          <p:spPr>
            <a:xfrm>
              <a:off x="4762500" y="4810125"/>
              <a:ext cx="2667000" cy="285750"/>
            </a:xfrm>
            <a:prstGeom prst="rect">
              <a:avLst/>
            </a:prstGeom>
            <a:solidFill>
              <a:srgbClr val="D4E2FA"/>
            </a:solidFill>
            <a:ln>
              <a:noFill/>
            </a:ln>
          </p:spPr>
        </p:sp>
        <p:sp>
          <p:nvSpPr>
            <p:cNvPr id="108" name="TextBox 108"/>
            <p:cNvSpPr txBox="1"/>
            <p:nvPr/>
          </p:nvSpPr>
          <p:spPr>
            <a:xfrm>
              <a:off x="5563337" y="4895374"/>
              <a:ext cx="1065327" cy="190690"/>
            </a:xfrm>
            <a:prstGeom prst="rect">
              <a:avLst/>
            </a:prstGeom>
            <a:noFill/>
            <a:ln>
              <a:noFill/>
            </a:ln>
          </p:spPr>
          <p:txBody>
            <a:bodyPr wrap="none" lIns="0" tIns="0" rIns="0" bIns="0" anchor="t" anchorCtr="0">
              <a:spAutoFit/>
            </a:bodyPr>
            <a:lstStyle/>
            <a:p>
              <a:pPr algn="ctr"/>
              <a:r>
                <a:rPr lang="zh-CN" sz="980" dirty="0">
                  <a:solidFill>
                    <a:srgbClr val="E74726"/>
                  </a:solidFill>
                  <a:latin typeface="+mn-lt"/>
                  <a:ea typeface="+mn-ea"/>
                  <a:cs typeface="+mn-cs"/>
                </a:rPr>
                <a:t>长尾客户直营团队</a:t>
              </a:r>
            </a:p>
          </p:txBody>
        </p:sp>
        <p:sp>
          <p:nvSpPr>
            <p:cNvPr id="109" name="Freeform 109"/>
            <p:cNvSpPr/>
            <p:nvPr/>
          </p:nvSpPr>
          <p:spPr>
            <a:xfrm>
              <a:off x="2238375" y="5095875"/>
              <a:ext cx="7715250" cy="190500"/>
            </a:xfrm>
            <a:custGeom>
              <a:avLst/>
              <a:gdLst/>
              <a:ahLst/>
              <a:cxnLst/>
              <a:rect l="l" t="t" r="r" b="b"/>
              <a:pathLst>
                <a:path w="7715250" h="190500">
                  <a:moveTo>
                    <a:pt x="3857625" y="0"/>
                  </a:moveTo>
                  <a:lnTo>
                    <a:pt x="3857625" y="114300"/>
                  </a:lnTo>
                  <a:moveTo>
                    <a:pt x="0" y="114300"/>
                  </a:moveTo>
                  <a:lnTo>
                    <a:pt x="7715250" y="114300"/>
                  </a:lnTo>
                  <a:moveTo>
                    <a:pt x="0" y="114300"/>
                  </a:moveTo>
                  <a:lnTo>
                    <a:pt x="0" y="190500"/>
                  </a:lnTo>
                  <a:moveTo>
                    <a:pt x="2571750" y="114300"/>
                  </a:moveTo>
                  <a:lnTo>
                    <a:pt x="2571750" y="190500"/>
                  </a:lnTo>
                  <a:moveTo>
                    <a:pt x="5143500" y="114300"/>
                  </a:moveTo>
                  <a:lnTo>
                    <a:pt x="5143500" y="190500"/>
                  </a:lnTo>
                  <a:moveTo>
                    <a:pt x="7715250" y="114300"/>
                  </a:moveTo>
                  <a:lnTo>
                    <a:pt x="7715250" y="190500"/>
                  </a:lnTo>
                </a:path>
              </a:pathLst>
            </a:custGeom>
            <a:noFill/>
            <a:ln w="9525">
              <a:solidFill>
                <a:srgbClr val="F1917D"/>
              </a:solidFill>
            </a:ln>
          </p:spPr>
        </p:sp>
        <p:grpSp>
          <p:nvGrpSpPr>
            <p:cNvPr id="114" name="team-strategy"/>
            <p:cNvGrpSpPr/>
            <p:nvPr/>
          </p:nvGrpSpPr>
          <p:grpSpPr>
            <a:xfrm>
              <a:off x="1047750" y="5286375"/>
              <a:ext cx="2381250" cy="838200"/>
              <a:chOff x="1047750" y="5286375"/>
              <a:chExt cx="2381250" cy="838200"/>
            </a:xfrm>
          </p:grpSpPr>
          <p:sp>
            <p:nvSpPr>
              <p:cNvPr id="110" name="Rectangle 110"/>
              <p:cNvSpPr/>
              <p:nvPr/>
            </p:nvSpPr>
            <p:spPr>
              <a:xfrm>
                <a:off x="1047750" y="5286375"/>
                <a:ext cx="2381250" cy="247650"/>
              </a:xfrm>
              <a:prstGeom prst="rect">
                <a:avLst/>
              </a:prstGeom>
              <a:solidFill>
                <a:srgbClr val="D4E2FA"/>
              </a:solidFill>
              <a:ln>
                <a:noFill/>
              </a:ln>
            </p:spPr>
          </p:sp>
          <p:sp>
            <p:nvSpPr>
              <p:cNvPr id="111" name="TextBox 111"/>
              <p:cNvSpPr txBox="1"/>
              <p:nvPr/>
            </p:nvSpPr>
            <p:spPr>
              <a:xfrm>
                <a:off x="1755913" y="5356622"/>
                <a:ext cx="964923" cy="183356"/>
              </a:xfrm>
              <a:prstGeom prst="rect">
                <a:avLst/>
              </a:prstGeom>
              <a:noFill/>
              <a:ln>
                <a:noFill/>
              </a:ln>
            </p:spPr>
            <p:txBody>
              <a:bodyPr wrap="none" lIns="0" tIns="0" rIns="0" bIns="0" anchor="t" anchorCtr="0">
                <a:spAutoFit/>
              </a:bodyPr>
              <a:lstStyle/>
              <a:p>
                <a:pPr algn="ctr"/>
                <a:r>
                  <a:rPr lang="zh-CN" sz="940" dirty="0">
                    <a:solidFill>
                      <a:srgbClr val="E74726"/>
                    </a:solidFill>
                    <a:latin typeface="+mn-lt"/>
                    <a:ea typeface="+mn-ea"/>
                    <a:cs typeface="+mn-cs"/>
                  </a:rPr>
                  <a:t>运营策略岗/小组</a:t>
                </a:r>
              </a:p>
            </p:txBody>
          </p:sp>
          <p:sp>
            <p:nvSpPr>
              <p:cNvPr id="112" name="Rectangle 112"/>
              <p:cNvSpPr/>
              <p:nvPr/>
            </p:nvSpPr>
            <p:spPr>
              <a:xfrm>
                <a:off x="1047750" y="5534025"/>
                <a:ext cx="2381250" cy="590550"/>
              </a:xfrm>
              <a:prstGeom prst="rect">
                <a:avLst/>
              </a:prstGeom>
              <a:solidFill>
                <a:srgbClr val="FFFFFF"/>
              </a:solidFill>
              <a:ln w="9525">
                <a:solidFill>
                  <a:srgbClr val="D4E2FA"/>
                </a:solidFill>
              </a:ln>
            </p:spPr>
          </p:sp>
          <p:sp>
            <p:nvSpPr>
              <p:cNvPr id="113" name="TextBox 113"/>
              <p:cNvSpPr txBox="1"/>
              <p:nvPr/>
            </p:nvSpPr>
            <p:spPr>
              <a:xfrm>
                <a:off x="1157288" y="5659993"/>
                <a:ext cx="1489456"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333333"/>
                    </a:solidFill>
                    <a:latin typeface="+mn-lt"/>
                    <a:ea typeface="+mn-ea"/>
                    <a:cs typeface="+mn-cs"/>
                  </a:rPr>
                  <a:t>统筹长尾客户整体运营规划、​</a:t>
                </a:r>
                <a:br/>
                <a:r>
                  <a:rPr lang="zh-CN" sz="860" dirty="0">
                    <a:solidFill>
                      <a:srgbClr val="333333"/>
                    </a:solidFill>
                    <a:latin typeface="+mn-lt"/>
                    <a:ea typeface="+mn-ea"/>
                    <a:cs typeface="+mn-cs"/>
                  </a:rPr>
                  <a:t>分层分群设计与策略方案制定​</a:t>
                </a:r>
              </a:p>
            </p:txBody>
          </p:sp>
        </p:grpSp>
        <p:grpSp>
          <p:nvGrpSpPr>
            <p:cNvPr id="119" name="team-activity"/>
            <p:cNvGrpSpPr/>
            <p:nvPr/>
          </p:nvGrpSpPr>
          <p:grpSpPr>
            <a:xfrm>
              <a:off x="3619500" y="5286375"/>
              <a:ext cx="2381250" cy="838200"/>
              <a:chOff x="3619500" y="5286375"/>
              <a:chExt cx="2381250" cy="838200"/>
            </a:xfrm>
          </p:grpSpPr>
          <p:sp>
            <p:nvSpPr>
              <p:cNvPr id="115" name="Rectangle 115"/>
              <p:cNvSpPr/>
              <p:nvPr/>
            </p:nvSpPr>
            <p:spPr>
              <a:xfrm>
                <a:off x="3619500" y="5286375"/>
                <a:ext cx="2381250" cy="247650"/>
              </a:xfrm>
              <a:prstGeom prst="rect">
                <a:avLst/>
              </a:prstGeom>
              <a:solidFill>
                <a:srgbClr val="D4E2FA"/>
              </a:solidFill>
              <a:ln>
                <a:noFill/>
              </a:ln>
            </p:spPr>
          </p:sp>
          <p:sp>
            <p:nvSpPr>
              <p:cNvPr id="116" name="TextBox 116"/>
              <p:cNvSpPr txBox="1"/>
              <p:nvPr/>
            </p:nvSpPr>
            <p:spPr>
              <a:xfrm>
                <a:off x="4327663" y="5356622"/>
                <a:ext cx="964923" cy="183356"/>
              </a:xfrm>
              <a:prstGeom prst="rect">
                <a:avLst/>
              </a:prstGeom>
              <a:noFill/>
              <a:ln>
                <a:noFill/>
              </a:ln>
            </p:spPr>
            <p:txBody>
              <a:bodyPr wrap="none" lIns="0" tIns="0" rIns="0" bIns="0" anchor="t" anchorCtr="0">
                <a:spAutoFit/>
              </a:bodyPr>
              <a:lstStyle/>
              <a:p>
                <a:pPr algn="ctr"/>
                <a:r>
                  <a:rPr lang="zh-CN" sz="940" dirty="0">
                    <a:solidFill>
                      <a:srgbClr val="E74726"/>
                    </a:solidFill>
                    <a:latin typeface="+mn-lt"/>
                    <a:ea typeface="+mn-ea"/>
                    <a:cs typeface="+mn-cs"/>
                  </a:rPr>
                  <a:t>活动运营岗/小组</a:t>
                </a:r>
              </a:p>
            </p:txBody>
          </p:sp>
          <p:sp>
            <p:nvSpPr>
              <p:cNvPr id="117" name="Rectangle 117"/>
              <p:cNvSpPr/>
              <p:nvPr/>
            </p:nvSpPr>
            <p:spPr>
              <a:xfrm>
                <a:off x="3619500" y="5534025"/>
                <a:ext cx="2381250" cy="590550"/>
              </a:xfrm>
              <a:prstGeom prst="rect">
                <a:avLst/>
              </a:prstGeom>
              <a:solidFill>
                <a:srgbClr val="FFFFFF"/>
              </a:solidFill>
              <a:ln w="9525">
                <a:solidFill>
                  <a:srgbClr val="D4E2FA"/>
                </a:solidFill>
              </a:ln>
            </p:spPr>
          </p:sp>
          <p:sp>
            <p:nvSpPr>
              <p:cNvPr id="118" name="TextBox 118"/>
              <p:cNvSpPr txBox="1"/>
              <p:nvPr/>
            </p:nvSpPr>
            <p:spPr>
              <a:xfrm>
                <a:off x="3729038" y="5659993"/>
                <a:ext cx="1489456"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333333"/>
                    </a:solidFill>
                    <a:latin typeface="+mn-lt"/>
                    <a:ea typeface="+mn-ea"/>
                    <a:cs typeface="+mn-cs"/>
                  </a:rPr>
                  <a:t>策划落地各类长尾营销活动，​</a:t>
                </a:r>
                <a:br/>
                <a:r>
                  <a:rPr lang="zh-CN" sz="860" dirty="0">
                    <a:solidFill>
                      <a:srgbClr val="333333"/>
                    </a:solidFill>
                    <a:latin typeface="+mn-lt"/>
                    <a:ea typeface="+mn-ea"/>
                    <a:cs typeface="+mn-cs"/>
                  </a:rPr>
                  <a:t>跟进活动全流程执行</a:t>
                </a:r>
              </a:p>
            </p:txBody>
          </p:sp>
        </p:grpSp>
        <p:grpSp>
          <p:nvGrpSpPr>
            <p:cNvPr id="124" name="team-channel"/>
            <p:cNvGrpSpPr/>
            <p:nvPr/>
          </p:nvGrpSpPr>
          <p:grpSpPr>
            <a:xfrm>
              <a:off x="6191250" y="5286375"/>
              <a:ext cx="2381250" cy="838200"/>
              <a:chOff x="6191250" y="5286375"/>
              <a:chExt cx="2381250" cy="838200"/>
            </a:xfrm>
          </p:grpSpPr>
          <p:sp>
            <p:nvSpPr>
              <p:cNvPr id="120" name="Rectangle 120"/>
              <p:cNvSpPr/>
              <p:nvPr/>
            </p:nvSpPr>
            <p:spPr>
              <a:xfrm>
                <a:off x="6191250" y="5286375"/>
                <a:ext cx="2381250" cy="247650"/>
              </a:xfrm>
              <a:prstGeom prst="rect">
                <a:avLst/>
              </a:prstGeom>
              <a:solidFill>
                <a:srgbClr val="D4E2FA"/>
              </a:solidFill>
              <a:ln>
                <a:noFill/>
              </a:ln>
            </p:spPr>
          </p:sp>
          <p:sp>
            <p:nvSpPr>
              <p:cNvPr id="121" name="TextBox 121"/>
              <p:cNvSpPr txBox="1"/>
              <p:nvPr/>
            </p:nvSpPr>
            <p:spPr>
              <a:xfrm>
                <a:off x="6899413" y="5356622"/>
                <a:ext cx="964923" cy="183356"/>
              </a:xfrm>
              <a:prstGeom prst="rect">
                <a:avLst/>
              </a:prstGeom>
              <a:noFill/>
              <a:ln>
                <a:noFill/>
              </a:ln>
            </p:spPr>
            <p:txBody>
              <a:bodyPr wrap="none" lIns="0" tIns="0" rIns="0" bIns="0" anchor="t" anchorCtr="0">
                <a:spAutoFit/>
              </a:bodyPr>
              <a:lstStyle/>
              <a:p>
                <a:pPr algn="ctr"/>
                <a:r>
                  <a:rPr lang="zh-CN" sz="940" dirty="0">
                    <a:solidFill>
                      <a:srgbClr val="E74726"/>
                    </a:solidFill>
                    <a:latin typeface="+mn-lt"/>
                    <a:ea typeface="+mn-ea"/>
                    <a:cs typeface="+mn-cs"/>
                  </a:rPr>
                  <a:t>渠道触达岗/小组</a:t>
                </a:r>
              </a:p>
            </p:txBody>
          </p:sp>
          <p:sp>
            <p:nvSpPr>
              <p:cNvPr id="122" name="Rectangle 122"/>
              <p:cNvSpPr/>
              <p:nvPr/>
            </p:nvSpPr>
            <p:spPr>
              <a:xfrm>
                <a:off x="6191250" y="5534025"/>
                <a:ext cx="2381250" cy="590550"/>
              </a:xfrm>
              <a:prstGeom prst="rect">
                <a:avLst/>
              </a:prstGeom>
              <a:solidFill>
                <a:srgbClr val="FFFFFF"/>
              </a:solidFill>
              <a:ln w="9525">
                <a:solidFill>
                  <a:srgbClr val="D4E2FA"/>
                </a:solidFill>
              </a:ln>
            </p:spPr>
          </p:sp>
          <p:sp>
            <p:nvSpPr>
              <p:cNvPr id="123" name="TextBox 123"/>
              <p:cNvSpPr txBox="1"/>
              <p:nvPr/>
            </p:nvSpPr>
            <p:spPr>
              <a:xfrm>
                <a:off x="6300788" y="5659993"/>
                <a:ext cx="1489456"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333333"/>
                    </a:solidFill>
                    <a:latin typeface="+mn-lt"/>
                    <a:ea typeface="+mn-ea"/>
                    <a:cs typeface="+mn-cs"/>
                  </a:rPr>
                  <a:t>整合多渠道资源，依托企微、​</a:t>
                </a:r>
                <a:br/>
                <a:r>
                  <a:rPr lang="zh-CN" sz="860" dirty="0">
                    <a:solidFill>
                      <a:srgbClr val="333333"/>
                    </a:solidFill>
                    <a:latin typeface="+mn-lt"/>
                    <a:ea typeface="+mn-ea"/>
                    <a:cs typeface="+mn-cs"/>
                  </a:rPr>
                  <a:t>外呼等开展精准客户触达直营​</a:t>
                </a:r>
              </a:p>
            </p:txBody>
          </p:sp>
        </p:grpSp>
        <p:grpSp>
          <p:nvGrpSpPr>
            <p:cNvPr id="129" name="team-risk"/>
            <p:cNvGrpSpPr/>
            <p:nvPr/>
          </p:nvGrpSpPr>
          <p:grpSpPr>
            <a:xfrm>
              <a:off x="8763000" y="5286375"/>
              <a:ext cx="2381250" cy="838200"/>
              <a:chOff x="8763000" y="5286375"/>
              <a:chExt cx="2381250" cy="838200"/>
            </a:xfrm>
          </p:grpSpPr>
          <p:sp>
            <p:nvSpPr>
              <p:cNvPr id="125" name="Rectangle 125"/>
              <p:cNvSpPr/>
              <p:nvPr/>
            </p:nvSpPr>
            <p:spPr>
              <a:xfrm>
                <a:off x="8763000" y="5286375"/>
                <a:ext cx="2381250" cy="247650"/>
              </a:xfrm>
              <a:prstGeom prst="rect">
                <a:avLst/>
              </a:prstGeom>
              <a:solidFill>
                <a:srgbClr val="D4E2FA"/>
              </a:solidFill>
              <a:ln>
                <a:noFill/>
              </a:ln>
            </p:spPr>
          </p:sp>
          <p:sp>
            <p:nvSpPr>
              <p:cNvPr id="126" name="TextBox 126"/>
              <p:cNvSpPr txBox="1"/>
              <p:nvPr/>
            </p:nvSpPr>
            <p:spPr>
              <a:xfrm>
                <a:off x="9471163" y="5356622"/>
                <a:ext cx="964923" cy="183356"/>
              </a:xfrm>
              <a:prstGeom prst="rect">
                <a:avLst/>
              </a:prstGeom>
              <a:noFill/>
              <a:ln>
                <a:noFill/>
              </a:ln>
            </p:spPr>
            <p:txBody>
              <a:bodyPr wrap="none" lIns="0" tIns="0" rIns="0" bIns="0" anchor="t" anchorCtr="0">
                <a:spAutoFit/>
              </a:bodyPr>
              <a:lstStyle/>
              <a:p>
                <a:pPr algn="ctr"/>
                <a:r>
                  <a:rPr lang="zh-CN" sz="940" dirty="0">
                    <a:solidFill>
                      <a:srgbClr val="E74726"/>
                    </a:solidFill>
                    <a:latin typeface="+mn-lt"/>
                    <a:ea typeface="+mn-ea"/>
                    <a:cs typeface="+mn-cs"/>
                  </a:rPr>
                  <a:t>风控合规岗/小组</a:t>
                </a:r>
              </a:p>
            </p:txBody>
          </p:sp>
          <p:sp>
            <p:nvSpPr>
              <p:cNvPr id="127" name="Rectangle 127"/>
              <p:cNvSpPr/>
              <p:nvPr/>
            </p:nvSpPr>
            <p:spPr>
              <a:xfrm>
                <a:off x="8763000" y="5534025"/>
                <a:ext cx="2381250" cy="590550"/>
              </a:xfrm>
              <a:prstGeom prst="rect">
                <a:avLst/>
              </a:prstGeom>
              <a:solidFill>
                <a:srgbClr val="FFFFFF"/>
              </a:solidFill>
              <a:ln w="9525">
                <a:solidFill>
                  <a:srgbClr val="D4E2FA"/>
                </a:solidFill>
              </a:ln>
            </p:spPr>
          </p:sp>
          <p:sp>
            <p:nvSpPr>
              <p:cNvPr id="128" name="TextBox 128"/>
              <p:cNvSpPr txBox="1"/>
              <p:nvPr/>
            </p:nvSpPr>
            <p:spPr>
              <a:xfrm>
                <a:off x="8872538" y="5659993"/>
                <a:ext cx="1489456"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333333"/>
                    </a:solidFill>
                    <a:latin typeface="+mn-lt"/>
                    <a:ea typeface="+mn-ea"/>
                    <a:cs typeface="+mn-cs"/>
                  </a:rPr>
                  <a:t>负责风险识别、合规审核与异​</a:t>
                </a:r>
                <a:br/>
                <a:r>
                  <a:rPr lang="zh-CN" sz="860" dirty="0">
                    <a:solidFill>
                      <a:srgbClr val="333333"/>
                    </a:solidFill>
                    <a:latin typeface="+mn-lt"/>
                    <a:ea typeface="+mn-ea"/>
                    <a:cs typeface="+mn-cs"/>
                  </a:rPr>
                  <a:t>常事件处置</a:t>
                </a:r>
              </a:p>
            </p:txBody>
          </p:sp>
        </p:grpSp>
      </p:grpSp>
      <p:grpSp>
        <p:nvGrpSpPr>
          <p:cNvPr id="133" name="footer"/>
          <p:cNvGrpSpPr/>
          <p:nvPr/>
        </p:nvGrpSpPr>
        <p:grpSpPr>
          <a:xfrm>
            <a:off x="0" y="6438900"/>
            <a:ext cx="12192000" cy="342900"/>
            <a:chOff x="0" y="6438900"/>
            <a:chExt cx="12192000" cy="342900"/>
          </a:xfrm>
        </p:grpSpPr>
        <p:sp>
          <p:nvSpPr>
            <p:cNvPr id="131" name="Line 131"/>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132" name="TextBox 132"/>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33​</a:t>
              </a:r>
            </a:p>
          </p:txBody>
        </p:sp>
        <p:sp>
          <p:nvSpPr>
            <p:cNvPr id="4" name="TextBox 4"/>
            <p:cNvSpPr txBox="1"/>
            <p:nvPr/>
          </p:nvSpPr>
          <p:spPr>
            <a:xfrm>
              <a:off x="885444" y="160973"/>
              <a:ext cx="4908423"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 xml:space="preserve">3.3 </a:t>
              </a:r>
              <a:r>
                <a:rPr lang="zh-CN" sz="1950" b="1" dirty="0">
                  <a:solidFill>
                    <a:srgbClr val="E74726"/>
                  </a:solidFill>
                  <a:latin typeface="+mj-lt"/>
                  <a:ea typeface="+mj-ea"/>
                  <a:cs typeface="+mj-cs"/>
                </a:rPr>
                <a:t>中电金信长尾客群数字化经营服务</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8383518" cy="249364"/>
            <a:chOff x="374523" y="681514"/>
            <a:chExt cx="8383518" cy="249364"/>
          </a:xfrm>
        </p:grpSpPr>
        <p:sp>
          <p:nvSpPr>
            <p:cNvPr id="16" name="TextBox 16"/>
            <p:cNvSpPr txBox="1"/>
            <p:nvPr/>
          </p:nvSpPr>
          <p:spPr>
            <a:xfrm>
              <a:off x="374523" y="681514"/>
              <a:ext cx="8383518"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针对中小银行长尾运营不会做、落地难、触客难痛点，输出体系规划、运营陪跑、企微直营搭建三类咨询服务​</a:t>
              </a:r>
            </a:p>
          </p:txBody>
        </p:sp>
      </p:grpSp>
      <p:grpSp>
        <p:nvGrpSpPr>
          <p:cNvPr id="19" name="guide"/>
          <p:cNvGrpSpPr/>
          <p:nvPr/>
        </p:nvGrpSpPr>
        <p:grpSpPr>
          <a:xfrm>
            <a:off x="376047" y="990124"/>
            <a:ext cx="7060565" cy="371666"/>
            <a:chOff x="376047" y="990124"/>
            <a:chExt cx="7060565" cy="371666"/>
          </a:xfrm>
        </p:grpSpPr>
        <p:sp>
          <p:nvSpPr>
            <p:cNvPr id="18" name="TextBox 18"/>
            <p:cNvSpPr txBox="1"/>
            <p:nvPr/>
          </p:nvSpPr>
          <p:spPr>
            <a:xfrm>
              <a:off x="376047" y="990124"/>
              <a:ext cx="7060565" cy="371666"/>
            </a:xfrm>
            <a:prstGeom prst="rect">
              <a:avLst/>
            </a:prstGeom>
            <a:noFill/>
            <a:ln>
              <a:noFill/>
            </a:ln>
          </p:spPr>
          <p:txBody>
            <a:bodyPr wrap="none" lIns="0" tIns="0" rIns="0" bIns="0" anchor="t" anchorCtr="0">
              <a:spAutoFit/>
            </a:bodyPr>
            <a:lstStyle/>
            <a:p>
              <a:pPr algn="l">
                <a:lnSpc>
                  <a:spcPts val="1425"/>
                </a:lnSpc>
              </a:pPr>
              <a:r>
                <a:rPr lang="zh-CN" sz="980" dirty="0">
                  <a:solidFill>
                    <a:srgbClr val="333333"/>
                  </a:solidFill>
                  <a:latin typeface="+mn-lt"/>
                  <a:ea typeface="+mn-ea"/>
                  <a:cs typeface="+mn-cs"/>
                </a:rPr>
                <a:t>围绕长尾运营三大典型痛点提供对应咨询服务：开展经营体系规划构建完整框架；实施运营陪跑推动能力内化落地；完成企微​​​</a:t>
              </a:r>
              <a:br/>
              <a:r>
                <a:rPr lang="zh-CN" sz="980" dirty="0">
                  <a:solidFill>
                    <a:srgbClr val="333333"/>
                  </a:solidFill>
                  <a:latin typeface="+mn-lt"/>
                  <a:ea typeface="+mn-ea"/>
                  <a:cs typeface="+mn-cs"/>
                </a:rPr>
                <a:t>直营0-1搭建，打造低成本高频触客通路，支撑银行长尾业务稳步推进。​</a:t>
              </a:r>
            </a:p>
          </p:txBody>
        </p:sp>
      </p:grpSp>
      <p:grpSp>
        <p:nvGrpSpPr>
          <p:cNvPr id="39" name="service-plan"/>
          <p:cNvGrpSpPr/>
          <p:nvPr/>
        </p:nvGrpSpPr>
        <p:grpSpPr>
          <a:xfrm>
            <a:off x="571500" y="1905000"/>
            <a:ext cx="3429000" cy="4000500"/>
            <a:chOff x="571500" y="1905000"/>
            <a:chExt cx="3429000" cy="4000500"/>
          </a:xfrm>
        </p:grpSpPr>
        <p:sp>
          <p:nvSpPr>
            <p:cNvPr id="20" name="Rectangle 20"/>
            <p:cNvSpPr/>
            <p:nvPr/>
          </p:nvSpPr>
          <p:spPr>
            <a:xfrm>
              <a:off x="571500" y="1905000"/>
              <a:ext cx="3429000" cy="4000500"/>
            </a:xfrm>
            <a:prstGeom prst="roundRect">
              <a:avLst>
                <a:gd name="adj" fmla="val 5000"/>
              </a:avLst>
            </a:prstGeom>
            <a:gradFill>
              <a:gsLst>
                <a:gs pos="0">
                  <a:srgbClr val="D93E1E"/>
                </a:gs>
                <a:gs pos="100000">
                  <a:srgbClr val="F05D3F"/>
                </a:gs>
              </a:gsLst>
              <a:lin ang="5400000" scaled="1"/>
            </a:gradFill>
            <a:ln>
              <a:noFill/>
            </a:ln>
          </p:spPr>
        </p:sp>
        <p:sp>
          <p:nvSpPr>
            <p:cNvPr id="21" name="Rectangle 21"/>
            <p:cNvSpPr/>
            <p:nvPr/>
          </p:nvSpPr>
          <p:spPr>
            <a:xfrm>
              <a:off x="904875" y="2667000"/>
              <a:ext cx="400050" cy="590550"/>
            </a:xfrm>
            <a:prstGeom prst="rect">
              <a:avLst/>
            </a:prstGeom>
            <a:solidFill>
              <a:srgbClr val="FFFFFF">
                <a:alpha val="30000"/>
              </a:srgbClr>
            </a:solidFill>
            <a:ln>
              <a:noFill/>
            </a:ln>
          </p:spPr>
        </p:sp>
        <p:sp>
          <p:nvSpPr>
            <p:cNvPr id="22" name="Rectangle 22"/>
            <p:cNvSpPr/>
            <p:nvPr/>
          </p:nvSpPr>
          <p:spPr>
            <a:xfrm>
              <a:off x="1381125" y="2457450"/>
              <a:ext cx="476250" cy="800100"/>
            </a:xfrm>
            <a:prstGeom prst="rect">
              <a:avLst/>
            </a:prstGeom>
            <a:solidFill>
              <a:srgbClr val="FFFFFF">
                <a:alpha val="42000"/>
              </a:srgbClr>
            </a:solidFill>
            <a:ln>
              <a:noFill/>
            </a:ln>
          </p:spPr>
        </p:sp>
        <p:sp>
          <p:nvSpPr>
            <p:cNvPr id="23" name="Rectangle 23"/>
            <p:cNvSpPr/>
            <p:nvPr/>
          </p:nvSpPr>
          <p:spPr>
            <a:xfrm>
              <a:off x="3143250" y="2552700"/>
              <a:ext cx="419100" cy="704850"/>
            </a:xfrm>
            <a:prstGeom prst="rect">
              <a:avLst/>
            </a:prstGeom>
            <a:solidFill>
              <a:srgbClr val="FFFFFF">
                <a:alpha val="30000"/>
              </a:srgbClr>
            </a:solidFill>
            <a:ln>
              <a:noFill/>
            </a:ln>
          </p:spPr>
        </p:sp>
        <p:sp>
          <p:nvSpPr>
            <p:cNvPr id="24" name="Rectangle 24"/>
            <p:cNvSpPr/>
            <p:nvPr/>
          </p:nvSpPr>
          <p:spPr>
            <a:xfrm>
              <a:off x="2714625" y="2781300"/>
              <a:ext cx="342900" cy="476250"/>
            </a:xfrm>
            <a:prstGeom prst="rect">
              <a:avLst/>
            </a:prstGeom>
            <a:solidFill>
              <a:srgbClr val="FFFFFF">
                <a:alpha val="38000"/>
              </a:srgbClr>
            </a:solidFill>
            <a:ln>
              <a:noFill/>
            </a:ln>
          </p:spPr>
        </p:sp>
        <p:sp>
          <p:nvSpPr>
            <p:cNvPr id="25" name="Ellipse 25"/>
            <p:cNvSpPr/>
            <p:nvPr/>
          </p:nvSpPr>
          <p:spPr>
            <a:xfrm>
              <a:off x="1162050" y="3162300"/>
              <a:ext cx="2247900" cy="247650"/>
            </a:xfrm>
            <a:prstGeom prst="ellipse">
              <a:avLst/>
            </a:prstGeom>
            <a:solidFill>
              <a:srgbClr val="FFFFFF">
                <a:alpha val="25000"/>
              </a:srgbClr>
            </a:solidFill>
            <a:ln>
              <a:noFill/>
            </a:ln>
          </p:spPr>
        </p:sp>
        <p:sp>
          <p:nvSpPr>
            <p:cNvPr id="26" name="Ellipse 26"/>
            <p:cNvSpPr/>
            <p:nvPr/>
          </p:nvSpPr>
          <p:spPr>
            <a:xfrm>
              <a:off x="2038350" y="2324100"/>
              <a:ext cx="495300" cy="495300"/>
            </a:xfrm>
            <a:prstGeom prst="ellipse">
              <a:avLst/>
            </a:prstGeom>
            <a:solidFill>
              <a:srgbClr val="FFFFFF"/>
            </a:solidFill>
            <a:ln>
              <a:noFill/>
            </a:ln>
          </p:spPr>
        </p:sp>
        <p:grpSp>
          <p:nvGrpSpPr>
            <p:cNvPr id="30" name="Group 30"/>
            <p:cNvGrpSpPr/>
            <p:nvPr/>
          </p:nvGrpSpPr>
          <p:grpSpPr>
            <a:xfrm>
              <a:off x="2157412" y="2443162"/>
              <a:ext cx="257175" cy="257175"/>
              <a:chOff x="2157412" y="2443162"/>
              <a:chExt cx="257175" cy="257175"/>
            </a:xfrm>
          </p:grpSpPr>
          <p:sp>
            <p:nvSpPr>
              <p:cNvPr id="27" name="Freeform 27"/>
              <p:cNvSpPr/>
              <p:nvPr/>
            </p:nvSpPr>
            <p:spPr>
              <a:xfrm>
                <a:off x="2157412" y="244316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8575">
                <a:solidFill>
                  <a:srgbClr val="E74726"/>
                </a:solidFill>
              </a:ln>
            </p:spPr>
          </p:sp>
          <p:sp>
            <p:nvSpPr>
              <p:cNvPr id="28" name="Freeform 28"/>
              <p:cNvSpPr/>
              <p:nvPr/>
            </p:nvSpPr>
            <p:spPr>
              <a:xfrm>
                <a:off x="2286000" y="2643188"/>
                <a:ext cx="9525" cy="9525"/>
              </a:xfrm>
              <a:custGeom>
                <a:avLst/>
                <a:gdLst/>
                <a:ahLst/>
                <a:cxnLst/>
                <a:rect l="l" t="t" r="r" b="b"/>
                <a:pathLst>
                  <a:path w="9525" h="9525">
                    <a:moveTo>
                      <a:pt x="0" y="0"/>
                    </a:moveTo>
                    <a:lnTo>
                      <a:pt x="0" y="143"/>
                    </a:lnTo>
                  </a:path>
                </a:pathLst>
              </a:custGeom>
              <a:noFill/>
              <a:ln w="28575">
                <a:solidFill>
                  <a:srgbClr val="E74726"/>
                </a:solidFill>
              </a:ln>
            </p:spPr>
          </p:sp>
          <p:sp>
            <p:nvSpPr>
              <p:cNvPr id="29" name="Freeform 29"/>
              <p:cNvSpPr/>
              <p:nvPr/>
            </p:nvSpPr>
            <p:spPr>
              <a:xfrm>
                <a:off x="2257425" y="2496863"/>
                <a:ext cx="67156" cy="96318"/>
              </a:xfrm>
              <a:custGeom>
                <a:avLst/>
                <a:gdLst/>
                <a:ahLst/>
                <a:cxnLst/>
                <a:rect l="l" t="t" r="r" b="b"/>
                <a:pathLst>
                  <a:path w="67156" h="96318">
                    <a:moveTo>
                      <a:pt x="28575" y="96318"/>
                    </a:moveTo>
                    <a:cubicBezTo>
                      <a:pt x="28035" y="86790"/>
                      <a:pt x="33860" y="78053"/>
                      <a:pt x="42862" y="74887"/>
                    </a:cubicBezTo>
                    <a:cubicBezTo>
                      <a:pt x="57589" y="69255"/>
                      <a:pt x="67156" y="54942"/>
                      <a:pt x="66728" y="39181"/>
                    </a:cubicBezTo>
                    <a:cubicBezTo>
                      <a:pt x="66300" y="23421"/>
                      <a:pt x="55970" y="9648"/>
                      <a:pt x="40960" y="4824"/>
                    </a:cubicBezTo>
                    <a:cubicBezTo>
                      <a:pt x="25950" y="0"/>
                      <a:pt x="9530" y="5177"/>
                      <a:pt x="0" y="17737"/>
                    </a:cubicBezTo>
                  </a:path>
                </a:pathLst>
              </a:custGeom>
              <a:noFill/>
              <a:ln w="28575">
                <a:solidFill>
                  <a:srgbClr val="E74726"/>
                </a:solidFill>
              </a:ln>
            </p:spPr>
          </p:sp>
        </p:grpSp>
        <p:grpSp>
          <p:nvGrpSpPr>
            <p:cNvPr id="33" name="Group 33"/>
            <p:cNvGrpSpPr/>
            <p:nvPr/>
          </p:nvGrpSpPr>
          <p:grpSpPr>
            <a:xfrm>
              <a:off x="2717006" y="2888456"/>
              <a:ext cx="185737" cy="185737"/>
              <a:chOff x="2717006" y="2888456"/>
              <a:chExt cx="185737" cy="185737"/>
            </a:xfrm>
          </p:grpSpPr>
          <p:sp>
            <p:nvSpPr>
              <p:cNvPr id="31" name="Freeform 31"/>
              <p:cNvSpPr/>
              <p:nvPr/>
            </p:nvSpPr>
            <p:spPr>
              <a:xfrm>
                <a:off x="2717006" y="2888456"/>
                <a:ext cx="144462" cy="144462"/>
              </a:xfrm>
              <a:custGeom>
                <a:avLst/>
                <a:gdLst/>
                <a:ahLst/>
                <a:cxnLst/>
                <a:rect l="l" t="t" r="r" b="b"/>
                <a:pathLst>
                  <a:path w="144462" h="144462">
                    <a:moveTo>
                      <a:pt x="0" y="72231"/>
                    </a:moveTo>
                    <a:cubicBezTo>
                      <a:pt x="0" y="112123"/>
                      <a:pt x="32339" y="144462"/>
                      <a:pt x="72231" y="144462"/>
                    </a:cubicBezTo>
                    <a:cubicBezTo>
                      <a:pt x="112123" y="144462"/>
                      <a:pt x="144462" y="112123"/>
                      <a:pt x="144462" y="72231"/>
                    </a:cubicBezTo>
                    <a:cubicBezTo>
                      <a:pt x="144462" y="32339"/>
                      <a:pt x="112123" y="0"/>
                      <a:pt x="72231" y="0"/>
                    </a:cubicBezTo>
                    <a:cubicBezTo>
                      <a:pt x="32339" y="0"/>
                      <a:pt x="0" y="32339"/>
                      <a:pt x="0" y="72231"/>
                    </a:cubicBezTo>
                  </a:path>
                </a:pathLst>
              </a:custGeom>
              <a:noFill/>
              <a:ln w="20637">
                <a:solidFill>
                  <a:srgbClr val="F5715A"/>
                </a:solidFill>
              </a:ln>
            </p:spPr>
          </p:sp>
          <p:sp>
            <p:nvSpPr>
              <p:cNvPr id="32" name="Freeform 32"/>
              <p:cNvSpPr/>
              <p:nvPr/>
            </p:nvSpPr>
            <p:spPr>
              <a:xfrm>
                <a:off x="2840831" y="3012281"/>
                <a:ext cx="61912" cy="61912"/>
              </a:xfrm>
              <a:custGeom>
                <a:avLst/>
                <a:gdLst/>
                <a:ahLst/>
                <a:cxnLst/>
                <a:rect l="l" t="t" r="r" b="b"/>
                <a:pathLst>
                  <a:path w="61912" h="61912">
                    <a:moveTo>
                      <a:pt x="61912" y="61912"/>
                    </a:moveTo>
                    <a:lnTo>
                      <a:pt x="0" y="0"/>
                    </a:lnTo>
                  </a:path>
                </a:pathLst>
              </a:custGeom>
              <a:noFill/>
              <a:ln w="20637">
                <a:solidFill>
                  <a:srgbClr val="F5715A"/>
                </a:solidFill>
              </a:ln>
            </p:spPr>
          </p:sp>
        </p:grpSp>
        <p:sp>
          <p:nvSpPr>
            <p:cNvPr id="34" name="Ellipse 34"/>
            <p:cNvSpPr/>
            <p:nvPr/>
          </p:nvSpPr>
          <p:spPr>
            <a:xfrm>
              <a:off x="1790700" y="2743200"/>
              <a:ext cx="152400" cy="152400"/>
            </a:xfrm>
            <a:prstGeom prst="ellipse">
              <a:avLst/>
            </a:prstGeom>
            <a:solidFill>
              <a:srgbClr val="FFB5A8"/>
            </a:solidFill>
            <a:ln>
              <a:noFill/>
            </a:ln>
          </p:spPr>
        </p:sp>
        <p:sp>
          <p:nvSpPr>
            <p:cNvPr id="35" name="Rectangle 35"/>
            <p:cNvSpPr/>
            <p:nvPr/>
          </p:nvSpPr>
          <p:spPr>
            <a:xfrm>
              <a:off x="1771650" y="2914650"/>
              <a:ext cx="190500" cy="285750"/>
            </a:xfrm>
            <a:prstGeom prst="roundRect">
              <a:avLst>
                <a:gd name="adj" fmla="val 30000"/>
              </a:avLst>
            </a:prstGeom>
            <a:solidFill>
              <a:srgbClr val="F5715A"/>
            </a:solidFill>
            <a:ln>
              <a:noFill/>
            </a:ln>
          </p:spPr>
        </p:sp>
        <p:sp>
          <p:nvSpPr>
            <p:cNvPr id="36" name="Freeform 36"/>
            <p:cNvSpPr/>
            <p:nvPr/>
          </p:nvSpPr>
          <p:spPr>
            <a:xfrm rot="10800000">
              <a:off x="952500" y="3381375"/>
              <a:ext cx="2667000" cy="419100"/>
            </a:xfrm>
            <a:prstGeom prst="trapezoid">
              <a:avLst>
                <a:gd name="adj" fmla="val 50000"/>
              </a:avLst>
            </a:prstGeom>
            <a:solidFill>
              <a:srgbClr val="FFFFFF">
                <a:alpha val="92000"/>
              </a:srgbClr>
            </a:solidFill>
            <a:ln>
              <a:noFill/>
            </a:ln>
          </p:spPr>
        </p:sp>
        <p:sp>
          <p:nvSpPr>
            <p:cNvPr id="37" name="TextBox 37"/>
            <p:cNvSpPr txBox="1"/>
            <p:nvPr/>
          </p:nvSpPr>
          <p:spPr>
            <a:xfrm>
              <a:off x="1643062" y="3511868"/>
              <a:ext cx="1285875" cy="264033"/>
            </a:xfrm>
            <a:prstGeom prst="rect">
              <a:avLst/>
            </a:prstGeom>
            <a:noFill/>
            <a:ln>
              <a:noFill/>
            </a:ln>
          </p:spPr>
          <p:txBody>
            <a:bodyPr wrap="none" lIns="0" tIns="0" rIns="0" bIns="0" anchor="t" anchorCtr="0">
              <a:spAutoFit/>
            </a:bodyPr>
            <a:lstStyle/>
            <a:p>
              <a:pPr algn="ctr"/>
              <a:r>
                <a:rPr lang="zh-CN" sz="1350" b="1" dirty="0">
                  <a:solidFill>
                    <a:srgbClr val="932F1B"/>
                  </a:solidFill>
                  <a:latin typeface="+mn-lt"/>
                  <a:ea typeface="+mn-ea"/>
                  <a:cs typeface="+mn-cs"/>
                </a:rPr>
                <a:t>不知道怎么做？</a:t>
              </a:r>
            </a:p>
          </p:txBody>
        </p:sp>
        <p:sp>
          <p:nvSpPr>
            <p:cNvPr id="38" name="TextBox 38"/>
            <p:cNvSpPr txBox="1"/>
            <p:nvPr/>
          </p:nvSpPr>
          <p:spPr>
            <a:xfrm>
              <a:off x="1151077" y="4212431"/>
              <a:ext cx="2269846" cy="467678"/>
            </a:xfrm>
            <a:prstGeom prst="rect">
              <a:avLst/>
            </a:prstGeom>
            <a:noFill/>
            <a:ln>
              <a:noFill/>
            </a:ln>
          </p:spPr>
          <p:txBody>
            <a:bodyPr wrap="none" lIns="0" tIns="0" rIns="0" bIns="0" anchor="t" anchorCtr="0">
              <a:spAutoFit/>
            </a:bodyPr>
            <a:lstStyle/>
            <a:p>
              <a:pPr algn="ctr">
                <a:lnSpc>
                  <a:spcPts val="1950"/>
                </a:lnSpc>
              </a:pPr>
              <a:r>
                <a:rPr lang="zh-CN" sz="1120" dirty="0">
                  <a:solidFill>
                    <a:srgbClr val="FFFFFF"/>
                  </a:solidFill>
                  <a:latin typeface="+mn-lt"/>
                  <a:ea typeface="+mn-ea"/>
                  <a:cs typeface="+mn-cs"/>
                </a:rPr>
                <a:t xml:space="preserve">提供 </a:t>
              </a:r>
              <a:r>
                <a:rPr lang="zh-CN" sz="1120" b="1" dirty="0">
                  <a:solidFill>
                    <a:srgbClr val="FFFFFF"/>
                  </a:solidFill>
                  <a:latin typeface="+mn-lt"/>
                  <a:ea typeface="+mn-ea"/>
                  <a:cs typeface="+mn-cs"/>
                </a:rPr>
                <a:t>长尾客群经营体系规划服务，​</a:t>
              </a:r>
              <a:br/>
              <a:r>
                <a:rPr lang="zh-CN" sz="1120" b="1" dirty="0">
                  <a:solidFill>
                    <a:srgbClr val="FFFFFF"/>
                  </a:solidFill>
                  <a:latin typeface="+mn-lt"/>
                  <a:ea typeface="+mn-ea"/>
                  <a:cs typeface="+mn-cs"/>
                </a:rPr>
                <a:t>构建完整经营框架</a:t>
              </a:r>
            </a:p>
          </p:txBody>
        </p:sp>
      </p:grpSp>
      <p:grpSp>
        <p:nvGrpSpPr>
          <p:cNvPr id="57" name="service-coach"/>
          <p:cNvGrpSpPr/>
          <p:nvPr/>
        </p:nvGrpSpPr>
        <p:grpSpPr>
          <a:xfrm>
            <a:off x="4381500" y="1905000"/>
            <a:ext cx="3429000" cy="4000500"/>
            <a:chOff x="4381500" y="1905000"/>
            <a:chExt cx="3429000" cy="4000500"/>
          </a:xfrm>
        </p:grpSpPr>
        <p:sp>
          <p:nvSpPr>
            <p:cNvPr id="40" name="Rectangle 40"/>
            <p:cNvSpPr/>
            <p:nvPr/>
          </p:nvSpPr>
          <p:spPr>
            <a:xfrm>
              <a:off x="4381500" y="1905000"/>
              <a:ext cx="3429000" cy="4000500"/>
            </a:xfrm>
            <a:prstGeom prst="roundRect">
              <a:avLst>
                <a:gd name="adj" fmla="val 5000"/>
              </a:avLst>
            </a:prstGeom>
            <a:gradFill>
              <a:gsLst>
                <a:gs pos="0">
                  <a:srgbClr val="D93E1E"/>
                </a:gs>
                <a:gs pos="100000">
                  <a:srgbClr val="F05D3F"/>
                </a:gs>
              </a:gsLst>
              <a:lin ang="5400000" scaled="1"/>
            </a:gradFill>
            <a:ln>
              <a:noFill/>
            </a:ln>
          </p:spPr>
        </p:sp>
        <p:sp>
          <p:nvSpPr>
            <p:cNvPr id="41" name="Rectangle 41"/>
            <p:cNvSpPr/>
            <p:nvPr/>
          </p:nvSpPr>
          <p:spPr>
            <a:xfrm>
              <a:off x="4714875" y="2590800"/>
              <a:ext cx="419100" cy="666750"/>
            </a:xfrm>
            <a:prstGeom prst="rect">
              <a:avLst/>
            </a:prstGeom>
            <a:solidFill>
              <a:srgbClr val="FFFFFF">
                <a:alpha val="30000"/>
              </a:srgbClr>
            </a:solidFill>
            <a:ln>
              <a:noFill/>
            </a:ln>
          </p:spPr>
        </p:sp>
        <p:sp>
          <p:nvSpPr>
            <p:cNvPr id="42" name="Rectangle 42"/>
            <p:cNvSpPr/>
            <p:nvPr/>
          </p:nvSpPr>
          <p:spPr>
            <a:xfrm>
              <a:off x="5219700" y="2400300"/>
              <a:ext cx="495300" cy="857250"/>
            </a:xfrm>
            <a:prstGeom prst="rect">
              <a:avLst/>
            </a:prstGeom>
            <a:solidFill>
              <a:srgbClr val="FFFFFF">
                <a:alpha val="42000"/>
              </a:srgbClr>
            </a:solidFill>
            <a:ln>
              <a:noFill/>
            </a:ln>
          </p:spPr>
        </p:sp>
        <p:sp>
          <p:nvSpPr>
            <p:cNvPr id="43" name="Rectangle 43"/>
            <p:cNvSpPr/>
            <p:nvPr/>
          </p:nvSpPr>
          <p:spPr>
            <a:xfrm>
              <a:off x="7010400" y="2495550"/>
              <a:ext cx="438150" cy="762000"/>
            </a:xfrm>
            <a:prstGeom prst="rect">
              <a:avLst/>
            </a:prstGeom>
            <a:solidFill>
              <a:srgbClr val="FFFFFF">
                <a:alpha val="30000"/>
              </a:srgbClr>
            </a:solidFill>
            <a:ln>
              <a:noFill/>
            </a:ln>
          </p:spPr>
        </p:sp>
        <p:sp>
          <p:nvSpPr>
            <p:cNvPr id="44" name="Ellipse 44"/>
            <p:cNvSpPr/>
            <p:nvPr/>
          </p:nvSpPr>
          <p:spPr>
            <a:xfrm>
              <a:off x="4972050" y="3162300"/>
              <a:ext cx="2247900" cy="247650"/>
            </a:xfrm>
            <a:prstGeom prst="ellipse">
              <a:avLst/>
            </a:prstGeom>
            <a:solidFill>
              <a:srgbClr val="FFFFFF">
                <a:alpha val="25000"/>
              </a:srgbClr>
            </a:solidFill>
            <a:ln>
              <a:noFill/>
            </a:ln>
          </p:spPr>
        </p:sp>
        <p:sp>
          <p:nvSpPr>
            <p:cNvPr id="45" name="Rectangle 45"/>
            <p:cNvSpPr/>
            <p:nvPr/>
          </p:nvSpPr>
          <p:spPr>
            <a:xfrm>
              <a:off x="5715000" y="2286000"/>
              <a:ext cx="819150" cy="533400"/>
            </a:xfrm>
            <a:prstGeom prst="roundRect">
              <a:avLst>
                <a:gd name="adj" fmla="val 7143"/>
              </a:avLst>
            </a:prstGeom>
            <a:solidFill>
              <a:srgbClr val="FFFFFF"/>
            </a:solidFill>
            <a:ln>
              <a:noFill/>
            </a:ln>
          </p:spPr>
        </p:sp>
        <p:grpSp>
          <p:nvGrpSpPr>
            <p:cNvPr id="51" name="Group 51"/>
            <p:cNvGrpSpPr/>
            <p:nvPr/>
          </p:nvGrpSpPr>
          <p:grpSpPr>
            <a:xfrm>
              <a:off x="5886450" y="2451100"/>
              <a:ext cx="228599" cy="212724"/>
              <a:chOff x="5886450" y="2451100"/>
              <a:chExt cx="228599" cy="212724"/>
            </a:xfrm>
          </p:grpSpPr>
          <p:sp>
            <p:nvSpPr>
              <p:cNvPr id="46" name="Freeform 46"/>
              <p:cNvSpPr/>
              <p:nvPr/>
            </p:nvSpPr>
            <p:spPr>
              <a:xfrm>
                <a:off x="5886450" y="2451100"/>
                <a:ext cx="228599" cy="9525"/>
              </a:xfrm>
              <a:custGeom>
                <a:avLst/>
                <a:gdLst/>
                <a:ahLst/>
                <a:cxnLst/>
                <a:rect l="l" t="t" r="r" b="b"/>
                <a:pathLst>
                  <a:path w="228599" h="9525">
                    <a:moveTo>
                      <a:pt x="0" y="0"/>
                    </a:moveTo>
                    <a:lnTo>
                      <a:pt x="228599" y="0"/>
                    </a:lnTo>
                  </a:path>
                </a:pathLst>
              </a:custGeom>
              <a:noFill/>
              <a:ln w="25400">
                <a:solidFill>
                  <a:srgbClr val="E74726"/>
                </a:solidFill>
              </a:ln>
            </p:spPr>
          </p:sp>
          <p:sp>
            <p:nvSpPr>
              <p:cNvPr id="47" name="Freeform 47"/>
              <p:cNvSpPr/>
              <p:nvPr/>
            </p:nvSpPr>
            <p:spPr>
              <a:xfrm>
                <a:off x="5899150" y="2451100"/>
                <a:ext cx="203199" cy="152400"/>
              </a:xfrm>
              <a:custGeom>
                <a:avLst/>
                <a:gdLst/>
                <a:ahLst/>
                <a:cxnLst/>
                <a:rect l="l" t="t" r="r" b="b"/>
                <a:pathLst>
                  <a:path w="203199" h="152400">
                    <a:moveTo>
                      <a:pt x="0" y="0"/>
                    </a:moveTo>
                    <a:lnTo>
                      <a:pt x="0" y="127000"/>
                    </a:lnTo>
                    <a:cubicBezTo>
                      <a:pt x="0" y="141028"/>
                      <a:pt x="11372" y="152400"/>
                      <a:pt x="25400" y="152400"/>
                    </a:cubicBezTo>
                    <a:lnTo>
                      <a:pt x="177800" y="152400"/>
                    </a:lnTo>
                    <a:cubicBezTo>
                      <a:pt x="191828" y="152400"/>
                      <a:pt x="203199" y="141028"/>
                      <a:pt x="203199" y="127000"/>
                    </a:cubicBezTo>
                    <a:lnTo>
                      <a:pt x="203199" y="0"/>
                    </a:lnTo>
                  </a:path>
                </a:pathLst>
              </a:custGeom>
              <a:noFill/>
              <a:ln w="25400">
                <a:solidFill>
                  <a:srgbClr val="E74726"/>
                </a:solidFill>
              </a:ln>
            </p:spPr>
          </p:sp>
          <p:sp>
            <p:nvSpPr>
              <p:cNvPr id="48" name="Freeform 48"/>
              <p:cNvSpPr/>
              <p:nvPr/>
            </p:nvSpPr>
            <p:spPr>
              <a:xfrm>
                <a:off x="6000750" y="2603499"/>
                <a:ext cx="9525" cy="50800"/>
              </a:xfrm>
              <a:custGeom>
                <a:avLst/>
                <a:gdLst/>
                <a:ahLst/>
                <a:cxnLst/>
                <a:rect l="l" t="t" r="r" b="b"/>
                <a:pathLst>
                  <a:path w="9525" h="50800">
                    <a:moveTo>
                      <a:pt x="0" y="0"/>
                    </a:moveTo>
                    <a:lnTo>
                      <a:pt x="0" y="50800"/>
                    </a:lnTo>
                  </a:path>
                </a:pathLst>
              </a:custGeom>
              <a:noFill/>
              <a:ln w="25400">
                <a:solidFill>
                  <a:srgbClr val="E74726"/>
                </a:solidFill>
              </a:ln>
            </p:spPr>
          </p:sp>
          <p:sp>
            <p:nvSpPr>
              <p:cNvPr id="49" name="Freeform 49"/>
              <p:cNvSpPr/>
              <p:nvPr/>
            </p:nvSpPr>
            <p:spPr>
              <a:xfrm>
                <a:off x="5962650" y="2654299"/>
                <a:ext cx="76200" cy="9525"/>
              </a:xfrm>
              <a:custGeom>
                <a:avLst/>
                <a:gdLst/>
                <a:ahLst/>
                <a:cxnLst/>
                <a:rect l="l" t="t" r="r" b="b"/>
                <a:pathLst>
                  <a:path w="76200" h="9525">
                    <a:moveTo>
                      <a:pt x="0" y="0"/>
                    </a:moveTo>
                    <a:lnTo>
                      <a:pt x="76200" y="0"/>
                    </a:lnTo>
                  </a:path>
                </a:pathLst>
              </a:custGeom>
              <a:noFill/>
              <a:ln w="25400">
                <a:solidFill>
                  <a:srgbClr val="E74726"/>
                </a:solidFill>
              </a:ln>
            </p:spPr>
          </p:sp>
          <p:sp>
            <p:nvSpPr>
              <p:cNvPr id="50" name="Freeform 50"/>
              <p:cNvSpPr/>
              <p:nvPr/>
            </p:nvSpPr>
            <p:spPr>
              <a:xfrm>
                <a:off x="5949950" y="2501900"/>
                <a:ext cx="101600" cy="50800"/>
              </a:xfrm>
              <a:custGeom>
                <a:avLst/>
                <a:gdLst/>
                <a:ahLst/>
                <a:cxnLst/>
                <a:rect l="l" t="t" r="r" b="b"/>
                <a:pathLst>
                  <a:path w="101600" h="50800">
                    <a:moveTo>
                      <a:pt x="0" y="50800"/>
                    </a:moveTo>
                    <a:lnTo>
                      <a:pt x="38100" y="12700"/>
                    </a:lnTo>
                    <a:lnTo>
                      <a:pt x="63500" y="38100"/>
                    </a:lnTo>
                    <a:lnTo>
                      <a:pt x="101600" y="0"/>
                    </a:lnTo>
                  </a:path>
                </a:pathLst>
              </a:custGeom>
              <a:noFill/>
              <a:ln w="25400">
                <a:solidFill>
                  <a:srgbClr val="E74726"/>
                </a:solidFill>
              </a:ln>
            </p:spPr>
          </p:sp>
        </p:grpSp>
        <p:sp>
          <p:nvSpPr>
            <p:cNvPr id="52" name="Ellipse 52"/>
            <p:cNvSpPr/>
            <p:nvPr/>
          </p:nvSpPr>
          <p:spPr>
            <a:xfrm>
              <a:off x="6800850" y="2667000"/>
              <a:ext cx="152400" cy="152400"/>
            </a:xfrm>
            <a:prstGeom prst="ellipse">
              <a:avLst/>
            </a:prstGeom>
            <a:solidFill>
              <a:srgbClr val="FFB5A8"/>
            </a:solidFill>
            <a:ln>
              <a:noFill/>
            </a:ln>
          </p:spPr>
        </p:sp>
        <p:sp>
          <p:nvSpPr>
            <p:cNvPr id="53" name="Rectangle 53"/>
            <p:cNvSpPr/>
            <p:nvPr/>
          </p:nvSpPr>
          <p:spPr>
            <a:xfrm>
              <a:off x="6781800" y="2838450"/>
              <a:ext cx="190500" cy="285750"/>
            </a:xfrm>
            <a:prstGeom prst="roundRect">
              <a:avLst>
                <a:gd name="adj" fmla="val 30000"/>
              </a:avLst>
            </a:prstGeom>
            <a:solidFill>
              <a:srgbClr val="FFFFFF"/>
            </a:solidFill>
            <a:ln>
              <a:noFill/>
            </a:ln>
          </p:spPr>
        </p:sp>
        <p:sp>
          <p:nvSpPr>
            <p:cNvPr id="54" name="Freeform 54"/>
            <p:cNvSpPr/>
            <p:nvPr/>
          </p:nvSpPr>
          <p:spPr>
            <a:xfrm rot="10800000">
              <a:off x="4762500" y="3381375"/>
              <a:ext cx="2667000" cy="419100"/>
            </a:xfrm>
            <a:prstGeom prst="trapezoid">
              <a:avLst>
                <a:gd name="adj" fmla="val 50000"/>
              </a:avLst>
            </a:prstGeom>
            <a:solidFill>
              <a:srgbClr val="FFFFFF">
                <a:alpha val="92000"/>
              </a:srgbClr>
            </a:solidFill>
            <a:ln>
              <a:noFill/>
            </a:ln>
          </p:spPr>
        </p:sp>
        <p:sp>
          <p:nvSpPr>
            <p:cNvPr id="55" name="TextBox 55"/>
            <p:cNvSpPr txBox="1"/>
            <p:nvPr/>
          </p:nvSpPr>
          <p:spPr>
            <a:xfrm>
              <a:off x="5543931" y="3511868"/>
              <a:ext cx="1104138" cy="264033"/>
            </a:xfrm>
            <a:prstGeom prst="rect">
              <a:avLst/>
            </a:prstGeom>
            <a:noFill/>
            <a:ln>
              <a:noFill/>
            </a:ln>
          </p:spPr>
          <p:txBody>
            <a:bodyPr wrap="none" lIns="0" tIns="0" rIns="0" bIns="0" anchor="t" anchorCtr="0">
              <a:spAutoFit/>
            </a:bodyPr>
            <a:lstStyle/>
            <a:p>
              <a:pPr algn="ctr"/>
              <a:r>
                <a:rPr lang="zh-CN" sz="1350" b="1" dirty="0">
                  <a:solidFill>
                    <a:srgbClr val="932F1B"/>
                  </a:solidFill>
                  <a:latin typeface="+mn-lt"/>
                  <a:ea typeface="+mn-ea"/>
                  <a:cs typeface="+mn-cs"/>
                </a:rPr>
                <a:t>执行落地难？</a:t>
              </a:r>
            </a:p>
          </p:txBody>
        </p:sp>
        <p:sp>
          <p:nvSpPr>
            <p:cNvPr id="56" name="TextBox 56"/>
            <p:cNvSpPr txBox="1"/>
            <p:nvPr/>
          </p:nvSpPr>
          <p:spPr>
            <a:xfrm>
              <a:off x="5103317" y="4212431"/>
              <a:ext cx="1985366" cy="715328"/>
            </a:xfrm>
            <a:prstGeom prst="rect">
              <a:avLst/>
            </a:prstGeom>
            <a:noFill/>
            <a:ln>
              <a:noFill/>
            </a:ln>
          </p:spPr>
          <p:txBody>
            <a:bodyPr wrap="none" lIns="0" tIns="0" rIns="0" bIns="0" anchor="t" anchorCtr="0">
              <a:spAutoFit/>
            </a:bodyPr>
            <a:lstStyle/>
            <a:p>
              <a:pPr algn="ctr">
                <a:lnSpc>
                  <a:spcPts val="1950"/>
                </a:lnSpc>
              </a:pPr>
              <a:r>
                <a:rPr lang="zh-CN" sz="1120" dirty="0">
                  <a:solidFill>
                    <a:srgbClr val="FFFFFF"/>
                  </a:solidFill>
                  <a:latin typeface="+mn-lt"/>
                  <a:ea typeface="+mn-ea"/>
                  <a:cs typeface="+mn-cs"/>
                </a:rPr>
                <a:t xml:space="preserve">提供 </a:t>
              </a:r>
              <a:r>
                <a:rPr lang="zh-CN" sz="1120" b="1" dirty="0">
                  <a:solidFill>
                    <a:srgbClr val="FFFFFF"/>
                  </a:solidFill>
                  <a:latin typeface="+mn-lt"/>
                  <a:ea typeface="+mn-ea"/>
                  <a:cs typeface="+mn-cs"/>
                </a:rPr>
                <a:t>长尾客群运营陪跑服务，​</a:t>
              </a:r>
              <a:br/>
              <a:r>
                <a:rPr lang="zh-CN" sz="1120" b="1" dirty="0">
                  <a:solidFill>
                    <a:srgbClr val="FFFFFF"/>
                  </a:solidFill>
                  <a:latin typeface="+mn-lt"/>
                  <a:ea typeface="+mn-ea"/>
                  <a:cs typeface="+mn-cs"/>
                </a:rPr>
                <a:t>确保客群经营能力真正内化</a:t>
              </a:r>
              <a:br/>
              <a:r>
                <a:rPr lang="zh-CN" sz="1120" b="1" dirty="0">
                  <a:solidFill>
                    <a:srgbClr val="FFFFFF"/>
                  </a:solidFill>
                  <a:latin typeface="+mn-lt"/>
                  <a:ea typeface="+mn-ea"/>
                  <a:cs typeface="+mn-cs"/>
                </a:rPr>
                <a:t>为银行自身的运营本领</a:t>
              </a:r>
            </a:p>
          </p:txBody>
        </p:sp>
      </p:grpSp>
      <p:grpSp>
        <p:nvGrpSpPr>
          <p:cNvPr id="73" name="service-wecom"/>
          <p:cNvGrpSpPr/>
          <p:nvPr/>
        </p:nvGrpSpPr>
        <p:grpSpPr>
          <a:xfrm>
            <a:off x="8191500" y="1905000"/>
            <a:ext cx="3429000" cy="4000500"/>
            <a:chOff x="8191500" y="1905000"/>
            <a:chExt cx="3429000" cy="4000500"/>
          </a:xfrm>
        </p:grpSpPr>
        <p:sp>
          <p:nvSpPr>
            <p:cNvPr id="58" name="Rectangle 58"/>
            <p:cNvSpPr/>
            <p:nvPr/>
          </p:nvSpPr>
          <p:spPr>
            <a:xfrm>
              <a:off x="8191500" y="1905000"/>
              <a:ext cx="3429000" cy="4000500"/>
            </a:xfrm>
            <a:prstGeom prst="roundRect">
              <a:avLst>
                <a:gd name="adj" fmla="val 5000"/>
              </a:avLst>
            </a:prstGeom>
            <a:gradFill>
              <a:gsLst>
                <a:gs pos="0">
                  <a:srgbClr val="D93E1E"/>
                </a:gs>
                <a:gs pos="100000">
                  <a:srgbClr val="F05D3F"/>
                </a:gs>
              </a:gsLst>
              <a:lin ang="5400000" scaled="1"/>
            </a:gradFill>
            <a:ln>
              <a:noFill/>
            </a:ln>
          </p:spPr>
        </p:sp>
        <p:sp>
          <p:nvSpPr>
            <p:cNvPr id="59" name="Rectangle 59"/>
            <p:cNvSpPr/>
            <p:nvPr/>
          </p:nvSpPr>
          <p:spPr>
            <a:xfrm>
              <a:off x="8524875" y="2571750"/>
              <a:ext cx="400050" cy="685800"/>
            </a:xfrm>
            <a:prstGeom prst="rect">
              <a:avLst/>
            </a:prstGeom>
            <a:solidFill>
              <a:srgbClr val="FFFFFF">
                <a:alpha val="30000"/>
              </a:srgbClr>
            </a:solidFill>
            <a:ln>
              <a:noFill/>
            </a:ln>
          </p:spPr>
        </p:sp>
        <p:sp>
          <p:nvSpPr>
            <p:cNvPr id="60" name="Rectangle 60"/>
            <p:cNvSpPr/>
            <p:nvPr/>
          </p:nvSpPr>
          <p:spPr>
            <a:xfrm>
              <a:off x="9010650" y="2381250"/>
              <a:ext cx="495300" cy="876300"/>
            </a:xfrm>
            <a:prstGeom prst="rect">
              <a:avLst/>
            </a:prstGeom>
            <a:solidFill>
              <a:srgbClr val="FFFFFF">
                <a:alpha val="42000"/>
              </a:srgbClr>
            </a:solidFill>
            <a:ln>
              <a:noFill/>
            </a:ln>
          </p:spPr>
        </p:sp>
        <p:sp>
          <p:nvSpPr>
            <p:cNvPr id="61" name="Rectangle 61"/>
            <p:cNvSpPr/>
            <p:nvPr/>
          </p:nvSpPr>
          <p:spPr>
            <a:xfrm>
              <a:off x="10782300" y="2514600"/>
              <a:ext cx="438150" cy="742950"/>
            </a:xfrm>
            <a:prstGeom prst="rect">
              <a:avLst/>
            </a:prstGeom>
            <a:solidFill>
              <a:srgbClr val="FFFFFF">
                <a:alpha val="30000"/>
              </a:srgbClr>
            </a:solidFill>
            <a:ln>
              <a:noFill/>
            </a:ln>
          </p:spPr>
        </p:sp>
        <p:sp>
          <p:nvSpPr>
            <p:cNvPr id="62" name="Ellipse 62"/>
            <p:cNvSpPr/>
            <p:nvPr/>
          </p:nvSpPr>
          <p:spPr>
            <a:xfrm>
              <a:off x="8782050" y="3162300"/>
              <a:ext cx="2247900" cy="247650"/>
            </a:xfrm>
            <a:prstGeom prst="ellipse">
              <a:avLst/>
            </a:prstGeom>
            <a:solidFill>
              <a:srgbClr val="FFFFFF">
                <a:alpha val="25000"/>
              </a:srgbClr>
            </a:solidFill>
            <a:ln>
              <a:noFill/>
            </a:ln>
          </p:spPr>
        </p:sp>
        <p:sp>
          <p:nvSpPr>
            <p:cNvPr id="63" name="Rectangle 63"/>
            <p:cNvSpPr/>
            <p:nvPr/>
          </p:nvSpPr>
          <p:spPr>
            <a:xfrm>
              <a:off x="9525000" y="2266950"/>
              <a:ext cx="762000" cy="590550"/>
            </a:xfrm>
            <a:prstGeom prst="roundRect">
              <a:avLst>
                <a:gd name="adj" fmla="val 6452"/>
              </a:avLst>
            </a:prstGeom>
            <a:solidFill>
              <a:srgbClr val="FFFFFF"/>
            </a:solidFill>
            <a:ln>
              <a:noFill/>
            </a:ln>
          </p:spPr>
        </p:sp>
        <p:grpSp>
          <p:nvGrpSpPr>
            <p:cNvPr id="67" name="Group 67"/>
            <p:cNvGrpSpPr/>
            <p:nvPr/>
          </p:nvGrpSpPr>
          <p:grpSpPr>
            <a:xfrm>
              <a:off x="9721850" y="2419350"/>
              <a:ext cx="177800" cy="228599"/>
              <a:chOff x="9721850" y="2419350"/>
              <a:chExt cx="177800" cy="228599"/>
            </a:xfrm>
          </p:grpSpPr>
          <p:sp>
            <p:nvSpPr>
              <p:cNvPr id="64" name="Freeform 64"/>
              <p:cNvSpPr/>
              <p:nvPr/>
            </p:nvSpPr>
            <p:spPr>
              <a:xfrm>
                <a:off x="9721850" y="2444750"/>
                <a:ext cx="177800" cy="203199"/>
              </a:xfrm>
              <a:custGeom>
                <a:avLst/>
                <a:gdLst/>
                <a:ahLst/>
                <a:cxnLst/>
                <a:rect l="l" t="t" r="r" b="b"/>
                <a:pathLst>
                  <a:path w="177800" h="203199">
                    <a:moveTo>
                      <a:pt x="50800" y="0"/>
                    </a:moveTo>
                    <a:lnTo>
                      <a:pt x="25400" y="0"/>
                    </a:lnTo>
                    <a:cubicBezTo>
                      <a:pt x="11372" y="0"/>
                      <a:pt x="0" y="11372"/>
                      <a:pt x="0" y="25400"/>
                    </a:cubicBezTo>
                    <a:lnTo>
                      <a:pt x="0" y="177800"/>
                    </a:lnTo>
                    <a:cubicBezTo>
                      <a:pt x="0" y="191828"/>
                      <a:pt x="11372" y="203199"/>
                      <a:pt x="25400" y="203199"/>
                    </a:cubicBezTo>
                    <a:lnTo>
                      <a:pt x="152400" y="203199"/>
                    </a:lnTo>
                    <a:cubicBezTo>
                      <a:pt x="166428" y="203199"/>
                      <a:pt x="177800" y="191828"/>
                      <a:pt x="177800" y="177800"/>
                    </a:cubicBezTo>
                    <a:lnTo>
                      <a:pt x="177800" y="25400"/>
                    </a:lnTo>
                    <a:cubicBezTo>
                      <a:pt x="177800" y="11372"/>
                      <a:pt x="166428" y="0"/>
                      <a:pt x="152400" y="0"/>
                    </a:cubicBezTo>
                    <a:lnTo>
                      <a:pt x="127000" y="0"/>
                    </a:lnTo>
                  </a:path>
                </a:pathLst>
              </a:custGeom>
              <a:noFill/>
              <a:ln w="25400">
                <a:solidFill>
                  <a:srgbClr val="E74726"/>
                </a:solidFill>
              </a:ln>
            </p:spPr>
          </p:sp>
          <p:sp>
            <p:nvSpPr>
              <p:cNvPr id="65" name="Freeform 65"/>
              <p:cNvSpPr/>
              <p:nvPr/>
            </p:nvSpPr>
            <p:spPr>
              <a:xfrm>
                <a:off x="9772650" y="2419350"/>
                <a:ext cx="76200" cy="50800"/>
              </a:xfrm>
              <a:custGeom>
                <a:avLst/>
                <a:gdLst/>
                <a:ahLst/>
                <a:cxnLst/>
                <a:rect l="l" t="t" r="r" b="b"/>
                <a:pathLst>
                  <a:path w="76200" h="50800">
                    <a:moveTo>
                      <a:pt x="0" y="25400"/>
                    </a:moveTo>
                    <a:cubicBezTo>
                      <a:pt x="0" y="11372"/>
                      <a:pt x="11372" y="0"/>
                      <a:pt x="25400" y="0"/>
                    </a:cubicBezTo>
                    <a:lnTo>
                      <a:pt x="50800" y="0"/>
                    </a:lnTo>
                    <a:cubicBezTo>
                      <a:pt x="64828" y="0"/>
                      <a:pt x="76200" y="11372"/>
                      <a:pt x="76200" y="25400"/>
                    </a:cubicBezTo>
                    <a:cubicBezTo>
                      <a:pt x="76200" y="39428"/>
                      <a:pt x="64828" y="50800"/>
                      <a:pt x="50800" y="50800"/>
                    </a:cubicBezTo>
                    <a:lnTo>
                      <a:pt x="25400" y="50800"/>
                    </a:lnTo>
                    <a:cubicBezTo>
                      <a:pt x="11372" y="50800"/>
                      <a:pt x="0" y="39428"/>
                      <a:pt x="0" y="25400"/>
                    </a:cubicBezTo>
                  </a:path>
                </a:pathLst>
              </a:custGeom>
              <a:noFill/>
              <a:ln w="25400">
                <a:solidFill>
                  <a:srgbClr val="E74726"/>
                </a:solidFill>
              </a:ln>
            </p:spPr>
          </p:sp>
          <p:sp>
            <p:nvSpPr>
              <p:cNvPr id="66" name="Freeform 66"/>
              <p:cNvSpPr/>
              <p:nvPr/>
            </p:nvSpPr>
            <p:spPr>
              <a:xfrm>
                <a:off x="9772650" y="2533650"/>
                <a:ext cx="76200" cy="50800"/>
              </a:xfrm>
              <a:custGeom>
                <a:avLst/>
                <a:gdLst/>
                <a:ahLst/>
                <a:cxnLst/>
                <a:rect l="l" t="t" r="r" b="b"/>
                <a:pathLst>
                  <a:path w="76200" h="50800">
                    <a:moveTo>
                      <a:pt x="0" y="25400"/>
                    </a:moveTo>
                    <a:lnTo>
                      <a:pt x="25400" y="50800"/>
                    </a:lnTo>
                    <a:lnTo>
                      <a:pt x="76200" y="0"/>
                    </a:lnTo>
                  </a:path>
                </a:pathLst>
              </a:custGeom>
              <a:noFill/>
              <a:ln w="25400">
                <a:solidFill>
                  <a:srgbClr val="E74726"/>
                </a:solidFill>
              </a:ln>
            </p:spPr>
          </p:sp>
        </p:grpSp>
        <p:sp>
          <p:nvSpPr>
            <p:cNvPr id="68" name="Ellipse 68"/>
            <p:cNvSpPr/>
            <p:nvPr/>
          </p:nvSpPr>
          <p:spPr>
            <a:xfrm>
              <a:off x="10610850" y="2686050"/>
              <a:ext cx="152400" cy="152400"/>
            </a:xfrm>
            <a:prstGeom prst="ellipse">
              <a:avLst/>
            </a:prstGeom>
            <a:solidFill>
              <a:srgbClr val="FFB5A8"/>
            </a:solidFill>
            <a:ln>
              <a:noFill/>
            </a:ln>
          </p:spPr>
        </p:sp>
        <p:sp>
          <p:nvSpPr>
            <p:cNvPr id="69" name="Rectangle 69"/>
            <p:cNvSpPr/>
            <p:nvPr/>
          </p:nvSpPr>
          <p:spPr>
            <a:xfrm>
              <a:off x="10591800" y="2857500"/>
              <a:ext cx="190500" cy="285750"/>
            </a:xfrm>
            <a:prstGeom prst="roundRect">
              <a:avLst>
                <a:gd name="adj" fmla="val 30000"/>
              </a:avLst>
            </a:prstGeom>
            <a:solidFill>
              <a:srgbClr val="F5715A"/>
            </a:solidFill>
            <a:ln>
              <a:noFill/>
            </a:ln>
          </p:spPr>
        </p:sp>
        <p:sp>
          <p:nvSpPr>
            <p:cNvPr id="70" name="Freeform 70"/>
            <p:cNvSpPr/>
            <p:nvPr/>
          </p:nvSpPr>
          <p:spPr>
            <a:xfrm rot="10800000">
              <a:off x="8572500" y="3381375"/>
              <a:ext cx="2667000" cy="419100"/>
            </a:xfrm>
            <a:prstGeom prst="trapezoid">
              <a:avLst>
                <a:gd name="adj" fmla="val 50000"/>
              </a:avLst>
            </a:prstGeom>
            <a:solidFill>
              <a:srgbClr val="FFFFFF">
                <a:alpha val="92000"/>
              </a:srgbClr>
            </a:solidFill>
            <a:ln>
              <a:noFill/>
            </a:ln>
          </p:spPr>
        </p:sp>
        <p:sp>
          <p:nvSpPr>
            <p:cNvPr id="71" name="TextBox 71"/>
            <p:cNvSpPr txBox="1"/>
            <p:nvPr/>
          </p:nvSpPr>
          <p:spPr>
            <a:xfrm>
              <a:off x="9444800" y="3511868"/>
              <a:ext cx="922401" cy="264033"/>
            </a:xfrm>
            <a:prstGeom prst="rect">
              <a:avLst/>
            </a:prstGeom>
            <a:noFill/>
            <a:ln>
              <a:noFill/>
            </a:ln>
          </p:spPr>
          <p:txBody>
            <a:bodyPr wrap="none" lIns="0" tIns="0" rIns="0" bIns="0" anchor="t" anchorCtr="0">
              <a:spAutoFit/>
            </a:bodyPr>
            <a:lstStyle/>
            <a:p>
              <a:pPr algn="ctr"/>
              <a:r>
                <a:rPr lang="zh-CN" sz="1350" b="1" dirty="0">
                  <a:solidFill>
                    <a:srgbClr val="932F1B"/>
                  </a:solidFill>
                  <a:latin typeface="+mn-lt"/>
                  <a:ea typeface="+mn-ea"/>
                  <a:cs typeface="+mn-cs"/>
                </a:rPr>
                <a:t>触客瓶颈？</a:t>
              </a:r>
            </a:p>
          </p:txBody>
        </p:sp>
        <p:sp>
          <p:nvSpPr>
            <p:cNvPr id="72" name="TextBox 72"/>
            <p:cNvSpPr txBox="1"/>
            <p:nvPr/>
          </p:nvSpPr>
          <p:spPr>
            <a:xfrm>
              <a:off x="8912606" y="4212431"/>
              <a:ext cx="1986788" cy="715328"/>
            </a:xfrm>
            <a:prstGeom prst="rect">
              <a:avLst/>
            </a:prstGeom>
            <a:noFill/>
            <a:ln>
              <a:noFill/>
            </a:ln>
          </p:spPr>
          <p:txBody>
            <a:bodyPr wrap="none" lIns="0" tIns="0" rIns="0" bIns="0" anchor="t" anchorCtr="0">
              <a:spAutoFit/>
            </a:bodyPr>
            <a:lstStyle/>
            <a:p>
              <a:pPr algn="ctr">
                <a:lnSpc>
                  <a:spcPts val="1950"/>
                </a:lnSpc>
              </a:pPr>
              <a:r>
                <a:rPr lang="zh-CN" sz="1120" dirty="0">
                  <a:solidFill>
                    <a:srgbClr val="FFFFFF"/>
                  </a:solidFill>
                  <a:latin typeface="+mn-lt"/>
                  <a:ea typeface="+mn-ea"/>
                  <a:cs typeface="+mn-cs"/>
                </a:rPr>
                <a:t xml:space="preserve">提供 </a:t>
              </a:r>
              <a:r>
                <a:rPr lang="zh-CN" sz="1120" b="1" dirty="0">
                  <a:solidFill>
                    <a:srgbClr val="FFFFFF"/>
                  </a:solidFill>
                  <a:latin typeface="+mn-lt"/>
                  <a:ea typeface="+mn-ea"/>
                  <a:cs typeface="+mn-cs"/>
                </a:rPr>
                <a:t>基于企微的长尾客群</a:t>
              </a:r>
              <a:br/>
              <a:r>
                <a:rPr lang="zh-CN" sz="1120" b="1" dirty="0">
                  <a:solidFill>
                    <a:srgbClr val="FFFFFF"/>
                  </a:solidFill>
                  <a:latin typeface="+mn-lt"/>
                  <a:ea typeface="+mn-ea"/>
                  <a:cs typeface="+mn-cs"/>
                </a:rPr>
                <a:t>直营体系0-1搭建咨询服务，​​</a:t>
              </a:r>
              <a:br/>
              <a:r>
                <a:rPr lang="zh-CN" sz="1120" b="1" dirty="0">
                  <a:solidFill>
                    <a:srgbClr val="FFFFFF"/>
                  </a:solidFill>
                  <a:latin typeface="+mn-lt"/>
                  <a:ea typeface="+mn-ea"/>
                  <a:cs typeface="+mn-cs"/>
                </a:rPr>
                <a:t>打造触客高频低成本渠道</a:t>
              </a:r>
            </a:p>
          </p:txBody>
        </p:sp>
      </p:grpSp>
      <p:grpSp>
        <p:nvGrpSpPr>
          <p:cNvPr id="76" name="footer"/>
          <p:cNvGrpSpPr/>
          <p:nvPr/>
        </p:nvGrpSpPr>
        <p:grpSpPr>
          <a:xfrm>
            <a:off x="0" y="6438900"/>
            <a:ext cx="12192000" cy="342900"/>
            <a:chOff x="0" y="6438900"/>
            <a:chExt cx="12192000" cy="342900"/>
          </a:xfrm>
        </p:grpSpPr>
        <p:sp>
          <p:nvSpPr>
            <p:cNvPr id="74" name="Line 74"/>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75" name="TextBox 75"/>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34​</a:t>
              </a:r>
            </a:p>
          </p:txBody>
        </p:sp>
        <p:sp>
          <p:nvSpPr>
            <p:cNvPr id="4" name="TextBox 4"/>
            <p:cNvSpPr txBox="1"/>
            <p:nvPr/>
          </p:nvSpPr>
          <p:spPr>
            <a:xfrm>
              <a:off x="885444" y="160973"/>
              <a:ext cx="7213351"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3.3.1 中电金信解决方案｜</a:t>
              </a:r>
              <a:r>
                <a:rPr lang="zh-CN" sz="1950" b="1" dirty="0">
                  <a:solidFill>
                    <a:srgbClr val="E74726"/>
                  </a:solidFill>
                  <a:latin typeface="+mj-lt"/>
                  <a:ea typeface="+mj-ea"/>
                  <a:cs typeface="+mj-cs"/>
                </a:rPr>
                <a:t>长尾客群经营体系规划服务</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7230740" cy="249364"/>
            <a:chOff x="374523" y="681514"/>
            <a:chExt cx="7230740" cy="249364"/>
          </a:xfrm>
        </p:grpSpPr>
        <p:sp>
          <p:nvSpPr>
            <p:cNvPr id="16" name="TextBox 16"/>
            <p:cNvSpPr txBox="1"/>
            <p:nvPr/>
          </p:nvSpPr>
          <p:spPr>
            <a:xfrm>
              <a:off x="374523" y="681514"/>
              <a:ext cx="7230740"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围绕“标准化、规模化、精细化、智能化”四项目标，构建覆盖全量长尾客群的完整经营框架​​​</a:t>
              </a:r>
            </a:p>
          </p:txBody>
        </p:sp>
      </p:grpSp>
      <p:grpSp>
        <p:nvGrpSpPr>
          <p:cNvPr id="19" name="guide"/>
          <p:cNvGrpSpPr/>
          <p:nvPr/>
        </p:nvGrpSpPr>
        <p:grpSpPr>
          <a:xfrm>
            <a:off x="376047" y="990124"/>
            <a:ext cx="8466465" cy="190690"/>
            <a:chOff x="376047" y="990124"/>
            <a:chExt cx="8466465" cy="190690"/>
          </a:xfrm>
        </p:grpSpPr>
        <p:sp>
          <p:nvSpPr>
            <p:cNvPr id="18" name="TextBox 18"/>
            <p:cNvSpPr txBox="1"/>
            <p:nvPr/>
          </p:nvSpPr>
          <p:spPr>
            <a:xfrm>
              <a:off x="376047" y="990124"/>
              <a:ext cx="8466465"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这是一套从顶层设计到执行落地、从系统工具到组织能力的端到端体系规划方案，帮助银行将长尾经营从零散动作升级为可持续运转的闭环体系​​</a:t>
              </a:r>
            </a:p>
          </p:txBody>
        </p:sp>
      </p:grpSp>
      <p:grpSp>
        <p:nvGrpSpPr>
          <p:cNvPr id="23" name="roof"/>
          <p:cNvGrpSpPr/>
          <p:nvPr/>
        </p:nvGrpSpPr>
        <p:grpSpPr>
          <a:xfrm>
            <a:off x="381000" y="1428750"/>
            <a:ext cx="11430000" cy="489109"/>
            <a:chOff x="381000" y="1428750"/>
            <a:chExt cx="11430000" cy="489109"/>
          </a:xfrm>
        </p:grpSpPr>
        <p:sp>
          <p:nvSpPr>
            <p:cNvPr id="20" name="Freeform 20"/>
            <p:cNvSpPr/>
            <p:nvPr/>
          </p:nvSpPr>
          <p:spPr>
            <a:xfrm>
              <a:off x="381000" y="1428750"/>
              <a:ext cx="11430000" cy="228600"/>
            </a:xfrm>
            <a:prstGeom prst="triangle">
              <a:avLst/>
            </a:prstGeom>
            <a:solidFill>
              <a:srgbClr val="E74726"/>
            </a:solidFill>
            <a:ln>
              <a:noFill/>
            </a:ln>
          </p:spPr>
        </p:sp>
        <p:sp>
          <p:nvSpPr>
            <p:cNvPr id="21" name="Rectangle 21"/>
            <p:cNvSpPr/>
            <p:nvPr/>
          </p:nvSpPr>
          <p:spPr>
            <a:xfrm>
              <a:off x="381000" y="1657350"/>
              <a:ext cx="11430000" cy="209550"/>
            </a:xfrm>
            <a:prstGeom prst="rect">
              <a:avLst/>
            </a:prstGeom>
            <a:solidFill>
              <a:srgbClr val="E74726"/>
            </a:solidFill>
            <a:ln>
              <a:noFill/>
            </a:ln>
          </p:spPr>
        </p:sp>
        <p:sp>
          <p:nvSpPr>
            <p:cNvPr id="22" name="TextBox 22"/>
            <p:cNvSpPr txBox="1"/>
            <p:nvPr/>
          </p:nvSpPr>
          <p:spPr>
            <a:xfrm>
              <a:off x="4013368" y="1697831"/>
              <a:ext cx="4165265"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长尾客户数字化营销与运营标准化、规模化、精细化、智能化​</a:t>
              </a:r>
            </a:p>
          </p:txBody>
        </p:sp>
      </p:grpSp>
      <p:grpSp>
        <p:nvGrpSpPr>
          <p:cNvPr id="71" name="row-dual"/>
          <p:cNvGrpSpPr/>
          <p:nvPr/>
        </p:nvGrpSpPr>
        <p:grpSpPr>
          <a:xfrm>
            <a:off x="381000" y="1952625"/>
            <a:ext cx="10953750" cy="1190625"/>
            <a:chOff x="381000" y="1952625"/>
            <a:chExt cx="10953750" cy="1190625"/>
          </a:xfrm>
        </p:grpSpPr>
        <p:sp>
          <p:nvSpPr>
            <p:cNvPr id="24" name="Rectangle 24"/>
            <p:cNvSpPr/>
            <p:nvPr/>
          </p:nvSpPr>
          <p:spPr>
            <a:xfrm>
              <a:off x="381000" y="1952625"/>
              <a:ext cx="666750" cy="1190625"/>
            </a:xfrm>
            <a:prstGeom prst="rect">
              <a:avLst/>
            </a:prstGeom>
            <a:solidFill>
              <a:srgbClr val="E74726"/>
            </a:solidFill>
            <a:ln>
              <a:noFill/>
            </a:ln>
          </p:spPr>
        </p:sp>
        <p:sp>
          <p:nvSpPr>
            <p:cNvPr id="25" name="TextBox 25"/>
            <p:cNvSpPr txBox="1"/>
            <p:nvPr/>
          </p:nvSpPr>
          <p:spPr>
            <a:xfrm>
              <a:off x="525348" y="2259806"/>
              <a:ext cx="378054" cy="6010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FFFFFF"/>
                  </a:solidFill>
                  <a:latin typeface="+mn-lt"/>
                  <a:ea typeface="+mn-ea"/>
                  <a:cs typeface="+mn-cs"/>
                </a:rPr>
                <a:t>双轮​</a:t>
              </a:r>
              <a:br/>
              <a:r>
                <a:rPr lang="zh-CN" sz="1120" b="1" dirty="0">
                  <a:solidFill>
                    <a:srgbClr val="FFFFFF"/>
                  </a:solidFill>
                  <a:latin typeface="+mn-lt"/>
                  <a:ea typeface="+mn-ea"/>
                  <a:cs typeface="+mn-cs"/>
                </a:rPr>
                <a:t>运营​</a:t>
              </a:r>
              <a:br/>
              <a:r>
                <a:rPr lang="zh-CN" sz="1120" b="1" dirty="0">
                  <a:solidFill>
                    <a:srgbClr val="FFFFFF"/>
                  </a:solidFill>
                  <a:latin typeface="+mn-lt"/>
                  <a:ea typeface="+mn-ea"/>
                  <a:cs typeface="+mn-cs"/>
                </a:rPr>
                <a:t>模式​</a:t>
              </a:r>
            </a:p>
          </p:txBody>
        </p:sp>
        <p:sp>
          <p:nvSpPr>
            <p:cNvPr id="26" name="Ellipse 26"/>
            <p:cNvSpPr/>
            <p:nvPr/>
          </p:nvSpPr>
          <p:spPr>
            <a:xfrm>
              <a:off x="1333500" y="1981200"/>
              <a:ext cx="4762500" cy="266700"/>
            </a:xfrm>
            <a:prstGeom prst="ellipse">
              <a:avLst/>
            </a:prstGeom>
            <a:solidFill>
              <a:srgbClr val="D4E2FA"/>
            </a:solidFill>
            <a:ln>
              <a:noFill/>
            </a:ln>
          </p:spPr>
        </p:sp>
        <p:sp>
          <p:nvSpPr>
            <p:cNvPr id="27" name="TextBox 27"/>
            <p:cNvSpPr txBox="1"/>
            <p:nvPr/>
          </p:nvSpPr>
          <p:spPr>
            <a:xfrm>
              <a:off x="3246491" y="2048828"/>
              <a:ext cx="936517" cy="205359"/>
            </a:xfrm>
            <a:prstGeom prst="rect">
              <a:avLst/>
            </a:prstGeom>
            <a:noFill/>
            <a:ln>
              <a:noFill/>
            </a:ln>
          </p:spPr>
          <p:txBody>
            <a:bodyPr wrap="none" lIns="0" tIns="0" rIns="0" bIns="0" anchor="t" anchorCtr="0">
              <a:spAutoFit/>
            </a:bodyPr>
            <a:lstStyle/>
            <a:p>
              <a:pPr algn="ctr"/>
              <a:r>
                <a:rPr lang="zh-CN" sz="1050" dirty="0">
                  <a:solidFill>
                    <a:srgbClr val="1A1A1A"/>
                  </a:solidFill>
                  <a:latin typeface="+mn-lt"/>
                  <a:ea typeface="+mn-ea"/>
                  <a:cs typeface="+mn-cs"/>
                </a:rPr>
                <a:t>广覆盖·筑链路</a:t>
              </a:r>
            </a:p>
          </p:txBody>
        </p:sp>
        <p:sp>
          <p:nvSpPr>
            <p:cNvPr id="28" name="Ellipse 28"/>
            <p:cNvSpPr/>
            <p:nvPr/>
          </p:nvSpPr>
          <p:spPr>
            <a:xfrm>
              <a:off x="6572250" y="1981200"/>
              <a:ext cx="4762500" cy="266700"/>
            </a:xfrm>
            <a:prstGeom prst="ellipse">
              <a:avLst/>
            </a:prstGeom>
            <a:solidFill>
              <a:srgbClr val="D4E2FA"/>
            </a:solidFill>
            <a:ln>
              <a:noFill/>
            </a:ln>
          </p:spPr>
        </p:sp>
        <p:sp>
          <p:nvSpPr>
            <p:cNvPr id="29" name="TextBox 29"/>
            <p:cNvSpPr txBox="1"/>
            <p:nvPr/>
          </p:nvSpPr>
          <p:spPr>
            <a:xfrm>
              <a:off x="8485241" y="2048828"/>
              <a:ext cx="936517" cy="205359"/>
            </a:xfrm>
            <a:prstGeom prst="rect">
              <a:avLst/>
            </a:prstGeom>
            <a:noFill/>
            <a:ln>
              <a:noFill/>
            </a:ln>
          </p:spPr>
          <p:txBody>
            <a:bodyPr wrap="none" lIns="0" tIns="0" rIns="0" bIns="0" anchor="t" anchorCtr="0">
              <a:spAutoFit/>
            </a:bodyPr>
            <a:lstStyle/>
            <a:p>
              <a:pPr algn="ctr"/>
              <a:r>
                <a:rPr lang="zh-CN" sz="1050" dirty="0">
                  <a:solidFill>
                    <a:srgbClr val="1A1A1A"/>
                  </a:solidFill>
                  <a:latin typeface="+mn-lt"/>
                  <a:ea typeface="+mn-ea"/>
                  <a:cs typeface="+mn-cs"/>
                </a:rPr>
                <a:t>深挖掘·做细分</a:t>
              </a:r>
            </a:p>
          </p:txBody>
        </p:sp>
        <p:grpSp>
          <p:nvGrpSpPr>
            <p:cNvPr id="47" name="chain-wide"/>
            <p:cNvGrpSpPr/>
            <p:nvPr/>
          </p:nvGrpSpPr>
          <p:grpSpPr>
            <a:xfrm>
              <a:off x="1333500" y="2324100"/>
              <a:ext cx="4762500" cy="819150"/>
              <a:chOff x="1333500" y="2324100"/>
              <a:chExt cx="4762500" cy="819150"/>
            </a:xfrm>
          </p:grpSpPr>
          <p:sp>
            <p:nvSpPr>
              <p:cNvPr id="30" name="Rectangle 30"/>
              <p:cNvSpPr/>
              <p:nvPr/>
            </p:nvSpPr>
            <p:spPr>
              <a:xfrm>
                <a:off x="1333500" y="2324100"/>
                <a:ext cx="4762500" cy="819150"/>
              </a:xfrm>
              <a:prstGeom prst="roundRect">
                <a:avLst>
                  <a:gd name="adj" fmla="val 4651"/>
                </a:avLst>
              </a:prstGeom>
              <a:solidFill>
                <a:srgbClr val="E7EFFC"/>
              </a:solidFill>
              <a:ln>
                <a:noFill/>
              </a:ln>
            </p:spPr>
          </p:sp>
          <p:sp>
            <p:nvSpPr>
              <p:cNvPr id="31" name="TextBox 31"/>
              <p:cNvSpPr txBox="1"/>
              <p:nvPr/>
            </p:nvSpPr>
            <p:spPr>
              <a:xfrm>
                <a:off x="2931986" y="2401252"/>
                <a:ext cx="1565529"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全量客群全周期运营链路</a:t>
                </a:r>
              </a:p>
            </p:txBody>
          </p:sp>
          <p:sp>
            <p:nvSpPr>
              <p:cNvPr id="32" name="Line 32"/>
              <p:cNvSpPr/>
              <p:nvPr/>
            </p:nvSpPr>
            <p:spPr>
              <a:xfrm>
                <a:off x="1524000" y="2695575"/>
                <a:ext cx="4343400" cy="1"/>
              </a:xfrm>
              <a:prstGeom prst="line">
                <a:avLst/>
              </a:prstGeom>
              <a:noFill/>
              <a:ln w="11430">
                <a:solidFill>
                  <a:srgbClr val="E74726"/>
                </a:solidFill>
                <a:tailEnd type="triangle" w="lg" len="lg"/>
              </a:ln>
            </p:spPr>
          </p:sp>
          <p:sp>
            <p:nvSpPr>
              <p:cNvPr id="33" name="Rectangle 33"/>
              <p:cNvSpPr/>
              <p:nvPr/>
            </p:nvSpPr>
            <p:spPr>
              <a:xfrm>
                <a:off x="2190750" y="2619375"/>
                <a:ext cx="571500" cy="152400"/>
              </a:xfrm>
              <a:prstGeom prst="rect">
                <a:avLst/>
              </a:prstGeom>
              <a:solidFill>
                <a:srgbClr val="FFFFFF"/>
              </a:solidFill>
              <a:ln>
                <a:noFill/>
              </a:ln>
            </p:spPr>
          </p:sp>
          <p:sp>
            <p:nvSpPr>
              <p:cNvPr id="34" name="TextBox 34"/>
              <p:cNvSpPr txBox="1"/>
              <p:nvPr/>
            </p:nvSpPr>
            <p:spPr>
              <a:xfrm>
                <a:off x="2299698" y="2644616"/>
                <a:ext cx="353604" cy="161925"/>
              </a:xfrm>
              <a:prstGeom prst="rect">
                <a:avLst/>
              </a:prstGeom>
              <a:noFill/>
              <a:ln>
                <a:noFill/>
              </a:ln>
            </p:spPr>
            <p:txBody>
              <a:bodyPr wrap="none" lIns="0" tIns="0" rIns="0" bIns="0" anchor="t" anchorCtr="0">
                <a:spAutoFit/>
              </a:bodyPr>
              <a:lstStyle/>
              <a:p>
                <a:pPr algn="ctr"/>
                <a:r>
                  <a:rPr lang="en-US" sz="820" dirty="0">
                    <a:solidFill>
                      <a:srgbClr val="333333"/>
                    </a:solidFill>
                    <a:latin typeface="+mn-lt"/>
                    <a:ea typeface="+mn-ea"/>
                    <a:cs typeface="+mn-cs"/>
                  </a:rPr>
                  <a:t>MAU​​</a:t>
                </a:r>
              </a:p>
            </p:txBody>
          </p:sp>
          <p:sp>
            <p:nvSpPr>
              <p:cNvPr id="35" name="Rectangle 35"/>
              <p:cNvSpPr/>
              <p:nvPr/>
            </p:nvSpPr>
            <p:spPr>
              <a:xfrm>
                <a:off x="4095750" y="2619375"/>
                <a:ext cx="571500" cy="152400"/>
              </a:xfrm>
              <a:prstGeom prst="rect">
                <a:avLst/>
              </a:prstGeom>
              <a:solidFill>
                <a:srgbClr val="FFFFFF"/>
              </a:solidFill>
              <a:ln>
                <a:noFill/>
              </a:ln>
            </p:spPr>
          </p:sp>
          <p:sp>
            <p:nvSpPr>
              <p:cNvPr id="36" name="TextBox 36"/>
              <p:cNvSpPr txBox="1"/>
              <p:nvPr/>
            </p:nvSpPr>
            <p:spPr>
              <a:xfrm>
                <a:off x="4204698" y="2644616"/>
                <a:ext cx="353604" cy="161925"/>
              </a:xfrm>
              <a:prstGeom prst="rect">
                <a:avLst/>
              </a:prstGeom>
              <a:noFill/>
              <a:ln>
                <a:noFill/>
              </a:ln>
            </p:spPr>
            <p:txBody>
              <a:bodyPr wrap="none" lIns="0" tIns="0" rIns="0" bIns="0" anchor="t" anchorCtr="0">
                <a:spAutoFit/>
              </a:bodyPr>
              <a:lstStyle/>
              <a:p>
                <a:pPr algn="ctr"/>
                <a:r>
                  <a:rPr lang="en-US" sz="820" dirty="0">
                    <a:solidFill>
                      <a:srgbClr val="333333"/>
                    </a:solidFill>
                    <a:latin typeface="+mn-lt"/>
                    <a:ea typeface="+mn-ea"/>
                    <a:cs typeface="+mn-cs"/>
                  </a:rPr>
                  <a:t>AUM​​</a:t>
                </a:r>
              </a:p>
            </p:txBody>
          </p:sp>
          <p:sp>
            <p:nvSpPr>
              <p:cNvPr id="37" name="Freeform 37"/>
              <p:cNvSpPr/>
              <p:nvPr/>
            </p:nvSpPr>
            <p:spPr>
              <a:xfrm>
                <a:off x="1524000" y="2857500"/>
                <a:ext cx="876300" cy="247650"/>
              </a:xfrm>
              <a:prstGeom prst="homePlate">
                <a:avLst/>
              </a:prstGeom>
              <a:solidFill>
                <a:srgbClr val="D4E2FA"/>
              </a:solidFill>
              <a:ln>
                <a:noFill/>
              </a:ln>
            </p:spPr>
          </p:sp>
          <p:sp>
            <p:nvSpPr>
              <p:cNvPr id="38" name="Freeform 38"/>
              <p:cNvSpPr/>
              <p:nvPr/>
            </p:nvSpPr>
            <p:spPr>
              <a:xfrm>
                <a:off x="2381250" y="2857500"/>
                <a:ext cx="876300" cy="247650"/>
              </a:xfrm>
              <a:prstGeom prst="chevron">
                <a:avLst/>
              </a:prstGeom>
              <a:solidFill>
                <a:srgbClr val="D4E2FA"/>
              </a:solidFill>
              <a:ln>
                <a:noFill/>
              </a:ln>
            </p:spPr>
          </p:sp>
          <p:sp>
            <p:nvSpPr>
              <p:cNvPr id="39" name="Freeform 39"/>
              <p:cNvSpPr/>
              <p:nvPr/>
            </p:nvSpPr>
            <p:spPr>
              <a:xfrm>
                <a:off x="3238500" y="2857500"/>
                <a:ext cx="876300" cy="247650"/>
              </a:xfrm>
              <a:prstGeom prst="chevron">
                <a:avLst/>
              </a:prstGeom>
              <a:solidFill>
                <a:srgbClr val="D4E2FA"/>
              </a:solidFill>
              <a:ln>
                <a:noFill/>
              </a:ln>
            </p:spPr>
          </p:sp>
          <p:sp>
            <p:nvSpPr>
              <p:cNvPr id="40" name="Freeform 40"/>
              <p:cNvSpPr/>
              <p:nvPr/>
            </p:nvSpPr>
            <p:spPr>
              <a:xfrm>
                <a:off x="4095750" y="2857500"/>
                <a:ext cx="876300" cy="247650"/>
              </a:xfrm>
              <a:prstGeom prst="chevron">
                <a:avLst/>
              </a:prstGeom>
              <a:solidFill>
                <a:srgbClr val="D4E2FA"/>
              </a:solidFill>
              <a:ln>
                <a:noFill/>
              </a:ln>
            </p:spPr>
          </p:sp>
          <p:sp>
            <p:nvSpPr>
              <p:cNvPr id="41" name="Freeform 41"/>
              <p:cNvSpPr/>
              <p:nvPr/>
            </p:nvSpPr>
            <p:spPr>
              <a:xfrm>
                <a:off x="4953000" y="2857500"/>
                <a:ext cx="876300" cy="247650"/>
              </a:xfrm>
              <a:prstGeom prst="chevron">
                <a:avLst/>
              </a:prstGeom>
              <a:solidFill>
                <a:srgbClr val="E74726"/>
              </a:solidFill>
              <a:ln>
                <a:noFill/>
              </a:ln>
            </p:spPr>
          </p:sp>
          <p:sp>
            <p:nvSpPr>
              <p:cNvPr id="42" name="TextBox 42"/>
              <p:cNvSpPr txBox="1"/>
              <p:nvPr/>
            </p:nvSpPr>
            <p:spPr>
              <a:xfrm>
                <a:off x="1756600" y="2922270"/>
                <a:ext cx="3729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促签约</a:t>
                </a:r>
              </a:p>
            </p:txBody>
          </p:sp>
          <p:sp>
            <p:nvSpPr>
              <p:cNvPr id="43" name="TextBox 43"/>
              <p:cNvSpPr txBox="1"/>
              <p:nvPr/>
            </p:nvSpPr>
            <p:spPr>
              <a:xfrm>
                <a:off x="2661476" y="2922270"/>
                <a:ext cx="3729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促活跃</a:t>
                </a:r>
              </a:p>
            </p:txBody>
          </p:sp>
          <p:sp>
            <p:nvSpPr>
              <p:cNvPr id="44" name="TextBox 44"/>
              <p:cNvSpPr txBox="1"/>
              <p:nvPr/>
            </p:nvSpPr>
            <p:spPr>
              <a:xfrm>
                <a:off x="3518726" y="2922270"/>
                <a:ext cx="3729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促提升</a:t>
                </a:r>
              </a:p>
            </p:txBody>
          </p:sp>
          <p:sp>
            <p:nvSpPr>
              <p:cNvPr id="45" name="TextBox 45"/>
              <p:cNvSpPr txBox="1"/>
              <p:nvPr/>
            </p:nvSpPr>
            <p:spPr>
              <a:xfrm>
                <a:off x="4375976" y="2922270"/>
                <a:ext cx="3729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促提级</a:t>
                </a:r>
              </a:p>
            </p:txBody>
          </p:sp>
          <p:sp>
            <p:nvSpPr>
              <p:cNvPr id="46" name="TextBox 46"/>
              <p:cNvSpPr txBox="1"/>
              <p:nvPr/>
            </p:nvSpPr>
            <p:spPr>
              <a:xfrm>
                <a:off x="5233226" y="2922270"/>
                <a:ext cx="372999"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防流失</a:t>
                </a:r>
              </a:p>
            </p:txBody>
          </p:sp>
        </p:grpSp>
        <p:grpSp>
          <p:nvGrpSpPr>
            <p:cNvPr id="70" name="chain-deep"/>
            <p:cNvGrpSpPr/>
            <p:nvPr/>
          </p:nvGrpSpPr>
          <p:grpSpPr>
            <a:xfrm>
              <a:off x="6572250" y="2324100"/>
              <a:ext cx="4762500" cy="819150"/>
              <a:chOff x="6572250" y="2324100"/>
              <a:chExt cx="4762500" cy="819150"/>
            </a:xfrm>
          </p:grpSpPr>
          <p:sp>
            <p:nvSpPr>
              <p:cNvPr id="48" name="Rectangle 48"/>
              <p:cNvSpPr/>
              <p:nvPr/>
            </p:nvSpPr>
            <p:spPr>
              <a:xfrm>
                <a:off x="6572250" y="2324100"/>
                <a:ext cx="4762500" cy="819150"/>
              </a:xfrm>
              <a:prstGeom prst="roundRect">
                <a:avLst>
                  <a:gd name="adj" fmla="val 4651"/>
                </a:avLst>
              </a:prstGeom>
              <a:solidFill>
                <a:srgbClr val="E7EFFC"/>
              </a:solidFill>
              <a:ln>
                <a:noFill/>
              </a:ln>
            </p:spPr>
          </p:sp>
          <p:sp>
            <p:nvSpPr>
              <p:cNvPr id="49" name="TextBox 49"/>
              <p:cNvSpPr txBox="1"/>
              <p:nvPr/>
            </p:nvSpPr>
            <p:spPr>
              <a:xfrm>
                <a:off x="8241411" y="2401252"/>
                <a:ext cx="1424178"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高潜客群精准施策营销</a:t>
                </a:r>
              </a:p>
            </p:txBody>
          </p:sp>
          <p:sp>
            <p:nvSpPr>
              <p:cNvPr id="50" name="Line 50"/>
              <p:cNvSpPr/>
              <p:nvPr/>
            </p:nvSpPr>
            <p:spPr>
              <a:xfrm>
                <a:off x="6762750" y="2695575"/>
                <a:ext cx="2000250" cy="9525"/>
              </a:xfrm>
              <a:custGeom>
                <a:avLst/>
                <a:gdLst/>
                <a:ahLst/>
                <a:cxnLst/>
                <a:rect l="l" t="t" r="r" b="b"/>
                <a:pathLst>
                  <a:path w="2000250" h="9525">
                    <a:moveTo>
                      <a:pt x="0" y="0"/>
                    </a:moveTo>
                    <a:lnTo>
                      <a:pt x="2000250" y="0"/>
                    </a:lnTo>
                  </a:path>
                </a:pathLst>
              </a:custGeom>
              <a:noFill/>
              <a:ln w="11430">
                <a:solidFill>
                  <a:srgbClr val="E74726"/>
                </a:solidFill>
              </a:ln>
            </p:spPr>
          </p:sp>
          <p:sp>
            <p:nvSpPr>
              <p:cNvPr id="51" name="Ellipse 51"/>
              <p:cNvSpPr/>
              <p:nvPr/>
            </p:nvSpPr>
            <p:spPr>
              <a:xfrm>
                <a:off x="6734175" y="2667000"/>
                <a:ext cx="57150" cy="57150"/>
              </a:xfrm>
              <a:prstGeom prst="ellipse">
                <a:avLst/>
              </a:prstGeom>
              <a:solidFill>
                <a:srgbClr val="E74726"/>
              </a:solidFill>
              <a:ln>
                <a:noFill/>
              </a:ln>
            </p:spPr>
          </p:sp>
          <p:sp>
            <p:nvSpPr>
              <p:cNvPr id="52" name="Ellipse 52"/>
              <p:cNvSpPr/>
              <p:nvPr/>
            </p:nvSpPr>
            <p:spPr>
              <a:xfrm>
                <a:off x="8734425" y="2667000"/>
                <a:ext cx="57150" cy="57150"/>
              </a:xfrm>
              <a:prstGeom prst="ellipse">
                <a:avLst/>
              </a:prstGeom>
              <a:solidFill>
                <a:srgbClr val="E74726"/>
              </a:solidFill>
              <a:ln>
                <a:noFill/>
              </a:ln>
            </p:spPr>
          </p:sp>
          <p:sp>
            <p:nvSpPr>
              <p:cNvPr id="53" name="Rectangle 53"/>
              <p:cNvSpPr/>
              <p:nvPr/>
            </p:nvSpPr>
            <p:spPr>
              <a:xfrm>
                <a:off x="7429500" y="2619375"/>
                <a:ext cx="666750" cy="152400"/>
              </a:xfrm>
              <a:prstGeom prst="rect">
                <a:avLst/>
              </a:prstGeom>
              <a:solidFill>
                <a:srgbClr val="FFFFFF"/>
              </a:solidFill>
              <a:ln>
                <a:noFill/>
              </a:ln>
            </p:spPr>
          </p:sp>
          <p:sp>
            <p:nvSpPr>
              <p:cNvPr id="54" name="TextBox 54"/>
              <p:cNvSpPr txBox="1"/>
              <p:nvPr/>
            </p:nvSpPr>
            <p:spPr>
              <a:xfrm>
                <a:off x="7537336" y="26446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重点客群</a:t>
                </a:r>
              </a:p>
            </p:txBody>
          </p:sp>
          <p:sp>
            <p:nvSpPr>
              <p:cNvPr id="55" name="Line 55"/>
              <p:cNvSpPr/>
              <p:nvPr/>
            </p:nvSpPr>
            <p:spPr>
              <a:xfrm>
                <a:off x="9048750" y="2695575"/>
                <a:ext cx="2095500" cy="9525"/>
              </a:xfrm>
              <a:custGeom>
                <a:avLst/>
                <a:gdLst/>
                <a:ahLst/>
                <a:cxnLst/>
                <a:rect l="l" t="t" r="r" b="b"/>
                <a:pathLst>
                  <a:path w="2095500" h="9525">
                    <a:moveTo>
                      <a:pt x="0" y="0"/>
                    </a:moveTo>
                    <a:lnTo>
                      <a:pt x="2095500" y="0"/>
                    </a:lnTo>
                  </a:path>
                </a:pathLst>
              </a:custGeom>
              <a:noFill/>
              <a:ln w="11430">
                <a:solidFill>
                  <a:srgbClr val="E74726"/>
                </a:solidFill>
              </a:ln>
            </p:spPr>
          </p:sp>
          <p:sp>
            <p:nvSpPr>
              <p:cNvPr id="56" name="Ellipse 56"/>
              <p:cNvSpPr/>
              <p:nvPr/>
            </p:nvSpPr>
            <p:spPr>
              <a:xfrm>
                <a:off x="9020175" y="2667000"/>
                <a:ext cx="57150" cy="57150"/>
              </a:xfrm>
              <a:prstGeom prst="ellipse">
                <a:avLst/>
              </a:prstGeom>
              <a:solidFill>
                <a:srgbClr val="E74726"/>
              </a:solidFill>
              <a:ln>
                <a:noFill/>
              </a:ln>
            </p:spPr>
          </p:sp>
          <p:sp>
            <p:nvSpPr>
              <p:cNvPr id="57" name="Ellipse 57"/>
              <p:cNvSpPr/>
              <p:nvPr/>
            </p:nvSpPr>
            <p:spPr>
              <a:xfrm>
                <a:off x="11115675" y="2667000"/>
                <a:ext cx="57150" cy="57150"/>
              </a:xfrm>
              <a:prstGeom prst="ellipse">
                <a:avLst/>
              </a:prstGeom>
              <a:solidFill>
                <a:srgbClr val="E74726"/>
              </a:solidFill>
              <a:ln>
                <a:noFill/>
              </a:ln>
            </p:spPr>
          </p:sp>
          <p:sp>
            <p:nvSpPr>
              <p:cNvPr id="58" name="Rectangle 58"/>
              <p:cNvSpPr/>
              <p:nvPr/>
            </p:nvSpPr>
            <p:spPr>
              <a:xfrm>
                <a:off x="9763125" y="2619375"/>
                <a:ext cx="666750" cy="152400"/>
              </a:xfrm>
              <a:prstGeom prst="rect">
                <a:avLst/>
              </a:prstGeom>
              <a:solidFill>
                <a:srgbClr val="FFFFFF"/>
              </a:solidFill>
              <a:ln>
                <a:noFill/>
              </a:ln>
            </p:spPr>
          </p:sp>
          <p:sp>
            <p:nvSpPr>
              <p:cNvPr id="59" name="TextBox 59"/>
              <p:cNvSpPr txBox="1"/>
              <p:nvPr/>
            </p:nvSpPr>
            <p:spPr>
              <a:xfrm>
                <a:off x="9870961" y="26446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事件客群</a:t>
                </a:r>
              </a:p>
            </p:txBody>
          </p:sp>
          <p:sp>
            <p:nvSpPr>
              <p:cNvPr id="60" name="Rectangle 60"/>
              <p:cNvSpPr/>
              <p:nvPr/>
            </p:nvSpPr>
            <p:spPr>
              <a:xfrm>
                <a:off x="6762750" y="2857500"/>
                <a:ext cx="762000" cy="247650"/>
              </a:xfrm>
              <a:prstGeom prst="rect">
                <a:avLst/>
              </a:prstGeom>
              <a:solidFill>
                <a:srgbClr val="D4E2FA"/>
              </a:solidFill>
              <a:ln>
                <a:noFill/>
              </a:ln>
            </p:spPr>
          </p:sp>
          <p:sp>
            <p:nvSpPr>
              <p:cNvPr id="61" name="TextBox 61"/>
              <p:cNvSpPr txBox="1"/>
              <p:nvPr/>
            </p:nvSpPr>
            <p:spPr>
              <a:xfrm>
                <a:off x="6896671" y="29222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代发客群</a:t>
                </a:r>
              </a:p>
            </p:txBody>
          </p:sp>
          <p:sp>
            <p:nvSpPr>
              <p:cNvPr id="62" name="Rectangle 62"/>
              <p:cNvSpPr/>
              <p:nvPr/>
            </p:nvSpPr>
            <p:spPr>
              <a:xfrm>
                <a:off x="7620000" y="2857500"/>
                <a:ext cx="762000" cy="247650"/>
              </a:xfrm>
              <a:prstGeom prst="rect">
                <a:avLst/>
              </a:prstGeom>
              <a:solidFill>
                <a:srgbClr val="D4E2FA"/>
              </a:solidFill>
              <a:ln>
                <a:noFill/>
              </a:ln>
            </p:spPr>
          </p:sp>
          <p:sp>
            <p:nvSpPr>
              <p:cNvPr id="63" name="TextBox 63"/>
              <p:cNvSpPr txBox="1"/>
              <p:nvPr/>
            </p:nvSpPr>
            <p:spPr>
              <a:xfrm>
                <a:off x="7753921" y="29222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临界客群</a:t>
                </a:r>
              </a:p>
            </p:txBody>
          </p:sp>
          <p:sp>
            <p:nvSpPr>
              <p:cNvPr id="64" name="TextBox 64"/>
              <p:cNvSpPr txBox="1"/>
              <p:nvPr/>
            </p:nvSpPr>
            <p:spPr>
              <a:xfrm>
                <a:off x="8615401" y="2922270"/>
                <a:ext cx="1427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a:t>
                </a:r>
              </a:p>
            </p:txBody>
          </p:sp>
          <p:sp>
            <p:nvSpPr>
              <p:cNvPr id="65" name="Rectangle 65"/>
              <p:cNvSpPr/>
              <p:nvPr/>
            </p:nvSpPr>
            <p:spPr>
              <a:xfrm>
                <a:off x="9048750" y="2857500"/>
                <a:ext cx="762000" cy="247650"/>
              </a:xfrm>
              <a:prstGeom prst="rect">
                <a:avLst/>
              </a:prstGeom>
              <a:solidFill>
                <a:srgbClr val="D4E2FA"/>
              </a:solidFill>
              <a:ln>
                <a:noFill/>
              </a:ln>
            </p:spPr>
          </p:sp>
          <p:sp>
            <p:nvSpPr>
              <p:cNvPr id="66" name="TextBox 66"/>
              <p:cNvSpPr txBox="1"/>
              <p:nvPr/>
            </p:nvSpPr>
            <p:spPr>
              <a:xfrm>
                <a:off x="9182672" y="29222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浏览客群</a:t>
                </a:r>
              </a:p>
            </p:txBody>
          </p:sp>
          <p:sp>
            <p:nvSpPr>
              <p:cNvPr id="67" name="Rectangle 67"/>
              <p:cNvSpPr/>
              <p:nvPr/>
            </p:nvSpPr>
            <p:spPr>
              <a:xfrm>
                <a:off x="9906000" y="2857500"/>
                <a:ext cx="762000" cy="247650"/>
              </a:xfrm>
              <a:prstGeom prst="rect">
                <a:avLst/>
              </a:prstGeom>
              <a:solidFill>
                <a:srgbClr val="D4E2FA"/>
              </a:solidFill>
              <a:ln>
                <a:noFill/>
              </a:ln>
            </p:spPr>
          </p:sp>
          <p:sp>
            <p:nvSpPr>
              <p:cNvPr id="68" name="TextBox 68"/>
              <p:cNvSpPr txBox="1"/>
              <p:nvPr/>
            </p:nvSpPr>
            <p:spPr>
              <a:xfrm>
                <a:off x="10039922" y="29222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中断客群</a:t>
                </a:r>
              </a:p>
            </p:txBody>
          </p:sp>
          <p:sp>
            <p:nvSpPr>
              <p:cNvPr id="69" name="TextBox 69"/>
              <p:cNvSpPr txBox="1"/>
              <p:nvPr/>
            </p:nvSpPr>
            <p:spPr>
              <a:xfrm>
                <a:off x="10901401" y="2922270"/>
                <a:ext cx="1427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a:t>
                </a:r>
              </a:p>
            </p:txBody>
          </p:sp>
        </p:grpSp>
      </p:grpSp>
      <p:grpSp>
        <p:nvGrpSpPr>
          <p:cNvPr id="122" name="row-resources"/>
          <p:cNvGrpSpPr/>
          <p:nvPr/>
        </p:nvGrpSpPr>
        <p:grpSpPr>
          <a:xfrm>
            <a:off x="381000" y="3257550"/>
            <a:ext cx="11239500" cy="1428750"/>
            <a:chOff x="381000" y="3257550"/>
            <a:chExt cx="11239500" cy="1428750"/>
          </a:xfrm>
        </p:grpSpPr>
        <p:sp>
          <p:nvSpPr>
            <p:cNvPr id="72" name="Rectangle 72"/>
            <p:cNvSpPr/>
            <p:nvPr/>
          </p:nvSpPr>
          <p:spPr>
            <a:xfrm>
              <a:off x="381000" y="3257550"/>
              <a:ext cx="666750" cy="1428750"/>
            </a:xfrm>
            <a:prstGeom prst="rect">
              <a:avLst/>
            </a:prstGeom>
            <a:solidFill>
              <a:srgbClr val="E74726"/>
            </a:solidFill>
            <a:ln>
              <a:noFill/>
            </a:ln>
          </p:spPr>
        </p:sp>
        <p:sp>
          <p:nvSpPr>
            <p:cNvPr id="73" name="TextBox 73"/>
            <p:cNvSpPr txBox="1"/>
            <p:nvPr/>
          </p:nvSpPr>
          <p:spPr>
            <a:xfrm>
              <a:off x="525348" y="3688556"/>
              <a:ext cx="378054" cy="6010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FFFFFF"/>
                  </a:solidFill>
                  <a:latin typeface="+mn-lt"/>
                  <a:ea typeface="+mn-ea"/>
                  <a:cs typeface="+mn-cs"/>
                </a:rPr>
                <a:t>四维​</a:t>
              </a:r>
              <a:br/>
              <a:r>
                <a:rPr lang="zh-CN" sz="1120" b="1" dirty="0">
                  <a:solidFill>
                    <a:srgbClr val="FFFFFF"/>
                  </a:solidFill>
                  <a:latin typeface="+mn-lt"/>
                  <a:ea typeface="+mn-ea"/>
                  <a:cs typeface="+mn-cs"/>
                </a:rPr>
                <a:t>资源​</a:t>
              </a:r>
              <a:br/>
              <a:r>
                <a:rPr lang="zh-CN" sz="1120" b="1" dirty="0">
                  <a:solidFill>
                    <a:srgbClr val="FFFFFF"/>
                  </a:solidFill>
                  <a:latin typeface="+mn-lt"/>
                  <a:ea typeface="+mn-ea"/>
                  <a:cs typeface="+mn-cs"/>
                </a:rPr>
                <a:t>体系​</a:t>
              </a:r>
            </a:p>
          </p:txBody>
        </p:sp>
        <p:grpSp>
          <p:nvGrpSpPr>
            <p:cNvPr id="85" name="res-product"/>
            <p:cNvGrpSpPr/>
            <p:nvPr/>
          </p:nvGrpSpPr>
          <p:grpSpPr>
            <a:xfrm>
              <a:off x="1333500" y="3257550"/>
              <a:ext cx="2428875" cy="1428750"/>
              <a:chOff x="1333500" y="3257550"/>
              <a:chExt cx="2428875" cy="1428750"/>
            </a:xfrm>
          </p:grpSpPr>
          <p:sp>
            <p:nvSpPr>
              <p:cNvPr id="74" name="Rectangle 74"/>
              <p:cNvSpPr/>
              <p:nvPr/>
            </p:nvSpPr>
            <p:spPr>
              <a:xfrm>
                <a:off x="1333500" y="3257550"/>
                <a:ext cx="2428875" cy="1428750"/>
              </a:xfrm>
              <a:prstGeom prst="roundRect">
                <a:avLst>
                  <a:gd name="adj" fmla="val 5333"/>
                </a:avLst>
              </a:prstGeom>
              <a:solidFill>
                <a:srgbClr val="E7EFFC"/>
              </a:solidFill>
              <a:ln>
                <a:noFill/>
              </a:ln>
            </p:spPr>
          </p:sp>
          <p:sp>
            <p:nvSpPr>
              <p:cNvPr id="75" name="TextBox 75"/>
              <p:cNvSpPr txBox="1"/>
              <p:nvPr/>
            </p:nvSpPr>
            <p:spPr>
              <a:xfrm>
                <a:off x="2255139" y="3372802"/>
                <a:ext cx="576072"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产品体系</a:t>
                </a:r>
              </a:p>
            </p:txBody>
          </p:sp>
          <p:sp>
            <p:nvSpPr>
              <p:cNvPr id="76" name="Rectangle 76"/>
              <p:cNvSpPr/>
              <p:nvPr/>
            </p:nvSpPr>
            <p:spPr>
              <a:xfrm>
                <a:off x="1447800" y="3600450"/>
                <a:ext cx="1066800" cy="285750"/>
              </a:xfrm>
              <a:prstGeom prst="roundRect">
                <a:avLst>
                  <a:gd name="adj" fmla="val 13333"/>
                </a:avLst>
              </a:prstGeom>
              <a:solidFill>
                <a:srgbClr val="FFFFFF"/>
              </a:solidFill>
              <a:ln w="9525">
                <a:solidFill>
                  <a:srgbClr val="D4E2FA"/>
                </a:solidFill>
              </a:ln>
            </p:spPr>
          </p:sp>
          <p:sp>
            <p:nvSpPr>
              <p:cNvPr id="77" name="TextBox 77"/>
              <p:cNvSpPr txBox="1"/>
              <p:nvPr/>
            </p:nvSpPr>
            <p:spPr>
              <a:xfrm>
                <a:off x="1855280" y="3693795"/>
                <a:ext cx="251841"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存款</a:t>
                </a:r>
              </a:p>
            </p:txBody>
          </p:sp>
          <p:sp>
            <p:nvSpPr>
              <p:cNvPr id="78" name="Rectangle 78"/>
              <p:cNvSpPr/>
              <p:nvPr/>
            </p:nvSpPr>
            <p:spPr>
              <a:xfrm>
                <a:off x="2581275" y="3600450"/>
                <a:ext cx="1066800" cy="285750"/>
              </a:xfrm>
              <a:prstGeom prst="roundRect">
                <a:avLst>
                  <a:gd name="adj" fmla="val 13333"/>
                </a:avLst>
              </a:prstGeom>
              <a:solidFill>
                <a:srgbClr val="FFFFFF"/>
              </a:solidFill>
              <a:ln w="9525">
                <a:solidFill>
                  <a:srgbClr val="D4E2FA"/>
                </a:solidFill>
              </a:ln>
            </p:spPr>
          </p:sp>
          <p:sp>
            <p:nvSpPr>
              <p:cNvPr id="79" name="TextBox 79"/>
              <p:cNvSpPr txBox="1"/>
              <p:nvPr/>
            </p:nvSpPr>
            <p:spPr>
              <a:xfrm>
                <a:off x="2988754" y="3693795"/>
                <a:ext cx="251841"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理财</a:t>
                </a:r>
              </a:p>
            </p:txBody>
          </p:sp>
          <p:sp>
            <p:nvSpPr>
              <p:cNvPr id="80" name="Rectangle 80"/>
              <p:cNvSpPr/>
              <p:nvPr/>
            </p:nvSpPr>
            <p:spPr>
              <a:xfrm>
                <a:off x="1447800" y="3981450"/>
                <a:ext cx="1066800" cy="285750"/>
              </a:xfrm>
              <a:prstGeom prst="roundRect">
                <a:avLst>
                  <a:gd name="adj" fmla="val 13333"/>
                </a:avLst>
              </a:prstGeom>
              <a:solidFill>
                <a:srgbClr val="FFFFFF"/>
              </a:solidFill>
              <a:ln w="9525">
                <a:solidFill>
                  <a:srgbClr val="D4E2FA"/>
                </a:solidFill>
              </a:ln>
            </p:spPr>
          </p:sp>
          <p:sp>
            <p:nvSpPr>
              <p:cNvPr id="81" name="TextBox 81"/>
              <p:cNvSpPr txBox="1"/>
              <p:nvPr/>
            </p:nvSpPr>
            <p:spPr>
              <a:xfrm>
                <a:off x="1734122" y="40747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货币基金</a:t>
                </a:r>
              </a:p>
            </p:txBody>
          </p:sp>
          <p:sp>
            <p:nvSpPr>
              <p:cNvPr id="82" name="Rectangle 82"/>
              <p:cNvSpPr/>
              <p:nvPr/>
            </p:nvSpPr>
            <p:spPr>
              <a:xfrm>
                <a:off x="2581275" y="3981450"/>
                <a:ext cx="1066800" cy="285750"/>
              </a:xfrm>
              <a:prstGeom prst="roundRect">
                <a:avLst>
                  <a:gd name="adj" fmla="val 13333"/>
                </a:avLst>
              </a:prstGeom>
              <a:solidFill>
                <a:srgbClr val="FFFFFF"/>
              </a:solidFill>
              <a:ln w="9525">
                <a:solidFill>
                  <a:srgbClr val="D4E2FA"/>
                </a:solidFill>
              </a:ln>
            </p:spPr>
          </p:sp>
          <p:sp>
            <p:nvSpPr>
              <p:cNvPr id="83" name="TextBox 83"/>
              <p:cNvSpPr txBox="1"/>
              <p:nvPr/>
            </p:nvSpPr>
            <p:spPr>
              <a:xfrm>
                <a:off x="2928176" y="4074795"/>
                <a:ext cx="3729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信用卡</a:t>
                </a:r>
              </a:p>
            </p:txBody>
          </p:sp>
          <p:sp>
            <p:nvSpPr>
              <p:cNvPr id="84" name="TextBox 84"/>
              <p:cNvSpPr txBox="1"/>
              <p:nvPr/>
            </p:nvSpPr>
            <p:spPr>
              <a:xfrm>
                <a:off x="2471776" y="4455795"/>
                <a:ext cx="1427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a:t>
                </a:r>
              </a:p>
            </p:txBody>
          </p:sp>
        </p:grpSp>
        <p:grpSp>
          <p:nvGrpSpPr>
            <p:cNvPr id="97" name="res-activity"/>
            <p:cNvGrpSpPr/>
            <p:nvPr/>
          </p:nvGrpSpPr>
          <p:grpSpPr>
            <a:xfrm>
              <a:off x="3952875" y="3257550"/>
              <a:ext cx="2428875" cy="1428750"/>
              <a:chOff x="3952875" y="3257550"/>
              <a:chExt cx="2428875" cy="1428750"/>
            </a:xfrm>
          </p:grpSpPr>
          <p:sp>
            <p:nvSpPr>
              <p:cNvPr id="86" name="Rectangle 86"/>
              <p:cNvSpPr/>
              <p:nvPr/>
            </p:nvSpPr>
            <p:spPr>
              <a:xfrm>
                <a:off x="3952875" y="3257550"/>
                <a:ext cx="2428875" cy="1428750"/>
              </a:xfrm>
              <a:prstGeom prst="roundRect">
                <a:avLst>
                  <a:gd name="adj" fmla="val 5333"/>
                </a:avLst>
              </a:prstGeom>
              <a:solidFill>
                <a:srgbClr val="E7EFFC"/>
              </a:solidFill>
              <a:ln>
                <a:noFill/>
              </a:ln>
            </p:spPr>
          </p:sp>
          <p:sp>
            <p:nvSpPr>
              <p:cNvPr id="87" name="TextBox 87"/>
              <p:cNvSpPr txBox="1"/>
              <p:nvPr/>
            </p:nvSpPr>
            <p:spPr>
              <a:xfrm>
                <a:off x="4874514" y="3372802"/>
                <a:ext cx="576072"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活动体系</a:t>
                </a:r>
              </a:p>
            </p:txBody>
          </p:sp>
          <p:sp>
            <p:nvSpPr>
              <p:cNvPr id="88" name="Rectangle 88"/>
              <p:cNvSpPr/>
              <p:nvPr/>
            </p:nvSpPr>
            <p:spPr>
              <a:xfrm>
                <a:off x="4067175" y="3600450"/>
                <a:ext cx="1066800" cy="285750"/>
              </a:xfrm>
              <a:prstGeom prst="roundRect">
                <a:avLst>
                  <a:gd name="adj" fmla="val 13333"/>
                </a:avLst>
              </a:prstGeom>
              <a:solidFill>
                <a:srgbClr val="FFFFFF"/>
              </a:solidFill>
              <a:ln w="9525">
                <a:solidFill>
                  <a:srgbClr val="D4E2FA"/>
                </a:solidFill>
              </a:ln>
            </p:spPr>
          </p:sp>
          <p:sp>
            <p:nvSpPr>
              <p:cNvPr id="89" name="TextBox 89"/>
              <p:cNvSpPr txBox="1"/>
              <p:nvPr/>
            </p:nvSpPr>
            <p:spPr>
              <a:xfrm>
                <a:off x="4353496" y="36937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签约有礼</a:t>
                </a:r>
              </a:p>
            </p:txBody>
          </p:sp>
          <p:sp>
            <p:nvSpPr>
              <p:cNvPr id="90" name="Rectangle 90"/>
              <p:cNvSpPr/>
              <p:nvPr/>
            </p:nvSpPr>
            <p:spPr>
              <a:xfrm>
                <a:off x="5200650" y="3600450"/>
                <a:ext cx="1066800" cy="285750"/>
              </a:xfrm>
              <a:prstGeom prst="roundRect">
                <a:avLst>
                  <a:gd name="adj" fmla="val 13333"/>
                </a:avLst>
              </a:prstGeom>
              <a:solidFill>
                <a:srgbClr val="FFFFFF"/>
              </a:solidFill>
              <a:ln w="9525">
                <a:solidFill>
                  <a:srgbClr val="D4E2FA"/>
                </a:solidFill>
              </a:ln>
            </p:spPr>
          </p:sp>
          <p:sp>
            <p:nvSpPr>
              <p:cNvPr id="91" name="TextBox 91"/>
              <p:cNvSpPr txBox="1"/>
              <p:nvPr/>
            </p:nvSpPr>
            <p:spPr>
              <a:xfrm>
                <a:off x="5486971" y="36937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消费有礼</a:t>
                </a:r>
              </a:p>
            </p:txBody>
          </p:sp>
          <p:sp>
            <p:nvSpPr>
              <p:cNvPr id="92" name="Rectangle 92"/>
              <p:cNvSpPr/>
              <p:nvPr/>
            </p:nvSpPr>
            <p:spPr>
              <a:xfrm>
                <a:off x="4067175" y="3981450"/>
                <a:ext cx="1066800" cy="285750"/>
              </a:xfrm>
              <a:prstGeom prst="roundRect">
                <a:avLst>
                  <a:gd name="adj" fmla="val 13333"/>
                </a:avLst>
              </a:prstGeom>
              <a:solidFill>
                <a:srgbClr val="FFFFFF"/>
              </a:solidFill>
              <a:ln w="9525">
                <a:solidFill>
                  <a:srgbClr val="D4E2FA"/>
                </a:solidFill>
              </a:ln>
            </p:spPr>
          </p:sp>
          <p:sp>
            <p:nvSpPr>
              <p:cNvPr id="93" name="TextBox 93"/>
              <p:cNvSpPr txBox="1"/>
              <p:nvPr/>
            </p:nvSpPr>
            <p:spPr>
              <a:xfrm>
                <a:off x="4292918" y="4074795"/>
                <a:ext cx="615315"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资产提升礼</a:t>
                </a:r>
              </a:p>
            </p:txBody>
          </p:sp>
          <p:sp>
            <p:nvSpPr>
              <p:cNvPr id="94" name="Rectangle 94"/>
              <p:cNvSpPr/>
              <p:nvPr/>
            </p:nvSpPr>
            <p:spPr>
              <a:xfrm>
                <a:off x="5200650" y="3981450"/>
                <a:ext cx="1066800" cy="285750"/>
              </a:xfrm>
              <a:prstGeom prst="roundRect">
                <a:avLst>
                  <a:gd name="adj" fmla="val 13333"/>
                </a:avLst>
              </a:prstGeom>
              <a:solidFill>
                <a:srgbClr val="FFFFFF"/>
              </a:solidFill>
              <a:ln w="9525">
                <a:solidFill>
                  <a:srgbClr val="D4E2FA"/>
                </a:solidFill>
              </a:ln>
            </p:spPr>
          </p:sp>
          <p:sp>
            <p:nvSpPr>
              <p:cNvPr id="95" name="TextBox 95"/>
              <p:cNvSpPr txBox="1"/>
              <p:nvPr/>
            </p:nvSpPr>
            <p:spPr>
              <a:xfrm>
                <a:off x="5426392" y="4074795"/>
                <a:ext cx="615315"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资产达标礼</a:t>
                </a:r>
              </a:p>
            </p:txBody>
          </p:sp>
          <p:sp>
            <p:nvSpPr>
              <p:cNvPr id="96" name="TextBox 96"/>
              <p:cNvSpPr txBox="1"/>
              <p:nvPr/>
            </p:nvSpPr>
            <p:spPr>
              <a:xfrm>
                <a:off x="5091151" y="4455795"/>
                <a:ext cx="1427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a:t>
                </a:r>
              </a:p>
            </p:txBody>
          </p:sp>
        </p:grpSp>
        <p:grpSp>
          <p:nvGrpSpPr>
            <p:cNvPr id="109" name="res-benefit"/>
            <p:cNvGrpSpPr/>
            <p:nvPr/>
          </p:nvGrpSpPr>
          <p:grpSpPr>
            <a:xfrm>
              <a:off x="6572250" y="3257550"/>
              <a:ext cx="2428875" cy="1428750"/>
              <a:chOff x="6572250" y="3257550"/>
              <a:chExt cx="2428875" cy="1428750"/>
            </a:xfrm>
          </p:grpSpPr>
          <p:sp>
            <p:nvSpPr>
              <p:cNvPr id="98" name="Rectangle 98"/>
              <p:cNvSpPr/>
              <p:nvPr/>
            </p:nvSpPr>
            <p:spPr>
              <a:xfrm>
                <a:off x="6572250" y="3257550"/>
                <a:ext cx="2428875" cy="1428750"/>
              </a:xfrm>
              <a:prstGeom prst="roundRect">
                <a:avLst>
                  <a:gd name="adj" fmla="val 5333"/>
                </a:avLst>
              </a:prstGeom>
              <a:solidFill>
                <a:srgbClr val="E7EFFC"/>
              </a:solidFill>
              <a:ln>
                <a:noFill/>
              </a:ln>
            </p:spPr>
          </p:sp>
          <p:sp>
            <p:nvSpPr>
              <p:cNvPr id="99" name="TextBox 99"/>
              <p:cNvSpPr txBox="1"/>
              <p:nvPr/>
            </p:nvSpPr>
            <p:spPr>
              <a:xfrm>
                <a:off x="7493889" y="3372802"/>
                <a:ext cx="576072"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权益体系</a:t>
                </a:r>
              </a:p>
            </p:txBody>
          </p:sp>
          <p:sp>
            <p:nvSpPr>
              <p:cNvPr id="100" name="Rectangle 100"/>
              <p:cNvSpPr/>
              <p:nvPr/>
            </p:nvSpPr>
            <p:spPr>
              <a:xfrm>
                <a:off x="6686550" y="3600450"/>
                <a:ext cx="1066800" cy="285750"/>
              </a:xfrm>
              <a:prstGeom prst="roundRect">
                <a:avLst>
                  <a:gd name="adj" fmla="val 13333"/>
                </a:avLst>
              </a:prstGeom>
              <a:solidFill>
                <a:srgbClr val="FFFFFF"/>
              </a:solidFill>
              <a:ln w="9525">
                <a:solidFill>
                  <a:srgbClr val="D4E2FA"/>
                </a:solidFill>
              </a:ln>
            </p:spPr>
          </p:sp>
          <p:sp>
            <p:nvSpPr>
              <p:cNvPr id="101" name="TextBox 101"/>
              <p:cNvSpPr txBox="1"/>
              <p:nvPr/>
            </p:nvSpPr>
            <p:spPr>
              <a:xfrm>
                <a:off x="6972871" y="36937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现金红包</a:t>
                </a:r>
              </a:p>
            </p:txBody>
          </p:sp>
          <p:sp>
            <p:nvSpPr>
              <p:cNvPr id="102" name="Rectangle 102"/>
              <p:cNvSpPr/>
              <p:nvPr/>
            </p:nvSpPr>
            <p:spPr>
              <a:xfrm>
                <a:off x="7820025" y="3600450"/>
                <a:ext cx="1066800" cy="285750"/>
              </a:xfrm>
              <a:prstGeom prst="roundRect">
                <a:avLst>
                  <a:gd name="adj" fmla="val 13333"/>
                </a:avLst>
              </a:prstGeom>
              <a:solidFill>
                <a:srgbClr val="FFFFFF"/>
              </a:solidFill>
              <a:ln w="9525">
                <a:solidFill>
                  <a:srgbClr val="D4E2FA"/>
                </a:solidFill>
              </a:ln>
            </p:spPr>
          </p:sp>
          <p:sp>
            <p:nvSpPr>
              <p:cNvPr id="103" name="TextBox 103"/>
              <p:cNvSpPr txBox="1"/>
              <p:nvPr/>
            </p:nvSpPr>
            <p:spPr>
              <a:xfrm>
                <a:off x="8045768" y="3693795"/>
                <a:ext cx="615315"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生活消费券</a:t>
                </a:r>
              </a:p>
            </p:txBody>
          </p:sp>
          <p:sp>
            <p:nvSpPr>
              <p:cNvPr id="104" name="Rectangle 104"/>
              <p:cNvSpPr/>
              <p:nvPr/>
            </p:nvSpPr>
            <p:spPr>
              <a:xfrm>
                <a:off x="6686550" y="3981450"/>
                <a:ext cx="1066800" cy="285750"/>
              </a:xfrm>
              <a:prstGeom prst="roundRect">
                <a:avLst>
                  <a:gd name="adj" fmla="val 13333"/>
                </a:avLst>
              </a:prstGeom>
              <a:solidFill>
                <a:srgbClr val="FFFFFF"/>
              </a:solidFill>
              <a:ln w="9525">
                <a:solidFill>
                  <a:srgbClr val="D4E2FA"/>
                </a:solidFill>
              </a:ln>
            </p:spPr>
          </p:sp>
          <p:sp>
            <p:nvSpPr>
              <p:cNvPr id="105" name="TextBox 105"/>
              <p:cNvSpPr txBox="1"/>
              <p:nvPr/>
            </p:nvSpPr>
            <p:spPr>
              <a:xfrm>
                <a:off x="6972871" y="40747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理财红包</a:t>
                </a:r>
              </a:p>
            </p:txBody>
          </p:sp>
          <p:sp>
            <p:nvSpPr>
              <p:cNvPr id="106" name="Rectangle 106"/>
              <p:cNvSpPr/>
              <p:nvPr/>
            </p:nvSpPr>
            <p:spPr>
              <a:xfrm>
                <a:off x="7820025" y="3981450"/>
                <a:ext cx="1066800" cy="285750"/>
              </a:xfrm>
              <a:prstGeom prst="roundRect">
                <a:avLst>
                  <a:gd name="adj" fmla="val 13333"/>
                </a:avLst>
              </a:prstGeom>
              <a:solidFill>
                <a:srgbClr val="FFFFFF"/>
              </a:solidFill>
              <a:ln w="9525">
                <a:solidFill>
                  <a:srgbClr val="D4E2FA"/>
                </a:solidFill>
              </a:ln>
            </p:spPr>
          </p:sp>
          <p:sp>
            <p:nvSpPr>
              <p:cNvPr id="107" name="TextBox 107"/>
              <p:cNvSpPr txBox="1"/>
              <p:nvPr/>
            </p:nvSpPr>
            <p:spPr>
              <a:xfrm>
                <a:off x="8045768" y="4074795"/>
                <a:ext cx="615315"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手续费减免</a:t>
                </a:r>
              </a:p>
            </p:txBody>
          </p:sp>
          <p:sp>
            <p:nvSpPr>
              <p:cNvPr id="108" name="TextBox 108"/>
              <p:cNvSpPr txBox="1"/>
              <p:nvPr/>
            </p:nvSpPr>
            <p:spPr>
              <a:xfrm>
                <a:off x="7710526" y="4455795"/>
                <a:ext cx="1427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a:t>
                </a:r>
              </a:p>
            </p:txBody>
          </p:sp>
        </p:grpSp>
        <p:grpSp>
          <p:nvGrpSpPr>
            <p:cNvPr id="121" name="res-channel"/>
            <p:cNvGrpSpPr/>
            <p:nvPr/>
          </p:nvGrpSpPr>
          <p:grpSpPr>
            <a:xfrm>
              <a:off x="9191625" y="3257550"/>
              <a:ext cx="2428875" cy="1428750"/>
              <a:chOff x="9191625" y="3257550"/>
              <a:chExt cx="2428875" cy="1428750"/>
            </a:xfrm>
          </p:grpSpPr>
          <p:sp>
            <p:nvSpPr>
              <p:cNvPr id="110" name="Rectangle 110"/>
              <p:cNvSpPr/>
              <p:nvPr/>
            </p:nvSpPr>
            <p:spPr>
              <a:xfrm>
                <a:off x="9191625" y="3257550"/>
                <a:ext cx="2428875" cy="1428750"/>
              </a:xfrm>
              <a:prstGeom prst="roundRect">
                <a:avLst>
                  <a:gd name="adj" fmla="val 5333"/>
                </a:avLst>
              </a:prstGeom>
              <a:solidFill>
                <a:srgbClr val="E7EFFC"/>
              </a:solidFill>
              <a:ln>
                <a:noFill/>
              </a:ln>
            </p:spPr>
          </p:sp>
          <p:sp>
            <p:nvSpPr>
              <p:cNvPr id="111" name="TextBox 111"/>
              <p:cNvSpPr txBox="1"/>
              <p:nvPr/>
            </p:nvSpPr>
            <p:spPr>
              <a:xfrm>
                <a:off x="10113264" y="3372802"/>
                <a:ext cx="576072"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渠道触达</a:t>
                </a:r>
              </a:p>
            </p:txBody>
          </p:sp>
          <p:sp>
            <p:nvSpPr>
              <p:cNvPr id="112" name="Rectangle 112"/>
              <p:cNvSpPr/>
              <p:nvPr/>
            </p:nvSpPr>
            <p:spPr>
              <a:xfrm>
                <a:off x="9305925" y="3600450"/>
                <a:ext cx="1066800" cy="285750"/>
              </a:xfrm>
              <a:prstGeom prst="roundRect">
                <a:avLst>
                  <a:gd name="adj" fmla="val 13333"/>
                </a:avLst>
              </a:prstGeom>
              <a:solidFill>
                <a:srgbClr val="FFFFFF"/>
              </a:solidFill>
              <a:ln w="9525">
                <a:solidFill>
                  <a:srgbClr val="D4E2FA"/>
                </a:solidFill>
              </a:ln>
            </p:spPr>
          </p:sp>
          <p:sp>
            <p:nvSpPr>
              <p:cNvPr id="113" name="TextBox 113"/>
              <p:cNvSpPr txBox="1"/>
              <p:nvPr/>
            </p:nvSpPr>
            <p:spPr>
              <a:xfrm>
                <a:off x="9592246" y="36937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手机银行</a:t>
                </a:r>
              </a:p>
            </p:txBody>
          </p:sp>
          <p:sp>
            <p:nvSpPr>
              <p:cNvPr id="114" name="Rectangle 114"/>
              <p:cNvSpPr/>
              <p:nvPr/>
            </p:nvSpPr>
            <p:spPr>
              <a:xfrm>
                <a:off x="10439400" y="3600450"/>
                <a:ext cx="1066800" cy="285750"/>
              </a:xfrm>
              <a:prstGeom prst="roundRect">
                <a:avLst>
                  <a:gd name="adj" fmla="val 13333"/>
                </a:avLst>
              </a:prstGeom>
              <a:solidFill>
                <a:srgbClr val="FFFFFF"/>
              </a:solidFill>
              <a:ln w="9525">
                <a:solidFill>
                  <a:srgbClr val="D4E2FA"/>
                </a:solidFill>
              </a:ln>
            </p:spPr>
          </p:sp>
          <p:sp>
            <p:nvSpPr>
              <p:cNvPr id="115" name="TextBox 115"/>
              <p:cNvSpPr txBox="1"/>
              <p:nvPr/>
            </p:nvSpPr>
            <p:spPr>
              <a:xfrm>
                <a:off x="10725722" y="36937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智能外呼</a:t>
                </a:r>
              </a:p>
            </p:txBody>
          </p:sp>
          <p:sp>
            <p:nvSpPr>
              <p:cNvPr id="116" name="Rectangle 116"/>
              <p:cNvSpPr/>
              <p:nvPr/>
            </p:nvSpPr>
            <p:spPr>
              <a:xfrm>
                <a:off x="9305925" y="3981450"/>
                <a:ext cx="1066800" cy="285750"/>
              </a:xfrm>
              <a:prstGeom prst="roundRect">
                <a:avLst>
                  <a:gd name="adj" fmla="val 13333"/>
                </a:avLst>
              </a:prstGeom>
              <a:solidFill>
                <a:srgbClr val="FFFFFF"/>
              </a:solidFill>
              <a:ln w="9525">
                <a:solidFill>
                  <a:srgbClr val="D4E2FA"/>
                </a:solidFill>
              </a:ln>
            </p:spPr>
          </p:sp>
          <p:sp>
            <p:nvSpPr>
              <p:cNvPr id="117" name="TextBox 117"/>
              <p:cNvSpPr txBox="1"/>
              <p:nvPr/>
            </p:nvSpPr>
            <p:spPr>
              <a:xfrm>
                <a:off x="9592246" y="40747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企业微信</a:t>
                </a:r>
              </a:p>
            </p:txBody>
          </p:sp>
          <p:sp>
            <p:nvSpPr>
              <p:cNvPr id="118" name="Rectangle 118"/>
              <p:cNvSpPr/>
              <p:nvPr/>
            </p:nvSpPr>
            <p:spPr>
              <a:xfrm>
                <a:off x="10439400" y="3981450"/>
                <a:ext cx="1066800" cy="285750"/>
              </a:xfrm>
              <a:prstGeom prst="roundRect">
                <a:avLst>
                  <a:gd name="adj" fmla="val 13333"/>
                </a:avLst>
              </a:prstGeom>
              <a:solidFill>
                <a:srgbClr val="FFFFFF"/>
              </a:solidFill>
              <a:ln w="9525">
                <a:solidFill>
                  <a:srgbClr val="D4E2FA"/>
                </a:solidFill>
              </a:ln>
            </p:spPr>
          </p:sp>
          <p:sp>
            <p:nvSpPr>
              <p:cNvPr id="119" name="TextBox 119"/>
              <p:cNvSpPr txBox="1"/>
              <p:nvPr/>
            </p:nvSpPr>
            <p:spPr>
              <a:xfrm>
                <a:off x="10725722" y="40747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人工外呼</a:t>
                </a:r>
              </a:p>
            </p:txBody>
          </p:sp>
          <p:sp>
            <p:nvSpPr>
              <p:cNvPr id="120" name="TextBox 120"/>
              <p:cNvSpPr txBox="1"/>
              <p:nvPr/>
            </p:nvSpPr>
            <p:spPr>
              <a:xfrm>
                <a:off x="10329901" y="4455795"/>
                <a:ext cx="14279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a:t>
                </a:r>
              </a:p>
            </p:txBody>
          </p:sp>
        </p:grpSp>
      </p:grpSp>
      <p:grpSp>
        <p:nvGrpSpPr>
          <p:cNvPr id="133" name="row-pillars"/>
          <p:cNvGrpSpPr/>
          <p:nvPr/>
        </p:nvGrpSpPr>
        <p:grpSpPr>
          <a:xfrm>
            <a:off x="381000" y="4800600"/>
            <a:ext cx="10953750" cy="1295400"/>
            <a:chOff x="381000" y="4800600"/>
            <a:chExt cx="10953750" cy="1295400"/>
          </a:xfrm>
        </p:grpSpPr>
        <p:sp>
          <p:nvSpPr>
            <p:cNvPr id="123" name="Rectangle 123"/>
            <p:cNvSpPr/>
            <p:nvPr/>
          </p:nvSpPr>
          <p:spPr>
            <a:xfrm>
              <a:off x="381000" y="4800600"/>
              <a:ext cx="666750" cy="1295400"/>
            </a:xfrm>
            <a:prstGeom prst="rect">
              <a:avLst/>
            </a:prstGeom>
            <a:solidFill>
              <a:srgbClr val="E74726"/>
            </a:solidFill>
            <a:ln>
              <a:noFill/>
            </a:ln>
          </p:spPr>
        </p:sp>
        <p:sp>
          <p:nvSpPr>
            <p:cNvPr id="124" name="TextBox 124"/>
            <p:cNvSpPr txBox="1"/>
            <p:nvPr/>
          </p:nvSpPr>
          <p:spPr>
            <a:xfrm>
              <a:off x="525348" y="5174456"/>
              <a:ext cx="378054" cy="6010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FFFFFF"/>
                  </a:solidFill>
                  <a:latin typeface="+mn-lt"/>
                  <a:ea typeface="+mn-ea"/>
                  <a:cs typeface="+mn-cs"/>
                </a:rPr>
                <a:t>两大​</a:t>
              </a:r>
              <a:br/>
              <a:r>
                <a:rPr lang="zh-CN" sz="1120" b="1" dirty="0">
                  <a:solidFill>
                    <a:srgbClr val="FFFFFF"/>
                  </a:solidFill>
                  <a:latin typeface="+mn-lt"/>
                  <a:ea typeface="+mn-ea"/>
                  <a:cs typeface="+mn-cs"/>
                </a:rPr>
                <a:t>支撑​</a:t>
              </a:r>
              <a:br/>
              <a:r>
                <a:rPr lang="zh-CN" sz="1120" b="1" dirty="0">
                  <a:solidFill>
                    <a:srgbClr val="FFFFFF"/>
                  </a:solidFill>
                  <a:latin typeface="+mn-lt"/>
                  <a:ea typeface="+mn-ea"/>
                  <a:cs typeface="+mn-cs"/>
                </a:rPr>
                <a:t>基石​</a:t>
              </a:r>
            </a:p>
          </p:txBody>
        </p:sp>
        <p:sp>
          <p:nvSpPr>
            <p:cNvPr id="125" name="Rectangle 125"/>
            <p:cNvSpPr/>
            <p:nvPr/>
          </p:nvSpPr>
          <p:spPr>
            <a:xfrm>
              <a:off x="1333500" y="4800600"/>
              <a:ext cx="4762500" cy="1295400"/>
            </a:xfrm>
            <a:prstGeom prst="rect">
              <a:avLst/>
            </a:prstGeom>
            <a:solidFill>
              <a:srgbClr val="FFFFFF"/>
            </a:solidFill>
            <a:ln w="9525">
              <a:solidFill>
                <a:srgbClr val="F1917D"/>
              </a:solidFill>
              <a:custDash>
                <a:ds d="500000" sp="300000"/>
              </a:custDash>
            </a:ln>
          </p:spPr>
        </p:sp>
        <p:sp>
          <p:nvSpPr>
            <p:cNvPr id="126" name="TextBox 126"/>
            <p:cNvSpPr txBox="1"/>
            <p:nvPr/>
          </p:nvSpPr>
          <p:spPr>
            <a:xfrm>
              <a:off x="3426714" y="4934902"/>
              <a:ext cx="576072"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系统建设</a:t>
              </a:r>
            </a:p>
          </p:txBody>
        </p:sp>
        <p:sp>
          <p:nvSpPr>
            <p:cNvPr id="127" name="Ellipse 127"/>
            <p:cNvSpPr/>
            <p:nvPr/>
          </p:nvSpPr>
          <p:spPr>
            <a:xfrm>
              <a:off x="1519238" y="5272088"/>
              <a:ext cx="47625" cy="47625"/>
            </a:xfrm>
            <a:prstGeom prst="ellipse">
              <a:avLst/>
            </a:prstGeom>
            <a:solidFill>
              <a:srgbClr val="333333"/>
            </a:solidFill>
            <a:ln>
              <a:noFill/>
            </a:ln>
          </p:spPr>
        </p:sp>
        <p:sp>
          <p:nvSpPr>
            <p:cNvPr id="128" name="TextBox 128"/>
            <p:cNvSpPr txBox="1"/>
            <p:nvPr/>
          </p:nvSpPr>
          <p:spPr>
            <a:xfrm>
              <a:off x="1662112" y="5232797"/>
              <a:ext cx="3841623" cy="364331"/>
            </a:xfrm>
            <a:prstGeom prst="rect">
              <a:avLst/>
            </a:prstGeom>
            <a:noFill/>
            <a:ln>
              <a:noFill/>
            </a:ln>
          </p:spPr>
          <p:txBody>
            <a:bodyPr wrap="none" lIns="0" tIns="0" rIns="0" bIns="0" anchor="t" anchorCtr="0">
              <a:spAutoFit/>
            </a:bodyPr>
            <a:lstStyle/>
            <a:p>
              <a:pPr algn="l">
                <a:lnSpc>
                  <a:spcPts val="1425"/>
                </a:lnSpc>
              </a:pPr>
              <a:r>
                <a:rPr lang="zh-CN" sz="940" dirty="0">
                  <a:solidFill>
                    <a:srgbClr val="333333"/>
                  </a:solidFill>
                  <a:latin typeface="+mn-lt"/>
                  <a:ea typeface="+mn-ea"/>
                  <a:cs typeface="+mn-cs"/>
                </a:rPr>
                <a:t>加快推动数据中台与客户运营平台的深度融合，构建覆盖长尾客户全旅​​</a:t>
              </a:r>
              <a:br/>
              <a:r>
                <a:rPr lang="zh-CN" sz="940" dirty="0">
                  <a:solidFill>
                    <a:srgbClr val="333333"/>
                  </a:solidFill>
                  <a:latin typeface="+mn-lt"/>
                  <a:ea typeface="+mn-ea"/>
                  <a:cs typeface="+mn-cs"/>
                </a:rPr>
                <a:t>程周期的一体化智能运营体系</a:t>
              </a:r>
            </a:p>
          </p:txBody>
        </p:sp>
        <p:sp>
          <p:nvSpPr>
            <p:cNvPr id="129" name="Rectangle 129"/>
            <p:cNvSpPr/>
            <p:nvPr/>
          </p:nvSpPr>
          <p:spPr>
            <a:xfrm>
              <a:off x="6572250" y="4800600"/>
              <a:ext cx="4762500" cy="1295400"/>
            </a:xfrm>
            <a:prstGeom prst="rect">
              <a:avLst/>
            </a:prstGeom>
            <a:solidFill>
              <a:srgbClr val="FFFFFF"/>
            </a:solidFill>
            <a:ln w="9525">
              <a:solidFill>
                <a:srgbClr val="F1917D"/>
              </a:solidFill>
              <a:custDash>
                <a:ds d="500000" sp="300000"/>
              </a:custDash>
            </a:ln>
          </p:spPr>
        </p:sp>
        <p:sp>
          <p:nvSpPr>
            <p:cNvPr id="130" name="TextBox 130"/>
            <p:cNvSpPr txBox="1"/>
            <p:nvPr/>
          </p:nvSpPr>
          <p:spPr>
            <a:xfrm>
              <a:off x="8665464" y="4934902"/>
              <a:ext cx="576072"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组织人员</a:t>
              </a:r>
            </a:p>
          </p:txBody>
        </p:sp>
        <p:sp>
          <p:nvSpPr>
            <p:cNvPr id="131" name="Ellipse 131"/>
            <p:cNvSpPr/>
            <p:nvPr/>
          </p:nvSpPr>
          <p:spPr>
            <a:xfrm>
              <a:off x="6757988" y="5272088"/>
              <a:ext cx="47625" cy="47625"/>
            </a:xfrm>
            <a:prstGeom prst="ellipse">
              <a:avLst/>
            </a:prstGeom>
            <a:solidFill>
              <a:srgbClr val="333333"/>
            </a:solidFill>
            <a:ln>
              <a:noFill/>
            </a:ln>
          </p:spPr>
        </p:sp>
        <p:sp>
          <p:nvSpPr>
            <p:cNvPr id="132" name="TextBox 132"/>
            <p:cNvSpPr txBox="1"/>
            <p:nvPr/>
          </p:nvSpPr>
          <p:spPr>
            <a:xfrm>
              <a:off x="6900862" y="5232797"/>
              <a:ext cx="3841623" cy="364331"/>
            </a:xfrm>
            <a:prstGeom prst="rect">
              <a:avLst/>
            </a:prstGeom>
            <a:noFill/>
            <a:ln>
              <a:noFill/>
            </a:ln>
          </p:spPr>
          <p:txBody>
            <a:bodyPr wrap="none" lIns="0" tIns="0" rIns="0" bIns="0" anchor="t" anchorCtr="0">
              <a:spAutoFit/>
            </a:bodyPr>
            <a:lstStyle/>
            <a:p>
              <a:pPr algn="l">
                <a:lnSpc>
                  <a:spcPts val="1425"/>
                </a:lnSpc>
              </a:pPr>
              <a:r>
                <a:rPr lang="zh-CN" sz="940" dirty="0">
                  <a:solidFill>
                    <a:srgbClr val="333333"/>
                  </a:solidFill>
                  <a:latin typeface="+mn-lt"/>
                  <a:ea typeface="+mn-ea"/>
                  <a:cs typeface="+mn-cs"/>
                </a:rPr>
                <a:t>成立长尾客户直营团队，聚焦长尾客户全旅程周期服务营销管理，统一​​</a:t>
              </a:r>
              <a:br/>
              <a:r>
                <a:rPr lang="zh-CN" sz="940" dirty="0">
                  <a:solidFill>
                    <a:srgbClr val="333333"/>
                  </a:solidFill>
                  <a:latin typeface="+mn-lt"/>
                  <a:ea typeface="+mn-ea"/>
                  <a:cs typeface="+mn-cs"/>
                </a:rPr>
                <a:t>运营标准、规范服务流程</a:t>
              </a:r>
            </a:p>
          </p:txBody>
        </p:sp>
      </p:grpSp>
      <p:grpSp>
        <p:nvGrpSpPr>
          <p:cNvPr id="136" name="footer"/>
          <p:cNvGrpSpPr/>
          <p:nvPr/>
        </p:nvGrpSpPr>
        <p:grpSpPr>
          <a:xfrm>
            <a:off x="0" y="6438900"/>
            <a:ext cx="12192000" cy="342900"/>
            <a:chOff x="0" y="6438900"/>
            <a:chExt cx="12192000" cy="342900"/>
          </a:xfrm>
        </p:grpSpPr>
        <p:sp>
          <p:nvSpPr>
            <p:cNvPr id="134" name="Line 134"/>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135" name="TextBox 135"/>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35​</a:t>
              </a:r>
            </a:p>
          </p:txBody>
        </p:sp>
        <p:sp>
          <p:nvSpPr>
            <p:cNvPr id="4" name="TextBox 4"/>
            <p:cNvSpPr txBox="1"/>
            <p:nvPr/>
          </p:nvSpPr>
          <p:spPr>
            <a:xfrm>
              <a:off x="885444" y="160973"/>
              <a:ext cx="6658615"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3.3.2 中电金信解决方案｜</a:t>
              </a:r>
              <a:r>
                <a:rPr lang="zh-CN" sz="1950" b="1" dirty="0">
                  <a:solidFill>
                    <a:srgbClr val="E74726"/>
                  </a:solidFill>
                  <a:latin typeface="+mj-lt"/>
                  <a:ea typeface="+mj-ea"/>
                  <a:cs typeface="+mj-cs"/>
                </a:rPr>
                <a:t>长尾客群运营陪跑服务</a:t>
              </a:r>
              <a:r>
                <a:rPr lang="zh-CN" sz="195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8332710" cy="249364"/>
            <a:chOff x="374523" y="681514"/>
            <a:chExt cx="8332710" cy="249364"/>
          </a:xfrm>
        </p:grpSpPr>
        <p:sp>
          <p:nvSpPr>
            <p:cNvPr id="16" name="TextBox 16"/>
            <p:cNvSpPr txBox="1"/>
            <p:nvPr/>
          </p:nvSpPr>
          <p:spPr>
            <a:xfrm>
              <a:off x="374523" y="681514"/>
              <a:ext cx="8332710"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以“提升长尾客群AUM”为核心目标，覆盖从现状诊断、策略设计到执行落地、复盘优化的运营全流程​​​​​​​</a:t>
              </a:r>
            </a:p>
          </p:txBody>
        </p:sp>
      </p:grpSp>
      <p:grpSp>
        <p:nvGrpSpPr>
          <p:cNvPr id="19" name="guide"/>
          <p:cNvGrpSpPr/>
          <p:nvPr/>
        </p:nvGrpSpPr>
        <p:grpSpPr>
          <a:xfrm>
            <a:off x="376047" y="990124"/>
            <a:ext cx="7674900" cy="190690"/>
            <a:chOff x="376047" y="990124"/>
            <a:chExt cx="7674900" cy="190690"/>
          </a:xfrm>
        </p:grpSpPr>
        <p:sp>
          <p:nvSpPr>
            <p:cNvPr id="18" name="TextBox 18"/>
            <p:cNvSpPr txBox="1"/>
            <p:nvPr/>
          </p:nvSpPr>
          <p:spPr>
            <a:xfrm>
              <a:off x="376047" y="990124"/>
              <a:ext cx="7674900"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双方在长尾客群经营实战中协同配合、迭代优化，确保客群经营能力真正内化为银行自身的运营本领，而非止步于一次性咨询交付​​</a:t>
              </a:r>
            </a:p>
          </p:txBody>
        </p:sp>
      </p:grpSp>
      <p:grpSp>
        <p:nvGrpSpPr>
          <p:cNvPr id="56" name="cycle-diagram"/>
          <p:cNvGrpSpPr/>
          <p:nvPr/>
        </p:nvGrpSpPr>
        <p:grpSpPr>
          <a:xfrm>
            <a:off x="523875" y="2066925"/>
            <a:ext cx="4286250" cy="3981450"/>
            <a:chOff x="523875" y="2066925"/>
            <a:chExt cx="4286250" cy="3981450"/>
          </a:xfrm>
        </p:grpSpPr>
        <p:sp>
          <p:nvSpPr>
            <p:cNvPr id="20" name="Ellipse 20"/>
            <p:cNvSpPr/>
            <p:nvPr/>
          </p:nvSpPr>
          <p:spPr>
            <a:xfrm>
              <a:off x="857250" y="2190750"/>
              <a:ext cx="3619500" cy="3619500"/>
            </a:xfrm>
            <a:prstGeom prst="ellipse">
              <a:avLst/>
            </a:prstGeom>
            <a:noFill/>
            <a:ln w="11430">
              <a:solidFill>
                <a:srgbClr val="E74726"/>
              </a:solidFill>
              <a:custDash>
                <a:ds d="500000" sp="333333"/>
              </a:custDash>
            </a:ln>
          </p:spPr>
        </p:sp>
        <p:grpSp>
          <p:nvGrpSpPr>
            <p:cNvPr id="27" name="Group 27"/>
            <p:cNvGrpSpPr/>
            <p:nvPr/>
          </p:nvGrpSpPr>
          <p:grpSpPr>
            <a:xfrm>
              <a:off x="2447925" y="2066925"/>
              <a:ext cx="285751" cy="285751"/>
              <a:chOff x="2447925" y="2066925"/>
              <a:chExt cx="285751" cy="285751"/>
            </a:xfrm>
          </p:grpSpPr>
          <p:sp>
            <p:nvSpPr>
              <p:cNvPr id="21" name="Freeform 21"/>
              <p:cNvSpPr/>
              <p:nvPr/>
            </p:nvSpPr>
            <p:spPr>
              <a:xfrm>
                <a:off x="2559050" y="219392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E74726"/>
                </a:solidFill>
              </a:ln>
            </p:spPr>
          </p:sp>
          <p:sp>
            <p:nvSpPr>
              <p:cNvPr id="22" name="Freeform 22"/>
              <p:cNvSpPr/>
              <p:nvPr/>
            </p:nvSpPr>
            <p:spPr>
              <a:xfrm>
                <a:off x="2527300" y="2305051"/>
                <a:ext cx="127000" cy="47625"/>
              </a:xfrm>
              <a:custGeom>
                <a:avLst/>
                <a:gdLst/>
                <a:ahLst/>
                <a:cxnLst/>
                <a:rect l="l" t="t" r="r" b="b"/>
                <a:pathLst>
                  <a:path w="127000" h="47625">
                    <a:moveTo>
                      <a:pt x="0" y="47625"/>
                    </a:moveTo>
                    <a:lnTo>
                      <a:pt x="0" y="31750"/>
                    </a:lnTo>
                    <a:cubicBezTo>
                      <a:pt x="0" y="14215"/>
                      <a:pt x="14215" y="0"/>
                      <a:pt x="31750" y="0"/>
                    </a:cubicBezTo>
                    <a:lnTo>
                      <a:pt x="95250" y="0"/>
                    </a:lnTo>
                    <a:cubicBezTo>
                      <a:pt x="112785" y="0"/>
                      <a:pt x="127000" y="14215"/>
                      <a:pt x="127000" y="31750"/>
                    </a:cubicBezTo>
                    <a:lnTo>
                      <a:pt x="127000" y="47625"/>
                    </a:lnTo>
                  </a:path>
                </a:pathLst>
              </a:custGeom>
              <a:noFill/>
              <a:ln w="23813">
                <a:solidFill>
                  <a:srgbClr val="E74726"/>
                </a:solidFill>
              </a:ln>
            </p:spPr>
          </p:sp>
          <p:sp>
            <p:nvSpPr>
              <p:cNvPr id="23" name="Freeform 23"/>
              <p:cNvSpPr/>
              <p:nvPr/>
            </p:nvSpPr>
            <p:spPr>
              <a:xfrm>
                <a:off x="2638425" y="206692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E74726"/>
                </a:solidFill>
              </a:ln>
            </p:spPr>
          </p:sp>
          <p:sp>
            <p:nvSpPr>
              <p:cNvPr id="24" name="Freeform 24"/>
              <p:cNvSpPr/>
              <p:nvPr/>
            </p:nvSpPr>
            <p:spPr>
              <a:xfrm>
                <a:off x="2670176" y="2178050"/>
                <a:ext cx="63500" cy="47625"/>
              </a:xfrm>
              <a:custGeom>
                <a:avLst/>
                <a:gdLst/>
                <a:ahLst/>
                <a:cxnLst/>
                <a:rect l="l" t="t" r="r" b="b"/>
                <a:pathLst>
                  <a:path w="63500" h="47625">
                    <a:moveTo>
                      <a:pt x="0" y="0"/>
                    </a:moveTo>
                    <a:lnTo>
                      <a:pt x="31750" y="0"/>
                    </a:lnTo>
                    <a:cubicBezTo>
                      <a:pt x="49285" y="0"/>
                      <a:pt x="63500" y="14215"/>
                      <a:pt x="63500" y="31750"/>
                    </a:cubicBezTo>
                    <a:lnTo>
                      <a:pt x="63500" y="47625"/>
                    </a:lnTo>
                  </a:path>
                </a:pathLst>
              </a:custGeom>
              <a:noFill/>
              <a:ln w="23813">
                <a:solidFill>
                  <a:srgbClr val="E74726"/>
                </a:solidFill>
              </a:ln>
            </p:spPr>
          </p:sp>
          <p:sp>
            <p:nvSpPr>
              <p:cNvPr id="25" name="Freeform 25"/>
              <p:cNvSpPr/>
              <p:nvPr/>
            </p:nvSpPr>
            <p:spPr>
              <a:xfrm>
                <a:off x="2479675" y="206692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E74726"/>
                </a:solidFill>
              </a:ln>
            </p:spPr>
          </p:sp>
          <p:sp>
            <p:nvSpPr>
              <p:cNvPr id="26" name="Freeform 26"/>
              <p:cNvSpPr/>
              <p:nvPr/>
            </p:nvSpPr>
            <p:spPr>
              <a:xfrm>
                <a:off x="2447925" y="2178050"/>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23813">
                <a:solidFill>
                  <a:srgbClr val="E74726"/>
                </a:solidFill>
              </a:ln>
            </p:spPr>
          </p:sp>
        </p:grpSp>
        <p:sp>
          <p:nvSpPr>
            <p:cNvPr id="28" name="TextBox 28"/>
            <p:cNvSpPr txBox="1"/>
            <p:nvPr/>
          </p:nvSpPr>
          <p:spPr>
            <a:xfrm>
              <a:off x="2833116" y="2172652"/>
              <a:ext cx="576072" cy="205359"/>
            </a:xfrm>
            <a:prstGeom prst="rect">
              <a:avLst/>
            </a:prstGeom>
            <a:noFill/>
            <a:ln>
              <a:noFill/>
            </a:ln>
          </p:spPr>
          <p:txBody>
            <a:bodyPr wrap="none" lIns="0" tIns="0" rIns="0" bIns="0" anchor="t" anchorCtr="0">
              <a:spAutoFit/>
            </a:bodyPr>
            <a:lstStyle/>
            <a:p>
              <a:pPr algn="l"/>
              <a:r>
                <a:rPr lang="zh-CN" sz="1050" dirty="0">
                  <a:solidFill>
                    <a:srgbClr val="333333"/>
                  </a:solidFill>
                  <a:latin typeface="+mn-lt"/>
                  <a:ea typeface="+mn-ea"/>
                  <a:cs typeface="+mn-cs"/>
                </a:rPr>
                <a:t>中电金信</a:t>
              </a:r>
            </a:p>
          </p:txBody>
        </p:sp>
        <p:sp>
          <p:nvSpPr>
            <p:cNvPr id="29" name="Freeform 29"/>
            <p:cNvSpPr/>
            <p:nvPr/>
          </p:nvSpPr>
          <p:spPr>
            <a:xfrm>
              <a:off x="2333625" y="2495550"/>
              <a:ext cx="666750" cy="95250"/>
            </a:xfrm>
            <a:prstGeom prst="trapezoid">
              <a:avLst>
                <a:gd name="adj" fmla="val 50000"/>
              </a:avLst>
            </a:prstGeom>
            <a:solidFill>
              <a:srgbClr val="D4E2FA"/>
            </a:solidFill>
            <a:ln>
              <a:noFill/>
            </a:ln>
          </p:spPr>
        </p:sp>
        <p:sp>
          <p:nvSpPr>
            <p:cNvPr id="30" name="Freeform 30"/>
            <p:cNvSpPr/>
            <p:nvPr/>
          </p:nvSpPr>
          <p:spPr>
            <a:xfrm>
              <a:off x="1524000" y="2857500"/>
              <a:ext cx="2286000" cy="2286000"/>
            </a:xfrm>
            <a:prstGeom prst="blockArc">
              <a:avLst>
                <a:gd name="adj1" fmla="val 14118000"/>
                <a:gd name="adj2" fmla="val 17082000"/>
                <a:gd name="adj3" fmla="val 18750"/>
              </a:avLst>
            </a:prstGeom>
            <a:solidFill>
              <a:srgbClr val="D4E2FA"/>
            </a:solidFill>
            <a:ln>
              <a:noFill/>
            </a:ln>
          </p:spPr>
        </p:sp>
        <p:sp>
          <p:nvSpPr>
            <p:cNvPr id="31" name="Freeform 31"/>
            <p:cNvSpPr/>
            <p:nvPr/>
          </p:nvSpPr>
          <p:spPr>
            <a:xfrm>
              <a:off x="1524000" y="2857500"/>
              <a:ext cx="2286000" cy="2286000"/>
            </a:xfrm>
            <a:prstGeom prst="blockArc">
              <a:avLst>
                <a:gd name="adj1" fmla="val 17202000"/>
                <a:gd name="adj2" fmla="val 20166000"/>
                <a:gd name="adj3" fmla="val 18750"/>
              </a:avLst>
            </a:prstGeom>
            <a:solidFill>
              <a:srgbClr val="F7C3B8"/>
            </a:solidFill>
            <a:ln>
              <a:noFill/>
            </a:ln>
          </p:spPr>
        </p:sp>
        <p:sp>
          <p:nvSpPr>
            <p:cNvPr id="32" name="Freeform 32"/>
            <p:cNvSpPr/>
            <p:nvPr/>
          </p:nvSpPr>
          <p:spPr>
            <a:xfrm>
              <a:off x="1524000" y="2857500"/>
              <a:ext cx="2286000" cy="2286000"/>
            </a:xfrm>
            <a:prstGeom prst="blockArc">
              <a:avLst>
                <a:gd name="adj1" fmla="val 20286000"/>
                <a:gd name="adj2" fmla="val 1650000"/>
                <a:gd name="adj3" fmla="val 18750"/>
              </a:avLst>
            </a:prstGeom>
            <a:solidFill>
              <a:srgbClr val="F4AC9D"/>
            </a:solidFill>
            <a:ln>
              <a:noFill/>
            </a:ln>
          </p:spPr>
        </p:sp>
        <p:sp>
          <p:nvSpPr>
            <p:cNvPr id="33" name="Freeform 33"/>
            <p:cNvSpPr/>
            <p:nvPr/>
          </p:nvSpPr>
          <p:spPr>
            <a:xfrm>
              <a:off x="1524000" y="2857500"/>
              <a:ext cx="2286000" cy="2286000"/>
            </a:xfrm>
            <a:prstGeom prst="blockArc">
              <a:avLst>
                <a:gd name="adj1" fmla="val 1770000"/>
                <a:gd name="adj2" fmla="val 4734000"/>
                <a:gd name="adj3" fmla="val 18750"/>
              </a:avLst>
            </a:prstGeom>
            <a:solidFill>
              <a:srgbClr val="F1917D"/>
            </a:solidFill>
            <a:ln>
              <a:noFill/>
            </a:ln>
          </p:spPr>
        </p:sp>
        <p:sp>
          <p:nvSpPr>
            <p:cNvPr id="34" name="Freeform 34"/>
            <p:cNvSpPr/>
            <p:nvPr/>
          </p:nvSpPr>
          <p:spPr>
            <a:xfrm>
              <a:off x="1524000" y="2857500"/>
              <a:ext cx="2286000" cy="2286000"/>
            </a:xfrm>
            <a:prstGeom prst="blockArc">
              <a:avLst>
                <a:gd name="adj1" fmla="val 4854000"/>
                <a:gd name="adj2" fmla="val 7818000"/>
                <a:gd name="adj3" fmla="val 18750"/>
              </a:avLst>
            </a:prstGeom>
            <a:solidFill>
              <a:srgbClr val="D4634C"/>
            </a:solidFill>
            <a:ln>
              <a:noFill/>
            </a:ln>
          </p:spPr>
        </p:sp>
        <p:sp>
          <p:nvSpPr>
            <p:cNvPr id="35" name="Freeform 35"/>
            <p:cNvSpPr/>
            <p:nvPr/>
          </p:nvSpPr>
          <p:spPr>
            <a:xfrm>
              <a:off x="1524000" y="2857500"/>
              <a:ext cx="2286000" cy="2286000"/>
            </a:xfrm>
            <a:prstGeom prst="blockArc">
              <a:avLst>
                <a:gd name="adj1" fmla="val 7938000"/>
                <a:gd name="adj2" fmla="val 10902000"/>
                <a:gd name="adj3" fmla="val 18750"/>
              </a:avLst>
            </a:prstGeom>
            <a:solidFill>
              <a:srgbClr val="E74726"/>
            </a:solidFill>
            <a:ln>
              <a:noFill/>
            </a:ln>
          </p:spPr>
        </p:sp>
        <p:sp>
          <p:nvSpPr>
            <p:cNvPr id="36" name="Freeform 36"/>
            <p:cNvSpPr/>
            <p:nvPr/>
          </p:nvSpPr>
          <p:spPr>
            <a:xfrm>
              <a:off x="1524000" y="2857500"/>
              <a:ext cx="2286000" cy="2286000"/>
            </a:xfrm>
            <a:prstGeom prst="blockArc">
              <a:avLst>
                <a:gd name="adj1" fmla="val 11022000"/>
                <a:gd name="adj2" fmla="val 13986000"/>
                <a:gd name="adj3" fmla="val 18750"/>
              </a:avLst>
            </a:prstGeom>
            <a:solidFill>
              <a:srgbClr val="4A180E"/>
            </a:solidFill>
            <a:ln>
              <a:noFill/>
            </a:ln>
          </p:spPr>
        </p:sp>
        <p:sp>
          <p:nvSpPr>
            <p:cNvPr id="37" name="TextBox 37"/>
            <p:cNvSpPr txBox="1"/>
            <p:nvPr/>
          </p:nvSpPr>
          <p:spPr>
            <a:xfrm rot="-600000">
              <a:off x="2273893" y="3030645"/>
              <a:ext cx="472618" cy="169069"/>
            </a:xfrm>
            <a:prstGeom prst="rect">
              <a:avLst/>
            </a:prstGeom>
            <a:noFill/>
            <a:ln>
              <a:noFill/>
            </a:ln>
          </p:spPr>
          <p:txBody>
            <a:bodyPr wrap="none" lIns="0" tIns="0" rIns="0" bIns="0" anchor="t" anchorCtr="0">
              <a:spAutoFit/>
            </a:bodyPr>
            <a:lstStyle/>
            <a:p>
              <a:pPr algn="ctr"/>
              <a:r>
                <a:rPr lang="zh-CN" sz="860" b="1" dirty="0">
                  <a:solidFill>
                    <a:srgbClr val="932F1B"/>
                  </a:solidFill>
                  <a:latin typeface="+mn-lt"/>
                  <a:ea typeface="+mn-ea"/>
                  <a:cs typeface="+mn-cs"/>
                </a:rPr>
                <a:t>现状分析</a:t>
              </a:r>
            </a:p>
          </p:txBody>
        </p:sp>
        <p:sp>
          <p:nvSpPr>
            <p:cNvPr id="38" name="TextBox 38"/>
            <p:cNvSpPr txBox="1"/>
            <p:nvPr/>
          </p:nvSpPr>
          <p:spPr>
            <a:xfrm rot="2460000">
              <a:off x="3020919" y="3242925"/>
              <a:ext cx="472618" cy="169069"/>
            </a:xfrm>
            <a:prstGeom prst="rect">
              <a:avLst/>
            </a:prstGeom>
            <a:noFill/>
            <a:ln>
              <a:noFill/>
            </a:ln>
          </p:spPr>
          <p:txBody>
            <a:bodyPr wrap="none" lIns="0" tIns="0" rIns="0" bIns="0" anchor="t" anchorCtr="0">
              <a:spAutoFit/>
            </a:bodyPr>
            <a:lstStyle/>
            <a:p>
              <a:pPr algn="ctr"/>
              <a:r>
                <a:rPr lang="zh-CN" sz="860" b="1" dirty="0">
                  <a:solidFill>
                    <a:srgbClr val="932F1B"/>
                  </a:solidFill>
                  <a:latin typeface="+mn-lt"/>
                  <a:ea typeface="+mn-ea"/>
                  <a:cs typeface="+mn-cs"/>
                </a:rPr>
                <a:t>体系构建</a:t>
              </a:r>
            </a:p>
          </p:txBody>
        </p:sp>
        <p:sp>
          <p:nvSpPr>
            <p:cNvPr id="39" name="TextBox 39"/>
            <p:cNvSpPr txBox="1"/>
            <p:nvPr/>
          </p:nvSpPr>
          <p:spPr>
            <a:xfrm>
              <a:off x="3500015" y="3793093"/>
              <a:ext cx="181820" cy="540544"/>
            </a:xfrm>
            <a:prstGeom prst="rect">
              <a:avLst/>
            </a:prstGeom>
            <a:noFill/>
            <a:ln>
              <a:noFill/>
            </a:ln>
          </p:spPr>
          <p:txBody>
            <a:bodyPr wrap="none" lIns="0" tIns="0" rIns="0" bIns="0" anchor="t" anchorCtr="0">
              <a:spAutoFit/>
            </a:bodyPr>
            <a:lstStyle/>
            <a:p>
              <a:pPr algn="ctr">
                <a:lnSpc>
                  <a:spcPts val="975"/>
                </a:lnSpc>
              </a:pPr>
              <a:r>
                <a:rPr lang="zh-CN" sz="860" b="1" dirty="0">
                  <a:solidFill>
                    <a:srgbClr val="932F1B"/>
                  </a:solidFill>
                  <a:latin typeface="+mn-lt"/>
                  <a:ea typeface="+mn-ea"/>
                  <a:cs typeface="+mn-cs"/>
                </a:rPr>
                <a:t>策​</a:t>
              </a:r>
              <a:br/>
              <a:r>
                <a:rPr lang="zh-CN" sz="860" b="1" dirty="0">
                  <a:solidFill>
                    <a:srgbClr val="932F1B"/>
                  </a:solidFill>
                  <a:latin typeface="+mn-lt"/>
                  <a:ea typeface="+mn-ea"/>
                  <a:cs typeface="+mn-cs"/>
                </a:rPr>
                <a:t>略​</a:t>
              </a:r>
              <a:br/>
              <a:r>
                <a:rPr lang="zh-CN" sz="860" b="1" dirty="0">
                  <a:solidFill>
                    <a:srgbClr val="932F1B"/>
                  </a:solidFill>
                  <a:latin typeface="+mn-lt"/>
                  <a:ea typeface="+mn-ea"/>
                  <a:cs typeface="+mn-cs"/>
                </a:rPr>
                <a:t>制​</a:t>
              </a:r>
              <a:br/>
              <a:r>
                <a:rPr lang="zh-CN" sz="860" b="1" dirty="0">
                  <a:solidFill>
                    <a:srgbClr val="932F1B"/>
                  </a:solidFill>
                  <a:latin typeface="+mn-lt"/>
                  <a:ea typeface="+mn-ea"/>
                  <a:cs typeface="+mn-cs"/>
                </a:rPr>
                <a:t>定​</a:t>
              </a:r>
            </a:p>
          </p:txBody>
        </p:sp>
        <p:sp>
          <p:nvSpPr>
            <p:cNvPr id="40" name="TextBox 40"/>
            <p:cNvSpPr txBox="1"/>
            <p:nvPr/>
          </p:nvSpPr>
          <p:spPr>
            <a:xfrm rot="-2160000">
              <a:off x="2990972" y="4692329"/>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策略落地</a:t>
              </a:r>
            </a:p>
          </p:txBody>
        </p:sp>
        <p:sp>
          <p:nvSpPr>
            <p:cNvPr id="41" name="TextBox 41"/>
            <p:cNvSpPr txBox="1"/>
            <p:nvPr/>
          </p:nvSpPr>
          <p:spPr>
            <a:xfrm rot="960000">
              <a:off x="2174902" y="4839699"/>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执行指导</a:t>
              </a:r>
            </a:p>
          </p:txBody>
        </p:sp>
        <p:sp>
          <p:nvSpPr>
            <p:cNvPr id="42" name="TextBox 42"/>
            <p:cNvSpPr txBox="1"/>
            <p:nvPr/>
          </p:nvSpPr>
          <p:spPr>
            <a:xfrm rot="4020000">
              <a:off x="1546261" y="428945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评估优化</a:t>
              </a:r>
            </a:p>
          </p:txBody>
        </p:sp>
        <p:sp>
          <p:nvSpPr>
            <p:cNvPr id="43" name="TextBox 43"/>
            <p:cNvSpPr txBox="1"/>
            <p:nvPr/>
          </p:nvSpPr>
          <p:spPr>
            <a:xfrm rot="-3720000">
              <a:off x="1637612" y="349167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知识培训</a:t>
              </a:r>
            </a:p>
          </p:txBody>
        </p:sp>
        <p:grpSp>
          <p:nvGrpSpPr>
            <p:cNvPr id="46" name="Group 46"/>
            <p:cNvGrpSpPr/>
            <p:nvPr/>
          </p:nvGrpSpPr>
          <p:grpSpPr>
            <a:xfrm>
              <a:off x="2276475" y="3709988"/>
              <a:ext cx="133350" cy="200025"/>
              <a:chOff x="2276475" y="3709988"/>
              <a:chExt cx="133350" cy="200025"/>
            </a:xfrm>
          </p:grpSpPr>
          <p:sp>
            <p:nvSpPr>
              <p:cNvPr id="44" name="Freeform 44"/>
              <p:cNvSpPr/>
              <p:nvPr/>
            </p:nvSpPr>
            <p:spPr>
              <a:xfrm>
                <a:off x="2298700" y="37099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6669">
                <a:solidFill>
                  <a:srgbClr val="E74726"/>
                </a:solidFill>
              </a:ln>
            </p:spPr>
          </p:sp>
          <p:sp>
            <p:nvSpPr>
              <p:cNvPr id="45" name="Freeform 45"/>
              <p:cNvSpPr/>
              <p:nvPr/>
            </p:nvSpPr>
            <p:spPr>
              <a:xfrm>
                <a:off x="2276475" y="38433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6669">
                <a:solidFill>
                  <a:srgbClr val="E74726"/>
                </a:solidFill>
              </a:ln>
            </p:spPr>
          </p:sp>
        </p:grpSp>
        <p:sp>
          <p:nvSpPr>
            <p:cNvPr id="47" name="TextBox 47"/>
            <p:cNvSpPr txBox="1"/>
            <p:nvPr/>
          </p:nvSpPr>
          <p:spPr>
            <a:xfrm>
              <a:off x="2547366" y="3763328"/>
              <a:ext cx="576072" cy="205359"/>
            </a:xfrm>
            <a:prstGeom prst="rect">
              <a:avLst/>
            </a:prstGeom>
            <a:noFill/>
            <a:ln>
              <a:noFill/>
            </a:ln>
          </p:spPr>
          <p:txBody>
            <a:bodyPr wrap="none" lIns="0" tIns="0" rIns="0" bIns="0" anchor="t" anchorCtr="0">
              <a:spAutoFit/>
            </a:bodyPr>
            <a:lstStyle/>
            <a:p>
              <a:pPr algn="l"/>
              <a:r>
                <a:rPr lang="zh-CN" sz="1050" dirty="0">
                  <a:solidFill>
                    <a:srgbClr val="E74726"/>
                  </a:solidFill>
                  <a:latin typeface="+mn-lt"/>
                  <a:ea typeface="+mn-ea"/>
                  <a:cs typeface="+mn-cs"/>
                </a:rPr>
                <a:t>运营目标</a:t>
              </a:r>
            </a:p>
          </p:txBody>
        </p:sp>
        <p:sp>
          <p:nvSpPr>
            <p:cNvPr id="48" name="Line 48"/>
            <p:cNvSpPr/>
            <p:nvPr/>
          </p:nvSpPr>
          <p:spPr>
            <a:xfrm>
              <a:off x="2171700" y="3981450"/>
              <a:ext cx="1019175" cy="9525"/>
            </a:xfrm>
            <a:custGeom>
              <a:avLst/>
              <a:gdLst/>
              <a:ahLst/>
              <a:cxnLst/>
              <a:rect l="l" t="t" r="r" b="b"/>
              <a:pathLst>
                <a:path w="1019175" h="9525">
                  <a:moveTo>
                    <a:pt x="0" y="0"/>
                  </a:moveTo>
                  <a:lnTo>
                    <a:pt x="1019175" y="0"/>
                  </a:lnTo>
                </a:path>
              </a:pathLst>
            </a:custGeom>
            <a:noFill/>
            <a:ln w="9525">
              <a:solidFill>
                <a:srgbClr val="F1917D"/>
              </a:solidFill>
              <a:custDash>
                <a:ds d="300000" sp="300000"/>
              </a:custDash>
            </a:ln>
          </p:spPr>
        </p:sp>
        <p:sp>
          <p:nvSpPr>
            <p:cNvPr id="49" name="TextBox 49"/>
            <p:cNvSpPr txBox="1"/>
            <p:nvPr/>
          </p:nvSpPr>
          <p:spPr>
            <a:xfrm>
              <a:off x="2216607" y="4098131"/>
              <a:ext cx="900786" cy="410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E74726"/>
                  </a:solidFill>
                  <a:latin typeface="+mn-lt"/>
                  <a:ea typeface="+mn-ea"/>
                  <a:cs typeface="+mn-cs"/>
                </a:rPr>
                <a:t>提升长尾​</a:t>
              </a:r>
              <a:br/>
              <a:r>
                <a:rPr lang="zh-CN" sz="1120" b="1" dirty="0">
                  <a:solidFill>
                    <a:srgbClr val="E74726"/>
                  </a:solidFill>
                  <a:latin typeface="+mn-lt"/>
                  <a:ea typeface="+mn-ea"/>
                  <a:cs typeface="+mn-cs"/>
                </a:rPr>
                <a:t>客群AUM​​​​</a:t>
              </a:r>
            </a:p>
          </p:txBody>
        </p:sp>
        <p:sp>
          <p:nvSpPr>
            <p:cNvPr id="50" name="Freeform 50"/>
            <p:cNvSpPr/>
            <p:nvPr/>
          </p:nvSpPr>
          <p:spPr>
            <a:xfrm>
              <a:off x="523875" y="3762375"/>
              <a:ext cx="666750" cy="476250"/>
            </a:xfrm>
            <a:prstGeom prst="diamond">
              <a:avLst/>
            </a:prstGeom>
            <a:solidFill>
              <a:srgbClr val="D4E2FA"/>
            </a:solidFill>
            <a:ln>
              <a:noFill/>
            </a:ln>
          </p:spPr>
        </p:sp>
        <p:sp>
          <p:nvSpPr>
            <p:cNvPr id="51" name="TextBox 51"/>
            <p:cNvSpPr txBox="1"/>
            <p:nvPr/>
          </p:nvSpPr>
          <p:spPr>
            <a:xfrm>
              <a:off x="718277" y="3882866"/>
              <a:ext cx="277946" cy="295275"/>
            </a:xfrm>
            <a:prstGeom prst="rect">
              <a:avLst/>
            </a:prstGeom>
            <a:noFill/>
            <a:ln>
              <a:noFill/>
            </a:ln>
          </p:spPr>
          <p:txBody>
            <a:bodyPr wrap="none" lIns="0" tIns="0" rIns="0" bIns="0" anchor="t" anchorCtr="0">
              <a:spAutoFit/>
            </a:bodyPr>
            <a:lstStyle/>
            <a:p>
              <a:pPr algn="ctr">
                <a:lnSpc>
                  <a:spcPts val="1050"/>
                </a:lnSpc>
              </a:pPr>
              <a:r>
                <a:rPr lang="zh-CN" sz="820" b="1" dirty="0">
                  <a:solidFill>
                    <a:srgbClr val="932F1B"/>
                  </a:solidFill>
                  <a:latin typeface="+mn-lt"/>
                  <a:ea typeface="+mn-ea"/>
                  <a:cs typeface="+mn-cs"/>
                </a:rPr>
                <a:t>知识​</a:t>
              </a:r>
              <a:br/>
              <a:r>
                <a:rPr lang="zh-CN" sz="820" b="1" dirty="0">
                  <a:solidFill>
                    <a:srgbClr val="932F1B"/>
                  </a:solidFill>
                  <a:latin typeface="+mn-lt"/>
                  <a:ea typeface="+mn-ea"/>
                  <a:cs typeface="+mn-cs"/>
                </a:rPr>
                <a:t>沉淀​</a:t>
              </a:r>
            </a:p>
          </p:txBody>
        </p:sp>
        <p:sp>
          <p:nvSpPr>
            <p:cNvPr id="52" name="Freeform 52"/>
            <p:cNvSpPr/>
            <p:nvPr/>
          </p:nvSpPr>
          <p:spPr>
            <a:xfrm>
              <a:off x="4143375" y="3762375"/>
              <a:ext cx="666750" cy="476250"/>
            </a:xfrm>
            <a:prstGeom prst="diamond">
              <a:avLst/>
            </a:prstGeom>
            <a:solidFill>
              <a:srgbClr val="D4E2FA"/>
            </a:solidFill>
            <a:ln>
              <a:noFill/>
            </a:ln>
          </p:spPr>
        </p:sp>
        <p:sp>
          <p:nvSpPr>
            <p:cNvPr id="53" name="TextBox 53"/>
            <p:cNvSpPr txBox="1"/>
            <p:nvPr/>
          </p:nvSpPr>
          <p:spPr>
            <a:xfrm>
              <a:off x="4337777" y="3882866"/>
              <a:ext cx="277946" cy="295275"/>
            </a:xfrm>
            <a:prstGeom prst="rect">
              <a:avLst/>
            </a:prstGeom>
            <a:noFill/>
            <a:ln>
              <a:noFill/>
            </a:ln>
          </p:spPr>
          <p:txBody>
            <a:bodyPr wrap="none" lIns="0" tIns="0" rIns="0" bIns="0" anchor="t" anchorCtr="0">
              <a:spAutoFit/>
            </a:bodyPr>
            <a:lstStyle/>
            <a:p>
              <a:pPr algn="ctr">
                <a:lnSpc>
                  <a:spcPts val="1050"/>
                </a:lnSpc>
              </a:pPr>
              <a:r>
                <a:rPr lang="zh-CN" sz="820" b="1" dirty="0">
                  <a:solidFill>
                    <a:srgbClr val="932F1B"/>
                  </a:solidFill>
                  <a:latin typeface="+mn-lt"/>
                  <a:ea typeface="+mn-ea"/>
                  <a:cs typeface="+mn-cs"/>
                </a:rPr>
                <a:t>策略​</a:t>
              </a:r>
              <a:br/>
              <a:r>
                <a:rPr lang="zh-CN" sz="820" b="1" dirty="0">
                  <a:solidFill>
                    <a:srgbClr val="932F1B"/>
                  </a:solidFill>
                  <a:latin typeface="+mn-lt"/>
                  <a:ea typeface="+mn-ea"/>
                  <a:cs typeface="+mn-cs"/>
                </a:rPr>
                <a:t>指导​</a:t>
              </a:r>
            </a:p>
          </p:txBody>
        </p:sp>
        <p:sp>
          <p:nvSpPr>
            <p:cNvPr id="54" name="Freeform 54"/>
            <p:cNvSpPr/>
            <p:nvPr/>
          </p:nvSpPr>
          <p:spPr>
            <a:xfrm>
              <a:off x="2333625" y="5572125"/>
              <a:ext cx="666750" cy="476250"/>
            </a:xfrm>
            <a:prstGeom prst="diamond">
              <a:avLst/>
            </a:prstGeom>
            <a:solidFill>
              <a:srgbClr val="D4E2FA"/>
            </a:solidFill>
            <a:ln>
              <a:noFill/>
            </a:ln>
          </p:spPr>
        </p:sp>
        <p:sp>
          <p:nvSpPr>
            <p:cNvPr id="55" name="TextBox 55"/>
            <p:cNvSpPr txBox="1"/>
            <p:nvPr/>
          </p:nvSpPr>
          <p:spPr>
            <a:xfrm>
              <a:off x="2528027" y="5692616"/>
              <a:ext cx="277946" cy="295275"/>
            </a:xfrm>
            <a:prstGeom prst="rect">
              <a:avLst/>
            </a:prstGeom>
            <a:noFill/>
            <a:ln>
              <a:noFill/>
            </a:ln>
          </p:spPr>
          <p:txBody>
            <a:bodyPr wrap="none" lIns="0" tIns="0" rIns="0" bIns="0" anchor="t" anchorCtr="0">
              <a:spAutoFit/>
            </a:bodyPr>
            <a:lstStyle/>
            <a:p>
              <a:pPr algn="ctr">
                <a:lnSpc>
                  <a:spcPts val="1050"/>
                </a:lnSpc>
              </a:pPr>
              <a:r>
                <a:rPr lang="zh-CN" sz="820" b="1" dirty="0">
                  <a:solidFill>
                    <a:srgbClr val="932F1B"/>
                  </a:solidFill>
                  <a:latin typeface="+mn-lt"/>
                  <a:ea typeface="+mn-ea"/>
                  <a:cs typeface="+mn-cs"/>
                </a:rPr>
                <a:t>全程​</a:t>
              </a:r>
              <a:br/>
              <a:r>
                <a:rPr lang="zh-CN" sz="820" b="1" dirty="0">
                  <a:solidFill>
                    <a:srgbClr val="932F1B"/>
                  </a:solidFill>
                  <a:latin typeface="+mn-lt"/>
                  <a:ea typeface="+mn-ea"/>
                  <a:cs typeface="+mn-cs"/>
                </a:rPr>
                <a:t>带培​</a:t>
              </a:r>
            </a:p>
          </p:txBody>
        </p:sp>
      </p:grpSp>
      <p:grpSp>
        <p:nvGrpSpPr>
          <p:cNvPr id="59" name="team-bar"/>
          <p:cNvGrpSpPr/>
          <p:nvPr/>
        </p:nvGrpSpPr>
        <p:grpSpPr>
          <a:xfrm>
            <a:off x="5143500" y="1428750"/>
            <a:ext cx="419100" cy="4667250"/>
            <a:chOff x="5143500" y="1428750"/>
            <a:chExt cx="419100" cy="4667250"/>
          </a:xfrm>
        </p:grpSpPr>
        <p:sp>
          <p:nvSpPr>
            <p:cNvPr id="57" name="Rectangle 57"/>
            <p:cNvSpPr/>
            <p:nvPr/>
          </p:nvSpPr>
          <p:spPr>
            <a:xfrm>
              <a:off x="5143500" y="1428750"/>
              <a:ext cx="419100" cy="4667250"/>
            </a:xfrm>
            <a:prstGeom prst="roundRect">
              <a:avLst>
                <a:gd name="adj" fmla="val 18182"/>
              </a:avLst>
            </a:prstGeom>
            <a:solidFill>
              <a:srgbClr val="E74726"/>
            </a:solidFill>
            <a:ln>
              <a:noFill/>
            </a:ln>
          </p:spPr>
        </p:sp>
        <p:sp>
          <p:nvSpPr>
            <p:cNvPr id="58" name="TextBox 58"/>
            <p:cNvSpPr txBox="1"/>
            <p:nvPr/>
          </p:nvSpPr>
          <p:spPr>
            <a:xfrm>
              <a:off x="5235143" y="1783556"/>
              <a:ext cx="235814" cy="4106228"/>
            </a:xfrm>
            <a:prstGeom prst="rect">
              <a:avLst/>
            </a:prstGeom>
            <a:noFill/>
            <a:ln>
              <a:noFill/>
            </a:ln>
          </p:spPr>
          <p:txBody>
            <a:bodyPr wrap="none" lIns="0" tIns="0" rIns="0" bIns="0" anchor="t" anchorCtr="0">
              <a:spAutoFit/>
            </a:bodyPr>
            <a:lstStyle/>
            <a:p>
              <a:pPr algn="ctr">
                <a:lnSpc>
                  <a:spcPts val="1800"/>
                </a:lnSpc>
              </a:pPr>
              <a:r>
                <a:rPr lang="zh-CN" sz="1120" b="1" dirty="0">
                  <a:solidFill>
                    <a:srgbClr val="FFFFFF"/>
                  </a:solidFill>
                  <a:latin typeface="+mn-lt"/>
                  <a:ea typeface="+mn-ea"/>
                  <a:cs typeface="+mn-cs"/>
                </a:rPr>
                <a:t>中​</a:t>
              </a:r>
              <a:br/>
              <a:r>
                <a:rPr lang="zh-CN" sz="1120" b="1" dirty="0">
                  <a:solidFill>
                    <a:srgbClr val="FFFFFF"/>
                  </a:solidFill>
                  <a:latin typeface="+mn-lt"/>
                  <a:ea typeface="+mn-ea"/>
                  <a:cs typeface="+mn-cs"/>
                </a:rPr>
                <a:t>电​</a:t>
              </a:r>
              <a:br/>
              <a:r>
                <a:rPr lang="zh-CN" sz="1120" b="1" dirty="0">
                  <a:solidFill>
                    <a:srgbClr val="FFFFFF"/>
                  </a:solidFill>
                  <a:latin typeface="+mn-lt"/>
                  <a:ea typeface="+mn-ea"/>
                  <a:cs typeface="+mn-cs"/>
                </a:rPr>
                <a:t>金​</a:t>
              </a:r>
              <a:br/>
              <a:r>
                <a:rPr lang="zh-CN" sz="1120" b="1" dirty="0">
                  <a:solidFill>
                    <a:srgbClr val="FFFFFF"/>
                  </a:solidFill>
                  <a:latin typeface="+mn-lt"/>
                  <a:ea typeface="+mn-ea"/>
                  <a:cs typeface="+mn-cs"/>
                </a:rPr>
                <a:t>信​</a:t>
              </a:r>
              <a:br/>
              <a:r>
                <a:rPr lang="zh-CN" sz="1120" b="1" dirty="0">
                  <a:solidFill>
                    <a:srgbClr val="FFFFFF"/>
                  </a:solidFill>
                  <a:latin typeface="+mn-lt"/>
                  <a:ea typeface="+mn-ea"/>
                  <a:cs typeface="+mn-cs"/>
                </a:rPr>
                <a:t>数​</a:t>
              </a:r>
              <a:br/>
              <a:r>
                <a:rPr lang="zh-CN" sz="1120" b="1" dirty="0">
                  <a:solidFill>
                    <a:srgbClr val="FFFFFF"/>
                  </a:solidFill>
                  <a:latin typeface="+mn-lt"/>
                  <a:ea typeface="+mn-ea"/>
                  <a:cs typeface="+mn-cs"/>
                </a:rPr>
                <a:t>字​</a:t>
              </a:r>
              <a:br/>
              <a:r>
                <a:rPr lang="zh-CN" sz="1120" b="1" dirty="0">
                  <a:solidFill>
                    <a:srgbClr val="FFFFFF"/>
                  </a:solidFill>
                  <a:latin typeface="+mn-lt"/>
                  <a:ea typeface="+mn-ea"/>
                  <a:cs typeface="+mn-cs"/>
                </a:rPr>
                <a:t>化​</a:t>
              </a:r>
              <a:br/>
              <a:r>
                <a:rPr lang="zh-CN" sz="1120" b="1" dirty="0">
                  <a:solidFill>
                    <a:srgbClr val="FFFFFF"/>
                  </a:solidFill>
                  <a:latin typeface="+mn-lt"/>
                  <a:ea typeface="+mn-ea"/>
                  <a:cs typeface="+mn-cs"/>
                </a:rPr>
                <a:t>营​</a:t>
              </a:r>
              <a:br/>
              <a:r>
                <a:rPr lang="zh-CN" sz="1120" b="1" dirty="0">
                  <a:solidFill>
                    <a:srgbClr val="FFFFFF"/>
                  </a:solidFill>
                  <a:latin typeface="+mn-lt"/>
                  <a:ea typeface="+mn-ea"/>
                  <a:cs typeface="+mn-cs"/>
                </a:rPr>
                <a:t>销​</a:t>
              </a:r>
              <a:br/>
              <a:r>
                <a:rPr lang="zh-CN" sz="1120" b="1" dirty="0">
                  <a:solidFill>
                    <a:srgbClr val="FFFFFF"/>
                  </a:solidFill>
                  <a:latin typeface="+mn-lt"/>
                  <a:ea typeface="+mn-ea"/>
                  <a:cs typeface="+mn-cs"/>
                </a:rPr>
                <a:t>咨​</a:t>
              </a:r>
              <a:br/>
              <a:r>
                <a:rPr lang="zh-CN" sz="1120" b="1" dirty="0">
                  <a:solidFill>
                    <a:srgbClr val="FFFFFF"/>
                  </a:solidFill>
                  <a:latin typeface="+mn-lt"/>
                  <a:ea typeface="+mn-ea"/>
                  <a:cs typeface="+mn-cs"/>
                </a:rPr>
                <a:t>询​</a:t>
              </a:r>
              <a:br/>
              <a:r>
                <a:rPr lang="zh-CN" sz="1120" b="1" dirty="0">
                  <a:solidFill>
                    <a:srgbClr val="FFFFFF"/>
                  </a:solidFill>
                  <a:latin typeface="+mn-lt"/>
                  <a:ea typeface="+mn-ea"/>
                  <a:cs typeface="+mn-cs"/>
                </a:rPr>
                <a:t>与​</a:t>
              </a:r>
              <a:br/>
              <a:r>
                <a:rPr lang="zh-CN" sz="1120" b="1" dirty="0">
                  <a:solidFill>
                    <a:srgbClr val="FFFFFF"/>
                  </a:solidFill>
                  <a:latin typeface="+mn-lt"/>
                  <a:ea typeface="+mn-ea"/>
                  <a:cs typeface="+mn-cs"/>
                </a:rPr>
                <a:t>运​</a:t>
              </a:r>
              <a:br/>
              <a:r>
                <a:rPr lang="zh-CN" sz="1120" b="1" dirty="0">
                  <a:solidFill>
                    <a:srgbClr val="FFFFFF"/>
                  </a:solidFill>
                  <a:latin typeface="+mn-lt"/>
                  <a:ea typeface="+mn-ea"/>
                  <a:cs typeface="+mn-cs"/>
                </a:rPr>
                <a:t>营​</a:t>
              </a:r>
              <a:br/>
              <a:r>
                <a:rPr lang="zh-CN" sz="1120" b="1" dirty="0">
                  <a:solidFill>
                    <a:srgbClr val="FFFFFF"/>
                  </a:solidFill>
                  <a:latin typeface="+mn-lt"/>
                  <a:ea typeface="+mn-ea"/>
                  <a:cs typeface="+mn-cs"/>
                </a:rPr>
                <a:t>增​</a:t>
              </a:r>
              <a:br/>
              <a:r>
                <a:rPr lang="zh-CN" sz="1120" b="1" dirty="0">
                  <a:solidFill>
                    <a:srgbClr val="FFFFFF"/>
                  </a:solidFill>
                  <a:latin typeface="+mn-lt"/>
                  <a:ea typeface="+mn-ea"/>
                  <a:cs typeface="+mn-cs"/>
                </a:rPr>
                <a:t>长​</a:t>
              </a:r>
              <a:br/>
              <a:r>
                <a:rPr lang="zh-CN" sz="1120" b="1" dirty="0">
                  <a:solidFill>
                    <a:srgbClr val="FFFFFF"/>
                  </a:solidFill>
                  <a:latin typeface="+mn-lt"/>
                  <a:ea typeface="+mn-ea"/>
                  <a:cs typeface="+mn-cs"/>
                </a:rPr>
                <a:t>团​</a:t>
              </a:r>
              <a:br/>
              <a:r>
                <a:rPr lang="zh-CN" sz="1120" b="1" dirty="0">
                  <a:solidFill>
                    <a:srgbClr val="FFFFFF"/>
                  </a:solidFill>
                  <a:latin typeface="+mn-lt"/>
                  <a:ea typeface="+mn-ea"/>
                  <a:cs typeface="+mn-cs"/>
                </a:rPr>
                <a:t>队​</a:t>
              </a:r>
            </a:p>
          </p:txBody>
        </p:sp>
      </p:grpSp>
      <p:grpSp>
        <p:nvGrpSpPr>
          <p:cNvPr id="166" name="delivery-matrix"/>
          <p:cNvGrpSpPr/>
          <p:nvPr/>
        </p:nvGrpSpPr>
        <p:grpSpPr>
          <a:xfrm>
            <a:off x="5824347" y="1504950"/>
            <a:ext cx="5843778" cy="4095750"/>
            <a:chOff x="5824347" y="1504950"/>
            <a:chExt cx="5843778" cy="4095750"/>
          </a:xfrm>
        </p:grpSpPr>
        <p:grpSp>
          <p:nvGrpSpPr>
            <p:cNvPr id="73" name="mod-status"/>
            <p:cNvGrpSpPr/>
            <p:nvPr/>
          </p:nvGrpSpPr>
          <p:grpSpPr>
            <a:xfrm>
              <a:off x="5857875" y="1504950"/>
              <a:ext cx="1238250" cy="1885950"/>
              <a:chOff x="5857875" y="1504950"/>
              <a:chExt cx="1238250" cy="1885950"/>
            </a:xfrm>
          </p:grpSpPr>
          <p:sp>
            <p:nvSpPr>
              <p:cNvPr id="60" name="Rectangle 60"/>
              <p:cNvSpPr/>
              <p:nvPr/>
            </p:nvSpPr>
            <p:spPr>
              <a:xfrm>
                <a:off x="5857875" y="1504950"/>
                <a:ext cx="1238250" cy="209550"/>
              </a:xfrm>
              <a:prstGeom prst="roundRect">
                <a:avLst>
                  <a:gd name="adj" fmla="val 18182"/>
                </a:avLst>
              </a:prstGeom>
              <a:solidFill>
                <a:srgbClr val="D4E2FA"/>
              </a:solidFill>
              <a:ln>
                <a:noFill/>
              </a:ln>
            </p:spPr>
          </p:sp>
          <p:sp>
            <p:nvSpPr>
              <p:cNvPr id="61" name="TextBox 61"/>
              <p:cNvSpPr txBox="1"/>
              <p:nvPr/>
            </p:nvSpPr>
            <p:spPr>
              <a:xfrm>
                <a:off x="6240691" y="15547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客群分析</a:t>
                </a:r>
              </a:p>
            </p:txBody>
          </p:sp>
          <p:sp>
            <p:nvSpPr>
              <p:cNvPr id="62" name="Rectangle 62"/>
              <p:cNvSpPr/>
              <p:nvPr/>
            </p:nvSpPr>
            <p:spPr>
              <a:xfrm>
                <a:off x="5857875" y="1771650"/>
                <a:ext cx="1238250" cy="209550"/>
              </a:xfrm>
              <a:prstGeom prst="roundRect">
                <a:avLst>
                  <a:gd name="adj" fmla="val 18182"/>
                </a:avLst>
              </a:prstGeom>
              <a:solidFill>
                <a:srgbClr val="D4E2FA"/>
              </a:solidFill>
              <a:ln>
                <a:noFill/>
              </a:ln>
            </p:spPr>
          </p:sp>
          <p:sp>
            <p:nvSpPr>
              <p:cNvPr id="63" name="TextBox 63"/>
              <p:cNvSpPr txBox="1"/>
              <p:nvPr/>
            </p:nvSpPr>
            <p:spPr>
              <a:xfrm>
                <a:off x="6240691" y="18214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目标拆解</a:t>
                </a:r>
              </a:p>
            </p:txBody>
          </p:sp>
          <p:sp>
            <p:nvSpPr>
              <p:cNvPr id="64" name="Rectangle 64"/>
              <p:cNvSpPr/>
              <p:nvPr/>
            </p:nvSpPr>
            <p:spPr>
              <a:xfrm>
                <a:off x="5857875" y="2038350"/>
                <a:ext cx="1238250" cy="209550"/>
              </a:xfrm>
              <a:prstGeom prst="roundRect">
                <a:avLst>
                  <a:gd name="adj" fmla="val 18182"/>
                </a:avLst>
              </a:prstGeom>
              <a:solidFill>
                <a:srgbClr val="D4E2FA"/>
              </a:solidFill>
              <a:ln>
                <a:noFill/>
              </a:ln>
            </p:spPr>
          </p:sp>
          <p:sp>
            <p:nvSpPr>
              <p:cNvPr id="65" name="TextBox 65"/>
              <p:cNvSpPr txBox="1"/>
              <p:nvPr/>
            </p:nvSpPr>
            <p:spPr>
              <a:xfrm>
                <a:off x="6240691" y="20881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资源盘点</a:t>
                </a:r>
              </a:p>
            </p:txBody>
          </p:sp>
          <p:sp>
            <p:nvSpPr>
              <p:cNvPr id="66" name="Rectangle 66"/>
              <p:cNvSpPr/>
              <p:nvPr/>
            </p:nvSpPr>
            <p:spPr>
              <a:xfrm>
                <a:off x="5857875" y="2305050"/>
                <a:ext cx="1238250" cy="209550"/>
              </a:xfrm>
              <a:prstGeom prst="roundRect">
                <a:avLst>
                  <a:gd name="adj" fmla="val 18182"/>
                </a:avLst>
              </a:prstGeom>
              <a:solidFill>
                <a:srgbClr val="D4E2FA"/>
              </a:solidFill>
              <a:ln>
                <a:noFill/>
              </a:ln>
            </p:spPr>
          </p:sp>
          <p:sp>
            <p:nvSpPr>
              <p:cNvPr id="67" name="TextBox 67"/>
              <p:cNvSpPr txBox="1"/>
              <p:nvPr/>
            </p:nvSpPr>
            <p:spPr>
              <a:xfrm>
                <a:off x="6240691" y="23548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组织调研</a:t>
                </a:r>
              </a:p>
            </p:txBody>
          </p:sp>
          <p:sp>
            <p:nvSpPr>
              <p:cNvPr id="68" name="Rectangle 68"/>
              <p:cNvSpPr/>
              <p:nvPr/>
            </p:nvSpPr>
            <p:spPr>
              <a:xfrm>
                <a:off x="5857875" y="2571750"/>
                <a:ext cx="1238250" cy="209550"/>
              </a:xfrm>
              <a:prstGeom prst="roundRect">
                <a:avLst>
                  <a:gd name="adj" fmla="val 18182"/>
                </a:avLst>
              </a:prstGeom>
              <a:solidFill>
                <a:srgbClr val="D4E2FA"/>
              </a:solidFill>
              <a:ln>
                <a:noFill/>
              </a:ln>
            </p:spPr>
          </p:sp>
          <p:sp>
            <p:nvSpPr>
              <p:cNvPr id="69" name="TextBox 69"/>
              <p:cNvSpPr txBox="1"/>
              <p:nvPr/>
            </p:nvSpPr>
            <p:spPr>
              <a:xfrm>
                <a:off x="6344887" y="26215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sp>
            <p:nvSpPr>
              <p:cNvPr id="70" name="Freeform 70"/>
              <p:cNvSpPr/>
              <p:nvPr/>
            </p:nvSpPr>
            <p:spPr>
              <a:xfrm>
                <a:off x="6286500" y="2819400"/>
                <a:ext cx="381000" cy="247650"/>
              </a:xfrm>
              <a:prstGeom prst="upArrow">
                <a:avLst/>
              </a:prstGeom>
              <a:solidFill>
                <a:srgbClr val="F4AC9D"/>
              </a:solidFill>
              <a:ln>
                <a:noFill/>
              </a:ln>
            </p:spPr>
          </p:sp>
          <p:sp>
            <p:nvSpPr>
              <p:cNvPr id="71" name="Rectangle 71"/>
              <p:cNvSpPr/>
              <p:nvPr/>
            </p:nvSpPr>
            <p:spPr>
              <a:xfrm>
                <a:off x="5857875" y="3105150"/>
                <a:ext cx="1238250" cy="285750"/>
              </a:xfrm>
              <a:prstGeom prst="roundRect">
                <a:avLst>
                  <a:gd name="adj" fmla="val 13333"/>
                </a:avLst>
              </a:prstGeom>
              <a:solidFill>
                <a:srgbClr val="932F1B"/>
              </a:solidFill>
              <a:ln>
                <a:noFill/>
              </a:ln>
            </p:spPr>
          </p:sp>
          <p:sp>
            <p:nvSpPr>
              <p:cNvPr id="72" name="TextBox 72"/>
              <p:cNvSpPr txBox="1"/>
              <p:nvPr/>
            </p:nvSpPr>
            <p:spPr>
              <a:xfrm>
                <a:off x="6208192" y="31903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现状分析</a:t>
                </a:r>
              </a:p>
            </p:txBody>
          </p:sp>
        </p:grpSp>
        <p:sp>
          <p:nvSpPr>
            <p:cNvPr id="74" name="Polygon 74"/>
            <p:cNvSpPr/>
            <p:nvPr/>
          </p:nvSpPr>
          <p:spPr>
            <a:xfrm>
              <a:off x="7115175" y="3190875"/>
              <a:ext cx="114300" cy="114300"/>
            </a:xfrm>
            <a:custGeom>
              <a:avLst/>
              <a:gdLst/>
              <a:ahLst/>
              <a:cxnLst/>
              <a:rect l="l" t="t" r="r" b="b"/>
              <a:pathLst>
                <a:path w="114300" h="114300">
                  <a:moveTo>
                    <a:pt x="0" y="0"/>
                  </a:moveTo>
                  <a:lnTo>
                    <a:pt x="114300" y="57150"/>
                  </a:lnTo>
                  <a:lnTo>
                    <a:pt x="0" y="114300"/>
                  </a:lnTo>
                  <a:close/>
                </a:path>
              </a:pathLst>
            </a:custGeom>
            <a:solidFill>
              <a:srgbClr val="F1917D"/>
            </a:solidFill>
            <a:ln>
              <a:noFill/>
            </a:ln>
          </p:spPr>
        </p:sp>
        <p:grpSp>
          <p:nvGrpSpPr>
            <p:cNvPr id="86" name="mod-system"/>
            <p:cNvGrpSpPr/>
            <p:nvPr/>
          </p:nvGrpSpPr>
          <p:grpSpPr>
            <a:xfrm>
              <a:off x="7381875" y="1504950"/>
              <a:ext cx="1238250" cy="1885950"/>
              <a:chOff x="7381875" y="1504950"/>
              <a:chExt cx="1238250" cy="1885950"/>
            </a:xfrm>
          </p:grpSpPr>
          <p:sp>
            <p:nvSpPr>
              <p:cNvPr id="75" name="Rectangle 75"/>
              <p:cNvSpPr/>
              <p:nvPr/>
            </p:nvSpPr>
            <p:spPr>
              <a:xfrm>
                <a:off x="7381875" y="1504950"/>
                <a:ext cx="1238250" cy="342900"/>
              </a:xfrm>
              <a:prstGeom prst="roundRect">
                <a:avLst>
                  <a:gd name="adj" fmla="val 11111"/>
                </a:avLst>
              </a:prstGeom>
              <a:solidFill>
                <a:srgbClr val="D4E2FA"/>
              </a:solidFill>
              <a:ln>
                <a:noFill/>
              </a:ln>
            </p:spPr>
          </p:sp>
          <p:sp>
            <p:nvSpPr>
              <p:cNvPr id="76" name="TextBox 76"/>
              <p:cNvSpPr txBox="1"/>
              <p:nvPr/>
            </p:nvSpPr>
            <p:spPr>
              <a:xfrm>
                <a:off x="7638542" y="1545193"/>
                <a:ext cx="724916" cy="302419"/>
              </a:xfrm>
              <a:prstGeom prst="rect">
                <a:avLst/>
              </a:prstGeom>
              <a:noFill/>
              <a:ln>
                <a:noFill/>
              </a:ln>
            </p:spPr>
            <p:txBody>
              <a:bodyPr wrap="none" lIns="0" tIns="0" rIns="0" bIns="0" anchor="t" anchorCtr="0">
                <a:spAutoFit/>
              </a:bodyPr>
              <a:lstStyle/>
              <a:p>
                <a:pPr algn="ctr">
                  <a:lnSpc>
                    <a:spcPts val="1050"/>
                  </a:lnSpc>
                </a:pPr>
                <a:r>
                  <a:rPr lang="zh-CN" sz="860" dirty="0">
                    <a:solidFill>
                      <a:srgbClr val="333333"/>
                    </a:solidFill>
                    <a:latin typeface="+mn-lt"/>
                    <a:ea typeface="+mn-ea"/>
                    <a:cs typeface="+mn-cs"/>
                  </a:rPr>
                  <a:t>长尾客群经营​</a:t>
                </a:r>
                <a:br/>
                <a:r>
                  <a:rPr lang="zh-CN" sz="860" dirty="0">
                    <a:solidFill>
                      <a:srgbClr val="333333"/>
                    </a:solidFill>
                    <a:latin typeface="+mn-lt"/>
                    <a:ea typeface="+mn-ea"/>
                    <a:cs typeface="+mn-cs"/>
                  </a:rPr>
                  <a:t>体系构建</a:t>
                </a:r>
              </a:p>
            </p:txBody>
          </p:sp>
          <p:sp>
            <p:nvSpPr>
              <p:cNvPr id="77" name="Rectangle 77"/>
              <p:cNvSpPr/>
              <p:nvPr/>
            </p:nvSpPr>
            <p:spPr>
              <a:xfrm>
                <a:off x="7381875" y="1905000"/>
                <a:ext cx="1238250" cy="209550"/>
              </a:xfrm>
              <a:prstGeom prst="roundRect">
                <a:avLst>
                  <a:gd name="adj" fmla="val 18182"/>
                </a:avLst>
              </a:prstGeom>
              <a:solidFill>
                <a:srgbClr val="D4E2FA"/>
              </a:solidFill>
              <a:ln>
                <a:noFill/>
              </a:ln>
            </p:spPr>
          </p:sp>
          <p:sp>
            <p:nvSpPr>
              <p:cNvPr id="78" name="TextBox 78"/>
              <p:cNvSpPr txBox="1"/>
              <p:nvPr/>
            </p:nvSpPr>
            <p:spPr>
              <a:xfrm>
                <a:off x="7764691" y="195476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运营机制</a:t>
                </a:r>
              </a:p>
            </p:txBody>
          </p:sp>
          <p:sp>
            <p:nvSpPr>
              <p:cNvPr id="79" name="Rectangle 79"/>
              <p:cNvSpPr/>
              <p:nvPr/>
            </p:nvSpPr>
            <p:spPr>
              <a:xfrm>
                <a:off x="7381875" y="2171700"/>
                <a:ext cx="1238250" cy="209550"/>
              </a:xfrm>
              <a:prstGeom prst="roundRect">
                <a:avLst>
                  <a:gd name="adj" fmla="val 18182"/>
                </a:avLst>
              </a:prstGeom>
              <a:solidFill>
                <a:srgbClr val="D4E2FA"/>
              </a:solidFill>
              <a:ln>
                <a:noFill/>
              </a:ln>
            </p:spPr>
          </p:sp>
          <p:sp>
            <p:nvSpPr>
              <p:cNvPr id="80" name="TextBox 80"/>
              <p:cNvSpPr txBox="1"/>
              <p:nvPr/>
            </p:nvSpPr>
            <p:spPr>
              <a:xfrm>
                <a:off x="7764691" y="222146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协同机制</a:t>
                </a:r>
              </a:p>
            </p:txBody>
          </p:sp>
          <p:sp>
            <p:nvSpPr>
              <p:cNvPr id="81" name="Rectangle 81"/>
              <p:cNvSpPr/>
              <p:nvPr/>
            </p:nvSpPr>
            <p:spPr>
              <a:xfrm>
                <a:off x="7381875" y="2438400"/>
                <a:ext cx="1238250" cy="209550"/>
              </a:xfrm>
              <a:prstGeom prst="roundRect">
                <a:avLst>
                  <a:gd name="adj" fmla="val 18182"/>
                </a:avLst>
              </a:prstGeom>
              <a:solidFill>
                <a:srgbClr val="D4E2FA"/>
              </a:solidFill>
              <a:ln>
                <a:noFill/>
              </a:ln>
            </p:spPr>
          </p:sp>
          <p:sp>
            <p:nvSpPr>
              <p:cNvPr id="82" name="TextBox 82"/>
              <p:cNvSpPr txBox="1"/>
              <p:nvPr/>
            </p:nvSpPr>
            <p:spPr>
              <a:xfrm>
                <a:off x="7868887" y="248816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sp>
            <p:nvSpPr>
              <p:cNvPr id="83" name="Freeform 83"/>
              <p:cNvSpPr/>
              <p:nvPr/>
            </p:nvSpPr>
            <p:spPr>
              <a:xfrm>
                <a:off x="7810500" y="2819400"/>
                <a:ext cx="381000" cy="247650"/>
              </a:xfrm>
              <a:prstGeom prst="upArrow">
                <a:avLst/>
              </a:prstGeom>
              <a:solidFill>
                <a:srgbClr val="F4AC9D"/>
              </a:solidFill>
              <a:ln>
                <a:noFill/>
              </a:ln>
            </p:spPr>
          </p:sp>
          <p:sp>
            <p:nvSpPr>
              <p:cNvPr id="84" name="Rectangle 84"/>
              <p:cNvSpPr/>
              <p:nvPr/>
            </p:nvSpPr>
            <p:spPr>
              <a:xfrm>
                <a:off x="7381875" y="3105150"/>
                <a:ext cx="1238250" cy="285750"/>
              </a:xfrm>
              <a:prstGeom prst="roundRect">
                <a:avLst>
                  <a:gd name="adj" fmla="val 13333"/>
                </a:avLst>
              </a:prstGeom>
              <a:solidFill>
                <a:srgbClr val="932F1B"/>
              </a:solidFill>
              <a:ln>
                <a:noFill/>
              </a:ln>
            </p:spPr>
          </p:sp>
          <p:sp>
            <p:nvSpPr>
              <p:cNvPr id="85" name="TextBox 85"/>
              <p:cNvSpPr txBox="1"/>
              <p:nvPr/>
            </p:nvSpPr>
            <p:spPr>
              <a:xfrm>
                <a:off x="7732192" y="31903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体系构建</a:t>
                </a:r>
              </a:p>
            </p:txBody>
          </p:sp>
        </p:grpSp>
        <p:sp>
          <p:nvSpPr>
            <p:cNvPr id="87" name="Polygon 87"/>
            <p:cNvSpPr/>
            <p:nvPr/>
          </p:nvSpPr>
          <p:spPr>
            <a:xfrm>
              <a:off x="8639175" y="3190875"/>
              <a:ext cx="114300" cy="114300"/>
            </a:xfrm>
            <a:custGeom>
              <a:avLst/>
              <a:gdLst/>
              <a:ahLst/>
              <a:cxnLst/>
              <a:rect l="l" t="t" r="r" b="b"/>
              <a:pathLst>
                <a:path w="114300" h="114300">
                  <a:moveTo>
                    <a:pt x="0" y="0"/>
                  </a:moveTo>
                  <a:lnTo>
                    <a:pt x="114300" y="57150"/>
                  </a:lnTo>
                  <a:lnTo>
                    <a:pt x="0" y="114300"/>
                  </a:lnTo>
                  <a:close/>
                </a:path>
              </a:pathLst>
            </a:custGeom>
            <a:solidFill>
              <a:srgbClr val="F1917D"/>
            </a:solidFill>
            <a:ln>
              <a:noFill/>
            </a:ln>
          </p:spPr>
        </p:sp>
        <p:grpSp>
          <p:nvGrpSpPr>
            <p:cNvPr id="101" name="mod-strategy"/>
            <p:cNvGrpSpPr/>
            <p:nvPr/>
          </p:nvGrpSpPr>
          <p:grpSpPr>
            <a:xfrm>
              <a:off x="8905875" y="1504950"/>
              <a:ext cx="1238250" cy="1885950"/>
              <a:chOff x="8905875" y="1504950"/>
              <a:chExt cx="1238250" cy="1885950"/>
            </a:xfrm>
          </p:grpSpPr>
          <p:sp>
            <p:nvSpPr>
              <p:cNvPr id="88" name="Rectangle 88"/>
              <p:cNvSpPr/>
              <p:nvPr/>
            </p:nvSpPr>
            <p:spPr>
              <a:xfrm>
                <a:off x="8905875" y="1504950"/>
                <a:ext cx="1238250" cy="209550"/>
              </a:xfrm>
              <a:prstGeom prst="roundRect">
                <a:avLst>
                  <a:gd name="adj" fmla="val 18182"/>
                </a:avLst>
              </a:prstGeom>
              <a:solidFill>
                <a:srgbClr val="D4E2FA"/>
              </a:solidFill>
              <a:ln>
                <a:noFill/>
              </a:ln>
            </p:spPr>
          </p:sp>
          <p:sp>
            <p:nvSpPr>
              <p:cNvPr id="89" name="TextBox 89"/>
              <p:cNvSpPr txBox="1"/>
              <p:nvPr/>
            </p:nvSpPr>
            <p:spPr>
              <a:xfrm>
                <a:off x="9288691" y="15547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分层分群</a:t>
                </a:r>
              </a:p>
            </p:txBody>
          </p:sp>
          <p:sp>
            <p:nvSpPr>
              <p:cNvPr id="90" name="Rectangle 90"/>
              <p:cNvSpPr/>
              <p:nvPr/>
            </p:nvSpPr>
            <p:spPr>
              <a:xfrm>
                <a:off x="8905875" y="1771650"/>
                <a:ext cx="1238250" cy="209550"/>
              </a:xfrm>
              <a:prstGeom prst="roundRect">
                <a:avLst>
                  <a:gd name="adj" fmla="val 18182"/>
                </a:avLst>
              </a:prstGeom>
              <a:solidFill>
                <a:srgbClr val="D4E2FA"/>
              </a:solidFill>
              <a:ln>
                <a:noFill/>
              </a:ln>
            </p:spPr>
          </p:sp>
          <p:sp>
            <p:nvSpPr>
              <p:cNvPr id="91" name="TextBox 91"/>
              <p:cNvSpPr txBox="1"/>
              <p:nvPr/>
            </p:nvSpPr>
            <p:spPr>
              <a:xfrm>
                <a:off x="9288691" y="18214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活动策略</a:t>
                </a:r>
              </a:p>
            </p:txBody>
          </p:sp>
          <p:sp>
            <p:nvSpPr>
              <p:cNvPr id="92" name="Rectangle 92"/>
              <p:cNvSpPr/>
              <p:nvPr/>
            </p:nvSpPr>
            <p:spPr>
              <a:xfrm>
                <a:off x="8905875" y="2038350"/>
                <a:ext cx="1238250" cy="209550"/>
              </a:xfrm>
              <a:prstGeom prst="roundRect">
                <a:avLst>
                  <a:gd name="adj" fmla="val 18182"/>
                </a:avLst>
              </a:prstGeom>
              <a:solidFill>
                <a:srgbClr val="D4E2FA"/>
              </a:solidFill>
              <a:ln>
                <a:noFill/>
              </a:ln>
            </p:spPr>
          </p:sp>
          <p:sp>
            <p:nvSpPr>
              <p:cNvPr id="93" name="TextBox 93"/>
              <p:cNvSpPr txBox="1"/>
              <p:nvPr/>
            </p:nvSpPr>
            <p:spPr>
              <a:xfrm>
                <a:off x="9288691" y="20881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权益策略</a:t>
                </a:r>
              </a:p>
            </p:txBody>
          </p:sp>
          <p:sp>
            <p:nvSpPr>
              <p:cNvPr id="94" name="Rectangle 94"/>
              <p:cNvSpPr/>
              <p:nvPr/>
            </p:nvSpPr>
            <p:spPr>
              <a:xfrm>
                <a:off x="8905875" y="2305050"/>
                <a:ext cx="1238250" cy="209550"/>
              </a:xfrm>
              <a:prstGeom prst="roundRect">
                <a:avLst>
                  <a:gd name="adj" fmla="val 18182"/>
                </a:avLst>
              </a:prstGeom>
              <a:solidFill>
                <a:srgbClr val="D4E2FA"/>
              </a:solidFill>
              <a:ln>
                <a:noFill/>
              </a:ln>
            </p:spPr>
          </p:sp>
          <p:sp>
            <p:nvSpPr>
              <p:cNvPr id="95" name="TextBox 95"/>
              <p:cNvSpPr txBox="1"/>
              <p:nvPr/>
            </p:nvSpPr>
            <p:spPr>
              <a:xfrm>
                <a:off x="9288691" y="23548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渠道策略</a:t>
                </a:r>
              </a:p>
            </p:txBody>
          </p:sp>
          <p:sp>
            <p:nvSpPr>
              <p:cNvPr id="96" name="Rectangle 96"/>
              <p:cNvSpPr/>
              <p:nvPr/>
            </p:nvSpPr>
            <p:spPr>
              <a:xfrm>
                <a:off x="8905875" y="2571750"/>
                <a:ext cx="1238250" cy="209550"/>
              </a:xfrm>
              <a:prstGeom prst="roundRect">
                <a:avLst>
                  <a:gd name="adj" fmla="val 18182"/>
                </a:avLst>
              </a:prstGeom>
              <a:solidFill>
                <a:srgbClr val="D4E2FA"/>
              </a:solidFill>
              <a:ln>
                <a:noFill/>
              </a:ln>
            </p:spPr>
          </p:sp>
          <p:sp>
            <p:nvSpPr>
              <p:cNvPr id="97" name="TextBox 97"/>
              <p:cNvSpPr txBox="1"/>
              <p:nvPr/>
            </p:nvSpPr>
            <p:spPr>
              <a:xfrm>
                <a:off x="9392887" y="26215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sp>
            <p:nvSpPr>
              <p:cNvPr id="98" name="Freeform 98"/>
              <p:cNvSpPr/>
              <p:nvPr/>
            </p:nvSpPr>
            <p:spPr>
              <a:xfrm>
                <a:off x="9334500" y="2819400"/>
                <a:ext cx="381000" cy="247650"/>
              </a:xfrm>
              <a:prstGeom prst="upArrow">
                <a:avLst/>
              </a:prstGeom>
              <a:solidFill>
                <a:srgbClr val="F4AC9D"/>
              </a:solidFill>
              <a:ln>
                <a:noFill/>
              </a:ln>
            </p:spPr>
          </p:sp>
          <p:sp>
            <p:nvSpPr>
              <p:cNvPr id="99" name="Rectangle 99"/>
              <p:cNvSpPr/>
              <p:nvPr/>
            </p:nvSpPr>
            <p:spPr>
              <a:xfrm>
                <a:off x="8905875" y="3105150"/>
                <a:ext cx="1238250" cy="285750"/>
              </a:xfrm>
              <a:prstGeom prst="roundRect">
                <a:avLst>
                  <a:gd name="adj" fmla="val 13333"/>
                </a:avLst>
              </a:prstGeom>
              <a:solidFill>
                <a:srgbClr val="932F1B"/>
              </a:solidFill>
              <a:ln>
                <a:noFill/>
              </a:ln>
            </p:spPr>
          </p:sp>
          <p:sp>
            <p:nvSpPr>
              <p:cNvPr id="100" name="TextBox 100"/>
              <p:cNvSpPr txBox="1"/>
              <p:nvPr/>
            </p:nvSpPr>
            <p:spPr>
              <a:xfrm>
                <a:off x="9256192" y="31903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策略制定</a:t>
                </a:r>
              </a:p>
            </p:txBody>
          </p:sp>
        </p:grpSp>
        <p:sp>
          <p:nvSpPr>
            <p:cNvPr id="102" name="Polygon 102"/>
            <p:cNvSpPr/>
            <p:nvPr/>
          </p:nvSpPr>
          <p:spPr>
            <a:xfrm>
              <a:off x="10163175" y="3190875"/>
              <a:ext cx="114300" cy="114300"/>
            </a:xfrm>
            <a:custGeom>
              <a:avLst/>
              <a:gdLst/>
              <a:ahLst/>
              <a:cxnLst/>
              <a:rect l="l" t="t" r="r" b="b"/>
              <a:pathLst>
                <a:path w="114300" h="114300">
                  <a:moveTo>
                    <a:pt x="0" y="0"/>
                  </a:moveTo>
                  <a:lnTo>
                    <a:pt x="114300" y="57150"/>
                  </a:lnTo>
                  <a:lnTo>
                    <a:pt x="0" y="114300"/>
                  </a:lnTo>
                  <a:close/>
                </a:path>
              </a:pathLst>
            </a:custGeom>
            <a:solidFill>
              <a:srgbClr val="F1917D"/>
            </a:solidFill>
            <a:ln>
              <a:noFill/>
            </a:ln>
          </p:spPr>
        </p:sp>
        <p:grpSp>
          <p:nvGrpSpPr>
            <p:cNvPr id="116" name="mod-landing"/>
            <p:cNvGrpSpPr/>
            <p:nvPr/>
          </p:nvGrpSpPr>
          <p:grpSpPr>
            <a:xfrm>
              <a:off x="10429875" y="1504950"/>
              <a:ext cx="1238250" cy="1885950"/>
              <a:chOff x="10429875" y="1504950"/>
              <a:chExt cx="1238250" cy="1885950"/>
            </a:xfrm>
          </p:grpSpPr>
          <p:sp>
            <p:nvSpPr>
              <p:cNvPr id="103" name="Rectangle 103"/>
              <p:cNvSpPr/>
              <p:nvPr/>
            </p:nvSpPr>
            <p:spPr>
              <a:xfrm>
                <a:off x="10429875" y="1504950"/>
                <a:ext cx="1238250" cy="209550"/>
              </a:xfrm>
              <a:prstGeom prst="roundRect">
                <a:avLst>
                  <a:gd name="adj" fmla="val 18182"/>
                </a:avLst>
              </a:prstGeom>
              <a:solidFill>
                <a:srgbClr val="D4E2FA"/>
              </a:solidFill>
              <a:ln>
                <a:noFill/>
              </a:ln>
            </p:spPr>
          </p:sp>
          <p:sp>
            <p:nvSpPr>
              <p:cNvPr id="104" name="TextBox 104"/>
              <p:cNvSpPr txBox="1"/>
              <p:nvPr/>
            </p:nvSpPr>
            <p:spPr>
              <a:xfrm>
                <a:off x="10696918" y="155471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营销名单制定</a:t>
                </a:r>
              </a:p>
            </p:txBody>
          </p:sp>
          <p:sp>
            <p:nvSpPr>
              <p:cNvPr id="105" name="Rectangle 105"/>
              <p:cNvSpPr/>
              <p:nvPr/>
            </p:nvSpPr>
            <p:spPr>
              <a:xfrm>
                <a:off x="10429875" y="1771650"/>
                <a:ext cx="1238250" cy="209550"/>
              </a:xfrm>
              <a:prstGeom prst="roundRect">
                <a:avLst>
                  <a:gd name="adj" fmla="val 18182"/>
                </a:avLst>
              </a:prstGeom>
              <a:solidFill>
                <a:srgbClr val="D4E2FA"/>
              </a:solidFill>
              <a:ln>
                <a:noFill/>
              </a:ln>
            </p:spPr>
          </p:sp>
          <p:sp>
            <p:nvSpPr>
              <p:cNvPr id="106" name="TextBox 106"/>
              <p:cNvSpPr txBox="1"/>
              <p:nvPr/>
            </p:nvSpPr>
            <p:spPr>
              <a:xfrm>
                <a:off x="10812691" y="18214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活动开发</a:t>
                </a:r>
              </a:p>
            </p:txBody>
          </p:sp>
          <p:sp>
            <p:nvSpPr>
              <p:cNvPr id="107" name="Rectangle 107"/>
              <p:cNvSpPr/>
              <p:nvPr/>
            </p:nvSpPr>
            <p:spPr>
              <a:xfrm>
                <a:off x="10429875" y="2038350"/>
                <a:ext cx="1238250" cy="209550"/>
              </a:xfrm>
              <a:prstGeom prst="roundRect">
                <a:avLst>
                  <a:gd name="adj" fmla="val 18182"/>
                </a:avLst>
              </a:prstGeom>
              <a:solidFill>
                <a:srgbClr val="D4E2FA"/>
              </a:solidFill>
              <a:ln>
                <a:noFill/>
              </a:ln>
            </p:spPr>
          </p:sp>
          <p:sp>
            <p:nvSpPr>
              <p:cNvPr id="108" name="TextBox 108"/>
              <p:cNvSpPr txBox="1"/>
              <p:nvPr/>
            </p:nvSpPr>
            <p:spPr>
              <a:xfrm>
                <a:off x="10696918" y="208811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营销话术设计</a:t>
                </a:r>
              </a:p>
            </p:txBody>
          </p:sp>
          <p:sp>
            <p:nvSpPr>
              <p:cNvPr id="109" name="Rectangle 109"/>
              <p:cNvSpPr/>
              <p:nvPr/>
            </p:nvSpPr>
            <p:spPr>
              <a:xfrm>
                <a:off x="10429875" y="2305050"/>
                <a:ext cx="1238250" cy="209550"/>
              </a:xfrm>
              <a:prstGeom prst="roundRect">
                <a:avLst>
                  <a:gd name="adj" fmla="val 18182"/>
                </a:avLst>
              </a:prstGeom>
              <a:solidFill>
                <a:srgbClr val="D4E2FA"/>
              </a:solidFill>
              <a:ln>
                <a:noFill/>
              </a:ln>
            </p:spPr>
          </p:sp>
          <p:sp>
            <p:nvSpPr>
              <p:cNvPr id="110" name="TextBox 110"/>
              <p:cNvSpPr txBox="1"/>
              <p:nvPr/>
            </p:nvSpPr>
            <p:spPr>
              <a:xfrm>
                <a:off x="10696918" y="235481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营销物料设计</a:t>
                </a:r>
              </a:p>
            </p:txBody>
          </p:sp>
          <p:sp>
            <p:nvSpPr>
              <p:cNvPr id="111" name="Rectangle 111"/>
              <p:cNvSpPr/>
              <p:nvPr/>
            </p:nvSpPr>
            <p:spPr>
              <a:xfrm>
                <a:off x="10429875" y="2571750"/>
                <a:ext cx="1238250" cy="209550"/>
              </a:xfrm>
              <a:prstGeom prst="roundRect">
                <a:avLst>
                  <a:gd name="adj" fmla="val 18182"/>
                </a:avLst>
              </a:prstGeom>
              <a:solidFill>
                <a:srgbClr val="D4E2FA"/>
              </a:solidFill>
              <a:ln>
                <a:noFill/>
              </a:ln>
            </p:spPr>
          </p:sp>
          <p:sp>
            <p:nvSpPr>
              <p:cNvPr id="112" name="TextBox 112"/>
              <p:cNvSpPr txBox="1"/>
              <p:nvPr/>
            </p:nvSpPr>
            <p:spPr>
              <a:xfrm>
                <a:off x="10916887" y="26215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sp>
            <p:nvSpPr>
              <p:cNvPr id="113" name="Freeform 113"/>
              <p:cNvSpPr/>
              <p:nvPr/>
            </p:nvSpPr>
            <p:spPr>
              <a:xfrm>
                <a:off x="10858500" y="2819400"/>
                <a:ext cx="381000" cy="247650"/>
              </a:xfrm>
              <a:prstGeom prst="upArrow">
                <a:avLst/>
              </a:prstGeom>
              <a:solidFill>
                <a:srgbClr val="F4AC9D"/>
              </a:solidFill>
              <a:ln>
                <a:noFill/>
              </a:ln>
            </p:spPr>
          </p:sp>
          <p:sp>
            <p:nvSpPr>
              <p:cNvPr id="114" name="Rectangle 114"/>
              <p:cNvSpPr/>
              <p:nvPr/>
            </p:nvSpPr>
            <p:spPr>
              <a:xfrm>
                <a:off x="10429875" y="3105150"/>
                <a:ext cx="1238250" cy="285750"/>
              </a:xfrm>
              <a:prstGeom prst="roundRect">
                <a:avLst>
                  <a:gd name="adj" fmla="val 13333"/>
                </a:avLst>
              </a:prstGeom>
              <a:solidFill>
                <a:srgbClr val="932F1B"/>
              </a:solidFill>
              <a:ln>
                <a:noFill/>
              </a:ln>
            </p:spPr>
          </p:sp>
          <p:sp>
            <p:nvSpPr>
              <p:cNvPr id="115" name="TextBox 115"/>
              <p:cNvSpPr txBox="1"/>
              <p:nvPr/>
            </p:nvSpPr>
            <p:spPr>
              <a:xfrm>
                <a:off x="10780192" y="31903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策略落地</a:t>
                </a:r>
              </a:p>
            </p:txBody>
          </p:sp>
        </p:grpSp>
        <p:sp>
          <p:nvSpPr>
            <p:cNvPr id="117" name="Line 117"/>
            <p:cNvSpPr/>
            <p:nvPr/>
          </p:nvSpPr>
          <p:spPr>
            <a:xfrm>
              <a:off x="11049000" y="3390900"/>
              <a:ext cx="9525" cy="209550"/>
            </a:xfrm>
            <a:custGeom>
              <a:avLst/>
              <a:gdLst/>
              <a:ahLst/>
              <a:cxnLst/>
              <a:rect l="l" t="t" r="r" b="b"/>
              <a:pathLst>
                <a:path w="9525" h="209550">
                  <a:moveTo>
                    <a:pt x="0" y="0"/>
                  </a:moveTo>
                  <a:lnTo>
                    <a:pt x="0" y="209550"/>
                  </a:lnTo>
                </a:path>
              </a:pathLst>
            </a:custGeom>
            <a:noFill/>
            <a:ln w="14288">
              <a:solidFill>
                <a:srgbClr val="F1917D"/>
              </a:solidFill>
            </a:ln>
          </p:spPr>
        </p:sp>
        <p:sp>
          <p:nvSpPr>
            <p:cNvPr id="118" name="Polygon 118"/>
            <p:cNvSpPr/>
            <p:nvPr/>
          </p:nvSpPr>
          <p:spPr>
            <a:xfrm>
              <a:off x="10991850" y="3581400"/>
              <a:ext cx="114300" cy="114300"/>
            </a:xfrm>
            <a:custGeom>
              <a:avLst/>
              <a:gdLst/>
              <a:ahLst/>
              <a:cxnLst/>
              <a:rect l="l" t="t" r="r" b="b"/>
              <a:pathLst>
                <a:path w="114300" h="114300">
                  <a:moveTo>
                    <a:pt x="0" y="0"/>
                  </a:moveTo>
                  <a:lnTo>
                    <a:pt x="114300" y="0"/>
                  </a:lnTo>
                  <a:lnTo>
                    <a:pt x="57150" y="114300"/>
                  </a:lnTo>
                  <a:close/>
                </a:path>
              </a:pathLst>
            </a:custGeom>
            <a:solidFill>
              <a:srgbClr val="F1917D"/>
            </a:solidFill>
            <a:ln>
              <a:noFill/>
            </a:ln>
          </p:spPr>
        </p:sp>
        <p:sp>
          <p:nvSpPr>
            <p:cNvPr id="119" name="TextBox 119"/>
            <p:cNvSpPr txBox="1"/>
            <p:nvPr/>
          </p:nvSpPr>
          <p:spPr>
            <a:xfrm>
              <a:off x="5824347" y="4371499"/>
              <a:ext cx="933399" cy="190690"/>
            </a:xfrm>
            <a:prstGeom prst="rect">
              <a:avLst/>
            </a:prstGeom>
            <a:noFill/>
            <a:ln>
              <a:noFill/>
            </a:ln>
          </p:spPr>
          <p:txBody>
            <a:bodyPr wrap="none" lIns="0" tIns="0" rIns="0" bIns="0" anchor="t" anchorCtr="0">
              <a:spAutoFit/>
            </a:bodyPr>
            <a:lstStyle/>
            <a:p>
              <a:pPr algn="l"/>
              <a:r>
                <a:rPr lang="zh-CN" sz="980" dirty="0">
                  <a:solidFill>
                    <a:srgbClr val="E74726"/>
                  </a:solidFill>
                  <a:latin typeface="+mn-lt"/>
                  <a:ea typeface="+mn-ea"/>
                  <a:cs typeface="+mn-cs"/>
                </a:rPr>
                <a:t>全流程带教陪跑</a:t>
              </a:r>
            </a:p>
          </p:txBody>
        </p:sp>
        <p:sp>
          <p:nvSpPr>
            <p:cNvPr id="120" name="TextBox 120"/>
            <p:cNvSpPr txBox="1"/>
            <p:nvPr/>
          </p:nvSpPr>
          <p:spPr>
            <a:xfrm>
              <a:off x="5824347" y="4752499"/>
              <a:ext cx="933399" cy="190690"/>
            </a:xfrm>
            <a:prstGeom prst="rect">
              <a:avLst/>
            </a:prstGeom>
            <a:noFill/>
            <a:ln>
              <a:noFill/>
            </a:ln>
          </p:spPr>
          <p:txBody>
            <a:bodyPr wrap="none" lIns="0" tIns="0" rIns="0" bIns="0" anchor="t" anchorCtr="0">
              <a:spAutoFit/>
            </a:bodyPr>
            <a:lstStyle/>
            <a:p>
              <a:pPr algn="l"/>
              <a:r>
                <a:rPr lang="zh-CN" sz="980" dirty="0">
                  <a:solidFill>
                    <a:srgbClr val="E74726"/>
                  </a:solidFill>
                  <a:latin typeface="+mn-lt"/>
                  <a:ea typeface="+mn-ea"/>
                  <a:cs typeface="+mn-cs"/>
                </a:rPr>
                <a:t>保障能力提升与</a:t>
              </a:r>
            </a:p>
          </p:txBody>
        </p:sp>
        <p:sp>
          <p:nvSpPr>
            <p:cNvPr id="121" name="TextBox 121"/>
            <p:cNvSpPr txBox="1"/>
            <p:nvPr/>
          </p:nvSpPr>
          <p:spPr>
            <a:xfrm>
              <a:off x="5824347" y="5133499"/>
              <a:ext cx="537616" cy="190690"/>
            </a:xfrm>
            <a:prstGeom prst="rect">
              <a:avLst/>
            </a:prstGeom>
            <a:noFill/>
            <a:ln>
              <a:noFill/>
            </a:ln>
          </p:spPr>
          <p:txBody>
            <a:bodyPr wrap="none" lIns="0" tIns="0" rIns="0" bIns="0" anchor="t" anchorCtr="0">
              <a:spAutoFit/>
            </a:bodyPr>
            <a:lstStyle/>
            <a:p>
              <a:pPr algn="l"/>
              <a:r>
                <a:rPr lang="zh-CN" sz="980" dirty="0">
                  <a:solidFill>
                    <a:srgbClr val="E74726"/>
                  </a:solidFill>
                  <a:latin typeface="+mn-lt"/>
                  <a:ea typeface="+mn-ea"/>
                  <a:cs typeface="+mn-cs"/>
                </a:rPr>
                <a:t>成果沉淀</a:t>
              </a:r>
            </a:p>
          </p:txBody>
        </p:sp>
        <p:grpSp>
          <p:nvGrpSpPr>
            <p:cNvPr id="135" name="mod-training"/>
            <p:cNvGrpSpPr/>
            <p:nvPr/>
          </p:nvGrpSpPr>
          <p:grpSpPr>
            <a:xfrm>
              <a:off x="7381875" y="3714750"/>
              <a:ext cx="1238250" cy="1885950"/>
              <a:chOff x="7381875" y="3714750"/>
              <a:chExt cx="1238250" cy="1885950"/>
            </a:xfrm>
          </p:grpSpPr>
          <p:sp>
            <p:nvSpPr>
              <p:cNvPr id="122" name="Rectangle 122"/>
              <p:cNvSpPr/>
              <p:nvPr/>
            </p:nvSpPr>
            <p:spPr>
              <a:xfrm>
                <a:off x="7381875" y="3714750"/>
                <a:ext cx="1238250" cy="209550"/>
              </a:xfrm>
              <a:prstGeom prst="roundRect">
                <a:avLst>
                  <a:gd name="adj" fmla="val 18182"/>
                </a:avLst>
              </a:prstGeom>
              <a:solidFill>
                <a:srgbClr val="D4E2FA"/>
              </a:solidFill>
              <a:ln>
                <a:noFill/>
              </a:ln>
            </p:spPr>
          </p:sp>
          <p:sp>
            <p:nvSpPr>
              <p:cNvPr id="123" name="TextBox 123"/>
              <p:cNvSpPr txBox="1"/>
              <p:nvPr/>
            </p:nvSpPr>
            <p:spPr>
              <a:xfrm>
                <a:off x="7648918" y="376451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营销技巧培训</a:t>
                </a:r>
              </a:p>
            </p:txBody>
          </p:sp>
          <p:sp>
            <p:nvSpPr>
              <p:cNvPr id="124" name="Rectangle 124"/>
              <p:cNvSpPr/>
              <p:nvPr/>
            </p:nvSpPr>
            <p:spPr>
              <a:xfrm>
                <a:off x="7381875" y="3981450"/>
                <a:ext cx="1238250" cy="209550"/>
              </a:xfrm>
              <a:prstGeom prst="roundRect">
                <a:avLst>
                  <a:gd name="adj" fmla="val 18182"/>
                </a:avLst>
              </a:prstGeom>
              <a:solidFill>
                <a:srgbClr val="D4E2FA"/>
              </a:solidFill>
              <a:ln>
                <a:noFill/>
              </a:ln>
            </p:spPr>
          </p:sp>
          <p:sp>
            <p:nvSpPr>
              <p:cNvPr id="125" name="TextBox 125"/>
              <p:cNvSpPr txBox="1"/>
              <p:nvPr/>
            </p:nvSpPr>
            <p:spPr>
              <a:xfrm>
                <a:off x="7648918" y="403121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能力提升培训</a:t>
                </a:r>
              </a:p>
            </p:txBody>
          </p:sp>
          <p:sp>
            <p:nvSpPr>
              <p:cNvPr id="126" name="Rectangle 126"/>
              <p:cNvSpPr/>
              <p:nvPr/>
            </p:nvSpPr>
            <p:spPr>
              <a:xfrm>
                <a:off x="7381875" y="4248150"/>
                <a:ext cx="1238250" cy="209550"/>
              </a:xfrm>
              <a:prstGeom prst="roundRect">
                <a:avLst>
                  <a:gd name="adj" fmla="val 18182"/>
                </a:avLst>
              </a:prstGeom>
              <a:solidFill>
                <a:srgbClr val="D4E2FA"/>
              </a:solidFill>
              <a:ln>
                <a:noFill/>
              </a:ln>
            </p:spPr>
          </p:sp>
          <p:sp>
            <p:nvSpPr>
              <p:cNvPr id="127" name="TextBox 127"/>
              <p:cNvSpPr txBox="1"/>
              <p:nvPr/>
            </p:nvSpPr>
            <p:spPr>
              <a:xfrm>
                <a:off x="7648918" y="4297918"/>
                <a:ext cx="70416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优秀案例解读</a:t>
                </a:r>
              </a:p>
            </p:txBody>
          </p:sp>
          <p:sp>
            <p:nvSpPr>
              <p:cNvPr id="128" name="Rectangle 128"/>
              <p:cNvSpPr/>
              <p:nvPr/>
            </p:nvSpPr>
            <p:spPr>
              <a:xfrm>
                <a:off x="7381875" y="4514850"/>
                <a:ext cx="1238250" cy="209550"/>
              </a:xfrm>
              <a:prstGeom prst="roundRect">
                <a:avLst>
                  <a:gd name="adj" fmla="val 18182"/>
                </a:avLst>
              </a:prstGeom>
              <a:solidFill>
                <a:srgbClr val="D4E2FA"/>
              </a:solidFill>
              <a:ln>
                <a:noFill/>
              </a:ln>
            </p:spPr>
          </p:sp>
          <p:sp>
            <p:nvSpPr>
              <p:cNvPr id="129" name="TextBox 129"/>
              <p:cNvSpPr txBox="1"/>
              <p:nvPr/>
            </p:nvSpPr>
            <p:spPr>
              <a:xfrm>
                <a:off x="7764691" y="45646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成果沉淀</a:t>
                </a:r>
              </a:p>
            </p:txBody>
          </p:sp>
          <p:sp>
            <p:nvSpPr>
              <p:cNvPr id="130" name="Rectangle 130"/>
              <p:cNvSpPr/>
              <p:nvPr/>
            </p:nvSpPr>
            <p:spPr>
              <a:xfrm>
                <a:off x="7381875" y="4781550"/>
                <a:ext cx="1238250" cy="209550"/>
              </a:xfrm>
              <a:prstGeom prst="roundRect">
                <a:avLst>
                  <a:gd name="adj" fmla="val 18182"/>
                </a:avLst>
              </a:prstGeom>
              <a:solidFill>
                <a:srgbClr val="D4E2FA"/>
              </a:solidFill>
              <a:ln>
                <a:noFill/>
              </a:ln>
            </p:spPr>
          </p:sp>
          <p:sp>
            <p:nvSpPr>
              <p:cNvPr id="131" name="TextBox 131"/>
              <p:cNvSpPr txBox="1"/>
              <p:nvPr/>
            </p:nvSpPr>
            <p:spPr>
              <a:xfrm>
                <a:off x="7868887" y="48313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sp>
            <p:nvSpPr>
              <p:cNvPr id="132" name="Freeform 132"/>
              <p:cNvSpPr/>
              <p:nvPr/>
            </p:nvSpPr>
            <p:spPr>
              <a:xfrm>
                <a:off x="7810500" y="5029200"/>
                <a:ext cx="381000" cy="247650"/>
              </a:xfrm>
              <a:prstGeom prst="upArrow">
                <a:avLst/>
              </a:prstGeom>
              <a:solidFill>
                <a:srgbClr val="F4AC9D"/>
              </a:solidFill>
              <a:ln>
                <a:noFill/>
              </a:ln>
            </p:spPr>
          </p:sp>
          <p:sp>
            <p:nvSpPr>
              <p:cNvPr id="133" name="Rectangle 133"/>
              <p:cNvSpPr/>
              <p:nvPr/>
            </p:nvSpPr>
            <p:spPr>
              <a:xfrm>
                <a:off x="7381875" y="5314950"/>
                <a:ext cx="1238250" cy="285750"/>
              </a:xfrm>
              <a:prstGeom prst="roundRect">
                <a:avLst>
                  <a:gd name="adj" fmla="val 13333"/>
                </a:avLst>
              </a:prstGeom>
              <a:solidFill>
                <a:srgbClr val="932F1B"/>
              </a:solidFill>
              <a:ln>
                <a:noFill/>
              </a:ln>
            </p:spPr>
          </p:sp>
          <p:sp>
            <p:nvSpPr>
              <p:cNvPr id="134" name="TextBox 134"/>
              <p:cNvSpPr txBox="1"/>
              <p:nvPr/>
            </p:nvSpPr>
            <p:spPr>
              <a:xfrm>
                <a:off x="7732192" y="54001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知识培训</a:t>
                </a:r>
              </a:p>
            </p:txBody>
          </p:sp>
        </p:grpSp>
        <p:sp>
          <p:nvSpPr>
            <p:cNvPr id="136" name="Polygon 136"/>
            <p:cNvSpPr/>
            <p:nvPr/>
          </p:nvSpPr>
          <p:spPr>
            <a:xfrm>
              <a:off x="8772525" y="5400675"/>
              <a:ext cx="114300" cy="114300"/>
            </a:xfrm>
            <a:custGeom>
              <a:avLst/>
              <a:gdLst/>
              <a:ahLst/>
              <a:cxnLst/>
              <a:rect l="l" t="t" r="r" b="b"/>
              <a:pathLst>
                <a:path w="114300" h="114300">
                  <a:moveTo>
                    <a:pt x="114300" y="0"/>
                  </a:moveTo>
                  <a:lnTo>
                    <a:pt x="0" y="57150"/>
                  </a:lnTo>
                  <a:lnTo>
                    <a:pt x="114300" y="114300"/>
                  </a:lnTo>
                  <a:close/>
                </a:path>
              </a:pathLst>
            </a:custGeom>
            <a:solidFill>
              <a:srgbClr val="F1917D"/>
            </a:solidFill>
            <a:ln>
              <a:noFill/>
            </a:ln>
          </p:spPr>
        </p:sp>
        <p:grpSp>
          <p:nvGrpSpPr>
            <p:cNvPr id="150" name="mod-evaluate"/>
            <p:cNvGrpSpPr/>
            <p:nvPr/>
          </p:nvGrpSpPr>
          <p:grpSpPr>
            <a:xfrm>
              <a:off x="8905875" y="3714750"/>
              <a:ext cx="1238250" cy="1885950"/>
              <a:chOff x="8905875" y="3714750"/>
              <a:chExt cx="1238250" cy="1885950"/>
            </a:xfrm>
          </p:grpSpPr>
          <p:sp>
            <p:nvSpPr>
              <p:cNvPr id="137" name="Rectangle 137"/>
              <p:cNvSpPr/>
              <p:nvPr/>
            </p:nvSpPr>
            <p:spPr>
              <a:xfrm>
                <a:off x="8905875" y="3714750"/>
                <a:ext cx="1238250" cy="209550"/>
              </a:xfrm>
              <a:prstGeom prst="roundRect">
                <a:avLst>
                  <a:gd name="adj" fmla="val 18182"/>
                </a:avLst>
              </a:prstGeom>
              <a:solidFill>
                <a:srgbClr val="D4E2FA"/>
              </a:solidFill>
              <a:ln>
                <a:noFill/>
              </a:ln>
            </p:spPr>
          </p:sp>
          <p:sp>
            <p:nvSpPr>
              <p:cNvPr id="138" name="TextBox 138"/>
              <p:cNvSpPr txBox="1"/>
              <p:nvPr/>
            </p:nvSpPr>
            <p:spPr>
              <a:xfrm>
                <a:off x="9288691" y="37645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指标分析</a:t>
                </a:r>
              </a:p>
            </p:txBody>
          </p:sp>
          <p:sp>
            <p:nvSpPr>
              <p:cNvPr id="139" name="Rectangle 139"/>
              <p:cNvSpPr/>
              <p:nvPr/>
            </p:nvSpPr>
            <p:spPr>
              <a:xfrm>
                <a:off x="8905875" y="3981450"/>
                <a:ext cx="1238250" cy="209550"/>
              </a:xfrm>
              <a:prstGeom prst="roundRect">
                <a:avLst>
                  <a:gd name="adj" fmla="val 18182"/>
                </a:avLst>
              </a:prstGeom>
              <a:solidFill>
                <a:srgbClr val="D4E2FA"/>
              </a:solidFill>
              <a:ln>
                <a:noFill/>
              </a:ln>
            </p:spPr>
          </p:sp>
          <p:sp>
            <p:nvSpPr>
              <p:cNvPr id="140" name="TextBox 140"/>
              <p:cNvSpPr txBox="1"/>
              <p:nvPr/>
            </p:nvSpPr>
            <p:spPr>
              <a:xfrm>
                <a:off x="9288691" y="40312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活动总结</a:t>
                </a:r>
              </a:p>
            </p:txBody>
          </p:sp>
          <p:sp>
            <p:nvSpPr>
              <p:cNvPr id="141" name="Rectangle 141"/>
              <p:cNvSpPr/>
              <p:nvPr/>
            </p:nvSpPr>
            <p:spPr>
              <a:xfrm>
                <a:off x="8905875" y="4248150"/>
                <a:ext cx="1238250" cy="209550"/>
              </a:xfrm>
              <a:prstGeom prst="roundRect">
                <a:avLst>
                  <a:gd name="adj" fmla="val 18182"/>
                </a:avLst>
              </a:prstGeom>
              <a:solidFill>
                <a:srgbClr val="D4E2FA"/>
              </a:solidFill>
              <a:ln>
                <a:noFill/>
              </a:ln>
            </p:spPr>
          </p:sp>
          <p:sp>
            <p:nvSpPr>
              <p:cNvPr id="142" name="TextBox 142"/>
              <p:cNvSpPr txBox="1"/>
              <p:nvPr/>
            </p:nvSpPr>
            <p:spPr>
              <a:xfrm>
                <a:off x="9230804" y="4297918"/>
                <a:ext cx="58839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白名单效果</a:t>
                </a:r>
              </a:p>
            </p:txBody>
          </p:sp>
          <p:sp>
            <p:nvSpPr>
              <p:cNvPr id="143" name="Rectangle 143"/>
              <p:cNvSpPr/>
              <p:nvPr/>
            </p:nvSpPr>
            <p:spPr>
              <a:xfrm>
                <a:off x="8905875" y="4514850"/>
                <a:ext cx="1238250" cy="209550"/>
              </a:xfrm>
              <a:prstGeom prst="roundRect">
                <a:avLst>
                  <a:gd name="adj" fmla="val 18182"/>
                </a:avLst>
              </a:prstGeom>
              <a:solidFill>
                <a:srgbClr val="D4E2FA"/>
              </a:solidFill>
              <a:ln>
                <a:noFill/>
              </a:ln>
            </p:spPr>
          </p:sp>
          <p:sp>
            <p:nvSpPr>
              <p:cNvPr id="144" name="TextBox 144"/>
              <p:cNvSpPr txBox="1"/>
              <p:nvPr/>
            </p:nvSpPr>
            <p:spPr>
              <a:xfrm>
                <a:off x="9288691" y="45646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外呼效果</a:t>
                </a:r>
              </a:p>
            </p:txBody>
          </p:sp>
          <p:sp>
            <p:nvSpPr>
              <p:cNvPr id="145" name="Rectangle 145"/>
              <p:cNvSpPr/>
              <p:nvPr/>
            </p:nvSpPr>
            <p:spPr>
              <a:xfrm>
                <a:off x="8905875" y="4781550"/>
                <a:ext cx="1238250" cy="209550"/>
              </a:xfrm>
              <a:prstGeom prst="roundRect">
                <a:avLst>
                  <a:gd name="adj" fmla="val 18182"/>
                </a:avLst>
              </a:prstGeom>
              <a:solidFill>
                <a:srgbClr val="D4E2FA"/>
              </a:solidFill>
              <a:ln>
                <a:noFill/>
              </a:ln>
            </p:spPr>
          </p:sp>
          <p:sp>
            <p:nvSpPr>
              <p:cNvPr id="146" name="TextBox 146"/>
              <p:cNvSpPr txBox="1"/>
              <p:nvPr/>
            </p:nvSpPr>
            <p:spPr>
              <a:xfrm>
                <a:off x="9392887" y="48313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sp>
            <p:nvSpPr>
              <p:cNvPr id="147" name="Freeform 147"/>
              <p:cNvSpPr/>
              <p:nvPr/>
            </p:nvSpPr>
            <p:spPr>
              <a:xfrm>
                <a:off x="9334500" y="5029200"/>
                <a:ext cx="381000" cy="247650"/>
              </a:xfrm>
              <a:prstGeom prst="upArrow">
                <a:avLst/>
              </a:prstGeom>
              <a:solidFill>
                <a:srgbClr val="F4AC9D"/>
              </a:solidFill>
              <a:ln>
                <a:noFill/>
              </a:ln>
            </p:spPr>
          </p:sp>
          <p:sp>
            <p:nvSpPr>
              <p:cNvPr id="148" name="Rectangle 148"/>
              <p:cNvSpPr/>
              <p:nvPr/>
            </p:nvSpPr>
            <p:spPr>
              <a:xfrm>
                <a:off x="8905875" y="5314950"/>
                <a:ext cx="1238250" cy="285750"/>
              </a:xfrm>
              <a:prstGeom prst="roundRect">
                <a:avLst>
                  <a:gd name="adj" fmla="val 13333"/>
                </a:avLst>
              </a:prstGeom>
              <a:solidFill>
                <a:srgbClr val="932F1B"/>
              </a:solidFill>
              <a:ln>
                <a:noFill/>
              </a:ln>
            </p:spPr>
          </p:sp>
          <p:sp>
            <p:nvSpPr>
              <p:cNvPr id="149" name="TextBox 149"/>
              <p:cNvSpPr txBox="1"/>
              <p:nvPr/>
            </p:nvSpPr>
            <p:spPr>
              <a:xfrm>
                <a:off x="9256192" y="54001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评估优化</a:t>
                </a:r>
              </a:p>
            </p:txBody>
          </p:sp>
        </p:grpSp>
        <p:sp>
          <p:nvSpPr>
            <p:cNvPr id="151" name="Polygon 151"/>
            <p:cNvSpPr/>
            <p:nvPr/>
          </p:nvSpPr>
          <p:spPr>
            <a:xfrm>
              <a:off x="10296525" y="5400675"/>
              <a:ext cx="114300" cy="114300"/>
            </a:xfrm>
            <a:custGeom>
              <a:avLst/>
              <a:gdLst/>
              <a:ahLst/>
              <a:cxnLst/>
              <a:rect l="l" t="t" r="r" b="b"/>
              <a:pathLst>
                <a:path w="114300" h="114300">
                  <a:moveTo>
                    <a:pt x="114300" y="0"/>
                  </a:moveTo>
                  <a:lnTo>
                    <a:pt x="0" y="57150"/>
                  </a:lnTo>
                  <a:lnTo>
                    <a:pt x="114300" y="114300"/>
                  </a:lnTo>
                  <a:close/>
                </a:path>
              </a:pathLst>
            </a:custGeom>
            <a:solidFill>
              <a:srgbClr val="F1917D"/>
            </a:solidFill>
            <a:ln>
              <a:noFill/>
            </a:ln>
          </p:spPr>
        </p:sp>
        <p:grpSp>
          <p:nvGrpSpPr>
            <p:cNvPr id="165" name="mod-execute"/>
            <p:cNvGrpSpPr/>
            <p:nvPr/>
          </p:nvGrpSpPr>
          <p:grpSpPr>
            <a:xfrm>
              <a:off x="10429875" y="3714750"/>
              <a:ext cx="1238250" cy="1885950"/>
              <a:chOff x="10429875" y="3714750"/>
              <a:chExt cx="1238250" cy="1885950"/>
            </a:xfrm>
          </p:grpSpPr>
          <p:sp>
            <p:nvSpPr>
              <p:cNvPr id="152" name="Rectangle 152"/>
              <p:cNvSpPr/>
              <p:nvPr/>
            </p:nvSpPr>
            <p:spPr>
              <a:xfrm>
                <a:off x="10429875" y="3714750"/>
                <a:ext cx="1238250" cy="209550"/>
              </a:xfrm>
              <a:prstGeom prst="roundRect">
                <a:avLst>
                  <a:gd name="adj" fmla="val 18182"/>
                </a:avLst>
              </a:prstGeom>
              <a:solidFill>
                <a:srgbClr val="D4E2FA"/>
              </a:solidFill>
              <a:ln>
                <a:noFill/>
              </a:ln>
            </p:spPr>
          </p:sp>
          <p:sp>
            <p:nvSpPr>
              <p:cNvPr id="153" name="TextBox 153"/>
              <p:cNvSpPr txBox="1"/>
              <p:nvPr/>
            </p:nvSpPr>
            <p:spPr>
              <a:xfrm>
                <a:off x="10812691" y="37645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活动监控</a:t>
                </a:r>
              </a:p>
            </p:txBody>
          </p:sp>
          <p:sp>
            <p:nvSpPr>
              <p:cNvPr id="154" name="Rectangle 154"/>
              <p:cNvSpPr/>
              <p:nvPr/>
            </p:nvSpPr>
            <p:spPr>
              <a:xfrm>
                <a:off x="10429875" y="3981450"/>
                <a:ext cx="1238250" cy="209550"/>
              </a:xfrm>
              <a:prstGeom prst="roundRect">
                <a:avLst>
                  <a:gd name="adj" fmla="val 18182"/>
                </a:avLst>
              </a:prstGeom>
              <a:solidFill>
                <a:srgbClr val="D4E2FA"/>
              </a:solidFill>
              <a:ln>
                <a:noFill/>
              </a:ln>
            </p:spPr>
          </p:sp>
          <p:sp>
            <p:nvSpPr>
              <p:cNvPr id="155" name="TextBox 155"/>
              <p:cNvSpPr txBox="1"/>
              <p:nvPr/>
            </p:nvSpPr>
            <p:spPr>
              <a:xfrm>
                <a:off x="10812691" y="40312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营销带教</a:t>
                </a:r>
              </a:p>
            </p:txBody>
          </p:sp>
          <p:sp>
            <p:nvSpPr>
              <p:cNvPr id="156" name="Rectangle 156"/>
              <p:cNvSpPr/>
              <p:nvPr/>
            </p:nvSpPr>
            <p:spPr>
              <a:xfrm>
                <a:off x="10429875" y="4248150"/>
                <a:ext cx="1238250" cy="209550"/>
              </a:xfrm>
              <a:prstGeom prst="roundRect">
                <a:avLst>
                  <a:gd name="adj" fmla="val 18182"/>
                </a:avLst>
              </a:prstGeom>
              <a:solidFill>
                <a:srgbClr val="D4E2FA"/>
              </a:solidFill>
              <a:ln>
                <a:noFill/>
              </a:ln>
            </p:spPr>
          </p:sp>
          <p:sp>
            <p:nvSpPr>
              <p:cNvPr id="157" name="TextBox 157"/>
              <p:cNvSpPr txBox="1"/>
              <p:nvPr/>
            </p:nvSpPr>
            <p:spPr>
              <a:xfrm>
                <a:off x="10812691" y="42979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经营复盘</a:t>
                </a:r>
              </a:p>
            </p:txBody>
          </p:sp>
          <p:sp>
            <p:nvSpPr>
              <p:cNvPr id="158" name="Rectangle 158"/>
              <p:cNvSpPr/>
              <p:nvPr/>
            </p:nvSpPr>
            <p:spPr>
              <a:xfrm>
                <a:off x="10429875" y="4514850"/>
                <a:ext cx="1238250" cy="209550"/>
              </a:xfrm>
              <a:prstGeom prst="roundRect">
                <a:avLst>
                  <a:gd name="adj" fmla="val 18182"/>
                </a:avLst>
              </a:prstGeom>
              <a:solidFill>
                <a:srgbClr val="D4E2FA"/>
              </a:solidFill>
              <a:ln>
                <a:noFill/>
              </a:ln>
            </p:spPr>
          </p:sp>
          <p:sp>
            <p:nvSpPr>
              <p:cNvPr id="159" name="TextBox 159"/>
              <p:cNvSpPr txBox="1"/>
              <p:nvPr/>
            </p:nvSpPr>
            <p:spPr>
              <a:xfrm>
                <a:off x="10812691" y="45646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过程优化</a:t>
                </a:r>
              </a:p>
            </p:txBody>
          </p:sp>
          <p:sp>
            <p:nvSpPr>
              <p:cNvPr id="160" name="Rectangle 160"/>
              <p:cNvSpPr/>
              <p:nvPr/>
            </p:nvSpPr>
            <p:spPr>
              <a:xfrm>
                <a:off x="10429875" y="4781550"/>
                <a:ext cx="1238250" cy="209550"/>
              </a:xfrm>
              <a:prstGeom prst="roundRect">
                <a:avLst>
                  <a:gd name="adj" fmla="val 18182"/>
                </a:avLst>
              </a:prstGeom>
              <a:solidFill>
                <a:srgbClr val="D4E2FA"/>
              </a:solidFill>
              <a:ln>
                <a:noFill/>
              </a:ln>
            </p:spPr>
          </p:sp>
          <p:sp>
            <p:nvSpPr>
              <p:cNvPr id="161" name="TextBox 161"/>
              <p:cNvSpPr txBox="1"/>
              <p:nvPr/>
            </p:nvSpPr>
            <p:spPr>
              <a:xfrm>
                <a:off x="10916887" y="48313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a:t>
                </a:r>
              </a:p>
            </p:txBody>
          </p:sp>
          <p:sp>
            <p:nvSpPr>
              <p:cNvPr id="162" name="Freeform 162"/>
              <p:cNvSpPr/>
              <p:nvPr/>
            </p:nvSpPr>
            <p:spPr>
              <a:xfrm>
                <a:off x="10858500" y="5029200"/>
                <a:ext cx="381000" cy="247650"/>
              </a:xfrm>
              <a:prstGeom prst="upArrow">
                <a:avLst/>
              </a:prstGeom>
              <a:solidFill>
                <a:srgbClr val="F4AC9D"/>
              </a:solidFill>
              <a:ln>
                <a:noFill/>
              </a:ln>
            </p:spPr>
          </p:sp>
          <p:sp>
            <p:nvSpPr>
              <p:cNvPr id="163" name="Rectangle 163"/>
              <p:cNvSpPr/>
              <p:nvPr/>
            </p:nvSpPr>
            <p:spPr>
              <a:xfrm>
                <a:off x="10429875" y="5314950"/>
                <a:ext cx="1238250" cy="285750"/>
              </a:xfrm>
              <a:prstGeom prst="roundRect">
                <a:avLst>
                  <a:gd name="adj" fmla="val 13333"/>
                </a:avLst>
              </a:prstGeom>
              <a:solidFill>
                <a:srgbClr val="932F1B"/>
              </a:solidFill>
              <a:ln>
                <a:noFill/>
              </a:ln>
            </p:spPr>
          </p:sp>
          <p:sp>
            <p:nvSpPr>
              <p:cNvPr id="164" name="TextBox 164"/>
              <p:cNvSpPr txBox="1"/>
              <p:nvPr/>
            </p:nvSpPr>
            <p:spPr>
              <a:xfrm>
                <a:off x="10780192" y="54001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执行指导</a:t>
                </a:r>
              </a:p>
            </p:txBody>
          </p:sp>
        </p:grpSp>
      </p:grpSp>
      <p:grpSp>
        <p:nvGrpSpPr>
          <p:cNvPr id="169" name="footer"/>
          <p:cNvGrpSpPr/>
          <p:nvPr/>
        </p:nvGrpSpPr>
        <p:grpSpPr>
          <a:xfrm>
            <a:off x="0" y="6438900"/>
            <a:ext cx="12192000" cy="342900"/>
            <a:chOff x="0" y="6438900"/>
            <a:chExt cx="12192000" cy="342900"/>
          </a:xfrm>
        </p:grpSpPr>
        <p:sp>
          <p:nvSpPr>
            <p:cNvPr id="167" name="Line 167"/>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168" name="TextBox 168"/>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 name="header"/>
          <p:cNvGrpSpPr/>
          <p:nvPr/>
        </p:nvGrpSpPr>
        <p:grpSpPr>
          <a:xfrm>
            <a:off x="0" y="0"/>
            <a:ext cx="12192000" cy="542925"/>
            <a:chOff x="0" y="0"/>
            <a:chExt cx="12192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4726"/>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36​</a:t>
              </a:r>
            </a:p>
          </p:txBody>
        </p:sp>
        <p:sp>
          <p:nvSpPr>
            <p:cNvPr id="4" name="TextBox 4"/>
            <p:cNvSpPr txBox="1"/>
            <p:nvPr/>
          </p:nvSpPr>
          <p:spPr>
            <a:xfrm>
              <a:off x="885825" y="169069"/>
              <a:ext cx="9289528" cy="366712"/>
            </a:xfrm>
            <a:prstGeom prst="rect">
              <a:avLst/>
            </a:prstGeom>
            <a:noFill/>
            <a:ln>
              <a:noFill/>
            </a:ln>
          </p:spPr>
          <p:txBody>
            <a:bodyPr wrap="none" lIns="0" tIns="0" rIns="0" bIns="0" anchor="t" anchorCtr="0">
              <a:spAutoFit/>
            </a:bodyPr>
            <a:lstStyle/>
            <a:p>
              <a:pPr algn="l"/>
              <a:r>
                <a:rPr lang="zh-CN" sz="1880" b="1" dirty="0">
                  <a:solidFill>
                    <a:srgbClr val="1A1A1A"/>
                  </a:solidFill>
                  <a:latin typeface="+mj-lt"/>
                  <a:ea typeface="+mj-ea"/>
                  <a:cs typeface="+mj-cs"/>
                </a:rPr>
                <a:t>3.3.3 中电金信解决方案｜</a:t>
              </a:r>
              <a:r>
                <a:rPr lang="zh-CN" sz="1880" b="1" dirty="0">
                  <a:solidFill>
                    <a:srgbClr val="E74726"/>
                  </a:solidFill>
                  <a:latin typeface="+mj-lt"/>
                  <a:ea typeface="+mj-ea"/>
                  <a:cs typeface="+mj-cs"/>
                </a:rPr>
                <a:t>基于企微的长尾客群直营体系0-1搭建咨询服务</a:t>
              </a:r>
              <a:r>
                <a:rPr lang="zh-CN" sz="1880" b="1" dirty="0">
                  <a:solidFill>
                    <a:srgbClr val="1A1A1A"/>
                  </a:solidFill>
                  <a:latin typeface="+mj-lt"/>
                  <a:ea typeface="+mj-ea"/>
                  <a:cs typeface="+mj-cs"/>
                </a:rPr>
                <a:t>​​​</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4288">
              <a:solidFill>
                <a:srgbClr val="E74726"/>
              </a:solidFill>
            </a:ln>
          </p:spPr>
        </p:sp>
        <p:grpSp>
          <p:nvGrpSpPr>
            <p:cNvPr id="14" name="logos"/>
            <p:cNvGrpSpPr/>
            <p:nvPr/>
          </p:nvGrpSpPr>
          <p:grpSpPr>
            <a:xfrm>
              <a:off x="10209844" y="114300"/>
              <a:ext cx="1486094" cy="397192"/>
              <a:chOff x="10209844" y="114300"/>
              <a:chExt cx="1486094" cy="397192"/>
            </a:xfrm>
          </p:grpSpPr>
          <p:sp>
            <p:nvSpPr>
              <p:cNvPr id="6" name="Rectangle 6"/>
              <p:cNvSpPr/>
              <p:nvPr/>
            </p:nvSpPr>
            <p:spPr>
              <a:xfrm>
                <a:off x="10287000" y="114300"/>
                <a:ext cx="419100" cy="228600"/>
              </a:xfrm>
              <a:prstGeom prst="roundRect">
                <a:avLst>
                  <a:gd name="adj" fmla="val 16667"/>
                </a:avLst>
              </a:prstGeom>
              <a:solidFill>
                <a:srgbClr val="E62B00"/>
              </a:solidFill>
              <a:ln>
                <a:noFill/>
              </a:ln>
            </p:spPr>
          </p:sp>
          <p:sp>
            <p:nvSpPr>
              <p:cNvPr id="7" name="TextBox 7"/>
              <p:cNvSpPr txBox="1"/>
              <p:nvPr/>
            </p:nvSpPr>
            <p:spPr>
              <a:xfrm>
                <a:off x="10209844" y="170974"/>
                <a:ext cx="57341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CEC​​​​</a:t>
                </a:r>
              </a:p>
            </p:txBody>
          </p:sp>
          <p:sp>
            <p:nvSpPr>
              <p:cNvPr id="8" name="TextBox 8"/>
              <p:cNvSpPr txBox="1"/>
              <p:nvPr/>
            </p:nvSpPr>
            <p:spPr>
              <a:xfrm>
                <a:off x="10330244" y="392430"/>
                <a:ext cx="332613" cy="119062"/>
              </a:xfrm>
              <a:prstGeom prst="rect">
                <a:avLst/>
              </a:prstGeom>
              <a:noFill/>
              <a:ln>
                <a:noFill/>
              </a:ln>
            </p:spPr>
            <p:txBody>
              <a:bodyPr wrap="none" lIns="0" tIns="0" rIns="0" bIns="0" anchor="t" anchorCtr="0">
                <a:spAutoFit/>
              </a:bodyPr>
              <a:lstStyle/>
              <a:p>
                <a:pPr algn="ctr"/>
                <a:r>
                  <a:rPr lang="zh-CN" sz="600" dirty="0">
                    <a:solidFill>
                      <a:srgbClr val="7F7F7F"/>
                    </a:solidFill>
                    <a:latin typeface="+mn-lt"/>
                    <a:ea typeface="+mn-ea"/>
                    <a:cs typeface="+mn-cs"/>
                  </a:rPr>
                  <a:t>中国电子</a:t>
                </a:r>
              </a:p>
            </p:txBody>
          </p:sp>
          <p:sp>
            <p:nvSpPr>
              <p:cNvPr id="9" name="Line 9"/>
              <p:cNvSpPr/>
              <p:nvPr/>
            </p:nvSpPr>
            <p:spPr>
              <a:xfrm>
                <a:off x="10801350" y="133350"/>
                <a:ext cx="9525" cy="304800"/>
              </a:xfrm>
              <a:custGeom>
                <a:avLst/>
                <a:gdLst/>
                <a:ahLst/>
                <a:cxnLst/>
                <a:rect l="l" t="t" r="r" b="b"/>
                <a:pathLst>
                  <a:path w="9525" h="304800">
                    <a:moveTo>
                      <a:pt x="0" y="0"/>
                    </a:moveTo>
                    <a:lnTo>
                      <a:pt x="0" y="304800"/>
                    </a:lnTo>
                  </a:path>
                </a:pathLst>
              </a:custGeom>
              <a:noFill/>
              <a:ln w="9525">
                <a:solidFill>
                  <a:srgbClr val="CCCCCC"/>
                </a:solidFill>
              </a:ln>
            </p:spPr>
          </p:sp>
          <p:sp>
            <p:nvSpPr>
              <p:cNvPr id="10" name="Polygon 10"/>
              <p:cNvSpPr/>
              <p:nvPr/>
            </p:nvSpPr>
            <p:spPr>
              <a:xfrm>
                <a:off x="10877550" y="133350"/>
                <a:ext cx="190500" cy="190500"/>
              </a:xfrm>
              <a:custGeom>
                <a:avLst/>
                <a:gdLst/>
                <a:ahLst/>
                <a:cxnLst/>
                <a:rect l="l" t="t" r="r" b="b"/>
                <a:pathLst>
                  <a:path w="190500" h="190500">
                    <a:moveTo>
                      <a:pt x="95250" y="0"/>
                    </a:moveTo>
                    <a:lnTo>
                      <a:pt x="190500" y="95250"/>
                    </a:lnTo>
                    <a:lnTo>
                      <a:pt x="95250" y="190500"/>
                    </a:lnTo>
                    <a:lnTo>
                      <a:pt x="0" y="95250"/>
                    </a:lnTo>
                    <a:close/>
                  </a:path>
                </a:pathLst>
              </a:custGeom>
              <a:solidFill>
                <a:srgbClr val="E62B00"/>
              </a:solidFill>
              <a:ln>
                <a:noFill/>
              </a:ln>
            </p:spPr>
          </p:sp>
          <p:sp>
            <p:nvSpPr>
              <p:cNvPr id="11" name="Rectangle 11"/>
              <p:cNvSpPr/>
              <p:nvPr/>
            </p:nvSpPr>
            <p:spPr>
              <a:xfrm>
                <a:off x="10953750" y="323850"/>
                <a:ext cx="76200" cy="76200"/>
              </a:xfrm>
              <a:prstGeom prst="rect">
                <a:avLst/>
              </a:prstGeom>
              <a:solidFill>
                <a:srgbClr val="A11B00"/>
              </a:solidFill>
              <a:ln>
                <a:noFill/>
              </a:ln>
            </p:spPr>
          </p:sp>
          <p:sp>
            <p:nvSpPr>
              <p:cNvPr id="12" name="TextBox 12"/>
              <p:cNvSpPr txBox="1"/>
              <p:nvPr/>
            </p:nvSpPr>
            <p:spPr>
              <a:xfrm>
                <a:off x="11119866" y="153352"/>
                <a:ext cx="576072" cy="205359"/>
              </a:xfrm>
              <a:prstGeom prst="rect">
                <a:avLst/>
              </a:prstGeom>
              <a:noFill/>
              <a:ln>
                <a:noFill/>
              </a:ln>
            </p:spPr>
            <p:txBody>
              <a:bodyPr wrap="none" lIns="0" tIns="0" rIns="0" bIns="0" anchor="t" anchorCtr="0">
                <a:spAutoFit/>
              </a:bodyPr>
              <a:lstStyle/>
              <a:p>
                <a:pPr algn="l"/>
                <a:r>
                  <a:rPr lang="zh-CN" sz="1050" b="1" dirty="0">
                    <a:solidFill>
                      <a:srgbClr val="A11B00"/>
                    </a:solidFill>
                    <a:latin typeface="+mn-lt"/>
                    <a:ea typeface="+mn-ea"/>
                    <a:cs typeface="+mn-cs"/>
                  </a:rPr>
                  <a:t>中电金信</a:t>
                </a:r>
              </a:p>
            </p:txBody>
          </p:sp>
          <p:sp>
            <p:nvSpPr>
              <p:cNvPr id="13" name="TextBox 13"/>
              <p:cNvSpPr txBox="1"/>
              <p:nvPr/>
            </p:nvSpPr>
            <p:spPr>
              <a:xfrm>
                <a:off x="11120438" y="346234"/>
                <a:ext cx="445859" cy="133350"/>
              </a:xfrm>
              <a:prstGeom prst="rect">
                <a:avLst/>
              </a:prstGeom>
              <a:noFill/>
              <a:ln>
                <a:noFill/>
              </a:ln>
            </p:spPr>
            <p:txBody>
              <a:bodyPr wrap="none" lIns="0" tIns="0" rIns="0" bIns="0" anchor="t" anchorCtr="0">
                <a:spAutoFit/>
              </a:bodyPr>
              <a:lstStyle/>
              <a:p>
                <a:pPr algn="l"/>
                <a:r>
                  <a:rPr lang="en-US" sz="680" dirty="0">
                    <a:solidFill>
                      <a:srgbClr val="A11B00"/>
                    </a:solidFill>
                    <a:latin typeface="+mn-lt"/>
                    <a:ea typeface="+mn-ea"/>
                    <a:cs typeface="+mn-cs"/>
                  </a:rPr>
                  <a:t>GienTech​</a:t>
                </a:r>
              </a:p>
            </p:txBody>
          </p:sp>
        </p:grpSp>
      </p:grpSp>
      <p:grpSp>
        <p:nvGrpSpPr>
          <p:cNvPr id="17" name="subtitle"/>
          <p:cNvGrpSpPr/>
          <p:nvPr/>
        </p:nvGrpSpPr>
        <p:grpSpPr>
          <a:xfrm>
            <a:off x="374523" y="681514"/>
            <a:ext cx="5408093" cy="249364"/>
            <a:chOff x="374523" y="681514"/>
            <a:chExt cx="5408093" cy="249364"/>
          </a:xfrm>
        </p:grpSpPr>
        <p:sp>
          <p:nvSpPr>
            <p:cNvPr id="16" name="TextBox 16"/>
            <p:cNvSpPr txBox="1"/>
            <p:nvPr/>
          </p:nvSpPr>
          <p:spPr>
            <a:xfrm>
              <a:off x="374523" y="681514"/>
              <a:ext cx="5408093" cy="249364"/>
            </a:xfrm>
            <a:prstGeom prst="rect">
              <a:avLst/>
            </a:prstGeom>
            <a:noFill/>
            <a:ln>
              <a:noFill/>
            </a:ln>
          </p:spPr>
          <p:txBody>
            <a:bodyPr wrap="none" lIns="0" tIns="0" rIns="0" bIns="0" anchor="t" anchorCtr="0">
              <a:spAutoFit/>
            </a:bodyPr>
            <a:lstStyle/>
            <a:p>
              <a:pPr algn="l"/>
              <a:r>
                <a:rPr lang="zh-CN" sz="1280" b="1" dirty="0">
                  <a:solidFill>
                    <a:srgbClr val="262626"/>
                  </a:solidFill>
                  <a:latin typeface="+mn-lt"/>
                  <a:ea typeface="+mn-ea"/>
                  <a:cs typeface="+mn-cs"/>
                </a:rPr>
                <a:t>中电金信提供基于企微渠道的长尾客群直营体系从0到1搭建咨询服务​​</a:t>
              </a:r>
            </a:p>
          </p:txBody>
        </p:sp>
      </p:grpSp>
      <p:grpSp>
        <p:nvGrpSpPr>
          <p:cNvPr id="19" name="guide"/>
          <p:cNvGrpSpPr/>
          <p:nvPr/>
        </p:nvGrpSpPr>
        <p:grpSpPr>
          <a:xfrm>
            <a:off x="376047" y="990124"/>
            <a:ext cx="2938699" cy="190690"/>
            <a:chOff x="376047" y="990124"/>
            <a:chExt cx="2938699" cy="190690"/>
          </a:xfrm>
        </p:grpSpPr>
        <p:sp>
          <p:nvSpPr>
            <p:cNvPr id="18" name="TextBox 18"/>
            <p:cNvSpPr txBox="1"/>
            <p:nvPr/>
          </p:nvSpPr>
          <p:spPr>
            <a:xfrm>
              <a:off x="376047" y="990124"/>
              <a:ext cx="2938699"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按照“做规划、做培训、做陪跑”三阶段有序推进​​</a:t>
              </a:r>
            </a:p>
          </p:txBody>
        </p:sp>
      </p:grpSp>
      <p:sp>
        <p:nvSpPr>
          <p:cNvPr id="20" name="Line 20"/>
          <p:cNvSpPr/>
          <p:nvPr/>
        </p:nvSpPr>
        <p:spPr>
          <a:xfrm>
            <a:off x="381000" y="1524000"/>
            <a:ext cx="11334750" cy="9525"/>
          </a:xfrm>
          <a:custGeom>
            <a:avLst/>
            <a:gdLst/>
            <a:ahLst/>
            <a:cxnLst/>
            <a:rect l="l" t="t" r="r" b="b"/>
            <a:pathLst>
              <a:path w="11334750" h="9525">
                <a:moveTo>
                  <a:pt x="0" y="0"/>
                </a:moveTo>
                <a:lnTo>
                  <a:pt x="11334750" y="0"/>
                </a:lnTo>
              </a:path>
            </a:pathLst>
          </a:custGeom>
          <a:noFill/>
          <a:ln w="19050">
            <a:solidFill>
              <a:srgbClr val="E74726"/>
            </a:solidFill>
          </a:ln>
        </p:spPr>
      </p:sp>
      <p:sp>
        <p:nvSpPr>
          <p:cNvPr id="21" name="timeline-end"/>
          <p:cNvSpPr/>
          <p:nvPr/>
        </p:nvSpPr>
        <p:spPr>
          <a:xfrm>
            <a:off x="11715750" y="1466850"/>
            <a:ext cx="114300" cy="114300"/>
          </a:xfrm>
          <a:prstGeom prst="ellipse">
            <a:avLst/>
          </a:prstGeom>
          <a:solidFill>
            <a:srgbClr val="E74726"/>
          </a:solidFill>
          <a:ln>
            <a:noFill/>
          </a:ln>
        </p:spPr>
      </p:sp>
      <p:grpSp>
        <p:nvGrpSpPr>
          <p:cNvPr id="51" name="stage-plan"/>
          <p:cNvGrpSpPr/>
          <p:nvPr/>
        </p:nvGrpSpPr>
        <p:grpSpPr>
          <a:xfrm>
            <a:off x="571500" y="1381125"/>
            <a:ext cx="3619500" cy="3829050"/>
            <a:chOff x="571500" y="1381125"/>
            <a:chExt cx="3619500" cy="3829050"/>
          </a:xfrm>
        </p:grpSpPr>
        <p:sp>
          <p:nvSpPr>
            <p:cNvPr id="22" name="Rectangle 22"/>
            <p:cNvSpPr/>
            <p:nvPr/>
          </p:nvSpPr>
          <p:spPr>
            <a:xfrm>
              <a:off x="571500" y="1381125"/>
              <a:ext cx="3619500" cy="285750"/>
            </a:xfrm>
            <a:prstGeom prst="roundRect">
              <a:avLst>
                <a:gd name="adj" fmla="val 10000"/>
              </a:avLst>
            </a:prstGeom>
            <a:solidFill>
              <a:srgbClr val="E74726"/>
            </a:solidFill>
            <a:ln>
              <a:noFill/>
            </a:ln>
          </p:spPr>
        </p:sp>
        <p:sp>
          <p:nvSpPr>
            <p:cNvPr id="23" name="TextBox 23"/>
            <p:cNvSpPr txBox="1"/>
            <p:nvPr/>
          </p:nvSpPr>
          <p:spPr>
            <a:xfrm>
              <a:off x="2132838" y="1451610"/>
              <a:ext cx="4968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做规划</a:t>
              </a:r>
            </a:p>
          </p:txBody>
        </p:sp>
        <p:sp>
          <p:nvSpPr>
            <p:cNvPr id="24" name="Rectangle 24"/>
            <p:cNvSpPr/>
            <p:nvPr/>
          </p:nvSpPr>
          <p:spPr>
            <a:xfrm>
              <a:off x="571500" y="1666875"/>
              <a:ext cx="3619500" cy="419100"/>
            </a:xfrm>
            <a:prstGeom prst="rect">
              <a:avLst/>
            </a:prstGeom>
            <a:solidFill>
              <a:srgbClr val="E7EFFC"/>
            </a:solidFill>
            <a:ln>
              <a:noFill/>
            </a:ln>
          </p:spPr>
        </p:sp>
        <p:sp>
          <p:nvSpPr>
            <p:cNvPr id="25" name="TextBox 25"/>
            <p:cNvSpPr txBox="1"/>
            <p:nvPr/>
          </p:nvSpPr>
          <p:spPr>
            <a:xfrm>
              <a:off x="1458404" y="1723549"/>
              <a:ext cx="1845691" cy="352616"/>
            </a:xfrm>
            <a:prstGeom prst="rect">
              <a:avLst/>
            </a:prstGeom>
            <a:noFill/>
            <a:ln>
              <a:noFill/>
            </a:ln>
          </p:spPr>
          <p:txBody>
            <a:bodyPr wrap="none" lIns="0" tIns="0" rIns="0" bIns="0" anchor="t" anchorCtr="0">
              <a:spAutoFit/>
            </a:bodyPr>
            <a:lstStyle/>
            <a:p>
              <a:pPr algn="ctr">
                <a:lnSpc>
                  <a:spcPts val="1275"/>
                </a:lnSpc>
              </a:pPr>
              <a:r>
                <a:rPr lang="zh-CN" sz="980" dirty="0">
                  <a:solidFill>
                    <a:srgbClr val="333333"/>
                  </a:solidFill>
                  <a:latin typeface="+mn-lt"/>
                  <a:ea typeface="+mn-ea"/>
                  <a:cs typeface="+mn-cs"/>
                </a:rPr>
                <a:t>让大家明确</a:t>
              </a:r>
              <a:br/>
              <a:r>
                <a:rPr lang="zh-CN" sz="980" dirty="0">
                  <a:solidFill>
                    <a:srgbClr val="333333"/>
                  </a:solidFill>
                  <a:latin typeface="+mn-lt"/>
                  <a:ea typeface="+mn-ea"/>
                  <a:cs typeface="+mn-cs"/>
                </a:rPr>
                <a:t>“我应该做什么，应该如何做”​​​</a:t>
              </a:r>
            </a:p>
          </p:txBody>
        </p:sp>
        <p:sp>
          <p:nvSpPr>
            <p:cNvPr id="26" name="Rectangle 26"/>
            <p:cNvSpPr/>
            <p:nvPr/>
          </p:nvSpPr>
          <p:spPr>
            <a:xfrm>
              <a:off x="571500" y="2171700"/>
              <a:ext cx="1733550" cy="304800"/>
            </a:xfrm>
            <a:prstGeom prst="rect">
              <a:avLst/>
            </a:prstGeom>
            <a:solidFill>
              <a:srgbClr val="FFFFFF"/>
            </a:solidFill>
            <a:ln w="9525">
              <a:solidFill>
                <a:srgbClr val="F1917D"/>
              </a:solidFill>
              <a:custDash>
                <a:ds d="400000" sp="300000"/>
              </a:custDash>
            </a:ln>
          </p:spPr>
        </p:sp>
        <p:sp>
          <p:nvSpPr>
            <p:cNvPr id="27" name="TextBox 27"/>
            <p:cNvSpPr txBox="1"/>
            <p:nvPr/>
          </p:nvSpPr>
          <p:spPr>
            <a:xfrm>
              <a:off x="1070038" y="2274570"/>
              <a:ext cx="73647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团队现状摸底</a:t>
              </a:r>
            </a:p>
          </p:txBody>
        </p:sp>
        <p:sp>
          <p:nvSpPr>
            <p:cNvPr id="28" name="Rectangle 28"/>
            <p:cNvSpPr/>
            <p:nvPr/>
          </p:nvSpPr>
          <p:spPr>
            <a:xfrm>
              <a:off x="2457450" y="2171700"/>
              <a:ext cx="1733550" cy="304800"/>
            </a:xfrm>
            <a:prstGeom prst="rect">
              <a:avLst/>
            </a:prstGeom>
            <a:solidFill>
              <a:srgbClr val="FFFFFF"/>
            </a:solidFill>
            <a:ln w="9525">
              <a:solidFill>
                <a:srgbClr val="F1917D"/>
              </a:solidFill>
              <a:custDash>
                <a:ds d="400000" sp="300000"/>
              </a:custDash>
            </a:ln>
          </p:spPr>
        </p:sp>
        <p:sp>
          <p:nvSpPr>
            <p:cNvPr id="29" name="TextBox 29"/>
            <p:cNvSpPr txBox="1"/>
            <p:nvPr/>
          </p:nvSpPr>
          <p:spPr>
            <a:xfrm>
              <a:off x="2955988" y="2274570"/>
              <a:ext cx="73647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组织架构设计</a:t>
              </a:r>
            </a:p>
          </p:txBody>
        </p:sp>
        <p:sp>
          <p:nvSpPr>
            <p:cNvPr id="30" name="Rectangle 30"/>
            <p:cNvSpPr/>
            <p:nvPr/>
          </p:nvSpPr>
          <p:spPr>
            <a:xfrm>
              <a:off x="571500" y="2552700"/>
              <a:ext cx="1733550" cy="304800"/>
            </a:xfrm>
            <a:prstGeom prst="rect">
              <a:avLst/>
            </a:prstGeom>
            <a:solidFill>
              <a:srgbClr val="FFFFFF"/>
            </a:solidFill>
            <a:ln w="9525">
              <a:solidFill>
                <a:srgbClr val="F1917D"/>
              </a:solidFill>
              <a:custDash>
                <a:ds d="400000" sp="300000"/>
              </a:custDash>
            </a:ln>
          </p:spPr>
        </p:sp>
        <p:sp>
          <p:nvSpPr>
            <p:cNvPr id="31" name="TextBox 31"/>
            <p:cNvSpPr txBox="1"/>
            <p:nvPr/>
          </p:nvSpPr>
          <p:spPr>
            <a:xfrm>
              <a:off x="1070038" y="2655570"/>
              <a:ext cx="73647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业务流程梳理</a:t>
              </a:r>
            </a:p>
          </p:txBody>
        </p:sp>
        <p:sp>
          <p:nvSpPr>
            <p:cNvPr id="32" name="Rectangle 32"/>
            <p:cNvSpPr/>
            <p:nvPr/>
          </p:nvSpPr>
          <p:spPr>
            <a:xfrm>
              <a:off x="2457450" y="2552700"/>
              <a:ext cx="1733550" cy="304800"/>
            </a:xfrm>
            <a:prstGeom prst="rect">
              <a:avLst/>
            </a:prstGeom>
            <a:solidFill>
              <a:srgbClr val="FFFFFF"/>
            </a:solidFill>
            <a:ln w="9525">
              <a:solidFill>
                <a:srgbClr val="F1917D"/>
              </a:solidFill>
              <a:custDash>
                <a:ds d="400000" sp="300000"/>
              </a:custDash>
            </a:ln>
          </p:spPr>
        </p:sp>
        <p:sp>
          <p:nvSpPr>
            <p:cNvPr id="33" name="TextBox 33"/>
            <p:cNvSpPr txBox="1"/>
            <p:nvPr/>
          </p:nvSpPr>
          <p:spPr>
            <a:xfrm>
              <a:off x="2955988" y="2655570"/>
              <a:ext cx="73647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管理机制搭建</a:t>
              </a:r>
            </a:p>
          </p:txBody>
        </p:sp>
        <p:sp>
          <p:nvSpPr>
            <p:cNvPr id="34" name="Rectangle 34"/>
            <p:cNvSpPr/>
            <p:nvPr/>
          </p:nvSpPr>
          <p:spPr>
            <a:xfrm>
              <a:off x="571500" y="2933700"/>
              <a:ext cx="1733550" cy="304800"/>
            </a:xfrm>
            <a:prstGeom prst="rect">
              <a:avLst/>
            </a:prstGeom>
            <a:solidFill>
              <a:srgbClr val="FFFFFF"/>
            </a:solidFill>
            <a:ln w="9525">
              <a:solidFill>
                <a:srgbClr val="F1917D"/>
              </a:solidFill>
              <a:custDash>
                <a:ds d="400000" sp="300000"/>
              </a:custDash>
            </a:ln>
          </p:spPr>
        </p:sp>
        <p:sp>
          <p:nvSpPr>
            <p:cNvPr id="35" name="TextBox 35"/>
            <p:cNvSpPr txBox="1"/>
            <p:nvPr/>
          </p:nvSpPr>
          <p:spPr>
            <a:xfrm>
              <a:off x="888301" y="3036570"/>
              <a:ext cx="109994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制度与系统能力评估</a:t>
              </a:r>
            </a:p>
          </p:txBody>
        </p:sp>
        <p:sp>
          <p:nvSpPr>
            <p:cNvPr id="36" name="Rectangle 36"/>
            <p:cNvSpPr/>
            <p:nvPr/>
          </p:nvSpPr>
          <p:spPr>
            <a:xfrm>
              <a:off x="2457450" y="2933700"/>
              <a:ext cx="1733550" cy="304800"/>
            </a:xfrm>
            <a:prstGeom prst="rect">
              <a:avLst/>
            </a:prstGeom>
            <a:solidFill>
              <a:srgbClr val="FFFFFF"/>
            </a:solidFill>
            <a:ln w="9525">
              <a:solidFill>
                <a:srgbClr val="F1917D"/>
              </a:solidFill>
              <a:custDash>
                <a:ds d="400000" sp="300000"/>
              </a:custDash>
            </a:ln>
          </p:spPr>
        </p:sp>
        <p:sp>
          <p:nvSpPr>
            <p:cNvPr id="37" name="TextBox 37"/>
            <p:cNvSpPr txBox="1"/>
            <p:nvPr/>
          </p:nvSpPr>
          <p:spPr>
            <a:xfrm>
              <a:off x="2819590" y="2968466"/>
              <a:ext cx="1009269" cy="276225"/>
            </a:xfrm>
            <a:prstGeom prst="rect">
              <a:avLst/>
            </a:prstGeom>
            <a:noFill/>
            <a:ln>
              <a:noFill/>
            </a:ln>
          </p:spPr>
          <p:txBody>
            <a:bodyPr wrap="none" lIns="0" tIns="0" rIns="0" bIns="0" anchor="t" anchorCtr="0">
              <a:spAutoFit/>
            </a:bodyPr>
            <a:lstStyle/>
            <a:p>
              <a:pPr algn="ctr">
                <a:lnSpc>
                  <a:spcPts val="900"/>
                </a:lnSpc>
              </a:pPr>
              <a:r>
                <a:rPr lang="zh-CN" sz="820" dirty="0">
                  <a:solidFill>
                    <a:srgbClr val="333333"/>
                  </a:solidFill>
                  <a:latin typeface="+mn-lt"/>
                  <a:ea typeface="+mn-ea"/>
                  <a:cs typeface="+mn-cs"/>
                </a:rPr>
                <a:t>SOP标准化&amp;规范​​​​</a:t>
              </a:r>
              <a:br/>
              <a:r>
                <a:rPr lang="zh-CN" sz="820" dirty="0">
                  <a:solidFill>
                    <a:srgbClr val="333333"/>
                  </a:solidFill>
                  <a:latin typeface="+mn-lt"/>
                  <a:ea typeface="+mn-ea"/>
                  <a:cs typeface="+mn-cs"/>
                </a:rPr>
                <a:t>体系输出</a:t>
              </a:r>
            </a:p>
          </p:txBody>
        </p:sp>
        <p:sp>
          <p:nvSpPr>
            <p:cNvPr id="38" name="Polygon 38"/>
            <p:cNvSpPr/>
            <p:nvPr/>
          </p:nvSpPr>
          <p:spPr>
            <a:xfrm>
              <a:off x="2324100" y="3314700"/>
              <a:ext cx="114300" cy="76200"/>
            </a:xfrm>
            <a:custGeom>
              <a:avLst/>
              <a:gdLst/>
              <a:ahLst/>
              <a:cxnLst/>
              <a:rect l="l" t="t" r="r" b="b"/>
              <a:pathLst>
                <a:path w="114300" h="76200">
                  <a:moveTo>
                    <a:pt x="0" y="0"/>
                  </a:moveTo>
                  <a:lnTo>
                    <a:pt x="114300" y="0"/>
                  </a:lnTo>
                  <a:lnTo>
                    <a:pt x="57150" y="76200"/>
                  </a:lnTo>
                  <a:close/>
                </a:path>
              </a:pathLst>
            </a:custGeom>
            <a:solidFill>
              <a:srgbClr val="F1917D"/>
            </a:solidFill>
            <a:ln>
              <a:noFill/>
            </a:ln>
          </p:spPr>
        </p:sp>
        <p:sp>
          <p:nvSpPr>
            <p:cNvPr id="39" name="Rectangle 39"/>
            <p:cNvSpPr/>
            <p:nvPr/>
          </p:nvSpPr>
          <p:spPr>
            <a:xfrm>
              <a:off x="571500" y="3476625"/>
              <a:ext cx="3619500" cy="533400"/>
            </a:xfrm>
            <a:prstGeom prst="roundRect">
              <a:avLst>
                <a:gd name="adj" fmla="val 5357"/>
              </a:avLst>
            </a:prstGeom>
            <a:solidFill>
              <a:srgbClr val="EEF3FB"/>
            </a:solidFill>
            <a:ln>
              <a:noFill/>
            </a:ln>
          </p:spPr>
        </p:sp>
        <p:sp>
          <p:nvSpPr>
            <p:cNvPr id="40" name="Rectangle 40"/>
            <p:cNvSpPr/>
            <p:nvPr/>
          </p:nvSpPr>
          <p:spPr>
            <a:xfrm>
              <a:off x="571500" y="3476625"/>
              <a:ext cx="28575" cy="533400"/>
            </a:xfrm>
            <a:prstGeom prst="rect">
              <a:avLst/>
            </a:prstGeom>
            <a:solidFill>
              <a:srgbClr val="E74726"/>
            </a:solidFill>
            <a:ln>
              <a:noFill/>
            </a:ln>
          </p:spPr>
        </p:sp>
        <p:sp>
          <p:nvSpPr>
            <p:cNvPr id="41" name="TextBox 41"/>
            <p:cNvSpPr txBox="1"/>
            <p:nvPr/>
          </p:nvSpPr>
          <p:spPr>
            <a:xfrm>
              <a:off x="700088" y="355639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现状分析</a:t>
              </a:r>
            </a:p>
          </p:txBody>
        </p:sp>
        <p:sp>
          <p:nvSpPr>
            <p:cNvPr id="42" name="TextBox 42"/>
            <p:cNvSpPr txBox="1"/>
            <p:nvPr/>
          </p:nvSpPr>
          <p:spPr>
            <a:xfrm>
              <a:off x="700088" y="3797141"/>
              <a:ext cx="2984492"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 资源梳理　✓ 能力调研　✓ 客群分析　✓ 目标拆解​​​​​</a:t>
              </a:r>
            </a:p>
          </p:txBody>
        </p:sp>
        <p:sp>
          <p:nvSpPr>
            <p:cNvPr id="43" name="Rectangle 43"/>
            <p:cNvSpPr/>
            <p:nvPr/>
          </p:nvSpPr>
          <p:spPr>
            <a:xfrm>
              <a:off x="571500" y="4076700"/>
              <a:ext cx="3619500" cy="533400"/>
            </a:xfrm>
            <a:prstGeom prst="roundRect">
              <a:avLst>
                <a:gd name="adj" fmla="val 5357"/>
              </a:avLst>
            </a:prstGeom>
            <a:solidFill>
              <a:srgbClr val="EEF3FB"/>
            </a:solidFill>
            <a:ln>
              <a:noFill/>
            </a:ln>
          </p:spPr>
        </p:sp>
        <p:sp>
          <p:nvSpPr>
            <p:cNvPr id="44" name="Rectangle 44"/>
            <p:cNvSpPr/>
            <p:nvPr/>
          </p:nvSpPr>
          <p:spPr>
            <a:xfrm>
              <a:off x="571500" y="4076700"/>
              <a:ext cx="28575" cy="533400"/>
            </a:xfrm>
            <a:prstGeom prst="rect">
              <a:avLst/>
            </a:prstGeom>
            <a:solidFill>
              <a:srgbClr val="E74726"/>
            </a:solidFill>
            <a:ln>
              <a:noFill/>
            </a:ln>
          </p:spPr>
        </p:sp>
        <p:sp>
          <p:nvSpPr>
            <p:cNvPr id="45" name="TextBox 45"/>
            <p:cNvSpPr txBox="1"/>
            <p:nvPr/>
          </p:nvSpPr>
          <p:spPr>
            <a:xfrm>
              <a:off x="700088" y="4156472"/>
              <a:ext cx="768782"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直营体系搭建</a:t>
              </a:r>
            </a:p>
          </p:txBody>
        </p:sp>
        <p:sp>
          <p:nvSpPr>
            <p:cNvPr id="46" name="TextBox 46"/>
            <p:cNvSpPr txBox="1"/>
            <p:nvPr/>
          </p:nvSpPr>
          <p:spPr>
            <a:xfrm>
              <a:off x="700088" y="4397216"/>
              <a:ext cx="2984492"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 组织架构　✓ 小组分工　✓ 管理机制　✓ 责任划分​​​​​</a:t>
              </a:r>
            </a:p>
          </p:txBody>
        </p:sp>
        <p:sp>
          <p:nvSpPr>
            <p:cNvPr id="47" name="Rectangle 47"/>
            <p:cNvSpPr/>
            <p:nvPr/>
          </p:nvSpPr>
          <p:spPr>
            <a:xfrm>
              <a:off x="571500" y="4676775"/>
              <a:ext cx="3619500" cy="533400"/>
            </a:xfrm>
            <a:prstGeom prst="roundRect">
              <a:avLst>
                <a:gd name="adj" fmla="val 5357"/>
              </a:avLst>
            </a:prstGeom>
            <a:solidFill>
              <a:srgbClr val="EEF3FB"/>
            </a:solidFill>
            <a:ln>
              <a:noFill/>
            </a:ln>
          </p:spPr>
        </p:sp>
        <p:sp>
          <p:nvSpPr>
            <p:cNvPr id="48" name="Rectangle 48"/>
            <p:cNvSpPr/>
            <p:nvPr/>
          </p:nvSpPr>
          <p:spPr>
            <a:xfrm>
              <a:off x="571500" y="4676775"/>
              <a:ext cx="28575" cy="533400"/>
            </a:xfrm>
            <a:prstGeom prst="rect">
              <a:avLst/>
            </a:prstGeom>
            <a:solidFill>
              <a:srgbClr val="E74726"/>
            </a:solidFill>
            <a:ln>
              <a:noFill/>
            </a:ln>
          </p:spPr>
        </p:sp>
        <p:sp>
          <p:nvSpPr>
            <p:cNvPr id="49" name="TextBox 49"/>
            <p:cNvSpPr txBox="1"/>
            <p:nvPr/>
          </p:nvSpPr>
          <p:spPr>
            <a:xfrm>
              <a:off x="700088" y="4756547"/>
              <a:ext cx="119427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流程及SOP设计​​​​</a:t>
              </a:r>
            </a:p>
          </p:txBody>
        </p:sp>
        <p:sp>
          <p:nvSpPr>
            <p:cNvPr id="50" name="TextBox 50"/>
            <p:cNvSpPr txBox="1"/>
            <p:nvPr/>
          </p:nvSpPr>
          <p:spPr>
            <a:xfrm>
              <a:off x="700088" y="4997291"/>
              <a:ext cx="3424640"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 工作流程　✓ 1v1 SOP　✓ 朋友圈SOP　✓ 社群SOP​​​​​​​​​​</a:t>
              </a:r>
            </a:p>
          </p:txBody>
        </p:sp>
      </p:grpSp>
      <p:grpSp>
        <p:nvGrpSpPr>
          <p:cNvPr id="75" name="stage-train"/>
          <p:cNvGrpSpPr/>
          <p:nvPr/>
        </p:nvGrpSpPr>
        <p:grpSpPr>
          <a:xfrm>
            <a:off x="4381500" y="1381125"/>
            <a:ext cx="3619500" cy="3829050"/>
            <a:chOff x="4381500" y="1381125"/>
            <a:chExt cx="3619500" cy="3829050"/>
          </a:xfrm>
        </p:grpSpPr>
        <p:sp>
          <p:nvSpPr>
            <p:cNvPr id="52" name="Rectangle 52"/>
            <p:cNvSpPr/>
            <p:nvPr/>
          </p:nvSpPr>
          <p:spPr>
            <a:xfrm>
              <a:off x="4381500" y="1381125"/>
              <a:ext cx="3619500" cy="285750"/>
            </a:xfrm>
            <a:prstGeom prst="roundRect">
              <a:avLst>
                <a:gd name="adj" fmla="val 10000"/>
              </a:avLst>
            </a:prstGeom>
            <a:solidFill>
              <a:srgbClr val="E74726"/>
            </a:solidFill>
            <a:ln>
              <a:noFill/>
            </a:ln>
          </p:spPr>
        </p:sp>
        <p:sp>
          <p:nvSpPr>
            <p:cNvPr id="53" name="TextBox 53"/>
            <p:cNvSpPr txBox="1"/>
            <p:nvPr/>
          </p:nvSpPr>
          <p:spPr>
            <a:xfrm>
              <a:off x="5942838" y="1451610"/>
              <a:ext cx="4968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做培训</a:t>
              </a:r>
            </a:p>
          </p:txBody>
        </p:sp>
        <p:sp>
          <p:nvSpPr>
            <p:cNvPr id="54" name="Rectangle 54"/>
            <p:cNvSpPr/>
            <p:nvPr/>
          </p:nvSpPr>
          <p:spPr>
            <a:xfrm>
              <a:off x="4381500" y="1666875"/>
              <a:ext cx="3619500" cy="419100"/>
            </a:xfrm>
            <a:prstGeom prst="rect">
              <a:avLst/>
            </a:prstGeom>
            <a:solidFill>
              <a:srgbClr val="E7EFFC"/>
            </a:solidFill>
            <a:ln>
              <a:noFill/>
            </a:ln>
          </p:spPr>
        </p:sp>
        <p:sp>
          <p:nvSpPr>
            <p:cNvPr id="55" name="TextBox 55"/>
            <p:cNvSpPr txBox="1"/>
            <p:nvPr/>
          </p:nvSpPr>
          <p:spPr>
            <a:xfrm>
              <a:off x="5019484" y="1723549"/>
              <a:ext cx="2343531" cy="352616"/>
            </a:xfrm>
            <a:prstGeom prst="rect">
              <a:avLst/>
            </a:prstGeom>
            <a:noFill/>
            <a:ln>
              <a:noFill/>
            </a:ln>
          </p:spPr>
          <p:txBody>
            <a:bodyPr wrap="none" lIns="0" tIns="0" rIns="0" bIns="0" anchor="t" anchorCtr="0">
              <a:spAutoFit/>
            </a:bodyPr>
            <a:lstStyle/>
            <a:p>
              <a:pPr algn="ctr">
                <a:lnSpc>
                  <a:spcPts val="1275"/>
                </a:lnSpc>
              </a:pPr>
              <a:r>
                <a:rPr lang="zh-CN" sz="980" dirty="0">
                  <a:solidFill>
                    <a:srgbClr val="333333"/>
                  </a:solidFill>
                  <a:latin typeface="+mn-lt"/>
                  <a:ea typeface="+mn-ea"/>
                  <a:cs typeface="+mn-cs"/>
                </a:rPr>
                <a:t>让大家掌握</a:t>
              </a:r>
              <a:br/>
              <a:r>
                <a:rPr lang="zh-CN" sz="980" dirty="0">
                  <a:solidFill>
                    <a:srgbClr val="333333"/>
                  </a:solidFill>
                  <a:latin typeface="+mn-lt"/>
                  <a:ea typeface="+mn-ea"/>
                  <a:cs typeface="+mn-cs"/>
                </a:rPr>
                <a:t>“应该具备的工作技能技巧，实现会做”​​​</a:t>
              </a:r>
            </a:p>
          </p:txBody>
        </p:sp>
        <p:sp>
          <p:nvSpPr>
            <p:cNvPr id="56" name="Rectangle 56"/>
            <p:cNvSpPr/>
            <p:nvPr/>
          </p:nvSpPr>
          <p:spPr>
            <a:xfrm>
              <a:off x="4381500" y="2171700"/>
              <a:ext cx="3619500" cy="304800"/>
            </a:xfrm>
            <a:prstGeom prst="rect">
              <a:avLst/>
            </a:prstGeom>
            <a:solidFill>
              <a:srgbClr val="FFFFFF"/>
            </a:solidFill>
            <a:ln w="9525">
              <a:solidFill>
                <a:srgbClr val="F1917D"/>
              </a:solidFill>
              <a:custDash>
                <a:ds d="400000" sp="300000"/>
              </a:custDash>
            </a:ln>
          </p:spPr>
        </p:sp>
        <p:sp>
          <p:nvSpPr>
            <p:cNvPr id="57" name="TextBox 57"/>
            <p:cNvSpPr txBox="1"/>
            <p:nvPr/>
          </p:nvSpPr>
          <p:spPr>
            <a:xfrm>
              <a:off x="5156644" y="2274570"/>
              <a:ext cx="2069211"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通用能力：私域数字化运营与企微基础</a:t>
              </a:r>
            </a:p>
          </p:txBody>
        </p:sp>
        <p:sp>
          <p:nvSpPr>
            <p:cNvPr id="58" name="Rectangle 58"/>
            <p:cNvSpPr/>
            <p:nvPr/>
          </p:nvSpPr>
          <p:spPr>
            <a:xfrm>
              <a:off x="4381500" y="2552700"/>
              <a:ext cx="3619500" cy="304800"/>
            </a:xfrm>
            <a:prstGeom prst="rect">
              <a:avLst/>
            </a:prstGeom>
            <a:solidFill>
              <a:srgbClr val="FFFFFF"/>
            </a:solidFill>
            <a:ln w="9525">
              <a:solidFill>
                <a:srgbClr val="F1917D"/>
              </a:solidFill>
              <a:custDash>
                <a:ds d="400000" sp="300000"/>
              </a:custDash>
            </a:ln>
          </p:spPr>
        </p:sp>
        <p:sp>
          <p:nvSpPr>
            <p:cNvPr id="59" name="TextBox 59"/>
            <p:cNvSpPr txBox="1"/>
            <p:nvPr/>
          </p:nvSpPr>
          <p:spPr>
            <a:xfrm>
              <a:off x="4793170" y="2655570"/>
              <a:ext cx="279615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长尾客群运营能力：用户运营、渠道运营、数据运营</a:t>
              </a:r>
            </a:p>
          </p:txBody>
        </p:sp>
        <p:sp>
          <p:nvSpPr>
            <p:cNvPr id="60" name="Rectangle 60"/>
            <p:cNvSpPr/>
            <p:nvPr/>
          </p:nvSpPr>
          <p:spPr>
            <a:xfrm>
              <a:off x="4381500" y="2933700"/>
              <a:ext cx="3619500" cy="304800"/>
            </a:xfrm>
            <a:prstGeom prst="rect">
              <a:avLst/>
            </a:prstGeom>
            <a:solidFill>
              <a:srgbClr val="FFFFFF"/>
            </a:solidFill>
            <a:ln w="9525">
              <a:solidFill>
                <a:srgbClr val="F1917D"/>
              </a:solidFill>
              <a:custDash>
                <a:ds d="400000" sp="300000"/>
              </a:custDash>
            </a:ln>
          </p:spPr>
        </p:sp>
        <p:sp>
          <p:nvSpPr>
            <p:cNvPr id="61" name="TextBox 61"/>
            <p:cNvSpPr txBox="1"/>
            <p:nvPr/>
          </p:nvSpPr>
          <p:spPr>
            <a:xfrm>
              <a:off x="4793170" y="3036570"/>
              <a:ext cx="279615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长尾客群营销能力：内容营销、活动营销、合规规范</a:t>
              </a:r>
            </a:p>
          </p:txBody>
        </p:sp>
        <p:sp>
          <p:nvSpPr>
            <p:cNvPr id="62" name="Polygon 62"/>
            <p:cNvSpPr/>
            <p:nvPr/>
          </p:nvSpPr>
          <p:spPr>
            <a:xfrm>
              <a:off x="6134100" y="3314700"/>
              <a:ext cx="114300" cy="76200"/>
            </a:xfrm>
            <a:custGeom>
              <a:avLst/>
              <a:gdLst/>
              <a:ahLst/>
              <a:cxnLst/>
              <a:rect l="l" t="t" r="r" b="b"/>
              <a:pathLst>
                <a:path w="114300" h="76200">
                  <a:moveTo>
                    <a:pt x="0" y="0"/>
                  </a:moveTo>
                  <a:lnTo>
                    <a:pt x="114300" y="0"/>
                  </a:lnTo>
                  <a:lnTo>
                    <a:pt x="57150" y="76200"/>
                  </a:lnTo>
                  <a:close/>
                </a:path>
              </a:pathLst>
            </a:custGeom>
            <a:solidFill>
              <a:srgbClr val="F1917D"/>
            </a:solidFill>
            <a:ln>
              <a:noFill/>
            </a:ln>
          </p:spPr>
        </p:sp>
        <p:sp>
          <p:nvSpPr>
            <p:cNvPr id="63" name="Rectangle 63"/>
            <p:cNvSpPr/>
            <p:nvPr/>
          </p:nvSpPr>
          <p:spPr>
            <a:xfrm>
              <a:off x="4381500" y="3476625"/>
              <a:ext cx="3619500" cy="533400"/>
            </a:xfrm>
            <a:prstGeom prst="roundRect">
              <a:avLst>
                <a:gd name="adj" fmla="val 5357"/>
              </a:avLst>
            </a:prstGeom>
            <a:solidFill>
              <a:srgbClr val="EEF3FB"/>
            </a:solidFill>
            <a:ln>
              <a:noFill/>
            </a:ln>
          </p:spPr>
        </p:sp>
        <p:sp>
          <p:nvSpPr>
            <p:cNvPr id="64" name="Rectangle 64"/>
            <p:cNvSpPr/>
            <p:nvPr/>
          </p:nvSpPr>
          <p:spPr>
            <a:xfrm>
              <a:off x="4381500" y="3476625"/>
              <a:ext cx="28575" cy="533400"/>
            </a:xfrm>
            <a:prstGeom prst="rect">
              <a:avLst/>
            </a:prstGeom>
            <a:solidFill>
              <a:srgbClr val="E74726"/>
            </a:solidFill>
            <a:ln>
              <a:noFill/>
            </a:ln>
          </p:spPr>
        </p:sp>
        <p:sp>
          <p:nvSpPr>
            <p:cNvPr id="65" name="TextBox 65"/>
            <p:cNvSpPr txBox="1"/>
            <p:nvPr/>
          </p:nvSpPr>
          <p:spPr>
            <a:xfrm>
              <a:off x="4510088" y="355639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能力拆解</a:t>
              </a:r>
            </a:p>
          </p:txBody>
        </p:sp>
        <p:sp>
          <p:nvSpPr>
            <p:cNvPr id="66" name="TextBox 66"/>
            <p:cNvSpPr txBox="1"/>
            <p:nvPr/>
          </p:nvSpPr>
          <p:spPr>
            <a:xfrm>
              <a:off x="4510088" y="3797141"/>
              <a:ext cx="3111439"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 通用能力　✓ 长尾客群运营能力　✓ 长尾客群营销能力​​​​</a:t>
              </a:r>
            </a:p>
          </p:txBody>
        </p:sp>
        <p:sp>
          <p:nvSpPr>
            <p:cNvPr id="67" name="Rectangle 67"/>
            <p:cNvSpPr/>
            <p:nvPr/>
          </p:nvSpPr>
          <p:spPr>
            <a:xfrm>
              <a:off x="4381500" y="4076700"/>
              <a:ext cx="3619500" cy="533400"/>
            </a:xfrm>
            <a:prstGeom prst="roundRect">
              <a:avLst>
                <a:gd name="adj" fmla="val 5357"/>
              </a:avLst>
            </a:prstGeom>
            <a:solidFill>
              <a:srgbClr val="EEF3FB"/>
            </a:solidFill>
            <a:ln>
              <a:noFill/>
            </a:ln>
          </p:spPr>
        </p:sp>
        <p:sp>
          <p:nvSpPr>
            <p:cNvPr id="68" name="Rectangle 68"/>
            <p:cNvSpPr/>
            <p:nvPr/>
          </p:nvSpPr>
          <p:spPr>
            <a:xfrm>
              <a:off x="4381500" y="4076700"/>
              <a:ext cx="28575" cy="533400"/>
            </a:xfrm>
            <a:prstGeom prst="rect">
              <a:avLst/>
            </a:prstGeom>
            <a:solidFill>
              <a:srgbClr val="E74726"/>
            </a:solidFill>
            <a:ln>
              <a:noFill/>
            </a:ln>
          </p:spPr>
        </p:sp>
        <p:sp>
          <p:nvSpPr>
            <p:cNvPr id="69" name="TextBox 69"/>
            <p:cNvSpPr txBox="1"/>
            <p:nvPr/>
          </p:nvSpPr>
          <p:spPr>
            <a:xfrm>
              <a:off x="4510088" y="4156472"/>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培训教学</a:t>
              </a:r>
            </a:p>
          </p:txBody>
        </p:sp>
        <p:sp>
          <p:nvSpPr>
            <p:cNvPr id="70" name="TextBox 70"/>
            <p:cNvSpPr txBox="1"/>
            <p:nvPr/>
          </p:nvSpPr>
          <p:spPr>
            <a:xfrm>
              <a:off x="4510088" y="4397216"/>
              <a:ext cx="2984492"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 分组教学　✓ 场景练习　✓ 能力测试　✓ 实操练习​​​​​</a:t>
              </a:r>
            </a:p>
          </p:txBody>
        </p:sp>
        <p:sp>
          <p:nvSpPr>
            <p:cNvPr id="71" name="Rectangle 71"/>
            <p:cNvSpPr/>
            <p:nvPr/>
          </p:nvSpPr>
          <p:spPr>
            <a:xfrm>
              <a:off x="4381500" y="4676775"/>
              <a:ext cx="3619500" cy="533400"/>
            </a:xfrm>
            <a:prstGeom prst="roundRect">
              <a:avLst>
                <a:gd name="adj" fmla="val 5357"/>
              </a:avLst>
            </a:prstGeom>
            <a:solidFill>
              <a:srgbClr val="EEF3FB"/>
            </a:solidFill>
            <a:ln>
              <a:noFill/>
            </a:ln>
          </p:spPr>
        </p:sp>
        <p:sp>
          <p:nvSpPr>
            <p:cNvPr id="72" name="Rectangle 72"/>
            <p:cNvSpPr/>
            <p:nvPr/>
          </p:nvSpPr>
          <p:spPr>
            <a:xfrm>
              <a:off x="4381500" y="4676775"/>
              <a:ext cx="28575" cy="533400"/>
            </a:xfrm>
            <a:prstGeom prst="rect">
              <a:avLst/>
            </a:prstGeom>
            <a:solidFill>
              <a:srgbClr val="E74726"/>
            </a:solidFill>
            <a:ln>
              <a:noFill/>
            </a:ln>
          </p:spPr>
        </p:sp>
        <p:sp>
          <p:nvSpPr>
            <p:cNvPr id="73" name="TextBox 73"/>
            <p:cNvSpPr txBox="1"/>
            <p:nvPr/>
          </p:nvSpPr>
          <p:spPr>
            <a:xfrm>
              <a:off x="4510088" y="475654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答疑提升</a:t>
              </a:r>
            </a:p>
          </p:txBody>
        </p:sp>
        <p:sp>
          <p:nvSpPr>
            <p:cNvPr id="74" name="TextBox 74"/>
            <p:cNvSpPr txBox="1"/>
            <p:nvPr/>
          </p:nvSpPr>
          <p:spPr>
            <a:xfrm>
              <a:off x="4510088" y="4997291"/>
              <a:ext cx="2952730"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 问题答疑　✓ 优秀案例　✓ 场景PK　✓ 反馈提升​​​​​​</a:t>
              </a:r>
            </a:p>
          </p:txBody>
        </p:sp>
      </p:grpSp>
      <p:grpSp>
        <p:nvGrpSpPr>
          <p:cNvPr id="99" name="stage-coach"/>
          <p:cNvGrpSpPr/>
          <p:nvPr/>
        </p:nvGrpSpPr>
        <p:grpSpPr>
          <a:xfrm>
            <a:off x="8191500" y="1381125"/>
            <a:ext cx="3619500" cy="3829050"/>
            <a:chOff x="8191500" y="1381125"/>
            <a:chExt cx="3619500" cy="3829050"/>
          </a:xfrm>
        </p:grpSpPr>
        <p:sp>
          <p:nvSpPr>
            <p:cNvPr id="76" name="Rectangle 76"/>
            <p:cNvSpPr/>
            <p:nvPr/>
          </p:nvSpPr>
          <p:spPr>
            <a:xfrm>
              <a:off x="8191500" y="1381125"/>
              <a:ext cx="3619500" cy="285750"/>
            </a:xfrm>
            <a:prstGeom prst="roundRect">
              <a:avLst>
                <a:gd name="adj" fmla="val 10000"/>
              </a:avLst>
            </a:prstGeom>
            <a:solidFill>
              <a:srgbClr val="E74726"/>
            </a:solidFill>
            <a:ln>
              <a:noFill/>
            </a:ln>
          </p:spPr>
        </p:sp>
        <p:sp>
          <p:nvSpPr>
            <p:cNvPr id="77" name="TextBox 77"/>
            <p:cNvSpPr txBox="1"/>
            <p:nvPr/>
          </p:nvSpPr>
          <p:spPr>
            <a:xfrm>
              <a:off x="9752838" y="1451610"/>
              <a:ext cx="4968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做陪跑</a:t>
              </a:r>
            </a:p>
          </p:txBody>
        </p:sp>
        <p:sp>
          <p:nvSpPr>
            <p:cNvPr id="78" name="Rectangle 78"/>
            <p:cNvSpPr/>
            <p:nvPr/>
          </p:nvSpPr>
          <p:spPr>
            <a:xfrm>
              <a:off x="8191500" y="1666875"/>
              <a:ext cx="3619500" cy="419100"/>
            </a:xfrm>
            <a:prstGeom prst="rect">
              <a:avLst/>
            </a:prstGeom>
            <a:solidFill>
              <a:srgbClr val="E7EFFC"/>
            </a:solidFill>
            <a:ln>
              <a:noFill/>
            </a:ln>
          </p:spPr>
        </p:sp>
        <p:sp>
          <p:nvSpPr>
            <p:cNvPr id="79" name="TextBox 79"/>
            <p:cNvSpPr txBox="1"/>
            <p:nvPr/>
          </p:nvSpPr>
          <p:spPr>
            <a:xfrm>
              <a:off x="8953944" y="1723549"/>
              <a:ext cx="2094611" cy="352616"/>
            </a:xfrm>
            <a:prstGeom prst="rect">
              <a:avLst/>
            </a:prstGeom>
            <a:noFill/>
            <a:ln>
              <a:noFill/>
            </a:ln>
          </p:spPr>
          <p:txBody>
            <a:bodyPr wrap="none" lIns="0" tIns="0" rIns="0" bIns="0" anchor="t" anchorCtr="0">
              <a:spAutoFit/>
            </a:bodyPr>
            <a:lstStyle/>
            <a:p>
              <a:pPr algn="ctr">
                <a:lnSpc>
                  <a:spcPts val="1275"/>
                </a:lnSpc>
              </a:pPr>
              <a:r>
                <a:rPr lang="zh-CN" sz="980" dirty="0">
                  <a:solidFill>
                    <a:srgbClr val="333333"/>
                  </a:solidFill>
                  <a:latin typeface="+mn-lt"/>
                  <a:ea typeface="+mn-ea"/>
                  <a:cs typeface="+mn-cs"/>
                </a:rPr>
                <a:t>让大家在实践中落实</a:t>
              </a:r>
              <a:br/>
              <a:r>
                <a:rPr lang="zh-CN" sz="980" dirty="0">
                  <a:solidFill>
                    <a:srgbClr val="333333"/>
                  </a:solidFill>
                  <a:latin typeface="+mn-lt"/>
                  <a:ea typeface="+mn-ea"/>
                  <a:cs typeface="+mn-cs"/>
                </a:rPr>
                <a:t>“专职工作和协同作业，实现做好”​​​</a:t>
              </a:r>
            </a:p>
          </p:txBody>
        </p:sp>
        <p:sp>
          <p:nvSpPr>
            <p:cNvPr id="80" name="Rectangle 80"/>
            <p:cNvSpPr/>
            <p:nvPr/>
          </p:nvSpPr>
          <p:spPr>
            <a:xfrm>
              <a:off x="8191500" y="2171700"/>
              <a:ext cx="3619500" cy="304800"/>
            </a:xfrm>
            <a:prstGeom prst="rect">
              <a:avLst/>
            </a:prstGeom>
            <a:solidFill>
              <a:srgbClr val="FFFFFF"/>
            </a:solidFill>
            <a:ln w="9525">
              <a:solidFill>
                <a:srgbClr val="F1917D"/>
              </a:solidFill>
              <a:custDash>
                <a:ds d="400000" sp="300000"/>
              </a:custDash>
            </a:ln>
          </p:spPr>
        </p:sp>
        <p:sp>
          <p:nvSpPr>
            <p:cNvPr id="81" name="TextBox 81"/>
            <p:cNvSpPr txBox="1"/>
            <p:nvPr/>
          </p:nvSpPr>
          <p:spPr>
            <a:xfrm>
              <a:off x="9633014" y="2274570"/>
              <a:ext cx="73647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机制落地执行</a:t>
              </a:r>
            </a:p>
          </p:txBody>
        </p:sp>
        <p:sp>
          <p:nvSpPr>
            <p:cNvPr id="82" name="Rectangle 82"/>
            <p:cNvSpPr/>
            <p:nvPr/>
          </p:nvSpPr>
          <p:spPr>
            <a:xfrm>
              <a:off x="8191500" y="2552700"/>
              <a:ext cx="3619500" cy="304800"/>
            </a:xfrm>
            <a:prstGeom prst="rect">
              <a:avLst/>
            </a:prstGeom>
            <a:solidFill>
              <a:srgbClr val="FFFFFF"/>
            </a:solidFill>
            <a:ln w="9525">
              <a:solidFill>
                <a:srgbClr val="F1917D"/>
              </a:solidFill>
              <a:custDash>
                <a:ds d="400000" sp="300000"/>
              </a:custDash>
            </a:ln>
          </p:spPr>
        </p:sp>
        <p:sp>
          <p:nvSpPr>
            <p:cNvPr id="83" name="TextBox 83"/>
            <p:cNvSpPr txBox="1"/>
            <p:nvPr/>
          </p:nvSpPr>
          <p:spPr>
            <a:xfrm>
              <a:off x="9572434" y="2655570"/>
              <a:ext cx="857631"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问题识别与反馈</a:t>
              </a:r>
            </a:p>
          </p:txBody>
        </p:sp>
        <p:sp>
          <p:nvSpPr>
            <p:cNvPr id="84" name="Rectangle 84"/>
            <p:cNvSpPr/>
            <p:nvPr/>
          </p:nvSpPr>
          <p:spPr>
            <a:xfrm>
              <a:off x="8191500" y="2933700"/>
              <a:ext cx="3619500" cy="304800"/>
            </a:xfrm>
            <a:prstGeom prst="rect">
              <a:avLst/>
            </a:prstGeom>
            <a:solidFill>
              <a:srgbClr val="FFFFFF"/>
            </a:solidFill>
            <a:ln w="9525">
              <a:solidFill>
                <a:srgbClr val="F1917D"/>
              </a:solidFill>
              <a:custDash>
                <a:ds d="400000" sp="300000"/>
              </a:custDash>
            </a:ln>
          </p:spPr>
        </p:sp>
        <p:sp>
          <p:nvSpPr>
            <p:cNvPr id="85" name="TextBox 85"/>
            <p:cNvSpPr txBox="1"/>
            <p:nvPr/>
          </p:nvSpPr>
          <p:spPr>
            <a:xfrm>
              <a:off x="9324061" y="3036570"/>
              <a:ext cx="1354379"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迭代优化方案&amp;成果固化​</a:t>
              </a:r>
            </a:p>
          </p:txBody>
        </p:sp>
        <p:sp>
          <p:nvSpPr>
            <p:cNvPr id="86" name="Polygon 86"/>
            <p:cNvSpPr/>
            <p:nvPr/>
          </p:nvSpPr>
          <p:spPr>
            <a:xfrm>
              <a:off x="9944100" y="3314700"/>
              <a:ext cx="114300" cy="76200"/>
            </a:xfrm>
            <a:custGeom>
              <a:avLst/>
              <a:gdLst/>
              <a:ahLst/>
              <a:cxnLst/>
              <a:rect l="l" t="t" r="r" b="b"/>
              <a:pathLst>
                <a:path w="114300" h="76200">
                  <a:moveTo>
                    <a:pt x="0" y="0"/>
                  </a:moveTo>
                  <a:lnTo>
                    <a:pt x="114300" y="0"/>
                  </a:lnTo>
                  <a:lnTo>
                    <a:pt x="57150" y="76200"/>
                  </a:lnTo>
                  <a:close/>
                </a:path>
              </a:pathLst>
            </a:custGeom>
            <a:solidFill>
              <a:srgbClr val="F1917D"/>
            </a:solidFill>
            <a:ln>
              <a:noFill/>
            </a:ln>
          </p:spPr>
        </p:sp>
        <p:sp>
          <p:nvSpPr>
            <p:cNvPr id="87" name="Rectangle 87"/>
            <p:cNvSpPr/>
            <p:nvPr/>
          </p:nvSpPr>
          <p:spPr>
            <a:xfrm>
              <a:off x="8191500" y="3476625"/>
              <a:ext cx="3619500" cy="533400"/>
            </a:xfrm>
            <a:prstGeom prst="roundRect">
              <a:avLst>
                <a:gd name="adj" fmla="val 5357"/>
              </a:avLst>
            </a:prstGeom>
            <a:solidFill>
              <a:srgbClr val="EEF3FB"/>
            </a:solidFill>
            <a:ln>
              <a:noFill/>
            </a:ln>
          </p:spPr>
        </p:sp>
        <p:sp>
          <p:nvSpPr>
            <p:cNvPr id="88" name="Rectangle 88"/>
            <p:cNvSpPr/>
            <p:nvPr/>
          </p:nvSpPr>
          <p:spPr>
            <a:xfrm>
              <a:off x="8191500" y="3476625"/>
              <a:ext cx="28575" cy="533400"/>
            </a:xfrm>
            <a:prstGeom prst="rect">
              <a:avLst/>
            </a:prstGeom>
            <a:solidFill>
              <a:srgbClr val="E74726"/>
            </a:solidFill>
            <a:ln>
              <a:noFill/>
            </a:ln>
          </p:spPr>
        </p:sp>
        <p:sp>
          <p:nvSpPr>
            <p:cNvPr id="89" name="TextBox 89"/>
            <p:cNvSpPr txBox="1"/>
            <p:nvPr/>
          </p:nvSpPr>
          <p:spPr>
            <a:xfrm>
              <a:off x="8320088" y="355639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客群运营</a:t>
              </a:r>
            </a:p>
          </p:txBody>
        </p:sp>
        <p:sp>
          <p:nvSpPr>
            <p:cNvPr id="90" name="TextBox 90"/>
            <p:cNvSpPr txBox="1"/>
            <p:nvPr/>
          </p:nvSpPr>
          <p:spPr>
            <a:xfrm>
              <a:off x="8320088" y="3797141"/>
              <a:ext cx="2984492"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 客群分析　✓ 策略设计　✓ 营销物料　✓ 策略落地​​​​​</a:t>
              </a:r>
            </a:p>
          </p:txBody>
        </p:sp>
        <p:sp>
          <p:nvSpPr>
            <p:cNvPr id="91" name="Rectangle 91"/>
            <p:cNvSpPr/>
            <p:nvPr/>
          </p:nvSpPr>
          <p:spPr>
            <a:xfrm>
              <a:off x="8191500" y="4076700"/>
              <a:ext cx="3619500" cy="533400"/>
            </a:xfrm>
            <a:prstGeom prst="roundRect">
              <a:avLst>
                <a:gd name="adj" fmla="val 5357"/>
              </a:avLst>
            </a:prstGeom>
            <a:solidFill>
              <a:srgbClr val="EEF3FB"/>
            </a:solidFill>
            <a:ln>
              <a:noFill/>
            </a:ln>
          </p:spPr>
        </p:sp>
        <p:sp>
          <p:nvSpPr>
            <p:cNvPr id="92" name="Rectangle 92"/>
            <p:cNvSpPr/>
            <p:nvPr/>
          </p:nvSpPr>
          <p:spPr>
            <a:xfrm>
              <a:off x="8191500" y="4076700"/>
              <a:ext cx="28575" cy="533400"/>
            </a:xfrm>
            <a:prstGeom prst="rect">
              <a:avLst/>
            </a:prstGeom>
            <a:solidFill>
              <a:srgbClr val="E74726"/>
            </a:solidFill>
            <a:ln>
              <a:noFill/>
            </a:ln>
          </p:spPr>
        </p:sp>
        <p:sp>
          <p:nvSpPr>
            <p:cNvPr id="93" name="TextBox 93"/>
            <p:cNvSpPr txBox="1"/>
            <p:nvPr/>
          </p:nvSpPr>
          <p:spPr>
            <a:xfrm>
              <a:off x="8320088" y="4156472"/>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企微运营</a:t>
              </a:r>
            </a:p>
          </p:txBody>
        </p:sp>
        <p:sp>
          <p:nvSpPr>
            <p:cNvPr id="94" name="TextBox 94"/>
            <p:cNvSpPr txBox="1"/>
            <p:nvPr/>
          </p:nvSpPr>
          <p:spPr>
            <a:xfrm>
              <a:off x="8320088" y="4397216"/>
              <a:ext cx="2896702"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 全流程带教　✓ 账号体系搭建　✓ 运营SOP带教​​​​​​</a:t>
              </a:r>
            </a:p>
          </p:txBody>
        </p:sp>
        <p:sp>
          <p:nvSpPr>
            <p:cNvPr id="95" name="Rectangle 95"/>
            <p:cNvSpPr/>
            <p:nvPr/>
          </p:nvSpPr>
          <p:spPr>
            <a:xfrm>
              <a:off x="8191500" y="4676775"/>
              <a:ext cx="3619500" cy="533400"/>
            </a:xfrm>
            <a:prstGeom prst="roundRect">
              <a:avLst>
                <a:gd name="adj" fmla="val 5357"/>
              </a:avLst>
            </a:prstGeom>
            <a:solidFill>
              <a:srgbClr val="EEF3FB"/>
            </a:solidFill>
            <a:ln>
              <a:noFill/>
            </a:ln>
          </p:spPr>
        </p:sp>
        <p:sp>
          <p:nvSpPr>
            <p:cNvPr id="96" name="Rectangle 96"/>
            <p:cNvSpPr/>
            <p:nvPr/>
          </p:nvSpPr>
          <p:spPr>
            <a:xfrm>
              <a:off x="8191500" y="4676775"/>
              <a:ext cx="28575" cy="533400"/>
            </a:xfrm>
            <a:prstGeom prst="rect">
              <a:avLst/>
            </a:prstGeom>
            <a:solidFill>
              <a:srgbClr val="E74726"/>
            </a:solidFill>
            <a:ln>
              <a:noFill/>
            </a:ln>
          </p:spPr>
        </p:sp>
        <p:sp>
          <p:nvSpPr>
            <p:cNvPr id="97" name="TextBox 97"/>
            <p:cNvSpPr txBox="1"/>
            <p:nvPr/>
          </p:nvSpPr>
          <p:spPr>
            <a:xfrm>
              <a:off x="8320088" y="4756547"/>
              <a:ext cx="515696" cy="183356"/>
            </a:xfrm>
            <a:prstGeom prst="rect">
              <a:avLst/>
            </a:prstGeom>
            <a:noFill/>
            <a:ln>
              <a:noFill/>
            </a:ln>
          </p:spPr>
          <p:txBody>
            <a:bodyPr wrap="none" lIns="0" tIns="0" rIns="0" bIns="0" anchor="t" anchorCtr="0">
              <a:spAutoFit/>
            </a:bodyPr>
            <a:lstStyle/>
            <a:p>
              <a:pPr algn="l"/>
              <a:r>
                <a:rPr lang="zh-CN" sz="940" b="1" dirty="0">
                  <a:solidFill>
                    <a:srgbClr val="E74726"/>
                  </a:solidFill>
                  <a:latin typeface="+mn-lt"/>
                  <a:ea typeface="+mn-ea"/>
                  <a:cs typeface="+mn-cs"/>
                </a:rPr>
                <a:t>迭代优化</a:t>
              </a:r>
            </a:p>
          </p:txBody>
        </p:sp>
        <p:sp>
          <p:nvSpPr>
            <p:cNvPr id="98" name="TextBox 98"/>
            <p:cNvSpPr txBox="1"/>
            <p:nvPr/>
          </p:nvSpPr>
          <p:spPr>
            <a:xfrm>
              <a:off x="8320088" y="4997291"/>
              <a:ext cx="2984492"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 策略迭代　✓ 话术积累　✓ 答疑解惑　✓ 问题识别​​​​​</a:t>
              </a:r>
            </a:p>
          </p:txBody>
        </p:sp>
      </p:grpSp>
      <p:grpSp>
        <p:nvGrpSpPr>
          <p:cNvPr id="102" name="focus-label"/>
          <p:cNvGrpSpPr/>
          <p:nvPr/>
        </p:nvGrpSpPr>
        <p:grpSpPr>
          <a:xfrm>
            <a:off x="171450" y="3429000"/>
            <a:ext cx="285750" cy="1809750"/>
            <a:chOff x="171450" y="3429000"/>
            <a:chExt cx="285750" cy="1809750"/>
          </a:xfrm>
        </p:grpSpPr>
        <p:sp>
          <p:nvSpPr>
            <p:cNvPr id="100" name="Rectangle 100"/>
            <p:cNvSpPr/>
            <p:nvPr/>
          </p:nvSpPr>
          <p:spPr>
            <a:xfrm>
              <a:off x="171450" y="3429000"/>
              <a:ext cx="285750" cy="1809750"/>
            </a:xfrm>
            <a:prstGeom prst="roundRect">
              <a:avLst>
                <a:gd name="adj" fmla="val 20000"/>
              </a:avLst>
            </a:prstGeom>
            <a:solidFill>
              <a:srgbClr val="F2F2F2"/>
            </a:solidFill>
            <a:ln w="9525">
              <a:solidFill>
                <a:srgbClr val="DDDDDD"/>
              </a:solidFill>
            </a:ln>
          </p:spPr>
        </p:sp>
        <p:sp>
          <p:nvSpPr>
            <p:cNvPr id="101" name="TextBox 101"/>
            <p:cNvSpPr txBox="1"/>
            <p:nvPr/>
          </p:nvSpPr>
          <p:spPr>
            <a:xfrm>
              <a:off x="205645" y="3906202"/>
              <a:ext cx="217361" cy="834009"/>
            </a:xfrm>
            <a:prstGeom prst="rect">
              <a:avLst/>
            </a:prstGeom>
            <a:noFill/>
            <a:ln>
              <a:noFill/>
            </a:ln>
          </p:spPr>
          <p:txBody>
            <a:bodyPr wrap="none" lIns="0" tIns="0" rIns="0" bIns="0" anchor="t" anchorCtr="0">
              <a:spAutoFit/>
            </a:bodyPr>
            <a:lstStyle/>
            <a:p>
              <a:pPr algn="ctr">
                <a:lnSpc>
                  <a:spcPts val="1650"/>
                </a:lnSpc>
              </a:pPr>
              <a:r>
                <a:rPr lang="zh-CN" sz="1050" dirty="0">
                  <a:solidFill>
                    <a:srgbClr val="333333"/>
                  </a:solidFill>
                  <a:latin typeface="+mn-lt"/>
                  <a:ea typeface="+mn-ea"/>
                  <a:cs typeface="+mn-cs"/>
                </a:rPr>
                <a:t>工​</a:t>
              </a:r>
              <a:br/>
              <a:r>
                <a:rPr lang="zh-CN" sz="1050" dirty="0">
                  <a:solidFill>
                    <a:srgbClr val="333333"/>
                  </a:solidFill>
                  <a:latin typeface="+mn-lt"/>
                  <a:ea typeface="+mn-ea"/>
                  <a:cs typeface="+mn-cs"/>
                </a:rPr>
                <a:t>作​</a:t>
              </a:r>
              <a:br/>
              <a:r>
                <a:rPr lang="zh-CN" sz="1050" dirty="0">
                  <a:solidFill>
                    <a:srgbClr val="333333"/>
                  </a:solidFill>
                  <a:latin typeface="+mn-lt"/>
                  <a:ea typeface="+mn-ea"/>
                  <a:cs typeface="+mn-cs"/>
                </a:rPr>
                <a:t>重​</a:t>
              </a:r>
              <a:br/>
              <a:r>
                <a:rPr lang="zh-CN" sz="1050" dirty="0">
                  <a:solidFill>
                    <a:srgbClr val="333333"/>
                  </a:solidFill>
                  <a:latin typeface="+mn-lt"/>
                  <a:ea typeface="+mn-ea"/>
                  <a:cs typeface="+mn-cs"/>
                </a:rPr>
                <a:t>点​</a:t>
              </a:r>
            </a:p>
          </p:txBody>
        </p:sp>
      </p:grpSp>
      <p:grpSp>
        <p:nvGrpSpPr>
          <p:cNvPr id="105" name="summary"/>
          <p:cNvGrpSpPr/>
          <p:nvPr/>
        </p:nvGrpSpPr>
        <p:grpSpPr>
          <a:xfrm>
            <a:off x="381000" y="5372100"/>
            <a:ext cx="11430000" cy="628650"/>
            <a:chOff x="381000" y="5372100"/>
            <a:chExt cx="11430000" cy="628650"/>
          </a:xfrm>
        </p:grpSpPr>
        <p:sp>
          <p:nvSpPr>
            <p:cNvPr id="103" name="Rectangle 103"/>
            <p:cNvSpPr/>
            <p:nvPr/>
          </p:nvSpPr>
          <p:spPr>
            <a:xfrm>
              <a:off x="381000" y="5372100"/>
              <a:ext cx="11430000" cy="628650"/>
            </a:xfrm>
            <a:prstGeom prst="roundRect">
              <a:avLst>
                <a:gd name="adj" fmla="val 9091"/>
              </a:avLst>
            </a:prstGeom>
            <a:solidFill>
              <a:srgbClr val="FFFFFF"/>
            </a:solidFill>
            <a:ln w="14288">
              <a:solidFill>
                <a:srgbClr val="D4E2FA"/>
              </a:solidFill>
            </a:ln>
          </p:spPr>
        </p:sp>
        <p:sp>
          <p:nvSpPr>
            <p:cNvPr id="104" name="TextBox 104"/>
            <p:cNvSpPr txBox="1"/>
            <p:nvPr/>
          </p:nvSpPr>
          <p:spPr>
            <a:xfrm>
              <a:off x="528066" y="5506402"/>
              <a:ext cx="7964996" cy="433959"/>
            </a:xfrm>
            <a:prstGeom prst="rect">
              <a:avLst/>
            </a:prstGeom>
            <a:noFill/>
            <a:ln>
              <a:noFill/>
            </a:ln>
          </p:spPr>
          <p:txBody>
            <a:bodyPr wrap="none" lIns="0" tIns="0" rIns="0" bIns="0" anchor="t" anchorCtr="0">
              <a:spAutoFit/>
            </a:bodyPr>
            <a:lstStyle/>
            <a:p>
              <a:pPr algn="l">
                <a:lnSpc>
                  <a:spcPts val="1800"/>
                </a:lnSpc>
              </a:pPr>
              <a:r>
                <a:rPr lang="zh-CN" sz="1050" dirty="0">
                  <a:solidFill>
                    <a:srgbClr val="333333"/>
                  </a:solidFill>
                  <a:latin typeface="+mn-lt"/>
                  <a:ea typeface="+mn-ea"/>
                  <a:cs typeface="+mn-cs"/>
                </a:rPr>
                <a:t>通过“体系设计 + 能力培训 + 运营陪跑”全周期赋能，</a:t>
              </a:r>
              <a:r>
                <a:rPr lang="zh-CN" sz="1050" dirty="0">
                  <a:solidFill>
                    <a:srgbClr val="E74726"/>
                  </a:solidFill>
                  <a:latin typeface="+mn-lt"/>
                  <a:ea typeface="+mn-ea"/>
                  <a:cs typeface="+mn-cs"/>
                </a:rPr>
                <a:t>协助银行从0到1搭建基于企微的长尾客群直营体系</a:t>
              </a:r>
              <a:r>
                <a:rPr lang="zh-CN" sz="1050" dirty="0">
                  <a:solidFill>
                    <a:srgbClr val="333333"/>
                  </a:solidFill>
                  <a:latin typeface="+mn-lt"/>
                  <a:ea typeface="+mn-ea"/>
                  <a:cs typeface="+mn-cs"/>
                </a:rPr>
                <a:t>，​​​​​​</a:t>
              </a:r>
              <a:br/>
              <a:r>
                <a:rPr lang="zh-CN" sz="1050" dirty="0">
                  <a:solidFill>
                    <a:srgbClr val="333333"/>
                  </a:solidFill>
                  <a:latin typeface="+mn-lt"/>
                  <a:ea typeface="+mn-ea"/>
                  <a:cs typeface="+mn-cs"/>
                </a:rPr>
                <a:t>重点提升直营团队在工具使用、岗位技能、业务转化与跨团队协同等方面的核心能力，切实提升长尾客户经营效率与客群整体价值。​​​</a:t>
              </a:r>
            </a:p>
          </p:txBody>
        </p:sp>
      </p:grpSp>
      <p:grpSp>
        <p:nvGrpSpPr>
          <p:cNvPr id="108" name="footer"/>
          <p:cNvGrpSpPr/>
          <p:nvPr/>
        </p:nvGrpSpPr>
        <p:grpSpPr>
          <a:xfrm>
            <a:off x="0" y="6438900"/>
            <a:ext cx="12192000" cy="342900"/>
            <a:chOff x="0" y="6438900"/>
            <a:chExt cx="12192000" cy="342900"/>
          </a:xfrm>
        </p:grpSpPr>
        <p:sp>
          <p:nvSpPr>
            <p:cNvPr id="106" name="Line 106"/>
            <p:cNvSpPr/>
            <p:nvPr/>
          </p:nvSpPr>
          <p:spPr>
            <a:xfrm>
              <a:off x="0" y="6438900"/>
              <a:ext cx="12192000" cy="9525"/>
            </a:xfrm>
            <a:custGeom>
              <a:avLst/>
              <a:gdLst/>
              <a:ahLst/>
              <a:cxnLst/>
              <a:rect l="l" t="t" r="r" b="b"/>
              <a:pathLst>
                <a:path w="12192000" h="9525">
                  <a:moveTo>
                    <a:pt x="0" y="0"/>
                  </a:moveTo>
                  <a:lnTo>
                    <a:pt x="12192000" y="0"/>
                  </a:lnTo>
                </a:path>
              </a:pathLst>
            </a:custGeom>
            <a:noFill/>
            <a:ln w="9525">
              <a:solidFill>
                <a:srgbClr val="E74726"/>
              </a:solidFill>
            </a:ln>
          </p:spPr>
        </p:sp>
        <p:sp>
          <p:nvSpPr>
            <p:cNvPr id="107" name="TextBox 107"/>
            <p:cNvSpPr txBox="1"/>
            <p:nvPr/>
          </p:nvSpPr>
          <p:spPr>
            <a:xfrm>
              <a:off x="376238" y="6500812"/>
              <a:ext cx="5815012"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F7F7F"/>
                  </a:solidFill>
                  <a:latin typeface="+mn-lt"/>
                  <a:ea typeface="+mn-ea"/>
                  <a:cs typeface="+mn-cs"/>
                </a:rPr>
                <a:t>@中电金信数字化营销咨询与运营增长业务部——涵盖组织规划咨询、管理体系咨询、精准营销咨询、营销策划运营、人才队伍培训、​​​​​​</a:t>
              </a:r>
              <a:br/>
              <a:r>
                <a:rPr lang="zh-CN" sz="750" dirty="0">
                  <a:solidFill>
                    <a:srgbClr val="7F7F7F"/>
                  </a:solidFill>
                  <a:latin typeface="+mn-lt"/>
                  <a:ea typeface="+mn-ea"/>
                  <a:cs typeface="+mn-cs"/>
                </a:rPr>
                <a:t>IT系统集成应用等内容，助力银行实现客户管理精细化、产品营销数字化、渠道服务一体化的战略级、可落地的咨询服务。​​​</a:t>
              </a:r>
            </a:p>
          </p:txBody>
        </p:sp>
      </p:gr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8" name="deco-skyline-kline"/>
          <p:cNvGrpSpPr/>
          <p:nvPr/>
        </p:nvGrpSpPr>
        <p:grpSpPr>
          <a:xfrm>
            <a:off x="7620000" y="1219200"/>
            <a:ext cx="2400300" cy="3829050"/>
            <a:chOff x="7620000" y="1219200"/>
            <a:chExt cx="2400300" cy="3829050"/>
          </a:xfrm>
        </p:grpSpPr>
        <p:sp>
          <p:nvSpPr>
            <p:cNvPr id="2" name="Rectangle 2"/>
            <p:cNvSpPr/>
            <p:nvPr/>
          </p:nvSpPr>
          <p:spPr>
            <a:xfrm>
              <a:off x="7620000" y="3143250"/>
              <a:ext cx="323850" cy="1905000"/>
            </a:xfrm>
            <a:prstGeom prst="rect">
              <a:avLst/>
            </a:prstGeom>
            <a:solidFill>
              <a:srgbClr val="E7E3DF"/>
            </a:solidFill>
            <a:ln>
              <a:noFill/>
            </a:ln>
          </p:spPr>
        </p:sp>
        <p:sp>
          <p:nvSpPr>
            <p:cNvPr id="3" name="Rectangle 3"/>
            <p:cNvSpPr/>
            <p:nvPr/>
          </p:nvSpPr>
          <p:spPr>
            <a:xfrm>
              <a:off x="8020050" y="2476500"/>
              <a:ext cx="381000" cy="2571750"/>
            </a:xfrm>
            <a:prstGeom prst="rect">
              <a:avLst/>
            </a:prstGeom>
            <a:solidFill>
              <a:srgbClr val="DEDAD6"/>
            </a:solidFill>
            <a:ln>
              <a:noFill/>
            </a:ln>
          </p:spPr>
        </p:sp>
        <p:sp>
          <p:nvSpPr>
            <p:cNvPr id="4" name="Rectangle 4"/>
            <p:cNvSpPr/>
            <p:nvPr/>
          </p:nvSpPr>
          <p:spPr>
            <a:xfrm>
              <a:off x="8477250" y="2857500"/>
              <a:ext cx="285750" cy="2190750"/>
            </a:xfrm>
            <a:prstGeom prst="rect">
              <a:avLst/>
            </a:prstGeom>
            <a:solidFill>
              <a:srgbClr val="E7E3DF"/>
            </a:solidFill>
            <a:ln>
              <a:noFill/>
            </a:ln>
          </p:spPr>
        </p:sp>
        <p:sp>
          <p:nvSpPr>
            <p:cNvPr id="5" name="Rectangle 5"/>
            <p:cNvSpPr/>
            <p:nvPr/>
          </p:nvSpPr>
          <p:spPr>
            <a:xfrm>
              <a:off x="8839200" y="2095500"/>
              <a:ext cx="438150" cy="2952750"/>
            </a:xfrm>
            <a:prstGeom prst="rect">
              <a:avLst/>
            </a:prstGeom>
            <a:solidFill>
              <a:srgbClr val="D9D5D1"/>
            </a:solidFill>
            <a:ln>
              <a:noFill/>
            </a:ln>
          </p:spPr>
        </p:sp>
        <p:sp>
          <p:nvSpPr>
            <p:cNvPr id="6" name="Line 6"/>
            <p:cNvSpPr/>
            <p:nvPr/>
          </p:nvSpPr>
          <p:spPr>
            <a:xfrm>
              <a:off x="9058275" y="1866900"/>
              <a:ext cx="9525" cy="228600"/>
            </a:xfrm>
            <a:custGeom>
              <a:avLst/>
              <a:gdLst/>
              <a:ahLst/>
              <a:cxnLst/>
              <a:rect l="l" t="t" r="r" b="b"/>
              <a:pathLst>
                <a:path w="9525" h="228600">
                  <a:moveTo>
                    <a:pt x="0" y="228600"/>
                  </a:moveTo>
                  <a:lnTo>
                    <a:pt x="0" y="0"/>
                  </a:lnTo>
                </a:path>
              </a:pathLst>
            </a:custGeom>
            <a:noFill/>
            <a:ln w="19050">
              <a:solidFill>
                <a:srgbClr val="C9C5C1"/>
              </a:solidFill>
            </a:ln>
          </p:spPr>
        </p:sp>
        <p:sp>
          <p:nvSpPr>
            <p:cNvPr id="7" name="Rectangle 7"/>
            <p:cNvSpPr/>
            <p:nvPr/>
          </p:nvSpPr>
          <p:spPr>
            <a:xfrm>
              <a:off x="9353550" y="2762250"/>
              <a:ext cx="323850" cy="2286000"/>
            </a:xfrm>
            <a:prstGeom prst="rect">
              <a:avLst/>
            </a:prstGeom>
            <a:solidFill>
              <a:srgbClr val="E0DCD8"/>
            </a:solidFill>
            <a:ln>
              <a:noFill/>
            </a:ln>
          </p:spPr>
        </p:sp>
        <p:sp>
          <p:nvSpPr>
            <p:cNvPr id="8" name="Rectangle 8"/>
            <p:cNvSpPr/>
            <p:nvPr/>
          </p:nvSpPr>
          <p:spPr>
            <a:xfrm>
              <a:off x="9734550" y="2381250"/>
              <a:ext cx="285750" cy="2667000"/>
            </a:xfrm>
            <a:prstGeom prst="rect">
              <a:avLst/>
            </a:prstGeom>
            <a:solidFill>
              <a:srgbClr val="DAD6D2"/>
            </a:solidFill>
            <a:ln>
              <a:noFill/>
            </a:ln>
          </p:spPr>
        </p:sp>
        <p:sp>
          <p:nvSpPr>
            <p:cNvPr id="9" name="Line 9"/>
            <p:cNvSpPr/>
            <p:nvPr/>
          </p:nvSpPr>
          <p:spPr>
            <a:xfrm>
              <a:off x="9877425" y="2171700"/>
              <a:ext cx="9525" cy="209550"/>
            </a:xfrm>
            <a:custGeom>
              <a:avLst/>
              <a:gdLst/>
              <a:ahLst/>
              <a:cxnLst/>
              <a:rect l="l" t="t" r="r" b="b"/>
              <a:pathLst>
                <a:path w="9525" h="209550">
                  <a:moveTo>
                    <a:pt x="0" y="209550"/>
                  </a:moveTo>
                  <a:lnTo>
                    <a:pt x="0" y="0"/>
                  </a:lnTo>
                </a:path>
              </a:pathLst>
            </a:custGeom>
            <a:noFill/>
            <a:ln w="19050">
              <a:solidFill>
                <a:srgbClr val="C9C5C1"/>
              </a:solidFill>
            </a:ln>
          </p:spPr>
        </p:sp>
        <p:sp>
          <p:nvSpPr>
            <p:cNvPr id="10" name="Line 10"/>
            <p:cNvSpPr/>
            <p:nvPr/>
          </p:nvSpPr>
          <p:spPr>
            <a:xfrm>
              <a:off x="8763000" y="1905000"/>
              <a:ext cx="9525" cy="533400"/>
            </a:xfrm>
            <a:custGeom>
              <a:avLst/>
              <a:gdLst/>
              <a:ahLst/>
              <a:cxnLst/>
              <a:rect l="l" t="t" r="r" b="b"/>
              <a:pathLst>
                <a:path w="9525" h="533400">
                  <a:moveTo>
                    <a:pt x="0" y="0"/>
                  </a:moveTo>
                  <a:lnTo>
                    <a:pt x="0" y="533400"/>
                  </a:lnTo>
                </a:path>
              </a:pathLst>
            </a:custGeom>
            <a:noFill/>
            <a:ln w="19050">
              <a:solidFill>
                <a:srgbClr val="C54C30"/>
              </a:solidFill>
            </a:ln>
          </p:spPr>
        </p:sp>
        <p:sp>
          <p:nvSpPr>
            <p:cNvPr id="11" name="Rectangle 11"/>
            <p:cNvSpPr/>
            <p:nvPr/>
          </p:nvSpPr>
          <p:spPr>
            <a:xfrm>
              <a:off x="8705850" y="2057400"/>
              <a:ext cx="114300" cy="247650"/>
            </a:xfrm>
            <a:prstGeom prst="rect">
              <a:avLst/>
            </a:prstGeom>
            <a:solidFill>
              <a:srgbClr val="C54C30"/>
            </a:solidFill>
            <a:ln>
              <a:noFill/>
            </a:ln>
          </p:spPr>
        </p:sp>
        <p:sp>
          <p:nvSpPr>
            <p:cNvPr id="12" name="Line 12"/>
            <p:cNvSpPr/>
            <p:nvPr/>
          </p:nvSpPr>
          <p:spPr>
            <a:xfrm>
              <a:off x="9105900" y="1428750"/>
              <a:ext cx="9525" cy="571500"/>
            </a:xfrm>
            <a:custGeom>
              <a:avLst/>
              <a:gdLst/>
              <a:ahLst/>
              <a:cxnLst/>
              <a:rect l="l" t="t" r="r" b="b"/>
              <a:pathLst>
                <a:path w="9525" h="571500">
                  <a:moveTo>
                    <a:pt x="0" y="0"/>
                  </a:moveTo>
                  <a:lnTo>
                    <a:pt x="0" y="571500"/>
                  </a:lnTo>
                </a:path>
              </a:pathLst>
            </a:custGeom>
            <a:noFill/>
            <a:ln w="19050">
              <a:solidFill>
                <a:srgbClr val="B03A1F"/>
              </a:solidFill>
            </a:ln>
          </p:spPr>
        </p:sp>
        <p:sp>
          <p:nvSpPr>
            <p:cNvPr id="13" name="Rectangle 13"/>
            <p:cNvSpPr/>
            <p:nvPr/>
          </p:nvSpPr>
          <p:spPr>
            <a:xfrm>
              <a:off x="9048750" y="1562100"/>
              <a:ext cx="114300" cy="285750"/>
            </a:xfrm>
            <a:prstGeom prst="rect">
              <a:avLst/>
            </a:prstGeom>
            <a:solidFill>
              <a:srgbClr val="B03A1F"/>
            </a:solidFill>
            <a:ln>
              <a:noFill/>
            </a:ln>
          </p:spPr>
        </p:sp>
        <p:sp>
          <p:nvSpPr>
            <p:cNvPr id="14" name="Line 14"/>
            <p:cNvSpPr/>
            <p:nvPr/>
          </p:nvSpPr>
          <p:spPr>
            <a:xfrm>
              <a:off x="9448800" y="1714500"/>
              <a:ext cx="9525" cy="533400"/>
            </a:xfrm>
            <a:custGeom>
              <a:avLst/>
              <a:gdLst/>
              <a:ahLst/>
              <a:cxnLst/>
              <a:rect l="l" t="t" r="r" b="b"/>
              <a:pathLst>
                <a:path w="9525" h="533400">
                  <a:moveTo>
                    <a:pt x="0" y="0"/>
                  </a:moveTo>
                  <a:lnTo>
                    <a:pt x="0" y="533400"/>
                  </a:lnTo>
                </a:path>
              </a:pathLst>
            </a:custGeom>
            <a:noFill/>
            <a:ln w="19050">
              <a:solidFill>
                <a:srgbClr val="C54C30"/>
              </a:solidFill>
            </a:ln>
          </p:spPr>
        </p:sp>
        <p:sp>
          <p:nvSpPr>
            <p:cNvPr id="15" name="Rectangle 15"/>
            <p:cNvSpPr/>
            <p:nvPr/>
          </p:nvSpPr>
          <p:spPr>
            <a:xfrm>
              <a:off x="9391650" y="1847850"/>
              <a:ext cx="114300" cy="228600"/>
            </a:xfrm>
            <a:prstGeom prst="rect">
              <a:avLst/>
            </a:prstGeom>
            <a:solidFill>
              <a:srgbClr val="C54C30"/>
            </a:solidFill>
            <a:ln>
              <a:noFill/>
            </a:ln>
          </p:spPr>
        </p:sp>
        <p:sp>
          <p:nvSpPr>
            <p:cNvPr id="16" name="Line 16"/>
            <p:cNvSpPr/>
            <p:nvPr/>
          </p:nvSpPr>
          <p:spPr>
            <a:xfrm>
              <a:off x="9791700" y="1219200"/>
              <a:ext cx="9525" cy="590550"/>
            </a:xfrm>
            <a:custGeom>
              <a:avLst/>
              <a:gdLst/>
              <a:ahLst/>
              <a:cxnLst/>
              <a:rect l="l" t="t" r="r" b="b"/>
              <a:pathLst>
                <a:path w="9525" h="590550">
                  <a:moveTo>
                    <a:pt x="0" y="0"/>
                  </a:moveTo>
                  <a:lnTo>
                    <a:pt x="0" y="590550"/>
                  </a:lnTo>
                </a:path>
              </a:pathLst>
            </a:custGeom>
            <a:noFill/>
            <a:ln w="19050">
              <a:solidFill>
                <a:srgbClr val="B03A1F"/>
              </a:solidFill>
            </a:ln>
          </p:spPr>
        </p:sp>
        <p:sp>
          <p:nvSpPr>
            <p:cNvPr id="17" name="Rectangle 17"/>
            <p:cNvSpPr/>
            <p:nvPr/>
          </p:nvSpPr>
          <p:spPr>
            <a:xfrm>
              <a:off x="9734550" y="1352550"/>
              <a:ext cx="114300" cy="266700"/>
            </a:xfrm>
            <a:prstGeom prst="rect">
              <a:avLst/>
            </a:prstGeom>
            <a:solidFill>
              <a:srgbClr val="B03A1F"/>
            </a:solidFill>
            <a:ln>
              <a:noFill/>
            </a:ln>
          </p:spPr>
        </p:sp>
      </p:grpSp>
      <p:grpSp>
        <p:nvGrpSpPr>
          <p:cNvPr id="27" name="deco-grid"/>
          <p:cNvGrpSpPr/>
          <p:nvPr/>
        </p:nvGrpSpPr>
        <p:grpSpPr>
          <a:xfrm>
            <a:off x="6096000" y="5314950"/>
            <a:ext cx="6096000" cy="1543050"/>
            <a:chOff x="6096000" y="5314950"/>
            <a:chExt cx="6096000" cy="1543050"/>
          </a:xfrm>
        </p:grpSpPr>
        <p:sp>
          <p:nvSpPr>
            <p:cNvPr id="19" name="Line 19"/>
            <p:cNvSpPr/>
            <p:nvPr/>
          </p:nvSpPr>
          <p:spPr>
            <a:xfrm>
              <a:off x="6096000" y="5391150"/>
              <a:ext cx="6096000" cy="133350"/>
            </a:xfrm>
            <a:custGeom>
              <a:avLst/>
              <a:gdLst/>
              <a:ahLst/>
              <a:cxnLst/>
              <a:rect l="l" t="t" r="r" b="b"/>
              <a:pathLst>
                <a:path w="6096000" h="133350">
                  <a:moveTo>
                    <a:pt x="0" y="133350"/>
                  </a:moveTo>
                  <a:lnTo>
                    <a:pt x="6096000" y="0"/>
                  </a:lnTo>
                </a:path>
              </a:pathLst>
            </a:custGeom>
            <a:noFill/>
            <a:ln w="9525">
              <a:solidFill>
                <a:srgbClr val="E2DEDA"/>
              </a:solidFill>
            </a:ln>
          </p:spPr>
        </p:sp>
        <p:sp>
          <p:nvSpPr>
            <p:cNvPr id="20" name="Line 20"/>
            <p:cNvSpPr/>
            <p:nvPr/>
          </p:nvSpPr>
          <p:spPr>
            <a:xfrm>
              <a:off x="6096000" y="5676900"/>
              <a:ext cx="6096000" cy="152400"/>
            </a:xfrm>
            <a:custGeom>
              <a:avLst/>
              <a:gdLst/>
              <a:ahLst/>
              <a:cxnLst/>
              <a:rect l="l" t="t" r="r" b="b"/>
              <a:pathLst>
                <a:path w="6096000" h="152400">
                  <a:moveTo>
                    <a:pt x="0" y="152400"/>
                  </a:moveTo>
                  <a:lnTo>
                    <a:pt x="6096000" y="0"/>
                  </a:lnTo>
                </a:path>
              </a:pathLst>
            </a:custGeom>
            <a:noFill/>
            <a:ln w="9525">
              <a:solidFill>
                <a:srgbClr val="E2DEDA"/>
              </a:solidFill>
            </a:ln>
          </p:spPr>
        </p:sp>
        <p:sp>
          <p:nvSpPr>
            <p:cNvPr id="21" name="Line 21"/>
            <p:cNvSpPr/>
            <p:nvPr/>
          </p:nvSpPr>
          <p:spPr>
            <a:xfrm>
              <a:off x="6096000" y="6057900"/>
              <a:ext cx="6096000" cy="133350"/>
            </a:xfrm>
            <a:custGeom>
              <a:avLst/>
              <a:gdLst/>
              <a:ahLst/>
              <a:cxnLst/>
              <a:rect l="l" t="t" r="r" b="b"/>
              <a:pathLst>
                <a:path w="6096000" h="133350">
                  <a:moveTo>
                    <a:pt x="0" y="133350"/>
                  </a:moveTo>
                  <a:lnTo>
                    <a:pt x="6096000" y="0"/>
                  </a:lnTo>
                </a:path>
              </a:pathLst>
            </a:custGeom>
            <a:noFill/>
            <a:ln w="9525">
              <a:solidFill>
                <a:srgbClr val="E5E1DD"/>
              </a:solidFill>
            </a:ln>
          </p:spPr>
        </p:sp>
        <p:sp>
          <p:nvSpPr>
            <p:cNvPr id="22" name="Line 22"/>
            <p:cNvSpPr/>
            <p:nvPr/>
          </p:nvSpPr>
          <p:spPr>
            <a:xfrm>
              <a:off x="6096000" y="6515100"/>
              <a:ext cx="6096000" cy="76200"/>
            </a:xfrm>
            <a:custGeom>
              <a:avLst/>
              <a:gdLst/>
              <a:ahLst/>
              <a:cxnLst/>
              <a:rect l="l" t="t" r="r" b="b"/>
              <a:pathLst>
                <a:path w="6096000" h="76200">
                  <a:moveTo>
                    <a:pt x="0" y="76200"/>
                  </a:moveTo>
                  <a:lnTo>
                    <a:pt x="6096000" y="0"/>
                  </a:lnTo>
                </a:path>
              </a:pathLst>
            </a:custGeom>
            <a:noFill/>
            <a:ln w="9525">
              <a:solidFill>
                <a:srgbClr val="E8E4E0"/>
              </a:solidFill>
            </a:ln>
          </p:spPr>
        </p:sp>
        <p:sp>
          <p:nvSpPr>
            <p:cNvPr id="23" name="Line 23"/>
            <p:cNvSpPr/>
            <p:nvPr/>
          </p:nvSpPr>
          <p:spPr>
            <a:xfrm>
              <a:off x="7239000" y="5314950"/>
              <a:ext cx="1143000" cy="1543050"/>
            </a:xfrm>
            <a:custGeom>
              <a:avLst/>
              <a:gdLst/>
              <a:ahLst/>
              <a:cxnLst/>
              <a:rect l="l" t="t" r="r" b="b"/>
              <a:pathLst>
                <a:path w="1143000" h="1543050">
                  <a:moveTo>
                    <a:pt x="0" y="1543050"/>
                  </a:moveTo>
                  <a:lnTo>
                    <a:pt x="1143000" y="0"/>
                  </a:lnTo>
                </a:path>
              </a:pathLst>
            </a:custGeom>
            <a:noFill/>
            <a:ln w="9525">
              <a:solidFill>
                <a:srgbClr val="E5E1DD"/>
              </a:solidFill>
            </a:ln>
          </p:spPr>
        </p:sp>
        <p:sp>
          <p:nvSpPr>
            <p:cNvPr id="24" name="Line 24"/>
            <p:cNvSpPr/>
            <p:nvPr/>
          </p:nvSpPr>
          <p:spPr>
            <a:xfrm>
              <a:off x="8763000" y="5314950"/>
              <a:ext cx="762000" cy="1543050"/>
            </a:xfrm>
            <a:custGeom>
              <a:avLst/>
              <a:gdLst/>
              <a:ahLst/>
              <a:cxnLst/>
              <a:rect l="l" t="t" r="r" b="b"/>
              <a:pathLst>
                <a:path w="762000" h="1543050">
                  <a:moveTo>
                    <a:pt x="0" y="1543050"/>
                  </a:moveTo>
                  <a:lnTo>
                    <a:pt x="762000" y="0"/>
                  </a:lnTo>
                </a:path>
              </a:pathLst>
            </a:custGeom>
            <a:noFill/>
            <a:ln w="9525">
              <a:solidFill>
                <a:srgbClr val="E5E1DD"/>
              </a:solidFill>
            </a:ln>
          </p:spPr>
        </p:sp>
        <p:sp>
          <p:nvSpPr>
            <p:cNvPr id="25" name="Line 25"/>
            <p:cNvSpPr/>
            <p:nvPr/>
          </p:nvSpPr>
          <p:spPr>
            <a:xfrm>
              <a:off x="10287000" y="5314950"/>
              <a:ext cx="476250" cy="1543050"/>
            </a:xfrm>
            <a:custGeom>
              <a:avLst/>
              <a:gdLst/>
              <a:ahLst/>
              <a:cxnLst/>
              <a:rect l="l" t="t" r="r" b="b"/>
              <a:pathLst>
                <a:path w="476250" h="1543050">
                  <a:moveTo>
                    <a:pt x="0" y="1543050"/>
                  </a:moveTo>
                  <a:lnTo>
                    <a:pt x="476250" y="0"/>
                  </a:lnTo>
                </a:path>
              </a:pathLst>
            </a:custGeom>
            <a:noFill/>
            <a:ln w="9525">
              <a:solidFill>
                <a:srgbClr val="E8E4E0"/>
              </a:solidFill>
            </a:ln>
          </p:spPr>
        </p:sp>
        <p:sp>
          <p:nvSpPr>
            <p:cNvPr id="26" name="Line 26"/>
            <p:cNvSpPr/>
            <p:nvPr/>
          </p:nvSpPr>
          <p:spPr>
            <a:xfrm>
              <a:off x="11620500" y="5314950"/>
              <a:ext cx="238125" cy="1543050"/>
            </a:xfrm>
            <a:custGeom>
              <a:avLst/>
              <a:gdLst/>
              <a:ahLst/>
              <a:cxnLst/>
              <a:rect l="l" t="t" r="r" b="b"/>
              <a:pathLst>
                <a:path w="238125" h="1543050">
                  <a:moveTo>
                    <a:pt x="0" y="1543050"/>
                  </a:moveTo>
                  <a:lnTo>
                    <a:pt x="238125" y="0"/>
                  </a:lnTo>
                </a:path>
              </a:pathLst>
            </a:custGeom>
            <a:noFill/>
            <a:ln w="9525">
              <a:solidFill>
                <a:srgbClr val="EAE6E2"/>
              </a:solidFill>
            </a:ln>
          </p:spPr>
        </p:sp>
      </p:grpSp>
      <p:sp>
        <p:nvSpPr>
          <p:cNvPr id="28" name="deco-ribbon-back"/>
          <p:cNvSpPr/>
          <p:nvPr/>
        </p:nvSpPr>
        <p:spPr>
          <a:xfrm>
            <a:off x="0" y="2495550"/>
            <a:ext cx="12192000" cy="3810000"/>
          </a:xfrm>
          <a:custGeom>
            <a:avLst/>
            <a:gdLst/>
            <a:ahLst/>
            <a:cxnLst/>
            <a:rect l="l" t="t" r="r" b="b"/>
            <a:pathLst>
              <a:path w="12192000" h="3810000">
                <a:moveTo>
                  <a:pt x="0" y="2457450"/>
                </a:moveTo>
                <a:cubicBezTo>
                  <a:pt x="2857500" y="3333750"/>
                  <a:pt x="5334000" y="3619500"/>
                  <a:pt x="7620000" y="2952750"/>
                </a:cubicBezTo>
                <a:cubicBezTo>
                  <a:pt x="9525000" y="2419350"/>
                  <a:pt x="10668000" y="1543050"/>
                  <a:pt x="12192000" y="0"/>
                </a:cubicBezTo>
                <a:lnTo>
                  <a:pt x="12192000" y="419100"/>
                </a:lnTo>
                <a:cubicBezTo>
                  <a:pt x="10668000" y="1847850"/>
                  <a:pt x="9429750" y="2724150"/>
                  <a:pt x="7524750" y="3238500"/>
                </a:cubicBezTo>
                <a:cubicBezTo>
                  <a:pt x="5334000" y="3810000"/>
                  <a:pt x="2857500" y="3619500"/>
                  <a:pt x="0" y="2724150"/>
                </a:cubicBezTo>
                <a:close/>
              </a:path>
            </a:pathLst>
          </a:custGeom>
          <a:gradFill>
            <a:gsLst>
              <a:gs pos="0">
                <a:srgbClr val="E06F55">
                  <a:alpha val="90000"/>
                </a:srgbClr>
              </a:gs>
              <a:gs pos="100000">
                <a:srgbClr val="B03A1F">
                  <a:alpha val="90000"/>
                </a:srgbClr>
              </a:gs>
            </a:gsLst>
            <a:lin ang="0" scaled="1"/>
          </a:gradFill>
          <a:ln>
            <a:noFill/>
          </a:ln>
        </p:spPr>
      </p:sp>
      <p:sp>
        <p:nvSpPr>
          <p:cNvPr id="29" name="deco-ribbon-main"/>
          <p:cNvSpPr/>
          <p:nvPr/>
        </p:nvSpPr>
        <p:spPr>
          <a:xfrm>
            <a:off x="0" y="876300"/>
            <a:ext cx="12192000" cy="5715000"/>
          </a:xfrm>
          <a:custGeom>
            <a:avLst/>
            <a:gdLst/>
            <a:ahLst/>
            <a:cxnLst/>
            <a:rect l="l" t="t" r="r" b="b"/>
            <a:pathLst>
              <a:path w="12192000" h="5715000">
                <a:moveTo>
                  <a:pt x="0" y="3600450"/>
                </a:moveTo>
                <a:cubicBezTo>
                  <a:pt x="2476500" y="4476750"/>
                  <a:pt x="4572000" y="4762500"/>
                  <a:pt x="6858000" y="4095750"/>
                </a:cubicBezTo>
                <a:cubicBezTo>
                  <a:pt x="8953500" y="3467100"/>
                  <a:pt x="10287000" y="2000250"/>
                  <a:pt x="12192000" y="0"/>
                </a:cubicBezTo>
                <a:lnTo>
                  <a:pt x="12192000" y="2266950"/>
                </a:lnTo>
                <a:cubicBezTo>
                  <a:pt x="10477500" y="3752850"/>
                  <a:pt x="9334500" y="4762500"/>
                  <a:pt x="7239000" y="5238750"/>
                </a:cubicBezTo>
                <a:cubicBezTo>
                  <a:pt x="5143500" y="5715000"/>
                  <a:pt x="2286000" y="5238750"/>
                  <a:pt x="0" y="4476750"/>
                </a:cubicBezTo>
                <a:close/>
              </a:path>
            </a:pathLst>
          </a:custGeom>
          <a:gradFill>
            <a:gsLst>
              <a:gs pos="0">
                <a:srgbClr val="C54C30"/>
              </a:gs>
              <a:gs pos="55000">
                <a:srgbClr val="A0341B"/>
              </a:gs>
              <a:gs pos="100000">
                <a:srgbClr val="7E2314"/>
              </a:gs>
            </a:gsLst>
            <a:lin ang="0" scaled="1"/>
          </a:gradFill>
          <a:ln>
            <a:noFill/>
          </a:ln>
        </p:spPr>
      </p:sp>
      <p:sp>
        <p:nvSpPr>
          <p:cNvPr id="30" name="deco-ribbon-edge"/>
          <p:cNvSpPr/>
          <p:nvPr/>
        </p:nvSpPr>
        <p:spPr>
          <a:xfrm>
            <a:off x="8953500" y="571500"/>
            <a:ext cx="3238500" cy="5353050"/>
          </a:xfrm>
          <a:custGeom>
            <a:avLst/>
            <a:gdLst/>
            <a:ahLst/>
            <a:cxnLst/>
            <a:rect l="l" t="t" r="r" b="b"/>
            <a:pathLst>
              <a:path w="3238500" h="5353050">
                <a:moveTo>
                  <a:pt x="3238500" y="0"/>
                </a:moveTo>
                <a:lnTo>
                  <a:pt x="3238500" y="2971800"/>
                </a:lnTo>
                <a:cubicBezTo>
                  <a:pt x="2095500" y="4000500"/>
                  <a:pt x="1143000" y="4762500"/>
                  <a:pt x="0" y="5353050"/>
                </a:cubicBezTo>
                <a:cubicBezTo>
                  <a:pt x="857250" y="4762500"/>
                  <a:pt x="1809750" y="3695700"/>
                  <a:pt x="3238500" y="0"/>
                </a:cubicBezTo>
                <a:close/>
              </a:path>
            </a:pathLst>
          </a:custGeom>
          <a:solidFill>
            <a:srgbClr val="8E301B"/>
          </a:solidFill>
          <a:ln>
            <a:noFill/>
          </a:ln>
        </p:spPr>
      </p:sp>
      <p:sp>
        <p:nvSpPr>
          <p:cNvPr id="31" name="deco-lowrise-1"/>
          <p:cNvSpPr/>
          <p:nvPr/>
        </p:nvSpPr>
        <p:spPr>
          <a:xfrm>
            <a:off x="5600700" y="4476750"/>
            <a:ext cx="495300" cy="1143000"/>
          </a:xfrm>
          <a:prstGeom prst="rect">
            <a:avLst/>
          </a:prstGeom>
          <a:solidFill>
            <a:srgbClr val="EAE6E2"/>
          </a:solidFill>
          <a:ln>
            <a:noFill/>
          </a:ln>
        </p:spPr>
      </p:sp>
      <p:sp>
        <p:nvSpPr>
          <p:cNvPr id="32" name="deco-lowrise-2"/>
          <p:cNvSpPr/>
          <p:nvPr/>
        </p:nvSpPr>
        <p:spPr>
          <a:xfrm>
            <a:off x="6191250" y="4762500"/>
            <a:ext cx="571500" cy="952500"/>
          </a:xfrm>
          <a:prstGeom prst="rect">
            <a:avLst/>
          </a:prstGeom>
          <a:solidFill>
            <a:srgbClr val="E2DEDA"/>
          </a:solidFill>
          <a:ln>
            <a:noFill/>
          </a:ln>
        </p:spPr>
      </p:sp>
      <p:sp>
        <p:nvSpPr>
          <p:cNvPr id="33" name="deco-lowrise-3"/>
          <p:cNvSpPr/>
          <p:nvPr/>
        </p:nvSpPr>
        <p:spPr>
          <a:xfrm>
            <a:off x="6877050" y="4572000"/>
            <a:ext cx="419100" cy="1238250"/>
          </a:xfrm>
          <a:prstGeom prst="rect">
            <a:avLst/>
          </a:prstGeom>
          <a:solidFill>
            <a:srgbClr val="E7E3DF"/>
          </a:solidFill>
          <a:ln>
            <a:noFill/>
          </a:ln>
        </p:spPr>
      </p:sp>
      <p:grpSp>
        <p:nvGrpSpPr>
          <p:cNvPr id="36" name="title-block"/>
          <p:cNvGrpSpPr/>
          <p:nvPr/>
        </p:nvGrpSpPr>
        <p:grpSpPr>
          <a:xfrm>
            <a:off x="742950" y="1309688"/>
            <a:ext cx="6604254" cy="1362075"/>
            <a:chOff x="742950" y="1309688"/>
            <a:chExt cx="6604254" cy="1362075"/>
          </a:xfrm>
        </p:grpSpPr>
        <p:sp>
          <p:nvSpPr>
            <p:cNvPr id="34" name="TextBox 34"/>
            <p:cNvSpPr txBox="1"/>
            <p:nvPr/>
          </p:nvSpPr>
          <p:spPr>
            <a:xfrm>
              <a:off x="742950" y="1309688"/>
              <a:ext cx="6604254" cy="733425"/>
            </a:xfrm>
            <a:prstGeom prst="rect">
              <a:avLst/>
            </a:prstGeom>
            <a:noFill/>
            <a:ln>
              <a:noFill/>
            </a:ln>
          </p:spPr>
          <p:txBody>
            <a:bodyPr wrap="none" lIns="0" tIns="0" rIns="0" bIns="0" anchor="t" anchorCtr="0">
              <a:spAutoFit/>
            </a:bodyPr>
            <a:lstStyle/>
            <a:p>
              <a:pPr algn="l"/>
              <a:r>
                <a:rPr lang="zh-CN" sz="3750" b="1" dirty="0">
                  <a:solidFill>
                    <a:srgbClr val="1A1A1A"/>
                  </a:solidFill>
                  <a:latin typeface="SimSun"/>
                  <a:ea typeface="SimSun"/>
                  <a:cs typeface="SimSun"/>
                </a:rPr>
                <a:t>某股份制银行零售部</a:t>
              </a:r>
              <a:r>
                <a:rPr lang="zh-CN" sz="3750" b="1" dirty="0">
                  <a:solidFill>
                    <a:srgbClr val="B03A1F"/>
                  </a:solidFill>
                  <a:latin typeface="SimSun"/>
                  <a:ea typeface="SimSun"/>
                  <a:cs typeface="SimSun"/>
                </a:rPr>
                <a:t>2026年</a:t>
              </a:r>
            </a:p>
          </p:txBody>
        </p:sp>
        <p:sp>
          <p:nvSpPr>
            <p:cNvPr id="35" name="TextBox 35"/>
            <p:cNvSpPr txBox="1"/>
            <p:nvPr/>
          </p:nvSpPr>
          <p:spPr>
            <a:xfrm>
              <a:off x="742950" y="1938338"/>
              <a:ext cx="5905500" cy="733425"/>
            </a:xfrm>
            <a:prstGeom prst="rect">
              <a:avLst/>
            </a:prstGeom>
            <a:noFill/>
            <a:ln>
              <a:noFill/>
            </a:ln>
          </p:spPr>
          <p:txBody>
            <a:bodyPr wrap="none" lIns="0" tIns="0" rIns="0" bIns="0" anchor="t" anchorCtr="0">
              <a:spAutoFit/>
            </a:bodyPr>
            <a:lstStyle/>
            <a:p>
              <a:pPr algn="l"/>
              <a:r>
                <a:rPr lang="zh-CN" sz="3750" b="1" dirty="0">
                  <a:solidFill>
                    <a:srgbClr val="1A1A1A"/>
                  </a:solidFill>
                  <a:latin typeface="SimSun"/>
                  <a:ea typeface="SimSun"/>
                  <a:cs typeface="SimSun"/>
                </a:rPr>
                <a:t>二季度重点工作运营方案</a:t>
              </a:r>
            </a:p>
          </p:txBody>
        </p:sp>
      </p:grpSp>
      <p:grpSp>
        <p:nvGrpSpPr>
          <p:cNvPr id="41" name="subtitle-block"/>
          <p:cNvGrpSpPr/>
          <p:nvPr/>
        </p:nvGrpSpPr>
        <p:grpSpPr>
          <a:xfrm>
            <a:off x="750570" y="2971800"/>
            <a:ext cx="5154930" cy="1350645"/>
            <a:chOff x="750570" y="2971800"/>
            <a:chExt cx="5154930" cy="1350645"/>
          </a:xfrm>
        </p:grpSpPr>
        <p:sp>
          <p:nvSpPr>
            <p:cNvPr id="37" name="Rectangle 37"/>
            <p:cNvSpPr/>
            <p:nvPr/>
          </p:nvSpPr>
          <p:spPr>
            <a:xfrm>
              <a:off x="762000" y="2971800"/>
              <a:ext cx="2000250" cy="47625"/>
            </a:xfrm>
            <a:prstGeom prst="rect">
              <a:avLst/>
            </a:prstGeom>
            <a:solidFill>
              <a:srgbClr val="B03A1F"/>
            </a:solidFill>
            <a:ln>
              <a:noFill/>
            </a:ln>
          </p:spPr>
        </p:sp>
        <p:sp>
          <p:nvSpPr>
            <p:cNvPr id="38" name="Line 38"/>
            <p:cNvSpPr/>
            <p:nvPr/>
          </p:nvSpPr>
          <p:spPr>
            <a:xfrm>
              <a:off x="2781300" y="2990850"/>
              <a:ext cx="3124200" cy="9525"/>
            </a:xfrm>
            <a:custGeom>
              <a:avLst/>
              <a:gdLst/>
              <a:ahLst/>
              <a:cxnLst/>
              <a:rect l="l" t="t" r="r" b="b"/>
              <a:pathLst>
                <a:path w="3124200" h="9525">
                  <a:moveTo>
                    <a:pt x="0" y="0"/>
                  </a:moveTo>
                  <a:lnTo>
                    <a:pt x="3124200" y="0"/>
                  </a:lnTo>
                </a:path>
              </a:pathLst>
            </a:custGeom>
            <a:noFill/>
            <a:ln w="9525">
              <a:solidFill>
                <a:srgbClr val="D8D4D0"/>
              </a:solidFill>
            </a:ln>
          </p:spPr>
        </p:sp>
        <p:sp>
          <p:nvSpPr>
            <p:cNvPr id="39" name="TextBox 39"/>
            <p:cNvSpPr txBox="1"/>
            <p:nvPr/>
          </p:nvSpPr>
          <p:spPr>
            <a:xfrm>
              <a:off x="750570" y="3357562"/>
              <a:ext cx="4687443" cy="440055"/>
            </a:xfrm>
            <a:prstGeom prst="rect">
              <a:avLst/>
            </a:prstGeom>
            <a:noFill/>
            <a:ln>
              <a:noFill/>
            </a:ln>
          </p:spPr>
          <p:txBody>
            <a:bodyPr wrap="none" lIns="0" tIns="0" rIns="0" bIns="0" anchor="t" anchorCtr="0">
              <a:spAutoFit/>
            </a:bodyPr>
            <a:lstStyle/>
            <a:p>
              <a:pPr algn="l"/>
              <a:r>
                <a:rPr lang="zh-CN" sz="2250" b="1" spc="450" dirty="0">
                  <a:solidFill>
                    <a:srgbClr val="B03A1F"/>
                  </a:solidFill>
                  <a:latin typeface="+mn-lt"/>
                  <a:ea typeface="+mn-ea"/>
                  <a:cs typeface="+mn-cs"/>
                </a:rPr>
                <a:t>复盘春耕成果　谋划夏耘新篇</a:t>
              </a:r>
            </a:p>
          </p:txBody>
        </p:sp>
        <p:sp>
          <p:nvSpPr>
            <p:cNvPr id="40" name="TextBox 40"/>
            <p:cNvSpPr txBox="1"/>
            <p:nvPr/>
          </p:nvSpPr>
          <p:spPr>
            <a:xfrm>
              <a:off x="754380" y="4029075"/>
              <a:ext cx="4639437" cy="293370"/>
            </a:xfrm>
            <a:prstGeom prst="rect">
              <a:avLst/>
            </a:prstGeom>
            <a:noFill/>
            <a:ln>
              <a:noFill/>
            </a:ln>
          </p:spPr>
          <p:txBody>
            <a:bodyPr wrap="none" lIns="0" tIns="0" rIns="0" bIns="0" anchor="t" anchorCtr="0">
              <a:spAutoFit/>
            </a:bodyPr>
            <a:lstStyle/>
            <a:p>
              <a:pPr algn="l"/>
              <a:r>
                <a:rPr lang="zh-CN" sz="1500" dirty="0">
                  <a:solidFill>
                    <a:srgbClr val="4A4A4A"/>
                  </a:solidFill>
                  <a:latin typeface="+mn-lt"/>
                  <a:ea typeface="+mn-ea"/>
                  <a:cs typeface="+mn-cs"/>
                </a:rPr>
                <a:t>提质增效　|　创新突破　|　风险防控　|　深化转型</a:t>
              </a:r>
            </a:p>
          </p:txBody>
        </p:sp>
      </p:gr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942594" y="151448"/>
              <a:ext cx="695401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一季度经营复盘：开门红奠定基础，结构与质效仍需提升</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grpSp>
        <p:nvGrpSpPr>
          <p:cNvPr id="26" name="card-kpi-1"/>
          <p:cNvGrpSpPr/>
          <p:nvPr/>
        </p:nvGrpSpPr>
        <p:grpSpPr>
          <a:xfrm>
            <a:off x="190500" y="714375"/>
            <a:ext cx="2857500" cy="1428750"/>
            <a:chOff x="190500" y="714375"/>
            <a:chExt cx="2857500" cy="1428750"/>
          </a:xfrm>
        </p:grpSpPr>
        <p:sp>
          <p:nvSpPr>
            <p:cNvPr id="7" name="Rectangle 7"/>
            <p:cNvSpPr/>
            <p:nvPr/>
          </p:nvSpPr>
          <p:spPr>
            <a:xfrm>
              <a:off x="190500" y="714375"/>
              <a:ext cx="2857500" cy="1428750"/>
            </a:xfrm>
            <a:prstGeom prst="rect">
              <a:avLst/>
            </a:prstGeom>
            <a:solidFill>
              <a:srgbClr val="FFFFFF"/>
            </a:solidFill>
            <a:ln w="9525">
              <a:solidFill>
                <a:srgbClr val="E5E0DC"/>
              </a:solidFill>
            </a:ln>
          </p:spPr>
        </p:sp>
        <p:sp>
          <p:nvSpPr>
            <p:cNvPr id="8" name="Ellipse 8"/>
            <p:cNvSpPr/>
            <p:nvPr/>
          </p:nvSpPr>
          <p:spPr>
            <a:xfrm>
              <a:off x="190500" y="714375"/>
              <a:ext cx="419100" cy="419100"/>
            </a:xfrm>
            <a:prstGeom prst="ellipse">
              <a:avLst/>
            </a:prstGeom>
            <a:solidFill>
              <a:srgbClr val="B03A1F"/>
            </a:solidFill>
            <a:ln>
              <a:noFill/>
            </a:ln>
          </p:spPr>
        </p:sp>
        <p:grpSp>
          <p:nvGrpSpPr>
            <p:cNvPr id="13" name="Group 13"/>
            <p:cNvGrpSpPr/>
            <p:nvPr/>
          </p:nvGrpSpPr>
          <p:grpSpPr>
            <a:xfrm>
              <a:off x="314325" y="838200"/>
              <a:ext cx="171450" cy="171450"/>
              <a:chOff x="314325" y="838200"/>
              <a:chExt cx="171450" cy="171450"/>
            </a:xfrm>
          </p:grpSpPr>
          <p:sp>
            <p:nvSpPr>
              <p:cNvPr id="9" name="Freeform 9"/>
              <p:cNvSpPr/>
              <p:nvPr/>
            </p:nvSpPr>
            <p:spPr>
              <a:xfrm>
                <a:off x="333375" y="8382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0" name="Freeform 10"/>
              <p:cNvSpPr/>
              <p:nvPr/>
            </p:nvSpPr>
            <p:spPr>
              <a:xfrm>
                <a:off x="314325" y="95250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11" name="Freeform 11"/>
              <p:cNvSpPr/>
              <p:nvPr/>
            </p:nvSpPr>
            <p:spPr>
              <a:xfrm>
                <a:off x="438150" y="83943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12" name="Freeform 12"/>
              <p:cNvSpPr/>
              <p:nvPr/>
            </p:nvSpPr>
            <p:spPr>
              <a:xfrm>
                <a:off x="457200" y="95392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14" name="TextBox 14"/>
            <p:cNvSpPr txBox="1"/>
            <p:nvPr/>
          </p:nvSpPr>
          <p:spPr>
            <a:xfrm>
              <a:off x="717423" y="852964"/>
              <a:ext cx="702208" cy="249364"/>
            </a:xfrm>
            <a:prstGeom prst="rect">
              <a:avLst/>
            </a:prstGeom>
            <a:noFill/>
            <a:ln>
              <a:noFill/>
            </a:ln>
          </p:spPr>
          <p:txBody>
            <a:bodyPr wrap="none" lIns="0" tIns="0" rIns="0" bIns="0" anchor="t" anchorCtr="0">
              <a:spAutoFit/>
            </a:bodyPr>
            <a:lstStyle/>
            <a:p>
              <a:pPr algn="l"/>
              <a:r>
                <a:rPr lang="zh-CN" sz="1280" b="1" dirty="0">
                  <a:solidFill>
                    <a:srgbClr val="B03A1F"/>
                  </a:solidFill>
                  <a:latin typeface="+mn-lt"/>
                  <a:ea typeface="+mn-ea"/>
                  <a:cs typeface="+mn-cs"/>
                </a:rPr>
                <a:t>客户规模</a:t>
              </a:r>
            </a:p>
          </p:txBody>
        </p:sp>
        <p:sp>
          <p:nvSpPr>
            <p:cNvPr id="15" name="Ellipse 15"/>
            <p:cNvSpPr/>
            <p:nvPr/>
          </p:nvSpPr>
          <p:spPr>
            <a:xfrm>
              <a:off x="357188" y="1376362"/>
              <a:ext cx="47625" cy="47625"/>
            </a:xfrm>
            <a:prstGeom prst="ellipse">
              <a:avLst/>
            </a:prstGeom>
            <a:solidFill>
              <a:srgbClr val="B03A1F"/>
            </a:solidFill>
            <a:ln>
              <a:noFill/>
            </a:ln>
          </p:spPr>
        </p:sp>
        <p:sp>
          <p:nvSpPr>
            <p:cNvPr id="16" name="TextBox 16"/>
            <p:cNvSpPr txBox="1"/>
            <p:nvPr/>
          </p:nvSpPr>
          <p:spPr>
            <a:xfrm>
              <a:off x="471488" y="1341120"/>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客户总量稳步增长</a:t>
              </a:r>
            </a:p>
          </p:txBody>
        </p:sp>
        <p:sp>
          <p:nvSpPr>
            <p:cNvPr id="17" name="Ellipse 17"/>
            <p:cNvSpPr/>
            <p:nvPr/>
          </p:nvSpPr>
          <p:spPr>
            <a:xfrm>
              <a:off x="357188" y="1585912"/>
              <a:ext cx="47625" cy="47625"/>
            </a:xfrm>
            <a:prstGeom prst="ellipse">
              <a:avLst/>
            </a:prstGeom>
            <a:solidFill>
              <a:srgbClr val="B03A1F"/>
            </a:solidFill>
            <a:ln>
              <a:noFill/>
            </a:ln>
          </p:spPr>
        </p:sp>
        <p:sp>
          <p:nvSpPr>
            <p:cNvPr id="18" name="TextBox 18"/>
            <p:cNvSpPr txBox="1"/>
            <p:nvPr/>
          </p:nvSpPr>
          <p:spPr>
            <a:xfrm>
              <a:off x="471488" y="1550670"/>
              <a:ext cx="1221105"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新增客户结构持续优化</a:t>
              </a:r>
            </a:p>
          </p:txBody>
        </p:sp>
        <p:sp>
          <p:nvSpPr>
            <p:cNvPr id="19" name="Ellipse 19"/>
            <p:cNvSpPr/>
            <p:nvPr/>
          </p:nvSpPr>
          <p:spPr>
            <a:xfrm>
              <a:off x="357188" y="1795462"/>
              <a:ext cx="47625" cy="47625"/>
            </a:xfrm>
            <a:prstGeom prst="ellipse">
              <a:avLst/>
            </a:prstGeom>
            <a:solidFill>
              <a:srgbClr val="B03A1F"/>
            </a:solidFill>
            <a:ln>
              <a:noFill/>
            </a:ln>
          </p:spPr>
        </p:sp>
        <p:sp>
          <p:nvSpPr>
            <p:cNvPr id="20" name="TextBox 20"/>
            <p:cNvSpPr txBox="1"/>
            <p:nvPr/>
          </p:nvSpPr>
          <p:spPr>
            <a:xfrm>
              <a:off x="471488" y="1760220"/>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核心客户占比提升</a:t>
              </a:r>
            </a:p>
          </p:txBody>
        </p:sp>
        <p:sp>
          <p:nvSpPr>
            <p:cNvPr id="21" name="Rectangle 21"/>
            <p:cNvSpPr/>
            <p:nvPr/>
          </p:nvSpPr>
          <p:spPr>
            <a:xfrm>
              <a:off x="2171700" y="1895475"/>
              <a:ext cx="104775" cy="152400"/>
            </a:xfrm>
            <a:prstGeom prst="rect">
              <a:avLst/>
            </a:prstGeom>
            <a:solidFill>
              <a:srgbClr val="E8B2A6"/>
            </a:solidFill>
            <a:ln>
              <a:noFill/>
            </a:ln>
          </p:spPr>
        </p:sp>
        <p:sp>
          <p:nvSpPr>
            <p:cNvPr id="22" name="Rectangle 22"/>
            <p:cNvSpPr/>
            <p:nvPr/>
          </p:nvSpPr>
          <p:spPr>
            <a:xfrm>
              <a:off x="2333625" y="1800225"/>
              <a:ext cx="104775" cy="247650"/>
            </a:xfrm>
            <a:prstGeom prst="rect">
              <a:avLst/>
            </a:prstGeom>
            <a:solidFill>
              <a:srgbClr val="D97F6A"/>
            </a:solidFill>
            <a:ln>
              <a:noFill/>
            </a:ln>
          </p:spPr>
        </p:sp>
        <p:sp>
          <p:nvSpPr>
            <p:cNvPr id="23" name="Rectangle 23"/>
            <p:cNvSpPr/>
            <p:nvPr/>
          </p:nvSpPr>
          <p:spPr>
            <a:xfrm>
              <a:off x="2495550" y="1685925"/>
              <a:ext cx="104775" cy="361950"/>
            </a:xfrm>
            <a:prstGeom prst="rect">
              <a:avLst/>
            </a:prstGeom>
            <a:solidFill>
              <a:srgbClr val="C54C30"/>
            </a:solidFill>
            <a:ln>
              <a:noFill/>
            </a:ln>
          </p:spPr>
        </p:sp>
        <p:sp>
          <p:nvSpPr>
            <p:cNvPr id="24" name="Rectangle 24"/>
            <p:cNvSpPr/>
            <p:nvPr/>
          </p:nvSpPr>
          <p:spPr>
            <a:xfrm>
              <a:off x="2657475" y="1571625"/>
              <a:ext cx="104775" cy="476250"/>
            </a:xfrm>
            <a:prstGeom prst="rect">
              <a:avLst/>
            </a:prstGeom>
            <a:solidFill>
              <a:srgbClr val="B03A1F"/>
            </a:solidFill>
            <a:ln>
              <a:noFill/>
            </a:ln>
          </p:spPr>
        </p:sp>
        <p:sp>
          <p:nvSpPr>
            <p:cNvPr id="25" name="Rectangle 25"/>
            <p:cNvSpPr/>
            <p:nvPr/>
          </p:nvSpPr>
          <p:spPr>
            <a:xfrm>
              <a:off x="2819400" y="1457325"/>
              <a:ext cx="104775" cy="590550"/>
            </a:xfrm>
            <a:prstGeom prst="rect">
              <a:avLst/>
            </a:prstGeom>
            <a:solidFill>
              <a:srgbClr val="8E301B"/>
            </a:solidFill>
            <a:ln>
              <a:noFill/>
            </a:ln>
          </p:spPr>
        </p:sp>
      </p:grpSp>
      <p:grpSp>
        <p:nvGrpSpPr>
          <p:cNvPr id="43" name="card-kpi-2"/>
          <p:cNvGrpSpPr/>
          <p:nvPr/>
        </p:nvGrpSpPr>
        <p:grpSpPr>
          <a:xfrm>
            <a:off x="3190875" y="714375"/>
            <a:ext cx="2857500" cy="1428750"/>
            <a:chOff x="3190875" y="714375"/>
            <a:chExt cx="2857500" cy="1428750"/>
          </a:xfrm>
        </p:grpSpPr>
        <p:sp>
          <p:nvSpPr>
            <p:cNvPr id="27" name="Rectangle 27"/>
            <p:cNvSpPr/>
            <p:nvPr/>
          </p:nvSpPr>
          <p:spPr>
            <a:xfrm>
              <a:off x="3190875" y="714375"/>
              <a:ext cx="2857500" cy="1428750"/>
            </a:xfrm>
            <a:prstGeom prst="rect">
              <a:avLst/>
            </a:prstGeom>
            <a:solidFill>
              <a:srgbClr val="FFFFFF"/>
            </a:solidFill>
            <a:ln w="9525">
              <a:solidFill>
                <a:srgbClr val="E5E0DC"/>
              </a:solidFill>
            </a:ln>
          </p:spPr>
        </p:sp>
        <p:sp>
          <p:nvSpPr>
            <p:cNvPr id="28" name="Ellipse 28"/>
            <p:cNvSpPr/>
            <p:nvPr/>
          </p:nvSpPr>
          <p:spPr>
            <a:xfrm>
              <a:off x="3190875" y="714375"/>
              <a:ext cx="419100" cy="419100"/>
            </a:xfrm>
            <a:prstGeom prst="ellipse">
              <a:avLst/>
            </a:prstGeom>
            <a:solidFill>
              <a:srgbClr val="B03A1F"/>
            </a:solidFill>
            <a:ln>
              <a:noFill/>
            </a:ln>
          </p:spPr>
        </p:sp>
        <p:grpSp>
          <p:nvGrpSpPr>
            <p:cNvPr id="33" name="Group 33"/>
            <p:cNvGrpSpPr/>
            <p:nvPr/>
          </p:nvGrpSpPr>
          <p:grpSpPr>
            <a:xfrm>
              <a:off x="3314700" y="847725"/>
              <a:ext cx="171450" cy="161925"/>
              <a:chOff x="3314700" y="847725"/>
              <a:chExt cx="171450" cy="161925"/>
            </a:xfrm>
          </p:grpSpPr>
          <p:sp>
            <p:nvSpPr>
              <p:cNvPr id="29" name="Freeform 29"/>
              <p:cNvSpPr/>
              <p:nvPr/>
            </p:nvSpPr>
            <p:spPr>
              <a:xfrm>
                <a:off x="3314700" y="923925"/>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30" name="Freeform 30"/>
              <p:cNvSpPr/>
              <p:nvPr/>
            </p:nvSpPr>
            <p:spPr>
              <a:xfrm>
                <a:off x="3429000" y="885825"/>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31" name="Freeform 31"/>
              <p:cNvSpPr/>
              <p:nvPr/>
            </p:nvSpPr>
            <p:spPr>
              <a:xfrm>
                <a:off x="3371850" y="847725"/>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32" name="Freeform 32"/>
              <p:cNvSpPr/>
              <p:nvPr/>
            </p:nvSpPr>
            <p:spPr>
              <a:xfrm>
                <a:off x="3324225" y="1000125"/>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34" name="TextBox 34"/>
            <p:cNvSpPr txBox="1"/>
            <p:nvPr/>
          </p:nvSpPr>
          <p:spPr>
            <a:xfrm>
              <a:off x="3717798" y="852964"/>
              <a:ext cx="883560" cy="249364"/>
            </a:xfrm>
            <a:prstGeom prst="rect">
              <a:avLst/>
            </a:prstGeom>
            <a:noFill/>
            <a:ln>
              <a:noFill/>
            </a:ln>
          </p:spPr>
          <p:txBody>
            <a:bodyPr wrap="none" lIns="0" tIns="0" rIns="0" bIns="0" anchor="t" anchorCtr="0">
              <a:spAutoFit/>
            </a:bodyPr>
            <a:lstStyle/>
            <a:p>
              <a:pPr algn="l"/>
              <a:r>
                <a:rPr lang="zh-CN" sz="1280" b="1" dirty="0">
                  <a:solidFill>
                    <a:srgbClr val="B03A1F"/>
                  </a:solidFill>
                  <a:latin typeface="+mn-lt"/>
                  <a:ea typeface="+mn-ea"/>
                  <a:cs typeface="+mn-cs"/>
                </a:rPr>
                <a:t xml:space="preserve">AUM增长　</a:t>
              </a:r>
            </a:p>
          </p:txBody>
        </p:sp>
        <p:sp>
          <p:nvSpPr>
            <p:cNvPr id="35" name="Ellipse 35"/>
            <p:cNvSpPr/>
            <p:nvPr/>
          </p:nvSpPr>
          <p:spPr>
            <a:xfrm>
              <a:off x="3357562" y="1376362"/>
              <a:ext cx="47625" cy="47625"/>
            </a:xfrm>
            <a:prstGeom prst="ellipse">
              <a:avLst/>
            </a:prstGeom>
            <a:solidFill>
              <a:srgbClr val="B03A1F"/>
            </a:solidFill>
            <a:ln>
              <a:noFill/>
            </a:ln>
          </p:spPr>
        </p:sp>
        <p:sp>
          <p:nvSpPr>
            <p:cNvPr id="36" name="TextBox 36"/>
            <p:cNvSpPr txBox="1"/>
            <p:nvPr/>
          </p:nvSpPr>
          <p:spPr>
            <a:xfrm>
              <a:off x="3471862" y="1341120"/>
              <a:ext cx="1094461"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 xml:space="preserve">AUM规模稳健增长　</a:t>
              </a:r>
            </a:p>
          </p:txBody>
        </p:sp>
        <p:sp>
          <p:nvSpPr>
            <p:cNvPr id="37" name="Ellipse 37"/>
            <p:cNvSpPr/>
            <p:nvPr/>
          </p:nvSpPr>
          <p:spPr>
            <a:xfrm>
              <a:off x="3357562" y="1585912"/>
              <a:ext cx="47625" cy="47625"/>
            </a:xfrm>
            <a:prstGeom prst="ellipse">
              <a:avLst/>
            </a:prstGeom>
            <a:solidFill>
              <a:srgbClr val="B03A1F"/>
            </a:solidFill>
            <a:ln>
              <a:noFill/>
            </a:ln>
          </p:spPr>
        </p:sp>
        <p:sp>
          <p:nvSpPr>
            <p:cNvPr id="38" name="TextBox 38"/>
            <p:cNvSpPr txBox="1"/>
            <p:nvPr/>
          </p:nvSpPr>
          <p:spPr>
            <a:xfrm>
              <a:off x="3471862" y="1550670"/>
              <a:ext cx="1221105"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财富客户增长带动提升</a:t>
              </a:r>
            </a:p>
          </p:txBody>
        </p:sp>
        <p:sp>
          <p:nvSpPr>
            <p:cNvPr id="39" name="Ellipse 39"/>
            <p:cNvSpPr/>
            <p:nvPr/>
          </p:nvSpPr>
          <p:spPr>
            <a:xfrm>
              <a:off x="3357562" y="1795462"/>
              <a:ext cx="47625" cy="47625"/>
            </a:xfrm>
            <a:prstGeom prst="ellipse">
              <a:avLst/>
            </a:prstGeom>
            <a:solidFill>
              <a:srgbClr val="B03A1F"/>
            </a:solidFill>
            <a:ln>
              <a:noFill/>
            </a:ln>
          </p:spPr>
        </p:sp>
        <p:sp>
          <p:nvSpPr>
            <p:cNvPr id="40" name="TextBox 40"/>
            <p:cNvSpPr txBox="1"/>
            <p:nvPr/>
          </p:nvSpPr>
          <p:spPr>
            <a:xfrm>
              <a:off x="3471862" y="1760220"/>
              <a:ext cx="109994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中长期资金占比改善</a:t>
              </a:r>
            </a:p>
          </p:txBody>
        </p:sp>
        <p:sp>
          <p:nvSpPr>
            <p:cNvPr id="41" name="Freeform 41"/>
            <p:cNvSpPr/>
            <p:nvPr/>
          </p:nvSpPr>
          <p:spPr>
            <a:xfrm>
              <a:off x="5143500" y="1504950"/>
              <a:ext cx="714375" cy="495300"/>
            </a:xfrm>
            <a:custGeom>
              <a:avLst/>
              <a:gdLst/>
              <a:ahLst/>
              <a:cxnLst/>
              <a:rect l="l" t="t" r="r" b="b"/>
              <a:pathLst>
                <a:path w="714375" h="495300">
                  <a:moveTo>
                    <a:pt x="0" y="495300"/>
                  </a:moveTo>
                  <a:lnTo>
                    <a:pt x="0" y="323850"/>
                  </a:lnTo>
                  <a:lnTo>
                    <a:pt x="238125" y="152400"/>
                  </a:lnTo>
                  <a:lnTo>
                    <a:pt x="476250" y="228600"/>
                  </a:lnTo>
                  <a:lnTo>
                    <a:pt x="714375" y="0"/>
                  </a:lnTo>
                  <a:lnTo>
                    <a:pt x="714375" y="495300"/>
                  </a:lnTo>
                  <a:close/>
                </a:path>
              </a:pathLst>
            </a:custGeom>
            <a:gradFill>
              <a:gsLst>
                <a:gs pos="0">
                  <a:srgbClr val="D45B40"/>
                </a:gs>
                <a:gs pos="100000">
                  <a:srgbClr val="F5D5D7"/>
                </a:gs>
              </a:gsLst>
              <a:lin ang="5400000" scaled="1"/>
            </a:gradFill>
            <a:ln>
              <a:noFill/>
            </a:ln>
          </p:spPr>
        </p:sp>
        <p:sp>
          <p:nvSpPr>
            <p:cNvPr id="42" name="Polyline 42"/>
            <p:cNvSpPr/>
            <p:nvPr/>
          </p:nvSpPr>
          <p:spPr>
            <a:xfrm>
              <a:off x="5143500" y="1504950"/>
              <a:ext cx="714375" cy="323850"/>
            </a:xfrm>
            <a:custGeom>
              <a:avLst/>
              <a:gdLst/>
              <a:ahLst/>
              <a:cxnLst/>
              <a:rect l="l" t="t" r="r" b="b"/>
              <a:pathLst>
                <a:path w="714375" h="323850">
                  <a:moveTo>
                    <a:pt x="0" y="323850"/>
                  </a:moveTo>
                  <a:lnTo>
                    <a:pt x="238125" y="152400"/>
                  </a:lnTo>
                  <a:lnTo>
                    <a:pt x="476250" y="228600"/>
                  </a:lnTo>
                  <a:lnTo>
                    <a:pt x="714375" y="0"/>
                  </a:lnTo>
                </a:path>
              </a:pathLst>
            </a:custGeom>
            <a:noFill/>
            <a:ln w="19050">
              <a:solidFill>
                <a:srgbClr val="B03A1F"/>
              </a:solidFill>
            </a:ln>
          </p:spPr>
        </p:sp>
      </p:grpSp>
      <p:grpSp>
        <p:nvGrpSpPr>
          <p:cNvPr id="60" name="card-kpi-3"/>
          <p:cNvGrpSpPr/>
          <p:nvPr/>
        </p:nvGrpSpPr>
        <p:grpSpPr>
          <a:xfrm>
            <a:off x="6191250" y="714375"/>
            <a:ext cx="2857500" cy="1428750"/>
            <a:chOff x="6191250" y="714375"/>
            <a:chExt cx="2857500" cy="1428750"/>
          </a:xfrm>
        </p:grpSpPr>
        <p:sp>
          <p:nvSpPr>
            <p:cNvPr id="44" name="Rectangle 44"/>
            <p:cNvSpPr/>
            <p:nvPr/>
          </p:nvSpPr>
          <p:spPr>
            <a:xfrm>
              <a:off x="6191250" y="714375"/>
              <a:ext cx="2857500" cy="1428750"/>
            </a:xfrm>
            <a:prstGeom prst="rect">
              <a:avLst/>
            </a:prstGeom>
            <a:solidFill>
              <a:srgbClr val="FFFFFF"/>
            </a:solidFill>
            <a:ln w="9525">
              <a:solidFill>
                <a:srgbClr val="E5E0DC"/>
              </a:solidFill>
            </a:ln>
          </p:spPr>
        </p:sp>
        <p:sp>
          <p:nvSpPr>
            <p:cNvPr id="45" name="Ellipse 45"/>
            <p:cNvSpPr/>
            <p:nvPr/>
          </p:nvSpPr>
          <p:spPr>
            <a:xfrm>
              <a:off x="6191250" y="714375"/>
              <a:ext cx="419100" cy="419100"/>
            </a:xfrm>
            <a:prstGeom prst="ellipse">
              <a:avLst/>
            </a:prstGeom>
            <a:solidFill>
              <a:srgbClr val="B03A1F"/>
            </a:solidFill>
            <a:ln>
              <a:noFill/>
            </a:ln>
          </p:spPr>
        </p:sp>
        <p:grpSp>
          <p:nvGrpSpPr>
            <p:cNvPr id="50" name="Group 50"/>
            <p:cNvGrpSpPr/>
            <p:nvPr/>
          </p:nvGrpSpPr>
          <p:grpSpPr>
            <a:xfrm>
              <a:off x="6324600" y="838200"/>
              <a:ext cx="152400" cy="171450"/>
              <a:chOff x="6324600" y="838200"/>
              <a:chExt cx="152400" cy="171450"/>
            </a:xfrm>
          </p:grpSpPr>
          <p:sp>
            <p:nvSpPr>
              <p:cNvPr id="46" name="Freeform 46"/>
              <p:cNvSpPr/>
              <p:nvPr/>
            </p:nvSpPr>
            <p:spPr>
              <a:xfrm>
                <a:off x="6324600" y="9715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47" name="Freeform 47"/>
              <p:cNvSpPr/>
              <p:nvPr/>
            </p:nvSpPr>
            <p:spPr>
              <a:xfrm>
                <a:off x="6429375" y="9715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48" name="Freeform 48"/>
              <p:cNvSpPr/>
              <p:nvPr/>
            </p:nvSpPr>
            <p:spPr>
              <a:xfrm>
                <a:off x="6324600" y="838200"/>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FFFFFF"/>
                </a:solidFill>
              </a:ln>
            </p:spPr>
          </p:sp>
          <p:sp>
            <p:nvSpPr>
              <p:cNvPr id="49" name="Freeform 49"/>
              <p:cNvSpPr/>
              <p:nvPr/>
            </p:nvSpPr>
            <p:spPr>
              <a:xfrm>
                <a:off x="6343650" y="857250"/>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FFFFFF"/>
                </a:solidFill>
              </a:ln>
            </p:spPr>
          </p:sp>
        </p:grpSp>
        <p:sp>
          <p:nvSpPr>
            <p:cNvPr id="51" name="TextBox 51"/>
            <p:cNvSpPr txBox="1"/>
            <p:nvPr/>
          </p:nvSpPr>
          <p:spPr>
            <a:xfrm>
              <a:off x="6718173" y="852964"/>
              <a:ext cx="702208" cy="249364"/>
            </a:xfrm>
            <a:prstGeom prst="rect">
              <a:avLst/>
            </a:prstGeom>
            <a:noFill/>
            <a:ln>
              <a:noFill/>
            </a:ln>
          </p:spPr>
          <p:txBody>
            <a:bodyPr wrap="none" lIns="0" tIns="0" rIns="0" bIns="0" anchor="t" anchorCtr="0">
              <a:spAutoFit/>
            </a:bodyPr>
            <a:lstStyle/>
            <a:p>
              <a:pPr algn="l"/>
              <a:r>
                <a:rPr lang="zh-CN" sz="1280" b="1" dirty="0">
                  <a:solidFill>
                    <a:srgbClr val="B03A1F"/>
                  </a:solidFill>
                  <a:latin typeface="+mn-lt"/>
                  <a:ea typeface="+mn-ea"/>
                  <a:cs typeface="+mn-cs"/>
                </a:rPr>
                <a:t>消费金融</a:t>
              </a:r>
            </a:p>
          </p:txBody>
        </p:sp>
        <p:sp>
          <p:nvSpPr>
            <p:cNvPr id="52" name="Ellipse 52"/>
            <p:cNvSpPr/>
            <p:nvPr/>
          </p:nvSpPr>
          <p:spPr>
            <a:xfrm>
              <a:off x="6357938" y="1376362"/>
              <a:ext cx="47625" cy="47625"/>
            </a:xfrm>
            <a:prstGeom prst="ellipse">
              <a:avLst/>
            </a:prstGeom>
            <a:solidFill>
              <a:srgbClr val="B03A1F"/>
            </a:solidFill>
            <a:ln>
              <a:noFill/>
            </a:ln>
          </p:spPr>
        </p:sp>
        <p:sp>
          <p:nvSpPr>
            <p:cNvPr id="53" name="TextBox 53"/>
            <p:cNvSpPr txBox="1"/>
            <p:nvPr/>
          </p:nvSpPr>
          <p:spPr>
            <a:xfrm>
              <a:off x="6472238" y="1341120"/>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贷款规模稳步提升</a:t>
              </a:r>
            </a:p>
          </p:txBody>
        </p:sp>
        <p:sp>
          <p:nvSpPr>
            <p:cNvPr id="54" name="Ellipse 54"/>
            <p:cNvSpPr/>
            <p:nvPr/>
          </p:nvSpPr>
          <p:spPr>
            <a:xfrm>
              <a:off x="6357938" y="1585912"/>
              <a:ext cx="47625" cy="47625"/>
            </a:xfrm>
            <a:prstGeom prst="ellipse">
              <a:avLst/>
            </a:prstGeom>
            <a:solidFill>
              <a:srgbClr val="B03A1F"/>
            </a:solidFill>
            <a:ln>
              <a:noFill/>
            </a:ln>
          </p:spPr>
        </p:sp>
        <p:sp>
          <p:nvSpPr>
            <p:cNvPr id="55" name="TextBox 55"/>
            <p:cNvSpPr txBox="1"/>
            <p:nvPr/>
          </p:nvSpPr>
          <p:spPr>
            <a:xfrm>
              <a:off x="6472238" y="1550670"/>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优质客户占比提高</a:t>
              </a:r>
            </a:p>
          </p:txBody>
        </p:sp>
        <p:sp>
          <p:nvSpPr>
            <p:cNvPr id="56" name="Ellipse 56"/>
            <p:cNvSpPr/>
            <p:nvPr/>
          </p:nvSpPr>
          <p:spPr>
            <a:xfrm>
              <a:off x="6357938" y="1795462"/>
              <a:ext cx="47625" cy="47625"/>
            </a:xfrm>
            <a:prstGeom prst="ellipse">
              <a:avLst/>
            </a:prstGeom>
            <a:solidFill>
              <a:srgbClr val="B03A1F"/>
            </a:solidFill>
            <a:ln>
              <a:noFill/>
            </a:ln>
          </p:spPr>
        </p:sp>
        <p:sp>
          <p:nvSpPr>
            <p:cNvPr id="57" name="TextBox 57"/>
            <p:cNvSpPr txBox="1"/>
            <p:nvPr/>
          </p:nvSpPr>
          <p:spPr>
            <a:xfrm>
              <a:off x="6472238" y="1760220"/>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收益贡献稳步增强</a:t>
              </a:r>
            </a:p>
          </p:txBody>
        </p:sp>
        <p:sp>
          <p:nvSpPr>
            <p:cNvPr id="58" name="Ellipse 58"/>
            <p:cNvSpPr/>
            <p:nvPr/>
          </p:nvSpPr>
          <p:spPr>
            <a:xfrm>
              <a:off x="7924800" y="1219200"/>
              <a:ext cx="457200" cy="457200"/>
            </a:xfrm>
            <a:prstGeom prst="ellipse">
              <a:avLst/>
            </a:prstGeom>
            <a:noFill/>
            <a:ln w="104775">
              <a:solidFill>
                <a:srgbClr val="D8D4D0"/>
              </a:solidFill>
            </a:ln>
          </p:spPr>
        </p:sp>
        <p:sp>
          <p:nvSpPr>
            <p:cNvPr id="59" name="Arc 59"/>
            <p:cNvSpPr/>
            <p:nvPr/>
          </p:nvSpPr>
          <p:spPr>
            <a:xfrm>
              <a:off x="7872412" y="1166885"/>
              <a:ext cx="561685" cy="508117"/>
            </a:xfrm>
            <a:custGeom>
              <a:avLst/>
              <a:gdLst/>
              <a:ahLst/>
              <a:cxnLst/>
              <a:rect l="l" t="t" r="r" b="b"/>
              <a:pathLst>
                <a:path w="561685" h="508117">
                  <a:moveTo>
                    <a:pt x="0" y="280915"/>
                  </a:moveTo>
                  <a:lnTo>
                    <a:pt x="1392" y="252977"/>
                  </a:lnTo>
                  <a:lnTo>
                    <a:pt x="5556" y="225315"/>
                  </a:lnTo>
                  <a:lnTo>
                    <a:pt x="12449" y="198205"/>
                  </a:lnTo>
                  <a:lnTo>
                    <a:pt x="22003" y="171914"/>
                  </a:lnTo>
                  <a:lnTo>
                    <a:pt x="34124" y="146704"/>
                  </a:lnTo>
                  <a:lnTo>
                    <a:pt x="48692" y="122824"/>
                  </a:lnTo>
                  <a:lnTo>
                    <a:pt x="65562" y="100510"/>
                  </a:lnTo>
                  <a:lnTo>
                    <a:pt x="84567" y="79985"/>
                  </a:lnTo>
                  <a:lnTo>
                    <a:pt x="105519" y="61451"/>
                  </a:lnTo>
                  <a:lnTo>
                    <a:pt x="128209" y="45091"/>
                  </a:lnTo>
                  <a:lnTo>
                    <a:pt x="152414" y="31069"/>
                  </a:lnTo>
                  <a:lnTo>
                    <a:pt x="177893" y="19524"/>
                  </a:lnTo>
                  <a:lnTo>
                    <a:pt x="204394" y="10568"/>
                  </a:lnTo>
                  <a:lnTo>
                    <a:pt x="231654" y="4292"/>
                  </a:lnTo>
                  <a:lnTo>
                    <a:pt x="259403" y="758"/>
                  </a:lnTo>
                  <a:lnTo>
                    <a:pt x="287365" y="0"/>
                  </a:lnTo>
                  <a:lnTo>
                    <a:pt x="315265" y="2026"/>
                  </a:lnTo>
                  <a:lnTo>
                    <a:pt x="342825" y="6816"/>
                  </a:lnTo>
                  <a:lnTo>
                    <a:pt x="369771" y="14323"/>
                  </a:lnTo>
                  <a:lnTo>
                    <a:pt x="395838" y="24472"/>
                  </a:lnTo>
                  <a:lnTo>
                    <a:pt x="420767" y="37162"/>
                  </a:lnTo>
                  <a:lnTo>
                    <a:pt x="444311" y="52268"/>
                  </a:lnTo>
                  <a:lnTo>
                    <a:pt x="466236" y="69640"/>
                  </a:lnTo>
                  <a:lnTo>
                    <a:pt x="486324" y="89106"/>
                  </a:lnTo>
                  <a:lnTo>
                    <a:pt x="504378" y="110473"/>
                  </a:lnTo>
                  <a:lnTo>
                    <a:pt x="520218" y="133529"/>
                  </a:lnTo>
                  <a:lnTo>
                    <a:pt x="533687" y="158046"/>
                  </a:lnTo>
                  <a:lnTo>
                    <a:pt x="544652" y="183780"/>
                  </a:lnTo>
                  <a:lnTo>
                    <a:pt x="553003" y="210478"/>
                  </a:lnTo>
                  <a:lnTo>
                    <a:pt x="558659" y="237873"/>
                  </a:lnTo>
                  <a:lnTo>
                    <a:pt x="561562" y="265695"/>
                  </a:lnTo>
                  <a:lnTo>
                    <a:pt x="561685" y="293667"/>
                  </a:lnTo>
                  <a:lnTo>
                    <a:pt x="559027" y="321514"/>
                  </a:lnTo>
                  <a:lnTo>
                    <a:pt x="553612" y="348958"/>
                  </a:lnTo>
                  <a:lnTo>
                    <a:pt x="545496" y="375727"/>
                  </a:lnTo>
                  <a:lnTo>
                    <a:pt x="534758" y="401557"/>
                  </a:lnTo>
                  <a:lnTo>
                    <a:pt x="521505" y="426191"/>
                  </a:lnTo>
                  <a:lnTo>
                    <a:pt x="505869" y="449386"/>
                  </a:lnTo>
                  <a:lnTo>
                    <a:pt x="488003" y="470911"/>
                  </a:lnTo>
                  <a:lnTo>
                    <a:pt x="468087" y="490553"/>
                  </a:lnTo>
                  <a:lnTo>
                    <a:pt x="446315" y="508117"/>
                  </a:lnTo>
                  <a:lnTo>
                    <a:pt x="384668" y="423398"/>
                  </a:lnTo>
                  <a:lnTo>
                    <a:pt x="398321" y="412383"/>
                  </a:lnTo>
                  <a:lnTo>
                    <a:pt x="410811" y="400065"/>
                  </a:lnTo>
                  <a:lnTo>
                    <a:pt x="422015" y="386566"/>
                  </a:lnTo>
                  <a:lnTo>
                    <a:pt x="431821" y="372021"/>
                  </a:lnTo>
                  <a:lnTo>
                    <a:pt x="440132" y="356572"/>
                  </a:lnTo>
                  <a:lnTo>
                    <a:pt x="446866" y="340374"/>
                  </a:lnTo>
                  <a:lnTo>
                    <a:pt x="451955" y="323586"/>
                  </a:lnTo>
                  <a:lnTo>
                    <a:pt x="455351" y="306375"/>
                  </a:lnTo>
                  <a:lnTo>
                    <a:pt x="457018" y="288912"/>
                  </a:lnTo>
                  <a:lnTo>
                    <a:pt x="456941" y="271370"/>
                  </a:lnTo>
                  <a:lnTo>
                    <a:pt x="455120" y="253922"/>
                  </a:lnTo>
                  <a:lnTo>
                    <a:pt x="451574" y="236742"/>
                  </a:lnTo>
                  <a:lnTo>
                    <a:pt x="446336" y="220000"/>
                  </a:lnTo>
                  <a:lnTo>
                    <a:pt x="439460" y="203861"/>
                  </a:lnTo>
                  <a:lnTo>
                    <a:pt x="431014" y="188487"/>
                  </a:lnTo>
                  <a:lnTo>
                    <a:pt x="421080" y="174028"/>
                  </a:lnTo>
                  <a:lnTo>
                    <a:pt x="409758" y="160628"/>
                  </a:lnTo>
                  <a:lnTo>
                    <a:pt x="397160" y="148421"/>
                  </a:lnTo>
                  <a:lnTo>
                    <a:pt x="383411" y="137526"/>
                  </a:lnTo>
                  <a:lnTo>
                    <a:pt x="368646" y="128053"/>
                  </a:lnTo>
                  <a:lnTo>
                    <a:pt x="353013" y="120095"/>
                  </a:lnTo>
                  <a:lnTo>
                    <a:pt x="336666" y="113730"/>
                  </a:lnTo>
                  <a:lnTo>
                    <a:pt x="319767" y="109023"/>
                  </a:lnTo>
                  <a:lnTo>
                    <a:pt x="302483" y="106019"/>
                  </a:lnTo>
                  <a:lnTo>
                    <a:pt x="284987" y="104748"/>
                  </a:lnTo>
                  <a:lnTo>
                    <a:pt x="267451" y="105223"/>
                  </a:lnTo>
                  <a:lnTo>
                    <a:pt x="250049" y="107440"/>
                  </a:lnTo>
                  <a:lnTo>
                    <a:pt x="232954" y="111376"/>
                  </a:lnTo>
                  <a:lnTo>
                    <a:pt x="216335" y="116992"/>
                  </a:lnTo>
                  <a:lnTo>
                    <a:pt x="200357" y="124232"/>
                  </a:lnTo>
                  <a:lnTo>
                    <a:pt x="185178" y="133026"/>
                  </a:lnTo>
                  <a:lnTo>
                    <a:pt x="170948" y="143285"/>
                  </a:lnTo>
                  <a:lnTo>
                    <a:pt x="157809" y="154908"/>
                  </a:lnTo>
                  <a:lnTo>
                    <a:pt x="145890" y="167780"/>
                  </a:lnTo>
                  <a:lnTo>
                    <a:pt x="135311" y="181773"/>
                  </a:lnTo>
                  <a:lnTo>
                    <a:pt x="126175" y="196749"/>
                  </a:lnTo>
                  <a:lnTo>
                    <a:pt x="118574" y="212559"/>
                  </a:lnTo>
                  <a:lnTo>
                    <a:pt x="112582" y="229046"/>
                  </a:lnTo>
                  <a:lnTo>
                    <a:pt x="108259" y="246048"/>
                  </a:lnTo>
                  <a:lnTo>
                    <a:pt x="105648" y="263394"/>
                  </a:lnTo>
                  <a:lnTo>
                    <a:pt x="104775" y="280915"/>
                  </a:lnTo>
                  <a:close/>
                </a:path>
              </a:pathLst>
            </a:custGeom>
            <a:solidFill>
              <a:srgbClr val="B03A1F"/>
            </a:solidFill>
            <a:ln>
              <a:noFill/>
            </a:ln>
          </p:spPr>
        </p:sp>
      </p:grpSp>
      <p:grpSp>
        <p:nvGrpSpPr>
          <p:cNvPr id="79" name="card-kpi-4"/>
          <p:cNvGrpSpPr/>
          <p:nvPr/>
        </p:nvGrpSpPr>
        <p:grpSpPr>
          <a:xfrm>
            <a:off x="9191625" y="714375"/>
            <a:ext cx="2857500" cy="1428750"/>
            <a:chOff x="9191625" y="714375"/>
            <a:chExt cx="2857500" cy="1428750"/>
          </a:xfrm>
        </p:grpSpPr>
        <p:sp>
          <p:nvSpPr>
            <p:cNvPr id="61" name="Rectangle 61"/>
            <p:cNvSpPr/>
            <p:nvPr/>
          </p:nvSpPr>
          <p:spPr>
            <a:xfrm>
              <a:off x="9191625" y="714375"/>
              <a:ext cx="2857500" cy="1428750"/>
            </a:xfrm>
            <a:prstGeom prst="rect">
              <a:avLst/>
            </a:prstGeom>
            <a:solidFill>
              <a:srgbClr val="FFFFFF"/>
            </a:solidFill>
            <a:ln w="9525">
              <a:solidFill>
                <a:srgbClr val="E5E0DC"/>
              </a:solidFill>
            </a:ln>
          </p:spPr>
        </p:sp>
        <p:sp>
          <p:nvSpPr>
            <p:cNvPr id="62" name="Ellipse 62"/>
            <p:cNvSpPr/>
            <p:nvPr/>
          </p:nvSpPr>
          <p:spPr>
            <a:xfrm>
              <a:off x="9191625" y="714375"/>
              <a:ext cx="419100" cy="419100"/>
            </a:xfrm>
            <a:prstGeom prst="ellipse">
              <a:avLst/>
            </a:prstGeom>
            <a:solidFill>
              <a:srgbClr val="B03A1F"/>
            </a:solidFill>
            <a:ln>
              <a:noFill/>
            </a:ln>
          </p:spPr>
        </p:sp>
        <p:grpSp>
          <p:nvGrpSpPr>
            <p:cNvPr id="66" name="Group 66"/>
            <p:cNvGrpSpPr/>
            <p:nvPr/>
          </p:nvGrpSpPr>
          <p:grpSpPr>
            <a:xfrm>
              <a:off x="9344025" y="838200"/>
              <a:ext cx="114300" cy="171450"/>
              <a:chOff x="9344025" y="838200"/>
              <a:chExt cx="114300" cy="171450"/>
            </a:xfrm>
          </p:grpSpPr>
          <p:sp>
            <p:nvSpPr>
              <p:cNvPr id="63" name="Freeform 63"/>
              <p:cNvSpPr/>
              <p:nvPr/>
            </p:nvSpPr>
            <p:spPr>
              <a:xfrm>
                <a:off x="9344025" y="838200"/>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FFFFFF"/>
                </a:solidFill>
              </a:ln>
            </p:spPr>
          </p:sp>
          <p:sp>
            <p:nvSpPr>
              <p:cNvPr id="64" name="Freeform 64"/>
              <p:cNvSpPr/>
              <p:nvPr/>
            </p:nvSpPr>
            <p:spPr>
              <a:xfrm>
                <a:off x="9391650" y="847725"/>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65" name="Freeform 65"/>
              <p:cNvSpPr/>
              <p:nvPr/>
            </p:nvSpPr>
            <p:spPr>
              <a:xfrm>
                <a:off x="9401175" y="971550"/>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67" name="TextBox 67"/>
            <p:cNvSpPr txBox="1"/>
            <p:nvPr/>
          </p:nvSpPr>
          <p:spPr>
            <a:xfrm>
              <a:off x="9718548" y="852964"/>
              <a:ext cx="702208" cy="249364"/>
            </a:xfrm>
            <a:prstGeom prst="rect">
              <a:avLst/>
            </a:prstGeom>
            <a:noFill/>
            <a:ln>
              <a:noFill/>
            </a:ln>
          </p:spPr>
          <p:txBody>
            <a:bodyPr wrap="none" lIns="0" tIns="0" rIns="0" bIns="0" anchor="t" anchorCtr="0">
              <a:spAutoFit/>
            </a:bodyPr>
            <a:lstStyle/>
            <a:p>
              <a:pPr algn="l"/>
              <a:r>
                <a:rPr lang="zh-CN" sz="1280" b="1" dirty="0">
                  <a:solidFill>
                    <a:srgbClr val="B03A1F"/>
                  </a:solidFill>
                  <a:latin typeface="+mn-lt"/>
                  <a:ea typeface="+mn-ea"/>
                  <a:cs typeface="+mn-cs"/>
                </a:rPr>
                <a:t>数字活跃</a:t>
              </a:r>
            </a:p>
          </p:txBody>
        </p:sp>
        <p:sp>
          <p:nvSpPr>
            <p:cNvPr id="68" name="Ellipse 68"/>
            <p:cNvSpPr/>
            <p:nvPr/>
          </p:nvSpPr>
          <p:spPr>
            <a:xfrm>
              <a:off x="9358312" y="1376362"/>
              <a:ext cx="47625" cy="47625"/>
            </a:xfrm>
            <a:prstGeom prst="ellipse">
              <a:avLst/>
            </a:prstGeom>
            <a:solidFill>
              <a:srgbClr val="B03A1F"/>
            </a:solidFill>
            <a:ln>
              <a:noFill/>
            </a:ln>
          </p:spPr>
        </p:sp>
        <p:sp>
          <p:nvSpPr>
            <p:cNvPr id="69" name="TextBox 69"/>
            <p:cNvSpPr txBox="1"/>
            <p:nvPr/>
          </p:nvSpPr>
          <p:spPr>
            <a:xfrm>
              <a:off x="9472612" y="1341120"/>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线上用户规模增长</a:t>
              </a:r>
            </a:p>
          </p:txBody>
        </p:sp>
        <p:sp>
          <p:nvSpPr>
            <p:cNvPr id="70" name="Ellipse 70"/>
            <p:cNvSpPr/>
            <p:nvPr/>
          </p:nvSpPr>
          <p:spPr>
            <a:xfrm>
              <a:off x="9358312" y="1585912"/>
              <a:ext cx="47625" cy="47625"/>
            </a:xfrm>
            <a:prstGeom prst="ellipse">
              <a:avLst/>
            </a:prstGeom>
            <a:solidFill>
              <a:srgbClr val="B03A1F"/>
            </a:solidFill>
            <a:ln>
              <a:noFill/>
            </a:ln>
          </p:spPr>
        </p:sp>
        <p:sp>
          <p:nvSpPr>
            <p:cNvPr id="71" name="TextBox 71"/>
            <p:cNvSpPr txBox="1"/>
            <p:nvPr/>
          </p:nvSpPr>
          <p:spPr>
            <a:xfrm>
              <a:off x="9472612" y="1550670"/>
              <a:ext cx="109994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月活跃使用频次提升</a:t>
              </a:r>
            </a:p>
          </p:txBody>
        </p:sp>
        <p:sp>
          <p:nvSpPr>
            <p:cNvPr id="72" name="Ellipse 72"/>
            <p:cNvSpPr/>
            <p:nvPr/>
          </p:nvSpPr>
          <p:spPr>
            <a:xfrm>
              <a:off x="9358312" y="1795462"/>
              <a:ext cx="47625" cy="47625"/>
            </a:xfrm>
            <a:prstGeom prst="ellipse">
              <a:avLst/>
            </a:prstGeom>
            <a:solidFill>
              <a:srgbClr val="B03A1F"/>
            </a:solidFill>
            <a:ln>
              <a:noFill/>
            </a:ln>
          </p:spPr>
        </p:sp>
        <p:sp>
          <p:nvSpPr>
            <p:cNvPr id="73" name="TextBox 73"/>
            <p:cNvSpPr txBox="1"/>
            <p:nvPr/>
          </p:nvSpPr>
          <p:spPr>
            <a:xfrm>
              <a:off x="9472612" y="1760220"/>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线上业务占比提高</a:t>
              </a:r>
            </a:p>
          </p:txBody>
        </p:sp>
        <p:sp>
          <p:nvSpPr>
            <p:cNvPr id="74" name="Polyline 74"/>
            <p:cNvSpPr/>
            <p:nvPr/>
          </p:nvSpPr>
          <p:spPr>
            <a:xfrm>
              <a:off x="11144250" y="1504950"/>
              <a:ext cx="723900" cy="419100"/>
            </a:xfrm>
            <a:custGeom>
              <a:avLst/>
              <a:gdLst/>
              <a:ahLst/>
              <a:cxnLst/>
              <a:rect l="l" t="t" r="r" b="b"/>
              <a:pathLst>
                <a:path w="723900" h="419100">
                  <a:moveTo>
                    <a:pt x="0" y="419100"/>
                  </a:moveTo>
                  <a:lnTo>
                    <a:pt x="247650" y="209550"/>
                  </a:lnTo>
                  <a:lnTo>
                    <a:pt x="495300" y="285750"/>
                  </a:lnTo>
                  <a:lnTo>
                    <a:pt x="723900" y="0"/>
                  </a:lnTo>
                </a:path>
              </a:pathLst>
            </a:custGeom>
            <a:noFill/>
            <a:ln w="23812">
              <a:solidFill>
                <a:srgbClr val="B03A1F"/>
              </a:solidFill>
            </a:ln>
          </p:spPr>
        </p:sp>
        <p:sp>
          <p:nvSpPr>
            <p:cNvPr id="75" name="Ellipse 75"/>
            <p:cNvSpPr/>
            <p:nvPr/>
          </p:nvSpPr>
          <p:spPr>
            <a:xfrm>
              <a:off x="11115675" y="1895475"/>
              <a:ext cx="57150" cy="57150"/>
            </a:xfrm>
            <a:prstGeom prst="ellipse">
              <a:avLst/>
            </a:prstGeom>
            <a:solidFill>
              <a:srgbClr val="B03A1F"/>
            </a:solidFill>
            <a:ln>
              <a:noFill/>
            </a:ln>
          </p:spPr>
        </p:sp>
        <p:sp>
          <p:nvSpPr>
            <p:cNvPr id="76" name="Ellipse 76"/>
            <p:cNvSpPr/>
            <p:nvPr/>
          </p:nvSpPr>
          <p:spPr>
            <a:xfrm>
              <a:off x="11363325" y="1685925"/>
              <a:ext cx="57150" cy="57150"/>
            </a:xfrm>
            <a:prstGeom prst="ellipse">
              <a:avLst/>
            </a:prstGeom>
            <a:solidFill>
              <a:srgbClr val="B03A1F"/>
            </a:solidFill>
            <a:ln>
              <a:noFill/>
            </a:ln>
          </p:spPr>
        </p:sp>
        <p:sp>
          <p:nvSpPr>
            <p:cNvPr id="77" name="Ellipse 77"/>
            <p:cNvSpPr/>
            <p:nvPr/>
          </p:nvSpPr>
          <p:spPr>
            <a:xfrm>
              <a:off x="11610975" y="1762125"/>
              <a:ext cx="57150" cy="57150"/>
            </a:xfrm>
            <a:prstGeom prst="ellipse">
              <a:avLst/>
            </a:prstGeom>
            <a:solidFill>
              <a:srgbClr val="B03A1F"/>
            </a:solidFill>
            <a:ln>
              <a:noFill/>
            </a:ln>
          </p:spPr>
        </p:sp>
        <p:sp>
          <p:nvSpPr>
            <p:cNvPr id="78" name="Ellipse 78"/>
            <p:cNvSpPr/>
            <p:nvPr/>
          </p:nvSpPr>
          <p:spPr>
            <a:xfrm>
              <a:off x="11839575" y="1476375"/>
              <a:ext cx="57150" cy="57150"/>
            </a:xfrm>
            <a:prstGeom prst="ellipse">
              <a:avLst/>
            </a:prstGeom>
            <a:solidFill>
              <a:srgbClr val="B03A1F"/>
            </a:solidFill>
            <a:ln>
              <a:noFill/>
            </a:ln>
          </p:spPr>
        </p:sp>
      </p:grpSp>
      <p:grpSp>
        <p:nvGrpSpPr>
          <p:cNvPr id="105" name="card-review"/>
          <p:cNvGrpSpPr/>
          <p:nvPr/>
        </p:nvGrpSpPr>
        <p:grpSpPr>
          <a:xfrm>
            <a:off x="190500" y="2238375"/>
            <a:ext cx="5905500" cy="2571750"/>
            <a:chOff x="190500" y="2238375"/>
            <a:chExt cx="5905500" cy="2571750"/>
          </a:xfrm>
        </p:grpSpPr>
        <p:sp>
          <p:nvSpPr>
            <p:cNvPr id="80" name="Rectangle 80"/>
            <p:cNvSpPr/>
            <p:nvPr/>
          </p:nvSpPr>
          <p:spPr>
            <a:xfrm>
              <a:off x="190500" y="2238375"/>
              <a:ext cx="5905500" cy="2571750"/>
            </a:xfrm>
            <a:prstGeom prst="rect">
              <a:avLst/>
            </a:prstGeom>
            <a:solidFill>
              <a:srgbClr val="FFFFFF"/>
            </a:solidFill>
            <a:ln w="9525">
              <a:solidFill>
                <a:srgbClr val="E5E0DC"/>
              </a:solidFill>
            </a:ln>
          </p:spPr>
        </p:sp>
        <p:sp>
          <p:nvSpPr>
            <p:cNvPr id="81" name="Rectangle 81"/>
            <p:cNvSpPr/>
            <p:nvPr/>
          </p:nvSpPr>
          <p:spPr>
            <a:xfrm>
              <a:off x="190500" y="2238375"/>
              <a:ext cx="5905500" cy="342900"/>
            </a:xfrm>
            <a:prstGeom prst="rect">
              <a:avLst/>
            </a:prstGeom>
            <a:solidFill>
              <a:srgbClr val="2B2B2B"/>
            </a:solidFill>
            <a:ln>
              <a:noFill/>
            </a:ln>
          </p:spPr>
        </p:sp>
        <p:sp>
          <p:nvSpPr>
            <p:cNvPr id="82" name="TextBox 82"/>
            <p:cNvSpPr txBox="1"/>
            <p:nvPr/>
          </p:nvSpPr>
          <p:spPr>
            <a:xfrm>
              <a:off x="1577447" y="2337435"/>
              <a:ext cx="313160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 xml:space="preserve">“规模增长—价值提升—风险约束”三维复盘　</a:t>
              </a:r>
            </a:p>
          </p:txBody>
        </p:sp>
        <p:grpSp>
          <p:nvGrpSpPr>
            <p:cNvPr id="88" name="review-triangle"/>
            <p:cNvGrpSpPr/>
            <p:nvPr/>
          </p:nvGrpSpPr>
          <p:grpSpPr>
            <a:xfrm>
              <a:off x="1857375" y="2762250"/>
              <a:ext cx="2505075" cy="1524000"/>
              <a:chOff x="1857375" y="2762250"/>
              <a:chExt cx="2505075" cy="1524000"/>
            </a:xfrm>
          </p:grpSpPr>
          <p:sp>
            <p:nvSpPr>
              <p:cNvPr id="83" name="Polygon 83"/>
              <p:cNvSpPr/>
              <p:nvPr/>
            </p:nvSpPr>
            <p:spPr>
              <a:xfrm>
                <a:off x="1857375" y="2762250"/>
                <a:ext cx="1285875" cy="1524000"/>
              </a:xfrm>
              <a:custGeom>
                <a:avLst/>
                <a:gdLst/>
                <a:ahLst/>
                <a:cxnLst/>
                <a:rect l="l" t="t" r="r" b="b"/>
                <a:pathLst>
                  <a:path w="1285875" h="1524000">
                    <a:moveTo>
                      <a:pt x="1285875" y="0"/>
                    </a:moveTo>
                    <a:lnTo>
                      <a:pt x="0" y="1524000"/>
                    </a:lnTo>
                    <a:lnTo>
                      <a:pt x="638175" y="1524000"/>
                    </a:lnTo>
                    <a:close/>
                  </a:path>
                </a:pathLst>
              </a:custGeom>
              <a:solidFill>
                <a:srgbClr val="B03A1F"/>
              </a:solidFill>
              <a:ln>
                <a:noFill/>
              </a:ln>
            </p:spPr>
          </p:sp>
          <p:sp>
            <p:nvSpPr>
              <p:cNvPr id="84" name="Polygon 84"/>
              <p:cNvSpPr/>
              <p:nvPr/>
            </p:nvSpPr>
            <p:spPr>
              <a:xfrm>
                <a:off x="2495550" y="2762250"/>
                <a:ext cx="1866900" cy="1524000"/>
              </a:xfrm>
              <a:custGeom>
                <a:avLst/>
                <a:gdLst/>
                <a:ahLst/>
                <a:cxnLst/>
                <a:rect l="l" t="t" r="r" b="b"/>
                <a:pathLst>
                  <a:path w="1866900" h="1524000">
                    <a:moveTo>
                      <a:pt x="647700" y="0"/>
                    </a:moveTo>
                    <a:lnTo>
                      <a:pt x="1866900" y="1524000"/>
                    </a:lnTo>
                    <a:lnTo>
                      <a:pt x="0" y="1524000"/>
                    </a:lnTo>
                    <a:close/>
                  </a:path>
                </a:pathLst>
              </a:custGeom>
              <a:solidFill>
                <a:srgbClr val="2B2B2B"/>
              </a:solidFill>
              <a:ln>
                <a:noFill/>
              </a:ln>
            </p:spPr>
          </p:sp>
          <p:sp>
            <p:nvSpPr>
              <p:cNvPr id="85" name="Ellipse 85"/>
              <p:cNvSpPr/>
              <p:nvPr/>
            </p:nvSpPr>
            <p:spPr>
              <a:xfrm>
                <a:off x="2762250" y="3390900"/>
                <a:ext cx="685800" cy="685800"/>
              </a:xfrm>
              <a:prstGeom prst="ellipse">
                <a:avLst/>
              </a:prstGeom>
              <a:solidFill>
                <a:srgbClr val="FFFFFF"/>
              </a:solidFill>
              <a:ln w="9525">
                <a:solidFill>
                  <a:srgbClr val="D8D4D0"/>
                </a:solidFill>
              </a:ln>
            </p:spPr>
          </p:sp>
          <p:sp>
            <p:nvSpPr>
              <p:cNvPr id="86" name="TextBox 86"/>
              <p:cNvSpPr txBox="1"/>
              <p:nvPr/>
            </p:nvSpPr>
            <p:spPr>
              <a:xfrm>
                <a:off x="2948661" y="357425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三维</a:t>
                </a:r>
              </a:p>
            </p:txBody>
          </p:sp>
          <p:sp>
            <p:nvSpPr>
              <p:cNvPr id="87" name="TextBox 87"/>
              <p:cNvSpPr txBox="1"/>
              <p:nvPr/>
            </p:nvSpPr>
            <p:spPr>
              <a:xfrm>
                <a:off x="2948661" y="3764756"/>
                <a:ext cx="31297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复盘</a:t>
                </a:r>
              </a:p>
            </p:txBody>
          </p:sp>
        </p:grpSp>
        <p:sp>
          <p:nvSpPr>
            <p:cNvPr id="89" name="TextBox 89"/>
            <p:cNvSpPr txBox="1"/>
            <p:nvPr/>
          </p:nvSpPr>
          <p:spPr>
            <a:xfrm>
              <a:off x="489585" y="2812256"/>
              <a:ext cx="614528" cy="220028"/>
            </a:xfrm>
            <a:prstGeom prst="rect">
              <a:avLst/>
            </a:prstGeom>
            <a:noFill/>
            <a:ln>
              <a:noFill/>
            </a:ln>
          </p:spPr>
          <p:txBody>
            <a:bodyPr wrap="none" lIns="0" tIns="0" rIns="0" bIns="0" anchor="t" anchorCtr="0">
              <a:spAutoFit/>
            </a:bodyPr>
            <a:lstStyle/>
            <a:p>
              <a:pPr algn="l"/>
              <a:r>
                <a:rPr lang="zh-CN" sz="1120" b="1" dirty="0">
                  <a:solidFill>
                    <a:srgbClr val="B03A1F"/>
                  </a:solidFill>
                  <a:latin typeface="+mn-lt"/>
                  <a:ea typeface="+mn-ea"/>
                  <a:cs typeface="+mn-cs"/>
                </a:rPr>
                <a:t>规模增长</a:t>
              </a:r>
            </a:p>
          </p:txBody>
        </p:sp>
        <p:sp>
          <p:nvSpPr>
            <p:cNvPr id="90" name="Ellipse 90"/>
            <p:cNvSpPr/>
            <p:nvPr/>
          </p:nvSpPr>
          <p:spPr>
            <a:xfrm>
              <a:off x="509588" y="3081338"/>
              <a:ext cx="47625" cy="47625"/>
            </a:xfrm>
            <a:prstGeom prst="ellipse">
              <a:avLst/>
            </a:prstGeom>
            <a:solidFill>
              <a:srgbClr val="B03A1F"/>
            </a:solidFill>
            <a:ln>
              <a:noFill/>
            </a:ln>
          </p:spPr>
        </p:sp>
        <p:sp>
          <p:nvSpPr>
            <p:cNvPr id="91" name="TextBox 91"/>
            <p:cNvSpPr txBox="1"/>
            <p:nvPr/>
          </p:nvSpPr>
          <p:spPr>
            <a:xfrm>
              <a:off x="623888" y="3046095"/>
              <a:ext cx="121561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 xml:space="preserve">客户规模与AUM双增　</a:t>
              </a:r>
            </a:p>
          </p:txBody>
        </p:sp>
        <p:sp>
          <p:nvSpPr>
            <p:cNvPr id="92" name="Ellipse 92"/>
            <p:cNvSpPr/>
            <p:nvPr/>
          </p:nvSpPr>
          <p:spPr>
            <a:xfrm>
              <a:off x="509588" y="3290888"/>
              <a:ext cx="47625" cy="47625"/>
            </a:xfrm>
            <a:prstGeom prst="ellipse">
              <a:avLst/>
            </a:prstGeom>
            <a:solidFill>
              <a:srgbClr val="B03A1F"/>
            </a:solidFill>
            <a:ln>
              <a:noFill/>
            </a:ln>
          </p:spPr>
        </p:sp>
        <p:sp>
          <p:nvSpPr>
            <p:cNvPr id="93" name="TextBox 93"/>
            <p:cNvSpPr txBox="1"/>
            <p:nvPr/>
          </p:nvSpPr>
          <p:spPr>
            <a:xfrm>
              <a:off x="623888" y="3255645"/>
              <a:ext cx="134226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获客渠道与场景拓展见效</a:t>
              </a:r>
            </a:p>
          </p:txBody>
        </p:sp>
        <p:sp>
          <p:nvSpPr>
            <p:cNvPr id="94" name="Ellipse 94"/>
            <p:cNvSpPr/>
            <p:nvPr/>
          </p:nvSpPr>
          <p:spPr>
            <a:xfrm>
              <a:off x="509588" y="3500438"/>
              <a:ext cx="47625" cy="47625"/>
            </a:xfrm>
            <a:prstGeom prst="ellipse">
              <a:avLst/>
            </a:prstGeom>
            <a:solidFill>
              <a:srgbClr val="B03A1F"/>
            </a:solidFill>
            <a:ln>
              <a:noFill/>
            </a:ln>
          </p:spPr>
        </p:sp>
        <p:sp>
          <p:nvSpPr>
            <p:cNvPr id="95" name="TextBox 95"/>
            <p:cNvSpPr txBox="1"/>
            <p:nvPr/>
          </p:nvSpPr>
          <p:spPr>
            <a:xfrm>
              <a:off x="623888" y="3465195"/>
              <a:ext cx="134226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区域与客群覆盖持续扩大</a:t>
              </a:r>
            </a:p>
          </p:txBody>
        </p:sp>
        <p:sp>
          <p:nvSpPr>
            <p:cNvPr id="96" name="TextBox 96"/>
            <p:cNvSpPr txBox="1"/>
            <p:nvPr/>
          </p:nvSpPr>
          <p:spPr>
            <a:xfrm>
              <a:off x="4471035" y="2812256"/>
              <a:ext cx="614528" cy="220028"/>
            </a:xfrm>
            <a:prstGeom prst="rect">
              <a:avLst/>
            </a:prstGeom>
            <a:noFill/>
            <a:ln>
              <a:noFill/>
            </a:ln>
          </p:spPr>
          <p:txBody>
            <a:bodyPr wrap="none" lIns="0" tIns="0" rIns="0" bIns="0" anchor="t" anchorCtr="0">
              <a:spAutoFit/>
            </a:bodyPr>
            <a:lstStyle/>
            <a:p>
              <a:pPr algn="l"/>
              <a:r>
                <a:rPr lang="zh-CN" sz="1120" b="1" dirty="0">
                  <a:solidFill>
                    <a:srgbClr val="2B2B2B"/>
                  </a:solidFill>
                  <a:latin typeface="+mn-lt"/>
                  <a:ea typeface="+mn-ea"/>
                  <a:cs typeface="+mn-cs"/>
                </a:rPr>
                <a:t>风险约束</a:t>
              </a:r>
            </a:p>
          </p:txBody>
        </p:sp>
        <p:sp>
          <p:nvSpPr>
            <p:cNvPr id="97" name="Ellipse 97"/>
            <p:cNvSpPr/>
            <p:nvPr/>
          </p:nvSpPr>
          <p:spPr>
            <a:xfrm>
              <a:off x="4491038" y="3081338"/>
              <a:ext cx="47625" cy="47625"/>
            </a:xfrm>
            <a:prstGeom prst="ellipse">
              <a:avLst/>
            </a:prstGeom>
            <a:solidFill>
              <a:srgbClr val="2B2B2B"/>
            </a:solidFill>
            <a:ln>
              <a:noFill/>
            </a:ln>
          </p:spPr>
        </p:sp>
        <p:sp>
          <p:nvSpPr>
            <p:cNvPr id="98" name="TextBox 98"/>
            <p:cNvSpPr txBox="1"/>
            <p:nvPr/>
          </p:nvSpPr>
          <p:spPr>
            <a:xfrm>
              <a:off x="4605338" y="3046095"/>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资产质量总体平稳</a:t>
              </a:r>
            </a:p>
          </p:txBody>
        </p:sp>
        <p:sp>
          <p:nvSpPr>
            <p:cNvPr id="99" name="Ellipse 99"/>
            <p:cNvSpPr/>
            <p:nvPr/>
          </p:nvSpPr>
          <p:spPr>
            <a:xfrm>
              <a:off x="4491038" y="3290888"/>
              <a:ext cx="47625" cy="47625"/>
            </a:xfrm>
            <a:prstGeom prst="ellipse">
              <a:avLst/>
            </a:prstGeom>
            <a:solidFill>
              <a:srgbClr val="2B2B2B"/>
            </a:solidFill>
            <a:ln>
              <a:noFill/>
            </a:ln>
          </p:spPr>
        </p:sp>
        <p:sp>
          <p:nvSpPr>
            <p:cNvPr id="100" name="TextBox 100"/>
            <p:cNvSpPr txBox="1"/>
            <p:nvPr/>
          </p:nvSpPr>
          <p:spPr>
            <a:xfrm>
              <a:off x="4605338" y="3255645"/>
              <a:ext cx="134226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风险指标保持在合理区间</a:t>
              </a:r>
            </a:p>
          </p:txBody>
        </p:sp>
        <p:sp>
          <p:nvSpPr>
            <p:cNvPr id="101" name="Ellipse 101"/>
            <p:cNvSpPr/>
            <p:nvPr/>
          </p:nvSpPr>
          <p:spPr>
            <a:xfrm>
              <a:off x="4491038" y="3500438"/>
              <a:ext cx="47625" cy="47625"/>
            </a:xfrm>
            <a:prstGeom prst="ellipse">
              <a:avLst/>
            </a:prstGeom>
            <a:solidFill>
              <a:srgbClr val="2B2B2B"/>
            </a:solidFill>
            <a:ln>
              <a:noFill/>
            </a:ln>
          </p:spPr>
        </p:sp>
        <p:sp>
          <p:nvSpPr>
            <p:cNvPr id="102" name="TextBox 102"/>
            <p:cNvSpPr txBox="1"/>
            <p:nvPr/>
          </p:nvSpPr>
          <p:spPr>
            <a:xfrm>
              <a:off x="4605338" y="3465195"/>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风控体系持续完善</a:t>
              </a:r>
            </a:p>
          </p:txBody>
        </p:sp>
        <p:sp>
          <p:nvSpPr>
            <p:cNvPr id="103" name="TextBox 103"/>
            <p:cNvSpPr txBox="1"/>
            <p:nvPr/>
          </p:nvSpPr>
          <p:spPr>
            <a:xfrm>
              <a:off x="489585" y="4336256"/>
              <a:ext cx="614528" cy="220028"/>
            </a:xfrm>
            <a:prstGeom prst="rect">
              <a:avLst/>
            </a:prstGeom>
            <a:noFill/>
            <a:ln>
              <a:noFill/>
            </a:ln>
          </p:spPr>
          <p:txBody>
            <a:bodyPr wrap="none" lIns="0" tIns="0" rIns="0" bIns="0" anchor="t" anchorCtr="0">
              <a:spAutoFit/>
            </a:bodyPr>
            <a:lstStyle/>
            <a:p>
              <a:pPr algn="l"/>
              <a:r>
                <a:rPr lang="zh-CN" sz="1120" b="1" dirty="0">
                  <a:solidFill>
                    <a:srgbClr val="B03A1F"/>
                  </a:solidFill>
                  <a:latin typeface="+mn-lt"/>
                  <a:ea typeface="+mn-ea"/>
                  <a:cs typeface="+mn-cs"/>
                </a:rPr>
                <a:t>价值提升</a:t>
              </a:r>
            </a:p>
          </p:txBody>
        </p:sp>
        <p:sp>
          <p:nvSpPr>
            <p:cNvPr id="104" name="TextBox 104"/>
            <p:cNvSpPr txBox="1"/>
            <p:nvPr/>
          </p:nvSpPr>
          <p:spPr>
            <a:xfrm>
              <a:off x="490538" y="4589145"/>
              <a:ext cx="3656381"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收益能力稳步提升　·　财富与中收贡献增强　·　资源配置效率改善</a:t>
              </a:r>
            </a:p>
          </p:txBody>
        </p:sp>
      </p:grpSp>
      <p:grpSp>
        <p:nvGrpSpPr>
          <p:cNvPr id="175" name="card-results"/>
          <p:cNvGrpSpPr/>
          <p:nvPr/>
        </p:nvGrpSpPr>
        <p:grpSpPr>
          <a:xfrm>
            <a:off x="6191250" y="2238375"/>
            <a:ext cx="5810250" cy="2571750"/>
            <a:chOff x="6191250" y="2238375"/>
            <a:chExt cx="5810250" cy="2571750"/>
          </a:xfrm>
        </p:grpSpPr>
        <p:sp>
          <p:nvSpPr>
            <p:cNvPr id="106" name="Rectangle 106"/>
            <p:cNvSpPr/>
            <p:nvPr/>
          </p:nvSpPr>
          <p:spPr>
            <a:xfrm>
              <a:off x="6191250" y="2238375"/>
              <a:ext cx="5810250" cy="2571750"/>
            </a:xfrm>
            <a:prstGeom prst="rect">
              <a:avLst/>
            </a:prstGeom>
            <a:solidFill>
              <a:srgbClr val="FFFFFF"/>
            </a:solidFill>
            <a:ln w="9525">
              <a:solidFill>
                <a:srgbClr val="E5E0DC"/>
              </a:solidFill>
            </a:ln>
          </p:spPr>
        </p:sp>
        <p:sp>
          <p:nvSpPr>
            <p:cNvPr id="107" name="Rectangle 107"/>
            <p:cNvSpPr/>
            <p:nvPr/>
          </p:nvSpPr>
          <p:spPr>
            <a:xfrm>
              <a:off x="6191250" y="2238375"/>
              <a:ext cx="5810250" cy="342900"/>
            </a:xfrm>
            <a:prstGeom prst="rect">
              <a:avLst/>
            </a:prstGeom>
            <a:solidFill>
              <a:srgbClr val="B03A1F"/>
            </a:solidFill>
            <a:ln>
              <a:noFill/>
            </a:ln>
          </p:spPr>
        </p:sp>
        <p:sp>
          <p:nvSpPr>
            <p:cNvPr id="108" name="TextBox 108"/>
            <p:cNvSpPr txBox="1"/>
            <p:nvPr/>
          </p:nvSpPr>
          <p:spPr>
            <a:xfrm>
              <a:off x="8686419" y="2337435"/>
              <a:ext cx="81991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阶段性成效</a:t>
              </a:r>
            </a:p>
          </p:txBody>
        </p:sp>
        <p:grpSp>
          <p:nvGrpSpPr>
            <p:cNvPr id="125" name="result-cell-1"/>
            <p:cNvGrpSpPr/>
            <p:nvPr/>
          </p:nvGrpSpPr>
          <p:grpSpPr>
            <a:xfrm>
              <a:off x="6305550" y="2695575"/>
              <a:ext cx="2743200" cy="971550"/>
              <a:chOff x="6305550" y="2695575"/>
              <a:chExt cx="2743200" cy="971550"/>
            </a:xfrm>
          </p:grpSpPr>
          <p:sp>
            <p:nvSpPr>
              <p:cNvPr id="109" name="Rectangle 109"/>
              <p:cNvSpPr/>
              <p:nvPr/>
            </p:nvSpPr>
            <p:spPr>
              <a:xfrm>
                <a:off x="6305550" y="2695575"/>
                <a:ext cx="2743200" cy="971550"/>
              </a:xfrm>
              <a:prstGeom prst="rect">
                <a:avLst/>
              </a:prstGeom>
              <a:solidFill>
                <a:srgbClr val="F5F3F1"/>
              </a:solidFill>
              <a:ln>
                <a:noFill/>
              </a:ln>
            </p:spPr>
          </p:sp>
          <p:sp>
            <p:nvSpPr>
              <p:cNvPr id="110" name="Ellipse 110"/>
              <p:cNvSpPr/>
              <p:nvPr/>
            </p:nvSpPr>
            <p:spPr>
              <a:xfrm>
                <a:off x="6429375" y="2828925"/>
                <a:ext cx="361950" cy="361950"/>
              </a:xfrm>
              <a:prstGeom prst="ellipse">
                <a:avLst/>
              </a:prstGeom>
              <a:solidFill>
                <a:srgbClr val="B03A1F"/>
              </a:solidFill>
              <a:ln>
                <a:noFill/>
              </a:ln>
            </p:spPr>
          </p:sp>
          <p:grpSp>
            <p:nvGrpSpPr>
              <p:cNvPr id="117" name="Group 117"/>
              <p:cNvGrpSpPr/>
              <p:nvPr/>
            </p:nvGrpSpPr>
            <p:grpSpPr>
              <a:xfrm>
                <a:off x="6531769" y="2931319"/>
                <a:ext cx="157162" cy="157163"/>
                <a:chOff x="6531769" y="2931319"/>
                <a:chExt cx="157162" cy="157163"/>
              </a:xfrm>
            </p:grpSpPr>
            <p:sp>
              <p:nvSpPr>
                <p:cNvPr id="111" name="Freeform 111"/>
                <p:cNvSpPr/>
                <p:nvPr/>
              </p:nvSpPr>
              <p:spPr>
                <a:xfrm>
                  <a:off x="6592888" y="300116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12" name="Freeform 112"/>
                <p:cNvSpPr/>
                <p:nvPr/>
              </p:nvSpPr>
              <p:spPr>
                <a:xfrm>
                  <a:off x="6575425" y="3062288"/>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FFFFFF"/>
                  </a:solidFill>
                </a:ln>
              </p:spPr>
            </p:sp>
            <p:sp>
              <p:nvSpPr>
                <p:cNvPr id="113" name="Freeform 113"/>
                <p:cNvSpPr/>
                <p:nvPr/>
              </p:nvSpPr>
              <p:spPr>
                <a:xfrm>
                  <a:off x="6636544" y="29313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14" name="Freeform 114"/>
                <p:cNvSpPr/>
                <p:nvPr/>
              </p:nvSpPr>
              <p:spPr>
                <a:xfrm>
                  <a:off x="6654006" y="2992438"/>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FFFFFF"/>
                  </a:solidFill>
                </a:ln>
              </p:spPr>
            </p:sp>
            <p:sp>
              <p:nvSpPr>
                <p:cNvPr id="115" name="Freeform 115"/>
                <p:cNvSpPr/>
                <p:nvPr/>
              </p:nvSpPr>
              <p:spPr>
                <a:xfrm>
                  <a:off x="6549231" y="29313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16" name="Freeform 116"/>
                <p:cNvSpPr/>
                <p:nvPr/>
              </p:nvSpPr>
              <p:spPr>
                <a:xfrm>
                  <a:off x="6531769" y="2992438"/>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FFFFFF"/>
                  </a:solidFill>
                </a:ln>
              </p:spPr>
            </p:sp>
          </p:grpSp>
          <p:sp>
            <p:nvSpPr>
              <p:cNvPr id="118" name="TextBox 118"/>
              <p:cNvSpPr txBox="1"/>
              <p:nvPr/>
            </p:nvSpPr>
            <p:spPr>
              <a:xfrm>
                <a:off x="6890385" y="2850356"/>
                <a:ext cx="1217625" cy="220028"/>
              </a:xfrm>
              <a:prstGeom prst="rect">
                <a:avLst/>
              </a:prstGeom>
              <a:noFill/>
              <a:ln>
                <a:noFill/>
              </a:ln>
            </p:spPr>
            <p:txBody>
              <a:bodyPr wrap="none" lIns="0" tIns="0" rIns="0" bIns="0" anchor="t" anchorCtr="0">
                <a:spAutoFit/>
              </a:bodyPr>
              <a:lstStyle/>
              <a:p>
                <a:pPr algn="l"/>
                <a:r>
                  <a:rPr lang="zh-CN" sz="1120" b="1" dirty="0">
                    <a:solidFill>
                      <a:srgbClr val="B03A1F"/>
                    </a:solidFill>
                    <a:latin typeface="+mn-lt"/>
                    <a:ea typeface="+mn-ea"/>
                    <a:cs typeface="+mn-cs"/>
                  </a:rPr>
                  <a:t>客群分层初步建立</a:t>
                </a:r>
              </a:p>
            </p:txBody>
          </p:sp>
          <p:sp>
            <p:nvSpPr>
              <p:cNvPr id="119" name="Ellipse 119"/>
              <p:cNvSpPr/>
              <p:nvPr/>
            </p:nvSpPr>
            <p:spPr>
              <a:xfrm>
                <a:off x="6896100" y="3105150"/>
                <a:ext cx="38100" cy="38100"/>
              </a:xfrm>
              <a:prstGeom prst="ellipse">
                <a:avLst/>
              </a:prstGeom>
              <a:solidFill>
                <a:srgbClr val="B03A1F"/>
              </a:solidFill>
              <a:ln>
                <a:noFill/>
              </a:ln>
            </p:spPr>
          </p:sp>
          <p:sp>
            <p:nvSpPr>
              <p:cNvPr id="120" name="TextBox 120"/>
              <p:cNvSpPr txBox="1"/>
              <p:nvPr/>
            </p:nvSpPr>
            <p:spPr>
              <a:xfrm>
                <a:off x="6986588" y="3069193"/>
                <a:ext cx="1167257"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客群分层体系初步落地</a:t>
                </a:r>
              </a:p>
            </p:txBody>
          </p:sp>
          <p:sp>
            <p:nvSpPr>
              <p:cNvPr id="121" name="Ellipse 121"/>
              <p:cNvSpPr/>
              <p:nvPr/>
            </p:nvSpPr>
            <p:spPr>
              <a:xfrm>
                <a:off x="6896100" y="3295650"/>
                <a:ext cx="38100" cy="38100"/>
              </a:xfrm>
              <a:prstGeom prst="ellipse">
                <a:avLst/>
              </a:prstGeom>
              <a:solidFill>
                <a:srgbClr val="B03A1F"/>
              </a:solidFill>
              <a:ln>
                <a:noFill/>
              </a:ln>
            </p:spPr>
          </p:sp>
          <p:sp>
            <p:nvSpPr>
              <p:cNvPr id="122" name="TextBox 122"/>
              <p:cNvSpPr txBox="1"/>
              <p:nvPr/>
            </p:nvSpPr>
            <p:spPr>
              <a:xfrm>
                <a:off x="6986588" y="3259693"/>
                <a:ext cx="1167257"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分层经营策略逐步实施</a:t>
                </a:r>
              </a:p>
            </p:txBody>
          </p:sp>
          <p:sp>
            <p:nvSpPr>
              <p:cNvPr id="123" name="Ellipse 123"/>
              <p:cNvSpPr/>
              <p:nvPr/>
            </p:nvSpPr>
            <p:spPr>
              <a:xfrm>
                <a:off x="6896100" y="3486150"/>
                <a:ext cx="38100" cy="38100"/>
              </a:xfrm>
              <a:prstGeom prst="ellipse">
                <a:avLst/>
              </a:prstGeom>
              <a:solidFill>
                <a:srgbClr val="B03A1F"/>
              </a:solidFill>
              <a:ln>
                <a:noFill/>
              </a:ln>
            </p:spPr>
          </p:sp>
          <p:sp>
            <p:nvSpPr>
              <p:cNvPr id="124" name="TextBox 124"/>
              <p:cNvSpPr txBox="1"/>
              <p:nvPr/>
            </p:nvSpPr>
            <p:spPr>
              <a:xfrm>
                <a:off x="6986588" y="34501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核心客群黏性提升</a:t>
                </a:r>
              </a:p>
            </p:txBody>
          </p:sp>
        </p:grpSp>
        <p:grpSp>
          <p:nvGrpSpPr>
            <p:cNvPr id="144" name="result-cell-2"/>
            <p:cNvGrpSpPr/>
            <p:nvPr/>
          </p:nvGrpSpPr>
          <p:grpSpPr>
            <a:xfrm>
              <a:off x="9144000" y="2695575"/>
              <a:ext cx="2743200" cy="971550"/>
              <a:chOff x="9144000" y="2695575"/>
              <a:chExt cx="2743200" cy="971550"/>
            </a:xfrm>
          </p:grpSpPr>
          <p:sp>
            <p:nvSpPr>
              <p:cNvPr id="126" name="Rectangle 126"/>
              <p:cNvSpPr/>
              <p:nvPr/>
            </p:nvSpPr>
            <p:spPr>
              <a:xfrm>
                <a:off x="9144000" y="2695575"/>
                <a:ext cx="2743200" cy="971550"/>
              </a:xfrm>
              <a:prstGeom prst="rect">
                <a:avLst/>
              </a:prstGeom>
              <a:solidFill>
                <a:srgbClr val="F5F3F1"/>
              </a:solidFill>
              <a:ln>
                <a:noFill/>
              </a:ln>
            </p:spPr>
          </p:sp>
          <p:sp>
            <p:nvSpPr>
              <p:cNvPr id="127" name="Ellipse 127"/>
              <p:cNvSpPr/>
              <p:nvPr/>
            </p:nvSpPr>
            <p:spPr>
              <a:xfrm>
                <a:off x="9267825" y="2828925"/>
                <a:ext cx="361950" cy="361950"/>
              </a:xfrm>
              <a:prstGeom prst="ellipse">
                <a:avLst/>
              </a:prstGeom>
              <a:solidFill>
                <a:srgbClr val="B03A1F"/>
              </a:solidFill>
              <a:ln>
                <a:noFill/>
              </a:ln>
            </p:spPr>
          </p:sp>
          <p:grpSp>
            <p:nvGrpSpPr>
              <p:cNvPr id="136" name="Group 136"/>
              <p:cNvGrpSpPr/>
              <p:nvPr/>
            </p:nvGrpSpPr>
            <p:grpSpPr>
              <a:xfrm>
                <a:off x="9370219" y="2931319"/>
                <a:ext cx="157956" cy="166687"/>
                <a:chOff x="9370219" y="2931319"/>
                <a:chExt cx="157956" cy="166687"/>
              </a:xfrm>
            </p:grpSpPr>
            <p:sp>
              <p:nvSpPr>
                <p:cNvPr id="128" name="Freeform 128"/>
                <p:cNvSpPr/>
                <p:nvPr/>
              </p:nvSpPr>
              <p:spPr>
                <a:xfrm>
                  <a:off x="9370219" y="3088481"/>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129" name="Freeform 129"/>
                <p:cNvSpPr/>
                <p:nvPr/>
              </p:nvSpPr>
              <p:spPr>
                <a:xfrm>
                  <a:off x="9370219" y="2992438"/>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130" name="Freeform 130"/>
                <p:cNvSpPr/>
                <p:nvPr/>
              </p:nvSpPr>
              <p:spPr>
                <a:xfrm>
                  <a:off x="9387681" y="2931319"/>
                  <a:ext cx="122238" cy="26194"/>
                </a:xfrm>
                <a:custGeom>
                  <a:avLst/>
                  <a:gdLst/>
                  <a:ahLst/>
                  <a:cxnLst/>
                  <a:rect l="l" t="t" r="r" b="b"/>
                  <a:pathLst>
                    <a:path w="122238" h="26194">
                      <a:moveTo>
                        <a:pt x="0" y="26194"/>
                      </a:moveTo>
                      <a:lnTo>
                        <a:pt x="61119" y="0"/>
                      </a:lnTo>
                      <a:lnTo>
                        <a:pt x="122238" y="26194"/>
                      </a:lnTo>
                    </a:path>
                  </a:pathLst>
                </a:custGeom>
                <a:noFill/>
                <a:ln w="17463">
                  <a:solidFill>
                    <a:srgbClr val="FFFFFF"/>
                  </a:solidFill>
                </a:ln>
              </p:spPr>
            </p:sp>
            <p:sp>
              <p:nvSpPr>
                <p:cNvPr id="131" name="Freeform 131"/>
                <p:cNvSpPr/>
                <p:nvPr/>
              </p:nvSpPr>
              <p:spPr>
                <a:xfrm>
                  <a:off x="9378950" y="2992438"/>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132" name="Freeform 132"/>
                <p:cNvSpPr/>
                <p:nvPr/>
              </p:nvSpPr>
              <p:spPr>
                <a:xfrm>
                  <a:off x="9518650" y="2992438"/>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133" name="Freeform 133"/>
                <p:cNvSpPr/>
                <p:nvPr/>
              </p:nvSpPr>
              <p:spPr>
                <a:xfrm>
                  <a:off x="9413875" y="3027363"/>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134" name="Freeform 134"/>
                <p:cNvSpPr/>
                <p:nvPr/>
              </p:nvSpPr>
              <p:spPr>
                <a:xfrm>
                  <a:off x="9448800" y="3027363"/>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135" name="Freeform 135"/>
                <p:cNvSpPr/>
                <p:nvPr/>
              </p:nvSpPr>
              <p:spPr>
                <a:xfrm>
                  <a:off x="9483725" y="3027363"/>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137" name="TextBox 137"/>
              <p:cNvSpPr txBox="1"/>
              <p:nvPr/>
            </p:nvSpPr>
            <p:spPr>
              <a:xfrm>
                <a:off x="9728835" y="2850356"/>
                <a:ext cx="1368400" cy="220028"/>
              </a:xfrm>
              <a:prstGeom prst="rect">
                <a:avLst/>
              </a:prstGeom>
              <a:noFill/>
              <a:ln>
                <a:noFill/>
              </a:ln>
            </p:spPr>
            <p:txBody>
              <a:bodyPr wrap="none" lIns="0" tIns="0" rIns="0" bIns="0" anchor="t" anchorCtr="0">
                <a:spAutoFit/>
              </a:bodyPr>
              <a:lstStyle/>
              <a:p>
                <a:pPr algn="l"/>
                <a:r>
                  <a:rPr lang="zh-CN" sz="1120" b="1" dirty="0">
                    <a:solidFill>
                      <a:srgbClr val="B03A1F"/>
                    </a:solidFill>
                    <a:latin typeface="+mn-lt"/>
                    <a:ea typeface="+mn-ea"/>
                    <a:cs typeface="+mn-cs"/>
                  </a:rPr>
                  <a:t>代发与场景获客提速</a:t>
                </a:r>
              </a:p>
            </p:txBody>
          </p:sp>
          <p:sp>
            <p:nvSpPr>
              <p:cNvPr id="138" name="Ellipse 138"/>
              <p:cNvSpPr/>
              <p:nvPr/>
            </p:nvSpPr>
            <p:spPr>
              <a:xfrm>
                <a:off x="9734550" y="3105150"/>
                <a:ext cx="38100" cy="38100"/>
              </a:xfrm>
              <a:prstGeom prst="ellipse">
                <a:avLst/>
              </a:prstGeom>
              <a:solidFill>
                <a:srgbClr val="B03A1F"/>
              </a:solidFill>
              <a:ln>
                <a:noFill/>
              </a:ln>
            </p:spPr>
          </p:sp>
          <p:sp>
            <p:nvSpPr>
              <p:cNvPr id="139" name="TextBox 139"/>
              <p:cNvSpPr txBox="1"/>
              <p:nvPr/>
            </p:nvSpPr>
            <p:spPr>
              <a:xfrm>
                <a:off x="9825038" y="30691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代发业务稳步增长</a:t>
                </a:r>
              </a:p>
            </p:txBody>
          </p:sp>
          <p:sp>
            <p:nvSpPr>
              <p:cNvPr id="140" name="Ellipse 140"/>
              <p:cNvSpPr/>
              <p:nvPr/>
            </p:nvSpPr>
            <p:spPr>
              <a:xfrm>
                <a:off x="9734550" y="3295650"/>
                <a:ext cx="38100" cy="38100"/>
              </a:xfrm>
              <a:prstGeom prst="ellipse">
                <a:avLst/>
              </a:prstGeom>
              <a:solidFill>
                <a:srgbClr val="B03A1F"/>
              </a:solidFill>
              <a:ln>
                <a:noFill/>
              </a:ln>
            </p:spPr>
          </p:sp>
          <p:sp>
            <p:nvSpPr>
              <p:cNvPr id="141" name="TextBox 141"/>
              <p:cNvSpPr txBox="1"/>
              <p:nvPr/>
            </p:nvSpPr>
            <p:spPr>
              <a:xfrm>
                <a:off x="9825038" y="32596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场景生态合作推进</a:t>
                </a:r>
              </a:p>
            </p:txBody>
          </p:sp>
          <p:sp>
            <p:nvSpPr>
              <p:cNvPr id="142" name="Ellipse 142"/>
              <p:cNvSpPr/>
              <p:nvPr/>
            </p:nvSpPr>
            <p:spPr>
              <a:xfrm>
                <a:off x="9734550" y="3486150"/>
                <a:ext cx="38100" cy="38100"/>
              </a:xfrm>
              <a:prstGeom prst="ellipse">
                <a:avLst/>
              </a:prstGeom>
              <a:solidFill>
                <a:srgbClr val="B03A1F"/>
              </a:solidFill>
              <a:ln>
                <a:noFill/>
              </a:ln>
            </p:spPr>
          </p:sp>
          <p:sp>
            <p:nvSpPr>
              <p:cNvPr id="143" name="TextBox 143"/>
              <p:cNvSpPr txBox="1"/>
              <p:nvPr/>
            </p:nvSpPr>
            <p:spPr>
              <a:xfrm>
                <a:off x="9825038" y="34501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获客效率持续提升</a:t>
                </a:r>
              </a:p>
            </p:txBody>
          </p:sp>
        </p:grpSp>
        <p:grpSp>
          <p:nvGrpSpPr>
            <p:cNvPr id="160" name="result-cell-3"/>
            <p:cNvGrpSpPr/>
            <p:nvPr/>
          </p:nvGrpSpPr>
          <p:grpSpPr>
            <a:xfrm>
              <a:off x="6305550" y="3762375"/>
              <a:ext cx="2743200" cy="971550"/>
              <a:chOff x="6305550" y="3762375"/>
              <a:chExt cx="2743200" cy="971550"/>
            </a:xfrm>
          </p:grpSpPr>
          <p:sp>
            <p:nvSpPr>
              <p:cNvPr id="145" name="Rectangle 145"/>
              <p:cNvSpPr/>
              <p:nvPr/>
            </p:nvSpPr>
            <p:spPr>
              <a:xfrm>
                <a:off x="6305550" y="3762375"/>
                <a:ext cx="2743200" cy="971550"/>
              </a:xfrm>
              <a:prstGeom prst="rect">
                <a:avLst/>
              </a:prstGeom>
              <a:solidFill>
                <a:srgbClr val="F5F3F1"/>
              </a:solidFill>
              <a:ln>
                <a:noFill/>
              </a:ln>
            </p:spPr>
          </p:sp>
          <p:sp>
            <p:nvSpPr>
              <p:cNvPr id="146" name="Ellipse 146"/>
              <p:cNvSpPr/>
              <p:nvPr/>
            </p:nvSpPr>
            <p:spPr>
              <a:xfrm>
                <a:off x="6429375" y="3895725"/>
                <a:ext cx="361950" cy="361950"/>
              </a:xfrm>
              <a:prstGeom prst="ellipse">
                <a:avLst/>
              </a:prstGeom>
              <a:solidFill>
                <a:srgbClr val="B03A1F"/>
              </a:solidFill>
              <a:ln>
                <a:noFill/>
              </a:ln>
            </p:spPr>
          </p:sp>
          <p:grpSp>
            <p:nvGrpSpPr>
              <p:cNvPr id="152" name="Group 152"/>
              <p:cNvGrpSpPr/>
              <p:nvPr/>
            </p:nvGrpSpPr>
            <p:grpSpPr>
              <a:xfrm>
                <a:off x="6531769" y="3996949"/>
                <a:ext cx="157162" cy="158333"/>
                <a:chOff x="6531769" y="3996949"/>
                <a:chExt cx="157162" cy="158333"/>
              </a:xfrm>
            </p:grpSpPr>
            <p:sp>
              <p:nvSpPr>
                <p:cNvPr id="147" name="Freeform 147"/>
                <p:cNvSpPr/>
                <p:nvPr/>
              </p:nvSpPr>
              <p:spPr>
                <a:xfrm>
                  <a:off x="6584156" y="4067969"/>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FFFFFF"/>
                  </a:solidFill>
                </a:ln>
              </p:spPr>
            </p:sp>
            <p:sp>
              <p:nvSpPr>
                <p:cNvPr id="148" name="Freeform 148"/>
                <p:cNvSpPr/>
                <p:nvPr/>
              </p:nvSpPr>
              <p:spPr>
                <a:xfrm>
                  <a:off x="6584156" y="4094163"/>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FFFFFF"/>
                  </a:solidFill>
                </a:ln>
              </p:spPr>
            </p:sp>
            <p:sp>
              <p:nvSpPr>
                <p:cNvPr id="149" name="Freeform 149"/>
                <p:cNvSpPr/>
                <p:nvPr/>
              </p:nvSpPr>
              <p:spPr>
                <a:xfrm>
                  <a:off x="6531769" y="3996949"/>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FFFFFF"/>
                  </a:solidFill>
                </a:ln>
              </p:spPr>
            </p:sp>
            <p:sp>
              <p:nvSpPr>
                <p:cNvPr id="150" name="Freeform 150"/>
                <p:cNvSpPr/>
                <p:nvPr/>
              </p:nvSpPr>
              <p:spPr>
                <a:xfrm>
                  <a:off x="6531769" y="4024313"/>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FFFFFF"/>
                  </a:solidFill>
                </a:ln>
              </p:spPr>
            </p:sp>
            <p:sp>
              <p:nvSpPr>
                <p:cNvPr id="151" name="Freeform 151"/>
                <p:cNvSpPr/>
                <p:nvPr/>
              </p:nvSpPr>
              <p:spPr>
                <a:xfrm>
                  <a:off x="6531769" y="4067969"/>
                  <a:ext cx="17463" cy="17463"/>
                </a:xfrm>
                <a:custGeom>
                  <a:avLst/>
                  <a:gdLst/>
                  <a:ahLst/>
                  <a:cxnLst/>
                  <a:rect l="l" t="t" r="r" b="b"/>
                  <a:pathLst>
                    <a:path w="17463" h="17463">
                      <a:moveTo>
                        <a:pt x="0" y="0"/>
                      </a:moveTo>
                      <a:cubicBezTo>
                        <a:pt x="0" y="7753"/>
                        <a:pt x="6741" y="12660"/>
                        <a:pt x="17463" y="17463"/>
                      </a:cubicBezTo>
                    </a:path>
                  </a:pathLst>
                </a:custGeom>
                <a:noFill/>
                <a:ln w="17463">
                  <a:solidFill>
                    <a:srgbClr val="FFFFFF"/>
                  </a:solidFill>
                </a:ln>
              </p:spPr>
            </p:sp>
          </p:grpSp>
          <p:sp>
            <p:nvSpPr>
              <p:cNvPr id="153" name="TextBox 153"/>
              <p:cNvSpPr txBox="1"/>
              <p:nvPr/>
            </p:nvSpPr>
            <p:spPr>
              <a:xfrm>
                <a:off x="6890385" y="3917156"/>
                <a:ext cx="1217625" cy="220028"/>
              </a:xfrm>
              <a:prstGeom prst="rect">
                <a:avLst/>
              </a:prstGeom>
              <a:noFill/>
              <a:ln>
                <a:noFill/>
              </a:ln>
            </p:spPr>
            <p:txBody>
              <a:bodyPr wrap="none" lIns="0" tIns="0" rIns="0" bIns="0" anchor="t" anchorCtr="0">
                <a:spAutoFit/>
              </a:bodyPr>
              <a:lstStyle/>
              <a:p>
                <a:pPr algn="l"/>
                <a:r>
                  <a:rPr lang="zh-CN" sz="1120" b="1" dirty="0">
                    <a:solidFill>
                      <a:srgbClr val="B03A1F"/>
                    </a:solidFill>
                    <a:latin typeface="+mn-lt"/>
                    <a:ea typeface="+mn-ea"/>
                    <a:cs typeface="+mn-cs"/>
                  </a:rPr>
                  <a:t>财富管理贡献增强</a:t>
                </a:r>
              </a:p>
            </p:txBody>
          </p:sp>
          <p:sp>
            <p:nvSpPr>
              <p:cNvPr id="154" name="Ellipse 154"/>
              <p:cNvSpPr/>
              <p:nvPr/>
            </p:nvSpPr>
            <p:spPr>
              <a:xfrm>
                <a:off x="6896100" y="4171950"/>
                <a:ext cx="38100" cy="38100"/>
              </a:xfrm>
              <a:prstGeom prst="ellipse">
                <a:avLst/>
              </a:prstGeom>
              <a:solidFill>
                <a:srgbClr val="B03A1F"/>
              </a:solidFill>
              <a:ln>
                <a:noFill/>
              </a:ln>
            </p:spPr>
          </p:sp>
          <p:sp>
            <p:nvSpPr>
              <p:cNvPr id="155" name="TextBox 155"/>
              <p:cNvSpPr txBox="1"/>
              <p:nvPr/>
            </p:nvSpPr>
            <p:spPr>
              <a:xfrm>
                <a:off x="6986588" y="4135993"/>
                <a:ext cx="104624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 xml:space="preserve">财富AUM稳步增长　</a:t>
                </a:r>
              </a:p>
            </p:txBody>
          </p:sp>
          <p:sp>
            <p:nvSpPr>
              <p:cNvPr id="156" name="Ellipse 156"/>
              <p:cNvSpPr/>
              <p:nvPr/>
            </p:nvSpPr>
            <p:spPr>
              <a:xfrm>
                <a:off x="6896100" y="4362450"/>
                <a:ext cx="38100" cy="38100"/>
              </a:xfrm>
              <a:prstGeom prst="ellipse">
                <a:avLst/>
              </a:prstGeom>
              <a:solidFill>
                <a:srgbClr val="B03A1F"/>
              </a:solidFill>
              <a:ln>
                <a:noFill/>
              </a:ln>
            </p:spPr>
          </p:sp>
          <p:sp>
            <p:nvSpPr>
              <p:cNvPr id="157" name="TextBox 157"/>
              <p:cNvSpPr txBox="1"/>
              <p:nvPr/>
            </p:nvSpPr>
            <p:spPr>
              <a:xfrm>
                <a:off x="6986588" y="4326493"/>
                <a:ext cx="1283030"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产品配置与客户服务优化</a:t>
                </a:r>
              </a:p>
            </p:txBody>
          </p:sp>
          <p:sp>
            <p:nvSpPr>
              <p:cNvPr id="158" name="Ellipse 158"/>
              <p:cNvSpPr/>
              <p:nvPr/>
            </p:nvSpPr>
            <p:spPr>
              <a:xfrm>
                <a:off x="6896100" y="4552950"/>
                <a:ext cx="38100" cy="38100"/>
              </a:xfrm>
              <a:prstGeom prst="ellipse">
                <a:avLst/>
              </a:prstGeom>
              <a:solidFill>
                <a:srgbClr val="B03A1F"/>
              </a:solidFill>
              <a:ln>
                <a:noFill/>
              </a:ln>
            </p:spPr>
          </p:sp>
          <p:sp>
            <p:nvSpPr>
              <p:cNvPr id="159" name="TextBox 159"/>
              <p:cNvSpPr txBox="1"/>
              <p:nvPr/>
            </p:nvSpPr>
            <p:spPr>
              <a:xfrm>
                <a:off x="6986588" y="4516993"/>
                <a:ext cx="105148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中收与利润贡献提升</a:t>
                </a:r>
              </a:p>
            </p:txBody>
          </p:sp>
        </p:grpSp>
        <p:grpSp>
          <p:nvGrpSpPr>
            <p:cNvPr id="174" name="result-cell-4"/>
            <p:cNvGrpSpPr/>
            <p:nvPr/>
          </p:nvGrpSpPr>
          <p:grpSpPr>
            <a:xfrm>
              <a:off x="9144000" y="3762375"/>
              <a:ext cx="2743200" cy="971550"/>
              <a:chOff x="9144000" y="3762375"/>
              <a:chExt cx="2743200" cy="971550"/>
            </a:xfrm>
          </p:grpSpPr>
          <p:sp>
            <p:nvSpPr>
              <p:cNvPr id="161" name="Rectangle 161"/>
              <p:cNvSpPr/>
              <p:nvPr/>
            </p:nvSpPr>
            <p:spPr>
              <a:xfrm>
                <a:off x="9144000" y="3762375"/>
                <a:ext cx="2743200" cy="971550"/>
              </a:xfrm>
              <a:prstGeom prst="rect">
                <a:avLst/>
              </a:prstGeom>
              <a:solidFill>
                <a:srgbClr val="F5F3F1"/>
              </a:solidFill>
              <a:ln>
                <a:noFill/>
              </a:ln>
            </p:spPr>
          </p:sp>
          <p:sp>
            <p:nvSpPr>
              <p:cNvPr id="162" name="Ellipse 162"/>
              <p:cNvSpPr/>
              <p:nvPr/>
            </p:nvSpPr>
            <p:spPr>
              <a:xfrm>
                <a:off x="9267825" y="3895725"/>
                <a:ext cx="361950" cy="361950"/>
              </a:xfrm>
              <a:prstGeom prst="ellipse">
                <a:avLst/>
              </a:prstGeom>
              <a:solidFill>
                <a:srgbClr val="B03A1F"/>
              </a:solidFill>
              <a:ln>
                <a:noFill/>
              </a:ln>
            </p:spPr>
          </p:sp>
          <p:grpSp>
            <p:nvGrpSpPr>
              <p:cNvPr id="166" name="Group 166"/>
              <p:cNvGrpSpPr/>
              <p:nvPr/>
            </p:nvGrpSpPr>
            <p:grpSpPr>
              <a:xfrm>
                <a:off x="9396413" y="3998119"/>
                <a:ext cx="104775" cy="157163"/>
                <a:chOff x="9396413" y="3998119"/>
                <a:chExt cx="104775" cy="157163"/>
              </a:xfrm>
            </p:grpSpPr>
            <p:sp>
              <p:nvSpPr>
                <p:cNvPr id="163" name="Freeform 163"/>
                <p:cNvSpPr/>
                <p:nvPr/>
              </p:nvSpPr>
              <p:spPr>
                <a:xfrm>
                  <a:off x="9396413" y="3998119"/>
                  <a:ext cx="104775" cy="157163"/>
                </a:xfrm>
                <a:custGeom>
                  <a:avLst/>
                  <a:gdLst/>
                  <a:ahLst/>
                  <a:cxnLst/>
                  <a:rect l="l" t="t" r="r" b="b"/>
                  <a:pathLst>
                    <a:path w="104775" h="157163">
                      <a:moveTo>
                        <a:pt x="0" y="17463"/>
                      </a:moveTo>
                      <a:cubicBezTo>
                        <a:pt x="0" y="7818"/>
                        <a:pt x="7818" y="0"/>
                        <a:pt x="17463" y="0"/>
                      </a:cubicBezTo>
                      <a:lnTo>
                        <a:pt x="87313" y="0"/>
                      </a:lnTo>
                      <a:cubicBezTo>
                        <a:pt x="96957" y="0"/>
                        <a:pt x="104775" y="7818"/>
                        <a:pt x="104775" y="17463"/>
                      </a:cubicBezTo>
                      <a:lnTo>
                        <a:pt x="104775" y="139700"/>
                      </a:lnTo>
                      <a:cubicBezTo>
                        <a:pt x="104775" y="149344"/>
                        <a:pt x="96957" y="157163"/>
                        <a:pt x="87313" y="157163"/>
                      </a:cubicBezTo>
                      <a:lnTo>
                        <a:pt x="17463" y="157163"/>
                      </a:lnTo>
                      <a:cubicBezTo>
                        <a:pt x="7818" y="157163"/>
                        <a:pt x="0" y="149344"/>
                        <a:pt x="0" y="139700"/>
                      </a:cubicBezTo>
                      <a:lnTo>
                        <a:pt x="0" y="17463"/>
                      </a:lnTo>
                    </a:path>
                  </a:pathLst>
                </a:custGeom>
                <a:noFill/>
                <a:ln w="17463">
                  <a:solidFill>
                    <a:srgbClr val="FFFFFF"/>
                  </a:solidFill>
                </a:ln>
              </p:spPr>
            </p:sp>
            <p:sp>
              <p:nvSpPr>
                <p:cNvPr id="164" name="Freeform 164"/>
                <p:cNvSpPr/>
                <p:nvPr/>
              </p:nvSpPr>
              <p:spPr>
                <a:xfrm>
                  <a:off x="9440069" y="4006850"/>
                  <a:ext cx="17463" cy="9525"/>
                </a:xfrm>
                <a:custGeom>
                  <a:avLst/>
                  <a:gdLst/>
                  <a:ahLst/>
                  <a:cxnLst/>
                  <a:rect l="l" t="t" r="r" b="b"/>
                  <a:pathLst>
                    <a:path w="17463" h="9525">
                      <a:moveTo>
                        <a:pt x="0" y="0"/>
                      </a:moveTo>
                      <a:lnTo>
                        <a:pt x="17463" y="0"/>
                      </a:lnTo>
                    </a:path>
                  </a:pathLst>
                </a:custGeom>
                <a:noFill/>
                <a:ln w="17463">
                  <a:solidFill>
                    <a:srgbClr val="FFFFFF"/>
                  </a:solidFill>
                </a:ln>
              </p:spPr>
            </p:sp>
            <p:sp>
              <p:nvSpPr>
                <p:cNvPr id="165" name="Freeform 165"/>
                <p:cNvSpPr/>
                <p:nvPr/>
              </p:nvSpPr>
              <p:spPr>
                <a:xfrm>
                  <a:off x="9448800" y="4120356"/>
                  <a:ext cx="9525" cy="9525"/>
                </a:xfrm>
                <a:custGeom>
                  <a:avLst/>
                  <a:gdLst/>
                  <a:ahLst/>
                  <a:cxnLst/>
                  <a:rect l="l" t="t" r="r" b="b"/>
                  <a:pathLst>
                    <a:path w="9525" h="9525">
                      <a:moveTo>
                        <a:pt x="0" y="0"/>
                      </a:moveTo>
                      <a:lnTo>
                        <a:pt x="0" y="87"/>
                      </a:lnTo>
                    </a:path>
                  </a:pathLst>
                </a:custGeom>
                <a:noFill/>
                <a:ln w="17463">
                  <a:solidFill>
                    <a:srgbClr val="FFFFFF"/>
                  </a:solidFill>
                </a:ln>
              </p:spPr>
            </p:sp>
          </p:grpSp>
          <p:sp>
            <p:nvSpPr>
              <p:cNvPr id="167" name="TextBox 167"/>
              <p:cNvSpPr txBox="1"/>
              <p:nvPr/>
            </p:nvSpPr>
            <p:spPr>
              <a:xfrm>
                <a:off x="9728835" y="3917156"/>
                <a:ext cx="1217625" cy="220028"/>
              </a:xfrm>
              <a:prstGeom prst="rect">
                <a:avLst/>
              </a:prstGeom>
              <a:noFill/>
              <a:ln>
                <a:noFill/>
              </a:ln>
            </p:spPr>
            <p:txBody>
              <a:bodyPr wrap="none" lIns="0" tIns="0" rIns="0" bIns="0" anchor="t" anchorCtr="0">
                <a:spAutoFit/>
              </a:bodyPr>
              <a:lstStyle/>
              <a:p>
                <a:pPr algn="l"/>
                <a:r>
                  <a:rPr lang="zh-CN" sz="1120" b="1" dirty="0">
                    <a:solidFill>
                      <a:srgbClr val="B03A1F"/>
                    </a:solidFill>
                    <a:latin typeface="+mn-lt"/>
                    <a:ea typeface="+mn-ea"/>
                    <a:cs typeface="+mn-cs"/>
                  </a:rPr>
                  <a:t>线上渠道活跃提升</a:t>
                </a:r>
              </a:p>
            </p:txBody>
          </p:sp>
          <p:sp>
            <p:nvSpPr>
              <p:cNvPr id="168" name="Ellipse 168"/>
              <p:cNvSpPr/>
              <p:nvPr/>
            </p:nvSpPr>
            <p:spPr>
              <a:xfrm>
                <a:off x="9734550" y="4171950"/>
                <a:ext cx="38100" cy="38100"/>
              </a:xfrm>
              <a:prstGeom prst="ellipse">
                <a:avLst/>
              </a:prstGeom>
              <a:solidFill>
                <a:srgbClr val="B03A1F"/>
              </a:solidFill>
              <a:ln>
                <a:noFill/>
              </a:ln>
            </p:spPr>
          </p:sp>
          <p:sp>
            <p:nvSpPr>
              <p:cNvPr id="169" name="TextBox 169"/>
              <p:cNvSpPr txBox="1"/>
              <p:nvPr/>
            </p:nvSpPr>
            <p:spPr>
              <a:xfrm>
                <a:off x="9825038" y="41359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线上用户规模增长</a:t>
                </a:r>
              </a:p>
            </p:txBody>
          </p:sp>
          <p:sp>
            <p:nvSpPr>
              <p:cNvPr id="170" name="Ellipse 170"/>
              <p:cNvSpPr/>
              <p:nvPr/>
            </p:nvSpPr>
            <p:spPr>
              <a:xfrm>
                <a:off x="9734550" y="4362450"/>
                <a:ext cx="38100" cy="38100"/>
              </a:xfrm>
              <a:prstGeom prst="ellipse">
                <a:avLst/>
              </a:prstGeom>
              <a:solidFill>
                <a:srgbClr val="B03A1F"/>
              </a:solidFill>
              <a:ln>
                <a:noFill/>
              </a:ln>
            </p:spPr>
          </p:sp>
          <p:sp>
            <p:nvSpPr>
              <p:cNvPr id="171" name="TextBox 171"/>
              <p:cNvSpPr txBox="1"/>
              <p:nvPr/>
            </p:nvSpPr>
            <p:spPr>
              <a:xfrm>
                <a:off x="9825038" y="43264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核心功能使用提升</a:t>
                </a:r>
              </a:p>
            </p:txBody>
          </p:sp>
          <p:sp>
            <p:nvSpPr>
              <p:cNvPr id="172" name="Ellipse 172"/>
              <p:cNvSpPr/>
              <p:nvPr/>
            </p:nvSpPr>
            <p:spPr>
              <a:xfrm>
                <a:off x="9734550" y="4552950"/>
                <a:ext cx="38100" cy="38100"/>
              </a:xfrm>
              <a:prstGeom prst="ellipse">
                <a:avLst/>
              </a:prstGeom>
              <a:solidFill>
                <a:srgbClr val="B03A1F"/>
              </a:solidFill>
              <a:ln>
                <a:noFill/>
              </a:ln>
            </p:spPr>
          </p:sp>
          <p:sp>
            <p:nvSpPr>
              <p:cNvPr id="173" name="TextBox 173"/>
              <p:cNvSpPr txBox="1"/>
              <p:nvPr/>
            </p:nvSpPr>
            <p:spPr>
              <a:xfrm>
                <a:off x="9825038" y="45169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线上业务占比提高</a:t>
                </a:r>
              </a:p>
            </p:txBody>
          </p:sp>
        </p:grpSp>
      </p:grpSp>
      <p:grpSp>
        <p:nvGrpSpPr>
          <p:cNvPr id="235" name="challenges"/>
          <p:cNvGrpSpPr/>
          <p:nvPr/>
        </p:nvGrpSpPr>
        <p:grpSpPr>
          <a:xfrm>
            <a:off x="190500" y="4905375"/>
            <a:ext cx="11811000" cy="1762125"/>
            <a:chOff x="190500" y="4905375"/>
            <a:chExt cx="11811000" cy="1762125"/>
          </a:xfrm>
        </p:grpSpPr>
        <p:sp>
          <p:nvSpPr>
            <p:cNvPr id="176" name="Rectangle 176"/>
            <p:cNvSpPr/>
            <p:nvPr/>
          </p:nvSpPr>
          <p:spPr>
            <a:xfrm>
              <a:off x="190500" y="4905375"/>
              <a:ext cx="11811000" cy="1762125"/>
            </a:xfrm>
            <a:prstGeom prst="rect">
              <a:avLst/>
            </a:prstGeom>
            <a:solidFill>
              <a:srgbClr val="1E1E1E"/>
            </a:solidFill>
            <a:ln>
              <a:noFill/>
            </a:ln>
          </p:spPr>
        </p:sp>
        <p:sp>
          <p:nvSpPr>
            <p:cNvPr id="177" name="TextBox 177"/>
            <p:cNvSpPr txBox="1"/>
            <p:nvPr/>
          </p:nvSpPr>
          <p:spPr>
            <a:xfrm>
              <a:off x="5524500" y="5023485"/>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二季度关键挑战</a:t>
              </a:r>
            </a:p>
          </p:txBody>
        </p:sp>
        <p:grpSp>
          <p:nvGrpSpPr>
            <p:cNvPr id="192" name="challenge-1"/>
            <p:cNvGrpSpPr/>
            <p:nvPr/>
          </p:nvGrpSpPr>
          <p:grpSpPr>
            <a:xfrm>
              <a:off x="342900" y="5295900"/>
              <a:ext cx="2781300" cy="1257300"/>
              <a:chOff x="342900" y="5295900"/>
              <a:chExt cx="2781300" cy="1257300"/>
            </a:xfrm>
          </p:grpSpPr>
          <p:sp>
            <p:nvSpPr>
              <p:cNvPr id="178" name="Rectangle 178"/>
              <p:cNvSpPr/>
              <p:nvPr/>
            </p:nvSpPr>
            <p:spPr>
              <a:xfrm>
                <a:off x="342900" y="5295900"/>
                <a:ext cx="2781300" cy="1257300"/>
              </a:xfrm>
              <a:prstGeom prst="rect">
                <a:avLst/>
              </a:prstGeom>
              <a:solidFill>
                <a:srgbClr val="FFFFFF"/>
              </a:solidFill>
              <a:ln>
                <a:noFill/>
              </a:ln>
            </p:spPr>
          </p:sp>
          <p:sp>
            <p:nvSpPr>
              <p:cNvPr id="179" name="Ellipse 179"/>
              <p:cNvSpPr/>
              <p:nvPr/>
            </p:nvSpPr>
            <p:spPr>
              <a:xfrm>
                <a:off x="457200" y="5410200"/>
                <a:ext cx="381000" cy="381000"/>
              </a:xfrm>
              <a:prstGeom prst="ellipse">
                <a:avLst/>
              </a:prstGeom>
              <a:solidFill>
                <a:srgbClr val="1E1E1E"/>
              </a:solidFill>
              <a:ln>
                <a:noFill/>
              </a:ln>
            </p:spPr>
          </p:sp>
          <p:grpSp>
            <p:nvGrpSpPr>
              <p:cNvPr id="183" name="Group 183"/>
              <p:cNvGrpSpPr/>
              <p:nvPr/>
            </p:nvGrpSpPr>
            <p:grpSpPr>
              <a:xfrm>
                <a:off x="595313" y="5522119"/>
                <a:ext cx="130969" cy="157163"/>
                <a:chOff x="595313" y="5522119"/>
                <a:chExt cx="130969" cy="157163"/>
              </a:xfrm>
            </p:grpSpPr>
            <p:sp>
              <p:nvSpPr>
                <p:cNvPr id="180" name="Freeform 180"/>
                <p:cNvSpPr/>
                <p:nvPr/>
              </p:nvSpPr>
              <p:spPr>
                <a:xfrm>
                  <a:off x="612775" y="55221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81" name="Freeform 181"/>
                <p:cNvSpPr/>
                <p:nvPr/>
              </p:nvSpPr>
              <p:spPr>
                <a:xfrm>
                  <a:off x="595313" y="5626894"/>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FFFFFF"/>
                  </a:solidFill>
                </a:ln>
              </p:spPr>
            </p:sp>
            <p:sp>
              <p:nvSpPr>
                <p:cNvPr id="182" name="Freeform 182"/>
                <p:cNvSpPr/>
                <p:nvPr/>
              </p:nvSpPr>
              <p:spPr>
                <a:xfrm>
                  <a:off x="673894" y="5644356"/>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184" name="TextBox 184"/>
              <p:cNvSpPr txBox="1"/>
              <p:nvPr/>
            </p:nvSpPr>
            <p:spPr>
              <a:xfrm>
                <a:off x="927735" y="5441156"/>
                <a:ext cx="1217625"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高价值客深耕不足</a:t>
                </a:r>
              </a:p>
            </p:txBody>
          </p:sp>
          <p:sp>
            <p:nvSpPr>
              <p:cNvPr id="185" name="Rectangle 185"/>
              <p:cNvSpPr/>
              <p:nvPr/>
            </p:nvSpPr>
            <p:spPr>
              <a:xfrm>
                <a:off x="933450" y="5638800"/>
                <a:ext cx="342900" cy="28575"/>
              </a:xfrm>
              <a:prstGeom prst="rect">
                <a:avLst/>
              </a:prstGeom>
              <a:solidFill>
                <a:srgbClr val="B03A1F"/>
              </a:solidFill>
              <a:ln>
                <a:noFill/>
              </a:ln>
            </p:spPr>
          </p:sp>
          <p:sp>
            <p:nvSpPr>
              <p:cNvPr id="186" name="Ellipse 186"/>
              <p:cNvSpPr/>
              <p:nvPr/>
            </p:nvSpPr>
            <p:spPr>
              <a:xfrm>
                <a:off x="552450" y="5848350"/>
                <a:ext cx="38100" cy="38100"/>
              </a:xfrm>
              <a:prstGeom prst="ellipse">
                <a:avLst/>
              </a:prstGeom>
              <a:solidFill>
                <a:srgbClr val="B03A1F"/>
              </a:solidFill>
              <a:ln>
                <a:noFill/>
              </a:ln>
            </p:spPr>
          </p:sp>
          <p:sp>
            <p:nvSpPr>
              <p:cNvPr id="187" name="TextBox 187"/>
              <p:cNvSpPr txBox="1"/>
              <p:nvPr/>
            </p:nvSpPr>
            <p:spPr>
              <a:xfrm>
                <a:off x="642938" y="5812393"/>
                <a:ext cx="105148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高价值客户覆盖不足</a:t>
                </a:r>
              </a:p>
            </p:txBody>
          </p:sp>
          <p:sp>
            <p:nvSpPr>
              <p:cNvPr id="188" name="Ellipse 188"/>
              <p:cNvSpPr/>
              <p:nvPr/>
            </p:nvSpPr>
            <p:spPr>
              <a:xfrm>
                <a:off x="552450" y="6038850"/>
                <a:ext cx="38100" cy="38100"/>
              </a:xfrm>
              <a:prstGeom prst="ellipse">
                <a:avLst/>
              </a:prstGeom>
              <a:solidFill>
                <a:srgbClr val="B03A1F"/>
              </a:solidFill>
              <a:ln>
                <a:noFill/>
              </a:ln>
            </p:spPr>
          </p:sp>
          <p:sp>
            <p:nvSpPr>
              <p:cNvPr id="189" name="TextBox 189"/>
              <p:cNvSpPr txBox="1"/>
              <p:nvPr/>
            </p:nvSpPr>
            <p:spPr>
              <a:xfrm>
                <a:off x="642938" y="6002893"/>
                <a:ext cx="1283030"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专属服务与产品供给不足</a:t>
                </a:r>
              </a:p>
            </p:txBody>
          </p:sp>
          <p:sp>
            <p:nvSpPr>
              <p:cNvPr id="190" name="Ellipse 190"/>
              <p:cNvSpPr/>
              <p:nvPr/>
            </p:nvSpPr>
            <p:spPr>
              <a:xfrm>
                <a:off x="552450" y="6229350"/>
                <a:ext cx="38100" cy="38100"/>
              </a:xfrm>
              <a:prstGeom prst="ellipse">
                <a:avLst/>
              </a:prstGeom>
              <a:solidFill>
                <a:srgbClr val="B03A1F"/>
              </a:solidFill>
              <a:ln>
                <a:noFill/>
              </a:ln>
            </p:spPr>
          </p:sp>
          <p:sp>
            <p:nvSpPr>
              <p:cNvPr id="191" name="TextBox 191"/>
              <p:cNvSpPr txBox="1"/>
              <p:nvPr/>
            </p:nvSpPr>
            <p:spPr>
              <a:xfrm>
                <a:off x="642938" y="6193393"/>
                <a:ext cx="1283030"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客户黏性与贡献有待提升</a:t>
                </a:r>
              </a:p>
            </p:txBody>
          </p:sp>
        </p:grpSp>
        <p:grpSp>
          <p:nvGrpSpPr>
            <p:cNvPr id="206" name="challenge-2"/>
            <p:cNvGrpSpPr/>
            <p:nvPr/>
          </p:nvGrpSpPr>
          <p:grpSpPr>
            <a:xfrm>
              <a:off x="3238500" y="5295900"/>
              <a:ext cx="2781300" cy="1257300"/>
              <a:chOff x="3238500" y="5295900"/>
              <a:chExt cx="2781300" cy="1257300"/>
            </a:xfrm>
          </p:grpSpPr>
          <p:sp>
            <p:nvSpPr>
              <p:cNvPr id="193" name="Rectangle 193"/>
              <p:cNvSpPr/>
              <p:nvPr/>
            </p:nvSpPr>
            <p:spPr>
              <a:xfrm>
                <a:off x="3238500" y="5295900"/>
                <a:ext cx="2781300" cy="1257300"/>
              </a:xfrm>
              <a:prstGeom prst="rect">
                <a:avLst/>
              </a:prstGeom>
              <a:solidFill>
                <a:srgbClr val="FFFFFF"/>
              </a:solidFill>
              <a:ln>
                <a:noFill/>
              </a:ln>
            </p:spPr>
          </p:sp>
          <p:sp>
            <p:nvSpPr>
              <p:cNvPr id="194" name="Ellipse 194"/>
              <p:cNvSpPr/>
              <p:nvPr/>
            </p:nvSpPr>
            <p:spPr>
              <a:xfrm>
                <a:off x="3352800" y="5410200"/>
                <a:ext cx="381000" cy="381000"/>
              </a:xfrm>
              <a:prstGeom prst="ellipse">
                <a:avLst/>
              </a:prstGeom>
              <a:solidFill>
                <a:srgbClr val="1E1E1E"/>
              </a:solidFill>
              <a:ln>
                <a:noFill/>
              </a:ln>
            </p:spPr>
          </p:sp>
          <p:grpSp>
            <p:nvGrpSpPr>
              <p:cNvPr id="197" name="Group 197"/>
              <p:cNvGrpSpPr/>
              <p:nvPr/>
            </p:nvGrpSpPr>
            <p:grpSpPr>
              <a:xfrm>
                <a:off x="3462285" y="5523620"/>
                <a:ext cx="157850" cy="158095"/>
                <a:chOff x="3462285" y="5523620"/>
                <a:chExt cx="157850" cy="158095"/>
              </a:xfrm>
            </p:grpSpPr>
            <p:sp>
              <p:nvSpPr>
                <p:cNvPr id="195" name="Freeform 195"/>
                <p:cNvSpPr/>
                <p:nvPr/>
              </p:nvSpPr>
              <p:spPr>
                <a:xfrm>
                  <a:off x="3462285" y="5523620"/>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FFFFFF"/>
                  </a:solidFill>
                </a:ln>
              </p:spPr>
            </p:sp>
            <p:sp>
              <p:nvSpPr>
                <p:cNvPr id="196" name="Freeform 196"/>
                <p:cNvSpPr/>
                <p:nvPr/>
              </p:nvSpPr>
              <p:spPr>
                <a:xfrm>
                  <a:off x="3569494" y="5526484"/>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FFFFFF"/>
                  </a:solidFill>
                </a:ln>
              </p:spPr>
            </p:sp>
          </p:grpSp>
          <p:sp>
            <p:nvSpPr>
              <p:cNvPr id="198" name="TextBox 198"/>
              <p:cNvSpPr txBox="1"/>
              <p:nvPr/>
            </p:nvSpPr>
            <p:spPr>
              <a:xfrm>
                <a:off x="3823335" y="5441156"/>
                <a:ext cx="1066851"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产品渗透率不均</a:t>
                </a:r>
              </a:p>
            </p:txBody>
          </p:sp>
          <p:sp>
            <p:nvSpPr>
              <p:cNvPr id="199" name="Rectangle 199"/>
              <p:cNvSpPr/>
              <p:nvPr/>
            </p:nvSpPr>
            <p:spPr>
              <a:xfrm>
                <a:off x="3829050" y="5638800"/>
                <a:ext cx="342900" cy="28575"/>
              </a:xfrm>
              <a:prstGeom prst="rect">
                <a:avLst/>
              </a:prstGeom>
              <a:solidFill>
                <a:srgbClr val="B03A1F"/>
              </a:solidFill>
              <a:ln>
                <a:noFill/>
              </a:ln>
            </p:spPr>
          </p:sp>
          <p:sp>
            <p:nvSpPr>
              <p:cNvPr id="200" name="Ellipse 200"/>
              <p:cNvSpPr/>
              <p:nvPr/>
            </p:nvSpPr>
            <p:spPr>
              <a:xfrm>
                <a:off x="3448050" y="5848350"/>
                <a:ext cx="38100" cy="38100"/>
              </a:xfrm>
              <a:prstGeom prst="ellipse">
                <a:avLst/>
              </a:prstGeom>
              <a:solidFill>
                <a:srgbClr val="B03A1F"/>
              </a:solidFill>
              <a:ln>
                <a:noFill/>
              </a:ln>
            </p:spPr>
          </p:sp>
          <p:sp>
            <p:nvSpPr>
              <p:cNvPr id="201" name="TextBox 201"/>
              <p:cNvSpPr txBox="1"/>
              <p:nvPr/>
            </p:nvSpPr>
            <p:spPr>
              <a:xfrm>
                <a:off x="3538538" y="5812393"/>
                <a:ext cx="1167257"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产品渗透率区域差异大</a:t>
                </a:r>
              </a:p>
            </p:txBody>
          </p:sp>
          <p:sp>
            <p:nvSpPr>
              <p:cNvPr id="202" name="Ellipse 202"/>
              <p:cNvSpPr/>
              <p:nvPr/>
            </p:nvSpPr>
            <p:spPr>
              <a:xfrm>
                <a:off x="3448050" y="6038850"/>
                <a:ext cx="38100" cy="38100"/>
              </a:xfrm>
              <a:prstGeom prst="ellipse">
                <a:avLst/>
              </a:prstGeom>
              <a:solidFill>
                <a:srgbClr val="B03A1F"/>
              </a:solidFill>
              <a:ln>
                <a:noFill/>
              </a:ln>
            </p:spPr>
          </p:sp>
          <p:sp>
            <p:nvSpPr>
              <p:cNvPr id="203" name="TextBox 203"/>
              <p:cNvSpPr txBox="1"/>
              <p:nvPr/>
            </p:nvSpPr>
            <p:spPr>
              <a:xfrm>
                <a:off x="3538538" y="60028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关键产品覆盖不足</a:t>
                </a:r>
              </a:p>
            </p:txBody>
          </p:sp>
          <p:sp>
            <p:nvSpPr>
              <p:cNvPr id="204" name="Ellipse 204"/>
              <p:cNvSpPr/>
              <p:nvPr/>
            </p:nvSpPr>
            <p:spPr>
              <a:xfrm>
                <a:off x="3448050" y="6229350"/>
                <a:ext cx="38100" cy="38100"/>
              </a:xfrm>
              <a:prstGeom prst="ellipse">
                <a:avLst/>
              </a:prstGeom>
              <a:solidFill>
                <a:srgbClr val="B03A1F"/>
              </a:solidFill>
              <a:ln>
                <a:noFill/>
              </a:ln>
            </p:spPr>
          </p:sp>
          <p:sp>
            <p:nvSpPr>
              <p:cNvPr id="205" name="TextBox 205"/>
              <p:cNvSpPr txBox="1"/>
              <p:nvPr/>
            </p:nvSpPr>
            <p:spPr>
              <a:xfrm>
                <a:off x="3538538" y="61933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交叉销售深度不够</a:t>
                </a:r>
              </a:p>
            </p:txBody>
          </p:sp>
        </p:grpSp>
        <p:grpSp>
          <p:nvGrpSpPr>
            <p:cNvPr id="218" name="challenge-3"/>
            <p:cNvGrpSpPr/>
            <p:nvPr/>
          </p:nvGrpSpPr>
          <p:grpSpPr>
            <a:xfrm>
              <a:off x="6134100" y="5295900"/>
              <a:ext cx="2781300" cy="1257300"/>
              <a:chOff x="6134100" y="5295900"/>
              <a:chExt cx="2781300" cy="1257300"/>
            </a:xfrm>
          </p:grpSpPr>
          <p:sp>
            <p:nvSpPr>
              <p:cNvPr id="207" name="Rectangle 207"/>
              <p:cNvSpPr/>
              <p:nvPr/>
            </p:nvSpPr>
            <p:spPr>
              <a:xfrm>
                <a:off x="6134100" y="5295900"/>
                <a:ext cx="2781300" cy="1257300"/>
              </a:xfrm>
              <a:prstGeom prst="rect">
                <a:avLst/>
              </a:prstGeom>
              <a:solidFill>
                <a:srgbClr val="FFFFFF"/>
              </a:solidFill>
              <a:ln>
                <a:noFill/>
              </a:ln>
            </p:spPr>
          </p:sp>
          <p:sp>
            <p:nvSpPr>
              <p:cNvPr id="208" name="Ellipse 208"/>
              <p:cNvSpPr/>
              <p:nvPr/>
            </p:nvSpPr>
            <p:spPr>
              <a:xfrm>
                <a:off x="6248400" y="5410200"/>
                <a:ext cx="381000" cy="381000"/>
              </a:xfrm>
              <a:prstGeom prst="ellipse">
                <a:avLst/>
              </a:prstGeom>
              <a:solidFill>
                <a:srgbClr val="1E1E1E"/>
              </a:solidFill>
              <a:ln>
                <a:noFill/>
              </a:ln>
            </p:spPr>
          </p:sp>
          <p:sp>
            <p:nvSpPr>
              <p:cNvPr id="209" name="Freeform 209"/>
              <p:cNvSpPr/>
              <p:nvPr/>
            </p:nvSpPr>
            <p:spPr>
              <a:xfrm>
                <a:off x="6369050" y="5530850"/>
                <a:ext cx="139700" cy="148431"/>
              </a:xfrm>
              <a:custGeom>
                <a:avLst/>
                <a:gdLst/>
                <a:ahLst/>
                <a:cxnLst/>
                <a:rect l="l" t="t" r="r" b="b"/>
                <a:pathLst>
                  <a:path w="139700" h="148431">
                    <a:moveTo>
                      <a:pt x="0" y="0"/>
                    </a:moveTo>
                    <a:lnTo>
                      <a:pt x="139700" y="0"/>
                    </a:lnTo>
                    <a:lnTo>
                      <a:pt x="139700" y="18964"/>
                    </a:lnTo>
                    <a:cubicBezTo>
                      <a:pt x="139699" y="23595"/>
                      <a:pt x="137859" y="28036"/>
                      <a:pt x="134584" y="31310"/>
                    </a:cubicBezTo>
                    <a:lnTo>
                      <a:pt x="96044" y="69850"/>
                    </a:lnTo>
                    <a:lnTo>
                      <a:pt x="96044" y="130969"/>
                    </a:lnTo>
                    <a:lnTo>
                      <a:pt x="43656" y="148431"/>
                    </a:lnTo>
                    <a:lnTo>
                      <a:pt x="43656" y="74216"/>
                    </a:lnTo>
                    <a:lnTo>
                      <a:pt x="4540" y="31188"/>
                    </a:lnTo>
                    <a:cubicBezTo>
                      <a:pt x="1619" y="27974"/>
                      <a:pt x="0" y="23787"/>
                      <a:pt x="0" y="19445"/>
                    </a:cubicBezTo>
                    <a:lnTo>
                      <a:pt x="0" y="0"/>
                    </a:lnTo>
                  </a:path>
                </a:pathLst>
              </a:custGeom>
              <a:noFill/>
              <a:ln w="17463">
                <a:solidFill>
                  <a:srgbClr val="FFFFFF"/>
                </a:solidFill>
              </a:ln>
            </p:spPr>
          </p:sp>
          <p:sp>
            <p:nvSpPr>
              <p:cNvPr id="210" name="TextBox 210"/>
              <p:cNvSpPr txBox="1"/>
              <p:nvPr/>
            </p:nvSpPr>
            <p:spPr>
              <a:xfrm>
                <a:off x="6718935" y="5441156"/>
                <a:ext cx="1217625"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获客转化链条偏长</a:t>
                </a:r>
              </a:p>
            </p:txBody>
          </p:sp>
          <p:sp>
            <p:nvSpPr>
              <p:cNvPr id="211" name="Rectangle 211"/>
              <p:cNvSpPr/>
              <p:nvPr/>
            </p:nvSpPr>
            <p:spPr>
              <a:xfrm>
                <a:off x="6724650" y="5638800"/>
                <a:ext cx="342900" cy="28575"/>
              </a:xfrm>
              <a:prstGeom prst="rect">
                <a:avLst/>
              </a:prstGeom>
              <a:solidFill>
                <a:srgbClr val="B03A1F"/>
              </a:solidFill>
              <a:ln>
                <a:noFill/>
              </a:ln>
            </p:spPr>
          </p:sp>
          <p:sp>
            <p:nvSpPr>
              <p:cNvPr id="212" name="Ellipse 212"/>
              <p:cNvSpPr/>
              <p:nvPr/>
            </p:nvSpPr>
            <p:spPr>
              <a:xfrm>
                <a:off x="6343650" y="5848350"/>
                <a:ext cx="38100" cy="38100"/>
              </a:xfrm>
              <a:prstGeom prst="ellipse">
                <a:avLst/>
              </a:prstGeom>
              <a:solidFill>
                <a:srgbClr val="B03A1F"/>
              </a:solidFill>
              <a:ln>
                <a:noFill/>
              </a:ln>
            </p:spPr>
          </p:sp>
          <p:sp>
            <p:nvSpPr>
              <p:cNvPr id="213" name="TextBox 213"/>
              <p:cNvSpPr txBox="1"/>
              <p:nvPr/>
            </p:nvSpPr>
            <p:spPr>
              <a:xfrm>
                <a:off x="6434138" y="58123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线索转化效率偏低</a:t>
                </a:r>
              </a:p>
            </p:txBody>
          </p:sp>
          <p:sp>
            <p:nvSpPr>
              <p:cNvPr id="214" name="Ellipse 214"/>
              <p:cNvSpPr/>
              <p:nvPr/>
            </p:nvSpPr>
            <p:spPr>
              <a:xfrm>
                <a:off x="6343650" y="6038850"/>
                <a:ext cx="38100" cy="38100"/>
              </a:xfrm>
              <a:prstGeom prst="ellipse">
                <a:avLst/>
              </a:prstGeom>
              <a:solidFill>
                <a:srgbClr val="B03A1F"/>
              </a:solidFill>
              <a:ln>
                <a:noFill/>
              </a:ln>
            </p:spPr>
          </p:sp>
          <p:sp>
            <p:nvSpPr>
              <p:cNvPr id="215" name="TextBox 215"/>
              <p:cNvSpPr txBox="1"/>
              <p:nvPr/>
            </p:nvSpPr>
            <p:spPr>
              <a:xfrm>
                <a:off x="6434138" y="6002893"/>
                <a:ext cx="105148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多环节流转损耗明显</a:t>
                </a:r>
              </a:p>
            </p:txBody>
          </p:sp>
          <p:sp>
            <p:nvSpPr>
              <p:cNvPr id="216" name="Ellipse 216"/>
              <p:cNvSpPr/>
              <p:nvPr/>
            </p:nvSpPr>
            <p:spPr>
              <a:xfrm>
                <a:off x="6343650" y="6229350"/>
                <a:ext cx="38100" cy="38100"/>
              </a:xfrm>
              <a:prstGeom prst="ellipse">
                <a:avLst/>
              </a:prstGeom>
              <a:solidFill>
                <a:srgbClr val="B03A1F"/>
              </a:solidFill>
              <a:ln>
                <a:noFill/>
              </a:ln>
            </p:spPr>
          </p:sp>
          <p:sp>
            <p:nvSpPr>
              <p:cNvPr id="217" name="TextBox 217"/>
              <p:cNvSpPr txBox="1"/>
              <p:nvPr/>
            </p:nvSpPr>
            <p:spPr>
              <a:xfrm>
                <a:off x="6434138" y="6193393"/>
                <a:ext cx="1167257"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精细化运营能力待提升</a:t>
                </a:r>
              </a:p>
            </p:txBody>
          </p:sp>
        </p:grpSp>
        <p:grpSp>
          <p:nvGrpSpPr>
            <p:cNvPr id="234" name="challenge-4"/>
            <p:cNvGrpSpPr/>
            <p:nvPr/>
          </p:nvGrpSpPr>
          <p:grpSpPr>
            <a:xfrm>
              <a:off x="9029700" y="5295900"/>
              <a:ext cx="2781300" cy="1257300"/>
              <a:chOff x="9029700" y="5295900"/>
              <a:chExt cx="2781300" cy="1257300"/>
            </a:xfrm>
          </p:grpSpPr>
          <p:sp>
            <p:nvSpPr>
              <p:cNvPr id="219" name="Rectangle 219"/>
              <p:cNvSpPr/>
              <p:nvPr/>
            </p:nvSpPr>
            <p:spPr>
              <a:xfrm>
                <a:off x="9029700" y="5295900"/>
                <a:ext cx="2781300" cy="1257300"/>
              </a:xfrm>
              <a:prstGeom prst="rect">
                <a:avLst/>
              </a:prstGeom>
              <a:solidFill>
                <a:srgbClr val="FFFFFF"/>
              </a:solidFill>
              <a:ln>
                <a:noFill/>
              </a:ln>
            </p:spPr>
          </p:sp>
          <p:sp>
            <p:nvSpPr>
              <p:cNvPr id="220" name="Ellipse 220"/>
              <p:cNvSpPr/>
              <p:nvPr/>
            </p:nvSpPr>
            <p:spPr>
              <a:xfrm>
                <a:off x="9144000" y="5410200"/>
                <a:ext cx="381000" cy="381000"/>
              </a:xfrm>
              <a:prstGeom prst="ellipse">
                <a:avLst/>
              </a:prstGeom>
              <a:solidFill>
                <a:srgbClr val="1E1E1E"/>
              </a:solidFill>
              <a:ln>
                <a:noFill/>
              </a:ln>
            </p:spPr>
          </p:sp>
          <p:grpSp>
            <p:nvGrpSpPr>
              <p:cNvPr id="225" name="Group 225"/>
              <p:cNvGrpSpPr/>
              <p:nvPr/>
            </p:nvGrpSpPr>
            <p:grpSpPr>
              <a:xfrm>
                <a:off x="9255919" y="5530850"/>
                <a:ext cx="157163" cy="149225"/>
                <a:chOff x="9255919" y="5530850"/>
                <a:chExt cx="157163" cy="149225"/>
              </a:xfrm>
            </p:grpSpPr>
            <p:sp>
              <p:nvSpPr>
                <p:cNvPr id="221" name="Freeform 221"/>
                <p:cNvSpPr/>
                <p:nvPr/>
              </p:nvSpPr>
              <p:spPr>
                <a:xfrm>
                  <a:off x="9255919" y="560070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222" name="Freeform 222"/>
                <p:cNvSpPr/>
                <p:nvPr/>
              </p:nvSpPr>
              <p:spPr>
                <a:xfrm>
                  <a:off x="9360694" y="556577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223" name="Freeform 223"/>
                <p:cNvSpPr/>
                <p:nvPr/>
              </p:nvSpPr>
              <p:spPr>
                <a:xfrm>
                  <a:off x="9308306" y="553085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224" name="Freeform 224"/>
                <p:cNvSpPr/>
                <p:nvPr/>
              </p:nvSpPr>
              <p:spPr>
                <a:xfrm>
                  <a:off x="9264650" y="5670550"/>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226" name="TextBox 226"/>
              <p:cNvSpPr txBox="1"/>
              <p:nvPr/>
            </p:nvSpPr>
            <p:spPr>
              <a:xfrm>
                <a:off x="9614535" y="5441156"/>
                <a:ext cx="1519174"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数据与队伍能力待强化</a:t>
                </a:r>
              </a:p>
            </p:txBody>
          </p:sp>
          <p:sp>
            <p:nvSpPr>
              <p:cNvPr id="227" name="Rectangle 227"/>
              <p:cNvSpPr/>
              <p:nvPr/>
            </p:nvSpPr>
            <p:spPr>
              <a:xfrm>
                <a:off x="9620250" y="5638800"/>
                <a:ext cx="342900" cy="28575"/>
              </a:xfrm>
              <a:prstGeom prst="rect">
                <a:avLst/>
              </a:prstGeom>
              <a:solidFill>
                <a:srgbClr val="B03A1F"/>
              </a:solidFill>
              <a:ln>
                <a:noFill/>
              </a:ln>
            </p:spPr>
          </p:sp>
          <p:sp>
            <p:nvSpPr>
              <p:cNvPr id="228" name="Ellipse 228"/>
              <p:cNvSpPr/>
              <p:nvPr/>
            </p:nvSpPr>
            <p:spPr>
              <a:xfrm>
                <a:off x="9239250" y="5848350"/>
                <a:ext cx="38100" cy="38100"/>
              </a:xfrm>
              <a:prstGeom prst="ellipse">
                <a:avLst/>
              </a:prstGeom>
              <a:solidFill>
                <a:srgbClr val="B03A1F"/>
              </a:solidFill>
              <a:ln>
                <a:noFill/>
              </a:ln>
            </p:spPr>
          </p:sp>
          <p:sp>
            <p:nvSpPr>
              <p:cNvPr id="229" name="TextBox 229"/>
              <p:cNvSpPr txBox="1"/>
              <p:nvPr/>
            </p:nvSpPr>
            <p:spPr>
              <a:xfrm>
                <a:off x="9329738" y="5812393"/>
                <a:ext cx="1283030"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数据治理与应用深度不足</a:t>
                </a:r>
              </a:p>
            </p:txBody>
          </p:sp>
          <p:sp>
            <p:nvSpPr>
              <p:cNvPr id="230" name="Ellipse 230"/>
              <p:cNvSpPr/>
              <p:nvPr/>
            </p:nvSpPr>
            <p:spPr>
              <a:xfrm>
                <a:off x="9239250" y="6038850"/>
                <a:ext cx="38100" cy="38100"/>
              </a:xfrm>
              <a:prstGeom prst="ellipse">
                <a:avLst/>
              </a:prstGeom>
              <a:solidFill>
                <a:srgbClr val="B03A1F"/>
              </a:solidFill>
              <a:ln>
                <a:noFill/>
              </a:ln>
            </p:spPr>
          </p:sp>
          <p:sp>
            <p:nvSpPr>
              <p:cNvPr id="231" name="TextBox 231"/>
              <p:cNvSpPr txBox="1"/>
              <p:nvPr/>
            </p:nvSpPr>
            <p:spPr>
              <a:xfrm>
                <a:off x="9329738" y="6002893"/>
                <a:ext cx="1167257"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数字化工具使用不充分</a:t>
                </a:r>
              </a:p>
            </p:txBody>
          </p:sp>
          <p:sp>
            <p:nvSpPr>
              <p:cNvPr id="232" name="Ellipse 232"/>
              <p:cNvSpPr/>
              <p:nvPr/>
            </p:nvSpPr>
            <p:spPr>
              <a:xfrm>
                <a:off x="9239250" y="6229350"/>
                <a:ext cx="38100" cy="38100"/>
              </a:xfrm>
              <a:prstGeom prst="ellipse">
                <a:avLst/>
              </a:prstGeom>
              <a:solidFill>
                <a:srgbClr val="B03A1F"/>
              </a:solidFill>
              <a:ln>
                <a:noFill/>
              </a:ln>
            </p:spPr>
          </p:sp>
          <p:sp>
            <p:nvSpPr>
              <p:cNvPr id="233" name="TextBox 233"/>
              <p:cNvSpPr txBox="1"/>
              <p:nvPr/>
            </p:nvSpPr>
            <p:spPr>
              <a:xfrm>
                <a:off x="9329738" y="6193393"/>
                <a:ext cx="1283030"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队伍专业能力与产能不足</a:t>
                </a:r>
              </a:p>
            </p:txBody>
          </p:sp>
        </p:grpSp>
      </p:gr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0" name="page-header"/>
          <p:cNvGrpSpPr/>
          <p:nvPr/>
        </p:nvGrpSpPr>
        <p:grpSpPr>
          <a:xfrm>
            <a:off x="275844" y="170498"/>
            <a:ext cx="11687556" cy="381381"/>
            <a:chOff x="275844" y="170498"/>
            <a:chExt cx="11687556" cy="381381"/>
          </a:xfrm>
        </p:grpSpPr>
        <p:sp>
          <p:nvSpPr>
            <p:cNvPr id="2" name="TextBox 2"/>
            <p:cNvSpPr txBox="1"/>
            <p:nvPr/>
          </p:nvSpPr>
          <p:spPr>
            <a:xfrm>
              <a:off x="275844" y="170498"/>
              <a:ext cx="668843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二季度经营主线：围绕客户价值构建</a:t>
              </a:r>
              <a:r>
                <a:rPr lang="zh-CN" sz="1950" b="1" dirty="0">
                  <a:solidFill>
                    <a:srgbClr val="B03A1F"/>
                  </a:solidFill>
                  <a:latin typeface="SimSun"/>
                  <a:ea typeface="SimSun"/>
                  <a:cs typeface="SimSun"/>
                </a:rPr>
                <a:t>“1-2-3”</a:t>
              </a:r>
              <a:r>
                <a:rPr lang="zh-CN" sz="1950" b="1" dirty="0">
                  <a:solidFill>
                    <a:srgbClr val="1A1A1A"/>
                  </a:solidFill>
                  <a:latin typeface="SimSun"/>
                  <a:ea typeface="SimSun"/>
                  <a:cs typeface="SimSun"/>
                </a:rPr>
                <a:t>运营体系</a:t>
              </a:r>
            </a:p>
          </p:txBody>
        </p:sp>
        <p:sp>
          <p:nvSpPr>
            <p:cNvPr id="3" name="Rectangle 3"/>
            <p:cNvSpPr/>
            <p:nvPr/>
          </p:nvSpPr>
          <p:spPr>
            <a:xfrm>
              <a:off x="285750" y="514350"/>
              <a:ext cx="8001000" cy="19050"/>
            </a:xfrm>
            <a:prstGeom prst="rect">
              <a:avLst/>
            </a:prstGeom>
            <a:solidFill>
              <a:srgbClr val="B03A1F"/>
            </a:solidFill>
            <a:ln>
              <a:noFill/>
            </a:ln>
          </p:spPr>
        </p:sp>
        <p:grpSp>
          <p:nvGrpSpPr>
            <p:cNvPr id="7" name="Group 7"/>
            <p:cNvGrpSpPr/>
            <p:nvPr/>
          </p:nvGrpSpPr>
          <p:grpSpPr>
            <a:xfrm>
              <a:off x="9289256" y="240506"/>
              <a:ext cx="185737" cy="185737"/>
              <a:chOff x="9289256" y="240506"/>
              <a:chExt cx="185737" cy="185737"/>
            </a:xfrm>
          </p:grpSpPr>
          <p:sp>
            <p:nvSpPr>
              <p:cNvPr id="4" name="Freeform 4"/>
              <p:cNvSpPr/>
              <p:nvPr/>
            </p:nvSpPr>
            <p:spPr>
              <a:xfrm>
                <a:off x="9371806" y="32305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B03A1F"/>
                </a:solidFill>
              </a:ln>
            </p:spPr>
          </p:sp>
          <p:sp>
            <p:nvSpPr>
              <p:cNvPr id="5" name="Freeform 5"/>
              <p:cNvSpPr/>
              <p:nvPr/>
            </p:nvSpPr>
            <p:spPr>
              <a:xfrm>
                <a:off x="9330531" y="28178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B03A1F"/>
                </a:solidFill>
              </a:ln>
            </p:spPr>
          </p:sp>
          <p:sp>
            <p:nvSpPr>
              <p:cNvPr id="6" name="Freeform 6"/>
              <p:cNvSpPr/>
              <p:nvPr/>
            </p:nvSpPr>
            <p:spPr>
              <a:xfrm>
                <a:off x="9289256" y="2405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B03A1F"/>
                </a:solidFill>
              </a:ln>
            </p:spPr>
          </p:sp>
        </p:grpSp>
        <p:sp>
          <p:nvSpPr>
            <p:cNvPr id="8" name="Rectangle 8"/>
            <p:cNvSpPr/>
            <p:nvPr/>
          </p:nvSpPr>
          <p:spPr>
            <a:xfrm>
              <a:off x="9582150" y="190500"/>
              <a:ext cx="2381250" cy="323850"/>
            </a:xfrm>
            <a:prstGeom prst="roundRect">
              <a:avLst>
                <a:gd name="adj" fmla="val 50000"/>
              </a:avLst>
            </a:prstGeom>
            <a:solidFill>
              <a:srgbClr val="B03A1F"/>
            </a:solidFill>
            <a:ln>
              <a:noFill/>
            </a:ln>
          </p:spPr>
        </p:sp>
        <p:sp>
          <p:nvSpPr>
            <p:cNvPr id="9" name="TextBox 9"/>
            <p:cNvSpPr txBox="1"/>
            <p:nvPr/>
          </p:nvSpPr>
          <p:spPr>
            <a:xfrm>
              <a:off x="9815868" y="290751"/>
              <a:ext cx="191381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时间过半、任务超半、质效并举</a:t>
              </a:r>
            </a:p>
          </p:txBody>
        </p:sp>
      </p:grpSp>
      <p:grpSp>
        <p:nvGrpSpPr>
          <p:cNvPr id="23" name="corner-card-tl"/>
          <p:cNvGrpSpPr/>
          <p:nvPr/>
        </p:nvGrpSpPr>
        <p:grpSpPr>
          <a:xfrm>
            <a:off x="285750" y="1333500"/>
            <a:ext cx="2266950" cy="1447800"/>
            <a:chOff x="285750" y="1333500"/>
            <a:chExt cx="2266950" cy="1447800"/>
          </a:xfrm>
        </p:grpSpPr>
        <p:sp>
          <p:nvSpPr>
            <p:cNvPr id="11" name="Rectangle 11"/>
            <p:cNvSpPr/>
            <p:nvPr/>
          </p:nvSpPr>
          <p:spPr>
            <a:xfrm>
              <a:off x="285750" y="1333500"/>
              <a:ext cx="2266950" cy="1447800"/>
            </a:xfrm>
            <a:prstGeom prst="roundRect">
              <a:avLst>
                <a:gd name="adj" fmla="val 6579"/>
              </a:avLst>
            </a:prstGeom>
            <a:solidFill>
              <a:srgbClr val="FFFFFF"/>
            </a:solidFill>
            <a:ln w="9525">
              <a:solidFill>
                <a:srgbClr val="E8E4E0"/>
              </a:solidFill>
            </a:ln>
          </p:spPr>
        </p:sp>
        <p:sp>
          <p:nvSpPr>
            <p:cNvPr id="12" name="Ellipse 12"/>
            <p:cNvSpPr/>
            <p:nvPr/>
          </p:nvSpPr>
          <p:spPr>
            <a:xfrm>
              <a:off x="409575" y="1457325"/>
              <a:ext cx="438150" cy="438150"/>
            </a:xfrm>
            <a:prstGeom prst="ellipse">
              <a:avLst/>
            </a:prstGeom>
            <a:solidFill>
              <a:srgbClr val="B03A1F"/>
            </a:solidFill>
            <a:ln>
              <a:noFill/>
            </a:ln>
          </p:spPr>
        </p:sp>
        <p:grpSp>
          <p:nvGrpSpPr>
            <p:cNvPr id="15" name="Group 15"/>
            <p:cNvGrpSpPr/>
            <p:nvPr/>
          </p:nvGrpSpPr>
          <p:grpSpPr>
            <a:xfrm>
              <a:off x="552450" y="1619250"/>
              <a:ext cx="152400" cy="133350"/>
              <a:chOff x="552450" y="1619250"/>
              <a:chExt cx="152400" cy="133350"/>
            </a:xfrm>
          </p:grpSpPr>
          <p:sp>
            <p:nvSpPr>
              <p:cNvPr id="13" name="Freeform 13"/>
              <p:cNvSpPr/>
              <p:nvPr/>
            </p:nvSpPr>
            <p:spPr>
              <a:xfrm>
                <a:off x="552450" y="1743075"/>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14" name="Freeform 14"/>
              <p:cNvSpPr/>
              <p:nvPr/>
            </p:nvSpPr>
            <p:spPr>
              <a:xfrm>
                <a:off x="552450" y="16192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FFFF"/>
                </a:solidFill>
              </a:ln>
            </p:spPr>
          </p:sp>
        </p:grpSp>
        <p:sp>
          <p:nvSpPr>
            <p:cNvPr id="16" name="TextBox 16"/>
            <p:cNvSpPr txBox="1"/>
            <p:nvPr/>
          </p:nvSpPr>
          <p:spPr>
            <a:xfrm>
              <a:off x="946023" y="1500664"/>
              <a:ext cx="702208" cy="249364"/>
            </a:xfrm>
            <a:prstGeom prst="rect">
              <a:avLst/>
            </a:prstGeom>
            <a:noFill/>
            <a:ln>
              <a:noFill/>
            </a:ln>
          </p:spPr>
          <p:txBody>
            <a:bodyPr wrap="none" lIns="0" tIns="0" rIns="0" bIns="0" anchor="t" anchorCtr="0">
              <a:spAutoFit/>
            </a:bodyPr>
            <a:lstStyle/>
            <a:p>
              <a:pPr algn="l"/>
              <a:r>
                <a:rPr lang="zh-CN" sz="1280" b="1" dirty="0">
                  <a:solidFill>
                    <a:srgbClr val="B03A1F"/>
                  </a:solidFill>
                  <a:latin typeface="+mn-lt"/>
                  <a:ea typeface="+mn-ea"/>
                  <a:cs typeface="+mn-cs"/>
                </a:rPr>
                <a:t>提质增效</a:t>
              </a:r>
            </a:p>
          </p:txBody>
        </p:sp>
        <p:sp>
          <p:nvSpPr>
            <p:cNvPr id="17" name="Ellipse 17"/>
            <p:cNvSpPr/>
            <p:nvPr/>
          </p:nvSpPr>
          <p:spPr>
            <a:xfrm>
              <a:off x="571500" y="1924050"/>
              <a:ext cx="38100" cy="38100"/>
            </a:xfrm>
            <a:prstGeom prst="ellipse">
              <a:avLst/>
            </a:prstGeom>
            <a:solidFill>
              <a:srgbClr val="8A8A8A"/>
            </a:solidFill>
            <a:ln>
              <a:noFill/>
            </a:ln>
          </p:spPr>
        </p:sp>
        <p:sp>
          <p:nvSpPr>
            <p:cNvPr id="18" name="TextBox 18"/>
            <p:cNvSpPr txBox="1"/>
            <p:nvPr/>
          </p:nvSpPr>
          <p:spPr>
            <a:xfrm>
              <a:off x="681038" y="1888093"/>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聚焦价值创造</a:t>
              </a:r>
            </a:p>
          </p:txBody>
        </p:sp>
        <p:sp>
          <p:nvSpPr>
            <p:cNvPr id="19" name="Ellipse 19"/>
            <p:cNvSpPr/>
            <p:nvPr/>
          </p:nvSpPr>
          <p:spPr>
            <a:xfrm>
              <a:off x="571500" y="2152650"/>
              <a:ext cx="38100" cy="38100"/>
            </a:xfrm>
            <a:prstGeom prst="ellipse">
              <a:avLst/>
            </a:prstGeom>
            <a:solidFill>
              <a:srgbClr val="8A8A8A"/>
            </a:solidFill>
            <a:ln>
              <a:noFill/>
            </a:ln>
          </p:spPr>
        </p:sp>
        <p:sp>
          <p:nvSpPr>
            <p:cNvPr id="20" name="TextBox 20"/>
            <p:cNvSpPr txBox="1"/>
            <p:nvPr/>
          </p:nvSpPr>
          <p:spPr>
            <a:xfrm>
              <a:off x="681038" y="2116693"/>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优化资源配置</a:t>
              </a:r>
            </a:p>
          </p:txBody>
        </p:sp>
        <p:sp>
          <p:nvSpPr>
            <p:cNvPr id="21" name="Ellipse 21"/>
            <p:cNvSpPr/>
            <p:nvPr/>
          </p:nvSpPr>
          <p:spPr>
            <a:xfrm>
              <a:off x="571500" y="2381250"/>
              <a:ext cx="38100" cy="38100"/>
            </a:xfrm>
            <a:prstGeom prst="ellipse">
              <a:avLst/>
            </a:prstGeom>
            <a:solidFill>
              <a:srgbClr val="8A8A8A"/>
            </a:solidFill>
            <a:ln>
              <a:noFill/>
            </a:ln>
          </p:spPr>
        </p:sp>
        <p:sp>
          <p:nvSpPr>
            <p:cNvPr id="22" name="TextBox 22"/>
            <p:cNvSpPr txBox="1"/>
            <p:nvPr/>
          </p:nvSpPr>
          <p:spPr>
            <a:xfrm>
              <a:off x="681038" y="2345293"/>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提升经营质效</a:t>
              </a:r>
            </a:p>
          </p:txBody>
        </p:sp>
      </p:grpSp>
      <p:grpSp>
        <p:nvGrpSpPr>
          <p:cNvPr id="36" name="corner-card-bl"/>
          <p:cNvGrpSpPr/>
          <p:nvPr/>
        </p:nvGrpSpPr>
        <p:grpSpPr>
          <a:xfrm>
            <a:off x="285750" y="4162425"/>
            <a:ext cx="2266950" cy="1447800"/>
            <a:chOff x="285750" y="4162425"/>
            <a:chExt cx="2266950" cy="1447800"/>
          </a:xfrm>
        </p:grpSpPr>
        <p:sp>
          <p:nvSpPr>
            <p:cNvPr id="24" name="Rectangle 24"/>
            <p:cNvSpPr/>
            <p:nvPr/>
          </p:nvSpPr>
          <p:spPr>
            <a:xfrm>
              <a:off x="285750" y="4162425"/>
              <a:ext cx="2266950" cy="1447800"/>
            </a:xfrm>
            <a:prstGeom prst="roundRect">
              <a:avLst>
                <a:gd name="adj" fmla="val 6579"/>
              </a:avLst>
            </a:prstGeom>
            <a:solidFill>
              <a:srgbClr val="FFFFFF"/>
            </a:solidFill>
            <a:ln w="9525">
              <a:solidFill>
                <a:srgbClr val="E8E4E0"/>
              </a:solidFill>
            </a:ln>
          </p:spPr>
        </p:sp>
        <p:sp>
          <p:nvSpPr>
            <p:cNvPr id="25" name="Ellipse 25"/>
            <p:cNvSpPr/>
            <p:nvPr/>
          </p:nvSpPr>
          <p:spPr>
            <a:xfrm>
              <a:off x="409575" y="4286250"/>
              <a:ext cx="438150" cy="438150"/>
            </a:xfrm>
            <a:prstGeom prst="ellipse">
              <a:avLst/>
            </a:prstGeom>
            <a:solidFill>
              <a:srgbClr val="B03A1F"/>
            </a:solidFill>
            <a:ln>
              <a:noFill/>
            </a:ln>
          </p:spPr>
        </p:sp>
        <p:grpSp>
          <p:nvGrpSpPr>
            <p:cNvPr id="28" name="Group 28"/>
            <p:cNvGrpSpPr/>
            <p:nvPr/>
          </p:nvGrpSpPr>
          <p:grpSpPr>
            <a:xfrm>
              <a:off x="530071" y="4419600"/>
              <a:ext cx="186006" cy="171450"/>
              <a:chOff x="530071" y="4419600"/>
              <a:chExt cx="186006" cy="171450"/>
            </a:xfrm>
          </p:grpSpPr>
          <p:sp>
            <p:nvSpPr>
              <p:cNvPr id="26" name="Freeform 26"/>
              <p:cNvSpPr/>
              <p:nvPr/>
            </p:nvSpPr>
            <p:spPr>
              <a:xfrm>
                <a:off x="530071" y="4419600"/>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FFFFFF"/>
                </a:solidFill>
              </a:ln>
            </p:spPr>
          </p:sp>
          <p:sp>
            <p:nvSpPr>
              <p:cNvPr id="27" name="Freeform 27"/>
              <p:cNvSpPr/>
              <p:nvPr/>
            </p:nvSpPr>
            <p:spPr>
              <a:xfrm>
                <a:off x="657225" y="4552950"/>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29" name="TextBox 29"/>
            <p:cNvSpPr txBox="1"/>
            <p:nvPr/>
          </p:nvSpPr>
          <p:spPr>
            <a:xfrm>
              <a:off x="946023" y="4329589"/>
              <a:ext cx="702208" cy="249364"/>
            </a:xfrm>
            <a:prstGeom prst="rect">
              <a:avLst/>
            </a:prstGeom>
            <a:noFill/>
            <a:ln>
              <a:noFill/>
            </a:ln>
          </p:spPr>
          <p:txBody>
            <a:bodyPr wrap="none" lIns="0" tIns="0" rIns="0" bIns="0" anchor="t" anchorCtr="0">
              <a:spAutoFit/>
            </a:bodyPr>
            <a:lstStyle/>
            <a:p>
              <a:pPr algn="l"/>
              <a:r>
                <a:rPr lang="zh-CN" sz="1280" b="1" dirty="0">
                  <a:solidFill>
                    <a:srgbClr val="B03A1F"/>
                  </a:solidFill>
                  <a:latin typeface="+mn-lt"/>
                  <a:ea typeface="+mn-ea"/>
                  <a:cs typeface="+mn-cs"/>
                </a:rPr>
                <a:t>防控风险</a:t>
              </a:r>
            </a:p>
          </p:txBody>
        </p:sp>
        <p:sp>
          <p:nvSpPr>
            <p:cNvPr id="30" name="Ellipse 30"/>
            <p:cNvSpPr/>
            <p:nvPr/>
          </p:nvSpPr>
          <p:spPr>
            <a:xfrm>
              <a:off x="571500" y="4752975"/>
              <a:ext cx="38100" cy="38100"/>
            </a:xfrm>
            <a:prstGeom prst="ellipse">
              <a:avLst/>
            </a:prstGeom>
            <a:solidFill>
              <a:srgbClr val="8A8A8A"/>
            </a:solidFill>
            <a:ln>
              <a:noFill/>
            </a:ln>
          </p:spPr>
        </p:sp>
        <p:sp>
          <p:nvSpPr>
            <p:cNvPr id="31" name="TextBox 31"/>
            <p:cNvSpPr txBox="1"/>
            <p:nvPr/>
          </p:nvSpPr>
          <p:spPr>
            <a:xfrm>
              <a:off x="681038" y="4717018"/>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强化合规管理</a:t>
              </a:r>
            </a:p>
          </p:txBody>
        </p:sp>
        <p:sp>
          <p:nvSpPr>
            <p:cNvPr id="32" name="Ellipse 32"/>
            <p:cNvSpPr/>
            <p:nvPr/>
          </p:nvSpPr>
          <p:spPr>
            <a:xfrm>
              <a:off x="571500" y="4981575"/>
              <a:ext cx="38100" cy="38100"/>
            </a:xfrm>
            <a:prstGeom prst="ellipse">
              <a:avLst/>
            </a:prstGeom>
            <a:solidFill>
              <a:srgbClr val="8A8A8A"/>
            </a:solidFill>
            <a:ln>
              <a:noFill/>
            </a:ln>
          </p:spPr>
        </p:sp>
        <p:sp>
          <p:nvSpPr>
            <p:cNvPr id="33" name="TextBox 33"/>
            <p:cNvSpPr txBox="1"/>
            <p:nvPr/>
          </p:nvSpPr>
          <p:spPr>
            <a:xfrm>
              <a:off x="681038" y="4945618"/>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完善风控体系</a:t>
              </a:r>
            </a:p>
          </p:txBody>
        </p:sp>
        <p:sp>
          <p:nvSpPr>
            <p:cNvPr id="34" name="Ellipse 34"/>
            <p:cNvSpPr/>
            <p:nvPr/>
          </p:nvSpPr>
          <p:spPr>
            <a:xfrm>
              <a:off x="571500" y="5210175"/>
              <a:ext cx="38100" cy="38100"/>
            </a:xfrm>
            <a:prstGeom prst="ellipse">
              <a:avLst/>
            </a:prstGeom>
            <a:solidFill>
              <a:srgbClr val="8A8A8A"/>
            </a:solidFill>
            <a:ln>
              <a:noFill/>
            </a:ln>
          </p:spPr>
        </p:sp>
        <p:sp>
          <p:nvSpPr>
            <p:cNvPr id="35" name="TextBox 35"/>
            <p:cNvSpPr txBox="1"/>
            <p:nvPr/>
          </p:nvSpPr>
          <p:spPr>
            <a:xfrm>
              <a:off x="681038" y="5174218"/>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守牢风险底线</a:t>
              </a:r>
            </a:p>
          </p:txBody>
        </p:sp>
      </p:grpSp>
      <p:grpSp>
        <p:nvGrpSpPr>
          <p:cNvPr id="50" name="corner-card-tr"/>
          <p:cNvGrpSpPr/>
          <p:nvPr/>
        </p:nvGrpSpPr>
        <p:grpSpPr>
          <a:xfrm>
            <a:off x="9582150" y="1333500"/>
            <a:ext cx="2266950" cy="1447800"/>
            <a:chOff x="9582150" y="1333500"/>
            <a:chExt cx="2266950" cy="1447800"/>
          </a:xfrm>
        </p:grpSpPr>
        <p:sp>
          <p:nvSpPr>
            <p:cNvPr id="37" name="Rectangle 37"/>
            <p:cNvSpPr/>
            <p:nvPr/>
          </p:nvSpPr>
          <p:spPr>
            <a:xfrm>
              <a:off x="9582150" y="1333500"/>
              <a:ext cx="2266950" cy="1447800"/>
            </a:xfrm>
            <a:prstGeom prst="roundRect">
              <a:avLst>
                <a:gd name="adj" fmla="val 6579"/>
              </a:avLst>
            </a:prstGeom>
            <a:solidFill>
              <a:srgbClr val="FFFFFF"/>
            </a:solidFill>
            <a:ln w="9525">
              <a:solidFill>
                <a:srgbClr val="E8E4E0"/>
              </a:solidFill>
            </a:ln>
          </p:spPr>
        </p:sp>
        <p:sp>
          <p:nvSpPr>
            <p:cNvPr id="38" name="Ellipse 38"/>
            <p:cNvSpPr/>
            <p:nvPr/>
          </p:nvSpPr>
          <p:spPr>
            <a:xfrm>
              <a:off x="9705975" y="1457325"/>
              <a:ext cx="438150" cy="438150"/>
            </a:xfrm>
            <a:prstGeom prst="ellipse">
              <a:avLst/>
            </a:prstGeom>
            <a:solidFill>
              <a:srgbClr val="B03A1F"/>
            </a:solidFill>
            <a:ln>
              <a:noFill/>
            </a:ln>
          </p:spPr>
        </p:sp>
        <p:grpSp>
          <p:nvGrpSpPr>
            <p:cNvPr id="42" name="Group 42"/>
            <p:cNvGrpSpPr/>
            <p:nvPr/>
          </p:nvGrpSpPr>
          <p:grpSpPr>
            <a:xfrm>
              <a:off x="9839325" y="1590675"/>
              <a:ext cx="171450" cy="171450"/>
              <a:chOff x="9839325" y="1590675"/>
              <a:chExt cx="171450" cy="171450"/>
            </a:xfrm>
          </p:grpSpPr>
          <p:sp>
            <p:nvSpPr>
              <p:cNvPr id="39" name="Freeform 39"/>
              <p:cNvSpPr/>
              <p:nvPr/>
            </p:nvSpPr>
            <p:spPr>
              <a:xfrm>
                <a:off x="9839325" y="1590675"/>
                <a:ext cx="171450" cy="85725"/>
              </a:xfrm>
              <a:custGeom>
                <a:avLst/>
                <a:gdLst/>
                <a:ahLst/>
                <a:cxnLst/>
                <a:rect l="l" t="t" r="r" b="b"/>
                <a:pathLst>
                  <a:path w="171450" h="85725">
                    <a:moveTo>
                      <a:pt x="0" y="85725"/>
                    </a:moveTo>
                    <a:lnTo>
                      <a:pt x="9525" y="85725"/>
                    </a:lnTo>
                    <a:moveTo>
                      <a:pt x="85725" y="0"/>
                    </a:moveTo>
                    <a:lnTo>
                      <a:pt x="85725" y="9525"/>
                    </a:lnTo>
                    <a:moveTo>
                      <a:pt x="161925" y="85725"/>
                    </a:moveTo>
                    <a:lnTo>
                      <a:pt x="171450" y="85725"/>
                    </a:lnTo>
                    <a:moveTo>
                      <a:pt x="24765" y="24765"/>
                    </a:moveTo>
                    <a:lnTo>
                      <a:pt x="31432" y="31433"/>
                    </a:lnTo>
                    <a:moveTo>
                      <a:pt x="146685" y="24765"/>
                    </a:moveTo>
                    <a:lnTo>
                      <a:pt x="140018" y="31433"/>
                    </a:lnTo>
                  </a:path>
                </a:pathLst>
              </a:custGeom>
              <a:noFill/>
              <a:ln w="19050">
                <a:solidFill>
                  <a:srgbClr val="FFFFFF"/>
                </a:solidFill>
              </a:ln>
            </p:spPr>
          </p:sp>
          <p:sp>
            <p:nvSpPr>
              <p:cNvPr id="40" name="Freeform 40"/>
              <p:cNvSpPr/>
              <p:nvPr/>
            </p:nvSpPr>
            <p:spPr>
              <a:xfrm>
                <a:off x="9873387" y="1628775"/>
                <a:ext cx="103327" cy="133350"/>
              </a:xfrm>
              <a:custGeom>
                <a:avLst/>
                <a:gdLst/>
                <a:ahLst/>
                <a:cxnLst/>
                <a:rect l="l" t="t" r="r" b="b"/>
                <a:pathLst>
                  <a:path w="103327" h="133350">
                    <a:moveTo>
                      <a:pt x="23088" y="85725"/>
                    </a:moveTo>
                    <a:cubicBezTo>
                      <a:pt x="6689" y="73425"/>
                      <a:pt x="0" y="52012"/>
                      <a:pt x="6482" y="32565"/>
                    </a:cubicBezTo>
                    <a:cubicBezTo>
                      <a:pt x="12965" y="13117"/>
                      <a:pt x="31164" y="0"/>
                      <a:pt x="51663" y="0"/>
                    </a:cubicBezTo>
                    <a:cubicBezTo>
                      <a:pt x="72163" y="0"/>
                      <a:pt x="90362" y="13117"/>
                      <a:pt x="96845" y="32565"/>
                    </a:cubicBezTo>
                    <a:cubicBezTo>
                      <a:pt x="103327" y="52012"/>
                      <a:pt x="96638" y="73425"/>
                      <a:pt x="80238" y="85725"/>
                    </a:cubicBezTo>
                    <a:cubicBezTo>
                      <a:pt x="72696" y="93191"/>
                      <a:pt x="69159" y="103802"/>
                      <a:pt x="70713" y="114300"/>
                    </a:cubicBezTo>
                    <a:cubicBezTo>
                      <a:pt x="70713" y="124821"/>
                      <a:pt x="62184" y="133350"/>
                      <a:pt x="51663" y="133350"/>
                    </a:cubicBezTo>
                    <a:cubicBezTo>
                      <a:pt x="41142" y="133350"/>
                      <a:pt x="32613" y="124821"/>
                      <a:pt x="32613" y="114300"/>
                    </a:cubicBezTo>
                    <a:cubicBezTo>
                      <a:pt x="34168" y="103802"/>
                      <a:pt x="30631" y="93191"/>
                      <a:pt x="23088" y="85725"/>
                    </a:cubicBezTo>
                  </a:path>
                </a:pathLst>
              </a:custGeom>
              <a:noFill/>
              <a:ln w="19050">
                <a:solidFill>
                  <a:srgbClr val="FFFFFF"/>
                </a:solidFill>
              </a:ln>
            </p:spPr>
          </p:sp>
          <p:sp>
            <p:nvSpPr>
              <p:cNvPr id="41" name="Freeform 41"/>
              <p:cNvSpPr/>
              <p:nvPr/>
            </p:nvSpPr>
            <p:spPr>
              <a:xfrm>
                <a:off x="9903142" y="1724025"/>
                <a:ext cx="43815" cy="9525"/>
              </a:xfrm>
              <a:custGeom>
                <a:avLst/>
                <a:gdLst/>
                <a:ahLst/>
                <a:cxnLst/>
                <a:rect l="l" t="t" r="r" b="b"/>
                <a:pathLst>
                  <a:path w="43815" h="9525">
                    <a:moveTo>
                      <a:pt x="0" y="0"/>
                    </a:moveTo>
                    <a:lnTo>
                      <a:pt x="43815" y="0"/>
                    </a:lnTo>
                  </a:path>
                </a:pathLst>
              </a:custGeom>
              <a:noFill/>
              <a:ln w="19050">
                <a:solidFill>
                  <a:srgbClr val="FFFFFF"/>
                </a:solidFill>
              </a:ln>
            </p:spPr>
          </p:sp>
        </p:grpSp>
        <p:sp>
          <p:nvSpPr>
            <p:cNvPr id="43" name="TextBox 43"/>
            <p:cNvSpPr txBox="1"/>
            <p:nvPr/>
          </p:nvSpPr>
          <p:spPr>
            <a:xfrm>
              <a:off x="10242423" y="1500664"/>
              <a:ext cx="702208" cy="249364"/>
            </a:xfrm>
            <a:prstGeom prst="rect">
              <a:avLst/>
            </a:prstGeom>
            <a:noFill/>
            <a:ln>
              <a:noFill/>
            </a:ln>
          </p:spPr>
          <p:txBody>
            <a:bodyPr wrap="none" lIns="0" tIns="0" rIns="0" bIns="0" anchor="t" anchorCtr="0">
              <a:spAutoFit/>
            </a:bodyPr>
            <a:lstStyle/>
            <a:p>
              <a:pPr algn="l"/>
              <a:r>
                <a:rPr lang="zh-CN" sz="1280" b="1" dirty="0">
                  <a:solidFill>
                    <a:srgbClr val="B03A1F"/>
                  </a:solidFill>
                  <a:latin typeface="+mn-lt"/>
                  <a:ea typeface="+mn-ea"/>
                  <a:cs typeface="+mn-cs"/>
                </a:rPr>
                <a:t>创新突破</a:t>
              </a:r>
            </a:p>
          </p:txBody>
        </p:sp>
        <p:sp>
          <p:nvSpPr>
            <p:cNvPr id="44" name="Ellipse 44"/>
            <p:cNvSpPr/>
            <p:nvPr/>
          </p:nvSpPr>
          <p:spPr>
            <a:xfrm>
              <a:off x="9867900" y="1924050"/>
              <a:ext cx="38100" cy="38100"/>
            </a:xfrm>
            <a:prstGeom prst="ellipse">
              <a:avLst/>
            </a:prstGeom>
            <a:solidFill>
              <a:srgbClr val="8A8A8A"/>
            </a:solidFill>
            <a:ln>
              <a:noFill/>
            </a:ln>
          </p:spPr>
        </p:sp>
        <p:sp>
          <p:nvSpPr>
            <p:cNvPr id="45" name="TextBox 45"/>
            <p:cNvSpPr txBox="1"/>
            <p:nvPr/>
          </p:nvSpPr>
          <p:spPr>
            <a:xfrm>
              <a:off x="9977438" y="1888093"/>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创新产品服务</a:t>
              </a:r>
            </a:p>
          </p:txBody>
        </p:sp>
        <p:sp>
          <p:nvSpPr>
            <p:cNvPr id="46" name="Ellipse 46"/>
            <p:cNvSpPr/>
            <p:nvPr/>
          </p:nvSpPr>
          <p:spPr>
            <a:xfrm>
              <a:off x="9867900" y="2152650"/>
              <a:ext cx="38100" cy="38100"/>
            </a:xfrm>
            <a:prstGeom prst="ellipse">
              <a:avLst/>
            </a:prstGeom>
            <a:solidFill>
              <a:srgbClr val="8A8A8A"/>
            </a:solidFill>
            <a:ln>
              <a:noFill/>
            </a:ln>
          </p:spPr>
        </p:sp>
        <p:sp>
          <p:nvSpPr>
            <p:cNvPr id="47" name="TextBox 47"/>
            <p:cNvSpPr txBox="1"/>
            <p:nvPr/>
          </p:nvSpPr>
          <p:spPr>
            <a:xfrm>
              <a:off x="9977438" y="2116693"/>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优化业务模式</a:t>
              </a:r>
            </a:p>
          </p:txBody>
        </p:sp>
        <p:sp>
          <p:nvSpPr>
            <p:cNvPr id="48" name="Ellipse 48"/>
            <p:cNvSpPr/>
            <p:nvPr/>
          </p:nvSpPr>
          <p:spPr>
            <a:xfrm>
              <a:off x="9867900" y="2381250"/>
              <a:ext cx="38100" cy="38100"/>
            </a:xfrm>
            <a:prstGeom prst="ellipse">
              <a:avLst/>
            </a:prstGeom>
            <a:solidFill>
              <a:srgbClr val="8A8A8A"/>
            </a:solidFill>
            <a:ln>
              <a:noFill/>
            </a:ln>
          </p:spPr>
        </p:sp>
        <p:sp>
          <p:nvSpPr>
            <p:cNvPr id="49" name="TextBox 49"/>
            <p:cNvSpPr txBox="1"/>
            <p:nvPr/>
          </p:nvSpPr>
          <p:spPr>
            <a:xfrm>
              <a:off x="9977438" y="2345293"/>
              <a:ext cx="819937"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打造差异化优势</a:t>
              </a:r>
            </a:p>
          </p:txBody>
        </p:sp>
      </p:grpSp>
      <p:grpSp>
        <p:nvGrpSpPr>
          <p:cNvPr id="63" name="corner-card-br"/>
          <p:cNvGrpSpPr/>
          <p:nvPr/>
        </p:nvGrpSpPr>
        <p:grpSpPr>
          <a:xfrm>
            <a:off x="9582150" y="4162425"/>
            <a:ext cx="2266950" cy="1447800"/>
            <a:chOff x="9582150" y="4162425"/>
            <a:chExt cx="2266950" cy="1447800"/>
          </a:xfrm>
        </p:grpSpPr>
        <p:sp>
          <p:nvSpPr>
            <p:cNvPr id="51" name="Rectangle 51"/>
            <p:cNvSpPr/>
            <p:nvPr/>
          </p:nvSpPr>
          <p:spPr>
            <a:xfrm>
              <a:off x="9582150" y="4162425"/>
              <a:ext cx="2266950" cy="1447800"/>
            </a:xfrm>
            <a:prstGeom prst="roundRect">
              <a:avLst>
                <a:gd name="adj" fmla="val 6579"/>
              </a:avLst>
            </a:prstGeom>
            <a:solidFill>
              <a:srgbClr val="FFFFFF"/>
            </a:solidFill>
            <a:ln w="9525">
              <a:solidFill>
                <a:srgbClr val="E8E4E0"/>
              </a:solidFill>
            </a:ln>
          </p:spPr>
        </p:sp>
        <p:sp>
          <p:nvSpPr>
            <p:cNvPr id="52" name="Ellipse 52"/>
            <p:cNvSpPr/>
            <p:nvPr/>
          </p:nvSpPr>
          <p:spPr>
            <a:xfrm>
              <a:off x="9705975" y="4286250"/>
              <a:ext cx="438150" cy="438150"/>
            </a:xfrm>
            <a:prstGeom prst="ellipse">
              <a:avLst/>
            </a:prstGeom>
            <a:solidFill>
              <a:srgbClr val="B03A1F"/>
            </a:solidFill>
            <a:ln>
              <a:noFill/>
            </a:ln>
          </p:spPr>
        </p:sp>
        <p:grpSp>
          <p:nvGrpSpPr>
            <p:cNvPr id="55" name="Group 55"/>
            <p:cNvGrpSpPr/>
            <p:nvPr/>
          </p:nvGrpSpPr>
          <p:grpSpPr>
            <a:xfrm>
              <a:off x="9848850" y="4425450"/>
              <a:ext cx="152400" cy="159750"/>
              <a:chOff x="9848850" y="4425450"/>
              <a:chExt cx="152400" cy="159750"/>
            </a:xfrm>
          </p:grpSpPr>
          <p:sp>
            <p:nvSpPr>
              <p:cNvPr id="53" name="Freeform 53"/>
              <p:cNvSpPr/>
              <p:nvPr/>
            </p:nvSpPr>
            <p:spPr>
              <a:xfrm>
                <a:off x="9848850" y="4425450"/>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FFFFFF"/>
                </a:solidFill>
              </a:ln>
            </p:spPr>
          </p:sp>
          <p:sp>
            <p:nvSpPr>
              <p:cNvPr id="54" name="Freeform 54"/>
              <p:cNvSpPr/>
              <p:nvPr/>
            </p:nvSpPr>
            <p:spPr>
              <a:xfrm>
                <a:off x="9848850" y="4514850"/>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FFFFFF"/>
                </a:solidFill>
              </a:ln>
            </p:spPr>
          </p:sp>
        </p:grpSp>
        <p:sp>
          <p:nvSpPr>
            <p:cNvPr id="56" name="TextBox 56"/>
            <p:cNvSpPr txBox="1"/>
            <p:nvPr/>
          </p:nvSpPr>
          <p:spPr>
            <a:xfrm>
              <a:off x="10242423" y="4329589"/>
              <a:ext cx="702208" cy="249364"/>
            </a:xfrm>
            <a:prstGeom prst="rect">
              <a:avLst/>
            </a:prstGeom>
            <a:noFill/>
            <a:ln>
              <a:noFill/>
            </a:ln>
          </p:spPr>
          <p:txBody>
            <a:bodyPr wrap="none" lIns="0" tIns="0" rIns="0" bIns="0" anchor="t" anchorCtr="0">
              <a:spAutoFit/>
            </a:bodyPr>
            <a:lstStyle/>
            <a:p>
              <a:pPr algn="l"/>
              <a:r>
                <a:rPr lang="zh-CN" sz="1280" b="1" dirty="0">
                  <a:solidFill>
                    <a:srgbClr val="B03A1F"/>
                  </a:solidFill>
                  <a:latin typeface="+mn-lt"/>
                  <a:ea typeface="+mn-ea"/>
                  <a:cs typeface="+mn-cs"/>
                </a:rPr>
                <a:t>深化转型</a:t>
              </a:r>
            </a:p>
          </p:txBody>
        </p:sp>
        <p:sp>
          <p:nvSpPr>
            <p:cNvPr id="57" name="Ellipse 57"/>
            <p:cNvSpPr/>
            <p:nvPr/>
          </p:nvSpPr>
          <p:spPr>
            <a:xfrm>
              <a:off x="9867900" y="4752975"/>
              <a:ext cx="38100" cy="38100"/>
            </a:xfrm>
            <a:prstGeom prst="ellipse">
              <a:avLst/>
            </a:prstGeom>
            <a:solidFill>
              <a:srgbClr val="8A8A8A"/>
            </a:solidFill>
            <a:ln>
              <a:noFill/>
            </a:ln>
          </p:spPr>
        </p:sp>
        <p:sp>
          <p:nvSpPr>
            <p:cNvPr id="58" name="TextBox 58"/>
            <p:cNvSpPr txBox="1"/>
            <p:nvPr/>
          </p:nvSpPr>
          <p:spPr>
            <a:xfrm>
              <a:off x="9977438" y="4717018"/>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推进两大转型</a:t>
              </a:r>
            </a:p>
          </p:txBody>
        </p:sp>
        <p:sp>
          <p:nvSpPr>
            <p:cNvPr id="59" name="Ellipse 59"/>
            <p:cNvSpPr/>
            <p:nvPr/>
          </p:nvSpPr>
          <p:spPr>
            <a:xfrm>
              <a:off x="9867900" y="4981575"/>
              <a:ext cx="38100" cy="38100"/>
            </a:xfrm>
            <a:prstGeom prst="ellipse">
              <a:avLst/>
            </a:prstGeom>
            <a:solidFill>
              <a:srgbClr val="8A8A8A"/>
            </a:solidFill>
            <a:ln>
              <a:noFill/>
            </a:ln>
          </p:spPr>
        </p:sp>
        <p:sp>
          <p:nvSpPr>
            <p:cNvPr id="60" name="TextBox 60"/>
            <p:cNvSpPr txBox="1"/>
            <p:nvPr/>
          </p:nvSpPr>
          <p:spPr>
            <a:xfrm>
              <a:off x="9977438" y="4945618"/>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夯实支撑能力</a:t>
              </a:r>
            </a:p>
          </p:txBody>
        </p:sp>
        <p:sp>
          <p:nvSpPr>
            <p:cNvPr id="61" name="Ellipse 61"/>
            <p:cNvSpPr/>
            <p:nvPr/>
          </p:nvSpPr>
          <p:spPr>
            <a:xfrm>
              <a:off x="9867900" y="5210175"/>
              <a:ext cx="38100" cy="38100"/>
            </a:xfrm>
            <a:prstGeom prst="ellipse">
              <a:avLst/>
            </a:prstGeom>
            <a:solidFill>
              <a:srgbClr val="8A8A8A"/>
            </a:solidFill>
            <a:ln>
              <a:noFill/>
            </a:ln>
          </p:spPr>
        </p:sp>
        <p:sp>
          <p:nvSpPr>
            <p:cNvPr id="62" name="TextBox 62"/>
            <p:cNvSpPr txBox="1"/>
            <p:nvPr/>
          </p:nvSpPr>
          <p:spPr>
            <a:xfrm>
              <a:off x="9977438" y="5174218"/>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激发内生动力</a:t>
              </a:r>
            </a:p>
          </p:txBody>
        </p:sp>
      </p:grpSp>
      <p:sp>
        <p:nvSpPr>
          <p:cNvPr id="64" name="deco-arc-left"/>
          <p:cNvSpPr/>
          <p:nvPr/>
        </p:nvSpPr>
        <p:spPr>
          <a:xfrm>
            <a:off x="2457450" y="2905125"/>
            <a:ext cx="381000" cy="1476375"/>
          </a:xfrm>
          <a:custGeom>
            <a:avLst/>
            <a:gdLst/>
            <a:ahLst/>
            <a:cxnLst/>
            <a:rect l="l" t="t" r="r" b="b"/>
            <a:pathLst>
              <a:path w="381000" h="1476375">
                <a:moveTo>
                  <a:pt x="381000" y="0"/>
                </a:moveTo>
                <a:cubicBezTo>
                  <a:pt x="0" y="428625"/>
                  <a:pt x="0" y="1047750"/>
                  <a:pt x="381000" y="1476375"/>
                </a:cubicBezTo>
              </a:path>
            </a:pathLst>
          </a:custGeom>
          <a:noFill/>
          <a:ln w="14288">
            <a:solidFill>
              <a:srgbClr val="C9C5C1"/>
            </a:solidFill>
            <a:prstDash val="dash"/>
            <a:tailEnd type="triangle" w="lg" len="lg"/>
          </a:ln>
        </p:spPr>
      </p:sp>
      <p:sp>
        <p:nvSpPr>
          <p:cNvPr id="65" name="deco-arc-right"/>
          <p:cNvSpPr/>
          <p:nvPr/>
        </p:nvSpPr>
        <p:spPr>
          <a:xfrm>
            <a:off x="9353550" y="2905125"/>
            <a:ext cx="381000" cy="1476375"/>
          </a:xfrm>
          <a:custGeom>
            <a:avLst/>
            <a:gdLst/>
            <a:ahLst/>
            <a:cxnLst/>
            <a:rect l="l" t="t" r="r" b="b"/>
            <a:pathLst>
              <a:path w="381000" h="1476375">
                <a:moveTo>
                  <a:pt x="0" y="0"/>
                </a:moveTo>
                <a:cubicBezTo>
                  <a:pt x="381000" y="428625"/>
                  <a:pt x="381000" y="1047750"/>
                  <a:pt x="0" y="1476375"/>
                </a:cubicBezTo>
              </a:path>
            </a:pathLst>
          </a:custGeom>
          <a:noFill/>
          <a:ln w="14288">
            <a:solidFill>
              <a:srgbClr val="C9C5C1"/>
            </a:solidFill>
            <a:prstDash val="dash"/>
            <a:tailEnd type="triangle" w="lg" len="lg"/>
          </a:ln>
        </p:spPr>
      </p:sp>
      <p:grpSp>
        <p:nvGrpSpPr>
          <p:cNvPr id="146" name="temple"/>
          <p:cNvGrpSpPr/>
          <p:nvPr/>
        </p:nvGrpSpPr>
        <p:grpSpPr>
          <a:xfrm>
            <a:off x="2667000" y="1181100"/>
            <a:ext cx="6858000" cy="4933950"/>
            <a:chOff x="2667000" y="1181100"/>
            <a:chExt cx="6858000" cy="4933950"/>
          </a:xfrm>
        </p:grpSpPr>
        <p:sp>
          <p:nvSpPr>
            <p:cNvPr id="66" name="Polygon 66"/>
            <p:cNvSpPr/>
            <p:nvPr/>
          </p:nvSpPr>
          <p:spPr>
            <a:xfrm>
              <a:off x="2905125" y="1181100"/>
              <a:ext cx="6381750" cy="1276350"/>
            </a:xfrm>
            <a:custGeom>
              <a:avLst/>
              <a:gdLst/>
              <a:ahLst/>
              <a:cxnLst/>
              <a:rect l="l" t="t" r="r" b="b"/>
              <a:pathLst>
                <a:path w="6381750" h="1276350">
                  <a:moveTo>
                    <a:pt x="3190875" y="0"/>
                  </a:moveTo>
                  <a:lnTo>
                    <a:pt x="0" y="1276350"/>
                  </a:lnTo>
                  <a:lnTo>
                    <a:pt x="6381750" y="1276350"/>
                  </a:lnTo>
                  <a:close/>
                </a:path>
              </a:pathLst>
            </a:custGeom>
            <a:gradFill>
              <a:gsLst>
                <a:gs pos="0">
                  <a:srgbClr val="C54C30"/>
                </a:gs>
                <a:gs pos="100000">
                  <a:srgbClr val="8E301B"/>
                </a:gs>
              </a:gsLst>
              <a:lin ang="5400000" scaled="1"/>
            </a:gradFill>
            <a:ln>
              <a:noFill/>
            </a:ln>
          </p:spPr>
        </p:sp>
        <p:sp>
          <p:nvSpPr>
            <p:cNvPr id="67" name="Ellipse 67"/>
            <p:cNvSpPr/>
            <p:nvPr/>
          </p:nvSpPr>
          <p:spPr>
            <a:xfrm>
              <a:off x="5838825" y="1343025"/>
              <a:ext cx="514350" cy="514350"/>
            </a:xfrm>
            <a:prstGeom prst="ellipse">
              <a:avLst/>
            </a:prstGeom>
            <a:solidFill>
              <a:srgbClr val="FFFFFF"/>
            </a:solidFill>
            <a:ln>
              <a:noFill/>
            </a:ln>
          </p:spPr>
        </p:sp>
        <p:grpSp>
          <p:nvGrpSpPr>
            <p:cNvPr id="71" name="Group 71"/>
            <p:cNvGrpSpPr/>
            <p:nvPr/>
          </p:nvGrpSpPr>
          <p:grpSpPr>
            <a:xfrm>
              <a:off x="6024562" y="1512094"/>
              <a:ext cx="178595" cy="214313"/>
              <a:chOff x="6024562" y="1512094"/>
              <a:chExt cx="178595" cy="214313"/>
            </a:xfrm>
          </p:grpSpPr>
          <p:sp>
            <p:nvSpPr>
              <p:cNvPr id="68" name="Freeform 68"/>
              <p:cNvSpPr/>
              <p:nvPr/>
            </p:nvSpPr>
            <p:spPr>
              <a:xfrm>
                <a:off x="6048375" y="1512094"/>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B03A1F"/>
                </a:solidFill>
              </a:ln>
            </p:spPr>
          </p:sp>
          <p:sp>
            <p:nvSpPr>
              <p:cNvPr id="69" name="Freeform 69"/>
              <p:cNvSpPr/>
              <p:nvPr/>
            </p:nvSpPr>
            <p:spPr>
              <a:xfrm>
                <a:off x="6024562" y="1654969"/>
                <a:ext cx="95250" cy="71438"/>
              </a:xfrm>
              <a:custGeom>
                <a:avLst/>
                <a:gdLst/>
                <a:ahLst/>
                <a:cxnLst/>
                <a:rect l="l" t="t" r="r" b="b"/>
                <a:pathLst>
                  <a:path w="95250" h="71438">
                    <a:moveTo>
                      <a:pt x="0" y="71438"/>
                    </a:moveTo>
                    <a:lnTo>
                      <a:pt x="0" y="47625"/>
                    </a:lnTo>
                    <a:cubicBezTo>
                      <a:pt x="0" y="21322"/>
                      <a:pt x="21322" y="0"/>
                      <a:pt x="47625" y="0"/>
                    </a:cubicBezTo>
                    <a:lnTo>
                      <a:pt x="95250" y="0"/>
                    </a:lnTo>
                  </a:path>
                </a:pathLst>
              </a:custGeom>
              <a:noFill/>
              <a:ln w="23812">
                <a:solidFill>
                  <a:srgbClr val="B03A1F"/>
                </a:solidFill>
              </a:ln>
            </p:spPr>
          </p:sp>
          <p:sp>
            <p:nvSpPr>
              <p:cNvPr id="70" name="Freeform 70"/>
              <p:cNvSpPr/>
              <p:nvPr/>
            </p:nvSpPr>
            <p:spPr>
              <a:xfrm>
                <a:off x="6131719" y="1678781"/>
                <a:ext cx="71438" cy="47625"/>
              </a:xfrm>
              <a:custGeom>
                <a:avLst/>
                <a:gdLst/>
                <a:ahLst/>
                <a:cxnLst/>
                <a:rect l="l" t="t" r="r" b="b"/>
                <a:pathLst>
                  <a:path w="71438" h="47625">
                    <a:moveTo>
                      <a:pt x="0" y="23812"/>
                    </a:moveTo>
                    <a:lnTo>
                      <a:pt x="23812" y="47625"/>
                    </a:lnTo>
                    <a:lnTo>
                      <a:pt x="71438" y="0"/>
                    </a:lnTo>
                  </a:path>
                </a:pathLst>
              </a:custGeom>
              <a:noFill/>
              <a:ln w="23812">
                <a:solidFill>
                  <a:srgbClr val="B03A1F"/>
                </a:solidFill>
              </a:ln>
            </p:spPr>
          </p:sp>
        </p:grpSp>
        <p:sp>
          <p:nvSpPr>
            <p:cNvPr id="72" name="TextBox 72"/>
            <p:cNvSpPr txBox="1"/>
            <p:nvPr/>
          </p:nvSpPr>
          <p:spPr>
            <a:xfrm>
              <a:off x="5088064" y="2107882"/>
              <a:ext cx="2015871"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一个中心：客户价值</a:t>
              </a:r>
            </a:p>
          </p:txBody>
        </p:sp>
        <p:grpSp>
          <p:nvGrpSpPr>
            <p:cNvPr id="78" name="engines-label"/>
            <p:cNvGrpSpPr/>
            <p:nvPr/>
          </p:nvGrpSpPr>
          <p:grpSpPr>
            <a:xfrm>
              <a:off x="4191000" y="2743200"/>
              <a:ext cx="3819525" cy="238506"/>
              <a:chOff x="4191000" y="2743200"/>
              <a:chExt cx="3819525" cy="238506"/>
            </a:xfrm>
          </p:grpSpPr>
          <p:sp>
            <p:nvSpPr>
              <p:cNvPr id="73" name="Line 73"/>
              <p:cNvSpPr/>
              <p:nvPr/>
            </p:nvSpPr>
            <p:spPr>
              <a:xfrm>
                <a:off x="4191000" y="2819400"/>
                <a:ext cx="1190625" cy="9525"/>
              </a:xfrm>
              <a:custGeom>
                <a:avLst/>
                <a:gdLst/>
                <a:ahLst/>
                <a:cxnLst/>
                <a:rect l="l" t="t" r="r" b="b"/>
                <a:pathLst>
                  <a:path w="1190625" h="9525">
                    <a:moveTo>
                      <a:pt x="0" y="0"/>
                    </a:moveTo>
                    <a:lnTo>
                      <a:pt x="1190625" y="0"/>
                    </a:lnTo>
                  </a:path>
                </a:pathLst>
              </a:custGeom>
              <a:noFill/>
              <a:ln w="19050">
                <a:solidFill>
                  <a:srgbClr val="B03A1F"/>
                </a:solidFill>
              </a:ln>
            </p:spPr>
          </p:sp>
          <p:sp>
            <p:nvSpPr>
              <p:cNvPr id="74" name="Line 74"/>
              <p:cNvSpPr/>
              <p:nvPr/>
            </p:nvSpPr>
            <p:spPr>
              <a:xfrm>
                <a:off x="4191000" y="2743200"/>
                <a:ext cx="9525" cy="76200"/>
              </a:xfrm>
              <a:custGeom>
                <a:avLst/>
                <a:gdLst/>
                <a:ahLst/>
                <a:cxnLst/>
                <a:rect l="l" t="t" r="r" b="b"/>
                <a:pathLst>
                  <a:path w="9525" h="76200">
                    <a:moveTo>
                      <a:pt x="0" y="76200"/>
                    </a:moveTo>
                    <a:lnTo>
                      <a:pt x="0" y="0"/>
                    </a:lnTo>
                  </a:path>
                </a:pathLst>
              </a:custGeom>
              <a:noFill/>
              <a:ln w="19050">
                <a:solidFill>
                  <a:srgbClr val="B03A1F"/>
                </a:solidFill>
              </a:ln>
            </p:spPr>
          </p:sp>
          <p:sp>
            <p:nvSpPr>
              <p:cNvPr id="75" name="Line 75"/>
              <p:cNvSpPr/>
              <p:nvPr/>
            </p:nvSpPr>
            <p:spPr>
              <a:xfrm>
                <a:off x="6810375" y="2819400"/>
                <a:ext cx="1190625" cy="9525"/>
              </a:xfrm>
              <a:custGeom>
                <a:avLst/>
                <a:gdLst/>
                <a:ahLst/>
                <a:cxnLst/>
                <a:rect l="l" t="t" r="r" b="b"/>
                <a:pathLst>
                  <a:path w="1190625" h="9525">
                    <a:moveTo>
                      <a:pt x="0" y="0"/>
                    </a:moveTo>
                    <a:lnTo>
                      <a:pt x="1190625" y="0"/>
                    </a:lnTo>
                  </a:path>
                </a:pathLst>
              </a:custGeom>
              <a:noFill/>
              <a:ln w="19050">
                <a:solidFill>
                  <a:srgbClr val="B03A1F"/>
                </a:solidFill>
              </a:ln>
            </p:spPr>
          </p:sp>
          <p:sp>
            <p:nvSpPr>
              <p:cNvPr id="76" name="Line 76"/>
              <p:cNvSpPr/>
              <p:nvPr/>
            </p:nvSpPr>
            <p:spPr>
              <a:xfrm>
                <a:off x="8001000" y="2743200"/>
                <a:ext cx="9525" cy="76200"/>
              </a:xfrm>
              <a:custGeom>
                <a:avLst/>
                <a:gdLst/>
                <a:ahLst/>
                <a:cxnLst/>
                <a:rect l="l" t="t" r="r" b="b"/>
                <a:pathLst>
                  <a:path w="9525" h="76200">
                    <a:moveTo>
                      <a:pt x="0" y="76200"/>
                    </a:moveTo>
                    <a:lnTo>
                      <a:pt x="0" y="0"/>
                    </a:lnTo>
                  </a:path>
                </a:pathLst>
              </a:custGeom>
              <a:noFill/>
              <a:ln w="19050">
                <a:solidFill>
                  <a:srgbClr val="B03A1F"/>
                </a:solidFill>
              </a:ln>
            </p:spPr>
          </p:sp>
          <p:sp>
            <p:nvSpPr>
              <p:cNvPr id="77" name="TextBox 77"/>
              <p:cNvSpPr txBox="1"/>
              <p:nvPr/>
            </p:nvSpPr>
            <p:spPr>
              <a:xfrm>
                <a:off x="5605272" y="2747010"/>
                <a:ext cx="981456" cy="234696"/>
              </a:xfrm>
              <a:prstGeom prst="rect">
                <a:avLst/>
              </a:prstGeom>
              <a:noFill/>
              <a:ln>
                <a:noFill/>
              </a:ln>
            </p:spPr>
            <p:txBody>
              <a:bodyPr wrap="none" lIns="0" tIns="0" rIns="0" bIns="0" anchor="t" anchorCtr="0">
                <a:spAutoFit/>
              </a:bodyPr>
              <a:lstStyle/>
              <a:p>
                <a:pPr algn="ctr"/>
                <a:r>
                  <a:rPr lang="zh-CN" sz="1200" b="1" dirty="0">
                    <a:solidFill>
                      <a:srgbClr val="B03A1F"/>
                    </a:solidFill>
                    <a:latin typeface="+mn-lt"/>
                    <a:ea typeface="+mn-ea"/>
                    <a:cs typeface="+mn-cs"/>
                  </a:rPr>
                  <a:t>两大转型引擎</a:t>
                </a:r>
              </a:p>
            </p:txBody>
          </p:sp>
        </p:grpSp>
        <p:grpSp>
          <p:nvGrpSpPr>
            <p:cNvPr id="87" name="engine-left"/>
            <p:cNvGrpSpPr/>
            <p:nvPr/>
          </p:nvGrpSpPr>
          <p:grpSpPr>
            <a:xfrm>
              <a:off x="3143250" y="3048000"/>
              <a:ext cx="2476500" cy="685800"/>
              <a:chOff x="3143250" y="3048000"/>
              <a:chExt cx="2476500" cy="685800"/>
            </a:xfrm>
          </p:grpSpPr>
          <p:sp>
            <p:nvSpPr>
              <p:cNvPr id="79" name="Rectangle 79"/>
              <p:cNvSpPr/>
              <p:nvPr/>
            </p:nvSpPr>
            <p:spPr>
              <a:xfrm>
                <a:off x="3143250" y="3048000"/>
                <a:ext cx="2476500" cy="685800"/>
              </a:xfrm>
              <a:prstGeom prst="roundRect">
                <a:avLst>
                  <a:gd name="adj" fmla="val 11111"/>
                </a:avLst>
              </a:prstGeom>
              <a:gradFill>
                <a:gsLst>
                  <a:gs pos="0">
                    <a:srgbClr val="FDF3F3"/>
                  </a:gs>
                  <a:gs pos="100000">
                    <a:srgbClr val="FFFFFF"/>
                  </a:gs>
                </a:gsLst>
                <a:lin ang="5400000" scaled="1"/>
              </a:gradFill>
              <a:ln w="14288">
                <a:solidFill>
                  <a:srgbClr val="D9ABA0"/>
                </a:solidFill>
              </a:ln>
            </p:spPr>
          </p:sp>
          <p:sp>
            <p:nvSpPr>
              <p:cNvPr id="80" name="Ellipse 80"/>
              <p:cNvSpPr/>
              <p:nvPr/>
            </p:nvSpPr>
            <p:spPr>
              <a:xfrm>
                <a:off x="3314700" y="3181350"/>
                <a:ext cx="419100" cy="419100"/>
              </a:xfrm>
              <a:prstGeom prst="ellipse">
                <a:avLst/>
              </a:prstGeom>
              <a:solidFill>
                <a:srgbClr val="B03A1F"/>
              </a:solidFill>
              <a:ln>
                <a:noFill/>
              </a:ln>
            </p:spPr>
          </p:sp>
          <p:grpSp>
            <p:nvGrpSpPr>
              <p:cNvPr id="85" name="Group 85"/>
              <p:cNvGrpSpPr/>
              <p:nvPr/>
            </p:nvGrpSpPr>
            <p:grpSpPr>
              <a:xfrm>
                <a:off x="3438525" y="3314700"/>
                <a:ext cx="171450" cy="161925"/>
                <a:chOff x="3438525" y="3314700"/>
                <a:chExt cx="171450" cy="161925"/>
              </a:xfrm>
            </p:grpSpPr>
            <p:sp>
              <p:nvSpPr>
                <p:cNvPr id="81" name="Freeform 81"/>
                <p:cNvSpPr/>
                <p:nvPr/>
              </p:nvSpPr>
              <p:spPr>
                <a:xfrm>
                  <a:off x="3438525" y="33909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82" name="Freeform 82"/>
                <p:cNvSpPr/>
                <p:nvPr/>
              </p:nvSpPr>
              <p:spPr>
                <a:xfrm>
                  <a:off x="3552825" y="33528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83" name="Freeform 83"/>
                <p:cNvSpPr/>
                <p:nvPr/>
              </p:nvSpPr>
              <p:spPr>
                <a:xfrm>
                  <a:off x="3495675" y="33147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84" name="Freeform 84"/>
                <p:cNvSpPr/>
                <p:nvPr/>
              </p:nvSpPr>
              <p:spPr>
                <a:xfrm>
                  <a:off x="3448050" y="3467100"/>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86" name="TextBox 86"/>
              <p:cNvSpPr txBox="1"/>
              <p:nvPr/>
            </p:nvSpPr>
            <p:spPr>
              <a:xfrm>
                <a:off x="3841623" y="3319939"/>
                <a:ext cx="104683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mn-lt"/>
                    <a:ea typeface="+mn-ea"/>
                    <a:cs typeface="+mn-cs"/>
                  </a:rPr>
                  <a:t>财富管理转型</a:t>
                </a:r>
              </a:p>
            </p:txBody>
          </p:sp>
        </p:grpSp>
        <p:grpSp>
          <p:nvGrpSpPr>
            <p:cNvPr id="90" name="Group 90"/>
            <p:cNvGrpSpPr/>
            <p:nvPr/>
          </p:nvGrpSpPr>
          <p:grpSpPr>
            <a:xfrm>
              <a:off x="5956300" y="3244462"/>
              <a:ext cx="279399" cy="292875"/>
              <a:chOff x="5956300" y="3244462"/>
              <a:chExt cx="279399" cy="292875"/>
            </a:xfrm>
          </p:grpSpPr>
          <p:sp>
            <p:nvSpPr>
              <p:cNvPr id="88" name="Freeform 88"/>
              <p:cNvSpPr/>
              <p:nvPr/>
            </p:nvSpPr>
            <p:spPr>
              <a:xfrm>
                <a:off x="5956300" y="3244462"/>
                <a:ext cx="279399" cy="128975"/>
              </a:xfrm>
              <a:custGeom>
                <a:avLst/>
                <a:gdLst/>
                <a:ahLst/>
                <a:cxnLst/>
                <a:rect l="l" t="t" r="r" b="b"/>
                <a:pathLst>
                  <a:path w="279399" h="128975">
                    <a:moveTo>
                      <a:pt x="279399" y="128975"/>
                    </a:moveTo>
                    <a:cubicBezTo>
                      <a:pt x="270621" y="65805"/>
                      <a:pt x="220653" y="16323"/>
                      <a:pt x="157401" y="8162"/>
                    </a:cubicBezTo>
                    <a:cubicBezTo>
                      <a:pt x="94148" y="0"/>
                      <a:pt x="33257" y="35177"/>
                      <a:pt x="8731" y="94050"/>
                    </a:cubicBezTo>
                    <a:moveTo>
                      <a:pt x="0" y="24200"/>
                    </a:moveTo>
                    <a:lnTo>
                      <a:pt x="0" y="94050"/>
                    </a:lnTo>
                    <a:lnTo>
                      <a:pt x="69850" y="94050"/>
                    </a:lnTo>
                  </a:path>
                </a:pathLst>
              </a:custGeom>
              <a:noFill/>
              <a:ln w="34925">
                <a:solidFill>
                  <a:srgbClr val="B03A1F"/>
                </a:solidFill>
              </a:ln>
            </p:spPr>
          </p:sp>
          <p:sp>
            <p:nvSpPr>
              <p:cNvPr id="89" name="Freeform 89"/>
              <p:cNvSpPr/>
              <p:nvPr/>
            </p:nvSpPr>
            <p:spPr>
              <a:xfrm>
                <a:off x="5956300" y="3408362"/>
                <a:ext cx="279399" cy="128975"/>
              </a:xfrm>
              <a:custGeom>
                <a:avLst/>
                <a:gdLst/>
                <a:ahLst/>
                <a:cxnLst/>
                <a:rect l="l" t="t" r="r" b="b"/>
                <a:pathLst>
                  <a:path w="279399" h="128975">
                    <a:moveTo>
                      <a:pt x="0" y="0"/>
                    </a:moveTo>
                    <a:cubicBezTo>
                      <a:pt x="8779" y="63170"/>
                      <a:pt x="58746" y="112652"/>
                      <a:pt x="121999" y="120813"/>
                    </a:cubicBezTo>
                    <a:cubicBezTo>
                      <a:pt x="185251" y="128975"/>
                      <a:pt x="246142" y="93797"/>
                      <a:pt x="270668" y="34925"/>
                    </a:cubicBezTo>
                    <a:moveTo>
                      <a:pt x="279399" y="104775"/>
                    </a:moveTo>
                    <a:lnTo>
                      <a:pt x="279399" y="34925"/>
                    </a:lnTo>
                    <a:lnTo>
                      <a:pt x="209550" y="34925"/>
                    </a:lnTo>
                  </a:path>
                </a:pathLst>
              </a:custGeom>
              <a:noFill/>
              <a:ln w="34925">
                <a:solidFill>
                  <a:srgbClr val="B03A1F"/>
                </a:solidFill>
              </a:ln>
            </p:spPr>
          </p:sp>
        </p:grpSp>
        <p:grpSp>
          <p:nvGrpSpPr>
            <p:cNvPr id="105" name="engine-right"/>
            <p:cNvGrpSpPr/>
            <p:nvPr/>
          </p:nvGrpSpPr>
          <p:grpSpPr>
            <a:xfrm>
              <a:off x="6572250" y="3048000"/>
              <a:ext cx="2476500" cy="685800"/>
              <a:chOff x="6572250" y="3048000"/>
              <a:chExt cx="2476500" cy="685800"/>
            </a:xfrm>
          </p:grpSpPr>
          <p:sp>
            <p:nvSpPr>
              <p:cNvPr id="91" name="Rectangle 91"/>
              <p:cNvSpPr/>
              <p:nvPr/>
            </p:nvSpPr>
            <p:spPr>
              <a:xfrm>
                <a:off x="6572250" y="3048000"/>
                <a:ext cx="2476500" cy="685800"/>
              </a:xfrm>
              <a:prstGeom prst="roundRect">
                <a:avLst>
                  <a:gd name="adj" fmla="val 11111"/>
                </a:avLst>
              </a:prstGeom>
              <a:gradFill>
                <a:gsLst>
                  <a:gs pos="0">
                    <a:srgbClr val="FDF3F3"/>
                  </a:gs>
                  <a:gs pos="100000">
                    <a:srgbClr val="FFFFFF"/>
                  </a:gs>
                </a:gsLst>
                <a:lin ang="5400000" scaled="1"/>
              </a:gradFill>
              <a:ln w="14288">
                <a:solidFill>
                  <a:srgbClr val="D9ABA0"/>
                </a:solidFill>
              </a:ln>
            </p:spPr>
          </p:sp>
          <p:sp>
            <p:nvSpPr>
              <p:cNvPr id="92" name="Ellipse 92"/>
              <p:cNvSpPr/>
              <p:nvPr/>
            </p:nvSpPr>
            <p:spPr>
              <a:xfrm>
                <a:off x="6743700" y="3181350"/>
                <a:ext cx="419100" cy="419100"/>
              </a:xfrm>
              <a:prstGeom prst="ellipse">
                <a:avLst/>
              </a:prstGeom>
              <a:solidFill>
                <a:srgbClr val="B03A1F"/>
              </a:solidFill>
              <a:ln>
                <a:noFill/>
              </a:ln>
            </p:spPr>
          </p:sp>
          <p:grpSp>
            <p:nvGrpSpPr>
              <p:cNvPr id="103" name="Group 103"/>
              <p:cNvGrpSpPr/>
              <p:nvPr/>
            </p:nvGrpSpPr>
            <p:grpSpPr>
              <a:xfrm>
                <a:off x="6867525" y="3305175"/>
                <a:ext cx="171450" cy="171450"/>
                <a:chOff x="6867525" y="3305175"/>
                <a:chExt cx="171450" cy="171450"/>
              </a:xfrm>
            </p:grpSpPr>
            <p:sp>
              <p:nvSpPr>
                <p:cNvPr id="93" name="Freeform 93"/>
                <p:cNvSpPr/>
                <p:nvPr/>
              </p:nvSpPr>
              <p:spPr>
                <a:xfrm>
                  <a:off x="6886575" y="3324225"/>
                  <a:ext cx="133350" cy="133350"/>
                </a:xfrm>
                <a:custGeom>
                  <a:avLst/>
                  <a:gdLst/>
                  <a:ahLst/>
                  <a:cxnLst/>
                  <a:rect l="l" t="t" r="r" b="b"/>
                  <a:pathLst>
                    <a:path w="133350" h="133350">
                      <a:moveTo>
                        <a:pt x="0" y="9525"/>
                      </a:moveTo>
                      <a:cubicBezTo>
                        <a:pt x="0" y="4264"/>
                        <a:pt x="4264" y="0"/>
                        <a:pt x="9525" y="0"/>
                      </a:cubicBezTo>
                      <a:lnTo>
                        <a:pt x="123825" y="0"/>
                      </a:lnTo>
                      <a:cubicBezTo>
                        <a:pt x="129086" y="0"/>
                        <a:pt x="133350" y="4264"/>
                        <a:pt x="133350" y="9525"/>
                      </a:cubicBezTo>
                      <a:lnTo>
                        <a:pt x="133350" y="123825"/>
                      </a:lnTo>
                      <a:cubicBezTo>
                        <a:pt x="133350" y="129086"/>
                        <a:pt x="129086" y="133350"/>
                        <a:pt x="123825" y="133350"/>
                      </a:cubicBezTo>
                      <a:lnTo>
                        <a:pt x="9525" y="133350"/>
                      </a:lnTo>
                      <a:cubicBezTo>
                        <a:pt x="4264" y="133350"/>
                        <a:pt x="0" y="129086"/>
                        <a:pt x="0" y="123825"/>
                      </a:cubicBezTo>
                      <a:lnTo>
                        <a:pt x="0" y="9525"/>
                      </a:lnTo>
                    </a:path>
                  </a:pathLst>
                </a:custGeom>
                <a:noFill/>
                <a:ln w="19050">
                  <a:solidFill>
                    <a:srgbClr val="FFFFFF"/>
                  </a:solidFill>
                </a:ln>
              </p:spPr>
            </p:sp>
            <p:sp>
              <p:nvSpPr>
                <p:cNvPr id="94" name="Freeform 94"/>
                <p:cNvSpPr/>
                <p:nvPr/>
              </p:nvSpPr>
              <p:spPr>
                <a:xfrm>
                  <a:off x="6924675" y="3362325"/>
                  <a:ext cx="57150" cy="57150"/>
                </a:xfrm>
                <a:custGeom>
                  <a:avLst/>
                  <a:gdLst/>
                  <a:ahLst/>
                  <a:cxnLst/>
                  <a:rect l="l" t="t" r="r" b="b"/>
                  <a:pathLst>
                    <a:path w="57150" h="57150">
                      <a:moveTo>
                        <a:pt x="0" y="0"/>
                      </a:moveTo>
                      <a:lnTo>
                        <a:pt x="57150" y="0"/>
                      </a:lnTo>
                      <a:lnTo>
                        <a:pt x="57150" y="57150"/>
                      </a:lnTo>
                      <a:lnTo>
                        <a:pt x="0" y="57150"/>
                      </a:lnTo>
                      <a:lnTo>
                        <a:pt x="0" y="0"/>
                      </a:lnTo>
                    </a:path>
                  </a:pathLst>
                </a:custGeom>
                <a:noFill/>
                <a:ln w="19050">
                  <a:solidFill>
                    <a:srgbClr val="FFFFFF"/>
                  </a:solidFill>
                </a:ln>
              </p:spPr>
            </p:sp>
            <p:sp>
              <p:nvSpPr>
                <p:cNvPr id="95" name="Freeform 95"/>
                <p:cNvSpPr/>
                <p:nvPr/>
              </p:nvSpPr>
              <p:spPr>
                <a:xfrm>
                  <a:off x="6867525" y="3371850"/>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96" name="Freeform 96"/>
                <p:cNvSpPr/>
                <p:nvPr/>
              </p:nvSpPr>
              <p:spPr>
                <a:xfrm>
                  <a:off x="6867525" y="3409950"/>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97" name="Freeform 97"/>
                <p:cNvSpPr/>
                <p:nvPr/>
              </p:nvSpPr>
              <p:spPr>
                <a:xfrm>
                  <a:off x="6934200" y="3305175"/>
                  <a:ext cx="9525" cy="19050"/>
                </a:xfrm>
                <a:custGeom>
                  <a:avLst/>
                  <a:gdLst/>
                  <a:ahLst/>
                  <a:cxnLst/>
                  <a:rect l="l" t="t" r="r" b="b"/>
                  <a:pathLst>
                    <a:path w="9525" h="19050">
                      <a:moveTo>
                        <a:pt x="0" y="0"/>
                      </a:moveTo>
                      <a:lnTo>
                        <a:pt x="0" y="19050"/>
                      </a:lnTo>
                    </a:path>
                  </a:pathLst>
                </a:custGeom>
                <a:noFill/>
                <a:ln w="19050">
                  <a:solidFill>
                    <a:srgbClr val="FFFFFF"/>
                  </a:solidFill>
                </a:ln>
              </p:spPr>
            </p:sp>
            <p:sp>
              <p:nvSpPr>
                <p:cNvPr id="98" name="Freeform 98"/>
                <p:cNvSpPr/>
                <p:nvPr/>
              </p:nvSpPr>
              <p:spPr>
                <a:xfrm>
                  <a:off x="6972300" y="3305175"/>
                  <a:ext cx="9525" cy="19050"/>
                </a:xfrm>
                <a:custGeom>
                  <a:avLst/>
                  <a:gdLst/>
                  <a:ahLst/>
                  <a:cxnLst/>
                  <a:rect l="l" t="t" r="r" b="b"/>
                  <a:pathLst>
                    <a:path w="9525" h="19050">
                      <a:moveTo>
                        <a:pt x="0" y="0"/>
                      </a:moveTo>
                      <a:lnTo>
                        <a:pt x="0" y="19050"/>
                      </a:lnTo>
                    </a:path>
                  </a:pathLst>
                </a:custGeom>
                <a:noFill/>
                <a:ln w="19050">
                  <a:solidFill>
                    <a:srgbClr val="FFFFFF"/>
                  </a:solidFill>
                </a:ln>
              </p:spPr>
            </p:sp>
            <p:sp>
              <p:nvSpPr>
                <p:cNvPr id="99" name="Freeform 99"/>
                <p:cNvSpPr/>
                <p:nvPr/>
              </p:nvSpPr>
              <p:spPr>
                <a:xfrm>
                  <a:off x="7019925" y="3371850"/>
                  <a:ext cx="19050" cy="9525"/>
                </a:xfrm>
                <a:custGeom>
                  <a:avLst/>
                  <a:gdLst/>
                  <a:ahLst/>
                  <a:cxnLst/>
                  <a:rect l="l" t="t" r="r" b="b"/>
                  <a:pathLst>
                    <a:path w="19050" h="9525">
                      <a:moveTo>
                        <a:pt x="19050" y="0"/>
                      </a:moveTo>
                      <a:lnTo>
                        <a:pt x="0" y="0"/>
                      </a:lnTo>
                    </a:path>
                  </a:pathLst>
                </a:custGeom>
                <a:noFill/>
                <a:ln w="19050">
                  <a:solidFill>
                    <a:srgbClr val="FFFFFF"/>
                  </a:solidFill>
                </a:ln>
              </p:spPr>
            </p:sp>
            <p:sp>
              <p:nvSpPr>
                <p:cNvPr id="100" name="Freeform 100"/>
                <p:cNvSpPr/>
                <p:nvPr/>
              </p:nvSpPr>
              <p:spPr>
                <a:xfrm>
                  <a:off x="7019925" y="3409950"/>
                  <a:ext cx="19050" cy="9525"/>
                </a:xfrm>
                <a:custGeom>
                  <a:avLst/>
                  <a:gdLst/>
                  <a:ahLst/>
                  <a:cxnLst/>
                  <a:rect l="l" t="t" r="r" b="b"/>
                  <a:pathLst>
                    <a:path w="19050" h="9525">
                      <a:moveTo>
                        <a:pt x="19050" y="0"/>
                      </a:moveTo>
                      <a:lnTo>
                        <a:pt x="0" y="0"/>
                      </a:lnTo>
                    </a:path>
                  </a:pathLst>
                </a:custGeom>
                <a:noFill/>
                <a:ln w="19050">
                  <a:solidFill>
                    <a:srgbClr val="FFFFFF"/>
                  </a:solidFill>
                </a:ln>
              </p:spPr>
            </p:sp>
            <p:sp>
              <p:nvSpPr>
                <p:cNvPr id="101" name="Freeform 101"/>
                <p:cNvSpPr/>
                <p:nvPr/>
              </p:nvSpPr>
              <p:spPr>
                <a:xfrm>
                  <a:off x="6972300" y="3457575"/>
                  <a:ext cx="9525" cy="19050"/>
                </a:xfrm>
                <a:custGeom>
                  <a:avLst/>
                  <a:gdLst/>
                  <a:ahLst/>
                  <a:cxnLst/>
                  <a:rect l="l" t="t" r="r" b="b"/>
                  <a:pathLst>
                    <a:path w="9525" h="19050">
                      <a:moveTo>
                        <a:pt x="0" y="19050"/>
                      </a:moveTo>
                      <a:lnTo>
                        <a:pt x="0" y="0"/>
                      </a:lnTo>
                    </a:path>
                  </a:pathLst>
                </a:custGeom>
                <a:noFill/>
                <a:ln w="19050">
                  <a:solidFill>
                    <a:srgbClr val="FFFFFF"/>
                  </a:solidFill>
                </a:ln>
              </p:spPr>
            </p:sp>
            <p:sp>
              <p:nvSpPr>
                <p:cNvPr id="102" name="Freeform 102"/>
                <p:cNvSpPr/>
                <p:nvPr/>
              </p:nvSpPr>
              <p:spPr>
                <a:xfrm>
                  <a:off x="6934200" y="3457575"/>
                  <a:ext cx="9525" cy="19050"/>
                </a:xfrm>
                <a:custGeom>
                  <a:avLst/>
                  <a:gdLst/>
                  <a:ahLst/>
                  <a:cxnLst/>
                  <a:rect l="l" t="t" r="r" b="b"/>
                  <a:pathLst>
                    <a:path w="9525" h="19050">
                      <a:moveTo>
                        <a:pt x="0" y="19050"/>
                      </a:moveTo>
                      <a:lnTo>
                        <a:pt x="0" y="0"/>
                      </a:lnTo>
                    </a:path>
                  </a:pathLst>
                </a:custGeom>
                <a:noFill/>
                <a:ln w="19050">
                  <a:solidFill>
                    <a:srgbClr val="FFFFFF"/>
                  </a:solidFill>
                </a:ln>
              </p:spPr>
            </p:sp>
          </p:grpSp>
          <p:sp>
            <p:nvSpPr>
              <p:cNvPr id="104" name="TextBox 104"/>
              <p:cNvSpPr txBox="1"/>
              <p:nvPr/>
            </p:nvSpPr>
            <p:spPr>
              <a:xfrm>
                <a:off x="7270623" y="3319939"/>
                <a:ext cx="8745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mn-lt"/>
                    <a:ea typeface="+mn-ea"/>
                    <a:cs typeface="+mn-cs"/>
                  </a:rPr>
                  <a:t>数字化转型</a:t>
                </a:r>
              </a:p>
            </p:txBody>
          </p:sp>
        </p:grpSp>
        <p:grpSp>
          <p:nvGrpSpPr>
            <p:cNvPr id="111" name="pillars-label"/>
            <p:cNvGrpSpPr/>
            <p:nvPr/>
          </p:nvGrpSpPr>
          <p:grpSpPr>
            <a:xfrm>
              <a:off x="4191000" y="4000500"/>
              <a:ext cx="3819525" cy="238506"/>
              <a:chOff x="4191000" y="4000500"/>
              <a:chExt cx="3819525" cy="238506"/>
            </a:xfrm>
          </p:grpSpPr>
          <p:sp>
            <p:nvSpPr>
              <p:cNvPr id="106" name="Line 106"/>
              <p:cNvSpPr/>
              <p:nvPr/>
            </p:nvSpPr>
            <p:spPr>
              <a:xfrm>
                <a:off x="4191000" y="4076700"/>
                <a:ext cx="1190625" cy="9525"/>
              </a:xfrm>
              <a:custGeom>
                <a:avLst/>
                <a:gdLst/>
                <a:ahLst/>
                <a:cxnLst/>
                <a:rect l="l" t="t" r="r" b="b"/>
                <a:pathLst>
                  <a:path w="1190625" h="9525">
                    <a:moveTo>
                      <a:pt x="0" y="0"/>
                    </a:moveTo>
                    <a:lnTo>
                      <a:pt x="1190625" y="0"/>
                    </a:lnTo>
                  </a:path>
                </a:pathLst>
              </a:custGeom>
              <a:noFill/>
              <a:ln w="19050">
                <a:solidFill>
                  <a:srgbClr val="B03A1F"/>
                </a:solidFill>
              </a:ln>
            </p:spPr>
          </p:sp>
          <p:sp>
            <p:nvSpPr>
              <p:cNvPr id="107" name="Line 107"/>
              <p:cNvSpPr/>
              <p:nvPr/>
            </p:nvSpPr>
            <p:spPr>
              <a:xfrm>
                <a:off x="4191000" y="4000500"/>
                <a:ext cx="9525" cy="76200"/>
              </a:xfrm>
              <a:custGeom>
                <a:avLst/>
                <a:gdLst/>
                <a:ahLst/>
                <a:cxnLst/>
                <a:rect l="l" t="t" r="r" b="b"/>
                <a:pathLst>
                  <a:path w="9525" h="76200">
                    <a:moveTo>
                      <a:pt x="0" y="76200"/>
                    </a:moveTo>
                    <a:lnTo>
                      <a:pt x="0" y="0"/>
                    </a:lnTo>
                  </a:path>
                </a:pathLst>
              </a:custGeom>
              <a:noFill/>
              <a:ln w="19050">
                <a:solidFill>
                  <a:srgbClr val="B03A1F"/>
                </a:solidFill>
              </a:ln>
            </p:spPr>
          </p:sp>
          <p:sp>
            <p:nvSpPr>
              <p:cNvPr id="108" name="Line 108"/>
              <p:cNvSpPr/>
              <p:nvPr/>
            </p:nvSpPr>
            <p:spPr>
              <a:xfrm>
                <a:off x="6810375" y="4076700"/>
                <a:ext cx="1190625" cy="9525"/>
              </a:xfrm>
              <a:custGeom>
                <a:avLst/>
                <a:gdLst/>
                <a:ahLst/>
                <a:cxnLst/>
                <a:rect l="l" t="t" r="r" b="b"/>
                <a:pathLst>
                  <a:path w="1190625" h="9525">
                    <a:moveTo>
                      <a:pt x="0" y="0"/>
                    </a:moveTo>
                    <a:lnTo>
                      <a:pt x="1190625" y="0"/>
                    </a:lnTo>
                  </a:path>
                </a:pathLst>
              </a:custGeom>
              <a:noFill/>
              <a:ln w="19050">
                <a:solidFill>
                  <a:srgbClr val="B03A1F"/>
                </a:solidFill>
              </a:ln>
            </p:spPr>
          </p:sp>
          <p:sp>
            <p:nvSpPr>
              <p:cNvPr id="109" name="Line 109"/>
              <p:cNvSpPr/>
              <p:nvPr/>
            </p:nvSpPr>
            <p:spPr>
              <a:xfrm>
                <a:off x="8001000" y="4000500"/>
                <a:ext cx="9525" cy="76200"/>
              </a:xfrm>
              <a:custGeom>
                <a:avLst/>
                <a:gdLst/>
                <a:ahLst/>
                <a:cxnLst/>
                <a:rect l="l" t="t" r="r" b="b"/>
                <a:pathLst>
                  <a:path w="9525" h="76200">
                    <a:moveTo>
                      <a:pt x="0" y="76200"/>
                    </a:moveTo>
                    <a:lnTo>
                      <a:pt x="0" y="0"/>
                    </a:lnTo>
                  </a:path>
                </a:pathLst>
              </a:custGeom>
              <a:noFill/>
              <a:ln w="19050">
                <a:solidFill>
                  <a:srgbClr val="B03A1F"/>
                </a:solidFill>
              </a:ln>
            </p:spPr>
          </p:sp>
          <p:sp>
            <p:nvSpPr>
              <p:cNvPr id="110" name="TextBox 110"/>
              <p:cNvSpPr txBox="1"/>
              <p:nvPr/>
            </p:nvSpPr>
            <p:spPr>
              <a:xfrm>
                <a:off x="5605272" y="4004310"/>
                <a:ext cx="981456" cy="234696"/>
              </a:xfrm>
              <a:prstGeom prst="rect">
                <a:avLst/>
              </a:prstGeom>
              <a:noFill/>
              <a:ln>
                <a:noFill/>
              </a:ln>
            </p:spPr>
            <p:txBody>
              <a:bodyPr wrap="none" lIns="0" tIns="0" rIns="0" bIns="0" anchor="t" anchorCtr="0">
                <a:spAutoFit/>
              </a:bodyPr>
              <a:lstStyle/>
              <a:p>
                <a:pPr algn="ctr"/>
                <a:r>
                  <a:rPr lang="zh-CN" sz="1200" b="1" dirty="0">
                    <a:solidFill>
                      <a:srgbClr val="B03A1F"/>
                    </a:solidFill>
                    <a:latin typeface="+mn-lt"/>
                    <a:ea typeface="+mn-ea"/>
                    <a:cs typeface="+mn-cs"/>
                  </a:rPr>
                  <a:t>三大支撑支柱</a:t>
                </a:r>
              </a:p>
            </p:txBody>
          </p:sp>
        </p:grpSp>
        <p:grpSp>
          <p:nvGrpSpPr>
            <p:cNvPr id="122" name="pillar-1"/>
            <p:cNvGrpSpPr/>
            <p:nvPr/>
          </p:nvGrpSpPr>
          <p:grpSpPr>
            <a:xfrm>
              <a:off x="3324225" y="4362450"/>
              <a:ext cx="1733550" cy="1314450"/>
              <a:chOff x="3324225" y="4362450"/>
              <a:chExt cx="1733550" cy="1314450"/>
            </a:xfrm>
          </p:grpSpPr>
          <p:sp>
            <p:nvSpPr>
              <p:cNvPr id="112" name="Rectangle 112"/>
              <p:cNvSpPr/>
              <p:nvPr/>
            </p:nvSpPr>
            <p:spPr>
              <a:xfrm>
                <a:off x="3324225" y="4362450"/>
                <a:ext cx="1733550" cy="95250"/>
              </a:xfrm>
              <a:prstGeom prst="rect">
                <a:avLst/>
              </a:prstGeom>
              <a:solidFill>
                <a:srgbClr val="EDEBE9"/>
              </a:solidFill>
              <a:ln>
                <a:noFill/>
              </a:ln>
            </p:spPr>
          </p:sp>
          <p:sp>
            <p:nvSpPr>
              <p:cNvPr id="113" name="Rectangle 113"/>
              <p:cNvSpPr/>
              <p:nvPr/>
            </p:nvSpPr>
            <p:spPr>
              <a:xfrm>
                <a:off x="3381375" y="4457700"/>
                <a:ext cx="1619250" cy="1123950"/>
              </a:xfrm>
              <a:prstGeom prst="rect">
                <a:avLst/>
              </a:prstGeom>
              <a:solidFill>
                <a:srgbClr val="FFFFFF"/>
              </a:solidFill>
              <a:ln w="9525">
                <a:solidFill>
                  <a:srgbClr val="E2E0DE"/>
                </a:solidFill>
              </a:ln>
            </p:spPr>
          </p:sp>
          <p:sp>
            <p:nvSpPr>
              <p:cNvPr id="114" name="Rectangle 114"/>
              <p:cNvSpPr/>
              <p:nvPr/>
            </p:nvSpPr>
            <p:spPr>
              <a:xfrm>
                <a:off x="3324225" y="5581650"/>
                <a:ext cx="1733550" cy="95250"/>
              </a:xfrm>
              <a:prstGeom prst="rect">
                <a:avLst/>
              </a:prstGeom>
              <a:solidFill>
                <a:srgbClr val="EDEBE9"/>
              </a:solidFill>
              <a:ln>
                <a:noFill/>
              </a:ln>
            </p:spPr>
          </p:sp>
          <p:sp>
            <p:nvSpPr>
              <p:cNvPr id="115" name="Ellipse 115"/>
              <p:cNvSpPr/>
              <p:nvPr/>
            </p:nvSpPr>
            <p:spPr>
              <a:xfrm>
                <a:off x="3962400" y="4581525"/>
                <a:ext cx="457200" cy="457200"/>
              </a:xfrm>
              <a:prstGeom prst="ellipse">
                <a:avLst/>
              </a:prstGeom>
              <a:solidFill>
                <a:srgbClr val="B03A1F"/>
              </a:solidFill>
              <a:ln>
                <a:noFill/>
              </a:ln>
            </p:spPr>
          </p:sp>
          <p:grpSp>
            <p:nvGrpSpPr>
              <p:cNvPr id="120" name="Group 120"/>
              <p:cNvGrpSpPr/>
              <p:nvPr/>
            </p:nvGrpSpPr>
            <p:grpSpPr>
              <a:xfrm>
                <a:off x="4098131" y="4717256"/>
                <a:ext cx="185737" cy="185738"/>
                <a:chOff x="4098131" y="4717256"/>
                <a:chExt cx="185737" cy="185738"/>
              </a:xfrm>
            </p:grpSpPr>
            <p:sp>
              <p:nvSpPr>
                <p:cNvPr id="116" name="Freeform 116"/>
                <p:cNvSpPr/>
                <p:nvPr/>
              </p:nvSpPr>
              <p:spPr>
                <a:xfrm>
                  <a:off x="4118769" y="47172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117" name="Freeform 117"/>
                <p:cNvSpPr/>
                <p:nvPr/>
              </p:nvSpPr>
              <p:spPr>
                <a:xfrm>
                  <a:off x="4098131" y="48410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118" name="Freeform 118"/>
                <p:cNvSpPr/>
                <p:nvPr/>
              </p:nvSpPr>
              <p:spPr>
                <a:xfrm>
                  <a:off x="4232274" y="47185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119" name="Freeform 119"/>
                <p:cNvSpPr/>
                <p:nvPr/>
              </p:nvSpPr>
              <p:spPr>
                <a:xfrm>
                  <a:off x="4252912" y="48426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121" name="TextBox 121"/>
              <p:cNvSpPr txBox="1"/>
              <p:nvPr/>
            </p:nvSpPr>
            <p:spPr>
              <a:xfrm>
                <a:off x="3861816" y="5223510"/>
                <a:ext cx="658368"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队伍建设</a:t>
                </a:r>
              </a:p>
            </p:txBody>
          </p:sp>
        </p:grpSp>
        <p:grpSp>
          <p:nvGrpSpPr>
            <p:cNvPr id="131" name="pillar-2"/>
            <p:cNvGrpSpPr/>
            <p:nvPr/>
          </p:nvGrpSpPr>
          <p:grpSpPr>
            <a:xfrm>
              <a:off x="5229225" y="4362450"/>
              <a:ext cx="1733550" cy="1314450"/>
              <a:chOff x="5229225" y="4362450"/>
              <a:chExt cx="1733550" cy="1314450"/>
            </a:xfrm>
          </p:grpSpPr>
          <p:sp>
            <p:nvSpPr>
              <p:cNvPr id="123" name="Rectangle 123"/>
              <p:cNvSpPr/>
              <p:nvPr/>
            </p:nvSpPr>
            <p:spPr>
              <a:xfrm>
                <a:off x="5229225" y="4362450"/>
                <a:ext cx="1733550" cy="95250"/>
              </a:xfrm>
              <a:prstGeom prst="rect">
                <a:avLst/>
              </a:prstGeom>
              <a:solidFill>
                <a:srgbClr val="EDEBE9"/>
              </a:solidFill>
              <a:ln>
                <a:noFill/>
              </a:ln>
            </p:spPr>
          </p:sp>
          <p:sp>
            <p:nvSpPr>
              <p:cNvPr id="124" name="Rectangle 124"/>
              <p:cNvSpPr/>
              <p:nvPr/>
            </p:nvSpPr>
            <p:spPr>
              <a:xfrm>
                <a:off x="5286375" y="4457700"/>
                <a:ext cx="1619250" cy="1123950"/>
              </a:xfrm>
              <a:prstGeom prst="rect">
                <a:avLst/>
              </a:prstGeom>
              <a:solidFill>
                <a:srgbClr val="FFFFFF"/>
              </a:solidFill>
              <a:ln w="9525">
                <a:solidFill>
                  <a:srgbClr val="E2E0DE"/>
                </a:solidFill>
              </a:ln>
            </p:spPr>
          </p:sp>
          <p:sp>
            <p:nvSpPr>
              <p:cNvPr id="125" name="Rectangle 125"/>
              <p:cNvSpPr/>
              <p:nvPr/>
            </p:nvSpPr>
            <p:spPr>
              <a:xfrm>
                <a:off x="5229225" y="5581650"/>
                <a:ext cx="1733550" cy="95250"/>
              </a:xfrm>
              <a:prstGeom prst="rect">
                <a:avLst/>
              </a:prstGeom>
              <a:solidFill>
                <a:srgbClr val="EDEBE9"/>
              </a:solidFill>
              <a:ln>
                <a:noFill/>
              </a:ln>
            </p:spPr>
          </p:sp>
          <p:sp>
            <p:nvSpPr>
              <p:cNvPr id="126" name="Ellipse 126"/>
              <p:cNvSpPr/>
              <p:nvPr/>
            </p:nvSpPr>
            <p:spPr>
              <a:xfrm>
                <a:off x="5867400" y="4581525"/>
                <a:ext cx="457200" cy="457200"/>
              </a:xfrm>
              <a:prstGeom prst="ellipse">
                <a:avLst/>
              </a:prstGeom>
              <a:solidFill>
                <a:srgbClr val="B03A1F"/>
              </a:solidFill>
              <a:ln>
                <a:noFill/>
              </a:ln>
            </p:spPr>
          </p:sp>
          <p:grpSp>
            <p:nvGrpSpPr>
              <p:cNvPr id="129" name="Group 129"/>
              <p:cNvGrpSpPr/>
              <p:nvPr/>
            </p:nvGrpSpPr>
            <p:grpSpPr>
              <a:xfrm>
                <a:off x="5989206" y="4717256"/>
                <a:ext cx="201506" cy="185737"/>
                <a:chOff x="5989206" y="4717256"/>
                <a:chExt cx="201506" cy="185737"/>
              </a:xfrm>
            </p:grpSpPr>
            <p:sp>
              <p:nvSpPr>
                <p:cNvPr id="127" name="Freeform 127"/>
                <p:cNvSpPr/>
                <p:nvPr/>
              </p:nvSpPr>
              <p:spPr>
                <a:xfrm>
                  <a:off x="5989206" y="471725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FFFFFF"/>
                  </a:solidFill>
                </a:ln>
              </p:spPr>
            </p:sp>
            <p:sp>
              <p:nvSpPr>
                <p:cNvPr id="128" name="Freeform 128"/>
                <p:cNvSpPr/>
                <p:nvPr/>
              </p:nvSpPr>
              <p:spPr>
                <a:xfrm>
                  <a:off x="6126956" y="4861718"/>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130" name="TextBox 130"/>
              <p:cNvSpPr txBox="1"/>
              <p:nvPr/>
            </p:nvSpPr>
            <p:spPr>
              <a:xfrm>
                <a:off x="5766816" y="5223510"/>
                <a:ext cx="658368"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合规风控</a:t>
                </a:r>
              </a:p>
            </p:txBody>
          </p:sp>
        </p:grpSp>
        <p:grpSp>
          <p:nvGrpSpPr>
            <p:cNvPr id="141" name="pillar-3"/>
            <p:cNvGrpSpPr/>
            <p:nvPr/>
          </p:nvGrpSpPr>
          <p:grpSpPr>
            <a:xfrm>
              <a:off x="7134225" y="4362450"/>
              <a:ext cx="1733550" cy="1314450"/>
              <a:chOff x="7134225" y="4362450"/>
              <a:chExt cx="1733550" cy="1314450"/>
            </a:xfrm>
          </p:grpSpPr>
          <p:sp>
            <p:nvSpPr>
              <p:cNvPr id="132" name="Rectangle 132"/>
              <p:cNvSpPr/>
              <p:nvPr/>
            </p:nvSpPr>
            <p:spPr>
              <a:xfrm>
                <a:off x="7134225" y="4362450"/>
                <a:ext cx="1733550" cy="95250"/>
              </a:xfrm>
              <a:prstGeom prst="rect">
                <a:avLst/>
              </a:prstGeom>
              <a:solidFill>
                <a:srgbClr val="EDEBE9"/>
              </a:solidFill>
              <a:ln>
                <a:noFill/>
              </a:ln>
            </p:spPr>
          </p:sp>
          <p:sp>
            <p:nvSpPr>
              <p:cNvPr id="133" name="Rectangle 133"/>
              <p:cNvSpPr/>
              <p:nvPr/>
            </p:nvSpPr>
            <p:spPr>
              <a:xfrm>
                <a:off x="7191375" y="4457700"/>
                <a:ext cx="1619250" cy="1123950"/>
              </a:xfrm>
              <a:prstGeom prst="rect">
                <a:avLst/>
              </a:prstGeom>
              <a:solidFill>
                <a:srgbClr val="FFFFFF"/>
              </a:solidFill>
              <a:ln w="9525">
                <a:solidFill>
                  <a:srgbClr val="E2E0DE"/>
                </a:solidFill>
              </a:ln>
            </p:spPr>
          </p:sp>
          <p:sp>
            <p:nvSpPr>
              <p:cNvPr id="134" name="Rectangle 134"/>
              <p:cNvSpPr/>
              <p:nvPr/>
            </p:nvSpPr>
            <p:spPr>
              <a:xfrm>
                <a:off x="7134225" y="5581650"/>
                <a:ext cx="1733550" cy="95250"/>
              </a:xfrm>
              <a:prstGeom prst="rect">
                <a:avLst/>
              </a:prstGeom>
              <a:solidFill>
                <a:srgbClr val="EDEBE9"/>
              </a:solidFill>
              <a:ln>
                <a:noFill/>
              </a:ln>
            </p:spPr>
          </p:sp>
          <p:sp>
            <p:nvSpPr>
              <p:cNvPr id="135" name="Ellipse 135"/>
              <p:cNvSpPr/>
              <p:nvPr/>
            </p:nvSpPr>
            <p:spPr>
              <a:xfrm>
                <a:off x="7772400" y="4581525"/>
                <a:ext cx="457200" cy="457200"/>
              </a:xfrm>
              <a:prstGeom prst="ellipse">
                <a:avLst/>
              </a:prstGeom>
              <a:solidFill>
                <a:srgbClr val="B03A1F"/>
              </a:solidFill>
              <a:ln>
                <a:noFill/>
              </a:ln>
            </p:spPr>
          </p:sp>
          <p:grpSp>
            <p:nvGrpSpPr>
              <p:cNvPr id="139" name="Group 139"/>
              <p:cNvGrpSpPr/>
              <p:nvPr/>
            </p:nvGrpSpPr>
            <p:grpSpPr>
              <a:xfrm>
                <a:off x="7928769" y="4717256"/>
                <a:ext cx="144462" cy="185737"/>
                <a:chOff x="7928769" y="4717256"/>
                <a:chExt cx="144462" cy="185737"/>
              </a:xfrm>
            </p:grpSpPr>
            <p:sp>
              <p:nvSpPr>
                <p:cNvPr id="136" name="Freeform 136"/>
                <p:cNvSpPr/>
                <p:nvPr/>
              </p:nvSpPr>
              <p:spPr>
                <a:xfrm>
                  <a:off x="7928769" y="4779168"/>
                  <a:ext cx="144462" cy="123825"/>
                </a:xfrm>
                <a:custGeom>
                  <a:avLst/>
                  <a:gdLst/>
                  <a:ahLst/>
                  <a:cxnLst/>
                  <a:rect l="l" t="t" r="r" b="b"/>
                  <a:pathLst>
                    <a:path w="144462" h="123825">
                      <a:moveTo>
                        <a:pt x="30956" y="0"/>
                      </a:moveTo>
                      <a:lnTo>
                        <a:pt x="20637" y="0"/>
                      </a:lnTo>
                      <a:cubicBezTo>
                        <a:pt x="9240" y="0"/>
                        <a:pt x="0" y="9240"/>
                        <a:pt x="0" y="20637"/>
                      </a:cubicBezTo>
                      <a:lnTo>
                        <a:pt x="0" y="103187"/>
                      </a:lnTo>
                      <a:cubicBezTo>
                        <a:pt x="0" y="114585"/>
                        <a:pt x="9240" y="123825"/>
                        <a:pt x="20637" y="123825"/>
                      </a:cubicBezTo>
                      <a:lnTo>
                        <a:pt x="123825" y="123825"/>
                      </a:lnTo>
                      <a:cubicBezTo>
                        <a:pt x="135222" y="123825"/>
                        <a:pt x="144462" y="114585"/>
                        <a:pt x="144462" y="103187"/>
                      </a:cubicBezTo>
                      <a:lnTo>
                        <a:pt x="144462" y="20637"/>
                      </a:lnTo>
                      <a:cubicBezTo>
                        <a:pt x="144462" y="9240"/>
                        <a:pt x="135222" y="0"/>
                        <a:pt x="123825" y="0"/>
                      </a:cubicBezTo>
                      <a:lnTo>
                        <a:pt x="113506" y="0"/>
                      </a:lnTo>
                    </a:path>
                  </a:pathLst>
                </a:custGeom>
                <a:noFill/>
                <a:ln w="20637">
                  <a:solidFill>
                    <a:srgbClr val="FFFFFF"/>
                  </a:solidFill>
                </a:ln>
              </p:spPr>
            </p:sp>
            <p:sp>
              <p:nvSpPr>
                <p:cNvPr id="137" name="Freeform 137"/>
                <p:cNvSpPr/>
                <p:nvPr/>
              </p:nvSpPr>
              <p:spPr>
                <a:xfrm>
                  <a:off x="8001000" y="4717256"/>
                  <a:ext cx="9525" cy="113506"/>
                </a:xfrm>
                <a:custGeom>
                  <a:avLst/>
                  <a:gdLst/>
                  <a:ahLst/>
                  <a:cxnLst/>
                  <a:rect l="l" t="t" r="r" b="b"/>
                  <a:pathLst>
                    <a:path w="9525" h="113506">
                      <a:moveTo>
                        <a:pt x="0" y="113506"/>
                      </a:moveTo>
                      <a:lnTo>
                        <a:pt x="0" y="0"/>
                      </a:lnTo>
                    </a:path>
                  </a:pathLst>
                </a:custGeom>
                <a:noFill/>
                <a:ln w="20637">
                  <a:solidFill>
                    <a:srgbClr val="FFFFFF"/>
                  </a:solidFill>
                </a:ln>
              </p:spPr>
            </p:sp>
            <p:sp>
              <p:nvSpPr>
                <p:cNvPr id="138" name="Freeform 138"/>
                <p:cNvSpPr/>
                <p:nvPr/>
              </p:nvSpPr>
              <p:spPr>
                <a:xfrm>
                  <a:off x="7970043" y="4717256"/>
                  <a:ext cx="61912" cy="30956"/>
                </a:xfrm>
                <a:custGeom>
                  <a:avLst/>
                  <a:gdLst/>
                  <a:ahLst/>
                  <a:cxnLst/>
                  <a:rect l="l" t="t" r="r" b="b"/>
                  <a:pathLst>
                    <a:path w="61912" h="30956">
                      <a:moveTo>
                        <a:pt x="0" y="30956"/>
                      </a:moveTo>
                      <a:lnTo>
                        <a:pt x="30956" y="0"/>
                      </a:lnTo>
                      <a:lnTo>
                        <a:pt x="61912" y="30956"/>
                      </a:lnTo>
                    </a:path>
                  </a:pathLst>
                </a:custGeom>
                <a:noFill/>
                <a:ln w="20637">
                  <a:solidFill>
                    <a:srgbClr val="FFFFFF"/>
                  </a:solidFill>
                </a:ln>
              </p:spPr>
            </p:sp>
          </p:grpSp>
          <p:sp>
            <p:nvSpPr>
              <p:cNvPr id="140" name="TextBox 140"/>
              <p:cNvSpPr txBox="1"/>
              <p:nvPr/>
            </p:nvSpPr>
            <p:spPr>
              <a:xfrm>
                <a:off x="7671816" y="5223510"/>
                <a:ext cx="658368"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协同联动</a:t>
                </a:r>
              </a:p>
            </p:txBody>
          </p:sp>
        </p:grpSp>
        <p:grpSp>
          <p:nvGrpSpPr>
            <p:cNvPr id="145" name="steps"/>
            <p:cNvGrpSpPr/>
            <p:nvPr/>
          </p:nvGrpSpPr>
          <p:grpSpPr>
            <a:xfrm>
              <a:off x="2667000" y="5715000"/>
              <a:ext cx="6858000" cy="400050"/>
              <a:chOff x="2667000" y="5715000"/>
              <a:chExt cx="6858000" cy="400050"/>
            </a:xfrm>
          </p:grpSpPr>
          <p:sp>
            <p:nvSpPr>
              <p:cNvPr id="142" name="Rectangle 142"/>
              <p:cNvSpPr/>
              <p:nvPr/>
            </p:nvSpPr>
            <p:spPr>
              <a:xfrm>
                <a:off x="3619500" y="5715000"/>
                <a:ext cx="4953000" cy="114300"/>
              </a:xfrm>
              <a:prstGeom prst="rect">
                <a:avLst/>
              </a:prstGeom>
              <a:solidFill>
                <a:srgbClr val="F0EEEC"/>
              </a:solidFill>
              <a:ln>
                <a:noFill/>
              </a:ln>
            </p:spPr>
          </p:sp>
          <p:sp>
            <p:nvSpPr>
              <p:cNvPr id="143" name="Rectangle 143"/>
              <p:cNvSpPr/>
              <p:nvPr/>
            </p:nvSpPr>
            <p:spPr>
              <a:xfrm>
                <a:off x="3143250" y="5848350"/>
                <a:ext cx="5905500" cy="114300"/>
              </a:xfrm>
              <a:prstGeom prst="rect">
                <a:avLst/>
              </a:prstGeom>
              <a:solidFill>
                <a:srgbClr val="E8E6E4"/>
              </a:solidFill>
              <a:ln>
                <a:noFill/>
              </a:ln>
            </p:spPr>
          </p:sp>
          <p:sp>
            <p:nvSpPr>
              <p:cNvPr id="144" name="Rectangle 144"/>
              <p:cNvSpPr/>
              <p:nvPr/>
            </p:nvSpPr>
            <p:spPr>
              <a:xfrm>
                <a:off x="2667000" y="5981700"/>
                <a:ext cx="6858000" cy="133350"/>
              </a:xfrm>
              <a:prstGeom prst="rect">
                <a:avLst/>
              </a:prstGeom>
              <a:solidFill>
                <a:srgbClr val="E0DEDC"/>
              </a:solidFill>
              <a:ln>
                <a:noFill/>
              </a:ln>
            </p:spPr>
          </p:sp>
        </p:grpSp>
      </p:gr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42113" y="143351"/>
              <a:ext cx="18650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4</a:t>
              </a:r>
            </a:p>
          </p:txBody>
        </p:sp>
        <p:sp>
          <p:nvSpPr>
            <p:cNvPr id="4" name="TextBox 4"/>
            <p:cNvSpPr txBox="1"/>
            <p:nvPr/>
          </p:nvSpPr>
          <p:spPr>
            <a:xfrm>
              <a:off x="942594" y="151448"/>
              <a:ext cx="612190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目标体系：规模、价值、活跃、质量</a:t>
              </a:r>
              <a:r>
                <a:rPr lang="zh-CN" sz="1950" b="1" dirty="0">
                  <a:solidFill>
                    <a:srgbClr val="B03A1F"/>
                  </a:solidFill>
                  <a:latin typeface="SimSun"/>
                  <a:ea typeface="SimSun"/>
                  <a:cs typeface="SimSun"/>
                </a:rPr>
                <a:t>四维协同增长</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grpSp>
        <p:nvGrpSpPr>
          <p:cNvPr id="39" name="quad-scale"/>
          <p:cNvGrpSpPr/>
          <p:nvPr/>
        </p:nvGrpSpPr>
        <p:grpSpPr>
          <a:xfrm>
            <a:off x="190500" y="904875"/>
            <a:ext cx="4333875" cy="2524125"/>
            <a:chOff x="190500" y="904875"/>
            <a:chExt cx="4333875" cy="2524125"/>
          </a:xfrm>
        </p:grpSpPr>
        <p:sp>
          <p:nvSpPr>
            <p:cNvPr id="7" name="Rectangle 7"/>
            <p:cNvSpPr/>
            <p:nvPr/>
          </p:nvSpPr>
          <p:spPr>
            <a:xfrm>
              <a:off x="190500" y="904875"/>
              <a:ext cx="4333875" cy="2524125"/>
            </a:xfrm>
            <a:prstGeom prst="rect">
              <a:avLst/>
            </a:prstGeom>
            <a:solidFill>
              <a:srgbClr val="FFFFFF"/>
            </a:solidFill>
            <a:ln w="9525">
              <a:solidFill>
                <a:srgbClr val="E8E4E0"/>
              </a:solidFill>
            </a:ln>
          </p:spPr>
        </p:sp>
        <p:sp>
          <p:nvSpPr>
            <p:cNvPr id="8" name="Rectangle 8"/>
            <p:cNvSpPr/>
            <p:nvPr/>
          </p:nvSpPr>
          <p:spPr>
            <a:xfrm>
              <a:off x="190500" y="904875"/>
              <a:ext cx="4333875" cy="457200"/>
            </a:xfrm>
            <a:prstGeom prst="rect">
              <a:avLst/>
            </a:prstGeom>
            <a:solidFill>
              <a:srgbClr val="B03A1F"/>
            </a:solidFill>
            <a:ln>
              <a:noFill/>
            </a:ln>
          </p:spPr>
        </p:sp>
        <p:sp>
          <p:nvSpPr>
            <p:cNvPr id="9" name="Ellipse 9"/>
            <p:cNvSpPr/>
            <p:nvPr/>
          </p:nvSpPr>
          <p:spPr>
            <a:xfrm>
              <a:off x="276225" y="914400"/>
              <a:ext cx="438150" cy="438150"/>
            </a:xfrm>
            <a:prstGeom prst="ellipse">
              <a:avLst/>
            </a:prstGeom>
            <a:solidFill>
              <a:srgbClr val="FFFFFF"/>
            </a:solidFill>
            <a:ln>
              <a:noFill/>
            </a:ln>
          </p:spPr>
        </p:sp>
        <p:grpSp>
          <p:nvGrpSpPr>
            <p:cNvPr id="14" name="Group 14"/>
            <p:cNvGrpSpPr/>
            <p:nvPr/>
          </p:nvGrpSpPr>
          <p:grpSpPr>
            <a:xfrm>
              <a:off x="409575" y="1047750"/>
              <a:ext cx="171450" cy="171450"/>
              <a:chOff x="409575" y="1047750"/>
              <a:chExt cx="171450" cy="171450"/>
            </a:xfrm>
          </p:grpSpPr>
          <p:sp>
            <p:nvSpPr>
              <p:cNvPr id="10" name="Freeform 10"/>
              <p:cNvSpPr/>
              <p:nvPr/>
            </p:nvSpPr>
            <p:spPr>
              <a:xfrm>
                <a:off x="428625" y="10477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B03A1F"/>
                </a:solidFill>
              </a:ln>
            </p:spPr>
          </p:sp>
          <p:sp>
            <p:nvSpPr>
              <p:cNvPr id="11" name="Freeform 11"/>
              <p:cNvSpPr/>
              <p:nvPr/>
            </p:nvSpPr>
            <p:spPr>
              <a:xfrm>
                <a:off x="409575" y="11620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B03A1F"/>
                </a:solidFill>
              </a:ln>
            </p:spPr>
          </p:sp>
          <p:sp>
            <p:nvSpPr>
              <p:cNvPr id="12" name="Freeform 12"/>
              <p:cNvSpPr/>
              <p:nvPr/>
            </p:nvSpPr>
            <p:spPr>
              <a:xfrm>
                <a:off x="533400" y="10489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B03A1F"/>
                </a:solidFill>
              </a:ln>
            </p:spPr>
          </p:sp>
          <p:sp>
            <p:nvSpPr>
              <p:cNvPr id="13" name="Freeform 13"/>
              <p:cNvSpPr/>
              <p:nvPr/>
            </p:nvSpPr>
            <p:spPr>
              <a:xfrm>
                <a:off x="552450" y="11634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B03A1F"/>
                </a:solidFill>
              </a:ln>
            </p:spPr>
          </p:sp>
        </p:grpSp>
        <p:sp>
          <p:nvSpPr>
            <p:cNvPr id="15" name="TextBox 15"/>
            <p:cNvSpPr txBox="1"/>
            <p:nvPr/>
          </p:nvSpPr>
          <p:spPr>
            <a:xfrm>
              <a:off x="851154" y="1070610"/>
              <a:ext cx="186510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01 客户规模（做大规模）</a:t>
              </a:r>
            </a:p>
          </p:txBody>
        </p:sp>
        <p:grpSp>
          <p:nvGrpSpPr>
            <p:cNvPr id="26" name="subcard-newfa"/>
            <p:cNvGrpSpPr/>
            <p:nvPr/>
          </p:nvGrpSpPr>
          <p:grpSpPr>
            <a:xfrm>
              <a:off x="361950" y="1504950"/>
              <a:ext cx="1905000" cy="1762125"/>
              <a:chOff x="361950" y="1504950"/>
              <a:chExt cx="1905000" cy="1762125"/>
            </a:xfrm>
          </p:grpSpPr>
          <p:sp>
            <p:nvSpPr>
              <p:cNvPr id="16" name="Rectangle 16"/>
              <p:cNvSpPr/>
              <p:nvPr/>
            </p:nvSpPr>
            <p:spPr>
              <a:xfrm>
                <a:off x="361950" y="1504950"/>
                <a:ext cx="1905000" cy="1762125"/>
              </a:xfrm>
              <a:prstGeom prst="rect">
                <a:avLst/>
              </a:prstGeom>
              <a:solidFill>
                <a:srgbClr val="FFFFFF"/>
              </a:solidFill>
              <a:ln w="9525">
                <a:solidFill>
                  <a:srgbClr val="E8E4E0"/>
                </a:solidFill>
              </a:ln>
            </p:spPr>
          </p:sp>
          <p:sp>
            <p:nvSpPr>
              <p:cNvPr id="17" name="Ellipse 17"/>
              <p:cNvSpPr/>
              <p:nvPr/>
            </p:nvSpPr>
            <p:spPr>
              <a:xfrm>
                <a:off x="1114425" y="1666875"/>
                <a:ext cx="400050" cy="400050"/>
              </a:xfrm>
              <a:prstGeom prst="ellipse">
                <a:avLst/>
              </a:prstGeom>
              <a:solidFill>
                <a:srgbClr val="B03A1F"/>
              </a:solidFill>
              <a:ln>
                <a:noFill/>
              </a:ln>
            </p:spPr>
          </p:sp>
          <p:grpSp>
            <p:nvGrpSpPr>
              <p:cNvPr id="21" name="Group 21"/>
              <p:cNvGrpSpPr/>
              <p:nvPr/>
            </p:nvGrpSpPr>
            <p:grpSpPr>
              <a:xfrm>
                <a:off x="1257300" y="1781175"/>
                <a:ext cx="142875" cy="171450"/>
                <a:chOff x="1257300" y="1781175"/>
                <a:chExt cx="142875" cy="171450"/>
              </a:xfrm>
            </p:grpSpPr>
            <p:sp>
              <p:nvSpPr>
                <p:cNvPr id="18" name="Freeform 18"/>
                <p:cNvSpPr/>
                <p:nvPr/>
              </p:nvSpPr>
              <p:spPr>
                <a:xfrm>
                  <a:off x="1276350" y="17811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9" name="Freeform 19"/>
                <p:cNvSpPr/>
                <p:nvPr/>
              </p:nvSpPr>
              <p:spPr>
                <a:xfrm>
                  <a:off x="1257300" y="18954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FFFFFF"/>
                  </a:solidFill>
                </a:ln>
              </p:spPr>
            </p:sp>
            <p:sp>
              <p:nvSpPr>
                <p:cNvPr id="20" name="Freeform 20"/>
                <p:cNvSpPr/>
                <p:nvPr/>
              </p:nvSpPr>
              <p:spPr>
                <a:xfrm>
                  <a:off x="1343025" y="191452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22" name="TextBox 22"/>
              <p:cNvSpPr txBox="1"/>
              <p:nvPr/>
            </p:nvSpPr>
            <p:spPr>
              <a:xfrm>
                <a:off x="825056" y="2188845"/>
                <a:ext cx="978789" cy="176212"/>
              </a:xfrm>
              <a:prstGeom prst="rect">
                <a:avLst/>
              </a:prstGeom>
              <a:noFill/>
              <a:ln>
                <a:noFill/>
              </a:ln>
            </p:spPr>
            <p:txBody>
              <a:bodyPr wrap="none" lIns="0" tIns="0" rIns="0" bIns="0" anchor="t" anchorCtr="0">
                <a:spAutoFit/>
              </a:bodyPr>
              <a:lstStyle/>
              <a:p>
                <a:pPr algn="ctr"/>
                <a:r>
                  <a:rPr lang="zh-CN" sz="900" dirty="0">
                    <a:solidFill>
                      <a:srgbClr val="3A3A3A"/>
                    </a:solidFill>
                    <a:latin typeface="+mn-lt"/>
                    <a:ea typeface="+mn-ea"/>
                    <a:cs typeface="+mn-cs"/>
                  </a:rPr>
                  <a:t>新增有效代发客户</a:t>
                </a:r>
              </a:p>
            </p:txBody>
          </p:sp>
          <p:sp>
            <p:nvSpPr>
              <p:cNvPr id="23" name="TextBox 23"/>
              <p:cNvSpPr txBox="1"/>
              <p:nvPr/>
            </p:nvSpPr>
            <p:spPr>
              <a:xfrm>
                <a:off x="995540" y="2443162"/>
                <a:ext cx="637821" cy="440055"/>
              </a:xfrm>
              <a:prstGeom prst="rect">
                <a:avLst/>
              </a:prstGeom>
              <a:noFill/>
              <a:ln>
                <a:noFill/>
              </a:ln>
            </p:spPr>
            <p:txBody>
              <a:bodyPr wrap="none" lIns="0" tIns="0" rIns="0" bIns="0" anchor="t" anchorCtr="0">
                <a:spAutoFit/>
              </a:bodyPr>
              <a:lstStyle/>
              <a:p>
                <a:pPr algn="ctr"/>
                <a:r>
                  <a:rPr lang="zh-CN" sz="2250" b="1" dirty="0">
                    <a:solidFill>
                      <a:srgbClr val="B03A1F"/>
                    </a:solidFill>
                    <a:latin typeface="+mn-lt"/>
                    <a:ea typeface="+mn-ea"/>
                    <a:cs typeface="+mn-cs"/>
                  </a:rPr>
                  <a:t xml:space="preserve">8 </a:t>
                </a:r>
                <a:r>
                  <a:rPr lang="zh-CN" sz="1280" b="1" dirty="0">
                    <a:solidFill>
                      <a:srgbClr val="B03A1F"/>
                    </a:solidFill>
                    <a:latin typeface="+mn-lt"/>
                    <a:ea typeface="+mn-ea"/>
                    <a:cs typeface="+mn-cs"/>
                  </a:rPr>
                  <a:t>万户</a:t>
                </a:r>
              </a:p>
            </p:txBody>
          </p:sp>
          <p:sp>
            <p:nvSpPr>
              <p:cNvPr id="24" name="Line 24"/>
              <p:cNvSpPr/>
              <p:nvPr/>
            </p:nvSpPr>
            <p:spPr>
              <a:xfrm>
                <a:off x="838200" y="2905125"/>
                <a:ext cx="952500" cy="9525"/>
              </a:xfrm>
              <a:custGeom>
                <a:avLst/>
                <a:gdLst/>
                <a:ahLst/>
                <a:cxnLst/>
                <a:rect l="l" t="t" r="r" b="b"/>
                <a:pathLst>
                  <a:path w="952500" h="9525">
                    <a:moveTo>
                      <a:pt x="0" y="0"/>
                    </a:moveTo>
                    <a:lnTo>
                      <a:pt x="952500" y="0"/>
                    </a:lnTo>
                  </a:path>
                </a:pathLst>
              </a:custGeom>
              <a:noFill/>
              <a:ln w="9525">
                <a:solidFill>
                  <a:srgbClr val="D8D4D0"/>
                </a:solidFill>
              </a:ln>
            </p:spPr>
          </p:sp>
          <p:sp>
            <p:nvSpPr>
              <p:cNvPr id="25" name="TextBox 25"/>
              <p:cNvSpPr txBox="1"/>
              <p:nvPr/>
            </p:nvSpPr>
            <p:spPr>
              <a:xfrm>
                <a:off x="1208722" y="3024188"/>
                <a:ext cx="211455" cy="147638"/>
              </a:xfrm>
              <a:prstGeom prst="rect">
                <a:avLst/>
              </a:prstGeom>
              <a:noFill/>
              <a:ln>
                <a:noFill/>
              </a:ln>
            </p:spPr>
            <p:txBody>
              <a:bodyPr wrap="none" lIns="0" tIns="0" rIns="0" bIns="0" anchor="t" anchorCtr="0">
                <a:spAutoFit/>
              </a:bodyPr>
              <a:lstStyle/>
              <a:p>
                <a:pPr algn="ctr"/>
                <a:r>
                  <a:rPr lang="zh-CN" sz="750" dirty="0">
                    <a:solidFill>
                      <a:srgbClr val="8A8A8A"/>
                    </a:solidFill>
                    <a:latin typeface="+mn-lt"/>
                    <a:ea typeface="+mn-ea"/>
                    <a:cs typeface="+mn-cs"/>
                  </a:rPr>
                  <a:t>目标</a:t>
                </a:r>
              </a:p>
            </p:txBody>
          </p:sp>
        </p:grpSp>
        <p:grpSp>
          <p:nvGrpSpPr>
            <p:cNvPr id="38" name="subcard-social"/>
            <p:cNvGrpSpPr/>
            <p:nvPr/>
          </p:nvGrpSpPr>
          <p:grpSpPr>
            <a:xfrm>
              <a:off x="2457450" y="1504950"/>
              <a:ext cx="1905000" cy="1762125"/>
              <a:chOff x="2457450" y="1504950"/>
              <a:chExt cx="1905000" cy="1762125"/>
            </a:xfrm>
          </p:grpSpPr>
          <p:sp>
            <p:nvSpPr>
              <p:cNvPr id="27" name="Rectangle 27"/>
              <p:cNvSpPr/>
              <p:nvPr/>
            </p:nvSpPr>
            <p:spPr>
              <a:xfrm>
                <a:off x="2457450" y="1504950"/>
                <a:ext cx="1905000" cy="1762125"/>
              </a:xfrm>
              <a:prstGeom prst="rect">
                <a:avLst/>
              </a:prstGeom>
              <a:solidFill>
                <a:srgbClr val="FFFFFF"/>
              </a:solidFill>
              <a:ln w="9525">
                <a:solidFill>
                  <a:srgbClr val="E8E4E0"/>
                </a:solidFill>
              </a:ln>
            </p:spPr>
          </p:sp>
          <p:sp>
            <p:nvSpPr>
              <p:cNvPr id="28" name="Ellipse 28"/>
              <p:cNvSpPr/>
              <p:nvPr/>
            </p:nvSpPr>
            <p:spPr>
              <a:xfrm>
                <a:off x="3209925" y="1666875"/>
                <a:ext cx="400050" cy="400050"/>
              </a:xfrm>
              <a:prstGeom prst="ellipse">
                <a:avLst/>
              </a:prstGeom>
              <a:solidFill>
                <a:srgbClr val="B03A1F"/>
              </a:solidFill>
              <a:ln>
                <a:noFill/>
              </a:ln>
            </p:spPr>
          </p:sp>
          <p:grpSp>
            <p:nvGrpSpPr>
              <p:cNvPr id="33" name="Group 33"/>
              <p:cNvGrpSpPr/>
              <p:nvPr/>
            </p:nvGrpSpPr>
            <p:grpSpPr>
              <a:xfrm>
                <a:off x="3324225" y="1800225"/>
                <a:ext cx="171450" cy="133350"/>
                <a:chOff x="3324225" y="1800225"/>
                <a:chExt cx="171450" cy="133350"/>
              </a:xfrm>
            </p:grpSpPr>
            <p:sp>
              <p:nvSpPr>
                <p:cNvPr id="29" name="Freeform 29"/>
                <p:cNvSpPr/>
                <p:nvPr/>
              </p:nvSpPr>
              <p:spPr>
                <a:xfrm>
                  <a:off x="3324225" y="1800225"/>
                  <a:ext cx="171450" cy="133350"/>
                </a:xfrm>
                <a:custGeom>
                  <a:avLst/>
                  <a:gdLst/>
                  <a:ahLst/>
                  <a:cxnLst/>
                  <a:rect l="l" t="t" r="r" b="b"/>
                  <a:pathLst>
                    <a:path w="171450" h="133350">
                      <a:moveTo>
                        <a:pt x="0" y="28575"/>
                      </a:move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28575" y="133350"/>
                      </a:lnTo>
                      <a:cubicBezTo>
                        <a:pt x="12793" y="133350"/>
                        <a:pt x="0" y="120557"/>
                        <a:pt x="0" y="104775"/>
                      </a:cubicBezTo>
                      <a:lnTo>
                        <a:pt x="0" y="28575"/>
                      </a:lnTo>
                    </a:path>
                  </a:pathLst>
                </a:custGeom>
                <a:noFill/>
                <a:ln w="19050">
                  <a:solidFill>
                    <a:srgbClr val="FFFFFF"/>
                  </a:solidFill>
                </a:ln>
              </p:spPr>
            </p:sp>
            <p:sp>
              <p:nvSpPr>
                <p:cNvPr id="30" name="Freeform 30"/>
                <p:cNvSpPr/>
                <p:nvPr/>
              </p:nvSpPr>
              <p:spPr>
                <a:xfrm>
                  <a:off x="3324225" y="1847850"/>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31" name="Freeform 31"/>
                <p:cNvSpPr/>
                <p:nvPr/>
              </p:nvSpPr>
              <p:spPr>
                <a:xfrm>
                  <a:off x="3362325" y="1895475"/>
                  <a:ext cx="9525" cy="9525"/>
                </a:xfrm>
                <a:custGeom>
                  <a:avLst/>
                  <a:gdLst/>
                  <a:ahLst/>
                  <a:cxnLst/>
                  <a:rect l="l" t="t" r="r" b="b"/>
                  <a:pathLst>
                    <a:path w="9525" h="9525">
                      <a:moveTo>
                        <a:pt x="0" y="0"/>
                      </a:moveTo>
                      <a:lnTo>
                        <a:pt x="95" y="0"/>
                      </a:lnTo>
                    </a:path>
                  </a:pathLst>
                </a:custGeom>
                <a:noFill/>
                <a:ln w="19050">
                  <a:solidFill>
                    <a:srgbClr val="FFFFFF"/>
                  </a:solidFill>
                </a:ln>
              </p:spPr>
            </p:sp>
            <p:sp>
              <p:nvSpPr>
                <p:cNvPr id="32" name="Freeform 32"/>
                <p:cNvSpPr/>
                <p:nvPr/>
              </p:nvSpPr>
              <p:spPr>
                <a:xfrm>
                  <a:off x="3400425" y="1895475"/>
                  <a:ext cx="19050" cy="9525"/>
                </a:xfrm>
                <a:custGeom>
                  <a:avLst/>
                  <a:gdLst/>
                  <a:ahLst/>
                  <a:cxnLst/>
                  <a:rect l="l" t="t" r="r" b="b"/>
                  <a:pathLst>
                    <a:path w="19050" h="9525">
                      <a:moveTo>
                        <a:pt x="0" y="0"/>
                      </a:moveTo>
                      <a:lnTo>
                        <a:pt x="19050" y="0"/>
                      </a:lnTo>
                    </a:path>
                  </a:pathLst>
                </a:custGeom>
                <a:noFill/>
                <a:ln w="19050">
                  <a:solidFill>
                    <a:srgbClr val="FFFFFF"/>
                  </a:solidFill>
                </a:ln>
              </p:spPr>
            </p:sp>
          </p:grpSp>
          <p:sp>
            <p:nvSpPr>
              <p:cNvPr id="34" name="TextBox 34"/>
              <p:cNvSpPr txBox="1"/>
              <p:nvPr/>
            </p:nvSpPr>
            <p:spPr>
              <a:xfrm>
                <a:off x="2859976" y="2188845"/>
                <a:ext cx="1099947" cy="176212"/>
              </a:xfrm>
              <a:prstGeom prst="rect">
                <a:avLst/>
              </a:prstGeom>
              <a:noFill/>
              <a:ln>
                <a:noFill/>
              </a:ln>
            </p:spPr>
            <p:txBody>
              <a:bodyPr wrap="none" lIns="0" tIns="0" rIns="0" bIns="0" anchor="t" anchorCtr="0">
                <a:spAutoFit/>
              </a:bodyPr>
              <a:lstStyle/>
              <a:p>
                <a:pPr algn="ctr"/>
                <a:r>
                  <a:rPr lang="zh-CN" sz="900" dirty="0">
                    <a:solidFill>
                      <a:srgbClr val="3A3A3A"/>
                    </a:solidFill>
                    <a:latin typeface="+mn-lt"/>
                    <a:ea typeface="+mn-ea"/>
                    <a:cs typeface="+mn-cs"/>
                  </a:rPr>
                  <a:t>社保卡激活客户新增</a:t>
                </a:r>
              </a:p>
            </p:txBody>
          </p:sp>
          <p:sp>
            <p:nvSpPr>
              <p:cNvPr id="35" name="TextBox 35"/>
              <p:cNvSpPr txBox="1"/>
              <p:nvPr/>
            </p:nvSpPr>
            <p:spPr>
              <a:xfrm>
                <a:off x="3091040" y="2443162"/>
                <a:ext cx="637821" cy="440055"/>
              </a:xfrm>
              <a:prstGeom prst="rect">
                <a:avLst/>
              </a:prstGeom>
              <a:noFill/>
              <a:ln>
                <a:noFill/>
              </a:ln>
            </p:spPr>
            <p:txBody>
              <a:bodyPr wrap="none" lIns="0" tIns="0" rIns="0" bIns="0" anchor="t" anchorCtr="0">
                <a:spAutoFit/>
              </a:bodyPr>
              <a:lstStyle/>
              <a:p>
                <a:pPr algn="ctr"/>
                <a:r>
                  <a:rPr lang="zh-CN" sz="2250" b="1" dirty="0">
                    <a:solidFill>
                      <a:srgbClr val="B03A1F"/>
                    </a:solidFill>
                    <a:latin typeface="+mn-lt"/>
                    <a:ea typeface="+mn-ea"/>
                    <a:cs typeface="+mn-cs"/>
                  </a:rPr>
                  <a:t xml:space="preserve">5 </a:t>
                </a:r>
                <a:r>
                  <a:rPr lang="zh-CN" sz="1280" b="1" dirty="0">
                    <a:solidFill>
                      <a:srgbClr val="B03A1F"/>
                    </a:solidFill>
                    <a:latin typeface="+mn-lt"/>
                    <a:ea typeface="+mn-ea"/>
                    <a:cs typeface="+mn-cs"/>
                  </a:rPr>
                  <a:t>万户</a:t>
                </a:r>
              </a:p>
            </p:txBody>
          </p:sp>
          <p:sp>
            <p:nvSpPr>
              <p:cNvPr id="36" name="Line 36"/>
              <p:cNvSpPr/>
              <p:nvPr/>
            </p:nvSpPr>
            <p:spPr>
              <a:xfrm>
                <a:off x="2933700" y="2905125"/>
                <a:ext cx="952500" cy="9525"/>
              </a:xfrm>
              <a:custGeom>
                <a:avLst/>
                <a:gdLst/>
                <a:ahLst/>
                <a:cxnLst/>
                <a:rect l="l" t="t" r="r" b="b"/>
                <a:pathLst>
                  <a:path w="952500" h="9525">
                    <a:moveTo>
                      <a:pt x="0" y="0"/>
                    </a:moveTo>
                    <a:lnTo>
                      <a:pt x="952500" y="0"/>
                    </a:lnTo>
                  </a:path>
                </a:pathLst>
              </a:custGeom>
              <a:noFill/>
              <a:ln w="9525">
                <a:solidFill>
                  <a:srgbClr val="D8D4D0"/>
                </a:solidFill>
              </a:ln>
            </p:spPr>
          </p:sp>
          <p:sp>
            <p:nvSpPr>
              <p:cNvPr id="37" name="TextBox 37"/>
              <p:cNvSpPr txBox="1"/>
              <p:nvPr/>
            </p:nvSpPr>
            <p:spPr>
              <a:xfrm>
                <a:off x="3304222" y="3024188"/>
                <a:ext cx="211455" cy="147638"/>
              </a:xfrm>
              <a:prstGeom prst="rect">
                <a:avLst/>
              </a:prstGeom>
              <a:noFill/>
              <a:ln>
                <a:noFill/>
              </a:ln>
            </p:spPr>
            <p:txBody>
              <a:bodyPr wrap="none" lIns="0" tIns="0" rIns="0" bIns="0" anchor="t" anchorCtr="0">
                <a:spAutoFit/>
              </a:bodyPr>
              <a:lstStyle/>
              <a:p>
                <a:pPr algn="ctr"/>
                <a:r>
                  <a:rPr lang="zh-CN" sz="750" dirty="0">
                    <a:solidFill>
                      <a:srgbClr val="8A8A8A"/>
                    </a:solidFill>
                    <a:latin typeface="+mn-lt"/>
                    <a:ea typeface="+mn-ea"/>
                    <a:cs typeface="+mn-cs"/>
                  </a:rPr>
                  <a:t>目标</a:t>
                </a:r>
              </a:p>
            </p:txBody>
          </p:sp>
        </p:grpSp>
      </p:grpSp>
      <p:grpSp>
        <p:nvGrpSpPr>
          <p:cNvPr id="65" name="quad-value"/>
          <p:cNvGrpSpPr/>
          <p:nvPr/>
        </p:nvGrpSpPr>
        <p:grpSpPr>
          <a:xfrm>
            <a:off x="4667250" y="904875"/>
            <a:ext cx="4381500" cy="2524125"/>
            <a:chOff x="4667250" y="904875"/>
            <a:chExt cx="4381500" cy="2524125"/>
          </a:xfrm>
        </p:grpSpPr>
        <p:sp>
          <p:nvSpPr>
            <p:cNvPr id="40" name="Rectangle 40"/>
            <p:cNvSpPr/>
            <p:nvPr/>
          </p:nvSpPr>
          <p:spPr>
            <a:xfrm>
              <a:off x="4667250" y="904875"/>
              <a:ext cx="4381500" cy="2524125"/>
            </a:xfrm>
            <a:prstGeom prst="rect">
              <a:avLst/>
            </a:prstGeom>
            <a:solidFill>
              <a:srgbClr val="FFFFFF"/>
            </a:solidFill>
            <a:ln w="9525">
              <a:solidFill>
                <a:srgbClr val="E8E4E0"/>
              </a:solidFill>
            </a:ln>
          </p:spPr>
        </p:sp>
        <p:sp>
          <p:nvSpPr>
            <p:cNvPr id="41" name="Rectangle 41"/>
            <p:cNvSpPr/>
            <p:nvPr/>
          </p:nvSpPr>
          <p:spPr>
            <a:xfrm>
              <a:off x="4667250" y="904875"/>
              <a:ext cx="4381500" cy="457200"/>
            </a:xfrm>
            <a:prstGeom prst="rect">
              <a:avLst/>
            </a:prstGeom>
            <a:solidFill>
              <a:srgbClr val="B03A1F"/>
            </a:solidFill>
            <a:ln>
              <a:noFill/>
            </a:ln>
          </p:spPr>
        </p:sp>
        <p:sp>
          <p:nvSpPr>
            <p:cNvPr id="42" name="Ellipse 42"/>
            <p:cNvSpPr/>
            <p:nvPr/>
          </p:nvSpPr>
          <p:spPr>
            <a:xfrm>
              <a:off x="4752975" y="914400"/>
              <a:ext cx="438150" cy="438150"/>
            </a:xfrm>
            <a:prstGeom prst="ellipse">
              <a:avLst/>
            </a:prstGeom>
            <a:solidFill>
              <a:srgbClr val="FFFFFF"/>
            </a:solidFill>
            <a:ln>
              <a:noFill/>
            </a:ln>
          </p:spPr>
        </p:sp>
        <p:grpSp>
          <p:nvGrpSpPr>
            <p:cNvPr id="45" name="Group 45"/>
            <p:cNvGrpSpPr/>
            <p:nvPr/>
          </p:nvGrpSpPr>
          <p:grpSpPr>
            <a:xfrm>
              <a:off x="4886325" y="1085850"/>
              <a:ext cx="171450" cy="95250"/>
              <a:chOff x="4886325" y="1085850"/>
              <a:chExt cx="171450" cy="95250"/>
            </a:xfrm>
          </p:grpSpPr>
          <p:sp>
            <p:nvSpPr>
              <p:cNvPr id="43" name="Freeform 43"/>
              <p:cNvSpPr/>
              <p:nvPr/>
            </p:nvSpPr>
            <p:spPr>
              <a:xfrm>
                <a:off x="4886325" y="1085850"/>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B03A1F"/>
                </a:solidFill>
              </a:ln>
            </p:spPr>
          </p:sp>
          <p:sp>
            <p:nvSpPr>
              <p:cNvPr id="44" name="Freeform 44"/>
              <p:cNvSpPr/>
              <p:nvPr/>
            </p:nvSpPr>
            <p:spPr>
              <a:xfrm>
                <a:off x="4991100" y="1085850"/>
                <a:ext cx="66675" cy="66675"/>
              </a:xfrm>
              <a:custGeom>
                <a:avLst/>
                <a:gdLst/>
                <a:ahLst/>
                <a:cxnLst/>
                <a:rect l="l" t="t" r="r" b="b"/>
                <a:pathLst>
                  <a:path w="66675" h="66675">
                    <a:moveTo>
                      <a:pt x="0" y="0"/>
                    </a:moveTo>
                    <a:lnTo>
                      <a:pt x="66675" y="0"/>
                    </a:lnTo>
                    <a:lnTo>
                      <a:pt x="66675" y="66675"/>
                    </a:lnTo>
                  </a:path>
                </a:pathLst>
              </a:custGeom>
              <a:noFill/>
              <a:ln w="19050">
                <a:solidFill>
                  <a:srgbClr val="B03A1F"/>
                </a:solidFill>
              </a:ln>
            </p:spPr>
          </p:sp>
        </p:grpSp>
        <p:sp>
          <p:nvSpPr>
            <p:cNvPr id="46" name="TextBox 46"/>
            <p:cNvSpPr txBox="1"/>
            <p:nvPr/>
          </p:nvSpPr>
          <p:spPr>
            <a:xfrm>
              <a:off x="5327904" y="1070610"/>
              <a:ext cx="186510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02 价值创造（提升价值）</a:t>
              </a:r>
            </a:p>
          </p:txBody>
        </p:sp>
        <p:grpSp>
          <p:nvGrpSpPr>
            <p:cNvPr id="55" name="subcard-retain"/>
            <p:cNvGrpSpPr/>
            <p:nvPr/>
          </p:nvGrpSpPr>
          <p:grpSpPr>
            <a:xfrm>
              <a:off x="4838700" y="1504950"/>
              <a:ext cx="1981200" cy="1762125"/>
              <a:chOff x="4838700" y="1504950"/>
              <a:chExt cx="1981200" cy="1762125"/>
            </a:xfrm>
          </p:grpSpPr>
          <p:sp>
            <p:nvSpPr>
              <p:cNvPr id="47" name="Rectangle 47"/>
              <p:cNvSpPr/>
              <p:nvPr/>
            </p:nvSpPr>
            <p:spPr>
              <a:xfrm>
                <a:off x="4838700" y="1504950"/>
                <a:ext cx="1981200" cy="1762125"/>
              </a:xfrm>
              <a:prstGeom prst="rect">
                <a:avLst/>
              </a:prstGeom>
              <a:solidFill>
                <a:srgbClr val="FFFFFF"/>
              </a:solidFill>
              <a:ln w="9525">
                <a:solidFill>
                  <a:srgbClr val="E8E4E0"/>
                </a:solidFill>
              </a:ln>
            </p:spPr>
          </p:sp>
          <p:sp>
            <p:nvSpPr>
              <p:cNvPr id="48" name="TextBox 48"/>
              <p:cNvSpPr txBox="1"/>
              <p:nvPr/>
            </p:nvSpPr>
            <p:spPr>
              <a:xfrm>
                <a:off x="5255095" y="1727597"/>
                <a:ext cx="1148410"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财富客户资产留存率</a:t>
                </a:r>
              </a:p>
            </p:txBody>
          </p:sp>
          <p:sp>
            <p:nvSpPr>
              <p:cNvPr id="49" name="Freeform 49"/>
              <p:cNvSpPr/>
              <p:nvPr/>
            </p:nvSpPr>
            <p:spPr>
              <a:xfrm>
                <a:off x="5448300" y="2209800"/>
                <a:ext cx="762000" cy="381000"/>
              </a:xfrm>
              <a:custGeom>
                <a:avLst/>
                <a:gdLst/>
                <a:ahLst/>
                <a:cxnLst/>
                <a:rect l="l" t="t" r="r" b="b"/>
                <a:pathLst>
                  <a:path w="762000" h="381000">
                    <a:moveTo>
                      <a:pt x="0" y="381000"/>
                    </a:moveTo>
                    <a:cubicBezTo>
                      <a:pt x="0" y="170580"/>
                      <a:pt x="170580" y="0"/>
                      <a:pt x="381000" y="0"/>
                    </a:cubicBezTo>
                    <a:cubicBezTo>
                      <a:pt x="591420" y="0"/>
                      <a:pt x="762000" y="170580"/>
                      <a:pt x="762000" y="381000"/>
                    </a:cubicBezTo>
                  </a:path>
                </a:pathLst>
              </a:custGeom>
              <a:noFill/>
              <a:ln w="76200">
                <a:solidFill>
                  <a:srgbClr val="E5E0DC"/>
                </a:solidFill>
              </a:ln>
            </p:spPr>
          </p:sp>
          <p:sp>
            <p:nvSpPr>
              <p:cNvPr id="50" name="Freeform 50"/>
              <p:cNvSpPr/>
              <p:nvPr/>
            </p:nvSpPr>
            <p:spPr>
              <a:xfrm>
                <a:off x="5448300" y="2195337"/>
                <a:ext cx="757237" cy="395463"/>
              </a:xfrm>
              <a:custGeom>
                <a:avLst/>
                <a:gdLst/>
                <a:ahLst/>
                <a:cxnLst/>
                <a:rect l="l" t="t" r="r" b="b"/>
                <a:pathLst>
                  <a:path w="757237" h="395463">
                    <a:moveTo>
                      <a:pt x="0" y="395463"/>
                    </a:moveTo>
                    <a:cubicBezTo>
                      <a:pt x="24" y="196732"/>
                      <a:pt x="152792" y="31399"/>
                      <a:pt x="350902" y="15699"/>
                    </a:cubicBezTo>
                    <a:cubicBezTo>
                      <a:pt x="549012" y="0"/>
                      <a:pt x="725914" y="139209"/>
                      <a:pt x="757237" y="335456"/>
                    </a:cubicBezTo>
                  </a:path>
                </a:pathLst>
              </a:custGeom>
              <a:noFill/>
              <a:ln w="76200">
                <a:solidFill>
                  <a:srgbClr val="B03A1F"/>
                </a:solidFill>
              </a:ln>
            </p:spPr>
          </p:sp>
          <p:sp>
            <p:nvSpPr>
              <p:cNvPr id="51" name="Line 51"/>
              <p:cNvSpPr/>
              <p:nvPr/>
            </p:nvSpPr>
            <p:spPr>
              <a:xfrm>
                <a:off x="5829300" y="2305050"/>
                <a:ext cx="342900" cy="285750"/>
              </a:xfrm>
              <a:custGeom>
                <a:avLst/>
                <a:gdLst/>
                <a:ahLst/>
                <a:cxnLst/>
                <a:rect l="l" t="t" r="r" b="b"/>
                <a:pathLst>
                  <a:path w="342900" h="285750">
                    <a:moveTo>
                      <a:pt x="0" y="285750"/>
                    </a:moveTo>
                    <a:lnTo>
                      <a:pt x="342900" y="0"/>
                    </a:lnTo>
                  </a:path>
                </a:pathLst>
              </a:custGeom>
              <a:noFill/>
              <a:ln w="23812">
                <a:solidFill>
                  <a:srgbClr val="B03A1F"/>
                </a:solidFill>
              </a:ln>
            </p:spPr>
          </p:sp>
          <p:sp>
            <p:nvSpPr>
              <p:cNvPr id="52" name="Ellipse 52"/>
              <p:cNvSpPr/>
              <p:nvPr/>
            </p:nvSpPr>
            <p:spPr>
              <a:xfrm>
                <a:off x="5795962" y="2557462"/>
                <a:ext cx="66675" cy="66675"/>
              </a:xfrm>
              <a:prstGeom prst="ellipse">
                <a:avLst/>
              </a:prstGeom>
              <a:solidFill>
                <a:srgbClr val="B03A1F"/>
              </a:solidFill>
              <a:ln>
                <a:noFill/>
              </a:ln>
            </p:spPr>
          </p:sp>
          <p:sp>
            <p:nvSpPr>
              <p:cNvPr id="53" name="TextBox 53"/>
              <p:cNvSpPr txBox="1"/>
              <p:nvPr/>
            </p:nvSpPr>
            <p:spPr>
              <a:xfrm>
                <a:off x="5488633" y="2723198"/>
                <a:ext cx="681335" cy="381381"/>
              </a:xfrm>
              <a:prstGeom prst="rect">
                <a:avLst/>
              </a:prstGeom>
              <a:noFill/>
              <a:ln>
                <a:noFill/>
              </a:ln>
            </p:spPr>
            <p:txBody>
              <a:bodyPr wrap="none" lIns="0" tIns="0" rIns="0" bIns="0" anchor="t" anchorCtr="0">
                <a:spAutoFit/>
              </a:bodyPr>
              <a:lstStyle/>
              <a:p>
                <a:pPr algn="ctr"/>
                <a:r>
                  <a:rPr lang="zh-CN" sz="1950" b="1" dirty="0">
                    <a:solidFill>
                      <a:srgbClr val="B03A1F"/>
                    </a:solidFill>
                    <a:latin typeface="+mn-lt"/>
                    <a:ea typeface="+mn-ea"/>
                    <a:cs typeface="+mn-cs"/>
                  </a:rPr>
                  <a:t>≥95%</a:t>
                </a:r>
              </a:p>
            </p:txBody>
          </p:sp>
          <p:sp>
            <p:nvSpPr>
              <p:cNvPr id="54" name="TextBox 54"/>
              <p:cNvSpPr txBox="1"/>
              <p:nvPr/>
            </p:nvSpPr>
            <p:spPr>
              <a:xfrm>
                <a:off x="5723572" y="3062288"/>
                <a:ext cx="211455" cy="147638"/>
              </a:xfrm>
              <a:prstGeom prst="rect">
                <a:avLst/>
              </a:prstGeom>
              <a:noFill/>
              <a:ln>
                <a:noFill/>
              </a:ln>
            </p:spPr>
            <p:txBody>
              <a:bodyPr wrap="none" lIns="0" tIns="0" rIns="0" bIns="0" anchor="t" anchorCtr="0">
                <a:spAutoFit/>
              </a:bodyPr>
              <a:lstStyle/>
              <a:p>
                <a:pPr algn="ctr"/>
                <a:r>
                  <a:rPr lang="zh-CN" sz="750" dirty="0">
                    <a:solidFill>
                      <a:srgbClr val="8A8A8A"/>
                    </a:solidFill>
                    <a:latin typeface="+mn-lt"/>
                    <a:ea typeface="+mn-ea"/>
                    <a:cs typeface="+mn-cs"/>
                  </a:rPr>
                  <a:t>目标</a:t>
                </a:r>
              </a:p>
            </p:txBody>
          </p:sp>
        </p:grpSp>
        <p:grpSp>
          <p:nvGrpSpPr>
            <p:cNvPr id="64" name="subcard-hnw"/>
            <p:cNvGrpSpPr/>
            <p:nvPr/>
          </p:nvGrpSpPr>
          <p:grpSpPr>
            <a:xfrm>
              <a:off x="6953250" y="1504950"/>
              <a:ext cx="1981200" cy="1762125"/>
              <a:chOff x="6953250" y="1504950"/>
              <a:chExt cx="1981200" cy="1762125"/>
            </a:xfrm>
          </p:grpSpPr>
          <p:sp>
            <p:nvSpPr>
              <p:cNvPr id="56" name="Rectangle 56"/>
              <p:cNvSpPr/>
              <p:nvPr/>
            </p:nvSpPr>
            <p:spPr>
              <a:xfrm>
                <a:off x="6953250" y="1504950"/>
                <a:ext cx="1981200" cy="1762125"/>
              </a:xfrm>
              <a:prstGeom prst="rect">
                <a:avLst/>
              </a:prstGeom>
              <a:solidFill>
                <a:srgbClr val="FFFFFF"/>
              </a:solidFill>
              <a:ln w="9525">
                <a:solidFill>
                  <a:srgbClr val="E8E4E0"/>
                </a:solidFill>
              </a:ln>
            </p:spPr>
          </p:sp>
          <p:sp>
            <p:nvSpPr>
              <p:cNvPr id="57" name="TextBox 57"/>
              <p:cNvSpPr txBox="1"/>
              <p:nvPr/>
            </p:nvSpPr>
            <p:spPr>
              <a:xfrm>
                <a:off x="7306374" y="1727597"/>
                <a:ext cx="1274953"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高净值客户综合开发率</a:t>
                </a:r>
              </a:p>
            </p:txBody>
          </p:sp>
          <p:sp>
            <p:nvSpPr>
              <p:cNvPr id="58" name="Freeform 58"/>
              <p:cNvSpPr/>
              <p:nvPr/>
            </p:nvSpPr>
            <p:spPr>
              <a:xfrm>
                <a:off x="7562850" y="2209800"/>
                <a:ext cx="762000" cy="381000"/>
              </a:xfrm>
              <a:custGeom>
                <a:avLst/>
                <a:gdLst/>
                <a:ahLst/>
                <a:cxnLst/>
                <a:rect l="l" t="t" r="r" b="b"/>
                <a:pathLst>
                  <a:path w="762000" h="381000">
                    <a:moveTo>
                      <a:pt x="0" y="381000"/>
                    </a:moveTo>
                    <a:cubicBezTo>
                      <a:pt x="0" y="170580"/>
                      <a:pt x="170580" y="0"/>
                      <a:pt x="381000" y="0"/>
                    </a:cubicBezTo>
                    <a:cubicBezTo>
                      <a:pt x="591420" y="0"/>
                      <a:pt x="762000" y="170580"/>
                      <a:pt x="762000" y="381000"/>
                    </a:cubicBezTo>
                  </a:path>
                </a:pathLst>
              </a:custGeom>
              <a:noFill/>
              <a:ln w="76200">
                <a:solidFill>
                  <a:srgbClr val="E5E0DC"/>
                </a:solidFill>
              </a:ln>
            </p:spPr>
          </p:sp>
          <p:sp>
            <p:nvSpPr>
              <p:cNvPr id="59" name="Freeform 59"/>
              <p:cNvSpPr/>
              <p:nvPr/>
            </p:nvSpPr>
            <p:spPr>
              <a:xfrm>
                <a:off x="7562850" y="2215395"/>
                <a:ext cx="615315" cy="375405"/>
              </a:xfrm>
              <a:custGeom>
                <a:avLst/>
                <a:gdLst/>
                <a:ahLst/>
                <a:cxnLst/>
                <a:rect l="l" t="t" r="r" b="b"/>
                <a:pathLst>
                  <a:path w="615315" h="375405">
                    <a:moveTo>
                      <a:pt x="0" y="375405"/>
                    </a:moveTo>
                    <a:cubicBezTo>
                      <a:pt x="11043" y="235354"/>
                      <a:pt x="98260" y="112744"/>
                      <a:pt x="226939" y="56372"/>
                    </a:cubicBezTo>
                    <a:cubicBezTo>
                      <a:pt x="355619" y="0"/>
                      <a:pt x="504879" y="19014"/>
                      <a:pt x="615315" y="105848"/>
                    </a:cubicBezTo>
                  </a:path>
                </a:pathLst>
              </a:custGeom>
              <a:noFill/>
              <a:ln w="76200">
                <a:solidFill>
                  <a:srgbClr val="B03A1F"/>
                </a:solidFill>
              </a:ln>
            </p:spPr>
          </p:sp>
          <p:sp>
            <p:nvSpPr>
              <p:cNvPr id="60" name="Line 60"/>
              <p:cNvSpPr/>
              <p:nvPr/>
            </p:nvSpPr>
            <p:spPr>
              <a:xfrm>
                <a:off x="7943850" y="2390775"/>
                <a:ext cx="200025" cy="200025"/>
              </a:xfrm>
              <a:custGeom>
                <a:avLst/>
                <a:gdLst/>
                <a:ahLst/>
                <a:cxnLst/>
                <a:rect l="l" t="t" r="r" b="b"/>
                <a:pathLst>
                  <a:path w="200025" h="200025">
                    <a:moveTo>
                      <a:pt x="0" y="200025"/>
                    </a:moveTo>
                    <a:lnTo>
                      <a:pt x="200025" y="0"/>
                    </a:lnTo>
                  </a:path>
                </a:pathLst>
              </a:custGeom>
              <a:noFill/>
              <a:ln w="23812">
                <a:solidFill>
                  <a:srgbClr val="B03A1F"/>
                </a:solidFill>
              </a:ln>
            </p:spPr>
          </p:sp>
          <p:sp>
            <p:nvSpPr>
              <p:cNvPr id="61" name="Ellipse 61"/>
              <p:cNvSpPr/>
              <p:nvPr/>
            </p:nvSpPr>
            <p:spPr>
              <a:xfrm>
                <a:off x="7910512" y="2557462"/>
                <a:ext cx="66675" cy="66675"/>
              </a:xfrm>
              <a:prstGeom prst="ellipse">
                <a:avLst/>
              </a:prstGeom>
              <a:solidFill>
                <a:srgbClr val="B03A1F"/>
              </a:solidFill>
              <a:ln>
                <a:noFill/>
              </a:ln>
            </p:spPr>
          </p:sp>
          <p:sp>
            <p:nvSpPr>
              <p:cNvPr id="62" name="TextBox 62"/>
              <p:cNvSpPr txBox="1"/>
              <p:nvPr/>
            </p:nvSpPr>
            <p:spPr>
              <a:xfrm>
                <a:off x="7678982" y="2723198"/>
                <a:ext cx="529736" cy="381381"/>
              </a:xfrm>
              <a:prstGeom prst="rect">
                <a:avLst/>
              </a:prstGeom>
              <a:noFill/>
              <a:ln>
                <a:noFill/>
              </a:ln>
            </p:spPr>
            <p:txBody>
              <a:bodyPr wrap="none" lIns="0" tIns="0" rIns="0" bIns="0" anchor="t" anchorCtr="0">
                <a:spAutoFit/>
              </a:bodyPr>
              <a:lstStyle/>
              <a:p>
                <a:pPr algn="ctr"/>
                <a:r>
                  <a:rPr lang="zh-CN" sz="1950" b="1" dirty="0">
                    <a:solidFill>
                      <a:srgbClr val="B03A1F"/>
                    </a:solidFill>
                    <a:latin typeface="+mn-lt"/>
                    <a:ea typeface="+mn-ea"/>
                    <a:cs typeface="+mn-cs"/>
                  </a:rPr>
                  <a:t>75%</a:t>
                </a:r>
              </a:p>
            </p:txBody>
          </p:sp>
          <p:sp>
            <p:nvSpPr>
              <p:cNvPr id="63" name="TextBox 63"/>
              <p:cNvSpPr txBox="1"/>
              <p:nvPr/>
            </p:nvSpPr>
            <p:spPr>
              <a:xfrm>
                <a:off x="7838122" y="3062288"/>
                <a:ext cx="211455" cy="147638"/>
              </a:xfrm>
              <a:prstGeom prst="rect">
                <a:avLst/>
              </a:prstGeom>
              <a:noFill/>
              <a:ln>
                <a:noFill/>
              </a:ln>
            </p:spPr>
            <p:txBody>
              <a:bodyPr wrap="none" lIns="0" tIns="0" rIns="0" bIns="0" anchor="t" anchorCtr="0">
                <a:spAutoFit/>
              </a:bodyPr>
              <a:lstStyle/>
              <a:p>
                <a:pPr algn="ctr"/>
                <a:r>
                  <a:rPr lang="zh-CN" sz="750" dirty="0">
                    <a:solidFill>
                      <a:srgbClr val="8A8A8A"/>
                    </a:solidFill>
                    <a:latin typeface="+mn-lt"/>
                    <a:ea typeface="+mn-ea"/>
                    <a:cs typeface="+mn-cs"/>
                  </a:rPr>
                  <a:t>目标</a:t>
                </a:r>
              </a:p>
            </p:txBody>
          </p:sp>
        </p:grpSp>
      </p:grpSp>
      <p:grpSp>
        <p:nvGrpSpPr>
          <p:cNvPr id="87" name="quad-digital"/>
          <p:cNvGrpSpPr/>
          <p:nvPr/>
        </p:nvGrpSpPr>
        <p:grpSpPr>
          <a:xfrm>
            <a:off x="190500" y="3571875"/>
            <a:ext cx="4333875" cy="2524125"/>
            <a:chOff x="190500" y="3571875"/>
            <a:chExt cx="4333875" cy="2524125"/>
          </a:xfrm>
        </p:grpSpPr>
        <p:sp>
          <p:nvSpPr>
            <p:cNvPr id="66" name="Rectangle 66"/>
            <p:cNvSpPr/>
            <p:nvPr/>
          </p:nvSpPr>
          <p:spPr>
            <a:xfrm>
              <a:off x="190500" y="3571875"/>
              <a:ext cx="4333875" cy="2524125"/>
            </a:xfrm>
            <a:prstGeom prst="rect">
              <a:avLst/>
            </a:prstGeom>
            <a:solidFill>
              <a:srgbClr val="FFFFFF"/>
            </a:solidFill>
            <a:ln w="9525">
              <a:solidFill>
                <a:srgbClr val="E8E4E0"/>
              </a:solidFill>
            </a:ln>
          </p:spPr>
        </p:sp>
        <p:sp>
          <p:nvSpPr>
            <p:cNvPr id="67" name="Rectangle 67"/>
            <p:cNvSpPr/>
            <p:nvPr/>
          </p:nvSpPr>
          <p:spPr>
            <a:xfrm>
              <a:off x="190500" y="3571875"/>
              <a:ext cx="4333875" cy="457200"/>
            </a:xfrm>
            <a:prstGeom prst="rect">
              <a:avLst/>
            </a:prstGeom>
            <a:solidFill>
              <a:srgbClr val="1E1E1E"/>
            </a:solidFill>
            <a:ln>
              <a:noFill/>
            </a:ln>
          </p:spPr>
        </p:sp>
        <p:sp>
          <p:nvSpPr>
            <p:cNvPr id="68" name="Ellipse 68"/>
            <p:cNvSpPr/>
            <p:nvPr/>
          </p:nvSpPr>
          <p:spPr>
            <a:xfrm>
              <a:off x="276225" y="3581400"/>
              <a:ext cx="438150" cy="438150"/>
            </a:xfrm>
            <a:prstGeom prst="ellipse">
              <a:avLst/>
            </a:prstGeom>
            <a:solidFill>
              <a:srgbClr val="FFFFFF"/>
            </a:solidFill>
            <a:ln>
              <a:noFill/>
            </a:ln>
          </p:spPr>
        </p:sp>
        <p:grpSp>
          <p:nvGrpSpPr>
            <p:cNvPr id="72" name="Group 72"/>
            <p:cNvGrpSpPr/>
            <p:nvPr/>
          </p:nvGrpSpPr>
          <p:grpSpPr>
            <a:xfrm>
              <a:off x="438150" y="3714750"/>
              <a:ext cx="114300" cy="171450"/>
              <a:chOff x="438150" y="3714750"/>
              <a:chExt cx="114300" cy="171450"/>
            </a:xfrm>
          </p:grpSpPr>
          <p:sp>
            <p:nvSpPr>
              <p:cNvPr id="69" name="Freeform 69"/>
              <p:cNvSpPr/>
              <p:nvPr/>
            </p:nvSpPr>
            <p:spPr>
              <a:xfrm>
                <a:off x="438150" y="3714750"/>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1E1E1E"/>
                </a:solidFill>
              </a:ln>
            </p:spPr>
          </p:sp>
          <p:sp>
            <p:nvSpPr>
              <p:cNvPr id="70" name="Freeform 70"/>
              <p:cNvSpPr/>
              <p:nvPr/>
            </p:nvSpPr>
            <p:spPr>
              <a:xfrm>
                <a:off x="485775" y="3724275"/>
                <a:ext cx="19050" cy="9525"/>
              </a:xfrm>
              <a:custGeom>
                <a:avLst/>
                <a:gdLst/>
                <a:ahLst/>
                <a:cxnLst/>
                <a:rect l="l" t="t" r="r" b="b"/>
                <a:pathLst>
                  <a:path w="19050" h="9525">
                    <a:moveTo>
                      <a:pt x="0" y="0"/>
                    </a:moveTo>
                    <a:lnTo>
                      <a:pt x="19050" y="0"/>
                    </a:lnTo>
                  </a:path>
                </a:pathLst>
              </a:custGeom>
              <a:noFill/>
              <a:ln w="19050">
                <a:solidFill>
                  <a:srgbClr val="1E1E1E"/>
                </a:solidFill>
              </a:ln>
            </p:spPr>
          </p:sp>
          <p:sp>
            <p:nvSpPr>
              <p:cNvPr id="71" name="Freeform 71"/>
              <p:cNvSpPr/>
              <p:nvPr/>
            </p:nvSpPr>
            <p:spPr>
              <a:xfrm>
                <a:off x="495300" y="3848100"/>
                <a:ext cx="9525" cy="9525"/>
              </a:xfrm>
              <a:custGeom>
                <a:avLst/>
                <a:gdLst/>
                <a:ahLst/>
                <a:cxnLst/>
                <a:rect l="l" t="t" r="r" b="b"/>
                <a:pathLst>
                  <a:path w="9525" h="9525">
                    <a:moveTo>
                      <a:pt x="0" y="0"/>
                    </a:moveTo>
                    <a:lnTo>
                      <a:pt x="0" y="95"/>
                    </a:lnTo>
                  </a:path>
                </a:pathLst>
              </a:custGeom>
              <a:noFill/>
              <a:ln w="19050">
                <a:solidFill>
                  <a:srgbClr val="1E1E1E"/>
                </a:solidFill>
              </a:ln>
            </p:spPr>
          </p:sp>
        </p:grpSp>
        <p:sp>
          <p:nvSpPr>
            <p:cNvPr id="73" name="TextBox 73"/>
            <p:cNvSpPr txBox="1"/>
            <p:nvPr/>
          </p:nvSpPr>
          <p:spPr>
            <a:xfrm>
              <a:off x="851154" y="3737610"/>
              <a:ext cx="186510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03 数字活跃（增强活跃）</a:t>
              </a:r>
            </a:p>
          </p:txBody>
        </p:sp>
        <p:sp>
          <p:nvSpPr>
            <p:cNvPr id="74" name="Rectangle 74"/>
            <p:cNvSpPr/>
            <p:nvPr/>
          </p:nvSpPr>
          <p:spPr>
            <a:xfrm>
              <a:off x="361950" y="4191000"/>
              <a:ext cx="4000500" cy="1733550"/>
            </a:xfrm>
            <a:prstGeom prst="rect">
              <a:avLst/>
            </a:prstGeom>
            <a:solidFill>
              <a:srgbClr val="FFFFFF"/>
            </a:solidFill>
            <a:ln w="9525">
              <a:solidFill>
                <a:srgbClr val="E8E4E0"/>
              </a:solidFill>
            </a:ln>
          </p:spPr>
        </p:sp>
        <p:sp>
          <p:nvSpPr>
            <p:cNvPr id="75" name="Ellipse 75"/>
            <p:cNvSpPr/>
            <p:nvPr/>
          </p:nvSpPr>
          <p:spPr>
            <a:xfrm>
              <a:off x="619125" y="4543425"/>
              <a:ext cx="438150" cy="438150"/>
            </a:xfrm>
            <a:prstGeom prst="ellipse">
              <a:avLst/>
            </a:prstGeom>
            <a:solidFill>
              <a:srgbClr val="1E1E1E"/>
            </a:solidFill>
            <a:ln>
              <a:noFill/>
            </a:ln>
          </p:spPr>
        </p:sp>
        <p:grpSp>
          <p:nvGrpSpPr>
            <p:cNvPr id="78" name="Group 78"/>
            <p:cNvGrpSpPr/>
            <p:nvPr/>
          </p:nvGrpSpPr>
          <p:grpSpPr>
            <a:xfrm>
              <a:off x="762000" y="4705350"/>
              <a:ext cx="152400" cy="133350"/>
              <a:chOff x="762000" y="4705350"/>
              <a:chExt cx="152400" cy="133350"/>
            </a:xfrm>
          </p:grpSpPr>
          <p:sp>
            <p:nvSpPr>
              <p:cNvPr id="76" name="Freeform 76"/>
              <p:cNvSpPr/>
              <p:nvPr/>
            </p:nvSpPr>
            <p:spPr>
              <a:xfrm>
                <a:off x="762000" y="4829175"/>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77" name="Freeform 77"/>
              <p:cNvSpPr/>
              <p:nvPr/>
            </p:nvSpPr>
            <p:spPr>
              <a:xfrm>
                <a:off x="762000" y="47053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FFFF"/>
                </a:solidFill>
              </a:ln>
            </p:spPr>
          </p:sp>
        </p:grpSp>
        <p:sp>
          <p:nvSpPr>
            <p:cNvPr id="79" name="TextBox 79"/>
            <p:cNvSpPr txBox="1"/>
            <p:nvPr/>
          </p:nvSpPr>
          <p:spPr>
            <a:xfrm>
              <a:off x="1195197" y="4581049"/>
              <a:ext cx="1197254"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大众客户价值提升率</a:t>
              </a:r>
            </a:p>
          </p:txBody>
        </p:sp>
        <p:sp>
          <p:nvSpPr>
            <p:cNvPr id="80" name="TextBox 80"/>
            <p:cNvSpPr txBox="1"/>
            <p:nvPr/>
          </p:nvSpPr>
          <p:spPr>
            <a:xfrm>
              <a:off x="1187196" y="4915852"/>
              <a:ext cx="692731" cy="498729"/>
            </a:xfrm>
            <a:prstGeom prst="rect">
              <a:avLst/>
            </a:prstGeom>
            <a:noFill/>
            <a:ln>
              <a:noFill/>
            </a:ln>
          </p:spPr>
          <p:txBody>
            <a:bodyPr wrap="none" lIns="0" tIns="0" rIns="0" bIns="0" anchor="t" anchorCtr="0">
              <a:spAutoFit/>
            </a:bodyPr>
            <a:lstStyle/>
            <a:p>
              <a:pPr algn="l"/>
              <a:r>
                <a:rPr lang="zh-CN" sz="2550" b="1" dirty="0">
                  <a:solidFill>
                    <a:srgbClr val="1E1E1E"/>
                  </a:solidFill>
                  <a:latin typeface="+mn-lt"/>
                  <a:ea typeface="+mn-ea"/>
                  <a:cs typeface="+mn-cs"/>
                </a:rPr>
                <a:t>15%</a:t>
              </a:r>
            </a:p>
          </p:txBody>
        </p:sp>
        <p:sp>
          <p:nvSpPr>
            <p:cNvPr id="81" name="Freeform 81"/>
            <p:cNvSpPr/>
            <p:nvPr/>
          </p:nvSpPr>
          <p:spPr>
            <a:xfrm>
              <a:off x="2857500" y="4829175"/>
              <a:ext cx="723900" cy="361950"/>
            </a:xfrm>
            <a:custGeom>
              <a:avLst/>
              <a:gdLst/>
              <a:ahLst/>
              <a:cxnLst/>
              <a:rect l="l" t="t" r="r" b="b"/>
              <a:pathLst>
                <a:path w="723900" h="361950">
                  <a:moveTo>
                    <a:pt x="0" y="361950"/>
                  </a:moveTo>
                  <a:cubicBezTo>
                    <a:pt x="0" y="162051"/>
                    <a:pt x="162051" y="0"/>
                    <a:pt x="361950" y="0"/>
                  </a:cubicBezTo>
                  <a:cubicBezTo>
                    <a:pt x="561849" y="0"/>
                    <a:pt x="723900" y="162051"/>
                    <a:pt x="723900" y="361950"/>
                  </a:cubicBezTo>
                </a:path>
              </a:pathLst>
            </a:custGeom>
            <a:noFill/>
            <a:ln w="76200">
              <a:solidFill>
                <a:srgbClr val="E5E0DC"/>
              </a:solidFill>
            </a:ln>
          </p:spPr>
        </p:sp>
        <p:sp>
          <p:nvSpPr>
            <p:cNvPr id="82" name="Freeform 82"/>
            <p:cNvSpPr/>
            <p:nvPr/>
          </p:nvSpPr>
          <p:spPr>
            <a:xfrm>
              <a:off x="2857500" y="4973002"/>
              <a:ext cx="218122" cy="218122"/>
            </a:xfrm>
            <a:custGeom>
              <a:avLst/>
              <a:gdLst/>
              <a:ahLst/>
              <a:cxnLst/>
              <a:rect l="l" t="t" r="r" b="b"/>
              <a:pathLst>
                <a:path w="218122" h="218122">
                  <a:moveTo>
                    <a:pt x="0" y="218122"/>
                  </a:moveTo>
                  <a:cubicBezTo>
                    <a:pt x="36535" y="116521"/>
                    <a:pt x="116521" y="36535"/>
                    <a:pt x="218122" y="0"/>
                  </a:cubicBezTo>
                </a:path>
              </a:pathLst>
            </a:custGeom>
            <a:noFill/>
            <a:ln w="76200">
              <a:solidFill>
                <a:srgbClr val="1E1E1E"/>
              </a:solidFill>
            </a:ln>
          </p:spPr>
        </p:sp>
        <p:sp>
          <p:nvSpPr>
            <p:cNvPr id="83" name="Line 83"/>
            <p:cNvSpPr/>
            <p:nvPr/>
          </p:nvSpPr>
          <p:spPr>
            <a:xfrm>
              <a:off x="3038475" y="5010150"/>
              <a:ext cx="180975" cy="180975"/>
            </a:xfrm>
            <a:custGeom>
              <a:avLst/>
              <a:gdLst/>
              <a:ahLst/>
              <a:cxnLst/>
              <a:rect l="l" t="t" r="r" b="b"/>
              <a:pathLst>
                <a:path w="180975" h="180975">
                  <a:moveTo>
                    <a:pt x="180975" y="180975"/>
                  </a:moveTo>
                  <a:lnTo>
                    <a:pt x="0" y="0"/>
                  </a:lnTo>
                </a:path>
              </a:pathLst>
            </a:custGeom>
            <a:noFill/>
            <a:ln w="23812">
              <a:solidFill>
                <a:srgbClr val="1E1E1E"/>
              </a:solidFill>
            </a:ln>
          </p:spPr>
        </p:sp>
        <p:sp>
          <p:nvSpPr>
            <p:cNvPr id="84" name="Ellipse 84"/>
            <p:cNvSpPr/>
            <p:nvPr/>
          </p:nvSpPr>
          <p:spPr>
            <a:xfrm>
              <a:off x="3186112" y="5157788"/>
              <a:ext cx="66675" cy="66675"/>
            </a:xfrm>
            <a:prstGeom prst="ellipse">
              <a:avLst/>
            </a:prstGeom>
            <a:solidFill>
              <a:srgbClr val="1E1E1E"/>
            </a:solidFill>
            <a:ln>
              <a:noFill/>
            </a:ln>
          </p:spPr>
        </p:sp>
        <p:sp>
          <p:nvSpPr>
            <p:cNvPr id="85" name="Line 85"/>
            <p:cNvSpPr/>
            <p:nvPr/>
          </p:nvSpPr>
          <p:spPr>
            <a:xfrm>
              <a:off x="1238250" y="5619750"/>
              <a:ext cx="2190750" cy="9525"/>
            </a:xfrm>
            <a:custGeom>
              <a:avLst/>
              <a:gdLst/>
              <a:ahLst/>
              <a:cxnLst/>
              <a:rect l="l" t="t" r="r" b="b"/>
              <a:pathLst>
                <a:path w="2190750" h="9525">
                  <a:moveTo>
                    <a:pt x="0" y="0"/>
                  </a:moveTo>
                  <a:lnTo>
                    <a:pt x="2190750" y="0"/>
                  </a:lnTo>
                </a:path>
              </a:pathLst>
            </a:custGeom>
            <a:noFill/>
            <a:ln w="9525">
              <a:solidFill>
                <a:srgbClr val="D8D4D0"/>
              </a:solidFill>
            </a:ln>
          </p:spPr>
        </p:sp>
        <p:sp>
          <p:nvSpPr>
            <p:cNvPr id="86" name="TextBox 86"/>
            <p:cNvSpPr txBox="1"/>
            <p:nvPr/>
          </p:nvSpPr>
          <p:spPr>
            <a:xfrm>
              <a:off x="2227898" y="5729288"/>
              <a:ext cx="211455" cy="147638"/>
            </a:xfrm>
            <a:prstGeom prst="rect">
              <a:avLst/>
            </a:prstGeom>
            <a:noFill/>
            <a:ln>
              <a:noFill/>
            </a:ln>
          </p:spPr>
          <p:txBody>
            <a:bodyPr wrap="none" lIns="0" tIns="0" rIns="0" bIns="0" anchor="t" anchorCtr="0">
              <a:spAutoFit/>
            </a:bodyPr>
            <a:lstStyle/>
            <a:p>
              <a:pPr algn="ctr"/>
              <a:r>
                <a:rPr lang="zh-CN" sz="750" dirty="0">
                  <a:solidFill>
                    <a:srgbClr val="8A8A8A"/>
                  </a:solidFill>
                  <a:latin typeface="+mn-lt"/>
                  <a:ea typeface="+mn-ea"/>
                  <a:cs typeface="+mn-cs"/>
                </a:rPr>
                <a:t>目标</a:t>
              </a:r>
            </a:p>
          </p:txBody>
        </p:sp>
      </p:grpSp>
      <p:grpSp>
        <p:nvGrpSpPr>
          <p:cNvPr id="111" name="quad-risk"/>
          <p:cNvGrpSpPr/>
          <p:nvPr/>
        </p:nvGrpSpPr>
        <p:grpSpPr>
          <a:xfrm>
            <a:off x="4667250" y="3571875"/>
            <a:ext cx="4381500" cy="2524125"/>
            <a:chOff x="4667250" y="3571875"/>
            <a:chExt cx="4381500" cy="2524125"/>
          </a:xfrm>
        </p:grpSpPr>
        <p:sp>
          <p:nvSpPr>
            <p:cNvPr id="88" name="Rectangle 88"/>
            <p:cNvSpPr/>
            <p:nvPr/>
          </p:nvSpPr>
          <p:spPr>
            <a:xfrm>
              <a:off x="4667250" y="3571875"/>
              <a:ext cx="4381500" cy="2524125"/>
            </a:xfrm>
            <a:prstGeom prst="rect">
              <a:avLst/>
            </a:prstGeom>
            <a:solidFill>
              <a:srgbClr val="FFFFFF"/>
            </a:solidFill>
            <a:ln w="9525">
              <a:solidFill>
                <a:srgbClr val="E8E4E0"/>
              </a:solidFill>
            </a:ln>
          </p:spPr>
        </p:sp>
        <p:sp>
          <p:nvSpPr>
            <p:cNvPr id="89" name="Rectangle 89"/>
            <p:cNvSpPr/>
            <p:nvPr/>
          </p:nvSpPr>
          <p:spPr>
            <a:xfrm>
              <a:off x="4667250" y="3571875"/>
              <a:ext cx="4381500" cy="457200"/>
            </a:xfrm>
            <a:prstGeom prst="rect">
              <a:avLst/>
            </a:prstGeom>
            <a:solidFill>
              <a:srgbClr val="1E1E1E"/>
            </a:solidFill>
            <a:ln>
              <a:noFill/>
            </a:ln>
          </p:spPr>
        </p:sp>
        <p:sp>
          <p:nvSpPr>
            <p:cNvPr id="90" name="Ellipse 90"/>
            <p:cNvSpPr/>
            <p:nvPr/>
          </p:nvSpPr>
          <p:spPr>
            <a:xfrm>
              <a:off x="4752975" y="3581400"/>
              <a:ext cx="438150" cy="438150"/>
            </a:xfrm>
            <a:prstGeom prst="ellipse">
              <a:avLst/>
            </a:prstGeom>
            <a:solidFill>
              <a:srgbClr val="FFFFFF"/>
            </a:solidFill>
            <a:ln>
              <a:noFill/>
            </a:ln>
          </p:spPr>
        </p:sp>
        <p:grpSp>
          <p:nvGrpSpPr>
            <p:cNvPr id="93" name="Group 93"/>
            <p:cNvGrpSpPr/>
            <p:nvPr/>
          </p:nvGrpSpPr>
          <p:grpSpPr>
            <a:xfrm>
              <a:off x="4882358" y="3714750"/>
              <a:ext cx="179383" cy="171450"/>
              <a:chOff x="4882358" y="3714750"/>
              <a:chExt cx="179383" cy="171450"/>
            </a:xfrm>
          </p:grpSpPr>
          <p:sp>
            <p:nvSpPr>
              <p:cNvPr id="91" name="Freeform 91"/>
              <p:cNvSpPr/>
              <p:nvPr/>
            </p:nvSpPr>
            <p:spPr>
              <a:xfrm>
                <a:off x="4882358" y="3714750"/>
                <a:ext cx="179383" cy="171450"/>
              </a:xfrm>
              <a:custGeom>
                <a:avLst/>
                <a:gdLst/>
                <a:ahLst/>
                <a:cxnLst/>
                <a:rect l="l" t="t" r="r" b="b"/>
                <a:pathLst>
                  <a:path w="179383" h="171450">
                    <a:moveTo>
                      <a:pt x="89692" y="0"/>
                    </a:moveTo>
                    <a:cubicBezTo>
                      <a:pt x="111940" y="19684"/>
                      <a:pt x="140979" y="29933"/>
                      <a:pt x="170654" y="28575"/>
                    </a:cubicBezTo>
                    <a:cubicBezTo>
                      <a:pt x="179383" y="58269"/>
                      <a:pt x="175697" y="90235"/>
                      <a:pt x="160438" y="117163"/>
                    </a:cubicBezTo>
                    <a:cubicBezTo>
                      <a:pt x="145178" y="144091"/>
                      <a:pt x="119651" y="163679"/>
                      <a:pt x="89692" y="171450"/>
                    </a:cubicBezTo>
                    <a:cubicBezTo>
                      <a:pt x="59732" y="163679"/>
                      <a:pt x="34205" y="144091"/>
                      <a:pt x="18946" y="117163"/>
                    </a:cubicBezTo>
                    <a:cubicBezTo>
                      <a:pt x="3686" y="90235"/>
                      <a:pt x="0" y="58269"/>
                      <a:pt x="8729" y="28575"/>
                    </a:cubicBezTo>
                    <a:cubicBezTo>
                      <a:pt x="38405" y="29933"/>
                      <a:pt x="67443" y="19684"/>
                      <a:pt x="89692" y="0"/>
                    </a:cubicBezTo>
                  </a:path>
                </a:pathLst>
              </a:custGeom>
              <a:noFill/>
              <a:ln w="19050">
                <a:solidFill>
                  <a:srgbClr val="1E1E1E"/>
                </a:solidFill>
              </a:ln>
            </p:spPr>
          </p:sp>
          <p:sp>
            <p:nvSpPr>
              <p:cNvPr id="92" name="Freeform 92"/>
              <p:cNvSpPr/>
              <p:nvPr/>
            </p:nvSpPr>
            <p:spPr>
              <a:xfrm>
                <a:off x="4972050" y="3714750"/>
                <a:ext cx="9525" cy="171450"/>
              </a:xfrm>
              <a:custGeom>
                <a:avLst/>
                <a:gdLst/>
                <a:ahLst/>
                <a:cxnLst/>
                <a:rect l="l" t="t" r="r" b="b"/>
                <a:pathLst>
                  <a:path w="9525" h="171450">
                    <a:moveTo>
                      <a:pt x="0" y="0"/>
                    </a:moveTo>
                    <a:lnTo>
                      <a:pt x="0" y="171450"/>
                    </a:lnTo>
                  </a:path>
                </a:pathLst>
              </a:custGeom>
              <a:noFill/>
              <a:ln w="19050">
                <a:solidFill>
                  <a:srgbClr val="1E1E1E"/>
                </a:solidFill>
              </a:ln>
            </p:spPr>
          </p:sp>
        </p:grpSp>
        <p:sp>
          <p:nvSpPr>
            <p:cNvPr id="94" name="TextBox 94"/>
            <p:cNvSpPr txBox="1"/>
            <p:nvPr/>
          </p:nvSpPr>
          <p:spPr>
            <a:xfrm>
              <a:off x="5327904" y="3737610"/>
              <a:ext cx="186510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04 风险质量（夯实质量）</a:t>
              </a:r>
            </a:p>
          </p:txBody>
        </p:sp>
        <p:sp>
          <p:nvSpPr>
            <p:cNvPr id="95" name="Rectangle 95"/>
            <p:cNvSpPr/>
            <p:nvPr/>
          </p:nvSpPr>
          <p:spPr>
            <a:xfrm>
              <a:off x="4838700" y="4191000"/>
              <a:ext cx="4000500" cy="1733550"/>
            </a:xfrm>
            <a:prstGeom prst="rect">
              <a:avLst/>
            </a:prstGeom>
            <a:solidFill>
              <a:srgbClr val="FFFFFF"/>
            </a:solidFill>
            <a:ln w="9525">
              <a:solidFill>
                <a:srgbClr val="E8E4E0"/>
              </a:solidFill>
            </a:ln>
          </p:spPr>
        </p:sp>
        <p:sp>
          <p:nvSpPr>
            <p:cNvPr id="96" name="Ellipse 96"/>
            <p:cNvSpPr/>
            <p:nvPr/>
          </p:nvSpPr>
          <p:spPr>
            <a:xfrm>
              <a:off x="5095875" y="4543425"/>
              <a:ext cx="438150" cy="438150"/>
            </a:xfrm>
            <a:prstGeom prst="ellipse">
              <a:avLst/>
            </a:prstGeom>
            <a:solidFill>
              <a:srgbClr val="1E1E1E"/>
            </a:solidFill>
            <a:ln>
              <a:noFill/>
            </a:ln>
          </p:spPr>
        </p:sp>
        <p:grpSp>
          <p:nvGrpSpPr>
            <p:cNvPr id="102" name="Group 102"/>
            <p:cNvGrpSpPr/>
            <p:nvPr/>
          </p:nvGrpSpPr>
          <p:grpSpPr>
            <a:xfrm>
              <a:off x="5248275" y="4676775"/>
              <a:ext cx="133350" cy="171450"/>
              <a:chOff x="5248275" y="4676775"/>
              <a:chExt cx="133350" cy="171450"/>
            </a:xfrm>
          </p:grpSpPr>
          <p:sp>
            <p:nvSpPr>
              <p:cNvPr id="97" name="Freeform 97"/>
              <p:cNvSpPr/>
              <p:nvPr/>
            </p:nvSpPr>
            <p:spPr>
              <a:xfrm>
                <a:off x="5334000" y="46767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FFFFFF"/>
                </a:solidFill>
              </a:ln>
            </p:spPr>
          </p:sp>
          <p:sp>
            <p:nvSpPr>
              <p:cNvPr id="98" name="Freeform 98"/>
              <p:cNvSpPr/>
              <p:nvPr/>
            </p:nvSpPr>
            <p:spPr>
              <a:xfrm>
                <a:off x="5248275" y="46767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FFFFFF"/>
                </a:solidFill>
              </a:ln>
            </p:spPr>
          </p:sp>
          <p:sp>
            <p:nvSpPr>
              <p:cNvPr id="99" name="Freeform 99"/>
              <p:cNvSpPr/>
              <p:nvPr/>
            </p:nvSpPr>
            <p:spPr>
              <a:xfrm>
                <a:off x="5286375" y="4733925"/>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100" name="Freeform 100"/>
              <p:cNvSpPr/>
              <p:nvPr/>
            </p:nvSpPr>
            <p:spPr>
              <a:xfrm>
                <a:off x="5286375" y="4772025"/>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101" name="Freeform 101"/>
              <p:cNvSpPr/>
              <p:nvPr/>
            </p:nvSpPr>
            <p:spPr>
              <a:xfrm>
                <a:off x="5286375" y="4810125"/>
                <a:ext cx="57150" cy="9525"/>
              </a:xfrm>
              <a:custGeom>
                <a:avLst/>
                <a:gdLst/>
                <a:ahLst/>
                <a:cxnLst/>
                <a:rect l="l" t="t" r="r" b="b"/>
                <a:pathLst>
                  <a:path w="57150" h="9525">
                    <a:moveTo>
                      <a:pt x="0" y="0"/>
                    </a:moveTo>
                    <a:lnTo>
                      <a:pt x="57150" y="0"/>
                    </a:lnTo>
                  </a:path>
                </a:pathLst>
              </a:custGeom>
              <a:noFill/>
              <a:ln w="19050">
                <a:solidFill>
                  <a:srgbClr val="FFFFFF"/>
                </a:solidFill>
              </a:ln>
            </p:spPr>
          </p:sp>
        </p:grpSp>
        <p:sp>
          <p:nvSpPr>
            <p:cNvPr id="103" name="TextBox 103"/>
            <p:cNvSpPr txBox="1"/>
            <p:nvPr/>
          </p:nvSpPr>
          <p:spPr>
            <a:xfrm>
              <a:off x="5671947" y="4581049"/>
              <a:ext cx="1461110"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线上贷款审批通过率提升</a:t>
              </a:r>
            </a:p>
          </p:txBody>
        </p:sp>
        <p:sp>
          <p:nvSpPr>
            <p:cNvPr id="104" name="TextBox 104"/>
            <p:cNvSpPr txBox="1"/>
            <p:nvPr/>
          </p:nvSpPr>
          <p:spPr>
            <a:xfrm>
              <a:off x="5663946" y="4915852"/>
              <a:ext cx="1096928" cy="498729"/>
            </a:xfrm>
            <a:prstGeom prst="rect">
              <a:avLst/>
            </a:prstGeom>
            <a:noFill/>
            <a:ln>
              <a:noFill/>
            </a:ln>
          </p:spPr>
          <p:txBody>
            <a:bodyPr wrap="none" lIns="0" tIns="0" rIns="0" bIns="0" anchor="t" anchorCtr="0">
              <a:spAutoFit/>
            </a:bodyPr>
            <a:lstStyle/>
            <a:p>
              <a:pPr algn="l"/>
              <a:r>
                <a:rPr lang="zh-CN" sz="2550" b="1" dirty="0">
                  <a:solidFill>
                    <a:srgbClr val="1E1E1E"/>
                  </a:solidFill>
                  <a:latin typeface="+mn-lt"/>
                  <a:ea typeface="+mn-ea"/>
                  <a:cs typeface="+mn-cs"/>
                </a:rPr>
                <a:t xml:space="preserve">5 </a:t>
              </a:r>
              <a:r>
                <a:rPr lang="zh-CN" sz="1420" b="1" dirty="0">
                  <a:solidFill>
                    <a:srgbClr val="1E1E1E"/>
                  </a:solidFill>
                  <a:latin typeface="+mn-lt"/>
                  <a:ea typeface="+mn-ea"/>
                  <a:cs typeface="+mn-cs"/>
                </a:rPr>
                <a:t>个百分点</a:t>
              </a:r>
            </a:p>
          </p:txBody>
        </p:sp>
        <p:sp>
          <p:nvSpPr>
            <p:cNvPr id="105" name="Freeform 105"/>
            <p:cNvSpPr/>
            <p:nvPr/>
          </p:nvSpPr>
          <p:spPr>
            <a:xfrm>
              <a:off x="7334250" y="4829175"/>
              <a:ext cx="723900" cy="361950"/>
            </a:xfrm>
            <a:custGeom>
              <a:avLst/>
              <a:gdLst/>
              <a:ahLst/>
              <a:cxnLst/>
              <a:rect l="l" t="t" r="r" b="b"/>
              <a:pathLst>
                <a:path w="723900" h="361950">
                  <a:moveTo>
                    <a:pt x="0" y="361950"/>
                  </a:moveTo>
                  <a:cubicBezTo>
                    <a:pt x="0" y="162051"/>
                    <a:pt x="162051" y="0"/>
                    <a:pt x="361950" y="0"/>
                  </a:cubicBezTo>
                  <a:cubicBezTo>
                    <a:pt x="561849" y="0"/>
                    <a:pt x="723900" y="162051"/>
                    <a:pt x="723900" y="361950"/>
                  </a:cubicBezTo>
                </a:path>
              </a:pathLst>
            </a:custGeom>
            <a:noFill/>
            <a:ln w="76200">
              <a:solidFill>
                <a:srgbClr val="E5E0DC"/>
              </a:solidFill>
            </a:ln>
          </p:spPr>
        </p:sp>
        <p:sp>
          <p:nvSpPr>
            <p:cNvPr id="106" name="Freeform 106"/>
            <p:cNvSpPr/>
            <p:nvPr/>
          </p:nvSpPr>
          <p:spPr>
            <a:xfrm>
              <a:off x="7334250" y="4940618"/>
              <a:ext cx="185738" cy="250507"/>
            </a:xfrm>
            <a:custGeom>
              <a:avLst/>
              <a:gdLst/>
              <a:ahLst/>
              <a:cxnLst/>
              <a:rect l="l" t="t" r="r" b="b"/>
              <a:pathLst>
                <a:path w="185738" h="250507">
                  <a:moveTo>
                    <a:pt x="0" y="250507"/>
                  </a:moveTo>
                  <a:cubicBezTo>
                    <a:pt x="20921" y="143247"/>
                    <a:pt x="89183" y="51182"/>
                    <a:pt x="185738" y="0"/>
                  </a:cubicBezTo>
                </a:path>
              </a:pathLst>
            </a:custGeom>
            <a:noFill/>
            <a:ln w="76200">
              <a:solidFill>
                <a:srgbClr val="1E1E1E"/>
              </a:solidFill>
            </a:ln>
          </p:spPr>
        </p:sp>
        <p:sp>
          <p:nvSpPr>
            <p:cNvPr id="107" name="Line 107"/>
            <p:cNvSpPr/>
            <p:nvPr/>
          </p:nvSpPr>
          <p:spPr>
            <a:xfrm>
              <a:off x="7486650" y="4972050"/>
              <a:ext cx="209550" cy="219075"/>
            </a:xfrm>
            <a:custGeom>
              <a:avLst/>
              <a:gdLst/>
              <a:ahLst/>
              <a:cxnLst/>
              <a:rect l="l" t="t" r="r" b="b"/>
              <a:pathLst>
                <a:path w="209550" h="219075">
                  <a:moveTo>
                    <a:pt x="209550" y="219075"/>
                  </a:moveTo>
                  <a:lnTo>
                    <a:pt x="0" y="0"/>
                  </a:lnTo>
                </a:path>
              </a:pathLst>
            </a:custGeom>
            <a:noFill/>
            <a:ln w="23812">
              <a:solidFill>
                <a:srgbClr val="1E1E1E"/>
              </a:solidFill>
            </a:ln>
          </p:spPr>
        </p:sp>
        <p:sp>
          <p:nvSpPr>
            <p:cNvPr id="108" name="Ellipse 108"/>
            <p:cNvSpPr/>
            <p:nvPr/>
          </p:nvSpPr>
          <p:spPr>
            <a:xfrm>
              <a:off x="7662862" y="5157788"/>
              <a:ext cx="66675" cy="66675"/>
            </a:xfrm>
            <a:prstGeom prst="ellipse">
              <a:avLst/>
            </a:prstGeom>
            <a:solidFill>
              <a:srgbClr val="1E1E1E"/>
            </a:solidFill>
            <a:ln>
              <a:noFill/>
            </a:ln>
          </p:spPr>
        </p:sp>
        <p:sp>
          <p:nvSpPr>
            <p:cNvPr id="109" name="Line 109"/>
            <p:cNvSpPr/>
            <p:nvPr/>
          </p:nvSpPr>
          <p:spPr>
            <a:xfrm>
              <a:off x="5715000" y="5619750"/>
              <a:ext cx="2190750" cy="9525"/>
            </a:xfrm>
            <a:custGeom>
              <a:avLst/>
              <a:gdLst/>
              <a:ahLst/>
              <a:cxnLst/>
              <a:rect l="l" t="t" r="r" b="b"/>
              <a:pathLst>
                <a:path w="2190750" h="9525">
                  <a:moveTo>
                    <a:pt x="0" y="0"/>
                  </a:moveTo>
                  <a:lnTo>
                    <a:pt x="2190750" y="0"/>
                  </a:lnTo>
                </a:path>
              </a:pathLst>
            </a:custGeom>
            <a:noFill/>
            <a:ln w="9525">
              <a:solidFill>
                <a:srgbClr val="D8D4D0"/>
              </a:solidFill>
            </a:ln>
          </p:spPr>
        </p:sp>
        <p:sp>
          <p:nvSpPr>
            <p:cNvPr id="110" name="TextBox 110"/>
            <p:cNvSpPr txBox="1"/>
            <p:nvPr/>
          </p:nvSpPr>
          <p:spPr>
            <a:xfrm>
              <a:off x="6704648" y="5729288"/>
              <a:ext cx="211455" cy="147638"/>
            </a:xfrm>
            <a:prstGeom prst="rect">
              <a:avLst/>
            </a:prstGeom>
            <a:noFill/>
            <a:ln>
              <a:noFill/>
            </a:ln>
          </p:spPr>
          <p:txBody>
            <a:bodyPr wrap="none" lIns="0" tIns="0" rIns="0" bIns="0" anchor="t" anchorCtr="0">
              <a:spAutoFit/>
            </a:bodyPr>
            <a:lstStyle/>
            <a:p>
              <a:pPr algn="ctr"/>
              <a:r>
                <a:rPr lang="zh-CN" sz="750" dirty="0">
                  <a:solidFill>
                    <a:srgbClr val="8A8A8A"/>
                  </a:solidFill>
                  <a:latin typeface="+mn-lt"/>
                  <a:ea typeface="+mn-ea"/>
                  <a:cs typeface="+mn-cs"/>
                </a:rPr>
                <a:t>目标</a:t>
              </a:r>
            </a:p>
          </p:txBody>
        </p:sp>
      </p:grpSp>
      <p:grpSp>
        <p:nvGrpSpPr>
          <p:cNvPr id="162" name="scorecard"/>
          <p:cNvGrpSpPr/>
          <p:nvPr/>
        </p:nvGrpSpPr>
        <p:grpSpPr>
          <a:xfrm>
            <a:off x="9239250" y="904875"/>
            <a:ext cx="2820913" cy="5191125"/>
            <a:chOff x="9239250" y="904875"/>
            <a:chExt cx="2820913" cy="5191125"/>
          </a:xfrm>
        </p:grpSpPr>
        <p:sp>
          <p:nvSpPr>
            <p:cNvPr id="112" name="Rectangle 112"/>
            <p:cNvSpPr/>
            <p:nvPr/>
          </p:nvSpPr>
          <p:spPr>
            <a:xfrm>
              <a:off x="9239250" y="904875"/>
              <a:ext cx="2762250" cy="5191125"/>
            </a:xfrm>
            <a:prstGeom prst="rect">
              <a:avLst/>
            </a:prstGeom>
            <a:solidFill>
              <a:srgbClr val="FFFFFF"/>
            </a:solidFill>
            <a:ln w="9525">
              <a:solidFill>
                <a:srgbClr val="E8E4E0"/>
              </a:solidFill>
            </a:ln>
          </p:spPr>
        </p:sp>
        <p:sp>
          <p:nvSpPr>
            <p:cNvPr id="113" name="Rectangle 113"/>
            <p:cNvSpPr/>
            <p:nvPr/>
          </p:nvSpPr>
          <p:spPr>
            <a:xfrm>
              <a:off x="9239250" y="904875"/>
              <a:ext cx="2762250" cy="419100"/>
            </a:xfrm>
            <a:prstGeom prst="rect">
              <a:avLst/>
            </a:prstGeom>
            <a:solidFill>
              <a:srgbClr val="B03A1F"/>
            </a:solidFill>
            <a:ln>
              <a:noFill/>
            </a:ln>
          </p:spPr>
        </p:sp>
        <p:sp>
          <p:nvSpPr>
            <p:cNvPr id="114" name="TextBox 114"/>
            <p:cNvSpPr txBox="1"/>
            <p:nvPr/>
          </p:nvSpPr>
          <p:spPr>
            <a:xfrm>
              <a:off x="10048875" y="1042035"/>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平衡计分卡映射</a:t>
              </a:r>
            </a:p>
          </p:txBody>
        </p:sp>
        <p:sp>
          <p:nvSpPr>
            <p:cNvPr id="115" name="Line 115"/>
            <p:cNvSpPr/>
            <p:nvPr/>
          </p:nvSpPr>
          <p:spPr>
            <a:xfrm>
              <a:off x="10620375" y="1428750"/>
              <a:ext cx="9525" cy="4476750"/>
            </a:xfrm>
            <a:custGeom>
              <a:avLst/>
              <a:gdLst/>
              <a:ahLst/>
              <a:cxnLst/>
              <a:rect l="l" t="t" r="r" b="b"/>
              <a:pathLst>
                <a:path w="9525" h="4476750">
                  <a:moveTo>
                    <a:pt x="0" y="0"/>
                  </a:moveTo>
                  <a:lnTo>
                    <a:pt x="0" y="4476750"/>
                  </a:lnTo>
                </a:path>
              </a:pathLst>
            </a:custGeom>
            <a:noFill/>
            <a:ln w="14288">
              <a:solidFill>
                <a:srgbClr val="D8B7B9"/>
              </a:solidFill>
            </a:ln>
          </p:spPr>
        </p:sp>
        <p:grpSp>
          <p:nvGrpSpPr>
            <p:cNvPr id="127" name="map-scale"/>
            <p:cNvGrpSpPr/>
            <p:nvPr/>
          </p:nvGrpSpPr>
          <p:grpSpPr>
            <a:xfrm>
              <a:off x="9429750" y="1524000"/>
              <a:ext cx="2598508" cy="790575"/>
              <a:chOff x="9429750" y="1524000"/>
              <a:chExt cx="2598508" cy="790575"/>
            </a:xfrm>
          </p:grpSpPr>
          <p:sp>
            <p:nvSpPr>
              <p:cNvPr id="116" name="Rectangle 116"/>
              <p:cNvSpPr/>
              <p:nvPr/>
            </p:nvSpPr>
            <p:spPr>
              <a:xfrm>
                <a:off x="9429750" y="1524000"/>
                <a:ext cx="381000" cy="381000"/>
              </a:xfrm>
              <a:prstGeom prst="roundRect">
                <a:avLst>
                  <a:gd name="adj" fmla="val 20000"/>
                </a:avLst>
              </a:prstGeom>
              <a:solidFill>
                <a:srgbClr val="B03A1F"/>
              </a:solidFill>
              <a:ln>
                <a:noFill/>
              </a:ln>
            </p:spPr>
          </p:sp>
          <p:grpSp>
            <p:nvGrpSpPr>
              <p:cNvPr id="121" name="Group 121"/>
              <p:cNvGrpSpPr/>
              <p:nvPr/>
            </p:nvGrpSpPr>
            <p:grpSpPr>
              <a:xfrm>
                <a:off x="9534525" y="1628775"/>
                <a:ext cx="171450" cy="171450"/>
                <a:chOff x="9534525" y="1628775"/>
                <a:chExt cx="171450" cy="171450"/>
              </a:xfrm>
            </p:grpSpPr>
            <p:sp>
              <p:nvSpPr>
                <p:cNvPr id="117" name="Freeform 117"/>
                <p:cNvSpPr/>
                <p:nvPr/>
              </p:nvSpPr>
              <p:spPr>
                <a:xfrm>
                  <a:off x="9553575" y="16287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18" name="Freeform 118"/>
                <p:cNvSpPr/>
                <p:nvPr/>
              </p:nvSpPr>
              <p:spPr>
                <a:xfrm>
                  <a:off x="9534525" y="17430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119" name="Freeform 119"/>
                <p:cNvSpPr/>
                <p:nvPr/>
              </p:nvSpPr>
              <p:spPr>
                <a:xfrm>
                  <a:off x="9658350" y="16300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120" name="Freeform 120"/>
                <p:cNvSpPr/>
                <p:nvPr/>
              </p:nvSpPr>
              <p:spPr>
                <a:xfrm>
                  <a:off x="9677400" y="17445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122" name="TextBox 122"/>
              <p:cNvSpPr txBox="1"/>
              <p:nvPr/>
            </p:nvSpPr>
            <p:spPr>
              <a:xfrm>
                <a:off x="9900666" y="1639252"/>
                <a:ext cx="576072"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客户规模</a:t>
                </a:r>
              </a:p>
            </p:txBody>
          </p:sp>
          <p:sp>
            <p:nvSpPr>
              <p:cNvPr id="123" name="Ellipse 123"/>
              <p:cNvSpPr/>
              <p:nvPr/>
            </p:nvSpPr>
            <p:spPr>
              <a:xfrm>
                <a:off x="10572750" y="1971675"/>
                <a:ext cx="95250" cy="95250"/>
              </a:xfrm>
              <a:prstGeom prst="ellipse">
                <a:avLst/>
              </a:prstGeom>
              <a:solidFill>
                <a:srgbClr val="FFFFFF"/>
              </a:solidFill>
              <a:ln w="19050">
                <a:solidFill>
                  <a:srgbClr val="B03A1F"/>
                </a:solidFill>
              </a:ln>
            </p:spPr>
          </p:sp>
          <p:sp>
            <p:nvSpPr>
              <p:cNvPr id="124" name="TextBox 124"/>
              <p:cNvSpPr txBox="1"/>
              <p:nvPr/>
            </p:nvSpPr>
            <p:spPr>
              <a:xfrm>
                <a:off x="10758488" y="1905714"/>
                <a:ext cx="1163420"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新增有效代发客户 8万户</a:t>
                </a:r>
              </a:p>
            </p:txBody>
          </p:sp>
          <p:sp>
            <p:nvSpPr>
              <p:cNvPr id="125" name="Ellipse 125"/>
              <p:cNvSpPr/>
              <p:nvPr/>
            </p:nvSpPr>
            <p:spPr>
              <a:xfrm>
                <a:off x="10572750" y="2219325"/>
                <a:ext cx="95250" cy="95250"/>
              </a:xfrm>
              <a:prstGeom prst="ellipse">
                <a:avLst/>
              </a:prstGeom>
              <a:solidFill>
                <a:srgbClr val="FFFFFF"/>
              </a:solidFill>
              <a:ln w="19050">
                <a:solidFill>
                  <a:srgbClr val="B03A1F"/>
                </a:solidFill>
              </a:ln>
            </p:spPr>
          </p:sp>
          <p:sp>
            <p:nvSpPr>
              <p:cNvPr id="126" name="TextBox 126"/>
              <p:cNvSpPr txBox="1"/>
              <p:nvPr/>
            </p:nvSpPr>
            <p:spPr>
              <a:xfrm>
                <a:off x="10758488" y="2153364"/>
                <a:ext cx="1269770"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社保卡激活客户新增 5万户</a:t>
                </a:r>
              </a:p>
            </p:txBody>
          </p:sp>
        </p:grpSp>
        <p:grpSp>
          <p:nvGrpSpPr>
            <p:cNvPr id="142" name="map-aum"/>
            <p:cNvGrpSpPr/>
            <p:nvPr/>
          </p:nvGrpSpPr>
          <p:grpSpPr>
            <a:xfrm>
              <a:off x="9429750" y="2552700"/>
              <a:ext cx="2630413" cy="1038225"/>
              <a:chOff x="9429750" y="2552700"/>
              <a:chExt cx="2630413" cy="1038225"/>
            </a:xfrm>
          </p:grpSpPr>
          <p:sp>
            <p:nvSpPr>
              <p:cNvPr id="128" name="Rectangle 128"/>
              <p:cNvSpPr/>
              <p:nvPr/>
            </p:nvSpPr>
            <p:spPr>
              <a:xfrm>
                <a:off x="9429750" y="2552700"/>
                <a:ext cx="381000" cy="381000"/>
              </a:xfrm>
              <a:prstGeom prst="roundRect">
                <a:avLst>
                  <a:gd name="adj" fmla="val 20000"/>
                </a:avLst>
              </a:prstGeom>
              <a:solidFill>
                <a:srgbClr val="B03A1F"/>
              </a:solidFill>
              <a:ln>
                <a:noFill/>
              </a:ln>
            </p:spPr>
          </p:sp>
          <p:grpSp>
            <p:nvGrpSpPr>
              <p:cNvPr id="134" name="Group 134"/>
              <p:cNvGrpSpPr/>
              <p:nvPr/>
            </p:nvGrpSpPr>
            <p:grpSpPr>
              <a:xfrm>
                <a:off x="9534525" y="2656199"/>
                <a:ext cx="171450" cy="172726"/>
                <a:chOff x="9534525" y="2656199"/>
                <a:chExt cx="171450" cy="172726"/>
              </a:xfrm>
            </p:grpSpPr>
            <p:sp>
              <p:nvSpPr>
                <p:cNvPr id="129" name="Freeform 129"/>
                <p:cNvSpPr/>
                <p:nvPr/>
              </p:nvSpPr>
              <p:spPr>
                <a:xfrm>
                  <a:off x="9591675" y="273367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FFFFFF"/>
                  </a:solidFill>
                </a:ln>
              </p:spPr>
            </p:sp>
            <p:sp>
              <p:nvSpPr>
                <p:cNvPr id="130" name="Freeform 130"/>
                <p:cNvSpPr/>
                <p:nvPr/>
              </p:nvSpPr>
              <p:spPr>
                <a:xfrm>
                  <a:off x="9591675" y="276225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FFFFFF"/>
                  </a:solidFill>
                </a:ln>
              </p:spPr>
            </p:sp>
            <p:sp>
              <p:nvSpPr>
                <p:cNvPr id="131" name="Freeform 131"/>
                <p:cNvSpPr/>
                <p:nvPr/>
              </p:nvSpPr>
              <p:spPr>
                <a:xfrm>
                  <a:off x="9534525" y="265619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FFFFFF"/>
                  </a:solidFill>
                </a:ln>
              </p:spPr>
            </p:sp>
            <p:sp>
              <p:nvSpPr>
                <p:cNvPr id="132" name="Freeform 132"/>
                <p:cNvSpPr/>
                <p:nvPr/>
              </p:nvSpPr>
              <p:spPr>
                <a:xfrm>
                  <a:off x="9534525" y="268605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FFFFFF"/>
                  </a:solidFill>
                </a:ln>
              </p:spPr>
            </p:sp>
            <p:sp>
              <p:nvSpPr>
                <p:cNvPr id="133" name="Freeform 133"/>
                <p:cNvSpPr/>
                <p:nvPr/>
              </p:nvSpPr>
              <p:spPr>
                <a:xfrm>
                  <a:off x="9534525" y="273367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FFFFFF"/>
                  </a:solidFill>
                </a:ln>
              </p:spPr>
            </p:sp>
          </p:grpSp>
          <p:sp>
            <p:nvSpPr>
              <p:cNvPr id="135" name="TextBox 135"/>
              <p:cNvSpPr txBox="1"/>
              <p:nvPr/>
            </p:nvSpPr>
            <p:spPr>
              <a:xfrm>
                <a:off x="9900666" y="2667952"/>
                <a:ext cx="724837"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AUM与收入</a:t>
                </a:r>
              </a:p>
            </p:txBody>
          </p:sp>
          <p:sp>
            <p:nvSpPr>
              <p:cNvPr id="136" name="Ellipse 136"/>
              <p:cNvSpPr/>
              <p:nvPr/>
            </p:nvSpPr>
            <p:spPr>
              <a:xfrm>
                <a:off x="10572750" y="3000375"/>
                <a:ext cx="95250" cy="95250"/>
              </a:xfrm>
              <a:prstGeom prst="ellipse">
                <a:avLst/>
              </a:prstGeom>
              <a:solidFill>
                <a:srgbClr val="FFFFFF"/>
              </a:solidFill>
              <a:ln w="19050">
                <a:solidFill>
                  <a:srgbClr val="B03A1F"/>
                </a:solidFill>
              </a:ln>
            </p:spPr>
          </p:sp>
          <p:sp>
            <p:nvSpPr>
              <p:cNvPr id="137" name="TextBox 137"/>
              <p:cNvSpPr txBox="1"/>
              <p:nvPr/>
            </p:nvSpPr>
            <p:spPr>
              <a:xfrm>
                <a:off x="10758488" y="2934414"/>
                <a:ext cx="1253818"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财富客户资产留存率 ≥95%</a:t>
                </a:r>
              </a:p>
            </p:txBody>
          </p:sp>
          <p:sp>
            <p:nvSpPr>
              <p:cNvPr id="138" name="Ellipse 138"/>
              <p:cNvSpPr/>
              <p:nvPr/>
            </p:nvSpPr>
            <p:spPr>
              <a:xfrm>
                <a:off x="10572750" y="3248025"/>
                <a:ext cx="95250" cy="95250"/>
              </a:xfrm>
              <a:prstGeom prst="ellipse">
                <a:avLst/>
              </a:prstGeom>
              <a:solidFill>
                <a:srgbClr val="FFFFFF"/>
              </a:solidFill>
              <a:ln w="19050">
                <a:solidFill>
                  <a:srgbClr val="B03A1F"/>
                </a:solidFill>
              </a:ln>
            </p:spPr>
          </p:sp>
          <p:sp>
            <p:nvSpPr>
              <p:cNvPr id="139" name="TextBox 139"/>
              <p:cNvSpPr txBox="1"/>
              <p:nvPr/>
            </p:nvSpPr>
            <p:spPr>
              <a:xfrm>
                <a:off x="10758488" y="3182064"/>
                <a:ext cx="1301675"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高净值客户综合开发率 75%</a:t>
                </a:r>
              </a:p>
            </p:txBody>
          </p:sp>
          <p:sp>
            <p:nvSpPr>
              <p:cNvPr id="140" name="Ellipse 140"/>
              <p:cNvSpPr/>
              <p:nvPr/>
            </p:nvSpPr>
            <p:spPr>
              <a:xfrm>
                <a:off x="10572750" y="3495675"/>
                <a:ext cx="95250" cy="95250"/>
              </a:xfrm>
              <a:prstGeom prst="ellipse">
                <a:avLst/>
              </a:prstGeom>
              <a:solidFill>
                <a:srgbClr val="FFFFFF"/>
              </a:solidFill>
              <a:ln w="19050">
                <a:solidFill>
                  <a:srgbClr val="B03A1F"/>
                </a:solidFill>
              </a:ln>
            </p:spPr>
          </p:sp>
          <p:sp>
            <p:nvSpPr>
              <p:cNvPr id="141" name="TextBox 141"/>
              <p:cNvSpPr txBox="1"/>
              <p:nvPr/>
            </p:nvSpPr>
            <p:spPr>
              <a:xfrm>
                <a:off x="10758488" y="3429714"/>
                <a:ext cx="1195325"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大众客户价值提升率 15%</a:t>
                </a:r>
              </a:p>
            </p:txBody>
          </p:sp>
        </p:grpSp>
        <p:grpSp>
          <p:nvGrpSpPr>
            <p:cNvPr id="152" name="map-digital"/>
            <p:cNvGrpSpPr/>
            <p:nvPr/>
          </p:nvGrpSpPr>
          <p:grpSpPr>
            <a:xfrm>
              <a:off x="9429750" y="3810000"/>
              <a:ext cx="2614461" cy="622220"/>
              <a:chOff x="9429750" y="3810000"/>
              <a:chExt cx="2614461" cy="622220"/>
            </a:xfrm>
          </p:grpSpPr>
          <p:sp>
            <p:nvSpPr>
              <p:cNvPr id="143" name="Rectangle 143"/>
              <p:cNvSpPr/>
              <p:nvPr/>
            </p:nvSpPr>
            <p:spPr>
              <a:xfrm>
                <a:off x="9429750" y="3810000"/>
                <a:ext cx="381000" cy="381000"/>
              </a:xfrm>
              <a:prstGeom prst="roundRect">
                <a:avLst>
                  <a:gd name="adj" fmla="val 20000"/>
                </a:avLst>
              </a:prstGeom>
              <a:solidFill>
                <a:srgbClr val="1E1E1E"/>
              </a:solidFill>
              <a:ln>
                <a:noFill/>
              </a:ln>
            </p:spPr>
          </p:sp>
          <p:grpSp>
            <p:nvGrpSpPr>
              <p:cNvPr id="147" name="Group 147"/>
              <p:cNvGrpSpPr/>
              <p:nvPr/>
            </p:nvGrpSpPr>
            <p:grpSpPr>
              <a:xfrm>
                <a:off x="9563100" y="3914775"/>
                <a:ext cx="114300" cy="171450"/>
                <a:chOff x="9563100" y="3914775"/>
                <a:chExt cx="114300" cy="171450"/>
              </a:xfrm>
            </p:grpSpPr>
            <p:sp>
              <p:nvSpPr>
                <p:cNvPr id="144" name="Freeform 144"/>
                <p:cNvSpPr/>
                <p:nvPr/>
              </p:nvSpPr>
              <p:spPr>
                <a:xfrm>
                  <a:off x="9563100" y="391477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FFFFFF"/>
                  </a:solidFill>
                </a:ln>
              </p:spPr>
            </p:sp>
            <p:sp>
              <p:nvSpPr>
                <p:cNvPr id="145" name="Freeform 145"/>
                <p:cNvSpPr/>
                <p:nvPr/>
              </p:nvSpPr>
              <p:spPr>
                <a:xfrm>
                  <a:off x="9610725" y="3924300"/>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146" name="Freeform 146"/>
                <p:cNvSpPr/>
                <p:nvPr/>
              </p:nvSpPr>
              <p:spPr>
                <a:xfrm>
                  <a:off x="9620250" y="4048125"/>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148" name="TextBox 148"/>
              <p:cNvSpPr txBox="1"/>
              <p:nvPr/>
            </p:nvSpPr>
            <p:spPr>
              <a:xfrm>
                <a:off x="9900666" y="3925252"/>
                <a:ext cx="576072"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数字活跃</a:t>
                </a:r>
              </a:p>
            </p:txBody>
          </p:sp>
          <p:sp>
            <p:nvSpPr>
              <p:cNvPr id="149" name="Ellipse 149"/>
              <p:cNvSpPr/>
              <p:nvPr/>
            </p:nvSpPr>
            <p:spPr>
              <a:xfrm>
                <a:off x="10572750" y="4257675"/>
                <a:ext cx="95250" cy="95250"/>
              </a:xfrm>
              <a:prstGeom prst="ellipse">
                <a:avLst/>
              </a:prstGeom>
              <a:solidFill>
                <a:srgbClr val="FFFFFF"/>
              </a:solidFill>
              <a:ln w="19050">
                <a:solidFill>
                  <a:srgbClr val="B03A1F"/>
                </a:solidFill>
              </a:ln>
            </p:spPr>
          </p:sp>
          <p:sp>
            <p:nvSpPr>
              <p:cNvPr id="150" name="TextBox 150"/>
              <p:cNvSpPr txBox="1"/>
              <p:nvPr/>
            </p:nvSpPr>
            <p:spPr>
              <a:xfrm>
                <a:off x="10758488" y="4134564"/>
                <a:ext cx="1195325"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大众客户价值提升率 15%</a:t>
                </a:r>
              </a:p>
            </p:txBody>
          </p:sp>
          <p:sp>
            <p:nvSpPr>
              <p:cNvPr id="151" name="TextBox 151"/>
              <p:cNvSpPr txBox="1"/>
              <p:nvPr/>
            </p:nvSpPr>
            <p:spPr>
              <a:xfrm>
                <a:off x="10758488" y="4277439"/>
                <a:ext cx="128572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（数字化触点与服务驱动）</a:t>
                </a:r>
              </a:p>
            </p:txBody>
          </p:sp>
        </p:grpSp>
        <p:grpSp>
          <p:nvGrpSpPr>
            <p:cNvPr id="161" name="map-risk"/>
            <p:cNvGrpSpPr/>
            <p:nvPr/>
          </p:nvGrpSpPr>
          <p:grpSpPr>
            <a:xfrm>
              <a:off x="9429750" y="4686300"/>
              <a:ext cx="2508111" cy="660320"/>
              <a:chOff x="9429750" y="4686300"/>
              <a:chExt cx="2508111" cy="660320"/>
            </a:xfrm>
          </p:grpSpPr>
          <p:sp>
            <p:nvSpPr>
              <p:cNvPr id="153" name="Rectangle 153"/>
              <p:cNvSpPr/>
              <p:nvPr/>
            </p:nvSpPr>
            <p:spPr>
              <a:xfrm>
                <a:off x="9429750" y="4686300"/>
                <a:ext cx="381000" cy="381000"/>
              </a:xfrm>
              <a:prstGeom prst="roundRect">
                <a:avLst>
                  <a:gd name="adj" fmla="val 20000"/>
                </a:avLst>
              </a:prstGeom>
              <a:solidFill>
                <a:srgbClr val="1E1E1E"/>
              </a:solidFill>
              <a:ln>
                <a:noFill/>
              </a:ln>
            </p:spPr>
          </p:sp>
          <p:grpSp>
            <p:nvGrpSpPr>
              <p:cNvPr id="156" name="Group 156"/>
              <p:cNvGrpSpPr/>
              <p:nvPr/>
            </p:nvGrpSpPr>
            <p:grpSpPr>
              <a:xfrm>
                <a:off x="9521671" y="4791075"/>
                <a:ext cx="186006" cy="171450"/>
                <a:chOff x="9521671" y="4791075"/>
                <a:chExt cx="186006" cy="171450"/>
              </a:xfrm>
            </p:grpSpPr>
            <p:sp>
              <p:nvSpPr>
                <p:cNvPr id="154" name="Freeform 154"/>
                <p:cNvSpPr/>
                <p:nvPr/>
              </p:nvSpPr>
              <p:spPr>
                <a:xfrm>
                  <a:off x="9521671" y="47910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1"/>
                      </a:cubicBezTo>
                    </a:path>
                  </a:pathLst>
                </a:custGeom>
                <a:noFill/>
                <a:ln w="19050">
                  <a:solidFill>
                    <a:srgbClr val="FFFFFF"/>
                  </a:solidFill>
                </a:ln>
              </p:spPr>
            </p:sp>
            <p:sp>
              <p:nvSpPr>
                <p:cNvPr id="155" name="Freeform 155"/>
                <p:cNvSpPr/>
                <p:nvPr/>
              </p:nvSpPr>
              <p:spPr>
                <a:xfrm>
                  <a:off x="9648825" y="492442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157" name="TextBox 157"/>
              <p:cNvSpPr txBox="1"/>
              <p:nvPr/>
            </p:nvSpPr>
            <p:spPr>
              <a:xfrm>
                <a:off x="9900666" y="4801552"/>
                <a:ext cx="576072"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风险质量</a:t>
                </a:r>
              </a:p>
            </p:txBody>
          </p:sp>
          <p:sp>
            <p:nvSpPr>
              <p:cNvPr id="158" name="Ellipse 158"/>
              <p:cNvSpPr/>
              <p:nvPr/>
            </p:nvSpPr>
            <p:spPr>
              <a:xfrm>
                <a:off x="10572750" y="5172075"/>
                <a:ext cx="95250" cy="95250"/>
              </a:xfrm>
              <a:prstGeom prst="ellipse">
                <a:avLst/>
              </a:prstGeom>
              <a:solidFill>
                <a:srgbClr val="FFFFFF"/>
              </a:solidFill>
              <a:ln w="19050">
                <a:solidFill>
                  <a:srgbClr val="B03A1F"/>
                </a:solidFill>
              </a:ln>
            </p:spPr>
          </p:sp>
          <p:sp>
            <p:nvSpPr>
              <p:cNvPr id="159" name="TextBox 159"/>
              <p:cNvSpPr txBox="1"/>
              <p:nvPr/>
            </p:nvSpPr>
            <p:spPr>
              <a:xfrm>
                <a:off x="10758488" y="5048964"/>
                <a:ext cx="11793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线上贷款审批通过率提升</a:t>
                </a:r>
              </a:p>
            </p:txBody>
          </p:sp>
          <p:sp>
            <p:nvSpPr>
              <p:cNvPr id="160" name="TextBox 160"/>
              <p:cNvSpPr txBox="1"/>
              <p:nvPr/>
            </p:nvSpPr>
            <p:spPr>
              <a:xfrm>
                <a:off x="10758488" y="5191839"/>
                <a:ext cx="493417"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5个百分点</a:t>
                </a:r>
              </a:p>
            </p:txBody>
          </p:sp>
        </p:grpSp>
      </p:gr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42113" y="143351"/>
              <a:ext cx="18650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5</a:t>
              </a:r>
            </a:p>
          </p:txBody>
        </p:sp>
        <p:sp>
          <p:nvSpPr>
            <p:cNvPr id="4" name="TextBox 4"/>
            <p:cNvSpPr txBox="1"/>
            <p:nvPr/>
          </p:nvSpPr>
          <p:spPr>
            <a:xfrm>
              <a:off x="942594" y="151448"/>
              <a:ext cx="594404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客户价值深耕：以分层策略提升</a:t>
              </a:r>
              <a:r>
                <a:rPr lang="zh-CN" sz="1950" b="1" dirty="0">
                  <a:solidFill>
                    <a:srgbClr val="B03A1F"/>
                  </a:solidFill>
                  <a:latin typeface="SimSun"/>
                  <a:ea typeface="SimSun"/>
                  <a:cs typeface="SimSun"/>
                </a:rPr>
                <a:t>AUM与综合贡献</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grpSp>
        <p:nvGrpSpPr>
          <p:cNvPr id="27" name="pyramid"/>
          <p:cNvGrpSpPr/>
          <p:nvPr/>
        </p:nvGrpSpPr>
        <p:grpSpPr>
          <a:xfrm>
            <a:off x="885825" y="952500"/>
            <a:ext cx="2286000" cy="5705475"/>
            <a:chOff x="885825" y="952500"/>
            <a:chExt cx="2286000" cy="5705475"/>
          </a:xfrm>
        </p:grpSpPr>
        <p:sp>
          <p:nvSpPr>
            <p:cNvPr id="7" name="Polygon 7"/>
            <p:cNvSpPr/>
            <p:nvPr/>
          </p:nvSpPr>
          <p:spPr>
            <a:xfrm>
              <a:off x="1171575" y="952500"/>
              <a:ext cx="1714500" cy="1695450"/>
            </a:xfrm>
            <a:custGeom>
              <a:avLst/>
              <a:gdLst/>
              <a:ahLst/>
              <a:cxnLst/>
              <a:rect l="l" t="t" r="r" b="b"/>
              <a:pathLst>
                <a:path w="1714500" h="1695450">
                  <a:moveTo>
                    <a:pt x="666750" y="0"/>
                  </a:moveTo>
                  <a:lnTo>
                    <a:pt x="1047750" y="0"/>
                  </a:lnTo>
                  <a:lnTo>
                    <a:pt x="1714500" y="1695450"/>
                  </a:lnTo>
                  <a:lnTo>
                    <a:pt x="0" y="1695450"/>
                  </a:lnTo>
                  <a:close/>
                </a:path>
              </a:pathLst>
            </a:custGeom>
            <a:solidFill>
              <a:srgbClr val="9E331B"/>
            </a:solidFill>
            <a:ln>
              <a:noFill/>
            </a:ln>
          </p:spPr>
        </p:sp>
        <p:sp>
          <p:nvSpPr>
            <p:cNvPr id="8" name="Freeform 8"/>
            <p:cNvSpPr/>
            <p:nvPr/>
          </p:nvSpPr>
          <p:spPr>
            <a:xfrm>
              <a:off x="1928813" y="1495425"/>
              <a:ext cx="200026" cy="133350"/>
            </a:xfrm>
            <a:custGeom>
              <a:avLst/>
              <a:gdLst/>
              <a:ahLst/>
              <a:cxnLst/>
              <a:rect l="l" t="t" r="r" b="b"/>
              <a:pathLst>
                <a:path w="200026" h="133350">
                  <a:moveTo>
                    <a:pt x="100013" y="0"/>
                  </a:moveTo>
                  <a:lnTo>
                    <a:pt x="144463" y="66675"/>
                  </a:lnTo>
                  <a:lnTo>
                    <a:pt x="200026" y="22225"/>
                  </a:lnTo>
                  <a:lnTo>
                    <a:pt x="177801" y="133350"/>
                  </a:lnTo>
                  <a:lnTo>
                    <a:pt x="22225" y="133350"/>
                  </a:lnTo>
                  <a:lnTo>
                    <a:pt x="0" y="22225"/>
                  </a:lnTo>
                  <a:lnTo>
                    <a:pt x="55563" y="66675"/>
                  </a:lnTo>
                  <a:lnTo>
                    <a:pt x="100013" y="0"/>
                  </a:lnTo>
                </a:path>
              </a:pathLst>
            </a:custGeom>
            <a:noFill/>
            <a:ln w="22225">
              <a:solidFill>
                <a:srgbClr val="FFFFFF"/>
              </a:solidFill>
            </a:ln>
          </p:spPr>
        </p:sp>
        <p:sp>
          <p:nvSpPr>
            <p:cNvPr id="9" name="TextBox 9"/>
            <p:cNvSpPr txBox="1"/>
            <p:nvPr/>
          </p:nvSpPr>
          <p:spPr>
            <a:xfrm>
              <a:off x="1599438" y="190595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私人银行客户</a:t>
              </a:r>
            </a:p>
          </p:txBody>
        </p:sp>
        <p:sp>
          <p:nvSpPr>
            <p:cNvPr id="10" name="Polygon 10"/>
            <p:cNvSpPr/>
            <p:nvPr/>
          </p:nvSpPr>
          <p:spPr>
            <a:xfrm>
              <a:off x="1057275" y="2733675"/>
              <a:ext cx="1943100" cy="1314450"/>
            </a:xfrm>
            <a:custGeom>
              <a:avLst/>
              <a:gdLst/>
              <a:ahLst/>
              <a:cxnLst/>
              <a:rect l="l" t="t" r="r" b="b"/>
              <a:pathLst>
                <a:path w="1943100" h="1314450">
                  <a:moveTo>
                    <a:pt x="190500" y="0"/>
                  </a:moveTo>
                  <a:lnTo>
                    <a:pt x="1752600" y="0"/>
                  </a:lnTo>
                  <a:lnTo>
                    <a:pt x="1943100" y="1314450"/>
                  </a:lnTo>
                  <a:lnTo>
                    <a:pt x="0" y="1314450"/>
                  </a:lnTo>
                  <a:close/>
                </a:path>
              </a:pathLst>
            </a:custGeom>
            <a:solidFill>
              <a:srgbClr val="C54C30"/>
            </a:solidFill>
            <a:ln>
              <a:noFill/>
            </a:ln>
          </p:spPr>
        </p:sp>
        <p:grpSp>
          <p:nvGrpSpPr>
            <p:cNvPr id="13" name="Group 13"/>
            <p:cNvGrpSpPr/>
            <p:nvPr/>
          </p:nvGrpSpPr>
          <p:grpSpPr>
            <a:xfrm>
              <a:off x="1928813" y="3122613"/>
              <a:ext cx="200026" cy="163466"/>
              <a:chOff x="1928813" y="3122613"/>
              <a:chExt cx="200026" cy="163466"/>
            </a:xfrm>
          </p:grpSpPr>
          <p:sp>
            <p:nvSpPr>
              <p:cNvPr id="11" name="Freeform 11"/>
              <p:cNvSpPr/>
              <p:nvPr/>
            </p:nvSpPr>
            <p:spPr>
              <a:xfrm>
                <a:off x="1928813" y="3122613"/>
                <a:ext cx="200026" cy="163466"/>
              </a:xfrm>
              <a:custGeom>
                <a:avLst/>
                <a:gdLst/>
                <a:ahLst/>
                <a:cxnLst/>
                <a:rect l="l" t="t" r="r" b="b"/>
                <a:pathLst>
                  <a:path w="200026" h="163466">
                    <a:moveTo>
                      <a:pt x="33338" y="0"/>
                    </a:moveTo>
                    <a:lnTo>
                      <a:pt x="166688" y="0"/>
                    </a:lnTo>
                    <a:lnTo>
                      <a:pt x="200026" y="55563"/>
                    </a:lnTo>
                    <a:lnTo>
                      <a:pt x="105569" y="161132"/>
                    </a:lnTo>
                    <a:cubicBezTo>
                      <a:pt x="104106" y="162625"/>
                      <a:pt x="102103" y="163466"/>
                      <a:pt x="100013" y="163466"/>
                    </a:cubicBezTo>
                    <a:cubicBezTo>
                      <a:pt x="97922" y="163466"/>
                      <a:pt x="95920" y="162625"/>
                      <a:pt x="94457" y="161132"/>
                    </a:cubicBezTo>
                    <a:lnTo>
                      <a:pt x="0" y="55563"/>
                    </a:lnTo>
                    <a:lnTo>
                      <a:pt x="33338" y="0"/>
                    </a:lnTo>
                  </a:path>
                </a:pathLst>
              </a:custGeom>
              <a:noFill/>
              <a:ln w="22225">
                <a:solidFill>
                  <a:srgbClr val="FFFFFF"/>
                </a:solidFill>
              </a:ln>
            </p:spPr>
          </p:sp>
          <p:sp>
            <p:nvSpPr>
              <p:cNvPr id="12" name="Freeform 12"/>
              <p:cNvSpPr/>
              <p:nvPr/>
            </p:nvSpPr>
            <p:spPr>
              <a:xfrm>
                <a:off x="1984375" y="3164840"/>
                <a:ext cx="22225" cy="35560"/>
              </a:xfrm>
              <a:custGeom>
                <a:avLst/>
                <a:gdLst/>
                <a:ahLst/>
                <a:cxnLst/>
                <a:rect l="l" t="t" r="r" b="b"/>
                <a:pathLst>
                  <a:path w="22225" h="35560">
                    <a:moveTo>
                      <a:pt x="22225" y="35560"/>
                    </a:moveTo>
                    <a:lnTo>
                      <a:pt x="0" y="11113"/>
                    </a:lnTo>
                    <a:lnTo>
                      <a:pt x="6668" y="0"/>
                    </a:lnTo>
                  </a:path>
                </a:pathLst>
              </a:custGeom>
              <a:noFill/>
              <a:ln w="22225">
                <a:solidFill>
                  <a:srgbClr val="FFFFFF"/>
                </a:solidFill>
              </a:ln>
            </p:spPr>
          </p:sp>
        </p:grpSp>
        <p:sp>
          <p:nvSpPr>
            <p:cNvPr id="14" name="TextBox 14"/>
            <p:cNvSpPr txBox="1"/>
            <p:nvPr/>
          </p:nvSpPr>
          <p:spPr>
            <a:xfrm>
              <a:off x="1740789" y="35442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财富客户</a:t>
              </a:r>
            </a:p>
          </p:txBody>
        </p:sp>
        <p:sp>
          <p:nvSpPr>
            <p:cNvPr id="15" name="Polygon 15"/>
            <p:cNvSpPr/>
            <p:nvPr/>
          </p:nvSpPr>
          <p:spPr>
            <a:xfrm>
              <a:off x="962025" y="4133850"/>
              <a:ext cx="2133600" cy="1314450"/>
            </a:xfrm>
            <a:custGeom>
              <a:avLst/>
              <a:gdLst/>
              <a:ahLst/>
              <a:cxnLst/>
              <a:rect l="l" t="t" r="r" b="b"/>
              <a:pathLst>
                <a:path w="2133600" h="1314450">
                  <a:moveTo>
                    <a:pt x="152400" y="0"/>
                  </a:moveTo>
                  <a:lnTo>
                    <a:pt x="1981200" y="0"/>
                  </a:lnTo>
                  <a:lnTo>
                    <a:pt x="2133600" y="1314450"/>
                  </a:lnTo>
                  <a:lnTo>
                    <a:pt x="0" y="1314450"/>
                  </a:lnTo>
                  <a:close/>
                </a:path>
              </a:pathLst>
            </a:custGeom>
            <a:solidFill>
              <a:srgbClr val="D97F6A"/>
            </a:solidFill>
            <a:ln>
              <a:noFill/>
            </a:ln>
          </p:spPr>
        </p:sp>
        <p:grpSp>
          <p:nvGrpSpPr>
            <p:cNvPr id="20" name="Group 20"/>
            <p:cNvGrpSpPr/>
            <p:nvPr/>
          </p:nvGrpSpPr>
          <p:grpSpPr>
            <a:xfrm>
              <a:off x="1928813" y="4433888"/>
              <a:ext cx="200026" cy="200025"/>
              <a:chOff x="1928813" y="4433888"/>
              <a:chExt cx="200026" cy="200025"/>
            </a:xfrm>
          </p:grpSpPr>
          <p:sp>
            <p:nvSpPr>
              <p:cNvPr id="16" name="Freeform 16"/>
              <p:cNvSpPr/>
              <p:nvPr/>
            </p:nvSpPr>
            <p:spPr>
              <a:xfrm>
                <a:off x="1951038" y="44338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17" name="Freeform 17"/>
              <p:cNvSpPr/>
              <p:nvPr/>
            </p:nvSpPr>
            <p:spPr>
              <a:xfrm>
                <a:off x="1928813" y="45672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FFFFFF"/>
                </a:solidFill>
              </a:ln>
            </p:spPr>
          </p:sp>
          <p:sp>
            <p:nvSpPr>
              <p:cNvPr id="18" name="Freeform 18"/>
              <p:cNvSpPr/>
              <p:nvPr/>
            </p:nvSpPr>
            <p:spPr>
              <a:xfrm>
                <a:off x="2073276" y="443533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FFFFFF"/>
                </a:solidFill>
              </a:ln>
            </p:spPr>
          </p:sp>
          <p:sp>
            <p:nvSpPr>
              <p:cNvPr id="19" name="Freeform 19"/>
              <p:cNvSpPr/>
              <p:nvPr/>
            </p:nvSpPr>
            <p:spPr>
              <a:xfrm>
                <a:off x="2095501" y="456890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FFFFFF"/>
                </a:solidFill>
              </a:ln>
            </p:spPr>
          </p:sp>
        </p:grpSp>
        <p:sp>
          <p:nvSpPr>
            <p:cNvPr id="21" name="TextBox 21"/>
            <p:cNvSpPr txBox="1"/>
            <p:nvPr/>
          </p:nvSpPr>
          <p:spPr>
            <a:xfrm>
              <a:off x="1740789" y="49158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大众客户</a:t>
              </a:r>
            </a:p>
          </p:txBody>
        </p:sp>
        <p:sp>
          <p:nvSpPr>
            <p:cNvPr id="22" name="Polygon 22"/>
            <p:cNvSpPr/>
            <p:nvPr/>
          </p:nvSpPr>
          <p:spPr>
            <a:xfrm>
              <a:off x="885825" y="5534025"/>
              <a:ext cx="2286000" cy="1123950"/>
            </a:xfrm>
            <a:custGeom>
              <a:avLst/>
              <a:gdLst/>
              <a:ahLst/>
              <a:cxnLst/>
              <a:rect l="l" t="t" r="r" b="b"/>
              <a:pathLst>
                <a:path w="2286000" h="1123950">
                  <a:moveTo>
                    <a:pt x="133350" y="0"/>
                  </a:moveTo>
                  <a:lnTo>
                    <a:pt x="2152650" y="0"/>
                  </a:lnTo>
                  <a:lnTo>
                    <a:pt x="2286000" y="1123950"/>
                  </a:lnTo>
                  <a:lnTo>
                    <a:pt x="0" y="1123950"/>
                  </a:lnTo>
                  <a:close/>
                </a:path>
              </a:pathLst>
            </a:custGeom>
            <a:solidFill>
              <a:srgbClr val="EFC3B9"/>
            </a:solidFill>
            <a:ln>
              <a:noFill/>
            </a:ln>
          </p:spPr>
        </p:sp>
        <p:grpSp>
          <p:nvGrpSpPr>
            <p:cNvPr id="25" name="Group 25"/>
            <p:cNvGrpSpPr/>
            <p:nvPr/>
          </p:nvGrpSpPr>
          <p:grpSpPr>
            <a:xfrm>
              <a:off x="1917700" y="5827713"/>
              <a:ext cx="222251" cy="155575"/>
              <a:chOff x="1917700" y="5827713"/>
              <a:chExt cx="222251" cy="155575"/>
            </a:xfrm>
          </p:grpSpPr>
          <p:sp>
            <p:nvSpPr>
              <p:cNvPr id="23" name="Freeform 23"/>
              <p:cNvSpPr/>
              <p:nvPr/>
            </p:nvSpPr>
            <p:spPr>
              <a:xfrm>
                <a:off x="1917700" y="5827713"/>
                <a:ext cx="222251" cy="111125"/>
              </a:xfrm>
              <a:custGeom>
                <a:avLst/>
                <a:gdLst/>
                <a:ahLst/>
                <a:cxnLst/>
                <a:rect l="l" t="t" r="r" b="b"/>
                <a:pathLst>
                  <a:path w="222251" h="111125">
                    <a:moveTo>
                      <a:pt x="222251" y="44450"/>
                    </a:moveTo>
                    <a:lnTo>
                      <a:pt x="111125" y="0"/>
                    </a:lnTo>
                    <a:lnTo>
                      <a:pt x="0" y="44450"/>
                    </a:lnTo>
                    <a:lnTo>
                      <a:pt x="111125" y="88900"/>
                    </a:lnTo>
                    <a:lnTo>
                      <a:pt x="222251" y="44450"/>
                    </a:lnTo>
                    <a:lnTo>
                      <a:pt x="222251" y="111125"/>
                    </a:lnTo>
                  </a:path>
                </a:pathLst>
              </a:custGeom>
              <a:noFill/>
              <a:ln w="22225">
                <a:solidFill>
                  <a:srgbClr val="FFFFFF"/>
                </a:solidFill>
              </a:ln>
            </p:spPr>
          </p:sp>
          <p:sp>
            <p:nvSpPr>
              <p:cNvPr id="24" name="Freeform 24"/>
              <p:cNvSpPr/>
              <p:nvPr/>
            </p:nvSpPr>
            <p:spPr>
              <a:xfrm>
                <a:off x="1962150" y="5889943"/>
                <a:ext cx="133350" cy="93345"/>
              </a:xfrm>
              <a:custGeom>
                <a:avLst/>
                <a:gdLst/>
                <a:ahLst/>
                <a:cxnLst/>
                <a:rect l="l" t="t" r="r" b="b"/>
                <a:pathLst>
                  <a:path w="133350" h="93345">
                    <a:moveTo>
                      <a:pt x="0" y="0"/>
                    </a:moveTo>
                    <a:lnTo>
                      <a:pt x="0" y="60008"/>
                    </a:lnTo>
                    <a:cubicBezTo>
                      <a:pt x="0" y="78420"/>
                      <a:pt x="29851" y="93345"/>
                      <a:pt x="66675" y="93345"/>
                    </a:cubicBezTo>
                    <a:cubicBezTo>
                      <a:pt x="103499" y="93345"/>
                      <a:pt x="133350" y="78420"/>
                      <a:pt x="133350" y="60008"/>
                    </a:cubicBezTo>
                    <a:lnTo>
                      <a:pt x="133350" y="0"/>
                    </a:lnTo>
                  </a:path>
                </a:pathLst>
              </a:custGeom>
              <a:noFill/>
              <a:ln w="22225">
                <a:solidFill>
                  <a:srgbClr val="FFFFFF"/>
                </a:solidFill>
              </a:ln>
            </p:spPr>
          </p:sp>
        </p:grpSp>
        <p:sp>
          <p:nvSpPr>
            <p:cNvPr id="26" name="TextBox 26"/>
            <p:cNvSpPr txBox="1"/>
            <p:nvPr/>
          </p:nvSpPr>
          <p:spPr>
            <a:xfrm>
              <a:off x="1528762" y="6287452"/>
              <a:ext cx="1000125"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年轻及潜力客群</a:t>
              </a:r>
            </a:p>
          </p:txBody>
        </p:sp>
      </p:grpSp>
      <p:sp>
        <p:nvSpPr>
          <p:cNvPr id="28" name="deco-arrow-r1"/>
          <p:cNvSpPr/>
          <p:nvPr/>
        </p:nvSpPr>
        <p:spPr>
          <a:xfrm>
            <a:off x="3219450" y="1905000"/>
            <a:ext cx="133350" cy="171450"/>
          </a:xfrm>
          <a:custGeom>
            <a:avLst/>
            <a:gdLst/>
            <a:ahLst/>
            <a:cxnLst/>
            <a:rect l="l" t="t" r="r" b="b"/>
            <a:pathLst>
              <a:path w="133350" h="171450">
                <a:moveTo>
                  <a:pt x="0" y="0"/>
                </a:moveTo>
                <a:lnTo>
                  <a:pt x="133350" y="85725"/>
                </a:lnTo>
                <a:lnTo>
                  <a:pt x="0" y="171450"/>
                </a:lnTo>
                <a:close/>
              </a:path>
            </a:pathLst>
          </a:custGeom>
          <a:solidFill>
            <a:srgbClr val="B03A1F"/>
          </a:solidFill>
          <a:ln>
            <a:noFill/>
          </a:ln>
        </p:spPr>
      </p:sp>
      <p:sp>
        <p:nvSpPr>
          <p:cNvPr id="29" name="deco-arrow-r2"/>
          <p:cNvSpPr/>
          <p:nvPr/>
        </p:nvSpPr>
        <p:spPr>
          <a:xfrm>
            <a:off x="3219450" y="3305175"/>
            <a:ext cx="133350" cy="171450"/>
          </a:xfrm>
          <a:custGeom>
            <a:avLst/>
            <a:gdLst/>
            <a:ahLst/>
            <a:cxnLst/>
            <a:rect l="l" t="t" r="r" b="b"/>
            <a:pathLst>
              <a:path w="133350" h="171450">
                <a:moveTo>
                  <a:pt x="0" y="0"/>
                </a:moveTo>
                <a:lnTo>
                  <a:pt x="133350" y="85725"/>
                </a:lnTo>
                <a:lnTo>
                  <a:pt x="0" y="171450"/>
                </a:lnTo>
                <a:close/>
              </a:path>
            </a:pathLst>
          </a:custGeom>
          <a:solidFill>
            <a:srgbClr val="B03A1F"/>
          </a:solidFill>
          <a:ln>
            <a:noFill/>
          </a:ln>
        </p:spPr>
      </p:sp>
      <p:sp>
        <p:nvSpPr>
          <p:cNvPr id="30" name="deco-arrow-r3"/>
          <p:cNvSpPr/>
          <p:nvPr/>
        </p:nvSpPr>
        <p:spPr>
          <a:xfrm>
            <a:off x="3219450" y="4705350"/>
            <a:ext cx="133350" cy="171450"/>
          </a:xfrm>
          <a:custGeom>
            <a:avLst/>
            <a:gdLst/>
            <a:ahLst/>
            <a:cxnLst/>
            <a:rect l="l" t="t" r="r" b="b"/>
            <a:pathLst>
              <a:path w="133350" h="171450">
                <a:moveTo>
                  <a:pt x="0" y="0"/>
                </a:moveTo>
                <a:lnTo>
                  <a:pt x="133350" y="85725"/>
                </a:lnTo>
                <a:lnTo>
                  <a:pt x="0" y="171450"/>
                </a:lnTo>
                <a:close/>
              </a:path>
            </a:pathLst>
          </a:custGeom>
          <a:solidFill>
            <a:srgbClr val="B03A1F"/>
          </a:solidFill>
          <a:ln>
            <a:noFill/>
          </a:ln>
        </p:spPr>
      </p:sp>
      <p:sp>
        <p:nvSpPr>
          <p:cNvPr id="31" name="deco-arrow-r4"/>
          <p:cNvSpPr/>
          <p:nvPr/>
        </p:nvSpPr>
        <p:spPr>
          <a:xfrm>
            <a:off x="3219450" y="6010275"/>
            <a:ext cx="133350" cy="171450"/>
          </a:xfrm>
          <a:custGeom>
            <a:avLst/>
            <a:gdLst/>
            <a:ahLst/>
            <a:cxnLst/>
            <a:rect l="l" t="t" r="r" b="b"/>
            <a:pathLst>
              <a:path w="133350" h="171450">
                <a:moveTo>
                  <a:pt x="0" y="0"/>
                </a:moveTo>
                <a:lnTo>
                  <a:pt x="133350" y="85725"/>
                </a:lnTo>
                <a:lnTo>
                  <a:pt x="0" y="171450"/>
                </a:lnTo>
                <a:close/>
              </a:path>
            </a:pathLst>
          </a:custGeom>
          <a:solidFill>
            <a:srgbClr val="B03A1F"/>
          </a:solidFill>
          <a:ln>
            <a:noFill/>
          </a:ln>
        </p:spPr>
      </p:sp>
      <p:grpSp>
        <p:nvGrpSpPr>
          <p:cNvPr id="168" name="matrix"/>
          <p:cNvGrpSpPr/>
          <p:nvPr/>
        </p:nvGrpSpPr>
        <p:grpSpPr>
          <a:xfrm>
            <a:off x="3390900" y="847725"/>
            <a:ext cx="7905750" cy="5810250"/>
            <a:chOff x="3390900" y="847725"/>
            <a:chExt cx="7905750" cy="5810250"/>
          </a:xfrm>
        </p:grpSpPr>
        <p:grpSp>
          <p:nvGrpSpPr>
            <p:cNvPr id="58" name="matrix-head"/>
            <p:cNvGrpSpPr/>
            <p:nvPr/>
          </p:nvGrpSpPr>
          <p:grpSpPr>
            <a:xfrm>
              <a:off x="3390900" y="847725"/>
              <a:ext cx="7905750" cy="400050"/>
              <a:chOff x="3390900" y="847725"/>
              <a:chExt cx="7905750" cy="400050"/>
            </a:xfrm>
          </p:grpSpPr>
          <p:sp>
            <p:nvSpPr>
              <p:cNvPr id="32" name="Rectangle 32"/>
              <p:cNvSpPr/>
              <p:nvPr/>
            </p:nvSpPr>
            <p:spPr>
              <a:xfrm>
                <a:off x="3390900" y="847725"/>
                <a:ext cx="1905000" cy="400050"/>
              </a:xfrm>
              <a:prstGeom prst="rect">
                <a:avLst/>
              </a:prstGeom>
              <a:solidFill>
                <a:srgbClr val="B03A1F"/>
              </a:solidFill>
              <a:ln>
                <a:noFill/>
              </a:ln>
            </p:spPr>
          </p:sp>
          <p:grpSp>
            <p:nvGrpSpPr>
              <p:cNvPr id="36" name="Group 36"/>
              <p:cNvGrpSpPr/>
              <p:nvPr/>
            </p:nvGrpSpPr>
            <p:grpSpPr>
              <a:xfrm>
                <a:off x="3529012" y="966787"/>
                <a:ext cx="142875" cy="142875"/>
                <a:chOff x="3529012" y="966787"/>
                <a:chExt cx="142875" cy="142875"/>
              </a:xfrm>
            </p:grpSpPr>
            <p:sp>
              <p:nvSpPr>
                <p:cNvPr id="33" name="Freeform 33"/>
                <p:cNvSpPr/>
                <p:nvPr/>
              </p:nvSpPr>
              <p:spPr>
                <a:xfrm>
                  <a:off x="3592512" y="103028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34" name="Freeform 34"/>
                <p:cNvSpPr/>
                <p:nvPr/>
              </p:nvSpPr>
              <p:spPr>
                <a:xfrm>
                  <a:off x="3560762" y="99853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35" name="Freeform 35"/>
                <p:cNvSpPr/>
                <p:nvPr/>
              </p:nvSpPr>
              <p:spPr>
                <a:xfrm>
                  <a:off x="3529012" y="96678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37" name="TextBox 37"/>
              <p:cNvSpPr txBox="1"/>
              <p:nvPr/>
            </p:nvSpPr>
            <p:spPr>
              <a:xfrm>
                <a:off x="4131386" y="983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客群目标</a:t>
                </a:r>
              </a:p>
            </p:txBody>
          </p:sp>
          <p:sp>
            <p:nvSpPr>
              <p:cNvPr id="38" name="Rectangle 38"/>
              <p:cNvSpPr/>
              <p:nvPr/>
            </p:nvSpPr>
            <p:spPr>
              <a:xfrm>
                <a:off x="5391150" y="847725"/>
                <a:ext cx="1905000" cy="400050"/>
              </a:xfrm>
              <a:prstGeom prst="rect">
                <a:avLst/>
              </a:prstGeom>
              <a:solidFill>
                <a:srgbClr val="1E1E1E"/>
              </a:solidFill>
              <a:ln>
                <a:noFill/>
              </a:ln>
            </p:spPr>
          </p:sp>
          <p:grpSp>
            <p:nvGrpSpPr>
              <p:cNvPr id="42" name="Group 42"/>
              <p:cNvGrpSpPr/>
              <p:nvPr/>
            </p:nvGrpSpPr>
            <p:grpSpPr>
              <a:xfrm>
                <a:off x="5529262" y="966787"/>
                <a:ext cx="142875" cy="142875"/>
                <a:chOff x="5529262" y="966787"/>
                <a:chExt cx="142875" cy="142875"/>
              </a:xfrm>
            </p:grpSpPr>
            <p:sp>
              <p:nvSpPr>
                <p:cNvPr id="39" name="Freeform 39"/>
                <p:cNvSpPr/>
                <p:nvPr/>
              </p:nvSpPr>
              <p:spPr>
                <a:xfrm>
                  <a:off x="5529262" y="966787"/>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FFFFFF"/>
                  </a:solidFill>
                </a:ln>
              </p:spPr>
            </p:sp>
            <p:sp>
              <p:nvSpPr>
                <p:cNvPr id="40" name="Freeform 40"/>
                <p:cNvSpPr/>
                <p:nvPr/>
              </p:nvSpPr>
              <p:spPr>
                <a:xfrm>
                  <a:off x="5557647" y="998537"/>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FFFFFF"/>
                  </a:solidFill>
                </a:ln>
              </p:spPr>
            </p:sp>
            <p:sp>
              <p:nvSpPr>
                <p:cNvPr id="41" name="Freeform 41"/>
                <p:cNvSpPr/>
                <p:nvPr/>
              </p:nvSpPr>
              <p:spPr>
                <a:xfrm>
                  <a:off x="5582444" y="1077912"/>
                  <a:ext cx="36512" cy="9525"/>
                </a:xfrm>
                <a:custGeom>
                  <a:avLst/>
                  <a:gdLst/>
                  <a:ahLst/>
                  <a:cxnLst/>
                  <a:rect l="l" t="t" r="r" b="b"/>
                  <a:pathLst>
                    <a:path w="36512" h="9525">
                      <a:moveTo>
                        <a:pt x="0" y="0"/>
                      </a:moveTo>
                      <a:lnTo>
                        <a:pt x="36512" y="0"/>
                      </a:lnTo>
                    </a:path>
                  </a:pathLst>
                </a:custGeom>
                <a:noFill/>
                <a:ln w="15875">
                  <a:solidFill>
                    <a:srgbClr val="FFFFFF"/>
                  </a:solidFill>
                </a:ln>
              </p:spPr>
            </p:sp>
          </p:grpSp>
          <p:sp>
            <p:nvSpPr>
              <p:cNvPr id="43" name="TextBox 43"/>
              <p:cNvSpPr txBox="1"/>
              <p:nvPr/>
            </p:nvSpPr>
            <p:spPr>
              <a:xfrm>
                <a:off x="6131636" y="983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核心方案</a:t>
                </a:r>
              </a:p>
            </p:txBody>
          </p:sp>
          <p:sp>
            <p:nvSpPr>
              <p:cNvPr id="44" name="Rectangle 44"/>
              <p:cNvSpPr/>
              <p:nvPr/>
            </p:nvSpPr>
            <p:spPr>
              <a:xfrm>
                <a:off x="7391400" y="847725"/>
                <a:ext cx="1905000" cy="400050"/>
              </a:xfrm>
              <a:prstGeom prst="rect">
                <a:avLst/>
              </a:prstGeom>
              <a:solidFill>
                <a:srgbClr val="1E1E1E"/>
              </a:solidFill>
              <a:ln>
                <a:noFill/>
              </a:ln>
            </p:spPr>
          </p:sp>
          <p:grpSp>
            <p:nvGrpSpPr>
              <p:cNvPr id="49" name="Group 49"/>
              <p:cNvGrpSpPr/>
              <p:nvPr/>
            </p:nvGrpSpPr>
            <p:grpSpPr>
              <a:xfrm>
                <a:off x="7529512" y="966787"/>
                <a:ext cx="142875" cy="142875"/>
                <a:chOff x="7529512" y="966787"/>
                <a:chExt cx="142875" cy="142875"/>
              </a:xfrm>
            </p:grpSpPr>
            <p:sp>
              <p:nvSpPr>
                <p:cNvPr id="45" name="Freeform 45"/>
                <p:cNvSpPr/>
                <p:nvPr/>
              </p:nvSpPr>
              <p:spPr>
                <a:xfrm>
                  <a:off x="7545387" y="9667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46" name="Freeform 46"/>
                <p:cNvSpPr/>
                <p:nvPr/>
              </p:nvSpPr>
              <p:spPr>
                <a:xfrm>
                  <a:off x="7529512" y="106203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47" name="Freeform 47"/>
                <p:cNvSpPr/>
                <p:nvPr/>
              </p:nvSpPr>
              <p:spPr>
                <a:xfrm>
                  <a:off x="7632700" y="967819"/>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48" name="Freeform 48"/>
                <p:cNvSpPr/>
                <p:nvPr/>
              </p:nvSpPr>
              <p:spPr>
                <a:xfrm>
                  <a:off x="7648575" y="1063228"/>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50" name="TextBox 50"/>
              <p:cNvSpPr txBox="1"/>
              <p:nvPr/>
            </p:nvSpPr>
            <p:spPr>
              <a:xfrm>
                <a:off x="8131886" y="983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触达机制</a:t>
                </a:r>
              </a:p>
            </p:txBody>
          </p:sp>
          <p:sp>
            <p:nvSpPr>
              <p:cNvPr id="51" name="Rectangle 51"/>
              <p:cNvSpPr/>
              <p:nvPr/>
            </p:nvSpPr>
            <p:spPr>
              <a:xfrm>
                <a:off x="9391650" y="847725"/>
                <a:ext cx="1905000" cy="400050"/>
              </a:xfrm>
              <a:prstGeom prst="rect">
                <a:avLst/>
              </a:prstGeom>
              <a:solidFill>
                <a:srgbClr val="B03A1F"/>
              </a:solidFill>
              <a:ln>
                <a:noFill/>
              </a:ln>
            </p:spPr>
          </p:sp>
          <p:grpSp>
            <p:nvGrpSpPr>
              <p:cNvPr id="56" name="Group 56"/>
              <p:cNvGrpSpPr/>
              <p:nvPr/>
            </p:nvGrpSpPr>
            <p:grpSpPr>
              <a:xfrm>
                <a:off x="9529762" y="974725"/>
                <a:ext cx="142875" cy="136525"/>
                <a:chOff x="9529762" y="974725"/>
                <a:chExt cx="142875" cy="136525"/>
              </a:xfrm>
            </p:grpSpPr>
            <p:sp>
              <p:nvSpPr>
                <p:cNvPr id="52" name="Freeform 52"/>
                <p:cNvSpPr/>
                <p:nvPr/>
              </p:nvSpPr>
              <p:spPr>
                <a:xfrm>
                  <a:off x="9529762" y="1038225"/>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53" name="Freeform 53"/>
                <p:cNvSpPr/>
                <p:nvPr/>
              </p:nvSpPr>
              <p:spPr>
                <a:xfrm>
                  <a:off x="9625012" y="1006475"/>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54" name="Freeform 54"/>
                <p:cNvSpPr/>
                <p:nvPr/>
              </p:nvSpPr>
              <p:spPr>
                <a:xfrm>
                  <a:off x="9577387" y="974725"/>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55" name="Freeform 55"/>
                <p:cNvSpPr/>
                <p:nvPr/>
              </p:nvSpPr>
              <p:spPr>
                <a:xfrm>
                  <a:off x="9537700" y="1101725"/>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57" name="TextBox 57"/>
              <p:cNvSpPr txBox="1"/>
              <p:nvPr/>
            </p:nvSpPr>
            <p:spPr>
              <a:xfrm>
                <a:off x="10056749" y="983456"/>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二季度指标</a:t>
                </a:r>
              </a:p>
            </p:txBody>
          </p:sp>
        </p:grpSp>
        <p:grpSp>
          <p:nvGrpSpPr>
            <p:cNvPr id="87" name="row-private"/>
            <p:cNvGrpSpPr/>
            <p:nvPr/>
          </p:nvGrpSpPr>
          <p:grpSpPr>
            <a:xfrm>
              <a:off x="3390900" y="1333500"/>
              <a:ext cx="7905750" cy="1314450"/>
              <a:chOff x="3390900" y="1333500"/>
              <a:chExt cx="7905750" cy="1314450"/>
            </a:xfrm>
          </p:grpSpPr>
          <p:sp>
            <p:nvSpPr>
              <p:cNvPr id="59" name="Rectangle 59"/>
              <p:cNvSpPr/>
              <p:nvPr/>
            </p:nvSpPr>
            <p:spPr>
              <a:xfrm>
                <a:off x="3390900" y="1333500"/>
                <a:ext cx="1905000" cy="1314450"/>
              </a:xfrm>
              <a:prstGeom prst="rect">
                <a:avLst/>
              </a:prstGeom>
              <a:solidFill>
                <a:srgbClr val="FFFFFF"/>
              </a:solidFill>
              <a:ln w="9525">
                <a:solidFill>
                  <a:srgbClr val="E8E4E0"/>
                </a:solidFill>
              </a:ln>
            </p:spPr>
          </p:sp>
          <p:sp>
            <p:nvSpPr>
              <p:cNvPr id="60" name="Ellipse 60"/>
              <p:cNvSpPr/>
              <p:nvPr/>
            </p:nvSpPr>
            <p:spPr>
              <a:xfrm>
                <a:off x="3486150" y="1438275"/>
                <a:ext cx="228600" cy="228600"/>
              </a:xfrm>
              <a:prstGeom prst="ellipse">
                <a:avLst/>
              </a:prstGeom>
              <a:solidFill>
                <a:srgbClr val="B03A1F"/>
              </a:solidFill>
              <a:ln>
                <a:noFill/>
              </a:ln>
            </p:spPr>
          </p:sp>
          <p:grpSp>
            <p:nvGrpSpPr>
              <p:cNvPr id="64" name="Group 64"/>
              <p:cNvGrpSpPr/>
              <p:nvPr/>
            </p:nvGrpSpPr>
            <p:grpSpPr>
              <a:xfrm>
                <a:off x="3550444" y="1502569"/>
                <a:ext cx="100012" cy="100012"/>
                <a:chOff x="3550444" y="1502569"/>
                <a:chExt cx="100012" cy="100012"/>
              </a:xfrm>
            </p:grpSpPr>
            <p:sp>
              <p:nvSpPr>
                <p:cNvPr id="61" name="Freeform 61"/>
                <p:cNvSpPr/>
                <p:nvPr/>
              </p:nvSpPr>
              <p:spPr>
                <a:xfrm>
                  <a:off x="3594894" y="15470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62" name="Freeform 62"/>
                <p:cNvSpPr/>
                <p:nvPr/>
              </p:nvSpPr>
              <p:spPr>
                <a:xfrm>
                  <a:off x="3572669" y="152479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63" name="Freeform 63"/>
                <p:cNvSpPr/>
                <p:nvPr/>
              </p:nvSpPr>
              <p:spPr>
                <a:xfrm>
                  <a:off x="3550444" y="15025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65" name="TextBox 65"/>
              <p:cNvSpPr txBox="1"/>
              <p:nvPr/>
            </p:nvSpPr>
            <p:spPr>
              <a:xfrm>
                <a:off x="3519488" y="1743789"/>
                <a:ext cx="912495" cy="583406"/>
              </a:xfrm>
              <a:prstGeom prst="rect">
                <a:avLst/>
              </a:prstGeom>
              <a:noFill/>
              <a:ln>
                <a:noFill/>
              </a:ln>
            </p:spPr>
            <p:txBody>
              <a:bodyPr wrap="none" lIns="0" tIns="0" rIns="0" bIns="0" anchor="t" anchorCtr="0">
                <a:spAutoFit/>
              </a:bodyPr>
              <a:lstStyle/>
              <a:p>
                <a:pPr algn="l">
                  <a:lnSpc>
                    <a:spcPts val="1125"/>
                  </a:lnSpc>
                </a:pPr>
                <a:r>
                  <a:rPr lang="zh-CN" sz="790" dirty="0">
                    <a:solidFill>
                      <a:srgbClr val="3A3A3A"/>
                    </a:solidFill>
                    <a:latin typeface="+mn-lt"/>
                    <a:ea typeface="+mn-ea"/>
                    <a:cs typeface="+mn-cs"/>
                  </a:rPr>
                  <a:t>深耕高净值客群，</a:t>
                </a:r>
                <a:br/>
                <a:r>
                  <a:rPr lang="zh-CN" sz="790" dirty="0">
                    <a:solidFill>
                      <a:srgbClr val="3A3A3A"/>
                    </a:solidFill>
                    <a:latin typeface="+mn-lt"/>
                    <a:ea typeface="+mn-ea"/>
                    <a:cs typeface="+mn-cs"/>
                  </a:rPr>
                  <a:t>打造家族信托枢纽，</a:t>
                </a:r>
                <a:br/>
                <a:r>
                  <a:rPr lang="zh-CN" sz="790" dirty="0">
                    <a:solidFill>
                      <a:srgbClr val="3A3A3A"/>
                    </a:solidFill>
                    <a:latin typeface="+mn-lt"/>
                    <a:ea typeface="+mn-ea"/>
                    <a:cs typeface="+mn-cs"/>
                  </a:rPr>
                  <a:t>提升综合贡献与</a:t>
                </a:r>
                <a:br/>
                <a:r>
                  <a:rPr lang="zh-CN" sz="790" dirty="0">
                    <a:solidFill>
                      <a:srgbClr val="3A3A3A"/>
                    </a:solidFill>
                    <a:latin typeface="+mn-lt"/>
                    <a:ea typeface="+mn-ea"/>
                    <a:cs typeface="+mn-cs"/>
                  </a:rPr>
                  <a:t>世代传承。</a:t>
                </a:r>
              </a:p>
            </p:txBody>
          </p:sp>
          <p:sp>
            <p:nvSpPr>
              <p:cNvPr id="66" name="Rectangle 66"/>
              <p:cNvSpPr/>
              <p:nvPr/>
            </p:nvSpPr>
            <p:spPr>
              <a:xfrm>
                <a:off x="5391150" y="1333500"/>
                <a:ext cx="1905000" cy="1314450"/>
              </a:xfrm>
              <a:prstGeom prst="rect">
                <a:avLst/>
              </a:prstGeom>
              <a:solidFill>
                <a:srgbClr val="FFFFFF"/>
              </a:solidFill>
              <a:ln w="9525">
                <a:solidFill>
                  <a:srgbClr val="E8E4E0"/>
                </a:solidFill>
              </a:ln>
            </p:spPr>
          </p:sp>
          <p:sp>
            <p:nvSpPr>
              <p:cNvPr id="67" name="Freeform 67"/>
              <p:cNvSpPr/>
              <p:nvPr/>
            </p:nvSpPr>
            <p:spPr>
              <a:xfrm>
                <a:off x="5541351" y="1471571"/>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B03A1F"/>
                </a:solidFill>
              </a:ln>
            </p:spPr>
          </p:sp>
          <p:sp>
            <p:nvSpPr>
              <p:cNvPr id="68" name="TextBox 68"/>
              <p:cNvSpPr txBox="1"/>
              <p:nvPr/>
            </p:nvSpPr>
            <p:spPr>
              <a:xfrm>
                <a:off x="5729288" y="1474470"/>
                <a:ext cx="634094"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“家长长青”</a:t>
                </a:r>
              </a:p>
            </p:txBody>
          </p:sp>
          <p:sp>
            <p:nvSpPr>
              <p:cNvPr id="69" name="TextBox 69"/>
              <p:cNvSpPr txBox="1"/>
              <p:nvPr/>
            </p:nvSpPr>
            <p:spPr>
              <a:xfrm>
                <a:off x="5729288" y="1636395"/>
                <a:ext cx="715945"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1+N管家服务</a:t>
                </a:r>
              </a:p>
            </p:txBody>
          </p:sp>
          <p:sp>
            <p:nvSpPr>
              <p:cNvPr id="70" name="TextBox 70"/>
              <p:cNvSpPr txBox="1"/>
              <p:nvPr/>
            </p:nvSpPr>
            <p:spPr>
              <a:xfrm>
                <a:off x="5519738" y="1839039"/>
                <a:ext cx="1113155" cy="554831"/>
              </a:xfrm>
              <a:prstGeom prst="rect">
                <a:avLst/>
              </a:prstGeom>
              <a:noFill/>
              <a:ln>
                <a:noFill/>
              </a:ln>
            </p:spPr>
            <p:txBody>
              <a:bodyPr wrap="none" lIns="0" tIns="0" rIns="0" bIns="0" anchor="t" anchorCtr="0">
                <a:spAutoFit/>
              </a:bodyPr>
              <a:lstStyle/>
              <a:p>
                <a:pPr algn="l">
                  <a:lnSpc>
                    <a:spcPts val="1050"/>
                  </a:lnSpc>
                </a:pPr>
                <a:r>
                  <a:rPr lang="zh-CN" sz="790" dirty="0">
                    <a:solidFill>
                      <a:srgbClr val="3A3A3A"/>
                    </a:solidFill>
                    <a:latin typeface="+mn-lt"/>
                    <a:ea typeface="+mn-ea"/>
                    <a:cs typeface="+mn-cs"/>
                  </a:rPr>
                  <a:t>以家族为核心，</a:t>
                </a:r>
                <a:br/>
                <a:r>
                  <a:rPr lang="zh-CN" sz="790" dirty="0">
                    <a:solidFill>
                      <a:srgbClr val="3A3A3A"/>
                    </a:solidFill>
                    <a:latin typeface="+mn-lt"/>
                    <a:ea typeface="+mn-ea"/>
                    <a:cs typeface="+mn-cs"/>
                  </a:rPr>
                  <a:t>1位主管管家+N位</a:t>
                </a:r>
                <a:br/>
                <a:r>
                  <a:rPr lang="zh-CN" sz="790" dirty="0">
                    <a:solidFill>
                      <a:srgbClr val="3A3A3A"/>
                    </a:solidFill>
                    <a:latin typeface="+mn-lt"/>
                    <a:ea typeface="+mn-ea"/>
                    <a:cs typeface="+mn-cs"/>
                  </a:rPr>
                  <a:t>专业顾问，提供全方位、</a:t>
                </a:r>
                <a:br/>
                <a:r>
                  <a:rPr lang="zh-CN" sz="790" dirty="0">
                    <a:solidFill>
                      <a:srgbClr val="3A3A3A"/>
                    </a:solidFill>
                    <a:latin typeface="+mn-lt"/>
                    <a:ea typeface="+mn-ea"/>
                    <a:cs typeface="+mn-cs"/>
                  </a:rPr>
                  <a:t>跨周期、定制化服务。</a:t>
                </a:r>
              </a:p>
            </p:txBody>
          </p:sp>
          <p:sp>
            <p:nvSpPr>
              <p:cNvPr id="71" name="Rectangle 71"/>
              <p:cNvSpPr/>
              <p:nvPr/>
            </p:nvSpPr>
            <p:spPr>
              <a:xfrm>
                <a:off x="7391400" y="1333500"/>
                <a:ext cx="1905000" cy="1314450"/>
              </a:xfrm>
              <a:prstGeom prst="rect">
                <a:avLst/>
              </a:prstGeom>
              <a:solidFill>
                <a:srgbClr val="FFFFFF"/>
              </a:solidFill>
              <a:ln w="9525">
                <a:solidFill>
                  <a:srgbClr val="E8E4E0"/>
                </a:solidFill>
              </a:ln>
            </p:spPr>
          </p:sp>
          <p:sp>
            <p:nvSpPr>
              <p:cNvPr id="72" name="Ellipse 72"/>
              <p:cNvSpPr/>
              <p:nvPr/>
            </p:nvSpPr>
            <p:spPr>
              <a:xfrm>
                <a:off x="7519988" y="1557338"/>
                <a:ext cx="47625" cy="47625"/>
              </a:xfrm>
              <a:prstGeom prst="ellipse">
                <a:avLst/>
              </a:prstGeom>
              <a:solidFill>
                <a:srgbClr val="B03A1F"/>
              </a:solidFill>
              <a:ln>
                <a:noFill/>
              </a:ln>
            </p:spPr>
          </p:sp>
          <p:sp>
            <p:nvSpPr>
              <p:cNvPr id="73" name="TextBox 73"/>
              <p:cNvSpPr txBox="1"/>
              <p:nvPr/>
            </p:nvSpPr>
            <p:spPr>
              <a:xfrm>
                <a:off x="7624762" y="1534239"/>
                <a:ext cx="86032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专属管家深度经营</a:t>
                </a:r>
              </a:p>
            </p:txBody>
          </p:sp>
          <p:sp>
            <p:nvSpPr>
              <p:cNvPr id="74" name="Ellipse 74"/>
              <p:cNvSpPr/>
              <p:nvPr/>
            </p:nvSpPr>
            <p:spPr>
              <a:xfrm>
                <a:off x="7519988" y="1804988"/>
                <a:ext cx="47625" cy="47625"/>
              </a:xfrm>
              <a:prstGeom prst="ellipse">
                <a:avLst/>
              </a:prstGeom>
              <a:solidFill>
                <a:srgbClr val="B03A1F"/>
              </a:solidFill>
              <a:ln>
                <a:noFill/>
              </a:ln>
            </p:spPr>
          </p:sp>
          <p:sp>
            <p:nvSpPr>
              <p:cNvPr id="75" name="TextBox 75"/>
              <p:cNvSpPr txBox="1"/>
              <p:nvPr/>
            </p:nvSpPr>
            <p:spPr>
              <a:xfrm>
                <a:off x="7624762" y="1781889"/>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家族会议与传承沙龙</a:t>
                </a:r>
              </a:p>
            </p:txBody>
          </p:sp>
          <p:sp>
            <p:nvSpPr>
              <p:cNvPr id="76" name="Ellipse 76"/>
              <p:cNvSpPr/>
              <p:nvPr/>
            </p:nvSpPr>
            <p:spPr>
              <a:xfrm>
                <a:off x="7519988" y="2052638"/>
                <a:ext cx="47625" cy="47625"/>
              </a:xfrm>
              <a:prstGeom prst="ellipse">
                <a:avLst/>
              </a:prstGeom>
              <a:solidFill>
                <a:srgbClr val="B03A1F"/>
              </a:solidFill>
              <a:ln>
                <a:noFill/>
              </a:ln>
            </p:spPr>
          </p:sp>
          <p:sp>
            <p:nvSpPr>
              <p:cNvPr id="77" name="TextBox 77"/>
              <p:cNvSpPr txBox="1"/>
              <p:nvPr/>
            </p:nvSpPr>
            <p:spPr>
              <a:xfrm>
                <a:off x="7624762" y="2029539"/>
                <a:ext cx="64762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高端圈层活动</a:t>
                </a:r>
              </a:p>
            </p:txBody>
          </p:sp>
          <p:sp>
            <p:nvSpPr>
              <p:cNvPr id="78" name="Ellipse 78"/>
              <p:cNvSpPr/>
              <p:nvPr/>
            </p:nvSpPr>
            <p:spPr>
              <a:xfrm>
                <a:off x="7519988" y="2300288"/>
                <a:ext cx="47625" cy="47625"/>
              </a:xfrm>
              <a:prstGeom prst="ellipse">
                <a:avLst/>
              </a:prstGeom>
              <a:solidFill>
                <a:srgbClr val="B03A1F"/>
              </a:solidFill>
              <a:ln>
                <a:noFill/>
              </a:ln>
            </p:spPr>
          </p:sp>
          <p:sp>
            <p:nvSpPr>
              <p:cNvPr id="79" name="TextBox 79"/>
              <p:cNvSpPr txBox="1"/>
              <p:nvPr/>
            </p:nvSpPr>
            <p:spPr>
              <a:xfrm>
                <a:off x="7624762" y="2277189"/>
                <a:ext cx="86032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定制化陪伴与服务</a:t>
                </a:r>
              </a:p>
            </p:txBody>
          </p:sp>
          <p:sp>
            <p:nvSpPr>
              <p:cNvPr id="80" name="Rectangle 80"/>
              <p:cNvSpPr/>
              <p:nvPr/>
            </p:nvSpPr>
            <p:spPr>
              <a:xfrm>
                <a:off x="9391650" y="1333500"/>
                <a:ext cx="1905000" cy="1314450"/>
              </a:xfrm>
              <a:prstGeom prst="rect">
                <a:avLst/>
              </a:prstGeom>
              <a:solidFill>
                <a:srgbClr val="FFFFFF"/>
              </a:solidFill>
              <a:ln w="9525">
                <a:solidFill>
                  <a:srgbClr val="E8E4E0"/>
                </a:solidFill>
              </a:ln>
            </p:spPr>
          </p:sp>
          <p:sp>
            <p:nvSpPr>
              <p:cNvPr id="81" name="Ellipse 81"/>
              <p:cNvSpPr/>
              <p:nvPr/>
            </p:nvSpPr>
            <p:spPr>
              <a:xfrm>
                <a:off x="9520238" y="1557338"/>
                <a:ext cx="47625" cy="47625"/>
              </a:xfrm>
              <a:prstGeom prst="ellipse">
                <a:avLst/>
              </a:prstGeom>
              <a:solidFill>
                <a:srgbClr val="B03A1F"/>
              </a:solidFill>
              <a:ln>
                <a:noFill/>
              </a:ln>
            </p:spPr>
          </p:sp>
          <p:sp>
            <p:nvSpPr>
              <p:cNvPr id="82" name="TextBox 82"/>
              <p:cNvSpPr txBox="1"/>
              <p:nvPr/>
            </p:nvSpPr>
            <p:spPr>
              <a:xfrm>
                <a:off x="9625012" y="1534239"/>
                <a:ext cx="504052"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至少200户</a:t>
                </a:r>
              </a:p>
            </p:txBody>
          </p:sp>
          <p:sp>
            <p:nvSpPr>
              <p:cNvPr id="83" name="Ellipse 83"/>
              <p:cNvSpPr/>
              <p:nvPr/>
            </p:nvSpPr>
            <p:spPr>
              <a:xfrm>
                <a:off x="9520238" y="1804988"/>
                <a:ext cx="47625" cy="47625"/>
              </a:xfrm>
              <a:prstGeom prst="ellipse">
                <a:avLst/>
              </a:prstGeom>
              <a:solidFill>
                <a:srgbClr val="B03A1F"/>
              </a:solidFill>
              <a:ln>
                <a:noFill/>
              </a:ln>
            </p:spPr>
          </p:sp>
          <p:sp>
            <p:nvSpPr>
              <p:cNvPr id="84" name="TextBox 84"/>
              <p:cNvSpPr txBox="1"/>
              <p:nvPr/>
            </p:nvSpPr>
            <p:spPr>
              <a:xfrm>
                <a:off x="9625012" y="1781889"/>
                <a:ext cx="100602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综合开发率60%</a:t>
                </a:r>
                <a:r>
                  <a:rPr lang="zh-CN" sz="790" b="1" dirty="0">
                    <a:solidFill>
                      <a:srgbClr val="B03A1F"/>
                    </a:solidFill>
                    <a:latin typeface="+mn-lt"/>
                    <a:ea typeface="+mn-ea"/>
                    <a:cs typeface="+mn-cs"/>
                  </a:rPr>
                  <a:t>→75%</a:t>
                </a:r>
              </a:p>
            </p:txBody>
          </p:sp>
          <p:sp>
            <p:nvSpPr>
              <p:cNvPr id="85" name="Ellipse 85"/>
              <p:cNvSpPr/>
              <p:nvPr/>
            </p:nvSpPr>
            <p:spPr>
              <a:xfrm>
                <a:off x="9520238" y="2052638"/>
                <a:ext cx="47625" cy="47625"/>
              </a:xfrm>
              <a:prstGeom prst="ellipse">
                <a:avLst/>
              </a:prstGeom>
              <a:solidFill>
                <a:srgbClr val="B03A1F"/>
              </a:solidFill>
              <a:ln>
                <a:noFill/>
              </a:ln>
            </p:spPr>
          </p:sp>
          <p:sp>
            <p:nvSpPr>
              <p:cNvPr id="86" name="TextBox 86"/>
              <p:cNvSpPr txBox="1"/>
              <p:nvPr/>
            </p:nvSpPr>
            <p:spPr>
              <a:xfrm>
                <a:off x="9625012" y="2029539"/>
                <a:ext cx="1062092"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户均AUM增长</a:t>
                </a:r>
                <a:r>
                  <a:rPr lang="zh-CN" sz="790" b="1" dirty="0">
                    <a:solidFill>
                      <a:srgbClr val="B03A1F"/>
                    </a:solidFill>
                    <a:latin typeface="+mn-lt"/>
                    <a:ea typeface="+mn-ea"/>
                    <a:cs typeface="+mn-cs"/>
                  </a:rPr>
                  <a:t>10%</a:t>
                </a:r>
                <a:r>
                  <a:rPr lang="zh-CN" sz="790" dirty="0">
                    <a:solidFill>
                      <a:srgbClr val="3A3A3A"/>
                    </a:solidFill>
                    <a:latin typeface="+mn-lt"/>
                    <a:ea typeface="+mn-ea"/>
                    <a:cs typeface="+mn-cs"/>
                  </a:rPr>
                  <a:t>以上</a:t>
                </a:r>
              </a:p>
            </p:txBody>
          </p:sp>
        </p:grpSp>
        <p:grpSp>
          <p:nvGrpSpPr>
            <p:cNvPr id="113" name="row-wealth"/>
            <p:cNvGrpSpPr/>
            <p:nvPr/>
          </p:nvGrpSpPr>
          <p:grpSpPr>
            <a:xfrm>
              <a:off x="3390900" y="2733675"/>
              <a:ext cx="7905750" cy="1314450"/>
              <a:chOff x="3390900" y="2733675"/>
              <a:chExt cx="7905750" cy="1314450"/>
            </a:xfrm>
          </p:grpSpPr>
          <p:sp>
            <p:nvSpPr>
              <p:cNvPr id="88" name="Rectangle 88"/>
              <p:cNvSpPr/>
              <p:nvPr/>
            </p:nvSpPr>
            <p:spPr>
              <a:xfrm>
                <a:off x="3390900" y="2733675"/>
                <a:ext cx="1905000" cy="1314450"/>
              </a:xfrm>
              <a:prstGeom prst="rect">
                <a:avLst/>
              </a:prstGeom>
              <a:solidFill>
                <a:srgbClr val="FFFFFF"/>
              </a:solidFill>
              <a:ln w="9525">
                <a:solidFill>
                  <a:srgbClr val="E8E4E0"/>
                </a:solidFill>
              </a:ln>
            </p:spPr>
          </p:sp>
          <p:sp>
            <p:nvSpPr>
              <p:cNvPr id="89" name="Ellipse 89"/>
              <p:cNvSpPr/>
              <p:nvPr/>
            </p:nvSpPr>
            <p:spPr>
              <a:xfrm>
                <a:off x="3486150" y="2838450"/>
                <a:ext cx="228600" cy="228600"/>
              </a:xfrm>
              <a:prstGeom prst="ellipse">
                <a:avLst/>
              </a:prstGeom>
              <a:solidFill>
                <a:srgbClr val="B03A1F"/>
              </a:solidFill>
              <a:ln>
                <a:noFill/>
              </a:ln>
            </p:spPr>
          </p:sp>
          <p:grpSp>
            <p:nvGrpSpPr>
              <p:cNvPr id="93" name="Group 93"/>
              <p:cNvGrpSpPr/>
              <p:nvPr/>
            </p:nvGrpSpPr>
            <p:grpSpPr>
              <a:xfrm>
                <a:off x="3550444" y="2902744"/>
                <a:ext cx="100012" cy="100012"/>
                <a:chOff x="3550444" y="2902744"/>
                <a:chExt cx="100012" cy="100012"/>
              </a:xfrm>
            </p:grpSpPr>
            <p:sp>
              <p:nvSpPr>
                <p:cNvPr id="90" name="Freeform 90"/>
                <p:cNvSpPr/>
                <p:nvPr/>
              </p:nvSpPr>
              <p:spPr>
                <a:xfrm>
                  <a:off x="3594894" y="294719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91" name="Freeform 91"/>
                <p:cNvSpPr/>
                <p:nvPr/>
              </p:nvSpPr>
              <p:spPr>
                <a:xfrm>
                  <a:off x="3572669" y="2924969"/>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92" name="Freeform 92"/>
                <p:cNvSpPr/>
                <p:nvPr/>
              </p:nvSpPr>
              <p:spPr>
                <a:xfrm>
                  <a:off x="3550444" y="290274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94" name="TextBox 94"/>
              <p:cNvSpPr txBox="1"/>
              <p:nvPr/>
            </p:nvSpPr>
            <p:spPr>
              <a:xfrm>
                <a:off x="3519488" y="3143964"/>
                <a:ext cx="1012825" cy="440531"/>
              </a:xfrm>
              <a:prstGeom prst="rect">
                <a:avLst/>
              </a:prstGeom>
              <a:noFill/>
              <a:ln>
                <a:noFill/>
              </a:ln>
            </p:spPr>
            <p:txBody>
              <a:bodyPr wrap="none" lIns="0" tIns="0" rIns="0" bIns="0" anchor="t" anchorCtr="0">
                <a:spAutoFit/>
              </a:bodyPr>
              <a:lstStyle/>
              <a:p>
                <a:pPr algn="l">
                  <a:lnSpc>
                    <a:spcPts val="1125"/>
                  </a:lnSpc>
                </a:pPr>
                <a:r>
                  <a:rPr lang="zh-CN" sz="790" dirty="0">
                    <a:solidFill>
                      <a:srgbClr val="3A3A3A"/>
                    </a:solidFill>
                    <a:latin typeface="+mn-lt"/>
                    <a:ea typeface="+mn-ea"/>
                    <a:cs typeface="+mn-cs"/>
                  </a:rPr>
                  <a:t>提升资产配置质量，</a:t>
                </a:r>
                <a:br/>
                <a:r>
                  <a:rPr lang="zh-CN" sz="790" dirty="0">
                    <a:solidFill>
                      <a:srgbClr val="3A3A3A"/>
                    </a:solidFill>
                    <a:latin typeface="+mn-lt"/>
                    <a:ea typeface="+mn-ea"/>
                    <a:cs typeface="+mn-cs"/>
                  </a:rPr>
                  <a:t>增强产品黏性与留存，</a:t>
                </a:r>
                <a:br/>
                <a:r>
                  <a:rPr lang="zh-CN" sz="790" dirty="0">
                    <a:solidFill>
                      <a:srgbClr val="3A3A3A"/>
                    </a:solidFill>
                    <a:latin typeface="+mn-lt"/>
                    <a:ea typeface="+mn-ea"/>
                    <a:cs typeface="+mn-cs"/>
                  </a:rPr>
                  <a:t>稳步提升财富体量。</a:t>
                </a:r>
              </a:p>
            </p:txBody>
          </p:sp>
          <p:sp>
            <p:nvSpPr>
              <p:cNvPr id="95" name="Rectangle 95"/>
              <p:cNvSpPr/>
              <p:nvPr/>
            </p:nvSpPr>
            <p:spPr>
              <a:xfrm>
                <a:off x="5391150" y="2733675"/>
                <a:ext cx="1905000" cy="1314450"/>
              </a:xfrm>
              <a:prstGeom prst="rect">
                <a:avLst/>
              </a:prstGeom>
              <a:solidFill>
                <a:srgbClr val="FFFFFF"/>
              </a:solidFill>
              <a:ln w="9525">
                <a:solidFill>
                  <a:srgbClr val="E8E4E0"/>
                </a:solidFill>
              </a:ln>
            </p:spPr>
          </p:sp>
          <p:sp>
            <p:nvSpPr>
              <p:cNvPr id="96" name="Freeform 96"/>
              <p:cNvSpPr/>
              <p:nvPr/>
            </p:nvSpPr>
            <p:spPr>
              <a:xfrm>
                <a:off x="5541351" y="2871746"/>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B03A1F"/>
                </a:solidFill>
              </a:ln>
            </p:spPr>
          </p:sp>
          <p:sp>
            <p:nvSpPr>
              <p:cNvPr id="97" name="TextBox 97"/>
              <p:cNvSpPr txBox="1"/>
              <p:nvPr/>
            </p:nvSpPr>
            <p:spPr>
              <a:xfrm>
                <a:off x="5729288" y="2874645"/>
                <a:ext cx="876410"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“财富健康检查”</a:t>
                </a:r>
              </a:p>
            </p:txBody>
          </p:sp>
          <p:sp>
            <p:nvSpPr>
              <p:cNvPr id="98" name="TextBox 98"/>
              <p:cNvSpPr txBox="1"/>
              <p:nvPr/>
            </p:nvSpPr>
            <p:spPr>
              <a:xfrm>
                <a:off x="5519738" y="3077289"/>
                <a:ext cx="1012825" cy="554831"/>
              </a:xfrm>
              <a:prstGeom prst="rect">
                <a:avLst/>
              </a:prstGeom>
              <a:noFill/>
              <a:ln>
                <a:noFill/>
              </a:ln>
            </p:spPr>
            <p:txBody>
              <a:bodyPr wrap="none" lIns="0" tIns="0" rIns="0" bIns="0" anchor="t" anchorCtr="0">
                <a:spAutoFit/>
              </a:bodyPr>
              <a:lstStyle/>
              <a:p>
                <a:pPr algn="l">
                  <a:lnSpc>
                    <a:spcPts val="1050"/>
                  </a:lnSpc>
                </a:pPr>
                <a:r>
                  <a:rPr lang="zh-CN" sz="790" dirty="0">
                    <a:solidFill>
                      <a:srgbClr val="3A3A3A"/>
                    </a:solidFill>
                    <a:latin typeface="+mn-lt"/>
                    <a:ea typeface="+mn-ea"/>
                    <a:cs typeface="+mn-cs"/>
                  </a:rPr>
                  <a:t>基于客户全景诊断，</a:t>
                </a:r>
                <a:br/>
                <a:r>
                  <a:rPr lang="zh-CN" sz="790" dirty="0">
                    <a:solidFill>
                      <a:srgbClr val="3A3A3A"/>
                    </a:solidFill>
                    <a:latin typeface="+mn-lt"/>
                    <a:ea typeface="+mn-ea"/>
                    <a:cs typeface="+mn-cs"/>
                  </a:rPr>
                  <a:t>提供资产配置优化建议</a:t>
                </a:r>
                <a:br/>
                <a:r>
                  <a:rPr lang="zh-CN" sz="790" dirty="0">
                    <a:solidFill>
                      <a:srgbClr val="3A3A3A"/>
                    </a:solidFill>
                    <a:latin typeface="+mn-lt"/>
                    <a:ea typeface="+mn-ea"/>
                    <a:cs typeface="+mn-cs"/>
                  </a:rPr>
                  <a:t>与动态陪伴，守护财富</a:t>
                </a:r>
                <a:br/>
                <a:r>
                  <a:rPr lang="zh-CN" sz="790" dirty="0">
                    <a:solidFill>
                      <a:srgbClr val="3A3A3A"/>
                    </a:solidFill>
                    <a:latin typeface="+mn-lt"/>
                    <a:ea typeface="+mn-ea"/>
                    <a:cs typeface="+mn-cs"/>
                  </a:rPr>
                  <a:t>长效健康增长。</a:t>
                </a:r>
              </a:p>
            </p:txBody>
          </p:sp>
          <p:sp>
            <p:nvSpPr>
              <p:cNvPr id="99" name="Rectangle 99"/>
              <p:cNvSpPr/>
              <p:nvPr/>
            </p:nvSpPr>
            <p:spPr>
              <a:xfrm>
                <a:off x="7391400" y="2733675"/>
                <a:ext cx="1905000" cy="1314450"/>
              </a:xfrm>
              <a:prstGeom prst="rect">
                <a:avLst/>
              </a:prstGeom>
              <a:solidFill>
                <a:srgbClr val="FFFFFF"/>
              </a:solidFill>
              <a:ln w="9525">
                <a:solidFill>
                  <a:srgbClr val="E8E4E0"/>
                </a:solidFill>
              </a:ln>
            </p:spPr>
          </p:sp>
          <p:sp>
            <p:nvSpPr>
              <p:cNvPr id="100" name="Ellipse 100"/>
              <p:cNvSpPr/>
              <p:nvPr/>
            </p:nvSpPr>
            <p:spPr>
              <a:xfrm>
                <a:off x="7519988" y="2957512"/>
                <a:ext cx="47625" cy="47625"/>
              </a:xfrm>
              <a:prstGeom prst="ellipse">
                <a:avLst/>
              </a:prstGeom>
              <a:solidFill>
                <a:srgbClr val="B03A1F"/>
              </a:solidFill>
              <a:ln>
                <a:noFill/>
              </a:ln>
            </p:spPr>
          </p:sp>
          <p:sp>
            <p:nvSpPr>
              <p:cNvPr id="101" name="TextBox 101"/>
              <p:cNvSpPr txBox="1"/>
              <p:nvPr/>
            </p:nvSpPr>
            <p:spPr>
              <a:xfrm>
                <a:off x="7624762" y="2934414"/>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财富体检与诊断报告</a:t>
                </a:r>
              </a:p>
            </p:txBody>
          </p:sp>
          <p:sp>
            <p:nvSpPr>
              <p:cNvPr id="102" name="Ellipse 102"/>
              <p:cNvSpPr/>
              <p:nvPr/>
            </p:nvSpPr>
            <p:spPr>
              <a:xfrm>
                <a:off x="7519988" y="3205162"/>
                <a:ext cx="47625" cy="47625"/>
              </a:xfrm>
              <a:prstGeom prst="ellipse">
                <a:avLst/>
              </a:prstGeom>
              <a:solidFill>
                <a:srgbClr val="B03A1F"/>
              </a:solidFill>
              <a:ln>
                <a:noFill/>
              </a:ln>
            </p:spPr>
          </p:sp>
          <p:sp>
            <p:nvSpPr>
              <p:cNvPr id="103" name="TextBox 103"/>
              <p:cNvSpPr txBox="1"/>
              <p:nvPr/>
            </p:nvSpPr>
            <p:spPr>
              <a:xfrm>
                <a:off x="7624762" y="3182064"/>
                <a:ext cx="107302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专属财富顾问跟踪陪伴</a:t>
                </a:r>
              </a:p>
            </p:txBody>
          </p:sp>
          <p:sp>
            <p:nvSpPr>
              <p:cNvPr id="104" name="Ellipse 104"/>
              <p:cNvSpPr/>
              <p:nvPr/>
            </p:nvSpPr>
            <p:spPr>
              <a:xfrm>
                <a:off x="7519988" y="3452812"/>
                <a:ext cx="47625" cy="47625"/>
              </a:xfrm>
              <a:prstGeom prst="ellipse">
                <a:avLst/>
              </a:prstGeom>
              <a:solidFill>
                <a:srgbClr val="B03A1F"/>
              </a:solidFill>
              <a:ln>
                <a:noFill/>
              </a:ln>
            </p:spPr>
          </p:sp>
          <p:sp>
            <p:nvSpPr>
              <p:cNvPr id="105" name="TextBox 105"/>
              <p:cNvSpPr txBox="1"/>
              <p:nvPr/>
            </p:nvSpPr>
            <p:spPr>
              <a:xfrm>
                <a:off x="7624762" y="3429714"/>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线上直播与主题沙龙</a:t>
                </a:r>
              </a:p>
            </p:txBody>
          </p:sp>
          <p:sp>
            <p:nvSpPr>
              <p:cNvPr id="106" name="Ellipse 106"/>
              <p:cNvSpPr/>
              <p:nvPr/>
            </p:nvSpPr>
            <p:spPr>
              <a:xfrm>
                <a:off x="7519988" y="3700462"/>
                <a:ext cx="47625" cy="47625"/>
              </a:xfrm>
              <a:prstGeom prst="ellipse">
                <a:avLst/>
              </a:prstGeom>
              <a:solidFill>
                <a:srgbClr val="B03A1F"/>
              </a:solidFill>
              <a:ln>
                <a:noFill/>
              </a:ln>
            </p:spPr>
          </p:sp>
          <p:sp>
            <p:nvSpPr>
              <p:cNvPr id="107" name="TextBox 107"/>
              <p:cNvSpPr txBox="1"/>
              <p:nvPr/>
            </p:nvSpPr>
            <p:spPr>
              <a:xfrm>
                <a:off x="7624762" y="3677364"/>
                <a:ext cx="107302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定制化产品与资讯推送</a:t>
                </a:r>
              </a:p>
            </p:txBody>
          </p:sp>
          <p:sp>
            <p:nvSpPr>
              <p:cNvPr id="108" name="Rectangle 108"/>
              <p:cNvSpPr/>
              <p:nvPr/>
            </p:nvSpPr>
            <p:spPr>
              <a:xfrm>
                <a:off x="9391650" y="2733675"/>
                <a:ext cx="1905000" cy="1314450"/>
              </a:xfrm>
              <a:prstGeom prst="rect">
                <a:avLst/>
              </a:prstGeom>
              <a:solidFill>
                <a:srgbClr val="FFFFFF"/>
              </a:solidFill>
              <a:ln w="9525">
                <a:solidFill>
                  <a:srgbClr val="E8E4E0"/>
                </a:solidFill>
              </a:ln>
            </p:spPr>
          </p:sp>
          <p:sp>
            <p:nvSpPr>
              <p:cNvPr id="109" name="Ellipse 109"/>
              <p:cNvSpPr/>
              <p:nvPr/>
            </p:nvSpPr>
            <p:spPr>
              <a:xfrm>
                <a:off x="9520238" y="2957512"/>
                <a:ext cx="47625" cy="47625"/>
              </a:xfrm>
              <a:prstGeom prst="ellipse">
                <a:avLst/>
              </a:prstGeom>
              <a:solidFill>
                <a:srgbClr val="B03A1F"/>
              </a:solidFill>
              <a:ln>
                <a:noFill/>
              </a:ln>
            </p:spPr>
          </p:sp>
          <p:sp>
            <p:nvSpPr>
              <p:cNvPr id="110" name="TextBox 110"/>
              <p:cNvSpPr txBox="1"/>
              <p:nvPr/>
            </p:nvSpPr>
            <p:spPr>
              <a:xfrm>
                <a:off x="9625012" y="2934414"/>
                <a:ext cx="1240790"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产品渗透率提升</a:t>
                </a:r>
                <a:r>
                  <a:rPr lang="zh-CN" sz="790" b="1" dirty="0">
                    <a:solidFill>
                      <a:srgbClr val="B03A1F"/>
                    </a:solidFill>
                    <a:latin typeface="+mn-lt"/>
                    <a:ea typeface="+mn-ea"/>
                    <a:cs typeface="+mn-cs"/>
                  </a:rPr>
                  <a:t>8个百分点</a:t>
                </a:r>
              </a:p>
            </p:txBody>
          </p:sp>
          <p:sp>
            <p:nvSpPr>
              <p:cNvPr id="111" name="Ellipse 111"/>
              <p:cNvSpPr/>
              <p:nvPr/>
            </p:nvSpPr>
            <p:spPr>
              <a:xfrm>
                <a:off x="9520238" y="3205162"/>
                <a:ext cx="47625" cy="47625"/>
              </a:xfrm>
              <a:prstGeom prst="ellipse">
                <a:avLst/>
              </a:prstGeom>
              <a:solidFill>
                <a:srgbClr val="B03A1F"/>
              </a:solidFill>
              <a:ln>
                <a:noFill/>
              </a:ln>
            </p:spPr>
          </p:sp>
          <p:sp>
            <p:nvSpPr>
              <p:cNvPr id="112" name="TextBox 112"/>
              <p:cNvSpPr txBox="1"/>
              <p:nvPr/>
            </p:nvSpPr>
            <p:spPr>
              <a:xfrm>
                <a:off x="9625012" y="3182064"/>
                <a:ext cx="960558"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资产留存率</a:t>
                </a:r>
                <a:r>
                  <a:rPr lang="zh-CN" sz="790" b="1" dirty="0">
                    <a:solidFill>
                      <a:srgbClr val="B03A1F"/>
                    </a:solidFill>
                    <a:latin typeface="+mn-lt"/>
                    <a:ea typeface="+mn-ea"/>
                    <a:cs typeface="+mn-cs"/>
                  </a:rPr>
                  <a:t>95%</a:t>
                </a:r>
                <a:r>
                  <a:rPr lang="zh-CN" sz="790" dirty="0">
                    <a:solidFill>
                      <a:srgbClr val="3A3A3A"/>
                    </a:solidFill>
                    <a:latin typeface="+mn-lt"/>
                    <a:ea typeface="+mn-ea"/>
                    <a:cs typeface="+mn-cs"/>
                  </a:rPr>
                  <a:t>以上</a:t>
                </a:r>
              </a:p>
            </p:txBody>
          </p:sp>
        </p:grpSp>
        <p:grpSp>
          <p:nvGrpSpPr>
            <p:cNvPr id="139" name="row-mass"/>
            <p:cNvGrpSpPr/>
            <p:nvPr/>
          </p:nvGrpSpPr>
          <p:grpSpPr>
            <a:xfrm>
              <a:off x="3390900" y="4133850"/>
              <a:ext cx="7905750" cy="1314450"/>
              <a:chOff x="3390900" y="4133850"/>
              <a:chExt cx="7905750" cy="1314450"/>
            </a:xfrm>
          </p:grpSpPr>
          <p:sp>
            <p:nvSpPr>
              <p:cNvPr id="114" name="Rectangle 114"/>
              <p:cNvSpPr/>
              <p:nvPr/>
            </p:nvSpPr>
            <p:spPr>
              <a:xfrm>
                <a:off x="3390900" y="4133850"/>
                <a:ext cx="1905000" cy="1314450"/>
              </a:xfrm>
              <a:prstGeom prst="rect">
                <a:avLst/>
              </a:prstGeom>
              <a:solidFill>
                <a:srgbClr val="FFFFFF"/>
              </a:solidFill>
              <a:ln w="9525">
                <a:solidFill>
                  <a:srgbClr val="E8E4E0"/>
                </a:solidFill>
              </a:ln>
            </p:spPr>
          </p:sp>
          <p:sp>
            <p:nvSpPr>
              <p:cNvPr id="115" name="Ellipse 115"/>
              <p:cNvSpPr/>
              <p:nvPr/>
            </p:nvSpPr>
            <p:spPr>
              <a:xfrm>
                <a:off x="3486150" y="4238625"/>
                <a:ext cx="228600" cy="228600"/>
              </a:xfrm>
              <a:prstGeom prst="ellipse">
                <a:avLst/>
              </a:prstGeom>
              <a:solidFill>
                <a:srgbClr val="B03A1F"/>
              </a:solidFill>
              <a:ln>
                <a:noFill/>
              </a:ln>
            </p:spPr>
          </p:sp>
          <p:grpSp>
            <p:nvGrpSpPr>
              <p:cNvPr id="119" name="Group 119"/>
              <p:cNvGrpSpPr/>
              <p:nvPr/>
            </p:nvGrpSpPr>
            <p:grpSpPr>
              <a:xfrm>
                <a:off x="3550444" y="4302919"/>
                <a:ext cx="100012" cy="100012"/>
                <a:chOff x="3550444" y="4302919"/>
                <a:chExt cx="100012" cy="100012"/>
              </a:xfrm>
            </p:grpSpPr>
            <p:sp>
              <p:nvSpPr>
                <p:cNvPr id="116" name="Freeform 116"/>
                <p:cNvSpPr/>
                <p:nvPr/>
              </p:nvSpPr>
              <p:spPr>
                <a:xfrm>
                  <a:off x="3594894" y="434736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117" name="Freeform 117"/>
                <p:cNvSpPr/>
                <p:nvPr/>
              </p:nvSpPr>
              <p:spPr>
                <a:xfrm>
                  <a:off x="3572669" y="432514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118" name="Freeform 118"/>
                <p:cNvSpPr/>
                <p:nvPr/>
              </p:nvSpPr>
              <p:spPr>
                <a:xfrm>
                  <a:off x="3550444" y="43029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120" name="TextBox 120"/>
              <p:cNvSpPr txBox="1"/>
              <p:nvPr/>
            </p:nvSpPr>
            <p:spPr>
              <a:xfrm>
                <a:off x="3519488" y="4544139"/>
                <a:ext cx="1113155" cy="440531"/>
              </a:xfrm>
              <a:prstGeom prst="rect">
                <a:avLst/>
              </a:prstGeom>
              <a:noFill/>
              <a:ln>
                <a:noFill/>
              </a:ln>
            </p:spPr>
            <p:txBody>
              <a:bodyPr wrap="none" lIns="0" tIns="0" rIns="0" bIns="0" anchor="t" anchorCtr="0">
                <a:spAutoFit/>
              </a:bodyPr>
              <a:lstStyle/>
              <a:p>
                <a:pPr algn="l">
                  <a:lnSpc>
                    <a:spcPts val="1125"/>
                  </a:lnSpc>
                </a:pPr>
                <a:r>
                  <a:rPr lang="zh-CN" sz="790" dirty="0">
                    <a:solidFill>
                      <a:srgbClr val="3A3A3A"/>
                    </a:solidFill>
                    <a:latin typeface="+mn-lt"/>
                    <a:ea typeface="+mn-ea"/>
                    <a:cs typeface="+mn-cs"/>
                  </a:rPr>
                  <a:t>扩大客户覆盖与活跃，</a:t>
                </a:r>
                <a:br/>
                <a:r>
                  <a:rPr lang="zh-CN" sz="790" dirty="0">
                    <a:solidFill>
                      <a:srgbClr val="3A3A3A"/>
                    </a:solidFill>
                    <a:latin typeface="+mn-lt"/>
                    <a:ea typeface="+mn-ea"/>
                    <a:cs typeface="+mn-cs"/>
                  </a:rPr>
                  <a:t>提升产品使用深度，</a:t>
                </a:r>
                <a:br/>
                <a:r>
                  <a:rPr lang="zh-CN" sz="790" dirty="0">
                    <a:solidFill>
                      <a:srgbClr val="3A3A3A"/>
                    </a:solidFill>
                    <a:latin typeface="+mn-lt"/>
                    <a:ea typeface="+mn-ea"/>
                    <a:cs typeface="+mn-cs"/>
                  </a:rPr>
                  <a:t>增强客户价值与忠诚度。</a:t>
                </a:r>
              </a:p>
            </p:txBody>
          </p:sp>
          <p:sp>
            <p:nvSpPr>
              <p:cNvPr id="121" name="Rectangle 121"/>
              <p:cNvSpPr/>
              <p:nvPr/>
            </p:nvSpPr>
            <p:spPr>
              <a:xfrm>
                <a:off x="5391150" y="4133850"/>
                <a:ext cx="1905000" cy="1314450"/>
              </a:xfrm>
              <a:prstGeom prst="rect">
                <a:avLst/>
              </a:prstGeom>
              <a:solidFill>
                <a:srgbClr val="FFFFFF"/>
              </a:solidFill>
              <a:ln w="9525">
                <a:solidFill>
                  <a:srgbClr val="E8E4E0"/>
                </a:solidFill>
              </a:ln>
            </p:spPr>
          </p:sp>
          <p:sp>
            <p:nvSpPr>
              <p:cNvPr id="122" name="Freeform 122"/>
              <p:cNvSpPr/>
              <p:nvPr/>
            </p:nvSpPr>
            <p:spPr>
              <a:xfrm>
                <a:off x="5541351" y="4271921"/>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B03A1F"/>
                </a:solidFill>
              </a:ln>
            </p:spPr>
          </p:sp>
          <p:sp>
            <p:nvSpPr>
              <p:cNvPr id="123" name="TextBox 123"/>
              <p:cNvSpPr txBox="1"/>
              <p:nvPr/>
            </p:nvSpPr>
            <p:spPr>
              <a:xfrm>
                <a:off x="5729288" y="4274820"/>
                <a:ext cx="634094"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“星火燎原”</a:t>
                </a:r>
              </a:p>
            </p:txBody>
          </p:sp>
          <p:sp>
            <p:nvSpPr>
              <p:cNvPr id="124" name="TextBox 124"/>
              <p:cNvSpPr txBox="1"/>
              <p:nvPr/>
            </p:nvSpPr>
            <p:spPr>
              <a:xfrm>
                <a:off x="5519738" y="4477464"/>
                <a:ext cx="1213485" cy="421481"/>
              </a:xfrm>
              <a:prstGeom prst="rect">
                <a:avLst/>
              </a:prstGeom>
              <a:noFill/>
              <a:ln>
                <a:noFill/>
              </a:ln>
            </p:spPr>
            <p:txBody>
              <a:bodyPr wrap="none" lIns="0" tIns="0" rIns="0" bIns="0" anchor="t" anchorCtr="0">
                <a:spAutoFit/>
              </a:bodyPr>
              <a:lstStyle/>
              <a:p>
                <a:pPr algn="l">
                  <a:lnSpc>
                    <a:spcPts val="1050"/>
                  </a:lnSpc>
                </a:pPr>
                <a:r>
                  <a:rPr lang="zh-CN" sz="790" dirty="0">
                    <a:solidFill>
                      <a:srgbClr val="3A3A3A"/>
                    </a:solidFill>
                    <a:latin typeface="+mn-lt"/>
                    <a:ea typeface="+mn-ea"/>
                    <a:cs typeface="+mn-cs"/>
                  </a:rPr>
                  <a:t>以场景化服务与权益激励，</a:t>
                </a:r>
                <a:br/>
                <a:r>
                  <a:rPr lang="zh-CN" sz="790" dirty="0">
                    <a:solidFill>
                      <a:srgbClr val="3A3A3A"/>
                    </a:solidFill>
                    <a:latin typeface="+mn-lt"/>
                    <a:ea typeface="+mn-ea"/>
                    <a:cs typeface="+mn-cs"/>
                  </a:rPr>
                  <a:t>激活日常金融需求，</a:t>
                </a:r>
                <a:br/>
                <a:r>
                  <a:rPr lang="zh-CN" sz="790" dirty="0">
                    <a:solidFill>
                      <a:srgbClr val="3A3A3A"/>
                    </a:solidFill>
                    <a:latin typeface="+mn-lt"/>
                    <a:ea typeface="+mn-ea"/>
                    <a:cs typeface="+mn-cs"/>
                  </a:rPr>
                  <a:t>提升客户价值与黏性。</a:t>
                </a:r>
              </a:p>
            </p:txBody>
          </p:sp>
          <p:sp>
            <p:nvSpPr>
              <p:cNvPr id="125" name="Rectangle 125"/>
              <p:cNvSpPr/>
              <p:nvPr/>
            </p:nvSpPr>
            <p:spPr>
              <a:xfrm>
                <a:off x="7391400" y="4133850"/>
                <a:ext cx="1905000" cy="1314450"/>
              </a:xfrm>
              <a:prstGeom prst="rect">
                <a:avLst/>
              </a:prstGeom>
              <a:solidFill>
                <a:srgbClr val="FFFFFF"/>
              </a:solidFill>
              <a:ln w="9525">
                <a:solidFill>
                  <a:srgbClr val="E8E4E0"/>
                </a:solidFill>
              </a:ln>
            </p:spPr>
          </p:sp>
          <p:sp>
            <p:nvSpPr>
              <p:cNvPr id="126" name="Ellipse 126"/>
              <p:cNvSpPr/>
              <p:nvPr/>
            </p:nvSpPr>
            <p:spPr>
              <a:xfrm>
                <a:off x="7519988" y="4357688"/>
                <a:ext cx="47625" cy="47625"/>
              </a:xfrm>
              <a:prstGeom prst="ellipse">
                <a:avLst/>
              </a:prstGeom>
              <a:solidFill>
                <a:srgbClr val="B03A1F"/>
              </a:solidFill>
              <a:ln>
                <a:noFill/>
              </a:ln>
            </p:spPr>
          </p:sp>
          <p:sp>
            <p:nvSpPr>
              <p:cNvPr id="127" name="TextBox 127"/>
              <p:cNvSpPr txBox="1"/>
              <p:nvPr/>
            </p:nvSpPr>
            <p:spPr>
              <a:xfrm>
                <a:off x="7624762" y="4334589"/>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场景金融与权益活动</a:t>
                </a:r>
              </a:p>
            </p:txBody>
          </p:sp>
          <p:sp>
            <p:nvSpPr>
              <p:cNvPr id="128" name="Ellipse 128"/>
              <p:cNvSpPr/>
              <p:nvPr/>
            </p:nvSpPr>
            <p:spPr>
              <a:xfrm>
                <a:off x="7519988" y="4605338"/>
                <a:ext cx="47625" cy="47625"/>
              </a:xfrm>
              <a:prstGeom prst="ellipse">
                <a:avLst/>
              </a:prstGeom>
              <a:solidFill>
                <a:srgbClr val="B03A1F"/>
              </a:solidFill>
              <a:ln>
                <a:noFill/>
              </a:ln>
            </p:spPr>
          </p:sp>
          <p:sp>
            <p:nvSpPr>
              <p:cNvPr id="129" name="TextBox 129"/>
              <p:cNvSpPr txBox="1"/>
              <p:nvPr/>
            </p:nvSpPr>
            <p:spPr>
              <a:xfrm>
                <a:off x="7624762" y="4582239"/>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精准营销与内容触达</a:t>
                </a:r>
              </a:p>
            </p:txBody>
          </p:sp>
          <p:sp>
            <p:nvSpPr>
              <p:cNvPr id="130" name="Ellipse 130"/>
              <p:cNvSpPr/>
              <p:nvPr/>
            </p:nvSpPr>
            <p:spPr>
              <a:xfrm>
                <a:off x="7519988" y="4852988"/>
                <a:ext cx="47625" cy="47625"/>
              </a:xfrm>
              <a:prstGeom prst="ellipse">
                <a:avLst/>
              </a:prstGeom>
              <a:solidFill>
                <a:srgbClr val="B03A1F"/>
              </a:solidFill>
              <a:ln>
                <a:noFill/>
              </a:ln>
            </p:spPr>
          </p:sp>
          <p:sp>
            <p:nvSpPr>
              <p:cNvPr id="131" name="TextBox 131"/>
              <p:cNvSpPr txBox="1"/>
              <p:nvPr/>
            </p:nvSpPr>
            <p:spPr>
              <a:xfrm>
                <a:off x="7624762" y="4829889"/>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网点与线上协同服务</a:t>
                </a:r>
              </a:p>
            </p:txBody>
          </p:sp>
          <p:sp>
            <p:nvSpPr>
              <p:cNvPr id="132" name="Ellipse 132"/>
              <p:cNvSpPr/>
              <p:nvPr/>
            </p:nvSpPr>
            <p:spPr>
              <a:xfrm>
                <a:off x="7519988" y="5100638"/>
                <a:ext cx="47625" cy="47625"/>
              </a:xfrm>
              <a:prstGeom prst="ellipse">
                <a:avLst/>
              </a:prstGeom>
              <a:solidFill>
                <a:srgbClr val="B03A1F"/>
              </a:solidFill>
              <a:ln>
                <a:noFill/>
              </a:ln>
            </p:spPr>
          </p:sp>
          <p:sp>
            <p:nvSpPr>
              <p:cNvPr id="133" name="TextBox 133"/>
              <p:cNvSpPr txBox="1"/>
              <p:nvPr/>
            </p:nvSpPr>
            <p:spPr>
              <a:xfrm>
                <a:off x="7624762" y="5077539"/>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积分体系与客户回馈</a:t>
                </a:r>
              </a:p>
            </p:txBody>
          </p:sp>
          <p:sp>
            <p:nvSpPr>
              <p:cNvPr id="134" name="Rectangle 134"/>
              <p:cNvSpPr/>
              <p:nvPr/>
            </p:nvSpPr>
            <p:spPr>
              <a:xfrm>
                <a:off x="9391650" y="4133850"/>
                <a:ext cx="1905000" cy="1314450"/>
              </a:xfrm>
              <a:prstGeom prst="rect">
                <a:avLst/>
              </a:prstGeom>
              <a:solidFill>
                <a:srgbClr val="FFFFFF"/>
              </a:solidFill>
              <a:ln w="9525">
                <a:solidFill>
                  <a:srgbClr val="E8E4E0"/>
                </a:solidFill>
              </a:ln>
            </p:spPr>
          </p:sp>
          <p:sp>
            <p:nvSpPr>
              <p:cNvPr id="135" name="Ellipse 135"/>
              <p:cNvSpPr/>
              <p:nvPr/>
            </p:nvSpPr>
            <p:spPr>
              <a:xfrm>
                <a:off x="9520238" y="4357688"/>
                <a:ext cx="47625" cy="47625"/>
              </a:xfrm>
              <a:prstGeom prst="ellipse">
                <a:avLst/>
              </a:prstGeom>
              <a:solidFill>
                <a:srgbClr val="B03A1F"/>
              </a:solidFill>
              <a:ln>
                <a:noFill/>
              </a:ln>
            </p:spPr>
          </p:sp>
          <p:sp>
            <p:nvSpPr>
              <p:cNvPr id="136" name="TextBox 136"/>
              <p:cNvSpPr txBox="1"/>
              <p:nvPr/>
            </p:nvSpPr>
            <p:spPr>
              <a:xfrm>
                <a:off x="9625012" y="4334589"/>
                <a:ext cx="747858"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价值提升率</a:t>
                </a:r>
                <a:r>
                  <a:rPr lang="zh-CN" sz="790" b="1" dirty="0">
                    <a:solidFill>
                      <a:srgbClr val="B03A1F"/>
                    </a:solidFill>
                    <a:latin typeface="+mn-lt"/>
                    <a:ea typeface="+mn-ea"/>
                    <a:cs typeface="+mn-cs"/>
                  </a:rPr>
                  <a:t>15%</a:t>
                </a:r>
              </a:p>
            </p:txBody>
          </p:sp>
          <p:sp>
            <p:nvSpPr>
              <p:cNvPr id="137" name="Ellipse 137"/>
              <p:cNvSpPr/>
              <p:nvPr/>
            </p:nvSpPr>
            <p:spPr>
              <a:xfrm>
                <a:off x="9520238" y="4605338"/>
                <a:ext cx="47625" cy="47625"/>
              </a:xfrm>
              <a:prstGeom prst="ellipse">
                <a:avLst/>
              </a:prstGeom>
              <a:solidFill>
                <a:srgbClr val="B03A1F"/>
              </a:solidFill>
              <a:ln>
                <a:noFill/>
              </a:ln>
            </p:spPr>
          </p:sp>
          <p:sp>
            <p:nvSpPr>
              <p:cNvPr id="138" name="TextBox 138"/>
              <p:cNvSpPr txBox="1"/>
              <p:nvPr/>
            </p:nvSpPr>
            <p:spPr>
              <a:xfrm>
                <a:off x="9625012" y="4582239"/>
                <a:ext cx="115092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流失率再降</a:t>
                </a:r>
                <a:r>
                  <a:rPr lang="zh-CN" sz="790" b="1" dirty="0">
                    <a:solidFill>
                      <a:srgbClr val="B03A1F"/>
                    </a:solidFill>
                    <a:latin typeface="+mn-lt"/>
                    <a:ea typeface="+mn-ea"/>
                    <a:cs typeface="+mn-cs"/>
                  </a:rPr>
                  <a:t>0.5个百分点</a:t>
                </a:r>
              </a:p>
            </p:txBody>
          </p:sp>
        </p:grpSp>
        <p:grpSp>
          <p:nvGrpSpPr>
            <p:cNvPr id="167" name="row-youth"/>
            <p:cNvGrpSpPr/>
            <p:nvPr/>
          </p:nvGrpSpPr>
          <p:grpSpPr>
            <a:xfrm>
              <a:off x="3390900" y="5534025"/>
              <a:ext cx="7905750" cy="1123950"/>
              <a:chOff x="3390900" y="5534025"/>
              <a:chExt cx="7905750" cy="1123950"/>
            </a:xfrm>
          </p:grpSpPr>
          <p:sp>
            <p:nvSpPr>
              <p:cNvPr id="140" name="Rectangle 140"/>
              <p:cNvSpPr/>
              <p:nvPr/>
            </p:nvSpPr>
            <p:spPr>
              <a:xfrm>
                <a:off x="3390900" y="5534025"/>
                <a:ext cx="1905000" cy="1123950"/>
              </a:xfrm>
              <a:prstGeom prst="rect">
                <a:avLst/>
              </a:prstGeom>
              <a:solidFill>
                <a:srgbClr val="FFFFFF"/>
              </a:solidFill>
              <a:ln w="9525">
                <a:solidFill>
                  <a:srgbClr val="E8E4E0"/>
                </a:solidFill>
              </a:ln>
            </p:spPr>
          </p:sp>
          <p:sp>
            <p:nvSpPr>
              <p:cNvPr id="141" name="Ellipse 141"/>
              <p:cNvSpPr/>
              <p:nvPr/>
            </p:nvSpPr>
            <p:spPr>
              <a:xfrm>
                <a:off x="3486150" y="5619750"/>
                <a:ext cx="228600" cy="228600"/>
              </a:xfrm>
              <a:prstGeom prst="ellipse">
                <a:avLst/>
              </a:prstGeom>
              <a:solidFill>
                <a:srgbClr val="B03A1F"/>
              </a:solidFill>
              <a:ln>
                <a:noFill/>
              </a:ln>
            </p:spPr>
          </p:sp>
          <p:grpSp>
            <p:nvGrpSpPr>
              <p:cNvPr id="145" name="Group 145"/>
              <p:cNvGrpSpPr/>
              <p:nvPr/>
            </p:nvGrpSpPr>
            <p:grpSpPr>
              <a:xfrm>
                <a:off x="3550444" y="5684044"/>
                <a:ext cx="100012" cy="100012"/>
                <a:chOff x="3550444" y="5684044"/>
                <a:chExt cx="100012" cy="100012"/>
              </a:xfrm>
            </p:grpSpPr>
            <p:sp>
              <p:nvSpPr>
                <p:cNvPr id="142" name="Freeform 142"/>
                <p:cNvSpPr/>
                <p:nvPr/>
              </p:nvSpPr>
              <p:spPr>
                <a:xfrm>
                  <a:off x="3594894" y="572849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143" name="Freeform 143"/>
                <p:cNvSpPr/>
                <p:nvPr/>
              </p:nvSpPr>
              <p:spPr>
                <a:xfrm>
                  <a:off x="3572669" y="5706269"/>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144" name="Freeform 144"/>
                <p:cNvSpPr/>
                <p:nvPr/>
              </p:nvSpPr>
              <p:spPr>
                <a:xfrm>
                  <a:off x="3550444" y="568404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146" name="TextBox 146"/>
              <p:cNvSpPr txBox="1"/>
              <p:nvPr/>
            </p:nvSpPr>
            <p:spPr>
              <a:xfrm>
                <a:off x="3519488" y="5915739"/>
                <a:ext cx="1113155" cy="440531"/>
              </a:xfrm>
              <a:prstGeom prst="rect">
                <a:avLst/>
              </a:prstGeom>
              <a:noFill/>
              <a:ln>
                <a:noFill/>
              </a:ln>
            </p:spPr>
            <p:txBody>
              <a:bodyPr wrap="none" lIns="0" tIns="0" rIns="0" bIns="0" anchor="t" anchorCtr="0">
                <a:spAutoFit/>
              </a:bodyPr>
              <a:lstStyle/>
              <a:p>
                <a:pPr algn="l">
                  <a:lnSpc>
                    <a:spcPts val="1125"/>
                  </a:lnSpc>
                </a:pPr>
                <a:r>
                  <a:rPr lang="zh-CN" sz="790" dirty="0">
                    <a:solidFill>
                      <a:srgbClr val="3A3A3A"/>
                    </a:solidFill>
                    <a:latin typeface="+mn-lt"/>
                    <a:ea typeface="+mn-ea"/>
                    <a:cs typeface="+mn-cs"/>
                  </a:rPr>
                  <a:t>培育年轻客群长期价值，</a:t>
                </a:r>
                <a:br/>
                <a:r>
                  <a:rPr lang="zh-CN" sz="790" dirty="0">
                    <a:solidFill>
                      <a:srgbClr val="3A3A3A"/>
                    </a:solidFill>
                    <a:latin typeface="+mn-lt"/>
                    <a:ea typeface="+mn-ea"/>
                    <a:cs typeface="+mn-cs"/>
                  </a:rPr>
                  <a:t>建立陪伴与信任关系，</a:t>
                </a:r>
                <a:br/>
                <a:r>
                  <a:rPr lang="zh-CN" sz="790" dirty="0">
                    <a:solidFill>
                      <a:srgbClr val="3A3A3A"/>
                    </a:solidFill>
                    <a:latin typeface="+mn-lt"/>
                    <a:ea typeface="+mn-ea"/>
                    <a:cs typeface="+mn-cs"/>
                  </a:rPr>
                  <a:t>沉淀未来核心资产。</a:t>
                </a:r>
              </a:p>
            </p:txBody>
          </p:sp>
          <p:sp>
            <p:nvSpPr>
              <p:cNvPr id="147" name="Rectangle 147"/>
              <p:cNvSpPr/>
              <p:nvPr/>
            </p:nvSpPr>
            <p:spPr>
              <a:xfrm>
                <a:off x="5391150" y="5534025"/>
                <a:ext cx="1905000" cy="1123950"/>
              </a:xfrm>
              <a:prstGeom prst="rect">
                <a:avLst/>
              </a:prstGeom>
              <a:solidFill>
                <a:srgbClr val="FFFFFF"/>
              </a:solidFill>
              <a:ln w="9525">
                <a:solidFill>
                  <a:srgbClr val="E8E4E0"/>
                </a:solidFill>
              </a:ln>
            </p:spPr>
          </p:sp>
          <p:sp>
            <p:nvSpPr>
              <p:cNvPr id="148" name="Freeform 148"/>
              <p:cNvSpPr/>
              <p:nvPr/>
            </p:nvSpPr>
            <p:spPr>
              <a:xfrm>
                <a:off x="5541351" y="5653046"/>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B03A1F"/>
                </a:solidFill>
              </a:ln>
            </p:spPr>
          </p:sp>
          <p:sp>
            <p:nvSpPr>
              <p:cNvPr id="149" name="TextBox 149"/>
              <p:cNvSpPr txBox="1"/>
              <p:nvPr/>
            </p:nvSpPr>
            <p:spPr>
              <a:xfrm>
                <a:off x="5729288" y="5655945"/>
                <a:ext cx="1118726"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“未来青苗”成长陪伴</a:t>
                </a:r>
              </a:p>
            </p:txBody>
          </p:sp>
          <p:sp>
            <p:nvSpPr>
              <p:cNvPr id="150" name="TextBox 150"/>
              <p:cNvSpPr txBox="1"/>
              <p:nvPr/>
            </p:nvSpPr>
            <p:spPr>
              <a:xfrm>
                <a:off x="5519738" y="5849064"/>
                <a:ext cx="1313815" cy="421481"/>
              </a:xfrm>
              <a:prstGeom prst="rect">
                <a:avLst/>
              </a:prstGeom>
              <a:noFill/>
              <a:ln>
                <a:noFill/>
              </a:ln>
            </p:spPr>
            <p:txBody>
              <a:bodyPr wrap="none" lIns="0" tIns="0" rIns="0" bIns="0" anchor="t" anchorCtr="0">
                <a:spAutoFit/>
              </a:bodyPr>
              <a:lstStyle/>
              <a:p>
                <a:pPr algn="l">
                  <a:lnSpc>
                    <a:spcPts val="1050"/>
                  </a:lnSpc>
                </a:pPr>
                <a:r>
                  <a:rPr lang="zh-CN" sz="790" dirty="0">
                    <a:solidFill>
                      <a:srgbClr val="3A3A3A"/>
                    </a:solidFill>
                    <a:latin typeface="+mn-lt"/>
                    <a:ea typeface="+mn-ea"/>
                    <a:cs typeface="+mn-cs"/>
                  </a:rPr>
                  <a:t>围绕学习、成长、规划与</a:t>
                </a:r>
                <a:br/>
                <a:r>
                  <a:rPr lang="zh-CN" sz="790" dirty="0">
                    <a:solidFill>
                      <a:srgbClr val="3A3A3A"/>
                    </a:solidFill>
                    <a:latin typeface="+mn-lt"/>
                    <a:ea typeface="+mn-ea"/>
                    <a:cs typeface="+mn-cs"/>
                  </a:rPr>
                  <a:t>生活场景，提供陪伴式服务，</a:t>
                </a:r>
                <a:br/>
                <a:r>
                  <a:rPr lang="zh-CN" sz="790" dirty="0">
                    <a:solidFill>
                      <a:srgbClr val="3A3A3A"/>
                    </a:solidFill>
                    <a:latin typeface="+mn-lt"/>
                    <a:ea typeface="+mn-ea"/>
                    <a:cs typeface="+mn-cs"/>
                  </a:rPr>
                  <a:t>助力成长，成就更好。</a:t>
                </a:r>
              </a:p>
            </p:txBody>
          </p:sp>
          <p:sp>
            <p:nvSpPr>
              <p:cNvPr id="151" name="Rectangle 151"/>
              <p:cNvSpPr/>
              <p:nvPr/>
            </p:nvSpPr>
            <p:spPr>
              <a:xfrm>
                <a:off x="7391400" y="5534025"/>
                <a:ext cx="1905000" cy="1123950"/>
              </a:xfrm>
              <a:prstGeom prst="rect">
                <a:avLst/>
              </a:prstGeom>
              <a:solidFill>
                <a:srgbClr val="FFFFFF"/>
              </a:solidFill>
              <a:ln w="9525">
                <a:solidFill>
                  <a:srgbClr val="E8E4E0"/>
                </a:solidFill>
              </a:ln>
            </p:spPr>
          </p:sp>
          <p:sp>
            <p:nvSpPr>
              <p:cNvPr id="152" name="Ellipse 152"/>
              <p:cNvSpPr/>
              <p:nvPr/>
            </p:nvSpPr>
            <p:spPr>
              <a:xfrm>
                <a:off x="7519988" y="5738812"/>
                <a:ext cx="47625" cy="47625"/>
              </a:xfrm>
              <a:prstGeom prst="ellipse">
                <a:avLst/>
              </a:prstGeom>
              <a:solidFill>
                <a:srgbClr val="B03A1F"/>
              </a:solidFill>
              <a:ln>
                <a:noFill/>
              </a:ln>
            </p:spPr>
          </p:sp>
          <p:sp>
            <p:nvSpPr>
              <p:cNvPr id="153" name="TextBox 153"/>
              <p:cNvSpPr txBox="1"/>
              <p:nvPr/>
            </p:nvSpPr>
            <p:spPr>
              <a:xfrm>
                <a:off x="7624762" y="5715714"/>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青年成长社群与课程</a:t>
                </a:r>
              </a:p>
            </p:txBody>
          </p:sp>
          <p:sp>
            <p:nvSpPr>
              <p:cNvPr id="154" name="Ellipse 154"/>
              <p:cNvSpPr/>
              <p:nvPr/>
            </p:nvSpPr>
            <p:spPr>
              <a:xfrm>
                <a:off x="7519988" y="5967412"/>
                <a:ext cx="47625" cy="47625"/>
              </a:xfrm>
              <a:prstGeom prst="ellipse">
                <a:avLst/>
              </a:prstGeom>
              <a:solidFill>
                <a:srgbClr val="B03A1F"/>
              </a:solidFill>
              <a:ln>
                <a:noFill/>
              </a:ln>
            </p:spPr>
          </p:sp>
          <p:sp>
            <p:nvSpPr>
              <p:cNvPr id="155" name="TextBox 155"/>
              <p:cNvSpPr txBox="1"/>
              <p:nvPr/>
            </p:nvSpPr>
            <p:spPr>
              <a:xfrm>
                <a:off x="7624762" y="5944314"/>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职业发展与实习资源</a:t>
                </a:r>
              </a:p>
            </p:txBody>
          </p:sp>
          <p:sp>
            <p:nvSpPr>
              <p:cNvPr id="156" name="Ellipse 156"/>
              <p:cNvSpPr/>
              <p:nvPr/>
            </p:nvSpPr>
            <p:spPr>
              <a:xfrm>
                <a:off x="7519988" y="6196012"/>
                <a:ext cx="47625" cy="47625"/>
              </a:xfrm>
              <a:prstGeom prst="ellipse">
                <a:avLst/>
              </a:prstGeom>
              <a:solidFill>
                <a:srgbClr val="B03A1F"/>
              </a:solidFill>
              <a:ln>
                <a:noFill/>
              </a:ln>
            </p:spPr>
          </p:sp>
          <p:sp>
            <p:nvSpPr>
              <p:cNvPr id="157" name="TextBox 157"/>
              <p:cNvSpPr txBox="1"/>
              <p:nvPr/>
            </p:nvSpPr>
            <p:spPr>
              <a:xfrm>
                <a:off x="7624762" y="6172914"/>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专属权益与体验活动</a:t>
                </a:r>
              </a:p>
            </p:txBody>
          </p:sp>
          <p:sp>
            <p:nvSpPr>
              <p:cNvPr id="158" name="Ellipse 158"/>
              <p:cNvSpPr/>
              <p:nvPr/>
            </p:nvSpPr>
            <p:spPr>
              <a:xfrm>
                <a:off x="7519988" y="6424612"/>
                <a:ext cx="47625" cy="47625"/>
              </a:xfrm>
              <a:prstGeom prst="ellipse">
                <a:avLst/>
              </a:prstGeom>
              <a:solidFill>
                <a:srgbClr val="B03A1F"/>
              </a:solidFill>
              <a:ln>
                <a:noFill/>
              </a:ln>
            </p:spPr>
          </p:sp>
          <p:sp>
            <p:nvSpPr>
              <p:cNvPr id="159" name="TextBox 159"/>
              <p:cNvSpPr txBox="1"/>
              <p:nvPr/>
            </p:nvSpPr>
            <p:spPr>
              <a:xfrm>
                <a:off x="7624762" y="6401514"/>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社群运营与互动陪伴</a:t>
                </a:r>
              </a:p>
            </p:txBody>
          </p:sp>
          <p:sp>
            <p:nvSpPr>
              <p:cNvPr id="160" name="Rectangle 160"/>
              <p:cNvSpPr/>
              <p:nvPr/>
            </p:nvSpPr>
            <p:spPr>
              <a:xfrm>
                <a:off x="9391650" y="5534025"/>
                <a:ext cx="1905000" cy="1123950"/>
              </a:xfrm>
              <a:prstGeom prst="rect">
                <a:avLst/>
              </a:prstGeom>
              <a:solidFill>
                <a:srgbClr val="FFFFFF"/>
              </a:solidFill>
              <a:ln w="9525">
                <a:solidFill>
                  <a:srgbClr val="E8E4E0"/>
                </a:solidFill>
              </a:ln>
            </p:spPr>
          </p:sp>
          <p:sp>
            <p:nvSpPr>
              <p:cNvPr id="161" name="Ellipse 161"/>
              <p:cNvSpPr/>
              <p:nvPr/>
            </p:nvSpPr>
            <p:spPr>
              <a:xfrm>
                <a:off x="9520238" y="5738812"/>
                <a:ext cx="47625" cy="47625"/>
              </a:xfrm>
              <a:prstGeom prst="ellipse">
                <a:avLst/>
              </a:prstGeom>
              <a:solidFill>
                <a:srgbClr val="B03A1F"/>
              </a:solidFill>
              <a:ln>
                <a:noFill/>
              </a:ln>
            </p:spPr>
          </p:sp>
          <p:sp>
            <p:nvSpPr>
              <p:cNvPr id="162" name="TextBox 162"/>
              <p:cNvSpPr txBox="1"/>
              <p:nvPr/>
            </p:nvSpPr>
            <p:spPr>
              <a:xfrm>
                <a:off x="9625012" y="5715714"/>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客群活跃度持续提升</a:t>
                </a:r>
              </a:p>
            </p:txBody>
          </p:sp>
          <p:sp>
            <p:nvSpPr>
              <p:cNvPr id="163" name="Ellipse 163"/>
              <p:cNvSpPr/>
              <p:nvPr/>
            </p:nvSpPr>
            <p:spPr>
              <a:xfrm>
                <a:off x="9520238" y="5967412"/>
                <a:ext cx="47625" cy="47625"/>
              </a:xfrm>
              <a:prstGeom prst="ellipse">
                <a:avLst/>
              </a:prstGeom>
              <a:solidFill>
                <a:srgbClr val="B03A1F"/>
              </a:solidFill>
              <a:ln>
                <a:noFill/>
              </a:ln>
            </p:spPr>
          </p:sp>
          <p:sp>
            <p:nvSpPr>
              <p:cNvPr id="164" name="TextBox 164"/>
              <p:cNvSpPr txBox="1"/>
              <p:nvPr/>
            </p:nvSpPr>
            <p:spPr>
              <a:xfrm>
                <a:off x="9625012" y="5944314"/>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新客转化率稳步增长</a:t>
                </a:r>
              </a:p>
            </p:txBody>
          </p:sp>
          <p:sp>
            <p:nvSpPr>
              <p:cNvPr id="165" name="Ellipse 165"/>
              <p:cNvSpPr/>
              <p:nvPr/>
            </p:nvSpPr>
            <p:spPr>
              <a:xfrm>
                <a:off x="9520238" y="6196012"/>
                <a:ext cx="47625" cy="47625"/>
              </a:xfrm>
              <a:prstGeom prst="ellipse">
                <a:avLst/>
              </a:prstGeom>
              <a:solidFill>
                <a:srgbClr val="B03A1F"/>
              </a:solidFill>
              <a:ln>
                <a:noFill/>
              </a:ln>
            </p:spPr>
          </p:sp>
          <p:sp>
            <p:nvSpPr>
              <p:cNvPr id="166" name="TextBox 166"/>
              <p:cNvSpPr txBox="1"/>
              <p:nvPr/>
            </p:nvSpPr>
            <p:spPr>
              <a:xfrm>
                <a:off x="9625012" y="6172914"/>
                <a:ext cx="86032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未来资产沉淀加速</a:t>
                </a:r>
              </a:p>
            </p:txBody>
          </p:sp>
        </p:grpSp>
      </p:gr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42113" y="143351"/>
              <a:ext cx="18650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6</a:t>
              </a:r>
            </a:p>
          </p:txBody>
        </p:sp>
        <p:sp>
          <p:nvSpPr>
            <p:cNvPr id="4" name="TextBox 4"/>
            <p:cNvSpPr txBox="1"/>
            <p:nvPr/>
          </p:nvSpPr>
          <p:spPr>
            <a:xfrm>
              <a:off x="942594" y="151448"/>
              <a:ext cx="584454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生态获客升级：从单点营销转向</a:t>
              </a:r>
              <a:r>
                <a:rPr lang="zh-CN" sz="1950" b="1" dirty="0">
                  <a:solidFill>
                    <a:srgbClr val="B03A1F"/>
                  </a:solidFill>
                  <a:latin typeface="SimSun"/>
                  <a:ea typeface="SimSun"/>
                  <a:cs typeface="SimSun"/>
                </a:rPr>
                <a:t>批量化源头经营</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grpSp>
        <p:nvGrpSpPr>
          <p:cNvPr id="54" name="funnel"/>
          <p:cNvGrpSpPr/>
          <p:nvPr/>
        </p:nvGrpSpPr>
        <p:grpSpPr>
          <a:xfrm>
            <a:off x="285750" y="1123950"/>
            <a:ext cx="3429000" cy="4495800"/>
            <a:chOff x="285750" y="1123950"/>
            <a:chExt cx="3429000" cy="4495800"/>
          </a:xfrm>
        </p:grpSpPr>
        <p:sp>
          <p:nvSpPr>
            <p:cNvPr id="7" name="Freeform 7"/>
            <p:cNvSpPr/>
            <p:nvPr/>
          </p:nvSpPr>
          <p:spPr>
            <a:xfrm rot="10800000">
              <a:off x="285750" y="1123950"/>
              <a:ext cx="3429000" cy="685800"/>
            </a:xfrm>
            <a:prstGeom prst="trapezoid">
              <a:avLst>
                <a:gd name="adj" fmla="val 41667"/>
              </a:avLst>
            </a:prstGeom>
            <a:solidFill>
              <a:srgbClr val="9E331B"/>
            </a:solidFill>
            <a:ln>
              <a:noFill/>
            </a:ln>
          </p:spPr>
        </p:sp>
        <p:sp>
          <p:nvSpPr>
            <p:cNvPr id="8" name="Freeform 8"/>
            <p:cNvSpPr/>
            <p:nvPr/>
          </p:nvSpPr>
          <p:spPr>
            <a:xfrm rot="10800000">
              <a:off x="495300" y="1885950"/>
              <a:ext cx="3009900" cy="685800"/>
            </a:xfrm>
            <a:prstGeom prst="trapezoid">
              <a:avLst>
                <a:gd name="adj" fmla="val 49306"/>
              </a:avLst>
            </a:prstGeom>
            <a:solidFill>
              <a:srgbClr val="C54C30"/>
            </a:solidFill>
            <a:ln>
              <a:noFill/>
            </a:ln>
          </p:spPr>
        </p:sp>
        <p:sp>
          <p:nvSpPr>
            <p:cNvPr id="9" name="Freeform 9"/>
            <p:cNvSpPr/>
            <p:nvPr/>
          </p:nvSpPr>
          <p:spPr>
            <a:xfrm rot="10800000">
              <a:off x="733425" y="2647950"/>
              <a:ext cx="2533650" cy="685800"/>
            </a:xfrm>
            <a:prstGeom prst="trapezoid">
              <a:avLst>
                <a:gd name="adj" fmla="val 52778"/>
              </a:avLst>
            </a:prstGeom>
            <a:solidFill>
              <a:srgbClr val="D46C54"/>
            </a:solidFill>
            <a:ln>
              <a:noFill/>
            </a:ln>
          </p:spPr>
        </p:sp>
        <p:sp>
          <p:nvSpPr>
            <p:cNvPr id="10" name="Freeform 10"/>
            <p:cNvSpPr/>
            <p:nvPr/>
          </p:nvSpPr>
          <p:spPr>
            <a:xfrm rot="10800000">
              <a:off x="990600" y="3409950"/>
              <a:ext cx="2019300" cy="685800"/>
            </a:xfrm>
            <a:prstGeom prst="trapezoid">
              <a:avLst>
                <a:gd name="adj" fmla="val 50000"/>
              </a:avLst>
            </a:prstGeom>
            <a:solidFill>
              <a:srgbClr val="E08D7A"/>
            </a:solidFill>
            <a:ln>
              <a:noFill/>
            </a:ln>
          </p:spPr>
        </p:sp>
        <p:sp>
          <p:nvSpPr>
            <p:cNvPr id="11" name="Freeform 11"/>
            <p:cNvSpPr/>
            <p:nvPr/>
          </p:nvSpPr>
          <p:spPr>
            <a:xfrm rot="10800000">
              <a:off x="1219200" y="4171950"/>
              <a:ext cx="1562100" cy="685800"/>
            </a:xfrm>
            <a:prstGeom prst="trapezoid">
              <a:avLst>
                <a:gd name="adj" fmla="val 47917"/>
              </a:avLst>
            </a:prstGeom>
            <a:solidFill>
              <a:srgbClr val="EDB1A3"/>
            </a:solidFill>
            <a:ln>
              <a:noFill/>
            </a:ln>
          </p:spPr>
        </p:sp>
        <p:sp>
          <p:nvSpPr>
            <p:cNvPr id="12" name="Freeform 12"/>
            <p:cNvSpPr/>
            <p:nvPr/>
          </p:nvSpPr>
          <p:spPr>
            <a:xfrm rot="10800000">
              <a:off x="1409700" y="4933950"/>
              <a:ext cx="1181100" cy="685800"/>
            </a:xfrm>
            <a:prstGeom prst="trapezoid">
              <a:avLst>
                <a:gd name="adj" fmla="val 47917"/>
              </a:avLst>
            </a:prstGeom>
            <a:solidFill>
              <a:srgbClr val="F5CFC6"/>
            </a:solidFill>
            <a:ln>
              <a:noFill/>
            </a:ln>
          </p:spPr>
        </p:sp>
        <p:sp>
          <p:nvSpPr>
            <p:cNvPr id="13" name="Polygon 13"/>
            <p:cNvSpPr/>
            <p:nvPr/>
          </p:nvSpPr>
          <p:spPr>
            <a:xfrm>
              <a:off x="1933575" y="1809750"/>
              <a:ext cx="133350" cy="66675"/>
            </a:xfrm>
            <a:custGeom>
              <a:avLst/>
              <a:gdLst/>
              <a:ahLst/>
              <a:cxnLst/>
              <a:rect l="l" t="t" r="r" b="b"/>
              <a:pathLst>
                <a:path w="133350" h="66675">
                  <a:moveTo>
                    <a:pt x="0" y="0"/>
                  </a:moveTo>
                  <a:lnTo>
                    <a:pt x="133350" y="0"/>
                  </a:lnTo>
                  <a:lnTo>
                    <a:pt x="66675" y="66675"/>
                  </a:lnTo>
                  <a:close/>
                </a:path>
              </a:pathLst>
            </a:custGeom>
            <a:solidFill>
              <a:srgbClr val="B03A1F"/>
            </a:solidFill>
            <a:ln>
              <a:noFill/>
            </a:ln>
          </p:spPr>
        </p:sp>
        <p:sp>
          <p:nvSpPr>
            <p:cNvPr id="14" name="Polygon 14"/>
            <p:cNvSpPr/>
            <p:nvPr/>
          </p:nvSpPr>
          <p:spPr>
            <a:xfrm>
              <a:off x="1933575" y="2571750"/>
              <a:ext cx="133350" cy="66675"/>
            </a:xfrm>
            <a:custGeom>
              <a:avLst/>
              <a:gdLst/>
              <a:ahLst/>
              <a:cxnLst/>
              <a:rect l="l" t="t" r="r" b="b"/>
              <a:pathLst>
                <a:path w="133350" h="66675">
                  <a:moveTo>
                    <a:pt x="0" y="0"/>
                  </a:moveTo>
                  <a:lnTo>
                    <a:pt x="133350" y="0"/>
                  </a:lnTo>
                  <a:lnTo>
                    <a:pt x="66675" y="66675"/>
                  </a:lnTo>
                  <a:close/>
                </a:path>
              </a:pathLst>
            </a:custGeom>
            <a:solidFill>
              <a:srgbClr val="B03A1F"/>
            </a:solidFill>
            <a:ln>
              <a:noFill/>
            </a:ln>
          </p:spPr>
        </p:sp>
        <p:sp>
          <p:nvSpPr>
            <p:cNvPr id="15" name="Polygon 15"/>
            <p:cNvSpPr/>
            <p:nvPr/>
          </p:nvSpPr>
          <p:spPr>
            <a:xfrm>
              <a:off x="1933575" y="3333750"/>
              <a:ext cx="133350" cy="66675"/>
            </a:xfrm>
            <a:custGeom>
              <a:avLst/>
              <a:gdLst/>
              <a:ahLst/>
              <a:cxnLst/>
              <a:rect l="l" t="t" r="r" b="b"/>
              <a:pathLst>
                <a:path w="133350" h="66675">
                  <a:moveTo>
                    <a:pt x="0" y="0"/>
                  </a:moveTo>
                  <a:lnTo>
                    <a:pt x="133350" y="0"/>
                  </a:lnTo>
                  <a:lnTo>
                    <a:pt x="66675" y="66675"/>
                  </a:lnTo>
                  <a:close/>
                </a:path>
              </a:pathLst>
            </a:custGeom>
            <a:solidFill>
              <a:srgbClr val="B03A1F"/>
            </a:solidFill>
            <a:ln>
              <a:noFill/>
            </a:ln>
          </p:spPr>
        </p:sp>
        <p:sp>
          <p:nvSpPr>
            <p:cNvPr id="16" name="Polygon 16"/>
            <p:cNvSpPr/>
            <p:nvPr/>
          </p:nvSpPr>
          <p:spPr>
            <a:xfrm>
              <a:off x="1933575" y="4095750"/>
              <a:ext cx="133350" cy="66675"/>
            </a:xfrm>
            <a:custGeom>
              <a:avLst/>
              <a:gdLst/>
              <a:ahLst/>
              <a:cxnLst/>
              <a:rect l="l" t="t" r="r" b="b"/>
              <a:pathLst>
                <a:path w="133350" h="66675">
                  <a:moveTo>
                    <a:pt x="0" y="0"/>
                  </a:moveTo>
                  <a:lnTo>
                    <a:pt x="133350" y="0"/>
                  </a:lnTo>
                  <a:lnTo>
                    <a:pt x="66675" y="66675"/>
                  </a:lnTo>
                  <a:close/>
                </a:path>
              </a:pathLst>
            </a:custGeom>
            <a:solidFill>
              <a:srgbClr val="B03A1F"/>
            </a:solidFill>
            <a:ln>
              <a:noFill/>
            </a:ln>
          </p:spPr>
        </p:sp>
        <p:sp>
          <p:nvSpPr>
            <p:cNvPr id="17" name="Polygon 17"/>
            <p:cNvSpPr/>
            <p:nvPr/>
          </p:nvSpPr>
          <p:spPr>
            <a:xfrm>
              <a:off x="1933575" y="4857750"/>
              <a:ext cx="133350" cy="66675"/>
            </a:xfrm>
            <a:custGeom>
              <a:avLst/>
              <a:gdLst/>
              <a:ahLst/>
              <a:cxnLst/>
              <a:rect l="l" t="t" r="r" b="b"/>
              <a:pathLst>
                <a:path w="133350" h="66675">
                  <a:moveTo>
                    <a:pt x="0" y="0"/>
                  </a:moveTo>
                  <a:lnTo>
                    <a:pt x="133350" y="0"/>
                  </a:lnTo>
                  <a:lnTo>
                    <a:pt x="66675" y="66675"/>
                  </a:lnTo>
                  <a:close/>
                </a:path>
              </a:pathLst>
            </a:custGeom>
            <a:solidFill>
              <a:srgbClr val="B03A1F"/>
            </a:solidFill>
            <a:ln>
              <a:noFill/>
            </a:ln>
          </p:spPr>
        </p:sp>
        <p:grpSp>
          <p:nvGrpSpPr>
            <p:cNvPr id="53" name="funnel-labels"/>
            <p:cNvGrpSpPr/>
            <p:nvPr/>
          </p:nvGrpSpPr>
          <p:grpSpPr>
            <a:xfrm>
              <a:off x="457200" y="1295400"/>
              <a:ext cx="1751838" cy="4130611"/>
              <a:chOff x="457200" y="1295400"/>
              <a:chExt cx="1751838" cy="4130611"/>
            </a:xfrm>
          </p:grpSpPr>
          <p:sp>
            <p:nvSpPr>
              <p:cNvPr id="18" name="Ellipse 18"/>
              <p:cNvSpPr/>
              <p:nvPr/>
            </p:nvSpPr>
            <p:spPr>
              <a:xfrm>
                <a:off x="457200" y="1295400"/>
                <a:ext cx="342900" cy="342900"/>
              </a:xfrm>
              <a:prstGeom prst="ellipse">
                <a:avLst/>
              </a:prstGeom>
              <a:solidFill>
                <a:srgbClr val="FFFFFF"/>
              </a:solidFill>
              <a:ln>
                <a:noFill/>
              </a:ln>
            </p:spPr>
          </p:sp>
          <p:grpSp>
            <p:nvGrpSpPr>
              <p:cNvPr id="22" name="Group 22"/>
              <p:cNvGrpSpPr/>
              <p:nvPr/>
            </p:nvGrpSpPr>
            <p:grpSpPr>
              <a:xfrm>
                <a:off x="567531" y="1388269"/>
                <a:ext cx="122238" cy="157162"/>
                <a:chOff x="567531" y="1388269"/>
                <a:chExt cx="122238" cy="157162"/>
              </a:xfrm>
            </p:grpSpPr>
            <p:sp>
              <p:nvSpPr>
                <p:cNvPr id="19" name="Freeform 19"/>
                <p:cNvSpPr/>
                <p:nvPr/>
              </p:nvSpPr>
              <p:spPr>
                <a:xfrm>
                  <a:off x="567531" y="1440656"/>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9E331B"/>
                  </a:solidFill>
                </a:ln>
              </p:spPr>
            </p:sp>
            <p:sp>
              <p:nvSpPr>
                <p:cNvPr id="20" name="Freeform 20"/>
                <p:cNvSpPr/>
                <p:nvPr/>
              </p:nvSpPr>
              <p:spPr>
                <a:xfrm>
                  <a:off x="628650" y="1388269"/>
                  <a:ext cx="9525" cy="96044"/>
                </a:xfrm>
                <a:custGeom>
                  <a:avLst/>
                  <a:gdLst/>
                  <a:ahLst/>
                  <a:cxnLst/>
                  <a:rect l="l" t="t" r="r" b="b"/>
                  <a:pathLst>
                    <a:path w="9525" h="96044">
                      <a:moveTo>
                        <a:pt x="0" y="96044"/>
                      </a:moveTo>
                      <a:lnTo>
                        <a:pt x="0" y="0"/>
                      </a:lnTo>
                    </a:path>
                  </a:pathLst>
                </a:custGeom>
                <a:noFill/>
                <a:ln w="17463">
                  <a:solidFill>
                    <a:srgbClr val="9E331B"/>
                  </a:solidFill>
                </a:ln>
              </p:spPr>
            </p:sp>
            <p:sp>
              <p:nvSpPr>
                <p:cNvPr id="21" name="Freeform 21"/>
                <p:cNvSpPr/>
                <p:nvPr/>
              </p:nvSpPr>
              <p:spPr>
                <a:xfrm>
                  <a:off x="602456" y="1388269"/>
                  <a:ext cx="52388" cy="26194"/>
                </a:xfrm>
                <a:custGeom>
                  <a:avLst/>
                  <a:gdLst/>
                  <a:ahLst/>
                  <a:cxnLst/>
                  <a:rect l="l" t="t" r="r" b="b"/>
                  <a:pathLst>
                    <a:path w="52388" h="26194">
                      <a:moveTo>
                        <a:pt x="0" y="26194"/>
                      </a:moveTo>
                      <a:lnTo>
                        <a:pt x="26194" y="0"/>
                      </a:lnTo>
                      <a:lnTo>
                        <a:pt x="52388" y="26194"/>
                      </a:lnTo>
                    </a:path>
                  </a:pathLst>
                </a:custGeom>
                <a:noFill/>
                <a:ln w="17463">
                  <a:solidFill>
                    <a:srgbClr val="9E331B"/>
                  </a:solidFill>
                </a:ln>
              </p:spPr>
            </p:sp>
          </p:grpSp>
          <p:sp>
            <p:nvSpPr>
              <p:cNvPr id="23" name="TextBox 23"/>
              <p:cNvSpPr txBox="1"/>
              <p:nvPr/>
            </p:nvSpPr>
            <p:spPr>
              <a:xfrm>
                <a:off x="889254" y="140398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生态触点</a:t>
                </a:r>
              </a:p>
            </p:txBody>
          </p:sp>
          <p:sp>
            <p:nvSpPr>
              <p:cNvPr id="24" name="Ellipse 24"/>
              <p:cNvSpPr/>
              <p:nvPr/>
            </p:nvSpPr>
            <p:spPr>
              <a:xfrm>
                <a:off x="457200" y="2057400"/>
                <a:ext cx="342900" cy="342900"/>
              </a:xfrm>
              <a:prstGeom prst="ellipse">
                <a:avLst/>
              </a:prstGeom>
              <a:solidFill>
                <a:srgbClr val="FFFFFF"/>
              </a:solidFill>
              <a:ln>
                <a:noFill/>
              </a:ln>
            </p:spPr>
          </p:sp>
          <p:grpSp>
            <p:nvGrpSpPr>
              <p:cNvPr id="29" name="Group 29"/>
              <p:cNvGrpSpPr/>
              <p:nvPr/>
            </p:nvGrpSpPr>
            <p:grpSpPr>
              <a:xfrm>
                <a:off x="550069" y="2150269"/>
                <a:ext cx="157163" cy="157163"/>
                <a:chOff x="550069" y="2150269"/>
                <a:chExt cx="157163" cy="157163"/>
              </a:xfrm>
            </p:grpSpPr>
            <p:sp>
              <p:nvSpPr>
                <p:cNvPr id="25" name="Freeform 25"/>
                <p:cNvSpPr/>
                <p:nvPr/>
              </p:nvSpPr>
              <p:spPr>
                <a:xfrm>
                  <a:off x="567531" y="21502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C54C30"/>
                  </a:solidFill>
                </a:ln>
              </p:spPr>
            </p:sp>
            <p:sp>
              <p:nvSpPr>
                <p:cNvPr id="26" name="Freeform 26"/>
                <p:cNvSpPr/>
                <p:nvPr/>
              </p:nvSpPr>
              <p:spPr>
                <a:xfrm>
                  <a:off x="550069" y="225504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C54C30"/>
                  </a:solidFill>
                </a:ln>
              </p:spPr>
            </p:sp>
            <p:sp>
              <p:nvSpPr>
                <p:cNvPr id="27" name="Freeform 27"/>
                <p:cNvSpPr/>
                <p:nvPr/>
              </p:nvSpPr>
              <p:spPr>
                <a:xfrm>
                  <a:off x="663575" y="215140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C54C30"/>
                  </a:solidFill>
                </a:ln>
              </p:spPr>
            </p:sp>
            <p:sp>
              <p:nvSpPr>
                <p:cNvPr id="28" name="Freeform 28"/>
                <p:cNvSpPr/>
                <p:nvPr/>
              </p:nvSpPr>
              <p:spPr>
                <a:xfrm>
                  <a:off x="681038" y="225635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C54C30"/>
                  </a:solidFill>
                </a:ln>
              </p:spPr>
            </p:sp>
          </p:grpSp>
          <p:sp>
            <p:nvSpPr>
              <p:cNvPr id="30" name="TextBox 30"/>
              <p:cNvSpPr txBox="1"/>
              <p:nvPr/>
            </p:nvSpPr>
            <p:spPr>
              <a:xfrm>
                <a:off x="889254" y="216598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批量获客</a:t>
                </a:r>
              </a:p>
            </p:txBody>
          </p:sp>
          <p:sp>
            <p:nvSpPr>
              <p:cNvPr id="31" name="Ellipse 31"/>
              <p:cNvSpPr/>
              <p:nvPr/>
            </p:nvSpPr>
            <p:spPr>
              <a:xfrm>
                <a:off x="457200" y="2819400"/>
                <a:ext cx="342900" cy="342900"/>
              </a:xfrm>
              <a:prstGeom prst="ellipse">
                <a:avLst/>
              </a:prstGeom>
              <a:solidFill>
                <a:srgbClr val="FFFFFF"/>
              </a:solidFill>
              <a:ln>
                <a:noFill/>
              </a:ln>
            </p:spPr>
          </p:sp>
          <p:grpSp>
            <p:nvGrpSpPr>
              <p:cNvPr id="35" name="Group 35"/>
              <p:cNvGrpSpPr/>
              <p:nvPr/>
            </p:nvGrpSpPr>
            <p:grpSpPr>
              <a:xfrm>
                <a:off x="576263" y="2912269"/>
                <a:ext cx="130969" cy="157163"/>
                <a:chOff x="576263" y="2912269"/>
                <a:chExt cx="130969" cy="157163"/>
              </a:xfrm>
            </p:grpSpPr>
            <p:sp>
              <p:nvSpPr>
                <p:cNvPr id="32" name="Freeform 32"/>
                <p:cNvSpPr/>
                <p:nvPr/>
              </p:nvSpPr>
              <p:spPr>
                <a:xfrm>
                  <a:off x="593725" y="29122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D46C54"/>
                  </a:solidFill>
                </a:ln>
              </p:spPr>
            </p:sp>
            <p:sp>
              <p:nvSpPr>
                <p:cNvPr id="33" name="Freeform 33"/>
                <p:cNvSpPr/>
                <p:nvPr/>
              </p:nvSpPr>
              <p:spPr>
                <a:xfrm>
                  <a:off x="576263" y="3017044"/>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D46C54"/>
                  </a:solidFill>
                </a:ln>
              </p:spPr>
            </p:sp>
            <p:sp>
              <p:nvSpPr>
                <p:cNvPr id="34" name="Freeform 34"/>
                <p:cNvSpPr/>
                <p:nvPr/>
              </p:nvSpPr>
              <p:spPr>
                <a:xfrm>
                  <a:off x="654844" y="3034506"/>
                  <a:ext cx="52388" cy="34925"/>
                </a:xfrm>
                <a:custGeom>
                  <a:avLst/>
                  <a:gdLst/>
                  <a:ahLst/>
                  <a:cxnLst/>
                  <a:rect l="l" t="t" r="r" b="b"/>
                  <a:pathLst>
                    <a:path w="52388" h="34925">
                      <a:moveTo>
                        <a:pt x="0" y="17463"/>
                      </a:moveTo>
                      <a:lnTo>
                        <a:pt x="17463" y="34925"/>
                      </a:lnTo>
                      <a:lnTo>
                        <a:pt x="52388" y="0"/>
                      </a:lnTo>
                    </a:path>
                  </a:pathLst>
                </a:custGeom>
                <a:noFill/>
                <a:ln w="17463">
                  <a:solidFill>
                    <a:srgbClr val="D46C54"/>
                  </a:solidFill>
                </a:ln>
              </p:spPr>
            </p:sp>
          </p:grpSp>
          <p:sp>
            <p:nvSpPr>
              <p:cNvPr id="36" name="TextBox 36"/>
              <p:cNvSpPr txBox="1"/>
              <p:nvPr/>
            </p:nvSpPr>
            <p:spPr>
              <a:xfrm>
                <a:off x="889254" y="292798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首绑首登</a:t>
                </a:r>
              </a:p>
            </p:txBody>
          </p:sp>
          <p:sp>
            <p:nvSpPr>
              <p:cNvPr id="37" name="Ellipse 37"/>
              <p:cNvSpPr/>
              <p:nvPr/>
            </p:nvSpPr>
            <p:spPr>
              <a:xfrm>
                <a:off x="1085850" y="3600450"/>
                <a:ext cx="304800" cy="304800"/>
              </a:xfrm>
              <a:prstGeom prst="ellipse">
                <a:avLst/>
              </a:prstGeom>
              <a:solidFill>
                <a:srgbClr val="FFFFFF"/>
              </a:solidFill>
              <a:ln>
                <a:noFill/>
              </a:ln>
            </p:spPr>
          </p:sp>
          <p:grpSp>
            <p:nvGrpSpPr>
              <p:cNvPr id="41" name="Group 41"/>
              <p:cNvGrpSpPr/>
              <p:nvPr/>
            </p:nvGrpSpPr>
            <p:grpSpPr>
              <a:xfrm>
                <a:off x="1181100" y="3695700"/>
                <a:ext cx="114300" cy="114300"/>
                <a:chOff x="1181100" y="3695700"/>
                <a:chExt cx="114300" cy="114300"/>
              </a:xfrm>
            </p:grpSpPr>
            <p:sp>
              <p:nvSpPr>
                <p:cNvPr id="38" name="Freeform 38"/>
                <p:cNvSpPr/>
                <p:nvPr/>
              </p:nvSpPr>
              <p:spPr>
                <a:xfrm>
                  <a:off x="1181100" y="3695700"/>
                  <a:ext cx="114300" cy="57150"/>
                </a:xfrm>
                <a:custGeom>
                  <a:avLst/>
                  <a:gdLst/>
                  <a:ahLst/>
                  <a:cxnLst/>
                  <a:rect l="l" t="t" r="r" b="b"/>
                  <a:pathLst>
                    <a:path w="114300" h="57150">
                      <a:moveTo>
                        <a:pt x="57150" y="0"/>
                      </a:moveTo>
                      <a:lnTo>
                        <a:pt x="0" y="28575"/>
                      </a:lnTo>
                      <a:lnTo>
                        <a:pt x="57150" y="57150"/>
                      </a:lnTo>
                      <a:lnTo>
                        <a:pt x="114300" y="28575"/>
                      </a:lnTo>
                      <a:lnTo>
                        <a:pt x="57150" y="0"/>
                      </a:lnTo>
                    </a:path>
                  </a:pathLst>
                </a:custGeom>
                <a:noFill/>
                <a:ln w="14288">
                  <a:solidFill>
                    <a:srgbClr val="E08D7A"/>
                  </a:solidFill>
                </a:ln>
              </p:spPr>
            </p:sp>
            <p:sp>
              <p:nvSpPr>
                <p:cNvPr id="39" name="Freeform 39"/>
                <p:cNvSpPr/>
                <p:nvPr/>
              </p:nvSpPr>
              <p:spPr>
                <a:xfrm>
                  <a:off x="1181100" y="3752850"/>
                  <a:ext cx="114300" cy="28575"/>
                </a:xfrm>
                <a:custGeom>
                  <a:avLst/>
                  <a:gdLst/>
                  <a:ahLst/>
                  <a:cxnLst/>
                  <a:rect l="l" t="t" r="r" b="b"/>
                  <a:pathLst>
                    <a:path w="114300" h="28575">
                      <a:moveTo>
                        <a:pt x="0" y="0"/>
                      </a:moveTo>
                      <a:lnTo>
                        <a:pt x="57150" y="28575"/>
                      </a:lnTo>
                      <a:lnTo>
                        <a:pt x="114300" y="0"/>
                      </a:lnTo>
                    </a:path>
                  </a:pathLst>
                </a:custGeom>
                <a:noFill/>
                <a:ln w="14288">
                  <a:solidFill>
                    <a:srgbClr val="E08D7A"/>
                  </a:solidFill>
                </a:ln>
              </p:spPr>
            </p:sp>
            <p:sp>
              <p:nvSpPr>
                <p:cNvPr id="40" name="Freeform 40"/>
                <p:cNvSpPr/>
                <p:nvPr/>
              </p:nvSpPr>
              <p:spPr>
                <a:xfrm>
                  <a:off x="1181100" y="3781425"/>
                  <a:ext cx="114300" cy="28575"/>
                </a:xfrm>
                <a:custGeom>
                  <a:avLst/>
                  <a:gdLst/>
                  <a:ahLst/>
                  <a:cxnLst/>
                  <a:rect l="l" t="t" r="r" b="b"/>
                  <a:pathLst>
                    <a:path w="114300" h="28575">
                      <a:moveTo>
                        <a:pt x="0" y="0"/>
                      </a:moveTo>
                      <a:lnTo>
                        <a:pt x="57150" y="28575"/>
                      </a:lnTo>
                      <a:lnTo>
                        <a:pt x="114300" y="0"/>
                      </a:lnTo>
                    </a:path>
                  </a:pathLst>
                </a:custGeom>
                <a:noFill/>
                <a:ln w="14288">
                  <a:solidFill>
                    <a:srgbClr val="E08D7A"/>
                  </a:solidFill>
                </a:ln>
              </p:spPr>
            </p:sp>
          </p:grpSp>
          <p:sp>
            <p:nvSpPr>
              <p:cNvPr id="42" name="TextBox 42"/>
              <p:cNvSpPr txBox="1"/>
              <p:nvPr/>
            </p:nvSpPr>
            <p:spPr>
              <a:xfrm>
                <a:off x="1461135" y="368855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产品加载</a:t>
                </a:r>
              </a:p>
            </p:txBody>
          </p:sp>
          <p:sp>
            <p:nvSpPr>
              <p:cNvPr id="43" name="Ellipse 43"/>
              <p:cNvSpPr/>
              <p:nvPr/>
            </p:nvSpPr>
            <p:spPr>
              <a:xfrm>
                <a:off x="1190625" y="4371975"/>
                <a:ext cx="285750" cy="285750"/>
              </a:xfrm>
              <a:prstGeom prst="ellipse">
                <a:avLst/>
              </a:prstGeom>
              <a:solidFill>
                <a:srgbClr val="FFFFFF"/>
              </a:solidFill>
              <a:ln>
                <a:noFill/>
              </a:ln>
            </p:spPr>
          </p:sp>
          <p:grpSp>
            <p:nvGrpSpPr>
              <p:cNvPr id="46" name="Group 46"/>
              <p:cNvGrpSpPr/>
              <p:nvPr/>
            </p:nvGrpSpPr>
            <p:grpSpPr>
              <a:xfrm>
                <a:off x="1282700" y="4464050"/>
                <a:ext cx="101600" cy="101600"/>
                <a:chOff x="1282700" y="4464050"/>
                <a:chExt cx="101600" cy="101600"/>
              </a:xfrm>
            </p:grpSpPr>
            <p:sp>
              <p:nvSpPr>
                <p:cNvPr id="44" name="Freeform 44"/>
                <p:cNvSpPr/>
                <p:nvPr/>
              </p:nvSpPr>
              <p:spPr>
                <a:xfrm>
                  <a:off x="1282700" y="4464050"/>
                  <a:ext cx="95250" cy="101600"/>
                </a:xfrm>
                <a:custGeom>
                  <a:avLst/>
                  <a:gdLst/>
                  <a:ahLst/>
                  <a:cxnLst/>
                  <a:rect l="l" t="t" r="r" b="b"/>
                  <a:pathLst>
                    <a:path w="95250" h="101600">
                      <a:moveTo>
                        <a:pt x="82550" y="25400"/>
                      </a:moveTo>
                      <a:lnTo>
                        <a:pt x="82550" y="6350"/>
                      </a:lnTo>
                      <a:cubicBezTo>
                        <a:pt x="82550" y="2843"/>
                        <a:pt x="79707" y="0"/>
                        <a:pt x="76200" y="0"/>
                      </a:cubicBezTo>
                      <a:lnTo>
                        <a:pt x="12700" y="0"/>
                      </a:lnTo>
                      <a:cubicBezTo>
                        <a:pt x="5686" y="0"/>
                        <a:pt x="0" y="5686"/>
                        <a:pt x="0" y="12700"/>
                      </a:cubicBezTo>
                      <a:cubicBezTo>
                        <a:pt x="0" y="19714"/>
                        <a:pt x="5686" y="25400"/>
                        <a:pt x="12700" y="25400"/>
                      </a:cubicBezTo>
                      <a:lnTo>
                        <a:pt x="88900" y="25400"/>
                      </a:lnTo>
                      <a:cubicBezTo>
                        <a:pt x="92407" y="25400"/>
                        <a:pt x="95250" y="28243"/>
                        <a:pt x="95250" y="31750"/>
                      </a:cubicBezTo>
                      <a:lnTo>
                        <a:pt x="95250" y="50800"/>
                      </a:lnTo>
                      <a:moveTo>
                        <a:pt x="95250" y="76200"/>
                      </a:moveTo>
                      <a:lnTo>
                        <a:pt x="95250" y="95250"/>
                      </a:lnTo>
                      <a:cubicBezTo>
                        <a:pt x="95250" y="98757"/>
                        <a:pt x="92407" y="101600"/>
                        <a:pt x="88900" y="101600"/>
                      </a:cubicBezTo>
                      <a:lnTo>
                        <a:pt x="12700" y="101600"/>
                      </a:lnTo>
                      <a:cubicBezTo>
                        <a:pt x="5686" y="101600"/>
                        <a:pt x="0" y="95914"/>
                        <a:pt x="0" y="88900"/>
                      </a:cubicBezTo>
                      <a:lnTo>
                        <a:pt x="0" y="12700"/>
                      </a:lnTo>
                    </a:path>
                  </a:pathLst>
                </a:custGeom>
                <a:noFill/>
                <a:ln w="12700">
                  <a:solidFill>
                    <a:srgbClr val="EDB1A3"/>
                  </a:solidFill>
                </a:ln>
              </p:spPr>
            </p:sp>
            <p:sp>
              <p:nvSpPr>
                <p:cNvPr id="45" name="Freeform 45"/>
                <p:cNvSpPr/>
                <p:nvPr/>
              </p:nvSpPr>
              <p:spPr>
                <a:xfrm>
                  <a:off x="1346200" y="4514850"/>
                  <a:ext cx="38100" cy="25400"/>
                </a:xfrm>
                <a:custGeom>
                  <a:avLst/>
                  <a:gdLst/>
                  <a:ahLst/>
                  <a:cxnLst/>
                  <a:rect l="l" t="t" r="r" b="b"/>
                  <a:pathLst>
                    <a:path w="38100" h="25400">
                      <a:moveTo>
                        <a:pt x="38100" y="0"/>
                      </a:moveTo>
                      <a:lnTo>
                        <a:pt x="38100" y="25400"/>
                      </a:lnTo>
                      <a:lnTo>
                        <a:pt x="12700" y="25400"/>
                      </a:lnTo>
                      <a:cubicBezTo>
                        <a:pt x="5686" y="25400"/>
                        <a:pt x="0" y="19714"/>
                        <a:pt x="0" y="12700"/>
                      </a:cubicBezTo>
                      <a:cubicBezTo>
                        <a:pt x="0" y="5686"/>
                        <a:pt x="5686" y="0"/>
                        <a:pt x="12700" y="0"/>
                      </a:cubicBezTo>
                      <a:lnTo>
                        <a:pt x="38100" y="0"/>
                      </a:lnTo>
                    </a:path>
                  </a:pathLst>
                </a:custGeom>
                <a:noFill/>
                <a:ln w="12700">
                  <a:solidFill>
                    <a:srgbClr val="EDB1A3"/>
                  </a:solidFill>
                </a:ln>
              </p:spPr>
            </p:sp>
          </p:grpSp>
          <p:sp>
            <p:nvSpPr>
              <p:cNvPr id="47" name="TextBox 47"/>
              <p:cNvSpPr txBox="1"/>
              <p:nvPr/>
            </p:nvSpPr>
            <p:spPr>
              <a:xfrm>
                <a:off x="1537335" y="445055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资产留存</a:t>
                </a:r>
              </a:p>
            </p:txBody>
          </p:sp>
          <p:sp>
            <p:nvSpPr>
              <p:cNvPr id="48" name="Ellipse 48"/>
              <p:cNvSpPr/>
              <p:nvPr/>
            </p:nvSpPr>
            <p:spPr>
              <a:xfrm>
                <a:off x="1314450" y="5143500"/>
                <a:ext cx="266700" cy="266700"/>
              </a:xfrm>
              <a:prstGeom prst="ellipse">
                <a:avLst/>
              </a:prstGeom>
              <a:solidFill>
                <a:srgbClr val="FFFFFF"/>
              </a:solidFill>
              <a:ln>
                <a:noFill/>
              </a:ln>
            </p:spPr>
          </p:sp>
          <p:grpSp>
            <p:nvGrpSpPr>
              <p:cNvPr id="51" name="Group 51"/>
              <p:cNvGrpSpPr/>
              <p:nvPr/>
            </p:nvGrpSpPr>
            <p:grpSpPr>
              <a:xfrm>
                <a:off x="1397794" y="5249069"/>
                <a:ext cx="100012" cy="55562"/>
                <a:chOff x="1397794" y="5249069"/>
                <a:chExt cx="100012" cy="55562"/>
              </a:xfrm>
            </p:grpSpPr>
            <p:sp>
              <p:nvSpPr>
                <p:cNvPr id="49" name="Freeform 49"/>
                <p:cNvSpPr/>
                <p:nvPr/>
              </p:nvSpPr>
              <p:spPr>
                <a:xfrm>
                  <a:off x="1397794" y="5249069"/>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F5CFC6"/>
                  </a:solidFill>
                </a:ln>
              </p:spPr>
            </p:sp>
            <p:sp>
              <p:nvSpPr>
                <p:cNvPr id="50" name="Freeform 50"/>
                <p:cNvSpPr/>
                <p:nvPr/>
              </p:nvSpPr>
              <p:spPr>
                <a:xfrm>
                  <a:off x="1458912" y="5249069"/>
                  <a:ext cx="38894" cy="38894"/>
                </a:xfrm>
                <a:custGeom>
                  <a:avLst/>
                  <a:gdLst/>
                  <a:ahLst/>
                  <a:cxnLst/>
                  <a:rect l="l" t="t" r="r" b="b"/>
                  <a:pathLst>
                    <a:path w="38894" h="38894">
                      <a:moveTo>
                        <a:pt x="0" y="0"/>
                      </a:moveTo>
                      <a:lnTo>
                        <a:pt x="38894" y="0"/>
                      </a:lnTo>
                      <a:lnTo>
                        <a:pt x="38894" y="38894"/>
                      </a:lnTo>
                    </a:path>
                  </a:pathLst>
                </a:custGeom>
                <a:noFill/>
                <a:ln w="11112">
                  <a:solidFill>
                    <a:srgbClr val="F5CFC6"/>
                  </a:solidFill>
                </a:ln>
              </p:spPr>
            </p:sp>
          </p:grpSp>
          <p:sp>
            <p:nvSpPr>
              <p:cNvPr id="52" name="TextBox 52"/>
              <p:cNvSpPr txBox="1"/>
              <p:nvPr/>
            </p:nvSpPr>
            <p:spPr>
              <a:xfrm>
                <a:off x="1632966" y="522065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价值提升</a:t>
                </a:r>
              </a:p>
            </p:txBody>
          </p:sp>
        </p:grpSp>
      </p:grpSp>
      <p:grpSp>
        <p:nvGrpSpPr>
          <p:cNvPr id="128" name="engines"/>
          <p:cNvGrpSpPr/>
          <p:nvPr/>
        </p:nvGrpSpPr>
        <p:grpSpPr>
          <a:xfrm>
            <a:off x="3810000" y="1028700"/>
            <a:ext cx="8143875" cy="3209925"/>
            <a:chOff x="3810000" y="1028700"/>
            <a:chExt cx="8143875" cy="3209925"/>
          </a:xfrm>
        </p:grpSpPr>
        <p:sp>
          <p:nvSpPr>
            <p:cNvPr id="55" name="Rectangle 55"/>
            <p:cNvSpPr/>
            <p:nvPr/>
          </p:nvSpPr>
          <p:spPr>
            <a:xfrm>
              <a:off x="5286375" y="1028700"/>
              <a:ext cx="3333750" cy="323850"/>
            </a:xfrm>
            <a:prstGeom prst="roundRect">
              <a:avLst>
                <a:gd name="adj" fmla="val 50000"/>
              </a:avLst>
            </a:prstGeom>
            <a:solidFill>
              <a:srgbClr val="B03A1F"/>
            </a:solidFill>
            <a:ln>
              <a:noFill/>
            </a:ln>
          </p:spPr>
        </p:sp>
        <p:sp>
          <p:nvSpPr>
            <p:cNvPr id="56" name="TextBox 56"/>
            <p:cNvSpPr txBox="1"/>
            <p:nvPr/>
          </p:nvSpPr>
          <p:spPr>
            <a:xfrm>
              <a:off x="6462522" y="111823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三大增长引擎</a:t>
              </a:r>
            </a:p>
          </p:txBody>
        </p:sp>
        <p:grpSp>
          <p:nvGrpSpPr>
            <p:cNvPr id="81" name="engine-payroll"/>
            <p:cNvGrpSpPr/>
            <p:nvPr/>
          </p:nvGrpSpPr>
          <p:grpSpPr>
            <a:xfrm>
              <a:off x="3810000" y="1476375"/>
              <a:ext cx="2619375" cy="2762250"/>
              <a:chOff x="3810000" y="1476375"/>
              <a:chExt cx="2619375" cy="2762250"/>
            </a:xfrm>
          </p:grpSpPr>
          <p:sp>
            <p:nvSpPr>
              <p:cNvPr id="57" name="Rectangle 57"/>
              <p:cNvSpPr/>
              <p:nvPr/>
            </p:nvSpPr>
            <p:spPr>
              <a:xfrm>
                <a:off x="3810000" y="1476375"/>
                <a:ext cx="2619375" cy="2762250"/>
              </a:xfrm>
              <a:prstGeom prst="roundRect">
                <a:avLst>
                  <a:gd name="adj" fmla="val 3636"/>
                </a:avLst>
              </a:prstGeom>
              <a:solidFill>
                <a:srgbClr val="FFFFFF"/>
              </a:solidFill>
              <a:ln w="14288">
                <a:solidFill>
                  <a:srgbClr val="D9ABA0"/>
                </a:solidFill>
              </a:ln>
            </p:spPr>
          </p:sp>
          <p:sp>
            <p:nvSpPr>
              <p:cNvPr id="58" name="Ellipse 58"/>
              <p:cNvSpPr/>
              <p:nvPr/>
            </p:nvSpPr>
            <p:spPr>
              <a:xfrm>
                <a:off x="4829175" y="1666875"/>
                <a:ext cx="571500" cy="571500"/>
              </a:xfrm>
              <a:prstGeom prst="ellipse">
                <a:avLst/>
              </a:prstGeom>
              <a:solidFill>
                <a:srgbClr val="B03A1F"/>
              </a:solidFill>
              <a:ln>
                <a:noFill/>
              </a:ln>
            </p:spPr>
          </p:sp>
          <p:grpSp>
            <p:nvGrpSpPr>
              <p:cNvPr id="67" name="Group 67"/>
              <p:cNvGrpSpPr/>
              <p:nvPr/>
            </p:nvGrpSpPr>
            <p:grpSpPr>
              <a:xfrm>
                <a:off x="5000625" y="1838325"/>
                <a:ext cx="228599" cy="238124"/>
                <a:chOff x="5000625" y="1838325"/>
                <a:chExt cx="228599" cy="238124"/>
              </a:xfrm>
            </p:grpSpPr>
            <p:sp>
              <p:nvSpPr>
                <p:cNvPr id="59" name="Freeform 59"/>
                <p:cNvSpPr/>
                <p:nvPr/>
              </p:nvSpPr>
              <p:spPr>
                <a:xfrm>
                  <a:off x="5000625" y="2066924"/>
                  <a:ext cx="228599" cy="9525"/>
                </a:xfrm>
                <a:custGeom>
                  <a:avLst/>
                  <a:gdLst/>
                  <a:ahLst/>
                  <a:cxnLst/>
                  <a:rect l="l" t="t" r="r" b="b"/>
                  <a:pathLst>
                    <a:path w="228599" h="9525">
                      <a:moveTo>
                        <a:pt x="0" y="0"/>
                      </a:moveTo>
                      <a:lnTo>
                        <a:pt x="228599" y="0"/>
                      </a:lnTo>
                    </a:path>
                  </a:pathLst>
                </a:custGeom>
                <a:noFill/>
                <a:ln w="25400">
                  <a:solidFill>
                    <a:srgbClr val="FFFFFF"/>
                  </a:solidFill>
                </a:ln>
              </p:spPr>
            </p:sp>
            <p:sp>
              <p:nvSpPr>
                <p:cNvPr id="60" name="Freeform 60"/>
                <p:cNvSpPr/>
                <p:nvPr/>
              </p:nvSpPr>
              <p:spPr>
                <a:xfrm>
                  <a:off x="5076825" y="1901825"/>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61" name="Freeform 61"/>
                <p:cNvSpPr/>
                <p:nvPr/>
              </p:nvSpPr>
              <p:spPr>
                <a:xfrm>
                  <a:off x="5076825" y="1952625"/>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62" name="Freeform 62"/>
                <p:cNvSpPr/>
                <p:nvPr/>
              </p:nvSpPr>
              <p:spPr>
                <a:xfrm>
                  <a:off x="5076825" y="2003424"/>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63" name="Freeform 63"/>
                <p:cNvSpPr/>
                <p:nvPr/>
              </p:nvSpPr>
              <p:spPr>
                <a:xfrm>
                  <a:off x="5140325" y="1901825"/>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64" name="Freeform 64"/>
                <p:cNvSpPr/>
                <p:nvPr/>
              </p:nvSpPr>
              <p:spPr>
                <a:xfrm>
                  <a:off x="5140325" y="1952625"/>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65" name="Freeform 65"/>
                <p:cNvSpPr/>
                <p:nvPr/>
              </p:nvSpPr>
              <p:spPr>
                <a:xfrm>
                  <a:off x="5140325" y="2003424"/>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66" name="Freeform 66"/>
                <p:cNvSpPr/>
                <p:nvPr/>
              </p:nvSpPr>
              <p:spPr>
                <a:xfrm>
                  <a:off x="5026025" y="1838325"/>
                  <a:ext cx="177800" cy="228599"/>
                </a:xfrm>
                <a:custGeom>
                  <a:avLst/>
                  <a:gdLst/>
                  <a:ahLst/>
                  <a:cxnLst/>
                  <a:rect l="l" t="t" r="r" b="b"/>
                  <a:pathLst>
                    <a:path w="177800" h="228599">
                      <a:moveTo>
                        <a:pt x="0" y="228599"/>
                      </a:moveTo>
                      <a:lnTo>
                        <a:pt x="0" y="25400"/>
                      </a:lnTo>
                      <a:cubicBezTo>
                        <a:pt x="0" y="11372"/>
                        <a:pt x="11372" y="0"/>
                        <a:pt x="25400" y="0"/>
                      </a:cubicBezTo>
                      <a:lnTo>
                        <a:pt x="152400" y="0"/>
                      </a:lnTo>
                      <a:cubicBezTo>
                        <a:pt x="166428" y="0"/>
                        <a:pt x="177800" y="11372"/>
                        <a:pt x="177800" y="25400"/>
                      </a:cubicBezTo>
                      <a:lnTo>
                        <a:pt x="177800" y="228599"/>
                      </a:lnTo>
                    </a:path>
                  </a:pathLst>
                </a:custGeom>
                <a:noFill/>
                <a:ln w="25400">
                  <a:solidFill>
                    <a:srgbClr val="FFFFFF"/>
                  </a:solidFill>
                </a:ln>
              </p:spPr>
            </p:sp>
          </p:grpSp>
          <p:sp>
            <p:nvSpPr>
              <p:cNvPr id="68" name="TextBox 68"/>
              <p:cNvSpPr txBox="1"/>
              <p:nvPr/>
            </p:nvSpPr>
            <p:spPr>
              <a:xfrm>
                <a:off x="4462653" y="2461260"/>
                <a:ext cx="1304544" cy="234696"/>
              </a:xfrm>
              <a:prstGeom prst="rect">
                <a:avLst/>
              </a:prstGeom>
              <a:noFill/>
              <a:ln>
                <a:noFill/>
              </a:ln>
            </p:spPr>
            <p:txBody>
              <a:bodyPr wrap="none" lIns="0" tIns="0" rIns="0" bIns="0" anchor="t" anchorCtr="0">
                <a:spAutoFit/>
              </a:bodyPr>
              <a:lstStyle/>
              <a:p>
                <a:pPr algn="ctr"/>
                <a:r>
                  <a:rPr lang="zh-CN" sz="1200" b="1" dirty="0">
                    <a:solidFill>
                      <a:srgbClr val="B03A1F"/>
                    </a:solidFill>
                    <a:latin typeface="+mn-lt"/>
                    <a:ea typeface="+mn-ea"/>
                    <a:cs typeface="+mn-cs"/>
                  </a:rPr>
                  <a:t>代发工资源头工程</a:t>
                </a:r>
              </a:p>
            </p:txBody>
          </p:sp>
          <p:grpSp>
            <p:nvGrpSpPr>
              <p:cNvPr id="71" name="Group 71"/>
              <p:cNvGrpSpPr/>
              <p:nvPr/>
            </p:nvGrpSpPr>
            <p:grpSpPr>
              <a:xfrm>
                <a:off x="4100512" y="2843212"/>
                <a:ext cx="142875" cy="142875"/>
                <a:chOff x="4100512" y="2843212"/>
                <a:chExt cx="142875" cy="142875"/>
              </a:xfrm>
            </p:grpSpPr>
            <p:sp>
              <p:nvSpPr>
                <p:cNvPr id="69" name="Freeform 69"/>
                <p:cNvSpPr/>
                <p:nvPr/>
              </p:nvSpPr>
              <p:spPr>
                <a:xfrm>
                  <a:off x="4100512" y="28432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B03A1F"/>
                  </a:solidFill>
                </a:ln>
              </p:spPr>
            </p:sp>
            <p:sp>
              <p:nvSpPr>
                <p:cNvPr id="70" name="Freeform 70"/>
                <p:cNvSpPr/>
                <p:nvPr/>
              </p:nvSpPr>
              <p:spPr>
                <a:xfrm>
                  <a:off x="4148137" y="2898775"/>
                  <a:ext cx="47625" cy="31750"/>
                </a:xfrm>
                <a:custGeom>
                  <a:avLst/>
                  <a:gdLst/>
                  <a:ahLst/>
                  <a:cxnLst/>
                  <a:rect l="l" t="t" r="r" b="b"/>
                  <a:pathLst>
                    <a:path w="47625" h="31750">
                      <a:moveTo>
                        <a:pt x="0" y="15875"/>
                      </a:moveTo>
                      <a:lnTo>
                        <a:pt x="15875" y="31750"/>
                      </a:lnTo>
                      <a:lnTo>
                        <a:pt x="47625" y="0"/>
                      </a:lnTo>
                    </a:path>
                  </a:pathLst>
                </a:custGeom>
                <a:noFill/>
                <a:ln w="15875">
                  <a:solidFill>
                    <a:srgbClr val="B03A1F"/>
                  </a:solidFill>
                </a:ln>
              </p:spPr>
            </p:sp>
          </p:grpSp>
          <p:sp>
            <p:nvSpPr>
              <p:cNvPr id="72" name="TextBox 72"/>
              <p:cNvSpPr txBox="1"/>
              <p:nvPr/>
            </p:nvSpPr>
            <p:spPr>
              <a:xfrm>
                <a:off x="4338638" y="2869168"/>
                <a:ext cx="1010963"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锁定150家重点单位</a:t>
                </a:r>
              </a:p>
            </p:txBody>
          </p:sp>
          <p:grpSp>
            <p:nvGrpSpPr>
              <p:cNvPr id="75" name="Group 75"/>
              <p:cNvGrpSpPr/>
              <p:nvPr/>
            </p:nvGrpSpPr>
            <p:grpSpPr>
              <a:xfrm>
                <a:off x="4100512" y="3224212"/>
                <a:ext cx="142875" cy="142875"/>
                <a:chOff x="4100512" y="3224212"/>
                <a:chExt cx="142875" cy="142875"/>
              </a:xfrm>
            </p:grpSpPr>
            <p:sp>
              <p:nvSpPr>
                <p:cNvPr id="73" name="Freeform 73"/>
                <p:cNvSpPr/>
                <p:nvPr/>
              </p:nvSpPr>
              <p:spPr>
                <a:xfrm>
                  <a:off x="4100512" y="32242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B03A1F"/>
                  </a:solidFill>
                </a:ln>
              </p:spPr>
            </p:sp>
            <p:sp>
              <p:nvSpPr>
                <p:cNvPr id="74" name="Freeform 74"/>
                <p:cNvSpPr/>
                <p:nvPr/>
              </p:nvSpPr>
              <p:spPr>
                <a:xfrm>
                  <a:off x="4148137" y="3279775"/>
                  <a:ext cx="47625" cy="31750"/>
                </a:xfrm>
                <a:custGeom>
                  <a:avLst/>
                  <a:gdLst/>
                  <a:ahLst/>
                  <a:cxnLst/>
                  <a:rect l="l" t="t" r="r" b="b"/>
                  <a:pathLst>
                    <a:path w="47625" h="31750">
                      <a:moveTo>
                        <a:pt x="0" y="15875"/>
                      </a:moveTo>
                      <a:lnTo>
                        <a:pt x="15875" y="31750"/>
                      </a:lnTo>
                      <a:lnTo>
                        <a:pt x="47625" y="0"/>
                      </a:lnTo>
                    </a:path>
                  </a:pathLst>
                </a:custGeom>
                <a:noFill/>
                <a:ln w="15875">
                  <a:solidFill>
                    <a:srgbClr val="B03A1F"/>
                  </a:solidFill>
                </a:ln>
              </p:spPr>
            </p:sp>
          </p:grpSp>
          <p:sp>
            <p:nvSpPr>
              <p:cNvPr id="76" name="TextBox 76"/>
              <p:cNvSpPr txBox="1"/>
              <p:nvPr/>
            </p:nvSpPr>
            <p:spPr>
              <a:xfrm>
                <a:off x="4338638" y="3250168"/>
                <a:ext cx="999386"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新增有效客户8万户</a:t>
                </a:r>
              </a:p>
            </p:txBody>
          </p:sp>
          <p:grpSp>
            <p:nvGrpSpPr>
              <p:cNvPr id="79" name="Group 79"/>
              <p:cNvGrpSpPr/>
              <p:nvPr/>
            </p:nvGrpSpPr>
            <p:grpSpPr>
              <a:xfrm>
                <a:off x="4100512" y="3605212"/>
                <a:ext cx="142875" cy="142875"/>
                <a:chOff x="4100512" y="3605212"/>
                <a:chExt cx="142875" cy="142875"/>
              </a:xfrm>
            </p:grpSpPr>
            <p:sp>
              <p:nvSpPr>
                <p:cNvPr id="77" name="Freeform 77"/>
                <p:cNvSpPr/>
                <p:nvPr/>
              </p:nvSpPr>
              <p:spPr>
                <a:xfrm>
                  <a:off x="4100512" y="36052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B03A1F"/>
                  </a:solidFill>
                </a:ln>
              </p:spPr>
            </p:sp>
            <p:sp>
              <p:nvSpPr>
                <p:cNvPr id="78" name="Freeform 78"/>
                <p:cNvSpPr/>
                <p:nvPr/>
              </p:nvSpPr>
              <p:spPr>
                <a:xfrm>
                  <a:off x="4148137" y="3660775"/>
                  <a:ext cx="47625" cy="31750"/>
                </a:xfrm>
                <a:custGeom>
                  <a:avLst/>
                  <a:gdLst/>
                  <a:ahLst/>
                  <a:cxnLst/>
                  <a:rect l="l" t="t" r="r" b="b"/>
                  <a:pathLst>
                    <a:path w="47625" h="31750">
                      <a:moveTo>
                        <a:pt x="0" y="15875"/>
                      </a:moveTo>
                      <a:lnTo>
                        <a:pt x="15875" y="31750"/>
                      </a:lnTo>
                      <a:lnTo>
                        <a:pt x="47625" y="0"/>
                      </a:lnTo>
                    </a:path>
                  </a:pathLst>
                </a:custGeom>
                <a:noFill/>
                <a:ln w="15875">
                  <a:solidFill>
                    <a:srgbClr val="B03A1F"/>
                  </a:solidFill>
                </a:ln>
              </p:spPr>
            </p:sp>
          </p:grpSp>
          <p:sp>
            <p:nvSpPr>
              <p:cNvPr id="80" name="TextBox 80"/>
              <p:cNvSpPr txBox="1"/>
              <p:nvPr/>
            </p:nvSpPr>
            <p:spPr>
              <a:xfrm>
                <a:off x="4338638" y="3631168"/>
                <a:ext cx="77406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A3A3A"/>
                    </a:solidFill>
                    <a:latin typeface="+mn-lt"/>
                    <a:ea typeface="+mn-ea"/>
                    <a:cs typeface="+mn-cs"/>
                  </a:rPr>
                  <a:t>新增存款留存率</a:t>
                </a:r>
                <a:br/>
                <a:r>
                  <a:rPr lang="zh-CN" sz="860" dirty="0">
                    <a:solidFill>
                      <a:srgbClr val="3A3A3A"/>
                    </a:solidFill>
                    <a:latin typeface="+mn-lt"/>
                    <a:ea typeface="+mn-ea"/>
                    <a:cs typeface="+mn-cs"/>
                  </a:rPr>
                  <a:t>不低于30%</a:t>
                </a:r>
              </a:p>
            </p:txBody>
          </p:sp>
        </p:grpSp>
        <p:grpSp>
          <p:nvGrpSpPr>
            <p:cNvPr id="94" name="engine-social"/>
            <p:cNvGrpSpPr/>
            <p:nvPr/>
          </p:nvGrpSpPr>
          <p:grpSpPr>
            <a:xfrm>
              <a:off x="6572250" y="1476375"/>
              <a:ext cx="2619375" cy="2762250"/>
              <a:chOff x="6572250" y="1476375"/>
              <a:chExt cx="2619375" cy="2762250"/>
            </a:xfrm>
          </p:grpSpPr>
          <p:sp>
            <p:nvSpPr>
              <p:cNvPr id="82" name="Rectangle 82"/>
              <p:cNvSpPr/>
              <p:nvPr/>
            </p:nvSpPr>
            <p:spPr>
              <a:xfrm>
                <a:off x="6572250" y="1476375"/>
                <a:ext cx="2619375" cy="2762250"/>
              </a:xfrm>
              <a:prstGeom prst="roundRect">
                <a:avLst>
                  <a:gd name="adj" fmla="val 3636"/>
                </a:avLst>
              </a:prstGeom>
              <a:solidFill>
                <a:srgbClr val="FFFFFF"/>
              </a:solidFill>
              <a:ln w="14288">
                <a:solidFill>
                  <a:srgbClr val="D9ABA0"/>
                </a:solidFill>
              </a:ln>
            </p:spPr>
          </p:sp>
          <p:sp>
            <p:nvSpPr>
              <p:cNvPr id="83" name="Ellipse 83"/>
              <p:cNvSpPr/>
              <p:nvPr/>
            </p:nvSpPr>
            <p:spPr>
              <a:xfrm>
                <a:off x="7591425" y="1666875"/>
                <a:ext cx="571500" cy="571500"/>
              </a:xfrm>
              <a:prstGeom prst="ellipse">
                <a:avLst/>
              </a:prstGeom>
              <a:solidFill>
                <a:srgbClr val="B03A1F"/>
              </a:solidFill>
              <a:ln>
                <a:noFill/>
              </a:ln>
            </p:spPr>
          </p:sp>
          <p:grpSp>
            <p:nvGrpSpPr>
              <p:cNvPr id="88" name="Group 88"/>
              <p:cNvGrpSpPr/>
              <p:nvPr/>
            </p:nvGrpSpPr>
            <p:grpSpPr>
              <a:xfrm>
                <a:off x="7762875" y="1863725"/>
                <a:ext cx="228599" cy="177800"/>
                <a:chOff x="7762875" y="1863725"/>
                <a:chExt cx="228599" cy="177800"/>
              </a:xfrm>
            </p:grpSpPr>
            <p:sp>
              <p:nvSpPr>
                <p:cNvPr id="84" name="Freeform 84"/>
                <p:cNvSpPr/>
                <p:nvPr/>
              </p:nvSpPr>
              <p:spPr>
                <a:xfrm>
                  <a:off x="7762875" y="1863725"/>
                  <a:ext cx="228599" cy="177800"/>
                </a:xfrm>
                <a:custGeom>
                  <a:avLst/>
                  <a:gdLst/>
                  <a:ahLst/>
                  <a:cxnLst/>
                  <a:rect l="l" t="t" r="r" b="b"/>
                  <a:pathLst>
                    <a:path w="228599" h="177800">
                      <a:moveTo>
                        <a:pt x="0" y="38100"/>
                      </a:move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38100" y="177800"/>
                      </a:lnTo>
                      <a:cubicBezTo>
                        <a:pt x="17058" y="177800"/>
                        <a:pt x="0" y="160742"/>
                        <a:pt x="0" y="139700"/>
                      </a:cubicBezTo>
                      <a:lnTo>
                        <a:pt x="0" y="38100"/>
                      </a:lnTo>
                    </a:path>
                  </a:pathLst>
                </a:custGeom>
                <a:noFill/>
                <a:ln w="25400">
                  <a:solidFill>
                    <a:srgbClr val="FFFFFF"/>
                  </a:solidFill>
                </a:ln>
              </p:spPr>
            </p:sp>
            <p:sp>
              <p:nvSpPr>
                <p:cNvPr id="85" name="Freeform 85"/>
                <p:cNvSpPr/>
                <p:nvPr/>
              </p:nvSpPr>
              <p:spPr>
                <a:xfrm>
                  <a:off x="7762875" y="1927225"/>
                  <a:ext cx="228599" cy="9525"/>
                </a:xfrm>
                <a:custGeom>
                  <a:avLst/>
                  <a:gdLst/>
                  <a:ahLst/>
                  <a:cxnLst/>
                  <a:rect l="l" t="t" r="r" b="b"/>
                  <a:pathLst>
                    <a:path w="228599" h="9525">
                      <a:moveTo>
                        <a:pt x="0" y="0"/>
                      </a:moveTo>
                      <a:lnTo>
                        <a:pt x="228599" y="0"/>
                      </a:lnTo>
                    </a:path>
                  </a:pathLst>
                </a:custGeom>
                <a:noFill/>
                <a:ln w="25400">
                  <a:solidFill>
                    <a:srgbClr val="FFFFFF"/>
                  </a:solidFill>
                </a:ln>
              </p:spPr>
            </p:sp>
            <p:sp>
              <p:nvSpPr>
                <p:cNvPr id="86" name="Freeform 86"/>
                <p:cNvSpPr/>
                <p:nvPr/>
              </p:nvSpPr>
              <p:spPr>
                <a:xfrm>
                  <a:off x="7813675" y="1990725"/>
                  <a:ext cx="9525" cy="9525"/>
                </a:xfrm>
                <a:custGeom>
                  <a:avLst/>
                  <a:gdLst/>
                  <a:ahLst/>
                  <a:cxnLst/>
                  <a:rect l="l" t="t" r="r" b="b"/>
                  <a:pathLst>
                    <a:path w="9525" h="9525">
                      <a:moveTo>
                        <a:pt x="0" y="0"/>
                      </a:moveTo>
                      <a:lnTo>
                        <a:pt x="127" y="0"/>
                      </a:lnTo>
                    </a:path>
                  </a:pathLst>
                </a:custGeom>
                <a:noFill/>
                <a:ln w="25400">
                  <a:solidFill>
                    <a:srgbClr val="FFFFFF"/>
                  </a:solidFill>
                </a:ln>
              </p:spPr>
            </p:sp>
            <p:sp>
              <p:nvSpPr>
                <p:cNvPr id="87" name="Freeform 87"/>
                <p:cNvSpPr/>
                <p:nvPr/>
              </p:nvSpPr>
              <p:spPr>
                <a:xfrm>
                  <a:off x="7864475" y="1990725"/>
                  <a:ext cx="25400" cy="9525"/>
                </a:xfrm>
                <a:custGeom>
                  <a:avLst/>
                  <a:gdLst/>
                  <a:ahLst/>
                  <a:cxnLst/>
                  <a:rect l="l" t="t" r="r" b="b"/>
                  <a:pathLst>
                    <a:path w="25400" h="9525">
                      <a:moveTo>
                        <a:pt x="0" y="0"/>
                      </a:moveTo>
                      <a:lnTo>
                        <a:pt x="25400" y="0"/>
                      </a:lnTo>
                    </a:path>
                  </a:pathLst>
                </a:custGeom>
                <a:noFill/>
                <a:ln w="25400">
                  <a:solidFill>
                    <a:srgbClr val="FFFFFF"/>
                  </a:solidFill>
                </a:ln>
              </p:spPr>
            </p:sp>
          </p:grpSp>
          <p:sp>
            <p:nvSpPr>
              <p:cNvPr id="89" name="TextBox 89"/>
              <p:cNvSpPr txBox="1"/>
              <p:nvPr/>
            </p:nvSpPr>
            <p:spPr>
              <a:xfrm>
                <a:off x="7305675" y="2461260"/>
                <a:ext cx="1143000" cy="234696"/>
              </a:xfrm>
              <a:prstGeom prst="rect">
                <a:avLst/>
              </a:prstGeom>
              <a:noFill/>
              <a:ln>
                <a:noFill/>
              </a:ln>
            </p:spPr>
            <p:txBody>
              <a:bodyPr wrap="none" lIns="0" tIns="0" rIns="0" bIns="0" anchor="t" anchorCtr="0">
                <a:spAutoFit/>
              </a:bodyPr>
              <a:lstStyle/>
              <a:p>
                <a:pPr algn="ctr"/>
                <a:r>
                  <a:rPr lang="zh-CN" sz="1200" b="1" dirty="0">
                    <a:solidFill>
                      <a:srgbClr val="B03A1F"/>
                    </a:solidFill>
                    <a:latin typeface="+mn-lt"/>
                    <a:ea typeface="+mn-ea"/>
                    <a:cs typeface="+mn-cs"/>
                  </a:rPr>
                  <a:t>社保卡民生工程</a:t>
                </a:r>
              </a:p>
            </p:txBody>
          </p:sp>
          <p:grpSp>
            <p:nvGrpSpPr>
              <p:cNvPr id="92" name="Group 92"/>
              <p:cNvGrpSpPr/>
              <p:nvPr/>
            </p:nvGrpSpPr>
            <p:grpSpPr>
              <a:xfrm>
                <a:off x="7647156" y="2886075"/>
                <a:ext cx="434014" cy="400049"/>
                <a:chOff x="7647156" y="2886075"/>
                <a:chExt cx="434014" cy="400049"/>
              </a:xfrm>
            </p:grpSpPr>
            <p:sp>
              <p:nvSpPr>
                <p:cNvPr id="90" name="Freeform 90"/>
                <p:cNvSpPr/>
                <p:nvPr/>
              </p:nvSpPr>
              <p:spPr>
                <a:xfrm>
                  <a:off x="7647156" y="2886075"/>
                  <a:ext cx="434014" cy="396627"/>
                </a:xfrm>
                <a:custGeom>
                  <a:avLst/>
                  <a:gdLst/>
                  <a:ahLst/>
                  <a:cxnLst/>
                  <a:rect l="l" t="t" r="r" b="b"/>
                  <a:pathLst>
                    <a:path w="434014" h="396627">
                      <a:moveTo>
                        <a:pt x="218017" y="396627"/>
                      </a:moveTo>
                      <a:cubicBezTo>
                        <a:pt x="78788" y="353469"/>
                        <a:pt x="0" y="206524"/>
                        <a:pt x="41106" y="66675"/>
                      </a:cubicBezTo>
                      <a:cubicBezTo>
                        <a:pt x="110349" y="69843"/>
                        <a:pt x="178105" y="45930"/>
                        <a:pt x="230018" y="0"/>
                      </a:cubicBezTo>
                      <a:cubicBezTo>
                        <a:pt x="281932" y="45930"/>
                        <a:pt x="349688" y="69843"/>
                        <a:pt x="418931" y="66675"/>
                      </a:cubicBezTo>
                      <a:cubicBezTo>
                        <a:pt x="434014" y="117995"/>
                        <a:pt x="433317" y="172664"/>
                        <a:pt x="416930" y="223583"/>
                      </a:cubicBezTo>
                    </a:path>
                  </a:pathLst>
                </a:custGeom>
                <a:noFill/>
                <a:ln w="44450">
                  <a:solidFill>
                    <a:srgbClr val="B03A1F"/>
                  </a:solidFill>
                </a:ln>
              </p:spPr>
            </p:sp>
            <p:sp>
              <p:nvSpPr>
                <p:cNvPr id="91" name="Freeform 91"/>
                <p:cNvSpPr/>
                <p:nvPr/>
              </p:nvSpPr>
              <p:spPr>
                <a:xfrm>
                  <a:off x="7943850" y="3197224"/>
                  <a:ext cx="133350" cy="88900"/>
                </a:xfrm>
                <a:custGeom>
                  <a:avLst/>
                  <a:gdLst/>
                  <a:ahLst/>
                  <a:cxnLst/>
                  <a:rect l="l" t="t" r="r" b="b"/>
                  <a:pathLst>
                    <a:path w="133350" h="88900">
                      <a:moveTo>
                        <a:pt x="0" y="44450"/>
                      </a:moveTo>
                      <a:lnTo>
                        <a:pt x="44450" y="88900"/>
                      </a:lnTo>
                      <a:lnTo>
                        <a:pt x="133350" y="0"/>
                      </a:lnTo>
                    </a:path>
                  </a:pathLst>
                </a:custGeom>
                <a:noFill/>
                <a:ln w="44450">
                  <a:solidFill>
                    <a:srgbClr val="B03A1F"/>
                  </a:solidFill>
                </a:ln>
              </p:spPr>
            </p:sp>
          </p:grpSp>
          <p:sp>
            <p:nvSpPr>
              <p:cNvPr id="93" name="TextBox 93"/>
              <p:cNvSpPr txBox="1"/>
              <p:nvPr/>
            </p:nvSpPr>
            <p:spPr>
              <a:xfrm>
                <a:off x="7435532" y="3583543"/>
                <a:ext cx="883285" cy="321469"/>
              </a:xfrm>
              <a:prstGeom prst="rect">
                <a:avLst/>
              </a:prstGeom>
              <a:noFill/>
              <a:ln>
                <a:noFill/>
              </a:ln>
            </p:spPr>
            <p:txBody>
              <a:bodyPr wrap="none" lIns="0" tIns="0" rIns="0" bIns="0" anchor="t" anchorCtr="0">
                <a:spAutoFit/>
              </a:bodyPr>
              <a:lstStyle/>
              <a:p>
                <a:pPr algn="ctr">
                  <a:lnSpc>
                    <a:spcPts val="1200"/>
                  </a:lnSpc>
                </a:pPr>
                <a:r>
                  <a:rPr lang="zh-CN" sz="860" dirty="0">
                    <a:solidFill>
                      <a:srgbClr val="3A3A3A"/>
                    </a:solidFill>
                    <a:latin typeface="+mn-lt"/>
                    <a:ea typeface="+mn-ea"/>
                    <a:cs typeface="+mn-cs"/>
                  </a:rPr>
                  <a:t>新增激活5万户并</a:t>
                </a:r>
                <a:br/>
                <a:r>
                  <a:rPr lang="zh-CN" sz="860" dirty="0">
                    <a:solidFill>
                      <a:srgbClr val="3A3A3A"/>
                    </a:solidFill>
                    <a:latin typeface="+mn-lt"/>
                    <a:ea typeface="+mn-ea"/>
                    <a:cs typeface="+mn-cs"/>
                  </a:rPr>
                  <a:t>实现有效资产转化</a:t>
                </a:r>
              </a:p>
            </p:txBody>
          </p:sp>
        </p:grpSp>
        <p:grpSp>
          <p:nvGrpSpPr>
            <p:cNvPr id="127" name="engine-scene"/>
            <p:cNvGrpSpPr/>
            <p:nvPr/>
          </p:nvGrpSpPr>
          <p:grpSpPr>
            <a:xfrm>
              <a:off x="9334500" y="1476375"/>
              <a:ext cx="2619375" cy="2762250"/>
              <a:chOff x="9334500" y="1476375"/>
              <a:chExt cx="2619375" cy="2762250"/>
            </a:xfrm>
          </p:grpSpPr>
          <p:sp>
            <p:nvSpPr>
              <p:cNvPr id="95" name="Rectangle 95"/>
              <p:cNvSpPr/>
              <p:nvPr/>
            </p:nvSpPr>
            <p:spPr>
              <a:xfrm>
                <a:off x="9334500" y="1476375"/>
                <a:ext cx="2619375" cy="2762250"/>
              </a:xfrm>
              <a:prstGeom prst="roundRect">
                <a:avLst>
                  <a:gd name="adj" fmla="val 3636"/>
                </a:avLst>
              </a:prstGeom>
              <a:solidFill>
                <a:srgbClr val="FFFFFF"/>
              </a:solidFill>
              <a:ln w="14288">
                <a:solidFill>
                  <a:srgbClr val="D9ABA0"/>
                </a:solidFill>
              </a:ln>
            </p:spPr>
          </p:sp>
          <p:sp>
            <p:nvSpPr>
              <p:cNvPr id="96" name="Ellipse 96"/>
              <p:cNvSpPr/>
              <p:nvPr/>
            </p:nvSpPr>
            <p:spPr>
              <a:xfrm>
                <a:off x="10353675" y="1666875"/>
                <a:ext cx="571500" cy="571500"/>
              </a:xfrm>
              <a:prstGeom prst="ellipse">
                <a:avLst/>
              </a:prstGeom>
              <a:solidFill>
                <a:srgbClr val="B03A1F"/>
              </a:solidFill>
              <a:ln>
                <a:noFill/>
              </a:ln>
            </p:spPr>
          </p:sp>
          <p:sp>
            <p:nvSpPr>
              <p:cNvPr id="97" name="Freeform 97"/>
              <p:cNvSpPr/>
              <p:nvPr/>
            </p:nvSpPr>
            <p:spPr>
              <a:xfrm>
                <a:off x="10525125" y="1838325"/>
                <a:ext cx="228599" cy="228599"/>
              </a:xfrm>
              <a:custGeom>
                <a:avLst/>
                <a:gdLst/>
                <a:ahLst/>
                <a:cxnLst/>
                <a:rect l="l" t="t" r="r" b="b"/>
                <a:pathLst>
                  <a:path w="228599" h="228599">
                    <a:moveTo>
                      <a:pt x="12700" y="50800"/>
                    </a:moveTo>
                    <a:lnTo>
                      <a:pt x="50800" y="50800"/>
                    </a:lnTo>
                    <a:cubicBezTo>
                      <a:pt x="57814" y="50800"/>
                      <a:pt x="63500" y="45114"/>
                      <a:pt x="63500" y="38100"/>
                    </a:cubicBezTo>
                    <a:lnTo>
                      <a:pt x="63500" y="25400"/>
                    </a:lnTo>
                    <a:cubicBezTo>
                      <a:pt x="63500" y="11372"/>
                      <a:pt x="74872" y="0"/>
                      <a:pt x="88900" y="0"/>
                    </a:cubicBezTo>
                    <a:cubicBezTo>
                      <a:pt x="102928" y="0"/>
                      <a:pt x="114300" y="11372"/>
                      <a:pt x="114300" y="25400"/>
                    </a:cubicBezTo>
                    <a:lnTo>
                      <a:pt x="114300" y="38100"/>
                    </a:lnTo>
                    <a:cubicBezTo>
                      <a:pt x="114300" y="45114"/>
                      <a:pt x="119986" y="50800"/>
                      <a:pt x="127000" y="50800"/>
                    </a:cubicBezTo>
                    <a:lnTo>
                      <a:pt x="165100" y="50800"/>
                    </a:lnTo>
                    <a:cubicBezTo>
                      <a:pt x="172114" y="50800"/>
                      <a:pt x="177800" y="56486"/>
                      <a:pt x="177800" y="63500"/>
                    </a:cubicBezTo>
                    <a:lnTo>
                      <a:pt x="177800" y="101600"/>
                    </a:lnTo>
                    <a:cubicBezTo>
                      <a:pt x="177800" y="108614"/>
                      <a:pt x="183486" y="114300"/>
                      <a:pt x="190500" y="114300"/>
                    </a:cubicBezTo>
                    <a:lnTo>
                      <a:pt x="203199" y="114300"/>
                    </a:lnTo>
                    <a:cubicBezTo>
                      <a:pt x="217227" y="114300"/>
                      <a:pt x="228599" y="125672"/>
                      <a:pt x="228599" y="139700"/>
                    </a:cubicBezTo>
                    <a:cubicBezTo>
                      <a:pt x="228599" y="153728"/>
                      <a:pt x="217227" y="165100"/>
                      <a:pt x="203199" y="165100"/>
                    </a:cubicBezTo>
                    <a:lnTo>
                      <a:pt x="190500" y="165100"/>
                    </a:lnTo>
                    <a:cubicBezTo>
                      <a:pt x="183486" y="165100"/>
                      <a:pt x="177800" y="170786"/>
                      <a:pt x="177800" y="177800"/>
                    </a:cubicBezTo>
                    <a:lnTo>
                      <a:pt x="177800" y="215899"/>
                    </a:lnTo>
                    <a:cubicBezTo>
                      <a:pt x="177800" y="222913"/>
                      <a:pt x="172114" y="228599"/>
                      <a:pt x="165100" y="228599"/>
                    </a:cubicBezTo>
                    <a:lnTo>
                      <a:pt x="127000" y="228599"/>
                    </a:lnTo>
                    <a:cubicBezTo>
                      <a:pt x="119986" y="228599"/>
                      <a:pt x="114300" y="222913"/>
                      <a:pt x="114300" y="215899"/>
                    </a:cubicBezTo>
                    <a:lnTo>
                      <a:pt x="114300" y="203199"/>
                    </a:lnTo>
                    <a:cubicBezTo>
                      <a:pt x="114300" y="189171"/>
                      <a:pt x="102928" y="177800"/>
                      <a:pt x="88900" y="177800"/>
                    </a:cubicBezTo>
                    <a:cubicBezTo>
                      <a:pt x="74872" y="177800"/>
                      <a:pt x="63500" y="189171"/>
                      <a:pt x="63500" y="203199"/>
                    </a:cubicBezTo>
                    <a:lnTo>
                      <a:pt x="63500" y="215899"/>
                    </a:lnTo>
                    <a:cubicBezTo>
                      <a:pt x="63500" y="222913"/>
                      <a:pt x="57814" y="228599"/>
                      <a:pt x="50800" y="228599"/>
                    </a:cubicBezTo>
                    <a:lnTo>
                      <a:pt x="12700" y="228599"/>
                    </a:lnTo>
                    <a:cubicBezTo>
                      <a:pt x="5686" y="228599"/>
                      <a:pt x="0" y="222913"/>
                      <a:pt x="0" y="215899"/>
                    </a:cubicBezTo>
                    <a:lnTo>
                      <a:pt x="0" y="177800"/>
                    </a:lnTo>
                    <a:cubicBezTo>
                      <a:pt x="0" y="170786"/>
                      <a:pt x="5686" y="165100"/>
                      <a:pt x="12700" y="165100"/>
                    </a:cubicBezTo>
                    <a:lnTo>
                      <a:pt x="25400" y="165100"/>
                    </a:lnTo>
                    <a:cubicBezTo>
                      <a:pt x="39428" y="165100"/>
                      <a:pt x="50800" y="153728"/>
                      <a:pt x="50800" y="139700"/>
                    </a:cubicBezTo>
                    <a:cubicBezTo>
                      <a:pt x="50800" y="125672"/>
                      <a:pt x="39428" y="114300"/>
                      <a:pt x="25400" y="114300"/>
                    </a:cubicBezTo>
                    <a:lnTo>
                      <a:pt x="12700" y="114300"/>
                    </a:lnTo>
                    <a:cubicBezTo>
                      <a:pt x="5686" y="114300"/>
                      <a:pt x="0" y="108614"/>
                      <a:pt x="0" y="101600"/>
                    </a:cubicBezTo>
                    <a:lnTo>
                      <a:pt x="0" y="63500"/>
                    </a:lnTo>
                    <a:cubicBezTo>
                      <a:pt x="0" y="56486"/>
                      <a:pt x="5686" y="50800"/>
                      <a:pt x="12700" y="50800"/>
                    </a:cubicBezTo>
                  </a:path>
                </a:pathLst>
              </a:custGeom>
              <a:noFill/>
              <a:ln w="25400">
                <a:solidFill>
                  <a:srgbClr val="FFFFFF"/>
                </a:solidFill>
              </a:ln>
            </p:spPr>
          </p:sp>
          <p:sp>
            <p:nvSpPr>
              <p:cNvPr id="98" name="TextBox 98"/>
              <p:cNvSpPr txBox="1"/>
              <p:nvPr/>
            </p:nvSpPr>
            <p:spPr>
              <a:xfrm>
                <a:off x="10148697" y="2461260"/>
                <a:ext cx="981456" cy="234696"/>
              </a:xfrm>
              <a:prstGeom prst="rect">
                <a:avLst/>
              </a:prstGeom>
              <a:noFill/>
              <a:ln>
                <a:noFill/>
              </a:ln>
            </p:spPr>
            <p:txBody>
              <a:bodyPr wrap="none" lIns="0" tIns="0" rIns="0" bIns="0" anchor="t" anchorCtr="0">
                <a:spAutoFit/>
              </a:bodyPr>
              <a:lstStyle/>
              <a:p>
                <a:pPr algn="ctr"/>
                <a:r>
                  <a:rPr lang="zh-CN" sz="1200" b="1" dirty="0">
                    <a:solidFill>
                      <a:srgbClr val="B03A1F"/>
                    </a:solidFill>
                    <a:latin typeface="+mn-lt"/>
                    <a:ea typeface="+mn-ea"/>
                    <a:cs typeface="+mn-cs"/>
                  </a:rPr>
                  <a:t>四大场景生态</a:t>
                </a:r>
              </a:p>
            </p:txBody>
          </p:sp>
          <p:grpSp>
            <p:nvGrpSpPr>
              <p:cNvPr id="101" name="Group 101"/>
              <p:cNvGrpSpPr/>
              <p:nvPr/>
            </p:nvGrpSpPr>
            <p:grpSpPr>
              <a:xfrm>
                <a:off x="9548812" y="2878931"/>
                <a:ext cx="238125" cy="166687"/>
                <a:chOff x="9548812" y="2878931"/>
                <a:chExt cx="238125" cy="166687"/>
              </a:xfrm>
            </p:grpSpPr>
            <p:sp>
              <p:nvSpPr>
                <p:cNvPr id="99" name="Freeform 99"/>
                <p:cNvSpPr/>
                <p:nvPr/>
              </p:nvSpPr>
              <p:spPr>
                <a:xfrm>
                  <a:off x="9548812" y="2878931"/>
                  <a:ext cx="238125" cy="119062"/>
                </a:xfrm>
                <a:custGeom>
                  <a:avLst/>
                  <a:gdLst/>
                  <a:ahLst/>
                  <a:cxnLst/>
                  <a:rect l="l" t="t" r="r" b="b"/>
                  <a:pathLst>
                    <a:path w="238125" h="119062">
                      <a:moveTo>
                        <a:pt x="238125" y="47625"/>
                      </a:moveTo>
                      <a:lnTo>
                        <a:pt x="119062" y="0"/>
                      </a:lnTo>
                      <a:lnTo>
                        <a:pt x="0" y="47625"/>
                      </a:lnTo>
                      <a:lnTo>
                        <a:pt x="119062" y="95250"/>
                      </a:lnTo>
                      <a:lnTo>
                        <a:pt x="238125" y="47625"/>
                      </a:lnTo>
                      <a:lnTo>
                        <a:pt x="238125" y="119062"/>
                      </a:lnTo>
                    </a:path>
                  </a:pathLst>
                </a:custGeom>
                <a:noFill/>
                <a:ln w="23812">
                  <a:solidFill>
                    <a:srgbClr val="B03A1F"/>
                  </a:solidFill>
                </a:ln>
              </p:spPr>
            </p:sp>
            <p:sp>
              <p:nvSpPr>
                <p:cNvPr id="100" name="Freeform 100"/>
                <p:cNvSpPr/>
                <p:nvPr/>
              </p:nvSpPr>
              <p:spPr>
                <a:xfrm>
                  <a:off x="9596438" y="2945606"/>
                  <a:ext cx="142875" cy="100012"/>
                </a:xfrm>
                <a:custGeom>
                  <a:avLst/>
                  <a:gdLst/>
                  <a:ahLst/>
                  <a:cxnLst/>
                  <a:rect l="l" t="t" r="r" b="b"/>
                  <a:pathLst>
                    <a:path w="142875" h="100012">
                      <a:moveTo>
                        <a:pt x="0" y="0"/>
                      </a:moveTo>
                      <a:lnTo>
                        <a:pt x="0" y="64294"/>
                      </a:lnTo>
                      <a:cubicBezTo>
                        <a:pt x="0" y="84021"/>
                        <a:pt x="31984" y="100012"/>
                        <a:pt x="71438" y="100012"/>
                      </a:cubicBezTo>
                      <a:cubicBezTo>
                        <a:pt x="110891" y="100012"/>
                        <a:pt x="142875" y="84021"/>
                        <a:pt x="142875" y="64294"/>
                      </a:cubicBezTo>
                      <a:lnTo>
                        <a:pt x="142875" y="0"/>
                      </a:lnTo>
                    </a:path>
                  </a:pathLst>
                </a:custGeom>
                <a:noFill/>
                <a:ln w="23812">
                  <a:solidFill>
                    <a:srgbClr val="B03A1F"/>
                  </a:solidFill>
                </a:ln>
              </p:spPr>
            </p:sp>
          </p:grpSp>
          <p:sp>
            <p:nvSpPr>
              <p:cNvPr id="102" name="TextBox 102"/>
              <p:cNvSpPr txBox="1"/>
              <p:nvPr/>
            </p:nvSpPr>
            <p:spPr>
              <a:xfrm>
                <a:off x="9556763" y="3229689"/>
                <a:ext cx="222225"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校园</a:t>
                </a:r>
              </a:p>
            </p:txBody>
          </p:sp>
          <p:grpSp>
            <p:nvGrpSpPr>
              <p:cNvPr id="106" name="Group 106"/>
              <p:cNvGrpSpPr/>
              <p:nvPr/>
            </p:nvGrpSpPr>
            <p:grpSpPr>
              <a:xfrm>
                <a:off x="10132219" y="2855119"/>
                <a:ext cx="214312" cy="214312"/>
                <a:chOff x="10132219" y="2855119"/>
                <a:chExt cx="214312" cy="214312"/>
              </a:xfrm>
            </p:grpSpPr>
            <p:sp>
              <p:nvSpPr>
                <p:cNvPr id="103" name="Freeform 103"/>
                <p:cNvSpPr/>
                <p:nvPr/>
              </p:nvSpPr>
              <p:spPr>
                <a:xfrm>
                  <a:off x="10132219" y="2855119"/>
                  <a:ext cx="214312" cy="107156"/>
                </a:xfrm>
                <a:custGeom>
                  <a:avLst/>
                  <a:gdLst/>
                  <a:ahLst/>
                  <a:cxnLst/>
                  <a:rect l="l" t="t" r="r" b="b"/>
                  <a:pathLst>
                    <a:path w="214312" h="107156">
                      <a:moveTo>
                        <a:pt x="23812" y="107156"/>
                      </a:moveTo>
                      <a:lnTo>
                        <a:pt x="0" y="107156"/>
                      </a:lnTo>
                      <a:lnTo>
                        <a:pt x="107156" y="0"/>
                      </a:lnTo>
                      <a:lnTo>
                        <a:pt x="214312" y="107156"/>
                      </a:lnTo>
                      <a:lnTo>
                        <a:pt x="190500" y="107156"/>
                      </a:lnTo>
                    </a:path>
                  </a:pathLst>
                </a:custGeom>
                <a:noFill/>
                <a:ln w="23812">
                  <a:solidFill>
                    <a:srgbClr val="B03A1F"/>
                  </a:solidFill>
                </a:ln>
              </p:spPr>
            </p:sp>
            <p:sp>
              <p:nvSpPr>
                <p:cNvPr id="104" name="Freeform 104"/>
                <p:cNvSpPr/>
                <p:nvPr/>
              </p:nvSpPr>
              <p:spPr>
                <a:xfrm>
                  <a:off x="10156031" y="2962275"/>
                  <a:ext cx="166688" cy="107156"/>
                </a:xfrm>
                <a:custGeom>
                  <a:avLst/>
                  <a:gdLst/>
                  <a:ahLst/>
                  <a:cxnLst/>
                  <a:rect l="l" t="t" r="r" b="b"/>
                  <a:pathLst>
                    <a:path w="166688" h="107156">
                      <a:moveTo>
                        <a:pt x="0" y="0"/>
                      </a:moveTo>
                      <a:lnTo>
                        <a:pt x="0" y="83344"/>
                      </a:lnTo>
                      <a:cubicBezTo>
                        <a:pt x="0" y="96495"/>
                        <a:pt x="10661" y="107156"/>
                        <a:pt x="23812" y="107156"/>
                      </a:cubicBezTo>
                      <a:lnTo>
                        <a:pt x="142875" y="107156"/>
                      </a:lnTo>
                      <a:cubicBezTo>
                        <a:pt x="156026" y="107156"/>
                        <a:pt x="166688" y="96495"/>
                        <a:pt x="166688" y="83344"/>
                      </a:cubicBezTo>
                      <a:lnTo>
                        <a:pt x="166688" y="0"/>
                      </a:lnTo>
                    </a:path>
                  </a:pathLst>
                </a:custGeom>
                <a:noFill/>
                <a:ln w="23812">
                  <a:solidFill>
                    <a:srgbClr val="B03A1F"/>
                  </a:solidFill>
                </a:ln>
              </p:spPr>
            </p:sp>
            <p:sp>
              <p:nvSpPr>
                <p:cNvPr id="105" name="Freeform 105"/>
                <p:cNvSpPr/>
                <p:nvPr/>
              </p:nvSpPr>
              <p:spPr>
                <a:xfrm>
                  <a:off x="10203656" y="2974181"/>
                  <a:ext cx="71438" cy="95250"/>
                </a:xfrm>
                <a:custGeom>
                  <a:avLst/>
                  <a:gdLst/>
                  <a:ahLst/>
                  <a:cxnLst/>
                  <a:rect l="l" t="t" r="r" b="b"/>
                  <a:pathLst>
                    <a:path w="71438" h="95250">
                      <a:moveTo>
                        <a:pt x="0" y="95250"/>
                      </a:moveTo>
                      <a:lnTo>
                        <a:pt x="0" y="23812"/>
                      </a:lnTo>
                      <a:cubicBezTo>
                        <a:pt x="0" y="10661"/>
                        <a:pt x="10661" y="0"/>
                        <a:pt x="23812" y="0"/>
                      </a:cubicBezTo>
                      <a:lnTo>
                        <a:pt x="47625" y="0"/>
                      </a:lnTo>
                      <a:cubicBezTo>
                        <a:pt x="60776" y="0"/>
                        <a:pt x="71438" y="10661"/>
                        <a:pt x="71438" y="23812"/>
                      </a:cubicBezTo>
                      <a:lnTo>
                        <a:pt x="71438" y="95250"/>
                      </a:lnTo>
                    </a:path>
                  </a:pathLst>
                </a:custGeom>
                <a:noFill/>
                <a:ln w="23812">
                  <a:solidFill>
                    <a:srgbClr val="B03A1F"/>
                  </a:solidFill>
                </a:ln>
              </p:spPr>
            </p:sp>
          </p:grpSp>
          <p:sp>
            <p:nvSpPr>
              <p:cNvPr id="107" name="TextBox 107"/>
              <p:cNvSpPr txBox="1"/>
              <p:nvPr/>
            </p:nvSpPr>
            <p:spPr>
              <a:xfrm>
                <a:off x="10128263" y="3229689"/>
                <a:ext cx="222225"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社区</a:t>
                </a:r>
              </a:p>
            </p:txBody>
          </p:sp>
          <p:grpSp>
            <p:nvGrpSpPr>
              <p:cNvPr id="112" name="Group 112"/>
              <p:cNvGrpSpPr/>
              <p:nvPr/>
            </p:nvGrpSpPr>
            <p:grpSpPr>
              <a:xfrm>
                <a:off x="10715625" y="2855119"/>
                <a:ext cx="190501" cy="214312"/>
                <a:chOff x="10715625" y="2855119"/>
                <a:chExt cx="190501" cy="214312"/>
              </a:xfrm>
            </p:grpSpPr>
            <p:sp>
              <p:nvSpPr>
                <p:cNvPr id="108" name="Freeform 108"/>
                <p:cNvSpPr/>
                <p:nvPr/>
              </p:nvSpPr>
              <p:spPr>
                <a:xfrm>
                  <a:off x="10715625" y="302180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B03A1F"/>
                  </a:solidFill>
                </a:ln>
              </p:spPr>
            </p:sp>
            <p:sp>
              <p:nvSpPr>
                <p:cNvPr id="109" name="Freeform 109"/>
                <p:cNvSpPr/>
                <p:nvPr/>
              </p:nvSpPr>
              <p:spPr>
                <a:xfrm>
                  <a:off x="10846594" y="302180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B03A1F"/>
                  </a:solidFill>
                </a:ln>
              </p:spPr>
            </p:sp>
            <p:sp>
              <p:nvSpPr>
                <p:cNvPr id="110" name="Freeform 110"/>
                <p:cNvSpPr/>
                <p:nvPr/>
              </p:nvSpPr>
              <p:spPr>
                <a:xfrm>
                  <a:off x="10715625" y="2855119"/>
                  <a:ext cx="154781" cy="166688"/>
                </a:xfrm>
                <a:custGeom>
                  <a:avLst/>
                  <a:gdLst/>
                  <a:ahLst/>
                  <a:cxnLst/>
                  <a:rect l="l" t="t" r="r" b="b"/>
                  <a:pathLst>
                    <a:path w="154781" h="166688">
                      <a:moveTo>
                        <a:pt x="154781" y="166688"/>
                      </a:moveTo>
                      <a:lnTo>
                        <a:pt x="23812" y="166688"/>
                      </a:lnTo>
                      <a:lnTo>
                        <a:pt x="23812" y="0"/>
                      </a:lnTo>
                      <a:lnTo>
                        <a:pt x="0" y="0"/>
                      </a:lnTo>
                    </a:path>
                  </a:pathLst>
                </a:custGeom>
                <a:noFill/>
                <a:ln w="23812">
                  <a:solidFill>
                    <a:srgbClr val="B03A1F"/>
                  </a:solidFill>
                </a:ln>
              </p:spPr>
            </p:sp>
            <p:sp>
              <p:nvSpPr>
                <p:cNvPr id="111" name="Freeform 111"/>
                <p:cNvSpPr/>
                <p:nvPr/>
              </p:nvSpPr>
              <p:spPr>
                <a:xfrm>
                  <a:off x="10739438" y="2878931"/>
                  <a:ext cx="166688" cy="95250"/>
                </a:xfrm>
                <a:custGeom>
                  <a:avLst/>
                  <a:gdLst/>
                  <a:ahLst/>
                  <a:cxnLst/>
                  <a:rect l="l" t="t" r="r" b="b"/>
                  <a:pathLst>
                    <a:path w="166688" h="95250">
                      <a:moveTo>
                        <a:pt x="0" y="0"/>
                      </a:moveTo>
                      <a:lnTo>
                        <a:pt x="166688" y="11906"/>
                      </a:lnTo>
                      <a:lnTo>
                        <a:pt x="154781" y="95250"/>
                      </a:lnTo>
                      <a:lnTo>
                        <a:pt x="0" y="95250"/>
                      </a:lnTo>
                    </a:path>
                  </a:pathLst>
                </a:custGeom>
                <a:noFill/>
                <a:ln w="23812">
                  <a:solidFill>
                    <a:srgbClr val="B03A1F"/>
                  </a:solidFill>
                </a:ln>
              </p:spPr>
            </p:sp>
          </p:grpSp>
          <p:sp>
            <p:nvSpPr>
              <p:cNvPr id="113" name="TextBox 113"/>
              <p:cNvSpPr txBox="1"/>
              <p:nvPr/>
            </p:nvSpPr>
            <p:spPr>
              <a:xfrm>
                <a:off x="10699763" y="3229689"/>
                <a:ext cx="222225"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商圈</a:t>
                </a:r>
              </a:p>
            </p:txBody>
          </p:sp>
          <p:grpSp>
            <p:nvGrpSpPr>
              <p:cNvPr id="122" name="Group 122"/>
              <p:cNvGrpSpPr/>
              <p:nvPr/>
            </p:nvGrpSpPr>
            <p:grpSpPr>
              <a:xfrm>
                <a:off x="11275219" y="2855119"/>
                <a:ext cx="214312" cy="223837"/>
                <a:chOff x="11275219" y="2855119"/>
                <a:chExt cx="214312" cy="223837"/>
              </a:xfrm>
            </p:grpSpPr>
            <p:sp>
              <p:nvSpPr>
                <p:cNvPr id="114" name="Freeform 114"/>
                <p:cNvSpPr/>
                <p:nvPr/>
              </p:nvSpPr>
              <p:spPr>
                <a:xfrm>
                  <a:off x="11275219" y="3069431"/>
                  <a:ext cx="214312" cy="9525"/>
                </a:xfrm>
                <a:custGeom>
                  <a:avLst/>
                  <a:gdLst/>
                  <a:ahLst/>
                  <a:cxnLst/>
                  <a:rect l="l" t="t" r="r" b="b"/>
                  <a:pathLst>
                    <a:path w="214312" h="9525">
                      <a:moveTo>
                        <a:pt x="0" y="0"/>
                      </a:moveTo>
                      <a:lnTo>
                        <a:pt x="214312" y="0"/>
                      </a:lnTo>
                    </a:path>
                  </a:pathLst>
                </a:custGeom>
                <a:noFill/>
                <a:ln w="23812">
                  <a:solidFill>
                    <a:srgbClr val="B03A1F"/>
                  </a:solidFill>
                </a:ln>
              </p:spPr>
            </p:sp>
            <p:sp>
              <p:nvSpPr>
                <p:cNvPr id="115" name="Freeform 115"/>
                <p:cNvSpPr/>
                <p:nvPr/>
              </p:nvSpPr>
              <p:spPr>
                <a:xfrm>
                  <a:off x="11346656" y="2914650"/>
                  <a:ext cx="11906" cy="9525"/>
                </a:xfrm>
                <a:custGeom>
                  <a:avLst/>
                  <a:gdLst/>
                  <a:ahLst/>
                  <a:cxnLst/>
                  <a:rect l="l" t="t" r="r" b="b"/>
                  <a:pathLst>
                    <a:path w="11906" h="9525">
                      <a:moveTo>
                        <a:pt x="0" y="0"/>
                      </a:moveTo>
                      <a:lnTo>
                        <a:pt x="11906" y="0"/>
                      </a:lnTo>
                    </a:path>
                  </a:pathLst>
                </a:custGeom>
                <a:noFill/>
                <a:ln w="23812">
                  <a:solidFill>
                    <a:srgbClr val="B03A1F"/>
                  </a:solidFill>
                </a:ln>
              </p:spPr>
            </p:sp>
            <p:sp>
              <p:nvSpPr>
                <p:cNvPr id="116" name="Freeform 116"/>
                <p:cNvSpPr/>
                <p:nvPr/>
              </p:nvSpPr>
              <p:spPr>
                <a:xfrm>
                  <a:off x="11346656" y="2962275"/>
                  <a:ext cx="11906" cy="9525"/>
                </a:xfrm>
                <a:custGeom>
                  <a:avLst/>
                  <a:gdLst/>
                  <a:ahLst/>
                  <a:cxnLst/>
                  <a:rect l="l" t="t" r="r" b="b"/>
                  <a:pathLst>
                    <a:path w="11906" h="9525">
                      <a:moveTo>
                        <a:pt x="0" y="0"/>
                      </a:moveTo>
                      <a:lnTo>
                        <a:pt x="11906" y="0"/>
                      </a:lnTo>
                    </a:path>
                  </a:pathLst>
                </a:custGeom>
                <a:noFill/>
                <a:ln w="23812">
                  <a:solidFill>
                    <a:srgbClr val="B03A1F"/>
                  </a:solidFill>
                </a:ln>
              </p:spPr>
            </p:sp>
            <p:sp>
              <p:nvSpPr>
                <p:cNvPr id="117" name="Freeform 117"/>
                <p:cNvSpPr/>
                <p:nvPr/>
              </p:nvSpPr>
              <p:spPr>
                <a:xfrm>
                  <a:off x="11346656" y="3009900"/>
                  <a:ext cx="11906" cy="9525"/>
                </a:xfrm>
                <a:custGeom>
                  <a:avLst/>
                  <a:gdLst/>
                  <a:ahLst/>
                  <a:cxnLst/>
                  <a:rect l="l" t="t" r="r" b="b"/>
                  <a:pathLst>
                    <a:path w="11906" h="9525">
                      <a:moveTo>
                        <a:pt x="0" y="0"/>
                      </a:moveTo>
                      <a:lnTo>
                        <a:pt x="11906" y="0"/>
                      </a:lnTo>
                    </a:path>
                  </a:pathLst>
                </a:custGeom>
                <a:noFill/>
                <a:ln w="23812">
                  <a:solidFill>
                    <a:srgbClr val="B03A1F"/>
                  </a:solidFill>
                </a:ln>
              </p:spPr>
            </p:sp>
            <p:sp>
              <p:nvSpPr>
                <p:cNvPr id="118" name="Freeform 118"/>
                <p:cNvSpPr/>
                <p:nvPr/>
              </p:nvSpPr>
              <p:spPr>
                <a:xfrm>
                  <a:off x="11406188" y="2914650"/>
                  <a:ext cx="11906" cy="9525"/>
                </a:xfrm>
                <a:custGeom>
                  <a:avLst/>
                  <a:gdLst/>
                  <a:ahLst/>
                  <a:cxnLst/>
                  <a:rect l="l" t="t" r="r" b="b"/>
                  <a:pathLst>
                    <a:path w="11906" h="9525">
                      <a:moveTo>
                        <a:pt x="0" y="0"/>
                      </a:moveTo>
                      <a:lnTo>
                        <a:pt x="11906" y="0"/>
                      </a:lnTo>
                    </a:path>
                  </a:pathLst>
                </a:custGeom>
                <a:noFill/>
                <a:ln w="23812">
                  <a:solidFill>
                    <a:srgbClr val="B03A1F"/>
                  </a:solidFill>
                </a:ln>
              </p:spPr>
            </p:sp>
            <p:sp>
              <p:nvSpPr>
                <p:cNvPr id="119" name="Freeform 119"/>
                <p:cNvSpPr/>
                <p:nvPr/>
              </p:nvSpPr>
              <p:spPr>
                <a:xfrm>
                  <a:off x="11406188" y="2962275"/>
                  <a:ext cx="11906" cy="9525"/>
                </a:xfrm>
                <a:custGeom>
                  <a:avLst/>
                  <a:gdLst/>
                  <a:ahLst/>
                  <a:cxnLst/>
                  <a:rect l="l" t="t" r="r" b="b"/>
                  <a:pathLst>
                    <a:path w="11906" h="9525">
                      <a:moveTo>
                        <a:pt x="0" y="0"/>
                      </a:moveTo>
                      <a:lnTo>
                        <a:pt x="11906" y="0"/>
                      </a:lnTo>
                    </a:path>
                  </a:pathLst>
                </a:custGeom>
                <a:noFill/>
                <a:ln w="23812">
                  <a:solidFill>
                    <a:srgbClr val="B03A1F"/>
                  </a:solidFill>
                </a:ln>
              </p:spPr>
            </p:sp>
            <p:sp>
              <p:nvSpPr>
                <p:cNvPr id="120" name="Freeform 120"/>
                <p:cNvSpPr/>
                <p:nvPr/>
              </p:nvSpPr>
              <p:spPr>
                <a:xfrm>
                  <a:off x="11406188" y="3009900"/>
                  <a:ext cx="11906" cy="9525"/>
                </a:xfrm>
                <a:custGeom>
                  <a:avLst/>
                  <a:gdLst/>
                  <a:ahLst/>
                  <a:cxnLst/>
                  <a:rect l="l" t="t" r="r" b="b"/>
                  <a:pathLst>
                    <a:path w="11906" h="9525">
                      <a:moveTo>
                        <a:pt x="0" y="0"/>
                      </a:moveTo>
                      <a:lnTo>
                        <a:pt x="11906" y="0"/>
                      </a:lnTo>
                    </a:path>
                  </a:pathLst>
                </a:custGeom>
                <a:noFill/>
                <a:ln w="23812">
                  <a:solidFill>
                    <a:srgbClr val="B03A1F"/>
                  </a:solidFill>
                </a:ln>
              </p:spPr>
            </p:sp>
            <p:sp>
              <p:nvSpPr>
                <p:cNvPr id="121" name="Freeform 121"/>
                <p:cNvSpPr/>
                <p:nvPr/>
              </p:nvSpPr>
              <p:spPr>
                <a:xfrm>
                  <a:off x="11299031" y="2855119"/>
                  <a:ext cx="166688" cy="214312"/>
                </a:xfrm>
                <a:custGeom>
                  <a:avLst/>
                  <a:gdLst/>
                  <a:ahLst/>
                  <a:cxnLst/>
                  <a:rect l="l" t="t" r="r" b="b"/>
                  <a:pathLst>
                    <a:path w="166688" h="214312">
                      <a:moveTo>
                        <a:pt x="0" y="214312"/>
                      </a:moveTo>
                      <a:lnTo>
                        <a:pt x="0" y="23812"/>
                      </a:lnTo>
                      <a:cubicBezTo>
                        <a:pt x="0" y="10661"/>
                        <a:pt x="10661" y="0"/>
                        <a:pt x="23812" y="0"/>
                      </a:cubicBezTo>
                      <a:lnTo>
                        <a:pt x="142875" y="0"/>
                      </a:lnTo>
                      <a:cubicBezTo>
                        <a:pt x="156026" y="0"/>
                        <a:pt x="166688" y="10661"/>
                        <a:pt x="166688" y="23812"/>
                      </a:cubicBezTo>
                      <a:lnTo>
                        <a:pt x="166688" y="214312"/>
                      </a:lnTo>
                    </a:path>
                  </a:pathLst>
                </a:custGeom>
                <a:noFill/>
                <a:ln w="23812">
                  <a:solidFill>
                    <a:srgbClr val="B03A1F"/>
                  </a:solidFill>
                </a:ln>
              </p:spPr>
            </p:sp>
          </p:grpSp>
          <p:sp>
            <p:nvSpPr>
              <p:cNvPr id="123" name="TextBox 123"/>
              <p:cNvSpPr txBox="1"/>
              <p:nvPr/>
            </p:nvSpPr>
            <p:spPr>
              <a:xfrm>
                <a:off x="11164913" y="322968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产业园区</a:t>
                </a:r>
              </a:p>
            </p:txBody>
          </p:sp>
          <p:sp>
            <p:nvSpPr>
              <p:cNvPr id="124" name="Rectangle 124"/>
              <p:cNvSpPr/>
              <p:nvPr/>
            </p:nvSpPr>
            <p:spPr>
              <a:xfrm>
                <a:off x="9525000" y="3505200"/>
                <a:ext cx="2238375" cy="571500"/>
              </a:xfrm>
              <a:prstGeom prst="roundRect">
                <a:avLst>
                  <a:gd name="adj" fmla="val 13333"/>
                </a:avLst>
              </a:prstGeom>
              <a:solidFill>
                <a:srgbClr val="FDF0F0"/>
              </a:solidFill>
              <a:ln>
                <a:noFill/>
              </a:ln>
            </p:spPr>
          </p:sp>
          <p:sp>
            <p:nvSpPr>
              <p:cNvPr id="125" name="TextBox 125"/>
              <p:cNvSpPr txBox="1"/>
              <p:nvPr/>
            </p:nvSpPr>
            <p:spPr>
              <a:xfrm>
                <a:off x="9634538" y="3629739"/>
                <a:ext cx="1402442" cy="154781"/>
              </a:xfrm>
              <a:prstGeom prst="rect">
                <a:avLst/>
              </a:prstGeom>
              <a:noFill/>
              <a:ln>
                <a:noFill/>
              </a:ln>
            </p:spPr>
            <p:txBody>
              <a:bodyPr wrap="none" lIns="0" tIns="0" rIns="0" bIns="0" anchor="t" anchorCtr="0">
                <a:spAutoFit/>
              </a:bodyPr>
              <a:lstStyle/>
              <a:p>
                <a:pPr algn="l"/>
                <a:r>
                  <a:rPr lang="zh-CN" sz="790" b="1" dirty="0">
                    <a:solidFill>
                      <a:srgbClr val="B03A1F"/>
                    </a:solidFill>
                    <a:latin typeface="+mn-lt"/>
                    <a:ea typeface="+mn-ea"/>
                    <a:cs typeface="+mn-cs"/>
                  </a:rPr>
                  <a:t>★ 展示校园一卡通2.0等场景</a:t>
                </a:r>
              </a:p>
            </p:txBody>
          </p:sp>
          <p:sp>
            <p:nvSpPr>
              <p:cNvPr id="126" name="TextBox 126"/>
              <p:cNvSpPr txBox="1"/>
              <p:nvPr/>
            </p:nvSpPr>
            <p:spPr>
              <a:xfrm>
                <a:off x="9634538" y="3820239"/>
                <a:ext cx="1392072"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打造高频触点，推动生态闭环</a:t>
                </a:r>
              </a:p>
            </p:txBody>
          </p:sp>
        </p:grpSp>
      </p:grpSp>
      <p:grpSp>
        <p:nvGrpSpPr>
          <p:cNvPr id="175" name="roles"/>
          <p:cNvGrpSpPr/>
          <p:nvPr/>
        </p:nvGrpSpPr>
        <p:grpSpPr>
          <a:xfrm>
            <a:off x="3810000" y="4585335"/>
            <a:ext cx="8048625" cy="1510665"/>
            <a:chOff x="3810000" y="4585335"/>
            <a:chExt cx="8048625" cy="1510665"/>
          </a:xfrm>
        </p:grpSpPr>
        <p:sp>
          <p:nvSpPr>
            <p:cNvPr id="129" name="TextBox 129"/>
            <p:cNvSpPr txBox="1"/>
            <p:nvPr/>
          </p:nvSpPr>
          <p:spPr>
            <a:xfrm>
              <a:off x="5490972" y="4585335"/>
              <a:ext cx="981456" cy="234696"/>
            </a:xfrm>
            <a:prstGeom prst="rect">
              <a:avLst/>
            </a:prstGeom>
            <a:noFill/>
            <a:ln>
              <a:noFill/>
            </a:ln>
          </p:spPr>
          <p:txBody>
            <a:bodyPr wrap="none" lIns="0" tIns="0" rIns="0" bIns="0" anchor="t" anchorCtr="0">
              <a:spAutoFit/>
            </a:bodyPr>
            <a:lstStyle/>
            <a:p>
              <a:pPr algn="ctr"/>
              <a:r>
                <a:rPr lang="zh-CN" sz="1200" b="1" dirty="0">
                  <a:solidFill>
                    <a:srgbClr val="B03A1F"/>
                  </a:solidFill>
                  <a:latin typeface="+mn-lt"/>
                  <a:ea typeface="+mn-ea"/>
                  <a:cs typeface="+mn-cs"/>
                </a:rPr>
                <a:t>协同联动角色</a:t>
              </a:r>
            </a:p>
          </p:txBody>
        </p:sp>
        <p:sp>
          <p:nvSpPr>
            <p:cNvPr id="130" name="Line 130"/>
            <p:cNvSpPr/>
            <p:nvPr/>
          </p:nvSpPr>
          <p:spPr>
            <a:xfrm>
              <a:off x="5048250" y="4657725"/>
              <a:ext cx="285750" cy="9525"/>
            </a:xfrm>
            <a:custGeom>
              <a:avLst/>
              <a:gdLst/>
              <a:ahLst/>
              <a:cxnLst/>
              <a:rect l="l" t="t" r="r" b="b"/>
              <a:pathLst>
                <a:path w="285750" h="9525">
                  <a:moveTo>
                    <a:pt x="0" y="0"/>
                  </a:moveTo>
                  <a:lnTo>
                    <a:pt x="285750" y="0"/>
                  </a:lnTo>
                </a:path>
              </a:pathLst>
            </a:custGeom>
            <a:noFill/>
            <a:ln w="19050">
              <a:solidFill>
                <a:srgbClr val="B03A1F"/>
              </a:solidFill>
            </a:ln>
          </p:spPr>
        </p:sp>
        <p:sp>
          <p:nvSpPr>
            <p:cNvPr id="131" name="Line 131"/>
            <p:cNvSpPr/>
            <p:nvPr/>
          </p:nvSpPr>
          <p:spPr>
            <a:xfrm>
              <a:off x="6629400" y="4657725"/>
              <a:ext cx="285750" cy="9525"/>
            </a:xfrm>
            <a:custGeom>
              <a:avLst/>
              <a:gdLst/>
              <a:ahLst/>
              <a:cxnLst/>
              <a:rect l="l" t="t" r="r" b="b"/>
              <a:pathLst>
                <a:path w="285750" h="9525">
                  <a:moveTo>
                    <a:pt x="0" y="0"/>
                  </a:moveTo>
                  <a:lnTo>
                    <a:pt x="285750" y="0"/>
                  </a:lnTo>
                </a:path>
              </a:pathLst>
            </a:custGeom>
            <a:noFill/>
            <a:ln w="19050">
              <a:solidFill>
                <a:srgbClr val="B03A1F"/>
              </a:solidFill>
            </a:ln>
          </p:spPr>
        </p:sp>
        <p:grpSp>
          <p:nvGrpSpPr>
            <p:cNvPr id="141" name="role-corp"/>
            <p:cNvGrpSpPr/>
            <p:nvPr/>
          </p:nvGrpSpPr>
          <p:grpSpPr>
            <a:xfrm>
              <a:off x="3810000" y="4838700"/>
              <a:ext cx="1905000" cy="1257300"/>
              <a:chOff x="3810000" y="4838700"/>
              <a:chExt cx="1905000" cy="1257300"/>
            </a:xfrm>
          </p:grpSpPr>
          <p:sp>
            <p:nvSpPr>
              <p:cNvPr id="132" name="Rectangle 132"/>
              <p:cNvSpPr/>
              <p:nvPr/>
            </p:nvSpPr>
            <p:spPr>
              <a:xfrm>
                <a:off x="3810000" y="4838700"/>
                <a:ext cx="1905000" cy="1257300"/>
              </a:xfrm>
              <a:prstGeom prst="rect">
                <a:avLst/>
              </a:prstGeom>
              <a:solidFill>
                <a:srgbClr val="FFFFFF"/>
              </a:solidFill>
              <a:ln w="9525">
                <a:solidFill>
                  <a:srgbClr val="E8E4E0"/>
                </a:solidFill>
              </a:ln>
            </p:spPr>
          </p:sp>
          <p:sp>
            <p:nvSpPr>
              <p:cNvPr id="133" name="Ellipse 133"/>
              <p:cNvSpPr/>
              <p:nvPr/>
            </p:nvSpPr>
            <p:spPr>
              <a:xfrm>
                <a:off x="4562475" y="4924425"/>
                <a:ext cx="400050" cy="400050"/>
              </a:xfrm>
              <a:prstGeom prst="ellipse">
                <a:avLst/>
              </a:prstGeom>
              <a:solidFill>
                <a:srgbClr val="B03A1F"/>
              </a:solidFill>
              <a:ln>
                <a:noFill/>
              </a:ln>
            </p:spPr>
          </p:sp>
          <p:grpSp>
            <p:nvGrpSpPr>
              <p:cNvPr id="138" name="Group 138"/>
              <p:cNvGrpSpPr/>
              <p:nvPr/>
            </p:nvGrpSpPr>
            <p:grpSpPr>
              <a:xfrm>
                <a:off x="4676775" y="5038725"/>
                <a:ext cx="171450" cy="161925"/>
                <a:chOff x="4676775" y="5038725"/>
                <a:chExt cx="171450" cy="161925"/>
              </a:xfrm>
            </p:grpSpPr>
            <p:sp>
              <p:nvSpPr>
                <p:cNvPr id="134" name="Freeform 134"/>
                <p:cNvSpPr/>
                <p:nvPr/>
              </p:nvSpPr>
              <p:spPr>
                <a:xfrm>
                  <a:off x="4676775" y="507682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FFFFFF"/>
                  </a:solidFill>
                </a:ln>
              </p:spPr>
            </p:sp>
            <p:sp>
              <p:nvSpPr>
                <p:cNvPr id="135" name="Freeform 135"/>
                <p:cNvSpPr/>
                <p:nvPr/>
              </p:nvSpPr>
              <p:spPr>
                <a:xfrm>
                  <a:off x="4724400" y="503872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FFFFFF"/>
                  </a:solidFill>
                </a:ln>
              </p:spPr>
            </p:sp>
            <p:sp>
              <p:nvSpPr>
                <p:cNvPr id="136" name="Freeform 136"/>
                <p:cNvSpPr/>
                <p:nvPr/>
              </p:nvSpPr>
              <p:spPr>
                <a:xfrm>
                  <a:off x="4762500" y="5124450"/>
                  <a:ext cx="9525" cy="9525"/>
                </a:xfrm>
                <a:custGeom>
                  <a:avLst/>
                  <a:gdLst/>
                  <a:ahLst/>
                  <a:cxnLst/>
                  <a:rect l="l" t="t" r="r" b="b"/>
                  <a:pathLst>
                    <a:path w="9525" h="9525">
                      <a:moveTo>
                        <a:pt x="0" y="0"/>
                      </a:moveTo>
                      <a:lnTo>
                        <a:pt x="0" y="95"/>
                      </a:lnTo>
                    </a:path>
                  </a:pathLst>
                </a:custGeom>
                <a:noFill/>
                <a:ln w="19050">
                  <a:solidFill>
                    <a:srgbClr val="FFFFFF"/>
                  </a:solidFill>
                </a:ln>
              </p:spPr>
            </p:sp>
            <p:sp>
              <p:nvSpPr>
                <p:cNvPr id="137" name="Freeform 137"/>
                <p:cNvSpPr/>
                <p:nvPr/>
              </p:nvSpPr>
              <p:spPr>
                <a:xfrm>
                  <a:off x="4676775" y="513397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FFFFFF"/>
                  </a:solidFill>
                </a:ln>
              </p:spPr>
            </p:sp>
          </p:grpSp>
          <p:sp>
            <p:nvSpPr>
              <p:cNvPr id="139" name="TextBox 139"/>
              <p:cNvSpPr txBox="1"/>
              <p:nvPr/>
            </p:nvSpPr>
            <p:spPr>
              <a:xfrm>
                <a:off x="4427728" y="5457349"/>
                <a:ext cx="669544"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公司业务部</a:t>
                </a:r>
              </a:p>
            </p:txBody>
          </p:sp>
          <p:sp>
            <p:nvSpPr>
              <p:cNvPr id="140" name="TextBox 140"/>
              <p:cNvSpPr txBox="1"/>
              <p:nvPr/>
            </p:nvSpPr>
            <p:spPr>
              <a:xfrm>
                <a:off x="4397058" y="5695236"/>
                <a:ext cx="73088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A6A6A"/>
                    </a:solidFill>
                    <a:latin typeface="+mn-lt"/>
                    <a:ea typeface="+mn-ea"/>
                    <a:cs typeface="+mn-cs"/>
                  </a:rPr>
                  <a:t>统筹生态合作资源</a:t>
                </a:r>
                <a:br/>
                <a:r>
                  <a:rPr lang="zh-CN" sz="710" dirty="0">
                    <a:solidFill>
                      <a:srgbClr val="6A6A6A"/>
                    </a:solidFill>
                    <a:latin typeface="+mn-lt"/>
                    <a:ea typeface="+mn-ea"/>
                    <a:cs typeface="+mn-cs"/>
                  </a:rPr>
                  <a:t>设计源头获客方案</a:t>
                </a:r>
              </a:p>
            </p:txBody>
          </p:sp>
        </p:grpSp>
        <p:grpSp>
          <p:nvGrpSpPr>
            <p:cNvPr id="151" name="role-retail"/>
            <p:cNvGrpSpPr/>
            <p:nvPr/>
          </p:nvGrpSpPr>
          <p:grpSpPr>
            <a:xfrm>
              <a:off x="5857875" y="4838700"/>
              <a:ext cx="1905000" cy="1257300"/>
              <a:chOff x="5857875" y="4838700"/>
              <a:chExt cx="1905000" cy="1257300"/>
            </a:xfrm>
          </p:grpSpPr>
          <p:sp>
            <p:nvSpPr>
              <p:cNvPr id="142" name="Rectangle 142"/>
              <p:cNvSpPr/>
              <p:nvPr/>
            </p:nvSpPr>
            <p:spPr>
              <a:xfrm>
                <a:off x="5857875" y="4838700"/>
                <a:ext cx="1905000" cy="1257300"/>
              </a:xfrm>
              <a:prstGeom prst="rect">
                <a:avLst/>
              </a:prstGeom>
              <a:solidFill>
                <a:srgbClr val="FFFFFF"/>
              </a:solidFill>
              <a:ln w="9525">
                <a:solidFill>
                  <a:srgbClr val="E8E4E0"/>
                </a:solidFill>
              </a:ln>
            </p:spPr>
          </p:sp>
          <p:sp>
            <p:nvSpPr>
              <p:cNvPr id="143" name="Ellipse 143"/>
              <p:cNvSpPr/>
              <p:nvPr/>
            </p:nvSpPr>
            <p:spPr>
              <a:xfrm>
                <a:off x="6610350" y="4924425"/>
                <a:ext cx="400050" cy="400050"/>
              </a:xfrm>
              <a:prstGeom prst="ellipse">
                <a:avLst/>
              </a:prstGeom>
              <a:solidFill>
                <a:srgbClr val="B03A1F"/>
              </a:solidFill>
              <a:ln>
                <a:noFill/>
              </a:ln>
            </p:spPr>
          </p:sp>
          <p:grpSp>
            <p:nvGrpSpPr>
              <p:cNvPr id="148" name="Group 148"/>
              <p:cNvGrpSpPr/>
              <p:nvPr/>
            </p:nvGrpSpPr>
            <p:grpSpPr>
              <a:xfrm>
                <a:off x="6724650" y="5038725"/>
                <a:ext cx="171450" cy="171450"/>
                <a:chOff x="6724650" y="5038725"/>
                <a:chExt cx="171450" cy="171450"/>
              </a:xfrm>
            </p:grpSpPr>
            <p:sp>
              <p:nvSpPr>
                <p:cNvPr id="144" name="Freeform 144"/>
                <p:cNvSpPr/>
                <p:nvPr/>
              </p:nvSpPr>
              <p:spPr>
                <a:xfrm>
                  <a:off x="6743700" y="50387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45" name="Freeform 145"/>
                <p:cNvSpPr/>
                <p:nvPr/>
              </p:nvSpPr>
              <p:spPr>
                <a:xfrm>
                  <a:off x="6724650" y="51530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146" name="Freeform 146"/>
                <p:cNvSpPr/>
                <p:nvPr/>
              </p:nvSpPr>
              <p:spPr>
                <a:xfrm>
                  <a:off x="6848475" y="50399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147" name="Freeform 147"/>
                <p:cNvSpPr/>
                <p:nvPr/>
              </p:nvSpPr>
              <p:spPr>
                <a:xfrm>
                  <a:off x="6867525" y="51544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149" name="TextBox 149"/>
              <p:cNvSpPr txBox="1"/>
              <p:nvPr/>
            </p:nvSpPr>
            <p:spPr>
              <a:xfrm>
                <a:off x="6541567" y="5457349"/>
                <a:ext cx="537616"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零售条线</a:t>
                </a:r>
              </a:p>
            </p:txBody>
          </p:sp>
          <p:sp>
            <p:nvSpPr>
              <p:cNvPr id="150" name="TextBox 150"/>
              <p:cNvSpPr txBox="1"/>
              <p:nvPr/>
            </p:nvSpPr>
            <p:spPr>
              <a:xfrm>
                <a:off x="6399848" y="5695236"/>
                <a:ext cx="82105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A6A6A"/>
                    </a:solidFill>
                    <a:latin typeface="+mn-lt"/>
                    <a:ea typeface="+mn-ea"/>
                    <a:cs typeface="+mn-cs"/>
                  </a:rPr>
                  <a:t>完善产品与权益体系</a:t>
                </a:r>
                <a:br/>
                <a:r>
                  <a:rPr lang="zh-CN" sz="710" dirty="0">
                    <a:solidFill>
                      <a:srgbClr val="6A6A6A"/>
                    </a:solidFill>
                    <a:latin typeface="+mn-lt"/>
                    <a:ea typeface="+mn-ea"/>
                    <a:cs typeface="+mn-cs"/>
                  </a:rPr>
                  <a:t>推动客户转化与留存</a:t>
                </a:r>
              </a:p>
            </p:txBody>
          </p:sp>
        </p:grpSp>
        <p:grpSp>
          <p:nvGrpSpPr>
            <p:cNvPr id="165" name="role-branch"/>
            <p:cNvGrpSpPr/>
            <p:nvPr/>
          </p:nvGrpSpPr>
          <p:grpSpPr>
            <a:xfrm>
              <a:off x="7905750" y="4838700"/>
              <a:ext cx="1905000" cy="1257300"/>
              <a:chOff x="7905750" y="4838700"/>
              <a:chExt cx="1905000" cy="1257300"/>
            </a:xfrm>
          </p:grpSpPr>
          <p:sp>
            <p:nvSpPr>
              <p:cNvPr id="152" name="Rectangle 152"/>
              <p:cNvSpPr/>
              <p:nvPr/>
            </p:nvSpPr>
            <p:spPr>
              <a:xfrm>
                <a:off x="7905750" y="4838700"/>
                <a:ext cx="1905000" cy="1257300"/>
              </a:xfrm>
              <a:prstGeom prst="rect">
                <a:avLst/>
              </a:prstGeom>
              <a:solidFill>
                <a:srgbClr val="FFFFFF"/>
              </a:solidFill>
              <a:ln w="9525">
                <a:solidFill>
                  <a:srgbClr val="E8E4E0"/>
                </a:solidFill>
              </a:ln>
            </p:spPr>
          </p:sp>
          <p:sp>
            <p:nvSpPr>
              <p:cNvPr id="153" name="Ellipse 153"/>
              <p:cNvSpPr/>
              <p:nvPr/>
            </p:nvSpPr>
            <p:spPr>
              <a:xfrm>
                <a:off x="8658225" y="4924425"/>
                <a:ext cx="400050" cy="400050"/>
              </a:xfrm>
              <a:prstGeom prst="ellipse">
                <a:avLst/>
              </a:prstGeom>
              <a:solidFill>
                <a:srgbClr val="B03A1F"/>
              </a:solidFill>
              <a:ln>
                <a:noFill/>
              </a:ln>
            </p:spPr>
          </p:sp>
          <p:grpSp>
            <p:nvGrpSpPr>
              <p:cNvPr id="162" name="Group 162"/>
              <p:cNvGrpSpPr/>
              <p:nvPr/>
            </p:nvGrpSpPr>
            <p:grpSpPr>
              <a:xfrm>
                <a:off x="8772525" y="5038725"/>
                <a:ext cx="171450" cy="180975"/>
                <a:chOff x="8772525" y="5038725"/>
                <a:chExt cx="171450" cy="180975"/>
              </a:xfrm>
            </p:grpSpPr>
            <p:sp>
              <p:nvSpPr>
                <p:cNvPr id="154" name="Freeform 154"/>
                <p:cNvSpPr/>
                <p:nvPr/>
              </p:nvSpPr>
              <p:spPr>
                <a:xfrm>
                  <a:off x="8772525" y="521017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55" name="Freeform 155"/>
                <p:cNvSpPr/>
                <p:nvPr/>
              </p:nvSpPr>
              <p:spPr>
                <a:xfrm>
                  <a:off x="8772525" y="5105400"/>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56" name="Freeform 156"/>
                <p:cNvSpPr/>
                <p:nvPr/>
              </p:nvSpPr>
              <p:spPr>
                <a:xfrm>
                  <a:off x="8791575" y="5038725"/>
                  <a:ext cx="133350" cy="28575"/>
                </a:xfrm>
                <a:custGeom>
                  <a:avLst/>
                  <a:gdLst/>
                  <a:ahLst/>
                  <a:cxnLst/>
                  <a:rect l="l" t="t" r="r" b="b"/>
                  <a:pathLst>
                    <a:path w="133350" h="28575">
                      <a:moveTo>
                        <a:pt x="0" y="28575"/>
                      </a:moveTo>
                      <a:lnTo>
                        <a:pt x="66675" y="0"/>
                      </a:lnTo>
                      <a:lnTo>
                        <a:pt x="133350" y="28575"/>
                      </a:lnTo>
                    </a:path>
                  </a:pathLst>
                </a:custGeom>
                <a:noFill/>
                <a:ln w="19050">
                  <a:solidFill>
                    <a:srgbClr val="FFFFFF"/>
                  </a:solidFill>
                </a:ln>
              </p:spPr>
            </p:sp>
            <p:sp>
              <p:nvSpPr>
                <p:cNvPr id="157" name="Freeform 157"/>
                <p:cNvSpPr/>
                <p:nvPr/>
              </p:nvSpPr>
              <p:spPr>
                <a:xfrm>
                  <a:off x="8782050" y="51054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58" name="Freeform 158"/>
                <p:cNvSpPr/>
                <p:nvPr/>
              </p:nvSpPr>
              <p:spPr>
                <a:xfrm>
                  <a:off x="8934450" y="51054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59" name="Freeform 159"/>
                <p:cNvSpPr/>
                <p:nvPr/>
              </p:nvSpPr>
              <p:spPr>
                <a:xfrm>
                  <a:off x="8820150" y="51435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60" name="Freeform 160"/>
                <p:cNvSpPr/>
                <p:nvPr/>
              </p:nvSpPr>
              <p:spPr>
                <a:xfrm>
                  <a:off x="8858250" y="51435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61" name="Freeform 161"/>
                <p:cNvSpPr/>
                <p:nvPr/>
              </p:nvSpPr>
              <p:spPr>
                <a:xfrm>
                  <a:off x="8896350" y="5143500"/>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163" name="TextBox 163"/>
              <p:cNvSpPr txBox="1"/>
              <p:nvPr/>
            </p:nvSpPr>
            <p:spPr>
              <a:xfrm>
                <a:off x="8721369" y="5457349"/>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网点</a:t>
                </a:r>
              </a:p>
            </p:txBody>
          </p:sp>
          <p:sp>
            <p:nvSpPr>
              <p:cNvPr id="164" name="TextBox 164"/>
              <p:cNvSpPr txBox="1"/>
              <p:nvPr/>
            </p:nvSpPr>
            <p:spPr>
              <a:xfrm>
                <a:off x="8447722" y="5695236"/>
                <a:ext cx="82105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A6A6A"/>
                    </a:solidFill>
                    <a:latin typeface="+mn-lt"/>
                    <a:ea typeface="+mn-ea"/>
                    <a:cs typeface="+mn-cs"/>
                  </a:rPr>
                  <a:t>落地场景服务触点</a:t>
                </a:r>
                <a:br/>
                <a:r>
                  <a:rPr lang="zh-CN" sz="710" dirty="0">
                    <a:solidFill>
                      <a:srgbClr val="6A6A6A"/>
                    </a:solidFill>
                    <a:latin typeface="+mn-lt"/>
                    <a:ea typeface="+mn-ea"/>
                    <a:cs typeface="+mn-cs"/>
                  </a:rPr>
                  <a:t>做好客户经营与服务</a:t>
                </a:r>
              </a:p>
            </p:txBody>
          </p:sp>
        </p:grpSp>
        <p:grpSp>
          <p:nvGrpSpPr>
            <p:cNvPr id="174" name="role-digital"/>
            <p:cNvGrpSpPr/>
            <p:nvPr/>
          </p:nvGrpSpPr>
          <p:grpSpPr>
            <a:xfrm>
              <a:off x="9953625" y="4838700"/>
              <a:ext cx="1905000" cy="1257300"/>
              <a:chOff x="9953625" y="4838700"/>
              <a:chExt cx="1905000" cy="1257300"/>
            </a:xfrm>
          </p:grpSpPr>
          <p:sp>
            <p:nvSpPr>
              <p:cNvPr id="166" name="Rectangle 166"/>
              <p:cNvSpPr/>
              <p:nvPr/>
            </p:nvSpPr>
            <p:spPr>
              <a:xfrm>
                <a:off x="9953625" y="4838700"/>
                <a:ext cx="1905000" cy="1257300"/>
              </a:xfrm>
              <a:prstGeom prst="rect">
                <a:avLst/>
              </a:prstGeom>
              <a:solidFill>
                <a:srgbClr val="FFFFFF"/>
              </a:solidFill>
              <a:ln w="9525">
                <a:solidFill>
                  <a:srgbClr val="E8E4E0"/>
                </a:solidFill>
              </a:ln>
            </p:spPr>
          </p:sp>
          <p:sp>
            <p:nvSpPr>
              <p:cNvPr id="167" name="Ellipse 167"/>
              <p:cNvSpPr/>
              <p:nvPr/>
            </p:nvSpPr>
            <p:spPr>
              <a:xfrm>
                <a:off x="10706100" y="4924425"/>
                <a:ext cx="400050" cy="400050"/>
              </a:xfrm>
              <a:prstGeom prst="ellipse">
                <a:avLst/>
              </a:prstGeom>
              <a:solidFill>
                <a:srgbClr val="B03A1F"/>
              </a:solidFill>
              <a:ln>
                <a:noFill/>
              </a:ln>
            </p:spPr>
          </p:sp>
          <p:grpSp>
            <p:nvGrpSpPr>
              <p:cNvPr id="171" name="Group 171"/>
              <p:cNvGrpSpPr/>
              <p:nvPr/>
            </p:nvGrpSpPr>
            <p:grpSpPr>
              <a:xfrm>
                <a:off x="10848975" y="5038725"/>
                <a:ext cx="114300" cy="171450"/>
                <a:chOff x="10848975" y="5038725"/>
                <a:chExt cx="114300" cy="171450"/>
              </a:xfrm>
            </p:grpSpPr>
            <p:sp>
              <p:nvSpPr>
                <p:cNvPr id="168" name="Freeform 168"/>
                <p:cNvSpPr/>
                <p:nvPr/>
              </p:nvSpPr>
              <p:spPr>
                <a:xfrm>
                  <a:off x="10848975" y="503872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FFFFFF"/>
                  </a:solidFill>
                </a:ln>
              </p:spPr>
            </p:sp>
            <p:sp>
              <p:nvSpPr>
                <p:cNvPr id="169" name="Freeform 169"/>
                <p:cNvSpPr/>
                <p:nvPr/>
              </p:nvSpPr>
              <p:spPr>
                <a:xfrm>
                  <a:off x="10896600" y="5048250"/>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170" name="Freeform 170"/>
                <p:cNvSpPr/>
                <p:nvPr/>
              </p:nvSpPr>
              <p:spPr>
                <a:xfrm>
                  <a:off x="10906125" y="5172075"/>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172" name="TextBox 172"/>
              <p:cNvSpPr txBox="1"/>
              <p:nvPr/>
            </p:nvSpPr>
            <p:spPr>
              <a:xfrm>
                <a:off x="10637317" y="5457349"/>
                <a:ext cx="537616"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数字渠道</a:t>
                </a:r>
              </a:p>
            </p:txBody>
          </p:sp>
          <p:sp>
            <p:nvSpPr>
              <p:cNvPr id="173" name="TextBox 173"/>
              <p:cNvSpPr txBox="1"/>
              <p:nvPr/>
            </p:nvSpPr>
            <p:spPr>
              <a:xfrm>
                <a:off x="10495598" y="5695236"/>
                <a:ext cx="82105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A6A6A"/>
                    </a:solidFill>
                    <a:latin typeface="+mn-lt"/>
                    <a:ea typeface="+mn-ea"/>
                    <a:cs typeface="+mn-cs"/>
                  </a:rPr>
                  <a:t>承接线上触点与运营</a:t>
                </a:r>
                <a:br/>
                <a:r>
                  <a:rPr lang="zh-CN" sz="710" dirty="0">
                    <a:solidFill>
                      <a:srgbClr val="6A6A6A"/>
                    </a:solidFill>
                    <a:latin typeface="+mn-lt"/>
                    <a:ea typeface="+mn-ea"/>
                    <a:cs typeface="+mn-cs"/>
                  </a:rPr>
                  <a:t>提升转化效率与体验</a:t>
                </a:r>
              </a:p>
            </p:txBody>
          </p:sp>
        </p:grpSp>
      </p:gr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42113" y="143351"/>
              <a:ext cx="18650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7</a:t>
              </a:r>
            </a:p>
          </p:txBody>
        </p:sp>
        <p:sp>
          <p:nvSpPr>
            <p:cNvPr id="4" name="TextBox 4"/>
            <p:cNvSpPr txBox="1"/>
            <p:nvPr/>
          </p:nvSpPr>
          <p:spPr>
            <a:xfrm>
              <a:off x="942594" y="151448"/>
              <a:ext cx="556717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服务体验升级：打造线上线下一体化</a:t>
              </a:r>
              <a:r>
                <a:rPr lang="zh-CN" sz="1950" b="1" dirty="0">
                  <a:solidFill>
                    <a:srgbClr val="B03A1F"/>
                  </a:solidFill>
                  <a:latin typeface="SimSun"/>
                  <a:ea typeface="SimSun"/>
                  <a:cs typeface="SimSun"/>
                </a:rPr>
                <a:t>无感服务</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grpSp>
        <p:nvGrpSpPr>
          <p:cNvPr id="50" name="journey-row"/>
          <p:cNvGrpSpPr/>
          <p:nvPr/>
        </p:nvGrpSpPr>
        <p:grpSpPr>
          <a:xfrm>
            <a:off x="190500" y="838200"/>
            <a:ext cx="11811000" cy="800100"/>
            <a:chOff x="190500" y="838200"/>
            <a:chExt cx="11811000" cy="800100"/>
          </a:xfrm>
        </p:grpSpPr>
        <p:sp>
          <p:nvSpPr>
            <p:cNvPr id="7" name="Rectangle 7"/>
            <p:cNvSpPr/>
            <p:nvPr/>
          </p:nvSpPr>
          <p:spPr>
            <a:xfrm>
              <a:off x="190500" y="838200"/>
              <a:ext cx="762000" cy="800100"/>
            </a:xfrm>
            <a:prstGeom prst="roundRect">
              <a:avLst>
                <a:gd name="adj" fmla="val 10000"/>
              </a:avLst>
            </a:prstGeom>
            <a:solidFill>
              <a:srgbClr val="F5F3F1"/>
            </a:solidFill>
            <a:ln>
              <a:noFill/>
            </a:ln>
          </p:spPr>
        </p:sp>
        <p:sp>
          <p:nvSpPr>
            <p:cNvPr id="8" name="TextBox 8"/>
            <p:cNvSpPr txBox="1"/>
            <p:nvPr/>
          </p:nvSpPr>
          <p:spPr>
            <a:xfrm>
              <a:off x="434619" y="1056799"/>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客户</a:t>
              </a:r>
            </a:p>
          </p:txBody>
        </p:sp>
        <p:sp>
          <p:nvSpPr>
            <p:cNvPr id="9" name="TextBox 9"/>
            <p:cNvSpPr txBox="1"/>
            <p:nvPr/>
          </p:nvSpPr>
          <p:spPr>
            <a:xfrm>
              <a:off x="434619" y="1247299"/>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旅程</a:t>
              </a:r>
            </a:p>
          </p:txBody>
        </p:sp>
        <p:grpSp>
          <p:nvGrpSpPr>
            <p:cNvPr id="45" name="journey-nodes"/>
            <p:cNvGrpSpPr/>
            <p:nvPr/>
          </p:nvGrpSpPr>
          <p:grpSpPr>
            <a:xfrm>
              <a:off x="1095375" y="838200"/>
              <a:ext cx="10906125" cy="800100"/>
              <a:chOff x="1095375" y="838200"/>
              <a:chExt cx="10906125" cy="800100"/>
            </a:xfrm>
          </p:grpSpPr>
          <p:sp>
            <p:nvSpPr>
              <p:cNvPr id="10" name="Rectangle 10"/>
              <p:cNvSpPr/>
              <p:nvPr/>
            </p:nvSpPr>
            <p:spPr>
              <a:xfrm>
                <a:off x="1095375" y="838200"/>
                <a:ext cx="1952625" cy="800100"/>
              </a:xfrm>
              <a:prstGeom prst="rect">
                <a:avLst/>
              </a:prstGeom>
              <a:solidFill>
                <a:srgbClr val="FFFFFF"/>
              </a:solidFill>
              <a:ln w="9525">
                <a:solidFill>
                  <a:srgbClr val="E8E4E0"/>
                </a:solidFill>
              </a:ln>
            </p:spPr>
          </p:sp>
          <p:grpSp>
            <p:nvGrpSpPr>
              <p:cNvPr id="13" name="Group 13"/>
              <p:cNvGrpSpPr/>
              <p:nvPr/>
            </p:nvGrpSpPr>
            <p:grpSpPr>
              <a:xfrm>
                <a:off x="1243012" y="976312"/>
                <a:ext cx="142875" cy="142875"/>
                <a:chOff x="1243012" y="976312"/>
                <a:chExt cx="142875" cy="142875"/>
              </a:xfrm>
            </p:grpSpPr>
            <p:sp>
              <p:nvSpPr>
                <p:cNvPr id="11" name="Freeform 11"/>
                <p:cNvSpPr/>
                <p:nvPr/>
              </p:nvSpPr>
              <p:spPr>
                <a:xfrm>
                  <a:off x="1243012" y="9763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B03A1F"/>
                  </a:solidFill>
                </a:ln>
              </p:spPr>
            </p:sp>
            <p:sp>
              <p:nvSpPr>
                <p:cNvPr id="12" name="Freeform 12"/>
                <p:cNvSpPr/>
                <p:nvPr/>
              </p:nvSpPr>
              <p:spPr>
                <a:xfrm>
                  <a:off x="1338262" y="1071562"/>
                  <a:ext cx="47625" cy="47625"/>
                </a:xfrm>
                <a:custGeom>
                  <a:avLst/>
                  <a:gdLst/>
                  <a:ahLst/>
                  <a:cxnLst/>
                  <a:rect l="l" t="t" r="r" b="b"/>
                  <a:pathLst>
                    <a:path w="47625" h="47625">
                      <a:moveTo>
                        <a:pt x="47625" y="47625"/>
                      </a:moveTo>
                      <a:lnTo>
                        <a:pt x="0" y="0"/>
                      </a:lnTo>
                    </a:path>
                  </a:pathLst>
                </a:custGeom>
                <a:noFill/>
                <a:ln w="15875">
                  <a:solidFill>
                    <a:srgbClr val="B03A1F"/>
                  </a:solidFill>
                </a:ln>
              </p:spPr>
            </p:sp>
          </p:grpSp>
          <p:sp>
            <p:nvSpPr>
              <p:cNvPr id="14" name="TextBox 14"/>
              <p:cNvSpPr txBox="1"/>
              <p:nvPr/>
            </p:nvSpPr>
            <p:spPr>
              <a:xfrm>
                <a:off x="1461516" y="991552"/>
                <a:ext cx="576072"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发现需求</a:t>
                </a:r>
              </a:p>
            </p:txBody>
          </p:sp>
          <p:sp>
            <p:nvSpPr>
              <p:cNvPr id="15" name="TextBox 15"/>
              <p:cNvSpPr txBox="1"/>
              <p:nvPr/>
            </p:nvSpPr>
            <p:spPr>
              <a:xfrm>
                <a:off x="1214438" y="1256586"/>
                <a:ext cx="678586"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了解产品与业务</a:t>
                </a:r>
              </a:p>
            </p:txBody>
          </p:sp>
          <p:sp>
            <p:nvSpPr>
              <p:cNvPr id="16" name="TextBox 16"/>
              <p:cNvSpPr txBox="1"/>
              <p:nvPr/>
            </p:nvSpPr>
            <p:spPr>
              <a:xfrm>
                <a:off x="1214438" y="1408986"/>
                <a:ext cx="583006"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产生业务需求</a:t>
                </a:r>
              </a:p>
            </p:txBody>
          </p:sp>
          <p:sp>
            <p:nvSpPr>
              <p:cNvPr id="17" name="Rectangle 17"/>
              <p:cNvSpPr/>
              <p:nvPr/>
            </p:nvSpPr>
            <p:spPr>
              <a:xfrm>
                <a:off x="3286125" y="838200"/>
                <a:ext cx="1952625" cy="800100"/>
              </a:xfrm>
              <a:prstGeom prst="rect">
                <a:avLst/>
              </a:prstGeom>
              <a:solidFill>
                <a:srgbClr val="FFFFFF"/>
              </a:solidFill>
              <a:ln w="9525">
                <a:solidFill>
                  <a:srgbClr val="E8E4E0"/>
                </a:solidFill>
              </a:ln>
            </p:spPr>
          </p:sp>
          <p:sp>
            <p:nvSpPr>
              <p:cNvPr id="18" name="Freeform 18"/>
              <p:cNvSpPr/>
              <p:nvPr/>
            </p:nvSpPr>
            <p:spPr>
              <a:xfrm>
                <a:off x="3425634" y="97809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B03A1F"/>
                </a:solidFill>
              </a:ln>
            </p:spPr>
          </p:sp>
          <p:sp>
            <p:nvSpPr>
              <p:cNvPr id="19" name="TextBox 19"/>
              <p:cNvSpPr txBox="1"/>
              <p:nvPr/>
            </p:nvSpPr>
            <p:spPr>
              <a:xfrm>
                <a:off x="3652266" y="991552"/>
                <a:ext cx="576072"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咨询评估</a:t>
                </a:r>
              </a:p>
            </p:txBody>
          </p:sp>
          <p:sp>
            <p:nvSpPr>
              <p:cNvPr id="20" name="TextBox 20"/>
              <p:cNvSpPr txBox="1"/>
              <p:nvPr/>
            </p:nvSpPr>
            <p:spPr>
              <a:xfrm>
                <a:off x="3405188" y="1256586"/>
                <a:ext cx="802841"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咨询沟通 方案评估</a:t>
                </a:r>
              </a:p>
            </p:txBody>
          </p:sp>
          <p:sp>
            <p:nvSpPr>
              <p:cNvPr id="21" name="TextBox 21"/>
              <p:cNvSpPr txBox="1"/>
              <p:nvPr/>
            </p:nvSpPr>
            <p:spPr>
              <a:xfrm>
                <a:off x="3405188" y="1408986"/>
                <a:ext cx="583006"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明确办理需求</a:t>
                </a:r>
              </a:p>
            </p:txBody>
          </p:sp>
          <p:sp>
            <p:nvSpPr>
              <p:cNvPr id="22" name="Rectangle 22"/>
              <p:cNvSpPr/>
              <p:nvPr/>
            </p:nvSpPr>
            <p:spPr>
              <a:xfrm>
                <a:off x="5476875" y="838200"/>
                <a:ext cx="1952625" cy="800100"/>
              </a:xfrm>
              <a:prstGeom prst="rect">
                <a:avLst/>
              </a:prstGeom>
              <a:solidFill>
                <a:srgbClr val="FFFFFF"/>
              </a:solidFill>
              <a:ln w="9525">
                <a:solidFill>
                  <a:srgbClr val="E8E4E0"/>
                </a:solidFill>
              </a:ln>
            </p:spPr>
          </p:sp>
          <p:grpSp>
            <p:nvGrpSpPr>
              <p:cNvPr id="28" name="Group 28"/>
              <p:cNvGrpSpPr/>
              <p:nvPr/>
            </p:nvGrpSpPr>
            <p:grpSpPr>
              <a:xfrm>
                <a:off x="5640387" y="976312"/>
                <a:ext cx="111125" cy="142875"/>
                <a:chOff x="5640387" y="976312"/>
                <a:chExt cx="111125" cy="142875"/>
              </a:xfrm>
            </p:grpSpPr>
            <p:sp>
              <p:nvSpPr>
                <p:cNvPr id="23" name="Freeform 23"/>
                <p:cNvSpPr/>
                <p:nvPr/>
              </p:nvSpPr>
              <p:spPr>
                <a:xfrm>
                  <a:off x="5711825" y="9763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B03A1F"/>
                  </a:solidFill>
                </a:ln>
              </p:spPr>
            </p:sp>
            <p:sp>
              <p:nvSpPr>
                <p:cNvPr id="24" name="Freeform 24"/>
                <p:cNvSpPr/>
                <p:nvPr/>
              </p:nvSpPr>
              <p:spPr>
                <a:xfrm>
                  <a:off x="5640387" y="9763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B03A1F"/>
                  </a:solidFill>
                </a:ln>
              </p:spPr>
            </p:sp>
            <p:sp>
              <p:nvSpPr>
                <p:cNvPr id="25" name="Freeform 25"/>
                <p:cNvSpPr/>
                <p:nvPr/>
              </p:nvSpPr>
              <p:spPr>
                <a:xfrm>
                  <a:off x="5672137" y="1023937"/>
                  <a:ext cx="9525" cy="9525"/>
                </a:xfrm>
                <a:custGeom>
                  <a:avLst/>
                  <a:gdLst/>
                  <a:ahLst/>
                  <a:cxnLst/>
                  <a:rect l="l" t="t" r="r" b="b"/>
                  <a:pathLst>
                    <a:path w="9525" h="9525">
                      <a:moveTo>
                        <a:pt x="0" y="0"/>
                      </a:moveTo>
                      <a:lnTo>
                        <a:pt x="7937" y="0"/>
                      </a:lnTo>
                    </a:path>
                  </a:pathLst>
                </a:custGeom>
                <a:noFill/>
                <a:ln w="15875">
                  <a:solidFill>
                    <a:srgbClr val="B03A1F"/>
                  </a:solidFill>
                </a:ln>
              </p:spPr>
            </p:sp>
            <p:sp>
              <p:nvSpPr>
                <p:cNvPr id="26" name="Freeform 26"/>
                <p:cNvSpPr/>
                <p:nvPr/>
              </p:nvSpPr>
              <p:spPr>
                <a:xfrm>
                  <a:off x="5672137" y="1055687"/>
                  <a:ext cx="47625" cy="9525"/>
                </a:xfrm>
                <a:custGeom>
                  <a:avLst/>
                  <a:gdLst/>
                  <a:ahLst/>
                  <a:cxnLst/>
                  <a:rect l="l" t="t" r="r" b="b"/>
                  <a:pathLst>
                    <a:path w="47625" h="9525">
                      <a:moveTo>
                        <a:pt x="0" y="0"/>
                      </a:moveTo>
                      <a:lnTo>
                        <a:pt x="47625" y="0"/>
                      </a:lnTo>
                    </a:path>
                  </a:pathLst>
                </a:custGeom>
                <a:noFill/>
                <a:ln w="15875">
                  <a:solidFill>
                    <a:srgbClr val="B03A1F"/>
                  </a:solidFill>
                </a:ln>
              </p:spPr>
            </p:sp>
            <p:sp>
              <p:nvSpPr>
                <p:cNvPr id="27" name="Freeform 27"/>
                <p:cNvSpPr/>
                <p:nvPr/>
              </p:nvSpPr>
              <p:spPr>
                <a:xfrm>
                  <a:off x="5672137" y="1087437"/>
                  <a:ext cx="47625" cy="9525"/>
                </a:xfrm>
                <a:custGeom>
                  <a:avLst/>
                  <a:gdLst/>
                  <a:ahLst/>
                  <a:cxnLst/>
                  <a:rect l="l" t="t" r="r" b="b"/>
                  <a:pathLst>
                    <a:path w="47625" h="9525">
                      <a:moveTo>
                        <a:pt x="0" y="0"/>
                      </a:moveTo>
                      <a:lnTo>
                        <a:pt x="47625" y="0"/>
                      </a:lnTo>
                    </a:path>
                  </a:pathLst>
                </a:custGeom>
                <a:noFill/>
                <a:ln w="15875">
                  <a:solidFill>
                    <a:srgbClr val="B03A1F"/>
                  </a:solidFill>
                </a:ln>
              </p:spPr>
            </p:sp>
          </p:grpSp>
          <p:sp>
            <p:nvSpPr>
              <p:cNvPr id="29" name="TextBox 29"/>
              <p:cNvSpPr txBox="1"/>
              <p:nvPr/>
            </p:nvSpPr>
            <p:spPr>
              <a:xfrm>
                <a:off x="5843016" y="991552"/>
                <a:ext cx="576072"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业务办理</a:t>
                </a:r>
              </a:p>
            </p:txBody>
          </p:sp>
          <p:sp>
            <p:nvSpPr>
              <p:cNvPr id="30" name="TextBox 30"/>
              <p:cNvSpPr txBox="1"/>
              <p:nvPr/>
            </p:nvSpPr>
            <p:spPr>
              <a:xfrm>
                <a:off x="5595938" y="1256586"/>
                <a:ext cx="802841"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选择渠道 提供材料</a:t>
                </a:r>
              </a:p>
            </p:txBody>
          </p:sp>
          <p:sp>
            <p:nvSpPr>
              <p:cNvPr id="31" name="TextBox 31"/>
              <p:cNvSpPr txBox="1"/>
              <p:nvPr/>
            </p:nvSpPr>
            <p:spPr>
              <a:xfrm>
                <a:off x="5595938" y="1408986"/>
                <a:ext cx="583006"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完成业务办理</a:t>
                </a:r>
              </a:p>
            </p:txBody>
          </p:sp>
          <p:sp>
            <p:nvSpPr>
              <p:cNvPr id="32" name="Rectangle 32"/>
              <p:cNvSpPr/>
              <p:nvPr/>
            </p:nvSpPr>
            <p:spPr>
              <a:xfrm>
                <a:off x="7667625" y="838200"/>
                <a:ext cx="1952625" cy="800100"/>
              </a:xfrm>
              <a:prstGeom prst="rect">
                <a:avLst/>
              </a:prstGeom>
              <a:solidFill>
                <a:srgbClr val="FFFFFF"/>
              </a:solidFill>
              <a:ln w="9525">
                <a:solidFill>
                  <a:srgbClr val="E8E4E0"/>
                </a:solidFill>
              </a:ln>
            </p:spPr>
          </p:sp>
          <p:sp>
            <p:nvSpPr>
              <p:cNvPr id="33" name="Freeform 33"/>
              <p:cNvSpPr/>
              <p:nvPr/>
            </p:nvSpPr>
            <p:spPr>
              <a:xfrm>
                <a:off x="7812514" y="982214"/>
                <a:ext cx="148228" cy="129036"/>
              </a:xfrm>
              <a:custGeom>
                <a:avLst/>
                <a:gdLst/>
                <a:ahLst/>
                <a:cxnLst/>
                <a:rect l="l" t="t" r="r" b="b"/>
                <a:pathLst>
                  <a:path w="148228" h="129036">
                    <a:moveTo>
                      <a:pt x="133717" y="70077"/>
                    </a:moveTo>
                    <a:lnTo>
                      <a:pt x="74186" y="129036"/>
                    </a:lnTo>
                    <a:lnTo>
                      <a:pt x="14655" y="70077"/>
                    </a:lnTo>
                    <a:cubicBezTo>
                      <a:pt x="3949" y="59659"/>
                      <a:pt x="0" y="44113"/>
                      <a:pt x="4435" y="29850"/>
                    </a:cubicBezTo>
                    <a:cubicBezTo>
                      <a:pt x="8870" y="15586"/>
                      <a:pt x="20939" y="5020"/>
                      <a:pt x="35663" y="2510"/>
                    </a:cubicBezTo>
                    <a:cubicBezTo>
                      <a:pt x="50388" y="0"/>
                      <a:pt x="65276" y="5970"/>
                      <a:pt x="74186" y="17959"/>
                    </a:cubicBezTo>
                    <a:cubicBezTo>
                      <a:pt x="83134" y="6059"/>
                      <a:pt x="97989" y="168"/>
                      <a:pt x="112661" y="2702"/>
                    </a:cubicBezTo>
                    <a:cubicBezTo>
                      <a:pt x="127332" y="5235"/>
                      <a:pt x="139351" y="15767"/>
                      <a:pt x="143790" y="29979"/>
                    </a:cubicBezTo>
                    <a:cubicBezTo>
                      <a:pt x="148228" y="44191"/>
                      <a:pt x="144339" y="59691"/>
                      <a:pt x="133717" y="70124"/>
                    </a:cubicBezTo>
                  </a:path>
                </a:pathLst>
              </a:custGeom>
              <a:noFill/>
              <a:ln w="15875">
                <a:solidFill>
                  <a:srgbClr val="B03A1F"/>
                </a:solidFill>
              </a:ln>
            </p:spPr>
          </p:sp>
          <p:sp>
            <p:nvSpPr>
              <p:cNvPr id="34" name="TextBox 34"/>
              <p:cNvSpPr txBox="1"/>
              <p:nvPr/>
            </p:nvSpPr>
            <p:spPr>
              <a:xfrm>
                <a:off x="8033766" y="991552"/>
                <a:ext cx="576072"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持续陪伴</a:t>
                </a:r>
              </a:p>
            </p:txBody>
          </p:sp>
          <p:sp>
            <p:nvSpPr>
              <p:cNvPr id="35" name="TextBox 35"/>
              <p:cNvSpPr txBox="1"/>
              <p:nvPr/>
            </p:nvSpPr>
            <p:spPr>
              <a:xfrm>
                <a:off x="7786688" y="1256586"/>
                <a:ext cx="802841"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使用指引 价值触达</a:t>
                </a:r>
              </a:p>
            </p:txBody>
          </p:sp>
          <p:sp>
            <p:nvSpPr>
              <p:cNvPr id="36" name="TextBox 36"/>
              <p:cNvSpPr txBox="1"/>
              <p:nvPr/>
            </p:nvSpPr>
            <p:spPr>
              <a:xfrm>
                <a:off x="7786688" y="1408986"/>
                <a:ext cx="678586"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主动服务与关怀</a:t>
                </a:r>
              </a:p>
            </p:txBody>
          </p:sp>
          <p:sp>
            <p:nvSpPr>
              <p:cNvPr id="37" name="Rectangle 37"/>
              <p:cNvSpPr/>
              <p:nvPr/>
            </p:nvSpPr>
            <p:spPr>
              <a:xfrm>
                <a:off x="9858375" y="838200"/>
                <a:ext cx="2143125" cy="800100"/>
              </a:xfrm>
              <a:prstGeom prst="rect">
                <a:avLst/>
              </a:prstGeom>
              <a:solidFill>
                <a:srgbClr val="FFFFFF"/>
              </a:solidFill>
              <a:ln w="9525">
                <a:solidFill>
                  <a:srgbClr val="E8E4E0"/>
                </a:solidFill>
              </a:ln>
            </p:spPr>
          </p:sp>
          <p:grpSp>
            <p:nvGrpSpPr>
              <p:cNvPr id="41" name="Group 41"/>
              <p:cNvGrpSpPr/>
              <p:nvPr/>
            </p:nvGrpSpPr>
            <p:grpSpPr>
              <a:xfrm>
                <a:off x="10006012" y="976312"/>
                <a:ext cx="142875" cy="142875"/>
                <a:chOff x="10006012" y="976312"/>
                <a:chExt cx="142875" cy="142875"/>
              </a:xfrm>
            </p:grpSpPr>
            <p:sp>
              <p:nvSpPr>
                <p:cNvPr id="38" name="Freeform 38"/>
                <p:cNvSpPr/>
                <p:nvPr/>
              </p:nvSpPr>
              <p:spPr>
                <a:xfrm>
                  <a:off x="10006012" y="984250"/>
                  <a:ext cx="134937" cy="134937"/>
                </a:xfrm>
                <a:custGeom>
                  <a:avLst/>
                  <a:gdLst/>
                  <a:ahLst/>
                  <a:cxnLst/>
                  <a:rect l="l" t="t" r="r" b="b"/>
                  <a:pathLst>
                    <a:path w="134937" h="134937">
                      <a:moveTo>
                        <a:pt x="15875" y="0"/>
                      </a:moveTo>
                      <a:lnTo>
                        <a:pt x="47625" y="0"/>
                      </a:lnTo>
                      <a:lnTo>
                        <a:pt x="63500" y="39687"/>
                      </a:lnTo>
                      <a:lnTo>
                        <a:pt x="43656" y="51594"/>
                      </a:lnTo>
                      <a:cubicBezTo>
                        <a:pt x="52157" y="68830"/>
                        <a:pt x="66107" y="82780"/>
                        <a:pt x="83344" y="91281"/>
                      </a:cubicBezTo>
                      <a:lnTo>
                        <a:pt x="95250" y="71437"/>
                      </a:lnTo>
                      <a:lnTo>
                        <a:pt x="134937" y="87312"/>
                      </a:lnTo>
                      <a:lnTo>
                        <a:pt x="134937" y="119062"/>
                      </a:lnTo>
                      <a:cubicBezTo>
                        <a:pt x="134937" y="127830"/>
                        <a:pt x="127830" y="134937"/>
                        <a:pt x="119062" y="134937"/>
                      </a:cubicBezTo>
                      <a:cubicBezTo>
                        <a:pt x="54988" y="131044"/>
                        <a:pt x="3894" y="79949"/>
                        <a:pt x="0" y="15875"/>
                      </a:cubicBezTo>
                      <a:cubicBezTo>
                        <a:pt x="0" y="7107"/>
                        <a:pt x="7107" y="0"/>
                        <a:pt x="15875" y="0"/>
                      </a:cubicBezTo>
                    </a:path>
                  </a:pathLst>
                </a:custGeom>
                <a:noFill/>
                <a:ln w="15875">
                  <a:solidFill>
                    <a:srgbClr val="B03A1F"/>
                  </a:solidFill>
                </a:ln>
              </p:spPr>
            </p:sp>
            <p:sp>
              <p:nvSpPr>
                <p:cNvPr id="39" name="Freeform 39"/>
                <p:cNvSpPr/>
                <p:nvPr/>
              </p:nvSpPr>
              <p:spPr>
                <a:xfrm>
                  <a:off x="10101262" y="1008062"/>
                  <a:ext cx="15875" cy="15875"/>
                </a:xfrm>
                <a:custGeom>
                  <a:avLst/>
                  <a:gdLst/>
                  <a:ahLst/>
                  <a:cxnLst/>
                  <a:rect l="l" t="t" r="r" b="b"/>
                  <a:pathLst>
                    <a:path w="15875" h="15875">
                      <a:moveTo>
                        <a:pt x="0" y="0"/>
                      </a:moveTo>
                      <a:cubicBezTo>
                        <a:pt x="8768" y="0"/>
                        <a:pt x="15875" y="7107"/>
                        <a:pt x="15875" y="15875"/>
                      </a:cubicBezTo>
                    </a:path>
                  </a:pathLst>
                </a:custGeom>
                <a:noFill/>
                <a:ln w="15875">
                  <a:solidFill>
                    <a:srgbClr val="B03A1F"/>
                  </a:solidFill>
                </a:ln>
              </p:spPr>
            </p:sp>
            <p:sp>
              <p:nvSpPr>
                <p:cNvPr id="40" name="Freeform 40"/>
                <p:cNvSpPr/>
                <p:nvPr/>
              </p:nvSpPr>
              <p:spPr>
                <a:xfrm>
                  <a:off x="10101262" y="976312"/>
                  <a:ext cx="47625" cy="47625"/>
                </a:xfrm>
                <a:custGeom>
                  <a:avLst/>
                  <a:gdLst/>
                  <a:ahLst/>
                  <a:cxnLst/>
                  <a:rect l="l" t="t" r="r" b="b"/>
                  <a:pathLst>
                    <a:path w="47625" h="47625">
                      <a:moveTo>
                        <a:pt x="0" y="0"/>
                      </a:moveTo>
                      <a:cubicBezTo>
                        <a:pt x="26303" y="0"/>
                        <a:pt x="47625" y="21322"/>
                        <a:pt x="47625" y="47625"/>
                      </a:cubicBezTo>
                    </a:path>
                  </a:pathLst>
                </a:custGeom>
                <a:noFill/>
                <a:ln w="15875">
                  <a:solidFill>
                    <a:srgbClr val="B03A1F"/>
                  </a:solidFill>
                </a:ln>
              </p:spPr>
            </p:sp>
          </p:grpSp>
          <p:sp>
            <p:nvSpPr>
              <p:cNvPr id="42" name="TextBox 42"/>
              <p:cNvSpPr txBox="1"/>
              <p:nvPr/>
            </p:nvSpPr>
            <p:spPr>
              <a:xfrm>
                <a:off x="10224516" y="991552"/>
                <a:ext cx="576072"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投诉反馈</a:t>
                </a:r>
              </a:p>
            </p:txBody>
          </p:sp>
          <p:sp>
            <p:nvSpPr>
              <p:cNvPr id="43" name="TextBox 43"/>
              <p:cNvSpPr txBox="1"/>
              <p:nvPr/>
            </p:nvSpPr>
            <p:spPr>
              <a:xfrm>
                <a:off x="9977438" y="1256586"/>
                <a:ext cx="802841"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问题反馈 意见建议</a:t>
                </a:r>
              </a:p>
            </p:txBody>
          </p:sp>
          <p:sp>
            <p:nvSpPr>
              <p:cNvPr id="44" name="TextBox 44"/>
              <p:cNvSpPr txBox="1"/>
              <p:nvPr/>
            </p:nvSpPr>
            <p:spPr>
              <a:xfrm>
                <a:off x="9977438" y="1408986"/>
                <a:ext cx="678586"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处理与结果反馈</a:t>
                </a:r>
              </a:p>
            </p:txBody>
          </p:sp>
        </p:grpSp>
        <p:sp>
          <p:nvSpPr>
            <p:cNvPr id="46" name="Polygon 46"/>
            <p:cNvSpPr/>
            <p:nvPr/>
          </p:nvSpPr>
          <p:spPr>
            <a:xfrm>
              <a:off x="3105150" y="1123950"/>
              <a:ext cx="133350" cy="228600"/>
            </a:xfrm>
            <a:custGeom>
              <a:avLst/>
              <a:gdLst/>
              <a:ahLst/>
              <a:cxnLst/>
              <a:rect l="l" t="t" r="r" b="b"/>
              <a:pathLst>
                <a:path w="133350" h="228600">
                  <a:moveTo>
                    <a:pt x="0" y="0"/>
                  </a:moveTo>
                  <a:lnTo>
                    <a:pt x="133350" y="114300"/>
                  </a:lnTo>
                  <a:lnTo>
                    <a:pt x="0" y="228600"/>
                  </a:lnTo>
                  <a:close/>
                </a:path>
              </a:pathLst>
            </a:custGeom>
            <a:solidFill>
              <a:srgbClr val="B03A1F"/>
            </a:solidFill>
            <a:ln>
              <a:noFill/>
            </a:ln>
          </p:spPr>
        </p:sp>
        <p:sp>
          <p:nvSpPr>
            <p:cNvPr id="47" name="Polygon 47"/>
            <p:cNvSpPr/>
            <p:nvPr/>
          </p:nvSpPr>
          <p:spPr>
            <a:xfrm>
              <a:off x="5295900" y="1123950"/>
              <a:ext cx="133350" cy="228600"/>
            </a:xfrm>
            <a:custGeom>
              <a:avLst/>
              <a:gdLst/>
              <a:ahLst/>
              <a:cxnLst/>
              <a:rect l="l" t="t" r="r" b="b"/>
              <a:pathLst>
                <a:path w="133350" h="228600">
                  <a:moveTo>
                    <a:pt x="0" y="0"/>
                  </a:moveTo>
                  <a:lnTo>
                    <a:pt x="133350" y="114300"/>
                  </a:lnTo>
                  <a:lnTo>
                    <a:pt x="0" y="228600"/>
                  </a:lnTo>
                  <a:close/>
                </a:path>
              </a:pathLst>
            </a:custGeom>
            <a:solidFill>
              <a:srgbClr val="B03A1F"/>
            </a:solidFill>
            <a:ln>
              <a:noFill/>
            </a:ln>
          </p:spPr>
        </p:sp>
        <p:sp>
          <p:nvSpPr>
            <p:cNvPr id="48" name="Polygon 48"/>
            <p:cNvSpPr/>
            <p:nvPr/>
          </p:nvSpPr>
          <p:spPr>
            <a:xfrm>
              <a:off x="7486650" y="1123950"/>
              <a:ext cx="133350" cy="228600"/>
            </a:xfrm>
            <a:custGeom>
              <a:avLst/>
              <a:gdLst/>
              <a:ahLst/>
              <a:cxnLst/>
              <a:rect l="l" t="t" r="r" b="b"/>
              <a:pathLst>
                <a:path w="133350" h="228600">
                  <a:moveTo>
                    <a:pt x="0" y="0"/>
                  </a:moveTo>
                  <a:lnTo>
                    <a:pt x="133350" y="114300"/>
                  </a:lnTo>
                  <a:lnTo>
                    <a:pt x="0" y="228600"/>
                  </a:lnTo>
                  <a:close/>
                </a:path>
              </a:pathLst>
            </a:custGeom>
            <a:solidFill>
              <a:srgbClr val="B03A1F"/>
            </a:solidFill>
            <a:ln>
              <a:noFill/>
            </a:ln>
          </p:spPr>
        </p:sp>
        <p:sp>
          <p:nvSpPr>
            <p:cNvPr id="49" name="Polygon 49"/>
            <p:cNvSpPr/>
            <p:nvPr/>
          </p:nvSpPr>
          <p:spPr>
            <a:xfrm>
              <a:off x="9677400" y="1123950"/>
              <a:ext cx="133350" cy="228600"/>
            </a:xfrm>
            <a:custGeom>
              <a:avLst/>
              <a:gdLst/>
              <a:ahLst/>
              <a:cxnLst/>
              <a:rect l="l" t="t" r="r" b="b"/>
              <a:pathLst>
                <a:path w="133350" h="228600">
                  <a:moveTo>
                    <a:pt x="0" y="0"/>
                  </a:moveTo>
                  <a:lnTo>
                    <a:pt x="133350" y="114300"/>
                  </a:lnTo>
                  <a:lnTo>
                    <a:pt x="0" y="228600"/>
                  </a:lnTo>
                  <a:close/>
                </a:path>
              </a:pathLst>
            </a:custGeom>
            <a:solidFill>
              <a:srgbClr val="B03A1F"/>
            </a:solidFill>
            <a:ln>
              <a:noFill/>
            </a:ln>
          </p:spPr>
        </p:sp>
      </p:grpSp>
      <p:grpSp>
        <p:nvGrpSpPr>
          <p:cNvPr id="149" name="swimlanes"/>
          <p:cNvGrpSpPr/>
          <p:nvPr/>
        </p:nvGrpSpPr>
        <p:grpSpPr>
          <a:xfrm>
            <a:off x="190500" y="1809750"/>
            <a:ext cx="11763375" cy="2857500"/>
            <a:chOff x="190500" y="1809750"/>
            <a:chExt cx="11763375" cy="2857500"/>
          </a:xfrm>
        </p:grpSpPr>
        <p:sp>
          <p:nvSpPr>
            <p:cNvPr id="51" name="Rectangle 51"/>
            <p:cNvSpPr/>
            <p:nvPr/>
          </p:nvSpPr>
          <p:spPr>
            <a:xfrm>
              <a:off x="190500" y="1809750"/>
              <a:ext cx="762000" cy="2857500"/>
            </a:xfrm>
            <a:prstGeom prst="roundRect">
              <a:avLst>
                <a:gd name="adj" fmla="val 10000"/>
              </a:avLst>
            </a:prstGeom>
            <a:solidFill>
              <a:srgbClr val="F5F3F1"/>
            </a:solidFill>
            <a:ln>
              <a:noFill/>
            </a:ln>
          </p:spPr>
        </p:sp>
        <p:sp>
          <p:nvSpPr>
            <p:cNvPr id="52" name="TextBox 52"/>
            <p:cNvSpPr txBox="1"/>
            <p:nvPr/>
          </p:nvSpPr>
          <p:spPr>
            <a:xfrm>
              <a:off x="368656" y="2990374"/>
              <a:ext cx="405689"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全渠道</a:t>
              </a:r>
            </a:p>
          </p:txBody>
        </p:sp>
        <p:sp>
          <p:nvSpPr>
            <p:cNvPr id="53" name="TextBox 53"/>
            <p:cNvSpPr txBox="1"/>
            <p:nvPr/>
          </p:nvSpPr>
          <p:spPr>
            <a:xfrm>
              <a:off x="434619" y="3180874"/>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触点</a:t>
              </a:r>
            </a:p>
          </p:txBody>
        </p:sp>
        <p:grpSp>
          <p:nvGrpSpPr>
            <p:cNvPr id="75" name="lane-network"/>
            <p:cNvGrpSpPr/>
            <p:nvPr/>
          </p:nvGrpSpPr>
          <p:grpSpPr>
            <a:xfrm>
              <a:off x="1090612" y="1928812"/>
              <a:ext cx="10863263" cy="360522"/>
              <a:chOff x="1090612" y="1928812"/>
              <a:chExt cx="10863263" cy="360522"/>
            </a:xfrm>
          </p:grpSpPr>
          <p:grpSp>
            <p:nvGrpSpPr>
              <p:cNvPr id="62" name="Group 62"/>
              <p:cNvGrpSpPr/>
              <p:nvPr/>
            </p:nvGrpSpPr>
            <p:grpSpPr>
              <a:xfrm>
                <a:off x="1090612" y="1928812"/>
                <a:ext cx="144463" cy="152400"/>
                <a:chOff x="1090612" y="1928812"/>
                <a:chExt cx="144463" cy="152400"/>
              </a:xfrm>
            </p:grpSpPr>
            <p:sp>
              <p:nvSpPr>
                <p:cNvPr id="54" name="Freeform 54"/>
                <p:cNvSpPr/>
                <p:nvPr/>
              </p:nvSpPr>
              <p:spPr>
                <a:xfrm>
                  <a:off x="1090612" y="2071687"/>
                  <a:ext cx="142875" cy="9525"/>
                </a:xfrm>
                <a:custGeom>
                  <a:avLst/>
                  <a:gdLst/>
                  <a:ahLst/>
                  <a:cxnLst/>
                  <a:rect l="l" t="t" r="r" b="b"/>
                  <a:pathLst>
                    <a:path w="142875" h="9525">
                      <a:moveTo>
                        <a:pt x="0" y="0"/>
                      </a:moveTo>
                      <a:lnTo>
                        <a:pt x="142875" y="0"/>
                      </a:lnTo>
                    </a:path>
                  </a:pathLst>
                </a:custGeom>
                <a:noFill/>
                <a:ln w="15875">
                  <a:solidFill>
                    <a:srgbClr val="B03A1F"/>
                  </a:solidFill>
                </a:ln>
              </p:spPr>
            </p:sp>
            <p:sp>
              <p:nvSpPr>
                <p:cNvPr id="55" name="Freeform 55"/>
                <p:cNvSpPr/>
                <p:nvPr/>
              </p:nvSpPr>
              <p:spPr>
                <a:xfrm>
                  <a:off x="1090612" y="1984375"/>
                  <a:ext cx="142875" cy="9525"/>
                </a:xfrm>
                <a:custGeom>
                  <a:avLst/>
                  <a:gdLst/>
                  <a:ahLst/>
                  <a:cxnLst/>
                  <a:rect l="l" t="t" r="r" b="b"/>
                  <a:pathLst>
                    <a:path w="142875" h="9525">
                      <a:moveTo>
                        <a:pt x="0" y="0"/>
                      </a:moveTo>
                      <a:lnTo>
                        <a:pt x="142875" y="0"/>
                      </a:lnTo>
                    </a:path>
                  </a:pathLst>
                </a:custGeom>
                <a:noFill/>
                <a:ln w="15875">
                  <a:solidFill>
                    <a:srgbClr val="B03A1F"/>
                  </a:solidFill>
                </a:ln>
              </p:spPr>
            </p:sp>
            <p:sp>
              <p:nvSpPr>
                <p:cNvPr id="56" name="Freeform 56"/>
                <p:cNvSpPr/>
                <p:nvPr/>
              </p:nvSpPr>
              <p:spPr>
                <a:xfrm>
                  <a:off x="1106487" y="1928812"/>
                  <a:ext cx="111125" cy="23812"/>
                </a:xfrm>
                <a:custGeom>
                  <a:avLst/>
                  <a:gdLst/>
                  <a:ahLst/>
                  <a:cxnLst/>
                  <a:rect l="l" t="t" r="r" b="b"/>
                  <a:pathLst>
                    <a:path w="111125" h="23812">
                      <a:moveTo>
                        <a:pt x="0" y="23812"/>
                      </a:moveTo>
                      <a:lnTo>
                        <a:pt x="55562" y="0"/>
                      </a:lnTo>
                      <a:lnTo>
                        <a:pt x="111125" y="23812"/>
                      </a:lnTo>
                    </a:path>
                  </a:pathLst>
                </a:custGeom>
                <a:noFill/>
                <a:ln w="15875">
                  <a:solidFill>
                    <a:srgbClr val="B03A1F"/>
                  </a:solidFill>
                </a:ln>
              </p:spPr>
            </p:sp>
            <p:sp>
              <p:nvSpPr>
                <p:cNvPr id="57" name="Freeform 57"/>
                <p:cNvSpPr/>
                <p:nvPr/>
              </p:nvSpPr>
              <p:spPr>
                <a:xfrm>
                  <a:off x="1098550" y="1984375"/>
                  <a:ext cx="9525" cy="87312"/>
                </a:xfrm>
                <a:custGeom>
                  <a:avLst/>
                  <a:gdLst/>
                  <a:ahLst/>
                  <a:cxnLst/>
                  <a:rect l="l" t="t" r="r" b="b"/>
                  <a:pathLst>
                    <a:path w="9525" h="87312">
                      <a:moveTo>
                        <a:pt x="0" y="0"/>
                      </a:moveTo>
                      <a:lnTo>
                        <a:pt x="0" y="87312"/>
                      </a:lnTo>
                    </a:path>
                  </a:pathLst>
                </a:custGeom>
                <a:noFill/>
                <a:ln w="15875">
                  <a:solidFill>
                    <a:srgbClr val="B03A1F"/>
                  </a:solidFill>
                </a:ln>
              </p:spPr>
            </p:sp>
            <p:sp>
              <p:nvSpPr>
                <p:cNvPr id="58" name="Freeform 58"/>
                <p:cNvSpPr/>
                <p:nvPr/>
              </p:nvSpPr>
              <p:spPr>
                <a:xfrm>
                  <a:off x="1225550" y="1984375"/>
                  <a:ext cx="9525" cy="87312"/>
                </a:xfrm>
                <a:custGeom>
                  <a:avLst/>
                  <a:gdLst/>
                  <a:ahLst/>
                  <a:cxnLst/>
                  <a:rect l="l" t="t" r="r" b="b"/>
                  <a:pathLst>
                    <a:path w="9525" h="87312">
                      <a:moveTo>
                        <a:pt x="0" y="0"/>
                      </a:moveTo>
                      <a:lnTo>
                        <a:pt x="0" y="87312"/>
                      </a:lnTo>
                    </a:path>
                  </a:pathLst>
                </a:custGeom>
                <a:noFill/>
                <a:ln w="15875">
                  <a:solidFill>
                    <a:srgbClr val="B03A1F"/>
                  </a:solidFill>
                </a:ln>
              </p:spPr>
            </p:sp>
            <p:sp>
              <p:nvSpPr>
                <p:cNvPr id="59" name="Freeform 59"/>
                <p:cNvSpPr/>
                <p:nvPr/>
              </p:nvSpPr>
              <p:spPr>
                <a:xfrm>
                  <a:off x="1130300" y="2016125"/>
                  <a:ext cx="9525" cy="23812"/>
                </a:xfrm>
                <a:custGeom>
                  <a:avLst/>
                  <a:gdLst/>
                  <a:ahLst/>
                  <a:cxnLst/>
                  <a:rect l="l" t="t" r="r" b="b"/>
                  <a:pathLst>
                    <a:path w="9525" h="23812">
                      <a:moveTo>
                        <a:pt x="0" y="0"/>
                      </a:moveTo>
                      <a:lnTo>
                        <a:pt x="0" y="23812"/>
                      </a:lnTo>
                    </a:path>
                  </a:pathLst>
                </a:custGeom>
                <a:noFill/>
                <a:ln w="15875">
                  <a:solidFill>
                    <a:srgbClr val="B03A1F"/>
                  </a:solidFill>
                </a:ln>
              </p:spPr>
            </p:sp>
            <p:sp>
              <p:nvSpPr>
                <p:cNvPr id="60" name="Freeform 60"/>
                <p:cNvSpPr/>
                <p:nvPr/>
              </p:nvSpPr>
              <p:spPr>
                <a:xfrm>
                  <a:off x="1162050" y="2016125"/>
                  <a:ext cx="9525" cy="23812"/>
                </a:xfrm>
                <a:custGeom>
                  <a:avLst/>
                  <a:gdLst/>
                  <a:ahLst/>
                  <a:cxnLst/>
                  <a:rect l="l" t="t" r="r" b="b"/>
                  <a:pathLst>
                    <a:path w="9525" h="23812">
                      <a:moveTo>
                        <a:pt x="0" y="0"/>
                      </a:moveTo>
                      <a:lnTo>
                        <a:pt x="0" y="23812"/>
                      </a:lnTo>
                    </a:path>
                  </a:pathLst>
                </a:custGeom>
                <a:noFill/>
                <a:ln w="15875">
                  <a:solidFill>
                    <a:srgbClr val="B03A1F"/>
                  </a:solidFill>
                </a:ln>
              </p:spPr>
            </p:sp>
            <p:sp>
              <p:nvSpPr>
                <p:cNvPr id="61" name="Freeform 61"/>
                <p:cNvSpPr/>
                <p:nvPr/>
              </p:nvSpPr>
              <p:spPr>
                <a:xfrm>
                  <a:off x="1193800" y="2016125"/>
                  <a:ext cx="9525" cy="23812"/>
                </a:xfrm>
                <a:custGeom>
                  <a:avLst/>
                  <a:gdLst/>
                  <a:ahLst/>
                  <a:cxnLst/>
                  <a:rect l="l" t="t" r="r" b="b"/>
                  <a:pathLst>
                    <a:path w="9525" h="23812">
                      <a:moveTo>
                        <a:pt x="0" y="0"/>
                      </a:moveTo>
                      <a:lnTo>
                        <a:pt x="0" y="23812"/>
                      </a:lnTo>
                    </a:path>
                  </a:pathLst>
                </a:custGeom>
                <a:noFill/>
                <a:ln w="15875">
                  <a:solidFill>
                    <a:srgbClr val="B03A1F"/>
                  </a:solidFill>
                </a:ln>
              </p:spPr>
            </p:sp>
          </p:grpSp>
          <p:sp>
            <p:nvSpPr>
              <p:cNvPr id="63" name="TextBox 63"/>
              <p:cNvSpPr txBox="1"/>
              <p:nvPr/>
            </p:nvSpPr>
            <p:spPr>
              <a:xfrm>
                <a:off x="1328547" y="1952149"/>
                <a:ext cx="273761"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网点</a:t>
                </a:r>
              </a:p>
            </p:txBody>
          </p:sp>
          <p:sp>
            <p:nvSpPr>
              <p:cNvPr id="64" name="Line 64"/>
              <p:cNvSpPr/>
              <p:nvPr/>
            </p:nvSpPr>
            <p:spPr>
              <a:xfrm>
                <a:off x="2381250" y="2000250"/>
                <a:ext cx="9572625" cy="9525"/>
              </a:xfrm>
              <a:custGeom>
                <a:avLst/>
                <a:gdLst/>
                <a:ahLst/>
                <a:cxnLst/>
                <a:rect l="l" t="t" r="r" b="b"/>
                <a:pathLst>
                  <a:path w="9572625" h="9525">
                    <a:moveTo>
                      <a:pt x="0" y="0"/>
                    </a:moveTo>
                    <a:lnTo>
                      <a:pt x="9572625" y="0"/>
                    </a:lnTo>
                  </a:path>
                </a:pathLst>
              </a:custGeom>
              <a:noFill/>
              <a:ln w="19050">
                <a:solidFill>
                  <a:srgbClr val="B03A1F"/>
                </a:solidFill>
              </a:ln>
            </p:spPr>
          </p:sp>
          <p:sp>
            <p:nvSpPr>
              <p:cNvPr id="65" name="Ellipse 65"/>
              <p:cNvSpPr/>
              <p:nvPr/>
            </p:nvSpPr>
            <p:spPr>
              <a:xfrm>
                <a:off x="3095625" y="1952625"/>
                <a:ext cx="95250" cy="95250"/>
              </a:xfrm>
              <a:prstGeom prst="ellipse">
                <a:avLst/>
              </a:prstGeom>
              <a:solidFill>
                <a:srgbClr val="FFFFFF"/>
              </a:solidFill>
              <a:ln w="19050">
                <a:solidFill>
                  <a:srgbClr val="B03A1F"/>
                </a:solidFill>
              </a:ln>
            </p:spPr>
          </p:sp>
          <p:sp>
            <p:nvSpPr>
              <p:cNvPr id="66" name="Ellipse 66"/>
              <p:cNvSpPr/>
              <p:nvPr/>
            </p:nvSpPr>
            <p:spPr>
              <a:xfrm>
                <a:off x="5286375" y="1952625"/>
                <a:ext cx="95250" cy="95250"/>
              </a:xfrm>
              <a:prstGeom prst="ellipse">
                <a:avLst/>
              </a:prstGeom>
              <a:solidFill>
                <a:srgbClr val="FFFFFF"/>
              </a:solidFill>
              <a:ln w="19050">
                <a:solidFill>
                  <a:srgbClr val="B03A1F"/>
                </a:solidFill>
              </a:ln>
            </p:spPr>
          </p:sp>
          <p:sp>
            <p:nvSpPr>
              <p:cNvPr id="67" name="Ellipse 67"/>
              <p:cNvSpPr/>
              <p:nvPr/>
            </p:nvSpPr>
            <p:spPr>
              <a:xfrm>
                <a:off x="7477125" y="1952625"/>
                <a:ext cx="95250" cy="95250"/>
              </a:xfrm>
              <a:prstGeom prst="ellipse">
                <a:avLst/>
              </a:prstGeom>
              <a:solidFill>
                <a:srgbClr val="FFFFFF"/>
              </a:solidFill>
              <a:ln w="19050">
                <a:solidFill>
                  <a:srgbClr val="B03A1F"/>
                </a:solidFill>
              </a:ln>
            </p:spPr>
          </p:sp>
          <p:sp>
            <p:nvSpPr>
              <p:cNvPr id="68" name="Ellipse 68"/>
              <p:cNvSpPr/>
              <p:nvPr/>
            </p:nvSpPr>
            <p:spPr>
              <a:xfrm>
                <a:off x="9667875" y="1952625"/>
                <a:ext cx="95250" cy="95250"/>
              </a:xfrm>
              <a:prstGeom prst="ellipse">
                <a:avLst/>
              </a:prstGeom>
              <a:solidFill>
                <a:srgbClr val="FFFFFF"/>
              </a:solidFill>
              <a:ln w="19050">
                <a:solidFill>
                  <a:srgbClr val="B03A1F"/>
                </a:solidFill>
              </a:ln>
            </p:spPr>
          </p:sp>
          <p:sp>
            <p:nvSpPr>
              <p:cNvPr id="69" name="Ellipse 69"/>
              <p:cNvSpPr/>
              <p:nvPr/>
            </p:nvSpPr>
            <p:spPr>
              <a:xfrm>
                <a:off x="11191875" y="1952625"/>
                <a:ext cx="95250" cy="95250"/>
              </a:xfrm>
              <a:prstGeom prst="ellipse">
                <a:avLst/>
              </a:prstGeom>
              <a:solidFill>
                <a:srgbClr val="FFFFFF"/>
              </a:solidFill>
              <a:ln w="19050">
                <a:solidFill>
                  <a:srgbClr val="B03A1F"/>
                </a:solidFill>
              </a:ln>
            </p:spPr>
          </p:sp>
          <p:sp>
            <p:nvSpPr>
              <p:cNvPr id="70" name="TextBox 70"/>
              <p:cNvSpPr txBox="1"/>
              <p:nvPr/>
            </p:nvSpPr>
            <p:spPr>
              <a:xfrm>
                <a:off x="2758590" y="21559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宣传展示 现场引导</a:t>
                </a:r>
              </a:p>
            </p:txBody>
          </p:sp>
          <p:sp>
            <p:nvSpPr>
              <p:cNvPr id="71" name="TextBox 71"/>
              <p:cNvSpPr txBox="1"/>
              <p:nvPr/>
            </p:nvSpPr>
            <p:spPr>
              <a:xfrm>
                <a:off x="4903569" y="2155984"/>
                <a:ext cx="860862"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面对面咨询 需求评估</a:t>
                </a:r>
              </a:p>
            </p:txBody>
          </p:sp>
          <p:sp>
            <p:nvSpPr>
              <p:cNvPr id="72" name="TextBox 72"/>
              <p:cNvSpPr txBox="1"/>
              <p:nvPr/>
            </p:nvSpPr>
            <p:spPr>
              <a:xfrm>
                <a:off x="7140090" y="21559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柜面受理 材料审核</a:t>
                </a:r>
              </a:p>
            </p:txBody>
          </p:sp>
          <p:sp>
            <p:nvSpPr>
              <p:cNvPr id="73" name="TextBox 73"/>
              <p:cNvSpPr txBox="1"/>
              <p:nvPr/>
            </p:nvSpPr>
            <p:spPr>
              <a:xfrm>
                <a:off x="9330840" y="21559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到店服务 权益提醒</a:t>
                </a:r>
              </a:p>
            </p:txBody>
          </p:sp>
          <p:sp>
            <p:nvSpPr>
              <p:cNvPr id="74" name="TextBox 74"/>
              <p:cNvSpPr txBox="1"/>
              <p:nvPr/>
            </p:nvSpPr>
            <p:spPr>
              <a:xfrm>
                <a:off x="10854840" y="21559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现场反馈 问题登记</a:t>
                </a:r>
              </a:p>
            </p:txBody>
          </p:sp>
        </p:grpSp>
        <p:grpSp>
          <p:nvGrpSpPr>
            <p:cNvPr id="92" name="lane-mobile"/>
            <p:cNvGrpSpPr/>
            <p:nvPr/>
          </p:nvGrpSpPr>
          <p:grpSpPr>
            <a:xfrm>
              <a:off x="1114425" y="2519362"/>
              <a:ext cx="10839450" cy="360522"/>
              <a:chOff x="1114425" y="2519362"/>
              <a:chExt cx="10839450" cy="360522"/>
            </a:xfrm>
          </p:grpSpPr>
          <p:grpSp>
            <p:nvGrpSpPr>
              <p:cNvPr id="79" name="Group 79"/>
              <p:cNvGrpSpPr/>
              <p:nvPr/>
            </p:nvGrpSpPr>
            <p:grpSpPr>
              <a:xfrm>
                <a:off x="1114425" y="2519362"/>
                <a:ext cx="95250" cy="142875"/>
                <a:chOff x="1114425" y="2519362"/>
                <a:chExt cx="95250" cy="142875"/>
              </a:xfrm>
            </p:grpSpPr>
            <p:sp>
              <p:nvSpPr>
                <p:cNvPr id="76" name="Freeform 76"/>
                <p:cNvSpPr/>
                <p:nvPr/>
              </p:nvSpPr>
              <p:spPr>
                <a:xfrm>
                  <a:off x="1114425" y="251936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1E1E1E"/>
                  </a:solidFill>
                </a:ln>
              </p:spPr>
            </p:sp>
            <p:sp>
              <p:nvSpPr>
                <p:cNvPr id="77" name="Freeform 77"/>
                <p:cNvSpPr/>
                <p:nvPr/>
              </p:nvSpPr>
              <p:spPr>
                <a:xfrm>
                  <a:off x="1154112" y="2527300"/>
                  <a:ext cx="15875" cy="9525"/>
                </a:xfrm>
                <a:custGeom>
                  <a:avLst/>
                  <a:gdLst/>
                  <a:ahLst/>
                  <a:cxnLst/>
                  <a:rect l="l" t="t" r="r" b="b"/>
                  <a:pathLst>
                    <a:path w="15875" h="9525">
                      <a:moveTo>
                        <a:pt x="0" y="0"/>
                      </a:moveTo>
                      <a:lnTo>
                        <a:pt x="15875" y="0"/>
                      </a:lnTo>
                    </a:path>
                  </a:pathLst>
                </a:custGeom>
                <a:noFill/>
                <a:ln w="15875">
                  <a:solidFill>
                    <a:srgbClr val="1E1E1E"/>
                  </a:solidFill>
                </a:ln>
              </p:spPr>
            </p:sp>
            <p:sp>
              <p:nvSpPr>
                <p:cNvPr id="78" name="Freeform 78"/>
                <p:cNvSpPr/>
                <p:nvPr/>
              </p:nvSpPr>
              <p:spPr>
                <a:xfrm>
                  <a:off x="1162050" y="2630487"/>
                  <a:ext cx="9525" cy="9525"/>
                </a:xfrm>
                <a:custGeom>
                  <a:avLst/>
                  <a:gdLst/>
                  <a:ahLst/>
                  <a:cxnLst/>
                  <a:rect l="l" t="t" r="r" b="b"/>
                  <a:pathLst>
                    <a:path w="9525" h="9525">
                      <a:moveTo>
                        <a:pt x="0" y="0"/>
                      </a:moveTo>
                      <a:lnTo>
                        <a:pt x="0" y="79"/>
                      </a:lnTo>
                    </a:path>
                  </a:pathLst>
                </a:custGeom>
                <a:noFill/>
                <a:ln w="15875">
                  <a:solidFill>
                    <a:srgbClr val="1E1E1E"/>
                  </a:solidFill>
                </a:ln>
              </p:spPr>
            </p:sp>
          </p:grpSp>
          <p:sp>
            <p:nvSpPr>
              <p:cNvPr id="80" name="TextBox 80"/>
              <p:cNvSpPr txBox="1"/>
              <p:nvPr/>
            </p:nvSpPr>
            <p:spPr>
              <a:xfrm>
                <a:off x="1328547" y="2542699"/>
                <a:ext cx="53761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手机银行</a:t>
                </a:r>
              </a:p>
            </p:txBody>
          </p:sp>
          <p:sp>
            <p:nvSpPr>
              <p:cNvPr id="81" name="Line 81"/>
              <p:cNvSpPr/>
              <p:nvPr/>
            </p:nvSpPr>
            <p:spPr>
              <a:xfrm>
                <a:off x="2381250" y="2590800"/>
                <a:ext cx="9572625" cy="9525"/>
              </a:xfrm>
              <a:custGeom>
                <a:avLst/>
                <a:gdLst/>
                <a:ahLst/>
                <a:cxnLst/>
                <a:rect l="l" t="t" r="r" b="b"/>
                <a:pathLst>
                  <a:path w="9572625" h="9525">
                    <a:moveTo>
                      <a:pt x="0" y="0"/>
                    </a:moveTo>
                    <a:lnTo>
                      <a:pt x="9572625" y="0"/>
                    </a:lnTo>
                  </a:path>
                </a:pathLst>
              </a:custGeom>
              <a:noFill/>
              <a:ln w="19050">
                <a:solidFill>
                  <a:srgbClr val="1E1E1E"/>
                </a:solidFill>
              </a:ln>
            </p:spPr>
          </p:sp>
          <p:sp>
            <p:nvSpPr>
              <p:cNvPr id="82" name="Ellipse 82"/>
              <p:cNvSpPr/>
              <p:nvPr/>
            </p:nvSpPr>
            <p:spPr>
              <a:xfrm>
                <a:off x="3095625" y="2543175"/>
                <a:ext cx="95250" cy="95250"/>
              </a:xfrm>
              <a:prstGeom prst="ellipse">
                <a:avLst/>
              </a:prstGeom>
              <a:solidFill>
                <a:srgbClr val="FFFFFF"/>
              </a:solidFill>
              <a:ln w="19050">
                <a:solidFill>
                  <a:srgbClr val="1E1E1E"/>
                </a:solidFill>
              </a:ln>
            </p:spPr>
          </p:sp>
          <p:sp>
            <p:nvSpPr>
              <p:cNvPr id="83" name="Ellipse 83"/>
              <p:cNvSpPr/>
              <p:nvPr/>
            </p:nvSpPr>
            <p:spPr>
              <a:xfrm>
                <a:off x="5286375" y="2543175"/>
                <a:ext cx="95250" cy="95250"/>
              </a:xfrm>
              <a:prstGeom prst="ellipse">
                <a:avLst/>
              </a:prstGeom>
              <a:solidFill>
                <a:srgbClr val="FFFFFF"/>
              </a:solidFill>
              <a:ln w="19050">
                <a:solidFill>
                  <a:srgbClr val="1E1E1E"/>
                </a:solidFill>
              </a:ln>
            </p:spPr>
          </p:sp>
          <p:sp>
            <p:nvSpPr>
              <p:cNvPr id="84" name="Ellipse 84"/>
              <p:cNvSpPr/>
              <p:nvPr/>
            </p:nvSpPr>
            <p:spPr>
              <a:xfrm>
                <a:off x="7477125" y="2543175"/>
                <a:ext cx="95250" cy="95250"/>
              </a:xfrm>
              <a:prstGeom prst="ellipse">
                <a:avLst/>
              </a:prstGeom>
              <a:solidFill>
                <a:srgbClr val="FFFFFF"/>
              </a:solidFill>
              <a:ln w="19050">
                <a:solidFill>
                  <a:srgbClr val="1E1E1E"/>
                </a:solidFill>
              </a:ln>
            </p:spPr>
          </p:sp>
          <p:sp>
            <p:nvSpPr>
              <p:cNvPr id="85" name="Ellipse 85"/>
              <p:cNvSpPr/>
              <p:nvPr/>
            </p:nvSpPr>
            <p:spPr>
              <a:xfrm>
                <a:off x="9667875" y="2543175"/>
                <a:ext cx="95250" cy="95250"/>
              </a:xfrm>
              <a:prstGeom prst="ellipse">
                <a:avLst/>
              </a:prstGeom>
              <a:solidFill>
                <a:srgbClr val="FFFFFF"/>
              </a:solidFill>
              <a:ln w="19050">
                <a:solidFill>
                  <a:srgbClr val="1E1E1E"/>
                </a:solidFill>
              </a:ln>
            </p:spPr>
          </p:sp>
          <p:sp>
            <p:nvSpPr>
              <p:cNvPr id="86" name="Ellipse 86"/>
              <p:cNvSpPr/>
              <p:nvPr/>
            </p:nvSpPr>
            <p:spPr>
              <a:xfrm>
                <a:off x="11191875" y="2543175"/>
                <a:ext cx="95250" cy="95250"/>
              </a:xfrm>
              <a:prstGeom prst="ellipse">
                <a:avLst/>
              </a:prstGeom>
              <a:solidFill>
                <a:srgbClr val="FFFFFF"/>
              </a:solidFill>
              <a:ln w="19050">
                <a:solidFill>
                  <a:srgbClr val="1E1E1E"/>
                </a:solidFill>
              </a:ln>
            </p:spPr>
          </p:sp>
          <p:sp>
            <p:nvSpPr>
              <p:cNvPr id="87" name="TextBox 87"/>
              <p:cNvSpPr txBox="1"/>
              <p:nvPr/>
            </p:nvSpPr>
            <p:spPr>
              <a:xfrm>
                <a:off x="2758590" y="27465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产品推荐 活动触达</a:t>
                </a:r>
              </a:p>
            </p:txBody>
          </p:sp>
          <p:sp>
            <p:nvSpPr>
              <p:cNvPr id="88" name="TextBox 88"/>
              <p:cNvSpPr txBox="1"/>
              <p:nvPr/>
            </p:nvSpPr>
            <p:spPr>
              <a:xfrm>
                <a:off x="4949340" y="27465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在线咨询 方案测算</a:t>
                </a:r>
              </a:p>
            </p:txBody>
          </p:sp>
          <p:sp>
            <p:nvSpPr>
              <p:cNvPr id="89" name="TextBox 89"/>
              <p:cNvSpPr txBox="1"/>
              <p:nvPr/>
            </p:nvSpPr>
            <p:spPr>
              <a:xfrm>
                <a:off x="7140090" y="27465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在线申请 材料上传</a:t>
                </a:r>
              </a:p>
            </p:txBody>
          </p:sp>
          <p:sp>
            <p:nvSpPr>
              <p:cNvPr id="90" name="TextBox 90"/>
              <p:cNvSpPr txBox="1"/>
              <p:nvPr/>
            </p:nvSpPr>
            <p:spPr>
              <a:xfrm>
                <a:off x="9330840" y="27465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进度查询 消息推送</a:t>
                </a:r>
              </a:p>
            </p:txBody>
          </p:sp>
          <p:sp>
            <p:nvSpPr>
              <p:cNvPr id="91" name="TextBox 91"/>
              <p:cNvSpPr txBox="1"/>
              <p:nvPr/>
            </p:nvSpPr>
            <p:spPr>
              <a:xfrm>
                <a:off x="10854840" y="27465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在线反馈 评价建议</a:t>
                </a:r>
              </a:p>
            </p:txBody>
          </p:sp>
        </p:grpSp>
        <p:grpSp>
          <p:nvGrpSpPr>
            <p:cNvPr id="108" name="lane-remote"/>
            <p:cNvGrpSpPr/>
            <p:nvPr/>
          </p:nvGrpSpPr>
          <p:grpSpPr>
            <a:xfrm>
              <a:off x="1090612" y="3133249"/>
              <a:ext cx="10863263" cy="337185"/>
              <a:chOff x="1090612" y="3133249"/>
              <a:chExt cx="10863263" cy="337185"/>
            </a:xfrm>
          </p:grpSpPr>
          <p:grpSp>
            <p:nvGrpSpPr>
              <p:cNvPr id="95" name="Group 95"/>
              <p:cNvGrpSpPr/>
              <p:nvPr/>
            </p:nvGrpSpPr>
            <p:grpSpPr>
              <a:xfrm>
                <a:off x="1090612" y="3133725"/>
                <a:ext cx="142875" cy="95250"/>
                <a:chOff x="1090612" y="3133725"/>
                <a:chExt cx="142875" cy="95250"/>
              </a:xfrm>
            </p:grpSpPr>
            <p:sp>
              <p:nvSpPr>
                <p:cNvPr id="93" name="Freeform 93"/>
                <p:cNvSpPr/>
                <p:nvPr/>
              </p:nvSpPr>
              <p:spPr>
                <a:xfrm>
                  <a:off x="1185862" y="3146180"/>
                  <a:ext cx="47625" cy="70340"/>
                </a:xfrm>
                <a:custGeom>
                  <a:avLst/>
                  <a:gdLst/>
                  <a:ahLst/>
                  <a:cxnLst/>
                  <a:rect l="l" t="t" r="r" b="b"/>
                  <a:pathLst>
                    <a:path w="47625" h="70340">
                      <a:moveTo>
                        <a:pt x="0" y="19295"/>
                      </a:moveTo>
                      <a:lnTo>
                        <a:pt x="36139" y="1229"/>
                      </a:lnTo>
                      <a:cubicBezTo>
                        <a:pt x="38599" y="0"/>
                        <a:pt x="41520" y="132"/>
                        <a:pt x="43859" y="1577"/>
                      </a:cubicBezTo>
                      <a:cubicBezTo>
                        <a:pt x="46199" y="3022"/>
                        <a:pt x="47624" y="5575"/>
                        <a:pt x="47625" y="8325"/>
                      </a:cubicBezTo>
                      <a:lnTo>
                        <a:pt x="47625" y="62015"/>
                      </a:lnTo>
                      <a:cubicBezTo>
                        <a:pt x="47624" y="64764"/>
                        <a:pt x="46199" y="67318"/>
                        <a:pt x="43859" y="68763"/>
                      </a:cubicBezTo>
                      <a:cubicBezTo>
                        <a:pt x="41520" y="70208"/>
                        <a:pt x="38599" y="70340"/>
                        <a:pt x="36139" y="69111"/>
                      </a:cubicBezTo>
                      <a:lnTo>
                        <a:pt x="0" y="51045"/>
                      </a:lnTo>
                      <a:lnTo>
                        <a:pt x="0" y="19295"/>
                      </a:lnTo>
                    </a:path>
                  </a:pathLst>
                </a:custGeom>
                <a:noFill/>
                <a:ln w="15875">
                  <a:solidFill>
                    <a:srgbClr val="B03A1F"/>
                  </a:solidFill>
                </a:ln>
              </p:spPr>
            </p:sp>
            <p:sp>
              <p:nvSpPr>
                <p:cNvPr id="94" name="Freeform 94"/>
                <p:cNvSpPr/>
                <p:nvPr/>
              </p:nvSpPr>
              <p:spPr>
                <a:xfrm>
                  <a:off x="1090612" y="3133725"/>
                  <a:ext cx="95250" cy="95250"/>
                </a:xfrm>
                <a:custGeom>
                  <a:avLst/>
                  <a:gdLst/>
                  <a:ahLst/>
                  <a:cxnLst/>
                  <a:rect l="l" t="t" r="r" b="b"/>
                  <a:pathLst>
                    <a:path w="95250" h="95250">
                      <a:moveTo>
                        <a:pt x="0" y="15875"/>
                      </a:moveTo>
                      <a:cubicBezTo>
                        <a:pt x="0" y="7107"/>
                        <a:pt x="7107" y="0"/>
                        <a:pt x="15875" y="0"/>
                      </a:cubicBezTo>
                      <a:lnTo>
                        <a:pt x="79375" y="0"/>
                      </a:lnTo>
                      <a:cubicBezTo>
                        <a:pt x="88142" y="0"/>
                        <a:pt x="95250" y="7107"/>
                        <a:pt x="95250" y="15875"/>
                      </a:cubicBezTo>
                      <a:lnTo>
                        <a:pt x="95250" y="79375"/>
                      </a:lnTo>
                      <a:cubicBezTo>
                        <a:pt x="95250" y="88142"/>
                        <a:pt x="88142" y="95250"/>
                        <a:pt x="79375" y="95250"/>
                      </a:cubicBezTo>
                      <a:lnTo>
                        <a:pt x="15875" y="95250"/>
                      </a:lnTo>
                      <a:cubicBezTo>
                        <a:pt x="7107" y="95250"/>
                        <a:pt x="0" y="88142"/>
                        <a:pt x="0" y="79375"/>
                      </a:cubicBezTo>
                      <a:lnTo>
                        <a:pt x="0" y="15875"/>
                      </a:lnTo>
                    </a:path>
                  </a:pathLst>
                </a:custGeom>
                <a:noFill/>
                <a:ln w="15875">
                  <a:solidFill>
                    <a:srgbClr val="B03A1F"/>
                  </a:solidFill>
                </a:ln>
              </p:spPr>
            </p:sp>
          </p:grpSp>
          <p:sp>
            <p:nvSpPr>
              <p:cNvPr id="96" name="TextBox 96"/>
              <p:cNvSpPr txBox="1"/>
              <p:nvPr/>
            </p:nvSpPr>
            <p:spPr>
              <a:xfrm>
                <a:off x="1328547" y="3133249"/>
                <a:ext cx="53761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远程银行</a:t>
                </a:r>
              </a:p>
            </p:txBody>
          </p:sp>
          <p:sp>
            <p:nvSpPr>
              <p:cNvPr id="97" name="Line 97"/>
              <p:cNvSpPr/>
              <p:nvPr/>
            </p:nvSpPr>
            <p:spPr>
              <a:xfrm>
                <a:off x="2381250" y="3181350"/>
                <a:ext cx="9572625" cy="9525"/>
              </a:xfrm>
              <a:custGeom>
                <a:avLst/>
                <a:gdLst/>
                <a:ahLst/>
                <a:cxnLst/>
                <a:rect l="l" t="t" r="r" b="b"/>
                <a:pathLst>
                  <a:path w="9572625" h="9525">
                    <a:moveTo>
                      <a:pt x="0" y="0"/>
                    </a:moveTo>
                    <a:lnTo>
                      <a:pt x="9572625" y="0"/>
                    </a:lnTo>
                  </a:path>
                </a:pathLst>
              </a:custGeom>
              <a:noFill/>
              <a:ln w="19050">
                <a:solidFill>
                  <a:srgbClr val="B03A1F"/>
                </a:solidFill>
              </a:ln>
            </p:spPr>
          </p:sp>
          <p:sp>
            <p:nvSpPr>
              <p:cNvPr id="98" name="Ellipse 98"/>
              <p:cNvSpPr/>
              <p:nvPr/>
            </p:nvSpPr>
            <p:spPr>
              <a:xfrm>
                <a:off x="3095625" y="3133725"/>
                <a:ext cx="95250" cy="95250"/>
              </a:xfrm>
              <a:prstGeom prst="ellipse">
                <a:avLst/>
              </a:prstGeom>
              <a:solidFill>
                <a:srgbClr val="FFFFFF"/>
              </a:solidFill>
              <a:ln w="19050">
                <a:solidFill>
                  <a:srgbClr val="B03A1F"/>
                </a:solidFill>
              </a:ln>
            </p:spPr>
          </p:sp>
          <p:sp>
            <p:nvSpPr>
              <p:cNvPr id="99" name="Ellipse 99"/>
              <p:cNvSpPr/>
              <p:nvPr/>
            </p:nvSpPr>
            <p:spPr>
              <a:xfrm>
                <a:off x="5286375" y="3133725"/>
                <a:ext cx="95250" cy="95250"/>
              </a:xfrm>
              <a:prstGeom prst="ellipse">
                <a:avLst/>
              </a:prstGeom>
              <a:solidFill>
                <a:srgbClr val="FFFFFF"/>
              </a:solidFill>
              <a:ln w="19050">
                <a:solidFill>
                  <a:srgbClr val="B03A1F"/>
                </a:solidFill>
              </a:ln>
            </p:spPr>
          </p:sp>
          <p:sp>
            <p:nvSpPr>
              <p:cNvPr id="100" name="Ellipse 100"/>
              <p:cNvSpPr/>
              <p:nvPr/>
            </p:nvSpPr>
            <p:spPr>
              <a:xfrm>
                <a:off x="7477125" y="3133725"/>
                <a:ext cx="95250" cy="95250"/>
              </a:xfrm>
              <a:prstGeom prst="ellipse">
                <a:avLst/>
              </a:prstGeom>
              <a:solidFill>
                <a:srgbClr val="FFFFFF"/>
              </a:solidFill>
              <a:ln w="19050">
                <a:solidFill>
                  <a:srgbClr val="B03A1F"/>
                </a:solidFill>
              </a:ln>
            </p:spPr>
          </p:sp>
          <p:sp>
            <p:nvSpPr>
              <p:cNvPr id="101" name="Ellipse 101"/>
              <p:cNvSpPr/>
              <p:nvPr/>
            </p:nvSpPr>
            <p:spPr>
              <a:xfrm>
                <a:off x="9667875" y="3133725"/>
                <a:ext cx="95250" cy="95250"/>
              </a:xfrm>
              <a:prstGeom prst="ellipse">
                <a:avLst/>
              </a:prstGeom>
              <a:solidFill>
                <a:srgbClr val="FFFFFF"/>
              </a:solidFill>
              <a:ln w="19050">
                <a:solidFill>
                  <a:srgbClr val="B03A1F"/>
                </a:solidFill>
              </a:ln>
            </p:spPr>
          </p:sp>
          <p:sp>
            <p:nvSpPr>
              <p:cNvPr id="102" name="Ellipse 102"/>
              <p:cNvSpPr/>
              <p:nvPr/>
            </p:nvSpPr>
            <p:spPr>
              <a:xfrm>
                <a:off x="11191875" y="3133725"/>
                <a:ext cx="95250" cy="95250"/>
              </a:xfrm>
              <a:prstGeom prst="ellipse">
                <a:avLst/>
              </a:prstGeom>
              <a:solidFill>
                <a:srgbClr val="FFFFFF"/>
              </a:solidFill>
              <a:ln w="19050">
                <a:solidFill>
                  <a:srgbClr val="B03A1F"/>
                </a:solidFill>
              </a:ln>
            </p:spPr>
          </p:sp>
          <p:sp>
            <p:nvSpPr>
              <p:cNvPr id="103" name="TextBox 103"/>
              <p:cNvSpPr txBox="1"/>
              <p:nvPr/>
            </p:nvSpPr>
            <p:spPr>
              <a:xfrm>
                <a:off x="2758590" y="33370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视频咨询 主动邀约</a:t>
                </a:r>
              </a:p>
            </p:txBody>
          </p:sp>
          <p:sp>
            <p:nvSpPr>
              <p:cNvPr id="104" name="TextBox 104"/>
              <p:cNvSpPr txBox="1"/>
              <p:nvPr/>
            </p:nvSpPr>
            <p:spPr>
              <a:xfrm>
                <a:off x="4949340" y="33370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视频沟通 方案讲解</a:t>
                </a:r>
              </a:p>
            </p:txBody>
          </p:sp>
          <p:sp>
            <p:nvSpPr>
              <p:cNvPr id="105" name="TextBox 105"/>
              <p:cNvSpPr txBox="1"/>
              <p:nvPr/>
            </p:nvSpPr>
            <p:spPr>
              <a:xfrm>
                <a:off x="7140090" y="33370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远程核验 视频办理</a:t>
                </a:r>
              </a:p>
            </p:txBody>
          </p:sp>
          <p:sp>
            <p:nvSpPr>
              <p:cNvPr id="106" name="TextBox 106"/>
              <p:cNvSpPr txBox="1"/>
              <p:nvPr/>
            </p:nvSpPr>
            <p:spPr>
              <a:xfrm>
                <a:off x="9330840" y="33370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远程协助 使用指导</a:t>
                </a:r>
              </a:p>
            </p:txBody>
          </p:sp>
          <p:sp>
            <p:nvSpPr>
              <p:cNvPr id="107" name="TextBox 107"/>
              <p:cNvSpPr txBox="1"/>
              <p:nvPr/>
            </p:nvSpPr>
            <p:spPr>
              <a:xfrm>
                <a:off x="10854840" y="33370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远程受理 问题转办</a:t>
                </a:r>
              </a:p>
            </p:txBody>
          </p:sp>
        </p:grpSp>
        <p:grpSp>
          <p:nvGrpSpPr>
            <p:cNvPr id="125" name="lane-manager"/>
            <p:cNvGrpSpPr/>
            <p:nvPr/>
          </p:nvGrpSpPr>
          <p:grpSpPr>
            <a:xfrm>
              <a:off x="1114425" y="3700462"/>
              <a:ext cx="10839450" cy="360522"/>
              <a:chOff x="1114425" y="3700462"/>
              <a:chExt cx="10839450" cy="360522"/>
            </a:xfrm>
          </p:grpSpPr>
          <p:grpSp>
            <p:nvGrpSpPr>
              <p:cNvPr id="112" name="Group 112"/>
              <p:cNvGrpSpPr/>
              <p:nvPr/>
            </p:nvGrpSpPr>
            <p:grpSpPr>
              <a:xfrm>
                <a:off x="1114425" y="3700462"/>
                <a:ext cx="119062" cy="142875"/>
                <a:chOff x="1114425" y="3700462"/>
                <a:chExt cx="119062" cy="142875"/>
              </a:xfrm>
            </p:grpSpPr>
            <p:sp>
              <p:nvSpPr>
                <p:cNvPr id="109" name="Freeform 109"/>
                <p:cNvSpPr/>
                <p:nvPr/>
              </p:nvSpPr>
              <p:spPr>
                <a:xfrm>
                  <a:off x="1130300" y="37004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1E1E1E"/>
                  </a:solidFill>
                </a:ln>
              </p:spPr>
            </p:sp>
            <p:sp>
              <p:nvSpPr>
                <p:cNvPr id="110" name="Freeform 110"/>
                <p:cNvSpPr/>
                <p:nvPr/>
              </p:nvSpPr>
              <p:spPr>
                <a:xfrm>
                  <a:off x="1114425" y="379571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1E1E1E"/>
                  </a:solidFill>
                </a:ln>
              </p:spPr>
            </p:sp>
            <p:sp>
              <p:nvSpPr>
                <p:cNvPr id="111" name="Freeform 111"/>
                <p:cNvSpPr/>
                <p:nvPr/>
              </p:nvSpPr>
              <p:spPr>
                <a:xfrm>
                  <a:off x="1185862" y="3811587"/>
                  <a:ext cx="47625" cy="31750"/>
                </a:xfrm>
                <a:custGeom>
                  <a:avLst/>
                  <a:gdLst/>
                  <a:ahLst/>
                  <a:cxnLst/>
                  <a:rect l="l" t="t" r="r" b="b"/>
                  <a:pathLst>
                    <a:path w="47625" h="31750">
                      <a:moveTo>
                        <a:pt x="0" y="15875"/>
                      </a:moveTo>
                      <a:lnTo>
                        <a:pt x="15875" y="31750"/>
                      </a:lnTo>
                      <a:lnTo>
                        <a:pt x="47625" y="0"/>
                      </a:lnTo>
                    </a:path>
                  </a:pathLst>
                </a:custGeom>
                <a:noFill/>
                <a:ln w="15875">
                  <a:solidFill>
                    <a:srgbClr val="1E1E1E"/>
                  </a:solidFill>
                </a:ln>
              </p:spPr>
            </p:sp>
          </p:grpSp>
          <p:sp>
            <p:nvSpPr>
              <p:cNvPr id="113" name="TextBox 113"/>
              <p:cNvSpPr txBox="1"/>
              <p:nvPr/>
            </p:nvSpPr>
            <p:spPr>
              <a:xfrm>
                <a:off x="1328547" y="3723799"/>
                <a:ext cx="53761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客户经理</a:t>
                </a:r>
              </a:p>
            </p:txBody>
          </p:sp>
          <p:sp>
            <p:nvSpPr>
              <p:cNvPr id="114" name="Line 114"/>
              <p:cNvSpPr/>
              <p:nvPr/>
            </p:nvSpPr>
            <p:spPr>
              <a:xfrm>
                <a:off x="2381250" y="3771900"/>
                <a:ext cx="9572625" cy="9525"/>
              </a:xfrm>
              <a:custGeom>
                <a:avLst/>
                <a:gdLst/>
                <a:ahLst/>
                <a:cxnLst/>
                <a:rect l="l" t="t" r="r" b="b"/>
                <a:pathLst>
                  <a:path w="9572625" h="9525">
                    <a:moveTo>
                      <a:pt x="0" y="0"/>
                    </a:moveTo>
                    <a:lnTo>
                      <a:pt x="9572625" y="0"/>
                    </a:lnTo>
                  </a:path>
                </a:pathLst>
              </a:custGeom>
              <a:noFill/>
              <a:ln w="19050">
                <a:solidFill>
                  <a:srgbClr val="1E1E1E"/>
                </a:solidFill>
              </a:ln>
            </p:spPr>
          </p:sp>
          <p:sp>
            <p:nvSpPr>
              <p:cNvPr id="115" name="Ellipse 115"/>
              <p:cNvSpPr/>
              <p:nvPr/>
            </p:nvSpPr>
            <p:spPr>
              <a:xfrm>
                <a:off x="3095625" y="3724275"/>
                <a:ext cx="95250" cy="95250"/>
              </a:xfrm>
              <a:prstGeom prst="ellipse">
                <a:avLst/>
              </a:prstGeom>
              <a:solidFill>
                <a:srgbClr val="FFFFFF"/>
              </a:solidFill>
              <a:ln w="19050">
                <a:solidFill>
                  <a:srgbClr val="1E1E1E"/>
                </a:solidFill>
              </a:ln>
            </p:spPr>
          </p:sp>
          <p:sp>
            <p:nvSpPr>
              <p:cNvPr id="116" name="Ellipse 116"/>
              <p:cNvSpPr/>
              <p:nvPr/>
            </p:nvSpPr>
            <p:spPr>
              <a:xfrm>
                <a:off x="5286375" y="3724275"/>
                <a:ext cx="95250" cy="95250"/>
              </a:xfrm>
              <a:prstGeom prst="ellipse">
                <a:avLst/>
              </a:prstGeom>
              <a:solidFill>
                <a:srgbClr val="FFFFFF"/>
              </a:solidFill>
              <a:ln w="19050">
                <a:solidFill>
                  <a:srgbClr val="1E1E1E"/>
                </a:solidFill>
              </a:ln>
            </p:spPr>
          </p:sp>
          <p:sp>
            <p:nvSpPr>
              <p:cNvPr id="117" name="Ellipse 117"/>
              <p:cNvSpPr/>
              <p:nvPr/>
            </p:nvSpPr>
            <p:spPr>
              <a:xfrm>
                <a:off x="7477125" y="3724275"/>
                <a:ext cx="95250" cy="95250"/>
              </a:xfrm>
              <a:prstGeom prst="ellipse">
                <a:avLst/>
              </a:prstGeom>
              <a:solidFill>
                <a:srgbClr val="FFFFFF"/>
              </a:solidFill>
              <a:ln w="19050">
                <a:solidFill>
                  <a:srgbClr val="1E1E1E"/>
                </a:solidFill>
              </a:ln>
            </p:spPr>
          </p:sp>
          <p:sp>
            <p:nvSpPr>
              <p:cNvPr id="118" name="Ellipse 118"/>
              <p:cNvSpPr/>
              <p:nvPr/>
            </p:nvSpPr>
            <p:spPr>
              <a:xfrm>
                <a:off x="9667875" y="3724275"/>
                <a:ext cx="95250" cy="95250"/>
              </a:xfrm>
              <a:prstGeom prst="ellipse">
                <a:avLst/>
              </a:prstGeom>
              <a:solidFill>
                <a:srgbClr val="FFFFFF"/>
              </a:solidFill>
              <a:ln w="19050">
                <a:solidFill>
                  <a:srgbClr val="1E1E1E"/>
                </a:solidFill>
              </a:ln>
            </p:spPr>
          </p:sp>
          <p:sp>
            <p:nvSpPr>
              <p:cNvPr id="119" name="Ellipse 119"/>
              <p:cNvSpPr/>
              <p:nvPr/>
            </p:nvSpPr>
            <p:spPr>
              <a:xfrm>
                <a:off x="11191875" y="3724275"/>
                <a:ext cx="95250" cy="95250"/>
              </a:xfrm>
              <a:prstGeom prst="ellipse">
                <a:avLst/>
              </a:prstGeom>
              <a:solidFill>
                <a:srgbClr val="FFFFFF"/>
              </a:solidFill>
              <a:ln w="19050">
                <a:solidFill>
                  <a:srgbClr val="1E1E1E"/>
                </a:solidFill>
              </a:ln>
            </p:spPr>
          </p:sp>
          <p:sp>
            <p:nvSpPr>
              <p:cNvPr id="120" name="TextBox 120"/>
              <p:cNvSpPr txBox="1"/>
              <p:nvPr/>
            </p:nvSpPr>
            <p:spPr>
              <a:xfrm>
                <a:off x="2758590" y="39276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需求挖掘 产品匹配</a:t>
                </a:r>
              </a:p>
            </p:txBody>
          </p:sp>
          <p:sp>
            <p:nvSpPr>
              <p:cNvPr id="121" name="TextBox 121"/>
              <p:cNvSpPr txBox="1"/>
              <p:nvPr/>
            </p:nvSpPr>
            <p:spPr>
              <a:xfrm>
                <a:off x="4949340" y="39276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方案定制 风险提示</a:t>
                </a:r>
              </a:p>
            </p:txBody>
          </p:sp>
          <p:sp>
            <p:nvSpPr>
              <p:cNvPr id="122" name="TextBox 122"/>
              <p:cNvSpPr txBox="1"/>
              <p:nvPr/>
            </p:nvSpPr>
            <p:spPr>
              <a:xfrm>
                <a:off x="7140090" y="39276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协助办理 跟进审批</a:t>
                </a:r>
              </a:p>
            </p:txBody>
          </p:sp>
          <p:sp>
            <p:nvSpPr>
              <p:cNvPr id="123" name="TextBox 123"/>
              <p:cNvSpPr txBox="1"/>
              <p:nvPr/>
            </p:nvSpPr>
            <p:spPr>
              <a:xfrm>
                <a:off x="9330840" y="39276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定期回访 价值经营</a:t>
                </a:r>
              </a:p>
            </p:txBody>
          </p:sp>
          <p:sp>
            <p:nvSpPr>
              <p:cNvPr id="124" name="TextBox 124"/>
              <p:cNvSpPr txBox="1"/>
              <p:nvPr/>
            </p:nvSpPr>
            <p:spPr>
              <a:xfrm>
                <a:off x="10854840" y="392763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问题跟进 结果反馈</a:t>
                </a:r>
              </a:p>
            </p:txBody>
          </p:sp>
        </p:grpSp>
        <p:grpSp>
          <p:nvGrpSpPr>
            <p:cNvPr id="148" name="lane-bot"/>
            <p:cNvGrpSpPr/>
            <p:nvPr/>
          </p:nvGrpSpPr>
          <p:grpSpPr>
            <a:xfrm>
              <a:off x="1106487" y="4283075"/>
              <a:ext cx="10847388" cy="368459"/>
              <a:chOff x="1106487" y="4283075"/>
              <a:chExt cx="10847388" cy="368459"/>
            </a:xfrm>
          </p:grpSpPr>
          <p:grpSp>
            <p:nvGrpSpPr>
              <p:cNvPr id="135" name="Group 135"/>
              <p:cNvGrpSpPr/>
              <p:nvPr/>
            </p:nvGrpSpPr>
            <p:grpSpPr>
              <a:xfrm>
                <a:off x="1106487" y="4283075"/>
                <a:ext cx="111125" cy="150812"/>
                <a:chOff x="1106487" y="4283075"/>
                <a:chExt cx="111125" cy="150812"/>
              </a:xfrm>
            </p:grpSpPr>
            <p:sp>
              <p:nvSpPr>
                <p:cNvPr id="126" name="Freeform 126"/>
                <p:cNvSpPr/>
                <p:nvPr/>
              </p:nvSpPr>
              <p:spPr>
                <a:xfrm>
                  <a:off x="1114425" y="4298950"/>
                  <a:ext cx="95250" cy="63500"/>
                </a:xfrm>
                <a:custGeom>
                  <a:avLst/>
                  <a:gdLst/>
                  <a:ahLst/>
                  <a:cxnLst/>
                  <a:rect l="l" t="t" r="r" b="b"/>
                  <a:pathLst>
                    <a:path w="95250" h="63500">
                      <a:moveTo>
                        <a:pt x="0" y="15875"/>
                      </a:moveTo>
                      <a:cubicBezTo>
                        <a:pt x="0" y="7107"/>
                        <a:pt x="7107" y="0"/>
                        <a:pt x="15875" y="0"/>
                      </a:cubicBezTo>
                      <a:lnTo>
                        <a:pt x="79375" y="0"/>
                      </a:lnTo>
                      <a:cubicBezTo>
                        <a:pt x="88142" y="0"/>
                        <a:pt x="95250" y="7107"/>
                        <a:pt x="95250" y="15875"/>
                      </a:cubicBezTo>
                      <a:lnTo>
                        <a:pt x="95250" y="47625"/>
                      </a:lnTo>
                      <a:cubicBezTo>
                        <a:pt x="95250" y="56392"/>
                        <a:pt x="88142" y="63500"/>
                        <a:pt x="79375" y="63500"/>
                      </a:cubicBezTo>
                      <a:lnTo>
                        <a:pt x="15875" y="63500"/>
                      </a:lnTo>
                      <a:cubicBezTo>
                        <a:pt x="7107" y="63500"/>
                        <a:pt x="0" y="56392"/>
                        <a:pt x="0" y="47625"/>
                      </a:cubicBezTo>
                      <a:lnTo>
                        <a:pt x="0" y="15875"/>
                      </a:lnTo>
                    </a:path>
                  </a:pathLst>
                </a:custGeom>
                <a:noFill/>
                <a:ln w="15875">
                  <a:solidFill>
                    <a:srgbClr val="B03A1F"/>
                  </a:solidFill>
                </a:ln>
              </p:spPr>
            </p:sp>
            <p:sp>
              <p:nvSpPr>
                <p:cNvPr id="127" name="Freeform 127"/>
                <p:cNvSpPr/>
                <p:nvPr/>
              </p:nvSpPr>
              <p:spPr>
                <a:xfrm>
                  <a:off x="1162050" y="4283075"/>
                  <a:ext cx="9525" cy="15875"/>
                </a:xfrm>
                <a:custGeom>
                  <a:avLst/>
                  <a:gdLst/>
                  <a:ahLst/>
                  <a:cxnLst/>
                  <a:rect l="l" t="t" r="r" b="b"/>
                  <a:pathLst>
                    <a:path w="9525" h="15875">
                      <a:moveTo>
                        <a:pt x="0" y="0"/>
                      </a:moveTo>
                      <a:lnTo>
                        <a:pt x="0" y="15875"/>
                      </a:lnTo>
                    </a:path>
                  </a:pathLst>
                </a:custGeom>
                <a:noFill/>
                <a:ln w="15875">
                  <a:solidFill>
                    <a:srgbClr val="B03A1F"/>
                  </a:solidFill>
                </a:ln>
              </p:spPr>
            </p:sp>
            <p:sp>
              <p:nvSpPr>
                <p:cNvPr id="128" name="Freeform 128"/>
                <p:cNvSpPr/>
                <p:nvPr/>
              </p:nvSpPr>
              <p:spPr>
                <a:xfrm>
                  <a:off x="1138237" y="4362450"/>
                  <a:ext cx="9525" cy="71437"/>
                </a:xfrm>
                <a:custGeom>
                  <a:avLst/>
                  <a:gdLst/>
                  <a:ahLst/>
                  <a:cxnLst/>
                  <a:rect l="l" t="t" r="r" b="b"/>
                  <a:pathLst>
                    <a:path w="9525" h="71437">
                      <a:moveTo>
                        <a:pt x="0" y="0"/>
                      </a:moveTo>
                      <a:lnTo>
                        <a:pt x="0" y="71437"/>
                      </a:lnTo>
                    </a:path>
                  </a:pathLst>
                </a:custGeom>
                <a:noFill/>
                <a:ln w="15875">
                  <a:solidFill>
                    <a:srgbClr val="B03A1F"/>
                  </a:solidFill>
                </a:ln>
              </p:spPr>
            </p:sp>
            <p:sp>
              <p:nvSpPr>
                <p:cNvPr id="129" name="Freeform 129"/>
                <p:cNvSpPr/>
                <p:nvPr/>
              </p:nvSpPr>
              <p:spPr>
                <a:xfrm>
                  <a:off x="1185862" y="4362450"/>
                  <a:ext cx="9525" cy="71437"/>
                </a:xfrm>
                <a:custGeom>
                  <a:avLst/>
                  <a:gdLst/>
                  <a:ahLst/>
                  <a:cxnLst/>
                  <a:rect l="l" t="t" r="r" b="b"/>
                  <a:pathLst>
                    <a:path w="9525" h="71437">
                      <a:moveTo>
                        <a:pt x="0" y="0"/>
                      </a:moveTo>
                      <a:lnTo>
                        <a:pt x="0" y="71437"/>
                      </a:lnTo>
                    </a:path>
                  </a:pathLst>
                </a:custGeom>
                <a:noFill/>
                <a:ln w="15875">
                  <a:solidFill>
                    <a:srgbClr val="B03A1F"/>
                  </a:solidFill>
                </a:ln>
              </p:spPr>
            </p:sp>
            <p:sp>
              <p:nvSpPr>
                <p:cNvPr id="130" name="Freeform 130"/>
                <p:cNvSpPr/>
                <p:nvPr/>
              </p:nvSpPr>
              <p:spPr>
                <a:xfrm>
                  <a:off x="1106487" y="4378325"/>
                  <a:ext cx="31750" cy="15875"/>
                </a:xfrm>
                <a:custGeom>
                  <a:avLst/>
                  <a:gdLst/>
                  <a:ahLst/>
                  <a:cxnLst/>
                  <a:rect l="l" t="t" r="r" b="b"/>
                  <a:pathLst>
                    <a:path w="31750" h="15875">
                      <a:moveTo>
                        <a:pt x="0" y="15875"/>
                      </a:moveTo>
                      <a:lnTo>
                        <a:pt x="31750" y="0"/>
                      </a:lnTo>
                    </a:path>
                  </a:pathLst>
                </a:custGeom>
                <a:noFill/>
                <a:ln w="15875">
                  <a:solidFill>
                    <a:srgbClr val="B03A1F"/>
                  </a:solidFill>
                </a:ln>
              </p:spPr>
            </p:sp>
            <p:sp>
              <p:nvSpPr>
                <p:cNvPr id="131" name="Freeform 131"/>
                <p:cNvSpPr/>
                <p:nvPr/>
              </p:nvSpPr>
              <p:spPr>
                <a:xfrm>
                  <a:off x="1185862" y="4378325"/>
                  <a:ext cx="31750" cy="15875"/>
                </a:xfrm>
                <a:custGeom>
                  <a:avLst/>
                  <a:gdLst/>
                  <a:ahLst/>
                  <a:cxnLst/>
                  <a:rect l="l" t="t" r="r" b="b"/>
                  <a:pathLst>
                    <a:path w="31750" h="15875">
                      <a:moveTo>
                        <a:pt x="0" y="0"/>
                      </a:moveTo>
                      <a:lnTo>
                        <a:pt x="31750" y="15875"/>
                      </a:lnTo>
                    </a:path>
                  </a:pathLst>
                </a:custGeom>
                <a:noFill/>
                <a:ln w="15875">
                  <a:solidFill>
                    <a:srgbClr val="B03A1F"/>
                  </a:solidFill>
                </a:ln>
              </p:spPr>
            </p:sp>
            <p:sp>
              <p:nvSpPr>
                <p:cNvPr id="132" name="Freeform 132"/>
                <p:cNvSpPr/>
                <p:nvPr/>
              </p:nvSpPr>
              <p:spPr>
                <a:xfrm>
                  <a:off x="1138237" y="4410075"/>
                  <a:ext cx="47625" cy="9525"/>
                </a:xfrm>
                <a:custGeom>
                  <a:avLst/>
                  <a:gdLst/>
                  <a:ahLst/>
                  <a:cxnLst/>
                  <a:rect l="l" t="t" r="r" b="b"/>
                  <a:pathLst>
                    <a:path w="47625" h="9525">
                      <a:moveTo>
                        <a:pt x="0" y="0"/>
                      </a:moveTo>
                      <a:lnTo>
                        <a:pt x="47625" y="0"/>
                      </a:lnTo>
                    </a:path>
                  </a:pathLst>
                </a:custGeom>
                <a:noFill/>
                <a:ln w="15875">
                  <a:solidFill>
                    <a:srgbClr val="B03A1F"/>
                  </a:solidFill>
                </a:ln>
              </p:spPr>
            </p:sp>
            <p:sp>
              <p:nvSpPr>
                <p:cNvPr id="133" name="Freeform 133"/>
                <p:cNvSpPr/>
                <p:nvPr/>
              </p:nvSpPr>
              <p:spPr>
                <a:xfrm>
                  <a:off x="1146175" y="4330700"/>
                  <a:ext cx="9525" cy="9525"/>
                </a:xfrm>
                <a:custGeom>
                  <a:avLst/>
                  <a:gdLst/>
                  <a:ahLst/>
                  <a:cxnLst/>
                  <a:rect l="l" t="t" r="r" b="b"/>
                  <a:pathLst>
                    <a:path w="9525" h="9525">
                      <a:moveTo>
                        <a:pt x="0" y="0"/>
                      </a:moveTo>
                      <a:lnTo>
                        <a:pt x="0" y="79"/>
                      </a:lnTo>
                    </a:path>
                  </a:pathLst>
                </a:custGeom>
                <a:noFill/>
                <a:ln w="15875">
                  <a:solidFill>
                    <a:srgbClr val="B03A1F"/>
                  </a:solidFill>
                </a:ln>
              </p:spPr>
            </p:sp>
            <p:sp>
              <p:nvSpPr>
                <p:cNvPr id="134" name="Freeform 134"/>
                <p:cNvSpPr/>
                <p:nvPr/>
              </p:nvSpPr>
              <p:spPr>
                <a:xfrm>
                  <a:off x="1177925" y="4330700"/>
                  <a:ext cx="9525" cy="9525"/>
                </a:xfrm>
                <a:custGeom>
                  <a:avLst/>
                  <a:gdLst/>
                  <a:ahLst/>
                  <a:cxnLst/>
                  <a:rect l="l" t="t" r="r" b="b"/>
                  <a:pathLst>
                    <a:path w="9525" h="9525">
                      <a:moveTo>
                        <a:pt x="0" y="0"/>
                      </a:moveTo>
                      <a:lnTo>
                        <a:pt x="0" y="79"/>
                      </a:lnTo>
                    </a:path>
                  </a:pathLst>
                </a:custGeom>
                <a:noFill/>
                <a:ln w="15875">
                  <a:solidFill>
                    <a:srgbClr val="B03A1F"/>
                  </a:solidFill>
                </a:ln>
              </p:spPr>
            </p:sp>
          </p:grpSp>
          <p:sp>
            <p:nvSpPr>
              <p:cNvPr id="136" name="TextBox 136"/>
              <p:cNvSpPr txBox="1"/>
              <p:nvPr/>
            </p:nvSpPr>
            <p:spPr>
              <a:xfrm>
                <a:off x="1328547" y="4314349"/>
                <a:ext cx="53761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智能客服</a:t>
                </a:r>
              </a:p>
            </p:txBody>
          </p:sp>
          <p:sp>
            <p:nvSpPr>
              <p:cNvPr id="137" name="Line 137"/>
              <p:cNvSpPr/>
              <p:nvPr/>
            </p:nvSpPr>
            <p:spPr>
              <a:xfrm>
                <a:off x="2381250" y="4362450"/>
                <a:ext cx="9572625" cy="9525"/>
              </a:xfrm>
              <a:custGeom>
                <a:avLst/>
                <a:gdLst/>
                <a:ahLst/>
                <a:cxnLst/>
                <a:rect l="l" t="t" r="r" b="b"/>
                <a:pathLst>
                  <a:path w="9572625" h="9525">
                    <a:moveTo>
                      <a:pt x="0" y="0"/>
                    </a:moveTo>
                    <a:lnTo>
                      <a:pt x="9572625" y="0"/>
                    </a:lnTo>
                  </a:path>
                </a:pathLst>
              </a:custGeom>
              <a:noFill/>
              <a:ln w="19050">
                <a:solidFill>
                  <a:srgbClr val="B03A1F"/>
                </a:solidFill>
              </a:ln>
            </p:spPr>
          </p:sp>
          <p:sp>
            <p:nvSpPr>
              <p:cNvPr id="138" name="Ellipse 138"/>
              <p:cNvSpPr/>
              <p:nvPr/>
            </p:nvSpPr>
            <p:spPr>
              <a:xfrm>
                <a:off x="3095625" y="4314825"/>
                <a:ext cx="95250" cy="95250"/>
              </a:xfrm>
              <a:prstGeom prst="ellipse">
                <a:avLst/>
              </a:prstGeom>
              <a:solidFill>
                <a:srgbClr val="FFFFFF"/>
              </a:solidFill>
              <a:ln w="19050">
                <a:solidFill>
                  <a:srgbClr val="B03A1F"/>
                </a:solidFill>
              </a:ln>
            </p:spPr>
          </p:sp>
          <p:sp>
            <p:nvSpPr>
              <p:cNvPr id="139" name="Ellipse 139"/>
              <p:cNvSpPr/>
              <p:nvPr/>
            </p:nvSpPr>
            <p:spPr>
              <a:xfrm>
                <a:off x="5286375" y="4314825"/>
                <a:ext cx="95250" cy="95250"/>
              </a:xfrm>
              <a:prstGeom prst="ellipse">
                <a:avLst/>
              </a:prstGeom>
              <a:solidFill>
                <a:srgbClr val="FFFFFF"/>
              </a:solidFill>
              <a:ln w="19050">
                <a:solidFill>
                  <a:srgbClr val="B03A1F"/>
                </a:solidFill>
              </a:ln>
            </p:spPr>
          </p:sp>
          <p:sp>
            <p:nvSpPr>
              <p:cNvPr id="140" name="Ellipse 140"/>
              <p:cNvSpPr/>
              <p:nvPr/>
            </p:nvSpPr>
            <p:spPr>
              <a:xfrm>
                <a:off x="7477125" y="4314825"/>
                <a:ext cx="95250" cy="95250"/>
              </a:xfrm>
              <a:prstGeom prst="ellipse">
                <a:avLst/>
              </a:prstGeom>
              <a:solidFill>
                <a:srgbClr val="FFFFFF"/>
              </a:solidFill>
              <a:ln w="19050">
                <a:solidFill>
                  <a:srgbClr val="B03A1F"/>
                </a:solidFill>
              </a:ln>
            </p:spPr>
          </p:sp>
          <p:sp>
            <p:nvSpPr>
              <p:cNvPr id="141" name="Ellipse 141"/>
              <p:cNvSpPr/>
              <p:nvPr/>
            </p:nvSpPr>
            <p:spPr>
              <a:xfrm>
                <a:off x="9667875" y="4314825"/>
                <a:ext cx="95250" cy="95250"/>
              </a:xfrm>
              <a:prstGeom prst="ellipse">
                <a:avLst/>
              </a:prstGeom>
              <a:solidFill>
                <a:srgbClr val="FFFFFF"/>
              </a:solidFill>
              <a:ln w="19050">
                <a:solidFill>
                  <a:srgbClr val="B03A1F"/>
                </a:solidFill>
              </a:ln>
            </p:spPr>
          </p:sp>
          <p:sp>
            <p:nvSpPr>
              <p:cNvPr id="142" name="Ellipse 142"/>
              <p:cNvSpPr/>
              <p:nvPr/>
            </p:nvSpPr>
            <p:spPr>
              <a:xfrm>
                <a:off x="11191875" y="4314825"/>
                <a:ext cx="95250" cy="95250"/>
              </a:xfrm>
              <a:prstGeom prst="ellipse">
                <a:avLst/>
              </a:prstGeom>
              <a:solidFill>
                <a:srgbClr val="FFFFFF"/>
              </a:solidFill>
              <a:ln w="19050">
                <a:solidFill>
                  <a:srgbClr val="B03A1F"/>
                </a:solidFill>
              </a:ln>
            </p:spPr>
          </p:sp>
          <p:sp>
            <p:nvSpPr>
              <p:cNvPr id="143" name="TextBox 143"/>
              <p:cNvSpPr txBox="1"/>
              <p:nvPr/>
            </p:nvSpPr>
            <p:spPr>
              <a:xfrm>
                <a:off x="2758590" y="45181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智能推荐 常见问题</a:t>
                </a:r>
              </a:p>
            </p:txBody>
          </p:sp>
          <p:sp>
            <p:nvSpPr>
              <p:cNvPr id="144" name="TextBox 144"/>
              <p:cNvSpPr txBox="1"/>
              <p:nvPr/>
            </p:nvSpPr>
            <p:spPr>
              <a:xfrm>
                <a:off x="4940186" y="4518184"/>
                <a:ext cx="787629"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7×24咨询 智能答疑</a:t>
                </a:r>
              </a:p>
            </p:txBody>
          </p:sp>
          <p:sp>
            <p:nvSpPr>
              <p:cNvPr id="145" name="TextBox 145"/>
              <p:cNvSpPr txBox="1"/>
              <p:nvPr/>
            </p:nvSpPr>
            <p:spPr>
              <a:xfrm>
                <a:off x="7140090" y="45181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引导办理 自助服务</a:t>
                </a:r>
              </a:p>
            </p:txBody>
          </p:sp>
          <p:sp>
            <p:nvSpPr>
              <p:cNvPr id="146" name="TextBox 146"/>
              <p:cNvSpPr txBox="1"/>
              <p:nvPr/>
            </p:nvSpPr>
            <p:spPr>
              <a:xfrm>
                <a:off x="9285069" y="4518184"/>
                <a:ext cx="860862"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智能提醒 个性化推送</a:t>
                </a:r>
              </a:p>
            </p:txBody>
          </p:sp>
          <p:sp>
            <p:nvSpPr>
              <p:cNvPr id="147" name="TextBox 147"/>
              <p:cNvSpPr txBox="1"/>
              <p:nvPr/>
            </p:nvSpPr>
            <p:spPr>
              <a:xfrm>
                <a:off x="10854840" y="4518184"/>
                <a:ext cx="769320"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智能受理 工单创建</a:t>
                </a:r>
              </a:p>
            </p:txBody>
          </p:sp>
        </p:grpSp>
      </p:grpSp>
      <p:grpSp>
        <p:nvGrpSpPr>
          <p:cNvPr id="190" name="measures"/>
          <p:cNvGrpSpPr/>
          <p:nvPr/>
        </p:nvGrpSpPr>
        <p:grpSpPr>
          <a:xfrm>
            <a:off x="190500" y="4810125"/>
            <a:ext cx="11811000" cy="876300"/>
            <a:chOff x="190500" y="4810125"/>
            <a:chExt cx="11811000" cy="876300"/>
          </a:xfrm>
        </p:grpSpPr>
        <p:sp>
          <p:nvSpPr>
            <p:cNvPr id="150" name="Rectangle 150"/>
            <p:cNvSpPr/>
            <p:nvPr/>
          </p:nvSpPr>
          <p:spPr>
            <a:xfrm>
              <a:off x="190500" y="4810125"/>
              <a:ext cx="762000" cy="876300"/>
            </a:xfrm>
            <a:prstGeom prst="roundRect">
              <a:avLst>
                <a:gd name="adj" fmla="val 10000"/>
              </a:avLst>
            </a:prstGeom>
            <a:solidFill>
              <a:srgbClr val="F5F3F1"/>
            </a:solidFill>
            <a:ln>
              <a:noFill/>
            </a:ln>
          </p:spPr>
        </p:sp>
        <p:sp>
          <p:nvSpPr>
            <p:cNvPr id="151" name="TextBox 151"/>
            <p:cNvSpPr txBox="1"/>
            <p:nvPr/>
          </p:nvSpPr>
          <p:spPr>
            <a:xfrm>
              <a:off x="434619" y="5066824"/>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体验</a:t>
              </a:r>
            </a:p>
          </p:txBody>
        </p:sp>
        <p:sp>
          <p:nvSpPr>
            <p:cNvPr id="152" name="TextBox 152"/>
            <p:cNvSpPr txBox="1"/>
            <p:nvPr/>
          </p:nvSpPr>
          <p:spPr>
            <a:xfrm>
              <a:off x="434619" y="5238274"/>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升级</a:t>
              </a:r>
            </a:p>
          </p:txBody>
        </p:sp>
        <p:sp>
          <p:nvSpPr>
            <p:cNvPr id="153" name="TextBox 153"/>
            <p:cNvSpPr txBox="1"/>
            <p:nvPr/>
          </p:nvSpPr>
          <p:spPr>
            <a:xfrm>
              <a:off x="434619" y="5409724"/>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举措</a:t>
              </a:r>
            </a:p>
          </p:txBody>
        </p:sp>
        <p:grpSp>
          <p:nvGrpSpPr>
            <p:cNvPr id="169" name="measure-1"/>
            <p:cNvGrpSpPr/>
            <p:nvPr/>
          </p:nvGrpSpPr>
          <p:grpSpPr>
            <a:xfrm>
              <a:off x="1095375" y="4810125"/>
              <a:ext cx="3381375" cy="876300"/>
              <a:chOff x="1095375" y="4810125"/>
              <a:chExt cx="3381375" cy="876300"/>
            </a:xfrm>
          </p:grpSpPr>
          <p:sp>
            <p:nvSpPr>
              <p:cNvPr id="154" name="Rectangle 154"/>
              <p:cNvSpPr/>
              <p:nvPr/>
            </p:nvSpPr>
            <p:spPr>
              <a:xfrm>
                <a:off x="1095375" y="4810125"/>
                <a:ext cx="3381375" cy="876300"/>
              </a:xfrm>
              <a:prstGeom prst="rect">
                <a:avLst/>
              </a:prstGeom>
              <a:solidFill>
                <a:srgbClr val="FFFFFF"/>
              </a:solidFill>
              <a:ln w="9525">
                <a:solidFill>
                  <a:srgbClr val="E8E4E0"/>
                </a:solidFill>
              </a:ln>
            </p:spPr>
          </p:sp>
          <p:sp>
            <p:nvSpPr>
              <p:cNvPr id="155" name="Ellipse 155"/>
              <p:cNvSpPr/>
              <p:nvPr/>
            </p:nvSpPr>
            <p:spPr>
              <a:xfrm>
                <a:off x="1247775" y="4924425"/>
                <a:ext cx="400050" cy="400050"/>
              </a:xfrm>
              <a:prstGeom prst="ellipse">
                <a:avLst/>
              </a:prstGeom>
              <a:solidFill>
                <a:srgbClr val="B03A1F"/>
              </a:solidFill>
              <a:ln>
                <a:noFill/>
              </a:ln>
            </p:spPr>
          </p:sp>
          <p:grpSp>
            <p:nvGrpSpPr>
              <p:cNvPr id="164" name="Group 164"/>
              <p:cNvGrpSpPr/>
              <p:nvPr/>
            </p:nvGrpSpPr>
            <p:grpSpPr>
              <a:xfrm>
                <a:off x="1369219" y="5045869"/>
                <a:ext cx="157956" cy="166687"/>
                <a:chOff x="1369219" y="5045869"/>
                <a:chExt cx="157956" cy="166687"/>
              </a:xfrm>
            </p:grpSpPr>
            <p:sp>
              <p:nvSpPr>
                <p:cNvPr id="156" name="Freeform 156"/>
                <p:cNvSpPr/>
                <p:nvPr/>
              </p:nvSpPr>
              <p:spPr>
                <a:xfrm>
                  <a:off x="1369219" y="5203031"/>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157" name="Freeform 157"/>
                <p:cNvSpPr/>
                <p:nvPr/>
              </p:nvSpPr>
              <p:spPr>
                <a:xfrm>
                  <a:off x="1369219" y="5106988"/>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158" name="Freeform 158"/>
                <p:cNvSpPr/>
                <p:nvPr/>
              </p:nvSpPr>
              <p:spPr>
                <a:xfrm>
                  <a:off x="1386681" y="5045869"/>
                  <a:ext cx="122238" cy="26194"/>
                </a:xfrm>
                <a:custGeom>
                  <a:avLst/>
                  <a:gdLst/>
                  <a:ahLst/>
                  <a:cxnLst/>
                  <a:rect l="l" t="t" r="r" b="b"/>
                  <a:pathLst>
                    <a:path w="122238" h="26194">
                      <a:moveTo>
                        <a:pt x="0" y="26194"/>
                      </a:moveTo>
                      <a:lnTo>
                        <a:pt x="61119" y="0"/>
                      </a:lnTo>
                      <a:lnTo>
                        <a:pt x="122238" y="26194"/>
                      </a:lnTo>
                    </a:path>
                  </a:pathLst>
                </a:custGeom>
                <a:noFill/>
                <a:ln w="17463">
                  <a:solidFill>
                    <a:srgbClr val="FFFFFF"/>
                  </a:solidFill>
                </a:ln>
              </p:spPr>
            </p:sp>
            <p:sp>
              <p:nvSpPr>
                <p:cNvPr id="159" name="Freeform 159"/>
                <p:cNvSpPr/>
                <p:nvPr/>
              </p:nvSpPr>
              <p:spPr>
                <a:xfrm>
                  <a:off x="1377950" y="5106988"/>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160" name="Freeform 160"/>
                <p:cNvSpPr/>
                <p:nvPr/>
              </p:nvSpPr>
              <p:spPr>
                <a:xfrm>
                  <a:off x="1517650" y="5106988"/>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161" name="Freeform 161"/>
                <p:cNvSpPr/>
                <p:nvPr/>
              </p:nvSpPr>
              <p:spPr>
                <a:xfrm>
                  <a:off x="1412875" y="5141913"/>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162" name="Freeform 162"/>
                <p:cNvSpPr/>
                <p:nvPr/>
              </p:nvSpPr>
              <p:spPr>
                <a:xfrm>
                  <a:off x="1447800" y="5141913"/>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163" name="Freeform 163"/>
                <p:cNvSpPr/>
                <p:nvPr/>
              </p:nvSpPr>
              <p:spPr>
                <a:xfrm>
                  <a:off x="1482725" y="5141913"/>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165" name="TextBox 165"/>
              <p:cNvSpPr txBox="1"/>
              <p:nvPr/>
            </p:nvSpPr>
            <p:spPr>
              <a:xfrm>
                <a:off x="1747647" y="4981099"/>
                <a:ext cx="933399" cy="190690"/>
              </a:xfrm>
              <a:prstGeom prst="rect">
                <a:avLst/>
              </a:prstGeom>
              <a:noFill/>
              <a:ln>
                <a:noFill/>
              </a:ln>
            </p:spPr>
            <p:txBody>
              <a:bodyPr wrap="none" lIns="0" tIns="0" rIns="0" bIns="0" anchor="t" anchorCtr="0">
                <a:spAutoFit/>
              </a:bodyPr>
              <a:lstStyle/>
              <a:p>
                <a:pPr algn="l"/>
                <a:r>
                  <a:rPr lang="zh-CN" sz="980" b="1" dirty="0">
                    <a:solidFill>
                      <a:srgbClr val="B03A1F"/>
                    </a:solidFill>
                    <a:latin typeface="+mn-lt"/>
                    <a:ea typeface="+mn-ea"/>
                    <a:cs typeface="+mn-cs"/>
                  </a:rPr>
                  <a:t>网点服务标准化</a:t>
                </a:r>
              </a:p>
            </p:txBody>
          </p:sp>
          <p:sp>
            <p:nvSpPr>
              <p:cNvPr id="166" name="TextBox 166"/>
              <p:cNvSpPr txBox="1"/>
              <p:nvPr/>
            </p:nvSpPr>
            <p:spPr>
              <a:xfrm>
                <a:off x="1747838" y="5203984"/>
                <a:ext cx="1550391" cy="133350"/>
              </a:xfrm>
              <a:prstGeom prst="rect">
                <a:avLst/>
              </a:prstGeom>
              <a:noFill/>
              <a:ln>
                <a:noFill/>
              </a:ln>
            </p:spPr>
            <p:txBody>
              <a:bodyPr wrap="none" lIns="0" tIns="0" rIns="0" bIns="0" anchor="t" anchorCtr="0">
                <a:spAutoFit/>
              </a:bodyPr>
              <a:lstStyle/>
              <a:p>
                <a:pPr algn="l" marL="76200" indent="-76200">
                  <a:buClr>
                    <a:srgbClr val="6A6A6A"/>
                  </a:buClr>
                  <a:buSzTx/>
                  <a:buFontTx/>
                  <a:buChar char="•"/>
                </a:pPr>
                <a:r>
                  <a:rPr lang="zh-CN" sz="680" dirty="0">
                    <a:solidFill>
                      <a:srgbClr val="6A6A6A"/>
                    </a:solidFill>
                    <a:latin typeface="+mn-lt"/>
                    <a:ea typeface="+mn-ea"/>
                    <a:cs typeface="+mn-cs"/>
                  </a:rPr>
                  <a:t>统一服务流程与标准，规范服务行为</a:t>
                </a:r>
              </a:p>
            </p:txBody>
          </p:sp>
          <p:sp>
            <p:nvSpPr>
              <p:cNvPr id="167" name="TextBox 167"/>
              <p:cNvSpPr txBox="1"/>
              <p:nvPr/>
            </p:nvSpPr>
            <p:spPr>
              <a:xfrm>
                <a:off x="1747838" y="5356384"/>
                <a:ext cx="1550391" cy="133350"/>
              </a:xfrm>
              <a:prstGeom prst="rect">
                <a:avLst/>
              </a:prstGeom>
              <a:noFill/>
              <a:ln>
                <a:noFill/>
              </a:ln>
            </p:spPr>
            <p:txBody>
              <a:bodyPr wrap="none" lIns="0" tIns="0" rIns="0" bIns="0" anchor="t" anchorCtr="0">
                <a:spAutoFit/>
              </a:bodyPr>
              <a:lstStyle/>
              <a:p>
                <a:pPr algn="l" marL="76200" indent="-76200">
                  <a:buClr>
                    <a:srgbClr val="6A6A6A"/>
                  </a:buClr>
                  <a:buSzTx/>
                  <a:buFontTx/>
                  <a:buChar char="•"/>
                </a:pPr>
                <a:r>
                  <a:rPr lang="zh-CN" sz="680" dirty="0">
                    <a:solidFill>
                      <a:srgbClr val="6A6A6A"/>
                    </a:solidFill>
                    <a:latin typeface="+mn-lt"/>
                    <a:ea typeface="+mn-ea"/>
                    <a:cs typeface="+mn-cs"/>
                  </a:rPr>
                  <a:t>强化厅堂动线与分区，提升服务效率</a:t>
                </a:r>
              </a:p>
            </p:txBody>
          </p:sp>
          <p:sp>
            <p:nvSpPr>
              <p:cNvPr id="168" name="TextBox 168"/>
              <p:cNvSpPr txBox="1"/>
              <p:nvPr/>
            </p:nvSpPr>
            <p:spPr>
              <a:xfrm>
                <a:off x="1747838" y="5508784"/>
                <a:ext cx="1733474" cy="133350"/>
              </a:xfrm>
              <a:prstGeom prst="rect">
                <a:avLst/>
              </a:prstGeom>
              <a:noFill/>
              <a:ln>
                <a:noFill/>
              </a:ln>
            </p:spPr>
            <p:txBody>
              <a:bodyPr wrap="none" lIns="0" tIns="0" rIns="0" bIns="0" anchor="t" anchorCtr="0">
                <a:spAutoFit/>
              </a:bodyPr>
              <a:lstStyle/>
              <a:p>
                <a:pPr algn="l" marL="76200" indent="-76200">
                  <a:buClr>
                    <a:srgbClr val="6A6A6A"/>
                  </a:buClr>
                  <a:buSzTx/>
                  <a:buFontTx/>
                  <a:buChar char="•"/>
                </a:pPr>
                <a:r>
                  <a:rPr lang="zh-CN" sz="680" dirty="0">
                    <a:solidFill>
                      <a:srgbClr val="6A6A6A"/>
                    </a:solidFill>
                    <a:latin typeface="+mn-lt"/>
                    <a:ea typeface="+mn-ea"/>
                    <a:cs typeface="+mn-cs"/>
                  </a:rPr>
                  <a:t>标准化话术与关键触点，保障服务一致性</a:t>
                </a:r>
              </a:p>
            </p:txBody>
          </p:sp>
        </p:grpSp>
        <p:grpSp>
          <p:nvGrpSpPr>
            <p:cNvPr id="179" name="measure-2"/>
            <p:cNvGrpSpPr/>
            <p:nvPr/>
          </p:nvGrpSpPr>
          <p:grpSpPr>
            <a:xfrm>
              <a:off x="4619625" y="4810125"/>
              <a:ext cx="3381375" cy="876300"/>
              <a:chOff x="4619625" y="4810125"/>
              <a:chExt cx="3381375" cy="876300"/>
            </a:xfrm>
          </p:grpSpPr>
          <p:sp>
            <p:nvSpPr>
              <p:cNvPr id="170" name="Rectangle 170"/>
              <p:cNvSpPr/>
              <p:nvPr/>
            </p:nvSpPr>
            <p:spPr>
              <a:xfrm>
                <a:off x="4619625" y="4810125"/>
                <a:ext cx="3381375" cy="876300"/>
              </a:xfrm>
              <a:prstGeom prst="rect">
                <a:avLst/>
              </a:prstGeom>
              <a:solidFill>
                <a:srgbClr val="FFFFFF"/>
              </a:solidFill>
              <a:ln w="9525">
                <a:solidFill>
                  <a:srgbClr val="E8E4E0"/>
                </a:solidFill>
              </a:ln>
            </p:spPr>
          </p:sp>
          <p:sp>
            <p:nvSpPr>
              <p:cNvPr id="171" name="Ellipse 171"/>
              <p:cNvSpPr/>
              <p:nvPr/>
            </p:nvSpPr>
            <p:spPr>
              <a:xfrm>
                <a:off x="4772025" y="4924425"/>
                <a:ext cx="400050" cy="400050"/>
              </a:xfrm>
              <a:prstGeom prst="ellipse">
                <a:avLst/>
              </a:prstGeom>
              <a:solidFill>
                <a:srgbClr val="B03A1F"/>
              </a:solidFill>
              <a:ln>
                <a:noFill/>
              </a:ln>
            </p:spPr>
          </p:sp>
          <p:grpSp>
            <p:nvGrpSpPr>
              <p:cNvPr id="174" name="Group 174"/>
              <p:cNvGrpSpPr/>
              <p:nvPr/>
            </p:nvGrpSpPr>
            <p:grpSpPr>
              <a:xfrm>
                <a:off x="4893469" y="5072063"/>
                <a:ext cx="157163" cy="104775"/>
                <a:chOff x="4893469" y="5072063"/>
                <a:chExt cx="157163" cy="104775"/>
              </a:xfrm>
            </p:grpSpPr>
            <p:sp>
              <p:nvSpPr>
                <p:cNvPr id="172" name="Freeform 172"/>
                <p:cNvSpPr/>
                <p:nvPr/>
              </p:nvSpPr>
              <p:spPr>
                <a:xfrm>
                  <a:off x="4998244" y="5085763"/>
                  <a:ext cx="52388" cy="77374"/>
                </a:xfrm>
                <a:custGeom>
                  <a:avLst/>
                  <a:gdLst/>
                  <a:ahLst/>
                  <a:cxnLst/>
                  <a:rect l="l" t="t" r="r" b="b"/>
                  <a:pathLst>
                    <a:path w="52388" h="77374">
                      <a:moveTo>
                        <a:pt x="0" y="21224"/>
                      </a:moveTo>
                      <a:lnTo>
                        <a:pt x="39753" y="1352"/>
                      </a:lnTo>
                      <a:cubicBezTo>
                        <a:pt x="42459" y="0"/>
                        <a:pt x="45672" y="145"/>
                        <a:pt x="48245" y="1735"/>
                      </a:cubicBezTo>
                      <a:cubicBezTo>
                        <a:pt x="50819" y="3324"/>
                        <a:pt x="52386" y="6133"/>
                        <a:pt x="52388" y="9158"/>
                      </a:cubicBezTo>
                      <a:lnTo>
                        <a:pt x="52388" y="68216"/>
                      </a:lnTo>
                      <a:cubicBezTo>
                        <a:pt x="52386" y="71241"/>
                        <a:pt x="50819" y="74049"/>
                        <a:pt x="48245" y="75639"/>
                      </a:cubicBezTo>
                      <a:cubicBezTo>
                        <a:pt x="45672" y="77229"/>
                        <a:pt x="42459" y="77374"/>
                        <a:pt x="39753" y="76022"/>
                      </a:cubicBezTo>
                      <a:lnTo>
                        <a:pt x="0" y="56149"/>
                      </a:lnTo>
                      <a:lnTo>
                        <a:pt x="0" y="21224"/>
                      </a:lnTo>
                    </a:path>
                  </a:pathLst>
                </a:custGeom>
                <a:noFill/>
                <a:ln w="17463">
                  <a:solidFill>
                    <a:srgbClr val="FFFFFF"/>
                  </a:solidFill>
                </a:ln>
              </p:spPr>
            </p:sp>
            <p:sp>
              <p:nvSpPr>
                <p:cNvPr id="173" name="Freeform 173"/>
                <p:cNvSpPr/>
                <p:nvPr/>
              </p:nvSpPr>
              <p:spPr>
                <a:xfrm>
                  <a:off x="4893469" y="5072063"/>
                  <a:ext cx="104775" cy="104775"/>
                </a:xfrm>
                <a:custGeom>
                  <a:avLst/>
                  <a:gdLst/>
                  <a:ahLst/>
                  <a:cxnLst/>
                  <a:rect l="l" t="t" r="r" b="b"/>
                  <a:pathLst>
                    <a:path w="104775" h="104775">
                      <a:moveTo>
                        <a:pt x="0" y="17463"/>
                      </a:moveTo>
                      <a:cubicBezTo>
                        <a:pt x="0" y="7818"/>
                        <a:pt x="7818" y="0"/>
                        <a:pt x="17463" y="0"/>
                      </a:cubicBezTo>
                      <a:lnTo>
                        <a:pt x="87313" y="0"/>
                      </a:lnTo>
                      <a:cubicBezTo>
                        <a:pt x="96957" y="0"/>
                        <a:pt x="104775" y="7818"/>
                        <a:pt x="104775" y="17463"/>
                      </a:cubicBezTo>
                      <a:lnTo>
                        <a:pt x="104775" y="87313"/>
                      </a:lnTo>
                      <a:cubicBezTo>
                        <a:pt x="104775" y="96957"/>
                        <a:pt x="96957" y="104775"/>
                        <a:pt x="87313" y="104775"/>
                      </a:cubicBezTo>
                      <a:lnTo>
                        <a:pt x="17463" y="104775"/>
                      </a:lnTo>
                      <a:cubicBezTo>
                        <a:pt x="7818" y="104775"/>
                        <a:pt x="0" y="96957"/>
                        <a:pt x="0" y="87313"/>
                      </a:cubicBezTo>
                      <a:lnTo>
                        <a:pt x="0" y="17463"/>
                      </a:lnTo>
                    </a:path>
                  </a:pathLst>
                </a:custGeom>
                <a:noFill/>
                <a:ln w="17463">
                  <a:solidFill>
                    <a:srgbClr val="FFFFFF"/>
                  </a:solidFill>
                </a:ln>
              </p:spPr>
            </p:sp>
          </p:grpSp>
          <p:sp>
            <p:nvSpPr>
              <p:cNvPr id="175" name="TextBox 175"/>
              <p:cNvSpPr txBox="1"/>
              <p:nvPr/>
            </p:nvSpPr>
            <p:spPr>
              <a:xfrm>
                <a:off x="5271897" y="4981099"/>
                <a:ext cx="1329182" cy="190690"/>
              </a:xfrm>
              <a:prstGeom prst="rect">
                <a:avLst/>
              </a:prstGeom>
              <a:noFill/>
              <a:ln>
                <a:noFill/>
              </a:ln>
            </p:spPr>
            <p:txBody>
              <a:bodyPr wrap="none" lIns="0" tIns="0" rIns="0" bIns="0" anchor="t" anchorCtr="0">
                <a:spAutoFit/>
              </a:bodyPr>
              <a:lstStyle/>
              <a:p>
                <a:pPr algn="l"/>
                <a:r>
                  <a:rPr lang="zh-CN" sz="980" b="1" dirty="0">
                    <a:solidFill>
                      <a:srgbClr val="B03A1F"/>
                    </a:solidFill>
                    <a:latin typeface="+mn-lt"/>
                    <a:ea typeface="+mn-ea"/>
                    <a:cs typeface="+mn-cs"/>
                  </a:rPr>
                  <a:t>复杂业务远程视频办理</a:t>
                </a:r>
              </a:p>
            </p:txBody>
          </p:sp>
          <p:sp>
            <p:nvSpPr>
              <p:cNvPr id="176" name="TextBox 176"/>
              <p:cNvSpPr txBox="1"/>
              <p:nvPr/>
            </p:nvSpPr>
            <p:spPr>
              <a:xfrm>
                <a:off x="5272088" y="5203984"/>
                <a:ext cx="1458849" cy="133350"/>
              </a:xfrm>
              <a:prstGeom prst="rect">
                <a:avLst/>
              </a:prstGeom>
              <a:noFill/>
              <a:ln>
                <a:noFill/>
              </a:ln>
            </p:spPr>
            <p:txBody>
              <a:bodyPr wrap="none" lIns="0" tIns="0" rIns="0" bIns="0" anchor="t" anchorCtr="0">
                <a:spAutoFit/>
              </a:bodyPr>
              <a:lstStyle/>
              <a:p>
                <a:pPr algn="l" marL="76200" indent="-76200">
                  <a:buClr>
                    <a:srgbClr val="6A6A6A"/>
                  </a:buClr>
                  <a:buSzTx/>
                  <a:buFontTx/>
                  <a:buChar char="•"/>
                </a:pPr>
                <a:r>
                  <a:rPr lang="zh-CN" sz="680" dirty="0">
                    <a:solidFill>
                      <a:srgbClr val="6A6A6A"/>
                    </a:solidFill>
                    <a:latin typeface="+mn-lt"/>
                    <a:ea typeface="+mn-ea"/>
                    <a:cs typeface="+mn-cs"/>
                  </a:rPr>
                  <a:t>拓展远程视频场景，覆盖复杂业务</a:t>
                </a:r>
              </a:p>
            </p:txBody>
          </p:sp>
          <p:sp>
            <p:nvSpPr>
              <p:cNvPr id="177" name="TextBox 177"/>
              <p:cNvSpPr txBox="1"/>
              <p:nvPr/>
            </p:nvSpPr>
            <p:spPr>
              <a:xfrm>
                <a:off x="5272088" y="5356384"/>
                <a:ext cx="1550391" cy="133350"/>
              </a:xfrm>
              <a:prstGeom prst="rect">
                <a:avLst/>
              </a:prstGeom>
              <a:noFill/>
              <a:ln>
                <a:noFill/>
              </a:ln>
            </p:spPr>
            <p:txBody>
              <a:bodyPr wrap="none" lIns="0" tIns="0" rIns="0" bIns="0" anchor="t" anchorCtr="0">
                <a:spAutoFit/>
              </a:bodyPr>
              <a:lstStyle/>
              <a:p>
                <a:pPr algn="l" marL="76200" indent="-76200">
                  <a:buClr>
                    <a:srgbClr val="6A6A6A"/>
                  </a:buClr>
                  <a:buSzTx/>
                  <a:buFontTx/>
                  <a:buChar char="•"/>
                </a:pPr>
                <a:r>
                  <a:rPr lang="zh-CN" sz="680" dirty="0">
                    <a:solidFill>
                      <a:srgbClr val="6A6A6A"/>
                    </a:solidFill>
                    <a:latin typeface="+mn-lt"/>
                    <a:ea typeface="+mn-ea"/>
                    <a:cs typeface="+mn-cs"/>
                  </a:rPr>
                  <a:t>身份核验与电子签署，安全合规办理</a:t>
                </a:r>
              </a:p>
            </p:txBody>
          </p:sp>
          <p:sp>
            <p:nvSpPr>
              <p:cNvPr id="178" name="TextBox 178"/>
              <p:cNvSpPr txBox="1"/>
              <p:nvPr/>
            </p:nvSpPr>
            <p:spPr>
              <a:xfrm>
                <a:off x="5272088" y="5508784"/>
                <a:ext cx="1550391" cy="133350"/>
              </a:xfrm>
              <a:prstGeom prst="rect">
                <a:avLst/>
              </a:prstGeom>
              <a:noFill/>
              <a:ln>
                <a:noFill/>
              </a:ln>
            </p:spPr>
            <p:txBody>
              <a:bodyPr wrap="none" lIns="0" tIns="0" rIns="0" bIns="0" anchor="t" anchorCtr="0">
                <a:spAutoFit/>
              </a:bodyPr>
              <a:lstStyle/>
              <a:p>
                <a:pPr algn="l" marL="76200" indent="-76200">
                  <a:buClr>
                    <a:srgbClr val="6A6A6A"/>
                  </a:buClr>
                  <a:buSzTx/>
                  <a:buFontTx/>
                  <a:buChar char="•"/>
                </a:pPr>
                <a:r>
                  <a:rPr lang="zh-CN" sz="680" dirty="0">
                    <a:solidFill>
                      <a:srgbClr val="6A6A6A"/>
                    </a:solidFill>
                    <a:latin typeface="+mn-lt"/>
                    <a:ea typeface="+mn-ea"/>
                    <a:cs typeface="+mn-cs"/>
                  </a:rPr>
                  <a:t>线上线下无缝衔接，提升办理便捷性</a:t>
                </a:r>
              </a:p>
            </p:txBody>
          </p:sp>
        </p:grpSp>
        <p:grpSp>
          <p:nvGrpSpPr>
            <p:cNvPr id="189" name="measure-3"/>
            <p:cNvGrpSpPr/>
            <p:nvPr/>
          </p:nvGrpSpPr>
          <p:grpSpPr>
            <a:xfrm>
              <a:off x="8143875" y="4810125"/>
              <a:ext cx="3857625" cy="876300"/>
              <a:chOff x="8143875" y="4810125"/>
              <a:chExt cx="3857625" cy="876300"/>
            </a:xfrm>
          </p:grpSpPr>
          <p:sp>
            <p:nvSpPr>
              <p:cNvPr id="180" name="Rectangle 180"/>
              <p:cNvSpPr/>
              <p:nvPr/>
            </p:nvSpPr>
            <p:spPr>
              <a:xfrm>
                <a:off x="8143875" y="4810125"/>
                <a:ext cx="3857625" cy="876300"/>
              </a:xfrm>
              <a:prstGeom prst="rect">
                <a:avLst/>
              </a:prstGeom>
              <a:solidFill>
                <a:srgbClr val="FFFFFF"/>
              </a:solidFill>
              <a:ln w="9525">
                <a:solidFill>
                  <a:srgbClr val="E8E4E0"/>
                </a:solidFill>
              </a:ln>
            </p:spPr>
          </p:sp>
          <p:sp>
            <p:nvSpPr>
              <p:cNvPr id="181" name="Ellipse 181"/>
              <p:cNvSpPr/>
              <p:nvPr/>
            </p:nvSpPr>
            <p:spPr>
              <a:xfrm>
                <a:off x="8296275" y="4924425"/>
                <a:ext cx="400050" cy="400050"/>
              </a:xfrm>
              <a:prstGeom prst="ellipse">
                <a:avLst/>
              </a:prstGeom>
              <a:solidFill>
                <a:srgbClr val="B03A1F"/>
              </a:solidFill>
              <a:ln>
                <a:noFill/>
              </a:ln>
            </p:spPr>
          </p:sp>
          <p:grpSp>
            <p:nvGrpSpPr>
              <p:cNvPr id="184" name="Group 184"/>
              <p:cNvGrpSpPr/>
              <p:nvPr/>
            </p:nvGrpSpPr>
            <p:grpSpPr>
              <a:xfrm>
                <a:off x="8426450" y="5051231"/>
                <a:ext cx="139700" cy="146438"/>
                <a:chOff x="8426450" y="5051231"/>
                <a:chExt cx="139700" cy="146438"/>
              </a:xfrm>
            </p:grpSpPr>
            <p:sp>
              <p:nvSpPr>
                <p:cNvPr id="182" name="Freeform 182"/>
                <p:cNvSpPr/>
                <p:nvPr/>
              </p:nvSpPr>
              <p:spPr>
                <a:xfrm>
                  <a:off x="8426450" y="5051231"/>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FFFFFF"/>
                  </a:solidFill>
                </a:ln>
              </p:spPr>
            </p:sp>
            <p:sp>
              <p:nvSpPr>
                <p:cNvPr id="183" name="Freeform 183"/>
                <p:cNvSpPr/>
                <p:nvPr/>
              </p:nvSpPr>
              <p:spPr>
                <a:xfrm>
                  <a:off x="8426450" y="5133181"/>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FFFFFF"/>
                  </a:solidFill>
                </a:ln>
              </p:spPr>
            </p:sp>
          </p:grpSp>
          <p:sp>
            <p:nvSpPr>
              <p:cNvPr id="185" name="TextBox 185"/>
              <p:cNvSpPr txBox="1"/>
              <p:nvPr/>
            </p:nvSpPr>
            <p:spPr>
              <a:xfrm>
                <a:off x="8796147" y="4981099"/>
                <a:ext cx="1593037" cy="190690"/>
              </a:xfrm>
              <a:prstGeom prst="rect">
                <a:avLst/>
              </a:prstGeom>
              <a:noFill/>
              <a:ln>
                <a:noFill/>
              </a:ln>
            </p:spPr>
            <p:txBody>
              <a:bodyPr wrap="none" lIns="0" tIns="0" rIns="0" bIns="0" anchor="t" anchorCtr="0">
                <a:spAutoFit/>
              </a:bodyPr>
              <a:lstStyle/>
              <a:p>
                <a:pPr algn="l"/>
                <a:r>
                  <a:rPr lang="zh-CN" sz="980" b="1" dirty="0">
                    <a:solidFill>
                      <a:srgbClr val="B03A1F"/>
                    </a:solidFill>
                    <a:latin typeface="+mn-lt"/>
                    <a:ea typeface="+mn-ea"/>
                    <a:cs typeface="+mn-cs"/>
                  </a:rPr>
                  <a:t>客户问题一次受理闭环解决</a:t>
                </a:r>
              </a:p>
            </p:txBody>
          </p:sp>
          <p:sp>
            <p:nvSpPr>
              <p:cNvPr id="186" name="TextBox 186"/>
              <p:cNvSpPr txBox="1"/>
              <p:nvPr/>
            </p:nvSpPr>
            <p:spPr>
              <a:xfrm>
                <a:off x="8796338" y="5203984"/>
                <a:ext cx="1550391" cy="133350"/>
              </a:xfrm>
              <a:prstGeom prst="rect">
                <a:avLst/>
              </a:prstGeom>
              <a:noFill/>
              <a:ln>
                <a:noFill/>
              </a:ln>
            </p:spPr>
            <p:txBody>
              <a:bodyPr wrap="none" lIns="0" tIns="0" rIns="0" bIns="0" anchor="t" anchorCtr="0">
                <a:spAutoFit/>
              </a:bodyPr>
              <a:lstStyle/>
              <a:p>
                <a:pPr algn="l" marL="76200" indent="-76200">
                  <a:buClr>
                    <a:srgbClr val="6A6A6A"/>
                  </a:buClr>
                  <a:buSzTx/>
                  <a:buFontTx/>
                  <a:buChar char="•"/>
                </a:pPr>
                <a:r>
                  <a:rPr lang="zh-CN" sz="680" dirty="0">
                    <a:solidFill>
                      <a:srgbClr val="6A6A6A"/>
                    </a:solidFill>
                    <a:latin typeface="+mn-lt"/>
                    <a:ea typeface="+mn-ea"/>
                    <a:cs typeface="+mn-cs"/>
                  </a:rPr>
                  <a:t>统一受理入口，规范问题分类与分流</a:t>
                </a:r>
              </a:p>
            </p:txBody>
          </p:sp>
          <p:sp>
            <p:nvSpPr>
              <p:cNvPr id="187" name="TextBox 187"/>
              <p:cNvSpPr txBox="1"/>
              <p:nvPr/>
            </p:nvSpPr>
            <p:spPr>
              <a:xfrm>
                <a:off x="8796338" y="5356384"/>
                <a:ext cx="1618442" cy="133350"/>
              </a:xfrm>
              <a:prstGeom prst="rect">
                <a:avLst/>
              </a:prstGeom>
              <a:noFill/>
              <a:ln>
                <a:noFill/>
              </a:ln>
            </p:spPr>
            <p:txBody>
              <a:bodyPr wrap="none" lIns="0" tIns="0" rIns="0" bIns="0" anchor="t" anchorCtr="0">
                <a:spAutoFit/>
              </a:bodyPr>
              <a:lstStyle/>
              <a:p>
                <a:pPr algn="l" marL="76200" indent="-76200">
                  <a:buClr>
                    <a:srgbClr val="6A6A6A"/>
                  </a:buClr>
                  <a:buSzTx/>
                  <a:buFontTx/>
                  <a:buChar char="•"/>
                </a:pPr>
                <a:r>
                  <a:rPr lang="zh-CN" sz="680" dirty="0">
                    <a:solidFill>
                      <a:srgbClr val="6A6A6A"/>
                    </a:solidFill>
                    <a:latin typeface="+mn-lt"/>
                    <a:ea typeface="+mn-ea"/>
                    <a:cs typeface="+mn-cs"/>
                  </a:rPr>
                  <a:t>跨部门协同处理，明确SLA与时限管理</a:t>
                </a:r>
              </a:p>
            </p:txBody>
          </p:sp>
          <p:sp>
            <p:nvSpPr>
              <p:cNvPr id="188" name="TextBox 188"/>
              <p:cNvSpPr txBox="1"/>
              <p:nvPr/>
            </p:nvSpPr>
            <p:spPr>
              <a:xfrm>
                <a:off x="8796338" y="5508784"/>
                <a:ext cx="1550391" cy="133350"/>
              </a:xfrm>
              <a:prstGeom prst="rect">
                <a:avLst/>
              </a:prstGeom>
              <a:noFill/>
              <a:ln>
                <a:noFill/>
              </a:ln>
            </p:spPr>
            <p:txBody>
              <a:bodyPr wrap="none" lIns="0" tIns="0" rIns="0" bIns="0" anchor="t" anchorCtr="0">
                <a:spAutoFit/>
              </a:bodyPr>
              <a:lstStyle/>
              <a:p>
                <a:pPr algn="l" marL="76200" indent="-76200">
                  <a:buClr>
                    <a:srgbClr val="6A6A6A"/>
                  </a:buClr>
                  <a:buSzTx/>
                  <a:buFontTx/>
                  <a:buChar char="•"/>
                </a:pPr>
                <a:r>
                  <a:rPr lang="zh-CN" sz="680" dirty="0">
                    <a:solidFill>
                      <a:srgbClr val="6A6A6A"/>
                    </a:solidFill>
                    <a:latin typeface="+mn-lt"/>
                    <a:ea typeface="+mn-ea"/>
                    <a:cs typeface="+mn-cs"/>
                  </a:rPr>
                  <a:t>闭环跟踪与回访，确保问题彻底解决</a:t>
                </a:r>
              </a:p>
            </p:txBody>
          </p:sp>
        </p:grpSp>
      </p:grpSp>
      <p:grpSp>
        <p:nvGrpSpPr>
          <p:cNvPr id="239" name="kpis"/>
          <p:cNvGrpSpPr/>
          <p:nvPr/>
        </p:nvGrpSpPr>
        <p:grpSpPr>
          <a:xfrm>
            <a:off x="190500" y="5838825"/>
            <a:ext cx="11811000" cy="857250"/>
            <a:chOff x="190500" y="5838825"/>
            <a:chExt cx="11811000" cy="857250"/>
          </a:xfrm>
        </p:grpSpPr>
        <p:sp>
          <p:nvSpPr>
            <p:cNvPr id="191" name="Rectangle 191"/>
            <p:cNvSpPr/>
            <p:nvPr/>
          </p:nvSpPr>
          <p:spPr>
            <a:xfrm>
              <a:off x="190500" y="5838825"/>
              <a:ext cx="762000" cy="857250"/>
            </a:xfrm>
            <a:prstGeom prst="roundRect">
              <a:avLst>
                <a:gd name="adj" fmla="val 10000"/>
              </a:avLst>
            </a:prstGeom>
            <a:solidFill>
              <a:srgbClr val="F5F3F1"/>
            </a:solidFill>
            <a:ln>
              <a:noFill/>
            </a:ln>
          </p:spPr>
        </p:sp>
        <p:sp>
          <p:nvSpPr>
            <p:cNvPr id="192" name="TextBox 192"/>
            <p:cNvSpPr txBox="1"/>
            <p:nvPr/>
          </p:nvSpPr>
          <p:spPr>
            <a:xfrm>
              <a:off x="434619" y="6085999"/>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服务</a:t>
              </a:r>
            </a:p>
          </p:txBody>
        </p:sp>
        <p:sp>
          <p:nvSpPr>
            <p:cNvPr id="193" name="TextBox 193"/>
            <p:cNvSpPr txBox="1"/>
            <p:nvPr/>
          </p:nvSpPr>
          <p:spPr>
            <a:xfrm>
              <a:off x="434619" y="6257449"/>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指标</a:t>
              </a:r>
            </a:p>
          </p:txBody>
        </p:sp>
        <p:sp>
          <p:nvSpPr>
            <p:cNvPr id="194" name="TextBox 194"/>
            <p:cNvSpPr txBox="1"/>
            <p:nvPr/>
          </p:nvSpPr>
          <p:spPr>
            <a:xfrm>
              <a:off x="434619" y="6428899"/>
              <a:ext cx="273761"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mn-lt"/>
                  <a:ea typeface="+mn-ea"/>
                  <a:cs typeface="+mn-cs"/>
                </a:rPr>
                <a:t>体系</a:t>
              </a:r>
            </a:p>
          </p:txBody>
        </p:sp>
        <p:grpSp>
          <p:nvGrpSpPr>
            <p:cNvPr id="203" name="kpi-wait"/>
            <p:cNvGrpSpPr/>
            <p:nvPr/>
          </p:nvGrpSpPr>
          <p:grpSpPr>
            <a:xfrm>
              <a:off x="1095375" y="5838825"/>
              <a:ext cx="2143125" cy="857250"/>
              <a:chOff x="1095375" y="5838825"/>
              <a:chExt cx="2143125" cy="857250"/>
            </a:xfrm>
          </p:grpSpPr>
          <p:sp>
            <p:nvSpPr>
              <p:cNvPr id="195" name="Rectangle 195"/>
              <p:cNvSpPr/>
              <p:nvPr/>
            </p:nvSpPr>
            <p:spPr>
              <a:xfrm>
                <a:off x="1095375" y="5838825"/>
                <a:ext cx="2143125" cy="857250"/>
              </a:xfrm>
              <a:prstGeom prst="rect">
                <a:avLst/>
              </a:prstGeom>
              <a:solidFill>
                <a:srgbClr val="FFFFFF"/>
              </a:solidFill>
              <a:ln w="9525">
                <a:solidFill>
                  <a:srgbClr val="E8E4E0"/>
                </a:solidFill>
              </a:ln>
            </p:spPr>
          </p:sp>
          <p:sp>
            <p:nvSpPr>
              <p:cNvPr id="196" name="Ellipse 196"/>
              <p:cNvSpPr/>
              <p:nvPr/>
            </p:nvSpPr>
            <p:spPr>
              <a:xfrm>
                <a:off x="1266825" y="5962650"/>
                <a:ext cx="361950" cy="361950"/>
              </a:xfrm>
              <a:prstGeom prst="ellipse">
                <a:avLst/>
              </a:prstGeom>
              <a:solidFill>
                <a:srgbClr val="B03A1F"/>
              </a:solidFill>
              <a:ln>
                <a:noFill/>
              </a:ln>
            </p:spPr>
          </p:sp>
          <p:grpSp>
            <p:nvGrpSpPr>
              <p:cNvPr id="199" name="Group 199"/>
              <p:cNvGrpSpPr/>
              <p:nvPr/>
            </p:nvGrpSpPr>
            <p:grpSpPr>
              <a:xfrm>
                <a:off x="1376362" y="6072187"/>
                <a:ext cx="142875" cy="142875"/>
                <a:chOff x="1376362" y="6072187"/>
                <a:chExt cx="142875" cy="142875"/>
              </a:xfrm>
            </p:grpSpPr>
            <p:sp>
              <p:nvSpPr>
                <p:cNvPr id="197" name="Freeform 197"/>
                <p:cNvSpPr/>
                <p:nvPr/>
              </p:nvSpPr>
              <p:spPr>
                <a:xfrm>
                  <a:off x="1376362" y="607218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sp>
              <p:nvSpPr>
                <p:cNvPr id="198" name="Freeform 198"/>
                <p:cNvSpPr/>
                <p:nvPr/>
              </p:nvSpPr>
              <p:spPr>
                <a:xfrm>
                  <a:off x="1447800" y="6103937"/>
                  <a:ext cx="23812" cy="63500"/>
                </a:xfrm>
                <a:custGeom>
                  <a:avLst/>
                  <a:gdLst/>
                  <a:ahLst/>
                  <a:cxnLst/>
                  <a:rect l="l" t="t" r="r" b="b"/>
                  <a:pathLst>
                    <a:path w="23812" h="63500">
                      <a:moveTo>
                        <a:pt x="0" y="0"/>
                      </a:moveTo>
                      <a:lnTo>
                        <a:pt x="0" y="39687"/>
                      </a:lnTo>
                      <a:lnTo>
                        <a:pt x="23812" y="63500"/>
                      </a:lnTo>
                    </a:path>
                  </a:pathLst>
                </a:custGeom>
                <a:noFill/>
                <a:ln w="15875">
                  <a:solidFill>
                    <a:srgbClr val="FFFFFF"/>
                  </a:solidFill>
                </a:ln>
              </p:spPr>
            </p:sp>
          </p:grpSp>
          <p:sp>
            <p:nvSpPr>
              <p:cNvPr id="200" name="TextBox 200"/>
              <p:cNvSpPr txBox="1"/>
              <p:nvPr/>
            </p:nvSpPr>
            <p:spPr>
              <a:xfrm>
                <a:off x="1728788" y="6004322"/>
                <a:ext cx="515696"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等候时长</a:t>
                </a:r>
              </a:p>
            </p:txBody>
          </p:sp>
          <p:sp>
            <p:nvSpPr>
              <p:cNvPr id="201" name="TextBox 201"/>
              <p:cNvSpPr txBox="1"/>
              <p:nvPr/>
            </p:nvSpPr>
            <p:spPr>
              <a:xfrm>
                <a:off x="1728788" y="6217682"/>
                <a:ext cx="698779"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衡量客户在各渠道</a:t>
                </a:r>
              </a:p>
            </p:txBody>
          </p:sp>
          <p:sp>
            <p:nvSpPr>
              <p:cNvPr id="202" name="TextBox 202"/>
              <p:cNvSpPr txBox="1"/>
              <p:nvPr/>
            </p:nvSpPr>
            <p:spPr>
              <a:xfrm>
                <a:off x="1728788" y="6351032"/>
                <a:ext cx="612623"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等待服务的时间</a:t>
                </a:r>
              </a:p>
            </p:txBody>
          </p:sp>
        </p:grpSp>
        <p:grpSp>
          <p:nvGrpSpPr>
            <p:cNvPr id="213" name="kpi-resolve"/>
            <p:cNvGrpSpPr/>
            <p:nvPr/>
          </p:nvGrpSpPr>
          <p:grpSpPr>
            <a:xfrm>
              <a:off x="3381375" y="5838825"/>
              <a:ext cx="2143125" cy="857250"/>
              <a:chOff x="3381375" y="5838825"/>
              <a:chExt cx="2143125" cy="857250"/>
            </a:xfrm>
          </p:grpSpPr>
          <p:sp>
            <p:nvSpPr>
              <p:cNvPr id="204" name="Rectangle 204"/>
              <p:cNvSpPr/>
              <p:nvPr/>
            </p:nvSpPr>
            <p:spPr>
              <a:xfrm>
                <a:off x="3381375" y="5838825"/>
                <a:ext cx="2143125" cy="857250"/>
              </a:xfrm>
              <a:prstGeom prst="rect">
                <a:avLst/>
              </a:prstGeom>
              <a:solidFill>
                <a:srgbClr val="FFFFFF"/>
              </a:solidFill>
              <a:ln w="9525">
                <a:solidFill>
                  <a:srgbClr val="E8E4E0"/>
                </a:solidFill>
              </a:ln>
            </p:spPr>
          </p:sp>
          <p:sp>
            <p:nvSpPr>
              <p:cNvPr id="205" name="Ellipse 205"/>
              <p:cNvSpPr/>
              <p:nvPr/>
            </p:nvSpPr>
            <p:spPr>
              <a:xfrm>
                <a:off x="3552825" y="5962650"/>
                <a:ext cx="361950" cy="361950"/>
              </a:xfrm>
              <a:prstGeom prst="ellipse">
                <a:avLst/>
              </a:prstGeom>
              <a:solidFill>
                <a:srgbClr val="B03A1F"/>
              </a:solidFill>
              <a:ln>
                <a:noFill/>
              </a:ln>
            </p:spPr>
          </p:sp>
          <p:grpSp>
            <p:nvGrpSpPr>
              <p:cNvPr id="209" name="Group 209"/>
              <p:cNvGrpSpPr/>
              <p:nvPr/>
            </p:nvGrpSpPr>
            <p:grpSpPr>
              <a:xfrm>
                <a:off x="3662362" y="6072187"/>
                <a:ext cx="142875" cy="142875"/>
                <a:chOff x="3662362" y="6072187"/>
                <a:chExt cx="142875" cy="142875"/>
              </a:xfrm>
            </p:grpSpPr>
            <p:sp>
              <p:nvSpPr>
                <p:cNvPr id="206" name="Freeform 206"/>
                <p:cNvSpPr/>
                <p:nvPr/>
              </p:nvSpPr>
              <p:spPr>
                <a:xfrm>
                  <a:off x="3725862" y="613568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207" name="Freeform 207"/>
                <p:cNvSpPr/>
                <p:nvPr/>
              </p:nvSpPr>
              <p:spPr>
                <a:xfrm>
                  <a:off x="3694112" y="610393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208" name="Freeform 208"/>
                <p:cNvSpPr/>
                <p:nvPr/>
              </p:nvSpPr>
              <p:spPr>
                <a:xfrm>
                  <a:off x="3662362" y="607218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210" name="TextBox 210"/>
              <p:cNvSpPr txBox="1"/>
              <p:nvPr/>
            </p:nvSpPr>
            <p:spPr>
              <a:xfrm>
                <a:off x="4014788" y="6004322"/>
                <a:ext cx="642239"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一次解决率</a:t>
                </a:r>
              </a:p>
            </p:txBody>
          </p:sp>
          <p:sp>
            <p:nvSpPr>
              <p:cNvPr id="211" name="TextBox 211"/>
              <p:cNvSpPr txBox="1"/>
              <p:nvPr/>
            </p:nvSpPr>
            <p:spPr>
              <a:xfrm>
                <a:off x="4014788" y="6217682"/>
                <a:ext cx="784936"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衡量客户问题或需求</a:t>
                </a:r>
              </a:p>
            </p:txBody>
          </p:sp>
          <p:sp>
            <p:nvSpPr>
              <p:cNvPr id="212" name="TextBox 212"/>
              <p:cNvSpPr txBox="1"/>
              <p:nvPr/>
            </p:nvSpPr>
            <p:spPr>
              <a:xfrm>
                <a:off x="4014788" y="6351032"/>
                <a:ext cx="612623"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一次解决的比例</a:t>
                </a:r>
              </a:p>
            </p:txBody>
          </p:sp>
        </p:grpSp>
        <p:grpSp>
          <p:nvGrpSpPr>
            <p:cNvPr id="222" name="kpi-migrate"/>
            <p:cNvGrpSpPr/>
            <p:nvPr/>
          </p:nvGrpSpPr>
          <p:grpSpPr>
            <a:xfrm>
              <a:off x="5667375" y="5838825"/>
              <a:ext cx="2143125" cy="857250"/>
              <a:chOff x="5667375" y="5838825"/>
              <a:chExt cx="2143125" cy="857250"/>
            </a:xfrm>
          </p:grpSpPr>
          <p:sp>
            <p:nvSpPr>
              <p:cNvPr id="214" name="Rectangle 214"/>
              <p:cNvSpPr/>
              <p:nvPr/>
            </p:nvSpPr>
            <p:spPr>
              <a:xfrm>
                <a:off x="5667375" y="5838825"/>
                <a:ext cx="2143125" cy="857250"/>
              </a:xfrm>
              <a:prstGeom prst="rect">
                <a:avLst/>
              </a:prstGeom>
              <a:solidFill>
                <a:srgbClr val="FFFFFF"/>
              </a:solidFill>
              <a:ln w="9525">
                <a:solidFill>
                  <a:srgbClr val="E8E4E0"/>
                </a:solidFill>
              </a:ln>
            </p:spPr>
          </p:sp>
          <p:sp>
            <p:nvSpPr>
              <p:cNvPr id="215" name="Ellipse 215"/>
              <p:cNvSpPr/>
              <p:nvPr/>
            </p:nvSpPr>
            <p:spPr>
              <a:xfrm>
                <a:off x="5838825" y="5962650"/>
                <a:ext cx="361950" cy="361950"/>
              </a:xfrm>
              <a:prstGeom prst="ellipse">
                <a:avLst/>
              </a:prstGeom>
              <a:solidFill>
                <a:srgbClr val="B03A1F"/>
              </a:solidFill>
              <a:ln>
                <a:noFill/>
              </a:ln>
            </p:spPr>
          </p:sp>
          <p:grpSp>
            <p:nvGrpSpPr>
              <p:cNvPr id="218" name="Group 218"/>
              <p:cNvGrpSpPr/>
              <p:nvPr/>
            </p:nvGrpSpPr>
            <p:grpSpPr>
              <a:xfrm>
                <a:off x="5948362" y="6103937"/>
                <a:ext cx="142875" cy="79375"/>
                <a:chOff x="5948362" y="6103937"/>
                <a:chExt cx="142875" cy="79375"/>
              </a:xfrm>
            </p:grpSpPr>
            <p:sp>
              <p:nvSpPr>
                <p:cNvPr id="216" name="Freeform 216"/>
                <p:cNvSpPr/>
                <p:nvPr/>
              </p:nvSpPr>
              <p:spPr>
                <a:xfrm>
                  <a:off x="5948362" y="6103937"/>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217" name="Freeform 217"/>
                <p:cNvSpPr/>
                <p:nvPr/>
              </p:nvSpPr>
              <p:spPr>
                <a:xfrm>
                  <a:off x="6035675" y="6103937"/>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219" name="TextBox 219"/>
              <p:cNvSpPr txBox="1"/>
              <p:nvPr/>
            </p:nvSpPr>
            <p:spPr>
              <a:xfrm>
                <a:off x="6300788" y="6004322"/>
                <a:ext cx="642239"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线上迁移率</a:t>
                </a:r>
              </a:p>
            </p:txBody>
          </p:sp>
          <p:sp>
            <p:nvSpPr>
              <p:cNvPr id="220" name="TextBox 220"/>
              <p:cNvSpPr txBox="1"/>
              <p:nvPr/>
            </p:nvSpPr>
            <p:spPr>
              <a:xfrm>
                <a:off x="6300788" y="6217682"/>
                <a:ext cx="612623"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衡量业务由线下</a:t>
                </a:r>
              </a:p>
            </p:txBody>
          </p:sp>
          <p:sp>
            <p:nvSpPr>
              <p:cNvPr id="221" name="TextBox 221"/>
              <p:cNvSpPr txBox="1"/>
              <p:nvPr/>
            </p:nvSpPr>
            <p:spPr>
              <a:xfrm>
                <a:off x="6300788" y="6351032"/>
                <a:ext cx="698779"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迁移至线上的比例</a:t>
                </a:r>
              </a:p>
            </p:txBody>
          </p:sp>
        </p:grpSp>
        <p:grpSp>
          <p:nvGrpSpPr>
            <p:cNvPr id="229" name="kpi-satisfy"/>
            <p:cNvGrpSpPr/>
            <p:nvPr/>
          </p:nvGrpSpPr>
          <p:grpSpPr>
            <a:xfrm>
              <a:off x="7953375" y="5838825"/>
              <a:ext cx="2143125" cy="857250"/>
              <a:chOff x="7953375" y="5838825"/>
              <a:chExt cx="2143125" cy="857250"/>
            </a:xfrm>
          </p:grpSpPr>
          <p:sp>
            <p:nvSpPr>
              <p:cNvPr id="223" name="Rectangle 223"/>
              <p:cNvSpPr/>
              <p:nvPr/>
            </p:nvSpPr>
            <p:spPr>
              <a:xfrm>
                <a:off x="7953375" y="5838825"/>
                <a:ext cx="2143125" cy="857250"/>
              </a:xfrm>
              <a:prstGeom prst="rect">
                <a:avLst/>
              </a:prstGeom>
              <a:solidFill>
                <a:srgbClr val="FFFFFF"/>
              </a:solidFill>
              <a:ln w="9525">
                <a:solidFill>
                  <a:srgbClr val="E8E4E0"/>
                </a:solidFill>
              </a:ln>
            </p:spPr>
          </p:sp>
          <p:sp>
            <p:nvSpPr>
              <p:cNvPr id="224" name="Ellipse 224"/>
              <p:cNvSpPr/>
              <p:nvPr/>
            </p:nvSpPr>
            <p:spPr>
              <a:xfrm>
                <a:off x="8124825" y="5962650"/>
                <a:ext cx="361950" cy="361950"/>
              </a:xfrm>
              <a:prstGeom prst="ellipse">
                <a:avLst/>
              </a:prstGeom>
              <a:solidFill>
                <a:srgbClr val="B03A1F"/>
              </a:solidFill>
              <a:ln>
                <a:noFill/>
              </a:ln>
            </p:spPr>
          </p:sp>
          <p:sp>
            <p:nvSpPr>
              <p:cNvPr id="225" name="Freeform 225"/>
              <p:cNvSpPr/>
              <p:nvPr/>
            </p:nvSpPr>
            <p:spPr>
              <a:xfrm>
                <a:off x="8231614" y="6078089"/>
                <a:ext cx="148228" cy="129036"/>
              </a:xfrm>
              <a:custGeom>
                <a:avLst/>
                <a:gdLst/>
                <a:ahLst/>
                <a:cxnLst/>
                <a:rect l="l" t="t" r="r" b="b"/>
                <a:pathLst>
                  <a:path w="148228" h="129036">
                    <a:moveTo>
                      <a:pt x="133717" y="70077"/>
                    </a:moveTo>
                    <a:lnTo>
                      <a:pt x="74186" y="129036"/>
                    </a:lnTo>
                    <a:lnTo>
                      <a:pt x="14655" y="70077"/>
                    </a:lnTo>
                    <a:cubicBezTo>
                      <a:pt x="3949" y="59659"/>
                      <a:pt x="0" y="44113"/>
                      <a:pt x="4435" y="29850"/>
                    </a:cubicBezTo>
                    <a:cubicBezTo>
                      <a:pt x="8870" y="15586"/>
                      <a:pt x="20939" y="5020"/>
                      <a:pt x="35663" y="2510"/>
                    </a:cubicBezTo>
                    <a:cubicBezTo>
                      <a:pt x="50388" y="0"/>
                      <a:pt x="65276" y="5970"/>
                      <a:pt x="74186" y="17959"/>
                    </a:cubicBezTo>
                    <a:cubicBezTo>
                      <a:pt x="83134" y="6059"/>
                      <a:pt x="97989" y="168"/>
                      <a:pt x="112661" y="2702"/>
                    </a:cubicBezTo>
                    <a:cubicBezTo>
                      <a:pt x="127332" y="5235"/>
                      <a:pt x="139351" y="15767"/>
                      <a:pt x="143790" y="29979"/>
                    </a:cubicBezTo>
                    <a:cubicBezTo>
                      <a:pt x="148228" y="44191"/>
                      <a:pt x="144339" y="59691"/>
                      <a:pt x="133717" y="70124"/>
                    </a:cubicBezTo>
                  </a:path>
                </a:pathLst>
              </a:custGeom>
              <a:noFill/>
              <a:ln w="15875">
                <a:solidFill>
                  <a:srgbClr val="FFFFFF"/>
                </a:solidFill>
              </a:ln>
            </p:spPr>
          </p:sp>
          <p:sp>
            <p:nvSpPr>
              <p:cNvPr id="226" name="TextBox 226"/>
              <p:cNvSpPr txBox="1"/>
              <p:nvPr/>
            </p:nvSpPr>
            <p:spPr>
              <a:xfrm>
                <a:off x="8586788" y="6004322"/>
                <a:ext cx="389153"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满意度</a:t>
                </a:r>
              </a:p>
            </p:txBody>
          </p:sp>
          <p:sp>
            <p:nvSpPr>
              <p:cNvPr id="227" name="TextBox 227"/>
              <p:cNvSpPr txBox="1"/>
              <p:nvPr/>
            </p:nvSpPr>
            <p:spPr>
              <a:xfrm>
                <a:off x="8586788" y="6217682"/>
                <a:ext cx="784936"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衡量客户对服务体验</a:t>
                </a:r>
              </a:p>
            </p:txBody>
          </p:sp>
          <p:sp>
            <p:nvSpPr>
              <p:cNvPr id="228" name="TextBox 228"/>
              <p:cNvSpPr txBox="1"/>
              <p:nvPr/>
            </p:nvSpPr>
            <p:spPr>
              <a:xfrm>
                <a:off x="8586788" y="6351032"/>
                <a:ext cx="526466"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的整体满意度</a:t>
                </a:r>
              </a:p>
            </p:txBody>
          </p:sp>
        </p:grpSp>
        <p:grpSp>
          <p:nvGrpSpPr>
            <p:cNvPr id="238" name="kpi-complain"/>
            <p:cNvGrpSpPr/>
            <p:nvPr/>
          </p:nvGrpSpPr>
          <p:grpSpPr>
            <a:xfrm>
              <a:off x="10239375" y="5838825"/>
              <a:ext cx="1762125" cy="857250"/>
              <a:chOff x="10239375" y="5838825"/>
              <a:chExt cx="1762125" cy="857250"/>
            </a:xfrm>
          </p:grpSpPr>
          <p:sp>
            <p:nvSpPr>
              <p:cNvPr id="230" name="Rectangle 230"/>
              <p:cNvSpPr/>
              <p:nvPr/>
            </p:nvSpPr>
            <p:spPr>
              <a:xfrm>
                <a:off x="10239375" y="5838825"/>
                <a:ext cx="1762125" cy="857250"/>
              </a:xfrm>
              <a:prstGeom prst="rect">
                <a:avLst/>
              </a:prstGeom>
              <a:solidFill>
                <a:srgbClr val="FFFFFF"/>
              </a:solidFill>
              <a:ln w="9525">
                <a:solidFill>
                  <a:srgbClr val="E8E4E0"/>
                </a:solidFill>
              </a:ln>
            </p:spPr>
          </p:sp>
          <p:sp>
            <p:nvSpPr>
              <p:cNvPr id="231" name="Ellipse 231"/>
              <p:cNvSpPr/>
              <p:nvPr/>
            </p:nvSpPr>
            <p:spPr>
              <a:xfrm>
                <a:off x="10410825" y="5962650"/>
                <a:ext cx="361950" cy="361950"/>
              </a:xfrm>
              <a:prstGeom prst="ellipse">
                <a:avLst/>
              </a:prstGeom>
              <a:solidFill>
                <a:srgbClr val="B03A1F"/>
              </a:solidFill>
              <a:ln>
                <a:noFill/>
              </a:ln>
            </p:spPr>
          </p:sp>
          <p:grpSp>
            <p:nvGrpSpPr>
              <p:cNvPr id="234" name="Group 234"/>
              <p:cNvGrpSpPr/>
              <p:nvPr/>
            </p:nvGrpSpPr>
            <p:grpSpPr>
              <a:xfrm>
                <a:off x="10517057" y="6072187"/>
                <a:ext cx="149486" cy="142875"/>
                <a:chOff x="10517057" y="6072187"/>
                <a:chExt cx="149486" cy="142875"/>
              </a:xfrm>
            </p:grpSpPr>
            <p:sp>
              <p:nvSpPr>
                <p:cNvPr id="232" name="Freeform 232"/>
                <p:cNvSpPr/>
                <p:nvPr/>
              </p:nvSpPr>
              <p:spPr>
                <a:xfrm>
                  <a:off x="10517057" y="6072187"/>
                  <a:ext cx="149486" cy="142875"/>
                </a:xfrm>
                <a:custGeom>
                  <a:avLst/>
                  <a:gdLst/>
                  <a:ahLst/>
                  <a:cxnLst/>
                  <a:rect l="l" t="t" r="r" b="b"/>
                  <a:pathLst>
                    <a:path w="149486" h="142875">
                      <a:moveTo>
                        <a:pt x="74743" y="0"/>
                      </a:moveTo>
                      <a:cubicBezTo>
                        <a:pt x="93284" y="16403"/>
                        <a:pt x="117482" y="24944"/>
                        <a:pt x="142212" y="23812"/>
                      </a:cubicBezTo>
                      <a:cubicBezTo>
                        <a:pt x="149486" y="48558"/>
                        <a:pt x="146414" y="75195"/>
                        <a:pt x="133698" y="97635"/>
                      </a:cubicBezTo>
                      <a:cubicBezTo>
                        <a:pt x="120982" y="120075"/>
                        <a:pt x="99709" y="136399"/>
                        <a:pt x="74743" y="142875"/>
                      </a:cubicBezTo>
                      <a:cubicBezTo>
                        <a:pt x="49777" y="136399"/>
                        <a:pt x="28504" y="120075"/>
                        <a:pt x="15788" y="97635"/>
                      </a:cubicBezTo>
                      <a:cubicBezTo>
                        <a:pt x="3072" y="75195"/>
                        <a:pt x="0" y="48558"/>
                        <a:pt x="7274" y="23812"/>
                      </a:cubicBezTo>
                      <a:cubicBezTo>
                        <a:pt x="32004" y="24944"/>
                        <a:pt x="56202" y="16403"/>
                        <a:pt x="74743" y="0"/>
                      </a:cubicBezTo>
                    </a:path>
                  </a:pathLst>
                </a:custGeom>
                <a:noFill/>
                <a:ln w="15875">
                  <a:solidFill>
                    <a:srgbClr val="FFFFFF"/>
                  </a:solidFill>
                </a:ln>
              </p:spPr>
            </p:sp>
            <p:sp>
              <p:nvSpPr>
                <p:cNvPr id="233" name="Freeform 233"/>
                <p:cNvSpPr/>
                <p:nvPr/>
              </p:nvSpPr>
              <p:spPr>
                <a:xfrm>
                  <a:off x="10591800" y="6072187"/>
                  <a:ext cx="9525" cy="142875"/>
                </a:xfrm>
                <a:custGeom>
                  <a:avLst/>
                  <a:gdLst/>
                  <a:ahLst/>
                  <a:cxnLst/>
                  <a:rect l="l" t="t" r="r" b="b"/>
                  <a:pathLst>
                    <a:path w="9525" h="142875">
                      <a:moveTo>
                        <a:pt x="0" y="0"/>
                      </a:moveTo>
                      <a:lnTo>
                        <a:pt x="0" y="142875"/>
                      </a:lnTo>
                    </a:path>
                  </a:pathLst>
                </a:custGeom>
                <a:noFill/>
                <a:ln w="15875">
                  <a:solidFill>
                    <a:srgbClr val="FFFFFF"/>
                  </a:solidFill>
                </a:ln>
              </p:spPr>
            </p:sp>
          </p:grpSp>
          <p:sp>
            <p:nvSpPr>
              <p:cNvPr id="235" name="TextBox 235"/>
              <p:cNvSpPr txBox="1"/>
              <p:nvPr/>
            </p:nvSpPr>
            <p:spPr>
              <a:xfrm>
                <a:off x="10872788" y="6004322"/>
                <a:ext cx="515696"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投诉压降</a:t>
                </a:r>
              </a:p>
            </p:txBody>
          </p:sp>
          <p:sp>
            <p:nvSpPr>
              <p:cNvPr id="236" name="TextBox 236"/>
              <p:cNvSpPr txBox="1"/>
              <p:nvPr/>
            </p:nvSpPr>
            <p:spPr>
              <a:xfrm>
                <a:off x="10872788" y="6217682"/>
                <a:ext cx="784936"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衡量投诉量及投诉率</a:t>
                </a:r>
              </a:p>
            </p:txBody>
          </p:sp>
          <p:sp>
            <p:nvSpPr>
              <p:cNvPr id="237" name="TextBox 237"/>
              <p:cNvSpPr txBox="1"/>
              <p:nvPr/>
            </p:nvSpPr>
            <p:spPr>
              <a:xfrm>
                <a:off x="10872788" y="6351032"/>
                <a:ext cx="612623"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的持续下降情况</a:t>
                </a:r>
              </a:p>
            </p:txBody>
          </p:sp>
        </p:grpSp>
      </p:gr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42113" y="143351"/>
              <a:ext cx="18650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8</a:t>
              </a:r>
            </a:p>
          </p:txBody>
        </p:sp>
        <p:sp>
          <p:nvSpPr>
            <p:cNvPr id="4" name="TextBox 4"/>
            <p:cNvSpPr txBox="1"/>
            <p:nvPr/>
          </p:nvSpPr>
          <p:spPr>
            <a:xfrm>
              <a:off x="942594" y="151448"/>
              <a:ext cx="612190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财富管理头号工程：以</a:t>
              </a:r>
              <a:r>
                <a:rPr lang="zh-CN" sz="1950" b="1" dirty="0">
                  <a:solidFill>
                    <a:srgbClr val="B03A1F"/>
                  </a:solidFill>
                  <a:latin typeface="SimSun"/>
                  <a:ea typeface="SimSun"/>
                  <a:cs typeface="SimSun"/>
                </a:rPr>
                <a:t>专业投顾</a:t>
              </a:r>
              <a:r>
                <a:rPr lang="zh-CN" sz="1950" b="1" dirty="0">
                  <a:solidFill>
                    <a:srgbClr val="1A1A1A"/>
                  </a:solidFill>
                  <a:latin typeface="SimSun"/>
                  <a:ea typeface="SimSun"/>
                  <a:cs typeface="SimSun"/>
                </a:rPr>
                <a:t>驱动资产配置升级</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sp>
        <p:nvSpPr>
          <p:cNvPr id="7" name="deco-arc-left"/>
          <p:cNvSpPr/>
          <p:nvPr/>
        </p:nvSpPr>
        <p:spPr>
          <a:xfrm>
            <a:off x="571500" y="952500"/>
            <a:ext cx="1000125" cy="1428750"/>
          </a:xfrm>
          <a:custGeom>
            <a:avLst/>
            <a:gdLst/>
            <a:ahLst/>
            <a:cxnLst/>
            <a:rect l="l" t="t" r="r" b="b"/>
            <a:pathLst>
              <a:path w="1000125" h="1428750">
                <a:moveTo>
                  <a:pt x="333375" y="1428750"/>
                </a:moveTo>
                <a:cubicBezTo>
                  <a:pt x="0" y="952500"/>
                  <a:pt x="142875" y="285750"/>
                  <a:pt x="1000125" y="0"/>
                </a:cubicBezTo>
              </a:path>
            </a:pathLst>
          </a:custGeom>
          <a:noFill/>
          <a:ln w="23812">
            <a:solidFill>
              <a:srgbClr val="B03A1F"/>
            </a:solidFill>
            <a:tailEnd type="triangle" w="lg" len="lg"/>
          </a:ln>
        </p:spPr>
      </p:sp>
      <p:sp>
        <p:nvSpPr>
          <p:cNvPr id="8" name="deco-arc-right-top"/>
          <p:cNvSpPr/>
          <p:nvPr/>
        </p:nvSpPr>
        <p:spPr>
          <a:xfrm>
            <a:off x="10620375" y="1143000"/>
            <a:ext cx="1047750" cy="1571625"/>
          </a:xfrm>
          <a:custGeom>
            <a:avLst/>
            <a:gdLst/>
            <a:ahLst/>
            <a:cxnLst/>
            <a:rect l="l" t="t" r="r" b="b"/>
            <a:pathLst>
              <a:path w="1047750" h="1571625">
                <a:moveTo>
                  <a:pt x="0" y="0"/>
                </a:moveTo>
                <a:cubicBezTo>
                  <a:pt x="904875" y="285750"/>
                  <a:pt x="1047750" y="1047750"/>
                  <a:pt x="809625" y="1571625"/>
                </a:cubicBezTo>
              </a:path>
            </a:pathLst>
          </a:custGeom>
          <a:noFill/>
          <a:ln w="23812">
            <a:solidFill>
              <a:srgbClr val="B03A1F"/>
            </a:solidFill>
            <a:tailEnd type="triangle" w="lg" len="lg"/>
          </a:ln>
        </p:spPr>
      </p:sp>
      <p:sp>
        <p:nvSpPr>
          <p:cNvPr id="9" name="deco-arc-right-bottom"/>
          <p:cNvSpPr/>
          <p:nvPr/>
        </p:nvSpPr>
        <p:spPr>
          <a:xfrm>
            <a:off x="10001250" y="3333750"/>
            <a:ext cx="1714500" cy="2266950"/>
          </a:xfrm>
          <a:custGeom>
            <a:avLst/>
            <a:gdLst/>
            <a:ahLst/>
            <a:cxnLst/>
            <a:rect l="l" t="t" r="r" b="b"/>
            <a:pathLst>
              <a:path w="1714500" h="2266950">
                <a:moveTo>
                  <a:pt x="1428750" y="0"/>
                </a:moveTo>
                <a:cubicBezTo>
                  <a:pt x="1714500" y="666750"/>
                  <a:pt x="952500" y="2000250"/>
                  <a:pt x="0" y="2266950"/>
                </a:cubicBezTo>
              </a:path>
            </a:pathLst>
          </a:custGeom>
          <a:noFill/>
          <a:ln w="23812">
            <a:solidFill>
              <a:srgbClr val="B03A1F"/>
            </a:solidFill>
            <a:tailEnd type="triangle" w="lg" len="lg"/>
          </a:ln>
        </p:spPr>
      </p:sp>
      <p:sp>
        <p:nvSpPr>
          <p:cNvPr id="10" name="deco-arc-bottom-left"/>
          <p:cNvSpPr/>
          <p:nvPr/>
        </p:nvSpPr>
        <p:spPr>
          <a:xfrm>
            <a:off x="666750" y="3619500"/>
            <a:ext cx="952500" cy="2047875"/>
          </a:xfrm>
          <a:custGeom>
            <a:avLst/>
            <a:gdLst/>
            <a:ahLst/>
            <a:cxnLst/>
            <a:rect l="l" t="t" r="r" b="b"/>
            <a:pathLst>
              <a:path w="952500" h="2047875">
                <a:moveTo>
                  <a:pt x="952500" y="2047875"/>
                </a:moveTo>
                <a:cubicBezTo>
                  <a:pt x="190500" y="1809750"/>
                  <a:pt x="0" y="857250"/>
                  <a:pt x="95250" y="0"/>
                </a:cubicBezTo>
              </a:path>
            </a:pathLst>
          </a:custGeom>
          <a:noFill/>
          <a:ln w="23812">
            <a:solidFill>
              <a:srgbClr val="B03A1F"/>
            </a:solidFill>
            <a:tailEnd type="triangle" w="lg" len="lg"/>
          </a:ln>
        </p:spPr>
      </p:sp>
      <p:grpSp>
        <p:nvGrpSpPr>
          <p:cNvPr id="36" name="client-hub"/>
          <p:cNvGrpSpPr/>
          <p:nvPr/>
        </p:nvGrpSpPr>
        <p:grpSpPr>
          <a:xfrm>
            <a:off x="342900" y="2457450"/>
            <a:ext cx="990600" cy="2070020"/>
            <a:chOff x="342900" y="2457450"/>
            <a:chExt cx="990600" cy="2070020"/>
          </a:xfrm>
        </p:grpSpPr>
        <p:sp>
          <p:nvSpPr>
            <p:cNvPr id="11" name="Ellipse 11"/>
            <p:cNvSpPr/>
            <p:nvPr/>
          </p:nvSpPr>
          <p:spPr>
            <a:xfrm>
              <a:off x="342900" y="2457450"/>
              <a:ext cx="990600" cy="990600"/>
            </a:xfrm>
            <a:prstGeom prst="ellipse">
              <a:avLst/>
            </a:prstGeom>
            <a:solidFill>
              <a:srgbClr val="B03A1F"/>
            </a:solidFill>
            <a:ln>
              <a:noFill/>
            </a:ln>
          </p:spPr>
        </p:sp>
        <p:grpSp>
          <p:nvGrpSpPr>
            <p:cNvPr id="16" name="Group 16"/>
            <p:cNvGrpSpPr/>
            <p:nvPr/>
          </p:nvGrpSpPr>
          <p:grpSpPr>
            <a:xfrm>
              <a:off x="709612" y="2747962"/>
              <a:ext cx="257175" cy="257176"/>
              <a:chOff x="709612" y="2747962"/>
              <a:chExt cx="257175" cy="257176"/>
            </a:xfrm>
          </p:grpSpPr>
          <p:sp>
            <p:nvSpPr>
              <p:cNvPr id="12" name="Freeform 12"/>
              <p:cNvSpPr/>
              <p:nvPr/>
            </p:nvSpPr>
            <p:spPr>
              <a:xfrm>
                <a:off x="738188" y="27479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FFFFFF"/>
                </a:solidFill>
              </a:ln>
            </p:spPr>
          </p:sp>
          <p:sp>
            <p:nvSpPr>
              <p:cNvPr id="13" name="Freeform 13"/>
              <p:cNvSpPr/>
              <p:nvPr/>
            </p:nvSpPr>
            <p:spPr>
              <a:xfrm>
                <a:off x="709612" y="291941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FFFFFF"/>
                </a:solidFill>
              </a:ln>
            </p:spPr>
          </p:sp>
          <p:sp>
            <p:nvSpPr>
              <p:cNvPr id="14" name="Freeform 14"/>
              <p:cNvSpPr/>
              <p:nvPr/>
            </p:nvSpPr>
            <p:spPr>
              <a:xfrm>
                <a:off x="895350" y="274982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FFFFFF"/>
                </a:solidFill>
              </a:ln>
            </p:spPr>
          </p:sp>
          <p:sp>
            <p:nvSpPr>
              <p:cNvPr id="15" name="Freeform 15"/>
              <p:cNvSpPr/>
              <p:nvPr/>
            </p:nvSpPr>
            <p:spPr>
              <a:xfrm>
                <a:off x="923925" y="292155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FFFFFF"/>
                </a:solidFill>
              </a:ln>
            </p:spPr>
          </p:sp>
        </p:grpSp>
        <p:sp>
          <p:nvSpPr>
            <p:cNvPr id="17" name="TextBox 17"/>
            <p:cNvSpPr txBox="1"/>
            <p:nvPr/>
          </p:nvSpPr>
          <p:spPr>
            <a:xfrm>
              <a:off x="681711" y="31361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客户</a:t>
              </a:r>
            </a:p>
          </p:txBody>
        </p:sp>
        <p:grpSp>
          <p:nvGrpSpPr>
            <p:cNvPr id="23" name="Group 23"/>
            <p:cNvGrpSpPr/>
            <p:nvPr/>
          </p:nvGrpSpPr>
          <p:grpSpPr>
            <a:xfrm>
              <a:off x="374650" y="3752850"/>
              <a:ext cx="88900" cy="114300"/>
              <a:chOff x="374650" y="3752850"/>
              <a:chExt cx="88900" cy="114300"/>
            </a:xfrm>
          </p:grpSpPr>
          <p:sp>
            <p:nvSpPr>
              <p:cNvPr id="18" name="Freeform 18"/>
              <p:cNvSpPr/>
              <p:nvPr/>
            </p:nvSpPr>
            <p:spPr>
              <a:xfrm>
                <a:off x="431800" y="37528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B03A1F"/>
                </a:solidFill>
              </a:ln>
            </p:spPr>
          </p:sp>
          <p:sp>
            <p:nvSpPr>
              <p:cNvPr id="19" name="Freeform 19"/>
              <p:cNvSpPr/>
              <p:nvPr/>
            </p:nvSpPr>
            <p:spPr>
              <a:xfrm>
                <a:off x="374650" y="37528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B03A1F"/>
                </a:solidFill>
              </a:ln>
            </p:spPr>
          </p:sp>
          <p:sp>
            <p:nvSpPr>
              <p:cNvPr id="20" name="Freeform 20"/>
              <p:cNvSpPr/>
              <p:nvPr/>
            </p:nvSpPr>
            <p:spPr>
              <a:xfrm>
                <a:off x="400050" y="3790950"/>
                <a:ext cx="9525" cy="9525"/>
              </a:xfrm>
              <a:custGeom>
                <a:avLst/>
                <a:gdLst/>
                <a:ahLst/>
                <a:cxnLst/>
                <a:rect l="l" t="t" r="r" b="b"/>
                <a:pathLst>
                  <a:path w="9525" h="9525">
                    <a:moveTo>
                      <a:pt x="0" y="0"/>
                    </a:moveTo>
                    <a:lnTo>
                      <a:pt x="6350" y="0"/>
                    </a:lnTo>
                  </a:path>
                </a:pathLst>
              </a:custGeom>
              <a:noFill/>
              <a:ln w="12700">
                <a:solidFill>
                  <a:srgbClr val="B03A1F"/>
                </a:solidFill>
              </a:ln>
            </p:spPr>
          </p:sp>
          <p:sp>
            <p:nvSpPr>
              <p:cNvPr id="21" name="Freeform 21"/>
              <p:cNvSpPr/>
              <p:nvPr/>
            </p:nvSpPr>
            <p:spPr>
              <a:xfrm>
                <a:off x="400050" y="3816350"/>
                <a:ext cx="38100" cy="9525"/>
              </a:xfrm>
              <a:custGeom>
                <a:avLst/>
                <a:gdLst/>
                <a:ahLst/>
                <a:cxnLst/>
                <a:rect l="l" t="t" r="r" b="b"/>
                <a:pathLst>
                  <a:path w="38100" h="9525">
                    <a:moveTo>
                      <a:pt x="0" y="0"/>
                    </a:moveTo>
                    <a:lnTo>
                      <a:pt x="38100" y="0"/>
                    </a:lnTo>
                  </a:path>
                </a:pathLst>
              </a:custGeom>
              <a:noFill/>
              <a:ln w="12700">
                <a:solidFill>
                  <a:srgbClr val="B03A1F"/>
                </a:solidFill>
              </a:ln>
            </p:spPr>
          </p:sp>
          <p:sp>
            <p:nvSpPr>
              <p:cNvPr id="22" name="Freeform 22"/>
              <p:cNvSpPr/>
              <p:nvPr/>
            </p:nvSpPr>
            <p:spPr>
              <a:xfrm>
                <a:off x="400050" y="3841750"/>
                <a:ext cx="38100" cy="9525"/>
              </a:xfrm>
              <a:custGeom>
                <a:avLst/>
                <a:gdLst/>
                <a:ahLst/>
                <a:cxnLst/>
                <a:rect l="l" t="t" r="r" b="b"/>
                <a:pathLst>
                  <a:path w="38100" h="9525">
                    <a:moveTo>
                      <a:pt x="0" y="0"/>
                    </a:moveTo>
                    <a:lnTo>
                      <a:pt x="38100" y="0"/>
                    </a:lnTo>
                  </a:path>
                </a:pathLst>
              </a:custGeom>
              <a:noFill/>
              <a:ln w="12700">
                <a:solidFill>
                  <a:srgbClr val="B03A1F"/>
                </a:solidFill>
              </a:ln>
            </p:spPr>
          </p:sp>
        </p:grpSp>
        <p:sp>
          <p:nvSpPr>
            <p:cNvPr id="24" name="TextBox 24"/>
            <p:cNvSpPr txBox="1"/>
            <p:nvPr/>
          </p:nvSpPr>
          <p:spPr>
            <a:xfrm>
              <a:off x="547688" y="3763089"/>
              <a:ext cx="64762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客户需求洞察</a:t>
              </a:r>
            </a:p>
          </p:txBody>
        </p:sp>
        <p:grpSp>
          <p:nvGrpSpPr>
            <p:cNvPr id="27" name="Group 27"/>
            <p:cNvGrpSpPr/>
            <p:nvPr/>
          </p:nvGrpSpPr>
          <p:grpSpPr>
            <a:xfrm>
              <a:off x="359306" y="4057650"/>
              <a:ext cx="119589" cy="114300"/>
              <a:chOff x="359306" y="4057650"/>
              <a:chExt cx="119589" cy="114300"/>
            </a:xfrm>
          </p:grpSpPr>
          <p:sp>
            <p:nvSpPr>
              <p:cNvPr id="25" name="Freeform 25"/>
              <p:cNvSpPr/>
              <p:nvPr/>
            </p:nvSpPr>
            <p:spPr>
              <a:xfrm>
                <a:off x="359306" y="4057650"/>
                <a:ext cx="119589" cy="114300"/>
              </a:xfrm>
              <a:custGeom>
                <a:avLst/>
                <a:gdLst/>
                <a:ahLst/>
                <a:cxnLst/>
                <a:rect l="l" t="t" r="r" b="b"/>
                <a:pathLst>
                  <a:path w="119589" h="114300">
                    <a:moveTo>
                      <a:pt x="59794" y="0"/>
                    </a:moveTo>
                    <a:cubicBezTo>
                      <a:pt x="74627" y="13123"/>
                      <a:pt x="93986" y="19955"/>
                      <a:pt x="113769" y="19050"/>
                    </a:cubicBezTo>
                    <a:cubicBezTo>
                      <a:pt x="119589" y="38846"/>
                      <a:pt x="117131" y="60156"/>
                      <a:pt x="106958" y="78108"/>
                    </a:cubicBezTo>
                    <a:cubicBezTo>
                      <a:pt x="96786" y="96060"/>
                      <a:pt x="79767" y="109119"/>
                      <a:pt x="59794" y="114300"/>
                    </a:cubicBezTo>
                    <a:cubicBezTo>
                      <a:pt x="39821" y="109119"/>
                      <a:pt x="22803" y="96060"/>
                      <a:pt x="12630" y="78108"/>
                    </a:cubicBezTo>
                    <a:cubicBezTo>
                      <a:pt x="2458" y="60156"/>
                      <a:pt x="0" y="38846"/>
                      <a:pt x="5819" y="19050"/>
                    </a:cubicBezTo>
                    <a:cubicBezTo>
                      <a:pt x="25603" y="19955"/>
                      <a:pt x="44962" y="13123"/>
                      <a:pt x="59794" y="0"/>
                    </a:cubicBezTo>
                  </a:path>
                </a:pathLst>
              </a:custGeom>
              <a:noFill/>
              <a:ln w="12700">
                <a:solidFill>
                  <a:srgbClr val="B03A1F"/>
                </a:solidFill>
              </a:ln>
            </p:spPr>
          </p:sp>
          <p:sp>
            <p:nvSpPr>
              <p:cNvPr id="26" name="Freeform 26"/>
              <p:cNvSpPr/>
              <p:nvPr/>
            </p:nvSpPr>
            <p:spPr>
              <a:xfrm>
                <a:off x="419100" y="4057650"/>
                <a:ext cx="9525" cy="114300"/>
              </a:xfrm>
              <a:custGeom>
                <a:avLst/>
                <a:gdLst/>
                <a:ahLst/>
                <a:cxnLst/>
                <a:rect l="l" t="t" r="r" b="b"/>
                <a:pathLst>
                  <a:path w="9525" h="114300">
                    <a:moveTo>
                      <a:pt x="0" y="0"/>
                    </a:moveTo>
                    <a:lnTo>
                      <a:pt x="0" y="114300"/>
                    </a:lnTo>
                  </a:path>
                </a:pathLst>
              </a:custGeom>
              <a:noFill/>
              <a:ln w="12700">
                <a:solidFill>
                  <a:srgbClr val="B03A1F"/>
                </a:solidFill>
              </a:ln>
            </p:spPr>
          </p:sp>
        </p:grpSp>
        <p:sp>
          <p:nvSpPr>
            <p:cNvPr id="28" name="TextBox 28"/>
            <p:cNvSpPr txBox="1"/>
            <p:nvPr/>
          </p:nvSpPr>
          <p:spPr>
            <a:xfrm>
              <a:off x="547688" y="4067889"/>
              <a:ext cx="64762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风险偏好评估</a:t>
              </a:r>
            </a:p>
          </p:txBody>
        </p:sp>
        <p:grpSp>
          <p:nvGrpSpPr>
            <p:cNvPr id="34" name="Group 34"/>
            <p:cNvGrpSpPr/>
            <p:nvPr/>
          </p:nvGrpSpPr>
          <p:grpSpPr>
            <a:xfrm>
              <a:off x="361950" y="4361599"/>
              <a:ext cx="114300" cy="115151"/>
              <a:chOff x="361950" y="4361599"/>
              <a:chExt cx="114300" cy="115151"/>
            </a:xfrm>
          </p:grpSpPr>
          <p:sp>
            <p:nvSpPr>
              <p:cNvPr id="29" name="Freeform 29"/>
              <p:cNvSpPr/>
              <p:nvPr/>
            </p:nvSpPr>
            <p:spPr>
              <a:xfrm>
                <a:off x="400050" y="441325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B03A1F"/>
                </a:solidFill>
              </a:ln>
            </p:spPr>
          </p:sp>
          <p:sp>
            <p:nvSpPr>
              <p:cNvPr id="30" name="Freeform 30"/>
              <p:cNvSpPr/>
              <p:nvPr/>
            </p:nvSpPr>
            <p:spPr>
              <a:xfrm>
                <a:off x="400050" y="443230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B03A1F"/>
                </a:solidFill>
              </a:ln>
            </p:spPr>
          </p:sp>
          <p:sp>
            <p:nvSpPr>
              <p:cNvPr id="31" name="Freeform 31"/>
              <p:cNvSpPr/>
              <p:nvPr/>
            </p:nvSpPr>
            <p:spPr>
              <a:xfrm>
                <a:off x="361950" y="436159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B03A1F"/>
                </a:solidFill>
              </a:ln>
            </p:spPr>
          </p:sp>
          <p:sp>
            <p:nvSpPr>
              <p:cNvPr id="32" name="Freeform 32"/>
              <p:cNvSpPr/>
              <p:nvPr/>
            </p:nvSpPr>
            <p:spPr>
              <a:xfrm>
                <a:off x="361950" y="438150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B03A1F"/>
                </a:solidFill>
              </a:ln>
            </p:spPr>
          </p:sp>
          <p:sp>
            <p:nvSpPr>
              <p:cNvPr id="33" name="Freeform 33"/>
              <p:cNvSpPr/>
              <p:nvPr/>
            </p:nvSpPr>
            <p:spPr>
              <a:xfrm>
                <a:off x="361950" y="4413250"/>
                <a:ext cx="12700" cy="12700"/>
              </a:xfrm>
              <a:custGeom>
                <a:avLst/>
                <a:gdLst/>
                <a:ahLst/>
                <a:cxnLst/>
                <a:rect l="l" t="t" r="r" b="b"/>
                <a:pathLst>
                  <a:path w="12700" h="12700">
                    <a:moveTo>
                      <a:pt x="0" y="0"/>
                    </a:moveTo>
                    <a:cubicBezTo>
                      <a:pt x="0" y="5639"/>
                      <a:pt x="4902" y="9208"/>
                      <a:pt x="12700" y="12700"/>
                    </a:cubicBezTo>
                  </a:path>
                </a:pathLst>
              </a:custGeom>
              <a:noFill/>
              <a:ln w="12700">
                <a:solidFill>
                  <a:srgbClr val="B03A1F"/>
                </a:solidFill>
              </a:ln>
            </p:spPr>
          </p:sp>
        </p:grpSp>
        <p:sp>
          <p:nvSpPr>
            <p:cNvPr id="35" name="TextBox 35"/>
            <p:cNvSpPr txBox="1"/>
            <p:nvPr/>
          </p:nvSpPr>
          <p:spPr>
            <a:xfrm>
              <a:off x="547688" y="4372689"/>
              <a:ext cx="64762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财务目标规划</a:t>
              </a:r>
            </a:p>
          </p:txBody>
        </p:sp>
      </p:grpSp>
      <p:grpSp>
        <p:nvGrpSpPr>
          <p:cNvPr id="58" name="review-hub"/>
          <p:cNvGrpSpPr/>
          <p:nvPr/>
        </p:nvGrpSpPr>
        <p:grpSpPr>
          <a:xfrm>
            <a:off x="10858500" y="2457450"/>
            <a:ext cx="990600" cy="2070020"/>
            <a:chOff x="10858500" y="2457450"/>
            <a:chExt cx="990600" cy="2070020"/>
          </a:xfrm>
        </p:grpSpPr>
        <p:sp>
          <p:nvSpPr>
            <p:cNvPr id="37" name="Ellipse 37"/>
            <p:cNvSpPr/>
            <p:nvPr/>
          </p:nvSpPr>
          <p:spPr>
            <a:xfrm>
              <a:off x="10858500" y="2457450"/>
              <a:ext cx="990600" cy="990600"/>
            </a:xfrm>
            <a:prstGeom prst="ellipse">
              <a:avLst/>
            </a:prstGeom>
            <a:solidFill>
              <a:srgbClr val="1E1E1E"/>
            </a:solidFill>
            <a:ln>
              <a:noFill/>
            </a:ln>
          </p:spPr>
        </p:sp>
        <p:grpSp>
          <p:nvGrpSpPr>
            <p:cNvPr id="40" name="Group 40"/>
            <p:cNvGrpSpPr/>
            <p:nvPr/>
          </p:nvGrpSpPr>
          <p:grpSpPr>
            <a:xfrm>
              <a:off x="11239500" y="2790825"/>
              <a:ext cx="228600" cy="195262"/>
              <a:chOff x="11239500" y="2790825"/>
              <a:chExt cx="228600" cy="195262"/>
            </a:xfrm>
          </p:grpSpPr>
          <p:sp>
            <p:nvSpPr>
              <p:cNvPr id="38" name="Freeform 38"/>
              <p:cNvSpPr/>
              <p:nvPr/>
            </p:nvSpPr>
            <p:spPr>
              <a:xfrm>
                <a:off x="11239500" y="2976562"/>
                <a:ext cx="228600" cy="9525"/>
              </a:xfrm>
              <a:custGeom>
                <a:avLst/>
                <a:gdLst/>
                <a:ahLst/>
                <a:cxnLst/>
                <a:rect l="l" t="t" r="r" b="b"/>
                <a:pathLst>
                  <a:path w="228600" h="9525">
                    <a:moveTo>
                      <a:pt x="0" y="0"/>
                    </a:moveTo>
                    <a:lnTo>
                      <a:pt x="228600" y="0"/>
                    </a:lnTo>
                  </a:path>
                </a:pathLst>
              </a:custGeom>
              <a:noFill/>
              <a:ln w="28575">
                <a:solidFill>
                  <a:srgbClr val="FFFFFF"/>
                </a:solidFill>
              </a:ln>
            </p:spPr>
          </p:sp>
          <p:sp>
            <p:nvSpPr>
              <p:cNvPr id="39" name="Freeform 39"/>
              <p:cNvSpPr/>
              <p:nvPr/>
            </p:nvSpPr>
            <p:spPr>
              <a:xfrm>
                <a:off x="11239500" y="2790825"/>
                <a:ext cx="228600" cy="128588"/>
              </a:xfrm>
              <a:custGeom>
                <a:avLst/>
                <a:gdLst/>
                <a:ahLst/>
                <a:cxnLst/>
                <a:rect l="l" t="t" r="r" b="b"/>
                <a:pathLst>
                  <a:path w="228600" h="128588">
                    <a:moveTo>
                      <a:pt x="0" y="128588"/>
                    </a:moveTo>
                    <a:lnTo>
                      <a:pt x="57150" y="42862"/>
                    </a:lnTo>
                    <a:lnTo>
                      <a:pt x="114300" y="71438"/>
                    </a:lnTo>
                    <a:lnTo>
                      <a:pt x="171450" y="0"/>
                    </a:lnTo>
                    <a:lnTo>
                      <a:pt x="228600" y="57150"/>
                    </a:lnTo>
                  </a:path>
                </a:pathLst>
              </a:custGeom>
              <a:noFill/>
              <a:ln w="28575">
                <a:solidFill>
                  <a:srgbClr val="FFFFFF"/>
                </a:solidFill>
              </a:ln>
            </p:spPr>
          </p:sp>
        </p:grpSp>
        <p:sp>
          <p:nvSpPr>
            <p:cNvPr id="41" name="TextBox 41"/>
            <p:cNvSpPr txBox="1"/>
            <p:nvPr/>
          </p:nvSpPr>
          <p:spPr>
            <a:xfrm>
              <a:off x="11046536" y="313610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定期复盘</a:t>
              </a:r>
            </a:p>
          </p:txBody>
        </p:sp>
        <p:grpSp>
          <p:nvGrpSpPr>
            <p:cNvPr id="46" name="Group 46"/>
            <p:cNvGrpSpPr/>
            <p:nvPr/>
          </p:nvGrpSpPr>
          <p:grpSpPr>
            <a:xfrm>
              <a:off x="10877550" y="3759200"/>
              <a:ext cx="114300" cy="111125"/>
              <a:chOff x="10877550" y="3759200"/>
              <a:chExt cx="114300" cy="111125"/>
            </a:xfrm>
          </p:grpSpPr>
          <p:sp>
            <p:nvSpPr>
              <p:cNvPr id="42" name="Freeform 42"/>
              <p:cNvSpPr/>
              <p:nvPr/>
            </p:nvSpPr>
            <p:spPr>
              <a:xfrm>
                <a:off x="10877550" y="38100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B03A1F"/>
                </a:solidFill>
              </a:ln>
            </p:spPr>
          </p:sp>
          <p:sp>
            <p:nvSpPr>
              <p:cNvPr id="43" name="Freeform 43"/>
              <p:cNvSpPr/>
              <p:nvPr/>
            </p:nvSpPr>
            <p:spPr>
              <a:xfrm>
                <a:off x="10953750" y="37846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B03A1F"/>
                </a:solidFill>
              </a:ln>
            </p:spPr>
          </p:sp>
          <p:sp>
            <p:nvSpPr>
              <p:cNvPr id="44" name="Freeform 44"/>
              <p:cNvSpPr/>
              <p:nvPr/>
            </p:nvSpPr>
            <p:spPr>
              <a:xfrm>
                <a:off x="10915650" y="37592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B03A1F"/>
                </a:solidFill>
              </a:ln>
            </p:spPr>
          </p:sp>
          <p:sp>
            <p:nvSpPr>
              <p:cNvPr id="45" name="Freeform 45"/>
              <p:cNvSpPr/>
              <p:nvPr/>
            </p:nvSpPr>
            <p:spPr>
              <a:xfrm>
                <a:off x="10883900" y="3860800"/>
                <a:ext cx="88900" cy="9525"/>
              </a:xfrm>
              <a:custGeom>
                <a:avLst/>
                <a:gdLst/>
                <a:ahLst/>
                <a:cxnLst/>
                <a:rect l="l" t="t" r="r" b="b"/>
                <a:pathLst>
                  <a:path w="88900" h="9525">
                    <a:moveTo>
                      <a:pt x="0" y="0"/>
                    </a:moveTo>
                    <a:lnTo>
                      <a:pt x="88900" y="0"/>
                    </a:lnTo>
                  </a:path>
                </a:pathLst>
              </a:custGeom>
              <a:noFill/>
              <a:ln w="12700">
                <a:solidFill>
                  <a:srgbClr val="B03A1F"/>
                </a:solidFill>
              </a:ln>
            </p:spPr>
          </p:sp>
        </p:grpSp>
        <p:sp>
          <p:nvSpPr>
            <p:cNvPr id="47" name="TextBox 47"/>
            <p:cNvSpPr txBox="1"/>
            <p:nvPr/>
          </p:nvSpPr>
          <p:spPr>
            <a:xfrm>
              <a:off x="11063288" y="3763089"/>
              <a:ext cx="64762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组合表现分析</a:t>
              </a:r>
            </a:p>
          </p:txBody>
        </p:sp>
        <p:grpSp>
          <p:nvGrpSpPr>
            <p:cNvPr id="52" name="Group 52"/>
            <p:cNvGrpSpPr/>
            <p:nvPr/>
          </p:nvGrpSpPr>
          <p:grpSpPr>
            <a:xfrm>
              <a:off x="10890250" y="4064000"/>
              <a:ext cx="95250" cy="107950"/>
              <a:chOff x="10890250" y="4064000"/>
              <a:chExt cx="95250" cy="107950"/>
            </a:xfrm>
          </p:grpSpPr>
          <p:sp>
            <p:nvSpPr>
              <p:cNvPr id="48" name="Freeform 48"/>
              <p:cNvSpPr/>
              <p:nvPr/>
            </p:nvSpPr>
            <p:spPr>
              <a:xfrm>
                <a:off x="10890250" y="406400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B03A1F"/>
                </a:solidFill>
              </a:ln>
            </p:spPr>
          </p:sp>
          <p:sp>
            <p:nvSpPr>
              <p:cNvPr id="49" name="Freeform 49"/>
              <p:cNvSpPr/>
              <p:nvPr/>
            </p:nvSpPr>
            <p:spPr>
              <a:xfrm>
                <a:off x="10947400" y="4146550"/>
                <a:ext cx="38100" cy="25400"/>
              </a:xfrm>
              <a:custGeom>
                <a:avLst/>
                <a:gdLst/>
                <a:ahLst/>
                <a:cxnLst/>
                <a:rect l="l" t="t" r="r" b="b"/>
                <a:pathLst>
                  <a:path w="38100" h="25400">
                    <a:moveTo>
                      <a:pt x="0" y="12700"/>
                    </a:moveTo>
                    <a:lnTo>
                      <a:pt x="12700" y="25400"/>
                    </a:lnTo>
                    <a:lnTo>
                      <a:pt x="38100" y="0"/>
                    </a:lnTo>
                  </a:path>
                </a:pathLst>
              </a:custGeom>
              <a:noFill/>
              <a:ln w="12700">
                <a:solidFill>
                  <a:srgbClr val="B03A1F"/>
                </a:solidFill>
              </a:ln>
            </p:spPr>
          </p:sp>
          <p:sp>
            <p:nvSpPr>
              <p:cNvPr id="50" name="Freeform 50"/>
              <p:cNvSpPr/>
              <p:nvPr/>
            </p:nvSpPr>
            <p:spPr>
              <a:xfrm>
                <a:off x="10915650" y="4089400"/>
                <a:ext cx="25400" cy="9525"/>
              </a:xfrm>
              <a:custGeom>
                <a:avLst/>
                <a:gdLst/>
                <a:ahLst/>
                <a:cxnLst/>
                <a:rect l="l" t="t" r="r" b="b"/>
                <a:pathLst>
                  <a:path w="25400" h="9525">
                    <a:moveTo>
                      <a:pt x="0" y="0"/>
                    </a:moveTo>
                    <a:lnTo>
                      <a:pt x="25400" y="0"/>
                    </a:lnTo>
                  </a:path>
                </a:pathLst>
              </a:custGeom>
              <a:noFill/>
              <a:ln w="12700">
                <a:solidFill>
                  <a:srgbClr val="B03A1F"/>
                </a:solidFill>
              </a:ln>
            </p:spPr>
          </p:sp>
          <p:sp>
            <p:nvSpPr>
              <p:cNvPr id="51" name="Freeform 51"/>
              <p:cNvSpPr/>
              <p:nvPr/>
            </p:nvSpPr>
            <p:spPr>
              <a:xfrm>
                <a:off x="10915650" y="4114800"/>
                <a:ext cx="12700" cy="9525"/>
              </a:xfrm>
              <a:custGeom>
                <a:avLst/>
                <a:gdLst/>
                <a:ahLst/>
                <a:cxnLst/>
                <a:rect l="l" t="t" r="r" b="b"/>
                <a:pathLst>
                  <a:path w="12700" h="9525">
                    <a:moveTo>
                      <a:pt x="0" y="0"/>
                    </a:moveTo>
                    <a:lnTo>
                      <a:pt x="12700" y="0"/>
                    </a:lnTo>
                  </a:path>
                </a:pathLst>
              </a:custGeom>
              <a:noFill/>
              <a:ln w="12700">
                <a:solidFill>
                  <a:srgbClr val="B03A1F"/>
                </a:solidFill>
              </a:ln>
            </p:spPr>
          </p:sp>
        </p:grpSp>
        <p:sp>
          <p:nvSpPr>
            <p:cNvPr id="53" name="TextBox 53"/>
            <p:cNvSpPr txBox="1"/>
            <p:nvPr/>
          </p:nvSpPr>
          <p:spPr>
            <a:xfrm>
              <a:off x="11063288" y="4067889"/>
              <a:ext cx="75397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策略有效性评估</a:t>
              </a:r>
            </a:p>
          </p:txBody>
        </p:sp>
        <p:grpSp>
          <p:nvGrpSpPr>
            <p:cNvPr id="56" name="Group 56"/>
            <p:cNvGrpSpPr/>
            <p:nvPr/>
          </p:nvGrpSpPr>
          <p:grpSpPr>
            <a:xfrm>
              <a:off x="10883900" y="4366350"/>
              <a:ext cx="101600" cy="106500"/>
              <a:chOff x="10883900" y="4366350"/>
              <a:chExt cx="101600" cy="106500"/>
            </a:xfrm>
          </p:grpSpPr>
          <p:sp>
            <p:nvSpPr>
              <p:cNvPr id="54" name="Freeform 54"/>
              <p:cNvSpPr/>
              <p:nvPr/>
            </p:nvSpPr>
            <p:spPr>
              <a:xfrm>
                <a:off x="10883900" y="436635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B03A1F"/>
                </a:solidFill>
              </a:ln>
            </p:spPr>
          </p:sp>
          <p:sp>
            <p:nvSpPr>
              <p:cNvPr id="55" name="Freeform 55"/>
              <p:cNvSpPr/>
              <p:nvPr/>
            </p:nvSpPr>
            <p:spPr>
              <a:xfrm>
                <a:off x="10883900" y="442595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B03A1F"/>
                </a:solidFill>
              </a:ln>
            </p:spPr>
          </p:sp>
        </p:grpSp>
        <p:sp>
          <p:nvSpPr>
            <p:cNvPr id="57" name="TextBox 57"/>
            <p:cNvSpPr txBox="1"/>
            <p:nvPr/>
          </p:nvSpPr>
          <p:spPr>
            <a:xfrm>
              <a:off x="11063288" y="4372689"/>
              <a:ext cx="64762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优化调整建议</a:t>
              </a:r>
            </a:p>
          </p:txBody>
        </p:sp>
      </p:grpSp>
      <p:grpSp>
        <p:nvGrpSpPr>
          <p:cNvPr id="101" name="band-shelf"/>
          <p:cNvGrpSpPr/>
          <p:nvPr/>
        </p:nvGrpSpPr>
        <p:grpSpPr>
          <a:xfrm>
            <a:off x="1571625" y="809625"/>
            <a:ext cx="9048750" cy="1543051"/>
            <a:chOff x="1571625" y="809625"/>
            <a:chExt cx="9048750" cy="1543051"/>
          </a:xfrm>
        </p:grpSpPr>
        <p:sp>
          <p:nvSpPr>
            <p:cNvPr id="59" name="Rectangle 59"/>
            <p:cNvSpPr/>
            <p:nvPr/>
          </p:nvSpPr>
          <p:spPr>
            <a:xfrm>
              <a:off x="1571625" y="809625"/>
              <a:ext cx="9048750" cy="1524000"/>
            </a:xfrm>
            <a:prstGeom prst="roundRect">
              <a:avLst>
                <a:gd name="adj" fmla="val 5000"/>
              </a:avLst>
            </a:prstGeom>
            <a:solidFill>
              <a:srgbClr val="FFFFFF"/>
            </a:solidFill>
            <a:ln w="9525">
              <a:solidFill>
                <a:srgbClr val="E8E4E0"/>
              </a:solidFill>
            </a:ln>
          </p:spPr>
        </p:sp>
        <p:sp>
          <p:nvSpPr>
            <p:cNvPr id="60" name="Rectangle 60"/>
            <p:cNvSpPr/>
            <p:nvPr/>
          </p:nvSpPr>
          <p:spPr>
            <a:xfrm>
              <a:off x="1571625" y="809625"/>
              <a:ext cx="5905500" cy="342900"/>
            </a:xfrm>
            <a:prstGeom prst="roundRect">
              <a:avLst>
                <a:gd name="adj" fmla="val 22222"/>
              </a:avLst>
            </a:prstGeom>
            <a:solidFill>
              <a:srgbClr val="B03A1F"/>
            </a:solidFill>
            <a:ln>
              <a:noFill/>
            </a:ln>
          </p:spPr>
        </p:sp>
        <p:sp>
          <p:nvSpPr>
            <p:cNvPr id="61" name="Rectangle 61"/>
            <p:cNvSpPr/>
            <p:nvPr/>
          </p:nvSpPr>
          <p:spPr>
            <a:xfrm>
              <a:off x="6096000" y="809625"/>
              <a:ext cx="4524375" cy="342900"/>
            </a:xfrm>
            <a:prstGeom prst="rect">
              <a:avLst/>
            </a:prstGeom>
            <a:solidFill>
              <a:srgbClr val="B03A1F"/>
            </a:solidFill>
            <a:ln>
              <a:noFill/>
            </a:ln>
          </p:spPr>
        </p:sp>
        <p:sp>
          <p:nvSpPr>
            <p:cNvPr id="62" name="TextBox 62"/>
            <p:cNvSpPr txBox="1"/>
            <p:nvPr/>
          </p:nvSpPr>
          <p:spPr>
            <a:xfrm>
              <a:off x="2327910" y="916781"/>
              <a:ext cx="101031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1 产品货架2.0</a:t>
              </a:r>
            </a:p>
          </p:txBody>
        </p:sp>
        <p:grpSp>
          <p:nvGrpSpPr>
            <p:cNvPr id="72" name="shelf-market"/>
            <p:cNvGrpSpPr/>
            <p:nvPr/>
          </p:nvGrpSpPr>
          <p:grpSpPr>
            <a:xfrm>
              <a:off x="1838325" y="1409700"/>
              <a:ext cx="1456373" cy="523876"/>
              <a:chOff x="1838325" y="1409700"/>
              <a:chExt cx="1456373" cy="523876"/>
            </a:xfrm>
          </p:grpSpPr>
          <p:sp>
            <p:nvSpPr>
              <p:cNvPr id="63" name="Ellipse 63"/>
              <p:cNvSpPr/>
              <p:nvPr/>
            </p:nvSpPr>
            <p:spPr>
              <a:xfrm>
                <a:off x="1838325" y="1409700"/>
                <a:ext cx="419100" cy="419100"/>
              </a:xfrm>
              <a:prstGeom prst="ellipse">
                <a:avLst/>
              </a:prstGeom>
              <a:solidFill>
                <a:srgbClr val="B03A1F"/>
              </a:solidFill>
              <a:ln>
                <a:noFill/>
              </a:ln>
            </p:spPr>
          </p:sp>
          <p:grpSp>
            <p:nvGrpSpPr>
              <p:cNvPr id="68" name="Group 68"/>
              <p:cNvGrpSpPr/>
              <p:nvPr/>
            </p:nvGrpSpPr>
            <p:grpSpPr>
              <a:xfrm>
                <a:off x="1993305" y="1531938"/>
                <a:ext cx="117400" cy="175418"/>
                <a:chOff x="1993305" y="1531938"/>
                <a:chExt cx="117400" cy="175418"/>
              </a:xfrm>
            </p:grpSpPr>
            <p:sp>
              <p:nvSpPr>
                <p:cNvPr id="64" name="Freeform 64"/>
                <p:cNvSpPr/>
                <p:nvPr/>
              </p:nvSpPr>
              <p:spPr>
                <a:xfrm>
                  <a:off x="2004219" y="1558131"/>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65" name="Freeform 65"/>
                <p:cNvSpPr/>
                <p:nvPr/>
              </p:nvSpPr>
              <p:spPr>
                <a:xfrm>
                  <a:off x="1993305" y="1531938"/>
                  <a:ext cx="117400" cy="135506"/>
                </a:xfrm>
                <a:custGeom>
                  <a:avLst/>
                  <a:gdLst/>
                  <a:ahLst/>
                  <a:cxnLst/>
                  <a:rect l="l" t="t" r="r" b="b"/>
                  <a:pathLst>
                    <a:path w="117400" h="135506">
                      <a:moveTo>
                        <a:pt x="0" y="113506"/>
                      </a:moveTo>
                      <a:cubicBezTo>
                        <a:pt x="20099" y="130964"/>
                        <a:pt x="48362" y="135506"/>
                        <a:pt x="72918" y="125224"/>
                      </a:cubicBezTo>
                      <a:cubicBezTo>
                        <a:pt x="97474" y="114943"/>
                        <a:pt x="114070" y="91619"/>
                        <a:pt x="115735" y="65049"/>
                      </a:cubicBezTo>
                      <a:cubicBezTo>
                        <a:pt x="117400" y="38479"/>
                        <a:pt x="103845" y="13266"/>
                        <a:pt x="80764" y="0"/>
                      </a:cubicBezTo>
                    </a:path>
                  </a:pathLst>
                </a:custGeom>
                <a:noFill/>
                <a:ln w="17463">
                  <a:solidFill>
                    <a:srgbClr val="FFFFFF"/>
                  </a:solidFill>
                </a:ln>
              </p:spPr>
            </p:sp>
            <p:sp>
              <p:nvSpPr>
                <p:cNvPr id="66" name="Freeform 66"/>
                <p:cNvSpPr/>
                <p:nvPr/>
              </p:nvSpPr>
              <p:spPr>
                <a:xfrm>
                  <a:off x="2039144" y="1662906"/>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67" name="Freeform 67"/>
                <p:cNvSpPr/>
                <p:nvPr/>
              </p:nvSpPr>
              <p:spPr>
                <a:xfrm>
                  <a:off x="2004219" y="1697831"/>
                  <a:ext cx="69850" cy="9525"/>
                </a:xfrm>
                <a:custGeom>
                  <a:avLst/>
                  <a:gdLst/>
                  <a:ahLst/>
                  <a:cxnLst/>
                  <a:rect l="l" t="t" r="r" b="b"/>
                  <a:pathLst>
                    <a:path w="69850" h="9525">
                      <a:moveTo>
                        <a:pt x="0" y="0"/>
                      </a:moveTo>
                      <a:lnTo>
                        <a:pt x="69850" y="0"/>
                      </a:lnTo>
                    </a:path>
                  </a:pathLst>
                </a:custGeom>
                <a:noFill/>
                <a:ln w="17463">
                  <a:solidFill>
                    <a:srgbClr val="FFFFFF"/>
                  </a:solidFill>
                </a:ln>
              </p:spPr>
            </p:sp>
          </p:grpSp>
          <p:sp>
            <p:nvSpPr>
              <p:cNvPr id="69" name="TextBox 69"/>
              <p:cNvSpPr txBox="1"/>
              <p:nvPr/>
            </p:nvSpPr>
            <p:spPr>
              <a:xfrm>
                <a:off x="2376488" y="1441847"/>
                <a:ext cx="642239"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全市场遴选</a:t>
                </a:r>
              </a:p>
            </p:txBody>
          </p:sp>
          <p:sp>
            <p:nvSpPr>
              <p:cNvPr id="70" name="TextBox 70"/>
              <p:cNvSpPr txBox="1"/>
              <p:nvPr/>
            </p:nvSpPr>
            <p:spPr>
              <a:xfrm>
                <a:off x="2376488" y="1633538"/>
                <a:ext cx="71628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覆盖境内外市场</a:t>
                </a:r>
              </a:p>
            </p:txBody>
          </p:sp>
          <p:sp>
            <p:nvSpPr>
              <p:cNvPr id="71" name="TextBox 71"/>
              <p:cNvSpPr txBox="1"/>
              <p:nvPr/>
            </p:nvSpPr>
            <p:spPr>
              <a:xfrm>
                <a:off x="2376488" y="1785938"/>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优中选优，严控准入</a:t>
                </a:r>
              </a:p>
            </p:txBody>
          </p:sp>
        </p:grpSp>
        <p:grpSp>
          <p:nvGrpSpPr>
            <p:cNvPr id="81" name="shelf-strategy"/>
            <p:cNvGrpSpPr/>
            <p:nvPr/>
          </p:nvGrpSpPr>
          <p:grpSpPr>
            <a:xfrm>
              <a:off x="4029075" y="1409700"/>
              <a:ext cx="1957388" cy="523876"/>
              <a:chOff x="4029075" y="1409700"/>
              <a:chExt cx="1957388" cy="523876"/>
            </a:xfrm>
          </p:grpSpPr>
          <p:sp>
            <p:nvSpPr>
              <p:cNvPr id="73" name="Ellipse 73"/>
              <p:cNvSpPr/>
              <p:nvPr/>
            </p:nvSpPr>
            <p:spPr>
              <a:xfrm>
                <a:off x="4029075" y="1409700"/>
                <a:ext cx="419100" cy="419100"/>
              </a:xfrm>
              <a:prstGeom prst="ellipse">
                <a:avLst/>
              </a:prstGeom>
              <a:solidFill>
                <a:srgbClr val="B03A1F"/>
              </a:solidFill>
              <a:ln>
                <a:noFill/>
              </a:ln>
            </p:spPr>
          </p:sp>
          <p:grpSp>
            <p:nvGrpSpPr>
              <p:cNvPr id="77" name="Group 77"/>
              <p:cNvGrpSpPr/>
              <p:nvPr/>
            </p:nvGrpSpPr>
            <p:grpSpPr>
              <a:xfrm>
                <a:off x="4168775" y="1549400"/>
                <a:ext cx="139700" cy="139700"/>
                <a:chOff x="4168775" y="1549400"/>
                <a:chExt cx="139700" cy="139700"/>
              </a:xfrm>
            </p:grpSpPr>
            <p:sp>
              <p:nvSpPr>
                <p:cNvPr id="74" name="Freeform 74"/>
                <p:cNvSpPr/>
                <p:nvPr/>
              </p:nvSpPr>
              <p:spPr>
                <a:xfrm>
                  <a:off x="4168775" y="1549400"/>
                  <a:ext cx="139700" cy="69850"/>
                </a:xfrm>
                <a:custGeom>
                  <a:avLst/>
                  <a:gdLst/>
                  <a:ahLst/>
                  <a:cxnLst/>
                  <a:rect l="l" t="t" r="r" b="b"/>
                  <a:pathLst>
                    <a:path w="139700" h="69850">
                      <a:moveTo>
                        <a:pt x="69850" y="0"/>
                      </a:moveTo>
                      <a:lnTo>
                        <a:pt x="0" y="34925"/>
                      </a:lnTo>
                      <a:lnTo>
                        <a:pt x="69850" y="69850"/>
                      </a:lnTo>
                      <a:lnTo>
                        <a:pt x="139700" y="34925"/>
                      </a:lnTo>
                      <a:lnTo>
                        <a:pt x="69850" y="0"/>
                      </a:lnTo>
                    </a:path>
                  </a:pathLst>
                </a:custGeom>
                <a:noFill/>
                <a:ln w="17463">
                  <a:solidFill>
                    <a:srgbClr val="FFFFFF"/>
                  </a:solidFill>
                </a:ln>
              </p:spPr>
            </p:sp>
            <p:sp>
              <p:nvSpPr>
                <p:cNvPr id="75" name="Freeform 75"/>
                <p:cNvSpPr/>
                <p:nvPr/>
              </p:nvSpPr>
              <p:spPr>
                <a:xfrm>
                  <a:off x="4168775" y="1619250"/>
                  <a:ext cx="139700" cy="34925"/>
                </a:xfrm>
                <a:custGeom>
                  <a:avLst/>
                  <a:gdLst/>
                  <a:ahLst/>
                  <a:cxnLst/>
                  <a:rect l="l" t="t" r="r" b="b"/>
                  <a:pathLst>
                    <a:path w="139700" h="34925">
                      <a:moveTo>
                        <a:pt x="0" y="0"/>
                      </a:moveTo>
                      <a:lnTo>
                        <a:pt x="69850" y="34925"/>
                      </a:lnTo>
                      <a:lnTo>
                        <a:pt x="139700" y="0"/>
                      </a:lnTo>
                    </a:path>
                  </a:pathLst>
                </a:custGeom>
                <a:noFill/>
                <a:ln w="17463">
                  <a:solidFill>
                    <a:srgbClr val="FFFFFF"/>
                  </a:solidFill>
                </a:ln>
              </p:spPr>
            </p:sp>
            <p:sp>
              <p:nvSpPr>
                <p:cNvPr id="76" name="Freeform 76"/>
                <p:cNvSpPr/>
                <p:nvPr/>
              </p:nvSpPr>
              <p:spPr>
                <a:xfrm>
                  <a:off x="4168775" y="1654175"/>
                  <a:ext cx="139700" cy="34925"/>
                </a:xfrm>
                <a:custGeom>
                  <a:avLst/>
                  <a:gdLst/>
                  <a:ahLst/>
                  <a:cxnLst/>
                  <a:rect l="l" t="t" r="r" b="b"/>
                  <a:pathLst>
                    <a:path w="139700" h="34925">
                      <a:moveTo>
                        <a:pt x="0" y="0"/>
                      </a:moveTo>
                      <a:lnTo>
                        <a:pt x="69850" y="34925"/>
                      </a:lnTo>
                      <a:lnTo>
                        <a:pt x="139700" y="0"/>
                      </a:lnTo>
                    </a:path>
                  </a:pathLst>
                </a:custGeom>
                <a:noFill/>
                <a:ln w="17463">
                  <a:solidFill>
                    <a:srgbClr val="FFFFFF"/>
                  </a:solidFill>
                </a:ln>
              </p:spPr>
            </p:sp>
          </p:grpSp>
          <p:sp>
            <p:nvSpPr>
              <p:cNvPr id="78" name="TextBox 78"/>
              <p:cNvSpPr txBox="1"/>
              <p:nvPr/>
            </p:nvSpPr>
            <p:spPr>
              <a:xfrm>
                <a:off x="4567238" y="1441847"/>
                <a:ext cx="642239"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全策略覆盖</a:t>
                </a:r>
              </a:p>
            </p:txBody>
          </p:sp>
          <p:sp>
            <p:nvSpPr>
              <p:cNvPr id="79" name="TextBox 79"/>
              <p:cNvSpPr txBox="1"/>
              <p:nvPr/>
            </p:nvSpPr>
            <p:spPr>
              <a:xfrm>
                <a:off x="4567238" y="1633538"/>
                <a:ext cx="1175671"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覆盖股票、债券、固收+、</a:t>
                </a:r>
              </a:p>
            </p:txBody>
          </p:sp>
          <p:sp>
            <p:nvSpPr>
              <p:cNvPr id="80" name="TextBox 80"/>
              <p:cNvSpPr txBox="1"/>
              <p:nvPr/>
            </p:nvSpPr>
            <p:spPr>
              <a:xfrm>
                <a:off x="4567238" y="1785938"/>
                <a:ext cx="1419225"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量化、FOF、QDII等多策略产品</a:t>
                </a:r>
              </a:p>
            </p:txBody>
          </p:sp>
        </p:grpSp>
        <p:sp>
          <p:nvSpPr>
            <p:cNvPr id="82" name="Line 82"/>
            <p:cNvSpPr/>
            <p:nvPr/>
          </p:nvSpPr>
          <p:spPr>
            <a:xfrm>
              <a:off x="6781800" y="1333500"/>
              <a:ext cx="9525" cy="876300"/>
            </a:xfrm>
            <a:custGeom>
              <a:avLst/>
              <a:gdLst/>
              <a:ahLst/>
              <a:cxnLst/>
              <a:rect l="l" t="t" r="r" b="b"/>
              <a:pathLst>
                <a:path w="9525" h="876300">
                  <a:moveTo>
                    <a:pt x="0" y="0"/>
                  </a:moveTo>
                  <a:lnTo>
                    <a:pt x="0" y="876300"/>
                  </a:lnTo>
                </a:path>
              </a:pathLst>
            </a:custGeom>
            <a:noFill/>
            <a:ln w="9525">
              <a:solidFill>
                <a:srgbClr val="E8E4E0"/>
              </a:solidFill>
            </a:ln>
          </p:spPr>
        </p:sp>
        <p:grpSp>
          <p:nvGrpSpPr>
            <p:cNvPr id="92" name="shelf-intro"/>
            <p:cNvGrpSpPr/>
            <p:nvPr/>
          </p:nvGrpSpPr>
          <p:grpSpPr>
            <a:xfrm>
              <a:off x="7008019" y="1331595"/>
              <a:ext cx="1731931" cy="487681"/>
              <a:chOff x="7008019" y="1331595"/>
              <a:chExt cx="1731931" cy="487681"/>
            </a:xfrm>
          </p:grpSpPr>
          <p:grpSp>
            <p:nvGrpSpPr>
              <p:cNvPr id="88" name="Group 88"/>
              <p:cNvGrpSpPr/>
              <p:nvPr/>
            </p:nvGrpSpPr>
            <p:grpSpPr>
              <a:xfrm>
                <a:off x="7008019" y="1354931"/>
                <a:ext cx="100012" cy="128588"/>
                <a:chOff x="7008019" y="1354931"/>
                <a:chExt cx="100012" cy="128588"/>
              </a:xfrm>
            </p:grpSpPr>
            <p:sp>
              <p:nvSpPr>
                <p:cNvPr id="83" name="Freeform 83"/>
                <p:cNvSpPr/>
                <p:nvPr/>
              </p:nvSpPr>
              <p:spPr>
                <a:xfrm>
                  <a:off x="7072312" y="135493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B03A1F"/>
                  </a:solidFill>
                </a:ln>
              </p:spPr>
            </p:sp>
            <p:sp>
              <p:nvSpPr>
                <p:cNvPr id="84" name="Freeform 84"/>
                <p:cNvSpPr/>
                <p:nvPr/>
              </p:nvSpPr>
              <p:spPr>
                <a:xfrm>
                  <a:off x="7008019" y="135493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B03A1F"/>
                  </a:solidFill>
                </a:ln>
              </p:spPr>
            </p:sp>
            <p:sp>
              <p:nvSpPr>
                <p:cNvPr id="85" name="Freeform 85"/>
                <p:cNvSpPr/>
                <p:nvPr/>
              </p:nvSpPr>
              <p:spPr>
                <a:xfrm>
                  <a:off x="7036594" y="1397794"/>
                  <a:ext cx="9525" cy="9525"/>
                </a:xfrm>
                <a:custGeom>
                  <a:avLst/>
                  <a:gdLst/>
                  <a:ahLst/>
                  <a:cxnLst/>
                  <a:rect l="l" t="t" r="r" b="b"/>
                  <a:pathLst>
                    <a:path w="9525" h="9525">
                      <a:moveTo>
                        <a:pt x="0" y="0"/>
                      </a:moveTo>
                      <a:lnTo>
                        <a:pt x="7144" y="0"/>
                      </a:lnTo>
                    </a:path>
                  </a:pathLst>
                </a:custGeom>
                <a:noFill/>
                <a:ln w="14288">
                  <a:solidFill>
                    <a:srgbClr val="B03A1F"/>
                  </a:solidFill>
                </a:ln>
              </p:spPr>
            </p:sp>
            <p:sp>
              <p:nvSpPr>
                <p:cNvPr id="86" name="Freeform 86"/>
                <p:cNvSpPr/>
                <p:nvPr/>
              </p:nvSpPr>
              <p:spPr>
                <a:xfrm>
                  <a:off x="7036594" y="1426369"/>
                  <a:ext cx="42862" cy="9525"/>
                </a:xfrm>
                <a:custGeom>
                  <a:avLst/>
                  <a:gdLst/>
                  <a:ahLst/>
                  <a:cxnLst/>
                  <a:rect l="l" t="t" r="r" b="b"/>
                  <a:pathLst>
                    <a:path w="42862" h="9525">
                      <a:moveTo>
                        <a:pt x="0" y="0"/>
                      </a:moveTo>
                      <a:lnTo>
                        <a:pt x="42862" y="0"/>
                      </a:lnTo>
                    </a:path>
                  </a:pathLst>
                </a:custGeom>
                <a:noFill/>
                <a:ln w="14288">
                  <a:solidFill>
                    <a:srgbClr val="B03A1F"/>
                  </a:solidFill>
                </a:ln>
              </p:spPr>
            </p:sp>
            <p:sp>
              <p:nvSpPr>
                <p:cNvPr id="87" name="Freeform 87"/>
                <p:cNvSpPr/>
                <p:nvPr/>
              </p:nvSpPr>
              <p:spPr>
                <a:xfrm>
                  <a:off x="7036594" y="1454944"/>
                  <a:ext cx="42862" cy="9525"/>
                </a:xfrm>
                <a:custGeom>
                  <a:avLst/>
                  <a:gdLst/>
                  <a:ahLst/>
                  <a:cxnLst/>
                  <a:rect l="l" t="t" r="r" b="b"/>
                  <a:pathLst>
                    <a:path w="42862" h="9525">
                      <a:moveTo>
                        <a:pt x="0" y="0"/>
                      </a:moveTo>
                      <a:lnTo>
                        <a:pt x="42862" y="0"/>
                      </a:lnTo>
                    </a:path>
                  </a:pathLst>
                </a:custGeom>
                <a:noFill/>
                <a:ln w="14288">
                  <a:solidFill>
                    <a:srgbClr val="B03A1F"/>
                  </a:solidFill>
                </a:ln>
              </p:spPr>
            </p:sp>
          </p:grpSp>
          <p:sp>
            <p:nvSpPr>
              <p:cNvPr id="89" name="TextBox 89"/>
              <p:cNvSpPr txBox="1"/>
              <p:nvPr/>
            </p:nvSpPr>
            <p:spPr>
              <a:xfrm>
                <a:off x="7215188" y="1331595"/>
                <a:ext cx="615315"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二季度引入</a:t>
                </a:r>
              </a:p>
            </p:txBody>
          </p:sp>
          <p:sp>
            <p:nvSpPr>
              <p:cNvPr id="90" name="TextBox 90"/>
              <p:cNvSpPr txBox="1"/>
              <p:nvPr/>
            </p:nvSpPr>
            <p:spPr>
              <a:xfrm>
                <a:off x="7215188" y="1519238"/>
                <a:ext cx="1524762"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绿色金融、专精特新主题、QDII等</a:t>
                </a:r>
              </a:p>
            </p:txBody>
          </p:sp>
          <p:sp>
            <p:nvSpPr>
              <p:cNvPr id="91" name="TextBox 91"/>
              <p:cNvSpPr txBox="1"/>
              <p:nvPr/>
            </p:nvSpPr>
            <p:spPr>
              <a:xfrm>
                <a:off x="7215188" y="1671638"/>
                <a:ext cx="93386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优质产品不少于</a:t>
                </a:r>
                <a:r>
                  <a:rPr lang="zh-CN" sz="750" b="1" dirty="0">
                    <a:solidFill>
                      <a:srgbClr val="B03A1F"/>
                    </a:solidFill>
                    <a:latin typeface="+mn-lt"/>
                    <a:ea typeface="+mn-ea"/>
                    <a:cs typeface="+mn-cs"/>
                  </a:rPr>
                  <a:t>20只</a:t>
                </a:r>
              </a:p>
            </p:txBody>
          </p:sp>
        </p:grpSp>
        <p:grpSp>
          <p:nvGrpSpPr>
            <p:cNvPr id="100" name="shelf-lifecycle"/>
            <p:cNvGrpSpPr/>
            <p:nvPr/>
          </p:nvGrpSpPr>
          <p:grpSpPr>
            <a:xfrm>
              <a:off x="6993731" y="1884045"/>
              <a:ext cx="1644492" cy="468631"/>
              <a:chOff x="6993731" y="1884045"/>
              <a:chExt cx="1644492" cy="468631"/>
            </a:xfrm>
          </p:grpSpPr>
          <p:grpSp>
            <p:nvGrpSpPr>
              <p:cNvPr id="96" name="Group 96"/>
              <p:cNvGrpSpPr/>
              <p:nvPr/>
            </p:nvGrpSpPr>
            <p:grpSpPr>
              <a:xfrm>
                <a:off x="6993731" y="1907381"/>
                <a:ext cx="128588" cy="128588"/>
                <a:chOff x="6993731" y="1907381"/>
                <a:chExt cx="128588" cy="128588"/>
              </a:xfrm>
            </p:grpSpPr>
            <p:sp>
              <p:nvSpPr>
                <p:cNvPr id="93" name="Freeform 93"/>
                <p:cNvSpPr/>
                <p:nvPr/>
              </p:nvSpPr>
              <p:spPr>
                <a:xfrm>
                  <a:off x="7050881" y="19645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B03A1F"/>
                  </a:solidFill>
                </a:ln>
              </p:spPr>
            </p:sp>
            <p:sp>
              <p:nvSpPr>
                <p:cNvPr id="94" name="Freeform 94"/>
                <p:cNvSpPr/>
                <p:nvPr/>
              </p:nvSpPr>
              <p:spPr>
                <a:xfrm>
                  <a:off x="7022306" y="193595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B03A1F"/>
                  </a:solidFill>
                </a:ln>
              </p:spPr>
            </p:sp>
            <p:sp>
              <p:nvSpPr>
                <p:cNvPr id="95" name="Freeform 95"/>
                <p:cNvSpPr/>
                <p:nvPr/>
              </p:nvSpPr>
              <p:spPr>
                <a:xfrm>
                  <a:off x="6993731" y="19073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B03A1F"/>
                  </a:solidFill>
                </a:ln>
              </p:spPr>
            </p:sp>
          </p:grpSp>
          <p:sp>
            <p:nvSpPr>
              <p:cNvPr id="97" name="TextBox 97"/>
              <p:cNvSpPr txBox="1"/>
              <p:nvPr/>
            </p:nvSpPr>
            <p:spPr>
              <a:xfrm>
                <a:off x="7215188" y="1884045"/>
                <a:ext cx="1099947"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产品全生命周期管理</a:t>
                </a:r>
              </a:p>
            </p:txBody>
          </p:sp>
          <p:sp>
            <p:nvSpPr>
              <p:cNvPr id="98" name="TextBox 98"/>
              <p:cNvSpPr txBox="1"/>
              <p:nvPr/>
            </p:nvSpPr>
            <p:spPr>
              <a:xfrm>
                <a:off x="7215188" y="2071688"/>
                <a:ext cx="1423035"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动态跟踪、持续评价，优胜劣汰</a:t>
                </a:r>
              </a:p>
            </p:txBody>
          </p:sp>
          <p:sp>
            <p:nvSpPr>
              <p:cNvPr id="99" name="TextBox 99"/>
              <p:cNvSpPr txBox="1"/>
              <p:nvPr/>
            </p:nvSpPr>
            <p:spPr>
              <a:xfrm>
                <a:off x="7215188" y="2205038"/>
                <a:ext cx="1019175"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对不匹配产品坚决出清</a:t>
                </a:r>
              </a:p>
            </p:txBody>
          </p:sp>
        </p:grpSp>
      </p:grpSp>
      <p:grpSp>
        <p:nvGrpSpPr>
          <p:cNvPr id="158" name="band-research"/>
          <p:cNvGrpSpPr/>
          <p:nvPr/>
        </p:nvGrpSpPr>
        <p:grpSpPr>
          <a:xfrm>
            <a:off x="1571625" y="2400300"/>
            <a:ext cx="9048750" cy="1600200"/>
            <a:chOff x="1571625" y="2400300"/>
            <a:chExt cx="9048750" cy="1600200"/>
          </a:xfrm>
        </p:grpSpPr>
        <p:sp>
          <p:nvSpPr>
            <p:cNvPr id="102" name="Rectangle 102"/>
            <p:cNvSpPr/>
            <p:nvPr/>
          </p:nvSpPr>
          <p:spPr>
            <a:xfrm>
              <a:off x="1571625" y="2400300"/>
              <a:ext cx="9048750" cy="1600200"/>
            </a:xfrm>
            <a:prstGeom prst="roundRect">
              <a:avLst>
                <a:gd name="adj" fmla="val 4762"/>
              </a:avLst>
            </a:prstGeom>
            <a:solidFill>
              <a:srgbClr val="FFFFFF"/>
            </a:solidFill>
            <a:ln w="9525">
              <a:solidFill>
                <a:srgbClr val="E8E4E0"/>
              </a:solidFill>
            </a:ln>
          </p:spPr>
        </p:sp>
        <p:sp>
          <p:nvSpPr>
            <p:cNvPr id="103" name="Rectangle 103"/>
            <p:cNvSpPr/>
            <p:nvPr/>
          </p:nvSpPr>
          <p:spPr>
            <a:xfrm>
              <a:off x="1571625" y="2400300"/>
              <a:ext cx="5905500" cy="342900"/>
            </a:xfrm>
            <a:prstGeom prst="rect">
              <a:avLst/>
            </a:prstGeom>
            <a:solidFill>
              <a:srgbClr val="1E1E1E"/>
            </a:solidFill>
            <a:ln>
              <a:noFill/>
            </a:ln>
          </p:spPr>
        </p:sp>
        <p:sp>
          <p:nvSpPr>
            <p:cNvPr id="104" name="Rectangle 104"/>
            <p:cNvSpPr/>
            <p:nvPr/>
          </p:nvSpPr>
          <p:spPr>
            <a:xfrm>
              <a:off x="7477125" y="2400300"/>
              <a:ext cx="3143250" cy="342900"/>
            </a:xfrm>
            <a:prstGeom prst="rect">
              <a:avLst/>
            </a:prstGeom>
            <a:solidFill>
              <a:srgbClr val="1E1E1E"/>
            </a:solidFill>
            <a:ln>
              <a:noFill/>
            </a:ln>
          </p:spPr>
        </p:sp>
        <p:sp>
          <p:nvSpPr>
            <p:cNvPr id="105" name="TextBox 105"/>
            <p:cNvSpPr txBox="1"/>
            <p:nvPr/>
          </p:nvSpPr>
          <p:spPr>
            <a:xfrm>
              <a:off x="2327910" y="2507456"/>
              <a:ext cx="105064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2 专业投研中台</a:t>
              </a:r>
            </a:p>
          </p:txBody>
        </p:sp>
        <p:grpSp>
          <p:nvGrpSpPr>
            <p:cNvPr id="115" name="res-branch"/>
            <p:cNvGrpSpPr/>
            <p:nvPr/>
          </p:nvGrpSpPr>
          <p:grpSpPr>
            <a:xfrm>
              <a:off x="1631175" y="2990850"/>
              <a:ext cx="833399" cy="993934"/>
              <a:chOff x="1631175" y="2990850"/>
              <a:chExt cx="833399" cy="993934"/>
            </a:xfrm>
          </p:grpSpPr>
          <p:sp>
            <p:nvSpPr>
              <p:cNvPr id="106" name="Ellipse 106"/>
              <p:cNvSpPr/>
              <p:nvPr/>
            </p:nvSpPr>
            <p:spPr>
              <a:xfrm>
                <a:off x="1847850" y="2990850"/>
                <a:ext cx="400050" cy="400050"/>
              </a:xfrm>
              <a:prstGeom prst="ellipse">
                <a:avLst/>
              </a:prstGeom>
              <a:solidFill>
                <a:srgbClr val="1E1E1E"/>
              </a:solidFill>
              <a:ln>
                <a:noFill/>
              </a:ln>
            </p:spPr>
          </p:sp>
          <p:grpSp>
            <p:nvGrpSpPr>
              <p:cNvPr id="111" name="Group 111"/>
              <p:cNvGrpSpPr/>
              <p:nvPr/>
            </p:nvGrpSpPr>
            <p:grpSpPr>
              <a:xfrm>
                <a:off x="1969294" y="3112294"/>
                <a:ext cx="157163" cy="157163"/>
                <a:chOff x="1969294" y="3112294"/>
                <a:chExt cx="157163" cy="157163"/>
              </a:xfrm>
            </p:grpSpPr>
            <p:sp>
              <p:nvSpPr>
                <p:cNvPr id="107" name="Freeform 107"/>
                <p:cNvSpPr/>
                <p:nvPr/>
              </p:nvSpPr>
              <p:spPr>
                <a:xfrm>
                  <a:off x="1986756" y="31122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08" name="Freeform 108"/>
                <p:cNvSpPr/>
                <p:nvPr/>
              </p:nvSpPr>
              <p:spPr>
                <a:xfrm>
                  <a:off x="1969294" y="321706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109" name="Freeform 109"/>
                <p:cNvSpPr/>
                <p:nvPr/>
              </p:nvSpPr>
              <p:spPr>
                <a:xfrm>
                  <a:off x="2082800" y="311342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110" name="Freeform 110"/>
                <p:cNvSpPr/>
                <p:nvPr/>
              </p:nvSpPr>
              <p:spPr>
                <a:xfrm>
                  <a:off x="2100263" y="321837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112" name="TextBox 112"/>
              <p:cNvSpPr txBox="1"/>
              <p:nvPr/>
            </p:nvSpPr>
            <p:spPr>
              <a:xfrm>
                <a:off x="1695793" y="3526393"/>
                <a:ext cx="704164"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分行投资策略</a:t>
                </a:r>
              </a:p>
            </p:txBody>
          </p:sp>
          <p:sp>
            <p:nvSpPr>
              <p:cNvPr id="113" name="TextBox 113"/>
              <p:cNvSpPr txBox="1"/>
              <p:nvPr/>
            </p:nvSpPr>
            <p:spPr>
              <a:xfrm>
                <a:off x="1811566" y="3678793"/>
                <a:ext cx="472618"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研究小组</a:t>
                </a:r>
              </a:p>
            </p:txBody>
          </p:sp>
          <p:sp>
            <p:nvSpPr>
              <p:cNvPr id="114" name="TextBox 114"/>
              <p:cNvSpPr txBox="1"/>
              <p:nvPr/>
            </p:nvSpPr>
            <p:spPr>
              <a:xfrm>
                <a:off x="1631175" y="3851434"/>
                <a:ext cx="833399"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本地深耕，贴近客户</a:t>
                </a:r>
              </a:p>
            </p:txBody>
          </p:sp>
        </p:grpSp>
        <p:grpSp>
          <p:nvGrpSpPr>
            <p:cNvPr id="125" name="res-macro"/>
            <p:cNvGrpSpPr/>
            <p:nvPr/>
          </p:nvGrpSpPr>
          <p:grpSpPr>
            <a:xfrm>
              <a:off x="3263913" y="2990850"/>
              <a:ext cx="558775" cy="974884"/>
              <a:chOff x="3263913" y="2990850"/>
              <a:chExt cx="558775" cy="974884"/>
            </a:xfrm>
          </p:grpSpPr>
          <p:sp>
            <p:nvSpPr>
              <p:cNvPr id="116" name="Ellipse 116"/>
              <p:cNvSpPr/>
              <p:nvPr/>
            </p:nvSpPr>
            <p:spPr>
              <a:xfrm>
                <a:off x="3343275" y="2990850"/>
                <a:ext cx="400050" cy="400050"/>
              </a:xfrm>
              <a:prstGeom prst="ellipse">
                <a:avLst/>
              </a:prstGeom>
              <a:solidFill>
                <a:srgbClr val="1E1E1E"/>
              </a:solidFill>
              <a:ln>
                <a:noFill/>
              </a:ln>
            </p:spPr>
          </p:sp>
          <p:grpSp>
            <p:nvGrpSpPr>
              <p:cNvPr id="121" name="Group 121"/>
              <p:cNvGrpSpPr/>
              <p:nvPr/>
            </p:nvGrpSpPr>
            <p:grpSpPr>
              <a:xfrm>
                <a:off x="3464719" y="3121025"/>
                <a:ext cx="157163" cy="149225"/>
                <a:chOff x="3464719" y="3121025"/>
                <a:chExt cx="157163" cy="149225"/>
              </a:xfrm>
            </p:grpSpPr>
            <p:sp>
              <p:nvSpPr>
                <p:cNvPr id="117" name="Freeform 117"/>
                <p:cNvSpPr/>
                <p:nvPr/>
              </p:nvSpPr>
              <p:spPr>
                <a:xfrm>
                  <a:off x="3464719" y="319087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118" name="Freeform 118"/>
                <p:cNvSpPr/>
                <p:nvPr/>
              </p:nvSpPr>
              <p:spPr>
                <a:xfrm>
                  <a:off x="3569494" y="315595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119" name="Freeform 119"/>
                <p:cNvSpPr/>
                <p:nvPr/>
              </p:nvSpPr>
              <p:spPr>
                <a:xfrm>
                  <a:off x="3517106" y="312102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120" name="Freeform 120"/>
                <p:cNvSpPr/>
                <p:nvPr/>
              </p:nvSpPr>
              <p:spPr>
                <a:xfrm>
                  <a:off x="3473450" y="3260725"/>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122" name="TextBox 122"/>
              <p:cNvSpPr txBox="1"/>
              <p:nvPr/>
            </p:nvSpPr>
            <p:spPr>
              <a:xfrm>
                <a:off x="3306991" y="3526393"/>
                <a:ext cx="472618"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宏观研究</a:t>
                </a:r>
              </a:p>
            </p:txBody>
          </p:sp>
          <p:sp>
            <p:nvSpPr>
              <p:cNvPr id="123" name="TextBox 123"/>
              <p:cNvSpPr txBox="1"/>
              <p:nvPr/>
            </p:nvSpPr>
            <p:spPr>
              <a:xfrm>
                <a:off x="3263913" y="3699034"/>
                <a:ext cx="558775"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把握宏观趋势</a:t>
                </a:r>
              </a:p>
            </p:txBody>
          </p:sp>
          <p:sp>
            <p:nvSpPr>
              <p:cNvPr id="124" name="TextBox 124"/>
              <p:cNvSpPr txBox="1"/>
              <p:nvPr/>
            </p:nvSpPr>
            <p:spPr>
              <a:xfrm>
                <a:off x="3263913" y="3832384"/>
                <a:ext cx="558775"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研判经济周期</a:t>
                </a:r>
              </a:p>
            </p:txBody>
          </p:sp>
        </p:grpSp>
        <p:grpSp>
          <p:nvGrpSpPr>
            <p:cNvPr id="133" name="res-alloc"/>
            <p:cNvGrpSpPr/>
            <p:nvPr/>
          </p:nvGrpSpPr>
          <p:grpSpPr>
            <a:xfrm>
              <a:off x="4686643" y="2990850"/>
              <a:ext cx="704164" cy="974884"/>
              <a:chOff x="4686643" y="2990850"/>
              <a:chExt cx="704164" cy="974884"/>
            </a:xfrm>
          </p:grpSpPr>
          <p:sp>
            <p:nvSpPr>
              <p:cNvPr id="126" name="Ellipse 126"/>
              <p:cNvSpPr/>
              <p:nvPr/>
            </p:nvSpPr>
            <p:spPr>
              <a:xfrm>
                <a:off x="4838700" y="2990850"/>
                <a:ext cx="400050" cy="400050"/>
              </a:xfrm>
              <a:prstGeom prst="ellipse">
                <a:avLst/>
              </a:prstGeom>
              <a:solidFill>
                <a:srgbClr val="1E1E1E"/>
              </a:solidFill>
              <a:ln>
                <a:noFill/>
              </a:ln>
            </p:spPr>
          </p:sp>
          <p:grpSp>
            <p:nvGrpSpPr>
              <p:cNvPr id="129" name="Group 129"/>
              <p:cNvGrpSpPr/>
              <p:nvPr/>
            </p:nvGrpSpPr>
            <p:grpSpPr>
              <a:xfrm>
                <a:off x="4957710" y="3113795"/>
                <a:ext cx="157850" cy="158095"/>
                <a:chOff x="4957710" y="3113795"/>
                <a:chExt cx="157850" cy="158095"/>
              </a:xfrm>
            </p:grpSpPr>
            <p:sp>
              <p:nvSpPr>
                <p:cNvPr id="127" name="Freeform 127"/>
                <p:cNvSpPr/>
                <p:nvPr/>
              </p:nvSpPr>
              <p:spPr>
                <a:xfrm>
                  <a:off x="4957710" y="3113795"/>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FFFFFF"/>
                  </a:solidFill>
                </a:ln>
              </p:spPr>
            </p:sp>
            <p:sp>
              <p:nvSpPr>
                <p:cNvPr id="128" name="Freeform 128"/>
                <p:cNvSpPr/>
                <p:nvPr/>
              </p:nvSpPr>
              <p:spPr>
                <a:xfrm>
                  <a:off x="5064919" y="3116659"/>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FFFFFF"/>
                  </a:solidFill>
                </a:ln>
              </p:spPr>
            </p:sp>
          </p:grpSp>
          <p:sp>
            <p:nvSpPr>
              <p:cNvPr id="130" name="TextBox 130"/>
              <p:cNvSpPr txBox="1"/>
              <p:nvPr/>
            </p:nvSpPr>
            <p:spPr>
              <a:xfrm>
                <a:off x="4686643" y="3526393"/>
                <a:ext cx="704164"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大类资产配置</a:t>
                </a:r>
              </a:p>
            </p:txBody>
          </p:sp>
          <p:sp>
            <p:nvSpPr>
              <p:cNvPr id="131" name="TextBox 131"/>
              <p:cNvSpPr txBox="1"/>
              <p:nvPr/>
            </p:nvSpPr>
            <p:spPr>
              <a:xfrm>
                <a:off x="4759338" y="3699034"/>
                <a:ext cx="558775"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动态资产配置</a:t>
                </a:r>
              </a:p>
            </p:txBody>
          </p:sp>
          <p:sp>
            <p:nvSpPr>
              <p:cNvPr id="132" name="TextBox 132"/>
              <p:cNvSpPr txBox="1"/>
              <p:nvPr/>
            </p:nvSpPr>
            <p:spPr>
              <a:xfrm>
                <a:off x="4759338" y="3832384"/>
                <a:ext cx="558775"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优化风险收益</a:t>
                </a:r>
              </a:p>
            </p:txBody>
          </p:sp>
        </p:grpSp>
        <p:grpSp>
          <p:nvGrpSpPr>
            <p:cNvPr id="147" name="res-industry"/>
            <p:cNvGrpSpPr/>
            <p:nvPr/>
          </p:nvGrpSpPr>
          <p:grpSpPr>
            <a:xfrm>
              <a:off x="6254763" y="2990850"/>
              <a:ext cx="558775" cy="974884"/>
              <a:chOff x="6254763" y="2990850"/>
              <a:chExt cx="558775" cy="974884"/>
            </a:xfrm>
          </p:grpSpPr>
          <p:sp>
            <p:nvSpPr>
              <p:cNvPr id="134" name="Ellipse 134"/>
              <p:cNvSpPr/>
              <p:nvPr/>
            </p:nvSpPr>
            <p:spPr>
              <a:xfrm>
                <a:off x="6334125" y="2990850"/>
                <a:ext cx="400050" cy="400050"/>
              </a:xfrm>
              <a:prstGeom prst="ellipse">
                <a:avLst/>
              </a:prstGeom>
              <a:solidFill>
                <a:srgbClr val="1E1E1E"/>
              </a:solidFill>
              <a:ln>
                <a:noFill/>
              </a:ln>
            </p:spPr>
          </p:sp>
          <p:grpSp>
            <p:nvGrpSpPr>
              <p:cNvPr id="143" name="Group 143"/>
              <p:cNvGrpSpPr/>
              <p:nvPr/>
            </p:nvGrpSpPr>
            <p:grpSpPr>
              <a:xfrm>
                <a:off x="6455569" y="3112294"/>
                <a:ext cx="157163" cy="166687"/>
                <a:chOff x="6455569" y="3112294"/>
                <a:chExt cx="157163" cy="166687"/>
              </a:xfrm>
            </p:grpSpPr>
            <p:sp>
              <p:nvSpPr>
                <p:cNvPr id="135" name="Freeform 135"/>
                <p:cNvSpPr/>
                <p:nvPr/>
              </p:nvSpPr>
              <p:spPr>
                <a:xfrm>
                  <a:off x="6455569" y="3269456"/>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136" name="Freeform 136"/>
                <p:cNvSpPr/>
                <p:nvPr/>
              </p:nvSpPr>
              <p:spPr>
                <a:xfrm>
                  <a:off x="6507956" y="315595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37" name="Freeform 137"/>
                <p:cNvSpPr/>
                <p:nvPr/>
              </p:nvSpPr>
              <p:spPr>
                <a:xfrm>
                  <a:off x="6507956" y="3190875"/>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38" name="Freeform 138"/>
                <p:cNvSpPr/>
                <p:nvPr/>
              </p:nvSpPr>
              <p:spPr>
                <a:xfrm>
                  <a:off x="6507956" y="322580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39" name="Freeform 139"/>
                <p:cNvSpPr/>
                <p:nvPr/>
              </p:nvSpPr>
              <p:spPr>
                <a:xfrm>
                  <a:off x="6551613" y="315595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40" name="Freeform 140"/>
                <p:cNvSpPr/>
                <p:nvPr/>
              </p:nvSpPr>
              <p:spPr>
                <a:xfrm>
                  <a:off x="6551613" y="3190875"/>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41" name="Freeform 141"/>
                <p:cNvSpPr/>
                <p:nvPr/>
              </p:nvSpPr>
              <p:spPr>
                <a:xfrm>
                  <a:off x="6551613" y="322580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42" name="Freeform 142"/>
                <p:cNvSpPr/>
                <p:nvPr/>
              </p:nvSpPr>
              <p:spPr>
                <a:xfrm>
                  <a:off x="6473031" y="3112294"/>
                  <a:ext cx="122238" cy="157163"/>
                </a:xfrm>
                <a:custGeom>
                  <a:avLst/>
                  <a:gdLst/>
                  <a:ahLst/>
                  <a:cxnLst/>
                  <a:rect l="l" t="t" r="r" b="b"/>
                  <a:pathLst>
                    <a:path w="122238" h="157163">
                      <a:moveTo>
                        <a:pt x="0" y="157163"/>
                      </a:moveTo>
                      <a:lnTo>
                        <a:pt x="0" y="17463"/>
                      </a:lnTo>
                      <a:cubicBezTo>
                        <a:pt x="0" y="7818"/>
                        <a:pt x="7818" y="0"/>
                        <a:pt x="17463" y="0"/>
                      </a:cubicBezTo>
                      <a:lnTo>
                        <a:pt x="104775" y="0"/>
                      </a:lnTo>
                      <a:cubicBezTo>
                        <a:pt x="114419" y="0"/>
                        <a:pt x="122238" y="7818"/>
                        <a:pt x="122238" y="17463"/>
                      </a:cubicBezTo>
                      <a:lnTo>
                        <a:pt x="122238" y="157163"/>
                      </a:lnTo>
                    </a:path>
                  </a:pathLst>
                </a:custGeom>
                <a:noFill/>
                <a:ln w="17463">
                  <a:solidFill>
                    <a:srgbClr val="FFFFFF"/>
                  </a:solidFill>
                </a:ln>
              </p:spPr>
            </p:sp>
          </p:grpSp>
          <p:sp>
            <p:nvSpPr>
              <p:cNvPr id="144" name="TextBox 144"/>
              <p:cNvSpPr txBox="1"/>
              <p:nvPr/>
            </p:nvSpPr>
            <p:spPr>
              <a:xfrm>
                <a:off x="6297841" y="3526393"/>
                <a:ext cx="472618"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行业研究</a:t>
                </a:r>
              </a:p>
            </p:txBody>
          </p:sp>
          <p:sp>
            <p:nvSpPr>
              <p:cNvPr id="145" name="TextBox 145"/>
              <p:cNvSpPr txBox="1"/>
              <p:nvPr/>
            </p:nvSpPr>
            <p:spPr>
              <a:xfrm>
                <a:off x="6254763" y="3699034"/>
                <a:ext cx="558775"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深耕重点行业</a:t>
                </a:r>
              </a:p>
            </p:txBody>
          </p:sp>
          <p:sp>
            <p:nvSpPr>
              <p:cNvPr id="146" name="TextBox 146"/>
              <p:cNvSpPr txBox="1"/>
              <p:nvPr/>
            </p:nvSpPr>
            <p:spPr>
              <a:xfrm>
                <a:off x="6254763" y="3832384"/>
                <a:ext cx="558775"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挖掘投资机会</a:t>
                </a:r>
              </a:p>
            </p:txBody>
          </p:sp>
        </p:grpSp>
        <p:grpSp>
          <p:nvGrpSpPr>
            <p:cNvPr id="157" name="res-partner"/>
            <p:cNvGrpSpPr/>
            <p:nvPr/>
          </p:nvGrpSpPr>
          <p:grpSpPr>
            <a:xfrm>
              <a:off x="7561720" y="2990850"/>
              <a:ext cx="935711" cy="974884"/>
              <a:chOff x="7561720" y="2990850"/>
              <a:chExt cx="935711" cy="974884"/>
            </a:xfrm>
          </p:grpSpPr>
          <p:sp>
            <p:nvSpPr>
              <p:cNvPr id="148" name="Ellipse 148"/>
              <p:cNvSpPr/>
              <p:nvPr/>
            </p:nvSpPr>
            <p:spPr>
              <a:xfrm>
                <a:off x="7829550" y="2990850"/>
                <a:ext cx="400050" cy="400050"/>
              </a:xfrm>
              <a:prstGeom prst="ellipse">
                <a:avLst/>
              </a:prstGeom>
              <a:solidFill>
                <a:srgbClr val="1E1E1E"/>
              </a:solidFill>
              <a:ln>
                <a:noFill/>
              </a:ln>
            </p:spPr>
          </p:sp>
          <p:grpSp>
            <p:nvGrpSpPr>
              <p:cNvPr id="153" name="Group 153"/>
              <p:cNvGrpSpPr/>
              <p:nvPr/>
            </p:nvGrpSpPr>
            <p:grpSpPr>
              <a:xfrm>
                <a:off x="7975005" y="3103563"/>
                <a:ext cx="117400" cy="175418"/>
                <a:chOff x="7975005" y="3103563"/>
                <a:chExt cx="117400" cy="175418"/>
              </a:xfrm>
            </p:grpSpPr>
            <p:sp>
              <p:nvSpPr>
                <p:cNvPr id="149" name="Freeform 149"/>
                <p:cNvSpPr/>
                <p:nvPr/>
              </p:nvSpPr>
              <p:spPr>
                <a:xfrm>
                  <a:off x="7985919" y="3129756"/>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50" name="Freeform 150"/>
                <p:cNvSpPr/>
                <p:nvPr/>
              </p:nvSpPr>
              <p:spPr>
                <a:xfrm>
                  <a:off x="7975005" y="3103563"/>
                  <a:ext cx="117400" cy="135506"/>
                </a:xfrm>
                <a:custGeom>
                  <a:avLst/>
                  <a:gdLst/>
                  <a:ahLst/>
                  <a:cxnLst/>
                  <a:rect l="l" t="t" r="r" b="b"/>
                  <a:pathLst>
                    <a:path w="117400" h="135506">
                      <a:moveTo>
                        <a:pt x="0" y="113506"/>
                      </a:moveTo>
                      <a:cubicBezTo>
                        <a:pt x="20099" y="130964"/>
                        <a:pt x="48362" y="135506"/>
                        <a:pt x="72918" y="125224"/>
                      </a:cubicBezTo>
                      <a:cubicBezTo>
                        <a:pt x="97474" y="114943"/>
                        <a:pt x="114070" y="91619"/>
                        <a:pt x="115735" y="65049"/>
                      </a:cubicBezTo>
                      <a:cubicBezTo>
                        <a:pt x="117400" y="38479"/>
                        <a:pt x="103845" y="13266"/>
                        <a:pt x="80764" y="0"/>
                      </a:cubicBezTo>
                    </a:path>
                  </a:pathLst>
                </a:custGeom>
                <a:noFill/>
                <a:ln w="17463">
                  <a:solidFill>
                    <a:srgbClr val="FFFFFF"/>
                  </a:solidFill>
                </a:ln>
              </p:spPr>
            </p:sp>
            <p:sp>
              <p:nvSpPr>
                <p:cNvPr id="151" name="Freeform 151"/>
                <p:cNvSpPr/>
                <p:nvPr/>
              </p:nvSpPr>
              <p:spPr>
                <a:xfrm>
                  <a:off x="8020844" y="3234531"/>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152" name="Freeform 152"/>
                <p:cNvSpPr/>
                <p:nvPr/>
              </p:nvSpPr>
              <p:spPr>
                <a:xfrm>
                  <a:off x="7985919" y="3269456"/>
                  <a:ext cx="69850" cy="9525"/>
                </a:xfrm>
                <a:custGeom>
                  <a:avLst/>
                  <a:gdLst/>
                  <a:ahLst/>
                  <a:cxnLst/>
                  <a:rect l="l" t="t" r="r" b="b"/>
                  <a:pathLst>
                    <a:path w="69850" h="9525">
                      <a:moveTo>
                        <a:pt x="0" y="0"/>
                      </a:moveTo>
                      <a:lnTo>
                        <a:pt x="69850" y="0"/>
                      </a:lnTo>
                    </a:path>
                  </a:pathLst>
                </a:custGeom>
                <a:noFill/>
                <a:ln w="17463">
                  <a:solidFill>
                    <a:srgbClr val="FFFFFF"/>
                  </a:solidFill>
                </a:ln>
              </p:spPr>
            </p:sp>
          </p:grpSp>
          <p:sp>
            <p:nvSpPr>
              <p:cNvPr id="154" name="TextBox 154"/>
              <p:cNvSpPr txBox="1"/>
              <p:nvPr/>
            </p:nvSpPr>
            <p:spPr>
              <a:xfrm>
                <a:off x="7561720" y="3526393"/>
                <a:ext cx="935711" cy="169069"/>
              </a:xfrm>
              <a:prstGeom prst="rect">
                <a:avLst/>
              </a:prstGeom>
              <a:noFill/>
              <a:ln>
                <a:noFill/>
              </a:ln>
            </p:spPr>
            <p:txBody>
              <a:bodyPr wrap="none" lIns="0" tIns="0" rIns="0" bIns="0" anchor="t" anchorCtr="0">
                <a:spAutoFit/>
              </a:bodyPr>
              <a:lstStyle/>
              <a:p>
                <a:pPr algn="ctr"/>
                <a:r>
                  <a:rPr lang="zh-CN" sz="860" b="1" dirty="0">
                    <a:solidFill>
                      <a:srgbClr val="1A1A1A"/>
                    </a:solidFill>
                    <a:latin typeface="+mn-lt"/>
                    <a:ea typeface="+mn-ea"/>
                    <a:cs typeface="+mn-cs"/>
                  </a:rPr>
                  <a:t>外部投资合作伙伴</a:t>
                </a:r>
              </a:p>
            </p:txBody>
          </p:sp>
          <p:sp>
            <p:nvSpPr>
              <p:cNvPr id="155" name="TextBox 155"/>
              <p:cNvSpPr txBox="1"/>
              <p:nvPr/>
            </p:nvSpPr>
            <p:spPr>
              <a:xfrm>
                <a:off x="7658646" y="3699034"/>
                <a:ext cx="741858"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公募基金、券商、</a:t>
                </a:r>
              </a:p>
            </p:txBody>
          </p:sp>
          <p:sp>
            <p:nvSpPr>
              <p:cNvPr id="156" name="TextBox 156"/>
              <p:cNvSpPr txBox="1"/>
              <p:nvPr/>
            </p:nvSpPr>
            <p:spPr>
              <a:xfrm>
                <a:off x="7704417" y="3832384"/>
                <a:ext cx="650316" cy="133350"/>
              </a:xfrm>
              <a:prstGeom prst="rect">
                <a:avLst/>
              </a:prstGeom>
              <a:noFill/>
              <a:ln>
                <a:noFill/>
              </a:ln>
            </p:spPr>
            <p:txBody>
              <a:bodyPr wrap="none" lIns="0" tIns="0" rIns="0" bIns="0" anchor="t" anchorCtr="0">
                <a:spAutoFit/>
              </a:bodyPr>
              <a:lstStyle/>
              <a:p>
                <a:pPr algn="ctr"/>
                <a:r>
                  <a:rPr lang="zh-CN" sz="680" dirty="0">
                    <a:solidFill>
                      <a:srgbClr val="6A6A6A"/>
                    </a:solidFill>
                    <a:latin typeface="+mn-lt"/>
                    <a:ea typeface="+mn-ea"/>
                    <a:cs typeface="+mn-cs"/>
                  </a:rPr>
                  <a:t>海外投研机构等</a:t>
                </a:r>
              </a:p>
            </p:txBody>
          </p:sp>
        </p:grpSp>
      </p:grpSp>
      <p:grpSp>
        <p:nvGrpSpPr>
          <p:cNvPr id="193" name="band-brand"/>
          <p:cNvGrpSpPr/>
          <p:nvPr/>
        </p:nvGrpSpPr>
        <p:grpSpPr>
          <a:xfrm>
            <a:off x="1571625" y="4076700"/>
            <a:ext cx="9048750" cy="1238250"/>
            <a:chOff x="1571625" y="4076700"/>
            <a:chExt cx="9048750" cy="1238250"/>
          </a:xfrm>
        </p:grpSpPr>
        <p:sp>
          <p:nvSpPr>
            <p:cNvPr id="159" name="Rectangle 159"/>
            <p:cNvSpPr/>
            <p:nvPr/>
          </p:nvSpPr>
          <p:spPr>
            <a:xfrm>
              <a:off x="1571625" y="4076700"/>
              <a:ext cx="9048750" cy="1238250"/>
            </a:xfrm>
            <a:prstGeom prst="roundRect">
              <a:avLst>
                <a:gd name="adj" fmla="val 6154"/>
              </a:avLst>
            </a:prstGeom>
            <a:solidFill>
              <a:srgbClr val="FFFFFF"/>
            </a:solidFill>
            <a:ln w="9525">
              <a:solidFill>
                <a:srgbClr val="E8E4E0"/>
              </a:solidFill>
            </a:ln>
          </p:spPr>
        </p:sp>
        <p:sp>
          <p:nvSpPr>
            <p:cNvPr id="160" name="Rectangle 160"/>
            <p:cNvSpPr/>
            <p:nvPr/>
          </p:nvSpPr>
          <p:spPr>
            <a:xfrm>
              <a:off x="1571625" y="4076700"/>
              <a:ext cx="5905500" cy="342900"/>
            </a:xfrm>
            <a:prstGeom prst="rect">
              <a:avLst/>
            </a:prstGeom>
            <a:solidFill>
              <a:srgbClr val="B03A1F"/>
            </a:solidFill>
            <a:ln>
              <a:noFill/>
            </a:ln>
          </p:spPr>
        </p:sp>
        <p:sp>
          <p:nvSpPr>
            <p:cNvPr id="161" name="Rectangle 161"/>
            <p:cNvSpPr/>
            <p:nvPr/>
          </p:nvSpPr>
          <p:spPr>
            <a:xfrm>
              <a:off x="7477125" y="4076700"/>
              <a:ext cx="3143250" cy="342900"/>
            </a:xfrm>
            <a:prstGeom prst="rect">
              <a:avLst/>
            </a:prstGeom>
            <a:solidFill>
              <a:srgbClr val="B03A1F"/>
            </a:solidFill>
            <a:ln>
              <a:noFill/>
            </a:ln>
          </p:spPr>
        </p:sp>
        <p:sp>
          <p:nvSpPr>
            <p:cNvPr id="162" name="TextBox 162"/>
            <p:cNvSpPr txBox="1"/>
            <p:nvPr/>
          </p:nvSpPr>
          <p:spPr>
            <a:xfrm>
              <a:off x="2327910" y="4183856"/>
              <a:ext cx="105064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3 财富品牌活动</a:t>
              </a:r>
            </a:p>
          </p:txBody>
        </p:sp>
        <p:grpSp>
          <p:nvGrpSpPr>
            <p:cNvPr id="169" name="brand-forum"/>
            <p:cNvGrpSpPr/>
            <p:nvPr/>
          </p:nvGrpSpPr>
          <p:grpSpPr>
            <a:xfrm>
              <a:off x="2038350" y="4610100"/>
              <a:ext cx="1265111" cy="460534"/>
              <a:chOff x="2038350" y="4610100"/>
              <a:chExt cx="1265111" cy="460534"/>
            </a:xfrm>
          </p:grpSpPr>
          <p:sp>
            <p:nvSpPr>
              <p:cNvPr id="163" name="Ellipse 163"/>
              <p:cNvSpPr/>
              <p:nvPr/>
            </p:nvSpPr>
            <p:spPr>
              <a:xfrm>
                <a:off x="2038350" y="4610100"/>
                <a:ext cx="400050" cy="400050"/>
              </a:xfrm>
              <a:prstGeom prst="ellipse">
                <a:avLst/>
              </a:prstGeom>
              <a:solidFill>
                <a:srgbClr val="B03A1F"/>
              </a:solidFill>
              <a:ln>
                <a:noFill/>
              </a:ln>
            </p:spPr>
          </p:sp>
          <p:grpSp>
            <p:nvGrpSpPr>
              <p:cNvPr id="166" name="Group 166"/>
              <p:cNvGrpSpPr/>
              <p:nvPr/>
            </p:nvGrpSpPr>
            <p:grpSpPr>
              <a:xfrm>
                <a:off x="2177256" y="4732367"/>
                <a:ext cx="122238" cy="156340"/>
                <a:chOff x="2177256" y="4732367"/>
                <a:chExt cx="122238" cy="156340"/>
              </a:xfrm>
            </p:grpSpPr>
            <p:sp>
              <p:nvSpPr>
                <p:cNvPr id="164" name="Freeform 164"/>
                <p:cNvSpPr/>
                <p:nvPr/>
              </p:nvSpPr>
              <p:spPr>
                <a:xfrm>
                  <a:off x="2177256" y="4732367"/>
                  <a:ext cx="122238" cy="111860"/>
                </a:xfrm>
                <a:custGeom>
                  <a:avLst/>
                  <a:gdLst/>
                  <a:ahLst/>
                  <a:cxnLst/>
                  <a:rect l="l" t="t" r="r" b="b"/>
                  <a:pathLst>
                    <a:path w="122238" h="111860">
                      <a:moveTo>
                        <a:pt x="0" y="16639"/>
                      </a:moveTo>
                      <a:cubicBezTo>
                        <a:pt x="16975" y="0"/>
                        <a:pt x="44143" y="0"/>
                        <a:pt x="61119" y="16639"/>
                      </a:cubicBezTo>
                      <a:cubicBezTo>
                        <a:pt x="78094" y="33279"/>
                        <a:pt x="105262" y="33279"/>
                        <a:pt x="122238" y="16639"/>
                      </a:cubicBezTo>
                      <a:lnTo>
                        <a:pt x="122238" y="95221"/>
                      </a:lnTo>
                      <a:cubicBezTo>
                        <a:pt x="105262" y="111860"/>
                        <a:pt x="78094" y="111860"/>
                        <a:pt x="61119" y="95221"/>
                      </a:cubicBezTo>
                      <a:cubicBezTo>
                        <a:pt x="44143" y="78581"/>
                        <a:pt x="16975" y="78581"/>
                        <a:pt x="0" y="95221"/>
                      </a:cubicBezTo>
                      <a:lnTo>
                        <a:pt x="0" y="16639"/>
                      </a:lnTo>
                    </a:path>
                  </a:pathLst>
                </a:custGeom>
                <a:noFill/>
                <a:ln w="17463">
                  <a:solidFill>
                    <a:srgbClr val="FFFFFF"/>
                  </a:solidFill>
                </a:ln>
              </p:spPr>
            </p:sp>
            <p:sp>
              <p:nvSpPr>
                <p:cNvPr id="165" name="Freeform 165"/>
                <p:cNvSpPr/>
                <p:nvPr/>
              </p:nvSpPr>
              <p:spPr>
                <a:xfrm>
                  <a:off x="2177256" y="4827588"/>
                  <a:ext cx="9525" cy="61119"/>
                </a:xfrm>
                <a:custGeom>
                  <a:avLst/>
                  <a:gdLst/>
                  <a:ahLst/>
                  <a:cxnLst/>
                  <a:rect l="l" t="t" r="r" b="b"/>
                  <a:pathLst>
                    <a:path w="9525" h="61119">
                      <a:moveTo>
                        <a:pt x="0" y="61119"/>
                      </a:moveTo>
                      <a:lnTo>
                        <a:pt x="0" y="0"/>
                      </a:lnTo>
                    </a:path>
                  </a:pathLst>
                </a:custGeom>
                <a:noFill/>
                <a:ln w="17463">
                  <a:solidFill>
                    <a:srgbClr val="FFFFFF"/>
                  </a:solidFill>
                </a:ln>
              </p:spPr>
            </p:sp>
          </p:grpSp>
          <p:sp>
            <p:nvSpPr>
              <p:cNvPr id="167" name="TextBox 167"/>
              <p:cNvSpPr txBox="1"/>
              <p:nvPr/>
            </p:nvSpPr>
            <p:spPr>
              <a:xfrm>
                <a:off x="2566988" y="4646295"/>
                <a:ext cx="736473"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财富高峰论坛</a:t>
                </a:r>
              </a:p>
            </p:txBody>
          </p:sp>
          <p:sp>
            <p:nvSpPr>
              <p:cNvPr id="168" name="TextBox 168"/>
              <p:cNvSpPr txBox="1"/>
              <p:nvPr/>
            </p:nvSpPr>
            <p:spPr>
              <a:xfrm>
                <a:off x="2566035" y="4850606"/>
                <a:ext cx="243663" cy="220028"/>
              </a:xfrm>
              <a:prstGeom prst="rect">
                <a:avLst/>
              </a:prstGeom>
              <a:noFill/>
              <a:ln>
                <a:noFill/>
              </a:ln>
            </p:spPr>
            <p:txBody>
              <a:bodyPr wrap="none" lIns="0" tIns="0" rIns="0" bIns="0" anchor="t" anchorCtr="0">
                <a:spAutoFit/>
              </a:bodyPr>
              <a:lstStyle/>
              <a:p>
                <a:pPr algn="l"/>
                <a:r>
                  <a:rPr lang="zh-CN" sz="1120" b="1" dirty="0">
                    <a:solidFill>
                      <a:srgbClr val="B03A1F"/>
                    </a:solidFill>
                    <a:latin typeface="+mn-lt"/>
                    <a:ea typeface="+mn-ea"/>
                    <a:cs typeface="+mn-cs"/>
                  </a:rPr>
                  <a:t>1</a:t>
                </a:r>
                <a:r>
                  <a:rPr lang="zh-CN" sz="820" b="1" dirty="0">
                    <a:solidFill>
                      <a:srgbClr val="3A3A3A"/>
                    </a:solidFill>
                    <a:latin typeface="+mn-lt"/>
                    <a:ea typeface="+mn-ea"/>
                    <a:cs typeface="+mn-cs"/>
                  </a:rPr>
                  <a:t xml:space="preserve"> 场</a:t>
                </a:r>
              </a:p>
            </p:txBody>
          </p:sp>
        </p:grpSp>
        <p:grpSp>
          <p:nvGrpSpPr>
            <p:cNvPr id="178" name="brand-strategy"/>
            <p:cNvGrpSpPr/>
            <p:nvPr/>
          </p:nvGrpSpPr>
          <p:grpSpPr>
            <a:xfrm>
              <a:off x="3848100" y="4610100"/>
              <a:ext cx="1386269" cy="434816"/>
              <a:chOff x="3848100" y="4610100"/>
              <a:chExt cx="1386269" cy="434816"/>
            </a:xfrm>
          </p:grpSpPr>
          <p:sp>
            <p:nvSpPr>
              <p:cNvPr id="170" name="Ellipse 170"/>
              <p:cNvSpPr/>
              <p:nvPr/>
            </p:nvSpPr>
            <p:spPr>
              <a:xfrm>
                <a:off x="3848100" y="4610100"/>
                <a:ext cx="400050" cy="400050"/>
              </a:xfrm>
              <a:prstGeom prst="ellipse">
                <a:avLst/>
              </a:prstGeom>
              <a:solidFill>
                <a:srgbClr val="B03A1F"/>
              </a:solidFill>
              <a:ln>
                <a:noFill/>
              </a:ln>
            </p:spPr>
          </p:sp>
          <p:grpSp>
            <p:nvGrpSpPr>
              <p:cNvPr id="175" name="Group 175"/>
              <p:cNvGrpSpPr/>
              <p:nvPr/>
            </p:nvGrpSpPr>
            <p:grpSpPr>
              <a:xfrm>
                <a:off x="3969544" y="4740275"/>
                <a:ext cx="157163" cy="149225"/>
                <a:chOff x="3969544" y="4740275"/>
                <a:chExt cx="157163" cy="149225"/>
              </a:xfrm>
            </p:grpSpPr>
            <p:sp>
              <p:nvSpPr>
                <p:cNvPr id="171" name="Freeform 171"/>
                <p:cNvSpPr/>
                <p:nvPr/>
              </p:nvSpPr>
              <p:spPr>
                <a:xfrm>
                  <a:off x="3969544" y="481012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172" name="Freeform 172"/>
                <p:cNvSpPr/>
                <p:nvPr/>
              </p:nvSpPr>
              <p:spPr>
                <a:xfrm>
                  <a:off x="4074319" y="477520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173" name="Freeform 173"/>
                <p:cNvSpPr/>
                <p:nvPr/>
              </p:nvSpPr>
              <p:spPr>
                <a:xfrm>
                  <a:off x="4021931" y="474027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174" name="Freeform 174"/>
                <p:cNvSpPr/>
                <p:nvPr/>
              </p:nvSpPr>
              <p:spPr>
                <a:xfrm>
                  <a:off x="3978275" y="4879975"/>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176" name="TextBox 176"/>
              <p:cNvSpPr txBox="1"/>
              <p:nvPr/>
            </p:nvSpPr>
            <p:spPr>
              <a:xfrm>
                <a:off x="4376738" y="4646295"/>
                <a:ext cx="857631"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投资策略报告会</a:t>
                </a:r>
              </a:p>
            </p:txBody>
          </p:sp>
          <p:sp>
            <p:nvSpPr>
              <p:cNvPr id="177" name="TextBox 177"/>
              <p:cNvSpPr txBox="1"/>
              <p:nvPr/>
            </p:nvSpPr>
            <p:spPr>
              <a:xfrm>
                <a:off x="4376738" y="4882991"/>
                <a:ext cx="642327"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不少于</a:t>
                </a:r>
                <a:r>
                  <a:rPr lang="zh-CN" sz="820" b="1" dirty="0">
                    <a:solidFill>
                      <a:srgbClr val="B03A1F"/>
                    </a:solidFill>
                    <a:latin typeface="+mn-lt"/>
                    <a:ea typeface="+mn-ea"/>
                    <a:cs typeface="+mn-cs"/>
                  </a:rPr>
                  <a:t>100场</a:t>
                </a:r>
              </a:p>
            </p:txBody>
          </p:sp>
        </p:grpSp>
        <p:grpSp>
          <p:nvGrpSpPr>
            <p:cNvPr id="187" name="brand-salon"/>
            <p:cNvGrpSpPr/>
            <p:nvPr/>
          </p:nvGrpSpPr>
          <p:grpSpPr>
            <a:xfrm>
              <a:off x="5943600" y="4610100"/>
              <a:ext cx="1265111" cy="434816"/>
              <a:chOff x="5943600" y="4610100"/>
              <a:chExt cx="1265111" cy="434816"/>
            </a:xfrm>
          </p:grpSpPr>
          <p:sp>
            <p:nvSpPr>
              <p:cNvPr id="179" name="Ellipse 179"/>
              <p:cNvSpPr/>
              <p:nvPr/>
            </p:nvSpPr>
            <p:spPr>
              <a:xfrm>
                <a:off x="5943600" y="4610100"/>
                <a:ext cx="400050" cy="400050"/>
              </a:xfrm>
              <a:prstGeom prst="ellipse">
                <a:avLst/>
              </a:prstGeom>
              <a:solidFill>
                <a:srgbClr val="B03A1F"/>
              </a:solidFill>
              <a:ln>
                <a:noFill/>
              </a:ln>
            </p:spPr>
          </p:sp>
          <p:grpSp>
            <p:nvGrpSpPr>
              <p:cNvPr id="184" name="Group 184"/>
              <p:cNvGrpSpPr/>
              <p:nvPr/>
            </p:nvGrpSpPr>
            <p:grpSpPr>
              <a:xfrm>
                <a:off x="6065044" y="4731544"/>
                <a:ext cx="157163" cy="157163"/>
                <a:chOff x="6065044" y="4731544"/>
                <a:chExt cx="157163" cy="157163"/>
              </a:xfrm>
            </p:grpSpPr>
            <p:sp>
              <p:nvSpPr>
                <p:cNvPr id="180" name="Freeform 180"/>
                <p:cNvSpPr/>
                <p:nvPr/>
              </p:nvSpPr>
              <p:spPr>
                <a:xfrm>
                  <a:off x="6082506" y="47315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81" name="Freeform 181"/>
                <p:cNvSpPr/>
                <p:nvPr/>
              </p:nvSpPr>
              <p:spPr>
                <a:xfrm>
                  <a:off x="6065044" y="48363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182" name="Freeform 182"/>
                <p:cNvSpPr/>
                <p:nvPr/>
              </p:nvSpPr>
              <p:spPr>
                <a:xfrm>
                  <a:off x="6178550" y="47326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183" name="Freeform 183"/>
                <p:cNvSpPr/>
                <p:nvPr/>
              </p:nvSpPr>
              <p:spPr>
                <a:xfrm>
                  <a:off x="6196013" y="48376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185" name="TextBox 185"/>
              <p:cNvSpPr txBox="1"/>
              <p:nvPr/>
            </p:nvSpPr>
            <p:spPr>
              <a:xfrm>
                <a:off x="6472238" y="4646295"/>
                <a:ext cx="736473"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家族传承沙龙</a:t>
                </a:r>
              </a:p>
            </p:txBody>
          </p:sp>
          <p:sp>
            <p:nvSpPr>
              <p:cNvPr id="186" name="TextBox 186"/>
              <p:cNvSpPr txBox="1"/>
              <p:nvPr/>
            </p:nvSpPr>
            <p:spPr>
              <a:xfrm>
                <a:off x="6472238" y="4882991"/>
                <a:ext cx="642327"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不少于</a:t>
                </a:r>
                <a:r>
                  <a:rPr lang="zh-CN" sz="820" b="1" dirty="0">
                    <a:solidFill>
                      <a:srgbClr val="B03A1F"/>
                    </a:solidFill>
                    <a:latin typeface="+mn-lt"/>
                    <a:ea typeface="+mn-ea"/>
                    <a:cs typeface="+mn-cs"/>
                  </a:rPr>
                  <a:t>100场</a:t>
                </a:r>
              </a:p>
            </p:txBody>
          </p:sp>
        </p:grpSp>
        <p:grpSp>
          <p:nvGrpSpPr>
            <p:cNvPr id="192" name="brand-checkup"/>
            <p:cNvGrpSpPr/>
            <p:nvPr/>
          </p:nvGrpSpPr>
          <p:grpSpPr>
            <a:xfrm>
              <a:off x="8039100" y="4610100"/>
              <a:ext cx="1386269" cy="434816"/>
              <a:chOff x="8039100" y="4610100"/>
              <a:chExt cx="1386269" cy="434816"/>
            </a:xfrm>
          </p:grpSpPr>
          <p:sp>
            <p:nvSpPr>
              <p:cNvPr id="188" name="Ellipse 188"/>
              <p:cNvSpPr/>
              <p:nvPr/>
            </p:nvSpPr>
            <p:spPr>
              <a:xfrm>
                <a:off x="8039100" y="4610100"/>
                <a:ext cx="400050" cy="400050"/>
              </a:xfrm>
              <a:prstGeom prst="ellipse">
                <a:avLst/>
              </a:prstGeom>
              <a:solidFill>
                <a:srgbClr val="B03A1F"/>
              </a:solidFill>
              <a:ln>
                <a:noFill/>
              </a:ln>
            </p:spPr>
          </p:sp>
          <p:sp>
            <p:nvSpPr>
              <p:cNvPr id="189" name="Freeform 189"/>
              <p:cNvSpPr/>
              <p:nvPr/>
            </p:nvSpPr>
            <p:spPr>
              <a:xfrm>
                <a:off x="8157520" y="4738035"/>
                <a:ext cx="163051" cy="141940"/>
              </a:xfrm>
              <a:custGeom>
                <a:avLst/>
                <a:gdLst/>
                <a:ahLst/>
                <a:cxnLst/>
                <a:rect l="l" t="t" r="r" b="b"/>
                <a:pathLst>
                  <a:path w="163051" h="141940">
                    <a:moveTo>
                      <a:pt x="147089" y="77084"/>
                    </a:moveTo>
                    <a:lnTo>
                      <a:pt x="81605" y="141940"/>
                    </a:lnTo>
                    <a:lnTo>
                      <a:pt x="16120" y="77084"/>
                    </a:lnTo>
                    <a:cubicBezTo>
                      <a:pt x="4344" y="65625"/>
                      <a:pt x="0" y="48525"/>
                      <a:pt x="4879" y="32835"/>
                    </a:cubicBezTo>
                    <a:cubicBezTo>
                      <a:pt x="9757" y="17144"/>
                      <a:pt x="23032" y="5522"/>
                      <a:pt x="39230" y="2761"/>
                    </a:cubicBezTo>
                    <a:cubicBezTo>
                      <a:pt x="55427" y="0"/>
                      <a:pt x="71803" y="6567"/>
                      <a:pt x="81605" y="19755"/>
                    </a:cubicBezTo>
                    <a:cubicBezTo>
                      <a:pt x="91447" y="6665"/>
                      <a:pt x="107788" y="185"/>
                      <a:pt x="123927" y="2972"/>
                    </a:cubicBezTo>
                    <a:cubicBezTo>
                      <a:pt x="140065" y="5759"/>
                      <a:pt x="153287" y="17344"/>
                      <a:pt x="158169" y="32977"/>
                    </a:cubicBezTo>
                    <a:cubicBezTo>
                      <a:pt x="163051" y="48610"/>
                      <a:pt x="158773" y="65660"/>
                      <a:pt x="147089" y="77137"/>
                    </a:cubicBezTo>
                  </a:path>
                </a:pathLst>
              </a:custGeom>
              <a:noFill/>
              <a:ln w="17463">
                <a:solidFill>
                  <a:srgbClr val="FFFFFF"/>
                </a:solidFill>
              </a:ln>
            </p:spPr>
          </p:sp>
          <p:sp>
            <p:nvSpPr>
              <p:cNvPr id="190" name="TextBox 190"/>
              <p:cNvSpPr txBox="1"/>
              <p:nvPr/>
            </p:nvSpPr>
            <p:spPr>
              <a:xfrm>
                <a:off x="8567738" y="4646295"/>
                <a:ext cx="857631"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基金健诊服务日</a:t>
                </a:r>
              </a:p>
            </p:txBody>
          </p:sp>
          <p:sp>
            <p:nvSpPr>
              <p:cNvPr id="191" name="TextBox 191"/>
              <p:cNvSpPr txBox="1"/>
              <p:nvPr/>
            </p:nvSpPr>
            <p:spPr>
              <a:xfrm>
                <a:off x="8567738" y="4882991"/>
                <a:ext cx="642327"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不少于</a:t>
                </a:r>
                <a:r>
                  <a:rPr lang="zh-CN" sz="820" b="1" dirty="0">
                    <a:solidFill>
                      <a:srgbClr val="B03A1F"/>
                    </a:solidFill>
                    <a:latin typeface="+mn-lt"/>
                    <a:ea typeface="+mn-ea"/>
                    <a:cs typeface="+mn-cs"/>
                  </a:rPr>
                  <a:t>100场</a:t>
                </a:r>
              </a:p>
            </p:txBody>
          </p:sp>
        </p:grpSp>
      </p:grpSp>
      <p:grpSp>
        <p:nvGrpSpPr>
          <p:cNvPr id="213" name="flow"/>
          <p:cNvGrpSpPr/>
          <p:nvPr/>
        </p:nvGrpSpPr>
        <p:grpSpPr>
          <a:xfrm>
            <a:off x="2667000" y="5476875"/>
            <a:ext cx="7258050" cy="438150"/>
            <a:chOff x="2667000" y="5476875"/>
            <a:chExt cx="7258050" cy="438150"/>
          </a:xfrm>
        </p:grpSpPr>
        <p:sp>
          <p:nvSpPr>
            <p:cNvPr id="194" name="Rectangle 194"/>
            <p:cNvSpPr/>
            <p:nvPr/>
          </p:nvSpPr>
          <p:spPr>
            <a:xfrm>
              <a:off x="2667000" y="5476875"/>
              <a:ext cx="1238250" cy="438150"/>
            </a:xfrm>
            <a:prstGeom prst="roundRect">
              <a:avLst>
                <a:gd name="adj" fmla="val 50000"/>
              </a:avLst>
            </a:prstGeom>
            <a:solidFill>
              <a:srgbClr val="FFFFFF"/>
            </a:solidFill>
            <a:ln w="14288">
              <a:solidFill>
                <a:srgbClr val="D9ABA0"/>
              </a:solidFill>
            </a:ln>
          </p:spPr>
        </p:sp>
        <p:grpSp>
          <p:nvGrpSpPr>
            <p:cNvPr id="199" name="Group 199"/>
            <p:cNvGrpSpPr/>
            <p:nvPr/>
          </p:nvGrpSpPr>
          <p:grpSpPr>
            <a:xfrm>
              <a:off x="2843212" y="5614987"/>
              <a:ext cx="142875" cy="142875"/>
              <a:chOff x="2843212" y="5614987"/>
              <a:chExt cx="142875" cy="142875"/>
            </a:xfrm>
          </p:grpSpPr>
          <p:sp>
            <p:nvSpPr>
              <p:cNvPr id="195" name="Freeform 195"/>
              <p:cNvSpPr/>
              <p:nvPr/>
            </p:nvSpPr>
            <p:spPr>
              <a:xfrm>
                <a:off x="2859087" y="56149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B03A1F"/>
                </a:solidFill>
              </a:ln>
            </p:spPr>
          </p:sp>
          <p:sp>
            <p:nvSpPr>
              <p:cNvPr id="196" name="Freeform 196"/>
              <p:cNvSpPr/>
              <p:nvPr/>
            </p:nvSpPr>
            <p:spPr>
              <a:xfrm>
                <a:off x="2843212" y="571023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B03A1F"/>
                </a:solidFill>
              </a:ln>
            </p:spPr>
          </p:sp>
          <p:sp>
            <p:nvSpPr>
              <p:cNvPr id="197" name="Freeform 197"/>
              <p:cNvSpPr/>
              <p:nvPr/>
            </p:nvSpPr>
            <p:spPr>
              <a:xfrm>
                <a:off x="2946400" y="5616019"/>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B03A1F"/>
                </a:solidFill>
              </a:ln>
            </p:spPr>
          </p:sp>
          <p:sp>
            <p:nvSpPr>
              <p:cNvPr id="198" name="Freeform 198"/>
              <p:cNvSpPr/>
              <p:nvPr/>
            </p:nvSpPr>
            <p:spPr>
              <a:xfrm>
                <a:off x="2962275" y="5711428"/>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B03A1F"/>
                </a:solidFill>
              </a:ln>
            </p:spPr>
          </p:sp>
        </p:grpSp>
        <p:sp>
          <p:nvSpPr>
            <p:cNvPr id="200" name="TextBox 200"/>
            <p:cNvSpPr txBox="1"/>
            <p:nvPr/>
          </p:nvSpPr>
          <p:spPr>
            <a:xfrm>
              <a:off x="3348038" y="5646420"/>
              <a:ext cx="251841"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客户</a:t>
              </a:r>
            </a:p>
          </p:txBody>
        </p:sp>
        <p:sp>
          <p:nvSpPr>
            <p:cNvPr id="201" name="Polygon 201"/>
            <p:cNvSpPr/>
            <p:nvPr/>
          </p:nvSpPr>
          <p:spPr>
            <a:xfrm>
              <a:off x="4000500" y="5638800"/>
              <a:ext cx="152400" cy="114300"/>
            </a:xfrm>
            <a:custGeom>
              <a:avLst/>
              <a:gdLst/>
              <a:ahLst/>
              <a:cxnLst/>
              <a:rect l="l" t="t" r="r" b="b"/>
              <a:pathLst>
                <a:path w="152400" h="114300">
                  <a:moveTo>
                    <a:pt x="0" y="0"/>
                  </a:moveTo>
                  <a:lnTo>
                    <a:pt x="152400" y="57150"/>
                  </a:lnTo>
                  <a:lnTo>
                    <a:pt x="0" y="114300"/>
                  </a:lnTo>
                  <a:close/>
                </a:path>
              </a:pathLst>
            </a:custGeom>
            <a:solidFill>
              <a:srgbClr val="B03A1F"/>
            </a:solidFill>
            <a:ln>
              <a:noFill/>
            </a:ln>
          </p:spPr>
        </p:sp>
        <p:sp>
          <p:nvSpPr>
            <p:cNvPr id="202" name="Rectangle 202"/>
            <p:cNvSpPr/>
            <p:nvPr/>
          </p:nvSpPr>
          <p:spPr>
            <a:xfrm>
              <a:off x="4286250" y="5476875"/>
              <a:ext cx="2476500" cy="438150"/>
            </a:xfrm>
            <a:prstGeom prst="roundRect">
              <a:avLst>
                <a:gd name="adj" fmla="val 50000"/>
              </a:avLst>
            </a:prstGeom>
            <a:solidFill>
              <a:srgbClr val="FFFFFF"/>
            </a:solidFill>
            <a:ln w="14288">
              <a:solidFill>
                <a:srgbClr val="D9ABA0"/>
              </a:solidFill>
            </a:ln>
          </p:spPr>
        </p:sp>
        <p:grpSp>
          <p:nvGrpSpPr>
            <p:cNvPr id="205" name="Group 205"/>
            <p:cNvGrpSpPr/>
            <p:nvPr/>
          </p:nvGrpSpPr>
          <p:grpSpPr>
            <a:xfrm>
              <a:off x="4460250" y="5616352"/>
              <a:ext cx="143500" cy="143723"/>
              <a:chOff x="4460250" y="5616352"/>
              <a:chExt cx="143500" cy="143723"/>
            </a:xfrm>
          </p:grpSpPr>
          <p:sp>
            <p:nvSpPr>
              <p:cNvPr id="203" name="Freeform 203"/>
              <p:cNvSpPr/>
              <p:nvPr/>
            </p:nvSpPr>
            <p:spPr>
              <a:xfrm>
                <a:off x="4460250" y="5616352"/>
                <a:ext cx="143500" cy="143723"/>
              </a:xfrm>
              <a:custGeom>
                <a:avLst/>
                <a:gdLst/>
                <a:ahLst/>
                <a:cxnLst/>
                <a:rect l="l" t="t" r="r" b="b"/>
                <a:pathLst>
                  <a:path w="143500" h="143723">
                    <a:moveTo>
                      <a:pt x="57775" y="223"/>
                    </a:moveTo>
                    <a:cubicBezTo>
                      <a:pt x="23406" y="8190"/>
                      <a:pt x="0" y="40055"/>
                      <a:pt x="2676" y="75234"/>
                    </a:cubicBezTo>
                    <a:cubicBezTo>
                      <a:pt x="5353" y="110413"/>
                      <a:pt x="33310" y="138370"/>
                      <a:pt x="68489" y="141046"/>
                    </a:cubicBezTo>
                    <a:cubicBezTo>
                      <a:pt x="103668" y="143723"/>
                      <a:pt x="135532" y="120317"/>
                      <a:pt x="143500" y="85948"/>
                    </a:cubicBezTo>
                    <a:cubicBezTo>
                      <a:pt x="143500" y="81564"/>
                      <a:pt x="139946" y="78010"/>
                      <a:pt x="135562" y="78010"/>
                    </a:cubicBezTo>
                    <a:lnTo>
                      <a:pt x="81587" y="78010"/>
                    </a:lnTo>
                    <a:cubicBezTo>
                      <a:pt x="72820" y="78010"/>
                      <a:pt x="65712" y="70903"/>
                      <a:pt x="65712" y="62135"/>
                    </a:cubicBezTo>
                    <a:lnTo>
                      <a:pt x="65712" y="6573"/>
                    </a:lnTo>
                    <a:cubicBezTo>
                      <a:pt x="65513" y="4673"/>
                      <a:pt x="64562" y="2932"/>
                      <a:pt x="63070" y="1739"/>
                    </a:cubicBezTo>
                    <a:cubicBezTo>
                      <a:pt x="61579" y="546"/>
                      <a:pt x="59672" y="0"/>
                      <a:pt x="57775" y="223"/>
                    </a:cubicBezTo>
                  </a:path>
                </a:pathLst>
              </a:custGeom>
              <a:noFill/>
              <a:ln w="15875">
                <a:solidFill>
                  <a:srgbClr val="B03A1F"/>
                </a:solidFill>
              </a:ln>
            </p:spPr>
          </p:sp>
          <p:sp>
            <p:nvSpPr>
              <p:cNvPr id="204" name="Freeform 204"/>
              <p:cNvSpPr/>
              <p:nvPr/>
            </p:nvSpPr>
            <p:spPr>
              <a:xfrm>
                <a:off x="4557712" y="5618956"/>
                <a:ext cx="43656" cy="43656"/>
              </a:xfrm>
              <a:custGeom>
                <a:avLst/>
                <a:gdLst/>
                <a:ahLst/>
                <a:cxnLst/>
                <a:rect l="l" t="t" r="r" b="b"/>
                <a:pathLst>
                  <a:path w="43656" h="43656">
                    <a:moveTo>
                      <a:pt x="0" y="0"/>
                    </a:moveTo>
                    <a:cubicBezTo>
                      <a:pt x="20414" y="7188"/>
                      <a:pt x="36468" y="23243"/>
                      <a:pt x="43656" y="43656"/>
                    </a:cubicBezTo>
                    <a:lnTo>
                      <a:pt x="7937" y="43656"/>
                    </a:lnTo>
                    <a:cubicBezTo>
                      <a:pt x="3554" y="43656"/>
                      <a:pt x="0" y="40102"/>
                      <a:pt x="0" y="35719"/>
                    </a:cubicBezTo>
                    <a:lnTo>
                      <a:pt x="0" y="0"/>
                    </a:lnTo>
                  </a:path>
                </a:pathLst>
              </a:custGeom>
              <a:noFill/>
              <a:ln w="15875">
                <a:solidFill>
                  <a:srgbClr val="B03A1F"/>
                </a:solidFill>
              </a:ln>
            </p:spPr>
          </p:sp>
        </p:grpSp>
        <p:sp>
          <p:nvSpPr>
            <p:cNvPr id="206" name="TextBox 206"/>
            <p:cNvSpPr txBox="1"/>
            <p:nvPr/>
          </p:nvSpPr>
          <p:spPr>
            <a:xfrm>
              <a:off x="4719638" y="5646420"/>
              <a:ext cx="1048758"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资产组合/配置方案</a:t>
              </a:r>
            </a:p>
          </p:txBody>
        </p:sp>
        <p:sp>
          <p:nvSpPr>
            <p:cNvPr id="207" name="Polygon 207"/>
            <p:cNvSpPr/>
            <p:nvPr/>
          </p:nvSpPr>
          <p:spPr>
            <a:xfrm>
              <a:off x="6877050" y="5638800"/>
              <a:ext cx="152400" cy="114300"/>
            </a:xfrm>
            <a:custGeom>
              <a:avLst/>
              <a:gdLst/>
              <a:ahLst/>
              <a:cxnLst/>
              <a:rect l="l" t="t" r="r" b="b"/>
              <a:pathLst>
                <a:path w="152400" h="114300">
                  <a:moveTo>
                    <a:pt x="0" y="0"/>
                  </a:moveTo>
                  <a:lnTo>
                    <a:pt x="152400" y="57150"/>
                  </a:lnTo>
                  <a:lnTo>
                    <a:pt x="0" y="114300"/>
                  </a:lnTo>
                  <a:close/>
                </a:path>
              </a:pathLst>
            </a:custGeom>
            <a:solidFill>
              <a:srgbClr val="B03A1F"/>
            </a:solidFill>
            <a:ln>
              <a:noFill/>
            </a:ln>
          </p:spPr>
        </p:sp>
        <p:sp>
          <p:nvSpPr>
            <p:cNvPr id="208" name="Rectangle 208"/>
            <p:cNvSpPr/>
            <p:nvPr/>
          </p:nvSpPr>
          <p:spPr>
            <a:xfrm>
              <a:off x="7162800" y="5476875"/>
              <a:ext cx="2762250" cy="438150"/>
            </a:xfrm>
            <a:prstGeom prst="roundRect">
              <a:avLst>
                <a:gd name="adj" fmla="val 50000"/>
              </a:avLst>
            </a:prstGeom>
            <a:solidFill>
              <a:srgbClr val="FFFFFF"/>
            </a:solidFill>
            <a:ln w="14288">
              <a:solidFill>
                <a:srgbClr val="D9ABA0"/>
              </a:solidFill>
            </a:ln>
          </p:spPr>
        </p:sp>
        <p:grpSp>
          <p:nvGrpSpPr>
            <p:cNvPr id="211" name="Group 211"/>
            <p:cNvGrpSpPr/>
            <p:nvPr/>
          </p:nvGrpSpPr>
          <p:grpSpPr>
            <a:xfrm>
              <a:off x="7339012" y="5646737"/>
              <a:ext cx="142875" cy="79375"/>
              <a:chOff x="7339012" y="5646737"/>
              <a:chExt cx="142875" cy="79375"/>
            </a:xfrm>
          </p:grpSpPr>
          <p:sp>
            <p:nvSpPr>
              <p:cNvPr id="209" name="Freeform 209"/>
              <p:cNvSpPr/>
              <p:nvPr/>
            </p:nvSpPr>
            <p:spPr>
              <a:xfrm>
                <a:off x="7339012" y="5646737"/>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B03A1F"/>
                </a:solidFill>
              </a:ln>
            </p:spPr>
          </p:sp>
          <p:sp>
            <p:nvSpPr>
              <p:cNvPr id="210" name="Freeform 210"/>
              <p:cNvSpPr/>
              <p:nvPr/>
            </p:nvSpPr>
            <p:spPr>
              <a:xfrm>
                <a:off x="7426325" y="5646737"/>
                <a:ext cx="55562" cy="55562"/>
              </a:xfrm>
              <a:custGeom>
                <a:avLst/>
                <a:gdLst/>
                <a:ahLst/>
                <a:cxnLst/>
                <a:rect l="l" t="t" r="r" b="b"/>
                <a:pathLst>
                  <a:path w="55562" h="55562">
                    <a:moveTo>
                      <a:pt x="0" y="0"/>
                    </a:moveTo>
                    <a:lnTo>
                      <a:pt x="55562" y="0"/>
                    </a:lnTo>
                    <a:lnTo>
                      <a:pt x="55562" y="55562"/>
                    </a:lnTo>
                  </a:path>
                </a:pathLst>
              </a:custGeom>
              <a:noFill/>
              <a:ln w="15875">
                <a:solidFill>
                  <a:srgbClr val="B03A1F"/>
                </a:solidFill>
              </a:ln>
            </p:spPr>
          </p:sp>
        </p:grpSp>
        <p:sp>
          <p:nvSpPr>
            <p:cNvPr id="212" name="TextBox 212"/>
            <p:cNvSpPr txBox="1"/>
            <p:nvPr/>
          </p:nvSpPr>
          <p:spPr>
            <a:xfrm>
              <a:off x="7596188" y="5646420"/>
              <a:ext cx="857631"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定期复盘与优化</a:t>
              </a:r>
            </a:p>
          </p:txBody>
        </p:sp>
      </p:gr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42113" y="143351"/>
              <a:ext cx="18650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9</a:t>
              </a:r>
            </a:p>
          </p:txBody>
        </p:sp>
        <p:sp>
          <p:nvSpPr>
            <p:cNvPr id="4" name="TextBox 4"/>
            <p:cNvSpPr txBox="1"/>
            <p:nvPr/>
          </p:nvSpPr>
          <p:spPr>
            <a:xfrm>
              <a:off x="942594" y="151448"/>
              <a:ext cx="639927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消费金融增长引擎：</a:t>
              </a:r>
              <a:r>
                <a:rPr lang="zh-CN" sz="1950" b="1" dirty="0">
                  <a:solidFill>
                    <a:srgbClr val="B03A1F"/>
                  </a:solidFill>
                  <a:latin typeface="SimSun"/>
                  <a:ea typeface="SimSun"/>
                  <a:cs typeface="SimSun"/>
                </a:rPr>
                <a:t>产品、场景、风控</a:t>
              </a:r>
              <a:r>
                <a:rPr lang="zh-CN" sz="1950" b="1" dirty="0">
                  <a:solidFill>
                    <a:srgbClr val="1A1A1A"/>
                  </a:solidFill>
                  <a:latin typeface="SimSun"/>
                  <a:ea typeface="SimSun"/>
                  <a:cs typeface="SimSun"/>
                </a:rPr>
                <a:t>协同激活需求</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sp>
        <p:nvSpPr>
          <p:cNvPr id="7" name="deco-arrow-1"/>
          <p:cNvSpPr/>
          <p:nvPr/>
        </p:nvSpPr>
        <p:spPr>
          <a:xfrm>
            <a:off x="3714750" y="2286000"/>
            <a:ext cx="285750" cy="381000"/>
          </a:xfrm>
          <a:custGeom>
            <a:avLst/>
            <a:gdLst/>
            <a:ahLst/>
            <a:cxnLst/>
            <a:rect l="l" t="t" r="r" b="b"/>
            <a:pathLst>
              <a:path w="285750" h="381000">
                <a:moveTo>
                  <a:pt x="0" y="0"/>
                </a:moveTo>
                <a:lnTo>
                  <a:pt x="285750" y="190500"/>
                </a:lnTo>
                <a:lnTo>
                  <a:pt x="0" y="381000"/>
                </a:lnTo>
                <a:close/>
              </a:path>
            </a:pathLst>
          </a:custGeom>
          <a:solidFill>
            <a:srgbClr val="B03A1F"/>
          </a:solidFill>
          <a:ln>
            <a:noFill/>
          </a:ln>
        </p:spPr>
      </p:sp>
      <p:sp>
        <p:nvSpPr>
          <p:cNvPr id="8" name="deco-arrow-2"/>
          <p:cNvSpPr/>
          <p:nvPr/>
        </p:nvSpPr>
        <p:spPr>
          <a:xfrm>
            <a:off x="7429500" y="2286000"/>
            <a:ext cx="285750" cy="381000"/>
          </a:xfrm>
          <a:custGeom>
            <a:avLst/>
            <a:gdLst/>
            <a:ahLst/>
            <a:cxnLst/>
            <a:rect l="l" t="t" r="r" b="b"/>
            <a:pathLst>
              <a:path w="285750" h="381000">
                <a:moveTo>
                  <a:pt x="0" y="0"/>
                </a:moveTo>
                <a:lnTo>
                  <a:pt x="285750" y="190500"/>
                </a:lnTo>
                <a:lnTo>
                  <a:pt x="0" y="381000"/>
                </a:lnTo>
                <a:close/>
              </a:path>
            </a:pathLst>
          </a:custGeom>
          <a:solidFill>
            <a:srgbClr val="B03A1F"/>
          </a:solidFill>
          <a:ln>
            <a:noFill/>
          </a:ln>
        </p:spPr>
      </p:sp>
      <p:grpSp>
        <p:nvGrpSpPr>
          <p:cNvPr id="51" name="col-product"/>
          <p:cNvGrpSpPr/>
          <p:nvPr/>
        </p:nvGrpSpPr>
        <p:grpSpPr>
          <a:xfrm>
            <a:off x="285750" y="904875"/>
            <a:ext cx="3429000" cy="3238500"/>
            <a:chOff x="285750" y="904875"/>
            <a:chExt cx="3429000" cy="3238500"/>
          </a:xfrm>
        </p:grpSpPr>
        <p:sp>
          <p:nvSpPr>
            <p:cNvPr id="9" name="Rectangle 9"/>
            <p:cNvSpPr/>
            <p:nvPr/>
          </p:nvSpPr>
          <p:spPr>
            <a:xfrm>
              <a:off x="285750" y="904875"/>
              <a:ext cx="3429000" cy="3238500"/>
            </a:xfrm>
            <a:prstGeom prst="roundRect">
              <a:avLst>
                <a:gd name="adj" fmla="val 2353"/>
              </a:avLst>
            </a:prstGeom>
            <a:solidFill>
              <a:srgbClr val="FFFFFF"/>
            </a:solidFill>
            <a:ln w="9525">
              <a:solidFill>
                <a:srgbClr val="E8E4E0"/>
              </a:solidFill>
            </a:ln>
          </p:spPr>
        </p:sp>
        <p:grpSp>
          <p:nvGrpSpPr>
            <p:cNvPr id="18" name="prod-tab"/>
            <p:cNvGrpSpPr/>
            <p:nvPr/>
          </p:nvGrpSpPr>
          <p:grpSpPr>
            <a:xfrm>
              <a:off x="438150" y="914400"/>
              <a:ext cx="2209800" cy="457200"/>
              <a:chOff x="438150" y="914400"/>
              <a:chExt cx="2209800" cy="457200"/>
            </a:xfrm>
          </p:grpSpPr>
          <p:sp>
            <p:nvSpPr>
              <p:cNvPr id="10" name="Ellipse 10"/>
              <p:cNvSpPr/>
              <p:nvPr/>
            </p:nvSpPr>
            <p:spPr>
              <a:xfrm>
                <a:off x="438150" y="914400"/>
                <a:ext cx="457200" cy="457200"/>
              </a:xfrm>
              <a:prstGeom prst="ellipse">
                <a:avLst/>
              </a:prstGeom>
              <a:solidFill>
                <a:srgbClr val="FFFFFF"/>
              </a:solidFill>
              <a:ln w="19050">
                <a:solidFill>
                  <a:srgbClr val="B03A1F"/>
                </a:solidFill>
              </a:ln>
            </p:spPr>
          </p:sp>
          <p:grpSp>
            <p:nvGrpSpPr>
              <p:cNvPr id="15" name="Group 15"/>
              <p:cNvGrpSpPr/>
              <p:nvPr/>
            </p:nvGrpSpPr>
            <p:grpSpPr>
              <a:xfrm>
                <a:off x="581025" y="1056947"/>
                <a:ext cx="171450" cy="171778"/>
                <a:chOff x="581025" y="1056947"/>
                <a:chExt cx="171450" cy="171778"/>
              </a:xfrm>
            </p:grpSpPr>
            <p:sp>
              <p:nvSpPr>
                <p:cNvPr id="11" name="Freeform 11"/>
                <p:cNvSpPr/>
                <p:nvPr/>
              </p:nvSpPr>
              <p:spPr>
                <a:xfrm>
                  <a:off x="581025" y="1104900"/>
                  <a:ext cx="171450" cy="38100"/>
                </a:xfrm>
                <a:custGeom>
                  <a:avLst/>
                  <a:gdLst/>
                  <a:ahLst/>
                  <a:cxnLst/>
                  <a:rect l="l" t="t" r="r" b="b"/>
                  <a:pathLst>
                    <a:path w="171450" h="38100">
                      <a:moveTo>
                        <a:pt x="0" y="9525"/>
                      </a:moveTo>
                      <a:cubicBezTo>
                        <a:pt x="0" y="4264"/>
                        <a:pt x="4264" y="0"/>
                        <a:pt x="9525" y="0"/>
                      </a:cubicBezTo>
                      <a:lnTo>
                        <a:pt x="161925" y="0"/>
                      </a:lnTo>
                      <a:cubicBezTo>
                        <a:pt x="167186" y="0"/>
                        <a:pt x="171450" y="4264"/>
                        <a:pt x="171450" y="9525"/>
                      </a:cubicBezTo>
                      <a:lnTo>
                        <a:pt x="171450" y="28575"/>
                      </a:lnTo>
                      <a:cubicBezTo>
                        <a:pt x="171450" y="33836"/>
                        <a:pt x="167186" y="38100"/>
                        <a:pt x="161925" y="38100"/>
                      </a:cubicBezTo>
                      <a:lnTo>
                        <a:pt x="9525" y="38100"/>
                      </a:lnTo>
                      <a:cubicBezTo>
                        <a:pt x="4264" y="38100"/>
                        <a:pt x="0" y="33836"/>
                        <a:pt x="0" y="28575"/>
                      </a:cubicBezTo>
                      <a:lnTo>
                        <a:pt x="0" y="9525"/>
                      </a:lnTo>
                    </a:path>
                  </a:pathLst>
                </a:custGeom>
                <a:noFill/>
                <a:ln w="19050">
                  <a:solidFill>
                    <a:srgbClr val="B03A1F"/>
                  </a:solidFill>
                </a:ln>
              </p:spPr>
            </p:sp>
            <p:sp>
              <p:nvSpPr>
                <p:cNvPr id="12" name="Freeform 12"/>
                <p:cNvSpPr/>
                <p:nvPr/>
              </p:nvSpPr>
              <p:spPr>
                <a:xfrm>
                  <a:off x="666750" y="1104900"/>
                  <a:ext cx="9525" cy="123825"/>
                </a:xfrm>
                <a:custGeom>
                  <a:avLst/>
                  <a:gdLst/>
                  <a:ahLst/>
                  <a:cxnLst/>
                  <a:rect l="l" t="t" r="r" b="b"/>
                  <a:pathLst>
                    <a:path w="9525" h="123825">
                      <a:moveTo>
                        <a:pt x="0" y="0"/>
                      </a:moveTo>
                      <a:lnTo>
                        <a:pt x="0" y="123825"/>
                      </a:lnTo>
                    </a:path>
                  </a:pathLst>
                </a:custGeom>
                <a:noFill/>
                <a:ln w="19050">
                  <a:solidFill>
                    <a:srgbClr val="B03A1F"/>
                  </a:solidFill>
                </a:ln>
              </p:spPr>
            </p:sp>
            <p:sp>
              <p:nvSpPr>
                <p:cNvPr id="13" name="Freeform 13"/>
                <p:cNvSpPr/>
                <p:nvPr/>
              </p:nvSpPr>
              <p:spPr>
                <a:xfrm>
                  <a:off x="600075" y="1143000"/>
                  <a:ext cx="133350" cy="85725"/>
                </a:xfrm>
                <a:custGeom>
                  <a:avLst/>
                  <a:gdLst/>
                  <a:ahLst/>
                  <a:cxnLst/>
                  <a:rect l="l" t="t" r="r" b="b"/>
                  <a:pathLst>
                    <a:path w="133350" h="85725">
                      <a:moveTo>
                        <a:pt x="133350" y="0"/>
                      </a:moveTo>
                      <a:lnTo>
                        <a:pt x="133350" y="66675"/>
                      </a:lnTo>
                      <a:cubicBezTo>
                        <a:pt x="133350" y="77196"/>
                        <a:pt x="124821" y="85725"/>
                        <a:pt x="114300" y="85725"/>
                      </a:cubicBezTo>
                      <a:lnTo>
                        <a:pt x="19050" y="85725"/>
                      </a:lnTo>
                      <a:cubicBezTo>
                        <a:pt x="8529" y="85725"/>
                        <a:pt x="0" y="77196"/>
                        <a:pt x="0" y="66675"/>
                      </a:cubicBezTo>
                      <a:lnTo>
                        <a:pt x="0" y="0"/>
                      </a:lnTo>
                    </a:path>
                  </a:pathLst>
                </a:custGeom>
                <a:noFill/>
                <a:ln w="19050">
                  <a:solidFill>
                    <a:srgbClr val="B03A1F"/>
                  </a:solidFill>
                </a:ln>
              </p:spPr>
            </p:sp>
            <p:sp>
              <p:nvSpPr>
                <p:cNvPr id="14" name="Freeform 14"/>
                <p:cNvSpPr/>
                <p:nvPr/>
              </p:nvSpPr>
              <p:spPr>
                <a:xfrm>
                  <a:off x="600075" y="1056947"/>
                  <a:ext cx="133350" cy="47953"/>
                </a:xfrm>
                <a:custGeom>
                  <a:avLst/>
                  <a:gdLst/>
                  <a:ahLst/>
                  <a:cxnLst/>
                  <a:rect l="l" t="t" r="r" b="b"/>
                  <a:pathLst>
                    <a:path w="133350" h="47953">
                      <a:moveTo>
                        <a:pt x="23812" y="47953"/>
                      </a:moveTo>
                      <a:cubicBezTo>
                        <a:pt x="10661" y="47953"/>
                        <a:pt x="0" y="37291"/>
                        <a:pt x="0" y="24140"/>
                      </a:cubicBezTo>
                      <a:cubicBezTo>
                        <a:pt x="0" y="10989"/>
                        <a:pt x="10661" y="328"/>
                        <a:pt x="23812" y="328"/>
                      </a:cubicBezTo>
                      <a:cubicBezTo>
                        <a:pt x="42617" y="0"/>
                        <a:pt x="59624" y="18897"/>
                        <a:pt x="66675" y="47953"/>
                      </a:cubicBezTo>
                      <a:cubicBezTo>
                        <a:pt x="73726" y="18897"/>
                        <a:pt x="90733" y="0"/>
                        <a:pt x="109538" y="328"/>
                      </a:cubicBezTo>
                      <a:cubicBezTo>
                        <a:pt x="122689" y="328"/>
                        <a:pt x="133350" y="10989"/>
                        <a:pt x="133350" y="24140"/>
                      </a:cubicBezTo>
                      <a:cubicBezTo>
                        <a:pt x="133350" y="37291"/>
                        <a:pt x="122689" y="47953"/>
                        <a:pt x="109538" y="47953"/>
                      </a:cubicBezTo>
                    </a:path>
                  </a:pathLst>
                </a:custGeom>
                <a:noFill/>
                <a:ln w="19050">
                  <a:solidFill>
                    <a:srgbClr val="B03A1F"/>
                  </a:solidFill>
                </a:ln>
              </p:spPr>
            </p:sp>
          </p:grpSp>
          <p:sp>
            <p:nvSpPr>
              <p:cNvPr id="16" name="Polygon 16"/>
              <p:cNvSpPr/>
              <p:nvPr/>
            </p:nvSpPr>
            <p:spPr>
              <a:xfrm>
                <a:off x="571500" y="933450"/>
                <a:ext cx="2076450" cy="419100"/>
              </a:xfrm>
              <a:custGeom>
                <a:avLst/>
                <a:gdLst/>
                <a:ahLst/>
                <a:cxnLst/>
                <a:rect l="l" t="t" r="r" b="b"/>
                <a:pathLst>
                  <a:path w="2076450" h="419100">
                    <a:moveTo>
                      <a:pt x="0" y="0"/>
                    </a:moveTo>
                    <a:lnTo>
                      <a:pt x="1809750" y="0"/>
                    </a:lnTo>
                    <a:lnTo>
                      <a:pt x="2076450" y="419100"/>
                    </a:lnTo>
                    <a:lnTo>
                      <a:pt x="0" y="419100"/>
                    </a:lnTo>
                    <a:close/>
                  </a:path>
                </a:pathLst>
              </a:custGeom>
              <a:solidFill>
                <a:srgbClr val="B03A1F"/>
              </a:solidFill>
              <a:ln>
                <a:noFill/>
              </a:ln>
            </p:spPr>
          </p:sp>
          <p:sp>
            <p:nvSpPr>
              <p:cNvPr id="17" name="TextBox 17"/>
              <p:cNvSpPr txBox="1"/>
              <p:nvPr/>
            </p:nvSpPr>
            <p:spPr>
              <a:xfrm>
                <a:off x="1432941" y="108966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产品整合</a:t>
                </a:r>
              </a:p>
            </p:txBody>
          </p:sp>
        </p:grpSp>
        <p:sp>
          <p:nvSpPr>
            <p:cNvPr id="19" name="TextBox 19"/>
            <p:cNvSpPr txBox="1"/>
            <p:nvPr/>
          </p:nvSpPr>
          <p:spPr>
            <a:xfrm>
              <a:off x="1137768" y="1533049"/>
              <a:ext cx="1724965" cy="190690"/>
            </a:xfrm>
            <a:prstGeom prst="rect">
              <a:avLst/>
            </a:prstGeom>
            <a:noFill/>
            <a:ln>
              <a:noFill/>
            </a:ln>
          </p:spPr>
          <p:txBody>
            <a:bodyPr wrap="none" lIns="0" tIns="0" rIns="0" bIns="0" anchor="t" anchorCtr="0">
              <a:spAutoFit/>
            </a:bodyPr>
            <a:lstStyle/>
            <a:p>
              <a:pPr algn="ctr"/>
              <a:r>
                <a:rPr lang="zh-CN" sz="980" b="1" dirty="0">
                  <a:solidFill>
                    <a:srgbClr val="B03A1F"/>
                  </a:solidFill>
                  <a:latin typeface="+mn-lt"/>
                  <a:ea typeface="+mn-ea"/>
                  <a:cs typeface="+mn-cs"/>
                </a:rPr>
                <a:t>幸福生活一站式消费金融品牌</a:t>
              </a:r>
            </a:p>
          </p:txBody>
        </p:sp>
        <p:grpSp>
          <p:nvGrpSpPr>
            <p:cNvPr id="50" name="prod-items"/>
            <p:cNvGrpSpPr/>
            <p:nvPr/>
          </p:nvGrpSpPr>
          <p:grpSpPr>
            <a:xfrm>
              <a:off x="523875" y="1790700"/>
              <a:ext cx="2952750" cy="2171700"/>
              <a:chOff x="523875" y="1790700"/>
              <a:chExt cx="2952750" cy="2171700"/>
            </a:xfrm>
          </p:grpSpPr>
          <p:sp>
            <p:nvSpPr>
              <p:cNvPr id="20" name="Rectangle 20"/>
              <p:cNvSpPr/>
              <p:nvPr/>
            </p:nvSpPr>
            <p:spPr>
              <a:xfrm>
                <a:off x="523875" y="1790700"/>
                <a:ext cx="2952750" cy="323850"/>
              </a:xfrm>
              <a:prstGeom prst="roundRect">
                <a:avLst>
                  <a:gd name="adj" fmla="val 17647"/>
                </a:avLst>
              </a:prstGeom>
              <a:solidFill>
                <a:srgbClr val="FFFFFF"/>
              </a:solidFill>
              <a:ln w="9525">
                <a:solidFill>
                  <a:srgbClr val="D8D4D0"/>
                </a:solidFill>
              </a:ln>
            </p:spPr>
          </p:sp>
          <p:grpSp>
            <p:nvGrpSpPr>
              <p:cNvPr id="25" name="Group 25"/>
              <p:cNvGrpSpPr/>
              <p:nvPr/>
            </p:nvGrpSpPr>
            <p:grpSpPr>
              <a:xfrm>
                <a:off x="688181" y="1902619"/>
                <a:ext cx="128588" cy="100012"/>
                <a:chOff x="688181" y="1902619"/>
                <a:chExt cx="128588" cy="100012"/>
              </a:xfrm>
            </p:grpSpPr>
            <p:sp>
              <p:nvSpPr>
                <p:cNvPr id="21" name="Freeform 21"/>
                <p:cNvSpPr/>
                <p:nvPr/>
              </p:nvSpPr>
              <p:spPr>
                <a:xfrm>
                  <a:off x="688181" y="1902619"/>
                  <a:ext cx="128588" cy="100012"/>
                </a:xfrm>
                <a:custGeom>
                  <a:avLst/>
                  <a:gdLst/>
                  <a:ahLst/>
                  <a:cxnLst/>
                  <a:rect l="l" t="t" r="r" b="b"/>
                  <a:pathLst>
                    <a:path w="128588" h="100012">
                      <a:moveTo>
                        <a:pt x="0" y="21431"/>
                      </a:moveTo>
                      <a:cubicBezTo>
                        <a:pt x="0" y="9595"/>
                        <a:pt x="9595" y="0"/>
                        <a:pt x="21431" y="0"/>
                      </a:cubicBezTo>
                      <a:lnTo>
                        <a:pt x="107156" y="0"/>
                      </a:lnTo>
                      <a:cubicBezTo>
                        <a:pt x="118992" y="0"/>
                        <a:pt x="128588" y="9595"/>
                        <a:pt x="128588" y="21431"/>
                      </a:cubicBezTo>
                      <a:lnTo>
                        <a:pt x="128588" y="78581"/>
                      </a:lnTo>
                      <a:cubicBezTo>
                        <a:pt x="128588" y="90417"/>
                        <a:pt x="118992" y="100012"/>
                        <a:pt x="107156" y="100012"/>
                      </a:cubicBezTo>
                      <a:lnTo>
                        <a:pt x="21431" y="100012"/>
                      </a:lnTo>
                      <a:cubicBezTo>
                        <a:pt x="9595" y="100012"/>
                        <a:pt x="0" y="90417"/>
                        <a:pt x="0" y="78581"/>
                      </a:cubicBezTo>
                      <a:lnTo>
                        <a:pt x="0" y="21431"/>
                      </a:lnTo>
                    </a:path>
                  </a:pathLst>
                </a:custGeom>
                <a:noFill/>
                <a:ln w="14288">
                  <a:solidFill>
                    <a:srgbClr val="B03A1F"/>
                  </a:solidFill>
                </a:ln>
              </p:spPr>
            </p:sp>
            <p:sp>
              <p:nvSpPr>
                <p:cNvPr id="22" name="Freeform 22"/>
                <p:cNvSpPr/>
                <p:nvPr/>
              </p:nvSpPr>
              <p:spPr>
                <a:xfrm>
                  <a:off x="688181" y="1938338"/>
                  <a:ext cx="128588" cy="9525"/>
                </a:xfrm>
                <a:custGeom>
                  <a:avLst/>
                  <a:gdLst/>
                  <a:ahLst/>
                  <a:cxnLst/>
                  <a:rect l="l" t="t" r="r" b="b"/>
                  <a:pathLst>
                    <a:path w="128588" h="9525">
                      <a:moveTo>
                        <a:pt x="0" y="0"/>
                      </a:moveTo>
                      <a:lnTo>
                        <a:pt x="128588" y="0"/>
                      </a:lnTo>
                    </a:path>
                  </a:pathLst>
                </a:custGeom>
                <a:noFill/>
                <a:ln w="14288">
                  <a:solidFill>
                    <a:srgbClr val="B03A1F"/>
                  </a:solidFill>
                </a:ln>
              </p:spPr>
            </p:sp>
            <p:sp>
              <p:nvSpPr>
                <p:cNvPr id="23" name="Freeform 23"/>
                <p:cNvSpPr/>
                <p:nvPr/>
              </p:nvSpPr>
              <p:spPr>
                <a:xfrm>
                  <a:off x="716756" y="1974056"/>
                  <a:ext cx="9525" cy="9525"/>
                </a:xfrm>
                <a:custGeom>
                  <a:avLst/>
                  <a:gdLst/>
                  <a:ahLst/>
                  <a:cxnLst/>
                  <a:rect l="l" t="t" r="r" b="b"/>
                  <a:pathLst>
                    <a:path w="9525" h="9525">
                      <a:moveTo>
                        <a:pt x="0" y="0"/>
                      </a:moveTo>
                      <a:lnTo>
                        <a:pt x="71" y="0"/>
                      </a:lnTo>
                    </a:path>
                  </a:pathLst>
                </a:custGeom>
                <a:noFill/>
                <a:ln w="14288">
                  <a:solidFill>
                    <a:srgbClr val="B03A1F"/>
                  </a:solidFill>
                </a:ln>
              </p:spPr>
            </p:sp>
            <p:sp>
              <p:nvSpPr>
                <p:cNvPr id="24" name="Freeform 24"/>
                <p:cNvSpPr/>
                <p:nvPr/>
              </p:nvSpPr>
              <p:spPr>
                <a:xfrm>
                  <a:off x="745331" y="1974056"/>
                  <a:ext cx="14288" cy="9525"/>
                </a:xfrm>
                <a:custGeom>
                  <a:avLst/>
                  <a:gdLst/>
                  <a:ahLst/>
                  <a:cxnLst/>
                  <a:rect l="l" t="t" r="r" b="b"/>
                  <a:pathLst>
                    <a:path w="14288" h="9525">
                      <a:moveTo>
                        <a:pt x="0" y="0"/>
                      </a:moveTo>
                      <a:lnTo>
                        <a:pt x="14288" y="0"/>
                      </a:lnTo>
                    </a:path>
                  </a:pathLst>
                </a:custGeom>
                <a:noFill/>
                <a:ln w="14288">
                  <a:solidFill>
                    <a:srgbClr val="B03A1F"/>
                  </a:solidFill>
                </a:ln>
              </p:spPr>
            </p:sp>
          </p:grpSp>
          <p:sp>
            <p:nvSpPr>
              <p:cNvPr id="26" name="TextBox 26"/>
              <p:cNvSpPr txBox="1"/>
              <p:nvPr/>
            </p:nvSpPr>
            <p:spPr>
              <a:xfrm>
                <a:off x="947738" y="1907143"/>
                <a:ext cx="704164" cy="169069"/>
              </a:xfrm>
              <a:prstGeom prst="rect">
                <a:avLst/>
              </a:prstGeom>
              <a:noFill/>
              <a:ln>
                <a:noFill/>
              </a:ln>
            </p:spPr>
            <p:txBody>
              <a:bodyPr wrap="none" lIns="0" tIns="0" rIns="0" bIns="0" anchor="t" anchorCtr="0">
                <a:spAutoFit/>
              </a:bodyPr>
              <a:lstStyle/>
              <a:p>
                <a:pPr algn="l"/>
                <a:r>
                  <a:rPr lang="zh-CN" sz="860" dirty="0">
                    <a:solidFill>
                      <a:srgbClr val="1A1A1A"/>
                    </a:solidFill>
                    <a:latin typeface="+mn-lt"/>
                    <a:ea typeface="+mn-ea"/>
                    <a:cs typeface="+mn-cs"/>
                  </a:rPr>
                  <a:t>信用消费贷款</a:t>
                </a:r>
              </a:p>
            </p:txBody>
          </p:sp>
          <p:sp>
            <p:nvSpPr>
              <p:cNvPr id="27" name="Rectangle 27"/>
              <p:cNvSpPr/>
              <p:nvPr/>
            </p:nvSpPr>
            <p:spPr>
              <a:xfrm>
                <a:off x="523875" y="2190750"/>
                <a:ext cx="2952750" cy="323850"/>
              </a:xfrm>
              <a:prstGeom prst="roundRect">
                <a:avLst>
                  <a:gd name="adj" fmla="val 17647"/>
                </a:avLst>
              </a:prstGeom>
              <a:solidFill>
                <a:srgbClr val="FFFFFF"/>
              </a:solidFill>
              <a:ln w="9525">
                <a:solidFill>
                  <a:srgbClr val="D8D4D0"/>
                </a:solidFill>
              </a:ln>
            </p:spPr>
          </p:sp>
          <p:grpSp>
            <p:nvGrpSpPr>
              <p:cNvPr id="32" name="Group 32"/>
              <p:cNvGrpSpPr/>
              <p:nvPr/>
            </p:nvGrpSpPr>
            <p:grpSpPr>
              <a:xfrm>
                <a:off x="688181" y="2302669"/>
                <a:ext cx="128588" cy="100012"/>
                <a:chOff x="688181" y="2302669"/>
                <a:chExt cx="128588" cy="100012"/>
              </a:xfrm>
            </p:grpSpPr>
            <p:sp>
              <p:nvSpPr>
                <p:cNvPr id="28" name="Freeform 28"/>
                <p:cNvSpPr/>
                <p:nvPr/>
              </p:nvSpPr>
              <p:spPr>
                <a:xfrm>
                  <a:off x="688181" y="2302669"/>
                  <a:ext cx="128588" cy="100012"/>
                </a:xfrm>
                <a:custGeom>
                  <a:avLst/>
                  <a:gdLst/>
                  <a:ahLst/>
                  <a:cxnLst/>
                  <a:rect l="l" t="t" r="r" b="b"/>
                  <a:pathLst>
                    <a:path w="128588" h="100012">
                      <a:moveTo>
                        <a:pt x="0" y="21431"/>
                      </a:moveTo>
                      <a:cubicBezTo>
                        <a:pt x="0" y="9595"/>
                        <a:pt x="9595" y="0"/>
                        <a:pt x="21431" y="0"/>
                      </a:cubicBezTo>
                      <a:lnTo>
                        <a:pt x="107156" y="0"/>
                      </a:lnTo>
                      <a:cubicBezTo>
                        <a:pt x="118992" y="0"/>
                        <a:pt x="128588" y="9595"/>
                        <a:pt x="128588" y="21431"/>
                      </a:cubicBezTo>
                      <a:lnTo>
                        <a:pt x="128588" y="78581"/>
                      </a:lnTo>
                      <a:cubicBezTo>
                        <a:pt x="128588" y="90417"/>
                        <a:pt x="118992" y="100012"/>
                        <a:pt x="107156" y="100012"/>
                      </a:cubicBezTo>
                      <a:lnTo>
                        <a:pt x="21431" y="100012"/>
                      </a:lnTo>
                      <a:cubicBezTo>
                        <a:pt x="9595" y="100012"/>
                        <a:pt x="0" y="90417"/>
                        <a:pt x="0" y="78581"/>
                      </a:cubicBezTo>
                      <a:lnTo>
                        <a:pt x="0" y="21431"/>
                      </a:lnTo>
                    </a:path>
                  </a:pathLst>
                </a:custGeom>
                <a:noFill/>
                <a:ln w="14288">
                  <a:solidFill>
                    <a:srgbClr val="B03A1F"/>
                  </a:solidFill>
                </a:ln>
              </p:spPr>
            </p:sp>
            <p:sp>
              <p:nvSpPr>
                <p:cNvPr id="29" name="Freeform 29"/>
                <p:cNvSpPr/>
                <p:nvPr/>
              </p:nvSpPr>
              <p:spPr>
                <a:xfrm>
                  <a:off x="688181" y="2338388"/>
                  <a:ext cx="128588" cy="9525"/>
                </a:xfrm>
                <a:custGeom>
                  <a:avLst/>
                  <a:gdLst/>
                  <a:ahLst/>
                  <a:cxnLst/>
                  <a:rect l="l" t="t" r="r" b="b"/>
                  <a:pathLst>
                    <a:path w="128588" h="9525">
                      <a:moveTo>
                        <a:pt x="0" y="0"/>
                      </a:moveTo>
                      <a:lnTo>
                        <a:pt x="128588" y="0"/>
                      </a:lnTo>
                    </a:path>
                  </a:pathLst>
                </a:custGeom>
                <a:noFill/>
                <a:ln w="14288">
                  <a:solidFill>
                    <a:srgbClr val="B03A1F"/>
                  </a:solidFill>
                </a:ln>
              </p:spPr>
            </p:sp>
            <p:sp>
              <p:nvSpPr>
                <p:cNvPr id="30" name="Freeform 30"/>
                <p:cNvSpPr/>
                <p:nvPr/>
              </p:nvSpPr>
              <p:spPr>
                <a:xfrm>
                  <a:off x="716756" y="2374106"/>
                  <a:ext cx="9525" cy="9525"/>
                </a:xfrm>
                <a:custGeom>
                  <a:avLst/>
                  <a:gdLst/>
                  <a:ahLst/>
                  <a:cxnLst/>
                  <a:rect l="l" t="t" r="r" b="b"/>
                  <a:pathLst>
                    <a:path w="9525" h="9525">
                      <a:moveTo>
                        <a:pt x="0" y="0"/>
                      </a:moveTo>
                      <a:lnTo>
                        <a:pt x="71" y="0"/>
                      </a:lnTo>
                    </a:path>
                  </a:pathLst>
                </a:custGeom>
                <a:noFill/>
                <a:ln w="14288">
                  <a:solidFill>
                    <a:srgbClr val="B03A1F"/>
                  </a:solidFill>
                </a:ln>
              </p:spPr>
            </p:sp>
            <p:sp>
              <p:nvSpPr>
                <p:cNvPr id="31" name="Freeform 31"/>
                <p:cNvSpPr/>
                <p:nvPr/>
              </p:nvSpPr>
              <p:spPr>
                <a:xfrm>
                  <a:off x="745331" y="2374106"/>
                  <a:ext cx="14288" cy="9525"/>
                </a:xfrm>
                <a:custGeom>
                  <a:avLst/>
                  <a:gdLst/>
                  <a:ahLst/>
                  <a:cxnLst/>
                  <a:rect l="l" t="t" r="r" b="b"/>
                  <a:pathLst>
                    <a:path w="14288" h="9525">
                      <a:moveTo>
                        <a:pt x="0" y="0"/>
                      </a:moveTo>
                      <a:lnTo>
                        <a:pt x="14288" y="0"/>
                      </a:lnTo>
                    </a:path>
                  </a:pathLst>
                </a:custGeom>
                <a:noFill/>
                <a:ln w="14288">
                  <a:solidFill>
                    <a:srgbClr val="B03A1F"/>
                  </a:solidFill>
                </a:ln>
              </p:spPr>
            </p:sp>
          </p:grpSp>
          <p:sp>
            <p:nvSpPr>
              <p:cNvPr id="33" name="TextBox 33"/>
              <p:cNvSpPr txBox="1"/>
              <p:nvPr/>
            </p:nvSpPr>
            <p:spPr>
              <a:xfrm>
                <a:off x="947738" y="2307193"/>
                <a:ext cx="588391" cy="169069"/>
              </a:xfrm>
              <a:prstGeom prst="rect">
                <a:avLst/>
              </a:prstGeom>
              <a:noFill/>
              <a:ln>
                <a:noFill/>
              </a:ln>
            </p:spPr>
            <p:txBody>
              <a:bodyPr wrap="none" lIns="0" tIns="0" rIns="0" bIns="0" anchor="t" anchorCtr="0">
                <a:spAutoFit/>
              </a:bodyPr>
              <a:lstStyle/>
              <a:p>
                <a:pPr algn="l"/>
                <a:r>
                  <a:rPr lang="zh-CN" sz="860" dirty="0">
                    <a:solidFill>
                      <a:srgbClr val="1A1A1A"/>
                    </a:solidFill>
                    <a:latin typeface="+mn-lt"/>
                    <a:ea typeface="+mn-ea"/>
                    <a:cs typeface="+mn-cs"/>
                  </a:rPr>
                  <a:t>信用卡分期</a:t>
                </a:r>
              </a:p>
            </p:txBody>
          </p:sp>
          <p:sp>
            <p:nvSpPr>
              <p:cNvPr id="34" name="Rectangle 34"/>
              <p:cNvSpPr/>
              <p:nvPr/>
            </p:nvSpPr>
            <p:spPr>
              <a:xfrm>
                <a:off x="523875" y="2590800"/>
                <a:ext cx="2952750" cy="323850"/>
              </a:xfrm>
              <a:prstGeom prst="roundRect">
                <a:avLst>
                  <a:gd name="adj" fmla="val 17647"/>
                </a:avLst>
              </a:prstGeom>
              <a:solidFill>
                <a:srgbClr val="FFFFFF"/>
              </a:solidFill>
              <a:ln w="9525">
                <a:solidFill>
                  <a:srgbClr val="D8D4D0"/>
                </a:solidFill>
              </a:ln>
            </p:spPr>
          </p:sp>
          <p:sp>
            <p:nvSpPr>
              <p:cNvPr id="35" name="Freeform 35"/>
              <p:cNvSpPr/>
              <p:nvPr/>
            </p:nvSpPr>
            <p:spPr>
              <a:xfrm>
                <a:off x="685708" y="2693742"/>
                <a:ext cx="133405" cy="116133"/>
              </a:xfrm>
              <a:custGeom>
                <a:avLst/>
                <a:gdLst/>
                <a:ahLst/>
                <a:cxnLst/>
                <a:rect l="l" t="t" r="r" b="b"/>
                <a:pathLst>
                  <a:path w="133405" h="116133">
                    <a:moveTo>
                      <a:pt x="120346" y="63069"/>
                    </a:moveTo>
                    <a:lnTo>
                      <a:pt x="66767" y="116133"/>
                    </a:lnTo>
                    <a:lnTo>
                      <a:pt x="13189" y="63069"/>
                    </a:lnTo>
                    <a:cubicBezTo>
                      <a:pt x="3555" y="53693"/>
                      <a:pt x="0" y="39702"/>
                      <a:pt x="3992" y="26865"/>
                    </a:cubicBezTo>
                    <a:cubicBezTo>
                      <a:pt x="7983" y="14027"/>
                      <a:pt x="18845" y="4518"/>
                      <a:pt x="32097" y="2259"/>
                    </a:cubicBezTo>
                    <a:cubicBezTo>
                      <a:pt x="45350" y="0"/>
                      <a:pt x="58748" y="5373"/>
                      <a:pt x="66767" y="16163"/>
                    </a:cubicBezTo>
                    <a:cubicBezTo>
                      <a:pt x="74820" y="5453"/>
                      <a:pt x="88190" y="151"/>
                      <a:pt x="101395" y="2431"/>
                    </a:cubicBezTo>
                    <a:cubicBezTo>
                      <a:pt x="114599" y="4712"/>
                      <a:pt x="125416" y="14191"/>
                      <a:pt x="129411" y="26981"/>
                    </a:cubicBezTo>
                    <a:cubicBezTo>
                      <a:pt x="133405" y="39772"/>
                      <a:pt x="129905" y="53722"/>
                      <a:pt x="120346" y="63112"/>
                    </a:cubicBezTo>
                  </a:path>
                </a:pathLst>
              </a:custGeom>
              <a:noFill/>
              <a:ln w="14288">
                <a:solidFill>
                  <a:srgbClr val="B03A1F"/>
                </a:solidFill>
              </a:ln>
            </p:spPr>
          </p:sp>
          <p:sp>
            <p:nvSpPr>
              <p:cNvPr id="36" name="TextBox 36"/>
              <p:cNvSpPr txBox="1"/>
              <p:nvPr/>
            </p:nvSpPr>
            <p:spPr>
              <a:xfrm>
                <a:off x="947738" y="2707243"/>
                <a:ext cx="472618" cy="169069"/>
              </a:xfrm>
              <a:prstGeom prst="rect">
                <a:avLst/>
              </a:prstGeom>
              <a:noFill/>
              <a:ln>
                <a:noFill/>
              </a:ln>
            </p:spPr>
            <p:txBody>
              <a:bodyPr wrap="none" lIns="0" tIns="0" rIns="0" bIns="0" anchor="t" anchorCtr="0">
                <a:spAutoFit/>
              </a:bodyPr>
              <a:lstStyle/>
              <a:p>
                <a:pPr algn="l"/>
                <a:r>
                  <a:rPr lang="zh-CN" sz="860" dirty="0">
                    <a:solidFill>
                      <a:srgbClr val="1A1A1A"/>
                    </a:solidFill>
                    <a:latin typeface="+mn-lt"/>
                    <a:ea typeface="+mn-ea"/>
                    <a:cs typeface="+mn-cs"/>
                  </a:rPr>
                  <a:t>汽车分期</a:t>
                </a:r>
              </a:p>
            </p:txBody>
          </p:sp>
          <p:sp>
            <p:nvSpPr>
              <p:cNvPr id="37" name="Rectangle 37"/>
              <p:cNvSpPr/>
              <p:nvPr/>
            </p:nvSpPr>
            <p:spPr>
              <a:xfrm>
                <a:off x="523875" y="2990850"/>
                <a:ext cx="2952750" cy="323850"/>
              </a:xfrm>
              <a:prstGeom prst="roundRect">
                <a:avLst>
                  <a:gd name="adj" fmla="val 17647"/>
                </a:avLst>
              </a:prstGeom>
              <a:solidFill>
                <a:srgbClr val="FFFFFF"/>
              </a:solidFill>
              <a:ln w="9525">
                <a:solidFill>
                  <a:srgbClr val="D8D4D0"/>
                </a:solidFill>
              </a:ln>
            </p:spPr>
          </p:sp>
          <p:grpSp>
            <p:nvGrpSpPr>
              <p:cNvPr id="41" name="Group 41"/>
              <p:cNvGrpSpPr/>
              <p:nvPr/>
            </p:nvGrpSpPr>
            <p:grpSpPr>
              <a:xfrm>
                <a:off x="688181" y="3088481"/>
                <a:ext cx="128588" cy="128588"/>
                <a:chOff x="688181" y="3088481"/>
                <a:chExt cx="128588" cy="128588"/>
              </a:xfrm>
            </p:grpSpPr>
            <p:sp>
              <p:nvSpPr>
                <p:cNvPr id="38" name="Freeform 38"/>
                <p:cNvSpPr/>
                <p:nvPr/>
              </p:nvSpPr>
              <p:spPr>
                <a:xfrm>
                  <a:off x="688181" y="30884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B03A1F"/>
                  </a:solidFill>
                </a:ln>
              </p:spPr>
            </p:sp>
            <p:sp>
              <p:nvSpPr>
                <p:cNvPr id="39" name="Freeform 39"/>
                <p:cNvSpPr/>
                <p:nvPr/>
              </p:nvSpPr>
              <p:spPr>
                <a:xfrm>
                  <a:off x="702469" y="31527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B03A1F"/>
                  </a:solidFill>
                </a:ln>
              </p:spPr>
            </p:sp>
            <p:sp>
              <p:nvSpPr>
                <p:cNvPr id="40" name="Freeform 40"/>
                <p:cNvSpPr/>
                <p:nvPr/>
              </p:nvSpPr>
              <p:spPr>
                <a:xfrm>
                  <a:off x="731044" y="31599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B03A1F"/>
                  </a:solidFill>
                </a:ln>
              </p:spPr>
            </p:sp>
          </p:grpSp>
          <p:sp>
            <p:nvSpPr>
              <p:cNvPr id="42" name="TextBox 42"/>
              <p:cNvSpPr txBox="1"/>
              <p:nvPr/>
            </p:nvSpPr>
            <p:spPr>
              <a:xfrm>
                <a:off x="947738" y="3107293"/>
                <a:ext cx="472618" cy="169069"/>
              </a:xfrm>
              <a:prstGeom prst="rect">
                <a:avLst/>
              </a:prstGeom>
              <a:noFill/>
              <a:ln>
                <a:noFill/>
              </a:ln>
            </p:spPr>
            <p:txBody>
              <a:bodyPr wrap="none" lIns="0" tIns="0" rIns="0" bIns="0" anchor="t" anchorCtr="0">
                <a:spAutoFit/>
              </a:bodyPr>
              <a:lstStyle/>
              <a:p>
                <a:pPr algn="l"/>
                <a:r>
                  <a:rPr lang="zh-CN" sz="860" dirty="0">
                    <a:solidFill>
                      <a:srgbClr val="1A1A1A"/>
                    </a:solidFill>
                    <a:latin typeface="+mn-lt"/>
                    <a:ea typeface="+mn-ea"/>
                    <a:cs typeface="+mn-cs"/>
                  </a:rPr>
                  <a:t>家装分期</a:t>
                </a:r>
              </a:p>
            </p:txBody>
          </p:sp>
          <p:sp>
            <p:nvSpPr>
              <p:cNvPr id="43" name="Rectangle 43"/>
              <p:cNvSpPr/>
              <p:nvPr/>
            </p:nvSpPr>
            <p:spPr>
              <a:xfrm>
                <a:off x="523875" y="3390900"/>
                <a:ext cx="2952750" cy="571500"/>
              </a:xfrm>
              <a:prstGeom prst="roundRect">
                <a:avLst>
                  <a:gd name="adj" fmla="val 10000"/>
                </a:avLst>
              </a:prstGeom>
              <a:solidFill>
                <a:srgbClr val="FDF0F0"/>
              </a:solidFill>
              <a:ln w="9525">
                <a:solidFill>
                  <a:srgbClr val="B03A1F"/>
                </a:solidFill>
                <a:custDash>
                  <a:ds d="400000" sp="300000"/>
                </a:custDash>
              </a:ln>
            </p:spPr>
          </p:sp>
          <p:grpSp>
            <p:nvGrpSpPr>
              <p:cNvPr id="47" name="Group 47"/>
              <p:cNvGrpSpPr/>
              <p:nvPr/>
            </p:nvGrpSpPr>
            <p:grpSpPr>
              <a:xfrm>
                <a:off x="688181" y="3540919"/>
                <a:ext cx="128587" cy="100013"/>
                <a:chOff x="688181" y="3540919"/>
                <a:chExt cx="128587" cy="100013"/>
              </a:xfrm>
            </p:grpSpPr>
            <p:sp>
              <p:nvSpPr>
                <p:cNvPr id="44" name="Freeform 44"/>
                <p:cNvSpPr/>
                <p:nvPr/>
              </p:nvSpPr>
              <p:spPr>
                <a:xfrm>
                  <a:off x="688181" y="3540919"/>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B03A1F"/>
                  </a:solidFill>
                </a:ln>
              </p:spPr>
            </p:sp>
            <p:sp>
              <p:nvSpPr>
                <p:cNvPr id="45" name="Freeform 45"/>
                <p:cNvSpPr/>
                <p:nvPr/>
              </p:nvSpPr>
              <p:spPr>
                <a:xfrm>
                  <a:off x="716756" y="3569494"/>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B03A1F"/>
                  </a:solidFill>
                </a:ln>
              </p:spPr>
            </p:sp>
            <p:sp>
              <p:nvSpPr>
                <p:cNvPr id="46" name="Freeform 46"/>
                <p:cNvSpPr/>
                <p:nvPr/>
              </p:nvSpPr>
              <p:spPr>
                <a:xfrm>
                  <a:off x="752475" y="359092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B03A1F"/>
                  </a:solidFill>
                </a:ln>
              </p:spPr>
            </p:sp>
          </p:grpSp>
          <p:sp>
            <p:nvSpPr>
              <p:cNvPr id="48" name="TextBox 48"/>
              <p:cNvSpPr txBox="1"/>
              <p:nvPr/>
            </p:nvSpPr>
            <p:spPr>
              <a:xfrm>
                <a:off x="947738" y="3526393"/>
                <a:ext cx="423704"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消费e贷</a:t>
                </a:r>
              </a:p>
            </p:txBody>
          </p:sp>
          <p:sp>
            <p:nvSpPr>
              <p:cNvPr id="49" name="TextBox 49"/>
              <p:cNvSpPr txBox="1"/>
              <p:nvPr/>
            </p:nvSpPr>
            <p:spPr>
              <a:xfrm>
                <a:off x="947738" y="3733086"/>
                <a:ext cx="1643946" cy="140494"/>
              </a:xfrm>
              <a:prstGeom prst="rect">
                <a:avLst/>
              </a:prstGeom>
              <a:noFill/>
              <a:ln>
                <a:noFill/>
              </a:ln>
            </p:spPr>
            <p:txBody>
              <a:bodyPr wrap="none" lIns="0" tIns="0" rIns="0" bIns="0" anchor="t" anchorCtr="0">
                <a:spAutoFit/>
              </a:bodyPr>
              <a:lstStyle/>
              <a:p>
                <a:pPr algn="l"/>
                <a:r>
                  <a:rPr lang="zh-CN" sz="710" dirty="0">
                    <a:solidFill>
                      <a:srgbClr val="B03A1F"/>
                    </a:solidFill>
                    <a:latin typeface="+mn-lt"/>
                    <a:ea typeface="+mn-ea"/>
                    <a:cs typeface="+mn-cs"/>
                  </a:rPr>
                  <a:t>“额度综合授信、一次审批、循环使用”</a:t>
                </a:r>
              </a:p>
            </p:txBody>
          </p:sp>
        </p:grpSp>
      </p:grpSp>
      <p:grpSp>
        <p:nvGrpSpPr>
          <p:cNvPr id="91" name="col-scene"/>
          <p:cNvGrpSpPr/>
          <p:nvPr/>
        </p:nvGrpSpPr>
        <p:grpSpPr>
          <a:xfrm>
            <a:off x="4000500" y="904875"/>
            <a:ext cx="3429000" cy="3238500"/>
            <a:chOff x="4000500" y="904875"/>
            <a:chExt cx="3429000" cy="3238500"/>
          </a:xfrm>
        </p:grpSpPr>
        <p:sp>
          <p:nvSpPr>
            <p:cNvPr id="52" name="Rectangle 52"/>
            <p:cNvSpPr/>
            <p:nvPr/>
          </p:nvSpPr>
          <p:spPr>
            <a:xfrm>
              <a:off x="4000500" y="904875"/>
              <a:ext cx="3429000" cy="3238500"/>
            </a:xfrm>
            <a:prstGeom prst="roundRect">
              <a:avLst>
                <a:gd name="adj" fmla="val 2353"/>
              </a:avLst>
            </a:prstGeom>
            <a:solidFill>
              <a:srgbClr val="FFFFFF"/>
            </a:solidFill>
            <a:ln w="9525">
              <a:solidFill>
                <a:srgbClr val="E8E4E0"/>
              </a:solidFill>
            </a:ln>
          </p:spPr>
        </p:sp>
        <p:grpSp>
          <p:nvGrpSpPr>
            <p:cNvPr id="61" name="scene-tab"/>
            <p:cNvGrpSpPr/>
            <p:nvPr/>
          </p:nvGrpSpPr>
          <p:grpSpPr>
            <a:xfrm>
              <a:off x="4152900" y="914400"/>
              <a:ext cx="2209800" cy="457200"/>
              <a:chOff x="4152900" y="914400"/>
              <a:chExt cx="2209800" cy="457200"/>
            </a:xfrm>
          </p:grpSpPr>
          <p:sp>
            <p:nvSpPr>
              <p:cNvPr id="53" name="Ellipse 53"/>
              <p:cNvSpPr/>
              <p:nvPr/>
            </p:nvSpPr>
            <p:spPr>
              <a:xfrm>
                <a:off x="4152900" y="914400"/>
                <a:ext cx="457200" cy="457200"/>
              </a:xfrm>
              <a:prstGeom prst="ellipse">
                <a:avLst/>
              </a:prstGeom>
              <a:solidFill>
                <a:srgbClr val="FFFFFF"/>
              </a:solidFill>
              <a:ln w="19050">
                <a:solidFill>
                  <a:srgbClr val="B03A1F"/>
                </a:solidFill>
              </a:ln>
            </p:spPr>
          </p:sp>
          <p:grpSp>
            <p:nvGrpSpPr>
              <p:cNvPr id="58" name="Group 58"/>
              <p:cNvGrpSpPr/>
              <p:nvPr/>
            </p:nvGrpSpPr>
            <p:grpSpPr>
              <a:xfrm>
                <a:off x="4305300" y="1057275"/>
                <a:ext cx="152400" cy="171450"/>
                <a:chOff x="4305300" y="1057275"/>
                <a:chExt cx="152400" cy="171450"/>
              </a:xfrm>
            </p:grpSpPr>
            <p:sp>
              <p:nvSpPr>
                <p:cNvPr id="54" name="Freeform 54"/>
                <p:cNvSpPr/>
                <p:nvPr/>
              </p:nvSpPr>
              <p:spPr>
                <a:xfrm>
                  <a:off x="4305300" y="1190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03A1F"/>
                  </a:solidFill>
                </a:ln>
              </p:spPr>
            </p:sp>
            <p:sp>
              <p:nvSpPr>
                <p:cNvPr id="55" name="Freeform 55"/>
                <p:cNvSpPr/>
                <p:nvPr/>
              </p:nvSpPr>
              <p:spPr>
                <a:xfrm>
                  <a:off x="4410075" y="1190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03A1F"/>
                  </a:solidFill>
                </a:ln>
              </p:spPr>
            </p:sp>
            <p:sp>
              <p:nvSpPr>
                <p:cNvPr id="56" name="Freeform 56"/>
                <p:cNvSpPr/>
                <p:nvPr/>
              </p:nvSpPr>
              <p:spPr>
                <a:xfrm>
                  <a:off x="4305300" y="1057275"/>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B03A1F"/>
                  </a:solidFill>
                </a:ln>
              </p:spPr>
            </p:sp>
            <p:sp>
              <p:nvSpPr>
                <p:cNvPr id="57" name="Freeform 57"/>
                <p:cNvSpPr/>
                <p:nvPr/>
              </p:nvSpPr>
              <p:spPr>
                <a:xfrm>
                  <a:off x="4324350" y="1076325"/>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B03A1F"/>
                  </a:solidFill>
                </a:ln>
              </p:spPr>
            </p:sp>
          </p:grpSp>
          <p:sp>
            <p:nvSpPr>
              <p:cNvPr id="59" name="Polygon 59"/>
              <p:cNvSpPr/>
              <p:nvPr/>
            </p:nvSpPr>
            <p:spPr>
              <a:xfrm>
                <a:off x="4286250" y="933450"/>
                <a:ext cx="2076450" cy="419100"/>
              </a:xfrm>
              <a:custGeom>
                <a:avLst/>
                <a:gdLst/>
                <a:ahLst/>
                <a:cxnLst/>
                <a:rect l="l" t="t" r="r" b="b"/>
                <a:pathLst>
                  <a:path w="2076450" h="419100">
                    <a:moveTo>
                      <a:pt x="0" y="0"/>
                    </a:moveTo>
                    <a:lnTo>
                      <a:pt x="1809750" y="0"/>
                    </a:lnTo>
                    <a:lnTo>
                      <a:pt x="2076450" y="419100"/>
                    </a:lnTo>
                    <a:lnTo>
                      <a:pt x="0" y="419100"/>
                    </a:lnTo>
                    <a:close/>
                  </a:path>
                </a:pathLst>
              </a:custGeom>
              <a:solidFill>
                <a:srgbClr val="B03A1F"/>
              </a:solidFill>
              <a:ln>
                <a:noFill/>
              </a:ln>
            </p:spPr>
          </p:sp>
          <p:sp>
            <p:nvSpPr>
              <p:cNvPr id="60" name="TextBox 60"/>
              <p:cNvSpPr txBox="1"/>
              <p:nvPr/>
            </p:nvSpPr>
            <p:spPr>
              <a:xfrm>
                <a:off x="5147691" y="108966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场景嵌入</a:t>
                </a:r>
              </a:p>
            </p:txBody>
          </p:sp>
        </p:grpSp>
        <p:sp>
          <p:nvSpPr>
            <p:cNvPr id="62" name="TextBox 62"/>
            <p:cNvSpPr txBox="1"/>
            <p:nvPr/>
          </p:nvSpPr>
          <p:spPr>
            <a:xfrm>
              <a:off x="4908257" y="1533049"/>
              <a:ext cx="1613486" cy="190690"/>
            </a:xfrm>
            <a:prstGeom prst="rect">
              <a:avLst/>
            </a:prstGeom>
            <a:noFill/>
            <a:ln>
              <a:noFill/>
            </a:ln>
          </p:spPr>
          <p:txBody>
            <a:bodyPr wrap="none" lIns="0" tIns="0" rIns="0" bIns="0" anchor="t" anchorCtr="0">
              <a:spAutoFit/>
            </a:bodyPr>
            <a:lstStyle/>
            <a:p>
              <a:pPr algn="ctr"/>
              <a:r>
                <a:rPr lang="zh-CN" sz="980" b="1" dirty="0">
                  <a:solidFill>
                    <a:srgbClr val="B03A1F"/>
                  </a:solidFill>
                  <a:latin typeface="+mn-lt"/>
                  <a:ea typeface="+mn-ea"/>
                  <a:cs typeface="+mn-cs"/>
                </a:rPr>
                <a:t>与不少于50家重点商户合作</a:t>
              </a:r>
            </a:p>
          </p:txBody>
        </p:sp>
        <p:grpSp>
          <p:nvGrpSpPr>
            <p:cNvPr id="90" name="scene-items"/>
            <p:cNvGrpSpPr/>
            <p:nvPr/>
          </p:nvGrpSpPr>
          <p:grpSpPr>
            <a:xfrm>
              <a:off x="4238625" y="1790700"/>
              <a:ext cx="2952750" cy="2266950"/>
              <a:chOff x="4238625" y="1790700"/>
              <a:chExt cx="2952750" cy="2266950"/>
            </a:xfrm>
          </p:grpSpPr>
          <p:sp>
            <p:nvSpPr>
              <p:cNvPr id="63" name="Rectangle 63"/>
              <p:cNvSpPr/>
              <p:nvPr/>
            </p:nvSpPr>
            <p:spPr>
              <a:xfrm>
                <a:off x="4238625" y="1790700"/>
                <a:ext cx="2952750" cy="495300"/>
              </a:xfrm>
              <a:prstGeom prst="roundRect">
                <a:avLst>
                  <a:gd name="adj" fmla="val 11538"/>
                </a:avLst>
              </a:prstGeom>
              <a:solidFill>
                <a:srgbClr val="FFFFFF"/>
              </a:solidFill>
              <a:ln w="9525">
                <a:solidFill>
                  <a:srgbClr val="D8D4D0"/>
                </a:solidFill>
              </a:ln>
            </p:spPr>
          </p:sp>
          <p:grpSp>
            <p:nvGrpSpPr>
              <p:cNvPr id="72" name="Group 72"/>
              <p:cNvGrpSpPr/>
              <p:nvPr/>
            </p:nvGrpSpPr>
            <p:grpSpPr>
              <a:xfrm>
                <a:off x="4410075" y="1952625"/>
                <a:ext cx="171450" cy="180975"/>
                <a:chOff x="4410075" y="1952625"/>
                <a:chExt cx="171450" cy="180975"/>
              </a:xfrm>
            </p:grpSpPr>
            <p:sp>
              <p:nvSpPr>
                <p:cNvPr id="64" name="Freeform 64"/>
                <p:cNvSpPr/>
                <p:nvPr/>
              </p:nvSpPr>
              <p:spPr>
                <a:xfrm>
                  <a:off x="4410075" y="2124075"/>
                  <a:ext cx="171450" cy="9525"/>
                </a:xfrm>
                <a:custGeom>
                  <a:avLst/>
                  <a:gdLst/>
                  <a:ahLst/>
                  <a:cxnLst/>
                  <a:rect l="l" t="t" r="r" b="b"/>
                  <a:pathLst>
                    <a:path w="171450" h="9525">
                      <a:moveTo>
                        <a:pt x="0" y="0"/>
                      </a:moveTo>
                      <a:lnTo>
                        <a:pt x="171450" y="0"/>
                      </a:lnTo>
                    </a:path>
                  </a:pathLst>
                </a:custGeom>
                <a:noFill/>
                <a:ln w="19050">
                  <a:solidFill>
                    <a:srgbClr val="B03A1F"/>
                  </a:solidFill>
                </a:ln>
              </p:spPr>
            </p:sp>
            <p:sp>
              <p:nvSpPr>
                <p:cNvPr id="65" name="Freeform 65"/>
                <p:cNvSpPr/>
                <p:nvPr/>
              </p:nvSpPr>
              <p:spPr>
                <a:xfrm>
                  <a:off x="4467225" y="2000250"/>
                  <a:ext cx="9525" cy="9525"/>
                </a:xfrm>
                <a:custGeom>
                  <a:avLst/>
                  <a:gdLst/>
                  <a:ahLst/>
                  <a:cxnLst/>
                  <a:rect l="l" t="t" r="r" b="b"/>
                  <a:pathLst>
                    <a:path w="9525" h="9525">
                      <a:moveTo>
                        <a:pt x="0" y="0"/>
                      </a:moveTo>
                      <a:lnTo>
                        <a:pt x="9525" y="0"/>
                      </a:lnTo>
                    </a:path>
                  </a:pathLst>
                </a:custGeom>
                <a:noFill/>
                <a:ln w="19050">
                  <a:solidFill>
                    <a:srgbClr val="B03A1F"/>
                  </a:solidFill>
                </a:ln>
              </p:spPr>
            </p:sp>
            <p:sp>
              <p:nvSpPr>
                <p:cNvPr id="66" name="Freeform 66"/>
                <p:cNvSpPr/>
                <p:nvPr/>
              </p:nvSpPr>
              <p:spPr>
                <a:xfrm>
                  <a:off x="4467225" y="2038350"/>
                  <a:ext cx="9525" cy="9525"/>
                </a:xfrm>
                <a:custGeom>
                  <a:avLst/>
                  <a:gdLst/>
                  <a:ahLst/>
                  <a:cxnLst/>
                  <a:rect l="l" t="t" r="r" b="b"/>
                  <a:pathLst>
                    <a:path w="9525" h="9525">
                      <a:moveTo>
                        <a:pt x="0" y="0"/>
                      </a:moveTo>
                      <a:lnTo>
                        <a:pt x="9525" y="0"/>
                      </a:lnTo>
                    </a:path>
                  </a:pathLst>
                </a:custGeom>
                <a:noFill/>
                <a:ln w="19050">
                  <a:solidFill>
                    <a:srgbClr val="B03A1F"/>
                  </a:solidFill>
                </a:ln>
              </p:spPr>
            </p:sp>
            <p:sp>
              <p:nvSpPr>
                <p:cNvPr id="67" name="Freeform 67"/>
                <p:cNvSpPr/>
                <p:nvPr/>
              </p:nvSpPr>
              <p:spPr>
                <a:xfrm>
                  <a:off x="4467225" y="2076450"/>
                  <a:ext cx="9525" cy="9525"/>
                </a:xfrm>
                <a:custGeom>
                  <a:avLst/>
                  <a:gdLst/>
                  <a:ahLst/>
                  <a:cxnLst/>
                  <a:rect l="l" t="t" r="r" b="b"/>
                  <a:pathLst>
                    <a:path w="9525" h="9525">
                      <a:moveTo>
                        <a:pt x="0" y="0"/>
                      </a:moveTo>
                      <a:lnTo>
                        <a:pt x="9525" y="0"/>
                      </a:lnTo>
                    </a:path>
                  </a:pathLst>
                </a:custGeom>
                <a:noFill/>
                <a:ln w="19050">
                  <a:solidFill>
                    <a:srgbClr val="B03A1F"/>
                  </a:solidFill>
                </a:ln>
              </p:spPr>
            </p:sp>
            <p:sp>
              <p:nvSpPr>
                <p:cNvPr id="68" name="Freeform 68"/>
                <p:cNvSpPr/>
                <p:nvPr/>
              </p:nvSpPr>
              <p:spPr>
                <a:xfrm>
                  <a:off x="4514850" y="2000250"/>
                  <a:ext cx="9525" cy="9525"/>
                </a:xfrm>
                <a:custGeom>
                  <a:avLst/>
                  <a:gdLst/>
                  <a:ahLst/>
                  <a:cxnLst/>
                  <a:rect l="l" t="t" r="r" b="b"/>
                  <a:pathLst>
                    <a:path w="9525" h="9525">
                      <a:moveTo>
                        <a:pt x="0" y="0"/>
                      </a:moveTo>
                      <a:lnTo>
                        <a:pt x="9525" y="0"/>
                      </a:lnTo>
                    </a:path>
                  </a:pathLst>
                </a:custGeom>
                <a:noFill/>
                <a:ln w="19050">
                  <a:solidFill>
                    <a:srgbClr val="B03A1F"/>
                  </a:solidFill>
                </a:ln>
              </p:spPr>
            </p:sp>
            <p:sp>
              <p:nvSpPr>
                <p:cNvPr id="69" name="Freeform 69"/>
                <p:cNvSpPr/>
                <p:nvPr/>
              </p:nvSpPr>
              <p:spPr>
                <a:xfrm>
                  <a:off x="4514850" y="2038350"/>
                  <a:ext cx="9525" cy="9525"/>
                </a:xfrm>
                <a:custGeom>
                  <a:avLst/>
                  <a:gdLst/>
                  <a:ahLst/>
                  <a:cxnLst/>
                  <a:rect l="l" t="t" r="r" b="b"/>
                  <a:pathLst>
                    <a:path w="9525" h="9525">
                      <a:moveTo>
                        <a:pt x="0" y="0"/>
                      </a:moveTo>
                      <a:lnTo>
                        <a:pt x="9525" y="0"/>
                      </a:lnTo>
                    </a:path>
                  </a:pathLst>
                </a:custGeom>
                <a:noFill/>
                <a:ln w="19050">
                  <a:solidFill>
                    <a:srgbClr val="B03A1F"/>
                  </a:solidFill>
                </a:ln>
              </p:spPr>
            </p:sp>
            <p:sp>
              <p:nvSpPr>
                <p:cNvPr id="70" name="Freeform 70"/>
                <p:cNvSpPr/>
                <p:nvPr/>
              </p:nvSpPr>
              <p:spPr>
                <a:xfrm>
                  <a:off x="4514850" y="2076450"/>
                  <a:ext cx="9525" cy="9525"/>
                </a:xfrm>
                <a:custGeom>
                  <a:avLst/>
                  <a:gdLst/>
                  <a:ahLst/>
                  <a:cxnLst/>
                  <a:rect l="l" t="t" r="r" b="b"/>
                  <a:pathLst>
                    <a:path w="9525" h="9525">
                      <a:moveTo>
                        <a:pt x="0" y="0"/>
                      </a:moveTo>
                      <a:lnTo>
                        <a:pt x="9525" y="0"/>
                      </a:lnTo>
                    </a:path>
                  </a:pathLst>
                </a:custGeom>
                <a:noFill/>
                <a:ln w="19050">
                  <a:solidFill>
                    <a:srgbClr val="B03A1F"/>
                  </a:solidFill>
                </a:ln>
              </p:spPr>
            </p:sp>
            <p:sp>
              <p:nvSpPr>
                <p:cNvPr id="71" name="Freeform 71"/>
                <p:cNvSpPr/>
                <p:nvPr/>
              </p:nvSpPr>
              <p:spPr>
                <a:xfrm>
                  <a:off x="4429125" y="1952625"/>
                  <a:ext cx="133350" cy="171450"/>
                </a:xfrm>
                <a:custGeom>
                  <a:avLst/>
                  <a:gdLst/>
                  <a:ahLst/>
                  <a:cxnLst/>
                  <a:rect l="l" t="t" r="r" b="b"/>
                  <a:pathLst>
                    <a:path w="133350" h="171450">
                      <a:moveTo>
                        <a:pt x="0" y="171450"/>
                      </a:moveTo>
                      <a:lnTo>
                        <a:pt x="0" y="19050"/>
                      </a:lnTo>
                      <a:cubicBezTo>
                        <a:pt x="0" y="8529"/>
                        <a:pt x="8529" y="0"/>
                        <a:pt x="19050" y="0"/>
                      </a:cubicBezTo>
                      <a:lnTo>
                        <a:pt x="114300" y="0"/>
                      </a:lnTo>
                      <a:cubicBezTo>
                        <a:pt x="124821" y="0"/>
                        <a:pt x="133350" y="8529"/>
                        <a:pt x="133350" y="19050"/>
                      </a:cubicBezTo>
                      <a:lnTo>
                        <a:pt x="133350" y="171450"/>
                      </a:lnTo>
                    </a:path>
                  </a:pathLst>
                </a:custGeom>
                <a:noFill/>
                <a:ln w="19050">
                  <a:solidFill>
                    <a:srgbClr val="B03A1F"/>
                  </a:solidFill>
                </a:ln>
              </p:spPr>
            </p:sp>
          </p:grpSp>
          <p:sp>
            <p:nvSpPr>
              <p:cNvPr id="73" name="TextBox 73"/>
              <p:cNvSpPr txBox="1"/>
              <p:nvPr/>
            </p:nvSpPr>
            <p:spPr>
              <a:xfrm>
                <a:off x="4757738" y="2002393"/>
                <a:ext cx="588391" cy="169069"/>
              </a:xfrm>
              <a:prstGeom prst="rect">
                <a:avLst/>
              </a:prstGeom>
              <a:noFill/>
              <a:ln>
                <a:noFill/>
              </a:ln>
            </p:spPr>
            <p:txBody>
              <a:bodyPr wrap="none" lIns="0" tIns="0" rIns="0" bIns="0" anchor="t" anchorCtr="0">
                <a:spAutoFit/>
              </a:bodyPr>
              <a:lstStyle/>
              <a:p>
                <a:pPr algn="l"/>
                <a:r>
                  <a:rPr lang="zh-CN" sz="860" dirty="0">
                    <a:solidFill>
                      <a:srgbClr val="1A1A1A"/>
                    </a:solidFill>
                    <a:latin typeface="+mn-lt"/>
                    <a:ea typeface="+mn-ea"/>
                    <a:cs typeface="+mn-cs"/>
                  </a:rPr>
                  <a:t>商业综合体</a:t>
                </a:r>
              </a:p>
            </p:txBody>
          </p:sp>
          <p:sp>
            <p:nvSpPr>
              <p:cNvPr id="74" name="Rectangle 74"/>
              <p:cNvSpPr/>
              <p:nvPr/>
            </p:nvSpPr>
            <p:spPr>
              <a:xfrm>
                <a:off x="4238625" y="2381250"/>
                <a:ext cx="2952750" cy="495300"/>
              </a:xfrm>
              <a:prstGeom prst="roundRect">
                <a:avLst>
                  <a:gd name="adj" fmla="val 11538"/>
                </a:avLst>
              </a:prstGeom>
              <a:solidFill>
                <a:srgbClr val="FFFFFF"/>
              </a:solidFill>
              <a:ln w="9525">
                <a:solidFill>
                  <a:srgbClr val="D8D4D0"/>
                </a:solidFill>
              </a:ln>
            </p:spPr>
          </p:sp>
          <p:grpSp>
            <p:nvGrpSpPr>
              <p:cNvPr id="79" name="Group 79"/>
              <p:cNvGrpSpPr/>
              <p:nvPr/>
            </p:nvGrpSpPr>
            <p:grpSpPr>
              <a:xfrm>
                <a:off x="4419600" y="2543175"/>
                <a:ext cx="152400" cy="171450"/>
                <a:chOff x="4419600" y="2543175"/>
                <a:chExt cx="152400" cy="171450"/>
              </a:xfrm>
            </p:grpSpPr>
            <p:sp>
              <p:nvSpPr>
                <p:cNvPr id="75" name="Freeform 75"/>
                <p:cNvSpPr/>
                <p:nvPr/>
              </p:nvSpPr>
              <p:spPr>
                <a:xfrm>
                  <a:off x="4419600" y="26765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03A1F"/>
                  </a:solidFill>
                </a:ln>
              </p:spPr>
            </p:sp>
            <p:sp>
              <p:nvSpPr>
                <p:cNvPr id="76" name="Freeform 76"/>
                <p:cNvSpPr/>
                <p:nvPr/>
              </p:nvSpPr>
              <p:spPr>
                <a:xfrm>
                  <a:off x="4524375" y="26765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03A1F"/>
                  </a:solidFill>
                </a:ln>
              </p:spPr>
            </p:sp>
            <p:sp>
              <p:nvSpPr>
                <p:cNvPr id="77" name="Freeform 77"/>
                <p:cNvSpPr/>
                <p:nvPr/>
              </p:nvSpPr>
              <p:spPr>
                <a:xfrm>
                  <a:off x="4419600" y="2543175"/>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B03A1F"/>
                  </a:solidFill>
                </a:ln>
              </p:spPr>
            </p:sp>
            <p:sp>
              <p:nvSpPr>
                <p:cNvPr id="78" name="Freeform 78"/>
                <p:cNvSpPr/>
                <p:nvPr/>
              </p:nvSpPr>
              <p:spPr>
                <a:xfrm>
                  <a:off x="4438650" y="2562225"/>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B03A1F"/>
                  </a:solidFill>
                </a:ln>
              </p:spPr>
            </p:sp>
          </p:grpSp>
          <p:sp>
            <p:nvSpPr>
              <p:cNvPr id="80" name="TextBox 80"/>
              <p:cNvSpPr txBox="1"/>
              <p:nvPr/>
            </p:nvSpPr>
            <p:spPr>
              <a:xfrm>
                <a:off x="4757738" y="2592943"/>
                <a:ext cx="472618" cy="169069"/>
              </a:xfrm>
              <a:prstGeom prst="rect">
                <a:avLst/>
              </a:prstGeom>
              <a:noFill/>
              <a:ln>
                <a:noFill/>
              </a:ln>
            </p:spPr>
            <p:txBody>
              <a:bodyPr wrap="none" lIns="0" tIns="0" rIns="0" bIns="0" anchor="t" anchorCtr="0">
                <a:spAutoFit/>
              </a:bodyPr>
              <a:lstStyle/>
              <a:p>
                <a:pPr algn="l"/>
                <a:r>
                  <a:rPr lang="zh-CN" sz="860" dirty="0">
                    <a:solidFill>
                      <a:srgbClr val="1A1A1A"/>
                    </a:solidFill>
                    <a:latin typeface="+mn-lt"/>
                    <a:ea typeface="+mn-ea"/>
                    <a:cs typeface="+mn-cs"/>
                  </a:rPr>
                  <a:t>连锁品牌</a:t>
                </a:r>
              </a:p>
            </p:txBody>
          </p:sp>
          <p:sp>
            <p:nvSpPr>
              <p:cNvPr id="81" name="Rectangle 81"/>
              <p:cNvSpPr/>
              <p:nvPr/>
            </p:nvSpPr>
            <p:spPr>
              <a:xfrm>
                <a:off x="4238625" y="2971800"/>
                <a:ext cx="2952750" cy="495300"/>
              </a:xfrm>
              <a:prstGeom prst="roundRect">
                <a:avLst>
                  <a:gd name="adj" fmla="val 11538"/>
                </a:avLst>
              </a:prstGeom>
              <a:solidFill>
                <a:srgbClr val="FFFFFF"/>
              </a:solidFill>
              <a:ln w="9525">
                <a:solidFill>
                  <a:srgbClr val="D8D4D0"/>
                </a:solidFill>
              </a:ln>
            </p:spPr>
          </p:sp>
          <p:sp>
            <p:nvSpPr>
              <p:cNvPr id="82" name="Freeform 82"/>
              <p:cNvSpPr/>
              <p:nvPr/>
            </p:nvSpPr>
            <p:spPr>
              <a:xfrm>
                <a:off x="4406777" y="3140806"/>
                <a:ext cx="177874" cy="154844"/>
              </a:xfrm>
              <a:custGeom>
                <a:avLst/>
                <a:gdLst/>
                <a:ahLst/>
                <a:cxnLst/>
                <a:rect l="l" t="t" r="r" b="b"/>
                <a:pathLst>
                  <a:path w="177874" h="154844">
                    <a:moveTo>
                      <a:pt x="160461" y="84092"/>
                    </a:moveTo>
                    <a:lnTo>
                      <a:pt x="89023" y="154844"/>
                    </a:lnTo>
                    <a:lnTo>
                      <a:pt x="17586" y="84092"/>
                    </a:lnTo>
                    <a:cubicBezTo>
                      <a:pt x="4739" y="71591"/>
                      <a:pt x="0" y="52936"/>
                      <a:pt x="5322" y="35820"/>
                    </a:cubicBezTo>
                    <a:cubicBezTo>
                      <a:pt x="10644" y="18703"/>
                      <a:pt x="25126" y="6024"/>
                      <a:pt x="42796" y="3012"/>
                    </a:cubicBezTo>
                    <a:cubicBezTo>
                      <a:pt x="60466" y="0"/>
                      <a:pt x="78331" y="7164"/>
                      <a:pt x="89023" y="21551"/>
                    </a:cubicBezTo>
                    <a:cubicBezTo>
                      <a:pt x="99761" y="7271"/>
                      <a:pt x="117587" y="202"/>
                      <a:pt x="135193" y="3242"/>
                    </a:cubicBezTo>
                    <a:cubicBezTo>
                      <a:pt x="152799" y="6282"/>
                      <a:pt x="167222" y="18921"/>
                      <a:pt x="172548" y="35975"/>
                    </a:cubicBezTo>
                    <a:cubicBezTo>
                      <a:pt x="177874" y="53029"/>
                      <a:pt x="173207" y="71629"/>
                      <a:pt x="160461" y="84149"/>
                    </a:cubicBezTo>
                  </a:path>
                </a:pathLst>
              </a:custGeom>
              <a:noFill/>
              <a:ln w="19050">
                <a:solidFill>
                  <a:srgbClr val="B03A1F"/>
                </a:solidFill>
              </a:ln>
            </p:spPr>
          </p:sp>
          <p:sp>
            <p:nvSpPr>
              <p:cNvPr id="83" name="TextBox 83"/>
              <p:cNvSpPr txBox="1"/>
              <p:nvPr/>
            </p:nvSpPr>
            <p:spPr>
              <a:xfrm>
                <a:off x="4757738" y="3183493"/>
                <a:ext cx="588391" cy="169069"/>
              </a:xfrm>
              <a:prstGeom prst="rect">
                <a:avLst/>
              </a:prstGeom>
              <a:noFill/>
              <a:ln>
                <a:noFill/>
              </a:ln>
            </p:spPr>
            <p:txBody>
              <a:bodyPr wrap="none" lIns="0" tIns="0" rIns="0" bIns="0" anchor="t" anchorCtr="0">
                <a:spAutoFit/>
              </a:bodyPr>
              <a:lstStyle/>
              <a:p>
                <a:pPr algn="l"/>
                <a:r>
                  <a:rPr lang="zh-CN" sz="860" dirty="0">
                    <a:solidFill>
                      <a:srgbClr val="1A1A1A"/>
                    </a:solidFill>
                    <a:latin typeface="+mn-lt"/>
                    <a:ea typeface="+mn-ea"/>
                    <a:cs typeface="+mn-cs"/>
                  </a:rPr>
                  <a:t>汽车经销商</a:t>
                </a:r>
              </a:p>
            </p:txBody>
          </p:sp>
          <p:sp>
            <p:nvSpPr>
              <p:cNvPr id="84" name="Rectangle 84"/>
              <p:cNvSpPr/>
              <p:nvPr/>
            </p:nvSpPr>
            <p:spPr>
              <a:xfrm>
                <a:off x="4238625" y="3562350"/>
                <a:ext cx="2952750" cy="495300"/>
              </a:xfrm>
              <a:prstGeom prst="roundRect">
                <a:avLst>
                  <a:gd name="adj" fmla="val 11538"/>
                </a:avLst>
              </a:prstGeom>
              <a:solidFill>
                <a:srgbClr val="FFFFFF"/>
              </a:solidFill>
              <a:ln w="9525">
                <a:solidFill>
                  <a:srgbClr val="D8D4D0"/>
                </a:solidFill>
              </a:ln>
            </p:spPr>
          </p:sp>
          <p:grpSp>
            <p:nvGrpSpPr>
              <p:cNvPr id="88" name="Group 88"/>
              <p:cNvGrpSpPr/>
              <p:nvPr/>
            </p:nvGrpSpPr>
            <p:grpSpPr>
              <a:xfrm>
                <a:off x="4410075" y="3724275"/>
                <a:ext cx="171450" cy="171450"/>
                <a:chOff x="4410075" y="3724275"/>
                <a:chExt cx="171450" cy="171450"/>
              </a:xfrm>
            </p:grpSpPr>
            <p:sp>
              <p:nvSpPr>
                <p:cNvPr id="85" name="Freeform 85"/>
                <p:cNvSpPr/>
                <p:nvPr/>
              </p:nvSpPr>
              <p:spPr>
                <a:xfrm>
                  <a:off x="4410075" y="372427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B03A1F"/>
                  </a:solidFill>
                </a:ln>
              </p:spPr>
            </p:sp>
            <p:sp>
              <p:nvSpPr>
                <p:cNvPr id="86" name="Freeform 86"/>
                <p:cNvSpPr/>
                <p:nvPr/>
              </p:nvSpPr>
              <p:spPr>
                <a:xfrm>
                  <a:off x="4429125" y="381000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B03A1F"/>
                  </a:solidFill>
                </a:ln>
              </p:spPr>
            </p:sp>
            <p:sp>
              <p:nvSpPr>
                <p:cNvPr id="87" name="Freeform 87"/>
                <p:cNvSpPr/>
                <p:nvPr/>
              </p:nvSpPr>
              <p:spPr>
                <a:xfrm>
                  <a:off x="4467225" y="381952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B03A1F"/>
                  </a:solidFill>
                </a:ln>
              </p:spPr>
            </p:sp>
          </p:grpSp>
          <p:sp>
            <p:nvSpPr>
              <p:cNvPr id="89" name="TextBox 89"/>
              <p:cNvSpPr txBox="1"/>
              <p:nvPr/>
            </p:nvSpPr>
            <p:spPr>
              <a:xfrm>
                <a:off x="4757738" y="3774043"/>
                <a:ext cx="472618" cy="169069"/>
              </a:xfrm>
              <a:prstGeom prst="rect">
                <a:avLst/>
              </a:prstGeom>
              <a:noFill/>
              <a:ln>
                <a:noFill/>
              </a:ln>
            </p:spPr>
            <p:txBody>
              <a:bodyPr wrap="none" lIns="0" tIns="0" rIns="0" bIns="0" anchor="t" anchorCtr="0">
                <a:spAutoFit/>
              </a:bodyPr>
              <a:lstStyle/>
              <a:p>
                <a:pPr algn="l"/>
                <a:r>
                  <a:rPr lang="zh-CN" sz="860" dirty="0">
                    <a:solidFill>
                      <a:srgbClr val="1A1A1A"/>
                    </a:solidFill>
                    <a:latin typeface="+mn-lt"/>
                    <a:ea typeface="+mn-ea"/>
                    <a:cs typeface="+mn-cs"/>
                  </a:rPr>
                  <a:t>家装平台</a:t>
                </a:r>
              </a:p>
            </p:txBody>
          </p:sp>
        </p:grpSp>
      </p:grpSp>
      <p:grpSp>
        <p:nvGrpSpPr>
          <p:cNvPr id="124" name="col-risk"/>
          <p:cNvGrpSpPr/>
          <p:nvPr/>
        </p:nvGrpSpPr>
        <p:grpSpPr>
          <a:xfrm>
            <a:off x="7715250" y="904875"/>
            <a:ext cx="4191000" cy="3238500"/>
            <a:chOff x="7715250" y="904875"/>
            <a:chExt cx="4191000" cy="3238500"/>
          </a:xfrm>
        </p:grpSpPr>
        <p:sp>
          <p:nvSpPr>
            <p:cNvPr id="92" name="Rectangle 92"/>
            <p:cNvSpPr/>
            <p:nvPr/>
          </p:nvSpPr>
          <p:spPr>
            <a:xfrm>
              <a:off x="7715250" y="904875"/>
              <a:ext cx="4191000" cy="3238500"/>
            </a:xfrm>
            <a:prstGeom prst="roundRect">
              <a:avLst>
                <a:gd name="adj" fmla="val 2353"/>
              </a:avLst>
            </a:prstGeom>
            <a:solidFill>
              <a:srgbClr val="FFFFFF"/>
            </a:solidFill>
            <a:ln w="9525">
              <a:solidFill>
                <a:srgbClr val="E8E4E0"/>
              </a:solidFill>
            </a:ln>
          </p:spPr>
        </p:sp>
        <p:grpSp>
          <p:nvGrpSpPr>
            <p:cNvPr id="99" name="risk-tab"/>
            <p:cNvGrpSpPr/>
            <p:nvPr/>
          </p:nvGrpSpPr>
          <p:grpSpPr>
            <a:xfrm>
              <a:off x="7867650" y="914400"/>
              <a:ext cx="2209800" cy="457200"/>
              <a:chOff x="7867650" y="914400"/>
              <a:chExt cx="2209800" cy="457200"/>
            </a:xfrm>
          </p:grpSpPr>
          <p:sp>
            <p:nvSpPr>
              <p:cNvPr id="93" name="Ellipse 93"/>
              <p:cNvSpPr/>
              <p:nvPr/>
            </p:nvSpPr>
            <p:spPr>
              <a:xfrm>
                <a:off x="7867650" y="914400"/>
                <a:ext cx="457200" cy="457200"/>
              </a:xfrm>
              <a:prstGeom prst="ellipse">
                <a:avLst/>
              </a:prstGeom>
              <a:solidFill>
                <a:srgbClr val="FFFFFF"/>
              </a:solidFill>
              <a:ln w="19050">
                <a:solidFill>
                  <a:srgbClr val="B03A1F"/>
                </a:solidFill>
              </a:ln>
            </p:spPr>
          </p:sp>
          <p:grpSp>
            <p:nvGrpSpPr>
              <p:cNvPr id="96" name="Group 96"/>
              <p:cNvGrpSpPr/>
              <p:nvPr/>
            </p:nvGrpSpPr>
            <p:grpSpPr>
              <a:xfrm>
                <a:off x="7997671" y="1057275"/>
                <a:ext cx="186006" cy="171450"/>
                <a:chOff x="7997671" y="1057275"/>
                <a:chExt cx="186006" cy="171450"/>
              </a:xfrm>
            </p:grpSpPr>
            <p:sp>
              <p:nvSpPr>
                <p:cNvPr id="94" name="Freeform 94"/>
                <p:cNvSpPr/>
                <p:nvPr/>
              </p:nvSpPr>
              <p:spPr>
                <a:xfrm>
                  <a:off x="7997671" y="10572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B03A1F"/>
                  </a:solidFill>
                </a:ln>
              </p:spPr>
            </p:sp>
            <p:sp>
              <p:nvSpPr>
                <p:cNvPr id="95" name="Freeform 95"/>
                <p:cNvSpPr/>
                <p:nvPr/>
              </p:nvSpPr>
              <p:spPr>
                <a:xfrm>
                  <a:off x="8124825" y="1190625"/>
                  <a:ext cx="57150" cy="38100"/>
                </a:xfrm>
                <a:custGeom>
                  <a:avLst/>
                  <a:gdLst/>
                  <a:ahLst/>
                  <a:cxnLst/>
                  <a:rect l="l" t="t" r="r" b="b"/>
                  <a:pathLst>
                    <a:path w="57150" h="38100">
                      <a:moveTo>
                        <a:pt x="0" y="19050"/>
                      </a:moveTo>
                      <a:lnTo>
                        <a:pt x="19050" y="38100"/>
                      </a:lnTo>
                      <a:lnTo>
                        <a:pt x="57150" y="0"/>
                      </a:lnTo>
                    </a:path>
                  </a:pathLst>
                </a:custGeom>
                <a:noFill/>
                <a:ln w="19050">
                  <a:solidFill>
                    <a:srgbClr val="B03A1F"/>
                  </a:solidFill>
                </a:ln>
              </p:spPr>
            </p:sp>
          </p:grpSp>
          <p:sp>
            <p:nvSpPr>
              <p:cNvPr id="97" name="Polygon 97"/>
              <p:cNvSpPr/>
              <p:nvPr/>
            </p:nvSpPr>
            <p:spPr>
              <a:xfrm>
                <a:off x="8001000" y="933450"/>
                <a:ext cx="2076450" cy="419100"/>
              </a:xfrm>
              <a:custGeom>
                <a:avLst/>
                <a:gdLst/>
                <a:ahLst/>
                <a:cxnLst/>
                <a:rect l="l" t="t" r="r" b="b"/>
                <a:pathLst>
                  <a:path w="2076450" h="419100">
                    <a:moveTo>
                      <a:pt x="0" y="0"/>
                    </a:moveTo>
                    <a:lnTo>
                      <a:pt x="1809750" y="0"/>
                    </a:lnTo>
                    <a:lnTo>
                      <a:pt x="2076450" y="419100"/>
                    </a:lnTo>
                    <a:lnTo>
                      <a:pt x="0" y="419100"/>
                    </a:lnTo>
                    <a:close/>
                  </a:path>
                </a:pathLst>
              </a:custGeom>
              <a:solidFill>
                <a:srgbClr val="B03A1F"/>
              </a:solidFill>
              <a:ln>
                <a:noFill/>
              </a:ln>
            </p:spPr>
          </p:sp>
          <p:sp>
            <p:nvSpPr>
              <p:cNvPr id="98" name="TextBox 98"/>
              <p:cNvSpPr txBox="1"/>
              <p:nvPr/>
            </p:nvSpPr>
            <p:spPr>
              <a:xfrm>
                <a:off x="8862441" y="108966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智能风控</a:t>
                </a:r>
              </a:p>
            </p:txBody>
          </p:sp>
        </p:grpSp>
        <p:grpSp>
          <p:nvGrpSpPr>
            <p:cNvPr id="123" name="risk-items"/>
            <p:cNvGrpSpPr/>
            <p:nvPr/>
          </p:nvGrpSpPr>
          <p:grpSpPr>
            <a:xfrm>
              <a:off x="7953375" y="1575197"/>
              <a:ext cx="3714750" cy="2139553"/>
              <a:chOff x="7953375" y="1575197"/>
              <a:chExt cx="3714750" cy="2139553"/>
            </a:xfrm>
          </p:grpSpPr>
          <p:grpSp>
            <p:nvGrpSpPr>
              <p:cNvPr id="102" name="Group 102"/>
              <p:cNvGrpSpPr/>
              <p:nvPr/>
            </p:nvGrpSpPr>
            <p:grpSpPr>
              <a:xfrm>
                <a:off x="7994650" y="1633537"/>
                <a:ext cx="165099" cy="143669"/>
                <a:chOff x="7994650" y="1633537"/>
                <a:chExt cx="165099" cy="143669"/>
              </a:xfrm>
            </p:grpSpPr>
            <p:sp>
              <p:nvSpPr>
                <p:cNvPr id="100" name="Freeform 100"/>
                <p:cNvSpPr/>
                <p:nvPr/>
              </p:nvSpPr>
              <p:spPr>
                <a:xfrm>
                  <a:off x="7994650" y="1767681"/>
                  <a:ext cx="165099" cy="9525"/>
                </a:xfrm>
                <a:custGeom>
                  <a:avLst/>
                  <a:gdLst/>
                  <a:ahLst/>
                  <a:cxnLst/>
                  <a:rect l="l" t="t" r="r" b="b"/>
                  <a:pathLst>
                    <a:path w="165099" h="9525">
                      <a:moveTo>
                        <a:pt x="0" y="0"/>
                      </a:moveTo>
                      <a:lnTo>
                        <a:pt x="165099" y="0"/>
                      </a:lnTo>
                    </a:path>
                  </a:pathLst>
                </a:custGeom>
                <a:noFill/>
                <a:ln w="20637">
                  <a:solidFill>
                    <a:srgbClr val="B03A1F"/>
                  </a:solidFill>
                </a:ln>
              </p:spPr>
            </p:sp>
            <p:sp>
              <p:nvSpPr>
                <p:cNvPr id="101" name="Freeform 101"/>
                <p:cNvSpPr/>
                <p:nvPr/>
              </p:nvSpPr>
              <p:spPr>
                <a:xfrm>
                  <a:off x="7994650" y="1633537"/>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20637">
                  <a:solidFill>
                    <a:srgbClr val="B03A1F"/>
                  </a:solidFill>
                </a:ln>
              </p:spPr>
            </p:sp>
          </p:grpSp>
          <p:sp>
            <p:nvSpPr>
              <p:cNvPr id="103" name="TextBox 103"/>
              <p:cNvSpPr txBox="1"/>
              <p:nvPr/>
            </p:nvSpPr>
            <p:spPr>
              <a:xfrm>
                <a:off x="8329612" y="1575197"/>
                <a:ext cx="895325"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大数据风控模型</a:t>
                </a:r>
              </a:p>
            </p:txBody>
          </p:sp>
          <p:sp>
            <p:nvSpPr>
              <p:cNvPr id="104" name="TextBox 104"/>
              <p:cNvSpPr txBox="1"/>
              <p:nvPr/>
            </p:nvSpPr>
            <p:spPr>
              <a:xfrm>
                <a:off x="8329612" y="1766888"/>
                <a:ext cx="132207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多维数据融合，精准评估风险</a:t>
                </a:r>
              </a:p>
            </p:txBody>
          </p:sp>
          <p:sp>
            <p:nvSpPr>
              <p:cNvPr id="105" name="Line 105"/>
              <p:cNvSpPr/>
              <p:nvPr/>
            </p:nvSpPr>
            <p:spPr>
              <a:xfrm>
                <a:off x="7953375" y="2000250"/>
                <a:ext cx="3714750" cy="9525"/>
              </a:xfrm>
              <a:custGeom>
                <a:avLst/>
                <a:gdLst/>
                <a:ahLst/>
                <a:cxnLst/>
                <a:rect l="l" t="t" r="r" b="b"/>
                <a:pathLst>
                  <a:path w="3714750" h="9525">
                    <a:moveTo>
                      <a:pt x="0" y="0"/>
                    </a:moveTo>
                    <a:lnTo>
                      <a:pt x="3714750" y="0"/>
                    </a:lnTo>
                  </a:path>
                </a:pathLst>
              </a:custGeom>
              <a:noFill/>
              <a:ln w="9525">
                <a:solidFill>
                  <a:srgbClr val="E8E4E0"/>
                </a:solidFill>
              </a:ln>
            </p:spPr>
          </p:sp>
          <p:grpSp>
            <p:nvGrpSpPr>
              <p:cNvPr id="108" name="Group 108"/>
              <p:cNvGrpSpPr/>
              <p:nvPr/>
            </p:nvGrpSpPr>
            <p:grpSpPr>
              <a:xfrm>
                <a:off x="7984331" y="2243931"/>
                <a:ext cx="185737" cy="103187"/>
                <a:chOff x="7984331" y="2243931"/>
                <a:chExt cx="185737" cy="103187"/>
              </a:xfrm>
            </p:grpSpPr>
            <p:sp>
              <p:nvSpPr>
                <p:cNvPr id="106" name="Freeform 106"/>
                <p:cNvSpPr/>
                <p:nvPr/>
              </p:nvSpPr>
              <p:spPr>
                <a:xfrm>
                  <a:off x="7984331" y="2243931"/>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B03A1F"/>
                  </a:solidFill>
                </a:ln>
              </p:spPr>
            </p:sp>
            <p:sp>
              <p:nvSpPr>
                <p:cNvPr id="107" name="Freeform 107"/>
                <p:cNvSpPr/>
                <p:nvPr/>
              </p:nvSpPr>
              <p:spPr>
                <a:xfrm>
                  <a:off x="8097837" y="2243931"/>
                  <a:ext cx="72231" cy="72231"/>
                </a:xfrm>
                <a:custGeom>
                  <a:avLst/>
                  <a:gdLst/>
                  <a:ahLst/>
                  <a:cxnLst/>
                  <a:rect l="l" t="t" r="r" b="b"/>
                  <a:pathLst>
                    <a:path w="72231" h="72231">
                      <a:moveTo>
                        <a:pt x="0" y="0"/>
                      </a:moveTo>
                      <a:lnTo>
                        <a:pt x="72231" y="0"/>
                      </a:lnTo>
                      <a:lnTo>
                        <a:pt x="72231" y="72231"/>
                      </a:lnTo>
                    </a:path>
                  </a:pathLst>
                </a:custGeom>
                <a:noFill/>
                <a:ln w="20637">
                  <a:solidFill>
                    <a:srgbClr val="B03A1F"/>
                  </a:solidFill>
                </a:ln>
              </p:spPr>
            </p:sp>
          </p:grpSp>
          <p:sp>
            <p:nvSpPr>
              <p:cNvPr id="109" name="TextBox 109"/>
              <p:cNvSpPr txBox="1"/>
              <p:nvPr/>
            </p:nvSpPr>
            <p:spPr>
              <a:xfrm>
                <a:off x="8329612" y="2175272"/>
                <a:ext cx="895325"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审批通过率提升</a:t>
                </a:r>
              </a:p>
            </p:txBody>
          </p:sp>
          <p:sp>
            <p:nvSpPr>
              <p:cNvPr id="110" name="TextBox 110"/>
              <p:cNvSpPr txBox="1"/>
              <p:nvPr/>
            </p:nvSpPr>
            <p:spPr>
              <a:xfrm>
                <a:off x="8329612" y="2366962"/>
                <a:ext cx="1240541"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 xml:space="preserve">较传统模式提高 </a:t>
                </a:r>
                <a:r>
                  <a:rPr lang="zh-CN" sz="750" b="1" dirty="0">
                    <a:solidFill>
                      <a:srgbClr val="B03A1F"/>
                    </a:solidFill>
                    <a:latin typeface="+mn-lt"/>
                    <a:ea typeface="+mn-ea"/>
                    <a:cs typeface="+mn-cs"/>
                  </a:rPr>
                  <a:t>5 个百分点</a:t>
                </a:r>
              </a:p>
            </p:txBody>
          </p:sp>
          <p:sp>
            <p:nvSpPr>
              <p:cNvPr id="111" name="Line 111"/>
              <p:cNvSpPr/>
              <p:nvPr/>
            </p:nvSpPr>
            <p:spPr>
              <a:xfrm>
                <a:off x="7953375" y="2600325"/>
                <a:ext cx="3714750" cy="9525"/>
              </a:xfrm>
              <a:custGeom>
                <a:avLst/>
                <a:gdLst/>
                <a:ahLst/>
                <a:cxnLst/>
                <a:rect l="l" t="t" r="r" b="b"/>
                <a:pathLst>
                  <a:path w="3714750" h="9525">
                    <a:moveTo>
                      <a:pt x="0" y="0"/>
                    </a:moveTo>
                    <a:lnTo>
                      <a:pt x="3714750" y="0"/>
                    </a:lnTo>
                  </a:path>
                </a:pathLst>
              </a:custGeom>
              <a:noFill/>
              <a:ln w="9525">
                <a:solidFill>
                  <a:srgbClr val="E8E4E0"/>
                </a:solidFill>
              </a:ln>
            </p:spPr>
          </p:sp>
          <p:grpSp>
            <p:nvGrpSpPr>
              <p:cNvPr id="114" name="Group 114"/>
              <p:cNvGrpSpPr/>
              <p:nvPr/>
            </p:nvGrpSpPr>
            <p:grpSpPr>
              <a:xfrm>
                <a:off x="7984331" y="2802731"/>
                <a:ext cx="185737" cy="185737"/>
                <a:chOff x="7984331" y="2802731"/>
                <a:chExt cx="185737" cy="185737"/>
              </a:xfrm>
            </p:grpSpPr>
            <p:sp>
              <p:nvSpPr>
                <p:cNvPr id="112" name="Freeform 112"/>
                <p:cNvSpPr/>
                <p:nvPr/>
              </p:nvSpPr>
              <p:spPr>
                <a:xfrm>
                  <a:off x="7984331" y="28027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B03A1F"/>
                  </a:solidFill>
                </a:ln>
              </p:spPr>
            </p:sp>
            <p:sp>
              <p:nvSpPr>
                <p:cNvPr id="113" name="Freeform 113"/>
                <p:cNvSpPr/>
                <p:nvPr/>
              </p:nvSpPr>
              <p:spPr>
                <a:xfrm>
                  <a:off x="8077200" y="2844006"/>
                  <a:ext cx="30956" cy="82550"/>
                </a:xfrm>
                <a:custGeom>
                  <a:avLst/>
                  <a:gdLst/>
                  <a:ahLst/>
                  <a:cxnLst/>
                  <a:rect l="l" t="t" r="r" b="b"/>
                  <a:pathLst>
                    <a:path w="30956" h="82550">
                      <a:moveTo>
                        <a:pt x="0" y="0"/>
                      </a:moveTo>
                      <a:lnTo>
                        <a:pt x="0" y="51594"/>
                      </a:lnTo>
                      <a:lnTo>
                        <a:pt x="30956" y="82550"/>
                      </a:lnTo>
                    </a:path>
                  </a:pathLst>
                </a:custGeom>
                <a:noFill/>
                <a:ln w="20637">
                  <a:solidFill>
                    <a:srgbClr val="B03A1F"/>
                  </a:solidFill>
                </a:ln>
              </p:spPr>
            </p:sp>
          </p:grpSp>
          <p:sp>
            <p:nvSpPr>
              <p:cNvPr id="115" name="TextBox 115"/>
              <p:cNvSpPr txBox="1"/>
              <p:nvPr/>
            </p:nvSpPr>
            <p:spPr>
              <a:xfrm>
                <a:off x="8329612" y="2775347"/>
                <a:ext cx="642239"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分钟级放款</a:t>
                </a:r>
              </a:p>
            </p:txBody>
          </p:sp>
          <p:sp>
            <p:nvSpPr>
              <p:cNvPr id="116" name="TextBox 116"/>
              <p:cNvSpPr txBox="1"/>
              <p:nvPr/>
            </p:nvSpPr>
            <p:spPr>
              <a:xfrm>
                <a:off x="8329612" y="2967038"/>
                <a:ext cx="101917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自动化审批，快速到账</a:t>
                </a:r>
              </a:p>
            </p:txBody>
          </p:sp>
          <p:sp>
            <p:nvSpPr>
              <p:cNvPr id="117" name="Line 117"/>
              <p:cNvSpPr/>
              <p:nvPr/>
            </p:nvSpPr>
            <p:spPr>
              <a:xfrm>
                <a:off x="7953375" y="3200400"/>
                <a:ext cx="3714750" cy="9525"/>
              </a:xfrm>
              <a:custGeom>
                <a:avLst/>
                <a:gdLst/>
                <a:ahLst/>
                <a:cxnLst/>
                <a:rect l="l" t="t" r="r" b="b"/>
                <a:pathLst>
                  <a:path w="3714750" h="9525">
                    <a:moveTo>
                      <a:pt x="0" y="0"/>
                    </a:moveTo>
                    <a:lnTo>
                      <a:pt x="3714750" y="0"/>
                    </a:lnTo>
                  </a:path>
                </a:pathLst>
              </a:custGeom>
              <a:noFill/>
              <a:ln w="9525">
                <a:solidFill>
                  <a:srgbClr val="E8E4E0"/>
                </a:solidFill>
              </a:ln>
            </p:spPr>
          </p:sp>
          <p:grpSp>
            <p:nvGrpSpPr>
              <p:cNvPr id="120" name="Group 120"/>
              <p:cNvGrpSpPr/>
              <p:nvPr/>
            </p:nvGrpSpPr>
            <p:grpSpPr>
              <a:xfrm>
                <a:off x="7984331" y="3433762"/>
                <a:ext cx="185737" cy="123825"/>
                <a:chOff x="7984331" y="3433762"/>
                <a:chExt cx="185737" cy="123825"/>
              </a:xfrm>
            </p:grpSpPr>
            <p:sp>
              <p:nvSpPr>
                <p:cNvPr id="118" name="Freeform 118"/>
                <p:cNvSpPr/>
                <p:nvPr/>
              </p:nvSpPr>
              <p:spPr>
                <a:xfrm>
                  <a:off x="8056562" y="3475037"/>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B03A1F"/>
                  </a:solidFill>
                </a:ln>
              </p:spPr>
            </p:sp>
            <p:sp>
              <p:nvSpPr>
                <p:cNvPr id="119" name="Freeform 119"/>
                <p:cNvSpPr/>
                <p:nvPr/>
              </p:nvSpPr>
              <p:spPr>
                <a:xfrm>
                  <a:off x="7984331" y="3433762"/>
                  <a:ext cx="185737" cy="123825"/>
                </a:xfrm>
                <a:custGeom>
                  <a:avLst/>
                  <a:gdLst/>
                  <a:ahLst/>
                  <a:cxnLst/>
                  <a:rect l="l" t="t" r="r" b="b"/>
                  <a:pathLst>
                    <a:path w="185737" h="123825">
                      <a:moveTo>
                        <a:pt x="185737" y="61912"/>
                      </a:moveTo>
                      <a:cubicBezTo>
                        <a:pt x="160972" y="103187"/>
                        <a:pt x="130016" y="123825"/>
                        <a:pt x="92868" y="123825"/>
                      </a:cubicBezTo>
                      <a:cubicBezTo>
                        <a:pt x="55721" y="123825"/>
                        <a:pt x="24765" y="103187"/>
                        <a:pt x="0" y="61912"/>
                      </a:cubicBezTo>
                      <a:cubicBezTo>
                        <a:pt x="24765" y="20637"/>
                        <a:pt x="55721" y="0"/>
                        <a:pt x="92868" y="0"/>
                      </a:cubicBezTo>
                      <a:cubicBezTo>
                        <a:pt x="130016" y="0"/>
                        <a:pt x="160972" y="20637"/>
                        <a:pt x="185737" y="61912"/>
                      </a:cubicBezTo>
                    </a:path>
                  </a:pathLst>
                </a:custGeom>
                <a:noFill/>
                <a:ln w="20637">
                  <a:solidFill>
                    <a:srgbClr val="B03A1F"/>
                  </a:solidFill>
                </a:ln>
              </p:spPr>
            </p:sp>
          </p:grpSp>
          <p:sp>
            <p:nvSpPr>
              <p:cNvPr id="121" name="TextBox 121"/>
              <p:cNvSpPr txBox="1"/>
              <p:nvPr/>
            </p:nvSpPr>
            <p:spPr>
              <a:xfrm>
                <a:off x="8329612" y="3375422"/>
                <a:ext cx="1021867"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资金用途合规监测</a:t>
                </a:r>
              </a:p>
            </p:txBody>
          </p:sp>
          <p:sp>
            <p:nvSpPr>
              <p:cNvPr id="122" name="TextBox 122"/>
              <p:cNvSpPr txBox="1"/>
              <p:nvPr/>
            </p:nvSpPr>
            <p:spPr>
              <a:xfrm>
                <a:off x="8329612" y="3567112"/>
                <a:ext cx="122110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全流程监控，保障合规使用</a:t>
                </a:r>
              </a:p>
            </p:txBody>
          </p:sp>
        </p:grpSp>
      </p:grpSp>
      <p:grpSp>
        <p:nvGrpSpPr>
          <p:cNvPr id="167" name="flow"/>
          <p:cNvGrpSpPr/>
          <p:nvPr/>
        </p:nvGrpSpPr>
        <p:grpSpPr>
          <a:xfrm>
            <a:off x="571500" y="4610100"/>
            <a:ext cx="11049000" cy="1047750"/>
            <a:chOff x="571500" y="4610100"/>
            <a:chExt cx="11049000" cy="1047750"/>
          </a:xfrm>
        </p:grpSpPr>
        <p:sp>
          <p:nvSpPr>
            <p:cNvPr id="125" name="Line 125"/>
            <p:cNvSpPr/>
            <p:nvPr/>
          </p:nvSpPr>
          <p:spPr>
            <a:xfrm>
              <a:off x="571500" y="5619750"/>
              <a:ext cx="11049000" cy="9525"/>
            </a:xfrm>
            <a:custGeom>
              <a:avLst/>
              <a:gdLst/>
              <a:ahLst/>
              <a:cxnLst/>
              <a:rect l="l" t="t" r="r" b="b"/>
              <a:pathLst>
                <a:path w="11049000" h="9525">
                  <a:moveTo>
                    <a:pt x="0" y="0"/>
                  </a:moveTo>
                  <a:lnTo>
                    <a:pt x="11049000" y="0"/>
                  </a:lnTo>
                </a:path>
              </a:pathLst>
            </a:custGeom>
            <a:noFill/>
            <a:ln w="14288">
              <a:solidFill>
                <a:srgbClr val="C9C5C1"/>
              </a:solidFill>
              <a:prstDash val="dash"/>
            </a:ln>
          </p:spPr>
        </p:sp>
        <p:sp>
          <p:nvSpPr>
            <p:cNvPr id="126" name="Ellipse 126"/>
            <p:cNvSpPr/>
            <p:nvPr/>
          </p:nvSpPr>
          <p:spPr>
            <a:xfrm>
              <a:off x="800100" y="4610100"/>
              <a:ext cx="495300" cy="495300"/>
            </a:xfrm>
            <a:prstGeom prst="ellipse">
              <a:avLst/>
            </a:prstGeom>
            <a:solidFill>
              <a:srgbClr val="FFFFFF"/>
            </a:solidFill>
            <a:ln w="19050">
              <a:solidFill>
                <a:srgbClr val="B03A1F"/>
              </a:solidFill>
            </a:ln>
          </p:spPr>
        </p:sp>
        <p:grpSp>
          <p:nvGrpSpPr>
            <p:cNvPr id="130" name="Group 130"/>
            <p:cNvGrpSpPr/>
            <p:nvPr/>
          </p:nvGrpSpPr>
          <p:grpSpPr>
            <a:xfrm>
              <a:off x="985837" y="4764881"/>
              <a:ext cx="154781" cy="185737"/>
              <a:chOff x="985837" y="4764881"/>
              <a:chExt cx="154781" cy="185737"/>
            </a:xfrm>
          </p:grpSpPr>
          <p:sp>
            <p:nvSpPr>
              <p:cNvPr id="127" name="Freeform 127"/>
              <p:cNvSpPr/>
              <p:nvPr/>
            </p:nvSpPr>
            <p:spPr>
              <a:xfrm>
                <a:off x="1006475" y="47648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B03A1F"/>
                </a:solidFill>
              </a:ln>
            </p:spPr>
          </p:sp>
          <p:sp>
            <p:nvSpPr>
              <p:cNvPr id="128" name="Freeform 128"/>
              <p:cNvSpPr/>
              <p:nvPr/>
            </p:nvSpPr>
            <p:spPr>
              <a:xfrm>
                <a:off x="985837" y="4888706"/>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B03A1F"/>
                </a:solidFill>
              </a:ln>
            </p:spPr>
          </p:sp>
          <p:sp>
            <p:nvSpPr>
              <p:cNvPr id="129" name="Freeform 129"/>
              <p:cNvSpPr/>
              <p:nvPr/>
            </p:nvSpPr>
            <p:spPr>
              <a:xfrm>
                <a:off x="1078706" y="4909343"/>
                <a:ext cx="61912" cy="41275"/>
              </a:xfrm>
              <a:custGeom>
                <a:avLst/>
                <a:gdLst/>
                <a:ahLst/>
                <a:cxnLst/>
                <a:rect l="l" t="t" r="r" b="b"/>
                <a:pathLst>
                  <a:path w="61912" h="41275">
                    <a:moveTo>
                      <a:pt x="0" y="20637"/>
                    </a:moveTo>
                    <a:lnTo>
                      <a:pt x="20637" y="41275"/>
                    </a:lnTo>
                    <a:lnTo>
                      <a:pt x="61912" y="0"/>
                    </a:lnTo>
                  </a:path>
                </a:pathLst>
              </a:custGeom>
              <a:noFill/>
              <a:ln w="20637">
                <a:solidFill>
                  <a:srgbClr val="B03A1F"/>
                </a:solidFill>
              </a:ln>
            </p:spPr>
          </p:sp>
        </p:grpSp>
        <p:sp>
          <p:nvSpPr>
            <p:cNvPr id="131" name="TextBox 131"/>
            <p:cNvSpPr txBox="1"/>
            <p:nvPr/>
          </p:nvSpPr>
          <p:spPr>
            <a:xfrm>
              <a:off x="1423606" y="4700826"/>
              <a:ext cx="754022" cy="198025"/>
            </a:xfrm>
            <a:prstGeom prst="rect">
              <a:avLst/>
            </a:prstGeom>
            <a:noFill/>
            <a:ln>
              <a:noFill/>
            </a:ln>
          </p:spPr>
          <p:txBody>
            <a:bodyPr wrap="none" lIns="0" tIns="0" rIns="0" bIns="0" anchor="t" anchorCtr="0">
              <a:spAutoFit/>
            </a:bodyPr>
            <a:lstStyle/>
            <a:p>
              <a:pPr algn="l"/>
              <a:r>
                <a:rPr lang="zh-CN" sz="1010" b="1" dirty="0">
                  <a:solidFill>
                    <a:srgbClr val="B03A1F"/>
                  </a:solidFill>
                  <a:latin typeface="+mn-lt"/>
                  <a:ea typeface="+mn-ea"/>
                  <a:cs typeface="+mn-cs"/>
                </a:rPr>
                <a:t>1. 客户需求</a:t>
              </a:r>
            </a:p>
          </p:txBody>
        </p:sp>
        <p:sp>
          <p:nvSpPr>
            <p:cNvPr id="132" name="TextBox 132"/>
            <p:cNvSpPr txBox="1"/>
            <p:nvPr/>
          </p:nvSpPr>
          <p:spPr>
            <a:xfrm>
              <a:off x="1423988" y="4919662"/>
              <a:ext cx="61531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消费需求产生</a:t>
              </a:r>
            </a:p>
          </p:txBody>
        </p:sp>
        <p:sp>
          <p:nvSpPr>
            <p:cNvPr id="133" name="TextBox 133"/>
            <p:cNvSpPr txBox="1"/>
            <p:nvPr/>
          </p:nvSpPr>
          <p:spPr>
            <a:xfrm>
              <a:off x="1423988" y="5072062"/>
              <a:ext cx="61531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选择金融服务</a:t>
              </a:r>
            </a:p>
          </p:txBody>
        </p:sp>
        <p:sp>
          <p:nvSpPr>
            <p:cNvPr id="134" name="Polygon 134"/>
            <p:cNvSpPr/>
            <p:nvPr/>
          </p:nvSpPr>
          <p:spPr>
            <a:xfrm>
              <a:off x="2762250" y="4810125"/>
              <a:ext cx="238125" cy="228600"/>
            </a:xfrm>
            <a:custGeom>
              <a:avLst/>
              <a:gdLst/>
              <a:ahLst/>
              <a:cxnLst/>
              <a:rect l="l" t="t" r="r" b="b"/>
              <a:pathLst>
                <a:path w="238125" h="228600">
                  <a:moveTo>
                    <a:pt x="0" y="0"/>
                  </a:moveTo>
                  <a:lnTo>
                    <a:pt x="238125" y="114300"/>
                  </a:lnTo>
                  <a:lnTo>
                    <a:pt x="0" y="228600"/>
                  </a:lnTo>
                  <a:close/>
                </a:path>
              </a:pathLst>
            </a:custGeom>
            <a:solidFill>
              <a:srgbClr val="B03A1F"/>
            </a:solidFill>
            <a:ln>
              <a:noFill/>
            </a:ln>
          </p:spPr>
        </p:sp>
        <p:sp>
          <p:nvSpPr>
            <p:cNvPr id="135" name="Ellipse 135"/>
            <p:cNvSpPr/>
            <p:nvPr/>
          </p:nvSpPr>
          <p:spPr>
            <a:xfrm>
              <a:off x="3848100" y="4610100"/>
              <a:ext cx="495300" cy="495300"/>
            </a:xfrm>
            <a:prstGeom prst="ellipse">
              <a:avLst/>
            </a:prstGeom>
            <a:solidFill>
              <a:srgbClr val="FFFFFF"/>
            </a:solidFill>
            <a:ln w="19050">
              <a:solidFill>
                <a:srgbClr val="B03A1F"/>
              </a:solidFill>
            </a:ln>
          </p:spPr>
        </p:sp>
        <p:grpSp>
          <p:nvGrpSpPr>
            <p:cNvPr id="141" name="Group 141"/>
            <p:cNvGrpSpPr/>
            <p:nvPr/>
          </p:nvGrpSpPr>
          <p:grpSpPr>
            <a:xfrm>
              <a:off x="4023519" y="4764881"/>
              <a:ext cx="144462" cy="185737"/>
              <a:chOff x="4023519" y="4764881"/>
              <a:chExt cx="144462" cy="185737"/>
            </a:xfrm>
          </p:grpSpPr>
          <p:sp>
            <p:nvSpPr>
              <p:cNvPr id="136" name="Freeform 136"/>
              <p:cNvSpPr/>
              <p:nvPr/>
            </p:nvSpPr>
            <p:spPr>
              <a:xfrm>
                <a:off x="4116387" y="4764881"/>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B03A1F"/>
                </a:solidFill>
              </a:ln>
            </p:spPr>
          </p:sp>
          <p:sp>
            <p:nvSpPr>
              <p:cNvPr id="137" name="Freeform 137"/>
              <p:cNvSpPr/>
              <p:nvPr/>
            </p:nvSpPr>
            <p:spPr>
              <a:xfrm>
                <a:off x="4023519" y="4764881"/>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B03A1F"/>
                </a:solidFill>
              </a:ln>
            </p:spPr>
          </p:sp>
          <p:sp>
            <p:nvSpPr>
              <p:cNvPr id="138" name="Freeform 138"/>
              <p:cNvSpPr/>
              <p:nvPr/>
            </p:nvSpPr>
            <p:spPr>
              <a:xfrm>
                <a:off x="4064793" y="4826793"/>
                <a:ext cx="10319" cy="9525"/>
              </a:xfrm>
              <a:custGeom>
                <a:avLst/>
                <a:gdLst/>
                <a:ahLst/>
                <a:cxnLst/>
                <a:rect l="l" t="t" r="r" b="b"/>
                <a:pathLst>
                  <a:path w="10319" h="9525">
                    <a:moveTo>
                      <a:pt x="0" y="0"/>
                    </a:moveTo>
                    <a:lnTo>
                      <a:pt x="10319" y="0"/>
                    </a:lnTo>
                  </a:path>
                </a:pathLst>
              </a:custGeom>
              <a:noFill/>
              <a:ln w="20637">
                <a:solidFill>
                  <a:srgbClr val="B03A1F"/>
                </a:solidFill>
              </a:ln>
            </p:spPr>
          </p:sp>
          <p:sp>
            <p:nvSpPr>
              <p:cNvPr id="139" name="Freeform 139"/>
              <p:cNvSpPr/>
              <p:nvPr/>
            </p:nvSpPr>
            <p:spPr>
              <a:xfrm>
                <a:off x="4064793" y="4868068"/>
                <a:ext cx="61912" cy="9525"/>
              </a:xfrm>
              <a:custGeom>
                <a:avLst/>
                <a:gdLst/>
                <a:ahLst/>
                <a:cxnLst/>
                <a:rect l="l" t="t" r="r" b="b"/>
                <a:pathLst>
                  <a:path w="61912" h="9525">
                    <a:moveTo>
                      <a:pt x="0" y="0"/>
                    </a:moveTo>
                    <a:lnTo>
                      <a:pt x="61912" y="0"/>
                    </a:lnTo>
                  </a:path>
                </a:pathLst>
              </a:custGeom>
              <a:noFill/>
              <a:ln w="20637">
                <a:solidFill>
                  <a:srgbClr val="B03A1F"/>
                </a:solidFill>
              </a:ln>
            </p:spPr>
          </p:sp>
          <p:sp>
            <p:nvSpPr>
              <p:cNvPr id="140" name="Freeform 140"/>
              <p:cNvSpPr/>
              <p:nvPr/>
            </p:nvSpPr>
            <p:spPr>
              <a:xfrm>
                <a:off x="4064793" y="4909343"/>
                <a:ext cx="61912" cy="9525"/>
              </a:xfrm>
              <a:custGeom>
                <a:avLst/>
                <a:gdLst/>
                <a:ahLst/>
                <a:cxnLst/>
                <a:rect l="l" t="t" r="r" b="b"/>
                <a:pathLst>
                  <a:path w="61912" h="9525">
                    <a:moveTo>
                      <a:pt x="0" y="0"/>
                    </a:moveTo>
                    <a:lnTo>
                      <a:pt x="61912" y="0"/>
                    </a:lnTo>
                  </a:path>
                </a:pathLst>
              </a:custGeom>
              <a:noFill/>
              <a:ln w="20637">
                <a:solidFill>
                  <a:srgbClr val="B03A1F"/>
                </a:solidFill>
              </a:ln>
            </p:spPr>
          </p:sp>
        </p:grpSp>
        <p:sp>
          <p:nvSpPr>
            <p:cNvPr id="142" name="TextBox 142"/>
            <p:cNvSpPr txBox="1"/>
            <p:nvPr/>
          </p:nvSpPr>
          <p:spPr>
            <a:xfrm>
              <a:off x="4471606" y="4700826"/>
              <a:ext cx="754022" cy="198025"/>
            </a:xfrm>
            <a:prstGeom prst="rect">
              <a:avLst/>
            </a:prstGeom>
            <a:noFill/>
            <a:ln>
              <a:noFill/>
            </a:ln>
          </p:spPr>
          <p:txBody>
            <a:bodyPr wrap="none" lIns="0" tIns="0" rIns="0" bIns="0" anchor="t" anchorCtr="0">
              <a:spAutoFit/>
            </a:bodyPr>
            <a:lstStyle/>
            <a:p>
              <a:pPr algn="l"/>
              <a:r>
                <a:rPr lang="zh-CN" sz="1010" b="1" dirty="0">
                  <a:solidFill>
                    <a:srgbClr val="B03A1F"/>
                  </a:solidFill>
                  <a:latin typeface="+mn-lt"/>
                  <a:ea typeface="+mn-ea"/>
                  <a:cs typeface="+mn-cs"/>
                </a:rPr>
                <a:t>2. 获得贷款</a:t>
              </a:r>
            </a:p>
          </p:txBody>
        </p:sp>
        <p:sp>
          <p:nvSpPr>
            <p:cNvPr id="143" name="TextBox 143"/>
            <p:cNvSpPr txBox="1"/>
            <p:nvPr/>
          </p:nvSpPr>
          <p:spPr>
            <a:xfrm>
              <a:off x="4471988" y="4919662"/>
              <a:ext cx="41338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在线申请</a:t>
              </a:r>
            </a:p>
          </p:txBody>
        </p:sp>
        <p:sp>
          <p:nvSpPr>
            <p:cNvPr id="144" name="TextBox 144"/>
            <p:cNvSpPr txBox="1"/>
            <p:nvPr/>
          </p:nvSpPr>
          <p:spPr>
            <a:xfrm>
              <a:off x="4471988" y="5072062"/>
              <a:ext cx="91821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智能审批，快速放款</a:t>
              </a:r>
            </a:p>
          </p:txBody>
        </p:sp>
        <p:sp>
          <p:nvSpPr>
            <p:cNvPr id="145" name="Polygon 145"/>
            <p:cNvSpPr/>
            <p:nvPr/>
          </p:nvSpPr>
          <p:spPr>
            <a:xfrm>
              <a:off x="5905500" y="4810125"/>
              <a:ext cx="238125" cy="228600"/>
            </a:xfrm>
            <a:custGeom>
              <a:avLst/>
              <a:gdLst/>
              <a:ahLst/>
              <a:cxnLst/>
              <a:rect l="l" t="t" r="r" b="b"/>
              <a:pathLst>
                <a:path w="238125" h="228600">
                  <a:moveTo>
                    <a:pt x="0" y="0"/>
                  </a:moveTo>
                  <a:lnTo>
                    <a:pt x="238125" y="114300"/>
                  </a:lnTo>
                  <a:lnTo>
                    <a:pt x="0" y="228600"/>
                  </a:lnTo>
                  <a:close/>
                </a:path>
              </a:pathLst>
            </a:custGeom>
            <a:solidFill>
              <a:srgbClr val="B03A1F"/>
            </a:solidFill>
            <a:ln>
              <a:noFill/>
            </a:ln>
          </p:spPr>
        </p:sp>
        <p:sp>
          <p:nvSpPr>
            <p:cNvPr id="146" name="Ellipse 146"/>
            <p:cNvSpPr/>
            <p:nvPr/>
          </p:nvSpPr>
          <p:spPr>
            <a:xfrm>
              <a:off x="6991350" y="4610100"/>
              <a:ext cx="495300" cy="495300"/>
            </a:xfrm>
            <a:prstGeom prst="ellipse">
              <a:avLst/>
            </a:prstGeom>
            <a:solidFill>
              <a:srgbClr val="FFFFFF"/>
            </a:solidFill>
            <a:ln w="19050">
              <a:solidFill>
                <a:srgbClr val="B03A1F"/>
              </a:solidFill>
            </a:ln>
          </p:spPr>
        </p:sp>
        <p:grpSp>
          <p:nvGrpSpPr>
            <p:cNvPr id="151" name="Group 151"/>
            <p:cNvGrpSpPr/>
            <p:nvPr/>
          </p:nvGrpSpPr>
          <p:grpSpPr>
            <a:xfrm>
              <a:off x="7156450" y="4764881"/>
              <a:ext cx="165099" cy="185737"/>
              <a:chOff x="7156450" y="4764881"/>
              <a:chExt cx="165099" cy="185737"/>
            </a:xfrm>
          </p:grpSpPr>
          <p:sp>
            <p:nvSpPr>
              <p:cNvPr id="147" name="Freeform 147"/>
              <p:cNvSpPr/>
              <p:nvPr/>
            </p:nvSpPr>
            <p:spPr>
              <a:xfrm>
                <a:off x="7156450" y="490934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B03A1F"/>
                </a:solidFill>
              </a:ln>
            </p:spPr>
          </p:sp>
          <p:sp>
            <p:nvSpPr>
              <p:cNvPr id="148" name="Freeform 148"/>
              <p:cNvSpPr/>
              <p:nvPr/>
            </p:nvSpPr>
            <p:spPr>
              <a:xfrm>
                <a:off x="7269956" y="490934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B03A1F"/>
                </a:solidFill>
              </a:ln>
            </p:spPr>
          </p:sp>
          <p:sp>
            <p:nvSpPr>
              <p:cNvPr id="149" name="Freeform 149"/>
              <p:cNvSpPr/>
              <p:nvPr/>
            </p:nvSpPr>
            <p:spPr>
              <a:xfrm>
                <a:off x="7156450" y="4764881"/>
                <a:ext cx="134143" cy="144462"/>
              </a:xfrm>
              <a:custGeom>
                <a:avLst/>
                <a:gdLst/>
                <a:ahLst/>
                <a:cxnLst/>
                <a:rect l="l" t="t" r="r" b="b"/>
                <a:pathLst>
                  <a:path w="134143" h="144462">
                    <a:moveTo>
                      <a:pt x="134143" y="144462"/>
                    </a:moveTo>
                    <a:lnTo>
                      <a:pt x="20637" y="144462"/>
                    </a:lnTo>
                    <a:lnTo>
                      <a:pt x="20637" y="0"/>
                    </a:lnTo>
                    <a:lnTo>
                      <a:pt x="0" y="0"/>
                    </a:lnTo>
                  </a:path>
                </a:pathLst>
              </a:custGeom>
              <a:noFill/>
              <a:ln w="20637">
                <a:solidFill>
                  <a:srgbClr val="B03A1F"/>
                </a:solidFill>
              </a:ln>
            </p:spPr>
          </p:sp>
          <p:sp>
            <p:nvSpPr>
              <p:cNvPr id="150" name="Freeform 150"/>
              <p:cNvSpPr/>
              <p:nvPr/>
            </p:nvSpPr>
            <p:spPr>
              <a:xfrm>
                <a:off x="7177087" y="4785519"/>
                <a:ext cx="144462" cy="82550"/>
              </a:xfrm>
              <a:custGeom>
                <a:avLst/>
                <a:gdLst/>
                <a:ahLst/>
                <a:cxnLst/>
                <a:rect l="l" t="t" r="r" b="b"/>
                <a:pathLst>
                  <a:path w="144462" h="82550">
                    <a:moveTo>
                      <a:pt x="0" y="0"/>
                    </a:moveTo>
                    <a:lnTo>
                      <a:pt x="144462" y="10319"/>
                    </a:lnTo>
                    <a:lnTo>
                      <a:pt x="134143" y="82550"/>
                    </a:lnTo>
                    <a:lnTo>
                      <a:pt x="0" y="82550"/>
                    </a:lnTo>
                  </a:path>
                </a:pathLst>
              </a:custGeom>
              <a:noFill/>
              <a:ln w="20637">
                <a:solidFill>
                  <a:srgbClr val="B03A1F"/>
                </a:solidFill>
              </a:ln>
            </p:spPr>
          </p:sp>
        </p:grpSp>
        <p:sp>
          <p:nvSpPr>
            <p:cNvPr id="152" name="TextBox 152"/>
            <p:cNvSpPr txBox="1"/>
            <p:nvPr/>
          </p:nvSpPr>
          <p:spPr>
            <a:xfrm>
              <a:off x="7614856" y="4700826"/>
              <a:ext cx="754022" cy="198025"/>
            </a:xfrm>
            <a:prstGeom prst="rect">
              <a:avLst/>
            </a:prstGeom>
            <a:noFill/>
            <a:ln>
              <a:noFill/>
            </a:ln>
          </p:spPr>
          <p:txBody>
            <a:bodyPr wrap="none" lIns="0" tIns="0" rIns="0" bIns="0" anchor="t" anchorCtr="0">
              <a:spAutoFit/>
            </a:bodyPr>
            <a:lstStyle/>
            <a:p>
              <a:pPr algn="l"/>
              <a:r>
                <a:rPr lang="zh-CN" sz="1010" b="1" dirty="0">
                  <a:solidFill>
                    <a:srgbClr val="B03A1F"/>
                  </a:solidFill>
                  <a:latin typeface="+mn-lt"/>
                  <a:ea typeface="+mn-ea"/>
                  <a:cs typeface="+mn-cs"/>
                </a:rPr>
                <a:t>3. 商户收款</a:t>
              </a:r>
            </a:p>
          </p:txBody>
        </p:sp>
        <p:sp>
          <p:nvSpPr>
            <p:cNvPr id="153" name="TextBox 153"/>
            <p:cNvSpPr txBox="1"/>
            <p:nvPr/>
          </p:nvSpPr>
          <p:spPr>
            <a:xfrm>
              <a:off x="7615238" y="4919662"/>
              <a:ext cx="71628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支付至合作商户</a:t>
              </a:r>
            </a:p>
          </p:txBody>
        </p:sp>
        <p:sp>
          <p:nvSpPr>
            <p:cNvPr id="154" name="TextBox 154"/>
            <p:cNvSpPr txBox="1"/>
            <p:nvPr/>
          </p:nvSpPr>
          <p:spPr>
            <a:xfrm>
              <a:off x="7615238" y="5072062"/>
              <a:ext cx="61531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完成交易闭环</a:t>
              </a:r>
            </a:p>
          </p:txBody>
        </p:sp>
        <p:sp>
          <p:nvSpPr>
            <p:cNvPr id="155" name="Polygon 155"/>
            <p:cNvSpPr/>
            <p:nvPr/>
          </p:nvSpPr>
          <p:spPr>
            <a:xfrm>
              <a:off x="9048750" y="4810125"/>
              <a:ext cx="238125" cy="228600"/>
            </a:xfrm>
            <a:custGeom>
              <a:avLst/>
              <a:gdLst/>
              <a:ahLst/>
              <a:cxnLst/>
              <a:rect l="l" t="t" r="r" b="b"/>
              <a:pathLst>
                <a:path w="238125" h="228600">
                  <a:moveTo>
                    <a:pt x="0" y="0"/>
                  </a:moveTo>
                  <a:lnTo>
                    <a:pt x="238125" y="114300"/>
                  </a:lnTo>
                  <a:lnTo>
                    <a:pt x="0" y="228600"/>
                  </a:lnTo>
                  <a:close/>
                </a:path>
              </a:pathLst>
            </a:custGeom>
            <a:solidFill>
              <a:srgbClr val="B03A1F"/>
            </a:solidFill>
            <a:ln>
              <a:noFill/>
            </a:ln>
          </p:spPr>
        </p:sp>
        <p:sp>
          <p:nvSpPr>
            <p:cNvPr id="156" name="Ellipse 156"/>
            <p:cNvSpPr/>
            <p:nvPr/>
          </p:nvSpPr>
          <p:spPr>
            <a:xfrm>
              <a:off x="10134600" y="4610100"/>
              <a:ext cx="495300" cy="495300"/>
            </a:xfrm>
            <a:prstGeom prst="ellipse">
              <a:avLst/>
            </a:prstGeom>
            <a:solidFill>
              <a:srgbClr val="FFFFFF"/>
            </a:solidFill>
            <a:ln w="19050">
              <a:solidFill>
                <a:srgbClr val="B03A1F"/>
              </a:solidFill>
            </a:ln>
          </p:spPr>
        </p:sp>
        <p:grpSp>
          <p:nvGrpSpPr>
            <p:cNvPr id="159" name="Group 159"/>
            <p:cNvGrpSpPr/>
            <p:nvPr/>
          </p:nvGrpSpPr>
          <p:grpSpPr>
            <a:xfrm>
              <a:off x="10299700" y="4795837"/>
              <a:ext cx="165099" cy="143669"/>
              <a:chOff x="10299700" y="4795837"/>
              <a:chExt cx="165099" cy="143669"/>
            </a:xfrm>
          </p:grpSpPr>
          <p:sp>
            <p:nvSpPr>
              <p:cNvPr id="157" name="Freeform 157"/>
              <p:cNvSpPr/>
              <p:nvPr/>
            </p:nvSpPr>
            <p:spPr>
              <a:xfrm>
                <a:off x="10299700" y="4929981"/>
                <a:ext cx="165099" cy="9525"/>
              </a:xfrm>
              <a:custGeom>
                <a:avLst/>
                <a:gdLst/>
                <a:ahLst/>
                <a:cxnLst/>
                <a:rect l="l" t="t" r="r" b="b"/>
                <a:pathLst>
                  <a:path w="165099" h="9525">
                    <a:moveTo>
                      <a:pt x="0" y="0"/>
                    </a:moveTo>
                    <a:lnTo>
                      <a:pt x="165099" y="0"/>
                    </a:lnTo>
                  </a:path>
                </a:pathLst>
              </a:custGeom>
              <a:noFill/>
              <a:ln w="20637">
                <a:solidFill>
                  <a:srgbClr val="B03A1F"/>
                </a:solidFill>
              </a:ln>
            </p:spPr>
          </p:sp>
          <p:sp>
            <p:nvSpPr>
              <p:cNvPr id="158" name="Freeform 158"/>
              <p:cNvSpPr/>
              <p:nvPr/>
            </p:nvSpPr>
            <p:spPr>
              <a:xfrm>
                <a:off x="10299700" y="4795837"/>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20637">
                <a:solidFill>
                  <a:srgbClr val="B03A1F"/>
                </a:solidFill>
              </a:ln>
            </p:spPr>
          </p:sp>
        </p:grpSp>
        <p:sp>
          <p:nvSpPr>
            <p:cNvPr id="160" name="TextBox 160"/>
            <p:cNvSpPr txBox="1"/>
            <p:nvPr/>
          </p:nvSpPr>
          <p:spPr>
            <a:xfrm>
              <a:off x="10758106" y="4700826"/>
              <a:ext cx="754022" cy="198025"/>
            </a:xfrm>
            <a:prstGeom prst="rect">
              <a:avLst/>
            </a:prstGeom>
            <a:noFill/>
            <a:ln>
              <a:noFill/>
            </a:ln>
          </p:spPr>
          <p:txBody>
            <a:bodyPr wrap="none" lIns="0" tIns="0" rIns="0" bIns="0" anchor="t" anchorCtr="0">
              <a:spAutoFit/>
            </a:bodyPr>
            <a:lstStyle/>
            <a:p>
              <a:pPr algn="l"/>
              <a:r>
                <a:rPr lang="zh-CN" sz="1010" b="1" dirty="0">
                  <a:solidFill>
                    <a:srgbClr val="B03A1F"/>
                  </a:solidFill>
                  <a:latin typeface="+mn-lt"/>
                  <a:ea typeface="+mn-ea"/>
                  <a:cs typeface="+mn-cs"/>
                </a:rPr>
                <a:t>4. 贷后监控</a:t>
              </a:r>
            </a:p>
          </p:txBody>
        </p:sp>
        <p:sp>
          <p:nvSpPr>
            <p:cNvPr id="161" name="TextBox 161"/>
            <p:cNvSpPr txBox="1"/>
            <p:nvPr/>
          </p:nvSpPr>
          <p:spPr>
            <a:xfrm>
              <a:off x="10758488" y="4919662"/>
              <a:ext cx="61531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资金用途监测</a:t>
              </a:r>
            </a:p>
          </p:txBody>
        </p:sp>
        <p:sp>
          <p:nvSpPr>
            <p:cNvPr id="162" name="TextBox 162"/>
            <p:cNvSpPr txBox="1"/>
            <p:nvPr/>
          </p:nvSpPr>
          <p:spPr>
            <a:xfrm>
              <a:off x="10758488" y="5072062"/>
              <a:ext cx="71628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风险预警与管理</a:t>
              </a:r>
            </a:p>
          </p:txBody>
        </p:sp>
        <p:sp>
          <p:nvSpPr>
            <p:cNvPr id="163" name="Ellipse 163"/>
            <p:cNvSpPr/>
            <p:nvPr/>
          </p:nvSpPr>
          <p:spPr>
            <a:xfrm>
              <a:off x="1009650" y="5581650"/>
              <a:ext cx="76200" cy="76200"/>
            </a:xfrm>
            <a:prstGeom prst="ellipse">
              <a:avLst/>
            </a:prstGeom>
            <a:solidFill>
              <a:srgbClr val="D8D4D0"/>
            </a:solidFill>
            <a:ln>
              <a:noFill/>
            </a:ln>
          </p:spPr>
        </p:sp>
        <p:sp>
          <p:nvSpPr>
            <p:cNvPr id="164" name="Ellipse 164"/>
            <p:cNvSpPr/>
            <p:nvPr/>
          </p:nvSpPr>
          <p:spPr>
            <a:xfrm>
              <a:off x="4057650" y="5581650"/>
              <a:ext cx="76200" cy="76200"/>
            </a:xfrm>
            <a:prstGeom prst="ellipse">
              <a:avLst/>
            </a:prstGeom>
            <a:solidFill>
              <a:srgbClr val="D8D4D0"/>
            </a:solidFill>
            <a:ln>
              <a:noFill/>
            </a:ln>
          </p:spPr>
        </p:sp>
        <p:sp>
          <p:nvSpPr>
            <p:cNvPr id="165" name="Ellipse 165"/>
            <p:cNvSpPr/>
            <p:nvPr/>
          </p:nvSpPr>
          <p:spPr>
            <a:xfrm>
              <a:off x="7200900" y="5581650"/>
              <a:ext cx="76200" cy="76200"/>
            </a:xfrm>
            <a:prstGeom prst="ellipse">
              <a:avLst/>
            </a:prstGeom>
            <a:solidFill>
              <a:srgbClr val="D8D4D0"/>
            </a:solidFill>
            <a:ln>
              <a:noFill/>
            </a:ln>
          </p:spPr>
        </p:sp>
        <p:sp>
          <p:nvSpPr>
            <p:cNvPr id="166" name="Ellipse 166"/>
            <p:cNvSpPr/>
            <p:nvPr/>
          </p:nvSpPr>
          <p:spPr>
            <a:xfrm>
              <a:off x="10344150" y="5581650"/>
              <a:ext cx="76200" cy="76200"/>
            </a:xfrm>
            <a:prstGeom prst="ellipse">
              <a:avLst/>
            </a:prstGeom>
            <a:solidFill>
              <a:srgbClr val="D8D4D0"/>
            </a:solidFill>
            <a:ln>
              <a:noFill/>
            </a:ln>
          </p:spPr>
        </p:sp>
      </p:gr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10</a:t>
              </a:r>
            </a:p>
          </p:txBody>
        </p:sp>
        <p:sp>
          <p:nvSpPr>
            <p:cNvPr id="4" name="TextBox 4"/>
            <p:cNvSpPr txBox="1"/>
            <p:nvPr/>
          </p:nvSpPr>
          <p:spPr>
            <a:xfrm>
              <a:off x="1037844" y="151448"/>
              <a:ext cx="667664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协同联动：释放公司、零售、同业与场景生态</a:t>
              </a:r>
              <a:r>
                <a:rPr lang="zh-CN" sz="1950" b="1" dirty="0">
                  <a:solidFill>
                    <a:srgbClr val="B03A1F"/>
                  </a:solidFill>
                  <a:latin typeface="SimSun"/>
                  <a:ea typeface="SimSun"/>
                  <a:cs typeface="SimSun"/>
                </a:rPr>
                <a:t>乘数效应</a:t>
              </a:r>
            </a:p>
          </p:txBody>
        </p:sp>
        <p:sp>
          <p:nvSpPr>
            <p:cNvPr id="5" name="Line 5"/>
            <p:cNvSpPr/>
            <p:nvPr/>
          </p:nvSpPr>
          <p:spPr>
            <a:xfrm>
              <a:off x="1047750" y="533400"/>
              <a:ext cx="10668000" cy="9525"/>
            </a:xfrm>
            <a:custGeom>
              <a:avLst/>
              <a:gdLst/>
              <a:ahLst/>
              <a:cxnLst/>
              <a:rect l="l" t="t" r="r" b="b"/>
              <a:pathLst>
                <a:path w="10668000" h="9525">
                  <a:moveTo>
                    <a:pt x="0" y="0"/>
                  </a:moveTo>
                  <a:lnTo>
                    <a:pt x="10668000" y="0"/>
                  </a:lnTo>
                </a:path>
              </a:pathLst>
            </a:custGeom>
            <a:noFill/>
            <a:ln w="14288">
              <a:solidFill>
                <a:srgbClr val="B03A1F"/>
              </a:solidFill>
            </a:ln>
          </p:spPr>
        </p:sp>
      </p:grpSp>
      <p:grpSp>
        <p:nvGrpSpPr>
          <p:cNvPr id="56" name="hub-spoke"/>
          <p:cNvGrpSpPr/>
          <p:nvPr/>
        </p:nvGrpSpPr>
        <p:grpSpPr>
          <a:xfrm>
            <a:off x="421386" y="843201"/>
            <a:ext cx="5252567" cy="3138249"/>
            <a:chOff x="421386" y="843201"/>
            <a:chExt cx="5252567" cy="3138249"/>
          </a:xfrm>
        </p:grpSpPr>
        <p:sp>
          <p:nvSpPr>
            <p:cNvPr id="7" name="Line 7"/>
            <p:cNvSpPr/>
            <p:nvPr/>
          </p:nvSpPr>
          <p:spPr>
            <a:xfrm>
              <a:off x="1333500" y="1762125"/>
              <a:ext cx="1381125" cy="666750"/>
            </a:xfrm>
            <a:custGeom>
              <a:avLst/>
              <a:gdLst/>
              <a:ahLst/>
              <a:cxnLst/>
              <a:rect l="l" t="t" r="r" b="b"/>
              <a:pathLst>
                <a:path w="1381125" h="666750">
                  <a:moveTo>
                    <a:pt x="1381125" y="666750"/>
                  </a:moveTo>
                  <a:lnTo>
                    <a:pt x="0" y="0"/>
                  </a:lnTo>
                </a:path>
              </a:pathLst>
            </a:custGeom>
            <a:noFill/>
            <a:ln w="14288">
              <a:solidFill>
                <a:srgbClr val="D9ABA0"/>
              </a:solidFill>
            </a:ln>
          </p:spPr>
        </p:sp>
        <p:sp>
          <p:nvSpPr>
            <p:cNvPr id="8" name="Line 8"/>
            <p:cNvSpPr/>
            <p:nvPr/>
          </p:nvSpPr>
          <p:spPr>
            <a:xfrm>
              <a:off x="3571875" y="1762125"/>
              <a:ext cx="1381125" cy="666750"/>
            </a:xfrm>
            <a:custGeom>
              <a:avLst/>
              <a:gdLst/>
              <a:ahLst/>
              <a:cxnLst/>
              <a:rect l="l" t="t" r="r" b="b"/>
              <a:pathLst>
                <a:path w="1381125" h="666750">
                  <a:moveTo>
                    <a:pt x="0" y="666750"/>
                  </a:moveTo>
                  <a:lnTo>
                    <a:pt x="1381125" y="0"/>
                  </a:lnTo>
                </a:path>
              </a:pathLst>
            </a:custGeom>
            <a:noFill/>
            <a:ln w="14288">
              <a:solidFill>
                <a:srgbClr val="D9ABA0"/>
              </a:solidFill>
            </a:ln>
          </p:spPr>
        </p:sp>
        <p:sp>
          <p:nvSpPr>
            <p:cNvPr id="9" name="Line 9"/>
            <p:cNvSpPr/>
            <p:nvPr/>
          </p:nvSpPr>
          <p:spPr>
            <a:xfrm>
              <a:off x="1333500" y="2905125"/>
              <a:ext cx="1381125" cy="666750"/>
            </a:xfrm>
            <a:custGeom>
              <a:avLst/>
              <a:gdLst/>
              <a:ahLst/>
              <a:cxnLst/>
              <a:rect l="l" t="t" r="r" b="b"/>
              <a:pathLst>
                <a:path w="1381125" h="666750">
                  <a:moveTo>
                    <a:pt x="1381125" y="0"/>
                  </a:moveTo>
                  <a:lnTo>
                    <a:pt x="0" y="666750"/>
                  </a:lnTo>
                </a:path>
              </a:pathLst>
            </a:custGeom>
            <a:noFill/>
            <a:ln w="14288">
              <a:solidFill>
                <a:srgbClr val="D9ABA0"/>
              </a:solidFill>
            </a:ln>
          </p:spPr>
        </p:sp>
        <p:sp>
          <p:nvSpPr>
            <p:cNvPr id="10" name="Line 10"/>
            <p:cNvSpPr/>
            <p:nvPr/>
          </p:nvSpPr>
          <p:spPr>
            <a:xfrm>
              <a:off x="3571875" y="2905125"/>
              <a:ext cx="1381125" cy="666750"/>
            </a:xfrm>
            <a:custGeom>
              <a:avLst/>
              <a:gdLst/>
              <a:ahLst/>
              <a:cxnLst/>
              <a:rect l="l" t="t" r="r" b="b"/>
              <a:pathLst>
                <a:path w="1381125" h="666750">
                  <a:moveTo>
                    <a:pt x="0" y="0"/>
                  </a:moveTo>
                  <a:lnTo>
                    <a:pt x="1381125" y="666750"/>
                  </a:lnTo>
                </a:path>
              </a:pathLst>
            </a:custGeom>
            <a:noFill/>
            <a:ln w="14288">
              <a:solidFill>
                <a:srgbClr val="D9ABA0"/>
              </a:solidFill>
            </a:ln>
          </p:spPr>
        </p:sp>
        <p:sp>
          <p:nvSpPr>
            <p:cNvPr id="11" name="Ellipse 11"/>
            <p:cNvSpPr/>
            <p:nvPr/>
          </p:nvSpPr>
          <p:spPr>
            <a:xfrm>
              <a:off x="2609850" y="2133600"/>
              <a:ext cx="1066800" cy="1066800"/>
            </a:xfrm>
            <a:prstGeom prst="ellipse">
              <a:avLst/>
            </a:prstGeom>
            <a:solidFill>
              <a:srgbClr val="B03A1F"/>
            </a:solidFill>
            <a:ln>
              <a:noFill/>
            </a:ln>
          </p:spPr>
        </p:sp>
        <p:sp>
          <p:nvSpPr>
            <p:cNvPr id="12" name="Ellipse 12"/>
            <p:cNvSpPr/>
            <p:nvPr/>
          </p:nvSpPr>
          <p:spPr>
            <a:xfrm>
              <a:off x="2543175" y="2066925"/>
              <a:ext cx="1200150" cy="1200150"/>
            </a:xfrm>
            <a:prstGeom prst="ellipse">
              <a:avLst/>
            </a:prstGeom>
            <a:noFill/>
            <a:ln w="19050">
              <a:solidFill>
                <a:srgbClr val="E8C0B7"/>
              </a:solidFill>
            </a:ln>
          </p:spPr>
        </p:sp>
        <p:sp>
          <p:nvSpPr>
            <p:cNvPr id="13" name="TextBox 13"/>
            <p:cNvSpPr txBox="1"/>
            <p:nvPr/>
          </p:nvSpPr>
          <p:spPr>
            <a:xfrm>
              <a:off x="2986761" y="24693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客户</a:t>
              </a:r>
            </a:p>
          </p:txBody>
        </p:sp>
        <p:sp>
          <p:nvSpPr>
            <p:cNvPr id="14" name="TextBox 14"/>
            <p:cNvSpPr txBox="1"/>
            <p:nvPr/>
          </p:nvSpPr>
          <p:spPr>
            <a:xfrm>
              <a:off x="2835986" y="267890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综合价值</a:t>
              </a:r>
            </a:p>
          </p:txBody>
        </p:sp>
        <p:grpSp>
          <p:nvGrpSpPr>
            <p:cNvPr id="28" name="node-corp"/>
            <p:cNvGrpSpPr/>
            <p:nvPr/>
          </p:nvGrpSpPr>
          <p:grpSpPr>
            <a:xfrm>
              <a:off x="469176" y="843201"/>
              <a:ext cx="1347648" cy="1185624"/>
              <a:chOff x="469176" y="843201"/>
              <a:chExt cx="1347648" cy="1185624"/>
            </a:xfrm>
          </p:grpSpPr>
          <p:sp>
            <p:nvSpPr>
              <p:cNvPr id="15" name="TextBox 15"/>
              <p:cNvSpPr txBox="1"/>
              <p:nvPr/>
            </p:nvSpPr>
            <p:spPr>
              <a:xfrm>
                <a:off x="729958" y="843201"/>
                <a:ext cx="826084" cy="198025"/>
              </a:xfrm>
              <a:prstGeom prst="rect">
                <a:avLst/>
              </a:prstGeom>
              <a:noFill/>
              <a:ln>
                <a:noFill/>
              </a:ln>
            </p:spPr>
            <p:txBody>
              <a:bodyPr wrap="none" lIns="0" tIns="0" rIns="0" bIns="0" anchor="t" anchorCtr="0">
                <a:spAutoFit/>
              </a:bodyPr>
              <a:lstStyle/>
              <a:p>
                <a:pPr algn="ctr"/>
                <a:r>
                  <a:rPr lang="zh-CN" sz="1010" b="1" dirty="0">
                    <a:solidFill>
                      <a:srgbClr val="B03A1F"/>
                    </a:solidFill>
                    <a:latin typeface="+mn-lt"/>
                    <a:ea typeface="+mn-ea"/>
                    <a:cs typeface="+mn-cs"/>
                  </a:rPr>
                  <a:t>公司零售联动</a:t>
                </a:r>
              </a:p>
            </p:txBody>
          </p:sp>
          <p:sp>
            <p:nvSpPr>
              <p:cNvPr id="16" name="TextBox 16"/>
              <p:cNvSpPr txBox="1"/>
              <p:nvPr/>
            </p:nvSpPr>
            <p:spPr>
              <a:xfrm>
                <a:off x="469176" y="1027986"/>
                <a:ext cx="1347648" cy="140494"/>
              </a:xfrm>
              <a:prstGeom prst="rect">
                <a:avLst/>
              </a:prstGeom>
              <a:noFill/>
              <a:ln>
                <a:noFill/>
              </a:ln>
            </p:spPr>
            <p:txBody>
              <a:bodyPr wrap="none" lIns="0" tIns="0" rIns="0" bIns="0" anchor="t" anchorCtr="0">
                <a:spAutoFit/>
              </a:bodyPr>
              <a:lstStyle/>
              <a:p>
                <a:pPr algn="ctr"/>
                <a:r>
                  <a:rPr lang="zh-CN" sz="710" dirty="0">
                    <a:solidFill>
                      <a:srgbClr val="6A6A6A"/>
                    </a:solidFill>
                    <a:latin typeface="+mn-lt"/>
                    <a:ea typeface="+mn-ea"/>
                    <a:cs typeface="+mn-cs"/>
                  </a:rPr>
                  <a:t>公司客户资源向零售客群延伸，</a:t>
                </a:r>
              </a:p>
            </p:txBody>
          </p:sp>
          <p:sp>
            <p:nvSpPr>
              <p:cNvPr id="17" name="TextBox 17"/>
              <p:cNvSpPr txBox="1"/>
              <p:nvPr/>
            </p:nvSpPr>
            <p:spPr>
              <a:xfrm>
                <a:off x="612546" y="1161336"/>
                <a:ext cx="1060907" cy="140494"/>
              </a:xfrm>
              <a:prstGeom prst="rect">
                <a:avLst/>
              </a:prstGeom>
              <a:noFill/>
              <a:ln>
                <a:noFill/>
              </a:ln>
            </p:spPr>
            <p:txBody>
              <a:bodyPr wrap="none" lIns="0" tIns="0" rIns="0" bIns="0" anchor="t" anchorCtr="0">
                <a:spAutoFit/>
              </a:bodyPr>
              <a:lstStyle/>
              <a:p>
                <a:pPr algn="ctr"/>
                <a:r>
                  <a:rPr lang="zh-CN" sz="710" dirty="0">
                    <a:solidFill>
                      <a:srgbClr val="6A6A6A"/>
                    </a:solidFill>
                    <a:latin typeface="+mn-lt"/>
                    <a:ea typeface="+mn-ea"/>
                    <a:cs typeface="+mn-cs"/>
                  </a:rPr>
                  <a:t>员工全生命周期价值经营</a:t>
                </a:r>
              </a:p>
            </p:txBody>
          </p:sp>
          <p:sp>
            <p:nvSpPr>
              <p:cNvPr id="18" name="Ellipse 18"/>
              <p:cNvSpPr/>
              <p:nvPr/>
            </p:nvSpPr>
            <p:spPr>
              <a:xfrm>
                <a:off x="781050" y="1304925"/>
                <a:ext cx="723900" cy="723900"/>
              </a:xfrm>
              <a:prstGeom prst="ellipse">
                <a:avLst/>
              </a:prstGeom>
              <a:solidFill>
                <a:srgbClr val="FFFFFF"/>
              </a:solidFill>
              <a:ln w="23812">
                <a:solidFill>
                  <a:srgbClr val="B03A1F"/>
                </a:solidFill>
              </a:ln>
            </p:spPr>
          </p:sp>
          <p:grpSp>
            <p:nvGrpSpPr>
              <p:cNvPr id="27" name="Group 27"/>
              <p:cNvGrpSpPr/>
              <p:nvPr/>
            </p:nvGrpSpPr>
            <p:grpSpPr>
              <a:xfrm>
                <a:off x="1028700" y="1552575"/>
                <a:ext cx="228599" cy="238124"/>
                <a:chOff x="1028700" y="1552575"/>
                <a:chExt cx="228599" cy="238124"/>
              </a:xfrm>
            </p:grpSpPr>
            <p:sp>
              <p:nvSpPr>
                <p:cNvPr id="19" name="Freeform 19"/>
                <p:cNvSpPr/>
                <p:nvPr/>
              </p:nvSpPr>
              <p:spPr>
                <a:xfrm>
                  <a:off x="1028700" y="1781174"/>
                  <a:ext cx="228599" cy="9525"/>
                </a:xfrm>
                <a:custGeom>
                  <a:avLst/>
                  <a:gdLst/>
                  <a:ahLst/>
                  <a:cxnLst/>
                  <a:rect l="l" t="t" r="r" b="b"/>
                  <a:pathLst>
                    <a:path w="228599" h="9525">
                      <a:moveTo>
                        <a:pt x="0" y="0"/>
                      </a:moveTo>
                      <a:lnTo>
                        <a:pt x="228599" y="0"/>
                      </a:lnTo>
                    </a:path>
                  </a:pathLst>
                </a:custGeom>
                <a:noFill/>
                <a:ln w="25400">
                  <a:solidFill>
                    <a:srgbClr val="B03A1F"/>
                  </a:solidFill>
                </a:ln>
              </p:spPr>
            </p:sp>
            <p:sp>
              <p:nvSpPr>
                <p:cNvPr id="20" name="Freeform 20"/>
                <p:cNvSpPr/>
                <p:nvPr/>
              </p:nvSpPr>
              <p:spPr>
                <a:xfrm>
                  <a:off x="1028700" y="1641475"/>
                  <a:ext cx="228599" cy="9525"/>
                </a:xfrm>
                <a:custGeom>
                  <a:avLst/>
                  <a:gdLst/>
                  <a:ahLst/>
                  <a:cxnLst/>
                  <a:rect l="l" t="t" r="r" b="b"/>
                  <a:pathLst>
                    <a:path w="228599" h="9525">
                      <a:moveTo>
                        <a:pt x="0" y="0"/>
                      </a:moveTo>
                      <a:lnTo>
                        <a:pt x="228599" y="0"/>
                      </a:lnTo>
                    </a:path>
                  </a:pathLst>
                </a:custGeom>
                <a:noFill/>
                <a:ln w="25400">
                  <a:solidFill>
                    <a:srgbClr val="B03A1F"/>
                  </a:solidFill>
                </a:ln>
              </p:spPr>
            </p:sp>
            <p:sp>
              <p:nvSpPr>
                <p:cNvPr id="21" name="Freeform 21"/>
                <p:cNvSpPr/>
                <p:nvPr/>
              </p:nvSpPr>
              <p:spPr>
                <a:xfrm>
                  <a:off x="1054100" y="1552575"/>
                  <a:ext cx="177800" cy="38100"/>
                </a:xfrm>
                <a:custGeom>
                  <a:avLst/>
                  <a:gdLst/>
                  <a:ahLst/>
                  <a:cxnLst/>
                  <a:rect l="l" t="t" r="r" b="b"/>
                  <a:pathLst>
                    <a:path w="177800" h="38100">
                      <a:moveTo>
                        <a:pt x="0" y="38100"/>
                      </a:moveTo>
                      <a:lnTo>
                        <a:pt x="88900" y="0"/>
                      </a:lnTo>
                      <a:lnTo>
                        <a:pt x="177800" y="38100"/>
                      </a:lnTo>
                    </a:path>
                  </a:pathLst>
                </a:custGeom>
                <a:noFill/>
                <a:ln w="25400">
                  <a:solidFill>
                    <a:srgbClr val="B03A1F"/>
                  </a:solidFill>
                </a:ln>
              </p:spPr>
            </p:sp>
            <p:sp>
              <p:nvSpPr>
                <p:cNvPr id="22" name="Freeform 22"/>
                <p:cNvSpPr/>
                <p:nvPr/>
              </p:nvSpPr>
              <p:spPr>
                <a:xfrm>
                  <a:off x="1041400" y="1641475"/>
                  <a:ext cx="9525" cy="139700"/>
                </a:xfrm>
                <a:custGeom>
                  <a:avLst/>
                  <a:gdLst/>
                  <a:ahLst/>
                  <a:cxnLst/>
                  <a:rect l="l" t="t" r="r" b="b"/>
                  <a:pathLst>
                    <a:path w="9525" h="139700">
                      <a:moveTo>
                        <a:pt x="0" y="0"/>
                      </a:moveTo>
                      <a:lnTo>
                        <a:pt x="0" y="139700"/>
                      </a:lnTo>
                    </a:path>
                  </a:pathLst>
                </a:custGeom>
                <a:noFill/>
                <a:ln w="25400">
                  <a:solidFill>
                    <a:srgbClr val="B03A1F"/>
                  </a:solidFill>
                </a:ln>
              </p:spPr>
            </p:sp>
            <p:sp>
              <p:nvSpPr>
                <p:cNvPr id="23" name="Freeform 23"/>
                <p:cNvSpPr/>
                <p:nvPr/>
              </p:nvSpPr>
              <p:spPr>
                <a:xfrm>
                  <a:off x="1244599" y="1641475"/>
                  <a:ext cx="9525" cy="139700"/>
                </a:xfrm>
                <a:custGeom>
                  <a:avLst/>
                  <a:gdLst/>
                  <a:ahLst/>
                  <a:cxnLst/>
                  <a:rect l="l" t="t" r="r" b="b"/>
                  <a:pathLst>
                    <a:path w="9525" h="139700">
                      <a:moveTo>
                        <a:pt x="0" y="0"/>
                      </a:moveTo>
                      <a:lnTo>
                        <a:pt x="0" y="139700"/>
                      </a:lnTo>
                    </a:path>
                  </a:pathLst>
                </a:custGeom>
                <a:noFill/>
                <a:ln w="25400">
                  <a:solidFill>
                    <a:srgbClr val="B03A1F"/>
                  </a:solidFill>
                </a:ln>
              </p:spPr>
            </p:sp>
            <p:sp>
              <p:nvSpPr>
                <p:cNvPr id="24" name="Freeform 24"/>
                <p:cNvSpPr/>
                <p:nvPr/>
              </p:nvSpPr>
              <p:spPr>
                <a:xfrm>
                  <a:off x="1092200" y="1692275"/>
                  <a:ext cx="9525" cy="38100"/>
                </a:xfrm>
                <a:custGeom>
                  <a:avLst/>
                  <a:gdLst/>
                  <a:ahLst/>
                  <a:cxnLst/>
                  <a:rect l="l" t="t" r="r" b="b"/>
                  <a:pathLst>
                    <a:path w="9525" h="38100">
                      <a:moveTo>
                        <a:pt x="0" y="0"/>
                      </a:moveTo>
                      <a:lnTo>
                        <a:pt x="0" y="38100"/>
                      </a:lnTo>
                    </a:path>
                  </a:pathLst>
                </a:custGeom>
                <a:noFill/>
                <a:ln w="25400">
                  <a:solidFill>
                    <a:srgbClr val="B03A1F"/>
                  </a:solidFill>
                </a:ln>
              </p:spPr>
            </p:sp>
            <p:sp>
              <p:nvSpPr>
                <p:cNvPr id="25" name="Freeform 25"/>
                <p:cNvSpPr/>
                <p:nvPr/>
              </p:nvSpPr>
              <p:spPr>
                <a:xfrm>
                  <a:off x="1143000" y="1692275"/>
                  <a:ext cx="9525" cy="38100"/>
                </a:xfrm>
                <a:custGeom>
                  <a:avLst/>
                  <a:gdLst/>
                  <a:ahLst/>
                  <a:cxnLst/>
                  <a:rect l="l" t="t" r="r" b="b"/>
                  <a:pathLst>
                    <a:path w="9525" h="38100">
                      <a:moveTo>
                        <a:pt x="0" y="0"/>
                      </a:moveTo>
                      <a:lnTo>
                        <a:pt x="0" y="38100"/>
                      </a:lnTo>
                    </a:path>
                  </a:pathLst>
                </a:custGeom>
                <a:noFill/>
                <a:ln w="25400">
                  <a:solidFill>
                    <a:srgbClr val="B03A1F"/>
                  </a:solidFill>
                </a:ln>
              </p:spPr>
            </p:sp>
            <p:sp>
              <p:nvSpPr>
                <p:cNvPr id="26" name="Freeform 26"/>
                <p:cNvSpPr/>
                <p:nvPr/>
              </p:nvSpPr>
              <p:spPr>
                <a:xfrm>
                  <a:off x="1193799" y="1692275"/>
                  <a:ext cx="9525" cy="38100"/>
                </a:xfrm>
                <a:custGeom>
                  <a:avLst/>
                  <a:gdLst/>
                  <a:ahLst/>
                  <a:cxnLst/>
                  <a:rect l="l" t="t" r="r" b="b"/>
                  <a:pathLst>
                    <a:path w="9525" h="38100">
                      <a:moveTo>
                        <a:pt x="0" y="0"/>
                      </a:moveTo>
                      <a:lnTo>
                        <a:pt x="0" y="38100"/>
                      </a:lnTo>
                    </a:path>
                  </a:pathLst>
                </a:custGeom>
                <a:noFill/>
                <a:ln w="25400">
                  <a:solidFill>
                    <a:srgbClr val="B03A1F"/>
                  </a:solidFill>
                </a:ln>
              </p:spPr>
            </p:sp>
          </p:grpSp>
        </p:grpSp>
        <p:grpSp>
          <p:nvGrpSpPr>
            <p:cNvPr id="37" name="node-online"/>
            <p:cNvGrpSpPr/>
            <p:nvPr/>
          </p:nvGrpSpPr>
          <p:grpSpPr>
            <a:xfrm>
              <a:off x="4613046" y="843201"/>
              <a:ext cx="1060907" cy="1185624"/>
              <a:chOff x="4613046" y="843201"/>
              <a:chExt cx="1060907" cy="1185624"/>
            </a:xfrm>
          </p:grpSpPr>
          <p:sp>
            <p:nvSpPr>
              <p:cNvPr id="29" name="TextBox 29"/>
              <p:cNvSpPr txBox="1"/>
              <p:nvPr/>
            </p:nvSpPr>
            <p:spPr>
              <a:xfrm>
                <a:off x="4730458" y="843201"/>
                <a:ext cx="826084" cy="198025"/>
              </a:xfrm>
              <a:prstGeom prst="rect">
                <a:avLst/>
              </a:prstGeom>
              <a:noFill/>
              <a:ln>
                <a:noFill/>
              </a:ln>
            </p:spPr>
            <p:txBody>
              <a:bodyPr wrap="none" lIns="0" tIns="0" rIns="0" bIns="0" anchor="t" anchorCtr="0">
                <a:spAutoFit/>
              </a:bodyPr>
              <a:lstStyle/>
              <a:p>
                <a:pPr algn="ctr"/>
                <a:r>
                  <a:rPr lang="zh-CN" sz="1010" b="1" dirty="0">
                    <a:solidFill>
                      <a:srgbClr val="B03A1F"/>
                    </a:solidFill>
                    <a:latin typeface="+mn-lt"/>
                    <a:ea typeface="+mn-ea"/>
                    <a:cs typeface="+mn-cs"/>
                  </a:rPr>
                  <a:t>网点线上联动</a:t>
                </a:r>
              </a:p>
            </p:txBody>
          </p:sp>
          <p:sp>
            <p:nvSpPr>
              <p:cNvPr id="30" name="TextBox 30"/>
              <p:cNvSpPr txBox="1"/>
              <p:nvPr/>
            </p:nvSpPr>
            <p:spPr>
              <a:xfrm>
                <a:off x="4660836" y="1027986"/>
                <a:ext cx="965327" cy="140494"/>
              </a:xfrm>
              <a:prstGeom prst="rect">
                <a:avLst/>
              </a:prstGeom>
              <a:noFill/>
              <a:ln>
                <a:noFill/>
              </a:ln>
            </p:spPr>
            <p:txBody>
              <a:bodyPr wrap="none" lIns="0" tIns="0" rIns="0" bIns="0" anchor="t" anchorCtr="0">
                <a:spAutoFit/>
              </a:bodyPr>
              <a:lstStyle/>
              <a:p>
                <a:pPr algn="ctr"/>
                <a:r>
                  <a:rPr lang="zh-CN" sz="710" dirty="0">
                    <a:solidFill>
                      <a:srgbClr val="6A6A6A"/>
                    </a:solidFill>
                    <a:latin typeface="+mn-lt"/>
                    <a:ea typeface="+mn-ea"/>
                    <a:cs typeface="+mn-cs"/>
                  </a:rPr>
                  <a:t>线上线下一体化经营，</a:t>
                </a:r>
              </a:p>
            </p:txBody>
          </p:sp>
          <p:sp>
            <p:nvSpPr>
              <p:cNvPr id="31" name="TextBox 31"/>
              <p:cNvSpPr txBox="1"/>
              <p:nvPr/>
            </p:nvSpPr>
            <p:spPr>
              <a:xfrm>
                <a:off x="4613046" y="1161336"/>
                <a:ext cx="1060907" cy="140494"/>
              </a:xfrm>
              <a:prstGeom prst="rect">
                <a:avLst/>
              </a:prstGeom>
              <a:noFill/>
              <a:ln>
                <a:noFill/>
              </a:ln>
            </p:spPr>
            <p:txBody>
              <a:bodyPr wrap="none" lIns="0" tIns="0" rIns="0" bIns="0" anchor="t" anchorCtr="0">
                <a:spAutoFit/>
              </a:bodyPr>
              <a:lstStyle/>
              <a:p>
                <a:pPr algn="ctr"/>
                <a:r>
                  <a:rPr lang="zh-CN" sz="710" dirty="0">
                    <a:solidFill>
                      <a:srgbClr val="6A6A6A"/>
                    </a:solidFill>
                    <a:latin typeface="+mn-lt"/>
                    <a:ea typeface="+mn-ea"/>
                    <a:cs typeface="+mn-cs"/>
                  </a:rPr>
                  <a:t>提升触达效率与服务体验</a:t>
                </a:r>
              </a:p>
            </p:txBody>
          </p:sp>
          <p:sp>
            <p:nvSpPr>
              <p:cNvPr id="32" name="Ellipse 32"/>
              <p:cNvSpPr/>
              <p:nvPr/>
            </p:nvSpPr>
            <p:spPr>
              <a:xfrm>
                <a:off x="4781550" y="1304925"/>
                <a:ext cx="723900" cy="723900"/>
              </a:xfrm>
              <a:prstGeom prst="ellipse">
                <a:avLst/>
              </a:prstGeom>
              <a:solidFill>
                <a:srgbClr val="FFFFFF"/>
              </a:solidFill>
              <a:ln w="23812">
                <a:solidFill>
                  <a:srgbClr val="B03A1F"/>
                </a:solidFill>
              </a:ln>
            </p:spPr>
          </p:sp>
          <p:grpSp>
            <p:nvGrpSpPr>
              <p:cNvPr id="36" name="Group 36"/>
              <p:cNvGrpSpPr/>
              <p:nvPr/>
            </p:nvGrpSpPr>
            <p:grpSpPr>
              <a:xfrm>
                <a:off x="5067300" y="1552575"/>
                <a:ext cx="152400" cy="228599"/>
                <a:chOff x="5067300" y="1552575"/>
                <a:chExt cx="152400" cy="228599"/>
              </a:xfrm>
            </p:grpSpPr>
            <p:sp>
              <p:nvSpPr>
                <p:cNvPr id="33" name="Freeform 33"/>
                <p:cNvSpPr/>
                <p:nvPr/>
              </p:nvSpPr>
              <p:spPr>
                <a:xfrm>
                  <a:off x="5067300" y="1552575"/>
                  <a:ext cx="152400" cy="228599"/>
                </a:xfrm>
                <a:custGeom>
                  <a:avLst/>
                  <a:gdLst/>
                  <a:ahLst/>
                  <a:cxnLst/>
                  <a:rect l="l" t="t" r="r" b="b"/>
                  <a:pathLst>
                    <a:path w="152400" h="228599">
                      <a:moveTo>
                        <a:pt x="0" y="25400"/>
                      </a:moveTo>
                      <a:cubicBezTo>
                        <a:pt x="0" y="11372"/>
                        <a:pt x="11372" y="0"/>
                        <a:pt x="25400" y="0"/>
                      </a:cubicBezTo>
                      <a:lnTo>
                        <a:pt x="127000" y="0"/>
                      </a:lnTo>
                      <a:cubicBezTo>
                        <a:pt x="141028" y="0"/>
                        <a:pt x="152400" y="11372"/>
                        <a:pt x="152400" y="25400"/>
                      </a:cubicBezTo>
                      <a:lnTo>
                        <a:pt x="152400" y="203199"/>
                      </a:lnTo>
                      <a:cubicBezTo>
                        <a:pt x="152400" y="217227"/>
                        <a:pt x="141028" y="228599"/>
                        <a:pt x="127000" y="228599"/>
                      </a:cubicBezTo>
                      <a:lnTo>
                        <a:pt x="25400" y="228599"/>
                      </a:lnTo>
                      <a:cubicBezTo>
                        <a:pt x="11372" y="228599"/>
                        <a:pt x="0" y="217227"/>
                        <a:pt x="0" y="203199"/>
                      </a:cubicBezTo>
                      <a:lnTo>
                        <a:pt x="0" y="25400"/>
                      </a:lnTo>
                    </a:path>
                  </a:pathLst>
                </a:custGeom>
                <a:noFill/>
                <a:ln w="25400">
                  <a:solidFill>
                    <a:srgbClr val="B03A1F"/>
                  </a:solidFill>
                </a:ln>
              </p:spPr>
            </p:sp>
            <p:sp>
              <p:nvSpPr>
                <p:cNvPr id="34" name="Freeform 34"/>
                <p:cNvSpPr/>
                <p:nvPr/>
              </p:nvSpPr>
              <p:spPr>
                <a:xfrm>
                  <a:off x="5130800" y="1565275"/>
                  <a:ext cx="25400" cy="9525"/>
                </a:xfrm>
                <a:custGeom>
                  <a:avLst/>
                  <a:gdLst/>
                  <a:ahLst/>
                  <a:cxnLst/>
                  <a:rect l="l" t="t" r="r" b="b"/>
                  <a:pathLst>
                    <a:path w="25400" h="9525">
                      <a:moveTo>
                        <a:pt x="0" y="0"/>
                      </a:moveTo>
                      <a:lnTo>
                        <a:pt x="25400" y="0"/>
                      </a:lnTo>
                    </a:path>
                  </a:pathLst>
                </a:custGeom>
                <a:noFill/>
                <a:ln w="25400">
                  <a:solidFill>
                    <a:srgbClr val="B03A1F"/>
                  </a:solidFill>
                </a:ln>
              </p:spPr>
            </p:sp>
            <p:sp>
              <p:nvSpPr>
                <p:cNvPr id="35" name="Freeform 35"/>
                <p:cNvSpPr/>
                <p:nvPr/>
              </p:nvSpPr>
              <p:spPr>
                <a:xfrm>
                  <a:off x="5143500" y="1730374"/>
                  <a:ext cx="9525" cy="9525"/>
                </a:xfrm>
                <a:custGeom>
                  <a:avLst/>
                  <a:gdLst/>
                  <a:ahLst/>
                  <a:cxnLst/>
                  <a:rect l="l" t="t" r="r" b="b"/>
                  <a:pathLst>
                    <a:path w="9525" h="9525">
                      <a:moveTo>
                        <a:pt x="0" y="0"/>
                      </a:moveTo>
                      <a:lnTo>
                        <a:pt x="0" y="127"/>
                      </a:lnTo>
                    </a:path>
                  </a:pathLst>
                </a:custGeom>
                <a:noFill/>
                <a:ln w="25400">
                  <a:solidFill>
                    <a:srgbClr val="B03A1F"/>
                  </a:solidFill>
                </a:ln>
              </p:spPr>
            </p:sp>
          </p:grpSp>
        </p:grpSp>
        <p:grpSp>
          <p:nvGrpSpPr>
            <p:cNvPr id="46" name="node-product"/>
            <p:cNvGrpSpPr/>
            <p:nvPr/>
          </p:nvGrpSpPr>
          <p:grpSpPr>
            <a:xfrm>
              <a:off x="421386" y="2795826"/>
              <a:ext cx="1443228" cy="1185624"/>
              <a:chOff x="421386" y="2795826"/>
              <a:chExt cx="1443228" cy="1185624"/>
            </a:xfrm>
          </p:grpSpPr>
          <p:sp>
            <p:nvSpPr>
              <p:cNvPr id="38" name="TextBox 38"/>
              <p:cNvSpPr txBox="1"/>
              <p:nvPr/>
            </p:nvSpPr>
            <p:spPr>
              <a:xfrm>
                <a:off x="729958" y="2795826"/>
                <a:ext cx="826084" cy="198025"/>
              </a:xfrm>
              <a:prstGeom prst="rect">
                <a:avLst/>
              </a:prstGeom>
              <a:noFill/>
              <a:ln>
                <a:noFill/>
              </a:ln>
            </p:spPr>
            <p:txBody>
              <a:bodyPr wrap="none" lIns="0" tIns="0" rIns="0" bIns="0" anchor="t" anchorCtr="0">
                <a:spAutoFit/>
              </a:bodyPr>
              <a:lstStyle/>
              <a:p>
                <a:pPr algn="ctr"/>
                <a:r>
                  <a:rPr lang="zh-CN" sz="1010" b="1" dirty="0">
                    <a:solidFill>
                      <a:srgbClr val="B03A1F"/>
                    </a:solidFill>
                    <a:latin typeface="+mn-lt"/>
                    <a:ea typeface="+mn-ea"/>
                    <a:cs typeface="+mn-cs"/>
                  </a:rPr>
                  <a:t>产品渠道联动</a:t>
                </a:r>
              </a:p>
            </p:txBody>
          </p:sp>
          <p:sp>
            <p:nvSpPr>
              <p:cNvPr id="39" name="TextBox 39"/>
              <p:cNvSpPr txBox="1"/>
              <p:nvPr/>
            </p:nvSpPr>
            <p:spPr>
              <a:xfrm>
                <a:off x="421386" y="2980611"/>
                <a:ext cx="1443228" cy="140494"/>
              </a:xfrm>
              <a:prstGeom prst="rect">
                <a:avLst/>
              </a:prstGeom>
              <a:noFill/>
              <a:ln>
                <a:noFill/>
              </a:ln>
            </p:spPr>
            <p:txBody>
              <a:bodyPr wrap="none" lIns="0" tIns="0" rIns="0" bIns="0" anchor="t" anchorCtr="0">
                <a:spAutoFit/>
              </a:bodyPr>
              <a:lstStyle/>
              <a:p>
                <a:pPr algn="ctr"/>
                <a:r>
                  <a:rPr lang="zh-CN" sz="710" dirty="0">
                    <a:solidFill>
                      <a:srgbClr val="6A6A6A"/>
                    </a:solidFill>
                    <a:latin typeface="+mn-lt"/>
                    <a:ea typeface="+mn-ea"/>
                    <a:cs typeface="+mn-cs"/>
                  </a:rPr>
                  <a:t>产品与渠道协同设计、联合运营，</a:t>
                </a:r>
              </a:p>
            </p:txBody>
          </p:sp>
          <p:sp>
            <p:nvSpPr>
              <p:cNvPr id="40" name="TextBox 40"/>
              <p:cNvSpPr txBox="1"/>
              <p:nvPr/>
            </p:nvSpPr>
            <p:spPr>
              <a:xfrm>
                <a:off x="708127" y="3113961"/>
                <a:ext cx="869747" cy="140494"/>
              </a:xfrm>
              <a:prstGeom prst="rect">
                <a:avLst/>
              </a:prstGeom>
              <a:noFill/>
              <a:ln>
                <a:noFill/>
              </a:ln>
            </p:spPr>
            <p:txBody>
              <a:bodyPr wrap="none" lIns="0" tIns="0" rIns="0" bIns="0" anchor="t" anchorCtr="0">
                <a:spAutoFit/>
              </a:bodyPr>
              <a:lstStyle/>
              <a:p>
                <a:pPr algn="ctr"/>
                <a:r>
                  <a:rPr lang="zh-CN" sz="710" dirty="0">
                    <a:solidFill>
                      <a:srgbClr val="6A6A6A"/>
                    </a:solidFill>
                    <a:latin typeface="+mn-lt"/>
                    <a:ea typeface="+mn-ea"/>
                    <a:cs typeface="+mn-cs"/>
                  </a:rPr>
                  <a:t>提升转化与交叉销售</a:t>
                </a:r>
              </a:p>
            </p:txBody>
          </p:sp>
          <p:sp>
            <p:nvSpPr>
              <p:cNvPr id="41" name="Ellipse 41"/>
              <p:cNvSpPr/>
              <p:nvPr/>
            </p:nvSpPr>
            <p:spPr>
              <a:xfrm>
                <a:off x="781050" y="3257550"/>
                <a:ext cx="723900" cy="723900"/>
              </a:xfrm>
              <a:prstGeom prst="ellipse">
                <a:avLst/>
              </a:prstGeom>
              <a:solidFill>
                <a:srgbClr val="FFFFFF"/>
              </a:solidFill>
              <a:ln w="23812">
                <a:solidFill>
                  <a:srgbClr val="B03A1F"/>
                </a:solidFill>
              </a:ln>
            </p:spPr>
          </p:sp>
          <p:grpSp>
            <p:nvGrpSpPr>
              <p:cNvPr id="45" name="Group 45"/>
              <p:cNvGrpSpPr/>
              <p:nvPr/>
            </p:nvGrpSpPr>
            <p:grpSpPr>
              <a:xfrm>
                <a:off x="1041400" y="3517900"/>
                <a:ext cx="203199" cy="203199"/>
                <a:chOff x="1041400" y="3517900"/>
                <a:chExt cx="203199" cy="203199"/>
              </a:xfrm>
            </p:grpSpPr>
            <p:sp>
              <p:nvSpPr>
                <p:cNvPr id="42" name="Freeform 42"/>
                <p:cNvSpPr/>
                <p:nvPr/>
              </p:nvSpPr>
              <p:spPr>
                <a:xfrm>
                  <a:off x="1041400" y="3517900"/>
                  <a:ext cx="203199" cy="101600"/>
                </a:xfrm>
                <a:custGeom>
                  <a:avLst/>
                  <a:gdLst/>
                  <a:ahLst/>
                  <a:cxnLst/>
                  <a:rect l="l" t="t" r="r" b="b"/>
                  <a:pathLst>
                    <a:path w="203199" h="101600">
                      <a:moveTo>
                        <a:pt x="101600" y="0"/>
                      </a:moveTo>
                      <a:lnTo>
                        <a:pt x="0" y="50800"/>
                      </a:lnTo>
                      <a:lnTo>
                        <a:pt x="101600" y="101600"/>
                      </a:lnTo>
                      <a:lnTo>
                        <a:pt x="203199" y="50800"/>
                      </a:lnTo>
                      <a:lnTo>
                        <a:pt x="101600" y="0"/>
                      </a:lnTo>
                    </a:path>
                  </a:pathLst>
                </a:custGeom>
                <a:noFill/>
                <a:ln w="25400">
                  <a:solidFill>
                    <a:srgbClr val="B03A1F"/>
                  </a:solidFill>
                </a:ln>
              </p:spPr>
            </p:sp>
            <p:sp>
              <p:nvSpPr>
                <p:cNvPr id="43" name="Freeform 43"/>
                <p:cNvSpPr/>
                <p:nvPr/>
              </p:nvSpPr>
              <p:spPr>
                <a:xfrm>
                  <a:off x="1041400" y="3619500"/>
                  <a:ext cx="203199" cy="50800"/>
                </a:xfrm>
                <a:custGeom>
                  <a:avLst/>
                  <a:gdLst/>
                  <a:ahLst/>
                  <a:cxnLst/>
                  <a:rect l="l" t="t" r="r" b="b"/>
                  <a:pathLst>
                    <a:path w="203199" h="50800">
                      <a:moveTo>
                        <a:pt x="0" y="0"/>
                      </a:moveTo>
                      <a:lnTo>
                        <a:pt x="101600" y="50800"/>
                      </a:lnTo>
                      <a:lnTo>
                        <a:pt x="203199" y="0"/>
                      </a:lnTo>
                    </a:path>
                  </a:pathLst>
                </a:custGeom>
                <a:noFill/>
                <a:ln w="25400">
                  <a:solidFill>
                    <a:srgbClr val="B03A1F"/>
                  </a:solidFill>
                </a:ln>
              </p:spPr>
            </p:sp>
            <p:sp>
              <p:nvSpPr>
                <p:cNvPr id="44" name="Freeform 44"/>
                <p:cNvSpPr/>
                <p:nvPr/>
              </p:nvSpPr>
              <p:spPr>
                <a:xfrm>
                  <a:off x="1041400" y="3670299"/>
                  <a:ext cx="203199" cy="50800"/>
                </a:xfrm>
                <a:custGeom>
                  <a:avLst/>
                  <a:gdLst/>
                  <a:ahLst/>
                  <a:cxnLst/>
                  <a:rect l="l" t="t" r="r" b="b"/>
                  <a:pathLst>
                    <a:path w="203199" h="50800">
                      <a:moveTo>
                        <a:pt x="0" y="0"/>
                      </a:moveTo>
                      <a:lnTo>
                        <a:pt x="101600" y="50800"/>
                      </a:lnTo>
                      <a:lnTo>
                        <a:pt x="203199" y="0"/>
                      </a:lnTo>
                    </a:path>
                  </a:pathLst>
                </a:custGeom>
                <a:noFill/>
                <a:ln w="25400">
                  <a:solidFill>
                    <a:srgbClr val="B03A1F"/>
                  </a:solidFill>
                </a:ln>
              </p:spPr>
            </p:sp>
          </p:grpSp>
        </p:grpSp>
        <p:grpSp>
          <p:nvGrpSpPr>
            <p:cNvPr id="55" name="node-eco"/>
            <p:cNvGrpSpPr/>
            <p:nvPr/>
          </p:nvGrpSpPr>
          <p:grpSpPr>
            <a:xfrm>
              <a:off x="4613046" y="2795826"/>
              <a:ext cx="1060907" cy="1185624"/>
              <a:chOff x="4613046" y="2795826"/>
              <a:chExt cx="1060907" cy="1185624"/>
            </a:xfrm>
          </p:grpSpPr>
          <p:sp>
            <p:nvSpPr>
              <p:cNvPr id="47" name="TextBox 47"/>
              <p:cNvSpPr txBox="1"/>
              <p:nvPr/>
            </p:nvSpPr>
            <p:spPr>
              <a:xfrm>
                <a:off x="4730458" y="2795826"/>
                <a:ext cx="826084" cy="198025"/>
              </a:xfrm>
              <a:prstGeom prst="rect">
                <a:avLst/>
              </a:prstGeom>
              <a:noFill/>
              <a:ln>
                <a:noFill/>
              </a:ln>
            </p:spPr>
            <p:txBody>
              <a:bodyPr wrap="none" lIns="0" tIns="0" rIns="0" bIns="0" anchor="t" anchorCtr="0">
                <a:spAutoFit/>
              </a:bodyPr>
              <a:lstStyle/>
              <a:p>
                <a:pPr algn="ctr"/>
                <a:r>
                  <a:rPr lang="zh-CN" sz="1010" b="1" dirty="0">
                    <a:solidFill>
                      <a:srgbClr val="B03A1F"/>
                    </a:solidFill>
                    <a:latin typeface="+mn-lt"/>
                    <a:ea typeface="+mn-ea"/>
                    <a:cs typeface="+mn-cs"/>
                  </a:rPr>
                  <a:t>外部生态联动</a:t>
                </a:r>
              </a:p>
            </p:txBody>
          </p:sp>
          <p:sp>
            <p:nvSpPr>
              <p:cNvPr id="48" name="TextBox 48"/>
              <p:cNvSpPr txBox="1"/>
              <p:nvPr/>
            </p:nvSpPr>
            <p:spPr>
              <a:xfrm>
                <a:off x="4660836" y="2980611"/>
                <a:ext cx="965327" cy="140494"/>
              </a:xfrm>
              <a:prstGeom prst="rect">
                <a:avLst/>
              </a:prstGeom>
              <a:noFill/>
              <a:ln>
                <a:noFill/>
              </a:ln>
            </p:spPr>
            <p:txBody>
              <a:bodyPr wrap="none" lIns="0" tIns="0" rIns="0" bIns="0" anchor="t" anchorCtr="0">
                <a:spAutoFit/>
              </a:bodyPr>
              <a:lstStyle/>
              <a:p>
                <a:pPr algn="ctr"/>
                <a:r>
                  <a:rPr lang="zh-CN" sz="710" dirty="0">
                    <a:solidFill>
                      <a:srgbClr val="6A6A6A"/>
                    </a:solidFill>
                    <a:latin typeface="+mn-lt"/>
                    <a:ea typeface="+mn-ea"/>
                    <a:cs typeface="+mn-cs"/>
                  </a:rPr>
                  <a:t>链接同业与场景生态，</a:t>
                </a:r>
              </a:p>
            </p:txBody>
          </p:sp>
          <p:sp>
            <p:nvSpPr>
              <p:cNvPr id="49" name="TextBox 49"/>
              <p:cNvSpPr txBox="1"/>
              <p:nvPr/>
            </p:nvSpPr>
            <p:spPr>
              <a:xfrm>
                <a:off x="4613046" y="3113961"/>
                <a:ext cx="1060907" cy="140494"/>
              </a:xfrm>
              <a:prstGeom prst="rect">
                <a:avLst/>
              </a:prstGeom>
              <a:noFill/>
              <a:ln>
                <a:noFill/>
              </a:ln>
            </p:spPr>
            <p:txBody>
              <a:bodyPr wrap="none" lIns="0" tIns="0" rIns="0" bIns="0" anchor="t" anchorCtr="0">
                <a:spAutoFit/>
              </a:bodyPr>
              <a:lstStyle/>
              <a:p>
                <a:pPr algn="ctr"/>
                <a:r>
                  <a:rPr lang="zh-CN" sz="710" dirty="0">
                    <a:solidFill>
                      <a:srgbClr val="6A6A6A"/>
                    </a:solidFill>
                    <a:latin typeface="+mn-lt"/>
                    <a:ea typeface="+mn-ea"/>
                    <a:cs typeface="+mn-cs"/>
                  </a:rPr>
                  <a:t>共建开放共赢的价值网络</a:t>
                </a:r>
              </a:p>
            </p:txBody>
          </p:sp>
          <p:sp>
            <p:nvSpPr>
              <p:cNvPr id="50" name="Ellipse 50"/>
              <p:cNvSpPr/>
              <p:nvPr/>
            </p:nvSpPr>
            <p:spPr>
              <a:xfrm>
                <a:off x="4781550" y="3257550"/>
                <a:ext cx="723900" cy="723900"/>
              </a:xfrm>
              <a:prstGeom prst="ellipse">
                <a:avLst/>
              </a:prstGeom>
              <a:solidFill>
                <a:srgbClr val="FFFFFF"/>
              </a:solidFill>
              <a:ln w="23812">
                <a:solidFill>
                  <a:srgbClr val="B03A1F"/>
                </a:solidFill>
              </a:ln>
            </p:spPr>
          </p:sp>
          <p:grpSp>
            <p:nvGrpSpPr>
              <p:cNvPr id="54" name="Group 54"/>
              <p:cNvGrpSpPr/>
              <p:nvPr/>
            </p:nvGrpSpPr>
            <p:grpSpPr>
              <a:xfrm>
                <a:off x="5054600" y="3505200"/>
                <a:ext cx="177800" cy="228600"/>
                <a:chOff x="5054600" y="3505200"/>
                <a:chExt cx="177800" cy="228600"/>
              </a:xfrm>
            </p:grpSpPr>
            <p:sp>
              <p:nvSpPr>
                <p:cNvPr id="51" name="Freeform 51"/>
                <p:cNvSpPr/>
                <p:nvPr/>
              </p:nvSpPr>
              <p:spPr>
                <a:xfrm>
                  <a:off x="5054600" y="3581400"/>
                  <a:ext cx="177800" cy="152400"/>
                </a:xfrm>
                <a:custGeom>
                  <a:avLst/>
                  <a:gdLst/>
                  <a:ahLst/>
                  <a:cxnLst/>
                  <a:rect l="l" t="t" r="r" b="b"/>
                  <a:pathLst>
                    <a:path w="177800" h="152400">
                      <a:moveTo>
                        <a:pt x="38100" y="0"/>
                      </a:moveTo>
                      <a:lnTo>
                        <a:pt x="25400" y="0"/>
                      </a:lnTo>
                      <a:cubicBezTo>
                        <a:pt x="11372" y="0"/>
                        <a:pt x="0" y="11372"/>
                        <a:pt x="0" y="25400"/>
                      </a:cubicBezTo>
                      <a:lnTo>
                        <a:pt x="0" y="127000"/>
                      </a:lnTo>
                      <a:cubicBezTo>
                        <a:pt x="0" y="141028"/>
                        <a:pt x="11372" y="152400"/>
                        <a:pt x="25400" y="152400"/>
                      </a:cubicBezTo>
                      <a:lnTo>
                        <a:pt x="152400" y="152400"/>
                      </a:lnTo>
                      <a:cubicBezTo>
                        <a:pt x="166428" y="152400"/>
                        <a:pt x="177800" y="141028"/>
                        <a:pt x="177800" y="127000"/>
                      </a:cubicBezTo>
                      <a:lnTo>
                        <a:pt x="177800" y="25400"/>
                      </a:lnTo>
                      <a:cubicBezTo>
                        <a:pt x="177800" y="11372"/>
                        <a:pt x="166428" y="0"/>
                        <a:pt x="152400" y="0"/>
                      </a:cubicBezTo>
                      <a:lnTo>
                        <a:pt x="139700" y="0"/>
                      </a:lnTo>
                    </a:path>
                  </a:pathLst>
                </a:custGeom>
                <a:noFill/>
                <a:ln w="25400">
                  <a:solidFill>
                    <a:srgbClr val="B03A1F"/>
                  </a:solidFill>
                </a:ln>
              </p:spPr>
            </p:sp>
            <p:sp>
              <p:nvSpPr>
                <p:cNvPr id="52" name="Freeform 52"/>
                <p:cNvSpPr/>
                <p:nvPr/>
              </p:nvSpPr>
              <p:spPr>
                <a:xfrm>
                  <a:off x="5143500" y="3505200"/>
                  <a:ext cx="9525" cy="139700"/>
                </a:xfrm>
                <a:custGeom>
                  <a:avLst/>
                  <a:gdLst/>
                  <a:ahLst/>
                  <a:cxnLst/>
                  <a:rect l="l" t="t" r="r" b="b"/>
                  <a:pathLst>
                    <a:path w="9525" h="139700">
                      <a:moveTo>
                        <a:pt x="0" y="139700"/>
                      </a:moveTo>
                      <a:lnTo>
                        <a:pt x="0" y="0"/>
                      </a:lnTo>
                    </a:path>
                  </a:pathLst>
                </a:custGeom>
                <a:noFill/>
                <a:ln w="25400">
                  <a:solidFill>
                    <a:srgbClr val="B03A1F"/>
                  </a:solidFill>
                </a:ln>
              </p:spPr>
            </p:sp>
            <p:sp>
              <p:nvSpPr>
                <p:cNvPr id="53" name="Freeform 53"/>
                <p:cNvSpPr/>
                <p:nvPr/>
              </p:nvSpPr>
              <p:spPr>
                <a:xfrm>
                  <a:off x="5105400" y="3505200"/>
                  <a:ext cx="76200" cy="38100"/>
                </a:xfrm>
                <a:custGeom>
                  <a:avLst/>
                  <a:gdLst/>
                  <a:ahLst/>
                  <a:cxnLst/>
                  <a:rect l="l" t="t" r="r" b="b"/>
                  <a:pathLst>
                    <a:path w="76200" h="38100">
                      <a:moveTo>
                        <a:pt x="0" y="38100"/>
                      </a:moveTo>
                      <a:lnTo>
                        <a:pt x="38100" y="0"/>
                      </a:lnTo>
                      <a:lnTo>
                        <a:pt x="76200" y="38100"/>
                      </a:lnTo>
                    </a:path>
                  </a:pathLst>
                </a:custGeom>
                <a:noFill/>
                <a:ln w="25400">
                  <a:solidFill>
                    <a:srgbClr val="B03A1F"/>
                  </a:solidFill>
                </a:ln>
              </p:spPr>
            </p:sp>
          </p:grpSp>
        </p:grpSp>
      </p:grpSp>
      <p:grpSp>
        <p:nvGrpSpPr>
          <p:cNvPr id="133" name="value-chain"/>
          <p:cNvGrpSpPr/>
          <p:nvPr/>
        </p:nvGrpSpPr>
        <p:grpSpPr>
          <a:xfrm>
            <a:off x="6477000" y="838200"/>
            <a:ext cx="5524500" cy="2981326"/>
            <a:chOff x="6477000" y="838200"/>
            <a:chExt cx="5524500" cy="2981326"/>
          </a:xfrm>
        </p:grpSpPr>
        <p:sp>
          <p:nvSpPr>
            <p:cNvPr id="57" name="Rectangle 57"/>
            <p:cNvSpPr/>
            <p:nvPr/>
          </p:nvSpPr>
          <p:spPr>
            <a:xfrm>
              <a:off x="6477000" y="838200"/>
              <a:ext cx="5524500" cy="381000"/>
            </a:xfrm>
            <a:prstGeom prst="rect">
              <a:avLst/>
            </a:prstGeom>
            <a:solidFill>
              <a:srgbClr val="B03A1F"/>
            </a:solidFill>
            <a:ln>
              <a:noFill/>
            </a:ln>
          </p:spPr>
        </p:sp>
        <p:sp>
          <p:nvSpPr>
            <p:cNvPr id="58" name="TextBox 58"/>
            <p:cNvSpPr txBox="1"/>
            <p:nvPr/>
          </p:nvSpPr>
          <p:spPr>
            <a:xfrm>
              <a:off x="8479663" y="964406"/>
              <a:ext cx="15191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协同路径（价值链路）</a:t>
              </a:r>
            </a:p>
          </p:txBody>
        </p:sp>
        <p:grpSp>
          <p:nvGrpSpPr>
            <p:cNvPr id="83" name="chain-corp"/>
            <p:cNvGrpSpPr/>
            <p:nvPr/>
          </p:nvGrpSpPr>
          <p:grpSpPr>
            <a:xfrm>
              <a:off x="6667500" y="1352550"/>
              <a:ext cx="3562350" cy="828676"/>
              <a:chOff x="6667500" y="1352550"/>
              <a:chExt cx="3562350" cy="828676"/>
            </a:xfrm>
          </p:grpSpPr>
          <p:sp>
            <p:nvSpPr>
              <p:cNvPr id="59" name="Rectangle 59"/>
              <p:cNvSpPr/>
              <p:nvPr/>
            </p:nvSpPr>
            <p:spPr>
              <a:xfrm>
                <a:off x="6667500" y="1352550"/>
                <a:ext cx="628650" cy="628650"/>
              </a:xfrm>
              <a:prstGeom prst="roundRect">
                <a:avLst>
                  <a:gd name="adj" fmla="val 9091"/>
                </a:avLst>
              </a:prstGeom>
              <a:solidFill>
                <a:srgbClr val="B03A1F"/>
              </a:solidFill>
              <a:ln>
                <a:noFill/>
              </a:ln>
            </p:spPr>
          </p:sp>
          <p:sp>
            <p:nvSpPr>
              <p:cNvPr id="60" name="TextBox 60"/>
              <p:cNvSpPr txBox="1"/>
              <p:nvPr/>
            </p:nvSpPr>
            <p:spPr>
              <a:xfrm>
                <a:off x="6855904" y="15030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企业</a:t>
                </a:r>
              </a:p>
            </p:txBody>
          </p:sp>
          <p:sp>
            <p:nvSpPr>
              <p:cNvPr id="61" name="TextBox 61"/>
              <p:cNvSpPr txBox="1"/>
              <p:nvPr/>
            </p:nvSpPr>
            <p:spPr>
              <a:xfrm>
                <a:off x="6855904" y="167449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客户</a:t>
                </a:r>
              </a:p>
            </p:txBody>
          </p:sp>
          <p:sp>
            <p:nvSpPr>
              <p:cNvPr id="62" name="Ellipse 62"/>
              <p:cNvSpPr/>
              <p:nvPr/>
            </p:nvSpPr>
            <p:spPr>
              <a:xfrm>
                <a:off x="7677150" y="1438275"/>
                <a:ext cx="457200" cy="457200"/>
              </a:xfrm>
              <a:prstGeom prst="ellipse">
                <a:avLst/>
              </a:prstGeom>
              <a:solidFill>
                <a:srgbClr val="FFFFFF"/>
              </a:solidFill>
              <a:ln w="19050">
                <a:solidFill>
                  <a:srgbClr val="E8C0B7"/>
                </a:solidFill>
              </a:ln>
            </p:spPr>
          </p:sp>
          <p:grpSp>
            <p:nvGrpSpPr>
              <p:cNvPr id="68" name="Group 68"/>
              <p:cNvGrpSpPr/>
              <p:nvPr/>
            </p:nvGrpSpPr>
            <p:grpSpPr>
              <a:xfrm>
                <a:off x="7827169" y="1587124"/>
                <a:ext cx="157162" cy="158333"/>
                <a:chOff x="7827169" y="1587124"/>
                <a:chExt cx="157162" cy="158333"/>
              </a:xfrm>
            </p:grpSpPr>
            <p:sp>
              <p:nvSpPr>
                <p:cNvPr id="63" name="Freeform 63"/>
                <p:cNvSpPr/>
                <p:nvPr/>
              </p:nvSpPr>
              <p:spPr>
                <a:xfrm>
                  <a:off x="7879556" y="1658144"/>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B03A1F"/>
                  </a:solidFill>
                </a:ln>
              </p:spPr>
            </p:sp>
            <p:sp>
              <p:nvSpPr>
                <p:cNvPr id="64" name="Freeform 64"/>
                <p:cNvSpPr/>
                <p:nvPr/>
              </p:nvSpPr>
              <p:spPr>
                <a:xfrm>
                  <a:off x="7879556" y="1684338"/>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B03A1F"/>
                  </a:solidFill>
                </a:ln>
              </p:spPr>
            </p:sp>
            <p:sp>
              <p:nvSpPr>
                <p:cNvPr id="65" name="Freeform 65"/>
                <p:cNvSpPr/>
                <p:nvPr/>
              </p:nvSpPr>
              <p:spPr>
                <a:xfrm>
                  <a:off x="7827169" y="1587124"/>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B03A1F"/>
                  </a:solidFill>
                </a:ln>
              </p:spPr>
            </p:sp>
            <p:sp>
              <p:nvSpPr>
                <p:cNvPr id="66" name="Freeform 66"/>
                <p:cNvSpPr/>
                <p:nvPr/>
              </p:nvSpPr>
              <p:spPr>
                <a:xfrm>
                  <a:off x="7827169" y="1614488"/>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B03A1F"/>
                  </a:solidFill>
                </a:ln>
              </p:spPr>
            </p:sp>
            <p:sp>
              <p:nvSpPr>
                <p:cNvPr id="67" name="Freeform 67"/>
                <p:cNvSpPr/>
                <p:nvPr/>
              </p:nvSpPr>
              <p:spPr>
                <a:xfrm>
                  <a:off x="7827169" y="1658144"/>
                  <a:ext cx="17463" cy="17463"/>
                </a:xfrm>
                <a:custGeom>
                  <a:avLst/>
                  <a:gdLst/>
                  <a:ahLst/>
                  <a:cxnLst/>
                  <a:rect l="l" t="t" r="r" b="b"/>
                  <a:pathLst>
                    <a:path w="17463" h="17463">
                      <a:moveTo>
                        <a:pt x="0" y="0"/>
                      </a:moveTo>
                      <a:cubicBezTo>
                        <a:pt x="0" y="7753"/>
                        <a:pt x="6741" y="12660"/>
                        <a:pt x="17463" y="17463"/>
                      </a:cubicBezTo>
                    </a:path>
                  </a:pathLst>
                </a:custGeom>
                <a:noFill/>
                <a:ln w="17463">
                  <a:solidFill>
                    <a:srgbClr val="B03A1F"/>
                  </a:solidFill>
                </a:ln>
              </p:spPr>
            </p:sp>
          </p:grpSp>
          <p:sp>
            <p:nvSpPr>
              <p:cNvPr id="69" name="TextBox 69"/>
              <p:cNvSpPr txBox="1"/>
              <p:nvPr/>
            </p:nvSpPr>
            <p:spPr>
              <a:xfrm>
                <a:off x="7699058" y="20335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代发工资</a:t>
                </a:r>
              </a:p>
            </p:txBody>
          </p:sp>
          <p:sp>
            <p:nvSpPr>
              <p:cNvPr id="70" name="Line 70"/>
              <p:cNvSpPr/>
              <p:nvPr/>
            </p:nvSpPr>
            <p:spPr>
              <a:xfrm>
                <a:off x="8210550" y="1666875"/>
                <a:ext cx="314325" cy="1"/>
              </a:xfrm>
              <a:prstGeom prst="line">
                <a:avLst/>
              </a:prstGeom>
              <a:noFill/>
              <a:ln w="19050">
                <a:solidFill>
                  <a:srgbClr val="B03A1F"/>
                </a:solidFill>
                <a:tailEnd type="triangle" w="lg" len="lg"/>
              </a:ln>
            </p:spPr>
          </p:sp>
          <p:sp>
            <p:nvSpPr>
              <p:cNvPr id="71" name="Ellipse 71"/>
              <p:cNvSpPr/>
              <p:nvPr/>
            </p:nvSpPr>
            <p:spPr>
              <a:xfrm>
                <a:off x="8724900" y="1438275"/>
                <a:ext cx="457200" cy="457200"/>
              </a:xfrm>
              <a:prstGeom prst="ellipse">
                <a:avLst/>
              </a:prstGeom>
              <a:solidFill>
                <a:srgbClr val="FFFFFF"/>
              </a:solidFill>
              <a:ln w="19050">
                <a:solidFill>
                  <a:srgbClr val="E8C0B7"/>
                </a:solidFill>
              </a:ln>
            </p:spPr>
          </p:sp>
          <p:grpSp>
            <p:nvGrpSpPr>
              <p:cNvPr id="75" name="Group 75"/>
              <p:cNvGrpSpPr/>
              <p:nvPr/>
            </p:nvGrpSpPr>
            <p:grpSpPr>
              <a:xfrm>
                <a:off x="8901113" y="1588294"/>
                <a:ext cx="130969" cy="157163"/>
                <a:chOff x="8901113" y="1588294"/>
                <a:chExt cx="130969" cy="157163"/>
              </a:xfrm>
            </p:grpSpPr>
            <p:sp>
              <p:nvSpPr>
                <p:cNvPr id="72" name="Freeform 72"/>
                <p:cNvSpPr/>
                <p:nvPr/>
              </p:nvSpPr>
              <p:spPr>
                <a:xfrm>
                  <a:off x="8918575" y="15882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B03A1F"/>
                  </a:solidFill>
                </a:ln>
              </p:spPr>
            </p:sp>
            <p:sp>
              <p:nvSpPr>
                <p:cNvPr id="73" name="Freeform 73"/>
                <p:cNvSpPr/>
                <p:nvPr/>
              </p:nvSpPr>
              <p:spPr>
                <a:xfrm>
                  <a:off x="8901113" y="16930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B03A1F"/>
                  </a:solidFill>
                </a:ln>
              </p:spPr>
            </p:sp>
            <p:sp>
              <p:nvSpPr>
                <p:cNvPr id="74" name="Freeform 74"/>
                <p:cNvSpPr/>
                <p:nvPr/>
              </p:nvSpPr>
              <p:spPr>
                <a:xfrm>
                  <a:off x="8979694" y="1710531"/>
                  <a:ext cx="52388" cy="34925"/>
                </a:xfrm>
                <a:custGeom>
                  <a:avLst/>
                  <a:gdLst/>
                  <a:ahLst/>
                  <a:cxnLst/>
                  <a:rect l="l" t="t" r="r" b="b"/>
                  <a:pathLst>
                    <a:path w="52388" h="34925">
                      <a:moveTo>
                        <a:pt x="0" y="17463"/>
                      </a:moveTo>
                      <a:lnTo>
                        <a:pt x="17463" y="34925"/>
                      </a:lnTo>
                      <a:lnTo>
                        <a:pt x="52388" y="0"/>
                      </a:lnTo>
                    </a:path>
                  </a:pathLst>
                </a:custGeom>
                <a:noFill/>
                <a:ln w="17463">
                  <a:solidFill>
                    <a:srgbClr val="B03A1F"/>
                  </a:solidFill>
                </a:ln>
              </p:spPr>
            </p:sp>
          </p:grpSp>
          <p:sp>
            <p:nvSpPr>
              <p:cNvPr id="76" name="TextBox 76"/>
              <p:cNvSpPr txBox="1"/>
              <p:nvPr/>
            </p:nvSpPr>
            <p:spPr>
              <a:xfrm>
                <a:off x="8645842" y="2033588"/>
                <a:ext cx="61531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员工个人金融</a:t>
                </a:r>
              </a:p>
            </p:txBody>
          </p:sp>
          <p:sp>
            <p:nvSpPr>
              <p:cNvPr id="77" name="Line 77"/>
              <p:cNvSpPr/>
              <p:nvPr/>
            </p:nvSpPr>
            <p:spPr>
              <a:xfrm>
                <a:off x="9258300" y="1666875"/>
                <a:ext cx="314325" cy="1"/>
              </a:xfrm>
              <a:prstGeom prst="line">
                <a:avLst/>
              </a:prstGeom>
              <a:noFill/>
              <a:ln w="19050">
                <a:solidFill>
                  <a:srgbClr val="B03A1F"/>
                </a:solidFill>
                <a:tailEnd type="triangle" w="lg" len="lg"/>
              </a:ln>
            </p:spPr>
          </p:sp>
          <p:sp>
            <p:nvSpPr>
              <p:cNvPr id="78" name="Ellipse 78"/>
              <p:cNvSpPr/>
              <p:nvPr/>
            </p:nvSpPr>
            <p:spPr>
              <a:xfrm>
                <a:off x="9772650" y="1438275"/>
                <a:ext cx="457200" cy="457200"/>
              </a:xfrm>
              <a:prstGeom prst="ellipse">
                <a:avLst/>
              </a:prstGeom>
              <a:solidFill>
                <a:srgbClr val="FFFFFF"/>
              </a:solidFill>
              <a:ln w="19050">
                <a:solidFill>
                  <a:srgbClr val="E8C0B7"/>
                </a:solidFill>
              </a:ln>
            </p:spPr>
          </p:sp>
          <p:grpSp>
            <p:nvGrpSpPr>
              <p:cNvPr id="81" name="Group 81"/>
              <p:cNvGrpSpPr/>
              <p:nvPr/>
            </p:nvGrpSpPr>
            <p:grpSpPr>
              <a:xfrm>
                <a:off x="9922669" y="1623219"/>
                <a:ext cx="157163" cy="87313"/>
                <a:chOff x="9922669" y="1623219"/>
                <a:chExt cx="157163" cy="87313"/>
              </a:xfrm>
            </p:grpSpPr>
            <p:sp>
              <p:nvSpPr>
                <p:cNvPr id="79" name="Freeform 79"/>
                <p:cNvSpPr/>
                <p:nvPr/>
              </p:nvSpPr>
              <p:spPr>
                <a:xfrm>
                  <a:off x="9922669" y="162321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B03A1F"/>
                  </a:solidFill>
                </a:ln>
              </p:spPr>
            </p:sp>
            <p:sp>
              <p:nvSpPr>
                <p:cNvPr id="80" name="Freeform 80"/>
                <p:cNvSpPr/>
                <p:nvPr/>
              </p:nvSpPr>
              <p:spPr>
                <a:xfrm>
                  <a:off x="10018713" y="1623219"/>
                  <a:ext cx="61119" cy="61119"/>
                </a:xfrm>
                <a:custGeom>
                  <a:avLst/>
                  <a:gdLst/>
                  <a:ahLst/>
                  <a:cxnLst/>
                  <a:rect l="l" t="t" r="r" b="b"/>
                  <a:pathLst>
                    <a:path w="61119" h="61119">
                      <a:moveTo>
                        <a:pt x="0" y="0"/>
                      </a:moveTo>
                      <a:lnTo>
                        <a:pt x="61119" y="0"/>
                      </a:lnTo>
                      <a:lnTo>
                        <a:pt x="61119" y="61119"/>
                      </a:lnTo>
                    </a:path>
                  </a:pathLst>
                </a:custGeom>
                <a:noFill/>
                <a:ln w="17463">
                  <a:solidFill>
                    <a:srgbClr val="B03A1F"/>
                  </a:solidFill>
                </a:ln>
              </p:spPr>
            </p:sp>
          </p:grpSp>
          <p:sp>
            <p:nvSpPr>
              <p:cNvPr id="82" name="TextBox 82"/>
              <p:cNvSpPr txBox="1"/>
              <p:nvPr/>
            </p:nvSpPr>
            <p:spPr>
              <a:xfrm>
                <a:off x="9794558" y="20335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财富管理</a:t>
                </a:r>
              </a:p>
            </p:txBody>
          </p:sp>
        </p:grpSp>
        <p:grpSp>
          <p:nvGrpSpPr>
            <p:cNvPr id="109" name="chain-merchant"/>
            <p:cNvGrpSpPr/>
            <p:nvPr/>
          </p:nvGrpSpPr>
          <p:grpSpPr>
            <a:xfrm>
              <a:off x="6667500" y="2171700"/>
              <a:ext cx="3562350" cy="828676"/>
              <a:chOff x="6667500" y="2171700"/>
              <a:chExt cx="3562350" cy="828676"/>
            </a:xfrm>
          </p:grpSpPr>
          <p:sp>
            <p:nvSpPr>
              <p:cNvPr id="84" name="Rectangle 84"/>
              <p:cNvSpPr/>
              <p:nvPr/>
            </p:nvSpPr>
            <p:spPr>
              <a:xfrm>
                <a:off x="6667500" y="2171700"/>
                <a:ext cx="628650" cy="628650"/>
              </a:xfrm>
              <a:prstGeom prst="roundRect">
                <a:avLst>
                  <a:gd name="adj" fmla="val 9091"/>
                </a:avLst>
              </a:prstGeom>
              <a:solidFill>
                <a:srgbClr val="B03A1F"/>
              </a:solidFill>
              <a:ln>
                <a:noFill/>
              </a:ln>
            </p:spPr>
          </p:sp>
          <p:sp>
            <p:nvSpPr>
              <p:cNvPr id="85" name="TextBox 85"/>
              <p:cNvSpPr txBox="1"/>
              <p:nvPr/>
            </p:nvSpPr>
            <p:spPr>
              <a:xfrm>
                <a:off x="6855904" y="232219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商户</a:t>
                </a:r>
              </a:p>
            </p:txBody>
          </p:sp>
          <p:sp>
            <p:nvSpPr>
              <p:cNvPr id="86" name="TextBox 86"/>
              <p:cNvSpPr txBox="1"/>
              <p:nvPr/>
            </p:nvSpPr>
            <p:spPr>
              <a:xfrm>
                <a:off x="6855904" y="24936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生态</a:t>
                </a:r>
              </a:p>
            </p:txBody>
          </p:sp>
          <p:sp>
            <p:nvSpPr>
              <p:cNvPr id="87" name="Ellipse 87"/>
              <p:cNvSpPr/>
              <p:nvPr/>
            </p:nvSpPr>
            <p:spPr>
              <a:xfrm>
                <a:off x="7677150" y="2257425"/>
                <a:ext cx="457200" cy="457200"/>
              </a:xfrm>
              <a:prstGeom prst="ellipse">
                <a:avLst/>
              </a:prstGeom>
              <a:solidFill>
                <a:srgbClr val="FFFFFF"/>
              </a:solidFill>
              <a:ln w="19050">
                <a:solidFill>
                  <a:srgbClr val="E8C0B7"/>
                </a:solidFill>
              </a:ln>
            </p:spPr>
          </p:sp>
          <p:grpSp>
            <p:nvGrpSpPr>
              <p:cNvPr id="92" name="Group 92"/>
              <p:cNvGrpSpPr/>
              <p:nvPr/>
            </p:nvGrpSpPr>
            <p:grpSpPr>
              <a:xfrm>
                <a:off x="7835900" y="2407444"/>
                <a:ext cx="139701" cy="157162"/>
                <a:chOff x="7835900" y="2407444"/>
                <a:chExt cx="139701" cy="157162"/>
              </a:xfrm>
            </p:grpSpPr>
            <p:sp>
              <p:nvSpPr>
                <p:cNvPr id="88" name="Freeform 88"/>
                <p:cNvSpPr/>
                <p:nvPr/>
              </p:nvSpPr>
              <p:spPr>
                <a:xfrm>
                  <a:off x="7835900" y="252968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sp>
              <p:nvSpPr>
                <p:cNvPr id="89" name="Freeform 89"/>
                <p:cNvSpPr/>
                <p:nvPr/>
              </p:nvSpPr>
              <p:spPr>
                <a:xfrm>
                  <a:off x="7931944" y="252968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sp>
              <p:nvSpPr>
                <p:cNvPr id="90" name="Freeform 90"/>
                <p:cNvSpPr/>
                <p:nvPr/>
              </p:nvSpPr>
              <p:spPr>
                <a:xfrm>
                  <a:off x="7835900" y="2407444"/>
                  <a:ext cx="113506" cy="122238"/>
                </a:xfrm>
                <a:custGeom>
                  <a:avLst/>
                  <a:gdLst/>
                  <a:ahLst/>
                  <a:cxnLst/>
                  <a:rect l="l" t="t" r="r" b="b"/>
                  <a:pathLst>
                    <a:path w="113506" h="122238">
                      <a:moveTo>
                        <a:pt x="113506" y="122238"/>
                      </a:moveTo>
                      <a:lnTo>
                        <a:pt x="17463" y="122238"/>
                      </a:lnTo>
                      <a:lnTo>
                        <a:pt x="17463" y="0"/>
                      </a:lnTo>
                      <a:lnTo>
                        <a:pt x="0" y="0"/>
                      </a:lnTo>
                    </a:path>
                  </a:pathLst>
                </a:custGeom>
                <a:noFill/>
                <a:ln w="17463">
                  <a:solidFill>
                    <a:srgbClr val="B03A1F"/>
                  </a:solidFill>
                </a:ln>
              </p:spPr>
            </p:sp>
            <p:sp>
              <p:nvSpPr>
                <p:cNvPr id="91" name="Freeform 91"/>
                <p:cNvSpPr/>
                <p:nvPr/>
              </p:nvSpPr>
              <p:spPr>
                <a:xfrm>
                  <a:off x="7853363" y="2424906"/>
                  <a:ext cx="122238" cy="69850"/>
                </a:xfrm>
                <a:custGeom>
                  <a:avLst/>
                  <a:gdLst/>
                  <a:ahLst/>
                  <a:cxnLst/>
                  <a:rect l="l" t="t" r="r" b="b"/>
                  <a:pathLst>
                    <a:path w="122238" h="69850">
                      <a:moveTo>
                        <a:pt x="0" y="0"/>
                      </a:moveTo>
                      <a:lnTo>
                        <a:pt x="122238" y="8731"/>
                      </a:lnTo>
                      <a:lnTo>
                        <a:pt x="113506" y="69850"/>
                      </a:lnTo>
                      <a:lnTo>
                        <a:pt x="0" y="69850"/>
                      </a:lnTo>
                    </a:path>
                  </a:pathLst>
                </a:custGeom>
                <a:noFill/>
                <a:ln w="17463">
                  <a:solidFill>
                    <a:srgbClr val="B03A1F"/>
                  </a:solidFill>
                </a:ln>
              </p:spPr>
            </p:sp>
          </p:grpSp>
          <p:sp>
            <p:nvSpPr>
              <p:cNvPr id="93" name="TextBox 93"/>
              <p:cNvSpPr txBox="1"/>
              <p:nvPr/>
            </p:nvSpPr>
            <p:spPr>
              <a:xfrm>
                <a:off x="7699058" y="28527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消费场景</a:t>
                </a:r>
              </a:p>
            </p:txBody>
          </p:sp>
          <p:sp>
            <p:nvSpPr>
              <p:cNvPr id="94" name="Line 94"/>
              <p:cNvSpPr/>
              <p:nvPr/>
            </p:nvSpPr>
            <p:spPr>
              <a:xfrm>
                <a:off x="8210550" y="2486025"/>
                <a:ext cx="314325" cy="1"/>
              </a:xfrm>
              <a:prstGeom prst="line">
                <a:avLst/>
              </a:prstGeom>
              <a:noFill/>
              <a:ln w="19050">
                <a:solidFill>
                  <a:srgbClr val="B03A1F"/>
                </a:solidFill>
                <a:tailEnd type="triangle" w="lg" len="lg"/>
              </a:ln>
            </p:spPr>
          </p:sp>
          <p:sp>
            <p:nvSpPr>
              <p:cNvPr id="95" name="Ellipse 95"/>
              <p:cNvSpPr/>
              <p:nvPr/>
            </p:nvSpPr>
            <p:spPr>
              <a:xfrm>
                <a:off x="8724900" y="2257425"/>
                <a:ext cx="457200" cy="457200"/>
              </a:xfrm>
              <a:prstGeom prst="ellipse">
                <a:avLst/>
              </a:prstGeom>
              <a:solidFill>
                <a:srgbClr val="FFFFFF"/>
              </a:solidFill>
              <a:ln w="19050">
                <a:solidFill>
                  <a:srgbClr val="E8C0B7"/>
                </a:solidFill>
              </a:ln>
            </p:spPr>
          </p:sp>
          <p:grpSp>
            <p:nvGrpSpPr>
              <p:cNvPr id="100" name="Group 100"/>
              <p:cNvGrpSpPr/>
              <p:nvPr/>
            </p:nvGrpSpPr>
            <p:grpSpPr>
              <a:xfrm>
                <a:off x="8874919" y="2424906"/>
                <a:ext cx="157163" cy="122238"/>
                <a:chOff x="8874919" y="2424906"/>
                <a:chExt cx="157163" cy="122238"/>
              </a:xfrm>
            </p:grpSpPr>
            <p:sp>
              <p:nvSpPr>
                <p:cNvPr id="96" name="Freeform 96"/>
                <p:cNvSpPr/>
                <p:nvPr/>
              </p:nvSpPr>
              <p:spPr>
                <a:xfrm>
                  <a:off x="8874919" y="2424906"/>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7463">
                  <a:solidFill>
                    <a:srgbClr val="B03A1F"/>
                  </a:solidFill>
                </a:ln>
              </p:spPr>
            </p:sp>
            <p:sp>
              <p:nvSpPr>
                <p:cNvPr id="97" name="Freeform 97"/>
                <p:cNvSpPr/>
                <p:nvPr/>
              </p:nvSpPr>
              <p:spPr>
                <a:xfrm>
                  <a:off x="8874919" y="2468563"/>
                  <a:ext cx="157163" cy="9525"/>
                </a:xfrm>
                <a:custGeom>
                  <a:avLst/>
                  <a:gdLst/>
                  <a:ahLst/>
                  <a:cxnLst/>
                  <a:rect l="l" t="t" r="r" b="b"/>
                  <a:pathLst>
                    <a:path w="157163" h="9525">
                      <a:moveTo>
                        <a:pt x="0" y="0"/>
                      </a:moveTo>
                      <a:lnTo>
                        <a:pt x="157163" y="0"/>
                      </a:lnTo>
                    </a:path>
                  </a:pathLst>
                </a:custGeom>
                <a:noFill/>
                <a:ln w="17463">
                  <a:solidFill>
                    <a:srgbClr val="B03A1F"/>
                  </a:solidFill>
                </a:ln>
              </p:spPr>
            </p:sp>
            <p:sp>
              <p:nvSpPr>
                <p:cNvPr id="98" name="Freeform 98"/>
                <p:cNvSpPr/>
                <p:nvPr/>
              </p:nvSpPr>
              <p:spPr>
                <a:xfrm>
                  <a:off x="8909844" y="2512219"/>
                  <a:ext cx="9525" cy="9525"/>
                </a:xfrm>
                <a:custGeom>
                  <a:avLst/>
                  <a:gdLst/>
                  <a:ahLst/>
                  <a:cxnLst/>
                  <a:rect l="l" t="t" r="r" b="b"/>
                  <a:pathLst>
                    <a:path w="9525" h="9525">
                      <a:moveTo>
                        <a:pt x="0" y="0"/>
                      </a:moveTo>
                      <a:lnTo>
                        <a:pt x="87" y="0"/>
                      </a:lnTo>
                    </a:path>
                  </a:pathLst>
                </a:custGeom>
                <a:noFill/>
                <a:ln w="17463">
                  <a:solidFill>
                    <a:srgbClr val="B03A1F"/>
                  </a:solidFill>
                </a:ln>
              </p:spPr>
            </p:sp>
            <p:sp>
              <p:nvSpPr>
                <p:cNvPr id="99" name="Freeform 99"/>
                <p:cNvSpPr/>
                <p:nvPr/>
              </p:nvSpPr>
              <p:spPr>
                <a:xfrm>
                  <a:off x="8944769" y="2512219"/>
                  <a:ext cx="17463" cy="9525"/>
                </a:xfrm>
                <a:custGeom>
                  <a:avLst/>
                  <a:gdLst/>
                  <a:ahLst/>
                  <a:cxnLst/>
                  <a:rect l="l" t="t" r="r" b="b"/>
                  <a:pathLst>
                    <a:path w="17463" h="9525">
                      <a:moveTo>
                        <a:pt x="0" y="0"/>
                      </a:moveTo>
                      <a:lnTo>
                        <a:pt x="17463" y="0"/>
                      </a:lnTo>
                    </a:path>
                  </a:pathLst>
                </a:custGeom>
                <a:noFill/>
                <a:ln w="17463">
                  <a:solidFill>
                    <a:srgbClr val="B03A1F"/>
                  </a:solidFill>
                </a:ln>
              </p:spPr>
            </p:sp>
          </p:grpSp>
          <p:sp>
            <p:nvSpPr>
              <p:cNvPr id="101" name="TextBox 101"/>
              <p:cNvSpPr txBox="1"/>
              <p:nvPr/>
            </p:nvSpPr>
            <p:spPr>
              <a:xfrm>
                <a:off x="8746808" y="28527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支付结算</a:t>
                </a:r>
              </a:p>
            </p:txBody>
          </p:sp>
          <p:sp>
            <p:nvSpPr>
              <p:cNvPr id="102" name="Line 102"/>
              <p:cNvSpPr/>
              <p:nvPr/>
            </p:nvSpPr>
            <p:spPr>
              <a:xfrm>
                <a:off x="9258300" y="2486025"/>
                <a:ext cx="314325" cy="1"/>
              </a:xfrm>
              <a:prstGeom prst="line">
                <a:avLst/>
              </a:prstGeom>
              <a:noFill/>
              <a:ln w="19050">
                <a:solidFill>
                  <a:srgbClr val="B03A1F"/>
                </a:solidFill>
                <a:tailEnd type="triangle" w="lg" len="lg"/>
              </a:ln>
            </p:spPr>
          </p:sp>
          <p:sp>
            <p:nvSpPr>
              <p:cNvPr id="103" name="Ellipse 103"/>
              <p:cNvSpPr/>
              <p:nvPr/>
            </p:nvSpPr>
            <p:spPr>
              <a:xfrm>
                <a:off x="9772650" y="2257425"/>
                <a:ext cx="457200" cy="457200"/>
              </a:xfrm>
              <a:prstGeom prst="ellipse">
                <a:avLst/>
              </a:prstGeom>
              <a:solidFill>
                <a:srgbClr val="FFFFFF"/>
              </a:solidFill>
              <a:ln w="19050">
                <a:solidFill>
                  <a:srgbClr val="E8C0B7"/>
                </a:solidFill>
              </a:ln>
            </p:spPr>
          </p:sp>
          <p:grpSp>
            <p:nvGrpSpPr>
              <p:cNvPr id="107" name="Group 107"/>
              <p:cNvGrpSpPr/>
              <p:nvPr/>
            </p:nvGrpSpPr>
            <p:grpSpPr>
              <a:xfrm>
                <a:off x="9922669" y="2424906"/>
                <a:ext cx="157163" cy="122238"/>
                <a:chOff x="9922669" y="2424906"/>
                <a:chExt cx="157163" cy="122238"/>
              </a:xfrm>
            </p:grpSpPr>
            <p:sp>
              <p:nvSpPr>
                <p:cNvPr id="104" name="Freeform 104"/>
                <p:cNvSpPr/>
                <p:nvPr/>
              </p:nvSpPr>
              <p:spPr>
                <a:xfrm>
                  <a:off x="9922669" y="2424906"/>
                  <a:ext cx="122238" cy="87313"/>
                </a:xfrm>
                <a:custGeom>
                  <a:avLst/>
                  <a:gdLst/>
                  <a:ahLst/>
                  <a:cxnLst/>
                  <a:rect l="l" t="t" r="r" b="b"/>
                  <a:pathLst>
                    <a:path w="122238" h="87313">
                      <a:moveTo>
                        <a:pt x="34925" y="87313"/>
                      </a:moveTo>
                      <a:lnTo>
                        <a:pt x="8731" y="87313"/>
                      </a:lnTo>
                      <a:cubicBezTo>
                        <a:pt x="3909" y="87313"/>
                        <a:pt x="0" y="83403"/>
                        <a:pt x="0" y="78581"/>
                      </a:cubicBezTo>
                      <a:lnTo>
                        <a:pt x="0" y="8731"/>
                      </a:lnTo>
                      <a:cubicBezTo>
                        <a:pt x="0" y="3909"/>
                        <a:pt x="3909" y="0"/>
                        <a:pt x="8731" y="0"/>
                      </a:cubicBezTo>
                      <a:lnTo>
                        <a:pt x="113506" y="0"/>
                      </a:lnTo>
                      <a:cubicBezTo>
                        <a:pt x="118328" y="0"/>
                        <a:pt x="122238" y="3909"/>
                        <a:pt x="122238" y="8731"/>
                      </a:cubicBezTo>
                      <a:lnTo>
                        <a:pt x="122238" y="34925"/>
                      </a:lnTo>
                    </a:path>
                  </a:pathLst>
                </a:custGeom>
                <a:noFill/>
                <a:ln w="17463">
                  <a:solidFill>
                    <a:srgbClr val="B03A1F"/>
                  </a:solidFill>
                </a:ln>
              </p:spPr>
            </p:sp>
            <p:sp>
              <p:nvSpPr>
                <p:cNvPr id="105" name="Freeform 105"/>
                <p:cNvSpPr/>
                <p:nvPr/>
              </p:nvSpPr>
              <p:spPr>
                <a:xfrm>
                  <a:off x="9957594" y="2459831"/>
                  <a:ext cx="122238" cy="87313"/>
                </a:xfrm>
                <a:custGeom>
                  <a:avLst/>
                  <a:gdLst/>
                  <a:ahLst/>
                  <a:cxnLst/>
                  <a:rect l="l" t="t" r="r" b="b"/>
                  <a:pathLst>
                    <a:path w="122238" h="87313">
                      <a:moveTo>
                        <a:pt x="0" y="8731"/>
                      </a:moveTo>
                      <a:cubicBezTo>
                        <a:pt x="0" y="3909"/>
                        <a:pt x="3909" y="0"/>
                        <a:pt x="8731" y="0"/>
                      </a:cubicBezTo>
                      <a:lnTo>
                        <a:pt x="113506" y="0"/>
                      </a:lnTo>
                      <a:cubicBezTo>
                        <a:pt x="118328" y="0"/>
                        <a:pt x="122238" y="3909"/>
                        <a:pt x="122238" y="8731"/>
                      </a:cubicBezTo>
                      <a:lnTo>
                        <a:pt x="122238" y="78581"/>
                      </a:lnTo>
                      <a:cubicBezTo>
                        <a:pt x="122238" y="83403"/>
                        <a:pt x="118328" y="87313"/>
                        <a:pt x="113506" y="87313"/>
                      </a:cubicBezTo>
                      <a:lnTo>
                        <a:pt x="8731" y="87313"/>
                      </a:lnTo>
                      <a:cubicBezTo>
                        <a:pt x="3909" y="87313"/>
                        <a:pt x="0" y="83403"/>
                        <a:pt x="0" y="78581"/>
                      </a:cubicBezTo>
                      <a:lnTo>
                        <a:pt x="0" y="8731"/>
                      </a:lnTo>
                    </a:path>
                  </a:pathLst>
                </a:custGeom>
                <a:noFill/>
                <a:ln w="17463">
                  <a:solidFill>
                    <a:srgbClr val="B03A1F"/>
                  </a:solidFill>
                </a:ln>
              </p:spPr>
            </p:sp>
            <p:sp>
              <p:nvSpPr>
                <p:cNvPr id="106" name="Freeform 106"/>
                <p:cNvSpPr/>
                <p:nvPr/>
              </p:nvSpPr>
              <p:spPr>
                <a:xfrm>
                  <a:off x="10001250" y="2486025"/>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grpSp>
          <p:sp>
            <p:nvSpPr>
              <p:cNvPr id="108" name="TextBox 108"/>
              <p:cNvSpPr txBox="1"/>
              <p:nvPr/>
            </p:nvSpPr>
            <p:spPr>
              <a:xfrm>
                <a:off x="9794558" y="28527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消费信贷</a:t>
                </a:r>
              </a:p>
            </p:txBody>
          </p:sp>
        </p:grpSp>
        <p:grpSp>
          <p:nvGrpSpPr>
            <p:cNvPr id="132" name="chain-gov"/>
            <p:cNvGrpSpPr/>
            <p:nvPr/>
          </p:nvGrpSpPr>
          <p:grpSpPr>
            <a:xfrm>
              <a:off x="6667500" y="2990850"/>
              <a:ext cx="3562350" cy="828676"/>
              <a:chOff x="6667500" y="2990850"/>
              <a:chExt cx="3562350" cy="828676"/>
            </a:xfrm>
          </p:grpSpPr>
          <p:sp>
            <p:nvSpPr>
              <p:cNvPr id="110" name="Rectangle 110"/>
              <p:cNvSpPr/>
              <p:nvPr/>
            </p:nvSpPr>
            <p:spPr>
              <a:xfrm>
                <a:off x="6667500" y="2990850"/>
                <a:ext cx="628650" cy="628650"/>
              </a:xfrm>
              <a:prstGeom prst="roundRect">
                <a:avLst>
                  <a:gd name="adj" fmla="val 9091"/>
                </a:avLst>
              </a:prstGeom>
              <a:solidFill>
                <a:srgbClr val="B03A1F"/>
              </a:solidFill>
              <a:ln>
                <a:noFill/>
              </a:ln>
            </p:spPr>
          </p:sp>
          <p:sp>
            <p:nvSpPr>
              <p:cNvPr id="111" name="TextBox 111"/>
              <p:cNvSpPr txBox="1"/>
              <p:nvPr/>
            </p:nvSpPr>
            <p:spPr>
              <a:xfrm>
                <a:off x="6855904" y="31413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政务</a:t>
                </a:r>
              </a:p>
            </p:txBody>
          </p:sp>
          <p:sp>
            <p:nvSpPr>
              <p:cNvPr id="112" name="TextBox 112"/>
              <p:cNvSpPr txBox="1"/>
              <p:nvPr/>
            </p:nvSpPr>
            <p:spPr>
              <a:xfrm>
                <a:off x="6855904" y="331279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民生</a:t>
                </a:r>
              </a:p>
            </p:txBody>
          </p:sp>
          <p:sp>
            <p:nvSpPr>
              <p:cNvPr id="113" name="Ellipse 113"/>
              <p:cNvSpPr/>
              <p:nvPr/>
            </p:nvSpPr>
            <p:spPr>
              <a:xfrm>
                <a:off x="7677150" y="3076575"/>
                <a:ext cx="457200" cy="457200"/>
              </a:xfrm>
              <a:prstGeom prst="ellipse">
                <a:avLst/>
              </a:prstGeom>
              <a:solidFill>
                <a:srgbClr val="FFFFFF"/>
              </a:solidFill>
              <a:ln w="19050">
                <a:solidFill>
                  <a:srgbClr val="E8C0B7"/>
                </a:solidFill>
              </a:ln>
            </p:spPr>
          </p:sp>
          <p:grpSp>
            <p:nvGrpSpPr>
              <p:cNvPr id="119" name="Group 119"/>
              <p:cNvGrpSpPr/>
              <p:nvPr/>
            </p:nvGrpSpPr>
            <p:grpSpPr>
              <a:xfrm>
                <a:off x="7827169" y="3235325"/>
                <a:ext cx="157163" cy="139700"/>
                <a:chOff x="7827169" y="3235325"/>
                <a:chExt cx="157163" cy="139700"/>
              </a:xfrm>
            </p:grpSpPr>
            <p:sp>
              <p:nvSpPr>
                <p:cNvPr id="114" name="Freeform 114"/>
                <p:cNvSpPr/>
                <p:nvPr/>
              </p:nvSpPr>
              <p:spPr>
                <a:xfrm>
                  <a:off x="7827169" y="3235325"/>
                  <a:ext cx="157163" cy="139700"/>
                </a:xfrm>
                <a:custGeom>
                  <a:avLst/>
                  <a:gdLst/>
                  <a:ahLst/>
                  <a:cxnLst/>
                  <a:rect l="l" t="t" r="r" b="b"/>
                  <a:pathLst>
                    <a:path w="157163" h="139700">
                      <a:moveTo>
                        <a:pt x="0" y="26194"/>
                      </a:moveTo>
                      <a:cubicBezTo>
                        <a:pt x="0" y="11727"/>
                        <a:pt x="11727" y="0"/>
                        <a:pt x="26194" y="0"/>
                      </a:cubicBezTo>
                      <a:lnTo>
                        <a:pt x="130969" y="0"/>
                      </a:lnTo>
                      <a:cubicBezTo>
                        <a:pt x="145435" y="0"/>
                        <a:pt x="157163" y="11727"/>
                        <a:pt x="157163" y="26194"/>
                      </a:cubicBezTo>
                      <a:lnTo>
                        <a:pt x="157163" y="113506"/>
                      </a:lnTo>
                      <a:cubicBezTo>
                        <a:pt x="157163" y="127973"/>
                        <a:pt x="145435" y="139700"/>
                        <a:pt x="130969" y="139700"/>
                      </a:cubicBezTo>
                      <a:lnTo>
                        <a:pt x="26194" y="139700"/>
                      </a:lnTo>
                      <a:cubicBezTo>
                        <a:pt x="11727" y="139700"/>
                        <a:pt x="0" y="127973"/>
                        <a:pt x="0" y="113506"/>
                      </a:cubicBezTo>
                      <a:lnTo>
                        <a:pt x="0" y="26194"/>
                      </a:lnTo>
                    </a:path>
                  </a:pathLst>
                </a:custGeom>
                <a:noFill/>
                <a:ln w="17463">
                  <a:solidFill>
                    <a:srgbClr val="B03A1F"/>
                  </a:solidFill>
                </a:ln>
              </p:spPr>
            </p:sp>
            <p:sp>
              <p:nvSpPr>
                <p:cNvPr id="115" name="Freeform 115"/>
                <p:cNvSpPr/>
                <p:nvPr/>
              </p:nvSpPr>
              <p:spPr>
                <a:xfrm>
                  <a:off x="7862094" y="3270250"/>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sp>
              <p:nvSpPr>
                <p:cNvPr id="116" name="Freeform 116"/>
                <p:cNvSpPr/>
                <p:nvPr/>
              </p:nvSpPr>
              <p:spPr>
                <a:xfrm>
                  <a:off x="7931944" y="3270250"/>
                  <a:ext cx="17463" cy="9525"/>
                </a:xfrm>
                <a:custGeom>
                  <a:avLst/>
                  <a:gdLst/>
                  <a:ahLst/>
                  <a:cxnLst/>
                  <a:rect l="l" t="t" r="r" b="b"/>
                  <a:pathLst>
                    <a:path w="17463" h="9525">
                      <a:moveTo>
                        <a:pt x="0" y="0"/>
                      </a:moveTo>
                      <a:lnTo>
                        <a:pt x="17463" y="0"/>
                      </a:lnTo>
                    </a:path>
                  </a:pathLst>
                </a:custGeom>
                <a:noFill/>
                <a:ln w="17463">
                  <a:solidFill>
                    <a:srgbClr val="B03A1F"/>
                  </a:solidFill>
                </a:ln>
              </p:spPr>
            </p:sp>
            <p:sp>
              <p:nvSpPr>
                <p:cNvPr id="117" name="Freeform 117"/>
                <p:cNvSpPr/>
                <p:nvPr/>
              </p:nvSpPr>
              <p:spPr>
                <a:xfrm>
                  <a:off x="7931944" y="3305175"/>
                  <a:ext cx="17463" cy="9525"/>
                </a:xfrm>
                <a:custGeom>
                  <a:avLst/>
                  <a:gdLst/>
                  <a:ahLst/>
                  <a:cxnLst/>
                  <a:rect l="l" t="t" r="r" b="b"/>
                  <a:pathLst>
                    <a:path w="17463" h="9525">
                      <a:moveTo>
                        <a:pt x="0" y="0"/>
                      </a:moveTo>
                      <a:lnTo>
                        <a:pt x="17463" y="0"/>
                      </a:lnTo>
                    </a:path>
                  </a:pathLst>
                </a:custGeom>
                <a:noFill/>
                <a:ln w="17463">
                  <a:solidFill>
                    <a:srgbClr val="B03A1F"/>
                  </a:solidFill>
                </a:ln>
              </p:spPr>
            </p:sp>
            <p:sp>
              <p:nvSpPr>
                <p:cNvPr id="118" name="Freeform 118"/>
                <p:cNvSpPr/>
                <p:nvPr/>
              </p:nvSpPr>
              <p:spPr>
                <a:xfrm>
                  <a:off x="7862094" y="3340100"/>
                  <a:ext cx="87313" cy="9525"/>
                </a:xfrm>
                <a:custGeom>
                  <a:avLst/>
                  <a:gdLst/>
                  <a:ahLst/>
                  <a:cxnLst/>
                  <a:rect l="l" t="t" r="r" b="b"/>
                  <a:pathLst>
                    <a:path w="87313" h="9525">
                      <a:moveTo>
                        <a:pt x="0" y="0"/>
                      </a:moveTo>
                      <a:lnTo>
                        <a:pt x="87313" y="0"/>
                      </a:lnTo>
                    </a:path>
                  </a:pathLst>
                </a:custGeom>
                <a:noFill/>
                <a:ln w="17463">
                  <a:solidFill>
                    <a:srgbClr val="B03A1F"/>
                  </a:solidFill>
                </a:ln>
              </p:spPr>
            </p:sp>
          </p:grpSp>
          <p:sp>
            <p:nvSpPr>
              <p:cNvPr id="120" name="TextBox 120"/>
              <p:cNvSpPr txBox="1"/>
              <p:nvPr/>
            </p:nvSpPr>
            <p:spPr>
              <a:xfrm>
                <a:off x="7749540" y="3671888"/>
                <a:ext cx="312420"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社保卡</a:t>
                </a:r>
              </a:p>
            </p:txBody>
          </p:sp>
          <p:sp>
            <p:nvSpPr>
              <p:cNvPr id="121" name="Line 121"/>
              <p:cNvSpPr/>
              <p:nvPr/>
            </p:nvSpPr>
            <p:spPr>
              <a:xfrm>
                <a:off x="8210550" y="3305175"/>
                <a:ext cx="314325" cy="1"/>
              </a:xfrm>
              <a:prstGeom prst="line">
                <a:avLst/>
              </a:prstGeom>
              <a:noFill/>
              <a:ln w="19050">
                <a:solidFill>
                  <a:srgbClr val="B03A1F"/>
                </a:solidFill>
                <a:tailEnd type="triangle" w="lg" len="lg"/>
              </a:ln>
            </p:spPr>
          </p:sp>
          <p:sp>
            <p:nvSpPr>
              <p:cNvPr id="122" name="Ellipse 122"/>
              <p:cNvSpPr/>
              <p:nvPr/>
            </p:nvSpPr>
            <p:spPr>
              <a:xfrm>
                <a:off x="8724900" y="3076575"/>
                <a:ext cx="457200" cy="457200"/>
              </a:xfrm>
              <a:prstGeom prst="ellipse">
                <a:avLst/>
              </a:prstGeom>
              <a:solidFill>
                <a:srgbClr val="FFFFFF"/>
              </a:solidFill>
              <a:ln w="19050">
                <a:solidFill>
                  <a:srgbClr val="E8C0B7"/>
                </a:solidFill>
              </a:ln>
            </p:spPr>
          </p:sp>
          <p:sp>
            <p:nvSpPr>
              <p:cNvPr id="123" name="Freeform 123"/>
              <p:cNvSpPr/>
              <p:nvPr/>
            </p:nvSpPr>
            <p:spPr>
              <a:xfrm>
                <a:off x="8871895" y="3233085"/>
                <a:ext cx="163051" cy="141940"/>
              </a:xfrm>
              <a:custGeom>
                <a:avLst/>
                <a:gdLst/>
                <a:ahLst/>
                <a:cxnLst/>
                <a:rect l="l" t="t" r="r" b="b"/>
                <a:pathLst>
                  <a:path w="163051" h="141940">
                    <a:moveTo>
                      <a:pt x="147089" y="77084"/>
                    </a:moveTo>
                    <a:lnTo>
                      <a:pt x="81605" y="141940"/>
                    </a:lnTo>
                    <a:lnTo>
                      <a:pt x="16120" y="77084"/>
                    </a:lnTo>
                    <a:cubicBezTo>
                      <a:pt x="4344" y="65625"/>
                      <a:pt x="0" y="48525"/>
                      <a:pt x="4879" y="32835"/>
                    </a:cubicBezTo>
                    <a:cubicBezTo>
                      <a:pt x="9757" y="17144"/>
                      <a:pt x="23032" y="5522"/>
                      <a:pt x="39230" y="2761"/>
                    </a:cubicBezTo>
                    <a:cubicBezTo>
                      <a:pt x="55427" y="0"/>
                      <a:pt x="71803" y="6567"/>
                      <a:pt x="81605" y="19755"/>
                    </a:cubicBezTo>
                    <a:cubicBezTo>
                      <a:pt x="91447" y="6665"/>
                      <a:pt x="107788" y="185"/>
                      <a:pt x="123927" y="2972"/>
                    </a:cubicBezTo>
                    <a:cubicBezTo>
                      <a:pt x="140065" y="5759"/>
                      <a:pt x="153287" y="17344"/>
                      <a:pt x="158169" y="32977"/>
                    </a:cubicBezTo>
                    <a:cubicBezTo>
                      <a:pt x="163051" y="48610"/>
                      <a:pt x="158773" y="65660"/>
                      <a:pt x="147089" y="77137"/>
                    </a:cubicBezTo>
                  </a:path>
                </a:pathLst>
              </a:custGeom>
              <a:noFill/>
              <a:ln w="17463">
                <a:solidFill>
                  <a:srgbClr val="B03A1F"/>
                </a:solidFill>
              </a:ln>
            </p:spPr>
          </p:sp>
          <p:sp>
            <p:nvSpPr>
              <p:cNvPr id="124" name="TextBox 124"/>
              <p:cNvSpPr txBox="1"/>
              <p:nvPr/>
            </p:nvSpPr>
            <p:spPr>
              <a:xfrm>
                <a:off x="8746808" y="36718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高频服务</a:t>
                </a:r>
              </a:p>
            </p:txBody>
          </p:sp>
          <p:sp>
            <p:nvSpPr>
              <p:cNvPr id="125" name="Line 125"/>
              <p:cNvSpPr/>
              <p:nvPr/>
            </p:nvSpPr>
            <p:spPr>
              <a:xfrm>
                <a:off x="9258300" y="3305175"/>
                <a:ext cx="314325" cy="1"/>
              </a:xfrm>
              <a:prstGeom prst="line">
                <a:avLst/>
              </a:prstGeom>
              <a:noFill/>
              <a:ln w="19050">
                <a:solidFill>
                  <a:srgbClr val="B03A1F"/>
                </a:solidFill>
                <a:tailEnd type="triangle" w="lg" len="lg"/>
              </a:ln>
            </p:spPr>
          </p:sp>
          <p:sp>
            <p:nvSpPr>
              <p:cNvPr id="126" name="Ellipse 126"/>
              <p:cNvSpPr/>
              <p:nvPr/>
            </p:nvSpPr>
            <p:spPr>
              <a:xfrm>
                <a:off x="9772650" y="3076575"/>
                <a:ext cx="457200" cy="457200"/>
              </a:xfrm>
              <a:prstGeom prst="ellipse">
                <a:avLst/>
              </a:prstGeom>
              <a:solidFill>
                <a:srgbClr val="FFFFFF"/>
              </a:solidFill>
              <a:ln w="19050">
                <a:solidFill>
                  <a:srgbClr val="E8C0B7"/>
                </a:solidFill>
              </a:ln>
            </p:spPr>
          </p:sp>
          <p:grpSp>
            <p:nvGrpSpPr>
              <p:cNvPr id="130" name="Group 130"/>
              <p:cNvGrpSpPr/>
              <p:nvPr/>
            </p:nvGrpSpPr>
            <p:grpSpPr>
              <a:xfrm>
                <a:off x="9931400" y="3226594"/>
                <a:ext cx="139700" cy="157162"/>
                <a:chOff x="9931400" y="3226594"/>
                <a:chExt cx="139700" cy="157162"/>
              </a:xfrm>
            </p:grpSpPr>
            <p:sp>
              <p:nvSpPr>
                <p:cNvPr id="127" name="Freeform 127"/>
                <p:cNvSpPr/>
                <p:nvPr/>
              </p:nvSpPr>
              <p:spPr>
                <a:xfrm>
                  <a:off x="9931400" y="32265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B03A1F"/>
                  </a:solidFill>
                </a:ln>
              </p:spPr>
            </p:sp>
            <p:sp>
              <p:nvSpPr>
                <p:cNvPr id="128" name="Freeform 128"/>
                <p:cNvSpPr/>
                <p:nvPr/>
              </p:nvSpPr>
              <p:spPr>
                <a:xfrm>
                  <a:off x="9931400" y="32527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B03A1F"/>
                  </a:solidFill>
                </a:ln>
              </p:spPr>
            </p:sp>
            <p:sp>
              <p:nvSpPr>
                <p:cNvPr id="129" name="Freeform 129"/>
                <p:cNvSpPr/>
                <p:nvPr/>
              </p:nvSpPr>
              <p:spPr>
                <a:xfrm>
                  <a:off x="9931400" y="33051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B03A1F"/>
                  </a:solidFill>
                </a:ln>
              </p:spPr>
            </p:sp>
          </p:grpSp>
          <p:sp>
            <p:nvSpPr>
              <p:cNvPr id="131" name="TextBox 131"/>
              <p:cNvSpPr txBox="1"/>
              <p:nvPr/>
            </p:nvSpPr>
            <p:spPr>
              <a:xfrm>
                <a:off x="9794558" y="36718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资产沉淀</a:t>
                </a:r>
              </a:p>
            </p:txBody>
          </p:sp>
        </p:grpSp>
      </p:grpSp>
      <p:grpSp>
        <p:nvGrpSpPr>
          <p:cNvPr id="227" name="raci"/>
          <p:cNvGrpSpPr/>
          <p:nvPr/>
        </p:nvGrpSpPr>
        <p:grpSpPr>
          <a:xfrm>
            <a:off x="190500" y="4076700"/>
            <a:ext cx="9334500" cy="2457450"/>
            <a:chOff x="190500" y="4076700"/>
            <a:chExt cx="9334500" cy="2457450"/>
          </a:xfrm>
        </p:grpSpPr>
        <p:sp>
          <p:nvSpPr>
            <p:cNvPr id="134" name="Rectangle 134"/>
            <p:cNvSpPr/>
            <p:nvPr/>
          </p:nvSpPr>
          <p:spPr>
            <a:xfrm>
              <a:off x="190500" y="4076700"/>
              <a:ext cx="9334500" cy="361950"/>
            </a:xfrm>
            <a:prstGeom prst="rect">
              <a:avLst/>
            </a:prstGeom>
            <a:solidFill>
              <a:srgbClr val="B03A1F"/>
            </a:solidFill>
            <a:ln>
              <a:noFill/>
            </a:ln>
          </p:spPr>
        </p:sp>
        <p:sp>
          <p:nvSpPr>
            <p:cNvPr id="135" name="TextBox 135"/>
            <p:cNvSpPr txBox="1"/>
            <p:nvPr/>
          </p:nvSpPr>
          <p:spPr>
            <a:xfrm>
              <a:off x="837514" y="420957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关键协同事项</a:t>
              </a:r>
            </a:p>
          </p:txBody>
        </p:sp>
        <p:sp>
          <p:nvSpPr>
            <p:cNvPr id="136" name="TextBox 136"/>
            <p:cNvSpPr txBox="1"/>
            <p:nvPr/>
          </p:nvSpPr>
          <p:spPr>
            <a:xfrm>
              <a:off x="2879280" y="4213622"/>
              <a:ext cx="6422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公司业务部</a:t>
              </a:r>
            </a:p>
          </p:txBody>
        </p:sp>
        <p:sp>
          <p:nvSpPr>
            <p:cNvPr id="137" name="TextBox 137"/>
            <p:cNvSpPr txBox="1"/>
            <p:nvPr/>
          </p:nvSpPr>
          <p:spPr>
            <a:xfrm>
              <a:off x="4510773" y="4213622"/>
              <a:ext cx="38915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零售部</a:t>
              </a:r>
            </a:p>
          </p:txBody>
        </p:sp>
        <p:sp>
          <p:nvSpPr>
            <p:cNvPr id="138" name="TextBox 138"/>
            <p:cNvSpPr txBox="1"/>
            <p:nvPr/>
          </p:nvSpPr>
          <p:spPr>
            <a:xfrm>
              <a:off x="6078995" y="421362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网点</a:t>
              </a:r>
            </a:p>
          </p:txBody>
        </p:sp>
        <p:sp>
          <p:nvSpPr>
            <p:cNvPr id="139" name="TextBox 139"/>
            <p:cNvSpPr txBox="1"/>
            <p:nvPr/>
          </p:nvSpPr>
          <p:spPr>
            <a:xfrm>
              <a:off x="7457402" y="42136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数字金融</a:t>
              </a:r>
            </a:p>
          </p:txBody>
        </p:sp>
        <p:sp>
          <p:nvSpPr>
            <p:cNvPr id="140" name="TextBox 140"/>
            <p:cNvSpPr txBox="1"/>
            <p:nvPr/>
          </p:nvSpPr>
          <p:spPr>
            <a:xfrm>
              <a:off x="8581352" y="42136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风险合规</a:t>
              </a:r>
            </a:p>
          </p:txBody>
        </p:sp>
        <p:grpSp>
          <p:nvGrpSpPr>
            <p:cNvPr id="158" name="raci-row-1"/>
            <p:cNvGrpSpPr/>
            <p:nvPr/>
          </p:nvGrpSpPr>
          <p:grpSpPr>
            <a:xfrm>
              <a:off x="190500" y="4438650"/>
              <a:ext cx="9334500" cy="419100"/>
              <a:chOff x="190500" y="4438650"/>
              <a:chExt cx="9334500" cy="419100"/>
            </a:xfrm>
          </p:grpSpPr>
          <p:sp>
            <p:nvSpPr>
              <p:cNvPr id="141" name="Rectangle 141"/>
              <p:cNvSpPr/>
              <p:nvPr/>
            </p:nvSpPr>
            <p:spPr>
              <a:xfrm>
                <a:off x="190500" y="4438650"/>
                <a:ext cx="9334500" cy="419100"/>
              </a:xfrm>
              <a:prstGeom prst="rect">
                <a:avLst/>
              </a:prstGeom>
              <a:solidFill>
                <a:srgbClr val="FFFFFF"/>
              </a:solidFill>
              <a:ln w="9525">
                <a:solidFill>
                  <a:srgbClr val="E8E4E0"/>
                </a:solidFill>
              </a:ln>
            </p:spPr>
          </p:sp>
          <p:grpSp>
            <p:nvGrpSpPr>
              <p:cNvPr id="146" name="Group 146"/>
              <p:cNvGrpSpPr/>
              <p:nvPr/>
            </p:nvGrpSpPr>
            <p:grpSpPr>
              <a:xfrm>
                <a:off x="345281" y="4574381"/>
                <a:ext cx="128588" cy="128588"/>
                <a:chOff x="345281" y="4574381"/>
                <a:chExt cx="128588" cy="128588"/>
              </a:xfrm>
            </p:grpSpPr>
            <p:sp>
              <p:nvSpPr>
                <p:cNvPr id="142" name="Freeform 142"/>
                <p:cNvSpPr/>
                <p:nvPr/>
              </p:nvSpPr>
              <p:spPr>
                <a:xfrm>
                  <a:off x="359569" y="45743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B03A1F"/>
                  </a:solidFill>
                </a:ln>
              </p:spPr>
            </p:sp>
            <p:sp>
              <p:nvSpPr>
                <p:cNvPr id="143" name="Freeform 143"/>
                <p:cNvSpPr/>
                <p:nvPr/>
              </p:nvSpPr>
              <p:spPr>
                <a:xfrm>
                  <a:off x="345281" y="46601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B03A1F"/>
                  </a:solidFill>
                </a:ln>
              </p:spPr>
            </p:sp>
            <p:sp>
              <p:nvSpPr>
                <p:cNvPr id="144" name="Freeform 144"/>
                <p:cNvSpPr/>
                <p:nvPr/>
              </p:nvSpPr>
              <p:spPr>
                <a:xfrm>
                  <a:off x="438150" y="45753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B03A1F"/>
                  </a:solidFill>
                </a:ln>
              </p:spPr>
            </p:sp>
            <p:sp>
              <p:nvSpPr>
                <p:cNvPr id="145" name="Freeform 145"/>
                <p:cNvSpPr/>
                <p:nvPr/>
              </p:nvSpPr>
              <p:spPr>
                <a:xfrm>
                  <a:off x="452438" y="466117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B03A1F"/>
                  </a:solidFill>
                </a:ln>
              </p:spPr>
            </p:sp>
          </p:grpSp>
          <p:sp>
            <p:nvSpPr>
              <p:cNvPr id="147" name="TextBox 147"/>
              <p:cNvSpPr txBox="1"/>
              <p:nvPr/>
            </p:nvSpPr>
            <p:spPr>
              <a:xfrm>
                <a:off x="566738" y="4606766"/>
                <a:ext cx="1003021" cy="161925"/>
              </a:xfrm>
              <a:prstGeom prst="rect">
                <a:avLst/>
              </a:prstGeom>
              <a:noFill/>
              <a:ln>
                <a:noFill/>
              </a:ln>
            </p:spPr>
            <p:txBody>
              <a:bodyPr wrap="none" lIns="0" tIns="0" rIns="0" bIns="0" anchor="t" anchorCtr="0">
                <a:spAutoFit/>
              </a:bodyPr>
              <a:lstStyle/>
              <a:p>
                <a:pPr algn="l"/>
                <a:r>
                  <a:rPr lang="zh-CN" sz="820" dirty="0">
                    <a:solidFill>
                      <a:srgbClr val="1A1A1A"/>
                    </a:solidFill>
                    <a:latin typeface="+mn-lt"/>
                    <a:ea typeface="+mn-ea"/>
                    <a:cs typeface="+mn-cs"/>
                  </a:rPr>
                  <a:t>客群共拓与资源共享</a:t>
                </a:r>
              </a:p>
            </p:txBody>
          </p:sp>
          <p:sp>
            <p:nvSpPr>
              <p:cNvPr id="148" name="Ellipse 148"/>
              <p:cNvSpPr/>
              <p:nvPr/>
            </p:nvSpPr>
            <p:spPr>
              <a:xfrm>
                <a:off x="3076575" y="4524375"/>
                <a:ext cx="247650" cy="247650"/>
              </a:xfrm>
              <a:prstGeom prst="ellipse">
                <a:avLst/>
              </a:prstGeom>
              <a:solidFill>
                <a:srgbClr val="B03A1F"/>
              </a:solidFill>
              <a:ln>
                <a:noFill/>
              </a:ln>
            </p:spPr>
          </p:sp>
          <p:sp>
            <p:nvSpPr>
              <p:cNvPr id="149" name="TextBox 149"/>
              <p:cNvSpPr txBox="1"/>
              <p:nvPr/>
            </p:nvSpPr>
            <p:spPr>
              <a:xfrm>
                <a:off x="3161959" y="46067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R</a:t>
                </a:r>
              </a:p>
            </p:txBody>
          </p:sp>
          <p:sp>
            <p:nvSpPr>
              <p:cNvPr id="150" name="Ellipse 150"/>
              <p:cNvSpPr/>
              <p:nvPr/>
            </p:nvSpPr>
            <p:spPr>
              <a:xfrm>
                <a:off x="4581525" y="4524375"/>
                <a:ext cx="247650" cy="247650"/>
              </a:xfrm>
              <a:prstGeom prst="ellipse">
                <a:avLst/>
              </a:prstGeom>
              <a:solidFill>
                <a:srgbClr val="B03A1F"/>
              </a:solidFill>
              <a:ln>
                <a:noFill/>
              </a:ln>
            </p:spPr>
          </p:sp>
          <p:sp>
            <p:nvSpPr>
              <p:cNvPr id="151" name="TextBox 151"/>
              <p:cNvSpPr txBox="1"/>
              <p:nvPr/>
            </p:nvSpPr>
            <p:spPr>
              <a:xfrm>
                <a:off x="4666909" y="46067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A</a:t>
                </a:r>
              </a:p>
            </p:txBody>
          </p:sp>
          <p:sp>
            <p:nvSpPr>
              <p:cNvPr id="152" name="Ellipse 152"/>
              <p:cNvSpPr/>
              <p:nvPr/>
            </p:nvSpPr>
            <p:spPr>
              <a:xfrm>
                <a:off x="6086475" y="4524375"/>
                <a:ext cx="247650" cy="247650"/>
              </a:xfrm>
              <a:prstGeom prst="ellipse">
                <a:avLst/>
              </a:prstGeom>
              <a:solidFill>
                <a:srgbClr val="D8D4D0"/>
              </a:solidFill>
              <a:ln>
                <a:noFill/>
              </a:ln>
            </p:spPr>
          </p:sp>
          <p:sp>
            <p:nvSpPr>
              <p:cNvPr id="153" name="TextBox 153"/>
              <p:cNvSpPr txBox="1"/>
              <p:nvPr/>
            </p:nvSpPr>
            <p:spPr>
              <a:xfrm>
                <a:off x="6173462" y="46067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154" name="Ellipse 154"/>
              <p:cNvSpPr/>
              <p:nvPr/>
            </p:nvSpPr>
            <p:spPr>
              <a:xfrm>
                <a:off x="7591425" y="4524375"/>
                <a:ext cx="247650" cy="247650"/>
              </a:xfrm>
              <a:prstGeom prst="ellipse">
                <a:avLst/>
              </a:prstGeom>
              <a:solidFill>
                <a:srgbClr val="D8D4D0"/>
              </a:solidFill>
              <a:ln>
                <a:noFill/>
              </a:ln>
            </p:spPr>
          </p:sp>
          <p:sp>
            <p:nvSpPr>
              <p:cNvPr id="155" name="TextBox 155"/>
              <p:cNvSpPr txBox="1"/>
              <p:nvPr/>
            </p:nvSpPr>
            <p:spPr>
              <a:xfrm>
                <a:off x="7678412" y="46067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156" name="Ellipse 156"/>
              <p:cNvSpPr/>
              <p:nvPr/>
            </p:nvSpPr>
            <p:spPr>
              <a:xfrm>
                <a:off x="8715375" y="4524375"/>
                <a:ext cx="247650" cy="247650"/>
              </a:xfrm>
              <a:prstGeom prst="ellipse">
                <a:avLst/>
              </a:prstGeom>
              <a:solidFill>
                <a:srgbClr val="D8D4D0"/>
              </a:solidFill>
              <a:ln>
                <a:noFill/>
              </a:ln>
            </p:spPr>
          </p:sp>
          <p:sp>
            <p:nvSpPr>
              <p:cNvPr id="157" name="TextBox 157"/>
              <p:cNvSpPr txBox="1"/>
              <p:nvPr/>
            </p:nvSpPr>
            <p:spPr>
              <a:xfrm>
                <a:off x="8816942" y="4606766"/>
                <a:ext cx="44516"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I</a:t>
                </a:r>
              </a:p>
            </p:txBody>
          </p:sp>
        </p:grpSp>
        <p:grpSp>
          <p:nvGrpSpPr>
            <p:cNvPr id="175" name="raci-row-2"/>
            <p:cNvGrpSpPr/>
            <p:nvPr/>
          </p:nvGrpSpPr>
          <p:grpSpPr>
            <a:xfrm>
              <a:off x="190500" y="4857750"/>
              <a:ext cx="9334500" cy="419100"/>
              <a:chOff x="190500" y="4857750"/>
              <a:chExt cx="9334500" cy="419100"/>
            </a:xfrm>
          </p:grpSpPr>
          <p:sp>
            <p:nvSpPr>
              <p:cNvPr id="159" name="Rectangle 159"/>
              <p:cNvSpPr/>
              <p:nvPr/>
            </p:nvSpPr>
            <p:spPr>
              <a:xfrm>
                <a:off x="190500" y="4857750"/>
                <a:ext cx="9334500" cy="419100"/>
              </a:xfrm>
              <a:prstGeom prst="rect">
                <a:avLst/>
              </a:prstGeom>
              <a:solidFill>
                <a:srgbClr val="F9F7F5"/>
              </a:solidFill>
              <a:ln w="9525">
                <a:solidFill>
                  <a:srgbClr val="E8E4E0"/>
                </a:solidFill>
              </a:ln>
            </p:spPr>
          </p:sp>
          <p:grpSp>
            <p:nvGrpSpPr>
              <p:cNvPr id="163" name="Group 163"/>
              <p:cNvGrpSpPr/>
              <p:nvPr/>
            </p:nvGrpSpPr>
            <p:grpSpPr>
              <a:xfrm>
                <a:off x="352425" y="5000625"/>
                <a:ext cx="114300" cy="114300"/>
                <a:chOff x="352425" y="5000625"/>
                <a:chExt cx="114300" cy="114300"/>
              </a:xfrm>
            </p:grpSpPr>
            <p:sp>
              <p:nvSpPr>
                <p:cNvPr id="160" name="Freeform 160"/>
                <p:cNvSpPr/>
                <p:nvPr/>
              </p:nvSpPr>
              <p:spPr>
                <a:xfrm>
                  <a:off x="352425" y="5000625"/>
                  <a:ext cx="114300" cy="57150"/>
                </a:xfrm>
                <a:custGeom>
                  <a:avLst/>
                  <a:gdLst/>
                  <a:ahLst/>
                  <a:cxnLst/>
                  <a:rect l="l" t="t" r="r" b="b"/>
                  <a:pathLst>
                    <a:path w="114300" h="57150">
                      <a:moveTo>
                        <a:pt x="57150" y="0"/>
                      </a:moveTo>
                      <a:lnTo>
                        <a:pt x="0" y="28575"/>
                      </a:lnTo>
                      <a:lnTo>
                        <a:pt x="57150" y="57150"/>
                      </a:lnTo>
                      <a:lnTo>
                        <a:pt x="114300" y="28575"/>
                      </a:lnTo>
                      <a:lnTo>
                        <a:pt x="57150" y="0"/>
                      </a:lnTo>
                    </a:path>
                  </a:pathLst>
                </a:custGeom>
                <a:noFill/>
                <a:ln w="14288">
                  <a:solidFill>
                    <a:srgbClr val="B03A1F"/>
                  </a:solidFill>
                </a:ln>
              </p:spPr>
            </p:sp>
            <p:sp>
              <p:nvSpPr>
                <p:cNvPr id="161" name="Freeform 161"/>
                <p:cNvSpPr/>
                <p:nvPr/>
              </p:nvSpPr>
              <p:spPr>
                <a:xfrm>
                  <a:off x="352425" y="5057775"/>
                  <a:ext cx="114300" cy="28575"/>
                </a:xfrm>
                <a:custGeom>
                  <a:avLst/>
                  <a:gdLst/>
                  <a:ahLst/>
                  <a:cxnLst/>
                  <a:rect l="l" t="t" r="r" b="b"/>
                  <a:pathLst>
                    <a:path w="114300" h="28575">
                      <a:moveTo>
                        <a:pt x="0" y="0"/>
                      </a:moveTo>
                      <a:lnTo>
                        <a:pt x="57150" y="28575"/>
                      </a:lnTo>
                      <a:lnTo>
                        <a:pt x="114300" y="0"/>
                      </a:lnTo>
                    </a:path>
                  </a:pathLst>
                </a:custGeom>
                <a:noFill/>
                <a:ln w="14288">
                  <a:solidFill>
                    <a:srgbClr val="B03A1F"/>
                  </a:solidFill>
                </a:ln>
              </p:spPr>
            </p:sp>
            <p:sp>
              <p:nvSpPr>
                <p:cNvPr id="162" name="Freeform 162"/>
                <p:cNvSpPr/>
                <p:nvPr/>
              </p:nvSpPr>
              <p:spPr>
                <a:xfrm>
                  <a:off x="352425" y="5086350"/>
                  <a:ext cx="114300" cy="28575"/>
                </a:xfrm>
                <a:custGeom>
                  <a:avLst/>
                  <a:gdLst/>
                  <a:ahLst/>
                  <a:cxnLst/>
                  <a:rect l="l" t="t" r="r" b="b"/>
                  <a:pathLst>
                    <a:path w="114300" h="28575">
                      <a:moveTo>
                        <a:pt x="0" y="0"/>
                      </a:moveTo>
                      <a:lnTo>
                        <a:pt x="57150" y="28575"/>
                      </a:lnTo>
                      <a:lnTo>
                        <a:pt x="114300" y="0"/>
                      </a:lnTo>
                    </a:path>
                  </a:pathLst>
                </a:custGeom>
                <a:noFill/>
                <a:ln w="14288">
                  <a:solidFill>
                    <a:srgbClr val="B03A1F"/>
                  </a:solidFill>
                </a:ln>
              </p:spPr>
            </p:sp>
          </p:grpSp>
          <p:sp>
            <p:nvSpPr>
              <p:cNvPr id="164" name="TextBox 164"/>
              <p:cNvSpPr txBox="1"/>
              <p:nvPr/>
            </p:nvSpPr>
            <p:spPr>
              <a:xfrm>
                <a:off x="566738" y="5025866"/>
                <a:ext cx="1003021" cy="161925"/>
              </a:xfrm>
              <a:prstGeom prst="rect">
                <a:avLst/>
              </a:prstGeom>
              <a:noFill/>
              <a:ln>
                <a:noFill/>
              </a:ln>
            </p:spPr>
            <p:txBody>
              <a:bodyPr wrap="none" lIns="0" tIns="0" rIns="0" bIns="0" anchor="t" anchorCtr="0">
                <a:spAutoFit/>
              </a:bodyPr>
              <a:lstStyle/>
              <a:p>
                <a:pPr algn="l"/>
                <a:r>
                  <a:rPr lang="zh-CN" sz="820" dirty="0">
                    <a:solidFill>
                      <a:srgbClr val="1A1A1A"/>
                    </a:solidFill>
                    <a:latin typeface="+mn-lt"/>
                    <a:ea typeface="+mn-ea"/>
                    <a:cs typeface="+mn-cs"/>
                  </a:rPr>
                  <a:t>产品联合设计与运营</a:t>
                </a:r>
              </a:p>
            </p:txBody>
          </p:sp>
          <p:sp>
            <p:nvSpPr>
              <p:cNvPr id="165" name="Ellipse 165"/>
              <p:cNvSpPr/>
              <p:nvPr/>
            </p:nvSpPr>
            <p:spPr>
              <a:xfrm>
                <a:off x="3076575" y="4943475"/>
                <a:ext cx="247650" cy="247650"/>
              </a:xfrm>
              <a:prstGeom prst="ellipse">
                <a:avLst/>
              </a:prstGeom>
              <a:solidFill>
                <a:srgbClr val="D8D4D0"/>
              </a:solidFill>
              <a:ln>
                <a:noFill/>
              </a:ln>
            </p:spPr>
          </p:sp>
          <p:sp>
            <p:nvSpPr>
              <p:cNvPr id="166" name="TextBox 166"/>
              <p:cNvSpPr txBox="1"/>
              <p:nvPr/>
            </p:nvSpPr>
            <p:spPr>
              <a:xfrm>
                <a:off x="3163562" y="50258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167" name="Ellipse 167"/>
              <p:cNvSpPr/>
              <p:nvPr/>
            </p:nvSpPr>
            <p:spPr>
              <a:xfrm>
                <a:off x="4581525" y="4943475"/>
                <a:ext cx="247650" cy="247650"/>
              </a:xfrm>
              <a:prstGeom prst="ellipse">
                <a:avLst/>
              </a:prstGeom>
              <a:solidFill>
                <a:srgbClr val="B03A1F"/>
              </a:solidFill>
              <a:ln>
                <a:noFill/>
              </a:ln>
            </p:spPr>
          </p:sp>
          <p:sp>
            <p:nvSpPr>
              <p:cNvPr id="168" name="TextBox 168"/>
              <p:cNvSpPr txBox="1"/>
              <p:nvPr/>
            </p:nvSpPr>
            <p:spPr>
              <a:xfrm>
                <a:off x="4666909" y="50258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R</a:t>
                </a:r>
              </a:p>
            </p:txBody>
          </p:sp>
          <p:sp>
            <p:nvSpPr>
              <p:cNvPr id="169" name="Ellipse 169"/>
              <p:cNvSpPr/>
              <p:nvPr/>
            </p:nvSpPr>
            <p:spPr>
              <a:xfrm>
                <a:off x="6086475" y="4943475"/>
                <a:ext cx="247650" cy="247650"/>
              </a:xfrm>
              <a:prstGeom prst="ellipse">
                <a:avLst/>
              </a:prstGeom>
              <a:solidFill>
                <a:srgbClr val="D8D4D0"/>
              </a:solidFill>
              <a:ln>
                <a:noFill/>
              </a:ln>
            </p:spPr>
          </p:sp>
          <p:sp>
            <p:nvSpPr>
              <p:cNvPr id="170" name="TextBox 170"/>
              <p:cNvSpPr txBox="1"/>
              <p:nvPr/>
            </p:nvSpPr>
            <p:spPr>
              <a:xfrm>
                <a:off x="6173462" y="50258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171" name="Ellipse 171"/>
              <p:cNvSpPr/>
              <p:nvPr/>
            </p:nvSpPr>
            <p:spPr>
              <a:xfrm>
                <a:off x="7591425" y="4943475"/>
                <a:ext cx="247650" cy="247650"/>
              </a:xfrm>
              <a:prstGeom prst="ellipse">
                <a:avLst/>
              </a:prstGeom>
              <a:solidFill>
                <a:srgbClr val="B03A1F"/>
              </a:solidFill>
              <a:ln>
                <a:noFill/>
              </a:ln>
            </p:spPr>
          </p:sp>
          <p:sp>
            <p:nvSpPr>
              <p:cNvPr id="172" name="TextBox 172"/>
              <p:cNvSpPr txBox="1"/>
              <p:nvPr/>
            </p:nvSpPr>
            <p:spPr>
              <a:xfrm>
                <a:off x="7676809" y="50258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A</a:t>
                </a:r>
              </a:p>
            </p:txBody>
          </p:sp>
          <p:sp>
            <p:nvSpPr>
              <p:cNvPr id="173" name="Ellipse 173"/>
              <p:cNvSpPr/>
              <p:nvPr/>
            </p:nvSpPr>
            <p:spPr>
              <a:xfrm>
                <a:off x="8715375" y="4943475"/>
                <a:ext cx="247650" cy="247650"/>
              </a:xfrm>
              <a:prstGeom prst="ellipse">
                <a:avLst/>
              </a:prstGeom>
              <a:solidFill>
                <a:srgbClr val="D8D4D0"/>
              </a:solidFill>
              <a:ln>
                <a:noFill/>
              </a:ln>
            </p:spPr>
          </p:sp>
          <p:sp>
            <p:nvSpPr>
              <p:cNvPr id="174" name="TextBox 174"/>
              <p:cNvSpPr txBox="1"/>
              <p:nvPr/>
            </p:nvSpPr>
            <p:spPr>
              <a:xfrm>
                <a:off x="8802362" y="50258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grpSp>
        <p:grpSp>
          <p:nvGrpSpPr>
            <p:cNvPr id="192" name="raci-row-3"/>
            <p:cNvGrpSpPr/>
            <p:nvPr/>
          </p:nvGrpSpPr>
          <p:grpSpPr>
            <a:xfrm>
              <a:off x="190500" y="5276850"/>
              <a:ext cx="9334500" cy="419100"/>
              <a:chOff x="190500" y="5276850"/>
              <a:chExt cx="9334500" cy="419100"/>
            </a:xfrm>
          </p:grpSpPr>
          <p:sp>
            <p:nvSpPr>
              <p:cNvPr id="176" name="Rectangle 176"/>
              <p:cNvSpPr/>
              <p:nvPr/>
            </p:nvSpPr>
            <p:spPr>
              <a:xfrm>
                <a:off x="190500" y="5276850"/>
                <a:ext cx="9334500" cy="419100"/>
              </a:xfrm>
              <a:prstGeom prst="rect">
                <a:avLst/>
              </a:prstGeom>
              <a:solidFill>
                <a:srgbClr val="FFFFFF"/>
              </a:solidFill>
              <a:ln w="9525">
                <a:solidFill>
                  <a:srgbClr val="E8E4E0"/>
                </a:solidFill>
              </a:ln>
            </p:spPr>
          </p:sp>
          <p:grpSp>
            <p:nvGrpSpPr>
              <p:cNvPr id="180" name="Group 180"/>
              <p:cNvGrpSpPr/>
              <p:nvPr/>
            </p:nvGrpSpPr>
            <p:grpSpPr>
              <a:xfrm>
                <a:off x="359569" y="5412581"/>
                <a:ext cx="100012" cy="128588"/>
                <a:chOff x="359569" y="5412581"/>
                <a:chExt cx="100012" cy="128588"/>
              </a:xfrm>
            </p:grpSpPr>
            <p:sp>
              <p:nvSpPr>
                <p:cNvPr id="177" name="Freeform 177"/>
                <p:cNvSpPr/>
                <p:nvPr/>
              </p:nvSpPr>
              <p:spPr>
                <a:xfrm>
                  <a:off x="359569" y="5455444"/>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B03A1F"/>
                  </a:solidFill>
                </a:ln>
              </p:spPr>
            </p:sp>
            <p:sp>
              <p:nvSpPr>
                <p:cNvPr id="178" name="Freeform 178"/>
                <p:cNvSpPr/>
                <p:nvPr/>
              </p:nvSpPr>
              <p:spPr>
                <a:xfrm>
                  <a:off x="409575" y="5412581"/>
                  <a:ext cx="9525" cy="78581"/>
                </a:xfrm>
                <a:custGeom>
                  <a:avLst/>
                  <a:gdLst/>
                  <a:ahLst/>
                  <a:cxnLst/>
                  <a:rect l="l" t="t" r="r" b="b"/>
                  <a:pathLst>
                    <a:path w="9525" h="78581">
                      <a:moveTo>
                        <a:pt x="0" y="78581"/>
                      </a:moveTo>
                      <a:lnTo>
                        <a:pt x="0" y="0"/>
                      </a:lnTo>
                    </a:path>
                  </a:pathLst>
                </a:custGeom>
                <a:noFill/>
                <a:ln w="14288">
                  <a:solidFill>
                    <a:srgbClr val="B03A1F"/>
                  </a:solidFill>
                </a:ln>
              </p:spPr>
            </p:sp>
            <p:sp>
              <p:nvSpPr>
                <p:cNvPr id="179" name="Freeform 179"/>
                <p:cNvSpPr/>
                <p:nvPr/>
              </p:nvSpPr>
              <p:spPr>
                <a:xfrm>
                  <a:off x="388144" y="5412581"/>
                  <a:ext cx="42862" cy="21431"/>
                </a:xfrm>
                <a:custGeom>
                  <a:avLst/>
                  <a:gdLst/>
                  <a:ahLst/>
                  <a:cxnLst/>
                  <a:rect l="l" t="t" r="r" b="b"/>
                  <a:pathLst>
                    <a:path w="42862" h="21431">
                      <a:moveTo>
                        <a:pt x="0" y="21431"/>
                      </a:moveTo>
                      <a:lnTo>
                        <a:pt x="21431" y="0"/>
                      </a:lnTo>
                      <a:lnTo>
                        <a:pt x="42862" y="21431"/>
                      </a:lnTo>
                    </a:path>
                  </a:pathLst>
                </a:custGeom>
                <a:noFill/>
                <a:ln w="14288">
                  <a:solidFill>
                    <a:srgbClr val="B03A1F"/>
                  </a:solidFill>
                </a:ln>
              </p:spPr>
            </p:sp>
          </p:grpSp>
          <p:sp>
            <p:nvSpPr>
              <p:cNvPr id="181" name="TextBox 181"/>
              <p:cNvSpPr txBox="1"/>
              <p:nvPr/>
            </p:nvSpPr>
            <p:spPr>
              <a:xfrm>
                <a:off x="566738" y="5444966"/>
                <a:ext cx="1003021" cy="161925"/>
              </a:xfrm>
              <a:prstGeom prst="rect">
                <a:avLst/>
              </a:prstGeom>
              <a:noFill/>
              <a:ln>
                <a:noFill/>
              </a:ln>
            </p:spPr>
            <p:txBody>
              <a:bodyPr wrap="none" lIns="0" tIns="0" rIns="0" bIns="0" anchor="t" anchorCtr="0">
                <a:spAutoFit/>
              </a:bodyPr>
              <a:lstStyle/>
              <a:p>
                <a:pPr algn="l"/>
                <a:r>
                  <a:rPr lang="zh-CN" sz="820" dirty="0">
                    <a:solidFill>
                      <a:srgbClr val="1A1A1A"/>
                    </a:solidFill>
                    <a:latin typeface="+mn-lt"/>
                    <a:ea typeface="+mn-ea"/>
                    <a:cs typeface="+mn-cs"/>
                  </a:rPr>
                  <a:t>渠道整合与体验提升</a:t>
                </a:r>
              </a:p>
            </p:txBody>
          </p:sp>
          <p:sp>
            <p:nvSpPr>
              <p:cNvPr id="182" name="Ellipse 182"/>
              <p:cNvSpPr/>
              <p:nvPr/>
            </p:nvSpPr>
            <p:spPr>
              <a:xfrm>
                <a:off x="3076575" y="5362575"/>
                <a:ext cx="247650" cy="247650"/>
              </a:xfrm>
              <a:prstGeom prst="ellipse">
                <a:avLst/>
              </a:prstGeom>
              <a:solidFill>
                <a:srgbClr val="D8D4D0"/>
              </a:solidFill>
              <a:ln>
                <a:noFill/>
              </a:ln>
            </p:spPr>
          </p:sp>
          <p:sp>
            <p:nvSpPr>
              <p:cNvPr id="183" name="TextBox 183"/>
              <p:cNvSpPr txBox="1"/>
              <p:nvPr/>
            </p:nvSpPr>
            <p:spPr>
              <a:xfrm>
                <a:off x="3163562" y="54449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184" name="Ellipse 184"/>
              <p:cNvSpPr/>
              <p:nvPr/>
            </p:nvSpPr>
            <p:spPr>
              <a:xfrm>
                <a:off x="4581525" y="5362575"/>
                <a:ext cx="247650" cy="247650"/>
              </a:xfrm>
              <a:prstGeom prst="ellipse">
                <a:avLst/>
              </a:prstGeom>
              <a:solidFill>
                <a:srgbClr val="B03A1F"/>
              </a:solidFill>
              <a:ln>
                <a:noFill/>
              </a:ln>
            </p:spPr>
          </p:sp>
          <p:sp>
            <p:nvSpPr>
              <p:cNvPr id="185" name="TextBox 185"/>
              <p:cNvSpPr txBox="1"/>
              <p:nvPr/>
            </p:nvSpPr>
            <p:spPr>
              <a:xfrm>
                <a:off x="4666909" y="54449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R</a:t>
                </a:r>
              </a:p>
            </p:txBody>
          </p:sp>
          <p:sp>
            <p:nvSpPr>
              <p:cNvPr id="186" name="Ellipse 186"/>
              <p:cNvSpPr/>
              <p:nvPr/>
            </p:nvSpPr>
            <p:spPr>
              <a:xfrm>
                <a:off x="6086475" y="5362575"/>
                <a:ext cx="247650" cy="247650"/>
              </a:xfrm>
              <a:prstGeom prst="ellipse">
                <a:avLst/>
              </a:prstGeom>
              <a:solidFill>
                <a:srgbClr val="B03A1F"/>
              </a:solidFill>
              <a:ln>
                <a:noFill/>
              </a:ln>
            </p:spPr>
          </p:sp>
          <p:sp>
            <p:nvSpPr>
              <p:cNvPr id="187" name="TextBox 187"/>
              <p:cNvSpPr txBox="1"/>
              <p:nvPr/>
            </p:nvSpPr>
            <p:spPr>
              <a:xfrm>
                <a:off x="6171859" y="54449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A</a:t>
                </a:r>
              </a:p>
            </p:txBody>
          </p:sp>
          <p:sp>
            <p:nvSpPr>
              <p:cNvPr id="188" name="Ellipse 188"/>
              <p:cNvSpPr/>
              <p:nvPr/>
            </p:nvSpPr>
            <p:spPr>
              <a:xfrm>
                <a:off x="7591425" y="5362575"/>
                <a:ext cx="247650" cy="247650"/>
              </a:xfrm>
              <a:prstGeom prst="ellipse">
                <a:avLst/>
              </a:prstGeom>
              <a:solidFill>
                <a:srgbClr val="B03A1F"/>
              </a:solidFill>
              <a:ln>
                <a:noFill/>
              </a:ln>
            </p:spPr>
          </p:sp>
          <p:sp>
            <p:nvSpPr>
              <p:cNvPr id="189" name="TextBox 189"/>
              <p:cNvSpPr txBox="1"/>
              <p:nvPr/>
            </p:nvSpPr>
            <p:spPr>
              <a:xfrm>
                <a:off x="7676809" y="54449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R</a:t>
                </a:r>
              </a:p>
            </p:txBody>
          </p:sp>
          <p:sp>
            <p:nvSpPr>
              <p:cNvPr id="190" name="Ellipse 190"/>
              <p:cNvSpPr/>
              <p:nvPr/>
            </p:nvSpPr>
            <p:spPr>
              <a:xfrm>
                <a:off x="8715375" y="5362575"/>
                <a:ext cx="247650" cy="247650"/>
              </a:xfrm>
              <a:prstGeom prst="ellipse">
                <a:avLst/>
              </a:prstGeom>
              <a:solidFill>
                <a:srgbClr val="D8D4D0"/>
              </a:solidFill>
              <a:ln>
                <a:noFill/>
              </a:ln>
            </p:spPr>
          </p:sp>
          <p:sp>
            <p:nvSpPr>
              <p:cNvPr id="191" name="TextBox 191"/>
              <p:cNvSpPr txBox="1"/>
              <p:nvPr/>
            </p:nvSpPr>
            <p:spPr>
              <a:xfrm>
                <a:off x="8816942" y="5444966"/>
                <a:ext cx="44516"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I</a:t>
                </a:r>
              </a:p>
            </p:txBody>
          </p:sp>
        </p:grpSp>
        <p:grpSp>
          <p:nvGrpSpPr>
            <p:cNvPr id="210" name="raci-row-4"/>
            <p:cNvGrpSpPr/>
            <p:nvPr/>
          </p:nvGrpSpPr>
          <p:grpSpPr>
            <a:xfrm>
              <a:off x="190500" y="5695950"/>
              <a:ext cx="9334500" cy="419100"/>
              <a:chOff x="190500" y="5695950"/>
              <a:chExt cx="9334500" cy="419100"/>
            </a:xfrm>
          </p:grpSpPr>
          <p:sp>
            <p:nvSpPr>
              <p:cNvPr id="193" name="Rectangle 193"/>
              <p:cNvSpPr/>
              <p:nvPr/>
            </p:nvSpPr>
            <p:spPr>
              <a:xfrm>
                <a:off x="190500" y="5695950"/>
                <a:ext cx="9334500" cy="419100"/>
              </a:xfrm>
              <a:prstGeom prst="rect">
                <a:avLst/>
              </a:prstGeom>
              <a:solidFill>
                <a:srgbClr val="F9F7F5"/>
              </a:solidFill>
              <a:ln w="9525">
                <a:solidFill>
                  <a:srgbClr val="E8E4E0"/>
                </a:solidFill>
              </a:ln>
            </p:spPr>
          </p:sp>
          <p:grpSp>
            <p:nvGrpSpPr>
              <p:cNvPr id="198" name="Group 198"/>
              <p:cNvGrpSpPr/>
              <p:nvPr/>
            </p:nvGrpSpPr>
            <p:grpSpPr>
              <a:xfrm>
                <a:off x="345281" y="5838825"/>
                <a:ext cx="128587" cy="123825"/>
                <a:chOff x="345281" y="5838825"/>
                <a:chExt cx="128587" cy="123825"/>
              </a:xfrm>
            </p:grpSpPr>
            <p:sp>
              <p:nvSpPr>
                <p:cNvPr id="194" name="Freeform 194"/>
                <p:cNvSpPr/>
                <p:nvPr/>
              </p:nvSpPr>
              <p:spPr>
                <a:xfrm>
                  <a:off x="345281" y="589597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B03A1F"/>
                  </a:solidFill>
                </a:ln>
              </p:spPr>
            </p:sp>
            <p:sp>
              <p:nvSpPr>
                <p:cNvPr id="195" name="Freeform 195"/>
                <p:cNvSpPr/>
                <p:nvPr/>
              </p:nvSpPr>
              <p:spPr>
                <a:xfrm>
                  <a:off x="431006" y="586740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B03A1F"/>
                  </a:solidFill>
                </a:ln>
              </p:spPr>
            </p:sp>
            <p:sp>
              <p:nvSpPr>
                <p:cNvPr id="196" name="Freeform 196"/>
                <p:cNvSpPr/>
                <p:nvPr/>
              </p:nvSpPr>
              <p:spPr>
                <a:xfrm>
                  <a:off x="388144" y="583882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B03A1F"/>
                  </a:solidFill>
                </a:ln>
              </p:spPr>
            </p:sp>
            <p:sp>
              <p:nvSpPr>
                <p:cNvPr id="197" name="Freeform 197"/>
                <p:cNvSpPr/>
                <p:nvPr/>
              </p:nvSpPr>
              <p:spPr>
                <a:xfrm>
                  <a:off x="352425" y="5953125"/>
                  <a:ext cx="100012" cy="9525"/>
                </a:xfrm>
                <a:custGeom>
                  <a:avLst/>
                  <a:gdLst/>
                  <a:ahLst/>
                  <a:cxnLst/>
                  <a:rect l="l" t="t" r="r" b="b"/>
                  <a:pathLst>
                    <a:path w="100012" h="9525">
                      <a:moveTo>
                        <a:pt x="0" y="0"/>
                      </a:moveTo>
                      <a:lnTo>
                        <a:pt x="100012" y="0"/>
                      </a:lnTo>
                    </a:path>
                  </a:pathLst>
                </a:custGeom>
                <a:noFill/>
                <a:ln w="14288">
                  <a:solidFill>
                    <a:srgbClr val="B03A1F"/>
                  </a:solidFill>
                </a:ln>
              </p:spPr>
            </p:sp>
          </p:grpSp>
          <p:sp>
            <p:nvSpPr>
              <p:cNvPr id="199" name="TextBox 199"/>
              <p:cNvSpPr txBox="1"/>
              <p:nvPr/>
            </p:nvSpPr>
            <p:spPr>
              <a:xfrm>
                <a:off x="566738" y="5864066"/>
                <a:ext cx="1003021" cy="161925"/>
              </a:xfrm>
              <a:prstGeom prst="rect">
                <a:avLst/>
              </a:prstGeom>
              <a:noFill/>
              <a:ln>
                <a:noFill/>
              </a:ln>
            </p:spPr>
            <p:txBody>
              <a:bodyPr wrap="none" lIns="0" tIns="0" rIns="0" bIns="0" anchor="t" anchorCtr="0">
                <a:spAutoFit/>
              </a:bodyPr>
              <a:lstStyle/>
              <a:p>
                <a:pPr algn="l"/>
                <a:r>
                  <a:rPr lang="zh-CN" sz="820" dirty="0">
                    <a:solidFill>
                      <a:srgbClr val="1A1A1A"/>
                    </a:solidFill>
                    <a:latin typeface="+mn-lt"/>
                    <a:ea typeface="+mn-ea"/>
                    <a:cs typeface="+mn-cs"/>
                  </a:rPr>
                  <a:t>生态合作与场景共建</a:t>
                </a:r>
              </a:p>
            </p:txBody>
          </p:sp>
          <p:sp>
            <p:nvSpPr>
              <p:cNvPr id="200" name="Ellipse 200"/>
              <p:cNvSpPr/>
              <p:nvPr/>
            </p:nvSpPr>
            <p:spPr>
              <a:xfrm>
                <a:off x="3076575" y="5781675"/>
                <a:ext cx="247650" cy="247650"/>
              </a:xfrm>
              <a:prstGeom prst="ellipse">
                <a:avLst/>
              </a:prstGeom>
              <a:solidFill>
                <a:srgbClr val="B03A1F"/>
              </a:solidFill>
              <a:ln>
                <a:noFill/>
              </a:ln>
            </p:spPr>
          </p:sp>
          <p:sp>
            <p:nvSpPr>
              <p:cNvPr id="201" name="TextBox 201"/>
              <p:cNvSpPr txBox="1"/>
              <p:nvPr/>
            </p:nvSpPr>
            <p:spPr>
              <a:xfrm>
                <a:off x="3161959" y="58640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R</a:t>
                </a:r>
              </a:p>
            </p:txBody>
          </p:sp>
          <p:sp>
            <p:nvSpPr>
              <p:cNvPr id="202" name="Ellipse 202"/>
              <p:cNvSpPr/>
              <p:nvPr/>
            </p:nvSpPr>
            <p:spPr>
              <a:xfrm>
                <a:off x="4581525" y="5781675"/>
                <a:ext cx="247650" cy="247650"/>
              </a:xfrm>
              <a:prstGeom prst="ellipse">
                <a:avLst/>
              </a:prstGeom>
              <a:solidFill>
                <a:srgbClr val="D8D4D0"/>
              </a:solidFill>
              <a:ln>
                <a:noFill/>
              </a:ln>
            </p:spPr>
          </p:sp>
          <p:sp>
            <p:nvSpPr>
              <p:cNvPr id="203" name="TextBox 203"/>
              <p:cNvSpPr txBox="1"/>
              <p:nvPr/>
            </p:nvSpPr>
            <p:spPr>
              <a:xfrm>
                <a:off x="4668512" y="58640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204" name="Ellipse 204"/>
              <p:cNvSpPr/>
              <p:nvPr/>
            </p:nvSpPr>
            <p:spPr>
              <a:xfrm>
                <a:off x="6086475" y="5781675"/>
                <a:ext cx="247650" cy="247650"/>
              </a:xfrm>
              <a:prstGeom prst="ellipse">
                <a:avLst/>
              </a:prstGeom>
              <a:solidFill>
                <a:srgbClr val="D8D4D0"/>
              </a:solidFill>
              <a:ln>
                <a:noFill/>
              </a:ln>
            </p:spPr>
          </p:sp>
          <p:sp>
            <p:nvSpPr>
              <p:cNvPr id="205" name="TextBox 205"/>
              <p:cNvSpPr txBox="1"/>
              <p:nvPr/>
            </p:nvSpPr>
            <p:spPr>
              <a:xfrm>
                <a:off x="6188042" y="5864066"/>
                <a:ext cx="44516"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I</a:t>
                </a:r>
              </a:p>
            </p:txBody>
          </p:sp>
          <p:sp>
            <p:nvSpPr>
              <p:cNvPr id="206" name="Ellipse 206"/>
              <p:cNvSpPr/>
              <p:nvPr/>
            </p:nvSpPr>
            <p:spPr>
              <a:xfrm>
                <a:off x="7591425" y="5781675"/>
                <a:ext cx="247650" cy="247650"/>
              </a:xfrm>
              <a:prstGeom prst="ellipse">
                <a:avLst/>
              </a:prstGeom>
              <a:solidFill>
                <a:srgbClr val="B03A1F"/>
              </a:solidFill>
              <a:ln>
                <a:noFill/>
              </a:ln>
            </p:spPr>
          </p:sp>
          <p:sp>
            <p:nvSpPr>
              <p:cNvPr id="207" name="TextBox 207"/>
              <p:cNvSpPr txBox="1"/>
              <p:nvPr/>
            </p:nvSpPr>
            <p:spPr>
              <a:xfrm>
                <a:off x="7676809" y="58640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A</a:t>
                </a:r>
              </a:p>
            </p:txBody>
          </p:sp>
          <p:sp>
            <p:nvSpPr>
              <p:cNvPr id="208" name="Ellipse 208"/>
              <p:cNvSpPr/>
              <p:nvPr/>
            </p:nvSpPr>
            <p:spPr>
              <a:xfrm>
                <a:off x="8715375" y="5781675"/>
                <a:ext cx="247650" cy="247650"/>
              </a:xfrm>
              <a:prstGeom prst="ellipse">
                <a:avLst/>
              </a:prstGeom>
              <a:solidFill>
                <a:srgbClr val="D8D4D0"/>
              </a:solidFill>
              <a:ln>
                <a:noFill/>
              </a:ln>
            </p:spPr>
          </p:sp>
          <p:sp>
            <p:nvSpPr>
              <p:cNvPr id="209" name="TextBox 209"/>
              <p:cNvSpPr txBox="1"/>
              <p:nvPr/>
            </p:nvSpPr>
            <p:spPr>
              <a:xfrm>
                <a:off x="8802362" y="58640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grpSp>
        <p:grpSp>
          <p:nvGrpSpPr>
            <p:cNvPr id="226" name="raci-row-5"/>
            <p:cNvGrpSpPr/>
            <p:nvPr/>
          </p:nvGrpSpPr>
          <p:grpSpPr>
            <a:xfrm>
              <a:off x="190500" y="6115050"/>
              <a:ext cx="9334500" cy="419100"/>
              <a:chOff x="190500" y="6115050"/>
              <a:chExt cx="9334500" cy="419100"/>
            </a:xfrm>
          </p:grpSpPr>
          <p:sp>
            <p:nvSpPr>
              <p:cNvPr id="211" name="Rectangle 211"/>
              <p:cNvSpPr/>
              <p:nvPr/>
            </p:nvSpPr>
            <p:spPr>
              <a:xfrm>
                <a:off x="190500" y="6115050"/>
                <a:ext cx="9334500" cy="419100"/>
              </a:xfrm>
              <a:prstGeom prst="rect">
                <a:avLst/>
              </a:prstGeom>
              <a:solidFill>
                <a:srgbClr val="FFFFFF"/>
              </a:solidFill>
              <a:ln w="9525">
                <a:solidFill>
                  <a:srgbClr val="E8E4E0"/>
                </a:solidFill>
              </a:ln>
            </p:spPr>
          </p:sp>
          <p:grpSp>
            <p:nvGrpSpPr>
              <p:cNvPr id="214" name="Group 214"/>
              <p:cNvGrpSpPr/>
              <p:nvPr/>
            </p:nvGrpSpPr>
            <p:grpSpPr>
              <a:xfrm>
                <a:off x="335640" y="6250781"/>
                <a:ext cx="139505" cy="128588"/>
                <a:chOff x="335640" y="6250781"/>
                <a:chExt cx="139505" cy="128588"/>
              </a:xfrm>
            </p:grpSpPr>
            <p:sp>
              <p:nvSpPr>
                <p:cNvPr id="212" name="Freeform 212"/>
                <p:cNvSpPr/>
                <p:nvPr/>
              </p:nvSpPr>
              <p:spPr>
                <a:xfrm>
                  <a:off x="335640" y="625078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B03A1F"/>
                  </a:solidFill>
                </a:ln>
              </p:spPr>
            </p:sp>
            <p:sp>
              <p:nvSpPr>
                <p:cNvPr id="213" name="Freeform 213"/>
                <p:cNvSpPr/>
                <p:nvPr/>
              </p:nvSpPr>
              <p:spPr>
                <a:xfrm>
                  <a:off x="431006" y="6350794"/>
                  <a:ext cx="42862" cy="28575"/>
                </a:xfrm>
                <a:custGeom>
                  <a:avLst/>
                  <a:gdLst/>
                  <a:ahLst/>
                  <a:cxnLst/>
                  <a:rect l="l" t="t" r="r" b="b"/>
                  <a:pathLst>
                    <a:path w="42862" h="28575">
                      <a:moveTo>
                        <a:pt x="0" y="14288"/>
                      </a:moveTo>
                      <a:lnTo>
                        <a:pt x="14288" y="28575"/>
                      </a:lnTo>
                      <a:lnTo>
                        <a:pt x="42862" y="0"/>
                      </a:lnTo>
                    </a:path>
                  </a:pathLst>
                </a:custGeom>
                <a:noFill/>
                <a:ln w="14288">
                  <a:solidFill>
                    <a:srgbClr val="B03A1F"/>
                  </a:solidFill>
                </a:ln>
              </p:spPr>
            </p:sp>
          </p:grpSp>
          <p:sp>
            <p:nvSpPr>
              <p:cNvPr id="215" name="TextBox 215"/>
              <p:cNvSpPr txBox="1"/>
              <p:nvPr/>
            </p:nvSpPr>
            <p:spPr>
              <a:xfrm>
                <a:off x="566738" y="6283166"/>
                <a:ext cx="1003021" cy="161925"/>
              </a:xfrm>
              <a:prstGeom prst="rect">
                <a:avLst/>
              </a:prstGeom>
              <a:noFill/>
              <a:ln>
                <a:noFill/>
              </a:ln>
            </p:spPr>
            <p:txBody>
              <a:bodyPr wrap="none" lIns="0" tIns="0" rIns="0" bIns="0" anchor="t" anchorCtr="0">
                <a:spAutoFit/>
              </a:bodyPr>
              <a:lstStyle/>
              <a:p>
                <a:pPr algn="l"/>
                <a:r>
                  <a:rPr lang="zh-CN" sz="820" dirty="0">
                    <a:solidFill>
                      <a:srgbClr val="1A1A1A"/>
                    </a:solidFill>
                    <a:latin typeface="+mn-lt"/>
                    <a:ea typeface="+mn-ea"/>
                    <a:cs typeface="+mn-cs"/>
                  </a:rPr>
                  <a:t>风险管理与合规协同</a:t>
                </a:r>
              </a:p>
            </p:txBody>
          </p:sp>
          <p:sp>
            <p:nvSpPr>
              <p:cNvPr id="216" name="Ellipse 216"/>
              <p:cNvSpPr/>
              <p:nvPr/>
            </p:nvSpPr>
            <p:spPr>
              <a:xfrm>
                <a:off x="3076575" y="6200775"/>
                <a:ext cx="247650" cy="247650"/>
              </a:xfrm>
              <a:prstGeom prst="ellipse">
                <a:avLst/>
              </a:prstGeom>
              <a:solidFill>
                <a:srgbClr val="D8D4D0"/>
              </a:solidFill>
              <a:ln>
                <a:noFill/>
              </a:ln>
            </p:spPr>
          </p:sp>
          <p:sp>
            <p:nvSpPr>
              <p:cNvPr id="217" name="TextBox 217"/>
              <p:cNvSpPr txBox="1"/>
              <p:nvPr/>
            </p:nvSpPr>
            <p:spPr>
              <a:xfrm>
                <a:off x="3163562" y="62831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218" name="Ellipse 218"/>
              <p:cNvSpPr/>
              <p:nvPr/>
            </p:nvSpPr>
            <p:spPr>
              <a:xfrm>
                <a:off x="4581525" y="6200775"/>
                <a:ext cx="247650" cy="247650"/>
              </a:xfrm>
              <a:prstGeom prst="ellipse">
                <a:avLst/>
              </a:prstGeom>
              <a:solidFill>
                <a:srgbClr val="D8D4D0"/>
              </a:solidFill>
              <a:ln>
                <a:noFill/>
              </a:ln>
            </p:spPr>
          </p:sp>
          <p:sp>
            <p:nvSpPr>
              <p:cNvPr id="219" name="TextBox 219"/>
              <p:cNvSpPr txBox="1"/>
              <p:nvPr/>
            </p:nvSpPr>
            <p:spPr>
              <a:xfrm>
                <a:off x="4668512" y="62831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220" name="Ellipse 220"/>
              <p:cNvSpPr/>
              <p:nvPr/>
            </p:nvSpPr>
            <p:spPr>
              <a:xfrm>
                <a:off x="6086475" y="6200775"/>
                <a:ext cx="247650" cy="247650"/>
              </a:xfrm>
              <a:prstGeom prst="ellipse">
                <a:avLst/>
              </a:prstGeom>
              <a:solidFill>
                <a:srgbClr val="D8D4D0"/>
              </a:solidFill>
              <a:ln>
                <a:noFill/>
              </a:ln>
            </p:spPr>
          </p:sp>
          <p:sp>
            <p:nvSpPr>
              <p:cNvPr id="221" name="TextBox 221"/>
              <p:cNvSpPr txBox="1"/>
              <p:nvPr/>
            </p:nvSpPr>
            <p:spPr>
              <a:xfrm>
                <a:off x="6188042" y="6283166"/>
                <a:ext cx="44516"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I</a:t>
                </a:r>
              </a:p>
            </p:txBody>
          </p:sp>
          <p:sp>
            <p:nvSpPr>
              <p:cNvPr id="222" name="Ellipse 222"/>
              <p:cNvSpPr/>
              <p:nvPr/>
            </p:nvSpPr>
            <p:spPr>
              <a:xfrm>
                <a:off x="7591425" y="6200775"/>
                <a:ext cx="247650" cy="247650"/>
              </a:xfrm>
              <a:prstGeom prst="ellipse">
                <a:avLst/>
              </a:prstGeom>
              <a:solidFill>
                <a:srgbClr val="D8D4D0"/>
              </a:solidFill>
              <a:ln>
                <a:noFill/>
              </a:ln>
            </p:spPr>
          </p:sp>
          <p:sp>
            <p:nvSpPr>
              <p:cNvPr id="223" name="TextBox 223"/>
              <p:cNvSpPr txBox="1"/>
              <p:nvPr/>
            </p:nvSpPr>
            <p:spPr>
              <a:xfrm>
                <a:off x="7678412" y="62831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224" name="Ellipse 224"/>
              <p:cNvSpPr/>
              <p:nvPr/>
            </p:nvSpPr>
            <p:spPr>
              <a:xfrm>
                <a:off x="8715375" y="6200775"/>
                <a:ext cx="247650" cy="247650"/>
              </a:xfrm>
              <a:prstGeom prst="ellipse">
                <a:avLst/>
              </a:prstGeom>
              <a:solidFill>
                <a:srgbClr val="B03A1F"/>
              </a:solidFill>
              <a:ln>
                <a:noFill/>
              </a:ln>
            </p:spPr>
          </p:sp>
          <p:sp>
            <p:nvSpPr>
              <p:cNvPr id="225" name="TextBox 225"/>
              <p:cNvSpPr txBox="1"/>
              <p:nvPr/>
            </p:nvSpPr>
            <p:spPr>
              <a:xfrm>
                <a:off x="8800759" y="62831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A</a:t>
                </a:r>
              </a:p>
            </p:txBody>
          </p:sp>
        </p:grpSp>
      </p:grpSp>
      <p:grpSp>
        <p:nvGrpSpPr>
          <p:cNvPr id="244" name="raci-legend"/>
          <p:cNvGrpSpPr/>
          <p:nvPr/>
        </p:nvGrpSpPr>
        <p:grpSpPr>
          <a:xfrm>
            <a:off x="9896475" y="4181475"/>
            <a:ext cx="954729" cy="1895713"/>
            <a:chOff x="9896475" y="4181475"/>
            <a:chExt cx="954729" cy="1895713"/>
          </a:xfrm>
        </p:grpSpPr>
        <p:sp>
          <p:nvSpPr>
            <p:cNvPr id="228" name="Ellipse 228"/>
            <p:cNvSpPr/>
            <p:nvPr/>
          </p:nvSpPr>
          <p:spPr>
            <a:xfrm>
              <a:off x="9896475" y="4181475"/>
              <a:ext cx="247650" cy="247650"/>
            </a:xfrm>
            <a:prstGeom prst="ellipse">
              <a:avLst/>
            </a:prstGeom>
            <a:solidFill>
              <a:srgbClr val="B03A1F"/>
            </a:solidFill>
            <a:ln>
              <a:noFill/>
            </a:ln>
          </p:spPr>
        </p:sp>
        <p:sp>
          <p:nvSpPr>
            <p:cNvPr id="229" name="TextBox 229"/>
            <p:cNvSpPr txBox="1"/>
            <p:nvPr/>
          </p:nvSpPr>
          <p:spPr>
            <a:xfrm>
              <a:off x="9981859" y="42638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R</a:t>
              </a:r>
            </a:p>
          </p:txBody>
        </p:sp>
        <p:sp>
          <p:nvSpPr>
            <p:cNvPr id="230" name="TextBox 230"/>
            <p:cNvSpPr txBox="1"/>
            <p:nvPr/>
          </p:nvSpPr>
          <p:spPr>
            <a:xfrm>
              <a:off x="10244138" y="4201239"/>
              <a:ext cx="434924" cy="154781"/>
            </a:xfrm>
            <a:prstGeom prst="rect">
              <a:avLst/>
            </a:prstGeom>
            <a:noFill/>
            <a:ln>
              <a:noFill/>
            </a:ln>
          </p:spPr>
          <p:txBody>
            <a:bodyPr wrap="none" lIns="0" tIns="0" rIns="0" bIns="0" anchor="t" anchorCtr="0">
              <a:spAutoFit/>
            </a:bodyPr>
            <a:lstStyle/>
            <a:p>
              <a:pPr algn="l"/>
              <a:r>
                <a:rPr lang="zh-CN" sz="790" b="1" dirty="0">
                  <a:solidFill>
                    <a:srgbClr val="1A1A1A"/>
                  </a:solidFill>
                  <a:latin typeface="+mn-lt"/>
                  <a:ea typeface="+mn-ea"/>
                  <a:cs typeface="+mn-cs"/>
                </a:rPr>
                <a:t>负责执行</a:t>
              </a:r>
            </a:p>
          </p:txBody>
        </p:sp>
        <p:sp>
          <p:nvSpPr>
            <p:cNvPr id="231" name="TextBox 231"/>
            <p:cNvSpPr txBox="1"/>
            <p:nvPr/>
          </p:nvSpPr>
          <p:spPr>
            <a:xfrm>
              <a:off x="10244138" y="4350782"/>
              <a:ext cx="585416" cy="126206"/>
            </a:xfrm>
            <a:prstGeom prst="rect">
              <a:avLst/>
            </a:prstGeom>
            <a:noFill/>
            <a:ln>
              <a:noFill/>
            </a:ln>
          </p:spPr>
          <p:txBody>
            <a:bodyPr wrap="none" lIns="0" tIns="0" rIns="0" bIns="0" anchor="t" anchorCtr="0">
              <a:spAutoFit/>
            </a:bodyPr>
            <a:lstStyle/>
            <a:p>
              <a:pPr algn="l"/>
              <a:r>
                <a:rPr lang="en-US" sz="640" dirty="0">
                  <a:solidFill>
                    <a:srgbClr val="8A8A8A"/>
                  </a:solidFill>
                  <a:latin typeface="+mn-lt"/>
                  <a:ea typeface="+mn-ea"/>
                  <a:cs typeface="+mn-cs"/>
                </a:rPr>
                <a:t>(Responsible)</a:t>
              </a:r>
            </a:p>
          </p:txBody>
        </p:sp>
        <p:sp>
          <p:nvSpPr>
            <p:cNvPr id="232" name="Ellipse 232"/>
            <p:cNvSpPr/>
            <p:nvPr/>
          </p:nvSpPr>
          <p:spPr>
            <a:xfrm>
              <a:off x="9896475" y="4714875"/>
              <a:ext cx="247650" cy="247650"/>
            </a:xfrm>
            <a:prstGeom prst="ellipse">
              <a:avLst/>
            </a:prstGeom>
            <a:solidFill>
              <a:srgbClr val="B03A1F"/>
            </a:solidFill>
            <a:ln>
              <a:noFill/>
            </a:ln>
          </p:spPr>
        </p:sp>
        <p:sp>
          <p:nvSpPr>
            <p:cNvPr id="233" name="TextBox 233"/>
            <p:cNvSpPr txBox="1"/>
            <p:nvPr/>
          </p:nvSpPr>
          <p:spPr>
            <a:xfrm>
              <a:off x="9981859" y="4797266"/>
              <a:ext cx="76883"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A</a:t>
              </a:r>
            </a:p>
          </p:txBody>
        </p:sp>
        <p:sp>
          <p:nvSpPr>
            <p:cNvPr id="234" name="TextBox 234"/>
            <p:cNvSpPr txBox="1"/>
            <p:nvPr/>
          </p:nvSpPr>
          <p:spPr>
            <a:xfrm>
              <a:off x="10244138" y="4734639"/>
              <a:ext cx="434924" cy="154781"/>
            </a:xfrm>
            <a:prstGeom prst="rect">
              <a:avLst/>
            </a:prstGeom>
            <a:noFill/>
            <a:ln>
              <a:noFill/>
            </a:ln>
          </p:spPr>
          <p:txBody>
            <a:bodyPr wrap="none" lIns="0" tIns="0" rIns="0" bIns="0" anchor="t" anchorCtr="0">
              <a:spAutoFit/>
            </a:bodyPr>
            <a:lstStyle/>
            <a:p>
              <a:pPr algn="l"/>
              <a:r>
                <a:rPr lang="zh-CN" sz="790" b="1" dirty="0">
                  <a:solidFill>
                    <a:srgbClr val="1A1A1A"/>
                  </a:solidFill>
                  <a:latin typeface="+mn-lt"/>
                  <a:ea typeface="+mn-ea"/>
                  <a:cs typeface="+mn-cs"/>
                </a:rPr>
                <a:t>最终负责</a:t>
              </a:r>
            </a:p>
          </p:txBody>
        </p:sp>
        <p:sp>
          <p:nvSpPr>
            <p:cNvPr id="235" name="TextBox 235"/>
            <p:cNvSpPr txBox="1"/>
            <p:nvPr/>
          </p:nvSpPr>
          <p:spPr>
            <a:xfrm>
              <a:off x="10244138" y="4884182"/>
              <a:ext cx="607066" cy="126206"/>
            </a:xfrm>
            <a:prstGeom prst="rect">
              <a:avLst/>
            </a:prstGeom>
            <a:noFill/>
            <a:ln>
              <a:noFill/>
            </a:ln>
          </p:spPr>
          <p:txBody>
            <a:bodyPr wrap="none" lIns="0" tIns="0" rIns="0" bIns="0" anchor="t" anchorCtr="0">
              <a:spAutoFit/>
            </a:bodyPr>
            <a:lstStyle/>
            <a:p>
              <a:pPr algn="l"/>
              <a:r>
                <a:rPr lang="en-US" sz="640" dirty="0">
                  <a:solidFill>
                    <a:srgbClr val="8A8A8A"/>
                  </a:solidFill>
                  <a:latin typeface="+mn-lt"/>
                  <a:ea typeface="+mn-ea"/>
                  <a:cs typeface="+mn-cs"/>
                </a:rPr>
                <a:t>(Accountable)</a:t>
              </a:r>
            </a:p>
          </p:txBody>
        </p:sp>
        <p:sp>
          <p:nvSpPr>
            <p:cNvPr id="236" name="Ellipse 236"/>
            <p:cNvSpPr/>
            <p:nvPr/>
          </p:nvSpPr>
          <p:spPr>
            <a:xfrm>
              <a:off x="9896475" y="5248275"/>
              <a:ext cx="247650" cy="247650"/>
            </a:xfrm>
            <a:prstGeom prst="ellipse">
              <a:avLst/>
            </a:prstGeom>
            <a:solidFill>
              <a:srgbClr val="D8D4D0"/>
            </a:solidFill>
            <a:ln>
              <a:noFill/>
            </a:ln>
          </p:spPr>
        </p:sp>
        <p:sp>
          <p:nvSpPr>
            <p:cNvPr id="237" name="TextBox 237"/>
            <p:cNvSpPr txBox="1"/>
            <p:nvPr/>
          </p:nvSpPr>
          <p:spPr>
            <a:xfrm>
              <a:off x="9983462" y="5330666"/>
              <a:ext cx="73675"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C</a:t>
              </a:r>
            </a:p>
          </p:txBody>
        </p:sp>
        <p:sp>
          <p:nvSpPr>
            <p:cNvPr id="238" name="TextBox 238"/>
            <p:cNvSpPr txBox="1"/>
            <p:nvPr/>
          </p:nvSpPr>
          <p:spPr>
            <a:xfrm>
              <a:off x="10244138" y="5268039"/>
              <a:ext cx="434924" cy="154781"/>
            </a:xfrm>
            <a:prstGeom prst="rect">
              <a:avLst/>
            </a:prstGeom>
            <a:noFill/>
            <a:ln>
              <a:noFill/>
            </a:ln>
          </p:spPr>
          <p:txBody>
            <a:bodyPr wrap="none" lIns="0" tIns="0" rIns="0" bIns="0" anchor="t" anchorCtr="0">
              <a:spAutoFit/>
            </a:bodyPr>
            <a:lstStyle/>
            <a:p>
              <a:pPr algn="l"/>
              <a:r>
                <a:rPr lang="zh-CN" sz="790" b="1" dirty="0">
                  <a:solidFill>
                    <a:srgbClr val="1A1A1A"/>
                  </a:solidFill>
                  <a:latin typeface="+mn-lt"/>
                  <a:ea typeface="+mn-ea"/>
                  <a:cs typeface="+mn-cs"/>
                </a:rPr>
                <a:t>协同配合</a:t>
              </a:r>
            </a:p>
          </p:txBody>
        </p:sp>
        <p:sp>
          <p:nvSpPr>
            <p:cNvPr id="239" name="TextBox 239"/>
            <p:cNvSpPr txBox="1"/>
            <p:nvPr/>
          </p:nvSpPr>
          <p:spPr>
            <a:xfrm>
              <a:off x="10244138" y="5417582"/>
              <a:ext cx="512377" cy="126206"/>
            </a:xfrm>
            <a:prstGeom prst="rect">
              <a:avLst/>
            </a:prstGeom>
            <a:noFill/>
            <a:ln>
              <a:noFill/>
            </a:ln>
          </p:spPr>
          <p:txBody>
            <a:bodyPr wrap="none" lIns="0" tIns="0" rIns="0" bIns="0" anchor="t" anchorCtr="0">
              <a:spAutoFit/>
            </a:bodyPr>
            <a:lstStyle/>
            <a:p>
              <a:pPr algn="l"/>
              <a:r>
                <a:rPr lang="en-US" sz="640" dirty="0">
                  <a:solidFill>
                    <a:srgbClr val="8A8A8A"/>
                  </a:solidFill>
                  <a:latin typeface="+mn-lt"/>
                  <a:ea typeface="+mn-ea"/>
                  <a:cs typeface="+mn-cs"/>
                </a:rPr>
                <a:t>(Consulted)</a:t>
              </a:r>
            </a:p>
          </p:txBody>
        </p:sp>
        <p:sp>
          <p:nvSpPr>
            <p:cNvPr id="240" name="Ellipse 240"/>
            <p:cNvSpPr/>
            <p:nvPr/>
          </p:nvSpPr>
          <p:spPr>
            <a:xfrm>
              <a:off x="9896475" y="5781675"/>
              <a:ext cx="247650" cy="247650"/>
            </a:xfrm>
            <a:prstGeom prst="ellipse">
              <a:avLst/>
            </a:prstGeom>
            <a:solidFill>
              <a:srgbClr val="D8D4D0"/>
            </a:solidFill>
            <a:ln>
              <a:noFill/>
            </a:ln>
          </p:spPr>
        </p:sp>
        <p:sp>
          <p:nvSpPr>
            <p:cNvPr id="241" name="TextBox 241"/>
            <p:cNvSpPr txBox="1"/>
            <p:nvPr/>
          </p:nvSpPr>
          <p:spPr>
            <a:xfrm>
              <a:off x="9998042" y="5864066"/>
              <a:ext cx="44516" cy="161925"/>
            </a:xfrm>
            <a:prstGeom prst="rect">
              <a:avLst/>
            </a:prstGeom>
            <a:noFill/>
            <a:ln>
              <a:noFill/>
            </a:ln>
          </p:spPr>
          <p:txBody>
            <a:bodyPr wrap="none" lIns="0" tIns="0" rIns="0" bIns="0" anchor="t" anchorCtr="0">
              <a:spAutoFit/>
            </a:bodyPr>
            <a:lstStyle/>
            <a:p>
              <a:pPr algn="ctr"/>
              <a:r>
                <a:rPr lang="en-US" sz="820" dirty="0">
                  <a:solidFill>
                    <a:srgbClr val="3A3A3A"/>
                  </a:solidFill>
                  <a:latin typeface="+mn-lt"/>
                  <a:ea typeface="+mn-ea"/>
                  <a:cs typeface="+mn-cs"/>
                </a:rPr>
                <a:t>I</a:t>
              </a:r>
            </a:p>
          </p:txBody>
        </p:sp>
        <p:sp>
          <p:nvSpPr>
            <p:cNvPr id="242" name="TextBox 242"/>
            <p:cNvSpPr txBox="1"/>
            <p:nvPr/>
          </p:nvSpPr>
          <p:spPr>
            <a:xfrm>
              <a:off x="10244138" y="5801439"/>
              <a:ext cx="602691" cy="154781"/>
            </a:xfrm>
            <a:prstGeom prst="rect">
              <a:avLst/>
            </a:prstGeom>
            <a:noFill/>
            <a:ln>
              <a:noFill/>
            </a:ln>
          </p:spPr>
          <p:txBody>
            <a:bodyPr wrap="none" lIns="0" tIns="0" rIns="0" bIns="0" anchor="t" anchorCtr="0">
              <a:spAutoFit/>
            </a:bodyPr>
            <a:lstStyle/>
            <a:p>
              <a:pPr algn="l"/>
              <a:r>
                <a:rPr lang="zh-CN" sz="790" b="1" dirty="0">
                  <a:solidFill>
                    <a:srgbClr val="1A1A1A"/>
                  </a:solidFill>
                  <a:latin typeface="+mn-lt"/>
                  <a:ea typeface="+mn-ea"/>
                  <a:cs typeface="+mn-cs"/>
                </a:rPr>
                <a:t>知会/被告知</a:t>
              </a:r>
            </a:p>
          </p:txBody>
        </p:sp>
        <p:sp>
          <p:nvSpPr>
            <p:cNvPr id="243" name="TextBox 243"/>
            <p:cNvSpPr txBox="1"/>
            <p:nvPr/>
          </p:nvSpPr>
          <p:spPr>
            <a:xfrm>
              <a:off x="10244138" y="5950982"/>
              <a:ext cx="482402" cy="126206"/>
            </a:xfrm>
            <a:prstGeom prst="rect">
              <a:avLst/>
            </a:prstGeom>
            <a:noFill/>
            <a:ln>
              <a:noFill/>
            </a:ln>
          </p:spPr>
          <p:txBody>
            <a:bodyPr wrap="none" lIns="0" tIns="0" rIns="0" bIns="0" anchor="t" anchorCtr="0">
              <a:spAutoFit/>
            </a:bodyPr>
            <a:lstStyle/>
            <a:p>
              <a:pPr algn="l"/>
              <a:r>
                <a:rPr lang="en-US" sz="640" dirty="0">
                  <a:solidFill>
                    <a:srgbClr val="8A8A8A"/>
                  </a:solidFill>
                  <a:latin typeface="+mn-lt"/>
                  <a:ea typeface="+mn-ea"/>
                  <a:cs typeface="+mn-cs"/>
                </a:rPr>
                <a:t>(Informed)</a:t>
              </a:r>
            </a:p>
          </p:txBody>
        </p:sp>
      </p:gr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11</a:t>
              </a:r>
            </a:p>
          </p:txBody>
        </p:sp>
        <p:sp>
          <p:nvSpPr>
            <p:cNvPr id="4" name="TextBox 4"/>
            <p:cNvSpPr txBox="1"/>
            <p:nvPr/>
          </p:nvSpPr>
          <p:spPr>
            <a:xfrm>
              <a:off x="1037844" y="151448"/>
              <a:ext cx="612190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数字化新基座：构建统一客户视图与数据驱动体系</a:t>
              </a:r>
            </a:p>
          </p:txBody>
        </p:sp>
        <p:sp>
          <p:nvSpPr>
            <p:cNvPr id="5" name="Line 5"/>
            <p:cNvSpPr/>
            <p:nvPr/>
          </p:nvSpPr>
          <p:spPr>
            <a:xfrm>
              <a:off x="1047750" y="533400"/>
              <a:ext cx="10668000" cy="9525"/>
            </a:xfrm>
            <a:custGeom>
              <a:avLst/>
              <a:gdLst/>
              <a:ahLst/>
              <a:cxnLst/>
              <a:rect l="l" t="t" r="r" b="b"/>
              <a:pathLst>
                <a:path w="10668000" h="9525">
                  <a:moveTo>
                    <a:pt x="0" y="0"/>
                  </a:moveTo>
                  <a:lnTo>
                    <a:pt x="10668000" y="0"/>
                  </a:lnTo>
                </a:path>
              </a:pathLst>
            </a:custGeom>
            <a:noFill/>
            <a:ln w="14288">
              <a:solidFill>
                <a:srgbClr val="B03A1F"/>
              </a:solidFill>
            </a:ln>
          </p:spPr>
        </p:sp>
      </p:grpSp>
      <p:grpSp>
        <p:nvGrpSpPr>
          <p:cNvPr id="40" name="layer-labels"/>
          <p:cNvGrpSpPr/>
          <p:nvPr/>
        </p:nvGrpSpPr>
        <p:grpSpPr>
          <a:xfrm>
            <a:off x="266700" y="904875"/>
            <a:ext cx="1524000" cy="4391025"/>
            <a:chOff x="266700" y="904875"/>
            <a:chExt cx="1524000" cy="4391025"/>
          </a:xfrm>
        </p:grpSpPr>
        <p:grpSp>
          <p:nvGrpSpPr>
            <p:cNvPr id="15" name="label-app"/>
            <p:cNvGrpSpPr/>
            <p:nvPr/>
          </p:nvGrpSpPr>
          <p:grpSpPr>
            <a:xfrm>
              <a:off x="266700" y="904875"/>
              <a:ext cx="1524000" cy="1047750"/>
              <a:chOff x="266700" y="904875"/>
              <a:chExt cx="1524000" cy="1047750"/>
            </a:xfrm>
          </p:grpSpPr>
          <p:sp>
            <p:nvSpPr>
              <p:cNvPr id="7" name="Rectangle 7"/>
              <p:cNvSpPr/>
              <p:nvPr/>
            </p:nvSpPr>
            <p:spPr>
              <a:xfrm>
                <a:off x="266700" y="904875"/>
                <a:ext cx="1524000" cy="1047750"/>
              </a:xfrm>
              <a:prstGeom prst="roundRect">
                <a:avLst>
                  <a:gd name="adj" fmla="val 7273"/>
                </a:avLst>
              </a:prstGeom>
              <a:solidFill>
                <a:srgbClr val="FBEFEF"/>
              </a:solidFill>
              <a:ln>
                <a:noFill/>
              </a:ln>
            </p:spPr>
          </p:sp>
          <p:grpSp>
            <p:nvGrpSpPr>
              <p:cNvPr id="12" name="Group 12"/>
              <p:cNvGrpSpPr/>
              <p:nvPr/>
            </p:nvGrpSpPr>
            <p:grpSpPr>
              <a:xfrm>
                <a:off x="434975" y="1063625"/>
                <a:ext cx="139701" cy="139701"/>
                <a:chOff x="434975" y="1063625"/>
                <a:chExt cx="139701" cy="139701"/>
              </a:xfrm>
            </p:grpSpPr>
            <p:sp>
              <p:nvSpPr>
                <p:cNvPr id="8" name="Freeform 8"/>
                <p:cNvSpPr/>
                <p:nvPr/>
              </p:nvSpPr>
              <p:spPr>
                <a:xfrm>
                  <a:off x="434975" y="1063625"/>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B03A1F"/>
                  </a:solidFill>
                </a:ln>
              </p:spPr>
            </p:sp>
            <p:sp>
              <p:nvSpPr>
                <p:cNvPr id="9" name="Freeform 9"/>
                <p:cNvSpPr/>
                <p:nvPr/>
              </p:nvSpPr>
              <p:spPr>
                <a:xfrm>
                  <a:off x="522288" y="1063625"/>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B03A1F"/>
                  </a:solidFill>
                </a:ln>
              </p:spPr>
            </p:sp>
            <p:sp>
              <p:nvSpPr>
                <p:cNvPr id="10" name="Freeform 10"/>
                <p:cNvSpPr/>
                <p:nvPr/>
              </p:nvSpPr>
              <p:spPr>
                <a:xfrm>
                  <a:off x="434975" y="1150938"/>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B03A1F"/>
                  </a:solidFill>
                </a:ln>
              </p:spPr>
            </p:sp>
            <p:sp>
              <p:nvSpPr>
                <p:cNvPr id="11" name="Freeform 11"/>
                <p:cNvSpPr/>
                <p:nvPr/>
              </p:nvSpPr>
              <p:spPr>
                <a:xfrm>
                  <a:off x="522288" y="1150938"/>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B03A1F"/>
                  </a:solidFill>
                </a:ln>
              </p:spPr>
            </p:sp>
          </p:grpSp>
          <p:sp>
            <p:nvSpPr>
              <p:cNvPr id="13" name="TextBox 13"/>
              <p:cNvSpPr txBox="1"/>
              <p:nvPr/>
            </p:nvSpPr>
            <p:spPr>
              <a:xfrm>
                <a:off x="680847" y="1085374"/>
                <a:ext cx="669544" cy="190690"/>
              </a:xfrm>
              <a:prstGeom prst="rect">
                <a:avLst/>
              </a:prstGeom>
              <a:noFill/>
              <a:ln>
                <a:noFill/>
              </a:ln>
            </p:spPr>
            <p:txBody>
              <a:bodyPr wrap="none" lIns="0" tIns="0" rIns="0" bIns="0" anchor="t" anchorCtr="0">
                <a:spAutoFit/>
              </a:bodyPr>
              <a:lstStyle/>
              <a:p>
                <a:pPr algn="l"/>
                <a:r>
                  <a:rPr lang="zh-CN" sz="980" b="1" dirty="0">
                    <a:solidFill>
                      <a:srgbClr val="B03A1F"/>
                    </a:solidFill>
                    <a:latin typeface="+mn-lt"/>
                    <a:ea typeface="+mn-ea"/>
                    <a:cs typeface="+mn-cs"/>
                  </a:rPr>
                  <a:t>应用赋能层</a:t>
                </a:r>
              </a:p>
            </p:txBody>
          </p:sp>
          <p:sp>
            <p:nvSpPr>
              <p:cNvPr id="14" name="TextBox 14"/>
              <p:cNvSpPr txBox="1"/>
              <p:nvPr/>
            </p:nvSpPr>
            <p:spPr>
              <a:xfrm>
                <a:off x="395288" y="1370886"/>
                <a:ext cx="55054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A6A6A"/>
                    </a:solidFill>
                    <a:latin typeface="+mn-lt"/>
                    <a:ea typeface="+mn-ea"/>
                    <a:cs typeface="+mn-cs"/>
                  </a:rPr>
                  <a:t>数据驱动业务</a:t>
                </a:r>
                <a:br/>
                <a:r>
                  <a:rPr lang="zh-CN" sz="710" dirty="0">
                    <a:solidFill>
                      <a:srgbClr val="6A6A6A"/>
                    </a:solidFill>
                    <a:latin typeface="+mn-lt"/>
                    <a:ea typeface="+mn-ea"/>
                    <a:cs typeface="+mn-cs"/>
                  </a:rPr>
                  <a:t>价值创造</a:t>
                </a:r>
              </a:p>
            </p:txBody>
          </p:sp>
        </p:grpSp>
        <p:grpSp>
          <p:nvGrpSpPr>
            <p:cNvPr id="23" name="label-core"/>
            <p:cNvGrpSpPr/>
            <p:nvPr/>
          </p:nvGrpSpPr>
          <p:grpSpPr>
            <a:xfrm>
              <a:off x="266700" y="2209800"/>
              <a:ext cx="1524000" cy="952500"/>
              <a:chOff x="266700" y="2209800"/>
              <a:chExt cx="1524000" cy="952500"/>
            </a:xfrm>
          </p:grpSpPr>
          <p:sp>
            <p:nvSpPr>
              <p:cNvPr id="16" name="Rectangle 16"/>
              <p:cNvSpPr/>
              <p:nvPr/>
            </p:nvSpPr>
            <p:spPr>
              <a:xfrm>
                <a:off x="266700" y="2209800"/>
                <a:ext cx="1524000" cy="952500"/>
              </a:xfrm>
              <a:prstGeom prst="roundRect">
                <a:avLst>
                  <a:gd name="adj" fmla="val 8000"/>
                </a:avLst>
              </a:prstGeom>
              <a:solidFill>
                <a:srgbClr val="F5F3F1"/>
              </a:solidFill>
              <a:ln>
                <a:noFill/>
              </a:ln>
            </p:spPr>
          </p:sp>
          <p:grpSp>
            <p:nvGrpSpPr>
              <p:cNvPr id="20" name="Group 20"/>
              <p:cNvGrpSpPr/>
              <p:nvPr/>
            </p:nvGrpSpPr>
            <p:grpSpPr>
              <a:xfrm>
                <a:off x="434975" y="2350294"/>
                <a:ext cx="139700" cy="157162"/>
                <a:chOff x="434975" y="2350294"/>
                <a:chExt cx="139700" cy="157162"/>
              </a:xfrm>
            </p:grpSpPr>
            <p:sp>
              <p:nvSpPr>
                <p:cNvPr id="17" name="Freeform 17"/>
                <p:cNvSpPr/>
                <p:nvPr/>
              </p:nvSpPr>
              <p:spPr>
                <a:xfrm>
                  <a:off x="434975" y="23502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1E1E1E"/>
                  </a:solidFill>
                </a:ln>
              </p:spPr>
            </p:sp>
            <p:sp>
              <p:nvSpPr>
                <p:cNvPr id="18" name="Freeform 18"/>
                <p:cNvSpPr/>
                <p:nvPr/>
              </p:nvSpPr>
              <p:spPr>
                <a:xfrm>
                  <a:off x="434975" y="23764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1E1E1E"/>
                  </a:solidFill>
                </a:ln>
              </p:spPr>
            </p:sp>
            <p:sp>
              <p:nvSpPr>
                <p:cNvPr id="19" name="Freeform 19"/>
                <p:cNvSpPr/>
                <p:nvPr/>
              </p:nvSpPr>
              <p:spPr>
                <a:xfrm>
                  <a:off x="434975" y="24288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1E1E1E"/>
                  </a:solidFill>
                </a:ln>
              </p:spPr>
            </p:sp>
          </p:grpSp>
          <p:sp>
            <p:nvSpPr>
              <p:cNvPr id="21" name="TextBox 21"/>
              <p:cNvSpPr txBox="1"/>
              <p:nvPr/>
            </p:nvSpPr>
            <p:spPr>
              <a:xfrm>
                <a:off x="680847" y="2380774"/>
                <a:ext cx="933399"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客户数据核心层</a:t>
                </a:r>
              </a:p>
            </p:txBody>
          </p:sp>
          <p:sp>
            <p:nvSpPr>
              <p:cNvPr id="22" name="TextBox 22"/>
              <p:cNvSpPr txBox="1"/>
              <p:nvPr/>
            </p:nvSpPr>
            <p:spPr>
              <a:xfrm>
                <a:off x="395288" y="2666286"/>
                <a:ext cx="55054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A6A6A"/>
                    </a:solidFill>
                    <a:latin typeface="+mn-lt"/>
                    <a:ea typeface="+mn-ea"/>
                    <a:cs typeface="+mn-cs"/>
                  </a:rPr>
                  <a:t>统一客户视图</a:t>
                </a:r>
                <a:br/>
                <a:r>
                  <a:rPr lang="zh-CN" sz="710" dirty="0">
                    <a:solidFill>
                      <a:srgbClr val="6A6A6A"/>
                    </a:solidFill>
                    <a:latin typeface="+mn-lt"/>
                    <a:ea typeface="+mn-ea"/>
                    <a:cs typeface="+mn-cs"/>
                  </a:rPr>
                  <a:t>实时洞察</a:t>
                </a:r>
              </a:p>
            </p:txBody>
          </p:sp>
        </p:grpSp>
        <p:grpSp>
          <p:nvGrpSpPr>
            <p:cNvPr id="30" name="label-gov"/>
            <p:cNvGrpSpPr/>
            <p:nvPr/>
          </p:nvGrpSpPr>
          <p:grpSpPr>
            <a:xfrm>
              <a:off x="266700" y="3448050"/>
              <a:ext cx="1524000" cy="857250"/>
              <a:chOff x="266700" y="3448050"/>
              <a:chExt cx="1524000" cy="857250"/>
            </a:xfrm>
          </p:grpSpPr>
          <p:sp>
            <p:nvSpPr>
              <p:cNvPr id="24" name="Rectangle 24"/>
              <p:cNvSpPr/>
              <p:nvPr/>
            </p:nvSpPr>
            <p:spPr>
              <a:xfrm>
                <a:off x="266700" y="3448050"/>
                <a:ext cx="1524000" cy="857250"/>
              </a:xfrm>
              <a:prstGeom prst="roundRect">
                <a:avLst>
                  <a:gd name="adj" fmla="val 8889"/>
                </a:avLst>
              </a:prstGeom>
              <a:solidFill>
                <a:srgbClr val="FBEFEF"/>
              </a:solidFill>
              <a:ln>
                <a:noFill/>
              </a:ln>
            </p:spPr>
          </p:sp>
          <p:grpSp>
            <p:nvGrpSpPr>
              <p:cNvPr id="27" name="Group 27"/>
              <p:cNvGrpSpPr/>
              <p:nvPr/>
            </p:nvGrpSpPr>
            <p:grpSpPr>
              <a:xfrm>
                <a:off x="414460" y="3569494"/>
                <a:ext cx="170506" cy="157162"/>
                <a:chOff x="414460" y="3569494"/>
                <a:chExt cx="170506" cy="157162"/>
              </a:xfrm>
            </p:grpSpPr>
            <p:sp>
              <p:nvSpPr>
                <p:cNvPr id="25" name="Freeform 25"/>
                <p:cNvSpPr/>
                <p:nvPr/>
              </p:nvSpPr>
              <p:spPr>
                <a:xfrm>
                  <a:off x="414460" y="356949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B03A1F"/>
                  </a:solidFill>
                </a:ln>
              </p:spPr>
            </p:sp>
            <p:sp>
              <p:nvSpPr>
                <p:cNvPr id="26" name="Freeform 26"/>
                <p:cNvSpPr/>
                <p:nvPr/>
              </p:nvSpPr>
              <p:spPr>
                <a:xfrm>
                  <a:off x="531019" y="3691731"/>
                  <a:ext cx="52388" cy="34925"/>
                </a:xfrm>
                <a:custGeom>
                  <a:avLst/>
                  <a:gdLst/>
                  <a:ahLst/>
                  <a:cxnLst/>
                  <a:rect l="l" t="t" r="r" b="b"/>
                  <a:pathLst>
                    <a:path w="52388" h="34925">
                      <a:moveTo>
                        <a:pt x="0" y="17463"/>
                      </a:moveTo>
                      <a:lnTo>
                        <a:pt x="17463" y="34925"/>
                      </a:lnTo>
                      <a:lnTo>
                        <a:pt x="52388" y="0"/>
                      </a:lnTo>
                    </a:path>
                  </a:pathLst>
                </a:custGeom>
                <a:noFill/>
                <a:ln w="17463">
                  <a:solidFill>
                    <a:srgbClr val="B03A1F"/>
                  </a:solidFill>
                </a:ln>
              </p:spPr>
            </p:sp>
          </p:grpSp>
          <p:sp>
            <p:nvSpPr>
              <p:cNvPr id="28" name="TextBox 28"/>
              <p:cNvSpPr txBox="1"/>
              <p:nvPr/>
            </p:nvSpPr>
            <p:spPr>
              <a:xfrm>
                <a:off x="680847" y="3599974"/>
                <a:ext cx="669544" cy="190690"/>
              </a:xfrm>
              <a:prstGeom prst="rect">
                <a:avLst/>
              </a:prstGeom>
              <a:noFill/>
              <a:ln>
                <a:noFill/>
              </a:ln>
            </p:spPr>
            <p:txBody>
              <a:bodyPr wrap="none" lIns="0" tIns="0" rIns="0" bIns="0" anchor="t" anchorCtr="0">
                <a:spAutoFit/>
              </a:bodyPr>
              <a:lstStyle/>
              <a:p>
                <a:pPr algn="l"/>
                <a:r>
                  <a:rPr lang="zh-CN" sz="980" b="1" dirty="0">
                    <a:solidFill>
                      <a:srgbClr val="B03A1F"/>
                    </a:solidFill>
                    <a:latin typeface="+mn-lt"/>
                    <a:ea typeface="+mn-ea"/>
                    <a:cs typeface="+mn-cs"/>
                  </a:rPr>
                  <a:t>数据治理层</a:t>
                </a:r>
              </a:p>
            </p:txBody>
          </p:sp>
          <p:sp>
            <p:nvSpPr>
              <p:cNvPr id="29" name="TextBox 29"/>
              <p:cNvSpPr txBox="1"/>
              <p:nvPr/>
            </p:nvSpPr>
            <p:spPr>
              <a:xfrm>
                <a:off x="395288" y="3866436"/>
                <a:ext cx="834580"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A6A6A"/>
                    </a:solidFill>
                    <a:latin typeface="+mn-lt"/>
                    <a:ea typeface="+mn-ea"/>
                    <a:cs typeface="+mn-cs"/>
                  </a:rPr>
                  <a:t>标准统一 · 质量可控</a:t>
                </a:r>
                <a:br/>
                <a:r>
                  <a:rPr lang="zh-CN" sz="710" dirty="0">
                    <a:solidFill>
                      <a:srgbClr val="6A6A6A"/>
                    </a:solidFill>
                    <a:latin typeface="+mn-lt"/>
                    <a:ea typeface="+mn-ea"/>
                    <a:cs typeface="+mn-cs"/>
                  </a:rPr>
                  <a:t>安全合规</a:t>
                </a:r>
              </a:p>
            </p:txBody>
          </p:sp>
        </p:grpSp>
        <p:grpSp>
          <p:nvGrpSpPr>
            <p:cNvPr id="39" name="label-source"/>
            <p:cNvGrpSpPr/>
            <p:nvPr/>
          </p:nvGrpSpPr>
          <p:grpSpPr>
            <a:xfrm>
              <a:off x="266700" y="4438650"/>
              <a:ext cx="1524000" cy="857250"/>
              <a:chOff x="266700" y="4438650"/>
              <a:chExt cx="1524000" cy="857250"/>
            </a:xfrm>
          </p:grpSpPr>
          <p:sp>
            <p:nvSpPr>
              <p:cNvPr id="31" name="Rectangle 31"/>
              <p:cNvSpPr/>
              <p:nvPr/>
            </p:nvSpPr>
            <p:spPr>
              <a:xfrm>
                <a:off x="266700" y="4438650"/>
                <a:ext cx="1524000" cy="857250"/>
              </a:xfrm>
              <a:prstGeom prst="roundRect">
                <a:avLst>
                  <a:gd name="adj" fmla="val 8889"/>
                </a:avLst>
              </a:prstGeom>
              <a:solidFill>
                <a:srgbClr val="F5F3F1"/>
              </a:solidFill>
              <a:ln>
                <a:noFill/>
              </a:ln>
            </p:spPr>
          </p:sp>
          <p:grpSp>
            <p:nvGrpSpPr>
              <p:cNvPr id="36" name="Group 36"/>
              <p:cNvGrpSpPr/>
              <p:nvPr/>
            </p:nvGrpSpPr>
            <p:grpSpPr>
              <a:xfrm>
                <a:off x="426244" y="4568825"/>
                <a:ext cx="157163" cy="139700"/>
                <a:chOff x="426244" y="4568825"/>
                <a:chExt cx="157163" cy="139700"/>
              </a:xfrm>
            </p:grpSpPr>
            <p:sp>
              <p:nvSpPr>
                <p:cNvPr id="32" name="Freeform 32"/>
                <p:cNvSpPr/>
                <p:nvPr/>
              </p:nvSpPr>
              <p:spPr>
                <a:xfrm>
                  <a:off x="426244" y="4568825"/>
                  <a:ext cx="157163" cy="69850"/>
                </a:xfrm>
                <a:custGeom>
                  <a:avLst/>
                  <a:gdLst/>
                  <a:ahLst/>
                  <a:cxnLst/>
                  <a:rect l="l" t="t" r="r" b="b"/>
                  <a:pathLst>
                    <a:path w="157163" h="69850">
                      <a:moveTo>
                        <a:pt x="0" y="26194"/>
                      </a:moveTo>
                      <a:cubicBezTo>
                        <a:pt x="0" y="11727"/>
                        <a:pt x="11727" y="0"/>
                        <a:pt x="26194" y="0"/>
                      </a:cubicBezTo>
                      <a:lnTo>
                        <a:pt x="130969" y="0"/>
                      </a:lnTo>
                      <a:cubicBezTo>
                        <a:pt x="145435" y="0"/>
                        <a:pt x="157163" y="11727"/>
                        <a:pt x="157163" y="26194"/>
                      </a:cubicBezTo>
                      <a:lnTo>
                        <a:pt x="157163" y="43656"/>
                      </a:lnTo>
                      <a:cubicBezTo>
                        <a:pt x="157163" y="58123"/>
                        <a:pt x="145435" y="69850"/>
                        <a:pt x="130969" y="69850"/>
                      </a:cubicBezTo>
                      <a:lnTo>
                        <a:pt x="26194" y="69850"/>
                      </a:lnTo>
                      <a:cubicBezTo>
                        <a:pt x="11727" y="69850"/>
                        <a:pt x="0" y="58123"/>
                        <a:pt x="0" y="43656"/>
                      </a:cubicBezTo>
                      <a:lnTo>
                        <a:pt x="0" y="26194"/>
                      </a:lnTo>
                    </a:path>
                  </a:pathLst>
                </a:custGeom>
                <a:noFill/>
                <a:ln w="17463">
                  <a:solidFill>
                    <a:srgbClr val="1E1E1E"/>
                  </a:solidFill>
                </a:ln>
              </p:spPr>
            </p:sp>
            <p:sp>
              <p:nvSpPr>
                <p:cNvPr id="33" name="Freeform 33"/>
                <p:cNvSpPr/>
                <p:nvPr/>
              </p:nvSpPr>
              <p:spPr>
                <a:xfrm>
                  <a:off x="426244" y="4638675"/>
                  <a:ext cx="157163" cy="69850"/>
                </a:xfrm>
                <a:custGeom>
                  <a:avLst/>
                  <a:gdLst/>
                  <a:ahLst/>
                  <a:cxnLst/>
                  <a:rect l="l" t="t" r="r" b="b"/>
                  <a:pathLst>
                    <a:path w="157163" h="69850">
                      <a:moveTo>
                        <a:pt x="0" y="26194"/>
                      </a:moveTo>
                      <a:cubicBezTo>
                        <a:pt x="0" y="11727"/>
                        <a:pt x="11727" y="0"/>
                        <a:pt x="26194" y="0"/>
                      </a:cubicBezTo>
                      <a:lnTo>
                        <a:pt x="130969" y="0"/>
                      </a:lnTo>
                      <a:cubicBezTo>
                        <a:pt x="145435" y="0"/>
                        <a:pt x="157163" y="11727"/>
                        <a:pt x="157163" y="26194"/>
                      </a:cubicBezTo>
                      <a:lnTo>
                        <a:pt x="157163" y="43656"/>
                      </a:lnTo>
                      <a:cubicBezTo>
                        <a:pt x="157163" y="58123"/>
                        <a:pt x="145435" y="69850"/>
                        <a:pt x="130969" y="69850"/>
                      </a:cubicBezTo>
                      <a:lnTo>
                        <a:pt x="26194" y="69850"/>
                      </a:lnTo>
                      <a:cubicBezTo>
                        <a:pt x="11727" y="69850"/>
                        <a:pt x="0" y="58123"/>
                        <a:pt x="0" y="43656"/>
                      </a:cubicBezTo>
                      <a:lnTo>
                        <a:pt x="0" y="26194"/>
                      </a:lnTo>
                    </a:path>
                  </a:pathLst>
                </a:custGeom>
                <a:noFill/>
                <a:ln w="17463">
                  <a:solidFill>
                    <a:srgbClr val="1E1E1E"/>
                  </a:solidFill>
                </a:ln>
              </p:spPr>
            </p:sp>
            <p:sp>
              <p:nvSpPr>
                <p:cNvPr id="34" name="Freeform 34"/>
                <p:cNvSpPr/>
                <p:nvPr/>
              </p:nvSpPr>
              <p:spPr>
                <a:xfrm>
                  <a:off x="461169" y="4603750"/>
                  <a:ext cx="9525" cy="9525"/>
                </a:xfrm>
                <a:custGeom>
                  <a:avLst/>
                  <a:gdLst/>
                  <a:ahLst/>
                  <a:cxnLst/>
                  <a:rect l="l" t="t" r="r" b="b"/>
                  <a:pathLst>
                    <a:path w="9525" h="9525">
                      <a:moveTo>
                        <a:pt x="0" y="0"/>
                      </a:moveTo>
                      <a:lnTo>
                        <a:pt x="0" y="87"/>
                      </a:lnTo>
                    </a:path>
                  </a:pathLst>
                </a:custGeom>
                <a:noFill/>
                <a:ln w="17463">
                  <a:solidFill>
                    <a:srgbClr val="1E1E1E"/>
                  </a:solidFill>
                </a:ln>
              </p:spPr>
            </p:sp>
            <p:sp>
              <p:nvSpPr>
                <p:cNvPr id="35" name="Freeform 35"/>
                <p:cNvSpPr/>
                <p:nvPr/>
              </p:nvSpPr>
              <p:spPr>
                <a:xfrm>
                  <a:off x="461169" y="4673600"/>
                  <a:ext cx="9525" cy="9525"/>
                </a:xfrm>
                <a:custGeom>
                  <a:avLst/>
                  <a:gdLst/>
                  <a:ahLst/>
                  <a:cxnLst/>
                  <a:rect l="l" t="t" r="r" b="b"/>
                  <a:pathLst>
                    <a:path w="9525" h="9525">
                      <a:moveTo>
                        <a:pt x="0" y="0"/>
                      </a:moveTo>
                      <a:lnTo>
                        <a:pt x="0" y="87"/>
                      </a:lnTo>
                    </a:path>
                  </a:pathLst>
                </a:custGeom>
                <a:noFill/>
                <a:ln w="17463">
                  <a:solidFill>
                    <a:srgbClr val="1E1E1E"/>
                  </a:solidFill>
                </a:ln>
              </p:spPr>
            </p:sp>
          </p:grpSp>
          <p:sp>
            <p:nvSpPr>
              <p:cNvPr id="37" name="TextBox 37"/>
              <p:cNvSpPr txBox="1"/>
              <p:nvPr/>
            </p:nvSpPr>
            <p:spPr>
              <a:xfrm>
                <a:off x="680847" y="4590574"/>
                <a:ext cx="669544"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数据来源层</a:t>
                </a:r>
              </a:p>
            </p:txBody>
          </p:sp>
          <p:sp>
            <p:nvSpPr>
              <p:cNvPr id="38" name="TextBox 38"/>
              <p:cNvSpPr txBox="1"/>
              <p:nvPr/>
            </p:nvSpPr>
            <p:spPr>
              <a:xfrm>
                <a:off x="395288" y="4857036"/>
                <a:ext cx="834580"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A6A6A"/>
                    </a:solidFill>
                    <a:latin typeface="+mn-lt"/>
                    <a:ea typeface="+mn-ea"/>
                    <a:cs typeface="+mn-cs"/>
                  </a:rPr>
                  <a:t>多源汇聚 · 全域覆盖</a:t>
                </a:r>
                <a:br/>
                <a:r>
                  <a:rPr lang="zh-CN" sz="710" dirty="0">
                    <a:solidFill>
                      <a:srgbClr val="6A6A6A"/>
                    </a:solidFill>
                    <a:latin typeface="+mn-lt"/>
                    <a:ea typeface="+mn-ea"/>
                    <a:cs typeface="+mn-cs"/>
                  </a:rPr>
                  <a:t>持续接入</a:t>
                </a:r>
              </a:p>
            </p:txBody>
          </p:sp>
        </p:grpSp>
      </p:grpSp>
      <p:grpSp>
        <p:nvGrpSpPr>
          <p:cNvPr id="87" name="app-layer"/>
          <p:cNvGrpSpPr/>
          <p:nvPr/>
        </p:nvGrpSpPr>
        <p:grpSpPr>
          <a:xfrm>
            <a:off x="1905000" y="904875"/>
            <a:ext cx="6505575" cy="1285875"/>
            <a:chOff x="1905000" y="904875"/>
            <a:chExt cx="6505575" cy="1285875"/>
          </a:xfrm>
        </p:grpSpPr>
        <p:grpSp>
          <p:nvGrpSpPr>
            <p:cNvPr id="85" name="app-cards"/>
            <p:cNvGrpSpPr/>
            <p:nvPr/>
          </p:nvGrpSpPr>
          <p:grpSpPr>
            <a:xfrm>
              <a:off x="1905000" y="904875"/>
              <a:ext cx="6505575" cy="1047750"/>
              <a:chOff x="1905000" y="904875"/>
              <a:chExt cx="6505575" cy="1047750"/>
            </a:xfrm>
          </p:grpSpPr>
          <p:sp>
            <p:nvSpPr>
              <p:cNvPr id="41" name="Rectangle 41"/>
              <p:cNvSpPr/>
              <p:nvPr/>
            </p:nvSpPr>
            <p:spPr>
              <a:xfrm>
                <a:off x="1905000" y="904875"/>
                <a:ext cx="1028700" cy="1047750"/>
              </a:xfrm>
              <a:prstGeom prst="roundRect">
                <a:avLst>
                  <a:gd name="adj" fmla="val 7407"/>
                </a:avLst>
              </a:prstGeom>
              <a:solidFill>
                <a:srgbClr val="FFFFFF"/>
              </a:solidFill>
              <a:ln w="9525">
                <a:solidFill>
                  <a:srgbClr val="E8E4E0"/>
                </a:solidFill>
              </a:ln>
            </p:spPr>
          </p:sp>
          <p:sp>
            <p:nvSpPr>
              <p:cNvPr id="42" name="Ellipse 42"/>
              <p:cNvSpPr/>
              <p:nvPr/>
            </p:nvSpPr>
            <p:spPr>
              <a:xfrm>
                <a:off x="2209800" y="1104900"/>
                <a:ext cx="419100" cy="419100"/>
              </a:xfrm>
              <a:prstGeom prst="ellipse">
                <a:avLst/>
              </a:prstGeom>
              <a:solidFill>
                <a:srgbClr val="FBEFEF"/>
              </a:solidFill>
              <a:ln>
                <a:noFill/>
              </a:ln>
            </p:spPr>
          </p:sp>
          <p:grpSp>
            <p:nvGrpSpPr>
              <p:cNvPr id="46" name="Group 46"/>
              <p:cNvGrpSpPr/>
              <p:nvPr/>
            </p:nvGrpSpPr>
            <p:grpSpPr>
              <a:xfrm>
                <a:off x="2333625" y="1228725"/>
                <a:ext cx="171450" cy="171450"/>
                <a:chOff x="2333625" y="1228725"/>
                <a:chExt cx="171450" cy="171450"/>
              </a:xfrm>
            </p:grpSpPr>
            <p:sp>
              <p:nvSpPr>
                <p:cNvPr id="43" name="Freeform 43"/>
                <p:cNvSpPr/>
                <p:nvPr/>
              </p:nvSpPr>
              <p:spPr>
                <a:xfrm>
                  <a:off x="2409825" y="13049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B03A1F"/>
                  </a:solidFill>
                </a:ln>
              </p:spPr>
            </p:sp>
            <p:sp>
              <p:nvSpPr>
                <p:cNvPr id="44" name="Freeform 44"/>
                <p:cNvSpPr/>
                <p:nvPr/>
              </p:nvSpPr>
              <p:spPr>
                <a:xfrm>
                  <a:off x="2371725" y="12668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B03A1F"/>
                  </a:solidFill>
                </a:ln>
              </p:spPr>
            </p:sp>
            <p:sp>
              <p:nvSpPr>
                <p:cNvPr id="45" name="Freeform 45"/>
                <p:cNvSpPr/>
                <p:nvPr/>
              </p:nvSpPr>
              <p:spPr>
                <a:xfrm>
                  <a:off x="2333625" y="1228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B03A1F"/>
                  </a:solidFill>
                </a:ln>
              </p:spPr>
            </p:sp>
          </p:grpSp>
          <p:sp>
            <p:nvSpPr>
              <p:cNvPr id="47" name="TextBox 47"/>
              <p:cNvSpPr txBox="1"/>
              <p:nvPr/>
            </p:nvSpPr>
            <p:spPr>
              <a:xfrm>
                <a:off x="2172272" y="1693545"/>
                <a:ext cx="494157" cy="176212"/>
              </a:xfrm>
              <a:prstGeom prst="rect">
                <a:avLst/>
              </a:prstGeom>
              <a:noFill/>
              <a:ln>
                <a:noFill/>
              </a:ln>
            </p:spPr>
            <p:txBody>
              <a:bodyPr wrap="none" lIns="0" tIns="0" rIns="0" bIns="0" anchor="t" anchorCtr="0">
                <a:spAutoFit/>
              </a:bodyPr>
              <a:lstStyle/>
              <a:p>
                <a:pPr algn="ctr"/>
                <a:r>
                  <a:rPr lang="zh-CN" sz="900" b="1" dirty="0">
                    <a:solidFill>
                      <a:srgbClr val="1E1E1E"/>
                    </a:solidFill>
                    <a:latin typeface="+mn-lt"/>
                    <a:ea typeface="+mn-ea"/>
                    <a:cs typeface="+mn-cs"/>
                  </a:rPr>
                  <a:t>精准营销</a:t>
                </a:r>
              </a:p>
            </p:txBody>
          </p:sp>
          <p:sp>
            <p:nvSpPr>
              <p:cNvPr id="48" name="Rectangle 48"/>
              <p:cNvSpPr/>
              <p:nvPr/>
            </p:nvSpPr>
            <p:spPr>
              <a:xfrm>
                <a:off x="3000375" y="904875"/>
                <a:ext cx="1028700" cy="1047750"/>
              </a:xfrm>
              <a:prstGeom prst="roundRect">
                <a:avLst>
                  <a:gd name="adj" fmla="val 7407"/>
                </a:avLst>
              </a:prstGeom>
              <a:solidFill>
                <a:srgbClr val="FFFFFF"/>
              </a:solidFill>
              <a:ln w="9525">
                <a:solidFill>
                  <a:srgbClr val="E8E4E0"/>
                </a:solidFill>
              </a:ln>
            </p:spPr>
          </p:sp>
          <p:sp>
            <p:nvSpPr>
              <p:cNvPr id="49" name="Ellipse 49"/>
              <p:cNvSpPr/>
              <p:nvPr/>
            </p:nvSpPr>
            <p:spPr>
              <a:xfrm>
                <a:off x="3305175" y="1104900"/>
                <a:ext cx="419100" cy="419100"/>
              </a:xfrm>
              <a:prstGeom prst="ellipse">
                <a:avLst/>
              </a:prstGeom>
              <a:solidFill>
                <a:srgbClr val="FBEFEF"/>
              </a:solidFill>
              <a:ln>
                <a:noFill/>
              </a:ln>
            </p:spPr>
          </p:sp>
          <p:grpSp>
            <p:nvGrpSpPr>
              <p:cNvPr id="54" name="Group 54"/>
              <p:cNvGrpSpPr/>
              <p:nvPr/>
            </p:nvGrpSpPr>
            <p:grpSpPr>
              <a:xfrm>
                <a:off x="3429000" y="1228725"/>
                <a:ext cx="171450" cy="171450"/>
                <a:chOff x="3429000" y="1228725"/>
                <a:chExt cx="171450" cy="171450"/>
              </a:xfrm>
            </p:grpSpPr>
            <p:sp>
              <p:nvSpPr>
                <p:cNvPr id="50" name="Freeform 50"/>
                <p:cNvSpPr/>
                <p:nvPr/>
              </p:nvSpPr>
              <p:spPr>
                <a:xfrm>
                  <a:off x="3448050" y="12287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B03A1F"/>
                  </a:solidFill>
                </a:ln>
              </p:spPr>
            </p:sp>
            <p:sp>
              <p:nvSpPr>
                <p:cNvPr id="51" name="Freeform 51"/>
                <p:cNvSpPr/>
                <p:nvPr/>
              </p:nvSpPr>
              <p:spPr>
                <a:xfrm>
                  <a:off x="3429000" y="13430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B03A1F"/>
                  </a:solidFill>
                </a:ln>
              </p:spPr>
            </p:sp>
            <p:sp>
              <p:nvSpPr>
                <p:cNvPr id="52" name="Freeform 52"/>
                <p:cNvSpPr/>
                <p:nvPr/>
              </p:nvSpPr>
              <p:spPr>
                <a:xfrm>
                  <a:off x="3552825" y="12299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B03A1F"/>
                  </a:solidFill>
                </a:ln>
              </p:spPr>
            </p:sp>
            <p:sp>
              <p:nvSpPr>
                <p:cNvPr id="53" name="Freeform 53"/>
                <p:cNvSpPr/>
                <p:nvPr/>
              </p:nvSpPr>
              <p:spPr>
                <a:xfrm>
                  <a:off x="3571875" y="13444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B03A1F"/>
                  </a:solidFill>
                </a:ln>
              </p:spPr>
            </p:sp>
          </p:grpSp>
          <p:sp>
            <p:nvSpPr>
              <p:cNvPr id="55" name="TextBox 55"/>
              <p:cNvSpPr txBox="1"/>
              <p:nvPr/>
            </p:nvSpPr>
            <p:spPr>
              <a:xfrm>
                <a:off x="3267646" y="1693545"/>
                <a:ext cx="494157" cy="176212"/>
              </a:xfrm>
              <a:prstGeom prst="rect">
                <a:avLst/>
              </a:prstGeom>
              <a:noFill/>
              <a:ln>
                <a:noFill/>
              </a:ln>
            </p:spPr>
            <p:txBody>
              <a:bodyPr wrap="none" lIns="0" tIns="0" rIns="0" bIns="0" anchor="t" anchorCtr="0">
                <a:spAutoFit/>
              </a:bodyPr>
              <a:lstStyle/>
              <a:p>
                <a:pPr algn="ctr"/>
                <a:r>
                  <a:rPr lang="zh-CN" sz="900" b="1" dirty="0">
                    <a:solidFill>
                      <a:srgbClr val="1E1E1E"/>
                    </a:solidFill>
                    <a:latin typeface="+mn-lt"/>
                    <a:ea typeface="+mn-ea"/>
                    <a:cs typeface="+mn-cs"/>
                  </a:rPr>
                  <a:t>客户分层</a:t>
                </a:r>
              </a:p>
            </p:txBody>
          </p:sp>
          <p:sp>
            <p:nvSpPr>
              <p:cNvPr id="56" name="Rectangle 56"/>
              <p:cNvSpPr/>
              <p:nvPr/>
            </p:nvSpPr>
            <p:spPr>
              <a:xfrm>
                <a:off x="4095750" y="904875"/>
                <a:ext cx="1028700" cy="1047750"/>
              </a:xfrm>
              <a:prstGeom prst="roundRect">
                <a:avLst>
                  <a:gd name="adj" fmla="val 7407"/>
                </a:avLst>
              </a:prstGeom>
              <a:solidFill>
                <a:srgbClr val="FFFFFF"/>
              </a:solidFill>
              <a:ln w="9525">
                <a:solidFill>
                  <a:srgbClr val="E8E4E0"/>
                </a:solidFill>
              </a:ln>
            </p:spPr>
          </p:sp>
          <p:sp>
            <p:nvSpPr>
              <p:cNvPr id="57" name="Ellipse 57"/>
              <p:cNvSpPr/>
              <p:nvPr/>
            </p:nvSpPr>
            <p:spPr>
              <a:xfrm>
                <a:off x="4400550" y="1104900"/>
                <a:ext cx="419100" cy="419100"/>
              </a:xfrm>
              <a:prstGeom prst="ellipse">
                <a:avLst/>
              </a:prstGeom>
              <a:solidFill>
                <a:srgbClr val="FBEFEF"/>
              </a:solidFill>
              <a:ln>
                <a:noFill/>
              </a:ln>
            </p:spPr>
          </p:sp>
          <p:grpSp>
            <p:nvGrpSpPr>
              <p:cNvPr id="61" name="Group 61"/>
              <p:cNvGrpSpPr/>
              <p:nvPr/>
            </p:nvGrpSpPr>
            <p:grpSpPr>
              <a:xfrm>
                <a:off x="4524375" y="1228725"/>
                <a:ext cx="171450" cy="171450"/>
                <a:chOff x="4524375" y="1228725"/>
                <a:chExt cx="171450" cy="171450"/>
              </a:xfrm>
            </p:grpSpPr>
            <p:sp>
              <p:nvSpPr>
                <p:cNvPr id="58" name="Freeform 58"/>
                <p:cNvSpPr/>
                <p:nvPr/>
              </p:nvSpPr>
              <p:spPr>
                <a:xfrm>
                  <a:off x="4524375" y="1228725"/>
                  <a:ext cx="171450" cy="85725"/>
                </a:xfrm>
                <a:custGeom>
                  <a:avLst/>
                  <a:gdLst/>
                  <a:ahLst/>
                  <a:cxnLst/>
                  <a:rect l="l" t="t" r="r" b="b"/>
                  <a:pathLst>
                    <a:path w="171450" h="85725">
                      <a:moveTo>
                        <a:pt x="0" y="85725"/>
                      </a:moveTo>
                      <a:lnTo>
                        <a:pt x="9525" y="85725"/>
                      </a:lnTo>
                      <a:moveTo>
                        <a:pt x="85725" y="0"/>
                      </a:moveTo>
                      <a:lnTo>
                        <a:pt x="85725" y="9525"/>
                      </a:lnTo>
                      <a:moveTo>
                        <a:pt x="161925" y="85725"/>
                      </a:moveTo>
                      <a:lnTo>
                        <a:pt x="171450" y="85725"/>
                      </a:lnTo>
                      <a:moveTo>
                        <a:pt x="24765" y="24765"/>
                      </a:moveTo>
                      <a:lnTo>
                        <a:pt x="31433" y="31433"/>
                      </a:lnTo>
                      <a:moveTo>
                        <a:pt x="146685" y="24765"/>
                      </a:moveTo>
                      <a:lnTo>
                        <a:pt x="140017" y="31433"/>
                      </a:lnTo>
                    </a:path>
                  </a:pathLst>
                </a:custGeom>
                <a:noFill/>
                <a:ln w="19050">
                  <a:solidFill>
                    <a:srgbClr val="B03A1F"/>
                  </a:solidFill>
                </a:ln>
              </p:spPr>
            </p:sp>
            <p:sp>
              <p:nvSpPr>
                <p:cNvPr id="59" name="Freeform 59"/>
                <p:cNvSpPr/>
                <p:nvPr/>
              </p:nvSpPr>
              <p:spPr>
                <a:xfrm>
                  <a:off x="4558437" y="1266825"/>
                  <a:ext cx="103327" cy="133350"/>
                </a:xfrm>
                <a:custGeom>
                  <a:avLst/>
                  <a:gdLst/>
                  <a:ahLst/>
                  <a:cxnLst/>
                  <a:rect l="l" t="t" r="r" b="b"/>
                  <a:pathLst>
                    <a:path w="103327" h="133350">
                      <a:moveTo>
                        <a:pt x="23088" y="85725"/>
                      </a:moveTo>
                      <a:cubicBezTo>
                        <a:pt x="6689" y="73425"/>
                        <a:pt x="0" y="52012"/>
                        <a:pt x="6482" y="32565"/>
                      </a:cubicBezTo>
                      <a:cubicBezTo>
                        <a:pt x="12965" y="13117"/>
                        <a:pt x="31164" y="0"/>
                        <a:pt x="51663" y="0"/>
                      </a:cubicBezTo>
                      <a:cubicBezTo>
                        <a:pt x="72163" y="0"/>
                        <a:pt x="90362" y="13117"/>
                        <a:pt x="96845" y="32565"/>
                      </a:cubicBezTo>
                      <a:cubicBezTo>
                        <a:pt x="103327" y="52012"/>
                        <a:pt x="96638" y="73425"/>
                        <a:pt x="80238" y="85725"/>
                      </a:cubicBezTo>
                      <a:cubicBezTo>
                        <a:pt x="72696" y="93191"/>
                        <a:pt x="69159" y="103802"/>
                        <a:pt x="70713" y="114300"/>
                      </a:cubicBezTo>
                      <a:cubicBezTo>
                        <a:pt x="70713" y="124821"/>
                        <a:pt x="62184" y="133350"/>
                        <a:pt x="51663" y="133350"/>
                      </a:cubicBezTo>
                      <a:cubicBezTo>
                        <a:pt x="41142" y="133350"/>
                        <a:pt x="32613" y="124821"/>
                        <a:pt x="32613" y="114300"/>
                      </a:cubicBezTo>
                      <a:cubicBezTo>
                        <a:pt x="34168" y="103802"/>
                        <a:pt x="30631" y="93191"/>
                        <a:pt x="23088" y="85725"/>
                      </a:cubicBezTo>
                    </a:path>
                  </a:pathLst>
                </a:custGeom>
                <a:noFill/>
                <a:ln w="19050">
                  <a:solidFill>
                    <a:srgbClr val="B03A1F"/>
                  </a:solidFill>
                </a:ln>
              </p:spPr>
            </p:sp>
            <p:sp>
              <p:nvSpPr>
                <p:cNvPr id="60" name="Freeform 60"/>
                <p:cNvSpPr/>
                <p:nvPr/>
              </p:nvSpPr>
              <p:spPr>
                <a:xfrm>
                  <a:off x="4588192" y="1362075"/>
                  <a:ext cx="43815" cy="9525"/>
                </a:xfrm>
                <a:custGeom>
                  <a:avLst/>
                  <a:gdLst/>
                  <a:ahLst/>
                  <a:cxnLst/>
                  <a:rect l="l" t="t" r="r" b="b"/>
                  <a:pathLst>
                    <a:path w="43815" h="9525">
                      <a:moveTo>
                        <a:pt x="0" y="0"/>
                      </a:moveTo>
                      <a:lnTo>
                        <a:pt x="43815" y="0"/>
                      </a:lnTo>
                    </a:path>
                  </a:pathLst>
                </a:custGeom>
                <a:noFill/>
                <a:ln w="19050">
                  <a:solidFill>
                    <a:srgbClr val="B03A1F"/>
                  </a:solidFill>
                </a:ln>
              </p:spPr>
            </p:sp>
          </p:grpSp>
          <p:sp>
            <p:nvSpPr>
              <p:cNvPr id="62" name="TextBox 62"/>
              <p:cNvSpPr txBox="1"/>
              <p:nvPr/>
            </p:nvSpPr>
            <p:spPr>
              <a:xfrm>
                <a:off x="4363022" y="1693545"/>
                <a:ext cx="494157" cy="176212"/>
              </a:xfrm>
              <a:prstGeom prst="rect">
                <a:avLst/>
              </a:prstGeom>
              <a:noFill/>
              <a:ln>
                <a:noFill/>
              </a:ln>
            </p:spPr>
            <p:txBody>
              <a:bodyPr wrap="none" lIns="0" tIns="0" rIns="0" bIns="0" anchor="t" anchorCtr="0">
                <a:spAutoFit/>
              </a:bodyPr>
              <a:lstStyle/>
              <a:p>
                <a:pPr algn="ctr"/>
                <a:r>
                  <a:rPr lang="zh-CN" sz="900" b="1" dirty="0">
                    <a:solidFill>
                      <a:srgbClr val="1E1E1E"/>
                    </a:solidFill>
                    <a:latin typeface="+mn-lt"/>
                    <a:ea typeface="+mn-ea"/>
                    <a:cs typeface="+mn-cs"/>
                  </a:rPr>
                  <a:t>机会推荐</a:t>
                </a:r>
              </a:p>
            </p:txBody>
          </p:sp>
          <p:sp>
            <p:nvSpPr>
              <p:cNvPr id="63" name="Rectangle 63"/>
              <p:cNvSpPr/>
              <p:nvPr/>
            </p:nvSpPr>
            <p:spPr>
              <a:xfrm>
                <a:off x="5191125" y="904875"/>
                <a:ext cx="1028700" cy="1047750"/>
              </a:xfrm>
              <a:prstGeom prst="roundRect">
                <a:avLst>
                  <a:gd name="adj" fmla="val 7407"/>
                </a:avLst>
              </a:prstGeom>
              <a:solidFill>
                <a:srgbClr val="FFFFFF"/>
              </a:solidFill>
              <a:ln w="9525">
                <a:solidFill>
                  <a:srgbClr val="E8E4E0"/>
                </a:solidFill>
              </a:ln>
            </p:spPr>
          </p:sp>
          <p:sp>
            <p:nvSpPr>
              <p:cNvPr id="64" name="Ellipse 64"/>
              <p:cNvSpPr/>
              <p:nvPr/>
            </p:nvSpPr>
            <p:spPr>
              <a:xfrm>
                <a:off x="5495925" y="1104900"/>
                <a:ext cx="419100" cy="419100"/>
              </a:xfrm>
              <a:prstGeom prst="ellipse">
                <a:avLst/>
              </a:prstGeom>
              <a:solidFill>
                <a:srgbClr val="FBEFEF"/>
              </a:solidFill>
              <a:ln>
                <a:noFill/>
              </a:ln>
            </p:spPr>
          </p:sp>
          <p:grpSp>
            <p:nvGrpSpPr>
              <p:cNvPr id="68" name="Group 68"/>
              <p:cNvGrpSpPr/>
              <p:nvPr/>
            </p:nvGrpSpPr>
            <p:grpSpPr>
              <a:xfrm>
                <a:off x="5609414" y="1225561"/>
                <a:ext cx="192114" cy="165051"/>
                <a:chOff x="5609414" y="1225561"/>
                <a:chExt cx="192114" cy="165051"/>
              </a:xfrm>
            </p:grpSpPr>
            <p:sp>
              <p:nvSpPr>
                <p:cNvPr id="65" name="Freeform 65"/>
                <p:cNvSpPr/>
                <p:nvPr/>
              </p:nvSpPr>
              <p:spPr>
                <a:xfrm>
                  <a:off x="5705475" y="1285875"/>
                  <a:ext cx="9525" cy="38100"/>
                </a:xfrm>
                <a:custGeom>
                  <a:avLst/>
                  <a:gdLst/>
                  <a:ahLst/>
                  <a:cxnLst/>
                  <a:rect l="l" t="t" r="r" b="b"/>
                  <a:pathLst>
                    <a:path w="9525" h="38100">
                      <a:moveTo>
                        <a:pt x="0" y="0"/>
                      </a:moveTo>
                      <a:lnTo>
                        <a:pt x="0" y="38100"/>
                      </a:lnTo>
                    </a:path>
                  </a:pathLst>
                </a:custGeom>
                <a:noFill/>
                <a:ln w="19050">
                  <a:solidFill>
                    <a:srgbClr val="B03A1F"/>
                  </a:solidFill>
                </a:ln>
              </p:spPr>
            </p:sp>
            <p:sp>
              <p:nvSpPr>
                <p:cNvPr id="66" name="Freeform 66"/>
                <p:cNvSpPr/>
                <p:nvPr/>
              </p:nvSpPr>
              <p:spPr>
                <a:xfrm>
                  <a:off x="5609414" y="122556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B03A1F"/>
                  </a:solidFill>
                </a:ln>
              </p:spPr>
            </p:sp>
            <p:sp>
              <p:nvSpPr>
                <p:cNvPr id="67" name="Freeform 67"/>
                <p:cNvSpPr/>
                <p:nvPr/>
              </p:nvSpPr>
              <p:spPr>
                <a:xfrm>
                  <a:off x="5705475" y="1352550"/>
                  <a:ext cx="9525" cy="9525"/>
                </a:xfrm>
                <a:custGeom>
                  <a:avLst/>
                  <a:gdLst/>
                  <a:ahLst/>
                  <a:cxnLst/>
                  <a:rect l="l" t="t" r="r" b="b"/>
                  <a:pathLst>
                    <a:path w="9525" h="9525">
                      <a:moveTo>
                        <a:pt x="0" y="0"/>
                      </a:moveTo>
                      <a:lnTo>
                        <a:pt x="95" y="0"/>
                      </a:lnTo>
                    </a:path>
                  </a:pathLst>
                </a:custGeom>
                <a:noFill/>
                <a:ln w="19050">
                  <a:solidFill>
                    <a:srgbClr val="B03A1F"/>
                  </a:solidFill>
                </a:ln>
              </p:spPr>
            </p:sp>
          </p:grpSp>
          <p:sp>
            <p:nvSpPr>
              <p:cNvPr id="69" name="TextBox 69"/>
              <p:cNvSpPr txBox="1"/>
              <p:nvPr/>
            </p:nvSpPr>
            <p:spPr>
              <a:xfrm>
                <a:off x="5458396" y="1693545"/>
                <a:ext cx="494157" cy="176212"/>
              </a:xfrm>
              <a:prstGeom prst="rect">
                <a:avLst/>
              </a:prstGeom>
              <a:noFill/>
              <a:ln>
                <a:noFill/>
              </a:ln>
            </p:spPr>
            <p:txBody>
              <a:bodyPr wrap="none" lIns="0" tIns="0" rIns="0" bIns="0" anchor="t" anchorCtr="0">
                <a:spAutoFit/>
              </a:bodyPr>
              <a:lstStyle/>
              <a:p>
                <a:pPr algn="ctr"/>
                <a:r>
                  <a:rPr lang="zh-CN" sz="900" b="1" dirty="0">
                    <a:solidFill>
                      <a:srgbClr val="1E1E1E"/>
                    </a:solidFill>
                    <a:latin typeface="+mn-lt"/>
                    <a:ea typeface="+mn-ea"/>
                    <a:cs typeface="+mn-cs"/>
                  </a:rPr>
                  <a:t>流失预警</a:t>
                </a:r>
              </a:p>
            </p:txBody>
          </p:sp>
          <p:sp>
            <p:nvSpPr>
              <p:cNvPr id="70" name="Rectangle 70"/>
              <p:cNvSpPr/>
              <p:nvPr/>
            </p:nvSpPr>
            <p:spPr>
              <a:xfrm>
                <a:off x="6286500" y="904875"/>
                <a:ext cx="1028700" cy="1047750"/>
              </a:xfrm>
              <a:prstGeom prst="roundRect">
                <a:avLst>
                  <a:gd name="adj" fmla="val 7407"/>
                </a:avLst>
              </a:prstGeom>
              <a:solidFill>
                <a:srgbClr val="FFFFFF"/>
              </a:solidFill>
              <a:ln w="9525">
                <a:solidFill>
                  <a:srgbClr val="E8E4E0"/>
                </a:solidFill>
              </a:ln>
            </p:spPr>
          </p:sp>
          <p:sp>
            <p:nvSpPr>
              <p:cNvPr id="71" name="Ellipse 71"/>
              <p:cNvSpPr/>
              <p:nvPr/>
            </p:nvSpPr>
            <p:spPr>
              <a:xfrm>
                <a:off x="6591300" y="1104900"/>
                <a:ext cx="419100" cy="419100"/>
              </a:xfrm>
              <a:prstGeom prst="ellipse">
                <a:avLst/>
              </a:prstGeom>
              <a:solidFill>
                <a:srgbClr val="FBEFEF"/>
              </a:solidFill>
              <a:ln>
                <a:noFill/>
              </a:ln>
            </p:spPr>
          </p:sp>
          <p:grpSp>
            <p:nvGrpSpPr>
              <p:cNvPr id="77" name="Group 77"/>
              <p:cNvGrpSpPr/>
              <p:nvPr/>
            </p:nvGrpSpPr>
            <p:grpSpPr>
              <a:xfrm>
                <a:off x="6715125" y="1228725"/>
                <a:ext cx="171450" cy="171450"/>
                <a:chOff x="6715125" y="1228725"/>
                <a:chExt cx="171450" cy="171450"/>
              </a:xfrm>
            </p:grpSpPr>
            <p:sp>
              <p:nvSpPr>
                <p:cNvPr id="72" name="Freeform 72"/>
                <p:cNvSpPr/>
                <p:nvPr/>
              </p:nvSpPr>
              <p:spPr>
                <a:xfrm>
                  <a:off x="6715125" y="134302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B03A1F"/>
                  </a:solidFill>
                </a:ln>
              </p:spPr>
            </p:sp>
            <p:sp>
              <p:nvSpPr>
                <p:cNvPr id="73" name="Freeform 73"/>
                <p:cNvSpPr/>
                <p:nvPr/>
              </p:nvSpPr>
              <p:spPr>
                <a:xfrm>
                  <a:off x="6829425" y="134302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B03A1F"/>
                  </a:solidFill>
                </a:ln>
              </p:spPr>
            </p:sp>
            <p:sp>
              <p:nvSpPr>
                <p:cNvPr id="74" name="Freeform 74"/>
                <p:cNvSpPr/>
                <p:nvPr/>
              </p:nvSpPr>
              <p:spPr>
                <a:xfrm>
                  <a:off x="6772275" y="122872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B03A1F"/>
                  </a:solidFill>
                </a:ln>
              </p:spPr>
            </p:sp>
            <p:sp>
              <p:nvSpPr>
                <p:cNvPr id="75" name="Freeform 75"/>
                <p:cNvSpPr/>
                <p:nvPr/>
              </p:nvSpPr>
              <p:spPr>
                <a:xfrm>
                  <a:off x="6743700" y="1314450"/>
                  <a:ext cx="114300" cy="28575"/>
                </a:xfrm>
                <a:custGeom>
                  <a:avLst/>
                  <a:gdLst/>
                  <a:ahLst/>
                  <a:cxnLst/>
                  <a:rect l="l" t="t" r="r" b="b"/>
                  <a:pathLst>
                    <a:path w="114300" h="28575">
                      <a:moveTo>
                        <a:pt x="0" y="28575"/>
                      </a:moveTo>
                      <a:lnTo>
                        <a:pt x="0" y="19050"/>
                      </a:lnTo>
                      <a:cubicBezTo>
                        <a:pt x="0" y="8529"/>
                        <a:pt x="8529" y="0"/>
                        <a:pt x="19050" y="0"/>
                      </a:cubicBezTo>
                      <a:lnTo>
                        <a:pt x="95250" y="0"/>
                      </a:lnTo>
                      <a:cubicBezTo>
                        <a:pt x="105771" y="0"/>
                        <a:pt x="114300" y="8529"/>
                        <a:pt x="114300" y="19050"/>
                      </a:cubicBezTo>
                      <a:lnTo>
                        <a:pt x="114300" y="28575"/>
                      </a:lnTo>
                    </a:path>
                  </a:pathLst>
                </a:custGeom>
                <a:noFill/>
                <a:ln w="19050">
                  <a:solidFill>
                    <a:srgbClr val="B03A1F"/>
                  </a:solidFill>
                </a:ln>
              </p:spPr>
            </p:sp>
            <p:sp>
              <p:nvSpPr>
                <p:cNvPr id="76" name="Freeform 76"/>
                <p:cNvSpPr/>
                <p:nvPr/>
              </p:nvSpPr>
              <p:spPr>
                <a:xfrm>
                  <a:off x="6800850" y="1285875"/>
                  <a:ext cx="9525" cy="28575"/>
                </a:xfrm>
                <a:custGeom>
                  <a:avLst/>
                  <a:gdLst/>
                  <a:ahLst/>
                  <a:cxnLst/>
                  <a:rect l="l" t="t" r="r" b="b"/>
                  <a:pathLst>
                    <a:path w="9525" h="28575">
                      <a:moveTo>
                        <a:pt x="0" y="0"/>
                      </a:moveTo>
                      <a:lnTo>
                        <a:pt x="0" y="28575"/>
                      </a:lnTo>
                    </a:path>
                  </a:pathLst>
                </a:custGeom>
                <a:noFill/>
                <a:ln w="19050">
                  <a:solidFill>
                    <a:srgbClr val="B03A1F"/>
                  </a:solidFill>
                </a:ln>
              </p:spPr>
            </p:sp>
          </p:grpSp>
          <p:sp>
            <p:nvSpPr>
              <p:cNvPr id="78" name="TextBox 78"/>
              <p:cNvSpPr txBox="1"/>
              <p:nvPr/>
            </p:nvSpPr>
            <p:spPr>
              <a:xfrm>
                <a:off x="6553771" y="1693545"/>
                <a:ext cx="494157" cy="176212"/>
              </a:xfrm>
              <a:prstGeom prst="rect">
                <a:avLst/>
              </a:prstGeom>
              <a:noFill/>
              <a:ln>
                <a:noFill/>
              </a:ln>
            </p:spPr>
            <p:txBody>
              <a:bodyPr wrap="none" lIns="0" tIns="0" rIns="0" bIns="0" anchor="t" anchorCtr="0">
                <a:spAutoFit/>
              </a:bodyPr>
              <a:lstStyle/>
              <a:p>
                <a:pPr algn="ctr"/>
                <a:r>
                  <a:rPr lang="zh-CN" sz="900" b="1" dirty="0">
                    <a:solidFill>
                      <a:srgbClr val="1E1E1E"/>
                    </a:solidFill>
                    <a:latin typeface="+mn-lt"/>
                    <a:ea typeface="+mn-ea"/>
                    <a:cs typeface="+mn-cs"/>
                  </a:rPr>
                  <a:t>服务编排</a:t>
                </a:r>
              </a:p>
            </p:txBody>
          </p:sp>
          <p:sp>
            <p:nvSpPr>
              <p:cNvPr id="79" name="Rectangle 79"/>
              <p:cNvSpPr/>
              <p:nvPr/>
            </p:nvSpPr>
            <p:spPr>
              <a:xfrm>
                <a:off x="7381875" y="904875"/>
                <a:ext cx="1028700" cy="1047750"/>
              </a:xfrm>
              <a:prstGeom prst="roundRect">
                <a:avLst>
                  <a:gd name="adj" fmla="val 7407"/>
                </a:avLst>
              </a:prstGeom>
              <a:solidFill>
                <a:srgbClr val="FFFFFF"/>
              </a:solidFill>
              <a:ln w="9525">
                <a:solidFill>
                  <a:srgbClr val="E8E4E0"/>
                </a:solidFill>
              </a:ln>
            </p:spPr>
          </p:sp>
          <p:sp>
            <p:nvSpPr>
              <p:cNvPr id="80" name="Ellipse 80"/>
              <p:cNvSpPr/>
              <p:nvPr/>
            </p:nvSpPr>
            <p:spPr>
              <a:xfrm>
                <a:off x="7686675" y="1104900"/>
                <a:ext cx="419100" cy="419100"/>
              </a:xfrm>
              <a:prstGeom prst="ellipse">
                <a:avLst/>
              </a:prstGeom>
              <a:solidFill>
                <a:srgbClr val="FBEFEF"/>
              </a:solidFill>
              <a:ln>
                <a:noFill/>
              </a:ln>
            </p:spPr>
          </p:sp>
          <p:grpSp>
            <p:nvGrpSpPr>
              <p:cNvPr id="83" name="Group 83"/>
              <p:cNvGrpSpPr/>
              <p:nvPr/>
            </p:nvGrpSpPr>
            <p:grpSpPr>
              <a:xfrm>
                <a:off x="7820025" y="1257300"/>
                <a:ext cx="152400" cy="133350"/>
                <a:chOff x="7820025" y="1257300"/>
                <a:chExt cx="152400" cy="133350"/>
              </a:xfrm>
            </p:grpSpPr>
            <p:sp>
              <p:nvSpPr>
                <p:cNvPr id="81" name="Freeform 81"/>
                <p:cNvSpPr/>
                <p:nvPr/>
              </p:nvSpPr>
              <p:spPr>
                <a:xfrm>
                  <a:off x="7820025" y="1381125"/>
                  <a:ext cx="152400" cy="9525"/>
                </a:xfrm>
                <a:custGeom>
                  <a:avLst/>
                  <a:gdLst/>
                  <a:ahLst/>
                  <a:cxnLst/>
                  <a:rect l="l" t="t" r="r" b="b"/>
                  <a:pathLst>
                    <a:path w="152400" h="9525">
                      <a:moveTo>
                        <a:pt x="0" y="0"/>
                      </a:moveTo>
                      <a:lnTo>
                        <a:pt x="152400" y="0"/>
                      </a:lnTo>
                    </a:path>
                  </a:pathLst>
                </a:custGeom>
                <a:noFill/>
                <a:ln w="19050">
                  <a:solidFill>
                    <a:srgbClr val="B03A1F"/>
                  </a:solidFill>
                </a:ln>
              </p:spPr>
            </p:sp>
            <p:sp>
              <p:nvSpPr>
                <p:cNvPr id="82" name="Freeform 82"/>
                <p:cNvSpPr/>
                <p:nvPr/>
              </p:nvSpPr>
              <p:spPr>
                <a:xfrm>
                  <a:off x="7820025" y="125730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B03A1F"/>
                  </a:solidFill>
                </a:ln>
              </p:spPr>
            </p:sp>
          </p:grpSp>
          <p:sp>
            <p:nvSpPr>
              <p:cNvPr id="84" name="TextBox 84"/>
              <p:cNvSpPr txBox="1"/>
              <p:nvPr/>
            </p:nvSpPr>
            <p:spPr>
              <a:xfrm>
                <a:off x="7649146" y="1693545"/>
                <a:ext cx="494157" cy="176212"/>
              </a:xfrm>
              <a:prstGeom prst="rect">
                <a:avLst/>
              </a:prstGeom>
              <a:noFill/>
              <a:ln>
                <a:noFill/>
              </a:ln>
            </p:spPr>
            <p:txBody>
              <a:bodyPr wrap="none" lIns="0" tIns="0" rIns="0" bIns="0" anchor="t" anchorCtr="0">
                <a:spAutoFit/>
              </a:bodyPr>
              <a:lstStyle/>
              <a:p>
                <a:pPr algn="ctr"/>
                <a:r>
                  <a:rPr lang="zh-CN" sz="900" b="1" dirty="0">
                    <a:solidFill>
                      <a:srgbClr val="1E1E1E"/>
                    </a:solidFill>
                    <a:latin typeface="+mn-lt"/>
                    <a:ea typeface="+mn-ea"/>
                    <a:cs typeface="+mn-cs"/>
                  </a:rPr>
                  <a:t>经营分析</a:t>
                </a:r>
              </a:p>
            </p:txBody>
          </p:sp>
        </p:grpSp>
        <p:sp>
          <p:nvSpPr>
            <p:cNvPr id="86" name="Freeform 86"/>
            <p:cNvSpPr/>
            <p:nvPr/>
          </p:nvSpPr>
          <p:spPr>
            <a:xfrm>
              <a:off x="4876800" y="1981200"/>
              <a:ext cx="438150" cy="209550"/>
            </a:xfrm>
            <a:prstGeom prst="downArrow">
              <a:avLst/>
            </a:prstGeom>
            <a:solidFill>
              <a:srgbClr val="B03A1F"/>
            </a:solidFill>
            <a:ln>
              <a:noFill/>
            </a:ln>
          </p:spPr>
        </p:sp>
      </p:grpSp>
      <p:grpSp>
        <p:nvGrpSpPr>
          <p:cNvPr id="108" name="core-banner"/>
          <p:cNvGrpSpPr/>
          <p:nvPr/>
        </p:nvGrpSpPr>
        <p:grpSpPr>
          <a:xfrm>
            <a:off x="1905000" y="2209800"/>
            <a:ext cx="6505575" cy="1181100"/>
            <a:chOff x="1905000" y="2209800"/>
            <a:chExt cx="6505575" cy="1181100"/>
          </a:xfrm>
        </p:grpSpPr>
        <p:sp>
          <p:nvSpPr>
            <p:cNvPr id="88" name="Rectangle 88"/>
            <p:cNvSpPr/>
            <p:nvPr/>
          </p:nvSpPr>
          <p:spPr>
            <a:xfrm>
              <a:off x="1905000" y="2209800"/>
              <a:ext cx="6505575" cy="952500"/>
            </a:xfrm>
            <a:prstGeom prst="roundRect">
              <a:avLst>
                <a:gd name="adj" fmla="val 8000"/>
              </a:avLst>
            </a:prstGeom>
            <a:solidFill>
              <a:srgbClr val="2B2B2B"/>
            </a:solidFill>
            <a:ln>
              <a:noFill/>
            </a:ln>
          </p:spPr>
        </p:sp>
        <p:sp>
          <p:nvSpPr>
            <p:cNvPr id="89" name="Ellipse 89"/>
            <p:cNvSpPr/>
            <p:nvPr/>
          </p:nvSpPr>
          <p:spPr>
            <a:xfrm>
              <a:off x="2171700" y="2400300"/>
              <a:ext cx="571500" cy="571500"/>
            </a:xfrm>
            <a:prstGeom prst="ellipse">
              <a:avLst/>
            </a:prstGeom>
            <a:noFill/>
            <a:ln w="14288">
              <a:solidFill>
                <a:srgbClr val="FFFFFF"/>
              </a:solidFill>
            </a:ln>
          </p:spPr>
        </p:sp>
        <p:grpSp>
          <p:nvGrpSpPr>
            <p:cNvPr id="94" name="Group 94"/>
            <p:cNvGrpSpPr/>
            <p:nvPr/>
          </p:nvGrpSpPr>
          <p:grpSpPr>
            <a:xfrm>
              <a:off x="2350294" y="2578894"/>
              <a:ext cx="214313" cy="214313"/>
              <a:chOff x="2350294" y="2578894"/>
              <a:chExt cx="214313" cy="214313"/>
            </a:xfrm>
          </p:grpSpPr>
          <p:sp>
            <p:nvSpPr>
              <p:cNvPr id="90" name="Freeform 90"/>
              <p:cNvSpPr/>
              <p:nvPr/>
            </p:nvSpPr>
            <p:spPr>
              <a:xfrm>
                <a:off x="2374106" y="2578894"/>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FFFFFF"/>
                </a:solidFill>
              </a:ln>
            </p:spPr>
          </p:sp>
          <p:sp>
            <p:nvSpPr>
              <p:cNvPr id="91" name="Freeform 91"/>
              <p:cNvSpPr/>
              <p:nvPr/>
            </p:nvSpPr>
            <p:spPr>
              <a:xfrm>
                <a:off x="2350294" y="2721769"/>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23812">
                <a:solidFill>
                  <a:srgbClr val="FFFFFF"/>
                </a:solidFill>
              </a:ln>
            </p:spPr>
          </p:sp>
          <p:sp>
            <p:nvSpPr>
              <p:cNvPr id="92" name="Freeform 92"/>
              <p:cNvSpPr/>
              <p:nvPr/>
            </p:nvSpPr>
            <p:spPr>
              <a:xfrm>
                <a:off x="2505075" y="2580442"/>
                <a:ext cx="35812" cy="92273"/>
              </a:xfrm>
              <a:custGeom>
                <a:avLst/>
                <a:gdLst/>
                <a:ahLst/>
                <a:cxnLst/>
                <a:rect l="l" t="t" r="r" b="b"/>
                <a:pathLst>
                  <a:path w="35812" h="92273">
                    <a:moveTo>
                      <a:pt x="0" y="0"/>
                    </a:moveTo>
                    <a:cubicBezTo>
                      <a:pt x="21073" y="5396"/>
                      <a:pt x="35812" y="24384"/>
                      <a:pt x="35812" y="46137"/>
                    </a:cubicBezTo>
                    <a:cubicBezTo>
                      <a:pt x="35812" y="67890"/>
                      <a:pt x="21073" y="86878"/>
                      <a:pt x="0" y="92273"/>
                    </a:cubicBezTo>
                  </a:path>
                </a:pathLst>
              </a:custGeom>
              <a:noFill/>
              <a:ln w="23812">
                <a:solidFill>
                  <a:srgbClr val="FFFFFF"/>
                </a:solidFill>
              </a:ln>
            </p:spPr>
          </p:sp>
          <p:sp>
            <p:nvSpPr>
              <p:cNvPr id="93" name="Freeform 93"/>
              <p:cNvSpPr/>
              <p:nvPr/>
            </p:nvSpPr>
            <p:spPr>
              <a:xfrm>
                <a:off x="2528888" y="2723555"/>
                <a:ext cx="35719" cy="69652"/>
              </a:xfrm>
              <a:custGeom>
                <a:avLst/>
                <a:gdLst/>
                <a:ahLst/>
                <a:cxnLst/>
                <a:rect l="l" t="t" r="r" b="b"/>
                <a:pathLst>
                  <a:path w="35719" h="69652">
                    <a:moveTo>
                      <a:pt x="35719" y="69652"/>
                    </a:moveTo>
                    <a:lnTo>
                      <a:pt x="35719" y="45839"/>
                    </a:lnTo>
                    <a:cubicBezTo>
                      <a:pt x="35594" y="24224"/>
                      <a:pt x="20929" y="5403"/>
                      <a:pt x="0" y="0"/>
                    </a:cubicBezTo>
                  </a:path>
                </a:pathLst>
              </a:custGeom>
              <a:noFill/>
              <a:ln w="23812">
                <a:solidFill>
                  <a:srgbClr val="FFFFFF"/>
                </a:solidFill>
              </a:ln>
            </p:spPr>
          </p:sp>
        </p:grpSp>
        <p:sp>
          <p:nvSpPr>
            <p:cNvPr id="95" name="TextBox 95"/>
            <p:cNvSpPr txBox="1"/>
            <p:nvPr/>
          </p:nvSpPr>
          <p:spPr>
            <a:xfrm>
              <a:off x="2898648" y="2510314"/>
              <a:ext cx="168999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企业级客户360度视图</a:t>
              </a:r>
            </a:p>
          </p:txBody>
        </p:sp>
        <p:sp>
          <p:nvSpPr>
            <p:cNvPr id="96" name="TextBox 96"/>
            <p:cNvSpPr txBox="1"/>
            <p:nvPr/>
          </p:nvSpPr>
          <p:spPr>
            <a:xfrm>
              <a:off x="2900362" y="2821543"/>
              <a:ext cx="1665082" cy="169069"/>
            </a:xfrm>
            <a:prstGeom prst="rect">
              <a:avLst/>
            </a:prstGeom>
            <a:noFill/>
            <a:ln>
              <a:noFill/>
            </a:ln>
          </p:spPr>
          <p:txBody>
            <a:bodyPr wrap="none" lIns="0" tIns="0" rIns="0" bIns="0" anchor="t" anchorCtr="0">
              <a:spAutoFit/>
            </a:bodyPr>
            <a:lstStyle/>
            <a:p>
              <a:pPr algn="l"/>
              <a:r>
                <a:rPr lang="zh-CN" sz="860" dirty="0">
                  <a:solidFill>
                    <a:srgbClr val="E0E0E0"/>
                  </a:solidFill>
                  <a:latin typeface="+mn-lt"/>
                  <a:ea typeface="+mn-ea"/>
                  <a:cs typeface="+mn-cs"/>
                </a:rPr>
                <a:t>实时更新 · 全域整合 · 洞察驱动</a:t>
              </a:r>
            </a:p>
          </p:txBody>
        </p:sp>
        <p:sp>
          <p:nvSpPr>
            <p:cNvPr id="97" name="Rectangle 97"/>
            <p:cNvSpPr/>
            <p:nvPr/>
          </p:nvSpPr>
          <p:spPr>
            <a:xfrm>
              <a:off x="6715125" y="2400300"/>
              <a:ext cx="1504950" cy="571500"/>
            </a:xfrm>
            <a:prstGeom prst="roundRect">
              <a:avLst>
                <a:gd name="adj" fmla="val 6667"/>
              </a:avLst>
            </a:prstGeom>
            <a:solidFill>
              <a:srgbClr val="FFFFFF"/>
            </a:solidFill>
            <a:ln>
              <a:noFill/>
            </a:ln>
          </p:spPr>
        </p:sp>
        <p:sp>
          <p:nvSpPr>
            <p:cNvPr id="98" name="Ellipse 98"/>
            <p:cNvSpPr/>
            <p:nvPr/>
          </p:nvSpPr>
          <p:spPr>
            <a:xfrm>
              <a:off x="6838950" y="2505075"/>
              <a:ext cx="171450" cy="171450"/>
            </a:xfrm>
            <a:prstGeom prst="ellipse">
              <a:avLst/>
            </a:prstGeom>
            <a:solidFill>
              <a:srgbClr val="D8D4D0"/>
            </a:solidFill>
            <a:ln>
              <a:noFill/>
            </a:ln>
          </p:spPr>
        </p:sp>
        <p:sp>
          <p:nvSpPr>
            <p:cNvPr id="99" name="Ellipse 99"/>
            <p:cNvSpPr/>
            <p:nvPr/>
          </p:nvSpPr>
          <p:spPr>
            <a:xfrm>
              <a:off x="6810375" y="2733675"/>
              <a:ext cx="228600" cy="133350"/>
            </a:xfrm>
            <a:prstGeom prst="ellipse">
              <a:avLst/>
            </a:prstGeom>
            <a:solidFill>
              <a:srgbClr val="D8D4D0"/>
            </a:solidFill>
            <a:ln>
              <a:noFill/>
            </a:ln>
          </p:spPr>
        </p:sp>
        <p:sp>
          <p:nvSpPr>
            <p:cNvPr id="100" name="Rectangle 100"/>
            <p:cNvSpPr/>
            <p:nvPr/>
          </p:nvSpPr>
          <p:spPr>
            <a:xfrm>
              <a:off x="7143750" y="2743200"/>
              <a:ext cx="76200" cy="133350"/>
            </a:xfrm>
            <a:prstGeom prst="rect">
              <a:avLst/>
            </a:prstGeom>
            <a:solidFill>
              <a:srgbClr val="D9ABA0"/>
            </a:solidFill>
            <a:ln>
              <a:noFill/>
            </a:ln>
          </p:spPr>
        </p:sp>
        <p:sp>
          <p:nvSpPr>
            <p:cNvPr id="101" name="Rectangle 101"/>
            <p:cNvSpPr/>
            <p:nvPr/>
          </p:nvSpPr>
          <p:spPr>
            <a:xfrm>
              <a:off x="7258050" y="2667000"/>
              <a:ext cx="76200" cy="209550"/>
            </a:xfrm>
            <a:prstGeom prst="rect">
              <a:avLst/>
            </a:prstGeom>
            <a:solidFill>
              <a:srgbClr val="B03A1F"/>
            </a:solidFill>
            <a:ln>
              <a:noFill/>
            </a:ln>
          </p:spPr>
        </p:sp>
        <p:sp>
          <p:nvSpPr>
            <p:cNvPr id="102" name="Rectangle 102"/>
            <p:cNvSpPr/>
            <p:nvPr/>
          </p:nvSpPr>
          <p:spPr>
            <a:xfrm>
              <a:off x="7372350" y="2590800"/>
              <a:ext cx="76200" cy="285750"/>
            </a:xfrm>
            <a:prstGeom prst="rect">
              <a:avLst/>
            </a:prstGeom>
            <a:solidFill>
              <a:srgbClr val="D9ABA0"/>
            </a:solidFill>
            <a:ln>
              <a:noFill/>
            </a:ln>
          </p:spPr>
        </p:sp>
        <p:sp>
          <p:nvSpPr>
            <p:cNvPr id="103" name="Rectangle 103"/>
            <p:cNvSpPr/>
            <p:nvPr/>
          </p:nvSpPr>
          <p:spPr>
            <a:xfrm>
              <a:off x="7486650" y="2686050"/>
              <a:ext cx="76200" cy="190500"/>
            </a:xfrm>
            <a:prstGeom prst="rect">
              <a:avLst/>
            </a:prstGeom>
            <a:solidFill>
              <a:srgbClr val="B03A1F"/>
            </a:solidFill>
            <a:ln>
              <a:noFill/>
            </a:ln>
          </p:spPr>
        </p:sp>
        <p:sp>
          <p:nvSpPr>
            <p:cNvPr id="104" name="Rectangle 104"/>
            <p:cNvSpPr/>
            <p:nvPr/>
          </p:nvSpPr>
          <p:spPr>
            <a:xfrm>
              <a:off x="7600950" y="2533650"/>
              <a:ext cx="76200" cy="342900"/>
            </a:xfrm>
            <a:prstGeom prst="rect">
              <a:avLst/>
            </a:prstGeom>
            <a:solidFill>
              <a:srgbClr val="D9ABA0"/>
            </a:solidFill>
            <a:ln>
              <a:noFill/>
            </a:ln>
          </p:spPr>
        </p:sp>
        <p:sp>
          <p:nvSpPr>
            <p:cNvPr id="105" name="Ellipse 105"/>
            <p:cNvSpPr/>
            <p:nvPr/>
          </p:nvSpPr>
          <p:spPr>
            <a:xfrm>
              <a:off x="7829550" y="2514600"/>
              <a:ext cx="304800" cy="304800"/>
            </a:xfrm>
            <a:prstGeom prst="ellipse">
              <a:avLst/>
            </a:prstGeom>
            <a:solidFill>
              <a:srgbClr val="B03A1F"/>
            </a:solidFill>
            <a:ln>
              <a:noFill/>
            </a:ln>
          </p:spPr>
        </p:sp>
        <p:sp>
          <p:nvSpPr>
            <p:cNvPr id="106" name="Ellipse 106"/>
            <p:cNvSpPr/>
            <p:nvPr/>
          </p:nvSpPr>
          <p:spPr>
            <a:xfrm>
              <a:off x="7905750" y="2590800"/>
              <a:ext cx="152400" cy="152400"/>
            </a:xfrm>
            <a:prstGeom prst="ellipse">
              <a:avLst/>
            </a:prstGeom>
            <a:solidFill>
              <a:srgbClr val="FFFFFF"/>
            </a:solidFill>
            <a:ln>
              <a:noFill/>
            </a:ln>
          </p:spPr>
        </p:sp>
        <p:sp>
          <p:nvSpPr>
            <p:cNvPr id="107" name="Freeform 107"/>
            <p:cNvSpPr/>
            <p:nvPr/>
          </p:nvSpPr>
          <p:spPr>
            <a:xfrm>
              <a:off x="4876800" y="3181350"/>
              <a:ext cx="438150" cy="209550"/>
            </a:xfrm>
            <a:prstGeom prst="upArrow">
              <a:avLst/>
            </a:prstGeom>
            <a:solidFill>
              <a:srgbClr val="B03A1F"/>
            </a:solidFill>
            <a:ln>
              <a:noFill/>
            </a:ln>
          </p:spPr>
        </p:sp>
      </p:grpSp>
      <p:grpSp>
        <p:nvGrpSpPr>
          <p:cNvPr id="160" name="gov-layer"/>
          <p:cNvGrpSpPr/>
          <p:nvPr/>
        </p:nvGrpSpPr>
        <p:grpSpPr>
          <a:xfrm>
            <a:off x="1905000" y="3448050"/>
            <a:ext cx="6524625" cy="860584"/>
            <a:chOff x="1905000" y="3448050"/>
            <a:chExt cx="6524625" cy="860584"/>
          </a:xfrm>
        </p:grpSpPr>
        <p:sp>
          <p:nvSpPr>
            <p:cNvPr id="109" name="Rectangle 109"/>
            <p:cNvSpPr/>
            <p:nvPr/>
          </p:nvSpPr>
          <p:spPr>
            <a:xfrm>
              <a:off x="1905000" y="3448050"/>
              <a:ext cx="1581150" cy="857250"/>
            </a:xfrm>
            <a:prstGeom prst="roundRect">
              <a:avLst>
                <a:gd name="adj" fmla="val 6667"/>
              </a:avLst>
            </a:prstGeom>
            <a:solidFill>
              <a:srgbClr val="FFFFFF"/>
            </a:solidFill>
            <a:ln w="9525">
              <a:solidFill>
                <a:srgbClr val="F0D5D6"/>
              </a:solidFill>
            </a:ln>
          </p:spPr>
        </p:sp>
        <p:grpSp>
          <p:nvGrpSpPr>
            <p:cNvPr id="113" name="Group 113"/>
            <p:cNvGrpSpPr/>
            <p:nvPr/>
          </p:nvGrpSpPr>
          <p:grpSpPr>
            <a:xfrm>
              <a:off x="2644775" y="3530600"/>
              <a:ext cx="101600" cy="101600"/>
              <a:chOff x="2644775" y="3530600"/>
              <a:chExt cx="101600" cy="101600"/>
            </a:xfrm>
          </p:grpSpPr>
          <p:sp>
            <p:nvSpPr>
              <p:cNvPr id="110" name="Freeform 110"/>
              <p:cNvSpPr/>
              <p:nvPr/>
            </p:nvSpPr>
            <p:spPr>
              <a:xfrm>
                <a:off x="2644775" y="3530600"/>
                <a:ext cx="101600" cy="50800"/>
              </a:xfrm>
              <a:custGeom>
                <a:avLst/>
                <a:gdLst/>
                <a:ahLst/>
                <a:cxnLst/>
                <a:rect l="l" t="t" r="r" b="b"/>
                <a:pathLst>
                  <a:path w="101600" h="50800">
                    <a:moveTo>
                      <a:pt x="50800" y="0"/>
                    </a:moveTo>
                    <a:lnTo>
                      <a:pt x="0" y="25400"/>
                    </a:lnTo>
                    <a:lnTo>
                      <a:pt x="50800" y="50800"/>
                    </a:lnTo>
                    <a:lnTo>
                      <a:pt x="101600" y="25400"/>
                    </a:lnTo>
                    <a:lnTo>
                      <a:pt x="50800" y="0"/>
                    </a:lnTo>
                  </a:path>
                </a:pathLst>
              </a:custGeom>
              <a:noFill/>
              <a:ln w="12700">
                <a:solidFill>
                  <a:srgbClr val="B03A1F"/>
                </a:solidFill>
              </a:ln>
            </p:spPr>
          </p:sp>
          <p:sp>
            <p:nvSpPr>
              <p:cNvPr id="111" name="Freeform 111"/>
              <p:cNvSpPr/>
              <p:nvPr/>
            </p:nvSpPr>
            <p:spPr>
              <a:xfrm>
                <a:off x="2644775" y="3581400"/>
                <a:ext cx="101600" cy="25400"/>
              </a:xfrm>
              <a:custGeom>
                <a:avLst/>
                <a:gdLst/>
                <a:ahLst/>
                <a:cxnLst/>
                <a:rect l="l" t="t" r="r" b="b"/>
                <a:pathLst>
                  <a:path w="101600" h="25400">
                    <a:moveTo>
                      <a:pt x="0" y="0"/>
                    </a:moveTo>
                    <a:lnTo>
                      <a:pt x="50800" y="25400"/>
                    </a:lnTo>
                    <a:lnTo>
                      <a:pt x="101600" y="0"/>
                    </a:lnTo>
                  </a:path>
                </a:pathLst>
              </a:custGeom>
              <a:noFill/>
              <a:ln w="12700">
                <a:solidFill>
                  <a:srgbClr val="B03A1F"/>
                </a:solidFill>
              </a:ln>
            </p:spPr>
          </p:sp>
          <p:sp>
            <p:nvSpPr>
              <p:cNvPr id="112" name="Freeform 112"/>
              <p:cNvSpPr/>
              <p:nvPr/>
            </p:nvSpPr>
            <p:spPr>
              <a:xfrm>
                <a:off x="2644775" y="3606800"/>
                <a:ext cx="101600" cy="25400"/>
              </a:xfrm>
              <a:custGeom>
                <a:avLst/>
                <a:gdLst/>
                <a:ahLst/>
                <a:cxnLst/>
                <a:rect l="l" t="t" r="r" b="b"/>
                <a:pathLst>
                  <a:path w="101600" h="25400">
                    <a:moveTo>
                      <a:pt x="0" y="0"/>
                    </a:moveTo>
                    <a:lnTo>
                      <a:pt x="50800" y="25400"/>
                    </a:lnTo>
                    <a:lnTo>
                      <a:pt x="101600" y="0"/>
                    </a:lnTo>
                  </a:path>
                </a:pathLst>
              </a:custGeom>
              <a:noFill/>
              <a:ln w="12700">
                <a:solidFill>
                  <a:srgbClr val="B03A1F"/>
                </a:solidFill>
              </a:ln>
            </p:spPr>
          </p:sp>
        </p:grpSp>
        <p:sp>
          <p:nvSpPr>
            <p:cNvPr id="114" name="TextBox 114"/>
            <p:cNvSpPr txBox="1"/>
            <p:nvPr/>
          </p:nvSpPr>
          <p:spPr>
            <a:xfrm>
              <a:off x="2044472" y="3724989"/>
              <a:ext cx="1302207"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客户/产品/机构主数据标准</a:t>
              </a:r>
            </a:p>
          </p:txBody>
        </p:sp>
        <p:sp>
          <p:nvSpPr>
            <p:cNvPr id="115" name="Ellipse 115"/>
            <p:cNvSpPr/>
            <p:nvPr/>
          </p:nvSpPr>
          <p:spPr>
            <a:xfrm>
              <a:off x="2266950" y="3924300"/>
              <a:ext cx="38100" cy="38100"/>
            </a:xfrm>
            <a:prstGeom prst="ellipse">
              <a:avLst/>
            </a:prstGeom>
            <a:solidFill>
              <a:srgbClr val="B03A1F"/>
            </a:solidFill>
            <a:ln>
              <a:noFill/>
            </a:ln>
          </p:spPr>
        </p:sp>
        <p:sp>
          <p:nvSpPr>
            <p:cNvPr id="116" name="TextBox 116"/>
            <p:cNvSpPr txBox="1"/>
            <p:nvPr/>
          </p:nvSpPr>
          <p:spPr>
            <a:xfrm>
              <a:off x="2357438" y="3908584"/>
              <a:ext cx="558775"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统一编码口径</a:t>
              </a:r>
            </a:p>
          </p:txBody>
        </p:sp>
        <p:sp>
          <p:nvSpPr>
            <p:cNvPr id="117" name="Ellipse 117"/>
            <p:cNvSpPr/>
            <p:nvPr/>
          </p:nvSpPr>
          <p:spPr>
            <a:xfrm>
              <a:off x="2266950" y="4057650"/>
              <a:ext cx="38100" cy="38100"/>
            </a:xfrm>
            <a:prstGeom prst="ellipse">
              <a:avLst/>
            </a:prstGeom>
            <a:solidFill>
              <a:srgbClr val="B03A1F"/>
            </a:solidFill>
            <a:ln>
              <a:noFill/>
            </a:ln>
          </p:spPr>
        </p:sp>
        <p:sp>
          <p:nvSpPr>
            <p:cNvPr id="118" name="TextBox 118"/>
            <p:cNvSpPr txBox="1"/>
            <p:nvPr/>
          </p:nvSpPr>
          <p:spPr>
            <a:xfrm>
              <a:off x="2357438" y="4041934"/>
              <a:ext cx="558775"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统一定义口径</a:t>
              </a:r>
            </a:p>
          </p:txBody>
        </p:sp>
        <p:sp>
          <p:nvSpPr>
            <p:cNvPr id="119" name="Ellipse 119"/>
            <p:cNvSpPr/>
            <p:nvPr/>
          </p:nvSpPr>
          <p:spPr>
            <a:xfrm>
              <a:off x="2266950" y="4191000"/>
              <a:ext cx="38100" cy="38100"/>
            </a:xfrm>
            <a:prstGeom prst="ellipse">
              <a:avLst/>
            </a:prstGeom>
            <a:solidFill>
              <a:srgbClr val="B03A1F"/>
            </a:solidFill>
            <a:ln>
              <a:noFill/>
            </a:ln>
          </p:spPr>
        </p:sp>
        <p:sp>
          <p:nvSpPr>
            <p:cNvPr id="120" name="TextBox 120"/>
            <p:cNvSpPr txBox="1"/>
            <p:nvPr/>
          </p:nvSpPr>
          <p:spPr>
            <a:xfrm>
              <a:off x="2357438" y="4175284"/>
              <a:ext cx="650316"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层级与关系标准</a:t>
              </a:r>
            </a:p>
          </p:txBody>
        </p:sp>
        <p:sp>
          <p:nvSpPr>
            <p:cNvPr id="121" name="Rectangle 121"/>
            <p:cNvSpPr/>
            <p:nvPr/>
          </p:nvSpPr>
          <p:spPr>
            <a:xfrm>
              <a:off x="3552825" y="3448050"/>
              <a:ext cx="1581150" cy="857250"/>
            </a:xfrm>
            <a:prstGeom prst="roundRect">
              <a:avLst>
                <a:gd name="adj" fmla="val 6667"/>
              </a:avLst>
            </a:prstGeom>
            <a:solidFill>
              <a:srgbClr val="FFFFFF"/>
            </a:solidFill>
            <a:ln w="9525">
              <a:solidFill>
                <a:srgbClr val="F0D5D6"/>
              </a:solidFill>
            </a:ln>
          </p:spPr>
        </p:sp>
        <p:grpSp>
          <p:nvGrpSpPr>
            <p:cNvPr id="126" name="Group 126"/>
            <p:cNvGrpSpPr/>
            <p:nvPr/>
          </p:nvGrpSpPr>
          <p:grpSpPr>
            <a:xfrm>
              <a:off x="4298950" y="3530600"/>
              <a:ext cx="95250" cy="107950"/>
              <a:chOff x="4298950" y="3530600"/>
              <a:chExt cx="95250" cy="107950"/>
            </a:xfrm>
          </p:grpSpPr>
          <p:sp>
            <p:nvSpPr>
              <p:cNvPr id="122" name="Freeform 122"/>
              <p:cNvSpPr/>
              <p:nvPr/>
            </p:nvSpPr>
            <p:spPr>
              <a:xfrm>
                <a:off x="4298950" y="353060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B03A1F"/>
                </a:solidFill>
              </a:ln>
            </p:spPr>
          </p:sp>
          <p:sp>
            <p:nvSpPr>
              <p:cNvPr id="123" name="Freeform 123"/>
              <p:cNvSpPr/>
              <p:nvPr/>
            </p:nvSpPr>
            <p:spPr>
              <a:xfrm>
                <a:off x="4356100" y="3613150"/>
                <a:ext cx="38100" cy="25400"/>
              </a:xfrm>
              <a:custGeom>
                <a:avLst/>
                <a:gdLst/>
                <a:ahLst/>
                <a:cxnLst/>
                <a:rect l="l" t="t" r="r" b="b"/>
                <a:pathLst>
                  <a:path w="38100" h="25400">
                    <a:moveTo>
                      <a:pt x="0" y="12700"/>
                    </a:moveTo>
                    <a:lnTo>
                      <a:pt x="12700" y="25400"/>
                    </a:lnTo>
                    <a:lnTo>
                      <a:pt x="38100" y="0"/>
                    </a:lnTo>
                  </a:path>
                </a:pathLst>
              </a:custGeom>
              <a:noFill/>
              <a:ln w="12700">
                <a:solidFill>
                  <a:srgbClr val="B03A1F"/>
                </a:solidFill>
              </a:ln>
            </p:spPr>
          </p:sp>
          <p:sp>
            <p:nvSpPr>
              <p:cNvPr id="124" name="Freeform 124"/>
              <p:cNvSpPr/>
              <p:nvPr/>
            </p:nvSpPr>
            <p:spPr>
              <a:xfrm>
                <a:off x="4324350" y="3556000"/>
                <a:ext cx="25400" cy="9525"/>
              </a:xfrm>
              <a:custGeom>
                <a:avLst/>
                <a:gdLst/>
                <a:ahLst/>
                <a:cxnLst/>
                <a:rect l="l" t="t" r="r" b="b"/>
                <a:pathLst>
                  <a:path w="25400" h="9525">
                    <a:moveTo>
                      <a:pt x="0" y="0"/>
                    </a:moveTo>
                    <a:lnTo>
                      <a:pt x="25400" y="0"/>
                    </a:lnTo>
                  </a:path>
                </a:pathLst>
              </a:custGeom>
              <a:noFill/>
              <a:ln w="12700">
                <a:solidFill>
                  <a:srgbClr val="B03A1F"/>
                </a:solidFill>
              </a:ln>
            </p:spPr>
          </p:sp>
          <p:sp>
            <p:nvSpPr>
              <p:cNvPr id="125" name="Freeform 125"/>
              <p:cNvSpPr/>
              <p:nvPr/>
            </p:nvSpPr>
            <p:spPr>
              <a:xfrm>
                <a:off x="4324350" y="3581400"/>
                <a:ext cx="12700" cy="9525"/>
              </a:xfrm>
              <a:custGeom>
                <a:avLst/>
                <a:gdLst/>
                <a:ahLst/>
                <a:cxnLst/>
                <a:rect l="l" t="t" r="r" b="b"/>
                <a:pathLst>
                  <a:path w="12700" h="9525">
                    <a:moveTo>
                      <a:pt x="0" y="0"/>
                    </a:moveTo>
                    <a:lnTo>
                      <a:pt x="12700" y="0"/>
                    </a:lnTo>
                  </a:path>
                </a:pathLst>
              </a:custGeom>
              <a:noFill/>
              <a:ln w="12700">
                <a:solidFill>
                  <a:srgbClr val="B03A1F"/>
                </a:solidFill>
              </a:ln>
            </p:spPr>
          </p:sp>
        </p:grpSp>
        <p:sp>
          <p:nvSpPr>
            <p:cNvPr id="127" name="TextBox 127"/>
            <p:cNvSpPr txBox="1"/>
            <p:nvPr/>
          </p:nvSpPr>
          <p:spPr>
            <a:xfrm>
              <a:off x="4019588" y="3724989"/>
              <a:ext cx="64762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数据质量规则</a:t>
              </a:r>
            </a:p>
          </p:txBody>
        </p:sp>
        <p:sp>
          <p:nvSpPr>
            <p:cNvPr id="128" name="Ellipse 128"/>
            <p:cNvSpPr/>
            <p:nvPr/>
          </p:nvSpPr>
          <p:spPr>
            <a:xfrm>
              <a:off x="3914775" y="3924300"/>
              <a:ext cx="38100" cy="38100"/>
            </a:xfrm>
            <a:prstGeom prst="ellipse">
              <a:avLst/>
            </a:prstGeom>
            <a:solidFill>
              <a:srgbClr val="B03A1F"/>
            </a:solidFill>
            <a:ln>
              <a:noFill/>
            </a:ln>
          </p:spPr>
        </p:sp>
        <p:sp>
          <p:nvSpPr>
            <p:cNvPr id="129" name="TextBox 129"/>
            <p:cNvSpPr txBox="1"/>
            <p:nvPr/>
          </p:nvSpPr>
          <p:spPr>
            <a:xfrm>
              <a:off x="4005262" y="3908584"/>
              <a:ext cx="467233"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完整性规则</a:t>
              </a:r>
            </a:p>
          </p:txBody>
        </p:sp>
        <p:sp>
          <p:nvSpPr>
            <p:cNvPr id="130" name="Ellipse 130"/>
            <p:cNvSpPr/>
            <p:nvPr/>
          </p:nvSpPr>
          <p:spPr>
            <a:xfrm>
              <a:off x="3914775" y="4057650"/>
              <a:ext cx="38100" cy="38100"/>
            </a:xfrm>
            <a:prstGeom prst="ellipse">
              <a:avLst/>
            </a:prstGeom>
            <a:solidFill>
              <a:srgbClr val="B03A1F"/>
            </a:solidFill>
            <a:ln>
              <a:noFill/>
            </a:ln>
          </p:spPr>
        </p:sp>
        <p:sp>
          <p:nvSpPr>
            <p:cNvPr id="131" name="TextBox 131"/>
            <p:cNvSpPr txBox="1"/>
            <p:nvPr/>
          </p:nvSpPr>
          <p:spPr>
            <a:xfrm>
              <a:off x="4005262" y="4041934"/>
              <a:ext cx="467233"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准确性规则</a:t>
              </a:r>
            </a:p>
          </p:txBody>
        </p:sp>
        <p:sp>
          <p:nvSpPr>
            <p:cNvPr id="132" name="Ellipse 132"/>
            <p:cNvSpPr/>
            <p:nvPr/>
          </p:nvSpPr>
          <p:spPr>
            <a:xfrm>
              <a:off x="3914775" y="4191000"/>
              <a:ext cx="38100" cy="38100"/>
            </a:xfrm>
            <a:prstGeom prst="ellipse">
              <a:avLst/>
            </a:prstGeom>
            <a:solidFill>
              <a:srgbClr val="B03A1F"/>
            </a:solidFill>
            <a:ln>
              <a:noFill/>
            </a:ln>
          </p:spPr>
        </p:sp>
        <p:sp>
          <p:nvSpPr>
            <p:cNvPr id="133" name="TextBox 133"/>
            <p:cNvSpPr txBox="1"/>
            <p:nvPr/>
          </p:nvSpPr>
          <p:spPr>
            <a:xfrm>
              <a:off x="4005262" y="4175284"/>
              <a:ext cx="467233"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一致性规则</a:t>
              </a:r>
            </a:p>
          </p:txBody>
        </p:sp>
        <p:sp>
          <p:nvSpPr>
            <p:cNvPr id="134" name="Rectangle 134"/>
            <p:cNvSpPr/>
            <p:nvPr/>
          </p:nvSpPr>
          <p:spPr>
            <a:xfrm>
              <a:off x="5200650" y="3448050"/>
              <a:ext cx="1581150" cy="857250"/>
            </a:xfrm>
            <a:prstGeom prst="roundRect">
              <a:avLst>
                <a:gd name="adj" fmla="val 6667"/>
              </a:avLst>
            </a:prstGeom>
            <a:solidFill>
              <a:srgbClr val="FFFFFF"/>
            </a:solidFill>
            <a:ln w="9525">
              <a:solidFill>
                <a:srgbClr val="F0D5D6"/>
              </a:solidFill>
            </a:ln>
          </p:spPr>
        </p:sp>
        <p:grpSp>
          <p:nvGrpSpPr>
            <p:cNvPr id="140" name="Group 140"/>
            <p:cNvGrpSpPr/>
            <p:nvPr/>
          </p:nvGrpSpPr>
          <p:grpSpPr>
            <a:xfrm>
              <a:off x="5934075" y="3530600"/>
              <a:ext cx="114300" cy="101600"/>
              <a:chOff x="5934075" y="3530600"/>
              <a:chExt cx="114300" cy="101600"/>
            </a:xfrm>
          </p:grpSpPr>
          <p:sp>
            <p:nvSpPr>
              <p:cNvPr id="135" name="Freeform 135"/>
              <p:cNvSpPr/>
              <p:nvPr/>
            </p:nvSpPr>
            <p:spPr>
              <a:xfrm>
                <a:off x="5934075" y="3530600"/>
                <a:ext cx="114300" cy="101600"/>
              </a:xfrm>
              <a:custGeom>
                <a:avLst/>
                <a:gdLst/>
                <a:ahLst/>
                <a:cxnLst/>
                <a:rect l="l" t="t" r="r" b="b"/>
                <a:pathLst>
                  <a:path w="114300" h="101600">
                    <a:moveTo>
                      <a:pt x="0" y="19050"/>
                    </a:moveTo>
                    <a:cubicBezTo>
                      <a:pt x="0" y="8529"/>
                      <a:pt x="8529" y="0"/>
                      <a:pt x="19050" y="0"/>
                    </a:cubicBezTo>
                    <a:lnTo>
                      <a:pt x="95250" y="0"/>
                    </a:lnTo>
                    <a:cubicBezTo>
                      <a:pt x="105771" y="0"/>
                      <a:pt x="114300" y="8529"/>
                      <a:pt x="114300" y="19050"/>
                    </a:cubicBezTo>
                    <a:lnTo>
                      <a:pt x="114300" y="82550"/>
                    </a:lnTo>
                    <a:cubicBezTo>
                      <a:pt x="114300" y="93071"/>
                      <a:pt x="105771" y="101600"/>
                      <a:pt x="95250" y="101600"/>
                    </a:cubicBezTo>
                    <a:lnTo>
                      <a:pt x="19050" y="101600"/>
                    </a:lnTo>
                    <a:cubicBezTo>
                      <a:pt x="8529" y="101600"/>
                      <a:pt x="0" y="93071"/>
                      <a:pt x="0" y="82550"/>
                    </a:cubicBezTo>
                    <a:lnTo>
                      <a:pt x="0" y="19050"/>
                    </a:lnTo>
                  </a:path>
                </a:pathLst>
              </a:custGeom>
              <a:noFill/>
              <a:ln w="12700">
                <a:solidFill>
                  <a:srgbClr val="B03A1F"/>
                </a:solidFill>
              </a:ln>
            </p:spPr>
          </p:sp>
          <p:sp>
            <p:nvSpPr>
              <p:cNvPr id="136" name="Freeform 136"/>
              <p:cNvSpPr/>
              <p:nvPr/>
            </p:nvSpPr>
            <p:spPr>
              <a:xfrm>
                <a:off x="5959475" y="35560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B03A1F"/>
                </a:solidFill>
              </a:ln>
            </p:spPr>
          </p:sp>
          <p:sp>
            <p:nvSpPr>
              <p:cNvPr id="137" name="Freeform 137"/>
              <p:cNvSpPr/>
              <p:nvPr/>
            </p:nvSpPr>
            <p:spPr>
              <a:xfrm>
                <a:off x="6010275" y="3556000"/>
                <a:ext cx="12700" cy="9525"/>
              </a:xfrm>
              <a:custGeom>
                <a:avLst/>
                <a:gdLst/>
                <a:ahLst/>
                <a:cxnLst/>
                <a:rect l="l" t="t" r="r" b="b"/>
                <a:pathLst>
                  <a:path w="12700" h="9525">
                    <a:moveTo>
                      <a:pt x="0" y="0"/>
                    </a:moveTo>
                    <a:lnTo>
                      <a:pt x="12700" y="0"/>
                    </a:lnTo>
                  </a:path>
                </a:pathLst>
              </a:custGeom>
              <a:noFill/>
              <a:ln w="12700">
                <a:solidFill>
                  <a:srgbClr val="B03A1F"/>
                </a:solidFill>
              </a:ln>
            </p:spPr>
          </p:sp>
          <p:sp>
            <p:nvSpPr>
              <p:cNvPr id="138" name="Freeform 138"/>
              <p:cNvSpPr/>
              <p:nvPr/>
            </p:nvSpPr>
            <p:spPr>
              <a:xfrm>
                <a:off x="6010275" y="3581400"/>
                <a:ext cx="12700" cy="9525"/>
              </a:xfrm>
              <a:custGeom>
                <a:avLst/>
                <a:gdLst/>
                <a:ahLst/>
                <a:cxnLst/>
                <a:rect l="l" t="t" r="r" b="b"/>
                <a:pathLst>
                  <a:path w="12700" h="9525">
                    <a:moveTo>
                      <a:pt x="0" y="0"/>
                    </a:moveTo>
                    <a:lnTo>
                      <a:pt x="12700" y="0"/>
                    </a:lnTo>
                  </a:path>
                </a:pathLst>
              </a:custGeom>
              <a:noFill/>
              <a:ln w="12700">
                <a:solidFill>
                  <a:srgbClr val="B03A1F"/>
                </a:solidFill>
              </a:ln>
            </p:spPr>
          </p:sp>
          <p:sp>
            <p:nvSpPr>
              <p:cNvPr id="139" name="Freeform 139"/>
              <p:cNvSpPr/>
              <p:nvPr/>
            </p:nvSpPr>
            <p:spPr>
              <a:xfrm>
                <a:off x="5959475" y="3606800"/>
                <a:ext cx="63500" cy="9525"/>
              </a:xfrm>
              <a:custGeom>
                <a:avLst/>
                <a:gdLst/>
                <a:ahLst/>
                <a:cxnLst/>
                <a:rect l="l" t="t" r="r" b="b"/>
                <a:pathLst>
                  <a:path w="63500" h="9525">
                    <a:moveTo>
                      <a:pt x="0" y="0"/>
                    </a:moveTo>
                    <a:lnTo>
                      <a:pt x="63500" y="0"/>
                    </a:lnTo>
                  </a:path>
                </a:pathLst>
              </a:custGeom>
              <a:noFill/>
              <a:ln w="12700">
                <a:solidFill>
                  <a:srgbClr val="B03A1F"/>
                </a:solidFill>
              </a:ln>
            </p:spPr>
          </p:sp>
        </p:grpSp>
        <p:sp>
          <p:nvSpPr>
            <p:cNvPr id="141" name="TextBox 141"/>
            <p:cNvSpPr txBox="1"/>
            <p:nvPr/>
          </p:nvSpPr>
          <p:spPr>
            <a:xfrm>
              <a:off x="5614238" y="3724989"/>
              <a:ext cx="75397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身份匹配与整合</a:t>
              </a:r>
            </a:p>
          </p:txBody>
        </p:sp>
        <p:sp>
          <p:nvSpPr>
            <p:cNvPr id="142" name="Ellipse 142"/>
            <p:cNvSpPr/>
            <p:nvPr/>
          </p:nvSpPr>
          <p:spPr>
            <a:xfrm>
              <a:off x="5562600" y="3924300"/>
              <a:ext cx="38100" cy="38100"/>
            </a:xfrm>
            <a:prstGeom prst="ellipse">
              <a:avLst/>
            </a:prstGeom>
            <a:solidFill>
              <a:srgbClr val="B03A1F"/>
            </a:solidFill>
            <a:ln>
              <a:noFill/>
            </a:ln>
          </p:spPr>
        </p:sp>
        <p:sp>
          <p:nvSpPr>
            <p:cNvPr id="143" name="TextBox 143"/>
            <p:cNvSpPr txBox="1"/>
            <p:nvPr/>
          </p:nvSpPr>
          <p:spPr>
            <a:xfrm>
              <a:off x="5653088" y="3908584"/>
              <a:ext cx="558775"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多源身份识别</a:t>
              </a:r>
            </a:p>
          </p:txBody>
        </p:sp>
        <p:sp>
          <p:nvSpPr>
            <p:cNvPr id="144" name="Ellipse 144"/>
            <p:cNvSpPr/>
            <p:nvPr/>
          </p:nvSpPr>
          <p:spPr>
            <a:xfrm>
              <a:off x="5562600" y="4057650"/>
              <a:ext cx="38100" cy="38100"/>
            </a:xfrm>
            <a:prstGeom prst="ellipse">
              <a:avLst/>
            </a:prstGeom>
            <a:solidFill>
              <a:srgbClr val="B03A1F"/>
            </a:solidFill>
            <a:ln>
              <a:noFill/>
            </a:ln>
          </p:spPr>
        </p:sp>
        <p:sp>
          <p:nvSpPr>
            <p:cNvPr id="145" name="TextBox 145"/>
            <p:cNvSpPr txBox="1"/>
            <p:nvPr/>
          </p:nvSpPr>
          <p:spPr>
            <a:xfrm>
              <a:off x="5653088" y="4041934"/>
              <a:ext cx="467233"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去重与合并</a:t>
              </a:r>
            </a:p>
          </p:txBody>
        </p:sp>
        <p:sp>
          <p:nvSpPr>
            <p:cNvPr id="146" name="Ellipse 146"/>
            <p:cNvSpPr/>
            <p:nvPr/>
          </p:nvSpPr>
          <p:spPr>
            <a:xfrm>
              <a:off x="5562600" y="4191000"/>
              <a:ext cx="38100" cy="38100"/>
            </a:xfrm>
            <a:prstGeom prst="ellipse">
              <a:avLst/>
            </a:prstGeom>
            <a:solidFill>
              <a:srgbClr val="B03A1F"/>
            </a:solidFill>
            <a:ln>
              <a:noFill/>
            </a:ln>
          </p:spPr>
        </p:sp>
        <p:sp>
          <p:nvSpPr>
            <p:cNvPr id="147" name="TextBox 147"/>
            <p:cNvSpPr txBox="1"/>
            <p:nvPr/>
          </p:nvSpPr>
          <p:spPr>
            <a:xfrm>
              <a:off x="5653088" y="4175284"/>
              <a:ext cx="558775"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关系图谱构建</a:t>
              </a:r>
            </a:p>
          </p:txBody>
        </p:sp>
        <p:sp>
          <p:nvSpPr>
            <p:cNvPr id="148" name="Rectangle 148"/>
            <p:cNvSpPr/>
            <p:nvPr/>
          </p:nvSpPr>
          <p:spPr>
            <a:xfrm>
              <a:off x="6848475" y="3448050"/>
              <a:ext cx="1581150" cy="857250"/>
            </a:xfrm>
            <a:prstGeom prst="roundRect">
              <a:avLst>
                <a:gd name="adj" fmla="val 6667"/>
              </a:avLst>
            </a:prstGeom>
            <a:solidFill>
              <a:srgbClr val="FFFFFF"/>
            </a:solidFill>
            <a:ln w="9525">
              <a:solidFill>
                <a:srgbClr val="F0D5D6"/>
              </a:solidFill>
            </a:ln>
          </p:spPr>
        </p:sp>
        <p:grpSp>
          <p:nvGrpSpPr>
            <p:cNvPr id="152" name="Group 152"/>
            <p:cNvGrpSpPr/>
            <p:nvPr/>
          </p:nvGrpSpPr>
          <p:grpSpPr>
            <a:xfrm>
              <a:off x="7594600" y="3524250"/>
              <a:ext cx="88900" cy="114300"/>
              <a:chOff x="7594600" y="3524250"/>
              <a:chExt cx="88900" cy="114300"/>
            </a:xfrm>
          </p:grpSpPr>
          <p:sp>
            <p:nvSpPr>
              <p:cNvPr id="149" name="Freeform 149"/>
              <p:cNvSpPr/>
              <p:nvPr/>
            </p:nvSpPr>
            <p:spPr>
              <a:xfrm>
                <a:off x="7594600" y="35750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B03A1F"/>
                </a:solidFill>
              </a:ln>
            </p:spPr>
          </p:sp>
          <p:sp>
            <p:nvSpPr>
              <p:cNvPr id="150" name="Freeform 150"/>
              <p:cNvSpPr/>
              <p:nvPr/>
            </p:nvSpPr>
            <p:spPr>
              <a:xfrm>
                <a:off x="7632700" y="36004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03A1F"/>
                </a:solidFill>
              </a:ln>
            </p:spPr>
          </p:sp>
          <p:sp>
            <p:nvSpPr>
              <p:cNvPr id="151" name="Freeform 151"/>
              <p:cNvSpPr/>
              <p:nvPr/>
            </p:nvSpPr>
            <p:spPr>
              <a:xfrm>
                <a:off x="7613650" y="35242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B03A1F"/>
                </a:solidFill>
              </a:ln>
            </p:spPr>
          </p:sp>
        </p:grpSp>
        <p:sp>
          <p:nvSpPr>
            <p:cNvPr id="153" name="TextBox 153"/>
            <p:cNvSpPr txBox="1"/>
            <p:nvPr/>
          </p:nvSpPr>
          <p:spPr>
            <a:xfrm>
              <a:off x="7262063" y="3724989"/>
              <a:ext cx="75397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权限与合规管理</a:t>
              </a:r>
            </a:p>
          </p:txBody>
        </p:sp>
        <p:sp>
          <p:nvSpPr>
            <p:cNvPr id="154" name="Ellipse 154"/>
            <p:cNvSpPr/>
            <p:nvPr/>
          </p:nvSpPr>
          <p:spPr>
            <a:xfrm>
              <a:off x="7210425" y="3924300"/>
              <a:ext cx="38100" cy="38100"/>
            </a:xfrm>
            <a:prstGeom prst="ellipse">
              <a:avLst/>
            </a:prstGeom>
            <a:solidFill>
              <a:srgbClr val="B03A1F"/>
            </a:solidFill>
            <a:ln>
              <a:noFill/>
            </a:ln>
          </p:spPr>
        </p:sp>
        <p:sp>
          <p:nvSpPr>
            <p:cNvPr id="155" name="TextBox 155"/>
            <p:cNvSpPr txBox="1"/>
            <p:nvPr/>
          </p:nvSpPr>
          <p:spPr>
            <a:xfrm>
              <a:off x="7300912" y="3908584"/>
              <a:ext cx="558775"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数据分级分类</a:t>
              </a:r>
            </a:p>
          </p:txBody>
        </p:sp>
        <p:sp>
          <p:nvSpPr>
            <p:cNvPr id="156" name="Ellipse 156"/>
            <p:cNvSpPr/>
            <p:nvPr/>
          </p:nvSpPr>
          <p:spPr>
            <a:xfrm>
              <a:off x="7210425" y="4057650"/>
              <a:ext cx="38100" cy="38100"/>
            </a:xfrm>
            <a:prstGeom prst="ellipse">
              <a:avLst/>
            </a:prstGeom>
            <a:solidFill>
              <a:srgbClr val="B03A1F"/>
            </a:solidFill>
            <a:ln>
              <a:noFill/>
            </a:ln>
          </p:spPr>
        </p:sp>
        <p:sp>
          <p:nvSpPr>
            <p:cNvPr id="157" name="TextBox 157"/>
            <p:cNvSpPr txBox="1"/>
            <p:nvPr/>
          </p:nvSpPr>
          <p:spPr>
            <a:xfrm>
              <a:off x="7300912" y="4041934"/>
              <a:ext cx="375691"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权限控制</a:t>
              </a:r>
            </a:p>
          </p:txBody>
        </p:sp>
        <p:sp>
          <p:nvSpPr>
            <p:cNvPr id="158" name="Ellipse 158"/>
            <p:cNvSpPr/>
            <p:nvPr/>
          </p:nvSpPr>
          <p:spPr>
            <a:xfrm>
              <a:off x="7210425" y="4191000"/>
              <a:ext cx="38100" cy="38100"/>
            </a:xfrm>
            <a:prstGeom prst="ellipse">
              <a:avLst/>
            </a:prstGeom>
            <a:solidFill>
              <a:srgbClr val="B03A1F"/>
            </a:solidFill>
            <a:ln>
              <a:noFill/>
            </a:ln>
          </p:spPr>
        </p:sp>
        <p:sp>
          <p:nvSpPr>
            <p:cNvPr id="159" name="TextBox 159"/>
            <p:cNvSpPr txBox="1"/>
            <p:nvPr/>
          </p:nvSpPr>
          <p:spPr>
            <a:xfrm>
              <a:off x="7300912" y="4175284"/>
              <a:ext cx="467233"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隐私与合规</a:t>
              </a:r>
            </a:p>
          </p:txBody>
        </p:sp>
      </p:grpSp>
      <p:sp>
        <p:nvSpPr>
          <p:cNvPr id="161" name="deco-rise-1"/>
          <p:cNvSpPr/>
          <p:nvPr/>
        </p:nvSpPr>
        <p:spPr>
          <a:xfrm>
            <a:off x="2362200" y="4314825"/>
            <a:ext cx="114300" cy="76200"/>
          </a:xfrm>
          <a:custGeom>
            <a:avLst/>
            <a:gdLst/>
            <a:ahLst/>
            <a:cxnLst/>
            <a:rect l="l" t="t" r="r" b="b"/>
            <a:pathLst>
              <a:path w="114300" h="76200">
                <a:moveTo>
                  <a:pt x="0" y="76200"/>
                </a:moveTo>
                <a:lnTo>
                  <a:pt x="114300" y="76200"/>
                </a:lnTo>
                <a:lnTo>
                  <a:pt x="57150" y="0"/>
                </a:lnTo>
                <a:close/>
              </a:path>
            </a:pathLst>
          </a:custGeom>
          <a:solidFill>
            <a:srgbClr val="C9C4C0"/>
          </a:solidFill>
          <a:ln>
            <a:noFill/>
          </a:ln>
        </p:spPr>
      </p:sp>
      <p:sp>
        <p:nvSpPr>
          <p:cNvPr id="162" name="deco-rise-2"/>
          <p:cNvSpPr/>
          <p:nvPr/>
        </p:nvSpPr>
        <p:spPr>
          <a:xfrm>
            <a:off x="3457575" y="4314825"/>
            <a:ext cx="114300" cy="76200"/>
          </a:xfrm>
          <a:custGeom>
            <a:avLst/>
            <a:gdLst/>
            <a:ahLst/>
            <a:cxnLst/>
            <a:rect l="l" t="t" r="r" b="b"/>
            <a:pathLst>
              <a:path w="114300" h="76200">
                <a:moveTo>
                  <a:pt x="0" y="76200"/>
                </a:moveTo>
                <a:lnTo>
                  <a:pt x="114300" y="76200"/>
                </a:lnTo>
                <a:lnTo>
                  <a:pt x="57150" y="0"/>
                </a:lnTo>
                <a:close/>
              </a:path>
            </a:pathLst>
          </a:custGeom>
          <a:solidFill>
            <a:srgbClr val="C9C4C0"/>
          </a:solidFill>
          <a:ln>
            <a:noFill/>
          </a:ln>
        </p:spPr>
      </p:sp>
      <p:sp>
        <p:nvSpPr>
          <p:cNvPr id="163" name="deco-rise-3"/>
          <p:cNvSpPr/>
          <p:nvPr/>
        </p:nvSpPr>
        <p:spPr>
          <a:xfrm>
            <a:off x="4562475" y="4314825"/>
            <a:ext cx="114300" cy="76200"/>
          </a:xfrm>
          <a:custGeom>
            <a:avLst/>
            <a:gdLst/>
            <a:ahLst/>
            <a:cxnLst/>
            <a:rect l="l" t="t" r="r" b="b"/>
            <a:pathLst>
              <a:path w="114300" h="76200">
                <a:moveTo>
                  <a:pt x="0" y="76200"/>
                </a:moveTo>
                <a:lnTo>
                  <a:pt x="114300" y="76200"/>
                </a:lnTo>
                <a:lnTo>
                  <a:pt x="57150" y="0"/>
                </a:lnTo>
                <a:close/>
              </a:path>
            </a:pathLst>
          </a:custGeom>
          <a:solidFill>
            <a:srgbClr val="C9C4C0"/>
          </a:solidFill>
          <a:ln>
            <a:noFill/>
          </a:ln>
        </p:spPr>
      </p:sp>
      <p:sp>
        <p:nvSpPr>
          <p:cNvPr id="164" name="deco-rise-4"/>
          <p:cNvSpPr/>
          <p:nvPr/>
        </p:nvSpPr>
        <p:spPr>
          <a:xfrm>
            <a:off x="5657850" y="4314825"/>
            <a:ext cx="114300" cy="76200"/>
          </a:xfrm>
          <a:custGeom>
            <a:avLst/>
            <a:gdLst/>
            <a:ahLst/>
            <a:cxnLst/>
            <a:rect l="l" t="t" r="r" b="b"/>
            <a:pathLst>
              <a:path w="114300" h="76200">
                <a:moveTo>
                  <a:pt x="0" y="76200"/>
                </a:moveTo>
                <a:lnTo>
                  <a:pt x="114300" y="76200"/>
                </a:lnTo>
                <a:lnTo>
                  <a:pt x="57150" y="0"/>
                </a:lnTo>
                <a:close/>
              </a:path>
            </a:pathLst>
          </a:custGeom>
          <a:solidFill>
            <a:srgbClr val="C9C4C0"/>
          </a:solidFill>
          <a:ln>
            <a:noFill/>
          </a:ln>
        </p:spPr>
      </p:sp>
      <p:sp>
        <p:nvSpPr>
          <p:cNvPr id="165" name="deco-rise-5"/>
          <p:cNvSpPr/>
          <p:nvPr/>
        </p:nvSpPr>
        <p:spPr>
          <a:xfrm>
            <a:off x="6762750" y="4314825"/>
            <a:ext cx="114300" cy="76200"/>
          </a:xfrm>
          <a:custGeom>
            <a:avLst/>
            <a:gdLst/>
            <a:ahLst/>
            <a:cxnLst/>
            <a:rect l="l" t="t" r="r" b="b"/>
            <a:pathLst>
              <a:path w="114300" h="76200">
                <a:moveTo>
                  <a:pt x="0" y="76200"/>
                </a:moveTo>
                <a:lnTo>
                  <a:pt x="114300" y="76200"/>
                </a:lnTo>
                <a:lnTo>
                  <a:pt x="57150" y="0"/>
                </a:lnTo>
                <a:close/>
              </a:path>
            </a:pathLst>
          </a:custGeom>
          <a:solidFill>
            <a:srgbClr val="C9C4C0"/>
          </a:solidFill>
          <a:ln>
            <a:noFill/>
          </a:ln>
        </p:spPr>
      </p:sp>
      <p:sp>
        <p:nvSpPr>
          <p:cNvPr id="166" name="deco-rise-6"/>
          <p:cNvSpPr/>
          <p:nvPr/>
        </p:nvSpPr>
        <p:spPr>
          <a:xfrm>
            <a:off x="7858125" y="4314825"/>
            <a:ext cx="114300" cy="76200"/>
          </a:xfrm>
          <a:custGeom>
            <a:avLst/>
            <a:gdLst/>
            <a:ahLst/>
            <a:cxnLst/>
            <a:rect l="l" t="t" r="r" b="b"/>
            <a:pathLst>
              <a:path w="114300" h="76200">
                <a:moveTo>
                  <a:pt x="0" y="76200"/>
                </a:moveTo>
                <a:lnTo>
                  <a:pt x="114300" y="76200"/>
                </a:lnTo>
                <a:lnTo>
                  <a:pt x="57150" y="0"/>
                </a:lnTo>
                <a:close/>
              </a:path>
            </a:pathLst>
          </a:custGeom>
          <a:solidFill>
            <a:srgbClr val="C9C4C0"/>
          </a:solidFill>
          <a:ln>
            <a:noFill/>
          </a:ln>
        </p:spPr>
      </p:sp>
      <p:grpSp>
        <p:nvGrpSpPr>
          <p:cNvPr id="208" name="source-layer"/>
          <p:cNvGrpSpPr/>
          <p:nvPr/>
        </p:nvGrpSpPr>
        <p:grpSpPr>
          <a:xfrm>
            <a:off x="1905000" y="4438650"/>
            <a:ext cx="6524625" cy="857250"/>
            <a:chOff x="1905000" y="4438650"/>
            <a:chExt cx="6524625" cy="857250"/>
          </a:xfrm>
        </p:grpSpPr>
        <p:sp>
          <p:nvSpPr>
            <p:cNvPr id="167" name="Rectangle 167"/>
            <p:cNvSpPr/>
            <p:nvPr/>
          </p:nvSpPr>
          <p:spPr>
            <a:xfrm>
              <a:off x="1905000" y="4438650"/>
              <a:ext cx="1028700" cy="857250"/>
            </a:xfrm>
            <a:prstGeom prst="roundRect">
              <a:avLst>
                <a:gd name="adj" fmla="val 6667"/>
              </a:avLst>
            </a:prstGeom>
            <a:solidFill>
              <a:srgbClr val="FFFFFF"/>
            </a:solidFill>
            <a:ln w="9525">
              <a:solidFill>
                <a:srgbClr val="E8E4E0"/>
              </a:solidFill>
            </a:ln>
          </p:spPr>
        </p:sp>
        <p:grpSp>
          <p:nvGrpSpPr>
            <p:cNvPr id="171" name="Group 171"/>
            <p:cNvGrpSpPr/>
            <p:nvPr/>
          </p:nvGrpSpPr>
          <p:grpSpPr>
            <a:xfrm>
              <a:off x="2347912" y="4557712"/>
              <a:ext cx="142875" cy="142875"/>
              <a:chOff x="2347912" y="4557712"/>
              <a:chExt cx="142875" cy="142875"/>
            </a:xfrm>
          </p:grpSpPr>
          <p:sp>
            <p:nvSpPr>
              <p:cNvPr id="168" name="Freeform 168"/>
              <p:cNvSpPr/>
              <p:nvPr/>
            </p:nvSpPr>
            <p:spPr>
              <a:xfrm>
                <a:off x="2347912" y="455771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B03A1F"/>
                </a:solidFill>
              </a:ln>
            </p:spPr>
          </p:sp>
          <p:sp>
            <p:nvSpPr>
              <p:cNvPr id="169" name="Freeform 169"/>
              <p:cNvSpPr/>
              <p:nvPr/>
            </p:nvSpPr>
            <p:spPr>
              <a:xfrm>
                <a:off x="2363787" y="462915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B03A1F"/>
                </a:solidFill>
              </a:ln>
            </p:spPr>
          </p:sp>
          <p:sp>
            <p:nvSpPr>
              <p:cNvPr id="170" name="Freeform 170"/>
              <p:cNvSpPr/>
              <p:nvPr/>
            </p:nvSpPr>
            <p:spPr>
              <a:xfrm>
                <a:off x="2395537" y="463708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B03A1F"/>
                </a:solidFill>
              </a:ln>
            </p:spPr>
          </p:sp>
        </p:grpSp>
        <p:sp>
          <p:nvSpPr>
            <p:cNvPr id="172" name="TextBox 172"/>
            <p:cNvSpPr txBox="1"/>
            <p:nvPr/>
          </p:nvSpPr>
          <p:spPr>
            <a:xfrm>
              <a:off x="2308238" y="4810839"/>
              <a:ext cx="222225" cy="154781"/>
            </a:xfrm>
            <a:prstGeom prst="rect">
              <a:avLst/>
            </a:prstGeom>
            <a:noFill/>
            <a:ln>
              <a:noFill/>
            </a:ln>
          </p:spPr>
          <p:txBody>
            <a:bodyPr wrap="none" lIns="0" tIns="0" rIns="0" bIns="0" anchor="t" anchorCtr="0">
              <a:spAutoFit/>
            </a:bodyPr>
            <a:lstStyle/>
            <a:p>
              <a:pPr algn="ctr"/>
              <a:r>
                <a:rPr lang="zh-CN" sz="790" b="1" dirty="0">
                  <a:solidFill>
                    <a:srgbClr val="1E1E1E"/>
                  </a:solidFill>
                  <a:latin typeface="+mn-lt"/>
                  <a:ea typeface="+mn-ea"/>
                  <a:cs typeface="+mn-cs"/>
                </a:rPr>
                <a:t>网点</a:t>
              </a:r>
            </a:p>
          </p:txBody>
        </p:sp>
        <p:sp>
          <p:nvSpPr>
            <p:cNvPr id="173" name="TextBox 173"/>
            <p:cNvSpPr txBox="1"/>
            <p:nvPr/>
          </p:nvSpPr>
          <p:spPr>
            <a:xfrm>
              <a:off x="2156117" y="49984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线下渠道数据</a:t>
              </a:r>
            </a:p>
          </p:txBody>
        </p:sp>
        <p:sp>
          <p:nvSpPr>
            <p:cNvPr id="174" name="Rectangle 174"/>
            <p:cNvSpPr/>
            <p:nvPr/>
          </p:nvSpPr>
          <p:spPr>
            <a:xfrm>
              <a:off x="3000375" y="4438650"/>
              <a:ext cx="1028700" cy="857250"/>
            </a:xfrm>
            <a:prstGeom prst="roundRect">
              <a:avLst>
                <a:gd name="adj" fmla="val 6667"/>
              </a:avLst>
            </a:prstGeom>
            <a:solidFill>
              <a:srgbClr val="FFFFFF"/>
            </a:solidFill>
            <a:ln w="9525">
              <a:solidFill>
                <a:srgbClr val="E8E4E0"/>
              </a:solidFill>
            </a:ln>
          </p:spPr>
        </p:sp>
        <p:grpSp>
          <p:nvGrpSpPr>
            <p:cNvPr id="178" name="Group 178"/>
            <p:cNvGrpSpPr/>
            <p:nvPr/>
          </p:nvGrpSpPr>
          <p:grpSpPr>
            <a:xfrm>
              <a:off x="3467100" y="4557712"/>
              <a:ext cx="95250" cy="142875"/>
              <a:chOff x="3467100" y="4557712"/>
              <a:chExt cx="95250" cy="142875"/>
            </a:xfrm>
          </p:grpSpPr>
          <p:sp>
            <p:nvSpPr>
              <p:cNvPr id="175" name="Freeform 175"/>
              <p:cNvSpPr/>
              <p:nvPr/>
            </p:nvSpPr>
            <p:spPr>
              <a:xfrm>
                <a:off x="3467100" y="455771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B03A1F"/>
                </a:solidFill>
              </a:ln>
            </p:spPr>
          </p:sp>
          <p:sp>
            <p:nvSpPr>
              <p:cNvPr id="176" name="Freeform 176"/>
              <p:cNvSpPr/>
              <p:nvPr/>
            </p:nvSpPr>
            <p:spPr>
              <a:xfrm>
                <a:off x="3506787" y="4565650"/>
                <a:ext cx="15875" cy="9525"/>
              </a:xfrm>
              <a:custGeom>
                <a:avLst/>
                <a:gdLst/>
                <a:ahLst/>
                <a:cxnLst/>
                <a:rect l="l" t="t" r="r" b="b"/>
                <a:pathLst>
                  <a:path w="15875" h="9525">
                    <a:moveTo>
                      <a:pt x="0" y="0"/>
                    </a:moveTo>
                    <a:lnTo>
                      <a:pt x="15875" y="0"/>
                    </a:lnTo>
                  </a:path>
                </a:pathLst>
              </a:custGeom>
              <a:noFill/>
              <a:ln w="15875">
                <a:solidFill>
                  <a:srgbClr val="B03A1F"/>
                </a:solidFill>
              </a:ln>
            </p:spPr>
          </p:sp>
          <p:sp>
            <p:nvSpPr>
              <p:cNvPr id="177" name="Freeform 177"/>
              <p:cNvSpPr/>
              <p:nvPr/>
            </p:nvSpPr>
            <p:spPr>
              <a:xfrm>
                <a:off x="3514725" y="4668837"/>
                <a:ext cx="9525" cy="9525"/>
              </a:xfrm>
              <a:custGeom>
                <a:avLst/>
                <a:gdLst/>
                <a:ahLst/>
                <a:cxnLst/>
                <a:rect l="l" t="t" r="r" b="b"/>
                <a:pathLst>
                  <a:path w="9525" h="9525">
                    <a:moveTo>
                      <a:pt x="0" y="0"/>
                    </a:moveTo>
                    <a:lnTo>
                      <a:pt x="0" y="79"/>
                    </a:lnTo>
                  </a:path>
                </a:pathLst>
              </a:custGeom>
              <a:noFill/>
              <a:ln w="15875">
                <a:solidFill>
                  <a:srgbClr val="B03A1F"/>
                </a:solidFill>
              </a:ln>
            </p:spPr>
          </p:sp>
        </p:grpSp>
        <p:sp>
          <p:nvSpPr>
            <p:cNvPr id="179" name="TextBox 179"/>
            <p:cNvSpPr txBox="1"/>
            <p:nvPr/>
          </p:nvSpPr>
          <p:spPr>
            <a:xfrm>
              <a:off x="3297263" y="4810839"/>
              <a:ext cx="434924" cy="154781"/>
            </a:xfrm>
            <a:prstGeom prst="rect">
              <a:avLst/>
            </a:prstGeom>
            <a:noFill/>
            <a:ln>
              <a:noFill/>
            </a:ln>
          </p:spPr>
          <p:txBody>
            <a:bodyPr wrap="none" lIns="0" tIns="0" rIns="0" bIns="0" anchor="t" anchorCtr="0">
              <a:spAutoFit/>
            </a:bodyPr>
            <a:lstStyle/>
            <a:p>
              <a:pPr algn="ctr"/>
              <a:r>
                <a:rPr lang="zh-CN" sz="790" b="1" dirty="0">
                  <a:solidFill>
                    <a:srgbClr val="1E1E1E"/>
                  </a:solidFill>
                  <a:latin typeface="+mn-lt"/>
                  <a:ea typeface="+mn-ea"/>
                  <a:cs typeface="+mn-cs"/>
                </a:rPr>
                <a:t>手机银行</a:t>
              </a:r>
            </a:p>
          </p:txBody>
        </p:sp>
        <p:sp>
          <p:nvSpPr>
            <p:cNvPr id="180" name="TextBox 180"/>
            <p:cNvSpPr txBox="1"/>
            <p:nvPr/>
          </p:nvSpPr>
          <p:spPr>
            <a:xfrm>
              <a:off x="3208414" y="4998482"/>
              <a:ext cx="612623"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移动端行为数据</a:t>
              </a:r>
            </a:p>
          </p:txBody>
        </p:sp>
        <p:sp>
          <p:nvSpPr>
            <p:cNvPr id="181" name="Rectangle 181"/>
            <p:cNvSpPr/>
            <p:nvPr/>
          </p:nvSpPr>
          <p:spPr>
            <a:xfrm>
              <a:off x="4105275" y="4438650"/>
              <a:ext cx="1028700" cy="857250"/>
            </a:xfrm>
            <a:prstGeom prst="roundRect">
              <a:avLst>
                <a:gd name="adj" fmla="val 6667"/>
              </a:avLst>
            </a:prstGeom>
            <a:solidFill>
              <a:srgbClr val="FFFFFF"/>
            </a:solidFill>
            <a:ln w="9525">
              <a:solidFill>
                <a:srgbClr val="E8E4E0"/>
              </a:solidFill>
            </a:ln>
          </p:spPr>
        </p:sp>
        <p:grpSp>
          <p:nvGrpSpPr>
            <p:cNvPr id="185" name="Group 185"/>
            <p:cNvGrpSpPr/>
            <p:nvPr/>
          </p:nvGrpSpPr>
          <p:grpSpPr>
            <a:xfrm>
              <a:off x="4548187" y="4557712"/>
              <a:ext cx="142875" cy="142875"/>
              <a:chOff x="4548187" y="4557712"/>
              <a:chExt cx="142875" cy="142875"/>
            </a:xfrm>
          </p:grpSpPr>
          <p:sp>
            <p:nvSpPr>
              <p:cNvPr id="182" name="Freeform 182"/>
              <p:cNvSpPr/>
              <p:nvPr/>
            </p:nvSpPr>
            <p:spPr>
              <a:xfrm>
                <a:off x="4548187" y="4565650"/>
                <a:ext cx="134937" cy="134937"/>
              </a:xfrm>
              <a:custGeom>
                <a:avLst/>
                <a:gdLst/>
                <a:ahLst/>
                <a:cxnLst/>
                <a:rect l="l" t="t" r="r" b="b"/>
                <a:pathLst>
                  <a:path w="134937" h="134937">
                    <a:moveTo>
                      <a:pt x="15875" y="0"/>
                    </a:moveTo>
                    <a:lnTo>
                      <a:pt x="47625" y="0"/>
                    </a:lnTo>
                    <a:lnTo>
                      <a:pt x="63500" y="39687"/>
                    </a:lnTo>
                    <a:lnTo>
                      <a:pt x="43656" y="51594"/>
                    </a:lnTo>
                    <a:cubicBezTo>
                      <a:pt x="52157" y="68830"/>
                      <a:pt x="66107" y="82780"/>
                      <a:pt x="83344" y="91281"/>
                    </a:cubicBezTo>
                    <a:lnTo>
                      <a:pt x="95250" y="71437"/>
                    </a:lnTo>
                    <a:lnTo>
                      <a:pt x="134937" y="87312"/>
                    </a:lnTo>
                    <a:lnTo>
                      <a:pt x="134937" y="119062"/>
                    </a:lnTo>
                    <a:cubicBezTo>
                      <a:pt x="134937" y="127830"/>
                      <a:pt x="127830" y="134937"/>
                      <a:pt x="119062" y="134937"/>
                    </a:cubicBezTo>
                    <a:cubicBezTo>
                      <a:pt x="54988" y="131044"/>
                      <a:pt x="3894" y="79949"/>
                      <a:pt x="0" y="15875"/>
                    </a:cubicBezTo>
                    <a:cubicBezTo>
                      <a:pt x="0" y="7107"/>
                      <a:pt x="7107" y="0"/>
                      <a:pt x="15875" y="0"/>
                    </a:cubicBezTo>
                  </a:path>
                </a:pathLst>
              </a:custGeom>
              <a:noFill/>
              <a:ln w="15875">
                <a:solidFill>
                  <a:srgbClr val="B03A1F"/>
                </a:solidFill>
              </a:ln>
            </p:spPr>
          </p:sp>
          <p:sp>
            <p:nvSpPr>
              <p:cNvPr id="183" name="Freeform 183"/>
              <p:cNvSpPr/>
              <p:nvPr/>
            </p:nvSpPr>
            <p:spPr>
              <a:xfrm>
                <a:off x="4643437" y="4589462"/>
                <a:ext cx="15875" cy="15875"/>
              </a:xfrm>
              <a:custGeom>
                <a:avLst/>
                <a:gdLst/>
                <a:ahLst/>
                <a:cxnLst/>
                <a:rect l="l" t="t" r="r" b="b"/>
                <a:pathLst>
                  <a:path w="15875" h="15875">
                    <a:moveTo>
                      <a:pt x="0" y="0"/>
                    </a:moveTo>
                    <a:cubicBezTo>
                      <a:pt x="8768" y="0"/>
                      <a:pt x="15875" y="7107"/>
                      <a:pt x="15875" y="15875"/>
                    </a:cubicBezTo>
                  </a:path>
                </a:pathLst>
              </a:custGeom>
              <a:noFill/>
              <a:ln w="15875">
                <a:solidFill>
                  <a:srgbClr val="B03A1F"/>
                </a:solidFill>
              </a:ln>
            </p:spPr>
          </p:sp>
          <p:sp>
            <p:nvSpPr>
              <p:cNvPr id="184" name="Freeform 184"/>
              <p:cNvSpPr/>
              <p:nvPr/>
            </p:nvSpPr>
            <p:spPr>
              <a:xfrm>
                <a:off x="4643437" y="4557712"/>
                <a:ext cx="47625" cy="47625"/>
              </a:xfrm>
              <a:custGeom>
                <a:avLst/>
                <a:gdLst/>
                <a:ahLst/>
                <a:cxnLst/>
                <a:rect l="l" t="t" r="r" b="b"/>
                <a:pathLst>
                  <a:path w="47625" h="47625">
                    <a:moveTo>
                      <a:pt x="0" y="0"/>
                    </a:moveTo>
                    <a:cubicBezTo>
                      <a:pt x="26303" y="0"/>
                      <a:pt x="47625" y="21322"/>
                      <a:pt x="47625" y="47625"/>
                    </a:cubicBezTo>
                  </a:path>
                </a:pathLst>
              </a:custGeom>
              <a:noFill/>
              <a:ln w="15875">
                <a:solidFill>
                  <a:srgbClr val="B03A1F"/>
                </a:solidFill>
              </a:ln>
            </p:spPr>
          </p:sp>
        </p:grpSp>
        <p:sp>
          <p:nvSpPr>
            <p:cNvPr id="186" name="TextBox 186"/>
            <p:cNvSpPr txBox="1"/>
            <p:nvPr/>
          </p:nvSpPr>
          <p:spPr>
            <a:xfrm>
              <a:off x="4402163" y="4810839"/>
              <a:ext cx="434924" cy="154781"/>
            </a:xfrm>
            <a:prstGeom prst="rect">
              <a:avLst/>
            </a:prstGeom>
            <a:noFill/>
            <a:ln>
              <a:noFill/>
            </a:ln>
          </p:spPr>
          <p:txBody>
            <a:bodyPr wrap="none" lIns="0" tIns="0" rIns="0" bIns="0" anchor="t" anchorCtr="0">
              <a:spAutoFit/>
            </a:bodyPr>
            <a:lstStyle/>
            <a:p>
              <a:pPr algn="ctr"/>
              <a:r>
                <a:rPr lang="zh-CN" sz="790" b="1" dirty="0">
                  <a:solidFill>
                    <a:srgbClr val="1E1E1E"/>
                  </a:solidFill>
                  <a:latin typeface="+mn-lt"/>
                  <a:ea typeface="+mn-ea"/>
                  <a:cs typeface="+mn-cs"/>
                </a:rPr>
                <a:t>远程银行</a:t>
              </a:r>
            </a:p>
          </p:txBody>
        </p:sp>
        <p:sp>
          <p:nvSpPr>
            <p:cNvPr id="187" name="TextBox 187"/>
            <p:cNvSpPr txBox="1"/>
            <p:nvPr/>
          </p:nvSpPr>
          <p:spPr>
            <a:xfrm>
              <a:off x="4227157" y="4998482"/>
              <a:ext cx="78493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呼叫与在线服务数据</a:t>
              </a:r>
            </a:p>
          </p:txBody>
        </p:sp>
        <p:sp>
          <p:nvSpPr>
            <p:cNvPr id="188" name="Rectangle 188"/>
            <p:cNvSpPr/>
            <p:nvPr/>
          </p:nvSpPr>
          <p:spPr>
            <a:xfrm>
              <a:off x="5200650" y="4438650"/>
              <a:ext cx="1028700" cy="857250"/>
            </a:xfrm>
            <a:prstGeom prst="roundRect">
              <a:avLst>
                <a:gd name="adj" fmla="val 6667"/>
              </a:avLst>
            </a:prstGeom>
            <a:solidFill>
              <a:srgbClr val="FFFFFF"/>
            </a:solidFill>
            <a:ln w="9525">
              <a:solidFill>
                <a:srgbClr val="E8E4E0"/>
              </a:solidFill>
            </a:ln>
          </p:spPr>
        </p:sp>
        <p:sp>
          <p:nvSpPr>
            <p:cNvPr id="189" name="Freeform 189"/>
            <p:cNvSpPr/>
            <p:nvPr/>
          </p:nvSpPr>
          <p:spPr>
            <a:xfrm>
              <a:off x="5635434" y="455949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B03A1F"/>
              </a:solidFill>
            </a:ln>
          </p:spPr>
        </p:sp>
        <p:sp>
          <p:nvSpPr>
            <p:cNvPr id="190" name="TextBox 190"/>
            <p:cNvSpPr txBox="1"/>
            <p:nvPr/>
          </p:nvSpPr>
          <p:spPr>
            <a:xfrm>
              <a:off x="5497538" y="4810839"/>
              <a:ext cx="434924" cy="154781"/>
            </a:xfrm>
            <a:prstGeom prst="rect">
              <a:avLst/>
            </a:prstGeom>
            <a:noFill/>
            <a:ln>
              <a:noFill/>
            </a:ln>
          </p:spPr>
          <p:txBody>
            <a:bodyPr wrap="none" lIns="0" tIns="0" rIns="0" bIns="0" anchor="t" anchorCtr="0">
              <a:spAutoFit/>
            </a:bodyPr>
            <a:lstStyle/>
            <a:p>
              <a:pPr algn="ctr"/>
              <a:r>
                <a:rPr lang="zh-CN" sz="790" b="1" dirty="0">
                  <a:solidFill>
                    <a:srgbClr val="1E1E1E"/>
                  </a:solidFill>
                  <a:latin typeface="+mn-lt"/>
                  <a:ea typeface="+mn-ea"/>
                  <a:cs typeface="+mn-cs"/>
                </a:rPr>
                <a:t>社交触点</a:t>
              </a:r>
            </a:p>
          </p:txBody>
        </p:sp>
        <p:sp>
          <p:nvSpPr>
            <p:cNvPr id="191" name="TextBox 191"/>
            <p:cNvSpPr txBox="1"/>
            <p:nvPr/>
          </p:nvSpPr>
          <p:spPr>
            <a:xfrm>
              <a:off x="5451767" y="49984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社媒互动数据</a:t>
              </a:r>
            </a:p>
          </p:txBody>
        </p:sp>
        <p:sp>
          <p:nvSpPr>
            <p:cNvPr id="192" name="Rectangle 192"/>
            <p:cNvSpPr/>
            <p:nvPr/>
          </p:nvSpPr>
          <p:spPr>
            <a:xfrm>
              <a:off x="6305550" y="4438650"/>
              <a:ext cx="1028700" cy="857250"/>
            </a:xfrm>
            <a:prstGeom prst="roundRect">
              <a:avLst>
                <a:gd name="adj" fmla="val 6667"/>
              </a:avLst>
            </a:prstGeom>
            <a:solidFill>
              <a:srgbClr val="FFFFFF"/>
            </a:solidFill>
            <a:ln w="9525">
              <a:solidFill>
                <a:srgbClr val="E8E4E0"/>
              </a:solidFill>
            </a:ln>
          </p:spPr>
        </p:sp>
        <p:grpSp>
          <p:nvGrpSpPr>
            <p:cNvPr id="197" name="Group 197"/>
            <p:cNvGrpSpPr/>
            <p:nvPr/>
          </p:nvGrpSpPr>
          <p:grpSpPr>
            <a:xfrm>
              <a:off x="6748462" y="4573587"/>
              <a:ext cx="142875" cy="111125"/>
              <a:chOff x="6748462" y="4573587"/>
              <a:chExt cx="142875" cy="111125"/>
            </a:xfrm>
          </p:grpSpPr>
          <p:sp>
            <p:nvSpPr>
              <p:cNvPr id="193" name="Freeform 193"/>
              <p:cNvSpPr/>
              <p:nvPr/>
            </p:nvSpPr>
            <p:spPr>
              <a:xfrm>
                <a:off x="6748462" y="457358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B03A1F"/>
                </a:solidFill>
              </a:ln>
            </p:spPr>
          </p:sp>
          <p:sp>
            <p:nvSpPr>
              <p:cNvPr id="194" name="Freeform 194"/>
              <p:cNvSpPr/>
              <p:nvPr/>
            </p:nvSpPr>
            <p:spPr>
              <a:xfrm>
                <a:off x="6748462" y="4613275"/>
                <a:ext cx="142875" cy="9525"/>
              </a:xfrm>
              <a:custGeom>
                <a:avLst/>
                <a:gdLst/>
                <a:ahLst/>
                <a:cxnLst/>
                <a:rect l="l" t="t" r="r" b="b"/>
                <a:pathLst>
                  <a:path w="142875" h="9525">
                    <a:moveTo>
                      <a:pt x="0" y="0"/>
                    </a:moveTo>
                    <a:lnTo>
                      <a:pt x="142875" y="0"/>
                    </a:lnTo>
                  </a:path>
                </a:pathLst>
              </a:custGeom>
              <a:noFill/>
              <a:ln w="15875">
                <a:solidFill>
                  <a:srgbClr val="B03A1F"/>
                </a:solidFill>
              </a:ln>
            </p:spPr>
          </p:sp>
          <p:sp>
            <p:nvSpPr>
              <p:cNvPr id="195" name="Freeform 195"/>
              <p:cNvSpPr/>
              <p:nvPr/>
            </p:nvSpPr>
            <p:spPr>
              <a:xfrm>
                <a:off x="6780212" y="4652962"/>
                <a:ext cx="9525" cy="9525"/>
              </a:xfrm>
              <a:custGeom>
                <a:avLst/>
                <a:gdLst/>
                <a:ahLst/>
                <a:cxnLst/>
                <a:rect l="l" t="t" r="r" b="b"/>
                <a:pathLst>
                  <a:path w="9525" h="9525">
                    <a:moveTo>
                      <a:pt x="0" y="0"/>
                    </a:moveTo>
                    <a:lnTo>
                      <a:pt x="79" y="0"/>
                    </a:lnTo>
                  </a:path>
                </a:pathLst>
              </a:custGeom>
              <a:noFill/>
              <a:ln w="15875">
                <a:solidFill>
                  <a:srgbClr val="B03A1F"/>
                </a:solidFill>
              </a:ln>
            </p:spPr>
          </p:sp>
          <p:sp>
            <p:nvSpPr>
              <p:cNvPr id="196" name="Freeform 196"/>
              <p:cNvSpPr/>
              <p:nvPr/>
            </p:nvSpPr>
            <p:spPr>
              <a:xfrm>
                <a:off x="6811962" y="4652962"/>
                <a:ext cx="15875" cy="9525"/>
              </a:xfrm>
              <a:custGeom>
                <a:avLst/>
                <a:gdLst/>
                <a:ahLst/>
                <a:cxnLst/>
                <a:rect l="l" t="t" r="r" b="b"/>
                <a:pathLst>
                  <a:path w="15875" h="9525">
                    <a:moveTo>
                      <a:pt x="0" y="0"/>
                    </a:moveTo>
                    <a:lnTo>
                      <a:pt x="15875" y="0"/>
                    </a:lnTo>
                  </a:path>
                </a:pathLst>
              </a:custGeom>
              <a:noFill/>
              <a:ln w="15875">
                <a:solidFill>
                  <a:srgbClr val="B03A1F"/>
                </a:solidFill>
              </a:ln>
            </p:spPr>
          </p:sp>
        </p:grpSp>
        <p:sp>
          <p:nvSpPr>
            <p:cNvPr id="198" name="TextBox 198"/>
            <p:cNvSpPr txBox="1"/>
            <p:nvPr/>
          </p:nvSpPr>
          <p:spPr>
            <a:xfrm>
              <a:off x="6549263" y="4810839"/>
              <a:ext cx="541274" cy="154781"/>
            </a:xfrm>
            <a:prstGeom prst="rect">
              <a:avLst/>
            </a:prstGeom>
            <a:noFill/>
            <a:ln>
              <a:noFill/>
            </a:ln>
          </p:spPr>
          <p:txBody>
            <a:bodyPr wrap="none" lIns="0" tIns="0" rIns="0" bIns="0" anchor="t" anchorCtr="0">
              <a:spAutoFit/>
            </a:bodyPr>
            <a:lstStyle/>
            <a:p>
              <a:pPr algn="ctr"/>
              <a:r>
                <a:rPr lang="zh-CN" sz="790" b="1" dirty="0">
                  <a:solidFill>
                    <a:srgbClr val="1E1E1E"/>
                  </a:solidFill>
                  <a:latin typeface="+mn-lt"/>
                  <a:ea typeface="+mn-ea"/>
                  <a:cs typeface="+mn-cs"/>
                </a:rPr>
                <a:t>交易与产品</a:t>
              </a:r>
            </a:p>
          </p:txBody>
        </p:sp>
        <p:sp>
          <p:nvSpPr>
            <p:cNvPr id="199" name="TextBox 199"/>
            <p:cNvSpPr txBox="1"/>
            <p:nvPr/>
          </p:nvSpPr>
          <p:spPr>
            <a:xfrm>
              <a:off x="6513589" y="4998482"/>
              <a:ext cx="612623"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交易与产品数据</a:t>
              </a:r>
            </a:p>
          </p:txBody>
        </p:sp>
        <p:sp>
          <p:nvSpPr>
            <p:cNvPr id="200" name="Rectangle 200"/>
            <p:cNvSpPr/>
            <p:nvPr/>
          </p:nvSpPr>
          <p:spPr>
            <a:xfrm>
              <a:off x="7400925" y="4438650"/>
              <a:ext cx="1028700" cy="857250"/>
            </a:xfrm>
            <a:prstGeom prst="roundRect">
              <a:avLst>
                <a:gd name="adj" fmla="val 6667"/>
              </a:avLst>
            </a:prstGeom>
            <a:solidFill>
              <a:srgbClr val="FFFFFF"/>
            </a:solidFill>
            <a:ln w="9525">
              <a:solidFill>
                <a:srgbClr val="E8E4E0"/>
              </a:solidFill>
            </a:ln>
          </p:spPr>
        </p:sp>
        <p:grpSp>
          <p:nvGrpSpPr>
            <p:cNvPr id="205" name="Group 205"/>
            <p:cNvGrpSpPr/>
            <p:nvPr/>
          </p:nvGrpSpPr>
          <p:grpSpPr>
            <a:xfrm>
              <a:off x="7865666" y="4549775"/>
              <a:ext cx="106727" cy="160337"/>
              <a:chOff x="7865666" y="4549775"/>
              <a:chExt cx="106727" cy="160337"/>
            </a:xfrm>
          </p:grpSpPr>
          <p:sp>
            <p:nvSpPr>
              <p:cNvPr id="201" name="Freeform 201"/>
              <p:cNvSpPr/>
              <p:nvPr/>
            </p:nvSpPr>
            <p:spPr>
              <a:xfrm>
                <a:off x="7875587" y="45735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B03A1F"/>
                </a:solidFill>
              </a:ln>
            </p:spPr>
          </p:sp>
          <p:sp>
            <p:nvSpPr>
              <p:cNvPr id="202" name="Freeform 202"/>
              <p:cNvSpPr/>
              <p:nvPr/>
            </p:nvSpPr>
            <p:spPr>
              <a:xfrm>
                <a:off x="7865666" y="4549775"/>
                <a:ext cx="106727" cy="123187"/>
              </a:xfrm>
              <a:custGeom>
                <a:avLst/>
                <a:gdLst/>
                <a:ahLst/>
                <a:cxnLst/>
                <a:rect l="l" t="t" r="r" b="b"/>
                <a:pathLst>
                  <a:path w="106727" h="123187">
                    <a:moveTo>
                      <a:pt x="0" y="103187"/>
                    </a:moveTo>
                    <a:cubicBezTo>
                      <a:pt x="18271" y="119058"/>
                      <a:pt x="43965" y="123187"/>
                      <a:pt x="66289" y="113840"/>
                    </a:cubicBezTo>
                    <a:cubicBezTo>
                      <a:pt x="88613" y="104493"/>
                      <a:pt x="103700" y="83290"/>
                      <a:pt x="105213" y="59135"/>
                    </a:cubicBezTo>
                    <a:cubicBezTo>
                      <a:pt x="106727" y="34981"/>
                      <a:pt x="94404" y="12060"/>
                      <a:pt x="73422" y="0"/>
                    </a:cubicBezTo>
                  </a:path>
                </a:pathLst>
              </a:custGeom>
              <a:noFill/>
              <a:ln w="15875">
                <a:solidFill>
                  <a:srgbClr val="B03A1F"/>
                </a:solidFill>
              </a:ln>
            </p:spPr>
          </p:sp>
          <p:sp>
            <p:nvSpPr>
              <p:cNvPr id="203" name="Freeform 203"/>
              <p:cNvSpPr/>
              <p:nvPr/>
            </p:nvSpPr>
            <p:spPr>
              <a:xfrm>
                <a:off x="7907337" y="4668837"/>
                <a:ext cx="9525" cy="31750"/>
              </a:xfrm>
              <a:custGeom>
                <a:avLst/>
                <a:gdLst/>
                <a:ahLst/>
                <a:cxnLst/>
                <a:rect l="l" t="t" r="r" b="b"/>
                <a:pathLst>
                  <a:path w="9525" h="31750">
                    <a:moveTo>
                      <a:pt x="0" y="0"/>
                    </a:moveTo>
                    <a:lnTo>
                      <a:pt x="0" y="31750"/>
                    </a:lnTo>
                  </a:path>
                </a:pathLst>
              </a:custGeom>
              <a:noFill/>
              <a:ln w="15875">
                <a:solidFill>
                  <a:srgbClr val="B03A1F"/>
                </a:solidFill>
              </a:ln>
            </p:spPr>
          </p:sp>
          <p:sp>
            <p:nvSpPr>
              <p:cNvPr id="204" name="Freeform 204"/>
              <p:cNvSpPr/>
              <p:nvPr/>
            </p:nvSpPr>
            <p:spPr>
              <a:xfrm>
                <a:off x="7875587" y="4700587"/>
                <a:ext cx="63500" cy="9525"/>
              </a:xfrm>
              <a:custGeom>
                <a:avLst/>
                <a:gdLst/>
                <a:ahLst/>
                <a:cxnLst/>
                <a:rect l="l" t="t" r="r" b="b"/>
                <a:pathLst>
                  <a:path w="63500" h="9525">
                    <a:moveTo>
                      <a:pt x="0" y="0"/>
                    </a:moveTo>
                    <a:lnTo>
                      <a:pt x="63500" y="0"/>
                    </a:lnTo>
                  </a:path>
                </a:pathLst>
              </a:custGeom>
              <a:noFill/>
              <a:ln w="15875">
                <a:solidFill>
                  <a:srgbClr val="B03A1F"/>
                </a:solidFill>
              </a:ln>
            </p:spPr>
          </p:sp>
        </p:grpSp>
        <p:sp>
          <p:nvSpPr>
            <p:cNvPr id="206" name="TextBox 206"/>
            <p:cNvSpPr txBox="1"/>
            <p:nvPr/>
          </p:nvSpPr>
          <p:spPr>
            <a:xfrm>
              <a:off x="7591463" y="4810839"/>
              <a:ext cx="647624" cy="154781"/>
            </a:xfrm>
            <a:prstGeom prst="rect">
              <a:avLst/>
            </a:prstGeom>
            <a:noFill/>
            <a:ln>
              <a:noFill/>
            </a:ln>
          </p:spPr>
          <p:txBody>
            <a:bodyPr wrap="none" lIns="0" tIns="0" rIns="0" bIns="0" anchor="t" anchorCtr="0">
              <a:spAutoFit/>
            </a:bodyPr>
            <a:lstStyle/>
            <a:p>
              <a:pPr algn="ctr"/>
              <a:r>
                <a:rPr lang="zh-CN" sz="790" b="1" dirty="0">
                  <a:solidFill>
                    <a:srgbClr val="1E1E1E"/>
                  </a:solidFill>
                  <a:latin typeface="+mn-lt"/>
                  <a:ea typeface="+mn-ea"/>
                  <a:cs typeface="+mn-cs"/>
                </a:rPr>
                <a:t>外部合规数据</a:t>
              </a:r>
            </a:p>
          </p:txBody>
        </p:sp>
        <p:sp>
          <p:nvSpPr>
            <p:cNvPr id="207" name="TextBox 207"/>
            <p:cNvSpPr txBox="1"/>
            <p:nvPr/>
          </p:nvSpPr>
          <p:spPr>
            <a:xfrm>
              <a:off x="7518499" y="4998482"/>
              <a:ext cx="793552"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征信/反欺诈/监管等</a:t>
              </a:r>
            </a:p>
          </p:txBody>
        </p:sp>
      </p:grpSp>
      <p:grpSp>
        <p:nvGrpSpPr>
          <p:cNvPr id="248" name="gov-loop"/>
          <p:cNvGrpSpPr/>
          <p:nvPr/>
        </p:nvGrpSpPr>
        <p:grpSpPr>
          <a:xfrm>
            <a:off x="8620125" y="904875"/>
            <a:ext cx="3305175" cy="4391025"/>
            <a:chOff x="8620125" y="904875"/>
            <a:chExt cx="3305175" cy="4391025"/>
          </a:xfrm>
        </p:grpSpPr>
        <p:sp>
          <p:nvSpPr>
            <p:cNvPr id="209" name="Rectangle 209"/>
            <p:cNvSpPr/>
            <p:nvPr/>
          </p:nvSpPr>
          <p:spPr>
            <a:xfrm>
              <a:off x="8620125" y="904875"/>
              <a:ext cx="3305175" cy="4391025"/>
            </a:xfrm>
            <a:prstGeom prst="roundRect">
              <a:avLst>
                <a:gd name="adj" fmla="val 3458"/>
              </a:avLst>
            </a:prstGeom>
            <a:noFill/>
            <a:ln w="14288">
              <a:solidFill>
                <a:srgbClr val="B03A1F"/>
              </a:solidFill>
              <a:custDash>
                <a:ds d="400000" sp="266667"/>
              </a:custDash>
            </a:ln>
          </p:spPr>
        </p:sp>
        <p:sp>
          <p:nvSpPr>
            <p:cNvPr id="210" name="TextBox 210"/>
            <p:cNvSpPr txBox="1"/>
            <p:nvPr/>
          </p:nvSpPr>
          <p:spPr>
            <a:xfrm>
              <a:off x="9809912" y="1040606"/>
              <a:ext cx="916076" cy="220028"/>
            </a:xfrm>
            <a:prstGeom prst="rect">
              <a:avLst/>
            </a:prstGeom>
            <a:noFill/>
            <a:ln>
              <a:noFill/>
            </a:ln>
          </p:spPr>
          <p:txBody>
            <a:bodyPr wrap="none" lIns="0" tIns="0" rIns="0" bIns="0" anchor="t" anchorCtr="0">
              <a:spAutoFit/>
            </a:bodyPr>
            <a:lstStyle/>
            <a:p>
              <a:pPr algn="ctr"/>
              <a:r>
                <a:rPr lang="zh-CN" sz="1120" b="1" dirty="0">
                  <a:solidFill>
                    <a:srgbClr val="B03A1F"/>
                  </a:solidFill>
                  <a:latin typeface="+mn-lt"/>
                  <a:ea typeface="+mn-ea"/>
                  <a:cs typeface="+mn-cs"/>
                </a:rPr>
                <a:t>数据治理闭环</a:t>
              </a:r>
            </a:p>
          </p:txBody>
        </p:sp>
        <p:grpSp>
          <p:nvGrpSpPr>
            <p:cNvPr id="218" name="loop-step1"/>
            <p:cNvGrpSpPr/>
            <p:nvPr/>
          </p:nvGrpSpPr>
          <p:grpSpPr>
            <a:xfrm>
              <a:off x="8839200" y="1314450"/>
              <a:ext cx="2857500" cy="704850"/>
              <a:chOff x="8839200" y="1314450"/>
              <a:chExt cx="2857500" cy="704850"/>
            </a:xfrm>
          </p:grpSpPr>
          <p:sp>
            <p:nvSpPr>
              <p:cNvPr id="211" name="Rectangle 211"/>
              <p:cNvSpPr/>
              <p:nvPr/>
            </p:nvSpPr>
            <p:spPr>
              <a:xfrm>
                <a:off x="8839200" y="1314450"/>
                <a:ext cx="2857500" cy="704850"/>
              </a:xfrm>
              <a:prstGeom prst="roundRect">
                <a:avLst>
                  <a:gd name="adj" fmla="val 10811"/>
                </a:avLst>
              </a:prstGeom>
              <a:solidFill>
                <a:srgbClr val="FFFFFF"/>
              </a:solidFill>
              <a:ln w="9525">
                <a:solidFill>
                  <a:srgbClr val="F0D5D6"/>
                </a:solidFill>
              </a:ln>
            </p:spPr>
          </p:sp>
          <p:sp>
            <p:nvSpPr>
              <p:cNvPr id="212" name="Ellipse 212"/>
              <p:cNvSpPr/>
              <p:nvPr/>
            </p:nvSpPr>
            <p:spPr>
              <a:xfrm>
                <a:off x="8934450" y="1476375"/>
                <a:ext cx="381000" cy="381000"/>
              </a:xfrm>
              <a:prstGeom prst="ellipse">
                <a:avLst/>
              </a:prstGeom>
              <a:solidFill>
                <a:srgbClr val="FBEFEF"/>
              </a:solidFill>
              <a:ln>
                <a:noFill/>
              </a:ln>
            </p:spPr>
          </p:sp>
          <p:grpSp>
            <p:nvGrpSpPr>
              <p:cNvPr id="215" name="Group 215"/>
              <p:cNvGrpSpPr/>
              <p:nvPr/>
            </p:nvGrpSpPr>
            <p:grpSpPr>
              <a:xfrm>
                <a:off x="9046369" y="1588294"/>
                <a:ext cx="157163" cy="157163"/>
                <a:chOff x="9046369" y="1588294"/>
                <a:chExt cx="157163" cy="157163"/>
              </a:xfrm>
            </p:grpSpPr>
            <p:sp>
              <p:nvSpPr>
                <p:cNvPr id="213" name="Freeform 213"/>
                <p:cNvSpPr/>
                <p:nvPr/>
              </p:nvSpPr>
              <p:spPr>
                <a:xfrm>
                  <a:off x="9046369" y="158829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B03A1F"/>
                  </a:solidFill>
                </a:ln>
              </p:spPr>
            </p:sp>
            <p:sp>
              <p:nvSpPr>
                <p:cNvPr id="214" name="Freeform 214"/>
                <p:cNvSpPr/>
                <p:nvPr/>
              </p:nvSpPr>
              <p:spPr>
                <a:xfrm>
                  <a:off x="9151144" y="1693069"/>
                  <a:ext cx="52388" cy="52388"/>
                </a:xfrm>
                <a:custGeom>
                  <a:avLst/>
                  <a:gdLst/>
                  <a:ahLst/>
                  <a:cxnLst/>
                  <a:rect l="l" t="t" r="r" b="b"/>
                  <a:pathLst>
                    <a:path w="52388" h="52388">
                      <a:moveTo>
                        <a:pt x="52388" y="52388"/>
                      </a:moveTo>
                      <a:lnTo>
                        <a:pt x="0" y="0"/>
                      </a:lnTo>
                    </a:path>
                  </a:pathLst>
                </a:custGeom>
                <a:noFill/>
                <a:ln w="17463">
                  <a:solidFill>
                    <a:srgbClr val="B03A1F"/>
                  </a:solidFill>
                </a:ln>
              </p:spPr>
            </p:sp>
          </p:grpSp>
          <p:sp>
            <p:nvSpPr>
              <p:cNvPr id="216" name="TextBox 216"/>
              <p:cNvSpPr txBox="1"/>
              <p:nvPr/>
            </p:nvSpPr>
            <p:spPr>
              <a:xfrm>
                <a:off x="9405747" y="1494949"/>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数据发现</a:t>
                </a:r>
              </a:p>
            </p:txBody>
          </p:sp>
          <p:sp>
            <p:nvSpPr>
              <p:cNvPr id="217" name="TextBox 217"/>
              <p:cNvSpPr txBox="1"/>
              <p:nvPr/>
            </p:nvSpPr>
            <p:spPr>
              <a:xfrm>
                <a:off x="9405938" y="1694736"/>
                <a:ext cx="37020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A6A6A"/>
                    </a:solidFill>
                    <a:latin typeface="+mn-lt"/>
                    <a:ea typeface="+mn-ea"/>
                    <a:cs typeface="+mn-cs"/>
                  </a:rPr>
                  <a:t>全面盘点</a:t>
                </a:r>
                <a:br/>
                <a:r>
                  <a:rPr lang="zh-CN" sz="710" dirty="0">
                    <a:solidFill>
                      <a:srgbClr val="6A6A6A"/>
                    </a:solidFill>
                    <a:latin typeface="+mn-lt"/>
                    <a:ea typeface="+mn-ea"/>
                    <a:cs typeface="+mn-cs"/>
                  </a:rPr>
                  <a:t>识别问题</a:t>
                </a:r>
              </a:p>
            </p:txBody>
          </p:sp>
        </p:grpSp>
        <p:sp>
          <p:nvSpPr>
            <p:cNvPr id="219" name="Freeform 219"/>
            <p:cNvSpPr/>
            <p:nvPr/>
          </p:nvSpPr>
          <p:spPr>
            <a:xfrm>
              <a:off x="10163175" y="2057400"/>
              <a:ext cx="209550" cy="171450"/>
            </a:xfrm>
            <a:prstGeom prst="downArrow">
              <a:avLst/>
            </a:prstGeom>
            <a:solidFill>
              <a:srgbClr val="B03A1F"/>
            </a:solidFill>
            <a:ln>
              <a:noFill/>
            </a:ln>
          </p:spPr>
        </p:sp>
        <p:grpSp>
          <p:nvGrpSpPr>
            <p:cNvPr id="228" name="loop-step2"/>
            <p:cNvGrpSpPr/>
            <p:nvPr/>
          </p:nvGrpSpPr>
          <p:grpSpPr>
            <a:xfrm>
              <a:off x="8839200" y="2286000"/>
              <a:ext cx="2857500" cy="704850"/>
              <a:chOff x="8839200" y="2286000"/>
              <a:chExt cx="2857500" cy="704850"/>
            </a:xfrm>
          </p:grpSpPr>
          <p:sp>
            <p:nvSpPr>
              <p:cNvPr id="220" name="Rectangle 220"/>
              <p:cNvSpPr/>
              <p:nvPr/>
            </p:nvSpPr>
            <p:spPr>
              <a:xfrm>
                <a:off x="8839200" y="2286000"/>
                <a:ext cx="2857500" cy="704850"/>
              </a:xfrm>
              <a:prstGeom prst="roundRect">
                <a:avLst>
                  <a:gd name="adj" fmla="val 10811"/>
                </a:avLst>
              </a:prstGeom>
              <a:solidFill>
                <a:srgbClr val="FFFFFF"/>
              </a:solidFill>
              <a:ln w="9525">
                <a:solidFill>
                  <a:srgbClr val="F0D5D6"/>
                </a:solidFill>
              </a:ln>
            </p:spPr>
          </p:sp>
          <p:sp>
            <p:nvSpPr>
              <p:cNvPr id="221" name="Ellipse 221"/>
              <p:cNvSpPr/>
              <p:nvPr/>
            </p:nvSpPr>
            <p:spPr>
              <a:xfrm>
                <a:off x="8934450" y="2447925"/>
                <a:ext cx="381000" cy="381000"/>
              </a:xfrm>
              <a:prstGeom prst="ellipse">
                <a:avLst/>
              </a:prstGeom>
              <a:solidFill>
                <a:srgbClr val="FBEFEF"/>
              </a:solidFill>
              <a:ln>
                <a:noFill/>
              </a:ln>
            </p:spPr>
          </p:sp>
          <p:grpSp>
            <p:nvGrpSpPr>
              <p:cNvPr id="225" name="Group 225"/>
              <p:cNvGrpSpPr/>
              <p:nvPr/>
            </p:nvGrpSpPr>
            <p:grpSpPr>
              <a:xfrm>
                <a:off x="9063831" y="2559844"/>
                <a:ext cx="122238" cy="157162"/>
                <a:chOff x="9063831" y="2559844"/>
                <a:chExt cx="122238" cy="157162"/>
              </a:xfrm>
            </p:grpSpPr>
            <p:sp>
              <p:nvSpPr>
                <p:cNvPr id="222" name="Freeform 222"/>
                <p:cNvSpPr/>
                <p:nvPr/>
              </p:nvSpPr>
              <p:spPr>
                <a:xfrm>
                  <a:off x="9063831" y="25773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rgbClr val="B03A1F"/>
                  </a:solidFill>
                </a:ln>
              </p:spPr>
            </p:sp>
            <p:sp>
              <p:nvSpPr>
                <p:cNvPr id="223" name="Freeform 223"/>
                <p:cNvSpPr/>
                <p:nvPr/>
              </p:nvSpPr>
              <p:spPr>
                <a:xfrm>
                  <a:off x="9098756" y="25598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rgbClr val="B03A1F"/>
                  </a:solidFill>
                </a:ln>
              </p:spPr>
            </p:sp>
            <p:sp>
              <p:nvSpPr>
                <p:cNvPr id="224" name="Freeform 224"/>
                <p:cNvSpPr/>
                <p:nvPr/>
              </p:nvSpPr>
              <p:spPr>
                <a:xfrm>
                  <a:off x="9098756" y="2638425"/>
                  <a:ext cx="52388" cy="34925"/>
                </a:xfrm>
                <a:custGeom>
                  <a:avLst/>
                  <a:gdLst/>
                  <a:ahLst/>
                  <a:cxnLst/>
                  <a:rect l="l" t="t" r="r" b="b"/>
                  <a:pathLst>
                    <a:path w="52388" h="34925">
                      <a:moveTo>
                        <a:pt x="0" y="17463"/>
                      </a:moveTo>
                      <a:lnTo>
                        <a:pt x="17463" y="34925"/>
                      </a:lnTo>
                      <a:lnTo>
                        <a:pt x="52388" y="0"/>
                      </a:lnTo>
                    </a:path>
                  </a:pathLst>
                </a:custGeom>
                <a:noFill/>
                <a:ln w="17463">
                  <a:solidFill>
                    <a:srgbClr val="B03A1F"/>
                  </a:solidFill>
                </a:ln>
              </p:spPr>
            </p:sp>
          </p:grpSp>
          <p:sp>
            <p:nvSpPr>
              <p:cNvPr id="226" name="TextBox 226"/>
              <p:cNvSpPr txBox="1"/>
              <p:nvPr/>
            </p:nvSpPr>
            <p:spPr>
              <a:xfrm>
                <a:off x="9405747" y="2466499"/>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质量整改</a:t>
                </a:r>
              </a:p>
            </p:txBody>
          </p:sp>
          <p:sp>
            <p:nvSpPr>
              <p:cNvPr id="227" name="TextBox 227"/>
              <p:cNvSpPr txBox="1"/>
              <p:nvPr/>
            </p:nvSpPr>
            <p:spPr>
              <a:xfrm>
                <a:off x="9405938" y="2666286"/>
                <a:ext cx="37020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A6A6A"/>
                    </a:solidFill>
                    <a:latin typeface="+mn-lt"/>
                    <a:ea typeface="+mn-ea"/>
                    <a:cs typeface="+mn-cs"/>
                  </a:rPr>
                  <a:t>问题定位</a:t>
                </a:r>
                <a:br/>
                <a:r>
                  <a:rPr lang="zh-CN" sz="710" dirty="0">
                    <a:solidFill>
                      <a:srgbClr val="6A6A6A"/>
                    </a:solidFill>
                    <a:latin typeface="+mn-lt"/>
                    <a:ea typeface="+mn-ea"/>
                    <a:cs typeface="+mn-cs"/>
                  </a:rPr>
                  <a:t>整改闭环</a:t>
                </a:r>
              </a:p>
            </p:txBody>
          </p:sp>
        </p:grpSp>
        <p:sp>
          <p:nvSpPr>
            <p:cNvPr id="229" name="Freeform 229"/>
            <p:cNvSpPr/>
            <p:nvPr/>
          </p:nvSpPr>
          <p:spPr>
            <a:xfrm>
              <a:off x="10163175" y="3028950"/>
              <a:ext cx="209550" cy="171450"/>
            </a:xfrm>
            <a:prstGeom prst="downArrow">
              <a:avLst/>
            </a:prstGeom>
            <a:solidFill>
              <a:srgbClr val="B03A1F"/>
            </a:solidFill>
            <a:ln>
              <a:noFill/>
            </a:ln>
          </p:spPr>
        </p:sp>
        <p:grpSp>
          <p:nvGrpSpPr>
            <p:cNvPr id="235" name="loop-step3"/>
            <p:cNvGrpSpPr/>
            <p:nvPr/>
          </p:nvGrpSpPr>
          <p:grpSpPr>
            <a:xfrm>
              <a:off x="8839200" y="3257550"/>
              <a:ext cx="2857500" cy="704850"/>
              <a:chOff x="8839200" y="3257550"/>
              <a:chExt cx="2857500" cy="704850"/>
            </a:xfrm>
          </p:grpSpPr>
          <p:sp>
            <p:nvSpPr>
              <p:cNvPr id="230" name="Rectangle 230"/>
              <p:cNvSpPr/>
              <p:nvPr/>
            </p:nvSpPr>
            <p:spPr>
              <a:xfrm>
                <a:off x="8839200" y="3257550"/>
                <a:ext cx="2857500" cy="704850"/>
              </a:xfrm>
              <a:prstGeom prst="roundRect">
                <a:avLst>
                  <a:gd name="adj" fmla="val 10811"/>
                </a:avLst>
              </a:prstGeom>
              <a:solidFill>
                <a:srgbClr val="FFFFFF"/>
              </a:solidFill>
              <a:ln w="9525">
                <a:solidFill>
                  <a:srgbClr val="F0D5D6"/>
                </a:solidFill>
              </a:ln>
            </p:spPr>
          </p:sp>
          <p:sp>
            <p:nvSpPr>
              <p:cNvPr id="231" name="Ellipse 231"/>
              <p:cNvSpPr/>
              <p:nvPr/>
            </p:nvSpPr>
            <p:spPr>
              <a:xfrm>
                <a:off x="8934450" y="3419475"/>
                <a:ext cx="381000" cy="381000"/>
              </a:xfrm>
              <a:prstGeom prst="ellipse">
                <a:avLst/>
              </a:prstGeom>
              <a:solidFill>
                <a:srgbClr val="FBEFEF"/>
              </a:solidFill>
              <a:ln>
                <a:noFill/>
              </a:ln>
            </p:spPr>
          </p:sp>
          <p:sp>
            <p:nvSpPr>
              <p:cNvPr id="232" name="Freeform 232"/>
              <p:cNvSpPr/>
              <p:nvPr/>
            </p:nvSpPr>
            <p:spPr>
              <a:xfrm>
                <a:off x="9037428" y="3533358"/>
                <a:ext cx="174311" cy="154517"/>
              </a:xfrm>
              <a:custGeom>
                <a:avLst/>
                <a:gdLst/>
                <a:ahLst/>
                <a:cxnLst/>
                <a:rect l="l" t="t" r="r" b="b"/>
                <a:pathLst>
                  <a:path w="174311" h="154517">
                    <a:moveTo>
                      <a:pt x="8941" y="146467"/>
                    </a:moveTo>
                    <a:lnTo>
                      <a:pt x="20291" y="112415"/>
                    </a:lnTo>
                    <a:cubicBezTo>
                      <a:pt x="0" y="82406"/>
                      <a:pt x="7841" y="43682"/>
                      <a:pt x="38627" y="21837"/>
                    </a:cubicBezTo>
                    <a:cubicBezTo>
                      <a:pt x="69413" y="0"/>
                      <a:pt x="113629" y="1790"/>
                      <a:pt x="142049" y="26028"/>
                    </a:cubicBezTo>
                    <a:cubicBezTo>
                      <a:pt x="170469" y="50275"/>
                      <a:pt x="174311" y="89469"/>
                      <a:pt x="151033" y="117715"/>
                    </a:cubicBezTo>
                    <a:cubicBezTo>
                      <a:pt x="127756" y="145960"/>
                      <a:pt x="84545" y="154517"/>
                      <a:pt x="49978" y="137736"/>
                    </a:cubicBezTo>
                    <a:lnTo>
                      <a:pt x="8941" y="146467"/>
                    </a:lnTo>
                  </a:path>
                </a:pathLst>
              </a:custGeom>
              <a:noFill/>
              <a:ln w="17463">
                <a:solidFill>
                  <a:srgbClr val="B03A1F"/>
                </a:solidFill>
              </a:ln>
            </p:spPr>
          </p:sp>
          <p:sp>
            <p:nvSpPr>
              <p:cNvPr id="233" name="TextBox 233"/>
              <p:cNvSpPr txBox="1"/>
              <p:nvPr/>
            </p:nvSpPr>
            <p:spPr>
              <a:xfrm>
                <a:off x="9405747" y="3438049"/>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通报考核</a:t>
                </a:r>
              </a:p>
            </p:txBody>
          </p:sp>
          <p:sp>
            <p:nvSpPr>
              <p:cNvPr id="234" name="TextBox 234"/>
              <p:cNvSpPr txBox="1"/>
              <p:nvPr/>
            </p:nvSpPr>
            <p:spPr>
              <a:xfrm>
                <a:off x="9405938" y="3637836"/>
                <a:ext cx="37020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A6A6A"/>
                    </a:solidFill>
                    <a:latin typeface="+mn-lt"/>
                    <a:ea typeface="+mn-ea"/>
                    <a:cs typeface="+mn-cs"/>
                  </a:rPr>
                  <a:t>通报反馈</a:t>
                </a:r>
                <a:br/>
                <a:r>
                  <a:rPr lang="zh-CN" sz="710" dirty="0">
                    <a:solidFill>
                      <a:srgbClr val="6A6A6A"/>
                    </a:solidFill>
                    <a:latin typeface="+mn-lt"/>
                    <a:ea typeface="+mn-ea"/>
                    <a:cs typeface="+mn-cs"/>
                  </a:rPr>
                  <a:t>考核评估</a:t>
                </a:r>
              </a:p>
            </p:txBody>
          </p:sp>
        </p:grpSp>
        <p:sp>
          <p:nvSpPr>
            <p:cNvPr id="236" name="Freeform 236"/>
            <p:cNvSpPr/>
            <p:nvPr/>
          </p:nvSpPr>
          <p:spPr>
            <a:xfrm>
              <a:off x="10163175" y="4000500"/>
              <a:ext cx="209550" cy="171450"/>
            </a:xfrm>
            <a:prstGeom prst="downArrow">
              <a:avLst/>
            </a:prstGeom>
            <a:solidFill>
              <a:srgbClr val="B03A1F"/>
            </a:solidFill>
            <a:ln>
              <a:noFill/>
            </a:ln>
          </p:spPr>
        </p:sp>
        <p:grpSp>
          <p:nvGrpSpPr>
            <p:cNvPr id="244" name="loop-step4"/>
            <p:cNvGrpSpPr/>
            <p:nvPr/>
          </p:nvGrpSpPr>
          <p:grpSpPr>
            <a:xfrm>
              <a:off x="8839200" y="4229100"/>
              <a:ext cx="2857500" cy="704850"/>
              <a:chOff x="8839200" y="4229100"/>
              <a:chExt cx="2857500" cy="704850"/>
            </a:xfrm>
          </p:grpSpPr>
          <p:sp>
            <p:nvSpPr>
              <p:cNvPr id="237" name="Rectangle 237"/>
              <p:cNvSpPr/>
              <p:nvPr/>
            </p:nvSpPr>
            <p:spPr>
              <a:xfrm>
                <a:off x="8839200" y="4229100"/>
                <a:ext cx="2857500" cy="704850"/>
              </a:xfrm>
              <a:prstGeom prst="roundRect">
                <a:avLst>
                  <a:gd name="adj" fmla="val 10811"/>
                </a:avLst>
              </a:prstGeom>
              <a:solidFill>
                <a:srgbClr val="FFFFFF"/>
              </a:solidFill>
              <a:ln w="9525">
                <a:solidFill>
                  <a:srgbClr val="F0D5D6"/>
                </a:solidFill>
              </a:ln>
            </p:spPr>
          </p:sp>
          <p:sp>
            <p:nvSpPr>
              <p:cNvPr id="238" name="Ellipse 238"/>
              <p:cNvSpPr/>
              <p:nvPr/>
            </p:nvSpPr>
            <p:spPr>
              <a:xfrm>
                <a:off x="8934450" y="4391025"/>
                <a:ext cx="381000" cy="381000"/>
              </a:xfrm>
              <a:prstGeom prst="ellipse">
                <a:avLst/>
              </a:prstGeom>
              <a:solidFill>
                <a:srgbClr val="FBEFEF"/>
              </a:solidFill>
              <a:ln>
                <a:noFill/>
              </a:ln>
            </p:spPr>
          </p:sp>
          <p:grpSp>
            <p:nvGrpSpPr>
              <p:cNvPr id="241" name="Group 241"/>
              <p:cNvGrpSpPr/>
              <p:nvPr/>
            </p:nvGrpSpPr>
            <p:grpSpPr>
              <a:xfrm>
                <a:off x="9046369" y="4537869"/>
                <a:ext cx="157163" cy="87313"/>
                <a:chOff x="9046369" y="4537869"/>
                <a:chExt cx="157163" cy="87313"/>
              </a:xfrm>
            </p:grpSpPr>
            <p:sp>
              <p:nvSpPr>
                <p:cNvPr id="239" name="Freeform 239"/>
                <p:cNvSpPr/>
                <p:nvPr/>
              </p:nvSpPr>
              <p:spPr>
                <a:xfrm>
                  <a:off x="9046369" y="453786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B03A1F"/>
                  </a:solidFill>
                </a:ln>
              </p:spPr>
            </p:sp>
            <p:sp>
              <p:nvSpPr>
                <p:cNvPr id="240" name="Freeform 240"/>
                <p:cNvSpPr/>
                <p:nvPr/>
              </p:nvSpPr>
              <p:spPr>
                <a:xfrm>
                  <a:off x="9142413" y="4537869"/>
                  <a:ext cx="61119" cy="61119"/>
                </a:xfrm>
                <a:custGeom>
                  <a:avLst/>
                  <a:gdLst/>
                  <a:ahLst/>
                  <a:cxnLst/>
                  <a:rect l="l" t="t" r="r" b="b"/>
                  <a:pathLst>
                    <a:path w="61119" h="61119">
                      <a:moveTo>
                        <a:pt x="0" y="0"/>
                      </a:moveTo>
                      <a:lnTo>
                        <a:pt x="61119" y="0"/>
                      </a:lnTo>
                      <a:lnTo>
                        <a:pt x="61119" y="61119"/>
                      </a:lnTo>
                    </a:path>
                  </a:pathLst>
                </a:custGeom>
                <a:noFill/>
                <a:ln w="17463">
                  <a:solidFill>
                    <a:srgbClr val="B03A1F"/>
                  </a:solidFill>
                </a:ln>
              </p:spPr>
            </p:sp>
          </p:grpSp>
          <p:sp>
            <p:nvSpPr>
              <p:cNvPr id="242" name="TextBox 242"/>
              <p:cNvSpPr txBox="1"/>
              <p:nvPr/>
            </p:nvSpPr>
            <p:spPr>
              <a:xfrm>
                <a:off x="9405747" y="4409599"/>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持续提升</a:t>
                </a:r>
              </a:p>
            </p:txBody>
          </p:sp>
          <p:sp>
            <p:nvSpPr>
              <p:cNvPr id="243" name="TextBox 243"/>
              <p:cNvSpPr txBox="1"/>
              <p:nvPr/>
            </p:nvSpPr>
            <p:spPr>
              <a:xfrm>
                <a:off x="9405938" y="4609386"/>
                <a:ext cx="37020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A6A6A"/>
                    </a:solidFill>
                    <a:latin typeface="+mn-lt"/>
                    <a:ea typeface="+mn-ea"/>
                    <a:cs typeface="+mn-cs"/>
                  </a:rPr>
                  <a:t>经验沉淀</a:t>
                </a:r>
                <a:br/>
                <a:r>
                  <a:rPr lang="zh-CN" sz="710" dirty="0">
                    <a:solidFill>
                      <a:srgbClr val="6A6A6A"/>
                    </a:solidFill>
                    <a:latin typeface="+mn-lt"/>
                    <a:ea typeface="+mn-ea"/>
                    <a:cs typeface="+mn-cs"/>
                  </a:rPr>
                  <a:t>持续优化</a:t>
                </a:r>
              </a:p>
            </p:txBody>
          </p:sp>
        </p:grpSp>
        <p:sp>
          <p:nvSpPr>
            <p:cNvPr id="245" name="Line 245"/>
            <p:cNvSpPr/>
            <p:nvPr/>
          </p:nvSpPr>
          <p:spPr>
            <a:xfrm>
              <a:off x="11696700" y="4581525"/>
              <a:ext cx="95250" cy="9525"/>
            </a:xfrm>
            <a:custGeom>
              <a:avLst/>
              <a:gdLst/>
              <a:ahLst/>
              <a:cxnLst/>
              <a:rect l="l" t="t" r="r" b="b"/>
              <a:pathLst>
                <a:path w="95250" h="9525">
                  <a:moveTo>
                    <a:pt x="0" y="0"/>
                  </a:moveTo>
                  <a:lnTo>
                    <a:pt x="95250" y="0"/>
                  </a:lnTo>
                </a:path>
              </a:pathLst>
            </a:custGeom>
            <a:noFill/>
            <a:ln w="14288">
              <a:solidFill>
                <a:srgbClr val="B03A1F"/>
              </a:solidFill>
              <a:custDash>
                <a:ds d="333333" sp="266667"/>
              </a:custDash>
            </a:ln>
          </p:spPr>
        </p:sp>
        <p:sp>
          <p:nvSpPr>
            <p:cNvPr id="246" name="Line 246"/>
            <p:cNvSpPr/>
            <p:nvPr/>
          </p:nvSpPr>
          <p:spPr>
            <a:xfrm flipV="1">
              <a:off x="11791950" y="1666875"/>
              <a:ext cx="1" cy="2914650"/>
            </a:xfrm>
            <a:prstGeom prst="line">
              <a:avLst/>
            </a:prstGeom>
            <a:noFill/>
            <a:ln w="14288">
              <a:solidFill>
                <a:srgbClr val="B03A1F"/>
              </a:solidFill>
              <a:custDash>
                <a:ds d="333333" sp="266667"/>
              </a:custDash>
              <a:tailEnd type="triangle" w="lg" len="lg"/>
            </a:ln>
          </p:spPr>
        </p:sp>
        <p:sp>
          <p:nvSpPr>
            <p:cNvPr id="247" name="Line 247"/>
            <p:cNvSpPr/>
            <p:nvPr/>
          </p:nvSpPr>
          <p:spPr>
            <a:xfrm>
              <a:off x="11696700" y="1666875"/>
              <a:ext cx="95250" cy="9525"/>
            </a:xfrm>
            <a:custGeom>
              <a:avLst/>
              <a:gdLst/>
              <a:ahLst/>
              <a:cxnLst/>
              <a:rect l="l" t="t" r="r" b="b"/>
              <a:pathLst>
                <a:path w="95250" h="9525">
                  <a:moveTo>
                    <a:pt x="95250" y="0"/>
                  </a:moveTo>
                  <a:lnTo>
                    <a:pt x="0" y="0"/>
                  </a:lnTo>
                </a:path>
              </a:pathLst>
            </a:custGeom>
            <a:noFill/>
            <a:ln w="14288">
              <a:solidFill>
                <a:srgbClr val="B03A1F"/>
              </a:solidFill>
              <a:custDash>
                <a:ds d="333333" sp="266667"/>
              </a:custDash>
            </a:ln>
          </p:spPr>
        </p:sp>
      </p:gr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12</a:t>
              </a:r>
            </a:p>
          </p:txBody>
        </p:sp>
        <p:sp>
          <p:nvSpPr>
            <p:cNvPr id="4" name="TextBox 4"/>
            <p:cNvSpPr txBox="1"/>
            <p:nvPr/>
          </p:nvSpPr>
          <p:spPr>
            <a:xfrm>
              <a:off x="1037844" y="151448"/>
              <a:ext cx="697724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智慧服务升级：</a:t>
              </a:r>
              <a:r>
                <a:rPr lang="zh-CN" sz="1950" b="1" dirty="0">
                  <a:solidFill>
                    <a:srgbClr val="B03A1F"/>
                  </a:solidFill>
                  <a:latin typeface="SimSun"/>
                  <a:ea typeface="SimSun"/>
                  <a:cs typeface="SimSun"/>
                </a:rPr>
                <a:t>AI投顾、远程银行与数字人民币</a:t>
              </a:r>
              <a:r>
                <a:rPr lang="zh-CN" sz="1950" b="1" dirty="0">
                  <a:solidFill>
                    <a:srgbClr val="1A1A1A"/>
                  </a:solidFill>
                  <a:latin typeface="SimSun"/>
                  <a:ea typeface="SimSun"/>
                  <a:cs typeface="SimSun"/>
                </a:rPr>
                <a:t>协同落地</a:t>
              </a:r>
            </a:p>
          </p:txBody>
        </p:sp>
        <p:sp>
          <p:nvSpPr>
            <p:cNvPr id="5" name="Line 5"/>
            <p:cNvSpPr/>
            <p:nvPr/>
          </p:nvSpPr>
          <p:spPr>
            <a:xfrm>
              <a:off x="1047750" y="533400"/>
              <a:ext cx="10668000" cy="9525"/>
            </a:xfrm>
            <a:custGeom>
              <a:avLst/>
              <a:gdLst/>
              <a:ahLst/>
              <a:cxnLst/>
              <a:rect l="l" t="t" r="r" b="b"/>
              <a:pathLst>
                <a:path w="10668000" h="9525">
                  <a:moveTo>
                    <a:pt x="0" y="0"/>
                  </a:moveTo>
                  <a:lnTo>
                    <a:pt x="10668000" y="0"/>
                  </a:lnTo>
                </a:path>
              </a:pathLst>
            </a:custGeom>
            <a:noFill/>
            <a:ln w="14288">
              <a:solidFill>
                <a:srgbClr val="B03A1F"/>
              </a:solidFill>
            </a:ln>
          </p:spPr>
        </p:sp>
      </p:grpSp>
      <p:grpSp>
        <p:nvGrpSpPr>
          <p:cNvPr id="14" name="subtitle"/>
          <p:cNvGrpSpPr/>
          <p:nvPr/>
        </p:nvGrpSpPr>
        <p:grpSpPr>
          <a:xfrm>
            <a:off x="3714750" y="761524"/>
            <a:ext cx="4762500" cy="190690"/>
            <a:chOff x="3714750" y="761524"/>
            <a:chExt cx="4762500" cy="190690"/>
          </a:xfrm>
        </p:grpSpPr>
        <p:sp>
          <p:nvSpPr>
            <p:cNvPr id="7" name="Line 7"/>
            <p:cNvSpPr/>
            <p:nvPr/>
          </p:nvSpPr>
          <p:spPr>
            <a:xfrm>
              <a:off x="3714750" y="819150"/>
              <a:ext cx="1143000" cy="9525"/>
            </a:xfrm>
            <a:custGeom>
              <a:avLst/>
              <a:gdLst/>
              <a:ahLst/>
              <a:cxnLst/>
              <a:rect l="l" t="t" r="r" b="b"/>
              <a:pathLst>
                <a:path w="1143000" h="9525">
                  <a:moveTo>
                    <a:pt x="0" y="0"/>
                  </a:moveTo>
                  <a:lnTo>
                    <a:pt x="1143000" y="0"/>
                  </a:lnTo>
                </a:path>
              </a:pathLst>
            </a:custGeom>
            <a:noFill/>
            <a:ln w="14288">
              <a:solidFill>
                <a:srgbClr val="E8C0B7"/>
              </a:solidFill>
            </a:ln>
          </p:spPr>
        </p:sp>
        <p:sp>
          <p:nvSpPr>
            <p:cNvPr id="8" name="Ellipse 8"/>
            <p:cNvSpPr/>
            <p:nvPr/>
          </p:nvSpPr>
          <p:spPr>
            <a:xfrm>
              <a:off x="3729038" y="795338"/>
              <a:ext cx="47625" cy="47625"/>
            </a:xfrm>
            <a:prstGeom prst="ellipse">
              <a:avLst/>
            </a:prstGeom>
            <a:solidFill>
              <a:srgbClr val="B03A1F"/>
            </a:solidFill>
            <a:ln>
              <a:noFill/>
            </a:ln>
          </p:spPr>
        </p:sp>
        <p:sp>
          <p:nvSpPr>
            <p:cNvPr id="9" name="Ellipse 9"/>
            <p:cNvSpPr/>
            <p:nvPr/>
          </p:nvSpPr>
          <p:spPr>
            <a:xfrm>
              <a:off x="4795838" y="795338"/>
              <a:ext cx="47625" cy="47625"/>
            </a:xfrm>
            <a:prstGeom prst="ellipse">
              <a:avLst/>
            </a:prstGeom>
            <a:solidFill>
              <a:srgbClr val="B03A1F"/>
            </a:solidFill>
            <a:ln>
              <a:noFill/>
            </a:ln>
          </p:spPr>
        </p:sp>
        <p:sp>
          <p:nvSpPr>
            <p:cNvPr id="10" name="TextBox 10"/>
            <p:cNvSpPr txBox="1"/>
            <p:nvPr/>
          </p:nvSpPr>
          <p:spPr>
            <a:xfrm>
              <a:off x="5167554" y="761524"/>
              <a:ext cx="1856892" cy="190690"/>
            </a:xfrm>
            <a:prstGeom prst="rect">
              <a:avLst/>
            </a:prstGeom>
            <a:noFill/>
            <a:ln>
              <a:noFill/>
            </a:ln>
          </p:spPr>
          <p:txBody>
            <a:bodyPr wrap="none" lIns="0" tIns="0" rIns="0" bIns="0" anchor="t" anchorCtr="0">
              <a:spAutoFit/>
            </a:bodyPr>
            <a:lstStyle/>
            <a:p>
              <a:pPr algn="ctr"/>
              <a:r>
                <a:rPr lang="zh-CN" sz="980" b="1" dirty="0">
                  <a:solidFill>
                    <a:srgbClr val="B03A1F"/>
                  </a:solidFill>
                  <a:latin typeface="+mn-lt"/>
                  <a:ea typeface="+mn-ea"/>
                  <a:cs typeface="+mn-cs"/>
                </a:rPr>
                <a:t>以客户为中心的全流程服务体验</a:t>
              </a:r>
            </a:p>
          </p:txBody>
        </p:sp>
        <p:sp>
          <p:nvSpPr>
            <p:cNvPr id="11" name="Line 11"/>
            <p:cNvSpPr/>
            <p:nvPr/>
          </p:nvSpPr>
          <p:spPr>
            <a:xfrm>
              <a:off x="7334250" y="819150"/>
              <a:ext cx="1143000" cy="9525"/>
            </a:xfrm>
            <a:custGeom>
              <a:avLst/>
              <a:gdLst/>
              <a:ahLst/>
              <a:cxnLst/>
              <a:rect l="l" t="t" r="r" b="b"/>
              <a:pathLst>
                <a:path w="1143000" h="9525">
                  <a:moveTo>
                    <a:pt x="0" y="0"/>
                  </a:moveTo>
                  <a:lnTo>
                    <a:pt x="1143000" y="0"/>
                  </a:lnTo>
                </a:path>
              </a:pathLst>
            </a:custGeom>
            <a:noFill/>
            <a:ln w="14288">
              <a:solidFill>
                <a:srgbClr val="E8C0B7"/>
              </a:solidFill>
            </a:ln>
          </p:spPr>
        </p:sp>
        <p:sp>
          <p:nvSpPr>
            <p:cNvPr id="12" name="Ellipse 12"/>
            <p:cNvSpPr/>
            <p:nvPr/>
          </p:nvSpPr>
          <p:spPr>
            <a:xfrm>
              <a:off x="7348538" y="795338"/>
              <a:ext cx="47625" cy="47625"/>
            </a:xfrm>
            <a:prstGeom prst="ellipse">
              <a:avLst/>
            </a:prstGeom>
            <a:solidFill>
              <a:srgbClr val="B03A1F"/>
            </a:solidFill>
            <a:ln>
              <a:noFill/>
            </a:ln>
          </p:spPr>
        </p:sp>
        <p:sp>
          <p:nvSpPr>
            <p:cNvPr id="13" name="Ellipse 13"/>
            <p:cNvSpPr/>
            <p:nvPr/>
          </p:nvSpPr>
          <p:spPr>
            <a:xfrm>
              <a:off x="8415338" y="795338"/>
              <a:ext cx="47625" cy="47625"/>
            </a:xfrm>
            <a:prstGeom prst="ellipse">
              <a:avLst/>
            </a:prstGeom>
            <a:solidFill>
              <a:srgbClr val="B03A1F"/>
            </a:solidFill>
            <a:ln>
              <a:noFill/>
            </a:ln>
          </p:spPr>
        </p:sp>
      </p:grpSp>
      <p:grpSp>
        <p:nvGrpSpPr>
          <p:cNvPr id="35" name="stages"/>
          <p:cNvGrpSpPr/>
          <p:nvPr/>
        </p:nvGrpSpPr>
        <p:grpSpPr>
          <a:xfrm>
            <a:off x="1209675" y="990600"/>
            <a:ext cx="9763125" cy="815816"/>
            <a:chOff x="1209675" y="990600"/>
            <a:chExt cx="9763125" cy="815816"/>
          </a:xfrm>
        </p:grpSpPr>
        <p:sp>
          <p:nvSpPr>
            <p:cNvPr id="15" name="Freeform 15"/>
            <p:cNvSpPr/>
            <p:nvPr/>
          </p:nvSpPr>
          <p:spPr>
            <a:xfrm>
              <a:off x="1209675" y="990600"/>
              <a:ext cx="2000250" cy="323850"/>
            </a:xfrm>
            <a:prstGeom prst="homePlate">
              <a:avLst/>
            </a:prstGeom>
            <a:solidFill>
              <a:srgbClr val="B03A1F"/>
            </a:solidFill>
            <a:ln>
              <a:noFill/>
            </a:ln>
          </p:spPr>
        </p:sp>
        <p:sp>
          <p:nvSpPr>
            <p:cNvPr id="16" name="Ellipse 16"/>
            <p:cNvSpPr/>
            <p:nvPr/>
          </p:nvSpPr>
          <p:spPr>
            <a:xfrm>
              <a:off x="1381125" y="1038225"/>
              <a:ext cx="228600" cy="228600"/>
            </a:xfrm>
            <a:prstGeom prst="ellipse">
              <a:avLst/>
            </a:prstGeom>
            <a:solidFill>
              <a:srgbClr val="FFFFFF"/>
            </a:solidFill>
            <a:ln>
              <a:noFill/>
            </a:ln>
          </p:spPr>
        </p:sp>
        <p:sp>
          <p:nvSpPr>
            <p:cNvPr id="17" name="TextBox 17"/>
            <p:cNvSpPr txBox="1"/>
            <p:nvPr/>
          </p:nvSpPr>
          <p:spPr>
            <a:xfrm>
              <a:off x="1452378" y="1094899"/>
              <a:ext cx="86094" cy="190690"/>
            </a:xfrm>
            <a:prstGeom prst="rect">
              <a:avLst/>
            </a:prstGeom>
            <a:noFill/>
            <a:ln>
              <a:noFill/>
            </a:ln>
          </p:spPr>
          <p:txBody>
            <a:bodyPr wrap="none" lIns="0" tIns="0" rIns="0" bIns="0" anchor="t" anchorCtr="0">
              <a:spAutoFit/>
            </a:bodyPr>
            <a:lstStyle/>
            <a:p>
              <a:pPr algn="ctr"/>
              <a:r>
                <a:rPr lang="zh-CN" sz="980" b="1" dirty="0">
                  <a:solidFill>
                    <a:srgbClr val="B03A1F"/>
                  </a:solidFill>
                  <a:latin typeface="+mn-lt"/>
                  <a:ea typeface="+mn-ea"/>
                  <a:cs typeface="+mn-cs"/>
                </a:rPr>
                <a:t>1</a:t>
              </a:r>
            </a:p>
          </p:txBody>
        </p:sp>
        <p:sp>
          <p:nvSpPr>
            <p:cNvPr id="18" name="TextBox 18"/>
            <p:cNvSpPr txBox="1"/>
            <p:nvPr/>
          </p:nvSpPr>
          <p:spPr>
            <a:xfrm>
              <a:off x="1927288" y="1096328"/>
              <a:ext cx="71742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个性化推荐</a:t>
              </a:r>
            </a:p>
          </p:txBody>
        </p:sp>
        <p:sp>
          <p:nvSpPr>
            <p:cNvPr id="19" name="Line 19"/>
            <p:cNvSpPr/>
            <p:nvPr/>
          </p:nvSpPr>
          <p:spPr>
            <a:xfrm>
              <a:off x="3352800" y="1152525"/>
              <a:ext cx="1581150" cy="1"/>
            </a:xfrm>
            <a:prstGeom prst="line">
              <a:avLst/>
            </a:prstGeom>
            <a:noFill/>
            <a:ln w="19050">
              <a:solidFill>
                <a:srgbClr val="B03A1F"/>
              </a:solidFill>
              <a:tailEnd type="triangle" w="lg" len="lg"/>
            </a:ln>
          </p:spPr>
        </p:sp>
        <p:sp>
          <p:nvSpPr>
            <p:cNvPr id="20" name="Freeform 20"/>
            <p:cNvSpPr/>
            <p:nvPr/>
          </p:nvSpPr>
          <p:spPr>
            <a:xfrm>
              <a:off x="5086350" y="990600"/>
              <a:ext cx="2000250" cy="323850"/>
            </a:xfrm>
            <a:prstGeom prst="homePlate">
              <a:avLst/>
            </a:prstGeom>
            <a:solidFill>
              <a:srgbClr val="2B2B2B"/>
            </a:solidFill>
            <a:ln>
              <a:noFill/>
            </a:ln>
          </p:spPr>
        </p:sp>
        <p:sp>
          <p:nvSpPr>
            <p:cNvPr id="21" name="Ellipse 21"/>
            <p:cNvSpPr/>
            <p:nvPr/>
          </p:nvSpPr>
          <p:spPr>
            <a:xfrm>
              <a:off x="5257800" y="1038225"/>
              <a:ext cx="228600" cy="228600"/>
            </a:xfrm>
            <a:prstGeom prst="ellipse">
              <a:avLst/>
            </a:prstGeom>
            <a:solidFill>
              <a:srgbClr val="FFFFFF"/>
            </a:solidFill>
            <a:ln>
              <a:noFill/>
            </a:ln>
          </p:spPr>
        </p:sp>
        <p:sp>
          <p:nvSpPr>
            <p:cNvPr id="22" name="TextBox 22"/>
            <p:cNvSpPr txBox="1"/>
            <p:nvPr/>
          </p:nvSpPr>
          <p:spPr>
            <a:xfrm>
              <a:off x="5329053" y="1094899"/>
              <a:ext cx="86094" cy="190690"/>
            </a:xfrm>
            <a:prstGeom prst="rect">
              <a:avLst/>
            </a:prstGeom>
            <a:noFill/>
            <a:ln>
              <a:noFill/>
            </a:ln>
          </p:spPr>
          <p:txBody>
            <a:bodyPr wrap="none" lIns="0" tIns="0" rIns="0" bIns="0" anchor="t" anchorCtr="0">
              <a:spAutoFit/>
            </a:bodyPr>
            <a:lstStyle/>
            <a:p>
              <a:pPr algn="ctr"/>
              <a:r>
                <a:rPr lang="zh-CN" sz="980" b="1" dirty="0">
                  <a:solidFill>
                    <a:srgbClr val="2B2B2B"/>
                  </a:solidFill>
                  <a:latin typeface="+mn-lt"/>
                  <a:ea typeface="+mn-ea"/>
                  <a:cs typeface="+mn-cs"/>
                </a:rPr>
                <a:t>2</a:t>
              </a:r>
            </a:p>
          </p:txBody>
        </p:sp>
        <p:sp>
          <p:nvSpPr>
            <p:cNvPr id="23" name="TextBox 23"/>
            <p:cNvSpPr txBox="1"/>
            <p:nvPr/>
          </p:nvSpPr>
          <p:spPr>
            <a:xfrm>
              <a:off x="5874639" y="10963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远程办理</a:t>
              </a:r>
            </a:p>
          </p:txBody>
        </p:sp>
        <p:sp>
          <p:nvSpPr>
            <p:cNvPr id="24" name="Line 24"/>
            <p:cNvSpPr/>
            <p:nvPr/>
          </p:nvSpPr>
          <p:spPr>
            <a:xfrm>
              <a:off x="7229475" y="1152525"/>
              <a:ext cx="1590675" cy="1"/>
            </a:xfrm>
            <a:prstGeom prst="line">
              <a:avLst/>
            </a:prstGeom>
            <a:noFill/>
            <a:ln w="19050">
              <a:solidFill>
                <a:srgbClr val="B03A1F"/>
              </a:solidFill>
              <a:tailEnd type="triangle" w="lg" len="lg"/>
            </a:ln>
          </p:spPr>
        </p:sp>
        <p:sp>
          <p:nvSpPr>
            <p:cNvPr id="25" name="Freeform 25"/>
            <p:cNvSpPr/>
            <p:nvPr/>
          </p:nvSpPr>
          <p:spPr>
            <a:xfrm>
              <a:off x="8972550" y="990600"/>
              <a:ext cx="2000250" cy="323850"/>
            </a:xfrm>
            <a:prstGeom prst="homePlate">
              <a:avLst/>
            </a:prstGeom>
            <a:solidFill>
              <a:srgbClr val="B03A1F"/>
            </a:solidFill>
            <a:ln>
              <a:noFill/>
            </a:ln>
          </p:spPr>
        </p:sp>
        <p:sp>
          <p:nvSpPr>
            <p:cNvPr id="26" name="Ellipse 26"/>
            <p:cNvSpPr/>
            <p:nvPr/>
          </p:nvSpPr>
          <p:spPr>
            <a:xfrm>
              <a:off x="9144000" y="1038225"/>
              <a:ext cx="228600" cy="228600"/>
            </a:xfrm>
            <a:prstGeom prst="ellipse">
              <a:avLst/>
            </a:prstGeom>
            <a:solidFill>
              <a:srgbClr val="FFFFFF"/>
            </a:solidFill>
            <a:ln>
              <a:noFill/>
            </a:ln>
          </p:spPr>
        </p:sp>
        <p:sp>
          <p:nvSpPr>
            <p:cNvPr id="27" name="TextBox 27"/>
            <p:cNvSpPr txBox="1"/>
            <p:nvPr/>
          </p:nvSpPr>
          <p:spPr>
            <a:xfrm>
              <a:off x="9215253" y="1094899"/>
              <a:ext cx="86094" cy="190690"/>
            </a:xfrm>
            <a:prstGeom prst="rect">
              <a:avLst/>
            </a:prstGeom>
            <a:noFill/>
            <a:ln>
              <a:noFill/>
            </a:ln>
          </p:spPr>
          <p:txBody>
            <a:bodyPr wrap="none" lIns="0" tIns="0" rIns="0" bIns="0" anchor="t" anchorCtr="0">
              <a:spAutoFit/>
            </a:bodyPr>
            <a:lstStyle/>
            <a:p>
              <a:pPr algn="ctr"/>
              <a:r>
                <a:rPr lang="zh-CN" sz="980" b="1" dirty="0">
                  <a:solidFill>
                    <a:srgbClr val="B03A1F"/>
                  </a:solidFill>
                  <a:latin typeface="+mn-lt"/>
                  <a:ea typeface="+mn-ea"/>
                  <a:cs typeface="+mn-cs"/>
                </a:rPr>
                <a:t>3</a:t>
              </a:r>
            </a:p>
          </p:txBody>
        </p:sp>
        <p:sp>
          <p:nvSpPr>
            <p:cNvPr id="28" name="TextBox 28"/>
            <p:cNvSpPr txBox="1"/>
            <p:nvPr/>
          </p:nvSpPr>
          <p:spPr>
            <a:xfrm>
              <a:off x="9760839" y="10963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场景激活</a:t>
              </a:r>
            </a:p>
          </p:txBody>
        </p:sp>
        <p:sp>
          <p:nvSpPr>
            <p:cNvPr id="29" name="TextBox 29"/>
            <p:cNvSpPr txBox="1"/>
            <p:nvPr/>
          </p:nvSpPr>
          <p:spPr>
            <a:xfrm>
              <a:off x="1809064" y="1456849"/>
              <a:ext cx="801472" cy="190690"/>
            </a:xfrm>
            <a:prstGeom prst="rect">
              <a:avLst/>
            </a:prstGeom>
            <a:noFill/>
            <a:ln>
              <a:noFill/>
            </a:ln>
          </p:spPr>
          <p:txBody>
            <a:bodyPr wrap="none" lIns="0" tIns="0" rIns="0" bIns="0" anchor="t" anchorCtr="0">
              <a:spAutoFit/>
            </a:bodyPr>
            <a:lstStyle/>
            <a:p>
              <a:pPr algn="ctr"/>
              <a:r>
                <a:rPr lang="zh-CN" sz="980" b="1" dirty="0">
                  <a:solidFill>
                    <a:srgbClr val="1E1E1E"/>
                  </a:solidFill>
                  <a:latin typeface="+mn-lt"/>
                  <a:ea typeface="+mn-ea"/>
                  <a:cs typeface="+mn-cs"/>
                </a:rPr>
                <a:t>从个性化推荐</a:t>
              </a:r>
            </a:p>
          </p:txBody>
        </p:sp>
        <p:sp>
          <p:nvSpPr>
            <p:cNvPr id="30" name="TextBox 30"/>
            <p:cNvSpPr txBox="1"/>
            <p:nvPr/>
          </p:nvSpPr>
          <p:spPr>
            <a:xfrm>
              <a:off x="1708290" y="1644491"/>
              <a:ext cx="1003021" cy="161925"/>
            </a:xfrm>
            <a:prstGeom prst="rect">
              <a:avLst/>
            </a:prstGeom>
            <a:noFill/>
            <a:ln>
              <a:noFill/>
            </a:ln>
          </p:spPr>
          <p:txBody>
            <a:bodyPr wrap="none" lIns="0" tIns="0" rIns="0" bIns="0" anchor="t" anchorCtr="0">
              <a:spAutoFit/>
            </a:bodyPr>
            <a:lstStyle/>
            <a:p>
              <a:pPr algn="ctr"/>
              <a:r>
                <a:rPr lang="zh-CN" sz="820" dirty="0">
                  <a:solidFill>
                    <a:srgbClr val="6A6A6A"/>
                  </a:solidFill>
                  <a:latin typeface="+mn-lt"/>
                  <a:ea typeface="+mn-ea"/>
                  <a:cs typeface="+mn-cs"/>
                </a:rPr>
                <a:t>洞察需求，智能规划</a:t>
              </a:r>
            </a:p>
          </p:txBody>
        </p:sp>
        <p:sp>
          <p:nvSpPr>
            <p:cNvPr id="31" name="TextBox 31"/>
            <p:cNvSpPr txBox="1"/>
            <p:nvPr/>
          </p:nvSpPr>
          <p:spPr>
            <a:xfrm>
              <a:off x="5751703" y="1456849"/>
              <a:ext cx="669544" cy="190690"/>
            </a:xfrm>
            <a:prstGeom prst="rect">
              <a:avLst/>
            </a:prstGeom>
            <a:noFill/>
            <a:ln>
              <a:noFill/>
            </a:ln>
          </p:spPr>
          <p:txBody>
            <a:bodyPr wrap="none" lIns="0" tIns="0" rIns="0" bIns="0" anchor="t" anchorCtr="0">
              <a:spAutoFit/>
            </a:bodyPr>
            <a:lstStyle/>
            <a:p>
              <a:pPr algn="ctr"/>
              <a:r>
                <a:rPr lang="zh-CN" sz="980" b="1" dirty="0">
                  <a:solidFill>
                    <a:srgbClr val="1E1E1E"/>
                  </a:solidFill>
                  <a:latin typeface="+mn-lt"/>
                  <a:ea typeface="+mn-ea"/>
                  <a:cs typeface="+mn-cs"/>
                </a:rPr>
                <a:t>从远程办理</a:t>
              </a:r>
            </a:p>
          </p:txBody>
        </p:sp>
        <p:sp>
          <p:nvSpPr>
            <p:cNvPr id="32" name="TextBox 32"/>
            <p:cNvSpPr txBox="1"/>
            <p:nvPr/>
          </p:nvSpPr>
          <p:spPr>
            <a:xfrm>
              <a:off x="5584965" y="1644491"/>
              <a:ext cx="1003021" cy="161925"/>
            </a:xfrm>
            <a:prstGeom prst="rect">
              <a:avLst/>
            </a:prstGeom>
            <a:noFill/>
            <a:ln>
              <a:noFill/>
            </a:ln>
          </p:spPr>
          <p:txBody>
            <a:bodyPr wrap="none" lIns="0" tIns="0" rIns="0" bIns="0" anchor="t" anchorCtr="0">
              <a:spAutoFit/>
            </a:bodyPr>
            <a:lstStyle/>
            <a:p>
              <a:pPr algn="ctr"/>
              <a:r>
                <a:rPr lang="zh-CN" sz="820" dirty="0">
                  <a:solidFill>
                    <a:srgbClr val="6A6A6A"/>
                  </a:solidFill>
                  <a:latin typeface="+mn-lt"/>
                  <a:ea typeface="+mn-ea"/>
                  <a:cs typeface="+mn-cs"/>
                </a:rPr>
                <a:t>在线核验，高效安全</a:t>
              </a:r>
            </a:p>
          </p:txBody>
        </p:sp>
        <p:sp>
          <p:nvSpPr>
            <p:cNvPr id="33" name="TextBox 33"/>
            <p:cNvSpPr txBox="1"/>
            <p:nvPr/>
          </p:nvSpPr>
          <p:spPr>
            <a:xfrm>
              <a:off x="9637903" y="1456849"/>
              <a:ext cx="669544" cy="190690"/>
            </a:xfrm>
            <a:prstGeom prst="rect">
              <a:avLst/>
            </a:prstGeom>
            <a:noFill/>
            <a:ln>
              <a:noFill/>
            </a:ln>
          </p:spPr>
          <p:txBody>
            <a:bodyPr wrap="none" lIns="0" tIns="0" rIns="0" bIns="0" anchor="t" anchorCtr="0">
              <a:spAutoFit/>
            </a:bodyPr>
            <a:lstStyle/>
            <a:p>
              <a:pPr algn="ctr"/>
              <a:r>
                <a:rPr lang="zh-CN" sz="980" b="1" dirty="0">
                  <a:solidFill>
                    <a:srgbClr val="1E1E1E"/>
                  </a:solidFill>
                  <a:latin typeface="+mn-lt"/>
                  <a:ea typeface="+mn-ea"/>
                  <a:cs typeface="+mn-cs"/>
                </a:rPr>
                <a:t>从场景激活</a:t>
              </a:r>
            </a:p>
          </p:txBody>
        </p:sp>
        <p:sp>
          <p:nvSpPr>
            <p:cNvPr id="34" name="TextBox 34"/>
            <p:cNvSpPr txBox="1"/>
            <p:nvPr/>
          </p:nvSpPr>
          <p:spPr>
            <a:xfrm>
              <a:off x="9471165" y="1644491"/>
              <a:ext cx="1003021" cy="161925"/>
            </a:xfrm>
            <a:prstGeom prst="rect">
              <a:avLst/>
            </a:prstGeom>
            <a:noFill/>
            <a:ln>
              <a:noFill/>
            </a:ln>
          </p:spPr>
          <p:txBody>
            <a:bodyPr wrap="none" lIns="0" tIns="0" rIns="0" bIns="0" anchor="t" anchorCtr="0">
              <a:spAutoFit/>
            </a:bodyPr>
            <a:lstStyle/>
            <a:p>
              <a:pPr algn="ctr"/>
              <a:r>
                <a:rPr lang="zh-CN" sz="820" dirty="0">
                  <a:solidFill>
                    <a:srgbClr val="6A6A6A"/>
                  </a:solidFill>
                  <a:latin typeface="+mn-lt"/>
                  <a:ea typeface="+mn-ea"/>
                  <a:cs typeface="+mn-cs"/>
                </a:rPr>
                <a:t>服务延伸，价值触达</a:t>
              </a:r>
            </a:p>
          </p:txBody>
        </p:sp>
      </p:grpSp>
      <p:grpSp>
        <p:nvGrpSpPr>
          <p:cNvPr id="67" name="card-ai"/>
          <p:cNvGrpSpPr/>
          <p:nvPr/>
        </p:nvGrpSpPr>
        <p:grpSpPr>
          <a:xfrm>
            <a:off x="381000" y="1885950"/>
            <a:ext cx="3667125" cy="1905000"/>
            <a:chOff x="381000" y="1885950"/>
            <a:chExt cx="3667125" cy="1905000"/>
          </a:xfrm>
        </p:grpSpPr>
        <p:sp>
          <p:nvSpPr>
            <p:cNvPr id="36" name="Rectangle 36"/>
            <p:cNvSpPr/>
            <p:nvPr/>
          </p:nvSpPr>
          <p:spPr>
            <a:xfrm>
              <a:off x="381000" y="1885950"/>
              <a:ext cx="3667125" cy="1905000"/>
            </a:xfrm>
            <a:prstGeom prst="roundRect">
              <a:avLst>
                <a:gd name="adj" fmla="val 5000"/>
              </a:avLst>
            </a:prstGeom>
            <a:solidFill>
              <a:srgbClr val="FFFFFF"/>
            </a:solidFill>
            <a:ln w="9525">
              <a:solidFill>
                <a:srgbClr val="E5E0DC"/>
              </a:solidFill>
            </a:ln>
          </p:spPr>
        </p:sp>
        <p:sp>
          <p:nvSpPr>
            <p:cNvPr id="37" name="Rectangle 37"/>
            <p:cNvSpPr/>
            <p:nvPr/>
          </p:nvSpPr>
          <p:spPr>
            <a:xfrm>
              <a:off x="523875" y="2019300"/>
              <a:ext cx="1476375" cy="1638300"/>
            </a:xfrm>
            <a:prstGeom prst="roundRect">
              <a:avLst>
                <a:gd name="adj" fmla="val 5161"/>
              </a:avLst>
            </a:prstGeom>
            <a:solidFill>
              <a:srgbClr val="FDF4F4"/>
            </a:solidFill>
            <a:ln>
              <a:noFill/>
            </a:ln>
          </p:spPr>
        </p:sp>
        <p:sp>
          <p:nvSpPr>
            <p:cNvPr id="38" name="Ellipse 38"/>
            <p:cNvSpPr/>
            <p:nvPr/>
          </p:nvSpPr>
          <p:spPr>
            <a:xfrm>
              <a:off x="676275" y="2228850"/>
              <a:ext cx="647700" cy="647700"/>
            </a:xfrm>
            <a:prstGeom prst="ellipse">
              <a:avLst/>
            </a:prstGeom>
            <a:solidFill>
              <a:srgbClr val="FFFFFF"/>
            </a:solidFill>
            <a:ln w="19050">
              <a:solidFill>
                <a:srgbClr val="B03A1F"/>
              </a:solidFill>
            </a:ln>
          </p:spPr>
        </p:sp>
        <p:sp>
          <p:nvSpPr>
            <p:cNvPr id="39" name="TextBox 39"/>
            <p:cNvSpPr txBox="1"/>
            <p:nvPr/>
          </p:nvSpPr>
          <p:spPr>
            <a:xfrm>
              <a:off x="917859" y="2489835"/>
              <a:ext cx="164531" cy="234696"/>
            </a:xfrm>
            <a:prstGeom prst="rect">
              <a:avLst/>
            </a:prstGeom>
            <a:noFill/>
            <a:ln>
              <a:noFill/>
            </a:ln>
          </p:spPr>
          <p:txBody>
            <a:bodyPr wrap="none" lIns="0" tIns="0" rIns="0" bIns="0" anchor="t" anchorCtr="0">
              <a:spAutoFit/>
            </a:bodyPr>
            <a:lstStyle/>
            <a:p>
              <a:pPr algn="ctr"/>
              <a:r>
                <a:rPr lang="en-US" sz="1200" b="1" dirty="0">
                  <a:solidFill>
                    <a:srgbClr val="B03A1F"/>
                  </a:solidFill>
                  <a:latin typeface="+mn-lt"/>
                  <a:ea typeface="+mn-ea"/>
                  <a:cs typeface="+mn-cs"/>
                </a:rPr>
                <a:t>AI</a:t>
              </a:r>
            </a:p>
          </p:txBody>
        </p:sp>
        <p:sp>
          <p:nvSpPr>
            <p:cNvPr id="40" name="Ellipse 40"/>
            <p:cNvSpPr/>
            <p:nvPr/>
          </p:nvSpPr>
          <p:spPr>
            <a:xfrm>
              <a:off x="581025" y="2266950"/>
              <a:ext cx="38100" cy="38100"/>
            </a:xfrm>
            <a:prstGeom prst="ellipse">
              <a:avLst/>
            </a:prstGeom>
            <a:solidFill>
              <a:srgbClr val="B03A1F"/>
            </a:solidFill>
            <a:ln>
              <a:noFill/>
            </a:ln>
          </p:spPr>
        </p:sp>
        <p:sp>
          <p:nvSpPr>
            <p:cNvPr id="41" name="Line 41"/>
            <p:cNvSpPr/>
            <p:nvPr/>
          </p:nvSpPr>
          <p:spPr>
            <a:xfrm>
              <a:off x="619125" y="2286000"/>
              <a:ext cx="123825" cy="76200"/>
            </a:xfrm>
            <a:custGeom>
              <a:avLst/>
              <a:gdLst/>
              <a:ahLst/>
              <a:cxnLst/>
              <a:rect l="l" t="t" r="r" b="b"/>
              <a:pathLst>
                <a:path w="123825" h="76200">
                  <a:moveTo>
                    <a:pt x="0" y="0"/>
                  </a:moveTo>
                  <a:lnTo>
                    <a:pt x="123825" y="76200"/>
                  </a:lnTo>
                </a:path>
              </a:pathLst>
            </a:custGeom>
            <a:noFill/>
            <a:ln w="9525">
              <a:solidFill>
                <a:srgbClr val="D9ABA0"/>
              </a:solidFill>
            </a:ln>
          </p:spPr>
        </p:sp>
        <p:sp>
          <p:nvSpPr>
            <p:cNvPr id="42" name="Ellipse 42"/>
            <p:cNvSpPr/>
            <p:nvPr/>
          </p:nvSpPr>
          <p:spPr>
            <a:xfrm>
              <a:off x="590550" y="2800350"/>
              <a:ext cx="38100" cy="38100"/>
            </a:xfrm>
            <a:prstGeom prst="ellipse">
              <a:avLst/>
            </a:prstGeom>
            <a:solidFill>
              <a:srgbClr val="B03A1F"/>
            </a:solidFill>
            <a:ln>
              <a:noFill/>
            </a:ln>
          </p:spPr>
        </p:sp>
        <p:sp>
          <p:nvSpPr>
            <p:cNvPr id="43" name="Line 43"/>
            <p:cNvSpPr/>
            <p:nvPr/>
          </p:nvSpPr>
          <p:spPr>
            <a:xfrm>
              <a:off x="628650" y="2743200"/>
              <a:ext cx="114300" cy="76200"/>
            </a:xfrm>
            <a:custGeom>
              <a:avLst/>
              <a:gdLst/>
              <a:ahLst/>
              <a:cxnLst/>
              <a:rect l="l" t="t" r="r" b="b"/>
              <a:pathLst>
                <a:path w="114300" h="76200">
                  <a:moveTo>
                    <a:pt x="0" y="76200"/>
                  </a:moveTo>
                  <a:lnTo>
                    <a:pt x="114300" y="0"/>
                  </a:lnTo>
                </a:path>
              </a:pathLst>
            </a:custGeom>
            <a:noFill/>
            <a:ln w="9525">
              <a:solidFill>
                <a:srgbClr val="D9ABA0"/>
              </a:solidFill>
            </a:ln>
          </p:spPr>
        </p:sp>
        <p:sp>
          <p:nvSpPr>
            <p:cNvPr id="44" name="Rectangle 44"/>
            <p:cNvSpPr/>
            <p:nvPr/>
          </p:nvSpPr>
          <p:spPr>
            <a:xfrm>
              <a:off x="1428750" y="2171700"/>
              <a:ext cx="495300" cy="914400"/>
            </a:xfrm>
            <a:prstGeom prst="roundRect">
              <a:avLst>
                <a:gd name="adj" fmla="val 7692"/>
              </a:avLst>
            </a:prstGeom>
            <a:solidFill>
              <a:srgbClr val="FFFFFF"/>
            </a:solidFill>
            <a:ln w="9525">
              <a:solidFill>
                <a:srgbClr val="E5E0DC"/>
              </a:solidFill>
            </a:ln>
          </p:spPr>
        </p:sp>
        <p:sp>
          <p:nvSpPr>
            <p:cNvPr id="45" name="Rectangle 45"/>
            <p:cNvSpPr/>
            <p:nvPr/>
          </p:nvSpPr>
          <p:spPr>
            <a:xfrm>
              <a:off x="1495425" y="2705100"/>
              <a:ext cx="66675" cy="133350"/>
            </a:xfrm>
            <a:prstGeom prst="rect">
              <a:avLst/>
            </a:prstGeom>
            <a:solidFill>
              <a:srgbClr val="D9ABA0"/>
            </a:solidFill>
            <a:ln>
              <a:noFill/>
            </a:ln>
          </p:spPr>
        </p:sp>
        <p:sp>
          <p:nvSpPr>
            <p:cNvPr id="46" name="Rectangle 46"/>
            <p:cNvSpPr/>
            <p:nvPr/>
          </p:nvSpPr>
          <p:spPr>
            <a:xfrm>
              <a:off x="1600200" y="2609850"/>
              <a:ext cx="66675" cy="228600"/>
            </a:xfrm>
            <a:prstGeom prst="rect">
              <a:avLst/>
            </a:prstGeom>
            <a:solidFill>
              <a:srgbClr val="B03A1F"/>
            </a:solidFill>
            <a:ln>
              <a:noFill/>
            </a:ln>
          </p:spPr>
        </p:sp>
        <p:sp>
          <p:nvSpPr>
            <p:cNvPr id="47" name="Rectangle 47"/>
            <p:cNvSpPr/>
            <p:nvPr/>
          </p:nvSpPr>
          <p:spPr>
            <a:xfrm>
              <a:off x="1704975" y="2495550"/>
              <a:ext cx="66675" cy="342900"/>
            </a:xfrm>
            <a:prstGeom prst="rect">
              <a:avLst/>
            </a:prstGeom>
            <a:solidFill>
              <a:srgbClr val="D9ABA0"/>
            </a:solidFill>
            <a:ln>
              <a:noFill/>
            </a:ln>
          </p:spPr>
        </p:sp>
        <p:sp>
          <p:nvSpPr>
            <p:cNvPr id="48" name="Rectangle 48"/>
            <p:cNvSpPr/>
            <p:nvPr/>
          </p:nvSpPr>
          <p:spPr>
            <a:xfrm>
              <a:off x="1809750" y="2552700"/>
              <a:ext cx="66675" cy="285750"/>
            </a:xfrm>
            <a:prstGeom prst="rect">
              <a:avLst/>
            </a:prstGeom>
            <a:solidFill>
              <a:srgbClr val="B03A1F"/>
            </a:solidFill>
            <a:ln>
              <a:noFill/>
            </a:ln>
          </p:spPr>
        </p:sp>
        <p:sp>
          <p:nvSpPr>
            <p:cNvPr id="49" name="Polyline 49"/>
            <p:cNvSpPr/>
            <p:nvPr/>
          </p:nvSpPr>
          <p:spPr>
            <a:xfrm>
              <a:off x="1495425" y="2266950"/>
              <a:ext cx="352425" cy="133350"/>
            </a:xfrm>
            <a:custGeom>
              <a:avLst/>
              <a:gdLst/>
              <a:ahLst/>
              <a:cxnLst/>
              <a:rect l="l" t="t" r="r" b="b"/>
              <a:pathLst>
                <a:path w="352425" h="133350">
                  <a:moveTo>
                    <a:pt x="0" y="133350"/>
                  </a:moveTo>
                  <a:lnTo>
                    <a:pt x="123825" y="57150"/>
                  </a:lnTo>
                  <a:lnTo>
                    <a:pt x="219075" y="95250"/>
                  </a:lnTo>
                  <a:lnTo>
                    <a:pt x="352425" y="0"/>
                  </a:lnTo>
                </a:path>
              </a:pathLst>
            </a:custGeom>
            <a:noFill/>
            <a:ln w="14288">
              <a:solidFill>
                <a:srgbClr val="B03A1F"/>
              </a:solidFill>
            </a:ln>
          </p:spPr>
        </p:sp>
        <p:grpSp>
          <p:nvGrpSpPr>
            <p:cNvPr id="59" name="Group 59"/>
            <p:cNvGrpSpPr/>
            <p:nvPr/>
          </p:nvGrpSpPr>
          <p:grpSpPr>
            <a:xfrm>
              <a:off x="2234406" y="2074863"/>
              <a:ext cx="122238" cy="165893"/>
              <a:chOff x="2234406" y="2074863"/>
              <a:chExt cx="122238" cy="165893"/>
            </a:xfrm>
          </p:grpSpPr>
          <p:sp>
            <p:nvSpPr>
              <p:cNvPr id="50" name="Freeform 50"/>
              <p:cNvSpPr/>
              <p:nvPr/>
            </p:nvSpPr>
            <p:spPr>
              <a:xfrm>
                <a:off x="2243138" y="2092325"/>
                <a:ext cx="104775" cy="69850"/>
              </a:xfrm>
              <a:custGeom>
                <a:avLst/>
                <a:gdLst/>
                <a:ahLst/>
                <a:cxnLst/>
                <a:rect l="l" t="t" r="r" b="b"/>
                <a:pathLst>
                  <a:path w="104775" h="69850">
                    <a:moveTo>
                      <a:pt x="0" y="17463"/>
                    </a:moveTo>
                    <a:cubicBezTo>
                      <a:pt x="0" y="7818"/>
                      <a:pt x="7818" y="0"/>
                      <a:pt x="17463" y="0"/>
                    </a:cubicBezTo>
                    <a:lnTo>
                      <a:pt x="87313" y="0"/>
                    </a:lnTo>
                    <a:cubicBezTo>
                      <a:pt x="96957" y="0"/>
                      <a:pt x="104775" y="7818"/>
                      <a:pt x="104775" y="17463"/>
                    </a:cubicBezTo>
                    <a:lnTo>
                      <a:pt x="104775" y="52388"/>
                    </a:lnTo>
                    <a:cubicBezTo>
                      <a:pt x="104775" y="62032"/>
                      <a:pt x="96957" y="69850"/>
                      <a:pt x="87313" y="69850"/>
                    </a:cubicBezTo>
                    <a:lnTo>
                      <a:pt x="17463" y="69850"/>
                    </a:lnTo>
                    <a:cubicBezTo>
                      <a:pt x="7818" y="69850"/>
                      <a:pt x="0" y="62032"/>
                      <a:pt x="0" y="52388"/>
                    </a:cubicBezTo>
                    <a:lnTo>
                      <a:pt x="0" y="17463"/>
                    </a:lnTo>
                  </a:path>
                </a:pathLst>
              </a:custGeom>
              <a:noFill/>
              <a:ln w="17463">
                <a:solidFill>
                  <a:srgbClr val="B03A1F"/>
                </a:solidFill>
              </a:ln>
            </p:spPr>
          </p:sp>
          <p:sp>
            <p:nvSpPr>
              <p:cNvPr id="51" name="Freeform 51"/>
              <p:cNvSpPr/>
              <p:nvPr/>
            </p:nvSpPr>
            <p:spPr>
              <a:xfrm>
                <a:off x="2295525" y="2074863"/>
                <a:ext cx="9525" cy="17463"/>
              </a:xfrm>
              <a:custGeom>
                <a:avLst/>
                <a:gdLst/>
                <a:ahLst/>
                <a:cxnLst/>
                <a:rect l="l" t="t" r="r" b="b"/>
                <a:pathLst>
                  <a:path w="9525" h="17463">
                    <a:moveTo>
                      <a:pt x="0" y="0"/>
                    </a:moveTo>
                    <a:lnTo>
                      <a:pt x="0" y="17463"/>
                    </a:lnTo>
                  </a:path>
                </a:pathLst>
              </a:custGeom>
              <a:noFill/>
              <a:ln w="17463">
                <a:solidFill>
                  <a:srgbClr val="B03A1F"/>
                </a:solidFill>
              </a:ln>
            </p:spPr>
          </p:sp>
          <p:sp>
            <p:nvSpPr>
              <p:cNvPr id="52" name="Freeform 52"/>
              <p:cNvSpPr/>
              <p:nvPr/>
            </p:nvSpPr>
            <p:spPr>
              <a:xfrm>
                <a:off x="2269331" y="2162175"/>
                <a:ext cx="9525" cy="78581"/>
              </a:xfrm>
              <a:custGeom>
                <a:avLst/>
                <a:gdLst/>
                <a:ahLst/>
                <a:cxnLst/>
                <a:rect l="l" t="t" r="r" b="b"/>
                <a:pathLst>
                  <a:path w="9525" h="78581">
                    <a:moveTo>
                      <a:pt x="0" y="0"/>
                    </a:moveTo>
                    <a:lnTo>
                      <a:pt x="0" y="78581"/>
                    </a:lnTo>
                  </a:path>
                </a:pathLst>
              </a:custGeom>
              <a:noFill/>
              <a:ln w="17463">
                <a:solidFill>
                  <a:srgbClr val="B03A1F"/>
                </a:solidFill>
              </a:ln>
            </p:spPr>
          </p:sp>
          <p:sp>
            <p:nvSpPr>
              <p:cNvPr id="53" name="Freeform 53"/>
              <p:cNvSpPr/>
              <p:nvPr/>
            </p:nvSpPr>
            <p:spPr>
              <a:xfrm>
                <a:off x="2321719" y="2162175"/>
                <a:ext cx="9525" cy="78581"/>
              </a:xfrm>
              <a:custGeom>
                <a:avLst/>
                <a:gdLst/>
                <a:ahLst/>
                <a:cxnLst/>
                <a:rect l="l" t="t" r="r" b="b"/>
                <a:pathLst>
                  <a:path w="9525" h="78581">
                    <a:moveTo>
                      <a:pt x="0" y="0"/>
                    </a:moveTo>
                    <a:lnTo>
                      <a:pt x="0" y="78581"/>
                    </a:lnTo>
                  </a:path>
                </a:pathLst>
              </a:custGeom>
              <a:noFill/>
              <a:ln w="17463">
                <a:solidFill>
                  <a:srgbClr val="B03A1F"/>
                </a:solidFill>
              </a:ln>
            </p:spPr>
          </p:sp>
          <p:sp>
            <p:nvSpPr>
              <p:cNvPr id="54" name="Freeform 54"/>
              <p:cNvSpPr/>
              <p:nvPr/>
            </p:nvSpPr>
            <p:spPr>
              <a:xfrm>
                <a:off x="2234406" y="2179638"/>
                <a:ext cx="34925" cy="17463"/>
              </a:xfrm>
              <a:custGeom>
                <a:avLst/>
                <a:gdLst/>
                <a:ahLst/>
                <a:cxnLst/>
                <a:rect l="l" t="t" r="r" b="b"/>
                <a:pathLst>
                  <a:path w="34925" h="17463">
                    <a:moveTo>
                      <a:pt x="0" y="17463"/>
                    </a:moveTo>
                    <a:lnTo>
                      <a:pt x="34925" y="0"/>
                    </a:lnTo>
                  </a:path>
                </a:pathLst>
              </a:custGeom>
              <a:noFill/>
              <a:ln w="17463">
                <a:solidFill>
                  <a:srgbClr val="B03A1F"/>
                </a:solidFill>
              </a:ln>
            </p:spPr>
          </p:sp>
          <p:sp>
            <p:nvSpPr>
              <p:cNvPr id="55" name="Freeform 55"/>
              <p:cNvSpPr/>
              <p:nvPr/>
            </p:nvSpPr>
            <p:spPr>
              <a:xfrm>
                <a:off x="2321719" y="2179638"/>
                <a:ext cx="34925" cy="17463"/>
              </a:xfrm>
              <a:custGeom>
                <a:avLst/>
                <a:gdLst/>
                <a:ahLst/>
                <a:cxnLst/>
                <a:rect l="l" t="t" r="r" b="b"/>
                <a:pathLst>
                  <a:path w="34925" h="17463">
                    <a:moveTo>
                      <a:pt x="0" y="0"/>
                    </a:moveTo>
                    <a:lnTo>
                      <a:pt x="34925" y="17463"/>
                    </a:lnTo>
                  </a:path>
                </a:pathLst>
              </a:custGeom>
              <a:noFill/>
              <a:ln w="17463">
                <a:solidFill>
                  <a:srgbClr val="B03A1F"/>
                </a:solidFill>
              </a:ln>
            </p:spPr>
          </p:sp>
          <p:sp>
            <p:nvSpPr>
              <p:cNvPr id="56" name="Freeform 56"/>
              <p:cNvSpPr/>
              <p:nvPr/>
            </p:nvSpPr>
            <p:spPr>
              <a:xfrm>
                <a:off x="2269331" y="2214563"/>
                <a:ext cx="52388" cy="9525"/>
              </a:xfrm>
              <a:custGeom>
                <a:avLst/>
                <a:gdLst/>
                <a:ahLst/>
                <a:cxnLst/>
                <a:rect l="l" t="t" r="r" b="b"/>
                <a:pathLst>
                  <a:path w="52388" h="9525">
                    <a:moveTo>
                      <a:pt x="0" y="0"/>
                    </a:moveTo>
                    <a:lnTo>
                      <a:pt x="52388" y="0"/>
                    </a:lnTo>
                  </a:path>
                </a:pathLst>
              </a:custGeom>
              <a:noFill/>
              <a:ln w="17463">
                <a:solidFill>
                  <a:srgbClr val="B03A1F"/>
                </a:solidFill>
              </a:ln>
            </p:spPr>
          </p:sp>
          <p:sp>
            <p:nvSpPr>
              <p:cNvPr id="57" name="Freeform 57"/>
              <p:cNvSpPr/>
              <p:nvPr/>
            </p:nvSpPr>
            <p:spPr>
              <a:xfrm>
                <a:off x="2278063" y="2127250"/>
                <a:ext cx="9525" cy="9525"/>
              </a:xfrm>
              <a:custGeom>
                <a:avLst/>
                <a:gdLst/>
                <a:ahLst/>
                <a:cxnLst/>
                <a:rect l="l" t="t" r="r" b="b"/>
                <a:pathLst>
                  <a:path w="9525" h="9525">
                    <a:moveTo>
                      <a:pt x="0" y="0"/>
                    </a:moveTo>
                    <a:lnTo>
                      <a:pt x="0" y="87"/>
                    </a:lnTo>
                  </a:path>
                </a:pathLst>
              </a:custGeom>
              <a:noFill/>
              <a:ln w="17463">
                <a:solidFill>
                  <a:srgbClr val="B03A1F"/>
                </a:solidFill>
              </a:ln>
            </p:spPr>
          </p:sp>
          <p:sp>
            <p:nvSpPr>
              <p:cNvPr id="58" name="Freeform 58"/>
              <p:cNvSpPr/>
              <p:nvPr/>
            </p:nvSpPr>
            <p:spPr>
              <a:xfrm>
                <a:off x="2312988" y="2127250"/>
                <a:ext cx="9525" cy="9525"/>
              </a:xfrm>
              <a:custGeom>
                <a:avLst/>
                <a:gdLst/>
                <a:ahLst/>
                <a:cxnLst/>
                <a:rect l="l" t="t" r="r" b="b"/>
                <a:pathLst>
                  <a:path w="9525" h="9525">
                    <a:moveTo>
                      <a:pt x="0" y="0"/>
                    </a:moveTo>
                    <a:lnTo>
                      <a:pt x="0" y="87"/>
                    </a:lnTo>
                  </a:path>
                </a:pathLst>
              </a:custGeom>
              <a:noFill/>
              <a:ln w="17463">
                <a:solidFill>
                  <a:srgbClr val="B03A1F"/>
                </a:solidFill>
              </a:ln>
            </p:spPr>
          </p:sp>
        </p:grpSp>
        <p:sp>
          <p:nvSpPr>
            <p:cNvPr id="60" name="TextBox 60"/>
            <p:cNvSpPr txBox="1"/>
            <p:nvPr/>
          </p:nvSpPr>
          <p:spPr>
            <a:xfrm>
              <a:off x="2470785" y="2107406"/>
              <a:ext cx="756711" cy="220028"/>
            </a:xfrm>
            <a:prstGeom prst="rect">
              <a:avLst/>
            </a:prstGeom>
            <a:noFill/>
            <a:ln>
              <a:noFill/>
            </a:ln>
          </p:spPr>
          <p:txBody>
            <a:bodyPr wrap="none" lIns="0" tIns="0" rIns="0" bIns="0" anchor="t" anchorCtr="0">
              <a:spAutoFit/>
            </a:bodyPr>
            <a:lstStyle/>
            <a:p>
              <a:pPr algn="l"/>
              <a:r>
                <a:rPr lang="zh-CN" sz="1120" b="1" dirty="0">
                  <a:solidFill>
                    <a:srgbClr val="B03A1F"/>
                  </a:solidFill>
                  <a:latin typeface="+mn-lt"/>
                  <a:ea typeface="+mn-ea"/>
                  <a:cs typeface="+mn-cs"/>
                </a:rPr>
                <a:t>AI智能投顾</a:t>
              </a:r>
            </a:p>
          </p:txBody>
        </p:sp>
        <p:sp>
          <p:nvSpPr>
            <p:cNvPr id="61" name="Ellipse 61"/>
            <p:cNvSpPr/>
            <p:nvPr/>
          </p:nvSpPr>
          <p:spPr>
            <a:xfrm>
              <a:off x="2243138" y="2509838"/>
              <a:ext cx="47625" cy="47625"/>
            </a:xfrm>
            <a:prstGeom prst="ellipse">
              <a:avLst/>
            </a:prstGeom>
            <a:solidFill>
              <a:srgbClr val="B03A1F"/>
            </a:solidFill>
            <a:ln>
              <a:noFill/>
            </a:ln>
          </p:spPr>
        </p:sp>
        <p:sp>
          <p:nvSpPr>
            <p:cNvPr id="62" name="TextBox 62"/>
            <p:cNvSpPr txBox="1"/>
            <p:nvPr/>
          </p:nvSpPr>
          <p:spPr>
            <a:xfrm>
              <a:off x="2376488" y="247864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自动资产配置建议</a:t>
              </a:r>
            </a:p>
          </p:txBody>
        </p:sp>
        <p:sp>
          <p:nvSpPr>
            <p:cNvPr id="63" name="Ellipse 63"/>
            <p:cNvSpPr/>
            <p:nvPr/>
          </p:nvSpPr>
          <p:spPr>
            <a:xfrm>
              <a:off x="2243138" y="2776538"/>
              <a:ext cx="47625" cy="47625"/>
            </a:xfrm>
            <a:prstGeom prst="ellipse">
              <a:avLst/>
            </a:prstGeom>
            <a:solidFill>
              <a:srgbClr val="B03A1F"/>
            </a:solidFill>
            <a:ln>
              <a:noFill/>
            </a:ln>
          </p:spPr>
        </p:sp>
        <p:sp>
          <p:nvSpPr>
            <p:cNvPr id="64" name="TextBox 64"/>
            <p:cNvSpPr txBox="1"/>
            <p:nvPr/>
          </p:nvSpPr>
          <p:spPr>
            <a:xfrm>
              <a:off x="2376488" y="2745343"/>
              <a:ext cx="472618"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市场解读</a:t>
              </a:r>
            </a:p>
          </p:txBody>
        </p:sp>
        <p:sp>
          <p:nvSpPr>
            <p:cNvPr id="65" name="Ellipse 65"/>
            <p:cNvSpPr/>
            <p:nvPr/>
          </p:nvSpPr>
          <p:spPr>
            <a:xfrm>
              <a:off x="2243138" y="3043238"/>
              <a:ext cx="47625" cy="47625"/>
            </a:xfrm>
            <a:prstGeom prst="ellipse">
              <a:avLst/>
            </a:prstGeom>
            <a:solidFill>
              <a:srgbClr val="B03A1F"/>
            </a:solidFill>
            <a:ln>
              <a:noFill/>
            </a:ln>
          </p:spPr>
        </p:sp>
        <p:sp>
          <p:nvSpPr>
            <p:cNvPr id="66" name="TextBox 66"/>
            <p:cNvSpPr txBox="1"/>
            <p:nvPr/>
          </p:nvSpPr>
          <p:spPr>
            <a:xfrm>
              <a:off x="2376488" y="3012043"/>
              <a:ext cx="58839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适当性校验</a:t>
              </a:r>
            </a:p>
          </p:txBody>
        </p:sp>
      </p:grpSp>
      <p:grpSp>
        <p:nvGrpSpPr>
          <p:cNvPr id="101" name="card-video"/>
          <p:cNvGrpSpPr/>
          <p:nvPr/>
        </p:nvGrpSpPr>
        <p:grpSpPr>
          <a:xfrm>
            <a:off x="4257675" y="1885950"/>
            <a:ext cx="3667125" cy="1905000"/>
            <a:chOff x="4257675" y="1885950"/>
            <a:chExt cx="3667125" cy="1905000"/>
          </a:xfrm>
        </p:grpSpPr>
        <p:sp>
          <p:nvSpPr>
            <p:cNvPr id="68" name="Rectangle 68"/>
            <p:cNvSpPr/>
            <p:nvPr/>
          </p:nvSpPr>
          <p:spPr>
            <a:xfrm>
              <a:off x="4257675" y="1885950"/>
              <a:ext cx="3667125" cy="1905000"/>
            </a:xfrm>
            <a:prstGeom prst="roundRect">
              <a:avLst>
                <a:gd name="adj" fmla="val 5000"/>
              </a:avLst>
            </a:prstGeom>
            <a:solidFill>
              <a:srgbClr val="FFFFFF"/>
            </a:solidFill>
            <a:ln w="9525">
              <a:solidFill>
                <a:srgbClr val="E5E0DC"/>
              </a:solidFill>
            </a:ln>
          </p:spPr>
        </p:sp>
        <p:sp>
          <p:nvSpPr>
            <p:cNvPr id="69" name="Rectangle 69"/>
            <p:cNvSpPr/>
            <p:nvPr/>
          </p:nvSpPr>
          <p:spPr>
            <a:xfrm>
              <a:off x="4400550" y="2076450"/>
              <a:ext cx="1600200" cy="1162050"/>
            </a:xfrm>
            <a:prstGeom prst="roundRect">
              <a:avLst>
                <a:gd name="adj" fmla="val 4918"/>
              </a:avLst>
            </a:prstGeom>
            <a:solidFill>
              <a:srgbClr val="FFFFFF"/>
            </a:solidFill>
            <a:ln w="23812">
              <a:solidFill>
                <a:srgbClr val="2B2B2B"/>
              </a:solidFill>
            </a:ln>
          </p:spPr>
        </p:sp>
        <p:sp>
          <p:nvSpPr>
            <p:cNvPr id="70" name="Ellipse 70"/>
            <p:cNvSpPr/>
            <p:nvPr/>
          </p:nvSpPr>
          <p:spPr>
            <a:xfrm>
              <a:off x="5048250" y="2343150"/>
              <a:ext cx="304800" cy="304800"/>
            </a:xfrm>
            <a:prstGeom prst="ellipse">
              <a:avLst/>
            </a:prstGeom>
            <a:solidFill>
              <a:srgbClr val="D8D4D0"/>
            </a:solidFill>
            <a:ln>
              <a:noFill/>
            </a:ln>
          </p:spPr>
        </p:sp>
        <p:sp>
          <p:nvSpPr>
            <p:cNvPr id="71" name="Ellipse 71"/>
            <p:cNvSpPr/>
            <p:nvPr/>
          </p:nvSpPr>
          <p:spPr>
            <a:xfrm>
              <a:off x="4953000" y="2705100"/>
              <a:ext cx="495300" cy="266700"/>
            </a:xfrm>
            <a:prstGeom prst="ellipse">
              <a:avLst/>
            </a:prstGeom>
            <a:solidFill>
              <a:srgbClr val="D8D4D0"/>
            </a:solidFill>
            <a:ln>
              <a:noFill/>
            </a:ln>
          </p:spPr>
        </p:sp>
        <p:sp>
          <p:nvSpPr>
            <p:cNvPr id="72" name="Ellipse 72"/>
            <p:cNvSpPr/>
            <p:nvPr/>
          </p:nvSpPr>
          <p:spPr>
            <a:xfrm>
              <a:off x="5838825" y="2162175"/>
              <a:ext cx="57150" cy="57150"/>
            </a:xfrm>
            <a:prstGeom prst="ellipse">
              <a:avLst/>
            </a:prstGeom>
            <a:solidFill>
              <a:srgbClr val="B03A1F"/>
            </a:solidFill>
            <a:ln>
              <a:noFill/>
            </a:ln>
          </p:spPr>
        </p:sp>
        <p:sp>
          <p:nvSpPr>
            <p:cNvPr id="73" name="Rectangle 73"/>
            <p:cNvSpPr/>
            <p:nvPr/>
          </p:nvSpPr>
          <p:spPr>
            <a:xfrm>
              <a:off x="5105400" y="3238500"/>
              <a:ext cx="190500" cy="133350"/>
            </a:xfrm>
            <a:prstGeom prst="rect">
              <a:avLst/>
            </a:prstGeom>
            <a:solidFill>
              <a:srgbClr val="2B2B2B"/>
            </a:solidFill>
            <a:ln>
              <a:noFill/>
            </a:ln>
          </p:spPr>
        </p:sp>
        <p:sp>
          <p:nvSpPr>
            <p:cNvPr id="74" name="Rectangle 74"/>
            <p:cNvSpPr/>
            <p:nvPr/>
          </p:nvSpPr>
          <p:spPr>
            <a:xfrm>
              <a:off x="4914900" y="3371850"/>
              <a:ext cx="571500" cy="47625"/>
            </a:xfrm>
            <a:prstGeom prst="roundRect">
              <a:avLst>
                <a:gd name="adj" fmla="val 40000"/>
              </a:avLst>
            </a:prstGeom>
            <a:solidFill>
              <a:srgbClr val="2B2B2B"/>
            </a:solidFill>
            <a:ln>
              <a:noFill/>
            </a:ln>
          </p:spPr>
        </p:sp>
        <p:grpSp>
          <p:nvGrpSpPr>
            <p:cNvPr id="77" name="Group 77"/>
            <p:cNvGrpSpPr/>
            <p:nvPr/>
          </p:nvGrpSpPr>
          <p:grpSpPr>
            <a:xfrm>
              <a:off x="6193631" y="2214562"/>
              <a:ext cx="128587" cy="85725"/>
              <a:chOff x="6193631" y="2214562"/>
              <a:chExt cx="128587" cy="85725"/>
            </a:xfrm>
          </p:grpSpPr>
          <p:sp>
            <p:nvSpPr>
              <p:cNvPr id="75" name="Freeform 75"/>
              <p:cNvSpPr/>
              <p:nvPr/>
            </p:nvSpPr>
            <p:spPr>
              <a:xfrm>
                <a:off x="6279356" y="2225772"/>
                <a:ext cx="42862" cy="63306"/>
              </a:xfrm>
              <a:custGeom>
                <a:avLst/>
                <a:gdLst/>
                <a:ahLst/>
                <a:cxnLst/>
                <a:rect l="l" t="t" r="r" b="b"/>
                <a:pathLst>
                  <a:path w="42862" h="63306">
                    <a:moveTo>
                      <a:pt x="0" y="17365"/>
                    </a:moveTo>
                    <a:lnTo>
                      <a:pt x="32525" y="1106"/>
                    </a:lnTo>
                    <a:cubicBezTo>
                      <a:pt x="34739" y="0"/>
                      <a:pt x="37368" y="118"/>
                      <a:pt x="39474" y="1419"/>
                    </a:cubicBezTo>
                    <a:cubicBezTo>
                      <a:pt x="41579" y="2720"/>
                      <a:pt x="42861" y="5018"/>
                      <a:pt x="42862" y="7493"/>
                    </a:cubicBezTo>
                    <a:lnTo>
                      <a:pt x="42862" y="55813"/>
                    </a:lnTo>
                    <a:cubicBezTo>
                      <a:pt x="42861" y="58288"/>
                      <a:pt x="41579" y="60586"/>
                      <a:pt x="39474" y="61887"/>
                    </a:cubicBezTo>
                    <a:cubicBezTo>
                      <a:pt x="37368" y="63187"/>
                      <a:pt x="34739" y="63306"/>
                      <a:pt x="32525" y="62200"/>
                    </a:cubicBezTo>
                    <a:lnTo>
                      <a:pt x="0" y="45940"/>
                    </a:lnTo>
                    <a:lnTo>
                      <a:pt x="0" y="17365"/>
                    </a:lnTo>
                  </a:path>
                </a:pathLst>
              </a:custGeom>
              <a:noFill/>
              <a:ln w="14288">
                <a:solidFill>
                  <a:srgbClr val="B03A1F"/>
                </a:solidFill>
              </a:ln>
            </p:spPr>
          </p:sp>
          <p:sp>
            <p:nvSpPr>
              <p:cNvPr id="76" name="Freeform 76"/>
              <p:cNvSpPr/>
              <p:nvPr/>
            </p:nvSpPr>
            <p:spPr>
              <a:xfrm>
                <a:off x="6193631" y="2214562"/>
                <a:ext cx="85725" cy="85725"/>
              </a:xfrm>
              <a:custGeom>
                <a:avLst/>
                <a:gdLst/>
                <a:ahLst/>
                <a:cxnLst/>
                <a:rect l="l" t="t" r="r" b="b"/>
                <a:pathLst>
                  <a:path w="85725" h="85725">
                    <a:moveTo>
                      <a:pt x="0" y="14288"/>
                    </a:moveTo>
                    <a:cubicBezTo>
                      <a:pt x="0" y="6397"/>
                      <a:pt x="6397" y="0"/>
                      <a:pt x="14288" y="0"/>
                    </a:cubicBezTo>
                    <a:lnTo>
                      <a:pt x="71438" y="0"/>
                    </a:lnTo>
                    <a:cubicBezTo>
                      <a:pt x="79328" y="0"/>
                      <a:pt x="85725" y="6397"/>
                      <a:pt x="85725" y="14288"/>
                    </a:cubicBezTo>
                    <a:lnTo>
                      <a:pt x="85725" y="71438"/>
                    </a:lnTo>
                    <a:cubicBezTo>
                      <a:pt x="85725" y="79328"/>
                      <a:pt x="79328" y="85725"/>
                      <a:pt x="71438" y="85725"/>
                    </a:cubicBezTo>
                    <a:lnTo>
                      <a:pt x="14288" y="85725"/>
                    </a:lnTo>
                    <a:cubicBezTo>
                      <a:pt x="6397" y="85725"/>
                      <a:pt x="0" y="79328"/>
                      <a:pt x="0" y="71438"/>
                    </a:cubicBezTo>
                    <a:lnTo>
                      <a:pt x="0" y="14288"/>
                    </a:lnTo>
                  </a:path>
                </a:pathLst>
              </a:custGeom>
              <a:noFill/>
              <a:ln w="14288">
                <a:solidFill>
                  <a:srgbClr val="B03A1F"/>
                </a:solidFill>
              </a:ln>
            </p:spPr>
          </p:sp>
        </p:grpSp>
        <p:sp>
          <p:nvSpPr>
            <p:cNvPr id="78" name="TextBox 78"/>
            <p:cNvSpPr txBox="1"/>
            <p:nvPr/>
          </p:nvSpPr>
          <p:spPr>
            <a:xfrm>
              <a:off x="6415088" y="2213372"/>
              <a:ext cx="768782"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远程视频银行</a:t>
              </a:r>
            </a:p>
          </p:txBody>
        </p:sp>
        <p:grpSp>
          <p:nvGrpSpPr>
            <p:cNvPr id="85" name="Group 85"/>
            <p:cNvGrpSpPr/>
            <p:nvPr/>
          </p:nvGrpSpPr>
          <p:grpSpPr>
            <a:xfrm>
              <a:off x="6197203" y="2508647"/>
              <a:ext cx="117872" cy="105966"/>
              <a:chOff x="6197203" y="2508647"/>
              <a:chExt cx="117872" cy="105966"/>
            </a:xfrm>
          </p:grpSpPr>
          <p:sp>
            <p:nvSpPr>
              <p:cNvPr id="79" name="Freeform 79"/>
              <p:cNvSpPr/>
              <p:nvPr/>
            </p:nvSpPr>
            <p:spPr>
              <a:xfrm>
                <a:off x="6197203" y="2508647"/>
                <a:ext cx="28575" cy="17859"/>
              </a:xfrm>
              <a:custGeom>
                <a:avLst/>
                <a:gdLst/>
                <a:ahLst/>
                <a:cxnLst/>
                <a:rect l="l" t="t" r="r" b="b"/>
                <a:pathLst>
                  <a:path w="28575" h="17859">
                    <a:moveTo>
                      <a:pt x="0" y="7144"/>
                    </a:moveTo>
                    <a:lnTo>
                      <a:pt x="10716" y="17859"/>
                    </a:lnTo>
                    <a:lnTo>
                      <a:pt x="28575" y="0"/>
                    </a:lnTo>
                  </a:path>
                </a:pathLst>
              </a:custGeom>
              <a:noFill/>
              <a:ln w="14288">
                <a:solidFill>
                  <a:srgbClr val="B03A1F"/>
                </a:solidFill>
              </a:ln>
            </p:spPr>
          </p:sp>
          <p:sp>
            <p:nvSpPr>
              <p:cNvPr id="80" name="Freeform 80"/>
              <p:cNvSpPr/>
              <p:nvPr/>
            </p:nvSpPr>
            <p:spPr>
              <a:xfrm>
                <a:off x="6197203" y="2551509"/>
                <a:ext cx="28575" cy="17859"/>
              </a:xfrm>
              <a:custGeom>
                <a:avLst/>
                <a:gdLst/>
                <a:ahLst/>
                <a:cxnLst/>
                <a:rect l="l" t="t" r="r" b="b"/>
                <a:pathLst>
                  <a:path w="28575" h="17859">
                    <a:moveTo>
                      <a:pt x="0" y="7144"/>
                    </a:moveTo>
                    <a:lnTo>
                      <a:pt x="10716" y="17859"/>
                    </a:lnTo>
                    <a:lnTo>
                      <a:pt x="28575" y="0"/>
                    </a:lnTo>
                  </a:path>
                </a:pathLst>
              </a:custGeom>
              <a:noFill/>
              <a:ln w="14288">
                <a:solidFill>
                  <a:srgbClr val="B03A1F"/>
                </a:solidFill>
              </a:ln>
            </p:spPr>
          </p:sp>
          <p:sp>
            <p:nvSpPr>
              <p:cNvPr id="81" name="Freeform 81"/>
              <p:cNvSpPr/>
              <p:nvPr/>
            </p:nvSpPr>
            <p:spPr>
              <a:xfrm>
                <a:off x="6197203" y="2594372"/>
                <a:ext cx="28575" cy="17859"/>
              </a:xfrm>
              <a:custGeom>
                <a:avLst/>
                <a:gdLst/>
                <a:ahLst/>
                <a:cxnLst/>
                <a:rect l="l" t="t" r="r" b="b"/>
                <a:pathLst>
                  <a:path w="28575" h="17859">
                    <a:moveTo>
                      <a:pt x="0" y="7144"/>
                    </a:moveTo>
                    <a:lnTo>
                      <a:pt x="10716" y="17859"/>
                    </a:lnTo>
                    <a:lnTo>
                      <a:pt x="28575" y="0"/>
                    </a:lnTo>
                  </a:path>
                </a:pathLst>
              </a:custGeom>
              <a:noFill/>
              <a:ln w="14288">
                <a:solidFill>
                  <a:srgbClr val="B03A1F"/>
                </a:solidFill>
              </a:ln>
            </p:spPr>
          </p:sp>
          <p:sp>
            <p:nvSpPr>
              <p:cNvPr id="82" name="Freeform 82"/>
              <p:cNvSpPr/>
              <p:nvPr/>
            </p:nvSpPr>
            <p:spPr>
              <a:xfrm>
                <a:off x="6250781" y="2519362"/>
                <a:ext cx="64294" cy="9525"/>
              </a:xfrm>
              <a:custGeom>
                <a:avLst/>
                <a:gdLst/>
                <a:ahLst/>
                <a:cxnLst/>
                <a:rect l="l" t="t" r="r" b="b"/>
                <a:pathLst>
                  <a:path w="64294" h="9525">
                    <a:moveTo>
                      <a:pt x="0" y="0"/>
                    </a:moveTo>
                    <a:lnTo>
                      <a:pt x="64294" y="0"/>
                    </a:lnTo>
                  </a:path>
                </a:pathLst>
              </a:custGeom>
              <a:noFill/>
              <a:ln w="14288">
                <a:solidFill>
                  <a:srgbClr val="B03A1F"/>
                </a:solidFill>
              </a:ln>
            </p:spPr>
          </p:sp>
          <p:sp>
            <p:nvSpPr>
              <p:cNvPr id="83" name="Freeform 83"/>
              <p:cNvSpPr/>
              <p:nvPr/>
            </p:nvSpPr>
            <p:spPr>
              <a:xfrm>
                <a:off x="6250781" y="2562225"/>
                <a:ext cx="64294" cy="9525"/>
              </a:xfrm>
              <a:custGeom>
                <a:avLst/>
                <a:gdLst/>
                <a:ahLst/>
                <a:cxnLst/>
                <a:rect l="l" t="t" r="r" b="b"/>
                <a:pathLst>
                  <a:path w="64294" h="9525">
                    <a:moveTo>
                      <a:pt x="0" y="0"/>
                    </a:moveTo>
                    <a:lnTo>
                      <a:pt x="64294" y="0"/>
                    </a:lnTo>
                  </a:path>
                </a:pathLst>
              </a:custGeom>
              <a:noFill/>
              <a:ln w="14288">
                <a:solidFill>
                  <a:srgbClr val="B03A1F"/>
                </a:solidFill>
              </a:ln>
            </p:spPr>
          </p:sp>
          <p:sp>
            <p:nvSpPr>
              <p:cNvPr id="84" name="Freeform 84"/>
              <p:cNvSpPr/>
              <p:nvPr/>
            </p:nvSpPr>
            <p:spPr>
              <a:xfrm>
                <a:off x="6250781" y="2605088"/>
                <a:ext cx="64294" cy="9525"/>
              </a:xfrm>
              <a:custGeom>
                <a:avLst/>
                <a:gdLst/>
                <a:ahLst/>
                <a:cxnLst/>
                <a:rect l="l" t="t" r="r" b="b"/>
                <a:pathLst>
                  <a:path w="64294" h="9525">
                    <a:moveTo>
                      <a:pt x="0" y="0"/>
                    </a:moveTo>
                    <a:lnTo>
                      <a:pt x="64294" y="0"/>
                    </a:lnTo>
                  </a:path>
                </a:pathLst>
              </a:custGeom>
              <a:noFill/>
              <a:ln w="14288">
                <a:solidFill>
                  <a:srgbClr val="B03A1F"/>
                </a:solidFill>
              </a:ln>
            </p:spPr>
          </p:sp>
        </p:grpSp>
        <p:sp>
          <p:nvSpPr>
            <p:cNvPr id="86" name="TextBox 86"/>
            <p:cNvSpPr txBox="1"/>
            <p:nvPr/>
          </p:nvSpPr>
          <p:spPr>
            <a:xfrm>
              <a:off x="6415088" y="2526268"/>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复杂业务远程办理</a:t>
              </a:r>
            </a:p>
          </p:txBody>
        </p:sp>
        <p:grpSp>
          <p:nvGrpSpPr>
            <p:cNvPr id="92" name="Group 92"/>
            <p:cNvGrpSpPr/>
            <p:nvPr/>
          </p:nvGrpSpPr>
          <p:grpSpPr>
            <a:xfrm>
              <a:off x="6193631" y="2809875"/>
              <a:ext cx="128588" cy="114300"/>
              <a:chOff x="6193631" y="2809875"/>
              <a:chExt cx="128588" cy="114300"/>
            </a:xfrm>
          </p:grpSpPr>
          <p:sp>
            <p:nvSpPr>
              <p:cNvPr id="87" name="Freeform 87"/>
              <p:cNvSpPr/>
              <p:nvPr/>
            </p:nvSpPr>
            <p:spPr>
              <a:xfrm>
                <a:off x="6193631" y="2809875"/>
                <a:ext cx="128588" cy="114300"/>
              </a:xfrm>
              <a:custGeom>
                <a:avLst/>
                <a:gdLst/>
                <a:ahLst/>
                <a:cxnLst/>
                <a:rect l="l" t="t" r="r" b="b"/>
                <a:pathLst>
                  <a:path w="128588" h="114300">
                    <a:moveTo>
                      <a:pt x="0" y="21431"/>
                    </a:moveTo>
                    <a:cubicBezTo>
                      <a:pt x="0" y="9595"/>
                      <a:pt x="9595" y="0"/>
                      <a:pt x="21431" y="0"/>
                    </a:cubicBezTo>
                    <a:lnTo>
                      <a:pt x="107156" y="0"/>
                    </a:lnTo>
                    <a:cubicBezTo>
                      <a:pt x="118992" y="0"/>
                      <a:pt x="128588" y="9595"/>
                      <a:pt x="128588" y="21431"/>
                    </a:cubicBezTo>
                    <a:lnTo>
                      <a:pt x="128588" y="92869"/>
                    </a:lnTo>
                    <a:cubicBezTo>
                      <a:pt x="128588" y="104705"/>
                      <a:pt x="118992" y="114300"/>
                      <a:pt x="107156" y="114300"/>
                    </a:cubicBezTo>
                    <a:lnTo>
                      <a:pt x="21431" y="114300"/>
                    </a:lnTo>
                    <a:cubicBezTo>
                      <a:pt x="9595" y="114300"/>
                      <a:pt x="0" y="104705"/>
                      <a:pt x="0" y="92869"/>
                    </a:cubicBezTo>
                    <a:lnTo>
                      <a:pt x="0" y="21431"/>
                    </a:lnTo>
                  </a:path>
                </a:pathLst>
              </a:custGeom>
              <a:noFill/>
              <a:ln w="14288">
                <a:solidFill>
                  <a:srgbClr val="B03A1F"/>
                </a:solidFill>
              </a:ln>
            </p:spPr>
          </p:sp>
          <p:sp>
            <p:nvSpPr>
              <p:cNvPr id="88" name="Freeform 88"/>
              <p:cNvSpPr/>
              <p:nvPr/>
            </p:nvSpPr>
            <p:spPr>
              <a:xfrm>
                <a:off x="6222206" y="283845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B03A1F"/>
                </a:solidFill>
              </a:ln>
            </p:spPr>
          </p:sp>
          <p:sp>
            <p:nvSpPr>
              <p:cNvPr id="89" name="Freeform 89"/>
              <p:cNvSpPr/>
              <p:nvPr/>
            </p:nvSpPr>
            <p:spPr>
              <a:xfrm>
                <a:off x="6279356" y="2838450"/>
                <a:ext cx="14288" cy="9525"/>
              </a:xfrm>
              <a:custGeom>
                <a:avLst/>
                <a:gdLst/>
                <a:ahLst/>
                <a:cxnLst/>
                <a:rect l="l" t="t" r="r" b="b"/>
                <a:pathLst>
                  <a:path w="14288" h="9525">
                    <a:moveTo>
                      <a:pt x="0" y="0"/>
                    </a:moveTo>
                    <a:lnTo>
                      <a:pt x="14288" y="0"/>
                    </a:lnTo>
                  </a:path>
                </a:pathLst>
              </a:custGeom>
              <a:noFill/>
              <a:ln w="14288">
                <a:solidFill>
                  <a:srgbClr val="B03A1F"/>
                </a:solidFill>
              </a:ln>
            </p:spPr>
          </p:sp>
          <p:sp>
            <p:nvSpPr>
              <p:cNvPr id="90" name="Freeform 90"/>
              <p:cNvSpPr/>
              <p:nvPr/>
            </p:nvSpPr>
            <p:spPr>
              <a:xfrm>
                <a:off x="6279356" y="2867025"/>
                <a:ext cx="14288" cy="9525"/>
              </a:xfrm>
              <a:custGeom>
                <a:avLst/>
                <a:gdLst/>
                <a:ahLst/>
                <a:cxnLst/>
                <a:rect l="l" t="t" r="r" b="b"/>
                <a:pathLst>
                  <a:path w="14288" h="9525">
                    <a:moveTo>
                      <a:pt x="0" y="0"/>
                    </a:moveTo>
                    <a:lnTo>
                      <a:pt x="14288" y="0"/>
                    </a:lnTo>
                  </a:path>
                </a:pathLst>
              </a:custGeom>
              <a:noFill/>
              <a:ln w="14288">
                <a:solidFill>
                  <a:srgbClr val="B03A1F"/>
                </a:solidFill>
              </a:ln>
            </p:spPr>
          </p:sp>
          <p:sp>
            <p:nvSpPr>
              <p:cNvPr id="91" name="Freeform 91"/>
              <p:cNvSpPr/>
              <p:nvPr/>
            </p:nvSpPr>
            <p:spPr>
              <a:xfrm>
                <a:off x="6222206" y="2895600"/>
                <a:ext cx="71438" cy="9525"/>
              </a:xfrm>
              <a:custGeom>
                <a:avLst/>
                <a:gdLst/>
                <a:ahLst/>
                <a:cxnLst/>
                <a:rect l="l" t="t" r="r" b="b"/>
                <a:pathLst>
                  <a:path w="71438" h="9525">
                    <a:moveTo>
                      <a:pt x="0" y="0"/>
                    </a:moveTo>
                    <a:lnTo>
                      <a:pt x="71438" y="0"/>
                    </a:lnTo>
                  </a:path>
                </a:pathLst>
              </a:custGeom>
              <a:noFill/>
              <a:ln w="14288">
                <a:solidFill>
                  <a:srgbClr val="B03A1F"/>
                </a:solidFill>
              </a:ln>
            </p:spPr>
          </p:sp>
        </p:grpSp>
        <p:sp>
          <p:nvSpPr>
            <p:cNvPr id="93" name="TextBox 93"/>
            <p:cNvSpPr txBox="1"/>
            <p:nvPr/>
          </p:nvSpPr>
          <p:spPr>
            <a:xfrm>
              <a:off x="6415088" y="2831068"/>
              <a:ext cx="472618"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身份核验</a:t>
              </a:r>
            </a:p>
          </p:txBody>
        </p:sp>
        <p:grpSp>
          <p:nvGrpSpPr>
            <p:cNvPr id="99" name="Group 99"/>
            <p:cNvGrpSpPr/>
            <p:nvPr/>
          </p:nvGrpSpPr>
          <p:grpSpPr>
            <a:xfrm>
              <a:off x="6207919" y="3107531"/>
              <a:ext cx="100012" cy="128588"/>
              <a:chOff x="6207919" y="3107531"/>
              <a:chExt cx="100012" cy="128588"/>
            </a:xfrm>
          </p:grpSpPr>
          <p:sp>
            <p:nvSpPr>
              <p:cNvPr id="94" name="Freeform 94"/>
              <p:cNvSpPr/>
              <p:nvPr/>
            </p:nvSpPr>
            <p:spPr>
              <a:xfrm>
                <a:off x="6272212" y="310753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B03A1F"/>
                </a:solidFill>
              </a:ln>
            </p:spPr>
          </p:sp>
          <p:sp>
            <p:nvSpPr>
              <p:cNvPr id="95" name="Freeform 95"/>
              <p:cNvSpPr/>
              <p:nvPr/>
            </p:nvSpPr>
            <p:spPr>
              <a:xfrm>
                <a:off x="6207919" y="310753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B03A1F"/>
                </a:solidFill>
              </a:ln>
            </p:spPr>
          </p:sp>
          <p:sp>
            <p:nvSpPr>
              <p:cNvPr id="96" name="Freeform 96"/>
              <p:cNvSpPr/>
              <p:nvPr/>
            </p:nvSpPr>
            <p:spPr>
              <a:xfrm>
                <a:off x="6236494" y="3150394"/>
                <a:ext cx="9525" cy="9525"/>
              </a:xfrm>
              <a:custGeom>
                <a:avLst/>
                <a:gdLst/>
                <a:ahLst/>
                <a:cxnLst/>
                <a:rect l="l" t="t" r="r" b="b"/>
                <a:pathLst>
                  <a:path w="9525" h="9525">
                    <a:moveTo>
                      <a:pt x="0" y="0"/>
                    </a:moveTo>
                    <a:lnTo>
                      <a:pt x="7144" y="0"/>
                    </a:lnTo>
                  </a:path>
                </a:pathLst>
              </a:custGeom>
              <a:noFill/>
              <a:ln w="14288">
                <a:solidFill>
                  <a:srgbClr val="B03A1F"/>
                </a:solidFill>
              </a:ln>
            </p:spPr>
          </p:sp>
          <p:sp>
            <p:nvSpPr>
              <p:cNvPr id="97" name="Freeform 97"/>
              <p:cNvSpPr/>
              <p:nvPr/>
            </p:nvSpPr>
            <p:spPr>
              <a:xfrm>
                <a:off x="6236494" y="3178969"/>
                <a:ext cx="42862" cy="9525"/>
              </a:xfrm>
              <a:custGeom>
                <a:avLst/>
                <a:gdLst/>
                <a:ahLst/>
                <a:cxnLst/>
                <a:rect l="l" t="t" r="r" b="b"/>
                <a:pathLst>
                  <a:path w="42862" h="9525">
                    <a:moveTo>
                      <a:pt x="0" y="0"/>
                    </a:moveTo>
                    <a:lnTo>
                      <a:pt x="42862" y="0"/>
                    </a:lnTo>
                  </a:path>
                </a:pathLst>
              </a:custGeom>
              <a:noFill/>
              <a:ln w="14288">
                <a:solidFill>
                  <a:srgbClr val="B03A1F"/>
                </a:solidFill>
              </a:ln>
            </p:spPr>
          </p:sp>
          <p:sp>
            <p:nvSpPr>
              <p:cNvPr id="98" name="Freeform 98"/>
              <p:cNvSpPr/>
              <p:nvPr/>
            </p:nvSpPr>
            <p:spPr>
              <a:xfrm>
                <a:off x="6236494" y="3207544"/>
                <a:ext cx="42862" cy="9525"/>
              </a:xfrm>
              <a:custGeom>
                <a:avLst/>
                <a:gdLst/>
                <a:ahLst/>
                <a:cxnLst/>
                <a:rect l="l" t="t" r="r" b="b"/>
                <a:pathLst>
                  <a:path w="42862" h="9525">
                    <a:moveTo>
                      <a:pt x="0" y="0"/>
                    </a:moveTo>
                    <a:lnTo>
                      <a:pt x="42862" y="0"/>
                    </a:lnTo>
                  </a:path>
                </a:pathLst>
              </a:custGeom>
              <a:noFill/>
              <a:ln w="14288">
                <a:solidFill>
                  <a:srgbClr val="B03A1F"/>
                </a:solidFill>
              </a:ln>
            </p:spPr>
          </p:sp>
        </p:grpSp>
        <p:sp>
          <p:nvSpPr>
            <p:cNvPr id="100" name="TextBox 100"/>
            <p:cNvSpPr txBox="1"/>
            <p:nvPr/>
          </p:nvSpPr>
          <p:spPr>
            <a:xfrm>
              <a:off x="6415088" y="3135868"/>
              <a:ext cx="472618"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电子签署</a:t>
              </a:r>
            </a:p>
          </p:txBody>
        </p:sp>
      </p:grpSp>
      <p:grpSp>
        <p:nvGrpSpPr>
          <p:cNvPr id="131" name="card-ecny"/>
          <p:cNvGrpSpPr/>
          <p:nvPr/>
        </p:nvGrpSpPr>
        <p:grpSpPr>
          <a:xfrm>
            <a:off x="8143875" y="1885950"/>
            <a:ext cx="3667125" cy="1905000"/>
            <a:chOff x="8143875" y="1885950"/>
            <a:chExt cx="3667125" cy="1905000"/>
          </a:xfrm>
        </p:grpSpPr>
        <p:sp>
          <p:nvSpPr>
            <p:cNvPr id="102" name="Rectangle 102"/>
            <p:cNvSpPr/>
            <p:nvPr/>
          </p:nvSpPr>
          <p:spPr>
            <a:xfrm>
              <a:off x="8143875" y="1885950"/>
              <a:ext cx="3667125" cy="1905000"/>
            </a:xfrm>
            <a:prstGeom prst="roundRect">
              <a:avLst>
                <a:gd name="adj" fmla="val 5000"/>
              </a:avLst>
            </a:prstGeom>
            <a:solidFill>
              <a:srgbClr val="FFFFFF"/>
            </a:solidFill>
            <a:ln w="9525">
              <a:solidFill>
                <a:srgbClr val="E5E0DC"/>
              </a:solidFill>
            </a:ln>
          </p:spPr>
        </p:sp>
        <p:sp>
          <p:nvSpPr>
            <p:cNvPr id="103" name="Rectangle 103"/>
            <p:cNvSpPr/>
            <p:nvPr/>
          </p:nvSpPr>
          <p:spPr>
            <a:xfrm>
              <a:off x="8286750" y="2019300"/>
              <a:ext cx="876300" cy="1638300"/>
            </a:xfrm>
            <a:prstGeom prst="roundRect">
              <a:avLst>
                <a:gd name="adj" fmla="val 13043"/>
              </a:avLst>
            </a:prstGeom>
            <a:solidFill>
              <a:srgbClr val="FFFFFF"/>
            </a:solidFill>
            <a:ln w="14288">
              <a:solidFill>
                <a:srgbClr val="E5E0DC"/>
              </a:solidFill>
            </a:ln>
          </p:spPr>
        </p:sp>
        <p:sp>
          <p:nvSpPr>
            <p:cNvPr id="104" name="Rectangle 104"/>
            <p:cNvSpPr/>
            <p:nvPr/>
          </p:nvSpPr>
          <p:spPr>
            <a:xfrm>
              <a:off x="8343900" y="2076450"/>
              <a:ext cx="762000" cy="152400"/>
            </a:xfrm>
            <a:prstGeom prst="roundRect">
              <a:avLst>
                <a:gd name="adj" fmla="val 18750"/>
              </a:avLst>
            </a:prstGeom>
            <a:solidFill>
              <a:srgbClr val="B03A1F"/>
            </a:solidFill>
            <a:ln>
              <a:noFill/>
            </a:ln>
          </p:spPr>
        </p:sp>
        <p:sp>
          <p:nvSpPr>
            <p:cNvPr id="105" name="TextBox 105"/>
            <p:cNvSpPr txBox="1"/>
            <p:nvPr/>
          </p:nvSpPr>
          <p:spPr>
            <a:xfrm>
              <a:off x="8545132" y="2124551"/>
              <a:ext cx="359537" cy="104775"/>
            </a:xfrm>
            <a:prstGeom prst="rect">
              <a:avLst/>
            </a:prstGeom>
            <a:noFill/>
            <a:ln>
              <a:noFill/>
            </a:ln>
          </p:spPr>
          <p:txBody>
            <a:bodyPr wrap="none" lIns="0" tIns="0" rIns="0" bIns="0" anchor="t" anchorCtr="0">
              <a:spAutoFit/>
            </a:bodyPr>
            <a:lstStyle/>
            <a:p>
              <a:pPr algn="ctr"/>
              <a:r>
                <a:rPr lang="zh-CN" sz="520" dirty="0">
                  <a:solidFill>
                    <a:srgbClr val="FFFFFF"/>
                  </a:solidFill>
                  <a:latin typeface="+mn-lt"/>
                  <a:ea typeface="+mn-ea"/>
                  <a:cs typeface="+mn-cs"/>
                </a:rPr>
                <a:t>数字人民币</a:t>
              </a:r>
            </a:p>
          </p:txBody>
        </p:sp>
        <p:sp>
          <p:nvSpPr>
            <p:cNvPr id="106" name="TextBox 106"/>
            <p:cNvSpPr txBox="1"/>
            <p:nvPr/>
          </p:nvSpPr>
          <p:spPr>
            <a:xfrm>
              <a:off x="8457755" y="2376488"/>
              <a:ext cx="534291" cy="147638"/>
            </a:xfrm>
            <a:prstGeom prst="rect">
              <a:avLst/>
            </a:prstGeom>
            <a:noFill/>
            <a:ln>
              <a:noFill/>
            </a:ln>
          </p:spPr>
          <p:txBody>
            <a:bodyPr wrap="none" lIns="0" tIns="0" rIns="0" bIns="0" anchor="t" anchorCtr="0">
              <a:spAutoFit/>
            </a:bodyPr>
            <a:lstStyle/>
            <a:p>
              <a:pPr algn="ctr"/>
              <a:r>
                <a:rPr lang="zh-CN" sz="750" b="1" dirty="0">
                  <a:solidFill>
                    <a:srgbClr val="1E1E1E"/>
                  </a:solidFill>
                  <a:latin typeface="+mn-lt"/>
                  <a:ea typeface="+mn-ea"/>
                  <a:cs typeface="+mn-cs"/>
                </a:rPr>
                <a:t>¥2,888.00</a:t>
              </a:r>
            </a:p>
          </p:txBody>
        </p:sp>
        <p:sp>
          <p:nvSpPr>
            <p:cNvPr id="107" name="Rectangle 107"/>
            <p:cNvSpPr/>
            <p:nvPr/>
          </p:nvSpPr>
          <p:spPr>
            <a:xfrm>
              <a:off x="8420100" y="2590800"/>
              <a:ext cx="152400" cy="152400"/>
            </a:xfrm>
            <a:prstGeom prst="roundRect">
              <a:avLst>
                <a:gd name="adj" fmla="val 18750"/>
              </a:avLst>
            </a:prstGeom>
            <a:solidFill>
              <a:srgbClr val="F5F3F1"/>
            </a:solidFill>
            <a:ln w="9525">
              <a:solidFill>
                <a:srgbClr val="E5E0DC"/>
              </a:solidFill>
            </a:ln>
          </p:spPr>
        </p:sp>
        <p:sp>
          <p:nvSpPr>
            <p:cNvPr id="108" name="Rectangle 108"/>
            <p:cNvSpPr/>
            <p:nvPr/>
          </p:nvSpPr>
          <p:spPr>
            <a:xfrm>
              <a:off x="8648700" y="2590800"/>
              <a:ext cx="152400" cy="152400"/>
            </a:xfrm>
            <a:prstGeom prst="roundRect">
              <a:avLst>
                <a:gd name="adj" fmla="val 18750"/>
              </a:avLst>
            </a:prstGeom>
            <a:solidFill>
              <a:srgbClr val="F5F3F1"/>
            </a:solidFill>
            <a:ln w="9525">
              <a:solidFill>
                <a:srgbClr val="E5E0DC"/>
              </a:solidFill>
            </a:ln>
          </p:spPr>
        </p:sp>
        <p:sp>
          <p:nvSpPr>
            <p:cNvPr id="109" name="Rectangle 109"/>
            <p:cNvSpPr/>
            <p:nvPr/>
          </p:nvSpPr>
          <p:spPr>
            <a:xfrm>
              <a:off x="8420100" y="2819400"/>
              <a:ext cx="152400" cy="152400"/>
            </a:xfrm>
            <a:prstGeom prst="roundRect">
              <a:avLst>
                <a:gd name="adj" fmla="val 18750"/>
              </a:avLst>
            </a:prstGeom>
            <a:solidFill>
              <a:srgbClr val="F5F3F1"/>
            </a:solidFill>
            <a:ln w="9525">
              <a:solidFill>
                <a:srgbClr val="E5E0DC"/>
              </a:solidFill>
            </a:ln>
          </p:spPr>
        </p:sp>
        <p:sp>
          <p:nvSpPr>
            <p:cNvPr id="110" name="Rectangle 110"/>
            <p:cNvSpPr/>
            <p:nvPr/>
          </p:nvSpPr>
          <p:spPr>
            <a:xfrm>
              <a:off x="8648700" y="2819400"/>
              <a:ext cx="152400" cy="152400"/>
            </a:xfrm>
            <a:prstGeom prst="roundRect">
              <a:avLst>
                <a:gd name="adj" fmla="val 18750"/>
              </a:avLst>
            </a:prstGeom>
            <a:solidFill>
              <a:srgbClr val="F5F3F1"/>
            </a:solidFill>
            <a:ln w="9525">
              <a:solidFill>
                <a:srgbClr val="E5E0DC"/>
              </a:solidFill>
            </a:ln>
          </p:spPr>
        </p:sp>
        <p:sp>
          <p:nvSpPr>
            <p:cNvPr id="111" name="Rectangle 111"/>
            <p:cNvSpPr/>
            <p:nvPr/>
          </p:nvSpPr>
          <p:spPr>
            <a:xfrm>
              <a:off x="8420100" y="3086100"/>
              <a:ext cx="609600" cy="114300"/>
            </a:xfrm>
            <a:prstGeom prst="roundRect">
              <a:avLst>
                <a:gd name="adj" fmla="val 50000"/>
              </a:avLst>
            </a:prstGeom>
            <a:solidFill>
              <a:srgbClr val="B03A1F"/>
            </a:solidFill>
            <a:ln>
              <a:noFill/>
            </a:ln>
          </p:spPr>
        </p:sp>
        <p:sp>
          <p:nvSpPr>
            <p:cNvPr id="112" name="TextBox 112"/>
            <p:cNvSpPr txBox="1"/>
            <p:nvPr/>
          </p:nvSpPr>
          <p:spPr>
            <a:xfrm>
              <a:off x="9376791" y="2172652"/>
              <a:ext cx="1282827" cy="205359"/>
            </a:xfrm>
            <a:prstGeom prst="rect">
              <a:avLst/>
            </a:prstGeom>
            <a:noFill/>
            <a:ln>
              <a:noFill/>
            </a:ln>
          </p:spPr>
          <p:txBody>
            <a:bodyPr wrap="none" lIns="0" tIns="0" rIns="0" bIns="0" anchor="t" anchorCtr="0">
              <a:spAutoFit/>
            </a:bodyPr>
            <a:lstStyle/>
            <a:p>
              <a:pPr algn="l"/>
              <a:r>
                <a:rPr lang="zh-CN" sz="1050" b="1" dirty="0">
                  <a:solidFill>
                    <a:srgbClr val="B03A1F"/>
                  </a:solidFill>
                  <a:latin typeface="+mn-lt"/>
                  <a:ea typeface="+mn-ea"/>
                  <a:cs typeface="+mn-cs"/>
                </a:rPr>
                <a:t>数字人民币特色场景</a:t>
              </a:r>
            </a:p>
          </p:txBody>
        </p:sp>
        <p:sp>
          <p:nvSpPr>
            <p:cNvPr id="113" name="Freeform 113"/>
            <p:cNvSpPr/>
            <p:nvPr/>
          </p:nvSpPr>
          <p:spPr>
            <a:xfrm>
              <a:off x="9412414" y="2515653"/>
              <a:ext cx="110871" cy="133688"/>
            </a:xfrm>
            <a:custGeom>
              <a:avLst/>
              <a:gdLst/>
              <a:ahLst/>
              <a:cxnLst/>
              <a:rect l="l" t="t" r="r" b="b"/>
              <a:pathLst>
                <a:path w="110871" h="133688">
                  <a:moveTo>
                    <a:pt x="23303" y="118651"/>
                  </a:moveTo>
                  <a:cubicBezTo>
                    <a:pt x="41891" y="133688"/>
                    <a:pt x="68987" y="133688"/>
                    <a:pt x="87568" y="118651"/>
                  </a:cubicBezTo>
                  <a:cubicBezTo>
                    <a:pt x="106156" y="103613"/>
                    <a:pt x="110871" y="77874"/>
                    <a:pt x="98755" y="57600"/>
                  </a:cubicBezTo>
                  <a:lnTo>
                    <a:pt x="63822" y="5736"/>
                  </a:lnTo>
                  <a:cubicBezTo>
                    <a:pt x="60822" y="1272"/>
                    <a:pt x="54628" y="0"/>
                    <a:pt x="49992" y="2900"/>
                  </a:cubicBezTo>
                  <a:cubicBezTo>
                    <a:pt x="48828" y="3631"/>
                    <a:pt x="47830" y="4597"/>
                    <a:pt x="47063" y="5736"/>
                  </a:cubicBezTo>
                  <a:lnTo>
                    <a:pt x="12109" y="57600"/>
                  </a:lnTo>
                  <a:cubicBezTo>
                    <a:pt x="0" y="77874"/>
                    <a:pt x="4715" y="103613"/>
                    <a:pt x="23303" y="118651"/>
                  </a:cubicBezTo>
                </a:path>
              </a:pathLst>
            </a:custGeom>
            <a:noFill/>
            <a:ln w="14288">
              <a:solidFill>
                <a:srgbClr val="B03A1F"/>
              </a:solidFill>
            </a:ln>
          </p:spPr>
        </p:sp>
        <p:sp>
          <p:nvSpPr>
            <p:cNvPr id="114" name="TextBox 114"/>
            <p:cNvSpPr txBox="1"/>
            <p:nvPr/>
          </p:nvSpPr>
          <p:spPr>
            <a:xfrm>
              <a:off x="9625012" y="2541270"/>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民生缴费</a:t>
              </a:r>
            </a:p>
          </p:txBody>
        </p:sp>
        <p:grpSp>
          <p:nvGrpSpPr>
            <p:cNvPr id="119" name="Group 119"/>
            <p:cNvGrpSpPr/>
            <p:nvPr/>
          </p:nvGrpSpPr>
          <p:grpSpPr>
            <a:xfrm>
              <a:off x="9410700" y="2821781"/>
              <a:ext cx="114300" cy="128588"/>
              <a:chOff x="9410700" y="2821781"/>
              <a:chExt cx="114300" cy="128588"/>
            </a:xfrm>
          </p:grpSpPr>
          <p:sp>
            <p:nvSpPr>
              <p:cNvPr id="115" name="Freeform 115"/>
              <p:cNvSpPr/>
              <p:nvPr/>
            </p:nvSpPr>
            <p:spPr>
              <a:xfrm>
                <a:off x="9410700" y="29217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B03A1F"/>
                </a:solidFill>
              </a:ln>
            </p:spPr>
          </p:sp>
          <p:sp>
            <p:nvSpPr>
              <p:cNvPr id="116" name="Freeform 116"/>
              <p:cNvSpPr/>
              <p:nvPr/>
            </p:nvSpPr>
            <p:spPr>
              <a:xfrm>
                <a:off x="9489281" y="29217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B03A1F"/>
                </a:solidFill>
              </a:ln>
            </p:spPr>
          </p:sp>
          <p:sp>
            <p:nvSpPr>
              <p:cNvPr id="117" name="Freeform 117"/>
              <p:cNvSpPr/>
              <p:nvPr/>
            </p:nvSpPr>
            <p:spPr>
              <a:xfrm>
                <a:off x="9410700" y="2821781"/>
                <a:ext cx="92869" cy="100012"/>
              </a:xfrm>
              <a:custGeom>
                <a:avLst/>
                <a:gdLst/>
                <a:ahLst/>
                <a:cxnLst/>
                <a:rect l="l" t="t" r="r" b="b"/>
                <a:pathLst>
                  <a:path w="92869" h="100012">
                    <a:moveTo>
                      <a:pt x="92869" y="100012"/>
                    </a:moveTo>
                    <a:lnTo>
                      <a:pt x="14288" y="100012"/>
                    </a:lnTo>
                    <a:lnTo>
                      <a:pt x="14288" y="0"/>
                    </a:lnTo>
                    <a:lnTo>
                      <a:pt x="0" y="0"/>
                    </a:lnTo>
                  </a:path>
                </a:pathLst>
              </a:custGeom>
              <a:noFill/>
              <a:ln w="14288">
                <a:solidFill>
                  <a:srgbClr val="B03A1F"/>
                </a:solidFill>
              </a:ln>
            </p:spPr>
          </p:sp>
          <p:sp>
            <p:nvSpPr>
              <p:cNvPr id="118" name="Freeform 118"/>
              <p:cNvSpPr/>
              <p:nvPr/>
            </p:nvSpPr>
            <p:spPr>
              <a:xfrm>
                <a:off x="9424988" y="2836069"/>
                <a:ext cx="100012" cy="57150"/>
              </a:xfrm>
              <a:custGeom>
                <a:avLst/>
                <a:gdLst/>
                <a:ahLst/>
                <a:cxnLst/>
                <a:rect l="l" t="t" r="r" b="b"/>
                <a:pathLst>
                  <a:path w="100012" h="57150">
                    <a:moveTo>
                      <a:pt x="0" y="0"/>
                    </a:moveTo>
                    <a:lnTo>
                      <a:pt x="100012" y="7144"/>
                    </a:lnTo>
                    <a:lnTo>
                      <a:pt x="92869" y="57150"/>
                    </a:lnTo>
                    <a:lnTo>
                      <a:pt x="0" y="57150"/>
                    </a:lnTo>
                  </a:path>
                </a:pathLst>
              </a:custGeom>
              <a:noFill/>
              <a:ln w="14288">
                <a:solidFill>
                  <a:srgbClr val="B03A1F"/>
                </a:solidFill>
              </a:ln>
            </p:spPr>
          </p:sp>
        </p:grpSp>
        <p:sp>
          <p:nvSpPr>
            <p:cNvPr id="120" name="TextBox 120"/>
            <p:cNvSpPr txBox="1"/>
            <p:nvPr/>
          </p:nvSpPr>
          <p:spPr>
            <a:xfrm>
              <a:off x="9625012" y="2846070"/>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商圈消费</a:t>
              </a:r>
            </a:p>
          </p:txBody>
        </p:sp>
        <p:grpSp>
          <p:nvGrpSpPr>
            <p:cNvPr id="129" name="Group 129"/>
            <p:cNvGrpSpPr/>
            <p:nvPr/>
          </p:nvGrpSpPr>
          <p:grpSpPr>
            <a:xfrm>
              <a:off x="9403556" y="3126581"/>
              <a:ext cx="128588" cy="138113"/>
              <a:chOff x="9403556" y="3126581"/>
              <a:chExt cx="128588" cy="138113"/>
            </a:xfrm>
          </p:grpSpPr>
          <p:sp>
            <p:nvSpPr>
              <p:cNvPr id="121" name="Freeform 121"/>
              <p:cNvSpPr/>
              <p:nvPr/>
            </p:nvSpPr>
            <p:spPr>
              <a:xfrm>
                <a:off x="9403556" y="3255169"/>
                <a:ext cx="128588" cy="9525"/>
              </a:xfrm>
              <a:custGeom>
                <a:avLst/>
                <a:gdLst/>
                <a:ahLst/>
                <a:cxnLst/>
                <a:rect l="l" t="t" r="r" b="b"/>
                <a:pathLst>
                  <a:path w="128588" h="9525">
                    <a:moveTo>
                      <a:pt x="0" y="0"/>
                    </a:moveTo>
                    <a:lnTo>
                      <a:pt x="128588" y="0"/>
                    </a:lnTo>
                  </a:path>
                </a:pathLst>
              </a:custGeom>
              <a:noFill/>
              <a:ln w="14288">
                <a:solidFill>
                  <a:srgbClr val="B03A1F"/>
                </a:solidFill>
              </a:ln>
            </p:spPr>
          </p:sp>
          <p:sp>
            <p:nvSpPr>
              <p:cNvPr id="122" name="Freeform 122"/>
              <p:cNvSpPr/>
              <p:nvPr/>
            </p:nvSpPr>
            <p:spPr>
              <a:xfrm>
                <a:off x="9446419" y="3162300"/>
                <a:ext cx="9525" cy="9525"/>
              </a:xfrm>
              <a:custGeom>
                <a:avLst/>
                <a:gdLst/>
                <a:ahLst/>
                <a:cxnLst/>
                <a:rect l="l" t="t" r="r" b="b"/>
                <a:pathLst>
                  <a:path w="9525" h="9525">
                    <a:moveTo>
                      <a:pt x="0" y="0"/>
                    </a:moveTo>
                    <a:lnTo>
                      <a:pt x="7144" y="0"/>
                    </a:lnTo>
                  </a:path>
                </a:pathLst>
              </a:custGeom>
              <a:noFill/>
              <a:ln w="14288">
                <a:solidFill>
                  <a:srgbClr val="B03A1F"/>
                </a:solidFill>
              </a:ln>
            </p:spPr>
          </p:sp>
          <p:sp>
            <p:nvSpPr>
              <p:cNvPr id="123" name="Freeform 123"/>
              <p:cNvSpPr/>
              <p:nvPr/>
            </p:nvSpPr>
            <p:spPr>
              <a:xfrm>
                <a:off x="9446419" y="3190875"/>
                <a:ext cx="9525" cy="9525"/>
              </a:xfrm>
              <a:custGeom>
                <a:avLst/>
                <a:gdLst/>
                <a:ahLst/>
                <a:cxnLst/>
                <a:rect l="l" t="t" r="r" b="b"/>
                <a:pathLst>
                  <a:path w="9525" h="9525">
                    <a:moveTo>
                      <a:pt x="0" y="0"/>
                    </a:moveTo>
                    <a:lnTo>
                      <a:pt x="7144" y="0"/>
                    </a:lnTo>
                  </a:path>
                </a:pathLst>
              </a:custGeom>
              <a:noFill/>
              <a:ln w="14288">
                <a:solidFill>
                  <a:srgbClr val="B03A1F"/>
                </a:solidFill>
              </a:ln>
            </p:spPr>
          </p:sp>
          <p:sp>
            <p:nvSpPr>
              <p:cNvPr id="124" name="Freeform 124"/>
              <p:cNvSpPr/>
              <p:nvPr/>
            </p:nvSpPr>
            <p:spPr>
              <a:xfrm>
                <a:off x="9446419" y="3219450"/>
                <a:ext cx="9525" cy="9525"/>
              </a:xfrm>
              <a:custGeom>
                <a:avLst/>
                <a:gdLst/>
                <a:ahLst/>
                <a:cxnLst/>
                <a:rect l="l" t="t" r="r" b="b"/>
                <a:pathLst>
                  <a:path w="9525" h="9525">
                    <a:moveTo>
                      <a:pt x="0" y="0"/>
                    </a:moveTo>
                    <a:lnTo>
                      <a:pt x="7144" y="0"/>
                    </a:lnTo>
                  </a:path>
                </a:pathLst>
              </a:custGeom>
              <a:noFill/>
              <a:ln w="14288">
                <a:solidFill>
                  <a:srgbClr val="B03A1F"/>
                </a:solidFill>
              </a:ln>
            </p:spPr>
          </p:sp>
          <p:sp>
            <p:nvSpPr>
              <p:cNvPr id="125" name="Freeform 125"/>
              <p:cNvSpPr/>
              <p:nvPr/>
            </p:nvSpPr>
            <p:spPr>
              <a:xfrm>
                <a:off x="9482138" y="3162300"/>
                <a:ext cx="9525" cy="9525"/>
              </a:xfrm>
              <a:custGeom>
                <a:avLst/>
                <a:gdLst/>
                <a:ahLst/>
                <a:cxnLst/>
                <a:rect l="l" t="t" r="r" b="b"/>
                <a:pathLst>
                  <a:path w="9525" h="9525">
                    <a:moveTo>
                      <a:pt x="0" y="0"/>
                    </a:moveTo>
                    <a:lnTo>
                      <a:pt x="7144" y="0"/>
                    </a:lnTo>
                  </a:path>
                </a:pathLst>
              </a:custGeom>
              <a:noFill/>
              <a:ln w="14288">
                <a:solidFill>
                  <a:srgbClr val="B03A1F"/>
                </a:solidFill>
              </a:ln>
            </p:spPr>
          </p:sp>
          <p:sp>
            <p:nvSpPr>
              <p:cNvPr id="126" name="Freeform 126"/>
              <p:cNvSpPr/>
              <p:nvPr/>
            </p:nvSpPr>
            <p:spPr>
              <a:xfrm>
                <a:off x="9482138" y="3190875"/>
                <a:ext cx="9525" cy="9525"/>
              </a:xfrm>
              <a:custGeom>
                <a:avLst/>
                <a:gdLst/>
                <a:ahLst/>
                <a:cxnLst/>
                <a:rect l="l" t="t" r="r" b="b"/>
                <a:pathLst>
                  <a:path w="9525" h="9525">
                    <a:moveTo>
                      <a:pt x="0" y="0"/>
                    </a:moveTo>
                    <a:lnTo>
                      <a:pt x="7144" y="0"/>
                    </a:lnTo>
                  </a:path>
                </a:pathLst>
              </a:custGeom>
              <a:noFill/>
              <a:ln w="14288">
                <a:solidFill>
                  <a:srgbClr val="B03A1F"/>
                </a:solidFill>
              </a:ln>
            </p:spPr>
          </p:sp>
          <p:sp>
            <p:nvSpPr>
              <p:cNvPr id="127" name="Freeform 127"/>
              <p:cNvSpPr/>
              <p:nvPr/>
            </p:nvSpPr>
            <p:spPr>
              <a:xfrm>
                <a:off x="9482138" y="3219450"/>
                <a:ext cx="9525" cy="9525"/>
              </a:xfrm>
              <a:custGeom>
                <a:avLst/>
                <a:gdLst/>
                <a:ahLst/>
                <a:cxnLst/>
                <a:rect l="l" t="t" r="r" b="b"/>
                <a:pathLst>
                  <a:path w="9525" h="9525">
                    <a:moveTo>
                      <a:pt x="0" y="0"/>
                    </a:moveTo>
                    <a:lnTo>
                      <a:pt x="7144" y="0"/>
                    </a:lnTo>
                  </a:path>
                </a:pathLst>
              </a:custGeom>
              <a:noFill/>
              <a:ln w="14288">
                <a:solidFill>
                  <a:srgbClr val="B03A1F"/>
                </a:solidFill>
              </a:ln>
            </p:spPr>
          </p:sp>
          <p:sp>
            <p:nvSpPr>
              <p:cNvPr id="128" name="Freeform 128"/>
              <p:cNvSpPr/>
              <p:nvPr/>
            </p:nvSpPr>
            <p:spPr>
              <a:xfrm>
                <a:off x="9417844" y="3126581"/>
                <a:ext cx="100012" cy="128588"/>
              </a:xfrm>
              <a:custGeom>
                <a:avLst/>
                <a:gdLst/>
                <a:ahLst/>
                <a:cxnLst/>
                <a:rect l="l" t="t" r="r" b="b"/>
                <a:pathLst>
                  <a:path w="100012" h="128588">
                    <a:moveTo>
                      <a:pt x="0" y="128588"/>
                    </a:moveTo>
                    <a:lnTo>
                      <a:pt x="0" y="14288"/>
                    </a:lnTo>
                    <a:cubicBezTo>
                      <a:pt x="0" y="6397"/>
                      <a:pt x="6397" y="0"/>
                      <a:pt x="14288" y="0"/>
                    </a:cubicBezTo>
                    <a:lnTo>
                      <a:pt x="85725" y="0"/>
                    </a:lnTo>
                    <a:cubicBezTo>
                      <a:pt x="93616" y="0"/>
                      <a:pt x="100012" y="6397"/>
                      <a:pt x="100012" y="14288"/>
                    </a:cubicBezTo>
                    <a:lnTo>
                      <a:pt x="100012" y="128588"/>
                    </a:lnTo>
                  </a:path>
                </a:pathLst>
              </a:custGeom>
              <a:noFill/>
              <a:ln w="14288">
                <a:solidFill>
                  <a:srgbClr val="B03A1F"/>
                </a:solidFill>
              </a:ln>
            </p:spPr>
          </p:sp>
        </p:grpSp>
        <p:sp>
          <p:nvSpPr>
            <p:cNvPr id="130" name="TextBox 130"/>
            <p:cNvSpPr txBox="1"/>
            <p:nvPr/>
          </p:nvSpPr>
          <p:spPr>
            <a:xfrm>
              <a:off x="9625012" y="3150870"/>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园区服务</a:t>
              </a:r>
            </a:p>
          </p:txBody>
        </p:sp>
      </p:grpSp>
      <p:grpSp>
        <p:nvGrpSpPr>
          <p:cNvPr id="139" name="result-strip-1"/>
          <p:cNvGrpSpPr/>
          <p:nvPr/>
        </p:nvGrpSpPr>
        <p:grpSpPr>
          <a:xfrm>
            <a:off x="381000" y="3924300"/>
            <a:ext cx="3667125" cy="323850"/>
            <a:chOff x="381000" y="3924300"/>
            <a:chExt cx="3667125" cy="323850"/>
          </a:xfrm>
        </p:grpSpPr>
        <p:sp>
          <p:nvSpPr>
            <p:cNvPr id="132" name="Rectangle 132"/>
            <p:cNvSpPr/>
            <p:nvPr/>
          </p:nvSpPr>
          <p:spPr>
            <a:xfrm>
              <a:off x="381000" y="3924300"/>
              <a:ext cx="3667125" cy="323850"/>
            </a:xfrm>
            <a:prstGeom prst="roundRect">
              <a:avLst>
                <a:gd name="adj" fmla="val 17647"/>
              </a:avLst>
            </a:prstGeom>
            <a:solidFill>
              <a:srgbClr val="FBEFEF"/>
            </a:solidFill>
            <a:ln>
              <a:noFill/>
            </a:ln>
          </p:spPr>
        </p:sp>
        <p:grpSp>
          <p:nvGrpSpPr>
            <p:cNvPr id="137" name="Group 137"/>
            <p:cNvGrpSpPr/>
            <p:nvPr/>
          </p:nvGrpSpPr>
          <p:grpSpPr>
            <a:xfrm>
              <a:off x="1307306" y="4021931"/>
              <a:ext cx="128588" cy="128588"/>
              <a:chOff x="1307306" y="4021931"/>
              <a:chExt cx="128588" cy="128588"/>
            </a:xfrm>
          </p:grpSpPr>
          <p:sp>
            <p:nvSpPr>
              <p:cNvPr id="133" name="Freeform 133"/>
              <p:cNvSpPr/>
              <p:nvPr/>
            </p:nvSpPr>
            <p:spPr>
              <a:xfrm>
                <a:off x="1321594" y="40219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B03A1F"/>
                </a:solidFill>
              </a:ln>
            </p:spPr>
          </p:sp>
          <p:sp>
            <p:nvSpPr>
              <p:cNvPr id="134" name="Freeform 134"/>
              <p:cNvSpPr/>
              <p:nvPr/>
            </p:nvSpPr>
            <p:spPr>
              <a:xfrm>
                <a:off x="1307306" y="41076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B03A1F"/>
                </a:solidFill>
              </a:ln>
            </p:spPr>
          </p:sp>
          <p:sp>
            <p:nvSpPr>
              <p:cNvPr id="135" name="Freeform 135"/>
              <p:cNvSpPr/>
              <p:nvPr/>
            </p:nvSpPr>
            <p:spPr>
              <a:xfrm>
                <a:off x="1400175" y="40228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B03A1F"/>
                </a:solidFill>
              </a:ln>
            </p:spPr>
          </p:sp>
          <p:sp>
            <p:nvSpPr>
              <p:cNvPr id="136" name="Freeform 136"/>
              <p:cNvSpPr/>
              <p:nvPr/>
            </p:nvSpPr>
            <p:spPr>
              <a:xfrm>
                <a:off x="1414463" y="41087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B03A1F"/>
                </a:solidFill>
              </a:ln>
            </p:spPr>
          </p:sp>
        </p:grpSp>
        <p:sp>
          <p:nvSpPr>
            <p:cNvPr id="138" name="TextBox 138"/>
            <p:cNvSpPr txBox="1"/>
            <p:nvPr/>
          </p:nvSpPr>
          <p:spPr>
            <a:xfrm>
              <a:off x="1528762" y="4032647"/>
              <a:ext cx="1654581"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客户获得专属投资建议与方案</a:t>
              </a:r>
            </a:p>
          </p:txBody>
        </p:sp>
      </p:grpSp>
      <p:grpSp>
        <p:nvGrpSpPr>
          <p:cNvPr id="147" name="result-strip-2"/>
          <p:cNvGrpSpPr/>
          <p:nvPr/>
        </p:nvGrpSpPr>
        <p:grpSpPr>
          <a:xfrm>
            <a:off x="4257675" y="3924300"/>
            <a:ext cx="3667125" cy="323850"/>
            <a:chOff x="4257675" y="3924300"/>
            <a:chExt cx="3667125" cy="323850"/>
          </a:xfrm>
        </p:grpSpPr>
        <p:sp>
          <p:nvSpPr>
            <p:cNvPr id="140" name="Rectangle 140"/>
            <p:cNvSpPr/>
            <p:nvPr/>
          </p:nvSpPr>
          <p:spPr>
            <a:xfrm>
              <a:off x="4257675" y="3924300"/>
              <a:ext cx="3667125" cy="323850"/>
            </a:xfrm>
            <a:prstGeom prst="roundRect">
              <a:avLst>
                <a:gd name="adj" fmla="val 17647"/>
              </a:avLst>
            </a:prstGeom>
            <a:solidFill>
              <a:srgbClr val="FBEFEF"/>
            </a:solidFill>
            <a:ln>
              <a:noFill/>
            </a:ln>
          </p:spPr>
        </p:sp>
        <p:grpSp>
          <p:nvGrpSpPr>
            <p:cNvPr id="145" name="Group 145"/>
            <p:cNvGrpSpPr/>
            <p:nvPr/>
          </p:nvGrpSpPr>
          <p:grpSpPr>
            <a:xfrm>
              <a:off x="5183981" y="4021931"/>
              <a:ext cx="128588" cy="128588"/>
              <a:chOff x="5183981" y="4021931"/>
              <a:chExt cx="128588" cy="128588"/>
            </a:xfrm>
          </p:grpSpPr>
          <p:sp>
            <p:nvSpPr>
              <p:cNvPr id="141" name="Freeform 141"/>
              <p:cNvSpPr/>
              <p:nvPr/>
            </p:nvSpPr>
            <p:spPr>
              <a:xfrm>
                <a:off x="5198269" y="40219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B03A1F"/>
                </a:solidFill>
              </a:ln>
            </p:spPr>
          </p:sp>
          <p:sp>
            <p:nvSpPr>
              <p:cNvPr id="142" name="Freeform 142"/>
              <p:cNvSpPr/>
              <p:nvPr/>
            </p:nvSpPr>
            <p:spPr>
              <a:xfrm>
                <a:off x="5183981" y="41076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B03A1F"/>
                </a:solidFill>
              </a:ln>
            </p:spPr>
          </p:sp>
          <p:sp>
            <p:nvSpPr>
              <p:cNvPr id="143" name="Freeform 143"/>
              <p:cNvSpPr/>
              <p:nvPr/>
            </p:nvSpPr>
            <p:spPr>
              <a:xfrm>
                <a:off x="5276850" y="40228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B03A1F"/>
                </a:solidFill>
              </a:ln>
            </p:spPr>
          </p:sp>
          <p:sp>
            <p:nvSpPr>
              <p:cNvPr id="144" name="Freeform 144"/>
              <p:cNvSpPr/>
              <p:nvPr/>
            </p:nvSpPr>
            <p:spPr>
              <a:xfrm>
                <a:off x="5291138" y="41087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B03A1F"/>
                </a:solidFill>
              </a:ln>
            </p:spPr>
          </p:sp>
        </p:grpSp>
        <p:sp>
          <p:nvSpPr>
            <p:cNvPr id="146" name="TextBox 146"/>
            <p:cNvSpPr txBox="1"/>
            <p:nvPr/>
          </p:nvSpPr>
          <p:spPr>
            <a:xfrm>
              <a:off x="5405438" y="4032647"/>
              <a:ext cx="1654581"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客户远程完成业务办理与签署</a:t>
              </a:r>
            </a:p>
          </p:txBody>
        </p:sp>
      </p:grpSp>
      <p:grpSp>
        <p:nvGrpSpPr>
          <p:cNvPr id="155" name="result-strip-3"/>
          <p:cNvGrpSpPr/>
          <p:nvPr/>
        </p:nvGrpSpPr>
        <p:grpSpPr>
          <a:xfrm>
            <a:off x="8143875" y="3924300"/>
            <a:ext cx="3667125" cy="323850"/>
            <a:chOff x="8143875" y="3924300"/>
            <a:chExt cx="3667125" cy="323850"/>
          </a:xfrm>
        </p:grpSpPr>
        <p:sp>
          <p:nvSpPr>
            <p:cNvPr id="148" name="Rectangle 148"/>
            <p:cNvSpPr/>
            <p:nvPr/>
          </p:nvSpPr>
          <p:spPr>
            <a:xfrm>
              <a:off x="8143875" y="3924300"/>
              <a:ext cx="3667125" cy="323850"/>
            </a:xfrm>
            <a:prstGeom prst="roundRect">
              <a:avLst>
                <a:gd name="adj" fmla="val 17647"/>
              </a:avLst>
            </a:prstGeom>
            <a:solidFill>
              <a:srgbClr val="FBEFEF"/>
            </a:solidFill>
            <a:ln>
              <a:noFill/>
            </a:ln>
          </p:spPr>
        </p:sp>
        <p:grpSp>
          <p:nvGrpSpPr>
            <p:cNvPr id="153" name="Group 153"/>
            <p:cNvGrpSpPr/>
            <p:nvPr/>
          </p:nvGrpSpPr>
          <p:grpSpPr>
            <a:xfrm>
              <a:off x="9127331" y="4021931"/>
              <a:ext cx="128588" cy="128588"/>
              <a:chOff x="9127331" y="4021931"/>
              <a:chExt cx="128588" cy="128588"/>
            </a:xfrm>
          </p:grpSpPr>
          <p:sp>
            <p:nvSpPr>
              <p:cNvPr id="149" name="Freeform 149"/>
              <p:cNvSpPr/>
              <p:nvPr/>
            </p:nvSpPr>
            <p:spPr>
              <a:xfrm>
                <a:off x="9141619" y="40219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B03A1F"/>
                </a:solidFill>
              </a:ln>
            </p:spPr>
          </p:sp>
          <p:sp>
            <p:nvSpPr>
              <p:cNvPr id="150" name="Freeform 150"/>
              <p:cNvSpPr/>
              <p:nvPr/>
            </p:nvSpPr>
            <p:spPr>
              <a:xfrm>
                <a:off x="9127331" y="41076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B03A1F"/>
                </a:solidFill>
              </a:ln>
            </p:spPr>
          </p:sp>
          <p:sp>
            <p:nvSpPr>
              <p:cNvPr id="151" name="Freeform 151"/>
              <p:cNvSpPr/>
              <p:nvPr/>
            </p:nvSpPr>
            <p:spPr>
              <a:xfrm>
                <a:off x="9220200" y="40228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B03A1F"/>
                </a:solidFill>
              </a:ln>
            </p:spPr>
          </p:sp>
          <p:sp>
            <p:nvSpPr>
              <p:cNvPr id="152" name="Freeform 152"/>
              <p:cNvSpPr/>
              <p:nvPr/>
            </p:nvSpPr>
            <p:spPr>
              <a:xfrm>
                <a:off x="9234488" y="41087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B03A1F"/>
                </a:solidFill>
              </a:ln>
            </p:spPr>
          </p:sp>
        </p:grpSp>
        <p:sp>
          <p:nvSpPr>
            <p:cNvPr id="154" name="TextBox 154"/>
            <p:cNvSpPr txBox="1"/>
            <p:nvPr/>
          </p:nvSpPr>
          <p:spPr>
            <a:xfrm>
              <a:off x="9348788" y="4032647"/>
              <a:ext cx="1528039" cy="183356"/>
            </a:xfrm>
            <a:prstGeom prst="rect">
              <a:avLst/>
            </a:prstGeom>
            <a:noFill/>
            <a:ln>
              <a:noFill/>
            </a:ln>
          </p:spPr>
          <p:txBody>
            <a:bodyPr wrap="none" lIns="0" tIns="0" rIns="0" bIns="0" anchor="t" anchorCtr="0">
              <a:spAutoFit/>
            </a:bodyPr>
            <a:lstStyle/>
            <a:p>
              <a:pPr algn="l"/>
              <a:r>
                <a:rPr lang="zh-CN" sz="940" b="1" dirty="0">
                  <a:solidFill>
                    <a:srgbClr val="B03A1F"/>
                  </a:solidFill>
                  <a:latin typeface="+mn-lt"/>
                  <a:ea typeface="+mn-ea"/>
                  <a:cs typeface="+mn-cs"/>
                </a:rPr>
                <a:t>客户在多元场景中便捷使用</a:t>
              </a:r>
            </a:p>
          </p:txBody>
        </p:sp>
      </p:grpSp>
      <p:grpSp>
        <p:nvGrpSpPr>
          <p:cNvPr id="164" name="gov-banner"/>
          <p:cNvGrpSpPr/>
          <p:nvPr/>
        </p:nvGrpSpPr>
        <p:grpSpPr>
          <a:xfrm>
            <a:off x="4000500" y="4457700"/>
            <a:ext cx="4191000" cy="304800"/>
            <a:chOff x="4000500" y="4457700"/>
            <a:chExt cx="4191000" cy="304800"/>
          </a:xfrm>
        </p:grpSpPr>
        <p:sp>
          <p:nvSpPr>
            <p:cNvPr id="156" name="Line 156"/>
            <p:cNvSpPr/>
            <p:nvPr/>
          </p:nvSpPr>
          <p:spPr>
            <a:xfrm>
              <a:off x="4000500" y="4610100"/>
              <a:ext cx="1028700" cy="9525"/>
            </a:xfrm>
            <a:custGeom>
              <a:avLst/>
              <a:gdLst/>
              <a:ahLst/>
              <a:cxnLst/>
              <a:rect l="l" t="t" r="r" b="b"/>
              <a:pathLst>
                <a:path w="1028700" h="9525">
                  <a:moveTo>
                    <a:pt x="0" y="0"/>
                  </a:moveTo>
                  <a:lnTo>
                    <a:pt x="1028700" y="0"/>
                  </a:lnTo>
                </a:path>
              </a:pathLst>
            </a:custGeom>
            <a:noFill/>
            <a:ln w="14288">
              <a:solidFill>
                <a:srgbClr val="E8C0B7"/>
              </a:solidFill>
            </a:ln>
          </p:spPr>
        </p:sp>
        <p:sp>
          <p:nvSpPr>
            <p:cNvPr id="157" name="Ellipse 157"/>
            <p:cNvSpPr/>
            <p:nvPr/>
          </p:nvSpPr>
          <p:spPr>
            <a:xfrm>
              <a:off x="4014788" y="4586288"/>
              <a:ext cx="47625" cy="47625"/>
            </a:xfrm>
            <a:prstGeom prst="ellipse">
              <a:avLst/>
            </a:prstGeom>
            <a:solidFill>
              <a:srgbClr val="B03A1F"/>
            </a:solidFill>
            <a:ln>
              <a:noFill/>
            </a:ln>
          </p:spPr>
        </p:sp>
        <p:sp>
          <p:nvSpPr>
            <p:cNvPr id="158" name="Ellipse 158"/>
            <p:cNvSpPr/>
            <p:nvPr/>
          </p:nvSpPr>
          <p:spPr>
            <a:xfrm>
              <a:off x="4967288" y="4586288"/>
              <a:ext cx="47625" cy="47625"/>
            </a:xfrm>
            <a:prstGeom prst="ellipse">
              <a:avLst/>
            </a:prstGeom>
            <a:solidFill>
              <a:srgbClr val="B03A1F"/>
            </a:solidFill>
            <a:ln>
              <a:noFill/>
            </a:ln>
          </p:spPr>
        </p:sp>
        <p:sp>
          <p:nvSpPr>
            <p:cNvPr id="159" name="Freeform 159"/>
            <p:cNvSpPr/>
            <p:nvPr/>
          </p:nvSpPr>
          <p:spPr>
            <a:xfrm>
              <a:off x="5143500" y="4457700"/>
              <a:ext cx="1905000" cy="304800"/>
            </a:xfrm>
            <a:prstGeom prst="homePlate">
              <a:avLst/>
            </a:prstGeom>
            <a:solidFill>
              <a:srgbClr val="B03A1F"/>
            </a:solidFill>
            <a:ln>
              <a:noFill/>
            </a:ln>
          </p:spPr>
        </p:sp>
        <p:sp>
          <p:nvSpPr>
            <p:cNvPr id="160" name="TextBox 160"/>
            <p:cNvSpPr txBox="1"/>
            <p:nvPr/>
          </p:nvSpPr>
          <p:spPr>
            <a:xfrm>
              <a:off x="5372926" y="4557951"/>
              <a:ext cx="1369949"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全流程治理与风控护航</a:t>
              </a:r>
            </a:p>
          </p:txBody>
        </p:sp>
        <p:sp>
          <p:nvSpPr>
            <p:cNvPr id="161" name="Line 161"/>
            <p:cNvSpPr/>
            <p:nvPr/>
          </p:nvSpPr>
          <p:spPr>
            <a:xfrm>
              <a:off x="7162800" y="4610100"/>
              <a:ext cx="1028700" cy="9525"/>
            </a:xfrm>
            <a:custGeom>
              <a:avLst/>
              <a:gdLst/>
              <a:ahLst/>
              <a:cxnLst/>
              <a:rect l="l" t="t" r="r" b="b"/>
              <a:pathLst>
                <a:path w="1028700" h="9525">
                  <a:moveTo>
                    <a:pt x="0" y="0"/>
                  </a:moveTo>
                  <a:lnTo>
                    <a:pt x="1028700" y="0"/>
                  </a:lnTo>
                </a:path>
              </a:pathLst>
            </a:custGeom>
            <a:noFill/>
            <a:ln w="14288">
              <a:solidFill>
                <a:srgbClr val="E8C0B7"/>
              </a:solidFill>
            </a:ln>
          </p:spPr>
        </p:sp>
        <p:sp>
          <p:nvSpPr>
            <p:cNvPr id="162" name="Ellipse 162"/>
            <p:cNvSpPr/>
            <p:nvPr/>
          </p:nvSpPr>
          <p:spPr>
            <a:xfrm>
              <a:off x="7177088" y="4586288"/>
              <a:ext cx="47625" cy="47625"/>
            </a:xfrm>
            <a:prstGeom prst="ellipse">
              <a:avLst/>
            </a:prstGeom>
            <a:solidFill>
              <a:srgbClr val="B03A1F"/>
            </a:solidFill>
            <a:ln>
              <a:noFill/>
            </a:ln>
          </p:spPr>
        </p:sp>
        <p:sp>
          <p:nvSpPr>
            <p:cNvPr id="163" name="Ellipse 163"/>
            <p:cNvSpPr/>
            <p:nvPr/>
          </p:nvSpPr>
          <p:spPr>
            <a:xfrm>
              <a:off x="8129588" y="4586288"/>
              <a:ext cx="47625" cy="47625"/>
            </a:xfrm>
            <a:prstGeom prst="ellipse">
              <a:avLst/>
            </a:prstGeom>
            <a:solidFill>
              <a:srgbClr val="B03A1F"/>
            </a:solidFill>
            <a:ln>
              <a:noFill/>
            </a:ln>
          </p:spPr>
        </p:sp>
      </p:grpSp>
      <p:grpSp>
        <p:nvGrpSpPr>
          <p:cNvPr id="203" name="gov-items"/>
          <p:cNvGrpSpPr/>
          <p:nvPr/>
        </p:nvGrpSpPr>
        <p:grpSpPr>
          <a:xfrm>
            <a:off x="476250" y="4933950"/>
            <a:ext cx="11249025" cy="876300"/>
            <a:chOff x="476250" y="4933950"/>
            <a:chExt cx="11249025" cy="876300"/>
          </a:xfrm>
        </p:grpSpPr>
        <p:sp>
          <p:nvSpPr>
            <p:cNvPr id="165" name="Rectangle 165"/>
            <p:cNvSpPr/>
            <p:nvPr/>
          </p:nvSpPr>
          <p:spPr>
            <a:xfrm>
              <a:off x="476250" y="4933950"/>
              <a:ext cx="2143125" cy="876300"/>
            </a:xfrm>
            <a:prstGeom prst="roundRect">
              <a:avLst>
                <a:gd name="adj" fmla="val 8696"/>
              </a:avLst>
            </a:prstGeom>
            <a:solidFill>
              <a:srgbClr val="FFFFFF"/>
            </a:solidFill>
            <a:ln w="9525">
              <a:solidFill>
                <a:srgbClr val="F0D5D6"/>
              </a:solidFill>
            </a:ln>
          </p:spPr>
        </p:sp>
        <p:sp>
          <p:nvSpPr>
            <p:cNvPr id="166" name="Ellipse 166"/>
            <p:cNvSpPr/>
            <p:nvPr/>
          </p:nvSpPr>
          <p:spPr>
            <a:xfrm>
              <a:off x="628650" y="5162550"/>
              <a:ext cx="419100" cy="419100"/>
            </a:xfrm>
            <a:prstGeom prst="ellipse">
              <a:avLst/>
            </a:prstGeom>
            <a:solidFill>
              <a:srgbClr val="FBEFEF"/>
            </a:solidFill>
            <a:ln>
              <a:noFill/>
            </a:ln>
          </p:spPr>
        </p:sp>
        <p:grpSp>
          <p:nvGrpSpPr>
            <p:cNvPr id="169" name="Group 169"/>
            <p:cNvGrpSpPr/>
            <p:nvPr/>
          </p:nvGrpSpPr>
          <p:grpSpPr>
            <a:xfrm>
              <a:off x="748508" y="5286375"/>
              <a:ext cx="179383" cy="171450"/>
              <a:chOff x="748508" y="5286375"/>
              <a:chExt cx="179383" cy="171450"/>
            </a:xfrm>
          </p:grpSpPr>
          <p:sp>
            <p:nvSpPr>
              <p:cNvPr id="167" name="Freeform 167"/>
              <p:cNvSpPr/>
              <p:nvPr/>
            </p:nvSpPr>
            <p:spPr>
              <a:xfrm>
                <a:off x="748508" y="5286375"/>
                <a:ext cx="179383" cy="171450"/>
              </a:xfrm>
              <a:custGeom>
                <a:avLst/>
                <a:gdLst/>
                <a:ahLst/>
                <a:cxnLst/>
                <a:rect l="l" t="t" r="r" b="b"/>
                <a:pathLst>
                  <a:path w="179383" h="171450">
                    <a:moveTo>
                      <a:pt x="89692" y="0"/>
                    </a:moveTo>
                    <a:cubicBezTo>
                      <a:pt x="111940" y="19684"/>
                      <a:pt x="140979" y="29933"/>
                      <a:pt x="170654" y="28575"/>
                    </a:cubicBezTo>
                    <a:cubicBezTo>
                      <a:pt x="179383" y="58269"/>
                      <a:pt x="175697" y="90235"/>
                      <a:pt x="160438" y="117163"/>
                    </a:cubicBezTo>
                    <a:cubicBezTo>
                      <a:pt x="145178" y="144091"/>
                      <a:pt x="119651" y="163679"/>
                      <a:pt x="89692" y="171450"/>
                    </a:cubicBezTo>
                    <a:cubicBezTo>
                      <a:pt x="59732" y="163679"/>
                      <a:pt x="34205" y="144091"/>
                      <a:pt x="18946" y="117163"/>
                    </a:cubicBezTo>
                    <a:cubicBezTo>
                      <a:pt x="3686" y="90235"/>
                      <a:pt x="0" y="58269"/>
                      <a:pt x="8729" y="28575"/>
                    </a:cubicBezTo>
                    <a:cubicBezTo>
                      <a:pt x="38405" y="29933"/>
                      <a:pt x="67443" y="19684"/>
                      <a:pt x="89692" y="0"/>
                    </a:cubicBezTo>
                  </a:path>
                </a:pathLst>
              </a:custGeom>
              <a:noFill/>
              <a:ln w="19050">
                <a:solidFill>
                  <a:srgbClr val="B03A1F"/>
                </a:solidFill>
              </a:ln>
            </p:spPr>
          </p:sp>
          <p:sp>
            <p:nvSpPr>
              <p:cNvPr id="168" name="Freeform 168"/>
              <p:cNvSpPr/>
              <p:nvPr/>
            </p:nvSpPr>
            <p:spPr>
              <a:xfrm>
                <a:off x="838200" y="5286375"/>
                <a:ext cx="9525" cy="171450"/>
              </a:xfrm>
              <a:custGeom>
                <a:avLst/>
                <a:gdLst/>
                <a:ahLst/>
                <a:cxnLst/>
                <a:rect l="l" t="t" r="r" b="b"/>
                <a:pathLst>
                  <a:path w="9525" h="171450">
                    <a:moveTo>
                      <a:pt x="0" y="0"/>
                    </a:moveTo>
                    <a:lnTo>
                      <a:pt x="0" y="171450"/>
                    </a:lnTo>
                  </a:path>
                </a:pathLst>
              </a:custGeom>
              <a:noFill/>
              <a:ln w="19050">
                <a:solidFill>
                  <a:srgbClr val="B03A1F"/>
                </a:solidFill>
              </a:ln>
            </p:spPr>
          </p:sp>
        </p:grpSp>
        <p:sp>
          <p:nvSpPr>
            <p:cNvPr id="170" name="TextBox 170"/>
            <p:cNvSpPr txBox="1"/>
            <p:nvPr/>
          </p:nvSpPr>
          <p:spPr>
            <a:xfrm>
              <a:off x="1157288" y="5137547"/>
              <a:ext cx="515696"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模型风险</a:t>
              </a:r>
            </a:p>
          </p:txBody>
        </p:sp>
        <p:sp>
          <p:nvSpPr>
            <p:cNvPr id="171" name="TextBox 171"/>
            <p:cNvSpPr txBox="1"/>
            <p:nvPr/>
          </p:nvSpPr>
          <p:spPr>
            <a:xfrm>
              <a:off x="1157288" y="5360432"/>
              <a:ext cx="822325" cy="269081"/>
            </a:xfrm>
            <a:prstGeom prst="rect">
              <a:avLst/>
            </a:prstGeom>
            <a:noFill/>
            <a:ln>
              <a:noFill/>
            </a:ln>
          </p:spPr>
          <p:txBody>
            <a:bodyPr wrap="none" lIns="0" tIns="0" rIns="0" bIns="0" anchor="t" anchorCtr="0">
              <a:spAutoFit/>
            </a:bodyPr>
            <a:lstStyle/>
            <a:p>
              <a:pPr algn="l">
                <a:lnSpc>
                  <a:spcPts val="1125"/>
                </a:lnSpc>
              </a:pPr>
              <a:r>
                <a:rPr lang="zh-CN" sz="640" dirty="0">
                  <a:solidFill>
                    <a:srgbClr val="6A6A6A"/>
                  </a:solidFill>
                  <a:latin typeface="+mn-lt"/>
                  <a:ea typeface="+mn-ea"/>
                  <a:cs typeface="+mn-cs"/>
                </a:rPr>
                <a:t>模型评估、监控与迭代</a:t>
              </a:r>
              <a:br/>
              <a:r>
                <a:rPr lang="zh-CN" sz="640" dirty="0">
                  <a:solidFill>
                    <a:srgbClr val="6A6A6A"/>
                  </a:solidFill>
                  <a:latin typeface="+mn-lt"/>
                  <a:ea typeface="+mn-ea"/>
                  <a:cs typeface="+mn-cs"/>
                </a:rPr>
                <a:t>确保建议稳健可靠</a:t>
              </a:r>
            </a:p>
          </p:txBody>
        </p:sp>
        <p:sp>
          <p:nvSpPr>
            <p:cNvPr id="172" name="Rectangle 172"/>
            <p:cNvSpPr/>
            <p:nvPr/>
          </p:nvSpPr>
          <p:spPr>
            <a:xfrm>
              <a:off x="2752725" y="4933950"/>
              <a:ext cx="2143125" cy="876300"/>
            </a:xfrm>
            <a:prstGeom prst="roundRect">
              <a:avLst>
                <a:gd name="adj" fmla="val 8696"/>
              </a:avLst>
            </a:prstGeom>
            <a:solidFill>
              <a:srgbClr val="FFFFFF"/>
            </a:solidFill>
            <a:ln w="9525">
              <a:solidFill>
                <a:srgbClr val="F0D5D6"/>
              </a:solidFill>
            </a:ln>
          </p:spPr>
        </p:sp>
        <p:sp>
          <p:nvSpPr>
            <p:cNvPr id="173" name="Ellipse 173"/>
            <p:cNvSpPr/>
            <p:nvPr/>
          </p:nvSpPr>
          <p:spPr>
            <a:xfrm>
              <a:off x="2905125" y="5162550"/>
              <a:ext cx="419100" cy="419100"/>
            </a:xfrm>
            <a:prstGeom prst="ellipse">
              <a:avLst/>
            </a:prstGeom>
            <a:solidFill>
              <a:srgbClr val="FBEFEF"/>
            </a:solidFill>
            <a:ln>
              <a:noFill/>
            </a:ln>
          </p:spPr>
        </p:sp>
        <p:grpSp>
          <p:nvGrpSpPr>
            <p:cNvPr id="177" name="Group 177"/>
            <p:cNvGrpSpPr/>
            <p:nvPr/>
          </p:nvGrpSpPr>
          <p:grpSpPr>
            <a:xfrm>
              <a:off x="3048000" y="5286375"/>
              <a:ext cx="133350" cy="171450"/>
              <a:chOff x="3048000" y="5286375"/>
              <a:chExt cx="133350" cy="171450"/>
            </a:xfrm>
          </p:grpSpPr>
          <p:sp>
            <p:nvSpPr>
              <p:cNvPr id="174" name="Freeform 174"/>
              <p:cNvSpPr/>
              <p:nvPr/>
            </p:nvSpPr>
            <p:spPr>
              <a:xfrm>
                <a:off x="3048000" y="5362575"/>
                <a:ext cx="133350" cy="95250"/>
              </a:xfrm>
              <a:custGeom>
                <a:avLst/>
                <a:gdLst/>
                <a:ahLst/>
                <a:cxnLst/>
                <a:rect l="l" t="t" r="r" b="b"/>
                <a:pathLst>
                  <a:path w="133350" h="95250">
                    <a:moveTo>
                      <a:pt x="0" y="19050"/>
                    </a:moveTo>
                    <a:cubicBezTo>
                      <a:pt x="0" y="8529"/>
                      <a:pt x="8529" y="0"/>
                      <a:pt x="19050" y="0"/>
                    </a:cubicBezTo>
                    <a:lnTo>
                      <a:pt x="114300" y="0"/>
                    </a:lnTo>
                    <a:cubicBezTo>
                      <a:pt x="124821" y="0"/>
                      <a:pt x="133350" y="8529"/>
                      <a:pt x="133350" y="19050"/>
                    </a:cubicBezTo>
                    <a:lnTo>
                      <a:pt x="133350" y="76200"/>
                    </a:lnTo>
                    <a:cubicBezTo>
                      <a:pt x="133350" y="86721"/>
                      <a:pt x="124821" y="95250"/>
                      <a:pt x="114300" y="95250"/>
                    </a:cubicBezTo>
                    <a:lnTo>
                      <a:pt x="19050" y="95250"/>
                    </a:lnTo>
                    <a:cubicBezTo>
                      <a:pt x="8529" y="95250"/>
                      <a:pt x="0" y="86721"/>
                      <a:pt x="0" y="76200"/>
                    </a:cubicBezTo>
                    <a:lnTo>
                      <a:pt x="0" y="19050"/>
                    </a:lnTo>
                  </a:path>
                </a:pathLst>
              </a:custGeom>
              <a:noFill/>
              <a:ln w="19050">
                <a:solidFill>
                  <a:srgbClr val="B03A1F"/>
                </a:solidFill>
              </a:ln>
            </p:spPr>
          </p:sp>
          <p:sp>
            <p:nvSpPr>
              <p:cNvPr id="175" name="Freeform 175"/>
              <p:cNvSpPr/>
              <p:nvPr/>
            </p:nvSpPr>
            <p:spPr>
              <a:xfrm>
                <a:off x="3105150" y="54006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B03A1F"/>
                </a:solidFill>
              </a:ln>
            </p:spPr>
          </p:sp>
          <p:sp>
            <p:nvSpPr>
              <p:cNvPr id="176" name="Freeform 176"/>
              <p:cNvSpPr/>
              <p:nvPr/>
            </p:nvSpPr>
            <p:spPr>
              <a:xfrm>
                <a:off x="3076575" y="5286375"/>
                <a:ext cx="76200" cy="76200"/>
              </a:xfrm>
              <a:custGeom>
                <a:avLst/>
                <a:gdLst/>
                <a:ahLst/>
                <a:cxnLst/>
                <a:rect l="l" t="t" r="r" b="b"/>
                <a:pathLst>
                  <a:path w="76200" h="76200">
                    <a:moveTo>
                      <a:pt x="0" y="76200"/>
                    </a:moveTo>
                    <a:lnTo>
                      <a:pt x="0" y="38100"/>
                    </a:lnTo>
                    <a:cubicBezTo>
                      <a:pt x="0" y="17058"/>
                      <a:pt x="17058" y="0"/>
                      <a:pt x="38100" y="0"/>
                    </a:cubicBezTo>
                    <a:cubicBezTo>
                      <a:pt x="59142" y="0"/>
                      <a:pt x="76200" y="17058"/>
                      <a:pt x="76200" y="38100"/>
                    </a:cubicBezTo>
                    <a:lnTo>
                      <a:pt x="76200" y="76200"/>
                    </a:lnTo>
                  </a:path>
                </a:pathLst>
              </a:custGeom>
              <a:noFill/>
              <a:ln w="19050">
                <a:solidFill>
                  <a:srgbClr val="B03A1F"/>
                </a:solidFill>
              </a:ln>
            </p:spPr>
          </p:sp>
        </p:grpSp>
        <p:sp>
          <p:nvSpPr>
            <p:cNvPr id="178" name="TextBox 178"/>
            <p:cNvSpPr txBox="1"/>
            <p:nvPr/>
          </p:nvSpPr>
          <p:spPr>
            <a:xfrm>
              <a:off x="3433762" y="5137547"/>
              <a:ext cx="515696"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数据隐私</a:t>
              </a:r>
            </a:p>
          </p:txBody>
        </p:sp>
        <p:sp>
          <p:nvSpPr>
            <p:cNvPr id="179" name="TextBox 179"/>
            <p:cNvSpPr txBox="1"/>
            <p:nvPr/>
          </p:nvSpPr>
          <p:spPr>
            <a:xfrm>
              <a:off x="3433762" y="5360432"/>
              <a:ext cx="822325" cy="269081"/>
            </a:xfrm>
            <a:prstGeom prst="rect">
              <a:avLst/>
            </a:prstGeom>
            <a:noFill/>
            <a:ln>
              <a:noFill/>
            </a:ln>
          </p:spPr>
          <p:txBody>
            <a:bodyPr wrap="none" lIns="0" tIns="0" rIns="0" bIns="0" anchor="t" anchorCtr="0">
              <a:spAutoFit/>
            </a:bodyPr>
            <a:lstStyle/>
            <a:p>
              <a:pPr algn="l">
                <a:lnSpc>
                  <a:spcPts val="1125"/>
                </a:lnSpc>
              </a:pPr>
              <a:r>
                <a:rPr lang="zh-CN" sz="640" dirty="0">
                  <a:solidFill>
                    <a:srgbClr val="6A6A6A"/>
                  </a:solidFill>
                  <a:latin typeface="+mn-lt"/>
                  <a:ea typeface="+mn-ea"/>
                  <a:cs typeface="+mn-cs"/>
                </a:rPr>
                <a:t>最小化采集、加密传输</a:t>
              </a:r>
              <a:br/>
              <a:r>
                <a:rPr lang="zh-CN" sz="640" dirty="0">
                  <a:solidFill>
                    <a:srgbClr val="6A6A6A"/>
                  </a:solidFill>
                  <a:latin typeface="+mn-lt"/>
                  <a:ea typeface="+mn-ea"/>
                  <a:cs typeface="+mn-cs"/>
                </a:rPr>
                <a:t>隐私保护合规可控</a:t>
              </a:r>
            </a:p>
          </p:txBody>
        </p:sp>
        <p:sp>
          <p:nvSpPr>
            <p:cNvPr id="180" name="Rectangle 180"/>
            <p:cNvSpPr/>
            <p:nvPr/>
          </p:nvSpPr>
          <p:spPr>
            <a:xfrm>
              <a:off x="5029200" y="4933950"/>
              <a:ext cx="2143125" cy="876300"/>
            </a:xfrm>
            <a:prstGeom prst="roundRect">
              <a:avLst>
                <a:gd name="adj" fmla="val 8696"/>
              </a:avLst>
            </a:prstGeom>
            <a:solidFill>
              <a:srgbClr val="FFFFFF"/>
            </a:solidFill>
            <a:ln w="9525">
              <a:solidFill>
                <a:srgbClr val="F0D5D6"/>
              </a:solidFill>
            </a:ln>
          </p:spPr>
        </p:sp>
        <p:sp>
          <p:nvSpPr>
            <p:cNvPr id="181" name="Ellipse 181"/>
            <p:cNvSpPr/>
            <p:nvPr/>
          </p:nvSpPr>
          <p:spPr>
            <a:xfrm>
              <a:off x="5181600" y="5162550"/>
              <a:ext cx="419100" cy="419100"/>
            </a:xfrm>
            <a:prstGeom prst="ellipse">
              <a:avLst/>
            </a:prstGeom>
            <a:solidFill>
              <a:srgbClr val="FBEFEF"/>
            </a:solidFill>
            <a:ln>
              <a:noFill/>
            </a:ln>
          </p:spPr>
        </p:sp>
        <p:sp>
          <p:nvSpPr>
            <p:cNvPr id="182" name="Freeform 182"/>
            <p:cNvSpPr/>
            <p:nvPr/>
          </p:nvSpPr>
          <p:spPr>
            <a:xfrm>
              <a:off x="5302127" y="5293456"/>
              <a:ext cx="177874" cy="154844"/>
            </a:xfrm>
            <a:custGeom>
              <a:avLst/>
              <a:gdLst/>
              <a:ahLst/>
              <a:cxnLst/>
              <a:rect l="l" t="t" r="r" b="b"/>
              <a:pathLst>
                <a:path w="177874" h="154844">
                  <a:moveTo>
                    <a:pt x="160461" y="84092"/>
                  </a:moveTo>
                  <a:lnTo>
                    <a:pt x="89023" y="154844"/>
                  </a:lnTo>
                  <a:lnTo>
                    <a:pt x="17586" y="84092"/>
                  </a:lnTo>
                  <a:cubicBezTo>
                    <a:pt x="4739" y="71591"/>
                    <a:pt x="0" y="52936"/>
                    <a:pt x="5322" y="35820"/>
                  </a:cubicBezTo>
                  <a:cubicBezTo>
                    <a:pt x="10644" y="18703"/>
                    <a:pt x="25126" y="6024"/>
                    <a:pt x="42796" y="3012"/>
                  </a:cubicBezTo>
                  <a:cubicBezTo>
                    <a:pt x="60466" y="0"/>
                    <a:pt x="78331" y="7164"/>
                    <a:pt x="89023" y="21551"/>
                  </a:cubicBezTo>
                  <a:cubicBezTo>
                    <a:pt x="99761" y="7271"/>
                    <a:pt x="117587" y="202"/>
                    <a:pt x="135193" y="3242"/>
                  </a:cubicBezTo>
                  <a:cubicBezTo>
                    <a:pt x="152799" y="6282"/>
                    <a:pt x="167222" y="18921"/>
                    <a:pt x="172548" y="35975"/>
                  </a:cubicBezTo>
                  <a:cubicBezTo>
                    <a:pt x="177874" y="53029"/>
                    <a:pt x="173207" y="71629"/>
                    <a:pt x="160461" y="84149"/>
                  </a:cubicBezTo>
                </a:path>
              </a:pathLst>
            </a:custGeom>
            <a:noFill/>
            <a:ln w="19050">
              <a:solidFill>
                <a:srgbClr val="B03A1F"/>
              </a:solidFill>
            </a:ln>
          </p:spPr>
        </p:sp>
        <p:sp>
          <p:nvSpPr>
            <p:cNvPr id="183" name="TextBox 183"/>
            <p:cNvSpPr txBox="1"/>
            <p:nvPr/>
          </p:nvSpPr>
          <p:spPr>
            <a:xfrm>
              <a:off x="5710238" y="5137547"/>
              <a:ext cx="642239"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消费者权益</a:t>
              </a:r>
            </a:p>
          </p:txBody>
        </p:sp>
        <p:sp>
          <p:nvSpPr>
            <p:cNvPr id="184" name="TextBox 184"/>
            <p:cNvSpPr txBox="1"/>
            <p:nvPr/>
          </p:nvSpPr>
          <p:spPr>
            <a:xfrm>
              <a:off x="5710238" y="5360432"/>
              <a:ext cx="822325" cy="269081"/>
            </a:xfrm>
            <a:prstGeom prst="rect">
              <a:avLst/>
            </a:prstGeom>
            <a:noFill/>
            <a:ln>
              <a:noFill/>
            </a:ln>
          </p:spPr>
          <p:txBody>
            <a:bodyPr wrap="none" lIns="0" tIns="0" rIns="0" bIns="0" anchor="t" anchorCtr="0">
              <a:spAutoFit/>
            </a:bodyPr>
            <a:lstStyle/>
            <a:p>
              <a:pPr algn="l">
                <a:lnSpc>
                  <a:spcPts val="1125"/>
                </a:lnSpc>
              </a:pPr>
              <a:r>
                <a:rPr lang="zh-CN" sz="640" dirty="0">
                  <a:solidFill>
                    <a:srgbClr val="6A6A6A"/>
                  </a:solidFill>
                  <a:latin typeface="+mn-lt"/>
                  <a:ea typeface="+mn-ea"/>
                  <a:cs typeface="+mn-cs"/>
                </a:rPr>
                <a:t>信息透明、充分披露</a:t>
              </a:r>
              <a:br/>
              <a:r>
                <a:rPr lang="zh-CN" sz="640" dirty="0">
                  <a:solidFill>
                    <a:srgbClr val="6A6A6A"/>
                  </a:solidFill>
                  <a:latin typeface="+mn-lt"/>
                  <a:ea typeface="+mn-ea"/>
                  <a:cs typeface="+mn-cs"/>
                </a:rPr>
                <a:t>保障客户知情与选择权</a:t>
              </a:r>
            </a:p>
          </p:txBody>
        </p:sp>
        <p:sp>
          <p:nvSpPr>
            <p:cNvPr id="185" name="Rectangle 185"/>
            <p:cNvSpPr/>
            <p:nvPr/>
          </p:nvSpPr>
          <p:spPr>
            <a:xfrm>
              <a:off x="7305675" y="4933950"/>
              <a:ext cx="2143125" cy="876300"/>
            </a:xfrm>
            <a:prstGeom prst="roundRect">
              <a:avLst>
                <a:gd name="adj" fmla="val 8696"/>
              </a:avLst>
            </a:prstGeom>
            <a:solidFill>
              <a:srgbClr val="FFFFFF"/>
            </a:solidFill>
            <a:ln w="9525">
              <a:solidFill>
                <a:srgbClr val="F0D5D6"/>
              </a:solidFill>
            </a:ln>
          </p:spPr>
        </p:sp>
        <p:sp>
          <p:nvSpPr>
            <p:cNvPr id="186" name="Ellipse 186"/>
            <p:cNvSpPr/>
            <p:nvPr/>
          </p:nvSpPr>
          <p:spPr>
            <a:xfrm>
              <a:off x="7458075" y="5162550"/>
              <a:ext cx="419100" cy="419100"/>
            </a:xfrm>
            <a:prstGeom prst="ellipse">
              <a:avLst/>
            </a:prstGeom>
            <a:solidFill>
              <a:srgbClr val="FBEFEF"/>
            </a:solidFill>
            <a:ln>
              <a:noFill/>
            </a:ln>
          </p:spPr>
        </p:sp>
        <p:grpSp>
          <p:nvGrpSpPr>
            <p:cNvPr id="190" name="Group 190"/>
            <p:cNvGrpSpPr/>
            <p:nvPr/>
          </p:nvGrpSpPr>
          <p:grpSpPr>
            <a:xfrm>
              <a:off x="7610475" y="5286375"/>
              <a:ext cx="142875" cy="171450"/>
              <a:chOff x="7610475" y="5286375"/>
              <a:chExt cx="142875" cy="171450"/>
            </a:xfrm>
          </p:grpSpPr>
          <p:sp>
            <p:nvSpPr>
              <p:cNvPr id="187" name="Freeform 187"/>
              <p:cNvSpPr/>
              <p:nvPr/>
            </p:nvSpPr>
            <p:spPr>
              <a:xfrm>
                <a:off x="7629525" y="52863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B03A1F"/>
                </a:solidFill>
              </a:ln>
            </p:spPr>
          </p:sp>
          <p:sp>
            <p:nvSpPr>
              <p:cNvPr id="188" name="Freeform 188"/>
              <p:cNvSpPr/>
              <p:nvPr/>
            </p:nvSpPr>
            <p:spPr>
              <a:xfrm>
                <a:off x="7610475" y="54006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B03A1F"/>
                </a:solidFill>
              </a:ln>
            </p:spPr>
          </p:sp>
          <p:sp>
            <p:nvSpPr>
              <p:cNvPr id="189" name="Freeform 189"/>
              <p:cNvSpPr/>
              <p:nvPr/>
            </p:nvSpPr>
            <p:spPr>
              <a:xfrm>
                <a:off x="7696200" y="5419725"/>
                <a:ext cx="57150" cy="38100"/>
              </a:xfrm>
              <a:custGeom>
                <a:avLst/>
                <a:gdLst/>
                <a:ahLst/>
                <a:cxnLst/>
                <a:rect l="l" t="t" r="r" b="b"/>
                <a:pathLst>
                  <a:path w="57150" h="38100">
                    <a:moveTo>
                      <a:pt x="0" y="19050"/>
                    </a:moveTo>
                    <a:lnTo>
                      <a:pt x="19050" y="38100"/>
                    </a:lnTo>
                    <a:lnTo>
                      <a:pt x="57150" y="0"/>
                    </a:lnTo>
                  </a:path>
                </a:pathLst>
              </a:custGeom>
              <a:noFill/>
              <a:ln w="19050">
                <a:solidFill>
                  <a:srgbClr val="B03A1F"/>
                </a:solidFill>
              </a:ln>
            </p:spPr>
          </p:sp>
        </p:grpSp>
        <p:sp>
          <p:nvSpPr>
            <p:cNvPr id="191" name="TextBox 191"/>
            <p:cNvSpPr txBox="1"/>
            <p:nvPr/>
          </p:nvSpPr>
          <p:spPr>
            <a:xfrm>
              <a:off x="7986712" y="5137547"/>
              <a:ext cx="515696"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人工复核</a:t>
              </a:r>
            </a:p>
          </p:txBody>
        </p:sp>
        <p:sp>
          <p:nvSpPr>
            <p:cNvPr id="192" name="TextBox 192"/>
            <p:cNvSpPr txBox="1"/>
            <p:nvPr/>
          </p:nvSpPr>
          <p:spPr>
            <a:xfrm>
              <a:off x="7986712" y="5360432"/>
              <a:ext cx="741045" cy="269081"/>
            </a:xfrm>
            <a:prstGeom prst="rect">
              <a:avLst/>
            </a:prstGeom>
            <a:noFill/>
            <a:ln>
              <a:noFill/>
            </a:ln>
          </p:spPr>
          <p:txBody>
            <a:bodyPr wrap="none" lIns="0" tIns="0" rIns="0" bIns="0" anchor="t" anchorCtr="0">
              <a:spAutoFit/>
            </a:bodyPr>
            <a:lstStyle/>
            <a:p>
              <a:pPr algn="l">
                <a:lnSpc>
                  <a:spcPts val="1125"/>
                </a:lnSpc>
              </a:pPr>
              <a:r>
                <a:rPr lang="zh-CN" sz="640" dirty="0">
                  <a:solidFill>
                    <a:srgbClr val="6A6A6A"/>
                  </a:solidFill>
                  <a:latin typeface="+mn-lt"/>
                  <a:ea typeface="+mn-ea"/>
                  <a:cs typeface="+mn-cs"/>
                </a:rPr>
                <a:t>关键环节人工复核</a:t>
              </a:r>
              <a:br/>
              <a:r>
                <a:rPr lang="zh-CN" sz="640" dirty="0">
                  <a:solidFill>
                    <a:srgbClr val="6A6A6A"/>
                  </a:solidFill>
                  <a:latin typeface="+mn-lt"/>
                  <a:ea typeface="+mn-ea"/>
                  <a:cs typeface="+mn-cs"/>
                </a:rPr>
                <a:t>防范操作与决策风险</a:t>
              </a:r>
            </a:p>
          </p:txBody>
        </p:sp>
        <p:sp>
          <p:nvSpPr>
            <p:cNvPr id="193" name="Rectangle 193"/>
            <p:cNvSpPr/>
            <p:nvPr/>
          </p:nvSpPr>
          <p:spPr>
            <a:xfrm>
              <a:off x="9582150" y="4933950"/>
              <a:ext cx="2143125" cy="876300"/>
            </a:xfrm>
            <a:prstGeom prst="roundRect">
              <a:avLst>
                <a:gd name="adj" fmla="val 8696"/>
              </a:avLst>
            </a:prstGeom>
            <a:solidFill>
              <a:srgbClr val="FFFFFF"/>
            </a:solidFill>
            <a:ln w="9525">
              <a:solidFill>
                <a:srgbClr val="F0D5D6"/>
              </a:solidFill>
            </a:ln>
          </p:spPr>
        </p:sp>
        <p:sp>
          <p:nvSpPr>
            <p:cNvPr id="194" name="Ellipse 194"/>
            <p:cNvSpPr/>
            <p:nvPr/>
          </p:nvSpPr>
          <p:spPr>
            <a:xfrm>
              <a:off x="9734550" y="5162550"/>
              <a:ext cx="419100" cy="419100"/>
            </a:xfrm>
            <a:prstGeom prst="ellipse">
              <a:avLst/>
            </a:prstGeom>
            <a:solidFill>
              <a:srgbClr val="FBEFEF"/>
            </a:solidFill>
            <a:ln>
              <a:noFill/>
            </a:ln>
          </p:spPr>
        </p:sp>
        <p:grpSp>
          <p:nvGrpSpPr>
            <p:cNvPr id="200" name="Group 200"/>
            <p:cNvGrpSpPr/>
            <p:nvPr/>
          </p:nvGrpSpPr>
          <p:grpSpPr>
            <a:xfrm>
              <a:off x="9877425" y="5286375"/>
              <a:ext cx="133350" cy="171450"/>
              <a:chOff x="9877425" y="5286375"/>
              <a:chExt cx="133350" cy="171450"/>
            </a:xfrm>
          </p:grpSpPr>
          <p:sp>
            <p:nvSpPr>
              <p:cNvPr id="195" name="Freeform 195"/>
              <p:cNvSpPr/>
              <p:nvPr/>
            </p:nvSpPr>
            <p:spPr>
              <a:xfrm>
                <a:off x="9963150" y="52863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B03A1F"/>
                </a:solidFill>
              </a:ln>
            </p:spPr>
          </p:sp>
          <p:sp>
            <p:nvSpPr>
              <p:cNvPr id="196" name="Freeform 196"/>
              <p:cNvSpPr/>
              <p:nvPr/>
            </p:nvSpPr>
            <p:spPr>
              <a:xfrm>
                <a:off x="9877425" y="52863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B03A1F"/>
                </a:solidFill>
              </a:ln>
            </p:spPr>
          </p:sp>
          <p:sp>
            <p:nvSpPr>
              <p:cNvPr id="197" name="Freeform 197"/>
              <p:cNvSpPr/>
              <p:nvPr/>
            </p:nvSpPr>
            <p:spPr>
              <a:xfrm>
                <a:off x="9915525" y="5343525"/>
                <a:ext cx="9525" cy="9525"/>
              </a:xfrm>
              <a:custGeom>
                <a:avLst/>
                <a:gdLst/>
                <a:ahLst/>
                <a:cxnLst/>
                <a:rect l="l" t="t" r="r" b="b"/>
                <a:pathLst>
                  <a:path w="9525" h="9525">
                    <a:moveTo>
                      <a:pt x="0" y="0"/>
                    </a:moveTo>
                    <a:lnTo>
                      <a:pt x="9525" y="0"/>
                    </a:lnTo>
                  </a:path>
                </a:pathLst>
              </a:custGeom>
              <a:noFill/>
              <a:ln w="19050">
                <a:solidFill>
                  <a:srgbClr val="B03A1F"/>
                </a:solidFill>
              </a:ln>
            </p:spPr>
          </p:sp>
          <p:sp>
            <p:nvSpPr>
              <p:cNvPr id="198" name="Freeform 198"/>
              <p:cNvSpPr/>
              <p:nvPr/>
            </p:nvSpPr>
            <p:spPr>
              <a:xfrm>
                <a:off x="9915525" y="5381625"/>
                <a:ext cx="57150" cy="9525"/>
              </a:xfrm>
              <a:custGeom>
                <a:avLst/>
                <a:gdLst/>
                <a:ahLst/>
                <a:cxnLst/>
                <a:rect l="l" t="t" r="r" b="b"/>
                <a:pathLst>
                  <a:path w="57150" h="9525">
                    <a:moveTo>
                      <a:pt x="0" y="0"/>
                    </a:moveTo>
                    <a:lnTo>
                      <a:pt x="57150" y="0"/>
                    </a:lnTo>
                  </a:path>
                </a:pathLst>
              </a:custGeom>
              <a:noFill/>
              <a:ln w="19050">
                <a:solidFill>
                  <a:srgbClr val="B03A1F"/>
                </a:solidFill>
              </a:ln>
            </p:spPr>
          </p:sp>
          <p:sp>
            <p:nvSpPr>
              <p:cNvPr id="199" name="Freeform 199"/>
              <p:cNvSpPr/>
              <p:nvPr/>
            </p:nvSpPr>
            <p:spPr>
              <a:xfrm>
                <a:off x="9915525" y="5419725"/>
                <a:ext cx="57150" cy="9525"/>
              </a:xfrm>
              <a:custGeom>
                <a:avLst/>
                <a:gdLst/>
                <a:ahLst/>
                <a:cxnLst/>
                <a:rect l="l" t="t" r="r" b="b"/>
                <a:pathLst>
                  <a:path w="57150" h="9525">
                    <a:moveTo>
                      <a:pt x="0" y="0"/>
                    </a:moveTo>
                    <a:lnTo>
                      <a:pt x="57150" y="0"/>
                    </a:lnTo>
                  </a:path>
                </a:pathLst>
              </a:custGeom>
              <a:noFill/>
              <a:ln w="19050">
                <a:solidFill>
                  <a:srgbClr val="B03A1F"/>
                </a:solidFill>
              </a:ln>
            </p:spPr>
          </p:sp>
        </p:grpSp>
        <p:sp>
          <p:nvSpPr>
            <p:cNvPr id="201" name="TextBox 201"/>
            <p:cNvSpPr txBox="1"/>
            <p:nvPr/>
          </p:nvSpPr>
          <p:spPr>
            <a:xfrm>
              <a:off x="10263188" y="5137547"/>
              <a:ext cx="515696"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全程留痕</a:t>
              </a:r>
            </a:p>
          </p:txBody>
        </p:sp>
        <p:sp>
          <p:nvSpPr>
            <p:cNvPr id="202" name="TextBox 202"/>
            <p:cNvSpPr txBox="1"/>
            <p:nvPr/>
          </p:nvSpPr>
          <p:spPr>
            <a:xfrm>
              <a:off x="10263188" y="5360432"/>
              <a:ext cx="741045" cy="269081"/>
            </a:xfrm>
            <a:prstGeom prst="rect">
              <a:avLst/>
            </a:prstGeom>
            <a:noFill/>
            <a:ln>
              <a:noFill/>
            </a:ln>
          </p:spPr>
          <p:txBody>
            <a:bodyPr wrap="none" lIns="0" tIns="0" rIns="0" bIns="0" anchor="t" anchorCtr="0">
              <a:spAutoFit/>
            </a:bodyPr>
            <a:lstStyle/>
            <a:p>
              <a:pPr algn="l">
                <a:lnSpc>
                  <a:spcPts val="1125"/>
                </a:lnSpc>
              </a:pPr>
              <a:r>
                <a:rPr lang="zh-CN" sz="640" dirty="0">
                  <a:solidFill>
                    <a:srgbClr val="6A6A6A"/>
                  </a:solidFill>
                  <a:latin typeface="+mn-lt"/>
                  <a:ea typeface="+mn-ea"/>
                  <a:cs typeface="+mn-cs"/>
                </a:rPr>
                <a:t>操作记录、沟通留痕</a:t>
              </a:r>
              <a:br/>
              <a:r>
                <a:rPr lang="zh-CN" sz="640" dirty="0">
                  <a:solidFill>
                    <a:srgbClr val="6A6A6A"/>
                  </a:solidFill>
                  <a:latin typeface="+mn-lt"/>
                  <a:ea typeface="+mn-ea"/>
                  <a:cs typeface="+mn-cs"/>
                </a:rPr>
                <a:t>可追溯、可审计</a:t>
              </a:r>
            </a:p>
          </p:txBody>
        </p:sp>
      </p:gr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13</a:t>
              </a:r>
            </a:p>
          </p:txBody>
        </p:sp>
        <p:sp>
          <p:nvSpPr>
            <p:cNvPr id="4" name="TextBox 4"/>
            <p:cNvSpPr txBox="1"/>
            <p:nvPr/>
          </p:nvSpPr>
          <p:spPr>
            <a:xfrm>
              <a:off x="1037844" y="151448"/>
              <a:ext cx="584454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全员数字化运营：让数据工具转化为一线生产力</a:t>
              </a:r>
            </a:p>
          </p:txBody>
        </p:sp>
        <p:sp>
          <p:nvSpPr>
            <p:cNvPr id="5" name="Line 5"/>
            <p:cNvSpPr/>
            <p:nvPr/>
          </p:nvSpPr>
          <p:spPr>
            <a:xfrm>
              <a:off x="1047750" y="533400"/>
              <a:ext cx="10668000" cy="9525"/>
            </a:xfrm>
            <a:custGeom>
              <a:avLst/>
              <a:gdLst/>
              <a:ahLst/>
              <a:cxnLst/>
              <a:rect l="l" t="t" r="r" b="b"/>
              <a:pathLst>
                <a:path w="10668000" h="9525">
                  <a:moveTo>
                    <a:pt x="0" y="0"/>
                  </a:moveTo>
                  <a:lnTo>
                    <a:pt x="10668000" y="0"/>
                  </a:lnTo>
                </a:path>
              </a:pathLst>
            </a:custGeom>
            <a:noFill/>
            <a:ln w="14288">
              <a:solidFill>
                <a:srgbClr val="B03A1F"/>
              </a:solidFill>
            </a:ln>
          </p:spPr>
        </p:sp>
      </p:grpSp>
      <p:grpSp>
        <p:nvGrpSpPr>
          <p:cNvPr id="68" name="ladder"/>
          <p:cNvGrpSpPr/>
          <p:nvPr/>
        </p:nvGrpSpPr>
        <p:grpSpPr>
          <a:xfrm>
            <a:off x="381000" y="838200"/>
            <a:ext cx="2762250" cy="3714750"/>
            <a:chOff x="381000" y="838200"/>
            <a:chExt cx="2762250" cy="3714750"/>
          </a:xfrm>
        </p:grpSpPr>
        <p:sp>
          <p:nvSpPr>
            <p:cNvPr id="7" name="Rectangle 7"/>
            <p:cNvSpPr/>
            <p:nvPr/>
          </p:nvSpPr>
          <p:spPr>
            <a:xfrm>
              <a:off x="381000" y="838200"/>
              <a:ext cx="2762250" cy="285750"/>
            </a:xfrm>
            <a:prstGeom prst="roundRect">
              <a:avLst>
                <a:gd name="adj" fmla="val 13333"/>
              </a:avLst>
            </a:prstGeom>
            <a:solidFill>
              <a:srgbClr val="B03A1F"/>
            </a:solidFill>
            <a:ln>
              <a:noFill/>
            </a:ln>
          </p:spPr>
        </p:sp>
        <p:sp>
          <p:nvSpPr>
            <p:cNvPr id="8" name="TextBox 8"/>
            <p:cNvSpPr txBox="1"/>
            <p:nvPr/>
          </p:nvSpPr>
          <p:spPr>
            <a:xfrm>
              <a:off x="550215" y="916781"/>
              <a:ext cx="242382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能力阶梯：从认知到复盘的五步进阶</a:t>
              </a:r>
            </a:p>
          </p:txBody>
        </p:sp>
        <p:grpSp>
          <p:nvGrpSpPr>
            <p:cNvPr id="19" name="ladder-5"/>
            <p:cNvGrpSpPr/>
            <p:nvPr/>
          </p:nvGrpSpPr>
          <p:grpSpPr>
            <a:xfrm>
              <a:off x="381000" y="1219200"/>
              <a:ext cx="2762250" cy="628650"/>
              <a:chOff x="381000" y="1219200"/>
              <a:chExt cx="2762250" cy="628650"/>
            </a:xfrm>
          </p:grpSpPr>
          <p:sp>
            <p:nvSpPr>
              <p:cNvPr id="9" name="Rectangle 9"/>
              <p:cNvSpPr/>
              <p:nvPr/>
            </p:nvSpPr>
            <p:spPr>
              <a:xfrm>
                <a:off x="381000" y="1219200"/>
                <a:ext cx="2762250" cy="628650"/>
              </a:xfrm>
              <a:prstGeom prst="roundRect">
                <a:avLst>
                  <a:gd name="adj" fmla="val 12121"/>
                </a:avLst>
              </a:prstGeom>
              <a:solidFill>
                <a:srgbClr val="FFFFFF"/>
              </a:solidFill>
              <a:ln w="9525">
                <a:solidFill>
                  <a:srgbClr val="E8E4E0"/>
                </a:solidFill>
              </a:ln>
            </p:spPr>
          </p:sp>
          <p:sp>
            <p:nvSpPr>
              <p:cNvPr id="10" name="Ellipse 10"/>
              <p:cNvSpPr/>
              <p:nvPr/>
            </p:nvSpPr>
            <p:spPr>
              <a:xfrm>
                <a:off x="495300" y="1343025"/>
                <a:ext cx="381000" cy="381000"/>
              </a:xfrm>
              <a:prstGeom prst="ellipse">
                <a:avLst/>
              </a:prstGeom>
              <a:solidFill>
                <a:srgbClr val="FBEFEF"/>
              </a:solidFill>
              <a:ln>
                <a:noFill/>
              </a:ln>
            </p:spPr>
          </p:sp>
          <p:grpSp>
            <p:nvGrpSpPr>
              <p:cNvPr id="15" name="Group 15"/>
              <p:cNvGrpSpPr/>
              <p:nvPr/>
            </p:nvGrpSpPr>
            <p:grpSpPr>
              <a:xfrm>
                <a:off x="624681" y="1463675"/>
                <a:ext cx="130970" cy="148431"/>
                <a:chOff x="624681" y="1463675"/>
                <a:chExt cx="130970" cy="148431"/>
              </a:xfrm>
            </p:grpSpPr>
            <p:sp>
              <p:nvSpPr>
                <p:cNvPr id="11" name="Freeform 11"/>
                <p:cNvSpPr/>
                <p:nvPr/>
              </p:nvSpPr>
              <p:spPr>
                <a:xfrm>
                  <a:off x="624681" y="1463675"/>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B03A1F"/>
                  </a:solidFill>
                </a:ln>
              </p:spPr>
            </p:sp>
            <p:sp>
              <p:nvSpPr>
                <p:cNvPr id="12" name="Freeform 12"/>
                <p:cNvSpPr/>
                <p:nvPr/>
              </p:nvSpPr>
              <p:spPr>
                <a:xfrm>
                  <a:off x="703263" y="1577181"/>
                  <a:ext cx="52388" cy="34925"/>
                </a:xfrm>
                <a:custGeom>
                  <a:avLst/>
                  <a:gdLst/>
                  <a:ahLst/>
                  <a:cxnLst/>
                  <a:rect l="l" t="t" r="r" b="b"/>
                  <a:pathLst>
                    <a:path w="52388" h="34925">
                      <a:moveTo>
                        <a:pt x="0" y="17463"/>
                      </a:moveTo>
                      <a:lnTo>
                        <a:pt x="17463" y="34925"/>
                      </a:lnTo>
                      <a:lnTo>
                        <a:pt x="52388" y="0"/>
                      </a:lnTo>
                    </a:path>
                  </a:pathLst>
                </a:custGeom>
                <a:noFill/>
                <a:ln w="17463">
                  <a:solidFill>
                    <a:srgbClr val="B03A1F"/>
                  </a:solidFill>
                </a:ln>
              </p:spPr>
            </p:sp>
            <p:sp>
              <p:nvSpPr>
                <p:cNvPr id="13" name="Freeform 13"/>
                <p:cNvSpPr/>
                <p:nvPr/>
              </p:nvSpPr>
              <p:spPr>
                <a:xfrm>
                  <a:off x="659606" y="1498600"/>
                  <a:ext cx="34925" cy="9525"/>
                </a:xfrm>
                <a:custGeom>
                  <a:avLst/>
                  <a:gdLst/>
                  <a:ahLst/>
                  <a:cxnLst/>
                  <a:rect l="l" t="t" r="r" b="b"/>
                  <a:pathLst>
                    <a:path w="34925" h="9525">
                      <a:moveTo>
                        <a:pt x="0" y="0"/>
                      </a:moveTo>
                      <a:lnTo>
                        <a:pt x="34925" y="0"/>
                      </a:lnTo>
                    </a:path>
                  </a:pathLst>
                </a:custGeom>
                <a:noFill/>
                <a:ln w="17463">
                  <a:solidFill>
                    <a:srgbClr val="B03A1F"/>
                  </a:solidFill>
                </a:ln>
              </p:spPr>
            </p:sp>
            <p:sp>
              <p:nvSpPr>
                <p:cNvPr id="14" name="Freeform 14"/>
                <p:cNvSpPr/>
                <p:nvPr/>
              </p:nvSpPr>
              <p:spPr>
                <a:xfrm>
                  <a:off x="659606" y="1533525"/>
                  <a:ext cx="17463" cy="9525"/>
                </a:xfrm>
                <a:custGeom>
                  <a:avLst/>
                  <a:gdLst/>
                  <a:ahLst/>
                  <a:cxnLst/>
                  <a:rect l="l" t="t" r="r" b="b"/>
                  <a:pathLst>
                    <a:path w="17463" h="9525">
                      <a:moveTo>
                        <a:pt x="0" y="0"/>
                      </a:moveTo>
                      <a:lnTo>
                        <a:pt x="17463" y="0"/>
                      </a:lnTo>
                    </a:path>
                  </a:pathLst>
                </a:custGeom>
                <a:noFill/>
                <a:ln w="17463">
                  <a:solidFill>
                    <a:srgbClr val="B03A1F"/>
                  </a:solidFill>
                </a:ln>
              </p:spPr>
            </p:sp>
          </p:grpSp>
          <p:sp>
            <p:nvSpPr>
              <p:cNvPr id="16" name="TextBox 16"/>
              <p:cNvSpPr txBox="1"/>
              <p:nvPr/>
            </p:nvSpPr>
            <p:spPr>
              <a:xfrm>
                <a:off x="966597" y="1380649"/>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运营复盘</a:t>
                </a:r>
              </a:p>
            </p:txBody>
          </p:sp>
          <p:sp>
            <p:nvSpPr>
              <p:cNvPr id="17" name="TextBox 17"/>
              <p:cNvSpPr txBox="1"/>
              <p:nvPr/>
            </p:nvSpPr>
            <p:spPr>
              <a:xfrm>
                <a:off x="966788" y="1595438"/>
                <a:ext cx="132207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复盘沉淀经验，迭代优化策略</a:t>
                </a:r>
              </a:p>
            </p:txBody>
          </p:sp>
          <p:sp>
            <p:nvSpPr>
              <p:cNvPr id="18" name="TextBox 18"/>
              <p:cNvSpPr txBox="1"/>
              <p:nvPr/>
            </p:nvSpPr>
            <p:spPr>
              <a:xfrm>
                <a:off x="2720881" y="1424940"/>
                <a:ext cx="298163" cy="352044"/>
              </a:xfrm>
              <a:prstGeom prst="rect">
                <a:avLst/>
              </a:prstGeom>
              <a:noFill/>
              <a:ln>
                <a:noFill/>
              </a:ln>
            </p:spPr>
            <p:txBody>
              <a:bodyPr wrap="none" lIns="0" tIns="0" rIns="0" bIns="0" anchor="t" anchorCtr="0">
                <a:spAutoFit/>
              </a:bodyPr>
              <a:lstStyle/>
              <a:p>
                <a:pPr algn="r"/>
                <a:r>
                  <a:rPr lang="zh-CN" sz="1800" b="1" dirty="0">
                    <a:solidFill>
                      <a:srgbClr val="DCD8D4"/>
                    </a:solidFill>
                    <a:latin typeface="+mn-lt"/>
                    <a:ea typeface="+mn-ea"/>
                    <a:cs typeface="+mn-cs"/>
                  </a:rPr>
                  <a:t>05</a:t>
                </a:r>
              </a:p>
            </p:txBody>
          </p:sp>
        </p:grpSp>
        <p:grpSp>
          <p:nvGrpSpPr>
            <p:cNvPr id="35" name="ladder-4"/>
            <p:cNvGrpSpPr/>
            <p:nvPr/>
          </p:nvGrpSpPr>
          <p:grpSpPr>
            <a:xfrm>
              <a:off x="381000" y="1895475"/>
              <a:ext cx="2762250" cy="628650"/>
              <a:chOff x="381000" y="1895475"/>
              <a:chExt cx="2762250" cy="628650"/>
            </a:xfrm>
          </p:grpSpPr>
          <p:sp>
            <p:nvSpPr>
              <p:cNvPr id="20" name="Rectangle 20"/>
              <p:cNvSpPr/>
              <p:nvPr/>
            </p:nvSpPr>
            <p:spPr>
              <a:xfrm>
                <a:off x="381000" y="1895475"/>
                <a:ext cx="2762250" cy="628650"/>
              </a:xfrm>
              <a:prstGeom prst="roundRect">
                <a:avLst>
                  <a:gd name="adj" fmla="val 12121"/>
                </a:avLst>
              </a:prstGeom>
              <a:solidFill>
                <a:srgbClr val="FFFFFF"/>
              </a:solidFill>
              <a:ln w="9525">
                <a:solidFill>
                  <a:srgbClr val="E8E4E0"/>
                </a:solidFill>
              </a:ln>
            </p:spPr>
          </p:sp>
          <p:sp>
            <p:nvSpPr>
              <p:cNvPr id="21" name="Ellipse 21"/>
              <p:cNvSpPr/>
              <p:nvPr/>
            </p:nvSpPr>
            <p:spPr>
              <a:xfrm>
                <a:off x="495300" y="2019300"/>
                <a:ext cx="381000" cy="381000"/>
              </a:xfrm>
              <a:prstGeom prst="ellipse">
                <a:avLst/>
              </a:prstGeom>
              <a:solidFill>
                <a:srgbClr val="FBEFEF"/>
              </a:solidFill>
              <a:ln>
                <a:noFill/>
              </a:ln>
            </p:spPr>
          </p:sp>
          <p:grpSp>
            <p:nvGrpSpPr>
              <p:cNvPr id="31" name="Group 31"/>
              <p:cNvGrpSpPr/>
              <p:nvPr/>
            </p:nvGrpSpPr>
            <p:grpSpPr>
              <a:xfrm>
                <a:off x="615950" y="2139950"/>
                <a:ext cx="139700" cy="139701"/>
                <a:chOff x="615950" y="2139950"/>
                <a:chExt cx="139700" cy="139701"/>
              </a:xfrm>
            </p:grpSpPr>
            <p:sp>
              <p:nvSpPr>
                <p:cNvPr id="22" name="Freeform 22"/>
                <p:cNvSpPr/>
                <p:nvPr/>
              </p:nvSpPr>
              <p:spPr>
                <a:xfrm>
                  <a:off x="615950" y="2174875"/>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sp>
              <p:nvSpPr>
                <p:cNvPr id="23" name="Freeform 23"/>
                <p:cNvSpPr/>
                <p:nvPr/>
              </p:nvSpPr>
              <p:spPr>
                <a:xfrm>
                  <a:off x="633413" y="2139950"/>
                  <a:ext cx="9525" cy="34925"/>
                </a:xfrm>
                <a:custGeom>
                  <a:avLst/>
                  <a:gdLst/>
                  <a:ahLst/>
                  <a:cxnLst/>
                  <a:rect l="l" t="t" r="r" b="b"/>
                  <a:pathLst>
                    <a:path w="9525" h="34925">
                      <a:moveTo>
                        <a:pt x="0" y="0"/>
                      </a:moveTo>
                      <a:lnTo>
                        <a:pt x="0" y="34925"/>
                      </a:lnTo>
                    </a:path>
                  </a:pathLst>
                </a:custGeom>
                <a:noFill/>
                <a:ln w="17463">
                  <a:solidFill>
                    <a:srgbClr val="B03A1F"/>
                  </a:solidFill>
                </a:ln>
              </p:spPr>
            </p:sp>
            <p:sp>
              <p:nvSpPr>
                <p:cNvPr id="24" name="Freeform 24"/>
                <p:cNvSpPr/>
                <p:nvPr/>
              </p:nvSpPr>
              <p:spPr>
                <a:xfrm>
                  <a:off x="633413" y="2209800"/>
                  <a:ext cx="9525" cy="69850"/>
                </a:xfrm>
                <a:custGeom>
                  <a:avLst/>
                  <a:gdLst/>
                  <a:ahLst/>
                  <a:cxnLst/>
                  <a:rect l="l" t="t" r="r" b="b"/>
                  <a:pathLst>
                    <a:path w="9525" h="69850">
                      <a:moveTo>
                        <a:pt x="0" y="0"/>
                      </a:moveTo>
                      <a:lnTo>
                        <a:pt x="0" y="69850"/>
                      </a:lnTo>
                    </a:path>
                  </a:pathLst>
                </a:custGeom>
                <a:noFill/>
                <a:ln w="17463">
                  <a:solidFill>
                    <a:srgbClr val="B03A1F"/>
                  </a:solidFill>
                </a:ln>
              </p:spPr>
            </p:sp>
            <p:sp>
              <p:nvSpPr>
                <p:cNvPr id="25" name="Freeform 25"/>
                <p:cNvSpPr/>
                <p:nvPr/>
              </p:nvSpPr>
              <p:spPr>
                <a:xfrm>
                  <a:off x="668338" y="2227263"/>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sp>
              <p:nvSpPr>
                <p:cNvPr id="26" name="Freeform 26"/>
                <p:cNvSpPr/>
                <p:nvPr/>
              </p:nvSpPr>
              <p:spPr>
                <a:xfrm>
                  <a:off x="685800" y="2139950"/>
                  <a:ext cx="9525" cy="87313"/>
                </a:xfrm>
                <a:custGeom>
                  <a:avLst/>
                  <a:gdLst/>
                  <a:ahLst/>
                  <a:cxnLst/>
                  <a:rect l="l" t="t" r="r" b="b"/>
                  <a:pathLst>
                    <a:path w="9525" h="87313">
                      <a:moveTo>
                        <a:pt x="0" y="0"/>
                      </a:moveTo>
                      <a:lnTo>
                        <a:pt x="0" y="87313"/>
                      </a:lnTo>
                    </a:path>
                  </a:pathLst>
                </a:custGeom>
                <a:noFill/>
                <a:ln w="17463">
                  <a:solidFill>
                    <a:srgbClr val="B03A1F"/>
                  </a:solidFill>
                </a:ln>
              </p:spPr>
            </p:sp>
            <p:sp>
              <p:nvSpPr>
                <p:cNvPr id="27" name="Freeform 27"/>
                <p:cNvSpPr/>
                <p:nvPr/>
              </p:nvSpPr>
              <p:spPr>
                <a:xfrm>
                  <a:off x="685800" y="2262188"/>
                  <a:ext cx="9525" cy="17463"/>
                </a:xfrm>
                <a:custGeom>
                  <a:avLst/>
                  <a:gdLst/>
                  <a:ahLst/>
                  <a:cxnLst/>
                  <a:rect l="l" t="t" r="r" b="b"/>
                  <a:pathLst>
                    <a:path w="9525" h="17463">
                      <a:moveTo>
                        <a:pt x="0" y="0"/>
                      </a:moveTo>
                      <a:lnTo>
                        <a:pt x="0" y="17463"/>
                      </a:lnTo>
                    </a:path>
                  </a:pathLst>
                </a:custGeom>
                <a:noFill/>
                <a:ln w="17463">
                  <a:solidFill>
                    <a:srgbClr val="B03A1F"/>
                  </a:solidFill>
                </a:ln>
              </p:spPr>
            </p:sp>
            <p:sp>
              <p:nvSpPr>
                <p:cNvPr id="28" name="Freeform 28"/>
                <p:cNvSpPr/>
                <p:nvPr/>
              </p:nvSpPr>
              <p:spPr>
                <a:xfrm>
                  <a:off x="720725" y="214868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sp>
              <p:nvSpPr>
                <p:cNvPr id="29" name="Freeform 29"/>
                <p:cNvSpPr/>
                <p:nvPr/>
              </p:nvSpPr>
              <p:spPr>
                <a:xfrm>
                  <a:off x="738188" y="2139950"/>
                  <a:ext cx="9525" cy="9525"/>
                </a:xfrm>
                <a:custGeom>
                  <a:avLst/>
                  <a:gdLst/>
                  <a:ahLst/>
                  <a:cxnLst/>
                  <a:rect l="l" t="t" r="r" b="b"/>
                  <a:pathLst>
                    <a:path w="9525" h="9525">
                      <a:moveTo>
                        <a:pt x="0" y="0"/>
                      </a:moveTo>
                      <a:lnTo>
                        <a:pt x="0" y="8731"/>
                      </a:lnTo>
                    </a:path>
                  </a:pathLst>
                </a:custGeom>
                <a:noFill/>
                <a:ln w="17463">
                  <a:solidFill>
                    <a:srgbClr val="B03A1F"/>
                  </a:solidFill>
                </a:ln>
              </p:spPr>
            </p:sp>
            <p:sp>
              <p:nvSpPr>
                <p:cNvPr id="30" name="Freeform 30"/>
                <p:cNvSpPr/>
                <p:nvPr/>
              </p:nvSpPr>
              <p:spPr>
                <a:xfrm>
                  <a:off x="738188" y="2183606"/>
                  <a:ext cx="9525" cy="96044"/>
                </a:xfrm>
                <a:custGeom>
                  <a:avLst/>
                  <a:gdLst/>
                  <a:ahLst/>
                  <a:cxnLst/>
                  <a:rect l="l" t="t" r="r" b="b"/>
                  <a:pathLst>
                    <a:path w="9525" h="96044">
                      <a:moveTo>
                        <a:pt x="0" y="0"/>
                      </a:moveTo>
                      <a:lnTo>
                        <a:pt x="0" y="96044"/>
                      </a:lnTo>
                    </a:path>
                  </a:pathLst>
                </a:custGeom>
                <a:noFill/>
                <a:ln w="17463">
                  <a:solidFill>
                    <a:srgbClr val="B03A1F"/>
                  </a:solidFill>
                </a:ln>
              </p:spPr>
            </p:sp>
          </p:grpSp>
          <p:sp>
            <p:nvSpPr>
              <p:cNvPr id="32" name="TextBox 32"/>
              <p:cNvSpPr txBox="1"/>
              <p:nvPr/>
            </p:nvSpPr>
            <p:spPr>
              <a:xfrm>
                <a:off x="966597" y="2056924"/>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策略配置</a:t>
                </a:r>
              </a:p>
            </p:txBody>
          </p:sp>
          <p:sp>
            <p:nvSpPr>
              <p:cNvPr id="33" name="TextBox 33"/>
              <p:cNvSpPr txBox="1"/>
              <p:nvPr/>
            </p:nvSpPr>
            <p:spPr>
              <a:xfrm>
                <a:off x="966788" y="2271712"/>
                <a:ext cx="112014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基于洞察配置策略与资源</a:t>
                </a:r>
              </a:p>
            </p:txBody>
          </p:sp>
          <p:sp>
            <p:nvSpPr>
              <p:cNvPr id="34" name="TextBox 34"/>
              <p:cNvSpPr txBox="1"/>
              <p:nvPr/>
            </p:nvSpPr>
            <p:spPr>
              <a:xfrm>
                <a:off x="2720881" y="2101215"/>
                <a:ext cx="298163" cy="352044"/>
              </a:xfrm>
              <a:prstGeom prst="rect">
                <a:avLst/>
              </a:prstGeom>
              <a:noFill/>
              <a:ln>
                <a:noFill/>
              </a:ln>
            </p:spPr>
            <p:txBody>
              <a:bodyPr wrap="none" lIns="0" tIns="0" rIns="0" bIns="0" anchor="t" anchorCtr="0">
                <a:spAutoFit/>
              </a:bodyPr>
              <a:lstStyle/>
              <a:p>
                <a:pPr algn="r"/>
                <a:r>
                  <a:rPr lang="zh-CN" sz="1800" b="1" dirty="0">
                    <a:solidFill>
                      <a:srgbClr val="DCD8D4"/>
                    </a:solidFill>
                    <a:latin typeface="+mn-lt"/>
                    <a:ea typeface="+mn-ea"/>
                    <a:cs typeface="+mn-cs"/>
                  </a:rPr>
                  <a:t>04</a:t>
                </a:r>
              </a:p>
            </p:txBody>
          </p:sp>
        </p:grpSp>
        <p:grpSp>
          <p:nvGrpSpPr>
            <p:cNvPr id="48" name="ladder-3"/>
            <p:cNvGrpSpPr/>
            <p:nvPr/>
          </p:nvGrpSpPr>
          <p:grpSpPr>
            <a:xfrm>
              <a:off x="381000" y="2571750"/>
              <a:ext cx="2762250" cy="628650"/>
              <a:chOff x="381000" y="2571750"/>
              <a:chExt cx="2762250" cy="628650"/>
            </a:xfrm>
          </p:grpSpPr>
          <p:sp>
            <p:nvSpPr>
              <p:cNvPr id="36" name="Rectangle 36"/>
              <p:cNvSpPr/>
              <p:nvPr/>
            </p:nvSpPr>
            <p:spPr>
              <a:xfrm>
                <a:off x="381000" y="2571750"/>
                <a:ext cx="2762250" cy="628650"/>
              </a:xfrm>
              <a:prstGeom prst="roundRect">
                <a:avLst>
                  <a:gd name="adj" fmla="val 12121"/>
                </a:avLst>
              </a:prstGeom>
              <a:solidFill>
                <a:srgbClr val="FFFFFF"/>
              </a:solidFill>
              <a:ln w="9525">
                <a:solidFill>
                  <a:srgbClr val="E8E4E0"/>
                </a:solidFill>
              </a:ln>
            </p:spPr>
          </p:sp>
          <p:sp>
            <p:nvSpPr>
              <p:cNvPr id="37" name="Ellipse 37"/>
              <p:cNvSpPr/>
              <p:nvPr/>
            </p:nvSpPr>
            <p:spPr>
              <a:xfrm>
                <a:off x="495300" y="2695575"/>
                <a:ext cx="381000" cy="381000"/>
              </a:xfrm>
              <a:prstGeom prst="ellipse">
                <a:avLst/>
              </a:prstGeom>
              <a:solidFill>
                <a:srgbClr val="FBEFEF"/>
              </a:solidFill>
              <a:ln>
                <a:noFill/>
              </a:ln>
            </p:spPr>
          </p:sp>
          <p:grpSp>
            <p:nvGrpSpPr>
              <p:cNvPr id="44" name="Group 44"/>
              <p:cNvGrpSpPr/>
              <p:nvPr/>
            </p:nvGrpSpPr>
            <p:grpSpPr>
              <a:xfrm>
                <a:off x="607219" y="2807494"/>
                <a:ext cx="157162" cy="157163"/>
                <a:chOff x="607219" y="2807494"/>
                <a:chExt cx="157162" cy="157163"/>
              </a:xfrm>
            </p:grpSpPr>
            <p:sp>
              <p:nvSpPr>
                <p:cNvPr id="38" name="Freeform 38"/>
                <p:cNvSpPr/>
                <p:nvPr/>
              </p:nvSpPr>
              <p:spPr>
                <a:xfrm>
                  <a:off x="668338" y="28773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sp>
              <p:nvSpPr>
                <p:cNvPr id="39" name="Freeform 39"/>
                <p:cNvSpPr/>
                <p:nvPr/>
              </p:nvSpPr>
              <p:spPr>
                <a:xfrm>
                  <a:off x="650875" y="293846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B03A1F"/>
                  </a:solidFill>
                </a:ln>
              </p:spPr>
            </p:sp>
            <p:sp>
              <p:nvSpPr>
                <p:cNvPr id="40" name="Freeform 40"/>
                <p:cNvSpPr/>
                <p:nvPr/>
              </p:nvSpPr>
              <p:spPr>
                <a:xfrm>
                  <a:off x="711994" y="28074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sp>
              <p:nvSpPr>
                <p:cNvPr id="41" name="Freeform 41"/>
                <p:cNvSpPr/>
                <p:nvPr/>
              </p:nvSpPr>
              <p:spPr>
                <a:xfrm>
                  <a:off x="729456" y="286861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B03A1F"/>
                  </a:solidFill>
                </a:ln>
              </p:spPr>
            </p:sp>
            <p:sp>
              <p:nvSpPr>
                <p:cNvPr id="42" name="Freeform 42"/>
                <p:cNvSpPr/>
                <p:nvPr/>
              </p:nvSpPr>
              <p:spPr>
                <a:xfrm>
                  <a:off x="624681" y="28074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B03A1F"/>
                  </a:solidFill>
                </a:ln>
              </p:spPr>
            </p:sp>
            <p:sp>
              <p:nvSpPr>
                <p:cNvPr id="43" name="Freeform 43"/>
                <p:cNvSpPr/>
                <p:nvPr/>
              </p:nvSpPr>
              <p:spPr>
                <a:xfrm>
                  <a:off x="607219" y="286861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B03A1F"/>
                  </a:solidFill>
                </a:ln>
              </p:spPr>
            </p:sp>
          </p:grpSp>
          <p:sp>
            <p:nvSpPr>
              <p:cNvPr id="45" name="TextBox 45"/>
              <p:cNvSpPr txBox="1"/>
              <p:nvPr/>
            </p:nvSpPr>
            <p:spPr>
              <a:xfrm>
                <a:off x="966597" y="2733199"/>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客群洞察</a:t>
                </a:r>
              </a:p>
            </p:txBody>
          </p:sp>
          <p:sp>
            <p:nvSpPr>
              <p:cNvPr id="46" name="TextBox 46"/>
              <p:cNvSpPr txBox="1"/>
              <p:nvPr/>
            </p:nvSpPr>
            <p:spPr>
              <a:xfrm>
                <a:off x="966788" y="2947988"/>
                <a:ext cx="142303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识别客群特征，洞察需求与价值</a:t>
                </a:r>
              </a:p>
            </p:txBody>
          </p:sp>
          <p:sp>
            <p:nvSpPr>
              <p:cNvPr id="47" name="TextBox 47"/>
              <p:cNvSpPr txBox="1"/>
              <p:nvPr/>
            </p:nvSpPr>
            <p:spPr>
              <a:xfrm>
                <a:off x="2720881" y="2777490"/>
                <a:ext cx="298163" cy="352044"/>
              </a:xfrm>
              <a:prstGeom prst="rect">
                <a:avLst/>
              </a:prstGeom>
              <a:noFill/>
              <a:ln>
                <a:noFill/>
              </a:ln>
            </p:spPr>
            <p:txBody>
              <a:bodyPr wrap="none" lIns="0" tIns="0" rIns="0" bIns="0" anchor="t" anchorCtr="0">
                <a:spAutoFit/>
              </a:bodyPr>
              <a:lstStyle/>
              <a:p>
                <a:pPr algn="r"/>
                <a:r>
                  <a:rPr lang="zh-CN" sz="1800" b="1" dirty="0">
                    <a:solidFill>
                      <a:srgbClr val="DCD8D4"/>
                    </a:solidFill>
                    <a:latin typeface="+mn-lt"/>
                    <a:ea typeface="+mn-ea"/>
                    <a:cs typeface="+mn-cs"/>
                  </a:rPr>
                  <a:t>03</a:t>
                </a:r>
              </a:p>
            </p:txBody>
          </p:sp>
        </p:grpSp>
        <p:grpSp>
          <p:nvGrpSpPr>
            <p:cNvPr id="57" name="ladder-2"/>
            <p:cNvGrpSpPr/>
            <p:nvPr/>
          </p:nvGrpSpPr>
          <p:grpSpPr>
            <a:xfrm>
              <a:off x="381000" y="3248025"/>
              <a:ext cx="2762250" cy="628650"/>
              <a:chOff x="381000" y="3248025"/>
              <a:chExt cx="2762250" cy="628650"/>
            </a:xfrm>
          </p:grpSpPr>
          <p:sp>
            <p:nvSpPr>
              <p:cNvPr id="49" name="Rectangle 49"/>
              <p:cNvSpPr/>
              <p:nvPr/>
            </p:nvSpPr>
            <p:spPr>
              <a:xfrm>
                <a:off x="381000" y="3248025"/>
                <a:ext cx="2762250" cy="628650"/>
              </a:xfrm>
              <a:prstGeom prst="roundRect">
                <a:avLst>
                  <a:gd name="adj" fmla="val 12121"/>
                </a:avLst>
              </a:prstGeom>
              <a:solidFill>
                <a:srgbClr val="FFFFFF"/>
              </a:solidFill>
              <a:ln w="9525">
                <a:solidFill>
                  <a:srgbClr val="E8E4E0"/>
                </a:solidFill>
              </a:ln>
            </p:spPr>
          </p:sp>
          <p:sp>
            <p:nvSpPr>
              <p:cNvPr id="50" name="Ellipse 50"/>
              <p:cNvSpPr/>
              <p:nvPr/>
            </p:nvSpPr>
            <p:spPr>
              <a:xfrm>
                <a:off x="495300" y="3371850"/>
                <a:ext cx="381000" cy="381000"/>
              </a:xfrm>
              <a:prstGeom prst="ellipse">
                <a:avLst/>
              </a:prstGeom>
              <a:solidFill>
                <a:srgbClr val="FBEFEF"/>
              </a:solidFill>
              <a:ln>
                <a:noFill/>
              </a:ln>
            </p:spPr>
          </p:sp>
          <p:grpSp>
            <p:nvGrpSpPr>
              <p:cNvPr id="53" name="Group 53"/>
              <p:cNvGrpSpPr/>
              <p:nvPr/>
            </p:nvGrpSpPr>
            <p:grpSpPr>
              <a:xfrm>
                <a:off x="603386" y="3479936"/>
                <a:ext cx="164829" cy="164829"/>
                <a:chOff x="603386" y="3479936"/>
                <a:chExt cx="164829" cy="164829"/>
              </a:xfrm>
            </p:grpSpPr>
            <p:sp>
              <p:nvSpPr>
                <p:cNvPr id="51" name="Freeform 51"/>
                <p:cNvSpPr/>
                <p:nvPr/>
              </p:nvSpPr>
              <p:spPr>
                <a:xfrm>
                  <a:off x="603386" y="3479936"/>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B03A1F"/>
                  </a:solidFill>
                </a:ln>
              </p:spPr>
            </p:sp>
            <p:sp>
              <p:nvSpPr>
                <p:cNvPr id="52" name="Freeform 52"/>
                <p:cNvSpPr/>
                <p:nvPr/>
              </p:nvSpPr>
              <p:spPr>
                <a:xfrm>
                  <a:off x="659606" y="3536156"/>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B03A1F"/>
                  </a:solidFill>
                </a:ln>
              </p:spPr>
            </p:sp>
          </p:grpSp>
          <p:sp>
            <p:nvSpPr>
              <p:cNvPr id="54" name="TextBox 54"/>
              <p:cNvSpPr txBox="1"/>
              <p:nvPr/>
            </p:nvSpPr>
            <p:spPr>
              <a:xfrm>
                <a:off x="966597" y="3409474"/>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工具使用</a:t>
                </a:r>
              </a:p>
            </p:txBody>
          </p:sp>
          <p:sp>
            <p:nvSpPr>
              <p:cNvPr id="55" name="TextBox 55"/>
              <p:cNvSpPr txBox="1"/>
              <p:nvPr/>
            </p:nvSpPr>
            <p:spPr>
              <a:xfrm>
                <a:off x="966788" y="3624262"/>
                <a:ext cx="142303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掌握工具方法，提升使用熟练度</a:t>
                </a:r>
              </a:p>
            </p:txBody>
          </p:sp>
          <p:sp>
            <p:nvSpPr>
              <p:cNvPr id="56" name="TextBox 56"/>
              <p:cNvSpPr txBox="1"/>
              <p:nvPr/>
            </p:nvSpPr>
            <p:spPr>
              <a:xfrm>
                <a:off x="2720881" y="3453765"/>
                <a:ext cx="298163" cy="352044"/>
              </a:xfrm>
              <a:prstGeom prst="rect">
                <a:avLst/>
              </a:prstGeom>
              <a:noFill/>
              <a:ln>
                <a:noFill/>
              </a:ln>
            </p:spPr>
            <p:txBody>
              <a:bodyPr wrap="none" lIns="0" tIns="0" rIns="0" bIns="0" anchor="t" anchorCtr="0">
                <a:spAutoFit/>
              </a:bodyPr>
              <a:lstStyle/>
              <a:p>
                <a:pPr algn="r"/>
                <a:r>
                  <a:rPr lang="zh-CN" sz="1800" b="1" dirty="0">
                    <a:solidFill>
                      <a:srgbClr val="DCD8D4"/>
                    </a:solidFill>
                    <a:latin typeface="+mn-lt"/>
                    <a:ea typeface="+mn-ea"/>
                    <a:cs typeface="+mn-cs"/>
                  </a:rPr>
                  <a:t>02</a:t>
                </a:r>
              </a:p>
            </p:txBody>
          </p:sp>
        </p:grpSp>
        <p:grpSp>
          <p:nvGrpSpPr>
            <p:cNvPr id="67" name="ladder-1"/>
            <p:cNvGrpSpPr/>
            <p:nvPr/>
          </p:nvGrpSpPr>
          <p:grpSpPr>
            <a:xfrm>
              <a:off x="381000" y="3924300"/>
              <a:ext cx="2762250" cy="628650"/>
              <a:chOff x="381000" y="3924300"/>
              <a:chExt cx="2762250" cy="628650"/>
            </a:xfrm>
          </p:grpSpPr>
          <p:sp>
            <p:nvSpPr>
              <p:cNvPr id="58" name="Rectangle 58"/>
              <p:cNvSpPr/>
              <p:nvPr/>
            </p:nvSpPr>
            <p:spPr>
              <a:xfrm>
                <a:off x="381000" y="3924300"/>
                <a:ext cx="2762250" cy="628650"/>
              </a:xfrm>
              <a:prstGeom prst="roundRect">
                <a:avLst>
                  <a:gd name="adj" fmla="val 12121"/>
                </a:avLst>
              </a:prstGeom>
              <a:solidFill>
                <a:srgbClr val="FFFFFF"/>
              </a:solidFill>
              <a:ln w="9525">
                <a:solidFill>
                  <a:srgbClr val="E8E4E0"/>
                </a:solidFill>
              </a:ln>
            </p:spPr>
          </p:sp>
          <p:sp>
            <p:nvSpPr>
              <p:cNvPr id="59" name="Ellipse 59"/>
              <p:cNvSpPr/>
              <p:nvPr/>
            </p:nvSpPr>
            <p:spPr>
              <a:xfrm>
                <a:off x="495300" y="4048125"/>
                <a:ext cx="381000" cy="381000"/>
              </a:xfrm>
              <a:prstGeom prst="ellipse">
                <a:avLst/>
              </a:prstGeom>
              <a:solidFill>
                <a:srgbClr val="FBEFEF"/>
              </a:solidFill>
              <a:ln>
                <a:noFill/>
              </a:ln>
            </p:spPr>
          </p:sp>
          <p:grpSp>
            <p:nvGrpSpPr>
              <p:cNvPr id="63" name="Group 63"/>
              <p:cNvGrpSpPr/>
              <p:nvPr/>
            </p:nvGrpSpPr>
            <p:grpSpPr>
              <a:xfrm>
                <a:off x="607219" y="4160044"/>
                <a:ext cx="157163" cy="157163"/>
                <a:chOff x="607219" y="4160044"/>
                <a:chExt cx="157163" cy="157163"/>
              </a:xfrm>
            </p:grpSpPr>
            <p:sp>
              <p:nvSpPr>
                <p:cNvPr id="60" name="Freeform 60"/>
                <p:cNvSpPr/>
                <p:nvPr/>
              </p:nvSpPr>
              <p:spPr>
                <a:xfrm>
                  <a:off x="607219" y="4160044"/>
                  <a:ext cx="157163" cy="78581"/>
                </a:xfrm>
                <a:custGeom>
                  <a:avLst/>
                  <a:gdLst/>
                  <a:ahLst/>
                  <a:cxnLst/>
                  <a:rect l="l" t="t" r="r" b="b"/>
                  <a:pathLst>
                    <a:path w="157163" h="78581">
                      <a:moveTo>
                        <a:pt x="0" y="78581"/>
                      </a:moveTo>
                      <a:lnTo>
                        <a:pt x="8731" y="78581"/>
                      </a:lnTo>
                      <a:moveTo>
                        <a:pt x="78581" y="0"/>
                      </a:moveTo>
                      <a:lnTo>
                        <a:pt x="78581" y="8731"/>
                      </a:lnTo>
                      <a:moveTo>
                        <a:pt x="148431" y="78581"/>
                      </a:moveTo>
                      <a:lnTo>
                        <a:pt x="157163" y="78581"/>
                      </a:lnTo>
                      <a:moveTo>
                        <a:pt x="22701" y="22701"/>
                      </a:moveTo>
                      <a:lnTo>
                        <a:pt x="28813" y="28813"/>
                      </a:lnTo>
                      <a:moveTo>
                        <a:pt x="134461" y="22701"/>
                      </a:moveTo>
                      <a:lnTo>
                        <a:pt x="128349" y="28813"/>
                      </a:lnTo>
                    </a:path>
                  </a:pathLst>
                </a:custGeom>
                <a:noFill/>
                <a:ln w="17463">
                  <a:solidFill>
                    <a:srgbClr val="B03A1F"/>
                  </a:solidFill>
                </a:ln>
              </p:spPr>
            </p:sp>
            <p:sp>
              <p:nvSpPr>
                <p:cNvPr id="61" name="Freeform 61"/>
                <p:cNvSpPr/>
                <p:nvPr/>
              </p:nvSpPr>
              <p:spPr>
                <a:xfrm>
                  <a:off x="638442" y="4194969"/>
                  <a:ext cx="94716" cy="122238"/>
                </a:xfrm>
                <a:custGeom>
                  <a:avLst/>
                  <a:gdLst/>
                  <a:ahLst/>
                  <a:cxnLst/>
                  <a:rect l="l" t="t" r="r" b="b"/>
                  <a:pathLst>
                    <a:path w="94716" h="122238">
                      <a:moveTo>
                        <a:pt x="21164" y="78581"/>
                      </a:moveTo>
                      <a:cubicBezTo>
                        <a:pt x="6132" y="67307"/>
                        <a:pt x="0" y="47678"/>
                        <a:pt x="5942" y="29851"/>
                      </a:cubicBezTo>
                      <a:cubicBezTo>
                        <a:pt x="11884" y="12024"/>
                        <a:pt x="28567" y="0"/>
                        <a:pt x="47358" y="0"/>
                      </a:cubicBezTo>
                      <a:cubicBezTo>
                        <a:pt x="66149" y="0"/>
                        <a:pt x="82832" y="12024"/>
                        <a:pt x="88774" y="29851"/>
                      </a:cubicBezTo>
                      <a:cubicBezTo>
                        <a:pt x="94716" y="47678"/>
                        <a:pt x="88585" y="67307"/>
                        <a:pt x="73552" y="78581"/>
                      </a:cubicBezTo>
                      <a:cubicBezTo>
                        <a:pt x="66638" y="85425"/>
                        <a:pt x="63396" y="95152"/>
                        <a:pt x="64821" y="104775"/>
                      </a:cubicBezTo>
                      <a:cubicBezTo>
                        <a:pt x="64821" y="114419"/>
                        <a:pt x="57002" y="122238"/>
                        <a:pt x="47358" y="122238"/>
                      </a:cubicBezTo>
                      <a:cubicBezTo>
                        <a:pt x="37714" y="122238"/>
                        <a:pt x="29896" y="114419"/>
                        <a:pt x="29896" y="104775"/>
                      </a:cubicBezTo>
                      <a:cubicBezTo>
                        <a:pt x="31320" y="95152"/>
                        <a:pt x="28078" y="85425"/>
                        <a:pt x="21164" y="78581"/>
                      </a:cubicBezTo>
                    </a:path>
                  </a:pathLst>
                </a:custGeom>
                <a:noFill/>
                <a:ln w="17463">
                  <a:solidFill>
                    <a:srgbClr val="B03A1F"/>
                  </a:solidFill>
                </a:ln>
              </p:spPr>
            </p:sp>
            <p:sp>
              <p:nvSpPr>
                <p:cNvPr id="62" name="Freeform 62"/>
                <p:cNvSpPr/>
                <p:nvPr/>
              </p:nvSpPr>
              <p:spPr>
                <a:xfrm>
                  <a:off x="665718" y="4282281"/>
                  <a:ext cx="40164" cy="9525"/>
                </a:xfrm>
                <a:custGeom>
                  <a:avLst/>
                  <a:gdLst/>
                  <a:ahLst/>
                  <a:cxnLst/>
                  <a:rect l="l" t="t" r="r" b="b"/>
                  <a:pathLst>
                    <a:path w="40164" h="9525">
                      <a:moveTo>
                        <a:pt x="0" y="0"/>
                      </a:moveTo>
                      <a:lnTo>
                        <a:pt x="40164" y="0"/>
                      </a:lnTo>
                    </a:path>
                  </a:pathLst>
                </a:custGeom>
                <a:noFill/>
                <a:ln w="17463">
                  <a:solidFill>
                    <a:srgbClr val="B03A1F"/>
                  </a:solidFill>
                </a:ln>
              </p:spPr>
            </p:sp>
          </p:grpSp>
          <p:sp>
            <p:nvSpPr>
              <p:cNvPr id="64" name="TextBox 64"/>
              <p:cNvSpPr txBox="1"/>
              <p:nvPr/>
            </p:nvSpPr>
            <p:spPr>
              <a:xfrm>
                <a:off x="966597" y="4085749"/>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数据意识</a:t>
                </a:r>
              </a:p>
            </p:txBody>
          </p:sp>
          <p:sp>
            <p:nvSpPr>
              <p:cNvPr id="65" name="TextBox 65"/>
              <p:cNvSpPr txBox="1"/>
              <p:nvPr/>
            </p:nvSpPr>
            <p:spPr>
              <a:xfrm>
                <a:off x="966788" y="4300538"/>
                <a:ext cx="132207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理解数据价值，养成数据思维</a:t>
                </a:r>
              </a:p>
            </p:txBody>
          </p:sp>
          <p:sp>
            <p:nvSpPr>
              <p:cNvPr id="66" name="TextBox 66"/>
              <p:cNvSpPr txBox="1"/>
              <p:nvPr/>
            </p:nvSpPr>
            <p:spPr>
              <a:xfrm>
                <a:off x="2720881" y="4130040"/>
                <a:ext cx="298163" cy="352044"/>
              </a:xfrm>
              <a:prstGeom prst="rect">
                <a:avLst/>
              </a:prstGeom>
              <a:noFill/>
              <a:ln>
                <a:noFill/>
              </a:ln>
            </p:spPr>
            <p:txBody>
              <a:bodyPr wrap="none" lIns="0" tIns="0" rIns="0" bIns="0" anchor="t" anchorCtr="0">
                <a:spAutoFit/>
              </a:bodyPr>
              <a:lstStyle/>
              <a:p>
                <a:pPr algn="r"/>
                <a:r>
                  <a:rPr lang="zh-CN" sz="1800" b="1" dirty="0">
                    <a:solidFill>
                      <a:srgbClr val="DCD8D4"/>
                    </a:solidFill>
                    <a:latin typeface="+mn-lt"/>
                    <a:ea typeface="+mn-ea"/>
                    <a:cs typeface="+mn-cs"/>
                  </a:rPr>
                  <a:t>01</a:t>
                </a:r>
              </a:p>
            </p:txBody>
          </p:sp>
        </p:grpSp>
      </p:grpSp>
      <p:sp>
        <p:nvSpPr>
          <p:cNvPr id="69" name="deco-flow-m"/>
          <p:cNvSpPr/>
          <p:nvPr/>
        </p:nvSpPr>
        <p:spPr>
          <a:xfrm>
            <a:off x="3162300" y="2819400"/>
            <a:ext cx="133350" cy="171450"/>
          </a:xfrm>
          <a:custGeom>
            <a:avLst/>
            <a:gdLst/>
            <a:ahLst/>
            <a:cxnLst/>
            <a:rect l="l" t="t" r="r" b="b"/>
            <a:pathLst>
              <a:path w="133350" h="171450">
                <a:moveTo>
                  <a:pt x="0" y="0"/>
                </a:moveTo>
                <a:lnTo>
                  <a:pt x="133350" y="85725"/>
                </a:lnTo>
                <a:lnTo>
                  <a:pt x="0" y="171450"/>
                </a:lnTo>
                <a:close/>
              </a:path>
            </a:pathLst>
          </a:custGeom>
          <a:solidFill>
            <a:srgbClr val="B03A1F"/>
          </a:solidFill>
          <a:ln>
            <a:noFill/>
          </a:ln>
        </p:spPr>
      </p:sp>
      <p:grpSp>
        <p:nvGrpSpPr>
          <p:cNvPr id="235" name="toolbox"/>
          <p:cNvGrpSpPr/>
          <p:nvPr/>
        </p:nvGrpSpPr>
        <p:grpSpPr>
          <a:xfrm>
            <a:off x="3286125" y="838200"/>
            <a:ext cx="4667250" cy="3695700"/>
            <a:chOff x="3286125" y="838200"/>
            <a:chExt cx="4667250" cy="3695700"/>
          </a:xfrm>
        </p:grpSpPr>
        <p:sp>
          <p:nvSpPr>
            <p:cNvPr id="70" name="Rectangle 70"/>
            <p:cNvSpPr/>
            <p:nvPr/>
          </p:nvSpPr>
          <p:spPr>
            <a:xfrm>
              <a:off x="3286125" y="838200"/>
              <a:ext cx="4667250" cy="285750"/>
            </a:xfrm>
            <a:prstGeom prst="roundRect">
              <a:avLst>
                <a:gd name="adj" fmla="val 13333"/>
              </a:avLst>
            </a:prstGeom>
            <a:solidFill>
              <a:srgbClr val="B03A1F"/>
            </a:solidFill>
            <a:ln>
              <a:noFill/>
            </a:ln>
          </p:spPr>
        </p:sp>
        <p:sp>
          <p:nvSpPr>
            <p:cNvPr id="71" name="TextBox 71"/>
            <p:cNvSpPr txBox="1"/>
            <p:nvPr/>
          </p:nvSpPr>
          <p:spPr>
            <a:xfrm>
              <a:off x="4407840" y="916781"/>
              <a:ext cx="242382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角色化工具箱：按需赋能，高效提效</a:t>
              </a:r>
            </a:p>
          </p:txBody>
        </p:sp>
        <p:grpSp>
          <p:nvGrpSpPr>
            <p:cNvPr id="101" name="tb-heads"/>
            <p:cNvGrpSpPr/>
            <p:nvPr/>
          </p:nvGrpSpPr>
          <p:grpSpPr>
            <a:xfrm>
              <a:off x="3286125" y="1219200"/>
              <a:ext cx="4638675" cy="425053"/>
              <a:chOff x="3286125" y="1219200"/>
              <a:chExt cx="4638675" cy="425053"/>
            </a:xfrm>
          </p:grpSpPr>
          <p:sp>
            <p:nvSpPr>
              <p:cNvPr id="72" name="Rectangle 72"/>
              <p:cNvSpPr/>
              <p:nvPr/>
            </p:nvSpPr>
            <p:spPr>
              <a:xfrm>
                <a:off x="3286125" y="1219200"/>
                <a:ext cx="1123950" cy="400050"/>
              </a:xfrm>
              <a:prstGeom prst="roundRect">
                <a:avLst>
                  <a:gd name="adj" fmla="val 14286"/>
                </a:avLst>
              </a:prstGeom>
              <a:solidFill>
                <a:srgbClr val="FBEFEF"/>
              </a:solidFill>
              <a:ln>
                <a:noFill/>
              </a:ln>
            </p:spPr>
          </p:sp>
          <p:grpSp>
            <p:nvGrpSpPr>
              <p:cNvPr id="77" name="Group 77"/>
              <p:cNvGrpSpPr/>
              <p:nvPr/>
            </p:nvGrpSpPr>
            <p:grpSpPr>
              <a:xfrm>
                <a:off x="3776662" y="1309687"/>
                <a:ext cx="142875" cy="142875"/>
                <a:chOff x="3776662" y="1309687"/>
                <a:chExt cx="142875" cy="142875"/>
              </a:xfrm>
            </p:grpSpPr>
            <p:sp>
              <p:nvSpPr>
                <p:cNvPr id="73" name="Freeform 73"/>
                <p:cNvSpPr/>
                <p:nvPr/>
              </p:nvSpPr>
              <p:spPr>
                <a:xfrm>
                  <a:off x="3792537" y="13096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B03A1F"/>
                  </a:solidFill>
                </a:ln>
              </p:spPr>
            </p:sp>
            <p:sp>
              <p:nvSpPr>
                <p:cNvPr id="74" name="Freeform 74"/>
                <p:cNvSpPr/>
                <p:nvPr/>
              </p:nvSpPr>
              <p:spPr>
                <a:xfrm>
                  <a:off x="3776662" y="140493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B03A1F"/>
                  </a:solidFill>
                </a:ln>
              </p:spPr>
            </p:sp>
            <p:sp>
              <p:nvSpPr>
                <p:cNvPr id="75" name="Freeform 75"/>
                <p:cNvSpPr/>
                <p:nvPr/>
              </p:nvSpPr>
              <p:spPr>
                <a:xfrm>
                  <a:off x="3879850" y="1310719"/>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B03A1F"/>
                  </a:solidFill>
                </a:ln>
              </p:spPr>
            </p:sp>
            <p:sp>
              <p:nvSpPr>
                <p:cNvPr id="76" name="Freeform 76"/>
                <p:cNvSpPr/>
                <p:nvPr/>
              </p:nvSpPr>
              <p:spPr>
                <a:xfrm>
                  <a:off x="3895725" y="1406128"/>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B03A1F"/>
                  </a:solidFill>
                </a:ln>
              </p:spPr>
            </p:sp>
          </p:grpSp>
          <p:sp>
            <p:nvSpPr>
              <p:cNvPr id="78" name="TextBox 78"/>
              <p:cNvSpPr txBox="1"/>
              <p:nvPr/>
            </p:nvSpPr>
            <p:spPr>
              <a:xfrm>
                <a:off x="3653523" y="1460897"/>
                <a:ext cx="389153" cy="183356"/>
              </a:xfrm>
              <a:prstGeom prst="rect">
                <a:avLst/>
              </a:prstGeom>
              <a:noFill/>
              <a:ln>
                <a:noFill/>
              </a:ln>
            </p:spPr>
            <p:txBody>
              <a:bodyPr wrap="none" lIns="0" tIns="0" rIns="0" bIns="0" anchor="t" anchorCtr="0">
                <a:spAutoFit/>
              </a:bodyPr>
              <a:lstStyle/>
              <a:p>
                <a:pPr algn="ctr"/>
                <a:r>
                  <a:rPr lang="zh-CN" sz="940" b="1" dirty="0">
                    <a:solidFill>
                      <a:srgbClr val="B03A1F"/>
                    </a:solidFill>
                    <a:latin typeface="+mn-lt"/>
                    <a:ea typeface="+mn-ea"/>
                    <a:cs typeface="+mn-cs"/>
                  </a:rPr>
                  <a:t>管理者</a:t>
                </a:r>
              </a:p>
            </p:txBody>
          </p:sp>
          <p:sp>
            <p:nvSpPr>
              <p:cNvPr id="79" name="Rectangle 79"/>
              <p:cNvSpPr/>
              <p:nvPr/>
            </p:nvSpPr>
            <p:spPr>
              <a:xfrm>
                <a:off x="4457700" y="1219200"/>
                <a:ext cx="1123950" cy="400050"/>
              </a:xfrm>
              <a:prstGeom prst="roundRect">
                <a:avLst>
                  <a:gd name="adj" fmla="val 14286"/>
                </a:avLst>
              </a:prstGeom>
              <a:solidFill>
                <a:srgbClr val="FBEFEF"/>
              </a:solidFill>
              <a:ln>
                <a:noFill/>
              </a:ln>
            </p:spPr>
          </p:sp>
          <p:grpSp>
            <p:nvGrpSpPr>
              <p:cNvPr id="83" name="Group 83"/>
              <p:cNvGrpSpPr/>
              <p:nvPr/>
            </p:nvGrpSpPr>
            <p:grpSpPr>
              <a:xfrm>
                <a:off x="4972050" y="1309687"/>
                <a:ext cx="119062" cy="142875"/>
                <a:chOff x="4972050" y="1309687"/>
                <a:chExt cx="119062" cy="142875"/>
              </a:xfrm>
            </p:grpSpPr>
            <p:sp>
              <p:nvSpPr>
                <p:cNvPr id="80" name="Freeform 80"/>
                <p:cNvSpPr/>
                <p:nvPr/>
              </p:nvSpPr>
              <p:spPr>
                <a:xfrm>
                  <a:off x="4987925" y="13096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B03A1F"/>
                  </a:solidFill>
                </a:ln>
              </p:spPr>
            </p:sp>
            <p:sp>
              <p:nvSpPr>
                <p:cNvPr id="81" name="Freeform 81"/>
                <p:cNvSpPr/>
                <p:nvPr/>
              </p:nvSpPr>
              <p:spPr>
                <a:xfrm>
                  <a:off x="4972050" y="1404937"/>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B03A1F"/>
                  </a:solidFill>
                </a:ln>
              </p:spPr>
            </p:sp>
            <p:sp>
              <p:nvSpPr>
                <p:cNvPr id="82" name="Freeform 82"/>
                <p:cNvSpPr/>
                <p:nvPr/>
              </p:nvSpPr>
              <p:spPr>
                <a:xfrm>
                  <a:off x="5043487" y="1420812"/>
                  <a:ext cx="47625" cy="31750"/>
                </a:xfrm>
                <a:custGeom>
                  <a:avLst/>
                  <a:gdLst/>
                  <a:ahLst/>
                  <a:cxnLst/>
                  <a:rect l="l" t="t" r="r" b="b"/>
                  <a:pathLst>
                    <a:path w="47625" h="31750">
                      <a:moveTo>
                        <a:pt x="0" y="15875"/>
                      </a:moveTo>
                      <a:lnTo>
                        <a:pt x="15875" y="31750"/>
                      </a:lnTo>
                      <a:lnTo>
                        <a:pt x="47625" y="0"/>
                      </a:lnTo>
                    </a:path>
                  </a:pathLst>
                </a:custGeom>
                <a:noFill/>
                <a:ln w="15875">
                  <a:solidFill>
                    <a:srgbClr val="B03A1F"/>
                  </a:solidFill>
                </a:ln>
              </p:spPr>
            </p:sp>
          </p:grpSp>
          <p:sp>
            <p:nvSpPr>
              <p:cNvPr id="84" name="TextBox 84"/>
              <p:cNvSpPr txBox="1"/>
              <p:nvPr/>
            </p:nvSpPr>
            <p:spPr>
              <a:xfrm>
                <a:off x="4761827" y="1460897"/>
                <a:ext cx="515696" cy="183356"/>
              </a:xfrm>
              <a:prstGeom prst="rect">
                <a:avLst/>
              </a:prstGeom>
              <a:noFill/>
              <a:ln>
                <a:noFill/>
              </a:ln>
            </p:spPr>
            <p:txBody>
              <a:bodyPr wrap="none" lIns="0" tIns="0" rIns="0" bIns="0" anchor="t" anchorCtr="0">
                <a:spAutoFit/>
              </a:bodyPr>
              <a:lstStyle/>
              <a:p>
                <a:pPr algn="ctr"/>
                <a:r>
                  <a:rPr lang="zh-CN" sz="940" b="1" dirty="0">
                    <a:solidFill>
                      <a:srgbClr val="B03A1F"/>
                    </a:solidFill>
                    <a:latin typeface="+mn-lt"/>
                    <a:ea typeface="+mn-ea"/>
                    <a:cs typeface="+mn-cs"/>
                  </a:rPr>
                  <a:t>产品经理</a:t>
                </a:r>
              </a:p>
            </p:txBody>
          </p:sp>
          <p:sp>
            <p:nvSpPr>
              <p:cNvPr id="85" name="Rectangle 85"/>
              <p:cNvSpPr/>
              <p:nvPr/>
            </p:nvSpPr>
            <p:spPr>
              <a:xfrm>
                <a:off x="5629275" y="1219200"/>
                <a:ext cx="1123950" cy="400050"/>
              </a:xfrm>
              <a:prstGeom prst="roundRect">
                <a:avLst>
                  <a:gd name="adj" fmla="val 14286"/>
                </a:avLst>
              </a:prstGeom>
              <a:solidFill>
                <a:srgbClr val="FBEFEF"/>
              </a:solidFill>
              <a:ln>
                <a:noFill/>
              </a:ln>
            </p:spPr>
          </p:sp>
          <p:grpSp>
            <p:nvGrpSpPr>
              <p:cNvPr id="92" name="Group 92"/>
              <p:cNvGrpSpPr/>
              <p:nvPr/>
            </p:nvGrpSpPr>
            <p:grpSpPr>
              <a:xfrm>
                <a:off x="6119812" y="1309687"/>
                <a:ext cx="142875" cy="142875"/>
                <a:chOff x="6119812" y="1309687"/>
                <a:chExt cx="142875" cy="142875"/>
              </a:xfrm>
            </p:grpSpPr>
            <p:sp>
              <p:nvSpPr>
                <p:cNvPr id="86" name="Freeform 86"/>
                <p:cNvSpPr/>
                <p:nvPr/>
              </p:nvSpPr>
              <p:spPr>
                <a:xfrm>
                  <a:off x="6175375" y="13731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03A1F"/>
                  </a:solidFill>
                </a:ln>
              </p:spPr>
            </p:sp>
            <p:sp>
              <p:nvSpPr>
                <p:cNvPr id="87" name="Freeform 87"/>
                <p:cNvSpPr/>
                <p:nvPr/>
              </p:nvSpPr>
              <p:spPr>
                <a:xfrm>
                  <a:off x="6159500" y="1428750"/>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B03A1F"/>
                  </a:solidFill>
                </a:ln>
              </p:spPr>
            </p:sp>
            <p:sp>
              <p:nvSpPr>
                <p:cNvPr id="88" name="Freeform 88"/>
                <p:cNvSpPr/>
                <p:nvPr/>
              </p:nvSpPr>
              <p:spPr>
                <a:xfrm>
                  <a:off x="6215062" y="13096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03A1F"/>
                  </a:solidFill>
                </a:ln>
              </p:spPr>
            </p:sp>
            <p:sp>
              <p:nvSpPr>
                <p:cNvPr id="89" name="Freeform 89"/>
                <p:cNvSpPr/>
                <p:nvPr/>
              </p:nvSpPr>
              <p:spPr>
                <a:xfrm>
                  <a:off x="6230937" y="1365250"/>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B03A1F"/>
                  </a:solidFill>
                </a:ln>
              </p:spPr>
            </p:sp>
            <p:sp>
              <p:nvSpPr>
                <p:cNvPr id="90" name="Freeform 90"/>
                <p:cNvSpPr/>
                <p:nvPr/>
              </p:nvSpPr>
              <p:spPr>
                <a:xfrm>
                  <a:off x="6135687" y="13096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03A1F"/>
                  </a:solidFill>
                </a:ln>
              </p:spPr>
            </p:sp>
            <p:sp>
              <p:nvSpPr>
                <p:cNvPr id="91" name="Freeform 91"/>
                <p:cNvSpPr/>
                <p:nvPr/>
              </p:nvSpPr>
              <p:spPr>
                <a:xfrm>
                  <a:off x="6119812" y="1365250"/>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B03A1F"/>
                  </a:solidFill>
                </a:ln>
              </p:spPr>
            </p:sp>
          </p:grpSp>
          <p:sp>
            <p:nvSpPr>
              <p:cNvPr id="93" name="TextBox 93"/>
              <p:cNvSpPr txBox="1"/>
              <p:nvPr/>
            </p:nvSpPr>
            <p:spPr>
              <a:xfrm>
                <a:off x="5933402" y="1460897"/>
                <a:ext cx="515696" cy="183356"/>
              </a:xfrm>
              <a:prstGeom prst="rect">
                <a:avLst/>
              </a:prstGeom>
              <a:noFill/>
              <a:ln>
                <a:noFill/>
              </a:ln>
            </p:spPr>
            <p:txBody>
              <a:bodyPr wrap="none" lIns="0" tIns="0" rIns="0" bIns="0" anchor="t" anchorCtr="0">
                <a:spAutoFit/>
              </a:bodyPr>
              <a:lstStyle/>
              <a:p>
                <a:pPr algn="ctr"/>
                <a:r>
                  <a:rPr lang="zh-CN" sz="940" b="1" dirty="0">
                    <a:solidFill>
                      <a:srgbClr val="B03A1F"/>
                    </a:solidFill>
                    <a:latin typeface="+mn-lt"/>
                    <a:ea typeface="+mn-ea"/>
                    <a:cs typeface="+mn-cs"/>
                  </a:rPr>
                  <a:t>客户经理</a:t>
                </a:r>
              </a:p>
            </p:txBody>
          </p:sp>
          <p:sp>
            <p:nvSpPr>
              <p:cNvPr id="94" name="Rectangle 94"/>
              <p:cNvSpPr/>
              <p:nvPr/>
            </p:nvSpPr>
            <p:spPr>
              <a:xfrm>
                <a:off x="6800850" y="1219200"/>
                <a:ext cx="1123950" cy="400050"/>
              </a:xfrm>
              <a:prstGeom prst="roundRect">
                <a:avLst>
                  <a:gd name="adj" fmla="val 14286"/>
                </a:avLst>
              </a:prstGeom>
              <a:solidFill>
                <a:srgbClr val="FBEFEF"/>
              </a:solidFill>
              <a:ln>
                <a:noFill/>
              </a:ln>
            </p:spPr>
          </p:sp>
          <p:grpSp>
            <p:nvGrpSpPr>
              <p:cNvPr id="99" name="Group 99"/>
              <p:cNvGrpSpPr/>
              <p:nvPr/>
            </p:nvGrpSpPr>
            <p:grpSpPr>
              <a:xfrm>
                <a:off x="7291387" y="1309687"/>
                <a:ext cx="142875" cy="134937"/>
                <a:chOff x="7291387" y="1309687"/>
                <a:chExt cx="142875" cy="134937"/>
              </a:xfrm>
            </p:grpSpPr>
            <p:sp>
              <p:nvSpPr>
                <p:cNvPr id="95" name="Freeform 95"/>
                <p:cNvSpPr/>
                <p:nvPr/>
              </p:nvSpPr>
              <p:spPr>
                <a:xfrm>
                  <a:off x="7291387" y="1341437"/>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B03A1F"/>
                  </a:solidFill>
                </a:ln>
              </p:spPr>
            </p:sp>
            <p:sp>
              <p:nvSpPr>
                <p:cNvPr id="96" name="Freeform 96"/>
                <p:cNvSpPr/>
                <p:nvPr/>
              </p:nvSpPr>
              <p:spPr>
                <a:xfrm>
                  <a:off x="7331075" y="1309687"/>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B03A1F"/>
                  </a:solidFill>
                </a:ln>
              </p:spPr>
            </p:sp>
            <p:sp>
              <p:nvSpPr>
                <p:cNvPr id="97" name="Freeform 97"/>
                <p:cNvSpPr/>
                <p:nvPr/>
              </p:nvSpPr>
              <p:spPr>
                <a:xfrm>
                  <a:off x="7362825" y="1381125"/>
                  <a:ext cx="9525" cy="9525"/>
                </a:xfrm>
                <a:custGeom>
                  <a:avLst/>
                  <a:gdLst/>
                  <a:ahLst/>
                  <a:cxnLst/>
                  <a:rect l="l" t="t" r="r" b="b"/>
                  <a:pathLst>
                    <a:path w="9525" h="9525">
                      <a:moveTo>
                        <a:pt x="0" y="0"/>
                      </a:moveTo>
                      <a:lnTo>
                        <a:pt x="0" y="79"/>
                      </a:lnTo>
                    </a:path>
                  </a:pathLst>
                </a:custGeom>
                <a:noFill/>
                <a:ln w="15875">
                  <a:solidFill>
                    <a:srgbClr val="B03A1F"/>
                  </a:solidFill>
                </a:ln>
              </p:spPr>
            </p:sp>
            <p:sp>
              <p:nvSpPr>
                <p:cNvPr id="98" name="Freeform 98"/>
                <p:cNvSpPr/>
                <p:nvPr/>
              </p:nvSpPr>
              <p:spPr>
                <a:xfrm>
                  <a:off x="7291387" y="1389062"/>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B03A1F"/>
                  </a:solidFill>
                </a:ln>
              </p:spPr>
            </p:sp>
          </p:grpSp>
          <p:sp>
            <p:nvSpPr>
              <p:cNvPr id="100" name="TextBox 100"/>
              <p:cNvSpPr txBox="1"/>
              <p:nvPr/>
            </p:nvSpPr>
            <p:spPr>
              <a:xfrm>
                <a:off x="7104977" y="1460897"/>
                <a:ext cx="515696" cy="183356"/>
              </a:xfrm>
              <a:prstGeom prst="rect">
                <a:avLst/>
              </a:prstGeom>
              <a:noFill/>
              <a:ln>
                <a:noFill/>
              </a:ln>
            </p:spPr>
            <p:txBody>
              <a:bodyPr wrap="none" lIns="0" tIns="0" rIns="0" bIns="0" anchor="t" anchorCtr="0">
                <a:spAutoFit/>
              </a:bodyPr>
              <a:lstStyle/>
              <a:p>
                <a:pPr algn="ctr"/>
                <a:r>
                  <a:rPr lang="zh-CN" sz="940" b="1" dirty="0">
                    <a:solidFill>
                      <a:srgbClr val="B03A1F"/>
                    </a:solidFill>
                    <a:latin typeface="+mn-lt"/>
                    <a:ea typeface="+mn-ea"/>
                    <a:cs typeface="+mn-cs"/>
                  </a:rPr>
                  <a:t>网点主管</a:t>
                </a:r>
              </a:p>
            </p:txBody>
          </p:sp>
        </p:grpSp>
        <p:grpSp>
          <p:nvGrpSpPr>
            <p:cNvPr id="134" name="tb-row1"/>
            <p:cNvGrpSpPr/>
            <p:nvPr/>
          </p:nvGrpSpPr>
          <p:grpSpPr>
            <a:xfrm>
              <a:off x="3286125" y="1657350"/>
              <a:ext cx="4638675" cy="542925"/>
              <a:chOff x="3286125" y="1657350"/>
              <a:chExt cx="4638675" cy="542925"/>
            </a:xfrm>
          </p:grpSpPr>
          <p:sp>
            <p:nvSpPr>
              <p:cNvPr id="102" name="Rectangle 102"/>
              <p:cNvSpPr/>
              <p:nvPr/>
            </p:nvSpPr>
            <p:spPr>
              <a:xfrm>
                <a:off x="3286125" y="1657350"/>
                <a:ext cx="1123950" cy="542925"/>
              </a:xfrm>
              <a:prstGeom prst="roundRect">
                <a:avLst>
                  <a:gd name="adj" fmla="val 10526"/>
                </a:avLst>
              </a:prstGeom>
              <a:solidFill>
                <a:srgbClr val="FFFFFF"/>
              </a:solidFill>
              <a:ln w="9525">
                <a:solidFill>
                  <a:srgbClr val="E8E4E0"/>
                </a:solidFill>
              </a:ln>
            </p:spPr>
          </p:sp>
          <p:grpSp>
            <p:nvGrpSpPr>
              <p:cNvPr id="107" name="Group 107"/>
              <p:cNvGrpSpPr/>
              <p:nvPr/>
            </p:nvGrpSpPr>
            <p:grpSpPr>
              <a:xfrm>
                <a:off x="3399234" y="1757362"/>
                <a:ext cx="107156" cy="104775"/>
                <a:chOff x="3399234" y="1757362"/>
                <a:chExt cx="107156" cy="104775"/>
              </a:xfrm>
            </p:grpSpPr>
            <p:sp>
              <p:nvSpPr>
                <p:cNvPr id="103" name="Freeform 103"/>
                <p:cNvSpPr/>
                <p:nvPr/>
              </p:nvSpPr>
              <p:spPr>
                <a:xfrm>
                  <a:off x="3399234" y="1757362"/>
                  <a:ext cx="107156" cy="71438"/>
                </a:xfrm>
                <a:custGeom>
                  <a:avLst/>
                  <a:gdLst/>
                  <a:ahLst/>
                  <a:cxnLst/>
                  <a:rect l="l" t="t" r="r" b="b"/>
                  <a:pathLst>
                    <a:path w="107156" h="71438">
                      <a:moveTo>
                        <a:pt x="0" y="5953"/>
                      </a:moveTo>
                      <a:cubicBezTo>
                        <a:pt x="0" y="2665"/>
                        <a:pt x="2665" y="0"/>
                        <a:pt x="5953" y="0"/>
                      </a:cubicBezTo>
                      <a:lnTo>
                        <a:pt x="101203" y="0"/>
                      </a:lnTo>
                      <a:cubicBezTo>
                        <a:pt x="104491" y="0"/>
                        <a:pt x="107156" y="2665"/>
                        <a:pt x="107156" y="5953"/>
                      </a:cubicBezTo>
                      <a:lnTo>
                        <a:pt x="107156" y="65484"/>
                      </a:lnTo>
                      <a:cubicBezTo>
                        <a:pt x="107156" y="68772"/>
                        <a:pt x="104491" y="71438"/>
                        <a:pt x="101203" y="71438"/>
                      </a:cubicBezTo>
                      <a:lnTo>
                        <a:pt x="5953" y="71438"/>
                      </a:lnTo>
                      <a:cubicBezTo>
                        <a:pt x="2665" y="71438"/>
                        <a:pt x="0" y="68772"/>
                        <a:pt x="0" y="65484"/>
                      </a:cubicBezTo>
                      <a:lnTo>
                        <a:pt x="0" y="5953"/>
                      </a:lnTo>
                    </a:path>
                  </a:pathLst>
                </a:custGeom>
                <a:noFill/>
                <a:ln w="11906">
                  <a:solidFill>
                    <a:srgbClr val="B03A1F"/>
                  </a:solidFill>
                </a:ln>
              </p:spPr>
            </p:sp>
            <p:sp>
              <p:nvSpPr>
                <p:cNvPr id="104" name="Freeform 104"/>
                <p:cNvSpPr/>
                <p:nvPr/>
              </p:nvSpPr>
              <p:spPr>
                <a:xfrm>
                  <a:off x="3423047" y="1852612"/>
                  <a:ext cx="59531" cy="9525"/>
                </a:xfrm>
                <a:custGeom>
                  <a:avLst/>
                  <a:gdLst/>
                  <a:ahLst/>
                  <a:cxnLst/>
                  <a:rect l="l" t="t" r="r" b="b"/>
                  <a:pathLst>
                    <a:path w="59531" h="9525">
                      <a:moveTo>
                        <a:pt x="0" y="0"/>
                      </a:moveTo>
                      <a:lnTo>
                        <a:pt x="59531" y="0"/>
                      </a:lnTo>
                    </a:path>
                  </a:pathLst>
                </a:custGeom>
                <a:noFill/>
                <a:ln w="11906">
                  <a:solidFill>
                    <a:srgbClr val="B03A1F"/>
                  </a:solidFill>
                </a:ln>
              </p:spPr>
            </p:sp>
            <p:sp>
              <p:nvSpPr>
                <p:cNvPr id="105" name="Freeform 105"/>
                <p:cNvSpPr/>
                <p:nvPr/>
              </p:nvSpPr>
              <p:spPr>
                <a:xfrm>
                  <a:off x="3434953" y="1828800"/>
                  <a:ext cx="9525" cy="23812"/>
                </a:xfrm>
                <a:custGeom>
                  <a:avLst/>
                  <a:gdLst/>
                  <a:ahLst/>
                  <a:cxnLst/>
                  <a:rect l="l" t="t" r="r" b="b"/>
                  <a:pathLst>
                    <a:path w="9525" h="23812">
                      <a:moveTo>
                        <a:pt x="0" y="0"/>
                      </a:moveTo>
                      <a:lnTo>
                        <a:pt x="0" y="23812"/>
                      </a:lnTo>
                    </a:path>
                  </a:pathLst>
                </a:custGeom>
                <a:noFill/>
                <a:ln w="11906">
                  <a:solidFill>
                    <a:srgbClr val="B03A1F"/>
                  </a:solidFill>
                </a:ln>
              </p:spPr>
            </p:sp>
            <p:sp>
              <p:nvSpPr>
                <p:cNvPr id="106" name="Freeform 106"/>
                <p:cNvSpPr/>
                <p:nvPr/>
              </p:nvSpPr>
              <p:spPr>
                <a:xfrm>
                  <a:off x="3470672" y="1828800"/>
                  <a:ext cx="9525" cy="23812"/>
                </a:xfrm>
                <a:custGeom>
                  <a:avLst/>
                  <a:gdLst/>
                  <a:ahLst/>
                  <a:cxnLst/>
                  <a:rect l="l" t="t" r="r" b="b"/>
                  <a:pathLst>
                    <a:path w="9525" h="23812">
                      <a:moveTo>
                        <a:pt x="0" y="0"/>
                      </a:moveTo>
                      <a:lnTo>
                        <a:pt x="0" y="23812"/>
                      </a:lnTo>
                    </a:path>
                  </a:pathLst>
                </a:custGeom>
                <a:noFill/>
                <a:ln w="11906">
                  <a:solidFill>
                    <a:srgbClr val="B03A1F"/>
                  </a:solidFill>
                </a:ln>
              </p:spPr>
            </p:sp>
          </p:grpSp>
          <p:sp>
            <p:nvSpPr>
              <p:cNvPr id="108" name="TextBox 108"/>
              <p:cNvSpPr txBox="1"/>
              <p:nvPr/>
            </p:nvSpPr>
            <p:spPr>
              <a:xfrm>
                <a:off x="3567112" y="175879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客群看板</a:t>
                </a:r>
              </a:p>
            </p:txBody>
          </p:sp>
          <p:sp>
            <p:nvSpPr>
              <p:cNvPr id="109" name="TextBox 109"/>
              <p:cNvSpPr txBox="1"/>
              <p:nvPr/>
            </p:nvSpPr>
            <p:spPr>
              <a:xfrm>
                <a:off x="3376612" y="199263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全局视野，一屏掌握</a:t>
                </a:r>
              </a:p>
            </p:txBody>
          </p:sp>
          <p:sp>
            <p:nvSpPr>
              <p:cNvPr id="110" name="Rectangle 110"/>
              <p:cNvSpPr/>
              <p:nvPr/>
            </p:nvSpPr>
            <p:spPr>
              <a:xfrm>
                <a:off x="4457700" y="1657350"/>
                <a:ext cx="1123950" cy="542925"/>
              </a:xfrm>
              <a:prstGeom prst="roundRect">
                <a:avLst>
                  <a:gd name="adj" fmla="val 10526"/>
                </a:avLst>
              </a:prstGeom>
              <a:solidFill>
                <a:srgbClr val="FFFFFF"/>
              </a:solidFill>
              <a:ln w="9525">
                <a:solidFill>
                  <a:srgbClr val="E8E4E0"/>
                </a:solidFill>
              </a:ln>
            </p:spPr>
          </p:sp>
          <p:grpSp>
            <p:nvGrpSpPr>
              <p:cNvPr id="115" name="Group 115"/>
              <p:cNvGrpSpPr/>
              <p:nvPr/>
            </p:nvGrpSpPr>
            <p:grpSpPr>
              <a:xfrm>
                <a:off x="4570809" y="1757362"/>
                <a:ext cx="107156" cy="104775"/>
                <a:chOff x="4570809" y="1757362"/>
                <a:chExt cx="107156" cy="104775"/>
              </a:xfrm>
            </p:grpSpPr>
            <p:sp>
              <p:nvSpPr>
                <p:cNvPr id="111" name="Freeform 111"/>
                <p:cNvSpPr/>
                <p:nvPr/>
              </p:nvSpPr>
              <p:spPr>
                <a:xfrm>
                  <a:off x="4570809" y="1757362"/>
                  <a:ext cx="107156" cy="71438"/>
                </a:xfrm>
                <a:custGeom>
                  <a:avLst/>
                  <a:gdLst/>
                  <a:ahLst/>
                  <a:cxnLst/>
                  <a:rect l="l" t="t" r="r" b="b"/>
                  <a:pathLst>
                    <a:path w="107156" h="71438">
                      <a:moveTo>
                        <a:pt x="0" y="5953"/>
                      </a:moveTo>
                      <a:cubicBezTo>
                        <a:pt x="0" y="2665"/>
                        <a:pt x="2665" y="0"/>
                        <a:pt x="5953" y="0"/>
                      </a:cubicBezTo>
                      <a:lnTo>
                        <a:pt x="101203" y="0"/>
                      </a:lnTo>
                      <a:cubicBezTo>
                        <a:pt x="104491" y="0"/>
                        <a:pt x="107156" y="2665"/>
                        <a:pt x="107156" y="5953"/>
                      </a:cubicBezTo>
                      <a:lnTo>
                        <a:pt x="107156" y="65484"/>
                      </a:lnTo>
                      <a:cubicBezTo>
                        <a:pt x="107156" y="68772"/>
                        <a:pt x="104491" y="71438"/>
                        <a:pt x="101203" y="71438"/>
                      </a:cubicBezTo>
                      <a:lnTo>
                        <a:pt x="5953" y="71438"/>
                      </a:lnTo>
                      <a:cubicBezTo>
                        <a:pt x="2665" y="71438"/>
                        <a:pt x="0" y="68772"/>
                        <a:pt x="0" y="65484"/>
                      </a:cubicBezTo>
                      <a:lnTo>
                        <a:pt x="0" y="5953"/>
                      </a:lnTo>
                    </a:path>
                  </a:pathLst>
                </a:custGeom>
                <a:noFill/>
                <a:ln w="11906">
                  <a:solidFill>
                    <a:srgbClr val="B03A1F"/>
                  </a:solidFill>
                </a:ln>
              </p:spPr>
            </p:sp>
            <p:sp>
              <p:nvSpPr>
                <p:cNvPr id="112" name="Freeform 112"/>
                <p:cNvSpPr/>
                <p:nvPr/>
              </p:nvSpPr>
              <p:spPr>
                <a:xfrm>
                  <a:off x="4594622" y="1852612"/>
                  <a:ext cx="59531" cy="9525"/>
                </a:xfrm>
                <a:custGeom>
                  <a:avLst/>
                  <a:gdLst/>
                  <a:ahLst/>
                  <a:cxnLst/>
                  <a:rect l="l" t="t" r="r" b="b"/>
                  <a:pathLst>
                    <a:path w="59531" h="9525">
                      <a:moveTo>
                        <a:pt x="0" y="0"/>
                      </a:moveTo>
                      <a:lnTo>
                        <a:pt x="59531" y="0"/>
                      </a:lnTo>
                    </a:path>
                  </a:pathLst>
                </a:custGeom>
                <a:noFill/>
                <a:ln w="11906">
                  <a:solidFill>
                    <a:srgbClr val="B03A1F"/>
                  </a:solidFill>
                </a:ln>
              </p:spPr>
            </p:sp>
            <p:sp>
              <p:nvSpPr>
                <p:cNvPr id="113" name="Freeform 113"/>
                <p:cNvSpPr/>
                <p:nvPr/>
              </p:nvSpPr>
              <p:spPr>
                <a:xfrm>
                  <a:off x="4606528" y="1828800"/>
                  <a:ext cx="9525" cy="23812"/>
                </a:xfrm>
                <a:custGeom>
                  <a:avLst/>
                  <a:gdLst/>
                  <a:ahLst/>
                  <a:cxnLst/>
                  <a:rect l="l" t="t" r="r" b="b"/>
                  <a:pathLst>
                    <a:path w="9525" h="23812">
                      <a:moveTo>
                        <a:pt x="0" y="0"/>
                      </a:moveTo>
                      <a:lnTo>
                        <a:pt x="0" y="23812"/>
                      </a:lnTo>
                    </a:path>
                  </a:pathLst>
                </a:custGeom>
                <a:noFill/>
                <a:ln w="11906">
                  <a:solidFill>
                    <a:srgbClr val="B03A1F"/>
                  </a:solidFill>
                </a:ln>
              </p:spPr>
            </p:sp>
            <p:sp>
              <p:nvSpPr>
                <p:cNvPr id="114" name="Freeform 114"/>
                <p:cNvSpPr/>
                <p:nvPr/>
              </p:nvSpPr>
              <p:spPr>
                <a:xfrm>
                  <a:off x="4642247" y="1828800"/>
                  <a:ext cx="9525" cy="23812"/>
                </a:xfrm>
                <a:custGeom>
                  <a:avLst/>
                  <a:gdLst/>
                  <a:ahLst/>
                  <a:cxnLst/>
                  <a:rect l="l" t="t" r="r" b="b"/>
                  <a:pathLst>
                    <a:path w="9525" h="23812">
                      <a:moveTo>
                        <a:pt x="0" y="0"/>
                      </a:moveTo>
                      <a:lnTo>
                        <a:pt x="0" y="23812"/>
                      </a:lnTo>
                    </a:path>
                  </a:pathLst>
                </a:custGeom>
                <a:noFill/>
                <a:ln w="11906">
                  <a:solidFill>
                    <a:srgbClr val="B03A1F"/>
                  </a:solidFill>
                </a:ln>
              </p:spPr>
            </p:sp>
          </p:grpSp>
          <p:sp>
            <p:nvSpPr>
              <p:cNvPr id="116" name="TextBox 116"/>
              <p:cNvSpPr txBox="1"/>
              <p:nvPr/>
            </p:nvSpPr>
            <p:spPr>
              <a:xfrm>
                <a:off x="4738688" y="175879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客群看板</a:t>
                </a:r>
              </a:p>
            </p:txBody>
          </p:sp>
          <p:sp>
            <p:nvSpPr>
              <p:cNvPr id="117" name="TextBox 117"/>
              <p:cNvSpPr txBox="1"/>
              <p:nvPr/>
            </p:nvSpPr>
            <p:spPr>
              <a:xfrm>
                <a:off x="4548188" y="199263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全局视野，一屏掌握</a:t>
                </a:r>
              </a:p>
            </p:txBody>
          </p:sp>
          <p:sp>
            <p:nvSpPr>
              <p:cNvPr id="118" name="Rectangle 118"/>
              <p:cNvSpPr/>
              <p:nvPr/>
            </p:nvSpPr>
            <p:spPr>
              <a:xfrm>
                <a:off x="5629275" y="1657350"/>
                <a:ext cx="1123950" cy="542925"/>
              </a:xfrm>
              <a:prstGeom prst="roundRect">
                <a:avLst>
                  <a:gd name="adj" fmla="val 10526"/>
                </a:avLst>
              </a:prstGeom>
              <a:solidFill>
                <a:srgbClr val="FFFFFF"/>
              </a:solidFill>
              <a:ln w="9525">
                <a:solidFill>
                  <a:srgbClr val="E8E4E0"/>
                </a:solidFill>
              </a:ln>
            </p:spPr>
          </p:sp>
          <p:grpSp>
            <p:nvGrpSpPr>
              <p:cNvPr id="123" name="Group 123"/>
              <p:cNvGrpSpPr/>
              <p:nvPr/>
            </p:nvGrpSpPr>
            <p:grpSpPr>
              <a:xfrm>
                <a:off x="5742384" y="1757362"/>
                <a:ext cx="107156" cy="104775"/>
                <a:chOff x="5742384" y="1757362"/>
                <a:chExt cx="107156" cy="104775"/>
              </a:xfrm>
            </p:grpSpPr>
            <p:sp>
              <p:nvSpPr>
                <p:cNvPr id="119" name="Freeform 119"/>
                <p:cNvSpPr/>
                <p:nvPr/>
              </p:nvSpPr>
              <p:spPr>
                <a:xfrm>
                  <a:off x="5742384" y="1757362"/>
                  <a:ext cx="107156" cy="71438"/>
                </a:xfrm>
                <a:custGeom>
                  <a:avLst/>
                  <a:gdLst/>
                  <a:ahLst/>
                  <a:cxnLst/>
                  <a:rect l="l" t="t" r="r" b="b"/>
                  <a:pathLst>
                    <a:path w="107156" h="71438">
                      <a:moveTo>
                        <a:pt x="0" y="5953"/>
                      </a:moveTo>
                      <a:cubicBezTo>
                        <a:pt x="0" y="2665"/>
                        <a:pt x="2665" y="0"/>
                        <a:pt x="5953" y="0"/>
                      </a:cubicBezTo>
                      <a:lnTo>
                        <a:pt x="101203" y="0"/>
                      </a:lnTo>
                      <a:cubicBezTo>
                        <a:pt x="104491" y="0"/>
                        <a:pt x="107156" y="2665"/>
                        <a:pt x="107156" y="5953"/>
                      </a:cubicBezTo>
                      <a:lnTo>
                        <a:pt x="107156" y="65484"/>
                      </a:lnTo>
                      <a:cubicBezTo>
                        <a:pt x="107156" y="68772"/>
                        <a:pt x="104491" y="71438"/>
                        <a:pt x="101203" y="71438"/>
                      </a:cubicBezTo>
                      <a:lnTo>
                        <a:pt x="5953" y="71438"/>
                      </a:lnTo>
                      <a:cubicBezTo>
                        <a:pt x="2665" y="71438"/>
                        <a:pt x="0" y="68772"/>
                        <a:pt x="0" y="65484"/>
                      </a:cubicBezTo>
                      <a:lnTo>
                        <a:pt x="0" y="5953"/>
                      </a:lnTo>
                    </a:path>
                  </a:pathLst>
                </a:custGeom>
                <a:noFill/>
                <a:ln w="11906">
                  <a:solidFill>
                    <a:srgbClr val="B03A1F"/>
                  </a:solidFill>
                </a:ln>
              </p:spPr>
            </p:sp>
            <p:sp>
              <p:nvSpPr>
                <p:cNvPr id="120" name="Freeform 120"/>
                <p:cNvSpPr/>
                <p:nvPr/>
              </p:nvSpPr>
              <p:spPr>
                <a:xfrm>
                  <a:off x="5766197" y="1852612"/>
                  <a:ext cx="59531" cy="9525"/>
                </a:xfrm>
                <a:custGeom>
                  <a:avLst/>
                  <a:gdLst/>
                  <a:ahLst/>
                  <a:cxnLst/>
                  <a:rect l="l" t="t" r="r" b="b"/>
                  <a:pathLst>
                    <a:path w="59531" h="9525">
                      <a:moveTo>
                        <a:pt x="0" y="0"/>
                      </a:moveTo>
                      <a:lnTo>
                        <a:pt x="59531" y="0"/>
                      </a:lnTo>
                    </a:path>
                  </a:pathLst>
                </a:custGeom>
                <a:noFill/>
                <a:ln w="11906">
                  <a:solidFill>
                    <a:srgbClr val="B03A1F"/>
                  </a:solidFill>
                </a:ln>
              </p:spPr>
            </p:sp>
            <p:sp>
              <p:nvSpPr>
                <p:cNvPr id="121" name="Freeform 121"/>
                <p:cNvSpPr/>
                <p:nvPr/>
              </p:nvSpPr>
              <p:spPr>
                <a:xfrm>
                  <a:off x="5778103" y="1828800"/>
                  <a:ext cx="9525" cy="23812"/>
                </a:xfrm>
                <a:custGeom>
                  <a:avLst/>
                  <a:gdLst/>
                  <a:ahLst/>
                  <a:cxnLst/>
                  <a:rect l="l" t="t" r="r" b="b"/>
                  <a:pathLst>
                    <a:path w="9525" h="23812">
                      <a:moveTo>
                        <a:pt x="0" y="0"/>
                      </a:moveTo>
                      <a:lnTo>
                        <a:pt x="0" y="23812"/>
                      </a:lnTo>
                    </a:path>
                  </a:pathLst>
                </a:custGeom>
                <a:noFill/>
                <a:ln w="11906">
                  <a:solidFill>
                    <a:srgbClr val="B03A1F"/>
                  </a:solidFill>
                </a:ln>
              </p:spPr>
            </p:sp>
            <p:sp>
              <p:nvSpPr>
                <p:cNvPr id="122" name="Freeform 122"/>
                <p:cNvSpPr/>
                <p:nvPr/>
              </p:nvSpPr>
              <p:spPr>
                <a:xfrm>
                  <a:off x="5813822" y="1828800"/>
                  <a:ext cx="9525" cy="23812"/>
                </a:xfrm>
                <a:custGeom>
                  <a:avLst/>
                  <a:gdLst/>
                  <a:ahLst/>
                  <a:cxnLst/>
                  <a:rect l="l" t="t" r="r" b="b"/>
                  <a:pathLst>
                    <a:path w="9525" h="23812">
                      <a:moveTo>
                        <a:pt x="0" y="0"/>
                      </a:moveTo>
                      <a:lnTo>
                        <a:pt x="0" y="23812"/>
                      </a:lnTo>
                    </a:path>
                  </a:pathLst>
                </a:custGeom>
                <a:noFill/>
                <a:ln w="11906">
                  <a:solidFill>
                    <a:srgbClr val="B03A1F"/>
                  </a:solidFill>
                </a:ln>
              </p:spPr>
            </p:sp>
          </p:grpSp>
          <p:sp>
            <p:nvSpPr>
              <p:cNvPr id="124" name="TextBox 124"/>
              <p:cNvSpPr txBox="1"/>
              <p:nvPr/>
            </p:nvSpPr>
            <p:spPr>
              <a:xfrm>
                <a:off x="5910262" y="175879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客群看板</a:t>
                </a:r>
              </a:p>
            </p:txBody>
          </p:sp>
          <p:sp>
            <p:nvSpPr>
              <p:cNvPr id="125" name="TextBox 125"/>
              <p:cNvSpPr txBox="1"/>
              <p:nvPr/>
            </p:nvSpPr>
            <p:spPr>
              <a:xfrm>
                <a:off x="5719762" y="199263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全局视野，一屏掌握</a:t>
                </a:r>
              </a:p>
            </p:txBody>
          </p:sp>
          <p:sp>
            <p:nvSpPr>
              <p:cNvPr id="126" name="Rectangle 126"/>
              <p:cNvSpPr/>
              <p:nvPr/>
            </p:nvSpPr>
            <p:spPr>
              <a:xfrm>
                <a:off x="6800850" y="1657350"/>
                <a:ext cx="1123950" cy="542925"/>
              </a:xfrm>
              <a:prstGeom prst="roundRect">
                <a:avLst>
                  <a:gd name="adj" fmla="val 10526"/>
                </a:avLst>
              </a:prstGeom>
              <a:solidFill>
                <a:srgbClr val="FFFFFF"/>
              </a:solidFill>
              <a:ln w="9525">
                <a:solidFill>
                  <a:srgbClr val="E8E4E0"/>
                </a:solidFill>
              </a:ln>
            </p:spPr>
          </p:sp>
          <p:grpSp>
            <p:nvGrpSpPr>
              <p:cNvPr id="131" name="Group 131"/>
              <p:cNvGrpSpPr/>
              <p:nvPr/>
            </p:nvGrpSpPr>
            <p:grpSpPr>
              <a:xfrm>
                <a:off x="6913959" y="1757362"/>
                <a:ext cx="107156" cy="104775"/>
                <a:chOff x="6913959" y="1757362"/>
                <a:chExt cx="107156" cy="104775"/>
              </a:xfrm>
            </p:grpSpPr>
            <p:sp>
              <p:nvSpPr>
                <p:cNvPr id="127" name="Freeform 127"/>
                <p:cNvSpPr/>
                <p:nvPr/>
              </p:nvSpPr>
              <p:spPr>
                <a:xfrm>
                  <a:off x="6913959" y="1757362"/>
                  <a:ext cx="107156" cy="71438"/>
                </a:xfrm>
                <a:custGeom>
                  <a:avLst/>
                  <a:gdLst/>
                  <a:ahLst/>
                  <a:cxnLst/>
                  <a:rect l="l" t="t" r="r" b="b"/>
                  <a:pathLst>
                    <a:path w="107156" h="71438">
                      <a:moveTo>
                        <a:pt x="0" y="5953"/>
                      </a:moveTo>
                      <a:cubicBezTo>
                        <a:pt x="0" y="2665"/>
                        <a:pt x="2665" y="0"/>
                        <a:pt x="5953" y="0"/>
                      </a:cubicBezTo>
                      <a:lnTo>
                        <a:pt x="101203" y="0"/>
                      </a:lnTo>
                      <a:cubicBezTo>
                        <a:pt x="104491" y="0"/>
                        <a:pt x="107156" y="2665"/>
                        <a:pt x="107156" y="5953"/>
                      </a:cubicBezTo>
                      <a:lnTo>
                        <a:pt x="107156" y="65484"/>
                      </a:lnTo>
                      <a:cubicBezTo>
                        <a:pt x="107156" y="68772"/>
                        <a:pt x="104491" y="71438"/>
                        <a:pt x="101203" y="71438"/>
                      </a:cubicBezTo>
                      <a:lnTo>
                        <a:pt x="5953" y="71438"/>
                      </a:lnTo>
                      <a:cubicBezTo>
                        <a:pt x="2665" y="71438"/>
                        <a:pt x="0" y="68772"/>
                        <a:pt x="0" y="65484"/>
                      </a:cubicBezTo>
                      <a:lnTo>
                        <a:pt x="0" y="5953"/>
                      </a:lnTo>
                    </a:path>
                  </a:pathLst>
                </a:custGeom>
                <a:noFill/>
                <a:ln w="11906">
                  <a:solidFill>
                    <a:srgbClr val="B03A1F"/>
                  </a:solidFill>
                </a:ln>
              </p:spPr>
            </p:sp>
            <p:sp>
              <p:nvSpPr>
                <p:cNvPr id="128" name="Freeform 128"/>
                <p:cNvSpPr/>
                <p:nvPr/>
              </p:nvSpPr>
              <p:spPr>
                <a:xfrm>
                  <a:off x="6937772" y="1852612"/>
                  <a:ext cx="59531" cy="9525"/>
                </a:xfrm>
                <a:custGeom>
                  <a:avLst/>
                  <a:gdLst/>
                  <a:ahLst/>
                  <a:cxnLst/>
                  <a:rect l="l" t="t" r="r" b="b"/>
                  <a:pathLst>
                    <a:path w="59531" h="9525">
                      <a:moveTo>
                        <a:pt x="0" y="0"/>
                      </a:moveTo>
                      <a:lnTo>
                        <a:pt x="59531" y="0"/>
                      </a:lnTo>
                    </a:path>
                  </a:pathLst>
                </a:custGeom>
                <a:noFill/>
                <a:ln w="11906">
                  <a:solidFill>
                    <a:srgbClr val="B03A1F"/>
                  </a:solidFill>
                </a:ln>
              </p:spPr>
            </p:sp>
            <p:sp>
              <p:nvSpPr>
                <p:cNvPr id="129" name="Freeform 129"/>
                <p:cNvSpPr/>
                <p:nvPr/>
              </p:nvSpPr>
              <p:spPr>
                <a:xfrm>
                  <a:off x="6949678" y="1828800"/>
                  <a:ext cx="9525" cy="23812"/>
                </a:xfrm>
                <a:custGeom>
                  <a:avLst/>
                  <a:gdLst/>
                  <a:ahLst/>
                  <a:cxnLst/>
                  <a:rect l="l" t="t" r="r" b="b"/>
                  <a:pathLst>
                    <a:path w="9525" h="23812">
                      <a:moveTo>
                        <a:pt x="0" y="0"/>
                      </a:moveTo>
                      <a:lnTo>
                        <a:pt x="0" y="23812"/>
                      </a:lnTo>
                    </a:path>
                  </a:pathLst>
                </a:custGeom>
                <a:noFill/>
                <a:ln w="11906">
                  <a:solidFill>
                    <a:srgbClr val="B03A1F"/>
                  </a:solidFill>
                </a:ln>
              </p:spPr>
            </p:sp>
            <p:sp>
              <p:nvSpPr>
                <p:cNvPr id="130" name="Freeform 130"/>
                <p:cNvSpPr/>
                <p:nvPr/>
              </p:nvSpPr>
              <p:spPr>
                <a:xfrm>
                  <a:off x="6985397" y="1828800"/>
                  <a:ext cx="9525" cy="23812"/>
                </a:xfrm>
                <a:custGeom>
                  <a:avLst/>
                  <a:gdLst/>
                  <a:ahLst/>
                  <a:cxnLst/>
                  <a:rect l="l" t="t" r="r" b="b"/>
                  <a:pathLst>
                    <a:path w="9525" h="23812">
                      <a:moveTo>
                        <a:pt x="0" y="0"/>
                      </a:moveTo>
                      <a:lnTo>
                        <a:pt x="0" y="23812"/>
                      </a:lnTo>
                    </a:path>
                  </a:pathLst>
                </a:custGeom>
                <a:noFill/>
                <a:ln w="11906">
                  <a:solidFill>
                    <a:srgbClr val="B03A1F"/>
                  </a:solidFill>
                </a:ln>
              </p:spPr>
            </p:sp>
          </p:grpSp>
          <p:sp>
            <p:nvSpPr>
              <p:cNvPr id="132" name="TextBox 132"/>
              <p:cNvSpPr txBox="1"/>
              <p:nvPr/>
            </p:nvSpPr>
            <p:spPr>
              <a:xfrm>
                <a:off x="7081838" y="175879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客群看板</a:t>
                </a:r>
              </a:p>
            </p:txBody>
          </p:sp>
          <p:sp>
            <p:nvSpPr>
              <p:cNvPr id="133" name="TextBox 133"/>
              <p:cNvSpPr txBox="1"/>
              <p:nvPr/>
            </p:nvSpPr>
            <p:spPr>
              <a:xfrm>
                <a:off x="6891338" y="199263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全局视野，一屏掌握</a:t>
                </a:r>
              </a:p>
            </p:txBody>
          </p:sp>
        </p:grpSp>
        <p:grpSp>
          <p:nvGrpSpPr>
            <p:cNvPr id="175" name="tb-row2"/>
            <p:cNvGrpSpPr/>
            <p:nvPr/>
          </p:nvGrpSpPr>
          <p:grpSpPr>
            <a:xfrm>
              <a:off x="3286125" y="2238375"/>
              <a:ext cx="4638675" cy="542925"/>
              <a:chOff x="3286125" y="2238375"/>
              <a:chExt cx="4638675" cy="542925"/>
            </a:xfrm>
          </p:grpSpPr>
          <p:sp>
            <p:nvSpPr>
              <p:cNvPr id="135" name="Rectangle 135"/>
              <p:cNvSpPr/>
              <p:nvPr/>
            </p:nvSpPr>
            <p:spPr>
              <a:xfrm>
                <a:off x="3286125" y="2238375"/>
                <a:ext cx="1123950" cy="542925"/>
              </a:xfrm>
              <a:prstGeom prst="roundRect">
                <a:avLst>
                  <a:gd name="adj" fmla="val 10526"/>
                </a:avLst>
              </a:prstGeom>
              <a:solidFill>
                <a:srgbClr val="FFFFFF"/>
              </a:solidFill>
              <a:ln w="9525">
                <a:solidFill>
                  <a:srgbClr val="E8E4E0"/>
                </a:solidFill>
              </a:ln>
            </p:spPr>
          </p:sp>
          <p:grpSp>
            <p:nvGrpSpPr>
              <p:cNvPr id="142" name="Group 142"/>
              <p:cNvGrpSpPr/>
              <p:nvPr/>
            </p:nvGrpSpPr>
            <p:grpSpPr>
              <a:xfrm>
                <a:off x="3402211" y="2341364"/>
                <a:ext cx="98226" cy="89892"/>
                <a:chOff x="3402211" y="2341364"/>
                <a:chExt cx="98226" cy="89892"/>
              </a:xfrm>
            </p:grpSpPr>
            <p:sp>
              <p:nvSpPr>
                <p:cNvPr id="136" name="Freeform 136"/>
                <p:cNvSpPr/>
                <p:nvPr/>
              </p:nvSpPr>
              <p:spPr>
                <a:xfrm>
                  <a:off x="3402211" y="2341364"/>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37" name="Freeform 137"/>
                <p:cNvSpPr/>
                <p:nvPr/>
              </p:nvSpPr>
              <p:spPr>
                <a:xfrm>
                  <a:off x="3402211" y="2377083"/>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38" name="Freeform 138"/>
                <p:cNvSpPr/>
                <p:nvPr/>
              </p:nvSpPr>
              <p:spPr>
                <a:xfrm>
                  <a:off x="3402211" y="2412802"/>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39" name="Freeform 139"/>
                <p:cNvSpPr/>
                <p:nvPr/>
              </p:nvSpPr>
              <p:spPr>
                <a:xfrm>
                  <a:off x="3446859" y="2350294"/>
                  <a:ext cx="53578" cy="9525"/>
                </a:xfrm>
                <a:custGeom>
                  <a:avLst/>
                  <a:gdLst/>
                  <a:ahLst/>
                  <a:cxnLst/>
                  <a:rect l="l" t="t" r="r" b="b"/>
                  <a:pathLst>
                    <a:path w="53578" h="9525">
                      <a:moveTo>
                        <a:pt x="0" y="0"/>
                      </a:moveTo>
                      <a:lnTo>
                        <a:pt x="53578" y="0"/>
                      </a:lnTo>
                    </a:path>
                  </a:pathLst>
                </a:custGeom>
                <a:noFill/>
                <a:ln w="11906">
                  <a:solidFill>
                    <a:srgbClr val="B03A1F"/>
                  </a:solidFill>
                </a:ln>
              </p:spPr>
            </p:sp>
            <p:sp>
              <p:nvSpPr>
                <p:cNvPr id="140" name="Freeform 140"/>
                <p:cNvSpPr/>
                <p:nvPr/>
              </p:nvSpPr>
              <p:spPr>
                <a:xfrm>
                  <a:off x="3446859" y="2386012"/>
                  <a:ext cx="53578" cy="9525"/>
                </a:xfrm>
                <a:custGeom>
                  <a:avLst/>
                  <a:gdLst/>
                  <a:ahLst/>
                  <a:cxnLst/>
                  <a:rect l="l" t="t" r="r" b="b"/>
                  <a:pathLst>
                    <a:path w="53578" h="9525">
                      <a:moveTo>
                        <a:pt x="0" y="0"/>
                      </a:moveTo>
                      <a:lnTo>
                        <a:pt x="53578" y="0"/>
                      </a:lnTo>
                    </a:path>
                  </a:pathLst>
                </a:custGeom>
                <a:noFill/>
                <a:ln w="11906">
                  <a:solidFill>
                    <a:srgbClr val="B03A1F"/>
                  </a:solidFill>
                </a:ln>
              </p:spPr>
            </p:sp>
            <p:sp>
              <p:nvSpPr>
                <p:cNvPr id="141" name="Freeform 141"/>
                <p:cNvSpPr/>
                <p:nvPr/>
              </p:nvSpPr>
              <p:spPr>
                <a:xfrm>
                  <a:off x="3446859" y="2421731"/>
                  <a:ext cx="53578" cy="9525"/>
                </a:xfrm>
                <a:custGeom>
                  <a:avLst/>
                  <a:gdLst/>
                  <a:ahLst/>
                  <a:cxnLst/>
                  <a:rect l="l" t="t" r="r" b="b"/>
                  <a:pathLst>
                    <a:path w="53578" h="9525">
                      <a:moveTo>
                        <a:pt x="0" y="0"/>
                      </a:moveTo>
                      <a:lnTo>
                        <a:pt x="53578" y="0"/>
                      </a:lnTo>
                    </a:path>
                  </a:pathLst>
                </a:custGeom>
                <a:noFill/>
                <a:ln w="11906">
                  <a:solidFill>
                    <a:srgbClr val="B03A1F"/>
                  </a:solidFill>
                </a:ln>
              </p:spPr>
            </p:sp>
          </p:grpSp>
          <p:sp>
            <p:nvSpPr>
              <p:cNvPr id="143" name="TextBox 143"/>
              <p:cNvSpPr txBox="1"/>
              <p:nvPr/>
            </p:nvSpPr>
            <p:spPr>
              <a:xfrm>
                <a:off x="3567112" y="2339816"/>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营销任务</a:t>
                </a:r>
              </a:p>
            </p:txBody>
          </p:sp>
          <p:sp>
            <p:nvSpPr>
              <p:cNvPr id="144" name="TextBox 144"/>
              <p:cNvSpPr txBox="1"/>
              <p:nvPr/>
            </p:nvSpPr>
            <p:spPr>
              <a:xfrm>
                <a:off x="3376612" y="2573655"/>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任务下达，目标并行</a:t>
                </a:r>
              </a:p>
            </p:txBody>
          </p:sp>
          <p:sp>
            <p:nvSpPr>
              <p:cNvPr id="145" name="Rectangle 145"/>
              <p:cNvSpPr/>
              <p:nvPr/>
            </p:nvSpPr>
            <p:spPr>
              <a:xfrm>
                <a:off x="4457700" y="2238375"/>
                <a:ext cx="1123950" cy="542925"/>
              </a:xfrm>
              <a:prstGeom prst="roundRect">
                <a:avLst>
                  <a:gd name="adj" fmla="val 10526"/>
                </a:avLst>
              </a:prstGeom>
              <a:solidFill>
                <a:srgbClr val="FFFFFF"/>
              </a:solidFill>
              <a:ln w="9525">
                <a:solidFill>
                  <a:srgbClr val="E8E4E0"/>
                </a:solidFill>
              </a:ln>
            </p:spPr>
          </p:sp>
          <p:grpSp>
            <p:nvGrpSpPr>
              <p:cNvPr id="152" name="Group 152"/>
              <p:cNvGrpSpPr/>
              <p:nvPr/>
            </p:nvGrpSpPr>
            <p:grpSpPr>
              <a:xfrm>
                <a:off x="4573786" y="2341364"/>
                <a:ext cx="98226" cy="89892"/>
                <a:chOff x="4573786" y="2341364"/>
                <a:chExt cx="98226" cy="89892"/>
              </a:xfrm>
            </p:grpSpPr>
            <p:sp>
              <p:nvSpPr>
                <p:cNvPr id="146" name="Freeform 146"/>
                <p:cNvSpPr/>
                <p:nvPr/>
              </p:nvSpPr>
              <p:spPr>
                <a:xfrm>
                  <a:off x="4573786" y="2341364"/>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47" name="Freeform 147"/>
                <p:cNvSpPr/>
                <p:nvPr/>
              </p:nvSpPr>
              <p:spPr>
                <a:xfrm>
                  <a:off x="4573786" y="2377083"/>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48" name="Freeform 148"/>
                <p:cNvSpPr/>
                <p:nvPr/>
              </p:nvSpPr>
              <p:spPr>
                <a:xfrm>
                  <a:off x="4573786" y="2412802"/>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49" name="Freeform 149"/>
                <p:cNvSpPr/>
                <p:nvPr/>
              </p:nvSpPr>
              <p:spPr>
                <a:xfrm>
                  <a:off x="4618434" y="2350294"/>
                  <a:ext cx="53578" cy="9525"/>
                </a:xfrm>
                <a:custGeom>
                  <a:avLst/>
                  <a:gdLst/>
                  <a:ahLst/>
                  <a:cxnLst/>
                  <a:rect l="l" t="t" r="r" b="b"/>
                  <a:pathLst>
                    <a:path w="53578" h="9525">
                      <a:moveTo>
                        <a:pt x="0" y="0"/>
                      </a:moveTo>
                      <a:lnTo>
                        <a:pt x="53578" y="0"/>
                      </a:lnTo>
                    </a:path>
                  </a:pathLst>
                </a:custGeom>
                <a:noFill/>
                <a:ln w="11906">
                  <a:solidFill>
                    <a:srgbClr val="B03A1F"/>
                  </a:solidFill>
                </a:ln>
              </p:spPr>
            </p:sp>
            <p:sp>
              <p:nvSpPr>
                <p:cNvPr id="150" name="Freeform 150"/>
                <p:cNvSpPr/>
                <p:nvPr/>
              </p:nvSpPr>
              <p:spPr>
                <a:xfrm>
                  <a:off x="4618434" y="2386012"/>
                  <a:ext cx="53578" cy="9525"/>
                </a:xfrm>
                <a:custGeom>
                  <a:avLst/>
                  <a:gdLst/>
                  <a:ahLst/>
                  <a:cxnLst/>
                  <a:rect l="l" t="t" r="r" b="b"/>
                  <a:pathLst>
                    <a:path w="53578" h="9525">
                      <a:moveTo>
                        <a:pt x="0" y="0"/>
                      </a:moveTo>
                      <a:lnTo>
                        <a:pt x="53578" y="0"/>
                      </a:lnTo>
                    </a:path>
                  </a:pathLst>
                </a:custGeom>
                <a:noFill/>
                <a:ln w="11906">
                  <a:solidFill>
                    <a:srgbClr val="B03A1F"/>
                  </a:solidFill>
                </a:ln>
              </p:spPr>
            </p:sp>
            <p:sp>
              <p:nvSpPr>
                <p:cNvPr id="151" name="Freeform 151"/>
                <p:cNvSpPr/>
                <p:nvPr/>
              </p:nvSpPr>
              <p:spPr>
                <a:xfrm>
                  <a:off x="4618434" y="2421731"/>
                  <a:ext cx="53578" cy="9525"/>
                </a:xfrm>
                <a:custGeom>
                  <a:avLst/>
                  <a:gdLst/>
                  <a:ahLst/>
                  <a:cxnLst/>
                  <a:rect l="l" t="t" r="r" b="b"/>
                  <a:pathLst>
                    <a:path w="53578" h="9525">
                      <a:moveTo>
                        <a:pt x="0" y="0"/>
                      </a:moveTo>
                      <a:lnTo>
                        <a:pt x="53578" y="0"/>
                      </a:lnTo>
                    </a:path>
                  </a:pathLst>
                </a:custGeom>
                <a:noFill/>
                <a:ln w="11906">
                  <a:solidFill>
                    <a:srgbClr val="B03A1F"/>
                  </a:solidFill>
                </a:ln>
              </p:spPr>
            </p:sp>
          </p:grpSp>
          <p:sp>
            <p:nvSpPr>
              <p:cNvPr id="153" name="TextBox 153"/>
              <p:cNvSpPr txBox="1"/>
              <p:nvPr/>
            </p:nvSpPr>
            <p:spPr>
              <a:xfrm>
                <a:off x="4738688" y="2339816"/>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营销任务</a:t>
                </a:r>
              </a:p>
            </p:txBody>
          </p:sp>
          <p:sp>
            <p:nvSpPr>
              <p:cNvPr id="154" name="TextBox 154"/>
              <p:cNvSpPr txBox="1"/>
              <p:nvPr/>
            </p:nvSpPr>
            <p:spPr>
              <a:xfrm>
                <a:off x="4548188" y="2573655"/>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任务下达，目标并行</a:t>
                </a:r>
              </a:p>
            </p:txBody>
          </p:sp>
          <p:sp>
            <p:nvSpPr>
              <p:cNvPr id="155" name="Rectangle 155"/>
              <p:cNvSpPr/>
              <p:nvPr/>
            </p:nvSpPr>
            <p:spPr>
              <a:xfrm>
                <a:off x="5629275" y="2238375"/>
                <a:ext cx="1123950" cy="542925"/>
              </a:xfrm>
              <a:prstGeom prst="roundRect">
                <a:avLst>
                  <a:gd name="adj" fmla="val 10526"/>
                </a:avLst>
              </a:prstGeom>
              <a:solidFill>
                <a:srgbClr val="FFFFFF"/>
              </a:solidFill>
              <a:ln w="9525">
                <a:solidFill>
                  <a:srgbClr val="E8E4E0"/>
                </a:solidFill>
              </a:ln>
            </p:spPr>
          </p:sp>
          <p:grpSp>
            <p:nvGrpSpPr>
              <p:cNvPr id="162" name="Group 162"/>
              <p:cNvGrpSpPr/>
              <p:nvPr/>
            </p:nvGrpSpPr>
            <p:grpSpPr>
              <a:xfrm>
                <a:off x="5745361" y="2341364"/>
                <a:ext cx="98226" cy="89892"/>
                <a:chOff x="5745361" y="2341364"/>
                <a:chExt cx="98226" cy="89892"/>
              </a:xfrm>
            </p:grpSpPr>
            <p:sp>
              <p:nvSpPr>
                <p:cNvPr id="156" name="Freeform 156"/>
                <p:cNvSpPr/>
                <p:nvPr/>
              </p:nvSpPr>
              <p:spPr>
                <a:xfrm>
                  <a:off x="5745361" y="2341364"/>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57" name="Freeform 157"/>
                <p:cNvSpPr/>
                <p:nvPr/>
              </p:nvSpPr>
              <p:spPr>
                <a:xfrm>
                  <a:off x="5745361" y="2377083"/>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58" name="Freeform 158"/>
                <p:cNvSpPr/>
                <p:nvPr/>
              </p:nvSpPr>
              <p:spPr>
                <a:xfrm>
                  <a:off x="5745361" y="2412802"/>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59" name="Freeform 159"/>
                <p:cNvSpPr/>
                <p:nvPr/>
              </p:nvSpPr>
              <p:spPr>
                <a:xfrm>
                  <a:off x="5790009" y="2350294"/>
                  <a:ext cx="53578" cy="9525"/>
                </a:xfrm>
                <a:custGeom>
                  <a:avLst/>
                  <a:gdLst/>
                  <a:ahLst/>
                  <a:cxnLst/>
                  <a:rect l="l" t="t" r="r" b="b"/>
                  <a:pathLst>
                    <a:path w="53578" h="9525">
                      <a:moveTo>
                        <a:pt x="0" y="0"/>
                      </a:moveTo>
                      <a:lnTo>
                        <a:pt x="53578" y="0"/>
                      </a:lnTo>
                    </a:path>
                  </a:pathLst>
                </a:custGeom>
                <a:noFill/>
                <a:ln w="11906">
                  <a:solidFill>
                    <a:srgbClr val="B03A1F"/>
                  </a:solidFill>
                </a:ln>
              </p:spPr>
            </p:sp>
            <p:sp>
              <p:nvSpPr>
                <p:cNvPr id="160" name="Freeform 160"/>
                <p:cNvSpPr/>
                <p:nvPr/>
              </p:nvSpPr>
              <p:spPr>
                <a:xfrm>
                  <a:off x="5790009" y="2386012"/>
                  <a:ext cx="53578" cy="9525"/>
                </a:xfrm>
                <a:custGeom>
                  <a:avLst/>
                  <a:gdLst/>
                  <a:ahLst/>
                  <a:cxnLst/>
                  <a:rect l="l" t="t" r="r" b="b"/>
                  <a:pathLst>
                    <a:path w="53578" h="9525">
                      <a:moveTo>
                        <a:pt x="0" y="0"/>
                      </a:moveTo>
                      <a:lnTo>
                        <a:pt x="53578" y="0"/>
                      </a:lnTo>
                    </a:path>
                  </a:pathLst>
                </a:custGeom>
                <a:noFill/>
                <a:ln w="11906">
                  <a:solidFill>
                    <a:srgbClr val="B03A1F"/>
                  </a:solidFill>
                </a:ln>
              </p:spPr>
            </p:sp>
            <p:sp>
              <p:nvSpPr>
                <p:cNvPr id="161" name="Freeform 161"/>
                <p:cNvSpPr/>
                <p:nvPr/>
              </p:nvSpPr>
              <p:spPr>
                <a:xfrm>
                  <a:off x="5790009" y="2421731"/>
                  <a:ext cx="53578" cy="9525"/>
                </a:xfrm>
                <a:custGeom>
                  <a:avLst/>
                  <a:gdLst/>
                  <a:ahLst/>
                  <a:cxnLst/>
                  <a:rect l="l" t="t" r="r" b="b"/>
                  <a:pathLst>
                    <a:path w="53578" h="9525">
                      <a:moveTo>
                        <a:pt x="0" y="0"/>
                      </a:moveTo>
                      <a:lnTo>
                        <a:pt x="53578" y="0"/>
                      </a:lnTo>
                    </a:path>
                  </a:pathLst>
                </a:custGeom>
                <a:noFill/>
                <a:ln w="11906">
                  <a:solidFill>
                    <a:srgbClr val="B03A1F"/>
                  </a:solidFill>
                </a:ln>
              </p:spPr>
            </p:sp>
          </p:grpSp>
          <p:sp>
            <p:nvSpPr>
              <p:cNvPr id="163" name="TextBox 163"/>
              <p:cNvSpPr txBox="1"/>
              <p:nvPr/>
            </p:nvSpPr>
            <p:spPr>
              <a:xfrm>
                <a:off x="5910262" y="2339816"/>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营销任务</a:t>
                </a:r>
              </a:p>
            </p:txBody>
          </p:sp>
          <p:sp>
            <p:nvSpPr>
              <p:cNvPr id="164" name="TextBox 164"/>
              <p:cNvSpPr txBox="1"/>
              <p:nvPr/>
            </p:nvSpPr>
            <p:spPr>
              <a:xfrm>
                <a:off x="5719762" y="2573655"/>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任务下达，目标并行</a:t>
                </a:r>
              </a:p>
            </p:txBody>
          </p:sp>
          <p:sp>
            <p:nvSpPr>
              <p:cNvPr id="165" name="Rectangle 165"/>
              <p:cNvSpPr/>
              <p:nvPr/>
            </p:nvSpPr>
            <p:spPr>
              <a:xfrm>
                <a:off x="6800850" y="2238375"/>
                <a:ext cx="1123950" cy="542925"/>
              </a:xfrm>
              <a:prstGeom prst="roundRect">
                <a:avLst>
                  <a:gd name="adj" fmla="val 10526"/>
                </a:avLst>
              </a:prstGeom>
              <a:solidFill>
                <a:srgbClr val="FFFFFF"/>
              </a:solidFill>
              <a:ln w="9525">
                <a:solidFill>
                  <a:srgbClr val="E8E4E0"/>
                </a:solidFill>
              </a:ln>
            </p:spPr>
          </p:sp>
          <p:grpSp>
            <p:nvGrpSpPr>
              <p:cNvPr id="172" name="Group 172"/>
              <p:cNvGrpSpPr/>
              <p:nvPr/>
            </p:nvGrpSpPr>
            <p:grpSpPr>
              <a:xfrm>
                <a:off x="6916936" y="2341364"/>
                <a:ext cx="98226" cy="89892"/>
                <a:chOff x="6916936" y="2341364"/>
                <a:chExt cx="98226" cy="89892"/>
              </a:xfrm>
            </p:grpSpPr>
            <p:sp>
              <p:nvSpPr>
                <p:cNvPr id="166" name="Freeform 166"/>
                <p:cNvSpPr/>
                <p:nvPr/>
              </p:nvSpPr>
              <p:spPr>
                <a:xfrm>
                  <a:off x="6916936" y="2341364"/>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67" name="Freeform 167"/>
                <p:cNvSpPr/>
                <p:nvPr/>
              </p:nvSpPr>
              <p:spPr>
                <a:xfrm>
                  <a:off x="6916936" y="2377083"/>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68" name="Freeform 168"/>
                <p:cNvSpPr/>
                <p:nvPr/>
              </p:nvSpPr>
              <p:spPr>
                <a:xfrm>
                  <a:off x="6916936" y="2412802"/>
                  <a:ext cx="23812" cy="14883"/>
                </a:xfrm>
                <a:custGeom>
                  <a:avLst/>
                  <a:gdLst/>
                  <a:ahLst/>
                  <a:cxnLst/>
                  <a:rect l="l" t="t" r="r" b="b"/>
                  <a:pathLst>
                    <a:path w="23812" h="14883">
                      <a:moveTo>
                        <a:pt x="0" y="5953"/>
                      </a:moveTo>
                      <a:lnTo>
                        <a:pt x="8930" y="14883"/>
                      </a:lnTo>
                      <a:lnTo>
                        <a:pt x="23812" y="0"/>
                      </a:lnTo>
                    </a:path>
                  </a:pathLst>
                </a:custGeom>
                <a:noFill/>
                <a:ln w="11906">
                  <a:solidFill>
                    <a:srgbClr val="B03A1F"/>
                  </a:solidFill>
                </a:ln>
              </p:spPr>
            </p:sp>
            <p:sp>
              <p:nvSpPr>
                <p:cNvPr id="169" name="Freeform 169"/>
                <p:cNvSpPr/>
                <p:nvPr/>
              </p:nvSpPr>
              <p:spPr>
                <a:xfrm>
                  <a:off x="6961584" y="2350294"/>
                  <a:ext cx="53578" cy="9525"/>
                </a:xfrm>
                <a:custGeom>
                  <a:avLst/>
                  <a:gdLst/>
                  <a:ahLst/>
                  <a:cxnLst/>
                  <a:rect l="l" t="t" r="r" b="b"/>
                  <a:pathLst>
                    <a:path w="53578" h="9525">
                      <a:moveTo>
                        <a:pt x="0" y="0"/>
                      </a:moveTo>
                      <a:lnTo>
                        <a:pt x="53578" y="0"/>
                      </a:lnTo>
                    </a:path>
                  </a:pathLst>
                </a:custGeom>
                <a:noFill/>
                <a:ln w="11906">
                  <a:solidFill>
                    <a:srgbClr val="B03A1F"/>
                  </a:solidFill>
                </a:ln>
              </p:spPr>
            </p:sp>
            <p:sp>
              <p:nvSpPr>
                <p:cNvPr id="170" name="Freeform 170"/>
                <p:cNvSpPr/>
                <p:nvPr/>
              </p:nvSpPr>
              <p:spPr>
                <a:xfrm>
                  <a:off x="6961584" y="2386012"/>
                  <a:ext cx="53578" cy="9525"/>
                </a:xfrm>
                <a:custGeom>
                  <a:avLst/>
                  <a:gdLst/>
                  <a:ahLst/>
                  <a:cxnLst/>
                  <a:rect l="l" t="t" r="r" b="b"/>
                  <a:pathLst>
                    <a:path w="53578" h="9525">
                      <a:moveTo>
                        <a:pt x="0" y="0"/>
                      </a:moveTo>
                      <a:lnTo>
                        <a:pt x="53578" y="0"/>
                      </a:lnTo>
                    </a:path>
                  </a:pathLst>
                </a:custGeom>
                <a:noFill/>
                <a:ln w="11906">
                  <a:solidFill>
                    <a:srgbClr val="B03A1F"/>
                  </a:solidFill>
                </a:ln>
              </p:spPr>
            </p:sp>
            <p:sp>
              <p:nvSpPr>
                <p:cNvPr id="171" name="Freeform 171"/>
                <p:cNvSpPr/>
                <p:nvPr/>
              </p:nvSpPr>
              <p:spPr>
                <a:xfrm>
                  <a:off x="6961584" y="2421731"/>
                  <a:ext cx="53578" cy="9525"/>
                </a:xfrm>
                <a:custGeom>
                  <a:avLst/>
                  <a:gdLst/>
                  <a:ahLst/>
                  <a:cxnLst/>
                  <a:rect l="l" t="t" r="r" b="b"/>
                  <a:pathLst>
                    <a:path w="53578" h="9525">
                      <a:moveTo>
                        <a:pt x="0" y="0"/>
                      </a:moveTo>
                      <a:lnTo>
                        <a:pt x="53578" y="0"/>
                      </a:lnTo>
                    </a:path>
                  </a:pathLst>
                </a:custGeom>
                <a:noFill/>
                <a:ln w="11906">
                  <a:solidFill>
                    <a:srgbClr val="B03A1F"/>
                  </a:solidFill>
                </a:ln>
              </p:spPr>
            </p:sp>
          </p:grpSp>
          <p:sp>
            <p:nvSpPr>
              <p:cNvPr id="173" name="TextBox 173"/>
              <p:cNvSpPr txBox="1"/>
              <p:nvPr/>
            </p:nvSpPr>
            <p:spPr>
              <a:xfrm>
                <a:off x="7081838" y="2339816"/>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营销任务</a:t>
                </a:r>
              </a:p>
            </p:txBody>
          </p:sp>
          <p:sp>
            <p:nvSpPr>
              <p:cNvPr id="174" name="TextBox 174"/>
              <p:cNvSpPr txBox="1"/>
              <p:nvPr/>
            </p:nvSpPr>
            <p:spPr>
              <a:xfrm>
                <a:off x="6891338" y="2573655"/>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任务下达，目标并行</a:t>
                </a:r>
              </a:p>
            </p:txBody>
          </p:sp>
        </p:grpSp>
        <p:grpSp>
          <p:nvGrpSpPr>
            <p:cNvPr id="192" name="tb-row3"/>
            <p:cNvGrpSpPr/>
            <p:nvPr/>
          </p:nvGrpSpPr>
          <p:grpSpPr>
            <a:xfrm>
              <a:off x="3286125" y="2819400"/>
              <a:ext cx="4638675" cy="542925"/>
              <a:chOff x="3286125" y="2819400"/>
              <a:chExt cx="4638675" cy="542925"/>
            </a:xfrm>
          </p:grpSpPr>
          <p:sp>
            <p:nvSpPr>
              <p:cNvPr id="176" name="Rectangle 176"/>
              <p:cNvSpPr/>
              <p:nvPr/>
            </p:nvSpPr>
            <p:spPr>
              <a:xfrm>
                <a:off x="3286125" y="2819400"/>
                <a:ext cx="1123950" cy="542925"/>
              </a:xfrm>
              <a:prstGeom prst="roundRect">
                <a:avLst>
                  <a:gd name="adj" fmla="val 10526"/>
                </a:avLst>
              </a:prstGeom>
              <a:solidFill>
                <a:srgbClr val="FFFFFF"/>
              </a:solidFill>
              <a:ln w="9525">
                <a:solidFill>
                  <a:srgbClr val="E8E4E0"/>
                </a:solidFill>
              </a:ln>
            </p:spPr>
          </p:sp>
          <p:sp>
            <p:nvSpPr>
              <p:cNvPr id="177" name="Freeform 177"/>
              <p:cNvSpPr/>
              <p:nvPr/>
            </p:nvSpPr>
            <p:spPr>
              <a:xfrm>
                <a:off x="3393323" y="2907518"/>
                <a:ext cx="118896" cy="113068"/>
              </a:xfrm>
              <a:custGeom>
                <a:avLst/>
                <a:gdLst/>
                <a:ahLst/>
                <a:cxnLst/>
                <a:rect l="l" t="t" r="r" b="b"/>
                <a:pathLst>
                  <a:path w="118896" h="113068">
                    <a:moveTo>
                      <a:pt x="59490" y="93750"/>
                    </a:moveTo>
                    <a:lnTo>
                      <a:pt x="22747" y="113068"/>
                    </a:lnTo>
                    <a:lnTo>
                      <a:pt x="29766" y="72152"/>
                    </a:lnTo>
                    <a:lnTo>
                      <a:pt x="0" y="43178"/>
                    </a:lnTo>
                    <a:lnTo>
                      <a:pt x="41077" y="37225"/>
                    </a:lnTo>
                    <a:lnTo>
                      <a:pt x="59448" y="0"/>
                    </a:lnTo>
                    <a:lnTo>
                      <a:pt x="77819" y="37225"/>
                    </a:lnTo>
                    <a:lnTo>
                      <a:pt x="118896" y="43178"/>
                    </a:lnTo>
                    <a:lnTo>
                      <a:pt x="89130" y="72152"/>
                    </a:lnTo>
                    <a:lnTo>
                      <a:pt x="96149" y="113068"/>
                    </a:lnTo>
                    <a:lnTo>
                      <a:pt x="59490" y="93750"/>
                    </a:lnTo>
                  </a:path>
                </a:pathLst>
              </a:custGeom>
              <a:noFill/>
              <a:ln w="11906">
                <a:solidFill>
                  <a:srgbClr val="B03A1F"/>
                </a:solidFill>
              </a:ln>
            </p:spPr>
          </p:sp>
          <p:sp>
            <p:nvSpPr>
              <p:cNvPr id="178" name="TextBox 178"/>
              <p:cNvSpPr txBox="1"/>
              <p:nvPr/>
            </p:nvSpPr>
            <p:spPr>
              <a:xfrm>
                <a:off x="3567112" y="292084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线索评分</a:t>
                </a:r>
              </a:p>
            </p:txBody>
          </p:sp>
          <p:sp>
            <p:nvSpPr>
              <p:cNvPr id="179" name="TextBox 179"/>
              <p:cNvSpPr txBox="1"/>
              <p:nvPr/>
            </p:nvSpPr>
            <p:spPr>
              <a:xfrm>
                <a:off x="3376612" y="315468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智能评分，优先跟进</a:t>
                </a:r>
              </a:p>
            </p:txBody>
          </p:sp>
          <p:sp>
            <p:nvSpPr>
              <p:cNvPr id="180" name="Rectangle 180"/>
              <p:cNvSpPr/>
              <p:nvPr/>
            </p:nvSpPr>
            <p:spPr>
              <a:xfrm>
                <a:off x="4457700" y="2819400"/>
                <a:ext cx="1123950" cy="542925"/>
              </a:xfrm>
              <a:prstGeom prst="roundRect">
                <a:avLst>
                  <a:gd name="adj" fmla="val 10526"/>
                </a:avLst>
              </a:prstGeom>
              <a:solidFill>
                <a:srgbClr val="FFFFFF"/>
              </a:solidFill>
              <a:ln w="9525">
                <a:solidFill>
                  <a:srgbClr val="E8E4E0"/>
                </a:solidFill>
              </a:ln>
            </p:spPr>
          </p:sp>
          <p:sp>
            <p:nvSpPr>
              <p:cNvPr id="181" name="Freeform 181"/>
              <p:cNvSpPr/>
              <p:nvPr/>
            </p:nvSpPr>
            <p:spPr>
              <a:xfrm>
                <a:off x="4564898" y="2907518"/>
                <a:ext cx="118896" cy="113068"/>
              </a:xfrm>
              <a:custGeom>
                <a:avLst/>
                <a:gdLst/>
                <a:ahLst/>
                <a:cxnLst/>
                <a:rect l="l" t="t" r="r" b="b"/>
                <a:pathLst>
                  <a:path w="118896" h="113068">
                    <a:moveTo>
                      <a:pt x="59490" y="93750"/>
                    </a:moveTo>
                    <a:lnTo>
                      <a:pt x="22747" y="113068"/>
                    </a:lnTo>
                    <a:lnTo>
                      <a:pt x="29766" y="72152"/>
                    </a:lnTo>
                    <a:lnTo>
                      <a:pt x="0" y="43178"/>
                    </a:lnTo>
                    <a:lnTo>
                      <a:pt x="41077" y="37225"/>
                    </a:lnTo>
                    <a:lnTo>
                      <a:pt x="59448" y="0"/>
                    </a:lnTo>
                    <a:lnTo>
                      <a:pt x="77819" y="37225"/>
                    </a:lnTo>
                    <a:lnTo>
                      <a:pt x="118896" y="43178"/>
                    </a:lnTo>
                    <a:lnTo>
                      <a:pt x="89130" y="72152"/>
                    </a:lnTo>
                    <a:lnTo>
                      <a:pt x="96149" y="113068"/>
                    </a:lnTo>
                    <a:lnTo>
                      <a:pt x="59490" y="93750"/>
                    </a:lnTo>
                  </a:path>
                </a:pathLst>
              </a:custGeom>
              <a:noFill/>
              <a:ln w="11906">
                <a:solidFill>
                  <a:srgbClr val="B03A1F"/>
                </a:solidFill>
              </a:ln>
            </p:spPr>
          </p:sp>
          <p:sp>
            <p:nvSpPr>
              <p:cNvPr id="182" name="TextBox 182"/>
              <p:cNvSpPr txBox="1"/>
              <p:nvPr/>
            </p:nvSpPr>
            <p:spPr>
              <a:xfrm>
                <a:off x="4738688" y="292084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线索评分</a:t>
                </a:r>
              </a:p>
            </p:txBody>
          </p:sp>
          <p:sp>
            <p:nvSpPr>
              <p:cNvPr id="183" name="TextBox 183"/>
              <p:cNvSpPr txBox="1"/>
              <p:nvPr/>
            </p:nvSpPr>
            <p:spPr>
              <a:xfrm>
                <a:off x="4548188" y="315468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智能评分，优先跟进</a:t>
                </a:r>
              </a:p>
            </p:txBody>
          </p:sp>
          <p:sp>
            <p:nvSpPr>
              <p:cNvPr id="184" name="Rectangle 184"/>
              <p:cNvSpPr/>
              <p:nvPr/>
            </p:nvSpPr>
            <p:spPr>
              <a:xfrm>
                <a:off x="5629275" y="2819400"/>
                <a:ext cx="1123950" cy="542925"/>
              </a:xfrm>
              <a:prstGeom prst="roundRect">
                <a:avLst>
                  <a:gd name="adj" fmla="val 10526"/>
                </a:avLst>
              </a:prstGeom>
              <a:solidFill>
                <a:srgbClr val="FFFFFF"/>
              </a:solidFill>
              <a:ln w="9525">
                <a:solidFill>
                  <a:srgbClr val="E8E4E0"/>
                </a:solidFill>
              </a:ln>
            </p:spPr>
          </p:sp>
          <p:sp>
            <p:nvSpPr>
              <p:cNvPr id="185" name="Freeform 185"/>
              <p:cNvSpPr/>
              <p:nvPr/>
            </p:nvSpPr>
            <p:spPr>
              <a:xfrm>
                <a:off x="5736473" y="2907518"/>
                <a:ext cx="118896" cy="113068"/>
              </a:xfrm>
              <a:custGeom>
                <a:avLst/>
                <a:gdLst/>
                <a:ahLst/>
                <a:cxnLst/>
                <a:rect l="l" t="t" r="r" b="b"/>
                <a:pathLst>
                  <a:path w="118896" h="113068">
                    <a:moveTo>
                      <a:pt x="59490" y="93750"/>
                    </a:moveTo>
                    <a:lnTo>
                      <a:pt x="22747" y="113068"/>
                    </a:lnTo>
                    <a:lnTo>
                      <a:pt x="29766" y="72152"/>
                    </a:lnTo>
                    <a:lnTo>
                      <a:pt x="0" y="43178"/>
                    </a:lnTo>
                    <a:lnTo>
                      <a:pt x="41077" y="37225"/>
                    </a:lnTo>
                    <a:lnTo>
                      <a:pt x="59448" y="0"/>
                    </a:lnTo>
                    <a:lnTo>
                      <a:pt x="77819" y="37225"/>
                    </a:lnTo>
                    <a:lnTo>
                      <a:pt x="118896" y="43178"/>
                    </a:lnTo>
                    <a:lnTo>
                      <a:pt x="89130" y="72152"/>
                    </a:lnTo>
                    <a:lnTo>
                      <a:pt x="96149" y="113068"/>
                    </a:lnTo>
                    <a:lnTo>
                      <a:pt x="59490" y="93750"/>
                    </a:lnTo>
                  </a:path>
                </a:pathLst>
              </a:custGeom>
              <a:noFill/>
              <a:ln w="11906">
                <a:solidFill>
                  <a:srgbClr val="B03A1F"/>
                </a:solidFill>
              </a:ln>
            </p:spPr>
          </p:sp>
          <p:sp>
            <p:nvSpPr>
              <p:cNvPr id="186" name="TextBox 186"/>
              <p:cNvSpPr txBox="1"/>
              <p:nvPr/>
            </p:nvSpPr>
            <p:spPr>
              <a:xfrm>
                <a:off x="5910262" y="292084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线索评分</a:t>
                </a:r>
              </a:p>
            </p:txBody>
          </p:sp>
          <p:sp>
            <p:nvSpPr>
              <p:cNvPr id="187" name="TextBox 187"/>
              <p:cNvSpPr txBox="1"/>
              <p:nvPr/>
            </p:nvSpPr>
            <p:spPr>
              <a:xfrm>
                <a:off x="5719762" y="315468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智能评分，优先跟进</a:t>
                </a:r>
              </a:p>
            </p:txBody>
          </p:sp>
          <p:sp>
            <p:nvSpPr>
              <p:cNvPr id="188" name="Rectangle 188"/>
              <p:cNvSpPr/>
              <p:nvPr/>
            </p:nvSpPr>
            <p:spPr>
              <a:xfrm>
                <a:off x="6800850" y="2819400"/>
                <a:ext cx="1123950" cy="542925"/>
              </a:xfrm>
              <a:prstGeom prst="roundRect">
                <a:avLst>
                  <a:gd name="adj" fmla="val 10526"/>
                </a:avLst>
              </a:prstGeom>
              <a:solidFill>
                <a:srgbClr val="FFFFFF"/>
              </a:solidFill>
              <a:ln w="9525">
                <a:solidFill>
                  <a:srgbClr val="E8E4E0"/>
                </a:solidFill>
              </a:ln>
            </p:spPr>
          </p:sp>
          <p:sp>
            <p:nvSpPr>
              <p:cNvPr id="189" name="Freeform 189"/>
              <p:cNvSpPr/>
              <p:nvPr/>
            </p:nvSpPr>
            <p:spPr>
              <a:xfrm>
                <a:off x="6908048" y="2907518"/>
                <a:ext cx="118896" cy="113068"/>
              </a:xfrm>
              <a:custGeom>
                <a:avLst/>
                <a:gdLst/>
                <a:ahLst/>
                <a:cxnLst/>
                <a:rect l="l" t="t" r="r" b="b"/>
                <a:pathLst>
                  <a:path w="118896" h="113068">
                    <a:moveTo>
                      <a:pt x="59490" y="93750"/>
                    </a:moveTo>
                    <a:lnTo>
                      <a:pt x="22747" y="113068"/>
                    </a:lnTo>
                    <a:lnTo>
                      <a:pt x="29766" y="72152"/>
                    </a:lnTo>
                    <a:lnTo>
                      <a:pt x="0" y="43178"/>
                    </a:lnTo>
                    <a:lnTo>
                      <a:pt x="41077" y="37225"/>
                    </a:lnTo>
                    <a:lnTo>
                      <a:pt x="59448" y="0"/>
                    </a:lnTo>
                    <a:lnTo>
                      <a:pt x="77819" y="37225"/>
                    </a:lnTo>
                    <a:lnTo>
                      <a:pt x="118896" y="43178"/>
                    </a:lnTo>
                    <a:lnTo>
                      <a:pt x="89130" y="72152"/>
                    </a:lnTo>
                    <a:lnTo>
                      <a:pt x="96149" y="113068"/>
                    </a:lnTo>
                    <a:lnTo>
                      <a:pt x="59490" y="93750"/>
                    </a:lnTo>
                  </a:path>
                </a:pathLst>
              </a:custGeom>
              <a:noFill/>
              <a:ln w="11906">
                <a:solidFill>
                  <a:srgbClr val="B03A1F"/>
                </a:solidFill>
              </a:ln>
            </p:spPr>
          </p:sp>
          <p:sp>
            <p:nvSpPr>
              <p:cNvPr id="190" name="TextBox 190"/>
              <p:cNvSpPr txBox="1"/>
              <p:nvPr/>
            </p:nvSpPr>
            <p:spPr>
              <a:xfrm>
                <a:off x="7081838" y="292084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线索评分</a:t>
                </a:r>
              </a:p>
            </p:txBody>
          </p:sp>
          <p:sp>
            <p:nvSpPr>
              <p:cNvPr id="191" name="TextBox 191"/>
              <p:cNvSpPr txBox="1"/>
              <p:nvPr/>
            </p:nvSpPr>
            <p:spPr>
              <a:xfrm>
                <a:off x="6891338" y="315468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智能评分，优先跟进</a:t>
                </a:r>
              </a:p>
            </p:txBody>
          </p:sp>
        </p:grpSp>
        <p:grpSp>
          <p:nvGrpSpPr>
            <p:cNvPr id="209" name="tb-row4"/>
            <p:cNvGrpSpPr/>
            <p:nvPr/>
          </p:nvGrpSpPr>
          <p:grpSpPr>
            <a:xfrm>
              <a:off x="3286125" y="3409950"/>
              <a:ext cx="4638675" cy="542925"/>
              <a:chOff x="3286125" y="3409950"/>
              <a:chExt cx="4638675" cy="542925"/>
            </a:xfrm>
          </p:grpSpPr>
          <p:sp>
            <p:nvSpPr>
              <p:cNvPr id="193" name="Rectangle 193"/>
              <p:cNvSpPr/>
              <p:nvPr/>
            </p:nvSpPr>
            <p:spPr>
              <a:xfrm>
                <a:off x="3286125" y="3409950"/>
                <a:ext cx="1123950" cy="542925"/>
              </a:xfrm>
              <a:prstGeom prst="roundRect">
                <a:avLst>
                  <a:gd name="adj" fmla="val 10526"/>
                </a:avLst>
              </a:prstGeom>
              <a:solidFill>
                <a:srgbClr val="FFFFFF"/>
              </a:solidFill>
              <a:ln w="9525">
                <a:solidFill>
                  <a:srgbClr val="E8E4E0"/>
                </a:solidFill>
              </a:ln>
            </p:spPr>
          </p:sp>
          <p:sp>
            <p:nvSpPr>
              <p:cNvPr id="194" name="Freeform 194"/>
              <p:cNvSpPr/>
              <p:nvPr/>
            </p:nvSpPr>
            <p:spPr>
              <a:xfrm>
                <a:off x="3393138" y="3505349"/>
                <a:ext cx="118848" cy="105352"/>
              </a:xfrm>
              <a:custGeom>
                <a:avLst/>
                <a:gdLst/>
                <a:ahLst/>
                <a:cxnLst/>
                <a:rect l="l" t="t" r="r" b="b"/>
                <a:pathLst>
                  <a:path w="118848" h="105352">
                    <a:moveTo>
                      <a:pt x="6096" y="99864"/>
                    </a:moveTo>
                    <a:lnTo>
                      <a:pt x="13835" y="76646"/>
                    </a:lnTo>
                    <a:cubicBezTo>
                      <a:pt x="0" y="56186"/>
                      <a:pt x="5346" y="29783"/>
                      <a:pt x="26337" y="14889"/>
                    </a:cubicBezTo>
                    <a:cubicBezTo>
                      <a:pt x="47327" y="0"/>
                      <a:pt x="77474" y="1220"/>
                      <a:pt x="96851" y="17746"/>
                    </a:cubicBezTo>
                    <a:cubicBezTo>
                      <a:pt x="116229" y="34278"/>
                      <a:pt x="118848" y="61002"/>
                      <a:pt x="102977" y="80260"/>
                    </a:cubicBezTo>
                    <a:cubicBezTo>
                      <a:pt x="87106" y="99518"/>
                      <a:pt x="57644" y="105352"/>
                      <a:pt x="34076" y="93911"/>
                    </a:cubicBezTo>
                    <a:lnTo>
                      <a:pt x="6096" y="99864"/>
                    </a:lnTo>
                  </a:path>
                </a:pathLst>
              </a:custGeom>
              <a:noFill/>
              <a:ln w="11906">
                <a:solidFill>
                  <a:srgbClr val="B03A1F"/>
                </a:solidFill>
              </a:ln>
            </p:spPr>
          </p:sp>
          <p:sp>
            <p:nvSpPr>
              <p:cNvPr id="195" name="TextBox 195"/>
              <p:cNvSpPr txBox="1"/>
              <p:nvPr/>
            </p:nvSpPr>
            <p:spPr>
              <a:xfrm>
                <a:off x="3567112" y="351139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话术助手</a:t>
                </a:r>
              </a:p>
            </p:txBody>
          </p:sp>
          <p:sp>
            <p:nvSpPr>
              <p:cNvPr id="196" name="TextBox 196"/>
              <p:cNvSpPr txBox="1"/>
              <p:nvPr/>
            </p:nvSpPr>
            <p:spPr>
              <a:xfrm>
                <a:off x="3376612" y="374523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智能推荐，沟通更顺</a:t>
                </a:r>
              </a:p>
            </p:txBody>
          </p:sp>
          <p:sp>
            <p:nvSpPr>
              <p:cNvPr id="197" name="Rectangle 197"/>
              <p:cNvSpPr/>
              <p:nvPr/>
            </p:nvSpPr>
            <p:spPr>
              <a:xfrm>
                <a:off x="4457700" y="3409950"/>
                <a:ext cx="1123950" cy="542925"/>
              </a:xfrm>
              <a:prstGeom prst="roundRect">
                <a:avLst>
                  <a:gd name="adj" fmla="val 10526"/>
                </a:avLst>
              </a:prstGeom>
              <a:solidFill>
                <a:srgbClr val="FFFFFF"/>
              </a:solidFill>
              <a:ln w="9525">
                <a:solidFill>
                  <a:srgbClr val="E8E4E0"/>
                </a:solidFill>
              </a:ln>
            </p:spPr>
          </p:sp>
          <p:sp>
            <p:nvSpPr>
              <p:cNvPr id="198" name="Freeform 198"/>
              <p:cNvSpPr/>
              <p:nvPr/>
            </p:nvSpPr>
            <p:spPr>
              <a:xfrm>
                <a:off x="4564713" y="3505349"/>
                <a:ext cx="118848" cy="105352"/>
              </a:xfrm>
              <a:custGeom>
                <a:avLst/>
                <a:gdLst/>
                <a:ahLst/>
                <a:cxnLst/>
                <a:rect l="l" t="t" r="r" b="b"/>
                <a:pathLst>
                  <a:path w="118848" h="105352">
                    <a:moveTo>
                      <a:pt x="6096" y="99864"/>
                    </a:moveTo>
                    <a:lnTo>
                      <a:pt x="13835" y="76646"/>
                    </a:lnTo>
                    <a:cubicBezTo>
                      <a:pt x="0" y="56186"/>
                      <a:pt x="5346" y="29783"/>
                      <a:pt x="26337" y="14889"/>
                    </a:cubicBezTo>
                    <a:cubicBezTo>
                      <a:pt x="47327" y="0"/>
                      <a:pt x="77474" y="1220"/>
                      <a:pt x="96851" y="17746"/>
                    </a:cubicBezTo>
                    <a:cubicBezTo>
                      <a:pt x="116229" y="34278"/>
                      <a:pt x="118848" y="61002"/>
                      <a:pt x="102977" y="80260"/>
                    </a:cubicBezTo>
                    <a:cubicBezTo>
                      <a:pt x="87106" y="99518"/>
                      <a:pt x="57644" y="105352"/>
                      <a:pt x="34076" y="93911"/>
                    </a:cubicBezTo>
                    <a:lnTo>
                      <a:pt x="6096" y="99864"/>
                    </a:lnTo>
                  </a:path>
                </a:pathLst>
              </a:custGeom>
              <a:noFill/>
              <a:ln w="11906">
                <a:solidFill>
                  <a:srgbClr val="B03A1F"/>
                </a:solidFill>
              </a:ln>
            </p:spPr>
          </p:sp>
          <p:sp>
            <p:nvSpPr>
              <p:cNvPr id="199" name="TextBox 199"/>
              <p:cNvSpPr txBox="1"/>
              <p:nvPr/>
            </p:nvSpPr>
            <p:spPr>
              <a:xfrm>
                <a:off x="4738688" y="351139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话术助手</a:t>
                </a:r>
              </a:p>
            </p:txBody>
          </p:sp>
          <p:sp>
            <p:nvSpPr>
              <p:cNvPr id="200" name="TextBox 200"/>
              <p:cNvSpPr txBox="1"/>
              <p:nvPr/>
            </p:nvSpPr>
            <p:spPr>
              <a:xfrm>
                <a:off x="4548188" y="374523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智能推荐，沟通更顺</a:t>
                </a:r>
              </a:p>
            </p:txBody>
          </p:sp>
          <p:sp>
            <p:nvSpPr>
              <p:cNvPr id="201" name="Rectangle 201"/>
              <p:cNvSpPr/>
              <p:nvPr/>
            </p:nvSpPr>
            <p:spPr>
              <a:xfrm>
                <a:off x="5629275" y="3409950"/>
                <a:ext cx="1123950" cy="542925"/>
              </a:xfrm>
              <a:prstGeom prst="roundRect">
                <a:avLst>
                  <a:gd name="adj" fmla="val 10526"/>
                </a:avLst>
              </a:prstGeom>
              <a:solidFill>
                <a:srgbClr val="FFFFFF"/>
              </a:solidFill>
              <a:ln w="9525">
                <a:solidFill>
                  <a:srgbClr val="E8E4E0"/>
                </a:solidFill>
              </a:ln>
            </p:spPr>
          </p:sp>
          <p:sp>
            <p:nvSpPr>
              <p:cNvPr id="202" name="Freeform 202"/>
              <p:cNvSpPr/>
              <p:nvPr/>
            </p:nvSpPr>
            <p:spPr>
              <a:xfrm>
                <a:off x="5736288" y="3505349"/>
                <a:ext cx="118848" cy="105352"/>
              </a:xfrm>
              <a:custGeom>
                <a:avLst/>
                <a:gdLst/>
                <a:ahLst/>
                <a:cxnLst/>
                <a:rect l="l" t="t" r="r" b="b"/>
                <a:pathLst>
                  <a:path w="118848" h="105352">
                    <a:moveTo>
                      <a:pt x="6096" y="99864"/>
                    </a:moveTo>
                    <a:lnTo>
                      <a:pt x="13835" y="76646"/>
                    </a:lnTo>
                    <a:cubicBezTo>
                      <a:pt x="0" y="56186"/>
                      <a:pt x="5346" y="29783"/>
                      <a:pt x="26337" y="14889"/>
                    </a:cubicBezTo>
                    <a:cubicBezTo>
                      <a:pt x="47327" y="0"/>
                      <a:pt x="77474" y="1220"/>
                      <a:pt x="96851" y="17746"/>
                    </a:cubicBezTo>
                    <a:cubicBezTo>
                      <a:pt x="116229" y="34278"/>
                      <a:pt x="118848" y="61002"/>
                      <a:pt x="102977" y="80260"/>
                    </a:cubicBezTo>
                    <a:cubicBezTo>
                      <a:pt x="87106" y="99518"/>
                      <a:pt x="57644" y="105352"/>
                      <a:pt x="34076" y="93911"/>
                    </a:cubicBezTo>
                    <a:lnTo>
                      <a:pt x="6096" y="99864"/>
                    </a:lnTo>
                  </a:path>
                </a:pathLst>
              </a:custGeom>
              <a:noFill/>
              <a:ln w="11906">
                <a:solidFill>
                  <a:srgbClr val="B03A1F"/>
                </a:solidFill>
              </a:ln>
            </p:spPr>
          </p:sp>
          <p:sp>
            <p:nvSpPr>
              <p:cNvPr id="203" name="TextBox 203"/>
              <p:cNvSpPr txBox="1"/>
              <p:nvPr/>
            </p:nvSpPr>
            <p:spPr>
              <a:xfrm>
                <a:off x="5910262" y="351139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话术助手</a:t>
                </a:r>
              </a:p>
            </p:txBody>
          </p:sp>
          <p:sp>
            <p:nvSpPr>
              <p:cNvPr id="204" name="TextBox 204"/>
              <p:cNvSpPr txBox="1"/>
              <p:nvPr/>
            </p:nvSpPr>
            <p:spPr>
              <a:xfrm>
                <a:off x="5719762" y="374523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智能推荐，沟通更顺</a:t>
                </a:r>
              </a:p>
            </p:txBody>
          </p:sp>
          <p:sp>
            <p:nvSpPr>
              <p:cNvPr id="205" name="Rectangle 205"/>
              <p:cNvSpPr/>
              <p:nvPr/>
            </p:nvSpPr>
            <p:spPr>
              <a:xfrm>
                <a:off x="6800850" y="3409950"/>
                <a:ext cx="1123950" cy="542925"/>
              </a:xfrm>
              <a:prstGeom prst="roundRect">
                <a:avLst>
                  <a:gd name="adj" fmla="val 10526"/>
                </a:avLst>
              </a:prstGeom>
              <a:solidFill>
                <a:srgbClr val="FFFFFF"/>
              </a:solidFill>
              <a:ln w="9525">
                <a:solidFill>
                  <a:srgbClr val="E8E4E0"/>
                </a:solidFill>
              </a:ln>
            </p:spPr>
          </p:sp>
          <p:sp>
            <p:nvSpPr>
              <p:cNvPr id="206" name="Freeform 206"/>
              <p:cNvSpPr/>
              <p:nvPr/>
            </p:nvSpPr>
            <p:spPr>
              <a:xfrm>
                <a:off x="6907863" y="3505349"/>
                <a:ext cx="118848" cy="105352"/>
              </a:xfrm>
              <a:custGeom>
                <a:avLst/>
                <a:gdLst/>
                <a:ahLst/>
                <a:cxnLst/>
                <a:rect l="l" t="t" r="r" b="b"/>
                <a:pathLst>
                  <a:path w="118848" h="105352">
                    <a:moveTo>
                      <a:pt x="6096" y="99864"/>
                    </a:moveTo>
                    <a:lnTo>
                      <a:pt x="13835" y="76646"/>
                    </a:lnTo>
                    <a:cubicBezTo>
                      <a:pt x="0" y="56186"/>
                      <a:pt x="5346" y="29783"/>
                      <a:pt x="26337" y="14889"/>
                    </a:cubicBezTo>
                    <a:cubicBezTo>
                      <a:pt x="47327" y="0"/>
                      <a:pt x="77474" y="1220"/>
                      <a:pt x="96851" y="17746"/>
                    </a:cubicBezTo>
                    <a:cubicBezTo>
                      <a:pt x="116229" y="34278"/>
                      <a:pt x="118848" y="61002"/>
                      <a:pt x="102977" y="80260"/>
                    </a:cubicBezTo>
                    <a:cubicBezTo>
                      <a:pt x="87106" y="99518"/>
                      <a:pt x="57644" y="105352"/>
                      <a:pt x="34076" y="93911"/>
                    </a:cubicBezTo>
                    <a:lnTo>
                      <a:pt x="6096" y="99864"/>
                    </a:lnTo>
                  </a:path>
                </a:pathLst>
              </a:custGeom>
              <a:noFill/>
              <a:ln w="11906">
                <a:solidFill>
                  <a:srgbClr val="B03A1F"/>
                </a:solidFill>
              </a:ln>
            </p:spPr>
          </p:sp>
          <p:sp>
            <p:nvSpPr>
              <p:cNvPr id="207" name="TextBox 207"/>
              <p:cNvSpPr txBox="1"/>
              <p:nvPr/>
            </p:nvSpPr>
            <p:spPr>
              <a:xfrm>
                <a:off x="7081838" y="3511391"/>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话术助手</a:t>
                </a:r>
              </a:p>
            </p:txBody>
          </p:sp>
          <p:sp>
            <p:nvSpPr>
              <p:cNvPr id="208" name="TextBox 208"/>
              <p:cNvSpPr txBox="1"/>
              <p:nvPr/>
            </p:nvSpPr>
            <p:spPr>
              <a:xfrm>
                <a:off x="6891338" y="3745230"/>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智能推荐，沟通更顺</a:t>
                </a:r>
              </a:p>
            </p:txBody>
          </p:sp>
        </p:grpSp>
        <p:grpSp>
          <p:nvGrpSpPr>
            <p:cNvPr id="234" name="tb-row5"/>
            <p:cNvGrpSpPr/>
            <p:nvPr/>
          </p:nvGrpSpPr>
          <p:grpSpPr>
            <a:xfrm>
              <a:off x="3286125" y="3990975"/>
              <a:ext cx="4638675" cy="542925"/>
              <a:chOff x="3286125" y="3990975"/>
              <a:chExt cx="4638675" cy="542925"/>
            </a:xfrm>
          </p:grpSpPr>
          <p:sp>
            <p:nvSpPr>
              <p:cNvPr id="210" name="Rectangle 210"/>
              <p:cNvSpPr/>
              <p:nvPr/>
            </p:nvSpPr>
            <p:spPr>
              <a:xfrm>
                <a:off x="3286125" y="3990975"/>
                <a:ext cx="1123950" cy="542925"/>
              </a:xfrm>
              <a:prstGeom prst="roundRect">
                <a:avLst>
                  <a:gd name="adj" fmla="val 10526"/>
                </a:avLst>
              </a:prstGeom>
              <a:solidFill>
                <a:srgbClr val="FFFFFF"/>
              </a:solidFill>
              <a:ln w="9525">
                <a:solidFill>
                  <a:srgbClr val="E8E4E0"/>
                </a:solidFill>
              </a:ln>
            </p:spPr>
          </p:sp>
          <p:grpSp>
            <p:nvGrpSpPr>
              <p:cNvPr id="213" name="Group 213"/>
              <p:cNvGrpSpPr/>
              <p:nvPr/>
            </p:nvGrpSpPr>
            <p:grpSpPr>
              <a:xfrm>
                <a:off x="3399234" y="4102894"/>
                <a:ext cx="107156" cy="71438"/>
                <a:chOff x="3399234" y="4102894"/>
                <a:chExt cx="107156" cy="71438"/>
              </a:xfrm>
            </p:grpSpPr>
            <p:sp>
              <p:nvSpPr>
                <p:cNvPr id="211" name="Freeform 211"/>
                <p:cNvSpPr/>
                <p:nvPr/>
              </p:nvSpPr>
              <p:spPr>
                <a:xfrm>
                  <a:off x="3440906" y="4126706"/>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B03A1F"/>
                  </a:solidFill>
                </a:ln>
              </p:spPr>
            </p:sp>
            <p:sp>
              <p:nvSpPr>
                <p:cNvPr id="212" name="Freeform 212"/>
                <p:cNvSpPr/>
                <p:nvPr/>
              </p:nvSpPr>
              <p:spPr>
                <a:xfrm>
                  <a:off x="3399234" y="4102894"/>
                  <a:ext cx="107156" cy="71438"/>
                </a:xfrm>
                <a:custGeom>
                  <a:avLst/>
                  <a:gdLst/>
                  <a:ahLst/>
                  <a:cxnLst/>
                  <a:rect l="l" t="t" r="r" b="b"/>
                  <a:pathLst>
                    <a:path w="107156" h="71438">
                      <a:moveTo>
                        <a:pt x="107156" y="35719"/>
                      </a:moveTo>
                      <a:cubicBezTo>
                        <a:pt x="92869" y="59531"/>
                        <a:pt x="75009" y="71438"/>
                        <a:pt x="53578" y="71438"/>
                      </a:cubicBezTo>
                      <a:cubicBezTo>
                        <a:pt x="32147" y="71438"/>
                        <a:pt x="14288" y="59531"/>
                        <a:pt x="0" y="35719"/>
                      </a:cubicBezTo>
                      <a:cubicBezTo>
                        <a:pt x="14288" y="11906"/>
                        <a:pt x="32147" y="0"/>
                        <a:pt x="53578" y="0"/>
                      </a:cubicBezTo>
                      <a:cubicBezTo>
                        <a:pt x="75009" y="0"/>
                        <a:pt x="92869" y="11906"/>
                        <a:pt x="107156" y="35719"/>
                      </a:cubicBezTo>
                    </a:path>
                  </a:pathLst>
                </a:custGeom>
                <a:noFill/>
                <a:ln w="11906">
                  <a:solidFill>
                    <a:srgbClr val="B03A1F"/>
                  </a:solidFill>
                </a:ln>
              </p:spPr>
            </p:sp>
          </p:grpSp>
          <p:sp>
            <p:nvSpPr>
              <p:cNvPr id="214" name="TextBox 214"/>
              <p:cNvSpPr txBox="1"/>
              <p:nvPr/>
            </p:nvSpPr>
            <p:spPr>
              <a:xfrm>
                <a:off x="3567112" y="4092416"/>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过程追踪</a:t>
                </a:r>
              </a:p>
            </p:txBody>
          </p:sp>
          <p:sp>
            <p:nvSpPr>
              <p:cNvPr id="215" name="TextBox 215"/>
              <p:cNvSpPr txBox="1"/>
              <p:nvPr/>
            </p:nvSpPr>
            <p:spPr>
              <a:xfrm>
                <a:off x="3376612" y="4326255"/>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过程可见，及时跟进</a:t>
                </a:r>
              </a:p>
            </p:txBody>
          </p:sp>
          <p:sp>
            <p:nvSpPr>
              <p:cNvPr id="216" name="Rectangle 216"/>
              <p:cNvSpPr/>
              <p:nvPr/>
            </p:nvSpPr>
            <p:spPr>
              <a:xfrm>
                <a:off x="4457700" y="3990975"/>
                <a:ext cx="1123950" cy="542925"/>
              </a:xfrm>
              <a:prstGeom prst="roundRect">
                <a:avLst>
                  <a:gd name="adj" fmla="val 10526"/>
                </a:avLst>
              </a:prstGeom>
              <a:solidFill>
                <a:srgbClr val="FFFFFF"/>
              </a:solidFill>
              <a:ln w="9525">
                <a:solidFill>
                  <a:srgbClr val="E8E4E0"/>
                </a:solidFill>
              </a:ln>
            </p:spPr>
          </p:sp>
          <p:grpSp>
            <p:nvGrpSpPr>
              <p:cNvPr id="219" name="Group 219"/>
              <p:cNvGrpSpPr/>
              <p:nvPr/>
            </p:nvGrpSpPr>
            <p:grpSpPr>
              <a:xfrm>
                <a:off x="4570809" y="4102894"/>
                <a:ext cx="107156" cy="71438"/>
                <a:chOff x="4570809" y="4102894"/>
                <a:chExt cx="107156" cy="71438"/>
              </a:xfrm>
            </p:grpSpPr>
            <p:sp>
              <p:nvSpPr>
                <p:cNvPr id="217" name="Freeform 217"/>
                <p:cNvSpPr/>
                <p:nvPr/>
              </p:nvSpPr>
              <p:spPr>
                <a:xfrm>
                  <a:off x="4612481" y="4126706"/>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B03A1F"/>
                  </a:solidFill>
                </a:ln>
              </p:spPr>
            </p:sp>
            <p:sp>
              <p:nvSpPr>
                <p:cNvPr id="218" name="Freeform 218"/>
                <p:cNvSpPr/>
                <p:nvPr/>
              </p:nvSpPr>
              <p:spPr>
                <a:xfrm>
                  <a:off x="4570809" y="4102894"/>
                  <a:ext cx="107156" cy="71438"/>
                </a:xfrm>
                <a:custGeom>
                  <a:avLst/>
                  <a:gdLst/>
                  <a:ahLst/>
                  <a:cxnLst/>
                  <a:rect l="l" t="t" r="r" b="b"/>
                  <a:pathLst>
                    <a:path w="107156" h="71438">
                      <a:moveTo>
                        <a:pt x="107156" y="35719"/>
                      </a:moveTo>
                      <a:cubicBezTo>
                        <a:pt x="92869" y="59531"/>
                        <a:pt x="75009" y="71438"/>
                        <a:pt x="53578" y="71438"/>
                      </a:cubicBezTo>
                      <a:cubicBezTo>
                        <a:pt x="32147" y="71438"/>
                        <a:pt x="14288" y="59531"/>
                        <a:pt x="0" y="35719"/>
                      </a:cubicBezTo>
                      <a:cubicBezTo>
                        <a:pt x="14288" y="11906"/>
                        <a:pt x="32147" y="0"/>
                        <a:pt x="53578" y="0"/>
                      </a:cubicBezTo>
                      <a:cubicBezTo>
                        <a:pt x="75009" y="0"/>
                        <a:pt x="92869" y="11906"/>
                        <a:pt x="107156" y="35719"/>
                      </a:cubicBezTo>
                    </a:path>
                  </a:pathLst>
                </a:custGeom>
                <a:noFill/>
                <a:ln w="11906">
                  <a:solidFill>
                    <a:srgbClr val="B03A1F"/>
                  </a:solidFill>
                </a:ln>
              </p:spPr>
            </p:sp>
          </p:grpSp>
          <p:sp>
            <p:nvSpPr>
              <p:cNvPr id="220" name="TextBox 220"/>
              <p:cNvSpPr txBox="1"/>
              <p:nvPr/>
            </p:nvSpPr>
            <p:spPr>
              <a:xfrm>
                <a:off x="4738688" y="4092416"/>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过程追踪</a:t>
                </a:r>
              </a:p>
            </p:txBody>
          </p:sp>
          <p:sp>
            <p:nvSpPr>
              <p:cNvPr id="221" name="TextBox 221"/>
              <p:cNvSpPr txBox="1"/>
              <p:nvPr/>
            </p:nvSpPr>
            <p:spPr>
              <a:xfrm>
                <a:off x="4548188" y="4326255"/>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过程可见，及时跟进</a:t>
                </a:r>
              </a:p>
            </p:txBody>
          </p:sp>
          <p:sp>
            <p:nvSpPr>
              <p:cNvPr id="222" name="Rectangle 222"/>
              <p:cNvSpPr/>
              <p:nvPr/>
            </p:nvSpPr>
            <p:spPr>
              <a:xfrm>
                <a:off x="5629275" y="3990975"/>
                <a:ext cx="1123950" cy="542925"/>
              </a:xfrm>
              <a:prstGeom prst="roundRect">
                <a:avLst>
                  <a:gd name="adj" fmla="val 10526"/>
                </a:avLst>
              </a:prstGeom>
              <a:solidFill>
                <a:srgbClr val="FFFFFF"/>
              </a:solidFill>
              <a:ln w="9525">
                <a:solidFill>
                  <a:srgbClr val="E8E4E0"/>
                </a:solidFill>
              </a:ln>
            </p:spPr>
          </p:sp>
          <p:grpSp>
            <p:nvGrpSpPr>
              <p:cNvPr id="225" name="Group 225"/>
              <p:cNvGrpSpPr/>
              <p:nvPr/>
            </p:nvGrpSpPr>
            <p:grpSpPr>
              <a:xfrm>
                <a:off x="5742384" y="4102894"/>
                <a:ext cx="107156" cy="71438"/>
                <a:chOff x="5742384" y="4102894"/>
                <a:chExt cx="107156" cy="71438"/>
              </a:xfrm>
            </p:grpSpPr>
            <p:sp>
              <p:nvSpPr>
                <p:cNvPr id="223" name="Freeform 223"/>
                <p:cNvSpPr/>
                <p:nvPr/>
              </p:nvSpPr>
              <p:spPr>
                <a:xfrm>
                  <a:off x="5784056" y="4126706"/>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B03A1F"/>
                  </a:solidFill>
                </a:ln>
              </p:spPr>
            </p:sp>
            <p:sp>
              <p:nvSpPr>
                <p:cNvPr id="224" name="Freeform 224"/>
                <p:cNvSpPr/>
                <p:nvPr/>
              </p:nvSpPr>
              <p:spPr>
                <a:xfrm>
                  <a:off x="5742384" y="4102894"/>
                  <a:ext cx="107156" cy="71438"/>
                </a:xfrm>
                <a:custGeom>
                  <a:avLst/>
                  <a:gdLst/>
                  <a:ahLst/>
                  <a:cxnLst/>
                  <a:rect l="l" t="t" r="r" b="b"/>
                  <a:pathLst>
                    <a:path w="107156" h="71438">
                      <a:moveTo>
                        <a:pt x="107156" y="35719"/>
                      </a:moveTo>
                      <a:cubicBezTo>
                        <a:pt x="92869" y="59531"/>
                        <a:pt x="75009" y="71438"/>
                        <a:pt x="53578" y="71438"/>
                      </a:cubicBezTo>
                      <a:cubicBezTo>
                        <a:pt x="32147" y="71438"/>
                        <a:pt x="14288" y="59531"/>
                        <a:pt x="0" y="35719"/>
                      </a:cubicBezTo>
                      <a:cubicBezTo>
                        <a:pt x="14288" y="11906"/>
                        <a:pt x="32147" y="0"/>
                        <a:pt x="53578" y="0"/>
                      </a:cubicBezTo>
                      <a:cubicBezTo>
                        <a:pt x="75009" y="0"/>
                        <a:pt x="92869" y="11906"/>
                        <a:pt x="107156" y="35719"/>
                      </a:cubicBezTo>
                    </a:path>
                  </a:pathLst>
                </a:custGeom>
                <a:noFill/>
                <a:ln w="11906">
                  <a:solidFill>
                    <a:srgbClr val="B03A1F"/>
                  </a:solidFill>
                </a:ln>
              </p:spPr>
            </p:sp>
          </p:grpSp>
          <p:sp>
            <p:nvSpPr>
              <p:cNvPr id="226" name="TextBox 226"/>
              <p:cNvSpPr txBox="1"/>
              <p:nvPr/>
            </p:nvSpPr>
            <p:spPr>
              <a:xfrm>
                <a:off x="5910262" y="4092416"/>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过程追踪</a:t>
                </a:r>
              </a:p>
            </p:txBody>
          </p:sp>
          <p:sp>
            <p:nvSpPr>
              <p:cNvPr id="227" name="TextBox 227"/>
              <p:cNvSpPr txBox="1"/>
              <p:nvPr/>
            </p:nvSpPr>
            <p:spPr>
              <a:xfrm>
                <a:off x="5719762" y="4326255"/>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过程可见，及时跟进</a:t>
                </a:r>
              </a:p>
            </p:txBody>
          </p:sp>
          <p:sp>
            <p:nvSpPr>
              <p:cNvPr id="228" name="Rectangle 228"/>
              <p:cNvSpPr/>
              <p:nvPr/>
            </p:nvSpPr>
            <p:spPr>
              <a:xfrm>
                <a:off x="6800850" y="3990975"/>
                <a:ext cx="1123950" cy="542925"/>
              </a:xfrm>
              <a:prstGeom prst="roundRect">
                <a:avLst>
                  <a:gd name="adj" fmla="val 10526"/>
                </a:avLst>
              </a:prstGeom>
              <a:solidFill>
                <a:srgbClr val="FFFFFF"/>
              </a:solidFill>
              <a:ln w="9525">
                <a:solidFill>
                  <a:srgbClr val="E8E4E0"/>
                </a:solidFill>
              </a:ln>
            </p:spPr>
          </p:sp>
          <p:grpSp>
            <p:nvGrpSpPr>
              <p:cNvPr id="231" name="Group 231"/>
              <p:cNvGrpSpPr/>
              <p:nvPr/>
            </p:nvGrpSpPr>
            <p:grpSpPr>
              <a:xfrm>
                <a:off x="6913959" y="4102894"/>
                <a:ext cx="107156" cy="71438"/>
                <a:chOff x="6913959" y="4102894"/>
                <a:chExt cx="107156" cy="71438"/>
              </a:xfrm>
            </p:grpSpPr>
            <p:sp>
              <p:nvSpPr>
                <p:cNvPr id="229" name="Freeform 229"/>
                <p:cNvSpPr/>
                <p:nvPr/>
              </p:nvSpPr>
              <p:spPr>
                <a:xfrm>
                  <a:off x="6955631" y="4126706"/>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B03A1F"/>
                  </a:solidFill>
                </a:ln>
              </p:spPr>
            </p:sp>
            <p:sp>
              <p:nvSpPr>
                <p:cNvPr id="230" name="Freeform 230"/>
                <p:cNvSpPr/>
                <p:nvPr/>
              </p:nvSpPr>
              <p:spPr>
                <a:xfrm>
                  <a:off x="6913959" y="4102894"/>
                  <a:ext cx="107156" cy="71438"/>
                </a:xfrm>
                <a:custGeom>
                  <a:avLst/>
                  <a:gdLst/>
                  <a:ahLst/>
                  <a:cxnLst/>
                  <a:rect l="l" t="t" r="r" b="b"/>
                  <a:pathLst>
                    <a:path w="107156" h="71438">
                      <a:moveTo>
                        <a:pt x="107156" y="35719"/>
                      </a:moveTo>
                      <a:cubicBezTo>
                        <a:pt x="92869" y="59531"/>
                        <a:pt x="75009" y="71438"/>
                        <a:pt x="53578" y="71438"/>
                      </a:cubicBezTo>
                      <a:cubicBezTo>
                        <a:pt x="32147" y="71438"/>
                        <a:pt x="14288" y="59531"/>
                        <a:pt x="0" y="35719"/>
                      </a:cubicBezTo>
                      <a:cubicBezTo>
                        <a:pt x="14288" y="11906"/>
                        <a:pt x="32147" y="0"/>
                        <a:pt x="53578" y="0"/>
                      </a:cubicBezTo>
                      <a:cubicBezTo>
                        <a:pt x="75009" y="0"/>
                        <a:pt x="92869" y="11906"/>
                        <a:pt x="107156" y="35719"/>
                      </a:cubicBezTo>
                    </a:path>
                  </a:pathLst>
                </a:custGeom>
                <a:noFill/>
                <a:ln w="11906">
                  <a:solidFill>
                    <a:srgbClr val="B03A1F"/>
                  </a:solidFill>
                </a:ln>
              </p:spPr>
            </p:sp>
          </p:grpSp>
          <p:sp>
            <p:nvSpPr>
              <p:cNvPr id="232" name="TextBox 232"/>
              <p:cNvSpPr txBox="1"/>
              <p:nvPr/>
            </p:nvSpPr>
            <p:spPr>
              <a:xfrm>
                <a:off x="7081838" y="4092416"/>
                <a:ext cx="451079" cy="161925"/>
              </a:xfrm>
              <a:prstGeom prst="rect">
                <a:avLst/>
              </a:prstGeom>
              <a:noFill/>
              <a:ln>
                <a:noFill/>
              </a:ln>
            </p:spPr>
            <p:txBody>
              <a:bodyPr wrap="none" lIns="0" tIns="0" rIns="0" bIns="0" anchor="t" anchorCtr="0">
                <a:spAutoFit/>
              </a:bodyPr>
              <a:lstStyle/>
              <a:p>
                <a:pPr algn="l"/>
                <a:r>
                  <a:rPr lang="zh-CN" sz="820" b="1" dirty="0">
                    <a:solidFill>
                      <a:srgbClr val="1E1E1E"/>
                    </a:solidFill>
                    <a:latin typeface="+mn-lt"/>
                    <a:ea typeface="+mn-ea"/>
                    <a:cs typeface="+mn-cs"/>
                  </a:rPr>
                  <a:t>过程追踪</a:t>
                </a:r>
              </a:p>
            </p:txBody>
          </p:sp>
          <p:sp>
            <p:nvSpPr>
              <p:cNvPr id="233" name="TextBox 233"/>
              <p:cNvSpPr txBox="1"/>
              <p:nvPr/>
            </p:nvSpPr>
            <p:spPr>
              <a:xfrm>
                <a:off x="6891338" y="4326255"/>
                <a:ext cx="736473" cy="119062"/>
              </a:xfrm>
              <a:prstGeom prst="rect">
                <a:avLst/>
              </a:prstGeom>
              <a:noFill/>
              <a:ln>
                <a:noFill/>
              </a:ln>
            </p:spPr>
            <p:txBody>
              <a:bodyPr wrap="none" lIns="0" tIns="0" rIns="0" bIns="0" anchor="t" anchorCtr="0">
                <a:spAutoFit/>
              </a:bodyPr>
              <a:lstStyle/>
              <a:p>
                <a:pPr algn="l"/>
                <a:r>
                  <a:rPr lang="zh-CN" sz="600" dirty="0">
                    <a:solidFill>
                      <a:srgbClr val="8A8A8A"/>
                    </a:solidFill>
                    <a:latin typeface="+mn-lt"/>
                    <a:ea typeface="+mn-ea"/>
                    <a:cs typeface="+mn-cs"/>
                  </a:rPr>
                  <a:t>过程可见，及时跟进</a:t>
                </a:r>
              </a:p>
            </p:txBody>
          </p:sp>
        </p:grpSp>
      </p:grpSp>
      <p:sp>
        <p:nvSpPr>
          <p:cNvPr id="236" name="deco-flow-r"/>
          <p:cNvSpPr/>
          <p:nvPr/>
        </p:nvSpPr>
        <p:spPr>
          <a:xfrm>
            <a:off x="7962900" y="2819400"/>
            <a:ext cx="133350" cy="171450"/>
          </a:xfrm>
          <a:custGeom>
            <a:avLst/>
            <a:gdLst/>
            <a:ahLst/>
            <a:cxnLst/>
            <a:rect l="l" t="t" r="r" b="b"/>
            <a:pathLst>
              <a:path w="133350" h="171450">
                <a:moveTo>
                  <a:pt x="0" y="0"/>
                </a:moveTo>
                <a:lnTo>
                  <a:pt x="133350" y="85725"/>
                </a:lnTo>
                <a:lnTo>
                  <a:pt x="0" y="171450"/>
                </a:lnTo>
                <a:close/>
              </a:path>
            </a:pathLst>
          </a:custGeom>
          <a:solidFill>
            <a:srgbClr val="B03A1F"/>
          </a:solidFill>
          <a:ln>
            <a:noFill/>
          </a:ln>
        </p:spPr>
      </p:sp>
      <p:grpSp>
        <p:nvGrpSpPr>
          <p:cNvPr id="290" name="loop"/>
          <p:cNvGrpSpPr/>
          <p:nvPr/>
        </p:nvGrpSpPr>
        <p:grpSpPr>
          <a:xfrm>
            <a:off x="8096250" y="838200"/>
            <a:ext cx="3762375" cy="3533776"/>
            <a:chOff x="8096250" y="838200"/>
            <a:chExt cx="3762375" cy="3533776"/>
          </a:xfrm>
        </p:grpSpPr>
        <p:sp>
          <p:nvSpPr>
            <p:cNvPr id="237" name="Rectangle 237"/>
            <p:cNvSpPr/>
            <p:nvPr/>
          </p:nvSpPr>
          <p:spPr>
            <a:xfrm>
              <a:off x="8096250" y="838200"/>
              <a:ext cx="3762375" cy="285750"/>
            </a:xfrm>
            <a:prstGeom prst="roundRect">
              <a:avLst>
                <a:gd name="adj" fmla="val 13333"/>
              </a:avLst>
            </a:prstGeom>
            <a:solidFill>
              <a:srgbClr val="B03A1F"/>
            </a:solidFill>
            <a:ln>
              <a:noFill/>
            </a:ln>
          </p:spPr>
        </p:sp>
        <p:sp>
          <p:nvSpPr>
            <p:cNvPr id="238" name="TextBox 238"/>
            <p:cNvSpPr txBox="1"/>
            <p:nvPr/>
          </p:nvSpPr>
          <p:spPr>
            <a:xfrm>
              <a:off x="8760765" y="916781"/>
              <a:ext cx="242382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闭环运营机制：持续赋能，能力进阶</a:t>
              </a:r>
            </a:p>
          </p:txBody>
        </p:sp>
        <p:grpSp>
          <p:nvGrpSpPr>
            <p:cNvPr id="245" name="loop-1"/>
            <p:cNvGrpSpPr/>
            <p:nvPr/>
          </p:nvGrpSpPr>
          <p:grpSpPr>
            <a:xfrm>
              <a:off x="8220075" y="1323975"/>
              <a:ext cx="1538288" cy="400051"/>
              <a:chOff x="8220075" y="1323975"/>
              <a:chExt cx="1538288" cy="400051"/>
            </a:xfrm>
          </p:grpSpPr>
          <p:sp>
            <p:nvSpPr>
              <p:cNvPr id="239" name="Ellipse 239"/>
              <p:cNvSpPr/>
              <p:nvPr/>
            </p:nvSpPr>
            <p:spPr>
              <a:xfrm>
                <a:off x="8220075" y="1323975"/>
                <a:ext cx="400050" cy="400050"/>
              </a:xfrm>
              <a:prstGeom prst="ellipse">
                <a:avLst/>
              </a:prstGeom>
              <a:solidFill>
                <a:srgbClr val="B03A1F"/>
              </a:solidFill>
              <a:ln>
                <a:noFill/>
              </a:ln>
            </p:spPr>
          </p:sp>
          <p:grpSp>
            <p:nvGrpSpPr>
              <p:cNvPr id="242" name="Group 242"/>
              <p:cNvGrpSpPr/>
              <p:nvPr/>
            </p:nvGrpSpPr>
            <p:grpSpPr>
              <a:xfrm>
                <a:off x="8324850" y="1457325"/>
                <a:ext cx="190500" cy="133350"/>
                <a:chOff x="8324850" y="1457325"/>
                <a:chExt cx="190500" cy="133350"/>
              </a:xfrm>
            </p:grpSpPr>
            <p:sp>
              <p:nvSpPr>
                <p:cNvPr id="240" name="Freeform 240"/>
                <p:cNvSpPr/>
                <p:nvPr/>
              </p:nvSpPr>
              <p:spPr>
                <a:xfrm>
                  <a:off x="8324850" y="1457325"/>
                  <a:ext cx="190500" cy="95250"/>
                </a:xfrm>
                <a:custGeom>
                  <a:avLst/>
                  <a:gdLst/>
                  <a:ahLst/>
                  <a:cxnLst/>
                  <a:rect l="l" t="t" r="r" b="b"/>
                  <a:pathLst>
                    <a:path w="190500" h="95250">
                      <a:moveTo>
                        <a:pt x="190500" y="38100"/>
                      </a:moveTo>
                      <a:lnTo>
                        <a:pt x="95250" y="0"/>
                      </a:lnTo>
                      <a:lnTo>
                        <a:pt x="0" y="38100"/>
                      </a:lnTo>
                      <a:lnTo>
                        <a:pt x="95250" y="76200"/>
                      </a:lnTo>
                      <a:lnTo>
                        <a:pt x="190500" y="38100"/>
                      </a:lnTo>
                      <a:lnTo>
                        <a:pt x="190500" y="95250"/>
                      </a:lnTo>
                    </a:path>
                  </a:pathLst>
                </a:custGeom>
                <a:noFill/>
                <a:ln w="19050">
                  <a:solidFill>
                    <a:srgbClr val="FFFFFF"/>
                  </a:solidFill>
                </a:ln>
              </p:spPr>
            </p:sp>
            <p:sp>
              <p:nvSpPr>
                <p:cNvPr id="241" name="Freeform 241"/>
                <p:cNvSpPr/>
                <p:nvPr/>
              </p:nvSpPr>
              <p:spPr>
                <a:xfrm>
                  <a:off x="8362950" y="1510665"/>
                  <a:ext cx="114300" cy="80010"/>
                </a:xfrm>
                <a:custGeom>
                  <a:avLst/>
                  <a:gdLst/>
                  <a:ahLst/>
                  <a:cxnLst/>
                  <a:rect l="l" t="t" r="r" b="b"/>
                  <a:pathLst>
                    <a:path w="114300" h="80010">
                      <a:moveTo>
                        <a:pt x="0" y="0"/>
                      </a:moveTo>
                      <a:lnTo>
                        <a:pt x="0" y="51435"/>
                      </a:lnTo>
                      <a:cubicBezTo>
                        <a:pt x="0" y="67217"/>
                        <a:pt x="25587" y="80010"/>
                        <a:pt x="57150" y="80010"/>
                      </a:cubicBezTo>
                      <a:cubicBezTo>
                        <a:pt x="88713" y="80010"/>
                        <a:pt x="114300" y="67217"/>
                        <a:pt x="114300" y="51435"/>
                      </a:cubicBezTo>
                      <a:lnTo>
                        <a:pt x="114300" y="0"/>
                      </a:lnTo>
                    </a:path>
                  </a:pathLst>
                </a:custGeom>
                <a:noFill/>
                <a:ln w="19050">
                  <a:solidFill>
                    <a:srgbClr val="FFFFFF"/>
                  </a:solidFill>
                </a:ln>
              </p:spPr>
            </p:sp>
          </p:grpSp>
          <p:sp>
            <p:nvSpPr>
              <p:cNvPr id="243" name="TextBox 243"/>
              <p:cNvSpPr txBox="1"/>
              <p:nvPr/>
            </p:nvSpPr>
            <p:spPr>
              <a:xfrm>
                <a:off x="8738997" y="1361599"/>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培训认证</a:t>
                </a:r>
              </a:p>
            </p:txBody>
          </p:sp>
          <p:sp>
            <p:nvSpPr>
              <p:cNvPr id="244" name="TextBox 244"/>
              <p:cNvSpPr txBox="1"/>
              <p:nvPr/>
            </p:nvSpPr>
            <p:spPr>
              <a:xfrm>
                <a:off x="8739188" y="1576388"/>
                <a:ext cx="101917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体系化学习，夯实基础</a:t>
                </a:r>
              </a:p>
            </p:txBody>
          </p:sp>
        </p:grpSp>
        <p:sp>
          <p:nvSpPr>
            <p:cNvPr id="246" name="loop-a1"/>
            <p:cNvSpPr/>
            <p:nvPr/>
          </p:nvSpPr>
          <p:spPr>
            <a:xfrm>
              <a:off x="8353425" y="1833562"/>
              <a:ext cx="133350" cy="47625"/>
            </a:xfrm>
            <a:custGeom>
              <a:avLst/>
              <a:gdLst/>
              <a:ahLst/>
              <a:cxnLst/>
              <a:rect l="l" t="t" r="r" b="b"/>
              <a:pathLst>
                <a:path w="133350" h="47625">
                  <a:moveTo>
                    <a:pt x="0" y="0"/>
                  </a:moveTo>
                  <a:lnTo>
                    <a:pt x="133350" y="0"/>
                  </a:lnTo>
                  <a:lnTo>
                    <a:pt x="66675" y="47625"/>
                  </a:lnTo>
                  <a:close/>
                </a:path>
              </a:pathLst>
            </a:custGeom>
            <a:solidFill>
              <a:srgbClr val="B03A1F"/>
            </a:solidFill>
            <a:ln>
              <a:noFill/>
            </a:ln>
          </p:spPr>
        </p:sp>
        <p:grpSp>
          <p:nvGrpSpPr>
            <p:cNvPr id="255" name="loop-2"/>
            <p:cNvGrpSpPr/>
            <p:nvPr/>
          </p:nvGrpSpPr>
          <p:grpSpPr>
            <a:xfrm>
              <a:off x="8220075" y="1985962"/>
              <a:ext cx="1538288" cy="400051"/>
              <a:chOff x="8220075" y="1985962"/>
              <a:chExt cx="1538288" cy="400051"/>
            </a:xfrm>
          </p:grpSpPr>
          <p:sp>
            <p:nvSpPr>
              <p:cNvPr id="247" name="Ellipse 247"/>
              <p:cNvSpPr/>
              <p:nvPr/>
            </p:nvSpPr>
            <p:spPr>
              <a:xfrm>
                <a:off x="8220075" y="1985962"/>
                <a:ext cx="400050" cy="400050"/>
              </a:xfrm>
              <a:prstGeom prst="ellipse">
                <a:avLst/>
              </a:prstGeom>
              <a:solidFill>
                <a:srgbClr val="B03A1F"/>
              </a:solidFill>
              <a:ln>
                <a:noFill/>
              </a:ln>
            </p:spPr>
          </p:sp>
          <p:grpSp>
            <p:nvGrpSpPr>
              <p:cNvPr id="252" name="Group 252"/>
              <p:cNvGrpSpPr/>
              <p:nvPr/>
            </p:nvGrpSpPr>
            <p:grpSpPr>
              <a:xfrm>
                <a:off x="8334375" y="2100262"/>
                <a:ext cx="171450" cy="171450"/>
                <a:chOff x="8334375" y="2100262"/>
                <a:chExt cx="171450" cy="171450"/>
              </a:xfrm>
            </p:grpSpPr>
            <p:sp>
              <p:nvSpPr>
                <p:cNvPr id="248" name="Freeform 248"/>
                <p:cNvSpPr/>
                <p:nvPr/>
              </p:nvSpPr>
              <p:spPr>
                <a:xfrm>
                  <a:off x="8353425" y="2100262"/>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249" name="Freeform 249"/>
                <p:cNvSpPr/>
                <p:nvPr/>
              </p:nvSpPr>
              <p:spPr>
                <a:xfrm>
                  <a:off x="8334375" y="2214562"/>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250" name="Freeform 250"/>
                <p:cNvSpPr/>
                <p:nvPr/>
              </p:nvSpPr>
              <p:spPr>
                <a:xfrm>
                  <a:off x="8458200" y="2101501"/>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251" name="Freeform 251"/>
                <p:cNvSpPr/>
                <p:nvPr/>
              </p:nvSpPr>
              <p:spPr>
                <a:xfrm>
                  <a:off x="8477250" y="2215991"/>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253" name="TextBox 253"/>
              <p:cNvSpPr txBox="1"/>
              <p:nvPr/>
            </p:nvSpPr>
            <p:spPr>
              <a:xfrm>
                <a:off x="8738997" y="2023586"/>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实战陪跑</a:t>
                </a:r>
              </a:p>
            </p:txBody>
          </p:sp>
          <p:sp>
            <p:nvSpPr>
              <p:cNvPr id="254" name="TextBox 254"/>
              <p:cNvSpPr txBox="1"/>
              <p:nvPr/>
            </p:nvSpPr>
            <p:spPr>
              <a:xfrm>
                <a:off x="8739188" y="2238375"/>
                <a:ext cx="1019175"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场景化实操，贴身辅导</a:t>
                </a:r>
              </a:p>
            </p:txBody>
          </p:sp>
        </p:grpSp>
        <p:sp>
          <p:nvSpPr>
            <p:cNvPr id="256" name="loop-a2"/>
            <p:cNvSpPr/>
            <p:nvPr/>
          </p:nvSpPr>
          <p:spPr>
            <a:xfrm>
              <a:off x="8353425" y="2495550"/>
              <a:ext cx="133350" cy="47625"/>
            </a:xfrm>
            <a:custGeom>
              <a:avLst/>
              <a:gdLst/>
              <a:ahLst/>
              <a:cxnLst/>
              <a:rect l="l" t="t" r="r" b="b"/>
              <a:pathLst>
                <a:path w="133350" h="47625">
                  <a:moveTo>
                    <a:pt x="0" y="0"/>
                  </a:moveTo>
                  <a:lnTo>
                    <a:pt x="133350" y="0"/>
                  </a:lnTo>
                  <a:lnTo>
                    <a:pt x="66675" y="47625"/>
                  </a:lnTo>
                  <a:close/>
                </a:path>
              </a:pathLst>
            </a:custGeom>
            <a:solidFill>
              <a:srgbClr val="B03A1F"/>
            </a:solidFill>
            <a:ln>
              <a:noFill/>
            </a:ln>
          </p:spPr>
        </p:sp>
        <p:grpSp>
          <p:nvGrpSpPr>
            <p:cNvPr id="266" name="loop-3"/>
            <p:cNvGrpSpPr/>
            <p:nvPr/>
          </p:nvGrpSpPr>
          <p:grpSpPr>
            <a:xfrm>
              <a:off x="8220075" y="2647950"/>
              <a:ext cx="1437323" cy="400050"/>
              <a:chOff x="8220075" y="2647950"/>
              <a:chExt cx="1437323" cy="400050"/>
            </a:xfrm>
          </p:grpSpPr>
          <p:sp>
            <p:nvSpPr>
              <p:cNvPr id="257" name="Ellipse 257"/>
              <p:cNvSpPr/>
              <p:nvPr/>
            </p:nvSpPr>
            <p:spPr>
              <a:xfrm>
                <a:off x="8220075" y="2647950"/>
                <a:ext cx="400050" cy="400050"/>
              </a:xfrm>
              <a:prstGeom prst="ellipse">
                <a:avLst/>
              </a:prstGeom>
              <a:solidFill>
                <a:srgbClr val="B03A1F"/>
              </a:solidFill>
              <a:ln>
                <a:noFill/>
              </a:ln>
            </p:spPr>
          </p:sp>
          <p:grpSp>
            <p:nvGrpSpPr>
              <p:cNvPr id="263" name="Group 263"/>
              <p:cNvGrpSpPr/>
              <p:nvPr/>
            </p:nvGrpSpPr>
            <p:grpSpPr>
              <a:xfrm>
                <a:off x="8353425" y="2762250"/>
                <a:ext cx="133350" cy="171450"/>
                <a:chOff x="8353425" y="2762250"/>
                <a:chExt cx="133350" cy="171450"/>
              </a:xfrm>
            </p:grpSpPr>
            <p:sp>
              <p:nvSpPr>
                <p:cNvPr id="258" name="Freeform 258"/>
                <p:cNvSpPr/>
                <p:nvPr/>
              </p:nvSpPr>
              <p:spPr>
                <a:xfrm>
                  <a:off x="8439150" y="27622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FFFFFF"/>
                  </a:solidFill>
                </a:ln>
              </p:spPr>
            </p:sp>
            <p:sp>
              <p:nvSpPr>
                <p:cNvPr id="259" name="Freeform 259"/>
                <p:cNvSpPr/>
                <p:nvPr/>
              </p:nvSpPr>
              <p:spPr>
                <a:xfrm>
                  <a:off x="8353425" y="27622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FFFFFF"/>
                  </a:solidFill>
                </a:ln>
              </p:spPr>
            </p:sp>
            <p:sp>
              <p:nvSpPr>
                <p:cNvPr id="260" name="Freeform 260"/>
                <p:cNvSpPr/>
                <p:nvPr/>
              </p:nvSpPr>
              <p:spPr>
                <a:xfrm>
                  <a:off x="8391525" y="2819400"/>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261" name="Freeform 261"/>
                <p:cNvSpPr/>
                <p:nvPr/>
              </p:nvSpPr>
              <p:spPr>
                <a:xfrm>
                  <a:off x="8391525" y="2857500"/>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262" name="Freeform 262"/>
                <p:cNvSpPr/>
                <p:nvPr/>
              </p:nvSpPr>
              <p:spPr>
                <a:xfrm>
                  <a:off x="8391525" y="2895600"/>
                  <a:ext cx="57150" cy="9525"/>
                </a:xfrm>
                <a:custGeom>
                  <a:avLst/>
                  <a:gdLst/>
                  <a:ahLst/>
                  <a:cxnLst/>
                  <a:rect l="l" t="t" r="r" b="b"/>
                  <a:pathLst>
                    <a:path w="57150" h="9525">
                      <a:moveTo>
                        <a:pt x="0" y="0"/>
                      </a:moveTo>
                      <a:lnTo>
                        <a:pt x="57150" y="0"/>
                      </a:lnTo>
                    </a:path>
                  </a:pathLst>
                </a:custGeom>
                <a:noFill/>
                <a:ln w="19050">
                  <a:solidFill>
                    <a:srgbClr val="FFFFFF"/>
                  </a:solidFill>
                </a:ln>
              </p:spPr>
            </p:sp>
          </p:grpSp>
          <p:sp>
            <p:nvSpPr>
              <p:cNvPr id="264" name="TextBox 264"/>
              <p:cNvSpPr txBox="1"/>
              <p:nvPr/>
            </p:nvSpPr>
            <p:spPr>
              <a:xfrm>
                <a:off x="8738997" y="2685574"/>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案例复盘</a:t>
                </a:r>
              </a:p>
            </p:txBody>
          </p:sp>
          <p:sp>
            <p:nvSpPr>
              <p:cNvPr id="265" name="TextBox 265"/>
              <p:cNvSpPr txBox="1"/>
              <p:nvPr/>
            </p:nvSpPr>
            <p:spPr>
              <a:xfrm>
                <a:off x="8739188" y="2900362"/>
                <a:ext cx="91821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复盘提炼，沉淀方法</a:t>
                </a:r>
              </a:p>
            </p:txBody>
          </p:sp>
        </p:grpSp>
        <p:sp>
          <p:nvSpPr>
            <p:cNvPr id="267" name="loop-a3"/>
            <p:cNvSpPr/>
            <p:nvPr/>
          </p:nvSpPr>
          <p:spPr>
            <a:xfrm>
              <a:off x="8353425" y="3157538"/>
              <a:ext cx="133350" cy="47625"/>
            </a:xfrm>
            <a:custGeom>
              <a:avLst/>
              <a:gdLst/>
              <a:ahLst/>
              <a:cxnLst/>
              <a:rect l="l" t="t" r="r" b="b"/>
              <a:pathLst>
                <a:path w="133350" h="47625">
                  <a:moveTo>
                    <a:pt x="0" y="0"/>
                  </a:moveTo>
                  <a:lnTo>
                    <a:pt x="133350" y="0"/>
                  </a:lnTo>
                  <a:lnTo>
                    <a:pt x="66675" y="47625"/>
                  </a:lnTo>
                  <a:close/>
                </a:path>
              </a:pathLst>
            </a:custGeom>
            <a:solidFill>
              <a:srgbClr val="B03A1F"/>
            </a:solidFill>
            <a:ln>
              <a:noFill/>
            </a:ln>
          </p:spPr>
        </p:sp>
        <p:grpSp>
          <p:nvGrpSpPr>
            <p:cNvPr id="276" name="loop-4"/>
            <p:cNvGrpSpPr/>
            <p:nvPr/>
          </p:nvGrpSpPr>
          <p:grpSpPr>
            <a:xfrm>
              <a:off x="8220075" y="3309938"/>
              <a:ext cx="1437323" cy="400050"/>
              <a:chOff x="8220075" y="3309938"/>
              <a:chExt cx="1437323" cy="400050"/>
            </a:xfrm>
          </p:grpSpPr>
          <p:sp>
            <p:nvSpPr>
              <p:cNvPr id="268" name="Ellipse 268"/>
              <p:cNvSpPr/>
              <p:nvPr/>
            </p:nvSpPr>
            <p:spPr>
              <a:xfrm>
                <a:off x="8220075" y="3309938"/>
                <a:ext cx="400050" cy="400050"/>
              </a:xfrm>
              <a:prstGeom prst="ellipse">
                <a:avLst/>
              </a:prstGeom>
              <a:solidFill>
                <a:srgbClr val="B03A1F"/>
              </a:solidFill>
              <a:ln>
                <a:noFill/>
              </a:ln>
            </p:spPr>
          </p:sp>
          <p:grpSp>
            <p:nvGrpSpPr>
              <p:cNvPr id="273" name="Group 273"/>
              <p:cNvGrpSpPr/>
              <p:nvPr/>
            </p:nvGrpSpPr>
            <p:grpSpPr>
              <a:xfrm>
                <a:off x="8334375" y="3433762"/>
                <a:ext cx="171450" cy="161925"/>
                <a:chOff x="8334375" y="3433762"/>
                <a:chExt cx="171450" cy="161925"/>
              </a:xfrm>
            </p:grpSpPr>
            <p:sp>
              <p:nvSpPr>
                <p:cNvPr id="269" name="Freeform 269"/>
                <p:cNvSpPr/>
                <p:nvPr/>
              </p:nvSpPr>
              <p:spPr>
                <a:xfrm>
                  <a:off x="8334375" y="3509962"/>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270" name="Freeform 270"/>
                <p:cNvSpPr/>
                <p:nvPr/>
              </p:nvSpPr>
              <p:spPr>
                <a:xfrm>
                  <a:off x="8448675" y="3471862"/>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271" name="Freeform 271"/>
                <p:cNvSpPr/>
                <p:nvPr/>
              </p:nvSpPr>
              <p:spPr>
                <a:xfrm>
                  <a:off x="8391525" y="3433762"/>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272" name="Freeform 272"/>
                <p:cNvSpPr/>
                <p:nvPr/>
              </p:nvSpPr>
              <p:spPr>
                <a:xfrm>
                  <a:off x="8343900" y="3586162"/>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274" name="TextBox 274"/>
              <p:cNvSpPr txBox="1"/>
              <p:nvPr/>
            </p:nvSpPr>
            <p:spPr>
              <a:xfrm>
                <a:off x="8738997" y="3347561"/>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能力评价</a:t>
                </a:r>
              </a:p>
            </p:txBody>
          </p:sp>
          <p:sp>
            <p:nvSpPr>
              <p:cNvPr id="275" name="TextBox 275"/>
              <p:cNvSpPr txBox="1"/>
              <p:nvPr/>
            </p:nvSpPr>
            <p:spPr>
              <a:xfrm>
                <a:off x="8739188" y="3562350"/>
                <a:ext cx="91821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多维评估，发现差距</a:t>
                </a:r>
              </a:p>
            </p:txBody>
          </p:sp>
        </p:grpSp>
        <p:sp>
          <p:nvSpPr>
            <p:cNvPr id="277" name="loop-a4"/>
            <p:cNvSpPr/>
            <p:nvPr/>
          </p:nvSpPr>
          <p:spPr>
            <a:xfrm>
              <a:off x="8353425" y="3819525"/>
              <a:ext cx="133350" cy="47625"/>
            </a:xfrm>
            <a:custGeom>
              <a:avLst/>
              <a:gdLst/>
              <a:ahLst/>
              <a:cxnLst/>
              <a:rect l="l" t="t" r="r" b="b"/>
              <a:pathLst>
                <a:path w="133350" h="47625">
                  <a:moveTo>
                    <a:pt x="0" y="0"/>
                  </a:moveTo>
                  <a:lnTo>
                    <a:pt x="133350" y="0"/>
                  </a:lnTo>
                  <a:lnTo>
                    <a:pt x="66675" y="47625"/>
                  </a:lnTo>
                  <a:close/>
                </a:path>
              </a:pathLst>
            </a:custGeom>
            <a:solidFill>
              <a:srgbClr val="B03A1F"/>
            </a:solidFill>
            <a:ln>
              <a:noFill/>
            </a:ln>
          </p:spPr>
        </p:sp>
        <p:grpSp>
          <p:nvGrpSpPr>
            <p:cNvPr id="286" name="loop-5"/>
            <p:cNvGrpSpPr/>
            <p:nvPr/>
          </p:nvGrpSpPr>
          <p:grpSpPr>
            <a:xfrm>
              <a:off x="8220075" y="3971925"/>
              <a:ext cx="1437323" cy="400051"/>
              <a:chOff x="8220075" y="3971925"/>
              <a:chExt cx="1437323" cy="400051"/>
            </a:xfrm>
          </p:grpSpPr>
          <p:sp>
            <p:nvSpPr>
              <p:cNvPr id="278" name="Ellipse 278"/>
              <p:cNvSpPr/>
              <p:nvPr/>
            </p:nvSpPr>
            <p:spPr>
              <a:xfrm>
                <a:off x="8220075" y="3971925"/>
                <a:ext cx="400050" cy="400050"/>
              </a:xfrm>
              <a:prstGeom prst="ellipse">
                <a:avLst/>
              </a:prstGeom>
              <a:solidFill>
                <a:srgbClr val="B03A1F"/>
              </a:solidFill>
              <a:ln>
                <a:noFill/>
              </a:ln>
            </p:spPr>
          </p:sp>
          <p:grpSp>
            <p:nvGrpSpPr>
              <p:cNvPr id="283" name="Group 283"/>
              <p:cNvGrpSpPr/>
              <p:nvPr/>
            </p:nvGrpSpPr>
            <p:grpSpPr>
              <a:xfrm>
                <a:off x="8334375" y="4085897"/>
                <a:ext cx="171450" cy="171778"/>
                <a:chOff x="8334375" y="4085897"/>
                <a:chExt cx="171450" cy="171778"/>
              </a:xfrm>
            </p:grpSpPr>
            <p:sp>
              <p:nvSpPr>
                <p:cNvPr id="279" name="Freeform 279"/>
                <p:cNvSpPr/>
                <p:nvPr/>
              </p:nvSpPr>
              <p:spPr>
                <a:xfrm>
                  <a:off x="8334375" y="4133850"/>
                  <a:ext cx="171450" cy="38100"/>
                </a:xfrm>
                <a:custGeom>
                  <a:avLst/>
                  <a:gdLst/>
                  <a:ahLst/>
                  <a:cxnLst/>
                  <a:rect l="l" t="t" r="r" b="b"/>
                  <a:pathLst>
                    <a:path w="171450" h="38100">
                      <a:moveTo>
                        <a:pt x="0" y="9525"/>
                      </a:moveTo>
                      <a:cubicBezTo>
                        <a:pt x="0" y="4264"/>
                        <a:pt x="4264" y="0"/>
                        <a:pt x="9525" y="0"/>
                      </a:cubicBezTo>
                      <a:lnTo>
                        <a:pt x="161925" y="0"/>
                      </a:lnTo>
                      <a:cubicBezTo>
                        <a:pt x="167186" y="0"/>
                        <a:pt x="171450" y="4264"/>
                        <a:pt x="171450" y="9525"/>
                      </a:cubicBezTo>
                      <a:lnTo>
                        <a:pt x="171450" y="28575"/>
                      </a:lnTo>
                      <a:cubicBezTo>
                        <a:pt x="171450" y="33836"/>
                        <a:pt x="167186" y="38100"/>
                        <a:pt x="161925" y="38100"/>
                      </a:cubicBezTo>
                      <a:lnTo>
                        <a:pt x="9525" y="38100"/>
                      </a:lnTo>
                      <a:cubicBezTo>
                        <a:pt x="4264" y="38100"/>
                        <a:pt x="0" y="33836"/>
                        <a:pt x="0" y="28575"/>
                      </a:cubicBezTo>
                      <a:lnTo>
                        <a:pt x="0" y="9525"/>
                      </a:lnTo>
                    </a:path>
                  </a:pathLst>
                </a:custGeom>
                <a:noFill/>
                <a:ln w="19050">
                  <a:solidFill>
                    <a:srgbClr val="FFFFFF"/>
                  </a:solidFill>
                </a:ln>
              </p:spPr>
            </p:sp>
            <p:sp>
              <p:nvSpPr>
                <p:cNvPr id="280" name="Freeform 280"/>
                <p:cNvSpPr/>
                <p:nvPr/>
              </p:nvSpPr>
              <p:spPr>
                <a:xfrm>
                  <a:off x="8420100" y="4133850"/>
                  <a:ext cx="9525" cy="123825"/>
                </a:xfrm>
                <a:custGeom>
                  <a:avLst/>
                  <a:gdLst/>
                  <a:ahLst/>
                  <a:cxnLst/>
                  <a:rect l="l" t="t" r="r" b="b"/>
                  <a:pathLst>
                    <a:path w="9525" h="123825">
                      <a:moveTo>
                        <a:pt x="0" y="0"/>
                      </a:moveTo>
                      <a:lnTo>
                        <a:pt x="0" y="123825"/>
                      </a:lnTo>
                    </a:path>
                  </a:pathLst>
                </a:custGeom>
                <a:noFill/>
                <a:ln w="19050">
                  <a:solidFill>
                    <a:srgbClr val="FFFFFF"/>
                  </a:solidFill>
                </a:ln>
              </p:spPr>
            </p:sp>
            <p:sp>
              <p:nvSpPr>
                <p:cNvPr id="281" name="Freeform 281"/>
                <p:cNvSpPr/>
                <p:nvPr/>
              </p:nvSpPr>
              <p:spPr>
                <a:xfrm>
                  <a:off x="8353425" y="4171950"/>
                  <a:ext cx="133350" cy="85725"/>
                </a:xfrm>
                <a:custGeom>
                  <a:avLst/>
                  <a:gdLst/>
                  <a:ahLst/>
                  <a:cxnLst/>
                  <a:rect l="l" t="t" r="r" b="b"/>
                  <a:pathLst>
                    <a:path w="133350" h="85725">
                      <a:moveTo>
                        <a:pt x="133350" y="0"/>
                      </a:moveTo>
                      <a:lnTo>
                        <a:pt x="133350" y="66675"/>
                      </a:lnTo>
                      <a:cubicBezTo>
                        <a:pt x="133350" y="77196"/>
                        <a:pt x="124821" y="85725"/>
                        <a:pt x="114300" y="85725"/>
                      </a:cubicBezTo>
                      <a:lnTo>
                        <a:pt x="19050" y="85725"/>
                      </a:lnTo>
                      <a:cubicBezTo>
                        <a:pt x="8529" y="85725"/>
                        <a:pt x="0" y="77196"/>
                        <a:pt x="0" y="66675"/>
                      </a:cubicBezTo>
                      <a:lnTo>
                        <a:pt x="0" y="0"/>
                      </a:lnTo>
                    </a:path>
                  </a:pathLst>
                </a:custGeom>
                <a:noFill/>
                <a:ln w="19050">
                  <a:solidFill>
                    <a:srgbClr val="FFFFFF"/>
                  </a:solidFill>
                </a:ln>
              </p:spPr>
            </p:sp>
            <p:sp>
              <p:nvSpPr>
                <p:cNvPr id="282" name="Freeform 282"/>
                <p:cNvSpPr/>
                <p:nvPr/>
              </p:nvSpPr>
              <p:spPr>
                <a:xfrm>
                  <a:off x="8353425" y="4085897"/>
                  <a:ext cx="133350" cy="47953"/>
                </a:xfrm>
                <a:custGeom>
                  <a:avLst/>
                  <a:gdLst/>
                  <a:ahLst/>
                  <a:cxnLst/>
                  <a:rect l="l" t="t" r="r" b="b"/>
                  <a:pathLst>
                    <a:path w="133350" h="47953">
                      <a:moveTo>
                        <a:pt x="23812" y="47953"/>
                      </a:moveTo>
                      <a:cubicBezTo>
                        <a:pt x="10661" y="47953"/>
                        <a:pt x="0" y="37291"/>
                        <a:pt x="0" y="24140"/>
                      </a:cubicBezTo>
                      <a:cubicBezTo>
                        <a:pt x="0" y="10989"/>
                        <a:pt x="10661" y="328"/>
                        <a:pt x="23812" y="328"/>
                      </a:cubicBezTo>
                      <a:cubicBezTo>
                        <a:pt x="42617" y="0"/>
                        <a:pt x="59624" y="18897"/>
                        <a:pt x="66675" y="47953"/>
                      </a:cubicBezTo>
                      <a:cubicBezTo>
                        <a:pt x="73726" y="18897"/>
                        <a:pt x="90733" y="0"/>
                        <a:pt x="109538" y="328"/>
                      </a:cubicBezTo>
                      <a:cubicBezTo>
                        <a:pt x="122689" y="328"/>
                        <a:pt x="133350" y="10989"/>
                        <a:pt x="133350" y="24140"/>
                      </a:cubicBezTo>
                      <a:cubicBezTo>
                        <a:pt x="133350" y="37291"/>
                        <a:pt x="122689" y="47953"/>
                        <a:pt x="109538" y="47953"/>
                      </a:cubicBezTo>
                    </a:path>
                  </a:pathLst>
                </a:custGeom>
                <a:noFill/>
                <a:ln w="19050">
                  <a:solidFill>
                    <a:srgbClr val="FFFFFF"/>
                  </a:solidFill>
                </a:ln>
              </p:spPr>
            </p:sp>
          </p:grpSp>
          <p:sp>
            <p:nvSpPr>
              <p:cNvPr id="284" name="TextBox 284"/>
              <p:cNvSpPr txBox="1"/>
              <p:nvPr/>
            </p:nvSpPr>
            <p:spPr>
              <a:xfrm>
                <a:off x="8738997" y="4009549"/>
                <a:ext cx="537616"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激励推广</a:t>
                </a:r>
              </a:p>
            </p:txBody>
          </p:sp>
          <p:sp>
            <p:nvSpPr>
              <p:cNvPr id="285" name="TextBox 285"/>
              <p:cNvSpPr txBox="1"/>
              <p:nvPr/>
            </p:nvSpPr>
            <p:spPr>
              <a:xfrm>
                <a:off x="8739188" y="4224338"/>
                <a:ext cx="91821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表彰激励，树立标杆</a:t>
                </a:r>
              </a:p>
            </p:txBody>
          </p:sp>
        </p:grpSp>
        <p:sp>
          <p:nvSpPr>
            <p:cNvPr id="287" name="Line 287"/>
            <p:cNvSpPr/>
            <p:nvPr/>
          </p:nvSpPr>
          <p:spPr>
            <a:xfrm>
              <a:off x="10953750" y="4171950"/>
              <a:ext cx="685800" cy="9525"/>
            </a:xfrm>
            <a:custGeom>
              <a:avLst/>
              <a:gdLst/>
              <a:ahLst/>
              <a:cxnLst/>
              <a:rect l="l" t="t" r="r" b="b"/>
              <a:pathLst>
                <a:path w="685800" h="9525">
                  <a:moveTo>
                    <a:pt x="0" y="0"/>
                  </a:moveTo>
                  <a:lnTo>
                    <a:pt x="685800" y="0"/>
                  </a:lnTo>
                </a:path>
              </a:pathLst>
            </a:custGeom>
            <a:noFill/>
            <a:ln w="14288">
              <a:solidFill>
                <a:srgbClr val="B03A1F"/>
              </a:solidFill>
              <a:custDash>
                <a:ds d="333333" sp="266667"/>
              </a:custDash>
            </a:ln>
          </p:spPr>
        </p:sp>
        <p:sp>
          <p:nvSpPr>
            <p:cNvPr id="288" name="Line 288"/>
            <p:cNvSpPr/>
            <p:nvPr/>
          </p:nvSpPr>
          <p:spPr>
            <a:xfrm flipV="1">
              <a:off x="11639550" y="1524000"/>
              <a:ext cx="1" cy="2647950"/>
            </a:xfrm>
            <a:prstGeom prst="line">
              <a:avLst/>
            </a:prstGeom>
            <a:noFill/>
            <a:ln w="14288">
              <a:solidFill>
                <a:srgbClr val="B03A1F"/>
              </a:solidFill>
              <a:custDash>
                <a:ds d="333333" sp="266667"/>
              </a:custDash>
              <a:tailEnd type="triangle" w="lg" len="lg"/>
            </a:ln>
          </p:spPr>
        </p:sp>
        <p:sp>
          <p:nvSpPr>
            <p:cNvPr id="289" name="Line 289"/>
            <p:cNvSpPr/>
            <p:nvPr/>
          </p:nvSpPr>
          <p:spPr>
            <a:xfrm>
              <a:off x="10953750" y="1524000"/>
              <a:ext cx="685800" cy="9525"/>
            </a:xfrm>
            <a:custGeom>
              <a:avLst/>
              <a:gdLst/>
              <a:ahLst/>
              <a:cxnLst/>
              <a:rect l="l" t="t" r="r" b="b"/>
              <a:pathLst>
                <a:path w="685800" h="9525">
                  <a:moveTo>
                    <a:pt x="685800" y="0"/>
                  </a:moveTo>
                  <a:lnTo>
                    <a:pt x="0" y="0"/>
                  </a:lnTo>
                </a:path>
              </a:pathLst>
            </a:custGeom>
            <a:noFill/>
            <a:ln w="14288">
              <a:solidFill>
                <a:srgbClr val="B03A1F"/>
              </a:solidFill>
              <a:custDash>
                <a:ds d="333333" sp="266667"/>
              </a:custDash>
            </a:ln>
          </p:spPr>
        </p:sp>
      </p:grpSp>
      <p:grpSp>
        <p:nvGrpSpPr>
          <p:cNvPr id="318" name="kpi-band"/>
          <p:cNvGrpSpPr/>
          <p:nvPr/>
        </p:nvGrpSpPr>
        <p:grpSpPr>
          <a:xfrm>
            <a:off x="381000" y="4762500"/>
            <a:ext cx="11430000" cy="800100"/>
            <a:chOff x="381000" y="4762500"/>
            <a:chExt cx="11430000" cy="800100"/>
          </a:xfrm>
        </p:grpSpPr>
        <p:sp>
          <p:nvSpPr>
            <p:cNvPr id="291" name="Rectangle 291"/>
            <p:cNvSpPr/>
            <p:nvPr/>
          </p:nvSpPr>
          <p:spPr>
            <a:xfrm>
              <a:off x="381000" y="4762500"/>
              <a:ext cx="11430000" cy="800100"/>
            </a:xfrm>
            <a:prstGeom prst="roundRect">
              <a:avLst>
                <a:gd name="adj" fmla="val 11905"/>
              </a:avLst>
            </a:prstGeom>
            <a:solidFill>
              <a:srgbClr val="FFFFFF"/>
            </a:solidFill>
            <a:ln w="9525">
              <a:solidFill>
                <a:srgbClr val="E5E0DC"/>
              </a:solidFill>
            </a:ln>
          </p:spPr>
        </p:sp>
        <p:sp>
          <p:nvSpPr>
            <p:cNvPr id="292" name="Rectangle 292"/>
            <p:cNvSpPr/>
            <p:nvPr/>
          </p:nvSpPr>
          <p:spPr>
            <a:xfrm>
              <a:off x="381000" y="4762500"/>
              <a:ext cx="1428750" cy="800100"/>
            </a:xfrm>
            <a:prstGeom prst="roundRect">
              <a:avLst>
                <a:gd name="adj" fmla="val 11905"/>
              </a:avLst>
            </a:prstGeom>
            <a:solidFill>
              <a:srgbClr val="B03A1F"/>
            </a:solidFill>
            <a:ln>
              <a:noFill/>
            </a:ln>
          </p:spPr>
        </p:sp>
        <p:sp>
          <p:nvSpPr>
            <p:cNvPr id="293" name="TextBox 293"/>
            <p:cNvSpPr txBox="1"/>
            <p:nvPr/>
          </p:nvSpPr>
          <p:spPr>
            <a:xfrm>
              <a:off x="750316" y="4996101"/>
              <a:ext cx="690118"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数字化采用</a:t>
              </a:r>
            </a:p>
          </p:txBody>
        </p:sp>
        <p:sp>
          <p:nvSpPr>
            <p:cNvPr id="294" name="TextBox 294"/>
            <p:cNvSpPr txBox="1"/>
            <p:nvPr/>
          </p:nvSpPr>
          <p:spPr>
            <a:xfrm>
              <a:off x="818299" y="520565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关键指标</a:t>
              </a:r>
            </a:p>
          </p:txBody>
        </p:sp>
        <p:sp>
          <p:nvSpPr>
            <p:cNvPr id="295" name="Line 295"/>
            <p:cNvSpPr/>
            <p:nvPr/>
          </p:nvSpPr>
          <p:spPr>
            <a:xfrm>
              <a:off x="4305300" y="4876800"/>
              <a:ext cx="9525" cy="571500"/>
            </a:xfrm>
            <a:custGeom>
              <a:avLst/>
              <a:gdLst/>
              <a:ahLst/>
              <a:cxnLst/>
              <a:rect l="l" t="t" r="r" b="b"/>
              <a:pathLst>
                <a:path w="9525" h="571500">
                  <a:moveTo>
                    <a:pt x="0" y="0"/>
                  </a:moveTo>
                  <a:lnTo>
                    <a:pt x="0" y="571500"/>
                  </a:lnTo>
                </a:path>
              </a:pathLst>
            </a:custGeom>
            <a:noFill/>
            <a:ln w="9525">
              <a:solidFill>
                <a:srgbClr val="D8D4D0"/>
              </a:solidFill>
              <a:custDash>
                <a:ds d="300000" sp="300000"/>
              </a:custDash>
            </a:ln>
          </p:spPr>
        </p:sp>
        <p:sp>
          <p:nvSpPr>
            <p:cNvPr id="296" name="Line 296"/>
            <p:cNvSpPr/>
            <p:nvPr/>
          </p:nvSpPr>
          <p:spPr>
            <a:xfrm>
              <a:off x="6810375" y="4876800"/>
              <a:ext cx="9525" cy="571500"/>
            </a:xfrm>
            <a:custGeom>
              <a:avLst/>
              <a:gdLst/>
              <a:ahLst/>
              <a:cxnLst/>
              <a:rect l="l" t="t" r="r" b="b"/>
              <a:pathLst>
                <a:path w="9525" h="571500">
                  <a:moveTo>
                    <a:pt x="0" y="0"/>
                  </a:moveTo>
                  <a:lnTo>
                    <a:pt x="0" y="571500"/>
                  </a:lnTo>
                </a:path>
              </a:pathLst>
            </a:custGeom>
            <a:noFill/>
            <a:ln w="9525">
              <a:solidFill>
                <a:srgbClr val="D8D4D0"/>
              </a:solidFill>
              <a:custDash>
                <a:ds d="300000" sp="300000"/>
              </a:custDash>
            </a:ln>
          </p:spPr>
        </p:sp>
        <p:sp>
          <p:nvSpPr>
            <p:cNvPr id="297" name="Line 297"/>
            <p:cNvSpPr/>
            <p:nvPr/>
          </p:nvSpPr>
          <p:spPr>
            <a:xfrm>
              <a:off x="9305925" y="4876800"/>
              <a:ext cx="9525" cy="571500"/>
            </a:xfrm>
            <a:custGeom>
              <a:avLst/>
              <a:gdLst/>
              <a:ahLst/>
              <a:cxnLst/>
              <a:rect l="l" t="t" r="r" b="b"/>
              <a:pathLst>
                <a:path w="9525" h="571500">
                  <a:moveTo>
                    <a:pt x="0" y="0"/>
                  </a:moveTo>
                  <a:lnTo>
                    <a:pt x="0" y="571500"/>
                  </a:lnTo>
                </a:path>
              </a:pathLst>
            </a:custGeom>
            <a:noFill/>
            <a:ln w="9525">
              <a:solidFill>
                <a:srgbClr val="D8D4D0"/>
              </a:solidFill>
              <a:custDash>
                <a:ds d="300000" sp="300000"/>
              </a:custDash>
            </a:ln>
          </p:spPr>
        </p:sp>
        <p:grpSp>
          <p:nvGrpSpPr>
            <p:cNvPr id="300" name="Group 300"/>
            <p:cNvGrpSpPr/>
            <p:nvPr/>
          </p:nvGrpSpPr>
          <p:grpSpPr>
            <a:xfrm>
              <a:off x="2247405" y="5071455"/>
              <a:ext cx="186549" cy="186839"/>
              <a:chOff x="2247405" y="5071455"/>
              <a:chExt cx="186549" cy="186839"/>
            </a:xfrm>
          </p:grpSpPr>
          <p:sp>
            <p:nvSpPr>
              <p:cNvPr id="298" name="Freeform 298"/>
              <p:cNvSpPr/>
              <p:nvPr/>
            </p:nvSpPr>
            <p:spPr>
              <a:xfrm>
                <a:off x="2247405" y="5071455"/>
                <a:ext cx="186549" cy="186839"/>
              </a:xfrm>
              <a:custGeom>
                <a:avLst/>
                <a:gdLst/>
                <a:ahLst/>
                <a:cxnLst/>
                <a:rect l="l" t="t" r="r" b="b"/>
                <a:pathLst>
                  <a:path w="186549" h="186839">
                    <a:moveTo>
                      <a:pt x="75107" y="289"/>
                    </a:moveTo>
                    <a:cubicBezTo>
                      <a:pt x="30427" y="10647"/>
                      <a:pt x="0" y="52071"/>
                      <a:pt x="3479" y="97804"/>
                    </a:cubicBezTo>
                    <a:cubicBezTo>
                      <a:pt x="6959" y="143536"/>
                      <a:pt x="43303" y="179880"/>
                      <a:pt x="89035" y="183360"/>
                    </a:cubicBezTo>
                    <a:cubicBezTo>
                      <a:pt x="134768" y="186839"/>
                      <a:pt x="176192" y="156411"/>
                      <a:pt x="186549" y="111732"/>
                    </a:cubicBezTo>
                    <a:cubicBezTo>
                      <a:pt x="186549" y="106033"/>
                      <a:pt x="181930" y="101413"/>
                      <a:pt x="176231" y="101413"/>
                    </a:cubicBezTo>
                    <a:lnTo>
                      <a:pt x="106063" y="101413"/>
                    </a:lnTo>
                    <a:cubicBezTo>
                      <a:pt x="94666" y="101413"/>
                      <a:pt x="85426" y="92173"/>
                      <a:pt x="85426" y="80775"/>
                    </a:cubicBezTo>
                    <a:lnTo>
                      <a:pt x="85426" y="8544"/>
                    </a:lnTo>
                    <a:cubicBezTo>
                      <a:pt x="85167" y="6075"/>
                      <a:pt x="83930" y="3812"/>
                      <a:pt x="81991" y="2261"/>
                    </a:cubicBezTo>
                    <a:cubicBezTo>
                      <a:pt x="80052" y="710"/>
                      <a:pt x="77573" y="0"/>
                      <a:pt x="75107" y="289"/>
                    </a:cubicBezTo>
                  </a:path>
                </a:pathLst>
              </a:custGeom>
              <a:noFill/>
              <a:ln w="20637">
                <a:solidFill>
                  <a:srgbClr val="B03A1F"/>
                </a:solidFill>
              </a:ln>
            </p:spPr>
          </p:sp>
          <p:sp>
            <p:nvSpPr>
              <p:cNvPr id="299" name="Freeform 299"/>
              <p:cNvSpPr/>
              <p:nvPr/>
            </p:nvSpPr>
            <p:spPr>
              <a:xfrm>
                <a:off x="2374106" y="5074841"/>
                <a:ext cx="56753" cy="56753"/>
              </a:xfrm>
              <a:custGeom>
                <a:avLst/>
                <a:gdLst/>
                <a:ahLst/>
                <a:cxnLst/>
                <a:rect l="l" t="t" r="r" b="b"/>
                <a:pathLst>
                  <a:path w="56753" h="56753">
                    <a:moveTo>
                      <a:pt x="0" y="0"/>
                    </a:moveTo>
                    <a:cubicBezTo>
                      <a:pt x="26538" y="9344"/>
                      <a:pt x="47409" y="30215"/>
                      <a:pt x="56753" y="56753"/>
                    </a:cubicBezTo>
                    <a:lnTo>
                      <a:pt x="10319" y="56753"/>
                    </a:lnTo>
                    <a:cubicBezTo>
                      <a:pt x="4620" y="56753"/>
                      <a:pt x="0" y="52133"/>
                      <a:pt x="0" y="46434"/>
                    </a:cubicBezTo>
                    <a:lnTo>
                      <a:pt x="0" y="0"/>
                    </a:lnTo>
                  </a:path>
                </a:pathLst>
              </a:custGeom>
              <a:noFill/>
              <a:ln w="20637">
                <a:solidFill>
                  <a:srgbClr val="B03A1F"/>
                </a:solidFill>
              </a:ln>
            </p:spPr>
          </p:sp>
        </p:grpSp>
        <p:sp>
          <p:nvSpPr>
            <p:cNvPr id="301" name="TextBox 301"/>
            <p:cNvSpPr txBox="1"/>
            <p:nvPr/>
          </p:nvSpPr>
          <p:spPr>
            <a:xfrm>
              <a:off x="2538222" y="5038249"/>
              <a:ext cx="669544"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工具使用率</a:t>
              </a:r>
            </a:p>
          </p:txBody>
        </p:sp>
        <p:sp>
          <p:nvSpPr>
            <p:cNvPr id="302" name="TextBox 302"/>
            <p:cNvSpPr txBox="1"/>
            <p:nvPr/>
          </p:nvSpPr>
          <p:spPr>
            <a:xfrm>
              <a:off x="2538412" y="5276136"/>
              <a:ext cx="1252068"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衡量工具使用覆盖与活跃程度</a:t>
              </a:r>
            </a:p>
          </p:txBody>
        </p:sp>
        <p:sp>
          <p:nvSpPr>
            <p:cNvPr id="303" name="Freeform 303"/>
            <p:cNvSpPr/>
            <p:nvPr/>
          </p:nvSpPr>
          <p:spPr>
            <a:xfrm>
              <a:off x="4765675" y="5080000"/>
              <a:ext cx="165099" cy="175418"/>
            </a:xfrm>
            <a:custGeom>
              <a:avLst/>
              <a:gdLst/>
              <a:ahLst/>
              <a:cxnLst/>
              <a:rect l="l" t="t" r="r" b="b"/>
              <a:pathLst>
                <a:path w="165099" h="175418">
                  <a:moveTo>
                    <a:pt x="0" y="0"/>
                  </a:moveTo>
                  <a:lnTo>
                    <a:pt x="165099" y="0"/>
                  </a:lnTo>
                  <a:lnTo>
                    <a:pt x="165099" y="22412"/>
                  </a:lnTo>
                  <a:cubicBezTo>
                    <a:pt x="165098" y="27885"/>
                    <a:pt x="162923" y="33134"/>
                    <a:pt x="159053" y="37003"/>
                  </a:cubicBezTo>
                  <a:lnTo>
                    <a:pt x="113506" y="82550"/>
                  </a:lnTo>
                  <a:lnTo>
                    <a:pt x="113506" y="154781"/>
                  </a:lnTo>
                  <a:lnTo>
                    <a:pt x="51594" y="175418"/>
                  </a:lnTo>
                  <a:lnTo>
                    <a:pt x="51594" y="87709"/>
                  </a:lnTo>
                  <a:lnTo>
                    <a:pt x="5366" y="36858"/>
                  </a:lnTo>
                  <a:cubicBezTo>
                    <a:pt x="1914" y="33060"/>
                    <a:pt x="1" y="28112"/>
                    <a:pt x="0" y="22980"/>
                  </a:cubicBezTo>
                  <a:lnTo>
                    <a:pt x="0" y="0"/>
                  </a:lnTo>
                </a:path>
              </a:pathLst>
            </a:custGeom>
            <a:noFill/>
            <a:ln w="20637">
              <a:solidFill>
                <a:srgbClr val="B03A1F"/>
              </a:solidFill>
            </a:ln>
          </p:spPr>
        </p:sp>
        <p:sp>
          <p:nvSpPr>
            <p:cNvPr id="304" name="TextBox 304"/>
            <p:cNvSpPr txBox="1"/>
            <p:nvPr/>
          </p:nvSpPr>
          <p:spPr>
            <a:xfrm>
              <a:off x="5043297" y="5038249"/>
              <a:ext cx="669544"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线索转化率</a:t>
              </a:r>
            </a:p>
          </p:txBody>
        </p:sp>
        <p:sp>
          <p:nvSpPr>
            <p:cNvPr id="305" name="TextBox 305"/>
            <p:cNvSpPr txBox="1"/>
            <p:nvPr/>
          </p:nvSpPr>
          <p:spPr>
            <a:xfrm>
              <a:off x="5043488" y="5276136"/>
              <a:ext cx="106090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衡量线索质量与转化效率</a:t>
              </a:r>
            </a:p>
          </p:txBody>
        </p:sp>
        <p:grpSp>
          <p:nvGrpSpPr>
            <p:cNvPr id="310" name="Group 310"/>
            <p:cNvGrpSpPr/>
            <p:nvPr/>
          </p:nvGrpSpPr>
          <p:grpSpPr>
            <a:xfrm>
              <a:off x="7271544" y="5080000"/>
              <a:ext cx="154780" cy="175418"/>
              <a:chOff x="7271544" y="5080000"/>
              <a:chExt cx="154780" cy="175418"/>
            </a:xfrm>
          </p:grpSpPr>
          <p:sp>
            <p:nvSpPr>
              <p:cNvPr id="306" name="Freeform 306"/>
              <p:cNvSpPr/>
              <p:nvPr/>
            </p:nvSpPr>
            <p:spPr>
              <a:xfrm>
                <a:off x="7271544" y="5080000"/>
                <a:ext cx="123825" cy="165099"/>
              </a:xfrm>
              <a:custGeom>
                <a:avLst/>
                <a:gdLst/>
                <a:ahLst/>
                <a:cxnLst/>
                <a:rect l="l" t="t" r="r" b="b"/>
                <a:pathLst>
                  <a:path w="123825" h="165099">
                    <a:moveTo>
                      <a:pt x="47621" y="165099"/>
                    </a:moveTo>
                    <a:lnTo>
                      <a:pt x="20637" y="165099"/>
                    </a:lnTo>
                    <a:cubicBezTo>
                      <a:pt x="9240" y="165099"/>
                      <a:pt x="0" y="155860"/>
                      <a:pt x="0" y="144462"/>
                    </a:cubicBezTo>
                    <a:lnTo>
                      <a:pt x="0" y="20637"/>
                    </a:lnTo>
                    <a:cubicBezTo>
                      <a:pt x="0" y="9240"/>
                      <a:pt x="9240" y="0"/>
                      <a:pt x="20637" y="0"/>
                    </a:cubicBezTo>
                    <a:lnTo>
                      <a:pt x="103187" y="0"/>
                    </a:lnTo>
                    <a:cubicBezTo>
                      <a:pt x="114585" y="0"/>
                      <a:pt x="123825" y="9240"/>
                      <a:pt x="123825" y="20637"/>
                    </a:cubicBezTo>
                    <a:lnTo>
                      <a:pt x="123825" y="103187"/>
                    </a:lnTo>
                  </a:path>
                </a:pathLst>
              </a:custGeom>
              <a:noFill/>
              <a:ln w="20637">
                <a:solidFill>
                  <a:srgbClr val="B03A1F"/>
                </a:solidFill>
              </a:ln>
            </p:spPr>
          </p:sp>
          <p:sp>
            <p:nvSpPr>
              <p:cNvPr id="307" name="Freeform 307"/>
              <p:cNvSpPr/>
              <p:nvPr/>
            </p:nvSpPr>
            <p:spPr>
              <a:xfrm>
                <a:off x="7364412" y="5214143"/>
                <a:ext cx="61912" cy="41275"/>
              </a:xfrm>
              <a:custGeom>
                <a:avLst/>
                <a:gdLst/>
                <a:ahLst/>
                <a:cxnLst/>
                <a:rect l="l" t="t" r="r" b="b"/>
                <a:pathLst>
                  <a:path w="61912" h="41275">
                    <a:moveTo>
                      <a:pt x="0" y="20637"/>
                    </a:moveTo>
                    <a:lnTo>
                      <a:pt x="20637" y="41275"/>
                    </a:lnTo>
                    <a:lnTo>
                      <a:pt x="61912" y="0"/>
                    </a:lnTo>
                  </a:path>
                </a:pathLst>
              </a:custGeom>
              <a:noFill/>
              <a:ln w="20637">
                <a:solidFill>
                  <a:srgbClr val="B03A1F"/>
                </a:solidFill>
              </a:ln>
            </p:spPr>
          </p:sp>
          <p:sp>
            <p:nvSpPr>
              <p:cNvPr id="308" name="Freeform 308"/>
              <p:cNvSpPr/>
              <p:nvPr/>
            </p:nvSpPr>
            <p:spPr>
              <a:xfrm>
                <a:off x="7312818" y="5121275"/>
                <a:ext cx="41275" cy="9525"/>
              </a:xfrm>
              <a:custGeom>
                <a:avLst/>
                <a:gdLst/>
                <a:ahLst/>
                <a:cxnLst/>
                <a:rect l="l" t="t" r="r" b="b"/>
                <a:pathLst>
                  <a:path w="41275" h="9525">
                    <a:moveTo>
                      <a:pt x="0" y="0"/>
                    </a:moveTo>
                    <a:lnTo>
                      <a:pt x="41275" y="0"/>
                    </a:lnTo>
                  </a:path>
                </a:pathLst>
              </a:custGeom>
              <a:noFill/>
              <a:ln w="20637">
                <a:solidFill>
                  <a:srgbClr val="B03A1F"/>
                </a:solidFill>
              </a:ln>
            </p:spPr>
          </p:sp>
          <p:sp>
            <p:nvSpPr>
              <p:cNvPr id="309" name="Freeform 309"/>
              <p:cNvSpPr/>
              <p:nvPr/>
            </p:nvSpPr>
            <p:spPr>
              <a:xfrm>
                <a:off x="7312818" y="5162550"/>
                <a:ext cx="20637" cy="9525"/>
              </a:xfrm>
              <a:custGeom>
                <a:avLst/>
                <a:gdLst/>
                <a:ahLst/>
                <a:cxnLst/>
                <a:rect l="l" t="t" r="r" b="b"/>
                <a:pathLst>
                  <a:path w="20637" h="9525">
                    <a:moveTo>
                      <a:pt x="0" y="0"/>
                    </a:moveTo>
                    <a:lnTo>
                      <a:pt x="20637" y="0"/>
                    </a:lnTo>
                  </a:path>
                </a:pathLst>
              </a:custGeom>
              <a:noFill/>
              <a:ln w="20637">
                <a:solidFill>
                  <a:srgbClr val="B03A1F"/>
                </a:solidFill>
              </a:ln>
            </p:spPr>
          </p:sp>
        </p:grpSp>
        <p:sp>
          <p:nvSpPr>
            <p:cNvPr id="311" name="TextBox 311"/>
            <p:cNvSpPr txBox="1"/>
            <p:nvPr/>
          </p:nvSpPr>
          <p:spPr>
            <a:xfrm>
              <a:off x="7538847" y="5038249"/>
              <a:ext cx="669544"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任务完成率</a:t>
              </a:r>
            </a:p>
          </p:txBody>
        </p:sp>
        <p:sp>
          <p:nvSpPr>
            <p:cNvPr id="312" name="TextBox 312"/>
            <p:cNvSpPr txBox="1"/>
            <p:nvPr/>
          </p:nvSpPr>
          <p:spPr>
            <a:xfrm>
              <a:off x="7539038" y="5276136"/>
              <a:ext cx="106090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衡量执行效率与目标达成</a:t>
              </a:r>
            </a:p>
          </p:txBody>
        </p:sp>
        <p:grpSp>
          <p:nvGrpSpPr>
            <p:cNvPr id="315" name="Group 315"/>
            <p:cNvGrpSpPr/>
            <p:nvPr/>
          </p:nvGrpSpPr>
          <p:grpSpPr>
            <a:xfrm>
              <a:off x="9766300" y="5069681"/>
              <a:ext cx="165099" cy="185737"/>
              <a:chOff x="9766300" y="5069681"/>
              <a:chExt cx="165099" cy="185737"/>
            </a:xfrm>
          </p:grpSpPr>
          <p:sp>
            <p:nvSpPr>
              <p:cNvPr id="313" name="Freeform 313"/>
              <p:cNvSpPr/>
              <p:nvPr/>
            </p:nvSpPr>
            <p:spPr>
              <a:xfrm>
                <a:off x="9766300" y="5069681"/>
                <a:ext cx="165099" cy="92868"/>
              </a:xfrm>
              <a:custGeom>
                <a:avLst/>
                <a:gdLst/>
                <a:ahLst/>
                <a:cxnLst/>
                <a:rect l="l" t="t" r="r" b="b"/>
                <a:pathLst>
                  <a:path w="165099" h="92868">
                    <a:moveTo>
                      <a:pt x="0" y="92868"/>
                    </a:moveTo>
                    <a:lnTo>
                      <a:pt x="0" y="61912"/>
                    </a:lnTo>
                    <a:cubicBezTo>
                      <a:pt x="0" y="44816"/>
                      <a:pt x="13860" y="30956"/>
                      <a:pt x="30956" y="30956"/>
                    </a:cubicBezTo>
                    <a:lnTo>
                      <a:pt x="165099" y="30956"/>
                    </a:lnTo>
                    <a:moveTo>
                      <a:pt x="134143" y="0"/>
                    </a:moveTo>
                    <a:lnTo>
                      <a:pt x="165099" y="30956"/>
                    </a:lnTo>
                    <a:lnTo>
                      <a:pt x="134143" y="61912"/>
                    </a:lnTo>
                  </a:path>
                </a:pathLst>
              </a:custGeom>
              <a:noFill/>
              <a:ln w="20637">
                <a:solidFill>
                  <a:srgbClr val="B03A1F"/>
                </a:solidFill>
              </a:ln>
            </p:spPr>
          </p:sp>
          <p:sp>
            <p:nvSpPr>
              <p:cNvPr id="314" name="Freeform 314"/>
              <p:cNvSpPr/>
              <p:nvPr/>
            </p:nvSpPr>
            <p:spPr>
              <a:xfrm>
                <a:off x="9766300" y="5162550"/>
                <a:ext cx="165099" cy="92868"/>
              </a:xfrm>
              <a:custGeom>
                <a:avLst/>
                <a:gdLst/>
                <a:ahLst/>
                <a:cxnLst/>
                <a:rect l="l" t="t" r="r" b="b"/>
                <a:pathLst>
                  <a:path w="165099" h="92868">
                    <a:moveTo>
                      <a:pt x="165099" y="0"/>
                    </a:moveTo>
                    <a:lnTo>
                      <a:pt x="165099" y="30956"/>
                    </a:lnTo>
                    <a:cubicBezTo>
                      <a:pt x="165099" y="48053"/>
                      <a:pt x="151240" y="61912"/>
                      <a:pt x="134143" y="61912"/>
                    </a:cubicBezTo>
                    <a:lnTo>
                      <a:pt x="0" y="61912"/>
                    </a:lnTo>
                    <a:moveTo>
                      <a:pt x="30956" y="92868"/>
                    </a:moveTo>
                    <a:lnTo>
                      <a:pt x="0" y="61912"/>
                    </a:lnTo>
                    <a:lnTo>
                      <a:pt x="30956" y="30956"/>
                    </a:lnTo>
                  </a:path>
                </a:pathLst>
              </a:custGeom>
              <a:noFill/>
              <a:ln w="20637">
                <a:solidFill>
                  <a:srgbClr val="B03A1F"/>
                </a:solidFill>
              </a:ln>
            </p:spPr>
          </p:sp>
        </p:grpSp>
        <p:sp>
          <p:nvSpPr>
            <p:cNvPr id="316" name="TextBox 316"/>
            <p:cNvSpPr txBox="1"/>
            <p:nvPr/>
          </p:nvSpPr>
          <p:spPr>
            <a:xfrm>
              <a:off x="10043922" y="5038249"/>
              <a:ext cx="669544" cy="190690"/>
            </a:xfrm>
            <a:prstGeom prst="rect">
              <a:avLst/>
            </a:prstGeom>
            <a:noFill/>
            <a:ln>
              <a:noFill/>
            </a:ln>
          </p:spPr>
          <p:txBody>
            <a:bodyPr wrap="none" lIns="0" tIns="0" rIns="0" bIns="0" anchor="t" anchorCtr="0">
              <a:spAutoFit/>
            </a:bodyPr>
            <a:lstStyle/>
            <a:p>
              <a:pPr algn="l"/>
              <a:r>
                <a:rPr lang="zh-CN" sz="980" b="1" dirty="0">
                  <a:solidFill>
                    <a:srgbClr val="1E1E1E"/>
                  </a:solidFill>
                  <a:latin typeface="+mn-lt"/>
                  <a:ea typeface="+mn-ea"/>
                  <a:cs typeface="+mn-cs"/>
                </a:rPr>
                <a:t>策略复用率</a:t>
              </a:r>
            </a:p>
          </p:txBody>
        </p:sp>
        <p:sp>
          <p:nvSpPr>
            <p:cNvPr id="317" name="TextBox 317"/>
            <p:cNvSpPr txBox="1"/>
            <p:nvPr/>
          </p:nvSpPr>
          <p:spPr>
            <a:xfrm>
              <a:off x="10044112" y="5276136"/>
              <a:ext cx="106090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衡量策略沉淀与复用效果</a:t>
              </a:r>
            </a:p>
          </p:txBody>
        </p:sp>
      </p:gr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14</a:t>
              </a:r>
            </a:p>
          </p:txBody>
        </p:sp>
        <p:sp>
          <p:nvSpPr>
            <p:cNvPr id="4" name="TextBox 4"/>
            <p:cNvSpPr txBox="1"/>
            <p:nvPr/>
          </p:nvSpPr>
          <p:spPr>
            <a:xfrm>
              <a:off x="1037844" y="151448"/>
              <a:ext cx="612190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队伍能力升级：建设专业化、复合型零售人才梯队</a:t>
              </a:r>
            </a:p>
          </p:txBody>
        </p:sp>
        <p:sp>
          <p:nvSpPr>
            <p:cNvPr id="5" name="Line 5"/>
            <p:cNvSpPr/>
            <p:nvPr/>
          </p:nvSpPr>
          <p:spPr>
            <a:xfrm>
              <a:off x="1047750" y="533400"/>
              <a:ext cx="10668000" cy="9525"/>
            </a:xfrm>
            <a:custGeom>
              <a:avLst/>
              <a:gdLst/>
              <a:ahLst/>
              <a:cxnLst/>
              <a:rect l="l" t="t" r="r" b="b"/>
              <a:pathLst>
                <a:path w="10668000" h="9525">
                  <a:moveTo>
                    <a:pt x="0" y="0"/>
                  </a:moveTo>
                  <a:lnTo>
                    <a:pt x="10668000" y="0"/>
                  </a:lnTo>
                </a:path>
              </a:pathLst>
            </a:custGeom>
            <a:noFill/>
            <a:ln w="14288">
              <a:solidFill>
                <a:srgbClr val="B03A1F"/>
              </a:solidFill>
            </a:ln>
          </p:spPr>
        </p:sp>
      </p:grpSp>
      <p:grpSp>
        <p:nvGrpSpPr>
          <p:cNvPr id="56" name="talent-pyramid"/>
          <p:cNvGrpSpPr/>
          <p:nvPr/>
        </p:nvGrpSpPr>
        <p:grpSpPr>
          <a:xfrm>
            <a:off x="209550" y="800100"/>
            <a:ext cx="2952750" cy="3429000"/>
            <a:chOff x="209550" y="800100"/>
            <a:chExt cx="2952750" cy="3429000"/>
          </a:xfrm>
        </p:grpSpPr>
        <p:sp>
          <p:nvSpPr>
            <p:cNvPr id="7" name="Rectangle 7"/>
            <p:cNvSpPr/>
            <p:nvPr/>
          </p:nvSpPr>
          <p:spPr>
            <a:xfrm>
              <a:off x="209550" y="800100"/>
              <a:ext cx="2952750" cy="266700"/>
            </a:xfrm>
            <a:prstGeom prst="roundRect">
              <a:avLst>
                <a:gd name="adj" fmla="val 14286"/>
              </a:avLst>
            </a:prstGeom>
            <a:solidFill>
              <a:srgbClr val="B03A1F"/>
            </a:solidFill>
            <a:ln>
              <a:noFill/>
            </a:ln>
          </p:spPr>
        </p:sp>
        <p:sp>
          <p:nvSpPr>
            <p:cNvPr id="8" name="TextBox 8"/>
            <p:cNvSpPr txBox="1"/>
            <p:nvPr/>
          </p:nvSpPr>
          <p:spPr>
            <a:xfrm>
              <a:off x="973836" y="867728"/>
              <a:ext cx="142417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人才梯队架构（四层）</a:t>
              </a:r>
            </a:p>
          </p:txBody>
        </p:sp>
        <p:sp>
          <p:nvSpPr>
            <p:cNvPr id="9" name="Polygon 9"/>
            <p:cNvSpPr/>
            <p:nvPr/>
          </p:nvSpPr>
          <p:spPr>
            <a:xfrm>
              <a:off x="571500" y="1143000"/>
              <a:ext cx="762000" cy="742950"/>
            </a:xfrm>
            <a:custGeom>
              <a:avLst/>
              <a:gdLst/>
              <a:ahLst/>
              <a:cxnLst/>
              <a:rect l="l" t="t" r="r" b="b"/>
              <a:pathLst>
                <a:path w="762000" h="742950">
                  <a:moveTo>
                    <a:pt x="114300" y="0"/>
                  </a:moveTo>
                  <a:lnTo>
                    <a:pt x="647700" y="0"/>
                  </a:lnTo>
                  <a:lnTo>
                    <a:pt x="762000" y="742950"/>
                  </a:lnTo>
                  <a:lnTo>
                    <a:pt x="0" y="742950"/>
                  </a:lnTo>
                  <a:close/>
                </a:path>
              </a:pathLst>
            </a:custGeom>
            <a:solidFill>
              <a:srgbClr val="9E331B"/>
            </a:solidFill>
            <a:ln>
              <a:noFill/>
            </a:ln>
          </p:spPr>
        </p:sp>
        <p:sp>
          <p:nvSpPr>
            <p:cNvPr id="10" name="Freeform 10"/>
            <p:cNvSpPr/>
            <p:nvPr/>
          </p:nvSpPr>
          <p:spPr>
            <a:xfrm>
              <a:off x="902494" y="1309687"/>
              <a:ext cx="100012" cy="66675"/>
            </a:xfrm>
            <a:custGeom>
              <a:avLst/>
              <a:gdLst/>
              <a:ahLst/>
              <a:cxnLst/>
              <a:rect l="l" t="t" r="r" b="b"/>
              <a:pathLst>
                <a:path w="100012" h="66675">
                  <a:moveTo>
                    <a:pt x="50006" y="0"/>
                  </a:moveTo>
                  <a:lnTo>
                    <a:pt x="72231" y="33337"/>
                  </a:lnTo>
                  <a:lnTo>
                    <a:pt x="100012" y="11112"/>
                  </a:lnTo>
                  <a:lnTo>
                    <a:pt x="88900" y="66675"/>
                  </a:lnTo>
                  <a:lnTo>
                    <a:pt x="11112" y="66675"/>
                  </a:lnTo>
                  <a:lnTo>
                    <a:pt x="0" y="11112"/>
                  </a:lnTo>
                  <a:lnTo>
                    <a:pt x="27781" y="33337"/>
                  </a:lnTo>
                  <a:lnTo>
                    <a:pt x="50006" y="0"/>
                  </a:lnTo>
                </a:path>
              </a:pathLst>
            </a:custGeom>
            <a:noFill/>
            <a:ln w="11112">
              <a:solidFill>
                <a:srgbClr val="FFFFFF"/>
              </a:solidFill>
            </a:ln>
          </p:spPr>
        </p:sp>
        <p:sp>
          <p:nvSpPr>
            <p:cNvPr id="11" name="TextBox 11"/>
            <p:cNvSpPr txBox="1"/>
            <p:nvPr/>
          </p:nvSpPr>
          <p:spPr>
            <a:xfrm>
              <a:off x="694652" y="149899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经营管理</a:t>
              </a:r>
            </a:p>
          </p:txBody>
        </p:sp>
        <p:sp>
          <p:nvSpPr>
            <p:cNvPr id="12" name="Polygon 12"/>
            <p:cNvSpPr/>
            <p:nvPr/>
          </p:nvSpPr>
          <p:spPr>
            <a:xfrm>
              <a:off x="457200" y="1924050"/>
              <a:ext cx="990600" cy="742950"/>
            </a:xfrm>
            <a:custGeom>
              <a:avLst/>
              <a:gdLst/>
              <a:ahLst/>
              <a:cxnLst/>
              <a:rect l="l" t="t" r="r" b="b"/>
              <a:pathLst>
                <a:path w="990600" h="742950">
                  <a:moveTo>
                    <a:pt x="114300" y="0"/>
                  </a:moveTo>
                  <a:lnTo>
                    <a:pt x="876300" y="0"/>
                  </a:lnTo>
                  <a:lnTo>
                    <a:pt x="990600" y="742950"/>
                  </a:lnTo>
                  <a:lnTo>
                    <a:pt x="0" y="742950"/>
                  </a:lnTo>
                  <a:close/>
                </a:path>
              </a:pathLst>
            </a:custGeom>
            <a:solidFill>
              <a:srgbClr val="C54C30"/>
            </a:solidFill>
            <a:ln>
              <a:noFill/>
            </a:ln>
          </p:spPr>
        </p:sp>
        <p:grpSp>
          <p:nvGrpSpPr>
            <p:cNvPr id="17" name="Group 17"/>
            <p:cNvGrpSpPr/>
            <p:nvPr/>
          </p:nvGrpSpPr>
          <p:grpSpPr>
            <a:xfrm>
              <a:off x="902494" y="2074069"/>
              <a:ext cx="100012" cy="94456"/>
              <a:chOff x="902494" y="2074069"/>
              <a:chExt cx="100012" cy="94456"/>
            </a:xfrm>
          </p:grpSpPr>
          <p:sp>
            <p:nvSpPr>
              <p:cNvPr id="13" name="Freeform 13"/>
              <p:cNvSpPr/>
              <p:nvPr/>
            </p:nvSpPr>
            <p:spPr>
              <a:xfrm>
                <a:off x="902494" y="2096294"/>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FFFFFF"/>
                </a:solidFill>
              </a:ln>
            </p:spPr>
          </p:sp>
          <p:sp>
            <p:nvSpPr>
              <p:cNvPr id="14" name="Freeform 14"/>
              <p:cNvSpPr/>
              <p:nvPr/>
            </p:nvSpPr>
            <p:spPr>
              <a:xfrm>
                <a:off x="930275" y="2074069"/>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FFFFFF"/>
                </a:solidFill>
              </a:ln>
            </p:spPr>
          </p:sp>
          <p:sp>
            <p:nvSpPr>
              <p:cNvPr id="15" name="Freeform 15"/>
              <p:cNvSpPr/>
              <p:nvPr/>
            </p:nvSpPr>
            <p:spPr>
              <a:xfrm>
                <a:off x="952500" y="2124075"/>
                <a:ext cx="9525" cy="9525"/>
              </a:xfrm>
              <a:custGeom>
                <a:avLst/>
                <a:gdLst/>
                <a:ahLst/>
                <a:cxnLst/>
                <a:rect l="l" t="t" r="r" b="b"/>
                <a:pathLst>
                  <a:path w="9525" h="9525">
                    <a:moveTo>
                      <a:pt x="0" y="0"/>
                    </a:moveTo>
                    <a:lnTo>
                      <a:pt x="0" y="56"/>
                    </a:lnTo>
                  </a:path>
                </a:pathLst>
              </a:custGeom>
              <a:noFill/>
              <a:ln w="11112">
                <a:solidFill>
                  <a:srgbClr val="FFFFFF"/>
                </a:solidFill>
              </a:ln>
            </p:spPr>
          </p:sp>
          <p:sp>
            <p:nvSpPr>
              <p:cNvPr id="16" name="Freeform 16"/>
              <p:cNvSpPr/>
              <p:nvPr/>
            </p:nvSpPr>
            <p:spPr>
              <a:xfrm>
                <a:off x="902494" y="2129631"/>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FFFFFF"/>
                </a:solidFill>
              </a:ln>
            </p:spPr>
          </p:sp>
        </p:grpSp>
        <p:sp>
          <p:nvSpPr>
            <p:cNvPr id="18" name="TextBox 18"/>
            <p:cNvSpPr txBox="1"/>
            <p:nvPr/>
          </p:nvSpPr>
          <p:spPr>
            <a:xfrm>
              <a:off x="694652" y="22800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财富投顾</a:t>
              </a:r>
            </a:p>
          </p:txBody>
        </p:sp>
        <p:sp>
          <p:nvSpPr>
            <p:cNvPr id="19" name="Polygon 19"/>
            <p:cNvSpPr/>
            <p:nvPr/>
          </p:nvSpPr>
          <p:spPr>
            <a:xfrm>
              <a:off x="342900" y="2705100"/>
              <a:ext cx="1219200" cy="742950"/>
            </a:xfrm>
            <a:custGeom>
              <a:avLst/>
              <a:gdLst/>
              <a:ahLst/>
              <a:cxnLst/>
              <a:rect l="l" t="t" r="r" b="b"/>
              <a:pathLst>
                <a:path w="1219200" h="742950">
                  <a:moveTo>
                    <a:pt x="114300" y="0"/>
                  </a:moveTo>
                  <a:lnTo>
                    <a:pt x="1104900" y="0"/>
                  </a:lnTo>
                  <a:lnTo>
                    <a:pt x="1219200" y="742950"/>
                  </a:lnTo>
                  <a:lnTo>
                    <a:pt x="0" y="742950"/>
                  </a:lnTo>
                  <a:close/>
                </a:path>
              </a:pathLst>
            </a:custGeom>
            <a:solidFill>
              <a:srgbClr val="D97F6A"/>
            </a:solidFill>
            <a:ln>
              <a:noFill/>
            </a:ln>
          </p:spPr>
        </p:sp>
        <p:grpSp>
          <p:nvGrpSpPr>
            <p:cNvPr id="23" name="Group 23"/>
            <p:cNvGrpSpPr/>
            <p:nvPr/>
          </p:nvGrpSpPr>
          <p:grpSpPr>
            <a:xfrm>
              <a:off x="919162" y="2855119"/>
              <a:ext cx="83344" cy="100012"/>
              <a:chOff x="919162" y="2855119"/>
              <a:chExt cx="83344" cy="100012"/>
            </a:xfrm>
          </p:grpSpPr>
          <p:sp>
            <p:nvSpPr>
              <p:cNvPr id="20" name="Freeform 20"/>
              <p:cNvSpPr/>
              <p:nvPr/>
            </p:nvSpPr>
            <p:spPr>
              <a:xfrm>
                <a:off x="930275" y="28551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FFFFFF"/>
                </a:solidFill>
              </a:ln>
            </p:spPr>
          </p:sp>
          <p:sp>
            <p:nvSpPr>
              <p:cNvPr id="21" name="Freeform 21"/>
              <p:cNvSpPr/>
              <p:nvPr/>
            </p:nvSpPr>
            <p:spPr>
              <a:xfrm>
                <a:off x="919162" y="292179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FFFFFF"/>
                </a:solidFill>
              </a:ln>
            </p:spPr>
          </p:sp>
          <p:sp>
            <p:nvSpPr>
              <p:cNvPr id="22" name="Freeform 22"/>
              <p:cNvSpPr/>
              <p:nvPr/>
            </p:nvSpPr>
            <p:spPr>
              <a:xfrm>
                <a:off x="969169" y="2932906"/>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24" name="TextBox 24"/>
            <p:cNvSpPr txBox="1"/>
            <p:nvPr/>
          </p:nvSpPr>
          <p:spPr>
            <a:xfrm>
              <a:off x="694652" y="306109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客户经理</a:t>
              </a:r>
            </a:p>
          </p:txBody>
        </p:sp>
        <p:sp>
          <p:nvSpPr>
            <p:cNvPr id="25" name="Polygon 25"/>
            <p:cNvSpPr/>
            <p:nvPr/>
          </p:nvSpPr>
          <p:spPr>
            <a:xfrm>
              <a:off x="228600" y="3486150"/>
              <a:ext cx="1447800" cy="742950"/>
            </a:xfrm>
            <a:custGeom>
              <a:avLst/>
              <a:gdLst/>
              <a:ahLst/>
              <a:cxnLst/>
              <a:rect l="l" t="t" r="r" b="b"/>
              <a:pathLst>
                <a:path w="1447800" h="742950">
                  <a:moveTo>
                    <a:pt x="114300" y="0"/>
                  </a:moveTo>
                  <a:lnTo>
                    <a:pt x="1333500" y="0"/>
                  </a:lnTo>
                  <a:lnTo>
                    <a:pt x="1447800" y="742950"/>
                  </a:lnTo>
                  <a:lnTo>
                    <a:pt x="0" y="742950"/>
                  </a:lnTo>
                  <a:close/>
                </a:path>
              </a:pathLst>
            </a:custGeom>
            <a:solidFill>
              <a:srgbClr val="EFC3B9"/>
            </a:solidFill>
            <a:ln>
              <a:noFill/>
            </a:ln>
          </p:spPr>
        </p:sp>
        <p:grpSp>
          <p:nvGrpSpPr>
            <p:cNvPr id="30" name="Group 30"/>
            <p:cNvGrpSpPr/>
            <p:nvPr/>
          </p:nvGrpSpPr>
          <p:grpSpPr>
            <a:xfrm>
              <a:off x="908050" y="3636169"/>
              <a:ext cx="88900" cy="105569"/>
              <a:chOff x="908050" y="3636169"/>
              <a:chExt cx="88900" cy="105569"/>
            </a:xfrm>
          </p:grpSpPr>
          <p:sp>
            <p:nvSpPr>
              <p:cNvPr id="26" name="Freeform 26"/>
              <p:cNvSpPr/>
              <p:nvPr/>
            </p:nvSpPr>
            <p:spPr>
              <a:xfrm>
                <a:off x="908050" y="3636169"/>
                <a:ext cx="88900" cy="61119"/>
              </a:xfrm>
              <a:custGeom>
                <a:avLst/>
                <a:gdLst/>
                <a:ahLst/>
                <a:cxnLst/>
                <a:rect l="l" t="t" r="r" b="b"/>
                <a:pathLst>
                  <a:path w="88900" h="61119">
                    <a:moveTo>
                      <a:pt x="0" y="61119"/>
                    </a:moveTo>
                    <a:lnTo>
                      <a:pt x="0" y="44450"/>
                    </a:lnTo>
                    <a:cubicBezTo>
                      <a:pt x="0" y="19901"/>
                      <a:pt x="19901" y="0"/>
                      <a:pt x="44450" y="0"/>
                    </a:cubicBezTo>
                    <a:cubicBezTo>
                      <a:pt x="68999" y="0"/>
                      <a:pt x="88900" y="19901"/>
                      <a:pt x="88900" y="44450"/>
                    </a:cubicBezTo>
                    <a:lnTo>
                      <a:pt x="88900" y="61119"/>
                    </a:lnTo>
                  </a:path>
                </a:pathLst>
              </a:custGeom>
              <a:noFill/>
              <a:ln w="11112">
                <a:solidFill>
                  <a:srgbClr val="FFFFFF"/>
                </a:solidFill>
              </a:ln>
            </p:spPr>
          </p:sp>
          <p:sp>
            <p:nvSpPr>
              <p:cNvPr id="27" name="Freeform 27"/>
              <p:cNvSpPr/>
              <p:nvPr/>
            </p:nvSpPr>
            <p:spPr>
              <a:xfrm>
                <a:off x="952500" y="3725069"/>
                <a:ext cx="33337" cy="16669"/>
              </a:xfrm>
              <a:custGeom>
                <a:avLst/>
                <a:gdLst/>
                <a:ahLst/>
                <a:cxnLst/>
                <a:rect l="l" t="t" r="r" b="b"/>
                <a:pathLst>
                  <a:path w="33337" h="16669">
                    <a:moveTo>
                      <a:pt x="33337" y="0"/>
                    </a:moveTo>
                    <a:cubicBezTo>
                      <a:pt x="33337" y="9207"/>
                      <a:pt x="18413" y="16669"/>
                      <a:pt x="0" y="16669"/>
                    </a:cubicBezTo>
                  </a:path>
                </a:pathLst>
              </a:custGeom>
              <a:noFill/>
              <a:ln w="11112">
                <a:solidFill>
                  <a:srgbClr val="FFFFFF"/>
                </a:solidFill>
              </a:ln>
            </p:spPr>
          </p:sp>
          <p:sp>
            <p:nvSpPr>
              <p:cNvPr id="28" name="Freeform 28"/>
              <p:cNvSpPr/>
              <p:nvPr/>
            </p:nvSpPr>
            <p:spPr>
              <a:xfrm>
                <a:off x="908050" y="3686175"/>
                <a:ext cx="27781" cy="38894"/>
              </a:xfrm>
              <a:custGeom>
                <a:avLst/>
                <a:gdLst/>
                <a:ahLst/>
                <a:cxnLst/>
                <a:rect l="l" t="t" r="r" b="b"/>
                <a:pathLst>
                  <a:path w="27781" h="38894">
                    <a:moveTo>
                      <a:pt x="0" y="11112"/>
                    </a:moveTo>
                    <a:cubicBezTo>
                      <a:pt x="0" y="4975"/>
                      <a:pt x="4975" y="0"/>
                      <a:pt x="11112" y="0"/>
                    </a:cubicBezTo>
                    <a:lnTo>
                      <a:pt x="16669" y="0"/>
                    </a:lnTo>
                    <a:cubicBezTo>
                      <a:pt x="22806" y="0"/>
                      <a:pt x="27781" y="4975"/>
                      <a:pt x="27781" y="11112"/>
                    </a:cubicBezTo>
                    <a:lnTo>
                      <a:pt x="27781" y="27781"/>
                    </a:lnTo>
                    <a:cubicBezTo>
                      <a:pt x="27781" y="33918"/>
                      <a:pt x="22806" y="38894"/>
                      <a:pt x="16669" y="38894"/>
                    </a:cubicBezTo>
                    <a:lnTo>
                      <a:pt x="11112" y="38894"/>
                    </a:lnTo>
                    <a:cubicBezTo>
                      <a:pt x="4975" y="38894"/>
                      <a:pt x="0" y="33918"/>
                      <a:pt x="0" y="27781"/>
                    </a:cubicBezTo>
                    <a:lnTo>
                      <a:pt x="0" y="11112"/>
                    </a:lnTo>
                  </a:path>
                </a:pathLst>
              </a:custGeom>
              <a:noFill/>
              <a:ln w="11112">
                <a:solidFill>
                  <a:srgbClr val="FFFFFF"/>
                </a:solidFill>
              </a:ln>
            </p:spPr>
          </p:sp>
          <p:sp>
            <p:nvSpPr>
              <p:cNvPr id="29" name="Freeform 29"/>
              <p:cNvSpPr/>
              <p:nvPr/>
            </p:nvSpPr>
            <p:spPr>
              <a:xfrm>
                <a:off x="969169" y="3686175"/>
                <a:ext cx="27781" cy="38894"/>
              </a:xfrm>
              <a:custGeom>
                <a:avLst/>
                <a:gdLst/>
                <a:ahLst/>
                <a:cxnLst/>
                <a:rect l="l" t="t" r="r" b="b"/>
                <a:pathLst>
                  <a:path w="27781" h="38894">
                    <a:moveTo>
                      <a:pt x="0" y="11112"/>
                    </a:moveTo>
                    <a:cubicBezTo>
                      <a:pt x="0" y="4975"/>
                      <a:pt x="4975" y="0"/>
                      <a:pt x="11112" y="0"/>
                    </a:cubicBezTo>
                    <a:lnTo>
                      <a:pt x="16669" y="0"/>
                    </a:lnTo>
                    <a:cubicBezTo>
                      <a:pt x="22806" y="0"/>
                      <a:pt x="27781" y="4975"/>
                      <a:pt x="27781" y="11112"/>
                    </a:cubicBezTo>
                    <a:lnTo>
                      <a:pt x="27781" y="27781"/>
                    </a:lnTo>
                    <a:cubicBezTo>
                      <a:pt x="27781" y="33918"/>
                      <a:pt x="22806" y="38894"/>
                      <a:pt x="16669" y="38894"/>
                    </a:cubicBezTo>
                    <a:lnTo>
                      <a:pt x="11112" y="38894"/>
                    </a:lnTo>
                    <a:cubicBezTo>
                      <a:pt x="4975" y="38894"/>
                      <a:pt x="0" y="33918"/>
                      <a:pt x="0" y="27781"/>
                    </a:cubicBezTo>
                    <a:lnTo>
                      <a:pt x="0" y="11112"/>
                    </a:lnTo>
                  </a:path>
                </a:pathLst>
              </a:custGeom>
              <a:noFill/>
              <a:ln w="11112">
                <a:solidFill>
                  <a:srgbClr val="FFFFFF"/>
                </a:solidFill>
              </a:ln>
            </p:spPr>
          </p:sp>
        </p:grpSp>
        <p:sp>
          <p:nvSpPr>
            <p:cNvPr id="31" name="TextBox 31"/>
            <p:cNvSpPr txBox="1"/>
            <p:nvPr/>
          </p:nvSpPr>
          <p:spPr>
            <a:xfrm>
              <a:off x="694652" y="38421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运营支持</a:t>
              </a:r>
            </a:p>
          </p:txBody>
        </p:sp>
        <p:sp>
          <p:nvSpPr>
            <p:cNvPr id="32" name="Ellipse 32"/>
            <p:cNvSpPr/>
            <p:nvPr/>
          </p:nvSpPr>
          <p:spPr>
            <a:xfrm>
              <a:off x="1676400" y="1262062"/>
              <a:ext cx="38100" cy="38100"/>
            </a:xfrm>
            <a:prstGeom prst="ellipse">
              <a:avLst/>
            </a:prstGeom>
            <a:solidFill>
              <a:srgbClr val="B03A1F"/>
            </a:solidFill>
            <a:ln>
              <a:noFill/>
            </a:ln>
          </p:spPr>
        </p:sp>
        <p:sp>
          <p:nvSpPr>
            <p:cNvPr id="33" name="TextBox 33"/>
            <p:cNvSpPr txBox="1"/>
            <p:nvPr/>
          </p:nvSpPr>
          <p:spPr>
            <a:xfrm>
              <a:off x="1766888" y="1233488"/>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战略引领与团队经营</a:t>
              </a:r>
            </a:p>
          </p:txBody>
        </p:sp>
        <p:sp>
          <p:nvSpPr>
            <p:cNvPr id="34" name="Ellipse 34"/>
            <p:cNvSpPr/>
            <p:nvPr/>
          </p:nvSpPr>
          <p:spPr>
            <a:xfrm>
              <a:off x="1676400" y="1443038"/>
              <a:ext cx="38100" cy="38100"/>
            </a:xfrm>
            <a:prstGeom prst="ellipse">
              <a:avLst/>
            </a:prstGeom>
            <a:solidFill>
              <a:srgbClr val="B03A1F"/>
            </a:solidFill>
            <a:ln>
              <a:noFill/>
            </a:ln>
          </p:spPr>
        </p:sp>
        <p:sp>
          <p:nvSpPr>
            <p:cNvPr id="35" name="TextBox 35"/>
            <p:cNvSpPr txBox="1"/>
            <p:nvPr/>
          </p:nvSpPr>
          <p:spPr>
            <a:xfrm>
              <a:off x="1766888" y="1414462"/>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业务达成与资源整合</a:t>
              </a:r>
            </a:p>
          </p:txBody>
        </p:sp>
        <p:sp>
          <p:nvSpPr>
            <p:cNvPr id="36" name="Ellipse 36"/>
            <p:cNvSpPr/>
            <p:nvPr/>
          </p:nvSpPr>
          <p:spPr>
            <a:xfrm>
              <a:off x="1676400" y="1624012"/>
              <a:ext cx="38100" cy="38100"/>
            </a:xfrm>
            <a:prstGeom prst="ellipse">
              <a:avLst/>
            </a:prstGeom>
            <a:solidFill>
              <a:srgbClr val="B03A1F"/>
            </a:solidFill>
            <a:ln>
              <a:noFill/>
            </a:ln>
          </p:spPr>
        </p:sp>
        <p:sp>
          <p:nvSpPr>
            <p:cNvPr id="37" name="TextBox 37"/>
            <p:cNvSpPr txBox="1"/>
            <p:nvPr/>
          </p:nvSpPr>
          <p:spPr>
            <a:xfrm>
              <a:off x="1766888" y="1595438"/>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人才发展与文化建设</a:t>
              </a:r>
            </a:p>
          </p:txBody>
        </p:sp>
        <p:sp>
          <p:nvSpPr>
            <p:cNvPr id="38" name="Ellipse 38"/>
            <p:cNvSpPr/>
            <p:nvPr/>
          </p:nvSpPr>
          <p:spPr>
            <a:xfrm>
              <a:off x="1676400" y="2043112"/>
              <a:ext cx="38100" cy="38100"/>
            </a:xfrm>
            <a:prstGeom prst="ellipse">
              <a:avLst/>
            </a:prstGeom>
            <a:solidFill>
              <a:srgbClr val="B03A1F"/>
            </a:solidFill>
            <a:ln>
              <a:noFill/>
            </a:ln>
          </p:spPr>
        </p:sp>
        <p:sp>
          <p:nvSpPr>
            <p:cNvPr id="39" name="TextBox 39"/>
            <p:cNvSpPr txBox="1"/>
            <p:nvPr/>
          </p:nvSpPr>
          <p:spPr>
            <a:xfrm>
              <a:off x="1766888" y="2014538"/>
              <a:ext cx="71628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高净值客户经营</a:t>
              </a:r>
            </a:p>
          </p:txBody>
        </p:sp>
        <p:sp>
          <p:nvSpPr>
            <p:cNvPr id="40" name="Ellipse 40"/>
            <p:cNvSpPr/>
            <p:nvPr/>
          </p:nvSpPr>
          <p:spPr>
            <a:xfrm>
              <a:off x="1676400" y="2224088"/>
              <a:ext cx="38100" cy="38100"/>
            </a:xfrm>
            <a:prstGeom prst="ellipse">
              <a:avLst/>
            </a:prstGeom>
            <a:solidFill>
              <a:srgbClr val="B03A1F"/>
            </a:solidFill>
            <a:ln>
              <a:noFill/>
            </a:ln>
          </p:spPr>
        </p:sp>
        <p:sp>
          <p:nvSpPr>
            <p:cNvPr id="41" name="TextBox 41"/>
            <p:cNvSpPr txBox="1"/>
            <p:nvPr/>
          </p:nvSpPr>
          <p:spPr>
            <a:xfrm>
              <a:off x="1766888" y="2195512"/>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资产配置与方案定制</a:t>
              </a:r>
            </a:p>
          </p:txBody>
        </p:sp>
        <p:sp>
          <p:nvSpPr>
            <p:cNvPr id="42" name="Ellipse 42"/>
            <p:cNvSpPr/>
            <p:nvPr/>
          </p:nvSpPr>
          <p:spPr>
            <a:xfrm>
              <a:off x="1676400" y="2405062"/>
              <a:ext cx="38100" cy="38100"/>
            </a:xfrm>
            <a:prstGeom prst="ellipse">
              <a:avLst/>
            </a:prstGeom>
            <a:solidFill>
              <a:srgbClr val="B03A1F"/>
            </a:solidFill>
            <a:ln>
              <a:noFill/>
            </a:ln>
          </p:spPr>
        </p:sp>
        <p:sp>
          <p:nvSpPr>
            <p:cNvPr id="43" name="TextBox 43"/>
            <p:cNvSpPr txBox="1"/>
            <p:nvPr/>
          </p:nvSpPr>
          <p:spPr>
            <a:xfrm>
              <a:off x="1766888" y="2376488"/>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家族信托与综合服务</a:t>
              </a:r>
            </a:p>
          </p:txBody>
        </p:sp>
        <p:sp>
          <p:nvSpPr>
            <p:cNvPr id="44" name="Ellipse 44"/>
            <p:cNvSpPr/>
            <p:nvPr/>
          </p:nvSpPr>
          <p:spPr>
            <a:xfrm>
              <a:off x="1676400" y="2824162"/>
              <a:ext cx="38100" cy="38100"/>
            </a:xfrm>
            <a:prstGeom prst="ellipse">
              <a:avLst/>
            </a:prstGeom>
            <a:solidFill>
              <a:srgbClr val="B03A1F"/>
            </a:solidFill>
            <a:ln>
              <a:noFill/>
            </a:ln>
          </p:spPr>
        </p:sp>
        <p:sp>
          <p:nvSpPr>
            <p:cNvPr id="45" name="TextBox 45"/>
            <p:cNvSpPr txBox="1"/>
            <p:nvPr/>
          </p:nvSpPr>
          <p:spPr>
            <a:xfrm>
              <a:off x="1766888" y="2795588"/>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客户拓展与关系经营</a:t>
              </a:r>
            </a:p>
          </p:txBody>
        </p:sp>
        <p:sp>
          <p:nvSpPr>
            <p:cNvPr id="46" name="Ellipse 46"/>
            <p:cNvSpPr/>
            <p:nvPr/>
          </p:nvSpPr>
          <p:spPr>
            <a:xfrm>
              <a:off x="1676400" y="3005138"/>
              <a:ext cx="38100" cy="38100"/>
            </a:xfrm>
            <a:prstGeom prst="ellipse">
              <a:avLst/>
            </a:prstGeom>
            <a:solidFill>
              <a:srgbClr val="B03A1F"/>
            </a:solidFill>
            <a:ln>
              <a:noFill/>
            </a:ln>
          </p:spPr>
        </p:sp>
        <p:sp>
          <p:nvSpPr>
            <p:cNvPr id="47" name="TextBox 47"/>
            <p:cNvSpPr txBox="1"/>
            <p:nvPr/>
          </p:nvSpPr>
          <p:spPr>
            <a:xfrm>
              <a:off x="1766888" y="2976562"/>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产品销售与资产配置</a:t>
              </a:r>
            </a:p>
          </p:txBody>
        </p:sp>
        <p:sp>
          <p:nvSpPr>
            <p:cNvPr id="48" name="Ellipse 48"/>
            <p:cNvSpPr/>
            <p:nvPr/>
          </p:nvSpPr>
          <p:spPr>
            <a:xfrm>
              <a:off x="1676400" y="3186112"/>
              <a:ext cx="38100" cy="38100"/>
            </a:xfrm>
            <a:prstGeom prst="ellipse">
              <a:avLst/>
            </a:prstGeom>
            <a:solidFill>
              <a:srgbClr val="B03A1F"/>
            </a:solidFill>
            <a:ln>
              <a:noFill/>
            </a:ln>
          </p:spPr>
        </p:sp>
        <p:sp>
          <p:nvSpPr>
            <p:cNvPr id="49" name="TextBox 49"/>
            <p:cNvSpPr txBox="1"/>
            <p:nvPr/>
          </p:nvSpPr>
          <p:spPr>
            <a:xfrm>
              <a:off x="1766888" y="3157538"/>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场景营销与需求挖掘</a:t>
              </a:r>
            </a:p>
          </p:txBody>
        </p:sp>
        <p:sp>
          <p:nvSpPr>
            <p:cNvPr id="50" name="Ellipse 50"/>
            <p:cNvSpPr/>
            <p:nvPr/>
          </p:nvSpPr>
          <p:spPr>
            <a:xfrm>
              <a:off x="1676400" y="3605212"/>
              <a:ext cx="38100" cy="38100"/>
            </a:xfrm>
            <a:prstGeom prst="ellipse">
              <a:avLst/>
            </a:prstGeom>
            <a:solidFill>
              <a:srgbClr val="B03A1F"/>
            </a:solidFill>
            <a:ln>
              <a:noFill/>
            </a:ln>
          </p:spPr>
        </p:sp>
        <p:sp>
          <p:nvSpPr>
            <p:cNvPr id="51" name="TextBox 51"/>
            <p:cNvSpPr txBox="1"/>
            <p:nvPr/>
          </p:nvSpPr>
          <p:spPr>
            <a:xfrm>
              <a:off x="1766888" y="3576638"/>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业务运营与流程管理</a:t>
              </a:r>
            </a:p>
          </p:txBody>
        </p:sp>
        <p:sp>
          <p:nvSpPr>
            <p:cNvPr id="52" name="Ellipse 52"/>
            <p:cNvSpPr/>
            <p:nvPr/>
          </p:nvSpPr>
          <p:spPr>
            <a:xfrm>
              <a:off x="1676400" y="3786188"/>
              <a:ext cx="38100" cy="38100"/>
            </a:xfrm>
            <a:prstGeom prst="ellipse">
              <a:avLst/>
            </a:prstGeom>
            <a:solidFill>
              <a:srgbClr val="B03A1F"/>
            </a:solidFill>
            <a:ln>
              <a:noFill/>
            </a:ln>
          </p:spPr>
        </p:sp>
        <p:sp>
          <p:nvSpPr>
            <p:cNvPr id="53" name="TextBox 53"/>
            <p:cNvSpPr txBox="1"/>
            <p:nvPr/>
          </p:nvSpPr>
          <p:spPr>
            <a:xfrm>
              <a:off x="1766888" y="3757612"/>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客户服务与体验保障</a:t>
              </a:r>
            </a:p>
          </p:txBody>
        </p:sp>
        <p:sp>
          <p:nvSpPr>
            <p:cNvPr id="54" name="Ellipse 54"/>
            <p:cNvSpPr/>
            <p:nvPr/>
          </p:nvSpPr>
          <p:spPr>
            <a:xfrm>
              <a:off x="1676400" y="3967162"/>
              <a:ext cx="38100" cy="38100"/>
            </a:xfrm>
            <a:prstGeom prst="ellipse">
              <a:avLst/>
            </a:prstGeom>
            <a:solidFill>
              <a:srgbClr val="B03A1F"/>
            </a:solidFill>
            <a:ln>
              <a:noFill/>
            </a:ln>
          </p:spPr>
        </p:sp>
        <p:sp>
          <p:nvSpPr>
            <p:cNvPr id="55" name="TextBox 55"/>
            <p:cNvSpPr txBox="1"/>
            <p:nvPr/>
          </p:nvSpPr>
          <p:spPr>
            <a:xfrm>
              <a:off x="1766888" y="3938588"/>
              <a:ext cx="918210"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数据支持与风险把控</a:t>
              </a:r>
            </a:p>
          </p:txBody>
        </p:sp>
      </p:grpSp>
      <p:grpSp>
        <p:nvGrpSpPr>
          <p:cNvPr id="137" name="capability-model"/>
          <p:cNvGrpSpPr/>
          <p:nvPr/>
        </p:nvGrpSpPr>
        <p:grpSpPr>
          <a:xfrm>
            <a:off x="3286125" y="800100"/>
            <a:ext cx="4714875" cy="3200400"/>
            <a:chOff x="3286125" y="800100"/>
            <a:chExt cx="4714875" cy="3200400"/>
          </a:xfrm>
        </p:grpSpPr>
        <p:sp>
          <p:nvSpPr>
            <p:cNvPr id="57" name="Rectangle 57"/>
            <p:cNvSpPr/>
            <p:nvPr/>
          </p:nvSpPr>
          <p:spPr>
            <a:xfrm>
              <a:off x="3286125" y="800100"/>
              <a:ext cx="4714875" cy="266700"/>
            </a:xfrm>
            <a:prstGeom prst="roundRect">
              <a:avLst>
                <a:gd name="adj" fmla="val 14286"/>
              </a:avLst>
            </a:prstGeom>
            <a:solidFill>
              <a:srgbClr val="B03A1F"/>
            </a:solidFill>
            <a:ln>
              <a:noFill/>
            </a:ln>
          </p:spPr>
        </p:sp>
        <p:sp>
          <p:nvSpPr>
            <p:cNvPr id="58" name="TextBox 58"/>
            <p:cNvSpPr txBox="1"/>
            <p:nvPr/>
          </p:nvSpPr>
          <p:spPr>
            <a:xfrm>
              <a:off x="4926711" y="867728"/>
              <a:ext cx="142417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能力模型（五大维度）</a:t>
              </a:r>
            </a:p>
          </p:txBody>
        </p:sp>
        <p:sp>
          <p:nvSpPr>
            <p:cNvPr id="59" name="Line 59"/>
            <p:cNvSpPr/>
            <p:nvPr/>
          </p:nvSpPr>
          <p:spPr>
            <a:xfrm>
              <a:off x="4219575" y="1238250"/>
              <a:ext cx="9525" cy="2762250"/>
            </a:xfrm>
            <a:custGeom>
              <a:avLst/>
              <a:gdLst/>
              <a:ahLst/>
              <a:cxnLst/>
              <a:rect l="l" t="t" r="r" b="b"/>
              <a:pathLst>
                <a:path w="9525" h="2762250">
                  <a:moveTo>
                    <a:pt x="0" y="0"/>
                  </a:moveTo>
                  <a:lnTo>
                    <a:pt x="0" y="2762250"/>
                  </a:lnTo>
                </a:path>
              </a:pathLst>
            </a:custGeom>
            <a:noFill/>
            <a:ln w="9525">
              <a:solidFill>
                <a:srgbClr val="F0E9E5"/>
              </a:solidFill>
            </a:ln>
          </p:spPr>
        </p:sp>
        <p:sp>
          <p:nvSpPr>
            <p:cNvPr id="60" name="Line 60"/>
            <p:cNvSpPr/>
            <p:nvPr/>
          </p:nvSpPr>
          <p:spPr>
            <a:xfrm>
              <a:off x="5172075" y="1238250"/>
              <a:ext cx="9525" cy="2762250"/>
            </a:xfrm>
            <a:custGeom>
              <a:avLst/>
              <a:gdLst/>
              <a:ahLst/>
              <a:cxnLst/>
              <a:rect l="l" t="t" r="r" b="b"/>
              <a:pathLst>
                <a:path w="9525" h="2762250">
                  <a:moveTo>
                    <a:pt x="0" y="0"/>
                  </a:moveTo>
                  <a:lnTo>
                    <a:pt x="0" y="2762250"/>
                  </a:lnTo>
                </a:path>
              </a:pathLst>
            </a:custGeom>
            <a:noFill/>
            <a:ln w="9525">
              <a:solidFill>
                <a:srgbClr val="F0E9E5"/>
              </a:solidFill>
            </a:ln>
          </p:spPr>
        </p:sp>
        <p:sp>
          <p:nvSpPr>
            <p:cNvPr id="61" name="Line 61"/>
            <p:cNvSpPr/>
            <p:nvPr/>
          </p:nvSpPr>
          <p:spPr>
            <a:xfrm>
              <a:off x="6124575" y="1238250"/>
              <a:ext cx="9525" cy="2762250"/>
            </a:xfrm>
            <a:custGeom>
              <a:avLst/>
              <a:gdLst/>
              <a:ahLst/>
              <a:cxnLst/>
              <a:rect l="l" t="t" r="r" b="b"/>
              <a:pathLst>
                <a:path w="9525" h="2762250">
                  <a:moveTo>
                    <a:pt x="0" y="0"/>
                  </a:moveTo>
                  <a:lnTo>
                    <a:pt x="0" y="2762250"/>
                  </a:lnTo>
                </a:path>
              </a:pathLst>
            </a:custGeom>
            <a:noFill/>
            <a:ln w="9525">
              <a:solidFill>
                <a:srgbClr val="F0E9E5"/>
              </a:solidFill>
            </a:ln>
          </p:spPr>
        </p:sp>
        <p:sp>
          <p:nvSpPr>
            <p:cNvPr id="62" name="Line 62"/>
            <p:cNvSpPr/>
            <p:nvPr/>
          </p:nvSpPr>
          <p:spPr>
            <a:xfrm>
              <a:off x="7077075" y="1238250"/>
              <a:ext cx="9525" cy="2762250"/>
            </a:xfrm>
            <a:custGeom>
              <a:avLst/>
              <a:gdLst/>
              <a:ahLst/>
              <a:cxnLst/>
              <a:rect l="l" t="t" r="r" b="b"/>
              <a:pathLst>
                <a:path w="9525" h="2762250">
                  <a:moveTo>
                    <a:pt x="0" y="0"/>
                  </a:moveTo>
                  <a:lnTo>
                    <a:pt x="0" y="2762250"/>
                  </a:lnTo>
                </a:path>
              </a:pathLst>
            </a:custGeom>
            <a:noFill/>
            <a:ln w="9525">
              <a:solidFill>
                <a:srgbClr val="F0E9E5"/>
              </a:solidFill>
            </a:ln>
          </p:spPr>
        </p:sp>
        <p:grpSp>
          <p:nvGrpSpPr>
            <p:cNvPr id="76" name="cap-insight"/>
            <p:cNvGrpSpPr/>
            <p:nvPr/>
          </p:nvGrpSpPr>
          <p:grpSpPr>
            <a:xfrm>
              <a:off x="3373755" y="1323975"/>
              <a:ext cx="748119" cy="1901905"/>
              <a:chOff x="3373755" y="1323975"/>
              <a:chExt cx="748119" cy="1901905"/>
            </a:xfrm>
          </p:grpSpPr>
          <p:sp>
            <p:nvSpPr>
              <p:cNvPr id="63" name="Ellipse 63"/>
              <p:cNvSpPr/>
              <p:nvPr/>
            </p:nvSpPr>
            <p:spPr>
              <a:xfrm>
                <a:off x="3490912" y="1323975"/>
                <a:ext cx="495300" cy="495300"/>
              </a:xfrm>
              <a:prstGeom prst="ellipse">
                <a:avLst/>
              </a:prstGeom>
              <a:solidFill>
                <a:srgbClr val="FFFFFF"/>
              </a:solidFill>
              <a:ln w="19050">
                <a:solidFill>
                  <a:srgbClr val="B03A1F"/>
                </a:solidFill>
              </a:ln>
            </p:spPr>
          </p:sp>
          <p:grpSp>
            <p:nvGrpSpPr>
              <p:cNvPr id="66" name="Group 66"/>
              <p:cNvGrpSpPr/>
              <p:nvPr/>
            </p:nvGrpSpPr>
            <p:grpSpPr>
              <a:xfrm>
                <a:off x="3652838" y="1485900"/>
                <a:ext cx="171450" cy="171450"/>
                <a:chOff x="3652838" y="1485900"/>
                <a:chExt cx="171450" cy="171450"/>
              </a:xfrm>
            </p:grpSpPr>
            <p:sp>
              <p:nvSpPr>
                <p:cNvPr id="64" name="Freeform 64"/>
                <p:cNvSpPr/>
                <p:nvPr/>
              </p:nvSpPr>
              <p:spPr>
                <a:xfrm>
                  <a:off x="3652838" y="1485900"/>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19050">
                  <a:solidFill>
                    <a:srgbClr val="B03A1F"/>
                  </a:solidFill>
                </a:ln>
              </p:spPr>
            </p:sp>
            <p:sp>
              <p:nvSpPr>
                <p:cNvPr id="65" name="Freeform 65"/>
                <p:cNvSpPr/>
                <p:nvPr/>
              </p:nvSpPr>
              <p:spPr>
                <a:xfrm>
                  <a:off x="3767138" y="1600200"/>
                  <a:ext cx="57150" cy="57150"/>
                </a:xfrm>
                <a:custGeom>
                  <a:avLst/>
                  <a:gdLst/>
                  <a:ahLst/>
                  <a:cxnLst/>
                  <a:rect l="l" t="t" r="r" b="b"/>
                  <a:pathLst>
                    <a:path w="57150" h="57150">
                      <a:moveTo>
                        <a:pt x="57150" y="57150"/>
                      </a:moveTo>
                      <a:lnTo>
                        <a:pt x="0" y="0"/>
                      </a:lnTo>
                    </a:path>
                  </a:pathLst>
                </a:custGeom>
                <a:noFill/>
                <a:ln w="19050">
                  <a:solidFill>
                    <a:srgbClr val="B03A1F"/>
                  </a:solidFill>
                </a:ln>
              </p:spPr>
            </p:sp>
          </p:grpSp>
          <p:sp>
            <p:nvSpPr>
              <p:cNvPr id="67" name="TextBox 67"/>
              <p:cNvSpPr txBox="1"/>
              <p:nvPr/>
            </p:nvSpPr>
            <p:spPr>
              <a:xfrm>
                <a:off x="3461487" y="2005251"/>
                <a:ext cx="554152" cy="198025"/>
              </a:xfrm>
              <a:prstGeom prst="rect">
                <a:avLst/>
              </a:prstGeom>
              <a:noFill/>
              <a:ln>
                <a:noFill/>
              </a:ln>
            </p:spPr>
            <p:txBody>
              <a:bodyPr wrap="none" lIns="0" tIns="0" rIns="0" bIns="0" anchor="t" anchorCtr="0">
                <a:spAutoFit/>
              </a:bodyPr>
              <a:lstStyle/>
              <a:p>
                <a:pPr algn="ctr"/>
                <a:r>
                  <a:rPr lang="zh-CN" sz="1010" b="1" dirty="0">
                    <a:solidFill>
                      <a:srgbClr val="1E1E1E"/>
                    </a:solidFill>
                    <a:latin typeface="+mn-lt"/>
                    <a:ea typeface="+mn-ea"/>
                    <a:cs typeface="+mn-cs"/>
                  </a:rPr>
                  <a:t>客户洞察</a:t>
                </a:r>
              </a:p>
            </p:txBody>
          </p:sp>
          <p:sp>
            <p:nvSpPr>
              <p:cNvPr id="68" name="Ellipse 68"/>
              <p:cNvSpPr/>
              <p:nvPr/>
            </p:nvSpPr>
            <p:spPr>
              <a:xfrm>
                <a:off x="3373755" y="2368868"/>
                <a:ext cx="34290" cy="34290"/>
              </a:xfrm>
              <a:prstGeom prst="ellipse">
                <a:avLst/>
              </a:prstGeom>
              <a:solidFill>
                <a:srgbClr val="B03A1F"/>
              </a:solidFill>
              <a:ln>
                <a:noFill/>
              </a:ln>
            </p:spPr>
          </p:sp>
          <p:sp>
            <p:nvSpPr>
              <p:cNvPr id="69" name="TextBox 69"/>
              <p:cNvSpPr txBox="1"/>
              <p:nvPr/>
            </p:nvSpPr>
            <p:spPr>
              <a:xfrm>
                <a:off x="3443288" y="234243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客户分层与画像</a:t>
                </a:r>
              </a:p>
            </p:txBody>
          </p:sp>
          <p:sp>
            <p:nvSpPr>
              <p:cNvPr id="70" name="Ellipse 70"/>
              <p:cNvSpPr/>
              <p:nvPr/>
            </p:nvSpPr>
            <p:spPr>
              <a:xfrm>
                <a:off x="3373755" y="2616518"/>
                <a:ext cx="34290" cy="34290"/>
              </a:xfrm>
              <a:prstGeom prst="ellipse">
                <a:avLst/>
              </a:prstGeom>
              <a:solidFill>
                <a:srgbClr val="B03A1F"/>
              </a:solidFill>
              <a:ln>
                <a:noFill/>
              </a:ln>
            </p:spPr>
          </p:sp>
          <p:sp>
            <p:nvSpPr>
              <p:cNvPr id="71" name="TextBox 71"/>
              <p:cNvSpPr txBox="1"/>
              <p:nvPr/>
            </p:nvSpPr>
            <p:spPr>
              <a:xfrm>
                <a:off x="3443288" y="25900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需求识别与挖掘</a:t>
                </a:r>
              </a:p>
            </p:txBody>
          </p:sp>
          <p:sp>
            <p:nvSpPr>
              <p:cNvPr id="72" name="Ellipse 72"/>
              <p:cNvSpPr/>
              <p:nvPr/>
            </p:nvSpPr>
            <p:spPr>
              <a:xfrm>
                <a:off x="3373755" y="2864168"/>
                <a:ext cx="34290" cy="34290"/>
              </a:xfrm>
              <a:prstGeom prst="ellipse">
                <a:avLst/>
              </a:prstGeom>
              <a:solidFill>
                <a:srgbClr val="B03A1F"/>
              </a:solidFill>
              <a:ln>
                <a:noFill/>
              </a:ln>
            </p:spPr>
          </p:sp>
          <p:sp>
            <p:nvSpPr>
              <p:cNvPr id="73" name="TextBox 73"/>
              <p:cNvSpPr txBox="1"/>
              <p:nvPr/>
            </p:nvSpPr>
            <p:spPr>
              <a:xfrm>
                <a:off x="3443288" y="283773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客户旅程与体验</a:t>
                </a:r>
              </a:p>
            </p:txBody>
          </p:sp>
          <p:sp>
            <p:nvSpPr>
              <p:cNvPr id="74" name="Ellipse 74"/>
              <p:cNvSpPr/>
              <p:nvPr/>
            </p:nvSpPr>
            <p:spPr>
              <a:xfrm>
                <a:off x="3373755" y="3111818"/>
                <a:ext cx="34290" cy="34290"/>
              </a:xfrm>
              <a:prstGeom prst="ellipse">
                <a:avLst/>
              </a:prstGeom>
              <a:solidFill>
                <a:srgbClr val="B03A1F"/>
              </a:solidFill>
              <a:ln>
                <a:noFill/>
              </a:ln>
            </p:spPr>
          </p:sp>
          <p:sp>
            <p:nvSpPr>
              <p:cNvPr id="75" name="TextBox 75"/>
              <p:cNvSpPr txBox="1"/>
              <p:nvPr/>
            </p:nvSpPr>
            <p:spPr>
              <a:xfrm>
                <a:off x="3443288" y="30853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关系经营与信任</a:t>
                </a:r>
              </a:p>
            </p:txBody>
          </p:sp>
        </p:grpSp>
        <p:grpSp>
          <p:nvGrpSpPr>
            <p:cNvPr id="90" name="cap-allocation"/>
            <p:cNvGrpSpPr/>
            <p:nvPr/>
          </p:nvGrpSpPr>
          <p:grpSpPr>
            <a:xfrm>
              <a:off x="4326255" y="1323975"/>
              <a:ext cx="843700" cy="1901905"/>
              <a:chOff x="4326255" y="1323975"/>
              <a:chExt cx="843700" cy="1901905"/>
            </a:xfrm>
          </p:grpSpPr>
          <p:sp>
            <p:nvSpPr>
              <p:cNvPr id="77" name="Ellipse 77"/>
              <p:cNvSpPr/>
              <p:nvPr/>
            </p:nvSpPr>
            <p:spPr>
              <a:xfrm>
                <a:off x="4443412" y="1323975"/>
                <a:ext cx="495300" cy="495300"/>
              </a:xfrm>
              <a:prstGeom prst="ellipse">
                <a:avLst/>
              </a:prstGeom>
              <a:solidFill>
                <a:srgbClr val="FFFFFF"/>
              </a:solidFill>
              <a:ln w="19050">
                <a:solidFill>
                  <a:srgbClr val="B03A1F"/>
                </a:solidFill>
              </a:ln>
            </p:spPr>
          </p:sp>
          <p:grpSp>
            <p:nvGrpSpPr>
              <p:cNvPr id="80" name="Group 80"/>
              <p:cNvGrpSpPr/>
              <p:nvPr/>
            </p:nvGrpSpPr>
            <p:grpSpPr>
              <a:xfrm>
                <a:off x="4602682" y="1487538"/>
                <a:ext cx="172200" cy="172467"/>
                <a:chOff x="4602682" y="1487538"/>
                <a:chExt cx="172200" cy="172467"/>
              </a:xfrm>
            </p:grpSpPr>
            <p:sp>
              <p:nvSpPr>
                <p:cNvPr id="78" name="Freeform 78"/>
                <p:cNvSpPr/>
                <p:nvPr/>
              </p:nvSpPr>
              <p:spPr>
                <a:xfrm>
                  <a:off x="4602682" y="1487538"/>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9050">
                  <a:solidFill>
                    <a:srgbClr val="B03A1F"/>
                  </a:solidFill>
                </a:ln>
              </p:spPr>
            </p:sp>
            <p:sp>
              <p:nvSpPr>
                <p:cNvPr id="79" name="Freeform 79"/>
                <p:cNvSpPr/>
                <p:nvPr/>
              </p:nvSpPr>
              <p:spPr>
                <a:xfrm>
                  <a:off x="4719638" y="1490662"/>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9050">
                  <a:solidFill>
                    <a:srgbClr val="B03A1F"/>
                  </a:solidFill>
                </a:ln>
              </p:spPr>
            </p:sp>
          </p:grpSp>
          <p:sp>
            <p:nvSpPr>
              <p:cNvPr id="81" name="TextBox 81"/>
              <p:cNvSpPr txBox="1"/>
              <p:nvPr/>
            </p:nvSpPr>
            <p:spPr>
              <a:xfrm>
                <a:off x="4413987" y="2005251"/>
                <a:ext cx="554152" cy="198025"/>
              </a:xfrm>
              <a:prstGeom prst="rect">
                <a:avLst/>
              </a:prstGeom>
              <a:noFill/>
              <a:ln>
                <a:noFill/>
              </a:ln>
            </p:spPr>
            <p:txBody>
              <a:bodyPr wrap="none" lIns="0" tIns="0" rIns="0" bIns="0" anchor="t" anchorCtr="0">
                <a:spAutoFit/>
              </a:bodyPr>
              <a:lstStyle/>
              <a:p>
                <a:pPr algn="ctr"/>
                <a:r>
                  <a:rPr lang="zh-CN" sz="1010" b="1" dirty="0">
                    <a:solidFill>
                      <a:srgbClr val="1E1E1E"/>
                    </a:solidFill>
                    <a:latin typeface="+mn-lt"/>
                    <a:ea typeface="+mn-ea"/>
                    <a:cs typeface="+mn-cs"/>
                  </a:rPr>
                  <a:t>资产配置</a:t>
                </a:r>
              </a:p>
            </p:txBody>
          </p:sp>
          <p:sp>
            <p:nvSpPr>
              <p:cNvPr id="82" name="Ellipse 82"/>
              <p:cNvSpPr/>
              <p:nvPr/>
            </p:nvSpPr>
            <p:spPr>
              <a:xfrm>
                <a:off x="4326255" y="2368868"/>
                <a:ext cx="34290" cy="34290"/>
              </a:xfrm>
              <a:prstGeom prst="ellipse">
                <a:avLst/>
              </a:prstGeom>
              <a:solidFill>
                <a:srgbClr val="B03A1F"/>
              </a:solidFill>
              <a:ln>
                <a:noFill/>
              </a:ln>
            </p:spPr>
          </p:sp>
          <p:sp>
            <p:nvSpPr>
              <p:cNvPr id="83" name="TextBox 83"/>
              <p:cNvSpPr txBox="1"/>
              <p:nvPr/>
            </p:nvSpPr>
            <p:spPr>
              <a:xfrm>
                <a:off x="4395788" y="23424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大类资产配置</a:t>
                </a:r>
              </a:p>
            </p:txBody>
          </p:sp>
          <p:sp>
            <p:nvSpPr>
              <p:cNvPr id="84" name="Ellipse 84"/>
              <p:cNvSpPr/>
              <p:nvPr/>
            </p:nvSpPr>
            <p:spPr>
              <a:xfrm>
                <a:off x="4326255" y="2616518"/>
                <a:ext cx="34290" cy="34290"/>
              </a:xfrm>
              <a:prstGeom prst="ellipse">
                <a:avLst/>
              </a:prstGeom>
              <a:solidFill>
                <a:srgbClr val="B03A1F"/>
              </a:solidFill>
              <a:ln>
                <a:noFill/>
              </a:ln>
            </p:spPr>
          </p:sp>
          <p:sp>
            <p:nvSpPr>
              <p:cNvPr id="85" name="TextBox 85"/>
              <p:cNvSpPr txBox="1"/>
              <p:nvPr/>
            </p:nvSpPr>
            <p:spPr>
              <a:xfrm>
                <a:off x="4395788" y="259008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产品研究与选</a:t>
                </a:r>
              </a:p>
            </p:txBody>
          </p:sp>
          <p:sp>
            <p:nvSpPr>
              <p:cNvPr id="86" name="Ellipse 86"/>
              <p:cNvSpPr/>
              <p:nvPr/>
            </p:nvSpPr>
            <p:spPr>
              <a:xfrm>
                <a:off x="4326255" y="2864168"/>
                <a:ext cx="34290" cy="34290"/>
              </a:xfrm>
              <a:prstGeom prst="ellipse">
                <a:avLst/>
              </a:prstGeom>
              <a:solidFill>
                <a:srgbClr val="B03A1F"/>
              </a:solidFill>
              <a:ln>
                <a:noFill/>
              </a:ln>
            </p:spPr>
          </p:sp>
          <p:sp>
            <p:nvSpPr>
              <p:cNvPr id="87" name="TextBox 87"/>
              <p:cNvSpPr txBox="1"/>
              <p:nvPr/>
            </p:nvSpPr>
            <p:spPr>
              <a:xfrm>
                <a:off x="4395788" y="2837736"/>
                <a:ext cx="77416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组合构建与再平衡</a:t>
                </a:r>
              </a:p>
            </p:txBody>
          </p:sp>
          <p:sp>
            <p:nvSpPr>
              <p:cNvPr id="88" name="Ellipse 88"/>
              <p:cNvSpPr/>
              <p:nvPr/>
            </p:nvSpPr>
            <p:spPr>
              <a:xfrm>
                <a:off x="4326255" y="3111818"/>
                <a:ext cx="34290" cy="34290"/>
              </a:xfrm>
              <a:prstGeom prst="ellipse">
                <a:avLst/>
              </a:prstGeom>
              <a:solidFill>
                <a:srgbClr val="B03A1F"/>
              </a:solidFill>
              <a:ln>
                <a:noFill/>
              </a:ln>
            </p:spPr>
          </p:sp>
          <p:sp>
            <p:nvSpPr>
              <p:cNvPr id="89" name="TextBox 89"/>
              <p:cNvSpPr txBox="1"/>
              <p:nvPr/>
            </p:nvSpPr>
            <p:spPr>
              <a:xfrm>
                <a:off x="4395788" y="30853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投后跟踪与优化</a:t>
                </a:r>
              </a:p>
            </p:txBody>
          </p:sp>
        </p:grpSp>
        <p:grpSp>
          <p:nvGrpSpPr>
            <p:cNvPr id="106" name="cap-scenario"/>
            <p:cNvGrpSpPr/>
            <p:nvPr/>
          </p:nvGrpSpPr>
          <p:grpSpPr>
            <a:xfrm>
              <a:off x="5278755" y="1323975"/>
              <a:ext cx="843700" cy="1901905"/>
              <a:chOff x="5278755" y="1323975"/>
              <a:chExt cx="843700" cy="1901905"/>
            </a:xfrm>
          </p:grpSpPr>
          <p:sp>
            <p:nvSpPr>
              <p:cNvPr id="91" name="Ellipse 91"/>
              <p:cNvSpPr/>
              <p:nvPr/>
            </p:nvSpPr>
            <p:spPr>
              <a:xfrm>
                <a:off x="5395912" y="1323975"/>
                <a:ext cx="495300" cy="495300"/>
              </a:xfrm>
              <a:prstGeom prst="ellipse">
                <a:avLst/>
              </a:prstGeom>
              <a:solidFill>
                <a:srgbClr val="FFFFFF"/>
              </a:solidFill>
              <a:ln w="19050">
                <a:solidFill>
                  <a:srgbClr val="B03A1F"/>
                </a:solidFill>
              </a:ln>
            </p:spPr>
          </p:sp>
          <p:grpSp>
            <p:nvGrpSpPr>
              <p:cNvPr id="96" name="Group 96"/>
              <p:cNvGrpSpPr/>
              <p:nvPr/>
            </p:nvGrpSpPr>
            <p:grpSpPr>
              <a:xfrm>
                <a:off x="5567362" y="1485900"/>
                <a:ext cx="152400" cy="171450"/>
                <a:chOff x="5567362" y="1485900"/>
                <a:chExt cx="152400" cy="171450"/>
              </a:xfrm>
            </p:grpSpPr>
            <p:sp>
              <p:nvSpPr>
                <p:cNvPr id="92" name="Freeform 92"/>
                <p:cNvSpPr/>
                <p:nvPr/>
              </p:nvSpPr>
              <p:spPr>
                <a:xfrm>
                  <a:off x="5567362" y="16192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03A1F"/>
                  </a:solidFill>
                </a:ln>
              </p:spPr>
            </p:sp>
            <p:sp>
              <p:nvSpPr>
                <p:cNvPr id="93" name="Freeform 93"/>
                <p:cNvSpPr/>
                <p:nvPr/>
              </p:nvSpPr>
              <p:spPr>
                <a:xfrm>
                  <a:off x="5672138" y="16192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03A1F"/>
                  </a:solidFill>
                </a:ln>
              </p:spPr>
            </p:sp>
            <p:sp>
              <p:nvSpPr>
                <p:cNvPr id="94" name="Freeform 94"/>
                <p:cNvSpPr/>
                <p:nvPr/>
              </p:nvSpPr>
              <p:spPr>
                <a:xfrm>
                  <a:off x="5567362" y="1485900"/>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B03A1F"/>
                  </a:solidFill>
                </a:ln>
              </p:spPr>
            </p:sp>
            <p:sp>
              <p:nvSpPr>
                <p:cNvPr id="95" name="Freeform 95"/>
                <p:cNvSpPr/>
                <p:nvPr/>
              </p:nvSpPr>
              <p:spPr>
                <a:xfrm>
                  <a:off x="5586412" y="1504950"/>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B03A1F"/>
                  </a:solidFill>
                </a:ln>
              </p:spPr>
            </p:sp>
          </p:grpSp>
          <p:sp>
            <p:nvSpPr>
              <p:cNvPr id="97" name="TextBox 97"/>
              <p:cNvSpPr txBox="1"/>
              <p:nvPr/>
            </p:nvSpPr>
            <p:spPr>
              <a:xfrm>
                <a:off x="5366487" y="2005251"/>
                <a:ext cx="554152" cy="198025"/>
              </a:xfrm>
              <a:prstGeom prst="rect">
                <a:avLst/>
              </a:prstGeom>
              <a:noFill/>
              <a:ln>
                <a:noFill/>
              </a:ln>
            </p:spPr>
            <p:txBody>
              <a:bodyPr wrap="none" lIns="0" tIns="0" rIns="0" bIns="0" anchor="t" anchorCtr="0">
                <a:spAutoFit/>
              </a:bodyPr>
              <a:lstStyle/>
              <a:p>
                <a:pPr algn="ctr"/>
                <a:r>
                  <a:rPr lang="zh-CN" sz="1010" b="1" dirty="0">
                    <a:solidFill>
                      <a:srgbClr val="1E1E1E"/>
                    </a:solidFill>
                    <a:latin typeface="+mn-lt"/>
                    <a:ea typeface="+mn-ea"/>
                    <a:cs typeface="+mn-cs"/>
                  </a:rPr>
                  <a:t>场景营销</a:t>
                </a:r>
              </a:p>
            </p:txBody>
          </p:sp>
          <p:sp>
            <p:nvSpPr>
              <p:cNvPr id="98" name="Ellipse 98"/>
              <p:cNvSpPr/>
              <p:nvPr/>
            </p:nvSpPr>
            <p:spPr>
              <a:xfrm>
                <a:off x="5278755" y="2368868"/>
                <a:ext cx="34290" cy="34290"/>
              </a:xfrm>
              <a:prstGeom prst="ellipse">
                <a:avLst/>
              </a:prstGeom>
              <a:solidFill>
                <a:srgbClr val="B03A1F"/>
              </a:solidFill>
              <a:ln>
                <a:noFill/>
              </a:ln>
            </p:spPr>
          </p:sp>
          <p:sp>
            <p:nvSpPr>
              <p:cNvPr id="99" name="TextBox 99"/>
              <p:cNvSpPr txBox="1"/>
              <p:nvPr/>
            </p:nvSpPr>
            <p:spPr>
              <a:xfrm>
                <a:off x="5348288" y="234243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场景洞察与设计</a:t>
                </a:r>
              </a:p>
            </p:txBody>
          </p:sp>
          <p:sp>
            <p:nvSpPr>
              <p:cNvPr id="100" name="Ellipse 100"/>
              <p:cNvSpPr/>
              <p:nvPr/>
            </p:nvSpPr>
            <p:spPr>
              <a:xfrm>
                <a:off x="5278755" y="2616518"/>
                <a:ext cx="34290" cy="34290"/>
              </a:xfrm>
              <a:prstGeom prst="ellipse">
                <a:avLst/>
              </a:prstGeom>
              <a:solidFill>
                <a:srgbClr val="B03A1F"/>
              </a:solidFill>
              <a:ln>
                <a:noFill/>
              </a:ln>
            </p:spPr>
          </p:sp>
          <p:sp>
            <p:nvSpPr>
              <p:cNvPr id="101" name="TextBox 101"/>
              <p:cNvSpPr txBox="1"/>
              <p:nvPr/>
            </p:nvSpPr>
            <p:spPr>
              <a:xfrm>
                <a:off x="5348288" y="25900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产品匹配与打包</a:t>
                </a:r>
              </a:p>
            </p:txBody>
          </p:sp>
          <p:sp>
            <p:nvSpPr>
              <p:cNvPr id="102" name="Ellipse 102"/>
              <p:cNvSpPr/>
              <p:nvPr/>
            </p:nvSpPr>
            <p:spPr>
              <a:xfrm>
                <a:off x="5278755" y="2864168"/>
                <a:ext cx="34290" cy="34290"/>
              </a:xfrm>
              <a:prstGeom prst="ellipse">
                <a:avLst/>
              </a:prstGeom>
              <a:solidFill>
                <a:srgbClr val="B03A1F"/>
              </a:solidFill>
              <a:ln>
                <a:noFill/>
              </a:ln>
            </p:spPr>
          </p:sp>
          <p:sp>
            <p:nvSpPr>
              <p:cNvPr id="103" name="TextBox 103"/>
              <p:cNvSpPr txBox="1"/>
              <p:nvPr/>
            </p:nvSpPr>
            <p:spPr>
              <a:xfrm>
                <a:off x="5348288" y="283773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触点运营与转化</a:t>
                </a:r>
              </a:p>
            </p:txBody>
          </p:sp>
          <p:sp>
            <p:nvSpPr>
              <p:cNvPr id="104" name="Ellipse 104"/>
              <p:cNvSpPr/>
              <p:nvPr/>
            </p:nvSpPr>
            <p:spPr>
              <a:xfrm>
                <a:off x="5278755" y="3111818"/>
                <a:ext cx="34290" cy="34290"/>
              </a:xfrm>
              <a:prstGeom prst="ellipse">
                <a:avLst/>
              </a:prstGeom>
              <a:solidFill>
                <a:srgbClr val="B03A1F"/>
              </a:solidFill>
              <a:ln>
                <a:noFill/>
              </a:ln>
            </p:spPr>
          </p:sp>
          <p:sp>
            <p:nvSpPr>
              <p:cNvPr id="105" name="TextBox 105"/>
              <p:cNvSpPr txBox="1"/>
              <p:nvPr/>
            </p:nvSpPr>
            <p:spPr>
              <a:xfrm>
                <a:off x="5348288" y="3085386"/>
                <a:ext cx="77416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客户生命周期经营</a:t>
                </a:r>
              </a:p>
            </p:txBody>
          </p:sp>
        </p:grpSp>
        <p:grpSp>
          <p:nvGrpSpPr>
            <p:cNvPr id="122" name="cap-digital"/>
            <p:cNvGrpSpPr/>
            <p:nvPr/>
          </p:nvGrpSpPr>
          <p:grpSpPr>
            <a:xfrm>
              <a:off x="6231255" y="1323975"/>
              <a:ext cx="748119" cy="1901905"/>
              <a:chOff x="6231255" y="1323975"/>
              <a:chExt cx="748119" cy="1901905"/>
            </a:xfrm>
          </p:grpSpPr>
          <p:sp>
            <p:nvSpPr>
              <p:cNvPr id="107" name="Ellipse 107"/>
              <p:cNvSpPr/>
              <p:nvPr/>
            </p:nvSpPr>
            <p:spPr>
              <a:xfrm>
                <a:off x="6348412" y="1323975"/>
                <a:ext cx="495300" cy="495300"/>
              </a:xfrm>
              <a:prstGeom prst="ellipse">
                <a:avLst/>
              </a:prstGeom>
              <a:solidFill>
                <a:srgbClr val="FFFFFF"/>
              </a:solidFill>
              <a:ln w="19050">
                <a:solidFill>
                  <a:srgbClr val="B03A1F"/>
                </a:solidFill>
              </a:ln>
            </p:spPr>
          </p:sp>
          <p:grpSp>
            <p:nvGrpSpPr>
              <p:cNvPr id="112" name="Group 112"/>
              <p:cNvGrpSpPr/>
              <p:nvPr/>
            </p:nvGrpSpPr>
            <p:grpSpPr>
              <a:xfrm>
                <a:off x="6510338" y="1495425"/>
                <a:ext cx="171450" cy="161925"/>
                <a:chOff x="6510338" y="1495425"/>
                <a:chExt cx="171450" cy="161925"/>
              </a:xfrm>
            </p:grpSpPr>
            <p:sp>
              <p:nvSpPr>
                <p:cNvPr id="108" name="Freeform 108"/>
                <p:cNvSpPr/>
                <p:nvPr/>
              </p:nvSpPr>
              <p:spPr>
                <a:xfrm>
                  <a:off x="6510338" y="1495425"/>
                  <a:ext cx="171450" cy="114300"/>
                </a:xfrm>
                <a:custGeom>
                  <a:avLst/>
                  <a:gdLst/>
                  <a:ahLst/>
                  <a:cxnLst/>
                  <a:rect l="l" t="t" r="r" b="b"/>
                  <a:pathLst>
                    <a:path w="171450" h="114300">
                      <a:moveTo>
                        <a:pt x="0" y="9525"/>
                      </a:moveTo>
                      <a:cubicBezTo>
                        <a:pt x="0" y="4264"/>
                        <a:pt x="4264" y="0"/>
                        <a:pt x="9525" y="0"/>
                      </a:cubicBezTo>
                      <a:lnTo>
                        <a:pt x="161925" y="0"/>
                      </a:lnTo>
                      <a:cubicBezTo>
                        <a:pt x="167186" y="0"/>
                        <a:pt x="171450" y="4264"/>
                        <a:pt x="171450" y="9525"/>
                      </a:cubicBezTo>
                      <a:lnTo>
                        <a:pt x="171450" y="104775"/>
                      </a:lnTo>
                      <a:cubicBezTo>
                        <a:pt x="171450" y="110036"/>
                        <a:pt x="167186" y="114300"/>
                        <a:pt x="161925" y="114300"/>
                      </a:cubicBezTo>
                      <a:lnTo>
                        <a:pt x="9525" y="114300"/>
                      </a:lnTo>
                      <a:cubicBezTo>
                        <a:pt x="4264" y="114300"/>
                        <a:pt x="0" y="110036"/>
                        <a:pt x="0" y="104775"/>
                      </a:cubicBezTo>
                      <a:lnTo>
                        <a:pt x="0" y="9525"/>
                      </a:lnTo>
                    </a:path>
                  </a:pathLst>
                </a:custGeom>
                <a:noFill/>
                <a:ln w="19050">
                  <a:solidFill>
                    <a:srgbClr val="B03A1F"/>
                  </a:solidFill>
                </a:ln>
              </p:spPr>
            </p:sp>
            <p:sp>
              <p:nvSpPr>
                <p:cNvPr id="109" name="Freeform 109"/>
                <p:cNvSpPr/>
                <p:nvPr/>
              </p:nvSpPr>
              <p:spPr>
                <a:xfrm>
                  <a:off x="6548438" y="1647825"/>
                  <a:ext cx="95250" cy="9525"/>
                </a:xfrm>
                <a:custGeom>
                  <a:avLst/>
                  <a:gdLst/>
                  <a:ahLst/>
                  <a:cxnLst/>
                  <a:rect l="l" t="t" r="r" b="b"/>
                  <a:pathLst>
                    <a:path w="95250" h="9525">
                      <a:moveTo>
                        <a:pt x="0" y="0"/>
                      </a:moveTo>
                      <a:lnTo>
                        <a:pt x="95250" y="0"/>
                      </a:lnTo>
                    </a:path>
                  </a:pathLst>
                </a:custGeom>
                <a:noFill/>
                <a:ln w="19050">
                  <a:solidFill>
                    <a:srgbClr val="B03A1F"/>
                  </a:solidFill>
                </a:ln>
              </p:spPr>
            </p:sp>
            <p:sp>
              <p:nvSpPr>
                <p:cNvPr id="110" name="Freeform 110"/>
                <p:cNvSpPr/>
                <p:nvPr/>
              </p:nvSpPr>
              <p:spPr>
                <a:xfrm>
                  <a:off x="6567488" y="1609725"/>
                  <a:ext cx="9525" cy="38100"/>
                </a:xfrm>
                <a:custGeom>
                  <a:avLst/>
                  <a:gdLst/>
                  <a:ahLst/>
                  <a:cxnLst/>
                  <a:rect l="l" t="t" r="r" b="b"/>
                  <a:pathLst>
                    <a:path w="9525" h="38100">
                      <a:moveTo>
                        <a:pt x="0" y="0"/>
                      </a:moveTo>
                      <a:lnTo>
                        <a:pt x="0" y="38100"/>
                      </a:lnTo>
                    </a:path>
                  </a:pathLst>
                </a:custGeom>
                <a:noFill/>
                <a:ln w="19050">
                  <a:solidFill>
                    <a:srgbClr val="B03A1F"/>
                  </a:solidFill>
                </a:ln>
              </p:spPr>
            </p:sp>
            <p:sp>
              <p:nvSpPr>
                <p:cNvPr id="111" name="Freeform 111"/>
                <p:cNvSpPr/>
                <p:nvPr/>
              </p:nvSpPr>
              <p:spPr>
                <a:xfrm>
                  <a:off x="6624638" y="1609725"/>
                  <a:ext cx="9525" cy="38100"/>
                </a:xfrm>
                <a:custGeom>
                  <a:avLst/>
                  <a:gdLst/>
                  <a:ahLst/>
                  <a:cxnLst/>
                  <a:rect l="l" t="t" r="r" b="b"/>
                  <a:pathLst>
                    <a:path w="9525" h="38100">
                      <a:moveTo>
                        <a:pt x="0" y="0"/>
                      </a:moveTo>
                      <a:lnTo>
                        <a:pt x="0" y="38100"/>
                      </a:lnTo>
                    </a:path>
                  </a:pathLst>
                </a:custGeom>
                <a:noFill/>
                <a:ln w="19050">
                  <a:solidFill>
                    <a:srgbClr val="B03A1F"/>
                  </a:solidFill>
                </a:ln>
              </p:spPr>
            </p:sp>
          </p:grpSp>
          <p:sp>
            <p:nvSpPr>
              <p:cNvPr id="113" name="TextBox 113"/>
              <p:cNvSpPr txBox="1"/>
              <p:nvPr/>
            </p:nvSpPr>
            <p:spPr>
              <a:xfrm>
                <a:off x="6318987" y="2005251"/>
                <a:ext cx="554152" cy="198025"/>
              </a:xfrm>
              <a:prstGeom prst="rect">
                <a:avLst/>
              </a:prstGeom>
              <a:noFill/>
              <a:ln>
                <a:noFill/>
              </a:ln>
            </p:spPr>
            <p:txBody>
              <a:bodyPr wrap="none" lIns="0" tIns="0" rIns="0" bIns="0" anchor="t" anchorCtr="0">
                <a:spAutoFit/>
              </a:bodyPr>
              <a:lstStyle/>
              <a:p>
                <a:pPr algn="ctr"/>
                <a:r>
                  <a:rPr lang="zh-CN" sz="1010" b="1" dirty="0">
                    <a:solidFill>
                      <a:srgbClr val="1E1E1E"/>
                    </a:solidFill>
                    <a:latin typeface="+mn-lt"/>
                    <a:ea typeface="+mn-ea"/>
                    <a:cs typeface="+mn-cs"/>
                  </a:rPr>
                  <a:t>数字运营</a:t>
                </a:r>
              </a:p>
            </p:txBody>
          </p:sp>
          <p:sp>
            <p:nvSpPr>
              <p:cNvPr id="114" name="Ellipse 114"/>
              <p:cNvSpPr/>
              <p:nvPr/>
            </p:nvSpPr>
            <p:spPr>
              <a:xfrm>
                <a:off x="6231255" y="2368868"/>
                <a:ext cx="34290" cy="34290"/>
              </a:xfrm>
              <a:prstGeom prst="ellipse">
                <a:avLst/>
              </a:prstGeom>
              <a:solidFill>
                <a:srgbClr val="B03A1F"/>
              </a:solidFill>
              <a:ln>
                <a:noFill/>
              </a:ln>
            </p:spPr>
          </p:sp>
          <p:sp>
            <p:nvSpPr>
              <p:cNvPr id="115" name="TextBox 115"/>
              <p:cNvSpPr txBox="1"/>
              <p:nvPr/>
            </p:nvSpPr>
            <p:spPr>
              <a:xfrm>
                <a:off x="6300788" y="23424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数字工具应用</a:t>
                </a:r>
              </a:p>
            </p:txBody>
          </p:sp>
          <p:sp>
            <p:nvSpPr>
              <p:cNvPr id="116" name="Ellipse 116"/>
              <p:cNvSpPr/>
              <p:nvPr/>
            </p:nvSpPr>
            <p:spPr>
              <a:xfrm>
                <a:off x="6231255" y="2616518"/>
                <a:ext cx="34290" cy="34290"/>
              </a:xfrm>
              <a:prstGeom prst="ellipse">
                <a:avLst/>
              </a:prstGeom>
              <a:solidFill>
                <a:srgbClr val="B03A1F"/>
              </a:solidFill>
              <a:ln>
                <a:noFill/>
              </a:ln>
            </p:spPr>
          </p:sp>
          <p:sp>
            <p:nvSpPr>
              <p:cNvPr id="117" name="TextBox 117"/>
              <p:cNvSpPr txBox="1"/>
              <p:nvPr/>
            </p:nvSpPr>
            <p:spPr>
              <a:xfrm>
                <a:off x="6300788" y="25900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数据分析与洞察</a:t>
                </a:r>
              </a:p>
            </p:txBody>
          </p:sp>
          <p:sp>
            <p:nvSpPr>
              <p:cNvPr id="118" name="Ellipse 118"/>
              <p:cNvSpPr/>
              <p:nvPr/>
            </p:nvSpPr>
            <p:spPr>
              <a:xfrm>
                <a:off x="6231255" y="2864168"/>
                <a:ext cx="34290" cy="34290"/>
              </a:xfrm>
              <a:prstGeom prst="ellipse">
                <a:avLst/>
              </a:prstGeom>
              <a:solidFill>
                <a:srgbClr val="B03A1F"/>
              </a:solidFill>
              <a:ln>
                <a:noFill/>
              </a:ln>
            </p:spPr>
          </p:sp>
          <p:sp>
            <p:nvSpPr>
              <p:cNvPr id="119" name="TextBox 119"/>
              <p:cNvSpPr txBox="1"/>
              <p:nvPr/>
            </p:nvSpPr>
            <p:spPr>
              <a:xfrm>
                <a:off x="6300788" y="283773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线上化运营管理</a:t>
                </a:r>
              </a:p>
            </p:txBody>
          </p:sp>
          <p:sp>
            <p:nvSpPr>
              <p:cNvPr id="120" name="Ellipse 120"/>
              <p:cNvSpPr/>
              <p:nvPr/>
            </p:nvSpPr>
            <p:spPr>
              <a:xfrm>
                <a:off x="6231255" y="3111818"/>
                <a:ext cx="34290" cy="34290"/>
              </a:xfrm>
              <a:prstGeom prst="ellipse">
                <a:avLst/>
              </a:prstGeom>
              <a:solidFill>
                <a:srgbClr val="B03A1F"/>
              </a:solidFill>
              <a:ln>
                <a:noFill/>
              </a:ln>
            </p:spPr>
          </p:sp>
          <p:sp>
            <p:nvSpPr>
              <p:cNvPr id="121" name="TextBox 121"/>
              <p:cNvSpPr txBox="1"/>
              <p:nvPr/>
            </p:nvSpPr>
            <p:spPr>
              <a:xfrm>
                <a:off x="6300788" y="30853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自动化与智能化</a:t>
                </a:r>
              </a:p>
            </p:txBody>
          </p:sp>
        </p:grpSp>
        <p:grpSp>
          <p:nvGrpSpPr>
            <p:cNvPr id="136" name="cap-risk"/>
            <p:cNvGrpSpPr/>
            <p:nvPr/>
          </p:nvGrpSpPr>
          <p:grpSpPr>
            <a:xfrm>
              <a:off x="7145655" y="1323975"/>
              <a:ext cx="843700" cy="1901905"/>
              <a:chOff x="7145655" y="1323975"/>
              <a:chExt cx="843700" cy="1901905"/>
            </a:xfrm>
          </p:grpSpPr>
          <p:sp>
            <p:nvSpPr>
              <p:cNvPr id="123" name="Ellipse 123"/>
              <p:cNvSpPr/>
              <p:nvPr/>
            </p:nvSpPr>
            <p:spPr>
              <a:xfrm>
                <a:off x="7300912" y="1323975"/>
                <a:ext cx="495300" cy="495300"/>
              </a:xfrm>
              <a:prstGeom prst="ellipse">
                <a:avLst/>
              </a:prstGeom>
              <a:solidFill>
                <a:srgbClr val="FFFFFF"/>
              </a:solidFill>
              <a:ln w="19050">
                <a:solidFill>
                  <a:srgbClr val="B03A1F"/>
                </a:solidFill>
              </a:ln>
            </p:spPr>
          </p:sp>
          <p:grpSp>
            <p:nvGrpSpPr>
              <p:cNvPr id="126" name="Group 126"/>
              <p:cNvGrpSpPr/>
              <p:nvPr/>
            </p:nvGrpSpPr>
            <p:grpSpPr>
              <a:xfrm>
                <a:off x="7449983" y="1485900"/>
                <a:ext cx="186006" cy="171450"/>
                <a:chOff x="7449983" y="1485900"/>
                <a:chExt cx="186006" cy="171450"/>
              </a:xfrm>
            </p:grpSpPr>
            <p:sp>
              <p:nvSpPr>
                <p:cNvPr id="124" name="Freeform 124"/>
                <p:cNvSpPr/>
                <p:nvPr/>
              </p:nvSpPr>
              <p:spPr>
                <a:xfrm>
                  <a:off x="7449983" y="1485900"/>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B03A1F"/>
                  </a:solidFill>
                </a:ln>
              </p:spPr>
            </p:sp>
            <p:sp>
              <p:nvSpPr>
                <p:cNvPr id="125" name="Freeform 125"/>
                <p:cNvSpPr/>
                <p:nvPr/>
              </p:nvSpPr>
              <p:spPr>
                <a:xfrm>
                  <a:off x="7577138" y="1619250"/>
                  <a:ext cx="57150" cy="38100"/>
                </a:xfrm>
                <a:custGeom>
                  <a:avLst/>
                  <a:gdLst/>
                  <a:ahLst/>
                  <a:cxnLst/>
                  <a:rect l="l" t="t" r="r" b="b"/>
                  <a:pathLst>
                    <a:path w="57150" h="38100">
                      <a:moveTo>
                        <a:pt x="0" y="19050"/>
                      </a:moveTo>
                      <a:lnTo>
                        <a:pt x="19050" y="38100"/>
                      </a:lnTo>
                      <a:lnTo>
                        <a:pt x="57150" y="0"/>
                      </a:lnTo>
                    </a:path>
                  </a:pathLst>
                </a:custGeom>
                <a:noFill/>
                <a:ln w="19050">
                  <a:solidFill>
                    <a:srgbClr val="B03A1F"/>
                  </a:solidFill>
                </a:ln>
              </p:spPr>
            </p:sp>
          </p:grpSp>
          <p:sp>
            <p:nvSpPr>
              <p:cNvPr id="127" name="TextBox 127"/>
              <p:cNvSpPr txBox="1"/>
              <p:nvPr/>
            </p:nvSpPr>
            <p:spPr>
              <a:xfrm>
                <a:off x="7271487" y="2005251"/>
                <a:ext cx="554152" cy="198025"/>
              </a:xfrm>
              <a:prstGeom prst="rect">
                <a:avLst/>
              </a:prstGeom>
              <a:noFill/>
              <a:ln>
                <a:noFill/>
              </a:ln>
            </p:spPr>
            <p:txBody>
              <a:bodyPr wrap="none" lIns="0" tIns="0" rIns="0" bIns="0" anchor="t" anchorCtr="0">
                <a:spAutoFit/>
              </a:bodyPr>
              <a:lstStyle/>
              <a:p>
                <a:pPr algn="ctr"/>
                <a:r>
                  <a:rPr lang="zh-CN" sz="1010" b="1" dirty="0">
                    <a:solidFill>
                      <a:srgbClr val="1E1E1E"/>
                    </a:solidFill>
                    <a:latin typeface="+mn-lt"/>
                    <a:ea typeface="+mn-ea"/>
                    <a:cs typeface="+mn-cs"/>
                  </a:rPr>
                  <a:t>合规风控</a:t>
                </a:r>
              </a:p>
            </p:txBody>
          </p:sp>
          <p:sp>
            <p:nvSpPr>
              <p:cNvPr id="128" name="Ellipse 128"/>
              <p:cNvSpPr/>
              <p:nvPr/>
            </p:nvSpPr>
            <p:spPr>
              <a:xfrm>
                <a:off x="7145655" y="2368868"/>
                <a:ext cx="34290" cy="34290"/>
              </a:xfrm>
              <a:prstGeom prst="ellipse">
                <a:avLst/>
              </a:prstGeom>
              <a:solidFill>
                <a:srgbClr val="B03A1F"/>
              </a:solidFill>
              <a:ln>
                <a:noFill/>
              </a:ln>
            </p:spPr>
          </p:sp>
          <p:sp>
            <p:nvSpPr>
              <p:cNvPr id="129" name="TextBox 129"/>
              <p:cNvSpPr txBox="1"/>
              <p:nvPr/>
            </p:nvSpPr>
            <p:spPr>
              <a:xfrm>
                <a:off x="7215188" y="23424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法规政策理解</a:t>
                </a:r>
              </a:p>
            </p:txBody>
          </p:sp>
          <p:sp>
            <p:nvSpPr>
              <p:cNvPr id="130" name="Ellipse 130"/>
              <p:cNvSpPr/>
              <p:nvPr/>
            </p:nvSpPr>
            <p:spPr>
              <a:xfrm>
                <a:off x="7145655" y="2616518"/>
                <a:ext cx="34290" cy="34290"/>
              </a:xfrm>
              <a:prstGeom prst="ellipse">
                <a:avLst/>
              </a:prstGeom>
              <a:solidFill>
                <a:srgbClr val="B03A1F"/>
              </a:solidFill>
              <a:ln>
                <a:noFill/>
              </a:ln>
            </p:spPr>
          </p:sp>
          <p:sp>
            <p:nvSpPr>
              <p:cNvPr id="131" name="TextBox 131"/>
              <p:cNvSpPr txBox="1"/>
              <p:nvPr/>
            </p:nvSpPr>
            <p:spPr>
              <a:xfrm>
                <a:off x="7215188" y="2590086"/>
                <a:ext cx="77416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适当性与合规销售</a:t>
                </a:r>
              </a:p>
            </p:txBody>
          </p:sp>
          <p:sp>
            <p:nvSpPr>
              <p:cNvPr id="132" name="Ellipse 132"/>
              <p:cNvSpPr/>
              <p:nvPr/>
            </p:nvSpPr>
            <p:spPr>
              <a:xfrm>
                <a:off x="7145655" y="2864168"/>
                <a:ext cx="34290" cy="34290"/>
              </a:xfrm>
              <a:prstGeom prst="ellipse">
                <a:avLst/>
              </a:prstGeom>
              <a:solidFill>
                <a:srgbClr val="B03A1F"/>
              </a:solidFill>
              <a:ln>
                <a:noFill/>
              </a:ln>
            </p:spPr>
          </p:sp>
          <p:sp>
            <p:nvSpPr>
              <p:cNvPr id="133" name="TextBox 133"/>
              <p:cNvSpPr txBox="1"/>
              <p:nvPr/>
            </p:nvSpPr>
            <p:spPr>
              <a:xfrm>
                <a:off x="7215188" y="283773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风险识别与管理</a:t>
                </a:r>
              </a:p>
            </p:txBody>
          </p:sp>
          <p:sp>
            <p:nvSpPr>
              <p:cNvPr id="134" name="Ellipse 134"/>
              <p:cNvSpPr/>
              <p:nvPr/>
            </p:nvSpPr>
            <p:spPr>
              <a:xfrm>
                <a:off x="7145655" y="3111818"/>
                <a:ext cx="34290" cy="34290"/>
              </a:xfrm>
              <a:prstGeom prst="ellipse">
                <a:avLst/>
              </a:prstGeom>
              <a:solidFill>
                <a:srgbClr val="B03A1F"/>
              </a:solidFill>
              <a:ln>
                <a:noFill/>
              </a:ln>
            </p:spPr>
          </p:sp>
          <p:sp>
            <p:nvSpPr>
              <p:cNvPr id="135" name="TextBox 135"/>
              <p:cNvSpPr txBox="1"/>
              <p:nvPr/>
            </p:nvSpPr>
            <p:spPr>
              <a:xfrm>
                <a:off x="7215188" y="30853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声誉与操作风险</a:t>
                </a:r>
              </a:p>
            </p:txBody>
          </p:sp>
        </p:grpSp>
      </p:grpSp>
      <p:sp>
        <p:nvSpPr>
          <p:cNvPr id="138" name="deco-formula-up"/>
          <p:cNvSpPr/>
          <p:nvPr/>
        </p:nvSpPr>
        <p:spPr>
          <a:xfrm>
            <a:off x="5553075" y="4019550"/>
            <a:ext cx="228600" cy="104775"/>
          </a:xfrm>
          <a:custGeom>
            <a:avLst/>
            <a:gdLst/>
            <a:ahLst/>
            <a:cxnLst/>
            <a:rect l="l" t="t" r="r" b="b"/>
            <a:pathLst>
              <a:path w="228600" h="104775">
                <a:moveTo>
                  <a:pt x="0" y="0"/>
                </a:moveTo>
                <a:lnTo>
                  <a:pt x="228600" y="0"/>
                </a:lnTo>
                <a:lnTo>
                  <a:pt x="114300" y="104775"/>
                </a:lnTo>
                <a:close/>
              </a:path>
            </a:pathLst>
          </a:custGeom>
          <a:solidFill>
            <a:srgbClr val="E8C0B7"/>
          </a:solidFill>
          <a:ln>
            <a:noFill/>
          </a:ln>
        </p:spPr>
      </p:sp>
      <p:grpSp>
        <p:nvGrpSpPr>
          <p:cNvPr id="141" name="formula-band"/>
          <p:cNvGrpSpPr/>
          <p:nvPr/>
        </p:nvGrpSpPr>
        <p:grpSpPr>
          <a:xfrm>
            <a:off x="3286125" y="4191000"/>
            <a:ext cx="4714875" cy="381000"/>
            <a:chOff x="3286125" y="4191000"/>
            <a:chExt cx="4714875" cy="381000"/>
          </a:xfrm>
        </p:grpSpPr>
        <p:sp>
          <p:nvSpPr>
            <p:cNvPr id="139" name="Rectangle 139"/>
            <p:cNvSpPr/>
            <p:nvPr/>
          </p:nvSpPr>
          <p:spPr>
            <a:xfrm>
              <a:off x="3286125" y="4191000"/>
              <a:ext cx="4714875" cy="381000"/>
            </a:xfrm>
            <a:prstGeom prst="roundRect">
              <a:avLst>
                <a:gd name="adj" fmla="val 50000"/>
              </a:avLst>
            </a:prstGeom>
            <a:solidFill>
              <a:srgbClr val="FBEFEF"/>
            </a:solidFill>
            <a:ln>
              <a:noFill/>
            </a:ln>
          </p:spPr>
        </p:sp>
        <p:sp>
          <p:nvSpPr>
            <p:cNvPr id="140" name="TextBox 140"/>
            <p:cNvSpPr txBox="1"/>
            <p:nvPr/>
          </p:nvSpPr>
          <p:spPr>
            <a:xfrm>
              <a:off x="4231971" y="4325302"/>
              <a:ext cx="2813658" cy="205359"/>
            </a:xfrm>
            <a:prstGeom prst="rect">
              <a:avLst/>
            </a:prstGeom>
            <a:noFill/>
            <a:ln>
              <a:noFill/>
            </a:ln>
          </p:spPr>
          <p:txBody>
            <a:bodyPr wrap="none" lIns="0" tIns="0" rIns="0" bIns="0" anchor="t" anchorCtr="0">
              <a:spAutoFit/>
            </a:bodyPr>
            <a:lstStyle/>
            <a:p>
              <a:pPr algn="ctr"/>
              <a:r>
                <a:rPr lang="zh-CN" sz="1050" b="1" dirty="0">
                  <a:solidFill>
                    <a:srgbClr val="B03A1F"/>
                  </a:solidFill>
                  <a:latin typeface="+mn-lt"/>
                  <a:ea typeface="+mn-ea"/>
                  <a:cs typeface="+mn-cs"/>
                </a:rPr>
                <a:t>专业力 × 场景力 × 数字力 × 风控力 × 协同力</a:t>
              </a:r>
            </a:p>
          </p:txBody>
        </p:sp>
      </p:grpSp>
      <p:grpSp>
        <p:nvGrpSpPr>
          <p:cNvPr id="182" name="dev-path"/>
          <p:cNvGrpSpPr/>
          <p:nvPr/>
        </p:nvGrpSpPr>
        <p:grpSpPr>
          <a:xfrm>
            <a:off x="209550" y="4705350"/>
            <a:ext cx="7302183" cy="600313"/>
            <a:chOff x="209550" y="4705350"/>
            <a:chExt cx="7302183" cy="600313"/>
          </a:xfrm>
        </p:grpSpPr>
        <p:sp>
          <p:nvSpPr>
            <p:cNvPr id="142" name="Rectangle 142"/>
            <p:cNvSpPr/>
            <p:nvPr/>
          </p:nvSpPr>
          <p:spPr>
            <a:xfrm>
              <a:off x="209550" y="4705350"/>
              <a:ext cx="1047750" cy="533400"/>
            </a:xfrm>
            <a:prstGeom prst="roundRect">
              <a:avLst>
                <a:gd name="adj" fmla="val 10714"/>
              </a:avLst>
            </a:prstGeom>
            <a:solidFill>
              <a:srgbClr val="B03A1F"/>
            </a:solidFill>
            <a:ln>
              <a:noFill/>
            </a:ln>
          </p:spPr>
        </p:sp>
        <p:sp>
          <p:nvSpPr>
            <p:cNvPr id="143" name="TextBox 143"/>
            <p:cNvSpPr txBox="1"/>
            <p:nvPr/>
          </p:nvSpPr>
          <p:spPr>
            <a:xfrm>
              <a:off x="332689" y="49144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人才发展路径</a:t>
              </a:r>
            </a:p>
          </p:txBody>
        </p:sp>
        <p:sp>
          <p:nvSpPr>
            <p:cNvPr id="144" name="Ellipse 144"/>
            <p:cNvSpPr/>
            <p:nvPr/>
          </p:nvSpPr>
          <p:spPr>
            <a:xfrm>
              <a:off x="1381125" y="4857750"/>
              <a:ext cx="323850" cy="323850"/>
            </a:xfrm>
            <a:prstGeom prst="ellipse">
              <a:avLst/>
            </a:prstGeom>
            <a:solidFill>
              <a:srgbClr val="B03A1F"/>
            </a:solidFill>
            <a:ln>
              <a:noFill/>
            </a:ln>
          </p:spPr>
        </p:sp>
        <p:grpSp>
          <p:nvGrpSpPr>
            <p:cNvPr id="147" name="Group 147"/>
            <p:cNvGrpSpPr/>
            <p:nvPr/>
          </p:nvGrpSpPr>
          <p:grpSpPr>
            <a:xfrm>
              <a:off x="1478756" y="4955381"/>
              <a:ext cx="128587" cy="128587"/>
              <a:chOff x="1478756" y="4955381"/>
              <a:chExt cx="128587" cy="128587"/>
            </a:xfrm>
          </p:grpSpPr>
          <p:sp>
            <p:nvSpPr>
              <p:cNvPr id="145" name="Freeform 145"/>
              <p:cNvSpPr/>
              <p:nvPr/>
            </p:nvSpPr>
            <p:spPr>
              <a:xfrm>
                <a:off x="1478756" y="4955381"/>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FFFFFF"/>
                </a:solidFill>
              </a:ln>
            </p:spPr>
          </p:sp>
          <p:sp>
            <p:nvSpPr>
              <p:cNvPr id="146" name="Freeform 146"/>
              <p:cNvSpPr/>
              <p:nvPr/>
            </p:nvSpPr>
            <p:spPr>
              <a:xfrm>
                <a:off x="1564481" y="5041106"/>
                <a:ext cx="42862" cy="42862"/>
              </a:xfrm>
              <a:custGeom>
                <a:avLst/>
                <a:gdLst/>
                <a:ahLst/>
                <a:cxnLst/>
                <a:rect l="l" t="t" r="r" b="b"/>
                <a:pathLst>
                  <a:path w="42862" h="42862">
                    <a:moveTo>
                      <a:pt x="42862" y="42862"/>
                    </a:moveTo>
                    <a:lnTo>
                      <a:pt x="0" y="0"/>
                    </a:lnTo>
                  </a:path>
                </a:pathLst>
              </a:custGeom>
              <a:noFill/>
              <a:ln w="14288">
                <a:solidFill>
                  <a:srgbClr val="FFFFFF"/>
                </a:solidFill>
              </a:ln>
            </p:spPr>
          </p:sp>
        </p:grpSp>
        <p:sp>
          <p:nvSpPr>
            <p:cNvPr id="148" name="TextBox 148"/>
            <p:cNvSpPr txBox="1"/>
            <p:nvPr/>
          </p:nvSpPr>
          <p:spPr>
            <a:xfrm>
              <a:off x="1766888" y="4861322"/>
              <a:ext cx="262611"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识别</a:t>
              </a:r>
            </a:p>
          </p:txBody>
        </p:sp>
        <p:sp>
          <p:nvSpPr>
            <p:cNvPr id="149" name="TextBox 149"/>
            <p:cNvSpPr txBox="1"/>
            <p:nvPr/>
          </p:nvSpPr>
          <p:spPr>
            <a:xfrm>
              <a:off x="1766888" y="5055632"/>
              <a:ext cx="3346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A6A6A"/>
                  </a:solidFill>
                  <a:latin typeface="+mn-lt"/>
                  <a:ea typeface="+mn-ea"/>
                  <a:cs typeface="+mn-cs"/>
                </a:rPr>
                <a:t>人才盘点</a:t>
              </a:r>
              <a:br/>
              <a:r>
                <a:rPr lang="zh-CN" sz="640" dirty="0">
                  <a:solidFill>
                    <a:srgbClr val="6A6A6A"/>
                  </a:solidFill>
                  <a:latin typeface="+mn-lt"/>
                  <a:ea typeface="+mn-ea"/>
                  <a:cs typeface="+mn-cs"/>
                </a:rPr>
                <a:t>潜力评估</a:t>
              </a:r>
            </a:p>
          </p:txBody>
        </p:sp>
        <p:sp>
          <p:nvSpPr>
            <p:cNvPr id="150" name="Freeform 150"/>
            <p:cNvSpPr/>
            <p:nvPr/>
          </p:nvSpPr>
          <p:spPr>
            <a:xfrm>
              <a:off x="2533650" y="4943475"/>
              <a:ext cx="133350" cy="152400"/>
            </a:xfrm>
            <a:prstGeom prst="chevron">
              <a:avLst/>
            </a:prstGeom>
            <a:solidFill>
              <a:srgbClr val="B03A1F"/>
            </a:solidFill>
            <a:ln>
              <a:noFill/>
            </a:ln>
          </p:spPr>
        </p:sp>
        <p:sp>
          <p:nvSpPr>
            <p:cNvPr id="151" name="Ellipse 151"/>
            <p:cNvSpPr/>
            <p:nvPr/>
          </p:nvSpPr>
          <p:spPr>
            <a:xfrm>
              <a:off x="2733675" y="4857750"/>
              <a:ext cx="323850" cy="323850"/>
            </a:xfrm>
            <a:prstGeom prst="ellipse">
              <a:avLst/>
            </a:prstGeom>
            <a:solidFill>
              <a:srgbClr val="B03A1F"/>
            </a:solidFill>
            <a:ln>
              <a:noFill/>
            </a:ln>
          </p:spPr>
        </p:sp>
        <p:grpSp>
          <p:nvGrpSpPr>
            <p:cNvPr id="155" name="Group 155"/>
            <p:cNvGrpSpPr/>
            <p:nvPr/>
          </p:nvGrpSpPr>
          <p:grpSpPr>
            <a:xfrm>
              <a:off x="2845594" y="4962525"/>
              <a:ext cx="100012" cy="114300"/>
              <a:chOff x="2845594" y="4962525"/>
              <a:chExt cx="100012" cy="114300"/>
            </a:xfrm>
          </p:grpSpPr>
          <p:sp>
            <p:nvSpPr>
              <p:cNvPr id="152" name="Freeform 152"/>
              <p:cNvSpPr/>
              <p:nvPr/>
            </p:nvSpPr>
            <p:spPr>
              <a:xfrm>
                <a:off x="2845594" y="4962525"/>
                <a:ext cx="100012" cy="114300"/>
              </a:xfrm>
              <a:custGeom>
                <a:avLst/>
                <a:gdLst/>
                <a:ahLst/>
                <a:cxnLst/>
                <a:rect l="l" t="t" r="r" b="b"/>
                <a:pathLst>
                  <a:path w="100012" h="114300">
                    <a:moveTo>
                      <a:pt x="100012" y="0"/>
                    </a:moveTo>
                    <a:lnTo>
                      <a:pt x="100012" y="114300"/>
                    </a:lnTo>
                    <a:lnTo>
                      <a:pt x="14288" y="114300"/>
                    </a:lnTo>
                    <a:cubicBezTo>
                      <a:pt x="6397" y="114300"/>
                      <a:pt x="0" y="107903"/>
                      <a:pt x="0" y="100012"/>
                    </a:cubicBezTo>
                    <a:lnTo>
                      <a:pt x="0" y="14288"/>
                    </a:lnTo>
                    <a:cubicBezTo>
                      <a:pt x="0" y="6397"/>
                      <a:pt x="6397" y="0"/>
                      <a:pt x="14288" y="0"/>
                    </a:cubicBezTo>
                    <a:lnTo>
                      <a:pt x="100012" y="0"/>
                    </a:lnTo>
                  </a:path>
                </a:pathLst>
              </a:custGeom>
              <a:noFill/>
              <a:ln w="14288">
                <a:solidFill>
                  <a:srgbClr val="FFFFFF"/>
                </a:solidFill>
              </a:ln>
            </p:spPr>
          </p:sp>
          <p:sp>
            <p:nvSpPr>
              <p:cNvPr id="153" name="Freeform 153"/>
              <p:cNvSpPr/>
              <p:nvPr/>
            </p:nvSpPr>
            <p:spPr>
              <a:xfrm>
                <a:off x="2845594" y="5048250"/>
                <a:ext cx="100012" cy="14288"/>
              </a:xfrm>
              <a:custGeom>
                <a:avLst/>
                <a:gdLst/>
                <a:ahLst/>
                <a:cxnLst/>
                <a:rect l="l" t="t" r="r" b="b"/>
                <a:pathLst>
                  <a:path w="100012" h="14288">
                    <a:moveTo>
                      <a:pt x="100012" y="0"/>
                    </a:moveTo>
                    <a:lnTo>
                      <a:pt x="14288" y="0"/>
                    </a:lnTo>
                    <a:cubicBezTo>
                      <a:pt x="6397" y="0"/>
                      <a:pt x="0" y="6397"/>
                      <a:pt x="0" y="14288"/>
                    </a:cubicBezTo>
                  </a:path>
                </a:pathLst>
              </a:custGeom>
              <a:noFill/>
              <a:ln w="14288">
                <a:solidFill>
                  <a:srgbClr val="FFFFFF"/>
                </a:solidFill>
              </a:ln>
            </p:spPr>
          </p:sp>
          <p:sp>
            <p:nvSpPr>
              <p:cNvPr id="154" name="Freeform 154"/>
              <p:cNvSpPr/>
              <p:nvPr/>
            </p:nvSpPr>
            <p:spPr>
              <a:xfrm>
                <a:off x="2874169" y="4991100"/>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156" name="TextBox 156"/>
            <p:cNvSpPr txBox="1"/>
            <p:nvPr/>
          </p:nvSpPr>
          <p:spPr>
            <a:xfrm>
              <a:off x="3119438" y="4861322"/>
              <a:ext cx="262611"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培养</a:t>
              </a:r>
            </a:p>
          </p:txBody>
        </p:sp>
        <p:sp>
          <p:nvSpPr>
            <p:cNvPr id="157" name="TextBox 157"/>
            <p:cNvSpPr txBox="1"/>
            <p:nvPr/>
          </p:nvSpPr>
          <p:spPr>
            <a:xfrm>
              <a:off x="3119438" y="5055632"/>
              <a:ext cx="3346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A6A6A"/>
                  </a:solidFill>
                  <a:latin typeface="+mn-lt"/>
                  <a:ea typeface="+mn-ea"/>
                  <a:cs typeface="+mn-cs"/>
                </a:rPr>
                <a:t>学习地图</a:t>
              </a:r>
              <a:br/>
              <a:r>
                <a:rPr lang="zh-CN" sz="640" dirty="0">
                  <a:solidFill>
                    <a:srgbClr val="6A6A6A"/>
                  </a:solidFill>
                  <a:latin typeface="+mn-lt"/>
                  <a:ea typeface="+mn-ea"/>
                  <a:cs typeface="+mn-cs"/>
                </a:rPr>
                <a:t>专项锻造</a:t>
              </a:r>
            </a:p>
          </p:txBody>
        </p:sp>
        <p:sp>
          <p:nvSpPr>
            <p:cNvPr id="158" name="Freeform 158"/>
            <p:cNvSpPr/>
            <p:nvPr/>
          </p:nvSpPr>
          <p:spPr>
            <a:xfrm>
              <a:off x="3886200" y="4943475"/>
              <a:ext cx="133350" cy="152400"/>
            </a:xfrm>
            <a:prstGeom prst="chevron">
              <a:avLst/>
            </a:prstGeom>
            <a:solidFill>
              <a:srgbClr val="B03A1F"/>
            </a:solidFill>
            <a:ln>
              <a:noFill/>
            </a:ln>
          </p:spPr>
        </p:sp>
        <p:sp>
          <p:nvSpPr>
            <p:cNvPr id="159" name="Ellipse 159"/>
            <p:cNvSpPr/>
            <p:nvPr/>
          </p:nvSpPr>
          <p:spPr>
            <a:xfrm>
              <a:off x="4086225" y="4857750"/>
              <a:ext cx="323850" cy="323850"/>
            </a:xfrm>
            <a:prstGeom prst="ellipse">
              <a:avLst/>
            </a:prstGeom>
            <a:solidFill>
              <a:srgbClr val="B03A1F"/>
            </a:solidFill>
            <a:ln>
              <a:noFill/>
            </a:ln>
          </p:spPr>
        </p:sp>
        <p:grpSp>
          <p:nvGrpSpPr>
            <p:cNvPr id="163" name="Group 163"/>
            <p:cNvGrpSpPr/>
            <p:nvPr/>
          </p:nvGrpSpPr>
          <p:grpSpPr>
            <a:xfrm>
              <a:off x="4186728" y="4955381"/>
              <a:ext cx="122830" cy="127802"/>
              <a:chOff x="4186728" y="4955381"/>
              <a:chExt cx="122830" cy="127802"/>
            </a:xfrm>
          </p:grpSpPr>
          <p:sp>
            <p:nvSpPr>
              <p:cNvPr id="160" name="Freeform 160"/>
              <p:cNvSpPr/>
              <p:nvPr/>
            </p:nvSpPr>
            <p:spPr>
              <a:xfrm>
                <a:off x="4205288" y="4955381"/>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FFFFFF"/>
                </a:solidFill>
              </a:ln>
            </p:spPr>
          </p:sp>
          <p:sp>
            <p:nvSpPr>
              <p:cNvPr id="161" name="Freeform 161"/>
              <p:cNvSpPr/>
              <p:nvPr/>
            </p:nvSpPr>
            <p:spPr>
              <a:xfrm>
                <a:off x="4248150" y="5019675"/>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FFFFFF"/>
                </a:solidFill>
              </a:ln>
            </p:spPr>
          </p:sp>
          <p:sp>
            <p:nvSpPr>
              <p:cNvPr id="162" name="Freeform 162"/>
              <p:cNvSpPr/>
              <p:nvPr/>
            </p:nvSpPr>
            <p:spPr>
              <a:xfrm>
                <a:off x="4186728" y="5019675"/>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FFFFFF"/>
                </a:solidFill>
              </a:ln>
            </p:spPr>
          </p:sp>
        </p:grpSp>
        <p:sp>
          <p:nvSpPr>
            <p:cNvPr id="164" name="TextBox 164"/>
            <p:cNvSpPr txBox="1"/>
            <p:nvPr/>
          </p:nvSpPr>
          <p:spPr>
            <a:xfrm>
              <a:off x="4471988" y="4861322"/>
              <a:ext cx="262611"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认证</a:t>
              </a:r>
            </a:p>
          </p:txBody>
        </p:sp>
        <p:sp>
          <p:nvSpPr>
            <p:cNvPr id="165" name="TextBox 165"/>
            <p:cNvSpPr txBox="1"/>
            <p:nvPr/>
          </p:nvSpPr>
          <p:spPr>
            <a:xfrm>
              <a:off x="4471988" y="5055632"/>
              <a:ext cx="3346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A6A6A"/>
                  </a:solidFill>
                  <a:latin typeface="+mn-lt"/>
                  <a:ea typeface="+mn-ea"/>
                  <a:cs typeface="+mn-cs"/>
                </a:rPr>
                <a:t>能力测评</a:t>
              </a:r>
              <a:br/>
              <a:r>
                <a:rPr lang="zh-CN" sz="640" dirty="0">
                  <a:solidFill>
                    <a:srgbClr val="6A6A6A"/>
                  </a:solidFill>
                  <a:latin typeface="+mn-lt"/>
                  <a:ea typeface="+mn-ea"/>
                  <a:cs typeface="+mn-cs"/>
                </a:rPr>
                <a:t>岗位认证</a:t>
              </a:r>
            </a:p>
          </p:txBody>
        </p:sp>
        <p:sp>
          <p:nvSpPr>
            <p:cNvPr id="166" name="Freeform 166"/>
            <p:cNvSpPr/>
            <p:nvPr/>
          </p:nvSpPr>
          <p:spPr>
            <a:xfrm>
              <a:off x="5238750" y="4943475"/>
              <a:ext cx="133350" cy="152400"/>
            </a:xfrm>
            <a:prstGeom prst="chevron">
              <a:avLst/>
            </a:prstGeom>
            <a:solidFill>
              <a:srgbClr val="B03A1F"/>
            </a:solidFill>
            <a:ln>
              <a:noFill/>
            </a:ln>
          </p:spPr>
        </p:sp>
        <p:sp>
          <p:nvSpPr>
            <p:cNvPr id="167" name="Ellipse 167"/>
            <p:cNvSpPr/>
            <p:nvPr/>
          </p:nvSpPr>
          <p:spPr>
            <a:xfrm>
              <a:off x="5438775" y="4857750"/>
              <a:ext cx="323850" cy="323850"/>
            </a:xfrm>
            <a:prstGeom prst="ellipse">
              <a:avLst/>
            </a:prstGeom>
            <a:solidFill>
              <a:srgbClr val="B03A1F"/>
            </a:solidFill>
            <a:ln>
              <a:noFill/>
            </a:ln>
          </p:spPr>
        </p:sp>
        <p:grpSp>
          <p:nvGrpSpPr>
            <p:cNvPr id="172" name="Group 172"/>
            <p:cNvGrpSpPr/>
            <p:nvPr/>
          </p:nvGrpSpPr>
          <p:grpSpPr>
            <a:xfrm>
              <a:off x="5536406" y="4955381"/>
              <a:ext cx="128588" cy="121444"/>
              <a:chOff x="5536406" y="4955381"/>
              <a:chExt cx="128588" cy="121444"/>
            </a:xfrm>
          </p:grpSpPr>
          <p:sp>
            <p:nvSpPr>
              <p:cNvPr id="168" name="Freeform 168"/>
              <p:cNvSpPr/>
              <p:nvPr/>
            </p:nvSpPr>
            <p:spPr>
              <a:xfrm>
                <a:off x="5536406" y="4983956"/>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FFFFFF"/>
                </a:solidFill>
              </a:ln>
            </p:spPr>
          </p:sp>
          <p:sp>
            <p:nvSpPr>
              <p:cNvPr id="169" name="Freeform 169"/>
              <p:cNvSpPr/>
              <p:nvPr/>
            </p:nvSpPr>
            <p:spPr>
              <a:xfrm>
                <a:off x="5572125" y="4955381"/>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FFFFFF"/>
                </a:solidFill>
              </a:ln>
            </p:spPr>
          </p:sp>
          <p:sp>
            <p:nvSpPr>
              <p:cNvPr id="170" name="Freeform 170"/>
              <p:cNvSpPr/>
              <p:nvPr/>
            </p:nvSpPr>
            <p:spPr>
              <a:xfrm>
                <a:off x="5600700" y="5019675"/>
                <a:ext cx="9525" cy="9525"/>
              </a:xfrm>
              <a:custGeom>
                <a:avLst/>
                <a:gdLst/>
                <a:ahLst/>
                <a:cxnLst/>
                <a:rect l="l" t="t" r="r" b="b"/>
                <a:pathLst>
                  <a:path w="9525" h="9525">
                    <a:moveTo>
                      <a:pt x="0" y="0"/>
                    </a:moveTo>
                    <a:lnTo>
                      <a:pt x="0" y="71"/>
                    </a:lnTo>
                  </a:path>
                </a:pathLst>
              </a:custGeom>
              <a:noFill/>
              <a:ln w="14288">
                <a:solidFill>
                  <a:srgbClr val="FFFFFF"/>
                </a:solidFill>
              </a:ln>
            </p:spPr>
          </p:sp>
          <p:sp>
            <p:nvSpPr>
              <p:cNvPr id="171" name="Freeform 171"/>
              <p:cNvSpPr/>
              <p:nvPr/>
            </p:nvSpPr>
            <p:spPr>
              <a:xfrm>
                <a:off x="5536406" y="5026819"/>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FFFFFF"/>
                </a:solidFill>
              </a:ln>
            </p:spPr>
          </p:sp>
        </p:grpSp>
        <p:sp>
          <p:nvSpPr>
            <p:cNvPr id="173" name="TextBox 173"/>
            <p:cNvSpPr txBox="1"/>
            <p:nvPr/>
          </p:nvSpPr>
          <p:spPr>
            <a:xfrm>
              <a:off x="5824538" y="4861322"/>
              <a:ext cx="262611"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实战</a:t>
              </a:r>
            </a:p>
          </p:txBody>
        </p:sp>
        <p:sp>
          <p:nvSpPr>
            <p:cNvPr id="174" name="TextBox 174"/>
            <p:cNvSpPr txBox="1"/>
            <p:nvPr/>
          </p:nvSpPr>
          <p:spPr>
            <a:xfrm>
              <a:off x="5824538" y="5055632"/>
              <a:ext cx="3346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A6A6A"/>
                  </a:solidFill>
                  <a:latin typeface="+mn-lt"/>
                  <a:ea typeface="+mn-ea"/>
                  <a:cs typeface="+mn-cs"/>
                </a:rPr>
                <a:t>项目实践</a:t>
              </a:r>
              <a:br/>
              <a:r>
                <a:rPr lang="zh-CN" sz="640" dirty="0">
                  <a:solidFill>
                    <a:srgbClr val="6A6A6A"/>
                  </a:solidFill>
                  <a:latin typeface="+mn-lt"/>
                  <a:ea typeface="+mn-ea"/>
                  <a:cs typeface="+mn-cs"/>
                </a:rPr>
                <a:t>任务历练</a:t>
              </a:r>
            </a:p>
          </p:txBody>
        </p:sp>
        <p:sp>
          <p:nvSpPr>
            <p:cNvPr id="175" name="Freeform 175"/>
            <p:cNvSpPr/>
            <p:nvPr/>
          </p:nvSpPr>
          <p:spPr>
            <a:xfrm>
              <a:off x="6591300" y="4943475"/>
              <a:ext cx="133350" cy="152400"/>
            </a:xfrm>
            <a:prstGeom prst="chevron">
              <a:avLst/>
            </a:prstGeom>
            <a:solidFill>
              <a:srgbClr val="B03A1F"/>
            </a:solidFill>
            <a:ln>
              <a:noFill/>
            </a:ln>
          </p:spPr>
        </p:sp>
        <p:sp>
          <p:nvSpPr>
            <p:cNvPr id="176" name="Ellipse 176"/>
            <p:cNvSpPr/>
            <p:nvPr/>
          </p:nvSpPr>
          <p:spPr>
            <a:xfrm>
              <a:off x="6791325" y="4857750"/>
              <a:ext cx="323850" cy="323850"/>
            </a:xfrm>
            <a:prstGeom prst="ellipse">
              <a:avLst/>
            </a:prstGeom>
            <a:solidFill>
              <a:srgbClr val="B03A1F"/>
            </a:solidFill>
            <a:ln>
              <a:noFill/>
            </a:ln>
          </p:spPr>
        </p:sp>
        <p:grpSp>
          <p:nvGrpSpPr>
            <p:cNvPr id="179" name="Group 179"/>
            <p:cNvGrpSpPr/>
            <p:nvPr/>
          </p:nvGrpSpPr>
          <p:grpSpPr>
            <a:xfrm>
              <a:off x="6888956" y="4983956"/>
              <a:ext cx="128588" cy="71438"/>
              <a:chOff x="6888956" y="4983956"/>
              <a:chExt cx="128588" cy="71438"/>
            </a:xfrm>
          </p:grpSpPr>
          <p:sp>
            <p:nvSpPr>
              <p:cNvPr id="177" name="Freeform 177"/>
              <p:cNvSpPr/>
              <p:nvPr/>
            </p:nvSpPr>
            <p:spPr>
              <a:xfrm>
                <a:off x="6888956" y="49839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FFFFFF"/>
                </a:solidFill>
              </a:ln>
            </p:spPr>
          </p:sp>
          <p:sp>
            <p:nvSpPr>
              <p:cNvPr id="178" name="Freeform 178"/>
              <p:cNvSpPr/>
              <p:nvPr/>
            </p:nvSpPr>
            <p:spPr>
              <a:xfrm>
                <a:off x="6967538" y="4983956"/>
                <a:ext cx="50006" cy="50006"/>
              </a:xfrm>
              <a:custGeom>
                <a:avLst/>
                <a:gdLst/>
                <a:ahLst/>
                <a:cxnLst/>
                <a:rect l="l" t="t" r="r" b="b"/>
                <a:pathLst>
                  <a:path w="50006" h="50006">
                    <a:moveTo>
                      <a:pt x="0" y="0"/>
                    </a:moveTo>
                    <a:lnTo>
                      <a:pt x="50006" y="0"/>
                    </a:lnTo>
                    <a:lnTo>
                      <a:pt x="50006" y="50006"/>
                    </a:lnTo>
                  </a:path>
                </a:pathLst>
              </a:custGeom>
              <a:noFill/>
              <a:ln w="14288">
                <a:solidFill>
                  <a:srgbClr val="FFFFFF"/>
                </a:solidFill>
              </a:ln>
            </p:spPr>
          </p:sp>
        </p:grpSp>
        <p:sp>
          <p:nvSpPr>
            <p:cNvPr id="180" name="TextBox 180"/>
            <p:cNvSpPr txBox="1"/>
            <p:nvPr/>
          </p:nvSpPr>
          <p:spPr>
            <a:xfrm>
              <a:off x="7177088" y="4861322"/>
              <a:ext cx="262611" cy="183356"/>
            </a:xfrm>
            <a:prstGeom prst="rect">
              <a:avLst/>
            </a:prstGeom>
            <a:noFill/>
            <a:ln>
              <a:noFill/>
            </a:ln>
          </p:spPr>
          <p:txBody>
            <a:bodyPr wrap="none" lIns="0" tIns="0" rIns="0" bIns="0" anchor="t" anchorCtr="0">
              <a:spAutoFit/>
            </a:bodyPr>
            <a:lstStyle/>
            <a:p>
              <a:pPr algn="l"/>
              <a:r>
                <a:rPr lang="zh-CN" sz="940" b="1" dirty="0">
                  <a:solidFill>
                    <a:srgbClr val="1E1E1E"/>
                  </a:solidFill>
                  <a:latin typeface="+mn-lt"/>
                  <a:ea typeface="+mn-ea"/>
                  <a:cs typeface="+mn-cs"/>
                </a:rPr>
                <a:t>晋升</a:t>
              </a:r>
            </a:p>
          </p:txBody>
        </p:sp>
        <p:sp>
          <p:nvSpPr>
            <p:cNvPr id="181" name="TextBox 181"/>
            <p:cNvSpPr txBox="1"/>
            <p:nvPr/>
          </p:nvSpPr>
          <p:spPr>
            <a:xfrm>
              <a:off x="7177088" y="5055632"/>
              <a:ext cx="3346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A6A6A"/>
                  </a:solidFill>
                  <a:latin typeface="+mn-lt"/>
                  <a:ea typeface="+mn-ea"/>
                  <a:cs typeface="+mn-cs"/>
                </a:rPr>
                <a:t>职级晋升</a:t>
              </a:r>
              <a:br/>
              <a:r>
                <a:rPr lang="zh-CN" sz="640" dirty="0">
                  <a:solidFill>
                    <a:srgbClr val="6A6A6A"/>
                  </a:solidFill>
                  <a:latin typeface="+mn-lt"/>
                  <a:ea typeface="+mn-ea"/>
                  <a:cs typeface="+mn-cs"/>
                </a:rPr>
                <a:t>更大舞台</a:t>
              </a:r>
            </a:p>
          </p:txBody>
        </p:sp>
      </p:grpSp>
      <p:grpSp>
        <p:nvGrpSpPr>
          <p:cNvPr id="222" name="quarter-actions"/>
          <p:cNvGrpSpPr/>
          <p:nvPr/>
        </p:nvGrpSpPr>
        <p:grpSpPr>
          <a:xfrm>
            <a:off x="8143875" y="800100"/>
            <a:ext cx="3714750" cy="4238626"/>
            <a:chOff x="8143875" y="800100"/>
            <a:chExt cx="3714750" cy="4238626"/>
          </a:xfrm>
        </p:grpSpPr>
        <p:sp>
          <p:nvSpPr>
            <p:cNvPr id="183" name="Rectangle 183"/>
            <p:cNvSpPr/>
            <p:nvPr/>
          </p:nvSpPr>
          <p:spPr>
            <a:xfrm>
              <a:off x="8143875" y="800100"/>
              <a:ext cx="3714750" cy="266700"/>
            </a:xfrm>
            <a:prstGeom prst="roundRect">
              <a:avLst>
                <a:gd name="adj" fmla="val 14286"/>
              </a:avLst>
            </a:prstGeom>
            <a:solidFill>
              <a:srgbClr val="B03A1F"/>
            </a:solidFill>
            <a:ln>
              <a:noFill/>
            </a:ln>
          </p:spPr>
        </p:sp>
        <p:sp>
          <p:nvSpPr>
            <p:cNvPr id="184" name="TextBox 184"/>
            <p:cNvSpPr txBox="1"/>
            <p:nvPr/>
          </p:nvSpPr>
          <p:spPr>
            <a:xfrm>
              <a:off x="9571863" y="86772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季度重点行动</a:t>
              </a:r>
            </a:p>
          </p:txBody>
        </p:sp>
        <p:sp>
          <p:nvSpPr>
            <p:cNvPr id="185" name="Ellipse 185"/>
            <p:cNvSpPr/>
            <p:nvPr/>
          </p:nvSpPr>
          <p:spPr>
            <a:xfrm>
              <a:off x="8229600" y="1285875"/>
              <a:ext cx="438150" cy="438150"/>
            </a:xfrm>
            <a:prstGeom prst="ellipse">
              <a:avLst/>
            </a:prstGeom>
            <a:solidFill>
              <a:srgbClr val="FBEFEF"/>
            </a:solidFill>
            <a:ln w="14288">
              <a:solidFill>
                <a:srgbClr val="B03A1F"/>
              </a:solidFill>
            </a:ln>
          </p:spPr>
        </p:sp>
        <p:grpSp>
          <p:nvGrpSpPr>
            <p:cNvPr id="188" name="Group 188"/>
            <p:cNvGrpSpPr/>
            <p:nvPr/>
          </p:nvGrpSpPr>
          <p:grpSpPr>
            <a:xfrm>
              <a:off x="8353425" y="1438275"/>
              <a:ext cx="190500" cy="133350"/>
              <a:chOff x="8353425" y="1438275"/>
              <a:chExt cx="190500" cy="133350"/>
            </a:xfrm>
          </p:grpSpPr>
          <p:sp>
            <p:nvSpPr>
              <p:cNvPr id="186" name="Freeform 186"/>
              <p:cNvSpPr/>
              <p:nvPr/>
            </p:nvSpPr>
            <p:spPr>
              <a:xfrm>
                <a:off x="8353425" y="1438275"/>
                <a:ext cx="190500" cy="95250"/>
              </a:xfrm>
              <a:custGeom>
                <a:avLst/>
                <a:gdLst/>
                <a:ahLst/>
                <a:cxnLst/>
                <a:rect l="l" t="t" r="r" b="b"/>
                <a:pathLst>
                  <a:path w="190500" h="95250">
                    <a:moveTo>
                      <a:pt x="190500" y="38100"/>
                    </a:moveTo>
                    <a:lnTo>
                      <a:pt x="95250" y="0"/>
                    </a:lnTo>
                    <a:lnTo>
                      <a:pt x="0" y="38100"/>
                    </a:lnTo>
                    <a:lnTo>
                      <a:pt x="95250" y="76200"/>
                    </a:lnTo>
                    <a:lnTo>
                      <a:pt x="190500" y="38100"/>
                    </a:lnTo>
                    <a:lnTo>
                      <a:pt x="190500" y="95250"/>
                    </a:lnTo>
                  </a:path>
                </a:pathLst>
              </a:custGeom>
              <a:noFill/>
              <a:ln w="19050">
                <a:solidFill>
                  <a:srgbClr val="B03A1F"/>
                </a:solidFill>
              </a:ln>
            </p:spPr>
          </p:sp>
          <p:sp>
            <p:nvSpPr>
              <p:cNvPr id="187" name="Freeform 187"/>
              <p:cNvSpPr/>
              <p:nvPr/>
            </p:nvSpPr>
            <p:spPr>
              <a:xfrm>
                <a:off x="8391525" y="1491615"/>
                <a:ext cx="114300" cy="80010"/>
              </a:xfrm>
              <a:custGeom>
                <a:avLst/>
                <a:gdLst/>
                <a:ahLst/>
                <a:cxnLst/>
                <a:rect l="l" t="t" r="r" b="b"/>
                <a:pathLst>
                  <a:path w="114300" h="80010">
                    <a:moveTo>
                      <a:pt x="0" y="0"/>
                    </a:moveTo>
                    <a:lnTo>
                      <a:pt x="0" y="51435"/>
                    </a:lnTo>
                    <a:cubicBezTo>
                      <a:pt x="0" y="67217"/>
                      <a:pt x="25587" y="80010"/>
                      <a:pt x="57150" y="80010"/>
                    </a:cubicBezTo>
                    <a:cubicBezTo>
                      <a:pt x="88713" y="80010"/>
                      <a:pt x="114300" y="67217"/>
                      <a:pt x="114300" y="51435"/>
                    </a:cubicBezTo>
                    <a:lnTo>
                      <a:pt x="114300" y="0"/>
                    </a:lnTo>
                  </a:path>
                </a:pathLst>
              </a:custGeom>
              <a:noFill/>
              <a:ln w="19050">
                <a:solidFill>
                  <a:srgbClr val="B03A1F"/>
                </a:solidFill>
              </a:ln>
            </p:spPr>
          </p:sp>
        </p:grpSp>
        <p:sp>
          <p:nvSpPr>
            <p:cNvPr id="189" name="TextBox 189"/>
            <p:cNvSpPr txBox="1"/>
            <p:nvPr/>
          </p:nvSpPr>
          <p:spPr>
            <a:xfrm>
              <a:off x="8776906" y="1319451"/>
              <a:ext cx="554152" cy="198025"/>
            </a:xfrm>
            <a:prstGeom prst="rect">
              <a:avLst/>
            </a:prstGeom>
            <a:noFill/>
            <a:ln>
              <a:noFill/>
            </a:ln>
          </p:spPr>
          <p:txBody>
            <a:bodyPr wrap="none" lIns="0" tIns="0" rIns="0" bIns="0" anchor="t" anchorCtr="0">
              <a:spAutoFit/>
            </a:bodyPr>
            <a:lstStyle/>
            <a:p>
              <a:pPr algn="l"/>
              <a:r>
                <a:rPr lang="zh-CN" sz="1010" b="1" dirty="0">
                  <a:solidFill>
                    <a:srgbClr val="B03A1F"/>
                  </a:solidFill>
                  <a:latin typeface="+mn-lt"/>
                  <a:ea typeface="+mn-ea"/>
                  <a:cs typeface="+mn-cs"/>
                </a:rPr>
                <a:t>分层培训</a:t>
              </a:r>
            </a:p>
          </p:txBody>
        </p:sp>
        <p:sp>
          <p:nvSpPr>
            <p:cNvPr id="190" name="TextBox 190"/>
            <p:cNvSpPr txBox="1"/>
            <p:nvPr/>
          </p:nvSpPr>
          <p:spPr>
            <a:xfrm>
              <a:off x="8777288" y="1538288"/>
              <a:ext cx="124777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3A3A3A"/>
                  </a:solidFill>
                  <a:latin typeface="+mn-lt"/>
                  <a:ea typeface="+mn-ea"/>
                  <a:cs typeface="+mn-cs"/>
                </a:rPr>
                <a:t>按层级与岗位定制课程体系，</a:t>
              </a:r>
              <a:br/>
              <a:r>
                <a:rPr lang="zh-CN" sz="750" dirty="0">
                  <a:solidFill>
                    <a:srgbClr val="3A3A3A"/>
                  </a:solidFill>
                  <a:latin typeface="+mn-lt"/>
                  <a:ea typeface="+mn-ea"/>
                  <a:cs typeface="+mn-cs"/>
                </a:rPr>
                <a:t>季度集中学习与微课赋能结合</a:t>
              </a:r>
            </a:p>
          </p:txBody>
        </p:sp>
        <p:sp>
          <p:nvSpPr>
            <p:cNvPr id="191" name="Ellipse 191"/>
            <p:cNvSpPr/>
            <p:nvPr/>
          </p:nvSpPr>
          <p:spPr>
            <a:xfrm>
              <a:off x="8229600" y="2085975"/>
              <a:ext cx="438150" cy="438150"/>
            </a:xfrm>
            <a:prstGeom prst="ellipse">
              <a:avLst/>
            </a:prstGeom>
            <a:solidFill>
              <a:srgbClr val="FBEFEF"/>
            </a:solidFill>
            <a:ln w="14288">
              <a:solidFill>
                <a:srgbClr val="B03A1F"/>
              </a:solidFill>
            </a:ln>
          </p:spPr>
        </p:sp>
        <p:grpSp>
          <p:nvGrpSpPr>
            <p:cNvPr id="195" name="Group 195"/>
            <p:cNvGrpSpPr/>
            <p:nvPr/>
          </p:nvGrpSpPr>
          <p:grpSpPr>
            <a:xfrm>
              <a:off x="8366779" y="2219325"/>
              <a:ext cx="163773" cy="170402"/>
              <a:chOff x="8366779" y="2219325"/>
              <a:chExt cx="163773" cy="170402"/>
            </a:xfrm>
          </p:grpSpPr>
          <p:sp>
            <p:nvSpPr>
              <p:cNvPr id="192" name="Freeform 192"/>
              <p:cNvSpPr/>
              <p:nvPr/>
            </p:nvSpPr>
            <p:spPr>
              <a:xfrm>
                <a:off x="8391525" y="22193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B03A1F"/>
                </a:solidFill>
              </a:ln>
            </p:spPr>
          </p:sp>
          <p:sp>
            <p:nvSpPr>
              <p:cNvPr id="193" name="Freeform 193"/>
              <p:cNvSpPr/>
              <p:nvPr/>
            </p:nvSpPr>
            <p:spPr>
              <a:xfrm>
                <a:off x="8448675" y="230505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B03A1F"/>
                </a:solidFill>
              </a:ln>
            </p:spPr>
          </p:sp>
          <p:sp>
            <p:nvSpPr>
              <p:cNvPr id="194" name="Freeform 194"/>
              <p:cNvSpPr/>
              <p:nvPr/>
            </p:nvSpPr>
            <p:spPr>
              <a:xfrm>
                <a:off x="8366779" y="230505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B03A1F"/>
                </a:solidFill>
              </a:ln>
            </p:spPr>
          </p:sp>
        </p:grpSp>
        <p:sp>
          <p:nvSpPr>
            <p:cNvPr id="196" name="TextBox 196"/>
            <p:cNvSpPr txBox="1"/>
            <p:nvPr/>
          </p:nvSpPr>
          <p:spPr>
            <a:xfrm>
              <a:off x="8776906" y="2119551"/>
              <a:ext cx="554152" cy="198025"/>
            </a:xfrm>
            <a:prstGeom prst="rect">
              <a:avLst/>
            </a:prstGeom>
            <a:noFill/>
            <a:ln>
              <a:noFill/>
            </a:ln>
          </p:spPr>
          <p:txBody>
            <a:bodyPr wrap="none" lIns="0" tIns="0" rIns="0" bIns="0" anchor="t" anchorCtr="0">
              <a:spAutoFit/>
            </a:bodyPr>
            <a:lstStyle/>
            <a:p>
              <a:pPr algn="l"/>
              <a:r>
                <a:rPr lang="zh-CN" sz="1010" b="1" dirty="0">
                  <a:solidFill>
                    <a:srgbClr val="B03A1F"/>
                  </a:solidFill>
                  <a:latin typeface="+mn-lt"/>
                  <a:ea typeface="+mn-ea"/>
                  <a:cs typeface="+mn-cs"/>
                </a:rPr>
                <a:t>岗位认证</a:t>
              </a:r>
            </a:p>
          </p:txBody>
        </p:sp>
        <p:sp>
          <p:nvSpPr>
            <p:cNvPr id="197" name="TextBox 197"/>
            <p:cNvSpPr txBox="1"/>
            <p:nvPr/>
          </p:nvSpPr>
          <p:spPr>
            <a:xfrm>
              <a:off x="8777288" y="2338388"/>
              <a:ext cx="134302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3A3A3A"/>
                  </a:solidFill>
                  <a:latin typeface="+mn-lt"/>
                  <a:ea typeface="+mn-ea"/>
                  <a:cs typeface="+mn-cs"/>
                </a:rPr>
                <a:t>建立岗位能力标准与认证体系，</a:t>
              </a:r>
              <a:br/>
              <a:r>
                <a:rPr lang="zh-CN" sz="750" dirty="0">
                  <a:solidFill>
                    <a:srgbClr val="3A3A3A"/>
                  </a:solidFill>
                  <a:latin typeface="+mn-lt"/>
                  <a:ea typeface="+mn-ea"/>
                  <a:cs typeface="+mn-cs"/>
                </a:rPr>
                <a:t>以考促学以证促能</a:t>
              </a:r>
            </a:p>
          </p:txBody>
        </p:sp>
        <p:sp>
          <p:nvSpPr>
            <p:cNvPr id="198" name="Ellipse 198"/>
            <p:cNvSpPr/>
            <p:nvPr/>
          </p:nvSpPr>
          <p:spPr>
            <a:xfrm>
              <a:off x="8229600" y="2886075"/>
              <a:ext cx="438150" cy="438150"/>
            </a:xfrm>
            <a:prstGeom prst="ellipse">
              <a:avLst/>
            </a:prstGeom>
            <a:solidFill>
              <a:srgbClr val="FBEFEF"/>
            </a:solidFill>
            <a:ln w="14288">
              <a:solidFill>
                <a:srgbClr val="B03A1F"/>
              </a:solidFill>
            </a:ln>
          </p:spPr>
        </p:sp>
        <p:grpSp>
          <p:nvGrpSpPr>
            <p:cNvPr id="203" name="Group 203"/>
            <p:cNvGrpSpPr/>
            <p:nvPr/>
          </p:nvGrpSpPr>
          <p:grpSpPr>
            <a:xfrm>
              <a:off x="8362950" y="3019425"/>
              <a:ext cx="171450" cy="171450"/>
              <a:chOff x="8362950" y="3019425"/>
              <a:chExt cx="171450" cy="171450"/>
            </a:xfrm>
          </p:grpSpPr>
          <p:sp>
            <p:nvSpPr>
              <p:cNvPr id="199" name="Freeform 199"/>
              <p:cNvSpPr/>
              <p:nvPr/>
            </p:nvSpPr>
            <p:spPr>
              <a:xfrm>
                <a:off x="8382000" y="30194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B03A1F"/>
                </a:solidFill>
              </a:ln>
            </p:spPr>
          </p:sp>
          <p:sp>
            <p:nvSpPr>
              <p:cNvPr id="200" name="Freeform 200"/>
              <p:cNvSpPr/>
              <p:nvPr/>
            </p:nvSpPr>
            <p:spPr>
              <a:xfrm>
                <a:off x="8362950" y="31337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B03A1F"/>
                </a:solidFill>
              </a:ln>
            </p:spPr>
          </p:sp>
          <p:sp>
            <p:nvSpPr>
              <p:cNvPr id="201" name="Freeform 201"/>
              <p:cNvSpPr/>
              <p:nvPr/>
            </p:nvSpPr>
            <p:spPr>
              <a:xfrm>
                <a:off x="8486775" y="30206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B03A1F"/>
                </a:solidFill>
              </a:ln>
            </p:spPr>
          </p:sp>
          <p:sp>
            <p:nvSpPr>
              <p:cNvPr id="202" name="Freeform 202"/>
              <p:cNvSpPr/>
              <p:nvPr/>
            </p:nvSpPr>
            <p:spPr>
              <a:xfrm>
                <a:off x="8505825" y="31351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B03A1F"/>
                </a:solidFill>
              </a:ln>
            </p:spPr>
          </p:sp>
        </p:grpSp>
        <p:sp>
          <p:nvSpPr>
            <p:cNvPr id="204" name="TextBox 204"/>
            <p:cNvSpPr txBox="1"/>
            <p:nvPr/>
          </p:nvSpPr>
          <p:spPr>
            <a:xfrm>
              <a:off x="8776906" y="2919651"/>
              <a:ext cx="554152" cy="198025"/>
            </a:xfrm>
            <a:prstGeom prst="rect">
              <a:avLst/>
            </a:prstGeom>
            <a:noFill/>
            <a:ln>
              <a:noFill/>
            </a:ln>
          </p:spPr>
          <p:txBody>
            <a:bodyPr wrap="none" lIns="0" tIns="0" rIns="0" bIns="0" anchor="t" anchorCtr="0">
              <a:spAutoFit/>
            </a:bodyPr>
            <a:lstStyle/>
            <a:p>
              <a:pPr algn="l"/>
              <a:r>
                <a:rPr lang="zh-CN" sz="1010" b="1" dirty="0">
                  <a:solidFill>
                    <a:srgbClr val="B03A1F"/>
                  </a:solidFill>
                  <a:latin typeface="+mn-lt"/>
                  <a:ea typeface="+mn-ea"/>
                  <a:cs typeface="+mn-cs"/>
                </a:rPr>
                <a:t>师徒陪跑</a:t>
              </a:r>
            </a:p>
          </p:txBody>
        </p:sp>
        <p:sp>
          <p:nvSpPr>
            <p:cNvPr id="205" name="TextBox 205"/>
            <p:cNvSpPr txBox="1"/>
            <p:nvPr/>
          </p:nvSpPr>
          <p:spPr>
            <a:xfrm>
              <a:off x="8777288" y="3138488"/>
              <a:ext cx="115252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3A3A3A"/>
                  </a:solidFill>
                  <a:latin typeface="+mn-lt"/>
                  <a:ea typeface="+mn-ea"/>
                  <a:cs typeface="+mn-cs"/>
                </a:rPr>
                <a:t>资深导师1对1辅导，</a:t>
              </a:r>
              <a:br/>
              <a:r>
                <a:rPr lang="zh-CN" sz="750" dirty="0">
                  <a:solidFill>
                    <a:srgbClr val="3A3A3A"/>
                  </a:solidFill>
                  <a:latin typeface="+mn-lt"/>
                  <a:ea typeface="+mn-ea"/>
                  <a:cs typeface="+mn-cs"/>
                </a:rPr>
                <a:t>制定成长计划，陪伴式成长</a:t>
              </a:r>
            </a:p>
          </p:txBody>
        </p:sp>
        <p:sp>
          <p:nvSpPr>
            <p:cNvPr id="206" name="Ellipse 206"/>
            <p:cNvSpPr/>
            <p:nvPr/>
          </p:nvSpPr>
          <p:spPr>
            <a:xfrm>
              <a:off x="8229600" y="3686175"/>
              <a:ext cx="438150" cy="438150"/>
            </a:xfrm>
            <a:prstGeom prst="ellipse">
              <a:avLst/>
            </a:prstGeom>
            <a:solidFill>
              <a:srgbClr val="FBEFEF"/>
            </a:solidFill>
            <a:ln w="14288">
              <a:solidFill>
                <a:srgbClr val="B03A1F"/>
              </a:solidFill>
            </a:ln>
          </p:spPr>
        </p:sp>
        <p:grpSp>
          <p:nvGrpSpPr>
            <p:cNvPr id="213" name="Group 213"/>
            <p:cNvGrpSpPr/>
            <p:nvPr/>
          </p:nvGrpSpPr>
          <p:grpSpPr>
            <a:xfrm>
              <a:off x="8362950" y="3829050"/>
              <a:ext cx="171450" cy="171450"/>
              <a:chOff x="8362950" y="3829050"/>
              <a:chExt cx="171450" cy="171450"/>
            </a:xfrm>
          </p:grpSpPr>
          <p:sp>
            <p:nvSpPr>
              <p:cNvPr id="207" name="Freeform 207"/>
              <p:cNvSpPr/>
              <p:nvPr/>
            </p:nvSpPr>
            <p:spPr>
              <a:xfrm>
                <a:off x="8410575" y="3990975"/>
                <a:ext cx="76200" cy="9525"/>
              </a:xfrm>
              <a:custGeom>
                <a:avLst/>
                <a:gdLst/>
                <a:ahLst/>
                <a:cxnLst/>
                <a:rect l="l" t="t" r="r" b="b"/>
                <a:pathLst>
                  <a:path w="76200" h="9525">
                    <a:moveTo>
                      <a:pt x="0" y="0"/>
                    </a:moveTo>
                    <a:lnTo>
                      <a:pt x="76200" y="0"/>
                    </a:lnTo>
                  </a:path>
                </a:pathLst>
              </a:custGeom>
              <a:noFill/>
              <a:ln w="19050">
                <a:solidFill>
                  <a:srgbClr val="B03A1F"/>
                </a:solidFill>
              </a:ln>
            </p:spPr>
          </p:sp>
          <p:sp>
            <p:nvSpPr>
              <p:cNvPr id="208" name="Freeform 208"/>
              <p:cNvSpPr/>
              <p:nvPr/>
            </p:nvSpPr>
            <p:spPr>
              <a:xfrm>
                <a:off x="8448675" y="3952875"/>
                <a:ext cx="9525" cy="38100"/>
              </a:xfrm>
              <a:custGeom>
                <a:avLst/>
                <a:gdLst/>
                <a:ahLst/>
                <a:cxnLst/>
                <a:rect l="l" t="t" r="r" b="b"/>
                <a:pathLst>
                  <a:path w="9525" h="38100">
                    <a:moveTo>
                      <a:pt x="0" y="0"/>
                    </a:moveTo>
                    <a:lnTo>
                      <a:pt x="0" y="38100"/>
                    </a:lnTo>
                  </a:path>
                </a:pathLst>
              </a:custGeom>
              <a:noFill/>
              <a:ln w="19050">
                <a:solidFill>
                  <a:srgbClr val="B03A1F"/>
                </a:solidFill>
              </a:ln>
            </p:spPr>
          </p:sp>
          <p:sp>
            <p:nvSpPr>
              <p:cNvPr id="209" name="Freeform 209"/>
              <p:cNvSpPr/>
              <p:nvPr/>
            </p:nvSpPr>
            <p:spPr>
              <a:xfrm>
                <a:off x="8401050" y="3829050"/>
                <a:ext cx="95250" cy="9525"/>
              </a:xfrm>
              <a:custGeom>
                <a:avLst/>
                <a:gdLst/>
                <a:ahLst/>
                <a:cxnLst/>
                <a:rect l="l" t="t" r="r" b="b"/>
                <a:pathLst>
                  <a:path w="95250" h="9525">
                    <a:moveTo>
                      <a:pt x="0" y="0"/>
                    </a:moveTo>
                    <a:lnTo>
                      <a:pt x="95250" y="0"/>
                    </a:lnTo>
                  </a:path>
                </a:pathLst>
              </a:custGeom>
              <a:noFill/>
              <a:ln w="19050">
                <a:solidFill>
                  <a:srgbClr val="B03A1F"/>
                </a:solidFill>
              </a:ln>
            </p:spPr>
          </p:sp>
          <p:sp>
            <p:nvSpPr>
              <p:cNvPr id="210" name="Freeform 210"/>
              <p:cNvSpPr/>
              <p:nvPr/>
            </p:nvSpPr>
            <p:spPr>
              <a:xfrm>
                <a:off x="8401050" y="3829050"/>
                <a:ext cx="95250" cy="123825"/>
              </a:xfrm>
              <a:custGeom>
                <a:avLst/>
                <a:gdLst/>
                <a:ahLst/>
                <a:cxnLst/>
                <a:rect l="l" t="t" r="r" b="b"/>
                <a:pathLst>
                  <a:path w="95250" h="123825">
                    <a:moveTo>
                      <a:pt x="95250" y="0"/>
                    </a:moveTo>
                    <a:lnTo>
                      <a:pt x="95250" y="76200"/>
                    </a:lnTo>
                    <a:cubicBezTo>
                      <a:pt x="95250" y="102503"/>
                      <a:pt x="73928" y="123825"/>
                      <a:pt x="47625" y="123825"/>
                    </a:cubicBezTo>
                    <a:cubicBezTo>
                      <a:pt x="21322" y="123825"/>
                      <a:pt x="0" y="102503"/>
                      <a:pt x="0" y="76200"/>
                    </a:cubicBezTo>
                    <a:lnTo>
                      <a:pt x="0" y="0"/>
                    </a:lnTo>
                  </a:path>
                </a:pathLst>
              </a:custGeom>
              <a:noFill/>
              <a:ln w="19050">
                <a:solidFill>
                  <a:srgbClr val="B03A1F"/>
                </a:solidFill>
              </a:ln>
            </p:spPr>
          </p:sp>
          <p:sp>
            <p:nvSpPr>
              <p:cNvPr id="211" name="Freeform 211"/>
              <p:cNvSpPr/>
              <p:nvPr/>
            </p:nvSpPr>
            <p:spPr>
              <a:xfrm>
                <a:off x="8362950" y="3857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03A1F"/>
                </a:solidFill>
              </a:ln>
            </p:spPr>
          </p:sp>
          <p:sp>
            <p:nvSpPr>
              <p:cNvPr id="212" name="Freeform 212"/>
              <p:cNvSpPr/>
              <p:nvPr/>
            </p:nvSpPr>
            <p:spPr>
              <a:xfrm>
                <a:off x="8496300" y="3857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B03A1F"/>
                </a:solidFill>
              </a:ln>
            </p:spPr>
          </p:sp>
        </p:grpSp>
        <p:sp>
          <p:nvSpPr>
            <p:cNvPr id="214" name="TextBox 214"/>
            <p:cNvSpPr txBox="1"/>
            <p:nvPr/>
          </p:nvSpPr>
          <p:spPr>
            <a:xfrm>
              <a:off x="8776906" y="3719751"/>
              <a:ext cx="554152" cy="198025"/>
            </a:xfrm>
            <a:prstGeom prst="rect">
              <a:avLst/>
            </a:prstGeom>
            <a:noFill/>
            <a:ln>
              <a:noFill/>
            </a:ln>
          </p:spPr>
          <p:txBody>
            <a:bodyPr wrap="none" lIns="0" tIns="0" rIns="0" bIns="0" anchor="t" anchorCtr="0">
              <a:spAutoFit/>
            </a:bodyPr>
            <a:lstStyle/>
            <a:p>
              <a:pPr algn="l"/>
              <a:r>
                <a:rPr lang="zh-CN" sz="1010" b="1" dirty="0">
                  <a:solidFill>
                    <a:srgbClr val="B03A1F"/>
                  </a:solidFill>
                  <a:latin typeface="+mn-lt"/>
                  <a:ea typeface="+mn-ea"/>
                  <a:cs typeface="+mn-cs"/>
                </a:rPr>
                <a:t>案例竞赛</a:t>
              </a:r>
            </a:p>
          </p:txBody>
        </p:sp>
        <p:sp>
          <p:nvSpPr>
            <p:cNvPr id="215" name="TextBox 215"/>
            <p:cNvSpPr txBox="1"/>
            <p:nvPr/>
          </p:nvSpPr>
          <p:spPr>
            <a:xfrm>
              <a:off x="8777288" y="3938588"/>
              <a:ext cx="143827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3A3A3A"/>
                  </a:solidFill>
                  <a:latin typeface="+mn-lt"/>
                  <a:ea typeface="+mn-ea"/>
                  <a:cs typeface="+mn-cs"/>
                </a:rPr>
                <a:t>围绕重点业务场景开展案例竞赛，</a:t>
              </a:r>
              <a:br/>
              <a:r>
                <a:rPr lang="zh-CN" sz="750" dirty="0">
                  <a:solidFill>
                    <a:srgbClr val="3A3A3A"/>
                  </a:solidFill>
                  <a:latin typeface="+mn-lt"/>
                  <a:ea typeface="+mn-ea"/>
                  <a:cs typeface="+mn-cs"/>
                </a:rPr>
                <a:t>沉淀最佳实践</a:t>
              </a:r>
            </a:p>
          </p:txBody>
        </p:sp>
        <p:sp>
          <p:nvSpPr>
            <p:cNvPr id="216" name="Ellipse 216"/>
            <p:cNvSpPr/>
            <p:nvPr/>
          </p:nvSpPr>
          <p:spPr>
            <a:xfrm>
              <a:off x="8229600" y="4486275"/>
              <a:ext cx="438150" cy="438150"/>
            </a:xfrm>
            <a:prstGeom prst="ellipse">
              <a:avLst/>
            </a:prstGeom>
            <a:solidFill>
              <a:srgbClr val="FBEFEF"/>
            </a:solidFill>
            <a:ln w="14288">
              <a:solidFill>
                <a:srgbClr val="B03A1F"/>
              </a:solidFill>
            </a:ln>
          </p:spPr>
        </p:sp>
        <p:grpSp>
          <p:nvGrpSpPr>
            <p:cNvPr id="219" name="Group 219"/>
            <p:cNvGrpSpPr/>
            <p:nvPr/>
          </p:nvGrpSpPr>
          <p:grpSpPr>
            <a:xfrm>
              <a:off x="8362950" y="4657725"/>
              <a:ext cx="171450" cy="95250"/>
              <a:chOff x="8362950" y="4657725"/>
              <a:chExt cx="171450" cy="95250"/>
            </a:xfrm>
          </p:grpSpPr>
          <p:sp>
            <p:nvSpPr>
              <p:cNvPr id="217" name="Freeform 217"/>
              <p:cNvSpPr/>
              <p:nvPr/>
            </p:nvSpPr>
            <p:spPr>
              <a:xfrm>
                <a:off x="8362950" y="465772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B03A1F"/>
                </a:solidFill>
              </a:ln>
            </p:spPr>
          </p:sp>
          <p:sp>
            <p:nvSpPr>
              <p:cNvPr id="218" name="Freeform 218"/>
              <p:cNvSpPr/>
              <p:nvPr/>
            </p:nvSpPr>
            <p:spPr>
              <a:xfrm>
                <a:off x="8467725" y="4657725"/>
                <a:ext cx="66675" cy="66675"/>
              </a:xfrm>
              <a:custGeom>
                <a:avLst/>
                <a:gdLst/>
                <a:ahLst/>
                <a:cxnLst/>
                <a:rect l="l" t="t" r="r" b="b"/>
                <a:pathLst>
                  <a:path w="66675" h="66675">
                    <a:moveTo>
                      <a:pt x="0" y="0"/>
                    </a:moveTo>
                    <a:lnTo>
                      <a:pt x="66675" y="0"/>
                    </a:lnTo>
                    <a:lnTo>
                      <a:pt x="66675" y="66675"/>
                    </a:lnTo>
                  </a:path>
                </a:pathLst>
              </a:custGeom>
              <a:noFill/>
              <a:ln w="19050">
                <a:solidFill>
                  <a:srgbClr val="B03A1F"/>
                </a:solidFill>
              </a:ln>
            </p:spPr>
          </p:sp>
        </p:grpSp>
        <p:sp>
          <p:nvSpPr>
            <p:cNvPr id="220" name="TextBox 220"/>
            <p:cNvSpPr txBox="1"/>
            <p:nvPr/>
          </p:nvSpPr>
          <p:spPr>
            <a:xfrm>
              <a:off x="8776906" y="4519851"/>
              <a:ext cx="554152" cy="198025"/>
            </a:xfrm>
            <a:prstGeom prst="rect">
              <a:avLst/>
            </a:prstGeom>
            <a:noFill/>
            <a:ln>
              <a:noFill/>
            </a:ln>
          </p:spPr>
          <p:txBody>
            <a:bodyPr wrap="none" lIns="0" tIns="0" rIns="0" bIns="0" anchor="t" anchorCtr="0">
              <a:spAutoFit/>
            </a:bodyPr>
            <a:lstStyle/>
            <a:p>
              <a:pPr algn="l"/>
              <a:r>
                <a:rPr lang="zh-CN" sz="1010" b="1" dirty="0">
                  <a:solidFill>
                    <a:srgbClr val="B03A1F"/>
                  </a:solidFill>
                  <a:latin typeface="+mn-lt"/>
                  <a:ea typeface="+mn-ea"/>
                  <a:cs typeface="+mn-cs"/>
                </a:rPr>
                <a:t>绩效牵引</a:t>
              </a:r>
            </a:p>
          </p:txBody>
        </p:sp>
        <p:sp>
          <p:nvSpPr>
            <p:cNvPr id="221" name="TextBox 221"/>
            <p:cNvSpPr txBox="1"/>
            <p:nvPr/>
          </p:nvSpPr>
          <p:spPr>
            <a:xfrm>
              <a:off x="8777288" y="4738688"/>
              <a:ext cx="115252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3A3A3A"/>
                  </a:solidFill>
                  <a:latin typeface="+mn-lt"/>
                  <a:ea typeface="+mn-ea"/>
                  <a:cs typeface="+mn-cs"/>
                </a:rPr>
                <a:t>能力发展与业绩目标挂钩，</a:t>
              </a:r>
              <a:br/>
              <a:r>
                <a:rPr lang="zh-CN" sz="750" dirty="0">
                  <a:solidFill>
                    <a:srgbClr val="3A3A3A"/>
                  </a:solidFill>
                  <a:latin typeface="+mn-lt"/>
                  <a:ea typeface="+mn-ea"/>
                  <a:cs typeface="+mn-cs"/>
                </a:rPr>
                <a:t>激励成长与贡献</a:t>
              </a:r>
            </a:p>
          </p:txBody>
        </p:sp>
      </p:grpSp>
      <p:grpSp>
        <p:nvGrpSpPr>
          <p:cNvPr id="291" name="ability-band"/>
          <p:cNvGrpSpPr/>
          <p:nvPr/>
        </p:nvGrpSpPr>
        <p:grpSpPr>
          <a:xfrm>
            <a:off x="209550" y="5467350"/>
            <a:ext cx="11506200" cy="1143000"/>
            <a:chOff x="209550" y="5467350"/>
            <a:chExt cx="11506200" cy="1143000"/>
          </a:xfrm>
        </p:grpSpPr>
        <p:sp>
          <p:nvSpPr>
            <p:cNvPr id="223" name="Rectangle 223"/>
            <p:cNvSpPr/>
            <p:nvPr/>
          </p:nvSpPr>
          <p:spPr>
            <a:xfrm>
              <a:off x="209550" y="5467350"/>
              <a:ext cx="1000125" cy="1143000"/>
            </a:xfrm>
            <a:prstGeom prst="roundRect">
              <a:avLst>
                <a:gd name="adj" fmla="val 5714"/>
              </a:avLst>
            </a:prstGeom>
            <a:solidFill>
              <a:srgbClr val="B03A1F"/>
            </a:solidFill>
            <a:ln>
              <a:noFill/>
            </a:ln>
          </p:spPr>
        </p:sp>
        <p:sp>
          <p:nvSpPr>
            <p:cNvPr id="224" name="TextBox 224"/>
            <p:cNvSpPr txBox="1"/>
            <p:nvPr/>
          </p:nvSpPr>
          <p:spPr>
            <a:xfrm>
              <a:off x="416814" y="58493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能力区分</a:t>
              </a:r>
            </a:p>
          </p:txBody>
        </p:sp>
        <p:sp>
          <p:nvSpPr>
            <p:cNvPr id="225" name="TextBox 225"/>
            <p:cNvSpPr txBox="1"/>
            <p:nvPr/>
          </p:nvSpPr>
          <p:spPr>
            <a:xfrm>
              <a:off x="336613" y="6107430"/>
              <a:ext cx="736473" cy="119062"/>
            </a:xfrm>
            <a:prstGeom prst="rect">
              <a:avLst/>
            </a:prstGeom>
            <a:noFill/>
            <a:ln>
              <a:noFill/>
            </a:ln>
          </p:spPr>
          <p:txBody>
            <a:bodyPr wrap="none" lIns="0" tIns="0" rIns="0" bIns="0" anchor="t" anchorCtr="0">
              <a:spAutoFit/>
            </a:bodyPr>
            <a:lstStyle/>
            <a:p>
              <a:pPr algn="ctr"/>
              <a:r>
                <a:rPr lang="zh-CN" sz="600" dirty="0">
                  <a:solidFill>
                    <a:srgbClr val="FBEFEF"/>
                  </a:solidFill>
                  <a:latin typeface="+mn-lt"/>
                  <a:ea typeface="+mn-ea"/>
                  <a:cs typeface="+mn-cs"/>
                </a:rPr>
                <a:t>（按客群与业务线）</a:t>
              </a:r>
            </a:p>
          </p:txBody>
        </p:sp>
        <p:sp>
          <p:nvSpPr>
            <p:cNvPr id="226" name="Rectangle 226"/>
            <p:cNvSpPr/>
            <p:nvPr/>
          </p:nvSpPr>
          <p:spPr>
            <a:xfrm>
              <a:off x="1304925" y="5467350"/>
              <a:ext cx="2495550" cy="1143000"/>
            </a:xfrm>
            <a:prstGeom prst="roundRect">
              <a:avLst>
                <a:gd name="adj" fmla="val 6667"/>
              </a:avLst>
            </a:prstGeom>
            <a:solidFill>
              <a:srgbClr val="FFFFFF"/>
            </a:solidFill>
            <a:ln w="9525">
              <a:solidFill>
                <a:srgbClr val="E8E4E0"/>
              </a:solidFill>
            </a:ln>
          </p:spPr>
        </p:sp>
        <p:sp>
          <p:nvSpPr>
            <p:cNvPr id="227" name="Ellipse 227"/>
            <p:cNvSpPr/>
            <p:nvPr/>
          </p:nvSpPr>
          <p:spPr>
            <a:xfrm>
              <a:off x="1447800" y="5572125"/>
              <a:ext cx="361950" cy="361950"/>
            </a:xfrm>
            <a:prstGeom prst="ellipse">
              <a:avLst/>
            </a:prstGeom>
            <a:solidFill>
              <a:srgbClr val="FBEFEF"/>
            </a:solidFill>
            <a:ln>
              <a:noFill/>
            </a:ln>
          </p:spPr>
        </p:sp>
        <p:grpSp>
          <p:nvGrpSpPr>
            <p:cNvPr id="230" name="Group 230"/>
            <p:cNvGrpSpPr/>
            <p:nvPr/>
          </p:nvGrpSpPr>
          <p:grpSpPr>
            <a:xfrm>
              <a:off x="1557337" y="5697537"/>
              <a:ext cx="142875" cy="116761"/>
              <a:chOff x="1557337" y="5697537"/>
              <a:chExt cx="142875" cy="116761"/>
            </a:xfrm>
          </p:grpSpPr>
          <p:sp>
            <p:nvSpPr>
              <p:cNvPr id="228" name="Freeform 228"/>
              <p:cNvSpPr/>
              <p:nvPr/>
            </p:nvSpPr>
            <p:spPr>
              <a:xfrm>
                <a:off x="1557337" y="5697537"/>
                <a:ext cx="142875" cy="116761"/>
              </a:xfrm>
              <a:custGeom>
                <a:avLst/>
                <a:gdLst/>
                <a:ahLst/>
                <a:cxnLst/>
                <a:rect l="l" t="t" r="r" b="b"/>
                <a:pathLst>
                  <a:path w="142875" h="116761">
                    <a:moveTo>
                      <a:pt x="23812" y="0"/>
                    </a:moveTo>
                    <a:lnTo>
                      <a:pt x="119062" y="0"/>
                    </a:lnTo>
                    <a:lnTo>
                      <a:pt x="142875" y="39687"/>
                    </a:lnTo>
                    <a:lnTo>
                      <a:pt x="75406" y="115094"/>
                    </a:lnTo>
                    <a:cubicBezTo>
                      <a:pt x="74361" y="116160"/>
                      <a:pt x="72931" y="116761"/>
                      <a:pt x="71437" y="116761"/>
                    </a:cubicBezTo>
                    <a:cubicBezTo>
                      <a:pt x="69944" y="116761"/>
                      <a:pt x="68514" y="116160"/>
                      <a:pt x="67469" y="115094"/>
                    </a:cubicBezTo>
                    <a:lnTo>
                      <a:pt x="0" y="39687"/>
                    </a:lnTo>
                    <a:lnTo>
                      <a:pt x="23812" y="0"/>
                    </a:lnTo>
                  </a:path>
                </a:pathLst>
              </a:custGeom>
              <a:noFill/>
              <a:ln w="15875">
                <a:solidFill>
                  <a:srgbClr val="B03A1F"/>
                </a:solidFill>
              </a:ln>
            </p:spPr>
          </p:sp>
          <p:sp>
            <p:nvSpPr>
              <p:cNvPr id="229" name="Freeform 229"/>
              <p:cNvSpPr/>
              <p:nvPr/>
            </p:nvSpPr>
            <p:spPr>
              <a:xfrm>
                <a:off x="1597025" y="5727700"/>
                <a:ext cx="15875" cy="25400"/>
              </a:xfrm>
              <a:custGeom>
                <a:avLst/>
                <a:gdLst/>
                <a:ahLst/>
                <a:cxnLst/>
                <a:rect l="l" t="t" r="r" b="b"/>
                <a:pathLst>
                  <a:path w="15875" h="25400">
                    <a:moveTo>
                      <a:pt x="15875" y="25400"/>
                    </a:moveTo>
                    <a:lnTo>
                      <a:pt x="0" y="7937"/>
                    </a:lnTo>
                    <a:lnTo>
                      <a:pt x="4762" y="0"/>
                    </a:lnTo>
                  </a:path>
                </a:pathLst>
              </a:custGeom>
              <a:noFill/>
              <a:ln w="15875">
                <a:solidFill>
                  <a:srgbClr val="B03A1F"/>
                </a:solidFill>
              </a:ln>
            </p:spPr>
          </p:sp>
        </p:grpSp>
        <p:sp>
          <p:nvSpPr>
            <p:cNvPr id="231" name="TextBox 231"/>
            <p:cNvSpPr txBox="1"/>
            <p:nvPr/>
          </p:nvSpPr>
          <p:spPr>
            <a:xfrm>
              <a:off x="1890712" y="5694045"/>
              <a:ext cx="1099947"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私行（高净值）能力</a:t>
              </a:r>
            </a:p>
          </p:txBody>
        </p:sp>
        <p:sp>
          <p:nvSpPr>
            <p:cNvPr id="232" name="Ellipse 232"/>
            <p:cNvSpPr/>
            <p:nvPr/>
          </p:nvSpPr>
          <p:spPr>
            <a:xfrm>
              <a:off x="1916430" y="5912168"/>
              <a:ext cx="34290" cy="34290"/>
            </a:xfrm>
            <a:prstGeom prst="ellipse">
              <a:avLst/>
            </a:prstGeom>
            <a:solidFill>
              <a:srgbClr val="B03A1F"/>
            </a:solidFill>
            <a:ln>
              <a:noFill/>
            </a:ln>
          </p:spPr>
        </p:sp>
        <p:sp>
          <p:nvSpPr>
            <p:cNvPr id="233" name="TextBox 233"/>
            <p:cNvSpPr txBox="1"/>
            <p:nvPr/>
          </p:nvSpPr>
          <p:spPr>
            <a:xfrm>
              <a:off x="1985962" y="5893832"/>
              <a:ext cx="1215720"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高净值客户经营与深层关系管理</a:t>
              </a:r>
            </a:p>
          </p:txBody>
        </p:sp>
        <p:sp>
          <p:nvSpPr>
            <p:cNvPr id="234" name="Ellipse 234"/>
            <p:cNvSpPr/>
            <p:nvPr/>
          </p:nvSpPr>
          <p:spPr>
            <a:xfrm>
              <a:off x="1916430" y="6064568"/>
              <a:ext cx="34290" cy="34290"/>
            </a:xfrm>
            <a:prstGeom prst="ellipse">
              <a:avLst/>
            </a:prstGeom>
            <a:solidFill>
              <a:srgbClr val="B03A1F"/>
            </a:solidFill>
            <a:ln>
              <a:noFill/>
            </a:ln>
          </p:spPr>
        </p:sp>
        <p:sp>
          <p:nvSpPr>
            <p:cNvPr id="235" name="TextBox 235"/>
            <p:cNvSpPr txBox="1"/>
            <p:nvPr/>
          </p:nvSpPr>
          <p:spPr>
            <a:xfrm>
              <a:off x="1985962" y="6046232"/>
              <a:ext cx="1129563"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全球资产配置与复杂方案设计</a:t>
              </a:r>
            </a:p>
          </p:txBody>
        </p:sp>
        <p:sp>
          <p:nvSpPr>
            <p:cNvPr id="236" name="Ellipse 236"/>
            <p:cNvSpPr/>
            <p:nvPr/>
          </p:nvSpPr>
          <p:spPr>
            <a:xfrm>
              <a:off x="1916430" y="6216968"/>
              <a:ext cx="34290" cy="34290"/>
            </a:xfrm>
            <a:prstGeom prst="ellipse">
              <a:avLst/>
            </a:prstGeom>
            <a:solidFill>
              <a:srgbClr val="B03A1F"/>
            </a:solidFill>
            <a:ln>
              <a:noFill/>
            </a:ln>
          </p:spPr>
        </p:sp>
        <p:sp>
          <p:nvSpPr>
            <p:cNvPr id="237" name="TextBox 237"/>
            <p:cNvSpPr txBox="1"/>
            <p:nvPr/>
          </p:nvSpPr>
          <p:spPr>
            <a:xfrm>
              <a:off x="1985962" y="6198632"/>
              <a:ext cx="1043407"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家族信托、税务与法律筹划</a:t>
              </a:r>
            </a:p>
          </p:txBody>
        </p:sp>
        <p:sp>
          <p:nvSpPr>
            <p:cNvPr id="238" name="Ellipse 238"/>
            <p:cNvSpPr/>
            <p:nvPr/>
          </p:nvSpPr>
          <p:spPr>
            <a:xfrm>
              <a:off x="1916430" y="6369368"/>
              <a:ext cx="34290" cy="34290"/>
            </a:xfrm>
            <a:prstGeom prst="ellipse">
              <a:avLst/>
            </a:prstGeom>
            <a:solidFill>
              <a:srgbClr val="B03A1F"/>
            </a:solidFill>
            <a:ln>
              <a:noFill/>
            </a:ln>
          </p:spPr>
        </p:sp>
        <p:sp>
          <p:nvSpPr>
            <p:cNvPr id="239" name="TextBox 239"/>
            <p:cNvSpPr txBox="1"/>
            <p:nvPr/>
          </p:nvSpPr>
          <p:spPr>
            <a:xfrm>
              <a:off x="1985962" y="6351032"/>
              <a:ext cx="957250"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跨境服务与综合资源整合</a:t>
              </a:r>
            </a:p>
          </p:txBody>
        </p:sp>
        <p:sp>
          <p:nvSpPr>
            <p:cNvPr id="240" name="Rectangle 240"/>
            <p:cNvSpPr/>
            <p:nvPr/>
          </p:nvSpPr>
          <p:spPr>
            <a:xfrm>
              <a:off x="3943350" y="5467350"/>
              <a:ext cx="2495550" cy="1143000"/>
            </a:xfrm>
            <a:prstGeom prst="roundRect">
              <a:avLst>
                <a:gd name="adj" fmla="val 6667"/>
              </a:avLst>
            </a:prstGeom>
            <a:solidFill>
              <a:srgbClr val="FFFFFF"/>
            </a:solidFill>
            <a:ln w="9525">
              <a:solidFill>
                <a:srgbClr val="E8E4E0"/>
              </a:solidFill>
            </a:ln>
          </p:spPr>
        </p:sp>
        <p:sp>
          <p:nvSpPr>
            <p:cNvPr id="241" name="Ellipse 241"/>
            <p:cNvSpPr/>
            <p:nvPr/>
          </p:nvSpPr>
          <p:spPr>
            <a:xfrm>
              <a:off x="4086225" y="5572125"/>
              <a:ext cx="361950" cy="361950"/>
            </a:xfrm>
            <a:prstGeom prst="ellipse">
              <a:avLst/>
            </a:prstGeom>
            <a:solidFill>
              <a:srgbClr val="FBEFEF"/>
            </a:solidFill>
            <a:ln>
              <a:noFill/>
            </a:ln>
          </p:spPr>
        </p:sp>
        <p:grpSp>
          <p:nvGrpSpPr>
            <p:cNvPr id="247" name="Group 247"/>
            <p:cNvGrpSpPr/>
            <p:nvPr/>
          </p:nvGrpSpPr>
          <p:grpSpPr>
            <a:xfrm>
              <a:off x="4195762" y="5680599"/>
              <a:ext cx="142875" cy="143938"/>
              <a:chOff x="4195762" y="5680599"/>
              <a:chExt cx="142875" cy="143938"/>
            </a:xfrm>
          </p:grpSpPr>
          <p:sp>
            <p:nvSpPr>
              <p:cNvPr id="242" name="Freeform 242"/>
              <p:cNvSpPr/>
              <p:nvPr/>
            </p:nvSpPr>
            <p:spPr>
              <a:xfrm>
                <a:off x="4243387" y="57451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B03A1F"/>
                </a:solidFill>
              </a:ln>
            </p:spPr>
          </p:sp>
          <p:sp>
            <p:nvSpPr>
              <p:cNvPr id="243" name="Freeform 243"/>
              <p:cNvSpPr/>
              <p:nvPr/>
            </p:nvSpPr>
            <p:spPr>
              <a:xfrm>
                <a:off x="4243387" y="57689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B03A1F"/>
                </a:solidFill>
              </a:ln>
            </p:spPr>
          </p:sp>
          <p:sp>
            <p:nvSpPr>
              <p:cNvPr id="244" name="Freeform 244"/>
              <p:cNvSpPr/>
              <p:nvPr/>
            </p:nvSpPr>
            <p:spPr>
              <a:xfrm>
                <a:off x="4195762" y="56805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B03A1F"/>
                </a:solidFill>
              </a:ln>
            </p:spPr>
          </p:sp>
          <p:sp>
            <p:nvSpPr>
              <p:cNvPr id="245" name="Freeform 245"/>
              <p:cNvSpPr/>
              <p:nvPr/>
            </p:nvSpPr>
            <p:spPr>
              <a:xfrm>
                <a:off x="4195762" y="57054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B03A1F"/>
                </a:solidFill>
              </a:ln>
            </p:spPr>
          </p:sp>
          <p:sp>
            <p:nvSpPr>
              <p:cNvPr id="246" name="Freeform 246"/>
              <p:cNvSpPr/>
              <p:nvPr/>
            </p:nvSpPr>
            <p:spPr>
              <a:xfrm>
                <a:off x="4195762" y="57451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B03A1F"/>
                </a:solidFill>
              </a:ln>
            </p:spPr>
          </p:sp>
        </p:grpSp>
        <p:sp>
          <p:nvSpPr>
            <p:cNvPr id="248" name="TextBox 248"/>
            <p:cNvSpPr txBox="1"/>
            <p:nvPr/>
          </p:nvSpPr>
          <p:spPr>
            <a:xfrm>
              <a:off x="4529138" y="5694045"/>
              <a:ext cx="1221105"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财富（大众富裕）能力</a:t>
              </a:r>
            </a:p>
          </p:txBody>
        </p:sp>
        <p:sp>
          <p:nvSpPr>
            <p:cNvPr id="249" name="Ellipse 249"/>
            <p:cNvSpPr/>
            <p:nvPr/>
          </p:nvSpPr>
          <p:spPr>
            <a:xfrm>
              <a:off x="4554855" y="5912168"/>
              <a:ext cx="34290" cy="34290"/>
            </a:xfrm>
            <a:prstGeom prst="ellipse">
              <a:avLst/>
            </a:prstGeom>
            <a:solidFill>
              <a:srgbClr val="B03A1F"/>
            </a:solidFill>
            <a:ln>
              <a:noFill/>
            </a:ln>
          </p:spPr>
        </p:sp>
        <p:sp>
          <p:nvSpPr>
            <p:cNvPr id="250" name="TextBox 250"/>
            <p:cNvSpPr txBox="1"/>
            <p:nvPr/>
          </p:nvSpPr>
          <p:spPr>
            <a:xfrm>
              <a:off x="4624388" y="5893832"/>
              <a:ext cx="957250"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资产配置与组合投资能力</a:t>
              </a:r>
            </a:p>
          </p:txBody>
        </p:sp>
        <p:sp>
          <p:nvSpPr>
            <p:cNvPr id="251" name="Ellipse 251"/>
            <p:cNvSpPr/>
            <p:nvPr/>
          </p:nvSpPr>
          <p:spPr>
            <a:xfrm>
              <a:off x="4554855" y="6064568"/>
              <a:ext cx="34290" cy="34290"/>
            </a:xfrm>
            <a:prstGeom prst="ellipse">
              <a:avLst/>
            </a:prstGeom>
            <a:solidFill>
              <a:srgbClr val="B03A1F"/>
            </a:solidFill>
            <a:ln>
              <a:noFill/>
            </a:ln>
          </p:spPr>
        </p:sp>
        <p:sp>
          <p:nvSpPr>
            <p:cNvPr id="252" name="TextBox 252"/>
            <p:cNvSpPr txBox="1"/>
            <p:nvPr/>
          </p:nvSpPr>
          <p:spPr>
            <a:xfrm>
              <a:off x="4624388" y="6046232"/>
              <a:ext cx="784936"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中高端客户分层经营</a:t>
              </a:r>
            </a:p>
          </p:txBody>
        </p:sp>
        <p:sp>
          <p:nvSpPr>
            <p:cNvPr id="253" name="Ellipse 253"/>
            <p:cNvSpPr/>
            <p:nvPr/>
          </p:nvSpPr>
          <p:spPr>
            <a:xfrm>
              <a:off x="4554855" y="6216968"/>
              <a:ext cx="34290" cy="34290"/>
            </a:xfrm>
            <a:prstGeom prst="ellipse">
              <a:avLst/>
            </a:prstGeom>
            <a:solidFill>
              <a:srgbClr val="B03A1F"/>
            </a:solidFill>
            <a:ln>
              <a:noFill/>
            </a:ln>
          </p:spPr>
        </p:sp>
        <p:sp>
          <p:nvSpPr>
            <p:cNvPr id="254" name="TextBox 254"/>
            <p:cNvSpPr txBox="1"/>
            <p:nvPr/>
          </p:nvSpPr>
          <p:spPr>
            <a:xfrm>
              <a:off x="4624388" y="6198632"/>
              <a:ext cx="784936"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价值传递与长期陪伴</a:t>
              </a:r>
            </a:p>
          </p:txBody>
        </p:sp>
        <p:sp>
          <p:nvSpPr>
            <p:cNvPr id="255" name="Ellipse 255"/>
            <p:cNvSpPr/>
            <p:nvPr/>
          </p:nvSpPr>
          <p:spPr>
            <a:xfrm>
              <a:off x="4554855" y="6369368"/>
              <a:ext cx="34290" cy="34290"/>
            </a:xfrm>
            <a:prstGeom prst="ellipse">
              <a:avLst/>
            </a:prstGeom>
            <a:solidFill>
              <a:srgbClr val="B03A1F"/>
            </a:solidFill>
            <a:ln>
              <a:noFill/>
            </a:ln>
          </p:spPr>
        </p:sp>
        <p:sp>
          <p:nvSpPr>
            <p:cNvPr id="256" name="TextBox 256"/>
            <p:cNvSpPr txBox="1"/>
            <p:nvPr/>
          </p:nvSpPr>
          <p:spPr>
            <a:xfrm>
              <a:off x="4624388" y="6351032"/>
              <a:ext cx="957250"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综合产品与服务解决方案</a:t>
              </a:r>
            </a:p>
          </p:txBody>
        </p:sp>
        <p:sp>
          <p:nvSpPr>
            <p:cNvPr id="257" name="Rectangle 257"/>
            <p:cNvSpPr/>
            <p:nvPr/>
          </p:nvSpPr>
          <p:spPr>
            <a:xfrm>
              <a:off x="6581775" y="5467350"/>
              <a:ext cx="2495550" cy="1143000"/>
            </a:xfrm>
            <a:prstGeom prst="roundRect">
              <a:avLst>
                <a:gd name="adj" fmla="val 6667"/>
              </a:avLst>
            </a:prstGeom>
            <a:solidFill>
              <a:srgbClr val="FFFFFF"/>
            </a:solidFill>
            <a:ln w="9525">
              <a:solidFill>
                <a:srgbClr val="E8E4E0"/>
              </a:solidFill>
            </a:ln>
          </p:spPr>
        </p:sp>
        <p:sp>
          <p:nvSpPr>
            <p:cNvPr id="258" name="Ellipse 258"/>
            <p:cNvSpPr/>
            <p:nvPr/>
          </p:nvSpPr>
          <p:spPr>
            <a:xfrm>
              <a:off x="6724650" y="5572125"/>
              <a:ext cx="361950" cy="361950"/>
            </a:xfrm>
            <a:prstGeom prst="ellipse">
              <a:avLst/>
            </a:prstGeom>
            <a:solidFill>
              <a:srgbClr val="FBEFEF"/>
            </a:solidFill>
            <a:ln>
              <a:noFill/>
            </a:ln>
          </p:spPr>
        </p:sp>
        <p:grpSp>
          <p:nvGrpSpPr>
            <p:cNvPr id="265" name="Group 265"/>
            <p:cNvGrpSpPr/>
            <p:nvPr/>
          </p:nvGrpSpPr>
          <p:grpSpPr>
            <a:xfrm>
              <a:off x="6834187" y="5681662"/>
              <a:ext cx="142875" cy="142875"/>
              <a:chOff x="6834187" y="5681662"/>
              <a:chExt cx="142875" cy="142875"/>
            </a:xfrm>
          </p:grpSpPr>
          <p:sp>
            <p:nvSpPr>
              <p:cNvPr id="259" name="Freeform 259"/>
              <p:cNvSpPr/>
              <p:nvPr/>
            </p:nvSpPr>
            <p:spPr>
              <a:xfrm>
                <a:off x="6889750" y="57451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03A1F"/>
                </a:solidFill>
              </a:ln>
            </p:spPr>
          </p:sp>
          <p:sp>
            <p:nvSpPr>
              <p:cNvPr id="260" name="Freeform 260"/>
              <p:cNvSpPr/>
              <p:nvPr/>
            </p:nvSpPr>
            <p:spPr>
              <a:xfrm>
                <a:off x="6873875" y="58007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B03A1F"/>
                </a:solidFill>
              </a:ln>
            </p:spPr>
          </p:sp>
          <p:sp>
            <p:nvSpPr>
              <p:cNvPr id="261" name="Freeform 261"/>
              <p:cNvSpPr/>
              <p:nvPr/>
            </p:nvSpPr>
            <p:spPr>
              <a:xfrm>
                <a:off x="6929437" y="56816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03A1F"/>
                </a:solidFill>
              </a:ln>
            </p:spPr>
          </p:sp>
          <p:sp>
            <p:nvSpPr>
              <p:cNvPr id="262" name="Freeform 262"/>
              <p:cNvSpPr/>
              <p:nvPr/>
            </p:nvSpPr>
            <p:spPr>
              <a:xfrm>
                <a:off x="6945312" y="57372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B03A1F"/>
                </a:solidFill>
              </a:ln>
            </p:spPr>
          </p:sp>
          <p:sp>
            <p:nvSpPr>
              <p:cNvPr id="263" name="Freeform 263"/>
              <p:cNvSpPr/>
              <p:nvPr/>
            </p:nvSpPr>
            <p:spPr>
              <a:xfrm>
                <a:off x="6850062" y="56816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B03A1F"/>
                </a:solidFill>
              </a:ln>
            </p:spPr>
          </p:sp>
          <p:sp>
            <p:nvSpPr>
              <p:cNvPr id="264" name="Freeform 264"/>
              <p:cNvSpPr/>
              <p:nvPr/>
            </p:nvSpPr>
            <p:spPr>
              <a:xfrm>
                <a:off x="6834187" y="57372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B03A1F"/>
                </a:solidFill>
              </a:ln>
            </p:spPr>
          </p:sp>
        </p:grpSp>
        <p:sp>
          <p:nvSpPr>
            <p:cNvPr id="266" name="TextBox 266"/>
            <p:cNvSpPr txBox="1"/>
            <p:nvPr/>
          </p:nvSpPr>
          <p:spPr>
            <a:xfrm>
              <a:off x="7167562" y="5694045"/>
              <a:ext cx="1221105"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大众（普惠客群）能力</a:t>
              </a:r>
            </a:p>
          </p:txBody>
        </p:sp>
        <p:sp>
          <p:nvSpPr>
            <p:cNvPr id="267" name="Ellipse 267"/>
            <p:cNvSpPr/>
            <p:nvPr/>
          </p:nvSpPr>
          <p:spPr>
            <a:xfrm>
              <a:off x="7193280" y="5912168"/>
              <a:ext cx="34290" cy="34290"/>
            </a:xfrm>
            <a:prstGeom prst="ellipse">
              <a:avLst/>
            </a:prstGeom>
            <a:solidFill>
              <a:srgbClr val="B03A1F"/>
            </a:solidFill>
            <a:ln>
              <a:noFill/>
            </a:ln>
          </p:spPr>
        </p:sp>
        <p:sp>
          <p:nvSpPr>
            <p:cNvPr id="268" name="TextBox 268"/>
            <p:cNvSpPr txBox="1"/>
            <p:nvPr/>
          </p:nvSpPr>
          <p:spPr>
            <a:xfrm>
              <a:off x="7262812" y="5893832"/>
              <a:ext cx="957250"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基础金融服务与产品匹配</a:t>
              </a:r>
            </a:p>
          </p:txBody>
        </p:sp>
        <p:sp>
          <p:nvSpPr>
            <p:cNvPr id="269" name="Ellipse 269"/>
            <p:cNvSpPr/>
            <p:nvPr/>
          </p:nvSpPr>
          <p:spPr>
            <a:xfrm>
              <a:off x="7193280" y="6064568"/>
              <a:ext cx="34290" cy="34290"/>
            </a:xfrm>
            <a:prstGeom prst="ellipse">
              <a:avLst/>
            </a:prstGeom>
            <a:solidFill>
              <a:srgbClr val="B03A1F"/>
            </a:solidFill>
            <a:ln>
              <a:noFill/>
            </a:ln>
          </p:spPr>
        </p:sp>
        <p:sp>
          <p:nvSpPr>
            <p:cNvPr id="270" name="TextBox 270"/>
            <p:cNvSpPr txBox="1"/>
            <p:nvPr/>
          </p:nvSpPr>
          <p:spPr>
            <a:xfrm>
              <a:off x="7262812" y="6046232"/>
              <a:ext cx="784936"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场景获客与需求转化</a:t>
              </a:r>
            </a:p>
          </p:txBody>
        </p:sp>
        <p:sp>
          <p:nvSpPr>
            <p:cNvPr id="271" name="Ellipse 271"/>
            <p:cNvSpPr/>
            <p:nvPr/>
          </p:nvSpPr>
          <p:spPr>
            <a:xfrm>
              <a:off x="7193280" y="6216968"/>
              <a:ext cx="34290" cy="34290"/>
            </a:xfrm>
            <a:prstGeom prst="ellipse">
              <a:avLst/>
            </a:prstGeom>
            <a:solidFill>
              <a:srgbClr val="B03A1F"/>
            </a:solidFill>
            <a:ln>
              <a:noFill/>
            </a:ln>
          </p:spPr>
        </p:sp>
        <p:sp>
          <p:nvSpPr>
            <p:cNvPr id="272" name="TextBox 272"/>
            <p:cNvSpPr txBox="1"/>
            <p:nvPr/>
          </p:nvSpPr>
          <p:spPr>
            <a:xfrm>
              <a:off x="7262812" y="6198632"/>
              <a:ext cx="784936"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客群体验与高效服务</a:t>
              </a:r>
            </a:p>
          </p:txBody>
        </p:sp>
        <p:sp>
          <p:nvSpPr>
            <p:cNvPr id="273" name="Ellipse 273"/>
            <p:cNvSpPr/>
            <p:nvPr/>
          </p:nvSpPr>
          <p:spPr>
            <a:xfrm>
              <a:off x="7193280" y="6369368"/>
              <a:ext cx="34290" cy="34290"/>
            </a:xfrm>
            <a:prstGeom prst="ellipse">
              <a:avLst/>
            </a:prstGeom>
            <a:solidFill>
              <a:srgbClr val="B03A1F"/>
            </a:solidFill>
            <a:ln>
              <a:noFill/>
            </a:ln>
          </p:spPr>
        </p:sp>
        <p:sp>
          <p:nvSpPr>
            <p:cNvPr id="274" name="TextBox 274"/>
            <p:cNvSpPr txBox="1"/>
            <p:nvPr/>
          </p:nvSpPr>
          <p:spPr>
            <a:xfrm>
              <a:off x="7262812" y="6351032"/>
              <a:ext cx="871093"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风险识别与适当性管理</a:t>
              </a:r>
            </a:p>
          </p:txBody>
        </p:sp>
        <p:sp>
          <p:nvSpPr>
            <p:cNvPr id="275" name="Rectangle 275"/>
            <p:cNvSpPr/>
            <p:nvPr/>
          </p:nvSpPr>
          <p:spPr>
            <a:xfrm>
              <a:off x="9220200" y="5467350"/>
              <a:ext cx="2495550" cy="1143000"/>
            </a:xfrm>
            <a:prstGeom prst="roundRect">
              <a:avLst>
                <a:gd name="adj" fmla="val 6667"/>
              </a:avLst>
            </a:prstGeom>
            <a:solidFill>
              <a:srgbClr val="FFFFFF"/>
            </a:solidFill>
            <a:ln w="9525">
              <a:solidFill>
                <a:srgbClr val="E8E4E0"/>
              </a:solidFill>
            </a:ln>
          </p:spPr>
        </p:sp>
        <p:sp>
          <p:nvSpPr>
            <p:cNvPr id="276" name="Ellipse 276"/>
            <p:cNvSpPr/>
            <p:nvPr/>
          </p:nvSpPr>
          <p:spPr>
            <a:xfrm>
              <a:off x="9363075" y="5572125"/>
              <a:ext cx="361950" cy="361950"/>
            </a:xfrm>
            <a:prstGeom prst="ellipse">
              <a:avLst/>
            </a:prstGeom>
            <a:solidFill>
              <a:srgbClr val="FBEFEF"/>
            </a:solidFill>
            <a:ln>
              <a:noFill/>
            </a:ln>
          </p:spPr>
        </p:sp>
        <p:grpSp>
          <p:nvGrpSpPr>
            <p:cNvPr id="281" name="Group 281"/>
            <p:cNvGrpSpPr/>
            <p:nvPr/>
          </p:nvGrpSpPr>
          <p:grpSpPr>
            <a:xfrm>
              <a:off x="9472612" y="5697537"/>
              <a:ext cx="142875" cy="111125"/>
              <a:chOff x="9472612" y="5697537"/>
              <a:chExt cx="142875" cy="111125"/>
            </a:xfrm>
          </p:grpSpPr>
          <p:sp>
            <p:nvSpPr>
              <p:cNvPr id="277" name="Freeform 277"/>
              <p:cNvSpPr/>
              <p:nvPr/>
            </p:nvSpPr>
            <p:spPr>
              <a:xfrm>
                <a:off x="9472612" y="569753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B03A1F"/>
                </a:solidFill>
              </a:ln>
            </p:spPr>
          </p:sp>
          <p:sp>
            <p:nvSpPr>
              <p:cNvPr id="278" name="Freeform 278"/>
              <p:cNvSpPr/>
              <p:nvPr/>
            </p:nvSpPr>
            <p:spPr>
              <a:xfrm>
                <a:off x="9472612" y="5737225"/>
                <a:ext cx="142875" cy="9525"/>
              </a:xfrm>
              <a:custGeom>
                <a:avLst/>
                <a:gdLst/>
                <a:ahLst/>
                <a:cxnLst/>
                <a:rect l="l" t="t" r="r" b="b"/>
                <a:pathLst>
                  <a:path w="142875" h="9525">
                    <a:moveTo>
                      <a:pt x="0" y="0"/>
                    </a:moveTo>
                    <a:lnTo>
                      <a:pt x="142875" y="0"/>
                    </a:lnTo>
                  </a:path>
                </a:pathLst>
              </a:custGeom>
              <a:noFill/>
              <a:ln w="15875">
                <a:solidFill>
                  <a:srgbClr val="B03A1F"/>
                </a:solidFill>
              </a:ln>
            </p:spPr>
          </p:sp>
          <p:sp>
            <p:nvSpPr>
              <p:cNvPr id="279" name="Freeform 279"/>
              <p:cNvSpPr/>
              <p:nvPr/>
            </p:nvSpPr>
            <p:spPr>
              <a:xfrm>
                <a:off x="9504362" y="5776912"/>
                <a:ext cx="9525" cy="9525"/>
              </a:xfrm>
              <a:custGeom>
                <a:avLst/>
                <a:gdLst/>
                <a:ahLst/>
                <a:cxnLst/>
                <a:rect l="l" t="t" r="r" b="b"/>
                <a:pathLst>
                  <a:path w="9525" h="9525">
                    <a:moveTo>
                      <a:pt x="0" y="0"/>
                    </a:moveTo>
                    <a:lnTo>
                      <a:pt x="79" y="0"/>
                    </a:lnTo>
                  </a:path>
                </a:pathLst>
              </a:custGeom>
              <a:noFill/>
              <a:ln w="15875">
                <a:solidFill>
                  <a:srgbClr val="B03A1F"/>
                </a:solidFill>
              </a:ln>
            </p:spPr>
          </p:sp>
          <p:sp>
            <p:nvSpPr>
              <p:cNvPr id="280" name="Freeform 280"/>
              <p:cNvSpPr/>
              <p:nvPr/>
            </p:nvSpPr>
            <p:spPr>
              <a:xfrm>
                <a:off x="9536112" y="5776912"/>
                <a:ext cx="15875" cy="9525"/>
              </a:xfrm>
              <a:custGeom>
                <a:avLst/>
                <a:gdLst/>
                <a:ahLst/>
                <a:cxnLst/>
                <a:rect l="l" t="t" r="r" b="b"/>
                <a:pathLst>
                  <a:path w="15875" h="9525">
                    <a:moveTo>
                      <a:pt x="0" y="0"/>
                    </a:moveTo>
                    <a:lnTo>
                      <a:pt x="15875" y="0"/>
                    </a:lnTo>
                  </a:path>
                </a:pathLst>
              </a:custGeom>
              <a:noFill/>
              <a:ln w="15875">
                <a:solidFill>
                  <a:srgbClr val="B03A1F"/>
                </a:solidFill>
              </a:ln>
            </p:spPr>
          </p:sp>
        </p:grpSp>
        <p:sp>
          <p:nvSpPr>
            <p:cNvPr id="282" name="TextBox 282"/>
            <p:cNvSpPr txBox="1"/>
            <p:nvPr/>
          </p:nvSpPr>
          <p:spPr>
            <a:xfrm>
              <a:off x="9805988" y="5694045"/>
              <a:ext cx="736473" cy="176212"/>
            </a:xfrm>
            <a:prstGeom prst="rect">
              <a:avLst/>
            </a:prstGeom>
            <a:noFill/>
            <a:ln>
              <a:noFill/>
            </a:ln>
          </p:spPr>
          <p:txBody>
            <a:bodyPr wrap="none" lIns="0" tIns="0" rIns="0" bIns="0" anchor="t" anchorCtr="0">
              <a:spAutoFit/>
            </a:bodyPr>
            <a:lstStyle/>
            <a:p>
              <a:pPr algn="l"/>
              <a:r>
                <a:rPr lang="zh-CN" sz="900" b="1" dirty="0">
                  <a:solidFill>
                    <a:srgbClr val="B03A1F"/>
                  </a:solidFill>
                  <a:latin typeface="+mn-lt"/>
                  <a:ea typeface="+mn-ea"/>
                  <a:cs typeface="+mn-cs"/>
                </a:rPr>
                <a:t>消费金融能力</a:t>
              </a:r>
            </a:p>
          </p:txBody>
        </p:sp>
        <p:sp>
          <p:nvSpPr>
            <p:cNvPr id="283" name="Ellipse 283"/>
            <p:cNvSpPr/>
            <p:nvPr/>
          </p:nvSpPr>
          <p:spPr>
            <a:xfrm>
              <a:off x="9831705" y="5912168"/>
              <a:ext cx="34290" cy="34290"/>
            </a:xfrm>
            <a:prstGeom prst="ellipse">
              <a:avLst/>
            </a:prstGeom>
            <a:solidFill>
              <a:srgbClr val="B03A1F"/>
            </a:solidFill>
            <a:ln>
              <a:noFill/>
            </a:ln>
          </p:spPr>
        </p:sp>
        <p:sp>
          <p:nvSpPr>
            <p:cNvPr id="284" name="TextBox 284"/>
            <p:cNvSpPr txBox="1"/>
            <p:nvPr/>
          </p:nvSpPr>
          <p:spPr>
            <a:xfrm>
              <a:off x="9901238" y="5893832"/>
              <a:ext cx="957250"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消费场景洞察与产品运营</a:t>
              </a:r>
            </a:p>
          </p:txBody>
        </p:sp>
        <p:sp>
          <p:nvSpPr>
            <p:cNvPr id="285" name="Ellipse 285"/>
            <p:cNvSpPr/>
            <p:nvPr/>
          </p:nvSpPr>
          <p:spPr>
            <a:xfrm>
              <a:off x="9831705" y="6064568"/>
              <a:ext cx="34290" cy="34290"/>
            </a:xfrm>
            <a:prstGeom prst="ellipse">
              <a:avLst/>
            </a:prstGeom>
            <a:solidFill>
              <a:srgbClr val="B03A1F"/>
            </a:solidFill>
            <a:ln>
              <a:noFill/>
            </a:ln>
          </p:spPr>
        </p:sp>
        <p:sp>
          <p:nvSpPr>
            <p:cNvPr id="286" name="TextBox 286"/>
            <p:cNvSpPr txBox="1"/>
            <p:nvPr/>
          </p:nvSpPr>
          <p:spPr>
            <a:xfrm>
              <a:off x="9901238" y="6046232"/>
              <a:ext cx="784936"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风控建模与信用管理</a:t>
              </a:r>
            </a:p>
          </p:txBody>
        </p:sp>
        <p:sp>
          <p:nvSpPr>
            <p:cNvPr id="287" name="Ellipse 287"/>
            <p:cNvSpPr/>
            <p:nvPr/>
          </p:nvSpPr>
          <p:spPr>
            <a:xfrm>
              <a:off x="9831705" y="6216968"/>
              <a:ext cx="34290" cy="34290"/>
            </a:xfrm>
            <a:prstGeom prst="ellipse">
              <a:avLst/>
            </a:prstGeom>
            <a:solidFill>
              <a:srgbClr val="B03A1F"/>
            </a:solidFill>
            <a:ln>
              <a:noFill/>
            </a:ln>
          </p:spPr>
        </p:sp>
        <p:sp>
          <p:nvSpPr>
            <p:cNvPr id="288" name="TextBox 288"/>
            <p:cNvSpPr txBox="1"/>
            <p:nvPr/>
          </p:nvSpPr>
          <p:spPr>
            <a:xfrm>
              <a:off x="9901238" y="6198632"/>
              <a:ext cx="784936"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渠道合作与生态运营</a:t>
              </a:r>
            </a:p>
          </p:txBody>
        </p:sp>
        <p:sp>
          <p:nvSpPr>
            <p:cNvPr id="289" name="Ellipse 289"/>
            <p:cNvSpPr/>
            <p:nvPr/>
          </p:nvSpPr>
          <p:spPr>
            <a:xfrm>
              <a:off x="9831705" y="6369368"/>
              <a:ext cx="34290" cy="34290"/>
            </a:xfrm>
            <a:prstGeom prst="ellipse">
              <a:avLst/>
            </a:prstGeom>
            <a:solidFill>
              <a:srgbClr val="B03A1F"/>
            </a:solidFill>
            <a:ln>
              <a:noFill/>
            </a:ln>
          </p:spPr>
        </p:sp>
        <p:sp>
          <p:nvSpPr>
            <p:cNvPr id="290" name="TextBox 290"/>
            <p:cNvSpPr txBox="1"/>
            <p:nvPr/>
          </p:nvSpPr>
          <p:spPr>
            <a:xfrm>
              <a:off x="9901238" y="6351032"/>
              <a:ext cx="871093" cy="126206"/>
            </a:xfrm>
            <a:prstGeom prst="rect">
              <a:avLst/>
            </a:prstGeom>
            <a:noFill/>
            <a:ln>
              <a:noFill/>
            </a:ln>
          </p:spPr>
          <p:txBody>
            <a:bodyPr wrap="none" lIns="0" tIns="0" rIns="0" bIns="0" anchor="t" anchorCtr="0">
              <a:spAutoFit/>
            </a:bodyPr>
            <a:lstStyle/>
            <a:p>
              <a:pPr algn="l"/>
              <a:r>
                <a:rPr lang="zh-CN" sz="640" dirty="0">
                  <a:solidFill>
                    <a:srgbClr val="3A3A3A"/>
                  </a:solidFill>
                  <a:latin typeface="+mn-lt"/>
                  <a:ea typeface="+mn-ea"/>
                  <a:cs typeface="+mn-cs"/>
                </a:rPr>
                <a:t>客户生命周期价值提升</a:t>
              </a:r>
            </a:p>
          </p:txBody>
        </p:sp>
      </p:gr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15</a:t>
              </a:r>
            </a:p>
          </p:txBody>
        </p:sp>
        <p:sp>
          <p:nvSpPr>
            <p:cNvPr id="4" name="TextBox 4"/>
            <p:cNvSpPr txBox="1"/>
            <p:nvPr/>
          </p:nvSpPr>
          <p:spPr>
            <a:xfrm>
              <a:off x="942594" y="151448"/>
              <a:ext cx="667664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风险合规防火墙：覆盖获客、销售、授信与贷后全流程</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sp>
        <p:nvSpPr>
          <p:cNvPr id="7" name="panel-frame"/>
          <p:cNvSpPr/>
          <p:nvPr/>
        </p:nvSpPr>
        <p:spPr>
          <a:xfrm>
            <a:off x="190500" y="742950"/>
            <a:ext cx="8905875" cy="5905500"/>
          </a:xfrm>
          <a:prstGeom prst="roundRect">
            <a:avLst>
              <a:gd name="adj" fmla="val 1290"/>
            </a:avLst>
          </a:prstGeom>
          <a:solidFill>
            <a:srgbClr val="FFFFFF"/>
          </a:solidFill>
          <a:ln w="14288">
            <a:solidFill>
              <a:srgbClr val="E5E0DC"/>
            </a:solidFill>
          </a:ln>
        </p:spPr>
      </p:sp>
      <p:grpSp>
        <p:nvGrpSpPr>
          <p:cNvPr id="122" name="flow-lifecycle"/>
          <p:cNvGrpSpPr/>
          <p:nvPr/>
        </p:nvGrpSpPr>
        <p:grpSpPr>
          <a:xfrm>
            <a:off x="732752" y="876300"/>
            <a:ext cx="7821371" cy="2466976"/>
            <a:chOff x="732752" y="876300"/>
            <a:chExt cx="7821371" cy="2466976"/>
          </a:xfrm>
        </p:grpSpPr>
        <p:sp>
          <p:nvSpPr>
            <p:cNvPr id="8" name="Freeform 8"/>
            <p:cNvSpPr/>
            <p:nvPr/>
          </p:nvSpPr>
          <p:spPr>
            <a:xfrm>
              <a:off x="3400425" y="876300"/>
              <a:ext cx="2476500" cy="304800"/>
            </a:xfrm>
            <a:prstGeom prst="homePlate">
              <a:avLst/>
            </a:prstGeom>
            <a:solidFill>
              <a:srgbClr val="B03A1F"/>
            </a:solidFill>
            <a:ln>
              <a:noFill/>
            </a:ln>
          </p:spPr>
        </p:sp>
        <p:sp>
          <p:nvSpPr>
            <p:cNvPr id="9" name="TextBox 9"/>
            <p:cNvSpPr txBox="1"/>
            <p:nvPr/>
          </p:nvSpPr>
          <p:spPr>
            <a:xfrm>
              <a:off x="3779710" y="962978"/>
              <a:ext cx="156552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全流程风险防控生命周期</a:t>
              </a:r>
            </a:p>
          </p:txBody>
        </p:sp>
        <p:grpSp>
          <p:nvGrpSpPr>
            <p:cNvPr id="24" name="flow-node-1"/>
            <p:cNvGrpSpPr/>
            <p:nvPr/>
          </p:nvGrpSpPr>
          <p:grpSpPr>
            <a:xfrm>
              <a:off x="732752" y="1346597"/>
              <a:ext cx="515696" cy="1996679"/>
              <a:chOff x="732752" y="1346597"/>
              <a:chExt cx="515696" cy="1996679"/>
            </a:xfrm>
          </p:grpSpPr>
          <p:sp>
            <p:nvSpPr>
              <p:cNvPr id="10" name="TextBox 10"/>
              <p:cNvSpPr txBox="1"/>
              <p:nvPr/>
            </p:nvSpPr>
            <p:spPr>
              <a:xfrm>
                <a:off x="732752" y="1346597"/>
                <a:ext cx="515696"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客户准入</a:t>
                </a:r>
              </a:p>
            </p:txBody>
          </p:sp>
          <p:sp>
            <p:nvSpPr>
              <p:cNvPr id="11" name="Ellipse 11"/>
              <p:cNvSpPr/>
              <p:nvPr/>
            </p:nvSpPr>
            <p:spPr>
              <a:xfrm>
                <a:off x="742950" y="1704975"/>
                <a:ext cx="495300" cy="495300"/>
              </a:xfrm>
              <a:prstGeom prst="ellipse">
                <a:avLst/>
              </a:prstGeom>
              <a:solidFill>
                <a:srgbClr val="B03A1F"/>
              </a:solidFill>
              <a:ln>
                <a:noFill/>
              </a:ln>
            </p:spPr>
          </p:sp>
          <p:grpSp>
            <p:nvGrpSpPr>
              <p:cNvPr id="15" name="Group 15"/>
              <p:cNvGrpSpPr/>
              <p:nvPr/>
            </p:nvGrpSpPr>
            <p:grpSpPr>
              <a:xfrm>
                <a:off x="928687" y="1859756"/>
                <a:ext cx="154781" cy="185737"/>
                <a:chOff x="928687" y="1859756"/>
                <a:chExt cx="154781" cy="185737"/>
              </a:xfrm>
            </p:grpSpPr>
            <p:sp>
              <p:nvSpPr>
                <p:cNvPr id="12" name="Freeform 12"/>
                <p:cNvSpPr/>
                <p:nvPr/>
              </p:nvSpPr>
              <p:spPr>
                <a:xfrm>
                  <a:off x="949325" y="18597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13" name="Freeform 13"/>
                <p:cNvSpPr/>
                <p:nvPr/>
              </p:nvSpPr>
              <p:spPr>
                <a:xfrm>
                  <a:off x="928687" y="1983581"/>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FFFFFF"/>
                  </a:solidFill>
                </a:ln>
              </p:spPr>
            </p:sp>
            <p:sp>
              <p:nvSpPr>
                <p:cNvPr id="14" name="Freeform 14"/>
                <p:cNvSpPr/>
                <p:nvPr/>
              </p:nvSpPr>
              <p:spPr>
                <a:xfrm>
                  <a:off x="1021556" y="2004218"/>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16" name="Ellipse 16"/>
              <p:cNvSpPr/>
              <p:nvPr/>
            </p:nvSpPr>
            <p:spPr>
              <a:xfrm>
                <a:off x="847725" y="2447925"/>
                <a:ext cx="285750" cy="285750"/>
              </a:xfrm>
              <a:prstGeom prst="ellipse">
                <a:avLst/>
              </a:prstGeom>
              <a:solidFill>
                <a:srgbClr val="FFFFFF"/>
              </a:solidFill>
              <a:ln w="14288">
                <a:solidFill>
                  <a:srgbClr val="B03A1F"/>
                </a:solidFill>
              </a:ln>
            </p:spPr>
          </p:sp>
          <p:grpSp>
            <p:nvGrpSpPr>
              <p:cNvPr id="20" name="Group 20"/>
              <p:cNvGrpSpPr/>
              <p:nvPr/>
            </p:nvGrpSpPr>
            <p:grpSpPr>
              <a:xfrm>
                <a:off x="946150" y="2533650"/>
                <a:ext cx="88900" cy="114300"/>
                <a:chOff x="946150" y="2533650"/>
                <a:chExt cx="88900" cy="114300"/>
              </a:xfrm>
            </p:grpSpPr>
            <p:sp>
              <p:nvSpPr>
                <p:cNvPr id="17" name="Freeform 17"/>
                <p:cNvSpPr/>
                <p:nvPr/>
              </p:nvSpPr>
              <p:spPr>
                <a:xfrm>
                  <a:off x="946150" y="25844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B03A1F"/>
                  </a:solidFill>
                </a:ln>
              </p:spPr>
            </p:sp>
            <p:sp>
              <p:nvSpPr>
                <p:cNvPr id="18" name="Freeform 18"/>
                <p:cNvSpPr/>
                <p:nvPr/>
              </p:nvSpPr>
              <p:spPr>
                <a:xfrm>
                  <a:off x="984250" y="26098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03A1F"/>
                  </a:solidFill>
                </a:ln>
              </p:spPr>
            </p:sp>
            <p:sp>
              <p:nvSpPr>
                <p:cNvPr id="19" name="Freeform 19"/>
                <p:cNvSpPr/>
                <p:nvPr/>
              </p:nvSpPr>
              <p:spPr>
                <a:xfrm>
                  <a:off x="965200" y="25336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B03A1F"/>
                  </a:solidFill>
                </a:ln>
              </p:spPr>
            </p:sp>
          </p:grpSp>
          <p:sp>
            <p:nvSpPr>
              <p:cNvPr id="21" name="TextBox 21"/>
              <p:cNvSpPr txBox="1"/>
              <p:nvPr/>
            </p:nvSpPr>
            <p:spPr>
              <a:xfrm>
                <a:off x="773138" y="2810589"/>
                <a:ext cx="43492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风控关口</a:t>
                </a:r>
              </a:p>
            </p:txBody>
          </p:sp>
          <p:sp>
            <p:nvSpPr>
              <p:cNvPr id="22" name="TextBox 22"/>
              <p:cNvSpPr txBox="1"/>
              <p:nvPr/>
            </p:nvSpPr>
            <p:spPr>
              <a:xfrm>
                <a:off x="783908" y="30241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身份核验</a:t>
                </a:r>
              </a:p>
            </p:txBody>
          </p:sp>
          <p:sp>
            <p:nvSpPr>
              <p:cNvPr id="23" name="TextBox 23"/>
              <p:cNvSpPr txBox="1"/>
              <p:nvPr/>
            </p:nvSpPr>
            <p:spPr>
              <a:xfrm>
                <a:off x="783908" y="31956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准入校验</a:t>
                </a:r>
              </a:p>
            </p:txBody>
          </p:sp>
        </p:grpSp>
        <p:grpSp>
          <p:nvGrpSpPr>
            <p:cNvPr id="36" name="flow-node-2"/>
            <p:cNvGrpSpPr/>
            <p:nvPr/>
          </p:nvGrpSpPr>
          <p:grpSpPr>
            <a:xfrm>
              <a:off x="1951952" y="1346597"/>
              <a:ext cx="515696" cy="1996679"/>
              <a:chOff x="1951952" y="1346597"/>
              <a:chExt cx="515696" cy="1996679"/>
            </a:xfrm>
          </p:grpSpPr>
          <p:sp>
            <p:nvSpPr>
              <p:cNvPr id="25" name="TextBox 25"/>
              <p:cNvSpPr txBox="1"/>
              <p:nvPr/>
            </p:nvSpPr>
            <p:spPr>
              <a:xfrm>
                <a:off x="1951952" y="1346597"/>
                <a:ext cx="515696"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营销触达</a:t>
                </a:r>
              </a:p>
            </p:txBody>
          </p:sp>
          <p:sp>
            <p:nvSpPr>
              <p:cNvPr id="26" name="Ellipse 26"/>
              <p:cNvSpPr/>
              <p:nvPr/>
            </p:nvSpPr>
            <p:spPr>
              <a:xfrm>
                <a:off x="1962150" y="1704975"/>
                <a:ext cx="495300" cy="495300"/>
              </a:xfrm>
              <a:prstGeom prst="ellipse">
                <a:avLst/>
              </a:prstGeom>
              <a:solidFill>
                <a:srgbClr val="B03A1F"/>
              </a:solidFill>
              <a:ln>
                <a:noFill/>
              </a:ln>
            </p:spPr>
          </p:sp>
          <p:sp>
            <p:nvSpPr>
              <p:cNvPr id="27" name="Freeform 27"/>
              <p:cNvSpPr/>
              <p:nvPr/>
            </p:nvSpPr>
            <p:spPr>
              <a:xfrm>
                <a:off x="2106365" y="1862078"/>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FFFFFF"/>
                </a:solidFill>
              </a:ln>
            </p:spPr>
          </p:sp>
          <p:sp>
            <p:nvSpPr>
              <p:cNvPr id="28" name="Ellipse 28"/>
              <p:cNvSpPr/>
              <p:nvPr/>
            </p:nvSpPr>
            <p:spPr>
              <a:xfrm>
                <a:off x="2066925" y="2447925"/>
                <a:ext cx="285750" cy="285750"/>
              </a:xfrm>
              <a:prstGeom prst="ellipse">
                <a:avLst/>
              </a:prstGeom>
              <a:solidFill>
                <a:srgbClr val="FFFFFF"/>
              </a:solidFill>
              <a:ln w="14288">
                <a:solidFill>
                  <a:srgbClr val="B03A1F"/>
                </a:solidFill>
              </a:ln>
            </p:spPr>
          </p:sp>
          <p:grpSp>
            <p:nvGrpSpPr>
              <p:cNvPr id="32" name="Group 32"/>
              <p:cNvGrpSpPr/>
              <p:nvPr/>
            </p:nvGrpSpPr>
            <p:grpSpPr>
              <a:xfrm>
                <a:off x="2165350" y="2533650"/>
                <a:ext cx="88900" cy="114300"/>
                <a:chOff x="2165350" y="2533650"/>
                <a:chExt cx="88900" cy="114300"/>
              </a:xfrm>
            </p:grpSpPr>
            <p:sp>
              <p:nvSpPr>
                <p:cNvPr id="29" name="Freeform 29"/>
                <p:cNvSpPr/>
                <p:nvPr/>
              </p:nvSpPr>
              <p:spPr>
                <a:xfrm>
                  <a:off x="2165350" y="25844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B03A1F"/>
                  </a:solidFill>
                </a:ln>
              </p:spPr>
            </p:sp>
            <p:sp>
              <p:nvSpPr>
                <p:cNvPr id="30" name="Freeform 30"/>
                <p:cNvSpPr/>
                <p:nvPr/>
              </p:nvSpPr>
              <p:spPr>
                <a:xfrm>
                  <a:off x="2203450" y="26098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03A1F"/>
                  </a:solidFill>
                </a:ln>
              </p:spPr>
            </p:sp>
            <p:sp>
              <p:nvSpPr>
                <p:cNvPr id="31" name="Freeform 31"/>
                <p:cNvSpPr/>
                <p:nvPr/>
              </p:nvSpPr>
              <p:spPr>
                <a:xfrm>
                  <a:off x="2184400" y="25336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B03A1F"/>
                  </a:solidFill>
                </a:ln>
              </p:spPr>
            </p:sp>
          </p:grpSp>
          <p:sp>
            <p:nvSpPr>
              <p:cNvPr id="33" name="TextBox 33"/>
              <p:cNvSpPr txBox="1"/>
              <p:nvPr/>
            </p:nvSpPr>
            <p:spPr>
              <a:xfrm>
                <a:off x="1992338" y="2810589"/>
                <a:ext cx="43492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风控关口</a:t>
                </a:r>
              </a:p>
            </p:txBody>
          </p:sp>
          <p:sp>
            <p:nvSpPr>
              <p:cNvPr id="34" name="TextBox 34"/>
              <p:cNvSpPr txBox="1"/>
              <p:nvPr/>
            </p:nvSpPr>
            <p:spPr>
              <a:xfrm>
                <a:off x="2003108" y="30241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客群筛选</a:t>
                </a:r>
              </a:p>
            </p:txBody>
          </p:sp>
          <p:sp>
            <p:nvSpPr>
              <p:cNvPr id="35" name="TextBox 35"/>
              <p:cNvSpPr txBox="1"/>
              <p:nvPr/>
            </p:nvSpPr>
            <p:spPr>
              <a:xfrm>
                <a:off x="2003108" y="31956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渠道合规</a:t>
                </a:r>
              </a:p>
            </p:txBody>
          </p:sp>
        </p:grpSp>
        <p:grpSp>
          <p:nvGrpSpPr>
            <p:cNvPr id="52" name="flow-node-3"/>
            <p:cNvGrpSpPr/>
            <p:nvPr/>
          </p:nvGrpSpPr>
          <p:grpSpPr>
            <a:xfrm>
              <a:off x="3171152" y="1346597"/>
              <a:ext cx="515696" cy="1996679"/>
              <a:chOff x="3171152" y="1346597"/>
              <a:chExt cx="515696" cy="1996679"/>
            </a:xfrm>
          </p:grpSpPr>
          <p:sp>
            <p:nvSpPr>
              <p:cNvPr id="37" name="TextBox 37"/>
              <p:cNvSpPr txBox="1"/>
              <p:nvPr/>
            </p:nvSpPr>
            <p:spPr>
              <a:xfrm>
                <a:off x="3171152" y="1346597"/>
                <a:ext cx="515696"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产品销售</a:t>
                </a:r>
              </a:p>
            </p:txBody>
          </p:sp>
          <p:sp>
            <p:nvSpPr>
              <p:cNvPr id="38" name="Ellipse 38"/>
              <p:cNvSpPr/>
              <p:nvPr/>
            </p:nvSpPr>
            <p:spPr>
              <a:xfrm>
                <a:off x="3181350" y="1704975"/>
                <a:ext cx="495300" cy="495300"/>
              </a:xfrm>
              <a:prstGeom prst="ellipse">
                <a:avLst/>
              </a:prstGeom>
              <a:solidFill>
                <a:srgbClr val="B03A1F"/>
              </a:solidFill>
              <a:ln>
                <a:noFill/>
              </a:ln>
            </p:spPr>
          </p:sp>
          <p:grpSp>
            <p:nvGrpSpPr>
              <p:cNvPr id="43" name="Group 43"/>
              <p:cNvGrpSpPr/>
              <p:nvPr/>
            </p:nvGrpSpPr>
            <p:grpSpPr>
              <a:xfrm>
                <a:off x="3346450" y="1859756"/>
                <a:ext cx="165099" cy="185737"/>
                <a:chOff x="3346450" y="1859756"/>
                <a:chExt cx="165099" cy="185737"/>
              </a:xfrm>
            </p:grpSpPr>
            <p:sp>
              <p:nvSpPr>
                <p:cNvPr id="39" name="Freeform 39"/>
                <p:cNvSpPr/>
                <p:nvPr/>
              </p:nvSpPr>
              <p:spPr>
                <a:xfrm>
                  <a:off x="3346450" y="2004218"/>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40" name="Freeform 40"/>
                <p:cNvSpPr/>
                <p:nvPr/>
              </p:nvSpPr>
              <p:spPr>
                <a:xfrm>
                  <a:off x="3459956" y="2004218"/>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41" name="Freeform 41"/>
                <p:cNvSpPr/>
                <p:nvPr/>
              </p:nvSpPr>
              <p:spPr>
                <a:xfrm>
                  <a:off x="3346450" y="1859756"/>
                  <a:ext cx="134143" cy="144462"/>
                </a:xfrm>
                <a:custGeom>
                  <a:avLst/>
                  <a:gdLst/>
                  <a:ahLst/>
                  <a:cxnLst/>
                  <a:rect l="l" t="t" r="r" b="b"/>
                  <a:pathLst>
                    <a:path w="134143" h="144462">
                      <a:moveTo>
                        <a:pt x="134143" y="144462"/>
                      </a:moveTo>
                      <a:lnTo>
                        <a:pt x="20637" y="144462"/>
                      </a:lnTo>
                      <a:lnTo>
                        <a:pt x="20637" y="0"/>
                      </a:lnTo>
                      <a:lnTo>
                        <a:pt x="0" y="0"/>
                      </a:lnTo>
                    </a:path>
                  </a:pathLst>
                </a:custGeom>
                <a:noFill/>
                <a:ln w="20637">
                  <a:solidFill>
                    <a:srgbClr val="FFFFFF"/>
                  </a:solidFill>
                </a:ln>
              </p:spPr>
            </p:sp>
            <p:sp>
              <p:nvSpPr>
                <p:cNvPr id="42" name="Freeform 42"/>
                <p:cNvSpPr/>
                <p:nvPr/>
              </p:nvSpPr>
              <p:spPr>
                <a:xfrm>
                  <a:off x="3367087" y="1880394"/>
                  <a:ext cx="144462" cy="82550"/>
                </a:xfrm>
                <a:custGeom>
                  <a:avLst/>
                  <a:gdLst/>
                  <a:ahLst/>
                  <a:cxnLst/>
                  <a:rect l="l" t="t" r="r" b="b"/>
                  <a:pathLst>
                    <a:path w="144462" h="82550">
                      <a:moveTo>
                        <a:pt x="0" y="0"/>
                      </a:moveTo>
                      <a:lnTo>
                        <a:pt x="144462" y="10319"/>
                      </a:lnTo>
                      <a:lnTo>
                        <a:pt x="134143" y="82550"/>
                      </a:lnTo>
                      <a:lnTo>
                        <a:pt x="0" y="82550"/>
                      </a:lnTo>
                    </a:path>
                  </a:pathLst>
                </a:custGeom>
                <a:noFill/>
                <a:ln w="20637">
                  <a:solidFill>
                    <a:srgbClr val="FFFFFF"/>
                  </a:solidFill>
                </a:ln>
              </p:spPr>
            </p:sp>
          </p:grpSp>
          <p:sp>
            <p:nvSpPr>
              <p:cNvPr id="44" name="Ellipse 44"/>
              <p:cNvSpPr/>
              <p:nvPr/>
            </p:nvSpPr>
            <p:spPr>
              <a:xfrm>
                <a:off x="3286125" y="2447925"/>
                <a:ext cx="285750" cy="285750"/>
              </a:xfrm>
              <a:prstGeom prst="ellipse">
                <a:avLst/>
              </a:prstGeom>
              <a:solidFill>
                <a:srgbClr val="FFFFFF"/>
              </a:solidFill>
              <a:ln w="14288">
                <a:solidFill>
                  <a:srgbClr val="B03A1F"/>
                </a:solidFill>
              </a:ln>
            </p:spPr>
          </p:sp>
          <p:grpSp>
            <p:nvGrpSpPr>
              <p:cNvPr id="48" name="Group 48"/>
              <p:cNvGrpSpPr/>
              <p:nvPr/>
            </p:nvGrpSpPr>
            <p:grpSpPr>
              <a:xfrm>
                <a:off x="3384550" y="2533650"/>
                <a:ext cx="88900" cy="114300"/>
                <a:chOff x="3384550" y="2533650"/>
                <a:chExt cx="88900" cy="114300"/>
              </a:xfrm>
            </p:grpSpPr>
            <p:sp>
              <p:nvSpPr>
                <p:cNvPr id="45" name="Freeform 45"/>
                <p:cNvSpPr/>
                <p:nvPr/>
              </p:nvSpPr>
              <p:spPr>
                <a:xfrm>
                  <a:off x="3384550" y="25844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B03A1F"/>
                  </a:solidFill>
                </a:ln>
              </p:spPr>
            </p:sp>
            <p:sp>
              <p:nvSpPr>
                <p:cNvPr id="46" name="Freeform 46"/>
                <p:cNvSpPr/>
                <p:nvPr/>
              </p:nvSpPr>
              <p:spPr>
                <a:xfrm>
                  <a:off x="3422650" y="26098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03A1F"/>
                  </a:solidFill>
                </a:ln>
              </p:spPr>
            </p:sp>
            <p:sp>
              <p:nvSpPr>
                <p:cNvPr id="47" name="Freeform 47"/>
                <p:cNvSpPr/>
                <p:nvPr/>
              </p:nvSpPr>
              <p:spPr>
                <a:xfrm>
                  <a:off x="3403600" y="25336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B03A1F"/>
                  </a:solidFill>
                </a:ln>
              </p:spPr>
            </p:sp>
          </p:grpSp>
          <p:sp>
            <p:nvSpPr>
              <p:cNvPr id="49" name="TextBox 49"/>
              <p:cNvSpPr txBox="1"/>
              <p:nvPr/>
            </p:nvSpPr>
            <p:spPr>
              <a:xfrm>
                <a:off x="3211538" y="2810589"/>
                <a:ext cx="43492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风控关口</a:t>
                </a:r>
              </a:p>
            </p:txBody>
          </p:sp>
          <p:sp>
            <p:nvSpPr>
              <p:cNvPr id="50" name="TextBox 50"/>
              <p:cNvSpPr txBox="1"/>
              <p:nvPr/>
            </p:nvSpPr>
            <p:spPr>
              <a:xfrm>
                <a:off x="3222308" y="30241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销售合规</a:t>
                </a:r>
              </a:p>
            </p:txBody>
          </p:sp>
          <p:sp>
            <p:nvSpPr>
              <p:cNvPr id="51" name="TextBox 51"/>
              <p:cNvSpPr txBox="1"/>
              <p:nvPr/>
            </p:nvSpPr>
            <p:spPr>
              <a:xfrm>
                <a:off x="3222308" y="31956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信息披露</a:t>
                </a:r>
              </a:p>
            </p:txBody>
          </p:sp>
        </p:grpSp>
        <p:grpSp>
          <p:nvGrpSpPr>
            <p:cNvPr id="69" name="flow-node-4"/>
            <p:cNvGrpSpPr/>
            <p:nvPr/>
          </p:nvGrpSpPr>
          <p:grpSpPr>
            <a:xfrm>
              <a:off x="4380827" y="1346597"/>
              <a:ext cx="515696" cy="1996679"/>
              <a:chOff x="4380827" y="1346597"/>
              <a:chExt cx="515696" cy="1996679"/>
            </a:xfrm>
          </p:grpSpPr>
          <p:sp>
            <p:nvSpPr>
              <p:cNvPr id="53" name="TextBox 53"/>
              <p:cNvSpPr txBox="1"/>
              <p:nvPr/>
            </p:nvSpPr>
            <p:spPr>
              <a:xfrm>
                <a:off x="4380827" y="1346597"/>
                <a:ext cx="515696"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信贷审批</a:t>
                </a:r>
              </a:p>
            </p:txBody>
          </p:sp>
          <p:sp>
            <p:nvSpPr>
              <p:cNvPr id="54" name="Ellipse 54"/>
              <p:cNvSpPr/>
              <p:nvPr/>
            </p:nvSpPr>
            <p:spPr>
              <a:xfrm>
                <a:off x="4391025" y="1704975"/>
                <a:ext cx="495300" cy="495300"/>
              </a:xfrm>
              <a:prstGeom prst="ellipse">
                <a:avLst/>
              </a:prstGeom>
              <a:solidFill>
                <a:srgbClr val="B03A1F"/>
              </a:solidFill>
              <a:ln>
                <a:noFill/>
              </a:ln>
            </p:spPr>
          </p:sp>
          <p:grpSp>
            <p:nvGrpSpPr>
              <p:cNvPr id="60" name="Group 60"/>
              <p:cNvGrpSpPr/>
              <p:nvPr/>
            </p:nvGrpSpPr>
            <p:grpSpPr>
              <a:xfrm>
                <a:off x="4566444" y="1859756"/>
                <a:ext cx="144462" cy="185737"/>
                <a:chOff x="4566444" y="1859756"/>
                <a:chExt cx="144462" cy="185737"/>
              </a:xfrm>
            </p:grpSpPr>
            <p:sp>
              <p:nvSpPr>
                <p:cNvPr id="55" name="Freeform 55"/>
                <p:cNvSpPr/>
                <p:nvPr/>
              </p:nvSpPr>
              <p:spPr>
                <a:xfrm>
                  <a:off x="4659312" y="185975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FFFFFF"/>
                  </a:solidFill>
                </a:ln>
              </p:spPr>
            </p:sp>
            <p:sp>
              <p:nvSpPr>
                <p:cNvPr id="56" name="Freeform 56"/>
                <p:cNvSpPr/>
                <p:nvPr/>
              </p:nvSpPr>
              <p:spPr>
                <a:xfrm>
                  <a:off x="4566444" y="1859756"/>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FFFFFF"/>
                  </a:solidFill>
                </a:ln>
              </p:spPr>
            </p:sp>
            <p:sp>
              <p:nvSpPr>
                <p:cNvPr id="57" name="Freeform 57"/>
                <p:cNvSpPr/>
                <p:nvPr/>
              </p:nvSpPr>
              <p:spPr>
                <a:xfrm>
                  <a:off x="4607718" y="1921668"/>
                  <a:ext cx="10319" cy="9525"/>
                </a:xfrm>
                <a:custGeom>
                  <a:avLst/>
                  <a:gdLst/>
                  <a:ahLst/>
                  <a:cxnLst/>
                  <a:rect l="l" t="t" r="r" b="b"/>
                  <a:pathLst>
                    <a:path w="10319" h="9525">
                      <a:moveTo>
                        <a:pt x="0" y="0"/>
                      </a:moveTo>
                      <a:lnTo>
                        <a:pt x="10319" y="0"/>
                      </a:lnTo>
                    </a:path>
                  </a:pathLst>
                </a:custGeom>
                <a:noFill/>
                <a:ln w="20637">
                  <a:solidFill>
                    <a:srgbClr val="FFFFFF"/>
                  </a:solidFill>
                </a:ln>
              </p:spPr>
            </p:sp>
            <p:sp>
              <p:nvSpPr>
                <p:cNvPr id="58" name="Freeform 58"/>
                <p:cNvSpPr/>
                <p:nvPr/>
              </p:nvSpPr>
              <p:spPr>
                <a:xfrm>
                  <a:off x="4607718" y="1962943"/>
                  <a:ext cx="61912" cy="9525"/>
                </a:xfrm>
                <a:custGeom>
                  <a:avLst/>
                  <a:gdLst/>
                  <a:ahLst/>
                  <a:cxnLst/>
                  <a:rect l="l" t="t" r="r" b="b"/>
                  <a:pathLst>
                    <a:path w="61912" h="9525">
                      <a:moveTo>
                        <a:pt x="0" y="0"/>
                      </a:moveTo>
                      <a:lnTo>
                        <a:pt x="61912" y="0"/>
                      </a:lnTo>
                    </a:path>
                  </a:pathLst>
                </a:custGeom>
                <a:noFill/>
                <a:ln w="20637">
                  <a:solidFill>
                    <a:srgbClr val="FFFFFF"/>
                  </a:solidFill>
                </a:ln>
              </p:spPr>
            </p:sp>
            <p:sp>
              <p:nvSpPr>
                <p:cNvPr id="59" name="Freeform 59"/>
                <p:cNvSpPr/>
                <p:nvPr/>
              </p:nvSpPr>
              <p:spPr>
                <a:xfrm>
                  <a:off x="4607718" y="2004218"/>
                  <a:ext cx="61912" cy="9525"/>
                </a:xfrm>
                <a:custGeom>
                  <a:avLst/>
                  <a:gdLst/>
                  <a:ahLst/>
                  <a:cxnLst/>
                  <a:rect l="l" t="t" r="r" b="b"/>
                  <a:pathLst>
                    <a:path w="61912" h="9525">
                      <a:moveTo>
                        <a:pt x="0" y="0"/>
                      </a:moveTo>
                      <a:lnTo>
                        <a:pt x="61912" y="0"/>
                      </a:lnTo>
                    </a:path>
                  </a:pathLst>
                </a:custGeom>
                <a:noFill/>
                <a:ln w="20637">
                  <a:solidFill>
                    <a:srgbClr val="FFFFFF"/>
                  </a:solidFill>
                </a:ln>
              </p:spPr>
            </p:sp>
          </p:grpSp>
          <p:sp>
            <p:nvSpPr>
              <p:cNvPr id="61" name="Ellipse 61"/>
              <p:cNvSpPr/>
              <p:nvPr/>
            </p:nvSpPr>
            <p:spPr>
              <a:xfrm>
                <a:off x="4495800" y="2447925"/>
                <a:ext cx="285750" cy="285750"/>
              </a:xfrm>
              <a:prstGeom prst="ellipse">
                <a:avLst/>
              </a:prstGeom>
              <a:solidFill>
                <a:srgbClr val="FFFFFF"/>
              </a:solidFill>
              <a:ln w="14288">
                <a:solidFill>
                  <a:srgbClr val="B03A1F"/>
                </a:solidFill>
              </a:ln>
            </p:spPr>
          </p:sp>
          <p:grpSp>
            <p:nvGrpSpPr>
              <p:cNvPr id="65" name="Group 65"/>
              <p:cNvGrpSpPr/>
              <p:nvPr/>
            </p:nvGrpSpPr>
            <p:grpSpPr>
              <a:xfrm>
                <a:off x="4594225" y="2533650"/>
                <a:ext cx="88900" cy="114300"/>
                <a:chOff x="4594225" y="2533650"/>
                <a:chExt cx="88900" cy="114300"/>
              </a:xfrm>
            </p:grpSpPr>
            <p:sp>
              <p:nvSpPr>
                <p:cNvPr id="62" name="Freeform 62"/>
                <p:cNvSpPr/>
                <p:nvPr/>
              </p:nvSpPr>
              <p:spPr>
                <a:xfrm>
                  <a:off x="4594225" y="25844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B03A1F"/>
                  </a:solidFill>
                </a:ln>
              </p:spPr>
            </p:sp>
            <p:sp>
              <p:nvSpPr>
                <p:cNvPr id="63" name="Freeform 63"/>
                <p:cNvSpPr/>
                <p:nvPr/>
              </p:nvSpPr>
              <p:spPr>
                <a:xfrm>
                  <a:off x="4632325" y="26098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03A1F"/>
                  </a:solidFill>
                </a:ln>
              </p:spPr>
            </p:sp>
            <p:sp>
              <p:nvSpPr>
                <p:cNvPr id="64" name="Freeform 64"/>
                <p:cNvSpPr/>
                <p:nvPr/>
              </p:nvSpPr>
              <p:spPr>
                <a:xfrm>
                  <a:off x="4613275" y="25336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B03A1F"/>
                  </a:solidFill>
                </a:ln>
              </p:spPr>
            </p:sp>
          </p:grpSp>
          <p:sp>
            <p:nvSpPr>
              <p:cNvPr id="66" name="TextBox 66"/>
              <p:cNvSpPr txBox="1"/>
              <p:nvPr/>
            </p:nvSpPr>
            <p:spPr>
              <a:xfrm>
                <a:off x="4421213" y="2810589"/>
                <a:ext cx="43492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风控关口</a:t>
                </a:r>
              </a:p>
            </p:txBody>
          </p:sp>
          <p:sp>
            <p:nvSpPr>
              <p:cNvPr id="67" name="TextBox 67"/>
              <p:cNvSpPr txBox="1"/>
              <p:nvPr/>
            </p:nvSpPr>
            <p:spPr>
              <a:xfrm>
                <a:off x="4431982" y="30241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审查决策</a:t>
                </a:r>
              </a:p>
            </p:txBody>
          </p:sp>
          <p:sp>
            <p:nvSpPr>
              <p:cNvPr id="68" name="TextBox 68"/>
              <p:cNvSpPr txBox="1"/>
              <p:nvPr/>
            </p:nvSpPr>
            <p:spPr>
              <a:xfrm>
                <a:off x="4431982" y="31956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风险定价</a:t>
                </a:r>
              </a:p>
            </p:txBody>
          </p:sp>
        </p:grpSp>
        <p:grpSp>
          <p:nvGrpSpPr>
            <p:cNvPr id="83" name="flow-node-5"/>
            <p:cNvGrpSpPr/>
            <p:nvPr/>
          </p:nvGrpSpPr>
          <p:grpSpPr>
            <a:xfrm>
              <a:off x="5600027" y="1346597"/>
              <a:ext cx="515696" cy="1996679"/>
              <a:chOff x="5600027" y="1346597"/>
              <a:chExt cx="515696" cy="1996679"/>
            </a:xfrm>
          </p:grpSpPr>
          <p:sp>
            <p:nvSpPr>
              <p:cNvPr id="70" name="TextBox 70"/>
              <p:cNvSpPr txBox="1"/>
              <p:nvPr/>
            </p:nvSpPr>
            <p:spPr>
              <a:xfrm>
                <a:off x="5600027" y="1346597"/>
                <a:ext cx="515696"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资金支付</a:t>
                </a:r>
              </a:p>
            </p:txBody>
          </p:sp>
          <p:sp>
            <p:nvSpPr>
              <p:cNvPr id="71" name="Ellipse 71"/>
              <p:cNvSpPr/>
              <p:nvPr/>
            </p:nvSpPr>
            <p:spPr>
              <a:xfrm>
                <a:off x="5610225" y="1704975"/>
                <a:ext cx="495300" cy="495300"/>
              </a:xfrm>
              <a:prstGeom prst="ellipse">
                <a:avLst/>
              </a:prstGeom>
              <a:solidFill>
                <a:srgbClr val="B03A1F"/>
              </a:solidFill>
              <a:ln>
                <a:noFill/>
              </a:ln>
            </p:spPr>
          </p:sp>
          <p:grpSp>
            <p:nvGrpSpPr>
              <p:cNvPr id="74" name="Group 74"/>
              <p:cNvGrpSpPr/>
              <p:nvPr/>
            </p:nvGrpSpPr>
            <p:grpSpPr>
              <a:xfrm>
                <a:off x="5775325" y="1870075"/>
                <a:ext cx="165099" cy="165099"/>
                <a:chOff x="5775325" y="1870075"/>
                <a:chExt cx="165099" cy="165099"/>
              </a:xfrm>
            </p:grpSpPr>
            <p:sp>
              <p:nvSpPr>
                <p:cNvPr id="72" name="Freeform 72"/>
                <p:cNvSpPr/>
                <p:nvPr/>
              </p:nvSpPr>
              <p:spPr>
                <a:xfrm>
                  <a:off x="5775325" y="1870075"/>
                  <a:ext cx="154781" cy="165099"/>
                </a:xfrm>
                <a:custGeom>
                  <a:avLst/>
                  <a:gdLst/>
                  <a:ahLst/>
                  <a:cxnLst/>
                  <a:rect l="l" t="t" r="r" b="b"/>
                  <a:pathLst>
                    <a:path w="154781" h="165099">
                      <a:moveTo>
                        <a:pt x="134143" y="41275"/>
                      </a:moveTo>
                      <a:lnTo>
                        <a:pt x="134143" y="10319"/>
                      </a:lnTo>
                      <a:cubicBezTo>
                        <a:pt x="134143" y="4620"/>
                        <a:pt x="129523" y="0"/>
                        <a:pt x="123825" y="0"/>
                      </a:cubicBezTo>
                      <a:lnTo>
                        <a:pt x="20637" y="0"/>
                      </a:lnTo>
                      <a:cubicBezTo>
                        <a:pt x="9240" y="0"/>
                        <a:pt x="0" y="9240"/>
                        <a:pt x="0" y="20637"/>
                      </a:cubicBezTo>
                      <a:cubicBezTo>
                        <a:pt x="0" y="32035"/>
                        <a:pt x="9240" y="41275"/>
                        <a:pt x="20637" y="41275"/>
                      </a:cubicBezTo>
                      <a:lnTo>
                        <a:pt x="144462" y="41275"/>
                      </a:lnTo>
                      <a:cubicBezTo>
                        <a:pt x="150161" y="41275"/>
                        <a:pt x="154781" y="45895"/>
                        <a:pt x="154781" y="51594"/>
                      </a:cubicBezTo>
                      <a:lnTo>
                        <a:pt x="154781" y="82550"/>
                      </a:lnTo>
                      <a:moveTo>
                        <a:pt x="154781" y="123825"/>
                      </a:moveTo>
                      <a:lnTo>
                        <a:pt x="154781" y="154781"/>
                      </a:lnTo>
                      <a:cubicBezTo>
                        <a:pt x="154781" y="160480"/>
                        <a:pt x="150161" y="165099"/>
                        <a:pt x="144462" y="165099"/>
                      </a:cubicBezTo>
                      <a:lnTo>
                        <a:pt x="20637" y="165099"/>
                      </a:lnTo>
                      <a:cubicBezTo>
                        <a:pt x="9240" y="165099"/>
                        <a:pt x="0" y="155860"/>
                        <a:pt x="0" y="144462"/>
                      </a:cubicBezTo>
                      <a:lnTo>
                        <a:pt x="0" y="20637"/>
                      </a:lnTo>
                    </a:path>
                  </a:pathLst>
                </a:custGeom>
                <a:noFill/>
                <a:ln w="20637">
                  <a:solidFill>
                    <a:srgbClr val="FFFFFF"/>
                  </a:solidFill>
                </a:ln>
              </p:spPr>
            </p:sp>
            <p:sp>
              <p:nvSpPr>
                <p:cNvPr id="73" name="Freeform 73"/>
                <p:cNvSpPr/>
                <p:nvPr/>
              </p:nvSpPr>
              <p:spPr>
                <a:xfrm>
                  <a:off x="5878512" y="1952625"/>
                  <a:ext cx="61912" cy="41275"/>
                </a:xfrm>
                <a:custGeom>
                  <a:avLst/>
                  <a:gdLst/>
                  <a:ahLst/>
                  <a:cxnLst/>
                  <a:rect l="l" t="t" r="r" b="b"/>
                  <a:pathLst>
                    <a:path w="61912" h="41275">
                      <a:moveTo>
                        <a:pt x="61912" y="0"/>
                      </a:moveTo>
                      <a:lnTo>
                        <a:pt x="61912" y="41275"/>
                      </a:lnTo>
                      <a:lnTo>
                        <a:pt x="20637" y="41275"/>
                      </a:lnTo>
                      <a:cubicBezTo>
                        <a:pt x="9240" y="41275"/>
                        <a:pt x="0" y="32035"/>
                        <a:pt x="0" y="20637"/>
                      </a:cubicBezTo>
                      <a:cubicBezTo>
                        <a:pt x="0" y="9240"/>
                        <a:pt x="9240" y="0"/>
                        <a:pt x="20637" y="0"/>
                      </a:cubicBezTo>
                      <a:lnTo>
                        <a:pt x="61912" y="0"/>
                      </a:lnTo>
                    </a:path>
                  </a:pathLst>
                </a:custGeom>
                <a:noFill/>
                <a:ln w="20637">
                  <a:solidFill>
                    <a:srgbClr val="FFFFFF"/>
                  </a:solidFill>
                </a:ln>
              </p:spPr>
            </p:sp>
          </p:grpSp>
          <p:sp>
            <p:nvSpPr>
              <p:cNvPr id="75" name="Ellipse 75"/>
              <p:cNvSpPr/>
              <p:nvPr/>
            </p:nvSpPr>
            <p:spPr>
              <a:xfrm>
                <a:off x="5715000" y="2447925"/>
                <a:ext cx="285750" cy="285750"/>
              </a:xfrm>
              <a:prstGeom prst="ellipse">
                <a:avLst/>
              </a:prstGeom>
              <a:solidFill>
                <a:srgbClr val="FFFFFF"/>
              </a:solidFill>
              <a:ln w="14288">
                <a:solidFill>
                  <a:srgbClr val="B03A1F"/>
                </a:solidFill>
              </a:ln>
            </p:spPr>
          </p:sp>
          <p:grpSp>
            <p:nvGrpSpPr>
              <p:cNvPr id="79" name="Group 79"/>
              <p:cNvGrpSpPr/>
              <p:nvPr/>
            </p:nvGrpSpPr>
            <p:grpSpPr>
              <a:xfrm>
                <a:off x="5813425" y="2533650"/>
                <a:ext cx="88900" cy="114300"/>
                <a:chOff x="5813425" y="2533650"/>
                <a:chExt cx="88900" cy="114300"/>
              </a:xfrm>
            </p:grpSpPr>
            <p:sp>
              <p:nvSpPr>
                <p:cNvPr id="76" name="Freeform 76"/>
                <p:cNvSpPr/>
                <p:nvPr/>
              </p:nvSpPr>
              <p:spPr>
                <a:xfrm>
                  <a:off x="5813425" y="25844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B03A1F"/>
                  </a:solidFill>
                </a:ln>
              </p:spPr>
            </p:sp>
            <p:sp>
              <p:nvSpPr>
                <p:cNvPr id="77" name="Freeform 77"/>
                <p:cNvSpPr/>
                <p:nvPr/>
              </p:nvSpPr>
              <p:spPr>
                <a:xfrm>
                  <a:off x="5851525" y="26098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03A1F"/>
                  </a:solidFill>
                </a:ln>
              </p:spPr>
            </p:sp>
            <p:sp>
              <p:nvSpPr>
                <p:cNvPr id="78" name="Freeform 78"/>
                <p:cNvSpPr/>
                <p:nvPr/>
              </p:nvSpPr>
              <p:spPr>
                <a:xfrm>
                  <a:off x="5832475" y="25336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B03A1F"/>
                  </a:solidFill>
                </a:ln>
              </p:spPr>
            </p:sp>
          </p:grpSp>
          <p:sp>
            <p:nvSpPr>
              <p:cNvPr id="80" name="TextBox 80"/>
              <p:cNvSpPr txBox="1"/>
              <p:nvPr/>
            </p:nvSpPr>
            <p:spPr>
              <a:xfrm>
                <a:off x="5640413" y="2810589"/>
                <a:ext cx="43492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风控关口</a:t>
                </a:r>
              </a:p>
            </p:txBody>
          </p:sp>
          <p:sp>
            <p:nvSpPr>
              <p:cNvPr id="81" name="TextBox 81"/>
              <p:cNvSpPr txBox="1"/>
              <p:nvPr/>
            </p:nvSpPr>
            <p:spPr>
              <a:xfrm>
                <a:off x="5651182" y="30241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支付合规</a:t>
                </a:r>
              </a:p>
            </p:txBody>
          </p:sp>
          <p:sp>
            <p:nvSpPr>
              <p:cNvPr id="82" name="TextBox 82"/>
              <p:cNvSpPr txBox="1"/>
              <p:nvPr/>
            </p:nvSpPr>
            <p:spPr>
              <a:xfrm>
                <a:off x="5651182" y="31956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用途校验</a:t>
                </a:r>
              </a:p>
            </p:txBody>
          </p:sp>
        </p:grpSp>
        <p:grpSp>
          <p:nvGrpSpPr>
            <p:cNvPr id="99" name="flow-node-6"/>
            <p:cNvGrpSpPr/>
            <p:nvPr/>
          </p:nvGrpSpPr>
          <p:grpSpPr>
            <a:xfrm>
              <a:off x="6819227" y="1346597"/>
              <a:ext cx="515696" cy="1996679"/>
              <a:chOff x="6819227" y="1346597"/>
              <a:chExt cx="515696" cy="1996679"/>
            </a:xfrm>
          </p:grpSpPr>
          <p:sp>
            <p:nvSpPr>
              <p:cNvPr id="84" name="TextBox 84"/>
              <p:cNvSpPr txBox="1"/>
              <p:nvPr/>
            </p:nvSpPr>
            <p:spPr>
              <a:xfrm>
                <a:off x="6819227" y="1346597"/>
                <a:ext cx="515696"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贷后监测</a:t>
                </a:r>
              </a:p>
            </p:txBody>
          </p:sp>
          <p:sp>
            <p:nvSpPr>
              <p:cNvPr id="85" name="Ellipse 85"/>
              <p:cNvSpPr/>
              <p:nvPr/>
            </p:nvSpPr>
            <p:spPr>
              <a:xfrm>
                <a:off x="6829425" y="1704975"/>
                <a:ext cx="495300" cy="495300"/>
              </a:xfrm>
              <a:prstGeom prst="ellipse">
                <a:avLst/>
              </a:prstGeom>
              <a:solidFill>
                <a:srgbClr val="B03A1F"/>
              </a:solidFill>
              <a:ln>
                <a:noFill/>
              </a:ln>
            </p:spPr>
          </p:sp>
          <p:grpSp>
            <p:nvGrpSpPr>
              <p:cNvPr id="90" name="Group 90"/>
              <p:cNvGrpSpPr/>
              <p:nvPr/>
            </p:nvGrpSpPr>
            <p:grpSpPr>
              <a:xfrm>
                <a:off x="6984206" y="1870075"/>
                <a:ext cx="185737" cy="174624"/>
                <a:chOff x="6984206" y="1870075"/>
                <a:chExt cx="185737" cy="174624"/>
              </a:xfrm>
            </p:grpSpPr>
            <p:sp>
              <p:nvSpPr>
                <p:cNvPr id="86" name="Freeform 86"/>
                <p:cNvSpPr/>
                <p:nvPr/>
              </p:nvSpPr>
              <p:spPr>
                <a:xfrm>
                  <a:off x="6984206" y="1870075"/>
                  <a:ext cx="185737" cy="123825"/>
                </a:xfrm>
                <a:custGeom>
                  <a:avLst/>
                  <a:gdLst/>
                  <a:ahLst/>
                  <a:cxnLst/>
                  <a:rect l="l" t="t" r="r" b="b"/>
                  <a:pathLst>
                    <a:path w="185737" h="123825">
                      <a:moveTo>
                        <a:pt x="0" y="10319"/>
                      </a:moveTo>
                      <a:cubicBezTo>
                        <a:pt x="0" y="4620"/>
                        <a:pt x="4620" y="0"/>
                        <a:pt x="10319" y="0"/>
                      </a:cubicBezTo>
                      <a:lnTo>
                        <a:pt x="175418" y="0"/>
                      </a:lnTo>
                      <a:cubicBezTo>
                        <a:pt x="181117" y="0"/>
                        <a:pt x="185737" y="4620"/>
                        <a:pt x="185737" y="10319"/>
                      </a:cubicBezTo>
                      <a:lnTo>
                        <a:pt x="185737" y="113506"/>
                      </a:lnTo>
                      <a:cubicBezTo>
                        <a:pt x="185737" y="119205"/>
                        <a:pt x="181117" y="123825"/>
                        <a:pt x="175418" y="123825"/>
                      </a:cubicBezTo>
                      <a:lnTo>
                        <a:pt x="10319" y="123825"/>
                      </a:lnTo>
                      <a:cubicBezTo>
                        <a:pt x="4620" y="123825"/>
                        <a:pt x="0" y="119205"/>
                        <a:pt x="0" y="113506"/>
                      </a:cubicBezTo>
                      <a:lnTo>
                        <a:pt x="0" y="10319"/>
                      </a:lnTo>
                    </a:path>
                  </a:pathLst>
                </a:custGeom>
                <a:noFill/>
                <a:ln w="20637">
                  <a:solidFill>
                    <a:srgbClr val="FFFFFF"/>
                  </a:solidFill>
                </a:ln>
              </p:spPr>
            </p:sp>
            <p:sp>
              <p:nvSpPr>
                <p:cNvPr id="87" name="Freeform 87"/>
                <p:cNvSpPr/>
                <p:nvPr/>
              </p:nvSpPr>
              <p:spPr>
                <a:xfrm>
                  <a:off x="7025481" y="2035174"/>
                  <a:ext cx="103187" cy="9525"/>
                </a:xfrm>
                <a:custGeom>
                  <a:avLst/>
                  <a:gdLst/>
                  <a:ahLst/>
                  <a:cxnLst/>
                  <a:rect l="l" t="t" r="r" b="b"/>
                  <a:pathLst>
                    <a:path w="103187" h="9525">
                      <a:moveTo>
                        <a:pt x="0" y="0"/>
                      </a:moveTo>
                      <a:lnTo>
                        <a:pt x="103187" y="0"/>
                      </a:lnTo>
                    </a:path>
                  </a:pathLst>
                </a:custGeom>
                <a:noFill/>
                <a:ln w="20637">
                  <a:solidFill>
                    <a:srgbClr val="FFFFFF"/>
                  </a:solidFill>
                </a:ln>
              </p:spPr>
            </p:sp>
            <p:sp>
              <p:nvSpPr>
                <p:cNvPr id="88" name="Freeform 88"/>
                <p:cNvSpPr/>
                <p:nvPr/>
              </p:nvSpPr>
              <p:spPr>
                <a:xfrm>
                  <a:off x="7046118" y="1993899"/>
                  <a:ext cx="9525" cy="41275"/>
                </a:xfrm>
                <a:custGeom>
                  <a:avLst/>
                  <a:gdLst/>
                  <a:ahLst/>
                  <a:cxnLst/>
                  <a:rect l="l" t="t" r="r" b="b"/>
                  <a:pathLst>
                    <a:path w="9525" h="41275">
                      <a:moveTo>
                        <a:pt x="0" y="0"/>
                      </a:moveTo>
                      <a:lnTo>
                        <a:pt x="0" y="41275"/>
                      </a:lnTo>
                    </a:path>
                  </a:pathLst>
                </a:custGeom>
                <a:noFill/>
                <a:ln w="20637">
                  <a:solidFill>
                    <a:srgbClr val="FFFFFF"/>
                  </a:solidFill>
                </a:ln>
              </p:spPr>
            </p:sp>
            <p:sp>
              <p:nvSpPr>
                <p:cNvPr id="89" name="Freeform 89"/>
                <p:cNvSpPr/>
                <p:nvPr/>
              </p:nvSpPr>
              <p:spPr>
                <a:xfrm>
                  <a:off x="7108031" y="1993899"/>
                  <a:ext cx="9525" cy="41275"/>
                </a:xfrm>
                <a:custGeom>
                  <a:avLst/>
                  <a:gdLst/>
                  <a:ahLst/>
                  <a:cxnLst/>
                  <a:rect l="l" t="t" r="r" b="b"/>
                  <a:pathLst>
                    <a:path w="9525" h="41275">
                      <a:moveTo>
                        <a:pt x="0" y="0"/>
                      </a:moveTo>
                      <a:lnTo>
                        <a:pt x="0" y="41275"/>
                      </a:lnTo>
                    </a:path>
                  </a:pathLst>
                </a:custGeom>
                <a:noFill/>
                <a:ln w="20637">
                  <a:solidFill>
                    <a:srgbClr val="FFFFFF"/>
                  </a:solidFill>
                </a:ln>
              </p:spPr>
            </p:sp>
          </p:grpSp>
          <p:sp>
            <p:nvSpPr>
              <p:cNvPr id="91" name="Ellipse 91"/>
              <p:cNvSpPr/>
              <p:nvPr/>
            </p:nvSpPr>
            <p:spPr>
              <a:xfrm>
                <a:off x="6934200" y="2447925"/>
                <a:ext cx="285750" cy="285750"/>
              </a:xfrm>
              <a:prstGeom prst="ellipse">
                <a:avLst/>
              </a:prstGeom>
              <a:solidFill>
                <a:srgbClr val="FFFFFF"/>
              </a:solidFill>
              <a:ln w="14288">
                <a:solidFill>
                  <a:srgbClr val="B03A1F"/>
                </a:solidFill>
              </a:ln>
            </p:spPr>
          </p:sp>
          <p:grpSp>
            <p:nvGrpSpPr>
              <p:cNvPr id="95" name="Group 95"/>
              <p:cNvGrpSpPr/>
              <p:nvPr/>
            </p:nvGrpSpPr>
            <p:grpSpPr>
              <a:xfrm>
                <a:off x="7032625" y="2533650"/>
                <a:ext cx="88900" cy="114300"/>
                <a:chOff x="7032625" y="2533650"/>
                <a:chExt cx="88900" cy="114300"/>
              </a:xfrm>
            </p:grpSpPr>
            <p:sp>
              <p:nvSpPr>
                <p:cNvPr id="92" name="Freeform 92"/>
                <p:cNvSpPr/>
                <p:nvPr/>
              </p:nvSpPr>
              <p:spPr>
                <a:xfrm>
                  <a:off x="7032625" y="25844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B03A1F"/>
                  </a:solidFill>
                </a:ln>
              </p:spPr>
            </p:sp>
            <p:sp>
              <p:nvSpPr>
                <p:cNvPr id="93" name="Freeform 93"/>
                <p:cNvSpPr/>
                <p:nvPr/>
              </p:nvSpPr>
              <p:spPr>
                <a:xfrm>
                  <a:off x="7070725" y="26098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03A1F"/>
                  </a:solidFill>
                </a:ln>
              </p:spPr>
            </p:sp>
            <p:sp>
              <p:nvSpPr>
                <p:cNvPr id="94" name="Freeform 94"/>
                <p:cNvSpPr/>
                <p:nvPr/>
              </p:nvSpPr>
              <p:spPr>
                <a:xfrm>
                  <a:off x="7051675" y="25336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B03A1F"/>
                  </a:solidFill>
                </a:ln>
              </p:spPr>
            </p:sp>
          </p:grpSp>
          <p:sp>
            <p:nvSpPr>
              <p:cNvPr id="96" name="TextBox 96"/>
              <p:cNvSpPr txBox="1"/>
              <p:nvPr/>
            </p:nvSpPr>
            <p:spPr>
              <a:xfrm>
                <a:off x="6859613" y="2810589"/>
                <a:ext cx="43492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风控关口</a:t>
                </a:r>
              </a:p>
            </p:txBody>
          </p:sp>
          <p:sp>
            <p:nvSpPr>
              <p:cNvPr id="97" name="TextBox 97"/>
              <p:cNvSpPr txBox="1"/>
              <p:nvPr/>
            </p:nvSpPr>
            <p:spPr>
              <a:xfrm>
                <a:off x="6870382" y="30241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风险预警</a:t>
                </a:r>
              </a:p>
            </p:txBody>
          </p:sp>
          <p:sp>
            <p:nvSpPr>
              <p:cNvPr id="98" name="TextBox 98"/>
              <p:cNvSpPr txBox="1"/>
              <p:nvPr/>
            </p:nvSpPr>
            <p:spPr>
              <a:xfrm>
                <a:off x="6870382" y="31956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持续监测</a:t>
                </a:r>
              </a:p>
            </p:txBody>
          </p:sp>
        </p:grpSp>
        <p:grpSp>
          <p:nvGrpSpPr>
            <p:cNvPr id="114" name="flow-node-7"/>
            <p:cNvGrpSpPr/>
            <p:nvPr/>
          </p:nvGrpSpPr>
          <p:grpSpPr>
            <a:xfrm>
              <a:off x="8038427" y="1346597"/>
              <a:ext cx="515696" cy="1996679"/>
              <a:chOff x="8038427" y="1346597"/>
              <a:chExt cx="515696" cy="1996679"/>
            </a:xfrm>
          </p:grpSpPr>
          <p:sp>
            <p:nvSpPr>
              <p:cNvPr id="100" name="TextBox 100"/>
              <p:cNvSpPr txBox="1"/>
              <p:nvPr/>
            </p:nvSpPr>
            <p:spPr>
              <a:xfrm>
                <a:off x="8038427" y="1346597"/>
                <a:ext cx="515696"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投诉处置</a:t>
                </a:r>
              </a:p>
            </p:txBody>
          </p:sp>
          <p:sp>
            <p:nvSpPr>
              <p:cNvPr id="101" name="Ellipse 101"/>
              <p:cNvSpPr/>
              <p:nvPr/>
            </p:nvSpPr>
            <p:spPr>
              <a:xfrm>
                <a:off x="8048625" y="1704975"/>
                <a:ext cx="495300" cy="495300"/>
              </a:xfrm>
              <a:prstGeom prst="ellipse">
                <a:avLst/>
              </a:prstGeom>
              <a:solidFill>
                <a:srgbClr val="B03A1F"/>
              </a:solidFill>
              <a:ln>
                <a:noFill/>
              </a:ln>
            </p:spPr>
          </p:sp>
          <p:grpSp>
            <p:nvGrpSpPr>
              <p:cNvPr id="105" name="Group 105"/>
              <p:cNvGrpSpPr/>
              <p:nvPr/>
            </p:nvGrpSpPr>
            <p:grpSpPr>
              <a:xfrm>
                <a:off x="8203406" y="1859756"/>
                <a:ext cx="185737" cy="185737"/>
                <a:chOff x="8203406" y="1859756"/>
                <a:chExt cx="185737" cy="185737"/>
              </a:xfrm>
            </p:grpSpPr>
            <p:sp>
              <p:nvSpPr>
                <p:cNvPr id="102" name="Freeform 102"/>
                <p:cNvSpPr/>
                <p:nvPr/>
              </p:nvSpPr>
              <p:spPr>
                <a:xfrm>
                  <a:off x="8203406" y="1870075"/>
                  <a:ext cx="175418" cy="175418"/>
                </a:xfrm>
                <a:custGeom>
                  <a:avLst/>
                  <a:gdLst/>
                  <a:ahLst/>
                  <a:cxnLst/>
                  <a:rect l="l" t="t" r="r" b="b"/>
                  <a:pathLst>
                    <a:path w="175418" h="175418">
                      <a:moveTo>
                        <a:pt x="20637" y="0"/>
                      </a:moveTo>
                      <a:lnTo>
                        <a:pt x="61912" y="0"/>
                      </a:lnTo>
                      <a:lnTo>
                        <a:pt x="82550" y="51594"/>
                      </a:lnTo>
                      <a:lnTo>
                        <a:pt x="56753" y="67072"/>
                      </a:lnTo>
                      <a:cubicBezTo>
                        <a:pt x="67804" y="89479"/>
                        <a:pt x="85939" y="107614"/>
                        <a:pt x="108347" y="118665"/>
                      </a:cubicBezTo>
                      <a:lnTo>
                        <a:pt x="123825" y="92868"/>
                      </a:lnTo>
                      <a:lnTo>
                        <a:pt x="175418" y="113506"/>
                      </a:lnTo>
                      <a:lnTo>
                        <a:pt x="175418" y="154781"/>
                      </a:lnTo>
                      <a:cubicBezTo>
                        <a:pt x="175418" y="166179"/>
                        <a:pt x="166179" y="175418"/>
                        <a:pt x="154781" y="175418"/>
                      </a:cubicBezTo>
                      <a:cubicBezTo>
                        <a:pt x="71484" y="170356"/>
                        <a:pt x="5062" y="103934"/>
                        <a:pt x="0" y="20637"/>
                      </a:cubicBezTo>
                      <a:cubicBezTo>
                        <a:pt x="0" y="9240"/>
                        <a:pt x="9240" y="0"/>
                        <a:pt x="20637" y="0"/>
                      </a:cubicBezTo>
                    </a:path>
                  </a:pathLst>
                </a:custGeom>
                <a:noFill/>
                <a:ln w="20637">
                  <a:solidFill>
                    <a:srgbClr val="FFFFFF"/>
                  </a:solidFill>
                </a:ln>
              </p:spPr>
            </p:sp>
            <p:sp>
              <p:nvSpPr>
                <p:cNvPr id="103" name="Freeform 103"/>
                <p:cNvSpPr/>
                <p:nvPr/>
              </p:nvSpPr>
              <p:spPr>
                <a:xfrm>
                  <a:off x="8327231" y="1901031"/>
                  <a:ext cx="20637" cy="20637"/>
                </a:xfrm>
                <a:custGeom>
                  <a:avLst/>
                  <a:gdLst/>
                  <a:ahLst/>
                  <a:cxnLst/>
                  <a:rect l="l" t="t" r="r" b="b"/>
                  <a:pathLst>
                    <a:path w="20637" h="20637">
                      <a:moveTo>
                        <a:pt x="0" y="0"/>
                      </a:moveTo>
                      <a:cubicBezTo>
                        <a:pt x="11398" y="0"/>
                        <a:pt x="20637" y="9240"/>
                        <a:pt x="20637" y="20637"/>
                      </a:cubicBezTo>
                    </a:path>
                  </a:pathLst>
                </a:custGeom>
                <a:noFill/>
                <a:ln w="20637">
                  <a:solidFill>
                    <a:srgbClr val="FFFFFF"/>
                  </a:solidFill>
                </a:ln>
              </p:spPr>
            </p:sp>
            <p:sp>
              <p:nvSpPr>
                <p:cNvPr id="104" name="Freeform 104"/>
                <p:cNvSpPr/>
                <p:nvPr/>
              </p:nvSpPr>
              <p:spPr>
                <a:xfrm>
                  <a:off x="8327231" y="1859756"/>
                  <a:ext cx="61912" cy="61912"/>
                </a:xfrm>
                <a:custGeom>
                  <a:avLst/>
                  <a:gdLst/>
                  <a:ahLst/>
                  <a:cxnLst/>
                  <a:rect l="l" t="t" r="r" b="b"/>
                  <a:pathLst>
                    <a:path w="61912" h="61912">
                      <a:moveTo>
                        <a:pt x="0" y="0"/>
                      </a:moveTo>
                      <a:cubicBezTo>
                        <a:pt x="34193" y="0"/>
                        <a:pt x="61912" y="27719"/>
                        <a:pt x="61912" y="61912"/>
                      </a:cubicBezTo>
                    </a:path>
                  </a:pathLst>
                </a:custGeom>
                <a:noFill/>
                <a:ln w="20637">
                  <a:solidFill>
                    <a:srgbClr val="FFFFFF"/>
                  </a:solidFill>
                </a:ln>
              </p:spPr>
            </p:sp>
          </p:grpSp>
          <p:sp>
            <p:nvSpPr>
              <p:cNvPr id="106" name="Ellipse 106"/>
              <p:cNvSpPr/>
              <p:nvPr/>
            </p:nvSpPr>
            <p:spPr>
              <a:xfrm>
                <a:off x="8153400" y="2447925"/>
                <a:ext cx="285750" cy="285750"/>
              </a:xfrm>
              <a:prstGeom prst="ellipse">
                <a:avLst/>
              </a:prstGeom>
              <a:solidFill>
                <a:srgbClr val="FFFFFF"/>
              </a:solidFill>
              <a:ln w="14288">
                <a:solidFill>
                  <a:srgbClr val="B03A1F"/>
                </a:solidFill>
              </a:ln>
            </p:spPr>
          </p:sp>
          <p:grpSp>
            <p:nvGrpSpPr>
              <p:cNvPr id="110" name="Group 110"/>
              <p:cNvGrpSpPr/>
              <p:nvPr/>
            </p:nvGrpSpPr>
            <p:grpSpPr>
              <a:xfrm>
                <a:off x="8251825" y="2533650"/>
                <a:ext cx="88900" cy="114300"/>
                <a:chOff x="8251825" y="2533650"/>
                <a:chExt cx="88900" cy="114300"/>
              </a:xfrm>
            </p:grpSpPr>
            <p:sp>
              <p:nvSpPr>
                <p:cNvPr id="107" name="Freeform 107"/>
                <p:cNvSpPr/>
                <p:nvPr/>
              </p:nvSpPr>
              <p:spPr>
                <a:xfrm>
                  <a:off x="8251825" y="258445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B03A1F"/>
                  </a:solidFill>
                </a:ln>
              </p:spPr>
            </p:sp>
            <p:sp>
              <p:nvSpPr>
                <p:cNvPr id="108" name="Freeform 108"/>
                <p:cNvSpPr/>
                <p:nvPr/>
              </p:nvSpPr>
              <p:spPr>
                <a:xfrm>
                  <a:off x="8289925" y="26098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03A1F"/>
                  </a:solidFill>
                </a:ln>
              </p:spPr>
            </p:sp>
            <p:sp>
              <p:nvSpPr>
                <p:cNvPr id="109" name="Freeform 109"/>
                <p:cNvSpPr/>
                <p:nvPr/>
              </p:nvSpPr>
              <p:spPr>
                <a:xfrm>
                  <a:off x="8270875" y="253365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B03A1F"/>
                  </a:solidFill>
                </a:ln>
              </p:spPr>
            </p:sp>
          </p:grpSp>
          <p:sp>
            <p:nvSpPr>
              <p:cNvPr id="111" name="TextBox 111"/>
              <p:cNvSpPr txBox="1"/>
              <p:nvPr/>
            </p:nvSpPr>
            <p:spPr>
              <a:xfrm>
                <a:off x="8078813" y="2810589"/>
                <a:ext cx="434924" cy="154781"/>
              </a:xfrm>
              <a:prstGeom prst="rect">
                <a:avLst/>
              </a:prstGeom>
              <a:noFill/>
              <a:ln>
                <a:noFill/>
              </a:ln>
            </p:spPr>
            <p:txBody>
              <a:bodyPr wrap="none" lIns="0" tIns="0" rIns="0" bIns="0" anchor="t" anchorCtr="0">
                <a:spAutoFit/>
              </a:bodyPr>
              <a:lstStyle/>
              <a:p>
                <a:pPr algn="ctr"/>
                <a:r>
                  <a:rPr lang="zh-CN" sz="790" b="1" dirty="0">
                    <a:solidFill>
                      <a:srgbClr val="B03A1F"/>
                    </a:solidFill>
                    <a:latin typeface="+mn-lt"/>
                    <a:ea typeface="+mn-ea"/>
                    <a:cs typeface="+mn-cs"/>
                  </a:rPr>
                  <a:t>风控关口</a:t>
                </a:r>
              </a:p>
            </p:txBody>
          </p:sp>
          <p:sp>
            <p:nvSpPr>
              <p:cNvPr id="112" name="TextBox 112"/>
              <p:cNvSpPr txBox="1"/>
              <p:nvPr/>
            </p:nvSpPr>
            <p:spPr>
              <a:xfrm>
                <a:off x="8089582" y="302418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受理分派</a:t>
                </a:r>
              </a:p>
            </p:txBody>
          </p:sp>
          <p:sp>
            <p:nvSpPr>
              <p:cNvPr id="113" name="TextBox 113"/>
              <p:cNvSpPr txBox="1"/>
              <p:nvPr/>
            </p:nvSpPr>
            <p:spPr>
              <a:xfrm>
                <a:off x="8089582" y="3195638"/>
                <a:ext cx="413385" cy="147638"/>
              </a:xfrm>
              <a:prstGeom prst="rect">
                <a:avLst/>
              </a:prstGeom>
              <a:noFill/>
              <a:ln>
                <a:noFill/>
              </a:ln>
            </p:spPr>
            <p:txBody>
              <a:bodyPr wrap="none" lIns="0" tIns="0" rIns="0" bIns="0" anchor="t" anchorCtr="0">
                <a:spAutoFit/>
              </a:bodyPr>
              <a:lstStyle/>
              <a:p>
                <a:pPr algn="ctr"/>
                <a:r>
                  <a:rPr lang="zh-CN" sz="750" dirty="0">
                    <a:solidFill>
                      <a:srgbClr val="3A3A3A"/>
                    </a:solidFill>
                    <a:latin typeface="+mn-lt"/>
                    <a:ea typeface="+mn-ea"/>
                    <a:cs typeface="+mn-cs"/>
                  </a:rPr>
                  <a:t>调查处理</a:t>
                </a:r>
              </a:p>
            </p:txBody>
          </p:sp>
        </p:grpSp>
        <p:sp>
          <p:nvSpPr>
            <p:cNvPr id="115" name="Line 115"/>
            <p:cNvSpPr/>
            <p:nvPr/>
          </p:nvSpPr>
          <p:spPr>
            <a:xfrm>
              <a:off x="1295400" y="1952625"/>
              <a:ext cx="609600" cy="1"/>
            </a:xfrm>
            <a:prstGeom prst="line">
              <a:avLst/>
            </a:prstGeom>
            <a:noFill/>
            <a:ln w="19050">
              <a:solidFill>
                <a:srgbClr val="B03A1F"/>
              </a:solidFill>
              <a:tailEnd type="triangle" w="lg" len="lg"/>
            </a:ln>
          </p:spPr>
        </p:sp>
        <p:sp>
          <p:nvSpPr>
            <p:cNvPr id="116" name="Line 116"/>
            <p:cNvSpPr/>
            <p:nvPr/>
          </p:nvSpPr>
          <p:spPr>
            <a:xfrm>
              <a:off x="2514600" y="1952625"/>
              <a:ext cx="609600" cy="1"/>
            </a:xfrm>
            <a:prstGeom prst="line">
              <a:avLst/>
            </a:prstGeom>
            <a:noFill/>
            <a:ln w="19050">
              <a:solidFill>
                <a:srgbClr val="B03A1F"/>
              </a:solidFill>
              <a:tailEnd type="triangle" w="lg" len="lg"/>
            </a:ln>
          </p:spPr>
        </p:sp>
        <p:sp>
          <p:nvSpPr>
            <p:cNvPr id="117" name="Line 117"/>
            <p:cNvSpPr/>
            <p:nvPr/>
          </p:nvSpPr>
          <p:spPr>
            <a:xfrm>
              <a:off x="3733800" y="1952625"/>
              <a:ext cx="600075" cy="1"/>
            </a:xfrm>
            <a:prstGeom prst="line">
              <a:avLst/>
            </a:prstGeom>
            <a:noFill/>
            <a:ln w="19050">
              <a:solidFill>
                <a:srgbClr val="B03A1F"/>
              </a:solidFill>
              <a:tailEnd type="triangle" w="lg" len="lg"/>
            </a:ln>
          </p:spPr>
        </p:sp>
        <p:sp>
          <p:nvSpPr>
            <p:cNvPr id="118" name="Line 118"/>
            <p:cNvSpPr/>
            <p:nvPr/>
          </p:nvSpPr>
          <p:spPr>
            <a:xfrm>
              <a:off x="4943475" y="1952625"/>
              <a:ext cx="609600" cy="1"/>
            </a:xfrm>
            <a:prstGeom prst="line">
              <a:avLst/>
            </a:prstGeom>
            <a:noFill/>
            <a:ln w="19050">
              <a:solidFill>
                <a:srgbClr val="B03A1F"/>
              </a:solidFill>
              <a:tailEnd type="triangle" w="lg" len="lg"/>
            </a:ln>
          </p:spPr>
        </p:sp>
        <p:sp>
          <p:nvSpPr>
            <p:cNvPr id="119" name="Line 119"/>
            <p:cNvSpPr/>
            <p:nvPr/>
          </p:nvSpPr>
          <p:spPr>
            <a:xfrm>
              <a:off x="6162675" y="1952625"/>
              <a:ext cx="609600" cy="1"/>
            </a:xfrm>
            <a:prstGeom prst="line">
              <a:avLst/>
            </a:prstGeom>
            <a:noFill/>
            <a:ln w="19050">
              <a:solidFill>
                <a:srgbClr val="B03A1F"/>
              </a:solidFill>
              <a:tailEnd type="triangle" w="lg" len="lg"/>
            </a:ln>
          </p:spPr>
        </p:sp>
        <p:sp>
          <p:nvSpPr>
            <p:cNvPr id="120" name="Line 120"/>
            <p:cNvSpPr/>
            <p:nvPr/>
          </p:nvSpPr>
          <p:spPr>
            <a:xfrm>
              <a:off x="7381875" y="1952625"/>
              <a:ext cx="609600" cy="1"/>
            </a:xfrm>
            <a:prstGeom prst="line">
              <a:avLst/>
            </a:prstGeom>
            <a:noFill/>
            <a:ln w="19050">
              <a:solidFill>
                <a:srgbClr val="B03A1F"/>
              </a:solidFill>
              <a:tailEnd type="triangle" w="lg" len="lg"/>
            </a:ln>
          </p:spPr>
        </p:sp>
        <p:sp>
          <p:nvSpPr>
            <p:cNvPr id="121" name="Line 121"/>
            <p:cNvSpPr/>
            <p:nvPr/>
          </p:nvSpPr>
          <p:spPr>
            <a:xfrm>
              <a:off x="990600" y="2590800"/>
              <a:ext cx="7305675" cy="9525"/>
            </a:xfrm>
            <a:custGeom>
              <a:avLst/>
              <a:gdLst/>
              <a:ahLst/>
              <a:cxnLst/>
              <a:rect l="l" t="t" r="r" b="b"/>
              <a:pathLst>
                <a:path w="7305675" h="9525">
                  <a:moveTo>
                    <a:pt x="0" y="0"/>
                  </a:moveTo>
                  <a:lnTo>
                    <a:pt x="7305675" y="0"/>
                  </a:lnTo>
                </a:path>
              </a:pathLst>
            </a:custGeom>
            <a:noFill/>
            <a:ln w="14288">
              <a:solidFill>
                <a:srgbClr val="D9ABA0"/>
              </a:solidFill>
              <a:custDash>
                <a:ds d="133333" sp="266667"/>
              </a:custDash>
            </a:ln>
          </p:spPr>
        </p:sp>
      </p:grpSp>
      <p:grpSp>
        <p:nvGrpSpPr>
          <p:cNvPr id="227" name="defense-cards"/>
          <p:cNvGrpSpPr/>
          <p:nvPr/>
        </p:nvGrpSpPr>
        <p:grpSpPr>
          <a:xfrm>
            <a:off x="361950" y="3562350"/>
            <a:ext cx="8543925" cy="2857500"/>
            <a:chOff x="361950" y="3562350"/>
            <a:chExt cx="8543925" cy="2857500"/>
          </a:xfrm>
        </p:grpSpPr>
        <p:sp>
          <p:nvSpPr>
            <p:cNvPr id="123" name="Rectangle 123"/>
            <p:cNvSpPr/>
            <p:nvPr/>
          </p:nvSpPr>
          <p:spPr>
            <a:xfrm>
              <a:off x="361950" y="3562350"/>
              <a:ext cx="723900" cy="2857500"/>
            </a:xfrm>
            <a:prstGeom prst="roundRect">
              <a:avLst>
                <a:gd name="adj" fmla="val 7895"/>
              </a:avLst>
            </a:prstGeom>
            <a:solidFill>
              <a:srgbClr val="1E1E1E"/>
            </a:solidFill>
            <a:ln>
              <a:noFill/>
            </a:ln>
          </p:spPr>
        </p:sp>
        <p:grpSp>
          <p:nvGrpSpPr>
            <p:cNvPr id="126" name="Group 126"/>
            <p:cNvGrpSpPr/>
            <p:nvPr/>
          </p:nvGrpSpPr>
          <p:grpSpPr>
            <a:xfrm>
              <a:off x="617106" y="4393406"/>
              <a:ext cx="201506" cy="185737"/>
              <a:chOff x="617106" y="4393406"/>
              <a:chExt cx="201506" cy="185737"/>
            </a:xfrm>
          </p:grpSpPr>
          <p:sp>
            <p:nvSpPr>
              <p:cNvPr id="124" name="Freeform 124"/>
              <p:cNvSpPr/>
              <p:nvPr/>
            </p:nvSpPr>
            <p:spPr>
              <a:xfrm>
                <a:off x="617106" y="439340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FFFFFF"/>
                </a:solidFill>
              </a:ln>
            </p:spPr>
          </p:sp>
          <p:sp>
            <p:nvSpPr>
              <p:cNvPr id="125" name="Freeform 125"/>
              <p:cNvSpPr/>
              <p:nvPr/>
            </p:nvSpPr>
            <p:spPr>
              <a:xfrm>
                <a:off x="754856" y="4537868"/>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127" name="TextBox 127"/>
            <p:cNvSpPr txBox="1"/>
            <p:nvPr/>
          </p:nvSpPr>
          <p:spPr>
            <a:xfrm>
              <a:off x="429704" y="4783693"/>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关键控制点</a:t>
              </a:r>
            </a:p>
          </p:txBody>
        </p:sp>
        <p:sp>
          <p:nvSpPr>
            <p:cNvPr id="128" name="TextBox 128"/>
            <p:cNvSpPr txBox="1"/>
            <p:nvPr/>
          </p:nvSpPr>
          <p:spPr>
            <a:xfrm>
              <a:off x="432397" y="4990386"/>
              <a:ext cx="58300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（核心防线）</a:t>
              </a:r>
            </a:p>
          </p:txBody>
        </p:sp>
        <p:grpSp>
          <p:nvGrpSpPr>
            <p:cNvPr id="142" name="shield-card-1"/>
            <p:cNvGrpSpPr/>
            <p:nvPr/>
          </p:nvGrpSpPr>
          <p:grpSpPr>
            <a:xfrm>
              <a:off x="1143000" y="3562350"/>
              <a:ext cx="1076325" cy="2857500"/>
              <a:chOff x="1143000" y="3562350"/>
              <a:chExt cx="1076325" cy="2857500"/>
            </a:xfrm>
          </p:grpSpPr>
          <p:sp>
            <p:nvSpPr>
              <p:cNvPr id="129" name="Rectangle 129"/>
              <p:cNvSpPr/>
              <p:nvPr/>
            </p:nvSpPr>
            <p:spPr>
              <a:xfrm>
                <a:off x="1143000" y="3562350"/>
                <a:ext cx="1076325" cy="2857500"/>
              </a:xfrm>
              <a:prstGeom prst="rect">
                <a:avLst/>
              </a:prstGeom>
              <a:solidFill>
                <a:srgbClr val="FFFFFF"/>
              </a:solidFill>
              <a:ln w="9525">
                <a:solidFill>
                  <a:srgbClr val="E5E0DC"/>
                </a:solidFill>
              </a:ln>
            </p:spPr>
          </p:sp>
          <p:sp>
            <p:nvSpPr>
              <p:cNvPr id="130" name="TextBox 130"/>
              <p:cNvSpPr txBox="1"/>
              <p:nvPr/>
            </p:nvSpPr>
            <p:spPr>
              <a:xfrm>
                <a:off x="1334126" y="3735943"/>
                <a:ext cx="684548" cy="169069"/>
              </a:xfrm>
              <a:prstGeom prst="rect">
                <a:avLst/>
              </a:prstGeom>
              <a:noFill/>
              <a:ln>
                <a:noFill/>
              </a:ln>
            </p:spPr>
            <p:txBody>
              <a:bodyPr wrap="none" lIns="0" tIns="0" rIns="0" bIns="0" anchor="t" anchorCtr="0">
                <a:spAutoFit/>
              </a:bodyPr>
              <a:lstStyle/>
              <a:p>
                <a:pPr algn="ctr"/>
                <a:r>
                  <a:rPr lang="zh-CN" sz="860" b="1" dirty="0">
                    <a:solidFill>
                      <a:srgbClr val="B03A1F"/>
                    </a:solidFill>
                    <a:latin typeface="+mn-lt"/>
                    <a:ea typeface="+mn-ea"/>
                    <a:cs typeface="+mn-cs"/>
                  </a:rPr>
                  <a:t>KYC与反洗钱</a:t>
                </a:r>
              </a:p>
            </p:txBody>
          </p:sp>
          <p:grpSp>
            <p:nvGrpSpPr>
              <p:cNvPr id="133" name="Group 133"/>
              <p:cNvGrpSpPr/>
              <p:nvPr/>
            </p:nvGrpSpPr>
            <p:grpSpPr>
              <a:xfrm>
                <a:off x="1553176" y="4017169"/>
                <a:ext cx="232508" cy="214312"/>
                <a:chOff x="1553176" y="4017169"/>
                <a:chExt cx="232508" cy="214312"/>
              </a:xfrm>
            </p:grpSpPr>
            <p:sp>
              <p:nvSpPr>
                <p:cNvPr id="131" name="Freeform 131"/>
                <p:cNvSpPr/>
                <p:nvPr/>
              </p:nvSpPr>
              <p:spPr>
                <a:xfrm>
                  <a:off x="1553176" y="40171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B03A1F"/>
                  </a:solidFill>
                </a:ln>
              </p:spPr>
            </p:sp>
            <p:sp>
              <p:nvSpPr>
                <p:cNvPr id="132" name="Freeform 132"/>
                <p:cNvSpPr/>
                <p:nvPr/>
              </p:nvSpPr>
              <p:spPr>
                <a:xfrm>
                  <a:off x="1712119" y="4183856"/>
                  <a:ext cx="71438" cy="47625"/>
                </a:xfrm>
                <a:custGeom>
                  <a:avLst/>
                  <a:gdLst/>
                  <a:ahLst/>
                  <a:cxnLst/>
                  <a:rect l="l" t="t" r="r" b="b"/>
                  <a:pathLst>
                    <a:path w="71438" h="47625">
                      <a:moveTo>
                        <a:pt x="0" y="23812"/>
                      </a:moveTo>
                      <a:lnTo>
                        <a:pt x="23812" y="47625"/>
                      </a:lnTo>
                      <a:lnTo>
                        <a:pt x="71438" y="0"/>
                      </a:lnTo>
                    </a:path>
                  </a:pathLst>
                </a:custGeom>
                <a:noFill/>
                <a:ln w="23812">
                  <a:solidFill>
                    <a:srgbClr val="B03A1F"/>
                  </a:solidFill>
                </a:ln>
              </p:spPr>
            </p:sp>
          </p:grpSp>
          <p:sp>
            <p:nvSpPr>
              <p:cNvPr id="134" name="Ellipse 134"/>
              <p:cNvSpPr/>
              <p:nvPr/>
            </p:nvSpPr>
            <p:spPr>
              <a:xfrm>
                <a:off x="1274445" y="4636770"/>
                <a:ext cx="41910" cy="41910"/>
              </a:xfrm>
              <a:prstGeom prst="ellipse">
                <a:avLst/>
              </a:prstGeom>
              <a:solidFill>
                <a:srgbClr val="B03A1F"/>
              </a:solidFill>
              <a:ln>
                <a:noFill/>
              </a:ln>
            </p:spPr>
          </p:sp>
          <p:sp>
            <p:nvSpPr>
              <p:cNvPr id="135" name="TextBox 135"/>
              <p:cNvSpPr txBox="1"/>
              <p:nvPr/>
            </p:nvSpPr>
            <p:spPr>
              <a:xfrm>
                <a:off x="1366838" y="460938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客户身份核验</a:t>
                </a:r>
              </a:p>
            </p:txBody>
          </p:sp>
          <p:sp>
            <p:nvSpPr>
              <p:cNvPr id="136" name="Ellipse 136"/>
              <p:cNvSpPr/>
              <p:nvPr/>
            </p:nvSpPr>
            <p:spPr>
              <a:xfrm>
                <a:off x="1274445" y="5074920"/>
                <a:ext cx="41910" cy="41910"/>
              </a:xfrm>
              <a:prstGeom prst="ellipse">
                <a:avLst/>
              </a:prstGeom>
              <a:solidFill>
                <a:srgbClr val="B03A1F"/>
              </a:solidFill>
              <a:ln>
                <a:noFill/>
              </a:ln>
            </p:spPr>
          </p:sp>
          <p:sp>
            <p:nvSpPr>
              <p:cNvPr id="137" name="TextBox 137"/>
              <p:cNvSpPr txBox="1"/>
              <p:nvPr/>
            </p:nvSpPr>
            <p:spPr>
              <a:xfrm>
                <a:off x="1366838" y="50475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客户尽调调查</a:t>
                </a:r>
              </a:p>
            </p:txBody>
          </p:sp>
          <p:sp>
            <p:nvSpPr>
              <p:cNvPr id="138" name="Ellipse 138"/>
              <p:cNvSpPr/>
              <p:nvPr/>
            </p:nvSpPr>
            <p:spPr>
              <a:xfrm>
                <a:off x="1274445" y="5513070"/>
                <a:ext cx="41910" cy="41910"/>
              </a:xfrm>
              <a:prstGeom prst="ellipse">
                <a:avLst/>
              </a:prstGeom>
              <a:solidFill>
                <a:srgbClr val="B03A1F"/>
              </a:solidFill>
              <a:ln>
                <a:noFill/>
              </a:ln>
            </p:spPr>
          </p:sp>
          <p:sp>
            <p:nvSpPr>
              <p:cNvPr id="139" name="TextBox 139"/>
              <p:cNvSpPr txBox="1"/>
              <p:nvPr/>
            </p:nvSpPr>
            <p:spPr>
              <a:xfrm>
                <a:off x="1366838" y="54856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名单筛查与监控</a:t>
                </a:r>
              </a:p>
            </p:txBody>
          </p:sp>
          <p:sp>
            <p:nvSpPr>
              <p:cNvPr id="140" name="Ellipse 140"/>
              <p:cNvSpPr/>
              <p:nvPr/>
            </p:nvSpPr>
            <p:spPr>
              <a:xfrm>
                <a:off x="1274445" y="5951220"/>
                <a:ext cx="41910" cy="41910"/>
              </a:xfrm>
              <a:prstGeom prst="ellipse">
                <a:avLst/>
              </a:prstGeom>
              <a:solidFill>
                <a:srgbClr val="B03A1F"/>
              </a:solidFill>
              <a:ln>
                <a:noFill/>
              </a:ln>
            </p:spPr>
          </p:sp>
          <p:sp>
            <p:nvSpPr>
              <p:cNvPr id="141" name="TextBox 141"/>
              <p:cNvSpPr txBox="1"/>
              <p:nvPr/>
            </p:nvSpPr>
            <p:spPr>
              <a:xfrm>
                <a:off x="1366838" y="59238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交易可疑监测</a:t>
                </a:r>
              </a:p>
            </p:txBody>
          </p:sp>
        </p:grpSp>
        <p:grpSp>
          <p:nvGrpSpPr>
            <p:cNvPr id="156" name="shield-card-2"/>
            <p:cNvGrpSpPr/>
            <p:nvPr/>
          </p:nvGrpSpPr>
          <p:grpSpPr>
            <a:xfrm>
              <a:off x="2257425" y="3562350"/>
              <a:ext cx="1076325" cy="2857500"/>
              <a:chOff x="2257425" y="3562350"/>
              <a:chExt cx="1076325" cy="2857500"/>
            </a:xfrm>
          </p:grpSpPr>
          <p:sp>
            <p:nvSpPr>
              <p:cNvPr id="143" name="Rectangle 143"/>
              <p:cNvSpPr/>
              <p:nvPr/>
            </p:nvSpPr>
            <p:spPr>
              <a:xfrm>
                <a:off x="2257425" y="3562350"/>
                <a:ext cx="1076325" cy="2857500"/>
              </a:xfrm>
              <a:prstGeom prst="rect">
                <a:avLst/>
              </a:prstGeom>
              <a:solidFill>
                <a:srgbClr val="FFFFFF"/>
              </a:solidFill>
              <a:ln w="9525">
                <a:solidFill>
                  <a:srgbClr val="E5E0DC"/>
                </a:solidFill>
              </a:ln>
            </p:spPr>
          </p:sp>
          <p:sp>
            <p:nvSpPr>
              <p:cNvPr id="144" name="TextBox 144"/>
              <p:cNvSpPr txBox="1"/>
              <p:nvPr/>
            </p:nvSpPr>
            <p:spPr>
              <a:xfrm>
                <a:off x="2438743" y="3735943"/>
                <a:ext cx="704164" cy="169069"/>
              </a:xfrm>
              <a:prstGeom prst="rect">
                <a:avLst/>
              </a:prstGeom>
              <a:noFill/>
              <a:ln>
                <a:noFill/>
              </a:ln>
            </p:spPr>
            <p:txBody>
              <a:bodyPr wrap="none" lIns="0" tIns="0" rIns="0" bIns="0" anchor="t" anchorCtr="0">
                <a:spAutoFit/>
              </a:bodyPr>
              <a:lstStyle/>
              <a:p>
                <a:pPr algn="ctr"/>
                <a:r>
                  <a:rPr lang="zh-CN" sz="860" b="1" dirty="0">
                    <a:solidFill>
                      <a:srgbClr val="B03A1F"/>
                    </a:solidFill>
                    <a:latin typeface="+mn-lt"/>
                    <a:ea typeface="+mn-ea"/>
                    <a:cs typeface="+mn-cs"/>
                  </a:rPr>
                  <a:t>适当性与双录</a:t>
                </a:r>
              </a:p>
            </p:txBody>
          </p:sp>
          <p:grpSp>
            <p:nvGrpSpPr>
              <p:cNvPr id="147" name="Group 147"/>
              <p:cNvGrpSpPr/>
              <p:nvPr/>
            </p:nvGrpSpPr>
            <p:grpSpPr>
              <a:xfrm>
                <a:off x="2667601" y="4017169"/>
                <a:ext cx="232508" cy="214312"/>
                <a:chOff x="2667601" y="4017169"/>
                <a:chExt cx="232508" cy="214312"/>
              </a:xfrm>
            </p:grpSpPr>
            <p:sp>
              <p:nvSpPr>
                <p:cNvPr id="145" name="Freeform 145"/>
                <p:cNvSpPr/>
                <p:nvPr/>
              </p:nvSpPr>
              <p:spPr>
                <a:xfrm>
                  <a:off x="2667601" y="40171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B03A1F"/>
                  </a:solidFill>
                </a:ln>
              </p:spPr>
            </p:sp>
            <p:sp>
              <p:nvSpPr>
                <p:cNvPr id="146" name="Freeform 146"/>
                <p:cNvSpPr/>
                <p:nvPr/>
              </p:nvSpPr>
              <p:spPr>
                <a:xfrm>
                  <a:off x="2826544" y="4183856"/>
                  <a:ext cx="71438" cy="47625"/>
                </a:xfrm>
                <a:custGeom>
                  <a:avLst/>
                  <a:gdLst/>
                  <a:ahLst/>
                  <a:cxnLst/>
                  <a:rect l="l" t="t" r="r" b="b"/>
                  <a:pathLst>
                    <a:path w="71438" h="47625">
                      <a:moveTo>
                        <a:pt x="0" y="23812"/>
                      </a:moveTo>
                      <a:lnTo>
                        <a:pt x="23812" y="47625"/>
                      </a:lnTo>
                      <a:lnTo>
                        <a:pt x="71438" y="0"/>
                      </a:lnTo>
                    </a:path>
                  </a:pathLst>
                </a:custGeom>
                <a:noFill/>
                <a:ln w="23812">
                  <a:solidFill>
                    <a:srgbClr val="B03A1F"/>
                  </a:solidFill>
                </a:ln>
              </p:spPr>
            </p:sp>
          </p:grpSp>
          <p:sp>
            <p:nvSpPr>
              <p:cNvPr id="148" name="Ellipse 148"/>
              <p:cNvSpPr/>
              <p:nvPr/>
            </p:nvSpPr>
            <p:spPr>
              <a:xfrm>
                <a:off x="2388870" y="4636770"/>
                <a:ext cx="41910" cy="41910"/>
              </a:xfrm>
              <a:prstGeom prst="ellipse">
                <a:avLst/>
              </a:prstGeom>
              <a:solidFill>
                <a:srgbClr val="B03A1F"/>
              </a:solidFill>
              <a:ln>
                <a:noFill/>
              </a:ln>
            </p:spPr>
          </p:sp>
          <p:sp>
            <p:nvSpPr>
              <p:cNvPr id="149" name="TextBox 149"/>
              <p:cNvSpPr txBox="1"/>
              <p:nvPr/>
            </p:nvSpPr>
            <p:spPr>
              <a:xfrm>
                <a:off x="2481262" y="46093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客户适当性评估</a:t>
                </a:r>
              </a:p>
            </p:txBody>
          </p:sp>
          <p:sp>
            <p:nvSpPr>
              <p:cNvPr id="150" name="Ellipse 150"/>
              <p:cNvSpPr/>
              <p:nvPr/>
            </p:nvSpPr>
            <p:spPr>
              <a:xfrm>
                <a:off x="2388870" y="5074920"/>
                <a:ext cx="41910" cy="41910"/>
              </a:xfrm>
              <a:prstGeom prst="ellipse">
                <a:avLst/>
              </a:prstGeom>
              <a:solidFill>
                <a:srgbClr val="B03A1F"/>
              </a:solidFill>
              <a:ln>
                <a:noFill/>
              </a:ln>
            </p:spPr>
          </p:sp>
          <p:sp>
            <p:nvSpPr>
              <p:cNvPr id="151" name="TextBox 151"/>
              <p:cNvSpPr txBox="1"/>
              <p:nvPr/>
            </p:nvSpPr>
            <p:spPr>
              <a:xfrm>
                <a:off x="2481262" y="5047536"/>
                <a:ext cx="635575"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产品/服务匹配</a:t>
                </a:r>
              </a:p>
            </p:txBody>
          </p:sp>
          <p:sp>
            <p:nvSpPr>
              <p:cNvPr id="152" name="Ellipse 152"/>
              <p:cNvSpPr/>
              <p:nvPr/>
            </p:nvSpPr>
            <p:spPr>
              <a:xfrm>
                <a:off x="2388870" y="5513070"/>
                <a:ext cx="41910" cy="41910"/>
              </a:xfrm>
              <a:prstGeom prst="ellipse">
                <a:avLst/>
              </a:prstGeom>
              <a:solidFill>
                <a:srgbClr val="B03A1F"/>
              </a:solidFill>
              <a:ln>
                <a:noFill/>
              </a:ln>
            </p:spPr>
          </p:sp>
          <p:sp>
            <p:nvSpPr>
              <p:cNvPr id="153" name="TextBox 153"/>
              <p:cNvSpPr txBox="1"/>
              <p:nvPr/>
            </p:nvSpPr>
            <p:spPr>
              <a:xfrm>
                <a:off x="2481262" y="5485686"/>
                <a:ext cx="39184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双录管理</a:t>
                </a:r>
              </a:p>
            </p:txBody>
          </p:sp>
          <p:sp>
            <p:nvSpPr>
              <p:cNvPr id="154" name="Ellipse 154"/>
              <p:cNvSpPr/>
              <p:nvPr/>
            </p:nvSpPr>
            <p:spPr>
              <a:xfrm>
                <a:off x="2388870" y="5951220"/>
                <a:ext cx="41910" cy="41910"/>
              </a:xfrm>
              <a:prstGeom prst="ellipse">
                <a:avLst/>
              </a:prstGeom>
              <a:solidFill>
                <a:srgbClr val="B03A1F"/>
              </a:solidFill>
              <a:ln>
                <a:noFill/>
              </a:ln>
            </p:spPr>
          </p:sp>
          <p:sp>
            <p:nvSpPr>
              <p:cNvPr id="155" name="TextBox 155"/>
              <p:cNvSpPr txBox="1"/>
              <p:nvPr/>
            </p:nvSpPr>
            <p:spPr>
              <a:xfrm>
                <a:off x="2481262" y="59238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渠道合规管理</a:t>
                </a:r>
              </a:p>
            </p:txBody>
          </p:sp>
        </p:grpSp>
        <p:grpSp>
          <p:nvGrpSpPr>
            <p:cNvPr id="170" name="shield-card-3"/>
            <p:cNvGrpSpPr/>
            <p:nvPr/>
          </p:nvGrpSpPr>
          <p:grpSpPr>
            <a:xfrm>
              <a:off x="3371850" y="3562350"/>
              <a:ext cx="1076325" cy="2857500"/>
              <a:chOff x="3371850" y="3562350"/>
              <a:chExt cx="1076325" cy="2857500"/>
            </a:xfrm>
          </p:grpSpPr>
          <p:sp>
            <p:nvSpPr>
              <p:cNvPr id="157" name="Rectangle 157"/>
              <p:cNvSpPr/>
              <p:nvPr/>
            </p:nvSpPr>
            <p:spPr>
              <a:xfrm>
                <a:off x="3371850" y="3562350"/>
                <a:ext cx="1076325" cy="2857500"/>
              </a:xfrm>
              <a:prstGeom prst="rect">
                <a:avLst/>
              </a:prstGeom>
              <a:solidFill>
                <a:srgbClr val="FFFFFF"/>
              </a:solidFill>
              <a:ln w="9525">
                <a:solidFill>
                  <a:srgbClr val="E5E0DC"/>
                </a:solidFill>
              </a:ln>
            </p:spPr>
          </p:sp>
          <p:sp>
            <p:nvSpPr>
              <p:cNvPr id="158" name="TextBox 158"/>
              <p:cNvSpPr txBox="1"/>
              <p:nvPr/>
            </p:nvSpPr>
            <p:spPr>
              <a:xfrm>
                <a:off x="3495281" y="3735943"/>
                <a:ext cx="819937" cy="169069"/>
              </a:xfrm>
              <a:prstGeom prst="rect">
                <a:avLst/>
              </a:prstGeom>
              <a:noFill/>
              <a:ln>
                <a:noFill/>
              </a:ln>
            </p:spPr>
            <p:txBody>
              <a:bodyPr wrap="none" lIns="0" tIns="0" rIns="0" bIns="0" anchor="t" anchorCtr="0">
                <a:spAutoFit/>
              </a:bodyPr>
              <a:lstStyle/>
              <a:p>
                <a:pPr algn="ctr"/>
                <a:r>
                  <a:rPr lang="zh-CN" sz="860" b="1" dirty="0">
                    <a:solidFill>
                      <a:srgbClr val="B03A1F"/>
                    </a:solidFill>
                    <a:latin typeface="+mn-lt"/>
                    <a:ea typeface="+mn-ea"/>
                    <a:cs typeface="+mn-cs"/>
                  </a:rPr>
                  <a:t>消费者权益保护</a:t>
                </a:r>
              </a:p>
            </p:txBody>
          </p:sp>
          <p:grpSp>
            <p:nvGrpSpPr>
              <p:cNvPr id="161" name="Group 161"/>
              <p:cNvGrpSpPr/>
              <p:nvPr/>
            </p:nvGrpSpPr>
            <p:grpSpPr>
              <a:xfrm>
                <a:off x="3782026" y="4017169"/>
                <a:ext cx="232508" cy="214312"/>
                <a:chOff x="3782026" y="4017169"/>
                <a:chExt cx="232508" cy="214312"/>
              </a:xfrm>
            </p:grpSpPr>
            <p:sp>
              <p:nvSpPr>
                <p:cNvPr id="159" name="Freeform 159"/>
                <p:cNvSpPr/>
                <p:nvPr/>
              </p:nvSpPr>
              <p:spPr>
                <a:xfrm>
                  <a:off x="3782026" y="40171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B03A1F"/>
                  </a:solidFill>
                </a:ln>
              </p:spPr>
            </p:sp>
            <p:sp>
              <p:nvSpPr>
                <p:cNvPr id="160" name="Freeform 160"/>
                <p:cNvSpPr/>
                <p:nvPr/>
              </p:nvSpPr>
              <p:spPr>
                <a:xfrm>
                  <a:off x="3940969" y="4183856"/>
                  <a:ext cx="71438" cy="47625"/>
                </a:xfrm>
                <a:custGeom>
                  <a:avLst/>
                  <a:gdLst/>
                  <a:ahLst/>
                  <a:cxnLst/>
                  <a:rect l="l" t="t" r="r" b="b"/>
                  <a:pathLst>
                    <a:path w="71438" h="47625">
                      <a:moveTo>
                        <a:pt x="0" y="23812"/>
                      </a:moveTo>
                      <a:lnTo>
                        <a:pt x="23812" y="47625"/>
                      </a:lnTo>
                      <a:lnTo>
                        <a:pt x="71438" y="0"/>
                      </a:lnTo>
                    </a:path>
                  </a:pathLst>
                </a:custGeom>
                <a:noFill/>
                <a:ln w="23812">
                  <a:solidFill>
                    <a:srgbClr val="B03A1F"/>
                  </a:solidFill>
                </a:ln>
              </p:spPr>
            </p:sp>
          </p:grpSp>
          <p:sp>
            <p:nvSpPr>
              <p:cNvPr id="162" name="Ellipse 162"/>
              <p:cNvSpPr/>
              <p:nvPr/>
            </p:nvSpPr>
            <p:spPr>
              <a:xfrm>
                <a:off x="3503295" y="4636770"/>
                <a:ext cx="41910" cy="41910"/>
              </a:xfrm>
              <a:prstGeom prst="ellipse">
                <a:avLst/>
              </a:prstGeom>
              <a:solidFill>
                <a:srgbClr val="B03A1F"/>
              </a:solidFill>
              <a:ln>
                <a:noFill/>
              </a:ln>
            </p:spPr>
          </p:sp>
          <p:sp>
            <p:nvSpPr>
              <p:cNvPr id="163" name="TextBox 163"/>
              <p:cNvSpPr txBox="1"/>
              <p:nvPr/>
            </p:nvSpPr>
            <p:spPr>
              <a:xfrm>
                <a:off x="3595688" y="460938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信息真实披露</a:t>
                </a:r>
              </a:p>
            </p:txBody>
          </p:sp>
          <p:sp>
            <p:nvSpPr>
              <p:cNvPr id="164" name="Ellipse 164"/>
              <p:cNvSpPr/>
              <p:nvPr/>
            </p:nvSpPr>
            <p:spPr>
              <a:xfrm>
                <a:off x="3503295" y="5074920"/>
                <a:ext cx="41910" cy="41910"/>
              </a:xfrm>
              <a:prstGeom prst="ellipse">
                <a:avLst/>
              </a:prstGeom>
              <a:solidFill>
                <a:srgbClr val="B03A1F"/>
              </a:solidFill>
              <a:ln>
                <a:noFill/>
              </a:ln>
            </p:spPr>
          </p:sp>
          <p:sp>
            <p:nvSpPr>
              <p:cNvPr id="165" name="TextBox 165"/>
              <p:cNvSpPr txBox="1"/>
              <p:nvPr/>
            </p:nvSpPr>
            <p:spPr>
              <a:xfrm>
                <a:off x="3595688" y="50475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合规公平透明</a:t>
                </a:r>
              </a:p>
            </p:txBody>
          </p:sp>
          <p:sp>
            <p:nvSpPr>
              <p:cNvPr id="166" name="Ellipse 166"/>
              <p:cNvSpPr/>
              <p:nvPr/>
            </p:nvSpPr>
            <p:spPr>
              <a:xfrm>
                <a:off x="3503295" y="5513070"/>
                <a:ext cx="41910" cy="41910"/>
              </a:xfrm>
              <a:prstGeom prst="ellipse">
                <a:avLst/>
              </a:prstGeom>
              <a:solidFill>
                <a:srgbClr val="B03A1F"/>
              </a:solidFill>
              <a:ln>
                <a:noFill/>
              </a:ln>
            </p:spPr>
          </p:sp>
          <p:sp>
            <p:nvSpPr>
              <p:cNvPr id="167" name="TextBox 167"/>
              <p:cNvSpPr txBox="1"/>
              <p:nvPr/>
            </p:nvSpPr>
            <p:spPr>
              <a:xfrm>
                <a:off x="3595688" y="548568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禁止误导与诱导</a:t>
                </a:r>
              </a:p>
            </p:txBody>
          </p:sp>
          <p:sp>
            <p:nvSpPr>
              <p:cNvPr id="168" name="Ellipse 168"/>
              <p:cNvSpPr/>
              <p:nvPr/>
            </p:nvSpPr>
            <p:spPr>
              <a:xfrm>
                <a:off x="3503295" y="5951220"/>
                <a:ext cx="41910" cy="41910"/>
              </a:xfrm>
              <a:prstGeom prst="ellipse">
                <a:avLst/>
              </a:prstGeom>
              <a:solidFill>
                <a:srgbClr val="B03A1F"/>
              </a:solidFill>
              <a:ln>
                <a:noFill/>
              </a:ln>
            </p:spPr>
          </p:sp>
          <p:sp>
            <p:nvSpPr>
              <p:cNvPr id="169" name="TextBox 169"/>
              <p:cNvSpPr txBox="1"/>
              <p:nvPr/>
            </p:nvSpPr>
            <p:spPr>
              <a:xfrm>
                <a:off x="3595688" y="592383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隐私与信息保护</a:t>
                </a:r>
              </a:p>
            </p:txBody>
          </p:sp>
        </p:grpSp>
        <p:grpSp>
          <p:nvGrpSpPr>
            <p:cNvPr id="184" name="shield-card-4"/>
            <p:cNvGrpSpPr/>
            <p:nvPr/>
          </p:nvGrpSpPr>
          <p:grpSpPr>
            <a:xfrm>
              <a:off x="4486275" y="3562350"/>
              <a:ext cx="1076325" cy="2857500"/>
              <a:chOff x="4486275" y="3562350"/>
              <a:chExt cx="1076325" cy="2857500"/>
            </a:xfrm>
          </p:grpSpPr>
          <p:sp>
            <p:nvSpPr>
              <p:cNvPr id="171" name="Rectangle 171"/>
              <p:cNvSpPr/>
              <p:nvPr/>
            </p:nvSpPr>
            <p:spPr>
              <a:xfrm>
                <a:off x="4486275" y="3562350"/>
                <a:ext cx="1076325" cy="2857500"/>
              </a:xfrm>
              <a:prstGeom prst="rect">
                <a:avLst/>
              </a:prstGeom>
              <a:solidFill>
                <a:srgbClr val="FFFFFF"/>
              </a:solidFill>
              <a:ln w="9525">
                <a:solidFill>
                  <a:srgbClr val="E5E0DC"/>
                </a:solidFill>
              </a:ln>
            </p:spPr>
          </p:sp>
          <p:sp>
            <p:nvSpPr>
              <p:cNvPr id="172" name="TextBox 172"/>
              <p:cNvSpPr txBox="1"/>
              <p:nvPr/>
            </p:nvSpPr>
            <p:spPr>
              <a:xfrm>
                <a:off x="4741862" y="3678793"/>
                <a:ext cx="555625" cy="321469"/>
              </a:xfrm>
              <a:prstGeom prst="rect">
                <a:avLst/>
              </a:prstGeom>
              <a:noFill/>
              <a:ln>
                <a:noFill/>
              </a:ln>
            </p:spPr>
            <p:txBody>
              <a:bodyPr wrap="none" lIns="0" tIns="0" rIns="0" bIns="0" anchor="t" anchorCtr="0">
                <a:spAutoFit/>
              </a:bodyPr>
              <a:lstStyle/>
              <a:p>
                <a:pPr algn="ctr">
                  <a:lnSpc>
                    <a:spcPts val="1200"/>
                  </a:lnSpc>
                </a:pPr>
                <a:r>
                  <a:rPr lang="zh-CN" sz="860" b="1" dirty="0">
                    <a:solidFill>
                      <a:srgbClr val="B03A1F"/>
                    </a:solidFill>
                    <a:latin typeface="+mn-lt"/>
                    <a:ea typeface="+mn-ea"/>
                    <a:cs typeface="+mn-cs"/>
                  </a:rPr>
                  <a:t>模型风险与</a:t>
                </a:r>
                <a:br/>
                <a:r>
                  <a:rPr lang="zh-CN" sz="860" b="1" dirty="0">
                    <a:solidFill>
                      <a:srgbClr val="B03A1F"/>
                    </a:solidFill>
                    <a:latin typeface="+mn-lt"/>
                    <a:ea typeface="+mn-ea"/>
                    <a:cs typeface="+mn-cs"/>
                  </a:rPr>
                  <a:t>人工复核</a:t>
                </a:r>
              </a:p>
            </p:txBody>
          </p:sp>
          <p:grpSp>
            <p:nvGrpSpPr>
              <p:cNvPr id="175" name="Group 175"/>
              <p:cNvGrpSpPr/>
              <p:nvPr/>
            </p:nvGrpSpPr>
            <p:grpSpPr>
              <a:xfrm>
                <a:off x="4896451" y="4074319"/>
                <a:ext cx="232508" cy="214312"/>
                <a:chOff x="4896451" y="4074319"/>
                <a:chExt cx="232508" cy="214312"/>
              </a:xfrm>
            </p:grpSpPr>
            <p:sp>
              <p:nvSpPr>
                <p:cNvPr id="173" name="Freeform 173"/>
                <p:cNvSpPr/>
                <p:nvPr/>
              </p:nvSpPr>
              <p:spPr>
                <a:xfrm>
                  <a:off x="4896451" y="407431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B03A1F"/>
                  </a:solidFill>
                </a:ln>
              </p:spPr>
            </p:sp>
            <p:sp>
              <p:nvSpPr>
                <p:cNvPr id="174" name="Freeform 174"/>
                <p:cNvSpPr/>
                <p:nvPr/>
              </p:nvSpPr>
              <p:spPr>
                <a:xfrm>
                  <a:off x="5055394" y="4241006"/>
                  <a:ext cx="71438" cy="47625"/>
                </a:xfrm>
                <a:custGeom>
                  <a:avLst/>
                  <a:gdLst/>
                  <a:ahLst/>
                  <a:cxnLst/>
                  <a:rect l="l" t="t" r="r" b="b"/>
                  <a:pathLst>
                    <a:path w="71438" h="47625">
                      <a:moveTo>
                        <a:pt x="0" y="23812"/>
                      </a:moveTo>
                      <a:lnTo>
                        <a:pt x="23812" y="47625"/>
                      </a:lnTo>
                      <a:lnTo>
                        <a:pt x="71438" y="0"/>
                      </a:lnTo>
                    </a:path>
                  </a:pathLst>
                </a:custGeom>
                <a:noFill/>
                <a:ln w="23812">
                  <a:solidFill>
                    <a:srgbClr val="B03A1F"/>
                  </a:solidFill>
                </a:ln>
              </p:spPr>
            </p:sp>
          </p:grpSp>
          <p:sp>
            <p:nvSpPr>
              <p:cNvPr id="176" name="Ellipse 176"/>
              <p:cNvSpPr/>
              <p:nvPr/>
            </p:nvSpPr>
            <p:spPr>
              <a:xfrm>
                <a:off x="4617720" y="4665345"/>
                <a:ext cx="41910" cy="41910"/>
              </a:xfrm>
              <a:prstGeom prst="ellipse">
                <a:avLst/>
              </a:prstGeom>
              <a:solidFill>
                <a:srgbClr val="B03A1F"/>
              </a:solidFill>
              <a:ln>
                <a:noFill/>
              </a:ln>
            </p:spPr>
          </p:sp>
          <p:sp>
            <p:nvSpPr>
              <p:cNvPr id="177" name="TextBox 177"/>
              <p:cNvSpPr txBox="1"/>
              <p:nvPr/>
            </p:nvSpPr>
            <p:spPr>
              <a:xfrm>
                <a:off x="4710112" y="4637961"/>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模型开发验证</a:t>
                </a:r>
              </a:p>
            </p:txBody>
          </p:sp>
          <p:sp>
            <p:nvSpPr>
              <p:cNvPr id="178" name="Ellipse 178"/>
              <p:cNvSpPr/>
              <p:nvPr/>
            </p:nvSpPr>
            <p:spPr>
              <a:xfrm>
                <a:off x="4617720" y="5103495"/>
                <a:ext cx="41910" cy="41910"/>
              </a:xfrm>
              <a:prstGeom prst="ellipse">
                <a:avLst/>
              </a:prstGeom>
              <a:solidFill>
                <a:srgbClr val="B03A1F"/>
              </a:solidFill>
              <a:ln>
                <a:noFill/>
              </a:ln>
            </p:spPr>
          </p:sp>
          <p:sp>
            <p:nvSpPr>
              <p:cNvPr id="179" name="TextBox 179"/>
              <p:cNvSpPr txBox="1"/>
              <p:nvPr/>
            </p:nvSpPr>
            <p:spPr>
              <a:xfrm>
                <a:off x="4710112" y="5076111"/>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模型监控与调优</a:t>
                </a:r>
              </a:p>
            </p:txBody>
          </p:sp>
          <p:sp>
            <p:nvSpPr>
              <p:cNvPr id="180" name="Ellipse 180"/>
              <p:cNvSpPr/>
              <p:nvPr/>
            </p:nvSpPr>
            <p:spPr>
              <a:xfrm>
                <a:off x="4617720" y="5541645"/>
                <a:ext cx="41910" cy="41910"/>
              </a:xfrm>
              <a:prstGeom prst="ellipse">
                <a:avLst/>
              </a:prstGeom>
              <a:solidFill>
                <a:srgbClr val="B03A1F"/>
              </a:solidFill>
              <a:ln>
                <a:noFill/>
              </a:ln>
            </p:spPr>
          </p:sp>
          <p:sp>
            <p:nvSpPr>
              <p:cNvPr id="181" name="TextBox 181"/>
              <p:cNvSpPr txBox="1"/>
              <p:nvPr/>
            </p:nvSpPr>
            <p:spPr>
              <a:xfrm>
                <a:off x="4710112" y="5514261"/>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关键规则校验</a:t>
                </a:r>
              </a:p>
            </p:txBody>
          </p:sp>
          <p:sp>
            <p:nvSpPr>
              <p:cNvPr id="182" name="Ellipse 182"/>
              <p:cNvSpPr/>
              <p:nvPr/>
            </p:nvSpPr>
            <p:spPr>
              <a:xfrm>
                <a:off x="4617720" y="5979795"/>
                <a:ext cx="41910" cy="41910"/>
              </a:xfrm>
              <a:prstGeom prst="ellipse">
                <a:avLst/>
              </a:prstGeom>
              <a:solidFill>
                <a:srgbClr val="B03A1F"/>
              </a:solidFill>
              <a:ln>
                <a:noFill/>
              </a:ln>
            </p:spPr>
          </p:sp>
          <p:sp>
            <p:nvSpPr>
              <p:cNvPr id="183" name="TextBox 183"/>
              <p:cNvSpPr txBox="1"/>
              <p:nvPr/>
            </p:nvSpPr>
            <p:spPr>
              <a:xfrm>
                <a:off x="4710112" y="5952411"/>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人工复核机制</a:t>
                </a:r>
              </a:p>
            </p:txBody>
          </p:sp>
        </p:grpSp>
        <p:grpSp>
          <p:nvGrpSpPr>
            <p:cNvPr id="198" name="shield-card-5"/>
            <p:cNvGrpSpPr/>
            <p:nvPr/>
          </p:nvGrpSpPr>
          <p:grpSpPr>
            <a:xfrm>
              <a:off x="5600700" y="3562350"/>
              <a:ext cx="1076325" cy="2857500"/>
              <a:chOff x="5600700" y="3562350"/>
              <a:chExt cx="1076325" cy="2857500"/>
            </a:xfrm>
          </p:grpSpPr>
          <p:sp>
            <p:nvSpPr>
              <p:cNvPr id="185" name="Rectangle 185"/>
              <p:cNvSpPr/>
              <p:nvPr/>
            </p:nvSpPr>
            <p:spPr>
              <a:xfrm>
                <a:off x="5600700" y="3562350"/>
                <a:ext cx="1076325" cy="2857500"/>
              </a:xfrm>
              <a:prstGeom prst="rect">
                <a:avLst/>
              </a:prstGeom>
              <a:solidFill>
                <a:srgbClr val="FFFFFF"/>
              </a:solidFill>
              <a:ln w="9525">
                <a:solidFill>
                  <a:srgbClr val="E5E0DC"/>
                </a:solidFill>
              </a:ln>
            </p:spPr>
          </p:sp>
          <p:sp>
            <p:nvSpPr>
              <p:cNvPr id="186" name="TextBox 186"/>
              <p:cNvSpPr txBox="1"/>
              <p:nvPr/>
            </p:nvSpPr>
            <p:spPr>
              <a:xfrm>
                <a:off x="5782018" y="3735943"/>
                <a:ext cx="704164" cy="169069"/>
              </a:xfrm>
              <a:prstGeom prst="rect">
                <a:avLst/>
              </a:prstGeom>
              <a:noFill/>
              <a:ln>
                <a:noFill/>
              </a:ln>
            </p:spPr>
            <p:txBody>
              <a:bodyPr wrap="none" lIns="0" tIns="0" rIns="0" bIns="0" anchor="t" anchorCtr="0">
                <a:spAutoFit/>
              </a:bodyPr>
              <a:lstStyle/>
              <a:p>
                <a:pPr algn="ctr"/>
                <a:r>
                  <a:rPr lang="zh-CN" sz="860" b="1" dirty="0">
                    <a:solidFill>
                      <a:srgbClr val="B03A1F"/>
                    </a:solidFill>
                    <a:latin typeface="+mn-lt"/>
                    <a:ea typeface="+mn-ea"/>
                    <a:cs typeface="+mn-cs"/>
                  </a:rPr>
                  <a:t>资金用途监测</a:t>
                </a:r>
              </a:p>
            </p:txBody>
          </p:sp>
          <p:grpSp>
            <p:nvGrpSpPr>
              <p:cNvPr id="189" name="Group 189"/>
              <p:cNvGrpSpPr/>
              <p:nvPr/>
            </p:nvGrpSpPr>
            <p:grpSpPr>
              <a:xfrm>
                <a:off x="6010876" y="4017169"/>
                <a:ext cx="232508" cy="214312"/>
                <a:chOff x="6010876" y="4017169"/>
                <a:chExt cx="232508" cy="214312"/>
              </a:xfrm>
            </p:grpSpPr>
            <p:sp>
              <p:nvSpPr>
                <p:cNvPr id="187" name="Freeform 187"/>
                <p:cNvSpPr/>
                <p:nvPr/>
              </p:nvSpPr>
              <p:spPr>
                <a:xfrm>
                  <a:off x="6010876" y="40171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B03A1F"/>
                  </a:solidFill>
                </a:ln>
              </p:spPr>
            </p:sp>
            <p:sp>
              <p:nvSpPr>
                <p:cNvPr id="188" name="Freeform 188"/>
                <p:cNvSpPr/>
                <p:nvPr/>
              </p:nvSpPr>
              <p:spPr>
                <a:xfrm>
                  <a:off x="6169819" y="4183856"/>
                  <a:ext cx="71438" cy="47625"/>
                </a:xfrm>
                <a:custGeom>
                  <a:avLst/>
                  <a:gdLst/>
                  <a:ahLst/>
                  <a:cxnLst/>
                  <a:rect l="l" t="t" r="r" b="b"/>
                  <a:pathLst>
                    <a:path w="71438" h="47625">
                      <a:moveTo>
                        <a:pt x="0" y="23812"/>
                      </a:moveTo>
                      <a:lnTo>
                        <a:pt x="23812" y="47625"/>
                      </a:lnTo>
                      <a:lnTo>
                        <a:pt x="71438" y="0"/>
                      </a:lnTo>
                    </a:path>
                  </a:pathLst>
                </a:custGeom>
                <a:noFill/>
                <a:ln w="23812">
                  <a:solidFill>
                    <a:srgbClr val="B03A1F"/>
                  </a:solidFill>
                </a:ln>
              </p:spPr>
            </p:sp>
          </p:grpSp>
          <p:sp>
            <p:nvSpPr>
              <p:cNvPr id="190" name="Ellipse 190"/>
              <p:cNvSpPr/>
              <p:nvPr/>
            </p:nvSpPr>
            <p:spPr>
              <a:xfrm>
                <a:off x="5732145" y="4636770"/>
                <a:ext cx="41910" cy="41910"/>
              </a:xfrm>
              <a:prstGeom prst="ellipse">
                <a:avLst/>
              </a:prstGeom>
              <a:solidFill>
                <a:srgbClr val="B03A1F"/>
              </a:solidFill>
              <a:ln>
                <a:noFill/>
              </a:ln>
            </p:spPr>
          </p:sp>
          <p:sp>
            <p:nvSpPr>
              <p:cNvPr id="191" name="TextBox 191"/>
              <p:cNvSpPr txBox="1"/>
              <p:nvPr/>
            </p:nvSpPr>
            <p:spPr>
              <a:xfrm>
                <a:off x="5824538" y="460938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资金用途识别</a:t>
                </a:r>
              </a:p>
            </p:txBody>
          </p:sp>
          <p:sp>
            <p:nvSpPr>
              <p:cNvPr id="192" name="Ellipse 192"/>
              <p:cNvSpPr/>
              <p:nvPr/>
            </p:nvSpPr>
            <p:spPr>
              <a:xfrm>
                <a:off x="5732145" y="5074920"/>
                <a:ext cx="41910" cy="41910"/>
              </a:xfrm>
              <a:prstGeom prst="ellipse">
                <a:avLst/>
              </a:prstGeom>
              <a:solidFill>
                <a:srgbClr val="B03A1F"/>
              </a:solidFill>
              <a:ln>
                <a:noFill/>
              </a:ln>
            </p:spPr>
          </p:sp>
          <p:sp>
            <p:nvSpPr>
              <p:cNvPr id="193" name="TextBox 193"/>
              <p:cNvSpPr txBox="1"/>
              <p:nvPr/>
            </p:nvSpPr>
            <p:spPr>
              <a:xfrm>
                <a:off x="5824538" y="50475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流向监测分析</a:t>
                </a:r>
              </a:p>
            </p:txBody>
          </p:sp>
          <p:sp>
            <p:nvSpPr>
              <p:cNvPr id="194" name="Ellipse 194"/>
              <p:cNvSpPr/>
              <p:nvPr/>
            </p:nvSpPr>
            <p:spPr>
              <a:xfrm>
                <a:off x="5732145" y="5513070"/>
                <a:ext cx="41910" cy="41910"/>
              </a:xfrm>
              <a:prstGeom prst="ellipse">
                <a:avLst/>
              </a:prstGeom>
              <a:solidFill>
                <a:srgbClr val="B03A1F"/>
              </a:solidFill>
              <a:ln>
                <a:noFill/>
              </a:ln>
            </p:spPr>
          </p:sp>
          <p:sp>
            <p:nvSpPr>
              <p:cNvPr id="195" name="TextBox 195"/>
              <p:cNvSpPr txBox="1"/>
              <p:nvPr/>
            </p:nvSpPr>
            <p:spPr>
              <a:xfrm>
                <a:off x="5824538" y="548568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异常交易处置</a:t>
                </a:r>
              </a:p>
            </p:txBody>
          </p:sp>
          <p:sp>
            <p:nvSpPr>
              <p:cNvPr id="196" name="Ellipse 196"/>
              <p:cNvSpPr/>
              <p:nvPr/>
            </p:nvSpPr>
            <p:spPr>
              <a:xfrm>
                <a:off x="5732145" y="5951220"/>
                <a:ext cx="41910" cy="41910"/>
              </a:xfrm>
              <a:prstGeom prst="ellipse">
                <a:avLst/>
              </a:prstGeom>
              <a:solidFill>
                <a:srgbClr val="B03A1F"/>
              </a:solidFill>
              <a:ln>
                <a:noFill/>
              </a:ln>
            </p:spPr>
          </p:sp>
          <p:sp>
            <p:nvSpPr>
              <p:cNvPr id="197" name="TextBox 197"/>
              <p:cNvSpPr txBox="1"/>
              <p:nvPr/>
            </p:nvSpPr>
            <p:spPr>
              <a:xfrm>
                <a:off x="5824538" y="59238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用途合规核验</a:t>
                </a:r>
              </a:p>
            </p:txBody>
          </p:sp>
        </p:grpSp>
        <p:grpSp>
          <p:nvGrpSpPr>
            <p:cNvPr id="212" name="shield-card-6"/>
            <p:cNvGrpSpPr/>
            <p:nvPr/>
          </p:nvGrpSpPr>
          <p:grpSpPr>
            <a:xfrm>
              <a:off x="6715125" y="3562350"/>
              <a:ext cx="1076325" cy="2857500"/>
              <a:chOff x="6715125" y="3562350"/>
              <a:chExt cx="1076325" cy="2857500"/>
            </a:xfrm>
          </p:grpSpPr>
          <p:sp>
            <p:nvSpPr>
              <p:cNvPr id="199" name="Rectangle 199"/>
              <p:cNvSpPr/>
              <p:nvPr/>
            </p:nvSpPr>
            <p:spPr>
              <a:xfrm>
                <a:off x="6715125" y="3562350"/>
                <a:ext cx="1076325" cy="2857500"/>
              </a:xfrm>
              <a:prstGeom prst="rect">
                <a:avLst/>
              </a:prstGeom>
              <a:solidFill>
                <a:srgbClr val="FFFFFF"/>
              </a:solidFill>
              <a:ln w="9525">
                <a:solidFill>
                  <a:srgbClr val="E5E0DC"/>
                </a:solidFill>
              </a:ln>
            </p:spPr>
          </p:sp>
          <p:sp>
            <p:nvSpPr>
              <p:cNvPr id="200" name="TextBox 200"/>
              <p:cNvSpPr txBox="1"/>
              <p:nvPr/>
            </p:nvSpPr>
            <p:spPr>
              <a:xfrm>
                <a:off x="7012216" y="3735943"/>
                <a:ext cx="472618" cy="169069"/>
              </a:xfrm>
              <a:prstGeom prst="rect">
                <a:avLst/>
              </a:prstGeom>
              <a:noFill/>
              <a:ln>
                <a:noFill/>
              </a:ln>
            </p:spPr>
            <p:txBody>
              <a:bodyPr wrap="none" lIns="0" tIns="0" rIns="0" bIns="0" anchor="t" anchorCtr="0">
                <a:spAutoFit/>
              </a:bodyPr>
              <a:lstStyle/>
              <a:p>
                <a:pPr algn="ctr"/>
                <a:r>
                  <a:rPr lang="zh-CN" sz="860" b="1" dirty="0">
                    <a:solidFill>
                      <a:srgbClr val="B03A1F"/>
                    </a:solidFill>
                    <a:latin typeface="+mn-lt"/>
                    <a:ea typeface="+mn-ea"/>
                    <a:cs typeface="+mn-cs"/>
                  </a:rPr>
                  <a:t>逾期预警</a:t>
                </a:r>
              </a:p>
            </p:txBody>
          </p:sp>
          <p:grpSp>
            <p:nvGrpSpPr>
              <p:cNvPr id="203" name="Group 203"/>
              <p:cNvGrpSpPr/>
              <p:nvPr/>
            </p:nvGrpSpPr>
            <p:grpSpPr>
              <a:xfrm>
                <a:off x="7125301" y="4017169"/>
                <a:ext cx="232508" cy="214312"/>
                <a:chOff x="7125301" y="4017169"/>
                <a:chExt cx="232508" cy="214312"/>
              </a:xfrm>
            </p:grpSpPr>
            <p:sp>
              <p:nvSpPr>
                <p:cNvPr id="201" name="Freeform 201"/>
                <p:cNvSpPr/>
                <p:nvPr/>
              </p:nvSpPr>
              <p:spPr>
                <a:xfrm>
                  <a:off x="7125301" y="40171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B03A1F"/>
                  </a:solidFill>
                </a:ln>
              </p:spPr>
            </p:sp>
            <p:sp>
              <p:nvSpPr>
                <p:cNvPr id="202" name="Freeform 202"/>
                <p:cNvSpPr/>
                <p:nvPr/>
              </p:nvSpPr>
              <p:spPr>
                <a:xfrm>
                  <a:off x="7284244" y="4183856"/>
                  <a:ext cx="71438" cy="47625"/>
                </a:xfrm>
                <a:custGeom>
                  <a:avLst/>
                  <a:gdLst/>
                  <a:ahLst/>
                  <a:cxnLst/>
                  <a:rect l="l" t="t" r="r" b="b"/>
                  <a:pathLst>
                    <a:path w="71438" h="47625">
                      <a:moveTo>
                        <a:pt x="0" y="23812"/>
                      </a:moveTo>
                      <a:lnTo>
                        <a:pt x="23812" y="47625"/>
                      </a:lnTo>
                      <a:lnTo>
                        <a:pt x="71438" y="0"/>
                      </a:lnTo>
                    </a:path>
                  </a:pathLst>
                </a:custGeom>
                <a:noFill/>
                <a:ln w="23812">
                  <a:solidFill>
                    <a:srgbClr val="B03A1F"/>
                  </a:solidFill>
                </a:ln>
              </p:spPr>
            </p:sp>
          </p:grpSp>
          <p:sp>
            <p:nvSpPr>
              <p:cNvPr id="204" name="Ellipse 204"/>
              <p:cNvSpPr/>
              <p:nvPr/>
            </p:nvSpPr>
            <p:spPr>
              <a:xfrm>
                <a:off x="6846570" y="4636770"/>
                <a:ext cx="41910" cy="41910"/>
              </a:xfrm>
              <a:prstGeom prst="ellipse">
                <a:avLst/>
              </a:prstGeom>
              <a:solidFill>
                <a:srgbClr val="B03A1F"/>
              </a:solidFill>
              <a:ln>
                <a:noFill/>
              </a:ln>
            </p:spPr>
          </p:sp>
          <p:sp>
            <p:nvSpPr>
              <p:cNvPr id="205" name="TextBox 205"/>
              <p:cNvSpPr txBox="1"/>
              <p:nvPr/>
            </p:nvSpPr>
            <p:spPr>
              <a:xfrm>
                <a:off x="6938962" y="460938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还款行为监测</a:t>
                </a:r>
              </a:p>
            </p:txBody>
          </p:sp>
          <p:sp>
            <p:nvSpPr>
              <p:cNvPr id="206" name="Ellipse 206"/>
              <p:cNvSpPr/>
              <p:nvPr/>
            </p:nvSpPr>
            <p:spPr>
              <a:xfrm>
                <a:off x="6846570" y="5074920"/>
                <a:ext cx="41910" cy="41910"/>
              </a:xfrm>
              <a:prstGeom prst="ellipse">
                <a:avLst/>
              </a:prstGeom>
              <a:solidFill>
                <a:srgbClr val="B03A1F"/>
              </a:solidFill>
              <a:ln>
                <a:noFill/>
              </a:ln>
            </p:spPr>
          </p:sp>
          <p:sp>
            <p:nvSpPr>
              <p:cNvPr id="207" name="TextBox 207"/>
              <p:cNvSpPr txBox="1"/>
              <p:nvPr/>
            </p:nvSpPr>
            <p:spPr>
              <a:xfrm>
                <a:off x="6938962" y="50475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预警分级管理</a:t>
                </a:r>
              </a:p>
            </p:txBody>
          </p:sp>
          <p:sp>
            <p:nvSpPr>
              <p:cNvPr id="208" name="Ellipse 208"/>
              <p:cNvSpPr/>
              <p:nvPr/>
            </p:nvSpPr>
            <p:spPr>
              <a:xfrm>
                <a:off x="6846570" y="5513070"/>
                <a:ext cx="41910" cy="41910"/>
              </a:xfrm>
              <a:prstGeom prst="ellipse">
                <a:avLst/>
              </a:prstGeom>
              <a:solidFill>
                <a:srgbClr val="B03A1F"/>
              </a:solidFill>
              <a:ln>
                <a:noFill/>
              </a:ln>
            </p:spPr>
          </p:sp>
          <p:sp>
            <p:nvSpPr>
              <p:cNvPr id="209" name="TextBox 209"/>
              <p:cNvSpPr txBox="1"/>
              <p:nvPr/>
            </p:nvSpPr>
            <p:spPr>
              <a:xfrm>
                <a:off x="6938962" y="548568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催收合规管理</a:t>
                </a:r>
              </a:p>
            </p:txBody>
          </p:sp>
          <p:sp>
            <p:nvSpPr>
              <p:cNvPr id="210" name="Ellipse 210"/>
              <p:cNvSpPr/>
              <p:nvPr/>
            </p:nvSpPr>
            <p:spPr>
              <a:xfrm>
                <a:off x="6846570" y="5951220"/>
                <a:ext cx="41910" cy="41910"/>
              </a:xfrm>
              <a:prstGeom prst="ellipse">
                <a:avLst/>
              </a:prstGeom>
              <a:solidFill>
                <a:srgbClr val="B03A1F"/>
              </a:solidFill>
              <a:ln>
                <a:noFill/>
              </a:ln>
            </p:spPr>
          </p:sp>
          <p:sp>
            <p:nvSpPr>
              <p:cNvPr id="211" name="TextBox 211"/>
              <p:cNvSpPr txBox="1"/>
              <p:nvPr/>
            </p:nvSpPr>
            <p:spPr>
              <a:xfrm>
                <a:off x="6938962" y="59238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风险缓释措施</a:t>
                </a:r>
              </a:p>
            </p:txBody>
          </p:sp>
        </p:grpSp>
        <p:grpSp>
          <p:nvGrpSpPr>
            <p:cNvPr id="226" name="shield-card-7"/>
            <p:cNvGrpSpPr/>
            <p:nvPr/>
          </p:nvGrpSpPr>
          <p:grpSpPr>
            <a:xfrm>
              <a:off x="7829550" y="3562350"/>
              <a:ext cx="1076325" cy="2857500"/>
              <a:chOff x="7829550" y="3562350"/>
              <a:chExt cx="1076325" cy="2857500"/>
            </a:xfrm>
          </p:grpSpPr>
          <p:sp>
            <p:nvSpPr>
              <p:cNvPr id="213" name="Rectangle 213"/>
              <p:cNvSpPr/>
              <p:nvPr/>
            </p:nvSpPr>
            <p:spPr>
              <a:xfrm>
                <a:off x="7829550" y="3562350"/>
                <a:ext cx="1076325" cy="2857500"/>
              </a:xfrm>
              <a:prstGeom prst="rect">
                <a:avLst/>
              </a:prstGeom>
              <a:solidFill>
                <a:srgbClr val="FFFFFF"/>
              </a:solidFill>
              <a:ln w="9525">
                <a:solidFill>
                  <a:srgbClr val="E5E0DC"/>
                </a:solidFill>
              </a:ln>
            </p:spPr>
          </p:sp>
          <p:sp>
            <p:nvSpPr>
              <p:cNvPr id="214" name="TextBox 214"/>
              <p:cNvSpPr txBox="1"/>
              <p:nvPr/>
            </p:nvSpPr>
            <p:spPr>
              <a:xfrm>
                <a:off x="8126641" y="3735943"/>
                <a:ext cx="472618" cy="169069"/>
              </a:xfrm>
              <a:prstGeom prst="rect">
                <a:avLst/>
              </a:prstGeom>
              <a:noFill/>
              <a:ln>
                <a:noFill/>
              </a:ln>
            </p:spPr>
            <p:txBody>
              <a:bodyPr wrap="none" lIns="0" tIns="0" rIns="0" bIns="0" anchor="t" anchorCtr="0">
                <a:spAutoFit/>
              </a:bodyPr>
              <a:lstStyle/>
              <a:p>
                <a:pPr algn="ctr"/>
                <a:r>
                  <a:rPr lang="zh-CN" sz="860" b="1" dirty="0">
                    <a:solidFill>
                      <a:srgbClr val="B03A1F"/>
                    </a:solidFill>
                    <a:latin typeface="+mn-lt"/>
                    <a:ea typeface="+mn-ea"/>
                    <a:cs typeface="+mn-cs"/>
                  </a:rPr>
                  <a:t>问题闭环</a:t>
                </a:r>
              </a:p>
            </p:txBody>
          </p:sp>
          <p:grpSp>
            <p:nvGrpSpPr>
              <p:cNvPr id="217" name="Group 217"/>
              <p:cNvGrpSpPr/>
              <p:nvPr/>
            </p:nvGrpSpPr>
            <p:grpSpPr>
              <a:xfrm>
                <a:off x="8239726" y="4017169"/>
                <a:ext cx="232508" cy="214312"/>
                <a:chOff x="8239726" y="4017169"/>
                <a:chExt cx="232508" cy="214312"/>
              </a:xfrm>
            </p:grpSpPr>
            <p:sp>
              <p:nvSpPr>
                <p:cNvPr id="215" name="Freeform 215"/>
                <p:cNvSpPr/>
                <p:nvPr/>
              </p:nvSpPr>
              <p:spPr>
                <a:xfrm>
                  <a:off x="8239726" y="40171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B03A1F"/>
                  </a:solidFill>
                </a:ln>
              </p:spPr>
            </p:sp>
            <p:sp>
              <p:nvSpPr>
                <p:cNvPr id="216" name="Freeform 216"/>
                <p:cNvSpPr/>
                <p:nvPr/>
              </p:nvSpPr>
              <p:spPr>
                <a:xfrm>
                  <a:off x="8398669" y="4183856"/>
                  <a:ext cx="71438" cy="47625"/>
                </a:xfrm>
                <a:custGeom>
                  <a:avLst/>
                  <a:gdLst/>
                  <a:ahLst/>
                  <a:cxnLst/>
                  <a:rect l="l" t="t" r="r" b="b"/>
                  <a:pathLst>
                    <a:path w="71438" h="47625">
                      <a:moveTo>
                        <a:pt x="0" y="23812"/>
                      </a:moveTo>
                      <a:lnTo>
                        <a:pt x="23812" y="47625"/>
                      </a:lnTo>
                      <a:lnTo>
                        <a:pt x="71438" y="0"/>
                      </a:lnTo>
                    </a:path>
                  </a:pathLst>
                </a:custGeom>
                <a:noFill/>
                <a:ln w="23812">
                  <a:solidFill>
                    <a:srgbClr val="B03A1F"/>
                  </a:solidFill>
                </a:ln>
              </p:spPr>
            </p:sp>
          </p:grpSp>
          <p:sp>
            <p:nvSpPr>
              <p:cNvPr id="218" name="Ellipse 218"/>
              <p:cNvSpPr/>
              <p:nvPr/>
            </p:nvSpPr>
            <p:spPr>
              <a:xfrm>
                <a:off x="7960995" y="4636770"/>
                <a:ext cx="41910" cy="41910"/>
              </a:xfrm>
              <a:prstGeom prst="ellipse">
                <a:avLst/>
              </a:prstGeom>
              <a:solidFill>
                <a:srgbClr val="B03A1F"/>
              </a:solidFill>
              <a:ln>
                <a:noFill/>
              </a:ln>
            </p:spPr>
          </p:sp>
          <p:sp>
            <p:nvSpPr>
              <p:cNvPr id="219" name="TextBox 219"/>
              <p:cNvSpPr txBox="1"/>
              <p:nvPr/>
            </p:nvSpPr>
            <p:spPr>
              <a:xfrm>
                <a:off x="8053388" y="460938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投诉受理规范</a:t>
                </a:r>
              </a:p>
            </p:txBody>
          </p:sp>
          <p:sp>
            <p:nvSpPr>
              <p:cNvPr id="220" name="Ellipse 220"/>
              <p:cNvSpPr/>
              <p:nvPr/>
            </p:nvSpPr>
            <p:spPr>
              <a:xfrm>
                <a:off x="7960995" y="5074920"/>
                <a:ext cx="41910" cy="41910"/>
              </a:xfrm>
              <a:prstGeom prst="ellipse">
                <a:avLst/>
              </a:prstGeom>
              <a:solidFill>
                <a:srgbClr val="B03A1F"/>
              </a:solidFill>
              <a:ln>
                <a:noFill/>
              </a:ln>
            </p:spPr>
          </p:sp>
          <p:sp>
            <p:nvSpPr>
              <p:cNvPr id="221" name="TextBox 221"/>
              <p:cNvSpPr txBox="1"/>
              <p:nvPr/>
            </p:nvSpPr>
            <p:spPr>
              <a:xfrm>
                <a:off x="8053388" y="50475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问题根因分析</a:t>
                </a:r>
              </a:p>
            </p:txBody>
          </p:sp>
          <p:sp>
            <p:nvSpPr>
              <p:cNvPr id="222" name="Ellipse 222"/>
              <p:cNvSpPr/>
              <p:nvPr/>
            </p:nvSpPr>
            <p:spPr>
              <a:xfrm>
                <a:off x="7960995" y="5513070"/>
                <a:ext cx="41910" cy="41910"/>
              </a:xfrm>
              <a:prstGeom prst="ellipse">
                <a:avLst/>
              </a:prstGeom>
              <a:solidFill>
                <a:srgbClr val="B03A1F"/>
              </a:solidFill>
              <a:ln>
                <a:noFill/>
              </a:ln>
            </p:spPr>
          </p:sp>
          <p:sp>
            <p:nvSpPr>
              <p:cNvPr id="223" name="TextBox 223"/>
              <p:cNvSpPr txBox="1"/>
              <p:nvPr/>
            </p:nvSpPr>
            <p:spPr>
              <a:xfrm>
                <a:off x="8053388" y="5485686"/>
                <a:ext cx="48742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处理与补救</a:t>
                </a:r>
              </a:p>
            </p:txBody>
          </p:sp>
          <p:sp>
            <p:nvSpPr>
              <p:cNvPr id="224" name="Ellipse 224"/>
              <p:cNvSpPr/>
              <p:nvPr/>
            </p:nvSpPr>
            <p:spPr>
              <a:xfrm>
                <a:off x="7960995" y="5951220"/>
                <a:ext cx="41910" cy="41910"/>
              </a:xfrm>
              <a:prstGeom prst="ellipse">
                <a:avLst/>
              </a:prstGeom>
              <a:solidFill>
                <a:srgbClr val="B03A1F"/>
              </a:solidFill>
              <a:ln>
                <a:noFill/>
              </a:ln>
            </p:spPr>
          </p:sp>
          <p:sp>
            <p:nvSpPr>
              <p:cNvPr id="225" name="TextBox 225"/>
              <p:cNvSpPr txBox="1"/>
              <p:nvPr/>
            </p:nvSpPr>
            <p:spPr>
              <a:xfrm>
                <a:off x="8053388" y="5923836"/>
                <a:ext cx="67858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复盘与改进闭环</a:t>
                </a:r>
              </a:p>
            </p:txBody>
          </p:sp>
        </p:grpSp>
      </p:grpSp>
      <p:grpSp>
        <p:nvGrpSpPr>
          <p:cNvPr id="277" name="risk-dashboard"/>
          <p:cNvGrpSpPr/>
          <p:nvPr/>
        </p:nvGrpSpPr>
        <p:grpSpPr>
          <a:xfrm>
            <a:off x="9191625" y="742950"/>
            <a:ext cx="2847975" cy="5734050"/>
            <a:chOff x="9191625" y="742950"/>
            <a:chExt cx="2847975" cy="5734050"/>
          </a:xfrm>
        </p:grpSpPr>
        <p:sp>
          <p:nvSpPr>
            <p:cNvPr id="228" name="Rectangle 228"/>
            <p:cNvSpPr/>
            <p:nvPr/>
          </p:nvSpPr>
          <p:spPr>
            <a:xfrm>
              <a:off x="9191625" y="742950"/>
              <a:ext cx="2847975" cy="304800"/>
            </a:xfrm>
            <a:prstGeom prst="rect">
              <a:avLst/>
            </a:prstGeom>
            <a:solidFill>
              <a:srgbClr val="1E1E1E"/>
            </a:solidFill>
            <a:ln>
              <a:noFill/>
            </a:ln>
          </p:spPr>
        </p:sp>
        <p:sp>
          <p:nvSpPr>
            <p:cNvPr id="229" name="TextBox 229"/>
            <p:cNvSpPr txBox="1"/>
            <p:nvPr/>
          </p:nvSpPr>
          <p:spPr>
            <a:xfrm>
              <a:off x="9783559" y="841772"/>
              <a:ext cx="165458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风险态势仪表盘（核心维度）</a:t>
              </a:r>
            </a:p>
          </p:txBody>
        </p:sp>
        <p:grpSp>
          <p:nvGrpSpPr>
            <p:cNvPr id="238" name="dash-row-1"/>
            <p:cNvGrpSpPr/>
            <p:nvPr/>
          </p:nvGrpSpPr>
          <p:grpSpPr>
            <a:xfrm>
              <a:off x="9229725" y="1123950"/>
              <a:ext cx="2771775" cy="1009650"/>
              <a:chOff x="9229725" y="1123950"/>
              <a:chExt cx="2771775" cy="1009650"/>
            </a:xfrm>
          </p:grpSpPr>
          <p:sp>
            <p:nvSpPr>
              <p:cNvPr id="230" name="Rectangle 230"/>
              <p:cNvSpPr/>
              <p:nvPr/>
            </p:nvSpPr>
            <p:spPr>
              <a:xfrm>
                <a:off x="9229725" y="1123950"/>
                <a:ext cx="2771775" cy="1009650"/>
              </a:xfrm>
              <a:prstGeom prst="rect">
                <a:avLst/>
              </a:prstGeom>
              <a:solidFill>
                <a:srgbClr val="FFFFFF"/>
              </a:solidFill>
              <a:ln w="9525">
                <a:solidFill>
                  <a:srgbClr val="E5E0DC"/>
                </a:solidFill>
              </a:ln>
            </p:spPr>
          </p:sp>
          <p:sp>
            <p:nvSpPr>
              <p:cNvPr id="231" name="Ellipse 231"/>
              <p:cNvSpPr/>
              <p:nvPr/>
            </p:nvSpPr>
            <p:spPr>
              <a:xfrm>
                <a:off x="9324975" y="1428750"/>
                <a:ext cx="400050" cy="400050"/>
              </a:xfrm>
              <a:prstGeom prst="ellipse">
                <a:avLst/>
              </a:prstGeom>
              <a:solidFill>
                <a:srgbClr val="2B2B2B"/>
              </a:solidFill>
              <a:ln>
                <a:noFill/>
              </a:ln>
            </p:spPr>
          </p:sp>
          <p:grpSp>
            <p:nvGrpSpPr>
              <p:cNvPr id="234" name="Group 234"/>
              <p:cNvGrpSpPr/>
              <p:nvPr/>
            </p:nvGrpSpPr>
            <p:grpSpPr>
              <a:xfrm>
                <a:off x="9455150" y="1576388"/>
                <a:ext cx="139700" cy="123031"/>
                <a:chOff x="9455150" y="1576388"/>
                <a:chExt cx="139700" cy="123031"/>
              </a:xfrm>
            </p:grpSpPr>
            <p:sp>
              <p:nvSpPr>
                <p:cNvPr id="232" name="Freeform 232"/>
                <p:cNvSpPr/>
                <p:nvPr/>
              </p:nvSpPr>
              <p:spPr>
                <a:xfrm>
                  <a:off x="9455150" y="1689894"/>
                  <a:ext cx="139700" cy="9525"/>
                </a:xfrm>
                <a:custGeom>
                  <a:avLst/>
                  <a:gdLst/>
                  <a:ahLst/>
                  <a:cxnLst/>
                  <a:rect l="l" t="t" r="r" b="b"/>
                  <a:pathLst>
                    <a:path w="139700" h="9525">
                      <a:moveTo>
                        <a:pt x="0" y="0"/>
                      </a:moveTo>
                      <a:lnTo>
                        <a:pt x="139700" y="0"/>
                      </a:lnTo>
                    </a:path>
                  </a:pathLst>
                </a:custGeom>
                <a:noFill/>
                <a:ln w="17463">
                  <a:solidFill>
                    <a:srgbClr val="FFFFFF"/>
                  </a:solidFill>
                </a:ln>
              </p:spPr>
            </p:sp>
            <p:sp>
              <p:nvSpPr>
                <p:cNvPr id="233" name="Freeform 233"/>
                <p:cNvSpPr/>
                <p:nvPr/>
              </p:nvSpPr>
              <p:spPr>
                <a:xfrm>
                  <a:off x="9455150" y="1576388"/>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7463">
                  <a:solidFill>
                    <a:srgbClr val="FFFFFF"/>
                  </a:solidFill>
                </a:ln>
              </p:spPr>
            </p:sp>
          </p:grpSp>
          <p:sp>
            <p:nvSpPr>
              <p:cNvPr id="235" name="TextBox 235"/>
              <p:cNvSpPr txBox="1"/>
              <p:nvPr/>
            </p:nvSpPr>
            <p:spPr>
              <a:xfrm>
                <a:off x="9844088" y="1426845"/>
                <a:ext cx="494157"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资产质量</a:t>
                </a:r>
              </a:p>
            </p:txBody>
          </p:sp>
          <p:sp>
            <p:nvSpPr>
              <p:cNvPr id="236" name="TextBox 236"/>
              <p:cNvSpPr txBox="1"/>
              <p:nvPr/>
            </p:nvSpPr>
            <p:spPr>
              <a:xfrm>
                <a:off x="9844088" y="1637586"/>
                <a:ext cx="1252068"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监测资产健康状况与风险敞口</a:t>
                </a:r>
              </a:p>
            </p:txBody>
          </p:sp>
          <p:sp>
            <p:nvSpPr>
              <p:cNvPr id="237" name="TextBox 237"/>
              <p:cNvSpPr txBox="1"/>
              <p:nvPr/>
            </p:nvSpPr>
            <p:spPr>
              <a:xfrm>
                <a:off x="9844088" y="1809036"/>
                <a:ext cx="106090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识别异常趋势与潜在风险</a:t>
                </a:r>
              </a:p>
            </p:txBody>
          </p:sp>
        </p:grpSp>
        <p:grpSp>
          <p:nvGrpSpPr>
            <p:cNvPr id="247" name="dash-row-2"/>
            <p:cNvGrpSpPr/>
            <p:nvPr/>
          </p:nvGrpSpPr>
          <p:grpSpPr>
            <a:xfrm>
              <a:off x="9229725" y="2209800"/>
              <a:ext cx="2771775" cy="1009650"/>
              <a:chOff x="9229725" y="2209800"/>
              <a:chExt cx="2771775" cy="1009650"/>
            </a:xfrm>
          </p:grpSpPr>
          <p:sp>
            <p:nvSpPr>
              <p:cNvPr id="239" name="Rectangle 239"/>
              <p:cNvSpPr/>
              <p:nvPr/>
            </p:nvSpPr>
            <p:spPr>
              <a:xfrm>
                <a:off x="9229725" y="2209800"/>
                <a:ext cx="2771775" cy="1009650"/>
              </a:xfrm>
              <a:prstGeom prst="rect">
                <a:avLst/>
              </a:prstGeom>
              <a:solidFill>
                <a:srgbClr val="FFFFFF"/>
              </a:solidFill>
              <a:ln w="9525">
                <a:solidFill>
                  <a:srgbClr val="E5E0DC"/>
                </a:solidFill>
              </a:ln>
            </p:spPr>
          </p:sp>
          <p:sp>
            <p:nvSpPr>
              <p:cNvPr id="240" name="Ellipse 240"/>
              <p:cNvSpPr/>
              <p:nvPr/>
            </p:nvSpPr>
            <p:spPr>
              <a:xfrm>
                <a:off x="9324975" y="2514600"/>
                <a:ext cx="400050" cy="400050"/>
              </a:xfrm>
              <a:prstGeom prst="ellipse">
                <a:avLst/>
              </a:prstGeom>
              <a:solidFill>
                <a:srgbClr val="2B2B2B"/>
              </a:solidFill>
              <a:ln>
                <a:noFill/>
              </a:ln>
            </p:spPr>
          </p:sp>
          <p:grpSp>
            <p:nvGrpSpPr>
              <p:cNvPr id="243" name="Group 243"/>
              <p:cNvGrpSpPr/>
              <p:nvPr/>
            </p:nvGrpSpPr>
            <p:grpSpPr>
              <a:xfrm>
                <a:off x="9442586" y="2632211"/>
                <a:ext cx="164829" cy="164829"/>
                <a:chOff x="9442586" y="2632211"/>
                <a:chExt cx="164829" cy="164829"/>
              </a:xfrm>
            </p:grpSpPr>
            <p:sp>
              <p:nvSpPr>
                <p:cNvPr id="241" name="Freeform 241"/>
                <p:cNvSpPr/>
                <p:nvPr/>
              </p:nvSpPr>
              <p:spPr>
                <a:xfrm>
                  <a:off x="9442586" y="263221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FFFFFF"/>
                  </a:solidFill>
                </a:ln>
              </p:spPr>
            </p:sp>
            <p:sp>
              <p:nvSpPr>
                <p:cNvPr id="242" name="Freeform 242"/>
                <p:cNvSpPr/>
                <p:nvPr/>
              </p:nvSpPr>
              <p:spPr>
                <a:xfrm>
                  <a:off x="9498806" y="268843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FFFFFF"/>
                  </a:solidFill>
                </a:ln>
              </p:spPr>
            </p:sp>
          </p:grpSp>
          <p:sp>
            <p:nvSpPr>
              <p:cNvPr id="244" name="TextBox 244"/>
              <p:cNvSpPr txBox="1"/>
              <p:nvPr/>
            </p:nvSpPr>
            <p:spPr>
              <a:xfrm>
                <a:off x="9844088" y="2512695"/>
                <a:ext cx="494157"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操作风险</a:t>
                </a:r>
              </a:p>
            </p:txBody>
          </p:sp>
          <p:sp>
            <p:nvSpPr>
              <p:cNvPr id="245" name="TextBox 245"/>
              <p:cNvSpPr txBox="1"/>
              <p:nvPr/>
            </p:nvSpPr>
            <p:spPr>
              <a:xfrm>
                <a:off x="9844088" y="2723436"/>
                <a:ext cx="1347648"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跟踪流程执行与内部控制有效性</a:t>
                </a:r>
              </a:p>
            </p:txBody>
          </p:sp>
          <p:sp>
            <p:nvSpPr>
              <p:cNvPr id="246" name="TextBox 246"/>
              <p:cNvSpPr txBox="1"/>
              <p:nvPr/>
            </p:nvSpPr>
            <p:spPr>
              <a:xfrm>
                <a:off x="9844088" y="2894886"/>
                <a:ext cx="106090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识别操作失误与流程缺陷</a:t>
                </a:r>
              </a:p>
            </p:txBody>
          </p:sp>
        </p:grpSp>
        <p:grpSp>
          <p:nvGrpSpPr>
            <p:cNvPr id="259" name="dash-row-3"/>
            <p:cNvGrpSpPr/>
            <p:nvPr/>
          </p:nvGrpSpPr>
          <p:grpSpPr>
            <a:xfrm>
              <a:off x="9229725" y="3295650"/>
              <a:ext cx="2771775" cy="1009650"/>
              <a:chOff x="9229725" y="3295650"/>
              <a:chExt cx="2771775" cy="1009650"/>
            </a:xfrm>
          </p:grpSpPr>
          <p:sp>
            <p:nvSpPr>
              <p:cNvPr id="248" name="Rectangle 248"/>
              <p:cNvSpPr/>
              <p:nvPr/>
            </p:nvSpPr>
            <p:spPr>
              <a:xfrm>
                <a:off x="9229725" y="3295650"/>
                <a:ext cx="2771775" cy="1009650"/>
              </a:xfrm>
              <a:prstGeom prst="rect">
                <a:avLst/>
              </a:prstGeom>
              <a:solidFill>
                <a:srgbClr val="FFFFFF"/>
              </a:solidFill>
              <a:ln w="9525">
                <a:solidFill>
                  <a:srgbClr val="E5E0DC"/>
                </a:solidFill>
              </a:ln>
            </p:spPr>
          </p:sp>
          <p:sp>
            <p:nvSpPr>
              <p:cNvPr id="249" name="Ellipse 249"/>
              <p:cNvSpPr/>
              <p:nvPr/>
            </p:nvSpPr>
            <p:spPr>
              <a:xfrm>
                <a:off x="9324975" y="3600450"/>
                <a:ext cx="400050" cy="400050"/>
              </a:xfrm>
              <a:prstGeom prst="ellipse">
                <a:avLst/>
              </a:prstGeom>
              <a:solidFill>
                <a:srgbClr val="2B2B2B"/>
              </a:solidFill>
              <a:ln>
                <a:noFill/>
              </a:ln>
            </p:spPr>
          </p:sp>
          <p:grpSp>
            <p:nvGrpSpPr>
              <p:cNvPr id="255" name="Group 255"/>
              <p:cNvGrpSpPr/>
              <p:nvPr/>
            </p:nvGrpSpPr>
            <p:grpSpPr>
              <a:xfrm>
                <a:off x="9444818" y="3720293"/>
                <a:ext cx="160562" cy="168288"/>
                <a:chOff x="9444818" y="3720293"/>
                <a:chExt cx="160562" cy="168288"/>
              </a:xfrm>
            </p:grpSpPr>
            <p:sp>
              <p:nvSpPr>
                <p:cNvPr id="250" name="Freeform 250"/>
                <p:cNvSpPr/>
                <p:nvPr/>
              </p:nvSpPr>
              <p:spPr>
                <a:xfrm>
                  <a:off x="9507538" y="3783013"/>
                  <a:ext cx="97842" cy="97822"/>
                </a:xfrm>
                <a:custGeom>
                  <a:avLst/>
                  <a:gdLst/>
                  <a:ahLst/>
                  <a:cxnLst/>
                  <a:rect l="l" t="t" r="r" b="b"/>
                  <a:pathLst>
                    <a:path w="97842" h="97822">
                      <a:moveTo>
                        <a:pt x="26194" y="0"/>
                      </a:moveTo>
                      <a:lnTo>
                        <a:pt x="90657" y="64768"/>
                      </a:lnTo>
                      <a:cubicBezTo>
                        <a:pt x="97842" y="71928"/>
                        <a:pt x="97842" y="83523"/>
                        <a:pt x="90657" y="90674"/>
                      </a:cubicBezTo>
                      <a:cubicBezTo>
                        <a:pt x="83470" y="97822"/>
                        <a:pt x="71859" y="97822"/>
                        <a:pt x="64672" y="90674"/>
                      </a:cubicBezTo>
                      <a:lnTo>
                        <a:pt x="0" y="26194"/>
                      </a:lnTo>
                    </a:path>
                  </a:pathLst>
                </a:custGeom>
                <a:noFill/>
                <a:ln w="17463">
                  <a:solidFill>
                    <a:srgbClr val="FFFFFF"/>
                  </a:solidFill>
                </a:ln>
              </p:spPr>
            </p:sp>
            <p:sp>
              <p:nvSpPr>
                <p:cNvPr id="251" name="Freeform 251"/>
                <p:cNvSpPr/>
                <p:nvPr/>
              </p:nvSpPr>
              <p:spPr>
                <a:xfrm>
                  <a:off x="9472613" y="3774281"/>
                  <a:ext cx="34925" cy="34925"/>
                </a:xfrm>
                <a:custGeom>
                  <a:avLst/>
                  <a:gdLst/>
                  <a:ahLst/>
                  <a:cxnLst/>
                  <a:rect l="l" t="t" r="r" b="b"/>
                  <a:pathLst>
                    <a:path w="34925" h="34925">
                      <a:moveTo>
                        <a:pt x="0" y="0"/>
                      </a:moveTo>
                      <a:lnTo>
                        <a:pt x="34925" y="34925"/>
                      </a:lnTo>
                    </a:path>
                  </a:pathLst>
                </a:custGeom>
                <a:noFill/>
                <a:ln w="17463">
                  <a:solidFill>
                    <a:srgbClr val="FFFFFF"/>
                  </a:solidFill>
                </a:ln>
              </p:spPr>
            </p:sp>
            <p:sp>
              <p:nvSpPr>
                <p:cNvPr id="252" name="Freeform 252"/>
                <p:cNvSpPr/>
                <p:nvPr/>
              </p:nvSpPr>
              <p:spPr>
                <a:xfrm>
                  <a:off x="9498806" y="3748088"/>
                  <a:ext cx="34925" cy="34925"/>
                </a:xfrm>
                <a:custGeom>
                  <a:avLst/>
                  <a:gdLst/>
                  <a:ahLst/>
                  <a:cxnLst/>
                  <a:rect l="l" t="t" r="r" b="b"/>
                  <a:pathLst>
                    <a:path w="34925" h="34925">
                      <a:moveTo>
                        <a:pt x="34925" y="34925"/>
                      </a:moveTo>
                      <a:lnTo>
                        <a:pt x="0" y="0"/>
                      </a:lnTo>
                    </a:path>
                  </a:pathLst>
                </a:custGeom>
                <a:noFill/>
                <a:ln w="17463">
                  <a:solidFill>
                    <a:srgbClr val="FFFFFF"/>
                  </a:solidFill>
                </a:ln>
              </p:spPr>
            </p:sp>
            <p:sp>
              <p:nvSpPr>
                <p:cNvPr id="253" name="Freeform 253"/>
                <p:cNvSpPr/>
                <p:nvPr/>
              </p:nvSpPr>
              <p:spPr>
                <a:xfrm>
                  <a:off x="9446419" y="3879056"/>
                  <a:ext cx="61119" cy="9525"/>
                </a:xfrm>
                <a:custGeom>
                  <a:avLst/>
                  <a:gdLst/>
                  <a:ahLst/>
                  <a:cxnLst/>
                  <a:rect l="l" t="t" r="r" b="b"/>
                  <a:pathLst>
                    <a:path w="61119" h="9525">
                      <a:moveTo>
                        <a:pt x="0" y="0"/>
                      </a:moveTo>
                      <a:lnTo>
                        <a:pt x="61119" y="0"/>
                      </a:lnTo>
                    </a:path>
                  </a:pathLst>
                </a:custGeom>
                <a:noFill/>
                <a:ln w="17463">
                  <a:solidFill>
                    <a:srgbClr val="FFFFFF"/>
                  </a:solidFill>
                </a:ln>
              </p:spPr>
            </p:sp>
            <p:sp>
              <p:nvSpPr>
                <p:cNvPr id="254" name="Freeform 254"/>
                <p:cNvSpPr/>
                <p:nvPr/>
              </p:nvSpPr>
              <p:spPr>
                <a:xfrm>
                  <a:off x="9444818" y="3720293"/>
                  <a:ext cx="116709" cy="116709"/>
                </a:xfrm>
                <a:custGeom>
                  <a:avLst/>
                  <a:gdLst/>
                  <a:ahLst/>
                  <a:cxnLst/>
                  <a:rect l="l" t="t" r="r" b="b"/>
                  <a:pathLst>
                    <a:path w="116709" h="116709">
                      <a:moveTo>
                        <a:pt x="34719" y="113300"/>
                      </a:moveTo>
                      <a:lnTo>
                        <a:pt x="3409" y="81990"/>
                      </a:lnTo>
                      <a:cubicBezTo>
                        <a:pt x="0" y="78580"/>
                        <a:pt x="0" y="73053"/>
                        <a:pt x="3409" y="69644"/>
                      </a:cubicBezTo>
                      <a:lnTo>
                        <a:pt x="23429" y="49623"/>
                      </a:lnTo>
                      <a:lnTo>
                        <a:pt x="27795" y="53989"/>
                      </a:lnTo>
                      <a:lnTo>
                        <a:pt x="53989" y="27795"/>
                      </a:lnTo>
                      <a:lnTo>
                        <a:pt x="49623" y="23429"/>
                      </a:lnTo>
                      <a:lnTo>
                        <a:pt x="69644" y="3409"/>
                      </a:lnTo>
                      <a:cubicBezTo>
                        <a:pt x="73053" y="0"/>
                        <a:pt x="78580" y="0"/>
                        <a:pt x="81990" y="3409"/>
                      </a:cubicBezTo>
                      <a:lnTo>
                        <a:pt x="113300" y="34719"/>
                      </a:lnTo>
                      <a:cubicBezTo>
                        <a:pt x="116709" y="38128"/>
                        <a:pt x="116709" y="43655"/>
                        <a:pt x="113300" y="47065"/>
                      </a:cubicBezTo>
                      <a:lnTo>
                        <a:pt x="93279" y="67086"/>
                      </a:lnTo>
                      <a:lnTo>
                        <a:pt x="88914" y="62720"/>
                      </a:lnTo>
                      <a:lnTo>
                        <a:pt x="62720" y="88914"/>
                      </a:lnTo>
                      <a:lnTo>
                        <a:pt x="67086" y="93279"/>
                      </a:lnTo>
                      <a:lnTo>
                        <a:pt x="47065" y="113300"/>
                      </a:lnTo>
                      <a:cubicBezTo>
                        <a:pt x="43655" y="116709"/>
                        <a:pt x="38128" y="116709"/>
                        <a:pt x="34719" y="113300"/>
                      </a:cubicBezTo>
                    </a:path>
                  </a:pathLst>
                </a:custGeom>
                <a:noFill/>
                <a:ln w="17463">
                  <a:solidFill>
                    <a:srgbClr val="FFFFFF"/>
                  </a:solidFill>
                </a:ln>
              </p:spPr>
            </p:sp>
          </p:grpSp>
          <p:sp>
            <p:nvSpPr>
              <p:cNvPr id="256" name="TextBox 256"/>
              <p:cNvSpPr txBox="1"/>
              <p:nvPr/>
            </p:nvSpPr>
            <p:spPr>
              <a:xfrm>
                <a:off x="9844088" y="3598545"/>
                <a:ext cx="494157"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合规事件</a:t>
                </a:r>
              </a:p>
            </p:txBody>
          </p:sp>
          <p:sp>
            <p:nvSpPr>
              <p:cNvPr id="257" name="TextBox 257"/>
              <p:cNvSpPr txBox="1"/>
              <p:nvPr/>
            </p:nvSpPr>
            <p:spPr>
              <a:xfrm>
                <a:off x="9844088" y="3809286"/>
                <a:ext cx="1252068"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监测合规事件与监管要求落实</a:t>
                </a:r>
              </a:p>
            </p:txBody>
          </p:sp>
          <p:sp>
            <p:nvSpPr>
              <p:cNvPr id="258" name="TextBox 258"/>
              <p:cNvSpPr txBox="1"/>
              <p:nvPr/>
            </p:nvSpPr>
            <p:spPr>
              <a:xfrm>
                <a:off x="9844088" y="3980736"/>
                <a:ext cx="106090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识别违规行为与合规缺口</a:t>
                </a:r>
              </a:p>
            </p:txBody>
          </p:sp>
        </p:grpSp>
        <p:grpSp>
          <p:nvGrpSpPr>
            <p:cNvPr id="266" name="dash-row-4"/>
            <p:cNvGrpSpPr/>
            <p:nvPr/>
          </p:nvGrpSpPr>
          <p:grpSpPr>
            <a:xfrm>
              <a:off x="9229725" y="4381500"/>
              <a:ext cx="2771775" cy="1009650"/>
              <a:chOff x="9229725" y="4381500"/>
              <a:chExt cx="2771775" cy="1009650"/>
            </a:xfrm>
          </p:grpSpPr>
          <p:sp>
            <p:nvSpPr>
              <p:cNvPr id="260" name="Rectangle 260"/>
              <p:cNvSpPr/>
              <p:nvPr/>
            </p:nvSpPr>
            <p:spPr>
              <a:xfrm>
                <a:off x="9229725" y="4381500"/>
                <a:ext cx="2771775" cy="1009650"/>
              </a:xfrm>
              <a:prstGeom prst="rect">
                <a:avLst/>
              </a:prstGeom>
              <a:solidFill>
                <a:srgbClr val="FFFFFF"/>
              </a:solidFill>
              <a:ln w="9525">
                <a:solidFill>
                  <a:srgbClr val="E5E0DC"/>
                </a:solidFill>
              </a:ln>
            </p:spPr>
          </p:sp>
          <p:sp>
            <p:nvSpPr>
              <p:cNvPr id="261" name="Ellipse 261"/>
              <p:cNvSpPr/>
              <p:nvPr/>
            </p:nvSpPr>
            <p:spPr>
              <a:xfrm>
                <a:off x="9324975" y="4686300"/>
                <a:ext cx="400050" cy="400050"/>
              </a:xfrm>
              <a:prstGeom prst="ellipse">
                <a:avLst/>
              </a:prstGeom>
              <a:solidFill>
                <a:srgbClr val="2B2B2B"/>
              </a:solidFill>
              <a:ln>
                <a:noFill/>
              </a:ln>
            </p:spPr>
          </p:sp>
          <p:sp>
            <p:nvSpPr>
              <p:cNvPr id="262" name="Freeform 262"/>
              <p:cNvSpPr/>
              <p:nvPr/>
            </p:nvSpPr>
            <p:spPr>
              <a:xfrm>
                <a:off x="9437478" y="4809708"/>
                <a:ext cx="174311" cy="154517"/>
              </a:xfrm>
              <a:custGeom>
                <a:avLst/>
                <a:gdLst/>
                <a:ahLst/>
                <a:cxnLst/>
                <a:rect l="l" t="t" r="r" b="b"/>
                <a:pathLst>
                  <a:path w="174311" h="154517">
                    <a:moveTo>
                      <a:pt x="8941" y="146467"/>
                    </a:moveTo>
                    <a:lnTo>
                      <a:pt x="20291" y="112415"/>
                    </a:lnTo>
                    <a:cubicBezTo>
                      <a:pt x="0" y="82406"/>
                      <a:pt x="7841" y="43682"/>
                      <a:pt x="38627" y="21837"/>
                    </a:cubicBezTo>
                    <a:cubicBezTo>
                      <a:pt x="69413" y="0"/>
                      <a:pt x="113629" y="1790"/>
                      <a:pt x="142049" y="26028"/>
                    </a:cubicBezTo>
                    <a:cubicBezTo>
                      <a:pt x="170469" y="50275"/>
                      <a:pt x="174311" y="89469"/>
                      <a:pt x="151033" y="117715"/>
                    </a:cubicBezTo>
                    <a:cubicBezTo>
                      <a:pt x="127756" y="145960"/>
                      <a:pt x="84545" y="154517"/>
                      <a:pt x="49978" y="137736"/>
                    </a:cubicBezTo>
                    <a:lnTo>
                      <a:pt x="8941" y="146467"/>
                    </a:lnTo>
                  </a:path>
                </a:pathLst>
              </a:custGeom>
              <a:noFill/>
              <a:ln w="17463">
                <a:solidFill>
                  <a:srgbClr val="FFFFFF"/>
                </a:solidFill>
              </a:ln>
            </p:spPr>
          </p:sp>
          <p:sp>
            <p:nvSpPr>
              <p:cNvPr id="263" name="TextBox 263"/>
              <p:cNvSpPr txBox="1"/>
              <p:nvPr/>
            </p:nvSpPr>
            <p:spPr>
              <a:xfrm>
                <a:off x="9844088" y="4684395"/>
                <a:ext cx="494157"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投诉风险</a:t>
                </a:r>
              </a:p>
            </p:txBody>
          </p:sp>
          <p:sp>
            <p:nvSpPr>
              <p:cNvPr id="264" name="TextBox 264"/>
              <p:cNvSpPr txBox="1"/>
              <p:nvPr/>
            </p:nvSpPr>
            <p:spPr>
              <a:xfrm>
                <a:off x="9844088" y="4895136"/>
                <a:ext cx="106090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跟踪投诉类型与处理时效</a:t>
                </a:r>
              </a:p>
            </p:txBody>
          </p:sp>
          <p:sp>
            <p:nvSpPr>
              <p:cNvPr id="265" name="TextBox 265"/>
              <p:cNvSpPr txBox="1"/>
              <p:nvPr/>
            </p:nvSpPr>
            <p:spPr>
              <a:xfrm>
                <a:off x="9844088" y="5066586"/>
                <a:ext cx="96532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识别高发问题与风险点</a:t>
                </a:r>
              </a:p>
            </p:txBody>
          </p:sp>
        </p:grpSp>
        <p:grpSp>
          <p:nvGrpSpPr>
            <p:cNvPr id="276" name="dash-row-5"/>
            <p:cNvGrpSpPr/>
            <p:nvPr/>
          </p:nvGrpSpPr>
          <p:grpSpPr>
            <a:xfrm>
              <a:off x="9229725" y="5467350"/>
              <a:ext cx="2771775" cy="1009650"/>
              <a:chOff x="9229725" y="5467350"/>
              <a:chExt cx="2771775" cy="1009650"/>
            </a:xfrm>
          </p:grpSpPr>
          <p:sp>
            <p:nvSpPr>
              <p:cNvPr id="267" name="Rectangle 267"/>
              <p:cNvSpPr/>
              <p:nvPr/>
            </p:nvSpPr>
            <p:spPr>
              <a:xfrm>
                <a:off x="9229725" y="5467350"/>
                <a:ext cx="2771775" cy="1009650"/>
              </a:xfrm>
              <a:prstGeom prst="rect">
                <a:avLst/>
              </a:prstGeom>
              <a:solidFill>
                <a:srgbClr val="FFFFFF"/>
              </a:solidFill>
              <a:ln w="9525">
                <a:solidFill>
                  <a:srgbClr val="E5E0DC"/>
                </a:solidFill>
              </a:ln>
            </p:spPr>
          </p:sp>
          <p:sp>
            <p:nvSpPr>
              <p:cNvPr id="268" name="Ellipse 268"/>
              <p:cNvSpPr/>
              <p:nvPr/>
            </p:nvSpPr>
            <p:spPr>
              <a:xfrm>
                <a:off x="9324975" y="5772150"/>
                <a:ext cx="400050" cy="400050"/>
              </a:xfrm>
              <a:prstGeom prst="ellipse">
                <a:avLst/>
              </a:prstGeom>
              <a:solidFill>
                <a:srgbClr val="2B2B2B"/>
              </a:solidFill>
              <a:ln>
                <a:noFill/>
              </a:ln>
            </p:spPr>
          </p:sp>
          <p:grpSp>
            <p:nvGrpSpPr>
              <p:cNvPr id="272" name="Group 272"/>
              <p:cNvGrpSpPr/>
              <p:nvPr/>
            </p:nvGrpSpPr>
            <p:grpSpPr>
              <a:xfrm>
                <a:off x="9455150" y="5893594"/>
                <a:ext cx="139700" cy="157162"/>
                <a:chOff x="9455150" y="5893594"/>
                <a:chExt cx="139700" cy="157162"/>
              </a:xfrm>
            </p:grpSpPr>
            <p:sp>
              <p:nvSpPr>
                <p:cNvPr id="269" name="Freeform 269"/>
                <p:cNvSpPr/>
                <p:nvPr/>
              </p:nvSpPr>
              <p:spPr>
                <a:xfrm>
                  <a:off x="9455150" y="58935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FFFFFF"/>
                  </a:solidFill>
                </a:ln>
              </p:spPr>
            </p:sp>
            <p:sp>
              <p:nvSpPr>
                <p:cNvPr id="270" name="Freeform 270"/>
                <p:cNvSpPr/>
                <p:nvPr/>
              </p:nvSpPr>
              <p:spPr>
                <a:xfrm>
                  <a:off x="9455150" y="59197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sp>
              <p:nvSpPr>
                <p:cNvPr id="271" name="Freeform 271"/>
                <p:cNvSpPr/>
                <p:nvPr/>
              </p:nvSpPr>
              <p:spPr>
                <a:xfrm>
                  <a:off x="9455150" y="59721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grpSp>
          <p:sp>
            <p:nvSpPr>
              <p:cNvPr id="273" name="TextBox 273"/>
              <p:cNvSpPr txBox="1"/>
              <p:nvPr/>
            </p:nvSpPr>
            <p:spPr>
              <a:xfrm>
                <a:off x="9844088" y="5770245"/>
                <a:ext cx="857631"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数据与模型风险</a:t>
                </a:r>
              </a:p>
            </p:txBody>
          </p:sp>
          <p:sp>
            <p:nvSpPr>
              <p:cNvPr id="274" name="TextBox 274"/>
              <p:cNvSpPr txBox="1"/>
              <p:nvPr/>
            </p:nvSpPr>
            <p:spPr>
              <a:xfrm>
                <a:off x="9844088" y="5980986"/>
                <a:ext cx="106090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监测数据质量与模型表现</a:t>
                </a:r>
              </a:p>
            </p:txBody>
          </p:sp>
          <p:sp>
            <p:nvSpPr>
              <p:cNvPr id="275" name="TextBox 275"/>
              <p:cNvSpPr txBox="1"/>
              <p:nvPr/>
            </p:nvSpPr>
            <p:spPr>
              <a:xfrm>
                <a:off x="9844088" y="6152436"/>
                <a:ext cx="106090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识别数据异常与模型偏差</a:t>
                </a:r>
              </a:p>
            </p:txBody>
          </p:sp>
        </p:grpSp>
      </p:gr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16</a:t>
              </a:r>
            </a:p>
          </p:txBody>
        </p:sp>
        <p:sp>
          <p:nvSpPr>
            <p:cNvPr id="4" name="TextBox 4"/>
            <p:cNvSpPr txBox="1"/>
            <p:nvPr/>
          </p:nvSpPr>
          <p:spPr>
            <a:xfrm>
              <a:off x="942594" y="151448"/>
              <a:ext cx="639927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二季度运营战役：以主题活动牵引获客、转化与留存</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grpSp>
        <p:nvGrpSpPr>
          <p:cNvPr id="39" name="month-april"/>
          <p:cNvGrpSpPr/>
          <p:nvPr/>
        </p:nvGrpSpPr>
        <p:grpSpPr>
          <a:xfrm>
            <a:off x="200025" y="762000"/>
            <a:ext cx="3800475" cy="3232070"/>
            <a:chOff x="200025" y="762000"/>
            <a:chExt cx="3800475" cy="3232070"/>
          </a:xfrm>
        </p:grpSpPr>
        <p:sp>
          <p:nvSpPr>
            <p:cNvPr id="7" name="Rectangle 7"/>
            <p:cNvSpPr/>
            <p:nvPr/>
          </p:nvSpPr>
          <p:spPr>
            <a:xfrm>
              <a:off x="200025" y="762000"/>
              <a:ext cx="3800475" cy="514350"/>
            </a:xfrm>
            <a:prstGeom prst="rect">
              <a:avLst/>
            </a:prstGeom>
            <a:solidFill>
              <a:srgbClr val="B03A1F"/>
            </a:solidFill>
            <a:ln>
              <a:noFill/>
            </a:ln>
          </p:spPr>
        </p:sp>
        <p:sp>
          <p:nvSpPr>
            <p:cNvPr id="8" name="Polygon 8"/>
            <p:cNvSpPr/>
            <p:nvPr/>
          </p:nvSpPr>
          <p:spPr>
            <a:xfrm>
              <a:off x="1152525" y="762000"/>
              <a:ext cx="228600" cy="514350"/>
            </a:xfrm>
            <a:custGeom>
              <a:avLst/>
              <a:gdLst/>
              <a:ahLst/>
              <a:cxnLst/>
              <a:rect l="l" t="t" r="r" b="b"/>
              <a:pathLst>
                <a:path w="228600" h="514350">
                  <a:moveTo>
                    <a:pt x="114300" y="0"/>
                  </a:moveTo>
                  <a:lnTo>
                    <a:pt x="228600" y="0"/>
                  </a:lnTo>
                  <a:lnTo>
                    <a:pt x="114300" y="514350"/>
                  </a:lnTo>
                  <a:lnTo>
                    <a:pt x="0" y="514350"/>
                  </a:lnTo>
                  <a:close/>
                </a:path>
              </a:pathLst>
            </a:custGeom>
            <a:solidFill>
              <a:srgbClr val="FFFFFF"/>
            </a:solidFill>
            <a:ln>
              <a:noFill/>
            </a:ln>
          </p:spPr>
        </p:sp>
        <p:sp>
          <p:nvSpPr>
            <p:cNvPr id="9" name="TextBox 9"/>
            <p:cNvSpPr txBox="1"/>
            <p:nvPr/>
          </p:nvSpPr>
          <p:spPr>
            <a:xfrm>
              <a:off x="492693" y="926782"/>
              <a:ext cx="367163"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4月</a:t>
              </a:r>
            </a:p>
          </p:txBody>
        </p:sp>
        <p:sp>
          <p:nvSpPr>
            <p:cNvPr id="10" name="TextBox 10"/>
            <p:cNvSpPr txBox="1"/>
            <p:nvPr/>
          </p:nvSpPr>
          <p:spPr>
            <a:xfrm>
              <a:off x="2011375" y="973931"/>
              <a:ext cx="136840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春耕复盘与客户唤醒</a:t>
              </a:r>
            </a:p>
          </p:txBody>
        </p:sp>
        <p:grpSp>
          <p:nvGrpSpPr>
            <p:cNvPr id="18" name="apr-item-1"/>
            <p:cNvGrpSpPr/>
            <p:nvPr/>
          </p:nvGrpSpPr>
          <p:grpSpPr>
            <a:xfrm>
              <a:off x="447675" y="1504950"/>
              <a:ext cx="1904682" cy="584120"/>
              <a:chOff x="447675" y="1504950"/>
              <a:chExt cx="1904682" cy="584120"/>
            </a:xfrm>
          </p:grpSpPr>
          <p:sp>
            <p:nvSpPr>
              <p:cNvPr id="11" name="Ellipse 11"/>
              <p:cNvSpPr/>
              <p:nvPr/>
            </p:nvSpPr>
            <p:spPr>
              <a:xfrm>
                <a:off x="447675" y="1504950"/>
                <a:ext cx="381000" cy="381000"/>
              </a:xfrm>
              <a:prstGeom prst="ellipse">
                <a:avLst/>
              </a:prstGeom>
              <a:solidFill>
                <a:srgbClr val="B03A1F"/>
              </a:solidFill>
              <a:ln>
                <a:noFill/>
              </a:ln>
            </p:spPr>
          </p:sp>
          <p:grpSp>
            <p:nvGrpSpPr>
              <p:cNvPr id="15" name="Group 15"/>
              <p:cNvGrpSpPr/>
              <p:nvPr/>
            </p:nvGrpSpPr>
            <p:grpSpPr>
              <a:xfrm>
                <a:off x="568325" y="1616869"/>
                <a:ext cx="139700" cy="157162"/>
                <a:chOff x="568325" y="1616869"/>
                <a:chExt cx="139700" cy="157162"/>
              </a:xfrm>
            </p:grpSpPr>
            <p:sp>
              <p:nvSpPr>
                <p:cNvPr id="12" name="Freeform 12"/>
                <p:cNvSpPr/>
                <p:nvPr/>
              </p:nvSpPr>
              <p:spPr>
                <a:xfrm>
                  <a:off x="568325" y="1616869"/>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FFFFFF"/>
                  </a:solidFill>
                </a:ln>
              </p:spPr>
            </p:sp>
            <p:sp>
              <p:nvSpPr>
                <p:cNvPr id="13" name="Freeform 13"/>
                <p:cNvSpPr/>
                <p:nvPr/>
              </p:nvSpPr>
              <p:spPr>
                <a:xfrm>
                  <a:off x="568325" y="1643063"/>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sp>
              <p:nvSpPr>
                <p:cNvPr id="14" name="Freeform 14"/>
                <p:cNvSpPr/>
                <p:nvPr/>
              </p:nvSpPr>
              <p:spPr>
                <a:xfrm>
                  <a:off x="568325" y="1695450"/>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grpSp>
          <p:sp>
            <p:nvSpPr>
              <p:cNvPr id="16" name="TextBox 16"/>
              <p:cNvSpPr txBox="1"/>
              <p:nvPr/>
            </p:nvSpPr>
            <p:spPr>
              <a:xfrm>
                <a:off x="938022" y="1552099"/>
                <a:ext cx="53761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数据清洗</a:t>
                </a:r>
              </a:p>
            </p:txBody>
          </p:sp>
          <p:sp>
            <p:nvSpPr>
              <p:cNvPr id="17" name="TextBox 17"/>
              <p:cNvSpPr txBox="1"/>
              <p:nvPr/>
            </p:nvSpPr>
            <p:spPr>
              <a:xfrm>
                <a:off x="938212" y="1762839"/>
                <a:ext cx="141414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6A6A6A"/>
                    </a:solidFill>
                    <a:latin typeface="+mn-lt"/>
                    <a:ea typeface="+mn-ea"/>
                    <a:cs typeface="+mn-cs"/>
                  </a:rPr>
                  <a:t>清理与补全客户数据，提升数据</a:t>
                </a:r>
                <a:br/>
                <a:r>
                  <a:rPr lang="zh-CN" sz="790" dirty="0">
                    <a:solidFill>
                      <a:srgbClr val="6A6A6A"/>
                    </a:solidFill>
                    <a:latin typeface="+mn-lt"/>
                    <a:ea typeface="+mn-ea"/>
                    <a:cs typeface="+mn-cs"/>
                  </a:rPr>
                  <a:t>准确性与可用性</a:t>
                </a:r>
              </a:p>
            </p:txBody>
          </p:sp>
        </p:grpSp>
        <p:grpSp>
          <p:nvGrpSpPr>
            <p:cNvPr id="25" name="apr-item-2"/>
            <p:cNvGrpSpPr/>
            <p:nvPr/>
          </p:nvGrpSpPr>
          <p:grpSpPr>
            <a:xfrm>
              <a:off x="447675" y="2457450"/>
              <a:ext cx="1904682" cy="584120"/>
              <a:chOff x="447675" y="2457450"/>
              <a:chExt cx="1904682" cy="584120"/>
            </a:xfrm>
          </p:grpSpPr>
          <p:sp>
            <p:nvSpPr>
              <p:cNvPr id="19" name="Ellipse 19"/>
              <p:cNvSpPr/>
              <p:nvPr/>
            </p:nvSpPr>
            <p:spPr>
              <a:xfrm>
                <a:off x="447675" y="2457450"/>
                <a:ext cx="381000" cy="381000"/>
              </a:xfrm>
              <a:prstGeom prst="ellipse">
                <a:avLst/>
              </a:prstGeom>
              <a:solidFill>
                <a:srgbClr val="B03A1F"/>
              </a:solidFill>
              <a:ln>
                <a:noFill/>
              </a:ln>
            </p:spPr>
          </p:sp>
          <p:grpSp>
            <p:nvGrpSpPr>
              <p:cNvPr id="22" name="Group 22"/>
              <p:cNvGrpSpPr/>
              <p:nvPr/>
            </p:nvGrpSpPr>
            <p:grpSpPr>
              <a:xfrm>
                <a:off x="568325" y="2574731"/>
                <a:ext cx="139700" cy="146438"/>
                <a:chOff x="568325" y="2574731"/>
                <a:chExt cx="139700" cy="146438"/>
              </a:xfrm>
            </p:grpSpPr>
            <p:sp>
              <p:nvSpPr>
                <p:cNvPr id="20" name="Freeform 20"/>
                <p:cNvSpPr/>
                <p:nvPr/>
              </p:nvSpPr>
              <p:spPr>
                <a:xfrm>
                  <a:off x="568325" y="2574731"/>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FFFFFF"/>
                  </a:solidFill>
                </a:ln>
              </p:spPr>
            </p:sp>
            <p:sp>
              <p:nvSpPr>
                <p:cNvPr id="21" name="Freeform 21"/>
                <p:cNvSpPr/>
                <p:nvPr/>
              </p:nvSpPr>
              <p:spPr>
                <a:xfrm>
                  <a:off x="568325" y="2656681"/>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FFFFFF"/>
                  </a:solidFill>
                </a:ln>
              </p:spPr>
            </p:sp>
          </p:grpSp>
          <p:sp>
            <p:nvSpPr>
              <p:cNvPr id="23" name="TextBox 23"/>
              <p:cNvSpPr txBox="1"/>
              <p:nvPr/>
            </p:nvSpPr>
            <p:spPr>
              <a:xfrm>
                <a:off x="938022" y="2504599"/>
                <a:ext cx="801472"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沉睡客户激活</a:t>
                </a:r>
              </a:p>
            </p:txBody>
          </p:sp>
          <p:sp>
            <p:nvSpPr>
              <p:cNvPr id="24" name="TextBox 24"/>
              <p:cNvSpPr txBox="1"/>
              <p:nvPr/>
            </p:nvSpPr>
            <p:spPr>
              <a:xfrm>
                <a:off x="938212" y="2715339"/>
                <a:ext cx="141414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6A6A6A"/>
                    </a:solidFill>
                    <a:latin typeface="+mn-lt"/>
                    <a:ea typeface="+mn-ea"/>
                    <a:cs typeface="+mn-cs"/>
                  </a:rPr>
                  <a:t>分层触达沉睡客户，唤醒存量，</a:t>
                </a:r>
                <a:br/>
                <a:r>
                  <a:rPr lang="zh-CN" sz="790" dirty="0">
                    <a:solidFill>
                      <a:srgbClr val="6A6A6A"/>
                    </a:solidFill>
                    <a:latin typeface="+mn-lt"/>
                    <a:ea typeface="+mn-ea"/>
                    <a:cs typeface="+mn-cs"/>
                  </a:rPr>
                  <a:t>提升活跃度</a:t>
                </a:r>
              </a:p>
            </p:txBody>
          </p:sp>
        </p:grpSp>
        <p:grpSp>
          <p:nvGrpSpPr>
            <p:cNvPr id="38" name="apr-item-3"/>
            <p:cNvGrpSpPr/>
            <p:nvPr/>
          </p:nvGrpSpPr>
          <p:grpSpPr>
            <a:xfrm>
              <a:off x="447675" y="3409950"/>
              <a:ext cx="1804352" cy="584120"/>
              <a:chOff x="447675" y="3409950"/>
              <a:chExt cx="1804352" cy="584120"/>
            </a:xfrm>
          </p:grpSpPr>
          <p:sp>
            <p:nvSpPr>
              <p:cNvPr id="26" name="Ellipse 26"/>
              <p:cNvSpPr/>
              <p:nvPr/>
            </p:nvSpPr>
            <p:spPr>
              <a:xfrm>
                <a:off x="447675" y="3409950"/>
                <a:ext cx="381000" cy="381000"/>
              </a:xfrm>
              <a:prstGeom prst="ellipse">
                <a:avLst/>
              </a:prstGeom>
              <a:solidFill>
                <a:srgbClr val="B03A1F"/>
              </a:solidFill>
              <a:ln>
                <a:noFill/>
              </a:ln>
            </p:spPr>
          </p:sp>
          <p:grpSp>
            <p:nvGrpSpPr>
              <p:cNvPr id="35" name="Group 35"/>
              <p:cNvGrpSpPr/>
              <p:nvPr/>
            </p:nvGrpSpPr>
            <p:grpSpPr>
              <a:xfrm>
                <a:off x="559594" y="3521869"/>
                <a:ext cx="157163" cy="166687"/>
                <a:chOff x="559594" y="3521869"/>
                <a:chExt cx="157163" cy="166687"/>
              </a:xfrm>
            </p:grpSpPr>
            <p:sp>
              <p:nvSpPr>
                <p:cNvPr id="27" name="Freeform 27"/>
                <p:cNvSpPr/>
                <p:nvPr/>
              </p:nvSpPr>
              <p:spPr>
                <a:xfrm>
                  <a:off x="559594" y="3679031"/>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28" name="Freeform 28"/>
                <p:cNvSpPr/>
                <p:nvPr/>
              </p:nvSpPr>
              <p:spPr>
                <a:xfrm>
                  <a:off x="611981" y="3565525"/>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29" name="Freeform 29"/>
                <p:cNvSpPr/>
                <p:nvPr/>
              </p:nvSpPr>
              <p:spPr>
                <a:xfrm>
                  <a:off x="611981" y="360045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30" name="Freeform 30"/>
                <p:cNvSpPr/>
                <p:nvPr/>
              </p:nvSpPr>
              <p:spPr>
                <a:xfrm>
                  <a:off x="611981" y="3635375"/>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31" name="Freeform 31"/>
                <p:cNvSpPr/>
                <p:nvPr/>
              </p:nvSpPr>
              <p:spPr>
                <a:xfrm>
                  <a:off x="655638" y="3565525"/>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32" name="Freeform 32"/>
                <p:cNvSpPr/>
                <p:nvPr/>
              </p:nvSpPr>
              <p:spPr>
                <a:xfrm>
                  <a:off x="655638" y="360045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33" name="Freeform 33"/>
                <p:cNvSpPr/>
                <p:nvPr/>
              </p:nvSpPr>
              <p:spPr>
                <a:xfrm>
                  <a:off x="655638" y="3635375"/>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34" name="Freeform 34"/>
                <p:cNvSpPr/>
                <p:nvPr/>
              </p:nvSpPr>
              <p:spPr>
                <a:xfrm>
                  <a:off x="577056" y="3521869"/>
                  <a:ext cx="122238" cy="157163"/>
                </a:xfrm>
                <a:custGeom>
                  <a:avLst/>
                  <a:gdLst/>
                  <a:ahLst/>
                  <a:cxnLst/>
                  <a:rect l="l" t="t" r="r" b="b"/>
                  <a:pathLst>
                    <a:path w="122238" h="157163">
                      <a:moveTo>
                        <a:pt x="0" y="157163"/>
                      </a:moveTo>
                      <a:lnTo>
                        <a:pt x="0" y="17463"/>
                      </a:lnTo>
                      <a:cubicBezTo>
                        <a:pt x="0" y="7818"/>
                        <a:pt x="7818" y="0"/>
                        <a:pt x="17463" y="0"/>
                      </a:cubicBezTo>
                      <a:lnTo>
                        <a:pt x="104775" y="0"/>
                      </a:lnTo>
                      <a:cubicBezTo>
                        <a:pt x="114419" y="0"/>
                        <a:pt x="122238" y="7818"/>
                        <a:pt x="122238" y="17463"/>
                      </a:cubicBezTo>
                      <a:lnTo>
                        <a:pt x="122238" y="157163"/>
                      </a:lnTo>
                    </a:path>
                  </a:pathLst>
                </a:custGeom>
                <a:noFill/>
                <a:ln w="17463">
                  <a:solidFill>
                    <a:srgbClr val="FFFFFF"/>
                  </a:solidFill>
                </a:ln>
              </p:spPr>
            </p:sp>
          </p:grpSp>
          <p:sp>
            <p:nvSpPr>
              <p:cNvPr id="36" name="TextBox 36"/>
              <p:cNvSpPr txBox="1"/>
              <p:nvPr/>
            </p:nvSpPr>
            <p:spPr>
              <a:xfrm>
                <a:off x="938022" y="3457099"/>
                <a:ext cx="1065327"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代发企业名单拓展</a:t>
                </a:r>
              </a:p>
            </p:txBody>
          </p:sp>
          <p:sp>
            <p:nvSpPr>
              <p:cNvPr id="37" name="TextBox 37"/>
              <p:cNvSpPr txBox="1"/>
              <p:nvPr/>
            </p:nvSpPr>
            <p:spPr>
              <a:xfrm>
                <a:off x="938212" y="3667839"/>
                <a:ext cx="131381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6A6A6A"/>
                    </a:solidFill>
                    <a:latin typeface="+mn-lt"/>
                    <a:ea typeface="+mn-ea"/>
                    <a:cs typeface="+mn-cs"/>
                  </a:rPr>
                  <a:t>拓展代发企业名单，完善目标</a:t>
                </a:r>
                <a:br/>
                <a:r>
                  <a:rPr lang="zh-CN" sz="790" dirty="0">
                    <a:solidFill>
                      <a:srgbClr val="6A6A6A"/>
                    </a:solidFill>
                    <a:latin typeface="+mn-lt"/>
                    <a:ea typeface="+mn-ea"/>
                    <a:cs typeface="+mn-cs"/>
                  </a:rPr>
                  <a:t>企业清单与触达计划</a:t>
                </a:r>
              </a:p>
            </p:txBody>
          </p:sp>
        </p:grpSp>
      </p:grpSp>
      <p:grpSp>
        <p:nvGrpSpPr>
          <p:cNvPr id="69" name="month-may"/>
          <p:cNvGrpSpPr/>
          <p:nvPr/>
        </p:nvGrpSpPr>
        <p:grpSpPr>
          <a:xfrm>
            <a:off x="4210050" y="762000"/>
            <a:ext cx="3800475" cy="3232070"/>
            <a:chOff x="4210050" y="762000"/>
            <a:chExt cx="3800475" cy="3232070"/>
          </a:xfrm>
        </p:grpSpPr>
        <p:sp>
          <p:nvSpPr>
            <p:cNvPr id="40" name="Rectangle 40"/>
            <p:cNvSpPr/>
            <p:nvPr/>
          </p:nvSpPr>
          <p:spPr>
            <a:xfrm>
              <a:off x="4210050" y="762000"/>
              <a:ext cx="3800475" cy="514350"/>
            </a:xfrm>
            <a:prstGeom prst="rect">
              <a:avLst/>
            </a:prstGeom>
            <a:solidFill>
              <a:srgbClr val="B03A1F"/>
            </a:solidFill>
            <a:ln>
              <a:noFill/>
            </a:ln>
          </p:spPr>
        </p:sp>
        <p:sp>
          <p:nvSpPr>
            <p:cNvPr id="41" name="Polygon 41"/>
            <p:cNvSpPr/>
            <p:nvPr/>
          </p:nvSpPr>
          <p:spPr>
            <a:xfrm>
              <a:off x="5162550" y="762000"/>
              <a:ext cx="228600" cy="514350"/>
            </a:xfrm>
            <a:custGeom>
              <a:avLst/>
              <a:gdLst/>
              <a:ahLst/>
              <a:cxnLst/>
              <a:rect l="l" t="t" r="r" b="b"/>
              <a:pathLst>
                <a:path w="228600" h="514350">
                  <a:moveTo>
                    <a:pt x="114300" y="0"/>
                  </a:moveTo>
                  <a:lnTo>
                    <a:pt x="228600" y="0"/>
                  </a:lnTo>
                  <a:lnTo>
                    <a:pt x="114300" y="514350"/>
                  </a:lnTo>
                  <a:lnTo>
                    <a:pt x="0" y="514350"/>
                  </a:lnTo>
                  <a:close/>
                </a:path>
              </a:pathLst>
            </a:custGeom>
            <a:solidFill>
              <a:srgbClr val="FFFFFF"/>
            </a:solidFill>
            <a:ln>
              <a:noFill/>
            </a:ln>
          </p:spPr>
        </p:sp>
        <p:sp>
          <p:nvSpPr>
            <p:cNvPr id="42" name="TextBox 42"/>
            <p:cNvSpPr txBox="1"/>
            <p:nvPr/>
          </p:nvSpPr>
          <p:spPr>
            <a:xfrm>
              <a:off x="4502718" y="926782"/>
              <a:ext cx="367163"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5月</a:t>
              </a:r>
            </a:p>
          </p:txBody>
        </p:sp>
        <p:sp>
          <p:nvSpPr>
            <p:cNvPr id="43" name="TextBox 43"/>
            <p:cNvSpPr txBox="1"/>
            <p:nvPr/>
          </p:nvSpPr>
          <p:spPr>
            <a:xfrm>
              <a:off x="6021400" y="973931"/>
              <a:ext cx="136840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财富与消费双轮驱动</a:t>
              </a:r>
            </a:p>
          </p:txBody>
        </p:sp>
        <p:grpSp>
          <p:nvGrpSpPr>
            <p:cNvPr id="54" name="may-item-1"/>
            <p:cNvGrpSpPr/>
            <p:nvPr/>
          </p:nvGrpSpPr>
          <p:grpSpPr>
            <a:xfrm>
              <a:off x="4457700" y="1504950"/>
              <a:ext cx="1804353" cy="584120"/>
              <a:chOff x="4457700" y="1504950"/>
              <a:chExt cx="1804353" cy="584120"/>
            </a:xfrm>
          </p:grpSpPr>
          <p:sp>
            <p:nvSpPr>
              <p:cNvPr id="44" name="Ellipse 44"/>
              <p:cNvSpPr/>
              <p:nvPr/>
            </p:nvSpPr>
            <p:spPr>
              <a:xfrm>
                <a:off x="4457700" y="1504950"/>
                <a:ext cx="381000" cy="381000"/>
              </a:xfrm>
              <a:prstGeom prst="ellipse">
                <a:avLst/>
              </a:prstGeom>
              <a:solidFill>
                <a:srgbClr val="B03A1F"/>
              </a:solidFill>
              <a:ln>
                <a:noFill/>
              </a:ln>
            </p:spPr>
          </p:sp>
          <p:grpSp>
            <p:nvGrpSpPr>
              <p:cNvPr id="51" name="Group 51"/>
              <p:cNvGrpSpPr/>
              <p:nvPr/>
            </p:nvGrpSpPr>
            <p:grpSpPr>
              <a:xfrm>
                <a:off x="4569619" y="1616869"/>
                <a:ext cx="157162" cy="157163"/>
                <a:chOff x="4569619" y="1616869"/>
                <a:chExt cx="157162" cy="157163"/>
              </a:xfrm>
            </p:grpSpPr>
            <p:sp>
              <p:nvSpPr>
                <p:cNvPr id="45" name="Freeform 45"/>
                <p:cNvSpPr/>
                <p:nvPr/>
              </p:nvSpPr>
              <p:spPr>
                <a:xfrm>
                  <a:off x="4630738" y="16867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46" name="Freeform 46"/>
                <p:cNvSpPr/>
                <p:nvPr/>
              </p:nvSpPr>
              <p:spPr>
                <a:xfrm>
                  <a:off x="4613275" y="1747838"/>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FFFFFF"/>
                  </a:solidFill>
                </a:ln>
              </p:spPr>
            </p:sp>
            <p:sp>
              <p:nvSpPr>
                <p:cNvPr id="47" name="Freeform 47"/>
                <p:cNvSpPr/>
                <p:nvPr/>
              </p:nvSpPr>
              <p:spPr>
                <a:xfrm>
                  <a:off x="4674394" y="161686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48" name="Freeform 48"/>
                <p:cNvSpPr/>
                <p:nvPr/>
              </p:nvSpPr>
              <p:spPr>
                <a:xfrm>
                  <a:off x="4691856" y="1677988"/>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FFFFFF"/>
                  </a:solidFill>
                </a:ln>
              </p:spPr>
            </p:sp>
            <p:sp>
              <p:nvSpPr>
                <p:cNvPr id="49" name="Freeform 49"/>
                <p:cNvSpPr/>
                <p:nvPr/>
              </p:nvSpPr>
              <p:spPr>
                <a:xfrm>
                  <a:off x="4587081" y="161686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50" name="Freeform 50"/>
                <p:cNvSpPr/>
                <p:nvPr/>
              </p:nvSpPr>
              <p:spPr>
                <a:xfrm>
                  <a:off x="4569619" y="1677988"/>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FFFFFF"/>
                  </a:solidFill>
                </a:ln>
              </p:spPr>
            </p:sp>
          </p:grpSp>
          <p:sp>
            <p:nvSpPr>
              <p:cNvPr id="52" name="TextBox 52"/>
              <p:cNvSpPr txBox="1"/>
              <p:nvPr/>
            </p:nvSpPr>
            <p:spPr>
              <a:xfrm>
                <a:off x="4948047" y="1552099"/>
                <a:ext cx="801472"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财富论坛活动</a:t>
                </a:r>
              </a:p>
            </p:txBody>
          </p:sp>
          <p:sp>
            <p:nvSpPr>
              <p:cNvPr id="53" name="TextBox 53"/>
              <p:cNvSpPr txBox="1"/>
              <p:nvPr/>
            </p:nvSpPr>
            <p:spPr>
              <a:xfrm>
                <a:off x="4948238" y="1762839"/>
                <a:ext cx="131381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6A6A6A"/>
                    </a:solidFill>
                    <a:latin typeface="+mn-lt"/>
                    <a:ea typeface="+mn-ea"/>
                    <a:cs typeface="+mn-cs"/>
                  </a:rPr>
                  <a:t>举办财富论坛沙龙，强化品牌</a:t>
                </a:r>
                <a:br/>
                <a:r>
                  <a:rPr lang="zh-CN" sz="790" dirty="0">
                    <a:solidFill>
                      <a:srgbClr val="6A6A6A"/>
                    </a:solidFill>
                    <a:latin typeface="+mn-lt"/>
                    <a:ea typeface="+mn-ea"/>
                    <a:cs typeface="+mn-cs"/>
                  </a:rPr>
                  <a:t>影响，促进高价值客户获客</a:t>
                </a:r>
              </a:p>
            </p:txBody>
          </p:sp>
        </p:grpSp>
        <p:grpSp>
          <p:nvGrpSpPr>
            <p:cNvPr id="59" name="may-item-2"/>
            <p:cNvGrpSpPr/>
            <p:nvPr/>
          </p:nvGrpSpPr>
          <p:grpSpPr>
            <a:xfrm>
              <a:off x="4457700" y="2457450"/>
              <a:ext cx="1804353" cy="584120"/>
              <a:chOff x="4457700" y="2457450"/>
              <a:chExt cx="1804353" cy="584120"/>
            </a:xfrm>
          </p:grpSpPr>
          <p:sp>
            <p:nvSpPr>
              <p:cNvPr id="55" name="Ellipse 55"/>
              <p:cNvSpPr/>
              <p:nvPr/>
            </p:nvSpPr>
            <p:spPr>
              <a:xfrm>
                <a:off x="4457700" y="2457450"/>
                <a:ext cx="381000" cy="381000"/>
              </a:xfrm>
              <a:prstGeom prst="ellipse">
                <a:avLst/>
              </a:prstGeom>
              <a:solidFill>
                <a:srgbClr val="B03A1F"/>
              </a:solidFill>
              <a:ln>
                <a:noFill/>
              </a:ln>
            </p:spPr>
          </p:sp>
          <p:sp>
            <p:nvSpPr>
              <p:cNvPr id="56" name="Freeform 56"/>
              <p:cNvSpPr/>
              <p:nvPr/>
            </p:nvSpPr>
            <p:spPr>
              <a:xfrm>
                <a:off x="4566595" y="2575860"/>
                <a:ext cx="163051" cy="141940"/>
              </a:xfrm>
              <a:custGeom>
                <a:avLst/>
                <a:gdLst/>
                <a:ahLst/>
                <a:cxnLst/>
                <a:rect l="l" t="t" r="r" b="b"/>
                <a:pathLst>
                  <a:path w="163051" h="141940">
                    <a:moveTo>
                      <a:pt x="147089" y="77084"/>
                    </a:moveTo>
                    <a:lnTo>
                      <a:pt x="81605" y="141940"/>
                    </a:lnTo>
                    <a:lnTo>
                      <a:pt x="16120" y="77084"/>
                    </a:lnTo>
                    <a:cubicBezTo>
                      <a:pt x="4344" y="65625"/>
                      <a:pt x="0" y="48525"/>
                      <a:pt x="4879" y="32835"/>
                    </a:cubicBezTo>
                    <a:cubicBezTo>
                      <a:pt x="9757" y="17144"/>
                      <a:pt x="23032" y="5522"/>
                      <a:pt x="39230" y="2761"/>
                    </a:cubicBezTo>
                    <a:cubicBezTo>
                      <a:pt x="55427" y="0"/>
                      <a:pt x="71803" y="6567"/>
                      <a:pt x="81605" y="19755"/>
                    </a:cubicBezTo>
                    <a:cubicBezTo>
                      <a:pt x="91447" y="6665"/>
                      <a:pt x="107788" y="185"/>
                      <a:pt x="123927" y="2972"/>
                    </a:cubicBezTo>
                    <a:cubicBezTo>
                      <a:pt x="140065" y="5759"/>
                      <a:pt x="153287" y="17344"/>
                      <a:pt x="158169" y="32977"/>
                    </a:cubicBezTo>
                    <a:cubicBezTo>
                      <a:pt x="163051" y="48610"/>
                      <a:pt x="158773" y="65660"/>
                      <a:pt x="147089" y="77137"/>
                    </a:cubicBezTo>
                  </a:path>
                </a:pathLst>
              </a:custGeom>
              <a:noFill/>
              <a:ln w="17463">
                <a:solidFill>
                  <a:srgbClr val="FFFFFF"/>
                </a:solidFill>
              </a:ln>
            </p:spPr>
          </p:sp>
          <p:sp>
            <p:nvSpPr>
              <p:cNvPr id="57" name="TextBox 57"/>
              <p:cNvSpPr txBox="1"/>
              <p:nvPr/>
            </p:nvSpPr>
            <p:spPr>
              <a:xfrm>
                <a:off x="4948047" y="2504599"/>
                <a:ext cx="801472"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资产健康体检</a:t>
                </a:r>
              </a:p>
            </p:txBody>
          </p:sp>
          <p:sp>
            <p:nvSpPr>
              <p:cNvPr id="58" name="TextBox 58"/>
              <p:cNvSpPr txBox="1"/>
              <p:nvPr/>
            </p:nvSpPr>
            <p:spPr>
              <a:xfrm>
                <a:off x="4948238" y="2715339"/>
                <a:ext cx="131381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6A6A6A"/>
                    </a:solidFill>
                    <a:latin typeface="+mn-lt"/>
                    <a:ea typeface="+mn-ea"/>
                    <a:cs typeface="+mn-cs"/>
                  </a:rPr>
                  <a:t>开展资产健康检查，优化资产</a:t>
                </a:r>
                <a:br/>
                <a:r>
                  <a:rPr lang="zh-CN" sz="790" dirty="0">
                    <a:solidFill>
                      <a:srgbClr val="6A6A6A"/>
                    </a:solidFill>
                    <a:latin typeface="+mn-lt"/>
                    <a:ea typeface="+mn-ea"/>
                    <a:cs typeface="+mn-cs"/>
                  </a:rPr>
                  <a:t>配置建议，促进资产提升</a:t>
                </a:r>
              </a:p>
            </p:txBody>
          </p:sp>
        </p:grpSp>
        <p:grpSp>
          <p:nvGrpSpPr>
            <p:cNvPr id="68" name="may-item-3"/>
            <p:cNvGrpSpPr/>
            <p:nvPr/>
          </p:nvGrpSpPr>
          <p:grpSpPr>
            <a:xfrm>
              <a:off x="4457700" y="3409950"/>
              <a:ext cx="1804353" cy="584120"/>
              <a:chOff x="4457700" y="3409950"/>
              <a:chExt cx="1804353" cy="584120"/>
            </a:xfrm>
          </p:grpSpPr>
          <p:sp>
            <p:nvSpPr>
              <p:cNvPr id="60" name="Ellipse 60"/>
              <p:cNvSpPr/>
              <p:nvPr/>
            </p:nvSpPr>
            <p:spPr>
              <a:xfrm>
                <a:off x="4457700" y="3409950"/>
                <a:ext cx="381000" cy="381000"/>
              </a:xfrm>
              <a:prstGeom prst="ellipse">
                <a:avLst/>
              </a:prstGeom>
              <a:solidFill>
                <a:srgbClr val="B03A1F"/>
              </a:solidFill>
              <a:ln>
                <a:noFill/>
              </a:ln>
            </p:spPr>
          </p:sp>
          <p:grpSp>
            <p:nvGrpSpPr>
              <p:cNvPr id="65" name="Group 65"/>
              <p:cNvGrpSpPr/>
              <p:nvPr/>
            </p:nvGrpSpPr>
            <p:grpSpPr>
              <a:xfrm>
                <a:off x="4578350" y="3521869"/>
                <a:ext cx="139701" cy="157162"/>
                <a:chOff x="4578350" y="3521869"/>
                <a:chExt cx="139701" cy="157162"/>
              </a:xfrm>
            </p:grpSpPr>
            <p:sp>
              <p:nvSpPr>
                <p:cNvPr id="61" name="Freeform 61"/>
                <p:cNvSpPr/>
                <p:nvPr/>
              </p:nvSpPr>
              <p:spPr>
                <a:xfrm>
                  <a:off x="4578350" y="3644106"/>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62" name="Freeform 62"/>
                <p:cNvSpPr/>
                <p:nvPr/>
              </p:nvSpPr>
              <p:spPr>
                <a:xfrm>
                  <a:off x="4674394" y="3644106"/>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63" name="Freeform 63"/>
                <p:cNvSpPr/>
                <p:nvPr/>
              </p:nvSpPr>
              <p:spPr>
                <a:xfrm>
                  <a:off x="4578350" y="3521869"/>
                  <a:ext cx="113506" cy="122238"/>
                </a:xfrm>
                <a:custGeom>
                  <a:avLst/>
                  <a:gdLst/>
                  <a:ahLst/>
                  <a:cxnLst/>
                  <a:rect l="l" t="t" r="r" b="b"/>
                  <a:pathLst>
                    <a:path w="113506" h="122238">
                      <a:moveTo>
                        <a:pt x="113506" y="122238"/>
                      </a:moveTo>
                      <a:lnTo>
                        <a:pt x="17463" y="122238"/>
                      </a:lnTo>
                      <a:lnTo>
                        <a:pt x="17463" y="0"/>
                      </a:lnTo>
                      <a:lnTo>
                        <a:pt x="0" y="0"/>
                      </a:lnTo>
                    </a:path>
                  </a:pathLst>
                </a:custGeom>
                <a:noFill/>
                <a:ln w="17463">
                  <a:solidFill>
                    <a:srgbClr val="FFFFFF"/>
                  </a:solidFill>
                </a:ln>
              </p:spPr>
            </p:sp>
            <p:sp>
              <p:nvSpPr>
                <p:cNvPr id="64" name="Freeform 64"/>
                <p:cNvSpPr/>
                <p:nvPr/>
              </p:nvSpPr>
              <p:spPr>
                <a:xfrm>
                  <a:off x="4595813" y="3539331"/>
                  <a:ext cx="122238" cy="69850"/>
                </a:xfrm>
                <a:custGeom>
                  <a:avLst/>
                  <a:gdLst/>
                  <a:ahLst/>
                  <a:cxnLst/>
                  <a:rect l="l" t="t" r="r" b="b"/>
                  <a:pathLst>
                    <a:path w="122238" h="69850">
                      <a:moveTo>
                        <a:pt x="0" y="0"/>
                      </a:moveTo>
                      <a:lnTo>
                        <a:pt x="122238" y="8731"/>
                      </a:lnTo>
                      <a:lnTo>
                        <a:pt x="113506" y="69850"/>
                      </a:lnTo>
                      <a:lnTo>
                        <a:pt x="0" y="69850"/>
                      </a:lnTo>
                    </a:path>
                  </a:pathLst>
                </a:custGeom>
                <a:noFill/>
                <a:ln w="17463">
                  <a:solidFill>
                    <a:srgbClr val="FFFFFF"/>
                  </a:solidFill>
                </a:ln>
              </p:spPr>
            </p:sp>
          </p:grpSp>
          <p:sp>
            <p:nvSpPr>
              <p:cNvPr id="66" name="TextBox 66"/>
              <p:cNvSpPr txBox="1"/>
              <p:nvPr/>
            </p:nvSpPr>
            <p:spPr>
              <a:xfrm>
                <a:off x="4948047" y="3457099"/>
                <a:ext cx="1065327"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商户分期促销活动</a:t>
                </a:r>
              </a:p>
            </p:txBody>
          </p:sp>
          <p:sp>
            <p:nvSpPr>
              <p:cNvPr id="67" name="TextBox 67"/>
              <p:cNvSpPr txBox="1"/>
              <p:nvPr/>
            </p:nvSpPr>
            <p:spPr>
              <a:xfrm>
                <a:off x="4948238" y="3667839"/>
                <a:ext cx="131381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6A6A6A"/>
                    </a:solidFill>
                    <a:latin typeface="+mn-lt"/>
                    <a:ea typeface="+mn-ea"/>
                    <a:cs typeface="+mn-cs"/>
                  </a:rPr>
                  <a:t>联合商户开展分期促销，带动</a:t>
                </a:r>
                <a:br/>
                <a:r>
                  <a:rPr lang="zh-CN" sz="790" dirty="0">
                    <a:solidFill>
                      <a:srgbClr val="6A6A6A"/>
                    </a:solidFill>
                    <a:latin typeface="+mn-lt"/>
                    <a:ea typeface="+mn-ea"/>
                    <a:cs typeface="+mn-cs"/>
                  </a:rPr>
                  <a:t>消费转化与交易增长</a:t>
                </a:r>
              </a:p>
            </p:txBody>
          </p:sp>
        </p:grpSp>
      </p:grpSp>
      <p:grpSp>
        <p:nvGrpSpPr>
          <p:cNvPr id="96" name="month-june"/>
          <p:cNvGrpSpPr/>
          <p:nvPr/>
        </p:nvGrpSpPr>
        <p:grpSpPr>
          <a:xfrm>
            <a:off x="8220075" y="762000"/>
            <a:ext cx="3800475" cy="3232070"/>
            <a:chOff x="8220075" y="762000"/>
            <a:chExt cx="3800475" cy="3232070"/>
          </a:xfrm>
        </p:grpSpPr>
        <p:sp>
          <p:nvSpPr>
            <p:cNvPr id="70" name="Rectangle 70"/>
            <p:cNvSpPr/>
            <p:nvPr/>
          </p:nvSpPr>
          <p:spPr>
            <a:xfrm>
              <a:off x="8220075" y="762000"/>
              <a:ext cx="3800475" cy="514350"/>
            </a:xfrm>
            <a:prstGeom prst="rect">
              <a:avLst/>
            </a:prstGeom>
            <a:solidFill>
              <a:srgbClr val="B03A1F"/>
            </a:solidFill>
            <a:ln>
              <a:noFill/>
            </a:ln>
          </p:spPr>
        </p:sp>
        <p:sp>
          <p:nvSpPr>
            <p:cNvPr id="71" name="Polygon 71"/>
            <p:cNvSpPr/>
            <p:nvPr/>
          </p:nvSpPr>
          <p:spPr>
            <a:xfrm>
              <a:off x="9172575" y="762000"/>
              <a:ext cx="228600" cy="514350"/>
            </a:xfrm>
            <a:custGeom>
              <a:avLst/>
              <a:gdLst/>
              <a:ahLst/>
              <a:cxnLst/>
              <a:rect l="l" t="t" r="r" b="b"/>
              <a:pathLst>
                <a:path w="228600" h="514350">
                  <a:moveTo>
                    <a:pt x="114300" y="0"/>
                  </a:moveTo>
                  <a:lnTo>
                    <a:pt x="228600" y="0"/>
                  </a:lnTo>
                  <a:lnTo>
                    <a:pt x="114300" y="514350"/>
                  </a:lnTo>
                  <a:lnTo>
                    <a:pt x="0" y="514350"/>
                  </a:lnTo>
                  <a:close/>
                </a:path>
              </a:pathLst>
            </a:custGeom>
            <a:solidFill>
              <a:srgbClr val="FFFFFF"/>
            </a:solidFill>
            <a:ln>
              <a:noFill/>
            </a:ln>
          </p:spPr>
        </p:sp>
        <p:sp>
          <p:nvSpPr>
            <p:cNvPr id="72" name="TextBox 72"/>
            <p:cNvSpPr txBox="1"/>
            <p:nvPr/>
          </p:nvSpPr>
          <p:spPr>
            <a:xfrm>
              <a:off x="8512743" y="926782"/>
              <a:ext cx="367163"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6月</a:t>
              </a:r>
            </a:p>
          </p:txBody>
        </p:sp>
        <p:sp>
          <p:nvSpPr>
            <p:cNvPr id="73" name="TextBox 73"/>
            <p:cNvSpPr txBox="1"/>
            <p:nvPr/>
          </p:nvSpPr>
          <p:spPr>
            <a:xfrm>
              <a:off x="10332974" y="97393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冲刺半年红</a:t>
              </a:r>
            </a:p>
          </p:txBody>
        </p:sp>
        <p:grpSp>
          <p:nvGrpSpPr>
            <p:cNvPr id="80" name="jun-item-1"/>
            <p:cNvGrpSpPr/>
            <p:nvPr/>
          </p:nvGrpSpPr>
          <p:grpSpPr>
            <a:xfrm>
              <a:off x="8467725" y="1504950"/>
              <a:ext cx="1904682" cy="584120"/>
              <a:chOff x="8467725" y="1504950"/>
              <a:chExt cx="1904682" cy="584120"/>
            </a:xfrm>
          </p:grpSpPr>
          <p:sp>
            <p:nvSpPr>
              <p:cNvPr id="74" name="Ellipse 74"/>
              <p:cNvSpPr/>
              <p:nvPr/>
            </p:nvSpPr>
            <p:spPr>
              <a:xfrm>
                <a:off x="8467725" y="1504950"/>
                <a:ext cx="381000" cy="381000"/>
              </a:xfrm>
              <a:prstGeom prst="ellipse">
                <a:avLst/>
              </a:prstGeom>
              <a:solidFill>
                <a:srgbClr val="B03A1F"/>
              </a:solidFill>
              <a:ln>
                <a:noFill/>
              </a:ln>
            </p:spPr>
          </p:sp>
          <p:grpSp>
            <p:nvGrpSpPr>
              <p:cNvPr id="77" name="Group 77"/>
              <p:cNvGrpSpPr/>
              <p:nvPr/>
            </p:nvGrpSpPr>
            <p:grpSpPr>
              <a:xfrm>
                <a:off x="8579644" y="1634331"/>
                <a:ext cx="157163" cy="128438"/>
                <a:chOff x="8579644" y="1634331"/>
                <a:chExt cx="157163" cy="128438"/>
              </a:xfrm>
            </p:grpSpPr>
            <p:sp>
              <p:nvSpPr>
                <p:cNvPr id="75" name="Freeform 75"/>
                <p:cNvSpPr/>
                <p:nvPr/>
              </p:nvSpPr>
              <p:spPr>
                <a:xfrm>
                  <a:off x="8579644" y="1634331"/>
                  <a:ext cx="157163" cy="128438"/>
                </a:xfrm>
                <a:custGeom>
                  <a:avLst/>
                  <a:gdLst/>
                  <a:ahLst/>
                  <a:cxnLst/>
                  <a:rect l="l" t="t" r="r" b="b"/>
                  <a:pathLst>
                    <a:path w="157163" h="128438">
                      <a:moveTo>
                        <a:pt x="26194" y="0"/>
                      </a:moveTo>
                      <a:lnTo>
                        <a:pt x="130969" y="0"/>
                      </a:lnTo>
                      <a:lnTo>
                        <a:pt x="157163" y="43656"/>
                      </a:lnTo>
                      <a:lnTo>
                        <a:pt x="82947" y="126603"/>
                      </a:lnTo>
                      <a:cubicBezTo>
                        <a:pt x="81797" y="127776"/>
                        <a:pt x="80224" y="128438"/>
                        <a:pt x="78581" y="128438"/>
                      </a:cubicBezTo>
                      <a:cubicBezTo>
                        <a:pt x="76939" y="128438"/>
                        <a:pt x="75365" y="127776"/>
                        <a:pt x="74216" y="126603"/>
                      </a:cubicBezTo>
                      <a:lnTo>
                        <a:pt x="0" y="43656"/>
                      </a:lnTo>
                      <a:lnTo>
                        <a:pt x="26194" y="0"/>
                      </a:lnTo>
                    </a:path>
                  </a:pathLst>
                </a:custGeom>
                <a:noFill/>
                <a:ln w="17463">
                  <a:solidFill>
                    <a:srgbClr val="FFFFFF"/>
                  </a:solidFill>
                </a:ln>
              </p:spPr>
            </p:sp>
            <p:sp>
              <p:nvSpPr>
                <p:cNvPr id="76" name="Freeform 76"/>
                <p:cNvSpPr/>
                <p:nvPr/>
              </p:nvSpPr>
              <p:spPr>
                <a:xfrm>
                  <a:off x="8623300" y="1667510"/>
                  <a:ext cx="17463" cy="27940"/>
                </a:xfrm>
                <a:custGeom>
                  <a:avLst/>
                  <a:gdLst/>
                  <a:ahLst/>
                  <a:cxnLst/>
                  <a:rect l="l" t="t" r="r" b="b"/>
                  <a:pathLst>
                    <a:path w="17463" h="27940">
                      <a:moveTo>
                        <a:pt x="17463" y="27940"/>
                      </a:moveTo>
                      <a:lnTo>
                        <a:pt x="0" y="8731"/>
                      </a:lnTo>
                      <a:lnTo>
                        <a:pt x="5239" y="0"/>
                      </a:lnTo>
                    </a:path>
                  </a:pathLst>
                </a:custGeom>
                <a:noFill/>
                <a:ln w="17463">
                  <a:solidFill>
                    <a:srgbClr val="FFFFFF"/>
                  </a:solidFill>
                </a:ln>
              </p:spPr>
            </p:sp>
          </p:grpSp>
          <p:sp>
            <p:nvSpPr>
              <p:cNvPr id="78" name="TextBox 78"/>
              <p:cNvSpPr txBox="1"/>
              <p:nvPr/>
            </p:nvSpPr>
            <p:spPr>
              <a:xfrm>
                <a:off x="8958072" y="1552099"/>
                <a:ext cx="801472"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重点客户深耕</a:t>
                </a:r>
              </a:p>
            </p:txBody>
          </p:sp>
          <p:sp>
            <p:nvSpPr>
              <p:cNvPr id="79" name="TextBox 79"/>
              <p:cNvSpPr txBox="1"/>
              <p:nvPr/>
            </p:nvSpPr>
            <p:spPr>
              <a:xfrm>
                <a:off x="8958262" y="1762839"/>
                <a:ext cx="141414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6A6A6A"/>
                    </a:solidFill>
                    <a:latin typeface="+mn-lt"/>
                    <a:ea typeface="+mn-ea"/>
                    <a:cs typeface="+mn-cs"/>
                  </a:rPr>
                  <a:t>聚焦重点客户，深化关系经营，</a:t>
                </a:r>
                <a:br/>
                <a:r>
                  <a:rPr lang="zh-CN" sz="790" dirty="0">
                    <a:solidFill>
                      <a:srgbClr val="6A6A6A"/>
                    </a:solidFill>
                    <a:latin typeface="+mn-lt"/>
                    <a:ea typeface="+mn-ea"/>
                    <a:cs typeface="+mn-cs"/>
                  </a:rPr>
                  <a:t>提升综合贡献</a:t>
                </a:r>
              </a:p>
            </p:txBody>
          </p:sp>
        </p:grpSp>
        <p:grpSp>
          <p:nvGrpSpPr>
            <p:cNvPr id="88" name="jun-item-2"/>
            <p:cNvGrpSpPr/>
            <p:nvPr/>
          </p:nvGrpSpPr>
          <p:grpSpPr>
            <a:xfrm>
              <a:off x="8467725" y="2457450"/>
              <a:ext cx="1804352" cy="584120"/>
              <a:chOff x="8467725" y="2457450"/>
              <a:chExt cx="1804352" cy="584120"/>
            </a:xfrm>
          </p:grpSpPr>
          <p:sp>
            <p:nvSpPr>
              <p:cNvPr id="81" name="Ellipse 81"/>
              <p:cNvSpPr/>
              <p:nvPr/>
            </p:nvSpPr>
            <p:spPr>
              <a:xfrm>
                <a:off x="8467725" y="2457450"/>
                <a:ext cx="381000" cy="381000"/>
              </a:xfrm>
              <a:prstGeom prst="ellipse">
                <a:avLst/>
              </a:prstGeom>
              <a:solidFill>
                <a:srgbClr val="B03A1F"/>
              </a:solidFill>
              <a:ln>
                <a:noFill/>
              </a:ln>
            </p:spPr>
          </p:sp>
          <p:grpSp>
            <p:nvGrpSpPr>
              <p:cNvPr id="85" name="Group 85"/>
              <p:cNvGrpSpPr/>
              <p:nvPr/>
            </p:nvGrpSpPr>
            <p:grpSpPr>
              <a:xfrm>
                <a:off x="8579644" y="2569369"/>
                <a:ext cx="157163" cy="157163"/>
                <a:chOff x="8579644" y="2569369"/>
                <a:chExt cx="157163" cy="157163"/>
              </a:xfrm>
            </p:grpSpPr>
            <p:sp>
              <p:nvSpPr>
                <p:cNvPr id="82" name="Freeform 82"/>
                <p:cNvSpPr/>
                <p:nvPr/>
              </p:nvSpPr>
              <p:spPr>
                <a:xfrm>
                  <a:off x="8649494" y="263921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83" name="Freeform 83"/>
                <p:cNvSpPr/>
                <p:nvPr/>
              </p:nvSpPr>
              <p:spPr>
                <a:xfrm>
                  <a:off x="8614569" y="260429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84" name="Freeform 84"/>
                <p:cNvSpPr/>
                <p:nvPr/>
              </p:nvSpPr>
              <p:spPr>
                <a:xfrm>
                  <a:off x="8579644" y="25693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86" name="TextBox 86"/>
              <p:cNvSpPr txBox="1"/>
              <p:nvPr/>
            </p:nvSpPr>
            <p:spPr>
              <a:xfrm>
                <a:off x="8958072" y="2504599"/>
                <a:ext cx="801472"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缺口攻坚活动</a:t>
                </a:r>
              </a:p>
            </p:txBody>
          </p:sp>
          <p:sp>
            <p:nvSpPr>
              <p:cNvPr id="87" name="TextBox 87"/>
              <p:cNvSpPr txBox="1"/>
              <p:nvPr/>
            </p:nvSpPr>
            <p:spPr>
              <a:xfrm>
                <a:off x="8958262" y="2715339"/>
                <a:ext cx="131381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6A6A6A"/>
                    </a:solidFill>
                    <a:latin typeface="+mn-lt"/>
                    <a:ea typeface="+mn-ea"/>
                    <a:cs typeface="+mn-cs"/>
                  </a:rPr>
                  <a:t>针对业绩缺口制定专项方案，</a:t>
                </a:r>
                <a:br/>
                <a:r>
                  <a:rPr lang="zh-CN" sz="790" dirty="0">
                    <a:solidFill>
                      <a:srgbClr val="6A6A6A"/>
                    </a:solidFill>
                    <a:latin typeface="+mn-lt"/>
                    <a:ea typeface="+mn-ea"/>
                    <a:cs typeface="+mn-cs"/>
                  </a:rPr>
                  <a:t>集中资源攻坚突破</a:t>
                </a:r>
              </a:p>
            </p:txBody>
          </p:sp>
        </p:grpSp>
        <p:grpSp>
          <p:nvGrpSpPr>
            <p:cNvPr id="95" name="jun-item-3"/>
            <p:cNvGrpSpPr/>
            <p:nvPr/>
          </p:nvGrpSpPr>
          <p:grpSpPr>
            <a:xfrm>
              <a:off x="8467725" y="3409950"/>
              <a:ext cx="1904682" cy="584120"/>
              <a:chOff x="8467725" y="3409950"/>
              <a:chExt cx="1904682" cy="584120"/>
            </a:xfrm>
          </p:grpSpPr>
          <p:sp>
            <p:nvSpPr>
              <p:cNvPr id="89" name="Ellipse 89"/>
              <p:cNvSpPr/>
              <p:nvPr/>
            </p:nvSpPr>
            <p:spPr>
              <a:xfrm>
                <a:off x="8467725" y="3409950"/>
                <a:ext cx="381000" cy="381000"/>
              </a:xfrm>
              <a:prstGeom prst="ellipse">
                <a:avLst/>
              </a:prstGeom>
              <a:solidFill>
                <a:srgbClr val="B03A1F"/>
              </a:solidFill>
              <a:ln>
                <a:noFill/>
              </a:ln>
            </p:spPr>
          </p:sp>
          <p:grpSp>
            <p:nvGrpSpPr>
              <p:cNvPr id="92" name="Group 92"/>
              <p:cNvGrpSpPr/>
              <p:nvPr/>
            </p:nvGrpSpPr>
            <p:grpSpPr>
              <a:xfrm>
                <a:off x="8579644" y="3521869"/>
                <a:ext cx="157163" cy="157163"/>
                <a:chOff x="8579644" y="3521869"/>
                <a:chExt cx="157163" cy="157163"/>
              </a:xfrm>
            </p:grpSpPr>
            <p:sp>
              <p:nvSpPr>
                <p:cNvPr id="90" name="Freeform 90"/>
                <p:cNvSpPr/>
                <p:nvPr/>
              </p:nvSpPr>
              <p:spPr>
                <a:xfrm>
                  <a:off x="8579644" y="3521869"/>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FFFFFF"/>
                  </a:solidFill>
                </a:ln>
              </p:spPr>
            </p:sp>
            <p:sp>
              <p:nvSpPr>
                <p:cNvPr id="91" name="Freeform 91"/>
                <p:cNvSpPr/>
                <p:nvPr/>
              </p:nvSpPr>
              <p:spPr>
                <a:xfrm>
                  <a:off x="8684419" y="3626644"/>
                  <a:ext cx="52388" cy="52388"/>
                </a:xfrm>
                <a:custGeom>
                  <a:avLst/>
                  <a:gdLst/>
                  <a:ahLst/>
                  <a:cxnLst/>
                  <a:rect l="l" t="t" r="r" b="b"/>
                  <a:pathLst>
                    <a:path w="52388" h="52388">
                      <a:moveTo>
                        <a:pt x="52388" y="52388"/>
                      </a:moveTo>
                      <a:lnTo>
                        <a:pt x="0" y="0"/>
                      </a:lnTo>
                    </a:path>
                  </a:pathLst>
                </a:custGeom>
                <a:noFill/>
                <a:ln w="17463">
                  <a:solidFill>
                    <a:srgbClr val="FFFFFF"/>
                  </a:solidFill>
                </a:ln>
              </p:spPr>
            </p:sp>
          </p:grpSp>
          <p:sp>
            <p:nvSpPr>
              <p:cNvPr id="93" name="TextBox 93"/>
              <p:cNvSpPr txBox="1"/>
              <p:nvPr/>
            </p:nvSpPr>
            <p:spPr>
              <a:xfrm>
                <a:off x="8958072" y="3457099"/>
                <a:ext cx="933399"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风险与质量复盘</a:t>
                </a:r>
              </a:p>
            </p:txBody>
          </p:sp>
          <p:sp>
            <p:nvSpPr>
              <p:cNvPr id="94" name="TextBox 94"/>
              <p:cNvSpPr txBox="1"/>
              <p:nvPr/>
            </p:nvSpPr>
            <p:spPr>
              <a:xfrm>
                <a:off x="8958262" y="3667839"/>
                <a:ext cx="1414145"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6A6A6A"/>
                    </a:solidFill>
                    <a:latin typeface="+mn-lt"/>
                    <a:ea typeface="+mn-ea"/>
                    <a:cs typeface="+mn-cs"/>
                  </a:rPr>
                  <a:t>开展风险与服务质量复盘，优化</a:t>
                </a:r>
                <a:br/>
                <a:r>
                  <a:rPr lang="zh-CN" sz="790" dirty="0">
                    <a:solidFill>
                      <a:srgbClr val="6A6A6A"/>
                    </a:solidFill>
                    <a:latin typeface="+mn-lt"/>
                    <a:ea typeface="+mn-ea"/>
                    <a:cs typeface="+mn-cs"/>
                  </a:rPr>
                  <a:t>流程，夯实合规与服务基础</a:t>
                </a:r>
              </a:p>
            </p:txBody>
          </p:sp>
        </p:grpSp>
      </p:grpSp>
      <p:grpSp>
        <p:nvGrpSpPr>
          <p:cNvPr id="132" name="rhythm-band"/>
          <p:cNvGrpSpPr/>
          <p:nvPr/>
        </p:nvGrpSpPr>
        <p:grpSpPr>
          <a:xfrm>
            <a:off x="200025" y="4305300"/>
            <a:ext cx="11839575" cy="1104900"/>
            <a:chOff x="200025" y="4305300"/>
            <a:chExt cx="11839575" cy="1104900"/>
          </a:xfrm>
        </p:grpSpPr>
        <p:sp>
          <p:nvSpPr>
            <p:cNvPr id="97" name="Rectangle 97"/>
            <p:cNvSpPr/>
            <p:nvPr/>
          </p:nvSpPr>
          <p:spPr>
            <a:xfrm>
              <a:off x="200025" y="4305300"/>
              <a:ext cx="685800" cy="1104900"/>
            </a:xfrm>
            <a:prstGeom prst="rect">
              <a:avLst/>
            </a:prstGeom>
            <a:solidFill>
              <a:srgbClr val="1E1E1E"/>
            </a:solidFill>
            <a:ln>
              <a:noFill/>
            </a:ln>
          </p:spPr>
        </p:sp>
        <p:sp>
          <p:nvSpPr>
            <p:cNvPr id="98" name="TextBox 98"/>
            <p:cNvSpPr txBox="1"/>
            <p:nvPr/>
          </p:nvSpPr>
          <p:spPr>
            <a:xfrm>
              <a:off x="406044" y="46953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运营</a:t>
              </a:r>
            </a:p>
          </p:txBody>
        </p:sp>
        <p:sp>
          <p:nvSpPr>
            <p:cNvPr id="99" name="TextBox 99"/>
            <p:cNvSpPr txBox="1"/>
            <p:nvPr/>
          </p:nvSpPr>
          <p:spPr>
            <a:xfrm>
              <a:off x="406044" y="49048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节奏</a:t>
              </a:r>
            </a:p>
          </p:txBody>
        </p:sp>
        <p:sp>
          <p:nvSpPr>
            <p:cNvPr id="100" name="Rectangle 100"/>
            <p:cNvSpPr/>
            <p:nvPr/>
          </p:nvSpPr>
          <p:spPr>
            <a:xfrm>
              <a:off x="962025" y="4305300"/>
              <a:ext cx="11077575" cy="1104900"/>
            </a:xfrm>
            <a:prstGeom prst="rect">
              <a:avLst/>
            </a:prstGeom>
            <a:solidFill>
              <a:srgbClr val="FFFFFF"/>
            </a:solidFill>
            <a:ln w="9525">
              <a:solidFill>
                <a:srgbClr val="E5E0DC"/>
              </a:solidFill>
            </a:ln>
          </p:spPr>
        </p:sp>
        <p:grpSp>
          <p:nvGrpSpPr>
            <p:cNvPr id="111" name="rhythm-week"/>
            <p:cNvGrpSpPr/>
            <p:nvPr/>
          </p:nvGrpSpPr>
          <p:grpSpPr>
            <a:xfrm>
              <a:off x="1381125" y="4648200"/>
              <a:ext cx="1776412" cy="542926"/>
              <a:chOff x="1381125" y="4648200"/>
              <a:chExt cx="1776412" cy="542926"/>
            </a:xfrm>
          </p:grpSpPr>
          <p:sp>
            <p:nvSpPr>
              <p:cNvPr id="101" name="Ellipse 101"/>
              <p:cNvSpPr/>
              <p:nvPr/>
            </p:nvSpPr>
            <p:spPr>
              <a:xfrm>
                <a:off x="1381125" y="4648200"/>
                <a:ext cx="419100" cy="419100"/>
              </a:xfrm>
              <a:prstGeom prst="ellipse">
                <a:avLst/>
              </a:prstGeom>
              <a:solidFill>
                <a:srgbClr val="B03A1F"/>
              </a:solidFill>
              <a:ln>
                <a:noFill/>
              </a:ln>
            </p:spPr>
          </p:sp>
          <p:grpSp>
            <p:nvGrpSpPr>
              <p:cNvPr id="108" name="Group 108"/>
              <p:cNvGrpSpPr/>
              <p:nvPr/>
            </p:nvGrpSpPr>
            <p:grpSpPr>
              <a:xfrm>
                <a:off x="1514475" y="4772025"/>
                <a:ext cx="152400" cy="171450"/>
                <a:chOff x="1514475" y="4772025"/>
                <a:chExt cx="152400" cy="171450"/>
              </a:xfrm>
            </p:grpSpPr>
            <p:sp>
              <p:nvSpPr>
                <p:cNvPr id="102" name="Freeform 102"/>
                <p:cNvSpPr/>
                <p:nvPr/>
              </p:nvSpPr>
              <p:spPr>
                <a:xfrm>
                  <a:off x="1514475" y="4791075"/>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103" name="Freeform 103"/>
                <p:cNvSpPr/>
                <p:nvPr/>
              </p:nvSpPr>
              <p:spPr>
                <a:xfrm>
                  <a:off x="1628775" y="4772025"/>
                  <a:ext cx="9525" cy="38100"/>
                </a:xfrm>
                <a:custGeom>
                  <a:avLst/>
                  <a:gdLst/>
                  <a:ahLst/>
                  <a:cxnLst/>
                  <a:rect l="l" t="t" r="r" b="b"/>
                  <a:pathLst>
                    <a:path w="9525" h="38100">
                      <a:moveTo>
                        <a:pt x="0" y="0"/>
                      </a:moveTo>
                      <a:lnTo>
                        <a:pt x="0" y="38100"/>
                      </a:lnTo>
                    </a:path>
                  </a:pathLst>
                </a:custGeom>
                <a:noFill/>
                <a:ln w="19050">
                  <a:solidFill>
                    <a:srgbClr val="FFFFFF"/>
                  </a:solidFill>
                </a:ln>
              </p:spPr>
            </p:sp>
            <p:sp>
              <p:nvSpPr>
                <p:cNvPr id="104" name="Freeform 104"/>
                <p:cNvSpPr/>
                <p:nvPr/>
              </p:nvSpPr>
              <p:spPr>
                <a:xfrm>
                  <a:off x="1552575" y="4772025"/>
                  <a:ext cx="9525" cy="38100"/>
                </a:xfrm>
                <a:custGeom>
                  <a:avLst/>
                  <a:gdLst/>
                  <a:ahLst/>
                  <a:cxnLst/>
                  <a:rect l="l" t="t" r="r" b="b"/>
                  <a:pathLst>
                    <a:path w="9525" h="38100">
                      <a:moveTo>
                        <a:pt x="0" y="0"/>
                      </a:moveTo>
                      <a:lnTo>
                        <a:pt x="0" y="38100"/>
                      </a:lnTo>
                    </a:path>
                  </a:pathLst>
                </a:custGeom>
                <a:noFill/>
                <a:ln w="19050">
                  <a:solidFill>
                    <a:srgbClr val="FFFFFF"/>
                  </a:solidFill>
                </a:ln>
              </p:spPr>
            </p:sp>
            <p:sp>
              <p:nvSpPr>
                <p:cNvPr id="105" name="Freeform 105"/>
                <p:cNvSpPr/>
                <p:nvPr/>
              </p:nvSpPr>
              <p:spPr>
                <a:xfrm>
                  <a:off x="1514475" y="4848225"/>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106" name="Freeform 106"/>
                <p:cNvSpPr/>
                <p:nvPr/>
              </p:nvSpPr>
              <p:spPr>
                <a:xfrm>
                  <a:off x="1581150" y="4886325"/>
                  <a:ext cx="9525" cy="9525"/>
                </a:xfrm>
                <a:custGeom>
                  <a:avLst/>
                  <a:gdLst/>
                  <a:ahLst/>
                  <a:cxnLst/>
                  <a:rect l="l" t="t" r="r" b="b"/>
                  <a:pathLst>
                    <a:path w="9525" h="9525">
                      <a:moveTo>
                        <a:pt x="0" y="0"/>
                      </a:moveTo>
                      <a:lnTo>
                        <a:pt x="9525" y="0"/>
                      </a:lnTo>
                    </a:path>
                  </a:pathLst>
                </a:custGeom>
                <a:noFill/>
                <a:ln w="19050">
                  <a:solidFill>
                    <a:srgbClr val="FFFFFF"/>
                  </a:solidFill>
                </a:ln>
              </p:spPr>
            </p:sp>
            <p:sp>
              <p:nvSpPr>
                <p:cNvPr id="107" name="Freeform 107"/>
                <p:cNvSpPr/>
                <p:nvPr/>
              </p:nvSpPr>
              <p:spPr>
                <a:xfrm>
                  <a:off x="1590675" y="4886325"/>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109" name="TextBox 109"/>
              <p:cNvSpPr txBox="1"/>
              <p:nvPr/>
            </p:nvSpPr>
            <p:spPr>
              <a:xfrm>
                <a:off x="1909382" y="4653201"/>
                <a:ext cx="418186"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周目标</a:t>
                </a:r>
              </a:p>
            </p:txBody>
          </p:sp>
          <p:sp>
            <p:nvSpPr>
              <p:cNvPr id="110" name="TextBox 110"/>
              <p:cNvSpPr txBox="1"/>
              <p:nvPr/>
            </p:nvSpPr>
            <p:spPr>
              <a:xfrm>
                <a:off x="1909762" y="4872038"/>
                <a:ext cx="1247775" cy="319088"/>
              </a:xfrm>
              <a:prstGeom prst="rect">
                <a:avLst/>
              </a:prstGeom>
              <a:noFill/>
              <a:ln>
                <a:noFill/>
              </a:ln>
            </p:spPr>
            <p:txBody>
              <a:bodyPr wrap="none" lIns="0" tIns="0" rIns="0" bIns="0" anchor="t" anchorCtr="0">
                <a:spAutoFit/>
              </a:bodyPr>
              <a:lstStyle/>
              <a:p>
                <a:pPr algn="l">
                  <a:lnSpc>
                    <a:spcPts val="1350"/>
                  </a:lnSpc>
                </a:pPr>
                <a:r>
                  <a:rPr lang="zh-CN" sz="750" dirty="0">
                    <a:solidFill>
                      <a:srgbClr val="6A6A6A"/>
                    </a:solidFill>
                    <a:latin typeface="+mn-lt"/>
                    <a:ea typeface="+mn-ea"/>
                    <a:cs typeface="+mn-cs"/>
                  </a:rPr>
                  <a:t>明确周目标与重点任务，分解</a:t>
                </a:r>
                <a:br/>
                <a:r>
                  <a:rPr lang="zh-CN" sz="750" dirty="0">
                    <a:solidFill>
                      <a:srgbClr val="6A6A6A"/>
                    </a:solidFill>
                    <a:latin typeface="+mn-lt"/>
                    <a:ea typeface="+mn-ea"/>
                    <a:cs typeface="+mn-cs"/>
                  </a:rPr>
                  <a:t>到人、跟踪进度、及时调整</a:t>
                </a:r>
              </a:p>
            </p:txBody>
          </p:sp>
        </p:grpSp>
        <p:sp>
          <p:nvSpPr>
            <p:cNvPr id="112" name="deco-arrow-r1"/>
            <p:cNvSpPr/>
            <p:nvPr/>
          </p:nvSpPr>
          <p:spPr>
            <a:xfrm>
              <a:off x="4600575" y="4762500"/>
              <a:ext cx="171450" cy="190500"/>
            </a:xfrm>
            <a:custGeom>
              <a:avLst/>
              <a:gdLst/>
              <a:ahLst/>
              <a:cxnLst/>
              <a:rect l="l" t="t" r="r" b="b"/>
              <a:pathLst>
                <a:path w="171450" h="190500">
                  <a:moveTo>
                    <a:pt x="0" y="0"/>
                  </a:moveTo>
                  <a:lnTo>
                    <a:pt x="171450" y="95250"/>
                  </a:lnTo>
                  <a:lnTo>
                    <a:pt x="0" y="190500"/>
                  </a:lnTo>
                  <a:close/>
                </a:path>
              </a:pathLst>
            </a:custGeom>
            <a:solidFill>
              <a:srgbClr val="B03A1F"/>
            </a:solidFill>
            <a:ln>
              <a:noFill/>
            </a:ln>
          </p:spPr>
        </p:sp>
        <p:grpSp>
          <p:nvGrpSpPr>
            <p:cNvPr id="121" name="rhythm-day"/>
            <p:cNvGrpSpPr/>
            <p:nvPr/>
          </p:nvGrpSpPr>
          <p:grpSpPr>
            <a:xfrm>
              <a:off x="5000625" y="4648200"/>
              <a:ext cx="1871662" cy="542926"/>
              <a:chOff x="5000625" y="4648200"/>
              <a:chExt cx="1871662" cy="542926"/>
            </a:xfrm>
          </p:grpSpPr>
          <p:sp>
            <p:nvSpPr>
              <p:cNvPr id="113" name="Ellipse 113"/>
              <p:cNvSpPr/>
              <p:nvPr/>
            </p:nvSpPr>
            <p:spPr>
              <a:xfrm>
                <a:off x="5000625" y="4648200"/>
                <a:ext cx="419100" cy="419100"/>
              </a:xfrm>
              <a:prstGeom prst="ellipse">
                <a:avLst/>
              </a:prstGeom>
              <a:solidFill>
                <a:srgbClr val="B03A1F"/>
              </a:solidFill>
              <a:ln>
                <a:noFill/>
              </a:ln>
            </p:spPr>
          </p:sp>
          <p:grpSp>
            <p:nvGrpSpPr>
              <p:cNvPr id="118" name="Group 118"/>
              <p:cNvGrpSpPr/>
              <p:nvPr/>
            </p:nvGrpSpPr>
            <p:grpSpPr>
              <a:xfrm>
                <a:off x="5143500" y="4781550"/>
                <a:ext cx="142875" cy="161925"/>
                <a:chOff x="5143500" y="4781550"/>
                <a:chExt cx="142875" cy="161925"/>
              </a:xfrm>
            </p:grpSpPr>
            <p:sp>
              <p:nvSpPr>
                <p:cNvPr id="114" name="Freeform 114"/>
                <p:cNvSpPr/>
                <p:nvPr/>
              </p:nvSpPr>
              <p:spPr>
                <a:xfrm>
                  <a:off x="5143500" y="478155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FFFFFF"/>
                  </a:solidFill>
                </a:ln>
              </p:spPr>
            </p:sp>
            <p:sp>
              <p:nvSpPr>
                <p:cNvPr id="115" name="Freeform 115"/>
                <p:cNvSpPr/>
                <p:nvPr/>
              </p:nvSpPr>
              <p:spPr>
                <a:xfrm>
                  <a:off x="5229225" y="490537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sp>
              <p:nvSpPr>
                <p:cNvPr id="116" name="Freeform 116"/>
                <p:cNvSpPr/>
                <p:nvPr/>
              </p:nvSpPr>
              <p:spPr>
                <a:xfrm>
                  <a:off x="5181600" y="4819650"/>
                  <a:ext cx="38100" cy="9525"/>
                </a:xfrm>
                <a:custGeom>
                  <a:avLst/>
                  <a:gdLst/>
                  <a:ahLst/>
                  <a:cxnLst/>
                  <a:rect l="l" t="t" r="r" b="b"/>
                  <a:pathLst>
                    <a:path w="38100" h="9525">
                      <a:moveTo>
                        <a:pt x="0" y="0"/>
                      </a:moveTo>
                      <a:lnTo>
                        <a:pt x="38100" y="0"/>
                      </a:lnTo>
                    </a:path>
                  </a:pathLst>
                </a:custGeom>
                <a:noFill/>
                <a:ln w="19050">
                  <a:solidFill>
                    <a:srgbClr val="FFFFFF"/>
                  </a:solidFill>
                </a:ln>
              </p:spPr>
            </p:sp>
            <p:sp>
              <p:nvSpPr>
                <p:cNvPr id="117" name="Freeform 117"/>
                <p:cNvSpPr/>
                <p:nvPr/>
              </p:nvSpPr>
              <p:spPr>
                <a:xfrm>
                  <a:off x="5181600" y="4857750"/>
                  <a:ext cx="19050" cy="9525"/>
                </a:xfrm>
                <a:custGeom>
                  <a:avLst/>
                  <a:gdLst/>
                  <a:ahLst/>
                  <a:cxnLst/>
                  <a:rect l="l" t="t" r="r" b="b"/>
                  <a:pathLst>
                    <a:path w="19050" h="9525">
                      <a:moveTo>
                        <a:pt x="0" y="0"/>
                      </a:moveTo>
                      <a:lnTo>
                        <a:pt x="19050" y="0"/>
                      </a:lnTo>
                    </a:path>
                  </a:pathLst>
                </a:custGeom>
                <a:noFill/>
                <a:ln w="19050">
                  <a:solidFill>
                    <a:srgbClr val="FFFFFF"/>
                  </a:solidFill>
                </a:ln>
              </p:spPr>
            </p:sp>
          </p:grpSp>
          <p:sp>
            <p:nvSpPr>
              <p:cNvPr id="119" name="TextBox 119"/>
              <p:cNvSpPr txBox="1"/>
              <p:nvPr/>
            </p:nvSpPr>
            <p:spPr>
              <a:xfrm>
                <a:off x="5528882" y="4653201"/>
                <a:ext cx="418186"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日追踪</a:t>
                </a:r>
              </a:p>
            </p:txBody>
          </p:sp>
          <p:sp>
            <p:nvSpPr>
              <p:cNvPr id="120" name="TextBox 120"/>
              <p:cNvSpPr txBox="1"/>
              <p:nvPr/>
            </p:nvSpPr>
            <p:spPr>
              <a:xfrm>
                <a:off x="5529262" y="4872038"/>
                <a:ext cx="1343025" cy="319088"/>
              </a:xfrm>
              <a:prstGeom prst="rect">
                <a:avLst/>
              </a:prstGeom>
              <a:noFill/>
              <a:ln>
                <a:noFill/>
              </a:ln>
            </p:spPr>
            <p:txBody>
              <a:bodyPr wrap="none" lIns="0" tIns="0" rIns="0" bIns="0" anchor="t" anchorCtr="0">
                <a:spAutoFit/>
              </a:bodyPr>
              <a:lstStyle/>
              <a:p>
                <a:pPr algn="l">
                  <a:lnSpc>
                    <a:spcPts val="1350"/>
                  </a:lnSpc>
                </a:pPr>
                <a:r>
                  <a:rPr lang="zh-CN" sz="750" dirty="0">
                    <a:solidFill>
                      <a:srgbClr val="6A6A6A"/>
                    </a:solidFill>
                    <a:latin typeface="+mn-lt"/>
                    <a:ea typeface="+mn-ea"/>
                    <a:cs typeface="+mn-cs"/>
                  </a:rPr>
                  <a:t>每日跟踪关键指标与任务完成</a:t>
                </a:r>
                <a:br/>
                <a:r>
                  <a:rPr lang="zh-CN" sz="750" dirty="0">
                    <a:solidFill>
                      <a:srgbClr val="6A6A6A"/>
                    </a:solidFill>
                    <a:latin typeface="+mn-lt"/>
                    <a:ea typeface="+mn-ea"/>
                    <a:cs typeface="+mn-cs"/>
                  </a:rPr>
                  <a:t>情况，及时发现问题、快速响应</a:t>
                </a:r>
              </a:p>
            </p:txBody>
          </p:sp>
        </p:grpSp>
        <p:sp>
          <p:nvSpPr>
            <p:cNvPr id="122" name="deco-arrow-r2"/>
            <p:cNvSpPr/>
            <p:nvPr/>
          </p:nvSpPr>
          <p:spPr>
            <a:xfrm>
              <a:off x="8220075" y="4762500"/>
              <a:ext cx="171450" cy="190500"/>
            </a:xfrm>
            <a:custGeom>
              <a:avLst/>
              <a:gdLst/>
              <a:ahLst/>
              <a:cxnLst/>
              <a:rect l="l" t="t" r="r" b="b"/>
              <a:pathLst>
                <a:path w="171450" h="190500">
                  <a:moveTo>
                    <a:pt x="0" y="0"/>
                  </a:moveTo>
                  <a:lnTo>
                    <a:pt x="171450" y="95250"/>
                  </a:lnTo>
                  <a:lnTo>
                    <a:pt x="0" y="190500"/>
                  </a:lnTo>
                  <a:close/>
                </a:path>
              </a:pathLst>
            </a:custGeom>
            <a:solidFill>
              <a:srgbClr val="B03A1F"/>
            </a:solidFill>
            <a:ln>
              <a:noFill/>
            </a:ln>
          </p:spPr>
        </p:sp>
        <p:grpSp>
          <p:nvGrpSpPr>
            <p:cNvPr id="131" name="rhythm-month"/>
            <p:cNvGrpSpPr/>
            <p:nvPr/>
          </p:nvGrpSpPr>
          <p:grpSpPr>
            <a:xfrm>
              <a:off x="8620125" y="4648200"/>
              <a:ext cx="1871662" cy="542926"/>
              <a:chOff x="8620125" y="4648200"/>
              <a:chExt cx="1871662" cy="542926"/>
            </a:xfrm>
          </p:grpSpPr>
          <p:sp>
            <p:nvSpPr>
              <p:cNvPr id="123" name="Ellipse 123"/>
              <p:cNvSpPr/>
              <p:nvPr/>
            </p:nvSpPr>
            <p:spPr>
              <a:xfrm>
                <a:off x="8620125" y="4648200"/>
                <a:ext cx="419100" cy="419100"/>
              </a:xfrm>
              <a:prstGeom prst="ellipse">
                <a:avLst/>
              </a:prstGeom>
              <a:solidFill>
                <a:srgbClr val="B03A1F"/>
              </a:solidFill>
              <a:ln>
                <a:noFill/>
              </a:ln>
            </p:spPr>
          </p:sp>
          <p:grpSp>
            <p:nvGrpSpPr>
              <p:cNvPr id="128" name="Group 128"/>
              <p:cNvGrpSpPr/>
              <p:nvPr/>
            </p:nvGrpSpPr>
            <p:grpSpPr>
              <a:xfrm>
                <a:off x="8743950" y="4781550"/>
                <a:ext cx="171450" cy="161925"/>
                <a:chOff x="8743950" y="4781550"/>
                <a:chExt cx="171450" cy="161925"/>
              </a:xfrm>
            </p:grpSpPr>
            <p:sp>
              <p:nvSpPr>
                <p:cNvPr id="124" name="Freeform 124"/>
                <p:cNvSpPr/>
                <p:nvPr/>
              </p:nvSpPr>
              <p:spPr>
                <a:xfrm>
                  <a:off x="8743950" y="48577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125" name="Freeform 125"/>
                <p:cNvSpPr/>
                <p:nvPr/>
              </p:nvSpPr>
              <p:spPr>
                <a:xfrm>
                  <a:off x="8858250" y="48196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126" name="Freeform 126"/>
                <p:cNvSpPr/>
                <p:nvPr/>
              </p:nvSpPr>
              <p:spPr>
                <a:xfrm>
                  <a:off x="8801100" y="47815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127" name="Freeform 127"/>
                <p:cNvSpPr/>
                <p:nvPr/>
              </p:nvSpPr>
              <p:spPr>
                <a:xfrm>
                  <a:off x="8753475" y="4933950"/>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129" name="TextBox 129"/>
              <p:cNvSpPr txBox="1"/>
              <p:nvPr/>
            </p:nvSpPr>
            <p:spPr>
              <a:xfrm>
                <a:off x="9148382" y="4653201"/>
                <a:ext cx="418186"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月复盘</a:t>
                </a:r>
              </a:p>
            </p:txBody>
          </p:sp>
          <p:sp>
            <p:nvSpPr>
              <p:cNvPr id="130" name="TextBox 130"/>
              <p:cNvSpPr txBox="1"/>
              <p:nvPr/>
            </p:nvSpPr>
            <p:spPr>
              <a:xfrm>
                <a:off x="9148762" y="4872038"/>
                <a:ext cx="1343025" cy="319088"/>
              </a:xfrm>
              <a:prstGeom prst="rect">
                <a:avLst/>
              </a:prstGeom>
              <a:noFill/>
              <a:ln>
                <a:noFill/>
              </a:ln>
            </p:spPr>
            <p:txBody>
              <a:bodyPr wrap="none" lIns="0" tIns="0" rIns="0" bIns="0" anchor="t" anchorCtr="0">
                <a:spAutoFit/>
              </a:bodyPr>
              <a:lstStyle/>
              <a:p>
                <a:pPr algn="l">
                  <a:lnSpc>
                    <a:spcPts val="1350"/>
                  </a:lnSpc>
                </a:pPr>
                <a:r>
                  <a:rPr lang="zh-CN" sz="750" dirty="0">
                    <a:solidFill>
                      <a:srgbClr val="6A6A6A"/>
                    </a:solidFill>
                    <a:latin typeface="+mn-lt"/>
                    <a:ea typeface="+mn-ea"/>
                    <a:cs typeface="+mn-cs"/>
                  </a:rPr>
                  <a:t>月度复盘目标达成与活动效果，</a:t>
                </a:r>
                <a:br/>
                <a:r>
                  <a:rPr lang="zh-CN" sz="750" dirty="0">
                    <a:solidFill>
                      <a:srgbClr val="6A6A6A"/>
                    </a:solidFill>
                    <a:latin typeface="+mn-lt"/>
                    <a:ea typeface="+mn-ea"/>
                    <a:cs typeface="+mn-cs"/>
                  </a:rPr>
                  <a:t>提炼经验，优化策略与资源配置</a:t>
                </a:r>
              </a:p>
            </p:txBody>
          </p:sp>
        </p:grpSp>
      </p:grpSp>
      <p:grpSp>
        <p:nvGrpSpPr>
          <p:cNvPr id="179" name="actors-band"/>
          <p:cNvGrpSpPr/>
          <p:nvPr/>
        </p:nvGrpSpPr>
        <p:grpSpPr>
          <a:xfrm>
            <a:off x="200025" y="5505450"/>
            <a:ext cx="11839575" cy="1162050"/>
            <a:chOff x="200025" y="5505450"/>
            <a:chExt cx="11839575" cy="1162050"/>
          </a:xfrm>
        </p:grpSpPr>
        <p:sp>
          <p:nvSpPr>
            <p:cNvPr id="133" name="Rectangle 133"/>
            <p:cNvSpPr/>
            <p:nvPr/>
          </p:nvSpPr>
          <p:spPr>
            <a:xfrm>
              <a:off x="200025" y="5505450"/>
              <a:ext cx="685800" cy="1162050"/>
            </a:xfrm>
            <a:prstGeom prst="rect">
              <a:avLst/>
            </a:prstGeom>
            <a:solidFill>
              <a:srgbClr val="1E1E1E"/>
            </a:solidFill>
            <a:ln>
              <a:noFill/>
            </a:ln>
          </p:spPr>
        </p:sp>
        <p:sp>
          <p:nvSpPr>
            <p:cNvPr id="134" name="TextBox 134"/>
            <p:cNvSpPr txBox="1"/>
            <p:nvPr/>
          </p:nvSpPr>
          <p:spPr>
            <a:xfrm>
              <a:off x="406044" y="592407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行动</a:t>
              </a:r>
            </a:p>
          </p:txBody>
        </p:sp>
        <p:sp>
          <p:nvSpPr>
            <p:cNvPr id="135" name="TextBox 135"/>
            <p:cNvSpPr txBox="1"/>
            <p:nvPr/>
          </p:nvSpPr>
          <p:spPr>
            <a:xfrm>
              <a:off x="406044" y="61336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主体</a:t>
              </a:r>
            </a:p>
          </p:txBody>
        </p:sp>
        <p:sp>
          <p:nvSpPr>
            <p:cNvPr id="136" name="Rectangle 136"/>
            <p:cNvSpPr/>
            <p:nvPr/>
          </p:nvSpPr>
          <p:spPr>
            <a:xfrm>
              <a:off x="962025" y="5505450"/>
              <a:ext cx="11077575" cy="1162050"/>
            </a:xfrm>
            <a:prstGeom prst="rect">
              <a:avLst/>
            </a:prstGeom>
            <a:solidFill>
              <a:srgbClr val="FFFFFF"/>
            </a:solidFill>
            <a:ln w="9525">
              <a:solidFill>
                <a:srgbClr val="E5E0DC"/>
              </a:solidFill>
            </a:ln>
          </p:spPr>
        </p:sp>
        <p:grpSp>
          <p:nvGrpSpPr>
            <p:cNvPr id="149" name="actor-hq"/>
            <p:cNvGrpSpPr/>
            <p:nvPr/>
          </p:nvGrpSpPr>
          <p:grpSpPr>
            <a:xfrm>
              <a:off x="1171575" y="5880497"/>
              <a:ext cx="1714818" cy="517208"/>
              <a:chOff x="1171575" y="5880497"/>
              <a:chExt cx="1714818" cy="517208"/>
            </a:xfrm>
          </p:grpSpPr>
          <p:sp>
            <p:nvSpPr>
              <p:cNvPr id="137" name="Ellipse 137"/>
              <p:cNvSpPr/>
              <p:nvPr/>
            </p:nvSpPr>
            <p:spPr>
              <a:xfrm>
                <a:off x="1171575" y="5895975"/>
                <a:ext cx="361950" cy="361950"/>
              </a:xfrm>
              <a:prstGeom prst="ellipse">
                <a:avLst/>
              </a:prstGeom>
              <a:solidFill>
                <a:srgbClr val="B03A1F"/>
              </a:solidFill>
              <a:ln>
                <a:noFill/>
              </a:ln>
            </p:spPr>
          </p:sp>
          <p:grpSp>
            <p:nvGrpSpPr>
              <p:cNvPr id="146" name="Group 146"/>
              <p:cNvGrpSpPr/>
              <p:nvPr/>
            </p:nvGrpSpPr>
            <p:grpSpPr>
              <a:xfrm>
                <a:off x="1281112" y="6005512"/>
                <a:ext cx="142875" cy="152400"/>
                <a:chOff x="1281112" y="6005512"/>
                <a:chExt cx="142875" cy="152400"/>
              </a:xfrm>
            </p:grpSpPr>
            <p:sp>
              <p:nvSpPr>
                <p:cNvPr id="138" name="Freeform 138"/>
                <p:cNvSpPr/>
                <p:nvPr/>
              </p:nvSpPr>
              <p:spPr>
                <a:xfrm>
                  <a:off x="1281112" y="6148387"/>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39" name="Freeform 139"/>
                <p:cNvSpPr/>
                <p:nvPr/>
              </p:nvSpPr>
              <p:spPr>
                <a:xfrm>
                  <a:off x="1328737" y="6045200"/>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40" name="Freeform 140"/>
                <p:cNvSpPr/>
                <p:nvPr/>
              </p:nvSpPr>
              <p:spPr>
                <a:xfrm>
                  <a:off x="1328737" y="6076950"/>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41" name="Freeform 141"/>
                <p:cNvSpPr/>
                <p:nvPr/>
              </p:nvSpPr>
              <p:spPr>
                <a:xfrm>
                  <a:off x="1328737" y="6108700"/>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42" name="Freeform 142"/>
                <p:cNvSpPr/>
                <p:nvPr/>
              </p:nvSpPr>
              <p:spPr>
                <a:xfrm>
                  <a:off x="1368425" y="6045200"/>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43" name="Freeform 143"/>
                <p:cNvSpPr/>
                <p:nvPr/>
              </p:nvSpPr>
              <p:spPr>
                <a:xfrm>
                  <a:off x="1368425" y="6076950"/>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44" name="Freeform 144"/>
                <p:cNvSpPr/>
                <p:nvPr/>
              </p:nvSpPr>
              <p:spPr>
                <a:xfrm>
                  <a:off x="1368425" y="6108700"/>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45" name="Freeform 145"/>
                <p:cNvSpPr/>
                <p:nvPr/>
              </p:nvSpPr>
              <p:spPr>
                <a:xfrm>
                  <a:off x="1296987" y="6005512"/>
                  <a:ext cx="111125" cy="142875"/>
                </a:xfrm>
                <a:custGeom>
                  <a:avLst/>
                  <a:gdLst/>
                  <a:ahLst/>
                  <a:cxnLst/>
                  <a:rect l="l" t="t" r="r" b="b"/>
                  <a:pathLst>
                    <a:path w="111125" h="142875">
                      <a:moveTo>
                        <a:pt x="0" y="142875"/>
                      </a:moveTo>
                      <a:lnTo>
                        <a:pt x="0" y="15875"/>
                      </a:lnTo>
                      <a:cubicBezTo>
                        <a:pt x="0" y="7107"/>
                        <a:pt x="7107" y="0"/>
                        <a:pt x="15875" y="0"/>
                      </a:cubicBezTo>
                      <a:lnTo>
                        <a:pt x="95250" y="0"/>
                      </a:lnTo>
                      <a:cubicBezTo>
                        <a:pt x="104017" y="0"/>
                        <a:pt x="111125" y="7107"/>
                        <a:pt x="111125" y="15875"/>
                      </a:cubicBezTo>
                      <a:lnTo>
                        <a:pt x="111125" y="142875"/>
                      </a:lnTo>
                    </a:path>
                  </a:pathLst>
                </a:custGeom>
                <a:noFill/>
                <a:ln w="15875">
                  <a:solidFill>
                    <a:srgbClr val="FFFFFF"/>
                  </a:solidFill>
                </a:ln>
              </p:spPr>
            </p:sp>
          </p:grpSp>
          <p:sp>
            <p:nvSpPr>
              <p:cNvPr id="147" name="TextBox 147"/>
              <p:cNvSpPr txBox="1"/>
              <p:nvPr/>
            </p:nvSpPr>
            <p:spPr>
              <a:xfrm>
                <a:off x="1614488" y="5880497"/>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总部条线</a:t>
                </a:r>
              </a:p>
            </p:txBody>
          </p:sp>
          <p:sp>
            <p:nvSpPr>
              <p:cNvPr id="148" name="TextBox 148"/>
              <p:cNvSpPr txBox="1"/>
              <p:nvPr/>
            </p:nvSpPr>
            <p:spPr>
              <a:xfrm>
                <a:off x="1614488" y="6095286"/>
                <a:ext cx="127190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6A6A6A"/>
                    </a:solidFill>
                    <a:latin typeface="+mn-lt"/>
                    <a:ea typeface="+mn-ea"/>
                    <a:cs typeface="+mn-cs"/>
                  </a:rPr>
                  <a:t>统筹策略制定、资源配置与协同</a:t>
                </a:r>
                <a:br/>
                <a:r>
                  <a:rPr lang="zh-CN" sz="710" dirty="0">
                    <a:solidFill>
                      <a:srgbClr val="6A6A6A"/>
                    </a:solidFill>
                    <a:latin typeface="+mn-lt"/>
                    <a:ea typeface="+mn-ea"/>
                    <a:cs typeface="+mn-cs"/>
                  </a:rPr>
                  <a:t>支持，推动重点项目落地</a:t>
                </a:r>
              </a:p>
            </p:txBody>
          </p:sp>
        </p:grpSp>
        <p:grpSp>
          <p:nvGrpSpPr>
            <p:cNvPr id="162" name="actor-branch"/>
            <p:cNvGrpSpPr/>
            <p:nvPr/>
          </p:nvGrpSpPr>
          <p:grpSpPr>
            <a:xfrm>
              <a:off x="3857625" y="5880497"/>
              <a:ext cx="1714818" cy="517208"/>
              <a:chOff x="3857625" y="5880497"/>
              <a:chExt cx="1714818" cy="517208"/>
            </a:xfrm>
          </p:grpSpPr>
          <p:sp>
            <p:nvSpPr>
              <p:cNvPr id="150" name="Ellipse 150"/>
              <p:cNvSpPr/>
              <p:nvPr/>
            </p:nvSpPr>
            <p:spPr>
              <a:xfrm>
                <a:off x="3857625" y="5895975"/>
                <a:ext cx="361950" cy="361950"/>
              </a:xfrm>
              <a:prstGeom prst="ellipse">
                <a:avLst/>
              </a:prstGeom>
              <a:solidFill>
                <a:srgbClr val="B03A1F"/>
              </a:solidFill>
              <a:ln>
                <a:noFill/>
              </a:ln>
            </p:spPr>
          </p:sp>
          <p:grpSp>
            <p:nvGrpSpPr>
              <p:cNvPr id="159" name="Group 159"/>
              <p:cNvGrpSpPr/>
              <p:nvPr/>
            </p:nvGrpSpPr>
            <p:grpSpPr>
              <a:xfrm>
                <a:off x="3967162" y="6005512"/>
                <a:ext cx="144463" cy="152400"/>
                <a:chOff x="3967162" y="6005512"/>
                <a:chExt cx="144463" cy="152400"/>
              </a:xfrm>
            </p:grpSpPr>
            <p:sp>
              <p:nvSpPr>
                <p:cNvPr id="151" name="Freeform 151"/>
                <p:cNvSpPr/>
                <p:nvPr/>
              </p:nvSpPr>
              <p:spPr>
                <a:xfrm>
                  <a:off x="3967162" y="6148387"/>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52" name="Freeform 152"/>
                <p:cNvSpPr/>
                <p:nvPr/>
              </p:nvSpPr>
              <p:spPr>
                <a:xfrm>
                  <a:off x="3967162" y="6061075"/>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53" name="Freeform 153"/>
                <p:cNvSpPr/>
                <p:nvPr/>
              </p:nvSpPr>
              <p:spPr>
                <a:xfrm>
                  <a:off x="3983037" y="6005512"/>
                  <a:ext cx="111125" cy="23812"/>
                </a:xfrm>
                <a:custGeom>
                  <a:avLst/>
                  <a:gdLst/>
                  <a:ahLst/>
                  <a:cxnLst/>
                  <a:rect l="l" t="t" r="r" b="b"/>
                  <a:pathLst>
                    <a:path w="111125" h="23812">
                      <a:moveTo>
                        <a:pt x="0" y="23812"/>
                      </a:moveTo>
                      <a:lnTo>
                        <a:pt x="55562" y="0"/>
                      </a:lnTo>
                      <a:lnTo>
                        <a:pt x="111125" y="23812"/>
                      </a:lnTo>
                    </a:path>
                  </a:pathLst>
                </a:custGeom>
                <a:noFill/>
                <a:ln w="15875">
                  <a:solidFill>
                    <a:srgbClr val="FFFFFF"/>
                  </a:solidFill>
                </a:ln>
              </p:spPr>
            </p:sp>
            <p:sp>
              <p:nvSpPr>
                <p:cNvPr id="154" name="Freeform 154"/>
                <p:cNvSpPr/>
                <p:nvPr/>
              </p:nvSpPr>
              <p:spPr>
                <a:xfrm>
                  <a:off x="3975100" y="606107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155" name="Freeform 155"/>
                <p:cNvSpPr/>
                <p:nvPr/>
              </p:nvSpPr>
              <p:spPr>
                <a:xfrm>
                  <a:off x="4102100" y="606107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156" name="Freeform 156"/>
                <p:cNvSpPr/>
                <p:nvPr/>
              </p:nvSpPr>
              <p:spPr>
                <a:xfrm>
                  <a:off x="4006850" y="609282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157" name="Freeform 157"/>
                <p:cNvSpPr/>
                <p:nvPr/>
              </p:nvSpPr>
              <p:spPr>
                <a:xfrm>
                  <a:off x="4038600" y="609282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158" name="Freeform 158"/>
                <p:cNvSpPr/>
                <p:nvPr/>
              </p:nvSpPr>
              <p:spPr>
                <a:xfrm>
                  <a:off x="4070350" y="6092825"/>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160" name="TextBox 160"/>
              <p:cNvSpPr txBox="1"/>
              <p:nvPr/>
            </p:nvSpPr>
            <p:spPr>
              <a:xfrm>
                <a:off x="4300538" y="5880497"/>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分支机构</a:t>
                </a:r>
              </a:p>
            </p:txBody>
          </p:sp>
          <p:sp>
            <p:nvSpPr>
              <p:cNvPr id="161" name="TextBox 161"/>
              <p:cNvSpPr txBox="1"/>
              <p:nvPr/>
            </p:nvSpPr>
            <p:spPr>
              <a:xfrm>
                <a:off x="4300538" y="6095286"/>
                <a:ext cx="127190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6A6A6A"/>
                    </a:solidFill>
                    <a:latin typeface="+mn-lt"/>
                    <a:ea typeface="+mn-ea"/>
                    <a:cs typeface="+mn-cs"/>
                  </a:rPr>
                  <a:t>承接策略落地，统筹辖内资源，</a:t>
                </a:r>
                <a:br/>
                <a:r>
                  <a:rPr lang="zh-CN" sz="710" dirty="0">
                    <a:solidFill>
                      <a:srgbClr val="6A6A6A"/>
                    </a:solidFill>
                    <a:latin typeface="+mn-lt"/>
                    <a:ea typeface="+mn-ea"/>
                    <a:cs typeface="+mn-cs"/>
                  </a:rPr>
                  <a:t>推动目标达成</a:t>
                </a:r>
              </a:p>
            </p:txBody>
          </p:sp>
        </p:grpSp>
        <p:grpSp>
          <p:nvGrpSpPr>
            <p:cNvPr id="170" name="actor-outlet"/>
            <p:cNvGrpSpPr/>
            <p:nvPr/>
          </p:nvGrpSpPr>
          <p:grpSpPr>
            <a:xfrm>
              <a:off x="6543675" y="5880497"/>
              <a:ext cx="1714818" cy="517208"/>
              <a:chOff x="6543675" y="5880497"/>
              <a:chExt cx="1714818" cy="517208"/>
            </a:xfrm>
          </p:grpSpPr>
          <p:sp>
            <p:nvSpPr>
              <p:cNvPr id="163" name="Ellipse 163"/>
              <p:cNvSpPr/>
              <p:nvPr/>
            </p:nvSpPr>
            <p:spPr>
              <a:xfrm>
                <a:off x="6543675" y="5895975"/>
                <a:ext cx="361950" cy="361950"/>
              </a:xfrm>
              <a:prstGeom prst="ellipse">
                <a:avLst/>
              </a:prstGeom>
              <a:solidFill>
                <a:srgbClr val="B03A1F"/>
              </a:solidFill>
              <a:ln>
                <a:noFill/>
              </a:ln>
            </p:spPr>
          </p:sp>
          <p:grpSp>
            <p:nvGrpSpPr>
              <p:cNvPr id="167" name="Group 167"/>
              <p:cNvGrpSpPr/>
              <p:nvPr/>
            </p:nvGrpSpPr>
            <p:grpSpPr>
              <a:xfrm>
                <a:off x="6653212" y="6005512"/>
                <a:ext cx="142875" cy="142875"/>
                <a:chOff x="6653212" y="6005512"/>
                <a:chExt cx="142875" cy="142875"/>
              </a:xfrm>
            </p:grpSpPr>
            <p:sp>
              <p:nvSpPr>
                <p:cNvPr id="164" name="Freeform 164"/>
                <p:cNvSpPr/>
                <p:nvPr/>
              </p:nvSpPr>
              <p:spPr>
                <a:xfrm>
                  <a:off x="6653212" y="600551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FFFFFF"/>
                  </a:solidFill>
                </a:ln>
              </p:spPr>
            </p:sp>
            <p:sp>
              <p:nvSpPr>
                <p:cNvPr id="165" name="Freeform 165"/>
                <p:cNvSpPr/>
                <p:nvPr/>
              </p:nvSpPr>
              <p:spPr>
                <a:xfrm>
                  <a:off x="6669087" y="607695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FFFFFF"/>
                  </a:solidFill>
                </a:ln>
              </p:spPr>
            </p:sp>
            <p:sp>
              <p:nvSpPr>
                <p:cNvPr id="166" name="Freeform 166"/>
                <p:cNvSpPr/>
                <p:nvPr/>
              </p:nvSpPr>
              <p:spPr>
                <a:xfrm>
                  <a:off x="6700837" y="608488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FFFFFF"/>
                  </a:solidFill>
                </a:ln>
              </p:spPr>
            </p:sp>
          </p:grpSp>
          <p:sp>
            <p:nvSpPr>
              <p:cNvPr id="168" name="TextBox 168"/>
              <p:cNvSpPr txBox="1"/>
              <p:nvPr/>
            </p:nvSpPr>
            <p:spPr>
              <a:xfrm>
                <a:off x="6986588" y="5880497"/>
                <a:ext cx="262611"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网点</a:t>
                </a:r>
              </a:p>
            </p:txBody>
          </p:sp>
          <p:sp>
            <p:nvSpPr>
              <p:cNvPr id="169" name="TextBox 169"/>
              <p:cNvSpPr txBox="1"/>
              <p:nvPr/>
            </p:nvSpPr>
            <p:spPr>
              <a:xfrm>
                <a:off x="6986588" y="6095286"/>
                <a:ext cx="127190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6A6A6A"/>
                    </a:solidFill>
                    <a:latin typeface="+mn-lt"/>
                    <a:ea typeface="+mn-ea"/>
                    <a:cs typeface="+mn-cs"/>
                  </a:rPr>
                  <a:t>执行落地活动，服务客户，提升</a:t>
                </a:r>
                <a:br/>
                <a:r>
                  <a:rPr lang="zh-CN" sz="710" dirty="0">
                    <a:solidFill>
                      <a:srgbClr val="6A6A6A"/>
                    </a:solidFill>
                    <a:latin typeface="+mn-lt"/>
                    <a:ea typeface="+mn-ea"/>
                    <a:cs typeface="+mn-cs"/>
                  </a:rPr>
                  <a:t>转化与留存</a:t>
                </a:r>
              </a:p>
            </p:txBody>
          </p:sp>
        </p:grpSp>
        <p:grpSp>
          <p:nvGrpSpPr>
            <p:cNvPr id="178" name="actor-rm"/>
            <p:cNvGrpSpPr/>
            <p:nvPr/>
          </p:nvGrpSpPr>
          <p:grpSpPr>
            <a:xfrm>
              <a:off x="9229725" y="5880497"/>
              <a:ext cx="1714818" cy="517208"/>
              <a:chOff x="9229725" y="5880497"/>
              <a:chExt cx="1714818" cy="517208"/>
            </a:xfrm>
          </p:grpSpPr>
          <p:sp>
            <p:nvSpPr>
              <p:cNvPr id="171" name="Ellipse 171"/>
              <p:cNvSpPr/>
              <p:nvPr/>
            </p:nvSpPr>
            <p:spPr>
              <a:xfrm>
                <a:off x="9229725" y="5895975"/>
                <a:ext cx="361950" cy="361950"/>
              </a:xfrm>
              <a:prstGeom prst="ellipse">
                <a:avLst/>
              </a:prstGeom>
              <a:solidFill>
                <a:srgbClr val="B03A1F"/>
              </a:solidFill>
              <a:ln>
                <a:noFill/>
              </a:ln>
            </p:spPr>
          </p:sp>
          <p:grpSp>
            <p:nvGrpSpPr>
              <p:cNvPr id="175" name="Group 175"/>
              <p:cNvGrpSpPr/>
              <p:nvPr/>
            </p:nvGrpSpPr>
            <p:grpSpPr>
              <a:xfrm>
                <a:off x="9363075" y="6005512"/>
                <a:ext cx="119062" cy="142875"/>
                <a:chOff x="9363075" y="6005512"/>
                <a:chExt cx="119062" cy="142875"/>
              </a:xfrm>
            </p:grpSpPr>
            <p:sp>
              <p:nvSpPr>
                <p:cNvPr id="172" name="Freeform 172"/>
                <p:cNvSpPr/>
                <p:nvPr/>
              </p:nvSpPr>
              <p:spPr>
                <a:xfrm>
                  <a:off x="9378950" y="60055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173" name="Freeform 173"/>
                <p:cNvSpPr/>
                <p:nvPr/>
              </p:nvSpPr>
              <p:spPr>
                <a:xfrm>
                  <a:off x="9363075" y="61007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FFFFFF"/>
                  </a:solidFill>
                </a:ln>
              </p:spPr>
            </p:sp>
            <p:sp>
              <p:nvSpPr>
                <p:cNvPr id="174" name="Freeform 174"/>
                <p:cNvSpPr/>
                <p:nvPr/>
              </p:nvSpPr>
              <p:spPr>
                <a:xfrm>
                  <a:off x="9434512" y="611663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176" name="TextBox 176"/>
              <p:cNvSpPr txBox="1"/>
              <p:nvPr/>
            </p:nvSpPr>
            <p:spPr>
              <a:xfrm>
                <a:off x="9672638" y="5880497"/>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客户经理</a:t>
                </a:r>
              </a:p>
            </p:txBody>
          </p:sp>
          <p:sp>
            <p:nvSpPr>
              <p:cNvPr id="177" name="TextBox 177"/>
              <p:cNvSpPr txBox="1"/>
              <p:nvPr/>
            </p:nvSpPr>
            <p:spPr>
              <a:xfrm>
                <a:off x="9672638" y="6095286"/>
                <a:ext cx="127190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6A6A6A"/>
                    </a:solidFill>
                    <a:latin typeface="+mn-lt"/>
                    <a:ea typeface="+mn-ea"/>
                    <a:cs typeface="+mn-cs"/>
                  </a:rPr>
                  <a:t>客户触达与经营，挖掘需求，促</a:t>
                </a:r>
                <a:br/>
                <a:r>
                  <a:rPr lang="zh-CN" sz="710" dirty="0">
                    <a:solidFill>
                      <a:srgbClr val="6A6A6A"/>
                    </a:solidFill>
                    <a:latin typeface="+mn-lt"/>
                    <a:ea typeface="+mn-ea"/>
                    <a:cs typeface="+mn-cs"/>
                  </a:rPr>
                  <a:t>进转化与长期关系维护</a:t>
                </a:r>
              </a:p>
            </p:txBody>
          </p:sp>
        </p:grpSp>
      </p:gr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17</a:t>
              </a:r>
            </a:p>
          </p:txBody>
        </p:sp>
        <p:sp>
          <p:nvSpPr>
            <p:cNvPr id="4" name="TextBox 4"/>
            <p:cNvSpPr txBox="1"/>
            <p:nvPr/>
          </p:nvSpPr>
          <p:spPr>
            <a:xfrm>
              <a:off x="942594" y="151448"/>
              <a:ext cx="588753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SimSun"/>
                  <a:ea typeface="SimSun"/>
                  <a:cs typeface="SimSun"/>
                </a:rPr>
                <a:t>90天落地路线：分阶段推进重点任务与关键交付</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grpSp>
        <p:nvGrpSpPr>
          <p:cNvPr id="48" name="stage1"/>
          <p:cNvGrpSpPr/>
          <p:nvPr/>
        </p:nvGrpSpPr>
        <p:grpSpPr>
          <a:xfrm>
            <a:off x="200025" y="781050"/>
            <a:ext cx="3800475" cy="4552950"/>
            <a:chOff x="200025" y="781050"/>
            <a:chExt cx="3800475" cy="4552950"/>
          </a:xfrm>
        </p:grpSpPr>
        <p:sp>
          <p:nvSpPr>
            <p:cNvPr id="7" name="Freeform 7"/>
            <p:cNvSpPr/>
            <p:nvPr/>
          </p:nvSpPr>
          <p:spPr>
            <a:xfrm>
              <a:off x="200025" y="781050"/>
              <a:ext cx="3800475" cy="533400"/>
            </a:xfrm>
            <a:prstGeom prst="chevron">
              <a:avLst/>
            </a:prstGeom>
            <a:solidFill>
              <a:srgbClr val="B03A1F"/>
            </a:solidFill>
            <a:ln>
              <a:noFill/>
            </a:ln>
          </p:spPr>
        </p:sp>
        <p:sp>
          <p:nvSpPr>
            <p:cNvPr id="8" name="Ellipse 8"/>
            <p:cNvSpPr/>
            <p:nvPr/>
          </p:nvSpPr>
          <p:spPr>
            <a:xfrm>
              <a:off x="552450" y="885825"/>
              <a:ext cx="323850" cy="323850"/>
            </a:xfrm>
            <a:prstGeom prst="ellipse">
              <a:avLst/>
            </a:prstGeom>
            <a:solidFill>
              <a:srgbClr val="FFFFFF"/>
            </a:solidFill>
            <a:ln>
              <a:noFill/>
            </a:ln>
          </p:spPr>
        </p:sp>
        <p:sp>
          <p:nvSpPr>
            <p:cNvPr id="9" name="TextBox 9"/>
            <p:cNvSpPr txBox="1"/>
            <p:nvPr/>
          </p:nvSpPr>
          <p:spPr>
            <a:xfrm>
              <a:off x="621588" y="973931"/>
              <a:ext cx="185574" cy="220028"/>
            </a:xfrm>
            <a:prstGeom prst="rect">
              <a:avLst/>
            </a:prstGeom>
            <a:noFill/>
            <a:ln>
              <a:noFill/>
            </a:ln>
          </p:spPr>
          <p:txBody>
            <a:bodyPr wrap="none" lIns="0" tIns="0" rIns="0" bIns="0" anchor="t" anchorCtr="0">
              <a:spAutoFit/>
            </a:bodyPr>
            <a:lstStyle/>
            <a:p>
              <a:pPr algn="ctr"/>
              <a:r>
                <a:rPr lang="zh-CN" sz="1120" b="1" dirty="0">
                  <a:solidFill>
                    <a:srgbClr val="B03A1F"/>
                  </a:solidFill>
                  <a:latin typeface="+mn-lt"/>
                  <a:ea typeface="+mn-ea"/>
                  <a:cs typeface="+mn-cs"/>
                </a:rPr>
                <a:t>01</a:t>
              </a:r>
            </a:p>
          </p:txBody>
        </p:sp>
        <p:sp>
          <p:nvSpPr>
            <p:cNvPr id="10" name="TextBox 10"/>
            <p:cNvSpPr txBox="1"/>
            <p:nvPr/>
          </p:nvSpPr>
          <p:spPr>
            <a:xfrm>
              <a:off x="957072" y="875824"/>
              <a:ext cx="595627" cy="190690"/>
            </a:xfrm>
            <a:prstGeom prst="rect">
              <a:avLst/>
            </a:prstGeom>
            <a:noFill/>
            <a:ln>
              <a:noFill/>
            </a:ln>
          </p:spPr>
          <p:txBody>
            <a:bodyPr wrap="none" lIns="0" tIns="0" rIns="0" bIns="0" anchor="t" anchorCtr="0">
              <a:spAutoFit/>
            </a:bodyPr>
            <a:lstStyle/>
            <a:p>
              <a:pPr algn="l"/>
              <a:r>
                <a:rPr lang="en-US" sz="980" b="1" dirty="0">
                  <a:solidFill>
                    <a:srgbClr val="FFFFFF"/>
                  </a:solidFill>
                  <a:latin typeface="+mn-lt"/>
                  <a:ea typeface="+mn-ea"/>
                  <a:cs typeface="+mn-cs"/>
                </a:rPr>
                <a:t>Day 1-30</a:t>
              </a:r>
            </a:p>
          </p:txBody>
        </p:sp>
        <p:sp>
          <p:nvSpPr>
            <p:cNvPr id="11" name="TextBox 11"/>
            <p:cNvSpPr txBox="1"/>
            <p:nvPr/>
          </p:nvSpPr>
          <p:spPr>
            <a:xfrm>
              <a:off x="1952600" y="1097756"/>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建机制、定清单</a:t>
              </a:r>
            </a:p>
          </p:txBody>
        </p:sp>
        <p:sp>
          <p:nvSpPr>
            <p:cNvPr id="12" name="Rectangle 12"/>
            <p:cNvSpPr/>
            <p:nvPr/>
          </p:nvSpPr>
          <p:spPr>
            <a:xfrm>
              <a:off x="200025" y="1390650"/>
              <a:ext cx="3800475" cy="3943350"/>
            </a:xfrm>
            <a:prstGeom prst="rect">
              <a:avLst/>
            </a:prstGeom>
            <a:solidFill>
              <a:srgbClr val="FFFFFF"/>
            </a:solidFill>
            <a:ln w="9525">
              <a:solidFill>
                <a:srgbClr val="E5E0DC"/>
              </a:solidFill>
            </a:ln>
          </p:spPr>
        </p:sp>
        <p:grpSp>
          <p:nvGrpSpPr>
            <p:cNvPr id="20" name="s1-item-1"/>
            <p:cNvGrpSpPr/>
            <p:nvPr/>
          </p:nvGrpSpPr>
          <p:grpSpPr>
            <a:xfrm>
              <a:off x="438150" y="1704975"/>
              <a:ext cx="2560383" cy="422195"/>
              <a:chOff x="438150" y="1704975"/>
              <a:chExt cx="2560383" cy="422195"/>
            </a:xfrm>
          </p:grpSpPr>
          <p:sp>
            <p:nvSpPr>
              <p:cNvPr id="13" name="Ellipse 13"/>
              <p:cNvSpPr/>
              <p:nvPr/>
            </p:nvSpPr>
            <p:spPr>
              <a:xfrm>
                <a:off x="438150" y="1704975"/>
                <a:ext cx="323850" cy="323850"/>
              </a:xfrm>
              <a:prstGeom prst="ellipse">
                <a:avLst/>
              </a:prstGeom>
              <a:solidFill>
                <a:srgbClr val="B03A1F"/>
              </a:solidFill>
              <a:ln>
                <a:noFill/>
              </a:ln>
            </p:spPr>
          </p:sp>
          <p:grpSp>
            <p:nvGrpSpPr>
              <p:cNvPr id="17" name="Group 17"/>
              <p:cNvGrpSpPr/>
              <p:nvPr/>
            </p:nvGrpSpPr>
            <p:grpSpPr>
              <a:xfrm>
                <a:off x="535781" y="1802606"/>
                <a:ext cx="128588" cy="128588"/>
                <a:chOff x="535781" y="1802606"/>
                <a:chExt cx="128588" cy="128588"/>
              </a:xfrm>
            </p:grpSpPr>
            <p:sp>
              <p:nvSpPr>
                <p:cNvPr id="14" name="Freeform 14"/>
                <p:cNvSpPr/>
                <p:nvPr/>
              </p:nvSpPr>
              <p:spPr>
                <a:xfrm>
                  <a:off x="592931" y="18597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15" name="Freeform 15"/>
                <p:cNvSpPr/>
                <p:nvPr/>
              </p:nvSpPr>
              <p:spPr>
                <a:xfrm>
                  <a:off x="564356" y="18311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16" name="Freeform 16"/>
                <p:cNvSpPr/>
                <p:nvPr/>
              </p:nvSpPr>
              <p:spPr>
                <a:xfrm>
                  <a:off x="535781" y="18026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18" name="TextBox 18"/>
              <p:cNvSpPr txBox="1"/>
              <p:nvPr/>
            </p:nvSpPr>
            <p:spPr>
              <a:xfrm>
                <a:off x="861822" y="1723549"/>
                <a:ext cx="53761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目标拆解</a:t>
                </a:r>
              </a:p>
            </p:txBody>
          </p:sp>
          <p:sp>
            <p:nvSpPr>
              <p:cNvPr id="19" name="TextBox 19"/>
              <p:cNvSpPr txBox="1"/>
              <p:nvPr/>
            </p:nvSpPr>
            <p:spPr>
              <a:xfrm>
                <a:off x="862012" y="1972389"/>
                <a:ext cx="2136521" cy="154781"/>
              </a:xfrm>
              <a:prstGeom prst="rect">
                <a:avLst/>
              </a:prstGeom>
              <a:noFill/>
              <a:ln>
                <a:noFill/>
              </a:ln>
            </p:spPr>
            <p:txBody>
              <a:bodyPr wrap="none" lIns="0" tIns="0" rIns="0" bIns="0" anchor="t" anchorCtr="0">
                <a:spAutoFit/>
              </a:bodyPr>
              <a:lstStyle/>
              <a:p>
                <a:pPr algn="l"/>
                <a:r>
                  <a:rPr lang="zh-CN" sz="790" dirty="0">
                    <a:solidFill>
                      <a:srgbClr val="6A6A6A"/>
                    </a:solidFill>
                    <a:latin typeface="+mn-lt"/>
                    <a:ea typeface="+mn-ea"/>
                    <a:cs typeface="+mn-cs"/>
                  </a:rPr>
                  <a:t>拆解经营目标，明确阶段性里程碑与责任分工</a:t>
                </a:r>
              </a:p>
            </p:txBody>
          </p:sp>
        </p:grpSp>
        <p:grpSp>
          <p:nvGrpSpPr>
            <p:cNvPr id="29" name="s1-item-2"/>
            <p:cNvGrpSpPr/>
            <p:nvPr/>
          </p:nvGrpSpPr>
          <p:grpSpPr>
            <a:xfrm>
              <a:off x="438150" y="2657475"/>
              <a:ext cx="2560383" cy="422195"/>
              <a:chOff x="438150" y="2657475"/>
              <a:chExt cx="2560383" cy="422195"/>
            </a:xfrm>
          </p:grpSpPr>
          <p:sp>
            <p:nvSpPr>
              <p:cNvPr id="21" name="Ellipse 21"/>
              <p:cNvSpPr/>
              <p:nvPr/>
            </p:nvSpPr>
            <p:spPr>
              <a:xfrm>
                <a:off x="438150" y="2657475"/>
                <a:ext cx="323850" cy="323850"/>
              </a:xfrm>
              <a:prstGeom prst="ellipse">
                <a:avLst/>
              </a:prstGeom>
              <a:solidFill>
                <a:srgbClr val="B03A1F"/>
              </a:solidFill>
              <a:ln>
                <a:noFill/>
              </a:ln>
            </p:spPr>
          </p:sp>
          <p:grpSp>
            <p:nvGrpSpPr>
              <p:cNvPr id="26" name="Group 26"/>
              <p:cNvGrpSpPr/>
              <p:nvPr/>
            </p:nvGrpSpPr>
            <p:grpSpPr>
              <a:xfrm>
                <a:off x="535781" y="2755106"/>
                <a:ext cx="128588" cy="128588"/>
                <a:chOff x="535781" y="2755106"/>
                <a:chExt cx="128588" cy="128588"/>
              </a:xfrm>
            </p:grpSpPr>
            <p:sp>
              <p:nvSpPr>
                <p:cNvPr id="22" name="Freeform 22"/>
                <p:cNvSpPr/>
                <p:nvPr/>
              </p:nvSpPr>
              <p:spPr>
                <a:xfrm>
                  <a:off x="550069" y="27551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23" name="Freeform 23"/>
                <p:cNvSpPr/>
                <p:nvPr/>
              </p:nvSpPr>
              <p:spPr>
                <a:xfrm>
                  <a:off x="535781" y="28408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24" name="Freeform 24"/>
                <p:cNvSpPr/>
                <p:nvPr/>
              </p:nvSpPr>
              <p:spPr>
                <a:xfrm>
                  <a:off x="628650" y="27560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25" name="Freeform 25"/>
                <p:cNvSpPr/>
                <p:nvPr/>
              </p:nvSpPr>
              <p:spPr>
                <a:xfrm>
                  <a:off x="642938" y="28419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27" name="TextBox 27"/>
              <p:cNvSpPr txBox="1"/>
              <p:nvPr/>
            </p:nvSpPr>
            <p:spPr>
              <a:xfrm>
                <a:off x="861822" y="2676049"/>
                <a:ext cx="53761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客群清单</a:t>
                </a:r>
              </a:p>
            </p:txBody>
          </p:sp>
          <p:sp>
            <p:nvSpPr>
              <p:cNvPr id="28" name="TextBox 28"/>
              <p:cNvSpPr txBox="1"/>
              <p:nvPr/>
            </p:nvSpPr>
            <p:spPr>
              <a:xfrm>
                <a:off x="862012" y="2924889"/>
                <a:ext cx="2136521" cy="154781"/>
              </a:xfrm>
              <a:prstGeom prst="rect">
                <a:avLst/>
              </a:prstGeom>
              <a:noFill/>
              <a:ln>
                <a:noFill/>
              </a:ln>
            </p:spPr>
            <p:txBody>
              <a:bodyPr wrap="none" lIns="0" tIns="0" rIns="0" bIns="0" anchor="t" anchorCtr="0">
                <a:spAutoFit/>
              </a:bodyPr>
              <a:lstStyle/>
              <a:p>
                <a:pPr algn="l"/>
                <a:r>
                  <a:rPr lang="zh-CN" sz="790" dirty="0">
                    <a:solidFill>
                      <a:srgbClr val="6A6A6A"/>
                    </a:solidFill>
                    <a:latin typeface="+mn-lt"/>
                    <a:ea typeface="+mn-ea"/>
                    <a:cs typeface="+mn-cs"/>
                  </a:rPr>
                  <a:t>梳理存量与可拓客群，形成分层分类客群名单</a:t>
                </a:r>
              </a:p>
            </p:txBody>
          </p:sp>
        </p:grpSp>
        <p:grpSp>
          <p:nvGrpSpPr>
            <p:cNvPr id="38" name="s1-item-3"/>
            <p:cNvGrpSpPr/>
            <p:nvPr/>
          </p:nvGrpSpPr>
          <p:grpSpPr>
            <a:xfrm>
              <a:off x="438150" y="3609975"/>
              <a:ext cx="2454033" cy="422195"/>
              <a:chOff x="438150" y="3609975"/>
              <a:chExt cx="2454033" cy="422195"/>
            </a:xfrm>
          </p:grpSpPr>
          <p:sp>
            <p:nvSpPr>
              <p:cNvPr id="30" name="Ellipse 30"/>
              <p:cNvSpPr/>
              <p:nvPr/>
            </p:nvSpPr>
            <p:spPr>
              <a:xfrm>
                <a:off x="438150" y="3609975"/>
                <a:ext cx="323850" cy="323850"/>
              </a:xfrm>
              <a:prstGeom prst="ellipse">
                <a:avLst/>
              </a:prstGeom>
              <a:solidFill>
                <a:srgbClr val="B03A1F"/>
              </a:solidFill>
              <a:ln>
                <a:noFill/>
              </a:ln>
            </p:spPr>
          </p:sp>
          <p:grpSp>
            <p:nvGrpSpPr>
              <p:cNvPr id="35" name="Group 35"/>
              <p:cNvGrpSpPr/>
              <p:nvPr/>
            </p:nvGrpSpPr>
            <p:grpSpPr>
              <a:xfrm>
                <a:off x="535781" y="3707361"/>
                <a:ext cx="128588" cy="128833"/>
                <a:chOff x="535781" y="3707361"/>
                <a:chExt cx="128588" cy="128833"/>
              </a:xfrm>
            </p:grpSpPr>
            <p:sp>
              <p:nvSpPr>
                <p:cNvPr id="31" name="Freeform 31"/>
                <p:cNvSpPr/>
                <p:nvPr/>
              </p:nvSpPr>
              <p:spPr>
                <a:xfrm>
                  <a:off x="535781" y="3743325"/>
                  <a:ext cx="128588" cy="28575"/>
                </a:xfrm>
                <a:custGeom>
                  <a:avLst/>
                  <a:gdLst/>
                  <a:ahLst/>
                  <a:cxnLst/>
                  <a:rect l="l" t="t" r="r" b="b"/>
                  <a:pathLst>
                    <a:path w="128588" h="28575">
                      <a:moveTo>
                        <a:pt x="0" y="7144"/>
                      </a:moveTo>
                      <a:cubicBezTo>
                        <a:pt x="0" y="3198"/>
                        <a:pt x="3198" y="0"/>
                        <a:pt x="7144" y="0"/>
                      </a:cubicBezTo>
                      <a:lnTo>
                        <a:pt x="121444" y="0"/>
                      </a:lnTo>
                      <a:cubicBezTo>
                        <a:pt x="125389" y="0"/>
                        <a:pt x="128588" y="3198"/>
                        <a:pt x="128588" y="7144"/>
                      </a:cubicBezTo>
                      <a:lnTo>
                        <a:pt x="128588" y="21431"/>
                      </a:lnTo>
                      <a:cubicBezTo>
                        <a:pt x="128588" y="25377"/>
                        <a:pt x="125389" y="28575"/>
                        <a:pt x="121444" y="28575"/>
                      </a:cubicBezTo>
                      <a:lnTo>
                        <a:pt x="7144" y="28575"/>
                      </a:lnTo>
                      <a:cubicBezTo>
                        <a:pt x="3198" y="28575"/>
                        <a:pt x="0" y="25377"/>
                        <a:pt x="0" y="21431"/>
                      </a:cubicBezTo>
                      <a:lnTo>
                        <a:pt x="0" y="7144"/>
                      </a:lnTo>
                    </a:path>
                  </a:pathLst>
                </a:custGeom>
                <a:noFill/>
                <a:ln w="14288">
                  <a:solidFill>
                    <a:srgbClr val="FFFFFF"/>
                  </a:solidFill>
                </a:ln>
              </p:spPr>
            </p:sp>
            <p:sp>
              <p:nvSpPr>
                <p:cNvPr id="32" name="Freeform 32"/>
                <p:cNvSpPr/>
                <p:nvPr/>
              </p:nvSpPr>
              <p:spPr>
                <a:xfrm>
                  <a:off x="600075" y="3743325"/>
                  <a:ext cx="9525" cy="92869"/>
                </a:xfrm>
                <a:custGeom>
                  <a:avLst/>
                  <a:gdLst/>
                  <a:ahLst/>
                  <a:cxnLst/>
                  <a:rect l="l" t="t" r="r" b="b"/>
                  <a:pathLst>
                    <a:path w="9525" h="92869">
                      <a:moveTo>
                        <a:pt x="0" y="0"/>
                      </a:moveTo>
                      <a:lnTo>
                        <a:pt x="0" y="92869"/>
                      </a:lnTo>
                    </a:path>
                  </a:pathLst>
                </a:custGeom>
                <a:noFill/>
                <a:ln w="14288">
                  <a:solidFill>
                    <a:srgbClr val="FFFFFF"/>
                  </a:solidFill>
                </a:ln>
              </p:spPr>
            </p:sp>
            <p:sp>
              <p:nvSpPr>
                <p:cNvPr id="33" name="Freeform 33"/>
                <p:cNvSpPr/>
                <p:nvPr/>
              </p:nvSpPr>
              <p:spPr>
                <a:xfrm>
                  <a:off x="550069" y="3771900"/>
                  <a:ext cx="100012" cy="64294"/>
                </a:xfrm>
                <a:custGeom>
                  <a:avLst/>
                  <a:gdLst/>
                  <a:ahLst/>
                  <a:cxnLst/>
                  <a:rect l="l" t="t" r="r" b="b"/>
                  <a:pathLst>
                    <a:path w="100012" h="64294">
                      <a:moveTo>
                        <a:pt x="100012" y="0"/>
                      </a:moveTo>
                      <a:lnTo>
                        <a:pt x="100012" y="50006"/>
                      </a:lnTo>
                      <a:cubicBezTo>
                        <a:pt x="100012" y="57897"/>
                        <a:pt x="93616" y="64294"/>
                        <a:pt x="85725" y="64294"/>
                      </a:cubicBezTo>
                      <a:lnTo>
                        <a:pt x="14288" y="64294"/>
                      </a:lnTo>
                      <a:cubicBezTo>
                        <a:pt x="6397" y="64294"/>
                        <a:pt x="0" y="57897"/>
                        <a:pt x="0" y="50006"/>
                      </a:cubicBezTo>
                      <a:lnTo>
                        <a:pt x="0" y="0"/>
                      </a:lnTo>
                    </a:path>
                  </a:pathLst>
                </a:custGeom>
                <a:noFill/>
                <a:ln w="14288">
                  <a:solidFill>
                    <a:srgbClr val="FFFFFF"/>
                  </a:solidFill>
                </a:ln>
              </p:spPr>
            </p:sp>
            <p:sp>
              <p:nvSpPr>
                <p:cNvPr id="34" name="Freeform 34"/>
                <p:cNvSpPr/>
                <p:nvPr/>
              </p:nvSpPr>
              <p:spPr>
                <a:xfrm>
                  <a:off x="550069" y="3707361"/>
                  <a:ext cx="100012" cy="35964"/>
                </a:xfrm>
                <a:custGeom>
                  <a:avLst/>
                  <a:gdLst/>
                  <a:ahLst/>
                  <a:cxnLst/>
                  <a:rect l="l" t="t" r="r" b="b"/>
                  <a:pathLst>
                    <a:path w="100012" h="35964">
                      <a:moveTo>
                        <a:pt x="17859" y="35964"/>
                      </a:moveTo>
                      <a:cubicBezTo>
                        <a:pt x="7996" y="35964"/>
                        <a:pt x="0" y="27969"/>
                        <a:pt x="0" y="18105"/>
                      </a:cubicBezTo>
                      <a:cubicBezTo>
                        <a:pt x="0" y="8242"/>
                        <a:pt x="7996" y="246"/>
                        <a:pt x="17859" y="246"/>
                      </a:cubicBezTo>
                      <a:cubicBezTo>
                        <a:pt x="31963" y="0"/>
                        <a:pt x="44718" y="14172"/>
                        <a:pt x="50006" y="35964"/>
                      </a:cubicBezTo>
                      <a:cubicBezTo>
                        <a:pt x="55295" y="14172"/>
                        <a:pt x="68050" y="0"/>
                        <a:pt x="82153" y="246"/>
                      </a:cubicBezTo>
                      <a:cubicBezTo>
                        <a:pt x="92017" y="246"/>
                        <a:pt x="100012" y="8242"/>
                        <a:pt x="100012" y="18105"/>
                      </a:cubicBezTo>
                      <a:cubicBezTo>
                        <a:pt x="100012" y="27969"/>
                        <a:pt x="92017" y="35964"/>
                        <a:pt x="82153" y="35964"/>
                      </a:cubicBezTo>
                    </a:path>
                  </a:pathLst>
                </a:custGeom>
                <a:noFill/>
                <a:ln w="14288">
                  <a:solidFill>
                    <a:srgbClr val="FFFFFF"/>
                  </a:solidFill>
                </a:ln>
              </p:spPr>
            </p:sp>
          </p:grpSp>
          <p:sp>
            <p:nvSpPr>
              <p:cNvPr id="36" name="TextBox 36"/>
              <p:cNvSpPr txBox="1"/>
              <p:nvPr/>
            </p:nvSpPr>
            <p:spPr>
              <a:xfrm>
                <a:off x="861822" y="3628549"/>
                <a:ext cx="933399"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产品与活动准备</a:t>
                </a:r>
              </a:p>
            </p:txBody>
          </p:sp>
          <p:sp>
            <p:nvSpPr>
              <p:cNvPr id="37" name="TextBox 37"/>
              <p:cNvSpPr txBox="1"/>
              <p:nvPr/>
            </p:nvSpPr>
            <p:spPr>
              <a:xfrm>
                <a:off x="862012" y="3877389"/>
                <a:ext cx="2030171" cy="154781"/>
              </a:xfrm>
              <a:prstGeom prst="rect">
                <a:avLst/>
              </a:prstGeom>
              <a:noFill/>
              <a:ln>
                <a:noFill/>
              </a:ln>
            </p:spPr>
            <p:txBody>
              <a:bodyPr wrap="none" lIns="0" tIns="0" rIns="0" bIns="0" anchor="t" anchorCtr="0">
                <a:spAutoFit/>
              </a:bodyPr>
              <a:lstStyle/>
              <a:p>
                <a:pPr algn="l"/>
                <a:r>
                  <a:rPr lang="zh-CN" sz="790" dirty="0">
                    <a:solidFill>
                      <a:srgbClr val="6A6A6A"/>
                    </a:solidFill>
                    <a:latin typeface="+mn-lt"/>
                    <a:ea typeface="+mn-ea"/>
                    <a:cs typeface="+mn-cs"/>
                  </a:rPr>
                  <a:t>匹配产品与权益，设计活动玩法与触达节奏</a:t>
                </a:r>
              </a:p>
            </p:txBody>
          </p:sp>
        </p:grpSp>
        <p:grpSp>
          <p:nvGrpSpPr>
            <p:cNvPr id="47" name="s1-item-4"/>
            <p:cNvGrpSpPr/>
            <p:nvPr/>
          </p:nvGrpSpPr>
          <p:grpSpPr>
            <a:xfrm>
              <a:off x="438150" y="4562475"/>
              <a:ext cx="2560383" cy="422195"/>
              <a:chOff x="438150" y="4562475"/>
              <a:chExt cx="2560383" cy="422195"/>
            </a:xfrm>
          </p:grpSpPr>
          <p:sp>
            <p:nvSpPr>
              <p:cNvPr id="39" name="Ellipse 39"/>
              <p:cNvSpPr/>
              <p:nvPr/>
            </p:nvSpPr>
            <p:spPr>
              <a:xfrm>
                <a:off x="438150" y="4562475"/>
                <a:ext cx="323850" cy="323850"/>
              </a:xfrm>
              <a:prstGeom prst="ellipse">
                <a:avLst/>
              </a:prstGeom>
              <a:solidFill>
                <a:srgbClr val="B03A1F"/>
              </a:solidFill>
              <a:ln>
                <a:noFill/>
              </a:ln>
            </p:spPr>
          </p:sp>
          <p:grpSp>
            <p:nvGrpSpPr>
              <p:cNvPr id="44" name="Group 44"/>
              <p:cNvGrpSpPr/>
              <p:nvPr/>
            </p:nvGrpSpPr>
            <p:grpSpPr>
              <a:xfrm>
                <a:off x="535781" y="4667250"/>
                <a:ext cx="128587" cy="123825"/>
                <a:chOff x="535781" y="4667250"/>
                <a:chExt cx="128587" cy="123825"/>
              </a:xfrm>
            </p:grpSpPr>
            <p:sp>
              <p:nvSpPr>
                <p:cNvPr id="40" name="Freeform 40"/>
                <p:cNvSpPr/>
                <p:nvPr/>
              </p:nvSpPr>
              <p:spPr>
                <a:xfrm>
                  <a:off x="535781" y="472440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FFFFFF"/>
                  </a:solidFill>
                </a:ln>
              </p:spPr>
            </p:sp>
            <p:sp>
              <p:nvSpPr>
                <p:cNvPr id="41" name="Freeform 41"/>
                <p:cNvSpPr/>
                <p:nvPr/>
              </p:nvSpPr>
              <p:spPr>
                <a:xfrm>
                  <a:off x="621506" y="469582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FFFFFF"/>
                  </a:solidFill>
                </a:ln>
              </p:spPr>
            </p:sp>
            <p:sp>
              <p:nvSpPr>
                <p:cNvPr id="42" name="Freeform 42"/>
                <p:cNvSpPr/>
                <p:nvPr/>
              </p:nvSpPr>
              <p:spPr>
                <a:xfrm>
                  <a:off x="578644" y="466725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FFFFFF"/>
                  </a:solidFill>
                </a:ln>
              </p:spPr>
            </p:sp>
            <p:sp>
              <p:nvSpPr>
                <p:cNvPr id="43" name="Freeform 43"/>
                <p:cNvSpPr/>
                <p:nvPr/>
              </p:nvSpPr>
              <p:spPr>
                <a:xfrm>
                  <a:off x="542925" y="4781550"/>
                  <a:ext cx="100012" cy="9525"/>
                </a:xfrm>
                <a:custGeom>
                  <a:avLst/>
                  <a:gdLst/>
                  <a:ahLst/>
                  <a:cxnLst/>
                  <a:rect l="l" t="t" r="r" b="b"/>
                  <a:pathLst>
                    <a:path w="100012" h="9525">
                      <a:moveTo>
                        <a:pt x="0" y="0"/>
                      </a:moveTo>
                      <a:lnTo>
                        <a:pt x="100012" y="0"/>
                      </a:lnTo>
                    </a:path>
                  </a:pathLst>
                </a:custGeom>
                <a:noFill/>
                <a:ln w="14288">
                  <a:solidFill>
                    <a:srgbClr val="FFFFFF"/>
                  </a:solidFill>
                </a:ln>
              </p:spPr>
            </p:sp>
          </p:grpSp>
          <p:sp>
            <p:nvSpPr>
              <p:cNvPr id="45" name="TextBox 45"/>
              <p:cNvSpPr txBox="1"/>
              <p:nvPr/>
            </p:nvSpPr>
            <p:spPr>
              <a:xfrm>
                <a:off x="861822" y="4581049"/>
                <a:ext cx="801472"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数据质量基线</a:t>
                </a:r>
              </a:p>
            </p:txBody>
          </p:sp>
          <p:sp>
            <p:nvSpPr>
              <p:cNvPr id="46" name="TextBox 46"/>
              <p:cNvSpPr txBox="1"/>
              <p:nvPr/>
            </p:nvSpPr>
            <p:spPr>
              <a:xfrm>
                <a:off x="862012" y="4829889"/>
                <a:ext cx="2136521" cy="154781"/>
              </a:xfrm>
              <a:prstGeom prst="rect">
                <a:avLst/>
              </a:prstGeom>
              <a:noFill/>
              <a:ln>
                <a:noFill/>
              </a:ln>
            </p:spPr>
            <p:txBody>
              <a:bodyPr wrap="none" lIns="0" tIns="0" rIns="0" bIns="0" anchor="t" anchorCtr="0">
                <a:spAutoFit/>
              </a:bodyPr>
              <a:lstStyle/>
              <a:p>
                <a:pPr algn="l"/>
                <a:r>
                  <a:rPr lang="zh-CN" sz="790" dirty="0">
                    <a:solidFill>
                      <a:srgbClr val="6A6A6A"/>
                    </a:solidFill>
                    <a:latin typeface="+mn-lt"/>
                    <a:ea typeface="+mn-ea"/>
                    <a:cs typeface="+mn-cs"/>
                  </a:rPr>
                  <a:t>梳理关键数据口径，完善标签体系与质量基线</a:t>
                </a:r>
              </a:p>
            </p:txBody>
          </p:sp>
        </p:grpSp>
      </p:grpSp>
      <p:grpSp>
        <p:nvGrpSpPr>
          <p:cNvPr id="98" name="stage2"/>
          <p:cNvGrpSpPr/>
          <p:nvPr/>
        </p:nvGrpSpPr>
        <p:grpSpPr>
          <a:xfrm>
            <a:off x="4210050" y="781050"/>
            <a:ext cx="3800475" cy="4552950"/>
            <a:chOff x="4210050" y="781050"/>
            <a:chExt cx="3800475" cy="4552950"/>
          </a:xfrm>
        </p:grpSpPr>
        <p:sp>
          <p:nvSpPr>
            <p:cNvPr id="49" name="Freeform 49"/>
            <p:cNvSpPr/>
            <p:nvPr/>
          </p:nvSpPr>
          <p:spPr>
            <a:xfrm>
              <a:off x="4210050" y="781050"/>
              <a:ext cx="3800475" cy="533400"/>
            </a:xfrm>
            <a:prstGeom prst="chevron">
              <a:avLst/>
            </a:prstGeom>
            <a:solidFill>
              <a:srgbClr val="1E1E1E"/>
            </a:solidFill>
            <a:ln>
              <a:noFill/>
            </a:ln>
          </p:spPr>
        </p:sp>
        <p:sp>
          <p:nvSpPr>
            <p:cNvPr id="50" name="Ellipse 50"/>
            <p:cNvSpPr/>
            <p:nvPr/>
          </p:nvSpPr>
          <p:spPr>
            <a:xfrm>
              <a:off x="4562475" y="885825"/>
              <a:ext cx="323850" cy="323850"/>
            </a:xfrm>
            <a:prstGeom prst="ellipse">
              <a:avLst/>
            </a:prstGeom>
            <a:solidFill>
              <a:srgbClr val="FFFFFF"/>
            </a:solidFill>
            <a:ln>
              <a:noFill/>
            </a:ln>
          </p:spPr>
        </p:sp>
        <p:sp>
          <p:nvSpPr>
            <p:cNvPr id="51" name="TextBox 51"/>
            <p:cNvSpPr txBox="1"/>
            <p:nvPr/>
          </p:nvSpPr>
          <p:spPr>
            <a:xfrm>
              <a:off x="4631613" y="973931"/>
              <a:ext cx="185574" cy="220028"/>
            </a:xfrm>
            <a:prstGeom prst="rect">
              <a:avLst/>
            </a:prstGeom>
            <a:noFill/>
            <a:ln>
              <a:noFill/>
            </a:ln>
          </p:spPr>
          <p:txBody>
            <a:bodyPr wrap="none" lIns="0" tIns="0" rIns="0" bIns="0" anchor="t" anchorCtr="0">
              <a:spAutoFit/>
            </a:bodyPr>
            <a:lstStyle/>
            <a:p>
              <a:pPr algn="ctr"/>
              <a:r>
                <a:rPr lang="zh-CN" sz="1120" b="1" dirty="0">
                  <a:solidFill>
                    <a:srgbClr val="1E1E1E"/>
                  </a:solidFill>
                  <a:latin typeface="+mn-lt"/>
                  <a:ea typeface="+mn-ea"/>
                  <a:cs typeface="+mn-cs"/>
                </a:rPr>
                <a:t>02</a:t>
              </a:r>
            </a:p>
          </p:txBody>
        </p:sp>
        <p:sp>
          <p:nvSpPr>
            <p:cNvPr id="52" name="TextBox 52"/>
            <p:cNvSpPr txBox="1"/>
            <p:nvPr/>
          </p:nvSpPr>
          <p:spPr>
            <a:xfrm>
              <a:off x="4967097" y="875824"/>
              <a:ext cx="673253" cy="190690"/>
            </a:xfrm>
            <a:prstGeom prst="rect">
              <a:avLst/>
            </a:prstGeom>
            <a:noFill/>
            <a:ln>
              <a:noFill/>
            </a:ln>
          </p:spPr>
          <p:txBody>
            <a:bodyPr wrap="none" lIns="0" tIns="0" rIns="0" bIns="0" anchor="t" anchorCtr="0">
              <a:spAutoFit/>
            </a:bodyPr>
            <a:lstStyle/>
            <a:p>
              <a:pPr algn="l"/>
              <a:r>
                <a:rPr lang="en-US" sz="980" b="1" dirty="0">
                  <a:solidFill>
                    <a:srgbClr val="FFFFFF"/>
                  </a:solidFill>
                  <a:latin typeface="+mn-lt"/>
                  <a:ea typeface="+mn-ea"/>
                  <a:cs typeface="+mn-cs"/>
                </a:rPr>
                <a:t>Day 31-60</a:t>
              </a:r>
            </a:p>
          </p:txBody>
        </p:sp>
        <p:sp>
          <p:nvSpPr>
            <p:cNvPr id="53" name="TextBox 53"/>
            <p:cNvSpPr txBox="1"/>
            <p:nvPr/>
          </p:nvSpPr>
          <p:spPr>
            <a:xfrm>
              <a:off x="5962625" y="1097756"/>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强运营、提转化</a:t>
              </a:r>
            </a:p>
          </p:txBody>
        </p:sp>
        <p:sp>
          <p:nvSpPr>
            <p:cNvPr id="54" name="Rectangle 54"/>
            <p:cNvSpPr/>
            <p:nvPr/>
          </p:nvSpPr>
          <p:spPr>
            <a:xfrm>
              <a:off x="4210050" y="1390650"/>
              <a:ext cx="3800475" cy="3943350"/>
            </a:xfrm>
            <a:prstGeom prst="rect">
              <a:avLst/>
            </a:prstGeom>
            <a:solidFill>
              <a:srgbClr val="FFFFFF"/>
            </a:solidFill>
            <a:ln w="9525">
              <a:solidFill>
                <a:srgbClr val="E5E0DC"/>
              </a:solidFill>
            </a:ln>
          </p:spPr>
        </p:sp>
        <p:grpSp>
          <p:nvGrpSpPr>
            <p:cNvPr id="65" name="s2-item-1"/>
            <p:cNvGrpSpPr/>
            <p:nvPr/>
          </p:nvGrpSpPr>
          <p:grpSpPr>
            <a:xfrm>
              <a:off x="4448175" y="1704975"/>
              <a:ext cx="2454034" cy="422195"/>
              <a:chOff x="4448175" y="1704975"/>
              <a:chExt cx="2454034" cy="422195"/>
            </a:xfrm>
          </p:grpSpPr>
          <p:sp>
            <p:nvSpPr>
              <p:cNvPr id="55" name="Ellipse 55"/>
              <p:cNvSpPr/>
              <p:nvPr/>
            </p:nvSpPr>
            <p:spPr>
              <a:xfrm>
                <a:off x="4448175" y="1704975"/>
                <a:ext cx="323850" cy="323850"/>
              </a:xfrm>
              <a:prstGeom prst="ellipse">
                <a:avLst/>
              </a:prstGeom>
              <a:solidFill>
                <a:srgbClr val="1E1E1E"/>
              </a:solidFill>
              <a:ln>
                <a:noFill/>
              </a:ln>
            </p:spPr>
          </p:sp>
          <p:grpSp>
            <p:nvGrpSpPr>
              <p:cNvPr id="62" name="Group 62"/>
              <p:cNvGrpSpPr/>
              <p:nvPr/>
            </p:nvGrpSpPr>
            <p:grpSpPr>
              <a:xfrm>
                <a:off x="4545806" y="1802606"/>
                <a:ext cx="128588" cy="128587"/>
                <a:chOff x="4545806" y="1802606"/>
                <a:chExt cx="128588" cy="128587"/>
              </a:xfrm>
            </p:grpSpPr>
            <p:sp>
              <p:nvSpPr>
                <p:cNvPr id="56" name="Freeform 56"/>
                <p:cNvSpPr/>
                <p:nvPr/>
              </p:nvSpPr>
              <p:spPr>
                <a:xfrm>
                  <a:off x="4595812" y="18597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57" name="Freeform 57"/>
                <p:cNvSpPr/>
                <p:nvPr/>
              </p:nvSpPr>
              <p:spPr>
                <a:xfrm>
                  <a:off x="4581525" y="190976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FFFFFF"/>
                  </a:solidFill>
                </a:ln>
              </p:spPr>
            </p:sp>
            <p:sp>
              <p:nvSpPr>
                <p:cNvPr id="58" name="Freeform 58"/>
                <p:cNvSpPr/>
                <p:nvPr/>
              </p:nvSpPr>
              <p:spPr>
                <a:xfrm>
                  <a:off x="4631531" y="18026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59" name="Freeform 59"/>
                <p:cNvSpPr/>
                <p:nvPr/>
              </p:nvSpPr>
              <p:spPr>
                <a:xfrm>
                  <a:off x="4645819" y="185261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FFFFFF"/>
                  </a:solidFill>
                </a:ln>
              </p:spPr>
            </p:sp>
            <p:sp>
              <p:nvSpPr>
                <p:cNvPr id="60" name="Freeform 60"/>
                <p:cNvSpPr/>
                <p:nvPr/>
              </p:nvSpPr>
              <p:spPr>
                <a:xfrm>
                  <a:off x="4560094" y="18026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61" name="Freeform 61"/>
                <p:cNvSpPr/>
                <p:nvPr/>
              </p:nvSpPr>
              <p:spPr>
                <a:xfrm>
                  <a:off x="4545806" y="185261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FFFFFF"/>
                  </a:solidFill>
                </a:ln>
              </p:spPr>
            </p:sp>
          </p:grpSp>
          <p:sp>
            <p:nvSpPr>
              <p:cNvPr id="63" name="TextBox 63"/>
              <p:cNvSpPr txBox="1"/>
              <p:nvPr/>
            </p:nvSpPr>
            <p:spPr>
              <a:xfrm>
                <a:off x="4871847" y="1723549"/>
                <a:ext cx="1197254"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分群运营与精准触达</a:t>
                </a:r>
              </a:p>
            </p:txBody>
          </p:sp>
          <p:sp>
            <p:nvSpPr>
              <p:cNvPr id="64" name="TextBox 64"/>
              <p:cNvSpPr txBox="1"/>
              <p:nvPr/>
            </p:nvSpPr>
            <p:spPr>
              <a:xfrm>
                <a:off x="4872038" y="1972389"/>
                <a:ext cx="2030171" cy="154781"/>
              </a:xfrm>
              <a:prstGeom prst="rect">
                <a:avLst/>
              </a:prstGeom>
              <a:noFill/>
              <a:ln>
                <a:noFill/>
              </a:ln>
            </p:spPr>
            <p:txBody>
              <a:bodyPr wrap="none" lIns="0" tIns="0" rIns="0" bIns="0" anchor="t" anchorCtr="0">
                <a:spAutoFit/>
              </a:bodyPr>
              <a:lstStyle/>
              <a:p>
                <a:pPr algn="l"/>
                <a:r>
                  <a:rPr lang="zh-CN" sz="790" dirty="0">
                    <a:solidFill>
                      <a:srgbClr val="6A6A6A"/>
                    </a:solidFill>
                    <a:latin typeface="+mn-lt"/>
                    <a:ea typeface="+mn-ea"/>
                    <a:cs typeface="+mn-cs"/>
                  </a:rPr>
                  <a:t>基于客群特征，开展分群营销与个性化触达</a:t>
                </a:r>
              </a:p>
            </p:txBody>
          </p:sp>
        </p:grpSp>
        <p:grpSp>
          <p:nvGrpSpPr>
            <p:cNvPr id="75" name="s2-item-2"/>
            <p:cNvGrpSpPr/>
            <p:nvPr/>
          </p:nvGrpSpPr>
          <p:grpSpPr>
            <a:xfrm>
              <a:off x="4448175" y="2657475"/>
              <a:ext cx="2454034" cy="422195"/>
              <a:chOff x="4448175" y="2657475"/>
              <a:chExt cx="2454034" cy="422195"/>
            </a:xfrm>
          </p:grpSpPr>
          <p:sp>
            <p:nvSpPr>
              <p:cNvPr id="66" name="Ellipse 66"/>
              <p:cNvSpPr/>
              <p:nvPr/>
            </p:nvSpPr>
            <p:spPr>
              <a:xfrm>
                <a:off x="4448175" y="2657475"/>
                <a:ext cx="323850" cy="323850"/>
              </a:xfrm>
              <a:prstGeom prst="ellipse">
                <a:avLst/>
              </a:prstGeom>
              <a:solidFill>
                <a:srgbClr val="1E1E1E"/>
              </a:solidFill>
              <a:ln>
                <a:noFill/>
              </a:ln>
            </p:spPr>
          </p:sp>
          <p:grpSp>
            <p:nvGrpSpPr>
              <p:cNvPr id="72" name="Group 72"/>
              <p:cNvGrpSpPr/>
              <p:nvPr/>
            </p:nvGrpSpPr>
            <p:grpSpPr>
              <a:xfrm>
                <a:off x="4545806" y="2762250"/>
                <a:ext cx="128588" cy="114300"/>
                <a:chOff x="4545806" y="2762250"/>
                <a:chExt cx="128588" cy="114300"/>
              </a:xfrm>
            </p:grpSpPr>
            <p:sp>
              <p:nvSpPr>
                <p:cNvPr id="67" name="Freeform 67"/>
                <p:cNvSpPr/>
                <p:nvPr/>
              </p:nvSpPr>
              <p:spPr>
                <a:xfrm>
                  <a:off x="4545806" y="2762250"/>
                  <a:ext cx="128588" cy="114300"/>
                </a:xfrm>
                <a:custGeom>
                  <a:avLst/>
                  <a:gdLst/>
                  <a:ahLst/>
                  <a:cxnLst/>
                  <a:rect l="l" t="t" r="r" b="b"/>
                  <a:pathLst>
                    <a:path w="128588" h="114300">
                      <a:moveTo>
                        <a:pt x="0" y="21431"/>
                      </a:moveTo>
                      <a:cubicBezTo>
                        <a:pt x="0" y="9595"/>
                        <a:pt x="9595" y="0"/>
                        <a:pt x="21431" y="0"/>
                      </a:cubicBezTo>
                      <a:lnTo>
                        <a:pt x="107156" y="0"/>
                      </a:lnTo>
                      <a:cubicBezTo>
                        <a:pt x="118992" y="0"/>
                        <a:pt x="128588" y="9595"/>
                        <a:pt x="128588" y="21431"/>
                      </a:cubicBezTo>
                      <a:lnTo>
                        <a:pt x="128588" y="92869"/>
                      </a:lnTo>
                      <a:cubicBezTo>
                        <a:pt x="128588" y="104705"/>
                        <a:pt x="118992" y="114300"/>
                        <a:pt x="107156" y="114300"/>
                      </a:cubicBezTo>
                      <a:lnTo>
                        <a:pt x="21431" y="114300"/>
                      </a:lnTo>
                      <a:cubicBezTo>
                        <a:pt x="9595" y="114300"/>
                        <a:pt x="0" y="104705"/>
                        <a:pt x="0" y="92869"/>
                      </a:cubicBezTo>
                      <a:lnTo>
                        <a:pt x="0" y="21431"/>
                      </a:lnTo>
                    </a:path>
                  </a:pathLst>
                </a:custGeom>
                <a:noFill/>
                <a:ln w="14288">
                  <a:solidFill>
                    <a:srgbClr val="FFFFFF"/>
                  </a:solidFill>
                </a:ln>
              </p:spPr>
            </p:sp>
            <p:sp>
              <p:nvSpPr>
                <p:cNvPr id="68" name="Freeform 68"/>
                <p:cNvSpPr/>
                <p:nvPr/>
              </p:nvSpPr>
              <p:spPr>
                <a:xfrm>
                  <a:off x="4574381" y="279082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69" name="Freeform 69"/>
                <p:cNvSpPr/>
                <p:nvPr/>
              </p:nvSpPr>
              <p:spPr>
                <a:xfrm>
                  <a:off x="4631531" y="2790825"/>
                  <a:ext cx="14288" cy="9525"/>
                </a:xfrm>
                <a:custGeom>
                  <a:avLst/>
                  <a:gdLst/>
                  <a:ahLst/>
                  <a:cxnLst/>
                  <a:rect l="l" t="t" r="r" b="b"/>
                  <a:pathLst>
                    <a:path w="14288" h="9525">
                      <a:moveTo>
                        <a:pt x="0" y="0"/>
                      </a:moveTo>
                      <a:lnTo>
                        <a:pt x="14288" y="0"/>
                      </a:lnTo>
                    </a:path>
                  </a:pathLst>
                </a:custGeom>
                <a:noFill/>
                <a:ln w="14288">
                  <a:solidFill>
                    <a:srgbClr val="FFFFFF"/>
                  </a:solidFill>
                </a:ln>
              </p:spPr>
            </p:sp>
            <p:sp>
              <p:nvSpPr>
                <p:cNvPr id="70" name="Freeform 70"/>
                <p:cNvSpPr/>
                <p:nvPr/>
              </p:nvSpPr>
              <p:spPr>
                <a:xfrm>
                  <a:off x="4631531" y="2819400"/>
                  <a:ext cx="14288" cy="9525"/>
                </a:xfrm>
                <a:custGeom>
                  <a:avLst/>
                  <a:gdLst/>
                  <a:ahLst/>
                  <a:cxnLst/>
                  <a:rect l="l" t="t" r="r" b="b"/>
                  <a:pathLst>
                    <a:path w="14288" h="9525">
                      <a:moveTo>
                        <a:pt x="0" y="0"/>
                      </a:moveTo>
                      <a:lnTo>
                        <a:pt x="14288" y="0"/>
                      </a:lnTo>
                    </a:path>
                  </a:pathLst>
                </a:custGeom>
                <a:noFill/>
                <a:ln w="14288">
                  <a:solidFill>
                    <a:srgbClr val="FFFFFF"/>
                  </a:solidFill>
                </a:ln>
              </p:spPr>
            </p:sp>
            <p:sp>
              <p:nvSpPr>
                <p:cNvPr id="71" name="Freeform 71"/>
                <p:cNvSpPr/>
                <p:nvPr/>
              </p:nvSpPr>
              <p:spPr>
                <a:xfrm>
                  <a:off x="4574381" y="2847975"/>
                  <a:ext cx="71438" cy="9525"/>
                </a:xfrm>
                <a:custGeom>
                  <a:avLst/>
                  <a:gdLst/>
                  <a:ahLst/>
                  <a:cxnLst/>
                  <a:rect l="l" t="t" r="r" b="b"/>
                  <a:pathLst>
                    <a:path w="71438" h="9525">
                      <a:moveTo>
                        <a:pt x="0" y="0"/>
                      </a:moveTo>
                      <a:lnTo>
                        <a:pt x="71438" y="0"/>
                      </a:lnTo>
                    </a:path>
                  </a:pathLst>
                </a:custGeom>
                <a:noFill/>
                <a:ln w="14288">
                  <a:solidFill>
                    <a:srgbClr val="FFFFFF"/>
                  </a:solidFill>
                </a:ln>
              </p:spPr>
            </p:sp>
          </p:grpSp>
          <p:sp>
            <p:nvSpPr>
              <p:cNvPr id="73" name="TextBox 73"/>
              <p:cNvSpPr txBox="1"/>
              <p:nvPr/>
            </p:nvSpPr>
            <p:spPr>
              <a:xfrm>
                <a:off x="4871847" y="2676049"/>
                <a:ext cx="1197254"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代发与社保专项拓展</a:t>
                </a:r>
              </a:p>
            </p:txBody>
          </p:sp>
          <p:sp>
            <p:nvSpPr>
              <p:cNvPr id="74" name="TextBox 74"/>
              <p:cNvSpPr txBox="1"/>
              <p:nvPr/>
            </p:nvSpPr>
            <p:spPr>
              <a:xfrm>
                <a:off x="4872038" y="2924889"/>
                <a:ext cx="2030171" cy="154781"/>
              </a:xfrm>
              <a:prstGeom prst="rect">
                <a:avLst/>
              </a:prstGeom>
              <a:noFill/>
              <a:ln>
                <a:noFill/>
              </a:ln>
            </p:spPr>
            <p:txBody>
              <a:bodyPr wrap="none" lIns="0" tIns="0" rIns="0" bIns="0" anchor="t" anchorCtr="0">
                <a:spAutoFit/>
              </a:bodyPr>
              <a:lstStyle/>
              <a:p>
                <a:pPr algn="l"/>
                <a:r>
                  <a:rPr lang="zh-CN" sz="790" dirty="0">
                    <a:solidFill>
                      <a:srgbClr val="6A6A6A"/>
                    </a:solidFill>
                    <a:latin typeface="+mn-lt"/>
                    <a:ea typeface="+mn-ea"/>
                    <a:cs typeface="+mn-cs"/>
                  </a:rPr>
                  <a:t>聚焦代发工资与社保场景，批量获客与转化</a:t>
                </a:r>
              </a:p>
            </p:txBody>
          </p:sp>
        </p:grpSp>
        <p:grpSp>
          <p:nvGrpSpPr>
            <p:cNvPr id="82" name="s2-item-3"/>
            <p:cNvGrpSpPr/>
            <p:nvPr/>
          </p:nvGrpSpPr>
          <p:grpSpPr>
            <a:xfrm>
              <a:off x="4448175" y="3609975"/>
              <a:ext cx="2560384" cy="422195"/>
              <a:chOff x="4448175" y="3609975"/>
              <a:chExt cx="2560384" cy="422195"/>
            </a:xfrm>
          </p:grpSpPr>
          <p:sp>
            <p:nvSpPr>
              <p:cNvPr id="76" name="Ellipse 76"/>
              <p:cNvSpPr/>
              <p:nvPr/>
            </p:nvSpPr>
            <p:spPr>
              <a:xfrm>
                <a:off x="4448175" y="3609975"/>
                <a:ext cx="323850" cy="323850"/>
              </a:xfrm>
              <a:prstGeom prst="ellipse">
                <a:avLst/>
              </a:prstGeom>
              <a:solidFill>
                <a:srgbClr val="1E1E1E"/>
              </a:solidFill>
              <a:ln>
                <a:noFill/>
              </a:ln>
            </p:spPr>
          </p:sp>
          <p:grpSp>
            <p:nvGrpSpPr>
              <p:cNvPr id="79" name="Group 79"/>
              <p:cNvGrpSpPr/>
              <p:nvPr/>
            </p:nvGrpSpPr>
            <p:grpSpPr>
              <a:xfrm>
                <a:off x="4545806" y="3736181"/>
                <a:ext cx="128588" cy="71438"/>
                <a:chOff x="4545806" y="3736181"/>
                <a:chExt cx="128588" cy="71438"/>
              </a:xfrm>
            </p:grpSpPr>
            <p:sp>
              <p:nvSpPr>
                <p:cNvPr id="77" name="Freeform 77"/>
                <p:cNvSpPr/>
                <p:nvPr/>
              </p:nvSpPr>
              <p:spPr>
                <a:xfrm>
                  <a:off x="4545806" y="3736181"/>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FFFFFF"/>
                  </a:solidFill>
                </a:ln>
              </p:spPr>
            </p:sp>
            <p:sp>
              <p:nvSpPr>
                <p:cNvPr id="78" name="Freeform 78"/>
                <p:cNvSpPr/>
                <p:nvPr/>
              </p:nvSpPr>
              <p:spPr>
                <a:xfrm>
                  <a:off x="4624388" y="3736181"/>
                  <a:ext cx="50006" cy="50006"/>
                </a:xfrm>
                <a:custGeom>
                  <a:avLst/>
                  <a:gdLst/>
                  <a:ahLst/>
                  <a:cxnLst/>
                  <a:rect l="l" t="t" r="r" b="b"/>
                  <a:pathLst>
                    <a:path w="50006" h="50006">
                      <a:moveTo>
                        <a:pt x="0" y="0"/>
                      </a:moveTo>
                      <a:lnTo>
                        <a:pt x="50006" y="0"/>
                      </a:lnTo>
                      <a:lnTo>
                        <a:pt x="50006" y="50006"/>
                      </a:lnTo>
                    </a:path>
                  </a:pathLst>
                </a:custGeom>
                <a:noFill/>
                <a:ln w="14288">
                  <a:solidFill>
                    <a:srgbClr val="FFFFFF"/>
                  </a:solidFill>
                </a:ln>
              </p:spPr>
            </p:sp>
          </p:grpSp>
          <p:sp>
            <p:nvSpPr>
              <p:cNvPr id="80" name="TextBox 80"/>
              <p:cNvSpPr txBox="1"/>
              <p:nvPr/>
            </p:nvSpPr>
            <p:spPr>
              <a:xfrm>
                <a:off x="4871847" y="3628549"/>
                <a:ext cx="1197254"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财富与消费金融推进</a:t>
                </a:r>
              </a:p>
            </p:txBody>
          </p:sp>
          <p:sp>
            <p:nvSpPr>
              <p:cNvPr id="81" name="TextBox 81"/>
              <p:cNvSpPr txBox="1"/>
              <p:nvPr/>
            </p:nvSpPr>
            <p:spPr>
              <a:xfrm>
                <a:off x="4872038" y="3877389"/>
                <a:ext cx="2136521" cy="154781"/>
              </a:xfrm>
              <a:prstGeom prst="rect">
                <a:avLst/>
              </a:prstGeom>
              <a:noFill/>
              <a:ln>
                <a:noFill/>
              </a:ln>
            </p:spPr>
            <p:txBody>
              <a:bodyPr wrap="none" lIns="0" tIns="0" rIns="0" bIns="0" anchor="t" anchorCtr="0">
                <a:spAutoFit/>
              </a:bodyPr>
              <a:lstStyle/>
              <a:p>
                <a:pPr algn="l"/>
                <a:r>
                  <a:rPr lang="zh-CN" sz="790" dirty="0">
                    <a:solidFill>
                      <a:srgbClr val="6A6A6A"/>
                    </a:solidFill>
                    <a:latin typeface="+mn-lt"/>
                    <a:ea typeface="+mn-ea"/>
                    <a:cs typeface="+mn-cs"/>
                  </a:rPr>
                  <a:t>推动财富管理与消费金融产品交叉销售与渗透</a:t>
                </a:r>
              </a:p>
            </p:txBody>
          </p:sp>
        </p:grpSp>
        <p:grpSp>
          <p:nvGrpSpPr>
            <p:cNvPr id="97" name="s2-item-4"/>
            <p:cNvGrpSpPr/>
            <p:nvPr/>
          </p:nvGrpSpPr>
          <p:grpSpPr>
            <a:xfrm>
              <a:off x="4448175" y="4562475"/>
              <a:ext cx="2666734" cy="422195"/>
              <a:chOff x="4448175" y="4562475"/>
              <a:chExt cx="2666734" cy="422195"/>
            </a:xfrm>
          </p:grpSpPr>
          <p:sp>
            <p:nvSpPr>
              <p:cNvPr id="83" name="Ellipse 83"/>
              <p:cNvSpPr/>
              <p:nvPr/>
            </p:nvSpPr>
            <p:spPr>
              <a:xfrm>
                <a:off x="4448175" y="4562475"/>
                <a:ext cx="323850" cy="323850"/>
              </a:xfrm>
              <a:prstGeom prst="ellipse">
                <a:avLst/>
              </a:prstGeom>
              <a:solidFill>
                <a:srgbClr val="1E1E1E"/>
              </a:solidFill>
              <a:ln>
                <a:noFill/>
              </a:ln>
            </p:spPr>
          </p:sp>
          <p:grpSp>
            <p:nvGrpSpPr>
              <p:cNvPr id="94" name="Group 94"/>
              <p:cNvGrpSpPr/>
              <p:nvPr/>
            </p:nvGrpSpPr>
            <p:grpSpPr>
              <a:xfrm>
                <a:off x="4545806" y="4660106"/>
                <a:ext cx="128588" cy="128588"/>
                <a:chOff x="4545806" y="4660106"/>
                <a:chExt cx="128588" cy="128588"/>
              </a:xfrm>
            </p:grpSpPr>
            <p:sp>
              <p:nvSpPr>
                <p:cNvPr id="84" name="Freeform 84"/>
                <p:cNvSpPr/>
                <p:nvPr/>
              </p:nvSpPr>
              <p:spPr>
                <a:xfrm>
                  <a:off x="4560094" y="4674394"/>
                  <a:ext cx="100012" cy="100012"/>
                </a:xfrm>
                <a:custGeom>
                  <a:avLst/>
                  <a:gdLst/>
                  <a:ahLst/>
                  <a:cxnLst/>
                  <a:rect l="l" t="t" r="r" b="b"/>
                  <a:pathLst>
                    <a:path w="100012" h="100012">
                      <a:moveTo>
                        <a:pt x="0" y="7144"/>
                      </a:moveTo>
                      <a:cubicBezTo>
                        <a:pt x="0" y="3198"/>
                        <a:pt x="3198" y="0"/>
                        <a:pt x="7144" y="0"/>
                      </a:cubicBezTo>
                      <a:lnTo>
                        <a:pt x="92869" y="0"/>
                      </a:lnTo>
                      <a:cubicBezTo>
                        <a:pt x="96814" y="0"/>
                        <a:pt x="100012" y="3198"/>
                        <a:pt x="100012" y="7144"/>
                      </a:cubicBezTo>
                      <a:lnTo>
                        <a:pt x="100012" y="92869"/>
                      </a:lnTo>
                      <a:cubicBezTo>
                        <a:pt x="100012" y="96814"/>
                        <a:pt x="96814" y="100012"/>
                        <a:pt x="92869" y="100012"/>
                      </a:cubicBezTo>
                      <a:lnTo>
                        <a:pt x="7144" y="100012"/>
                      </a:lnTo>
                      <a:cubicBezTo>
                        <a:pt x="3198" y="100012"/>
                        <a:pt x="0" y="96814"/>
                        <a:pt x="0" y="92869"/>
                      </a:cubicBezTo>
                      <a:lnTo>
                        <a:pt x="0" y="7144"/>
                      </a:lnTo>
                    </a:path>
                  </a:pathLst>
                </a:custGeom>
                <a:noFill/>
                <a:ln w="14288">
                  <a:solidFill>
                    <a:srgbClr val="FFFFFF"/>
                  </a:solidFill>
                </a:ln>
              </p:spPr>
            </p:sp>
            <p:sp>
              <p:nvSpPr>
                <p:cNvPr id="85" name="Freeform 85"/>
                <p:cNvSpPr/>
                <p:nvPr/>
              </p:nvSpPr>
              <p:spPr>
                <a:xfrm>
                  <a:off x="4588669" y="4702969"/>
                  <a:ext cx="42862" cy="42862"/>
                </a:xfrm>
                <a:custGeom>
                  <a:avLst/>
                  <a:gdLst/>
                  <a:ahLst/>
                  <a:cxnLst/>
                  <a:rect l="l" t="t" r="r" b="b"/>
                  <a:pathLst>
                    <a:path w="42862" h="42862">
                      <a:moveTo>
                        <a:pt x="0" y="0"/>
                      </a:moveTo>
                      <a:lnTo>
                        <a:pt x="42862" y="0"/>
                      </a:lnTo>
                      <a:lnTo>
                        <a:pt x="42862" y="42862"/>
                      </a:lnTo>
                      <a:lnTo>
                        <a:pt x="0" y="42862"/>
                      </a:lnTo>
                      <a:lnTo>
                        <a:pt x="0" y="0"/>
                      </a:lnTo>
                    </a:path>
                  </a:pathLst>
                </a:custGeom>
                <a:noFill/>
                <a:ln w="14288">
                  <a:solidFill>
                    <a:srgbClr val="FFFFFF"/>
                  </a:solidFill>
                </a:ln>
              </p:spPr>
            </p:sp>
            <p:sp>
              <p:nvSpPr>
                <p:cNvPr id="86" name="Freeform 86"/>
                <p:cNvSpPr/>
                <p:nvPr/>
              </p:nvSpPr>
              <p:spPr>
                <a:xfrm>
                  <a:off x="4545806" y="4710112"/>
                  <a:ext cx="14288" cy="9525"/>
                </a:xfrm>
                <a:custGeom>
                  <a:avLst/>
                  <a:gdLst/>
                  <a:ahLst/>
                  <a:cxnLst/>
                  <a:rect l="l" t="t" r="r" b="b"/>
                  <a:pathLst>
                    <a:path w="14288" h="9525">
                      <a:moveTo>
                        <a:pt x="0" y="0"/>
                      </a:moveTo>
                      <a:lnTo>
                        <a:pt x="14288" y="0"/>
                      </a:lnTo>
                    </a:path>
                  </a:pathLst>
                </a:custGeom>
                <a:noFill/>
                <a:ln w="14288">
                  <a:solidFill>
                    <a:srgbClr val="FFFFFF"/>
                  </a:solidFill>
                </a:ln>
              </p:spPr>
            </p:sp>
            <p:sp>
              <p:nvSpPr>
                <p:cNvPr id="87" name="Freeform 87"/>
                <p:cNvSpPr/>
                <p:nvPr/>
              </p:nvSpPr>
              <p:spPr>
                <a:xfrm>
                  <a:off x="4545806" y="4738688"/>
                  <a:ext cx="14288" cy="9525"/>
                </a:xfrm>
                <a:custGeom>
                  <a:avLst/>
                  <a:gdLst/>
                  <a:ahLst/>
                  <a:cxnLst/>
                  <a:rect l="l" t="t" r="r" b="b"/>
                  <a:pathLst>
                    <a:path w="14288" h="9525">
                      <a:moveTo>
                        <a:pt x="0" y="0"/>
                      </a:moveTo>
                      <a:lnTo>
                        <a:pt x="14288" y="0"/>
                      </a:lnTo>
                    </a:path>
                  </a:pathLst>
                </a:custGeom>
                <a:noFill/>
                <a:ln w="14288">
                  <a:solidFill>
                    <a:srgbClr val="FFFFFF"/>
                  </a:solidFill>
                </a:ln>
              </p:spPr>
            </p:sp>
            <p:sp>
              <p:nvSpPr>
                <p:cNvPr id="88" name="Freeform 88"/>
                <p:cNvSpPr/>
                <p:nvPr/>
              </p:nvSpPr>
              <p:spPr>
                <a:xfrm>
                  <a:off x="4595812" y="4660106"/>
                  <a:ext cx="9525" cy="14288"/>
                </a:xfrm>
                <a:custGeom>
                  <a:avLst/>
                  <a:gdLst/>
                  <a:ahLst/>
                  <a:cxnLst/>
                  <a:rect l="l" t="t" r="r" b="b"/>
                  <a:pathLst>
                    <a:path w="9525" h="14288">
                      <a:moveTo>
                        <a:pt x="0" y="0"/>
                      </a:moveTo>
                      <a:lnTo>
                        <a:pt x="0" y="14288"/>
                      </a:lnTo>
                    </a:path>
                  </a:pathLst>
                </a:custGeom>
                <a:noFill/>
                <a:ln w="14288">
                  <a:solidFill>
                    <a:srgbClr val="FFFFFF"/>
                  </a:solidFill>
                </a:ln>
              </p:spPr>
            </p:sp>
            <p:sp>
              <p:nvSpPr>
                <p:cNvPr id="89" name="Freeform 89"/>
                <p:cNvSpPr/>
                <p:nvPr/>
              </p:nvSpPr>
              <p:spPr>
                <a:xfrm>
                  <a:off x="4624388" y="4660106"/>
                  <a:ext cx="9525" cy="14288"/>
                </a:xfrm>
                <a:custGeom>
                  <a:avLst/>
                  <a:gdLst/>
                  <a:ahLst/>
                  <a:cxnLst/>
                  <a:rect l="l" t="t" r="r" b="b"/>
                  <a:pathLst>
                    <a:path w="9525" h="14288">
                      <a:moveTo>
                        <a:pt x="0" y="0"/>
                      </a:moveTo>
                      <a:lnTo>
                        <a:pt x="0" y="14288"/>
                      </a:lnTo>
                    </a:path>
                  </a:pathLst>
                </a:custGeom>
                <a:noFill/>
                <a:ln w="14288">
                  <a:solidFill>
                    <a:srgbClr val="FFFFFF"/>
                  </a:solidFill>
                </a:ln>
              </p:spPr>
            </p:sp>
            <p:sp>
              <p:nvSpPr>
                <p:cNvPr id="90" name="Freeform 90"/>
                <p:cNvSpPr/>
                <p:nvPr/>
              </p:nvSpPr>
              <p:spPr>
                <a:xfrm>
                  <a:off x="4660106" y="4710112"/>
                  <a:ext cx="14288" cy="9525"/>
                </a:xfrm>
                <a:custGeom>
                  <a:avLst/>
                  <a:gdLst/>
                  <a:ahLst/>
                  <a:cxnLst/>
                  <a:rect l="l" t="t" r="r" b="b"/>
                  <a:pathLst>
                    <a:path w="14288" h="9525">
                      <a:moveTo>
                        <a:pt x="14288" y="0"/>
                      </a:moveTo>
                      <a:lnTo>
                        <a:pt x="0" y="0"/>
                      </a:lnTo>
                    </a:path>
                  </a:pathLst>
                </a:custGeom>
                <a:noFill/>
                <a:ln w="14288">
                  <a:solidFill>
                    <a:srgbClr val="FFFFFF"/>
                  </a:solidFill>
                </a:ln>
              </p:spPr>
            </p:sp>
            <p:sp>
              <p:nvSpPr>
                <p:cNvPr id="91" name="Freeform 91"/>
                <p:cNvSpPr/>
                <p:nvPr/>
              </p:nvSpPr>
              <p:spPr>
                <a:xfrm>
                  <a:off x="4660106" y="4738688"/>
                  <a:ext cx="14288" cy="9525"/>
                </a:xfrm>
                <a:custGeom>
                  <a:avLst/>
                  <a:gdLst/>
                  <a:ahLst/>
                  <a:cxnLst/>
                  <a:rect l="l" t="t" r="r" b="b"/>
                  <a:pathLst>
                    <a:path w="14288" h="9525">
                      <a:moveTo>
                        <a:pt x="14288" y="0"/>
                      </a:moveTo>
                      <a:lnTo>
                        <a:pt x="0" y="0"/>
                      </a:lnTo>
                    </a:path>
                  </a:pathLst>
                </a:custGeom>
                <a:noFill/>
                <a:ln w="14288">
                  <a:solidFill>
                    <a:srgbClr val="FFFFFF"/>
                  </a:solidFill>
                </a:ln>
              </p:spPr>
            </p:sp>
            <p:sp>
              <p:nvSpPr>
                <p:cNvPr id="92" name="Freeform 92"/>
                <p:cNvSpPr/>
                <p:nvPr/>
              </p:nvSpPr>
              <p:spPr>
                <a:xfrm>
                  <a:off x="4624388" y="4774406"/>
                  <a:ext cx="9525" cy="14288"/>
                </a:xfrm>
                <a:custGeom>
                  <a:avLst/>
                  <a:gdLst/>
                  <a:ahLst/>
                  <a:cxnLst/>
                  <a:rect l="l" t="t" r="r" b="b"/>
                  <a:pathLst>
                    <a:path w="9525" h="14288">
                      <a:moveTo>
                        <a:pt x="0" y="14288"/>
                      </a:moveTo>
                      <a:lnTo>
                        <a:pt x="0" y="0"/>
                      </a:lnTo>
                    </a:path>
                  </a:pathLst>
                </a:custGeom>
                <a:noFill/>
                <a:ln w="14288">
                  <a:solidFill>
                    <a:srgbClr val="FFFFFF"/>
                  </a:solidFill>
                </a:ln>
              </p:spPr>
            </p:sp>
            <p:sp>
              <p:nvSpPr>
                <p:cNvPr id="93" name="Freeform 93"/>
                <p:cNvSpPr/>
                <p:nvPr/>
              </p:nvSpPr>
              <p:spPr>
                <a:xfrm>
                  <a:off x="4595812" y="4774406"/>
                  <a:ext cx="9525" cy="14288"/>
                </a:xfrm>
                <a:custGeom>
                  <a:avLst/>
                  <a:gdLst/>
                  <a:ahLst/>
                  <a:cxnLst/>
                  <a:rect l="l" t="t" r="r" b="b"/>
                  <a:pathLst>
                    <a:path w="9525" h="14288">
                      <a:moveTo>
                        <a:pt x="0" y="14288"/>
                      </a:moveTo>
                      <a:lnTo>
                        <a:pt x="0" y="0"/>
                      </a:lnTo>
                    </a:path>
                  </a:pathLst>
                </a:custGeom>
                <a:noFill/>
                <a:ln w="14288">
                  <a:solidFill>
                    <a:srgbClr val="FFFFFF"/>
                  </a:solidFill>
                </a:ln>
              </p:spPr>
            </p:sp>
          </p:grpSp>
          <p:sp>
            <p:nvSpPr>
              <p:cNvPr id="95" name="TextBox 95"/>
              <p:cNvSpPr txBox="1"/>
              <p:nvPr/>
            </p:nvSpPr>
            <p:spPr>
              <a:xfrm>
                <a:off x="4871847" y="4581049"/>
                <a:ext cx="1197254"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数字化工具落地应用</a:t>
                </a:r>
              </a:p>
            </p:txBody>
          </p:sp>
          <p:sp>
            <p:nvSpPr>
              <p:cNvPr id="96" name="TextBox 96"/>
              <p:cNvSpPr txBox="1"/>
              <p:nvPr/>
            </p:nvSpPr>
            <p:spPr>
              <a:xfrm>
                <a:off x="4872038" y="4829889"/>
                <a:ext cx="2242871" cy="154781"/>
              </a:xfrm>
              <a:prstGeom prst="rect">
                <a:avLst/>
              </a:prstGeom>
              <a:noFill/>
              <a:ln>
                <a:noFill/>
              </a:ln>
            </p:spPr>
            <p:txBody>
              <a:bodyPr wrap="none" lIns="0" tIns="0" rIns="0" bIns="0" anchor="t" anchorCtr="0">
                <a:spAutoFit/>
              </a:bodyPr>
              <a:lstStyle/>
              <a:p>
                <a:pPr algn="l"/>
                <a:r>
                  <a:rPr lang="zh-CN" sz="790" dirty="0">
                    <a:solidFill>
                      <a:srgbClr val="6A6A6A"/>
                    </a:solidFill>
                    <a:latin typeface="+mn-lt"/>
                    <a:ea typeface="+mn-ea"/>
                    <a:cs typeface="+mn-cs"/>
                  </a:rPr>
                  <a:t>推广数字化工具与自动化流程，提升人效与转化</a:t>
                </a:r>
              </a:p>
            </p:txBody>
          </p:sp>
        </p:grpSp>
      </p:grpSp>
      <p:grpSp>
        <p:nvGrpSpPr>
          <p:cNvPr id="144" name="stage3"/>
          <p:cNvGrpSpPr/>
          <p:nvPr/>
        </p:nvGrpSpPr>
        <p:grpSpPr>
          <a:xfrm>
            <a:off x="8220075" y="781050"/>
            <a:ext cx="3800475" cy="4552950"/>
            <a:chOff x="8220075" y="781050"/>
            <a:chExt cx="3800475" cy="4552950"/>
          </a:xfrm>
        </p:grpSpPr>
        <p:sp>
          <p:nvSpPr>
            <p:cNvPr id="99" name="Freeform 99"/>
            <p:cNvSpPr/>
            <p:nvPr/>
          </p:nvSpPr>
          <p:spPr>
            <a:xfrm>
              <a:off x="8220075" y="781050"/>
              <a:ext cx="3800475" cy="533400"/>
            </a:xfrm>
            <a:prstGeom prst="chevron">
              <a:avLst/>
            </a:prstGeom>
            <a:solidFill>
              <a:srgbClr val="B03A1F"/>
            </a:solidFill>
            <a:ln>
              <a:noFill/>
            </a:ln>
          </p:spPr>
        </p:sp>
        <p:sp>
          <p:nvSpPr>
            <p:cNvPr id="100" name="Ellipse 100"/>
            <p:cNvSpPr/>
            <p:nvPr/>
          </p:nvSpPr>
          <p:spPr>
            <a:xfrm>
              <a:off x="8572500" y="885825"/>
              <a:ext cx="323850" cy="323850"/>
            </a:xfrm>
            <a:prstGeom prst="ellipse">
              <a:avLst/>
            </a:prstGeom>
            <a:solidFill>
              <a:srgbClr val="FFFFFF"/>
            </a:solidFill>
            <a:ln>
              <a:noFill/>
            </a:ln>
          </p:spPr>
        </p:sp>
        <p:sp>
          <p:nvSpPr>
            <p:cNvPr id="101" name="TextBox 101"/>
            <p:cNvSpPr txBox="1"/>
            <p:nvPr/>
          </p:nvSpPr>
          <p:spPr>
            <a:xfrm>
              <a:off x="8641638" y="973931"/>
              <a:ext cx="185574" cy="220028"/>
            </a:xfrm>
            <a:prstGeom prst="rect">
              <a:avLst/>
            </a:prstGeom>
            <a:noFill/>
            <a:ln>
              <a:noFill/>
            </a:ln>
          </p:spPr>
          <p:txBody>
            <a:bodyPr wrap="none" lIns="0" tIns="0" rIns="0" bIns="0" anchor="t" anchorCtr="0">
              <a:spAutoFit/>
            </a:bodyPr>
            <a:lstStyle/>
            <a:p>
              <a:pPr algn="ctr"/>
              <a:r>
                <a:rPr lang="zh-CN" sz="1120" b="1" dirty="0">
                  <a:solidFill>
                    <a:srgbClr val="B03A1F"/>
                  </a:solidFill>
                  <a:latin typeface="+mn-lt"/>
                  <a:ea typeface="+mn-ea"/>
                  <a:cs typeface="+mn-cs"/>
                </a:rPr>
                <a:t>03</a:t>
              </a:r>
            </a:p>
          </p:txBody>
        </p:sp>
        <p:sp>
          <p:nvSpPr>
            <p:cNvPr id="102" name="TextBox 102"/>
            <p:cNvSpPr txBox="1"/>
            <p:nvPr/>
          </p:nvSpPr>
          <p:spPr>
            <a:xfrm>
              <a:off x="8977122" y="875824"/>
              <a:ext cx="673253" cy="190690"/>
            </a:xfrm>
            <a:prstGeom prst="rect">
              <a:avLst/>
            </a:prstGeom>
            <a:noFill/>
            <a:ln>
              <a:noFill/>
            </a:ln>
          </p:spPr>
          <p:txBody>
            <a:bodyPr wrap="none" lIns="0" tIns="0" rIns="0" bIns="0" anchor="t" anchorCtr="0">
              <a:spAutoFit/>
            </a:bodyPr>
            <a:lstStyle/>
            <a:p>
              <a:pPr algn="l"/>
              <a:r>
                <a:rPr lang="en-US" sz="980" b="1" dirty="0">
                  <a:solidFill>
                    <a:srgbClr val="FFFFFF"/>
                  </a:solidFill>
                  <a:latin typeface="+mn-lt"/>
                  <a:ea typeface="+mn-ea"/>
                  <a:cs typeface="+mn-cs"/>
                </a:rPr>
                <a:t>Day 61-90</a:t>
              </a:r>
            </a:p>
          </p:txBody>
        </p:sp>
        <p:sp>
          <p:nvSpPr>
            <p:cNvPr id="103" name="TextBox 103"/>
            <p:cNvSpPr txBox="1"/>
            <p:nvPr/>
          </p:nvSpPr>
          <p:spPr>
            <a:xfrm>
              <a:off x="9972650" y="1097756"/>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补缺口、固机制</a:t>
              </a:r>
            </a:p>
          </p:txBody>
        </p:sp>
        <p:sp>
          <p:nvSpPr>
            <p:cNvPr id="104" name="Rectangle 104"/>
            <p:cNvSpPr/>
            <p:nvPr/>
          </p:nvSpPr>
          <p:spPr>
            <a:xfrm>
              <a:off x="8220075" y="1390650"/>
              <a:ext cx="3800475" cy="3943350"/>
            </a:xfrm>
            <a:prstGeom prst="rect">
              <a:avLst/>
            </a:prstGeom>
            <a:solidFill>
              <a:srgbClr val="FFFFFF"/>
            </a:solidFill>
            <a:ln w="9525">
              <a:solidFill>
                <a:srgbClr val="E5E0DC"/>
              </a:solidFill>
            </a:ln>
          </p:spPr>
        </p:sp>
        <p:grpSp>
          <p:nvGrpSpPr>
            <p:cNvPr id="112" name="s3-item-1"/>
            <p:cNvGrpSpPr/>
            <p:nvPr/>
          </p:nvGrpSpPr>
          <p:grpSpPr>
            <a:xfrm>
              <a:off x="8467725" y="1600200"/>
              <a:ext cx="2525077" cy="390526"/>
              <a:chOff x="8467725" y="1600200"/>
              <a:chExt cx="2525077" cy="390526"/>
            </a:xfrm>
          </p:grpSpPr>
          <p:sp>
            <p:nvSpPr>
              <p:cNvPr id="105" name="Ellipse 105"/>
              <p:cNvSpPr/>
              <p:nvPr/>
            </p:nvSpPr>
            <p:spPr>
              <a:xfrm>
                <a:off x="8467725" y="1600200"/>
                <a:ext cx="304800" cy="304800"/>
              </a:xfrm>
              <a:prstGeom prst="ellipse">
                <a:avLst/>
              </a:prstGeom>
              <a:solidFill>
                <a:srgbClr val="B03A1F"/>
              </a:solidFill>
              <a:ln>
                <a:noFill/>
              </a:ln>
            </p:spPr>
          </p:sp>
          <p:grpSp>
            <p:nvGrpSpPr>
              <p:cNvPr id="109" name="Group 109"/>
              <p:cNvGrpSpPr/>
              <p:nvPr/>
            </p:nvGrpSpPr>
            <p:grpSpPr>
              <a:xfrm>
                <a:off x="8562975" y="1695450"/>
                <a:ext cx="114300" cy="114300"/>
                <a:chOff x="8562975" y="1695450"/>
                <a:chExt cx="114300" cy="114300"/>
              </a:xfrm>
            </p:grpSpPr>
            <p:sp>
              <p:nvSpPr>
                <p:cNvPr id="106" name="Freeform 106"/>
                <p:cNvSpPr/>
                <p:nvPr/>
              </p:nvSpPr>
              <p:spPr>
                <a:xfrm>
                  <a:off x="8613775" y="17462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107" name="Freeform 107"/>
                <p:cNvSpPr/>
                <p:nvPr/>
              </p:nvSpPr>
              <p:spPr>
                <a:xfrm>
                  <a:off x="8588375" y="17208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FFFFFF"/>
                  </a:solidFill>
                </a:ln>
              </p:spPr>
            </p:sp>
            <p:sp>
              <p:nvSpPr>
                <p:cNvPr id="108" name="Freeform 108"/>
                <p:cNvSpPr/>
                <p:nvPr/>
              </p:nvSpPr>
              <p:spPr>
                <a:xfrm>
                  <a:off x="8562975" y="16954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grpSp>
          <p:sp>
            <p:nvSpPr>
              <p:cNvPr id="110" name="TextBox 110"/>
              <p:cNvSpPr txBox="1"/>
              <p:nvPr/>
            </p:nvSpPr>
            <p:spPr>
              <a:xfrm>
                <a:off x="8863012" y="1622822"/>
                <a:ext cx="1021867"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关键指标缺口补齐</a:t>
                </a:r>
              </a:p>
            </p:txBody>
          </p:sp>
          <p:sp>
            <p:nvSpPr>
              <p:cNvPr id="111" name="TextBox 111"/>
              <p:cNvSpPr txBox="1"/>
              <p:nvPr/>
            </p:nvSpPr>
            <p:spPr>
              <a:xfrm>
                <a:off x="8863012" y="1843088"/>
                <a:ext cx="212979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对标目标，定位差距并制定补齐计划与资源支持</a:t>
                </a:r>
              </a:p>
            </p:txBody>
          </p:sp>
        </p:grpSp>
        <p:grpSp>
          <p:nvGrpSpPr>
            <p:cNvPr id="120" name="s3-item-2"/>
            <p:cNvGrpSpPr/>
            <p:nvPr/>
          </p:nvGrpSpPr>
          <p:grpSpPr>
            <a:xfrm>
              <a:off x="8467725" y="2362200"/>
              <a:ext cx="2323147" cy="390526"/>
              <a:chOff x="8467725" y="2362200"/>
              <a:chExt cx="2323147" cy="390526"/>
            </a:xfrm>
          </p:grpSpPr>
          <p:sp>
            <p:nvSpPr>
              <p:cNvPr id="113" name="Ellipse 113"/>
              <p:cNvSpPr/>
              <p:nvPr/>
            </p:nvSpPr>
            <p:spPr>
              <a:xfrm>
                <a:off x="8467725" y="2362200"/>
                <a:ext cx="304800" cy="304800"/>
              </a:xfrm>
              <a:prstGeom prst="ellipse">
                <a:avLst/>
              </a:prstGeom>
              <a:solidFill>
                <a:srgbClr val="B03A1F"/>
              </a:solidFill>
              <a:ln>
                <a:noFill/>
              </a:ln>
            </p:spPr>
          </p:sp>
          <p:grpSp>
            <p:nvGrpSpPr>
              <p:cNvPr id="117" name="Group 117"/>
              <p:cNvGrpSpPr/>
              <p:nvPr/>
            </p:nvGrpSpPr>
            <p:grpSpPr>
              <a:xfrm>
                <a:off x="8582025" y="2457450"/>
                <a:ext cx="95250" cy="114300"/>
                <a:chOff x="8582025" y="2457450"/>
                <a:chExt cx="95250" cy="114300"/>
              </a:xfrm>
            </p:grpSpPr>
            <p:sp>
              <p:nvSpPr>
                <p:cNvPr id="114" name="Freeform 114"/>
                <p:cNvSpPr/>
                <p:nvPr/>
              </p:nvSpPr>
              <p:spPr>
                <a:xfrm>
                  <a:off x="8594725" y="24574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15" name="Freeform 115"/>
                <p:cNvSpPr/>
                <p:nvPr/>
              </p:nvSpPr>
              <p:spPr>
                <a:xfrm>
                  <a:off x="8582025" y="25336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FFFFFF"/>
                  </a:solidFill>
                </a:ln>
              </p:spPr>
            </p:sp>
            <p:sp>
              <p:nvSpPr>
                <p:cNvPr id="116" name="Freeform 116"/>
                <p:cNvSpPr/>
                <p:nvPr/>
              </p:nvSpPr>
              <p:spPr>
                <a:xfrm>
                  <a:off x="8639175" y="254635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118" name="TextBox 118"/>
              <p:cNvSpPr txBox="1"/>
              <p:nvPr/>
            </p:nvSpPr>
            <p:spPr>
              <a:xfrm>
                <a:off x="8863012" y="2384822"/>
                <a:ext cx="1148410"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客户留存与价值提升</a:t>
                </a:r>
              </a:p>
            </p:txBody>
          </p:sp>
          <p:sp>
            <p:nvSpPr>
              <p:cNvPr id="119" name="TextBox 119"/>
              <p:cNvSpPr txBox="1"/>
              <p:nvPr/>
            </p:nvSpPr>
            <p:spPr>
              <a:xfrm>
                <a:off x="8863012" y="2605088"/>
                <a:ext cx="192786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完善客户关怀与权益体系，提升复购与黏性</a:t>
                </a:r>
              </a:p>
            </p:txBody>
          </p:sp>
        </p:grpSp>
        <p:grpSp>
          <p:nvGrpSpPr>
            <p:cNvPr id="127" name="s3-item-3"/>
            <p:cNvGrpSpPr/>
            <p:nvPr/>
          </p:nvGrpSpPr>
          <p:grpSpPr>
            <a:xfrm>
              <a:off x="8467725" y="3124200"/>
              <a:ext cx="2525077" cy="390526"/>
              <a:chOff x="8467725" y="3124200"/>
              <a:chExt cx="2525077" cy="390526"/>
            </a:xfrm>
          </p:grpSpPr>
          <p:sp>
            <p:nvSpPr>
              <p:cNvPr id="121" name="Ellipse 121"/>
              <p:cNvSpPr/>
              <p:nvPr/>
            </p:nvSpPr>
            <p:spPr>
              <a:xfrm>
                <a:off x="8467725" y="3124200"/>
                <a:ext cx="304800" cy="304800"/>
              </a:xfrm>
              <a:prstGeom prst="ellipse">
                <a:avLst/>
              </a:prstGeom>
              <a:solidFill>
                <a:srgbClr val="B03A1F"/>
              </a:solidFill>
              <a:ln>
                <a:noFill/>
              </a:ln>
            </p:spPr>
          </p:sp>
          <p:grpSp>
            <p:nvGrpSpPr>
              <p:cNvPr id="124" name="Group 124"/>
              <p:cNvGrpSpPr/>
              <p:nvPr/>
            </p:nvGrpSpPr>
            <p:grpSpPr>
              <a:xfrm>
                <a:off x="8554405" y="3219450"/>
                <a:ext cx="124004" cy="114300"/>
                <a:chOff x="8554405" y="3219450"/>
                <a:chExt cx="124004" cy="114300"/>
              </a:xfrm>
            </p:grpSpPr>
            <p:sp>
              <p:nvSpPr>
                <p:cNvPr id="122" name="Freeform 122"/>
                <p:cNvSpPr/>
                <p:nvPr/>
              </p:nvSpPr>
              <p:spPr>
                <a:xfrm>
                  <a:off x="8554405" y="32194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FFFFFF"/>
                  </a:solidFill>
                </a:ln>
              </p:spPr>
            </p:sp>
            <p:sp>
              <p:nvSpPr>
                <p:cNvPr id="123" name="Freeform 123"/>
                <p:cNvSpPr/>
                <p:nvPr/>
              </p:nvSpPr>
              <p:spPr>
                <a:xfrm>
                  <a:off x="8639175" y="330835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125" name="TextBox 125"/>
              <p:cNvSpPr txBox="1"/>
              <p:nvPr/>
            </p:nvSpPr>
            <p:spPr>
              <a:xfrm>
                <a:off x="8863012" y="3146822"/>
                <a:ext cx="1148410"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风险排查与合规强化</a:t>
                </a:r>
              </a:p>
            </p:txBody>
          </p:sp>
          <p:sp>
            <p:nvSpPr>
              <p:cNvPr id="126" name="TextBox 126"/>
              <p:cNvSpPr txBox="1"/>
              <p:nvPr/>
            </p:nvSpPr>
            <p:spPr>
              <a:xfrm>
                <a:off x="8863012" y="3367088"/>
                <a:ext cx="212979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开展风险排查与合规检查，完善内控与操作规范</a:t>
                </a:r>
              </a:p>
            </p:txBody>
          </p:sp>
        </p:grpSp>
        <p:grpSp>
          <p:nvGrpSpPr>
            <p:cNvPr id="135" name="s3-item-4"/>
            <p:cNvGrpSpPr/>
            <p:nvPr/>
          </p:nvGrpSpPr>
          <p:grpSpPr>
            <a:xfrm>
              <a:off x="8467725" y="3886200"/>
              <a:ext cx="2525077" cy="390526"/>
              <a:chOff x="8467725" y="3886200"/>
              <a:chExt cx="2525077" cy="390526"/>
            </a:xfrm>
          </p:grpSpPr>
          <p:sp>
            <p:nvSpPr>
              <p:cNvPr id="128" name="Ellipse 128"/>
              <p:cNvSpPr/>
              <p:nvPr/>
            </p:nvSpPr>
            <p:spPr>
              <a:xfrm>
                <a:off x="8467725" y="3886200"/>
                <a:ext cx="304800" cy="304800"/>
              </a:xfrm>
              <a:prstGeom prst="ellipse">
                <a:avLst/>
              </a:prstGeom>
              <a:solidFill>
                <a:srgbClr val="B03A1F"/>
              </a:solidFill>
              <a:ln>
                <a:noFill/>
              </a:ln>
            </p:spPr>
          </p:sp>
          <p:grpSp>
            <p:nvGrpSpPr>
              <p:cNvPr id="132" name="Group 132"/>
              <p:cNvGrpSpPr/>
              <p:nvPr/>
            </p:nvGrpSpPr>
            <p:grpSpPr>
              <a:xfrm>
                <a:off x="8565528" y="3981450"/>
                <a:ext cx="109182" cy="113602"/>
                <a:chOff x="8565528" y="3981450"/>
                <a:chExt cx="109182" cy="113602"/>
              </a:xfrm>
            </p:grpSpPr>
            <p:sp>
              <p:nvSpPr>
                <p:cNvPr id="129" name="Freeform 129"/>
                <p:cNvSpPr/>
                <p:nvPr/>
              </p:nvSpPr>
              <p:spPr>
                <a:xfrm>
                  <a:off x="858202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FFFFFF"/>
                  </a:solidFill>
                </a:ln>
              </p:spPr>
            </p:sp>
            <p:sp>
              <p:nvSpPr>
                <p:cNvPr id="130" name="Freeform 130"/>
                <p:cNvSpPr/>
                <p:nvPr/>
              </p:nvSpPr>
              <p:spPr>
                <a:xfrm>
                  <a:off x="8620125" y="4038600"/>
                  <a:ext cx="54585" cy="56452"/>
                </a:xfrm>
                <a:custGeom>
                  <a:avLst/>
                  <a:gdLst/>
                  <a:ahLst/>
                  <a:cxnLst/>
                  <a:rect l="l" t="t" r="r" b="b"/>
                  <a:pathLst>
                    <a:path w="54585" h="56452">
                      <a:moveTo>
                        <a:pt x="0" y="19050"/>
                      </a:moveTo>
                      <a:lnTo>
                        <a:pt x="21590" y="56452"/>
                      </a:lnTo>
                      <a:lnTo>
                        <a:pt x="31737" y="35922"/>
                      </a:lnTo>
                      <a:lnTo>
                        <a:pt x="54585" y="37395"/>
                      </a:lnTo>
                      <a:lnTo>
                        <a:pt x="32995" y="0"/>
                      </a:lnTo>
                    </a:path>
                  </a:pathLst>
                </a:custGeom>
                <a:noFill/>
                <a:ln w="12700">
                  <a:solidFill>
                    <a:srgbClr val="FFFFFF"/>
                  </a:solidFill>
                </a:ln>
              </p:spPr>
            </p:sp>
            <p:sp>
              <p:nvSpPr>
                <p:cNvPr id="131" name="Freeform 131"/>
                <p:cNvSpPr/>
                <p:nvPr/>
              </p:nvSpPr>
              <p:spPr>
                <a:xfrm>
                  <a:off x="8565528" y="4038600"/>
                  <a:ext cx="54585" cy="56445"/>
                </a:xfrm>
                <a:custGeom>
                  <a:avLst/>
                  <a:gdLst/>
                  <a:ahLst/>
                  <a:cxnLst/>
                  <a:rect l="l" t="t" r="r" b="b"/>
                  <a:pathLst>
                    <a:path w="54585" h="56445">
                      <a:moveTo>
                        <a:pt x="21590" y="0"/>
                      </a:moveTo>
                      <a:lnTo>
                        <a:pt x="0" y="37402"/>
                      </a:lnTo>
                      <a:lnTo>
                        <a:pt x="22847" y="35922"/>
                      </a:lnTo>
                      <a:lnTo>
                        <a:pt x="32995" y="56445"/>
                      </a:lnTo>
                      <a:lnTo>
                        <a:pt x="54585" y="19050"/>
                      </a:lnTo>
                    </a:path>
                  </a:pathLst>
                </a:custGeom>
                <a:noFill/>
                <a:ln w="12700">
                  <a:solidFill>
                    <a:srgbClr val="FFFFFF"/>
                  </a:solidFill>
                </a:ln>
              </p:spPr>
            </p:sp>
          </p:grpSp>
          <p:sp>
            <p:nvSpPr>
              <p:cNvPr id="133" name="TextBox 133"/>
              <p:cNvSpPr txBox="1"/>
              <p:nvPr/>
            </p:nvSpPr>
            <p:spPr>
              <a:xfrm>
                <a:off x="8863012" y="3908822"/>
                <a:ext cx="1148410"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能力认证与机制固化</a:t>
                </a:r>
              </a:p>
            </p:txBody>
          </p:sp>
          <p:sp>
            <p:nvSpPr>
              <p:cNvPr id="134" name="TextBox 134"/>
              <p:cNvSpPr txBox="1"/>
              <p:nvPr/>
            </p:nvSpPr>
            <p:spPr>
              <a:xfrm>
                <a:off x="8863012" y="4129088"/>
                <a:ext cx="2129790"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组织能力认证与经验沉淀，固化机制与考核闭环</a:t>
                </a:r>
              </a:p>
            </p:txBody>
          </p:sp>
        </p:grpSp>
        <p:grpSp>
          <p:nvGrpSpPr>
            <p:cNvPr id="143" name="s3-item-5"/>
            <p:cNvGrpSpPr/>
            <p:nvPr/>
          </p:nvGrpSpPr>
          <p:grpSpPr>
            <a:xfrm>
              <a:off x="8467725" y="4648200"/>
              <a:ext cx="2520505" cy="390526"/>
              <a:chOff x="8467725" y="4648200"/>
              <a:chExt cx="2520505" cy="390526"/>
            </a:xfrm>
          </p:grpSpPr>
          <p:sp>
            <p:nvSpPr>
              <p:cNvPr id="136" name="Ellipse 136"/>
              <p:cNvSpPr/>
              <p:nvPr/>
            </p:nvSpPr>
            <p:spPr>
              <a:xfrm>
                <a:off x="8467725" y="4648200"/>
                <a:ext cx="304800" cy="304800"/>
              </a:xfrm>
              <a:prstGeom prst="ellipse">
                <a:avLst/>
              </a:prstGeom>
              <a:solidFill>
                <a:srgbClr val="B03A1F"/>
              </a:solidFill>
              <a:ln>
                <a:noFill/>
              </a:ln>
            </p:spPr>
          </p:sp>
          <p:grpSp>
            <p:nvGrpSpPr>
              <p:cNvPr id="140" name="Group 140"/>
              <p:cNvGrpSpPr/>
              <p:nvPr/>
            </p:nvGrpSpPr>
            <p:grpSpPr>
              <a:xfrm>
                <a:off x="8575675" y="4749800"/>
                <a:ext cx="88900" cy="101600"/>
                <a:chOff x="8575675" y="4749800"/>
                <a:chExt cx="88900" cy="101600"/>
              </a:xfrm>
            </p:grpSpPr>
            <p:sp>
              <p:nvSpPr>
                <p:cNvPr id="137" name="Freeform 137"/>
                <p:cNvSpPr/>
                <p:nvPr/>
              </p:nvSpPr>
              <p:spPr>
                <a:xfrm>
                  <a:off x="8575675" y="4749800"/>
                  <a:ext cx="88900" cy="101600"/>
                </a:xfrm>
                <a:custGeom>
                  <a:avLst/>
                  <a:gdLst/>
                  <a:ahLst/>
                  <a:cxnLst/>
                  <a:rect l="l" t="t" r="r" b="b"/>
                  <a:pathLst>
                    <a:path w="88900" h="101600">
                      <a:moveTo>
                        <a:pt x="88900" y="0"/>
                      </a:moveTo>
                      <a:lnTo>
                        <a:pt x="88900" y="101600"/>
                      </a:lnTo>
                      <a:lnTo>
                        <a:pt x="12700" y="101600"/>
                      </a:lnTo>
                      <a:cubicBezTo>
                        <a:pt x="5686" y="101600"/>
                        <a:pt x="0" y="95914"/>
                        <a:pt x="0" y="88900"/>
                      </a:cubicBezTo>
                      <a:lnTo>
                        <a:pt x="0" y="12700"/>
                      </a:lnTo>
                      <a:cubicBezTo>
                        <a:pt x="0" y="5686"/>
                        <a:pt x="5686" y="0"/>
                        <a:pt x="12700" y="0"/>
                      </a:cubicBezTo>
                      <a:lnTo>
                        <a:pt x="88900" y="0"/>
                      </a:lnTo>
                    </a:path>
                  </a:pathLst>
                </a:custGeom>
                <a:noFill/>
                <a:ln w="12700">
                  <a:solidFill>
                    <a:srgbClr val="FFFFFF"/>
                  </a:solidFill>
                </a:ln>
              </p:spPr>
            </p:sp>
            <p:sp>
              <p:nvSpPr>
                <p:cNvPr id="138" name="Freeform 138"/>
                <p:cNvSpPr/>
                <p:nvPr/>
              </p:nvSpPr>
              <p:spPr>
                <a:xfrm>
                  <a:off x="8575675" y="4826000"/>
                  <a:ext cx="88900" cy="12700"/>
                </a:xfrm>
                <a:custGeom>
                  <a:avLst/>
                  <a:gdLst/>
                  <a:ahLst/>
                  <a:cxnLst/>
                  <a:rect l="l" t="t" r="r" b="b"/>
                  <a:pathLst>
                    <a:path w="88900" h="12700">
                      <a:moveTo>
                        <a:pt x="88900" y="0"/>
                      </a:moveTo>
                      <a:lnTo>
                        <a:pt x="12700" y="0"/>
                      </a:lnTo>
                      <a:cubicBezTo>
                        <a:pt x="5686" y="0"/>
                        <a:pt x="0" y="5686"/>
                        <a:pt x="0" y="12700"/>
                      </a:cubicBezTo>
                    </a:path>
                  </a:pathLst>
                </a:custGeom>
                <a:noFill/>
                <a:ln w="12700">
                  <a:solidFill>
                    <a:srgbClr val="FFFFFF"/>
                  </a:solidFill>
                </a:ln>
              </p:spPr>
            </p:sp>
            <p:sp>
              <p:nvSpPr>
                <p:cNvPr id="139" name="Freeform 139"/>
                <p:cNvSpPr/>
                <p:nvPr/>
              </p:nvSpPr>
              <p:spPr>
                <a:xfrm>
                  <a:off x="8601075" y="4775200"/>
                  <a:ext cx="38100" cy="9525"/>
                </a:xfrm>
                <a:custGeom>
                  <a:avLst/>
                  <a:gdLst/>
                  <a:ahLst/>
                  <a:cxnLst/>
                  <a:rect l="l" t="t" r="r" b="b"/>
                  <a:pathLst>
                    <a:path w="38100" h="9525">
                      <a:moveTo>
                        <a:pt x="0" y="0"/>
                      </a:moveTo>
                      <a:lnTo>
                        <a:pt x="38100" y="0"/>
                      </a:lnTo>
                    </a:path>
                  </a:pathLst>
                </a:custGeom>
                <a:noFill/>
                <a:ln w="12700">
                  <a:solidFill>
                    <a:srgbClr val="FFFFFF"/>
                  </a:solidFill>
                </a:ln>
              </p:spPr>
            </p:sp>
          </p:grpSp>
          <p:sp>
            <p:nvSpPr>
              <p:cNvPr id="141" name="TextBox 141"/>
              <p:cNvSpPr txBox="1"/>
              <p:nvPr/>
            </p:nvSpPr>
            <p:spPr>
              <a:xfrm>
                <a:off x="8863012" y="4670822"/>
                <a:ext cx="1021867"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可复制的作战手册</a:t>
                </a:r>
              </a:p>
            </p:txBody>
          </p:sp>
          <p:sp>
            <p:nvSpPr>
              <p:cNvPr id="142" name="TextBox 142"/>
              <p:cNvSpPr txBox="1"/>
              <p:nvPr/>
            </p:nvSpPr>
            <p:spPr>
              <a:xfrm>
                <a:off x="8863012" y="4891088"/>
                <a:ext cx="2125218" cy="147638"/>
              </a:xfrm>
              <a:prstGeom prst="rect">
                <a:avLst/>
              </a:prstGeom>
              <a:noFill/>
              <a:ln>
                <a:noFill/>
              </a:ln>
            </p:spPr>
            <p:txBody>
              <a:bodyPr wrap="none" lIns="0" tIns="0" rIns="0" bIns="0" anchor="t" anchorCtr="0">
                <a:spAutoFit/>
              </a:bodyPr>
              <a:lstStyle/>
              <a:p>
                <a:pPr algn="l"/>
                <a:r>
                  <a:rPr lang="zh-CN" sz="750" dirty="0">
                    <a:solidFill>
                      <a:srgbClr val="6A6A6A"/>
                    </a:solidFill>
                    <a:latin typeface="+mn-lt"/>
                    <a:ea typeface="+mn-ea"/>
                    <a:cs typeface="+mn-cs"/>
                  </a:rPr>
                  <a:t>沉淀打法、话术与SOP，形成可复制的作战手册</a:t>
                </a:r>
              </a:p>
            </p:txBody>
          </p:sp>
        </p:grpSp>
      </p:grpSp>
      <p:grpSp>
        <p:nvGrpSpPr>
          <p:cNvPr id="205" name="deliverables"/>
          <p:cNvGrpSpPr/>
          <p:nvPr/>
        </p:nvGrpSpPr>
        <p:grpSpPr>
          <a:xfrm>
            <a:off x="200025" y="5448300"/>
            <a:ext cx="11839575" cy="1219200"/>
            <a:chOff x="200025" y="5448300"/>
            <a:chExt cx="11839575" cy="1219200"/>
          </a:xfrm>
        </p:grpSpPr>
        <p:sp>
          <p:nvSpPr>
            <p:cNvPr id="145" name="Rectangle 145"/>
            <p:cNvSpPr/>
            <p:nvPr/>
          </p:nvSpPr>
          <p:spPr>
            <a:xfrm>
              <a:off x="200025" y="5448300"/>
              <a:ext cx="685800" cy="1219200"/>
            </a:xfrm>
            <a:prstGeom prst="rect">
              <a:avLst/>
            </a:prstGeom>
            <a:solidFill>
              <a:srgbClr val="B03A1F"/>
            </a:solidFill>
            <a:ln>
              <a:noFill/>
            </a:ln>
          </p:spPr>
        </p:sp>
        <p:sp>
          <p:nvSpPr>
            <p:cNvPr id="146" name="TextBox 146"/>
            <p:cNvSpPr txBox="1"/>
            <p:nvPr/>
          </p:nvSpPr>
          <p:spPr>
            <a:xfrm>
              <a:off x="396240" y="587787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关键</a:t>
              </a:r>
            </a:p>
          </p:txBody>
        </p:sp>
        <p:sp>
          <p:nvSpPr>
            <p:cNvPr id="147" name="TextBox 147"/>
            <p:cNvSpPr txBox="1"/>
            <p:nvPr/>
          </p:nvSpPr>
          <p:spPr>
            <a:xfrm>
              <a:off x="396240" y="608742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交付</a:t>
              </a:r>
            </a:p>
          </p:txBody>
        </p:sp>
        <p:sp>
          <p:nvSpPr>
            <p:cNvPr id="148" name="Rectangle 148"/>
            <p:cNvSpPr/>
            <p:nvPr/>
          </p:nvSpPr>
          <p:spPr>
            <a:xfrm>
              <a:off x="962025" y="5448300"/>
              <a:ext cx="11077575" cy="1219200"/>
            </a:xfrm>
            <a:prstGeom prst="rect">
              <a:avLst/>
            </a:prstGeom>
            <a:solidFill>
              <a:srgbClr val="FFFFFF"/>
            </a:solidFill>
            <a:ln w="9525">
              <a:solidFill>
                <a:srgbClr val="E5E0DC"/>
              </a:solidFill>
            </a:ln>
          </p:spPr>
        </p:sp>
        <p:grpSp>
          <p:nvGrpSpPr>
            <p:cNvPr id="157" name="del-1"/>
            <p:cNvGrpSpPr/>
            <p:nvPr/>
          </p:nvGrpSpPr>
          <p:grpSpPr>
            <a:xfrm>
              <a:off x="1181100" y="5724525"/>
              <a:ext cx="882408" cy="689134"/>
              <a:chOff x="1181100" y="5724525"/>
              <a:chExt cx="882408" cy="689134"/>
            </a:xfrm>
          </p:grpSpPr>
          <p:sp>
            <p:nvSpPr>
              <p:cNvPr id="149" name="Ellipse 149"/>
              <p:cNvSpPr/>
              <p:nvPr/>
            </p:nvSpPr>
            <p:spPr>
              <a:xfrm>
                <a:off x="1181100" y="5724525"/>
                <a:ext cx="285750" cy="285750"/>
              </a:xfrm>
              <a:prstGeom prst="ellipse">
                <a:avLst/>
              </a:prstGeom>
              <a:solidFill>
                <a:srgbClr val="B03A1F"/>
              </a:solidFill>
              <a:ln>
                <a:noFill/>
              </a:ln>
            </p:spPr>
          </p:sp>
          <p:grpSp>
            <p:nvGrpSpPr>
              <p:cNvPr id="154" name="Group 154"/>
              <p:cNvGrpSpPr/>
              <p:nvPr/>
            </p:nvGrpSpPr>
            <p:grpSpPr>
              <a:xfrm>
                <a:off x="1266825" y="5810250"/>
                <a:ext cx="114300" cy="114301"/>
                <a:chOff x="1266825" y="5810250"/>
                <a:chExt cx="114300" cy="114301"/>
              </a:xfrm>
            </p:grpSpPr>
            <p:sp>
              <p:nvSpPr>
                <p:cNvPr id="150" name="Freeform 150"/>
                <p:cNvSpPr/>
                <p:nvPr/>
              </p:nvSpPr>
              <p:spPr>
                <a:xfrm>
                  <a:off x="1279525" y="58102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51" name="Freeform 151"/>
                <p:cNvSpPr/>
                <p:nvPr/>
              </p:nvSpPr>
              <p:spPr>
                <a:xfrm>
                  <a:off x="1266825" y="58864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152" name="Freeform 152"/>
                <p:cNvSpPr/>
                <p:nvPr/>
              </p:nvSpPr>
              <p:spPr>
                <a:xfrm>
                  <a:off x="1349375" y="58110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153" name="Freeform 153"/>
                <p:cNvSpPr/>
                <p:nvPr/>
              </p:nvSpPr>
              <p:spPr>
                <a:xfrm>
                  <a:off x="1362075" y="58874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155" name="TextBox 155"/>
              <p:cNvSpPr txBox="1"/>
              <p:nvPr/>
            </p:nvSpPr>
            <p:spPr>
              <a:xfrm>
                <a:off x="1547812" y="5813822"/>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客群名单</a:t>
                </a:r>
              </a:p>
            </p:txBody>
          </p:sp>
          <p:sp>
            <p:nvSpPr>
              <p:cNvPr id="156" name="TextBox 156"/>
              <p:cNvSpPr txBox="1"/>
              <p:nvPr/>
            </p:nvSpPr>
            <p:spPr>
              <a:xfrm>
                <a:off x="1223962" y="6118384"/>
                <a:ext cx="786765" cy="295275"/>
              </a:xfrm>
              <a:prstGeom prst="rect">
                <a:avLst/>
              </a:prstGeom>
              <a:noFill/>
              <a:ln>
                <a:noFill/>
              </a:ln>
            </p:spPr>
            <p:txBody>
              <a:bodyPr wrap="none" lIns="0" tIns="0" rIns="0" bIns="0" anchor="t" anchorCtr="0">
                <a:spAutoFit/>
              </a:bodyPr>
              <a:lstStyle/>
              <a:p>
                <a:pPr algn="l">
                  <a:lnSpc>
                    <a:spcPts val="1275"/>
                  </a:lnSpc>
                </a:pPr>
                <a:r>
                  <a:rPr lang="zh-CN" sz="680" dirty="0">
                    <a:solidFill>
                      <a:srgbClr val="6A6A6A"/>
                    </a:solidFill>
                    <a:latin typeface="+mn-lt"/>
                    <a:ea typeface="+mn-ea"/>
                    <a:cs typeface="+mn-cs"/>
                  </a:rPr>
                  <a:t>分层分类客群名单、</a:t>
                </a:r>
                <a:br/>
                <a:r>
                  <a:rPr lang="zh-CN" sz="680" dirty="0">
                    <a:solidFill>
                      <a:srgbClr val="6A6A6A"/>
                    </a:solidFill>
                    <a:latin typeface="+mn-lt"/>
                    <a:ea typeface="+mn-ea"/>
                    <a:cs typeface="+mn-cs"/>
                  </a:rPr>
                  <a:t>标签与触达策略</a:t>
                </a:r>
              </a:p>
            </p:txBody>
          </p:sp>
        </p:grpSp>
        <p:grpSp>
          <p:nvGrpSpPr>
            <p:cNvPr id="165" name="del-2"/>
            <p:cNvGrpSpPr/>
            <p:nvPr/>
          </p:nvGrpSpPr>
          <p:grpSpPr>
            <a:xfrm>
              <a:off x="2990850" y="5724525"/>
              <a:ext cx="882408" cy="689134"/>
              <a:chOff x="2990850" y="5724525"/>
              <a:chExt cx="882408" cy="689134"/>
            </a:xfrm>
          </p:grpSpPr>
          <p:sp>
            <p:nvSpPr>
              <p:cNvPr id="158" name="Ellipse 158"/>
              <p:cNvSpPr/>
              <p:nvPr/>
            </p:nvSpPr>
            <p:spPr>
              <a:xfrm>
                <a:off x="2990850" y="5724525"/>
                <a:ext cx="285750" cy="285750"/>
              </a:xfrm>
              <a:prstGeom prst="ellipse">
                <a:avLst/>
              </a:prstGeom>
              <a:solidFill>
                <a:srgbClr val="B03A1F"/>
              </a:solidFill>
              <a:ln>
                <a:noFill/>
              </a:ln>
            </p:spPr>
          </p:sp>
          <p:grpSp>
            <p:nvGrpSpPr>
              <p:cNvPr id="162" name="Group 162"/>
              <p:cNvGrpSpPr/>
              <p:nvPr/>
            </p:nvGrpSpPr>
            <p:grpSpPr>
              <a:xfrm>
                <a:off x="3076575" y="5816600"/>
                <a:ext cx="114300" cy="101600"/>
                <a:chOff x="3076575" y="5816600"/>
                <a:chExt cx="114300" cy="101600"/>
              </a:xfrm>
            </p:grpSpPr>
            <p:sp>
              <p:nvSpPr>
                <p:cNvPr id="159" name="Freeform 159"/>
                <p:cNvSpPr/>
                <p:nvPr/>
              </p:nvSpPr>
              <p:spPr>
                <a:xfrm>
                  <a:off x="3076575" y="5816600"/>
                  <a:ext cx="114300" cy="101600"/>
                </a:xfrm>
                <a:custGeom>
                  <a:avLst/>
                  <a:gdLst/>
                  <a:ahLst/>
                  <a:cxnLst/>
                  <a:rect l="l" t="t" r="r" b="b"/>
                  <a:pathLst>
                    <a:path w="114300" h="101600">
                      <a:moveTo>
                        <a:pt x="0" y="19050"/>
                      </a:moveTo>
                      <a:lnTo>
                        <a:pt x="38100" y="0"/>
                      </a:lnTo>
                      <a:lnTo>
                        <a:pt x="76200" y="19050"/>
                      </a:lnTo>
                      <a:lnTo>
                        <a:pt x="114300" y="0"/>
                      </a:lnTo>
                      <a:lnTo>
                        <a:pt x="114300" y="82550"/>
                      </a:lnTo>
                      <a:lnTo>
                        <a:pt x="76200" y="101600"/>
                      </a:lnTo>
                      <a:lnTo>
                        <a:pt x="38100" y="82550"/>
                      </a:lnTo>
                      <a:lnTo>
                        <a:pt x="0" y="101600"/>
                      </a:lnTo>
                      <a:lnTo>
                        <a:pt x="0" y="19050"/>
                      </a:lnTo>
                    </a:path>
                  </a:pathLst>
                </a:custGeom>
                <a:noFill/>
                <a:ln w="12700">
                  <a:solidFill>
                    <a:srgbClr val="FFFFFF"/>
                  </a:solidFill>
                </a:ln>
              </p:spPr>
            </p:sp>
            <p:sp>
              <p:nvSpPr>
                <p:cNvPr id="160" name="Freeform 160"/>
                <p:cNvSpPr/>
                <p:nvPr/>
              </p:nvSpPr>
              <p:spPr>
                <a:xfrm>
                  <a:off x="3114675" y="5816600"/>
                  <a:ext cx="9525" cy="82550"/>
                </a:xfrm>
                <a:custGeom>
                  <a:avLst/>
                  <a:gdLst/>
                  <a:ahLst/>
                  <a:cxnLst/>
                  <a:rect l="l" t="t" r="r" b="b"/>
                  <a:pathLst>
                    <a:path w="9525" h="82550">
                      <a:moveTo>
                        <a:pt x="0" y="0"/>
                      </a:moveTo>
                      <a:lnTo>
                        <a:pt x="0" y="82550"/>
                      </a:lnTo>
                    </a:path>
                  </a:pathLst>
                </a:custGeom>
                <a:noFill/>
                <a:ln w="12700">
                  <a:solidFill>
                    <a:srgbClr val="FFFFFF"/>
                  </a:solidFill>
                </a:ln>
              </p:spPr>
            </p:sp>
            <p:sp>
              <p:nvSpPr>
                <p:cNvPr id="161" name="Freeform 161"/>
                <p:cNvSpPr/>
                <p:nvPr/>
              </p:nvSpPr>
              <p:spPr>
                <a:xfrm>
                  <a:off x="3152775" y="5835650"/>
                  <a:ext cx="9525" cy="82550"/>
                </a:xfrm>
                <a:custGeom>
                  <a:avLst/>
                  <a:gdLst/>
                  <a:ahLst/>
                  <a:cxnLst/>
                  <a:rect l="l" t="t" r="r" b="b"/>
                  <a:pathLst>
                    <a:path w="9525" h="82550">
                      <a:moveTo>
                        <a:pt x="0" y="0"/>
                      </a:moveTo>
                      <a:lnTo>
                        <a:pt x="0" y="82550"/>
                      </a:lnTo>
                    </a:path>
                  </a:pathLst>
                </a:custGeom>
                <a:noFill/>
                <a:ln w="12700">
                  <a:solidFill>
                    <a:srgbClr val="FFFFFF"/>
                  </a:solidFill>
                </a:ln>
              </p:spPr>
            </p:sp>
          </p:grpSp>
          <p:sp>
            <p:nvSpPr>
              <p:cNvPr id="163" name="TextBox 163"/>
              <p:cNvSpPr txBox="1"/>
              <p:nvPr/>
            </p:nvSpPr>
            <p:spPr>
              <a:xfrm>
                <a:off x="3357562" y="5813822"/>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作战地图</a:t>
                </a:r>
              </a:p>
            </p:txBody>
          </p:sp>
          <p:sp>
            <p:nvSpPr>
              <p:cNvPr id="164" name="TextBox 164"/>
              <p:cNvSpPr txBox="1"/>
              <p:nvPr/>
            </p:nvSpPr>
            <p:spPr>
              <a:xfrm>
                <a:off x="3033712" y="6118384"/>
                <a:ext cx="834263" cy="295275"/>
              </a:xfrm>
              <a:prstGeom prst="rect">
                <a:avLst/>
              </a:prstGeom>
              <a:noFill/>
              <a:ln>
                <a:noFill/>
              </a:ln>
            </p:spPr>
            <p:txBody>
              <a:bodyPr wrap="none" lIns="0" tIns="0" rIns="0" bIns="0" anchor="t" anchorCtr="0">
                <a:spAutoFit/>
              </a:bodyPr>
              <a:lstStyle/>
              <a:p>
                <a:pPr algn="l">
                  <a:lnSpc>
                    <a:spcPts val="1275"/>
                  </a:lnSpc>
                </a:pPr>
                <a:r>
                  <a:rPr lang="zh-CN" sz="680" dirty="0">
                    <a:solidFill>
                      <a:srgbClr val="6A6A6A"/>
                    </a:solidFill>
                    <a:latin typeface="+mn-lt"/>
                    <a:ea typeface="+mn-ea"/>
                    <a:cs typeface="+mn-cs"/>
                  </a:rPr>
                  <a:t>区域/客群作战地图、</a:t>
                </a:r>
                <a:br/>
                <a:r>
                  <a:rPr lang="zh-CN" sz="680" dirty="0">
                    <a:solidFill>
                      <a:srgbClr val="6A6A6A"/>
                    </a:solidFill>
                    <a:latin typeface="+mn-lt"/>
                    <a:ea typeface="+mn-ea"/>
                    <a:cs typeface="+mn-cs"/>
                  </a:rPr>
                  <a:t>资源与动作分布</a:t>
                </a:r>
              </a:p>
            </p:txBody>
          </p:sp>
        </p:grpSp>
        <p:grpSp>
          <p:nvGrpSpPr>
            <p:cNvPr id="176" name="del-3"/>
            <p:cNvGrpSpPr/>
            <p:nvPr/>
          </p:nvGrpSpPr>
          <p:grpSpPr>
            <a:xfrm>
              <a:off x="4800600" y="5724525"/>
              <a:ext cx="915987" cy="689134"/>
              <a:chOff x="4800600" y="5724525"/>
              <a:chExt cx="915987" cy="689134"/>
            </a:xfrm>
          </p:grpSpPr>
          <p:sp>
            <p:nvSpPr>
              <p:cNvPr id="166" name="Ellipse 166"/>
              <p:cNvSpPr/>
              <p:nvPr/>
            </p:nvSpPr>
            <p:spPr>
              <a:xfrm>
                <a:off x="4800600" y="5724525"/>
                <a:ext cx="285750" cy="285750"/>
              </a:xfrm>
              <a:prstGeom prst="ellipse">
                <a:avLst/>
              </a:prstGeom>
              <a:solidFill>
                <a:srgbClr val="B03A1F"/>
              </a:solidFill>
              <a:ln>
                <a:noFill/>
              </a:ln>
            </p:spPr>
          </p:sp>
          <p:grpSp>
            <p:nvGrpSpPr>
              <p:cNvPr id="173" name="Group 173"/>
              <p:cNvGrpSpPr/>
              <p:nvPr/>
            </p:nvGrpSpPr>
            <p:grpSpPr>
              <a:xfrm>
                <a:off x="4892675" y="5810250"/>
                <a:ext cx="101600" cy="114300"/>
                <a:chOff x="4892675" y="5810250"/>
                <a:chExt cx="101600" cy="114300"/>
              </a:xfrm>
            </p:grpSpPr>
            <p:sp>
              <p:nvSpPr>
                <p:cNvPr id="167" name="Freeform 167"/>
                <p:cNvSpPr/>
                <p:nvPr/>
              </p:nvSpPr>
              <p:spPr>
                <a:xfrm>
                  <a:off x="4892675" y="5822950"/>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FFFFFF"/>
                  </a:solidFill>
                </a:ln>
              </p:spPr>
            </p:sp>
            <p:sp>
              <p:nvSpPr>
                <p:cNvPr id="168" name="Freeform 168"/>
                <p:cNvSpPr/>
                <p:nvPr/>
              </p:nvSpPr>
              <p:spPr>
                <a:xfrm>
                  <a:off x="4968875" y="5810250"/>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169" name="Freeform 169"/>
                <p:cNvSpPr/>
                <p:nvPr/>
              </p:nvSpPr>
              <p:spPr>
                <a:xfrm>
                  <a:off x="4918075" y="5810250"/>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170" name="Freeform 170"/>
                <p:cNvSpPr/>
                <p:nvPr/>
              </p:nvSpPr>
              <p:spPr>
                <a:xfrm>
                  <a:off x="4892675" y="5861050"/>
                  <a:ext cx="101600" cy="9525"/>
                </a:xfrm>
                <a:custGeom>
                  <a:avLst/>
                  <a:gdLst/>
                  <a:ahLst/>
                  <a:cxnLst/>
                  <a:rect l="l" t="t" r="r" b="b"/>
                  <a:pathLst>
                    <a:path w="101600" h="9525">
                      <a:moveTo>
                        <a:pt x="0" y="0"/>
                      </a:moveTo>
                      <a:lnTo>
                        <a:pt x="101600" y="0"/>
                      </a:lnTo>
                    </a:path>
                  </a:pathLst>
                </a:custGeom>
                <a:noFill/>
                <a:ln w="12700">
                  <a:solidFill>
                    <a:srgbClr val="FFFFFF"/>
                  </a:solidFill>
                </a:ln>
              </p:spPr>
            </p:sp>
            <p:sp>
              <p:nvSpPr>
                <p:cNvPr id="171" name="Freeform 171"/>
                <p:cNvSpPr/>
                <p:nvPr/>
              </p:nvSpPr>
              <p:spPr>
                <a:xfrm>
                  <a:off x="4937125" y="5886450"/>
                  <a:ext cx="9525" cy="9525"/>
                </a:xfrm>
                <a:custGeom>
                  <a:avLst/>
                  <a:gdLst/>
                  <a:ahLst/>
                  <a:cxnLst/>
                  <a:rect l="l" t="t" r="r" b="b"/>
                  <a:pathLst>
                    <a:path w="9525" h="9525">
                      <a:moveTo>
                        <a:pt x="0" y="0"/>
                      </a:moveTo>
                      <a:lnTo>
                        <a:pt x="6350" y="0"/>
                      </a:lnTo>
                    </a:path>
                  </a:pathLst>
                </a:custGeom>
                <a:noFill/>
                <a:ln w="12700">
                  <a:solidFill>
                    <a:srgbClr val="FFFFFF"/>
                  </a:solidFill>
                </a:ln>
              </p:spPr>
            </p:sp>
            <p:sp>
              <p:nvSpPr>
                <p:cNvPr id="172" name="Freeform 172"/>
                <p:cNvSpPr/>
                <p:nvPr/>
              </p:nvSpPr>
              <p:spPr>
                <a:xfrm>
                  <a:off x="4943475" y="5886450"/>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174" name="TextBox 174"/>
              <p:cNvSpPr txBox="1"/>
              <p:nvPr/>
            </p:nvSpPr>
            <p:spPr>
              <a:xfrm>
                <a:off x="5167312" y="5813822"/>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活动方案</a:t>
                </a:r>
              </a:p>
            </p:txBody>
          </p:sp>
          <p:sp>
            <p:nvSpPr>
              <p:cNvPr id="175" name="TextBox 175"/>
              <p:cNvSpPr txBox="1"/>
              <p:nvPr/>
            </p:nvSpPr>
            <p:spPr>
              <a:xfrm>
                <a:off x="4843462" y="6118384"/>
                <a:ext cx="873125" cy="295275"/>
              </a:xfrm>
              <a:prstGeom prst="rect">
                <a:avLst/>
              </a:prstGeom>
              <a:noFill/>
              <a:ln>
                <a:noFill/>
              </a:ln>
            </p:spPr>
            <p:txBody>
              <a:bodyPr wrap="none" lIns="0" tIns="0" rIns="0" bIns="0" anchor="t" anchorCtr="0">
                <a:spAutoFit/>
              </a:bodyPr>
              <a:lstStyle/>
              <a:p>
                <a:pPr algn="l">
                  <a:lnSpc>
                    <a:spcPts val="1275"/>
                  </a:lnSpc>
                </a:pPr>
                <a:r>
                  <a:rPr lang="zh-CN" sz="680" dirty="0">
                    <a:solidFill>
                      <a:srgbClr val="6A6A6A"/>
                    </a:solidFill>
                    <a:latin typeface="+mn-lt"/>
                    <a:ea typeface="+mn-ea"/>
                    <a:cs typeface="+mn-cs"/>
                  </a:rPr>
                  <a:t>阶段活动方案与节奏、</a:t>
                </a:r>
                <a:br/>
                <a:r>
                  <a:rPr lang="zh-CN" sz="680" dirty="0">
                    <a:solidFill>
                      <a:srgbClr val="6A6A6A"/>
                    </a:solidFill>
                    <a:latin typeface="+mn-lt"/>
                    <a:ea typeface="+mn-ea"/>
                    <a:cs typeface="+mn-cs"/>
                  </a:rPr>
                  <a:t>话术与物料清单</a:t>
                </a:r>
              </a:p>
            </p:txBody>
          </p:sp>
        </p:grpSp>
        <p:grpSp>
          <p:nvGrpSpPr>
            <p:cNvPr id="185" name="del-4"/>
            <p:cNvGrpSpPr/>
            <p:nvPr/>
          </p:nvGrpSpPr>
          <p:grpSpPr>
            <a:xfrm>
              <a:off x="6610350" y="5724525"/>
              <a:ext cx="882408" cy="689134"/>
              <a:chOff x="6610350" y="5724525"/>
              <a:chExt cx="882408" cy="689134"/>
            </a:xfrm>
          </p:grpSpPr>
          <p:sp>
            <p:nvSpPr>
              <p:cNvPr id="177" name="Ellipse 177"/>
              <p:cNvSpPr/>
              <p:nvPr/>
            </p:nvSpPr>
            <p:spPr>
              <a:xfrm>
                <a:off x="6610350" y="5724525"/>
                <a:ext cx="285750" cy="285750"/>
              </a:xfrm>
              <a:prstGeom prst="ellipse">
                <a:avLst/>
              </a:prstGeom>
              <a:solidFill>
                <a:srgbClr val="B03A1F"/>
              </a:solidFill>
              <a:ln>
                <a:noFill/>
              </a:ln>
            </p:spPr>
          </p:sp>
          <p:grpSp>
            <p:nvGrpSpPr>
              <p:cNvPr id="182" name="Group 182"/>
              <p:cNvGrpSpPr/>
              <p:nvPr/>
            </p:nvGrpSpPr>
            <p:grpSpPr>
              <a:xfrm>
                <a:off x="6696075" y="5816600"/>
                <a:ext cx="114300" cy="111125"/>
                <a:chOff x="6696075" y="5816600"/>
                <a:chExt cx="114300" cy="111125"/>
              </a:xfrm>
            </p:grpSpPr>
            <p:sp>
              <p:nvSpPr>
                <p:cNvPr id="178" name="Freeform 178"/>
                <p:cNvSpPr/>
                <p:nvPr/>
              </p:nvSpPr>
              <p:spPr>
                <a:xfrm>
                  <a:off x="6696075" y="5816600"/>
                  <a:ext cx="114300" cy="76200"/>
                </a:xfrm>
                <a:custGeom>
                  <a:avLst/>
                  <a:gdLst/>
                  <a:ahLst/>
                  <a:cxnLst/>
                  <a:rect l="l" t="t" r="r" b="b"/>
                  <a:pathLst>
                    <a:path w="114300" h="76200">
                      <a:moveTo>
                        <a:pt x="0" y="6350"/>
                      </a:moveTo>
                      <a:cubicBezTo>
                        <a:pt x="0" y="2843"/>
                        <a:pt x="2843" y="0"/>
                        <a:pt x="6350" y="0"/>
                      </a:cubicBezTo>
                      <a:lnTo>
                        <a:pt x="107950" y="0"/>
                      </a:lnTo>
                      <a:cubicBezTo>
                        <a:pt x="111457" y="0"/>
                        <a:pt x="114300" y="2843"/>
                        <a:pt x="114300" y="6350"/>
                      </a:cubicBezTo>
                      <a:lnTo>
                        <a:pt x="114300" y="69850"/>
                      </a:lnTo>
                      <a:cubicBezTo>
                        <a:pt x="114300" y="73357"/>
                        <a:pt x="111457" y="76200"/>
                        <a:pt x="107950" y="76200"/>
                      </a:cubicBezTo>
                      <a:lnTo>
                        <a:pt x="6350" y="76200"/>
                      </a:lnTo>
                      <a:cubicBezTo>
                        <a:pt x="2843" y="76200"/>
                        <a:pt x="0" y="73357"/>
                        <a:pt x="0" y="69850"/>
                      </a:cubicBezTo>
                      <a:lnTo>
                        <a:pt x="0" y="6350"/>
                      </a:lnTo>
                    </a:path>
                  </a:pathLst>
                </a:custGeom>
                <a:noFill/>
                <a:ln w="12700">
                  <a:solidFill>
                    <a:srgbClr val="FFFFFF"/>
                  </a:solidFill>
                </a:ln>
              </p:spPr>
            </p:sp>
            <p:sp>
              <p:nvSpPr>
                <p:cNvPr id="179" name="Freeform 179"/>
                <p:cNvSpPr/>
                <p:nvPr/>
              </p:nvSpPr>
              <p:spPr>
                <a:xfrm>
                  <a:off x="6721475" y="5918200"/>
                  <a:ext cx="63500" cy="9525"/>
                </a:xfrm>
                <a:custGeom>
                  <a:avLst/>
                  <a:gdLst/>
                  <a:ahLst/>
                  <a:cxnLst/>
                  <a:rect l="l" t="t" r="r" b="b"/>
                  <a:pathLst>
                    <a:path w="63500" h="9525">
                      <a:moveTo>
                        <a:pt x="0" y="0"/>
                      </a:moveTo>
                      <a:lnTo>
                        <a:pt x="63500" y="0"/>
                      </a:lnTo>
                    </a:path>
                  </a:pathLst>
                </a:custGeom>
                <a:noFill/>
                <a:ln w="12700">
                  <a:solidFill>
                    <a:srgbClr val="FFFFFF"/>
                  </a:solidFill>
                </a:ln>
              </p:spPr>
            </p:sp>
            <p:sp>
              <p:nvSpPr>
                <p:cNvPr id="180" name="Freeform 180"/>
                <p:cNvSpPr/>
                <p:nvPr/>
              </p:nvSpPr>
              <p:spPr>
                <a:xfrm>
                  <a:off x="6734175" y="5892800"/>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181" name="Freeform 181"/>
                <p:cNvSpPr/>
                <p:nvPr/>
              </p:nvSpPr>
              <p:spPr>
                <a:xfrm>
                  <a:off x="6772275" y="5892800"/>
                  <a:ext cx="9525" cy="25400"/>
                </a:xfrm>
                <a:custGeom>
                  <a:avLst/>
                  <a:gdLst/>
                  <a:ahLst/>
                  <a:cxnLst/>
                  <a:rect l="l" t="t" r="r" b="b"/>
                  <a:pathLst>
                    <a:path w="9525" h="25400">
                      <a:moveTo>
                        <a:pt x="0" y="0"/>
                      </a:moveTo>
                      <a:lnTo>
                        <a:pt x="0" y="25400"/>
                      </a:lnTo>
                    </a:path>
                  </a:pathLst>
                </a:custGeom>
                <a:noFill/>
                <a:ln w="12700">
                  <a:solidFill>
                    <a:srgbClr val="FFFFFF"/>
                  </a:solidFill>
                </a:ln>
              </p:spPr>
            </p:sp>
          </p:grpSp>
          <p:sp>
            <p:nvSpPr>
              <p:cNvPr id="183" name="TextBox 183"/>
              <p:cNvSpPr txBox="1"/>
              <p:nvPr/>
            </p:nvSpPr>
            <p:spPr>
              <a:xfrm>
                <a:off x="6977062" y="5813822"/>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经营看板</a:t>
                </a:r>
              </a:p>
            </p:txBody>
          </p:sp>
          <p:sp>
            <p:nvSpPr>
              <p:cNvPr id="184" name="TextBox 184"/>
              <p:cNvSpPr txBox="1"/>
              <p:nvPr/>
            </p:nvSpPr>
            <p:spPr>
              <a:xfrm>
                <a:off x="6653212" y="6118384"/>
                <a:ext cx="614045" cy="295275"/>
              </a:xfrm>
              <a:prstGeom prst="rect">
                <a:avLst/>
              </a:prstGeom>
              <a:noFill/>
              <a:ln>
                <a:noFill/>
              </a:ln>
            </p:spPr>
            <p:txBody>
              <a:bodyPr wrap="none" lIns="0" tIns="0" rIns="0" bIns="0" anchor="t" anchorCtr="0">
                <a:spAutoFit/>
              </a:bodyPr>
              <a:lstStyle/>
              <a:p>
                <a:pPr algn="l">
                  <a:lnSpc>
                    <a:spcPts val="1275"/>
                  </a:lnSpc>
                </a:pPr>
                <a:r>
                  <a:rPr lang="zh-CN" sz="680" dirty="0">
                    <a:solidFill>
                      <a:srgbClr val="6A6A6A"/>
                    </a:solidFill>
                    <a:latin typeface="+mn-lt"/>
                    <a:ea typeface="+mn-ea"/>
                    <a:cs typeface="+mn-cs"/>
                  </a:rPr>
                  <a:t>核心指标看板、</a:t>
                </a:r>
                <a:br/>
                <a:r>
                  <a:rPr lang="zh-CN" sz="680" dirty="0">
                    <a:solidFill>
                      <a:srgbClr val="6A6A6A"/>
                    </a:solidFill>
                    <a:latin typeface="+mn-lt"/>
                    <a:ea typeface="+mn-ea"/>
                    <a:cs typeface="+mn-cs"/>
                  </a:rPr>
                  <a:t>追踪与预警机制</a:t>
                </a:r>
              </a:p>
            </p:txBody>
          </p:sp>
        </p:grpSp>
        <p:grpSp>
          <p:nvGrpSpPr>
            <p:cNvPr id="196" name="del-5"/>
            <p:cNvGrpSpPr/>
            <p:nvPr/>
          </p:nvGrpSpPr>
          <p:grpSpPr>
            <a:xfrm>
              <a:off x="8420100" y="5724525"/>
              <a:ext cx="1002347" cy="689134"/>
              <a:chOff x="8420100" y="5724525"/>
              <a:chExt cx="1002347" cy="689134"/>
            </a:xfrm>
          </p:grpSpPr>
          <p:sp>
            <p:nvSpPr>
              <p:cNvPr id="186" name="Ellipse 186"/>
              <p:cNvSpPr/>
              <p:nvPr/>
            </p:nvSpPr>
            <p:spPr>
              <a:xfrm>
                <a:off x="8420100" y="5724525"/>
                <a:ext cx="285750" cy="285750"/>
              </a:xfrm>
              <a:prstGeom prst="ellipse">
                <a:avLst/>
              </a:prstGeom>
              <a:solidFill>
                <a:srgbClr val="B03A1F"/>
              </a:solidFill>
              <a:ln>
                <a:noFill/>
              </a:ln>
            </p:spPr>
          </p:sp>
          <p:grpSp>
            <p:nvGrpSpPr>
              <p:cNvPr id="193" name="Group 193"/>
              <p:cNvGrpSpPr/>
              <p:nvPr/>
            </p:nvGrpSpPr>
            <p:grpSpPr>
              <a:xfrm>
                <a:off x="8509000" y="5819775"/>
                <a:ext cx="104775" cy="95250"/>
                <a:chOff x="8509000" y="5819775"/>
                <a:chExt cx="104775" cy="95250"/>
              </a:xfrm>
            </p:grpSpPr>
            <p:sp>
              <p:nvSpPr>
                <p:cNvPr id="187" name="Freeform 187"/>
                <p:cNvSpPr/>
                <p:nvPr/>
              </p:nvSpPr>
              <p:spPr>
                <a:xfrm>
                  <a:off x="8509000" y="5819775"/>
                  <a:ext cx="25400" cy="15875"/>
                </a:xfrm>
                <a:custGeom>
                  <a:avLst/>
                  <a:gdLst/>
                  <a:ahLst/>
                  <a:cxnLst/>
                  <a:rect l="l" t="t" r="r" b="b"/>
                  <a:pathLst>
                    <a:path w="25400" h="15875">
                      <a:moveTo>
                        <a:pt x="0" y="6350"/>
                      </a:moveTo>
                      <a:lnTo>
                        <a:pt x="9525" y="15875"/>
                      </a:lnTo>
                      <a:lnTo>
                        <a:pt x="25400" y="0"/>
                      </a:lnTo>
                    </a:path>
                  </a:pathLst>
                </a:custGeom>
                <a:noFill/>
                <a:ln w="12700">
                  <a:solidFill>
                    <a:srgbClr val="FFFFFF"/>
                  </a:solidFill>
                </a:ln>
              </p:spPr>
            </p:sp>
            <p:sp>
              <p:nvSpPr>
                <p:cNvPr id="188" name="Freeform 188"/>
                <p:cNvSpPr/>
                <p:nvPr/>
              </p:nvSpPr>
              <p:spPr>
                <a:xfrm>
                  <a:off x="8509000" y="5857875"/>
                  <a:ext cx="25400" cy="15875"/>
                </a:xfrm>
                <a:custGeom>
                  <a:avLst/>
                  <a:gdLst/>
                  <a:ahLst/>
                  <a:cxnLst/>
                  <a:rect l="l" t="t" r="r" b="b"/>
                  <a:pathLst>
                    <a:path w="25400" h="15875">
                      <a:moveTo>
                        <a:pt x="0" y="6350"/>
                      </a:moveTo>
                      <a:lnTo>
                        <a:pt x="9525" y="15875"/>
                      </a:lnTo>
                      <a:lnTo>
                        <a:pt x="25400" y="0"/>
                      </a:lnTo>
                    </a:path>
                  </a:pathLst>
                </a:custGeom>
                <a:noFill/>
                <a:ln w="12700">
                  <a:solidFill>
                    <a:srgbClr val="FFFFFF"/>
                  </a:solidFill>
                </a:ln>
              </p:spPr>
            </p:sp>
            <p:sp>
              <p:nvSpPr>
                <p:cNvPr id="189" name="Freeform 189"/>
                <p:cNvSpPr/>
                <p:nvPr/>
              </p:nvSpPr>
              <p:spPr>
                <a:xfrm>
                  <a:off x="8509000" y="5895975"/>
                  <a:ext cx="25400" cy="15875"/>
                </a:xfrm>
                <a:custGeom>
                  <a:avLst/>
                  <a:gdLst/>
                  <a:ahLst/>
                  <a:cxnLst/>
                  <a:rect l="l" t="t" r="r" b="b"/>
                  <a:pathLst>
                    <a:path w="25400" h="15875">
                      <a:moveTo>
                        <a:pt x="0" y="6350"/>
                      </a:moveTo>
                      <a:lnTo>
                        <a:pt x="9525" y="15875"/>
                      </a:lnTo>
                      <a:lnTo>
                        <a:pt x="25400" y="0"/>
                      </a:lnTo>
                    </a:path>
                  </a:pathLst>
                </a:custGeom>
                <a:noFill/>
                <a:ln w="12700">
                  <a:solidFill>
                    <a:srgbClr val="FFFFFF"/>
                  </a:solidFill>
                </a:ln>
              </p:spPr>
            </p:sp>
            <p:sp>
              <p:nvSpPr>
                <p:cNvPr id="190" name="Freeform 190"/>
                <p:cNvSpPr/>
                <p:nvPr/>
              </p:nvSpPr>
              <p:spPr>
                <a:xfrm>
                  <a:off x="8556625" y="5829300"/>
                  <a:ext cx="57150" cy="9525"/>
                </a:xfrm>
                <a:custGeom>
                  <a:avLst/>
                  <a:gdLst/>
                  <a:ahLst/>
                  <a:cxnLst/>
                  <a:rect l="l" t="t" r="r" b="b"/>
                  <a:pathLst>
                    <a:path w="57150" h="9525">
                      <a:moveTo>
                        <a:pt x="0" y="0"/>
                      </a:moveTo>
                      <a:lnTo>
                        <a:pt x="57150" y="0"/>
                      </a:lnTo>
                    </a:path>
                  </a:pathLst>
                </a:custGeom>
                <a:noFill/>
                <a:ln w="12700">
                  <a:solidFill>
                    <a:srgbClr val="FFFFFF"/>
                  </a:solidFill>
                </a:ln>
              </p:spPr>
            </p:sp>
            <p:sp>
              <p:nvSpPr>
                <p:cNvPr id="191" name="Freeform 191"/>
                <p:cNvSpPr/>
                <p:nvPr/>
              </p:nvSpPr>
              <p:spPr>
                <a:xfrm>
                  <a:off x="8556625" y="5867400"/>
                  <a:ext cx="57150" cy="9525"/>
                </a:xfrm>
                <a:custGeom>
                  <a:avLst/>
                  <a:gdLst/>
                  <a:ahLst/>
                  <a:cxnLst/>
                  <a:rect l="l" t="t" r="r" b="b"/>
                  <a:pathLst>
                    <a:path w="57150" h="9525">
                      <a:moveTo>
                        <a:pt x="0" y="0"/>
                      </a:moveTo>
                      <a:lnTo>
                        <a:pt x="57150" y="0"/>
                      </a:lnTo>
                    </a:path>
                  </a:pathLst>
                </a:custGeom>
                <a:noFill/>
                <a:ln w="12700">
                  <a:solidFill>
                    <a:srgbClr val="FFFFFF"/>
                  </a:solidFill>
                </a:ln>
              </p:spPr>
            </p:sp>
            <p:sp>
              <p:nvSpPr>
                <p:cNvPr id="192" name="Freeform 192"/>
                <p:cNvSpPr/>
                <p:nvPr/>
              </p:nvSpPr>
              <p:spPr>
                <a:xfrm>
                  <a:off x="8556625" y="5905500"/>
                  <a:ext cx="57150" cy="9525"/>
                </a:xfrm>
                <a:custGeom>
                  <a:avLst/>
                  <a:gdLst/>
                  <a:ahLst/>
                  <a:cxnLst/>
                  <a:rect l="l" t="t" r="r" b="b"/>
                  <a:pathLst>
                    <a:path w="57150" h="9525">
                      <a:moveTo>
                        <a:pt x="0" y="0"/>
                      </a:moveTo>
                      <a:lnTo>
                        <a:pt x="57150" y="0"/>
                      </a:lnTo>
                    </a:path>
                  </a:pathLst>
                </a:custGeom>
                <a:noFill/>
                <a:ln w="12700">
                  <a:solidFill>
                    <a:srgbClr val="FFFFFF"/>
                  </a:solidFill>
                </a:ln>
              </p:spPr>
            </p:sp>
          </p:grpSp>
          <p:sp>
            <p:nvSpPr>
              <p:cNvPr id="194" name="TextBox 194"/>
              <p:cNvSpPr txBox="1"/>
              <p:nvPr/>
            </p:nvSpPr>
            <p:spPr>
              <a:xfrm>
                <a:off x="8786812" y="5813822"/>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风险清单</a:t>
                </a:r>
              </a:p>
            </p:txBody>
          </p:sp>
          <p:sp>
            <p:nvSpPr>
              <p:cNvPr id="195" name="TextBox 195"/>
              <p:cNvSpPr txBox="1"/>
              <p:nvPr/>
            </p:nvSpPr>
            <p:spPr>
              <a:xfrm>
                <a:off x="8462962" y="6118384"/>
                <a:ext cx="959485" cy="295275"/>
              </a:xfrm>
              <a:prstGeom prst="rect">
                <a:avLst/>
              </a:prstGeom>
              <a:noFill/>
              <a:ln>
                <a:noFill/>
              </a:ln>
            </p:spPr>
            <p:txBody>
              <a:bodyPr wrap="none" lIns="0" tIns="0" rIns="0" bIns="0" anchor="t" anchorCtr="0">
                <a:spAutoFit/>
              </a:bodyPr>
              <a:lstStyle/>
              <a:p>
                <a:pPr algn="l">
                  <a:lnSpc>
                    <a:spcPts val="1275"/>
                  </a:lnSpc>
                </a:pPr>
                <a:r>
                  <a:rPr lang="zh-CN" sz="680" dirty="0">
                    <a:solidFill>
                      <a:srgbClr val="6A6A6A"/>
                    </a:solidFill>
                    <a:latin typeface="+mn-lt"/>
                    <a:ea typeface="+mn-ea"/>
                    <a:cs typeface="+mn-cs"/>
                  </a:rPr>
                  <a:t>风险点清单与排查结果、</a:t>
                </a:r>
                <a:br/>
                <a:r>
                  <a:rPr lang="zh-CN" sz="680" dirty="0">
                    <a:solidFill>
                      <a:srgbClr val="6A6A6A"/>
                    </a:solidFill>
                    <a:latin typeface="+mn-lt"/>
                    <a:ea typeface="+mn-ea"/>
                    <a:cs typeface="+mn-cs"/>
                  </a:rPr>
                  <a:t>合规改进措施</a:t>
                </a:r>
              </a:p>
            </p:txBody>
          </p:sp>
        </p:grpSp>
        <p:grpSp>
          <p:nvGrpSpPr>
            <p:cNvPr id="204" name="del-6"/>
            <p:cNvGrpSpPr/>
            <p:nvPr/>
          </p:nvGrpSpPr>
          <p:grpSpPr>
            <a:xfrm>
              <a:off x="10229850" y="5724525"/>
              <a:ext cx="915987" cy="689134"/>
              <a:chOff x="10229850" y="5724525"/>
              <a:chExt cx="915987" cy="689134"/>
            </a:xfrm>
          </p:grpSpPr>
          <p:sp>
            <p:nvSpPr>
              <p:cNvPr id="197" name="Ellipse 197"/>
              <p:cNvSpPr/>
              <p:nvPr/>
            </p:nvSpPr>
            <p:spPr>
              <a:xfrm>
                <a:off x="10229850" y="5724525"/>
                <a:ext cx="285750" cy="285750"/>
              </a:xfrm>
              <a:prstGeom prst="ellipse">
                <a:avLst/>
              </a:prstGeom>
              <a:solidFill>
                <a:srgbClr val="B03A1F"/>
              </a:solidFill>
              <a:ln>
                <a:noFill/>
              </a:ln>
            </p:spPr>
          </p:sp>
          <p:grpSp>
            <p:nvGrpSpPr>
              <p:cNvPr id="201" name="Group 201"/>
              <p:cNvGrpSpPr/>
              <p:nvPr/>
            </p:nvGrpSpPr>
            <p:grpSpPr>
              <a:xfrm>
                <a:off x="10321925" y="5810250"/>
                <a:ext cx="101600" cy="114300"/>
                <a:chOff x="10321925" y="5810250"/>
                <a:chExt cx="101600" cy="114300"/>
              </a:xfrm>
            </p:grpSpPr>
            <p:sp>
              <p:nvSpPr>
                <p:cNvPr id="198" name="Freeform 198"/>
                <p:cNvSpPr/>
                <p:nvPr/>
              </p:nvSpPr>
              <p:spPr>
                <a:xfrm>
                  <a:off x="10321925" y="58102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FFFFFF"/>
                  </a:solidFill>
                </a:ln>
              </p:spPr>
            </p:sp>
            <p:sp>
              <p:nvSpPr>
                <p:cNvPr id="199" name="Freeform 199"/>
                <p:cNvSpPr/>
                <p:nvPr/>
              </p:nvSpPr>
              <p:spPr>
                <a:xfrm>
                  <a:off x="10321925" y="58293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FFFFFF"/>
                  </a:solidFill>
                </a:ln>
              </p:spPr>
            </p:sp>
            <p:sp>
              <p:nvSpPr>
                <p:cNvPr id="200" name="Freeform 200"/>
                <p:cNvSpPr/>
                <p:nvPr/>
              </p:nvSpPr>
              <p:spPr>
                <a:xfrm>
                  <a:off x="10321925" y="58674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FFFFFF"/>
                  </a:solidFill>
                </a:ln>
              </p:spPr>
            </p:sp>
          </p:grpSp>
          <p:sp>
            <p:nvSpPr>
              <p:cNvPr id="202" name="TextBox 202"/>
              <p:cNvSpPr txBox="1"/>
              <p:nvPr/>
            </p:nvSpPr>
            <p:spPr>
              <a:xfrm>
                <a:off x="10596562" y="5813822"/>
                <a:ext cx="389153"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案例库</a:t>
                </a:r>
              </a:p>
            </p:txBody>
          </p:sp>
          <p:sp>
            <p:nvSpPr>
              <p:cNvPr id="203" name="TextBox 203"/>
              <p:cNvSpPr txBox="1"/>
              <p:nvPr/>
            </p:nvSpPr>
            <p:spPr>
              <a:xfrm>
                <a:off x="10272712" y="6118384"/>
                <a:ext cx="873125" cy="295275"/>
              </a:xfrm>
              <a:prstGeom prst="rect">
                <a:avLst/>
              </a:prstGeom>
              <a:noFill/>
              <a:ln>
                <a:noFill/>
              </a:ln>
            </p:spPr>
            <p:txBody>
              <a:bodyPr wrap="none" lIns="0" tIns="0" rIns="0" bIns="0" anchor="t" anchorCtr="0">
                <a:spAutoFit/>
              </a:bodyPr>
              <a:lstStyle/>
              <a:p>
                <a:pPr algn="l">
                  <a:lnSpc>
                    <a:spcPts val="1275"/>
                  </a:lnSpc>
                </a:pPr>
                <a:r>
                  <a:rPr lang="zh-CN" sz="680" dirty="0">
                    <a:solidFill>
                      <a:srgbClr val="6A6A6A"/>
                    </a:solidFill>
                    <a:latin typeface="+mn-lt"/>
                    <a:ea typeface="+mn-ea"/>
                    <a:cs typeface="+mn-cs"/>
                  </a:rPr>
                  <a:t>成功案例与方法沉淀、</a:t>
                </a:r>
                <a:br/>
                <a:r>
                  <a:rPr lang="zh-CN" sz="680" dirty="0">
                    <a:solidFill>
                      <a:srgbClr val="6A6A6A"/>
                    </a:solidFill>
                    <a:latin typeface="+mn-lt"/>
                    <a:ea typeface="+mn-ea"/>
                    <a:cs typeface="+mn-cs"/>
                  </a:rPr>
                  <a:t>可复制经验库</a:t>
                </a:r>
              </a:p>
            </p:txBody>
          </p:sp>
        </p:grpSp>
      </p:gr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03A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18</a:t>
              </a:r>
            </a:p>
          </p:txBody>
        </p:sp>
        <p:sp>
          <p:nvSpPr>
            <p:cNvPr id="4" name="TextBox 4"/>
            <p:cNvSpPr txBox="1"/>
            <p:nvPr/>
          </p:nvSpPr>
          <p:spPr>
            <a:xfrm>
              <a:off x="942594" y="151448"/>
              <a:ext cx="6954012" cy="381381"/>
            </a:xfrm>
            <a:prstGeom prst="rect">
              <a:avLst/>
            </a:prstGeom>
            <a:noFill/>
            <a:ln>
              <a:noFill/>
            </a:ln>
          </p:spPr>
          <p:txBody>
            <a:bodyPr wrap="none" lIns="0" tIns="0" rIns="0" bIns="0" anchor="t" anchorCtr="0">
              <a:spAutoFit/>
            </a:bodyPr>
            <a:lstStyle/>
            <a:p>
              <a:pPr algn="l"/>
              <a:r>
                <a:rPr lang="zh-CN" sz="1950" b="1" dirty="0">
                  <a:solidFill>
                    <a:srgbClr val="B03A1F"/>
                  </a:solidFill>
                  <a:latin typeface="SimSun"/>
                  <a:ea typeface="SimSun"/>
                  <a:cs typeface="SimSun"/>
                </a:rPr>
                <a:t>经营管理闭环</a:t>
              </a:r>
              <a:r>
                <a:rPr lang="zh-CN" sz="1950" b="1" dirty="0">
                  <a:solidFill>
                    <a:srgbClr val="1A1A1A"/>
                  </a:solidFill>
                  <a:latin typeface="SimSun"/>
                  <a:ea typeface="SimSun"/>
                  <a:cs typeface="SimSun"/>
                </a:rPr>
                <a:t>：以目标、过程、结果、风险驱动持续改进</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B03A1F"/>
              </a:solidFill>
            </a:ln>
          </p:spPr>
        </p:sp>
      </p:grpSp>
      <p:grpSp>
        <p:nvGrpSpPr>
          <p:cNvPr id="58" name="gov-chain"/>
          <p:cNvGrpSpPr/>
          <p:nvPr/>
        </p:nvGrpSpPr>
        <p:grpSpPr>
          <a:xfrm>
            <a:off x="200025" y="742950"/>
            <a:ext cx="11563350" cy="609600"/>
            <a:chOff x="200025" y="742950"/>
            <a:chExt cx="11563350" cy="609600"/>
          </a:xfrm>
        </p:grpSpPr>
        <p:sp>
          <p:nvSpPr>
            <p:cNvPr id="7" name="Rectangle 7"/>
            <p:cNvSpPr/>
            <p:nvPr/>
          </p:nvSpPr>
          <p:spPr>
            <a:xfrm>
              <a:off x="200025" y="742950"/>
              <a:ext cx="647700" cy="609600"/>
            </a:xfrm>
            <a:prstGeom prst="rect">
              <a:avLst/>
            </a:prstGeom>
            <a:solidFill>
              <a:srgbClr val="B03A1F"/>
            </a:solidFill>
            <a:ln>
              <a:noFill/>
            </a:ln>
          </p:spPr>
        </p:sp>
        <p:sp>
          <p:nvSpPr>
            <p:cNvPr id="8" name="TextBox 8"/>
            <p:cNvSpPr txBox="1"/>
            <p:nvPr/>
          </p:nvSpPr>
          <p:spPr>
            <a:xfrm>
              <a:off x="386994" y="8853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治理</a:t>
              </a:r>
            </a:p>
          </p:txBody>
        </p:sp>
        <p:sp>
          <p:nvSpPr>
            <p:cNvPr id="9" name="TextBox 9"/>
            <p:cNvSpPr txBox="1"/>
            <p:nvPr/>
          </p:nvSpPr>
          <p:spPr>
            <a:xfrm>
              <a:off x="386994" y="10758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链条</a:t>
              </a:r>
            </a:p>
          </p:txBody>
        </p:sp>
        <p:grpSp>
          <p:nvGrpSpPr>
            <p:cNvPr id="21" name="gov-node-1"/>
            <p:cNvGrpSpPr/>
            <p:nvPr/>
          </p:nvGrpSpPr>
          <p:grpSpPr>
            <a:xfrm>
              <a:off x="923925" y="742950"/>
              <a:ext cx="2495550" cy="609600"/>
              <a:chOff x="923925" y="742950"/>
              <a:chExt cx="2495550" cy="609600"/>
            </a:xfrm>
          </p:grpSpPr>
          <p:sp>
            <p:nvSpPr>
              <p:cNvPr id="10" name="Rectangle 10"/>
              <p:cNvSpPr/>
              <p:nvPr/>
            </p:nvSpPr>
            <p:spPr>
              <a:xfrm>
                <a:off x="923925" y="742950"/>
                <a:ext cx="2495550" cy="609600"/>
              </a:xfrm>
              <a:prstGeom prst="roundRect">
                <a:avLst>
                  <a:gd name="adj" fmla="val 6250"/>
                </a:avLst>
              </a:prstGeom>
              <a:solidFill>
                <a:srgbClr val="F5F3F1"/>
              </a:solidFill>
              <a:ln>
                <a:noFill/>
              </a:ln>
            </p:spPr>
          </p:sp>
          <p:sp>
            <p:nvSpPr>
              <p:cNvPr id="11" name="Ellipse 11"/>
              <p:cNvSpPr/>
              <p:nvPr/>
            </p:nvSpPr>
            <p:spPr>
              <a:xfrm>
                <a:off x="1066800" y="904875"/>
                <a:ext cx="285750" cy="285750"/>
              </a:xfrm>
              <a:prstGeom prst="ellipse">
                <a:avLst/>
              </a:prstGeom>
              <a:solidFill>
                <a:srgbClr val="B03A1F"/>
              </a:solidFill>
              <a:ln>
                <a:noFill/>
              </a:ln>
            </p:spPr>
          </p:sp>
          <p:grpSp>
            <p:nvGrpSpPr>
              <p:cNvPr id="18" name="Group 18"/>
              <p:cNvGrpSpPr/>
              <p:nvPr/>
            </p:nvGrpSpPr>
            <p:grpSpPr>
              <a:xfrm>
                <a:off x="1152525" y="990600"/>
                <a:ext cx="114300" cy="114300"/>
                <a:chOff x="1152525" y="990600"/>
                <a:chExt cx="114300" cy="114300"/>
              </a:xfrm>
            </p:grpSpPr>
            <p:sp>
              <p:nvSpPr>
                <p:cNvPr id="12" name="Freeform 12"/>
                <p:cNvSpPr/>
                <p:nvPr/>
              </p:nvSpPr>
              <p:spPr>
                <a:xfrm>
                  <a:off x="1196975" y="1041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3" name="Freeform 13"/>
                <p:cNvSpPr/>
                <p:nvPr/>
              </p:nvSpPr>
              <p:spPr>
                <a:xfrm>
                  <a:off x="1184275" y="10858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FFFFFF"/>
                  </a:solidFill>
                </a:ln>
              </p:spPr>
            </p:sp>
            <p:sp>
              <p:nvSpPr>
                <p:cNvPr id="14" name="Freeform 14"/>
                <p:cNvSpPr/>
                <p:nvPr/>
              </p:nvSpPr>
              <p:spPr>
                <a:xfrm>
                  <a:off x="1228725" y="9906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5" name="Freeform 15"/>
                <p:cNvSpPr/>
                <p:nvPr/>
              </p:nvSpPr>
              <p:spPr>
                <a:xfrm>
                  <a:off x="1241425" y="10350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FFFFFF"/>
                  </a:solidFill>
                </a:ln>
              </p:spPr>
            </p:sp>
            <p:sp>
              <p:nvSpPr>
                <p:cNvPr id="16" name="Freeform 16"/>
                <p:cNvSpPr/>
                <p:nvPr/>
              </p:nvSpPr>
              <p:spPr>
                <a:xfrm>
                  <a:off x="1165225" y="9906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7" name="Freeform 17"/>
                <p:cNvSpPr/>
                <p:nvPr/>
              </p:nvSpPr>
              <p:spPr>
                <a:xfrm>
                  <a:off x="1152525" y="10350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FFFFFF"/>
                  </a:solidFill>
                </a:ln>
              </p:spPr>
            </p:sp>
          </p:grpSp>
          <p:sp>
            <p:nvSpPr>
              <p:cNvPr id="19" name="TextBox 19"/>
              <p:cNvSpPr txBox="1"/>
              <p:nvPr/>
            </p:nvSpPr>
            <p:spPr>
              <a:xfrm>
                <a:off x="1433512" y="889397"/>
                <a:ext cx="1021867"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分行党委与经营层</a:t>
                </a:r>
              </a:p>
            </p:txBody>
          </p:sp>
          <p:sp>
            <p:nvSpPr>
              <p:cNvPr id="20" name="TextBox 20"/>
              <p:cNvSpPr txBox="1"/>
              <p:nvPr/>
            </p:nvSpPr>
            <p:spPr>
              <a:xfrm>
                <a:off x="1433512" y="1108234"/>
                <a:ext cx="1291107"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战略制定、目标设定、资源统筹</a:t>
                </a:r>
              </a:p>
            </p:txBody>
          </p:sp>
        </p:grpSp>
        <p:grpSp>
          <p:nvGrpSpPr>
            <p:cNvPr id="31" name="gov-node-2"/>
            <p:cNvGrpSpPr/>
            <p:nvPr/>
          </p:nvGrpSpPr>
          <p:grpSpPr>
            <a:xfrm>
              <a:off x="3705225" y="742950"/>
              <a:ext cx="2495550" cy="609600"/>
              <a:chOff x="3705225" y="742950"/>
              <a:chExt cx="2495550" cy="609600"/>
            </a:xfrm>
          </p:grpSpPr>
          <p:sp>
            <p:nvSpPr>
              <p:cNvPr id="22" name="Rectangle 22"/>
              <p:cNvSpPr/>
              <p:nvPr/>
            </p:nvSpPr>
            <p:spPr>
              <a:xfrm>
                <a:off x="3705225" y="742950"/>
                <a:ext cx="2495550" cy="609600"/>
              </a:xfrm>
              <a:prstGeom prst="roundRect">
                <a:avLst>
                  <a:gd name="adj" fmla="val 6250"/>
                </a:avLst>
              </a:prstGeom>
              <a:solidFill>
                <a:srgbClr val="F5F3F1"/>
              </a:solidFill>
              <a:ln>
                <a:noFill/>
              </a:ln>
            </p:spPr>
          </p:sp>
          <p:sp>
            <p:nvSpPr>
              <p:cNvPr id="23" name="Ellipse 23"/>
              <p:cNvSpPr/>
              <p:nvPr/>
            </p:nvSpPr>
            <p:spPr>
              <a:xfrm>
                <a:off x="3848100" y="904875"/>
                <a:ext cx="285750" cy="285750"/>
              </a:xfrm>
              <a:prstGeom prst="ellipse">
                <a:avLst/>
              </a:prstGeom>
              <a:solidFill>
                <a:srgbClr val="B03A1F"/>
              </a:solidFill>
              <a:ln>
                <a:noFill/>
              </a:ln>
            </p:spPr>
          </p:sp>
          <p:grpSp>
            <p:nvGrpSpPr>
              <p:cNvPr id="28" name="Group 28"/>
              <p:cNvGrpSpPr/>
              <p:nvPr/>
            </p:nvGrpSpPr>
            <p:grpSpPr>
              <a:xfrm>
                <a:off x="3933825" y="990600"/>
                <a:ext cx="114300" cy="107950"/>
                <a:chOff x="3933825" y="990600"/>
                <a:chExt cx="114300" cy="107950"/>
              </a:xfrm>
            </p:grpSpPr>
            <p:sp>
              <p:nvSpPr>
                <p:cNvPr id="24" name="Freeform 24"/>
                <p:cNvSpPr/>
                <p:nvPr/>
              </p:nvSpPr>
              <p:spPr>
                <a:xfrm>
                  <a:off x="3933825" y="1016000"/>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FFFFFF"/>
                  </a:solidFill>
                </a:ln>
              </p:spPr>
            </p:sp>
            <p:sp>
              <p:nvSpPr>
                <p:cNvPr id="25" name="Freeform 25"/>
                <p:cNvSpPr/>
                <p:nvPr/>
              </p:nvSpPr>
              <p:spPr>
                <a:xfrm>
                  <a:off x="3965575" y="990600"/>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FFFFFF"/>
                  </a:solidFill>
                </a:ln>
              </p:spPr>
            </p:sp>
            <p:sp>
              <p:nvSpPr>
                <p:cNvPr id="26" name="Freeform 26"/>
                <p:cNvSpPr/>
                <p:nvPr/>
              </p:nvSpPr>
              <p:spPr>
                <a:xfrm>
                  <a:off x="3990975" y="104775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27" name="Freeform 27"/>
                <p:cNvSpPr/>
                <p:nvPr/>
              </p:nvSpPr>
              <p:spPr>
                <a:xfrm>
                  <a:off x="3933825" y="1054100"/>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FFFFFF"/>
                  </a:solidFill>
                </a:ln>
              </p:spPr>
            </p:sp>
          </p:grpSp>
          <p:sp>
            <p:nvSpPr>
              <p:cNvPr id="29" name="TextBox 29"/>
              <p:cNvSpPr txBox="1"/>
              <p:nvPr/>
            </p:nvSpPr>
            <p:spPr>
              <a:xfrm>
                <a:off x="4214812" y="889397"/>
                <a:ext cx="642239"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零售业务部</a:t>
                </a:r>
              </a:p>
            </p:txBody>
          </p:sp>
          <p:sp>
            <p:nvSpPr>
              <p:cNvPr id="30" name="TextBox 30"/>
              <p:cNvSpPr txBox="1"/>
              <p:nvPr/>
            </p:nvSpPr>
            <p:spPr>
              <a:xfrm>
                <a:off x="4214812" y="1108234"/>
                <a:ext cx="1291107"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策略制定、计划分解、协同支持</a:t>
                </a:r>
              </a:p>
            </p:txBody>
          </p:sp>
        </p:grpSp>
        <p:grpSp>
          <p:nvGrpSpPr>
            <p:cNvPr id="45" name="gov-node-3"/>
            <p:cNvGrpSpPr/>
            <p:nvPr/>
          </p:nvGrpSpPr>
          <p:grpSpPr>
            <a:xfrm>
              <a:off x="6486525" y="742950"/>
              <a:ext cx="2495550" cy="609600"/>
              <a:chOff x="6486525" y="742950"/>
              <a:chExt cx="2495550" cy="609600"/>
            </a:xfrm>
          </p:grpSpPr>
          <p:sp>
            <p:nvSpPr>
              <p:cNvPr id="32" name="Rectangle 32"/>
              <p:cNvSpPr/>
              <p:nvPr/>
            </p:nvSpPr>
            <p:spPr>
              <a:xfrm>
                <a:off x="6486525" y="742950"/>
                <a:ext cx="2495550" cy="609600"/>
              </a:xfrm>
              <a:prstGeom prst="roundRect">
                <a:avLst>
                  <a:gd name="adj" fmla="val 6250"/>
                </a:avLst>
              </a:prstGeom>
              <a:solidFill>
                <a:srgbClr val="F5F3F1"/>
              </a:solidFill>
              <a:ln>
                <a:noFill/>
              </a:ln>
            </p:spPr>
          </p:sp>
          <p:sp>
            <p:nvSpPr>
              <p:cNvPr id="33" name="Ellipse 33"/>
              <p:cNvSpPr/>
              <p:nvPr/>
            </p:nvSpPr>
            <p:spPr>
              <a:xfrm>
                <a:off x="6629400" y="904875"/>
                <a:ext cx="285750" cy="285750"/>
              </a:xfrm>
              <a:prstGeom prst="ellipse">
                <a:avLst/>
              </a:prstGeom>
              <a:solidFill>
                <a:srgbClr val="B03A1F"/>
              </a:solidFill>
              <a:ln>
                <a:noFill/>
              </a:ln>
            </p:spPr>
          </p:sp>
          <p:grpSp>
            <p:nvGrpSpPr>
              <p:cNvPr id="42" name="Group 42"/>
              <p:cNvGrpSpPr/>
              <p:nvPr/>
            </p:nvGrpSpPr>
            <p:grpSpPr>
              <a:xfrm>
                <a:off x="6715125" y="990600"/>
                <a:ext cx="117475" cy="123825"/>
                <a:chOff x="6715125" y="990600"/>
                <a:chExt cx="117475" cy="123825"/>
              </a:xfrm>
            </p:grpSpPr>
            <p:sp>
              <p:nvSpPr>
                <p:cNvPr id="34" name="Freeform 34"/>
                <p:cNvSpPr/>
                <p:nvPr/>
              </p:nvSpPr>
              <p:spPr>
                <a:xfrm>
                  <a:off x="6715125" y="1104900"/>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35" name="Freeform 35"/>
                <p:cNvSpPr/>
                <p:nvPr/>
              </p:nvSpPr>
              <p:spPr>
                <a:xfrm>
                  <a:off x="6715125" y="1035050"/>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36" name="Freeform 36"/>
                <p:cNvSpPr/>
                <p:nvPr/>
              </p:nvSpPr>
              <p:spPr>
                <a:xfrm>
                  <a:off x="6727825" y="990600"/>
                  <a:ext cx="88900" cy="19050"/>
                </a:xfrm>
                <a:custGeom>
                  <a:avLst/>
                  <a:gdLst/>
                  <a:ahLst/>
                  <a:cxnLst/>
                  <a:rect l="l" t="t" r="r" b="b"/>
                  <a:pathLst>
                    <a:path w="88900" h="19050">
                      <a:moveTo>
                        <a:pt x="0" y="19050"/>
                      </a:moveTo>
                      <a:lnTo>
                        <a:pt x="44450" y="0"/>
                      </a:lnTo>
                      <a:lnTo>
                        <a:pt x="88900" y="19050"/>
                      </a:lnTo>
                    </a:path>
                  </a:pathLst>
                </a:custGeom>
                <a:noFill/>
                <a:ln w="12700">
                  <a:solidFill>
                    <a:srgbClr val="FFFFFF"/>
                  </a:solidFill>
                </a:ln>
              </p:spPr>
            </p:sp>
            <p:sp>
              <p:nvSpPr>
                <p:cNvPr id="37" name="Freeform 37"/>
                <p:cNvSpPr/>
                <p:nvPr/>
              </p:nvSpPr>
              <p:spPr>
                <a:xfrm>
                  <a:off x="6721475" y="1035050"/>
                  <a:ext cx="9525" cy="69850"/>
                </a:xfrm>
                <a:custGeom>
                  <a:avLst/>
                  <a:gdLst/>
                  <a:ahLst/>
                  <a:cxnLst/>
                  <a:rect l="l" t="t" r="r" b="b"/>
                  <a:pathLst>
                    <a:path w="9525" h="69850">
                      <a:moveTo>
                        <a:pt x="0" y="0"/>
                      </a:moveTo>
                      <a:lnTo>
                        <a:pt x="0" y="69850"/>
                      </a:lnTo>
                    </a:path>
                  </a:pathLst>
                </a:custGeom>
                <a:noFill/>
                <a:ln w="12700">
                  <a:solidFill>
                    <a:srgbClr val="FFFFFF"/>
                  </a:solidFill>
                </a:ln>
              </p:spPr>
            </p:sp>
            <p:sp>
              <p:nvSpPr>
                <p:cNvPr id="38" name="Freeform 38"/>
                <p:cNvSpPr/>
                <p:nvPr/>
              </p:nvSpPr>
              <p:spPr>
                <a:xfrm>
                  <a:off x="6823075" y="1035050"/>
                  <a:ext cx="9525" cy="69850"/>
                </a:xfrm>
                <a:custGeom>
                  <a:avLst/>
                  <a:gdLst/>
                  <a:ahLst/>
                  <a:cxnLst/>
                  <a:rect l="l" t="t" r="r" b="b"/>
                  <a:pathLst>
                    <a:path w="9525" h="69850">
                      <a:moveTo>
                        <a:pt x="0" y="0"/>
                      </a:moveTo>
                      <a:lnTo>
                        <a:pt x="0" y="69850"/>
                      </a:lnTo>
                    </a:path>
                  </a:pathLst>
                </a:custGeom>
                <a:noFill/>
                <a:ln w="12700">
                  <a:solidFill>
                    <a:srgbClr val="FFFFFF"/>
                  </a:solidFill>
                </a:ln>
              </p:spPr>
            </p:sp>
            <p:sp>
              <p:nvSpPr>
                <p:cNvPr id="39" name="Freeform 39"/>
                <p:cNvSpPr/>
                <p:nvPr/>
              </p:nvSpPr>
              <p:spPr>
                <a:xfrm>
                  <a:off x="6746875" y="1060450"/>
                  <a:ext cx="9525" cy="19050"/>
                </a:xfrm>
                <a:custGeom>
                  <a:avLst/>
                  <a:gdLst/>
                  <a:ahLst/>
                  <a:cxnLst/>
                  <a:rect l="l" t="t" r="r" b="b"/>
                  <a:pathLst>
                    <a:path w="9525" h="19050">
                      <a:moveTo>
                        <a:pt x="0" y="0"/>
                      </a:moveTo>
                      <a:lnTo>
                        <a:pt x="0" y="19050"/>
                      </a:lnTo>
                    </a:path>
                  </a:pathLst>
                </a:custGeom>
                <a:noFill/>
                <a:ln w="12700">
                  <a:solidFill>
                    <a:srgbClr val="FFFFFF"/>
                  </a:solidFill>
                </a:ln>
              </p:spPr>
            </p:sp>
            <p:sp>
              <p:nvSpPr>
                <p:cNvPr id="40" name="Freeform 40"/>
                <p:cNvSpPr/>
                <p:nvPr/>
              </p:nvSpPr>
              <p:spPr>
                <a:xfrm>
                  <a:off x="6772275" y="1060450"/>
                  <a:ext cx="9525" cy="19050"/>
                </a:xfrm>
                <a:custGeom>
                  <a:avLst/>
                  <a:gdLst/>
                  <a:ahLst/>
                  <a:cxnLst/>
                  <a:rect l="l" t="t" r="r" b="b"/>
                  <a:pathLst>
                    <a:path w="9525" h="19050">
                      <a:moveTo>
                        <a:pt x="0" y="0"/>
                      </a:moveTo>
                      <a:lnTo>
                        <a:pt x="0" y="19050"/>
                      </a:lnTo>
                    </a:path>
                  </a:pathLst>
                </a:custGeom>
                <a:noFill/>
                <a:ln w="12700">
                  <a:solidFill>
                    <a:srgbClr val="FFFFFF"/>
                  </a:solidFill>
                </a:ln>
              </p:spPr>
            </p:sp>
            <p:sp>
              <p:nvSpPr>
                <p:cNvPr id="41" name="Freeform 41"/>
                <p:cNvSpPr/>
                <p:nvPr/>
              </p:nvSpPr>
              <p:spPr>
                <a:xfrm>
                  <a:off x="6797675" y="1060450"/>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43" name="TextBox 43"/>
              <p:cNvSpPr txBox="1"/>
              <p:nvPr/>
            </p:nvSpPr>
            <p:spPr>
              <a:xfrm>
                <a:off x="6996112" y="889397"/>
                <a:ext cx="642239"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支行与网点</a:t>
                </a:r>
              </a:p>
            </p:txBody>
          </p:sp>
          <p:sp>
            <p:nvSpPr>
              <p:cNvPr id="44" name="TextBox 44"/>
              <p:cNvSpPr txBox="1"/>
              <p:nvPr/>
            </p:nvSpPr>
            <p:spPr>
              <a:xfrm>
                <a:off x="6996112" y="1108234"/>
                <a:ext cx="1291107"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目标承接、资源配置、过程管理</a:t>
                </a:r>
              </a:p>
            </p:txBody>
          </p:sp>
        </p:grpSp>
        <p:grpSp>
          <p:nvGrpSpPr>
            <p:cNvPr id="54" name="gov-node-4"/>
            <p:cNvGrpSpPr/>
            <p:nvPr/>
          </p:nvGrpSpPr>
          <p:grpSpPr>
            <a:xfrm>
              <a:off x="9267825" y="742950"/>
              <a:ext cx="2495550" cy="609600"/>
              <a:chOff x="9267825" y="742950"/>
              <a:chExt cx="2495550" cy="609600"/>
            </a:xfrm>
          </p:grpSpPr>
          <p:sp>
            <p:nvSpPr>
              <p:cNvPr id="46" name="Rectangle 46"/>
              <p:cNvSpPr/>
              <p:nvPr/>
            </p:nvSpPr>
            <p:spPr>
              <a:xfrm>
                <a:off x="9267825" y="742950"/>
                <a:ext cx="2495550" cy="609600"/>
              </a:xfrm>
              <a:prstGeom prst="roundRect">
                <a:avLst>
                  <a:gd name="adj" fmla="val 6250"/>
                </a:avLst>
              </a:prstGeom>
              <a:solidFill>
                <a:srgbClr val="F5F3F1"/>
              </a:solidFill>
              <a:ln>
                <a:noFill/>
              </a:ln>
            </p:spPr>
          </p:sp>
          <p:sp>
            <p:nvSpPr>
              <p:cNvPr id="47" name="Ellipse 47"/>
              <p:cNvSpPr/>
              <p:nvPr/>
            </p:nvSpPr>
            <p:spPr>
              <a:xfrm>
                <a:off x="9410700" y="904875"/>
                <a:ext cx="285750" cy="285750"/>
              </a:xfrm>
              <a:prstGeom prst="ellipse">
                <a:avLst/>
              </a:prstGeom>
              <a:solidFill>
                <a:srgbClr val="B03A1F"/>
              </a:solidFill>
              <a:ln>
                <a:noFill/>
              </a:ln>
            </p:spPr>
          </p:sp>
          <p:grpSp>
            <p:nvGrpSpPr>
              <p:cNvPr id="51" name="Group 51"/>
              <p:cNvGrpSpPr/>
              <p:nvPr/>
            </p:nvGrpSpPr>
            <p:grpSpPr>
              <a:xfrm>
                <a:off x="9515475" y="990600"/>
                <a:ext cx="95250" cy="114300"/>
                <a:chOff x="9515475" y="990600"/>
                <a:chExt cx="95250" cy="114300"/>
              </a:xfrm>
            </p:grpSpPr>
            <p:sp>
              <p:nvSpPr>
                <p:cNvPr id="48" name="Freeform 48"/>
                <p:cNvSpPr/>
                <p:nvPr/>
              </p:nvSpPr>
              <p:spPr>
                <a:xfrm>
                  <a:off x="9528175" y="9906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49" name="Freeform 49"/>
                <p:cNvSpPr/>
                <p:nvPr/>
              </p:nvSpPr>
              <p:spPr>
                <a:xfrm>
                  <a:off x="9515475" y="10668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FFFFFF"/>
                  </a:solidFill>
                </a:ln>
              </p:spPr>
            </p:sp>
            <p:sp>
              <p:nvSpPr>
                <p:cNvPr id="50" name="Freeform 50"/>
                <p:cNvSpPr/>
                <p:nvPr/>
              </p:nvSpPr>
              <p:spPr>
                <a:xfrm>
                  <a:off x="9572625" y="107950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52" name="TextBox 52"/>
              <p:cNvSpPr txBox="1"/>
              <p:nvPr/>
            </p:nvSpPr>
            <p:spPr>
              <a:xfrm>
                <a:off x="9777412" y="889397"/>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客户经理</a:t>
                </a:r>
              </a:p>
            </p:txBody>
          </p:sp>
          <p:sp>
            <p:nvSpPr>
              <p:cNvPr id="53" name="TextBox 53"/>
              <p:cNvSpPr txBox="1"/>
              <p:nvPr/>
            </p:nvSpPr>
            <p:spPr>
              <a:xfrm>
                <a:off x="9777412" y="1108234"/>
                <a:ext cx="1291107" cy="133350"/>
              </a:xfrm>
              <a:prstGeom prst="rect">
                <a:avLst/>
              </a:prstGeom>
              <a:noFill/>
              <a:ln>
                <a:noFill/>
              </a:ln>
            </p:spPr>
            <p:txBody>
              <a:bodyPr wrap="none" lIns="0" tIns="0" rIns="0" bIns="0" anchor="t" anchorCtr="0">
                <a:spAutoFit/>
              </a:bodyPr>
              <a:lstStyle/>
              <a:p>
                <a:pPr algn="l"/>
                <a:r>
                  <a:rPr lang="zh-CN" sz="680" dirty="0">
                    <a:solidFill>
                      <a:srgbClr val="6A6A6A"/>
                    </a:solidFill>
                    <a:latin typeface="+mn-lt"/>
                    <a:ea typeface="+mn-ea"/>
                    <a:cs typeface="+mn-cs"/>
                  </a:rPr>
                  <a:t>客户经营、任务执行、关系维护</a:t>
                </a:r>
              </a:p>
            </p:txBody>
          </p:sp>
        </p:grpSp>
        <p:sp>
          <p:nvSpPr>
            <p:cNvPr id="55" name="Freeform 55"/>
            <p:cNvSpPr/>
            <p:nvPr/>
          </p:nvSpPr>
          <p:spPr>
            <a:xfrm>
              <a:off x="3448050" y="952500"/>
              <a:ext cx="228600" cy="190500"/>
            </a:xfrm>
            <a:prstGeom prst="chevron">
              <a:avLst/>
            </a:prstGeom>
            <a:solidFill>
              <a:srgbClr val="B03A1F"/>
            </a:solidFill>
            <a:ln>
              <a:noFill/>
            </a:ln>
          </p:spPr>
        </p:sp>
        <p:sp>
          <p:nvSpPr>
            <p:cNvPr id="56" name="Freeform 56"/>
            <p:cNvSpPr/>
            <p:nvPr/>
          </p:nvSpPr>
          <p:spPr>
            <a:xfrm>
              <a:off x="6229350" y="952500"/>
              <a:ext cx="228600" cy="190500"/>
            </a:xfrm>
            <a:prstGeom prst="chevron">
              <a:avLst/>
            </a:prstGeom>
            <a:solidFill>
              <a:srgbClr val="B03A1F"/>
            </a:solidFill>
            <a:ln>
              <a:noFill/>
            </a:ln>
          </p:spPr>
        </p:sp>
        <p:sp>
          <p:nvSpPr>
            <p:cNvPr id="57" name="Freeform 57"/>
            <p:cNvSpPr/>
            <p:nvPr/>
          </p:nvSpPr>
          <p:spPr>
            <a:xfrm>
              <a:off x="9010650" y="952500"/>
              <a:ext cx="228600" cy="190500"/>
            </a:xfrm>
            <a:prstGeom prst="chevron">
              <a:avLst/>
            </a:prstGeom>
            <a:solidFill>
              <a:srgbClr val="B03A1F"/>
            </a:solidFill>
            <a:ln>
              <a:noFill/>
            </a:ln>
          </p:spPr>
        </p:sp>
      </p:grpSp>
      <p:grpSp>
        <p:nvGrpSpPr>
          <p:cNvPr id="109" name="kpi-tree"/>
          <p:cNvGrpSpPr/>
          <p:nvPr/>
        </p:nvGrpSpPr>
        <p:grpSpPr>
          <a:xfrm>
            <a:off x="200025" y="1409700"/>
            <a:ext cx="2952750" cy="2616280"/>
            <a:chOff x="200025" y="1409700"/>
            <a:chExt cx="2952750" cy="2616280"/>
          </a:xfrm>
        </p:grpSpPr>
        <p:sp>
          <p:nvSpPr>
            <p:cNvPr id="59" name="Rectangle 59"/>
            <p:cNvSpPr/>
            <p:nvPr/>
          </p:nvSpPr>
          <p:spPr>
            <a:xfrm>
              <a:off x="200025" y="1409700"/>
              <a:ext cx="2952750" cy="285750"/>
            </a:xfrm>
            <a:prstGeom prst="rect">
              <a:avLst/>
            </a:prstGeom>
            <a:solidFill>
              <a:srgbClr val="B03A1F"/>
            </a:solidFill>
            <a:ln>
              <a:noFill/>
            </a:ln>
          </p:spPr>
        </p:sp>
        <p:sp>
          <p:nvSpPr>
            <p:cNvPr id="60" name="TextBox 60"/>
            <p:cNvSpPr txBox="1"/>
            <p:nvPr/>
          </p:nvSpPr>
          <p:spPr>
            <a:xfrm>
              <a:off x="1107245" y="1494949"/>
              <a:ext cx="113831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关键指标（KPI）树</a:t>
              </a:r>
            </a:p>
          </p:txBody>
        </p:sp>
        <p:sp>
          <p:nvSpPr>
            <p:cNvPr id="61" name="Line 61"/>
            <p:cNvSpPr/>
            <p:nvPr/>
          </p:nvSpPr>
          <p:spPr>
            <a:xfrm>
              <a:off x="495300" y="1809750"/>
              <a:ext cx="9525" cy="2000250"/>
            </a:xfrm>
            <a:custGeom>
              <a:avLst/>
              <a:gdLst/>
              <a:ahLst/>
              <a:cxnLst/>
              <a:rect l="l" t="t" r="r" b="b"/>
              <a:pathLst>
                <a:path w="9525" h="2000250">
                  <a:moveTo>
                    <a:pt x="0" y="0"/>
                  </a:moveTo>
                  <a:lnTo>
                    <a:pt x="0" y="2000250"/>
                  </a:lnTo>
                </a:path>
              </a:pathLst>
            </a:custGeom>
            <a:noFill/>
            <a:ln w="14288">
              <a:solidFill>
                <a:srgbClr val="B03A1F"/>
              </a:solidFill>
            </a:ln>
          </p:spPr>
        </p:sp>
        <p:grpSp>
          <p:nvGrpSpPr>
            <p:cNvPr id="71" name="kpi-branch-1"/>
            <p:cNvGrpSpPr/>
            <p:nvPr/>
          </p:nvGrpSpPr>
          <p:grpSpPr>
            <a:xfrm>
              <a:off x="495300" y="1819275"/>
              <a:ext cx="1742275" cy="377905"/>
              <a:chOff x="495300" y="1819275"/>
              <a:chExt cx="1742275" cy="377905"/>
            </a:xfrm>
          </p:grpSpPr>
          <p:sp>
            <p:nvSpPr>
              <p:cNvPr id="62" name="Line 62"/>
              <p:cNvSpPr/>
              <p:nvPr/>
            </p:nvSpPr>
            <p:spPr>
              <a:xfrm>
                <a:off x="495300" y="1981200"/>
                <a:ext cx="180975" cy="9525"/>
              </a:xfrm>
              <a:custGeom>
                <a:avLst/>
                <a:gdLst/>
                <a:ahLst/>
                <a:cxnLst/>
                <a:rect l="l" t="t" r="r" b="b"/>
                <a:pathLst>
                  <a:path w="180975" h="9525">
                    <a:moveTo>
                      <a:pt x="0" y="0"/>
                    </a:moveTo>
                    <a:lnTo>
                      <a:pt x="180975" y="0"/>
                    </a:lnTo>
                  </a:path>
                </a:pathLst>
              </a:custGeom>
              <a:noFill/>
              <a:ln w="14288">
                <a:solidFill>
                  <a:srgbClr val="B03A1F"/>
                </a:solidFill>
              </a:ln>
            </p:spPr>
          </p:sp>
          <p:sp>
            <p:nvSpPr>
              <p:cNvPr id="63" name="Ellipse 63"/>
              <p:cNvSpPr/>
              <p:nvPr/>
            </p:nvSpPr>
            <p:spPr>
              <a:xfrm>
                <a:off x="676275" y="1819275"/>
                <a:ext cx="323850" cy="323850"/>
              </a:xfrm>
              <a:prstGeom prst="ellipse">
                <a:avLst/>
              </a:prstGeom>
              <a:solidFill>
                <a:srgbClr val="B03A1F"/>
              </a:solidFill>
              <a:ln>
                <a:noFill/>
              </a:ln>
            </p:spPr>
          </p:sp>
          <p:grpSp>
            <p:nvGrpSpPr>
              <p:cNvPr id="68" name="Group 68"/>
              <p:cNvGrpSpPr/>
              <p:nvPr/>
            </p:nvGrpSpPr>
            <p:grpSpPr>
              <a:xfrm>
                <a:off x="773906" y="1916906"/>
                <a:ext cx="128588" cy="128588"/>
                <a:chOff x="773906" y="1916906"/>
                <a:chExt cx="128588" cy="128588"/>
              </a:xfrm>
            </p:grpSpPr>
            <p:sp>
              <p:nvSpPr>
                <p:cNvPr id="64" name="Freeform 64"/>
                <p:cNvSpPr/>
                <p:nvPr/>
              </p:nvSpPr>
              <p:spPr>
                <a:xfrm>
                  <a:off x="788194" y="19169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65" name="Freeform 65"/>
                <p:cNvSpPr/>
                <p:nvPr/>
              </p:nvSpPr>
              <p:spPr>
                <a:xfrm>
                  <a:off x="773906" y="20026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66" name="Freeform 66"/>
                <p:cNvSpPr/>
                <p:nvPr/>
              </p:nvSpPr>
              <p:spPr>
                <a:xfrm>
                  <a:off x="866775" y="19178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67" name="Freeform 67"/>
                <p:cNvSpPr/>
                <p:nvPr/>
              </p:nvSpPr>
              <p:spPr>
                <a:xfrm>
                  <a:off x="881063" y="20037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69" name="TextBox 69"/>
              <p:cNvSpPr txBox="1"/>
              <p:nvPr/>
            </p:nvSpPr>
            <p:spPr>
              <a:xfrm>
                <a:off x="1081088" y="1860947"/>
                <a:ext cx="262611"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客户</a:t>
                </a:r>
              </a:p>
            </p:txBody>
          </p:sp>
          <p:sp>
            <p:nvSpPr>
              <p:cNvPr id="70" name="TextBox 70"/>
              <p:cNvSpPr txBox="1"/>
              <p:nvPr/>
            </p:nvSpPr>
            <p:spPr>
              <a:xfrm>
                <a:off x="1081088" y="2056686"/>
                <a:ext cx="115648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客户数、新增客户、留存率</a:t>
                </a:r>
              </a:p>
            </p:txBody>
          </p:sp>
        </p:grpSp>
        <p:grpSp>
          <p:nvGrpSpPr>
            <p:cNvPr id="82" name="kpi-branch-2"/>
            <p:cNvGrpSpPr/>
            <p:nvPr/>
          </p:nvGrpSpPr>
          <p:grpSpPr>
            <a:xfrm>
              <a:off x="495300" y="2276475"/>
              <a:ext cx="1737947" cy="377905"/>
              <a:chOff x="495300" y="2276475"/>
              <a:chExt cx="1737947" cy="377905"/>
            </a:xfrm>
          </p:grpSpPr>
          <p:sp>
            <p:nvSpPr>
              <p:cNvPr id="72" name="Line 72"/>
              <p:cNvSpPr/>
              <p:nvPr/>
            </p:nvSpPr>
            <p:spPr>
              <a:xfrm>
                <a:off x="495300" y="2438400"/>
                <a:ext cx="180975" cy="9525"/>
              </a:xfrm>
              <a:custGeom>
                <a:avLst/>
                <a:gdLst/>
                <a:ahLst/>
                <a:cxnLst/>
                <a:rect l="l" t="t" r="r" b="b"/>
                <a:pathLst>
                  <a:path w="180975" h="9525">
                    <a:moveTo>
                      <a:pt x="0" y="0"/>
                    </a:moveTo>
                    <a:lnTo>
                      <a:pt x="180975" y="0"/>
                    </a:lnTo>
                  </a:path>
                </a:pathLst>
              </a:custGeom>
              <a:noFill/>
              <a:ln w="14288">
                <a:solidFill>
                  <a:srgbClr val="B03A1F"/>
                </a:solidFill>
              </a:ln>
            </p:spPr>
          </p:sp>
          <p:sp>
            <p:nvSpPr>
              <p:cNvPr id="73" name="Ellipse 73"/>
              <p:cNvSpPr/>
              <p:nvPr/>
            </p:nvSpPr>
            <p:spPr>
              <a:xfrm>
                <a:off x="676275" y="2276475"/>
                <a:ext cx="323850" cy="323850"/>
              </a:xfrm>
              <a:prstGeom prst="ellipse">
                <a:avLst/>
              </a:prstGeom>
              <a:solidFill>
                <a:srgbClr val="B03A1F"/>
              </a:solidFill>
              <a:ln>
                <a:noFill/>
              </a:ln>
            </p:spPr>
          </p:sp>
          <p:grpSp>
            <p:nvGrpSpPr>
              <p:cNvPr id="79" name="Group 79"/>
              <p:cNvGrpSpPr/>
              <p:nvPr/>
            </p:nvGrpSpPr>
            <p:grpSpPr>
              <a:xfrm>
                <a:off x="773906" y="2373149"/>
                <a:ext cx="128588" cy="129545"/>
                <a:chOff x="773906" y="2373149"/>
                <a:chExt cx="128588" cy="129545"/>
              </a:xfrm>
            </p:grpSpPr>
            <p:sp>
              <p:nvSpPr>
                <p:cNvPr id="74" name="Freeform 74"/>
                <p:cNvSpPr/>
                <p:nvPr/>
              </p:nvSpPr>
              <p:spPr>
                <a:xfrm>
                  <a:off x="816769" y="243125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FFFFFF"/>
                  </a:solidFill>
                </a:ln>
              </p:spPr>
            </p:sp>
            <p:sp>
              <p:nvSpPr>
                <p:cNvPr id="75" name="Freeform 75"/>
                <p:cNvSpPr/>
                <p:nvPr/>
              </p:nvSpPr>
              <p:spPr>
                <a:xfrm>
                  <a:off x="816769" y="245268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FFFFFF"/>
                  </a:solidFill>
                </a:ln>
              </p:spPr>
            </p:sp>
            <p:sp>
              <p:nvSpPr>
                <p:cNvPr id="76" name="Freeform 76"/>
                <p:cNvSpPr/>
                <p:nvPr/>
              </p:nvSpPr>
              <p:spPr>
                <a:xfrm>
                  <a:off x="773906" y="237314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FFFFFF"/>
                  </a:solidFill>
                </a:ln>
              </p:spPr>
            </p:sp>
            <p:sp>
              <p:nvSpPr>
                <p:cNvPr id="77" name="Freeform 77"/>
                <p:cNvSpPr/>
                <p:nvPr/>
              </p:nvSpPr>
              <p:spPr>
                <a:xfrm>
                  <a:off x="773906" y="239553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FFFFFF"/>
                  </a:solidFill>
                </a:ln>
              </p:spPr>
            </p:sp>
            <p:sp>
              <p:nvSpPr>
                <p:cNvPr id="78" name="Freeform 78"/>
                <p:cNvSpPr/>
                <p:nvPr/>
              </p:nvSpPr>
              <p:spPr>
                <a:xfrm>
                  <a:off x="773906" y="243125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FFFFFF"/>
                  </a:solidFill>
                </a:ln>
              </p:spPr>
            </p:sp>
          </p:grpSp>
          <p:sp>
            <p:nvSpPr>
              <p:cNvPr id="80" name="TextBox 80"/>
              <p:cNvSpPr txBox="1"/>
              <p:nvPr/>
            </p:nvSpPr>
            <p:spPr>
              <a:xfrm>
                <a:off x="1081088" y="2318147"/>
                <a:ext cx="648877"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AUM与收入</a:t>
                </a:r>
              </a:p>
            </p:txBody>
          </p:sp>
          <p:sp>
            <p:nvSpPr>
              <p:cNvPr id="81" name="TextBox 81"/>
              <p:cNvSpPr txBox="1"/>
              <p:nvPr/>
            </p:nvSpPr>
            <p:spPr>
              <a:xfrm>
                <a:off x="1081088" y="2513886"/>
                <a:ext cx="1152159"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AUM规模、收入、中收贡献</a:t>
                </a:r>
              </a:p>
            </p:txBody>
          </p:sp>
        </p:grpSp>
        <p:grpSp>
          <p:nvGrpSpPr>
            <p:cNvPr id="90" name="kpi-branch-3"/>
            <p:cNvGrpSpPr/>
            <p:nvPr/>
          </p:nvGrpSpPr>
          <p:grpSpPr>
            <a:xfrm>
              <a:off x="495300" y="2733675"/>
              <a:ext cx="1837856" cy="377905"/>
              <a:chOff x="495300" y="2733675"/>
              <a:chExt cx="1837856" cy="377905"/>
            </a:xfrm>
          </p:grpSpPr>
          <p:sp>
            <p:nvSpPr>
              <p:cNvPr id="83" name="Line 83"/>
              <p:cNvSpPr/>
              <p:nvPr/>
            </p:nvSpPr>
            <p:spPr>
              <a:xfrm>
                <a:off x="495300" y="2895600"/>
                <a:ext cx="180975" cy="9525"/>
              </a:xfrm>
              <a:custGeom>
                <a:avLst/>
                <a:gdLst/>
                <a:ahLst/>
                <a:cxnLst/>
                <a:rect l="l" t="t" r="r" b="b"/>
                <a:pathLst>
                  <a:path w="180975" h="9525">
                    <a:moveTo>
                      <a:pt x="0" y="0"/>
                    </a:moveTo>
                    <a:lnTo>
                      <a:pt x="180975" y="0"/>
                    </a:lnTo>
                  </a:path>
                </a:pathLst>
              </a:custGeom>
              <a:noFill/>
              <a:ln w="14288">
                <a:solidFill>
                  <a:srgbClr val="B03A1F"/>
                </a:solidFill>
              </a:ln>
            </p:spPr>
          </p:sp>
          <p:sp>
            <p:nvSpPr>
              <p:cNvPr id="84" name="Ellipse 84"/>
              <p:cNvSpPr/>
              <p:nvPr/>
            </p:nvSpPr>
            <p:spPr>
              <a:xfrm>
                <a:off x="676275" y="2733675"/>
                <a:ext cx="323850" cy="323850"/>
              </a:xfrm>
              <a:prstGeom prst="ellipse">
                <a:avLst/>
              </a:prstGeom>
              <a:solidFill>
                <a:srgbClr val="B03A1F"/>
              </a:solidFill>
              <a:ln>
                <a:noFill/>
              </a:ln>
            </p:spPr>
          </p:sp>
          <p:grpSp>
            <p:nvGrpSpPr>
              <p:cNvPr id="87" name="Group 87"/>
              <p:cNvGrpSpPr/>
              <p:nvPr/>
            </p:nvGrpSpPr>
            <p:grpSpPr>
              <a:xfrm>
                <a:off x="781050" y="2852738"/>
                <a:ext cx="114300" cy="102393"/>
                <a:chOff x="781050" y="2852738"/>
                <a:chExt cx="114300" cy="102393"/>
              </a:xfrm>
            </p:grpSpPr>
            <p:sp>
              <p:nvSpPr>
                <p:cNvPr id="85" name="Freeform 85"/>
                <p:cNvSpPr/>
                <p:nvPr/>
              </p:nvSpPr>
              <p:spPr>
                <a:xfrm>
                  <a:off x="781050" y="2945606"/>
                  <a:ext cx="114300" cy="9525"/>
                </a:xfrm>
                <a:custGeom>
                  <a:avLst/>
                  <a:gdLst/>
                  <a:ahLst/>
                  <a:cxnLst/>
                  <a:rect l="l" t="t" r="r" b="b"/>
                  <a:pathLst>
                    <a:path w="114300" h="9525">
                      <a:moveTo>
                        <a:pt x="0" y="0"/>
                      </a:moveTo>
                      <a:lnTo>
                        <a:pt x="114300" y="0"/>
                      </a:lnTo>
                    </a:path>
                  </a:pathLst>
                </a:custGeom>
                <a:noFill/>
                <a:ln w="14288">
                  <a:solidFill>
                    <a:srgbClr val="FFFFFF"/>
                  </a:solidFill>
                </a:ln>
              </p:spPr>
            </p:sp>
            <p:sp>
              <p:nvSpPr>
                <p:cNvPr id="86" name="Freeform 86"/>
                <p:cNvSpPr/>
                <p:nvPr/>
              </p:nvSpPr>
              <p:spPr>
                <a:xfrm>
                  <a:off x="781050" y="2852738"/>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FFFFFF"/>
                  </a:solidFill>
                </a:ln>
              </p:spPr>
            </p:sp>
          </p:grpSp>
          <p:sp>
            <p:nvSpPr>
              <p:cNvPr id="88" name="TextBox 88"/>
              <p:cNvSpPr txBox="1"/>
              <p:nvPr/>
            </p:nvSpPr>
            <p:spPr>
              <a:xfrm>
                <a:off x="1081088" y="2775347"/>
                <a:ext cx="262611"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活跃</a:t>
                </a:r>
              </a:p>
            </p:txBody>
          </p:sp>
          <p:sp>
            <p:nvSpPr>
              <p:cNvPr id="89" name="TextBox 89"/>
              <p:cNvSpPr txBox="1"/>
              <p:nvPr/>
            </p:nvSpPr>
            <p:spPr>
              <a:xfrm>
                <a:off x="1081088" y="2971086"/>
                <a:ext cx="1252068"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活跃客户、交易频次、参与度</a:t>
                </a:r>
              </a:p>
            </p:txBody>
          </p:sp>
        </p:grpSp>
        <p:grpSp>
          <p:nvGrpSpPr>
            <p:cNvPr id="100" name="kpi-branch-4"/>
            <p:cNvGrpSpPr/>
            <p:nvPr/>
          </p:nvGrpSpPr>
          <p:grpSpPr>
            <a:xfrm>
              <a:off x="495300" y="3190875"/>
              <a:ext cx="1837856" cy="377905"/>
              <a:chOff x="495300" y="3190875"/>
              <a:chExt cx="1837856" cy="377905"/>
            </a:xfrm>
          </p:grpSpPr>
          <p:sp>
            <p:nvSpPr>
              <p:cNvPr id="91" name="Line 91"/>
              <p:cNvSpPr/>
              <p:nvPr/>
            </p:nvSpPr>
            <p:spPr>
              <a:xfrm>
                <a:off x="495300" y="3352800"/>
                <a:ext cx="180975" cy="9525"/>
              </a:xfrm>
              <a:custGeom>
                <a:avLst/>
                <a:gdLst/>
                <a:ahLst/>
                <a:cxnLst/>
                <a:rect l="l" t="t" r="r" b="b"/>
                <a:pathLst>
                  <a:path w="180975" h="9525">
                    <a:moveTo>
                      <a:pt x="0" y="0"/>
                    </a:moveTo>
                    <a:lnTo>
                      <a:pt x="180975" y="0"/>
                    </a:lnTo>
                  </a:path>
                </a:pathLst>
              </a:custGeom>
              <a:noFill/>
              <a:ln w="14288">
                <a:solidFill>
                  <a:srgbClr val="B03A1F"/>
                </a:solidFill>
              </a:ln>
            </p:spPr>
          </p:sp>
          <p:sp>
            <p:nvSpPr>
              <p:cNvPr id="92" name="Ellipse 92"/>
              <p:cNvSpPr/>
              <p:nvPr/>
            </p:nvSpPr>
            <p:spPr>
              <a:xfrm>
                <a:off x="676275" y="3190875"/>
                <a:ext cx="323850" cy="323850"/>
              </a:xfrm>
              <a:prstGeom prst="ellipse">
                <a:avLst/>
              </a:prstGeom>
              <a:solidFill>
                <a:srgbClr val="B03A1F"/>
              </a:solidFill>
              <a:ln>
                <a:noFill/>
              </a:ln>
            </p:spPr>
          </p:sp>
          <p:grpSp>
            <p:nvGrpSpPr>
              <p:cNvPr id="97" name="Group 97"/>
              <p:cNvGrpSpPr/>
              <p:nvPr/>
            </p:nvGrpSpPr>
            <p:grpSpPr>
              <a:xfrm>
                <a:off x="781050" y="3288506"/>
                <a:ext cx="114300" cy="128588"/>
                <a:chOff x="781050" y="3288506"/>
                <a:chExt cx="114300" cy="128588"/>
              </a:xfrm>
            </p:grpSpPr>
            <p:sp>
              <p:nvSpPr>
                <p:cNvPr id="93" name="Freeform 93"/>
                <p:cNvSpPr/>
                <p:nvPr/>
              </p:nvSpPr>
              <p:spPr>
                <a:xfrm>
                  <a:off x="781050" y="338851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94" name="Freeform 94"/>
                <p:cNvSpPr/>
                <p:nvPr/>
              </p:nvSpPr>
              <p:spPr>
                <a:xfrm>
                  <a:off x="859631" y="338851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95" name="Freeform 95"/>
                <p:cNvSpPr/>
                <p:nvPr/>
              </p:nvSpPr>
              <p:spPr>
                <a:xfrm>
                  <a:off x="781050" y="3288506"/>
                  <a:ext cx="92869" cy="100012"/>
                </a:xfrm>
                <a:custGeom>
                  <a:avLst/>
                  <a:gdLst/>
                  <a:ahLst/>
                  <a:cxnLst/>
                  <a:rect l="l" t="t" r="r" b="b"/>
                  <a:pathLst>
                    <a:path w="92869" h="100012">
                      <a:moveTo>
                        <a:pt x="92869" y="100012"/>
                      </a:moveTo>
                      <a:lnTo>
                        <a:pt x="14288" y="100012"/>
                      </a:lnTo>
                      <a:lnTo>
                        <a:pt x="14288" y="0"/>
                      </a:lnTo>
                      <a:lnTo>
                        <a:pt x="0" y="0"/>
                      </a:lnTo>
                    </a:path>
                  </a:pathLst>
                </a:custGeom>
                <a:noFill/>
                <a:ln w="14288">
                  <a:solidFill>
                    <a:srgbClr val="FFFFFF"/>
                  </a:solidFill>
                </a:ln>
              </p:spPr>
            </p:sp>
            <p:sp>
              <p:nvSpPr>
                <p:cNvPr id="96" name="Freeform 96"/>
                <p:cNvSpPr/>
                <p:nvPr/>
              </p:nvSpPr>
              <p:spPr>
                <a:xfrm>
                  <a:off x="795338" y="3302794"/>
                  <a:ext cx="100012" cy="57150"/>
                </a:xfrm>
                <a:custGeom>
                  <a:avLst/>
                  <a:gdLst/>
                  <a:ahLst/>
                  <a:cxnLst/>
                  <a:rect l="l" t="t" r="r" b="b"/>
                  <a:pathLst>
                    <a:path w="100012" h="57150">
                      <a:moveTo>
                        <a:pt x="0" y="0"/>
                      </a:moveTo>
                      <a:lnTo>
                        <a:pt x="100012" y="7144"/>
                      </a:lnTo>
                      <a:lnTo>
                        <a:pt x="92869" y="57150"/>
                      </a:lnTo>
                      <a:lnTo>
                        <a:pt x="0" y="57150"/>
                      </a:lnTo>
                    </a:path>
                  </a:pathLst>
                </a:custGeom>
                <a:noFill/>
                <a:ln w="14288">
                  <a:solidFill>
                    <a:srgbClr val="FFFFFF"/>
                  </a:solidFill>
                </a:ln>
              </p:spPr>
            </p:sp>
          </p:grpSp>
          <p:sp>
            <p:nvSpPr>
              <p:cNvPr id="98" name="TextBox 98"/>
              <p:cNvSpPr txBox="1"/>
              <p:nvPr/>
            </p:nvSpPr>
            <p:spPr>
              <a:xfrm>
                <a:off x="1081088" y="3232547"/>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产品渗透</a:t>
                </a:r>
              </a:p>
            </p:txBody>
          </p:sp>
          <p:sp>
            <p:nvSpPr>
              <p:cNvPr id="99" name="TextBox 99"/>
              <p:cNvSpPr txBox="1"/>
              <p:nvPr/>
            </p:nvSpPr>
            <p:spPr>
              <a:xfrm>
                <a:off x="1081088" y="3428286"/>
                <a:ext cx="1252068"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持有产品数、渗透率、交叉率</a:t>
                </a:r>
              </a:p>
            </p:txBody>
          </p:sp>
        </p:grpSp>
        <p:grpSp>
          <p:nvGrpSpPr>
            <p:cNvPr id="108" name="kpi-branch-5"/>
            <p:cNvGrpSpPr/>
            <p:nvPr/>
          </p:nvGrpSpPr>
          <p:grpSpPr>
            <a:xfrm>
              <a:off x="495300" y="3648075"/>
              <a:ext cx="1742275" cy="377905"/>
              <a:chOff x="495300" y="3648075"/>
              <a:chExt cx="1742275" cy="377905"/>
            </a:xfrm>
          </p:grpSpPr>
          <p:sp>
            <p:nvSpPr>
              <p:cNvPr id="101" name="Line 101"/>
              <p:cNvSpPr/>
              <p:nvPr/>
            </p:nvSpPr>
            <p:spPr>
              <a:xfrm>
                <a:off x="495300" y="3810000"/>
                <a:ext cx="180975" cy="9525"/>
              </a:xfrm>
              <a:custGeom>
                <a:avLst/>
                <a:gdLst/>
                <a:ahLst/>
                <a:cxnLst/>
                <a:rect l="l" t="t" r="r" b="b"/>
                <a:pathLst>
                  <a:path w="180975" h="9525">
                    <a:moveTo>
                      <a:pt x="0" y="0"/>
                    </a:moveTo>
                    <a:lnTo>
                      <a:pt x="180975" y="0"/>
                    </a:lnTo>
                  </a:path>
                </a:pathLst>
              </a:custGeom>
              <a:noFill/>
              <a:ln w="14288">
                <a:solidFill>
                  <a:srgbClr val="B03A1F"/>
                </a:solidFill>
              </a:ln>
            </p:spPr>
          </p:sp>
          <p:sp>
            <p:nvSpPr>
              <p:cNvPr id="102" name="Ellipse 102"/>
              <p:cNvSpPr/>
              <p:nvPr/>
            </p:nvSpPr>
            <p:spPr>
              <a:xfrm>
                <a:off x="676275" y="3648075"/>
                <a:ext cx="323850" cy="323850"/>
              </a:xfrm>
              <a:prstGeom prst="ellipse">
                <a:avLst/>
              </a:prstGeom>
              <a:solidFill>
                <a:srgbClr val="B03A1F"/>
              </a:solidFill>
              <a:ln>
                <a:noFill/>
              </a:ln>
            </p:spPr>
          </p:sp>
          <p:grpSp>
            <p:nvGrpSpPr>
              <p:cNvPr id="105" name="Group 105"/>
              <p:cNvGrpSpPr/>
              <p:nvPr/>
            </p:nvGrpSpPr>
            <p:grpSpPr>
              <a:xfrm>
                <a:off x="764265" y="3745706"/>
                <a:ext cx="139505" cy="128588"/>
                <a:chOff x="764265" y="3745706"/>
                <a:chExt cx="139505" cy="128588"/>
              </a:xfrm>
            </p:grpSpPr>
            <p:sp>
              <p:nvSpPr>
                <p:cNvPr id="103" name="Freeform 103"/>
                <p:cNvSpPr/>
                <p:nvPr/>
              </p:nvSpPr>
              <p:spPr>
                <a:xfrm>
                  <a:off x="764265" y="374570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FFFFFF"/>
                  </a:solidFill>
                </a:ln>
              </p:spPr>
            </p:sp>
            <p:sp>
              <p:nvSpPr>
                <p:cNvPr id="104" name="Freeform 104"/>
                <p:cNvSpPr/>
                <p:nvPr/>
              </p:nvSpPr>
              <p:spPr>
                <a:xfrm>
                  <a:off x="859631" y="384571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106" name="TextBox 106"/>
              <p:cNvSpPr txBox="1"/>
              <p:nvPr/>
            </p:nvSpPr>
            <p:spPr>
              <a:xfrm>
                <a:off x="1081088" y="3689747"/>
                <a:ext cx="515696"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风险质量</a:t>
                </a:r>
              </a:p>
            </p:txBody>
          </p:sp>
          <p:sp>
            <p:nvSpPr>
              <p:cNvPr id="107" name="TextBox 107"/>
              <p:cNvSpPr txBox="1"/>
              <p:nvPr/>
            </p:nvSpPr>
            <p:spPr>
              <a:xfrm>
                <a:off x="1081088" y="3885486"/>
                <a:ext cx="1156487" cy="140494"/>
              </a:xfrm>
              <a:prstGeom prst="rect">
                <a:avLst/>
              </a:prstGeom>
              <a:noFill/>
              <a:ln>
                <a:noFill/>
              </a:ln>
            </p:spPr>
            <p:txBody>
              <a:bodyPr wrap="none" lIns="0" tIns="0" rIns="0" bIns="0" anchor="t" anchorCtr="0">
                <a:spAutoFit/>
              </a:bodyPr>
              <a:lstStyle/>
              <a:p>
                <a:pPr algn="l"/>
                <a:r>
                  <a:rPr lang="zh-CN" sz="710" dirty="0">
                    <a:solidFill>
                      <a:srgbClr val="6A6A6A"/>
                    </a:solidFill>
                    <a:latin typeface="+mn-lt"/>
                    <a:ea typeface="+mn-ea"/>
                    <a:cs typeface="+mn-cs"/>
                  </a:rPr>
                  <a:t>不良率、逾期率、风险敞口</a:t>
                </a:r>
              </a:p>
            </p:txBody>
          </p:sp>
        </p:grpSp>
      </p:grpSp>
      <p:grpSp>
        <p:nvGrpSpPr>
          <p:cNvPr id="166" name="pdca-cycle"/>
          <p:cNvGrpSpPr/>
          <p:nvPr/>
        </p:nvGrpSpPr>
        <p:grpSpPr>
          <a:xfrm>
            <a:off x="3332467" y="1419225"/>
            <a:ext cx="4974615" cy="2705100"/>
            <a:chOff x="3332467" y="1419225"/>
            <a:chExt cx="4974615" cy="2705100"/>
          </a:xfrm>
        </p:grpSpPr>
        <p:sp>
          <p:nvSpPr>
            <p:cNvPr id="110" name="Freeform 110"/>
            <p:cNvSpPr/>
            <p:nvPr/>
          </p:nvSpPr>
          <p:spPr>
            <a:xfrm>
              <a:off x="5267325" y="2219325"/>
              <a:ext cx="1104900" cy="1104900"/>
            </a:xfrm>
            <a:prstGeom prst="circularArrow">
              <a:avLst/>
            </a:prstGeom>
            <a:solidFill>
              <a:srgbClr val="B03A1F"/>
            </a:solidFill>
            <a:ln>
              <a:noFill/>
            </a:ln>
          </p:spPr>
        </p:sp>
        <p:sp>
          <p:nvSpPr>
            <p:cNvPr id="111" name="Polygon 111"/>
            <p:cNvSpPr/>
            <p:nvPr/>
          </p:nvSpPr>
          <p:spPr>
            <a:xfrm>
              <a:off x="6295433" y="1717394"/>
              <a:ext cx="144059" cy="116168"/>
            </a:xfrm>
            <a:custGeom>
              <a:avLst/>
              <a:gdLst/>
              <a:ahLst/>
              <a:cxnLst/>
              <a:rect l="l" t="t" r="r" b="b"/>
              <a:pathLst>
                <a:path w="144059" h="116168">
                  <a:moveTo>
                    <a:pt x="57150" y="0"/>
                  </a:moveTo>
                  <a:lnTo>
                    <a:pt x="144059" y="116168"/>
                  </a:lnTo>
                  <a:lnTo>
                    <a:pt x="0" y="98987"/>
                  </a:lnTo>
                  <a:close/>
                </a:path>
              </a:pathLst>
            </a:custGeom>
            <a:solidFill>
              <a:srgbClr val="B03A1F"/>
            </a:solidFill>
            <a:ln>
              <a:noFill/>
            </a:ln>
          </p:spPr>
        </p:sp>
        <p:sp>
          <p:nvSpPr>
            <p:cNvPr id="112" name="Polygon 112"/>
            <p:cNvSpPr/>
            <p:nvPr/>
          </p:nvSpPr>
          <p:spPr>
            <a:xfrm>
              <a:off x="6886575" y="2705100"/>
              <a:ext cx="114300" cy="133350"/>
            </a:xfrm>
            <a:custGeom>
              <a:avLst/>
              <a:gdLst/>
              <a:ahLst/>
              <a:cxnLst/>
              <a:rect l="l" t="t" r="r" b="b"/>
              <a:pathLst>
                <a:path w="114300" h="133350">
                  <a:moveTo>
                    <a:pt x="114300" y="0"/>
                  </a:moveTo>
                  <a:lnTo>
                    <a:pt x="57150" y="133350"/>
                  </a:lnTo>
                  <a:lnTo>
                    <a:pt x="0" y="0"/>
                  </a:lnTo>
                  <a:close/>
                </a:path>
              </a:pathLst>
            </a:custGeom>
            <a:solidFill>
              <a:srgbClr val="B03A1F"/>
            </a:solidFill>
            <a:ln>
              <a:noFill/>
            </a:ln>
          </p:spPr>
        </p:sp>
        <p:sp>
          <p:nvSpPr>
            <p:cNvPr id="113" name="Polygon 113"/>
            <p:cNvSpPr/>
            <p:nvPr/>
          </p:nvSpPr>
          <p:spPr>
            <a:xfrm>
              <a:off x="6324008" y="3660494"/>
              <a:ext cx="144059" cy="116168"/>
            </a:xfrm>
            <a:custGeom>
              <a:avLst/>
              <a:gdLst/>
              <a:ahLst/>
              <a:cxnLst/>
              <a:rect l="l" t="t" r="r" b="b"/>
              <a:pathLst>
                <a:path w="144059" h="116168">
                  <a:moveTo>
                    <a:pt x="144059" y="98987"/>
                  </a:moveTo>
                  <a:lnTo>
                    <a:pt x="0" y="116168"/>
                  </a:lnTo>
                  <a:lnTo>
                    <a:pt x="86909" y="0"/>
                  </a:lnTo>
                  <a:close/>
                </a:path>
              </a:pathLst>
            </a:custGeom>
            <a:solidFill>
              <a:srgbClr val="B03A1F"/>
            </a:solidFill>
            <a:ln>
              <a:noFill/>
            </a:ln>
          </p:spPr>
        </p:sp>
        <p:sp>
          <p:nvSpPr>
            <p:cNvPr id="114" name="Polygon 114"/>
            <p:cNvSpPr/>
            <p:nvPr/>
          </p:nvSpPr>
          <p:spPr>
            <a:xfrm>
              <a:off x="5200058" y="3709988"/>
              <a:ext cx="144059" cy="116168"/>
            </a:xfrm>
            <a:custGeom>
              <a:avLst/>
              <a:gdLst/>
              <a:ahLst/>
              <a:cxnLst/>
              <a:rect l="l" t="t" r="r" b="b"/>
              <a:pathLst>
                <a:path w="144059" h="116168">
                  <a:moveTo>
                    <a:pt x="86909" y="116168"/>
                  </a:moveTo>
                  <a:lnTo>
                    <a:pt x="0" y="0"/>
                  </a:lnTo>
                  <a:lnTo>
                    <a:pt x="144059" y="17182"/>
                  </a:lnTo>
                  <a:close/>
                </a:path>
              </a:pathLst>
            </a:custGeom>
            <a:solidFill>
              <a:srgbClr val="B03A1F"/>
            </a:solidFill>
            <a:ln>
              <a:noFill/>
            </a:ln>
          </p:spPr>
        </p:sp>
        <p:sp>
          <p:nvSpPr>
            <p:cNvPr id="115" name="Polygon 115"/>
            <p:cNvSpPr/>
            <p:nvPr/>
          </p:nvSpPr>
          <p:spPr>
            <a:xfrm>
              <a:off x="4638675" y="2705100"/>
              <a:ext cx="114300" cy="133350"/>
            </a:xfrm>
            <a:custGeom>
              <a:avLst/>
              <a:gdLst/>
              <a:ahLst/>
              <a:cxnLst/>
              <a:rect l="l" t="t" r="r" b="b"/>
              <a:pathLst>
                <a:path w="114300" h="133350">
                  <a:moveTo>
                    <a:pt x="0" y="133350"/>
                  </a:moveTo>
                  <a:lnTo>
                    <a:pt x="57150" y="0"/>
                  </a:lnTo>
                  <a:lnTo>
                    <a:pt x="114300" y="133350"/>
                  </a:lnTo>
                  <a:close/>
                </a:path>
              </a:pathLst>
            </a:custGeom>
            <a:solidFill>
              <a:srgbClr val="B03A1F"/>
            </a:solidFill>
            <a:ln>
              <a:noFill/>
            </a:ln>
          </p:spPr>
        </p:sp>
        <p:sp>
          <p:nvSpPr>
            <p:cNvPr id="116" name="Polygon 116"/>
            <p:cNvSpPr/>
            <p:nvPr/>
          </p:nvSpPr>
          <p:spPr>
            <a:xfrm>
              <a:off x="5171483" y="1766888"/>
              <a:ext cx="144059" cy="116168"/>
            </a:xfrm>
            <a:custGeom>
              <a:avLst/>
              <a:gdLst/>
              <a:ahLst/>
              <a:cxnLst/>
              <a:rect l="l" t="t" r="r" b="b"/>
              <a:pathLst>
                <a:path w="144059" h="116168">
                  <a:moveTo>
                    <a:pt x="0" y="17182"/>
                  </a:moveTo>
                  <a:lnTo>
                    <a:pt x="144059" y="0"/>
                  </a:lnTo>
                  <a:lnTo>
                    <a:pt x="57150" y="116168"/>
                  </a:lnTo>
                  <a:close/>
                </a:path>
              </a:pathLst>
            </a:custGeom>
            <a:solidFill>
              <a:srgbClr val="B03A1F"/>
            </a:solidFill>
            <a:ln>
              <a:noFill/>
            </a:ln>
          </p:spPr>
        </p:sp>
        <p:grpSp>
          <p:nvGrpSpPr>
            <p:cNvPr id="124" name="cycle-node-1"/>
            <p:cNvGrpSpPr/>
            <p:nvPr/>
          </p:nvGrpSpPr>
          <p:grpSpPr>
            <a:xfrm>
              <a:off x="5591175" y="1419225"/>
              <a:ext cx="1744357" cy="457200"/>
              <a:chOff x="5591175" y="1419225"/>
              <a:chExt cx="1744357" cy="457200"/>
            </a:xfrm>
          </p:grpSpPr>
          <p:sp>
            <p:nvSpPr>
              <p:cNvPr id="117" name="Ellipse 117"/>
              <p:cNvSpPr/>
              <p:nvPr/>
            </p:nvSpPr>
            <p:spPr>
              <a:xfrm>
                <a:off x="5591175" y="1419225"/>
                <a:ext cx="457200" cy="457200"/>
              </a:xfrm>
              <a:prstGeom prst="ellipse">
                <a:avLst/>
              </a:prstGeom>
              <a:solidFill>
                <a:srgbClr val="B03A1F"/>
              </a:solidFill>
              <a:ln>
                <a:noFill/>
              </a:ln>
            </p:spPr>
          </p:sp>
          <p:grpSp>
            <p:nvGrpSpPr>
              <p:cNvPr id="121" name="Group 121"/>
              <p:cNvGrpSpPr/>
              <p:nvPr/>
            </p:nvGrpSpPr>
            <p:grpSpPr>
              <a:xfrm>
                <a:off x="5734050" y="1562100"/>
                <a:ext cx="171450" cy="171450"/>
                <a:chOff x="5734050" y="1562100"/>
                <a:chExt cx="171450" cy="171450"/>
              </a:xfrm>
            </p:grpSpPr>
            <p:sp>
              <p:nvSpPr>
                <p:cNvPr id="118" name="Freeform 118"/>
                <p:cNvSpPr/>
                <p:nvPr/>
              </p:nvSpPr>
              <p:spPr>
                <a:xfrm>
                  <a:off x="5810250" y="16383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119" name="Freeform 119"/>
                <p:cNvSpPr/>
                <p:nvPr/>
              </p:nvSpPr>
              <p:spPr>
                <a:xfrm>
                  <a:off x="5772150" y="16002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FFFFFF"/>
                  </a:solidFill>
                </a:ln>
              </p:spPr>
            </p:sp>
            <p:sp>
              <p:nvSpPr>
                <p:cNvPr id="120" name="Freeform 120"/>
                <p:cNvSpPr/>
                <p:nvPr/>
              </p:nvSpPr>
              <p:spPr>
                <a:xfrm>
                  <a:off x="5734050" y="15621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grpSp>
          <p:sp>
            <p:nvSpPr>
              <p:cNvPr id="122" name="TextBox 122"/>
              <p:cNvSpPr txBox="1"/>
              <p:nvPr/>
            </p:nvSpPr>
            <p:spPr>
              <a:xfrm>
                <a:off x="6119812" y="1516618"/>
                <a:ext cx="642804"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1. 目标分解</a:t>
                </a:r>
              </a:p>
            </p:txBody>
          </p:sp>
          <p:sp>
            <p:nvSpPr>
              <p:cNvPr id="123" name="TextBox 123"/>
              <p:cNvSpPr txBox="1"/>
              <p:nvPr/>
            </p:nvSpPr>
            <p:spPr>
              <a:xfrm>
                <a:off x="6119812" y="1693307"/>
                <a:ext cx="1215720"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分解目标、明确指标、对齐协同</a:t>
                </a:r>
              </a:p>
            </p:txBody>
          </p:sp>
        </p:grpSp>
        <p:grpSp>
          <p:nvGrpSpPr>
            <p:cNvPr id="131" name="cycle-node-2"/>
            <p:cNvGrpSpPr/>
            <p:nvPr/>
          </p:nvGrpSpPr>
          <p:grpSpPr>
            <a:xfrm>
              <a:off x="6562725" y="1981200"/>
              <a:ext cx="1744357" cy="457200"/>
              <a:chOff x="6562725" y="1981200"/>
              <a:chExt cx="1744357" cy="457200"/>
            </a:xfrm>
          </p:grpSpPr>
          <p:sp>
            <p:nvSpPr>
              <p:cNvPr id="125" name="Ellipse 125"/>
              <p:cNvSpPr/>
              <p:nvPr/>
            </p:nvSpPr>
            <p:spPr>
              <a:xfrm>
                <a:off x="6562725" y="1981200"/>
                <a:ext cx="457200" cy="457200"/>
              </a:xfrm>
              <a:prstGeom prst="ellipse">
                <a:avLst/>
              </a:prstGeom>
              <a:solidFill>
                <a:srgbClr val="B03A1F"/>
              </a:solidFill>
              <a:ln>
                <a:noFill/>
              </a:ln>
            </p:spPr>
          </p:sp>
          <p:grpSp>
            <p:nvGrpSpPr>
              <p:cNvPr id="128" name="Group 128"/>
              <p:cNvGrpSpPr/>
              <p:nvPr/>
            </p:nvGrpSpPr>
            <p:grpSpPr>
              <a:xfrm>
                <a:off x="6701419" y="2119894"/>
                <a:ext cx="179813" cy="179813"/>
                <a:chOff x="6701419" y="2119894"/>
                <a:chExt cx="179813" cy="179813"/>
              </a:xfrm>
            </p:grpSpPr>
            <p:sp>
              <p:nvSpPr>
                <p:cNvPr id="126" name="Freeform 126"/>
                <p:cNvSpPr/>
                <p:nvPr/>
              </p:nvSpPr>
              <p:spPr>
                <a:xfrm>
                  <a:off x="6701419" y="211989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FFFFFF"/>
                  </a:solidFill>
                </a:ln>
              </p:spPr>
            </p:sp>
            <p:sp>
              <p:nvSpPr>
                <p:cNvPr id="127" name="Freeform 127"/>
                <p:cNvSpPr/>
                <p:nvPr/>
              </p:nvSpPr>
              <p:spPr>
                <a:xfrm>
                  <a:off x="6762750" y="21812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FFFFFF"/>
                  </a:solidFill>
                </a:ln>
              </p:spPr>
            </p:sp>
          </p:grpSp>
          <p:sp>
            <p:nvSpPr>
              <p:cNvPr id="129" name="TextBox 129"/>
              <p:cNvSpPr txBox="1"/>
              <p:nvPr/>
            </p:nvSpPr>
            <p:spPr>
              <a:xfrm>
                <a:off x="7091362" y="2078593"/>
                <a:ext cx="642804"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2. 策略配置</a:t>
                </a:r>
              </a:p>
            </p:txBody>
          </p:sp>
          <p:sp>
            <p:nvSpPr>
              <p:cNvPr id="130" name="TextBox 130"/>
              <p:cNvSpPr txBox="1"/>
              <p:nvPr/>
            </p:nvSpPr>
            <p:spPr>
              <a:xfrm>
                <a:off x="7091362" y="2255282"/>
                <a:ext cx="1215720"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策略组合、资源配置、能力支持</a:t>
                </a:r>
              </a:p>
            </p:txBody>
          </p:sp>
        </p:grpSp>
        <p:grpSp>
          <p:nvGrpSpPr>
            <p:cNvPr id="140" name="cycle-node-3"/>
            <p:cNvGrpSpPr/>
            <p:nvPr/>
          </p:nvGrpSpPr>
          <p:grpSpPr>
            <a:xfrm>
              <a:off x="6562725" y="3105150"/>
              <a:ext cx="1744357" cy="457200"/>
              <a:chOff x="6562725" y="3105150"/>
              <a:chExt cx="1744357" cy="457200"/>
            </a:xfrm>
          </p:grpSpPr>
          <p:sp>
            <p:nvSpPr>
              <p:cNvPr id="132" name="Ellipse 132"/>
              <p:cNvSpPr/>
              <p:nvPr/>
            </p:nvSpPr>
            <p:spPr>
              <a:xfrm>
                <a:off x="6562725" y="3105150"/>
                <a:ext cx="457200" cy="457200"/>
              </a:xfrm>
              <a:prstGeom prst="ellipse">
                <a:avLst/>
              </a:prstGeom>
              <a:solidFill>
                <a:srgbClr val="B03A1F"/>
              </a:solidFill>
              <a:ln>
                <a:noFill/>
              </a:ln>
            </p:spPr>
          </p:sp>
          <p:grpSp>
            <p:nvGrpSpPr>
              <p:cNvPr id="137" name="Group 137"/>
              <p:cNvGrpSpPr/>
              <p:nvPr/>
            </p:nvGrpSpPr>
            <p:grpSpPr>
              <a:xfrm>
                <a:off x="6724650" y="3257550"/>
                <a:ext cx="142875" cy="161925"/>
                <a:chOff x="6724650" y="3257550"/>
                <a:chExt cx="142875" cy="161925"/>
              </a:xfrm>
            </p:grpSpPr>
            <p:sp>
              <p:nvSpPr>
                <p:cNvPr id="133" name="Freeform 133"/>
                <p:cNvSpPr/>
                <p:nvPr/>
              </p:nvSpPr>
              <p:spPr>
                <a:xfrm>
                  <a:off x="6724650" y="325755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FFFFFF"/>
                  </a:solidFill>
                </a:ln>
              </p:spPr>
            </p:sp>
            <p:sp>
              <p:nvSpPr>
                <p:cNvPr id="134" name="Freeform 134"/>
                <p:cNvSpPr/>
                <p:nvPr/>
              </p:nvSpPr>
              <p:spPr>
                <a:xfrm>
                  <a:off x="6810375" y="338137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sp>
              <p:nvSpPr>
                <p:cNvPr id="135" name="Freeform 135"/>
                <p:cNvSpPr/>
                <p:nvPr/>
              </p:nvSpPr>
              <p:spPr>
                <a:xfrm>
                  <a:off x="6762750" y="3295650"/>
                  <a:ext cx="38100" cy="9525"/>
                </a:xfrm>
                <a:custGeom>
                  <a:avLst/>
                  <a:gdLst/>
                  <a:ahLst/>
                  <a:cxnLst/>
                  <a:rect l="l" t="t" r="r" b="b"/>
                  <a:pathLst>
                    <a:path w="38100" h="9525">
                      <a:moveTo>
                        <a:pt x="0" y="0"/>
                      </a:moveTo>
                      <a:lnTo>
                        <a:pt x="38100" y="0"/>
                      </a:lnTo>
                    </a:path>
                  </a:pathLst>
                </a:custGeom>
                <a:noFill/>
                <a:ln w="19050">
                  <a:solidFill>
                    <a:srgbClr val="FFFFFF"/>
                  </a:solidFill>
                </a:ln>
              </p:spPr>
            </p:sp>
            <p:sp>
              <p:nvSpPr>
                <p:cNvPr id="136" name="Freeform 136"/>
                <p:cNvSpPr/>
                <p:nvPr/>
              </p:nvSpPr>
              <p:spPr>
                <a:xfrm>
                  <a:off x="6762750" y="3333750"/>
                  <a:ext cx="19050" cy="9525"/>
                </a:xfrm>
                <a:custGeom>
                  <a:avLst/>
                  <a:gdLst/>
                  <a:ahLst/>
                  <a:cxnLst/>
                  <a:rect l="l" t="t" r="r" b="b"/>
                  <a:pathLst>
                    <a:path w="19050" h="9525">
                      <a:moveTo>
                        <a:pt x="0" y="0"/>
                      </a:moveTo>
                      <a:lnTo>
                        <a:pt x="19050" y="0"/>
                      </a:lnTo>
                    </a:path>
                  </a:pathLst>
                </a:custGeom>
                <a:noFill/>
                <a:ln w="19050">
                  <a:solidFill>
                    <a:srgbClr val="FFFFFF"/>
                  </a:solidFill>
                </a:ln>
              </p:spPr>
            </p:sp>
          </p:grpSp>
          <p:sp>
            <p:nvSpPr>
              <p:cNvPr id="138" name="TextBox 138"/>
              <p:cNvSpPr txBox="1"/>
              <p:nvPr/>
            </p:nvSpPr>
            <p:spPr>
              <a:xfrm>
                <a:off x="7091362" y="3202543"/>
                <a:ext cx="642804"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3. 任务执行</a:t>
                </a:r>
              </a:p>
            </p:txBody>
          </p:sp>
          <p:sp>
            <p:nvSpPr>
              <p:cNvPr id="139" name="TextBox 139"/>
              <p:cNvSpPr txBox="1"/>
              <p:nvPr/>
            </p:nvSpPr>
            <p:spPr>
              <a:xfrm>
                <a:off x="7091362" y="3379232"/>
                <a:ext cx="1215720" cy="126206"/>
              </a:xfrm>
              <a:prstGeom prst="rect">
                <a:avLst/>
              </a:prstGeom>
              <a:noFill/>
              <a:ln>
                <a:noFill/>
              </a:ln>
            </p:spPr>
            <p:txBody>
              <a:bodyPr wrap="none" lIns="0" tIns="0" rIns="0" bIns="0" anchor="t" anchorCtr="0">
                <a:spAutoFit/>
              </a:bodyPr>
              <a:lstStyle/>
              <a:p>
                <a:pPr algn="l"/>
                <a:r>
                  <a:rPr lang="zh-CN" sz="640" dirty="0">
                    <a:solidFill>
                      <a:srgbClr val="6A6A6A"/>
                    </a:solidFill>
                    <a:latin typeface="+mn-lt"/>
                    <a:ea typeface="+mn-ea"/>
                    <a:cs typeface="+mn-cs"/>
                  </a:rPr>
                  <a:t>任务下达、客户经营、执行落地</a:t>
                </a:r>
              </a:p>
            </p:txBody>
          </p:sp>
        </p:grpSp>
        <p:grpSp>
          <p:nvGrpSpPr>
            <p:cNvPr id="149" name="cycle-node-4"/>
            <p:cNvGrpSpPr/>
            <p:nvPr/>
          </p:nvGrpSpPr>
          <p:grpSpPr>
            <a:xfrm>
              <a:off x="4734801" y="3667125"/>
              <a:ext cx="1313574" cy="457200"/>
              <a:chOff x="4734801" y="3667125"/>
              <a:chExt cx="1313574" cy="457200"/>
            </a:xfrm>
          </p:grpSpPr>
          <p:sp>
            <p:nvSpPr>
              <p:cNvPr id="141" name="Ellipse 141"/>
              <p:cNvSpPr/>
              <p:nvPr/>
            </p:nvSpPr>
            <p:spPr>
              <a:xfrm>
                <a:off x="5591175" y="3667125"/>
                <a:ext cx="457200" cy="457200"/>
              </a:xfrm>
              <a:prstGeom prst="ellipse">
                <a:avLst/>
              </a:prstGeom>
              <a:solidFill>
                <a:srgbClr val="B03A1F"/>
              </a:solidFill>
              <a:ln>
                <a:noFill/>
              </a:ln>
            </p:spPr>
          </p:sp>
          <p:grpSp>
            <p:nvGrpSpPr>
              <p:cNvPr id="146" name="Group 146"/>
              <p:cNvGrpSpPr/>
              <p:nvPr/>
            </p:nvGrpSpPr>
            <p:grpSpPr>
              <a:xfrm>
                <a:off x="5734050" y="3819525"/>
                <a:ext cx="171450" cy="161925"/>
                <a:chOff x="5734050" y="3819525"/>
                <a:chExt cx="171450" cy="161925"/>
              </a:xfrm>
            </p:grpSpPr>
            <p:sp>
              <p:nvSpPr>
                <p:cNvPr id="142" name="Freeform 142"/>
                <p:cNvSpPr/>
                <p:nvPr/>
              </p:nvSpPr>
              <p:spPr>
                <a:xfrm>
                  <a:off x="5734050" y="3819525"/>
                  <a:ext cx="171450" cy="114300"/>
                </a:xfrm>
                <a:custGeom>
                  <a:avLst/>
                  <a:gdLst/>
                  <a:ahLst/>
                  <a:cxnLst/>
                  <a:rect l="l" t="t" r="r" b="b"/>
                  <a:pathLst>
                    <a:path w="171450" h="114300">
                      <a:moveTo>
                        <a:pt x="0" y="9525"/>
                      </a:moveTo>
                      <a:cubicBezTo>
                        <a:pt x="0" y="4264"/>
                        <a:pt x="4264" y="0"/>
                        <a:pt x="9525" y="0"/>
                      </a:cubicBezTo>
                      <a:lnTo>
                        <a:pt x="161925" y="0"/>
                      </a:lnTo>
                      <a:cubicBezTo>
                        <a:pt x="167186" y="0"/>
                        <a:pt x="171450" y="4264"/>
                        <a:pt x="171450" y="9525"/>
                      </a:cubicBezTo>
                      <a:lnTo>
                        <a:pt x="171450" y="104775"/>
                      </a:lnTo>
                      <a:cubicBezTo>
                        <a:pt x="171450" y="110036"/>
                        <a:pt x="167186" y="114300"/>
                        <a:pt x="161925" y="114300"/>
                      </a:cubicBezTo>
                      <a:lnTo>
                        <a:pt x="9525" y="114300"/>
                      </a:lnTo>
                      <a:cubicBezTo>
                        <a:pt x="4264" y="114300"/>
                        <a:pt x="0" y="110036"/>
                        <a:pt x="0" y="104775"/>
                      </a:cubicBezTo>
                      <a:lnTo>
                        <a:pt x="0" y="9525"/>
                      </a:lnTo>
                    </a:path>
                  </a:pathLst>
                </a:custGeom>
                <a:noFill/>
                <a:ln w="19050">
                  <a:solidFill>
                    <a:srgbClr val="FFFFFF"/>
                  </a:solidFill>
                </a:ln>
              </p:spPr>
            </p:sp>
            <p:sp>
              <p:nvSpPr>
                <p:cNvPr id="143" name="Freeform 143"/>
                <p:cNvSpPr/>
                <p:nvPr/>
              </p:nvSpPr>
              <p:spPr>
                <a:xfrm>
                  <a:off x="5772150" y="3971925"/>
                  <a:ext cx="95250" cy="9525"/>
                </a:xfrm>
                <a:custGeom>
                  <a:avLst/>
                  <a:gdLst/>
                  <a:ahLst/>
                  <a:cxnLst/>
                  <a:rect l="l" t="t" r="r" b="b"/>
                  <a:pathLst>
                    <a:path w="95250" h="9525">
                      <a:moveTo>
                        <a:pt x="0" y="0"/>
                      </a:moveTo>
                      <a:lnTo>
                        <a:pt x="95250" y="0"/>
                      </a:lnTo>
                    </a:path>
                  </a:pathLst>
                </a:custGeom>
                <a:noFill/>
                <a:ln w="19050">
                  <a:solidFill>
                    <a:srgbClr val="FFFFFF"/>
                  </a:solidFill>
                </a:ln>
              </p:spPr>
            </p:sp>
            <p:sp>
              <p:nvSpPr>
                <p:cNvPr id="144" name="Freeform 144"/>
                <p:cNvSpPr/>
                <p:nvPr/>
              </p:nvSpPr>
              <p:spPr>
                <a:xfrm>
                  <a:off x="5791200" y="3933825"/>
                  <a:ext cx="9525" cy="38100"/>
                </a:xfrm>
                <a:custGeom>
                  <a:avLst/>
                  <a:gdLst/>
                  <a:ahLst/>
                  <a:cxnLst/>
                  <a:rect l="l" t="t" r="r" b="b"/>
                  <a:pathLst>
                    <a:path w="9525" h="38100">
                      <a:moveTo>
                        <a:pt x="0" y="0"/>
                      </a:moveTo>
                      <a:lnTo>
                        <a:pt x="0" y="38100"/>
                      </a:lnTo>
                    </a:path>
                  </a:pathLst>
                </a:custGeom>
                <a:noFill/>
                <a:ln w="19050">
                  <a:solidFill>
                    <a:srgbClr val="FFFFFF"/>
                  </a:solidFill>
                </a:ln>
              </p:spPr>
            </p:sp>
            <p:sp>
              <p:nvSpPr>
                <p:cNvPr id="145" name="Freeform 145"/>
                <p:cNvSpPr/>
                <p:nvPr/>
              </p:nvSpPr>
              <p:spPr>
                <a:xfrm>
                  <a:off x="5848350" y="3933825"/>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147" name="TextBox 147"/>
              <p:cNvSpPr txBox="1"/>
              <p:nvPr/>
            </p:nvSpPr>
            <p:spPr>
              <a:xfrm>
                <a:off x="4876933" y="3764518"/>
                <a:ext cx="642804" cy="169069"/>
              </a:xfrm>
              <a:prstGeom prst="rect">
                <a:avLst/>
              </a:prstGeom>
              <a:noFill/>
              <a:ln>
                <a:noFill/>
              </a:ln>
            </p:spPr>
            <p:txBody>
              <a:bodyPr wrap="none" lIns="0" tIns="0" rIns="0" bIns="0" anchor="t" anchorCtr="0">
                <a:spAutoFit/>
              </a:bodyPr>
              <a:lstStyle/>
              <a:p>
                <a:pPr algn="r"/>
                <a:r>
                  <a:rPr lang="zh-CN" sz="860" b="1" dirty="0">
                    <a:solidFill>
                      <a:srgbClr val="1A1A1A"/>
                    </a:solidFill>
                    <a:latin typeface="+mn-lt"/>
                    <a:ea typeface="+mn-ea"/>
                    <a:cs typeface="+mn-cs"/>
                  </a:rPr>
                  <a:t>4. 数据监测</a:t>
                </a:r>
              </a:p>
            </p:txBody>
          </p:sp>
          <p:sp>
            <p:nvSpPr>
              <p:cNvPr id="148" name="TextBox 148"/>
              <p:cNvSpPr txBox="1"/>
              <p:nvPr/>
            </p:nvSpPr>
            <p:spPr>
              <a:xfrm>
                <a:off x="4734801" y="3941207"/>
                <a:ext cx="784936" cy="126206"/>
              </a:xfrm>
              <a:prstGeom prst="rect">
                <a:avLst/>
              </a:prstGeom>
              <a:noFill/>
              <a:ln>
                <a:noFill/>
              </a:ln>
            </p:spPr>
            <p:txBody>
              <a:bodyPr wrap="none" lIns="0" tIns="0" rIns="0" bIns="0" anchor="t" anchorCtr="0">
                <a:spAutoFit/>
              </a:bodyPr>
              <a:lstStyle/>
              <a:p>
                <a:pPr algn="r"/>
                <a:r>
                  <a:rPr lang="zh-CN" sz="640" dirty="0">
                    <a:solidFill>
                      <a:srgbClr val="6A6A6A"/>
                    </a:solidFill>
                    <a:latin typeface="+mn-lt"/>
                    <a:ea typeface="+mn-ea"/>
                    <a:cs typeface="+mn-cs"/>
                  </a:rPr>
                  <a:t>预警识别、问题跟踪</a:t>
                </a:r>
              </a:p>
            </p:txBody>
          </p:sp>
        </p:grpSp>
        <p:grpSp>
          <p:nvGrpSpPr>
            <p:cNvPr id="158" name="cycle-node-5"/>
            <p:cNvGrpSpPr/>
            <p:nvPr/>
          </p:nvGrpSpPr>
          <p:grpSpPr>
            <a:xfrm>
              <a:off x="3332467" y="3105150"/>
              <a:ext cx="1744358" cy="457200"/>
              <a:chOff x="3332467" y="3105150"/>
              <a:chExt cx="1744358" cy="457200"/>
            </a:xfrm>
          </p:grpSpPr>
          <p:sp>
            <p:nvSpPr>
              <p:cNvPr id="150" name="Ellipse 150"/>
              <p:cNvSpPr/>
              <p:nvPr/>
            </p:nvSpPr>
            <p:spPr>
              <a:xfrm>
                <a:off x="4619625" y="3105150"/>
                <a:ext cx="457200" cy="457200"/>
              </a:xfrm>
              <a:prstGeom prst="ellipse">
                <a:avLst/>
              </a:prstGeom>
              <a:solidFill>
                <a:srgbClr val="B03A1F"/>
              </a:solidFill>
              <a:ln>
                <a:noFill/>
              </a:ln>
            </p:spPr>
          </p:sp>
          <p:grpSp>
            <p:nvGrpSpPr>
              <p:cNvPr id="155" name="Group 155"/>
              <p:cNvGrpSpPr/>
              <p:nvPr/>
            </p:nvGrpSpPr>
            <p:grpSpPr>
              <a:xfrm>
                <a:off x="4762500" y="3257550"/>
                <a:ext cx="171450" cy="161925"/>
                <a:chOff x="4762500" y="3257550"/>
                <a:chExt cx="171450" cy="161925"/>
              </a:xfrm>
            </p:grpSpPr>
            <p:sp>
              <p:nvSpPr>
                <p:cNvPr id="151" name="Freeform 151"/>
                <p:cNvSpPr/>
                <p:nvPr/>
              </p:nvSpPr>
              <p:spPr>
                <a:xfrm>
                  <a:off x="4762500" y="33337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152" name="Freeform 152"/>
                <p:cNvSpPr/>
                <p:nvPr/>
              </p:nvSpPr>
              <p:spPr>
                <a:xfrm>
                  <a:off x="4876800" y="32956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153" name="Freeform 153"/>
                <p:cNvSpPr/>
                <p:nvPr/>
              </p:nvSpPr>
              <p:spPr>
                <a:xfrm>
                  <a:off x="4819650" y="32575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154" name="Freeform 154"/>
                <p:cNvSpPr/>
                <p:nvPr/>
              </p:nvSpPr>
              <p:spPr>
                <a:xfrm>
                  <a:off x="4772025" y="3409950"/>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156" name="TextBox 156"/>
              <p:cNvSpPr txBox="1"/>
              <p:nvPr/>
            </p:nvSpPr>
            <p:spPr>
              <a:xfrm>
                <a:off x="3905383" y="3202543"/>
                <a:ext cx="642804" cy="169069"/>
              </a:xfrm>
              <a:prstGeom prst="rect">
                <a:avLst/>
              </a:prstGeom>
              <a:noFill/>
              <a:ln>
                <a:noFill/>
              </a:ln>
            </p:spPr>
            <p:txBody>
              <a:bodyPr wrap="none" lIns="0" tIns="0" rIns="0" bIns="0" anchor="t" anchorCtr="0">
                <a:spAutoFit/>
              </a:bodyPr>
              <a:lstStyle/>
              <a:p>
                <a:pPr algn="r"/>
                <a:r>
                  <a:rPr lang="zh-CN" sz="860" b="1" dirty="0">
                    <a:solidFill>
                      <a:srgbClr val="1A1A1A"/>
                    </a:solidFill>
                    <a:latin typeface="+mn-lt"/>
                    <a:ea typeface="+mn-ea"/>
                    <a:cs typeface="+mn-cs"/>
                  </a:rPr>
                  <a:t>5. 结果评价</a:t>
                </a:r>
              </a:p>
            </p:txBody>
          </p:sp>
          <p:sp>
            <p:nvSpPr>
              <p:cNvPr id="157" name="TextBox 157"/>
              <p:cNvSpPr txBox="1"/>
              <p:nvPr/>
            </p:nvSpPr>
            <p:spPr>
              <a:xfrm>
                <a:off x="3332467" y="3379232"/>
                <a:ext cx="1215720" cy="126206"/>
              </a:xfrm>
              <a:prstGeom prst="rect">
                <a:avLst/>
              </a:prstGeom>
              <a:noFill/>
              <a:ln>
                <a:noFill/>
              </a:ln>
            </p:spPr>
            <p:txBody>
              <a:bodyPr wrap="none" lIns="0" tIns="0" rIns="0" bIns="0" anchor="t" anchorCtr="0">
                <a:spAutoFit/>
              </a:bodyPr>
              <a:lstStyle/>
              <a:p>
                <a:pPr algn="r"/>
                <a:r>
                  <a:rPr lang="zh-CN" sz="640" dirty="0">
                    <a:solidFill>
                      <a:srgbClr val="6A6A6A"/>
                    </a:solidFill>
                    <a:latin typeface="+mn-lt"/>
                    <a:ea typeface="+mn-ea"/>
                    <a:cs typeface="+mn-cs"/>
                  </a:rPr>
                  <a:t>指标达成、绩效评价、归因分析</a:t>
                </a:r>
              </a:p>
            </p:txBody>
          </p:sp>
        </p:grpSp>
        <p:grpSp>
          <p:nvGrpSpPr>
            <p:cNvPr id="165" name="cycle-node-6"/>
            <p:cNvGrpSpPr/>
            <p:nvPr/>
          </p:nvGrpSpPr>
          <p:grpSpPr>
            <a:xfrm>
              <a:off x="3332467" y="1981200"/>
              <a:ext cx="1744358" cy="457200"/>
              <a:chOff x="3332467" y="1981200"/>
              <a:chExt cx="1744358" cy="457200"/>
            </a:xfrm>
          </p:grpSpPr>
          <p:sp>
            <p:nvSpPr>
              <p:cNvPr id="159" name="Ellipse 159"/>
              <p:cNvSpPr/>
              <p:nvPr/>
            </p:nvSpPr>
            <p:spPr>
              <a:xfrm>
                <a:off x="4619625" y="1981200"/>
                <a:ext cx="457200" cy="457200"/>
              </a:xfrm>
              <a:prstGeom prst="ellipse">
                <a:avLst/>
              </a:prstGeom>
              <a:solidFill>
                <a:srgbClr val="B03A1F"/>
              </a:solidFill>
              <a:ln>
                <a:noFill/>
              </a:ln>
            </p:spPr>
          </p:sp>
          <p:grpSp>
            <p:nvGrpSpPr>
              <p:cNvPr id="162" name="Group 162"/>
              <p:cNvGrpSpPr/>
              <p:nvPr/>
            </p:nvGrpSpPr>
            <p:grpSpPr>
              <a:xfrm>
                <a:off x="4772025" y="2129925"/>
                <a:ext cx="152400" cy="159750"/>
                <a:chOff x="4772025" y="2129925"/>
                <a:chExt cx="152400" cy="159750"/>
              </a:xfrm>
            </p:grpSpPr>
            <p:sp>
              <p:nvSpPr>
                <p:cNvPr id="160" name="Freeform 160"/>
                <p:cNvSpPr/>
                <p:nvPr/>
              </p:nvSpPr>
              <p:spPr>
                <a:xfrm>
                  <a:off x="4772025" y="21299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FFFFFF"/>
                  </a:solidFill>
                </a:ln>
              </p:spPr>
            </p:sp>
            <p:sp>
              <p:nvSpPr>
                <p:cNvPr id="161" name="Freeform 161"/>
                <p:cNvSpPr/>
                <p:nvPr/>
              </p:nvSpPr>
              <p:spPr>
                <a:xfrm>
                  <a:off x="4772025" y="22193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FFFFFF"/>
                  </a:solidFill>
                </a:ln>
              </p:spPr>
            </p:sp>
          </p:grpSp>
          <p:sp>
            <p:nvSpPr>
              <p:cNvPr id="163" name="TextBox 163"/>
              <p:cNvSpPr txBox="1"/>
              <p:nvPr/>
            </p:nvSpPr>
            <p:spPr>
              <a:xfrm>
                <a:off x="3905383" y="2078593"/>
                <a:ext cx="642804" cy="169069"/>
              </a:xfrm>
              <a:prstGeom prst="rect">
                <a:avLst/>
              </a:prstGeom>
              <a:noFill/>
              <a:ln>
                <a:noFill/>
              </a:ln>
            </p:spPr>
            <p:txBody>
              <a:bodyPr wrap="none" lIns="0" tIns="0" rIns="0" bIns="0" anchor="t" anchorCtr="0">
                <a:spAutoFit/>
              </a:bodyPr>
              <a:lstStyle/>
              <a:p>
                <a:pPr algn="r"/>
                <a:r>
                  <a:rPr lang="zh-CN" sz="860" b="1" dirty="0">
                    <a:solidFill>
                      <a:srgbClr val="1A1A1A"/>
                    </a:solidFill>
                    <a:latin typeface="+mn-lt"/>
                    <a:ea typeface="+mn-ea"/>
                    <a:cs typeface="+mn-cs"/>
                  </a:rPr>
                  <a:t>6. 复盘优化</a:t>
                </a:r>
              </a:p>
            </p:txBody>
          </p:sp>
          <p:sp>
            <p:nvSpPr>
              <p:cNvPr id="164" name="TextBox 164"/>
              <p:cNvSpPr txBox="1"/>
              <p:nvPr/>
            </p:nvSpPr>
            <p:spPr>
              <a:xfrm>
                <a:off x="3332467" y="2255282"/>
                <a:ext cx="1215720" cy="126206"/>
              </a:xfrm>
              <a:prstGeom prst="rect">
                <a:avLst/>
              </a:prstGeom>
              <a:noFill/>
              <a:ln>
                <a:noFill/>
              </a:ln>
            </p:spPr>
            <p:txBody>
              <a:bodyPr wrap="none" lIns="0" tIns="0" rIns="0" bIns="0" anchor="t" anchorCtr="0">
                <a:spAutoFit/>
              </a:bodyPr>
              <a:lstStyle/>
              <a:p>
                <a:pPr algn="r"/>
                <a:r>
                  <a:rPr lang="zh-CN" sz="640" dirty="0">
                    <a:solidFill>
                      <a:srgbClr val="6A6A6A"/>
                    </a:solidFill>
                    <a:latin typeface="+mn-lt"/>
                    <a:ea typeface="+mn-ea"/>
                    <a:cs typeface="+mn-cs"/>
                  </a:rPr>
                  <a:t>复盘反思、优化策略、持续改进</a:t>
                </a:r>
              </a:p>
            </p:txBody>
          </p:sp>
        </p:grpSp>
      </p:grpSp>
      <p:grpSp>
        <p:nvGrpSpPr>
          <p:cNvPr id="202" name="meeting-cadence"/>
          <p:cNvGrpSpPr/>
          <p:nvPr/>
        </p:nvGrpSpPr>
        <p:grpSpPr>
          <a:xfrm>
            <a:off x="8486775" y="1409700"/>
            <a:ext cx="3552825" cy="2702005"/>
            <a:chOff x="8486775" y="1409700"/>
            <a:chExt cx="3552825" cy="2702005"/>
          </a:xfrm>
        </p:grpSpPr>
        <p:sp>
          <p:nvSpPr>
            <p:cNvPr id="167" name="Rectangle 167"/>
            <p:cNvSpPr/>
            <p:nvPr/>
          </p:nvSpPr>
          <p:spPr>
            <a:xfrm>
              <a:off x="8486775" y="1409700"/>
              <a:ext cx="3552825" cy="285750"/>
            </a:xfrm>
            <a:prstGeom prst="rect">
              <a:avLst/>
            </a:prstGeom>
            <a:solidFill>
              <a:srgbClr val="B03A1F"/>
            </a:solidFill>
            <a:ln>
              <a:noFill/>
            </a:ln>
          </p:spPr>
        </p:sp>
        <p:sp>
          <p:nvSpPr>
            <p:cNvPr id="168" name="TextBox 168"/>
            <p:cNvSpPr txBox="1"/>
            <p:nvPr/>
          </p:nvSpPr>
          <p:spPr>
            <a:xfrm>
              <a:off x="9791725" y="1494949"/>
              <a:ext cx="93339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会议与汇报节奏</a:t>
              </a:r>
            </a:p>
          </p:txBody>
        </p:sp>
        <p:grpSp>
          <p:nvGrpSpPr>
            <p:cNvPr id="175" name="meet-daily"/>
            <p:cNvGrpSpPr/>
            <p:nvPr/>
          </p:nvGrpSpPr>
          <p:grpSpPr>
            <a:xfrm>
              <a:off x="8648700" y="1914525"/>
              <a:ext cx="1055053" cy="520780"/>
              <a:chOff x="8648700" y="1914525"/>
              <a:chExt cx="1055053" cy="520780"/>
            </a:xfrm>
          </p:grpSpPr>
          <p:sp>
            <p:nvSpPr>
              <p:cNvPr id="169" name="Ellipse 169"/>
              <p:cNvSpPr/>
              <p:nvPr/>
            </p:nvSpPr>
            <p:spPr>
              <a:xfrm>
                <a:off x="8648700" y="1914525"/>
                <a:ext cx="323850" cy="323850"/>
              </a:xfrm>
              <a:prstGeom prst="ellipse">
                <a:avLst/>
              </a:prstGeom>
              <a:solidFill>
                <a:srgbClr val="B03A1F"/>
              </a:solidFill>
              <a:ln>
                <a:noFill/>
              </a:ln>
            </p:spPr>
          </p:sp>
          <p:grpSp>
            <p:nvGrpSpPr>
              <p:cNvPr id="172" name="Group 172"/>
              <p:cNvGrpSpPr/>
              <p:nvPr/>
            </p:nvGrpSpPr>
            <p:grpSpPr>
              <a:xfrm>
                <a:off x="8746331" y="2012156"/>
                <a:ext cx="128588" cy="128588"/>
                <a:chOff x="8746331" y="2012156"/>
                <a:chExt cx="128588" cy="128588"/>
              </a:xfrm>
            </p:grpSpPr>
            <p:sp>
              <p:nvSpPr>
                <p:cNvPr id="170" name="Freeform 170"/>
                <p:cNvSpPr/>
                <p:nvPr/>
              </p:nvSpPr>
              <p:spPr>
                <a:xfrm>
                  <a:off x="8746331" y="20121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sp>
              <p:nvSpPr>
                <p:cNvPr id="171" name="Freeform 171"/>
                <p:cNvSpPr/>
                <p:nvPr/>
              </p:nvSpPr>
              <p:spPr>
                <a:xfrm>
                  <a:off x="8810625" y="2040731"/>
                  <a:ext cx="21431" cy="57150"/>
                </a:xfrm>
                <a:custGeom>
                  <a:avLst/>
                  <a:gdLst/>
                  <a:ahLst/>
                  <a:cxnLst/>
                  <a:rect l="l" t="t" r="r" b="b"/>
                  <a:pathLst>
                    <a:path w="21431" h="57150">
                      <a:moveTo>
                        <a:pt x="0" y="0"/>
                      </a:moveTo>
                      <a:lnTo>
                        <a:pt x="0" y="35719"/>
                      </a:lnTo>
                      <a:lnTo>
                        <a:pt x="21431" y="57150"/>
                      </a:lnTo>
                    </a:path>
                  </a:pathLst>
                </a:custGeom>
                <a:noFill/>
                <a:ln w="14288">
                  <a:solidFill>
                    <a:srgbClr val="FFFFFF"/>
                  </a:solidFill>
                </a:ln>
              </p:spPr>
            </p:sp>
          </p:grpSp>
          <p:sp>
            <p:nvSpPr>
              <p:cNvPr id="173" name="TextBox 173"/>
              <p:cNvSpPr txBox="1"/>
              <p:nvPr/>
            </p:nvSpPr>
            <p:spPr>
              <a:xfrm>
                <a:off x="9063038" y="1937147"/>
                <a:ext cx="389153"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日监测</a:t>
                </a:r>
              </a:p>
            </p:txBody>
          </p:sp>
          <p:sp>
            <p:nvSpPr>
              <p:cNvPr id="174" name="TextBox 174"/>
              <p:cNvSpPr txBox="1"/>
              <p:nvPr/>
            </p:nvSpPr>
            <p:spPr>
              <a:xfrm>
                <a:off x="9063038" y="2132886"/>
                <a:ext cx="64071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6A6A6A"/>
                    </a:solidFill>
                    <a:latin typeface="+mn-lt"/>
                    <a:ea typeface="+mn-ea"/>
                    <a:cs typeface="+mn-cs"/>
                  </a:rPr>
                  <a:t>关键指标监测</a:t>
                </a:r>
                <a:br/>
                <a:r>
                  <a:rPr lang="zh-CN" sz="710" dirty="0">
                    <a:solidFill>
                      <a:srgbClr val="6A6A6A"/>
                    </a:solidFill>
                    <a:latin typeface="+mn-lt"/>
                    <a:ea typeface="+mn-ea"/>
                    <a:cs typeface="+mn-cs"/>
                  </a:rPr>
                  <a:t>日间预警与跟踪</a:t>
                </a:r>
              </a:p>
            </p:txBody>
          </p:sp>
        </p:grpSp>
        <p:grpSp>
          <p:nvGrpSpPr>
            <p:cNvPr id="186" name="meet-weekly"/>
            <p:cNvGrpSpPr/>
            <p:nvPr/>
          </p:nvGrpSpPr>
          <p:grpSpPr>
            <a:xfrm>
              <a:off x="8648700" y="2486025"/>
              <a:ext cx="1235393" cy="482680"/>
              <a:chOff x="8648700" y="2486025"/>
              <a:chExt cx="1235393" cy="482680"/>
            </a:xfrm>
          </p:grpSpPr>
          <p:sp>
            <p:nvSpPr>
              <p:cNvPr id="176" name="Ellipse 176"/>
              <p:cNvSpPr/>
              <p:nvPr/>
            </p:nvSpPr>
            <p:spPr>
              <a:xfrm>
                <a:off x="8648700" y="2486025"/>
                <a:ext cx="323850" cy="323850"/>
              </a:xfrm>
              <a:prstGeom prst="ellipse">
                <a:avLst/>
              </a:prstGeom>
              <a:solidFill>
                <a:srgbClr val="B03A1F"/>
              </a:solidFill>
              <a:ln>
                <a:noFill/>
              </a:ln>
            </p:spPr>
          </p:sp>
          <p:grpSp>
            <p:nvGrpSpPr>
              <p:cNvPr id="183" name="Group 183"/>
              <p:cNvGrpSpPr/>
              <p:nvPr/>
            </p:nvGrpSpPr>
            <p:grpSpPr>
              <a:xfrm>
                <a:off x="8753475" y="2583656"/>
                <a:ext cx="114300" cy="128588"/>
                <a:chOff x="8753475" y="2583656"/>
                <a:chExt cx="114300" cy="128588"/>
              </a:xfrm>
            </p:grpSpPr>
            <p:sp>
              <p:nvSpPr>
                <p:cNvPr id="177" name="Freeform 177"/>
                <p:cNvSpPr/>
                <p:nvPr/>
              </p:nvSpPr>
              <p:spPr>
                <a:xfrm>
                  <a:off x="8753475" y="2597944"/>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FFFFFF"/>
                  </a:solidFill>
                </a:ln>
              </p:spPr>
            </p:sp>
            <p:sp>
              <p:nvSpPr>
                <p:cNvPr id="178" name="Freeform 178"/>
                <p:cNvSpPr/>
                <p:nvPr/>
              </p:nvSpPr>
              <p:spPr>
                <a:xfrm>
                  <a:off x="8839200" y="2583656"/>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179" name="Freeform 179"/>
                <p:cNvSpPr/>
                <p:nvPr/>
              </p:nvSpPr>
              <p:spPr>
                <a:xfrm>
                  <a:off x="8782050" y="2583656"/>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180" name="Freeform 180"/>
                <p:cNvSpPr/>
                <p:nvPr/>
              </p:nvSpPr>
              <p:spPr>
                <a:xfrm>
                  <a:off x="8753475" y="2640806"/>
                  <a:ext cx="114300" cy="9525"/>
                </a:xfrm>
                <a:custGeom>
                  <a:avLst/>
                  <a:gdLst/>
                  <a:ahLst/>
                  <a:cxnLst/>
                  <a:rect l="l" t="t" r="r" b="b"/>
                  <a:pathLst>
                    <a:path w="114300" h="9525">
                      <a:moveTo>
                        <a:pt x="0" y="0"/>
                      </a:moveTo>
                      <a:lnTo>
                        <a:pt x="114300" y="0"/>
                      </a:lnTo>
                    </a:path>
                  </a:pathLst>
                </a:custGeom>
                <a:noFill/>
                <a:ln w="14288">
                  <a:solidFill>
                    <a:srgbClr val="FFFFFF"/>
                  </a:solidFill>
                </a:ln>
              </p:spPr>
            </p:sp>
            <p:sp>
              <p:nvSpPr>
                <p:cNvPr id="181" name="Freeform 181"/>
                <p:cNvSpPr/>
                <p:nvPr/>
              </p:nvSpPr>
              <p:spPr>
                <a:xfrm>
                  <a:off x="8803481" y="2669381"/>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182" name="Freeform 182"/>
                <p:cNvSpPr/>
                <p:nvPr/>
              </p:nvSpPr>
              <p:spPr>
                <a:xfrm>
                  <a:off x="8810625" y="2669381"/>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184" name="TextBox 184"/>
              <p:cNvSpPr txBox="1"/>
              <p:nvPr/>
            </p:nvSpPr>
            <p:spPr>
              <a:xfrm>
                <a:off x="9063038" y="2508647"/>
                <a:ext cx="389153"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周调度</a:t>
                </a:r>
              </a:p>
            </p:txBody>
          </p:sp>
          <p:sp>
            <p:nvSpPr>
              <p:cNvPr id="185" name="TextBox 185"/>
              <p:cNvSpPr txBox="1"/>
              <p:nvPr/>
            </p:nvSpPr>
            <p:spPr>
              <a:xfrm>
                <a:off x="9063038" y="2666286"/>
                <a:ext cx="82105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6A6A6A"/>
                    </a:solidFill>
                    <a:latin typeface="+mn-lt"/>
                    <a:ea typeface="+mn-ea"/>
                    <a:cs typeface="+mn-cs"/>
                  </a:rPr>
                  <a:t>进度复盘与问题识别</a:t>
                </a:r>
                <a:br/>
                <a:r>
                  <a:rPr lang="zh-CN" sz="710" dirty="0">
                    <a:solidFill>
                      <a:srgbClr val="6A6A6A"/>
                    </a:solidFill>
                    <a:latin typeface="+mn-lt"/>
                    <a:ea typeface="+mn-ea"/>
                    <a:cs typeface="+mn-cs"/>
                  </a:rPr>
                  <a:t>指标跟进与资源协调</a:t>
                </a:r>
              </a:p>
            </p:txBody>
          </p:sp>
        </p:grpSp>
        <p:grpSp>
          <p:nvGrpSpPr>
            <p:cNvPr id="193" name="meet-monthly"/>
            <p:cNvGrpSpPr/>
            <p:nvPr/>
          </p:nvGrpSpPr>
          <p:grpSpPr>
            <a:xfrm>
              <a:off x="8648700" y="3057525"/>
              <a:ext cx="1235393" cy="482680"/>
              <a:chOff x="8648700" y="3057525"/>
              <a:chExt cx="1235393" cy="482680"/>
            </a:xfrm>
          </p:grpSpPr>
          <p:sp>
            <p:nvSpPr>
              <p:cNvPr id="187" name="Ellipse 187"/>
              <p:cNvSpPr/>
              <p:nvPr/>
            </p:nvSpPr>
            <p:spPr>
              <a:xfrm>
                <a:off x="8648700" y="3057525"/>
                <a:ext cx="323850" cy="323850"/>
              </a:xfrm>
              <a:prstGeom prst="ellipse">
                <a:avLst/>
              </a:prstGeom>
              <a:solidFill>
                <a:srgbClr val="B03A1F"/>
              </a:solidFill>
              <a:ln>
                <a:noFill/>
              </a:ln>
            </p:spPr>
          </p:sp>
          <p:grpSp>
            <p:nvGrpSpPr>
              <p:cNvPr id="190" name="Group 190"/>
              <p:cNvGrpSpPr/>
              <p:nvPr/>
            </p:nvGrpSpPr>
            <p:grpSpPr>
              <a:xfrm>
                <a:off x="8753475" y="3159544"/>
                <a:ext cx="114300" cy="119813"/>
                <a:chOff x="8753475" y="3159544"/>
                <a:chExt cx="114300" cy="119813"/>
              </a:xfrm>
            </p:grpSpPr>
            <p:sp>
              <p:nvSpPr>
                <p:cNvPr id="188" name="Freeform 188"/>
                <p:cNvSpPr/>
                <p:nvPr/>
              </p:nvSpPr>
              <p:spPr>
                <a:xfrm>
                  <a:off x="8753475" y="3159544"/>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FFFFFF"/>
                  </a:solidFill>
                </a:ln>
              </p:spPr>
            </p:sp>
            <p:sp>
              <p:nvSpPr>
                <p:cNvPr id="189" name="Freeform 189"/>
                <p:cNvSpPr/>
                <p:nvPr/>
              </p:nvSpPr>
              <p:spPr>
                <a:xfrm>
                  <a:off x="8753475" y="3226594"/>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FFFFFF"/>
                  </a:solidFill>
                </a:ln>
              </p:spPr>
            </p:sp>
          </p:grpSp>
          <p:sp>
            <p:nvSpPr>
              <p:cNvPr id="191" name="TextBox 191"/>
              <p:cNvSpPr txBox="1"/>
              <p:nvPr/>
            </p:nvSpPr>
            <p:spPr>
              <a:xfrm>
                <a:off x="9063038" y="3080147"/>
                <a:ext cx="389153"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月复盘</a:t>
                </a:r>
              </a:p>
            </p:txBody>
          </p:sp>
          <p:sp>
            <p:nvSpPr>
              <p:cNvPr id="192" name="TextBox 192"/>
              <p:cNvSpPr txBox="1"/>
              <p:nvPr/>
            </p:nvSpPr>
            <p:spPr>
              <a:xfrm>
                <a:off x="9063038" y="3237786"/>
                <a:ext cx="82105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6A6A6A"/>
                    </a:solidFill>
                    <a:latin typeface="+mn-lt"/>
                    <a:ea typeface="+mn-ea"/>
                    <a:cs typeface="+mn-cs"/>
                  </a:rPr>
                  <a:t>目标达成与差异分析</a:t>
                </a:r>
                <a:br/>
                <a:r>
                  <a:rPr lang="zh-CN" sz="710" dirty="0">
                    <a:solidFill>
                      <a:srgbClr val="6A6A6A"/>
                    </a:solidFill>
                    <a:latin typeface="+mn-lt"/>
                    <a:ea typeface="+mn-ea"/>
                    <a:cs typeface="+mn-cs"/>
                  </a:rPr>
                  <a:t>策略优化与计划调整</a:t>
                </a:r>
              </a:p>
            </p:txBody>
          </p:sp>
        </p:grpSp>
        <p:grpSp>
          <p:nvGrpSpPr>
            <p:cNvPr id="201" name="meet-quarterly"/>
            <p:cNvGrpSpPr/>
            <p:nvPr/>
          </p:nvGrpSpPr>
          <p:grpSpPr>
            <a:xfrm>
              <a:off x="8648700" y="3629025"/>
              <a:ext cx="1235393" cy="482680"/>
              <a:chOff x="8648700" y="3629025"/>
              <a:chExt cx="1235393" cy="482680"/>
            </a:xfrm>
          </p:grpSpPr>
          <p:sp>
            <p:nvSpPr>
              <p:cNvPr id="194" name="Ellipse 194"/>
              <p:cNvSpPr/>
              <p:nvPr/>
            </p:nvSpPr>
            <p:spPr>
              <a:xfrm>
                <a:off x="8648700" y="3629025"/>
                <a:ext cx="323850" cy="323850"/>
              </a:xfrm>
              <a:prstGeom prst="ellipse">
                <a:avLst/>
              </a:prstGeom>
              <a:solidFill>
                <a:srgbClr val="B03A1F"/>
              </a:solidFill>
              <a:ln>
                <a:noFill/>
              </a:ln>
            </p:spPr>
          </p:sp>
          <p:grpSp>
            <p:nvGrpSpPr>
              <p:cNvPr id="198" name="Group 198"/>
              <p:cNvGrpSpPr/>
              <p:nvPr/>
            </p:nvGrpSpPr>
            <p:grpSpPr>
              <a:xfrm>
                <a:off x="8749203" y="3726656"/>
                <a:ext cx="122830" cy="127802"/>
                <a:chOff x="8749203" y="3726656"/>
                <a:chExt cx="122830" cy="127802"/>
              </a:xfrm>
            </p:grpSpPr>
            <p:sp>
              <p:nvSpPr>
                <p:cNvPr id="195" name="Freeform 195"/>
                <p:cNvSpPr/>
                <p:nvPr/>
              </p:nvSpPr>
              <p:spPr>
                <a:xfrm>
                  <a:off x="8767762" y="3726656"/>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FFFFFF"/>
                  </a:solidFill>
                </a:ln>
              </p:spPr>
            </p:sp>
            <p:sp>
              <p:nvSpPr>
                <p:cNvPr id="196" name="Freeform 196"/>
                <p:cNvSpPr/>
                <p:nvPr/>
              </p:nvSpPr>
              <p:spPr>
                <a:xfrm>
                  <a:off x="8810625" y="3790950"/>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FFFFFF"/>
                  </a:solidFill>
                </a:ln>
              </p:spPr>
            </p:sp>
            <p:sp>
              <p:nvSpPr>
                <p:cNvPr id="197" name="Freeform 197"/>
                <p:cNvSpPr/>
                <p:nvPr/>
              </p:nvSpPr>
              <p:spPr>
                <a:xfrm>
                  <a:off x="8749203" y="3790950"/>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FFFFFF"/>
                  </a:solidFill>
                </a:ln>
              </p:spPr>
            </p:sp>
          </p:grpSp>
          <p:sp>
            <p:nvSpPr>
              <p:cNvPr id="199" name="TextBox 199"/>
              <p:cNvSpPr txBox="1"/>
              <p:nvPr/>
            </p:nvSpPr>
            <p:spPr>
              <a:xfrm>
                <a:off x="9063038" y="3651647"/>
                <a:ext cx="389153" cy="183356"/>
              </a:xfrm>
              <a:prstGeom prst="rect">
                <a:avLst/>
              </a:prstGeom>
              <a:noFill/>
              <a:ln>
                <a:noFill/>
              </a:ln>
            </p:spPr>
            <p:txBody>
              <a:bodyPr wrap="none" lIns="0" tIns="0" rIns="0" bIns="0" anchor="t" anchorCtr="0">
                <a:spAutoFit/>
              </a:bodyPr>
              <a:lstStyle/>
              <a:p>
                <a:pPr algn="l"/>
                <a:r>
                  <a:rPr lang="zh-CN" sz="940" b="1" dirty="0">
                    <a:solidFill>
                      <a:srgbClr val="1A1A1A"/>
                    </a:solidFill>
                    <a:latin typeface="+mn-lt"/>
                    <a:ea typeface="+mn-ea"/>
                    <a:cs typeface="+mn-cs"/>
                  </a:rPr>
                  <a:t>季评估</a:t>
                </a:r>
              </a:p>
            </p:txBody>
          </p:sp>
          <p:sp>
            <p:nvSpPr>
              <p:cNvPr id="200" name="TextBox 200"/>
              <p:cNvSpPr txBox="1"/>
              <p:nvPr/>
            </p:nvSpPr>
            <p:spPr>
              <a:xfrm>
                <a:off x="9063038" y="3809286"/>
                <a:ext cx="821055" cy="302419"/>
              </a:xfrm>
              <a:prstGeom prst="rect">
                <a:avLst/>
              </a:prstGeom>
              <a:noFill/>
              <a:ln>
                <a:noFill/>
              </a:ln>
            </p:spPr>
            <p:txBody>
              <a:bodyPr wrap="none" lIns="0" tIns="0" rIns="0" bIns="0" anchor="t" anchorCtr="0">
                <a:spAutoFit/>
              </a:bodyPr>
              <a:lstStyle/>
              <a:p>
                <a:pPr algn="l">
                  <a:lnSpc>
                    <a:spcPts val="1275"/>
                  </a:lnSpc>
                </a:pPr>
                <a:r>
                  <a:rPr lang="zh-CN" sz="710" dirty="0">
                    <a:solidFill>
                      <a:srgbClr val="6A6A6A"/>
                    </a:solidFill>
                    <a:latin typeface="+mn-lt"/>
                    <a:ea typeface="+mn-ea"/>
                    <a:cs typeface="+mn-cs"/>
                  </a:rPr>
                  <a:t>绩效评估与经验沉淀</a:t>
                </a:r>
                <a:br/>
                <a:r>
                  <a:rPr lang="zh-CN" sz="710" dirty="0">
                    <a:solidFill>
                      <a:srgbClr val="6A6A6A"/>
                    </a:solidFill>
                    <a:latin typeface="+mn-lt"/>
                    <a:ea typeface="+mn-ea"/>
                    <a:cs typeface="+mn-cs"/>
                  </a:rPr>
                  <a:t>策略检视与资源优化</a:t>
                </a:r>
              </a:p>
            </p:txBody>
          </p:sp>
        </p:grpSp>
      </p:grpSp>
      <p:grpSp>
        <p:nvGrpSpPr>
          <p:cNvPr id="268" name="risk-matrix"/>
          <p:cNvGrpSpPr/>
          <p:nvPr/>
        </p:nvGrpSpPr>
        <p:grpSpPr>
          <a:xfrm>
            <a:off x="200025" y="4210050"/>
            <a:ext cx="11839575" cy="2419350"/>
            <a:chOff x="200025" y="4210050"/>
            <a:chExt cx="11839575" cy="2419350"/>
          </a:xfrm>
        </p:grpSpPr>
        <p:sp>
          <p:nvSpPr>
            <p:cNvPr id="203" name="Rectangle 203"/>
            <p:cNvSpPr/>
            <p:nvPr/>
          </p:nvSpPr>
          <p:spPr>
            <a:xfrm>
              <a:off x="200025" y="4210050"/>
              <a:ext cx="1619250" cy="476250"/>
            </a:xfrm>
            <a:prstGeom prst="rect">
              <a:avLst/>
            </a:prstGeom>
            <a:solidFill>
              <a:srgbClr val="B03A1F"/>
            </a:solidFill>
            <a:ln>
              <a:noFill/>
            </a:ln>
          </p:spPr>
        </p:sp>
        <p:sp>
          <p:nvSpPr>
            <p:cNvPr id="204" name="Rectangle 204"/>
            <p:cNvSpPr/>
            <p:nvPr/>
          </p:nvSpPr>
          <p:spPr>
            <a:xfrm>
              <a:off x="1819275" y="4210050"/>
              <a:ext cx="2857500" cy="476250"/>
            </a:xfrm>
            <a:prstGeom prst="rect">
              <a:avLst/>
            </a:prstGeom>
            <a:solidFill>
              <a:srgbClr val="B03A1F"/>
            </a:solidFill>
            <a:ln>
              <a:noFill/>
            </a:ln>
          </p:spPr>
        </p:sp>
        <p:sp>
          <p:nvSpPr>
            <p:cNvPr id="205" name="Rectangle 205"/>
            <p:cNvSpPr/>
            <p:nvPr/>
          </p:nvSpPr>
          <p:spPr>
            <a:xfrm>
              <a:off x="4676775" y="4210050"/>
              <a:ext cx="7362825" cy="247650"/>
            </a:xfrm>
            <a:prstGeom prst="rect">
              <a:avLst/>
            </a:prstGeom>
            <a:solidFill>
              <a:srgbClr val="B03A1F"/>
            </a:solidFill>
            <a:ln>
              <a:noFill/>
            </a:ln>
          </p:spPr>
        </p:sp>
        <p:sp>
          <p:nvSpPr>
            <p:cNvPr id="206" name="Rectangle 206"/>
            <p:cNvSpPr/>
            <p:nvPr/>
          </p:nvSpPr>
          <p:spPr>
            <a:xfrm>
              <a:off x="4676775" y="4457700"/>
              <a:ext cx="7362825" cy="228600"/>
            </a:xfrm>
            <a:prstGeom prst="rect">
              <a:avLst/>
            </a:prstGeom>
            <a:solidFill>
              <a:srgbClr val="9E331B"/>
            </a:solidFill>
            <a:ln>
              <a:noFill/>
            </a:ln>
          </p:spPr>
        </p:sp>
        <p:sp>
          <p:nvSpPr>
            <p:cNvPr id="207" name="TextBox 207"/>
            <p:cNvSpPr txBox="1"/>
            <p:nvPr/>
          </p:nvSpPr>
          <p:spPr>
            <a:xfrm>
              <a:off x="625259" y="439459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风险响应矩阵</a:t>
              </a:r>
            </a:p>
          </p:txBody>
        </p:sp>
        <p:sp>
          <p:nvSpPr>
            <p:cNvPr id="208" name="TextBox 208"/>
            <p:cNvSpPr txBox="1"/>
            <p:nvPr/>
          </p:nvSpPr>
          <p:spPr>
            <a:xfrm>
              <a:off x="2737091" y="4394597"/>
              <a:ext cx="102186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指标等级（示例）</a:t>
              </a:r>
            </a:p>
          </p:txBody>
        </p:sp>
        <p:sp>
          <p:nvSpPr>
            <p:cNvPr id="209" name="TextBox 209"/>
            <p:cNvSpPr txBox="1"/>
            <p:nvPr/>
          </p:nvSpPr>
          <p:spPr>
            <a:xfrm>
              <a:off x="8001343" y="428839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风险响应动作</a:t>
              </a:r>
            </a:p>
          </p:txBody>
        </p:sp>
        <p:sp>
          <p:nvSpPr>
            <p:cNvPr id="210" name="TextBox 210"/>
            <p:cNvSpPr txBox="1"/>
            <p:nvPr/>
          </p:nvSpPr>
          <p:spPr>
            <a:xfrm>
              <a:off x="5480063" y="45250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预警</a:t>
              </a:r>
            </a:p>
          </p:txBody>
        </p:sp>
        <p:sp>
          <p:nvSpPr>
            <p:cNvPr id="211" name="TextBox 211"/>
            <p:cNvSpPr txBox="1"/>
            <p:nvPr/>
          </p:nvSpPr>
          <p:spPr>
            <a:xfrm>
              <a:off x="7318388" y="45250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督导</a:t>
              </a:r>
            </a:p>
          </p:txBody>
        </p:sp>
        <p:sp>
          <p:nvSpPr>
            <p:cNvPr id="212" name="TextBox 212"/>
            <p:cNvSpPr txBox="1"/>
            <p:nvPr/>
          </p:nvSpPr>
          <p:spPr>
            <a:xfrm>
              <a:off x="9050363" y="4525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资源调整</a:t>
              </a:r>
            </a:p>
          </p:txBody>
        </p:sp>
        <p:sp>
          <p:nvSpPr>
            <p:cNvPr id="213" name="TextBox 213"/>
            <p:cNvSpPr txBox="1"/>
            <p:nvPr/>
          </p:nvSpPr>
          <p:spPr>
            <a:xfrm>
              <a:off x="10898213" y="4525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策略纠偏</a:t>
              </a:r>
            </a:p>
          </p:txBody>
        </p:sp>
        <p:grpSp>
          <p:nvGrpSpPr>
            <p:cNvPr id="231" name="risk-row-high"/>
            <p:cNvGrpSpPr/>
            <p:nvPr/>
          </p:nvGrpSpPr>
          <p:grpSpPr>
            <a:xfrm>
              <a:off x="200025" y="4686300"/>
              <a:ext cx="11839575" cy="647700"/>
              <a:chOff x="200025" y="4686300"/>
              <a:chExt cx="11839575" cy="647700"/>
            </a:xfrm>
          </p:grpSpPr>
          <p:sp>
            <p:nvSpPr>
              <p:cNvPr id="214" name="Rectangle 214"/>
              <p:cNvSpPr/>
              <p:nvPr/>
            </p:nvSpPr>
            <p:spPr>
              <a:xfrm>
                <a:off x="200025" y="4686300"/>
                <a:ext cx="11839575" cy="647700"/>
              </a:xfrm>
              <a:prstGeom prst="rect">
                <a:avLst/>
              </a:prstGeom>
              <a:solidFill>
                <a:srgbClr val="FFFFFF"/>
              </a:solidFill>
              <a:ln w="9525">
                <a:solidFill>
                  <a:srgbClr val="E5E0DC"/>
                </a:solidFill>
              </a:ln>
            </p:spPr>
          </p:sp>
          <p:sp>
            <p:nvSpPr>
              <p:cNvPr id="215" name="Line 215"/>
              <p:cNvSpPr/>
              <p:nvPr/>
            </p:nvSpPr>
            <p:spPr>
              <a:xfrm>
                <a:off x="1819275" y="46863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16" name="Line 216"/>
              <p:cNvSpPr/>
              <p:nvPr/>
            </p:nvSpPr>
            <p:spPr>
              <a:xfrm>
                <a:off x="4676775" y="46863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17" name="Line 217"/>
              <p:cNvSpPr/>
              <p:nvPr/>
            </p:nvSpPr>
            <p:spPr>
              <a:xfrm>
                <a:off x="6515100" y="46863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18" name="Line 218"/>
              <p:cNvSpPr/>
              <p:nvPr/>
            </p:nvSpPr>
            <p:spPr>
              <a:xfrm>
                <a:off x="8353425" y="46863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19" name="Line 219"/>
              <p:cNvSpPr/>
              <p:nvPr/>
            </p:nvSpPr>
            <p:spPr>
              <a:xfrm>
                <a:off x="10191750" y="46863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20" name="Ellipse 220"/>
              <p:cNvSpPr/>
              <p:nvPr/>
            </p:nvSpPr>
            <p:spPr>
              <a:xfrm>
                <a:off x="381000" y="4933950"/>
                <a:ext cx="152400" cy="152400"/>
              </a:xfrm>
              <a:prstGeom prst="ellipse">
                <a:avLst/>
              </a:prstGeom>
              <a:solidFill>
                <a:srgbClr val="D0442C"/>
              </a:solidFill>
              <a:ln>
                <a:noFill/>
              </a:ln>
            </p:spPr>
          </p:sp>
          <p:sp>
            <p:nvSpPr>
              <p:cNvPr id="221" name="TextBox 221"/>
              <p:cNvSpPr txBox="1"/>
              <p:nvPr/>
            </p:nvSpPr>
            <p:spPr>
              <a:xfrm>
                <a:off x="604838" y="4955143"/>
                <a:ext cx="819937"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高风险（红色）</a:t>
                </a:r>
              </a:p>
            </p:txBody>
          </p:sp>
          <p:sp>
            <p:nvSpPr>
              <p:cNvPr id="222" name="TextBox 222"/>
              <p:cNvSpPr txBox="1"/>
              <p:nvPr/>
            </p:nvSpPr>
            <p:spPr>
              <a:xfrm>
                <a:off x="1947862" y="4967288"/>
                <a:ext cx="1836992"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远低于目标/大幅偏离阈值/风险指标恶化</a:t>
                </a:r>
              </a:p>
            </p:txBody>
          </p:sp>
          <p:sp>
            <p:nvSpPr>
              <p:cNvPr id="223" name="TextBox 223"/>
              <p:cNvSpPr txBox="1"/>
              <p:nvPr/>
            </p:nvSpPr>
            <p:spPr>
              <a:xfrm>
                <a:off x="5373713" y="48870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红色预警</a:t>
                </a:r>
              </a:p>
            </p:txBody>
          </p:sp>
          <p:sp>
            <p:nvSpPr>
              <p:cNvPr id="224" name="TextBox 224"/>
              <p:cNvSpPr txBox="1"/>
              <p:nvPr/>
            </p:nvSpPr>
            <p:spPr>
              <a:xfrm>
                <a:off x="5327942" y="50746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（即时触发）</a:t>
                </a:r>
              </a:p>
            </p:txBody>
          </p:sp>
          <p:sp>
            <p:nvSpPr>
              <p:cNvPr id="225" name="TextBox 225"/>
              <p:cNvSpPr txBox="1"/>
              <p:nvPr/>
            </p:nvSpPr>
            <p:spPr>
              <a:xfrm>
                <a:off x="7212038" y="48870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专项督导</a:t>
                </a:r>
              </a:p>
            </p:txBody>
          </p:sp>
          <p:sp>
            <p:nvSpPr>
              <p:cNvPr id="226" name="TextBox 226"/>
              <p:cNvSpPr txBox="1"/>
              <p:nvPr/>
            </p:nvSpPr>
            <p:spPr>
              <a:xfrm>
                <a:off x="7166267" y="50746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（高级跟踪）</a:t>
                </a:r>
              </a:p>
            </p:txBody>
          </p:sp>
          <p:sp>
            <p:nvSpPr>
              <p:cNvPr id="227" name="TextBox 227"/>
              <p:cNvSpPr txBox="1"/>
              <p:nvPr/>
            </p:nvSpPr>
            <p:spPr>
              <a:xfrm>
                <a:off x="9050363" y="48870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倾斜资源</a:t>
                </a:r>
              </a:p>
            </p:txBody>
          </p:sp>
          <p:sp>
            <p:nvSpPr>
              <p:cNvPr id="228" name="TextBox 228"/>
              <p:cNvSpPr txBox="1"/>
              <p:nvPr/>
            </p:nvSpPr>
            <p:spPr>
              <a:xfrm>
                <a:off x="9004592" y="50746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（优先保障）</a:t>
                </a:r>
              </a:p>
            </p:txBody>
          </p:sp>
          <p:sp>
            <p:nvSpPr>
              <p:cNvPr id="229" name="TextBox 229"/>
              <p:cNvSpPr txBox="1"/>
              <p:nvPr/>
            </p:nvSpPr>
            <p:spPr>
              <a:xfrm>
                <a:off x="10898213" y="48870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策略重构</a:t>
                </a:r>
              </a:p>
            </p:txBody>
          </p:sp>
          <p:sp>
            <p:nvSpPr>
              <p:cNvPr id="230" name="TextBox 230"/>
              <p:cNvSpPr txBox="1"/>
              <p:nvPr/>
            </p:nvSpPr>
            <p:spPr>
              <a:xfrm>
                <a:off x="10852442" y="50746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（措施强化）</a:t>
                </a:r>
              </a:p>
            </p:txBody>
          </p:sp>
        </p:grpSp>
        <p:grpSp>
          <p:nvGrpSpPr>
            <p:cNvPr id="249" name="risk-row-mid"/>
            <p:cNvGrpSpPr/>
            <p:nvPr/>
          </p:nvGrpSpPr>
          <p:grpSpPr>
            <a:xfrm>
              <a:off x="200025" y="5334000"/>
              <a:ext cx="11839575" cy="647700"/>
              <a:chOff x="200025" y="5334000"/>
              <a:chExt cx="11839575" cy="647700"/>
            </a:xfrm>
          </p:grpSpPr>
          <p:sp>
            <p:nvSpPr>
              <p:cNvPr id="232" name="Rectangle 232"/>
              <p:cNvSpPr/>
              <p:nvPr/>
            </p:nvSpPr>
            <p:spPr>
              <a:xfrm>
                <a:off x="200025" y="5334000"/>
                <a:ext cx="11839575" cy="647700"/>
              </a:xfrm>
              <a:prstGeom prst="rect">
                <a:avLst/>
              </a:prstGeom>
              <a:solidFill>
                <a:srgbClr val="F9F7F5"/>
              </a:solidFill>
              <a:ln w="9525">
                <a:solidFill>
                  <a:srgbClr val="E5E0DC"/>
                </a:solidFill>
              </a:ln>
            </p:spPr>
          </p:sp>
          <p:sp>
            <p:nvSpPr>
              <p:cNvPr id="233" name="Line 233"/>
              <p:cNvSpPr/>
              <p:nvPr/>
            </p:nvSpPr>
            <p:spPr>
              <a:xfrm>
                <a:off x="1819275" y="53340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34" name="Line 234"/>
              <p:cNvSpPr/>
              <p:nvPr/>
            </p:nvSpPr>
            <p:spPr>
              <a:xfrm>
                <a:off x="4676775" y="53340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35" name="Line 235"/>
              <p:cNvSpPr/>
              <p:nvPr/>
            </p:nvSpPr>
            <p:spPr>
              <a:xfrm>
                <a:off x="6515100" y="53340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36" name="Line 236"/>
              <p:cNvSpPr/>
              <p:nvPr/>
            </p:nvSpPr>
            <p:spPr>
              <a:xfrm>
                <a:off x="8353425" y="53340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37" name="Line 237"/>
              <p:cNvSpPr/>
              <p:nvPr/>
            </p:nvSpPr>
            <p:spPr>
              <a:xfrm>
                <a:off x="10191750" y="53340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38" name="Ellipse 238"/>
              <p:cNvSpPr/>
              <p:nvPr/>
            </p:nvSpPr>
            <p:spPr>
              <a:xfrm>
                <a:off x="381000" y="5581650"/>
                <a:ext cx="152400" cy="152400"/>
              </a:xfrm>
              <a:prstGeom prst="ellipse">
                <a:avLst/>
              </a:prstGeom>
              <a:solidFill>
                <a:srgbClr val="E8563D"/>
              </a:solidFill>
              <a:ln>
                <a:noFill/>
              </a:ln>
            </p:spPr>
          </p:sp>
          <p:sp>
            <p:nvSpPr>
              <p:cNvPr id="239" name="TextBox 239"/>
              <p:cNvSpPr txBox="1"/>
              <p:nvPr/>
            </p:nvSpPr>
            <p:spPr>
              <a:xfrm>
                <a:off x="604838" y="5602843"/>
                <a:ext cx="819937"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中风险（黄色）</a:t>
                </a:r>
              </a:p>
            </p:txBody>
          </p:sp>
          <p:sp>
            <p:nvSpPr>
              <p:cNvPr id="240" name="TextBox 240"/>
              <p:cNvSpPr txBox="1"/>
              <p:nvPr/>
            </p:nvSpPr>
            <p:spPr>
              <a:xfrm>
                <a:off x="1947862" y="5614988"/>
                <a:ext cx="1736027"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低于目标/部分指标偏离/风险指标承压</a:t>
                </a:r>
              </a:p>
            </p:txBody>
          </p:sp>
          <p:sp>
            <p:nvSpPr>
              <p:cNvPr id="241" name="TextBox 241"/>
              <p:cNvSpPr txBox="1"/>
              <p:nvPr/>
            </p:nvSpPr>
            <p:spPr>
              <a:xfrm>
                <a:off x="5373713" y="55347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黄色预警</a:t>
                </a:r>
              </a:p>
            </p:txBody>
          </p:sp>
          <p:sp>
            <p:nvSpPr>
              <p:cNvPr id="242" name="TextBox 242"/>
              <p:cNvSpPr txBox="1"/>
              <p:nvPr/>
            </p:nvSpPr>
            <p:spPr>
              <a:xfrm>
                <a:off x="5327942" y="57223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（及时提醒）</a:t>
                </a:r>
              </a:p>
            </p:txBody>
          </p:sp>
          <p:sp>
            <p:nvSpPr>
              <p:cNvPr id="243" name="TextBox 243"/>
              <p:cNvSpPr txBox="1"/>
              <p:nvPr/>
            </p:nvSpPr>
            <p:spPr>
              <a:xfrm>
                <a:off x="7212038" y="55347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重点督导</a:t>
                </a:r>
              </a:p>
            </p:txBody>
          </p:sp>
          <p:sp>
            <p:nvSpPr>
              <p:cNvPr id="244" name="TextBox 244"/>
              <p:cNvSpPr txBox="1"/>
              <p:nvPr/>
            </p:nvSpPr>
            <p:spPr>
              <a:xfrm>
                <a:off x="7166267" y="57223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（跟踪改进）</a:t>
                </a:r>
              </a:p>
            </p:txBody>
          </p:sp>
          <p:sp>
            <p:nvSpPr>
              <p:cNvPr id="245" name="TextBox 245"/>
              <p:cNvSpPr txBox="1"/>
              <p:nvPr/>
            </p:nvSpPr>
            <p:spPr>
              <a:xfrm>
                <a:off x="9050363" y="55347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动态调整</a:t>
                </a:r>
              </a:p>
            </p:txBody>
          </p:sp>
          <p:sp>
            <p:nvSpPr>
              <p:cNvPr id="246" name="TextBox 246"/>
              <p:cNvSpPr txBox="1"/>
              <p:nvPr/>
            </p:nvSpPr>
            <p:spPr>
              <a:xfrm>
                <a:off x="9004592" y="57223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（精准支持）</a:t>
                </a:r>
              </a:p>
            </p:txBody>
          </p:sp>
          <p:sp>
            <p:nvSpPr>
              <p:cNvPr id="247" name="TextBox 247"/>
              <p:cNvSpPr txBox="1"/>
              <p:nvPr/>
            </p:nvSpPr>
            <p:spPr>
              <a:xfrm>
                <a:off x="10898213" y="55347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局部优化</a:t>
                </a:r>
              </a:p>
            </p:txBody>
          </p:sp>
          <p:sp>
            <p:nvSpPr>
              <p:cNvPr id="248" name="TextBox 248"/>
              <p:cNvSpPr txBox="1"/>
              <p:nvPr/>
            </p:nvSpPr>
            <p:spPr>
              <a:xfrm>
                <a:off x="10852442" y="57223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（措施微调）</a:t>
                </a:r>
              </a:p>
            </p:txBody>
          </p:sp>
        </p:grpSp>
        <p:grpSp>
          <p:nvGrpSpPr>
            <p:cNvPr id="267" name="risk-row-low"/>
            <p:cNvGrpSpPr/>
            <p:nvPr/>
          </p:nvGrpSpPr>
          <p:grpSpPr>
            <a:xfrm>
              <a:off x="200025" y="5981700"/>
              <a:ext cx="11839575" cy="647700"/>
              <a:chOff x="200025" y="5981700"/>
              <a:chExt cx="11839575" cy="647700"/>
            </a:xfrm>
          </p:grpSpPr>
          <p:sp>
            <p:nvSpPr>
              <p:cNvPr id="250" name="Rectangle 250"/>
              <p:cNvSpPr/>
              <p:nvPr/>
            </p:nvSpPr>
            <p:spPr>
              <a:xfrm>
                <a:off x="200025" y="5981700"/>
                <a:ext cx="11839575" cy="647700"/>
              </a:xfrm>
              <a:prstGeom prst="rect">
                <a:avLst/>
              </a:prstGeom>
              <a:solidFill>
                <a:srgbClr val="FFFFFF"/>
              </a:solidFill>
              <a:ln w="9525">
                <a:solidFill>
                  <a:srgbClr val="E5E0DC"/>
                </a:solidFill>
              </a:ln>
            </p:spPr>
          </p:sp>
          <p:sp>
            <p:nvSpPr>
              <p:cNvPr id="251" name="Line 251"/>
              <p:cNvSpPr/>
              <p:nvPr/>
            </p:nvSpPr>
            <p:spPr>
              <a:xfrm>
                <a:off x="1819275" y="59817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52" name="Line 252"/>
              <p:cNvSpPr/>
              <p:nvPr/>
            </p:nvSpPr>
            <p:spPr>
              <a:xfrm>
                <a:off x="4676775" y="59817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53" name="Line 253"/>
              <p:cNvSpPr/>
              <p:nvPr/>
            </p:nvSpPr>
            <p:spPr>
              <a:xfrm>
                <a:off x="6515100" y="59817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54" name="Line 254"/>
              <p:cNvSpPr/>
              <p:nvPr/>
            </p:nvSpPr>
            <p:spPr>
              <a:xfrm>
                <a:off x="8353425" y="59817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55" name="Line 255"/>
              <p:cNvSpPr/>
              <p:nvPr/>
            </p:nvSpPr>
            <p:spPr>
              <a:xfrm>
                <a:off x="10191750" y="5981700"/>
                <a:ext cx="9525" cy="647700"/>
              </a:xfrm>
              <a:custGeom>
                <a:avLst/>
                <a:gdLst/>
                <a:ahLst/>
                <a:cxnLst/>
                <a:rect l="l" t="t" r="r" b="b"/>
                <a:pathLst>
                  <a:path w="9525" h="647700">
                    <a:moveTo>
                      <a:pt x="0" y="0"/>
                    </a:moveTo>
                    <a:lnTo>
                      <a:pt x="0" y="647700"/>
                    </a:lnTo>
                  </a:path>
                </a:pathLst>
              </a:custGeom>
              <a:noFill/>
              <a:ln w="9525">
                <a:solidFill>
                  <a:srgbClr val="E5E0DC"/>
                </a:solidFill>
              </a:ln>
            </p:spPr>
          </p:sp>
          <p:sp>
            <p:nvSpPr>
              <p:cNvPr id="256" name="Ellipse 256"/>
              <p:cNvSpPr/>
              <p:nvPr/>
            </p:nvSpPr>
            <p:spPr>
              <a:xfrm>
                <a:off x="381000" y="6229350"/>
                <a:ext cx="152400" cy="152400"/>
              </a:xfrm>
              <a:prstGeom prst="ellipse">
                <a:avLst/>
              </a:prstGeom>
              <a:solidFill>
                <a:srgbClr val="9E5B4E"/>
              </a:solidFill>
              <a:ln>
                <a:noFill/>
              </a:ln>
            </p:spPr>
          </p:sp>
          <p:sp>
            <p:nvSpPr>
              <p:cNvPr id="257" name="TextBox 257"/>
              <p:cNvSpPr txBox="1"/>
              <p:nvPr/>
            </p:nvSpPr>
            <p:spPr>
              <a:xfrm>
                <a:off x="604838" y="6250543"/>
                <a:ext cx="819937"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低风险（绿色）</a:t>
                </a:r>
              </a:p>
            </p:txBody>
          </p:sp>
          <p:sp>
            <p:nvSpPr>
              <p:cNvPr id="258" name="TextBox 258"/>
              <p:cNvSpPr txBox="1"/>
              <p:nvPr/>
            </p:nvSpPr>
            <p:spPr>
              <a:xfrm>
                <a:off x="1947862" y="6262688"/>
                <a:ext cx="1332167" cy="147638"/>
              </a:xfrm>
              <a:prstGeom prst="rect">
                <a:avLst/>
              </a:prstGeom>
              <a:noFill/>
              <a:ln>
                <a:noFill/>
              </a:ln>
            </p:spPr>
            <p:txBody>
              <a:bodyPr wrap="none" lIns="0" tIns="0" rIns="0" bIns="0" anchor="t" anchorCtr="0">
                <a:spAutoFit/>
              </a:bodyPr>
              <a:lstStyle/>
              <a:p>
                <a:pPr algn="l"/>
                <a:r>
                  <a:rPr lang="zh-CN" sz="750" dirty="0">
                    <a:solidFill>
                      <a:srgbClr val="3A3A3A"/>
                    </a:solidFill>
                    <a:latin typeface="+mn-lt"/>
                    <a:ea typeface="+mn-ea"/>
                    <a:cs typeface="+mn-cs"/>
                  </a:rPr>
                  <a:t>达成目标/指标正常/风险可控</a:t>
                </a:r>
              </a:p>
            </p:txBody>
          </p:sp>
          <p:sp>
            <p:nvSpPr>
              <p:cNvPr id="259" name="TextBox 259"/>
              <p:cNvSpPr txBox="1"/>
              <p:nvPr/>
            </p:nvSpPr>
            <p:spPr>
              <a:xfrm>
                <a:off x="5373713" y="61824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绿色提示</a:t>
                </a:r>
              </a:p>
            </p:txBody>
          </p:sp>
          <p:sp>
            <p:nvSpPr>
              <p:cNvPr id="260" name="TextBox 260"/>
              <p:cNvSpPr txBox="1"/>
              <p:nvPr/>
            </p:nvSpPr>
            <p:spPr>
              <a:xfrm>
                <a:off x="5327942" y="63700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（常态监测）</a:t>
                </a:r>
              </a:p>
            </p:txBody>
          </p:sp>
          <p:sp>
            <p:nvSpPr>
              <p:cNvPr id="261" name="TextBox 261"/>
              <p:cNvSpPr txBox="1"/>
              <p:nvPr/>
            </p:nvSpPr>
            <p:spPr>
              <a:xfrm>
                <a:off x="7212038" y="61824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例行督导</a:t>
                </a:r>
              </a:p>
            </p:txBody>
          </p:sp>
          <p:sp>
            <p:nvSpPr>
              <p:cNvPr id="262" name="TextBox 262"/>
              <p:cNvSpPr txBox="1"/>
              <p:nvPr/>
            </p:nvSpPr>
            <p:spPr>
              <a:xfrm>
                <a:off x="7166267" y="63700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（持续关注）</a:t>
                </a:r>
              </a:p>
            </p:txBody>
          </p:sp>
          <p:sp>
            <p:nvSpPr>
              <p:cNvPr id="263" name="TextBox 263"/>
              <p:cNvSpPr txBox="1"/>
              <p:nvPr/>
            </p:nvSpPr>
            <p:spPr>
              <a:xfrm>
                <a:off x="9050363" y="61824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保持配置</a:t>
                </a:r>
              </a:p>
            </p:txBody>
          </p:sp>
          <p:sp>
            <p:nvSpPr>
              <p:cNvPr id="264" name="TextBox 264"/>
              <p:cNvSpPr txBox="1"/>
              <p:nvPr/>
            </p:nvSpPr>
            <p:spPr>
              <a:xfrm>
                <a:off x="9004592" y="63700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（效果提升）</a:t>
                </a:r>
              </a:p>
            </p:txBody>
          </p:sp>
          <p:sp>
            <p:nvSpPr>
              <p:cNvPr id="265" name="TextBox 265"/>
              <p:cNvSpPr txBox="1"/>
              <p:nvPr/>
            </p:nvSpPr>
            <p:spPr>
              <a:xfrm>
                <a:off x="10898213" y="6182439"/>
                <a:ext cx="434924" cy="154781"/>
              </a:xfrm>
              <a:prstGeom prst="rect">
                <a:avLst/>
              </a:prstGeom>
              <a:noFill/>
              <a:ln>
                <a:noFill/>
              </a:ln>
            </p:spPr>
            <p:txBody>
              <a:bodyPr wrap="none" lIns="0" tIns="0" rIns="0" bIns="0" anchor="t" anchorCtr="0">
                <a:spAutoFit/>
              </a:bodyPr>
              <a:lstStyle/>
              <a:p>
                <a:pPr algn="ctr"/>
                <a:r>
                  <a:rPr lang="zh-CN" sz="790" b="1" dirty="0">
                    <a:solidFill>
                      <a:srgbClr val="1A1A1A"/>
                    </a:solidFill>
                    <a:latin typeface="+mn-lt"/>
                    <a:ea typeface="+mn-ea"/>
                    <a:cs typeface="+mn-cs"/>
                  </a:rPr>
                  <a:t>优化迭代</a:t>
                </a:r>
              </a:p>
            </p:txBody>
          </p:sp>
          <p:sp>
            <p:nvSpPr>
              <p:cNvPr id="266" name="TextBox 266"/>
              <p:cNvSpPr txBox="1"/>
              <p:nvPr/>
            </p:nvSpPr>
            <p:spPr>
              <a:xfrm>
                <a:off x="10852442" y="6370082"/>
                <a:ext cx="526466" cy="126206"/>
              </a:xfrm>
              <a:prstGeom prst="rect">
                <a:avLst/>
              </a:prstGeom>
              <a:noFill/>
              <a:ln>
                <a:noFill/>
              </a:ln>
            </p:spPr>
            <p:txBody>
              <a:bodyPr wrap="none" lIns="0" tIns="0" rIns="0" bIns="0" anchor="t" anchorCtr="0">
                <a:spAutoFit/>
              </a:bodyPr>
              <a:lstStyle/>
              <a:p>
                <a:pPr algn="ctr"/>
                <a:r>
                  <a:rPr lang="zh-CN" sz="640" dirty="0">
                    <a:solidFill>
                      <a:srgbClr val="8A8A8A"/>
                    </a:solidFill>
                    <a:latin typeface="+mn-lt"/>
                    <a:ea typeface="+mn-ea"/>
                    <a:cs typeface="+mn-cs"/>
                  </a:rPr>
                  <a:t>（固化经验）</a:t>
                </a:r>
              </a:p>
            </p:txBody>
          </p:sp>
        </p:grpSp>
      </p:gr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2" name="cover-sidebar"/>
          <p:cNvGrpSpPr/>
          <p:nvPr/>
        </p:nvGrpSpPr>
        <p:grpSpPr>
          <a:xfrm>
            <a:off x="0" y="0"/>
            <a:ext cx="2857500" cy="6858000"/>
            <a:chOff x="0" y="0"/>
            <a:chExt cx="2857500" cy="6858000"/>
          </a:xfrm>
        </p:grpSpPr>
        <p:sp>
          <p:nvSpPr>
            <p:cNvPr id="2" name="Rectangle 2"/>
            <p:cNvSpPr/>
            <p:nvPr/>
          </p:nvSpPr>
          <p:spPr>
            <a:xfrm>
              <a:off x="0" y="0"/>
              <a:ext cx="2857500" cy="6858000"/>
            </a:xfrm>
            <a:prstGeom prst="rect">
              <a:avLst/>
            </a:prstGeom>
            <a:gradFill>
              <a:gsLst>
                <a:gs pos="0">
                  <a:srgbClr val="762D1E"/>
                </a:gs>
                <a:gs pos="100000">
                  <a:srgbClr val="4D1C12"/>
                </a:gs>
              </a:gsLst>
              <a:lin ang="5400000" scaled="1"/>
            </a:gradFill>
            <a:ln>
              <a:noFill/>
            </a:ln>
          </p:spPr>
        </p:sp>
        <p:sp>
          <p:nvSpPr>
            <p:cNvPr id="3" name="Rectangle 3"/>
            <p:cNvSpPr/>
            <p:nvPr/>
          </p:nvSpPr>
          <p:spPr>
            <a:xfrm>
              <a:off x="2762250" y="0"/>
              <a:ext cx="38100" cy="6858000"/>
            </a:xfrm>
            <a:prstGeom prst="rect">
              <a:avLst/>
            </a:prstGeom>
            <a:solidFill>
              <a:srgbClr val="E04C2E"/>
            </a:solidFill>
            <a:ln>
              <a:noFill/>
            </a:ln>
          </p:spPr>
        </p:sp>
        <p:sp>
          <p:nvSpPr>
            <p:cNvPr id="4" name="Ellipse 4"/>
            <p:cNvSpPr/>
            <p:nvPr/>
          </p:nvSpPr>
          <p:spPr>
            <a:xfrm>
              <a:off x="990600" y="552450"/>
              <a:ext cx="876300" cy="876300"/>
            </a:xfrm>
            <a:prstGeom prst="ellipse">
              <a:avLst/>
            </a:prstGeom>
            <a:noFill/>
            <a:ln w="14288">
              <a:solidFill>
                <a:srgbClr val="E0A89D"/>
              </a:solidFill>
            </a:ln>
          </p:spPr>
        </p:sp>
        <p:grpSp>
          <p:nvGrpSpPr>
            <p:cNvPr id="13" name="Group 13"/>
            <p:cNvGrpSpPr/>
            <p:nvPr/>
          </p:nvGrpSpPr>
          <p:grpSpPr>
            <a:xfrm>
              <a:off x="1264444" y="826294"/>
              <a:ext cx="328613" cy="338138"/>
              <a:chOff x="1264444" y="826294"/>
              <a:chExt cx="328613" cy="338138"/>
            </a:xfrm>
          </p:grpSpPr>
          <p:sp>
            <p:nvSpPr>
              <p:cNvPr id="5" name="Freeform 5"/>
              <p:cNvSpPr/>
              <p:nvPr/>
            </p:nvSpPr>
            <p:spPr>
              <a:xfrm>
                <a:off x="1264444" y="1154907"/>
                <a:ext cx="328613" cy="9525"/>
              </a:xfrm>
              <a:custGeom>
                <a:avLst/>
                <a:gdLst/>
                <a:ahLst/>
                <a:cxnLst/>
                <a:rect l="l" t="t" r="r" b="b"/>
                <a:pathLst>
                  <a:path w="328613" h="9525">
                    <a:moveTo>
                      <a:pt x="0" y="0"/>
                    </a:moveTo>
                    <a:lnTo>
                      <a:pt x="328613" y="0"/>
                    </a:lnTo>
                  </a:path>
                </a:pathLst>
              </a:custGeom>
              <a:noFill/>
              <a:ln w="36513">
                <a:solidFill>
                  <a:srgbClr val="FFFFFF"/>
                </a:solidFill>
              </a:ln>
            </p:spPr>
          </p:sp>
          <p:sp>
            <p:nvSpPr>
              <p:cNvPr id="6" name="Freeform 6"/>
              <p:cNvSpPr/>
              <p:nvPr/>
            </p:nvSpPr>
            <p:spPr>
              <a:xfrm>
                <a:off x="1264444" y="954088"/>
                <a:ext cx="328613" cy="9525"/>
              </a:xfrm>
              <a:custGeom>
                <a:avLst/>
                <a:gdLst/>
                <a:ahLst/>
                <a:cxnLst/>
                <a:rect l="l" t="t" r="r" b="b"/>
                <a:pathLst>
                  <a:path w="328613" h="9525">
                    <a:moveTo>
                      <a:pt x="0" y="0"/>
                    </a:moveTo>
                    <a:lnTo>
                      <a:pt x="328613" y="0"/>
                    </a:lnTo>
                  </a:path>
                </a:pathLst>
              </a:custGeom>
              <a:noFill/>
              <a:ln w="36513">
                <a:solidFill>
                  <a:srgbClr val="FFFFFF"/>
                </a:solidFill>
              </a:ln>
            </p:spPr>
          </p:sp>
          <p:sp>
            <p:nvSpPr>
              <p:cNvPr id="7" name="Freeform 7"/>
              <p:cNvSpPr/>
              <p:nvPr/>
            </p:nvSpPr>
            <p:spPr>
              <a:xfrm>
                <a:off x="1300956" y="826294"/>
                <a:ext cx="255588" cy="54769"/>
              </a:xfrm>
              <a:custGeom>
                <a:avLst/>
                <a:gdLst/>
                <a:ahLst/>
                <a:cxnLst/>
                <a:rect l="l" t="t" r="r" b="b"/>
                <a:pathLst>
                  <a:path w="255588" h="54769">
                    <a:moveTo>
                      <a:pt x="0" y="54769"/>
                    </a:moveTo>
                    <a:lnTo>
                      <a:pt x="127794" y="0"/>
                    </a:lnTo>
                    <a:lnTo>
                      <a:pt x="255588" y="54769"/>
                    </a:lnTo>
                  </a:path>
                </a:pathLst>
              </a:custGeom>
              <a:noFill/>
              <a:ln w="36513">
                <a:solidFill>
                  <a:srgbClr val="FFFFFF"/>
                </a:solidFill>
              </a:ln>
            </p:spPr>
          </p:sp>
          <p:sp>
            <p:nvSpPr>
              <p:cNvPr id="8" name="Freeform 8"/>
              <p:cNvSpPr/>
              <p:nvPr/>
            </p:nvSpPr>
            <p:spPr>
              <a:xfrm>
                <a:off x="1282700" y="954088"/>
                <a:ext cx="9525" cy="200819"/>
              </a:xfrm>
              <a:custGeom>
                <a:avLst/>
                <a:gdLst/>
                <a:ahLst/>
                <a:cxnLst/>
                <a:rect l="l" t="t" r="r" b="b"/>
                <a:pathLst>
                  <a:path w="9525" h="200819">
                    <a:moveTo>
                      <a:pt x="0" y="0"/>
                    </a:moveTo>
                    <a:lnTo>
                      <a:pt x="0" y="200819"/>
                    </a:lnTo>
                  </a:path>
                </a:pathLst>
              </a:custGeom>
              <a:noFill/>
              <a:ln w="36513">
                <a:solidFill>
                  <a:srgbClr val="FFFFFF"/>
                </a:solidFill>
              </a:ln>
            </p:spPr>
          </p:sp>
          <p:sp>
            <p:nvSpPr>
              <p:cNvPr id="9" name="Freeform 9"/>
              <p:cNvSpPr/>
              <p:nvPr/>
            </p:nvSpPr>
            <p:spPr>
              <a:xfrm>
                <a:off x="1574801" y="954088"/>
                <a:ext cx="9525" cy="200819"/>
              </a:xfrm>
              <a:custGeom>
                <a:avLst/>
                <a:gdLst/>
                <a:ahLst/>
                <a:cxnLst/>
                <a:rect l="l" t="t" r="r" b="b"/>
                <a:pathLst>
                  <a:path w="9525" h="200819">
                    <a:moveTo>
                      <a:pt x="0" y="0"/>
                    </a:moveTo>
                    <a:lnTo>
                      <a:pt x="0" y="200819"/>
                    </a:lnTo>
                  </a:path>
                </a:pathLst>
              </a:custGeom>
              <a:noFill/>
              <a:ln w="36513">
                <a:solidFill>
                  <a:srgbClr val="FFFFFF"/>
                </a:solidFill>
              </a:ln>
            </p:spPr>
          </p:sp>
          <p:sp>
            <p:nvSpPr>
              <p:cNvPr id="10" name="Freeform 10"/>
              <p:cNvSpPr/>
              <p:nvPr/>
            </p:nvSpPr>
            <p:spPr>
              <a:xfrm>
                <a:off x="1355725" y="1027113"/>
                <a:ext cx="9525" cy="54769"/>
              </a:xfrm>
              <a:custGeom>
                <a:avLst/>
                <a:gdLst/>
                <a:ahLst/>
                <a:cxnLst/>
                <a:rect l="l" t="t" r="r" b="b"/>
                <a:pathLst>
                  <a:path w="9525" h="54769">
                    <a:moveTo>
                      <a:pt x="0" y="0"/>
                    </a:moveTo>
                    <a:lnTo>
                      <a:pt x="0" y="54769"/>
                    </a:lnTo>
                  </a:path>
                </a:pathLst>
              </a:custGeom>
              <a:noFill/>
              <a:ln w="36513">
                <a:solidFill>
                  <a:srgbClr val="FFFFFF"/>
                </a:solidFill>
              </a:ln>
            </p:spPr>
          </p:sp>
          <p:sp>
            <p:nvSpPr>
              <p:cNvPr id="11" name="Freeform 11"/>
              <p:cNvSpPr/>
              <p:nvPr/>
            </p:nvSpPr>
            <p:spPr>
              <a:xfrm>
                <a:off x="1428750" y="1027113"/>
                <a:ext cx="9525" cy="54769"/>
              </a:xfrm>
              <a:custGeom>
                <a:avLst/>
                <a:gdLst/>
                <a:ahLst/>
                <a:cxnLst/>
                <a:rect l="l" t="t" r="r" b="b"/>
                <a:pathLst>
                  <a:path w="9525" h="54769">
                    <a:moveTo>
                      <a:pt x="0" y="0"/>
                    </a:moveTo>
                    <a:lnTo>
                      <a:pt x="0" y="54769"/>
                    </a:lnTo>
                  </a:path>
                </a:pathLst>
              </a:custGeom>
              <a:noFill/>
              <a:ln w="36513">
                <a:solidFill>
                  <a:srgbClr val="FFFFFF"/>
                </a:solidFill>
              </a:ln>
            </p:spPr>
          </p:sp>
          <p:sp>
            <p:nvSpPr>
              <p:cNvPr id="12" name="Freeform 12"/>
              <p:cNvSpPr/>
              <p:nvPr/>
            </p:nvSpPr>
            <p:spPr>
              <a:xfrm>
                <a:off x="1501776" y="1027113"/>
                <a:ext cx="9525" cy="54769"/>
              </a:xfrm>
              <a:custGeom>
                <a:avLst/>
                <a:gdLst/>
                <a:ahLst/>
                <a:cxnLst/>
                <a:rect l="l" t="t" r="r" b="b"/>
                <a:pathLst>
                  <a:path w="9525" h="54769">
                    <a:moveTo>
                      <a:pt x="0" y="0"/>
                    </a:moveTo>
                    <a:lnTo>
                      <a:pt x="0" y="54769"/>
                    </a:lnTo>
                  </a:path>
                </a:pathLst>
              </a:custGeom>
              <a:noFill/>
              <a:ln w="36513">
                <a:solidFill>
                  <a:srgbClr val="FFFFFF"/>
                </a:solidFill>
              </a:ln>
            </p:spPr>
          </p:sp>
        </p:grpSp>
        <p:sp>
          <p:nvSpPr>
            <p:cNvPr id="14" name="TextBox 14"/>
            <p:cNvSpPr txBox="1"/>
            <p:nvPr/>
          </p:nvSpPr>
          <p:spPr>
            <a:xfrm>
              <a:off x="930596" y="1808321"/>
              <a:ext cx="996307" cy="278702"/>
            </a:xfrm>
            <a:prstGeom prst="rect">
              <a:avLst/>
            </a:prstGeom>
            <a:noFill/>
            <a:ln>
              <a:noFill/>
            </a:ln>
          </p:spPr>
          <p:txBody>
            <a:bodyPr wrap="none" lIns="0" tIns="0" rIns="0" bIns="0" anchor="t" anchorCtr="0">
              <a:spAutoFit/>
            </a:bodyPr>
            <a:lstStyle/>
            <a:p>
              <a:pPr algn="ctr"/>
              <a:r>
                <a:rPr lang="zh-CN" sz="1420" b="1" spc="300" dirty="0">
                  <a:solidFill>
                    <a:srgbClr val="FFFFFF"/>
                  </a:solidFill>
                  <a:latin typeface="+mn-lt"/>
                  <a:ea typeface="+mn-ea"/>
                  <a:cs typeface="+mn-cs"/>
                </a:rPr>
                <a:t>专业 服务</a:t>
              </a:r>
            </a:p>
          </p:txBody>
        </p:sp>
        <p:sp>
          <p:nvSpPr>
            <p:cNvPr id="15" name="TextBox 15"/>
            <p:cNvSpPr txBox="1"/>
            <p:nvPr/>
          </p:nvSpPr>
          <p:spPr>
            <a:xfrm>
              <a:off x="930596" y="2094071"/>
              <a:ext cx="996307" cy="278702"/>
            </a:xfrm>
            <a:prstGeom prst="rect">
              <a:avLst/>
            </a:prstGeom>
            <a:noFill/>
            <a:ln>
              <a:noFill/>
            </a:ln>
          </p:spPr>
          <p:txBody>
            <a:bodyPr wrap="none" lIns="0" tIns="0" rIns="0" bIns="0" anchor="t" anchorCtr="0">
              <a:spAutoFit/>
            </a:bodyPr>
            <a:lstStyle/>
            <a:p>
              <a:pPr algn="ctr"/>
              <a:r>
                <a:rPr lang="zh-CN" sz="1420" b="1" spc="300" dirty="0">
                  <a:solidFill>
                    <a:srgbClr val="FFFFFF"/>
                  </a:solidFill>
                  <a:latin typeface="+mn-lt"/>
                  <a:ea typeface="+mn-ea"/>
                  <a:cs typeface="+mn-cs"/>
                </a:rPr>
                <a:t>稳健 共赢</a:t>
              </a:r>
            </a:p>
          </p:txBody>
        </p:sp>
        <p:sp>
          <p:nvSpPr>
            <p:cNvPr id="16" name="Line 16"/>
            <p:cNvSpPr/>
            <p:nvPr/>
          </p:nvSpPr>
          <p:spPr>
            <a:xfrm>
              <a:off x="1009650" y="2495550"/>
              <a:ext cx="838200" cy="9525"/>
            </a:xfrm>
            <a:custGeom>
              <a:avLst/>
              <a:gdLst/>
              <a:ahLst/>
              <a:cxnLst/>
              <a:rect l="l" t="t" r="r" b="b"/>
              <a:pathLst>
                <a:path w="838200" h="9525">
                  <a:moveTo>
                    <a:pt x="0" y="0"/>
                  </a:moveTo>
                  <a:lnTo>
                    <a:pt x="838200" y="0"/>
                  </a:lnTo>
                </a:path>
              </a:pathLst>
            </a:custGeom>
            <a:noFill/>
            <a:ln w="9525">
              <a:solidFill>
                <a:srgbClr val="C07A6C"/>
              </a:solidFill>
            </a:ln>
          </p:spPr>
        </p:sp>
        <p:grpSp>
          <p:nvGrpSpPr>
            <p:cNvPr id="25" name="Group 25"/>
            <p:cNvGrpSpPr/>
            <p:nvPr/>
          </p:nvGrpSpPr>
          <p:grpSpPr>
            <a:xfrm>
              <a:off x="559594" y="3017044"/>
              <a:ext cx="157956" cy="166687"/>
              <a:chOff x="559594" y="3017044"/>
              <a:chExt cx="157956" cy="166687"/>
            </a:xfrm>
          </p:grpSpPr>
          <p:sp>
            <p:nvSpPr>
              <p:cNvPr id="17" name="Freeform 17"/>
              <p:cNvSpPr/>
              <p:nvPr/>
            </p:nvSpPr>
            <p:spPr>
              <a:xfrm>
                <a:off x="559594" y="3174206"/>
                <a:ext cx="157163" cy="9525"/>
              </a:xfrm>
              <a:custGeom>
                <a:avLst/>
                <a:gdLst/>
                <a:ahLst/>
                <a:cxnLst/>
                <a:rect l="l" t="t" r="r" b="b"/>
                <a:pathLst>
                  <a:path w="157163" h="9525">
                    <a:moveTo>
                      <a:pt x="0" y="0"/>
                    </a:moveTo>
                    <a:lnTo>
                      <a:pt x="157163" y="0"/>
                    </a:lnTo>
                  </a:path>
                </a:pathLst>
              </a:custGeom>
              <a:noFill/>
              <a:ln w="17463">
                <a:solidFill>
                  <a:srgbClr val="E0A89D"/>
                </a:solidFill>
              </a:ln>
            </p:spPr>
          </p:sp>
          <p:sp>
            <p:nvSpPr>
              <p:cNvPr id="18" name="Freeform 18"/>
              <p:cNvSpPr/>
              <p:nvPr/>
            </p:nvSpPr>
            <p:spPr>
              <a:xfrm>
                <a:off x="559594" y="3078163"/>
                <a:ext cx="157163" cy="9525"/>
              </a:xfrm>
              <a:custGeom>
                <a:avLst/>
                <a:gdLst/>
                <a:ahLst/>
                <a:cxnLst/>
                <a:rect l="l" t="t" r="r" b="b"/>
                <a:pathLst>
                  <a:path w="157163" h="9525">
                    <a:moveTo>
                      <a:pt x="0" y="0"/>
                    </a:moveTo>
                    <a:lnTo>
                      <a:pt x="157163" y="0"/>
                    </a:lnTo>
                  </a:path>
                </a:pathLst>
              </a:custGeom>
              <a:noFill/>
              <a:ln w="17463">
                <a:solidFill>
                  <a:srgbClr val="E0A89D"/>
                </a:solidFill>
              </a:ln>
            </p:spPr>
          </p:sp>
          <p:sp>
            <p:nvSpPr>
              <p:cNvPr id="19" name="Freeform 19"/>
              <p:cNvSpPr/>
              <p:nvPr/>
            </p:nvSpPr>
            <p:spPr>
              <a:xfrm>
                <a:off x="577056" y="3017044"/>
                <a:ext cx="122238" cy="26194"/>
              </a:xfrm>
              <a:custGeom>
                <a:avLst/>
                <a:gdLst/>
                <a:ahLst/>
                <a:cxnLst/>
                <a:rect l="l" t="t" r="r" b="b"/>
                <a:pathLst>
                  <a:path w="122238" h="26194">
                    <a:moveTo>
                      <a:pt x="0" y="26194"/>
                    </a:moveTo>
                    <a:lnTo>
                      <a:pt x="61119" y="0"/>
                    </a:lnTo>
                    <a:lnTo>
                      <a:pt x="122238" y="26194"/>
                    </a:lnTo>
                  </a:path>
                </a:pathLst>
              </a:custGeom>
              <a:noFill/>
              <a:ln w="17463">
                <a:solidFill>
                  <a:srgbClr val="E0A89D"/>
                </a:solidFill>
              </a:ln>
            </p:spPr>
          </p:sp>
          <p:sp>
            <p:nvSpPr>
              <p:cNvPr id="20" name="Freeform 20"/>
              <p:cNvSpPr/>
              <p:nvPr/>
            </p:nvSpPr>
            <p:spPr>
              <a:xfrm>
                <a:off x="568325" y="3078163"/>
                <a:ext cx="9525" cy="96044"/>
              </a:xfrm>
              <a:custGeom>
                <a:avLst/>
                <a:gdLst/>
                <a:ahLst/>
                <a:cxnLst/>
                <a:rect l="l" t="t" r="r" b="b"/>
                <a:pathLst>
                  <a:path w="9525" h="96044">
                    <a:moveTo>
                      <a:pt x="0" y="0"/>
                    </a:moveTo>
                    <a:lnTo>
                      <a:pt x="0" y="96044"/>
                    </a:lnTo>
                  </a:path>
                </a:pathLst>
              </a:custGeom>
              <a:noFill/>
              <a:ln w="17463">
                <a:solidFill>
                  <a:srgbClr val="E0A89D"/>
                </a:solidFill>
              </a:ln>
            </p:spPr>
          </p:sp>
          <p:sp>
            <p:nvSpPr>
              <p:cNvPr id="21" name="Freeform 21"/>
              <p:cNvSpPr/>
              <p:nvPr/>
            </p:nvSpPr>
            <p:spPr>
              <a:xfrm>
                <a:off x="708025" y="3078163"/>
                <a:ext cx="9525" cy="96044"/>
              </a:xfrm>
              <a:custGeom>
                <a:avLst/>
                <a:gdLst/>
                <a:ahLst/>
                <a:cxnLst/>
                <a:rect l="l" t="t" r="r" b="b"/>
                <a:pathLst>
                  <a:path w="9525" h="96044">
                    <a:moveTo>
                      <a:pt x="0" y="0"/>
                    </a:moveTo>
                    <a:lnTo>
                      <a:pt x="0" y="96044"/>
                    </a:lnTo>
                  </a:path>
                </a:pathLst>
              </a:custGeom>
              <a:noFill/>
              <a:ln w="17463">
                <a:solidFill>
                  <a:srgbClr val="E0A89D"/>
                </a:solidFill>
              </a:ln>
            </p:spPr>
          </p:sp>
          <p:sp>
            <p:nvSpPr>
              <p:cNvPr id="22" name="Freeform 22"/>
              <p:cNvSpPr/>
              <p:nvPr/>
            </p:nvSpPr>
            <p:spPr>
              <a:xfrm>
                <a:off x="603250" y="3113088"/>
                <a:ext cx="9525" cy="26194"/>
              </a:xfrm>
              <a:custGeom>
                <a:avLst/>
                <a:gdLst/>
                <a:ahLst/>
                <a:cxnLst/>
                <a:rect l="l" t="t" r="r" b="b"/>
                <a:pathLst>
                  <a:path w="9525" h="26194">
                    <a:moveTo>
                      <a:pt x="0" y="0"/>
                    </a:moveTo>
                    <a:lnTo>
                      <a:pt x="0" y="26194"/>
                    </a:lnTo>
                  </a:path>
                </a:pathLst>
              </a:custGeom>
              <a:noFill/>
              <a:ln w="17463">
                <a:solidFill>
                  <a:srgbClr val="E0A89D"/>
                </a:solidFill>
              </a:ln>
            </p:spPr>
          </p:sp>
          <p:sp>
            <p:nvSpPr>
              <p:cNvPr id="23" name="Freeform 23"/>
              <p:cNvSpPr/>
              <p:nvPr/>
            </p:nvSpPr>
            <p:spPr>
              <a:xfrm>
                <a:off x="638175" y="3113088"/>
                <a:ext cx="9525" cy="26194"/>
              </a:xfrm>
              <a:custGeom>
                <a:avLst/>
                <a:gdLst/>
                <a:ahLst/>
                <a:cxnLst/>
                <a:rect l="l" t="t" r="r" b="b"/>
                <a:pathLst>
                  <a:path w="9525" h="26194">
                    <a:moveTo>
                      <a:pt x="0" y="0"/>
                    </a:moveTo>
                    <a:lnTo>
                      <a:pt x="0" y="26194"/>
                    </a:lnTo>
                  </a:path>
                </a:pathLst>
              </a:custGeom>
              <a:noFill/>
              <a:ln w="17463">
                <a:solidFill>
                  <a:srgbClr val="E0A89D"/>
                </a:solidFill>
              </a:ln>
            </p:spPr>
          </p:sp>
          <p:sp>
            <p:nvSpPr>
              <p:cNvPr id="24" name="Freeform 24"/>
              <p:cNvSpPr/>
              <p:nvPr/>
            </p:nvSpPr>
            <p:spPr>
              <a:xfrm>
                <a:off x="673100" y="3113088"/>
                <a:ext cx="9525" cy="26194"/>
              </a:xfrm>
              <a:custGeom>
                <a:avLst/>
                <a:gdLst/>
                <a:ahLst/>
                <a:cxnLst/>
                <a:rect l="l" t="t" r="r" b="b"/>
                <a:pathLst>
                  <a:path w="9525" h="26194">
                    <a:moveTo>
                      <a:pt x="0" y="0"/>
                    </a:moveTo>
                    <a:lnTo>
                      <a:pt x="0" y="26194"/>
                    </a:lnTo>
                  </a:path>
                </a:pathLst>
              </a:custGeom>
              <a:noFill/>
              <a:ln w="17463">
                <a:solidFill>
                  <a:srgbClr val="E0A89D"/>
                </a:solidFill>
              </a:ln>
            </p:spPr>
          </p:sp>
        </p:grpSp>
        <p:sp>
          <p:nvSpPr>
            <p:cNvPr id="26" name="TextBox 26"/>
            <p:cNvSpPr txBox="1"/>
            <p:nvPr/>
          </p:nvSpPr>
          <p:spPr>
            <a:xfrm>
              <a:off x="871156" y="3043476"/>
              <a:ext cx="826084" cy="198025"/>
            </a:xfrm>
            <a:prstGeom prst="rect">
              <a:avLst/>
            </a:prstGeom>
            <a:noFill/>
            <a:ln>
              <a:noFill/>
            </a:ln>
          </p:spPr>
          <p:txBody>
            <a:bodyPr wrap="none" lIns="0" tIns="0" rIns="0" bIns="0" anchor="t" anchorCtr="0">
              <a:spAutoFit/>
            </a:bodyPr>
            <a:lstStyle/>
            <a:p>
              <a:pPr algn="l"/>
              <a:r>
                <a:rPr lang="zh-CN" sz="1010" dirty="0">
                  <a:solidFill>
                    <a:srgbClr val="E8EFFA"/>
                  </a:solidFill>
                  <a:latin typeface="+mn-lt"/>
                  <a:ea typeface="+mn-ea"/>
                  <a:cs typeface="+mn-cs"/>
                </a:rPr>
                <a:t>服务实体经济</a:t>
              </a:r>
            </a:p>
          </p:txBody>
        </p:sp>
        <p:grpSp>
          <p:nvGrpSpPr>
            <p:cNvPr id="31" name="Group 31"/>
            <p:cNvGrpSpPr/>
            <p:nvPr/>
          </p:nvGrpSpPr>
          <p:grpSpPr>
            <a:xfrm>
              <a:off x="559594" y="3779044"/>
              <a:ext cx="157163" cy="157163"/>
              <a:chOff x="559594" y="3779044"/>
              <a:chExt cx="157163" cy="157163"/>
            </a:xfrm>
          </p:grpSpPr>
          <p:sp>
            <p:nvSpPr>
              <p:cNvPr id="27" name="Freeform 27"/>
              <p:cNvSpPr/>
              <p:nvPr/>
            </p:nvSpPr>
            <p:spPr>
              <a:xfrm>
                <a:off x="577056" y="37790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E0A89D"/>
                </a:solidFill>
              </a:ln>
            </p:spPr>
          </p:sp>
          <p:sp>
            <p:nvSpPr>
              <p:cNvPr id="28" name="Freeform 28"/>
              <p:cNvSpPr/>
              <p:nvPr/>
            </p:nvSpPr>
            <p:spPr>
              <a:xfrm>
                <a:off x="559594" y="38838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E0A89D"/>
                </a:solidFill>
              </a:ln>
            </p:spPr>
          </p:sp>
          <p:sp>
            <p:nvSpPr>
              <p:cNvPr id="29" name="Freeform 29"/>
              <p:cNvSpPr/>
              <p:nvPr/>
            </p:nvSpPr>
            <p:spPr>
              <a:xfrm>
                <a:off x="673100" y="37801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E0A89D"/>
                </a:solidFill>
              </a:ln>
            </p:spPr>
          </p:sp>
          <p:sp>
            <p:nvSpPr>
              <p:cNvPr id="30" name="Freeform 30"/>
              <p:cNvSpPr/>
              <p:nvPr/>
            </p:nvSpPr>
            <p:spPr>
              <a:xfrm>
                <a:off x="690563" y="38851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E0A89D"/>
                </a:solidFill>
              </a:ln>
            </p:spPr>
          </p:sp>
        </p:grpSp>
        <p:sp>
          <p:nvSpPr>
            <p:cNvPr id="32" name="TextBox 32"/>
            <p:cNvSpPr txBox="1"/>
            <p:nvPr/>
          </p:nvSpPr>
          <p:spPr>
            <a:xfrm>
              <a:off x="871156" y="3805476"/>
              <a:ext cx="826084" cy="198025"/>
            </a:xfrm>
            <a:prstGeom prst="rect">
              <a:avLst/>
            </a:prstGeom>
            <a:noFill/>
            <a:ln>
              <a:noFill/>
            </a:ln>
          </p:spPr>
          <p:txBody>
            <a:bodyPr wrap="none" lIns="0" tIns="0" rIns="0" bIns="0" anchor="t" anchorCtr="0">
              <a:spAutoFit/>
            </a:bodyPr>
            <a:lstStyle/>
            <a:p>
              <a:pPr algn="l"/>
              <a:r>
                <a:rPr lang="zh-CN" sz="1010" dirty="0">
                  <a:solidFill>
                    <a:srgbClr val="E8EFFA"/>
                  </a:solidFill>
                  <a:latin typeface="+mn-lt"/>
                  <a:ea typeface="+mn-ea"/>
                  <a:cs typeface="+mn-cs"/>
                </a:rPr>
                <a:t>深化客户经营</a:t>
              </a:r>
            </a:p>
          </p:txBody>
        </p:sp>
        <p:grpSp>
          <p:nvGrpSpPr>
            <p:cNvPr id="35" name="Group 35"/>
            <p:cNvGrpSpPr/>
            <p:nvPr/>
          </p:nvGrpSpPr>
          <p:grpSpPr>
            <a:xfrm>
              <a:off x="559594" y="4575969"/>
              <a:ext cx="157163" cy="87313"/>
              <a:chOff x="559594" y="4575969"/>
              <a:chExt cx="157163" cy="87313"/>
            </a:xfrm>
          </p:grpSpPr>
          <p:sp>
            <p:nvSpPr>
              <p:cNvPr id="33" name="Freeform 33"/>
              <p:cNvSpPr/>
              <p:nvPr/>
            </p:nvSpPr>
            <p:spPr>
              <a:xfrm>
                <a:off x="559594" y="457596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E0A89D"/>
                </a:solidFill>
              </a:ln>
            </p:spPr>
          </p:sp>
          <p:sp>
            <p:nvSpPr>
              <p:cNvPr id="34" name="Freeform 34"/>
              <p:cNvSpPr/>
              <p:nvPr/>
            </p:nvSpPr>
            <p:spPr>
              <a:xfrm>
                <a:off x="655638" y="4575969"/>
                <a:ext cx="61119" cy="61119"/>
              </a:xfrm>
              <a:custGeom>
                <a:avLst/>
                <a:gdLst/>
                <a:ahLst/>
                <a:cxnLst/>
                <a:rect l="l" t="t" r="r" b="b"/>
                <a:pathLst>
                  <a:path w="61119" h="61119">
                    <a:moveTo>
                      <a:pt x="0" y="0"/>
                    </a:moveTo>
                    <a:lnTo>
                      <a:pt x="61119" y="0"/>
                    </a:lnTo>
                    <a:lnTo>
                      <a:pt x="61119" y="61119"/>
                    </a:lnTo>
                  </a:path>
                </a:pathLst>
              </a:custGeom>
              <a:noFill/>
              <a:ln w="17463">
                <a:solidFill>
                  <a:srgbClr val="E0A89D"/>
                </a:solidFill>
              </a:ln>
            </p:spPr>
          </p:sp>
        </p:grpSp>
        <p:sp>
          <p:nvSpPr>
            <p:cNvPr id="36" name="TextBox 36"/>
            <p:cNvSpPr txBox="1"/>
            <p:nvPr/>
          </p:nvSpPr>
          <p:spPr>
            <a:xfrm>
              <a:off x="871156" y="4567476"/>
              <a:ext cx="826084" cy="198025"/>
            </a:xfrm>
            <a:prstGeom prst="rect">
              <a:avLst/>
            </a:prstGeom>
            <a:noFill/>
            <a:ln>
              <a:noFill/>
            </a:ln>
          </p:spPr>
          <p:txBody>
            <a:bodyPr wrap="none" lIns="0" tIns="0" rIns="0" bIns="0" anchor="t" anchorCtr="0">
              <a:spAutoFit/>
            </a:bodyPr>
            <a:lstStyle/>
            <a:p>
              <a:pPr algn="l"/>
              <a:r>
                <a:rPr lang="zh-CN" sz="1010" dirty="0">
                  <a:solidFill>
                    <a:srgbClr val="E8EFFA"/>
                  </a:solidFill>
                  <a:latin typeface="+mn-lt"/>
                  <a:ea typeface="+mn-ea"/>
                  <a:cs typeface="+mn-cs"/>
                </a:rPr>
                <a:t>提升综合贡献</a:t>
              </a:r>
            </a:p>
          </p:txBody>
        </p:sp>
        <p:grpSp>
          <p:nvGrpSpPr>
            <p:cNvPr id="39" name="Group 39"/>
            <p:cNvGrpSpPr/>
            <p:nvPr/>
          </p:nvGrpSpPr>
          <p:grpSpPr>
            <a:xfrm>
              <a:off x="547810" y="5303044"/>
              <a:ext cx="170506" cy="157162"/>
              <a:chOff x="547810" y="5303044"/>
              <a:chExt cx="170506" cy="157162"/>
            </a:xfrm>
          </p:grpSpPr>
          <p:sp>
            <p:nvSpPr>
              <p:cNvPr id="37" name="Freeform 37"/>
              <p:cNvSpPr/>
              <p:nvPr/>
            </p:nvSpPr>
            <p:spPr>
              <a:xfrm>
                <a:off x="547810" y="530304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E0A89D"/>
                </a:solidFill>
              </a:ln>
            </p:spPr>
          </p:sp>
          <p:sp>
            <p:nvSpPr>
              <p:cNvPr id="38" name="Freeform 38"/>
              <p:cNvSpPr/>
              <p:nvPr/>
            </p:nvSpPr>
            <p:spPr>
              <a:xfrm>
                <a:off x="664369" y="5425281"/>
                <a:ext cx="52388" cy="34925"/>
              </a:xfrm>
              <a:custGeom>
                <a:avLst/>
                <a:gdLst/>
                <a:ahLst/>
                <a:cxnLst/>
                <a:rect l="l" t="t" r="r" b="b"/>
                <a:pathLst>
                  <a:path w="52388" h="34925">
                    <a:moveTo>
                      <a:pt x="0" y="17463"/>
                    </a:moveTo>
                    <a:lnTo>
                      <a:pt x="17463" y="34925"/>
                    </a:lnTo>
                    <a:lnTo>
                      <a:pt x="52388" y="0"/>
                    </a:lnTo>
                  </a:path>
                </a:pathLst>
              </a:custGeom>
              <a:noFill/>
              <a:ln w="17463">
                <a:solidFill>
                  <a:srgbClr val="E0A89D"/>
                </a:solidFill>
              </a:ln>
            </p:spPr>
          </p:sp>
        </p:grpSp>
        <p:sp>
          <p:nvSpPr>
            <p:cNvPr id="40" name="TextBox 40"/>
            <p:cNvSpPr txBox="1"/>
            <p:nvPr/>
          </p:nvSpPr>
          <p:spPr>
            <a:xfrm>
              <a:off x="871156" y="5329476"/>
              <a:ext cx="826084" cy="198025"/>
            </a:xfrm>
            <a:prstGeom prst="rect">
              <a:avLst/>
            </a:prstGeom>
            <a:noFill/>
            <a:ln>
              <a:noFill/>
            </a:ln>
          </p:spPr>
          <p:txBody>
            <a:bodyPr wrap="none" lIns="0" tIns="0" rIns="0" bIns="0" anchor="t" anchorCtr="0">
              <a:spAutoFit/>
            </a:bodyPr>
            <a:lstStyle/>
            <a:p>
              <a:pPr algn="l"/>
              <a:r>
                <a:rPr lang="zh-CN" sz="1010" dirty="0">
                  <a:solidFill>
                    <a:srgbClr val="E8EFFA"/>
                  </a:solidFill>
                  <a:latin typeface="+mn-lt"/>
                  <a:ea typeface="+mn-ea"/>
                  <a:cs typeface="+mn-cs"/>
                </a:rPr>
                <a:t>严控合规风险</a:t>
              </a:r>
            </a:p>
          </p:txBody>
        </p:sp>
        <p:sp>
          <p:nvSpPr>
            <p:cNvPr id="41" name="TextBox 41"/>
            <p:cNvSpPr txBox="1"/>
            <p:nvPr/>
          </p:nvSpPr>
          <p:spPr>
            <a:xfrm>
              <a:off x="729853" y="6396038"/>
              <a:ext cx="1397794" cy="147638"/>
            </a:xfrm>
            <a:prstGeom prst="rect">
              <a:avLst/>
            </a:prstGeom>
            <a:noFill/>
            <a:ln>
              <a:noFill/>
            </a:ln>
          </p:spPr>
          <p:txBody>
            <a:bodyPr wrap="none" lIns="0" tIns="0" rIns="0" bIns="0" anchor="t" anchorCtr="0">
              <a:spAutoFit/>
            </a:bodyPr>
            <a:lstStyle/>
            <a:p>
              <a:pPr algn="ctr"/>
              <a:r>
                <a:rPr lang="zh-CN" sz="750" dirty="0">
                  <a:solidFill>
                    <a:srgbClr val="A86B5F"/>
                  </a:solidFill>
                  <a:latin typeface="+mn-lt"/>
                  <a:ea typeface="+mn-ea"/>
                  <a:cs typeface="+mn-cs"/>
                </a:rPr>
                <a:t>公司业务2026年工作述职报告​</a:t>
              </a:r>
            </a:p>
          </p:txBody>
        </p:sp>
      </p:grpSp>
      <p:grpSp>
        <p:nvGrpSpPr>
          <p:cNvPr id="74" name="cover-main"/>
          <p:cNvGrpSpPr/>
          <p:nvPr/>
        </p:nvGrpSpPr>
        <p:grpSpPr>
          <a:xfrm>
            <a:off x="2857500" y="0"/>
            <a:ext cx="9334500" cy="6858000"/>
            <a:chOff x="2857500" y="0"/>
            <a:chExt cx="9334500" cy="6858000"/>
          </a:xfrm>
        </p:grpSpPr>
        <p:sp>
          <p:nvSpPr>
            <p:cNvPr id="43" name="Rectangle 43"/>
            <p:cNvSpPr/>
            <p:nvPr/>
          </p:nvSpPr>
          <p:spPr>
            <a:xfrm>
              <a:off x="2857500" y="0"/>
              <a:ext cx="9334500" cy="6858000"/>
            </a:xfrm>
            <a:prstGeom prst="rect">
              <a:avLst/>
            </a:prstGeom>
            <a:gradFill>
              <a:gsLst>
                <a:gs pos="0">
                  <a:srgbClr val="F4F8FD"/>
                </a:gs>
                <a:gs pos="100000">
                  <a:srgbClr val="DCE8F7"/>
                </a:gs>
              </a:gsLst>
              <a:lin ang="5400000" scaled="1"/>
            </a:gradFill>
            <a:ln>
              <a:noFill/>
            </a:ln>
          </p:spPr>
        </p:sp>
        <p:grpSp>
          <p:nvGrpSpPr>
            <p:cNvPr id="57" name="cover-skyline"/>
            <p:cNvGrpSpPr/>
            <p:nvPr/>
          </p:nvGrpSpPr>
          <p:grpSpPr>
            <a:xfrm>
              <a:off x="8382000" y="866775"/>
              <a:ext cx="3810000" cy="5705475"/>
              <a:chOff x="8382000" y="866775"/>
              <a:chExt cx="3810000" cy="5705475"/>
            </a:xfrm>
          </p:grpSpPr>
          <p:sp>
            <p:nvSpPr>
              <p:cNvPr id="44" name="Rectangle 44"/>
              <p:cNvSpPr/>
              <p:nvPr/>
            </p:nvSpPr>
            <p:spPr>
              <a:xfrm>
                <a:off x="8382000" y="3429000"/>
                <a:ext cx="495300" cy="3143250"/>
              </a:xfrm>
              <a:prstGeom prst="rect">
                <a:avLst/>
              </a:prstGeom>
              <a:solidFill>
                <a:srgbClr val="CBDFF4"/>
              </a:solidFill>
              <a:ln>
                <a:noFill/>
              </a:ln>
            </p:spPr>
          </p:sp>
          <p:sp>
            <p:nvSpPr>
              <p:cNvPr id="45" name="Rectangle 45"/>
              <p:cNvSpPr/>
              <p:nvPr/>
            </p:nvSpPr>
            <p:spPr>
              <a:xfrm>
                <a:off x="8991600" y="2857500"/>
                <a:ext cx="609600" cy="3714750"/>
              </a:xfrm>
              <a:prstGeom prst="rect">
                <a:avLst/>
              </a:prstGeom>
              <a:solidFill>
                <a:srgbClr val="EEC4BC"/>
              </a:solidFill>
              <a:ln>
                <a:noFill/>
              </a:ln>
            </p:spPr>
          </p:sp>
          <p:sp>
            <p:nvSpPr>
              <p:cNvPr id="46" name="Rectangle 46"/>
              <p:cNvSpPr/>
              <p:nvPr/>
            </p:nvSpPr>
            <p:spPr>
              <a:xfrm>
                <a:off x="9715500" y="3619500"/>
                <a:ext cx="438150" cy="2952750"/>
              </a:xfrm>
              <a:prstGeom prst="rect">
                <a:avLst/>
              </a:prstGeom>
              <a:solidFill>
                <a:srgbClr val="CBDFF4"/>
              </a:solidFill>
              <a:ln>
                <a:noFill/>
              </a:ln>
            </p:spPr>
          </p:sp>
          <p:sp>
            <p:nvSpPr>
              <p:cNvPr id="47" name="Rectangle 47"/>
              <p:cNvSpPr/>
              <p:nvPr/>
            </p:nvSpPr>
            <p:spPr>
              <a:xfrm>
                <a:off x="10267950" y="2400300"/>
                <a:ext cx="685800" cy="4171950"/>
              </a:xfrm>
              <a:prstGeom prst="rect">
                <a:avLst/>
              </a:prstGeom>
              <a:solidFill>
                <a:srgbClr val="EAB4A9"/>
              </a:solidFill>
              <a:ln>
                <a:noFill/>
              </a:ln>
            </p:spPr>
          </p:sp>
          <p:sp>
            <p:nvSpPr>
              <p:cNvPr id="48" name="Rectangle 48"/>
              <p:cNvSpPr/>
              <p:nvPr/>
            </p:nvSpPr>
            <p:spPr>
              <a:xfrm>
                <a:off x="11068050" y="3143250"/>
                <a:ext cx="514350" cy="3429000"/>
              </a:xfrm>
              <a:prstGeom prst="rect">
                <a:avLst/>
              </a:prstGeom>
              <a:solidFill>
                <a:srgbClr val="CBDFF4"/>
              </a:solidFill>
              <a:ln>
                <a:noFill/>
              </a:ln>
            </p:spPr>
          </p:sp>
          <p:sp>
            <p:nvSpPr>
              <p:cNvPr id="49" name="Rectangle 49"/>
              <p:cNvSpPr/>
              <p:nvPr/>
            </p:nvSpPr>
            <p:spPr>
              <a:xfrm>
                <a:off x="11696700" y="3771900"/>
                <a:ext cx="495300" cy="2800350"/>
              </a:xfrm>
              <a:prstGeom prst="rect">
                <a:avLst/>
              </a:prstGeom>
              <a:solidFill>
                <a:srgbClr val="EEC4BC"/>
              </a:solidFill>
              <a:ln>
                <a:noFill/>
              </a:ln>
            </p:spPr>
          </p:sp>
          <p:sp>
            <p:nvSpPr>
              <p:cNvPr id="50" name="Rectangle 50"/>
              <p:cNvSpPr/>
              <p:nvPr/>
            </p:nvSpPr>
            <p:spPr>
              <a:xfrm>
                <a:off x="8610600" y="3619500"/>
                <a:ext cx="38100" cy="2952750"/>
              </a:xfrm>
              <a:prstGeom prst="rect">
                <a:avLst/>
              </a:prstGeom>
              <a:solidFill>
                <a:srgbClr val="E7F0FA"/>
              </a:solidFill>
              <a:ln>
                <a:noFill/>
              </a:ln>
            </p:spPr>
          </p:sp>
          <p:sp>
            <p:nvSpPr>
              <p:cNvPr id="51" name="Rectangle 51"/>
              <p:cNvSpPr/>
              <p:nvPr/>
            </p:nvSpPr>
            <p:spPr>
              <a:xfrm>
                <a:off x="9144000" y="3048000"/>
                <a:ext cx="47625" cy="3524250"/>
              </a:xfrm>
              <a:prstGeom prst="rect">
                <a:avLst/>
              </a:prstGeom>
              <a:solidFill>
                <a:srgbClr val="E7F0FA"/>
              </a:solidFill>
              <a:ln>
                <a:noFill/>
              </a:ln>
            </p:spPr>
          </p:sp>
          <p:sp>
            <p:nvSpPr>
              <p:cNvPr id="52" name="Rectangle 52"/>
              <p:cNvSpPr/>
              <p:nvPr/>
            </p:nvSpPr>
            <p:spPr>
              <a:xfrm>
                <a:off x="10439400" y="2590800"/>
                <a:ext cx="57150" cy="3981450"/>
              </a:xfrm>
              <a:prstGeom prst="rect">
                <a:avLst/>
              </a:prstGeom>
              <a:solidFill>
                <a:srgbClr val="DCE9F8"/>
              </a:solidFill>
              <a:ln>
                <a:noFill/>
              </a:ln>
            </p:spPr>
          </p:sp>
          <p:sp>
            <p:nvSpPr>
              <p:cNvPr id="53" name="Rectangle 53"/>
              <p:cNvSpPr/>
              <p:nvPr/>
            </p:nvSpPr>
            <p:spPr>
              <a:xfrm>
                <a:off x="11220450" y="3333750"/>
                <a:ext cx="38100" cy="3238500"/>
              </a:xfrm>
              <a:prstGeom prst="rect">
                <a:avLst/>
              </a:prstGeom>
              <a:solidFill>
                <a:srgbClr val="E7F0FA"/>
              </a:solidFill>
              <a:ln>
                <a:noFill/>
              </a:ln>
            </p:spPr>
          </p:sp>
          <p:sp>
            <p:nvSpPr>
              <p:cNvPr id="54" name="Freeform 54"/>
              <p:cNvSpPr/>
              <p:nvPr/>
            </p:nvSpPr>
            <p:spPr>
              <a:xfrm>
                <a:off x="8953500" y="914400"/>
                <a:ext cx="2857500" cy="895350"/>
              </a:xfrm>
              <a:custGeom>
                <a:avLst/>
                <a:gdLst/>
                <a:ahLst/>
                <a:cxnLst/>
                <a:rect l="l" t="t" r="r" b="b"/>
                <a:pathLst>
                  <a:path w="2857500" h="895350">
                    <a:moveTo>
                      <a:pt x="0" y="895350"/>
                    </a:moveTo>
                    <a:lnTo>
                      <a:pt x="2857500" y="0"/>
                    </a:lnTo>
                  </a:path>
                </a:pathLst>
              </a:custGeom>
              <a:noFill/>
              <a:ln w="28575">
                <a:solidFill>
                  <a:srgbClr val="E0A89D"/>
                </a:solidFill>
              </a:ln>
            </p:spPr>
          </p:sp>
          <p:sp>
            <p:nvSpPr>
              <p:cNvPr id="55" name="Freeform 55"/>
              <p:cNvSpPr/>
              <p:nvPr/>
            </p:nvSpPr>
            <p:spPr>
              <a:xfrm>
                <a:off x="11582400" y="876300"/>
                <a:ext cx="285750" cy="247650"/>
              </a:xfrm>
              <a:custGeom>
                <a:avLst/>
                <a:gdLst/>
                <a:ahLst/>
                <a:cxnLst/>
                <a:rect l="l" t="t" r="r" b="b"/>
                <a:pathLst>
                  <a:path w="285750" h="247650">
                    <a:moveTo>
                      <a:pt x="0" y="0"/>
                    </a:moveTo>
                    <a:lnTo>
                      <a:pt x="285750" y="28575"/>
                    </a:lnTo>
                    <a:lnTo>
                      <a:pt x="114300" y="247650"/>
                    </a:lnTo>
                  </a:path>
                </a:pathLst>
              </a:custGeom>
              <a:solidFill>
                <a:srgbClr val="E0A89D"/>
              </a:solidFill>
              <a:ln>
                <a:noFill/>
              </a:ln>
            </p:spPr>
          </p:sp>
          <p:sp>
            <p:nvSpPr>
              <p:cNvPr id="56" name="Ellipse 56"/>
              <p:cNvSpPr/>
              <p:nvPr/>
            </p:nvSpPr>
            <p:spPr>
              <a:xfrm>
                <a:off x="11763375" y="866775"/>
                <a:ext cx="95250" cy="95250"/>
              </a:xfrm>
              <a:prstGeom prst="ellipse">
                <a:avLst/>
              </a:prstGeom>
              <a:solidFill>
                <a:srgbClr val="E04C2E"/>
              </a:solidFill>
              <a:ln>
                <a:noFill/>
              </a:ln>
            </p:spPr>
          </p:sp>
        </p:grpSp>
        <p:grpSp>
          <p:nvGrpSpPr>
            <p:cNvPr id="62" name="cover-title"/>
            <p:cNvGrpSpPr/>
            <p:nvPr/>
          </p:nvGrpSpPr>
          <p:grpSpPr>
            <a:xfrm>
              <a:off x="3337179" y="1687354"/>
              <a:ext cx="6511671" cy="1189196"/>
              <a:chOff x="3337179" y="1687354"/>
              <a:chExt cx="6511671" cy="1189196"/>
            </a:xfrm>
          </p:grpSpPr>
          <p:sp>
            <p:nvSpPr>
              <p:cNvPr id="58" name="TextBox 58"/>
              <p:cNvSpPr txBox="1"/>
              <p:nvPr/>
            </p:nvSpPr>
            <p:spPr>
              <a:xfrm>
                <a:off x="3337179" y="1687354"/>
                <a:ext cx="5789411" cy="601408"/>
              </a:xfrm>
              <a:prstGeom prst="rect">
                <a:avLst/>
              </a:prstGeom>
              <a:noFill/>
              <a:ln>
                <a:noFill/>
              </a:ln>
            </p:spPr>
            <p:txBody>
              <a:bodyPr wrap="none" lIns="0" tIns="0" rIns="0" bIns="0" anchor="t" anchorCtr="0">
                <a:spAutoFit/>
              </a:bodyPr>
              <a:lstStyle/>
              <a:p>
                <a:pPr algn="l"/>
                <a:r>
                  <a:rPr lang="zh-CN" sz="3080" b="1" dirty="0">
                    <a:solidFill>
                      <a:srgbClr val="69281B"/>
                    </a:solidFill>
                    <a:latin typeface="+mn-lt"/>
                    <a:ea typeface="+mn-ea"/>
                    <a:cs typeface="+mn-cs"/>
                  </a:rPr>
                  <a:t>银行对公业务2026年度上半年​</a:t>
                </a:r>
              </a:p>
            </p:txBody>
          </p:sp>
          <p:sp>
            <p:nvSpPr>
              <p:cNvPr id="59" name="TextBox 59"/>
              <p:cNvSpPr txBox="1"/>
              <p:nvPr/>
            </p:nvSpPr>
            <p:spPr>
              <a:xfrm>
                <a:off x="3337179" y="2239804"/>
                <a:ext cx="5006797" cy="601408"/>
              </a:xfrm>
              <a:prstGeom prst="rect">
                <a:avLst/>
              </a:prstGeom>
              <a:noFill/>
              <a:ln>
                <a:noFill/>
              </a:ln>
            </p:spPr>
            <p:txBody>
              <a:bodyPr wrap="none" lIns="0" tIns="0" rIns="0" bIns="0" anchor="t" anchorCtr="0">
                <a:spAutoFit/>
              </a:bodyPr>
              <a:lstStyle/>
              <a:p>
                <a:pPr algn="l"/>
                <a:r>
                  <a:rPr lang="zh-CN" sz="3080" b="1" dirty="0">
                    <a:solidFill>
                      <a:srgbClr val="69281B"/>
                    </a:solidFill>
                    <a:latin typeface="+mn-lt"/>
                    <a:ea typeface="+mn-ea"/>
                    <a:cs typeface="+mn-cs"/>
                  </a:rPr>
                  <a:t>工作总结及下一步工作计划</a:t>
                </a:r>
              </a:p>
            </p:txBody>
          </p:sp>
          <p:sp>
            <p:nvSpPr>
              <p:cNvPr id="60" name="Rectangle 60"/>
              <p:cNvSpPr/>
              <p:nvPr/>
            </p:nvSpPr>
            <p:spPr>
              <a:xfrm>
                <a:off x="3371850" y="2819400"/>
                <a:ext cx="647700" cy="57150"/>
              </a:xfrm>
              <a:prstGeom prst="rect">
                <a:avLst/>
              </a:prstGeom>
              <a:solidFill>
                <a:srgbClr val="69281B"/>
              </a:solidFill>
              <a:ln>
                <a:noFill/>
              </a:ln>
            </p:spPr>
          </p:sp>
          <p:sp>
            <p:nvSpPr>
              <p:cNvPr id="61" name="Rectangle 61"/>
              <p:cNvSpPr/>
              <p:nvPr/>
            </p:nvSpPr>
            <p:spPr>
              <a:xfrm>
                <a:off x="4133850" y="2847975"/>
                <a:ext cx="5715000" cy="19050"/>
              </a:xfrm>
              <a:prstGeom prst="rect">
                <a:avLst/>
              </a:prstGeom>
              <a:solidFill>
                <a:srgbClr val="C9D6E9"/>
              </a:solidFill>
              <a:ln>
                <a:noFill/>
              </a:ln>
            </p:spPr>
          </p:sp>
        </p:grpSp>
        <p:sp>
          <p:nvSpPr>
            <p:cNvPr id="63" name="TextBox 63"/>
            <p:cNvSpPr txBox="1"/>
            <p:nvPr/>
          </p:nvSpPr>
          <p:spPr>
            <a:xfrm>
              <a:off x="3344418" y="3212782"/>
              <a:ext cx="3101497" cy="322707"/>
            </a:xfrm>
            <a:prstGeom prst="rect">
              <a:avLst/>
            </a:prstGeom>
            <a:noFill/>
            <a:ln>
              <a:noFill/>
            </a:ln>
          </p:spPr>
          <p:txBody>
            <a:bodyPr wrap="none" lIns="0" tIns="0" rIns="0" bIns="0" anchor="t" anchorCtr="0">
              <a:spAutoFit/>
            </a:bodyPr>
            <a:lstStyle/>
            <a:p>
              <a:pPr algn="l"/>
              <a:r>
                <a:rPr lang="zh-CN" sz="1650" b="1" dirty="0">
                  <a:solidFill>
                    <a:srgbClr val="5F3A33"/>
                  </a:solidFill>
                  <a:latin typeface="+mn-lt"/>
                  <a:ea typeface="+mn-ea"/>
                  <a:cs typeface="+mn-cs"/>
                </a:rPr>
                <a:t>公司业务2026年工作述职报告​</a:t>
              </a:r>
            </a:p>
          </p:txBody>
        </p:sp>
        <p:sp>
          <p:nvSpPr>
            <p:cNvPr id="64" name="TextBox 64"/>
            <p:cNvSpPr txBox="1"/>
            <p:nvPr/>
          </p:nvSpPr>
          <p:spPr>
            <a:xfrm>
              <a:off x="3346323" y="3824764"/>
              <a:ext cx="3022842" cy="249364"/>
            </a:xfrm>
            <a:prstGeom prst="rect">
              <a:avLst/>
            </a:prstGeom>
            <a:noFill/>
            <a:ln>
              <a:noFill/>
            </a:ln>
          </p:spPr>
          <p:txBody>
            <a:bodyPr wrap="none" lIns="0" tIns="0" rIns="0" bIns="0" anchor="t" anchorCtr="0">
              <a:spAutoFit/>
            </a:bodyPr>
            <a:lstStyle/>
            <a:p>
              <a:pPr algn="l"/>
              <a:r>
                <a:rPr lang="zh-CN" sz="1280" b="1" dirty="0">
                  <a:solidFill>
                    <a:srgbClr val="69281B"/>
                  </a:solidFill>
                  <a:latin typeface="+mn-lt"/>
                  <a:ea typeface="+mn-ea"/>
                  <a:cs typeface="+mn-cs"/>
                </a:rPr>
                <a:t>强根基</a:t>
              </a:r>
              <a:r>
                <a:rPr lang="zh-CN" sz="1280" b="1" dirty="0">
                  <a:solidFill>
                    <a:srgbClr val="BC928A"/>
                  </a:solidFill>
                  <a:latin typeface="+mn-lt"/>
                  <a:ea typeface="+mn-ea"/>
                  <a:cs typeface="+mn-cs"/>
                </a:rPr>
                <a:t xml:space="preserve"> ｜ </a:t>
              </a:r>
              <a:r>
                <a:rPr lang="zh-CN" sz="1280" b="1" dirty="0">
                  <a:solidFill>
                    <a:srgbClr val="69281B"/>
                  </a:solidFill>
                  <a:latin typeface="+mn-lt"/>
                  <a:ea typeface="+mn-ea"/>
                  <a:cs typeface="+mn-cs"/>
                </a:rPr>
                <a:t>破瓶颈</a:t>
              </a:r>
              <a:r>
                <a:rPr lang="zh-CN" sz="1280" b="1" dirty="0">
                  <a:solidFill>
                    <a:srgbClr val="BC928A"/>
                  </a:solidFill>
                  <a:latin typeface="+mn-lt"/>
                  <a:ea typeface="+mn-ea"/>
                  <a:cs typeface="+mn-cs"/>
                </a:rPr>
                <a:t xml:space="preserve"> ｜ </a:t>
              </a:r>
              <a:r>
                <a:rPr lang="zh-CN" sz="1280" b="1" dirty="0">
                  <a:solidFill>
                    <a:srgbClr val="D0442C"/>
                  </a:solidFill>
                  <a:latin typeface="+mn-lt"/>
                  <a:ea typeface="+mn-ea"/>
                  <a:cs typeface="+mn-cs"/>
                </a:rPr>
                <a:t>防风险</a:t>
              </a:r>
              <a:r>
                <a:rPr lang="zh-CN" sz="1280" b="1" dirty="0">
                  <a:solidFill>
                    <a:srgbClr val="BC928A"/>
                  </a:solidFill>
                  <a:latin typeface="+mn-lt"/>
                  <a:ea typeface="+mn-ea"/>
                  <a:cs typeface="+mn-cs"/>
                </a:rPr>
                <a:t xml:space="preserve"> ｜ </a:t>
              </a:r>
              <a:r>
                <a:rPr lang="zh-CN" sz="1280" b="1" dirty="0">
                  <a:solidFill>
                    <a:srgbClr val="69281B"/>
                  </a:solidFill>
                  <a:latin typeface="+mn-lt"/>
                  <a:ea typeface="+mn-ea"/>
                  <a:cs typeface="+mn-cs"/>
                </a:rPr>
                <a:t>促发展​</a:t>
              </a:r>
            </a:p>
          </p:txBody>
        </p:sp>
        <p:grpSp>
          <p:nvGrpSpPr>
            <p:cNvPr id="73" name="cover-date"/>
            <p:cNvGrpSpPr/>
            <p:nvPr/>
          </p:nvGrpSpPr>
          <p:grpSpPr>
            <a:xfrm>
              <a:off x="3384550" y="4310062"/>
              <a:ext cx="1008494" cy="220599"/>
              <a:chOff x="3384550" y="4310062"/>
              <a:chExt cx="1008494" cy="220599"/>
            </a:xfrm>
          </p:grpSpPr>
          <p:grpSp>
            <p:nvGrpSpPr>
              <p:cNvPr id="71" name="Group 71"/>
              <p:cNvGrpSpPr/>
              <p:nvPr/>
            </p:nvGrpSpPr>
            <p:grpSpPr>
              <a:xfrm>
                <a:off x="3384550" y="4310062"/>
                <a:ext cx="127000" cy="142875"/>
                <a:chOff x="3384550" y="4310062"/>
                <a:chExt cx="127000" cy="142875"/>
              </a:xfrm>
            </p:grpSpPr>
            <p:sp>
              <p:nvSpPr>
                <p:cNvPr id="65" name="Freeform 65"/>
                <p:cNvSpPr/>
                <p:nvPr/>
              </p:nvSpPr>
              <p:spPr>
                <a:xfrm>
                  <a:off x="3384550" y="432593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E04C2E"/>
                  </a:solidFill>
                </a:ln>
              </p:spPr>
            </p:sp>
            <p:sp>
              <p:nvSpPr>
                <p:cNvPr id="66" name="Freeform 66"/>
                <p:cNvSpPr/>
                <p:nvPr/>
              </p:nvSpPr>
              <p:spPr>
                <a:xfrm>
                  <a:off x="3479800" y="4310062"/>
                  <a:ext cx="9525" cy="31750"/>
                </a:xfrm>
                <a:custGeom>
                  <a:avLst/>
                  <a:gdLst/>
                  <a:ahLst/>
                  <a:cxnLst/>
                  <a:rect l="l" t="t" r="r" b="b"/>
                  <a:pathLst>
                    <a:path w="9525" h="31750">
                      <a:moveTo>
                        <a:pt x="0" y="0"/>
                      </a:moveTo>
                      <a:lnTo>
                        <a:pt x="0" y="31750"/>
                      </a:lnTo>
                    </a:path>
                  </a:pathLst>
                </a:custGeom>
                <a:noFill/>
                <a:ln w="15875">
                  <a:solidFill>
                    <a:srgbClr val="E04C2E"/>
                  </a:solidFill>
                </a:ln>
              </p:spPr>
            </p:sp>
            <p:sp>
              <p:nvSpPr>
                <p:cNvPr id="67" name="Freeform 67"/>
                <p:cNvSpPr/>
                <p:nvPr/>
              </p:nvSpPr>
              <p:spPr>
                <a:xfrm>
                  <a:off x="3416300" y="4310062"/>
                  <a:ext cx="9525" cy="31750"/>
                </a:xfrm>
                <a:custGeom>
                  <a:avLst/>
                  <a:gdLst/>
                  <a:ahLst/>
                  <a:cxnLst/>
                  <a:rect l="l" t="t" r="r" b="b"/>
                  <a:pathLst>
                    <a:path w="9525" h="31750">
                      <a:moveTo>
                        <a:pt x="0" y="0"/>
                      </a:moveTo>
                      <a:lnTo>
                        <a:pt x="0" y="31750"/>
                      </a:lnTo>
                    </a:path>
                  </a:pathLst>
                </a:custGeom>
                <a:noFill/>
                <a:ln w="15875">
                  <a:solidFill>
                    <a:srgbClr val="E04C2E"/>
                  </a:solidFill>
                </a:ln>
              </p:spPr>
            </p:sp>
            <p:sp>
              <p:nvSpPr>
                <p:cNvPr id="68" name="Freeform 68"/>
                <p:cNvSpPr/>
                <p:nvPr/>
              </p:nvSpPr>
              <p:spPr>
                <a:xfrm>
                  <a:off x="3384550" y="4373562"/>
                  <a:ext cx="127000" cy="9525"/>
                </a:xfrm>
                <a:custGeom>
                  <a:avLst/>
                  <a:gdLst/>
                  <a:ahLst/>
                  <a:cxnLst/>
                  <a:rect l="l" t="t" r="r" b="b"/>
                  <a:pathLst>
                    <a:path w="127000" h="9525">
                      <a:moveTo>
                        <a:pt x="0" y="0"/>
                      </a:moveTo>
                      <a:lnTo>
                        <a:pt x="127000" y="0"/>
                      </a:lnTo>
                    </a:path>
                  </a:pathLst>
                </a:custGeom>
                <a:noFill/>
                <a:ln w="15875">
                  <a:solidFill>
                    <a:srgbClr val="E04C2E"/>
                  </a:solidFill>
                </a:ln>
              </p:spPr>
            </p:sp>
            <p:sp>
              <p:nvSpPr>
                <p:cNvPr id="69" name="Freeform 69"/>
                <p:cNvSpPr/>
                <p:nvPr/>
              </p:nvSpPr>
              <p:spPr>
                <a:xfrm>
                  <a:off x="3440112" y="4405312"/>
                  <a:ext cx="9525" cy="9525"/>
                </a:xfrm>
                <a:custGeom>
                  <a:avLst/>
                  <a:gdLst/>
                  <a:ahLst/>
                  <a:cxnLst/>
                  <a:rect l="l" t="t" r="r" b="b"/>
                  <a:pathLst>
                    <a:path w="9525" h="9525">
                      <a:moveTo>
                        <a:pt x="0" y="0"/>
                      </a:moveTo>
                      <a:lnTo>
                        <a:pt x="7937" y="0"/>
                      </a:lnTo>
                    </a:path>
                  </a:pathLst>
                </a:custGeom>
                <a:noFill/>
                <a:ln w="15875">
                  <a:solidFill>
                    <a:srgbClr val="E04C2E"/>
                  </a:solidFill>
                </a:ln>
              </p:spPr>
            </p:sp>
            <p:sp>
              <p:nvSpPr>
                <p:cNvPr id="70" name="Freeform 70"/>
                <p:cNvSpPr/>
                <p:nvPr/>
              </p:nvSpPr>
              <p:spPr>
                <a:xfrm>
                  <a:off x="3448050" y="4405312"/>
                  <a:ext cx="9525" cy="23812"/>
                </a:xfrm>
                <a:custGeom>
                  <a:avLst/>
                  <a:gdLst/>
                  <a:ahLst/>
                  <a:cxnLst/>
                  <a:rect l="l" t="t" r="r" b="b"/>
                  <a:pathLst>
                    <a:path w="9525" h="23812">
                      <a:moveTo>
                        <a:pt x="0" y="0"/>
                      </a:moveTo>
                      <a:lnTo>
                        <a:pt x="0" y="23812"/>
                      </a:lnTo>
                    </a:path>
                  </a:pathLst>
                </a:custGeom>
                <a:noFill/>
                <a:ln w="15875">
                  <a:solidFill>
                    <a:srgbClr val="E04C2E"/>
                  </a:solidFill>
                </a:ln>
              </p:spPr>
            </p:sp>
          </p:grpSp>
          <p:sp>
            <p:nvSpPr>
              <p:cNvPr id="72" name="TextBox 72"/>
              <p:cNvSpPr txBox="1"/>
              <p:nvPr/>
            </p:nvSpPr>
            <p:spPr>
              <a:xfrm>
                <a:off x="3633216" y="4325302"/>
                <a:ext cx="759828" cy="205359"/>
              </a:xfrm>
              <a:prstGeom prst="rect">
                <a:avLst/>
              </a:prstGeom>
              <a:noFill/>
              <a:ln>
                <a:noFill/>
              </a:ln>
            </p:spPr>
            <p:txBody>
              <a:bodyPr wrap="none" lIns="0" tIns="0" rIns="0" bIns="0" anchor="t" anchorCtr="0">
                <a:spAutoFit/>
              </a:bodyPr>
              <a:lstStyle/>
              <a:p>
                <a:pPr algn="l"/>
                <a:r>
                  <a:rPr lang="zh-CN" sz="1050" dirty="0">
                    <a:solidFill>
                      <a:srgbClr val="70504A"/>
                    </a:solidFill>
                    <a:latin typeface="+mn-lt"/>
                    <a:ea typeface="+mn-ea"/>
                    <a:cs typeface="+mn-cs"/>
                  </a:rPr>
                  <a:t>2026年7月​</a:t>
                </a:r>
              </a:p>
            </p:txBody>
          </p:sp>
        </p:grpSp>
      </p:gr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1019175" y="169069"/>
              <a:ext cx="6599276"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上半年对公业务总体稳中有进，规模、客户与效益同步改善</a:t>
              </a:r>
            </a:p>
          </p:txBody>
        </p:sp>
        <p:sp>
          <p:nvSpPr>
            <p:cNvPr id="5" name="TextBox 5"/>
            <p:cNvSpPr txBox="1"/>
            <p:nvPr/>
          </p:nvSpPr>
          <p:spPr>
            <a:xfrm>
              <a:off x="9473089" y="147638"/>
              <a:ext cx="260937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银行对公业务2026年度上半年工作总结及下一步工作计划​</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27" name="kpi-deposit"/>
          <p:cNvGrpSpPr/>
          <p:nvPr/>
        </p:nvGrpSpPr>
        <p:grpSpPr>
          <a:xfrm>
            <a:off x="228600" y="685800"/>
            <a:ext cx="2819400" cy="1091803"/>
            <a:chOff x="228600" y="685800"/>
            <a:chExt cx="2819400" cy="1091803"/>
          </a:xfrm>
        </p:grpSpPr>
        <p:sp>
          <p:nvSpPr>
            <p:cNvPr id="9" name="Rectangle 9"/>
            <p:cNvSpPr/>
            <p:nvPr/>
          </p:nvSpPr>
          <p:spPr>
            <a:xfrm>
              <a:off x="228600" y="685800"/>
              <a:ext cx="2819400" cy="1066800"/>
            </a:xfrm>
            <a:prstGeom prst="roundRect">
              <a:avLst>
                <a:gd name="adj" fmla="val 5357"/>
              </a:avLst>
            </a:prstGeom>
            <a:solidFill>
              <a:srgbClr val="FFFFFF"/>
            </a:solidFill>
            <a:ln w="9525">
              <a:solidFill>
                <a:srgbClr val="C9D6E9"/>
              </a:solidFill>
            </a:ln>
          </p:spPr>
        </p:sp>
        <p:sp>
          <p:nvSpPr>
            <p:cNvPr id="10" name="Ellipse 10"/>
            <p:cNvSpPr/>
            <p:nvPr/>
          </p:nvSpPr>
          <p:spPr>
            <a:xfrm>
              <a:off x="381000" y="838200"/>
              <a:ext cx="457200" cy="457200"/>
            </a:xfrm>
            <a:prstGeom prst="ellipse">
              <a:avLst/>
            </a:prstGeom>
            <a:solidFill>
              <a:srgbClr val="EAF1FB"/>
            </a:solidFill>
            <a:ln>
              <a:noFill/>
            </a:ln>
          </p:spPr>
        </p:sp>
        <p:grpSp>
          <p:nvGrpSpPr>
            <p:cNvPr id="19" name="Group 19"/>
            <p:cNvGrpSpPr/>
            <p:nvPr/>
          </p:nvGrpSpPr>
          <p:grpSpPr>
            <a:xfrm>
              <a:off x="516731" y="973931"/>
              <a:ext cx="185737" cy="195262"/>
              <a:chOff x="516731" y="973931"/>
              <a:chExt cx="185737" cy="195262"/>
            </a:xfrm>
          </p:grpSpPr>
          <p:sp>
            <p:nvSpPr>
              <p:cNvPr id="11" name="Freeform 11"/>
              <p:cNvSpPr/>
              <p:nvPr/>
            </p:nvSpPr>
            <p:spPr>
              <a:xfrm>
                <a:off x="516731" y="1159668"/>
                <a:ext cx="185737" cy="9525"/>
              </a:xfrm>
              <a:custGeom>
                <a:avLst/>
                <a:gdLst/>
                <a:ahLst/>
                <a:cxnLst/>
                <a:rect l="l" t="t" r="r" b="b"/>
                <a:pathLst>
                  <a:path w="185737" h="9525">
                    <a:moveTo>
                      <a:pt x="0" y="0"/>
                    </a:moveTo>
                    <a:lnTo>
                      <a:pt x="185737" y="0"/>
                    </a:lnTo>
                  </a:path>
                </a:pathLst>
              </a:custGeom>
              <a:noFill/>
              <a:ln w="20637">
                <a:solidFill>
                  <a:srgbClr val="69281B"/>
                </a:solidFill>
              </a:ln>
            </p:spPr>
          </p:sp>
          <p:sp>
            <p:nvSpPr>
              <p:cNvPr id="12" name="Freeform 12"/>
              <p:cNvSpPr/>
              <p:nvPr/>
            </p:nvSpPr>
            <p:spPr>
              <a:xfrm>
                <a:off x="516731" y="1046162"/>
                <a:ext cx="185737" cy="9525"/>
              </a:xfrm>
              <a:custGeom>
                <a:avLst/>
                <a:gdLst/>
                <a:ahLst/>
                <a:cxnLst/>
                <a:rect l="l" t="t" r="r" b="b"/>
                <a:pathLst>
                  <a:path w="185737" h="9525">
                    <a:moveTo>
                      <a:pt x="0" y="0"/>
                    </a:moveTo>
                    <a:lnTo>
                      <a:pt x="185737" y="0"/>
                    </a:lnTo>
                  </a:path>
                </a:pathLst>
              </a:custGeom>
              <a:noFill/>
              <a:ln w="20637">
                <a:solidFill>
                  <a:srgbClr val="69281B"/>
                </a:solidFill>
              </a:ln>
            </p:spPr>
          </p:sp>
          <p:sp>
            <p:nvSpPr>
              <p:cNvPr id="13" name="Freeform 13"/>
              <p:cNvSpPr/>
              <p:nvPr/>
            </p:nvSpPr>
            <p:spPr>
              <a:xfrm>
                <a:off x="537369" y="973931"/>
                <a:ext cx="144462" cy="30956"/>
              </a:xfrm>
              <a:custGeom>
                <a:avLst/>
                <a:gdLst/>
                <a:ahLst/>
                <a:cxnLst/>
                <a:rect l="l" t="t" r="r" b="b"/>
                <a:pathLst>
                  <a:path w="144462" h="30956">
                    <a:moveTo>
                      <a:pt x="0" y="30956"/>
                    </a:moveTo>
                    <a:lnTo>
                      <a:pt x="72231" y="0"/>
                    </a:lnTo>
                    <a:lnTo>
                      <a:pt x="144462" y="30956"/>
                    </a:lnTo>
                  </a:path>
                </a:pathLst>
              </a:custGeom>
              <a:noFill/>
              <a:ln w="20637">
                <a:solidFill>
                  <a:srgbClr val="69281B"/>
                </a:solidFill>
              </a:ln>
            </p:spPr>
          </p:sp>
          <p:sp>
            <p:nvSpPr>
              <p:cNvPr id="14" name="Freeform 14"/>
              <p:cNvSpPr/>
              <p:nvPr/>
            </p:nvSpPr>
            <p:spPr>
              <a:xfrm>
                <a:off x="527050" y="1046162"/>
                <a:ext cx="9525" cy="113506"/>
              </a:xfrm>
              <a:custGeom>
                <a:avLst/>
                <a:gdLst/>
                <a:ahLst/>
                <a:cxnLst/>
                <a:rect l="l" t="t" r="r" b="b"/>
                <a:pathLst>
                  <a:path w="9525" h="113506">
                    <a:moveTo>
                      <a:pt x="0" y="0"/>
                    </a:moveTo>
                    <a:lnTo>
                      <a:pt x="0" y="113506"/>
                    </a:lnTo>
                  </a:path>
                </a:pathLst>
              </a:custGeom>
              <a:noFill/>
              <a:ln w="20637">
                <a:solidFill>
                  <a:srgbClr val="69281B"/>
                </a:solidFill>
              </a:ln>
            </p:spPr>
          </p:sp>
          <p:sp>
            <p:nvSpPr>
              <p:cNvPr id="15" name="Freeform 15"/>
              <p:cNvSpPr/>
              <p:nvPr/>
            </p:nvSpPr>
            <p:spPr>
              <a:xfrm>
                <a:off x="692149" y="1046162"/>
                <a:ext cx="9525" cy="113506"/>
              </a:xfrm>
              <a:custGeom>
                <a:avLst/>
                <a:gdLst/>
                <a:ahLst/>
                <a:cxnLst/>
                <a:rect l="l" t="t" r="r" b="b"/>
                <a:pathLst>
                  <a:path w="9525" h="113506">
                    <a:moveTo>
                      <a:pt x="0" y="0"/>
                    </a:moveTo>
                    <a:lnTo>
                      <a:pt x="0" y="113506"/>
                    </a:lnTo>
                  </a:path>
                </a:pathLst>
              </a:custGeom>
              <a:noFill/>
              <a:ln w="20637">
                <a:solidFill>
                  <a:srgbClr val="69281B"/>
                </a:solidFill>
              </a:ln>
            </p:spPr>
          </p:sp>
          <p:sp>
            <p:nvSpPr>
              <p:cNvPr id="16" name="Freeform 16"/>
              <p:cNvSpPr/>
              <p:nvPr/>
            </p:nvSpPr>
            <p:spPr>
              <a:xfrm>
                <a:off x="568325" y="1087437"/>
                <a:ext cx="9525" cy="30956"/>
              </a:xfrm>
              <a:custGeom>
                <a:avLst/>
                <a:gdLst/>
                <a:ahLst/>
                <a:cxnLst/>
                <a:rect l="l" t="t" r="r" b="b"/>
                <a:pathLst>
                  <a:path w="9525" h="30956">
                    <a:moveTo>
                      <a:pt x="0" y="0"/>
                    </a:moveTo>
                    <a:lnTo>
                      <a:pt x="0" y="30956"/>
                    </a:lnTo>
                  </a:path>
                </a:pathLst>
              </a:custGeom>
              <a:noFill/>
              <a:ln w="20637">
                <a:solidFill>
                  <a:srgbClr val="69281B"/>
                </a:solidFill>
              </a:ln>
            </p:spPr>
          </p:sp>
          <p:sp>
            <p:nvSpPr>
              <p:cNvPr id="17" name="Freeform 17"/>
              <p:cNvSpPr/>
              <p:nvPr/>
            </p:nvSpPr>
            <p:spPr>
              <a:xfrm>
                <a:off x="609600" y="1087437"/>
                <a:ext cx="9525" cy="30956"/>
              </a:xfrm>
              <a:custGeom>
                <a:avLst/>
                <a:gdLst/>
                <a:ahLst/>
                <a:cxnLst/>
                <a:rect l="l" t="t" r="r" b="b"/>
                <a:pathLst>
                  <a:path w="9525" h="30956">
                    <a:moveTo>
                      <a:pt x="0" y="0"/>
                    </a:moveTo>
                    <a:lnTo>
                      <a:pt x="0" y="30956"/>
                    </a:lnTo>
                  </a:path>
                </a:pathLst>
              </a:custGeom>
              <a:noFill/>
              <a:ln w="20637">
                <a:solidFill>
                  <a:srgbClr val="69281B"/>
                </a:solidFill>
              </a:ln>
            </p:spPr>
          </p:sp>
          <p:sp>
            <p:nvSpPr>
              <p:cNvPr id="18" name="Freeform 18"/>
              <p:cNvSpPr/>
              <p:nvPr/>
            </p:nvSpPr>
            <p:spPr>
              <a:xfrm>
                <a:off x="650874" y="1087437"/>
                <a:ext cx="9525" cy="30956"/>
              </a:xfrm>
              <a:custGeom>
                <a:avLst/>
                <a:gdLst/>
                <a:ahLst/>
                <a:cxnLst/>
                <a:rect l="l" t="t" r="r" b="b"/>
                <a:pathLst>
                  <a:path w="9525" h="30956">
                    <a:moveTo>
                      <a:pt x="0" y="0"/>
                    </a:moveTo>
                    <a:lnTo>
                      <a:pt x="0" y="30956"/>
                    </a:lnTo>
                  </a:path>
                </a:pathLst>
              </a:custGeom>
              <a:noFill/>
              <a:ln w="20637">
                <a:solidFill>
                  <a:srgbClr val="69281B"/>
                </a:solidFill>
              </a:ln>
            </p:spPr>
          </p:sp>
        </p:grpSp>
        <p:sp>
          <p:nvSpPr>
            <p:cNvPr id="20" name="TextBox 20"/>
            <p:cNvSpPr txBox="1"/>
            <p:nvPr/>
          </p:nvSpPr>
          <p:spPr>
            <a:xfrm>
              <a:off x="947738" y="836295"/>
              <a:ext cx="978789" cy="176212"/>
            </a:xfrm>
            <a:prstGeom prst="rect">
              <a:avLst/>
            </a:prstGeom>
            <a:noFill/>
            <a:ln>
              <a:noFill/>
            </a:ln>
          </p:spPr>
          <p:txBody>
            <a:bodyPr wrap="none" lIns="0" tIns="0" rIns="0" bIns="0" anchor="t" anchorCtr="0">
              <a:spAutoFit/>
            </a:bodyPr>
            <a:lstStyle/>
            <a:p>
              <a:pPr algn="l"/>
              <a:r>
                <a:rPr lang="zh-CN" sz="900" dirty="0">
                  <a:solidFill>
                    <a:srgbClr val="987F7A"/>
                  </a:solidFill>
                  <a:latin typeface="+mn-lt"/>
                  <a:ea typeface="+mn-ea"/>
                  <a:cs typeface="+mn-cs"/>
                </a:rPr>
                <a:t>对公存款时点余额</a:t>
              </a:r>
            </a:p>
          </p:txBody>
        </p:sp>
        <p:sp>
          <p:nvSpPr>
            <p:cNvPr id="21" name="TextBox 21"/>
            <p:cNvSpPr txBox="1"/>
            <p:nvPr/>
          </p:nvSpPr>
          <p:spPr>
            <a:xfrm>
              <a:off x="941832" y="1030605"/>
              <a:ext cx="1304332" cy="410718"/>
            </a:xfrm>
            <a:prstGeom prst="rect">
              <a:avLst/>
            </a:prstGeom>
            <a:noFill/>
            <a:ln>
              <a:noFill/>
            </a:ln>
          </p:spPr>
          <p:txBody>
            <a:bodyPr wrap="none" lIns="0" tIns="0" rIns="0" bIns="0" anchor="t" anchorCtr="0">
              <a:spAutoFit/>
            </a:bodyPr>
            <a:lstStyle/>
            <a:p>
              <a:pPr algn="l"/>
              <a:r>
                <a:rPr lang="zh-CN" sz="2100" b="1" dirty="0">
                  <a:solidFill>
                    <a:srgbClr val="69281B"/>
                  </a:solidFill>
                  <a:latin typeface="+mn-lt"/>
                  <a:ea typeface="+mn-ea"/>
                  <a:cs typeface="+mn-cs"/>
                </a:rPr>
                <a:t>326.8</a:t>
              </a:r>
              <a:r>
                <a:rPr lang="zh-CN" sz="980" dirty="0">
                  <a:solidFill>
                    <a:srgbClr val="69281B"/>
                  </a:solidFill>
                  <a:latin typeface="+mn-lt"/>
                  <a:ea typeface="+mn-ea"/>
                  <a:cs typeface="+mn-cs"/>
                </a:rPr>
                <a:t xml:space="preserve"> 亿元</a:t>
              </a:r>
              <a:r>
                <a:rPr lang="zh-CN" sz="2100" b="1" dirty="0">
                  <a:solidFill>
                    <a:srgbClr val="69281B"/>
                  </a:solidFill>
                  <a:latin typeface="+mn-lt"/>
                  <a:ea typeface="+mn-ea"/>
                  <a:cs typeface="+mn-cs"/>
                </a:rPr>
                <a:t>​</a:t>
              </a:r>
            </a:p>
          </p:txBody>
        </p:sp>
        <p:sp>
          <p:nvSpPr>
            <p:cNvPr id="22" name="Line 22"/>
            <p:cNvSpPr/>
            <p:nvPr/>
          </p:nvSpPr>
          <p:spPr>
            <a:xfrm>
              <a:off x="952500" y="1390650"/>
              <a:ext cx="1981200" cy="9525"/>
            </a:xfrm>
            <a:custGeom>
              <a:avLst/>
              <a:gdLst/>
              <a:ahLst/>
              <a:cxnLst/>
              <a:rect l="l" t="t" r="r" b="b"/>
              <a:pathLst>
                <a:path w="1981200" h="9525">
                  <a:moveTo>
                    <a:pt x="0" y="0"/>
                  </a:moveTo>
                  <a:lnTo>
                    <a:pt x="1981200" y="0"/>
                  </a:lnTo>
                </a:path>
              </a:pathLst>
            </a:custGeom>
            <a:noFill/>
            <a:ln w="9525">
              <a:solidFill>
                <a:srgbClr val="E3EAF5"/>
              </a:solidFill>
            </a:ln>
          </p:spPr>
        </p:sp>
        <p:sp>
          <p:nvSpPr>
            <p:cNvPr id="23" name="TextBox 23"/>
            <p:cNvSpPr txBox="1"/>
            <p:nvPr/>
          </p:nvSpPr>
          <p:spPr>
            <a:xfrm>
              <a:off x="947738" y="1481138"/>
              <a:ext cx="312420"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较年初</a:t>
              </a:r>
            </a:p>
          </p:txBody>
        </p:sp>
        <p:sp>
          <p:nvSpPr>
            <p:cNvPr id="24" name="TextBox 24"/>
            <p:cNvSpPr txBox="1"/>
            <p:nvPr/>
          </p:nvSpPr>
          <p:spPr>
            <a:xfrm>
              <a:off x="947738" y="1594247"/>
              <a:ext cx="740942" cy="183356"/>
            </a:xfrm>
            <a:prstGeom prst="rect">
              <a:avLst/>
            </a:prstGeom>
            <a:noFill/>
            <a:ln>
              <a:noFill/>
            </a:ln>
          </p:spPr>
          <p:txBody>
            <a:bodyPr wrap="none" lIns="0" tIns="0" rIns="0" bIns="0" anchor="t" anchorCtr="0">
              <a:spAutoFit/>
            </a:bodyPr>
            <a:lstStyle/>
            <a:p>
              <a:pPr algn="l"/>
              <a:r>
                <a:rPr lang="zh-CN" sz="940" b="1" dirty="0">
                  <a:solidFill>
                    <a:srgbClr val="E04C2E"/>
                  </a:solidFill>
                  <a:latin typeface="+mn-lt"/>
                  <a:ea typeface="+mn-ea"/>
                  <a:cs typeface="+mn-cs"/>
                </a:rPr>
                <a:t>+28.6 亿元​</a:t>
              </a:r>
            </a:p>
          </p:txBody>
        </p:sp>
        <p:sp>
          <p:nvSpPr>
            <p:cNvPr id="25" name="TextBox 25"/>
            <p:cNvSpPr txBox="1"/>
            <p:nvPr/>
          </p:nvSpPr>
          <p:spPr>
            <a:xfrm>
              <a:off x="1995488" y="1481138"/>
              <a:ext cx="514350"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计划完成率</a:t>
              </a:r>
            </a:p>
          </p:txBody>
        </p:sp>
        <p:sp>
          <p:nvSpPr>
            <p:cNvPr id="26" name="TextBox 26"/>
            <p:cNvSpPr txBox="1"/>
            <p:nvPr/>
          </p:nvSpPr>
          <p:spPr>
            <a:xfrm>
              <a:off x="1995488" y="1594247"/>
              <a:ext cx="547648"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108.4%​</a:t>
              </a:r>
            </a:p>
          </p:txBody>
        </p:sp>
      </p:grpSp>
      <p:grpSp>
        <p:nvGrpSpPr>
          <p:cNvPr id="40" name="kpi-loan"/>
          <p:cNvGrpSpPr/>
          <p:nvPr/>
        </p:nvGrpSpPr>
        <p:grpSpPr>
          <a:xfrm>
            <a:off x="3162300" y="685800"/>
            <a:ext cx="2819400" cy="1091803"/>
            <a:chOff x="3162300" y="685800"/>
            <a:chExt cx="2819400" cy="1091803"/>
          </a:xfrm>
        </p:grpSpPr>
        <p:sp>
          <p:nvSpPr>
            <p:cNvPr id="28" name="Rectangle 28"/>
            <p:cNvSpPr/>
            <p:nvPr/>
          </p:nvSpPr>
          <p:spPr>
            <a:xfrm>
              <a:off x="3162300" y="685800"/>
              <a:ext cx="2819400" cy="1066800"/>
            </a:xfrm>
            <a:prstGeom prst="roundRect">
              <a:avLst>
                <a:gd name="adj" fmla="val 5357"/>
              </a:avLst>
            </a:prstGeom>
            <a:solidFill>
              <a:srgbClr val="FFFFFF"/>
            </a:solidFill>
            <a:ln w="9525">
              <a:solidFill>
                <a:srgbClr val="C9D6E9"/>
              </a:solidFill>
            </a:ln>
          </p:spPr>
        </p:sp>
        <p:sp>
          <p:nvSpPr>
            <p:cNvPr id="29" name="Ellipse 29"/>
            <p:cNvSpPr/>
            <p:nvPr/>
          </p:nvSpPr>
          <p:spPr>
            <a:xfrm>
              <a:off x="3314700" y="838200"/>
              <a:ext cx="457200" cy="457200"/>
            </a:xfrm>
            <a:prstGeom prst="ellipse">
              <a:avLst/>
            </a:prstGeom>
            <a:solidFill>
              <a:srgbClr val="EAF1FB"/>
            </a:solidFill>
            <a:ln>
              <a:noFill/>
            </a:ln>
          </p:spPr>
        </p:sp>
        <p:grpSp>
          <p:nvGrpSpPr>
            <p:cNvPr id="32" name="Group 32"/>
            <p:cNvGrpSpPr/>
            <p:nvPr/>
          </p:nvGrpSpPr>
          <p:grpSpPr>
            <a:xfrm>
              <a:off x="3460750" y="984250"/>
              <a:ext cx="165099" cy="165099"/>
              <a:chOff x="3460750" y="984250"/>
              <a:chExt cx="165099" cy="165099"/>
            </a:xfrm>
          </p:grpSpPr>
          <p:sp>
            <p:nvSpPr>
              <p:cNvPr id="30" name="Freeform 30"/>
              <p:cNvSpPr/>
              <p:nvPr/>
            </p:nvSpPr>
            <p:spPr>
              <a:xfrm>
                <a:off x="3460750" y="984250"/>
                <a:ext cx="154781" cy="165099"/>
              </a:xfrm>
              <a:custGeom>
                <a:avLst/>
                <a:gdLst/>
                <a:ahLst/>
                <a:cxnLst/>
                <a:rect l="l" t="t" r="r" b="b"/>
                <a:pathLst>
                  <a:path w="154781" h="165099">
                    <a:moveTo>
                      <a:pt x="134143" y="41275"/>
                    </a:moveTo>
                    <a:lnTo>
                      <a:pt x="134143" y="10319"/>
                    </a:lnTo>
                    <a:cubicBezTo>
                      <a:pt x="134143" y="4620"/>
                      <a:pt x="129523" y="0"/>
                      <a:pt x="123825" y="0"/>
                    </a:cubicBezTo>
                    <a:lnTo>
                      <a:pt x="20637" y="0"/>
                    </a:lnTo>
                    <a:cubicBezTo>
                      <a:pt x="9240" y="0"/>
                      <a:pt x="0" y="9240"/>
                      <a:pt x="0" y="20637"/>
                    </a:cubicBezTo>
                    <a:cubicBezTo>
                      <a:pt x="0" y="32035"/>
                      <a:pt x="9240" y="41275"/>
                      <a:pt x="20637" y="41275"/>
                    </a:cubicBezTo>
                    <a:lnTo>
                      <a:pt x="144462" y="41275"/>
                    </a:lnTo>
                    <a:cubicBezTo>
                      <a:pt x="150161" y="41275"/>
                      <a:pt x="154781" y="45895"/>
                      <a:pt x="154781" y="51594"/>
                    </a:cubicBezTo>
                    <a:lnTo>
                      <a:pt x="154781" y="82550"/>
                    </a:lnTo>
                    <a:moveTo>
                      <a:pt x="154781" y="123825"/>
                    </a:moveTo>
                    <a:lnTo>
                      <a:pt x="154781" y="154781"/>
                    </a:lnTo>
                    <a:cubicBezTo>
                      <a:pt x="154781" y="160480"/>
                      <a:pt x="150161" y="165099"/>
                      <a:pt x="144462" y="165099"/>
                    </a:cubicBezTo>
                    <a:lnTo>
                      <a:pt x="20637" y="165099"/>
                    </a:lnTo>
                    <a:cubicBezTo>
                      <a:pt x="9240" y="165099"/>
                      <a:pt x="0" y="155860"/>
                      <a:pt x="0" y="144462"/>
                    </a:cubicBezTo>
                    <a:lnTo>
                      <a:pt x="0" y="20637"/>
                    </a:lnTo>
                  </a:path>
                </a:pathLst>
              </a:custGeom>
              <a:noFill/>
              <a:ln w="20637">
                <a:solidFill>
                  <a:srgbClr val="69281B"/>
                </a:solidFill>
              </a:ln>
            </p:spPr>
          </p:sp>
          <p:sp>
            <p:nvSpPr>
              <p:cNvPr id="31" name="Freeform 31"/>
              <p:cNvSpPr/>
              <p:nvPr/>
            </p:nvSpPr>
            <p:spPr>
              <a:xfrm>
                <a:off x="3563937" y="1066800"/>
                <a:ext cx="61912" cy="41275"/>
              </a:xfrm>
              <a:custGeom>
                <a:avLst/>
                <a:gdLst/>
                <a:ahLst/>
                <a:cxnLst/>
                <a:rect l="l" t="t" r="r" b="b"/>
                <a:pathLst>
                  <a:path w="61912" h="41275">
                    <a:moveTo>
                      <a:pt x="61912" y="0"/>
                    </a:moveTo>
                    <a:lnTo>
                      <a:pt x="61912" y="41275"/>
                    </a:lnTo>
                    <a:lnTo>
                      <a:pt x="20637" y="41275"/>
                    </a:lnTo>
                    <a:cubicBezTo>
                      <a:pt x="9240" y="41275"/>
                      <a:pt x="0" y="32035"/>
                      <a:pt x="0" y="20637"/>
                    </a:cubicBezTo>
                    <a:cubicBezTo>
                      <a:pt x="0" y="9240"/>
                      <a:pt x="9240" y="0"/>
                      <a:pt x="20637" y="0"/>
                    </a:cubicBezTo>
                    <a:lnTo>
                      <a:pt x="61912" y="0"/>
                    </a:lnTo>
                  </a:path>
                </a:pathLst>
              </a:custGeom>
              <a:noFill/>
              <a:ln w="20637">
                <a:solidFill>
                  <a:srgbClr val="69281B"/>
                </a:solidFill>
              </a:ln>
            </p:spPr>
          </p:sp>
        </p:grpSp>
        <p:sp>
          <p:nvSpPr>
            <p:cNvPr id="33" name="TextBox 33"/>
            <p:cNvSpPr txBox="1"/>
            <p:nvPr/>
          </p:nvSpPr>
          <p:spPr>
            <a:xfrm>
              <a:off x="3881438" y="836295"/>
              <a:ext cx="736473" cy="176212"/>
            </a:xfrm>
            <a:prstGeom prst="rect">
              <a:avLst/>
            </a:prstGeom>
            <a:noFill/>
            <a:ln>
              <a:noFill/>
            </a:ln>
          </p:spPr>
          <p:txBody>
            <a:bodyPr wrap="none" lIns="0" tIns="0" rIns="0" bIns="0" anchor="t" anchorCtr="0">
              <a:spAutoFit/>
            </a:bodyPr>
            <a:lstStyle/>
            <a:p>
              <a:pPr algn="l"/>
              <a:r>
                <a:rPr lang="zh-CN" sz="900" dirty="0">
                  <a:solidFill>
                    <a:srgbClr val="987F7A"/>
                  </a:solidFill>
                  <a:latin typeface="+mn-lt"/>
                  <a:ea typeface="+mn-ea"/>
                  <a:cs typeface="+mn-cs"/>
                </a:rPr>
                <a:t>对公贷款余额</a:t>
              </a:r>
            </a:p>
          </p:txBody>
        </p:sp>
        <p:sp>
          <p:nvSpPr>
            <p:cNvPr id="34" name="TextBox 34"/>
            <p:cNvSpPr txBox="1"/>
            <p:nvPr/>
          </p:nvSpPr>
          <p:spPr>
            <a:xfrm>
              <a:off x="3875532" y="1030605"/>
              <a:ext cx="1304332" cy="410718"/>
            </a:xfrm>
            <a:prstGeom prst="rect">
              <a:avLst/>
            </a:prstGeom>
            <a:noFill/>
            <a:ln>
              <a:noFill/>
            </a:ln>
          </p:spPr>
          <p:txBody>
            <a:bodyPr wrap="none" lIns="0" tIns="0" rIns="0" bIns="0" anchor="t" anchorCtr="0">
              <a:spAutoFit/>
            </a:bodyPr>
            <a:lstStyle/>
            <a:p>
              <a:pPr algn="l"/>
              <a:r>
                <a:rPr lang="zh-CN" sz="2100" b="1" dirty="0">
                  <a:solidFill>
                    <a:srgbClr val="69281B"/>
                  </a:solidFill>
                  <a:latin typeface="+mn-lt"/>
                  <a:ea typeface="+mn-ea"/>
                  <a:cs typeface="+mn-cs"/>
                </a:rPr>
                <a:t>284.5</a:t>
              </a:r>
              <a:r>
                <a:rPr lang="zh-CN" sz="980" dirty="0">
                  <a:solidFill>
                    <a:srgbClr val="69281B"/>
                  </a:solidFill>
                  <a:latin typeface="+mn-lt"/>
                  <a:ea typeface="+mn-ea"/>
                  <a:cs typeface="+mn-cs"/>
                </a:rPr>
                <a:t xml:space="preserve"> 亿元</a:t>
              </a:r>
              <a:r>
                <a:rPr lang="zh-CN" sz="2100" b="1" dirty="0">
                  <a:solidFill>
                    <a:srgbClr val="69281B"/>
                  </a:solidFill>
                  <a:latin typeface="+mn-lt"/>
                  <a:ea typeface="+mn-ea"/>
                  <a:cs typeface="+mn-cs"/>
                </a:rPr>
                <a:t>​</a:t>
              </a:r>
            </a:p>
          </p:txBody>
        </p:sp>
        <p:sp>
          <p:nvSpPr>
            <p:cNvPr id="35" name="Line 35"/>
            <p:cNvSpPr/>
            <p:nvPr/>
          </p:nvSpPr>
          <p:spPr>
            <a:xfrm>
              <a:off x="3886200" y="1390650"/>
              <a:ext cx="1981200" cy="9525"/>
            </a:xfrm>
            <a:custGeom>
              <a:avLst/>
              <a:gdLst/>
              <a:ahLst/>
              <a:cxnLst/>
              <a:rect l="l" t="t" r="r" b="b"/>
              <a:pathLst>
                <a:path w="1981200" h="9525">
                  <a:moveTo>
                    <a:pt x="0" y="0"/>
                  </a:moveTo>
                  <a:lnTo>
                    <a:pt x="1981200" y="0"/>
                  </a:lnTo>
                </a:path>
              </a:pathLst>
            </a:custGeom>
            <a:noFill/>
            <a:ln w="9525">
              <a:solidFill>
                <a:srgbClr val="E3EAF5"/>
              </a:solidFill>
            </a:ln>
          </p:spPr>
        </p:sp>
        <p:sp>
          <p:nvSpPr>
            <p:cNvPr id="36" name="TextBox 36"/>
            <p:cNvSpPr txBox="1"/>
            <p:nvPr/>
          </p:nvSpPr>
          <p:spPr>
            <a:xfrm>
              <a:off x="3881438" y="1481138"/>
              <a:ext cx="312420"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较年初</a:t>
              </a:r>
            </a:p>
          </p:txBody>
        </p:sp>
        <p:sp>
          <p:nvSpPr>
            <p:cNvPr id="37" name="TextBox 37"/>
            <p:cNvSpPr txBox="1"/>
            <p:nvPr/>
          </p:nvSpPr>
          <p:spPr>
            <a:xfrm>
              <a:off x="3881438" y="1594247"/>
              <a:ext cx="740942" cy="183356"/>
            </a:xfrm>
            <a:prstGeom prst="rect">
              <a:avLst/>
            </a:prstGeom>
            <a:noFill/>
            <a:ln>
              <a:noFill/>
            </a:ln>
          </p:spPr>
          <p:txBody>
            <a:bodyPr wrap="none" lIns="0" tIns="0" rIns="0" bIns="0" anchor="t" anchorCtr="0">
              <a:spAutoFit/>
            </a:bodyPr>
            <a:lstStyle/>
            <a:p>
              <a:pPr algn="l"/>
              <a:r>
                <a:rPr lang="zh-CN" sz="940" b="1" dirty="0">
                  <a:solidFill>
                    <a:srgbClr val="E04C2E"/>
                  </a:solidFill>
                  <a:latin typeface="+mn-lt"/>
                  <a:ea typeface="+mn-ea"/>
                  <a:cs typeface="+mn-cs"/>
                </a:rPr>
                <a:t>+31.2 亿元​</a:t>
              </a:r>
            </a:p>
          </p:txBody>
        </p:sp>
        <p:sp>
          <p:nvSpPr>
            <p:cNvPr id="38" name="TextBox 38"/>
            <p:cNvSpPr txBox="1"/>
            <p:nvPr/>
          </p:nvSpPr>
          <p:spPr>
            <a:xfrm>
              <a:off x="4929188" y="1481138"/>
              <a:ext cx="514350"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计划完成率</a:t>
              </a:r>
            </a:p>
          </p:txBody>
        </p:sp>
        <p:sp>
          <p:nvSpPr>
            <p:cNvPr id="39" name="TextBox 39"/>
            <p:cNvSpPr txBox="1"/>
            <p:nvPr/>
          </p:nvSpPr>
          <p:spPr>
            <a:xfrm>
              <a:off x="4929188" y="1594247"/>
              <a:ext cx="547648"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104.7%​</a:t>
              </a:r>
            </a:p>
          </p:txBody>
        </p:sp>
      </p:grpSp>
      <p:grpSp>
        <p:nvGrpSpPr>
          <p:cNvPr id="55" name="kpi-clients"/>
          <p:cNvGrpSpPr/>
          <p:nvPr/>
        </p:nvGrpSpPr>
        <p:grpSpPr>
          <a:xfrm>
            <a:off x="6096000" y="685800"/>
            <a:ext cx="2819400" cy="1091803"/>
            <a:chOff x="6096000" y="685800"/>
            <a:chExt cx="2819400" cy="1091803"/>
          </a:xfrm>
        </p:grpSpPr>
        <p:sp>
          <p:nvSpPr>
            <p:cNvPr id="41" name="Rectangle 41"/>
            <p:cNvSpPr/>
            <p:nvPr/>
          </p:nvSpPr>
          <p:spPr>
            <a:xfrm>
              <a:off x="6096000" y="685800"/>
              <a:ext cx="2819400" cy="1066800"/>
            </a:xfrm>
            <a:prstGeom prst="roundRect">
              <a:avLst>
                <a:gd name="adj" fmla="val 5357"/>
              </a:avLst>
            </a:prstGeom>
            <a:solidFill>
              <a:srgbClr val="FFFFFF"/>
            </a:solidFill>
            <a:ln w="9525">
              <a:solidFill>
                <a:srgbClr val="C9D6E9"/>
              </a:solidFill>
            </a:ln>
          </p:spPr>
        </p:sp>
        <p:sp>
          <p:nvSpPr>
            <p:cNvPr id="42" name="Ellipse 42"/>
            <p:cNvSpPr/>
            <p:nvPr/>
          </p:nvSpPr>
          <p:spPr>
            <a:xfrm>
              <a:off x="6248400" y="838200"/>
              <a:ext cx="457200" cy="457200"/>
            </a:xfrm>
            <a:prstGeom prst="ellipse">
              <a:avLst/>
            </a:prstGeom>
            <a:solidFill>
              <a:srgbClr val="EAF1FB"/>
            </a:solidFill>
            <a:ln>
              <a:noFill/>
            </a:ln>
          </p:spPr>
        </p:sp>
        <p:grpSp>
          <p:nvGrpSpPr>
            <p:cNvPr id="47" name="Group 47"/>
            <p:cNvGrpSpPr/>
            <p:nvPr/>
          </p:nvGrpSpPr>
          <p:grpSpPr>
            <a:xfrm>
              <a:off x="6384131" y="973931"/>
              <a:ext cx="185737" cy="185738"/>
              <a:chOff x="6384131" y="973931"/>
              <a:chExt cx="185737" cy="185738"/>
            </a:xfrm>
          </p:grpSpPr>
          <p:sp>
            <p:nvSpPr>
              <p:cNvPr id="43" name="Freeform 43"/>
              <p:cNvSpPr/>
              <p:nvPr/>
            </p:nvSpPr>
            <p:spPr>
              <a:xfrm>
                <a:off x="6404769" y="9739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69281B"/>
                </a:solidFill>
              </a:ln>
            </p:spPr>
          </p:sp>
          <p:sp>
            <p:nvSpPr>
              <p:cNvPr id="44" name="Freeform 44"/>
              <p:cNvSpPr/>
              <p:nvPr/>
            </p:nvSpPr>
            <p:spPr>
              <a:xfrm>
                <a:off x="6384131" y="10977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69281B"/>
                </a:solidFill>
              </a:ln>
            </p:spPr>
          </p:sp>
          <p:sp>
            <p:nvSpPr>
              <p:cNvPr id="45" name="Freeform 45"/>
              <p:cNvSpPr/>
              <p:nvPr/>
            </p:nvSpPr>
            <p:spPr>
              <a:xfrm>
                <a:off x="6518274" y="9752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69281B"/>
                </a:solidFill>
              </a:ln>
            </p:spPr>
          </p:sp>
          <p:sp>
            <p:nvSpPr>
              <p:cNvPr id="46" name="Freeform 46"/>
              <p:cNvSpPr/>
              <p:nvPr/>
            </p:nvSpPr>
            <p:spPr>
              <a:xfrm>
                <a:off x="6538912" y="10993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69281B"/>
                </a:solidFill>
              </a:ln>
            </p:spPr>
          </p:sp>
        </p:grpSp>
        <p:sp>
          <p:nvSpPr>
            <p:cNvPr id="48" name="TextBox 48"/>
            <p:cNvSpPr txBox="1"/>
            <p:nvPr/>
          </p:nvSpPr>
          <p:spPr>
            <a:xfrm>
              <a:off x="6815138" y="836295"/>
              <a:ext cx="615315" cy="176212"/>
            </a:xfrm>
            <a:prstGeom prst="rect">
              <a:avLst/>
            </a:prstGeom>
            <a:noFill/>
            <a:ln>
              <a:noFill/>
            </a:ln>
          </p:spPr>
          <p:txBody>
            <a:bodyPr wrap="none" lIns="0" tIns="0" rIns="0" bIns="0" anchor="t" anchorCtr="0">
              <a:spAutoFit/>
            </a:bodyPr>
            <a:lstStyle/>
            <a:p>
              <a:pPr algn="l"/>
              <a:r>
                <a:rPr lang="zh-CN" sz="900" dirty="0">
                  <a:solidFill>
                    <a:srgbClr val="987F7A"/>
                  </a:solidFill>
                  <a:latin typeface="+mn-lt"/>
                  <a:ea typeface="+mn-ea"/>
                  <a:cs typeface="+mn-cs"/>
                </a:rPr>
                <a:t>对公客户数</a:t>
              </a:r>
            </a:p>
          </p:txBody>
        </p:sp>
        <p:sp>
          <p:nvSpPr>
            <p:cNvPr id="49" name="TextBox 49"/>
            <p:cNvSpPr txBox="1"/>
            <p:nvPr/>
          </p:nvSpPr>
          <p:spPr>
            <a:xfrm>
              <a:off x="6809232" y="1030605"/>
              <a:ext cx="1335665" cy="410718"/>
            </a:xfrm>
            <a:prstGeom prst="rect">
              <a:avLst/>
            </a:prstGeom>
            <a:noFill/>
            <a:ln>
              <a:noFill/>
            </a:ln>
          </p:spPr>
          <p:txBody>
            <a:bodyPr wrap="none" lIns="0" tIns="0" rIns="0" bIns="0" anchor="t" anchorCtr="0">
              <a:spAutoFit/>
            </a:bodyPr>
            <a:lstStyle/>
            <a:p>
              <a:pPr algn="l"/>
              <a:r>
                <a:rPr lang="zh-CN" sz="2100" b="1" dirty="0">
                  <a:solidFill>
                    <a:srgbClr val="69281B"/>
                  </a:solidFill>
                  <a:latin typeface="+mn-lt"/>
                  <a:ea typeface="+mn-ea"/>
                  <a:cs typeface="+mn-cs"/>
                </a:rPr>
                <a:t>12,680</a:t>
              </a:r>
              <a:r>
                <a:rPr lang="zh-CN" sz="980" dirty="0">
                  <a:solidFill>
                    <a:srgbClr val="69281B"/>
                  </a:solidFill>
                  <a:latin typeface="+mn-lt"/>
                  <a:ea typeface="+mn-ea"/>
                  <a:cs typeface="+mn-cs"/>
                </a:rPr>
                <a:t xml:space="preserve"> 户</a:t>
              </a:r>
              <a:r>
                <a:rPr lang="zh-CN" sz="2100" b="1" dirty="0">
                  <a:solidFill>
                    <a:srgbClr val="69281B"/>
                  </a:solidFill>
                  <a:latin typeface="+mn-lt"/>
                  <a:ea typeface="+mn-ea"/>
                  <a:cs typeface="+mn-cs"/>
                </a:rPr>
                <a:t>​</a:t>
              </a:r>
            </a:p>
          </p:txBody>
        </p:sp>
        <p:sp>
          <p:nvSpPr>
            <p:cNvPr id="50" name="Line 50"/>
            <p:cNvSpPr/>
            <p:nvPr/>
          </p:nvSpPr>
          <p:spPr>
            <a:xfrm>
              <a:off x="6819900" y="1390650"/>
              <a:ext cx="1981200" cy="9525"/>
            </a:xfrm>
            <a:custGeom>
              <a:avLst/>
              <a:gdLst/>
              <a:ahLst/>
              <a:cxnLst/>
              <a:rect l="l" t="t" r="r" b="b"/>
              <a:pathLst>
                <a:path w="1981200" h="9525">
                  <a:moveTo>
                    <a:pt x="0" y="0"/>
                  </a:moveTo>
                  <a:lnTo>
                    <a:pt x="1981200" y="0"/>
                  </a:lnTo>
                </a:path>
              </a:pathLst>
            </a:custGeom>
            <a:noFill/>
            <a:ln w="9525">
              <a:solidFill>
                <a:srgbClr val="E3EAF5"/>
              </a:solidFill>
            </a:ln>
          </p:spPr>
        </p:sp>
        <p:sp>
          <p:nvSpPr>
            <p:cNvPr id="51" name="TextBox 51"/>
            <p:cNvSpPr txBox="1"/>
            <p:nvPr/>
          </p:nvSpPr>
          <p:spPr>
            <a:xfrm>
              <a:off x="6815138" y="1481138"/>
              <a:ext cx="413385"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净增客户</a:t>
              </a:r>
            </a:p>
          </p:txBody>
        </p:sp>
        <p:sp>
          <p:nvSpPr>
            <p:cNvPr id="52" name="TextBox 52"/>
            <p:cNvSpPr txBox="1"/>
            <p:nvPr/>
          </p:nvSpPr>
          <p:spPr>
            <a:xfrm>
              <a:off x="6815138" y="1594247"/>
              <a:ext cx="687478" cy="183356"/>
            </a:xfrm>
            <a:prstGeom prst="rect">
              <a:avLst/>
            </a:prstGeom>
            <a:noFill/>
            <a:ln>
              <a:noFill/>
            </a:ln>
          </p:spPr>
          <p:txBody>
            <a:bodyPr wrap="none" lIns="0" tIns="0" rIns="0" bIns="0" anchor="t" anchorCtr="0">
              <a:spAutoFit/>
            </a:bodyPr>
            <a:lstStyle/>
            <a:p>
              <a:pPr algn="l"/>
              <a:r>
                <a:rPr lang="zh-CN" sz="940" b="1" dirty="0">
                  <a:solidFill>
                    <a:srgbClr val="E04C2E"/>
                  </a:solidFill>
                  <a:latin typeface="+mn-lt"/>
                  <a:ea typeface="+mn-ea"/>
                  <a:cs typeface="+mn-cs"/>
                </a:rPr>
                <a:t>+1,240 户​</a:t>
              </a:r>
            </a:p>
          </p:txBody>
        </p:sp>
        <p:sp>
          <p:nvSpPr>
            <p:cNvPr id="53" name="TextBox 53"/>
            <p:cNvSpPr txBox="1"/>
            <p:nvPr/>
          </p:nvSpPr>
          <p:spPr>
            <a:xfrm>
              <a:off x="7862888" y="1481138"/>
              <a:ext cx="514350"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计划完成率</a:t>
              </a:r>
            </a:p>
          </p:txBody>
        </p:sp>
        <p:sp>
          <p:nvSpPr>
            <p:cNvPr id="54" name="TextBox 54"/>
            <p:cNvSpPr txBox="1"/>
            <p:nvPr/>
          </p:nvSpPr>
          <p:spPr>
            <a:xfrm>
              <a:off x="7862888" y="1594247"/>
              <a:ext cx="547648"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103.3%​</a:t>
              </a:r>
            </a:p>
          </p:txBody>
        </p:sp>
      </p:grpSp>
      <p:grpSp>
        <p:nvGrpSpPr>
          <p:cNvPr id="71" name="kpi-fee"/>
          <p:cNvGrpSpPr/>
          <p:nvPr/>
        </p:nvGrpSpPr>
        <p:grpSpPr>
          <a:xfrm>
            <a:off x="9029700" y="685800"/>
            <a:ext cx="2819400" cy="1091803"/>
            <a:chOff x="9029700" y="685800"/>
            <a:chExt cx="2819400" cy="1091803"/>
          </a:xfrm>
        </p:grpSpPr>
        <p:sp>
          <p:nvSpPr>
            <p:cNvPr id="56" name="Rectangle 56"/>
            <p:cNvSpPr/>
            <p:nvPr/>
          </p:nvSpPr>
          <p:spPr>
            <a:xfrm>
              <a:off x="9029700" y="685800"/>
              <a:ext cx="2819400" cy="1066800"/>
            </a:xfrm>
            <a:prstGeom prst="roundRect">
              <a:avLst>
                <a:gd name="adj" fmla="val 5357"/>
              </a:avLst>
            </a:prstGeom>
            <a:solidFill>
              <a:srgbClr val="FFFFFF"/>
            </a:solidFill>
            <a:ln w="9525">
              <a:solidFill>
                <a:srgbClr val="C9D6E9"/>
              </a:solidFill>
            </a:ln>
          </p:spPr>
        </p:sp>
        <p:sp>
          <p:nvSpPr>
            <p:cNvPr id="57" name="Ellipse 57"/>
            <p:cNvSpPr/>
            <p:nvPr/>
          </p:nvSpPr>
          <p:spPr>
            <a:xfrm>
              <a:off x="9182100" y="838200"/>
              <a:ext cx="457200" cy="457200"/>
            </a:xfrm>
            <a:prstGeom prst="ellipse">
              <a:avLst/>
            </a:prstGeom>
            <a:solidFill>
              <a:srgbClr val="EAF1FB"/>
            </a:solidFill>
            <a:ln>
              <a:noFill/>
            </a:ln>
          </p:spPr>
        </p:sp>
        <p:grpSp>
          <p:nvGrpSpPr>
            <p:cNvPr id="63" name="Group 63"/>
            <p:cNvGrpSpPr/>
            <p:nvPr/>
          </p:nvGrpSpPr>
          <p:grpSpPr>
            <a:xfrm>
              <a:off x="9317831" y="972548"/>
              <a:ext cx="185737" cy="187120"/>
              <a:chOff x="9317831" y="972548"/>
              <a:chExt cx="185737" cy="187120"/>
            </a:xfrm>
          </p:grpSpPr>
          <p:sp>
            <p:nvSpPr>
              <p:cNvPr id="58" name="Freeform 58"/>
              <p:cNvSpPr/>
              <p:nvPr/>
            </p:nvSpPr>
            <p:spPr>
              <a:xfrm>
                <a:off x="9379743" y="1056481"/>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69281B"/>
                </a:solidFill>
              </a:ln>
            </p:spPr>
          </p:sp>
          <p:sp>
            <p:nvSpPr>
              <p:cNvPr id="59" name="Freeform 59"/>
              <p:cNvSpPr/>
              <p:nvPr/>
            </p:nvSpPr>
            <p:spPr>
              <a:xfrm>
                <a:off x="9379743" y="1087437"/>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69281B"/>
                </a:solidFill>
              </a:ln>
            </p:spPr>
          </p:sp>
          <p:sp>
            <p:nvSpPr>
              <p:cNvPr id="60" name="Freeform 60"/>
              <p:cNvSpPr/>
              <p:nvPr/>
            </p:nvSpPr>
            <p:spPr>
              <a:xfrm>
                <a:off x="9317831" y="972548"/>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69281B"/>
                </a:solidFill>
              </a:ln>
            </p:spPr>
          </p:sp>
          <p:sp>
            <p:nvSpPr>
              <p:cNvPr id="61" name="Freeform 61"/>
              <p:cNvSpPr/>
              <p:nvPr/>
            </p:nvSpPr>
            <p:spPr>
              <a:xfrm>
                <a:off x="9317831" y="1004887"/>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69281B"/>
                </a:solidFill>
              </a:ln>
            </p:spPr>
          </p:sp>
          <p:sp>
            <p:nvSpPr>
              <p:cNvPr id="62" name="Freeform 62"/>
              <p:cNvSpPr/>
              <p:nvPr/>
            </p:nvSpPr>
            <p:spPr>
              <a:xfrm>
                <a:off x="9317831" y="1056481"/>
                <a:ext cx="20637" cy="20637"/>
              </a:xfrm>
              <a:custGeom>
                <a:avLst/>
                <a:gdLst/>
                <a:ahLst/>
                <a:cxnLst/>
                <a:rect l="l" t="t" r="r" b="b"/>
                <a:pathLst>
                  <a:path w="20637" h="20637">
                    <a:moveTo>
                      <a:pt x="0" y="0"/>
                    </a:moveTo>
                    <a:cubicBezTo>
                      <a:pt x="0" y="9163"/>
                      <a:pt x="7966" y="14962"/>
                      <a:pt x="20637" y="20637"/>
                    </a:cubicBezTo>
                  </a:path>
                </a:pathLst>
              </a:custGeom>
              <a:noFill/>
              <a:ln w="20637">
                <a:solidFill>
                  <a:srgbClr val="69281B"/>
                </a:solidFill>
              </a:ln>
            </p:spPr>
          </p:sp>
        </p:grpSp>
        <p:sp>
          <p:nvSpPr>
            <p:cNvPr id="64" name="TextBox 64"/>
            <p:cNvSpPr txBox="1"/>
            <p:nvPr/>
          </p:nvSpPr>
          <p:spPr>
            <a:xfrm>
              <a:off x="9748838" y="836295"/>
              <a:ext cx="494157" cy="176212"/>
            </a:xfrm>
            <a:prstGeom prst="rect">
              <a:avLst/>
            </a:prstGeom>
            <a:noFill/>
            <a:ln>
              <a:noFill/>
            </a:ln>
          </p:spPr>
          <p:txBody>
            <a:bodyPr wrap="none" lIns="0" tIns="0" rIns="0" bIns="0" anchor="t" anchorCtr="0">
              <a:spAutoFit/>
            </a:bodyPr>
            <a:lstStyle/>
            <a:p>
              <a:pPr algn="l"/>
              <a:r>
                <a:rPr lang="zh-CN" sz="900" dirty="0">
                  <a:solidFill>
                    <a:srgbClr val="987F7A"/>
                  </a:solidFill>
                  <a:latin typeface="+mn-lt"/>
                  <a:ea typeface="+mn-ea"/>
                  <a:cs typeface="+mn-cs"/>
                </a:rPr>
                <a:t>公司中收</a:t>
              </a:r>
            </a:p>
          </p:txBody>
        </p:sp>
        <p:sp>
          <p:nvSpPr>
            <p:cNvPr id="65" name="TextBox 65"/>
            <p:cNvSpPr txBox="1"/>
            <p:nvPr/>
          </p:nvSpPr>
          <p:spPr>
            <a:xfrm>
              <a:off x="9742932" y="1030605"/>
              <a:ext cx="1141072" cy="410718"/>
            </a:xfrm>
            <a:prstGeom prst="rect">
              <a:avLst/>
            </a:prstGeom>
            <a:noFill/>
            <a:ln>
              <a:noFill/>
            </a:ln>
          </p:spPr>
          <p:txBody>
            <a:bodyPr wrap="none" lIns="0" tIns="0" rIns="0" bIns="0" anchor="t" anchorCtr="0">
              <a:spAutoFit/>
            </a:bodyPr>
            <a:lstStyle/>
            <a:p>
              <a:pPr algn="l"/>
              <a:r>
                <a:rPr lang="zh-CN" sz="2100" b="1" dirty="0">
                  <a:solidFill>
                    <a:srgbClr val="69281B"/>
                  </a:solidFill>
                  <a:latin typeface="+mn-lt"/>
                  <a:ea typeface="+mn-ea"/>
                  <a:cs typeface="+mn-cs"/>
                </a:rPr>
                <a:t>1.86</a:t>
              </a:r>
              <a:r>
                <a:rPr lang="zh-CN" sz="980" dirty="0">
                  <a:solidFill>
                    <a:srgbClr val="69281B"/>
                  </a:solidFill>
                  <a:latin typeface="+mn-lt"/>
                  <a:ea typeface="+mn-ea"/>
                  <a:cs typeface="+mn-cs"/>
                </a:rPr>
                <a:t xml:space="preserve"> 亿元</a:t>
              </a:r>
              <a:r>
                <a:rPr lang="zh-CN" sz="2100" b="1" dirty="0">
                  <a:solidFill>
                    <a:srgbClr val="69281B"/>
                  </a:solidFill>
                  <a:latin typeface="+mn-lt"/>
                  <a:ea typeface="+mn-ea"/>
                  <a:cs typeface="+mn-cs"/>
                </a:rPr>
                <a:t>​</a:t>
              </a:r>
            </a:p>
          </p:txBody>
        </p:sp>
        <p:sp>
          <p:nvSpPr>
            <p:cNvPr id="66" name="Line 66"/>
            <p:cNvSpPr/>
            <p:nvPr/>
          </p:nvSpPr>
          <p:spPr>
            <a:xfrm>
              <a:off x="9753600" y="1390650"/>
              <a:ext cx="1981200" cy="9525"/>
            </a:xfrm>
            <a:custGeom>
              <a:avLst/>
              <a:gdLst/>
              <a:ahLst/>
              <a:cxnLst/>
              <a:rect l="l" t="t" r="r" b="b"/>
              <a:pathLst>
                <a:path w="1981200" h="9525">
                  <a:moveTo>
                    <a:pt x="0" y="0"/>
                  </a:moveTo>
                  <a:lnTo>
                    <a:pt x="1981200" y="0"/>
                  </a:lnTo>
                </a:path>
              </a:pathLst>
            </a:custGeom>
            <a:noFill/>
            <a:ln w="9525">
              <a:solidFill>
                <a:srgbClr val="E3EAF5"/>
              </a:solidFill>
            </a:ln>
          </p:spPr>
        </p:sp>
        <p:sp>
          <p:nvSpPr>
            <p:cNvPr id="67" name="TextBox 67"/>
            <p:cNvSpPr txBox="1"/>
            <p:nvPr/>
          </p:nvSpPr>
          <p:spPr>
            <a:xfrm>
              <a:off x="9748838" y="1481138"/>
              <a:ext cx="413385"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同比增速</a:t>
              </a:r>
            </a:p>
          </p:txBody>
        </p:sp>
        <p:sp>
          <p:nvSpPr>
            <p:cNvPr id="68" name="TextBox 68"/>
            <p:cNvSpPr txBox="1"/>
            <p:nvPr/>
          </p:nvSpPr>
          <p:spPr>
            <a:xfrm>
              <a:off x="9748838" y="1594247"/>
              <a:ext cx="547648" cy="183356"/>
            </a:xfrm>
            <a:prstGeom prst="rect">
              <a:avLst/>
            </a:prstGeom>
            <a:noFill/>
            <a:ln>
              <a:noFill/>
            </a:ln>
          </p:spPr>
          <p:txBody>
            <a:bodyPr wrap="none" lIns="0" tIns="0" rIns="0" bIns="0" anchor="t" anchorCtr="0">
              <a:spAutoFit/>
            </a:bodyPr>
            <a:lstStyle/>
            <a:p>
              <a:pPr algn="l"/>
              <a:r>
                <a:rPr lang="zh-CN" sz="940" b="1" dirty="0">
                  <a:solidFill>
                    <a:srgbClr val="E04C2E"/>
                  </a:solidFill>
                  <a:latin typeface="+mn-lt"/>
                  <a:ea typeface="+mn-ea"/>
                  <a:cs typeface="+mn-cs"/>
                </a:rPr>
                <a:t>+16.8%​</a:t>
              </a:r>
            </a:p>
          </p:txBody>
        </p:sp>
        <p:sp>
          <p:nvSpPr>
            <p:cNvPr id="69" name="TextBox 69"/>
            <p:cNvSpPr txBox="1"/>
            <p:nvPr/>
          </p:nvSpPr>
          <p:spPr>
            <a:xfrm>
              <a:off x="10796588" y="1481138"/>
              <a:ext cx="514350"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计划完成率</a:t>
              </a:r>
            </a:p>
          </p:txBody>
        </p:sp>
        <p:sp>
          <p:nvSpPr>
            <p:cNvPr id="70" name="TextBox 70"/>
            <p:cNvSpPr txBox="1"/>
            <p:nvPr/>
          </p:nvSpPr>
          <p:spPr>
            <a:xfrm>
              <a:off x="10796588" y="1594247"/>
              <a:ext cx="547648"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112.2%​</a:t>
              </a:r>
            </a:p>
          </p:txBody>
        </p:sp>
      </p:grpSp>
      <p:grpSp>
        <p:nvGrpSpPr>
          <p:cNvPr id="126" name="chart-trend"/>
          <p:cNvGrpSpPr/>
          <p:nvPr/>
        </p:nvGrpSpPr>
        <p:grpSpPr>
          <a:xfrm>
            <a:off x="228600" y="1866900"/>
            <a:ext cx="5867400" cy="2400300"/>
            <a:chOff x="228600" y="1866900"/>
            <a:chExt cx="5867400" cy="2400300"/>
          </a:xfrm>
        </p:grpSpPr>
        <p:sp>
          <p:nvSpPr>
            <p:cNvPr id="72" name="Rectangle 72"/>
            <p:cNvSpPr/>
            <p:nvPr/>
          </p:nvSpPr>
          <p:spPr>
            <a:xfrm>
              <a:off x="228600" y="1866900"/>
              <a:ext cx="5867400" cy="2400300"/>
            </a:xfrm>
            <a:prstGeom prst="roundRect">
              <a:avLst>
                <a:gd name="adj" fmla="val 2381"/>
              </a:avLst>
            </a:prstGeom>
            <a:solidFill>
              <a:srgbClr val="FFFFFF"/>
            </a:solidFill>
            <a:ln w="9525">
              <a:solidFill>
                <a:srgbClr val="C9D6E9"/>
              </a:solidFill>
            </a:ln>
          </p:spPr>
        </p:sp>
        <p:sp>
          <p:nvSpPr>
            <p:cNvPr id="73" name="Freeform 73"/>
            <p:cNvSpPr/>
            <p:nvPr/>
          </p:nvSpPr>
          <p:spPr>
            <a:xfrm>
              <a:off x="228600" y="1866900"/>
              <a:ext cx="5867400" cy="247650"/>
            </a:xfrm>
            <a:custGeom>
              <a:avLst/>
              <a:gdLst/>
              <a:ahLst/>
              <a:cxnLst/>
              <a:rect l="l" t="t" r="r" b="b"/>
              <a:pathLst>
                <a:path w="5867400" h="247650">
                  <a:moveTo>
                    <a:pt x="0" y="57150"/>
                  </a:moveTo>
                  <a:cubicBezTo>
                    <a:pt x="0" y="25587"/>
                    <a:pt x="25587" y="0"/>
                    <a:pt x="57150" y="0"/>
                  </a:cubicBezTo>
                  <a:lnTo>
                    <a:pt x="5810250" y="0"/>
                  </a:lnTo>
                  <a:cubicBezTo>
                    <a:pt x="5841813" y="0"/>
                    <a:pt x="5867400" y="25587"/>
                    <a:pt x="5867400" y="57150"/>
                  </a:cubicBezTo>
                  <a:lnTo>
                    <a:pt x="5867400" y="247650"/>
                  </a:lnTo>
                  <a:lnTo>
                    <a:pt x="0" y="247650"/>
                  </a:lnTo>
                  <a:close/>
                </a:path>
              </a:pathLst>
            </a:custGeom>
            <a:solidFill>
              <a:srgbClr val="69281B"/>
            </a:solidFill>
            <a:ln>
              <a:noFill/>
            </a:ln>
          </p:spPr>
        </p:sp>
        <p:sp>
          <p:nvSpPr>
            <p:cNvPr id="74" name="TextBox 74"/>
            <p:cNvSpPr txBox="1"/>
            <p:nvPr/>
          </p:nvSpPr>
          <p:spPr>
            <a:xfrm>
              <a:off x="1789610" y="1937147"/>
              <a:ext cx="274538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2026年1-6月对公存款余额趋势（单位：亿元）​</a:t>
              </a:r>
            </a:p>
          </p:txBody>
        </p:sp>
        <p:sp>
          <p:nvSpPr>
            <p:cNvPr id="75" name="Line 75"/>
            <p:cNvSpPr/>
            <p:nvPr/>
          </p:nvSpPr>
          <p:spPr>
            <a:xfrm>
              <a:off x="2762250" y="2266950"/>
              <a:ext cx="285750" cy="9525"/>
            </a:xfrm>
            <a:custGeom>
              <a:avLst/>
              <a:gdLst/>
              <a:ahLst/>
              <a:cxnLst/>
              <a:rect l="l" t="t" r="r" b="b"/>
              <a:pathLst>
                <a:path w="285750" h="9525">
                  <a:moveTo>
                    <a:pt x="0" y="0"/>
                  </a:moveTo>
                  <a:lnTo>
                    <a:pt x="285750" y="0"/>
                  </a:lnTo>
                </a:path>
              </a:pathLst>
            </a:custGeom>
            <a:noFill/>
            <a:ln w="23812">
              <a:solidFill>
                <a:srgbClr val="E04C2E"/>
              </a:solidFill>
            </a:ln>
          </p:spPr>
        </p:sp>
        <p:sp>
          <p:nvSpPr>
            <p:cNvPr id="76" name="Ellipse 76"/>
            <p:cNvSpPr/>
            <p:nvPr/>
          </p:nvSpPr>
          <p:spPr>
            <a:xfrm>
              <a:off x="2876550" y="2238375"/>
              <a:ext cx="57150" cy="57150"/>
            </a:xfrm>
            <a:prstGeom prst="ellipse">
              <a:avLst/>
            </a:prstGeom>
            <a:solidFill>
              <a:srgbClr val="E04C2E"/>
            </a:solidFill>
            <a:ln>
              <a:noFill/>
            </a:ln>
          </p:spPr>
        </p:sp>
        <p:sp>
          <p:nvSpPr>
            <p:cNvPr id="77" name="TextBox 77"/>
            <p:cNvSpPr txBox="1"/>
            <p:nvPr/>
          </p:nvSpPr>
          <p:spPr>
            <a:xfrm>
              <a:off x="3100388" y="2224088"/>
              <a:ext cx="413385" cy="147638"/>
            </a:xfrm>
            <a:prstGeom prst="rect">
              <a:avLst/>
            </a:prstGeom>
            <a:noFill/>
            <a:ln>
              <a:noFill/>
            </a:ln>
          </p:spPr>
          <p:txBody>
            <a:bodyPr wrap="none" lIns="0" tIns="0" rIns="0" bIns="0" anchor="t" anchorCtr="0">
              <a:spAutoFit/>
            </a:bodyPr>
            <a:lstStyle/>
            <a:p>
              <a:pPr algn="l"/>
              <a:r>
                <a:rPr lang="zh-CN" sz="750" dirty="0">
                  <a:solidFill>
                    <a:srgbClr val="70504A"/>
                  </a:solidFill>
                  <a:latin typeface="+mn-lt"/>
                  <a:ea typeface="+mn-ea"/>
                  <a:cs typeface="+mn-cs"/>
                </a:rPr>
                <a:t>对公存款</a:t>
              </a:r>
            </a:p>
          </p:txBody>
        </p:sp>
        <p:sp>
          <p:nvSpPr>
            <p:cNvPr id="78" name="Line 78"/>
            <p:cNvSpPr/>
            <p:nvPr/>
          </p:nvSpPr>
          <p:spPr>
            <a:xfrm>
              <a:off x="3867150" y="2266950"/>
              <a:ext cx="285750" cy="9525"/>
            </a:xfrm>
            <a:custGeom>
              <a:avLst/>
              <a:gdLst/>
              <a:ahLst/>
              <a:cxnLst/>
              <a:rect l="l" t="t" r="r" b="b"/>
              <a:pathLst>
                <a:path w="285750" h="9525">
                  <a:moveTo>
                    <a:pt x="0" y="0"/>
                  </a:moveTo>
                  <a:lnTo>
                    <a:pt x="285750" y="0"/>
                  </a:lnTo>
                </a:path>
              </a:pathLst>
            </a:custGeom>
            <a:noFill/>
            <a:ln w="19050">
              <a:solidFill>
                <a:srgbClr val="69281B"/>
              </a:solidFill>
              <a:custDash>
                <a:ds d="300000" sp="200000"/>
              </a:custDash>
            </a:ln>
          </p:spPr>
        </p:sp>
        <p:sp>
          <p:nvSpPr>
            <p:cNvPr id="79" name="Rectangle 79"/>
            <p:cNvSpPr/>
            <p:nvPr/>
          </p:nvSpPr>
          <p:spPr>
            <a:xfrm>
              <a:off x="3981450" y="2238375"/>
              <a:ext cx="57150" cy="57150"/>
            </a:xfrm>
            <a:prstGeom prst="rect">
              <a:avLst/>
            </a:prstGeom>
            <a:solidFill>
              <a:srgbClr val="69281B"/>
            </a:solidFill>
            <a:ln>
              <a:noFill/>
            </a:ln>
          </p:spPr>
        </p:sp>
        <p:sp>
          <p:nvSpPr>
            <p:cNvPr id="80" name="TextBox 80"/>
            <p:cNvSpPr txBox="1"/>
            <p:nvPr/>
          </p:nvSpPr>
          <p:spPr>
            <a:xfrm>
              <a:off x="4205288" y="2224088"/>
              <a:ext cx="413385" cy="147638"/>
            </a:xfrm>
            <a:prstGeom prst="rect">
              <a:avLst/>
            </a:prstGeom>
            <a:noFill/>
            <a:ln>
              <a:noFill/>
            </a:ln>
          </p:spPr>
          <p:txBody>
            <a:bodyPr wrap="none" lIns="0" tIns="0" rIns="0" bIns="0" anchor="t" anchorCtr="0">
              <a:spAutoFit/>
            </a:bodyPr>
            <a:lstStyle/>
            <a:p>
              <a:pPr algn="l"/>
              <a:r>
                <a:rPr lang="zh-CN" sz="750" dirty="0">
                  <a:solidFill>
                    <a:srgbClr val="70504A"/>
                  </a:solidFill>
                  <a:latin typeface="+mn-lt"/>
                  <a:ea typeface="+mn-ea"/>
                  <a:cs typeface="+mn-cs"/>
                </a:rPr>
                <a:t>对公贷款</a:t>
              </a:r>
            </a:p>
          </p:txBody>
        </p:sp>
        <p:sp>
          <p:nvSpPr>
            <p:cNvPr id="81" name="TextBox 81"/>
            <p:cNvSpPr txBox="1"/>
            <p:nvPr/>
          </p:nvSpPr>
          <p:spPr>
            <a:xfrm>
              <a:off x="4818799" y="2236232"/>
              <a:ext cx="1129563"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注：月末时点余额，示例数据</a:t>
              </a:r>
            </a:p>
          </p:txBody>
        </p:sp>
        <p:sp>
          <p:nvSpPr>
            <p:cNvPr id="82" name="Line 82"/>
            <p:cNvSpPr/>
            <p:nvPr/>
          </p:nvSpPr>
          <p:spPr>
            <a:xfrm>
              <a:off x="1047750" y="4038600"/>
              <a:ext cx="4667250" cy="9525"/>
            </a:xfrm>
            <a:custGeom>
              <a:avLst/>
              <a:gdLst/>
              <a:ahLst/>
              <a:cxnLst/>
              <a:rect l="l" t="t" r="r" b="b"/>
              <a:pathLst>
                <a:path w="4667250" h="9525">
                  <a:moveTo>
                    <a:pt x="0" y="0"/>
                  </a:moveTo>
                  <a:lnTo>
                    <a:pt x="4667250" y="0"/>
                  </a:lnTo>
                </a:path>
              </a:pathLst>
            </a:custGeom>
            <a:noFill/>
            <a:ln w="9525">
              <a:solidFill>
                <a:srgbClr val="C9D6E9"/>
              </a:solidFill>
            </a:ln>
          </p:spPr>
        </p:sp>
        <p:sp>
          <p:nvSpPr>
            <p:cNvPr id="83" name="Line 83"/>
            <p:cNvSpPr/>
            <p:nvPr/>
          </p:nvSpPr>
          <p:spPr>
            <a:xfrm>
              <a:off x="1047750" y="3710940"/>
              <a:ext cx="4667250" cy="9525"/>
            </a:xfrm>
            <a:custGeom>
              <a:avLst/>
              <a:gdLst/>
              <a:ahLst/>
              <a:cxnLst/>
              <a:rect l="l" t="t" r="r" b="b"/>
              <a:pathLst>
                <a:path w="4667250" h="9525">
                  <a:moveTo>
                    <a:pt x="0" y="0"/>
                  </a:moveTo>
                  <a:lnTo>
                    <a:pt x="4667250" y="0"/>
                  </a:lnTo>
                </a:path>
              </a:pathLst>
            </a:custGeom>
            <a:noFill/>
            <a:ln w="9525">
              <a:solidFill>
                <a:srgbClr val="EDF2FA"/>
              </a:solidFill>
            </a:ln>
          </p:spPr>
        </p:sp>
        <p:sp>
          <p:nvSpPr>
            <p:cNvPr id="84" name="Line 84"/>
            <p:cNvSpPr/>
            <p:nvPr/>
          </p:nvSpPr>
          <p:spPr>
            <a:xfrm>
              <a:off x="1047750" y="3383280"/>
              <a:ext cx="4667250" cy="9525"/>
            </a:xfrm>
            <a:custGeom>
              <a:avLst/>
              <a:gdLst/>
              <a:ahLst/>
              <a:cxnLst/>
              <a:rect l="l" t="t" r="r" b="b"/>
              <a:pathLst>
                <a:path w="4667250" h="9525">
                  <a:moveTo>
                    <a:pt x="0" y="0"/>
                  </a:moveTo>
                  <a:lnTo>
                    <a:pt x="4667250" y="0"/>
                  </a:lnTo>
                </a:path>
              </a:pathLst>
            </a:custGeom>
            <a:noFill/>
            <a:ln w="9525">
              <a:solidFill>
                <a:srgbClr val="EDF2FA"/>
              </a:solidFill>
            </a:ln>
          </p:spPr>
        </p:sp>
        <p:sp>
          <p:nvSpPr>
            <p:cNvPr id="85" name="Line 85"/>
            <p:cNvSpPr/>
            <p:nvPr/>
          </p:nvSpPr>
          <p:spPr>
            <a:xfrm>
              <a:off x="1047750" y="3054668"/>
              <a:ext cx="4667250" cy="9525"/>
            </a:xfrm>
            <a:custGeom>
              <a:avLst/>
              <a:gdLst/>
              <a:ahLst/>
              <a:cxnLst/>
              <a:rect l="l" t="t" r="r" b="b"/>
              <a:pathLst>
                <a:path w="4667250" h="9525">
                  <a:moveTo>
                    <a:pt x="0" y="0"/>
                  </a:moveTo>
                  <a:lnTo>
                    <a:pt x="4667250" y="0"/>
                  </a:lnTo>
                </a:path>
              </a:pathLst>
            </a:custGeom>
            <a:noFill/>
            <a:ln w="9525">
              <a:solidFill>
                <a:srgbClr val="EDF2FA"/>
              </a:solidFill>
            </a:ln>
          </p:spPr>
        </p:sp>
        <p:sp>
          <p:nvSpPr>
            <p:cNvPr id="86" name="Line 86"/>
            <p:cNvSpPr/>
            <p:nvPr/>
          </p:nvSpPr>
          <p:spPr>
            <a:xfrm>
              <a:off x="1047750" y="2727008"/>
              <a:ext cx="4667250" cy="9525"/>
            </a:xfrm>
            <a:custGeom>
              <a:avLst/>
              <a:gdLst/>
              <a:ahLst/>
              <a:cxnLst/>
              <a:rect l="l" t="t" r="r" b="b"/>
              <a:pathLst>
                <a:path w="4667250" h="9525">
                  <a:moveTo>
                    <a:pt x="0" y="0"/>
                  </a:moveTo>
                  <a:lnTo>
                    <a:pt x="4667250" y="0"/>
                  </a:lnTo>
                </a:path>
              </a:pathLst>
            </a:custGeom>
            <a:noFill/>
            <a:ln w="9525">
              <a:solidFill>
                <a:srgbClr val="EDF2FA"/>
              </a:solidFill>
            </a:ln>
          </p:spPr>
        </p:sp>
        <p:sp>
          <p:nvSpPr>
            <p:cNvPr id="87" name="Line 87"/>
            <p:cNvSpPr/>
            <p:nvPr/>
          </p:nvSpPr>
          <p:spPr>
            <a:xfrm>
              <a:off x="1047750" y="2400300"/>
              <a:ext cx="4667250" cy="9525"/>
            </a:xfrm>
            <a:custGeom>
              <a:avLst/>
              <a:gdLst/>
              <a:ahLst/>
              <a:cxnLst/>
              <a:rect l="l" t="t" r="r" b="b"/>
              <a:pathLst>
                <a:path w="4667250" h="9525">
                  <a:moveTo>
                    <a:pt x="0" y="0"/>
                  </a:moveTo>
                  <a:lnTo>
                    <a:pt x="4667250" y="0"/>
                  </a:lnTo>
                </a:path>
              </a:pathLst>
            </a:custGeom>
            <a:noFill/>
            <a:ln w="9525">
              <a:solidFill>
                <a:srgbClr val="EDF2FA"/>
              </a:solidFill>
            </a:ln>
          </p:spPr>
        </p:sp>
        <p:sp>
          <p:nvSpPr>
            <p:cNvPr id="88" name="TextBox 88"/>
            <p:cNvSpPr txBox="1"/>
            <p:nvPr/>
          </p:nvSpPr>
          <p:spPr>
            <a:xfrm>
              <a:off x="784446" y="3994309"/>
              <a:ext cx="210917"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200​</a:t>
              </a:r>
            </a:p>
          </p:txBody>
        </p:sp>
        <p:sp>
          <p:nvSpPr>
            <p:cNvPr id="89" name="TextBox 89"/>
            <p:cNvSpPr txBox="1"/>
            <p:nvPr/>
          </p:nvSpPr>
          <p:spPr>
            <a:xfrm>
              <a:off x="784446" y="3660934"/>
              <a:ext cx="210917"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230​</a:t>
              </a:r>
            </a:p>
          </p:txBody>
        </p:sp>
        <p:sp>
          <p:nvSpPr>
            <p:cNvPr id="90" name="TextBox 90"/>
            <p:cNvSpPr txBox="1"/>
            <p:nvPr/>
          </p:nvSpPr>
          <p:spPr>
            <a:xfrm>
              <a:off x="784446" y="3337084"/>
              <a:ext cx="210917"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260​</a:t>
              </a:r>
            </a:p>
          </p:txBody>
        </p:sp>
        <p:sp>
          <p:nvSpPr>
            <p:cNvPr id="91" name="TextBox 91"/>
            <p:cNvSpPr txBox="1"/>
            <p:nvPr/>
          </p:nvSpPr>
          <p:spPr>
            <a:xfrm>
              <a:off x="784446" y="3003709"/>
              <a:ext cx="210917"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290​</a:t>
              </a:r>
            </a:p>
          </p:txBody>
        </p:sp>
        <p:sp>
          <p:nvSpPr>
            <p:cNvPr id="92" name="TextBox 92"/>
            <p:cNvSpPr txBox="1"/>
            <p:nvPr/>
          </p:nvSpPr>
          <p:spPr>
            <a:xfrm>
              <a:off x="784446" y="2679859"/>
              <a:ext cx="210917"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320​</a:t>
              </a:r>
            </a:p>
          </p:txBody>
        </p:sp>
        <p:sp>
          <p:nvSpPr>
            <p:cNvPr id="93" name="TextBox 93"/>
            <p:cNvSpPr txBox="1"/>
            <p:nvPr/>
          </p:nvSpPr>
          <p:spPr>
            <a:xfrm>
              <a:off x="784446" y="2356009"/>
              <a:ext cx="210917"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350​</a:t>
              </a:r>
            </a:p>
          </p:txBody>
        </p:sp>
        <p:sp>
          <p:nvSpPr>
            <p:cNvPr id="94" name="Freeform 94"/>
            <p:cNvSpPr/>
            <p:nvPr/>
          </p:nvSpPr>
          <p:spPr>
            <a:xfrm>
              <a:off x="1428750" y="2660332"/>
              <a:ext cx="3810000" cy="400050"/>
            </a:xfrm>
            <a:custGeom>
              <a:avLst/>
              <a:gdLst/>
              <a:ahLst/>
              <a:cxnLst/>
              <a:rect l="l" t="t" r="r" b="b"/>
              <a:pathLst>
                <a:path w="3810000" h="400050">
                  <a:moveTo>
                    <a:pt x="0" y="250508"/>
                  </a:moveTo>
                  <a:lnTo>
                    <a:pt x="762000" y="191452"/>
                  </a:lnTo>
                  <a:lnTo>
                    <a:pt x="1524000" y="128588"/>
                  </a:lnTo>
                  <a:lnTo>
                    <a:pt x="2286000" y="59055"/>
                  </a:lnTo>
                  <a:lnTo>
                    <a:pt x="3048000" y="0"/>
                  </a:lnTo>
                  <a:lnTo>
                    <a:pt x="3810000" y="400050"/>
                  </a:lnTo>
                </a:path>
              </a:pathLst>
            </a:custGeom>
            <a:noFill/>
            <a:ln w="19050">
              <a:solidFill>
                <a:srgbClr val="69281B"/>
              </a:solidFill>
              <a:custDash>
                <a:ds d="300000" sp="200000"/>
              </a:custDash>
            </a:ln>
          </p:spPr>
        </p:sp>
        <p:sp>
          <p:nvSpPr>
            <p:cNvPr id="95" name="Rectangle 95"/>
            <p:cNvSpPr/>
            <p:nvPr/>
          </p:nvSpPr>
          <p:spPr>
            <a:xfrm>
              <a:off x="1404938" y="2887028"/>
              <a:ext cx="47625" cy="47625"/>
            </a:xfrm>
            <a:prstGeom prst="rect">
              <a:avLst/>
            </a:prstGeom>
            <a:solidFill>
              <a:srgbClr val="69281B"/>
            </a:solidFill>
            <a:ln>
              <a:noFill/>
            </a:ln>
          </p:spPr>
        </p:sp>
        <p:sp>
          <p:nvSpPr>
            <p:cNvPr id="96" name="Rectangle 96"/>
            <p:cNvSpPr/>
            <p:nvPr/>
          </p:nvSpPr>
          <p:spPr>
            <a:xfrm>
              <a:off x="2166938" y="2827972"/>
              <a:ext cx="47625" cy="47625"/>
            </a:xfrm>
            <a:prstGeom prst="rect">
              <a:avLst/>
            </a:prstGeom>
            <a:solidFill>
              <a:srgbClr val="69281B"/>
            </a:solidFill>
            <a:ln>
              <a:noFill/>
            </a:ln>
          </p:spPr>
        </p:sp>
        <p:sp>
          <p:nvSpPr>
            <p:cNvPr id="97" name="Rectangle 97"/>
            <p:cNvSpPr/>
            <p:nvPr/>
          </p:nvSpPr>
          <p:spPr>
            <a:xfrm>
              <a:off x="2928938" y="2765108"/>
              <a:ext cx="47625" cy="47625"/>
            </a:xfrm>
            <a:prstGeom prst="rect">
              <a:avLst/>
            </a:prstGeom>
            <a:solidFill>
              <a:srgbClr val="69281B"/>
            </a:solidFill>
            <a:ln>
              <a:noFill/>
            </a:ln>
          </p:spPr>
        </p:sp>
        <p:sp>
          <p:nvSpPr>
            <p:cNvPr id="98" name="Rectangle 98"/>
            <p:cNvSpPr/>
            <p:nvPr/>
          </p:nvSpPr>
          <p:spPr>
            <a:xfrm>
              <a:off x="3690938" y="2695575"/>
              <a:ext cx="47625" cy="47625"/>
            </a:xfrm>
            <a:prstGeom prst="rect">
              <a:avLst/>
            </a:prstGeom>
            <a:solidFill>
              <a:srgbClr val="69281B"/>
            </a:solidFill>
            <a:ln>
              <a:noFill/>
            </a:ln>
          </p:spPr>
        </p:sp>
        <p:sp>
          <p:nvSpPr>
            <p:cNvPr id="99" name="Rectangle 99"/>
            <p:cNvSpPr/>
            <p:nvPr/>
          </p:nvSpPr>
          <p:spPr>
            <a:xfrm>
              <a:off x="4452938" y="2636520"/>
              <a:ext cx="47625" cy="47625"/>
            </a:xfrm>
            <a:prstGeom prst="rect">
              <a:avLst/>
            </a:prstGeom>
            <a:solidFill>
              <a:srgbClr val="69281B"/>
            </a:solidFill>
            <a:ln>
              <a:noFill/>
            </a:ln>
          </p:spPr>
        </p:sp>
        <p:sp>
          <p:nvSpPr>
            <p:cNvPr id="100" name="Rectangle 100"/>
            <p:cNvSpPr/>
            <p:nvPr/>
          </p:nvSpPr>
          <p:spPr>
            <a:xfrm>
              <a:off x="5214938" y="3036570"/>
              <a:ext cx="47625" cy="47625"/>
            </a:xfrm>
            <a:prstGeom prst="rect">
              <a:avLst/>
            </a:prstGeom>
            <a:solidFill>
              <a:srgbClr val="69281B"/>
            </a:solidFill>
            <a:ln>
              <a:noFill/>
            </a:ln>
          </p:spPr>
        </p:sp>
        <p:sp>
          <p:nvSpPr>
            <p:cNvPr id="101" name="TextBox 101"/>
            <p:cNvSpPr txBox="1"/>
            <p:nvPr/>
          </p:nvSpPr>
          <p:spPr>
            <a:xfrm>
              <a:off x="1272944" y="2746534"/>
              <a:ext cx="311612" cy="133350"/>
            </a:xfrm>
            <a:prstGeom prst="rect">
              <a:avLst/>
            </a:prstGeom>
            <a:noFill/>
            <a:ln>
              <a:noFill/>
            </a:ln>
          </p:spPr>
          <p:txBody>
            <a:bodyPr wrap="none" lIns="0" tIns="0" rIns="0" bIns="0" anchor="t" anchorCtr="0">
              <a:spAutoFit/>
            </a:bodyPr>
            <a:lstStyle/>
            <a:p>
              <a:pPr algn="ctr"/>
              <a:r>
                <a:rPr lang="zh-CN" sz="680" dirty="0">
                  <a:solidFill>
                    <a:srgbClr val="69281B"/>
                  </a:solidFill>
                  <a:latin typeface="+mn-lt"/>
                  <a:ea typeface="+mn-ea"/>
                  <a:cs typeface="+mn-cs"/>
                </a:rPr>
                <a:t>298.2​</a:t>
              </a:r>
            </a:p>
          </p:txBody>
        </p:sp>
        <p:sp>
          <p:nvSpPr>
            <p:cNvPr id="102" name="TextBox 102"/>
            <p:cNvSpPr txBox="1"/>
            <p:nvPr/>
          </p:nvSpPr>
          <p:spPr>
            <a:xfrm>
              <a:off x="2034944" y="2689384"/>
              <a:ext cx="311612" cy="133350"/>
            </a:xfrm>
            <a:prstGeom prst="rect">
              <a:avLst/>
            </a:prstGeom>
            <a:noFill/>
            <a:ln>
              <a:noFill/>
            </a:ln>
          </p:spPr>
          <p:txBody>
            <a:bodyPr wrap="none" lIns="0" tIns="0" rIns="0" bIns="0" anchor="t" anchorCtr="0">
              <a:spAutoFit/>
            </a:bodyPr>
            <a:lstStyle/>
            <a:p>
              <a:pPr algn="ctr"/>
              <a:r>
                <a:rPr lang="zh-CN" sz="680" dirty="0">
                  <a:solidFill>
                    <a:srgbClr val="69281B"/>
                  </a:solidFill>
                  <a:latin typeface="+mn-lt"/>
                  <a:ea typeface="+mn-ea"/>
                  <a:cs typeface="+mn-cs"/>
                </a:rPr>
                <a:t>303.6​</a:t>
              </a:r>
            </a:p>
          </p:txBody>
        </p:sp>
        <p:sp>
          <p:nvSpPr>
            <p:cNvPr id="103" name="TextBox 103"/>
            <p:cNvSpPr txBox="1"/>
            <p:nvPr/>
          </p:nvSpPr>
          <p:spPr>
            <a:xfrm>
              <a:off x="2796944" y="2622709"/>
              <a:ext cx="311612" cy="133350"/>
            </a:xfrm>
            <a:prstGeom prst="rect">
              <a:avLst/>
            </a:prstGeom>
            <a:noFill/>
            <a:ln>
              <a:noFill/>
            </a:ln>
          </p:spPr>
          <p:txBody>
            <a:bodyPr wrap="none" lIns="0" tIns="0" rIns="0" bIns="0" anchor="t" anchorCtr="0">
              <a:spAutoFit/>
            </a:bodyPr>
            <a:lstStyle/>
            <a:p>
              <a:pPr algn="ctr"/>
              <a:r>
                <a:rPr lang="zh-CN" sz="680" dirty="0">
                  <a:solidFill>
                    <a:srgbClr val="69281B"/>
                  </a:solidFill>
                  <a:latin typeface="+mn-lt"/>
                  <a:ea typeface="+mn-ea"/>
                  <a:cs typeface="+mn-cs"/>
                </a:rPr>
                <a:t>309.4​</a:t>
              </a:r>
            </a:p>
          </p:txBody>
        </p:sp>
        <p:sp>
          <p:nvSpPr>
            <p:cNvPr id="104" name="TextBox 104"/>
            <p:cNvSpPr txBox="1"/>
            <p:nvPr/>
          </p:nvSpPr>
          <p:spPr>
            <a:xfrm>
              <a:off x="3558944" y="2556034"/>
              <a:ext cx="311612" cy="133350"/>
            </a:xfrm>
            <a:prstGeom prst="rect">
              <a:avLst/>
            </a:prstGeom>
            <a:noFill/>
            <a:ln>
              <a:noFill/>
            </a:ln>
          </p:spPr>
          <p:txBody>
            <a:bodyPr wrap="none" lIns="0" tIns="0" rIns="0" bIns="0" anchor="t" anchorCtr="0">
              <a:spAutoFit/>
            </a:bodyPr>
            <a:lstStyle/>
            <a:p>
              <a:pPr algn="ctr"/>
              <a:r>
                <a:rPr lang="zh-CN" sz="680" dirty="0">
                  <a:solidFill>
                    <a:srgbClr val="69281B"/>
                  </a:solidFill>
                  <a:latin typeface="+mn-lt"/>
                  <a:ea typeface="+mn-ea"/>
                  <a:cs typeface="+mn-cs"/>
                </a:rPr>
                <a:t>315.7​</a:t>
              </a:r>
            </a:p>
          </p:txBody>
        </p:sp>
        <p:sp>
          <p:nvSpPr>
            <p:cNvPr id="105" name="TextBox 105"/>
            <p:cNvSpPr txBox="1"/>
            <p:nvPr/>
          </p:nvSpPr>
          <p:spPr>
            <a:xfrm>
              <a:off x="4320944" y="2498884"/>
              <a:ext cx="311612" cy="133350"/>
            </a:xfrm>
            <a:prstGeom prst="rect">
              <a:avLst/>
            </a:prstGeom>
            <a:noFill/>
            <a:ln>
              <a:noFill/>
            </a:ln>
          </p:spPr>
          <p:txBody>
            <a:bodyPr wrap="none" lIns="0" tIns="0" rIns="0" bIns="0" anchor="t" anchorCtr="0">
              <a:spAutoFit/>
            </a:bodyPr>
            <a:lstStyle/>
            <a:p>
              <a:pPr algn="ctr"/>
              <a:r>
                <a:rPr lang="zh-CN" sz="680" dirty="0">
                  <a:solidFill>
                    <a:srgbClr val="69281B"/>
                  </a:solidFill>
                  <a:latin typeface="+mn-lt"/>
                  <a:ea typeface="+mn-ea"/>
                  <a:cs typeface="+mn-cs"/>
                </a:rPr>
                <a:t>321.2​</a:t>
              </a:r>
            </a:p>
          </p:txBody>
        </p:sp>
        <p:sp>
          <p:nvSpPr>
            <p:cNvPr id="106" name="TextBox 106"/>
            <p:cNvSpPr txBox="1"/>
            <p:nvPr/>
          </p:nvSpPr>
          <p:spPr>
            <a:xfrm>
              <a:off x="5082944" y="3146584"/>
              <a:ext cx="311612" cy="133350"/>
            </a:xfrm>
            <a:prstGeom prst="rect">
              <a:avLst/>
            </a:prstGeom>
            <a:noFill/>
            <a:ln>
              <a:noFill/>
            </a:ln>
          </p:spPr>
          <p:txBody>
            <a:bodyPr wrap="none" lIns="0" tIns="0" rIns="0" bIns="0" anchor="t" anchorCtr="0">
              <a:spAutoFit/>
            </a:bodyPr>
            <a:lstStyle/>
            <a:p>
              <a:pPr algn="ctr"/>
              <a:r>
                <a:rPr lang="zh-CN" sz="680" dirty="0">
                  <a:solidFill>
                    <a:srgbClr val="69281B"/>
                  </a:solidFill>
                  <a:latin typeface="+mn-lt"/>
                  <a:ea typeface="+mn-ea"/>
                  <a:cs typeface="+mn-cs"/>
                </a:rPr>
                <a:t>284.5​</a:t>
              </a:r>
            </a:p>
          </p:txBody>
        </p:sp>
        <p:sp>
          <p:nvSpPr>
            <p:cNvPr id="107" name="Freeform 107"/>
            <p:cNvSpPr/>
            <p:nvPr/>
          </p:nvSpPr>
          <p:spPr>
            <a:xfrm>
              <a:off x="1428750" y="2653665"/>
              <a:ext cx="3810000" cy="802957"/>
            </a:xfrm>
            <a:custGeom>
              <a:avLst/>
              <a:gdLst/>
              <a:ahLst/>
              <a:cxnLst/>
              <a:rect l="l" t="t" r="r" b="b"/>
              <a:pathLst>
                <a:path w="3810000" h="802957">
                  <a:moveTo>
                    <a:pt x="0" y="802957"/>
                  </a:moveTo>
                  <a:lnTo>
                    <a:pt x="762000" y="764857"/>
                  </a:lnTo>
                  <a:lnTo>
                    <a:pt x="1524000" y="711517"/>
                  </a:lnTo>
                  <a:lnTo>
                    <a:pt x="2286000" y="637222"/>
                  </a:lnTo>
                  <a:lnTo>
                    <a:pt x="3048000" y="559117"/>
                  </a:lnTo>
                  <a:lnTo>
                    <a:pt x="3810000" y="0"/>
                  </a:lnTo>
                </a:path>
              </a:pathLst>
            </a:custGeom>
            <a:noFill/>
            <a:ln w="23812">
              <a:solidFill>
                <a:srgbClr val="E04C2E"/>
              </a:solidFill>
            </a:ln>
          </p:spPr>
        </p:sp>
        <p:sp>
          <p:nvSpPr>
            <p:cNvPr id="108" name="Ellipse 108"/>
            <p:cNvSpPr/>
            <p:nvPr/>
          </p:nvSpPr>
          <p:spPr>
            <a:xfrm>
              <a:off x="1398270" y="3426142"/>
              <a:ext cx="60960" cy="60960"/>
            </a:xfrm>
            <a:prstGeom prst="ellipse">
              <a:avLst/>
            </a:prstGeom>
            <a:solidFill>
              <a:srgbClr val="FFFFFF"/>
            </a:solidFill>
            <a:ln w="17145">
              <a:solidFill>
                <a:srgbClr val="E04C2E"/>
              </a:solidFill>
            </a:ln>
          </p:spPr>
        </p:sp>
        <p:sp>
          <p:nvSpPr>
            <p:cNvPr id="109" name="Ellipse 109"/>
            <p:cNvSpPr/>
            <p:nvPr/>
          </p:nvSpPr>
          <p:spPr>
            <a:xfrm>
              <a:off x="2160270" y="3388042"/>
              <a:ext cx="60960" cy="60960"/>
            </a:xfrm>
            <a:prstGeom prst="ellipse">
              <a:avLst/>
            </a:prstGeom>
            <a:solidFill>
              <a:srgbClr val="FFFFFF"/>
            </a:solidFill>
            <a:ln w="17145">
              <a:solidFill>
                <a:srgbClr val="E04C2E"/>
              </a:solidFill>
            </a:ln>
          </p:spPr>
        </p:sp>
        <p:sp>
          <p:nvSpPr>
            <p:cNvPr id="110" name="Ellipse 110"/>
            <p:cNvSpPr/>
            <p:nvPr/>
          </p:nvSpPr>
          <p:spPr>
            <a:xfrm>
              <a:off x="2922270" y="3334702"/>
              <a:ext cx="60960" cy="60960"/>
            </a:xfrm>
            <a:prstGeom prst="ellipse">
              <a:avLst/>
            </a:prstGeom>
            <a:solidFill>
              <a:srgbClr val="FFFFFF"/>
            </a:solidFill>
            <a:ln w="17145">
              <a:solidFill>
                <a:srgbClr val="E04C2E"/>
              </a:solidFill>
            </a:ln>
          </p:spPr>
        </p:sp>
        <p:sp>
          <p:nvSpPr>
            <p:cNvPr id="111" name="Ellipse 111"/>
            <p:cNvSpPr/>
            <p:nvPr/>
          </p:nvSpPr>
          <p:spPr>
            <a:xfrm>
              <a:off x="3684270" y="3260408"/>
              <a:ext cx="60960" cy="60960"/>
            </a:xfrm>
            <a:prstGeom prst="ellipse">
              <a:avLst/>
            </a:prstGeom>
            <a:solidFill>
              <a:srgbClr val="FFFFFF"/>
            </a:solidFill>
            <a:ln w="17145">
              <a:solidFill>
                <a:srgbClr val="E04C2E"/>
              </a:solidFill>
            </a:ln>
          </p:spPr>
        </p:sp>
        <p:sp>
          <p:nvSpPr>
            <p:cNvPr id="112" name="Ellipse 112"/>
            <p:cNvSpPr/>
            <p:nvPr/>
          </p:nvSpPr>
          <p:spPr>
            <a:xfrm>
              <a:off x="4446270" y="3182302"/>
              <a:ext cx="60960" cy="60960"/>
            </a:xfrm>
            <a:prstGeom prst="ellipse">
              <a:avLst/>
            </a:prstGeom>
            <a:solidFill>
              <a:srgbClr val="FFFFFF"/>
            </a:solidFill>
            <a:ln w="17145">
              <a:solidFill>
                <a:srgbClr val="E04C2E"/>
              </a:solidFill>
            </a:ln>
          </p:spPr>
        </p:sp>
        <p:sp>
          <p:nvSpPr>
            <p:cNvPr id="113" name="Ellipse 113"/>
            <p:cNvSpPr/>
            <p:nvPr/>
          </p:nvSpPr>
          <p:spPr>
            <a:xfrm>
              <a:off x="5208270" y="2623185"/>
              <a:ext cx="60960" cy="60960"/>
            </a:xfrm>
            <a:prstGeom prst="ellipse">
              <a:avLst/>
            </a:prstGeom>
            <a:solidFill>
              <a:srgbClr val="FFFFFF"/>
            </a:solidFill>
            <a:ln w="17145">
              <a:solidFill>
                <a:srgbClr val="E04C2E"/>
              </a:solidFill>
            </a:ln>
          </p:spPr>
        </p:sp>
        <p:sp>
          <p:nvSpPr>
            <p:cNvPr id="114" name="TextBox 114"/>
            <p:cNvSpPr txBox="1"/>
            <p:nvPr/>
          </p:nvSpPr>
          <p:spPr>
            <a:xfrm>
              <a:off x="1272944" y="3546634"/>
              <a:ext cx="311612" cy="133350"/>
            </a:xfrm>
            <a:prstGeom prst="rect">
              <a:avLst/>
            </a:prstGeom>
            <a:noFill/>
            <a:ln>
              <a:noFill/>
            </a:ln>
          </p:spPr>
          <p:txBody>
            <a:bodyPr wrap="none" lIns="0" tIns="0" rIns="0" bIns="0" anchor="t" anchorCtr="0">
              <a:spAutoFit/>
            </a:bodyPr>
            <a:lstStyle/>
            <a:p>
              <a:pPr algn="ctr"/>
              <a:r>
                <a:rPr lang="zh-CN" sz="680" dirty="0">
                  <a:solidFill>
                    <a:srgbClr val="E04C2E"/>
                  </a:solidFill>
                  <a:latin typeface="+mn-lt"/>
                  <a:ea typeface="+mn-ea"/>
                  <a:cs typeface="+mn-cs"/>
                </a:rPr>
                <a:t>253.3​</a:t>
              </a:r>
            </a:p>
          </p:txBody>
        </p:sp>
        <p:sp>
          <p:nvSpPr>
            <p:cNvPr id="115" name="TextBox 115"/>
            <p:cNvSpPr txBox="1"/>
            <p:nvPr/>
          </p:nvSpPr>
          <p:spPr>
            <a:xfrm>
              <a:off x="2034944" y="3508534"/>
              <a:ext cx="311612" cy="133350"/>
            </a:xfrm>
            <a:prstGeom prst="rect">
              <a:avLst/>
            </a:prstGeom>
            <a:noFill/>
            <a:ln>
              <a:noFill/>
            </a:ln>
          </p:spPr>
          <p:txBody>
            <a:bodyPr wrap="none" lIns="0" tIns="0" rIns="0" bIns="0" anchor="t" anchorCtr="0">
              <a:spAutoFit/>
            </a:bodyPr>
            <a:lstStyle/>
            <a:p>
              <a:pPr algn="ctr"/>
              <a:r>
                <a:rPr lang="zh-CN" sz="680" dirty="0">
                  <a:solidFill>
                    <a:srgbClr val="E04C2E"/>
                  </a:solidFill>
                  <a:latin typeface="+mn-lt"/>
                  <a:ea typeface="+mn-ea"/>
                  <a:cs typeface="+mn-cs"/>
                </a:rPr>
                <a:t>256.8​</a:t>
              </a:r>
            </a:p>
          </p:txBody>
        </p:sp>
        <p:sp>
          <p:nvSpPr>
            <p:cNvPr id="116" name="TextBox 116"/>
            <p:cNvSpPr txBox="1"/>
            <p:nvPr/>
          </p:nvSpPr>
          <p:spPr>
            <a:xfrm>
              <a:off x="2796944" y="3451384"/>
              <a:ext cx="311612" cy="133350"/>
            </a:xfrm>
            <a:prstGeom prst="rect">
              <a:avLst/>
            </a:prstGeom>
            <a:noFill/>
            <a:ln>
              <a:noFill/>
            </a:ln>
          </p:spPr>
          <p:txBody>
            <a:bodyPr wrap="none" lIns="0" tIns="0" rIns="0" bIns="0" anchor="t" anchorCtr="0">
              <a:spAutoFit/>
            </a:bodyPr>
            <a:lstStyle/>
            <a:p>
              <a:pPr algn="ctr"/>
              <a:r>
                <a:rPr lang="zh-CN" sz="680" dirty="0">
                  <a:solidFill>
                    <a:srgbClr val="E04C2E"/>
                  </a:solidFill>
                  <a:latin typeface="+mn-lt"/>
                  <a:ea typeface="+mn-ea"/>
                  <a:cs typeface="+mn-cs"/>
                </a:rPr>
                <a:t>261.7​</a:t>
              </a:r>
            </a:p>
          </p:txBody>
        </p:sp>
        <p:sp>
          <p:nvSpPr>
            <p:cNvPr id="117" name="TextBox 117"/>
            <p:cNvSpPr txBox="1"/>
            <p:nvPr/>
          </p:nvSpPr>
          <p:spPr>
            <a:xfrm>
              <a:off x="3558944" y="3375184"/>
              <a:ext cx="311612" cy="133350"/>
            </a:xfrm>
            <a:prstGeom prst="rect">
              <a:avLst/>
            </a:prstGeom>
            <a:noFill/>
            <a:ln>
              <a:noFill/>
            </a:ln>
          </p:spPr>
          <p:txBody>
            <a:bodyPr wrap="none" lIns="0" tIns="0" rIns="0" bIns="0" anchor="t" anchorCtr="0">
              <a:spAutoFit/>
            </a:bodyPr>
            <a:lstStyle/>
            <a:p>
              <a:pPr algn="ctr"/>
              <a:r>
                <a:rPr lang="zh-CN" sz="680" dirty="0">
                  <a:solidFill>
                    <a:srgbClr val="E04C2E"/>
                  </a:solidFill>
                  <a:latin typeface="+mn-lt"/>
                  <a:ea typeface="+mn-ea"/>
                  <a:cs typeface="+mn-cs"/>
                </a:rPr>
                <a:t>268.5​</a:t>
              </a:r>
            </a:p>
          </p:txBody>
        </p:sp>
        <p:sp>
          <p:nvSpPr>
            <p:cNvPr id="118" name="TextBox 118"/>
            <p:cNvSpPr txBox="1"/>
            <p:nvPr/>
          </p:nvSpPr>
          <p:spPr>
            <a:xfrm>
              <a:off x="4320944" y="3298984"/>
              <a:ext cx="311612" cy="133350"/>
            </a:xfrm>
            <a:prstGeom prst="rect">
              <a:avLst/>
            </a:prstGeom>
            <a:noFill/>
            <a:ln>
              <a:noFill/>
            </a:ln>
          </p:spPr>
          <p:txBody>
            <a:bodyPr wrap="none" lIns="0" tIns="0" rIns="0" bIns="0" anchor="t" anchorCtr="0">
              <a:spAutoFit/>
            </a:bodyPr>
            <a:lstStyle/>
            <a:p>
              <a:pPr algn="ctr"/>
              <a:r>
                <a:rPr lang="zh-CN" sz="680" dirty="0">
                  <a:solidFill>
                    <a:srgbClr val="E04C2E"/>
                  </a:solidFill>
                  <a:latin typeface="+mn-lt"/>
                  <a:ea typeface="+mn-ea"/>
                  <a:cs typeface="+mn-cs"/>
                </a:rPr>
                <a:t>275.6​</a:t>
              </a:r>
            </a:p>
          </p:txBody>
        </p:sp>
        <p:sp>
          <p:nvSpPr>
            <p:cNvPr id="119" name="TextBox 119"/>
            <p:cNvSpPr txBox="1"/>
            <p:nvPr/>
          </p:nvSpPr>
          <p:spPr>
            <a:xfrm>
              <a:off x="5075392" y="2489359"/>
              <a:ext cx="326717" cy="133350"/>
            </a:xfrm>
            <a:prstGeom prst="rect">
              <a:avLst/>
            </a:prstGeom>
            <a:noFill/>
            <a:ln>
              <a:noFill/>
            </a:ln>
          </p:spPr>
          <p:txBody>
            <a:bodyPr wrap="none" lIns="0" tIns="0" rIns="0" bIns="0" anchor="t" anchorCtr="0">
              <a:spAutoFit/>
            </a:bodyPr>
            <a:lstStyle/>
            <a:p>
              <a:pPr algn="ctr"/>
              <a:r>
                <a:rPr lang="zh-CN" sz="680" b="1" dirty="0">
                  <a:solidFill>
                    <a:srgbClr val="E04C2E"/>
                  </a:solidFill>
                  <a:latin typeface="+mn-lt"/>
                  <a:ea typeface="+mn-ea"/>
                  <a:cs typeface="+mn-cs"/>
                </a:rPr>
                <a:t>326.8​</a:t>
              </a:r>
            </a:p>
          </p:txBody>
        </p:sp>
        <p:sp>
          <p:nvSpPr>
            <p:cNvPr id="120" name="TextBox 120"/>
            <p:cNvSpPr txBox="1"/>
            <p:nvPr/>
          </p:nvSpPr>
          <p:spPr>
            <a:xfrm>
              <a:off x="1323628" y="4123611"/>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1月​</a:t>
              </a:r>
            </a:p>
          </p:txBody>
        </p:sp>
        <p:sp>
          <p:nvSpPr>
            <p:cNvPr id="121" name="TextBox 121"/>
            <p:cNvSpPr txBox="1"/>
            <p:nvPr/>
          </p:nvSpPr>
          <p:spPr>
            <a:xfrm>
              <a:off x="2085628" y="4123611"/>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2月​</a:t>
              </a:r>
            </a:p>
          </p:txBody>
        </p:sp>
        <p:sp>
          <p:nvSpPr>
            <p:cNvPr id="122" name="TextBox 122"/>
            <p:cNvSpPr txBox="1"/>
            <p:nvPr/>
          </p:nvSpPr>
          <p:spPr>
            <a:xfrm>
              <a:off x="2847628" y="4123611"/>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3月​</a:t>
              </a:r>
            </a:p>
          </p:txBody>
        </p:sp>
        <p:sp>
          <p:nvSpPr>
            <p:cNvPr id="123" name="TextBox 123"/>
            <p:cNvSpPr txBox="1"/>
            <p:nvPr/>
          </p:nvSpPr>
          <p:spPr>
            <a:xfrm>
              <a:off x="3609628" y="4123611"/>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4月​</a:t>
              </a:r>
            </a:p>
          </p:txBody>
        </p:sp>
        <p:sp>
          <p:nvSpPr>
            <p:cNvPr id="124" name="TextBox 124"/>
            <p:cNvSpPr txBox="1"/>
            <p:nvPr/>
          </p:nvSpPr>
          <p:spPr>
            <a:xfrm>
              <a:off x="4371628" y="4123611"/>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5月​</a:t>
              </a:r>
            </a:p>
          </p:txBody>
        </p:sp>
        <p:sp>
          <p:nvSpPr>
            <p:cNvPr id="125" name="TextBox 125"/>
            <p:cNvSpPr txBox="1"/>
            <p:nvPr/>
          </p:nvSpPr>
          <p:spPr>
            <a:xfrm>
              <a:off x="5133628" y="4123611"/>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6月​</a:t>
              </a:r>
            </a:p>
          </p:txBody>
        </p:sp>
      </p:grpSp>
      <p:grpSp>
        <p:nvGrpSpPr>
          <p:cNvPr id="184" name="chart-rates"/>
          <p:cNvGrpSpPr/>
          <p:nvPr/>
        </p:nvGrpSpPr>
        <p:grpSpPr>
          <a:xfrm>
            <a:off x="6210300" y="1866900"/>
            <a:ext cx="5753100" cy="2400300"/>
            <a:chOff x="6210300" y="1866900"/>
            <a:chExt cx="5753100" cy="2400300"/>
          </a:xfrm>
        </p:grpSpPr>
        <p:sp>
          <p:nvSpPr>
            <p:cNvPr id="127" name="Rectangle 127"/>
            <p:cNvSpPr/>
            <p:nvPr/>
          </p:nvSpPr>
          <p:spPr>
            <a:xfrm>
              <a:off x="6210300" y="1866900"/>
              <a:ext cx="5753100" cy="2400300"/>
            </a:xfrm>
            <a:prstGeom prst="roundRect">
              <a:avLst>
                <a:gd name="adj" fmla="val 2381"/>
              </a:avLst>
            </a:prstGeom>
            <a:solidFill>
              <a:srgbClr val="FFFFFF"/>
            </a:solidFill>
            <a:ln w="9525">
              <a:solidFill>
                <a:srgbClr val="C9D6E9"/>
              </a:solidFill>
            </a:ln>
          </p:spPr>
        </p:sp>
        <p:sp>
          <p:nvSpPr>
            <p:cNvPr id="128" name="Freeform 128"/>
            <p:cNvSpPr/>
            <p:nvPr/>
          </p:nvSpPr>
          <p:spPr>
            <a:xfrm>
              <a:off x="6210300" y="1866900"/>
              <a:ext cx="5753100" cy="247650"/>
            </a:xfrm>
            <a:custGeom>
              <a:avLst/>
              <a:gdLst/>
              <a:ahLst/>
              <a:cxnLst/>
              <a:rect l="l" t="t" r="r" b="b"/>
              <a:pathLst>
                <a:path w="5753100" h="247650">
                  <a:moveTo>
                    <a:pt x="0" y="57150"/>
                  </a:moveTo>
                  <a:cubicBezTo>
                    <a:pt x="0" y="25587"/>
                    <a:pt x="25587" y="0"/>
                    <a:pt x="57150" y="0"/>
                  </a:cubicBezTo>
                  <a:lnTo>
                    <a:pt x="5695950" y="0"/>
                  </a:lnTo>
                  <a:cubicBezTo>
                    <a:pt x="5727513" y="0"/>
                    <a:pt x="5753100" y="25587"/>
                    <a:pt x="5753100" y="57150"/>
                  </a:cubicBezTo>
                  <a:lnTo>
                    <a:pt x="5753100" y="247650"/>
                  </a:lnTo>
                  <a:lnTo>
                    <a:pt x="0" y="247650"/>
                  </a:lnTo>
                  <a:close/>
                </a:path>
              </a:pathLst>
            </a:custGeom>
            <a:solidFill>
              <a:srgbClr val="69281B"/>
            </a:solidFill>
            <a:ln>
              <a:noFill/>
            </a:ln>
          </p:spPr>
        </p:sp>
        <p:sp>
          <p:nvSpPr>
            <p:cNvPr id="129" name="TextBox 129"/>
            <p:cNvSpPr txBox="1"/>
            <p:nvPr/>
          </p:nvSpPr>
          <p:spPr>
            <a:xfrm>
              <a:off x="8186481" y="1937147"/>
              <a:ext cx="1800738"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经营指标达成率（截至6月末）​</a:t>
              </a:r>
            </a:p>
          </p:txBody>
        </p:sp>
        <p:sp>
          <p:nvSpPr>
            <p:cNvPr id="130" name="Line 130"/>
            <p:cNvSpPr/>
            <p:nvPr/>
          </p:nvSpPr>
          <p:spPr>
            <a:xfrm>
              <a:off x="9734550" y="2400300"/>
              <a:ext cx="9525" cy="1600200"/>
            </a:xfrm>
            <a:custGeom>
              <a:avLst/>
              <a:gdLst/>
              <a:ahLst/>
              <a:cxnLst/>
              <a:rect l="l" t="t" r="r" b="b"/>
              <a:pathLst>
                <a:path w="9525" h="1600200">
                  <a:moveTo>
                    <a:pt x="0" y="0"/>
                  </a:moveTo>
                  <a:lnTo>
                    <a:pt x="0" y="1600200"/>
                  </a:lnTo>
                </a:path>
              </a:pathLst>
            </a:custGeom>
            <a:noFill/>
            <a:ln w="9525">
              <a:solidFill>
                <a:srgbClr val="BEA09A"/>
              </a:solidFill>
              <a:custDash>
                <a:ds d="300000" sp="300000"/>
              </a:custDash>
            </a:ln>
          </p:spPr>
        </p:sp>
        <p:sp>
          <p:nvSpPr>
            <p:cNvPr id="131" name="TextBox 131"/>
            <p:cNvSpPr txBox="1"/>
            <p:nvPr/>
          </p:nvSpPr>
          <p:spPr>
            <a:xfrm>
              <a:off x="9516549" y="2293382"/>
              <a:ext cx="436001"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目标100%​</a:t>
              </a:r>
            </a:p>
          </p:txBody>
        </p:sp>
        <p:grpSp>
          <p:nvGrpSpPr>
            <p:cNvPr id="140" name="Group 140"/>
            <p:cNvGrpSpPr/>
            <p:nvPr/>
          </p:nvGrpSpPr>
          <p:grpSpPr>
            <a:xfrm>
              <a:off x="6359128" y="2520553"/>
              <a:ext cx="97235" cy="102394"/>
              <a:chOff x="6359128" y="2520553"/>
              <a:chExt cx="97235" cy="102394"/>
            </a:xfrm>
          </p:grpSpPr>
          <p:sp>
            <p:nvSpPr>
              <p:cNvPr id="132" name="Freeform 132"/>
              <p:cNvSpPr/>
              <p:nvPr/>
            </p:nvSpPr>
            <p:spPr>
              <a:xfrm>
                <a:off x="6359128" y="2613422"/>
                <a:ext cx="92869" cy="9525"/>
              </a:xfrm>
              <a:custGeom>
                <a:avLst/>
                <a:gdLst/>
                <a:ahLst/>
                <a:cxnLst/>
                <a:rect l="l" t="t" r="r" b="b"/>
                <a:pathLst>
                  <a:path w="92869" h="9525">
                    <a:moveTo>
                      <a:pt x="0" y="0"/>
                    </a:moveTo>
                    <a:lnTo>
                      <a:pt x="92869" y="0"/>
                    </a:lnTo>
                  </a:path>
                </a:pathLst>
              </a:custGeom>
              <a:noFill/>
              <a:ln w="10319">
                <a:solidFill>
                  <a:srgbClr val="69281B"/>
                </a:solidFill>
              </a:ln>
            </p:spPr>
          </p:sp>
          <p:sp>
            <p:nvSpPr>
              <p:cNvPr id="133" name="Freeform 133"/>
              <p:cNvSpPr/>
              <p:nvPr/>
            </p:nvSpPr>
            <p:spPr>
              <a:xfrm>
                <a:off x="6359128" y="2556669"/>
                <a:ext cx="92869" cy="9525"/>
              </a:xfrm>
              <a:custGeom>
                <a:avLst/>
                <a:gdLst/>
                <a:ahLst/>
                <a:cxnLst/>
                <a:rect l="l" t="t" r="r" b="b"/>
                <a:pathLst>
                  <a:path w="92869" h="9525">
                    <a:moveTo>
                      <a:pt x="0" y="0"/>
                    </a:moveTo>
                    <a:lnTo>
                      <a:pt x="92869" y="0"/>
                    </a:lnTo>
                  </a:path>
                </a:pathLst>
              </a:custGeom>
              <a:noFill/>
              <a:ln w="10319">
                <a:solidFill>
                  <a:srgbClr val="69281B"/>
                </a:solidFill>
              </a:ln>
            </p:spPr>
          </p:sp>
          <p:sp>
            <p:nvSpPr>
              <p:cNvPr id="134" name="Freeform 134"/>
              <p:cNvSpPr/>
              <p:nvPr/>
            </p:nvSpPr>
            <p:spPr>
              <a:xfrm>
                <a:off x="6369447" y="2520553"/>
                <a:ext cx="72231" cy="15478"/>
              </a:xfrm>
              <a:custGeom>
                <a:avLst/>
                <a:gdLst/>
                <a:ahLst/>
                <a:cxnLst/>
                <a:rect l="l" t="t" r="r" b="b"/>
                <a:pathLst>
                  <a:path w="72231" h="15478">
                    <a:moveTo>
                      <a:pt x="0" y="15478"/>
                    </a:moveTo>
                    <a:lnTo>
                      <a:pt x="36116" y="0"/>
                    </a:lnTo>
                    <a:lnTo>
                      <a:pt x="72231" y="15478"/>
                    </a:lnTo>
                  </a:path>
                </a:pathLst>
              </a:custGeom>
              <a:noFill/>
              <a:ln w="10319">
                <a:solidFill>
                  <a:srgbClr val="69281B"/>
                </a:solidFill>
              </a:ln>
            </p:spPr>
          </p:sp>
          <p:sp>
            <p:nvSpPr>
              <p:cNvPr id="135" name="Freeform 135"/>
              <p:cNvSpPr/>
              <p:nvPr/>
            </p:nvSpPr>
            <p:spPr>
              <a:xfrm>
                <a:off x="6364288" y="2556669"/>
                <a:ext cx="9525" cy="56753"/>
              </a:xfrm>
              <a:custGeom>
                <a:avLst/>
                <a:gdLst/>
                <a:ahLst/>
                <a:cxnLst/>
                <a:rect l="l" t="t" r="r" b="b"/>
                <a:pathLst>
                  <a:path w="9525" h="56753">
                    <a:moveTo>
                      <a:pt x="0" y="0"/>
                    </a:moveTo>
                    <a:lnTo>
                      <a:pt x="0" y="56753"/>
                    </a:lnTo>
                  </a:path>
                </a:pathLst>
              </a:custGeom>
              <a:noFill/>
              <a:ln w="10319">
                <a:solidFill>
                  <a:srgbClr val="69281B"/>
                </a:solidFill>
              </a:ln>
            </p:spPr>
          </p:sp>
          <p:sp>
            <p:nvSpPr>
              <p:cNvPr id="136" name="Freeform 136"/>
              <p:cNvSpPr/>
              <p:nvPr/>
            </p:nvSpPr>
            <p:spPr>
              <a:xfrm>
                <a:off x="6446838" y="2556669"/>
                <a:ext cx="9525" cy="56753"/>
              </a:xfrm>
              <a:custGeom>
                <a:avLst/>
                <a:gdLst/>
                <a:ahLst/>
                <a:cxnLst/>
                <a:rect l="l" t="t" r="r" b="b"/>
                <a:pathLst>
                  <a:path w="9525" h="56753">
                    <a:moveTo>
                      <a:pt x="0" y="0"/>
                    </a:moveTo>
                    <a:lnTo>
                      <a:pt x="0" y="56753"/>
                    </a:lnTo>
                  </a:path>
                </a:pathLst>
              </a:custGeom>
              <a:noFill/>
              <a:ln w="10319">
                <a:solidFill>
                  <a:srgbClr val="69281B"/>
                </a:solidFill>
              </a:ln>
            </p:spPr>
          </p:sp>
          <p:sp>
            <p:nvSpPr>
              <p:cNvPr id="137" name="Freeform 137"/>
              <p:cNvSpPr/>
              <p:nvPr/>
            </p:nvSpPr>
            <p:spPr>
              <a:xfrm>
                <a:off x="6384925" y="2577306"/>
                <a:ext cx="9525" cy="15478"/>
              </a:xfrm>
              <a:custGeom>
                <a:avLst/>
                <a:gdLst/>
                <a:ahLst/>
                <a:cxnLst/>
                <a:rect l="l" t="t" r="r" b="b"/>
                <a:pathLst>
                  <a:path w="9525" h="15478">
                    <a:moveTo>
                      <a:pt x="0" y="0"/>
                    </a:moveTo>
                    <a:lnTo>
                      <a:pt x="0" y="15478"/>
                    </a:lnTo>
                  </a:path>
                </a:pathLst>
              </a:custGeom>
              <a:noFill/>
              <a:ln w="10319">
                <a:solidFill>
                  <a:srgbClr val="69281B"/>
                </a:solidFill>
              </a:ln>
            </p:spPr>
          </p:sp>
          <p:sp>
            <p:nvSpPr>
              <p:cNvPr id="138" name="Freeform 138"/>
              <p:cNvSpPr/>
              <p:nvPr/>
            </p:nvSpPr>
            <p:spPr>
              <a:xfrm>
                <a:off x="6405563" y="2577306"/>
                <a:ext cx="9525" cy="15478"/>
              </a:xfrm>
              <a:custGeom>
                <a:avLst/>
                <a:gdLst/>
                <a:ahLst/>
                <a:cxnLst/>
                <a:rect l="l" t="t" r="r" b="b"/>
                <a:pathLst>
                  <a:path w="9525" h="15478">
                    <a:moveTo>
                      <a:pt x="0" y="0"/>
                    </a:moveTo>
                    <a:lnTo>
                      <a:pt x="0" y="15478"/>
                    </a:lnTo>
                  </a:path>
                </a:pathLst>
              </a:custGeom>
              <a:noFill/>
              <a:ln w="10319">
                <a:solidFill>
                  <a:srgbClr val="69281B"/>
                </a:solidFill>
              </a:ln>
            </p:spPr>
          </p:sp>
          <p:sp>
            <p:nvSpPr>
              <p:cNvPr id="139" name="Freeform 139"/>
              <p:cNvSpPr/>
              <p:nvPr/>
            </p:nvSpPr>
            <p:spPr>
              <a:xfrm>
                <a:off x="6426200" y="2577306"/>
                <a:ext cx="9525" cy="15478"/>
              </a:xfrm>
              <a:custGeom>
                <a:avLst/>
                <a:gdLst/>
                <a:ahLst/>
                <a:cxnLst/>
                <a:rect l="l" t="t" r="r" b="b"/>
                <a:pathLst>
                  <a:path w="9525" h="15478">
                    <a:moveTo>
                      <a:pt x="0" y="0"/>
                    </a:moveTo>
                    <a:lnTo>
                      <a:pt x="0" y="15478"/>
                    </a:lnTo>
                  </a:path>
                </a:pathLst>
              </a:custGeom>
              <a:noFill/>
              <a:ln w="10319">
                <a:solidFill>
                  <a:srgbClr val="69281B"/>
                </a:solidFill>
              </a:ln>
            </p:spPr>
          </p:sp>
        </p:grpSp>
        <p:sp>
          <p:nvSpPr>
            <p:cNvPr id="141" name="TextBox 141"/>
            <p:cNvSpPr txBox="1"/>
            <p:nvPr/>
          </p:nvSpPr>
          <p:spPr>
            <a:xfrm>
              <a:off x="6510338" y="2524839"/>
              <a:ext cx="860323" cy="154781"/>
            </a:xfrm>
            <a:prstGeom prst="rect">
              <a:avLst/>
            </a:prstGeom>
            <a:noFill/>
            <a:ln>
              <a:noFill/>
            </a:ln>
          </p:spPr>
          <p:txBody>
            <a:bodyPr wrap="none" lIns="0" tIns="0" rIns="0" bIns="0" anchor="t" anchorCtr="0">
              <a:spAutoFit/>
            </a:bodyPr>
            <a:lstStyle/>
            <a:p>
              <a:pPr algn="l"/>
              <a:r>
                <a:rPr lang="zh-CN" sz="790" dirty="0">
                  <a:solidFill>
                    <a:srgbClr val="70504A"/>
                  </a:solidFill>
                  <a:latin typeface="+mn-lt"/>
                  <a:ea typeface="+mn-ea"/>
                  <a:cs typeface="+mn-cs"/>
                </a:rPr>
                <a:t>对公存款时点余额</a:t>
              </a:r>
            </a:p>
          </p:txBody>
        </p:sp>
        <p:sp>
          <p:nvSpPr>
            <p:cNvPr id="142" name="Rectangle 142"/>
            <p:cNvSpPr/>
            <p:nvPr/>
          </p:nvSpPr>
          <p:spPr>
            <a:xfrm>
              <a:off x="7677150" y="2505075"/>
              <a:ext cx="3086100" cy="133350"/>
            </a:xfrm>
            <a:prstGeom prst="roundRect">
              <a:avLst>
                <a:gd name="adj" fmla="val 21429"/>
              </a:avLst>
            </a:prstGeom>
            <a:solidFill>
              <a:srgbClr val="EDF2FA"/>
            </a:solidFill>
            <a:ln>
              <a:noFill/>
            </a:ln>
          </p:spPr>
        </p:sp>
        <p:sp>
          <p:nvSpPr>
            <p:cNvPr id="143" name="Rectangle 143"/>
            <p:cNvSpPr/>
            <p:nvPr/>
          </p:nvSpPr>
          <p:spPr>
            <a:xfrm>
              <a:off x="7677150" y="2505075"/>
              <a:ext cx="2229802" cy="133350"/>
            </a:xfrm>
            <a:prstGeom prst="roundRect">
              <a:avLst>
                <a:gd name="adj" fmla="val 21429"/>
              </a:avLst>
            </a:prstGeom>
            <a:solidFill>
              <a:srgbClr val="E04C2E"/>
            </a:solidFill>
            <a:ln>
              <a:noFill/>
            </a:ln>
          </p:spPr>
        </p:sp>
        <p:sp>
          <p:nvSpPr>
            <p:cNvPr id="144" name="TextBox 144"/>
            <p:cNvSpPr txBox="1"/>
            <p:nvPr/>
          </p:nvSpPr>
          <p:spPr>
            <a:xfrm>
              <a:off x="10853738" y="2530316"/>
              <a:ext cx="478952"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108.4%​</a:t>
              </a:r>
            </a:p>
          </p:txBody>
        </p:sp>
        <p:grpSp>
          <p:nvGrpSpPr>
            <p:cNvPr id="147" name="Group 147"/>
            <p:cNvGrpSpPr/>
            <p:nvPr/>
          </p:nvGrpSpPr>
          <p:grpSpPr>
            <a:xfrm>
              <a:off x="6364288" y="2849563"/>
              <a:ext cx="82549" cy="82550"/>
              <a:chOff x="6364288" y="2849563"/>
              <a:chExt cx="82549" cy="82550"/>
            </a:xfrm>
          </p:grpSpPr>
          <p:sp>
            <p:nvSpPr>
              <p:cNvPr id="145" name="Freeform 145"/>
              <p:cNvSpPr/>
              <p:nvPr/>
            </p:nvSpPr>
            <p:spPr>
              <a:xfrm>
                <a:off x="6364288" y="2849563"/>
                <a:ext cx="77391" cy="82550"/>
              </a:xfrm>
              <a:custGeom>
                <a:avLst/>
                <a:gdLst/>
                <a:ahLst/>
                <a:cxnLst/>
                <a:rect l="l" t="t" r="r" b="b"/>
                <a:pathLst>
                  <a:path w="77391" h="82550">
                    <a:moveTo>
                      <a:pt x="67072" y="20638"/>
                    </a:moveTo>
                    <a:lnTo>
                      <a:pt x="67072" y="5159"/>
                    </a:lnTo>
                    <a:cubicBezTo>
                      <a:pt x="67072" y="2310"/>
                      <a:pt x="64762" y="0"/>
                      <a:pt x="61913" y="0"/>
                    </a:cubicBezTo>
                    <a:lnTo>
                      <a:pt x="10319" y="0"/>
                    </a:lnTo>
                    <a:cubicBezTo>
                      <a:pt x="4620" y="0"/>
                      <a:pt x="0" y="4620"/>
                      <a:pt x="0" y="10319"/>
                    </a:cubicBezTo>
                    <a:cubicBezTo>
                      <a:pt x="0" y="16018"/>
                      <a:pt x="4620" y="20638"/>
                      <a:pt x="10319" y="20638"/>
                    </a:cubicBezTo>
                    <a:lnTo>
                      <a:pt x="72231" y="20638"/>
                    </a:lnTo>
                    <a:cubicBezTo>
                      <a:pt x="75081" y="20638"/>
                      <a:pt x="77391" y="22947"/>
                      <a:pt x="77391" y="25797"/>
                    </a:cubicBezTo>
                    <a:lnTo>
                      <a:pt x="77391" y="41275"/>
                    </a:lnTo>
                    <a:moveTo>
                      <a:pt x="77391" y="61913"/>
                    </a:moveTo>
                    <a:lnTo>
                      <a:pt x="77391" y="77391"/>
                    </a:lnTo>
                    <a:cubicBezTo>
                      <a:pt x="77391" y="80240"/>
                      <a:pt x="75081" y="82550"/>
                      <a:pt x="72231" y="82550"/>
                    </a:cubicBezTo>
                    <a:lnTo>
                      <a:pt x="10319" y="82550"/>
                    </a:lnTo>
                    <a:cubicBezTo>
                      <a:pt x="4620" y="82550"/>
                      <a:pt x="0" y="77930"/>
                      <a:pt x="0" y="72231"/>
                    </a:cubicBezTo>
                    <a:lnTo>
                      <a:pt x="0" y="10319"/>
                    </a:lnTo>
                  </a:path>
                </a:pathLst>
              </a:custGeom>
              <a:noFill/>
              <a:ln w="10319">
                <a:solidFill>
                  <a:srgbClr val="69281B"/>
                </a:solidFill>
              </a:ln>
            </p:spPr>
          </p:sp>
          <p:sp>
            <p:nvSpPr>
              <p:cNvPr id="146" name="Freeform 146"/>
              <p:cNvSpPr/>
              <p:nvPr/>
            </p:nvSpPr>
            <p:spPr>
              <a:xfrm>
                <a:off x="6415881" y="2890838"/>
                <a:ext cx="30956" cy="20638"/>
              </a:xfrm>
              <a:custGeom>
                <a:avLst/>
                <a:gdLst/>
                <a:ahLst/>
                <a:cxnLst/>
                <a:rect l="l" t="t" r="r" b="b"/>
                <a:pathLst>
                  <a:path w="30956" h="20638">
                    <a:moveTo>
                      <a:pt x="30956" y="0"/>
                    </a:moveTo>
                    <a:lnTo>
                      <a:pt x="30956" y="20638"/>
                    </a:lnTo>
                    <a:lnTo>
                      <a:pt x="10319" y="20638"/>
                    </a:lnTo>
                    <a:cubicBezTo>
                      <a:pt x="4620" y="20638"/>
                      <a:pt x="0" y="16018"/>
                      <a:pt x="0" y="10319"/>
                    </a:cubicBezTo>
                    <a:cubicBezTo>
                      <a:pt x="0" y="4620"/>
                      <a:pt x="4620" y="0"/>
                      <a:pt x="10319" y="0"/>
                    </a:cubicBezTo>
                    <a:lnTo>
                      <a:pt x="30956" y="0"/>
                    </a:lnTo>
                  </a:path>
                </a:pathLst>
              </a:custGeom>
              <a:noFill/>
              <a:ln w="10319">
                <a:solidFill>
                  <a:srgbClr val="69281B"/>
                </a:solidFill>
              </a:ln>
            </p:spPr>
          </p:sp>
        </p:grpSp>
        <p:sp>
          <p:nvSpPr>
            <p:cNvPr id="148" name="TextBox 148"/>
            <p:cNvSpPr txBox="1"/>
            <p:nvPr/>
          </p:nvSpPr>
          <p:spPr>
            <a:xfrm>
              <a:off x="6510338" y="2848689"/>
              <a:ext cx="647624" cy="154781"/>
            </a:xfrm>
            <a:prstGeom prst="rect">
              <a:avLst/>
            </a:prstGeom>
            <a:noFill/>
            <a:ln>
              <a:noFill/>
            </a:ln>
          </p:spPr>
          <p:txBody>
            <a:bodyPr wrap="none" lIns="0" tIns="0" rIns="0" bIns="0" anchor="t" anchorCtr="0">
              <a:spAutoFit/>
            </a:bodyPr>
            <a:lstStyle/>
            <a:p>
              <a:pPr algn="l"/>
              <a:r>
                <a:rPr lang="zh-CN" sz="790" dirty="0">
                  <a:solidFill>
                    <a:srgbClr val="70504A"/>
                  </a:solidFill>
                  <a:latin typeface="+mn-lt"/>
                  <a:ea typeface="+mn-ea"/>
                  <a:cs typeface="+mn-cs"/>
                </a:rPr>
                <a:t>对公贷款余额</a:t>
              </a:r>
            </a:p>
          </p:txBody>
        </p:sp>
        <p:sp>
          <p:nvSpPr>
            <p:cNvPr id="149" name="Rectangle 149"/>
            <p:cNvSpPr/>
            <p:nvPr/>
          </p:nvSpPr>
          <p:spPr>
            <a:xfrm>
              <a:off x="7677150" y="2828925"/>
              <a:ext cx="3086100" cy="133350"/>
            </a:xfrm>
            <a:prstGeom prst="roundRect">
              <a:avLst>
                <a:gd name="adj" fmla="val 21429"/>
              </a:avLst>
            </a:prstGeom>
            <a:solidFill>
              <a:srgbClr val="EDF2FA"/>
            </a:solidFill>
            <a:ln>
              <a:noFill/>
            </a:ln>
          </p:spPr>
        </p:sp>
        <p:sp>
          <p:nvSpPr>
            <p:cNvPr id="150" name="Rectangle 150"/>
            <p:cNvSpPr/>
            <p:nvPr/>
          </p:nvSpPr>
          <p:spPr>
            <a:xfrm>
              <a:off x="7677150" y="2828925"/>
              <a:ext cx="2154555" cy="133350"/>
            </a:xfrm>
            <a:prstGeom prst="roundRect">
              <a:avLst>
                <a:gd name="adj" fmla="val 21429"/>
              </a:avLst>
            </a:prstGeom>
            <a:solidFill>
              <a:srgbClr val="E04C2E"/>
            </a:solidFill>
            <a:ln>
              <a:noFill/>
            </a:ln>
          </p:spPr>
        </p:sp>
        <p:sp>
          <p:nvSpPr>
            <p:cNvPr id="151" name="TextBox 151"/>
            <p:cNvSpPr txBox="1"/>
            <p:nvPr/>
          </p:nvSpPr>
          <p:spPr>
            <a:xfrm>
              <a:off x="10853738" y="2854166"/>
              <a:ext cx="478952"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104.7%​</a:t>
              </a:r>
            </a:p>
          </p:txBody>
        </p:sp>
        <p:grpSp>
          <p:nvGrpSpPr>
            <p:cNvPr id="156" name="Group 156"/>
            <p:cNvGrpSpPr/>
            <p:nvPr/>
          </p:nvGrpSpPr>
          <p:grpSpPr>
            <a:xfrm>
              <a:off x="6359128" y="3168253"/>
              <a:ext cx="92869" cy="92869"/>
              <a:chOff x="6359128" y="3168253"/>
              <a:chExt cx="92869" cy="92869"/>
            </a:xfrm>
          </p:grpSpPr>
          <p:sp>
            <p:nvSpPr>
              <p:cNvPr id="152" name="Freeform 152"/>
              <p:cNvSpPr/>
              <p:nvPr/>
            </p:nvSpPr>
            <p:spPr>
              <a:xfrm>
                <a:off x="6369447" y="3168253"/>
                <a:ext cx="41275" cy="41275"/>
              </a:xfrm>
              <a:custGeom>
                <a:avLst/>
                <a:gdLst/>
                <a:ahLst/>
                <a:cxnLst/>
                <a:rect l="l" t="t" r="r" b="b"/>
                <a:pathLst>
                  <a:path w="41275" h="41275">
                    <a:moveTo>
                      <a:pt x="0" y="20638"/>
                    </a:moveTo>
                    <a:cubicBezTo>
                      <a:pt x="0" y="32035"/>
                      <a:pt x="9240" y="41275"/>
                      <a:pt x="20638" y="41275"/>
                    </a:cubicBezTo>
                    <a:cubicBezTo>
                      <a:pt x="32035" y="41275"/>
                      <a:pt x="41275" y="32035"/>
                      <a:pt x="41275" y="20638"/>
                    </a:cubicBezTo>
                    <a:cubicBezTo>
                      <a:pt x="41275" y="9240"/>
                      <a:pt x="32035" y="0"/>
                      <a:pt x="20638" y="0"/>
                    </a:cubicBezTo>
                    <a:cubicBezTo>
                      <a:pt x="9240" y="0"/>
                      <a:pt x="0" y="9240"/>
                      <a:pt x="0" y="20638"/>
                    </a:cubicBezTo>
                  </a:path>
                </a:pathLst>
              </a:custGeom>
              <a:noFill/>
              <a:ln w="10319">
                <a:solidFill>
                  <a:srgbClr val="69281B"/>
                </a:solidFill>
              </a:ln>
            </p:spPr>
          </p:sp>
          <p:sp>
            <p:nvSpPr>
              <p:cNvPr id="153" name="Freeform 153"/>
              <p:cNvSpPr/>
              <p:nvPr/>
            </p:nvSpPr>
            <p:spPr>
              <a:xfrm>
                <a:off x="6359128" y="3230166"/>
                <a:ext cx="61913" cy="30956"/>
              </a:xfrm>
              <a:custGeom>
                <a:avLst/>
                <a:gdLst/>
                <a:ahLst/>
                <a:cxnLst/>
                <a:rect l="l" t="t" r="r" b="b"/>
                <a:pathLst>
                  <a:path w="61913" h="30956">
                    <a:moveTo>
                      <a:pt x="0" y="30956"/>
                    </a:moveTo>
                    <a:lnTo>
                      <a:pt x="0" y="20638"/>
                    </a:lnTo>
                    <a:cubicBezTo>
                      <a:pt x="0" y="9240"/>
                      <a:pt x="9240" y="0"/>
                      <a:pt x="20638" y="0"/>
                    </a:cubicBezTo>
                    <a:lnTo>
                      <a:pt x="41275" y="0"/>
                    </a:lnTo>
                    <a:cubicBezTo>
                      <a:pt x="52673" y="0"/>
                      <a:pt x="61913" y="9240"/>
                      <a:pt x="61913" y="20638"/>
                    </a:cubicBezTo>
                    <a:lnTo>
                      <a:pt x="61913" y="30956"/>
                    </a:lnTo>
                  </a:path>
                </a:pathLst>
              </a:custGeom>
              <a:noFill/>
              <a:ln w="10319">
                <a:solidFill>
                  <a:srgbClr val="69281B"/>
                </a:solidFill>
              </a:ln>
            </p:spPr>
          </p:sp>
          <p:sp>
            <p:nvSpPr>
              <p:cNvPr id="154" name="Freeform 154"/>
              <p:cNvSpPr/>
              <p:nvPr/>
            </p:nvSpPr>
            <p:spPr>
              <a:xfrm>
                <a:off x="6426200" y="3168924"/>
                <a:ext cx="15519" cy="39985"/>
              </a:xfrm>
              <a:custGeom>
                <a:avLst/>
                <a:gdLst/>
                <a:ahLst/>
                <a:cxnLst/>
                <a:rect l="l" t="t" r="r" b="b"/>
                <a:pathLst>
                  <a:path w="15519" h="39985">
                    <a:moveTo>
                      <a:pt x="0" y="0"/>
                    </a:moveTo>
                    <a:cubicBezTo>
                      <a:pt x="9132" y="2338"/>
                      <a:pt x="15519" y="10566"/>
                      <a:pt x="15519" y="19993"/>
                    </a:cubicBezTo>
                    <a:cubicBezTo>
                      <a:pt x="15519" y="29419"/>
                      <a:pt x="9132" y="37647"/>
                      <a:pt x="0" y="39985"/>
                    </a:cubicBezTo>
                  </a:path>
                </a:pathLst>
              </a:custGeom>
              <a:noFill/>
              <a:ln w="10319">
                <a:solidFill>
                  <a:srgbClr val="69281B"/>
                </a:solidFill>
              </a:ln>
            </p:spPr>
          </p:sp>
          <p:sp>
            <p:nvSpPr>
              <p:cNvPr id="155" name="Freeform 155"/>
              <p:cNvSpPr/>
              <p:nvPr/>
            </p:nvSpPr>
            <p:spPr>
              <a:xfrm>
                <a:off x="6436519" y="3230940"/>
                <a:ext cx="15478" cy="30182"/>
              </a:xfrm>
              <a:custGeom>
                <a:avLst/>
                <a:gdLst/>
                <a:ahLst/>
                <a:cxnLst/>
                <a:rect l="l" t="t" r="r" b="b"/>
                <a:pathLst>
                  <a:path w="15478" h="30182">
                    <a:moveTo>
                      <a:pt x="15478" y="30182"/>
                    </a:moveTo>
                    <a:lnTo>
                      <a:pt x="15478" y="19864"/>
                    </a:lnTo>
                    <a:cubicBezTo>
                      <a:pt x="15424" y="10497"/>
                      <a:pt x="9069" y="2342"/>
                      <a:pt x="0" y="0"/>
                    </a:cubicBezTo>
                  </a:path>
                </a:pathLst>
              </a:custGeom>
              <a:noFill/>
              <a:ln w="10319">
                <a:solidFill>
                  <a:srgbClr val="69281B"/>
                </a:solidFill>
              </a:ln>
            </p:spPr>
          </p:sp>
        </p:grpSp>
        <p:sp>
          <p:nvSpPr>
            <p:cNvPr id="157" name="TextBox 157"/>
            <p:cNvSpPr txBox="1"/>
            <p:nvPr/>
          </p:nvSpPr>
          <p:spPr>
            <a:xfrm>
              <a:off x="6510338" y="3172539"/>
              <a:ext cx="860323" cy="154781"/>
            </a:xfrm>
            <a:prstGeom prst="rect">
              <a:avLst/>
            </a:prstGeom>
            <a:noFill/>
            <a:ln>
              <a:noFill/>
            </a:ln>
          </p:spPr>
          <p:txBody>
            <a:bodyPr wrap="none" lIns="0" tIns="0" rIns="0" bIns="0" anchor="t" anchorCtr="0">
              <a:spAutoFit/>
            </a:bodyPr>
            <a:lstStyle/>
            <a:p>
              <a:pPr algn="l"/>
              <a:r>
                <a:rPr lang="zh-CN" sz="790" dirty="0">
                  <a:solidFill>
                    <a:srgbClr val="70504A"/>
                  </a:solidFill>
                  <a:latin typeface="+mn-lt"/>
                  <a:ea typeface="+mn-ea"/>
                  <a:cs typeface="+mn-cs"/>
                </a:rPr>
                <a:t>对公客户数（户）</a:t>
              </a:r>
            </a:p>
          </p:txBody>
        </p:sp>
        <p:sp>
          <p:nvSpPr>
            <p:cNvPr id="158" name="Rectangle 158"/>
            <p:cNvSpPr/>
            <p:nvPr/>
          </p:nvSpPr>
          <p:spPr>
            <a:xfrm>
              <a:off x="7677150" y="3152775"/>
              <a:ext cx="3086100" cy="133350"/>
            </a:xfrm>
            <a:prstGeom prst="roundRect">
              <a:avLst>
                <a:gd name="adj" fmla="val 21429"/>
              </a:avLst>
            </a:prstGeom>
            <a:solidFill>
              <a:srgbClr val="EDF2FA"/>
            </a:solidFill>
            <a:ln>
              <a:noFill/>
            </a:ln>
          </p:spPr>
        </p:sp>
        <p:sp>
          <p:nvSpPr>
            <p:cNvPr id="159" name="Rectangle 159"/>
            <p:cNvSpPr/>
            <p:nvPr/>
          </p:nvSpPr>
          <p:spPr>
            <a:xfrm>
              <a:off x="7677150" y="3152775"/>
              <a:ext cx="2125028" cy="133350"/>
            </a:xfrm>
            <a:prstGeom prst="roundRect">
              <a:avLst>
                <a:gd name="adj" fmla="val 21429"/>
              </a:avLst>
            </a:prstGeom>
            <a:solidFill>
              <a:srgbClr val="E04C2E"/>
            </a:solidFill>
            <a:ln>
              <a:noFill/>
            </a:ln>
          </p:spPr>
        </p:sp>
        <p:sp>
          <p:nvSpPr>
            <p:cNvPr id="160" name="TextBox 160"/>
            <p:cNvSpPr txBox="1"/>
            <p:nvPr/>
          </p:nvSpPr>
          <p:spPr>
            <a:xfrm>
              <a:off x="10853738" y="3178016"/>
              <a:ext cx="478952"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103.3%​</a:t>
              </a:r>
            </a:p>
          </p:txBody>
        </p:sp>
        <p:grpSp>
          <p:nvGrpSpPr>
            <p:cNvPr id="166" name="Group 166"/>
            <p:cNvGrpSpPr/>
            <p:nvPr/>
          </p:nvGrpSpPr>
          <p:grpSpPr>
            <a:xfrm>
              <a:off x="6359128" y="3491412"/>
              <a:ext cx="92869" cy="93560"/>
              <a:chOff x="6359128" y="3491412"/>
              <a:chExt cx="92869" cy="93560"/>
            </a:xfrm>
          </p:grpSpPr>
          <p:sp>
            <p:nvSpPr>
              <p:cNvPr id="161" name="Freeform 161"/>
              <p:cNvSpPr/>
              <p:nvPr/>
            </p:nvSpPr>
            <p:spPr>
              <a:xfrm>
                <a:off x="6390084" y="3533378"/>
                <a:ext cx="61913" cy="30956"/>
              </a:xfrm>
              <a:custGeom>
                <a:avLst/>
                <a:gdLst/>
                <a:ahLst/>
                <a:cxnLst/>
                <a:rect l="l" t="t" r="r" b="b"/>
                <a:pathLst>
                  <a:path w="61913" h="30956">
                    <a:moveTo>
                      <a:pt x="0" y="15478"/>
                    </a:moveTo>
                    <a:cubicBezTo>
                      <a:pt x="0" y="24027"/>
                      <a:pt x="13858" y="30956"/>
                      <a:pt x="30956" y="30956"/>
                    </a:cubicBezTo>
                    <a:cubicBezTo>
                      <a:pt x="48054" y="30956"/>
                      <a:pt x="61913" y="24027"/>
                      <a:pt x="61913" y="15478"/>
                    </a:cubicBezTo>
                    <a:cubicBezTo>
                      <a:pt x="61913" y="6929"/>
                      <a:pt x="48054" y="0"/>
                      <a:pt x="30956" y="0"/>
                    </a:cubicBezTo>
                    <a:cubicBezTo>
                      <a:pt x="13858" y="0"/>
                      <a:pt x="0" y="6929"/>
                      <a:pt x="0" y="15478"/>
                    </a:cubicBezTo>
                  </a:path>
                </a:pathLst>
              </a:custGeom>
              <a:noFill/>
              <a:ln w="10319">
                <a:solidFill>
                  <a:srgbClr val="69281B"/>
                </a:solidFill>
              </a:ln>
            </p:spPr>
          </p:sp>
          <p:sp>
            <p:nvSpPr>
              <p:cNvPr id="162" name="Freeform 162"/>
              <p:cNvSpPr/>
              <p:nvPr/>
            </p:nvSpPr>
            <p:spPr>
              <a:xfrm>
                <a:off x="6390084" y="3548856"/>
                <a:ext cx="61913" cy="36116"/>
              </a:xfrm>
              <a:custGeom>
                <a:avLst/>
                <a:gdLst/>
                <a:ahLst/>
                <a:cxnLst/>
                <a:rect l="l" t="t" r="r" b="b"/>
                <a:pathLst>
                  <a:path w="61913" h="36116">
                    <a:moveTo>
                      <a:pt x="0" y="0"/>
                    </a:moveTo>
                    <a:lnTo>
                      <a:pt x="0" y="20638"/>
                    </a:lnTo>
                    <a:cubicBezTo>
                      <a:pt x="0" y="29181"/>
                      <a:pt x="13858" y="36116"/>
                      <a:pt x="30956" y="36116"/>
                    </a:cubicBezTo>
                    <a:cubicBezTo>
                      <a:pt x="48054" y="36116"/>
                      <a:pt x="61913" y="29181"/>
                      <a:pt x="61913" y="20638"/>
                    </a:cubicBezTo>
                    <a:lnTo>
                      <a:pt x="61913" y="0"/>
                    </a:lnTo>
                  </a:path>
                </a:pathLst>
              </a:custGeom>
              <a:noFill/>
              <a:ln w="10319">
                <a:solidFill>
                  <a:srgbClr val="69281B"/>
                </a:solidFill>
              </a:ln>
            </p:spPr>
          </p:sp>
          <p:sp>
            <p:nvSpPr>
              <p:cNvPr id="163" name="Freeform 163"/>
              <p:cNvSpPr/>
              <p:nvPr/>
            </p:nvSpPr>
            <p:spPr>
              <a:xfrm>
                <a:off x="6359128" y="3491412"/>
                <a:ext cx="61913" cy="32339"/>
              </a:xfrm>
              <a:custGeom>
                <a:avLst/>
                <a:gdLst/>
                <a:ahLst/>
                <a:cxnLst/>
                <a:rect l="l" t="t" r="r" b="b"/>
                <a:pathLst>
                  <a:path w="61913" h="32339">
                    <a:moveTo>
                      <a:pt x="0" y="16169"/>
                    </a:moveTo>
                    <a:cubicBezTo>
                      <a:pt x="0" y="21700"/>
                      <a:pt x="5902" y="26808"/>
                      <a:pt x="15478" y="29574"/>
                    </a:cubicBezTo>
                    <a:cubicBezTo>
                      <a:pt x="25054" y="32339"/>
                      <a:pt x="36859" y="32339"/>
                      <a:pt x="46434" y="29574"/>
                    </a:cubicBezTo>
                    <a:cubicBezTo>
                      <a:pt x="56010" y="26808"/>
                      <a:pt x="61913" y="21700"/>
                      <a:pt x="61913" y="16169"/>
                    </a:cubicBezTo>
                    <a:cubicBezTo>
                      <a:pt x="61913" y="10639"/>
                      <a:pt x="56010" y="5531"/>
                      <a:pt x="46434" y="2765"/>
                    </a:cubicBezTo>
                    <a:cubicBezTo>
                      <a:pt x="36859" y="0"/>
                      <a:pt x="25054" y="0"/>
                      <a:pt x="15478" y="2765"/>
                    </a:cubicBezTo>
                    <a:cubicBezTo>
                      <a:pt x="5902" y="5531"/>
                      <a:pt x="0" y="10639"/>
                      <a:pt x="0" y="16169"/>
                    </a:cubicBezTo>
                  </a:path>
                </a:pathLst>
              </a:custGeom>
              <a:noFill/>
              <a:ln w="10319">
                <a:solidFill>
                  <a:srgbClr val="69281B"/>
                </a:solidFill>
              </a:ln>
            </p:spPr>
          </p:sp>
          <p:sp>
            <p:nvSpPr>
              <p:cNvPr id="164" name="Freeform 164"/>
              <p:cNvSpPr/>
              <p:nvPr/>
            </p:nvSpPr>
            <p:spPr>
              <a:xfrm>
                <a:off x="6359128" y="3507581"/>
                <a:ext cx="10319" cy="61913"/>
              </a:xfrm>
              <a:custGeom>
                <a:avLst/>
                <a:gdLst/>
                <a:ahLst/>
                <a:cxnLst/>
                <a:rect l="l" t="t" r="r" b="b"/>
                <a:pathLst>
                  <a:path w="10319" h="61913">
                    <a:moveTo>
                      <a:pt x="0" y="0"/>
                    </a:moveTo>
                    <a:lnTo>
                      <a:pt x="0" y="51594"/>
                    </a:lnTo>
                    <a:cubicBezTo>
                      <a:pt x="0" y="56175"/>
                      <a:pt x="3983" y="59075"/>
                      <a:pt x="10319" y="61913"/>
                    </a:cubicBezTo>
                  </a:path>
                </a:pathLst>
              </a:custGeom>
              <a:noFill/>
              <a:ln w="10319">
                <a:solidFill>
                  <a:srgbClr val="69281B"/>
                </a:solidFill>
              </a:ln>
            </p:spPr>
          </p:sp>
          <p:sp>
            <p:nvSpPr>
              <p:cNvPr id="165" name="Freeform 165"/>
              <p:cNvSpPr/>
              <p:nvPr/>
            </p:nvSpPr>
            <p:spPr>
              <a:xfrm>
                <a:off x="6359128" y="3533378"/>
                <a:ext cx="10319" cy="10319"/>
              </a:xfrm>
              <a:custGeom>
                <a:avLst/>
                <a:gdLst/>
                <a:ahLst/>
                <a:cxnLst/>
                <a:rect l="l" t="t" r="r" b="b"/>
                <a:pathLst>
                  <a:path w="10319" h="10319">
                    <a:moveTo>
                      <a:pt x="0" y="0"/>
                    </a:moveTo>
                    <a:cubicBezTo>
                      <a:pt x="0" y="4582"/>
                      <a:pt x="3983" y="7481"/>
                      <a:pt x="10319" y="10319"/>
                    </a:cubicBezTo>
                  </a:path>
                </a:pathLst>
              </a:custGeom>
              <a:noFill/>
              <a:ln w="10319">
                <a:solidFill>
                  <a:srgbClr val="69281B"/>
                </a:solidFill>
              </a:ln>
            </p:spPr>
          </p:sp>
        </p:grpSp>
        <p:sp>
          <p:nvSpPr>
            <p:cNvPr id="167" name="TextBox 167"/>
            <p:cNvSpPr txBox="1"/>
            <p:nvPr/>
          </p:nvSpPr>
          <p:spPr>
            <a:xfrm>
              <a:off x="6510338" y="3496389"/>
              <a:ext cx="860323" cy="154781"/>
            </a:xfrm>
            <a:prstGeom prst="rect">
              <a:avLst/>
            </a:prstGeom>
            <a:noFill/>
            <a:ln>
              <a:noFill/>
            </a:ln>
          </p:spPr>
          <p:txBody>
            <a:bodyPr wrap="none" lIns="0" tIns="0" rIns="0" bIns="0" anchor="t" anchorCtr="0">
              <a:spAutoFit/>
            </a:bodyPr>
            <a:lstStyle/>
            <a:p>
              <a:pPr algn="l"/>
              <a:r>
                <a:rPr lang="zh-CN" sz="790" dirty="0">
                  <a:solidFill>
                    <a:srgbClr val="70504A"/>
                  </a:solidFill>
                  <a:latin typeface="+mn-lt"/>
                  <a:ea typeface="+mn-ea"/>
                  <a:cs typeface="+mn-cs"/>
                </a:rPr>
                <a:t>公司中收（亿元）</a:t>
              </a:r>
            </a:p>
          </p:txBody>
        </p:sp>
        <p:sp>
          <p:nvSpPr>
            <p:cNvPr id="168" name="Rectangle 168"/>
            <p:cNvSpPr/>
            <p:nvPr/>
          </p:nvSpPr>
          <p:spPr>
            <a:xfrm>
              <a:off x="7677150" y="3476625"/>
              <a:ext cx="3086100" cy="133350"/>
            </a:xfrm>
            <a:prstGeom prst="roundRect">
              <a:avLst>
                <a:gd name="adj" fmla="val 21429"/>
              </a:avLst>
            </a:prstGeom>
            <a:solidFill>
              <a:srgbClr val="EDF2FA"/>
            </a:solidFill>
            <a:ln>
              <a:noFill/>
            </a:ln>
          </p:spPr>
        </p:sp>
        <p:sp>
          <p:nvSpPr>
            <p:cNvPr id="169" name="Rectangle 169"/>
            <p:cNvSpPr/>
            <p:nvPr/>
          </p:nvSpPr>
          <p:spPr>
            <a:xfrm>
              <a:off x="7677150" y="3476625"/>
              <a:ext cx="2308860" cy="133350"/>
            </a:xfrm>
            <a:prstGeom prst="roundRect">
              <a:avLst>
                <a:gd name="adj" fmla="val 21429"/>
              </a:avLst>
            </a:prstGeom>
            <a:solidFill>
              <a:srgbClr val="E04C2E"/>
            </a:solidFill>
            <a:ln>
              <a:noFill/>
            </a:ln>
          </p:spPr>
        </p:sp>
        <p:sp>
          <p:nvSpPr>
            <p:cNvPr id="170" name="TextBox 170"/>
            <p:cNvSpPr txBox="1"/>
            <p:nvPr/>
          </p:nvSpPr>
          <p:spPr>
            <a:xfrm>
              <a:off x="10853738" y="3501866"/>
              <a:ext cx="478952"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112.2%​</a:t>
              </a:r>
            </a:p>
          </p:txBody>
        </p:sp>
        <p:grpSp>
          <p:nvGrpSpPr>
            <p:cNvPr id="175" name="Group 175"/>
            <p:cNvGrpSpPr/>
            <p:nvPr/>
          </p:nvGrpSpPr>
          <p:grpSpPr>
            <a:xfrm>
              <a:off x="6359128" y="3821113"/>
              <a:ext cx="92869" cy="92075"/>
              <a:chOff x="6359128" y="3821113"/>
              <a:chExt cx="92869" cy="92075"/>
            </a:xfrm>
          </p:grpSpPr>
          <p:sp>
            <p:nvSpPr>
              <p:cNvPr id="171" name="Freeform 171"/>
              <p:cNvSpPr/>
              <p:nvPr/>
            </p:nvSpPr>
            <p:spPr>
              <a:xfrm>
                <a:off x="6359128" y="3862388"/>
                <a:ext cx="30956" cy="41275"/>
              </a:xfrm>
              <a:custGeom>
                <a:avLst/>
                <a:gdLst/>
                <a:ahLst/>
                <a:cxnLst/>
                <a:rect l="l" t="t" r="r" b="b"/>
                <a:pathLst>
                  <a:path w="30956" h="41275">
                    <a:moveTo>
                      <a:pt x="0" y="5159"/>
                    </a:moveTo>
                    <a:cubicBezTo>
                      <a:pt x="0" y="2310"/>
                      <a:pt x="2310" y="0"/>
                      <a:pt x="5159" y="0"/>
                    </a:cubicBezTo>
                    <a:lnTo>
                      <a:pt x="25797" y="0"/>
                    </a:lnTo>
                    <a:cubicBezTo>
                      <a:pt x="28646" y="0"/>
                      <a:pt x="30956" y="2310"/>
                      <a:pt x="30956" y="5159"/>
                    </a:cubicBezTo>
                    <a:lnTo>
                      <a:pt x="30956" y="36116"/>
                    </a:lnTo>
                    <a:cubicBezTo>
                      <a:pt x="30956" y="38965"/>
                      <a:pt x="28646" y="41275"/>
                      <a:pt x="25797" y="41275"/>
                    </a:cubicBezTo>
                    <a:lnTo>
                      <a:pt x="5159" y="41275"/>
                    </a:lnTo>
                    <a:cubicBezTo>
                      <a:pt x="2310" y="41275"/>
                      <a:pt x="0" y="38965"/>
                      <a:pt x="0" y="36116"/>
                    </a:cubicBezTo>
                    <a:lnTo>
                      <a:pt x="0" y="5159"/>
                    </a:lnTo>
                  </a:path>
                </a:pathLst>
              </a:custGeom>
              <a:noFill/>
              <a:ln w="10319">
                <a:solidFill>
                  <a:srgbClr val="69281B"/>
                </a:solidFill>
              </a:ln>
            </p:spPr>
          </p:sp>
          <p:sp>
            <p:nvSpPr>
              <p:cNvPr id="172" name="Freeform 172"/>
              <p:cNvSpPr/>
              <p:nvPr/>
            </p:nvSpPr>
            <p:spPr>
              <a:xfrm>
                <a:off x="6421041" y="3841750"/>
                <a:ext cx="30956" cy="61913"/>
              </a:xfrm>
              <a:custGeom>
                <a:avLst/>
                <a:gdLst/>
                <a:ahLst/>
                <a:cxnLst/>
                <a:rect l="l" t="t" r="r" b="b"/>
                <a:pathLst>
                  <a:path w="30956" h="61913">
                    <a:moveTo>
                      <a:pt x="0" y="5159"/>
                    </a:moveTo>
                    <a:cubicBezTo>
                      <a:pt x="0" y="2310"/>
                      <a:pt x="2310" y="0"/>
                      <a:pt x="5159" y="0"/>
                    </a:cubicBezTo>
                    <a:lnTo>
                      <a:pt x="25797" y="0"/>
                    </a:lnTo>
                    <a:cubicBezTo>
                      <a:pt x="28646" y="0"/>
                      <a:pt x="30956" y="2310"/>
                      <a:pt x="30956" y="5159"/>
                    </a:cubicBezTo>
                    <a:lnTo>
                      <a:pt x="30956" y="56753"/>
                    </a:lnTo>
                    <a:cubicBezTo>
                      <a:pt x="30956" y="59603"/>
                      <a:pt x="28646" y="61913"/>
                      <a:pt x="25797" y="61913"/>
                    </a:cubicBezTo>
                    <a:lnTo>
                      <a:pt x="5159" y="61913"/>
                    </a:lnTo>
                    <a:cubicBezTo>
                      <a:pt x="2310" y="61913"/>
                      <a:pt x="0" y="59603"/>
                      <a:pt x="0" y="56753"/>
                    </a:cubicBezTo>
                    <a:lnTo>
                      <a:pt x="0" y="5159"/>
                    </a:lnTo>
                  </a:path>
                </a:pathLst>
              </a:custGeom>
              <a:noFill/>
              <a:ln w="10319">
                <a:solidFill>
                  <a:srgbClr val="69281B"/>
                </a:solidFill>
              </a:ln>
            </p:spPr>
          </p:sp>
          <p:sp>
            <p:nvSpPr>
              <p:cNvPr id="173" name="Freeform 173"/>
              <p:cNvSpPr/>
              <p:nvPr/>
            </p:nvSpPr>
            <p:spPr>
              <a:xfrm>
                <a:off x="6390084" y="3821113"/>
                <a:ext cx="30956" cy="82550"/>
              </a:xfrm>
              <a:custGeom>
                <a:avLst/>
                <a:gdLst/>
                <a:ahLst/>
                <a:cxnLst/>
                <a:rect l="l" t="t" r="r" b="b"/>
                <a:pathLst>
                  <a:path w="30956" h="82550">
                    <a:moveTo>
                      <a:pt x="0" y="5159"/>
                    </a:moveTo>
                    <a:cubicBezTo>
                      <a:pt x="0" y="2310"/>
                      <a:pt x="2310" y="0"/>
                      <a:pt x="5159" y="0"/>
                    </a:cubicBezTo>
                    <a:lnTo>
                      <a:pt x="25797" y="0"/>
                    </a:lnTo>
                    <a:cubicBezTo>
                      <a:pt x="28646" y="0"/>
                      <a:pt x="30956" y="2310"/>
                      <a:pt x="30956" y="5159"/>
                    </a:cubicBezTo>
                    <a:lnTo>
                      <a:pt x="30956" y="77391"/>
                    </a:lnTo>
                    <a:cubicBezTo>
                      <a:pt x="30956" y="80240"/>
                      <a:pt x="28646" y="82550"/>
                      <a:pt x="25797" y="82550"/>
                    </a:cubicBezTo>
                    <a:lnTo>
                      <a:pt x="5159" y="82550"/>
                    </a:lnTo>
                    <a:cubicBezTo>
                      <a:pt x="2310" y="82550"/>
                      <a:pt x="0" y="80240"/>
                      <a:pt x="0" y="77391"/>
                    </a:cubicBezTo>
                    <a:lnTo>
                      <a:pt x="0" y="5159"/>
                    </a:lnTo>
                  </a:path>
                </a:pathLst>
              </a:custGeom>
              <a:noFill/>
              <a:ln w="10319">
                <a:solidFill>
                  <a:srgbClr val="69281B"/>
                </a:solidFill>
              </a:ln>
            </p:spPr>
          </p:sp>
          <p:sp>
            <p:nvSpPr>
              <p:cNvPr id="174" name="Freeform 174"/>
              <p:cNvSpPr/>
              <p:nvPr/>
            </p:nvSpPr>
            <p:spPr>
              <a:xfrm>
                <a:off x="6364288" y="3903663"/>
                <a:ext cx="72231" cy="9525"/>
              </a:xfrm>
              <a:custGeom>
                <a:avLst/>
                <a:gdLst/>
                <a:ahLst/>
                <a:cxnLst/>
                <a:rect l="l" t="t" r="r" b="b"/>
                <a:pathLst>
                  <a:path w="72231" h="9525">
                    <a:moveTo>
                      <a:pt x="0" y="0"/>
                    </a:moveTo>
                    <a:lnTo>
                      <a:pt x="72231" y="0"/>
                    </a:lnTo>
                  </a:path>
                </a:pathLst>
              </a:custGeom>
              <a:noFill/>
              <a:ln w="10319">
                <a:solidFill>
                  <a:srgbClr val="69281B"/>
                </a:solidFill>
              </a:ln>
            </p:spPr>
          </p:sp>
        </p:grpSp>
        <p:sp>
          <p:nvSpPr>
            <p:cNvPr id="176" name="TextBox 176"/>
            <p:cNvSpPr txBox="1"/>
            <p:nvPr/>
          </p:nvSpPr>
          <p:spPr>
            <a:xfrm>
              <a:off x="6510338" y="3820239"/>
              <a:ext cx="860323" cy="154781"/>
            </a:xfrm>
            <a:prstGeom prst="rect">
              <a:avLst/>
            </a:prstGeom>
            <a:noFill/>
            <a:ln>
              <a:noFill/>
            </a:ln>
          </p:spPr>
          <p:txBody>
            <a:bodyPr wrap="none" lIns="0" tIns="0" rIns="0" bIns="0" anchor="t" anchorCtr="0">
              <a:spAutoFit/>
            </a:bodyPr>
            <a:lstStyle/>
            <a:p>
              <a:pPr algn="l"/>
              <a:r>
                <a:rPr lang="zh-CN" sz="790" dirty="0">
                  <a:solidFill>
                    <a:srgbClr val="70504A"/>
                  </a:solidFill>
                  <a:latin typeface="+mn-lt"/>
                  <a:ea typeface="+mn-ea"/>
                  <a:cs typeface="+mn-cs"/>
                </a:rPr>
                <a:t>公司利润（亿元）</a:t>
              </a:r>
            </a:p>
          </p:txBody>
        </p:sp>
        <p:sp>
          <p:nvSpPr>
            <p:cNvPr id="177" name="Rectangle 177"/>
            <p:cNvSpPr/>
            <p:nvPr/>
          </p:nvSpPr>
          <p:spPr>
            <a:xfrm>
              <a:off x="7677150" y="3800475"/>
              <a:ext cx="3086100" cy="133350"/>
            </a:xfrm>
            <a:prstGeom prst="roundRect">
              <a:avLst>
                <a:gd name="adj" fmla="val 21429"/>
              </a:avLst>
            </a:prstGeom>
            <a:solidFill>
              <a:srgbClr val="EDF2FA"/>
            </a:solidFill>
            <a:ln>
              <a:noFill/>
            </a:ln>
          </p:spPr>
        </p:sp>
        <p:sp>
          <p:nvSpPr>
            <p:cNvPr id="178" name="Rectangle 178"/>
            <p:cNvSpPr/>
            <p:nvPr/>
          </p:nvSpPr>
          <p:spPr>
            <a:xfrm>
              <a:off x="7677150" y="3800475"/>
              <a:ext cx="2162175" cy="133350"/>
            </a:xfrm>
            <a:prstGeom prst="roundRect">
              <a:avLst>
                <a:gd name="adj" fmla="val 21429"/>
              </a:avLst>
            </a:prstGeom>
            <a:solidFill>
              <a:srgbClr val="E04C2E"/>
            </a:solidFill>
            <a:ln>
              <a:noFill/>
            </a:ln>
          </p:spPr>
        </p:sp>
        <p:sp>
          <p:nvSpPr>
            <p:cNvPr id="179" name="TextBox 179"/>
            <p:cNvSpPr txBox="1"/>
            <p:nvPr/>
          </p:nvSpPr>
          <p:spPr>
            <a:xfrm>
              <a:off x="10853738" y="3825716"/>
              <a:ext cx="478952"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105.1%​</a:t>
              </a:r>
            </a:p>
          </p:txBody>
        </p:sp>
        <p:sp>
          <p:nvSpPr>
            <p:cNvPr id="180" name="TextBox 180"/>
            <p:cNvSpPr txBox="1"/>
            <p:nvPr/>
          </p:nvSpPr>
          <p:spPr>
            <a:xfrm>
              <a:off x="7592692" y="4065032"/>
              <a:ext cx="168915"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0%​</a:t>
              </a:r>
            </a:p>
          </p:txBody>
        </p:sp>
        <p:sp>
          <p:nvSpPr>
            <p:cNvPr id="181" name="TextBox 181"/>
            <p:cNvSpPr txBox="1"/>
            <p:nvPr/>
          </p:nvSpPr>
          <p:spPr>
            <a:xfrm>
              <a:off x="8597699" y="4065032"/>
              <a:ext cx="216301"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50%​</a:t>
              </a:r>
            </a:p>
          </p:txBody>
        </p:sp>
        <p:sp>
          <p:nvSpPr>
            <p:cNvPr id="182" name="TextBox 182"/>
            <p:cNvSpPr txBox="1"/>
            <p:nvPr/>
          </p:nvSpPr>
          <p:spPr>
            <a:xfrm>
              <a:off x="9602706" y="4065032"/>
              <a:ext cx="263688"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100%​</a:t>
              </a:r>
            </a:p>
          </p:txBody>
        </p:sp>
        <p:sp>
          <p:nvSpPr>
            <p:cNvPr id="183" name="TextBox 183"/>
            <p:cNvSpPr txBox="1"/>
            <p:nvPr/>
          </p:nvSpPr>
          <p:spPr>
            <a:xfrm>
              <a:off x="10631406" y="4065032"/>
              <a:ext cx="263688"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150%​</a:t>
              </a:r>
            </a:p>
          </p:txBody>
        </p:sp>
      </p:grpSp>
      <p:grpSp>
        <p:nvGrpSpPr>
          <p:cNvPr id="206" name="score-scale"/>
          <p:cNvGrpSpPr/>
          <p:nvPr/>
        </p:nvGrpSpPr>
        <p:grpSpPr>
          <a:xfrm>
            <a:off x="228600" y="4343400"/>
            <a:ext cx="2286000" cy="2209800"/>
            <a:chOff x="228600" y="4343400"/>
            <a:chExt cx="2286000" cy="2209800"/>
          </a:xfrm>
        </p:grpSpPr>
        <p:sp>
          <p:nvSpPr>
            <p:cNvPr id="185" name="Rectangle 185"/>
            <p:cNvSpPr/>
            <p:nvPr/>
          </p:nvSpPr>
          <p:spPr>
            <a:xfrm>
              <a:off x="228600" y="4343400"/>
              <a:ext cx="2286000" cy="2209800"/>
            </a:xfrm>
            <a:prstGeom prst="roundRect">
              <a:avLst>
                <a:gd name="adj" fmla="val 2586"/>
              </a:avLst>
            </a:prstGeom>
            <a:solidFill>
              <a:srgbClr val="FFFFFF"/>
            </a:solidFill>
            <a:ln w="9525">
              <a:solidFill>
                <a:srgbClr val="C9D6E9"/>
              </a:solidFill>
            </a:ln>
          </p:spPr>
        </p:sp>
        <p:sp>
          <p:nvSpPr>
            <p:cNvPr id="186" name="Ellipse 186"/>
            <p:cNvSpPr/>
            <p:nvPr/>
          </p:nvSpPr>
          <p:spPr>
            <a:xfrm>
              <a:off x="371475" y="4486275"/>
              <a:ext cx="285750" cy="285750"/>
            </a:xfrm>
            <a:prstGeom prst="ellipse">
              <a:avLst/>
            </a:prstGeom>
            <a:solidFill>
              <a:srgbClr val="EAF1FB"/>
            </a:solidFill>
            <a:ln>
              <a:noFill/>
            </a:ln>
          </p:spPr>
        </p:sp>
        <p:grpSp>
          <p:nvGrpSpPr>
            <p:cNvPr id="191" name="Group 191"/>
            <p:cNvGrpSpPr/>
            <p:nvPr/>
          </p:nvGrpSpPr>
          <p:grpSpPr>
            <a:xfrm>
              <a:off x="457200" y="4578350"/>
              <a:ext cx="114300" cy="111125"/>
              <a:chOff x="457200" y="4578350"/>
              <a:chExt cx="114300" cy="111125"/>
            </a:xfrm>
          </p:grpSpPr>
          <p:sp>
            <p:nvSpPr>
              <p:cNvPr id="187" name="Freeform 187"/>
              <p:cNvSpPr/>
              <p:nvPr/>
            </p:nvSpPr>
            <p:spPr>
              <a:xfrm>
                <a:off x="457200" y="46291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69281B"/>
                </a:solidFill>
              </a:ln>
            </p:spPr>
          </p:sp>
          <p:sp>
            <p:nvSpPr>
              <p:cNvPr id="188" name="Freeform 188"/>
              <p:cNvSpPr/>
              <p:nvPr/>
            </p:nvSpPr>
            <p:spPr>
              <a:xfrm>
                <a:off x="533400" y="46037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69281B"/>
                </a:solidFill>
              </a:ln>
            </p:spPr>
          </p:sp>
          <p:sp>
            <p:nvSpPr>
              <p:cNvPr id="189" name="Freeform 189"/>
              <p:cNvSpPr/>
              <p:nvPr/>
            </p:nvSpPr>
            <p:spPr>
              <a:xfrm>
                <a:off x="495300" y="45783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69281B"/>
                </a:solidFill>
              </a:ln>
            </p:spPr>
          </p:sp>
          <p:sp>
            <p:nvSpPr>
              <p:cNvPr id="190" name="Freeform 190"/>
              <p:cNvSpPr/>
              <p:nvPr/>
            </p:nvSpPr>
            <p:spPr>
              <a:xfrm>
                <a:off x="463550" y="4679950"/>
                <a:ext cx="88900" cy="9525"/>
              </a:xfrm>
              <a:custGeom>
                <a:avLst/>
                <a:gdLst/>
                <a:ahLst/>
                <a:cxnLst/>
                <a:rect l="l" t="t" r="r" b="b"/>
                <a:pathLst>
                  <a:path w="88900" h="9525">
                    <a:moveTo>
                      <a:pt x="0" y="0"/>
                    </a:moveTo>
                    <a:lnTo>
                      <a:pt x="88900" y="0"/>
                    </a:lnTo>
                  </a:path>
                </a:pathLst>
              </a:custGeom>
              <a:noFill/>
              <a:ln w="12700">
                <a:solidFill>
                  <a:srgbClr val="69281B"/>
                </a:solidFill>
              </a:ln>
            </p:spPr>
          </p:sp>
        </p:grpSp>
        <p:sp>
          <p:nvSpPr>
            <p:cNvPr id="192" name="TextBox 192"/>
            <p:cNvSpPr txBox="1"/>
            <p:nvPr/>
          </p:nvSpPr>
          <p:spPr>
            <a:xfrm>
              <a:off x="718376" y="4568904"/>
              <a:ext cx="304521" cy="212693"/>
            </a:xfrm>
            <a:prstGeom prst="rect">
              <a:avLst/>
            </a:prstGeom>
            <a:noFill/>
            <a:ln>
              <a:noFill/>
            </a:ln>
          </p:spPr>
          <p:txBody>
            <a:bodyPr wrap="none" lIns="0" tIns="0" rIns="0" bIns="0" anchor="t" anchorCtr="0">
              <a:spAutoFit/>
            </a:bodyPr>
            <a:lstStyle/>
            <a:p>
              <a:pPr algn="l"/>
              <a:r>
                <a:rPr lang="zh-CN" sz="1090" b="1" dirty="0">
                  <a:solidFill>
                    <a:srgbClr val="69281B"/>
                  </a:solidFill>
                  <a:latin typeface="+mn-lt"/>
                  <a:ea typeface="+mn-ea"/>
                  <a:cs typeface="+mn-cs"/>
                </a:rPr>
                <a:t>规模</a:t>
              </a:r>
            </a:p>
          </p:txBody>
        </p:sp>
        <p:sp>
          <p:nvSpPr>
            <p:cNvPr id="193" name="TextBox 193"/>
            <p:cNvSpPr txBox="1"/>
            <p:nvPr/>
          </p:nvSpPr>
          <p:spPr>
            <a:xfrm>
              <a:off x="2029371" y="4499134"/>
              <a:ext cx="375691"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评价得分</a:t>
              </a:r>
            </a:p>
          </p:txBody>
        </p:sp>
        <p:sp>
          <p:nvSpPr>
            <p:cNvPr id="194" name="TextBox 194"/>
            <p:cNvSpPr txBox="1"/>
            <p:nvPr/>
          </p:nvSpPr>
          <p:spPr>
            <a:xfrm>
              <a:off x="1737463" y="4622482"/>
              <a:ext cx="671219" cy="322707"/>
            </a:xfrm>
            <a:prstGeom prst="rect">
              <a:avLst/>
            </a:prstGeom>
            <a:noFill/>
            <a:ln>
              <a:noFill/>
            </a:ln>
          </p:spPr>
          <p:txBody>
            <a:bodyPr wrap="none" lIns="0" tIns="0" rIns="0" bIns="0" anchor="t" anchorCtr="0">
              <a:spAutoFit/>
            </a:bodyPr>
            <a:lstStyle/>
            <a:p>
              <a:pPr algn="r"/>
              <a:r>
                <a:rPr lang="zh-CN" sz="1650" b="1" dirty="0">
                  <a:solidFill>
                    <a:srgbClr val="E04C2E"/>
                  </a:solidFill>
                  <a:latin typeface="+mn-lt"/>
                  <a:ea typeface="+mn-ea"/>
                  <a:cs typeface="+mn-cs"/>
                </a:rPr>
                <a:t>4.5</a:t>
              </a:r>
              <a:r>
                <a:rPr lang="zh-CN" sz="750" dirty="0">
                  <a:solidFill>
                    <a:srgbClr val="BEA09A"/>
                  </a:solidFill>
                  <a:latin typeface="+mn-lt"/>
                  <a:ea typeface="+mn-ea"/>
                  <a:cs typeface="+mn-cs"/>
                </a:rPr>
                <a:t xml:space="preserve"> /5</a:t>
              </a:r>
              <a:r>
                <a:rPr lang="zh-CN" sz="1650" b="1" dirty="0">
                  <a:solidFill>
                    <a:srgbClr val="E04C2E"/>
                  </a:solidFill>
                  <a:latin typeface="+mn-lt"/>
                  <a:ea typeface="+mn-ea"/>
                  <a:cs typeface="+mn-cs"/>
                </a:rPr>
                <a:t>​</a:t>
              </a:r>
            </a:p>
          </p:txBody>
        </p:sp>
        <p:sp>
          <p:nvSpPr>
            <p:cNvPr id="195" name="Line 195"/>
            <p:cNvSpPr/>
            <p:nvPr/>
          </p:nvSpPr>
          <p:spPr>
            <a:xfrm>
              <a:off x="342900" y="4933950"/>
              <a:ext cx="2057400" cy="9525"/>
            </a:xfrm>
            <a:custGeom>
              <a:avLst/>
              <a:gdLst/>
              <a:ahLst/>
              <a:cxnLst/>
              <a:rect l="l" t="t" r="r" b="b"/>
              <a:pathLst>
                <a:path w="2057400" h="9525">
                  <a:moveTo>
                    <a:pt x="0" y="0"/>
                  </a:moveTo>
                  <a:lnTo>
                    <a:pt x="2057400" y="0"/>
                  </a:lnTo>
                </a:path>
              </a:pathLst>
            </a:custGeom>
            <a:noFill/>
            <a:ln w="9525">
              <a:solidFill>
                <a:srgbClr val="E3EAF5"/>
              </a:solidFill>
            </a:ln>
          </p:spPr>
        </p:sp>
        <p:sp>
          <p:nvSpPr>
            <p:cNvPr id="196" name="Ellipse 196"/>
            <p:cNvSpPr/>
            <p:nvPr/>
          </p:nvSpPr>
          <p:spPr>
            <a:xfrm>
              <a:off x="401955" y="5069205"/>
              <a:ext cx="34290" cy="34290"/>
            </a:xfrm>
            <a:prstGeom prst="ellipse">
              <a:avLst/>
            </a:prstGeom>
            <a:solidFill>
              <a:srgbClr val="E04C2E"/>
            </a:solidFill>
            <a:ln>
              <a:noFill/>
            </a:ln>
          </p:spPr>
        </p:sp>
        <p:sp>
          <p:nvSpPr>
            <p:cNvPr id="197" name="TextBox 197"/>
            <p:cNvSpPr txBox="1"/>
            <p:nvPr/>
          </p:nvSpPr>
          <p:spPr>
            <a:xfrm>
              <a:off x="490538" y="5045107"/>
              <a:ext cx="1043305" cy="287655"/>
            </a:xfrm>
            <a:prstGeom prst="rect">
              <a:avLst/>
            </a:prstGeom>
            <a:noFill/>
            <a:ln>
              <a:noFill/>
            </a:ln>
          </p:spPr>
          <p:txBody>
            <a:bodyPr wrap="none" lIns="0" tIns="0" rIns="0" bIns="0" anchor="t" anchorCtr="0">
              <a:spAutoFit/>
            </a:bodyPr>
            <a:lstStyle/>
            <a:p>
              <a:pPr algn="l">
                <a:lnSpc>
                  <a:spcPts val="1125"/>
                </a:lnSpc>
              </a:pPr>
              <a:r>
                <a:rPr lang="zh-CN" sz="740" dirty="0">
                  <a:solidFill>
                    <a:srgbClr val="70504A"/>
                  </a:solidFill>
                  <a:latin typeface="+mn-lt"/>
                  <a:ea typeface="+mn-ea"/>
                  <a:cs typeface="+mn-cs"/>
                </a:rPr>
                <a:t>存款规模实现稳步增长，</a:t>
              </a:r>
              <a:br/>
              <a:r>
                <a:rPr lang="zh-CN" sz="740" dirty="0">
                  <a:solidFill>
                    <a:srgbClr val="70504A"/>
                  </a:solidFill>
                  <a:latin typeface="+mn-lt"/>
                  <a:ea typeface="+mn-ea"/>
                  <a:cs typeface="+mn-cs"/>
                </a:rPr>
                <a:t>均超计划完成</a:t>
              </a:r>
            </a:p>
          </p:txBody>
        </p:sp>
        <p:sp>
          <p:nvSpPr>
            <p:cNvPr id="198" name="Ellipse 198"/>
            <p:cNvSpPr/>
            <p:nvPr/>
          </p:nvSpPr>
          <p:spPr>
            <a:xfrm>
              <a:off x="401955" y="5488305"/>
              <a:ext cx="34290" cy="34290"/>
            </a:xfrm>
            <a:prstGeom prst="ellipse">
              <a:avLst/>
            </a:prstGeom>
            <a:solidFill>
              <a:srgbClr val="E04C2E"/>
            </a:solidFill>
            <a:ln>
              <a:noFill/>
            </a:ln>
          </p:spPr>
        </p:sp>
        <p:sp>
          <p:nvSpPr>
            <p:cNvPr id="199" name="TextBox 199"/>
            <p:cNvSpPr txBox="1"/>
            <p:nvPr/>
          </p:nvSpPr>
          <p:spPr>
            <a:xfrm>
              <a:off x="490538" y="5464207"/>
              <a:ext cx="1137285" cy="287655"/>
            </a:xfrm>
            <a:prstGeom prst="rect">
              <a:avLst/>
            </a:prstGeom>
            <a:noFill/>
            <a:ln>
              <a:noFill/>
            </a:ln>
          </p:spPr>
          <p:txBody>
            <a:bodyPr wrap="none" lIns="0" tIns="0" rIns="0" bIns="0" anchor="t" anchorCtr="0">
              <a:spAutoFit/>
            </a:bodyPr>
            <a:lstStyle/>
            <a:p>
              <a:pPr algn="l">
                <a:lnSpc>
                  <a:spcPts val="1125"/>
                </a:lnSpc>
              </a:pPr>
              <a:r>
                <a:rPr lang="zh-CN" sz="740" dirty="0">
                  <a:solidFill>
                    <a:srgbClr val="70504A"/>
                  </a:solidFill>
                  <a:latin typeface="+mn-lt"/>
                  <a:ea typeface="+mn-ea"/>
                  <a:cs typeface="+mn-cs"/>
                </a:rPr>
                <a:t>存贷款增量在分行系统排名</a:t>
              </a:r>
              <a:br/>
              <a:r>
                <a:rPr lang="zh-CN" sz="740" dirty="0">
                  <a:solidFill>
                    <a:srgbClr val="70504A"/>
                  </a:solidFill>
                  <a:latin typeface="+mn-lt"/>
                  <a:ea typeface="+mn-ea"/>
                  <a:cs typeface="+mn-cs"/>
                </a:rPr>
                <a:t>提升至</a:t>
              </a:r>
              <a:r>
                <a:rPr lang="zh-CN" sz="740" b="1" dirty="0">
                  <a:solidFill>
                    <a:srgbClr val="E04C2E"/>
                  </a:solidFill>
                  <a:latin typeface="+mn-lt"/>
                  <a:ea typeface="+mn-ea"/>
                  <a:cs typeface="+mn-cs"/>
                </a:rPr>
                <a:t>第2位​</a:t>
              </a:r>
            </a:p>
          </p:txBody>
        </p:sp>
        <p:sp>
          <p:nvSpPr>
            <p:cNvPr id="200" name="Line 200"/>
            <p:cNvSpPr/>
            <p:nvPr/>
          </p:nvSpPr>
          <p:spPr>
            <a:xfrm>
              <a:off x="342900" y="6210300"/>
              <a:ext cx="2057400" cy="9525"/>
            </a:xfrm>
            <a:custGeom>
              <a:avLst/>
              <a:gdLst/>
              <a:ahLst/>
              <a:cxnLst/>
              <a:rect l="l" t="t" r="r" b="b"/>
              <a:pathLst>
                <a:path w="2057400" h="9525">
                  <a:moveTo>
                    <a:pt x="0" y="0"/>
                  </a:moveTo>
                  <a:lnTo>
                    <a:pt x="2057400" y="0"/>
                  </a:lnTo>
                </a:path>
              </a:pathLst>
            </a:custGeom>
            <a:noFill/>
            <a:ln w="9525">
              <a:solidFill>
                <a:srgbClr val="E3EAF5"/>
              </a:solidFill>
            </a:ln>
          </p:spPr>
        </p:sp>
        <p:sp>
          <p:nvSpPr>
            <p:cNvPr id="201" name="TextBox 201"/>
            <p:cNvSpPr txBox="1"/>
            <p:nvPr/>
          </p:nvSpPr>
          <p:spPr>
            <a:xfrm>
              <a:off x="376238" y="6357938"/>
              <a:ext cx="266986"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趋势:</a:t>
              </a:r>
            </a:p>
          </p:txBody>
        </p:sp>
        <p:grpSp>
          <p:nvGrpSpPr>
            <p:cNvPr id="204" name="Group 204"/>
            <p:cNvGrpSpPr/>
            <p:nvPr/>
          </p:nvGrpSpPr>
          <p:grpSpPr>
            <a:xfrm>
              <a:off x="702469" y="6363494"/>
              <a:ext cx="100012" cy="55562"/>
              <a:chOff x="702469" y="6363494"/>
              <a:chExt cx="100012" cy="55562"/>
            </a:xfrm>
          </p:grpSpPr>
          <p:sp>
            <p:nvSpPr>
              <p:cNvPr id="202" name="Freeform 202"/>
              <p:cNvSpPr/>
              <p:nvPr/>
            </p:nvSpPr>
            <p:spPr>
              <a:xfrm>
                <a:off x="702469" y="6363494"/>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E04C2E"/>
                </a:solidFill>
              </a:ln>
            </p:spPr>
          </p:sp>
          <p:sp>
            <p:nvSpPr>
              <p:cNvPr id="203" name="Freeform 203"/>
              <p:cNvSpPr/>
              <p:nvPr/>
            </p:nvSpPr>
            <p:spPr>
              <a:xfrm>
                <a:off x="763587" y="6363494"/>
                <a:ext cx="38894" cy="38894"/>
              </a:xfrm>
              <a:custGeom>
                <a:avLst/>
                <a:gdLst/>
                <a:ahLst/>
                <a:cxnLst/>
                <a:rect l="l" t="t" r="r" b="b"/>
                <a:pathLst>
                  <a:path w="38894" h="38894">
                    <a:moveTo>
                      <a:pt x="0" y="0"/>
                    </a:moveTo>
                    <a:lnTo>
                      <a:pt x="38894" y="0"/>
                    </a:lnTo>
                    <a:lnTo>
                      <a:pt x="38894" y="38894"/>
                    </a:lnTo>
                  </a:path>
                </a:pathLst>
              </a:custGeom>
              <a:noFill/>
              <a:ln w="11112">
                <a:solidFill>
                  <a:srgbClr val="E04C2E"/>
                </a:solidFill>
              </a:ln>
            </p:spPr>
          </p:sp>
        </p:grpSp>
        <p:sp>
          <p:nvSpPr>
            <p:cNvPr id="205" name="TextBox 205"/>
            <p:cNvSpPr txBox="1"/>
            <p:nvPr/>
          </p:nvSpPr>
          <p:spPr>
            <a:xfrm>
              <a:off x="871538" y="6349841"/>
              <a:ext cx="230302"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向好</a:t>
              </a:r>
            </a:p>
          </p:txBody>
        </p:sp>
      </p:grpSp>
      <p:grpSp>
        <p:nvGrpSpPr>
          <p:cNvPr id="226" name="score-structure"/>
          <p:cNvGrpSpPr/>
          <p:nvPr/>
        </p:nvGrpSpPr>
        <p:grpSpPr>
          <a:xfrm>
            <a:off x="2590800" y="4343400"/>
            <a:ext cx="2286000" cy="2209800"/>
            <a:chOff x="2590800" y="4343400"/>
            <a:chExt cx="2286000" cy="2209800"/>
          </a:xfrm>
        </p:grpSpPr>
        <p:sp>
          <p:nvSpPr>
            <p:cNvPr id="207" name="Rectangle 207"/>
            <p:cNvSpPr/>
            <p:nvPr/>
          </p:nvSpPr>
          <p:spPr>
            <a:xfrm>
              <a:off x="2590800" y="4343400"/>
              <a:ext cx="2286000" cy="2209800"/>
            </a:xfrm>
            <a:prstGeom prst="roundRect">
              <a:avLst>
                <a:gd name="adj" fmla="val 2586"/>
              </a:avLst>
            </a:prstGeom>
            <a:solidFill>
              <a:srgbClr val="FFFFFF"/>
            </a:solidFill>
            <a:ln w="9525">
              <a:solidFill>
                <a:srgbClr val="C9D6E9"/>
              </a:solidFill>
            </a:ln>
          </p:spPr>
        </p:sp>
        <p:sp>
          <p:nvSpPr>
            <p:cNvPr id="208" name="Ellipse 208"/>
            <p:cNvSpPr/>
            <p:nvPr/>
          </p:nvSpPr>
          <p:spPr>
            <a:xfrm>
              <a:off x="2733675" y="4486275"/>
              <a:ext cx="285750" cy="285750"/>
            </a:xfrm>
            <a:prstGeom prst="ellipse">
              <a:avLst/>
            </a:prstGeom>
            <a:solidFill>
              <a:srgbClr val="EAF1FB"/>
            </a:solidFill>
            <a:ln>
              <a:noFill/>
            </a:ln>
          </p:spPr>
        </p:sp>
        <p:grpSp>
          <p:nvGrpSpPr>
            <p:cNvPr id="211" name="Group 211"/>
            <p:cNvGrpSpPr/>
            <p:nvPr/>
          </p:nvGrpSpPr>
          <p:grpSpPr>
            <a:xfrm>
              <a:off x="2817630" y="4573092"/>
              <a:ext cx="114800" cy="114978"/>
              <a:chOff x="2817630" y="4573092"/>
              <a:chExt cx="114800" cy="114978"/>
            </a:xfrm>
          </p:grpSpPr>
          <p:sp>
            <p:nvSpPr>
              <p:cNvPr id="209" name="Freeform 209"/>
              <p:cNvSpPr/>
              <p:nvPr/>
            </p:nvSpPr>
            <p:spPr>
              <a:xfrm>
                <a:off x="2817630" y="4573092"/>
                <a:ext cx="114800" cy="114978"/>
              </a:xfrm>
              <a:custGeom>
                <a:avLst/>
                <a:gdLst/>
                <a:ahLst/>
                <a:cxnLst/>
                <a:rect l="l" t="t" r="r" b="b"/>
                <a:pathLst>
                  <a:path w="114800" h="114978">
                    <a:moveTo>
                      <a:pt x="46220" y="178"/>
                    </a:moveTo>
                    <a:cubicBezTo>
                      <a:pt x="18725" y="6552"/>
                      <a:pt x="0" y="32044"/>
                      <a:pt x="2141" y="60187"/>
                    </a:cubicBezTo>
                    <a:cubicBezTo>
                      <a:pt x="4282" y="88330"/>
                      <a:pt x="26648" y="110696"/>
                      <a:pt x="54791" y="112837"/>
                    </a:cubicBezTo>
                    <a:cubicBezTo>
                      <a:pt x="82934" y="114978"/>
                      <a:pt x="108426" y="96254"/>
                      <a:pt x="114800" y="68758"/>
                    </a:cubicBezTo>
                    <a:cubicBezTo>
                      <a:pt x="114800" y="65251"/>
                      <a:pt x="111957" y="62408"/>
                      <a:pt x="108450" y="62408"/>
                    </a:cubicBezTo>
                    <a:lnTo>
                      <a:pt x="65270" y="62408"/>
                    </a:lnTo>
                    <a:cubicBezTo>
                      <a:pt x="58256" y="62408"/>
                      <a:pt x="52570" y="56722"/>
                      <a:pt x="52570" y="49708"/>
                    </a:cubicBezTo>
                    <a:lnTo>
                      <a:pt x="52570" y="5258"/>
                    </a:lnTo>
                    <a:cubicBezTo>
                      <a:pt x="52411" y="3738"/>
                      <a:pt x="51649" y="2346"/>
                      <a:pt x="50456" y="1391"/>
                    </a:cubicBezTo>
                    <a:cubicBezTo>
                      <a:pt x="49263" y="437"/>
                      <a:pt x="47738" y="0"/>
                      <a:pt x="46220" y="178"/>
                    </a:cubicBezTo>
                  </a:path>
                </a:pathLst>
              </a:custGeom>
              <a:noFill/>
              <a:ln w="12700">
                <a:solidFill>
                  <a:srgbClr val="69281B"/>
                </a:solidFill>
              </a:ln>
            </p:spPr>
          </p:sp>
          <p:sp>
            <p:nvSpPr>
              <p:cNvPr id="210" name="Freeform 210"/>
              <p:cNvSpPr/>
              <p:nvPr/>
            </p:nvSpPr>
            <p:spPr>
              <a:xfrm>
                <a:off x="2895600" y="4575175"/>
                <a:ext cx="34925" cy="34925"/>
              </a:xfrm>
              <a:custGeom>
                <a:avLst/>
                <a:gdLst/>
                <a:ahLst/>
                <a:cxnLst/>
                <a:rect l="l" t="t" r="r" b="b"/>
                <a:pathLst>
                  <a:path w="34925" h="34925">
                    <a:moveTo>
                      <a:pt x="0" y="0"/>
                    </a:moveTo>
                    <a:cubicBezTo>
                      <a:pt x="16331" y="5750"/>
                      <a:pt x="29175" y="18594"/>
                      <a:pt x="34925" y="34925"/>
                    </a:cubicBezTo>
                    <a:lnTo>
                      <a:pt x="6350" y="34925"/>
                    </a:lnTo>
                    <a:cubicBezTo>
                      <a:pt x="2843" y="34925"/>
                      <a:pt x="0" y="32082"/>
                      <a:pt x="0" y="28575"/>
                    </a:cubicBezTo>
                    <a:lnTo>
                      <a:pt x="0" y="0"/>
                    </a:lnTo>
                  </a:path>
                </a:pathLst>
              </a:custGeom>
              <a:noFill/>
              <a:ln w="12700">
                <a:solidFill>
                  <a:srgbClr val="69281B"/>
                </a:solidFill>
              </a:ln>
            </p:spPr>
          </p:sp>
        </p:grpSp>
        <p:sp>
          <p:nvSpPr>
            <p:cNvPr id="212" name="TextBox 212"/>
            <p:cNvSpPr txBox="1"/>
            <p:nvPr/>
          </p:nvSpPr>
          <p:spPr>
            <a:xfrm>
              <a:off x="3080576" y="4568904"/>
              <a:ext cx="304521" cy="212693"/>
            </a:xfrm>
            <a:prstGeom prst="rect">
              <a:avLst/>
            </a:prstGeom>
            <a:noFill/>
            <a:ln>
              <a:noFill/>
            </a:ln>
          </p:spPr>
          <p:txBody>
            <a:bodyPr wrap="none" lIns="0" tIns="0" rIns="0" bIns="0" anchor="t" anchorCtr="0">
              <a:spAutoFit/>
            </a:bodyPr>
            <a:lstStyle/>
            <a:p>
              <a:pPr algn="l"/>
              <a:r>
                <a:rPr lang="zh-CN" sz="1090" b="1" dirty="0">
                  <a:solidFill>
                    <a:srgbClr val="69281B"/>
                  </a:solidFill>
                  <a:latin typeface="+mn-lt"/>
                  <a:ea typeface="+mn-ea"/>
                  <a:cs typeface="+mn-cs"/>
                </a:rPr>
                <a:t>结构</a:t>
              </a:r>
            </a:p>
          </p:txBody>
        </p:sp>
        <p:sp>
          <p:nvSpPr>
            <p:cNvPr id="213" name="TextBox 213"/>
            <p:cNvSpPr txBox="1"/>
            <p:nvPr/>
          </p:nvSpPr>
          <p:spPr>
            <a:xfrm>
              <a:off x="4391571" y="4499134"/>
              <a:ext cx="375691"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评价得分</a:t>
              </a:r>
            </a:p>
          </p:txBody>
        </p:sp>
        <p:sp>
          <p:nvSpPr>
            <p:cNvPr id="214" name="TextBox 214"/>
            <p:cNvSpPr txBox="1"/>
            <p:nvPr/>
          </p:nvSpPr>
          <p:spPr>
            <a:xfrm>
              <a:off x="4099663" y="4622482"/>
              <a:ext cx="671219" cy="322707"/>
            </a:xfrm>
            <a:prstGeom prst="rect">
              <a:avLst/>
            </a:prstGeom>
            <a:noFill/>
            <a:ln>
              <a:noFill/>
            </a:ln>
          </p:spPr>
          <p:txBody>
            <a:bodyPr wrap="none" lIns="0" tIns="0" rIns="0" bIns="0" anchor="t" anchorCtr="0">
              <a:spAutoFit/>
            </a:bodyPr>
            <a:lstStyle/>
            <a:p>
              <a:pPr algn="r"/>
              <a:r>
                <a:rPr lang="zh-CN" sz="1650" b="1" dirty="0">
                  <a:solidFill>
                    <a:srgbClr val="E04C2E"/>
                  </a:solidFill>
                  <a:latin typeface="+mn-lt"/>
                  <a:ea typeface="+mn-ea"/>
                  <a:cs typeface="+mn-cs"/>
                </a:rPr>
                <a:t>4.0</a:t>
              </a:r>
              <a:r>
                <a:rPr lang="zh-CN" sz="750" dirty="0">
                  <a:solidFill>
                    <a:srgbClr val="BEA09A"/>
                  </a:solidFill>
                  <a:latin typeface="+mn-lt"/>
                  <a:ea typeface="+mn-ea"/>
                  <a:cs typeface="+mn-cs"/>
                </a:rPr>
                <a:t xml:space="preserve"> /5</a:t>
              </a:r>
              <a:r>
                <a:rPr lang="zh-CN" sz="1650" b="1" dirty="0">
                  <a:solidFill>
                    <a:srgbClr val="E04C2E"/>
                  </a:solidFill>
                  <a:latin typeface="+mn-lt"/>
                  <a:ea typeface="+mn-ea"/>
                  <a:cs typeface="+mn-cs"/>
                </a:rPr>
                <a:t>​</a:t>
              </a:r>
            </a:p>
          </p:txBody>
        </p:sp>
        <p:sp>
          <p:nvSpPr>
            <p:cNvPr id="215" name="Line 215"/>
            <p:cNvSpPr/>
            <p:nvPr/>
          </p:nvSpPr>
          <p:spPr>
            <a:xfrm>
              <a:off x="2705100" y="4933950"/>
              <a:ext cx="2057400" cy="9525"/>
            </a:xfrm>
            <a:custGeom>
              <a:avLst/>
              <a:gdLst/>
              <a:ahLst/>
              <a:cxnLst/>
              <a:rect l="l" t="t" r="r" b="b"/>
              <a:pathLst>
                <a:path w="2057400" h="9525">
                  <a:moveTo>
                    <a:pt x="0" y="0"/>
                  </a:moveTo>
                  <a:lnTo>
                    <a:pt x="2057400" y="0"/>
                  </a:lnTo>
                </a:path>
              </a:pathLst>
            </a:custGeom>
            <a:noFill/>
            <a:ln w="9525">
              <a:solidFill>
                <a:srgbClr val="E3EAF5"/>
              </a:solidFill>
            </a:ln>
          </p:spPr>
        </p:sp>
        <p:sp>
          <p:nvSpPr>
            <p:cNvPr id="216" name="Ellipse 216"/>
            <p:cNvSpPr/>
            <p:nvPr/>
          </p:nvSpPr>
          <p:spPr>
            <a:xfrm>
              <a:off x="2764155" y="5069205"/>
              <a:ext cx="34290" cy="34290"/>
            </a:xfrm>
            <a:prstGeom prst="ellipse">
              <a:avLst/>
            </a:prstGeom>
            <a:solidFill>
              <a:srgbClr val="E04C2E"/>
            </a:solidFill>
            <a:ln>
              <a:noFill/>
            </a:ln>
          </p:spPr>
        </p:sp>
        <p:sp>
          <p:nvSpPr>
            <p:cNvPr id="217" name="TextBox 217"/>
            <p:cNvSpPr txBox="1"/>
            <p:nvPr/>
          </p:nvSpPr>
          <p:spPr>
            <a:xfrm>
              <a:off x="2852738" y="5045107"/>
              <a:ext cx="1513205" cy="287655"/>
            </a:xfrm>
            <a:prstGeom prst="rect">
              <a:avLst/>
            </a:prstGeom>
            <a:noFill/>
            <a:ln>
              <a:noFill/>
            </a:ln>
          </p:spPr>
          <p:txBody>
            <a:bodyPr wrap="none" lIns="0" tIns="0" rIns="0" bIns="0" anchor="t" anchorCtr="0">
              <a:spAutoFit/>
            </a:bodyPr>
            <a:lstStyle/>
            <a:p>
              <a:pPr algn="l">
                <a:lnSpc>
                  <a:spcPts val="1125"/>
                </a:lnSpc>
              </a:pPr>
              <a:r>
                <a:rPr lang="zh-CN" sz="740" dirty="0">
                  <a:solidFill>
                    <a:srgbClr val="70504A"/>
                  </a:solidFill>
                  <a:latin typeface="+mn-lt"/>
                  <a:ea typeface="+mn-ea"/>
                  <a:cs typeface="+mn-cs"/>
                </a:rPr>
                <a:t>存款结构持续优化，三个月以上定存</a:t>
              </a:r>
              <a:br/>
              <a:r>
                <a:rPr lang="zh-CN" sz="740" dirty="0">
                  <a:solidFill>
                    <a:srgbClr val="70504A"/>
                  </a:solidFill>
                  <a:latin typeface="+mn-lt"/>
                  <a:ea typeface="+mn-ea"/>
                  <a:cs typeface="+mn-cs"/>
                </a:rPr>
                <a:t xml:space="preserve">占比提升 </a:t>
              </a:r>
              <a:r>
                <a:rPr lang="zh-CN" sz="740" b="1" dirty="0">
                  <a:solidFill>
                    <a:srgbClr val="E04C2E"/>
                  </a:solidFill>
                  <a:latin typeface="+mn-lt"/>
                  <a:ea typeface="+mn-ea"/>
                  <a:cs typeface="+mn-cs"/>
                </a:rPr>
                <a:t>2.6个百分点​</a:t>
              </a:r>
            </a:p>
          </p:txBody>
        </p:sp>
        <p:sp>
          <p:nvSpPr>
            <p:cNvPr id="218" name="Ellipse 218"/>
            <p:cNvSpPr/>
            <p:nvPr/>
          </p:nvSpPr>
          <p:spPr>
            <a:xfrm>
              <a:off x="2764155" y="5488305"/>
              <a:ext cx="34290" cy="34290"/>
            </a:xfrm>
            <a:prstGeom prst="ellipse">
              <a:avLst/>
            </a:prstGeom>
            <a:solidFill>
              <a:srgbClr val="E04C2E"/>
            </a:solidFill>
            <a:ln>
              <a:noFill/>
            </a:ln>
          </p:spPr>
        </p:sp>
        <p:sp>
          <p:nvSpPr>
            <p:cNvPr id="219" name="TextBox 219"/>
            <p:cNvSpPr txBox="1"/>
            <p:nvPr/>
          </p:nvSpPr>
          <p:spPr>
            <a:xfrm>
              <a:off x="2852738" y="5464207"/>
              <a:ext cx="1513205" cy="287655"/>
            </a:xfrm>
            <a:prstGeom prst="rect">
              <a:avLst/>
            </a:prstGeom>
            <a:noFill/>
            <a:ln>
              <a:noFill/>
            </a:ln>
          </p:spPr>
          <p:txBody>
            <a:bodyPr wrap="none" lIns="0" tIns="0" rIns="0" bIns="0" anchor="t" anchorCtr="0">
              <a:spAutoFit/>
            </a:bodyPr>
            <a:lstStyle/>
            <a:p>
              <a:pPr algn="l">
                <a:lnSpc>
                  <a:spcPts val="1125"/>
                </a:lnSpc>
              </a:pPr>
              <a:r>
                <a:rPr lang="zh-CN" sz="740" dirty="0">
                  <a:solidFill>
                    <a:srgbClr val="70504A"/>
                  </a:solidFill>
                  <a:latin typeface="+mn-lt"/>
                  <a:ea typeface="+mn-ea"/>
                  <a:cs typeface="+mn-cs"/>
                </a:rPr>
                <a:t>存贷款结构改善，制造业、绿色贷款</a:t>
              </a:r>
              <a:br/>
              <a:r>
                <a:rPr lang="zh-CN" sz="740" dirty="0">
                  <a:solidFill>
                    <a:srgbClr val="70504A"/>
                  </a:solidFill>
                  <a:latin typeface="+mn-lt"/>
                  <a:ea typeface="+mn-ea"/>
                  <a:cs typeface="+mn-cs"/>
                </a:rPr>
                <a:t>占比提升</a:t>
              </a:r>
            </a:p>
          </p:txBody>
        </p:sp>
        <p:sp>
          <p:nvSpPr>
            <p:cNvPr id="220" name="Line 220"/>
            <p:cNvSpPr/>
            <p:nvPr/>
          </p:nvSpPr>
          <p:spPr>
            <a:xfrm>
              <a:off x="2705100" y="6210300"/>
              <a:ext cx="2057400" cy="9525"/>
            </a:xfrm>
            <a:custGeom>
              <a:avLst/>
              <a:gdLst/>
              <a:ahLst/>
              <a:cxnLst/>
              <a:rect l="l" t="t" r="r" b="b"/>
              <a:pathLst>
                <a:path w="2057400" h="9525">
                  <a:moveTo>
                    <a:pt x="0" y="0"/>
                  </a:moveTo>
                  <a:lnTo>
                    <a:pt x="2057400" y="0"/>
                  </a:lnTo>
                </a:path>
              </a:pathLst>
            </a:custGeom>
            <a:noFill/>
            <a:ln w="9525">
              <a:solidFill>
                <a:srgbClr val="E3EAF5"/>
              </a:solidFill>
            </a:ln>
          </p:spPr>
        </p:sp>
        <p:sp>
          <p:nvSpPr>
            <p:cNvPr id="221" name="TextBox 221"/>
            <p:cNvSpPr txBox="1"/>
            <p:nvPr/>
          </p:nvSpPr>
          <p:spPr>
            <a:xfrm>
              <a:off x="2738438" y="6357938"/>
              <a:ext cx="266986"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趋势:</a:t>
              </a:r>
            </a:p>
          </p:txBody>
        </p:sp>
        <p:grpSp>
          <p:nvGrpSpPr>
            <p:cNvPr id="224" name="Group 224"/>
            <p:cNvGrpSpPr/>
            <p:nvPr/>
          </p:nvGrpSpPr>
          <p:grpSpPr>
            <a:xfrm>
              <a:off x="3064669" y="6363494"/>
              <a:ext cx="100012" cy="55562"/>
              <a:chOff x="3064669" y="6363494"/>
              <a:chExt cx="100012" cy="55562"/>
            </a:xfrm>
          </p:grpSpPr>
          <p:sp>
            <p:nvSpPr>
              <p:cNvPr id="222" name="Freeform 222"/>
              <p:cNvSpPr/>
              <p:nvPr/>
            </p:nvSpPr>
            <p:spPr>
              <a:xfrm>
                <a:off x="3064669" y="6363494"/>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E04C2E"/>
                </a:solidFill>
              </a:ln>
            </p:spPr>
          </p:sp>
          <p:sp>
            <p:nvSpPr>
              <p:cNvPr id="223" name="Freeform 223"/>
              <p:cNvSpPr/>
              <p:nvPr/>
            </p:nvSpPr>
            <p:spPr>
              <a:xfrm>
                <a:off x="3125787" y="6363494"/>
                <a:ext cx="38894" cy="38894"/>
              </a:xfrm>
              <a:custGeom>
                <a:avLst/>
                <a:gdLst/>
                <a:ahLst/>
                <a:cxnLst/>
                <a:rect l="l" t="t" r="r" b="b"/>
                <a:pathLst>
                  <a:path w="38894" h="38894">
                    <a:moveTo>
                      <a:pt x="0" y="0"/>
                    </a:moveTo>
                    <a:lnTo>
                      <a:pt x="38894" y="0"/>
                    </a:lnTo>
                    <a:lnTo>
                      <a:pt x="38894" y="38894"/>
                    </a:lnTo>
                  </a:path>
                </a:pathLst>
              </a:custGeom>
              <a:noFill/>
              <a:ln w="11112">
                <a:solidFill>
                  <a:srgbClr val="E04C2E"/>
                </a:solidFill>
              </a:ln>
            </p:spPr>
          </p:sp>
        </p:grpSp>
        <p:sp>
          <p:nvSpPr>
            <p:cNvPr id="225" name="TextBox 225"/>
            <p:cNvSpPr txBox="1"/>
            <p:nvPr/>
          </p:nvSpPr>
          <p:spPr>
            <a:xfrm>
              <a:off x="3233738" y="6349841"/>
              <a:ext cx="230302"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向好</a:t>
              </a:r>
            </a:p>
          </p:txBody>
        </p:sp>
      </p:grpSp>
      <p:grpSp>
        <p:nvGrpSpPr>
          <p:cNvPr id="248" name="score-clients"/>
          <p:cNvGrpSpPr/>
          <p:nvPr/>
        </p:nvGrpSpPr>
        <p:grpSpPr>
          <a:xfrm>
            <a:off x="4953000" y="4343400"/>
            <a:ext cx="2286000" cy="2209800"/>
            <a:chOff x="4953000" y="4343400"/>
            <a:chExt cx="2286000" cy="2209800"/>
          </a:xfrm>
        </p:grpSpPr>
        <p:sp>
          <p:nvSpPr>
            <p:cNvPr id="227" name="Rectangle 227"/>
            <p:cNvSpPr/>
            <p:nvPr/>
          </p:nvSpPr>
          <p:spPr>
            <a:xfrm>
              <a:off x="4953000" y="4343400"/>
              <a:ext cx="2286000" cy="2209800"/>
            </a:xfrm>
            <a:prstGeom prst="roundRect">
              <a:avLst>
                <a:gd name="adj" fmla="val 2586"/>
              </a:avLst>
            </a:prstGeom>
            <a:solidFill>
              <a:srgbClr val="FFFFFF"/>
            </a:solidFill>
            <a:ln w="9525">
              <a:solidFill>
                <a:srgbClr val="C9D6E9"/>
              </a:solidFill>
            </a:ln>
          </p:spPr>
        </p:sp>
        <p:sp>
          <p:nvSpPr>
            <p:cNvPr id="228" name="Ellipse 228"/>
            <p:cNvSpPr/>
            <p:nvPr/>
          </p:nvSpPr>
          <p:spPr>
            <a:xfrm>
              <a:off x="5095875" y="4486275"/>
              <a:ext cx="285750" cy="285750"/>
            </a:xfrm>
            <a:prstGeom prst="ellipse">
              <a:avLst/>
            </a:prstGeom>
            <a:solidFill>
              <a:srgbClr val="EAF1FB"/>
            </a:solidFill>
            <a:ln>
              <a:noFill/>
            </a:ln>
          </p:spPr>
        </p:sp>
        <p:grpSp>
          <p:nvGrpSpPr>
            <p:cNvPr id="233" name="Group 233"/>
            <p:cNvGrpSpPr/>
            <p:nvPr/>
          </p:nvGrpSpPr>
          <p:grpSpPr>
            <a:xfrm>
              <a:off x="5181600" y="4572000"/>
              <a:ext cx="114300" cy="114301"/>
              <a:chOff x="5181600" y="4572000"/>
              <a:chExt cx="114300" cy="114301"/>
            </a:xfrm>
          </p:grpSpPr>
          <p:sp>
            <p:nvSpPr>
              <p:cNvPr id="229" name="Freeform 229"/>
              <p:cNvSpPr/>
              <p:nvPr/>
            </p:nvSpPr>
            <p:spPr>
              <a:xfrm>
                <a:off x="5194300" y="45720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69281B"/>
                </a:solidFill>
              </a:ln>
            </p:spPr>
          </p:sp>
          <p:sp>
            <p:nvSpPr>
              <p:cNvPr id="230" name="Freeform 230"/>
              <p:cNvSpPr/>
              <p:nvPr/>
            </p:nvSpPr>
            <p:spPr>
              <a:xfrm>
                <a:off x="5181600" y="46482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69281B"/>
                </a:solidFill>
              </a:ln>
            </p:spPr>
          </p:sp>
          <p:sp>
            <p:nvSpPr>
              <p:cNvPr id="231" name="Freeform 231"/>
              <p:cNvSpPr/>
              <p:nvPr/>
            </p:nvSpPr>
            <p:spPr>
              <a:xfrm>
                <a:off x="5264150" y="45728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69281B"/>
                </a:solidFill>
              </a:ln>
            </p:spPr>
          </p:sp>
          <p:sp>
            <p:nvSpPr>
              <p:cNvPr id="232" name="Freeform 232"/>
              <p:cNvSpPr/>
              <p:nvPr/>
            </p:nvSpPr>
            <p:spPr>
              <a:xfrm>
                <a:off x="5276850" y="46491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69281B"/>
                </a:solidFill>
              </a:ln>
            </p:spPr>
          </p:sp>
        </p:grpSp>
        <p:sp>
          <p:nvSpPr>
            <p:cNvPr id="234" name="TextBox 234"/>
            <p:cNvSpPr txBox="1"/>
            <p:nvPr/>
          </p:nvSpPr>
          <p:spPr>
            <a:xfrm>
              <a:off x="5442776" y="4568904"/>
              <a:ext cx="304521" cy="212693"/>
            </a:xfrm>
            <a:prstGeom prst="rect">
              <a:avLst/>
            </a:prstGeom>
            <a:noFill/>
            <a:ln>
              <a:noFill/>
            </a:ln>
          </p:spPr>
          <p:txBody>
            <a:bodyPr wrap="none" lIns="0" tIns="0" rIns="0" bIns="0" anchor="t" anchorCtr="0">
              <a:spAutoFit/>
            </a:bodyPr>
            <a:lstStyle/>
            <a:p>
              <a:pPr algn="l"/>
              <a:r>
                <a:rPr lang="zh-CN" sz="1090" b="1" dirty="0">
                  <a:solidFill>
                    <a:srgbClr val="69281B"/>
                  </a:solidFill>
                  <a:latin typeface="+mn-lt"/>
                  <a:ea typeface="+mn-ea"/>
                  <a:cs typeface="+mn-cs"/>
                </a:rPr>
                <a:t>客户</a:t>
              </a:r>
            </a:p>
          </p:txBody>
        </p:sp>
        <p:sp>
          <p:nvSpPr>
            <p:cNvPr id="235" name="TextBox 235"/>
            <p:cNvSpPr txBox="1"/>
            <p:nvPr/>
          </p:nvSpPr>
          <p:spPr>
            <a:xfrm>
              <a:off x="6753771" y="4499134"/>
              <a:ext cx="375691"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评价得分</a:t>
              </a:r>
            </a:p>
          </p:txBody>
        </p:sp>
        <p:sp>
          <p:nvSpPr>
            <p:cNvPr id="236" name="TextBox 236"/>
            <p:cNvSpPr txBox="1"/>
            <p:nvPr/>
          </p:nvSpPr>
          <p:spPr>
            <a:xfrm>
              <a:off x="6461863" y="4622482"/>
              <a:ext cx="671219" cy="322707"/>
            </a:xfrm>
            <a:prstGeom prst="rect">
              <a:avLst/>
            </a:prstGeom>
            <a:noFill/>
            <a:ln>
              <a:noFill/>
            </a:ln>
          </p:spPr>
          <p:txBody>
            <a:bodyPr wrap="none" lIns="0" tIns="0" rIns="0" bIns="0" anchor="t" anchorCtr="0">
              <a:spAutoFit/>
            </a:bodyPr>
            <a:lstStyle/>
            <a:p>
              <a:pPr algn="r"/>
              <a:r>
                <a:rPr lang="zh-CN" sz="1650" b="1" dirty="0">
                  <a:solidFill>
                    <a:srgbClr val="E04C2E"/>
                  </a:solidFill>
                  <a:latin typeface="+mn-lt"/>
                  <a:ea typeface="+mn-ea"/>
                  <a:cs typeface="+mn-cs"/>
                </a:rPr>
                <a:t>4.5</a:t>
              </a:r>
              <a:r>
                <a:rPr lang="zh-CN" sz="750" dirty="0">
                  <a:solidFill>
                    <a:srgbClr val="BEA09A"/>
                  </a:solidFill>
                  <a:latin typeface="+mn-lt"/>
                  <a:ea typeface="+mn-ea"/>
                  <a:cs typeface="+mn-cs"/>
                </a:rPr>
                <a:t xml:space="preserve"> /5</a:t>
              </a:r>
              <a:r>
                <a:rPr lang="zh-CN" sz="1650" b="1" dirty="0">
                  <a:solidFill>
                    <a:srgbClr val="E04C2E"/>
                  </a:solidFill>
                  <a:latin typeface="+mn-lt"/>
                  <a:ea typeface="+mn-ea"/>
                  <a:cs typeface="+mn-cs"/>
                </a:rPr>
                <a:t>​</a:t>
              </a:r>
            </a:p>
          </p:txBody>
        </p:sp>
        <p:sp>
          <p:nvSpPr>
            <p:cNvPr id="237" name="Line 237"/>
            <p:cNvSpPr/>
            <p:nvPr/>
          </p:nvSpPr>
          <p:spPr>
            <a:xfrm>
              <a:off x="5067300" y="4933950"/>
              <a:ext cx="2057400" cy="9525"/>
            </a:xfrm>
            <a:custGeom>
              <a:avLst/>
              <a:gdLst/>
              <a:ahLst/>
              <a:cxnLst/>
              <a:rect l="l" t="t" r="r" b="b"/>
              <a:pathLst>
                <a:path w="2057400" h="9525">
                  <a:moveTo>
                    <a:pt x="0" y="0"/>
                  </a:moveTo>
                  <a:lnTo>
                    <a:pt x="2057400" y="0"/>
                  </a:lnTo>
                </a:path>
              </a:pathLst>
            </a:custGeom>
            <a:noFill/>
            <a:ln w="9525">
              <a:solidFill>
                <a:srgbClr val="E3EAF5"/>
              </a:solidFill>
            </a:ln>
          </p:spPr>
        </p:sp>
        <p:sp>
          <p:nvSpPr>
            <p:cNvPr id="238" name="Ellipse 238"/>
            <p:cNvSpPr/>
            <p:nvPr/>
          </p:nvSpPr>
          <p:spPr>
            <a:xfrm>
              <a:off x="5126355" y="5069205"/>
              <a:ext cx="34290" cy="34290"/>
            </a:xfrm>
            <a:prstGeom prst="ellipse">
              <a:avLst/>
            </a:prstGeom>
            <a:solidFill>
              <a:srgbClr val="E04C2E"/>
            </a:solidFill>
            <a:ln>
              <a:noFill/>
            </a:ln>
          </p:spPr>
        </p:sp>
        <p:sp>
          <p:nvSpPr>
            <p:cNvPr id="239" name="TextBox 239"/>
            <p:cNvSpPr txBox="1"/>
            <p:nvPr/>
          </p:nvSpPr>
          <p:spPr>
            <a:xfrm>
              <a:off x="5214938" y="5045107"/>
              <a:ext cx="1231265" cy="287655"/>
            </a:xfrm>
            <a:prstGeom prst="rect">
              <a:avLst/>
            </a:prstGeom>
            <a:noFill/>
            <a:ln>
              <a:noFill/>
            </a:ln>
          </p:spPr>
          <p:txBody>
            <a:bodyPr wrap="none" lIns="0" tIns="0" rIns="0" bIns="0" anchor="t" anchorCtr="0">
              <a:spAutoFit/>
            </a:bodyPr>
            <a:lstStyle/>
            <a:p>
              <a:pPr algn="l">
                <a:lnSpc>
                  <a:spcPts val="1125"/>
                </a:lnSpc>
              </a:pPr>
              <a:r>
                <a:rPr lang="zh-CN" sz="740" dirty="0">
                  <a:solidFill>
                    <a:srgbClr val="70504A"/>
                  </a:solidFill>
                  <a:latin typeface="+mn-lt"/>
                  <a:ea typeface="+mn-ea"/>
                  <a:cs typeface="+mn-cs"/>
                </a:rPr>
                <a:t>客户总量稳步增长，净增客户</a:t>
              </a:r>
              <a:br/>
              <a:r>
                <a:rPr lang="zh-CN" sz="740" b="1" dirty="0">
                  <a:solidFill>
                    <a:srgbClr val="E04C2E"/>
                  </a:solidFill>
                  <a:latin typeface="+mn-lt"/>
                  <a:ea typeface="+mn-ea"/>
                  <a:cs typeface="+mn-cs"/>
                </a:rPr>
                <a:t>1,240户​</a:t>
              </a:r>
            </a:p>
          </p:txBody>
        </p:sp>
        <p:sp>
          <p:nvSpPr>
            <p:cNvPr id="240" name="Ellipse 240"/>
            <p:cNvSpPr/>
            <p:nvPr/>
          </p:nvSpPr>
          <p:spPr>
            <a:xfrm>
              <a:off x="5126355" y="5488305"/>
              <a:ext cx="34290" cy="34290"/>
            </a:xfrm>
            <a:prstGeom prst="ellipse">
              <a:avLst/>
            </a:prstGeom>
            <a:solidFill>
              <a:srgbClr val="E04C2E"/>
            </a:solidFill>
            <a:ln>
              <a:noFill/>
            </a:ln>
          </p:spPr>
        </p:sp>
        <p:sp>
          <p:nvSpPr>
            <p:cNvPr id="241" name="TextBox 241"/>
            <p:cNvSpPr txBox="1"/>
            <p:nvPr/>
          </p:nvSpPr>
          <p:spPr>
            <a:xfrm>
              <a:off x="5214938" y="5464207"/>
              <a:ext cx="1043305" cy="287655"/>
            </a:xfrm>
            <a:prstGeom prst="rect">
              <a:avLst/>
            </a:prstGeom>
            <a:noFill/>
            <a:ln>
              <a:noFill/>
            </a:ln>
          </p:spPr>
          <p:txBody>
            <a:bodyPr wrap="none" lIns="0" tIns="0" rIns="0" bIns="0" anchor="t" anchorCtr="0">
              <a:spAutoFit/>
            </a:bodyPr>
            <a:lstStyle/>
            <a:p>
              <a:pPr algn="l">
                <a:lnSpc>
                  <a:spcPts val="1125"/>
                </a:lnSpc>
              </a:pPr>
              <a:r>
                <a:rPr lang="zh-CN" sz="740" dirty="0">
                  <a:solidFill>
                    <a:srgbClr val="70504A"/>
                  </a:solidFill>
                  <a:latin typeface="+mn-lt"/>
                  <a:ea typeface="+mn-ea"/>
                  <a:cs typeface="+mn-cs"/>
                </a:rPr>
                <a:t>重点行业、优质客户拓展</a:t>
              </a:r>
              <a:br/>
              <a:r>
                <a:rPr lang="zh-CN" sz="740" dirty="0">
                  <a:solidFill>
                    <a:srgbClr val="70504A"/>
                  </a:solidFill>
                  <a:latin typeface="+mn-lt"/>
                  <a:ea typeface="+mn-ea"/>
                  <a:cs typeface="+mn-cs"/>
                </a:rPr>
                <a:t>成效显著</a:t>
              </a:r>
            </a:p>
          </p:txBody>
        </p:sp>
        <p:sp>
          <p:nvSpPr>
            <p:cNvPr id="242" name="Line 242"/>
            <p:cNvSpPr/>
            <p:nvPr/>
          </p:nvSpPr>
          <p:spPr>
            <a:xfrm>
              <a:off x="5067300" y="6210300"/>
              <a:ext cx="2057400" cy="9525"/>
            </a:xfrm>
            <a:custGeom>
              <a:avLst/>
              <a:gdLst/>
              <a:ahLst/>
              <a:cxnLst/>
              <a:rect l="l" t="t" r="r" b="b"/>
              <a:pathLst>
                <a:path w="2057400" h="9525">
                  <a:moveTo>
                    <a:pt x="0" y="0"/>
                  </a:moveTo>
                  <a:lnTo>
                    <a:pt x="2057400" y="0"/>
                  </a:lnTo>
                </a:path>
              </a:pathLst>
            </a:custGeom>
            <a:noFill/>
            <a:ln w="9525">
              <a:solidFill>
                <a:srgbClr val="E3EAF5"/>
              </a:solidFill>
            </a:ln>
          </p:spPr>
        </p:sp>
        <p:sp>
          <p:nvSpPr>
            <p:cNvPr id="243" name="TextBox 243"/>
            <p:cNvSpPr txBox="1"/>
            <p:nvPr/>
          </p:nvSpPr>
          <p:spPr>
            <a:xfrm>
              <a:off x="5100638" y="6357938"/>
              <a:ext cx="266986"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趋势:</a:t>
              </a:r>
            </a:p>
          </p:txBody>
        </p:sp>
        <p:grpSp>
          <p:nvGrpSpPr>
            <p:cNvPr id="246" name="Group 246"/>
            <p:cNvGrpSpPr/>
            <p:nvPr/>
          </p:nvGrpSpPr>
          <p:grpSpPr>
            <a:xfrm>
              <a:off x="5426869" y="6363494"/>
              <a:ext cx="100012" cy="55562"/>
              <a:chOff x="5426869" y="6363494"/>
              <a:chExt cx="100012" cy="55562"/>
            </a:xfrm>
          </p:grpSpPr>
          <p:sp>
            <p:nvSpPr>
              <p:cNvPr id="244" name="Freeform 244"/>
              <p:cNvSpPr/>
              <p:nvPr/>
            </p:nvSpPr>
            <p:spPr>
              <a:xfrm>
                <a:off x="5426869" y="6363494"/>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E04C2E"/>
                </a:solidFill>
              </a:ln>
            </p:spPr>
          </p:sp>
          <p:sp>
            <p:nvSpPr>
              <p:cNvPr id="245" name="Freeform 245"/>
              <p:cNvSpPr/>
              <p:nvPr/>
            </p:nvSpPr>
            <p:spPr>
              <a:xfrm>
                <a:off x="5487987" y="6363494"/>
                <a:ext cx="38894" cy="38894"/>
              </a:xfrm>
              <a:custGeom>
                <a:avLst/>
                <a:gdLst/>
                <a:ahLst/>
                <a:cxnLst/>
                <a:rect l="l" t="t" r="r" b="b"/>
                <a:pathLst>
                  <a:path w="38894" h="38894">
                    <a:moveTo>
                      <a:pt x="0" y="0"/>
                    </a:moveTo>
                    <a:lnTo>
                      <a:pt x="38894" y="0"/>
                    </a:lnTo>
                    <a:lnTo>
                      <a:pt x="38894" y="38894"/>
                    </a:lnTo>
                  </a:path>
                </a:pathLst>
              </a:custGeom>
              <a:noFill/>
              <a:ln w="11112">
                <a:solidFill>
                  <a:srgbClr val="E04C2E"/>
                </a:solidFill>
              </a:ln>
            </p:spPr>
          </p:sp>
        </p:grpSp>
        <p:sp>
          <p:nvSpPr>
            <p:cNvPr id="247" name="TextBox 247"/>
            <p:cNvSpPr txBox="1"/>
            <p:nvPr/>
          </p:nvSpPr>
          <p:spPr>
            <a:xfrm>
              <a:off x="5595938" y="6349841"/>
              <a:ext cx="230302"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向好</a:t>
              </a:r>
            </a:p>
          </p:txBody>
        </p:sp>
      </p:grpSp>
      <p:grpSp>
        <p:nvGrpSpPr>
          <p:cNvPr id="271" name="score-profit"/>
          <p:cNvGrpSpPr/>
          <p:nvPr/>
        </p:nvGrpSpPr>
        <p:grpSpPr>
          <a:xfrm>
            <a:off x="7315200" y="4343400"/>
            <a:ext cx="2286000" cy="2209800"/>
            <a:chOff x="7315200" y="4343400"/>
            <a:chExt cx="2286000" cy="2209800"/>
          </a:xfrm>
        </p:grpSpPr>
        <p:sp>
          <p:nvSpPr>
            <p:cNvPr id="249" name="Rectangle 249"/>
            <p:cNvSpPr/>
            <p:nvPr/>
          </p:nvSpPr>
          <p:spPr>
            <a:xfrm>
              <a:off x="7315200" y="4343400"/>
              <a:ext cx="2286000" cy="2209800"/>
            </a:xfrm>
            <a:prstGeom prst="roundRect">
              <a:avLst>
                <a:gd name="adj" fmla="val 2586"/>
              </a:avLst>
            </a:prstGeom>
            <a:solidFill>
              <a:srgbClr val="FFFFFF"/>
            </a:solidFill>
            <a:ln w="9525">
              <a:solidFill>
                <a:srgbClr val="C9D6E9"/>
              </a:solidFill>
            </a:ln>
          </p:spPr>
        </p:sp>
        <p:sp>
          <p:nvSpPr>
            <p:cNvPr id="250" name="Ellipse 250"/>
            <p:cNvSpPr/>
            <p:nvPr/>
          </p:nvSpPr>
          <p:spPr>
            <a:xfrm>
              <a:off x="7458075" y="4486275"/>
              <a:ext cx="285750" cy="285750"/>
            </a:xfrm>
            <a:prstGeom prst="ellipse">
              <a:avLst/>
            </a:prstGeom>
            <a:solidFill>
              <a:srgbClr val="EAF1FB"/>
            </a:solidFill>
            <a:ln>
              <a:noFill/>
            </a:ln>
          </p:spPr>
        </p:sp>
        <p:grpSp>
          <p:nvGrpSpPr>
            <p:cNvPr id="256" name="Group 256"/>
            <p:cNvGrpSpPr/>
            <p:nvPr/>
          </p:nvGrpSpPr>
          <p:grpSpPr>
            <a:xfrm>
              <a:off x="7543800" y="4571149"/>
              <a:ext cx="114300" cy="115151"/>
              <a:chOff x="7543800" y="4571149"/>
              <a:chExt cx="114300" cy="115151"/>
            </a:xfrm>
          </p:grpSpPr>
          <p:sp>
            <p:nvSpPr>
              <p:cNvPr id="251" name="Freeform 251"/>
              <p:cNvSpPr/>
              <p:nvPr/>
            </p:nvSpPr>
            <p:spPr>
              <a:xfrm>
                <a:off x="7581900" y="46228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69281B"/>
                </a:solidFill>
              </a:ln>
            </p:spPr>
          </p:sp>
          <p:sp>
            <p:nvSpPr>
              <p:cNvPr id="252" name="Freeform 252"/>
              <p:cNvSpPr/>
              <p:nvPr/>
            </p:nvSpPr>
            <p:spPr>
              <a:xfrm>
                <a:off x="7581900" y="46418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69281B"/>
                </a:solidFill>
              </a:ln>
            </p:spPr>
          </p:sp>
          <p:sp>
            <p:nvSpPr>
              <p:cNvPr id="253" name="Freeform 253"/>
              <p:cNvSpPr/>
              <p:nvPr/>
            </p:nvSpPr>
            <p:spPr>
              <a:xfrm>
                <a:off x="7543800" y="45711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69281B"/>
                </a:solidFill>
              </a:ln>
            </p:spPr>
          </p:sp>
          <p:sp>
            <p:nvSpPr>
              <p:cNvPr id="254" name="Freeform 254"/>
              <p:cNvSpPr/>
              <p:nvPr/>
            </p:nvSpPr>
            <p:spPr>
              <a:xfrm>
                <a:off x="7543800" y="45910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69281B"/>
                </a:solidFill>
              </a:ln>
            </p:spPr>
          </p:sp>
          <p:sp>
            <p:nvSpPr>
              <p:cNvPr id="255" name="Freeform 255"/>
              <p:cNvSpPr/>
              <p:nvPr/>
            </p:nvSpPr>
            <p:spPr>
              <a:xfrm>
                <a:off x="7543800" y="46228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69281B"/>
                </a:solidFill>
              </a:ln>
            </p:spPr>
          </p:sp>
        </p:grpSp>
        <p:sp>
          <p:nvSpPr>
            <p:cNvPr id="257" name="TextBox 257"/>
            <p:cNvSpPr txBox="1"/>
            <p:nvPr/>
          </p:nvSpPr>
          <p:spPr>
            <a:xfrm>
              <a:off x="7804976" y="4568904"/>
              <a:ext cx="304521" cy="212693"/>
            </a:xfrm>
            <a:prstGeom prst="rect">
              <a:avLst/>
            </a:prstGeom>
            <a:noFill/>
            <a:ln>
              <a:noFill/>
            </a:ln>
          </p:spPr>
          <p:txBody>
            <a:bodyPr wrap="none" lIns="0" tIns="0" rIns="0" bIns="0" anchor="t" anchorCtr="0">
              <a:spAutoFit/>
            </a:bodyPr>
            <a:lstStyle/>
            <a:p>
              <a:pPr algn="l"/>
              <a:r>
                <a:rPr lang="zh-CN" sz="1090" b="1" dirty="0">
                  <a:solidFill>
                    <a:srgbClr val="69281B"/>
                  </a:solidFill>
                  <a:latin typeface="+mn-lt"/>
                  <a:ea typeface="+mn-ea"/>
                  <a:cs typeface="+mn-cs"/>
                </a:rPr>
                <a:t>效益</a:t>
              </a:r>
            </a:p>
          </p:txBody>
        </p:sp>
        <p:sp>
          <p:nvSpPr>
            <p:cNvPr id="258" name="TextBox 258"/>
            <p:cNvSpPr txBox="1"/>
            <p:nvPr/>
          </p:nvSpPr>
          <p:spPr>
            <a:xfrm>
              <a:off x="9115971" y="4499134"/>
              <a:ext cx="375691"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评价得分</a:t>
              </a:r>
            </a:p>
          </p:txBody>
        </p:sp>
        <p:sp>
          <p:nvSpPr>
            <p:cNvPr id="259" name="TextBox 259"/>
            <p:cNvSpPr txBox="1"/>
            <p:nvPr/>
          </p:nvSpPr>
          <p:spPr>
            <a:xfrm>
              <a:off x="8824063" y="4622482"/>
              <a:ext cx="671219" cy="322707"/>
            </a:xfrm>
            <a:prstGeom prst="rect">
              <a:avLst/>
            </a:prstGeom>
            <a:noFill/>
            <a:ln>
              <a:noFill/>
            </a:ln>
          </p:spPr>
          <p:txBody>
            <a:bodyPr wrap="none" lIns="0" tIns="0" rIns="0" bIns="0" anchor="t" anchorCtr="0">
              <a:spAutoFit/>
            </a:bodyPr>
            <a:lstStyle/>
            <a:p>
              <a:pPr algn="r"/>
              <a:r>
                <a:rPr lang="zh-CN" sz="1650" b="1" dirty="0">
                  <a:solidFill>
                    <a:srgbClr val="E04C2E"/>
                  </a:solidFill>
                  <a:latin typeface="+mn-lt"/>
                  <a:ea typeface="+mn-ea"/>
                  <a:cs typeface="+mn-cs"/>
                </a:rPr>
                <a:t>4.0</a:t>
              </a:r>
              <a:r>
                <a:rPr lang="zh-CN" sz="750" dirty="0">
                  <a:solidFill>
                    <a:srgbClr val="BEA09A"/>
                  </a:solidFill>
                  <a:latin typeface="+mn-lt"/>
                  <a:ea typeface="+mn-ea"/>
                  <a:cs typeface="+mn-cs"/>
                </a:rPr>
                <a:t xml:space="preserve"> /5</a:t>
              </a:r>
              <a:r>
                <a:rPr lang="zh-CN" sz="1650" b="1" dirty="0">
                  <a:solidFill>
                    <a:srgbClr val="E04C2E"/>
                  </a:solidFill>
                  <a:latin typeface="+mn-lt"/>
                  <a:ea typeface="+mn-ea"/>
                  <a:cs typeface="+mn-cs"/>
                </a:rPr>
                <a:t>​</a:t>
              </a:r>
            </a:p>
          </p:txBody>
        </p:sp>
        <p:sp>
          <p:nvSpPr>
            <p:cNvPr id="260" name="Line 260"/>
            <p:cNvSpPr/>
            <p:nvPr/>
          </p:nvSpPr>
          <p:spPr>
            <a:xfrm>
              <a:off x="7429500" y="4933950"/>
              <a:ext cx="2057400" cy="9525"/>
            </a:xfrm>
            <a:custGeom>
              <a:avLst/>
              <a:gdLst/>
              <a:ahLst/>
              <a:cxnLst/>
              <a:rect l="l" t="t" r="r" b="b"/>
              <a:pathLst>
                <a:path w="2057400" h="9525">
                  <a:moveTo>
                    <a:pt x="0" y="0"/>
                  </a:moveTo>
                  <a:lnTo>
                    <a:pt x="2057400" y="0"/>
                  </a:lnTo>
                </a:path>
              </a:pathLst>
            </a:custGeom>
            <a:noFill/>
            <a:ln w="9525">
              <a:solidFill>
                <a:srgbClr val="E3EAF5"/>
              </a:solidFill>
            </a:ln>
          </p:spPr>
        </p:sp>
        <p:sp>
          <p:nvSpPr>
            <p:cNvPr id="261" name="Ellipse 261"/>
            <p:cNvSpPr/>
            <p:nvPr/>
          </p:nvSpPr>
          <p:spPr>
            <a:xfrm>
              <a:off x="7488555" y="5069205"/>
              <a:ext cx="34290" cy="34290"/>
            </a:xfrm>
            <a:prstGeom prst="ellipse">
              <a:avLst/>
            </a:prstGeom>
            <a:solidFill>
              <a:srgbClr val="E04C2E"/>
            </a:solidFill>
            <a:ln>
              <a:noFill/>
            </a:ln>
          </p:spPr>
        </p:sp>
        <p:sp>
          <p:nvSpPr>
            <p:cNvPr id="262" name="TextBox 262"/>
            <p:cNvSpPr txBox="1"/>
            <p:nvPr/>
          </p:nvSpPr>
          <p:spPr>
            <a:xfrm>
              <a:off x="7577138" y="5045107"/>
              <a:ext cx="1198137" cy="287655"/>
            </a:xfrm>
            <a:prstGeom prst="rect">
              <a:avLst/>
            </a:prstGeom>
            <a:noFill/>
            <a:ln>
              <a:noFill/>
            </a:ln>
          </p:spPr>
          <p:txBody>
            <a:bodyPr wrap="none" lIns="0" tIns="0" rIns="0" bIns="0" anchor="t" anchorCtr="0">
              <a:spAutoFit/>
            </a:bodyPr>
            <a:lstStyle/>
            <a:p>
              <a:pPr algn="l">
                <a:lnSpc>
                  <a:spcPts val="1125"/>
                </a:lnSpc>
              </a:pPr>
              <a:r>
                <a:rPr lang="zh-CN" sz="740" dirty="0">
                  <a:solidFill>
                    <a:srgbClr val="70504A"/>
                  </a:solidFill>
                  <a:latin typeface="+mn-lt"/>
                  <a:ea typeface="+mn-ea"/>
                  <a:cs typeface="+mn-cs"/>
                </a:rPr>
                <a:t>公司中收同比增长</a:t>
              </a:r>
              <a:r>
                <a:rPr lang="zh-CN" sz="740" b="1" dirty="0">
                  <a:solidFill>
                    <a:srgbClr val="E04C2E"/>
                  </a:solidFill>
                  <a:latin typeface="+mn-lt"/>
                  <a:ea typeface="+mn-ea"/>
                  <a:cs typeface="+mn-cs"/>
                </a:rPr>
                <a:t>16.8%</a:t>
              </a:r>
              <a:r>
                <a:rPr lang="zh-CN" sz="740" dirty="0">
                  <a:solidFill>
                    <a:srgbClr val="70504A"/>
                  </a:solidFill>
                  <a:latin typeface="+mn-lt"/>
                  <a:ea typeface="+mn-ea"/>
                  <a:cs typeface="+mn-cs"/>
                </a:rPr>
                <a:t>，​</a:t>
              </a:r>
              <a:br/>
              <a:r>
                <a:rPr lang="zh-CN" sz="740" dirty="0">
                  <a:solidFill>
                    <a:srgbClr val="70504A"/>
                  </a:solidFill>
                  <a:latin typeface="+mn-lt"/>
                  <a:ea typeface="+mn-ea"/>
                  <a:cs typeface="+mn-cs"/>
                </a:rPr>
                <a:t>超计划完成</a:t>
              </a:r>
            </a:p>
          </p:txBody>
        </p:sp>
        <p:sp>
          <p:nvSpPr>
            <p:cNvPr id="263" name="Ellipse 263"/>
            <p:cNvSpPr/>
            <p:nvPr/>
          </p:nvSpPr>
          <p:spPr>
            <a:xfrm>
              <a:off x="7488555" y="5488305"/>
              <a:ext cx="34290" cy="34290"/>
            </a:xfrm>
            <a:prstGeom prst="ellipse">
              <a:avLst/>
            </a:prstGeom>
            <a:solidFill>
              <a:srgbClr val="E04C2E"/>
            </a:solidFill>
            <a:ln>
              <a:noFill/>
            </a:ln>
          </p:spPr>
        </p:sp>
        <p:sp>
          <p:nvSpPr>
            <p:cNvPr id="264" name="TextBox 264"/>
            <p:cNvSpPr txBox="1"/>
            <p:nvPr/>
          </p:nvSpPr>
          <p:spPr>
            <a:xfrm>
              <a:off x="7577138" y="5464207"/>
              <a:ext cx="1080897" cy="287655"/>
            </a:xfrm>
            <a:prstGeom prst="rect">
              <a:avLst/>
            </a:prstGeom>
            <a:noFill/>
            <a:ln>
              <a:noFill/>
            </a:ln>
          </p:spPr>
          <p:txBody>
            <a:bodyPr wrap="none" lIns="0" tIns="0" rIns="0" bIns="0" anchor="t" anchorCtr="0">
              <a:spAutoFit/>
            </a:bodyPr>
            <a:lstStyle/>
            <a:p>
              <a:pPr algn="l">
                <a:lnSpc>
                  <a:spcPts val="1125"/>
                </a:lnSpc>
              </a:pPr>
              <a:r>
                <a:rPr lang="zh-CN" sz="740" dirty="0">
                  <a:solidFill>
                    <a:srgbClr val="70504A"/>
                  </a:solidFill>
                  <a:latin typeface="+mn-lt"/>
                  <a:ea typeface="+mn-ea"/>
                  <a:cs typeface="+mn-cs"/>
                </a:rPr>
                <a:t>利润水平稳步提升，ROE​</a:t>
              </a:r>
              <a:br/>
              <a:r>
                <a:rPr lang="zh-CN" sz="740" dirty="0">
                  <a:solidFill>
                    <a:srgbClr val="70504A"/>
                  </a:solidFill>
                  <a:latin typeface="+mn-lt"/>
                  <a:ea typeface="+mn-ea"/>
                  <a:cs typeface="+mn-cs"/>
                </a:rPr>
                <a:t>保持提升态势</a:t>
              </a:r>
            </a:p>
          </p:txBody>
        </p:sp>
        <p:sp>
          <p:nvSpPr>
            <p:cNvPr id="265" name="Line 265"/>
            <p:cNvSpPr/>
            <p:nvPr/>
          </p:nvSpPr>
          <p:spPr>
            <a:xfrm>
              <a:off x="7429500" y="6210300"/>
              <a:ext cx="2057400" cy="9525"/>
            </a:xfrm>
            <a:custGeom>
              <a:avLst/>
              <a:gdLst/>
              <a:ahLst/>
              <a:cxnLst/>
              <a:rect l="l" t="t" r="r" b="b"/>
              <a:pathLst>
                <a:path w="2057400" h="9525">
                  <a:moveTo>
                    <a:pt x="0" y="0"/>
                  </a:moveTo>
                  <a:lnTo>
                    <a:pt x="2057400" y="0"/>
                  </a:lnTo>
                </a:path>
              </a:pathLst>
            </a:custGeom>
            <a:noFill/>
            <a:ln w="9525">
              <a:solidFill>
                <a:srgbClr val="E3EAF5"/>
              </a:solidFill>
            </a:ln>
          </p:spPr>
        </p:sp>
        <p:sp>
          <p:nvSpPr>
            <p:cNvPr id="266" name="TextBox 266"/>
            <p:cNvSpPr txBox="1"/>
            <p:nvPr/>
          </p:nvSpPr>
          <p:spPr>
            <a:xfrm>
              <a:off x="7462838" y="6357938"/>
              <a:ext cx="266986"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趋势:</a:t>
              </a:r>
            </a:p>
          </p:txBody>
        </p:sp>
        <p:grpSp>
          <p:nvGrpSpPr>
            <p:cNvPr id="269" name="Group 269"/>
            <p:cNvGrpSpPr/>
            <p:nvPr/>
          </p:nvGrpSpPr>
          <p:grpSpPr>
            <a:xfrm>
              <a:off x="7789069" y="6363494"/>
              <a:ext cx="100012" cy="55562"/>
              <a:chOff x="7789069" y="6363494"/>
              <a:chExt cx="100012" cy="55562"/>
            </a:xfrm>
          </p:grpSpPr>
          <p:sp>
            <p:nvSpPr>
              <p:cNvPr id="267" name="Freeform 267"/>
              <p:cNvSpPr/>
              <p:nvPr/>
            </p:nvSpPr>
            <p:spPr>
              <a:xfrm>
                <a:off x="7789069" y="6363494"/>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E04C2E"/>
                </a:solidFill>
              </a:ln>
            </p:spPr>
          </p:sp>
          <p:sp>
            <p:nvSpPr>
              <p:cNvPr id="268" name="Freeform 268"/>
              <p:cNvSpPr/>
              <p:nvPr/>
            </p:nvSpPr>
            <p:spPr>
              <a:xfrm>
                <a:off x="7850187" y="6363494"/>
                <a:ext cx="38894" cy="38894"/>
              </a:xfrm>
              <a:custGeom>
                <a:avLst/>
                <a:gdLst/>
                <a:ahLst/>
                <a:cxnLst/>
                <a:rect l="l" t="t" r="r" b="b"/>
                <a:pathLst>
                  <a:path w="38894" h="38894">
                    <a:moveTo>
                      <a:pt x="0" y="0"/>
                    </a:moveTo>
                    <a:lnTo>
                      <a:pt x="38894" y="0"/>
                    </a:lnTo>
                    <a:lnTo>
                      <a:pt x="38894" y="38894"/>
                    </a:lnTo>
                  </a:path>
                </a:pathLst>
              </a:custGeom>
              <a:noFill/>
              <a:ln w="11112">
                <a:solidFill>
                  <a:srgbClr val="E04C2E"/>
                </a:solidFill>
              </a:ln>
            </p:spPr>
          </p:sp>
        </p:grpSp>
        <p:sp>
          <p:nvSpPr>
            <p:cNvPr id="270" name="TextBox 270"/>
            <p:cNvSpPr txBox="1"/>
            <p:nvPr/>
          </p:nvSpPr>
          <p:spPr>
            <a:xfrm>
              <a:off x="7958138" y="6349841"/>
              <a:ext cx="230302"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向好</a:t>
              </a:r>
            </a:p>
          </p:txBody>
        </p:sp>
      </p:grpSp>
      <p:grpSp>
        <p:nvGrpSpPr>
          <p:cNvPr id="292" name="score-risk"/>
          <p:cNvGrpSpPr/>
          <p:nvPr/>
        </p:nvGrpSpPr>
        <p:grpSpPr>
          <a:xfrm>
            <a:off x="9677400" y="4343400"/>
            <a:ext cx="2286000" cy="2209800"/>
            <a:chOff x="9677400" y="4343400"/>
            <a:chExt cx="2286000" cy="2209800"/>
          </a:xfrm>
        </p:grpSpPr>
        <p:sp>
          <p:nvSpPr>
            <p:cNvPr id="272" name="Rectangle 272"/>
            <p:cNvSpPr/>
            <p:nvPr/>
          </p:nvSpPr>
          <p:spPr>
            <a:xfrm>
              <a:off x="9677400" y="4343400"/>
              <a:ext cx="2286000" cy="2209800"/>
            </a:xfrm>
            <a:prstGeom prst="roundRect">
              <a:avLst>
                <a:gd name="adj" fmla="val 2586"/>
              </a:avLst>
            </a:prstGeom>
            <a:solidFill>
              <a:srgbClr val="FFFFFF"/>
            </a:solidFill>
            <a:ln w="14288">
              <a:solidFill>
                <a:srgbClr val="D0442C"/>
              </a:solidFill>
            </a:ln>
          </p:spPr>
        </p:sp>
        <p:sp>
          <p:nvSpPr>
            <p:cNvPr id="273" name="Ellipse 273"/>
            <p:cNvSpPr/>
            <p:nvPr/>
          </p:nvSpPr>
          <p:spPr>
            <a:xfrm>
              <a:off x="9820275" y="4486275"/>
              <a:ext cx="285750" cy="285750"/>
            </a:xfrm>
            <a:prstGeom prst="ellipse">
              <a:avLst/>
            </a:prstGeom>
            <a:solidFill>
              <a:srgbClr val="FBEAE9"/>
            </a:solidFill>
            <a:ln>
              <a:noFill/>
            </a:ln>
          </p:spPr>
        </p:sp>
        <p:grpSp>
          <p:nvGrpSpPr>
            <p:cNvPr id="277" name="Group 277"/>
            <p:cNvGrpSpPr/>
            <p:nvPr/>
          </p:nvGrpSpPr>
          <p:grpSpPr>
            <a:xfrm>
              <a:off x="9899110" y="4569890"/>
              <a:ext cx="128076" cy="110034"/>
              <a:chOff x="9899110" y="4569890"/>
              <a:chExt cx="128076" cy="110034"/>
            </a:xfrm>
          </p:grpSpPr>
          <p:sp>
            <p:nvSpPr>
              <p:cNvPr id="274" name="Freeform 274"/>
              <p:cNvSpPr/>
              <p:nvPr/>
            </p:nvSpPr>
            <p:spPr>
              <a:xfrm>
                <a:off x="9963150" y="4610100"/>
                <a:ext cx="9525" cy="25400"/>
              </a:xfrm>
              <a:custGeom>
                <a:avLst/>
                <a:gdLst/>
                <a:ahLst/>
                <a:cxnLst/>
                <a:rect l="l" t="t" r="r" b="b"/>
                <a:pathLst>
                  <a:path w="9525" h="25400">
                    <a:moveTo>
                      <a:pt x="0" y="0"/>
                    </a:moveTo>
                    <a:lnTo>
                      <a:pt x="0" y="25400"/>
                    </a:lnTo>
                  </a:path>
                </a:pathLst>
              </a:custGeom>
              <a:noFill/>
              <a:ln w="12700">
                <a:solidFill>
                  <a:srgbClr val="D0442C"/>
                </a:solidFill>
              </a:ln>
            </p:spPr>
          </p:sp>
          <p:sp>
            <p:nvSpPr>
              <p:cNvPr id="275" name="Freeform 275"/>
              <p:cNvSpPr/>
              <p:nvPr/>
            </p:nvSpPr>
            <p:spPr>
              <a:xfrm>
                <a:off x="9899110" y="456989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D0442C"/>
                </a:solidFill>
              </a:ln>
            </p:spPr>
          </p:sp>
          <p:sp>
            <p:nvSpPr>
              <p:cNvPr id="276" name="Freeform 276"/>
              <p:cNvSpPr/>
              <p:nvPr/>
            </p:nvSpPr>
            <p:spPr>
              <a:xfrm>
                <a:off x="9963150" y="4654550"/>
                <a:ext cx="9525" cy="9525"/>
              </a:xfrm>
              <a:custGeom>
                <a:avLst/>
                <a:gdLst/>
                <a:ahLst/>
                <a:cxnLst/>
                <a:rect l="l" t="t" r="r" b="b"/>
                <a:pathLst>
                  <a:path w="9525" h="9525">
                    <a:moveTo>
                      <a:pt x="0" y="0"/>
                    </a:moveTo>
                    <a:lnTo>
                      <a:pt x="64" y="0"/>
                    </a:lnTo>
                  </a:path>
                </a:pathLst>
              </a:custGeom>
              <a:noFill/>
              <a:ln w="12700">
                <a:solidFill>
                  <a:srgbClr val="D0442C"/>
                </a:solidFill>
              </a:ln>
            </p:spPr>
          </p:sp>
        </p:grpSp>
        <p:sp>
          <p:nvSpPr>
            <p:cNvPr id="278" name="TextBox 278"/>
            <p:cNvSpPr txBox="1"/>
            <p:nvPr/>
          </p:nvSpPr>
          <p:spPr>
            <a:xfrm>
              <a:off x="10167176" y="4568904"/>
              <a:ext cx="304521" cy="212693"/>
            </a:xfrm>
            <a:prstGeom prst="rect">
              <a:avLst/>
            </a:prstGeom>
            <a:noFill/>
            <a:ln>
              <a:noFill/>
            </a:ln>
          </p:spPr>
          <p:txBody>
            <a:bodyPr wrap="none" lIns="0" tIns="0" rIns="0" bIns="0" anchor="t" anchorCtr="0">
              <a:spAutoFit/>
            </a:bodyPr>
            <a:lstStyle/>
            <a:p>
              <a:pPr algn="l"/>
              <a:r>
                <a:rPr lang="zh-CN" sz="1090" b="1" dirty="0">
                  <a:solidFill>
                    <a:srgbClr val="D0442C"/>
                  </a:solidFill>
                  <a:latin typeface="+mn-lt"/>
                  <a:ea typeface="+mn-ea"/>
                  <a:cs typeface="+mn-cs"/>
                </a:rPr>
                <a:t>风险</a:t>
              </a:r>
            </a:p>
          </p:txBody>
        </p:sp>
        <p:sp>
          <p:nvSpPr>
            <p:cNvPr id="279" name="TextBox 279"/>
            <p:cNvSpPr txBox="1"/>
            <p:nvPr/>
          </p:nvSpPr>
          <p:spPr>
            <a:xfrm>
              <a:off x="11478171" y="4499134"/>
              <a:ext cx="375691" cy="133350"/>
            </a:xfrm>
            <a:prstGeom prst="rect">
              <a:avLst/>
            </a:prstGeom>
            <a:noFill/>
            <a:ln>
              <a:noFill/>
            </a:ln>
          </p:spPr>
          <p:txBody>
            <a:bodyPr wrap="none" lIns="0" tIns="0" rIns="0" bIns="0" anchor="t" anchorCtr="0">
              <a:spAutoFit/>
            </a:bodyPr>
            <a:lstStyle/>
            <a:p>
              <a:pPr algn="r"/>
              <a:r>
                <a:rPr lang="zh-CN" sz="680" dirty="0">
                  <a:solidFill>
                    <a:srgbClr val="BEA09A"/>
                  </a:solidFill>
                  <a:latin typeface="+mn-lt"/>
                  <a:ea typeface="+mn-ea"/>
                  <a:cs typeface="+mn-cs"/>
                </a:rPr>
                <a:t>评价得分</a:t>
              </a:r>
            </a:p>
          </p:txBody>
        </p:sp>
        <p:sp>
          <p:nvSpPr>
            <p:cNvPr id="280" name="TextBox 280"/>
            <p:cNvSpPr txBox="1"/>
            <p:nvPr/>
          </p:nvSpPr>
          <p:spPr>
            <a:xfrm>
              <a:off x="11186263" y="4622482"/>
              <a:ext cx="671219" cy="322707"/>
            </a:xfrm>
            <a:prstGeom prst="rect">
              <a:avLst/>
            </a:prstGeom>
            <a:noFill/>
            <a:ln>
              <a:noFill/>
            </a:ln>
          </p:spPr>
          <p:txBody>
            <a:bodyPr wrap="none" lIns="0" tIns="0" rIns="0" bIns="0" anchor="t" anchorCtr="0">
              <a:spAutoFit/>
            </a:bodyPr>
            <a:lstStyle/>
            <a:p>
              <a:pPr algn="r"/>
              <a:r>
                <a:rPr lang="zh-CN" sz="1650" b="1" dirty="0">
                  <a:solidFill>
                    <a:srgbClr val="D0442C"/>
                  </a:solidFill>
                  <a:latin typeface="+mn-lt"/>
                  <a:ea typeface="+mn-ea"/>
                  <a:cs typeface="+mn-cs"/>
                </a:rPr>
                <a:t>2.5</a:t>
              </a:r>
              <a:r>
                <a:rPr lang="zh-CN" sz="750" dirty="0">
                  <a:solidFill>
                    <a:srgbClr val="BEA09A"/>
                  </a:solidFill>
                  <a:latin typeface="+mn-lt"/>
                  <a:ea typeface="+mn-ea"/>
                  <a:cs typeface="+mn-cs"/>
                </a:rPr>
                <a:t xml:space="preserve"> /5</a:t>
              </a:r>
              <a:r>
                <a:rPr lang="zh-CN" sz="1650" b="1" dirty="0">
                  <a:solidFill>
                    <a:srgbClr val="D0442C"/>
                  </a:solidFill>
                  <a:latin typeface="+mn-lt"/>
                  <a:ea typeface="+mn-ea"/>
                  <a:cs typeface="+mn-cs"/>
                </a:rPr>
                <a:t>​</a:t>
              </a:r>
            </a:p>
          </p:txBody>
        </p:sp>
        <p:sp>
          <p:nvSpPr>
            <p:cNvPr id="281" name="Line 281"/>
            <p:cNvSpPr/>
            <p:nvPr/>
          </p:nvSpPr>
          <p:spPr>
            <a:xfrm>
              <a:off x="9791700" y="4933950"/>
              <a:ext cx="2057400" cy="9525"/>
            </a:xfrm>
            <a:custGeom>
              <a:avLst/>
              <a:gdLst/>
              <a:ahLst/>
              <a:cxnLst/>
              <a:rect l="l" t="t" r="r" b="b"/>
              <a:pathLst>
                <a:path w="2057400" h="9525">
                  <a:moveTo>
                    <a:pt x="0" y="0"/>
                  </a:moveTo>
                  <a:lnTo>
                    <a:pt x="2057400" y="0"/>
                  </a:lnTo>
                </a:path>
              </a:pathLst>
            </a:custGeom>
            <a:noFill/>
            <a:ln w="9525">
              <a:solidFill>
                <a:srgbClr val="F5DCDA"/>
              </a:solidFill>
            </a:ln>
          </p:spPr>
        </p:sp>
        <p:sp>
          <p:nvSpPr>
            <p:cNvPr id="282" name="Ellipse 282"/>
            <p:cNvSpPr/>
            <p:nvPr/>
          </p:nvSpPr>
          <p:spPr>
            <a:xfrm>
              <a:off x="9850755" y="5069205"/>
              <a:ext cx="34290" cy="34290"/>
            </a:xfrm>
            <a:prstGeom prst="ellipse">
              <a:avLst/>
            </a:prstGeom>
            <a:solidFill>
              <a:srgbClr val="D0442C"/>
            </a:solidFill>
            <a:ln>
              <a:noFill/>
            </a:ln>
          </p:spPr>
        </p:sp>
        <p:sp>
          <p:nvSpPr>
            <p:cNvPr id="283" name="TextBox 283"/>
            <p:cNvSpPr txBox="1"/>
            <p:nvPr/>
          </p:nvSpPr>
          <p:spPr>
            <a:xfrm>
              <a:off x="9939338" y="5045107"/>
              <a:ext cx="1204951"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部分行业客户风险暴露上升</a:t>
              </a:r>
            </a:p>
          </p:txBody>
        </p:sp>
        <p:sp>
          <p:nvSpPr>
            <p:cNvPr id="284" name="Ellipse 284"/>
            <p:cNvSpPr/>
            <p:nvPr/>
          </p:nvSpPr>
          <p:spPr>
            <a:xfrm>
              <a:off x="9850755" y="5354955"/>
              <a:ext cx="34290" cy="34290"/>
            </a:xfrm>
            <a:prstGeom prst="ellipse">
              <a:avLst/>
            </a:prstGeom>
            <a:solidFill>
              <a:srgbClr val="D0442C"/>
            </a:solidFill>
            <a:ln>
              <a:noFill/>
            </a:ln>
          </p:spPr>
        </p:sp>
        <p:sp>
          <p:nvSpPr>
            <p:cNvPr id="285" name="TextBox 285"/>
            <p:cNvSpPr txBox="1"/>
            <p:nvPr/>
          </p:nvSpPr>
          <p:spPr>
            <a:xfrm>
              <a:off x="9939338" y="5330857"/>
              <a:ext cx="1386097" cy="287655"/>
            </a:xfrm>
            <a:prstGeom prst="rect">
              <a:avLst/>
            </a:prstGeom>
            <a:noFill/>
            <a:ln>
              <a:noFill/>
            </a:ln>
          </p:spPr>
          <p:txBody>
            <a:bodyPr wrap="none" lIns="0" tIns="0" rIns="0" bIns="0" anchor="t" anchorCtr="0">
              <a:spAutoFit/>
            </a:bodyPr>
            <a:lstStyle/>
            <a:p>
              <a:pPr algn="l">
                <a:lnSpc>
                  <a:spcPts val="1125"/>
                </a:lnSpc>
              </a:pPr>
              <a:r>
                <a:rPr lang="zh-CN" sz="740" dirty="0">
                  <a:solidFill>
                    <a:srgbClr val="70504A"/>
                  </a:solidFill>
                  <a:latin typeface="+mn-lt"/>
                  <a:ea typeface="+mn-ea"/>
                  <a:cs typeface="+mn-cs"/>
                </a:rPr>
                <a:t>不良贷款率</a:t>
              </a:r>
              <a:r>
                <a:rPr lang="zh-CN" sz="740" b="1" dirty="0">
                  <a:solidFill>
                    <a:srgbClr val="D0442C"/>
                  </a:solidFill>
                  <a:latin typeface="+mn-lt"/>
                  <a:ea typeface="+mn-ea"/>
                  <a:cs typeface="+mn-cs"/>
                </a:rPr>
                <a:t>0.92%</a:t>
              </a:r>
              <a:r>
                <a:rPr lang="zh-CN" sz="740" dirty="0">
                  <a:solidFill>
                    <a:srgbClr val="70504A"/>
                  </a:solidFill>
                  <a:latin typeface="+mn-lt"/>
                  <a:ea typeface="+mn-ea"/>
                  <a:cs typeface="+mn-cs"/>
                </a:rPr>
                <a:t>，较年初上升​</a:t>
              </a:r>
              <a:br/>
              <a:r>
                <a:rPr lang="zh-CN" sz="740" b="1" dirty="0">
                  <a:solidFill>
                    <a:srgbClr val="D0442C"/>
                  </a:solidFill>
                  <a:latin typeface="+mn-lt"/>
                  <a:ea typeface="+mn-ea"/>
                  <a:cs typeface="+mn-cs"/>
                </a:rPr>
                <a:t>0.18个百分点​</a:t>
              </a:r>
            </a:p>
          </p:txBody>
        </p:sp>
        <p:sp>
          <p:nvSpPr>
            <p:cNvPr id="286" name="Line 286"/>
            <p:cNvSpPr/>
            <p:nvPr/>
          </p:nvSpPr>
          <p:spPr>
            <a:xfrm>
              <a:off x="9791700" y="6210300"/>
              <a:ext cx="2057400" cy="9525"/>
            </a:xfrm>
            <a:custGeom>
              <a:avLst/>
              <a:gdLst/>
              <a:ahLst/>
              <a:cxnLst/>
              <a:rect l="l" t="t" r="r" b="b"/>
              <a:pathLst>
                <a:path w="2057400" h="9525">
                  <a:moveTo>
                    <a:pt x="0" y="0"/>
                  </a:moveTo>
                  <a:lnTo>
                    <a:pt x="2057400" y="0"/>
                  </a:lnTo>
                </a:path>
              </a:pathLst>
            </a:custGeom>
            <a:noFill/>
            <a:ln w="9525">
              <a:solidFill>
                <a:srgbClr val="F5DCDA"/>
              </a:solidFill>
            </a:ln>
          </p:spPr>
        </p:sp>
        <p:sp>
          <p:nvSpPr>
            <p:cNvPr id="287" name="TextBox 287"/>
            <p:cNvSpPr txBox="1"/>
            <p:nvPr/>
          </p:nvSpPr>
          <p:spPr>
            <a:xfrm>
              <a:off x="9825038" y="6357938"/>
              <a:ext cx="266986"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趋势:</a:t>
              </a:r>
            </a:p>
          </p:txBody>
        </p:sp>
        <p:grpSp>
          <p:nvGrpSpPr>
            <p:cNvPr id="290" name="Group 290"/>
            <p:cNvGrpSpPr/>
            <p:nvPr/>
          </p:nvGrpSpPr>
          <p:grpSpPr>
            <a:xfrm>
              <a:off x="10151269" y="6363494"/>
              <a:ext cx="100012" cy="55562"/>
              <a:chOff x="10151269" y="6363494"/>
              <a:chExt cx="100012" cy="55562"/>
            </a:xfrm>
          </p:grpSpPr>
          <p:sp>
            <p:nvSpPr>
              <p:cNvPr id="288" name="Freeform 288"/>
              <p:cNvSpPr/>
              <p:nvPr/>
            </p:nvSpPr>
            <p:spPr>
              <a:xfrm>
                <a:off x="10151269" y="6363494"/>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D0442C"/>
                </a:solidFill>
              </a:ln>
            </p:spPr>
          </p:sp>
          <p:sp>
            <p:nvSpPr>
              <p:cNvPr id="289" name="Freeform 289"/>
              <p:cNvSpPr/>
              <p:nvPr/>
            </p:nvSpPr>
            <p:spPr>
              <a:xfrm>
                <a:off x="10212387" y="6363494"/>
                <a:ext cx="38894" cy="38894"/>
              </a:xfrm>
              <a:custGeom>
                <a:avLst/>
                <a:gdLst/>
                <a:ahLst/>
                <a:cxnLst/>
                <a:rect l="l" t="t" r="r" b="b"/>
                <a:pathLst>
                  <a:path w="38894" h="38894">
                    <a:moveTo>
                      <a:pt x="0" y="0"/>
                    </a:moveTo>
                    <a:lnTo>
                      <a:pt x="38894" y="0"/>
                    </a:lnTo>
                    <a:lnTo>
                      <a:pt x="38894" y="38894"/>
                    </a:lnTo>
                  </a:path>
                </a:pathLst>
              </a:custGeom>
              <a:noFill/>
              <a:ln w="11112">
                <a:solidFill>
                  <a:srgbClr val="D0442C"/>
                </a:solidFill>
              </a:ln>
            </p:spPr>
          </p:sp>
        </p:grpSp>
        <p:sp>
          <p:nvSpPr>
            <p:cNvPr id="291" name="TextBox 291"/>
            <p:cNvSpPr txBox="1"/>
            <p:nvPr/>
          </p:nvSpPr>
          <p:spPr>
            <a:xfrm>
              <a:off x="10320338" y="6349841"/>
              <a:ext cx="340690" cy="161925"/>
            </a:xfrm>
            <a:prstGeom prst="rect">
              <a:avLst/>
            </a:prstGeom>
            <a:noFill/>
            <a:ln>
              <a:noFill/>
            </a:ln>
          </p:spPr>
          <p:txBody>
            <a:bodyPr wrap="none" lIns="0" tIns="0" rIns="0" bIns="0" anchor="t" anchorCtr="0">
              <a:spAutoFit/>
            </a:bodyPr>
            <a:lstStyle/>
            <a:p>
              <a:pPr algn="l"/>
              <a:r>
                <a:rPr lang="zh-CN" sz="820" b="1" dirty="0">
                  <a:solidFill>
                    <a:srgbClr val="D0442C"/>
                  </a:solidFill>
                  <a:latin typeface="+mn-lt"/>
                  <a:ea typeface="+mn-ea"/>
                  <a:cs typeface="+mn-cs"/>
                </a:rPr>
                <a:t>需关注</a:t>
              </a:r>
            </a:p>
          </p:txBody>
        </p:sp>
      </p:grpSp>
      <p:grpSp>
        <p:nvGrpSpPr>
          <p:cNvPr id="294" name="footnote"/>
          <p:cNvGrpSpPr/>
          <p:nvPr/>
        </p:nvGrpSpPr>
        <p:grpSpPr>
          <a:xfrm>
            <a:off x="223838" y="6674882"/>
            <a:ext cx="4317365" cy="126206"/>
            <a:chOff x="223838" y="6674882"/>
            <a:chExt cx="4317365" cy="126206"/>
          </a:xfrm>
        </p:grpSpPr>
        <p:sp>
          <p:nvSpPr>
            <p:cNvPr id="293" name="TextBox 293"/>
            <p:cNvSpPr txBox="1"/>
            <p:nvPr/>
          </p:nvSpPr>
          <p:spPr>
            <a:xfrm>
              <a:off x="223838" y="6674882"/>
              <a:ext cx="4317365"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注：以上数据均为时点余额（示例口径），实际以财务及管理系统数据为准，部分指标可能与监管口径存在差异。</a:t>
              </a:r>
            </a:p>
          </p:txBody>
        </p:sp>
      </p:grpSp>
      <p:sp>
        <p:nvSpPr>
          <p:cNvPr id="295" name="pageno"/>
          <p:cNvSpPr txBox="1"/>
          <p:nvPr/>
        </p:nvSpPr>
        <p:spPr>
          <a:xfrm>
            <a:off x="11321415" y="66627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02 / 18 页​</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03​</a:t>
              </a:r>
            </a:p>
          </p:txBody>
        </p:sp>
        <p:sp>
          <p:nvSpPr>
            <p:cNvPr id="4" name="TextBox 4"/>
            <p:cNvSpPr txBox="1"/>
            <p:nvPr/>
          </p:nvSpPr>
          <p:spPr>
            <a:xfrm>
              <a:off x="1019175" y="169069"/>
              <a:ext cx="7105447"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对公存款规模实现较快增长，但稳定性与市场份额仍需继续提升</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59428" y="300038"/>
              <a:ext cx="1423035"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金额单位：人民币亿元（示例）</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51" name="table-structure"/>
          <p:cNvGrpSpPr/>
          <p:nvPr/>
        </p:nvGrpSpPr>
        <p:grpSpPr>
          <a:xfrm>
            <a:off x="228600" y="685800"/>
            <a:ext cx="3810000" cy="3009900"/>
            <a:chOff x="228600" y="685800"/>
            <a:chExt cx="3810000" cy="3009900"/>
          </a:xfrm>
        </p:grpSpPr>
        <p:sp>
          <p:nvSpPr>
            <p:cNvPr id="9" name="Rectangle 9"/>
            <p:cNvSpPr/>
            <p:nvPr/>
          </p:nvSpPr>
          <p:spPr>
            <a:xfrm>
              <a:off x="228600" y="685800"/>
              <a:ext cx="3810000" cy="3009900"/>
            </a:xfrm>
            <a:prstGeom prst="roundRect">
              <a:avLst>
                <a:gd name="adj" fmla="val 1899"/>
              </a:avLst>
            </a:prstGeom>
            <a:solidFill>
              <a:srgbClr val="FFFFFF"/>
            </a:solidFill>
            <a:ln w="9525">
              <a:solidFill>
                <a:srgbClr val="C9D6E9"/>
              </a:solidFill>
            </a:ln>
          </p:spPr>
        </p:sp>
        <p:sp>
          <p:nvSpPr>
            <p:cNvPr id="10" name="Rectangle 10"/>
            <p:cNvSpPr/>
            <p:nvPr/>
          </p:nvSpPr>
          <p:spPr>
            <a:xfrm>
              <a:off x="228600" y="685800"/>
              <a:ext cx="3810000" cy="247650"/>
            </a:xfrm>
            <a:prstGeom prst="roundRect">
              <a:avLst>
                <a:gd name="adj" fmla="val 23077"/>
              </a:avLst>
            </a:prstGeom>
            <a:solidFill>
              <a:srgbClr val="69281B"/>
            </a:solidFill>
            <a:ln>
              <a:noFill/>
            </a:ln>
          </p:spPr>
        </p:sp>
        <p:sp>
          <p:nvSpPr>
            <p:cNvPr id="11" name="Rectangle 11"/>
            <p:cNvSpPr/>
            <p:nvPr/>
          </p:nvSpPr>
          <p:spPr>
            <a:xfrm>
              <a:off x="228600" y="838200"/>
              <a:ext cx="3810000" cy="95250"/>
            </a:xfrm>
            <a:prstGeom prst="rect">
              <a:avLst/>
            </a:prstGeom>
            <a:solidFill>
              <a:srgbClr val="69281B"/>
            </a:solidFill>
            <a:ln>
              <a:noFill/>
            </a:ln>
          </p:spPr>
        </p:sp>
        <p:grpSp>
          <p:nvGrpSpPr>
            <p:cNvPr id="15" name="Group 15"/>
            <p:cNvGrpSpPr/>
            <p:nvPr/>
          </p:nvGrpSpPr>
          <p:grpSpPr>
            <a:xfrm>
              <a:off x="1241425" y="759619"/>
              <a:ext cx="88900" cy="100012"/>
              <a:chOff x="1241425" y="759619"/>
              <a:chExt cx="88900" cy="100012"/>
            </a:xfrm>
          </p:grpSpPr>
          <p:sp>
            <p:nvSpPr>
              <p:cNvPr id="12" name="Freeform 12"/>
              <p:cNvSpPr/>
              <p:nvPr/>
            </p:nvSpPr>
            <p:spPr>
              <a:xfrm>
                <a:off x="1241425" y="759619"/>
                <a:ext cx="88900" cy="33337"/>
              </a:xfrm>
              <a:custGeom>
                <a:avLst/>
                <a:gdLst/>
                <a:ahLst/>
                <a:cxnLst/>
                <a:rect l="l" t="t" r="r" b="b"/>
                <a:pathLst>
                  <a:path w="88900" h="33337">
                    <a:moveTo>
                      <a:pt x="0" y="16669"/>
                    </a:moveTo>
                    <a:cubicBezTo>
                      <a:pt x="0" y="25875"/>
                      <a:pt x="19901" y="33337"/>
                      <a:pt x="44450" y="33337"/>
                    </a:cubicBezTo>
                    <a:cubicBezTo>
                      <a:pt x="68999" y="33337"/>
                      <a:pt x="88900" y="25875"/>
                      <a:pt x="88900" y="16669"/>
                    </a:cubicBezTo>
                    <a:cubicBezTo>
                      <a:pt x="88900" y="7463"/>
                      <a:pt x="68999" y="0"/>
                      <a:pt x="44450" y="0"/>
                    </a:cubicBezTo>
                    <a:cubicBezTo>
                      <a:pt x="19901" y="0"/>
                      <a:pt x="0" y="7463"/>
                      <a:pt x="0" y="16669"/>
                    </a:cubicBezTo>
                  </a:path>
                </a:pathLst>
              </a:custGeom>
              <a:noFill/>
              <a:ln w="11112">
                <a:solidFill>
                  <a:srgbClr val="FFFFFF"/>
                </a:solidFill>
              </a:ln>
            </p:spPr>
          </p:sp>
          <p:sp>
            <p:nvSpPr>
              <p:cNvPr id="13" name="Freeform 13"/>
              <p:cNvSpPr/>
              <p:nvPr/>
            </p:nvSpPr>
            <p:spPr>
              <a:xfrm>
                <a:off x="1241425" y="776287"/>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FFFFFF"/>
                </a:solidFill>
              </a:ln>
            </p:spPr>
          </p:sp>
          <p:sp>
            <p:nvSpPr>
              <p:cNvPr id="14" name="Freeform 14"/>
              <p:cNvSpPr/>
              <p:nvPr/>
            </p:nvSpPr>
            <p:spPr>
              <a:xfrm>
                <a:off x="1241425" y="809625"/>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FFFFFF"/>
                </a:solidFill>
              </a:ln>
            </p:spPr>
          </p:sp>
        </p:grpSp>
        <p:sp>
          <p:nvSpPr>
            <p:cNvPr id="16" name="TextBox 16"/>
            <p:cNvSpPr txBox="1"/>
            <p:nvPr/>
          </p:nvSpPr>
          <p:spPr>
            <a:xfrm>
              <a:off x="1749209" y="75604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存款结构概览</a:t>
              </a:r>
            </a:p>
          </p:txBody>
        </p:sp>
        <p:sp>
          <p:nvSpPr>
            <p:cNvPr id="17" name="Rectangle 17"/>
            <p:cNvSpPr/>
            <p:nvPr/>
          </p:nvSpPr>
          <p:spPr>
            <a:xfrm>
              <a:off x="342900" y="1009650"/>
              <a:ext cx="3581400" cy="209550"/>
            </a:xfrm>
            <a:prstGeom prst="rect">
              <a:avLst/>
            </a:prstGeom>
            <a:solidFill>
              <a:srgbClr val="EAF1FB"/>
            </a:solidFill>
            <a:ln>
              <a:noFill/>
            </a:ln>
          </p:spPr>
        </p:sp>
        <p:sp>
          <p:nvSpPr>
            <p:cNvPr id="18" name="TextBox 18"/>
            <p:cNvSpPr txBox="1"/>
            <p:nvPr/>
          </p:nvSpPr>
          <p:spPr>
            <a:xfrm>
              <a:off x="898538" y="1067514"/>
              <a:ext cx="222225"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指标</a:t>
              </a:r>
            </a:p>
          </p:txBody>
        </p:sp>
        <p:sp>
          <p:nvSpPr>
            <p:cNvPr id="19" name="TextBox 19"/>
            <p:cNvSpPr txBox="1"/>
            <p:nvPr/>
          </p:nvSpPr>
          <p:spPr>
            <a:xfrm>
              <a:off x="2133638" y="1067514"/>
              <a:ext cx="647624"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金额（亿元）</a:t>
              </a:r>
            </a:p>
          </p:txBody>
        </p:sp>
        <p:sp>
          <p:nvSpPr>
            <p:cNvPr id="20" name="TextBox 20"/>
            <p:cNvSpPr txBox="1"/>
            <p:nvPr/>
          </p:nvSpPr>
          <p:spPr>
            <a:xfrm>
              <a:off x="3451238" y="1067514"/>
              <a:ext cx="222225"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占比</a:t>
              </a:r>
            </a:p>
          </p:txBody>
        </p:sp>
        <p:sp>
          <p:nvSpPr>
            <p:cNvPr id="21" name="Line 21"/>
            <p:cNvSpPr/>
            <p:nvPr/>
          </p:nvSpPr>
          <p:spPr>
            <a:xfrm>
              <a:off x="342900" y="1219200"/>
              <a:ext cx="3581400" cy="9525"/>
            </a:xfrm>
            <a:custGeom>
              <a:avLst/>
              <a:gdLst/>
              <a:ahLst/>
              <a:cxnLst/>
              <a:rect l="l" t="t" r="r" b="b"/>
              <a:pathLst>
                <a:path w="3581400" h="9525">
                  <a:moveTo>
                    <a:pt x="0" y="0"/>
                  </a:moveTo>
                  <a:lnTo>
                    <a:pt x="3581400" y="0"/>
                  </a:lnTo>
                </a:path>
              </a:pathLst>
            </a:custGeom>
            <a:noFill/>
            <a:ln w="9525">
              <a:solidFill>
                <a:srgbClr val="C9D6E9"/>
              </a:solidFill>
            </a:ln>
          </p:spPr>
        </p:sp>
        <p:sp>
          <p:nvSpPr>
            <p:cNvPr id="22" name="TextBox 22"/>
            <p:cNvSpPr txBox="1"/>
            <p:nvPr/>
          </p:nvSpPr>
          <p:spPr>
            <a:xfrm>
              <a:off x="433388" y="132468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时点余额</a:t>
              </a:r>
            </a:p>
          </p:txBody>
        </p:sp>
        <p:sp>
          <p:nvSpPr>
            <p:cNvPr id="23" name="TextBox 23"/>
            <p:cNvSpPr txBox="1"/>
            <p:nvPr/>
          </p:nvSpPr>
          <p:spPr>
            <a:xfrm>
              <a:off x="2268436" y="1324689"/>
              <a:ext cx="378027"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326.8​</a:t>
              </a:r>
            </a:p>
          </p:txBody>
        </p:sp>
        <p:sp>
          <p:nvSpPr>
            <p:cNvPr id="24" name="TextBox 24"/>
            <p:cNvSpPr txBox="1"/>
            <p:nvPr/>
          </p:nvSpPr>
          <p:spPr>
            <a:xfrm>
              <a:off x="3528341" y="1324689"/>
              <a:ext cx="68017" cy="154781"/>
            </a:xfrm>
            <a:prstGeom prst="rect">
              <a:avLst/>
            </a:prstGeom>
            <a:noFill/>
            <a:ln>
              <a:noFill/>
            </a:ln>
          </p:spPr>
          <p:txBody>
            <a:bodyPr wrap="none" lIns="0" tIns="0" rIns="0" bIns="0" anchor="t" anchorCtr="0">
              <a:spAutoFit/>
            </a:bodyPr>
            <a:lstStyle/>
            <a:p>
              <a:pPr algn="ctr"/>
              <a:r>
                <a:rPr lang="zh-CN" sz="790" dirty="0">
                  <a:solidFill>
                    <a:srgbClr val="BEA09A"/>
                  </a:solidFill>
                  <a:latin typeface="+mn-lt"/>
                  <a:ea typeface="+mn-ea"/>
                  <a:cs typeface="+mn-cs"/>
                </a:rPr>
                <a:t>—</a:t>
              </a:r>
            </a:p>
          </p:txBody>
        </p:sp>
        <p:sp>
          <p:nvSpPr>
            <p:cNvPr id="25" name="Line 25"/>
            <p:cNvSpPr/>
            <p:nvPr/>
          </p:nvSpPr>
          <p:spPr>
            <a:xfrm>
              <a:off x="342900" y="1476375"/>
              <a:ext cx="3581400" cy="9525"/>
            </a:xfrm>
            <a:custGeom>
              <a:avLst/>
              <a:gdLst/>
              <a:ahLst/>
              <a:cxnLst/>
              <a:rect l="l" t="t" r="r" b="b"/>
              <a:pathLst>
                <a:path w="3581400" h="9525">
                  <a:moveTo>
                    <a:pt x="0" y="0"/>
                  </a:moveTo>
                  <a:lnTo>
                    <a:pt x="3581400" y="0"/>
                  </a:lnTo>
                </a:path>
              </a:pathLst>
            </a:custGeom>
            <a:noFill/>
            <a:ln w="9525">
              <a:solidFill>
                <a:srgbClr val="EDF2FA"/>
              </a:solidFill>
            </a:ln>
          </p:spPr>
        </p:sp>
        <p:sp>
          <p:nvSpPr>
            <p:cNvPr id="26" name="TextBox 26"/>
            <p:cNvSpPr txBox="1"/>
            <p:nvPr/>
          </p:nvSpPr>
          <p:spPr>
            <a:xfrm>
              <a:off x="433388" y="1581864"/>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日均余额</a:t>
              </a:r>
            </a:p>
          </p:txBody>
        </p:sp>
        <p:sp>
          <p:nvSpPr>
            <p:cNvPr id="27" name="TextBox 27"/>
            <p:cNvSpPr txBox="1"/>
            <p:nvPr/>
          </p:nvSpPr>
          <p:spPr>
            <a:xfrm>
              <a:off x="2268436" y="1581864"/>
              <a:ext cx="378027"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301.6​</a:t>
              </a:r>
            </a:p>
          </p:txBody>
        </p:sp>
        <p:sp>
          <p:nvSpPr>
            <p:cNvPr id="28" name="TextBox 28"/>
            <p:cNvSpPr txBox="1"/>
            <p:nvPr/>
          </p:nvSpPr>
          <p:spPr>
            <a:xfrm>
              <a:off x="3528341" y="1581864"/>
              <a:ext cx="68017" cy="154781"/>
            </a:xfrm>
            <a:prstGeom prst="rect">
              <a:avLst/>
            </a:prstGeom>
            <a:noFill/>
            <a:ln>
              <a:noFill/>
            </a:ln>
          </p:spPr>
          <p:txBody>
            <a:bodyPr wrap="none" lIns="0" tIns="0" rIns="0" bIns="0" anchor="t" anchorCtr="0">
              <a:spAutoFit/>
            </a:bodyPr>
            <a:lstStyle/>
            <a:p>
              <a:pPr algn="ctr"/>
              <a:r>
                <a:rPr lang="zh-CN" sz="790" dirty="0">
                  <a:solidFill>
                    <a:srgbClr val="BEA09A"/>
                  </a:solidFill>
                  <a:latin typeface="+mn-lt"/>
                  <a:ea typeface="+mn-ea"/>
                  <a:cs typeface="+mn-cs"/>
                </a:rPr>
                <a:t>—</a:t>
              </a:r>
            </a:p>
          </p:txBody>
        </p:sp>
        <p:sp>
          <p:nvSpPr>
            <p:cNvPr id="29" name="Line 29"/>
            <p:cNvSpPr/>
            <p:nvPr/>
          </p:nvSpPr>
          <p:spPr>
            <a:xfrm>
              <a:off x="342900" y="1733550"/>
              <a:ext cx="3581400" cy="9525"/>
            </a:xfrm>
            <a:custGeom>
              <a:avLst/>
              <a:gdLst/>
              <a:ahLst/>
              <a:cxnLst/>
              <a:rect l="l" t="t" r="r" b="b"/>
              <a:pathLst>
                <a:path w="3581400" h="9525">
                  <a:moveTo>
                    <a:pt x="0" y="0"/>
                  </a:moveTo>
                  <a:lnTo>
                    <a:pt x="3581400" y="0"/>
                  </a:lnTo>
                </a:path>
              </a:pathLst>
            </a:custGeom>
            <a:noFill/>
            <a:ln w="9525">
              <a:solidFill>
                <a:srgbClr val="EDF2FA"/>
              </a:solidFill>
            </a:ln>
          </p:spPr>
        </p:sp>
        <p:sp>
          <p:nvSpPr>
            <p:cNvPr id="30" name="TextBox 30"/>
            <p:cNvSpPr txBox="1"/>
            <p:nvPr/>
          </p:nvSpPr>
          <p:spPr>
            <a:xfrm>
              <a:off x="433388" y="183903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活期存款</a:t>
              </a:r>
            </a:p>
          </p:txBody>
        </p:sp>
        <p:sp>
          <p:nvSpPr>
            <p:cNvPr id="31" name="TextBox 31"/>
            <p:cNvSpPr txBox="1"/>
            <p:nvPr/>
          </p:nvSpPr>
          <p:spPr>
            <a:xfrm>
              <a:off x="2277210" y="1839039"/>
              <a:ext cx="360479"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154.1​</a:t>
              </a:r>
            </a:p>
          </p:txBody>
        </p:sp>
        <p:sp>
          <p:nvSpPr>
            <p:cNvPr id="32" name="TextBox 32"/>
            <p:cNvSpPr txBox="1"/>
            <p:nvPr/>
          </p:nvSpPr>
          <p:spPr>
            <a:xfrm>
              <a:off x="3371475" y="1839039"/>
              <a:ext cx="381749"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47.2%​</a:t>
              </a:r>
            </a:p>
          </p:txBody>
        </p:sp>
        <p:sp>
          <p:nvSpPr>
            <p:cNvPr id="33" name="Line 33"/>
            <p:cNvSpPr/>
            <p:nvPr/>
          </p:nvSpPr>
          <p:spPr>
            <a:xfrm>
              <a:off x="342900" y="1990725"/>
              <a:ext cx="3581400" cy="9525"/>
            </a:xfrm>
            <a:custGeom>
              <a:avLst/>
              <a:gdLst/>
              <a:ahLst/>
              <a:cxnLst/>
              <a:rect l="l" t="t" r="r" b="b"/>
              <a:pathLst>
                <a:path w="3581400" h="9525">
                  <a:moveTo>
                    <a:pt x="0" y="0"/>
                  </a:moveTo>
                  <a:lnTo>
                    <a:pt x="3581400" y="0"/>
                  </a:lnTo>
                </a:path>
              </a:pathLst>
            </a:custGeom>
            <a:noFill/>
            <a:ln w="9525">
              <a:solidFill>
                <a:srgbClr val="EDF2FA"/>
              </a:solidFill>
            </a:ln>
          </p:spPr>
        </p:sp>
        <p:sp>
          <p:nvSpPr>
            <p:cNvPr id="34" name="TextBox 34"/>
            <p:cNvSpPr txBox="1"/>
            <p:nvPr/>
          </p:nvSpPr>
          <p:spPr>
            <a:xfrm>
              <a:off x="433388" y="2096214"/>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定期存款</a:t>
              </a:r>
            </a:p>
          </p:txBody>
        </p:sp>
        <p:sp>
          <p:nvSpPr>
            <p:cNvPr id="35" name="TextBox 35"/>
            <p:cNvSpPr txBox="1"/>
            <p:nvPr/>
          </p:nvSpPr>
          <p:spPr>
            <a:xfrm>
              <a:off x="2277210" y="2096214"/>
              <a:ext cx="360479"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172.7​</a:t>
              </a:r>
            </a:p>
          </p:txBody>
        </p:sp>
        <p:sp>
          <p:nvSpPr>
            <p:cNvPr id="36" name="TextBox 36"/>
            <p:cNvSpPr txBox="1"/>
            <p:nvPr/>
          </p:nvSpPr>
          <p:spPr>
            <a:xfrm>
              <a:off x="3371475" y="2096214"/>
              <a:ext cx="381749"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52.8%​</a:t>
              </a:r>
            </a:p>
          </p:txBody>
        </p:sp>
        <p:sp>
          <p:nvSpPr>
            <p:cNvPr id="37" name="Line 37"/>
            <p:cNvSpPr/>
            <p:nvPr/>
          </p:nvSpPr>
          <p:spPr>
            <a:xfrm>
              <a:off x="342900" y="2247900"/>
              <a:ext cx="3581400" cy="9525"/>
            </a:xfrm>
            <a:custGeom>
              <a:avLst/>
              <a:gdLst/>
              <a:ahLst/>
              <a:cxnLst/>
              <a:rect l="l" t="t" r="r" b="b"/>
              <a:pathLst>
                <a:path w="3581400" h="9525">
                  <a:moveTo>
                    <a:pt x="0" y="0"/>
                  </a:moveTo>
                  <a:lnTo>
                    <a:pt x="3581400" y="0"/>
                  </a:lnTo>
                </a:path>
              </a:pathLst>
            </a:custGeom>
            <a:noFill/>
            <a:ln w="9525">
              <a:solidFill>
                <a:srgbClr val="EDF2FA"/>
              </a:solidFill>
            </a:ln>
          </p:spPr>
        </p:sp>
        <p:sp>
          <p:nvSpPr>
            <p:cNvPr id="38" name="TextBox 38"/>
            <p:cNvSpPr txBox="1"/>
            <p:nvPr/>
          </p:nvSpPr>
          <p:spPr>
            <a:xfrm>
              <a:off x="433388" y="235338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机构存款</a:t>
              </a:r>
            </a:p>
          </p:txBody>
        </p:sp>
        <p:sp>
          <p:nvSpPr>
            <p:cNvPr id="39" name="TextBox 39"/>
            <p:cNvSpPr txBox="1"/>
            <p:nvPr/>
          </p:nvSpPr>
          <p:spPr>
            <a:xfrm>
              <a:off x="2306457" y="235338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88.4​</a:t>
              </a:r>
            </a:p>
          </p:txBody>
        </p:sp>
        <p:sp>
          <p:nvSpPr>
            <p:cNvPr id="40" name="TextBox 40"/>
            <p:cNvSpPr txBox="1"/>
            <p:nvPr/>
          </p:nvSpPr>
          <p:spPr>
            <a:xfrm>
              <a:off x="3371475" y="2353389"/>
              <a:ext cx="381749"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27.0%​</a:t>
              </a:r>
            </a:p>
          </p:txBody>
        </p:sp>
        <p:sp>
          <p:nvSpPr>
            <p:cNvPr id="41" name="Line 41"/>
            <p:cNvSpPr/>
            <p:nvPr/>
          </p:nvSpPr>
          <p:spPr>
            <a:xfrm>
              <a:off x="342900" y="2505075"/>
              <a:ext cx="3581400" cy="9525"/>
            </a:xfrm>
            <a:custGeom>
              <a:avLst/>
              <a:gdLst/>
              <a:ahLst/>
              <a:cxnLst/>
              <a:rect l="l" t="t" r="r" b="b"/>
              <a:pathLst>
                <a:path w="3581400" h="9525">
                  <a:moveTo>
                    <a:pt x="0" y="0"/>
                  </a:moveTo>
                  <a:lnTo>
                    <a:pt x="3581400" y="0"/>
                  </a:lnTo>
                </a:path>
              </a:pathLst>
            </a:custGeom>
            <a:noFill/>
            <a:ln w="9525">
              <a:solidFill>
                <a:srgbClr val="EDF2FA"/>
              </a:solidFill>
            </a:ln>
          </p:spPr>
        </p:sp>
        <p:sp>
          <p:nvSpPr>
            <p:cNvPr id="42" name="TextBox 42"/>
            <p:cNvSpPr txBox="1"/>
            <p:nvPr/>
          </p:nvSpPr>
          <p:spPr>
            <a:xfrm>
              <a:off x="433388" y="2610564"/>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企业存款</a:t>
              </a:r>
            </a:p>
          </p:txBody>
        </p:sp>
        <p:sp>
          <p:nvSpPr>
            <p:cNvPr id="43" name="TextBox 43"/>
            <p:cNvSpPr txBox="1"/>
            <p:nvPr/>
          </p:nvSpPr>
          <p:spPr>
            <a:xfrm>
              <a:off x="2277210" y="2610564"/>
              <a:ext cx="360479"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238.4​</a:t>
              </a:r>
            </a:p>
          </p:txBody>
        </p:sp>
        <p:sp>
          <p:nvSpPr>
            <p:cNvPr id="44" name="TextBox 44"/>
            <p:cNvSpPr txBox="1"/>
            <p:nvPr/>
          </p:nvSpPr>
          <p:spPr>
            <a:xfrm>
              <a:off x="3371475" y="2610564"/>
              <a:ext cx="381749"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73.0%​</a:t>
              </a:r>
            </a:p>
          </p:txBody>
        </p:sp>
        <p:sp>
          <p:nvSpPr>
            <p:cNvPr id="45" name="Line 45"/>
            <p:cNvSpPr/>
            <p:nvPr/>
          </p:nvSpPr>
          <p:spPr>
            <a:xfrm>
              <a:off x="342900" y="2762250"/>
              <a:ext cx="3581400" cy="9525"/>
            </a:xfrm>
            <a:custGeom>
              <a:avLst/>
              <a:gdLst/>
              <a:ahLst/>
              <a:cxnLst/>
              <a:rect l="l" t="t" r="r" b="b"/>
              <a:pathLst>
                <a:path w="3581400" h="9525">
                  <a:moveTo>
                    <a:pt x="0" y="0"/>
                  </a:moveTo>
                  <a:lnTo>
                    <a:pt x="3581400" y="0"/>
                  </a:lnTo>
                </a:path>
              </a:pathLst>
            </a:custGeom>
            <a:noFill/>
            <a:ln w="9525">
              <a:solidFill>
                <a:srgbClr val="C9D6E9"/>
              </a:solidFill>
            </a:ln>
          </p:spPr>
        </p:sp>
        <p:sp>
          <p:nvSpPr>
            <p:cNvPr id="46" name="Rectangle 46"/>
            <p:cNvSpPr/>
            <p:nvPr/>
          </p:nvSpPr>
          <p:spPr>
            <a:xfrm>
              <a:off x="342900" y="2781300"/>
              <a:ext cx="3581400" cy="247650"/>
            </a:xfrm>
            <a:prstGeom prst="rect">
              <a:avLst/>
            </a:prstGeom>
            <a:solidFill>
              <a:srgbClr val="69281B"/>
            </a:solidFill>
            <a:ln>
              <a:noFill/>
            </a:ln>
          </p:spPr>
        </p:sp>
        <p:sp>
          <p:nvSpPr>
            <p:cNvPr id="47" name="TextBox 47"/>
            <p:cNvSpPr txBox="1"/>
            <p:nvPr/>
          </p:nvSpPr>
          <p:spPr>
            <a:xfrm>
              <a:off x="433388" y="2858214"/>
              <a:ext cx="222225"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合计</a:t>
              </a:r>
            </a:p>
          </p:txBody>
        </p:sp>
        <p:sp>
          <p:nvSpPr>
            <p:cNvPr id="48" name="TextBox 48"/>
            <p:cNvSpPr txBox="1"/>
            <p:nvPr/>
          </p:nvSpPr>
          <p:spPr>
            <a:xfrm>
              <a:off x="2268436" y="285821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326.8​</a:t>
              </a:r>
            </a:p>
          </p:txBody>
        </p:sp>
        <p:sp>
          <p:nvSpPr>
            <p:cNvPr id="49" name="TextBox 49"/>
            <p:cNvSpPr txBox="1"/>
            <p:nvPr/>
          </p:nvSpPr>
          <p:spPr>
            <a:xfrm>
              <a:off x="3392878" y="2858214"/>
              <a:ext cx="33894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100%​</a:t>
              </a:r>
            </a:p>
          </p:txBody>
        </p:sp>
        <p:sp>
          <p:nvSpPr>
            <p:cNvPr id="50" name="TextBox 50"/>
            <p:cNvSpPr txBox="1"/>
            <p:nvPr/>
          </p:nvSpPr>
          <p:spPr>
            <a:xfrm>
              <a:off x="338138" y="3146584"/>
              <a:ext cx="1330833" cy="285750"/>
            </a:xfrm>
            <a:prstGeom prst="rect">
              <a:avLst/>
            </a:prstGeom>
            <a:noFill/>
            <a:ln>
              <a:noFill/>
            </a:ln>
          </p:spPr>
          <p:txBody>
            <a:bodyPr wrap="none" lIns="0" tIns="0" rIns="0" bIns="0" anchor="t" anchorCtr="0">
              <a:spAutoFit/>
            </a:bodyPr>
            <a:lstStyle/>
            <a:p>
              <a:pPr algn="l">
                <a:lnSpc>
                  <a:spcPts val="1200"/>
                </a:lnSpc>
              </a:pPr>
              <a:r>
                <a:rPr lang="zh-CN" sz="680" dirty="0">
                  <a:solidFill>
                    <a:srgbClr val="BEA09A"/>
                  </a:solidFill>
                  <a:latin typeface="+mn-lt"/>
                  <a:ea typeface="+mn-ea"/>
                  <a:cs typeface="+mn-cs"/>
                </a:rPr>
                <a:t>注：占比=该项目金额/时点余额</a:t>
              </a:r>
              <a:br/>
              <a:r>
                <a:rPr lang="zh-CN" sz="680" dirty="0">
                  <a:solidFill>
                    <a:srgbClr val="BEA09A"/>
                  </a:solidFill>
                  <a:latin typeface="+mn-lt"/>
                  <a:ea typeface="+mn-ea"/>
                  <a:cs typeface="+mn-cs"/>
                </a:rPr>
                <a:t>数据口径：2026年6月末（示例）​</a:t>
              </a:r>
            </a:p>
          </p:txBody>
        </p:sp>
      </p:grpSp>
      <p:grpSp>
        <p:nvGrpSpPr>
          <p:cNvPr id="109" name="chart-trend2"/>
          <p:cNvGrpSpPr/>
          <p:nvPr/>
        </p:nvGrpSpPr>
        <p:grpSpPr>
          <a:xfrm>
            <a:off x="4171950" y="685800"/>
            <a:ext cx="3848100" cy="3009900"/>
            <a:chOff x="4171950" y="685800"/>
            <a:chExt cx="3848100" cy="3009900"/>
          </a:xfrm>
        </p:grpSpPr>
        <p:sp>
          <p:nvSpPr>
            <p:cNvPr id="52" name="Rectangle 52"/>
            <p:cNvSpPr/>
            <p:nvPr/>
          </p:nvSpPr>
          <p:spPr>
            <a:xfrm>
              <a:off x="4171950" y="685800"/>
              <a:ext cx="3810000" cy="3009900"/>
            </a:xfrm>
            <a:prstGeom prst="roundRect">
              <a:avLst>
                <a:gd name="adj" fmla="val 1899"/>
              </a:avLst>
            </a:prstGeom>
            <a:solidFill>
              <a:srgbClr val="FFFFFF"/>
            </a:solidFill>
            <a:ln w="9525">
              <a:solidFill>
                <a:srgbClr val="C9D6E9"/>
              </a:solidFill>
            </a:ln>
          </p:spPr>
        </p:sp>
        <p:sp>
          <p:nvSpPr>
            <p:cNvPr id="53" name="Rectangle 53"/>
            <p:cNvSpPr/>
            <p:nvPr/>
          </p:nvSpPr>
          <p:spPr>
            <a:xfrm>
              <a:off x="4171950" y="685800"/>
              <a:ext cx="3810000" cy="247650"/>
            </a:xfrm>
            <a:prstGeom prst="roundRect">
              <a:avLst>
                <a:gd name="adj" fmla="val 23077"/>
              </a:avLst>
            </a:prstGeom>
            <a:solidFill>
              <a:srgbClr val="69281B"/>
            </a:solidFill>
            <a:ln>
              <a:noFill/>
            </a:ln>
          </p:spPr>
        </p:sp>
        <p:sp>
          <p:nvSpPr>
            <p:cNvPr id="54" name="Rectangle 54"/>
            <p:cNvSpPr/>
            <p:nvPr/>
          </p:nvSpPr>
          <p:spPr>
            <a:xfrm>
              <a:off x="4171950" y="838200"/>
              <a:ext cx="3810000" cy="95250"/>
            </a:xfrm>
            <a:prstGeom prst="rect">
              <a:avLst/>
            </a:prstGeom>
            <a:solidFill>
              <a:srgbClr val="69281B"/>
            </a:solidFill>
            <a:ln>
              <a:noFill/>
            </a:ln>
          </p:spPr>
        </p:sp>
        <p:grpSp>
          <p:nvGrpSpPr>
            <p:cNvPr id="57" name="Group 57"/>
            <p:cNvGrpSpPr/>
            <p:nvPr/>
          </p:nvGrpSpPr>
          <p:grpSpPr>
            <a:xfrm>
              <a:off x="4746625" y="776287"/>
              <a:ext cx="88900" cy="81757"/>
              <a:chOff x="4746625" y="776287"/>
              <a:chExt cx="88900" cy="81757"/>
            </a:xfrm>
          </p:grpSpPr>
          <p:sp>
            <p:nvSpPr>
              <p:cNvPr id="55" name="Freeform 55"/>
              <p:cNvSpPr/>
              <p:nvPr/>
            </p:nvSpPr>
            <p:spPr>
              <a:xfrm>
                <a:off x="4746625" y="848519"/>
                <a:ext cx="88900" cy="9525"/>
              </a:xfrm>
              <a:custGeom>
                <a:avLst/>
                <a:gdLst/>
                <a:ahLst/>
                <a:cxnLst/>
                <a:rect l="l" t="t" r="r" b="b"/>
                <a:pathLst>
                  <a:path w="88900" h="9525">
                    <a:moveTo>
                      <a:pt x="0" y="0"/>
                    </a:moveTo>
                    <a:lnTo>
                      <a:pt x="88900" y="0"/>
                    </a:lnTo>
                  </a:path>
                </a:pathLst>
              </a:custGeom>
              <a:noFill/>
              <a:ln w="11112">
                <a:solidFill>
                  <a:srgbClr val="FFFFFF"/>
                </a:solidFill>
              </a:ln>
            </p:spPr>
          </p:sp>
          <p:sp>
            <p:nvSpPr>
              <p:cNvPr id="56" name="Freeform 56"/>
              <p:cNvSpPr/>
              <p:nvPr/>
            </p:nvSpPr>
            <p:spPr>
              <a:xfrm>
                <a:off x="4746625" y="776287"/>
                <a:ext cx="88900" cy="50006"/>
              </a:xfrm>
              <a:custGeom>
                <a:avLst/>
                <a:gdLst/>
                <a:ahLst/>
                <a:cxnLst/>
                <a:rect l="l" t="t" r="r" b="b"/>
                <a:pathLst>
                  <a:path w="88900" h="50006">
                    <a:moveTo>
                      <a:pt x="0" y="50006"/>
                    </a:moveTo>
                    <a:lnTo>
                      <a:pt x="22225" y="16669"/>
                    </a:lnTo>
                    <a:lnTo>
                      <a:pt x="44450" y="27781"/>
                    </a:lnTo>
                    <a:lnTo>
                      <a:pt x="66675" y="0"/>
                    </a:lnTo>
                    <a:lnTo>
                      <a:pt x="88900" y="22225"/>
                    </a:lnTo>
                  </a:path>
                </a:pathLst>
              </a:custGeom>
              <a:noFill/>
              <a:ln w="11112">
                <a:solidFill>
                  <a:srgbClr val="FFFFFF"/>
                </a:solidFill>
              </a:ln>
            </p:spPr>
          </p:sp>
        </p:grpSp>
        <p:sp>
          <p:nvSpPr>
            <p:cNvPr id="58" name="TextBox 58"/>
            <p:cNvSpPr txBox="1"/>
            <p:nvPr/>
          </p:nvSpPr>
          <p:spPr>
            <a:xfrm>
              <a:off x="5306245" y="756047"/>
              <a:ext cx="169381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对公存款余额趋势（1—6月）​</a:t>
              </a:r>
            </a:p>
          </p:txBody>
        </p:sp>
        <p:sp>
          <p:nvSpPr>
            <p:cNvPr id="59" name="TextBox 59"/>
            <p:cNvSpPr txBox="1"/>
            <p:nvPr/>
          </p:nvSpPr>
          <p:spPr>
            <a:xfrm>
              <a:off x="4395788" y="1051084"/>
              <a:ext cx="558775" cy="133350"/>
            </a:xfrm>
            <a:prstGeom prst="rect">
              <a:avLst/>
            </a:prstGeom>
            <a:noFill/>
            <a:ln>
              <a:noFill/>
            </a:ln>
          </p:spPr>
          <p:txBody>
            <a:bodyPr wrap="none" lIns="0" tIns="0" rIns="0" bIns="0" anchor="t" anchorCtr="0">
              <a:spAutoFit/>
            </a:bodyPr>
            <a:lstStyle/>
            <a:p>
              <a:pPr algn="l"/>
              <a:r>
                <a:rPr lang="zh-CN" sz="680" dirty="0">
                  <a:solidFill>
                    <a:srgbClr val="BEA09A"/>
                  </a:solidFill>
                  <a:latin typeface="+mn-lt"/>
                  <a:ea typeface="+mn-ea"/>
                  <a:cs typeface="+mn-cs"/>
                </a:rPr>
                <a:t>金额（亿元）</a:t>
              </a:r>
            </a:p>
          </p:txBody>
        </p:sp>
        <p:sp>
          <p:nvSpPr>
            <p:cNvPr id="60" name="Line 60"/>
            <p:cNvSpPr/>
            <p:nvPr/>
          </p:nvSpPr>
          <p:spPr>
            <a:xfrm>
              <a:off x="4305300" y="1152525"/>
              <a:ext cx="514350" cy="9525"/>
            </a:xfrm>
            <a:custGeom>
              <a:avLst/>
              <a:gdLst/>
              <a:ahLst/>
              <a:cxnLst/>
              <a:rect l="l" t="t" r="r" b="b"/>
              <a:pathLst>
                <a:path w="514350" h="9525">
                  <a:moveTo>
                    <a:pt x="0" y="0"/>
                  </a:moveTo>
                  <a:lnTo>
                    <a:pt x="514350" y="0"/>
                  </a:lnTo>
                </a:path>
              </a:pathLst>
            </a:custGeom>
            <a:noFill/>
            <a:ln w="19050">
              <a:solidFill>
                <a:srgbClr val="69281B"/>
              </a:solidFill>
            </a:ln>
          </p:spPr>
        </p:sp>
        <p:sp>
          <p:nvSpPr>
            <p:cNvPr id="61" name="Ellipse 61"/>
            <p:cNvSpPr/>
            <p:nvPr/>
          </p:nvSpPr>
          <p:spPr>
            <a:xfrm>
              <a:off x="4538662" y="1128712"/>
              <a:ext cx="47625" cy="47625"/>
            </a:xfrm>
            <a:prstGeom prst="ellipse">
              <a:avLst/>
            </a:prstGeom>
            <a:solidFill>
              <a:srgbClr val="69281B"/>
            </a:solidFill>
            <a:ln>
              <a:noFill/>
            </a:ln>
          </p:spPr>
        </p:sp>
        <p:sp>
          <p:nvSpPr>
            <p:cNvPr id="62" name="TextBox 62"/>
            <p:cNvSpPr txBox="1"/>
            <p:nvPr/>
          </p:nvSpPr>
          <p:spPr>
            <a:xfrm>
              <a:off x="4872038" y="1109662"/>
              <a:ext cx="413385" cy="147638"/>
            </a:xfrm>
            <a:prstGeom prst="rect">
              <a:avLst/>
            </a:prstGeom>
            <a:noFill/>
            <a:ln>
              <a:noFill/>
            </a:ln>
          </p:spPr>
          <p:txBody>
            <a:bodyPr wrap="none" lIns="0" tIns="0" rIns="0" bIns="0" anchor="t" anchorCtr="0">
              <a:spAutoFit/>
            </a:bodyPr>
            <a:lstStyle/>
            <a:p>
              <a:pPr algn="l"/>
              <a:r>
                <a:rPr lang="zh-CN" sz="750" dirty="0">
                  <a:solidFill>
                    <a:srgbClr val="70504A"/>
                  </a:solidFill>
                  <a:latin typeface="+mn-lt"/>
                  <a:ea typeface="+mn-ea"/>
                  <a:cs typeface="+mn-cs"/>
                </a:rPr>
                <a:t>时点余额</a:t>
              </a:r>
            </a:p>
          </p:txBody>
        </p:sp>
        <p:sp>
          <p:nvSpPr>
            <p:cNvPr id="63" name="Line 63"/>
            <p:cNvSpPr/>
            <p:nvPr/>
          </p:nvSpPr>
          <p:spPr>
            <a:xfrm>
              <a:off x="5486400" y="1152525"/>
              <a:ext cx="285750" cy="9525"/>
            </a:xfrm>
            <a:custGeom>
              <a:avLst/>
              <a:gdLst/>
              <a:ahLst/>
              <a:cxnLst/>
              <a:rect l="l" t="t" r="r" b="b"/>
              <a:pathLst>
                <a:path w="285750" h="9525">
                  <a:moveTo>
                    <a:pt x="0" y="0"/>
                  </a:moveTo>
                  <a:lnTo>
                    <a:pt x="285750" y="0"/>
                  </a:lnTo>
                </a:path>
              </a:pathLst>
            </a:custGeom>
            <a:noFill/>
            <a:ln w="19050">
              <a:solidFill>
                <a:srgbClr val="E04C2E"/>
              </a:solidFill>
            </a:ln>
          </p:spPr>
        </p:sp>
        <p:sp>
          <p:nvSpPr>
            <p:cNvPr id="64" name="Rectangle 64"/>
            <p:cNvSpPr/>
            <p:nvPr/>
          </p:nvSpPr>
          <p:spPr>
            <a:xfrm>
              <a:off x="5600700" y="1123950"/>
              <a:ext cx="57150" cy="57150"/>
            </a:xfrm>
            <a:prstGeom prst="rect">
              <a:avLst/>
            </a:prstGeom>
            <a:solidFill>
              <a:srgbClr val="E04C2E"/>
            </a:solidFill>
            <a:ln>
              <a:noFill/>
            </a:ln>
          </p:spPr>
        </p:sp>
        <p:sp>
          <p:nvSpPr>
            <p:cNvPr id="65" name="TextBox 65"/>
            <p:cNvSpPr txBox="1"/>
            <p:nvPr/>
          </p:nvSpPr>
          <p:spPr>
            <a:xfrm>
              <a:off x="5824538" y="1109662"/>
              <a:ext cx="413385" cy="147638"/>
            </a:xfrm>
            <a:prstGeom prst="rect">
              <a:avLst/>
            </a:prstGeom>
            <a:noFill/>
            <a:ln>
              <a:noFill/>
            </a:ln>
          </p:spPr>
          <p:txBody>
            <a:bodyPr wrap="none" lIns="0" tIns="0" rIns="0" bIns="0" anchor="t" anchorCtr="0">
              <a:spAutoFit/>
            </a:bodyPr>
            <a:lstStyle/>
            <a:p>
              <a:pPr algn="l"/>
              <a:r>
                <a:rPr lang="zh-CN" sz="750" dirty="0">
                  <a:solidFill>
                    <a:srgbClr val="70504A"/>
                  </a:solidFill>
                  <a:latin typeface="+mn-lt"/>
                  <a:ea typeface="+mn-ea"/>
                  <a:cs typeface="+mn-cs"/>
                </a:rPr>
                <a:t>日均余额</a:t>
              </a:r>
            </a:p>
          </p:txBody>
        </p:sp>
        <p:sp>
          <p:nvSpPr>
            <p:cNvPr id="66" name="Line 66"/>
            <p:cNvSpPr/>
            <p:nvPr/>
          </p:nvSpPr>
          <p:spPr>
            <a:xfrm>
              <a:off x="4438650" y="3314700"/>
              <a:ext cx="3581400" cy="9525"/>
            </a:xfrm>
            <a:custGeom>
              <a:avLst/>
              <a:gdLst/>
              <a:ahLst/>
              <a:cxnLst/>
              <a:rect l="l" t="t" r="r" b="b"/>
              <a:pathLst>
                <a:path w="3581400" h="9525">
                  <a:moveTo>
                    <a:pt x="0" y="0"/>
                  </a:moveTo>
                  <a:lnTo>
                    <a:pt x="3581400" y="0"/>
                  </a:lnTo>
                </a:path>
              </a:pathLst>
            </a:custGeom>
            <a:noFill/>
            <a:ln w="9525">
              <a:solidFill>
                <a:srgbClr val="C9D6E9"/>
              </a:solidFill>
            </a:ln>
          </p:spPr>
        </p:sp>
        <p:sp>
          <p:nvSpPr>
            <p:cNvPr id="67" name="Line 67"/>
            <p:cNvSpPr/>
            <p:nvPr/>
          </p:nvSpPr>
          <p:spPr>
            <a:xfrm>
              <a:off x="4438650" y="2942272"/>
              <a:ext cx="3581400" cy="9525"/>
            </a:xfrm>
            <a:custGeom>
              <a:avLst/>
              <a:gdLst/>
              <a:ahLst/>
              <a:cxnLst/>
              <a:rect l="l" t="t" r="r" b="b"/>
              <a:pathLst>
                <a:path w="3581400" h="9525">
                  <a:moveTo>
                    <a:pt x="0" y="0"/>
                  </a:moveTo>
                  <a:lnTo>
                    <a:pt x="3581400" y="0"/>
                  </a:lnTo>
                </a:path>
              </a:pathLst>
            </a:custGeom>
            <a:noFill/>
            <a:ln w="9525">
              <a:solidFill>
                <a:srgbClr val="EDF2FA"/>
              </a:solidFill>
            </a:ln>
          </p:spPr>
        </p:sp>
        <p:sp>
          <p:nvSpPr>
            <p:cNvPr id="68" name="Line 68"/>
            <p:cNvSpPr/>
            <p:nvPr/>
          </p:nvSpPr>
          <p:spPr>
            <a:xfrm>
              <a:off x="4438650" y="2569845"/>
              <a:ext cx="3581400" cy="9525"/>
            </a:xfrm>
            <a:custGeom>
              <a:avLst/>
              <a:gdLst/>
              <a:ahLst/>
              <a:cxnLst/>
              <a:rect l="l" t="t" r="r" b="b"/>
              <a:pathLst>
                <a:path w="3581400" h="9525">
                  <a:moveTo>
                    <a:pt x="0" y="0"/>
                  </a:moveTo>
                  <a:lnTo>
                    <a:pt x="3581400" y="0"/>
                  </a:lnTo>
                </a:path>
              </a:pathLst>
            </a:custGeom>
            <a:noFill/>
            <a:ln w="9525">
              <a:solidFill>
                <a:srgbClr val="EDF2FA"/>
              </a:solidFill>
            </a:ln>
          </p:spPr>
        </p:sp>
        <p:sp>
          <p:nvSpPr>
            <p:cNvPr id="69" name="Line 69"/>
            <p:cNvSpPr/>
            <p:nvPr/>
          </p:nvSpPr>
          <p:spPr>
            <a:xfrm>
              <a:off x="4438650" y="2197418"/>
              <a:ext cx="3581400" cy="9525"/>
            </a:xfrm>
            <a:custGeom>
              <a:avLst/>
              <a:gdLst/>
              <a:ahLst/>
              <a:cxnLst/>
              <a:rect l="l" t="t" r="r" b="b"/>
              <a:pathLst>
                <a:path w="3581400" h="9525">
                  <a:moveTo>
                    <a:pt x="0" y="0"/>
                  </a:moveTo>
                  <a:lnTo>
                    <a:pt x="3581400" y="0"/>
                  </a:lnTo>
                </a:path>
              </a:pathLst>
            </a:custGeom>
            <a:noFill/>
            <a:ln w="9525">
              <a:solidFill>
                <a:srgbClr val="EDF2FA"/>
              </a:solidFill>
            </a:ln>
          </p:spPr>
        </p:sp>
        <p:sp>
          <p:nvSpPr>
            <p:cNvPr id="70" name="Line 70"/>
            <p:cNvSpPr/>
            <p:nvPr/>
          </p:nvSpPr>
          <p:spPr>
            <a:xfrm>
              <a:off x="4438650" y="1824038"/>
              <a:ext cx="3581400" cy="9525"/>
            </a:xfrm>
            <a:custGeom>
              <a:avLst/>
              <a:gdLst/>
              <a:ahLst/>
              <a:cxnLst/>
              <a:rect l="l" t="t" r="r" b="b"/>
              <a:pathLst>
                <a:path w="3581400" h="9525">
                  <a:moveTo>
                    <a:pt x="0" y="0"/>
                  </a:moveTo>
                  <a:lnTo>
                    <a:pt x="3581400" y="0"/>
                  </a:lnTo>
                </a:path>
              </a:pathLst>
            </a:custGeom>
            <a:noFill/>
            <a:ln w="9525">
              <a:solidFill>
                <a:srgbClr val="EDF2FA"/>
              </a:solidFill>
            </a:ln>
          </p:spPr>
        </p:sp>
        <p:sp>
          <p:nvSpPr>
            <p:cNvPr id="71" name="TextBox 71"/>
            <p:cNvSpPr txBox="1"/>
            <p:nvPr/>
          </p:nvSpPr>
          <p:spPr>
            <a:xfrm>
              <a:off x="4187193" y="3274457"/>
              <a:ext cx="199070"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180​</a:t>
              </a:r>
            </a:p>
          </p:txBody>
        </p:sp>
        <p:sp>
          <p:nvSpPr>
            <p:cNvPr id="72" name="TextBox 72"/>
            <p:cNvSpPr txBox="1"/>
            <p:nvPr/>
          </p:nvSpPr>
          <p:spPr>
            <a:xfrm>
              <a:off x="4187193" y="2902982"/>
              <a:ext cx="199070"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220​</a:t>
              </a:r>
            </a:p>
          </p:txBody>
        </p:sp>
        <p:sp>
          <p:nvSpPr>
            <p:cNvPr id="73" name="TextBox 73"/>
            <p:cNvSpPr txBox="1"/>
            <p:nvPr/>
          </p:nvSpPr>
          <p:spPr>
            <a:xfrm>
              <a:off x="4187193" y="2531507"/>
              <a:ext cx="199070"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260​</a:t>
              </a:r>
            </a:p>
          </p:txBody>
        </p:sp>
        <p:sp>
          <p:nvSpPr>
            <p:cNvPr id="74" name="TextBox 74"/>
            <p:cNvSpPr txBox="1"/>
            <p:nvPr/>
          </p:nvSpPr>
          <p:spPr>
            <a:xfrm>
              <a:off x="4187193" y="2160032"/>
              <a:ext cx="199070"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300​</a:t>
              </a:r>
            </a:p>
          </p:txBody>
        </p:sp>
        <p:sp>
          <p:nvSpPr>
            <p:cNvPr id="75" name="TextBox 75"/>
            <p:cNvSpPr txBox="1"/>
            <p:nvPr/>
          </p:nvSpPr>
          <p:spPr>
            <a:xfrm>
              <a:off x="4187193" y="1788557"/>
              <a:ext cx="199070"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340​</a:t>
              </a:r>
            </a:p>
          </p:txBody>
        </p:sp>
        <p:sp>
          <p:nvSpPr>
            <p:cNvPr id="76" name="Freeform 76"/>
            <p:cNvSpPr/>
            <p:nvPr/>
          </p:nvSpPr>
          <p:spPr>
            <a:xfrm>
              <a:off x="4810125" y="2182178"/>
              <a:ext cx="2952750" cy="336232"/>
            </a:xfrm>
            <a:custGeom>
              <a:avLst/>
              <a:gdLst/>
              <a:ahLst/>
              <a:cxnLst/>
              <a:rect l="l" t="t" r="r" b="b"/>
              <a:pathLst>
                <a:path w="2952750" h="336232">
                  <a:moveTo>
                    <a:pt x="0" y="336232"/>
                  </a:moveTo>
                  <a:lnTo>
                    <a:pt x="590550" y="275273"/>
                  </a:lnTo>
                  <a:lnTo>
                    <a:pt x="1181100" y="199073"/>
                  </a:lnTo>
                  <a:lnTo>
                    <a:pt x="1771650" y="134302"/>
                  </a:lnTo>
                  <a:lnTo>
                    <a:pt x="2362200" y="71438"/>
                  </a:lnTo>
                  <a:lnTo>
                    <a:pt x="2952750" y="0"/>
                  </a:lnTo>
                </a:path>
              </a:pathLst>
            </a:custGeom>
            <a:noFill/>
            <a:ln w="19050">
              <a:solidFill>
                <a:srgbClr val="E04C2E"/>
              </a:solidFill>
            </a:ln>
          </p:spPr>
        </p:sp>
        <p:sp>
          <p:nvSpPr>
            <p:cNvPr id="77" name="Rectangle 77"/>
            <p:cNvSpPr/>
            <p:nvPr/>
          </p:nvSpPr>
          <p:spPr>
            <a:xfrm>
              <a:off x="4781550" y="2489835"/>
              <a:ext cx="57150" cy="57150"/>
            </a:xfrm>
            <a:prstGeom prst="rect">
              <a:avLst/>
            </a:prstGeom>
            <a:solidFill>
              <a:srgbClr val="E04C2E"/>
            </a:solidFill>
            <a:ln>
              <a:noFill/>
            </a:ln>
          </p:spPr>
        </p:sp>
        <p:sp>
          <p:nvSpPr>
            <p:cNvPr id="78" name="Rectangle 78"/>
            <p:cNvSpPr/>
            <p:nvPr/>
          </p:nvSpPr>
          <p:spPr>
            <a:xfrm>
              <a:off x="5372100" y="2428875"/>
              <a:ext cx="57150" cy="57150"/>
            </a:xfrm>
            <a:prstGeom prst="rect">
              <a:avLst/>
            </a:prstGeom>
            <a:solidFill>
              <a:srgbClr val="E04C2E"/>
            </a:solidFill>
            <a:ln>
              <a:noFill/>
            </a:ln>
          </p:spPr>
        </p:sp>
        <p:sp>
          <p:nvSpPr>
            <p:cNvPr id="79" name="Rectangle 79"/>
            <p:cNvSpPr/>
            <p:nvPr/>
          </p:nvSpPr>
          <p:spPr>
            <a:xfrm>
              <a:off x="5962650" y="2352675"/>
              <a:ext cx="57150" cy="57150"/>
            </a:xfrm>
            <a:prstGeom prst="rect">
              <a:avLst/>
            </a:prstGeom>
            <a:solidFill>
              <a:srgbClr val="E04C2E"/>
            </a:solidFill>
            <a:ln>
              <a:noFill/>
            </a:ln>
          </p:spPr>
        </p:sp>
        <p:sp>
          <p:nvSpPr>
            <p:cNvPr id="80" name="Rectangle 80"/>
            <p:cNvSpPr/>
            <p:nvPr/>
          </p:nvSpPr>
          <p:spPr>
            <a:xfrm>
              <a:off x="6553200" y="2287905"/>
              <a:ext cx="57150" cy="57150"/>
            </a:xfrm>
            <a:prstGeom prst="rect">
              <a:avLst/>
            </a:prstGeom>
            <a:solidFill>
              <a:srgbClr val="E04C2E"/>
            </a:solidFill>
            <a:ln>
              <a:noFill/>
            </a:ln>
          </p:spPr>
        </p:sp>
        <p:sp>
          <p:nvSpPr>
            <p:cNvPr id="81" name="Rectangle 81"/>
            <p:cNvSpPr/>
            <p:nvPr/>
          </p:nvSpPr>
          <p:spPr>
            <a:xfrm>
              <a:off x="7143750" y="2225040"/>
              <a:ext cx="57150" cy="57150"/>
            </a:xfrm>
            <a:prstGeom prst="rect">
              <a:avLst/>
            </a:prstGeom>
            <a:solidFill>
              <a:srgbClr val="E04C2E"/>
            </a:solidFill>
            <a:ln>
              <a:noFill/>
            </a:ln>
          </p:spPr>
        </p:sp>
        <p:sp>
          <p:nvSpPr>
            <p:cNvPr id="82" name="Rectangle 82"/>
            <p:cNvSpPr/>
            <p:nvPr/>
          </p:nvSpPr>
          <p:spPr>
            <a:xfrm>
              <a:off x="7734300" y="2153602"/>
              <a:ext cx="57150" cy="57150"/>
            </a:xfrm>
            <a:prstGeom prst="rect">
              <a:avLst/>
            </a:prstGeom>
            <a:solidFill>
              <a:srgbClr val="E04C2E"/>
            </a:solidFill>
            <a:ln>
              <a:noFill/>
            </a:ln>
          </p:spPr>
        </p:sp>
        <p:sp>
          <p:nvSpPr>
            <p:cNvPr id="83" name="TextBox 83"/>
            <p:cNvSpPr txBox="1"/>
            <p:nvPr/>
          </p:nvSpPr>
          <p:spPr>
            <a:xfrm>
              <a:off x="4663204" y="2598182"/>
              <a:ext cx="29384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265.6​</a:t>
              </a:r>
            </a:p>
          </p:txBody>
        </p:sp>
        <p:sp>
          <p:nvSpPr>
            <p:cNvPr id="84" name="TextBox 84"/>
            <p:cNvSpPr txBox="1"/>
            <p:nvPr/>
          </p:nvSpPr>
          <p:spPr>
            <a:xfrm>
              <a:off x="5253754" y="2541032"/>
              <a:ext cx="29384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272.1​</a:t>
              </a:r>
            </a:p>
          </p:txBody>
        </p:sp>
        <p:sp>
          <p:nvSpPr>
            <p:cNvPr id="85" name="TextBox 85"/>
            <p:cNvSpPr txBox="1"/>
            <p:nvPr/>
          </p:nvSpPr>
          <p:spPr>
            <a:xfrm>
              <a:off x="5844304" y="2464832"/>
              <a:ext cx="29384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280.3​</a:t>
              </a:r>
            </a:p>
          </p:txBody>
        </p:sp>
        <p:sp>
          <p:nvSpPr>
            <p:cNvPr id="86" name="TextBox 86"/>
            <p:cNvSpPr txBox="1"/>
            <p:nvPr/>
          </p:nvSpPr>
          <p:spPr>
            <a:xfrm>
              <a:off x="6434854" y="2398157"/>
              <a:ext cx="29384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287.2​</a:t>
              </a:r>
            </a:p>
          </p:txBody>
        </p:sp>
        <p:sp>
          <p:nvSpPr>
            <p:cNvPr id="87" name="TextBox 87"/>
            <p:cNvSpPr txBox="1"/>
            <p:nvPr/>
          </p:nvSpPr>
          <p:spPr>
            <a:xfrm>
              <a:off x="7025404" y="2331482"/>
              <a:ext cx="29384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294.0​</a:t>
              </a:r>
            </a:p>
          </p:txBody>
        </p:sp>
        <p:sp>
          <p:nvSpPr>
            <p:cNvPr id="88" name="TextBox 88"/>
            <p:cNvSpPr txBox="1"/>
            <p:nvPr/>
          </p:nvSpPr>
          <p:spPr>
            <a:xfrm>
              <a:off x="7615954" y="2264807"/>
              <a:ext cx="29384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301.6​</a:t>
              </a:r>
            </a:p>
          </p:txBody>
        </p:sp>
        <p:sp>
          <p:nvSpPr>
            <p:cNvPr id="89" name="Freeform 89"/>
            <p:cNvSpPr/>
            <p:nvPr/>
          </p:nvSpPr>
          <p:spPr>
            <a:xfrm>
              <a:off x="4810125" y="1946910"/>
              <a:ext cx="2952750" cy="346710"/>
            </a:xfrm>
            <a:custGeom>
              <a:avLst/>
              <a:gdLst/>
              <a:ahLst/>
              <a:cxnLst/>
              <a:rect l="l" t="t" r="r" b="b"/>
              <a:pathLst>
                <a:path w="2952750" h="346710">
                  <a:moveTo>
                    <a:pt x="0" y="346710"/>
                  </a:moveTo>
                  <a:lnTo>
                    <a:pt x="590550" y="270510"/>
                  </a:lnTo>
                  <a:lnTo>
                    <a:pt x="1181100" y="179070"/>
                  </a:lnTo>
                  <a:lnTo>
                    <a:pt x="1771650" y="120015"/>
                  </a:lnTo>
                  <a:lnTo>
                    <a:pt x="2362200" y="68580"/>
                  </a:lnTo>
                  <a:lnTo>
                    <a:pt x="2952750" y="0"/>
                  </a:lnTo>
                </a:path>
              </a:pathLst>
            </a:custGeom>
            <a:noFill/>
            <a:ln w="20955">
              <a:solidFill>
                <a:srgbClr val="69281B"/>
              </a:solidFill>
            </a:ln>
          </p:spPr>
        </p:sp>
        <p:sp>
          <p:nvSpPr>
            <p:cNvPr id="90" name="Ellipse 90"/>
            <p:cNvSpPr/>
            <p:nvPr/>
          </p:nvSpPr>
          <p:spPr>
            <a:xfrm>
              <a:off x="4781550" y="2265045"/>
              <a:ext cx="57150" cy="57150"/>
            </a:xfrm>
            <a:prstGeom prst="ellipse">
              <a:avLst/>
            </a:prstGeom>
            <a:solidFill>
              <a:srgbClr val="FFFFFF"/>
            </a:solidFill>
            <a:ln w="17145">
              <a:solidFill>
                <a:srgbClr val="69281B"/>
              </a:solidFill>
            </a:ln>
          </p:spPr>
        </p:sp>
        <p:sp>
          <p:nvSpPr>
            <p:cNvPr id="91" name="Ellipse 91"/>
            <p:cNvSpPr/>
            <p:nvPr/>
          </p:nvSpPr>
          <p:spPr>
            <a:xfrm>
              <a:off x="5372100" y="2188845"/>
              <a:ext cx="57150" cy="57150"/>
            </a:xfrm>
            <a:prstGeom prst="ellipse">
              <a:avLst/>
            </a:prstGeom>
            <a:solidFill>
              <a:srgbClr val="FFFFFF"/>
            </a:solidFill>
            <a:ln w="17145">
              <a:solidFill>
                <a:srgbClr val="69281B"/>
              </a:solidFill>
            </a:ln>
          </p:spPr>
        </p:sp>
        <p:sp>
          <p:nvSpPr>
            <p:cNvPr id="92" name="Ellipse 92"/>
            <p:cNvSpPr/>
            <p:nvPr/>
          </p:nvSpPr>
          <p:spPr>
            <a:xfrm>
              <a:off x="5962650" y="2097405"/>
              <a:ext cx="57150" cy="57150"/>
            </a:xfrm>
            <a:prstGeom prst="ellipse">
              <a:avLst/>
            </a:prstGeom>
            <a:solidFill>
              <a:srgbClr val="FFFFFF"/>
            </a:solidFill>
            <a:ln w="17145">
              <a:solidFill>
                <a:srgbClr val="69281B"/>
              </a:solidFill>
            </a:ln>
          </p:spPr>
        </p:sp>
        <p:sp>
          <p:nvSpPr>
            <p:cNvPr id="93" name="Ellipse 93"/>
            <p:cNvSpPr/>
            <p:nvPr/>
          </p:nvSpPr>
          <p:spPr>
            <a:xfrm>
              <a:off x="6553200" y="2038350"/>
              <a:ext cx="57150" cy="57150"/>
            </a:xfrm>
            <a:prstGeom prst="ellipse">
              <a:avLst/>
            </a:prstGeom>
            <a:solidFill>
              <a:srgbClr val="FFFFFF"/>
            </a:solidFill>
            <a:ln w="17145">
              <a:solidFill>
                <a:srgbClr val="69281B"/>
              </a:solidFill>
            </a:ln>
          </p:spPr>
        </p:sp>
        <p:sp>
          <p:nvSpPr>
            <p:cNvPr id="94" name="Ellipse 94"/>
            <p:cNvSpPr/>
            <p:nvPr/>
          </p:nvSpPr>
          <p:spPr>
            <a:xfrm>
              <a:off x="7143750" y="1986915"/>
              <a:ext cx="57150" cy="57150"/>
            </a:xfrm>
            <a:prstGeom prst="ellipse">
              <a:avLst/>
            </a:prstGeom>
            <a:solidFill>
              <a:srgbClr val="FFFFFF"/>
            </a:solidFill>
            <a:ln w="17145">
              <a:solidFill>
                <a:srgbClr val="69281B"/>
              </a:solidFill>
            </a:ln>
          </p:spPr>
        </p:sp>
        <p:sp>
          <p:nvSpPr>
            <p:cNvPr id="95" name="Ellipse 95"/>
            <p:cNvSpPr/>
            <p:nvPr/>
          </p:nvSpPr>
          <p:spPr>
            <a:xfrm>
              <a:off x="7734300" y="1918335"/>
              <a:ext cx="57150" cy="57150"/>
            </a:xfrm>
            <a:prstGeom prst="ellipse">
              <a:avLst/>
            </a:prstGeom>
            <a:solidFill>
              <a:srgbClr val="FFFFFF"/>
            </a:solidFill>
            <a:ln w="17145">
              <a:solidFill>
                <a:srgbClr val="69281B"/>
              </a:solidFill>
            </a:ln>
          </p:spPr>
        </p:sp>
        <p:sp>
          <p:nvSpPr>
            <p:cNvPr id="96" name="TextBox 96"/>
            <p:cNvSpPr txBox="1"/>
            <p:nvPr/>
          </p:nvSpPr>
          <p:spPr>
            <a:xfrm>
              <a:off x="4656096" y="2140982"/>
              <a:ext cx="308058"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289.6​</a:t>
              </a:r>
            </a:p>
          </p:txBody>
        </p:sp>
        <p:sp>
          <p:nvSpPr>
            <p:cNvPr id="97" name="TextBox 97"/>
            <p:cNvSpPr txBox="1"/>
            <p:nvPr/>
          </p:nvSpPr>
          <p:spPr>
            <a:xfrm>
              <a:off x="5246646" y="2064782"/>
              <a:ext cx="308058"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297.8​</a:t>
              </a:r>
            </a:p>
          </p:txBody>
        </p:sp>
        <p:sp>
          <p:nvSpPr>
            <p:cNvPr id="98" name="TextBox 98"/>
            <p:cNvSpPr txBox="1"/>
            <p:nvPr/>
          </p:nvSpPr>
          <p:spPr>
            <a:xfrm>
              <a:off x="5837196" y="1969532"/>
              <a:ext cx="308058"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307.6​</a:t>
              </a:r>
            </a:p>
          </p:txBody>
        </p:sp>
        <p:sp>
          <p:nvSpPr>
            <p:cNvPr id="99" name="TextBox 99"/>
            <p:cNvSpPr txBox="1"/>
            <p:nvPr/>
          </p:nvSpPr>
          <p:spPr>
            <a:xfrm>
              <a:off x="6427746" y="1912382"/>
              <a:ext cx="308058"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313.9​</a:t>
              </a:r>
            </a:p>
          </p:txBody>
        </p:sp>
        <p:sp>
          <p:nvSpPr>
            <p:cNvPr id="100" name="TextBox 100"/>
            <p:cNvSpPr txBox="1"/>
            <p:nvPr/>
          </p:nvSpPr>
          <p:spPr>
            <a:xfrm>
              <a:off x="7018296" y="1855232"/>
              <a:ext cx="308058"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319.4​</a:t>
              </a:r>
            </a:p>
          </p:txBody>
        </p:sp>
        <p:sp>
          <p:nvSpPr>
            <p:cNvPr id="101" name="TextBox 101"/>
            <p:cNvSpPr txBox="1"/>
            <p:nvPr/>
          </p:nvSpPr>
          <p:spPr>
            <a:xfrm>
              <a:off x="7608846" y="1788557"/>
              <a:ext cx="308058"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326.8​</a:t>
              </a:r>
            </a:p>
          </p:txBody>
        </p:sp>
        <p:sp>
          <p:nvSpPr>
            <p:cNvPr id="102" name="TextBox 102"/>
            <p:cNvSpPr txBox="1"/>
            <p:nvPr/>
          </p:nvSpPr>
          <p:spPr>
            <a:xfrm>
              <a:off x="4705003" y="33901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1月​</a:t>
              </a:r>
            </a:p>
          </p:txBody>
        </p:sp>
        <p:sp>
          <p:nvSpPr>
            <p:cNvPr id="103" name="TextBox 103"/>
            <p:cNvSpPr txBox="1"/>
            <p:nvPr/>
          </p:nvSpPr>
          <p:spPr>
            <a:xfrm>
              <a:off x="5295553" y="33901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2月​</a:t>
              </a:r>
            </a:p>
          </p:txBody>
        </p:sp>
        <p:sp>
          <p:nvSpPr>
            <p:cNvPr id="104" name="TextBox 104"/>
            <p:cNvSpPr txBox="1"/>
            <p:nvPr/>
          </p:nvSpPr>
          <p:spPr>
            <a:xfrm>
              <a:off x="5886103" y="33901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3月​</a:t>
              </a:r>
            </a:p>
          </p:txBody>
        </p:sp>
        <p:sp>
          <p:nvSpPr>
            <p:cNvPr id="105" name="TextBox 105"/>
            <p:cNvSpPr txBox="1"/>
            <p:nvPr/>
          </p:nvSpPr>
          <p:spPr>
            <a:xfrm>
              <a:off x="6476653" y="33901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4月​</a:t>
              </a:r>
            </a:p>
          </p:txBody>
        </p:sp>
        <p:sp>
          <p:nvSpPr>
            <p:cNvPr id="106" name="TextBox 106"/>
            <p:cNvSpPr txBox="1"/>
            <p:nvPr/>
          </p:nvSpPr>
          <p:spPr>
            <a:xfrm>
              <a:off x="7067203" y="33901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5月​</a:t>
              </a:r>
            </a:p>
          </p:txBody>
        </p:sp>
        <p:sp>
          <p:nvSpPr>
            <p:cNvPr id="107" name="TextBox 107"/>
            <p:cNvSpPr txBox="1"/>
            <p:nvPr/>
          </p:nvSpPr>
          <p:spPr>
            <a:xfrm>
              <a:off x="7657753" y="33901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6月​</a:t>
              </a:r>
            </a:p>
          </p:txBody>
        </p:sp>
        <p:sp>
          <p:nvSpPr>
            <p:cNvPr id="108" name="TextBox 108"/>
            <p:cNvSpPr txBox="1"/>
            <p:nvPr/>
          </p:nvSpPr>
          <p:spPr>
            <a:xfrm>
              <a:off x="7201776" y="3550682"/>
              <a:ext cx="784936"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单位：亿元（示例）</a:t>
              </a:r>
            </a:p>
          </p:txBody>
        </p:sp>
      </p:grpSp>
      <p:grpSp>
        <p:nvGrpSpPr>
          <p:cNvPr id="145" name="donut-source"/>
          <p:cNvGrpSpPr/>
          <p:nvPr/>
        </p:nvGrpSpPr>
        <p:grpSpPr>
          <a:xfrm>
            <a:off x="8115300" y="685800"/>
            <a:ext cx="3848100" cy="3009900"/>
            <a:chOff x="8115300" y="685800"/>
            <a:chExt cx="3848100" cy="3009900"/>
          </a:xfrm>
        </p:grpSpPr>
        <p:sp>
          <p:nvSpPr>
            <p:cNvPr id="110" name="Rectangle 110"/>
            <p:cNvSpPr/>
            <p:nvPr/>
          </p:nvSpPr>
          <p:spPr>
            <a:xfrm>
              <a:off x="8115300" y="685800"/>
              <a:ext cx="3848100" cy="3009900"/>
            </a:xfrm>
            <a:prstGeom prst="roundRect">
              <a:avLst>
                <a:gd name="adj" fmla="val 1899"/>
              </a:avLst>
            </a:prstGeom>
            <a:solidFill>
              <a:srgbClr val="FFFFFF"/>
            </a:solidFill>
            <a:ln w="9525">
              <a:solidFill>
                <a:srgbClr val="C9D6E9"/>
              </a:solidFill>
            </a:ln>
          </p:spPr>
        </p:sp>
        <p:sp>
          <p:nvSpPr>
            <p:cNvPr id="111" name="Rectangle 111"/>
            <p:cNvSpPr/>
            <p:nvPr/>
          </p:nvSpPr>
          <p:spPr>
            <a:xfrm>
              <a:off x="8115300" y="685800"/>
              <a:ext cx="3848100" cy="247650"/>
            </a:xfrm>
            <a:prstGeom prst="roundRect">
              <a:avLst>
                <a:gd name="adj" fmla="val 23077"/>
              </a:avLst>
            </a:prstGeom>
            <a:solidFill>
              <a:srgbClr val="69281B"/>
            </a:solidFill>
            <a:ln>
              <a:noFill/>
            </a:ln>
          </p:spPr>
        </p:sp>
        <p:sp>
          <p:nvSpPr>
            <p:cNvPr id="112" name="Rectangle 112"/>
            <p:cNvSpPr/>
            <p:nvPr/>
          </p:nvSpPr>
          <p:spPr>
            <a:xfrm>
              <a:off x="8115300" y="838200"/>
              <a:ext cx="3848100" cy="95250"/>
            </a:xfrm>
            <a:prstGeom prst="rect">
              <a:avLst/>
            </a:prstGeom>
            <a:solidFill>
              <a:srgbClr val="69281B"/>
            </a:solidFill>
            <a:ln>
              <a:noFill/>
            </a:ln>
          </p:spPr>
        </p:sp>
        <p:grpSp>
          <p:nvGrpSpPr>
            <p:cNvPr id="115" name="Group 115"/>
            <p:cNvGrpSpPr/>
            <p:nvPr/>
          </p:nvGrpSpPr>
          <p:grpSpPr>
            <a:xfrm>
              <a:off x="8397120" y="760574"/>
              <a:ext cx="100450" cy="100606"/>
              <a:chOff x="8397120" y="760574"/>
              <a:chExt cx="100450" cy="100606"/>
            </a:xfrm>
          </p:grpSpPr>
          <p:sp>
            <p:nvSpPr>
              <p:cNvPr id="113" name="Freeform 113"/>
              <p:cNvSpPr/>
              <p:nvPr/>
            </p:nvSpPr>
            <p:spPr>
              <a:xfrm>
                <a:off x="8397120" y="760574"/>
                <a:ext cx="100450" cy="100606"/>
              </a:xfrm>
              <a:custGeom>
                <a:avLst/>
                <a:gdLst/>
                <a:ahLst/>
                <a:cxnLst/>
                <a:rect l="l" t="t" r="r" b="b"/>
                <a:pathLst>
                  <a:path w="100450" h="100606">
                    <a:moveTo>
                      <a:pt x="40442" y="156"/>
                    </a:moveTo>
                    <a:cubicBezTo>
                      <a:pt x="16384" y="5733"/>
                      <a:pt x="0" y="28038"/>
                      <a:pt x="1873" y="52664"/>
                    </a:cubicBezTo>
                    <a:cubicBezTo>
                      <a:pt x="3747" y="77289"/>
                      <a:pt x="23317" y="96859"/>
                      <a:pt x="47942" y="98732"/>
                    </a:cubicBezTo>
                    <a:cubicBezTo>
                      <a:pt x="72567" y="100606"/>
                      <a:pt x="94873" y="84222"/>
                      <a:pt x="100450" y="60163"/>
                    </a:cubicBezTo>
                    <a:cubicBezTo>
                      <a:pt x="100450" y="57095"/>
                      <a:pt x="97962" y="54607"/>
                      <a:pt x="94894" y="54607"/>
                    </a:cubicBezTo>
                    <a:lnTo>
                      <a:pt x="57111" y="54607"/>
                    </a:lnTo>
                    <a:cubicBezTo>
                      <a:pt x="50974" y="54607"/>
                      <a:pt x="45999" y="49632"/>
                      <a:pt x="45999" y="43495"/>
                    </a:cubicBezTo>
                    <a:lnTo>
                      <a:pt x="45999" y="4601"/>
                    </a:lnTo>
                    <a:cubicBezTo>
                      <a:pt x="45859" y="3271"/>
                      <a:pt x="45193" y="2053"/>
                      <a:pt x="44149" y="1218"/>
                    </a:cubicBezTo>
                    <a:cubicBezTo>
                      <a:pt x="43105" y="382"/>
                      <a:pt x="41770" y="0"/>
                      <a:pt x="40442" y="156"/>
                    </a:cubicBezTo>
                  </a:path>
                </a:pathLst>
              </a:custGeom>
              <a:noFill/>
              <a:ln w="11112">
                <a:solidFill>
                  <a:srgbClr val="FFFFFF"/>
                </a:solidFill>
              </a:ln>
            </p:spPr>
          </p:sp>
          <p:sp>
            <p:nvSpPr>
              <p:cNvPr id="114" name="Freeform 114"/>
              <p:cNvSpPr/>
              <p:nvPr/>
            </p:nvSpPr>
            <p:spPr>
              <a:xfrm>
                <a:off x="8465344" y="762397"/>
                <a:ext cx="30559" cy="30559"/>
              </a:xfrm>
              <a:custGeom>
                <a:avLst/>
                <a:gdLst/>
                <a:ahLst/>
                <a:cxnLst/>
                <a:rect l="l" t="t" r="r" b="b"/>
                <a:pathLst>
                  <a:path w="30559" h="30559">
                    <a:moveTo>
                      <a:pt x="0" y="0"/>
                    </a:moveTo>
                    <a:cubicBezTo>
                      <a:pt x="14290" y="5032"/>
                      <a:pt x="25528" y="16270"/>
                      <a:pt x="30559" y="30559"/>
                    </a:cubicBezTo>
                    <a:lnTo>
                      <a:pt x="5556" y="30559"/>
                    </a:lnTo>
                    <a:cubicBezTo>
                      <a:pt x="2488" y="30559"/>
                      <a:pt x="0" y="28072"/>
                      <a:pt x="0" y="25003"/>
                    </a:cubicBezTo>
                    <a:lnTo>
                      <a:pt x="0" y="0"/>
                    </a:lnTo>
                  </a:path>
                </a:pathLst>
              </a:custGeom>
              <a:noFill/>
              <a:ln w="11112">
                <a:solidFill>
                  <a:srgbClr val="FFFFFF"/>
                </a:solidFill>
              </a:ln>
            </p:spPr>
          </p:sp>
        </p:grpSp>
        <p:sp>
          <p:nvSpPr>
            <p:cNvPr id="116" name="TextBox 116"/>
            <p:cNvSpPr txBox="1"/>
            <p:nvPr/>
          </p:nvSpPr>
          <p:spPr>
            <a:xfrm>
              <a:off x="9205938" y="756047"/>
              <a:ext cx="178112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资金来源构成（时点余额口径）</a:t>
              </a:r>
            </a:p>
          </p:txBody>
        </p:sp>
        <p:sp>
          <p:nvSpPr>
            <p:cNvPr id="117" name="Freeform 117"/>
            <p:cNvSpPr/>
            <p:nvPr/>
          </p:nvSpPr>
          <p:spPr>
            <a:xfrm>
              <a:off x="9096375" y="1523990"/>
              <a:ext cx="780567" cy="1059285"/>
            </a:xfrm>
            <a:custGeom>
              <a:avLst/>
              <a:gdLst/>
              <a:ahLst/>
              <a:cxnLst/>
              <a:rect l="l" t="t" r="r" b="b"/>
              <a:pathLst>
                <a:path w="780567" h="1059285">
                  <a:moveTo>
                    <a:pt x="0" y="10"/>
                  </a:moveTo>
                  <a:cubicBezTo>
                    <a:pt x="254347" y="0"/>
                    <a:pt x="491022" y="130103"/>
                    <a:pt x="627313" y="344852"/>
                  </a:cubicBezTo>
                  <a:cubicBezTo>
                    <a:pt x="763604" y="559600"/>
                    <a:pt x="780567" y="829144"/>
                    <a:pt x="672275" y="1059285"/>
                  </a:cubicBezTo>
                  <a:lnTo>
                    <a:pt x="396431" y="929555"/>
                  </a:lnTo>
                  <a:cubicBezTo>
                    <a:pt x="460313" y="793833"/>
                    <a:pt x="450323" y="634864"/>
                    <a:pt x="369953" y="508206"/>
                  </a:cubicBezTo>
                  <a:cubicBezTo>
                    <a:pt x="289583" y="381549"/>
                    <a:pt x="150005" y="304810"/>
                    <a:pt x="0" y="304810"/>
                  </a:cubicBezTo>
                  <a:close/>
                </a:path>
              </a:pathLst>
            </a:custGeom>
            <a:solidFill>
              <a:srgbClr val="69281B"/>
            </a:solidFill>
            <a:ln>
              <a:noFill/>
            </a:ln>
          </p:spPr>
        </p:sp>
        <p:sp>
          <p:nvSpPr>
            <p:cNvPr id="118" name="Freeform 118"/>
            <p:cNvSpPr/>
            <p:nvPr/>
          </p:nvSpPr>
          <p:spPr>
            <a:xfrm>
              <a:off x="8698325" y="2453545"/>
              <a:ext cx="1070324" cy="586367"/>
            </a:xfrm>
            <a:custGeom>
              <a:avLst/>
              <a:gdLst/>
              <a:ahLst/>
              <a:cxnLst/>
              <a:rect l="l" t="t" r="r" b="b"/>
              <a:pathLst>
                <a:path w="1070324" h="586367">
                  <a:moveTo>
                    <a:pt x="1070324" y="129731"/>
                  </a:moveTo>
                  <a:cubicBezTo>
                    <a:pt x="979524" y="322706"/>
                    <a:pt x="810172" y="467354"/>
                    <a:pt x="605371" y="526861"/>
                  </a:cubicBezTo>
                  <a:cubicBezTo>
                    <a:pt x="400570" y="586367"/>
                    <a:pt x="180074" y="554992"/>
                    <a:pt x="0" y="440722"/>
                  </a:cubicBezTo>
                  <a:lnTo>
                    <a:pt x="163258" y="183356"/>
                  </a:lnTo>
                  <a:cubicBezTo>
                    <a:pt x="269450" y="250752"/>
                    <a:pt x="399483" y="269263"/>
                    <a:pt x="520263" y="234179"/>
                  </a:cubicBezTo>
                  <a:cubicBezTo>
                    <a:pt x="641043" y="199095"/>
                    <a:pt x="740922" y="113799"/>
                    <a:pt x="794480" y="0"/>
                  </a:cubicBezTo>
                  <a:close/>
                </a:path>
              </a:pathLst>
            </a:custGeom>
            <a:solidFill>
              <a:srgbClr val="E04C2E"/>
            </a:solidFill>
            <a:ln>
              <a:noFill/>
            </a:ln>
          </p:spPr>
        </p:sp>
        <p:sp>
          <p:nvSpPr>
            <p:cNvPr id="119" name="Freeform 119"/>
            <p:cNvSpPr/>
            <p:nvPr/>
          </p:nvSpPr>
          <p:spPr>
            <a:xfrm>
              <a:off x="8323234" y="2173796"/>
              <a:ext cx="538349" cy="720471"/>
            </a:xfrm>
            <a:custGeom>
              <a:avLst/>
              <a:gdLst/>
              <a:ahLst/>
              <a:cxnLst/>
              <a:rect l="l" t="t" r="r" b="b"/>
              <a:pathLst>
                <a:path w="538349" h="720471">
                  <a:moveTo>
                    <a:pt x="375091" y="720471"/>
                  </a:moveTo>
                  <a:cubicBezTo>
                    <a:pt x="132077" y="566251"/>
                    <a:pt x="0" y="285546"/>
                    <a:pt x="36096" y="0"/>
                  </a:cubicBezTo>
                  <a:lnTo>
                    <a:pt x="338420" y="38195"/>
                  </a:lnTo>
                  <a:cubicBezTo>
                    <a:pt x="317127" y="206602"/>
                    <a:pt x="395024" y="372155"/>
                    <a:pt x="538349" y="463105"/>
                  </a:cubicBezTo>
                  <a:close/>
                </a:path>
              </a:pathLst>
            </a:custGeom>
            <a:solidFill>
              <a:srgbClr val="E8735B"/>
            </a:solidFill>
            <a:ln>
              <a:noFill/>
            </a:ln>
          </p:spPr>
        </p:sp>
        <p:sp>
          <p:nvSpPr>
            <p:cNvPr id="120" name="Freeform 120"/>
            <p:cNvSpPr/>
            <p:nvPr/>
          </p:nvSpPr>
          <p:spPr>
            <a:xfrm>
              <a:off x="8359330" y="1665923"/>
              <a:ext cx="479489" cy="546068"/>
            </a:xfrm>
            <a:custGeom>
              <a:avLst/>
              <a:gdLst/>
              <a:ahLst/>
              <a:cxnLst/>
              <a:rect l="l" t="t" r="r" b="b"/>
              <a:pathLst>
                <a:path w="479489" h="546068">
                  <a:moveTo>
                    <a:pt x="0" y="507873"/>
                  </a:moveTo>
                  <a:cubicBezTo>
                    <a:pt x="25712" y="304384"/>
                    <a:pt x="134403" y="120578"/>
                    <a:pt x="300323" y="0"/>
                  </a:cubicBezTo>
                  <a:lnTo>
                    <a:pt x="479489" y="246602"/>
                  </a:lnTo>
                  <a:cubicBezTo>
                    <a:pt x="381630" y="317691"/>
                    <a:pt x="317512" y="426071"/>
                    <a:pt x="302324" y="546068"/>
                  </a:cubicBezTo>
                  <a:close/>
                </a:path>
              </a:pathLst>
            </a:custGeom>
            <a:solidFill>
              <a:srgbClr val="DC9C8F"/>
            </a:solidFill>
            <a:ln>
              <a:noFill/>
            </a:ln>
          </p:spPr>
        </p:sp>
        <p:sp>
          <p:nvSpPr>
            <p:cNvPr id="121" name="Freeform 121"/>
            <p:cNvSpPr/>
            <p:nvPr/>
          </p:nvSpPr>
          <p:spPr>
            <a:xfrm>
              <a:off x="8659654" y="1524000"/>
              <a:ext cx="436721" cy="388525"/>
            </a:xfrm>
            <a:custGeom>
              <a:avLst/>
              <a:gdLst/>
              <a:ahLst/>
              <a:cxnLst/>
              <a:rect l="l" t="t" r="r" b="b"/>
              <a:pathLst>
                <a:path w="436721" h="388525">
                  <a:moveTo>
                    <a:pt x="0" y="141923"/>
                  </a:moveTo>
                  <a:cubicBezTo>
                    <a:pt x="126935" y="49685"/>
                    <a:pt x="279813" y="4"/>
                    <a:pt x="436721" y="0"/>
                  </a:cubicBezTo>
                  <a:lnTo>
                    <a:pt x="436721" y="304800"/>
                  </a:lnTo>
                  <a:cubicBezTo>
                    <a:pt x="344182" y="304809"/>
                    <a:pt x="254022" y="334118"/>
                    <a:pt x="179165" y="388525"/>
                  </a:cubicBezTo>
                  <a:close/>
                </a:path>
              </a:pathLst>
            </a:custGeom>
            <a:solidFill>
              <a:srgbClr val="C9D6E9"/>
            </a:solidFill>
            <a:ln>
              <a:noFill/>
            </a:ln>
          </p:spPr>
        </p:sp>
        <p:sp>
          <p:nvSpPr>
            <p:cNvPr id="122" name="TextBox 122"/>
            <p:cNvSpPr txBox="1"/>
            <p:nvPr/>
          </p:nvSpPr>
          <p:spPr>
            <a:xfrm>
              <a:off x="9459697" y="1909762"/>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32%​</a:t>
              </a:r>
            </a:p>
          </p:txBody>
        </p:sp>
        <p:sp>
          <p:nvSpPr>
            <p:cNvPr id="123" name="TextBox 123"/>
            <p:cNvSpPr txBox="1"/>
            <p:nvPr/>
          </p:nvSpPr>
          <p:spPr>
            <a:xfrm>
              <a:off x="9126322" y="2786062"/>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27%​</a:t>
              </a:r>
            </a:p>
          </p:txBody>
        </p:sp>
        <p:sp>
          <p:nvSpPr>
            <p:cNvPr id="124" name="TextBox 124"/>
            <p:cNvSpPr txBox="1"/>
            <p:nvPr/>
          </p:nvSpPr>
          <p:spPr>
            <a:xfrm>
              <a:off x="8430997" y="247173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18%​</a:t>
              </a:r>
            </a:p>
          </p:txBody>
        </p:sp>
        <p:sp>
          <p:nvSpPr>
            <p:cNvPr id="125" name="TextBox 125"/>
            <p:cNvSpPr txBox="1"/>
            <p:nvPr/>
          </p:nvSpPr>
          <p:spPr>
            <a:xfrm>
              <a:off x="8466356" y="1923336"/>
              <a:ext cx="250387"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13%​</a:t>
              </a:r>
            </a:p>
          </p:txBody>
        </p:sp>
        <p:sp>
          <p:nvSpPr>
            <p:cNvPr id="126" name="TextBox 126"/>
            <p:cNvSpPr txBox="1"/>
            <p:nvPr/>
          </p:nvSpPr>
          <p:spPr>
            <a:xfrm>
              <a:off x="8790206" y="1666161"/>
              <a:ext cx="250387"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10%​</a:t>
              </a:r>
            </a:p>
          </p:txBody>
        </p:sp>
        <p:sp>
          <p:nvSpPr>
            <p:cNvPr id="127" name="TextBox 127"/>
            <p:cNvSpPr txBox="1"/>
            <p:nvPr/>
          </p:nvSpPr>
          <p:spPr>
            <a:xfrm>
              <a:off x="8757951" y="2084546"/>
              <a:ext cx="676849" cy="278702"/>
            </a:xfrm>
            <a:prstGeom prst="rect">
              <a:avLst/>
            </a:prstGeom>
            <a:noFill/>
            <a:ln>
              <a:noFill/>
            </a:ln>
          </p:spPr>
          <p:txBody>
            <a:bodyPr wrap="none" lIns="0" tIns="0" rIns="0" bIns="0" anchor="t" anchorCtr="0">
              <a:spAutoFit/>
            </a:bodyPr>
            <a:lstStyle/>
            <a:p>
              <a:pPr algn="ctr"/>
              <a:r>
                <a:rPr lang="zh-CN" sz="1420" b="1" dirty="0">
                  <a:solidFill>
                    <a:srgbClr val="69281B"/>
                  </a:solidFill>
                  <a:latin typeface="+mn-lt"/>
                  <a:ea typeface="+mn-ea"/>
                  <a:cs typeface="+mn-cs"/>
                </a:rPr>
                <a:t>326.8​</a:t>
              </a:r>
            </a:p>
          </p:txBody>
        </p:sp>
        <p:sp>
          <p:nvSpPr>
            <p:cNvPr id="128" name="TextBox 128"/>
            <p:cNvSpPr txBox="1"/>
            <p:nvPr/>
          </p:nvSpPr>
          <p:spPr>
            <a:xfrm>
              <a:off x="8990648" y="2319338"/>
              <a:ext cx="211455" cy="147638"/>
            </a:xfrm>
            <a:prstGeom prst="rect">
              <a:avLst/>
            </a:prstGeom>
            <a:noFill/>
            <a:ln>
              <a:noFill/>
            </a:ln>
          </p:spPr>
          <p:txBody>
            <a:bodyPr wrap="none" lIns="0" tIns="0" rIns="0" bIns="0" anchor="t" anchorCtr="0">
              <a:spAutoFit/>
            </a:bodyPr>
            <a:lstStyle/>
            <a:p>
              <a:pPr algn="ctr"/>
              <a:r>
                <a:rPr lang="zh-CN" sz="750" dirty="0">
                  <a:solidFill>
                    <a:srgbClr val="987F7A"/>
                  </a:solidFill>
                  <a:latin typeface="+mn-lt"/>
                  <a:ea typeface="+mn-ea"/>
                  <a:cs typeface="+mn-cs"/>
                </a:rPr>
                <a:t>亿元</a:t>
              </a:r>
            </a:p>
          </p:txBody>
        </p:sp>
        <p:sp>
          <p:nvSpPr>
            <p:cNvPr id="129" name="Rectangle 129"/>
            <p:cNvSpPr/>
            <p:nvPr/>
          </p:nvSpPr>
          <p:spPr>
            <a:xfrm>
              <a:off x="10153650" y="1409700"/>
              <a:ext cx="104775" cy="104775"/>
            </a:xfrm>
            <a:prstGeom prst="rect">
              <a:avLst/>
            </a:prstGeom>
            <a:solidFill>
              <a:srgbClr val="69281B"/>
            </a:solidFill>
            <a:ln>
              <a:noFill/>
            </a:ln>
          </p:spPr>
        </p:sp>
        <p:sp>
          <p:nvSpPr>
            <p:cNvPr id="130" name="TextBox 130"/>
            <p:cNvSpPr txBox="1"/>
            <p:nvPr/>
          </p:nvSpPr>
          <p:spPr>
            <a:xfrm>
              <a:off x="10320338" y="141993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结算沉淀</a:t>
              </a:r>
            </a:p>
          </p:txBody>
        </p:sp>
        <p:sp>
          <p:nvSpPr>
            <p:cNvPr id="131" name="TextBox 131"/>
            <p:cNvSpPr txBox="1"/>
            <p:nvPr/>
          </p:nvSpPr>
          <p:spPr>
            <a:xfrm>
              <a:off x="11576336" y="1419939"/>
              <a:ext cx="277526" cy="154781"/>
            </a:xfrm>
            <a:prstGeom prst="rect">
              <a:avLst/>
            </a:prstGeom>
            <a:noFill/>
            <a:ln>
              <a:noFill/>
            </a:ln>
          </p:spPr>
          <p:txBody>
            <a:bodyPr wrap="none" lIns="0" tIns="0" rIns="0" bIns="0" anchor="t" anchorCtr="0">
              <a:spAutoFit/>
            </a:bodyPr>
            <a:lstStyle/>
            <a:p>
              <a:pPr algn="r"/>
              <a:r>
                <a:rPr lang="zh-CN" sz="790" b="1" dirty="0">
                  <a:solidFill>
                    <a:srgbClr val="69281B"/>
                  </a:solidFill>
                  <a:latin typeface="+mn-lt"/>
                  <a:ea typeface="+mn-ea"/>
                  <a:cs typeface="+mn-cs"/>
                </a:rPr>
                <a:t>32%​</a:t>
              </a:r>
            </a:p>
          </p:txBody>
        </p:sp>
        <p:sp>
          <p:nvSpPr>
            <p:cNvPr id="132" name="Rectangle 132"/>
            <p:cNvSpPr/>
            <p:nvPr/>
          </p:nvSpPr>
          <p:spPr>
            <a:xfrm>
              <a:off x="10153650" y="1695450"/>
              <a:ext cx="104775" cy="104775"/>
            </a:xfrm>
            <a:prstGeom prst="rect">
              <a:avLst/>
            </a:prstGeom>
            <a:solidFill>
              <a:srgbClr val="E04C2E"/>
            </a:solidFill>
            <a:ln>
              <a:noFill/>
            </a:ln>
          </p:spPr>
        </p:sp>
        <p:sp>
          <p:nvSpPr>
            <p:cNvPr id="133" name="TextBox 133"/>
            <p:cNvSpPr txBox="1"/>
            <p:nvPr/>
          </p:nvSpPr>
          <p:spPr>
            <a:xfrm>
              <a:off x="10320338" y="170568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机构资金</a:t>
              </a:r>
            </a:p>
          </p:txBody>
        </p:sp>
        <p:sp>
          <p:nvSpPr>
            <p:cNvPr id="134" name="TextBox 134"/>
            <p:cNvSpPr txBox="1"/>
            <p:nvPr/>
          </p:nvSpPr>
          <p:spPr>
            <a:xfrm>
              <a:off x="11576336" y="1705689"/>
              <a:ext cx="277526" cy="154781"/>
            </a:xfrm>
            <a:prstGeom prst="rect">
              <a:avLst/>
            </a:prstGeom>
            <a:noFill/>
            <a:ln>
              <a:noFill/>
            </a:ln>
          </p:spPr>
          <p:txBody>
            <a:bodyPr wrap="none" lIns="0" tIns="0" rIns="0" bIns="0" anchor="t" anchorCtr="0">
              <a:spAutoFit/>
            </a:bodyPr>
            <a:lstStyle/>
            <a:p>
              <a:pPr algn="r"/>
              <a:r>
                <a:rPr lang="zh-CN" sz="790" b="1" dirty="0">
                  <a:solidFill>
                    <a:srgbClr val="69281B"/>
                  </a:solidFill>
                  <a:latin typeface="+mn-lt"/>
                  <a:ea typeface="+mn-ea"/>
                  <a:cs typeface="+mn-cs"/>
                </a:rPr>
                <a:t>27%​</a:t>
              </a:r>
            </a:p>
          </p:txBody>
        </p:sp>
        <p:sp>
          <p:nvSpPr>
            <p:cNvPr id="135" name="Rectangle 135"/>
            <p:cNvSpPr/>
            <p:nvPr/>
          </p:nvSpPr>
          <p:spPr>
            <a:xfrm>
              <a:off x="10153650" y="1981200"/>
              <a:ext cx="104775" cy="104775"/>
            </a:xfrm>
            <a:prstGeom prst="rect">
              <a:avLst/>
            </a:prstGeom>
            <a:solidFill>
              <a:srgbClr val="E8735B"/>
            </a:solidFill>
            <a:ln>
              <a:noFill/>
            </a:ln>
          </p:spPr>
        </p:sp>
        <p:sp>
          <p:nvSpPr>
            <p:cNvPr id="136" name="TextBox 136"/>
            <p:cNvSpPr txBox="1"/>
            <p:nvPr/>
          </p:nvSpPr>
          <p:spPr>
            <a:xfrm>
              <a:off x="10320338" y="199143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项目资金</a:t>
              </a:r>
            </a:p>
          </p:txBody>
        </p:sp>
        <p:sp>
          <p:nvSpPr>
            <p:cNvPr id="137" name="TextBox 137"/>
            <p:cNvSpPr txBox="1"/>
            <p:nvPr/>
          </p:nvSpPr>
          <p:spPr>
            <a:xfrm>
              <a:off x="11576336" y="1991439"/>
              <a:ext cx="277526" cy="154781"/>
            </a:xfrm>
            <a:prstGeom prst="rect">
              <a:avLst/>
            </a:prstGeom>
            <a:noFill/>
            <a:ln>
              <a:noFill/>
            </a:ln>
          </p:spPr>
          <p:txBody>
            <a:bodyPr wrap="none" lIns="0" tIns="0" rIns="0" bIns="0" anchor="t" anchorCtr="0">
              <a:spAutoFit/>
            </a:bodyPr>
            <a:lstStyle/>
            <a:p>
              <a:pPr algn="r"/>
              <a:r>
                <a:rPr lang="zh-CN" sz="790" b="1" dirty="0">
                  <a:solidFill>
                    <a:srgbClr val="69281B"/>
                  </a:solidFill>
                  <a:latin typeface="+mn-lt"/>
                  <a:ea typeface="+mn-ea"/>
                  <a:cs typeface="+mn-cs"/>
                </a:rPr>
                <a:t>18%​</a:t>
              </a:r>
            </a:p>
          </p:txBody>
        </p:sp>
        <p:sp>
          <p:nvSpPr>
            <p:cNvPr id="138" name="Rectangle 138"/>
            <p:cNvSpPr/>
            <p:nvPr/>
          </p:nvSpPr>
          <p:spPr>
            <a:xfrm>
              <a:off x="10153650" y="2266950"/>
              <a:ext cx="104775" cy="104775"/>
            </a:xfrm>
            <a:prstGeom prst="rect">
              <a:avLst/>
            </a:prstGeom>
            <a:solidFill>
              <a:srgbClr val="DC9C8F"/>
            </a:solidFill>
            <a:ln>
              <a:noFill/>
            </a:ln>
          </p:spPr>
        </p:sp>
        <p:sp>
          <p:nvSpPr>
            <p:cNvPr id="139" name="TextBox 139"/>
            <p:cNvSpPr txBox="1"/>
            <p:nvPr/>
          </p:nvSpPr>
          <p:spPr>
            <a:xfrm>
              <a:off x="10320338" y="227718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监管资金</a:t>
              </a:r>
            </a:p>
          </p:txBody>
        </p:sp>
        <p:sp>
          <p:nvSpPr>
            <p:cNvPr id="140" name="TextBox 140"/>
            <p:cNvSpPr txBox="1"/>
            <p:nvPr/>
          </p:nvSpPr>
          <p:spPr>
            <a:xfrm>
              <a:off x="11576336" y="2277189"/>
              <a:ext cx="277526" cy="154781"/>
            </a:xfrm>
            <a:prstGeom prst="rect">
              <a:avLst/>
            </a:prstGeom>
            <a:noFill/>
            <a:ln>
              <a:noFill/>
            </a:ln>
          </p:spPr>
          <p:txBody>
            <a:bodyPr wrap="none" lIns="0" tIns="0" rIns="0" bIns="0" anchor="t" anchorCtr="0">
              <a:spAutoFit/>
            </a:bodyPr>
            <a:lstStyle/>
            <a:p>
              <a:pPr algn="r"/>
              <a:r>
                <a:rPr lang="zh-CN" sz="790" b="1" dirty="0">
                  <a:solidFill>
                    <a:srgbClr val="69281B"/>
                  </a:solidFill>
                  <a:latin typeface="+mn-lt"/>
                  <a:ea typeface="+mn-ea"/>
                  <a:cs typeface="+mn-cs"/>
                </a:rPr>
                <a:t>13%​</a:t>
              </a:r>
            </a:p>
          </p:txBody>
        </p:sp>
        <p:sp>
          <p:nvSpPr>
            <p:cNvPr id="141" name="Rectangle 141"/>
            <p:cNvSpPr/>
            <p:nvPr/>
          </p:nvSpPr>
          <p:spPr>
            <a:xfrm>
              <a:off x="10153650" y="2552700"/>
              <a:ext cx="104775" cy="104775"/>
            </a:xfrm>
            <a:prstGeom prst="rect">
              <a:avLst/>
            </a:prstGeom>
            <a:solidFill>
              <a:srgbClr val="C9D6E9"/>
            </a:solidFill>
            <a:ln>
              <a:noFill/>
            </a:ln>
          </p:spPr>
        </p:sp>
        <p:sp>
          <p:nvSpPr>
            <p:cNvPr id="142" name="TextBox 142"/>
            <p:cNvSpPr txBox="1"/>
            <p:nvPr/>
          </p:nvSpPr>
          <p:spPr>
            <a:xfrm>
              <a:off x="10320338" y="2562939"/>
              <a:ext cx="222225"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其他</a:t>
              </a:r>
            </a:p>
          </p:txBody>
        </p:sp>
        <p:sp>
          <p:nvSpPr>
            <p:cNvPr id="143" name="TextBox 143"/>
            <p:cNvSpPr txBox="1"/>
            <p:nvPr/>
          </p:nvSpPr>
          <p:spPr>
            <a:xfrm>
              <a:off x="11576336" y="2562939"/>
              <a:ext cx="277526" cy="154781"/>
            </a:xfrm>
            <a:prstGeom prst="rect">
              <a:avLst/>
            </a:prstGeom>
            <a:noFill/>
            <a:ln>
              <a:noFill/>
            </a:ln>
          </p:spPr>
          <p:txBody>
            <a:bodyPr wrap="none" lIns="0" tIns="0" rIns="0" bIns="0" anchor="t" anchorCtr="0">
              <a:spAutoFit/>
            </a:bodyPr>
            <a:lstStyle/>
            <a:p>
              <a:pPr algn="r"/>
              <a:r>
                <a:rPr lang="zh-CN" sz="790" b="1" dirty="0">
                  <a:solidFill>
                    <a:srgbClr val="69281B"/>
                  </a:solidFill>
                  <a:latin typeface="+mn-lt"/>
                  <a:ea typeface="+mn-ea"/>
                  <a:cs typeface="+mn-cs"/>
                </a:rPr>
                <a:t>10%​</a:t>
              </a:r>
            </a:p>
          </p:txBody>
        </p:sp>
        <p:sp>
          <p:nvSpPr>
            <p:cNvPr id="144" name="TextBox 144"/>
            <p:cNvSpPr txBox="1"/>
            <p:nvPr/>
          </p:nvSpPr>
          <p:spPr>
            <a:xfrm>
              <a:off x="8262938" y="3474482"/>
              <a:ext cx="1327724"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数据口径：2026年6月末（示例）​</a:t>
              </a:r>
            </a:p>
          </p:txBody>
        </p:sp>
      </p:grpSp>
      <p:grpSp>
        <p:nvGrpSpPr>
          <p:cNvPr id="207" name="measures"/>
          <p:cNvGrpSpPr/>
          <p:nvPr/>
        </p:nvGrpSpPr>
        <p:grpSpPr>
          <a:xfrm>
            <a:off x="228600" y="3810000"/>
            <a:ext cx="7448550" cy="2857500"/>
            <a:chOff x="228600" y="3810000"/>
            <a:chExt cx="7448550" cy="2857500"/>
          </a:xfrm>
        </p:grpSpPr>
        <p:sp>
          <p:nvSpPr>
            <p:cNvPr id="146" name="Rectangle 146"/>
            <p:cNvSpPr/>
            <p:nvPr/>
          </p:nvSpPr>
          <p:spPr>
            <a:xfrm>
              <a:off x="228600" y="3810000"/>
              <a:ext cx="7448550" cy="2857500"/>
            </a:xfrm>
            <a:prstGeom prst="roundRect">
              <a:avLst>
                <a:gd name="adj" fmla="val 2000"/>
              </a:avLst>
            </a:prstGeom>
            <a:solidFill>
              <a:srgbClr val="FFFFFF"/>
            </a:solidFill>
            <a:ln w="9525">
              <a:solidFill>
                <a:srgbClr val="C9D6E9"/>
              </a:solidFill>
            </a:ln>
          </p:spPr>
        </p:sp>
        <p:sp>
          <p:nvSpPr>
            <p:cNvPr id="147" name="Rectangle 147"/>
            <p:cNvSpPr/>
            <p:nvPr/>
          </p:nvSpPr>
          <p:spPr>
            <a:xfrm>
              <a:off x="228600" y="3810000"/>
              <a:ext cx="7448550" cy="266700"/>
            </a:xfrm>
            <a:prstGeom prst="roundRect">
              <a:avLst>
                <a:gd name="adj" fmla="val 21429"/>
              </a:avLst>
            </a:prstGeom>
            <a:solidFill>
              <a:srgbClr val="69281B"/>
            </a:solidFill>
            <a:ln>
              <a:noFill/>
            </a:ln>
          </p:spPr>
        </p:sp>
        <p:sp>
          <p:nvSpPr>
            <p:cNvPr id="148" name="Rectangle 148"/>
            <p:cNvSpPr/>
            <p:nvPr/>
          </p:nvSpPr>
          <p:spPr>
            <a:xfrm>
              <a:off x="228600" y="3943350"/>
              <a:ext cx="7448550" cy="133350"/>
            </a:xfrm>
            <a:prstGeom prst="rect">
              <a:avLst/>
            </a:prstGeom>
            <a:solidFill>
              <a:srgbClr val="69281B"/>
            </a:solidFill>
            <a:ln>
              <a:noFill/>
            </a:ln>
          </p:spPr>
        </p:sp>
        <p:grpSp>
          <p:nvGrpSpPr>
            <p:cNvPr id="152" name="Group 152"/>
            <p:cNvGrpSpPr/>
            <p:nvPr/>
          </p:nvGrpSpPr>
          <p:grpSpPr>
            <a:xfrm>
              <a:off x="2797969" y="3893344"/>
              <a:ext cx="100012" cy="100012"/>
              <a:chOff x="2797969" y="3893344"/>
              <a:chExt cx="100012" cy="100012"/>
            </a:xfrm>
          </p:grpSpPr>
          <p:sp>
            <p:nvSpPr>
              <p:cNvPr id="149" name="Freeform 149"/>
              <p:cNvSpPr/>
              <p:nvPr/>
            </p:nvSpPr>
            <p:spPr>
              <a:xfrm>
                <a:off x="2842419" y="393779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150" name="Freeform 150"/>
              <p:cNvSpPr/>
              <p:nvPr/>
            </p:nvSpPr>
            <p:spPr>
              <a:xfrm>
                <a:off x="2820194" y="3915569"/>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151" name="Freeform 151"/>
              <p:cNvSpPr/>
              <p:nvPr/>
            </p:nvSpPr>
            <p:spPr>
              <a:xfrm>
                <a:off x="2797969" y="389334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153" name="TextBox 153"/>
            <p:cNvSpPr txBox="1"/>
            <p:nvPr/>
          </p:nvSpPr>
          <p:spPr>
            <a:xfrm>
              <a:off x="3145433" y="3885724"/>
              <a:ext cx="163393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增长措施与成效（1—6月）​</a:t>
              </a:r>
            </a:p>
          </p:txBody>
        </p:sp>
        <p:sp>
          <p:nvSpPr>
            <p:cNvPr id="154" name="Rectangle 154"/>
            <p:cNvSpPr/>
            <p:nvPr/>
          </p:nvSpPr>
          <p:spPr>
            <a:xfrm>
              <a:off x="342900" y="4191000"/>
              <a:ext cx="2324100" cy="2343150"/>
            </a:xfrm>
            <a:prstGeom prst="roundRect">
              <a:avLst>
                <a:gd name="adj" fmla="val 1639"/>
              </a:avLst>
            </a:prstGeom>
            <a:solidFill>
              <a:srgbClr val="F5F8FD"/>
            </a:solidFill>
            <a:ln w="9525">
              <a:solidFill>
                <a:srgbClr val="E3EAF5"/>
              </a:solidFill>
            </a:ln>
          </p:spPr>
        </p:sp>
        <p:sp>
          <p:nvSpPr>
            <p:cNvPr id="155" name="Rectangle 155"/>
            <p:cNvSpPr/>
            <p:nvPr/>
          </p:nvSpPr>
          <p:spPr>
            <a:xfrm>
              <a:off x="457200" y="4324350"/>
              <a:ext cx="247650" cy="247650"/>
            </a:xfrm>
            <a:prstGeom prst="rect">
              <a:avLst/>
            </a:prstGeom>
            <a:solidFill>
              <a:srgbClr val="E04C2E"/>
            </a:solidFill>
            <a:ln>
              <a:noFill/>
            </a:ln>
          </p:spPr>
        </p:sp>
        <p:sp>
          <p:nvSpPr>
            <p:cNvPr id="156" name="TextBox 156"/>
            <p:cNvSpPr txBox="1"/>
            <p:nvPr/>
          </p:nvSpPr>
          <p:spPr>
            <a:xfrm>
              <a:off x="453246" y="439197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01​</a:t>
              </a:r>
            </a:p>
          </p:txBody>
        </p:sp>
        <p:sp>
          <p:nvSpPr>
            <p:cNvPr id="157" name="TextBox 157"/>
            <p:cNvSpPr txBox="1"/>
            <p:nvPr/>
          </p:nvSpPr>
          <p:spPr>
            <a:xfrm>
              <a:off x="795338" y="4394597"/>
              <a:ext cx="1421110"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园区/楼宇/商圈走访拓客</a:t>
              </a:r>
            </a:p>
          </p:txBody>
        </p:sp>
        <p:grpSp>
          <p:nvGrpSpPr>
            <p:cNvPr id="166" name="Group 166"/>
            <p:cNvGrpSpPr/>
            <p:nvPr/>
          </p:nvGrpSpPr>
          <p:grpSpPr>
            <a:xfrm>
              <a:off x="2224087" y="4891087"/>
              <a:ext cx="314324" cy="323850"/>
              <a:chOff x="2224087" y="4891087"/>
              <a:chExt cx="314324" cy="323850"/>
            </a:xfrm>
          </p:grpSpPr>
          <p:sp>
            <p:nvSpPr>
              <p:cNvPr id="158" name="Freeform 158"/>
              <p:cNvSpPr/>
              <p:nvPr/>
            </p:nvSpPr>
            <p:spPr>
              <a:xfrm>
                <a:off x="2224087" y="5205412"/>
                <a:ext cx="314324" cy="9525"/>
              </a:xfrm>
              <a:custGeom>
                <a:avLst/>
                <a:gdLst/>
                <a:ahLst/>
                <a:cxnLst/>
                <a:rect l="l" t="t" r="r" b="b"/>
                <a:pathLst>
                  <a:path w="314324" h="9525">
                    <a:moveTo>
                      <a:pt x="0" y="0"/>
                    </a:moveTo>
                    <a:lnTo>
                      <a:pt x="314324" y="0"/>
                    </a:lnTo>
                  </a:path>
                </a:pathLst>
              </a:custGeom>
              <a:noFill/>
              <a:ln w="34925">
                <a:solidFill>
                  <a:srgbClr val="E8735B"/>
                </a:solidFill>
              </a:ln>
            </p:spPr>
          </p:sp>
          <p:sp>
            <p:nvSpPr>
              <p:cNvPr id="159" name="Freeform 159"/>
              <p:cNvSpPr/>
              <p:nvPr/>
            </p:nvSpPr>
            <p:spPr>
              <a:xfrm>
                <a:off x="2224087" y="5013325"/>
                <a:ext cx="314324" cy="9525"/>
              </a:xfrm>
              <a:custGeom>
                <a:avLst/>
                <a:gdLst/>
                <a:ahLst/>
                <a:cxnLst/>
                <a:rect l="l" t="t" r="r" b="b"/>
                <a:pathLst>
                  <a:path w="314324" h="9525">
                    <a:moveTo>
                      <a:pt x="0" y="0"/>
                    </a:moveTo>
                    <a:lnTo>
                      <a:pt x="314324" y="0"/>
                    </a:lnTo>
                  </a:path>
                </a:pathLst>
              </a:custGeom>
              <a:noFill/>
              <a:ln w="34925">
                <a:solidFill>
                  <a:srgbClr val="E8735B"/>
                </a:solidFill>
              </a:ln>
            </p:spPr>
          </p:sp>
          <p:sp>
            <p:nvSpPr>
              <p:cNvPr id="160" name="Freeform 160"/>
              <p:cNvSpPr/>
              <p:nvPr/>
            </p:nvSpPr>
            <p:spPr>
              <a:xfrm>
                <a:off x="2259012" y="4891087"/>
                <a:ext cx="244475" cy="52387"/>
              </a:xfrm>
              <a:custGeom>
                <a:avLst/>
                <a:gdLst/>
                <a:ahLst/>
                <a:cxnLst/>
                <a:rect l="l" t="t" r="r" b="b"/>
                <a:pathLst>
                  <a:path w="244475" h="52387">
                    <a:moveTo>
                      <a:pt x="0" y="52387"/>
                    </a:moveTo>
                    <a:lnTo>
                      <a:pt x="122237" y="0"/>
                    </a:lnTo>
                    <a:lnTo>
                      <a:pt x="244475" y="52387"/>
                    </a:lnTo>
                  </a:path>
                </a:pathLst>
              </a:custGeom>
              <a:noFill/>
              <a:ln w="34925">
                <a:solidFill>
                  <a:srgbClr val="E8735B"/>
                </a:solidFill>
              </a:ln>
            </p:spPr>
          </p:sp>
          <p:sp>
            <p:nvSpPr>
              <p:cNvPr id="161" name="Freeform 161"/>
              <p:cNvSpPr/>
              <p:nvPr/>
            </p:nvSpPr>
            <p:spPr>
              <a:xfrm>
                <a:off x="2241550" y="5013325"/>
                <a:ext cx="9525" cy="192087"/>
              </a:xfrm>
              <a:custGeom>
                <a:avLst/>
                <a:gdLst/>
                <a:ahLst/>
                <a:cxnLst/>
                <a:rect l="l" t="t" r="r" b="b"/>
                <a:pathLst>
                  <a:path w="9525" h="192087">
                    <a:moveTo>
                      <a:pt x="0" y="0"/>
                    </a:moveTo>
                    <a:lnTo>
                      <a:pt x="0" y="192087"/>
                    </a:lnTo>
                  </a:path>
                </a:pathLst>
              </a:custGeom>
              <a:noFill/>
              <a:ln w="34925">
                <a:solidFill>
                  <a:srgbClr val="E8735B"/>
                </a:solidFill>
              </a:ln>
            </p:spPr>
          </p:sp>
          <p:sp>
            <p:nvSpPr>
              <p:cNvPr id="162" name="Freeform 162"/>
              <p:cNvSpPr/>
              <p:nvPr/>
            </p:nvSpPr>
            <p:spPr>
              <a:xfrm>
                <a:off x="2520949" y="5013325"/>
                <a:ext cx="9525" cy="192087"/>
              </a:xfrm>
              <a:custGeom>
                <a:avLst/>
                <a:gdLst/>
                <a:ahLst/>
                <a:cxnLst/>
                <a:rect l="l" t="t" r="r" b="b"/>
                <a:pathLst>
                  <a:path w="9525" h="192087">
                    <a:moveTo>
                      <a:pt x="0" y="0"/>
                    </a:moveTo>
                    <a:lnTo>
                      <a:pt x="0" y="192087"/>
                    </a:lnTo>
                  </a:path>
                </a:pathLst>
              </a:custGeom>
              <a:noFill/>
              <a:ln w="34925">
                <a:solidFill>
                  <a:srgbClr val="E8735B"/>
                </a:solidFill>
              </a:ln>
            </p:spPr>
          </p:sp>
          <p:sp>
            <p:nvSpPr>
              <p:cNvPr id="163" name="Freeform 163"/>
              <p:cNvSpPr/>
              <p:nvPr/>
            </p:nvSpPr>
            <p:spPr>
              <a:xfrm>
                <a:off x="2311400" y="5083175"/>
                <a:ext cx="9525" cy="52387"/>
              </a:xfrm>
              <a:custGeom>
                <a:avLst/>
                <a:gdLst/>
                <a:ahLst/>
                <a:cxnLst/>
                <a:rect l="l" t="t" r="r" b="b"/>
                <a:pathLst>
                  <a:path w="9525" h="52387">
                    <a:moveTo>
                      <a:pt x="0" y="0"/>
                    </a:moveTo>
                    <a:lnTo>
                      <a:pt x="0" y="52387"/>
                    </a:lnTo>
                  </a:path>
                </a:pathLst>
              </a:custGeom>
              <a:noFill/>
              <a:ln w="34925">
                <a:solidFill>
                  <a:srgbClr val="E8735B"/>
                </a:solidFill>
              </a:ln>
            </p:spPr>
          </p:sp>
          <p:sp>
            <p:nvSpPr>
              <p:cNvPr id="164" name="Freeform 164"/>
              <p:cNvSpPr/>
              <p:nvPr/>
            </p:nvSpPr>
            <p:spPr>
              <a:xfrm>
                <a:off x="2381250" y="5083175"/>
                <a:ext cx="9525" cy="52387"/>
              </a:xfrm>
              <a:custGeom>
                <a:avLst/>
                <a:gdLst/>
                <a:ahLst/>
                <a:cxnLst/>
                <a:rect l="l" t="t" r="r" b="b"/>
                <a:pathLst>
                  <a:path w="9525" h="52387">
                    <a:moveTo>
                      <a:pt x="0" y="0"/>
                    </a:moveTo>
                    <a:lnTo>
                      <a:pt x="0" y="52387"/>
                    </a:lnTo>
                  </a:path>
                </a:pathLst>
              </a:custGeom>
              <a:noFill/>
              <a:ln w="34925">
                <a:solidFill>
                  <a:srgbClr val="E8735B"/>
                </a:solidFill>
              </a:ln>
            </p:spPr>
          </p:sp>
          <p:sp>
            <p:nvSpPr>
              <p:cNvPr id="165" name="Freeform 165"/>
              <p:cNvSpPr/>
              <p:nvPr/>
            </p:nvSpPr>
            <p:spPr>
              <a:xfrm>
                <a:off x="2451099" y="5083175"/>
                <a:ext cx="9525" cy="52387"/>
              </a:xfrm>
              <a:custGeom>
                <a:avLst/>
                <a:gdLst/>
                <a:ahLst/>
                <a:cxnLst/>
                <a:rect l="l" t="t" r="r" b="b"/>
                <a:pathLst>
                  <a:path w="9525" h="52387">
                    <a:moveTo>
                      <a:pt x="0" y="0"/>
                    </a:moveTo>
                    <a:lnTo>
                      <a:pt x="0" y="52387"/>
                    </a:lnTo>
                  </a:path>
                </a:pathLst>
              </a:custGeom>
              <a:noFill/>
              <a:ln w="34925">
                <a:solidFill>
                  <a:srgbClr val="E8735B"/>
                </a:solidFill>
              </a:ln>
            </p:spPr>
          </p:sp>
        </p:grpSp>
        <p:sp>
          <p:nvSpPr>
            <p:cNvPr id="167" name="Ellipse 167"/>
            <p:cNvSpPr/>
            <p:nvPr/>
          </p:nvSpPr>
          <p:spPr>
            <a:xfrm>
              <a:off x="611505" y="4897755"/>
              <a:ext cx="34290" cy="34290"/>
            </a:xfrm>
            <a:prstGeom prst="ellipse">
              <a:avLst/>
            </a:prstGeom>
            <a:solidFill>
              <a:srgbClr val="E04C2E"/>
            </a:solidFill>
            <a:ln>
              <a:noFill/>
            </a:ln>
          </p:spPr>
        </p:sp>
        <p:sp>
          <p:nvSpPr>
            <p:cNvPr id="168" name="TextBox 168"/>
            <p:cNvSpPr txBox="1"/>
            <p:nvPr/>
          </p:nvSpPr>
          <p:spPr>
            <a:xfrm>
              <a:off x="700088" y="4873657"/>
              <a:ext cx="1404188"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走访园区、写字楼、商圈等客户</a:t>
              </a:r>
            </a:p>
          </p:txBody>
        </p:sp>
        <p:sp>
          <p:nvSpPr>
            <p:cNvPr id="169" name="TextBox 169"/>
            <p:cNvSpPr txBox="1"/>
            <p:nvPr/>
          </p:nvSpPr>
          <p:spPr>
            <a:xfrm>
              <a:off x="1447739" y="5090160"/>
              <a:ext cx="672907" cy="234696"/>
            </a:xfrm>
            <a:prstGeom prst="rect">
              <a:avLst/>
            </a:prstGeom>
            <a:noFill/>
            <a:ln>
              <a:noFill/>
            </a:ln>
          </p:spPr>
          <p:txBody>
            <a:bodyPr wrap="none" lIns="0" tIns="0" rIns="0" bIns="0" anchor="t" anchorCtr="0">
              <a:spAutoFit/>
            </a:bodyPr>
            <a:lstStyle/>
            <a:p>
              <a:pPr algn="r"/>
              <a:r>
                <a:rPr lang="zh-CN" sz="1200" b="1" dirty="0">
                  <a:solidFill>
                    <a:srgbClr val="E04C2E"/>
                  </a:solidFill>
                  <a:latin typeface="+mn-lt"/>
                  <a:ea typeface="+mn-ea"/>
                  <a:cs typeface="+mn-cs"/>
                </a:rPr>
                <a:t>1,860</a:t>
              </a:r>
              <a:r>
                <a:rPr lang="zh-CN" sz="750" b="1" dirty="0">
                  <a:solidFill>
                    <a:srgbClr val="E04C2E"/>
                  </a:solidFill>
                  <a:latin typeface="+mn-lt"/>
                  <a:ea typeface="+mn-ea"/>
                  <a:cs typeface="+mn-cs"/>
                </a:rPr>
                <a:t>家</a:t>
              </a:r>
              <a:r>
                <a:rPr lang="zh-CN" sz="1200" b="1" dirty="0">
                  <a:solidFill>
                    <a:srgbClr val="E04C2E"/>
                  </a:solidFill>
                  <a:latin typeface="+mn-lt"/>
                  <a:ea typeface="+mn-ea"/>
                  <a:cs typeface="+mn-cs"/>
                </a:rPr>
                <a:t>​</a:t>
              </a:r>
            </a:p>
          </p:txBody>
        </p:sp>
        <p:sp>
          <p:nvSpPr>
            <p:cNvPr id="170" name="TextBox 170"/>
            <p:cNvSpPr txBox="1"/>
            <p:nvPr/>
          </p:nvSpPr>
          <p:spPr>
            <a:xfrm>
              <a:off x="1625156" y="5269230"/>
              <a:ext cx="494157"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（示例数据）</a:t>
              </a:r>
            </a:p>
          </p:txBody>
        </p:sp>
        <p:sp>
          <p:nvSpPr>
            <p:cNvPr id="171" name="Ellipse 171"/>
            <p:cNvSpPr/>
            <p:nvPr/>
          </p:nvSpPr>
          <p:spPr>
            <a:xfrm>
              <a:off x="611505" y="5583555"/>
              <a:ext cx="34290" cy="34290"/>
            </a:xfrm>
            <a:prstGeom prst="ellipse">
              <a:avLst/>
            </a:prstGeom>
            <a:solidFill>
              <a:srgbClr val="E04C2E"/>
            </a:solidFill>
            <a:ln>
              <a:noFill/>
            </a:ln>
          </p:spPr>
        </p:sp>
        <p:sp>
          <p:nvSpPr>
            <p:cNvPr id="172" name="TextBox 172"/>
            <p:cNvSpPr txBox="1"/>
            <p:nvPr/>
          </p:nvSpPr>
          <p:spPr>
            <a:xfrm>
              <a:off x="700088" y="5559457"/>
              <a:ext cx="607238"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新增对公开户</a:t>
              </a:r>
            </a:p>
          </p:txBody>
        </p:sp>
        <p:sp>
          <p:nvSpPr>
            <p:cNvPr id="173" name="TextBox 173"/>
            <p:cNvSpPr txBox="1"/>
            <p:nvPr/>
          </p:nvSpPr>
          <p:spPr>
            <a:xfrm>
              <a:off x="1447739" y="5795010"/>
              <a:ext cx="672907" cy="234696"/>
            </a:xfrm>
            <a:prstGeom prst="rect">
              <a:avLst/>
            </a:prstGeom>
            <a:noFill/>
            <a:ln>
              <a:noFill/>
            </a:ln>
          </p:spPr>
          <p:txBody>
            <a:bodyPr wrap="none" lIns="0" tIns="0" rIns="0" bIns="0" anchor="t" anchorCtr="0">
              <a:spAutoFit/>
            </a:bodyPr>
            <a:lstStyle/>
            <a:p>
              <a:pPr algn="r"/>
              <a:r>
                <a:rPr lang="zh-CN" sz="1200" b="1" dirty="0">
                  <a:solidFill>
                    <a:srgbClr val="E04C2E"/>
                  </a:solidFill>
                  <a:latin typeface="+mn-lt"/>
                  <a:ea typeface="+mn-ea"/>
                  <a:cs typeface="+mn-cs"/>
                </a:rPr>
                <a:t>1,240</a:t>
              </a:r>
              <a:r>
                <a:rPr lang="zh-CN" sz="750" b="1" dirty="0">
                  <a:solidFill>
                    <a:srgbClr val="E04C2E"/>
                  </a:solidFill>
                  <a:latin typeface="+mn-lt"/>
                  <a:ea typeface="+mn-ea"/>
                  <a:cs typeface="+mn-cs"/>
                </a:rPr>
                <a:t>户</a:t>
              </a:r>
              <a:r>
                <a:rPr lang="zh-CN" sz="1200" b="1" dirty="0">
                  <a:solidFill>
                    <a:srgbClr val="E04C2E"/>
                  </a:solidFill>
                  <a:latin typeface="+mn-lt"/>
                  <a:ea typeface="+mn-ea"/>
                  <a:cs typeface="+mn-cs"/>
                </a:rPr>
                <a:t>​</a:t>
              </a:r>
            </a:p>
          </p:txBody>
        </p:sp>
        <p:sp>
          <p:nvSpPr>
            <p:cNvPr id="174" name="TextBox 174"/>
            <p:cNvSpPr txBox="1"/>
            <p:nvPr/>
          </p:nvSpPr>
          <p:spPr>
            <a:xfrm>
              <a:off x="1625156" y="5974080"/>
              <a:ext cx="494157"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（示例数据）</a:t>
              </a:r>
            </a:p>
          </p:txBody>
        </p:sp>
        <p:sp>
          <p:nvSpPr>
            <p:cNvPr id="175" name="Rectangle 175"/>
            <p:cNvSpPr/>
            <p:nvPr/>
          </p:nvSpPr>
          <p:spPr>
            <a:xfrm>
              <a:off x="2781300" y="4191000"/>
              <a:ext cx="2324100" cy="2343150"/>
            </a:xfrm>
            <a:prstGeom prst="roundRect">
              <a:avLst>
                <a:gd name="adj" fmla="val 1639"/>
              </a:avLst>
            </a:prstGeom>
            <a:solidFill>
              <a:srgbClr val="F5F8FD"/>
            </a:solidFill>
            <a:ln w="9525">
              <a:solidFill>
                <a:srgbClr val="E3EAF5"/>
              </a:solidFill>
            </a:ln>
          </p:spPr>
        </p:sp>
        <p:sp>
          <p:nvSpPr>
            <p:cNvPr id="176" name="Rectangle 176"/>
            <p:cNvSpPr/>
            <p:nvPr/>
          </p:nvSpPr>
          <p:spPr>
            <a:xfrm>
              <a:off x="2895600" y="4324350"/>
              <a:ext cx="247650" cy="247650"/>
            </a:xfrm>
            <a:prstGeom prst="rect">
              <a:avLst/>
            </a:prstGeom>
            <a:solidFill>
              <a:srgbClr val="E04C2E"/>
            </a:solidFill>
            <a:ln>
              <a:noFill/>
            </a:ln>
          </p:spPr>
        </p:sp>
        <p:sp>
          <p:nvSpPr>
            <p:cNvPr id="177" name="TextBox 177"/>
            <p:cNvSpPr txBox="1"/>
            <p:nvPr/>
          </p:nvSpPr>
          <p:spPr>
            <a:xfrm>
              <a:off x="2891646" y="439197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02​</a:t>
              </a:r>
            </a:p>
          </p:txBody>
        </p:sp>
        <p:sp>
          <p:nvSpPr>
            <p:cNvPr id="178" name="TextBox 178"/>
            <p:cNvSpPr txBox="1"/>
            <p:nvPr/>
          </p:nvSpPr>
          <p:spPr>
            <a:xfrm>
              <a:off x="3233738" y="4394597"/>
              <a:ext cx="768782"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资金归集深耕</a:t>
              </a:r>
            </a:p>
          </p:txBody>
        </p:sp>
        <p:grpSp>
          <p:nvGrpSpPr>
            <p:cNvPr id="187" name="Group 187"/>
            <p:cNvGrpSpPr/>
            <p:nvPr/>
          </p:nvGrpSpPr>
          <p:grpSpPr>
            <a:xfrm>
              <a:off x="3900487" y="4891087"/>
              <a:ext cx="314324" cy="323850"/>
              <a:chOff x="3900487" y="4891087"/>
              <a:chExt cx="314324" cy="323850"/>
            </a:xfrm>
          </p:grpSpPr>
          <p:sp>
            <p:nvSpPr>
              <p:cNvPr id="179" name="Freeform 179"/>
              <p:cNvSpPr/>
              <p:nvPr/>
            </p:nvSpPr>
            <p:spPr>
              <a:xfrm>
                <a:off x="3900487" y="5205412"/>
                <a:ext cx="314324" cy="9525"/>
              </a:xfrm>
              <a:custGeom>
                <a:avLst/>
                <a:gdLst/>
                <a:ahLst/>
                <a:cxnLst/>
                <a:rect l="l" t="t" r="r" b="b"/>
                <a:pathLst>
                  <a:path w="314324" h="9525">
                    <a:moveTo>
                      <a:pt x="0" y="0"/>
                    </a:moveTo>
                    <a:lnTo>
                      <a:pt x="314324" y="0"/>
                    </a:lnTo>
                  </a:path>
                </a:pathLst>
              </a:custGeom>
              <a:noFill/>
              <a:ln w="34925">
                <a:solidFill>
                  <a:srgbClr val="E8735B"/>
                </a:solidFill>
              </a:ln>
            </p:spPr>
          </p:sp>
          <p:sp>
            <p:nvSpPr>
              <p:cNvPr id="180" name="Freeform 180"/>
              <p:cNvSpPr/>
              <p:nvPr/>
            </p:nvSpPr>
            <p:spPr>
              <a:xfrm>
                <a:off x="3900487" y="5013325"/>
                <a:ext cx="314324" cy="9525"/>
              </a:xfrm>
              <a:custGeom>
                <a:avLst/>
                <a:gdLst/>
                <a:ahLst/>
                <a:cxnLst/>
                <a:rect l="l" t="t" r="r" b="b"/>
                <a:pathLst>
                  <a:path w="314324" h="9525">
                    <a:moveTo>
                      <a:pt x="0" y="0"/>
                    </a:moveTo>
                    <a:lnTo>
                      <a:pt x="314324" y="0"/>
                    </a:lnTo>
                  </a:path>
                </a:pathLst>
              </a:custGeom>
              <a:noFill/>
              <a:ln w="34925">
                <a:solidFill>
                  <a:srgbClr val="E8735B"/>
                </a:solidFill>
              </a:ln>
            </p:spPr>
          </p:sp>
          <p:sp>
            <p:nvSpPr>
              <p:cNvPr id="181" name="Freeform 181"/>
              <p:cNvSpPr/>
              <p:nvPr/>
            </p:nvSpPr>
            <p:spPr>
              <a:xfrm>
                <a:off x="3935412" y="4891087"/>
                <a:ext cx="244475" cy="52387"/>
              </a:xfrm>
              <a:custGeom>
                <a:avLst/>
                <a:gdLst/>
                <a:ahLst/>
                <a:cxnLst/>
                <a:rect l="l" t="t" r="r" b="b"/>
                <a:pathLst>
                  <a:path w="244475" h="52387">
                    <a:moveTo>
                      <a:pt x="0" y="52387"/>
                    </a:moveTo>
                    <a:lnTo>
                      <a:pt x="122237" y="0"/>
                    </a:lnTo>
                    <a:lnTo>
                      <a:pt x="244475" y="52387"/>
                    </a:lnTo>
                  </a:path>
                </a:pathLst>
              </a:custGeom>
              <a:noFill/>
              <a:ln w="34925">
                <a:solidFill>
                  <a:srgbClr val="E8735B"/>
                </a:solidFill>
              </a:ln>
            </p:spPr>
          </p:sp>
          <p:sp>
            <p:nvSpPr>
              <p:cNvPr id="182" name="Freeform 182"/>
              <p:cNvSpPr/>
              <p:nvPr/>
            </p:nvSpPr>
            <p:spPr>
              <a:xfrm>
                <a:off x="3917950" y="5013325"/>
                <a:ext cx="9525" cy="192087"/>
              </a:xfrm>
              <a:custGeom>
                <a:avLst/>
                <a:gdLst/>
                <a:ahLst/>
                <a:cxnLst/>
                <a:rect l="l" t="t" r="r" b="b"/>
                <a:pathLst>
                  <a:path w="9525" h="192087">
                    <a:moveTo>
                      <a:pt x="0" y="0"/>
                    </a:moveTo>
                    <a:lnTo>
                      <a:pt x="0" y="192087"/>
                    </a:lnTo>
                  </a:path>
                </a:pathLst>
              </a:custGeom>
              <a:noFill/>
              <a:ln w="34925">
                <a:solidFill>
                  <a:srgbClr val="E8735B"/>
                </a:solidFill>
              </a:ln>
            </p:spPr>
          </p:sp>
          <p:sp>
            <p:nvSpPr>
              <p:cNvPr id="183" name="Freeform 183"/>
              <p:cNvSpPr/>
              <p:nvPr/>
            </p:nvSpPr>
            <p:spPr>
              <a:xfrm>
                <a:off x="4197349" y="5013325"/>
                <a:ext cx="9525" cy="192087"/>
              </a:xfrm>
              <a:custGeom>
                <a:avLst/>
                <a:gdLst/>
                <a:ahLst/>
                <a:cxnLst/>
                <a:rect l="l" t="t" r="r" b="b"/>
                <a:pathLst>
                  <a:path w="9525" h="192087">
                    <a:moveTo>
                      <a:pt x="0" y="0"/>
                    </a:moveTo>
                    <a:lnTo>
                      <a:pt x="0" y="192087"/>
                    </a:lnTo>
                  </a:path>
                </a:pathLst>
              </a:custGeom>
              <a:noFill/>
              <a:ln w="34925">
                <a:solidFill>
                  <a:srgbClr val="E8735B"/>
                </a:solidFill>
              </a:ln>
            </p:spPr>
          </p:sp>
          <p:sp>
            <p:nvSpPr>
              <p:cNvPr id="184" name="Freeform 184"/>
              <p:cNvSpPr/>
              <p:nvPr/>
            </p:nvSpPr>
            <p:spPr>
              <a:xfrm>
                <a:off x="3987800" y="5083175"/>
                <a:ext cx="9525" cy="52387"/>
              </a:xfrm>
              <a:custGeom>
                <a:avLst/>
                <a:gdLst/>
                <a:ahLst/>
                <a:cxnLst/>
                <a:rect l="l" t="t" r="r" b="b"/>
                <a:pathLst>
                  <a:path w="9525" h="52387">
                    <a:moveTo>
                      <a:pt x="0" y="0"/>
                    </a:moveTo>
                    <a:lnTo>
                      <a:pt x="0" y="52387"/>
                    </a:lnTo>
                  </a:path>
                </a:pathLst>
              </a:custGeom>
              <a:noFill/>
              <a:ln w="34925">
                <a:solidFill>
                  <a:srgbClr val="E8735B"/>
                </a:solidFill>
              </a:ln>
            </p:spPr>
          </p:sp>
          <p:sp>
            <p:nvSpPr>
              <p:cNvPr id="185" name="Freeform 185"/>
              <p:cNvSpPr/>
              <p:nvPr/>
            </p:nvSpPr>
            <p:spPr>
              <a:xfrm>
                <a:off x="4057650" y="5083175"/>
                <a:ext cx="9525" cy="52387"/>
              </a:xfrm>
              <a:custGeom>
                <a:avLst/>
                <a:gdLst/>
                <a:ahLst/>
                <a:cxnLst/>
                <a:rect l="l" t="t" r="r" b="b"/>
                <a:pathLst>
                  <a:path w="9525" h="52387">
                    <a:moveTo>
                      <a:pt x="0" y="0"/>
                    </a:moveTo>
                    <a:lnTo>
                      <a:pt x="0" y="52387"/>
                    </a:lnTo>
                  </a:path>
                </a:pathLst>
              </a:custGeom>
              <a:noFill/>
              <a:ln w="34925">
                <a:solidFill>
                  <a:srgbClr val="E8735B"/>
                </a:solidFill>
              </a:ln>
            </p:spPr>
          </p:sp>
          <p:sp>
            <p:nvSpPr>
              <p:cNvPr id="186" name="Freeform 186"/>
              <p:cNvSpPr/>
              <p:nvPr/>
            </p:nvSpPr>
            <p:spPr>
              <a:xfrm>
                <a:off x="4127499" y="5083175"/>
                <a:ext cx="9525" cy="52387"/>
              </a:xfrm>
              <a:custGeom>
                <a:avLst/>
                <a:gdLst/>
                <a:ahLst/>
                <a:cxnLst/>
                <a:rect l="l" t="t" r="r" b="b"/>
                <a:pathLst>
                  <a:path w="9525" h="52387">
                    <a:moveTo>
                      <a:pt x="0" y="0"/>
                    </a:moveTo>
                    <a:lnTo>
                      <a:pt x="0" y="52387"/>
                    </a:lnTo>
                  </a:path>
                </a:pathLst>
              </a:custGeom>
              <a:noFill/>
              <a:ln w="34925">
                <a:solidFill>
                  <a:srgbClr val="E8735B"/>
                </a:solidFill>
              </a:ln>
            </p:spPr>
          </p:sp>
        </p:grpSp>
        <p:sp>
          <p:nvSpPr>
            <p:cNvPr id="188" name="TextBox 188"/>
            <p:cNvSpPr txBox="1"/>
            <p:nvPr/>
          </p:nvSpPr>
          <p:spPr>
            <a:xfrm>
              <a:off x="2890838" y="5711857"/>
              <a:ext cx="1314531"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监管/售楼/土地资金归集金额</a:t>
              </a:r>
            </a:p>
          </p:txBody>
        </p:sp>
        <p:sp>
          <p:nvSpPr>
            <p:cNvPr id="189" name="TextBox 189"/>
            <p:cNvSpPr txBox="1"/>
            <p:nvPr/>
          </p:nvSpPr>
          <p:spPr>
            <a:xfrm>
              <a:off x="2888742" y="6007418"/>
              <a:ext cx="759258" cy="264033"/>
            </a:xfrm>
            <a:prstGeom prst="rect">
              <a:avLst/>
            </a:prstGeom>
            <a:noFill/>
            <a:ln>
              <a:noFill/>
            </a:ln>
          </p:spPr>
          <p:txBody>
            <a:bodyPr wrap="none" lIns="0" tIns="0" rIns="0" bIns="0" anchor="t" anchorCtr="0">
              <a:spAutoFit/>
            </a:bodyPr>
            <a:lstStyle/>
            <a:p>
              <a:pPr algn="l"/>
              <a:r>
                <a:rPr lang="zh-CN" sz="1350" b="1" dirty="0">
                  <a:solidFill>
                    <a:srgbClr val="E04C2E"/>
                  </a:solidFill>
                  <a:latin typeface="+mn-lt"/>
                  <a:ea typeface="+mn-ea"/>
                  <a:cs typeface="+mn-cs"/>
                </a:rPr>
                <a:t>42.6</a:t>
              </a:r>
              <a:r>
                <a:rPr lang="zh-CN" sz="820" b="1" dirty="0">
                  <a:solidFill>
                    <a:srgbClr val="E04C2E"/>
                  </a:solidFill>
                  <a:latin typeface="+mn-lt"/>
                  <a:ea typeface="+mn-ea"/>
                  <a:cs typeface="+mn-cs"/>
                </a:rPr>
                <a:t>亿元</a:t>
              </a:r>
              <a:r>
                <a:rPr lang="zh-CN" sz="1350" b="1" dirty="0">
                  <a:solidFill>
                    <a:srgbClr val="E04C2E"/>
                  </a:solidFill>
                  <a:latin typeface="+mn-lt"/>
                  <a:ea typeface="+mn-ea"/>
                  <a:cs typeface="+mn-cs"/>
                </a:rPr>
                <a:t>​</a:t>
              </a:r>
            </a:p>
          </p:txBody>
        </p:sp>
        <p:sp>
          <p:nvSpPr>
            <p:cNvPr id="190" name="TextBox 190"/>
            <p:cNvSpPr txBox="1"/>
            <p:nvPr/>
          </p:nvSpPr>
          <p:spPr>
            <a:xfrm>
              <a:off x="4986338" y="6088380"/>
              <a:ext cx="494157" cy="119062"/>
            </a:xfrm>
            <a:prstGeom prst="rect">
              <a:avLst/>
            </a:prstGeom>
            <a:noFill/>
            <a:ln>
              <a:noFill/>
            </a:ln>
          </p:spPr>
          <p:txBody>
            <a:bodyPr wrap="none" lIns="0" tIns="0" rIns="0" bIns="0" anchor="t" anchorCtr="0">
              <a:spAutoFit/>
            </a:bodyPr>
            <a:lstStyle/>
            <a:p>
              <a:pPr algn="l"/>
              <a:r>
                <a:rPr lang="zh-CN" sz="600" dirty="0">
                  <a:solidFill>
                    <a:srgbClr val="BEA09A"/>
                  </a:solidFill>
                  <a:latin typeface="+mn-lt"/>
                  <a:ea typeface="+mn-ea"/>
                  <a:cs typeface="+mn-cs"/>
                </a:rPr>
                <a:t>（示例数据）</a:t>
              </a:r>
            </a:p>
          </p:txBody>
        </p:sp>
        <p:sp>
          <p:nvSpPr>
            <p:cNvPr id="191" name="Rectangle 191"/>
            <p:cNvSpPr/>
            <p:nvPr/>
          </p:nvSpPr>
          <p:spPr>
            <a:xfrm>
              <a:off x="5219700" y="4191000"/>
              <a:ext cx="2324100" cy="2343150"/>
            </a:xfrm>
            <a:prstGeom prst="roundRect">
              <a:avLst>
                <a:gd name="adj" fmla="val 1639"/>
              </a:avLst>
            </a:prstGeom>
            <a:solidFill>
              <a:srgbClr val="F5F8FD"/>
            </a:solidFill>
            <a:ln w="9525">
              <a:solidFill>
                <a:srgbClr val="E3EAF5"/>
              </a:solidFill>
            </a:ln>
          </p:spPr>
        </p:sp>
        <p:sp>
          <p:nvSpPr>
            <p:cNvPr id="192" name="Rectangle 192"/>
            <p:cNvSpPr/>
            <p:nvPr/>
          </p:nvSpPr>
          <p:spPr>
            <a:xfrm>
              <a:off x="5334000" y="4324350"/>
              <a:ext cx="247650" cy="247650"/>
            </a:xfrm>
            <a:prstGeom prst="rect">
              <a:avLst/>
            </a:prstGeom>
            <a:solidFill>
              <a:srgbClr val="E04C2E"/>
            </a:solidFill>
            <a:ln>
              <a:noFill/>
            </a:ln>
          </p:spPr>
        </p:sp>
        <p:sp>
          <p:nvSpPr>
            <p:cNvPr id="193" name="TextBox 193"/>
            <p:cNvSpPr txBox="1"/>
            <p:nvPr/>
          </p:nvSpPr>
          <p:spPr>
            <a:xfrm>
              <a:off x="5330046" y="439197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03​</a:t>
              </a:r>
            </a:p>
          </p:txBody>
        </p:sp>
        <p:sp>
          <p:nvSpPr>
            <p:cNvPr id="194" name="TextBox 194"/>
            <p:cNvSpPr txBox="1"/>
            <p:nvPr/>
          </p:nvSpPr>
          <p:spPr>
            <a:xfrm>
              <a:off x="5672138" y="4394597"/>
              <a:ext cx="1021867"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腰部客户增存专项</a:t>
              </a:r>
            </a:p>
          </p:txBody>
        </p:sp>
        <p:grpSp>
          <p:nvGrpSpPr>
            <p:cNvPr id="201" name="Group 201"/>
            <p:cNvGrpSpPr/>
            <p:nvPr/>
          </p:nvGrpSpPr>
          <p:grpSpPr>
            <a:xfrm>
              <a:off x="6624637" y="5157787"/>
              <a:ext cx="314325" cy="314324"/>
              <a:chOff x="6624637" y="5157787"/>
              <a:chExt cx="314325" cy="314324"/>
            </a:xfrm>
          </p:grpSpPr>
          <p:sp>
            <p:nvSpPr>
              <p:cNvPr id="195" name="Freeform 195"/>
              <p:cNvSpPr/>
              <p:nvPr/>
            </p:nvSpPr>
            <p:spPr>
              <a:xfrm>
                <a:off x="6746875" y="52974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8735B"/>
                </a:solidFill>
              </a:ln>
            </p:spPr>
          </p:sp>
          <p:sp>
            <p:nvSpPr>
              <p:cNvPr id="196" name="Freeform 196"/>
              <p:cNvSpPr/>
              <p:nvPr/>
            </p:nvSpPr>
            <p:spPr>
              <a:xfrm>
                <a:off x="6711950" y="5419724"/>
                <a:ext cx="139700" cy="52387"/>
              </a:xfrm>
              <a:custGeom>
                <a:avLst/>
                <a:gdLst/>
                <a:ahLst/>
                <a:cxnLst/>
                <a:rect l="l" t="t" r="r" b="b"/>
                <a:pathLst>
                  <a:path w="139700" h="52387">
                    <a:moveTo>
                      <a:pt x="0" y="52387"/>
                    </a:moveTo>
                    <a:lnTo>
                      <a:pt x="0" y="34925"/>
                    </a:lnTo>
                    <a:cubicBezTo>
                      <a:pt x="0" y="15636"/>
                      <a:pt x="15636" y="0"/>
                      <a:pt x="34925" y="0"/>
                    </a:cubicBezTo>
                    <a:lnTo>
                      <a:pt x="104775" y="0"/>
                    </a:lnTo>
                    <a:cubicBezTo>
                      <a:pt x="124063" y="0"/>
                      <a:pt x="139700" y="15636"/>
                      <a:pt x="139700" y="34925"/>
                    </a:cubicBezTo>
                    <a:lnTo>
                      <a:pt x="139700" y="52387"/>
                    </a:lnTo>
                  </a:path>
                </a:pathLst>
              </a:custGeom>
              <a:noFill/>
              <a:ln w="34925">
                <a:solidFill>
                  <a:srgbClr val="E8735B"/>
                </a:solidFill>
              </a:ln>
            </p:spPr>
          </p:sp>
          <p:sp>
            <p:nvSpPr>
              <p:cNvPr id="197" name="Freeform 197"/>
              <p:cNvSpPr/>
              <p:nvPr/>
            </p:nvSpPr>
            <p:spPr>
              <a:xfrm>
                <a:off x="6834187" y="51577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8735B"/>
                </a:solidFill>
              </a:ln>
            </p:spPr>
          </p:sp>
          <p:sp>
            <p:nvSpPr>
              <p:cNvPr id="198" name="Freeform 198"/>
              <p:cNvSpPr/>
              <p:nvPr/>
            </p:nvSpPr>
            <p:spPr>
              <a:xfrm>
                <a:off x="6869112" y="5280025"/>
                <a:ext cx="69850" cy="52387"/>
              </a:xfrm>
              <a:custGeom>
                <a:avLst/>
                <a:gdLst/>
                <a:ahLst/>
                <a:cxnLst/>
                <a:rect l="l" t="t" r="r" b="b"/>
                <a:pathLst>
                  <a:path w="69850" h="52387">
                    <a:moveTo>
                      <a:pt x="0" y="0"/>
                    </a:moveTo>
                    <a:lnTo>
                      <a:pt x="34925" y="0"/>
                    </a:lnTo>
                    <a:cubicBezTo>
                      <a:pt x="54213" y="0"/>
                      <a:pt x="69850" y="15636"/>
                      <a:pt x="69850" y="34925"/>
                    </a:cubicBezTo>
                    <a:lnTo>
                      <a:pt x="69850" y="52387"/>
                    </a:lnTo>
                  </a:path>
                </a:pathLst>
              </a:custGeom>
              <a:noFill/>
              <a:ln w="34925">
                <a:solidFill>
                  <a:srgbClr val="E8735B"/>
                </a:solidFill>
              </a:ln>
            </p:spPr>
          </p:sp>
          <p:sp>
            <p:nvSpPr>
              <p:cNvPr id="199" name="Freeform 199"/>
              <p:cNvSpPr/>
              <p:nvPr/>
            </p:nvSpPr>
            <p:spPr>
              <a:xfrm>
                <a:off x="6659562" y="51577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8735B"/>
                </a:solidFill>
              </a:ln>
            </p:spPr>
          </p:sp>
          <p:sp>
            <p:nvSpPr>
              <p:cNvPr id="200" name="Freeform 200"/>
              <p:cNvSpPr/>
              <p:nvPr/>
            </p:nvSpPr>
            <p:spPr>
              <a:xfrm>
                <a:off x="6624637" y="5280025"/>
                <a:ext cx="69850" cy="52387"/>
              </a:xfrm>
              <a:custGeom>
                <a:avLst/>
                <a:gdLst/>
                <a:ahLst/>
                <a:cxnLst/>
                <a:rect l="l" t="t" r="r" b="b"/>
                <a:pathLst>
                  <a:path w="69850" h="52387">
                    <a:moveTo>
                      <a:pt x="0" y="52387"/>
                    </a:moveTo>
                    <a:lnTo>
                      <a:pt x="0" y="34925"/>
                    </a:lnTo>
                    <a:cubicBezTo>
                      <a:pt x="0" y="15636"/>
                      <a:pt x="15636" y="0"/>
                      <a:pt x="34925" y="0"/>
                    </a:cubicBezTo>
                    <a:lnTo>
                      <a:pt x="69850" y="0"/>
                    </a:lnTo>
                  </a:path>
                </a:pathLst>
              </a:custGeom>
              <a:noFill/>
              <a:ln w="34925">
                <a:solidFill>
                  <a:srgbClr val="E8735B"/>
                </a:solidFill>
              </a:ln>
            </p:spPr>
          </p:sp>
        </p:grpSp>
        <p:sp>
          <p:nvSpPr>
            <p:cNvPr id="202" name="Ellipse 202"/>
            <p:cNvSpPr/>
            <p:nvPr/>
          </p:nvSpPr>
          <p:spPr>
            <a:xfrm>
              <a:off x="5488305" y="4897755"/>
              <a:ext cx="34290" cy="34290"/>
            </a:xfrm>
            <a:prstGeom prst="ellipse">
              <a:avLst/>
            </a:prstGeom>
            <a:solidFill>
              <a:srgbClr val="E04C2E"/>
            </a:solidFill>
            <a:ln>
              <a:noFill/>
            </a:ln>
          </p:spPr>
        </p:sp>
        <p:sp>
          <p:nvSpPr>
            <p:cNvPr id="203" name="TextBox 203"/>
            <p:cNvSpPr txBox="1"/>
            <p:nvPr/>
          </p:nvSpPr>
          <p:spPr>
            <a:xfrm>
              <a:off x="5576888" y="4873657"/>
              <a:ext cx="1204951"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聚焦腰部核心客户分层经营</a:t>
              </a:r>
            </a:p>
          </p:txBody>
        </p:sp>
        <p:sp>
          <p:nvSpPr>
            <p:cNvPr id="204" name="Ellipse 204"/>
            <p:cNvSpPr/>
            <p:nvPr/>
          </p:nvSpPr>
          <p:spPr>
            <a:xfrm>
              <a:off x="5488305" y="5583555"/>
              <a:ext cx="34290" cy="34290"/>
            </a:xfrm>
            <a:prstGeom prst="ellipse">
              <a:avLst/>
            </a:prstGeom>
            <a:solidFill>
              <a:srgbClr val="E04C2E"/>
            </a:solidFill>
            <a:ln>
              <a:noFill/>
            </a:ln>
          </p:spPr>
        </p:sp>
        <p:sp>
          <p:nvSpPr>
            <p:cNvPr id="205" name="TextBox 205"/>
            <p:cNvSpPr txBox="1"/>
            <p:nvPr/>
          </p:nvSpPr>
          <p:spPr>
            <a:xfrm>
              <a:off x="5576888" y="5559457"/>
              <a:ext cx="607238"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覆盖腰部客户</a:t>
              </a:r>
            </a:p>
          </p:txBody>
        </p:sp>
        <p:sp>
          <p:nvSpPr>
            <p:cNvPr id="206" name="TextBox 206"/>
            <p:cNvSpPr txBox="1"/>
            <p:nvPr/>
          </p:nvSpPr>
          <p:spPr>
            <a:xfrm>
              <a:off x="6511122" y="5795010"/>
              <a:ext cx="486324" cy="234696"/>
            </a:xfrm>
            <a:prstGeom prst="rect">
              <a:avLst/>
            </a:prstGeom>
            <a:noFill/>
            <a:ln>
              <a:noFill/>
            </a:ln>
          </p:spPr>
          <p:txBody>
            <a:bodyPr wrap="none" lIns="0" tIns="0" rIns="0" bIns="0" anchor="t" anchorCtr="0">
              <a:spAutoFit/>
            </a:bodyPr>
            <a:lstStyle/>
            <a:p>
              <a:pPr algn="r"/>
              <a:r>
                <a:rPr lang="zh-CN" sz="1200" b="1" dirty="0">
                  <a:solidFill>
                    <a:srgbClr val="E04C2E"/>
                  </a:solidFill>
                  <a:latin typeface="+mn-lt"/>
                  <a:ea typeface="+mn-ea"/>
                  <a:cs typeface="+mn-cs"/>
                </a:rPr>
                <a:t>560</a:t>
              </a:r>
              <a:r>
                <a:rPr lang="zh-CN" sz="750" b="1" dirty="0">
                  <a:solidFill>
                    <a:srgbClr val="E04C2E"/>
                  </a:solidFill>
                  <a:latin typeface="+mn-lt"/>
                  <a:ea typeface="+mn-ea"/>
                  <a:cs typeface="+mn-cs"/>
                </a:rPr>
                <a:t>户</a:t>
              </a:r>
              <a:r>
                <a:rPr lang="zh-CN" sz="1200" b="1" dirty="0">
                  <a:solidFill>
                    <a:srgbClr val="E04C2E"/>
                  </a:solidFill>
                  <a:latin typeface="+mn-lt"/>
                  <a:ea typeface="+mn-ea"/>
                  <a:cs typeface="+mn-cs"/>
                </a:rPr>
                <a:t>​</a:t>
              </a:r>
            </a:p>
          </p:txBody>
        </p:sp>
      </p:grpSp>
      <p:grpSp>
        <p:nvGrpSpPr>
          <p:cNvPr id="231" name="risks"/>
          <p:cNvGrpSpPr/>
          <p:nvPr/>
        </p:nvGrpSpPr>
        <p:grpSpPr>
          <a:xfrm>
            <a:off x="7791450" y="3810000"/>
            <a:ext cx="4171950" cy="2857500"/>
            <a:chOff x="7791450" y="3810000"/>
            <a:chExt cx="4171950" cy="2857500"/>
          </a:xfrm>
        </p:grpSpPr>
        <p:sp>
          <p:nvSpPr>
            <p:cNvPr id="208" name="Rectangle 208"/>
            <p:cNvSpPr/>
            <p:nvPr/>
          </p:nvSpPr>
          <p:spPr>
            <a:xfrm>
              <a:off x="7791450" y="3810000"/>
              <a:ext cx="4171950" cy="2857500"/>
            </a:xfrm>
            <a:prstGeom prst="roundRect">
              <a:avLst>
                <a:gd name="adj" fmla="val 2000"/>
              </a:avLst>
            </a:prstGeom>
            <a:solidFill>
              <a:srgbClr val="FFFFFF"/>
            </a:solidFill>
            <a:ln w="9525">
              <a:solidFill>
                <a:srgbClr val="E8BBB3"/>
              </a:solidFill>
            </a:ln>
          </p:spPr>
        </p:sp>
        <p:sp>
          <p:nvSpPr>
            <p:cNvPr id="209" name="Rectangle 209"/>
            <p:cNvSpPr/>
            <p:nvPr/>
          </p:nvSpPr>
          <p:spPr>
            <a:xfrm>
              <a:off x="7791450" y="3810000"/>
              <a:ext cx="4171950" cy="266700"/>
            </a:xfrm>
            <a:prstGeom prst="roundRect">
              <a:avLst>
                <a:gd name="adj" fmla="val 21429"/>
              </a:avLst>
            </a:prstGeom>
            <a:solidFill>
              <a:srgbClr val="C4402A"/>
            </a:solidFill>
            <a:ln>
              <a:noFill/>
            </a:ln>
          </p:spPr>
        </p:sp>
        <p:sp>
          <p:nvSpPr>
            <p:cNvPr id="210" name="Rectangle 210"/>
            <p:cNvSpPr/>
            <p:nvPr/>
          </p:nvSpPr>
          <p:spPr>
            <a:xfrm>
              <a:off x="7791450" y="3943350"/>
              <a:ext cx="4171950" cy="133350"/>
            </a:xfrm>
            <a:prstGeom prst="rect">
              <a:avLst/>
            </a:prstGeom>
            <a:solidFill>
              <a:srgbClr val="C4402A"/>
            </a:solidFill>
            <a:ln>
              <a:noFill/>
            </a:ln>
          </p:spPr>
        </p:sp>
        <p:grpSp>
          <p:nvGrpSpPr>
            <p:cNvPr id="214" name="Group 214"/>
            <p:cNvGrpSpPr/>
            <p:nvPr/>
          </p:nvGrpSpPr>
          <p:grpSpPr>
            <a:xfrm>
              <a:off x="9326090" y="3891498"/>
              <a:ext cx="112066" cy="96280"/>
              <a:chOff x="9326090" y="3891498"/>
              <a:chExt cx="112066" cy="96280"/>
            </a:xfrm>
          </p:grpSpPr>
          <p:sp>
            <p:nvSpPr>
              <p:cNvPr id="211" name="Freeform 211"/>
              <p:cNvSpPr/>
              <p:nvPr/>
            </p:nvSpPr>
            <p:spPr>
              <a:xfrm>
                <a:off x="9382125" y="3926681"/>
                <a:ext cx="9525" cy="22225"/>
              </a:xfrm>
              <a:custGeom>
                <a:avLst/>
                <a:gdLst/>
                <a:ahLst/>
                <a:cxnLst/>
                <a:rect l="l" t="t" r="r" b="b"/>
                <a:pathLst>
                  <a:path w="9525" h="22225">
                    <a:moveTo>
                      <a:pt x="0" y="0"/>
                    </a:moveTo>
                    <a:lnTo>
                      <a:pt x="0" y="22225"/>
                    </a:lnTo>
                  </a:path>
                </a:pathLst>
              </a:custGeom>
              <a:noFill/>
              <a:ln w="11112">
                <a:solidFill>
                  <a:srgbClr val="FFFFFF"/>
                </a:solidFill>
              </a:ln>
            </p:spPr>
          </p:sp>
          <p:sp>
            <p:nvSpPr>
              <p:cNvPr id="212" name="Freeform 212"/>
              <p:cNvSpPr/>
              <p:nvPr/>
            </p:nvSpPr>
            <p:spPr>
              <a:xfrm>
                <a:off x="9326090" y="3891498"/>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FFFFFF"/>
                </a:solidFill>
              </a:ln>
            </p:spPr>
          </p:sp>
          <p:sp>
            <p:nvSpPr>
              <p:cNvPr id="213" name="Freeform 213"/>
              <p:cNvSpPr/>
              <p:nvPr/>
            </p:nvSpPr>
            <p:spPr>
              <a:xfrm>
                <a:off x="9382125" y="3965575"/>
                <a:ext cx="9525" cy="9525"/>
              </a:xfrm>
              <a:custGeom>
                <a:avLst/>
                <a:gdLst/>
                <a:ahLst/>
                <a:cxnLst/>
                <a:rect l="l" t="t" r="r" b="b"/>
                <a:pathLst>
                  <a:path w="9525" h="9525">
                    <a:moveTo>
                      <a:pt x="0" y="0"/>
                    </a:moveTo>
                    <a:lnTo>
                      <a:pt x="56" y="0"/>
                    </a:lnTo>
                  </a:path>
                </a:pathLst>
              </a:custGeom>
              <a:noFill/>
              <a:ln w="11112">
                <a:solidFill>
                  <a:srgbClr val="FFFFFF"/>
                </a:solidFill>
              </a:ln>
            </p:spPr>
          </p:sp>
        </p:grpSp>
        <p:sp>
          <p:nvSpPr>
            <p:cNvPr id="215" name="TextBox 215"/>
            <p:cNvSpPr txBox="1"/>
            <p:nvPr/>
          </p:nvSpPr>
          <p:spPr>
            <a:xfrm>
              <a:off x="9421673" y="3885724"/>
              <a:ext cx="119725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风险提示与关键差距</a:t>
              </a:r>
            </a:p>
          </p:txBody>
        </p:sp>
        <p:grpSp>
          <p:nvGrpSpPr>
            <p:cNvPr id="219" name="Group 219"/>
            <p:cNvGrpSpPr/>
            <p:nvPr/>
          </p:nvGrpSpPr>
          <p:grpSpPr>
            <a:xfrm>
              <a:off x="7979619" y="4290493"/>
              <a:ext cx="176105" cy="151297"/>
              <a:chOff x="7979619" y="4290493"/>
              <a:chExt cx="176105" cy="151297"/>
            </a:xfrm>
          </p:grpSpPr>
          <p:sp>
            <p:nvSpPr>
              <p:cNvPr id="216" name="Freeform 216"/>
              <p:cNvSpPr/>
              <p:nvPr/>
            </p:nvSpPr>
            <p:spPr>
              <a:xfrm>
                <a:off x="8067675" y="4345781"/>
                <a:ext cx="9525" cy="34925"/>
              </a:xfrm>
              <a:custGeom>
                <a:avLst/>
                <a:gdLst/>
                <a:ahLst/>
                <a:cxnLst/>
                <a:rect l="l" t="t" r="r" b="b"/>
                <a:pathLst>
                  <a:path w="9525" h="34925">
                    <a:moveTo>
                      <a:pt x="0" y="0"/>
                    </a:moveTo>
                    <a:lnTo>
                      <a:pt x="0" y="34925"/>
                    </a:lnTo>
                  </a:path>
                </a:pathLst>
              </a:custGeom>
              <a:noFill/>
              <a:ln w="17463">
                <a:solidFill>
                  <a:srgbClr val="C4402A"/>
                </a:solidFill>
              </a:ln>
            </p:spPr>
          </p:sp>
          <p:sp>
            <p:nvSpPr>
              <p:cNvPr id="217" name="Freeform 217"/>
              <p:cNvSpPr/>
              <p:nvPr/>
            </p:nvSpPr>
            <p:spPr>
              <a:xfrm>
                <a:off x="7979619" y="42904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4402A"/>
                </a:solidFill>
              </a:ln>
            </p:spPr>
          </p:sp>
          <p:sp>
            <p:nvSpPr>
              <p:cNvPr id="218" name="Freeform 218"/>
              <p:cNvSpPr/>
              <p:nvPr/>
            </p:nvSpPr>
            <p:spPr>
              <a:xfrm>
                <a:off x="8067675" y="4406900"/>
                <a:ext cx="9525" cy="9525"/>
              </a:xfrm>
              <a:custGeom>
                <a:avLst/>
                <a:gdLst/>
                <a:ahLst/>
                <a:cxnLst/>
                <a:rect l="l" t="t" r="r" b="b"/>
                <a:pathLst>
                  <a:path w="9525" h="9525">
                    <a:moveTo>
                      <a:pt x="0" y="0"/>
                    </a:moveTo>
                    <a:lnTo>
                      <a:pt x="87" y="0"/>
                    </a:lnTo>
                  </a:path>
                </a:pathLst>
              </a:custGeom>
              <a:noFill/>
              <a:ln w="17463">
                <a:solidFill>
                  <a:srgbClr val="C4402A"/>
                </a:solidFill>
              </a:ln>
            </p:spPr>
          </p:sp>
        </p:grpSp>
        <p:sp>
          <p:nvSpPr>
            <p:cNvPr id="220" name="TextBox 220"/>
            <p:cNvSpPr txBox="1"/>
            <p:nvPr/>
          </p:nvSpPr>
          <p:spPr>
            <a:xfrm>
              <a:off x="8262938" y="4318397"/>
              <a:ext cx="1021867" cy="183356"/>
            </a:xfrm>
            <a:prstGeom prst="rect">
              <a:avLst/>
            </a:prstGeom>
            <a:noFill/>
            <a:ln>
              <a:noFill/>
            </a:ln>
          </p:spPr>
          <p:txBody>
            <a:bodyPr wrap="none" lIns="0" tIns="0" rIns="0" bIns="0" anchor="t" anchorCtr="0">
              <a:spAutoFit/>
            </a:bodyPr>
            <a:lstStyle/>
            <a:p>
              <a:pPr algn="l"/>
              <a:r>
                <a:rPr lang="zh-CN" sz="940" b="1" dirty="0">
                  <a:solidFill>
                    <a:srgbClr val="C4402A"/>
                  </a:solidFill>
                  <a:latin typeface="+mn-lt"/>
                  <a:ea typeface="+mn-ea"/>
                  <a:cs typeface="+mn-cs"/>
                </a:rPr>
                <a:t>大额资金波动风险</a:t>
              </a:r>
            </a:p>
          </p:txBody>
        </p:sp>
        <p:sp>
          <p:nvSpPr>
            <p:cNvPr id="221" name="TextBox 221"/>
            <p:cNvSpPr txBox="1"/>
            <p:nvPr/>
          </p:nvSpPr>
          <p:spPr>
            <a:xfrm>
              <a:off x="8262938" y="4548188"/>
              <a:ext cx="220027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70504A"/>
                  </a:solidFill>
                  <a:latin typeface="+mn-lt"/>
                  <a:ea typeface="+mn-ea"/>
                  <a:cs typeface="+mn-cs"/>
                </a:rPr>
                <a:t>项目及监管资金占比较高，受财政拨付、项目进度等</a:t>
              </a:r>
              <a:br/>
              <a:r>
                <a:rPr lang="zh-CN" sz="750" dirty="0">
                  <a:solidFill>
                    <a:srgbClr val="70504A"/>
                  </a:solidFill>
                  <a:latin typeface="+mn-lt"/>
                  <a:ea typeface="+mn-ea"/>
                  <a:cs typeface="+mn-cs"/>
                </a:rPr>
                <a:t>影响波动明显，稳定性不足。</a:t>
              </a:r>
            </a:p>
          </p:txBody>
        </p:sp>
        <p:sp>
          <p:nvSpPr>
            <p:cNvPr id="222" name="Line 222"/>
            <p:cNvSpPr/>
            <p:nvPr/>
          </p:nvSpPr>
          <p:spPr>
            <a:xfrm>
              <a:off x="7962900" y="4991100"/>
              <a:ext cx="3829050" cy="9525"/>
            </a:xfrm>
            <a:custGeom>
              <a:avLst/>
              <a:gdLst/>
              <a:ahLst/>
              <a:cxnLst/>
              <a:rect l="l" t="t" r="r" b="b"/>
              <a:pathLst>
                <a:path w="3829050" h="9525">
                  <a:moveTo>
                    <a:pt x="0" y="0"/>
                  </a:moveTo>
                  <a:lnTo>
                    <a:pt x="3829050" y="0"/>
                  </a:lnTo>
                </a:path>
              </a:pathLst>
            </a:custGeom>
            <a:noFill/>
            <a:ln w="9525">
              <a:solidFill>
                <a:srgbClr val="F0DCDA"/>
              </a:solidFill>
            </a:ln>
          </p:spPr>
        </p:sp>
        <p:grpSp>
          <p:nvGrpSpPr>
            <p:cNvPr id="227" name="Group 227"/>
            <p:cNvGrpSpPr/>
            <p:nvPr/>
          </p:nvGrpSpPr>
          <p:grpSpPr>
            <a:xfrm>
              <a:off x="7989094" y="5207794"/>
              <a:ext cx="157163" cy="157163"/>
              <a:chOff x="7989094" y="5207794"/>
              <a:chExt cx="157163" cy="157163"/>
            </a:xfrm>
          </p:grpSpPr>
          <p:sp>
            <p:nvSpPr>
              <p:cNvPr id="223" name="Freeform 223"/>
              <p:cNvSpPr/>
              <p:nvPr/>
            </p:nvSpPr>
            <p:spPr>
              <a:xfrm>
                <a:off x="8006556" y="52077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C4402A"/>
                </a:solidFill>
              </a:ln>
            </p:spPr>
          </p:sp>
          <p:sp>
            <p:nvSpPr>
              <p:cNvPr id="224" name="Freeform 224"/>
              <p:cNvSpPr/>
              <p:nvPr/>
            </p:nvSpPr>
            <p:spPr>
              <a:xfrm>
                <a:off x="7989094" y="531256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C4402A"/>
                </a:solidFill>
              </a:ln>
            </p:spPr>
          </p:sp>
          <p:sp>
            <p:nvSpPr>
              <p:cNvPr id="225" name="Freeform 225"/>
              <p:cNvSpPr/>
              <p:nvPr/>
            </p:nvSpPr>
            <p:spPr>
              <a:xfrm>
                <a:off x="8102600" y="520892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C4402A"/>
                </a:solidFill>
              </a:ln>
            </p:spPr>
          </p:sp>
          <p:sp>
            <p:nvSpPr>
              <p:cNvPr id="226" name="Freeform 226"/>
              <p:cNvSpPr/>
              <p:nvPr/>
            </p:nvSpPr>
            <p:spPr>
              <a:xfrm>
                <a:off x="8120063" y="531387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C4402A"/>
                </a:solidFill>
              </a:ln>
            </p:spPr>
          </p:sp>
        </p:grpSp>
        <p:sp>
          <p:nvSpPr>
            <p:cNvPr id="228" name="TextBox 228"/>
            <p:cNvSpPr txBox="1"/>
            <p:nvPr/>
          </p:nvSpPr>
          <p:spPr>
            <a:xfrm>
              <a:off x="8262938" y="5232797"/>
              <a:ext cx="1021867" cy="183356"/>
            </a:xfrm>
            <a:prstGeom prst="rect">
              <a:avLst/>
            </a:prstGeom>
            <a:noFill/>
            <a:ln>
              <a:noFill/>
            </a:ln>
          </p:spPr>
          <p:txBody>
            <a:bodyPr wrap="none" lIns="0" tIns="0" rIns="0" bIns="0" anchor="t" anchorCtr="0">
              <a:spAutoFit/>
            </a:bodyPr>
            <a:lstStyle/>
            <a:p>
              <a:pPr algn="l"/>
              <a:r>
                <a:rPr lang="zh-CN" sz="940" b="1" dirty="0">
                  <a:solidFill>
                    <a:srgbClr val="C4402A"/>
                  </a:solidFill>
                  <a:latin typeface="+mn-lt"/>
                  <a:ea typeface="+mn-ea"/>
                  <a:cs typeface="+mn-cs"/>
                </a:rPr>
                <a:t>核心客户沉淀不足</a:t>
              </a:r>
            </a:p>
          </p:txBody>
        </p:sp>
        <p:sp>
          <p:nvSpPr>
            <p:cNvPr id="229" name="TextBox 229"/>
            <p:cNvSpPr txBox="1"/>
            <p:nvPr/>
          </p:nvSpPr>
          <p:spPr>
            <a:xfrm>
              <a:off x="8262938" y="5462588"/>
              <a:ext cx="220027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70504A"/>
                  </a:solidFill>
                  <a:latin typeface="+mn-lt"/>
                  <a:ea typeface="+mn-ea"/>
                  <a:cs typeface="+mn-cs"/>
                </a:rPr>
                <a:t>核心结算客户资金沉淀能力仍偏弱，活期占比偏高，</a:t>
              </a:r>
              <a:br/>
              <a:r>
                <a:rPr lang="zh-CN" sz="750" dirty="0">
                  <a:solidFill>
                    <a:srgbClr val="70504A"/>
                  </a:solidFill>
                  <a:latin typeface="+mn-lt"/>
                  <a:ea typeface="+mn-ea"/>
                  <a:cs typeface="+mn-cs"/>
                </a:rPr>
                <a:t>资金粘性与留存水平有待提升。</a:t>
              </a:r>
            </a:p>
          </p:txBody>
        </p:sp>
        <p:sp>
          <p:nvSpPr>
            <p:cNvPr id="230" name="TextBox 230"/>
            <p:cNvSpPr txBox="1"/>
            <p:nvPr/>
          </p:nvSpPr>
          <p:spPr>
            <a:xfrm>
              <a:off x="7958138" y="6427232"/>
              <a:ext cx="1904975"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注：以上风险事项为示例表述，供经营分析参考。</a:t>
              </a:r>
            </a:p>
          </p:txBody>
        </p:sp>
      </p:grpSp>
      <p:sp>
        <p:nvSpPr>
          <p:cNvPr id="232"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03 / 18 页​</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04​</a:t>
              </a:r>
            </a:p>
          </p:txBody>
        </p:sp>
        <p:sp>
          <p:nvSpPr>
            <p:cNvPr id="4" name="TextBox 4"/>
            <p:cNvSpPr txBox="1"/>
            <p:nvPr/>
          </p:nvSpPr>
          <p:spPr>
            <a:xfrm>
              <a:off x="1019175" y="169069"/>
              <a:ext cx="7105447"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信贷投放保持较强增势，资源进一步向重大战略和实体经济倾斜</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59428" y="300038"/>
              <a:ext cx="1423035"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金额单位：人民币亿元（示例）</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24" name="kpi-loan"/>
          <p:cNvGrpSpPr/>
          <p:nvPr/>
        </p:nvGrpSpPr>
        <p:grpSpPr>
          <a:xfrm>
            <a:off x="228600" y="685800"/>
            <a:ext cx="3810000" cy="857250"/>
            <a:chOff x="228600" y="685800"/>
            <a:chExt cx="3810000" cy="857250"/>
          </a:xfrm>
        </p:grpSpPr>
        <p:sp>
          <p:nvSpPr>
            <p:cNvPr id="9" name="Rectangle 9"/>
            <p:cNvSpPr/>
            <p:nvPr/>
          </p:nvSpPr>
          <p:spPr>
            <a:xfrm>
              <a:off x="228600" y="685800"/>
              <a:ext cx="3810000" cy="857250"/>
            </a:xfrm>
            <a:prstGeom prst="roundRect">
              <a:avLst>
                <a:gd name="adj" fmla="val 6667"/>
              </a:avLst>
            </a:prstGeom>
            <a:solidFill>
              <a:srgbClr val="FFFFFF"/>
            </a:solidFill>
            <a:ln w="9525">
              <a:solidFill>
                <a:srgbClr val="C9D6E9"/>
              </a:solidFill>
            </a:ln>
          </p:spPr>
        </p:sp>
        <p:sp>
          <p:nvSpPr>
            <p:cNvPr id="10" name="Ellipse 10"/>
            <p:cNvSpPr/>
            <p:nvPr/>
          </p:nvSpPr>
          <p:spPr>
            <a:xfrm>
              <a:off x="419100" y="866775"/>
              <a:ext cx="495300" cy="495300"/>
            </a:xfrm>
            <a:prstGeom prst="ellipse">
              <a:avLst/>
            </a:prstGeom>
            <a:solidFill>
              <a:srgbClr val="EAF1FB"/>
            </a:solidFill>
            <a:ln>
              <a:noFill/>
            </a:ln>
          </p:spPr>
        </p:sp>
        <p:grpSp>
          <p:nvGrpSpPr>
            <p:cNvPr id="19" name="Group 19"/>
            <p:cNvGrpSpPr/>
            <p:nvPr/>
          </p:nvGrpSpPr>
          <p:grpSpPr>
            <a:xfrm>
              <a:off x="566738" y="1014413"/>
              <a:ext cx="200026" cy="209550"/>
              <a:chOff x="566738" y="1014413"/>
              <a:chExt cx="200026" cy="209550"/>
            </a:xfrm>
          </p:grpSpPr>
          <p:sp>
            <p:nvSpPr>
              <p:cNvPr id="11" name="Freeform 11"/>
              <p:cNvSpPr/>
              <p:nvPr/>
            </p:nvSpPr>
            <p:spPr>
              <a:xfrm>
                <a:off x="566738" y="1214438"/>
                <a:ext cx="200026" cy="9525"/>
              </a:xfrm>
              <a:custGeom>
                <a:avLst/>
                <a:gdLst/>
                <a:ahLst/>
                <a:cxnLst/>
                <a:rect l="l" t="t" r="r" b="b"/>
                <a:pathLst>
                  <a:path w="200026" h="9525">
                    <a:moveTo>
                      <a:pt x="0" y="0"/>
                    </a:moveTo>
                    <a:lnTo>
                      <a:pt x="200026" y="0"/>
                    </a:lnTo>
                  </a:path>
                </a:pathLst>
              </a:custGeom>
              <a:noFill/>
              <a:ln w="22225">
                <a:solidFill>
                  <a:srgbClr val="69281B"/>
                </a:solidFill>
              </a:ln>
            </p:spPr>
          </p:sp>
          <p:sp>
            <p:nvSpPr>
              <p:cNvPr id="12" name="Freeform 12"/>
              <p:cNvSpPr/>
              <p:nvPr/>
            </p:nvSpPr>
            <p:spPr>
              <a:xfrm>
                <a:off x="566738" y="1092200"/>
                <a:ext cx="200026" cy="9525"/>
              </a:xfrm>
              <a:custGeom>
                <a:avLst/>
                <a:gdLst/>
                <a:ahLst/>
                <a:cxnLst/>
                <a:rect l="l" t="t" r="r" b="b"/>
                <a:pathLst>
                  <a:path w="200026" h="9525">
                    <a:moveTo>
                      <a:pt x="0" y="0"/>
                    </a:moveTo>
                    <a:lnTo>
                      <a:pt x="200026" y="0"/>
                    </a:lnTo>
                  </a:path>
                </a:pathLst>
              </a:custGeom>
              <a:noFill/>
              <a:ln w="22225">
                <a:solidFill>
                  <a:srgbClr val="69281B"/>
                </a:solidFill>
              </a:ln>
            </p:spPr>
          </p:sp>
          <p:sp>
            <p:nvSpPr>
              <p:cNvPr id="13" name="Freeform 13"/>
              <p:cNvSpPr/>
              <p:nvPr/>
            </p:nvSpPr>
            <p:spPr>
              <a:xfrm>
                <a:off x="588963" y="1014413"/>
                <a:ext cx="155575" cy="33338"/>
              </a:xfrm>
              <a:custGeom>
                <a:avLst/>
                <a:gdLst/>
                <a:ahLst/>
                <a:cxnLst/>
                <a:rect l="l" t="t" r="r" b="b"/>
                <a:pathLst>
                  <a:path w="155575" h="33338">
                    <a:moveTo>
                      <a:pt x="0" y="33338"/>
                    </a:moveTo>
                    <a:lnTo>
                      <a:pt x="77788" y="0"/>
                    </a:lnTo>
                    <a:lnTo>
                      <a:pt x="155575" y="33338"/>
                    </a:lnTo>
                  </a:path>
                </a:pathLst>
              </a:custGeom>
              <a:noFill/>
              <a:ln w="22225">
                <a:solidFill>
                  <a:srgbClr val="69281B"/>
                </a:solidFill>
              </a:ln>
            </p:spPr>
          </p:sp>
          <p:sp>
            <p:nvSpPr>
              <p:cNvPr id="14" name="Freeform 14"/>
              <p:cNvSpPr/>
              <p:nvPr/>
            </p:nvSpPr>
            <p:spPr>
              <a:xfrm>
                <a:off x="577850" y="1092200"/>
                <a:ext cx="9525" cy="122238"/>
              </a:xfrm>
              <a:custGeom>
                <a:avLst/>
                <a:gdLst/>
                <a:ahLst/>
                <a:cxnLst/>
                <a:rect l="l" t="t" r="r" b="b"/>
                <a:pathLst>
                  <a:path w="9525" h="122238">
                    <a:moveTo>
                      <a:pt x="0" y="0"/>
                    </a:moveTo>
                    <a:lnTo>
                      <a:pt x="0" y="122238"/>
                    </a:lnTo>
                  </a:path>
                </a:pathLst>
              </a:custGeom>
              <a:noFill/>
              <a:ln w="22225">
                <a:solidFill>
                  <a:srgbClr val="69281B"/>
                </a:solidFill>
              </a:ln>
            </p:spPr>
          </p:sp>
          <p:sp>
            <p:nvSpPr>
              <p:cNvPr id="15" name="Freeform 15"/>
              <p:cNvSpPr/>
              <p:nvPr/>
            </p:nvSpPr>
            <p:spPr>
              <a:xfrm>
                <a:off x="755651" y="1092200"/>
                <a:ext cx="9525" cy="122238"/>
              </a:xfrm>
              <a:custGeom>
                <a:avLst/>
                <a:gdLst/>
                <a:ahLst/>
                <a:cxnLst/>
                <a:rect l="l" t="t" r="r" b="b"/>
                <a:pathLst>
                  <a:path w="9525" h="122238">
                    <a:moveTo>
                      <a:pt x="0" y="0"/>
                    </a:moveTo>
                    <a:lnTo>
                      <a:pt x="0" y="122238"/>
                    </a:lnTo>
                  </a:path>
                </a:pathLst>
              </a:custGeom>
              <a:noFill/>
              <a:ln w="22225">
                <a:solidFill>
                  <a:srgbClr val="69281B"/>
                </a:solidFill>
              </a:ln>
            </p:spPr>
          </p:sp>
          <p:sp>
            <p:nvSpPr>
              <p:cNvPr id="16" name="Freeform 16"/>
              <p:cNvSpPr/>
              <p:nvPr/>
            </p:nvSpPr>
            <p:spPr>
              <a:xfrm>
                <a:off x="622300" y="1136650"/>
                <a:ext cx="9525" cy="33338"/>
              </a:xfrm>
              <a:custGeom>
                <a:avLst/>
                <a:gdLst/>
                <a:ahLst/>
                <a:cxnLst/>
                <a:rect l="l" t="t" r="r" b="b"/>
                <a:pathLst>
                  <a:path w="9525" h="33338">
                    <a:moveTo>
                      <a:pt x="0" y="0"/>
                    </a:moveTo>
                    <a:lnTo>
                      <a:pt x="0" y="33338"/>
                    </a:lnTo>
                  </a:path>
                </a:pathLst>
              </a:custGeom>
              <a:noFill/>
              <a:ln w="22225">
                <a:solidFill>
                  <a:srgbClr val="69281B"/>
                </a:solidFill>
              </a:ln>
            </p:spPr>
          </p:sp>
          <p:sp>
            <p:nvSpPr>
              <p:cNvPr id="17" name="Freeform 17"/>
              <p:cNvSpPr/>
              <p:nvPr/>
            </p:nvSpPr>
            <p:spPr>
              <a:xfrm>
                <a:off x="666750" y="1136650"/>
                <a:ext cx="9525" cy="33338"/>
              </a:xfrm>
              <a:custGeom>
                <a:avLst/>
                <a:gdLst/>
                <a:ahLst/>
                <a:cxnLst/>
                <a:rect l="l" t="t" r="r" b="b"/>
                <a:pathLst>
                  <a:path w="9525" h="33338">
                    <a:moveTo>
                      <a:pt x="0" y="0"/>
                    </a:moveTo>
                    <a:lnTo>
                      <a:pt x="0" y="33338"/>
                    </a:lnTo>
                  </a:path>
                </a:pathLst>
              </a:custGeom>
              <a:noFill/>
              <a:ln w="22225">
                <a:solidFill>
                  <a:srgbClr val="69281B"/>
                </a:solidFill>
              </a:ln>
            </p:spPr>
          </p:sp>
          <p:sp>
            <p:nvSpPr>
              <p:cNvPr id="18" name="Freeform 18"/>
              <p:cNvSpPr/>
              <p:nvPr/>
            </p:nvSpPr>
            <p:spPr>
              <a:xfrm>
                <a:off x="711201" y="1136650"/>
                <a:ext cx="9525" cy="33338"/>
              </a:xfrm>
              <a:custGeom>
                <a:avLst/>
                <a:gdLst/>
                <a:ahLst/>
                <a:cxnLst/>
                <a:rect l="l" t="t" r="r" b="b"/>
                <a:pathLst>
                  <a:path w="9525" h="33338">
                    <a:moveTo>
                      <a:pt x="0" y="0"/>
                    </a:moveTo>
                    <a:lnTo>
                      <a:pt x="0" y="33338"/>
                    </a:lnTo>
                  </a:path>
                </a:pathLst>
              </a:custGeom>
              <a:noFill/>
              <a:ln w="22225">
                <a:solidFill>
                  <a:srgbClr val="69281B"/>
                </a:solidFill>
              </a:ln>
            </p:spPr>
          </p:sp>
        </p:grpSp>
        <p:sp>
          <p:nvSpPr>
            <p:cNvPr id="20" name="TextBox 20"/>
            <p:cNvSpPr txBox="1"/>
            <p:nvPr/>
          </p:nvSpPr>
          <p:spPr>
            <a:xfrm>
              <a:off x="1042988" y="893445"/>
              <a:ext cx="978789" cy="176212"/>
            </a:xfrm>
            <a:prstGeom prst="rect">
              <a:avLst/>
            </a:prstGeom>
            <a:noFill/>
            <a:ln>
              <a:noFill/>
            </a:ln>
          </p:spPr>
          <p:txBody>
            <a:bodyPr wrap="none" lIns="0" tIns="0" rIns="0" bIns="0" anchor="t" anchorCtr="0">
              <a:spAutoFit/>
            </a:bodyPr>
            <a:lstStyle/>
            <a:p>
              <a:pPr algn="l"/>
              <a:r>
                <a:rPr lang="zh-CN" sz="900" dirty="0">
                  <a:solidFill>
                    <a:srgbClr val="987F7A"/>
                  </a:solidFill>
                  <a:latin typeface="+mn-lt"/>
                  <a:ea typeface="+mn-ea"/>
                  <a:cs typeface="+mn-cs"/>
                </a:rPr>
                <a:t>对公贷款（余额）</a:t>
              </a:r>
            </a:p>
          </p:txBody>
        </p:sp>
        <p:sp>
          <p:nvSpPr>
            <p:cNvPr id="21" name="TextBox 21"/>
            <p:cNvSpPr txBox="1"/>
            <p:nvPr/>
          </p:nvSpPr>
          <p:spPr>
            <a:xfrm>
              <a:off x="1036320" y="1090612"/>
              <a:ext cx="1397498" cy="440055"/>
            </a:xfrm>
            <a:prstGeom prst="rect">
              <a:avLst/>
            </a:prstGeom>
            <a:noFill/>
            <a:ln>
              <a:noFill/>
            </a:ln>
          </p:spPr>
          <p:txBody>
            <a:bodyPr wrap="none" lIns="0" tIns="0" rIns="0" bIns="0" anchor="t" anchorCtr="0">
              <a:spAutoFit/>
            </a:bodyPr>
            <a:lstStyle/>
            <a:p>
              <a:pPr algn="l"/>
              <a:r>
                <a:rPr lang="zh-CN" sz="2250" b="1" dirty="0">
                  <a:solidFill>
                    <a:srgbClr val="69281B"/>
                  </a:solidFill>
                  <a:latin typeface="+mn-lt"/>
                  <a:ea typeface="+mn-ea"/>
                  <a:cs typeface="+mn-cs"/>
                </a:rPr>
                <a:t>284.5</a:t>
              </a:r>
              <a:r>
                <a:rPr lang="zh-CN" sz="1050" dirty="0">
                  <a:solidFill>
                    <a:srgbClr val="69281B"/>
                  </a:solidFill>
                  <a:latin typeface="+mn-lt"/>
                  <a:ea typeface="+mn-ea"/>
                  <a:cs typeface="+mn-cs"/>
                </a:rPr>
                <a:t xml:space="preserve"> 亿元</a:t>
              </a:r>
              <a:r>
                <a:rPr lang="zh-CN" sz="2250" b="1" dirty="0">
                  <a:solidFill>
                    <a:srgbClr val="69281B"/>
                  </a:solidFill>
                  <a:latin typeface="+mn-lt"/>
                  <a:ea typeface="+mn-ea"/>
                  <a:cs typeface="+mn-cs"/>
                </a:rPr>
                <a:t>​</a:t>
              </a:r>
            </a:p>
          </p:txBody>
        </p:sp>
        <p:sp>
          <p:nvSpPr>
            <p:cNvPr id="22" name="Rectangle 22"/>
            <p:cNvSpPr/>
            <p:nvPr/>
          </p:nvSpPr>
          <p:spPr>
            <a:xfrm>
              <a:off x="3143250" y="876300"/>
              <a:ext cx="495300" cy="171450"/>
            </a:xfrm>
            <a:prstGeom prst="roundRect">
              <a:avLst>
                <a:gd name="adj" fmla="val 16667"/>
              </a:avLst>
            </a:prstGeom>
            <a:noFill/>
            <a:ln w="9525">
              <a:solidFill>
                <a:srgbClr val="E04C2E"/>
              </a:solidFill>
            </a:ln>
          </p:spPr>
        </p:sp>
        <p:sp>
          <p:nvSpPr>
            <p:cNvPr id="23" name="TextBox 23"/>
            <p:cNvSpPr txBox="1"/>
            <p:nvPr/>
          </p:nvSpPr>
          <p:spPr>
            <a:xfrm>
              <a:off x="3213824" y="931307"/>
              <a:ext cx="35415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示例数据</a:t>
              </a:r>
            </a:p>
          </p:txBody>
        </p:sp>
      </p:grpSp>
      <p:grpSp>
        <p:nvGrpSpPr>
          <p:cNvPr id="34" name="kpi-increment"/>
          <p:cNvGrpSpPr/>
          <p:nvPr/>
        </p:nvGrpSpPr>
        <p:grpSpPr>
          <a:xfrm>
            <a:off x="4171950" y="685800"/>
            <a:ext cx="3810000" cy="857250"/>
            <a:chOff x="4171950" y="685800"/>
            <a:chExt cx="3810000" cy="857250"/>
          </a:xfrm>
        </p:grpSpPr>
        <p:sp>
          <p:nvSpPr>
            <p:cNvPr id="25" name="Rectangle 25"/>
            <p:cNvSpPr/>
            <p:nvPr/>
          </p:nvSpPr>
          <p:spPr>
            <a:xfrm>
              <a:off x="4171950" y="685800"/>
              <a:ext cx="3810000" cy="857250"/>
            </a:xfrm>
            <a:prstGeom prst="roundRect">
              <a:avLst>
                <a:gd name="adj" fmla="val 6667"/>
              </a:avLst>
            </a:prstGeom>
            <a:solidFill>
              <a:srgbClr val="FFFFFF"/>
            </a:solidFill>
            <a:ln w="9525">
              <a:solidFill>
                <a:srgbClr val="C9D6E9"/>
              </a:solidFill>
            </a:ln>
          </p:spPr>
        </p:sp>
        <p:sp>
          <p:nvSpPr>
            <p:cNvPr id="26" name="Ellipse 26"/>
            <p:cNvSpPr/>
            <p:nvPr/>
          </p:nvSpPr>
          <p:spPr>
            <a:xfrm>
              <a:off x="4362450" y="866775"/>
              <a:ext cx="495300" cy="495300"/>
            </a:xfrm>
            <a:prstGeom prst="ellipse">
              <a:avLst/>
            </a:prstGeom>
            <a:solidFill>
              <a:srgbClr val="EAF1FB"/>
            </a:solidFill>
            <a:ln>
              <a:noFill/>
            </a:ln>
          </p:spPr>
        </p:sp>
        <p:grpSp>
          <p:nvGrpSpPr>
            <p:cNvPr id="29" name="Group 29"/>
            <p:cNvGrpSpPr/>
            <p:nvPr/>
          </p:nvGrpSpPr>
          <p:grpSpPr>
            <a:xfrm>
              <a:off x="4510088" y="1058863"/>
              <a:ext cx="200026" cy="111125"/>
              <a:chOff x="4510088" y="1058863"/>
              <a:chExt cx="200026" cy="111125"/>
            </a:xfrm>
          </p:grpSpPr>
          <p:sp>
            <p:nvSpPr>
              <p:cNvPr id="27" name="Freeform 27"/>
              <p:cNvSpPr/>
              <p:nvPr/>
            </p:nvSpPr>
            <p:spPr>
              <a:xfrm>
                <a:off x="4510088" y="1058863"/>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69281B"/>
                </a:solidFill>
              </a:ln>
            </p:spPr>
          </p:sp>
          <p:sp>
            <p:nvSpPr>
              <p:cNvPr id="28" name="Freeform 28"/>
              <p:cNvSpPr/>
              <p:nvPr/>
            </p:nvSpPr>
            <p:spPr>
              <a:xfrm>
                <a:off x="4632325" y="1058863"/>
                <a:ext cx="77788" cy="77788"/>
              </a:xfrm>
              <a:custGeom>
                <a:avLst/>
                <a:gdLst/>
                <a:ahLst/>
                <a:cxnLst/>
                <a:rect l="l" t="t" r="r" b="b"/>
                <a:pathLst>
                  <a:path w="77788" h="77788">
                    <a:moveTo>
                      <a:pt x="0" y="0"/>
                    </a:moveTo>
                    <a:lnTo>
                      <a:pt x="77788" y="0"/>
                    </a:lnTo>
                    <a:lnTo>
                      <a:pt x="77788" y="77788"/>
                    </a:lnTo>
                  </a:path>
                </a:pathLst>
              </a:custGeom>
              <a:noFill/>
              <a:ln w="22225">
                <a:solidFill>
                  <a:srgbClr val="69281B"/>
                </a:solidFill>
              </a:ln>
            </p:spPr>
          </p:sp>
        </p:grpSp>
        <p:sp>
          <p:nvSpPr>
            <p:cNvPr id="30" name="TextBox 30"/>
            <p:cNvSpPr txBox="1"/>
            <p:nvPr/>
          </p:nvSpPr>
          <p:spPr>
            <a:xfrm>
              <a:off x="4986338" y="893445"/>
              <a:ext cx="615315" cy="176212"/>
            </a:xfrm>
            <a:prstGeom prst="rect">
              <a:avLst/>
            </a:prstGeom>
            <a:noFill/>
            <a:ln>
              <a:noFill/>
            </a:ln>
          </p:spPr>
          <p:txBody>
            <a:bodyPr wrap="none" lIns="0" tIns="0" rIns="0" bIns="0" anchor="t" anchorCtr="0">
              <a:spAutoFit/>
            </a:bodyPr>
            <a:lstStyle/>
            <a:p>
              <a:pPr algn="l"/>
              <a:r>
                <a:rPr lang="zh-CN" sz="900" dirty="0">
                  <a:solidFill>
                    <a:srgbClr val="987F7A"/>
                  </a:solidFill>
                  <a:latin typeface="+mn-lt"/>
                  <a:ea typeface="+mn-ea"/>
                  <a:cs typeface="+mn-cs"/>
                </a:rPr>
                <a:t>较年初净增</a:t>
              </a:r>
            </a:p>
          </p:txBody>
        </p:sp>
        <p:sp>
          <p:nvSpPr>
            <p:cNvPr id="31" name="TextBox 31"/>
            <p:cNvSpPr txBox="1"/>
            <p:nvPr/>
          </p:nvSpPr>
          <p:spPr>
            <a:xfrm>
              <a:off x="4979670" y="1090612"/>
              <a:ext cx="1222577" cy="440055"/>
            </a:xfrm>
            <a:prstGeom prst="rect">
              <a:avLst/>
            </a:prstGeom>
            <a:noFill/>
            <a:ln>
              <a:noFill/>
            </a:ln>
          </p:spPr>
          <p:txBody>
            <a:bodyPr wrap="none" lIns="0" tIns="0" rIns="0" bIns="0" anchor="t" anchorCtr="0">
              <a:spAutoFit/>
            </a:bodyPr>
            <a:lstStyle/>
            <a:p>
              <a:pPr algn="l"/>
              <a:r>
                <a:rPr lang="zh-CN" sz="2250" b="1" dirty="0">
                  <a:solidFill>
                    <a:srgbClr val="E04C2E"/>
                  </a:solidFill>
                  <a:latin typeface="+mn-lt"/>
                  <a:ea typeface="+mn-ea"/>
                  <a:cs typeface="+mn-cs"/>
                </a:rPr>
                <a:t>31.2</a:t>
              </a:r>
              <a:r>
                <a:rPr lang="zh-CN" sz="1050" dirty="0">
                  <a:solidFill>
                    <a:srgbClr val="5F3A33"/>
                  </a:solidFill>
                  <a:latin typeface="+mn-lt"/>
                  <a:ea typeface="+mn-ea"/>
                  <a:cs typeface="+mn-cs"/>
                </a:rPr>
                <a:t xml:space="preserve"> 亿元</a:t>
              </a:r>
              <a:r>
                <a:rPr lang="zh-CN" sz="2250" b="1" dirty="0">
                  <a:solidFill>
                    <a:srgbClr val="E04C2E"/>
                  </a:solidFill>
                  <a:latin typeface="+mn-lt"/>
                  <a:ea typeface="+mn-ea"/>
                  <a:cs typeface="+mn-cs"/>
                </a:rPr>
                <a:t>​</a:t>
              </a:r>
            </a:p>
          </p:txBody>
        </p:sp>
        <p:sp>
          <p:nvSpPr>
            <p:cNvPr id="32" name="Rectangle 32"/>
            <p:cNvSpPr/>
            <p:nvPr/>
          </p:nvSpPr>
          <p:spPr>
            <a:xfrm>
              <a:off x="7086600" y="876300"/>
              <a:ext cx="495300" cy="171450"/>
            </a:xfrm>
            <a:prstGeom prst="roundRect">
              <a:avLst>
                <a:gd name="adj" fmla="val 16667"/>
              </a:avLst>
            </a:prstGeom>
            <a:noFill/>
            <a:ln w="9525">
              <a:solidFill>
                <a:srgbClr val="E04C2E"/>
              </a:solidFill>
            </a:ln>
          </p:spPr>
        </p:sp>
        <p:sp>
          <p:nvSpPr>
            <p:cNvPr id="33" name="TextBox 33"/>
            <p:cNvSpPr txBox="1"/>
            <p:nvPr/>
          </p:nvSpPr>
          <p:spPr>
            <a:xfrm>
              <a:off x="7157174" y="931307"/>
              <a:ext cx="35415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示例数据</a:t>
              </a:r>
            </a:p>
          </p:txBody>
        </p:sp>
      </p:grpSp>
      <p:grpSp>
        <p:nvGrpSpPr>
          <p:cNvPr id="44" name="kpi-growth"/>
          <p:cNvGrpSpPr/>
          <p:nvPr/>
        </p:nvGrpSpPr>
        <p:grpSpPr>
          <a:xfrm>
            <a:off x="8115300" y="685800"/>
            <a:ext cx="3810000" cy="857250"/>
            <a:chOff x="8115300" y="685800"/>
            <a:chExt cx="3810000" cy="857250"/>
          </a:xfrm>
        </p:grpSpPr>
        <p:sp>
          <p:nvSpPr>
            <p:cNvPr id="35" name="Rectangle 35"/>
            <p:cNvSpPr/>
            <p:nvPr/>
          </p:nvSpPr>
          <p:spPr>
            <a:xfrm>
              <a:off x="8115300" y="685800"/>
              <a:ext cx="3810000" cy="857250"/>
            </a:xfrm>
            <a:prstGeom prst="roundRect">
              <a:avLst>
                <a:gd name="adj" fmla="val 6667"/>
              </a:avLst>
            </a:prstGeom>
            <a:solidFill>
              <a:srgbClr val="FFFFFF"/>
            </a:solidFill>
            <a:ln w="9525">
              <a:solidFill>
                <a:srgbClr val="C9D6E9"/>
              </a:solidFill>
            </a:ln>
          </p:spPr>
        </p:sp>
        <p:sp>
          <p:nvSpPr>
            <p:cNvPr id="36" name="Ellipse 36"/>
            <p:cNvSpPr/>
            <p:nvPr/>
          </p:nvSpPr>
          <p:spPr>
            <a:xfrm>
              <a:off x="8305800" y="866775"/>
              <a:ext cx="495300" cy="495300"/>
            </a:xfrm>
            <a:prstGeom prst="ellipse">
              <a:avLst/>
            </a:prstGeom>
            <a:solidFill>
              <a:srgbClr val="EAF1FB"/>
            </a:solidFill>
            <a:ln>
              <a:noFill/>
            </a:ln>
          </p:spPr>
        </p:sp>
        <p:grpSp>
          <p:nvGrpSpPr>
            <p:cNvPr id="39" name="Group 39"/>
            <p:cNvGrpSpPr/>
            <p:nvPr/>
          </p:nvGrpSpPr>
          <p:grpSpPr>
            <a:xfrm>
              <a:off x="8464550" y="1047750"/>
              <a:ext cx="177801" cy="153988"/>
              <a:chOff x="8464550" y="1047750"/>
              <a:chExt cx="177801" cy="153988"/>
            </a:xfrm>
          </p:grpSpPr>
          <p:sp>
            <p:nvSpPr>
              <p:cNvPr id="37" name="Freeform 37"/>
              <p:cNvSpPr/>
              <p:nvPr/>
            </p:nvSpPr>
            <p:spPr>
              <a:xfrm>
                <a:off x="8464550" y="1192213"/>
                <a:ext cx="177801" cy="9525"/>
              </a:xfrm>
              <a:custGeom>
                <a:avLst/>
                <a:gdLst/>
                <a:ahLst/>
                <a:cxnLst/>
                <a:rect l="l" t="t" r="r" b="b"/>
                <a:pathLst>
                  <a:path w="177801" h="9525">
                    <a:moveTo>
                      <a:pt x="0" y="0"/>
                    </a:moveTo>
                    <a:lnTo>
                      <a:pt x="177801" y="0"/>
                    </a:lnTo>
                  </a:path>
                </a:pathLst>
              </a:custGeom>
              <a:noFill/>
              <a:ln w="22225">
                <a:solidFill>
                  <a:srgbClr val="69281B"/>
                </a:solidFill>
              </a:ln>
            </p:spPr>
          </p:sp>
          <p:sp>
            <p:nvSpPr>
              <p:cNvPr id="38" name="Freeform 38"/>
              <p:cNvSpPr/>
              <p:nvPr/>
            </p:nvSpPr>
            <p:spPr>
              <a:xfrm>
                <a:off x="8464550" y="1047750"/>
                <a:ext cx="177801" cy="100013"/>
              </a:xfrm>
              <a:custGeom>
                <a:avLst/>
                <a:gdLst/>
                <a:ahLst/>
                <a:cxnLst/>
                <a:rect l="l" t="t" r="r" b="b"/>
                <a:pathLst>
                  <a:path w="177801" h="100013">
                    <a:moveTo>
                      <a:pt x="0" y="100013"/>
                    </a:moveTo>
                    <a:lnTo>
                      <a:pt x="44450" y="33338"/>
                    </a:lnTo>
                    <a:lnTo>
                      <a:pt x="88900" y="55563"/>
                    </a:lnTo>
                    <a:lnTo>
                      <a:pt x="133350" y="0"/>
                    </a:lnTo>
                    <a:lnTo>
                      <a:pt x="177801" y="44450"/>
                    </a:lnTo>
                  </a:path>
                </a:pathLst>
              </a:custGeom>
              <a:noFill/>
              <a:ln w="22225">
                <a:solidFill>
                  <a:srgbClr val="69281B"/>
                </a:solidFill>
              </a:ln>
            </p:spPr>
          </p:sp>
        </p:grpSp>
        <p:sp>
          <p:nvSpPr>
            <p:cNvPr id="40" name="TextBox 40"/>
            <p:cNvSpPr txBox="1"/>
            <p:nvPr/>
          </p:nvSpPr>
          <p:spPr>
            <a:xfrm>
              <a:off x="8929688" y="893445"/>
              <a:ext cx="615315" cy="176212"/>
            </a:xfrm>
            <a:prstGeom prst="rect">
              <a:avLst/>
            </a:prstGeom>
            <a:noFill/>
            <a:ln>
              <a:noFill/>
            </a:ln>
          </p:spPr>
          <p:txBody>
            <a:bodyPr wrap="none" lIns="0" tIns="0" rIns="0" bIns="0" anchor="t" anchorCtr="0">
              <a:spAutoFit/>
            </a:bodyPr>
            <a:lstStyle/>
            <a:p>
              <a:pPr algn="l"/>
              <a:r>
                <a:rPr lang="zh-CN" sz="900" dirty="0">
                  <a:solidFill>
                    <a:srgbClr val="987F7A"/>
                  </a:solidFill>
                  <a:latin typeface="+mn-lt"/>
                  <a:ea typeface="+mn-ea"/>
                  <a:cs typeface="+mn-cs"/>
                </a:rPr>
                <a:t>较年初增速</a:t>
              </a:r>
            </a:p>
          </p:txBody>
        </p:sp>
        <p:sp>
          <p:nvSpPr>
            <p:cNvPr id="41" name="TextBox 41"/>
            <p:cNvSpPr txBox="1"/>
            <p:nvPr/>
          </p:nvSpPr>
          <p:spPr>
            <a:xfrm>
              <a:off x="8923020" y="1090612"/>
              <a:ext cx="1045888" cy="440055"/>
            </a:xfrm>
            <a:prstGeom prst="rect">
              <a:avLst/>
            </a:prstGeom>
            <a:noFill/>
            <a:ln>
              <a:noFill/>
            </a:ln>
          </p:spPr>
          <p:txBody>
            <a:bodyPr wrap="none" lIns="0" tIns="0" rIns="0" bIns="0" anchor="t" anchorCtr="0">
              <a:spAutoFit/>
            </a:bodyPr>
            <a:lstStyle/>
            <a:p>
              <a:pPr algn="l"/>
              <a:r>
                <a:rPr lang="zh-CN" sz="2250" b="1" dirty="0">
                  <a:solidFill>
                    <a:srgbClr val="E04C2E"/>
                  </a:solidFill>
                  <a:latin typeface="+mn-lt"/>
                  <a:ea typeface="+mn-ea"/>
                  <a:cs typeface="+mn-cs"/>
                </a:rPr>
                <a:t>12.3</a:t>
              </a:r>
              <a:r>
                <a:rPr lang="zh-CN" sz="1050" dirty="0">
                  <a:solidFill>
                    <a:srgbClr val="5F3A33"/>
                  </a:solidFill>
                  <a:latin typeface="+mn-lt"/>
                  <a:ea typeface="+mn-ea"/>
                  <a:cs typeface="+mn-cs"/>
                </a:rPr>
                <a:t xml:space="preserve"> %</a:t>
              </a:r>
              <a:r>
                <a:rPr lang="zh-CN" sz="2250" b="1" dirty="0">
                  <a:solidFill>
                    <a:srgbClr val="E04C2E"/>
                  </a:solidFill>
                  <a:latin typeface="+mn-lt"/>
                  <a:ea typeface="+mn-ea"/>
                  <a:cs typeface="+mn-cs"/>
                </a:rPr>
                <a:t>​</a:t>
              </a:r>
            </a:p>
          </p:txBody>
        </p:sp>
        <p:sp>
          <p:nvSpPr>
            <p:cNvPr id="42" name="Rectangle 42"/>
            <p:cNvSpPr/>
            <p:nvPr/>
          </p:nvSpPr>
          <p:spPr>
            <a:xfrm>
              <a:off x="11029950" y="876300"/>
              <a:ext cx="495300" cy="171450"/>
            </a:xfrm>
            <a:prstGeom prst="roundRect">
              <a:avLst>
                <a:gd name="adj" fmla="val 16667"/>
              </a:avLst>
            </a:prstGeom>
            <a:noFill/>
            <a:ln w="9525">
              <a:solidFill>
                <a:srgbClr val="E04C2E"/>
              </a:solidFill>
            </a:ln>
          </p:spPr>
        </p:sp>
        <p:sp>
          <p:nvSpPr>
            <p:cNvPr id="43" name="TextBox 43"/>
            <p:cNvSpPr txBox="1"/>
            <p:nvPr/>
          </p:nvSpPr>
          <p:spPr>
            <a:xfrm>
              <a:off x="11100524" y="931307"/>
              <a:ext cx="35415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示例数据</a:t>
              </a:r>
            </a:p>
          </p:txBody>
        </p:sp>
      </p:grpSp>
      <p:grpSp>
        <p:nvGrpSpPr>
          <p:cNvPr id="103" name="chart-industry"/>
          <p:cNvGrpSpPr/>
          <p:nvPr/>
        </p:nvGrpSpPr>
        <p:grpSpPr>
          <a:xfrm>
            <a:off x="228600" y="1638300"/>
            <a:ext cx="5295900" cy="2476500"/>
            <a:chOff x="228600" y="1638300"/>
            <a:chExt cx="5295900" cy="2476500"/>
          </a:xfrm>
        </p:grpSpPr>
        <p:sp>
          <p:nvSpPr>
            <p:cNvPr id="45" name="Rectangle 45"/>
            <p:cNvSpPr/>
            <p:nvPr/>
          </p:nvSpPr>
          <p:spPr>
            <a:xfrm>
              <a:off x="228600" y="1638300"/>
              <a:ext cx="5295900" cy="2476500"/>
            </a:xfrm>
            <a:prstGeom prst="roundRect">
              <a:avLst>
                <a:gd name="adj" fmla="val 2308"/>
              </a:avLst>
            </a:prstGeom>
            <a:solidFill>
              <a:srgbClr val="FFFFFF"/>
            </a:solidFill>
            <a:ln w="9525">
              <a:solidFill>
                <a:srgbClr val="C9D6E9"/>
              </a:solidFill>
            </a:ln>
          </p:spPr>
        </p:sp>
        <p:sp>
          <p:nvSpPr>
            <p:cNvPr id="46" name="Rectangle 46"/>
            <p:cNvSpPr/>
            <p:nvPr/>
          </p:nvSpPr>
          <p:spPr>
            <a:xfrm>
              <a:off x="228600" y="1638300"/>
              <a:ext cx="5295900" cy="247650"/>
            </a:xfrm>
            <a:prstGeom prst="roundRect">
              <a:avLst>
                <a:gd name="adj" fmla="val 23077"/>
              </a:avLst>
            </a:prstGeom>
            <a:solidFill>
              <a:srgbClr val="69281B"/>
            </a:solidFill>
            <a:ln>
              <a:noFill/>
            </a:ln>
          </p:spPr>
        </p:sp>
        <p:sp>
          <p:nvSpPr>
            <p:cNvPr id="47" name="Rectangle 47"/>
            <p:cNvSpPr/>
            <p:nvPr/>
          </p:nvSpPr>
          <p:spPr>
            <a:xfrm>
              <a:off x="228600" y="1790700"/>
              <a:ext cx="5295900" cy="95250"/>
            </a:xfrm>
            <a:prstGeom prst="rect">
              <a:avLst/>
            </a:prstGeom>
            <a:solidFill>
              <a:srgbClr val="69281B"/>
            </a:solidFill>
            <a:ln>
              <a:noFill/>
            </a:ln>
          </p:spPr>
        </p:sp>
        <p:sp>
          <p:nvSpPr>
            <p:cNvPr id="48" name="TextBox 48"/>
            <p:cNvSpPr txBox="1"/>
            <p:nvPr/>
          </p:nvSpPr>
          <p:spPr>
            <a:xfrm>
              <a:off x="1985988" y="1708547"/>
              <a:ext cx="178112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对公贷款投向行业结构（余额）</a:t>
              </a:r>
            </a:p>
          </p:txBody>
        </p:sp>
        <p:sp>
          <p:nvSpPr>
            <p:cNvPr id="49" name="TextBox 49"/>
            <p:cNvSpPr txBox="1"/>
            <p:nvPr/>
          </p:nvSpPr>
          <p:spPr>
            <a:xfrm>
              <a:off x="4955604" y="1740932"/>
              <a:ext cx="440309" cy="126206"/>
            </a:xfrm>
            <a:prstGeom prst="rect">
              <a:avLst/>
            </a:prstGeom>
            <a:noFill/>
            <a:ln>
              <a:noFill/>
            </a:ln>
          </p:spPr>
          <p:txBody>
            <a:bodyPr wrap="none" lIns="0" tIns="0" rIns="0" bIns="0" anchor="t" anchorCtr="0">
              <a:spAutoFit/>
            </a:bodyPr>
            <a:lstStyle/>
            <a:p>
              <a:pPr algn="r"/>
              <a:r>
                <a:rPr lang="zh-CN" sz="640" dirty="0">
                  <a:solidFill>
                    <a:srgbClr val="D8E4F6"/>
                  </a:solidFill>
                  <a:latin typeface="+mn-lt"/>
                  <a:ea typeface="+mn-ea"/>
                  <a:cs typeface="+mn-cs"/>
                </a:rPr>
                <a:t>单位：亿元</a:t>
              </a:r>
            </a:p>
          </p:txBody>
        </p:sp>
        <p:grpSp>
          <p:nvGrpSpPr>
            <p:cNvPr id="52" name="Group 52"/>
            <p:cNvGrpSpPr/>
            <p:nvPr/>
          </p:nvGrpSpPr>
          <p:grpSpPr>
            <a:xfrm>
              <a:off x="377196" y="2148846"/>
              <a:ext cx="112383" cy="112383"/>
              <a:chOff x="377196" y="2148846"/>
              <a:chExt cx="112383" cy="112383"/>
            </a:xfrm>
          </p:grpSpPr>
          <p:sp>
            <p:nvSpPr>
              <p:cNvPr id="50" name="Freeform 50"/>
              <p:cNvSpPr/>
              <p:nvPr/>
            </p:nvSpPr>
            <p:spPr>
              <a:xfrm>
                <a:off x="377196" y="2148846"/>
                <a:ext cx="112383" cy="112383"/>
              </a:xfrm>
              <a:custGeom>
                <a:avLst/>
                <a:gdLst/>
                <a:ahLst/>
                <a:cxnLst/>
                <a:rect l="l" t="t" r="r" b="b"/>
                <a:pathLst>
                  <a:path w="112383" h="112383">
                    <a:moveTo>
                      <a:pt x="46220" y="10454"/>
                    </a:moveTo>
                    <a:cubicBezTo>
                      <a:pt x="48756" y="0"/>
                      <a:pt x="63627" y="0"/>
                      <a:pt x="66163" y="10454"/>
                    </a:cubicBezTo>
                    <a:cubicBezTo>
                      <a:pt x="66935" y="13639"/>
                      <a:pt x="69181" y="16264"/>
                      <a:pt x="72209" y="17519"/>
                    </a:cubicBezTo>
                    <a:cubicBezTo>
                      <a:pt x="75237" y="18773"/>
                      <a:pt x="78682" y="18506"/>
                      <a:pt x="81480" y="16800"/>
                    </a:cubicBezTo>
                    <a:cubicBezTo>
                      <a:pt x="90666" y="11204"/>
                      <a:pt x="101185" y="21717"/>
                      <a:pt x="95589" y="30909"/>
                    </a:cubicBezTo>
                    <a:cubicBezTo>
                      <a:pt x="93886" y="33706"/>
                      <a:pt x="93619" y="37148"/>
                      <a:pt x="94872" y="40174"/>
                    </a:cubicBezTo>
                    <a:cubicBezTo>
                      <a:pt x="96125" y="43200"/>
                      <a:pt x="98747" y="45446"/>
                      <a:pt x="101929" y="46220"/>
                    </a:cubicBezTo>
                    <a:cubicBezTo>
                      <a:pt x="112383" y="48756"/>
                      <a:pt x="112383" y="63627"/>
                      <a:pt x="101929" y="66163"/>
                    </a:cubicBezTo>
                    <a:cubicBezTo>
                      <a:pt x="98744" y="66935"/>
                      <a:pt x="96119" y="69181"/>
                      <a:pt x="94865" y="72209"/>
                    </a:cubicBezTo>
                    <a:cubicBezTo>
                      <a:pt x="93610" y="75237"/>
                      <a:pt x="93877" y="78682"/>
                      <a:pt x="95583" y="81480"/>
                    </a:cubicBezTo>
                    <a:cubicBezTo>
                      <a:pt x="101179" y="90666"/>
                      <a:pt x="90666" y="101185"/>
                      <a:pt x="81474" y="95589"/>
                    </a:cubicBezTo>
                    <a:cubicBezTo>
                      <a:pt x="78677" y="93886"/>
                      <a:pt x="75235" y="93619"/>
                      <a:pt x="72209" y="94872"/>
                    </a:cubicBezTo>
                    <a:cubicBezTo>
                      <a:pt x="69183" y="96125"/>
                      <a:pt x="66937" y="98747"/>
                      <a:pt x="66163" y="101929"/>
                    </a:cubicBezTo>
                    <a:cubicBezTo>
                      <a:pt x="63627" y="112383"/>
                      <a:pt x="48756" y="112383"/>
                      <a:pt x="46220" y="101929"/>
                    </a:cubicBezTo>
                    <a:cubicBezTo>
                      <a:pt x="45448" y="98744"/>
                      <a:pt x="43202" y="96119"/>
                      <a:pt x="40174" y="94865"/>
                    </a:cubicBezTo>
                    <a:cubicBezTo>
                      <a:pt x="37146" y="93610"/>
                      <a:pt x="33701" y="93877"/>
                      <a:pt x="30903" y="95583"/>
                    </a:cubicBezTo>
                    <a:cubicBezTo>
                      <a:pt x="21717" y="101179"/>
                      <a:pt x="11198" y="90666"/>
                      <a:pt x="16794" y="81474"/>
                    </a:cubicBezTo>
                    <a:cubicBezTo>
                      <a:pt x="18497" y="78677"/>
                      <a:pt x="18764" y="75235"/>
                      <a:pt x="17511" y="72209"/>
                    </a:cubicBezTo>
                    <a:cubicBezTo>
                      <a:pt x="16258" y="69183"/>
                      <a:pt x="13636" y="66937"/>
                      <a:pt x="10454" y="66163"/>
                    </a:cubicBezTo>
                    <a:cubicBezTo>
                      <a:pt x="0" y="63627"/>
                      <a:pt x="0" y="48756"/>
                      <a:pt x="10454" y="46220"/>
                    </a:cubicBezTo>
                    <a:cubicBezTo>
                      <a:pt x="13639" y="45448"/>
                      <a:pt x="16264" y="43202"/>
                      <a:pt x="17519" y="40174"/>
                    </a:cubicBezTo>
                    <a:cubicBezTo>
                      <a:pt x="18773" y="37146"/>
                      <a:pt x="18506" y="33701"/>
                      <a:pt x="16800" y="30903"/>
                    </a:cubicBezTo>
                    <a:cubicBezTo>
                      <a:pt x="11204" y="21717"/>
                      <a:pt x="21717" y="11198"/>
                      <a:pt x="30909" y="16794"/>
                    </a:cubicBezTo>
                    <a:cubicBezTo>
                      <a:pt x="36862" y="20413"/>
                      <a:pt x="44577" y="17210"/>
                      <a:pt x="46220" y="10454"/>
                    </a:cubicBezTo>
                  </a:path>
                </a:pathLst>
              </a:custGeom>
              <a:noFill/>
              <a:ln w="11906">
                <a:solidFill>
                  <a:srgbClr val="E04C2E"/>
                </a:solidFill>
              </a:ln>
            </p:spPr>
          </p:sp>
          <p:sp>
            <p:nvSpPr>
              <p:cNvPr id="51" name="Freeform 51"/>
              <p:cNvSpPr/>
              <p:nvPr/>
            </p:nvSpPr>
            <p:spPr>
              <a:xfrm>
                <a:off x="415528" y="2187178"/>
                <a:ext cx="35719" cy="35719"/>
              </a:xfrm>
              <a:custGeom>
                <a:avLst/>
                <a:gdLst/>
                <a:ahLst/>
                <a:cxnLst/>
                <a:rect l="l" t="t" r="r" b="b"/>
                <a:pathLst>
                  <a:path w="35719" h="35719">
                    <a:moveTo>
                      <a:pt x="0" y="17859"/>
                    </a:moveTo>
                    <a:cubicBezTo>
                      <a:pt x="0" y="27723"/>
                      <a:pt x="7996" y="35719"/>
                      <a:pt x="17859" y="35719"/>
                    </a:cubicBezTo>
                    <a:cubicBezTo>
                      <a:pt x="27723" y="35719"/>
                      <a:pt x="35719" y="27723"/>
                      <a:pt x="35719" y="17859"/>
                    </a:cubicBezTo>
                    <a:cubicBezTo>
                      <a:pt x="35719" y="7996"/>
                      <a:pt x="27723" y="0"/>
                      <a:pt x="17859" y="0"/>
                    </a:cubicBezTo>
                    <a:cubicBezTo>
                      <a:pt x="7996" y="0"/>
                      <a:pt x="0" y="7996"/>
                      <a:pt x="0" y="17859"/>
                    </a:cubicBezTo>
                  </a:path>
                </a:pathLst>
              </a:custGeom>
              <a:noFill/>
              <a:ln w="11906">
                <a:solidFill>
                  <a:srgbClr val="E04C2E"/>
                </a:solidFill>
              </a:ln>
            </p:spPr>
          </p:sp>
        </p:grpSp>
        <p:sp>
          <p:nvSpPr>
            <p:cNvPr id="53" name="TextBox 53"/>
            <p:cNvSpPr txBox="1"/>
            <p:nvPr/>
          </p:nvSpPr>
          <p:spPr>
            <a:xfrm>
              <a:off x="566738" y="216288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先进制造</a:t>
              </a:r>
            </a:p>
          </p:txBody>
        </p:sp>
        <p:sp>
          <p:nvSpPr>
            <p:cNvPr id="54" name="Rectangle 54"/>
            <p:cNvSpPr/>
            <p:nvPr/>
          </p:nvSpPr>
          <p:spPr>
            <a:xfrm>
              <a:off x="1428750" y="2133600"/>
              <a:ext cx="2436495" cy="152400"/>
            </a:xfrm>
            <a:prstGeom prst="roundRect">
              <a:avLst>
                <a:gd name="adj" fmla="val 12500"/>
              </a:avLst>
            </a:prstGeom>
            <a:solidFill>
              <a:srgbClr val="69281B"/>
            </a:solidFill>
            <a:ln>
              <a:noFill/>
            </a:ln>
          </p:spPr>
        </p:sp>
        <p:sp>
          <p:nvSpPr>
            <p:cNvPr id="55" name="TextBox 55"/>
            <p:cNvSpPr txBox="1"/>
            <p:nvPr/>
          </p:nvSpPr>
          <p:spPr>
            <a:xfrm>
              <a:off x="3919538" y="2168366"/>
              <a:ext cx="535357"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 xml:space="preserve">68.2 </a:t>
              </a:r>
              <a:r>
                <a:rPr lang="zh-CN" sz="640" dirty="0">
                  <a:solidFill>
                    <a:srgbClr val="987F7A"/>
                  </a:solidFill>
                  <a:latin typeface="+mn-lt"/>
                  <a:ea typeface="+mn-ea"/>
                  <a:cs typeface="+mn-cs"/>
                </a:rPr>
                <a:t>亿元</a:t>
              </a:r>
              <a:r>
                <a:rPr lang="zh-CN" sz="820" b="1" dirty="0">
                  <a:solidFill>
                    <a:srgbClr val="69281B"/>
                  </a:solidFill>
                  <a:latin typeface="+mn-lt"/>
                  <a:ea typeface="+mn-ea"/>
                  <a:cs typeface="+mn-cs"/>
                </a:rPr>
                <a:t>​</a:t>
              </a:r>
            </a:p>
          </p:txBody>
        </p:sp>
        <p:grpSp>
          <p:nvGrpSpPr>
            <p:cNvPr id="59" name="Group 59"/>
            <p:cNvGrpSpPr/>
            <p:nvPr/>
          </p:nvGrpSpPr>
          <p:grpSpPr>
            <a:xfrm>
              <a:off x="379809" y="2465784"/>
              <a:ext cx="107156" cy="107157"/>
              <a:chOff x="379809" y="2465784"/>
              <a:chExt cx="107156" cy="107157"/>
            </a:xfrm>
          </p:grpSpPr>
          <p:sp>
            <p:nvSpPr>
              <p:cNvPr id="56" name="Freeform 56"/>
              <p:cNvSpPr/>
              <p:nvPr/>
            </p:nvSpPr>
            <p:spPr>
              <a:xfrm>
                <a:off x="379809" y="2465784"/>
                <a:ext cx="107156" cy="53578"/>
              </a:xfrm>
              <a:custGeom>
                <a:avLst/>
                <a:gdLst/>
                <a:ahLst/>
                <a:cxnLst/>
                <a:rect l="l" t="t" r="r" b="b"/>
                <a:pathLst>
                  <a:path w="107156" h="53578">
                    <a:moveTo>
                      <a:pt x="11906" y="53578"/>
                    </a:moveTo>
                    <a:lnTo>
                      <a:pt x="0" y="53578"/>
                    </a:lnTo>
                    <a:lnTo>
                      <a:pt x="53578" y="0"/>
                    </a:lnTo>
                    <a:lnTo>
                      <a:pt x="107156" y="53578"/>
                    </a:lnTo>
                    <a:lnTo>
                      <a:pt x="95250" y="53578"/>
                    </a:lnTo>
                  </a:path>
                </a:pathLst>
              </a:custGeom>
              <a:noFill/>
              <a:ln w="11906">
                <a:solidFill>
                  <a:srgbClr val="E04C2E"/>
                </a:solidFill>
              </a:ln>
            </p:spPr>
          </p:sp>
          <p:sp>
            <p:nvSpPr>
              <p:cNvPr id="57" name="Freeform 57"/>
              <p:cNvSpPr/>
              <p:nvPr/>
            </p:nvSpPr>
            <p:spPr>
              <a:xfrm>
                <a:off x="391716" y="2519362"/>
                <a:ext cx="83344" cy="53578"/>
              </a:xfrm>
              <a:custGeom>
                <a:avLst/>
                <a:gdLst/>
                <a:ahLst/>
                <a:cxnLst/>
                <a:rect l="l" t="t" r="r" b="b"/>
                <a:pathLst>
                  <a:path w="83344" h="53578">
                    <a:moveTo>
                      <a:pt x="0" y="0"/>
                    </a:moveTo>
                    <a:lnTo>
                      <a:pt x="0" y="41672"/>
                    </a:lnTo>
                    <a:cubicBezTo>
                      <a:pt x="0" y="48248"/>
                      <a:pt x="5331" y="53578"/>
                      <a:pt x="11906" y="53578"/>
                    </a:cubicBezTo>
                    <a:lnTo>
                      <a:pt x="71438" y="53578"/>
                    </a:lnTo>
                    <a:cubicBezTo>
                      <a:pt x="78013" y="53578"/>
                      <a:pt x="83344" y="48248"/>
                      <a:pt x="83344" y="41672"/>
                    </a:cubicBezTo>
                    <a:lnTo>
                      <a:pt x="83344" y="0"/>
                    </a:lnTo>
                  </a:path>
                </a:pathLst>
              </a:custGeom>
              <a:noFill/>
              <a:ln w="11906">
                <a:solidFill>
                  <a:srgbClr val="E04C2E"/>
                </a:solidFill>
              </a:ln>
            </p:spPr>
          </p:sp>
          <p:sp>
            <p:nvSpPr>
              <p:cNvPr id="58" name="Freeform 58"/>
              <p:cNvSpPr/>
              <p:nvPr/>
            </p:nvSpPr>
            <p:spPr>
              <a:xfrm>
                <a:off x="415528" y="2525316"/>
                <a:ext cx="35719" cy="47625"/>
              </a:xfrm>
              <a:custGeom>
                <a:avLst/>
                <a:gdLst/>
                <a:ahLst/>
                <a:cxnLst/>
                <a:rect l="l" t="t" r="r" b="b"/>
                <a:pathLst>
                  <a:path w="35719" h="47625">
                    <a:moveTo>
                      <a:pt x="0" y="47625"/>
                    </a:moveTo>
                    <a:lnTo>
                      <a:pt x="0" y="11906"/>
                    </a:lnTo>
                    <a:cubicBezTo>
                      <a:pt x="0" y="5331"/>
                      <a:pt x="5331" y="0"/>
                      <a:pt x="11906" y="0"/>
                    </a:cubicBezTo>
                    <a:lnTo>
                      <a:pt x="23812" y="0"/>
                    </a:lnTo>
                    <a:cubicBezTo>
                      <a:pt x="30388" y="0"/>
                      <a:pt x="35719" y="5331"/>
                      <a:pt x="35719" y="11906"/>
                    </a:cubicBezTo>
                    <a:lnTo>
                      <a:pt x="35719" y="47625"/>
                    </a:lnTo>
                  </a:path>
                </a:pathLst>
              </a:custGeom>
              <a:noFill/>
              <a:ln w="11906">
                <a:solidFill>
                  <a:srgbClr val="E04C2E"/>
                </a:solidFill>
              </a:ln>
            </p:spPr>
          </p:sp>
        </p:grpSp>
        <p:sp>
          <p:nvSpPr>
            <p:cNvPr id="60" name="TextBox 60"/>
            <p:cNvSpPr txBox="1"/>
            <p:nvPr/>
          </p:nvSpPr>
          <p:spPr>
            <a:xfrm>
              <a:off x="566738" y="2477214"/>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基础设施</a:t>
              </a:r>
            </a:p>
          </p:txBody>
        </p:sp>
        <p:sp>
          <p:nvSpPr>
            <p:cNvPr id="61" name="Rectangle 61"/>
            <p:cNvSpPr/>
            <p:nvPr/>
          </p:nvSpPr>
          <p:spPr>
            <a:xfrm>
              <a:off x="1428750" y="2447925"/>
              <a:ext cx="1950720" cy="152400"/>
            </a:xfrm>
            <a:prstGeom prst="roundRect">
              <a:avLst>
                <a:gd name="adj" fmla="val 12500"/>
              </a:avLst>
            </a:prstGeom>
            <a:solidFill>
              <a:srgbClr val="9B3824"/>
            </a:solidFill>
            <a:ln>
              <a:noFill/>
            </a:ln>
          </p:spPr>
        </p:sp>
        <p:sp>
          <p:nvSpPr>
            <p:cNvPr id="62" name="TextBox 62"/>
            <p:cNvSpPr txBox="1"/>
            <p:nvPr/>
          </p:nvSpPr>
          <p:spPr>
            <a:xfrm>
              <a:off x="3433762" y="2482691"/>
              <a:ext cx="535357" cy="161925"/>
            </a:xfrm>
            <a:prstGeom prst="rect">
              <a:avLst/>
            </a:prstGeom>
            <a:noFill/>
            <a:ln>
              <a:noFill/>
            </a:ln>
          </p:spPr>
          <p:txBody>
            <a:bodyPr wrap="none" lIns="0" tIns="0" rIns="0" bIns="0" anchor="t" anchorCtr="0">
              <a:spAutoFit/>
            </a:bodyPr>
            <a:lstStyle/>
            <a:p>
              <a:pPr algn="l"/>
              <a:r>
                <a:rPr lang="zh-CN" sz="820" b="1" dirty="0">
                  <a:solidFill>
                    <a:srgbClr val="9B3824"/>
                  </a:solidFill>
                  <a:latin typeface="+mn-lt"/>
                  <a:ea typeface="+mn-ea"/>
                  <a:cs typeface="+mn-cs"/>
                </a:rPr>
                <a:t xml:space="preserve">54.6 </a:t>
              </a:r>
              <a:r>
                <a:rPr lang="zh-CN" sz="640" dirty="0">
                  <a:solidFill>
                    <a:srgbClr val="987F7A"/>
                  </a:solidFill>
                  <a:latin typeface="+mn-lt"/>
                  <a:ea typeface="+mn-ea"/>
                  <a:cs typeface="+mn-cs"/>
                </a:rPr>
                <a:t>亿元</a:t>
              </a:r>
              <a:r>
                <a:rPr lang="zh-CN" sz="820" b="1" dirty="0">
                  <a:solidFill>
                    <a:srgbClr val="9B3824"/>
                  </a:solidFill>
                  <a:latin typeface="+mn-lt"/>
                  <a:ea typeface="+mn-ea"/>
                  <a:cs typeface="+mn-cs"/>
                </a:rPr>
                <a:t>​</a:t>
              </a:r>
            </a:p>
          </p:txBody>
        </p:sp>
        <p:grpSp>
          <p:nvGrpSpPr>
            <p:cNvPr id="67" name="Group 67"/>
            <p:cNvGrpSpPr/>
            <p:nvPr/>
          </p:nvGrpSpPr>
          <p:grpSpPr>
            <a:xfrm>
              <a:off x="379809" y="2780109"/>
              <a:ext cx="107156" cy="101204"/>
              <a:chOff x="379809" y="2780109"/>
              <a:chExt cx="107156" cy="101204"/>
            </a:xfrm>
          </p:grpSpPr>
          <p:sp>
            <p:nvSpPr>
              <p:cNvPr id="63" name="Freeform 63"/>
              <p:cNvSpPr/>
              <p:nvPr/>
            </p:nvSpPr>
            <p:spPr>
              <a:xfrm>
                <a:off x="379809" y="2803922"/>
                <a:ext cx="107156" cy="77391"/>
              </a:xfrm>
              <a:custGeom>
                <a:avLst/>
                <a:gdLst/>
                <a:ahLst/>
                <a:cxnLst/>
                <a:rect l="l" t="t" r="r" b="b"/>
                <a:pathLst>
                  <a:path w="107156" h="77391">
                    <a:moveTo>
                      <a:pt x="0" y="11906"/>
                    </a:moveTo>
                    <a:cubicBezTo>
                      <a:pt x="0" y="5331"/>
                      <a:pt x="5331" y="0"/>
                      <a:pt x="11906" y="0"/>
                    </a:cubicBezTo>
                    <a:lnTo>
                      <a:pt x="95250" y="0"/>
                    </a:lnTo>
                    <a:cubicBezTo>
                      <a:pt x="101826" y="0"/>
                      <a:pt x="107156" y="5331"/>
                      <a:pt x="107156" y="11906"/>
                    </a:cubicBezTo>
                    <a:lnTo>
                      <a:pt x="107156" y="65484"/>
                    </a:lnTo>
                    <a:cubicBezTo>
                      <a:pt x="107156" y="72060"/>
                      <a:pt x="101826" y="77391"/>
                      <a:pt x="95250" y="77391"/>
                    </a:cubicBezTo>
                    <a:lnTo>
                      <a:pt x="11906" y="77391"/>
                    </a:lnTo>
                    <a:cubicBezTo>
                      <a:pt x="5331" y="77391"/>
                      <a:pt x="0" y="72060"/>
                      <a:pt x="0" y="65484"/>
                    </a:cubicBezTo>
                    <a:lnTo>
                      <a:pt x="0" y="11906"/>
                    </a:lnTo>
                  </a:path>
                </a:pathLst>
              </a:custGeom>
              <a:noFill/>
              <a:ln w="11906">
                <a:solidFill>
                  <a:srgbClr val="E04C2E"/>
                </a:solidFill>
              </a:ln>
            </p:spPr>
          </p:sp>
          <p:sp>
            <p:nvSpPr>
              <p:cNvPr id="64" name="Freeform 64"/>
              <p:cNvSpPr/>
              <p:nvPr/>
            </p:nvSpPr>
            <p:spPr>
              <a:xfrm>
                <a:off x="409575" y="2780109"/>
                <a:ext cx="47625" cy="23812"/>
              </a:xfrm>
              <a:custGeom>
                <a:avLst/>
                <a:gdLst/>
                <a:ahLst/>
                <a:cxnLst/>
                <a:rect l="l" t="t" r="r" b="b"/>
                <a:pathLst>
                  <a:path w="47625" h="23812">
                    <a:moveTo>
                      <a:pt x="0" y="23812"/>
                    </a:moveTo>
                    <a:lnTo>
                      <a:pt x="0" y="11906"/>
                    </a:lnTo>
                    <a:cubicBezTo>
                      <a:pt x="0" y="5331"/>
                      <a:pt x="5331" y="0"/>
                      <a:pt x="11906" y="0"/>
                    </a:cubicBezTo>
                    <a:lnTo>
                      <a:pt x="35719" y="0"/>
                    </a:lnTo>
                    <a:cubicBezTo>
                      <a:pt x="42294" y="0"/>
                      <a:pt x="47625" y="5331"/>
                      <a:pt x="47625" y="11906"/>
                    </a:cubicBezTo>
                    <a:lnTo>
                      <a:pt x="47625" y="23812"/>
                    </a:lnTo>
                  </a:path>
                </a:pathLst>
              </a:custGeom>
              <a:noFill/>
              <a:ln w="11906">
                <a:solidFill>
                  <a:srgbClr val="E04C2E"/>
                </a:solidFill>
              </a:ln>
            </p:spPr>
          </p:sp>
          <p:sp>
            <p:nvSpPr>
              <p:cNvPr id="65" name="Freeform 65"/>
              <p:cNvSpPr/>
              <p:nvPr/>
            </p:nvSpPr>
            <p:spPr>
              <a:xfrm>
                <a:off x="433388" y="2833688"/>
                <a:ext cx="9525" cy="9525"/>
              </a:xfrm>
              <a:custGeom>
                <a:avLst/>
                <a:gdLst/>
                <a:ahLst/>
                <a:cxnLst/>
                <a:rect l="l" t="t" r="r" b="b"/>
                <a:pathLst>
                  <a:path w="9525" h="9525">
                    <a:moveTo>
                      <a:pt x="0" y="0"/>
                    </a:moveTo>
                    <a:lnTo>
                      <a:pt x="0" y="60"/>
                    </a:lnTo>
                  </a:path>
                </a:pathLst>
              </a:custGeom>
              <a:noFill/>
              <a:ln w="11906">
                <a:solidFill>
                  <a:srgbClr val="E04C2E"/>
                </a:solidFill>
              </a:ln>
            </p:spPr>
          </p:sp>
          <p:sp>
            <p:nvSpPr>
              <p:cNvPr id="66" name="Freeform 66"/>
              <p:cNvSpPr/>
              <p:nvPr/>
            </p:nvSpPr>
            <p:spPr>
              <a:xfrm>
                <a:off x="379809" y="2839641"/>
                <a:ext cx="107156" cy="16982"/>
              </a:xfrm>
              <a:custGeom>
                <a:avLst/>
                <a:gdLst/>
                <a:ahLst/>
                <a:cxnLst/>
                <a:rect l="l" t="t" r="r" b="b"/>
                <a:pathLst>
                  <a:path w="107156" h="16982">
                    <a:moveTo>
                      <a:pt x="0" y="0"/>
                    </a:moveTo>
                    <a:cubicBezTo>
                      <a:pt x="33700" y="16982"/>
                      <a:pt x="73456" y="16982"/>
                      <a:pt x="107156" y="0"/>
                    </a:cubicBezTo>
                  </a:path>
                </a:pathLst>
              </a:custGeom>
              <a:noFill/>
              <a:ln w="11906">
                <a:solidFill>
                  <a:srgbClr val="E04C2E"/>
                </a:solidFill>
              </a:ln>
            </p:spPr>
          </p:sp>
        </p:grpSp>
        <p:sp>
          <p:nvSpPr>
            <p:cNvPr id="68" name="TextBox 68"/>
            <p:cNvSpPr txBox="1"/>
            <p:nvPr/>
          </p:nvSpPr>
          <p:spPr>
            <a:xfrm>
              <a:off x="566738" y="279153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现代服务</a:t>
              </a:r>
            </a:p>
          </p:txBody>
        </p:sp>
        <p:sp>
          <p:nvSpPr>
            <p:cNvPr id="69" name="Rectangle 69"/>
            <p:cNvSpPr/>
            <p:nvPr/>
          </p:nvSpPr>
          <p:spPr>
            <a:xfrm>
              <a:off x="1428750" y="2762250"/>
              <a:ext cx="1718310" cy="152400"/>
            </a:xfrm>
            <a:prstGeom prst="roundRect">
              <a:avLst>
                <a:gd name="adj" fmla="val 12500"/>
              </a:avLst>
            </a:prstGeom>
            <a:solidFill>
              <a:srgbClr val="E04C2E"/>
            </a:solidFill>
            <a:ln>
              <a:noFill/>
            </a:ln>
          </p:spPr>
        </p:sp>
        <p:sp>
          <p:nvSpPr>
            <p:cNvPr id="70" name="TextBox 70"/>
            <p:cNvSpPr txBox="1"/>
            <p:nvPr/>
          </p:nvSpPr>
          <p:spPr>
            <a:xfrm>
              <a:off x="3205162" y="2797016"/>
              <a:ext cx="535357" cy="161925"/>
            </a:xfrm>
            <a:prstGeom prst="rect">
              <a:avLst/>
            </a:prstGeom>
            <a:noFill/>
            <a:ln>
              <a:noFill/>
            </a:ln>
          </p:spPr>
          <p:txBody>
            <a:bodyPr wrap="none" lIns="0" tIns="0" rIns="0" bIns="0" anchor="t" anchorCtr="0">
              <a:spAutoFit/>
            </a:bodyPr>
            <a:lstStyle/>
            <a:p>
              <a:pPr algn="l"/>
              <a:r>
                <a:rPr lang="zh-CN" sz="820" b="1" dirty="0">
                  <a:solidFill>
                    <a:srgbClr val="E04C2E"/>
                  </a:solidFill>
                  <a:latin typeface="+mn-lt"/>
                  <a:ea typeface="+mn-ea"/>
                  <a:cs typeface="+mn-cs"/>
                </a:rPr>
                <a:t xml:space="preserve">48.1 </a:t>
              </a:r>
              <a:r>
                <a:rPr lang="zh-CN" sz="640" dirty="0">
                  <a:solidFill>
                    <a:srgbClr val="987F7A"/>
                  </a:solidFill>
                  <a:latin typeface="+mn-lt"/>
                  <a:ea typeface="+mn-ea"/>
                  <a:cs typeface="+mn-cs"/>
                </a:rPr>
                <a:t>亿元</a:t>
              </a:r>
              <a:r>
                <a:rPr lang="zh-CN" sz="820" b="1" dirty="0">
                  <a:solidFill>
                    <a:srgbClr val="E04C2E"/>
                  </a:solidFill>
                  <a:latin typeface="+mn-lt"/>
                  <a:ea typeface="+mn-ea"/>
                  <a:cs typeface="+mn-cs"/>
                </a:rPr>
                <a:t>​</a:t>
              </a:r>
            </a:p>
          </p:txBody>
        </p:sp>
        <p:grpSp>
          <p:nvGrpSpPr>
            <p:cNvPr id="74" name="Group 74"/>
            <p:cNvGrpSpPr/>
            <p:nvPr/>
          </p:nvGrpSpPr>
          <p:grpSpPr>
            <a:xfrm>
              <a:off x="383882" y="3100388"/>
              <a:ext cx="97130" cy="97130"/>
              <a:chOff x="383882" y="3100388"/>
              <a:chExt cx="97130" cy="97130"/>
            </a:xfrm>
          </p:grpSpPr>
          <p:sp>
            <p:nvSpPr>
              <p:cNvPr id="71" name="Freeform 71"/>
              <p:cNvSpPr/>
              <p:nvPr/>
            </p:nvSpPr>
            <p:spPr>
              <a:xfrm>
                <a:off x="385762" y="3100388"/>
                <a:ext cx="95250" cy="95250"/>
              </a:xfrm>
              <a:custGeom>
                <a:avLst/>
                <a:gdLst/>
                <a:ahLst/>
                <a:cxnLst/>
                <a:rect l="l" t="t" r="r" b="b"/>
                <a:pathLst>
                  <a:path w="95250" h="95250">
                    <a:moveTo>
                      <a:pt x="0" y="53578"/>
                    </a:moveTo>
                    <a:cubicBezTo>
                      <a:pt x="21849" y="56175"/>
                      <a:pt x="39075" y="73401"/>
                      <a:pt x="41672" y="95250"/>
                    </a:cubicBezTo>
                    <a:cubicBezTo>
                      <a:pt x="52370" y="89082"/>
                      <a:pt x="59124" y="77826"/>
                      <a:pt x="59531" y="65484"/>
                    </a:cubicBezTo>
                    <a:cubicBezTo>
                      <a:pt x="79973" y="58293"/>
                      <a:pt x="94070" y="39497"/>
                      <a:pt x="95250" y="17859"/>
                    </a:cubicBezTo>
                    <a:cubicBezTo>
                      <a:pt x="95250" y="7996"/>
                      <a:pt x="87254" y="0"/>
                      <a:pt x="77391" y="0"/>
                    </a:cubicBezTo>
                    <a:cubicBezTo>
                      <a:pt x="55753" y="1180"/>
                      <a:pt x="36957" y="15277"/>
                      <a:pt x="29766" y="35719"/>
                    </a:cubicBezTo>
                    <a:cubicBezTo>
                      <a:pt x="17424" y="36126"/>
                      <a:pt x="6168" y="42880"/>
                      <a:pt x="0" y="53578"/>
                    </a:cubicBezTo>
                  </a:path>
                </a:pathLst>
              </a:custGeom>
              <a:noFill/>
              <a:ln w="11906">
                <a:solidFill>
                  <a:srgbClr val="E04C2E"/>
                </a:solidFill>
              </a:ln>
            </p:spPr>
          </p:sp>
          <p:sp>
            <p:nvSpPr>
              <p:cNvPr id="72" name="Freeform 72"/>
              <p:cNvSpPr/>
              <p:nvPr/>
            </p:nvSpPr>
            <p:spPr>
              <a:xfrm>
                <a:off x="383882" y="3159919"/>
                <a:ext cx="37599" cy="37599"/>
              </a:xfrm>
              <a:custGeom>
                <a:avLst/>
                <a:gdLst/>
                <a:ahLst/>
                <a:cxnLst/>
                <a:rect l="l" t="t" r="r" b="b"/>
                <a:pathLst>
                  <a:path w="37599" h="37599">
                    <a:moveTo>
                      <a:pt x="19740" y="0"/>
                    </a:moveTo>
                    <a:cubicBezTo>
                      <a:pt x="7065" y="7155"/>
                      <a:pt x="0" y="21286"/>
                      <a:pt x="1880" y="35719"/>
                    </a:cubicBezTo>
                    <a:cubicBezTo>
                      <a:pt x="16313" y="37599"/>
                      <a:pt x="30444" y="30534"/>
                      <a:pt x="37599" y="17859"/>
                    </a:cubicBezTo>
                  </a:path>
                </a:pathLst>
              </a:custGeom>
              <a:noFill/>
              <a:ln w="11906">
                <a:solidFill>
                  <a:srgbClr val="E04C2E"/>
                </a:solidFill>
              </a:ln>
            </p:spPr>
          </p:sp>
          <p:sp>
            <p:nvSpPr>
              <p:cNvPr id="73" name="Freeform 73"/>
              <p:cNvSpPr/>
              <p:nvPr/>
            </p:nvSpPr>
            <p:spPr>
              <a:xfrm>
                <a:off x="445294" y="3124200"/>
                <a:ext cx="11906" cy="11906"/>
              </a:xfrm>
              <a:custGeom>
                <a:avLst/>
                <a:gdLst/>
                <a:ahLst/>
                <a:cxnLst/>
                <a:rect l="l" t="t" r="r" b="b"/>
                <a:pathLst>
                  <a:path w="11906" h="11906">
                    <a:moveTo>
                      <a:pt x="0" y="5953"/>
                    </a:moveTo>
                    <a:cubicBezTo>
                      <a:pt x="0" y="9241"/>
                      <a:pt x="2665" y="11906"/>
                      <a:pt x="5953" y="11906"/>
                    </a:cubicBezTo>
                    <a:cubicBezTo>
                      <a:pt x="9241" y="11906"/>
                      <a:pt x="11906" y="9241"/>
                      <a:pt x="11906" y="5953"/>
                    </a:cubicBezTo>
                    <a:cubicBezTo>
                      <a:pt x="11906" y="2665"/>
                      <a:pt x="9241" y="0"/>
                      <a:pt x="5953" y="0"/>
                    </a:cubicBezTo>
                    <a:cubicBezTo>
                      <a:pt x="2665" y="0"/>
                      <a:pt x="0" y="2665"/>
                      <a:pt x="0" y="5953"/>
                    </a:cubicBezTo>
                  </a:path>
                </a:pathLst>
              </a:custGeom>
              <a:noFill/>
              <a:ln w="11906">
                <a:solidFill>
                  <a:srgbClr val="E04C2E"/>
                </a:solidFill>
              </a:ln>
            </p:spPr>
          </p:sp>
        </p:grpSp>
        <p:sp>
          <p:nvSpPr>
            <p:cNvPr id="75" name="TextBox 75"/>
            <p:cNvSpPr txBox="1"/>
            <p:nvPr/>
          </p:nvSpPr>
          <p:spPr>
            <a:xfrm>
              <a:off x="566738" y="3105864"/>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战略新兴</a:t>
              </a:r>
            </a:p>
          </p:txBody>
        </p:sp>
        <p:sp>
          <p:nvSpPr>
            <p:cNvPr id="76" name="Rectangle 76"/>
            <p:cNvSpPr/>
            <p:nvPr/>
          </p:nvSpPr>
          <p:spPr>
            <a:xfrm>
              <a:off x="1428750" y="3076575"/>
              <a:ext cx="1518285" cy="152400"/>
            </a:xfrm>
            <a:prstGeom prst="roundRect">
              <a:avLst>
                <a:gd name="adj" fmla="val 12500"/>
              </a:avLst>
            </a:prstGeom>
            <a:solidFill>
              <a:srgbClr val="E8654A"/>
            </a:solidFill>
            <a:ln>
              <a:noFill/>
            </a:ln>
          </p:spPr>
        </p:sp>
        <p:sp>
          <p:nvSpPr>
            <p:cNvPr id="77" name="TextBox 77"/>
            <p:cNvSpPr txBox="1"/>
            <p:nvPr/>
          </p:nvSpPr>
          <p:spPr>
            <a:xfrm>
              <a:off x="3005138" y="3111341"/>
              <a:ext cx="535357" cy="161925"/>
            </a:xfrm>
            <a:prstGeom prst="rect">
              <a:avLst/>
            </a:prstGeom>
            <a:noFill/>
            <a:ln>
              <a:noFill/>
            </a:ln>
          </p:spPr>
          <p:txBody>
            <a:bodyPr wrap="none" lIns="0" tIns="0" rIns="0" bIns="0" anchor="t" anchorCtr="0">
              <a:spAutoFit/>
            </a:bodyPr>
            <a:lstStyle/>
            <a:p>
              <a:pPr algn="l"/>
              <a:r>
                <a:rPr lang="zh-CN" sz="820" b="1" dirty="0">
                  <a:solidFill>
                    <a:srgbClr val="E8654A"/>
                  </a:solidFill>
                  <a:latin typeface="+mn-lt"/>
                  <a:ea typeface="+mn-ea"/>
                  <a:cs typeface="+mn-cs"/>
                </a:rPr>
                <a:t xml:space="preserve">42.5 </a:t>
              </a:r>
              <a:r>
                <a:rPr lang="zh-CN" sz="640" dirty="0">
                  <a:solidFill>
                    <a:srgbClr val="987F7A"/>
                  </a:solidFill>
                  <a:latin typeface="+mn-lt"/>
                  <a:ea typeface="+mn-ea"/>
                  <a:cs typeface="+mn-cs"/>
                </a:rPr>
                <a:t>亿元</a:t>
              </a:r>
              <a:r>
                <a:rPr lang="zh-CN" sz="820" b="1" dirty="0">
                  <a:solidFill>
                    <a:srgbClr val="E8654A"/>
                  </a:solidFill>
                  <a:latin typeface="+mn-lt"/>
                  <a:ea typeface="+mn-ea"/>
                  <a:cs typeface="+mn-cs"/>
                </a:rPr>
                <a:t>​</a:t>
              </a:r>
            </a:p>
          </p:txBody>
        </p:sp>
        <p:grpSp>
          <p:nvGrpSpPr>
            <p:cNvPr id="84" name="Group 84"/>
            <p:cNvGrpSpPr/>
            <p:nvPr/>
          </p:nvGrpSpPr>
          <p:grpSpPr>
            <a:xfrm>
              <a:off x="379809" y="3408759"/>
              <a:ext cx="107156" cy="107156"/>
              <a:chOff x="379809" y="3408759"/>
              <a:chExt cx="107156" cy="107156"/>
            </a:xfrm>
          </p:grpSpPr>
          <p:sp>
            <p:nvSpPr>
              <p:cNvPr id="78" name="Freeform 78"/>
              <p:cNvSpPr/>
              <p:nvPr/>
            </p:nvSpPr>
            <p:spPr>
              <a:xfrm>
                <a:off x="421481" y="345638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E04C2E"/>
                </a:solidFill>
              </a:ln>
            </p:spPr>
          </p:sp>
          <p:sp>
            <p:nvSpPr>
              <p:cNvPr id="79" name="Freeform 79"/>
              <p:cNvSpPr/>
              <p:nvPr/>
            </p:nvSpPr>
            <p:spPr>
              <a:xfrm>
                <a:off x="409575" y="3498056"/>
                <a:ext cx="47625" cy="17859"/>
              </a:xfrm>
              <a:custGeom>
                <a:avLst/>
                <a:gdLst/>
                <a:ahLst/>
                <a:cxnLst/>
                <a:rect l="l" t="t" r="r" b="b"/>
                <a:pathLst>
                  <a:path w="47625" h="17859">
                    <a:moveTo>
                      <a:pt x="0" y="17859"/>
                    </a:moveTo>
                    <a:lnTo>
                      <a:pt x="0" y="11906"/>
                    </a:lnTo>
                    <a:cubicBezTo>
                      <a:pt x="0" y="5331"/>
                      <a:pt x="5331" y="0"/>
                      <a:pt x="11906" y="0"/>
                    </a:cubicBezTo>
                    <a:lnTo>
                      <a:pt x="35719" y="0"/>
                    </a:lnTo>
                    <a:cubicBezTo>
                      <a:pt x="42294" y="0"/>
                      <a:pt x="47625" y="5331"/>
                      <a:pt x="47625" y="11906"/>
                    </a:cubicBezTo>
                    <a:lnTo>
                      <a:pt x="47625" y="17859"/>
                    </a:lnTo>
                  </a:path>
                </a:pathLst>
              </a:custGeom>
              <a:noFill/>
              <a:ln w="11906">
                <a:solidFill>
                  <a:srgbClr val="E04C2E"/>
                </a:solidFill>
              </a:ln>
            </p:spPr>
          </p:sp>
          <p:sp>
            <p:nvSpPr>
              <p:cNvPr id="80" name="Freeform 80"/>
              <p:cNvSpPr/>
              <p:nvPr/>
            </p:nvSpPr>
            <p:spPr>
              <a:xfrm>
                <a:off x="451247" y="340875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E04C2E"/>
                </a:solidFill>
              </a:ln>
            </p:spPr>
          </p:sp>
          <p:sp>
            <p:nvSpPr>
              <p:cNvPr id="81" name="Freeform 81"/>
              <p:cNvSpPr/>
              <p:nvPr/>
            </p:nvSpPr>
            <p:spPr>
              <a:xfrm>
                <a:off x="463153" y="3450431"/>
                <a:ext cx="23812" cy="17859"/>
              </a:xfrm>
              <a:custGeom>
                <a:avLst/>
                <a:gdLst/>
                <a:ahLst/>
                <a:cxnLst/>
                <a:rect l="l" t="t" r="r" b="b"/>
                <a:pathLst>
                  <a:path w="23812" h="17859">
                    <a:moveTo>
                      <a:pt x="0" y="0"/>
                    </a:moveTo>
                    <a:lnTo>
                      <a:pt x="11906" y="0"/>
                    </a:lnTo>
                    <a:cubicBezTo>
                      <a:pt x="18482" y="0"/>
                      <a:pt x="23812" y="5331"/>
                      <a:pt x="23812" y="11906"/>
                    </a:cubicBezTo>
                    <a:lnTo>
                      <a:pt x="23812" y="17859"/>
                    </a:lnTo>
                  </a:path>
                </a:pathLst>
              </a:custGeom>
              <a:noFill/>
              <a:ln w="11906">
                <a:solidFill>
                  <a:srgbClr val="E04C2E"/>
                </a:solidFill>
              </a:ln>
            </p:spPr>
          </p:sp>
          <p:sp>
            <p:nvSpPr>
              <p:cNvPr id="82" name="Freeform 82"/>
              <p:cNvSpPr/>
              <p:nvPr/>
            </p:nvSpPr>
            <p:spPr>
              <a:xfrm>
                <a:off x="391716" y="340875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E04C2E"/>
                </a:solidFill>
              </a:ln>
            </p:spPr>
          </p:sp>
          <p:sp>
            <p:nvSpPr>
              <p:cNvPr id="83" name="Freeform 83"/>
              <p:cNvSpPr/>
              <p:nvPr/>
            </p:nvSpPr>
            <p:spPr>
              <a:xfrm>
                <a:off x="379809" y="3450431"/>
                <a:ext cx="23812" cy="17859"/>
              </a:xfrm>
              <a:custGeom>
                <a:avLst/>
                <a:gdLst/>
                <a:ahLst/>
                <a:cxnLst/>
                <a:rect l="l" t="t" r="r" b="b"/>
                <a:pathLst>
                  <a:path w="23812" h="17859">
                    <a:moveTo>
                      <a:pt x="0" y="17859"/>
                    </a:moveTo>
                    <a:lnTo>
                      <a:pt x="0" y="11906"/>
                    </a:lnTo>
                    <a:cubicBezTo>
                      <a:pt x="0" y="5331"/>
                      <a:pt x="5331" y="0"/>
                      <a:pt x="11906" y="0"/>
                    </a:cubicBezTo>
                    <a:lnTo>
                      <a:pt x="23812" y="0"/>
                    </a:lnTo>
                  </a:path>
                </a:pathLst>
              </a:custGeom>
              <a:noFill/>
              <a:ln w="11906">
                <a:solidFill>
                  <a:srgbClr val="E04C2E"/>
                </a:solidFill>
              </a:ln>
            </p:spPr>
          </p:sp>
        </p:grpSp>
        <p:sp>
          <p:nvSpPr>
            <p:cNvPr id="85" name="TextBox 85"/>
            <p:cNvSpPr txBox="1"/>
            <p:nvPr/>
          </p:nvSpPr>
          <p:spPr>
            <a:xfrm>
              <a:off x="566738" y="342018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普惠小微</a:t>
              </a:r>
            </a:p>
          </p:txBody>
        </p:sp>
        <p:sp>
          <p:nvSpPr>
            <p:cNvPr id="86" name="Rectangle 86"/>
            <p:cNvSpPr/>
            <p:nvPr/>
          </p:nvSpPr>
          <p:spPr>
            <a:xfrm>
              <a:off x="1428750" y="3390900"/>
              <a:ext cx="1382078" cy="152400"/>
            </a:xfrm>
            <a:prstGeom prst="roundRect">
              <a:avLst>
                <a:gd name="adj" fmla="val 12500"/>
              </a:avLst>
            </a:prstGeom>
            <a:solidFill>
              <a:srgbClr val="EE8E7A"/>
            </a:solidFill>
            <a:ln>
              <a:noFill/>
            </a:ln>
          </p:spPr>
        </p:sp>
        <p:sp>
          <p:nvSpPr>
            <p:cNvPr id="87" name="TextBox 87"/>
            <p:cNvSpPr txBox="1"/>
            <p:nvPr/>
          </p:nvSpPr>
          <p:spPr>
            <a:xfrm>
              <a:off x="2871788" y="3425666"/>
              <a:ext cx="535357" cy="161925"/>
            </a:xfrm>
            <a:prstGeom prst="rect">
              <a:avLst/>
            </a:prstGeom>
            <a:noFill/>
            <a:ln>
              <a:noFill/>
            </a:ln>
          </p:spPr>
          <p:txBody>
            <a:bodyPr wrap="none" lIns="0" tIns="0" rIns="0" bIns="0" anchor="t" anchorCtr="0">
              <a:spAutoFit/>
            </a:bodyPr>
            <a:lstStyle/>
            <a:p>
              <a:pPr algn="l"/>
              <a:r>
                <a:rPr lang="zh-CN" sz="820" b="1" dirty="0">
                  <a:solidFill>
                    <a:srgbClr val="EE8E7A"/>
                  </a:solidFill>
                  <a:latin typeface="+mn-lt"/>
                  <a:ea typeface="+mn-ea"/>
                  <a:cs typeface="+mn-cs"/>
                </a:rPr>
                <a:t xml:space="preserve">38.7 </a:t>
              </a:r>
              <a:r>
                <a:rPr lang="zh-CN" sz="640" dirty="0">
                  <a:solidFill>
                    <a:srgbClr val="987F7A"/>
                  </a:solidFill>
                  <a:latin typeface="+mn-lt"/>
                  <a:ea typeface="+mn-ea"/>
                  <a:cs typeface="+mn-cs"/>
                </a:rPr>
                <a:t>亿元</a:t>
              </a:r>
              <a:r>
                <a:rPr lang="zh-CN" sz="820" b="1" dirty="0">
                  <a:solidFill>
                    <a:srgbClr val="EE8E7A"/>
                  </a:solidFill>
                  <a:latin typeface="+mn-lt"/>
                  <a:ea typeface="+mn-ea"/>
                  <a:cs typeface="+mn-cs"/>
                </a:rPr>
                <a:t>​</a:t>
              </a:r>
            </a:p>
          </p:txBody>
        </p:sp>
        <p:grpSp>
          <p:nvGrpSpPr>
            <p:cNvPr id="93" name="Group 93"/>
            <p:cNvGrpSpPr/>
            <p:nvPr/>
          </p:nvGrpSpPr>
          <p:grpSpPr>
            <a:xfrm>
              <a:off x="379809" y="3723084"/>
              <a:ext cx="107156" cy="107156"/>
              <a:chOff x="379809" y="3723084"/>
              <a:chExt cx="107156" cy="107156"/>
            </a:xfrm>
          </p:grpSpPr>
          <p:sp>
            <p:nvSpPr>
              <p:cNvPr id="88" name="Freeform 88"/>
              <p:cNvSpPr/>
              <p:nvPr/>
            </p:nvSpPr>
            <p:spPr>
              <a:xfrm>
                <a:off x="421481" y="372308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E04C2E"/>
                </a:solidFill>
              </a:ln>
            </p:spPr>
          </p:sp>
          <p:sp>
            <p:nvSpPr>
              <p:cNvPr id="89" name="Freeform 89"/>
              <p:cNvSpPr/>
              <p:nvPr/>
            </p:nvSpPr>
            <p:spPr>
              <a:xfrm>
                <a:off x="379809" y="3806428"/>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E04C2E"/>
                </a:solidFill>
              </a:ln>
            </p:spPr>
          </p:sp>
          <p:sp>
            <p:nvSpPr>
              <p:cNvPr id="90" name="Freeform 90"/>
              <p:cNvSpPr/>
              <p:nvPr/>
            </p:nvSpPr>
            <p:spPr>
              <a:xfrm>
                <a:off x="463153" y="3806428"/>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E04C2E"/>
                </a:solidFill>
              </a:ln>
            </p:spPr>
          </p:sp>
          <p:sp>
            <p:nvSpPr>
              <p:cNvPr id="91" name="Freeform 91"/>
              <p:cNvSpPr/>
              <p:nvPr/>
            </p:nvSpPr>
            <p:spPr>
              <a:xfrm>
                <a:off x="400645" y="3782616"/>
                <a:ext cx="65484" cy="26789"/>
              </a:xfrm>
              <a:custGeom>
                <a:avLst/>
                <a:gdLst/>
                <a:ahLst/>
                <a:cxnLst/>
                <a:rect l="l" t="t" r="r" b="b"/>
                <a:pathLst>
                  <a:path w="65484" h="26789">
                    <a:moveTo>
                      <a:pt x="0" y="26789"/>
                    </a:moveTo>
                    <a:lnTo>
                      <a:pt x="32742" y="0"/>
                    </a:lnTo>
                    <a:lnTo>
                      <a:pt x="65484" y="26789"/>
                    </a:lnTo>
                  </a:path>
                </a:pathLst>
              </a:custGeom>
              <a:noFill/>
              <a:ln w="11906">
                <a:solidFill>
                  <a:srgbClr val="E04C2E"/>
                </a:solidFill>
              </a:ln>
            </p:spPr>
          </p:sp>
          <p:sp>
            <p:nvSpPr>
              <p:cNvPr id="92" name="Freeform 92"/>
              <p:cNvSpPr/>
              <p:nvPr/>
            </p:nvSpPr>
            <p:spPr>
              <a:xfrm>
                <a:off x="433388" y="3746897"/>
                <a:ext cx="9525" cy="35719"/>
              </a:xfrm>
              <a:custGeom>
                <a:avLst/>
                <a:gdLst/>
                <a:ahLst/>
                <a:cxnLst/>
                <a:rect l="l" t="t" r="r" b="b"/>
                <a:pathLst>
                  <a:path w="9525" h="35719">
                    <a:moveTo>
                      <a:pt x="0" y="0"/>
                    </a:moveTo>
                    <a:lnTo>
                      <a:pt x="0" y="35719"/>
                    </a:lnTo>
                  </a:path>
                </a:pathLst>
              </a:custGeom>
              <a:noFill/>
              <a:ln w="11906">
                <a:solidFill>
                  <a:srgbClr val="E04C2E"/>
                </a:solidFill>
              </a:ln>
            </p:spPr>
          </p:sp>
        </p:grpSp>
        <p:sp>
          <p:nvSpPr>
            <p:cNvPr id="94" name="TextBox 94"/>
            <p:cNvSpPr txBox="1"/>
            <p:nvPr/>
          </p:nvSpPr>
          <p:spPr>
            <a:xfrm>
              <a:off x="566738" y="3734514"/>
              <a:ext cx="222225"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其他</a:t>
              </a:r>
            </a:p>
          </p:txBody>
        </p:sp>
        <p:sp>
          <p:nvSpPr>
            <p:cNvPr id="95" name="Rectangle 95"/>
            <p:cNvSpPr/>
            <p:nvPr/>
          </p:nvSpPr>
          <p:spPr>
            <a:xfrm>
              <a:off x="1428750" y="3705225"/>
              <a:ext cx="1157288" cy="152400"/>
            </a:xfrm>
            <a:prstGeom prst="roundRect">
              <a:avLst>
                <a:gd name="adj" fmla="val 12500"/>
              </a:avLst>
            </a:prstGeom>
            <a:solidFill>
              <a:srgbClr val="EEB4A8"/>
            </a:solidFill>
            <a:ln>
              <a:noFill/>
            </a:ln>
          </p:spPr>
        </p:sp>
        <p:sp>
          <p:nvSpPr>
            <p:cNvPr id="96" name="TextBox 96"/>
            <p:cNvSpPr txBox="1"/>
            <p:nvPr/>
          </p:nvSpPr>
          <p:spPr>
            <a:xfrm>
              <a:off x="2643188" y="3739991"/>
              <a:ext cx="535357" cy="161925"/>
            </a:xfrm>
            <a:prstGeom prst="rect">
              <a:avLst/>
            </a:prstGeom>
            <a:noFill/>
            <a:ln>
              <a:noFill/>
            </a:ln>
          </p:spPr>
          <p:txBody>
            <a:bodyPr wrap="none" lIns="0" tIns="0" rIns="0" bIns="0" anchor="t" anchorCtr="0">
              <a:spAutoFit/>
            </a:bodyPr>
            <a:lstStyle/>
            <a:p>
              <a:pPr algn="l"/>
              <a:r>
                <a:rPr lang="zh-CN" sz="820" b="1" dirty="0">
                  <a:solidFill>
                    <a:srgbClr val="B8857A"/>
                  </a:solidFill>
                  <a:latin typeface="+mn-lt"/>
                  <a:ea typeface="+mn-ea"/>
                  <a:cs typeface="+mn-cs"/>
                </a:rPr>
                <a:t xml:space="preserve">32.4 </a:t>
              </a:r>
              <a:r>
                <a:rPr lang="zh-CN" sz="640" dirty="0">
                  <a:solidFill>
                    <a:srgbClr val="987F7A"/>
                  </a:solidFill>
                  <a:latin typeface="+mn-lt"/>
                  <a:ea typeface="+mn-ea"/>
                  <a:cs typeface="+mn-cs"/>
                </a:rPr>
                <a:t>亿元</a:t>
              </a:r>
              <a:r>
                <a:rPr lang="zh-CN" sz="820" b="1" dirty="0">
                  <a:solidFill>
                    <a:srgbClr val="B8857A"/>
                  </a:solidFill>
                  <a:latin typeface="+mn-lt"/>
                  <a:ea typeface="+mn-ea"/>
                  <a:cs typeface="+mn-cs"/>
                </a:rPr>
                <a:t>​</a:t>
              </a:r>
            </a:p>
          </p:txBody>
        </p:sp>
        <p:sp>
          <p:nvSpPr>
            <p:cNvPr id="97" name="Line 97"/>
            <p:cNvSpPr/>
            <p:nvPr/>
          </p:nvSpPr>
          <p:spPr>
            <a:xfrm>
              <a:off x="1428750" y="3924300"/>
              <a:ext cx="2857500" cy="9525"/>
            </a:xfrm>
            <a:custGeom>
              <a:avLst/>
              <a:gdLst/>
              <a:ahLst/>
              <a:cxnLst/>
              <a:rect l="l" t="t" r="r" b="b"/>
              <a:pathLst>
                <a:path w="2857500" h="9525">
                  <a:moveTo>
                    <a:pt x="0" y="0"/>
                  </a:moveTo>
                  <a:lnTo>
                    <a:pt x="2857500" y="0"/>
                  </a:lnTo>
                </a:path>
              </a:pathLst>
            </a:custGeom>
            <a:noFill/>
            <a:ln w="9525">
              <a:solidFill>
                <a:srgbClr val="C9D6E9"/>
              </a:solidFill>
            </a:ln>
          </p:spPr>
        </p:sp>
        <p:sp>
          <p:nvSpPr>
            <p:cNvPr id="98" name="TextBox 98"/>
            <p:cNvSpPr txBox="1"/>
            <p:nvPr/>
          </p:nvSpPr>
          <p:spPr>
            <a:xfrm>
              <a:off x="1376601" y="396978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0​</a:t>
              </a:r>
            </a:p>
          </p:txBody>
        </p:sp>
        <p:sp>
          <p:nvSpPr>
            <p:cNvPr id="99" name="TextBox 99"/>
            <p:cNvSpPr txBox="1"/>
            <p:nvPr/>
          </p:nvSpPr>
          <p:spPr>
            <a:xfrm>
              <a:off x="2067283" y="3969782"/>
              <a:ext cx="151684"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20​</a:t>
              </a:r>
            </a:p>
          </p:txBody>
        </p:sp>
        <p:sp>
          <p:nvSpPr>
            <p:cNvPr id="100" name="TextBox 100"/>
            <p:cNvSpPr txBox="1"/>
            <p:nvPr/>
          </p:nvSpPr>
          <p:spPr>
            <a:xfrm>
              <a:off x="2781658" y="3969782"/>
              <a:ext cx="151684"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40​</a:t>
              </a:r>
            </a:p>
          </p:txBody>
        </p:sp>
        <p:sp>
          <p:nvSpPr>
            <p:cNvPr id="101" name="TextBox 101"/>
            <p:cNvSpPr txBox="1"/>
            <p:nvPr/>
          </p:nvSpPr>
          <p:spPr>
            <a:xfrm>
              <a:off x="3496033" y="3969782"/>
              <a:ext cx="151684"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60​</a:t>
              </a:r>
            </a:p>
          </p:txBody>
        </p:sp>
        <p:sp>
          <p:nvSpPr>
            <p:cNvPr id="102" name="TextBox 102"/>
            <p:cNvSpPr txBox="1"/>
            <p:nvPr/>
          </p:nvSpPr>
          <p:spPr>
            <a:xfrm>
              <a:off x="4210408" y="3969782"/>
              <a:ext cx="151684"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80​</a:t>
              </a:r>
            </a:p>
          </p:txBody>
        </p:sp>
      </p:grpSp>
      <p:grpSp>
        <p:nvGrpSpPr>
          <p:cNvPr id="155" name="chart-waterfall"/>
          <p:cNvGrpSpPr/>
          <p:nvPr/>
        </p:nvGrpSpPr>
        <p:grpSpPr>
          <a:xfrm>
            <a:off x="5638800" y="1638300"/>
            <a:ext cx="6324600" cy="2492692"/>
            <a:chOff x="5638800" y="1638300"/>
            <a:chExt cx="6324600" cy="2492692"/>
          </a:xfrm>
        </p:grpSpPr>
        <p:sp>
          <p:nvSpPr>
            <p:cNvPr id="104" name="Rectangle 104"/>
            <p:cNvSpPr/>
            <p:nvPr/>
          </p:nvSpPr>
          <p:spPr>
            <a:xfrm>
              <a:off x="5638800" y="1638300"/>
              <a:ext cx="6324600" cy="2476500"/>
            </a:xfrm>
            <a:prstGeom prst="roundRect">
              <a:avLst>
                <a:gd name="adj" fmla="val 2308"/>
              </a:avLst>
            </a:prstGeom>
            <a:solidFill>
              <a:srgbClr val="FFFFFF"/>
            </a:solidFill>
            <a:ln w="9525">
              <a:solidFill>
                <a:srgbClr val="C9D6E9"/>
              </a:solidFill>
            </a:ln>
          </p:spPr>
        </p:sp>
        <p:sp>
          <p:nvSpPr>
            <p:cNvPr id="105" name="Rectangle 105"/>
            <p:cNvSpPr/>
            <p:nvPr/>
          </p:nvSpPr>
          <p:spPr>
            <a:xfrm>
              <a:off x="5638800" y="1638300"/>
              <a:ext cx="6324600" cy="247650"/>
            </a:xfrm>
            <a:prstGeom prst="roundRect">
              <a:avLst>
                <a:gd name="adj" fmla="val 23077"/>
              </a:avLst>
            </a:prstGeom>
            <a:solidFill>
              <a:srgbClr val="69281B"/>
            </a:solidFill>
            <a:ln>
              <a:noFill/>
            </a:ln>
          </p:spPr>
        </p:sp>
        <p:sp>
          <p:nvSpPr>
            <p:cNvPr id="106" name="Rectangle 106"/>
            <p:cNvSpPr/>
            <p:nvPr/>
          </p:nvSpPr>
          <p:spPr>
            <a:xfrm>
              <a:off x="5638800" y="1790700"/>
              <a:ext cx="6324600" cy="95250"/>
            </a:xfrm>
            <a:prstGeom prst="rect">
              <a:avLst/>
            </a:prstGeom>
            <a:solidFill>
              <a:srgbClr val="69281B"/>
            </a:solidFill>
            <a:ln>
              <a:noFill/>
            </a:ln>
          </p:spPr>
        </p:sp>
        <p:sp>
          <p:nvSpPr>
            <p:cNvPr id="107" name="TextBox 107"/>
            <p:cNvSpPr txBox="1"/>
            <p:nvPr/>
          </p:nvSpPr>
          <p:spPr>
            <a:xfrm>
              <a:off x="7301624" y="1708547"/>
              <a:ext cx="216075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新增贷款用途结构分析（较年初净增）</a:t>
              </a:r>
            </a:p>
          </p:txBody>
        </p:sp>
        <p:sp>
          <p:nvSpPr>
            <p:cNvPr id="108" name="Rectangle 108"/>
            <p:cNvSpPr/>
            <p:nvPr/>
          </p:nvSpPr>
          <p:spPr>
            <a:xfrm>
              <a:off x="11125200" y="1676400"/>
              <a:ext cx="704850" cy="171450"/>
            </a:xfrm>
            <a:prstGeom prst="roundRect">
              <a:avLst>
                <a:gd name="adj" fmla="val 16667"/>
              </a:avLst>
            </a:prstGeom>
            <a:solidFill>
              <a:srgbClr val="E04C2E"/>
            </a:solidFill>
            <a:ln>
              <a:noFill/>
            </a:ln>
          </p:spPr>
        </p:sp>
        <p:sp>
          <p:nvSpPr>
            <p:cNvPr id="109" name="TextBox 109"/>
            <p:cNvSpPr txBox="1"/>
            <p:nvPr/>
          </p:nvSpPr>
          <p:spPr>
            <a:xfrm>
              <a:off x="11143198" y="1727359"/>
              <a:ext cx="66885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净增 31.2亿元​</a:t>
              </a:r>
            </a:p>
          </p:txBody>
        </p:sp>
        <p:sp>
          <p:nvSpPr>
            <p:cNvPr id="110" name="Line 110"/>
            <p:cNvSpPr/>
            <p:nvPr/>
          </p:nvSpPr>
          <p:spPr>
            <a:xfrm>
              <a:off x="5905500" y="3848100"/>
              <a:ext cx="5867400" cy="9525"/>
            </a:xfrm>
            <a:custGeom>
              <a:avLst/>
              <a:gdLst/>
              <a:ahLst/>
              <a:cxnLst/>
              <a:rect l="l" t="t" r="r" b="b"/>
              <a:pathLst>
                <a:path w="5867400" h="9525">
                  <a:moveTo>
                    <a:pt x="0" y="0"/>
                  </a:moveTo>
                  <a:lnTo>
                    <a:pt x="5867400" y="0"/>
                  </a:lnTo>
                </a:path>
              </a:pathLst>
            </a:custGeom>
            <a:noFill/>
            <a:ln w="9525">
              <a:solidFill>
                <a:srgbClr val="C9D6E9"/>
              </a:solidFill>
            </a:ln>
          </p:spPr>
        </p:sp>
        <p:sp>
          <p:nvSpPr>
            <p:cNvPr id="111" name="Line 111"/>
            <p:cNvSpPr/>
            <p:nvPr/>
          </p:nvSpPr>
          <p:spPr>
            <a:xfrm>
              <a:off x="5905500" y="3478530"/>
              <a:ext cx="5867400" cy="9525"/>
            </a:xfrm>
            <a:custGeom>
              <a:avLst/>
              <a:gdLst/>
              <a:ahLst/>
              <a:cxnLst/>
              <a:rect l="l" t="t" r="r" b="b"/>
              <a:pathLst>
                <a:path w="5867400" h="9525">
                  <a:moveTo>
                    <a:pt x="0" y="0"/>
                  </a:moveTo>
                  <a:lnTo>
                    <a:pt x="5867400" y="0"/>
                  </a:lnTo>
                </a:path>
              </a:pathLst>
            </a:custGeom>
            <a:noFill/>
            <a:ln w="9525">
              <a:solidFill>
                <a:srgbClr val="EDF2FA"/>
              </a:solidFill>
            </a:ln>
          </p:spPr>
        </p:sp>
        <p:sp>
          <p:nvSpPr>
            <p:cNvPr id="112" name="Line 112"/>
            <p:cNvSpPr/>
            <p:nvPr/>
          </p:nvSpPr>
          <p:spPr>
            <a:xfrm>
              <a:off x="5905500" y="3108960"/>
              <a:ext cx="5867400" cy="9525"/>
            </a:xfrm>
            <a:custGeom>
              <a:avLst/>
              <a:gdLst/>
              <a:ahLst/>
              <a:cxnLst/>
              <a:rect l="l" t="t" r="r" b="b"/>
              <a:pathLst>
                <a:path w="5867400" h="9525">
                  <a:moveTo>
                    <a:pt x="0" y="0"/>
                  </a:moveTo>
                  <a:lnTo>
                    <a:pt x="5867400" y="0"/>
                  </a:lnTo>
                </a:path>
              </a:pathLst>
            </a:custGeom>
            <a:noFill/>
            <a:ln w="9525">
              <a:solidFill>
                <a:srgbClr val="EDF2FA"/>
              </a:solidFill>
            </a:ln>
          </p:spPr>
        </p:sp>
        <p:sp>
          <p:nvSpPr>
            <p:cNvPr id="113" name="Line 113"/>
            <p:cNvSpPr/>
            <p:nvPr/>
          </p:nvSpPr>
          <p:spPr>
            <a:xfrm>
              <a:off x="5905500" y="2739390"/>
              <a:ext cx="5867400" cy="9525"/>
            </a:xfrm>
            <a:custGeom>
              <a:avLst/>
              <a:gdLst/>
              <a:ahLst/>
              <a:cxnLst/>
              <a:rect l="l" t="t" r="r" b="b"/>
              <a:pathLst>
                <a:path w="5867400" h="9525">
                  <a:moveTo>
                    <a:pt x="0" y="0"/>
                  </a:moveTo>
                  <a:lnTo>
                    <a:pt x="5867400" y="0"/>
                  </a:lnTo>
                </a:path>
              </a:pathLst>
            </a:custGeom>
            <a:noFill/>
            <a:ln w="9525">
              <a:solidFill>
                <a:srgbClr val="EDF2FA"/>
              </a:solidFill>
            </a:ln>
          </p:spPr>
        </p:sp>
        <p:sp>
          <p:nvSpPr>
            <p:cNvPr id="114" name="Line 114"/>
            <p:cNvSpPr/>
            <p:nvPr/>
          </p:nvSpPr>
          <p:spPr>
            <a:xfrm>
              <a:off x="5905500" y="2369820"/>
              <a:ext cx="5867400" cy="9525"/>
            </a:xfrm>
            <a:custGeom>
              <a:avLst/>
              <a:gdLst/>
              <a:ahLst/>
              <a:cxnLst/>
              <a:rect l="l" t="t" r="r" b="b"/>
              <a:pathLst>
                <a:path w="5867400" h="9525">
                  <a:moveTo>
                    <a:pt x="0" y="0"/>
                  </a:moveTo>
                  <a:lnTo>
                    <a:pt x="5867400" y="0"/>
                  </a:lnTo>
                </a:path>
              </a:pathLst>
            </a:custGeom>
            <a:noFill/>
            <a:ln w="9525">
              <a:solidFill>
                <a:srgbClr val="EDF2FA"/>
              </a:solidFill>
            </a:ln>
          </p:spPr>
        </p:sp>
        <p:sp>
          <p:nvSpPr>
            <p:cNvPr id="115" name="Line 115"/>
            <p:cNvSpPr/>
            <p:nvPr/>
          </p:nvSpPr>
          <p:spPr>
            <a:xfrm>
              <a:off x="5905500" y="2000250"/>
              <a:ext cx="5867400" cy="9525"/>
            </a:xfrm>
            <a:custGeom>
              <a:avLst/>
              <a:gdLst/>
              <a:ahLst/>
              <a:cxnLst/>
              <a:rect l="l" t="t" r="r" b="b"/>
              <a:pathLst>
                <a:path w="5867400" h="9525">
                  <a:moveTo>
                    <a:pt x="0" y="0"/>
                  </a:moveTo>
                  <a:lnTo>
                    <a:pt x="5867400" y="0"/>
                  </a:lnTo>
                </a:path>
              </a:pathLst>
            </a:custGeom>
            <a:noFill/>
            <a:ln w="9525">
              <a:solidFill>
                <a:srgbClr val="EDF2FA"/>
              </a:solidFill>
            </a:ln>
          </p:spPr>
        </p:sp>
        <p:sp>
          <p:nvSpPr>
            <p:cNvPr id="116" name="TextBox 116"/>
            <p:cNvSpPr txBox="1"/>
            <p:nvPr/>
          </p:nvSpPr>
          <p:spPr>
            <a:xfrm>
              <a:off x="5665889" y="3811905"/>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240​</a:t>
              </a:r>
            </a:p>
          </p:txBody>
        </p:sp>
        <p:sp>
          <p:nvSpPr>
            <p:cNvPr id="117" name="TextBox 117"/>
            <p:cNvSpPr txBox="1"/>
            <p:nvPr/>
          </p:nvSpPr>
          <p:spPr>
            <a:xfrm>
              <a:off x="5665889" y="3440430"/>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260​</a:t>
              </a:r>
            </a:p>
          </p:txBody>
        </p:sp>
        <p:sp>
          <p:nvSpPr>
            <p:cNvPr id="118" name="TextBox 118"/>
            <p:cNvSpPr txBox="1"/>
            <p:nvPr/>
          </p:nvSpPr>
          <p:spPr>
            <a:xfrm>
              <a:off x="5665889" y="3068955"/>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280​</a:t>
              </a:r>
            </a:p>
          </p:txBody>
        </p:sp>
        <p:sp>
          <p:nvSpPr>
            <p:cNvPr id="119" name="TextBox 119"/>
            <p:cNvSpPr txBox="1"/>
            <p:nvPr/>
          </p:nvSpPr>
          <p:spPr>
            <a:xfrm>
              <a:off x="5665889" y="2697480"/>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300​</a:t>
              </a:r>
            </a:p>
          </p:txBody>
        </p:sp>
        <p:sp>
          <p:nvSpPr>
            <p:cNvPr id="120" name="TextBox 120"/>
            <p:cNvSpPr txBox="1"/>
            <p:nvPr/>
          </p:nvSpPr>
          <p:spPr>
            <a:xfrm>
              <a:off x="5665889" y="2335530"/>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320​</a:t>
              </a:r>
            </a:p>
          </p:txBody>
        </p:sp>
        <p:sp>
          <p:nvSpPr>
            <p:cNvPr id="121" name="TextBox 121"/>
            <p:cNvSpPr txBox="1"/>
            <p:nvPr/>
          </p:nvSpPr>
          <p:spPr>
            <a:xfrm>
              <a:off x="5665889" y="1964055"/>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340​</a:t>
              </a:r>
            </a:p>
          </p:txBody>
        </p:sp>
        <p:sp>
          <p:nvSpPr>
            <p:cNvPr id="122" name="Rectangle 122"/>
            <p:cNvSpPr/>
            <p:nvPr/>
          </p:nvSpPr>
          <p:spPr>
            <a:xfrm>
              <a:off x="5905500" y="3606165"/>
              <a:ext cx="628650" cy="241935"/>
            </a:xfrm>
            <a:prstGeom prst="rect">
              <a:avLst/>
            </a:prstGeom>
            <a:solidFill>
              <a:srgbClr val="69281B"/>
            </a:solidFill>
            <a:ln>
              <a:noFill/>
            </a:ln>
          </p:spPr>
        </p:sp>
        <p:sp>
          <p:nvSpPr>
            <p:cNvPr id="123" name="TextBox 123"/>
            <p:cNvSpPr txBox="1"/>
            <p:nvPr/>
          </p:nvSpPr>
          <p:spPr>
            <a:xfrm>
              <a:off x="6049470" y="3475911"/>
              <a:ext cx="340710"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253.3​</a:t>
              </a:r>
            </a:p>
          </p:txBody>
        </p:sp>
        <p:sp>
          <p:nvSpPr>
            <p:cNvPr id="124" name="Line 124"/>
            <p:cNvSpPr/>
            <p:nvPr/>
          </p:nvSpPr>
          <p:spPr>
            <a:xfrm>
              <a:off x="6534150" y="3606165"/>
              <a:ext cx="66675" cy="9525"/>
            </a:xfrm>
            <a:custGeom>
              <a:avLst/>
              <a:gdLst/>
              <a:ahLst/>
              <a:cxnLst/>
              <a:rect l="l" t="t" r="r" b="b"/>
              <a:pathLst>
                <a:path w="66675" h="9525">
                  <a:moveTo>
                    <a:pt x="0" y="0"/>
                  </a:moveTo>
                  <a:lnTo>
                    <a:pt x="66675" y="0"/>
                  </a:lnTo>
                </a:path>
              </a:pathLst>
            </a:custGeom>
            <a:noFill/>
            <a:ln w="9525">
              <a:solidFill>
                <a:srgbClr val="EBC1B8"/>
              </a:solidFill>
              <a:prstDash val="sysDot"/>
            </a:ln>
          </p:spPr>
        </p:sp>
        <p:sp>
          <p:nvSpPr>
            <p:cNvPr id="125" name="Rectangle 125"/>
            <p:cNvSpPr/>
            <p:nvPr/>
          </p:nvSpPr>
          <p:spPr>
            <a:xfrm>
              <a:off x="6610350" y="3288982"/>
              <a:ext cx="628650" cy="317182"/>
            </a:xfrm>
            <a:prstGeom prst="rect">
              <a:avLst/>
            </a:prstGeom>
            <a:solidFill>
              <a:srgbClr val="E04C2E"/>
            </a:solidFill>
            <a:ln>
              <a:noFill/>
            </a:ln>
          </p:spPr>
        </p:sp>
        <p:sp>
          <p:nvSpPr>
            <p:cNvPr id="126" name="TextBox 126"/>
            <p:cNvSpPr txBox="1"/>
            <p:nvPr/>
          </p:nvSpPr>
          <p:spPr>
            <a:xfrm>
              <a:off x="6754320" y="3161586"/>
              <a:ext cx="340710"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+12.0​</a:t>
              </a:r>
            </a:p>
          </p:txBody>
        </p:sp>
        <p:sp>
          <p:nvSpPr>
            <p:cNvPr id="127" name="Line 127"/>
            <p:cNvSpPr/>
            <p:nvPr/>
          </p:nvSpPr>
          <p:spPr>
            <a:xfrm>
              <a:off x="7239000" y="3288982"/>
              <a:ext cx="66675" cy="9525"/>
            </a:xfrm>
            <a:custGeom>
              <a:avLst/>
              <a:gdLst/>
              <a:ahLst/>
              <a:cxnLst/>
              <a:rect l="l" t="t" r="r" b="b"/>
              <a:pathLst>
                <a:path w="66675" h="9525">
                  <a:moveTo>
                    <a:pt x="0" y="0"/>
                  </a:moveTo>
                  <a:lnTo>
                    <a:pt x="66675" y="0"/>
                  </a:lnTo>
                </a:path>
              </a:pathLst>
            </a:custGeom>
            <a:noFill/>
            <a:ln w="9525">
              <a:solidFill>
                <a:srgbClr val="EBC1B8"/>
              </a:solidFill>
              <a:prstDash val="sysDot"/>
            </a:ln>
          </p:spPr>
        </p:sp>
        <p:sp>
          <p:nvSpPr>
            <p:cNvPr id="128" name="Rectangle 128"/>
            <p:cNvSpPr/>
            <p:nvPr/>
          </p:nvSpPr>
          <p:spPr>
            <a:xfrm>
              <a:off x="7315200" y="3128010"/>
              <a:ext cx="628650" cy="160972"/>
            </a:xfrm>
            <a:prstGeom prst="rect">
              <a:avLst/>
            </a:prstGeom>
            <a:solidFill>
              <a:srgbClr val="E04C2E"/>
            </a:solidFill>
            <a:ln>
              <a:noFill/>
            </a:ln>
          </p:spPr>
        </p:sp>
        <p:sp>
          <p:nvSpPr>
            <p:cNvPr id="129" name="TextBox 129"/>
            <p:cNvSpPr txBox="1"/>
            <p:nvPr/>
          </p:nvSpPr>
          <p:spPr>
            <a:xfrm>
              <a:off x="7486769" y="2999661"/>
              <a:ext cx="285513"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+8.7​</a:t>
              </a:r>
            </a:p>
          </p:txBody>
        </p:sp>
        <p:sp>
          <p:nvSpPr>
            <p:cNvPr id="130" name="Line 130"/>
            <p:cNvSpPr/>
            <p:nvPr/>
          </p:nvSpPr>
          <p:spPr>
            <a:xfrm>
              <a:off x="7943850" y="3128010"/>
              <a:ext cx="66675" cy="9525"/>
            </a:xfrm>
            <a:custGeom>
              <a:avLst/>
              <a:gdLst/>
              <a:ahLst/>
              <a:cxnLst/>
              <a:rect l="l" t="t" r="r" b="b"/>
              <a:pathLst>
                <a:path w="66675" h="9525">
                  <a:moveTo>
                    <a:pt x="0" y="0"/>
                  </a:moveTo>
                  <a:lnTo>
                    <a:pt x="66675" y="0"/>
                  </a:lnTo>
                </a:path>
              </a:pathLst>
            </a:custGeom>
            <a:noFill/>
            <a:ln w="9525">
              <a:solidFill>
                <a:srgbClr val="EBC1B8"/>
              </a:solidFill>
              <a:prstDash val="sysDot"/>
            </a:ln>
          </p:spPr>
        </p:sp>
        <p:sp>
          <p:nvSpPr>
            <p:cNvPr id="131" name="Rectangle 131"/>
            <p:cNvSpPr/>
            <p:nvPr/>
          </p:nvSpPr>
          <p:spPr>
            <a:xfrm>
              <a:off x="8020050" y="3011805"/>
              <a:ext cx="628650" cy="116205"/>
            </a:xfrm>
            <a:prstGeom prst="rect">
              <a:avLst/>
            </a:prstGeom>
            <a:solidFill>
              <a:srgbClr val="E04C2E"/>
            </a:solidFill>
            <a:ln>
              <a:noFill/>
            </a:ln>
          </p:spPr>
        </p:sp>
        <p:sp>
          <p:nvSpPr>
            <p:cNvPr id="132" name="TextBox 132"/>
            <p:cNvSpPr txBox="1"/>
            <p:nvPr/>
          </p:nvSpPr>
          <p:spPr>
            <a:xfrm>
              <a:off x="8191619" y="2885361"/>
              <a:ext cx="285513"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+6.3​</a:t>
              </a:r>
            </a:p>
          </p:txBody>
        </p:sp>
        <p:sp>
          <p:nvSpPr>
            <p:cNvPr id="133" name="Line 133"/>
            <p:cNvSpPr/>
            <p:nvPr/>
          </p:nvSpPr>
          <p:spPr>
            <a:xfrm>
              <a:off x="8648700" y="3011805"/>
              <a:ext cx="66675" cy="9525"/>
            </a:xfrm>
            <a:custGeom>
              <a:avLst/>
              <a:gdLst/>
              <a:ahLst/>
              <a:cxnLst/>
              <a:rect l="l" t="t" r="r" b="b"/>
              <a:pathLst>
                <a:path w="66675" h="9525">
                  <a:moveTo>
                    <a:pt x="0" y="0"/>
                  </a:moveTo>
                  <a:lnTo>
                    <a:pt x="66675" y="0"/>
                  </a:lnTo>
                </a:path>
              </a:pathLst>
            </a:custGeom>
            <a:noFill/>
            <a:ln w="9525">
              <a:solidFill>
                <a:srgbClr val="EBC1B8"/>
              </a:solidFill>
              <a:prstDash val="sysDot"/>
            </a:ln>
          </p:spPr>
        </p:sp>
        <p:sp>
          <p:nvSpPr>
            <p:cNvPr id="134" name="Rectangle 134"/>
            <p:cNvSpPr/>
            <p:nvPr/>
          </p:nvSpPr>
          <p:spPr>
            <a:xfrm>
              <a:off x="8724900" y="2941320"/>
              <a:ext cx="628650" cy="70485"/>
            </a:xfrm>
            <a:prstGeom prst="rect">
              <a:avLst/>
            </a:prstGeom>
            <a:solidFill>
              <a:srgbClr val="E04C2E"/>
            </a:solidFill>
            <a:ln>
              <a:noFill/>
            </a:ln>
          </p:spPr>
        </p:sp>
        <p:sp>
          <p:nvSpPr>
            <p:cNvPr id="135" name="TextBox 135"/>
            <p:cNvSpPr txBox="1"/>
            <p:nvPr/>
          </p:nvSpPr>
          <p:spPr>
            <a:xfrm>
              <a:off x="8896469" y="2809161"/>
              <a:ext cx="285513"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+3.8​</a:t>
              </a:r>
            </a:p>
          </p:txBody>
        </p:sp>
        <p:sp>
          <p:nvSpPr>
            <p:cNvPr id="136" name="Line 136"/>
            <p:cNvSpPr/>
            <p:nvPr/>
          </p:nvSpPr>
          <p:spPr>
            <a:xfrm>
              <a:off x="9353550" y="2941320"/>
              <a:ext cx="66675" cy="9525"/>
            </a:xfrm>
            <a:custGeom>
              <a:avLst/>
              <a:gdLst/>
              <a:ahLst/>
              <a:cxnLst/>
              <a:rect l="l" t="t" r="r" b="b"/>
              <a:pathLst>
                <a:path w="66675" h="9525">
                  <a:moveTo>
                    <a:pt x="0" y="0"/>
                  </a:moveTo>
                  <a:lnTo>
                    <a:pt x="66675" y="0"/>
                  </a:lnTo>
                </a:path>
              </a:pathLst>
            </a:custGeom>
            <a:noFill/>
            <a:ln w="9525">
              <a:solidFill>
                <a:srgbClr val="EBC1B8"/>
              </a:solidFill>
              <a:prstDash val="sysDot"/>
            </a:ln>
          </p:spPr>
        </p:sp>
        <p:sp>
          <p:nvSpPr>
            <p:cNvPr id="137" name="Rectangle 137"/>
            <p:cNvSpPr/>
            <p:nvPr/>
          </p:nvSpPr>
          <p:spPr>
            <a:xfrm>
              <a:off x="9429750" y="2900362"/>
              <a:ext cx="628650" cy="40958"/>
            </a:xfrm>
            <a:prstGeom prst="rect">
              <a:avLst/>
            </a:prstGeom>
            <a:solidFill>
              <a:srgbClr val="E04C2E"/>
            </a:solidFill>
            <a:ln>
              <a:noFill/>
            </a:ln>
          </p:spPr>
        </p:sp>
        <p:sp>
          <p:nvSpPr>
            <p:cNvPr id="138" name="TextBox 138"/>
            <p:cNvSpPr txBox="1"/>
            <p:nvPr/>
          </p:nvSpPr>
          <p:spPr>
            <a:xfrm>
              <a:off x="9601319" y="2771061"/>
              <a:ext cx="285513"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+2.2​</a:t>
              </a:r>
            </a:p>
          </p:txBody>
        </p:sp>
        <p:sp>
          <p:nvSpPr>
            <p:cNvPr id="139" name="Line 139"/>
            <p:cNvSpPr/>
            <p:nvPr/>
          </p:nvSpPr>
          <p:spPr>
            <a:xfrm>
              <a:off x="10058400" y="2900362"/>
              <a:ext cx="66675" cy="9525"/>
            </a:xfrm>
            <a:custGeom>
              <a:avLst/>
              <a:gdLst/>
              <a:ahLst/>
              <a:cxnLst/>
              <a:rect l="l" t="t" r="r" b="b"/>
              <a:pathLst>
                <a:path w="66675" h="9525">
                  <a:moveTo>
                    <a:pt x="0" y="0"/>
                  </a:moveTo>
                  <a:lnTo>
                    <a:pt x="66675" y="0"/>
                  </a:lnTo>
                </a:path>
              </a:pathLst>
            </a:custGeom>
            <a:noFill/>
            <a:ln w="9525">
              <a:solidFill>
                <a:srgbClr val="E8BBB3"/>
              </a:solidFill>
              <a:prstDash val="sysDot"/>
            </a:ln>
          </p:spPr>
        </p:sp>
        <p:sp>
          <p:nvSpPr>
            <p:cNvPr id="140" name="Rectangle 140"/>
            <p:cNvSpPr/>
            <p:nvPr/>
          </p:nvSpPr>
          <p:spPr>
            <a:xfrm>
              <a:off x="10134600" y="2900362"/>
              <a:ext cx="628650" cy="33338"/>
            </a:xfrm>
            <a:prstGeom prst="rect">
              <a:avLst/>
            </a:prstGeom>
            <a:solidFill>
              <a:srgbClr val="D0442C"/>
            </a:solidFill>
            <a:ln>
              <a:noFill/>
            </a:ln>
          </p:spPr>
        </p:sp>
        <p:sp>
          <p:nvSpPr>
            <p:cNvPr id="141" name="TextBox 141"/>
            <p:cNvSpPr txBox="1"/>
            <p:nvPr/>
          </p:nvSpPr>
          <p:spPr>
            <a:xfrm>
              <a:off x="10306169" y="2990136"/>
              <a:ext cx="285513" cy="140494"/>
            </a:xfrm>
            <a:prstGeom prst="rect">
              <a:avLst/>
            </a:prstGeom>
            <a:noFill/>
            <a:ln>
              <a:noFill/>
            </a:ln>
          </p:spPr>
          <p:txBody>
            <a:bodyPr wrap="none" lIns="0" tIns="0" rIns="0" bIns="0" anchor="t" anchorCtr="0">
              <a:spAutoFit/>
            </a:bodyPr>
            <a:lstStyle/>
            <a:p>
              <a:pPr algn="ctr"/>
              <a:r>
                <a:rPr lang="zh-CN" sz="710" b="1" dirty="0">
                  <a:solidFill>
                    <a:srgbClr val="D0442C"/>
                  </a:solidFill>
                  <a:latin typeface="+mn-lt"/>
                  <a:ea typeface="+mn-ea"/>
                  <a:cs typeface="+mn-cs"/>
                </a:rPr>
                <a:t>-1.8​</a:t>
              </a:r>
            </a:p>
          </p:txBody>
        </p:sp>
        <p:sp>
          <p:nvSpPr>
            <p:cNvPr id="142" name="Line 142"/>
            <p:cNvSpPr/>
            <p:nvPr/>
          </p:nvSpPr>
          <p:spPr>
            <a:xfrm>
              <a:off x="10763250" y="2933700"/>
              <a:ext cx="66675" cy="9525"/>
            </a:xfrm>
            <a:custGeom>
              <a:avLst/>
              <a:gdLst/>
              <a:ahLst/>
              <a:cxnLst/>
              <a:rect l="l" t="t" r="r" b="b"/>
              <a:pathLst>
                <a:path w="66675" h="9525">
                  <a:moveTo>
                    <a:pt x="0" y="0"/>
                  </a:moveTo>
                  <a:lnTo>
                    <a:pt x="66675" y="0"/>
                  </a:lnTo>
                </a:path>
              </a:pathLst>
            </a:custGeom>
            <a:noFill/>
            <a:ln w="9525">
              <a:solidFill>
                <a:srgbClr val="EBC1B8"/>
              </a:solidFill>
              <a:prstDash val="sysDot"/>
            </a:ln>
          </p:spPr>
        </p:sp>
        <p:sp>
          <p:nvSpPr>
            <p:cNvPr id="143" name="Rectangle 143"/>
            <p:cNvSpPr/>
            <p:nvPr/>
          </p:nvSpPr>
          <p:spPr>
            <a:xfrm>
              <a:off x="10839450" y="2933700"/>
              <a:ext cx="628650" cy="914400"/>
            </a:xfrm>
            <a:prstGeom prst="rect">
              <a:avLst/>
            </a:prstGeom>
            <a:solidFill>
              <a:srgbClr val="69281B"/>
            </a:solidFill>
            <a:ln>
              <a:noFill/>
            </a:ln>
          </p:spPr>
        </p:sp>
        <p:sp>
          <p:nvSpPr>
            <p:cNvPr id="144" name="TextBox 144"/>
            <p:cNvSpPr txBox="1"/>
            <p:nvPr/>
          </p:nvSpPr>
          <p:spPr>
            <a:xfrm>
              <a:off x="10983420" y="2809161"/>
              <a:ext cx="340710"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284.5​</a:t>
              </a:r>
            </a:p>
          </p:txBody>
        </p:sp>
        <p:sp>
          <p:nvSpPr>
            <p:cNvPr id="145" name="TextBox 145"/>
            <p:cNvSpPr txBox="1"/>
            <p:nvPr/>
          </p:nvSpPr>
          <p:spPr>
            <a:xfrm>
              <a:off x="5943669" y="3912632"/>
              <a:ext cx="552313" cy="126206"/>
            </a:xfrm>
            <a:prstGeom prst="rect">
              <a:avLst/>
            </a:prstGeom>
            <a:noFill/>
            <a:ln>
              <a:noFill/>
            </a:ln>
          </p:spPr>
          <p:txBody>
            <a:bodyPr wrap="none" lIns="0" tIns="0" rIns="0" bIns="0" anchor="t" anchorCtr="0">
              <a:spAutoFit/>
            </a:bodyPr>
            <a:lstStyle/>
            <a:p>
              <a:pPr algn="ctr"/>
              <a:r>
                <a:rPr lang="zh-CN" sz="640" dirty="0">
                  <a:solidFill>
                    <a:srgbClr val="70504A"/>
                  </a:solidFill>
                  <a:latin typeface="+mn-lt"/>
                  <a:ea typeface="+mn-ea"/>
                  <a:cs typeface="+mn-cs"/>
                </a:rPr>
                <a:t>2026年1月末​</a:t>
              </a:r>
            </a:p>
          </p:txBody>
        </p:sp>
        <p:sp>
          <p:nvSpPr>
            <p:cNvPr id="146" name="TextBox 146"/>
            <p:cNvSpPr txBox="1"/>
            <p:nvPr/>
          </p:nvSpPr>
          <p:spPr>
            <a:xfrm>
              <a:off x="5972746" y="4011930"/>
              <a:ext cx="494157"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对公贷款余额</a:t>
              </a:r>
            </a:p>
          </p:txBody>
        </p:sp>
        <p:sp>
          <p:nvSpPr>
            <p:cNvPr id="147" name="TextBox 147"/>
            <p:cNvSpPr txBox="1"/>
            <p:nvPr/>
          </p:nvSpPr>
          <p:spPr>
            <a:xfrm>
              <a:off x="6747599" y="3912632"/>
              <a:ext cx="354152" cy="126206"/>
            </a:xfrm>
            <a:prstGeom prst="rect">
              <a:avLst/>
            </a:prstGeom>
            <a:noFill/>
            <a:ln>
              <a:noFill/>
            </a:ln>
          </p:spPr>
          <p:txBody>
            <a:bodyPr wrap="none" lIns="0" tIns="0" rIns="0" bIns="0" anchor="t" anchorCtr="0">
              <a:spAutoFit/>
            </a:bodyPr>
            <a:lstStyle/>
            <a:p>
              <a:pPr algn="ctr"/>
              <a:r>
                <a:rPr lang="zh-CN" sz="640" dirty="0">
                  <a:solidFill>
                    <a:srgbClr val="70504A"/>
                  </a:solidFill>
                  <a:latin typeface="+mn-lt"/>
                  <a:ea typeface="+mn-ea"/>
                  <a:cs typeface="+mn-cs"/>
                </a:rPr>
                <a:t>先进制造</a:t>
              </a:r>
            </a:p>
          </p:txBody>
        </p:sp>
        <p:sp>
          <p:nvSpPr>
            <p:cNvPr id="148" name="TextBox 148"/>
            <p:cNvSpPr txBox="1"/>
            <p:nvPr/>
          </p:nvSpPr>
          <p:spPr>
            <a:xfrm>
              <a:off x="7452449" y="3912632"/>
              <a:ext cx="354152" cy="126206"/>
            </a:xfrm>
            <a:prstGeom prst="rect">
              <a:avLst/>
            </a:prstGeom>
            <a:noFill/>
            <a:ln>
              <a:noFill/>
            </a:ln>
          </p:spPr>
          <p:txBody>
            <a:bodyPr wrap="none" lIns="0" tIns="0" rIns="0" bIns="0" anchor="t" anchorCtr="0">
              <a:spAutoFit/>
            </a:bodyPr>
            <a:lstStyle/>
            <a:p>
              <a:pPr algn="ctr"/>
              <a:r>
                <a:rPr lang="zh-CN" sz="640" dirty="0">
                  <a:solidFill>
                    <a:srgbClr val="70504A"/>
                  </a:solidFill>
                  <a:latin typeface="+mn-lt"/>
                  <a:ea typeface="+mn-ea"/>
                  <a:cs typeface="+mn-cs"/>
                </a:rPr>
                <a:t>基础设施</a:t>
              </a:r>
            </a:p>
          </p:txBody>
        </p:sp>
        <p:sp>
          <p:nvSpPr>
            <p:cNvPr id="149" name="TextBox 149"/>
            <p:cNvSpPr txBox="1"/>
            <p:nvPr/>
          </p:nvSpPr>
          <p:spPr>
            <a:xfrm>
              <a:off x="8157299" y="3912632"/>
              <a:ext cx="354152" cy="126206"/>
            </a:xfrm>
            <a:prstGeom prst="rect">
              <a:avLst/>
            </a:prstGeom>
            <a:noFill/>
            <a:ln>
              <a:noFill/>
            </a:ln>
          </p:spPr>
          <p:txBody>
            <a:bodyPr wrap="none" lIns="0" tIns="0" rIns="0" bIns="0" anchor="t" anchorCtr="0">
              <a:spAutoFit/>
            </a:bodyPr>
            <a:lstStyle/>
            <a:p>
              <a:pPr algn="ctr"/>
              <a:r>
                <a:rPr lang="zh-CN" sz="640" dirty="0">
                  <a:solidFill>
                    <a:srgbClr val="70504A"/>
                  </a:solidFill>
                  <a:latin typeface="+mn-lt"/>
                  <a:ea typeface="+mn-ea"/>
                  <a:cs typeface="+mn-cs"/>
                </a:rPr>
                <a:t>战略新兴</a:t>
              </a:r>
            </a:p>
          </p:txBody>
        </p:sp>
        <p:sp>
          <p:nvSpPr>
            <p:cNvPr id="150" name="TextBox 150"/>
            <p:cNvSpPr txBox="1"/>
            <p:nvPr/>
          </p:nvSpPr>
          <p:spPr>
            <a:xfrm>
              <a:off x="8862149" y="3912632"/>
              <a:ext cx="354152" cy="126206"/>
            </a:xfrm>
            <a:prstGeom prst="rect">
              <a:avLst/>
            </a:prstGeom>
            <a:noFill/>
            <a:ln>
              <a:noFill/>
            </a:ln>
          </p:spPr>
          <p:txBody>
            <a:bodyPr wrap="none" lIns="0" tIns="0" rIns="0" bIns="0" anchor="t" anchorCtr="0">
              <a:spAutoFit/>
            </a:bodyPr>
            <a:lstStyle/>
            <a:p>
              <a:pPr algn="ctr"/>
              <a:r>
                <a:rPr lang="zh-CN" sz="640" dirty="0">
                  <a:solidFill>
                    <a:srgbClr val="70504A"/>
                  </a:solidFill>
                  <a:latin typeface="+mn-lt"/>
                  <a:ea typeface="+mn-ea"/>
                  <a:cs typeface="+mn-cs"/>
                </a:rPr>
                <a:t>设备更新</a:t>
              </a:r>
            </a:p>
          </p:txBody>
        </p:sp>
        <p:sp>
          <p:nvSpPr>
            <p:cNvPr id="151" name="TextBox 151"/>
            <p:cNvSpPr txBox="1"/>
            <p:nvPr/>
          </p:nvSpPr>
          <p:spPr>
            <a:xfrm>
              <a:off x="9566999" y="3912632"/>
              <a:ext cx="354152" cy="126206"/>
            </a:xfrm>
            <a:prstGeom prst="rect">
              <a:avLst/>
            </a:prstGeom>
            <a:noFill/>
            <a:ln>
              <a:noFill/>
            </a:ln>
          </p:spPr>
          <p:txBody>
            <a:bodyPr wrap="none" lIns="0" tIns="0" rIns="0" bIns="0" anchor="t" anchorCtr="0">
              <a:spAutoFit/>
            </a:bodyPr>
            <a:lstStyle/>
            <a:p>
              <a:pPr algn="ctr"/>
              <a:r>
                <a:rPr lang="zh-CN" sz="640" dirty="0">
                  <a:solidFill>
                    <a:srgbClr val="70504A"/>
                  </a:solidFill>
                  <a:latin typeface="+mn-lt"/>
                  <a:ea typeface="+mn-ea"/>
                  <a:cs typeface="+mn-cs"/>
                </a:rPr>
                <a:t>普惠小微</a:t>
              </a:r>
            </a:p>
          </p:txBody>
        </p:sp>
        <p:sp>
          <p:nvSpPr>
            <p:cNvPr id="152" name="TextBox 152"/>
            <p:cNvSpPr txBox="1"/>
            <p:nvPr/>
          </p:nvSpPr>
          <p:spPr>
            <a:xfrm>
              <a:off x="10358006" y="3912632"/>
              <a:ext cx="181839" cy="126206"/>
            </a:xfrm>
            <a:prstGeom prst="rect">
              <a:avLst/>
            </a:prstGeom>
            <a:noFill/>
            <a:ln>
              <a:noFill/>
            </a:ln>
          </p:spPr>
          <p:txBody>
            <a:bodyPr wrap="none" lIns="0" tIns="0" rIns="0" bIns="0" anchor="t" anchorCtr="0">
              <a:spAutoFit/>
            </a:bodyPr>
            <a:lstStyle/>
            <a:p>
              <a:pPr algn="ctr"/>
              <a:r>
                <a:rPr lang="zh-CN" sz="640" dirty="0">
                  <a:solidFill>
                    <a:srgbClr val="70504A"/>
                  </a:solidFill>
                  <a:latin typeface="+mn-lt"/>
                  <a:ea typeface="+mn-ea"/>
                  <a:cs typeface="+mn-cs"/>
                </a:rPr>
                <a:t>其他</a:t>
              </a:r>
            </a:p>
          </p:txBody>
        </p:sp>
        <p:sp>
          <p:nvSpPr>
            <p:cNvPr id="153" name="TextBox 153"/>
            <p:cNvSpPr txBox="1"/>
            <p:nvPr/>
          </p:nvSpPr>
          <p:spPr>
            <a:xfrm>
              <a:off x="10877619" y="3912632"/>
              <a:ext cx="552313" cy="126206"/>
            </a:xfrm>
            <a:prstGeom prst="rect">
              <a:avLst/>
            </a:prstGeom>
            <a:noFill/>
            <a:ln>
              <a:noFill/>
            </a:ln>
          </p:spPr>
          <p:txBody>
            <a:bodyPr wrap="none" lIns="0" tIns="0" rIns="0" bIns="0" anchor="t" anchorCtr="0">
              <a:spAutoFit/>
            </a:bodyPr>
            <a:lstStyle/>
            <a:p>
              <a:pPr algn="ctr"/>
              <a:r>
                <a:rPr lang="zh-CN" sz="640" dirty="0">
                  <a:solidFill>
                    <a:srgbClr val="70504A"/>
                  </a:solidFill>
                  <a:latin typeface="+mn-lt"/>
                  <a:ea typeface="+mn-ea"/>
                  <a:cs typeface="+mn-cs"/>
                </a:rPr>
                <a:t>2026年6月末​</a:t>
              </a:r>
            </a:p>
          </p:txBody>
        </p:sp>
        <p:sp>
          <p:nvSpPr>
            <p:cNvPr id="154" name="TextBox 154"/>
            <p:cNvSpPr txBox="1"/>
            <p:nvPr/>
          </p:nvSpPr>
          <p:spPr>
            <a:xfrm>
              <a:off x="10906696" y="4011930"/>
              <a:ext cx="494157"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对公贷款余额</a:t>
              </a:r>
            </a:p>
          </p:txBody>
        </p:sp>
      </p:grpSp>
      <p:grpSp>
        <p:nvGrpSpPr>
          <p:cNvPr id="224" name="table-projects"/>
          <p:cNvGrpSpPr/>
          <p:nvPr/>
        </p:nvGrpSpPr>
        <p:grpSpPr>
          <a:xfrm>
            <a:off x="228600" y="4191000"/>
            <a:ext cx="6667500" cy="2476500"/>
            <a:chOff x="228600" y="4191000"/>
            <a:chExt cx="6667500" cy="2476500"/>
          </a:xfrm>
        </p:grpSpPr>
        <p:sp>
          <p:nvSpPr>
            <p:cNvPr id="156" name="Rectangle 156"/>
            <p:cNvSpPr/>
            <p:nvPr/>
          </p:nvSpPr>
          <p:spPr>
            <a:xfrm>
              <a:off x="228600" y="4191000"/>
              <a:ext cx="6667500" cy="2476500"/>
            </a:xfrm>
            <a:prstGeom prst="roundRect">
              <a:avLst>
                <a:gd name="adj" fmla="val 2308"/>
              </a:avLst>
            </a:prstGeom>
            <a:solidFill>
              <a:srgbClr val="FFFFFF"/>
            </a:solidFill>
            <a:ln w="9525">
              <a:solidFill>
                <a:srgbClr val="C9D6E9"/>
              </a:solidFill>
            </a:ln>
          </p:spPr>
        </p:sp>
        <p:sp>
          <p:nvSpPr>
            <p:cNvPr id="157" name="Rectangle 157"/>
            <p:cNvSpPr/>
            <p:nvPr/>
          </p:nvSpPr>
          <p:spPr>
            <a:xfrm>
              <a:off x="228600" y="4191000"/>
              <a:ext cx="6667500" cy="247650"/>
            </a:xfrm>
            <a:prstGeom prst="roundRect">
              <a:avLst>
                <a:gd name="adj" fmla="val 23077"/>
              </a:avLst>
            </a:prstGeom>
            <a:solidFill>
              <a:srgbClr val="69281B"/>
            </a:solidFill>
            <a:ln>
              <a:noFill/>
            </a:ln>
          </p:spPr>
        </p:sp>
        <p:sp>
          <p:nvSpPr>
            <p:cNvPr id="158" name="Rectangle 158"/>
            <p:cNvSpPr/>
            <p:nvPr/>
          </p:nvSpPr>
          <p:spPr>
            <a:xfrm>
              <a:off x="228600" y="4343400"/>
              <a:ext cx="6667500" cy="95250"/>
            </a:xfrm>
            <a:prstGeom prst="rect">
              <a:avLst/>
            </a:prstGeom>
            <a:solidFill>
              <a:srgbClr val="69281B"/>
            </a:solidFill>
            <a:ln>
              <a:noFill/>
            </a:ln>
          </p:spPr>
        </p:sp>
        <p:sp>
          <p:nvSpPr>
            <p:cNvPr id="159" name="TextBox 159"/>
            <p:cNvSpPr txBox="1"/>
            <p:nvPr/>
          </p:nvSpPr>
          <p:spPr>
            <a:xfrm>
              <a:off x="2199467" y="4261247"/>
              <a:ext cx="272576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重点项目投放情况（数据口径：2026年6月末）​</a:t>
              </a:r>
            </a:p>
          </p:txBody>
        </p:sp>
        <p:sp>
          <p:nvSpPr>
            <p:cNvPr id="160" name="Rectangle 160"/>
            <p:cNvSpPr/>
            <p:nvPr/>
          </p:nvSpPr>
          <p:spPr>
            <a:xfrm>
              <a:off x="342900" y="4438650"/>
              <a:ext cx="6438900" cy="285750"/>
            </a:xfrm>
            <a:prstGeom prst="rect">
              <a:avLst/>
            </a:prstGeom>
            <a:solidFill>
              <a:srgbClr val="EAF1FB"/>
            </a:solidFill>
            <a:ln>
              <a:noFill/>
            </a:ln>
          </p:spPr>
        </p:sp>
        <p:sp>
          <p:nvSpPr>
            <p:cNvPr id="161" name="TextBox 161"/>
            <p:cNvSpPr txBox="1"/>
            <p:nvPr/>
          </p:nvSpPr>
          <p:spPr>
            <a:xfrm>
              <a:off x="414338" y="454818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项目类型</a:t>
              </a:r>
            </a:p>
          </p:txBody>
        </p:sp>
        <p:sp>
          <p:nvSpPr>
            <p:cNvPr id="162" name="TextBox 162"/>
            <p:cNvSpPr txBox="1"/>
            <p:nvPr/>
          </p:nvSpPr>
          <p:spPr>
            <a:xfrm>
              <a:off x="2117408" y="4491038"/>
              <a:ext cx="41338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储备金额</a:t>
              </a:r>
            </a:p>
          </p:txBody>
        </p:sp>
        <p:sp>
          <p:nvSpPr>
            <p:cNvPr id="163" name="TextBox 163"/>
            <p:cNvSpPr txBox="1"/>
            <p:nvPr/>
          </p:nvSpPr>
          <p:spPr>
            <a:xfrm>
              <a:off x="2093176" y="4625578"/>
              <a:ext cx="461848"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（示例数据）</a:t>
              </a:r>
            </a:p>
          </p:txBody>
        </p:sp>
        <p:sp>
          <p:nvSpPr>
            <p:cNvPr id="164" name="TextBox 164"/>
            <p:cNvSpPr txBox="1"/>
            <p:nvPr/>
          </p:nvSpPr>
          <p:spPr>
            <a:xfrm>
              <a:off x="3450908" y="4491038"/>
              <a:ext cx="41338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已批金额</a:t>
              </a:r>
            </a:p>
          </p:txBody>
        </p:sp>
        <p:sp>
          <p:nvSpPr>
            <p:cNvPr id="165" name="TextBox 165"/>
            <p:cNvSpPr txBox="1"/>
            <p:nvPr/>
          </p:nvSpPr>
          <p:spPr>
            <a:xfrm>
              <a:off x="3426676" y="4625578"/>
              <a:ext cx="461848"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（示例数据）</a:t>
              </a:r>
            </a:p>
          </p:txBody>
        </p:sp>
        <p:sp>
          <p:nvSpPr>
            <p:cNvPr id="166" name="TextBox 166"/>
            <p:cNvSpPr txBox="1"/>
            <p:nvPr/>
          </p:nvSpPr>
          <p:spPr>
            <a:xfrm>
              <a:off x="4733925" y="4491038"/>
              <a:ext cx="514350"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已投放金额</a:t>
              </a:r>
            </a:p>
          </p:txBody>
        </p:sp>
        <p:sp>
          <p:nvSpPr>
            <p:cNvPr id="167" name="TextBox 167"/>
            <p:cNvSpPr txBox="1"/>
            <p:nvPr/>
          </p:nvSpPr>
          <p:spPr>
            <a:xfrm>
              <a:off x="4760176" y="4625578"/>
              <a:ext cx="461848"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（示例数据）</a:t>
              </a:r>
            </a:p>
          </p:txBody>
        </p:sp>
        <p:sp>
          <p:nvSpPr>
            <p:cNvPr id="168" name="TextBox 168"/>
            <p:cNvSpPr txBox="1"/>
            <p:nvPr/>
          </p:nvSpPr>
          <p:spPr>
            <a:xfrm>
              <a:off x="6006465" y="4491038"/>
              <a:ext cx="312420"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合作率</a:t>
              </a:r>
            </a:p>
          </p:txBody>
        </p:sp>
        <p:sp>
          <p:nvSpPr>
            <p:cNvPr id="169" name="TextBox 169"/>
            <p:cNvSpPr txBox="1"/>
            <p:nvPr/>
          </p:nvSpPr>
          <p:spPr>
            <a:xfrm>
              <a:off x="5931751" y="4625578"/>
              <a:ext cx="461848"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（示例数据）</a:t>
              </a:r>
            </a:p>
          </p:txBody>
        </p:sp>
        <p:grpSp>
          <p:nvGrpSpPr>
            <p:cNvPr id="172" name="Group 172"/>
            <p:cNvGrpSpPr/>
            <p:nvPr/>
          </p:nvGrpSpPr>
          <p:grpSpPr>
            <a:xfrm>
              <a:off x="425847" y="4816565"/>
              <a:ext cx="72231" cy="92382"/>
              <a:chOff x="425847" y="4816565"/>
              <a:chExt cx="72231" cy="92382"/>
            </a:xfrm>
          </p:grpSpPr>
          <p:sp>
            <p:nvSpPr>
              <p:cNvPr id="170" name="Freeform 170"/>
              <p:cNvSpPr/>
              <p:nvPr/>
            </p:nvSpPr>
            <p:spPr>
              <a:xfrm>
                <a:off x="425847" y="4816565"/>
                <a:ext cx="72231" cy="66099"/>
              </a:xfrm>
              <a:custGeom>
                <a:avLst/>
                <a:gdLst/>
                <a:ahLst/>
                <a:cxnLst/>
                <a:rect l="l" t="t" r="r" b="b"/>
                <a:pathLst>
                  <a:path w="72231" h="66099">
                    <a:moveTo>
                      <a:pt x="0" y="9832"/>
                    </a:moveTo>
                    <a:cubicBezTo>
                      <a:pt x="10031" y="0"/>
                      <a:pt x="26085" y="0"/>
                      <a:pt x="36116" y="9832"/>
                    </a:cubicBezTo>
                    <a:cubicBezTo>
                      <a:pt x="46147" y="19665"/>
                      <a:pt x="62200" y="19665"/>
                      <a:pt x="72231" y="9832"/>
                    </a:cubicBezTo>
                    <a:lnTo>
                      <a:pt x="72231" y="56267"/>
                    </a:lnTo>
                    <a:cubicBezTo>
                      <a:pt x="62200" y="66099"/>
                      <a:pt x="46147" y="66099"/>
                      <a:pt x="36116" y="56267"/>
                    </a:cubicBezTo>
                    <a:cubicBezTo>
                      <a:pt x="26085" y="46434"/>
                      <a:pt x="10031" y="46434"/>
                      <a:pt x="0" y="56267"/>
                    </a:cubicBezTo>
                    <a:lnTo>
                      <a:pt x="0" y="9832"/>
                    </a:lnTo>
                  </a:path>
                </a:pathLst>
              </a:custGeom>
              <a:noFill/>
              <a:ln w="10319">
                <a:solidFill>
                  <a:srgbClr val="E04C2E"/>
                </a:solidFill>
              </a:ln>
            </p:spPr>
          </p:sp>
          <p:sp>
            <p:nvSpPr>
              <p:cNvPr id="171" name="Freeform 171"/>
              <p:cNvSpPr/>
              <p:nvPr/>
            </p:nvSpPr>
            <p:spPr>
              <a:xfrm>
                <a:off x="425847" y="4872831"/>
                <a:ext cx="9525" cy="36116"/>
              </a:xfrm>
              <a:custGeom>
                <a:avLst/>
                <a:gdLst/>
                <a:ahLst/>
                <a:cxnLst/>
                <a:rect l="l" t="t" r="r" b="b"/>
                <a:pathLst>
                  <a:path w="9525" h="36116">
                    <a:moveTo>
                      <a:pt x="0" y="36116"/>
                    </a:moveTo>
                    <a:lnTo>
                      <a:pt x="0" y="0"/>
                    </a:lnTo>
                  </a:path>
                </a:pathLst>
              </a:custGeom>
              <a:noFill/>
              <a:ln w="10319">
                <a:solidFill>
                  <a:srgbClr val="E04C2E"/>
                </a:solidFill>
              </a:ln>
            </p:spPr>
          </p:sp>
        </p:grpSp>
        <p:sp>
          <p:nvSpPr>
            <p:cNvPr id="173" name="TextBox 173"/>
            <p:cNvSpPr txBox="1"/>
            <p:nvPr/>
          </p:nvSpPr>
          <p:spPr>
            <a:xfrm>
              <a:off x="585788" y="4820364"/>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重大项目</a:t>
              </a:r>
            </a:p>
          </p:txBody>
        </p:sp>
        <p:sp>
          <p:nvSpPr>
            <p:cNvPr id="174" name="TextBox 174"/>
            <p:cNvSpPr txBox="1"/>
            <p:nvPr/>
          </p:nvSpPr>
          <p:spPr>
            <a:xfrm>
              <a:off x="2143860" y="4820364"/>
              <a:ext cx="360479"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152.6​</a:t>
              </a:r>
            </a:p>
          </p:txBody>
        </p:sp>
        <p:sp>
          <p:nvSpPr>
            <p:cNvPr id="175" name="TextBox 175"/>
            <p:cNvSpPr txBox="1"/>
            <p:nvPr/>
          </p:nvSpPr>
          <p:spPr>
            <a:xfrm>
              <a:off x="3506607" y="4820364"/>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98.7​</a:t>
              </a:r>
            </a:p>
          </p:txBody>
        </p:sp>
        <p:sp>
          <p:nvSpPr>
            <p:cNvPr id="176" name="TextBox 176"/>
            <p:cNvSpPr txBox="1"/>
            <p:nvPr/>
          </p:nvSpPr>
          <p:spPr>
            <a:xfrm>
              <a:off x="4840107" y="4820364"/>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65.4​</a:t>
              </a:r>
            </a:p>
          </p:txBody>
        </p:sp>
        <p:sp>
          <p:nvSpPr>
            <p:cNvPr id="177" name="TextBox 177"/>
            <p:cNvSpPr txBox="1"/>
            <p:nvPr/>
          </p:nvSpPr>
          <p:spPr>
            <a:xfrm>
              <a:off x="6023912" y="4820364"/>
              <a:ext cx="277526"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66%​</a:t>
              </a:r>
            </a:p>
          </p:txBody>
        </p:sp>
        <p:grpSp>
          <p:nvGrpSpPr>
            <p:cNvPr id="180" name="Group 180"/>
            <p:cNvGrpSpPr/>
            <p:nvPr/>
          </p:nvGrpSpPr>
          <p:grpSpPr>
            <a:xfrm>
              <a:off x="413263" y="5090038"/>
              <a:ext cx="97399" cy="97399"/>
              <a:chOff x="413263" y="5090038"/>
              <a:chExt cx="97399" cy="97399"/>
            </a:xfrm>
          </p:grpSpPr>
          <p:sp>
            <p:nvSpPr>
              <p:cNvPr id="178" name="Freeform 178"/>
              <p:cNvSpPr/>
              <p:nvPr/>
            </p:nvSpPr>
            <p:spPr>
              <a:xfrm>
                <a:off x="413263" y="5090038"/>
                <a:ext cx="97399" cy="97399"/>
              </a:xfrm>
              <a:custGeom>
                <a:avLst/>
                <a:gdLst/>
                <a:ahLst/>
                <a:cxnLst/>
                <a:rect l="l" t="t" r="r" b="b"/>
                <a:pathLst>
                  <a:path w="97399" h="97399">
                    <a:moveTo>
                      <a:pt x="40057" y="9060"/>
                    </a:moveTo>
                    <a:cubicBezTo>
                      <a:pt x="42255" y="0"/>
                      <a:pt x="55143" y="0"/>
                      <a:pt x="57341" y="9060"/>
                    </a:cubicBezTo>
                    <a:cubicBezTo>
                      <a:pt x="58010" y="11820"/>
                      <a:pt x="59957" y="14096"/>
                      <a:pt x="62581" y="15183"/>
                    </a:cubicBezTo>
                    <a:cubicBezTo>
                      <a:pt x="65206" y="16270"/>
                      <a:pt x="68191" y="16038"/>
                      <a:pt x="70616" y="14560"/>
                    </a:cubicBezTo>
                    <a:cubicBezTo>
                      <a:pt x="78577" y="9710"/>
                      <a:pt x="87694" y="18821"/>
                      <a:pt x="82844" y="26787"/>
                    </a:cubicBezTo>
                    <a:cubicBezTo>
                      <a:pt x="81368" y="29212"/>
                      <a:pt x="81137" y="32195"/>
                      <a:pt x="82223" y="34817"/>
                    </a:cubicBezTo>
                    <a:cubicBezTo>
                      <a:pt x="83308" y="37440"/>
                      <a:pt x="85581" y="39387"/>
                      <a:pt x="88339" y="40057"/>
                    </a:cubicBezTo>
                    <a:cubicBezTo>
                      <a:pt x="97399" y="42255"/>
                      <a:pt x="97399" y="55143"/>
                      <a:pt x="88339" y="57341"/>
                    </a:cubicBezTo>
                    <a:cubicBezTo>
                      <a:pt x="85578" y="58010"/>
                      <a:pt x="83303" y="59957"/>
                      <a:pt x="82216" y="62581"/>
                    </a:cubicBezTo>
                    <a:cubicBezTo>
                      <a:pt x="81129" y="65206"/>
                      <a:pt x="81360" y="68191"/>
                      <a:pt x="82839" y="70616"/>
                    </a:cubicBezTo>
                    <a:cubicBezTo>
                      <a:pt x="87689" y="78577"/>
                      <a:pt x="78577" y="87694"/>
                      <a:pt x="70611" y="82844"/>
                    </a:cubicBezTo>
                    <a:cubicBezTo>
                      <a:pt x="68187" y="81368"/>
                      <a:pt x="65204" y="81137"/>
                      <a:pt x="62581" y="82223"/>
                    </a:cubicBezTo>
                    <a:cubicBezTo>
                      <a:pt x="59959" y="83308"/>
                      <a:pt x="58012" y="85581"/>
                      <a:pt x="57341" y="88339"/>
                    </a:cubicBezTo>
                    <a:cubicBezTo>
                      <a:pt x="55143" y="97399"/>
                      <a:pt x="42255" y="97399"/>
                      <a:pt x="40057" y="88339"/>
                    </a:cubicBezTo>
                    <a:cubicBezTo>
                      <a:pt x="39389" y="85578"/>
                      <a:pt x="37441" y="83303"/>
                      <a:pt x="34817" y="82216"/>
                    </a:cubicBezTo>
                    <a:cubicBezTo>
                      <a:pt x="32193" y="81129"/>
                      <a:pt x="29208" y="81360"/>
                      <a:pt x="26782" y="82839"/>
                    </a:cubicBezTo>
                    <a:cubicBezTo>
                      <a:pt x="18821" y="87689"/>
                      <a:pt x="9705" y="78577"/>
                      <a:pt x="14555" y="70611"/>
                    </a:cubicBezTo>
                    <a:cubicBezTo>
                      <a:pt x="16031" y="68187"/>
                      <a:pt x="16262" y="65204"/>
                      <a:pt x="15176" y="62581"/>
                    </a:cubicBezTo>
                    <a:cubicBezTo>
                      <a:pt x="14090" y="59959"/>
                      <a:pt x="11818" y="58012"/>
                      <a:pt x="9060" y="57341"/>
                    </a:cubicBezTo>
                    <a:cubicBezTo>
                      <a:pt x="0" y="55143"/>
                      <a:pt x="0" y="42255"/>
                      <a:pt x="9060" y="40057"/>
                    </a:cubicBezTo>
                    <a:cubicBezTo>
                      <a:pt x="11820" y="39389"/>
                      <a:pt x="14096" y="37441"/>
                      <a:pt x="15183" y="34817"/>
                    </a:cubicBezTo>
                    <a:cubicBezTo>
                      <a:pt x="16270" y="32193"/>
                      <a:pt x="16038" y="29208"/>
                      <a:pt x="14560" y="26782"/>
                    </a:cubicBezTo>
                    <a:cubicBezTo>
                      <a:pt x="9710" y="18821"/>
                      <a:pt x="18821" y="9705"/>
                      <a:pt x="26787" y="14555"/>
                    </a:cubicBezTo>
                    <a:cubicBezTo>
                      <a:pt x="31947" y="17692"/>
                      <a:pt x="38633" y="14916"/>
                      <a:pt x="40057" y="9060"/>
                    </a:cubicBezTo>
                  </a:path>
                </a:pathLst>
              </a:custGeom>
              <a:noFill/>
              <a:ln w="10319">
                <a:solidFill>
                  <a:srgbClr val="E04C2E"/>
                </a:solidFill>
              </a:ln>
            </p:spPr>
          </p:sp>
          <p:sp>
            <p:nvSpPr>
              <p:cNvPr id="179" name="Freeform 179"/>
              <p:cNvSpPr/>
              <p:nvPr/>
            </p:nvSpPr>
            <p:spPr>
              <a:xfrm>
                <a:off x="446484" y="5123259"/>
                <a:ext cx="30956" cy="30956"/>
              </a:xfrm>
              <a:custGeom>
                <a:avLst/>
                <a:gdLst/>
                <a:ahLst/>
                <a:cxnLst/>
                <a:rect l="l" t="t" r="r" b="b"/>
                <a:pathLst>
                  <a:path w="30956" h="30956">
                    <a:moveTo>
                      <a:pt x="0" y="15478"/>
                    </a:moveTo>
                    <a:cubicBezTo>
                      <a:pt x="0" y="24026"/>
                      <a:pt x="6930" y="30956"/>
                      <a:pt x="15478" y="30956"/>
                    </a:cubicBezTo>
                    <a:cubicBezTo>
                      <a:pt x="24026" y="30956"/>
                      <a:pt x="30956" y="24026"/>
                      <a:pt x="30956" y="15478"/>
                    </a:cubicBezTo>
                    <a:cubicBezTo>
                      <a:pt x="30956" y="6930"/>
                      <a:pt x="24026" y="0"/>
                      <a:pt x="15478" y="0"/>
                    </a:cubicBezTo>
                    <a:cubicBezTo>
                      <a:pt x="6930" y="0"/>
                      <a:pt x="0" y="6930"/>
                      <a:pt x="0" y="15478"/>
                    </a:cubicBezTo>
                  </a:path>
                </a:pathLst>
              </a:custGeom>
              <a:noFill/>
              <a:ln w="10319">
                <a:solidFill>
                  <a:srgbClr val="E04C2E"/>
                </a:solidFill>
              </a:ln>
            </p:spPr>
          </p:sp>
        </p:grpSp>
        <p:sp>
          <p:nvSpPr>
            <p:cNvPr id="181" name="TextBox 181"/>
            <p:cNvSpPr txBox="1"/>
            <p:nvPr/>
          </p:nvSpPr>
          <p:spPr>
            <a:xfrm>
              <a:off x="585788" y="509658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设备更新</a:t>
              </a:r>
            </a:p>
          </p:txBody>
        </p:sp>
        <p:sp>
          <p:nvSpPr>
            <p:cNvPr id="182" name="TextBox 182"/>
            <p:cNvSpPr txBox="1"/>
            <p:nvPr/>
          </p:nvSpPr>
          <p:spPr>
            <a:xfrm>
              <a:off x="2173107" y="509658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86.3​</a:t>
              </a:r>
            </a:p>
          </p:txBody>
        </p:sp>
        <p:sp>
          <p:nvSpPr>
            <p:cNvPr id="183" name="TextBox 183"/>
            <p:cNvSpPr txBox="1"/>
            <p:nvPr/>
          </p:nvSpPr>
          <p:spPr>
            <a:xfrm>
              <a:off x="3506607" y="509658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55.8​</a:t>
              </a:r>
            </a:p>
          </p:txBody>
        </p:sp>
        <p:sp>
          <p:nvSpPr>
            <p:cNvPr id="184" name="TextBox 184"/>
            <p:cNvSpPr txBox="1"/>
            <p:nvPr/>
          </p:nvSpPr>
          <p:spPr>
            <a:xfrm>
              <a:off x="4840107" y="509658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32.6​</a:t>
              </a:r>
            </a:p>
          </p:txBody>
        </p:sp>
        <p:sp>
          <p:nvSpPr>
            <p:cNvPr id="185" name="TextBox 185"/>
            <p:cNvSpPr txBox="1"/>
            <p:nvPr/>
          </p:nvSpPr>
          <p:spPr>
            <a:xfrm>
              <a:off x="6023912" y="5096589"/>
              <a:ext cx="277526"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60%​</a:t>
              </a:r>
            </a:p>
          </p:txBody>
        </p:sp>
        <p:grpSp>
          <p:nvGrpSpPr>
            <p:cNvPr id="189" name="Group 189"/>
            <p:cNvGrpSpPr/>
            <p:nvPr/>
          </p:nvGrpSpPr>
          <p:grpSpPr>
            <a:xfrm>
              <a:off x="415528" y="5368528"/>
              <a:ext cx="92869" cy="92869"/>
              <a:chOff x="415528" y="5368528"/>
              <a:chExt cx="92869" cy="92869"/>
            </a:xfrm>
          </p:grpSpPr>
          <p:sp>
            <p:nvSpPr>
              <p:cNvPr id="186" name="Freeform 186"/>
              <p:cNvSpPr/>
              <p:nvPr/>
            </p:nvSpPr>
            <p:spPr>
              <a:xfrm>
                <a:off x="415528" y="5368528"/>
                <a:ext cx="92869" cy="46434"/>
              </a:xfrm>
              <a:custGeom>
                <a:avLst/>
                <a:gdLst/>
                <a:ahLst/>
                <a:cxnLst/>
                <a:rect l="l" t="t" r="r" b="b"/>
                <a:pathLst>
                  <a:path w="92869" h="46434">
                    <a:moveTo>
                      <a:pt x="10319" y="46434"/>
                    </a:moveTo>
                    <a:lnTo>
                      <a:pt x="0" y="46434"/>
                    </a:lnTo>
                    <a:lnTo>
                      <a:pt x="46434" y="0"/>
                    </a:lnTo>
                    <a:lnTo>
                      <a:pt x="92869" y="46434"/>
                    </a:lnTo>
                    <a:lnTo>
                      <a:pt x="82550" y="46434"/>
                    </a:lnTo>
                  </a:path>
                </a:pathLst>
              </a:custGeom>
              <a:noFill/>
              <a:ln w="10319">
                <a:solidFill>
                  <a:srgbClr val="E04C2E"/>
                </a:solidFill>
              </a:ln>
            </p:spPr>
          </p:sp>
          <p:sp>
            <p:nvSpPr>
              <p:cNvPr id="187" name="Freeform 187"/>
              <p:cNvSpPr/>
              <p:nvPr/>
            </p:nvSpPr>
            <p:spPr>
              <a:xfrm>
                <a:off x="425847" y="5414963"/>
                <a:ext cx="72231" cy="46434"/>
              </a:xfrm>
              <a:custGeom>
                <a:avLst/>
                <a:gdLst/>
                <a:ahLst/>
                <a:cxnLst/>
                <a:rect l="l" t="t" r="r" b="b"/>
                <a:pathLst>
                  <a:path w="72231" h="46434">
                    <a:moveTo>
                      <a:pt x="0" y="0"/>
                    </a:moveTo>
                    <a:lnTo>
                      <a:pt x="0" y="36116"/>
                    </a:lnTo>
                    <a:cubicBezTo>
                      <a:pt x="0" y="41815"/>
                      <a:pt x="4620" y="46434"/>
                      <a:pt x="10319" y="46434"/>
                    </a:cubicBezTo>
                    <a:lnTo>
                      <a:pt x="61913" y="46434"/>
                    </a:lnTo>
                    <a:cubicBezTo>
                      <a:pt x="67611" y="46434"/>
                      <a:pt x="72231" y="41815"/>
                      <a:pt x="72231" y="36116"/>
                    </a:cubicBezTo>
                    <a:lnTo>
                      <a:pt x="72231" y="0"/>
                    </a:lnTo>
                  </a:path>
                </a:pathLst>
              </a:custGeom>
              <a:noFill/>
              <a:ln w="10319">
                <a:solidFill>
                  <a:srgbClr val="E04C2E"/>
                </a:solidFill>
              </a:ln>
            </p:spPr>
          </p:sp>
          <p:sp>
            <p:nvSpPr>
              <p:cNvPr id="188" name="Freeform 188"/>
              <p:cNvSpPr/>
              <p:nvPr/>
            </p:nvSpPr>
            <p:spPr>
              <a:xfrm>
                <a:off x="446484" y="5420122"/>
                <a:ext cx="30956" cy="41275"/>
              </a:xfrm>
              <a:custGeom>
                <a:avLst/>
                <a:gdLst/>
                <a:ahLst/>
                <a:cxnLst/>
                <a:rect l="l" t="t" r="r" b="b"/>
                <a:pathLst>
                  <a:path w="30956" h="41275">
                    <a:moveTo>
                      <a:pt x="0" y="41275"/>
                    </a:moveTo>
                    <a:lnTo>
                      <a:pt x="0" y="10319"/>
                    </a:lnTo>
                    <a:cubicBezTo>
                      <a:pt x="0" y="4620"/>
                      <a:pt x="4620" y="0"/>
                      <a:pt x="10319" y="0"/>
                    </a:cubicBezTo>
                    <a:lnTo>
                      <a:pt x="20638" y="0"/>
                    </a:lnTo>
                    <a:cubicBezTo>
                      <a:pt x="26336" y="0"/>
                      <a:pt x="30956" y="4620"/>
                      <a:pt x="30956" y="10319"/>
                    </a:cubicBezTo>
                    <a:lnTo>
                      <a:pt x="30956" y="41275"/>
                    </a:lnTo>
                  </a:path>
                </a:pathLst>
              </a:custGeom>
              <a:noFill/>
              <a:ln w="10319">
                <a:solidFill>
                  <a:srgbClr val="E04C2E"/>
                </a:solidFill>
              </a:ln>
            </p:spPr>
          </p:sp>
        </p:grpSp>
        <p:sp>
          <p:nvSpPr>
            <p:cNvPr id="190" name="TextBox 190"/>
            <p:cNvSpPr txBox="1"/>
            <p:nvPr/>
          </p:nvSpPr>
          <p:spPr>
            <a:xfrm>
              <a:off x="585788" y="5372814"/>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产业园区</a:t>
              </a:r>
            </a:p>
          </p:txBody>
        </p:sp>
        <p:sp>
          <p:nvSpPr>
            <p:cNvPr id="191" name="TextBox 191"/>
            <p:cNvSpPr txBox="1"/>
            <p:nvPr/>
          </p:nvSpPr>
          <p:spPr>
            <a:xfrm>
              <a:off x="2173107" y="5372814"/>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72.1​</a:t>
              </a:r>
            </a:p>
          </p:txBody>
        </p:sp>
        <p:sp>
          <p:nvSpPr>
            <p:cNvPr id="192" name="TextBox 192"/>
            <p:cNvSpPr txBox="1"/>
            <p:nvPr/>
          </p:nvSpPr>
          <p:spPr>
            <a:xfrm>
              <a:off x="3506607" y="5372814"/>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46.3​</a:t>
              </a:r>
            </a:p>
          </p:txBody>
        </p:sp>
        <p:sp>
          <p:nvSpPr>
            <p:cNvPr id="193" name="TextBox 193"/>
            <p:cNvSpPr txBox="1"/>
            <p:nvPr/>
          </p:nvSpPr>
          <p:spPr>
            <a:xfrm>
              <a:off x="4840107" y="5372814"/>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28.7​</a:t>
              </a:r>
            </a:p>
          </p:txBody>
        </p:sp>
        <p:sp>
          <p:nvSpPr>
            <p:cNvPr id="194" name="TextBox 194"/>
            <p:cNvSpPr txBox="1"/>
            <p:nvPr/>
          </p:nvSpPr>
          <p:spPr>
            <a:xfrm>
              <a:off x="6023912" y="5372814"/>
              <a:ext cx="277526"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62%​</a:t>
              </a:r>
            </a:p>
          </p:txBody>
        </p:sp>
        <p:grpSp>
          <p:nvGrpSpPr>
            <p:cNvPr id="203" name="Group 203"/>
            <p:cNvGrpSpPr/>
            <p:nvPr/>
          </p:nvGrpSpPr>
          <p:grpSpPr>
            <a:xfrm>
              <a:off x="415528" y="5644753"/>
              <a:ext cx="97235" cy="102394"/>
              <a:chOff x="415528" y="5644753"/>
              <a:chExt cx="97235" cy="102394"/>
            </a:xfrm>
          </p:grpSpPr>
          <p:sp>
            <p:nvSpPr>
              <p:cNvPr id="195" name="Freeform 195"/>
              <p:cNvSpPr/>
              <p:nvPr/>
            </p:nvSpPr>
            <p:spPr>
              <a:xfrm>
                <a:off x="415528" y="5737622"/>
                <a:ext cx="92869" cy="9525"/>
              </a:xfrm>
              <a:custGeom>
                <a:avLst/>
                <a:gdLst/>
                <a:ahLst/>
                <a:cxnLst/>
                <a:rect l="l" t="t" r="r" b="b"/>
                <a:pathLst>
                  <a:path w="92869" h="9525">
                    <a:moveTo>
                      <a:pt x="0" y="0"/>
                    </a:moveTo>
                    <a:lnTo>
                      <a:pt x="92869" y="0"/>
                    </a:lnTo>
                  </a:path>
                </a:pathLst>
              </a:custGeom>
              <a:noFill/>
              <a:ln w="10319">
                <a:solidFill>
                  <a:srgbClr val="E04C2E"/>
                </a:solidFill>
              </a:ln>
            </p:spPr>
          </p:sp>
          <p:sp>
            <p:nvSpPr>
              <p:cNvPr id="196" name="Freeform 196"/>
              <p:cNvSpPr/>
              <p:nvPr/>
            </p:nvSpPr>
            <p:spPr>
              <a:xfrm>
                <a:off x="415528" y="5680869"/>
                <a:ext cx="92869" cy="9525"/>
              </a:xfrm>
              <a:custGeom>
                <a:avLst/>
                <a:gdLst/>
                <a:ahLst/>
                <a:cxnLst/>
                <a:rect l="l" t="t" r="r" b="b"/>
                <a:pathLst>
                  <a:path w="92869" h="9525">
                    <a:moveTo>
                      <a:pt x="0" y="0"/>
                    </a:moveTo>
                    <a:lnTo>
                      <a:pt x="92869" y="0"/>
                    </a:lnTo>
                  </a:path>
                </a:pathLst>
              </a:custGeom>
              <a:noFill/>
              <a:ln w="10319">
                <a:solidFill>
                  <a:srgbClr val="E04C2E"/>
                </a:solidFill>
              </a:ln>
            </p:spPr>
          </p:sp>
          <p:sp>
            <p:nvSpPr>
              <p:cNvPr id="197" name="Freeform 197"/>
              <p:cNvSpPr/>
              <p:nvPr/>
            </p:nvSpPr>
            <p:spPr>
              <a:xfrm>
                <a:off x="425847" y="5644753"/>
                <a:ext cx="72231" cy="15478"/>
              </a:xfrm>
              <a:custGeom>
                <a:avLst/>
                <a:gdLst/>
                <a:ahLst/>
                <a:cxnLst/>
                <a:rect l="l" t="t" r="r" b="b"/>
                <a:pathLst>
                  <a:path w="72231" h="15478">
                    <a:moveTo>
                      <a:pt x="0" y="15478"/>
                    </a:moveTo>
                    <a:lnTo>
                      <a:pt x="36116" y="0"/>
                    </a:lnTo>
                    <a:lnTo>
                      <a:pt x="72231" y="15478"/>
                    </a:lnTo>
                  </a:path>
                </a:pathLst>
              </a:custGeom>
              <a:noFill/>
              <a:ln w="10319">
                <a:solidFill>
                  <a:srgbClr val="E04C2E"/>
                </a:solidFill>
              </a:ln>
            </p:spPr>
          </p:sp>
          <p:sp>
            <p:nvSpPr>
              <p:cNvPr id="198" name="Freeform 198"/>
              <p:cNvSpPr/>
              <p:nvPr/>
            </p:nvSpPr>
            <p:spPr>
              <a:xfrm>
                <a:off x="420688" y="5680869"/>
                <a:ext cx="9525" cy="56753"/>
              </a:xfrm>
              <a:custGeom>
                <a:avLst/>
                <a:gdLst/>
                <a:ahLst/>
                <a:cxnLst/>
                <a:rect l="l" t="t" r="r" b="b"/>
                <a:pathLst>
                  <a:path w="9525" h="56753">
                    <a:moveTo>
                      <a:pt x="0" y="0"/>
                    </a:moveTo>
                    <a:lnTo>
                      <a:pt x="0" y="56753"/>
                    </a:lnTo>
                  </a:path>
                </a:pathLst>
              </a:custGeom>
              <a:noFill/>
              <a:ln w="10319">
                <a:solidFill>
                  <a:srgbClr val="E04C2E"/>
                </a:solidFill>
              </a:ln>
            </p:spPr>
          </p:sp>
          <p:sp>
            <p:nvSpPr>
              <p:cNvPr id="199" name="Freeform 199"/>
              <p:cNvSpPr/>
              <p:nvPr/>
            </p:nvSpPr>
            <p:spPr>
              <a:xfrm>
                <a:off x="503238" y="5680869"/>
                <a:ext cx="9525" cy="56753"/>
              </a:xfrm>
              <a:custGeom>
                <a:avLst/>
                <a:gdLst/>
                <a:ahLst/>
                <a:cxnLst/>
                <a:rect l="l" t="t" r="r" b="b"/>
                <a:pathLst>
                  <a:path w="9525" h="56753">
                    <a:moveTo>
                      <a:pt x="0" y="0"/>
                    </a:moveTo>
                    <a:lnTo>
                      <a:pt x="0" y="56753"/>
                    </a:lnTo>
                  </a:path>
                </a:pathLst>
              </a:custGeom>
              <a:noFill/>
              <a:ln w="10319">
                <a:solidFill>
                  <a:srgbClr val="E04C2E"/>
                </a:solidFill>
              </a:ln>
            </p:spPr>
          </p:sp>
          <p:sp>
            <p:nvSpPr>
              <p:cNvPr id="200" name="Freeform 200"/>
              <p:cNvSpPr/>
              <p:nvPr/>
            </p:nvSpPr>
            <p:spPr>
              <a:xfrm>
                <a:off x="441325" y="5701506"/>
                <a:ext cx="9525" cy="15478"/>
              </a:xfrm>
              <a:custGeom>
                <a:avLst/>
                <a:gdLst/>
                <a:ahLst/>
                <a:cxnLst/>
                <a:rect l="l" t="t" r="r" b="b"/>
                <a:pathLst>
                  <a:path w="9525" h="15478">
                    <a:moveTo>
                      <a:pt x="0" y="0"/>
                    </a:moveTo>
                    <a:lnTo>
                      <a:pt x="0" y="15478"/>
                    </a:lnTo>
                  </a:path>
                </a:pathLst>
              </a:custGeom>
              <a:noFill/>
              <a:ln w="10319">
                <a:solidFill>
                  <a:srgbClr val="E04C2E"/>
                </a:solidFill>
              </a:ln>
            </p:spPr>
          </p:sp>
          <p:sp>
            <p:nvSpPr>
              <p:cNvPr id="201" name="Freeform 201"/>
              <p:cNvSpPr/>
              <p:nvPr/>
            </p:nvSpPr>
            <p:spPr>
              <a:xfrm>
                <a:off x="461963" y="5701506"/>
                <a:ext cx="9525" cy="15478"/>
              </a:xfrm>
              <a:custGeom>
                <a:avLst/>
                <a:gdLst/>
                <a:ahLst/>
                <a:cxnLst/>
                <a:rect l="l" t="t" r="r" b="b"/>
                <a:pathLst>
                  <a:path w="9525" h="15478">
                    <a:moveTo>
                      <a:pt x="0" y="0"/>
                    </a:moveTo>
                    <a:lnTo>
                      <a:pt x="0" y="15478"/>
                    </a:lnTo>
                  </a:path>
                </a:pathLst>
              </a:custGeom>
              <a:noFill/>
              <a:ln w="10319">
                <a:solidFill>
                  <a:srgbClr val="E04C2E"/>
                </a:solidFill>
              </a:ln>
            </p:spPr>
          </p:sp>
          <p:sp>
            <p:nvSpPr>
              <p:cNvPr id="202" name="Freeform 202"/>
              <p:cNvSpPr/>
              <p:nvPr/>
            </p:nvSpPr>
            <p:spPr>
              <a:xfrm>
                <a:off x="482600" y="5701506"/>
                <a:ext cx="9525" cy="15478"/>
              </a:xfrm>
              <a:custGeom>
                <a:avLst/>
                <a:gdLst/>
                <a:ahLst/>
                <a:cxnLst/>
                <a:rect l="l" t="t" r="r" b="b"/>
                <a:pathLst>
                  <a:path w="9525" h="15478">
                    <a:moveTo>
                      <a:pt x="0" y="0"/>
                    </a:moveTo>
                    <a:lnTo>
                      <a:pt x="0" y="15478"/>
                    </a:lnTo>
                  </a:path>
                </a:pathLst>
              </a:custGeom>
              <a:noFill/>
              <a:ln w="10319">
                <a:solidFill>
                  <a:srgbClr val="E04C2E"/>
                </a:solidFill>
              </a:ln>
            </p:spPr>
          </p:sp>
        </p:grpSp>
        <p:sp>
          <p:nvSpPr>
            <p:cNvPr id="204" name="TextBox 204"/>
            <p:cNvSpPr txBox="1"/>
            <p:nvPr/>
          </p:nvSpPr>
          <p:spPr>
            <a:xfrm>
              <a:off x="585788" y="5649039"/>
              <a:ext cx="43492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城市更新</a:t>
              </a:r>
            </a:p>
          </p:txBody>
        </p:sp>
        <p:sp>
          <p:nvSpPr>
            <p:cNvPr id="205" name="TextBox 205"/>
            <p:cNvSpPr txBox="1"/>
            <p:nvPr/>
          </p:nvSpPr>
          <p:spPr>
            <a:xfrm>
              <a:off x="2173107" y="564903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64.8​</a:t>
              </a:r>
            </a:p>
          </p:txBody>
        </p:sp>
        <p:sp>
          <p:nvSpPr>
            <p:cNvPr id="206" name="TextBox 206"/>
            <p:cNvSpPr txBox="1"/>
            <p:nvPr/>
          </p:nvSpPr>
          <p:spPr>
            <a:xfrm>
              <a:off x="3506607" y="564903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42.1​</a:t>
              </a:r>
            </a:p>
          </p:txBody>
        </p:sp>
        <p:sp>
          <p:nvSpPr>
            <p:cNvPr id="207" name="TextBox 207"/>
            <p:cNvSpPr txBox="1"/>
            <p:nvPr/>
          </p:nvSpPr>
          <p:spPr>
            <a:xfrm>
              <a:off x="4840107" y="564903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24.3​</a:t>
              </a:r>
            </a:p>
          </p:txBody>
        </p:sp>
        <p:sp>
          <p:nvSpPr>
            <p:cNvPr id="208" name="TextBox 208"/>
            <p:cNvSpPr txBox="1"/>
            <p:nvPr/>
          </p:nvSpPr>
          <p:spPr>
            <a:xfrm>
              <a:off x="6023912" y="5649039"/>
              <a:ext cx="277526"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58%​</a:t>
              </a:r>
            </a:p>
          </p:txBody>
        </p:sp>
        <p:grpSp>
          <p:nvGrpSpPr>
            <p:cNvPr id="212" name="Group 212"/>
            <p:cNvGrpSpPr/>
            <p:nvPr/>
          </p:nvGrpSpPr>
          <p:grpSpPr>
            <a:xfrm>
              <a:off x="420687" y="5923617"/>
              <a:ext cx="85064" cy="87580"/>
              <a:chOff x="420687" y="5923617"/>
              <a:chExt cx="85064" cy="87580"/>
            </a:xfrm>
          </p:grpSpPr>
          <p:sp>
            <p:nvSpPr>
              <p:cNvPr id="209" name="Freeform 209"/>
              <p:cNvSpPr/>
              <p:nvPr/>
            </p:nvSpPr>
            <p:spPr>
              <a:xfrm>
                <a:off x="446484" y="5951934"/>
                <a:ext cx="30956" cy="30956"/>
              </a:xfrm>
              <a:custGeom>
                <a:avLst/>
                <a:gdLst/>
                <a:ahLst/>
                <a:cxnLst/>
                <a:rect l="l" t="t" r="r" b="b"/>
                <a:pathLst>
                  <a:path w="30956" h="30956">
                    <a:moveTo>
                      <a:pt x="0" y="30956"/>
                    </a:moveTo>
                    <a:lnTo>
                      <a:pt x="30956" y="0"/>
                    </a:lnTo>
                  </a:path>
                </a:pathLst>
              </a:custGeom>
              <a:noFill/>
              <a:ln w="10319">
                <a:solidFill>
                  <a:srgbClr val="E04C2E"/>
                </a:solidFill>
              </a:ln>
            </p:spPr>
          </p:sp>
          <p:sp>
            <p:nvSpPr>
              <p:cNvPr id="210" name="Freeform 210"/>
              <p:cNvSpPr/>
              <p:nvPr/>
            </p:nvSpPr>
            <p:spPr>
              <a:xfrm>
                <a:off x="456803" y="5923617"/>
                <a:ext cx="48948" cy="48955"/>
              </a:xfrm>
              <a:custGeom>
                <a:avLst/>
                <a:gdLst/>
                <a:ahLst/>
                <a:cxnLst/>
                <a:rect l="l" t="t" r="r" b="b"/>
                <a:pathLst>
                  <a:path w="48948" h="48955">
                    <a:moveTo>
                      <a:pt x="0" y="12840"/>
                    </a:moveTo>
                    <a:lnTo>
                      <a:pt x="2389" y="10074"/>
                    </a:lnTo>
                    <a:cubicBezTo>
                      <a:pt x="12464" y="0"/>
                      <a:pt x="28799" y="1"/>
                      <a:pt x="38873" y="10077"/>
                    </a:cubicBezTo>
                    <a:cubicBezTo>
                      <a:pt x="48948" y="20152"/>
                      <a:pt x="48946" y="36487"/>
                      <a:pt x="38871" y="46561"/>
                    </a:cubicBezTo>
                    <a:lnTo>
                      <a:pt x="36116" y="48955"/>
                    </a:lnTo>
                  </a:path>
                </a:pathLst>
              </a:custGeom>
              <a:noFill/>
              <a:ln w="10319">
                <a:solidFill>
                  <a:srgbClr val="E04C2E"/>
                </a:solidFill>
              </a:ln>
            </p:spPr>
          </p:sp>
          <p:sp>
            <p:nvSpPr>
              <p:cNvPr id="211" name="Freeform 211"/>
              <p:cNvSpPr/>
              <p:nvPr/>
            </p:nvSpPr>
            <p:spPr>
              <a:xfrm>
                <a:off x="420687" y="5962253"/>
                <a:ext cx="46435" cy="48944"/>
              </a:xfrm>
              <a:custGeom>
                <a:avLst/>
                <a:gdLst/>
                <a:ahLst/>
                <a:cxnLst/>
                <a:rect l="l" t="t" r="r" b="b"/>
                <a:pathLst>
                  <a:path w="46435" h="48944">
                    <a:moveTo>
                      <a:pt x="46435" y="36116"/>
                    </a:moveTo>
                    <a:lnTo>
                      <a:pt x="44387" y="38871"/>
                    </a:lnTo>
                    <a:cubicBezTo>
                      <a:pt x="34200" y="48944"/>
                      <a:pt x="17803" y="48944"/>
                      <a:pt x="7616" y="38871"/>
                    </a:cubicBezTo>
                    <a:cubicBezTo>
                      <a:pt x="2743" y="34052"/>
                      <a:pt x="0" y="27483"/>
                      <a:pt x="0" y="20630"/>
                    </a:cubicBezTo>
                    <a:cubicBezTo>
                      <a:pt x="0" y="13776"/>
                      <a:pt x="2743" y="7208"/>
                      <a:pt x="7616" y="2389"/>
                    </a:cubicBezTo>
                    <a:lnTo>
                      <a:pt x="10319" y="0"/>
                    </a:lnTo>
                  </a:path>
                </a:pathLst>
              </a:custGeom>
              <a:noFill/>
              <a:ln w="10319">
                <a:solidFill>
                  <a:srgbClr val="E04C2E"/>
                </a:solidFill>
              </a:ln>
            </p:spPr>
          </p:sp>
        </p:grpSp>
        <p:sp>
          <p:nvSpPr>
            <p:cNvPr id="213" name="TextBox 213"/>
            <p:cNvSpPr txBox="1"/>
            <p:nvPr/>
          </p:nvSpPr>
          <p:spPr>
            <a:xfrm>
              <a:off x="585788" y="5925264"/>
              <a:ext cx="54127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供应链融资</a:t>
              </a:r>
            </a:p>
          </p:txBody>
        </p:sp>
        <p:sp>
          <p:nvSpPr>
            <p:cNvPr id="214" name="TextBox 214"/>
            <p:cNvSpPr txBox="1"/>
            <p:nvPr/>
          </p:nvSpPr>
          <p:spPr>
            <a:xfrm>
              <a:off x="2173107" y="5925264"/>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48.9​</a:t>
              </a:r>
            </a:p>
          </p:txBody>
        </p:sp>
        <p:sp>
          <p:nvSpPr>
            <p:cNvPr id="215" name="TextBox 215"/>
            <p:cNvSpPr txBox="1"/>
            <p:nvPr/>
          </p:nvSpPr>
          <p:spPr>
            <a:xfrm>
              <a:off x="3506607" y="5925264"/>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33.5​</a:t>
              </a:r>
            </a:p>
          </p:txBody>
        </p:sp>
        <p:sp>
          <p:nvSpPr>
            <p:cNvPr id="216" name="TextBox 216"/>
            <p:cNvSpPr txBox="1"/>
            <p:nvPr/>
          </p:nvSpPr>
          <p:spPr>
            <a:xfrm>
              <a:off x="4840107" y="5925264"/>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21.2​</a:t>
              </a:r>
            </a:p>
          </p:txBody>
        </p:sp>
        <p:sp>
          <p:nvSpPr>
            <p:cNvPr id="217" name="TextBox 217"/>
            <p:cNvSpPr txBox="1"/>
            <p:nvPr/>
          </p:nvSpPr>
          <p:spPr>
            <a:xfrm>
              <a:off x="6023912" y="5925264"/>
              <a:ext cx="277526"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63%​</a:t>
              </a:r>
            </a:p>
          </p:txBody>
        </p:sp>
        <p:sp>
          <p:nvSpPr>
            <p:cNvPr id="218" name="Rectangle 218"/>
            <p:cNvSpPr/>
            <p:nvPr/>
          </p:nvSpPr>
          <p:spPr>
            <a:xfrm>
              <a:off x="342900" y="6134100"/>
              <a:ext cx="6438900" cy="266700"/>
            </a:xfrm>
            <a:prstGeom prst="rect">
              <a:avLst/>
            </a:prstGeom>
            <a:solidFill>
              <a:srgbClr val="69281B"/>
            </a:solidFill>
            <a:ln>
              <a:noFill/>
            </a:ln>
          </p:spPr>
        </p:sp>
        <p:sp>
          <p:nvSpPr>
            <p:cNvPr id="219" name="TextBox 219"/>
            <p:cNvSpPr txBox="1"/>
            <p:nvPr/>
          </p:nvSpPr>
          <p:spPr>
            <a:xfrm>
              <a:off x="585788" y="6220539"/>
              <a:ext cx="222225"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合计</a:t>
              </a:r>
            </a:p>
          </p:txBody>
        </p:sp>
        <p:sp>
          <p:nvSpPr>
            <p:cNvPr id="220" name="TextBox 220"/>
            <p:cNvSpPr txBox="1"/>
            <p:nvPr/>
          </p:nvSpPr>
          <p:spPr>
            <a:xfrm>
              <a:off x="2135086" y="6220539"/>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424.7​</a:t>
              </a:r>
            </a:p>
          </p:txBody>
        </p:sp>
        <p:sp>
          <p:nvSpPr>
            <p:cNvPr id="221" name="TextBox 221"/>
            <p:cNvSpPr txBox="1"/>
            <p:nvPr/>
          </p:nvSpPr>
          <p:spPr>
            <a:xfrm>
              <a:off x="3468586" y="6220539"/>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276.4​</a:t>
              </a:r>
            </a:p>
          </p:txBody>
        </p:sp>
        <p:sp>
          <p:nvSpPr>
            <p:cNvPr id="222" name="TextBox 222"/>
            <p:cNvSpPr txBox="1"/>
            <p:nvPr/>
          </p:nvSpPr>
          <p:spPr>
            <a:xfrm>
              <a:off x="4802086" y="6220539"/>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172.2​</a:t>
              </a:r>
            </a:p>
          </p:txBody>
        </p:sp>
        <p:sp>
          <p:nvSpPr>
            <p:cNvPr id="223" name="TextBox 223"/>
            <p:cNvSpPr txBox="1"/>
            <p:nvPr/>
          </p:nvSpPr>
          <p:spPr>
            <a:xfrm>
              <a:off x="6023912" y="6220539"/>
              <a:ext cx="27752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61%​</a:t>
              </a:r>
            </a:p>
          </p:txBody>
        </p:sp>
      </p:grpSp>
      <p:grpSp>
        <p:nvGrpSpPr>
          <p:cNvPr id="235" name="stat-coverage"/>
          <p:cNvGrpSpPr/>
          <p:nvPr/>
        </p:nvGrpSpPr>
        <p:grpSpPr>
          <a:xfrm>
            <a:off x="7010400" y="4191000"/>
            <a:ext cx="4953000" cy="1181100"/>
            <a:chOff x="7010400" y="4191000"/>
            <a:chExt cx="4953000" cy="1181100"/>
          </a:xfrm>
        </p:grpSpPr>
        <p:sp>
          <p:nvSpPr>
            <p:cNvPr id="225" name="Rectangle 225"/>
            <p:cNvSpPr/>
            <p:nvPr/>
          </p:nvSpPr>
          <p:spPr>
            <a:xfrm>
              <a:off x="7010400" y="4191000"/>
              <a:ext cx="4953000" cy="1181100"/>
            </a:xfrm>
            <a:prstGeom prst="roundRect">
              <a:avLst>
                <a:gd name="adj" fmla="val 4839"/>
              </a:avLst>
            </a:prstGeom>
            <a:solidFill>
              <a:srgbClr val="FFFFFF"/>
            </a:solidFill>
            <a:ln w="9525">
              <a:solidFill>
                <a:srgbClr val="C9D6E9"/>
              </a:solidFill>
            </a:ln>
          </p:spPr>
        </p:sp>
        <p:sp>
          <p:nvSpPr>
            <p:cNvPr id="226" name="Rectangle 226"/>
            <p:cNvSpPr/>
            <p:nvPr/>
          </p:nvSpPr>
          <p:spPr>
            <a:xfrm>
              <a:off x="7010400" y="4191000"/>
              <a:ext cx="57150" cy="1181100"/>
            </a:xfrm>
            <a:prstGeom prst="rect">
              <a:avLst/>
            </a:prstGeom>
            <a:solidFill>
              <a:srgbClr val="69281B"/>
            </a:solidFill>
            <a:ln>
              <a:noFill/>
            </a:ln>
          </p:spPr>
        </p:sp>
        <p:sp>
          <p:nvSpPr>
            <p:cNvPr id="227" name="TextBox 227"/>
            <p:cNvSpPr txBox="1"/>
            <p:nvPr/>
          </p:nvSpPr>
          <p:spPr>
            <a:xfrm>
              <a:off x="7253097" y="4409599"/>
              <a:ext cx="1197254" cy="190690"/>
            </a:xfrm>
            <a:prstGeom prst="rect">
              <a:avLst/>
            </a:prstGeom>
            <a:noFill/>
            <a:ln>
              <a:noFill/>
            </a:ln>
          </p:spPr>
          <p:txBody>
            <a:bodyPr wrap="none" lIns="0" tIns="0" rIns="0" bIns="0" anchor="t" anchorCtr="0">
              <a:spAutoFit/>
            </a:bodyPr>
            <a:lstStyle/>
            <a:p>
              <a:pPr algn="l"/>
              <a:r>
                <a:rPr lang="zh-CN" sz="980" b="1" dirty="0">
                  <a:solidFill>
                    <a:srgbClr val="69281B"/>
                  </a:solidFill>
                  <a:latin typeface="+mn-lt"/>
                  <a:ea typeface="+mn-ea"/>
                  <a:cs typeface="+mn-cs"/>
                </a:rPr>
                <a:t>重大项目清单覆盖率</a:t>
              </a:r>
            </a:p>
          </p:txBody>
        </p:sp>
        <p:sp>
          <p:nvSpPr>
            <p:cNvPr id="228" name="TextBox 228"/>
            <p:cNvSpPr txBox="1"/>
            <p:nvPr/>
          </p:nvSpPr>
          <p:spPr>
            <a:xfrm>
              <a:off x="7243572" y="4797742"/>
              <a:ext cx="829356" cy="557403"/>
            </a:xfrm>
            <a:prstGeom prst="rect">
              <a:avLst/>
            </a:prstGeom>
            <a:noFill/>
            <a:ln>
              <a:noFill/>
            </a:ln>
          </p:spPr>
          <p:txBody>
            <a:bodyPr wrap="none" lIns="0" tIns="0" rIns="0" bIns="0" anchor="t" anchorCtr="0">
              <a:spAutoFit/>
            </a:bodyPr>
            <a:lstStyle/>
            <a:p>
              <a:pPr algn="l"/>
              <a:r>
                <a:rPr lang="zh-CN" sz="2850" b="1" dirty="0">
                  <a:solidFill>
                    <a:srgbClr val="69281B"/>
                  </a:solidFill>
                  <a:latin typeface="+mn-lt"/>
                  <a:ea typeface="+mn-ea"/>
                  <a:cs typeface="+mn-cs"/>
                </a:rPr>
                <a:t>92</a:t>
              </a:r>
              <a:r>
                <a:rPr lang="zh-CN" sz="1280" b="1" dirty="0">
                  <a:solidFill>
                    <a:srgbClr val="69281B"/>
                  </a:solidFill>
                  <a:latin typeface="+mn-lt"/>
                  <a:ea typeface="+mn-ea"/>
                  <a:cs typeface="+mn-cs"/>
                </a:rPr>
                <a:t>%</a:t>
              </a:r>
              <a:r>
                <a:rPr lang="zh-CN" sz="2850" b="1" dirty="0">
                  <a:solidFill>
                    <a:srgbClr val="69281B"/>
                  </a:solidFill>
                  <a:latin typeface="+mn-lt"/>
                  <a:ea typeface="+mn-ea"/>
                  <a:cs typeface="+mn-cs"/>
                </a:rPr>
                <a:t>​</a:t>
              </a:r>
            </a:p>
          </p:txBody>
        </p:sp>
        <p:sp>
          <p:nvSpPr>
            <p:cNvPr id="229" name="Rectangle 229"/>
            <p:cNvSpPr/>
            <p:nvPr/>
          </p:nvSpPr>
          <p:spPr>
            <a:xfrm>
              <a:off x="8096250" y="4857750"/>
              <a:ext cx="495300" cy="171450"/>
            </a:xfrm>
            <a:prstGeom prst="roundRect">
              <a:avLst>
                <a:gd name="adj" fmla="val 16667"/>
              </a:avLst>
            </a:prstGeom>
            <a:noFill/>
            <a:ln w="9525">
              <a:solidFill>
                <a:srgbClr val="E04C2E"/>
              </a:solidFill>
            </a:ln>
          </p:spPr>
        </p:sp>
        <p:sp>
          <p:nvSpPr>
            <p:cNvPr id="230" name="TextBox 230"/>
            <p:cNvSpPr txBox="1"/>
            <p:nvPr/>
          </p:nvSpPr>
          <p:spPr>
            <a:xfrm>
              <a:off x="8166824" y="4912757"/>
              <a:ext cx="35415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示例数据</a:t>
              </a:r>
            </a:p>
          </p:txBody>
        </p:sp>
        <p:grpSp>
          <p:nvGrpSpPr>
            <p:cNvPr id="234" name="Group 234"/>
            <p:cNvGrpSpPr/>
            <p:nvPr/>
          </p:nvGrpSpPr>
          <p:grpSpPr>
            <a:xfrm>
              <a:off x="11115675" y="4543425"/>
              <a:ext cx="400049" cy="400049"/>
              <a:chOff x="11115675" y="4543425"/>
              <a:chExt cx="400049" cy="400049"/>
            </a:xfrm>
          </p:grpSpPr>
          <p:sp>
            <p:nvSpPr>
              <p:cNvPr id="231" name="Freeform 231"/>
              <p:cNvSpPr/>
              <p:nvPr/>
            </p:nvSpPr>
            <p:spPr>
              <a:xfrm>
                <a:off x="11293475" y="4721225"/>
                <a:ext cx="44450" cy="44450"/>
              </a:xfrm>
              <a:custGeom>
                <a:avLst/>
                <a:gdLst/>
                <a:ahLst/>
                <a:cxnLst/>
                <a:rect l="l" t="t" r="r" b="b"/>
                <a:pathLst>
                  <a:path w="44450" h="44450">
                    <a:moveTo>
                      <a:pt x="0" y="22225"/>
                    </a:moveTo>
                    <a:cubicBezTo>
                      <a:pt x="0" y="34499"/>
                      <a:pt x="9950" y="44450"/>
                      <a:pt x="22225" y="44450"/>
                    </a:cubicBezTo>
                    <a:cubicBezTo>
                      <a:pt x="34499" y="44450"/>
                      <a:pt x="44450" y="34499"/>
                      <a:pt x="44450" y="22225"/>
                    </a:cubicBezTo>
                    <a:cubicBezTo>
                      <a:pt x="44450" y="9950"/>
                      <a:pt x="34499" y="0"/>
                      <a:pt x="22225" y="0"/>
                    </a:cubicBezTo>
                    <a:cubicBezTo>
                      <a:pt x="9950" y="0"/>
                      <a:pt x="0" y="9950"/>
                      <a:pt x="0" y="22225"/>
                    </a:cubicBezTo>
                  </a:path>
                </a:pathLst>
              </a:custGeom>
              <a:noFill/>
              <a:ln w="44450">
                <a:solidFill>
                  <a:srgbClr val="E04C2E"/>
                </a:solidFill>
              </a:ln>
            </p:spPr>
          </p:sp>
          <p:sp>
            <p:nvSpPr>
              <p:cNvPr id="232" name="Freeform 232"/>
              <p:cNvSpPr/>
              <p:nvPr/>
            </p:nvSpPr>
            <p:spPr>
              <a:xfrm>
                <a:off x="11204575" y="4632325"/>
                <a:ext cx="222250" cy="222250"/>
              </a:xfrm>
              <a:custGeom>
                <a:avLst/>
                <a:gdLst/>
                <a:ahLst/>
                <a:cxnLst/>
                <a:rect l="l" t="t" r="r" b="b"/>
                <a:pathLst>
                  <a:path w="222250" h="222250">
                    <a:moveTo>
                      <a:pt x="0" y="111125"/>
                    </a:moveTo>
                    <a:cubicBezTo>
                      <a:pt x="0" y="172497"/>
                      <a:pt x="49752" y="222250"/>
                      <a:pt x="111125" y="222250"/>
                    </a:cubicBezTo>
                    <a:cubicBezTo>
                      <a:pt x="172497" y="222250"/>
                      <a:pt x="222250" y="172497"/>
                      <a:pt x="222250" y="111125"/>
                    </a:cubicBezTo>
                    <a:cubicBezTo>
                      <a:pt x="222250" y="49752"/>
                      <a:pt x="172497" y="0"/>
                      <a:pt x="111125" y="0"/>
                    </a:cubicBezTo>
                    <a:cubicBezTo>
                      <a:pt x="49752" y="0"/>
                      <a:pt x="0" y="49752"/>
                      <a:pt x="0" y="111125"/>
                    </a:cubicBezTo>
                  </a:path>
                </a:pathLst>
              </a:custGeom>
              <a:noFill/>
              <a:ln w="44450">
                <a:solidFill>
                  <a:srgbClr val="E04C2E"/>
                </a:solidFill>
              </a:ln>
            </p:spPr>
          </p:sp>
          <p:sp>
            <p:nvSpPr>
              <p:cNvPr id="233" name="Freeform 233"/>
              <p:cNvSpPr/>
              <p:nvPr/>
            </p:nvSpPr>
            <p:spPr>
              <a:xfrm>
                <a:off x="11115675" y="4543425"/>
                <a:ext cx="400049" cy="400049"/>
              </a:xfrm>
              <a:custGeom>
                <a:avLst/>
                <a:gdLst/>
                <a:ahLst/>
                <a:cxnLst/>
                <a:rect l="l" t="t" r="r" b="b"/>
                <a:pathLst>
                  <a:path w="400049" h="400049">
                    <a:moveTo>
                      <a:pt x="0" y="200025"/>
                    </a:moveTo>
                    <a:cubicBezTo>
                      <a:pt x="0" y="310495"/>
                      <a:pt x="89554" y="400049"/>
                      <a:pt x="200025" y="400049"/>
                    </a:cubicBezTo>
                    <a:cubicBezTo>
                      <a:pt x="310495" y="400049"/>
                      <a:pt x="400049" y="310495"/>
                      <a:pt x="400049" y="200025"/>
                    </a:cubicBezTo>
                    <a:cubicBezTo>
                      <a:pt x="400049" y="89554"/>
                      <a:pt x="310495" y="0"/>
                      <a:pt x="200025" y="0"/>
                    </a:cubicBezTo>
                    <a:cubicBezTo>
                      <a:pt x="89554" y="0"/>
                      <a:pt x="0" y="89554"/>
                      <a:pt x="0" y="200025"/>
                    </a:cubicBezTo>
                  </a:path>
                </a:pathLst>
              </a:custGeom>
              <a:noFill/>
              <a:ln w="44450">
                <a:solidFill>
                  <a:srgbClr val="E04C2E"/>
                </a:solidFill>
              </a:ln>
            </p:spPr>
          </p:sp>
        </p:grpSp>
      </p:grpSp>
      <p:grpSp>
        <p:nvGrpSpPr>
          <p:cNvPr id="247" name="stat-cooperation"/>
          <p:cNvGrpSpPr/>
          <p:nvPr/>
        </p:nvGrpSpPr>
        <p:grpSpPr>
          <a:xfrm>
            <a:off x="7010400" y="5486400"/>
            <a:ext cx="4953000" cy="1181100"/>
            <a:chOff x="7010400" y="5486400"/>
            <a:chExt cx="4953000" cy="1181100"/>
          </a:xfrm>
        </p:grpSpPr>
        <p:sp>
          <p:nvSpPr>
            <p:cNvPr id="236" name="Rectangle 236"/>
            <p:cNvSpPr/>
            <p:nvPr/>
          </p:nvSpPr>
          <p:spPr>
            <a:xfrm>
              <a:off x="7010400" y="5486400"/>
              <a:ext cx="4953000" cy="1181100"/>
            </a:xfrm>
            <a:prstGeom prst="roundRect">
              <a:avLst>
                <a:gd name="adj" fmla="val 4839"/>
              </a:avLst>
            </a:prstGeom>
            <a:solidFill>
              <a:srgbClr val="FFFFFF"/>
            </a:solidFill>
            <a:ln w="9525">
              <a:solidFill>
                <a:srgbClr val="E8BBB3"/>
              </a:solidFill>
            </a:ln>
          </p:spPr>
        </p:sp>
        <p:sp>
          <p:nvSpPr>
            <p:cNvPr id="237" name="Rectangle 237"/>
            <p:cNvSpPr/>
            <p:nvPr/>
          </p:nvSpPr>
          <p:spPr>
            <a:xfrm>
              <a:off x="7010400" y="5486400"/>
              <a:ext cx="57150" cy="1181100"/>
            </a:xfrm>
            <a:prstGeom prst="rect">
              <a:avLst/>
            </a:prstGeom>
            <a:solidFill>
              <a:srgbClr val="D0442C"/>
            </a:solidFill>
            <a:ln>
              <a:noFill/>
            </a:ln>
          </p:spPr>
        </p:sp>
        <p:sp>
          <p:nvSpPr>
            <p:cNvPr id="238" name="TextBox 238"/>
            <p:cNvSpPr txBox="1"/>
            <p:nvPr/>
          </p:nvSpPr>
          <p:spPr>
            <a:xfrm>
              <a:off x="7253097" y="5704999"/>
              <a:ext cx="1988820" cy="190690"/>
            </a:xfrm>
            <a:prstGeom prst="rect">
              <a:avLst/>
            </a:prstGeom>
            <a:noFill/>
            <a:ln>
              <a:noFill/>
            </a:ln>
          </p:spPr>
          <p:txBody>
            <a:bodyPr wrap="none" lIns="0" tIns="0" rIns="0" bIns="0" anchor="t" anchorCtr="0">
              <a:spAutoFit/>
            </a:bodyPr>
            <a:lstStyle/>
            <a:p>
              <a:pPr algn="l"/>
              <a:r>
                <a:rPr lang="zh-CN" sz="980" b="1" dirty="0">
                  <a:solidFill>
                    <a:srgbClr val="D0442C"/>
                  </a:solidFill>
                  <a:latin typeface="+mn-lt"/>
                  <a:ea typeface="+mn-ea"/>
                  <a:cs typeface="+mn-cs"/>
                </a:rPr>
                <a:t>信贷合作率（我行参与项目占比）</a:t>
              </a:r>
            </a:p>
          </p:txBody>
        </p:sp>
        <p:sp>
          <p:nvSpPr>
            <p:cNvPr id="239" name="TextBox 239"/>
            <p:cNvSpPr txBox="1"/>
            <p:nvPr/>
          </p:nvSpPr>
          <p:spPr>
            <a:xfrm>
              <a:off x="7243572" y="6093142"/>
              <a:ext cx="829356" cy="557403"/>
            </a:xfrm>
            <a:prstGeom prst="rect">
              <a:avLst/>
            </a:prstGeom>
            <a:noFill/>
            <a:ln>
              <a:noFill/>
            </a:ln>
          </p:spPr>
          <p:txBody>
            <a:bodyPr wrap="none" lIns="0" tIns="0" rIns="0" bIns="0" anchor="t" anchorCtr="0">
              <a:spAutoFit/>
            </a:bodyPr>
            <a:lstStyle/>
            <a:p>
              <a:pPr algn="l"/>
              <a:r>
                <a:rPr lang="zh-CN" sz="2850" b="1" dirty="0">
                  <a:solidFill>
                    <a:srgbClr val="D0442C"/>
                  </a:solidFill>
                  <a:latin typeface="+mn-lt"/>
                  <a:ea typeface="+mn-ea"/>
                  <a:cs typeface="+mn-cs"/>
                </a:rPr>
                <a:t>61</a:t>
              </a:r>
              <a:r>
                <a:rPr lang="zh-CN" sz="1280" b="1" dirty="0">
                  <a:solidFill>
                    <a:srgbClr val="D0442C"/>
                  </a:solidFill>
                  <a:latin typeface="+mn-lt"/>
                  <a:ea typeface="+mn-ea"/>
                  <a:cs typeface="+mn-cs"/>
                </a:rPr>
                <a:t>%</a:t>
              </a:r>
              <a:r>
                <a:rPr lang="zh-CN" sz="2850" b="1" dirty="0">
                  <a:solidFill>
                    <a:srgbClr val="D0442C"/>
                  </a:solidFill>
                  <a:latin typeface="+mn-lt"/>
                  <a:ea typeface="+mn-ea"/>
                  <a:cs typeface="+mn-cs"/>
                </a:rPr>
                <a:t>​</a:t>
              </a:r>
            </a:p>
          </p:txBody>
        </p:sp>
        <p:sp>
          <p:nvSpPr>
            <p:cNvPr id="240" name="Rectangle 240"/>
            <p:cNvSpPr/>
            <p:nvPr/>
          </p:nvSpPr>
          <p:spPr>
            <a:xfrm>
              <a:off x="8096250" y="6153150"/>
              <a:ext cx="495300" cy="171450"/>
            </a:xfrm>
            <a:prstGeom prst="roundRect">
              <a:avLst>
                <a:gd name="adj" fmla="val 16667"/>
              </a:avLst>
            </a:prstGeom>
            <a:noFill/>
            <a:ln w="9525">
              <a:solidFill>
                <a:srgbClr val="D0442C"/>
              </a:solidFill>
            </a:ln>
          </p:spPr>
        </p:sp>
        <p:sp>
          <p:nvSpPr>
            <p:cNvPr id="241" name="TextBox 241"/>
            <p:cNvSpPr txBox="1"/>
            <p:nvPr/>
          </p:nvSpPr>
          <p:spPr>
            <a:xfrm>
              <a:off x="8166824" y="6208157"/>
              <a:ext cx="354152" cy="126206"/>
            </a:xfrm>
            <a:prstGeom prst="rect">
              <a:avLst/>
            </a:prstGeom>
            <a:noFill/>
            <a:ln>
              <a:noFill/>
            </a:ln>
          </p:spPr>
          <p:txBody>
            <a:bodyPr wrap="none" lIns="0" tIns="0" rIns="0" bIns="0" anchor="t" anchorCtr="0">
              <a:spAutoFit/>
            </a:bodyPr>
            <a:lstStyle/>
            <a:p>
              <a:pPr algn="ctr"/>
              <a:r>
                <a:rPr lang="zh-CN" sz="640" dirty="0">
                  <a:solidFill>
                    <a:srgbClr val="D0442C"/>
                  </a:solidFill>
                  <a:latin typeface="+mn-lt"/>
                  <a:ea typeface="+mn-ea"/>
                  <a:cs typeface="+mn-cs"/>
                </a:rPr>
                <a:t>示例数据</a:t>
              </a:r>
            </a:p>
          </p:txBody>
        </p:sp>
        <p:grpSp>
          <p:nvGrpSpPr>
            <p:cNvPr id="246" name="Group 246"/>
            <p:cNvGrpSpPr/>
            <p:nvPr/>
          </p:nvGrpSpPr>
          <p:grpSpPr>
            <a:xfrm>
              <a:off x="11115675" y="5861050"/>
              <a:ext cx="400049" cy="355600"/>
              <a:chOff x="11115675" y="5861050"/>
              <a:chExt cx="400049" cy="355600"/>
            </a:xfrm>
          </p:grpSpPr>
          <p:sp>
            <p:nvSpPr>
              <p:cNvPr id="242" name="Freeform 242"/>
              <p:cNvSpPr/>
              <p:nvPr/>
            </p:nvSpPr>
            <p:spPr>
              <a:xfrm>
                <a:off x="11115675" y="5927725"/>
                <a:ext cx="400049" cy="9525"/>
              </a:xfrm>
              <a:custGeom>
                <a:avLst/>
                <a:gdLst/>
                <a:ahLst/>
                <a:cxnLst/>
                <a:rect l="l" t="t" r="r" b="b"/>
                <a:pathLst>
                  <a:path w="400049" h="9525">
                    <a:moveTo>
                      <a:pt x="400049" y="0"/>
                    </a:moveTo>
                    <a:lnTo>
                      <a:pt x="0" y="0"/>
                    </a:lnTo>
                  </a:path>
                </a:pathLst>
              </a:custGeom>
              <a:noFill/>
              <a:ln w="44450">
                <a:solidFill>
                  <a:srgbClr val="D0442C"/>
                </a:solidFill>
              </a:ln>
            </p:spPr>
          </p:sp>
          <p:sp>
            <p:nvSpPr>
              <p:cNvPr id="243" name="Freeform 243"/>
              <p:cNvSpPr/>
              <p:nvPr/>
            </p:nvSpPr>
            <p:spPr>
              <a:xfrm>
                <a:off x="11449049" y="5861050"/>
                <a:ext cx="66675" cy="133350"/>
              </a:xfrm>
              <a:custGeom>
                <a:avLst/>
                <a:gdLst/>
                <a:ahLst/>
                <a:cxnLst/>
                <a:rect l="l" t="t" r="r" b="b"/>
                <a:pathLst>
                  <a:path w="66675" h="133350">
                    <a:moveTo>
                      <a:pt x="0" y="133350"/>
                    </a:moveTo>
                    <a:lnTo>
                      <a:pt x="66675" y="66675"/>
                    </a:lnTo>
                    <a:lnTo>
                      <a:pt x="0" y="0"/>
                    </a:lnTo>
                  </a:path>
                </a:pathLst>
              </a:custGeom>
              <a:noFill/>
              <a:ln w="44450">
                <a:solidFill>
                  <a:srgbClr val="D0442C"/>
                </a:solidFill>
              </a:ln>
            </p:spPr>
          </p:sp>
          <p:sp>
            <p:nvSpPr>
              <p:cNvPr id="244" name="Freeform 244"/>
              <p:cNvSpPr/>
              <p:nvPr/>
            </p:nvSpPr>
            <p:spPr>
              <a:xfrm>
                <a:off x="11115675" y="6083300"/>
                <a:ext cx="66675" cy="133350"/>
              </a:xfrm>
              <a:custGeom>
                <a:avLst/>
                <a:gdLst/>
                <a:ahLst/>
                <a:cxnLst/>
                <a:rect l="l" t="t" r="r" b="b"/>
                <a:pathLst>
                  <a:path w="66675" h="133350">
                    <a:moveTo>
                      <a:pt x="66675" y="133350"/>
                    </a:moveTo>
                    <a:lnTo>
                      <a:pt x="0" y="66675"/>
                    </a:lnTo>
                    <a:lnTo>
                      <a:pt x="66675" y="0"/>
                    </a:lnTo>
                  </a:path>
                </a:pathLst>
              </a:custGeom>
              <a:noFill/>
              <a:ln w="44450">
                <a:solidFill>
                  <a:srgbClr val="D0442C"/>
                </a:solidFill>
              </a:ln>
            </p:spPr>
          </p:sp>
          <p:sp>
            <p:nvSpPr>
              <p:cNvPr id="245" name="Freeform 245"/>
              <p:cNvSpPr/>
              <p:nvPr/>
            </p:nvSpPr>
            <p:spPr>
              <a:xfrm>
                <a:off x="11115675" y="6149974"/>
                <a:ext cx="400049" cy="9525"/>
              </a:xfrm>
              <a:custGeom>
                <a:avLst/>
                <a:gdLst/>
                <a:ahLst/>
                <a:cxnLst/>
                <a:rect l="l" t="t" r="r" b="b"/>
                <a:pathLst>
                  <a:path w="400049" h="9525">
                    <a:moveTo>
                      <a:pt x="0" y="0"/>
                    </a:moveTo>
                    <a:lnTo>
                      <a:pt x="400049" y="0"/>
                    </a:lnTo>
                  </a:path>
                </a:pathLst>
              </a:custGeom>
              <a:noFill/>
              <a:ln w="44450">
                <a:solidFill>
                  <a:srgbClr val="D0442C"/>
                </a:solidFill>
              </a:ln>
            </p:spPr>
          </p:sp>
        </p:grpSp>
      </p:grpSp>
      <p:sp>
        <p:nvSpPr>
          <p:cNvPr id="248"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04 / 18 页​</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05​</a:t>
              </a:r>
            </a:p>
          </p:txBody>
        </p:sp>
        <p:sp>
          <p:nvSpPr>
            <p:cNvPr id="4" name="TextBox 4"/>
            <p:cNvSpPr txBox="1"/>
            <p:nvPr/>
          </p:nvSpPr>
          <p:spPr>
            <a:xfrm>
              <a:off x="1019175" y="169069"/>
              <a:ext cx="7611618"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科技、制造、绿色与普惠贷款持续增长，重点领域服务质效明显提升</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59428" y="300038"/>
              <a:ext cx="1423035"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金额单位：人民币亿元（示例）</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24" name="card-scitech"/>
          <p:cNvGrpSpPr/>
          <p:nvPr/>
        </p:nvGrpSpPr>
        <p:grpSpPr>
          <a:xfrm>
            <a:off x="228600" y="685800"/>
            <a:ext cx="3505200" cy="1447800"/>
            <a:chOff x="228600" y="685800"/>
            <a:chExt cx="3505200" cy="1447800"/>
          </a:xfrm>
        </p:grpSpPr>
        <p:sp>
          <p:nvSpPr>
            <p:cNvPr id="9" name="Rectangle 9"/>
            <p:cNvSpPr/>
            <p:nvPr/>
          </p:nvSpPr>
          <p:spPr>
            <a:xfrm>
              <a:off x="228600" y="685800"/>
              <a:ext cx="3505200" cy="1447800"/>
            </a:xfrm>
            <a:prstGeom prst="roundRect">
              <a:avLst>
                <a:gd name="adj" fmla="val 3947"/>
              </a:avLst>
            </a:prstGeom>
            <a:solidFill>
              <a:srgbClr val="FFFFFF"/>
            </a:solidFill>
            <a:ln w="9525">
              <a:solidFill>
                <a:srgbClr val="C9D6E9"/>
              </a:solidFill>
            </a:ln>
          </p:spPr>
        </p:sp>
        <p:sp>
          <p:nvSpPr>
            <p:cNvPr id="10" name="Ellipse 10"/>
            <p:cNvSpPr/>
            <p:nvPr/>
          </p:nvSpPr>
          <p:spPr>
            <a:xfrm>
              <a:off x="361950" y="742950"/>
              <a:ext cx="495300" cy="495300"/>
            </a:xfrm>
            <a:prstGeom prst="ellipse">
              <a:avLst/>
            </a:prstGeom>
            <a:solidFill>
              <a:srgbClr val="EAF1FB"/>
            </a:solidFill>
            <a:ln>
              <a:noFill/>
            </a:ln>
          </p:spPr>
        </p:sp>
        <p:grpSp>
          <p:nvGrpSpPr>
            <p:cNvPr id="14" name="Group 14"/>
            <p:cNvGrpSpPr/>
            <p:nvPr/>
          </p:nvGrpSpPr>
          <p:grpSpPr>
            <a:xfrm>
              <a:off x="523791" y="908050"/>
              <a:ext cx="168358" cy="168359"/>
              <a:chOff x="523791" y="908050"/>
              <a:chExt cx="168358" cy="168359"/>
            </a:xfrm>
          </p:grpSpPr>
          <p:sp>
            <p:nvSpPr>
              <p:cNvPr id="11" name="Freeform 11"/>
              <p:cNvSpPr/>
              <p:nvPr/>
            </p:nvSpPr>
            <p:spPr>
              <a:xfrm>
                <a:off x="527050" y="908050"/>
                <a:ext cx="165099" cy="165099"/>
              </a:xfrm>
              <a:custGeom>
                <a:avLst/>
                <a:gdLst/>
                <a:ahLst/>
                <a:cxnLst/>
                <a:rect l="l" t="t" r="r" b="b"/>
                <a:pathLst>
                  <a:path w="165099" h="165099">
                    <a:moveTo>
                      <a:pt x="0" y="92868"/>
                    </a:moveTo>
                    <a:cubicBezTo>
                      <a:pt x="37872" y="97369"/>
                      <a:pt x="67730" y="127228"/>
                      <a:pt x="72231" y="165099"/>
                    </a:cubicBezTo>
                    <a:cubicBezTo>
                      <a:pt x="90774" y="154409"/>
                      <a:pt x="102481" y="134899"/>
                      <a:pt x="103187" y="113506"/>
                    </a:cubicBezTo>
                    <a:cubicBezTo>
                      <a:pt x="138619" y="101041"/>
                      <a:pt x="163055" y="68461"/>
                      <a:pt x="165099" y="30956"/>
                    </a:cubicBezTo>
                    <a:cubicBezTo>
                      <a:pt x="165099" y="13860"/>
                      <a:pt x="151240" y="0"/>
                      <a:pt x="134143" y="0"/>
                    </a:cubicBezTo>
                    <a:cubicBezTo>
                      <a:pt x="96638" y="2045"/>
                      <a:pt x="64058" y="26480"/>
                      <a:pt x="51594" y="61912"/>
                    </a:cubicBezTo>
                    <a:cubicBezTo>
                      <a:pt x="30201" y="62619"/>
                      <a:pt x="10691" y="74325"/>
                      <a:pt x="0" y="92868"/>
                    </a:cubicBezTo>
                  </a:path>
                </a:pathLst>
              </a:custGeom>
              <a:noFill/>
              <a:ln w="20637">
                <a:solidFill>
                  <a:srgbClr val="69281B"/>
                </a:solidFill>
              </a:ln>
            </p:spPr>
          </p:sp>
          <p:sp>
            <p:nvSpPr>
              <p:cNvPr id="12" name="Freeform 12"/>
              <p:cNvSpPr/>
              <p:nvPr/>
            </p:nvSpPr>
            <p:spPr>
              <a:xfrm>
                <a:off x="523791" y="1011237"/>
                <a:ext cx="65172" cy="65172"/>
              </a:xfrm>
              <a:custGeom>
                <a:avLst/>
                <a:gdLst/>
                <a:ahLst/>
                <a:cxnLst/>
                <a:rect l="l" t="t" r="r" b="b"/>
                <a:pathLst>
                  <a:path w="65172" h="65172">
                    <a:moveTo>
                      <a:pt x="34215" y="0"/>
                    </a:moveTo>
                    <a:cubicBezTo>
                      <a:pt x="12246" y="12403"/>
                      <a:pt x="0" y="36895"/>
                      <a:pt x="3259" y="61912"/>
                    </a:cubicBezTo>
                    <a:cubicBezTo>
                      <a:pt x="28276" y="65172"/>
                      <a:pt x="52769" y="52925"/>
                      <a:pt x="65172" y="30956"/>
                    </a:cubicBezTo>
                  </a:path>
                </a:pathLst>
              </a:custGeom>
              <a:noFill/>
              <a:ln w="20637">
                <a:solidFill>
                  <a:srgbClr val="69281B"/>
                </a:solidFill>
              </a:ln>
            </p:spPr>
          </p:sp>
          <p:sp>
            <p:nvSpPr>
              <p:cNvPr id="13" name="Freeform 13"/>
              <p:cNvSpPr/>
              <p:nvPr/>
            </p:nvSpPr>
            <p:spPr>
              <a:xfrm>
                <a:off x="630237" y="949325"/>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69281B"/>
                </a:solidFill>
              </a:ln>
            </p:spPr>
          </p:sp>
        </p:grpSp>
        <p:sp>
          <p:nvSpPr>
            <p:cNvPr id="15" name="TextBox 15"/>
            <p:cNvSpPr txBox="1"/>
            <p:nvPr/>
          </p:nvSpPr>
          <p:spPr>
            <a:xfrm>
              <a:off x="946785" y="792956"/>
              <a:ext cx="614528"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科技金融</a:t>
              </a:r>
            </a:p>
          </p:txBody>
        </p:sp>
        <p:sp>
          <p:nvSpPr>
            <p:cNvPr id="16" name="TextBox 16"/>
            <p:cNvSpPr txBox="1"/>
            <p:nvPr/>
          </p:nvSpPr>
          <p:spPr>
            <a:xfrm>
              <a:off x="947738" y="1003459"/>
              <a:ext cx="741858" cy="133350"/>
            </a:xfrm>
            <a:prstGeom prst="rect">
              <a:avLst/>
            </a:prstGeom>
            <a:noFill/>
            <a:ln>
              <a:noFill/>
            </a:ln>
          </p:spPr>
          <p:txBody>
            <a:bodyPr wrap="none" lIns="0" tIns="0" rIns="0" bIns="0" anchor="t" anchorCtr="0">
              <a:spAutoFit/>
            </a:bodyPr>
            <a:lstStyle/>
            <a:p>
              <a:pPr algn="l"/>
              <a:r>
                <a:rPr lang="zh-CN" sz="680" dirty="0">
                  <a:solidFill>
                    <a:srgbClr val="BEA09A"/>
                  </a:solidFill>
                  <a:latin typeface="+mn-lt"/>
                  <a:ea typeface="+mn-ea"/>
                  <a:cs typeface="+mn-cs"/>
                </a:rPr>
                <a:t>贷款余额（示例）</a:t>
              </a:r>
            </a:p>
          </p:txBody>
        </p:sp>
        <p:sp>
          <p:nvSpPr>
            <p:cNvPr id="17" name="TextBox 17"/>
            <p:cNvSpPr txBox="1"/>
            <p:nvPr/>
          </p:nvSpPr>
          <p:spPr>
            <a:xfrm>
              <a:off x="942594" y="1180148"/>
              <a:ext cx="1056470" cy="381381"/>
            </a:xfrm>
            <a:prstGeom prst="rect">
              <a:avLst/>
            </a:prstGeom>
            <a:noFill/>
            <a:ln>
              <a:noFill/>
            </a:ln>
          </p:spPr>
          <p:txBody>
            <a:bodyPr wrap="none" lIns="0" tIns="0" rIns="0" bIns="0" anchor="t" anchorCtr="0">
              <a:spAutoFit/>
            </a:bodyPr>
            <a:lstStyle/>
            <a:p>
              <a:pPr algn="l"/>
              <a:r>
                <a:rPr lang="zh-CN" sz="1950" b="1" dirty="0">
                  <a:solidFill>
                    <a:srgbClr val="69281B"/>
                  </a:solidFill>
                  <a:latin typeface="+mn-lt"/>
                  <a:ea typeface="+mn-ea"/>
                  <a:cs typeface="+mn-cs"/>
                </a:rPr>
                <a:t>46.8</a:t>
              </a:r>
              <a:r>
                <a:rPr lang="zh-CN" sz="900" dirty="0">
                  <a:solidFill>
                    <a:srgbClr val="69281B"/>
                  </a:solidFill>
                  <a:latin typeface="+mn-lt"/>
                  <a:ea typeface="+mn-ea"/>
                  <a:cs typeface="+mn-cs"/>
                </a:rPr>
                <a:t xml:space="preserve"> 亿元</a:t>
              </a:r>
              <a:r>
                <a:rPr lang="zh-CN" sz="1950" b="1" dirty="0">
                  <a:solidFill>
                    <a:srgbClr val="69281B"/>
                  </a:solidFill>
                  <a:latin typeface="+mn-lt"/>
                  <a:ea typeface="+mn-ea"/>
                  <a:cs typeface="+mn-cs"/>
                </a:rPr>
                <a:t>​</a:t>
              </a:r>
            </a:p>
          </p:txBody>
        </p:sp>
        <p:sp>
          <p:nvSpPr>
            <p:cNvPr id="18" name="TextBox 18"/>
            <p:cNvSpPr txBox="1"/>
            <p:nvPr/>
          </p:nvSpPr>
          <p:spPr>
            <a:xfrm>
              <a:off x="2572626" y="845582"/>
              <a:ext cx="784936"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较年初增量（示例）</a:t>
              </a:r>
            </a:p>
          </p:txBody>
        </p:sp>
        <p:sp>
          <p:nvSpPr>
            <p:cNvPr id="19" name="TextBox 19"/>
            <p:cNvSpPr txBox="1"/>
            <p:nvPr/>
          </p:nvSpPr>
          <p:spPr>
            <a:xfrm>
              <a:off x="2640292" y="976551"/>
              <a:ext cx="717651" cy="198025"/>
            </a:xfrm>
            <a:prstGeom prst="rect">
              <a:avLst/>
            </a:prstGeom>
            <a:noFill/>
            <a:ln>
              <a:noFill/>
            </a:ln>
          </p:spPr>
          <p:txBody>
            <a:bodyPr wrap="none" lIns="0" tIns="0" rIns="0" bIns="0" anchor="t" anchorCtr="0">
              <a:spAutoFit/>
            </a:bodyPr>
            <a:lstStyle/>
            <a:p>
              <a:pPr algn="r"/>
              <a:r>
                <a:rPr lang="zh-CN" sz="1010" b="1" dirty="0">
                  <a:solidFill>
                    <a:srgbClr val="E04C2E"/>
                  </a:solidFill>
                  <a:latin typeface="+mn-lt"/>
                  <a:ea typeface="+mn-ea"/>
                  <a:cs typeface="+mn-cs"/>
                </a:rPr>
                <a:t>+8.2 亿元​</a:t>
              </a:r>
            </a:p>
          </p:txBody>
        </p:sp>
        <p:sp>
          <p:nvSpPr>
            <p:cNvPr id="20" name="TextBox 20"/>
            <p:cNvSpPr txBox="1"/>
            <p:nvPr/>
          </p:nvSpPr>
          <p:spPr>
            <a:xfrm>
              <a:off x="2831097" y="1226582"/>
              <a:ext cx="526466"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增速（示例）</a:t>
              </a:r>
            </a:p>
          </p:txBody>
        </p:sp>
        <p:sp>
          <p:nvSpPr>
            <p:cNvPr id="21" name="TextBox 21"/>
            <p:cNvSpPr txBox="1"/>
            <p:nvPr/>
          </p:nvSpPr>
          <p:spPr>
            <a:xfrm>
              <a:off x="2847981" y="1357551"/>
              <a:ext cx="509963" cy="198025"/>
            </a:xfrm>
            <a:prstGeom prst="rect">
              <a:avLst/>
            </a:prstGeom>
            <a:noFill/>
            <a:ln>
              <a:noFill/>
            </a:ln>
          </p:spPr>
          <p:txBody>
            <a:bodyPr wrap="none" lIns="0" tIns="0" rIns="0" bIns="0" anchor="t" anchorCtr="0">
              <a:spAutoFit/>
            </a:bodyPr>
            <a:lstStyle/>
            <a:p>
              <a:pPr algn="r"/>
              <a:r>
                <a:rPr lang="zh-CN" sz="1010" b="1" dirty="0">
                  <a:solidFill>
                    <a:srgbClr val="E04C2E"/>
                  </a:solidFill>
                  <a:latin typeface="+mn-lt"/>
                  <a:ea typeface="+mn-ea"/>
                  <a:cs typeface="+mn-cs"/>
                </a:rPr>
                <a:t>21.3%​</a:t>
              </a:r>
            </a:p>
          </p:txBody>
        </p:sp>
        <p:sp>
          <p:nvSpPr>
            <p:cNvPr id="22" name="Rectangle 22"/>
            <p:cNvSpPr/>
            <p:nvPr/>
          </p:nvSpPr>
          <p:spPr>
            <a:xfrm>
              <a:off x="304800" y="1600200"/>
              <a:ext cx="3352800" cy="438150"/>
            </a:xfrm>
            <a:prstGeom prst="roundRect">
              <a:avLst>
                <a:gd name="adj" fmla="val 8696"/>
              </a:avLst>
            </a:prstGeom>
            <a:solidFill>
              <a:srgbClr val="F2F6FC"/>
            </a:solidFill>
            <a:ln>
              <a:noFill/>
            </a:ln>
          </p:spPr>
        </p:sp>
        <p:sp>
          <p:nvSpPr>
            <p:cNvPr id="23" name="TextBox 23"/>
            <p:cNvSpPr txBox="1"/>
            <p:nvPr/>
          </p:nvSpPr>
          <p:spPr>
            <a:xfrm>
              <a:off x="395288" y="1692307"/>
              <a:ext cx="2184222" cy="278130"/>
            </a:xfrm>
            <a:prstGeom prst="rect">
              <a:avLst/>
            </a:prstGeom>
            <a:noFill/>
            <a:ln>
              <a:noFill/>
            </a:ln>
          </p:spPr>
          <p:txBody>
            <a:bodyPr wrap="none" lIns="0" tIns="0" rIns="0" bIns="0" anchor="t" anchorCtr="0">
              <a:spAutoFit/>
            </a:bodyPr>
            <a:lstStyle/>
            <a:p>
              <a:pPr algn="l">
                <a:lnSpc>
                  <a:spcPts val="1050"/>
                </a:lnSpc>
              </a:pPr>
              <a:r>
                <a:rPr lang="zh-CN" sz="740" dirty="0">
                  <a:solidFill>
                    <a:srgbClr val="70504A"/>
                  </a:solidFill>
                  <a:latin typeface="+mn-lt"/>
                  <a:ea typeface="+mn-ea"/>
                  <a:cs typeface="+mn-cs"/>
                </a:rPr>
                <a:t>聚焦“专精特新、高新技术、科创企业”客群，</a:t>
              </a:r>
              <a:br/>
              <a:r>
                <a:rPr lang="zh-CN" sz="740" dirty="0">
                  <a:solidFill>
                    <a:srgbClr val="70504A"/>
                  </a:solidFill>
                  <a:latin typeface="+mn-lt"/>
                  <a:ea typeface="+mn-ea"/>
                  <a:cs typeface="+mn-cs"/>
                </a:rPr>
                <a:t>服务科技型企业</a:t>
              </a:r>
              <a:r>
                <a:rPr lang="zh-CN" sz="740" b="1" dirty="0">
                  <a:solidFill>
                    <a:srgbClr val="E04C2E"/>
                  </a:solidFill>
                  <a:latin typeface="+mn-lt"/>
                  <a:ea typeface="+mn-ea"/>
                  <a:cs typeface="+mn-cs"/>
                </a:rPr>
                <a:t>1,862户​</a:t>
              </a:r>
              <a:r>
                <a:rPr lang="zh-CN" sz="740" dirty="0">
                  <a:solidFill>
                    <a:srgbClr val="70504A"/>
                  </a:solidFill>
                  <a:latin typeface="+mn-lt"/>
                  <a:ea typeface="+mn-ea"/>
                  <a:cs typeface="+mn-cs"/>
                </a:rPr>
                <a:t>，较年初</a:t>
              </a:r>
              <a:r>
                <a:rPr lang="zh-CN" sz="740" b="1" dirty="0">
                  <a:solidFill>
                    <a:srgbClr val="E04C2E"/>
                  </a:solidFill>
                  <a:latin typeface="+mn-lt"/>
                  <a:ea typeface="+mn-ea"/>
                  <a:cs typeface="+mn-cs"/>
                </a:rPr>
                <a:t>+18.6%</a:t>
              </a:r>
              <a:r>
                <a:rPr lang="zh-CN" sz="740" dirty="0">
                  <a:solidFill>
                    <a:srgbClr val="70504A"/>
                  </a:solidFill>
                  <a:latin typeface="+mn-lt"/>
                  <a:ea typeface="+mn-ea"/>
                  <a:cs typeface="+mn-cs"/>
                </a:rPr>
                <a:t>（示例）</a:t>
              </a:r>
            </a:p>
          </p:txBody>
        </p:sp>
      </p:grpSp>
      <p:grpSp>
        <p:nvGrpSpPr>
          <p:cNvPr id="39" name="card-green"/>
          <p:cNvGrpSpPr/>
          <p:nvPr/>
        </p:nvGrpSpPr>
        <p:grpSpPr>
          <a:xfrm>
            <a:off x="228600" y="2247900"/>
            <a:ext cx="3505200" cy="1447800"/>
            <a:chOff x="228600" y="2247900"/>
            <a:chExt cx="3505200" cy="1447800"/>
          </a:xfrm>
        </p:grpSpPr>
        <p:sp>
          <p:nvSpPr>
            <p:cNvPr id="25" name="Rectangle 25"/>
            <p:cNvSpPr/>
            <p:nvPr/>
          </p:nvSpPr>
          <p:spPr>
            <a:xfrm>
              <a:off x="228600" y="2247900"/>
              <a:ext cx="3505200" cy="1447800"/>
            </a:xfrm>
            <a:prstGeom prst="roundRect">
              <a:avLst>
                <a:gd name="adj" fmla="val 3947"/>
              </a:avLst>
            </a:prstGeom>
            <a:solidFill>
              <a:srgbClr val="FFFFFF"/>
            </a:solidFill>
            <a:ln w="9525">
              <a:solidFill>
                <a:srgbClr val="C9D6E9"/>
              </a:solidFill>
            </a:ln>
          </p:spPr>
        </p:sp>
        <p:sp>
          <p:nvSpPr>
            <p:cNvPr id="26" name="Ellipse 26"/>
            <p:cNvSpPr/>
            <p:nvPr/>
          </p:nvSpPr>
          <p:spPr>
            <a:xfrm>
              <a:off x="361950" y="2305050"/>
              <a:ext cx="495300" cy="495300"/>
            </a:xfrm>
            <a:prstGeom prst="ellipse">
              <a:avLst/>
            </a:prstGeom>
            <a:solidFill>
              <a:srgbClr val="E9F6EE"/>
            </a:solidFill>
            <a:ln>
              <a:noFill/>
            </a:ln>
          </p:spPr>
        </p:sp>
        <p:grpSp>
          <p:nvGrpSpPr>
            <p:cNvPr id="29" name="Group 29"/>
            <p:cNvGrpSpPr/>
            <p:nvPr/>
          </p:nvGrpSpPr>
          <p:grpSpPr>
            <a:xfrm>
              <a:off x="516731" y="2459831"/>
              <a:ext cx="185737" cy="185737"/>
              <a:chOff x="516731" y="2459831"/>
              <a:chExt cx="185737" cy="185737"/>
            </a:xfrm>
          </p:grpSpPr>
          <p:sp>
            <p:nvSpPr>
              <p:cNvPr id="27" name="Freeform 27"/>
              <p:cNvSpPr/>
              <p:nvPr/>
            </p:nvSpPr>
            <p:spPr>
              <a:xfrm>
                <a:off x="516731" y="24598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9E402E"/>
                </a:solidFill>
              </a:ln>
            </p:spPr>
          </p:sp>
          <p:sp>
            <p:nvSpPr>
              <p:cNvPr id="28" name="Freeform 28"/>
              <p:cNvSpPr/>
              <p:nvPr/>
            </p:nvSpPr>
            <p:spPr>
              <a:xfrm>
                <a:off x="578643" y="2532062"/>
                <a:ext cx="61912" cy="41275"/>
              </a:xfrm>
              <a:custGeom>
                <a:avLst/>
                <a:gdLst/>
                <a:ahLst/>
                <a:cxnLst/>
                <a:rect l="l" t="t" r="r" b="b"/>
                <a:pathLst>
                  <a:path w="61912" h="41275">
                    <a:moveTo>
                      <a:pt x="0" y="20637"/>
                    </a:moveTo>
                    <a:lnTo>
                      <a:pt x="20637" y="41275"/>
                    </a:lnTo>
                    <a:lnTo>
                      <a:pt x="61912" y="0"/>
                    </a:lnTo>
                  </a:path>
                </a:pathLst>
              </a:custGeom>
              <a:noFill/>
              <a:ln w="20637">
                <a:solidFill>
                  <a:srgbClr val="9E402E"/>
                </a:solidFill>
              </a:ln>
            </p:spPr>
          </p:sp>
        </p:grpSp>
        <p:sp>
          <p:nvSpPr>
            <p:cNvPr id="30" name="TextBox 30"/>
            <p:cNvSpPr txBox="1"/>
            <p:nvPr/>
          </p:nvSpPr>
          <p:spPr>
            <a:xfrm>
              <a:off x="946785" y="2355056"/>
              <a:ext cx="614528"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绿色信贷</a:t>
              </a:r>
            </a:p>
          </p:txBody>
        </p:sp>
        <p:sp>
          <p:nvSpPr>
            <p:cNvPr id="31" name="TextBox 31"/>
            <p:cNvSpPr txBox="1"/>
            <p:nvPr/>
          </p:nvSpPr>
          <p:spPr>
            <a:xfrm>
              <a:off x="947738" y="2565559"/>
              <a:ext cx="741858" cy="133350"/>
            </a:xfrm>
            <a:prstGeom prst="rect">
              <a:avLst/>
            </a:prstGeom>
            <a:noFill/>
            <a:ln>
              <a:noFill/>
            </a:ln>
          </p:spPr>
          <p:txBody>
            <a:bodyPr wrap="none" lIns="0" tIns="0" rIns="0" bIns="0" anchor="t" anchorCtr="0">
              <a:spAutoFit/>
            </a:bodyPr>
            <a:lstStyle/>
            <a:p>
              <a:pPr algn="l"/>
              <a:r>
                <a:rPr lang="zh-CN" sz="680" dirty="0">
                  <a:solidFill>
                    <a:srgbClr val="BEA09A"/>
                  </a:solidFill>
                  <a:latin typeface="+mn-lt"/>
                  <a:ea typeface="+mn-ea"/>
                  <a:cs typeface="+mn-cs"/>
                </a:rPr>
                <a:t>贷款余额（示例）</a:t>
              </a:r>
            </a:p>
          </p:txBody>
        </p:sp>
        <p:sp>
          <p:nvSpPr>
            <p:cNvPr id="32" name="TextBox 32"/>
            <p:cNvSpPr txBox="1"/>
            <p:nvPr/>
          </p:nvSpPr>
          <p:spPr>
            <a:xfrm>
              <a:off x="942594" y="2742248"/>
              <a:ext cx="1056470" cy="381381"/>
            </a:xfrm>
            <a:prstGeom prst="rect">
              <a:avLst/>
            </a:prstGeom>
            <a:noFill/>
            <a:ln>
              <a:noFill/>
            </a:ln>
          </p:spPr>
          <p:txBody>
            <a:bodyPr wrap="none" lIns="0" tIns="0" rIns="0" bIns="0" anchor="t" anchorCtr="0">
              <a:spAutoFit/>
            </a:bodyPr>
            <a:lstStyle/>
            <a:p>
              <a:pPr algn="l"/>
              <a:r>
                <a:rPr lang="zh-CN" sz="1950" b="1" dirty="0">
                  <a:solidFill>
                    <a:srgbClr val="69281B"/>
                  </a:solidFill>
                  <a:latin typeface="+mn-lt"/>
                  <a:ea typeface="+mn-ea"/>
                  <a:cs typeface="+mn-cs"/>
                </a:rPr>
                <a:t>58.3</a:t>
              </a:r>
              <a:r>
                <a:rPr lang="zh-CN" sz="900" dirty="0">
                  <a:solidFill>
                    <a:srgbClr val="69281B"/>
                  </a:solidFill>
                  <a:latin typeface="+mn-lt"/>
                  <a:ea typeface="+mn-ea"/>
                  <a:cs typeface="+mn-cs"/>
                </a:rPr>
                <a:t xml:space="preserve"> 亿元</a:t>
              </a:r>
              <a:r>
                <a:rPr lang="zh-CN" sz="1950" b="1" dirty="0">
                  <a:solidFill>
                    <a:srgbClr val="69281B"/>
                  </a:solidFill>
                  <a:latin typeface="+mn-lt"/>
                  <a:ea typeface="+mn-ea"/>
                  <a:cs typeface="+mn-cs"/>
                </a:rPr>
                <a:t>​</a:t>
              </a:r>
            </a:p>
          </p:txBody>
        </p:sp>
        <p:sp>
          <p:nvSpPr>
            <p:cNvPr id="33" name="TextBox 33"/>
            <p:cNvSpPr txBox="1"/>
            <p:nvPr/>
          </p:nvSpPr>
          <p:spPr>
            <a:xfrm>
              <a:off x="2572626" y="2407682"/>
              <a:ext cx="784936"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较年初增量（示例）</a:t>
              </a:r>
            </a:p>
          </p:txBody>
        </p:sp>
        <p:sp>
          <p:nvSpPr>
            <p:cNvPr id="34" name="TextBox 34"/>
            <p:cNvSpPr txBox="1"/>
            <p:nvPr/>
          </p:nvSpPr>
          <p:spPr>
            <a:xfrm>
              <a:off x="2640292" y="2538651"/>
              <a:ext cx="717651" cy="198025"/>
            </a:xfrm>
            <a:prstGeom prst="rect">
              <a:avLst/>
            </a:prstGeom>
            <a:noFill/>
            <a:ln>
              <a:noFill/>
            </a:ln>
          </p:spPr>
          <p:txBody>
            <a:bodyPr wrap="none" lIns="0" tIns="0" rIns="0" bIns="0" anchor="t" anchorCtr="0">
              <a:spAutoFit/>
            </a:bodyPr>
            <a:lstStyle/>
            <a:p>
              <a:pPr algn="r"/>
              <a:r>
                <a:rPr lang="zh-CN" sz="1010" b="1" dirty="0">
                  <a:solidFill>
                    <a:srgbClr val="E04C2E"/>
                  </a:solidFill>
                  <a:latin typeface="+mn-lt"/>
                  <a:ea typeface="+mn-ea"/>
                  <a:cs typeface="+mn-cs"/>
                </a:rPr>
                <a:t>+9.7 亿元​</a:t>
              </a:r>
            </a:p>
          </p:txBody>
        </p:sp>
        <p:sp>
          <p:nvSpPr>
            <p:cNvPr id="35" name="TextBox 35"/>
            <p:cNvSpPr txBox="1"/>
            <p:nvPr/>
          </p:nvSpPr>
          <p:spPr>
            <a:xfrm>
              <a:off x="2831097" y="2788682"/>
              <a:ext cx="526466"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增速（示例）</a:t>
              </a:r>
            </a:p>
          </p:txBody>
        </p:sp>
        <p:sp>
          <p:nvSpPr>
            <p:cNvPr id="36" name="TextBox 36"/>
            <p:cNvSpPr txBox="1"/>
            <p:nvPr/>
          </p:nvSpPr>
          <p:spPr>
            <a:xfrm>
              <a:off x="2847981" y="2919651"/>
              <a:ext cx="509963" cy="198025"/>
            </a:xfrm>
            <a:prstGeom prst="rect">
              <a:avLst/>
            </a:prstGeom>
            <a:noFill/>
            <a:ln>
              <a:noFill/>
            </a:ln>
          </p:spPr>
          <p:txBody>
            <a:bodyPr wrap="none" lIns="0" tIns="0" rIns="0" bIns="0" anchor="t" anchorCtr="0">
              <a:spAutoFit/>
            </a:bodyPr>
            <a:lstStyle/>
            <a:p>
              <a:pPr algn="r"/>
              <a:r>
                <a:rPr lang="zh-CN" sz="1010" b="1" dirty="0">
                  <a:solidFill>
                    <a:srgbClr val="E04C2E"/>
                  </a:solidFill>
                  <a:latin typeface="+mn-lt"/>
                  <a:ea typeface="+mn-ea"/>
                  <a:cs typeface="+mn-cs"/>
                </a:rPr>
                <a:t>19.9%​</a:t>
              </a:r>
            </a:p>
          </p:txBody>
        </p:sp>
        <p:sp>
          <p:nvSpPr>
            <p:cNvPr id="37" name="Rectangle 37"/>
            <p:cNvSpPr/>
            <p:nvPr/>
          </p:nvSpPr>
          <p:spPr>
            <a:xfrm>
              <a:off x="304800" y="3162300"/>
              <a:ext cx="3352800" cy="438150"/>
            </a:xfrm>
            <a:prstGeom prst="roundRect">
              <a:avLst>
                <a:gd name="adj" fmla="val 8696"/>
              </a:avLst>
            </a:prstGeom>
            <a:solidFill>
              <a:srgbClr val="F2F6FC"/>
            </a:solidFill>
            <a:ln>
              <a:noFill/>
            </a:ln>
          </p:spPr>
        </p:sp>
        <p:sp>
          <p:nvSpPr>
            <p:cNvPr id="38" name="TextBox 38"/>
            <p:cNvSpPr txBox="1"/>
            <p:nvPr/>
          </p:nvSpPr>
          <p:spPr>
            <a:xfrm>
              <a:off x="395288" y="3254407"/>
              <a:ext cx="2238496" cy="278130"/>
            </a:xfrm>
            <a:prstGeom prst="rect">
              <a:avLst/>
            </a:prstGeom>
            <a:noFill/>
            <a:ln>
              <a:noFill/>
            </a:ln>
          </p:spPr>
          <p:txBody>
            <a:bodyPr wrap="none" lIns="0" tIns="0" rIns="0" bIns="0" anchor="t" anchorCtr="0">
              <a:spAutoFit/>
            </a:bodyPr>
            <a:lstStyle/>
            <a:p>
              <a:pPr algn="l">
                <a:lnSpc>
                  <a:spcPts val="1050"/>
                </a:lnSpc>
              </a:pPr>
              <a:r>
                <a:rPr lang="zh-CN" sz="740" dirty="0">
                  <a:solidFill>
                    <a:srgbClr val="70504A"/>
                  </a:solidFill>
                  <a:latin typeface="+mn-lt"/>
                  <a:ea typeface="+mn-ea"/>
                  <a:cs typeface="+mn-cs"/>
                </a:rPr>
                <a:t>支持清洁能源、节能环保、绿色交通等领域，</a:t>
              </a:r>
              <a:br/>
              <a:r>
                <a:rPr lang="zh-CN" sz="740" dirty="0">
                  <a:solidFill>
                    <a:srgbClr val="70504A"/>
                  </a:solidFill>
                  <a:latin typeface="+mn-lt"/>
                  <a:ea typeface="+mn-ea"/>
                  <a:cs typeface="+mn-cs"/>
                </a:rPr>
                <a:t>绿色项目贷款占比</a:t>
              </a:r>
              <a:r>
                <a:rPr lang="zh-CN" sz="740" b="1" dirty="0">
                  <a:solidFill>
                    <a:srgbClr val="9E402E"/>
                  </a:solidFill>
                  <a:latin typeface="+mn-lt"/>
                  <a:ea typeface="+mn-ea"/>
                  <a:cs typeface="+mn-cs"/>
                </a:rPr>
                <a:t>18.7%​</a:t>
              </a:r>
              <a:r>
                <a:rPr lang="zh-CN" sz="740" dirty="0">
                  <a:solidFill>
                    <a:srgbClr val="70504A"/>
                  </a:solidFill>
                  <a:latin typeface="+mn-lt"/>
                  <a:ea typeface="+mn-ea"/>
                  <a:cs typeface="+mn-cs"/>
                </a:rPr>
                <a:t>，较年初</a:t>
              </a:r>
              <a:r>
                <a:rPr lang="en-US" sz="740" b="1" dirty="0">
                  <a:solidFill>
                    <a:srgbClr val="9E402E"/>
                  </a:solidFill>
                  <a:latin typeface="+mn-lt"/>
                  <a:ea typeface="+mn-ea"/>
                  <a:cs typeface="+mn-cs"/>
                </a:rPr>
                <a:t>+2.3pct</a:t>
              </a:r>
              <a:r>
                <a:rPr lang="zh-CN" sz="740" dirty="0">
                  <a:solidFill>
                    <a:srgbClr val="70504A"/>
                  </a:solidFill>
                  <a:latin typeface="+mn-lt"/>
                  <a:ea typeface="+mn-ea"/>
                  <a:cs typeface="+mn-cs"/>
                </a:rPr>
                <a:t>（示例）</a:t>
              </a:r>
            </a:p>
          </p:txBody>
        </p:sp>
      </p:grpSp>
      <p:grpSp>
        <p:nvGrpSpPr>
          <p:cNvPr id="54" name="card-mfg"/>
          <p:cNvGrpSpPr/>
          <p:nvPr/>
        </p:nvGrpSpPr>
        <p:grpSpPr>
          <a:xfrm>
            <a:off x="8458200" y="685800"/>
            <a:ext cx="3505200" cy="1447800"/>
            <a:chOff x="8458200" y="685800"/>
            <a:chExt cx="3505200" cy="1447800"/>
          </a:xfrm>
        </p:grpSpPr>
        <p:sp>
          <p:nvSpPr>
            <p:cNvPr id="40" name="Rectangle 40"/>
            <p:cNvSpPr/>
            <p:nvPr/>
          </p:nvSpPr>
          <p:spPr>
            <a:xfrm>
              <a:off x="8458200" y="685800"/>
              <a:ext cx="3505200" cy="1447800"/>
            </a:xfrm>
            <a:prstGeom prst="roundRect">
              <a:avLst>
                <a:gd name="adj" fmla="val 3947"/>
              </a:avLst>
            </a:prstGeom>
            <a:solidFill>
              <a:srgbClr val="FFFFFF"/>
            </a:solidFill>
            <a:ln w="9525">
              <a:solidFill>
                <a:srgbClr val="C9D6E9"/>
              </a:solidFill>
            </a:ln>
          </p:spPr>
        </p:sp>
        <p:sp>
          <p:nvSpPr>
            <p:cNvPr id="41" name="Ellipse 41"/>
            <p:cNvSpPr/>
            <p:nvPr/>
          </p:nvSpPr>
          <p:spPr>
            <a:xfrm>
              <a:off x="8591550" y="742950"/>
              <a:ext cx="495300" cy="495300"/>
            </a:xfrm>
            <a:prstGeom prst="ellipse">
              <a:avLst/>
            </a:prstGeom>
            <a:solidFill>
              <a:srgbClr val="EAF1FB"/>
            </a:solidFill>
            <a:ln>
              <a:noFill/>
            </a:ln>
          </p:spPr>
        </p:sp>
        <p:grpSp>
          <p:nvGrpSpPr>
            <p:cNvPr id="44" name="Group 44"/>
            <p:cNvGrpSpPr/>
            <p:nvPr/>
          </p:nvGrpSpPr>
          <p:grpSpPr>
            <a:xfrm>
              <a:off x="8741801" y="893201"/>
              <a:ext cx="194797" cy="194797"/>
              <a:chOff x="8741801" y="893201"/>
              <a:chExt cx="194797" cy="194797"/>
            </a:xfrm>
          </p:grpSpPr>
          <p:sp>
            <p:nvSpPr>
              <p:cNvPr id="42" name="Freeform 42"/>
              <p:cNvSpPr/>
              <p:nvPr/>
            </p:nvSpPr>
            <p:spPr>
              <a:xfrm>
                <a:off x="8741801" y="893201"/>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69281B"/>
                </a:solidFill>
              </a:ln>
            </p:spPr>
          </p:sp>
          <p:sp>
            <p:nvSpPr>
              <p:cNvPr id="43" name="Freeform 43"/>
              <p:cNvSpPr/>
              <p:nvPr/>
            </p:nvSpPr>
            <p:spPr>
              <a:xfrm>
                <a:off x="8808243" y="959643"/>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69281B"/>
                </a:solidFill>
              </a:ln>
            </p:spPr>
          </p:sp>
        </p:grpSp>
        <p:sp>
          <p:nvSpPr>
            <p:cNvPr id="45" name="TextBox 45"/>
            <p:cNvSpPr txBox="1"/>
            <p:nvPr/>
          </p:nvSpPr>
          <p:spPr>
            <a:xfrm>
              <a:off x="9176385" y="792956"/>
              <a:ext cx="765302"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制造业贷款</a:t>
              </a:r>
            </a:p>
          </p:txBody>
        </p:sp>
        <p:sp>
          <p:nvSpPr>
            <p:cNvPr id="46" name="TextBox 46"/>
            <p:cNvSpPr txBox="1"/>
            <p:nvPr/>
          </p:nvSpPr>
          <p:spPr>
            <a:xfrm>
              <a:off x="9177338" y="1003459"/>
              <a:ext cx="741858" cy="133350"/>
            </a:xfrm>
            <a:prstGeom prst="rect">
              <a:avLst/>
            </a:prstGeom>
            <a:noFill/>
            <a:ln>
              <a:noFill/>
            </a:ln>
          </p:spPr>
          <p:txBody>
            <a:bodyPr wrap="none" lIns="0" tIns="0" rIns="0" bIns="0" anchor="t" anchorCtr="0">
              <a:spAutoFit/>
            </a:bodyPr>
            <a:lstStyle/>
            <a:p>
              <a:pPr algn="l"/>
              <a:r>
                <a:rPr lang="zh-CN" sz="680" dirty="0">
                  <a:solidFill>
                    <a:srgbClr val="BEA09A"/>
                  </a:solidFill>
                  <a:latin typeface="+mn-lt"/>
                  <a:ea typeface="+mn-ea"/>
                  <a:cs typeface="+mn-cs"/>
                </a:rPr>
                <a:t>贷款余额（示例）</a:t>
              </a:r>
            </a:p>
          </p:txBody>
        </p:sp>
        <p:sp>
          <p:nvSpPr>
            <p:cNvPr id="47" name="TextBox 47"/>
            <p:cNvSpPr txBox="1"/>
            <p:nvPr/>
          </p:nvSpPr>
          <p:spPr>
            <a:xfrm>
              <a:off x="9172194" y="1180148"/>
              <a:ext cx="1056470" cy="381381"/>
            </a:xfrm>
            <a:prstGeom prst="rect">
              <a:avLst/>
            </a:prstGeom>
            <a:noFill/>
            <a:ln>
              <a:noFill/>
            </a:ln>
          </p:spPr>
          <p:txBody>
            <a:bodyPr wrap="none" lIns="0" tIns="0" rIns="0" bIns="0" anchor="t" anchorCtr="0">
              <a:spAutoFit/>
            </a:bodyPr>
            <a:lstStyle/>
            <a:p>
              <a:pPr algn="l"/>
              <a:r>
                <a:rPr lang="zh-CN" sz="1950" b="1" dirty="0">
                  <a:solidFill>
                    <a:srgbClr val="69281B"/>
                  </a:solidFill>
                  <a:latin typeface="+mn-lt"/>
                  <a:ea typeface="+mn-ea"/>
                  <a:cs typeface="+mn-cs"/>
                </a:rPr>
                <a:t>72.6</a:t>
              </a:r>
              <a:r>
                <a:rPr lang="zh-CN" sz="900" dirty="0">
                  <a:solidFill>
                    <a:srgbClr val="69281B"/>
                  </a:solidFill>
                  <a:latin typeface="+mn-lt"/>
                  <a:ea typeface="+mn-ea"/>
                  <a:cs typeface="+mn-cs"/>
                </a:rPr>
                <a:t xml:space="preserve"> 亿元</a:t>
              </a:r>
              <a:r>
                <a:rPr lang="zh-CN" sz="1950" b="1" dirty="0">
                  <a:solidFill>
                    <a:srgbClr val="69281B"/>
                  </a:solidFill>
                  <a:latin typeface="+mn-lt"/>
                  <a:ea typeface="+mn-ea"/>
                  <a:cs typeface="+mn-cs"/>
                </a:rPr>
                <a:t>​</a:t>
              </a:r>
            </a:p>
          </p:txBody>
        </p:sp>
        <p:sp>
          <p:nvSpPr>
            <p:cNvPr id="48" name="TextBox 48"/>
            <p:cNvSpPr txBox="1"/>
            <p:nvPr/>
          </p:nvSpPr>
          <p:spPr>
            <a:xfrm>
              <a:off x="10802226" y="845582"/>
              <a:ext cx="784936"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较年初增量（示例）</a:t>
              </a:r>
            </a:p>
          </p:txBody>
        </p:sp>
        <p:sp>
          <p:nvSpPr>
            <p:cNvPr id="49" name="TextBox 49"/>
            <p:cNvSpPr txBox="1"/>
            <p:nvPr/>
          </p:nvSpPr>
          <p:spPr>
            <a:xfrm>
              <a:off x="10791372" y="976551"/>
              <a:ext cx="796172" cy="198025"/>
            </a:xfrm>
            <a:prstGeom prst="rect">
              <a:avLst/>
            </a:prstGeom>
            <a:noFill/>
            <a:ln>
              <a:noFill/>
            </a:ln>
          </p:spPr>
          <p:txBody>
            <a:bodyPr wrap="none" lIns="0" tIns="0" rIns="0" bIns="0" anchor="t" anchorCtr="0">
              <a:spAutoFit/>
            </a:bodyPr>
            <a:lstStyle/>
            <a:p>
              <a:pPr algn="r"/>
              <a:r>
                <a:rPr lang="zh-CN" sz="1010" b="1" dirty="0">
                  <a:solidFill>
                    <a:srgbClr val="E04C2E"/>
                  </a:solidFill>
                  <a:latin typeface="+mn-lt"/>
                  <a:ea typeface="+mn-ea"/>
                  <a:cs typeface="+mn-cs"/>
                </a:rPr>
                <a:t>+11.4 亿元​</a:t>
              </a:r>
            </a:p>
          </p:txBody>
        </p:sp>
        <p:sp>
          <p:nvSpPr>
            <p:cNvPr id="50" name="TextBox 50"/>
            <p:cNvSpPr txBox="1"/>
            <p:nvPr/>
          </p:nvSpPr>
          <p:spPr>
            <a:xfrm>
              <a:off x="11060697" y="1226582"/>
              <a:ext cx="526466"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增速（示例）</a:t>
              </a:r>
            </a:p>
          </p:txBody>
        </p:sp>
        <p:sp>
          <p:nvSpPr>
            <p:cNvPr id="51" name="TextBox 51"/>
            <p:cNvSpPr txBox="1"/>
            <p:nvPr/>
          </p:nvSpPr>
          <p:spPr>
            <a:xfrm>
              <a:off x="11077581" y="1357551"/>
              <a:ext cx="509963" cy="198025"/>
            </a:xfrm>
            <a:prstGeom prst="rect">
              <a:avLst/>
            </a:prstGeom>
            <a:noFill/>
            <a:ln>
              <a:noFill/>
            </a:ln>
          </p:spPr>
          <p:txBody>
            <a:bodyPr wrap="none" lIns="0" tIns="0" rIns="0" bIns="0" anchor="t" anchorCtr="0">
              <a:spAutoFit/>
            </a:bodyPr>
            <a:lstStyle/>
            <a:p>
              <a:pPr algn="r"/>
              <a:r>
                <a:rPr lang="zh-CN" sz="1010" b="1" dirty="0">
                  <a:solidFill>
                    <a:srgbClr val="E04C2E"/>
                  </a:solidFill>
                  <a:latin typeface="+mn-lt"/>
                  <a:ea typeface="+mn-ea"/>
                  <a:cs typeface="+mn-cs"/>
                </a:rPr>
                <a:t>18.6%​</a:t>
              </a:r>
            </a:p>
          </p:txBody>
        </p:sp>
        <p:sp>
          <p:nvSpPr>
            <p:cNvPr id="52" name="Rectangle 52"/>
            <p:cNvSpPr/>
            <p:nvPr/>
          </p:nvSpPr>
          <p:spPr>
            <a:xfrm>
              <a:off x="8534400" y="1600200"/>
              <a:ext cx="3352800" cy="438150"/>
            </a:xfrm>
            <a:prstGeom prst="roundRect">
              <a:avLst>
                <a:gd name="adj" fmla="val 8696"/>
              </a:avLst>
            </a:prstGeom>
            <a:solidFill>
              <a:srgbClr val="F2F6FC"/>
            </a:solidFill>
            <a:ln>
              <a:noFill/>
            </a:ln>
          </p:spPr>
        </p:sp>
        <p:sp>
          <p:nvSpPr>
            <p:cNvPr id="53" name="TextBox 53"/>
            <p:cNvSpPr txBox="1"/>
            <p:nvPr/>
          </p:nvSpPr>
          <p:spPr>
            <a:xfrm>
              <a:off x="8624888" y="1692307"/>
              <a:ext cx="2184222" cy="278130"/>
            </a:xfrm>
            <a:prstGeom prst="rect">
              <a:avLst/>
            </a:prstGeom>
            <a:noFill/>
            <a:ln>
              <a:noFill/>
            </a:ln>
          </p:spPr>
          <p:txBody>
            <a:bodyPr wrap="none" lIns="0" tIns="0" rIns="0" bIns="0" anchor="t" anchorCtr="0">
              <a:spAutoFit/>
            </a:bodyPr>
            <a:lstStyle/>
            <a:p>
              <a:pPr algn="l">
                <a:lnSpc>
                  <a:spcPts val="1050"/>
                </a:lnSpc>
              </a:pPr>
              <a:r>
                <a:rPr lang="zh-CN" sz="740" dirty="0">
                  <a:solidFill>
                    <a:srgbClr val="70504A"/>
                  </a:solidFill>
                  <a:latin typeface="+mn-lt"/>
                  <a:ea typeface="+mn-ea"/>
                  <a:cs typeface="+mn-cs"/>
                </a:rPr>
                <a:t>重点支持先进制造、产业链核心企业及链上配套，</a:t>
              </a:r>
              <a:br/>
              <a:r>
                <a:rPr lang="zh-CN" sz="740" dirty="0">
                  <a:solidFill>
                    <a:srgbClr val="70504A"/>
                  </a:solidFill>
                  <a:latin typeface="+mn-lt"/>
                  <a:ea typeface="+mn-ea"/>
                  <a:cs typeface="+mn-cs"/>
                </a:rPr>
                <a:t>覆盖制造业企业</a:t>
              </a:r>
              <a:r>
                <a:rPr lang="zh-CN" sz="740" b="1" dirty="0">
                  <a:solidFill>
                    <a:srgbClr val="E04C2E"/>
                  </a:solidFill>
                  <a:latin typeface="+mn-lt"/>
                  <a:ea typeface="+mn-ea"/>
                  <a:cs typeface="+mn-cs"/>
                </a:rPr>
                <a:t>2,354户​</a:t>
              </a:r>
              <a:r>
                <a:rPr lang="zh-CN" sz="740" dirty="0">
                  <a:solidFill>
                    <a:srgbClr val="70504A"/>
                  </a:solidFill>
                  <a:latin typeface="+mn-lt"/>
                  <a:ea typeface="+mn-ea"/>
                  <a:cs typeface="+mn-cs"/>
                </a:rPr>
                <a:t>，较年初</a:t>
              </a:r>
              <a:r>
                <a:rPr lang="zh-CN" sz="740" b="1" dirty="0">
                  <a:solidFill>
                    <a:srgbClr val="E04C2E"/>
                  </a:solidFill>
                  <a:latin typeface="+mn-lt"/>
                  <a:ea typeface="+mn-ea"/>
                  <a:cs typeface="+mn-cs"/>
                </a:rPr>
                <a:t>+16.2%</a:t>
              </a:r>
              <a:r>
                <a:rPr lang="zh-CN" sz="740" dirty="0">
                  <a:solidFill>
                    <a:srgbClr val="70504A"/>
                  </a:solidFill>
                  <a:latin typeface="+mn-lt"/>
                  <a:ea typeface="+mn-ea"/>
                  <a:cs typeface="+mn-cs"/>
                </a:rPr>
                <a:t>（示例）</a:t>
              </a:r>
            </a:p>
          </p:txBody>
        </p:sp>
      </p:grpSp>
      <p:grpSp>
        <p:nvGrpSpPr>
          <p:cNvPr id="73" name="card-inclusive"/>
          <p:cNvGrpSpPr/>
          <p:nvPr/>
        </p:nvGrpSpPr>
        <p:grpSpPr>
          <a:xfrm>
            <a:off x="8458200" y="2247900"/>
            <a:ext cx="3505200" cy="1447800"/>
            <a:chOff x="8458200" y="2247900"/>
            <a:chExt cx="3505200" cy="1447800"/>
          </a:xfrm>
        </p:grpSpPr>
        <p:sp>
          <p:nvSpPr>
            <p:cNvPr id="55" name="Rectangle 55"/>
            <p:cNvSpPr/>
            <p:nvPr/>
          </p:nvSpPr>
          <p:spPr>
            <a:xfrm>
              <a:off x="8458200" y="2247900"/>
              <a:ext cx="3505200" cy="1447800"/>
            </a:xfrm>
            <a:prstGeom prst="roundRect">
              <a:avLst>
                <a:gd name="adj" fmla="val 3947"/>
              </a:avLst>
            </a:prstGeom>
            <a:solidFill>
              <a:srgbClr val="FFFFFF"/>
            </a:solidFill>
            <a:ln w="9525">
              <a:solidFill>
                <a:srgbClr val="C9D6E9"/>
              </a:solidFill>
            </a:ln>
          </p:spPr>
        </p:sp>
        <p:sp>
          <p:nvSpPr>
            <p:cNvPr id="56" name="Ellipse 56"/>
            <p:cNvSpPr/>
            <p:nvPr/>
          </p:nvSpPr>
          <p:spPr>
            <a:xfrm>
              <a:off x="8591550" y="2305050"/>
              <a:ext cx="495300" cy="495300"/>
            </a:xfrm>
            <a:prstGeom prst="ellipse">
              <a:avLst/>
            </a:prstGeom>
            <a:solidFill>
              <a:srgbClr val="EAF1FB"/>
            </a:solidFill>
            <a:ln>
              <a:noFill/>
            </a:ln>
          </p:spPr>
        </p:sp>
        <p:grpSp>
          <p:nvGrpSpPr>
            <p:cNvPr id="63" name="Group 63"/>
            <p:cNvGrpSpPr/>
            <p:nvPr/>
          </p:nvGrpSpPr>
          <p:grpSpPr>
            <a:xfrm>
              <a:off x="8746331" y="2459831"/>
              <a:ext cx="185737" cy="185737"/>
              <a:chOff x="8746331" y="2459831"/>
              <a:chExt cx="185737" cy="185737"/>
            </a:xfrm>
          </p:grpSpPr>
          <p:sp>
            <p:nvSpPr>
              <p:cNvPr id="57" name="Freeform 57"/>
              <p:cNvSpPr/>
              <p:nvPr/>
            </p:nvSpPr>
            <p:spPr>
              <a:xfrm>
                <a:off x="8818562" y="254238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69281B"/>
                </a:solidFill>
              </a:ln>
            </p:spPr>
          </p:sp>
          <p:sp>
            <p:nvSpPr>
              <p:cNvPr id="58" name="Freeform 58"/>
              <p:cNvSpPr/>
              <p:nvPr/>
            </p:nvSpPr>
            <p:spPr>
              <a:xfrm>
                <a:off x="8797925" y="2614612"/>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69281B"/>
                </a:solidFill>
              </a:ln>
            </p:spPr>
          </p:sp>
          <p:sp>
            <p:nvSpPr>
              <p:cNvPr id="59" name="Freeform 59"/>
              <p:cNvSpPr/>
              <p:nvPr/>
            </p:nvSpPr>
            <p:spPr>
              <a:xfrm>
                <a:off x="8870156" y="24598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69281B"/>
                </a:solidFill>
              </a:ln>
            </p:spPr>
          </p:sp>
          <p:sp>
            <p:nvSpPr>
              <p:cNvPr id="60" name="Freeform 60"/>
              <p:cNvSpPr/>
              <p:nvPr/>
            </p:nvSpPr>
            <p:spPr>
              <a:xfrm>
                <a:off x="8890793" y="2532062"/>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69281B"/>
                </a:solidFill>
              </a:ln>
            </p:spPr>
          </p:sp>
          <p:sp>
            <p:nvSpPr>
              <p:cNvPr id="61" name="Freeform 61"/>
              <p:cNvSpPr/>
              <p:nvPr/>
            </p:nvSpPr>
            <p:spPr>
              <a:xfrm>
                <a:off x="8766969" y="24598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69281B"/>
                </a:solidFill>
              </a:ln>
            </p:spPr>
          </p:sp>
          <p:sp>
            <p:nvSpPr>
              <p:cNvPr id="62" name="Freeform 62"/>
              <p:cNvSpPr/>
              <p:nvPr/>
            </p:nvSpPr>
            <p:spPr>
              <a:xfrm>
                <a:off x="8746331" y="2532062"/>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69281B"/>
                </a:solidFill>
              </a:ln>
            </p:spPr>
          </p:sp>
        </p:grpSp>
        <p:sp>
          <p:nvSpPr>
            <p:cNvPr id="64" name="TextBox 64"/>
            <p:cNvSpPr txBox="1"/>
            <p:nvPr/>
          </p:nvSpPr>
          <p:spPr>
            <a:xfrm>
              <a:off x="9176385" y="2355056"/>
              <a:ext cx="916076"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普惠小微贷款</a:t>
              </a:r>
            </a:p>
          </p:txBody>
        </p:sp>
        <p:sp>
          <p:nvSpPr>
            <p:cNvPr id="65" name="TextBox 65"/>
            <p:cNvSpPr txBox="1"/>
            <p:nvPr/>
          </p:nvSpPr>
          <p:spPr>
            <a:xfrm>
              <a:off x="9177338" y="2565559"/>
              <a:ext cx="741858" cy="133350"/>
            </a:xfrm>
            <a:prstGeom prst="rect">
              <a:avLst/>
            </a:prstGeom>
            <a:noFill/>
            <a:ln>
              <a:noFill/>
            </a:ln>
          </p:spPr>
          <p:txBody>
            <a:bodyPr wrap="none" lIns="0" tIns="0" rIns="0" bIns="0" anchor="t" anchorCtr="0">
              <a:spAutoFit/>
            </a:bodyPr>
            <a:lstStyle/>
            <a:p>
              <a:pPr algn="l"/>
              <a:r>
                <a:rPr lang="zh-CN" sz="680" dirty="0">
                  <a:solidFill>
                    <a:srgbClr val="BEA09A"/>
                  </a:solidFill>
                  <a:latin typeface="+mn-lt"/>
                  <a:ea typeface="+mn-ea"/>
                  <a:cs typeface="+mn-cs"/>
                </a:rPr>
                <a:t>贷款余额（示例）</a:t>
              </a:r>
            </a:p>
          </p:txBody>
        </p:sp>
        <p:sp>
          <p:nvSpPr>
            <p:cNvPr id="66" name="TextBox 66"/>
            <p:cNvSpPr txBox="1"/>
            <p:nvPr/>
          </p:nvSpPr>
          <p:spPr>
            <a:xfrm>
              <a:off x="9172194" y="2742248"/>
              <a:ext cx="1056470" cy="381381"/>
            </a:xfrm>
            <a:prstGeom prst="rect">
              <a:avLst/>
            </a:prstGeom>
            <a:noFill/>
            <a:ln>
              <a:noFill/>
            </a:ln>
          </p:spPr>
          <p:txBody>
            <a:bodyPr wrap="none" lIns="0" tIns="0" rIns="0" bIns="0" anchor="t" anchorCtr="0">
              <a:spAutoFit/>
            </a:bodyPr>
            <a:lstStyle/>
            <a:p>
              <a:pPr algn="l"/>
              <a:r>
                <a:rPr lang="zh-CN" sz="1950" b="1" dirty="0">
                  <a:solidFill>
                    <a:srgbClr val="69281B"/>
                  </a:solidFill>
                  <a:latin typeface="+mn-lt"/>
                  <a:ea typeface="+mn-ea"/>
                  <a:cs typeface="+mn-cs"/>
                </a:rPr>
                <a:t>41.5</a:t>
              </a:r>
              <a:r>
                <a:rPr lang="zh-CN" sz="900" dirty="0">
                  <a:solidFill>
                    <a:srgbClr val="69281B"/>
                  </a:solidFill>
                  <a:latin typeface="+mn-lt"/>
                  <a:ea typeface="+mn-ea"/>
                  <a:cs typeface="+mn-cs"/>
                </a:rPr>
                <a:t xml:space="preserve"> 亿元</a:t>
              </a:r>
              <a:r>
                <a:rPr lang="zh-CN" sz="1950" b="1" dirty="0">
                  <a:solidFill>
                    <a:srgbClr val="69281B"/>
                  </a:solidFill>
                  <a:latin typeface="+mn-lt"/>
                  <a:ea typeface="+mn-ea"/>
                  <a:cs typeface="+mn-cs"/>
                </a:rPr>
                <a:t>​</a:t>
              </a:r>
            </a:p>
          </p:txBody>
        </p:sp>
        <p:sp>
          <p:nvSpPr>
            <p:cNvPr id="67" name="TextBox 67"/>
            <p:cNvSpPr txBox="1"/>
            <p:nvPr/>
          </p:nvSpPr>
          <p:spPr>
            <a:xfrm>
              <a:off x="10802226" y="2407682"/>
              <a:ext cx="784936"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较年初增量（示例）</a:t>
              </a:r>
            </a:p>
          </p:txBody>
        </p:sp>
        <p:sp>
          <p:nvSpPr>
            <p:cNvPr id="68" name="TextBox 68"/>
            <p:cNvSpPr txBox="1"/>
            <p:nvPr/>
          </p:nvSpPr>
          <p:spPr>
            <a:xfrm>
              <a:off x="10869892" y="2538651"/>
              <a:ext cx="717651" cy="198025"/>
            </a:xfrm>
            <a:prstGeom prst="rect">
              <a:avLst/>
            </a:prstGeom>
            <a:noFill/>
            <a:ln>
              <a:noFill/>
            </a:ln>
          </p:spPr>
          <p:txBody>
            <a:bodyPr wrap="none" lIns="0" tIns="0" rIns="0" bIns="0" anchor="t" anchorCtr="0">
              <a:spAutoFit/>
            </a:bodyPr>
            <a:lstStyle/>
            <a:p>
              <a:pPr algn="r"/>
              <a:r>
                <a:rPr lang="zh-CN" sz="1010" b="1" dirty="0">
                  <a:solidFill>
                    <a:srgbClr val="E04C2E"/>
                  </a:solidFill>
                  <a:latin typeface="+mn-lt"/>
                  <a:ea typeface="+mn-ea"/>
                  <a:cs typeface="+mn-cs"/>
                </a:rPr>
                <a:t>+6.3 亿元​</a:t>
              </a:r>
            </a:p>
          </p:txBody>
        </p:sp>
        <p:sp>
          <p:nvSpPr>
            <p:cNvPr id="69" name="TextBox 69"/>
            <p:cNvSpPr txBox="1"/>
            <p:nvPr/>
          </p:nvSpPr>
          <p:spPr>
            <a:xfrm>
              <a:off x="11060697" y="2788682"/>
              <a:ext cx="526466" cy="126206"/>
            </a:xfrm>
            <a:prstGeom prst="rect">
              <a:avLst/>
            </a:prstGeom>
            <a:noFill/>
            <a:ln>
              <a:noFill/>
            </a:ln>
          </p:spPr>
          <p:txBody>
            <a:bodyPr wrap="none" lIns="0" tIns="0" rIns="0" bIns="0" anchor="t" anchorCtr="0">
              <a:spAutoFit/>
            </a:bodyPr>
            <a:lstStyle/>
            <a:p>
              <a:pPr algn="r"/>
              <a:r>
                <a:rPr lang="zh-CN" sz="640" dirty="0">
                  <a:solidFill>
                    <a:srgbClr val="BEA09A"/>
                  </a:solidFill>
                  <a:latin typeface="+mn-lt"/>
                  <a:ea typeface="+mn-ea"/>
                  <a:cs typeface="+mn-cs"/>
                </a:rPr>
                <a:t>增速（示例）</a:t>
              </a:r>
            </a:p>
          </p:txBody>
        </p:sp>
        <p:sp>
          <p:nvSpPr>
            <p:cNvPr id="70" name="TextBox 70"/>
            <p:cNvSpPr txBox="1"/>
            <p:nvPr/>
          </p:nvSpPr>
          <p:spPr>
            <a:xfrm>
              <a:off x="11077581" y="2919651"/>
              <a:ext cx="509963" cy="198025"/>
            </a:xfrm>
            <a:prstGeom prst="rect">
              <a:avLst/>
            </a:prstGeom>
            <a:noFill/>
            <a:ln>
              <a:noFill/>
            </a:ln>
          </p:spPr>
          <p:txBody>
            <a:bodyPr wrap="none" lIns="0" tIns="0" rIns="0" bIns="0" anchor="t" anchorCtr="0">
              <a:spAutoFit/>
            </a:bodyPr>
            <a:lstStyle/>
            <a:p>
              <a:pPr algn="r"/>
              <a:r>
                <a:rPr lang="zh-CN" sz="1010" b="1" dirty="0">
                  <a:solidFill>
                    <a:srgbClr val="E04C2E"/>
                  </a:solidFill>
                  <a:latin typeface="+mn-lt"/>
                  <a:ea typeface="+mn-ea"/>
                  <a:cs typeface="+mn-cs"/>
                </a:rPr>
                <a:t>17.9%​</a:t>
              </a:r>
            </a:p>
          </p:txBody>
        </p:sp>
        <p:sp>
          <p:nvSpPr>
            <p:cNvPr id="71" name="Rectangle 71"/>
            <p:cNvSpPr/>
            <p:nvPr/>
          </p:nvSpPr>
          <p:spPr>
            <a:xfrm>
              <a:off x="8534400" y="3162300"/>
              <a:ext cx="3352800" cy="438150"/>
            </a:xfrm>
            <a:prstGeom prst="roundRect">
              <a:avLst>
                <a:gd name="adj" fmla="val 8696"/>
              </a:avLst>
            </a:prstGeom>
            <a:solidFill>
              <a:srgbClr val="F2F6FC"/>
            </a:solidFill>
            <a:ln>
              <a:noFill/>
            </a:ln>
          </p:spPr>
        </p:sp>
        <p:sp>
          <p:nvSpPr>
            <p:cNvPr id="72" name="TextBox 72"/>
            <p:cNvSpPr txBox="1"/>
            <p:nvPr/>
          </p:nvSpPr>
          <p:spPr>
            <a:xfrm>
              <a:off x="8624888" y="3254407"/>
              <a:ext cx="2090242" cy="278130"/>
            </a:xfrm>
            <a:prstGeom prst="rect">
              <a:avLst/>
            </a:prstGeom>
            <a:noFill/>
            <a:ln>
              <a:noFill/>
            </a:ln>
          </p:spPr>
          <p:txBody>
            <a:bodyPr wrap="none" lIns="0" tIns="0" rIns="0" bIns="0" anchor="t" anchorCtr="0">
              <a:spAutoFit/>
            </a:bodyPr>
            <a:lstStyle/>
            <a:p>
              <a:pPr algn="l">
                <a:lnSpc>
                  <a:spcPts val="1050"/>
                </a:lnSpc>
              </a:pPr>
              <a:r>
                <a:rPr lang="zh-CN" sz="740" dirty="0">
                  <a:solidFill>
                    <a:srgbClr val="70504A"/>
                  </a:solidFill>
                  <a:latin typeface="+mn-lt"/>
                  <a:ea typeface="+mn-ea"/>
                  <a:cs typeface="+mn-cs"/>
                </a:rPr>
                <a:t>聚焦小微企业、“三农”、个体工商户等客群，</a:t>
              </a:r>
              <a:br/>
              <a:r>
                <a:rPr lang="zh-CN" sz="740" dirty="0">
                  <a:solidFill>
                    <a:srgbClr val="70504A"/>
                  </a:solidFill>
                  <a:latin typeface="+mn-lt"/>
                  <a:ea typeface="+mn-ea"/>
                  <a:cs typeface="+mn-cs"/>
                </a:rPr>
                <a:t>服务小微客户</a:t>
              </a:r>
              <a:r>
                <a:rPr lang="zh-CN" sz="740" b="1" dirty="0">
                  <a:solidFill>
                    <a:srgbClr val="E04C2E"/>
                  </a:solidFill>
                  <a:latin typeface="+mn-lt"/>
                  <a:ea typeface="+mn-ea"/>
                  <a:cs typeface="+mn-cs"/>
                </a:rPr>
                <a:t>4,876户​</a:t>
              </a:r>
              <a:r>
                <a:rPr lang="zh-CN" sz="740" dirty="0">
                  <a:solidFill>
                    <a:srgbClr val="70504A"/>
                  </a:solidFill>
                  <a:latin typeface="+mn-lt"/>
                  <a:ea typeface="+mn-ea"/>
                  <a:cs typeface="+mn-cs"/>
                </a:rPr>
                <a:t>，较年初</a:t>
              </a:r>
              <a:r>
                <a:rPr lang="zh-CN" sz="740" b="1" dirty="0">
                  <a:solidFill>
                    <a:srgbClr val="E04C2E"/>
                  </a:solidFill>
                  <a:latin typeface="+mn-lt"/>
                  <a:ea typeface="+mn-ea"/>
                  <a:cs typeface="+mn-cs"/>
                </a:rPr>
                <a:t>+14.8%</a:t>
              </a:r>
              <a:r>
                <a:rPr lang="zh-CN" sz="740" dirty="0">
                  <a:solidFill>
                    <a:srgbClr val="70504A"/>
                  </a:solidFill>
                  <a:latin typeface="+mn-lt"/>
                  <a:ea typeface="+mn-ea"/>
                  <a:cs typeface="+mn-cs"/>
                </a:rPr>
                <a:t>（示例）</a:t>
              </a:r>
            </a:p>
          </p:txBody>
        </p:sp>
      </p:grpSp>
      <p:grpSp>
        <p:nvGrpSpPr>
          <p:cNvPr id="112" name="radar-benchmark"/>
          <p:cNvGrpSpPr/>
          <p:nvPr/>
        </p:nvGrpSpPr>
        <p:grpSpPr>
          <a:xfrm>
            <a:off x="3848100" y="685800"/>
            <a:ext cx="4495800" cy="3029188"/>
            <a:chOff x="3848100" y="685800"/>
            <a:chExt cx="4495800" cy="3029188"/>
          </a:xfrm>
        </p:grpSpPr>
        <p:sp>
          <p:nvSpPr>
            <p:cNvPr id="74" name="Rectangle 74"/>
            <p:cNvSpPr/>
            <p:nvPr/>
          </p:nvSpPr>
          <p:spPr>
            <a:xfrm>
              <a:off x="3848100" y="685800"/>
              <a:ext cx="4495800" cy="3009900"/>
            </a:xfrm>
            <a:prstGeom prst="roundRect">
              <a:avLst>
                <a:gd name="adj" fmla="val 1899"/>
              </a:avLst>
            </a:prstGeom>
            <a:solidFill>
              <a:srgbClr val="FFFFFF"/>
            </a:solidFill>
            <a:ln w="9525">
              <a:solidFill>
                <a:srgbClr val="C9D6E9"/>
              </a:solidFill>
            </a:ln>
          </p:spPr>
        </p:sp>
        <p:sp>
          <p:nvSpPr>
            <p:cNvPr id="75" name="Rectangle 75"/>
            <p:cNvSpPr/>
            <p:nvPr/>
          </p:nvSpPr>
          <p:spPr>
            <a:xfrm>
              <a:off x="3848100" y="685800"/>
              <a:ext cx="4495800" cy="247650"/>
            </a:xfrm>
            <a:prstGeom prst="roundRect">
              <a:avLst>
                <a:gd name="adj" fmla="val 23077"/>
              </a:avLst>
            </a:prstGeom>
            <a:solidFill>
              <a:srgbClr val="69281B"/>
            </a:solidFill>
            <a:ln>
              <a:noFill/>
            </a:ln>
          </p:spPr>
        </p:sp>
        <p:sp>
          <p:nvSpPr>
            <p:cNvPr id="76" name="Rectangle 76"/>
            <p:cNvSpPr/>
            <p:nvPr/>
          </p:nvSpPr>
          <p:spPr>
            <a:xfrm>
              <a:off x="3848100" y="838200"/>
              <a:ext cx="4495800" cy="95250"/>
            </a:xfrm>
            <a:prstGeom prst="rect">
              <a:avLst/>
            </a:prstGeom>
            <a:solidFill>
              <a:srgbClr val="69281B"/>
            </a:solidFill>
            <a:ln>
              <a:noFill/>
            </a:ln>
          </p:spPr>
        </p:sp>
        <p:sp>
          <p:nvSpPr>
            <p:cNvPr id="77" name="TextBox 77"/>
            <p:cNvSpPr txBox="1"/>
            <p:nvPr/>
          </p:nvSpPr>
          <p:spPr>
            <a:xfrm>
              <a:off x="5205438" y="756047"/>
              <a:ext cx="178112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重点领域服务质效对标（示例）</a:t>
              </a:r>
            </a:p>
          </p:txBody>
        </p:sp>
        <p:sp>
          <p:nvSpPr>
            <p:cNvPr id="78" name="Line 78"/>
            <p:cNvSpPr/>
            <p:nvPr/>
          </p:nvSpPr>
          <p:spPr>
            <a:xfrm>
              <a:off x="4305300" y="1066800"/>
              <a:ext cx="285750" cy="9525"/>
            </a:xfrm>
            <a:custGeom>
              <a:avLst/>
              <a:gdLst/>
              <a:ahLst/>
              <a:cxnLst/>
              <a:rect l="l" t="t" r="r" b="b"/>
              <a:pathLst>
                <a:path w="285750" h="9525">
                  <a:moveTo>
                    <a:pt x="0" y="0"/>
                  </a:moveTo>
                  <a:lnTo>
                    <a:pt x="285750" y="0"/>
                  </a:lnTo>
                </a:path>
              </a:pathLst>
            </a:custGeom>
            <a:noFill/>
            <a:ln w="23812">
              <a:solidFill>
                <a:srgbClr val="E04C2E"/>
              </a:solidFill>
            </a:ln>
          </p:spPr>
        </p:sp>
        <p:sp>
          <p:nvSpPr>
            <p:cNvPr id="79" name="TextBox 79"/>
            <p:cNvSpPr txBox="1"/>
            <p:nvPr/>
          </p:nvSpPr>
          <p:spPr>
            <a:xfrm>
              <a:off x="4643438" y="1027986"/>
              <a:ext cx="583006"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本行（示例）</a:t>
              </a:r>
            </a:p>
          </p:txBody>
        </p:sp>
        <p:sp>
          <p:nvSpPr>
            <p:cNvPr id="80" name="Line 80"/>
            <p:cNvSpPr/>
            <p:nvPr/>
          </p:nvSpPr>
          <p:spPr>
            <a:xfrm>
              <a:off x="5410200" y="1066800"/>
              <a:ext cx="285750" cy="9525"/>
            </a:xfrm>
            <a:custGeom>
              <a:avLst/>
              <a:gdLst/>
              <a:ahLst/>
              <a:cxnLst/>
              <a:rect l="l" t="t" r="r" b="b"/>
              <a:pathLst>
                <a:path w="285750" h="9525">
                  <a:moveTo>
                    <a:pt x="0" y="0"/>
                  </a:moveTo>
                  <a:lnTo>
                    <a:pt x="285750" y="0"/>
                  </a:lnTo>
                </a:path>
              </a:pathLst>
            </a:custGeom>
            <a:noFill/>
            <a:ln w="17145">
              <a:solidFill>
                <a:srgbClr val="69281B"/>
              </a:solidFill>
              <a:custDash>
                <a:ds d="277778" sp="166667"/>
              </a:custDash>
            </a:ln>
          </p:spPr>
        </p:sp>
        <p:sp>
          <p:nvSpPr>
            <p:cNvPr id="81" name="TextBox 81"/>
            <p:cNvSpPr txBox="1"/>
            <p:nvPr/>
          </p:nvSpPr>
          <p:spPr>
            <a:xfrm>
              <a:off x="5748338" y="1027986"/>
              <a:ext cx="774167"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同业平均（示例）</a:t>
              </a:r>
            </a:p>
          </p:txBody>
        </p:sp>
        <p:sp>
          <p:nvSpPr>
            <p:cNvPr id="82" name="Ellipse 82"/>
            <p:cNvSpPr/>
            <p:nvPr/>
          </p:nvSpPr>
          <p:spPr>
            <a:xfrm>
              <a:off x="6853238" y="1042988"/>
              <a:ext cx="47625" cy="47625"/>
            </a:xfrm>
            <a:prstGeom prst="ellipse">
              <a:avLst/>
            </a:prstGeom>
            <a:solidFill>
              <a:srgbClr val="D0442C"/>
            </a:solidFill>
            <a:ln>
              <a:noFill/>
            </a:ln>
          </p:spPr>
        </p:sp>
        <p:sp>
          <p:nvSpPr>
            <p:cNvPr id="83" name="TextBox 83"/>
            <p:cNvSpPr txBox="1"/>
            <p:nvPr/>
          </p:nvSpPr>
          <p:spPr>
            <a:xfrm>
              <a:off x="6948488" y="1027986"/>
              <a:ext cx="391846"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关键差距</a:t>
              </a:r>
            </a:p>
          </p:txBody>
        </p:sp>
        <p:sp>
          <p:nvSpPr>
            <p:cNvPr id="84" name="Line 84"/>
            <p:cNvSpPr/>
            <p:nvPr/>
          </p:nvSpPr>
          <p:spPr>
            <a:xfrm>
              <a:off x="6096000" y="1581150"/>
              <a:ext cx="9525" cy="876300"/>
            </a:xfrm>
            <a:custGeom>
              <a:avLst/>
              <a:gdLst/>
              <a:ahLst/>
              <a:cxnLst/>
              <a:rect l="l" t="t" r="r" b="b"/>
              <a:pathLst>
                <a:path w="9525" h="876300">
                  <a:moveTo>
                    <a:pt x="0" y="876300"/>
                  </a:moveTo>
                  <a:lnTo>
                    <a:pt x="0" y="0"/>
                  </a:lnTo>
                </a:path>
              </a:pathLst>
            </a:custGeom>
            <a:noFill/>
            <a:ln w="9525">
              <a:solidFill>
                <a:srgbClr val="DDE6F2"/>
              </a:solidFill>
            </a:ln>
          </p:spPr>
        </p:sp>
        <p:sp>
          <p:nvSpPr>
            <p:cNvPr id="85" name="Line 85"/>
            <p:cNvSpPr/>
            <p:nvPr/>
          </p:nvSpPr>
          <p:spPr>
            <a:xfrm>
              <a:off x="6096000" y="2186654"/>
              <a:ext cx="833438" cy="270796"/>
            </a:xfrm>
            <a:custGeom>
              <a:avLst/>
              <a:gdLst/>
              <a:ahLst/>
              <a:cxnLst/>
              <a:rect l="l" t="t" r="r" b="b"/>
              <a:pathLst>
                <a:path w="833438" h="270796">
                  <a:moveTo>
                    <a:pt x="0" y="270796"/>
                  </a:moveTo>
                  <a:lnTo>
                    <a:pt x="833438" y="0"/>
                  </a:lnTo>
                </a:path>
              </a:pathLst>
            </a:custGeom>
            <a:noFill/>
            <a:ln w="9525">
              <a:solidFill>
                <a:srgbClr val="DDE6F2"/>
              </a:solidFill>
            </a:ln>
          </p:spPr>
        </p:sp>
        <p:sp>
          <p:nvSpPr>
            <p:cNvPr id="86" name="Line 86"/>
            <p:cNvSpPr/>
            <p:nvPr/>
          </p:nvSpPr>
          <p:spPr>
            <a:xfrm>
              <a:off x="6096000" y="2457450"/>
              <a:ext cx="515112" cy="708946"/>
            </a:xfrm>
            <a:custGeom>
              <a:avLst/>
              <a:gdLst/>
              <a:ahLst/>
              <a:cxnLst/>
              <a:rect l="l" t="t" r="r" b="b"/>
              <a:pathLst>
                <a:path w="515112" h="708946">
                  <a:moveTo>
                    <a:pt x="0" y="0"/>
                  </a:moveTo>
                  <a:lnTo>
                    <a:pt x="515112" y="708946"/>
                  </a:lnTo>
                </a:path>
              </a:pathLst>
            </a:custGeom>
            <a:noFill/>
            <a:ln w="9525">
              <a:solidFill>
                <a:srgbClr val="DDE6F2"/>
              </a:solidFill>
            </a:ln>
          </p:spPr>
        </p:sp>
        <p:sp>
          <p:nvSpPr>
            <p:cNvPr id="87" name="Line 87"/>
            <p:cNvSpPr/>
            <p:nvPr/>
          </p:nvSpPr>
          <p:spPr>
            <a:xfrm>
              <a:off x="5580888" y="2457450"/>
              <a:ext cx="515112" cy="708946"/>
            </a:xfrm>
            <a:custGeom>
              <a:avLst/>
              <a:gdLst/>
              <a:ahLst/>
              <a:cxnLst/>
              <a:rect l="l" t="t" r="r" b="b"/>
              <a:pathLst>
                <a:path w="515112" h="708946">
                  <a:moveTo>
                    <a:pt x="515112" y="0"/>
                  </a:moveTo>
                  <a:lnTo>
                    <a:pt x="0" y="708946"/>
                  </a:lnTo>
                </a:path>
              </a:pathLst>
            </a:custGeom>
            <a:noFill/>
            <a:ln w="9525">
              <a:solidFill>
                <a:srgbClr val="DDE6F2"/>
              </a:solidFill>
            </a:ln>
          </p:spPr>
        </p:sp>
        <p:sp>
          <p:nvSpPr>
            <p:cNvPr id="88" name="Line 88"/>
            <p:cNvSpPr/>
            <p:nvPr/>
          </p:nvSpPr>
          <p:spPr>
            <a:xfrm>
              <a:off x="5262562" y="2186654"/>
              <a:ext cx="833438" cy="270796"/>
            </a:xfrm>
            <a:custGeom>
              <a:avLst/>
              <a:gdLst/>
              <a:ahLst/>
              <a:cxnLst/>
              <a:rect l="l" t="t" r="r" b="b"/>
              <a:pathLst>
                <a:path w="833438" h="270796">
                  <a:moveTo>
                    <a:pt x="833438" y="270796"/>
                  </a:moveTo>
                  <a:lnTo>
                    <a:pt x="0" y="0"/>
                  </a:lnTo>
                </a:path>
              </a:pathLst>
            </a:custGeom>
            <a:noFill/>
            <a:ln w="9525">
              <a:solidFill>
                <a:srgbClr val="DDE6F2"/>
              </a:solidFill>
            </a:ln>
          </p:spPr>
        </p:sp>
        <p:sp>
          <p:nvSpPr>
            <p:cNvPr id="89" name="Freeform 89"/>
            <p:cNvSpPr/>
            <p:nvPr/>
          </p:nvSpPr>
          <p:spPr>
            <a:xfrm>
              <a:off x="5929312" y="2282190"/>
              <a:ext cx="333375" cy="317087"/>
            </a:xfrm>
            <a:custGeom>
              <a:avLst/>
              <a:gdLst/>
              <a:ahLst/>
              <a:cxnLst/>
              <a:rect l="l" t="t" r="r" b="b"/>
              <a:pathLst>
                <a:path w="333375" h="317087">
                  <a:moveTo>
                    <a:pt x="166688" y="0"/>
                  </a:moveTo>
                  <a:lnTo>
                    <a:pt x="333375" y="121063"/>
                  </a:lnTo>
                  <a:lnTo>
                    <a:pt x="269748" y="317087"/>
                  </a:lnTo>
                  <a:lnTo>
                    <a:pt x="63627" y="317087"/>
                  </a:lnTo>
                  <a:lnTo>
                    <a:pt x="0" y="121063"/>
                  </a:lnTo>
                  <a:close/>
                </a:path>
              </a:pathLst>
            </a:custGeom>
            <a:noFill/>
            <a:ln w="9525">
              <a:solidFill>
                <a:srgbClr val="EDF2FA"/>
              </a:solidFill>
            </a:ln>
          </p:spPr>
        </p:sp>
        <p:sp>
          <p:nvSpPr>
            <p:cNvPr id="90" name="Freeform 90"/>
            <p:cNvSpPr/>
            <p:nvPr/>
          </p:nvSpPr>
          <p:spPr>
            <a:xfrm>
              <a:off x="5762625" y="2106930"/>
              <a:ext cx="666750" cy="634079"/>
            </a:xfrm>
            <a:custGeom>
              <a:avLst/>
              <a:gdLst/>
              <a:ahLst/>
              <a:cxnLst/>
              <a:rect l="l" t="t" r="r" b="b"/>
              <a:pathLst>
                <a:path w="666750" h="634079">
                  <a:moveTo>
                    <a:pt x="333375" y="0"/>
                  </a:moveTo>
                  <a:lnTo>
                    <a:pt x="666750" y="242221"/>
                  </a:lnTo>
                  <a:lnTo>
                    <a:pt x="539401" y="634079"/>
                  </a:lnTo>
                  <a:lnTo>
                    <a:pt x="127349" y="634079"/>
                  </a:lnTo>
                  <a:lnTo>
                    <a:pt x="0" y="242221"/>
                  </a:lnTo>
                  <a:close/>
                </a:path>
              </a:pathLst>
            </a:custGeom>
            <a:noFill/>
            <a:ln w="9525">
              <a:solidFill>
                <a:srgbClr val="EDF2FA"/>
              </a:solidFill>
            </a:ln>
          </p:spPr>
        </p:sp>
        <p:sp>
          <p:nvSpPr>
            <p:cNvPr id="91" name="Freeform 91"/>
            <p:cNvSpPr/>
            <p:nvPr/>
          </p:nvSpPr>
          <p:spPr>
            <a:xfrm>
              <a:off x="5595938" y="1931670"/>
              <a:ext cx="1000125" cy="951167"/>
            </a:xfrm>
            <a:custGeom>
              <a:avLst/>
              <a:gdLst/>
              <a:ahLst/>
              <a:cxnLst/>
              <a:rect l="l" t="t" r="r" b="b"/>
              <a:pathLst>
                <a:path w="1000125" h="951167">
                  <a:moveTo>
                    <a:pt x="500062" y="0"/>
                  </a:moveTo>
                  <a:lnTo>
                    <a:pt x="1000125" y="363283"/>
                  </a:lnTo>
                  <a:lnTo>
                    <a:pt x="809149" y="951167"/>
                  </a:lnTo>
                  <a:lnTo>
                    <a:pt x="190976" y="951167"/>
                  </a:lnTo>
                  <a:lnTo>
                    <a:pt x="0" y="363283"/>
                  </a:lnTo>
                  <a:close/>
                </a:path>
              </a:pathLst>
            </a:custGeom>
            <a:noFill/>
            <a:ln w="9525">
              <a:solidFill>
                <a:srgbClr val="EDF2FA"/>
              </a:solidFill>
            </a:ln>
          </p:spPr>
        </p:sp>
        <p:sp>
          <p:nvSpPr>
            <p:cNvPr id="92" name="Freeform 92"/>
            <p:cNvSpPr/>
            <p:nvPr/>
          </p:nvSpPr>
          <p:spPr>
            <a:xfrm>
              <a:off x="5429250" y="1756410"/>
              <a:ext cx="1333500" cy="1268159"/>
            </a:xfrm>
            <a:custGeom>
              <a:avLst/>
              <a:gdLst/>
              <a:ahLst/>
              <a:cxnLst/>
              <a:rect l="l" t="t" r="r" b="b"/>
              <a:pathLst>
                <a:path w="1333500" h="1268159">
                  <a:moveTo>
                    <a:pt x="666750" y="0"/>
                  </a:moveTo>
                  <a:lnTo>
                    <a:pt x="1333500" y="484441"/>
                  </a:lnTo>
                  <a:lnTo>
                    <a:pt x="1078802" y="1268159"/>
                  </a:lnTo>
                  <a:lnTo>
                    <a:pt x="254699" y="1268159"/>
                  </a:lnTo>
                  <a:lnTo>
                    <a:pt x="0" y="484441"/>
                  </a:lnTo>
                  <a:close/>
                </a:path>
              </a:pathLst>
            </a:custGeom>
            <a:noFill/>
            <a:ln w="9525">
              <a:solidFill>
                <a:srgbClr val="EDF2FA"/>
              </a:solidFill>
            </a:ln>
          </p:spPr>
        </p:sp>
        <p:sp>
          <p:nvSpPr>
            <p:cNvPr id="93" name="Freeform 93"/>
            <p:cNvSpPr/>
            <p:nvPr/>
          </p:nvSpPr>
          <p:spPr>
            <a:xfrm>
              <a:off x="5262562" y="1581150"/>
              <a:ext cx="1666875" cy="1585246"/>
            </a:xfrm>
            <a:custGeom>
              <a:avLst/>
              <a:gdLst/>
              <a:ahLst/>
              <a:cxnLst/>
              <a:rect l="l" t="t" r="r" b="b"/>
              <a:pathLst>
                <a:path w="1666875" h="1585246">
                  <a:moveTo>
                    <a:pt x="833438" y="0"/>
                  </a:moveTo>
                  <a:lnTo>
                    <a:pt x="1666875" y="605504"/>
                  </a:lnTo>
                  <a:lnTo>
                    <a:pt x="1348550" y="1585246"/>
                  </a:lnTo>
                  <a:lnTo>
                    <a:pt x="318325" y="1585246"/>
                  </a:lnTo>
                  <a:lnTo>
                    <a:pt x="0" y="605504"/>
                  </a:lnTo>
                  <a:close/>
                </a:path>
              </a:pathLst>
            </a:custGeom>
            <a:noFill/>
            <a:ln w="11430">
              <a:solidFill>
                <a:srgbClr val="DDE6F2"/>
              </a:solidFill>
            </a:ln>
          </p:spPr>
        </p:sp>
        <p:sp>
          <p:nvSpPr>
            <p:cNvPr id="94" name="TextBox 94"/>
            <p:cNvSpPr txBox="1"/>
            <p:nvPr/>
          </p:nvSpPr>
          <p:spPr>
            <a:xfrm>
              <a:off x="6157912" y="2253853"/>
              <a:ext cx="133914" cy="111919"/>
            </a:xfrm>
            <a:prstGeom prst="rect">
              <a:avLst/>
            </a:prstGeom>
            <a:noFill/>
            <a:ln>
              <a:noFill/>
            </a:ln>
          </p:spPr>
          <p:txBody>
            <a:bodyPr wrap="none" lIns="0" tIns="0" rIns="0" bIns="0" anchor="t" anchorCtr="0">
              <a:spAutoFit/>
            </a:bodyPr>
            <a:lstStyle/>
            <a:p>
              <a:pPr algn="l"/>
              <a:r>
                <a:rPr lang="zh-CN" sz="560" dirty="0">
                  <a:solidFill>
                    <a:srgbClr val="B4C2D6"/>
                  </a:solidFill>
                  <a:latin typeface="+mn-lt"/>
                  <a:ea typeface="+mn-ea"/>
                  <a:cs typeface="+mn-cs"/>
                </a:rPr>
                <a:t>20​</a:t>
              </a:r>
            </a:p>
          </p:txBody>
        </p:sp>
        <p:sp>
          <p:nvSpPr>
            <p:cNvPr id="95" name="TextBox 95"/>
            <p:cNvSpPr txBox="1"/>
            <p:nvPr/>
          </p:nvSpPr>
          <p:spPr>
            <a:xfrm>
              <a:off x="6157912" y="2082403"/>
              <a:ext cx="133914" cy="111919"/>
            </a:xfrm>
            <a:prstGeom prst="rect">
              <a:avLst/>
            </a:prstGeom>
            <a:noFill/>
            <a:ln>
              <a:noFill/>
            </a:ln>
          </p:spPr>
          <p:txBody>
            <a:bodyPr wrap="none" lIns="0" tIns="0" rIns="0" bIns="0" anchor="t" anchorCtr="0">
              <a:spAutoFit/>
            </a:bodyPr>
            <a:lstStyle/>
            <a:p>
              <a:pPr algn="l"/>
              <a:r>
                <a:rPr lang="zh-CN" sz="560" dirty="0">
                  <a:solidFill>
                    <a:srgbClr val="B4C2D6"/>
                  </a:solidFill>
                  <a:latin typeface="+mn-lt"/>
                  <a:ea typeface="+mn-ea"/>
                  <a:cs typeface="+mn-cs"/>
                </a:rPr>
                <a:t>40​</a:t>
              </a:r>
            </a:p>
          </p:txBody>
        </p:sp>
        <p:sp>
          <p:nvSpPr>
            <p:cNvPr id="96" name="TextBox 96"/>
            <p:cNvSpPr txBox="1"/>
            <p:nvPr/>
          </p:nvSpPr>
          <p:spPr>
            <a:xfrm>
              <a:off x="6157912" y="1901428"/>
              <a:ext cx="133914" cy="111919"/>
            </a:xfrm>
            <a:prstGeom prst="rect">
              <a:avLst/>
            </a:prstGeom>
            <a:noFill/>
            <a:ln>
              <a:noFill/>
            </a:ln>
          </p:spPr>
          <p:txBody>
            <a:bodyPr wrap="none" lIns="0" tIns="0" rIns="0" bIns="0" anchor="t" anchorCtr="0">
              <a:spAutoFit/>
            </a:bodyPr>
            <a:lstStyle/>
            <a:p>
              <a:pPr algn="l"/>
              <a:r>
                <a:rPr lang="zh-CN" sz="560" dirty="0">
                  <a:solidFill>
                    <a:srgbClr val="B4C2D6"/>
                  </a:solidFill>
                  <a:latin typeface="+mn-lt"/>
                  <a:ea typeface="+mn-ea"/>
                  <a:cs typeface="+mn-cs"/>
                </a:rPr>
                <a:t>60​</a:t>
              </a:r>
            </a:p>
          </p:txBody>
        </p:sp>
        <p:sp>
          <p:nvSpPr>
            <p:cNvPr id="97" name="TextBox 97"/>
            <p:cNvSpPr txBox="1"/>
            <p:nvPr/>
          </p:nvSpPr>
          <p:spPr>
            <a:xfrm>
              <a:off x="6157912" y="1729978"/>
              <a:ext cx="133914" cy="111919"/>
            </a:xfrm>
            <a:prstGeom prst="rect">
              <a:avLst/>
            </a:prstGeom>
            <a:noFill/>
            <a:ln>
              <a:noFill/>
            </a:ln>
          </p:spPr>
          <p:txBody>
            <a:bodyPr wrap="none" lIns="0" tIns="0" rIns="0" bIns="0" anchor="t" anchorCtr="0">
              <a:spAutoFit/>
            </a:bodyPr>
            <a:lstStyle/>
            <a:p>
              <a:pPr algn="l"/>
              <a:r>
                <a:rPr lang="zh-CN" sz="560" dirty="0">
                  <a:solidFill>
                    <a:srgbClr val="B4C2D6"/>
                  </a:solidFill>
                  <a:latin typeface="+mn-lt"/>
                  <a:ea typeface="+mn-ea"/>
                  <a:cs typeface="+mn-cs"/>
                </a:rPr>
                <a:t>80​</a:t>
              </a:r>
            </a:p>
          </p:txBody>
        </p:sp>
        <p:sp>
          <p:nvSpPr>
            <p:cNvPr id="98" name="TextBox 98"/>
            <p:cNvSpPr txBox="1"/>
            <p:nvPr/>
          </p:nvSpPr>
          <p:spPr>
            <a:xfrm>
              <a:off x="6157912" y="1558528"/>
              <a:ext cx="175377" cy="111919"/>
            </a:xfrm>
            <a:prstGeom prst="rect">
              <a:avLst/>
            </a:prstGeom>
            <a:noFill/>
            <a:ln>
              <a:noFill/>
            </a:ln>
          </p:spPr>
          <p:txBody>
            <a:bodyPr wrap="none" lIns="0" tIns="0" rIns="0" bIns="0" anchor="t" anchorCtr="0">
              <a:spAutoFit/>
            </a:bodyPr>
            <a:lstStyle/>
            <a:p>
              <a:pPr algn="l"/>
              <a:r>
                <a:rPr lang="zh-CN" sz="560" dirty="0">
                  <a:solidFill>
                    <a:srgbClr val="B4C2D6"/>
                  </a:solidFill>
                  <a:latin typeface="+mn-lt"/>
                  <a:ea typeface="+mn-ea"/>
                  <a:cs typeface="+mn-cs"/>
                </a:rPr>
                <a:t>100​</a:t>
              </a:r>
            </a:p>
          </p:txBody>
        </p:sp>
        <p:sp>
          <p:nvSpPr>
            <p:cNvPr id="99" name="Freeform 99"/>
            <p:cNvSpPr/>
            <p:nvPr/>
          </p:nvSpPr>
          <p:spPr>
            <a:xfrm>
              <a:off x="5362575" y="1624965"/>
              <a:ext cx="1483519" cy="1435132"/>
            </a:xfrm>
            <a:custGeom>
              <a:avLst/>
              <a:gdLst/>
              <a:ahLst/>
              <a:cxnLst/>
              <a:rect l="l" t="t" r="r" b="b"/>
              <a:pathLst>
                <a:path w="1483519" h="1435132">
                  <a:moveTo>
                    <a:pt x="733425" y="0"/>
                  </a:moveTo>
                  <a:lnTo>
                    <a:pt x="1483519" y="588740"/>
                  </a:lnTo>
                  <a:lnTo>
                    <a:pt x="1171194" y="1435132"/>
                  </a:lnTo>
                  <a:lnTo>
                    <a:pt x="321374" y="1399604"/>
                  </a:lnTo>
                  <a:lnTo>
                    <a:pt x="0" y="594170"/>
                  </a:lnTo>
                  <a:close/>
                </a:path>
              </a:pathLst>
            </a:custGeom>
            <a:solidFill>
              <a:srgbClr val="E04C2E">
                <a:alpha val="12000"/>
              </a:srgbClr>
            </a:solidFill>
            <a:ln w="20955">
              <a:solidFill>
                <a:srgbClr val="E04C2E"/>
              </a:solidFill>
            </a:ln>
          </p:spPr>
        </p:sp>
        <p:sp>
          <p:nvSpPr>
            <p:cNvPr id="100" name="Freeform 100"/>
            <p:cNvSpPr/>
            <p:nvPr/>
          </p:nvSpPr>
          <p:spPr>
            <a:xfrm>
              <a:off x="5495925" y="1887855"/>
              <a:ext cx="1225106" cy="1065848"/>
            </a:xfrm>
            <a:custGeom>
              <a:avLst/>
              <a:gdLst/>
              <a:ahLst/>
              <a:cxnLst/>
              <a:rect l="l" t="t" r="r" b="b"/>
              <a:pathLst>
                <a:path w="1225106" h="1065848">
                  <a:moveTo>
                    <a:pt x="600075" y="0"/>
                  </a:moveTo>
                  <a:lnTo>
                    <a:pt x="1225106" y="366522"/>
                  </a:lnTo>
                  <a:lnTo>
                    <a:pt x="960596" y="1065848"/>
                  </a:lnTo>
                  <a:lnTo>
                    <a:pt x="280702" y="1009174"/>
                  </a:lnTo>
                  <a:lnTo>
                    <a:pt x="0" y="374618"/>
                  </a:lnTo>
                  <a:close/>
                </a:path>
              </a:pathLst>
            </a:custGeom>
            <a:noFill/>
            <a:ln w="17145">
              <a:solidFill>
                <a:srgbClr val="69281B"/>
              </a:solidFill>
              <a:custDash>
                <a:ds d="277778" sp="166667"/>
              </a:custDash>
            </a:ln>
          </p:spPr>
        </p:sp>
        <p:sp>
          <p:nvSpPr>
            <p:cNvPr id="101" name="Ellipse 101"/>
            <p:cNvSpPr/>
            <p:nvPr/>
          </p:nvSpPr>
          <p:spPr>
            <a:xfrm>
              <a:off x="6748462" y="2071688"/>
              <a:ext cx="47625" cy="47625"/>
            </a:xfrm>
            <a:prstGeom prst="ellipse">
              <a:avLst/>
            </a:prstGeom>
            <a:solidFill>
              <a:srgbClr val="D0442C"/>
            </a:solidFill>
            <a:ln>
              <a:noFill/>
            </a:ln>
          </p:spPr>
        </p:sp>
        <p:sp>
          <p:nvSpPr>
            <p:cNvPr id="102" name="Ellipse 102"/>
            <p:cNvSpPr/>
            <p:nvPr/>
          </p:nvSpPr>
          <p:spPr>
            <a:xfrm>
              <a:off x="6434138" y="2967038"/>
              <a:ext cx="47625" cy="47625"/>
            </a:xfrm>
            <a:prstGeom prst="ellipse">
              <a:avLst/>
            </a:prstGeom>
            <a:solidFill>
              <a:srgbClr val="D0442C"/>
            </a:solidFill>
            <a:ln>
              <a:noFill/>
            </a:ln>
          </p:spPr>
        </p:sp>
        <p:sp>
          <p:nvSpPr>
            <p:cNvPr id="103" name="Ellipse 103"/>
            <p:cNvSpPr/>
            <p:nvPr/>
          </p:nvSpPr>
          <p:spPr>
            <a:xfrm>
              <a:off x="5405438" y="2214562"/>
              <a:ext cx="47625" cy="47625"/>
            </a:xfrm>
            <a:prstGeom prst="ellipse">
              <a:avLst/>
            </a:prstGeom>
            <a:solidFill>
              <a:srgbClr val="D0442C"/>
            </a:solidFill>
            <a:ln>
              <a:noFill/>
            </a:ln>
          </p:spPr>
        </p:sp>
        <p:sp>
          <p:nvSpPr>
            <p:cNvPr id="104" name="TextBox 104"/>
            <p:cNvSpPr txBox="1"/>
            <p:nvPr/>
          </p:nvSpPr>
          <p:spPr>
            <a:xfrm>
              <a:off x="5850057" y="1404938"/>
              <a:ext cx="491885"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增速</a:t>
              </a:r>
              <a:r>
                <a:rPr lang="zh-CN" sz="600" dirty="0">
                  <a:solidFill>
                    <a:srgbClr val="987F7A"/>
                  </a:solidFill>
                  <a:latin typeface="+mn-lt"/>
                  <a:ea typeface="+mn-ea"/>
                  <a:cs typeface="+mn-cs"/>
                </a:rPr>
                <a:t>（%）</a:t>
              </a:r>
              <a:r>
                <a:rPr lang="zh-CN" sz="750" b="1" dirty="0">
                  <a:solidFill>
                    <a:srgbClr val="5F3A33"/>
                  </a:solidFill>
                  <a:latin typeface="+mn-lt"/>
                  <a:ea typeface="+mn-ea"/>
                  <a:cs typeface="+mn-cs"/>
                </a:rPr>
                <a:t>​</a:t>
              </a:r>
            </a:p>
          </p:txBody>
        </p:sp>
        <p:sp>
          <p:nvSpPr>
            <p:cNvPr id="105" name="TextBox 105"/>
            <p:cNvSpPr txBox="1"/>
            <p:nvPr/>
          </p:nvSpPr>
          <p:spPr>
            <a:xfrm>
              <a:off x="7005638" y="2071688"/>
              <a:ext cx="794780"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客户覆盖</a:t>
              </a:r>
              <a:r>
                <a:rPr lang="zh-CN" sz="600" dirty="0">
                  <a:solidFill>
                    <a:srgbClr val="987F7A"/>
                  </a:solidFill>
                  <a:latin typeface="+mn-lt"/>
                  <a:ea typeface="+mn-ea"/>
                  <a:cs typeface="+mn-cs"/>
                </a:rPr>
                <a:t>（指数）</a:t>
              </a:r>
              <a:r>
                <a:rPr lang="zh-CN" sz="750" b="1" dirty="0">
                  <a:solidFill>
                    <a:srgbClr val="5F3A33"/>
                  </a:solidFill>
                  <a:latin typeface="+mn-lt"/>
                  <a:ea typeface="+mn-ea"/>
                  <a:cs typeface="+mn-cs"/>
                </a:rPr>
                <a:t>​</a:t>
              </a:r>
            </a:p>
          </p:txBody>
        </p:sp>
        <p:sp>
          <p:nvSpPr>
            <p:cNvPr id="106" name="TextBox 106"/>
            <p:cNvSpPr txBox="1"/>
            <p:nvPr/>
          </p:nvSpPr>
          <p:spPr>
            <a:xfrm>
              <a:off x="6662738" y="3252788"/>
              <a:ext cx="794780"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产品渗透</a:t>
              </a:r>
              <a:r>
                <a:rPr lang="zh-CN" sz="600" dirty="0">
                  <a:solidFill>
                    <a:srgbClr val="987F7A"/>
                  </a:solidFill>
                  <a:latin typeface="+mn-lt"/>
                  <a:ea typeface="+mn-ea"/>
                  <a:cs typeface="+mn-cs"/>
                </a:rPr>
                <a:t>（指数）</a:t>
              </a:r>
              <a:r>
                <a:rPr lang="zh-CN" sz="750" b="1" dirty="0">
                  <a:solidFill>
                    <a:srgbClr val="5F3A33"/>
                  </a:solidFill>
                  <a:latin typeface="+mn-lt"/>
                  <a:ea typeface="+mn-ea"/>
                  <a:cs typeface="+mn-cs"/>
                </a:rPr>
                <a:t>​</a:t>
              </a:r>
            </a:p>
          </p:txBody>
        </p:sp>
        <p:sp>
          <p:nvSpPr>
            <p:cNvPr id="107" name="TextBox 107"/>
            <p:cNvSpPr txBox="1"/>
            <p:nvPr/>
          </p:nvSpPr>
          <p:spPr>
            <a:xfrm>
              <a:off x="4734482" y="3252788"/>
              <a:ext cx="794780" cy="147638"/>
            </a:xfrm>
            <a:prstGeom prst="rect">
              <a:avLst/>
            </a:prstGeom>
            <a:noFill/>
            <a:ln>
              <a:noFill/>
            </a:ln>
          </p:spPr>
          <p:txBody>
            <a:bodyPr wrap="none" lIns="0" tIns="0" rIns="0" bIns="0" anchor="t" anchorCtr="0">
              <a:spAutoFit/>
            </a:bodyPr>
            <a:lstStyle/>
            <a:p>
              <a:pPr algn="r"/>
              <a:r>
                <a:rPr lang="zh-CN" sz="750" b="1" dirty="0">
                  <a:solidFill>
                    <a:srgbClr val="5F3A33"/>
                  </a:solidFill>
                  <a:latin typeface="+mn-lt"/>
                  <a:ea typeface="+mn-ea"/>
                  <a:cs typeface="+mn-cs"/>
                </a:rPr>
                <a:t>审批效率</a:t>
              </a:r>
              <a:r>
                <a:rPr lang="zh-CN" sz="600" dirty="0">
                  <a:solidFill>
                    <a:srgbClr val="987F7A"/>
                  </a:solidFill>
                  <a:latin typeface="+mn-lt"/>
                  <a:ea typeface="+mn-ea"/>
                  <a:cs typeface="+mn-cs"/>
                </a:rPr>
                <a:t>（指数）</a:t>
              </a:r>
              <a:r>
                <a:rPr lang="zh-CN" sz="750" b="1" dirty="0">
                  <a:solidFill>
                    <a:srgbClr val="5F3A33"/>
                  </a:solidFill>
                  <a:latin typeface="+mn-lt"/>
                  <a:ea typeface="+mn-ea"/>
                  <a:cs typeface="+mn-cs"/>
                </a:rPr>
                <a:t>​</a:t>
              </a:r>
            </a:p>
          </p:txBody>
        </p:sp>
        <p:sp>
          <p:nvSpPr>
            <p:cNvPr id="108" name="TextBox 108"/>
            <p:cNvSpPr txBox="1"/>
            <p:nvPr/>
          </p:nvSpPr>
          <p:spPr>
            <a:xfrm>
              <a:off x="4391582" y="2071688"/>
              <a:ext cx="794780" cy="147638"/>
            </a:xfrm>
            <a:prstGeom prst="rect">
              <a:avLst/>
            </a:prstGeom>
            <a:noFill/>
            <a:ln>
              <a:noFill/>
            </a:ln>
          </p:spPr>
          <p:txBody>
            <a:bodyPr wrap="none" lIns="0" tIns="0" rIns="0" bIns="0" anchor="t" anchorCtr="0">
              <a:spAutoFit/>
            </a:bodyPr>
            <a:lstStyle/>
            <a:p>
              <a:pPr algn="r"/>
              <a:r>
                <a:rPr lang="zh-CN" sz="750" b="1" dirty="0">
                  <a:solidFill>
                    <a:srgbClr val="5F3A33"/>
                  </a:solidFill>
                  <a:latin typeface="+mn-lt"/>
                  <a:ea typeface="+mn-ea"/>
                  <a:cs typeface="+mn-cs"/>
                </a:rPr>
                <a:t>风险质量</a:t>
              </a:r>
              <a:r>
                <a:rPr lang="zh-CN" sz="600" dirty="0">
                  <a:solidFill>
                    <a:srgbClr val="987F7A"/>
                  </a:solidFill>
                  <a:latin typeface="+mn-lt"/>
                  <a:ea typeface="+mn-ea"/>
                  <a:cs typeface="+mn-cs"/>
                </a:rPr>
                <a:t>（指数）</a:t>
              </a:r>
              <a:r>
                <a:rPr lang="zh-CN" sz="750" b="1" dirty="0">
                  <a:solidFill>
                    <a:srgbClr val="5F3A33"/>
                  </a:solidFill>
                  <a:latin typeface="+mn-lt"/>
                  <a:ea typeface="+mn-ea"/>
                  <a:cs typeface="+mn-cs"/>
                </a:rPr>
                <a:t>​</a:t>
              </a:r>
            </a:p>
          </p:txBody>
        </p:sp>
        <p:sp>
          <p:nvSpPr>
            <p:cNvPr id="109" name="TextBox 109"/>
            <p:cNvSpPr txBox="1"/>
            <p:nvPr/>
          </p:nvSpPr>
          <p:spPr>
            <a:xfrm>
              <a:off x="4611434" y="2202180"/>
              <a:ext cx="574929" cy="119062"/>
            </a:xfrm>
            <a:prstGeom prst="rect">
              <a:avLst/>
            </a:prstGeom>
            <a:noFill/>
            <a:ln>
              <a:noFill/>
            </a:ln>
          </p:spPr>
          <p:txBody>
            <a:bodyPr wrap="none" lIns="0" tIns="0" rIns="0" bIns="0" anchor="t" anchorCtr="0">
              <a:spAutoFit/>
            </a:bodyPr>
            <a:lstStyle/>
            <a:p>
              <a:pPr algn="r"/>
              <a:r>
                <a:rPr lang="zh-CN" sz="600" dirty="0">
                  <a:solidFill>
                    <a:srgbClr val="987F7A"/>
                  </a:solidFill>
                  <a:latin typeface="+mn-lt"/>
                  <a:ea typeface="+mn-ea"/>
                  <a:cs typeface="+mn-cs"/>
                </a:rPr>
                <a:t>（不良率反向）</a:t>
              </a:r>
            </a:p>
          </p:txBody>
        </p:sp>
        <p:sp>
          <p:nvSpPr>
            <p:cNvPr id="110" name="TextBox 110"/>
            <p:cNvSpPr txBox="1"/>
            <p:nvPr/>
          </p:nvSpPr>
          <p:spPr>
            <a:xfrm>
              <a:off x="5240439" y="3474482"/>
              <a:ext cx="1711122"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注：指数以同业平均=100，分值越高越优；​</a:t>
              </a:r>
            </a:p>
          </p:txBody>
        </p:sp>
        <p:sp>
          <p:nvSpPr>
            <p:cNvPr id="111" name="TextBox 111"/>
            <p:cNvSpPr txBox="1"/>
            <p:nvPr/>
          </p:nvSpPr>
          <p:spPr>
            <a:xfrm>
              <a:off x="5186591" y="3588782"/>
              <a:ext cx="1818818"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不良率为反向指标，分值越高风险越低（示例）</a:t>
              </a:r>
            </a:p>
          </p:txBody>
        </p:sp>
      </p:grpSp>
      <p:grpSp>
        <p:nvGrpSpPr>
          <p:cNvPr id="143" name="table-tools"/>
          <p:cNvGrpSpPr/>
          <p:nvPr/>
        </p:nvGrpSpPr>
        <p:grpSpPr>
          <a:xfrm>
            <a:off x="228600" y="3771900"/>
            <a:ext cx="5791200" cy="2895600"/>
            <a:chOff x="228600" y="3771900"/>
            <a:chExt cx="5791200" cy="2895600"/>
          </a:xfrm>
        </p:grpSpPr>
        <p:sp>
          <p:nvSpPr>
            <p:cNvPr id="113" name="Rectangle 113"/>
            <p:cNvSpPr/>
            <p:nvPr/>
          </p:nvSpPr>
          <p:spPr>
            <a:xfrm>
              <a:off x="228600" y="3771900"/>
              <a:ext cx="5791200" cy="2895600"/>
            </a:xfrm>
            <a:prstGeom prst="roundRect">
              <a:avLst>
                <a:gd name="adj" fmla="val 1974"/>
              </a:avLst>
            </a:prstGeom>
            <a:solidFill>
              <a:srgbClr val="FFFFFF"/>
            </a:solidFill>
            <a:ln w="9525">
              <a:solidFill>
                <a:srgbClr val="C9D6E9"/>
              </a:solidFill>
            </a:ln>
          </p:spPr>
        </p:sp>
        <p:sp>
          <p:nvSpPr>
            <p:cNvPr id="114" name="Rectangle 114"/>
            <p:cNvSpPr/>
            <p:nvPr/>
          </p:nvSpPr>
          <p:spPr>
            <a:xfrm>
              <a:off x="228600" y="3771900"/>
              <a:ext cx="5791200" cy="247650"/>
            </a:xfrm>
            <a:prstGeom prst="roundRect">
              <a:avLst>
                <a:gd name="adj" fmla="val 23077"/>
              </a:avLst>
            </a:prstGeom>
            <a:solidFill>
              <a:srgbClr val="69281B"/>
            </a:solidFill>
            <a:ln>
              <a:noFill/>
            </a:ln>
          </p:spPr>
        </p:sp>
        <p:sp>
          <p:nvSpPr>
            <p:cNvPr id="115" name="Rectangle 115"/>
            <p:cNvSpPr/>
            <p:nvPr/>
          </p:nvSpPr>
          <p:spPr>
            <a:xfrm>
              <a:off x="228600" y="3924300"/>
              <a:ext cx="5791200" cy="95250"/>
            </a:xfrm>
            <a:prstGeom prst="rect">
              <a:avLst/>
            </a:prstGeom>
            <a:solidFill>
              <a:srgbClr val="69281B"/>
            </a:solidFill>
            <a:ln>
              <a:noFill/>
            </a:ln>
          </p:spPr>
        </p:sp>
        <p:sp>
          <p:nvSpPr>
            <p:cNvPr id="116" name="TextBox 116"/>
            <p:cNvSpPr txBox="1"/>
            <p:nvPr/>
          </p:nvSpPr>
          <p:spPr>
            <a:xfrm>
              <a:off x="2043824" y="3842147"/>
              <a:ext cx="216075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结构性货币政策工具应用情况（示例）</a:t>
              </a:r>
            </a:p>
          </p:txBody>
        </p:sp>
        <p:sp>
          <p:nvSpPr>
            <p:cNvPr id="117" name="Rectangle 117"/>
            <p:cNvSpPr/>
            <p:nvPr/>
          </p:nvSpPr>
          <p:spPr>
            <a:xfrm>
              <a:off x="342900" y="4019550"/>
              <a:ext cx="5562600" cy="285750"/>
            </a:xfrm>
            <a:prstGeom prst="rect">
              <a:avLst/>
            </a:prstGeom>
            <a:solidFill>
              <a:srgbClr val="EAF1FB"/>
            </a:solidFill>
            <a:ln>
              <a:noFill/>
            </a:ln>
          </p:spPr>
        </p:sp>
        <p:sp>
          <p:nvSpPr>
            <p:cNvPr id="118" name="TextBox 118"/>
            <p:cNvSpPr txBox="1"/>
            <p:nvPr/>
          </p:nvSpPr>
          <p:spPr>
            <a:xfrm>
              <a:off x="414338" y="412908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工具名称</a:t>
              </a:r>
            </a:p>
          </p:txBody>
        </p:sp>
        <p:sp>
          <p:nvSpPr>
            <p:cNvPr id="119" name="TextBox 119"/>
            <p:cNvSpPr txBox="1"/>
            <p:nvPr/>
          </p:nvSpPr>
          <p:spPr>
            <a:xfrm>
              <a:off x="1727835" y="4129088"/>
              <a:ext cx="716280"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申报笔数（笔）</a:t>
              </a:r>
            </a:p>
          </p:txBody>
        </p:sp>
        <p:sp>
          <p:nvSpPr>
            <p:cNvPr id="120" name="TextBox 120"/>
            <p:cNvSpPr txBox="1"/>
            <p:nvPr/>
          </p:nvSpPr>
          <p:spPr>
            <a:xfrm>
              <a:off x="2439352" y="4129088"/>
              <a:ext cx="81724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申报金额（亿元）</a:t>
              </a:r>
            </a:p>
          </p:txBody>
        </p:sp>
        <p:sp>
          <p:nvSpPr>
            <p:cNvPr id="121" name="TextBox 121"/>
            <p:cNvSpPr txBox="1"/>
            <p:nvPr/>
          </p:nvSpPr>
          <p:spPr>
            <a:xfrm>
              <a:off x="3142298" y="4129088"/>
              <a:ext cx="122110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获批（投放）金额（亿元）</a:t>
              </a:r>
            </a:p>
          </p:txBody>
        </p:sp>
        <p:sp>
          <p:nvSpPr>
            <p:cNvPr id="122" name="TextBox 122"/>
            <p:cNvSpPr txBox="1"/>
            <p:nvPr/>
          </p:nvSpPr>
          <p:spPr>
            <a:xfrm>
              <a:off x="4639628" y="4129088"/>
              <a:ext cx="81724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支持领域（示例）</a:t>
              </a:r>
            </a:p>
          </p:txBody>
        </p:sp>
        <p:sp>
          <p:nvSpPr>
            <p:cNvPr id="123" name="TextBox 123"/>
            <p:cNvSpPr txBox="1"/>
            <p:nvPr/>
          </p:nvSpPr>
          <p:spPr>
            <a:xfrm>
              <a:off x="414338" y="4467939"/>
              <a:ext cx="1179373"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设备更新改造专项再贷款</a:t>
              </a:r>
            </a:p>
          </p:txBody>
        </p:sp>
        <p:sp>
          <p:nvSpPr>
            <p:cNvPr id="124" name="TextBox 124"/>
            <p:cNvSpPr txBox="1"/>
            <p:nvPr/>
          </p:nvSpPr>
          <p:spPr>
            <a:xfrm>
              <a:off x="1989087" y="4467939"/>
              <a:ext cx="193776"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18​</a:t>
              </a:r>
            </a:p>
          </p:txBody>
        </p:sp>
        <p:sp>
          <p:nvSpPr>
            <p:cNvPr id="125" name="TextBox 125"/>
            <p:cNvSpPr txBox="1"/>
            <p:nvPr/>
          </p:nvSpPr>
          <p:spPr>
            <a:xfrm>
              <a:off x="2696982" y="446793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14.2​</a:t>
              </a:r>
            </a:p>
          </p:txBody>
        </p:sp>
        <p:sp>
          <p:nvSpPr>
            <p:cNvPr id="126" name="TextBox 126"/>
            <p:cNvSpPr txBox="1"/>
            <p:nvPr/>
          </p:nvSpPr>
          <p:spPr>
            <a:xfrm>
              <a:off x="3594545" y="4467939"/>
              <a:ext cx="316610"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12.6​</a:t>
              </a:r>
            </a:p>
          </p:txBody>
        </p:sp>
        <p:sp>
          <p:nvSpPr>
            <p:cNvPr id="127" name="TextBox 127"/>
            <p:cNvSpPr txBox="1"/>
            <p:nvPr/>
          </p:nvSpPr>
          <p:spPr>
            <a:xfrm>
              <a:off x="4395788" y="441888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高端装备、工业技改、</a:t>
              </a:r>
              <a:br/>
              <a:r>
                <a:rPr lang="zh-CN" sz="710" dirty="0">
                  <a:solidFill>
                    <a:srgbClr val="70504A"/>
                  </a:solidFill>
                  <a:latin typeface="+mn-lt"/>
                  <a:ea typeface="+mn-ea"/>
                  <a:cs typeface="+mn-cs"/>
                </a:rPr>
                <a:t>数字化转型等</a:t>
              </a:r>
            </a:p>
          </p:txBody>
        </p:sp>
        <p:sp>
          <p:nvSpPr>
            <p:cNvPr id="128" name="Line 128"/>
            <p:cNvSpPr/>
            <p:nvPr/>
          </p:nvSpPr>
          <p:spPr>
            <a:xfrm>
              <a:off x="342900" y="4686300"/>
              <a:ext cx="5562600" cy="9525"/>
            </a:xfrm>
            <a:custGeom>
              <a:avLst/>
              <a:gdLst/>
              <a:ahLst/>
              <a:cxnLst/>
              <a:rect l="l" t="t" r="r" b="b"/>
              <a:pathLst>
                <a:path w="5562600" h="9525">
                  <a:moveTo>
                    <a:pt x="0" y="0"/>
                  </a:moveTo>
                  <a:lnTo>
                    <a:pt x="5562600" y="0"/>
                  </a:lnTo>
                </a:path>
              </a:pathLst>
            </a:custGeom>
            <a:noFill/>
            <a:ln w="9525">
              <a:solidFill>
                <a:srgbClr val="EDF2FA"/>
              </a:solidFill>
            </a:ln>
          </p:spPr>
        </p:sp>
        <p:sp>
          <p:nvSpPr>
            <p:cNvPr id="129" name="TextBox 129"/>
            <p:cNvSpPr txBox="1"/>
            <p:nvPr/>
          </p:nvSpPr>
          <p:spPr>
            <a:xfrm>
              <a:off x="414338" y="4963239"/>
              <a:ext cx="75397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科技创新再贷款</a:t>
              </a:r>
            </a:p>
          </p:txBody>
        </p:sp>
        <p:sp>
          <p:nvSpPr>
            <p:cNvPr id="130" name="TextBox 130"/>
            <p:cNvSpPr txBox="1"/>
            <p:nvPr/>
          </p:nvSpPr>
          <p:spPr>
            <a:xfrm>
              <a:off x="1989087" y="4963239"/>
              <a:ext cx="193776"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12​</a:t>
              </a:r>
            </a:p>
          </p:txBody>
        </p:sp>
        <p:sp>
          <p:nvSpPr>
            <p:cNvPr id="131" name="TextBox 131"/>
            <p:cNvSpPr txBox="1"/>
            <p:nvPr/>
          </p:nvSpPr>
          <p:spPr>
            <a:xfrm>
              <a:off x="2726228" y="4963239"/>
              <a:ext cx="243495"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9.6​</a:t>
              </a:r>
            </a:p>
          </p:txBody>
        </p:sp>
        <p:sp>
          <p:nvSpPr>
            <p:cNvPr id="132" name="TextBox 132"/>
            <p:cNvSpPr txBox="1"/>
            <p:nvPr/>
          </p:nvSpPr>
          <p:spPr>
            <a:xfrm>
              <a:off x="3625253" y="4963239"/>
              <a:ext cx="255193"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8.4​</a:t>
              </a:r>
            </a:p>
          </p:txBody>
        </p:sp>
        <p:sp>
          <p:nvSpPr>
            <p:cNvPr id="133" name="TextBox 133"/>
            <p:cNvSpPr txBox="1"/>
            <p:nvPr/>
          </p:nvSpPr>
          <p:spPr>
            <a:xfrm>
              <a:off x="4395788" y="491418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科创企业、研发投入、</a:t>
              </a:r>
              <a:br/>
              <a:r>
                <a:rPr lang="zh-CN" sz="710" dirty="0">
                  <a:solidFill>
                    <a:srgbClr val="70504A"/>
                  </a:solidFill>
                  <a:latin typeface="+mn-lt"/>
                  <a:ea typeface="+mn-ea"/>
                  <a:cs typeface="+mn-cs"/>
                </a:rPr>
                <a:t>成果转化等</a:t>
              </a:r>
            </a:p>
          </p:txBody>
        </p:sp>
        <p:sp>
          <p:nvSpPr>
            <p:cNvPr id="134" name="Line 134"/>
            <p:cNvSpPr/>
            <p:nvPr/>
          </p:nvSpPr>
          <p:spPr>
            <a:xfrm>
              <a:off x="342900" y="5181600"/>
              <a:ext cx="5562600" cy="9525"/>
            </a:xfrm>
            <a:custGeom>
              <a:avLst/>
              <a:gdLst/>
              <a:ahLst/>
              <a:cxnLst/>
              <a:rect l="l" t="t" r="r" b="b"/>
              <a:pathLst>
                <a:path w="5562600" h="9525">
                  <a:moveTo>
                    <a:pt x="0" y="0"/>
                  </a:moveTo>
                  <a:lnTo>
                    <a:pt x="5562600" y="0"/>
                  </a:lnTo>
                </a:path>
              </a:pathLst>
            </a:custGeom>
            <a:noFill/>
            <a:ln w="9525">
              <a:solidFill>
                <a:srgbClr val="EDF2FA"/>
              </a:solidFill>
            </a:ln>
          </p:spPr>
        </p:sp>
        <p:sp>
          <p:nvSpPr>
            <p:cNvPr id="135" name="TextBox 135"/>
            <p:cNvSpPr txBox="1"/>
            <p:nvPr/>
          </p:nvSpPr>
          <p:spPr>
            <a:xfrm>
              <a:off x="414338" y="5458539"/>
              <a:ext cx="753974"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碳减排支持工具</a:t>
              </a:r>
            </a:p>
          </p:txBody>
        </p:sp>
        <p:sp>
          <p:nvSpPr>
            <p:cNvPr id="136" name="TextBox 136"/>
            <p:cNvSpPr txBox="1"/>
            <p:nvPr/>
          </p:nvSpPr>
          <p:spPr>
            <a:xfrm>
              <a:off x="2019795" y="5458539"/>
              <a:ext cx="132359"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9​</a:t>
              </a:r>
            </a:p>
          </p:txBody>
        </p:sp>
        <p:sp>
          <p:nvSpPr>
            <p:cNvPr id="137" name="TextBox 137"/>
            <p:cNvSpPr txBox="1"/>
            <p:nvPr/>
          </p:nvSpPr>
          <p:spPr>
            <a:xfrm>
              <a:off x="2726228" y="5458539"/>
              <a:ext cx="243495"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6.8​</a:t>
              </a:r>
            </a:p>
          </p:txBody>
        </p:sp>
        <p:sp>
          <p:nvSpPr>
            <p:cNvPr id="138" name="TextBox 138"/>
            <p:cNvSpPr txBox="1"/>
            <p:nvPr/>
          </p:nvSpPr>
          <p:spPr>
            <a:xfrm>
              <a:off x="3625253" y="5458539"/>
              <a:ext cx="255193"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6.1​</a:t>
              </a:r>
            </a:p>
          </p:txBody>
        </p:sp>
        <p:sp>
          <p:nvSpPr>
            <p:cNvPr id="139" name="TextBox 139"/>
            <p:cNvSpPr txBox="1"/>
            <p:nvPr/>
          </p:nvSpPr>
          <p:spPr>
            <a:xfrm>
              <a:off x="4395788" y="540948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清洁能源、节能环保、</a:t>
              </a:r>
              <a:br/>
              <a:r>
                <a:rPr lang="zh-CN" sz="710" dirty="0">
                  <a:solidFill>
                    <a:srgbClr val="70504A"/>
                  </a:solidFill>
                  <a:latin typeface="+mn-lt"/>
                  <a:ea typeface="+mn-ea"/>
                  <a:cs typeface="+mn-cs"/>
                </a:rPr>
                <a:t>绿色交通等</a:t>
              </a:r>
            </a:p>
          </p:txBody>
        </p:sp>
        <p:sp>
          <p:nvSpPr>
            <p:cNvPr id="140" name="Line 140"/>
            <p:cNvSpPr/>
            <p:nvPr/>
          </p:nvSpPr>
          <p:spPr>
            <a:xfrm>
              <a:off x="342900" y="5676900"/>
              <a:ext cx="5562600" cy="9525"/>
            </a:xfrm>
            <a:custGeom>
              <a:avLst/>
              <a:gdLst/>
              <a:ahLst/>
              <a:cxnLst/>
              <a:rect l="l" t="t" r="r" b="b"/>
              <a:pathLst>
                <a:path w="5562600" h="9525">
                  <a:moveTo>
                    <a:pt x="0" y="0"/>
                  </a:moveTo>
                  <a:lnTo>
                    <a:pt x="5562600" y="0"/>
                  </a:lnTo>
                </a:path>
              </a:pathLst>
            </a:custGeom>
            <a:noFill/>
            <a:ln w="9525">
              <a:solidFill>
                <a:srgbClr val="C9D6E9"/>
              </a:solidFill>
            </a:ln>
          </p:spPr>
        </p:sp>
        <p:sp>
          <p:nvSpPr>
            <p:cNvPr id="141" name="TextBox 141"/>
            <p:cNvSpPr txBox="1"/>
            <p:nvPr/>
          </p:nvSpPr>
          <p:spPr>
            <a:xfrm>
              <a:off x="414338" y="5946934"/>
              <a:ext cx="2481148" cy="133350"/>
            </a:xfrm>
            <a:prstGeom prst="rect">
              <a:avLst/>
            </a:prstGeom>
            <a:noFill/>
            <a:ln>
              <a:noFill/>
            </a:ln>
          </p:spPr>
          <p:txBody>
            <a:bodyPr wrap="none" lIns="0" tIns="0" rIns="0" bIns="0" anchor="t" anchorCtr="0">
              <a:spAutoFit/>
            </a:bodyPr>
            <a:lstStyle/>
            <a:p>
              <a:pPr algn="l"/>
              <a:r>
                <a:rPr lang="zh-CN" sz="680" dirty="0">
                  <a:solidFill>
                    <a:srgbClr val="BEA09A"/>
                  </a:solidFill>
                  <a:latin typeface="+mn-lt"/>
                  <a:ea typeface="+mn-ea"/>
                  <a:cs typeface="+mn-cs"/>
                </a:rPr>
                <a:t>注：以上为示例数据，实际以人民银行及总行最终认定为准。</a:t>
              </a:r>
            </a:p>
          </p:txBody>
        </p:sp>
        <p:sp>
          <p:nvSpPr>
            <p:cNvPr id="142" name="TextBox 142"/>
            <p:cNvSpPr txBox="1"/>
            <p:nvPr/>
          </p:nvSpPr>
          <p:spPr>
            <a:xfrm>
              <a:off x="414338" y="6270784"/>
              <a:ext cx="1542847" cy="133350"/>
            </a:xfrm>
            <a:prstGeom prst="rect">
              <a:avLst/>
            </a:prstGeom>
            <a:noFill/>
            <a:ln>
              <a:noFill/>
            </a:ln>
          </p:spPr>
          <p:txBody>
            <a:bodyPr wrap="none" lIns="0" tIns="0" rIns="0" bIns="0" anchor="t" anchorCtr="0">
              <a:spAutoFit/>
            </a:bodyPr>
            <a:lstStyle/>
            <a:p>
              <a:pPr algn="l"/>
              <a:r>
                <a:rPr lang="zh-CN" sz="680" dirty="0">
                  <a:solidFill>
                    <a:srgbClr val="BEA09A"/>
                  </a:solidFill>
                  <a:latin typeface="+mn-lt"/>
                  <a:ea typeface="+mn-ea"/>
                  <a:cs typeface="+mn-cs"/>
                </a:rPr>
                <a:t>数据口径：2026年上半年累计申报。​</a:t>
              </a:r>
            </a:p>
          </p:txBody>
        </p:sp>
      </p:grpSp>
      <p:grpSp>
        <p:nvGrpSpPr>
          <p:cNvPr id="195" name="table-goals"/>
          <p:cNvGrpSpPr/>
          <p:nvPr/>
        </p:nvGrpSpPr>
        <p:grpSpPr>
          <a:xfrm>
            <a:off x="6134100" y="3771900"/>
            <a:ext cx="5829300" cy="2895600"/>
            <a:chOff x="6134100" y="3771900"/>
            <a:chExt cx="5829300" cy="2895600"/>
          </a:xfrm>
        </p:grpSpPr>
        <p:sp>
          <p:nvSpPr>
            <p:cNvPr id="144" name="Rectangle 144"/>
            <p:cNvSpPr/>
            <p:nvPr/>
          </p:nvSpPr>
          <p:spPr>
            <a:xfrm>
              <a:off x="6134100" y="3771900"/>
              <a:ext cx="5829300" cy="2895600"/>
            </a:xfrm>
            <a:prstGeom prst="roundRect">
              <a:avLst>
                <a:gd name="adj" fmla="val 1974"/>
              </a:avLst>
            </a:prstGeom>
            <a:solidFill>
              <a:srgbClr val="FFFFFF"/>
            </a:solidFill>
            <a:ln w="9525">
              <a:solidFill>
                <a:srgbClr val="C9D6E9"/>
              </a:solidFill>
            </a:ln>
          </p:spPr>
        </p:sp>
        <p:sp>
          <p:nvSpPr>
            <p:cNvPr id="145" name="Rectangle 145"/>
            <p:cNvSpPr/>
            <p:nvPr/>
          </p:nvSpPr>
          <p:spPr>
            <a:xfrm>
              <a:off x="6134100" y="3771900"/>
              <a:ext cx="5829300" cy="247650"/>
            </a:xfrm>
            <a:prstGeom prst="roundRect">
              <a:avLst>
                <a:gd name="adj" fmla="val 23077"/>
              </a:avLst>
            </a:prstGeom>
            <a:solidFill>
              <a:srgbClr val="69281B"/>
            </a:solidFill>
            <a:ln>
              <a:noFill/>
            </a:ln>
          </p:spPr>
        </p:sp>
        <p:sp>
          <p:nvSpPr>
            <p:cNvPr id="146" name="Rectangle 146"/>
            <p:cNvSpPr/>
            <p:nvPr/>
          </p:nvSpPr>
          <p:spPr>
            <a:xfrm>
              <a:off x="6134100" y="3924300"/>
              <a:ext cx="5829300" cy="95250"/>
            </a:xfrm>
            <a:prstGeom prst="rect">
              <a:avLst/>
            </a:prstGeom>
            <a:solidFill>
              <a:srgbClr val="69281B"/>
            </a:solidFill>
            <a:ln>
              <a:noFill/>
            </a:ln>
          </p:spPr>
        </p:sp>
        <p:sp>
          <p:nvSpPr>
            <p:cNvPr id="147" name="TextBox 147"/>
            <p:cNvSpPr txBox="1"/>
            <p:nvPr/>
          </p:nvSpPr>
          <p:spPr>
            <a:xfrm>
              <a:off x="8038763" y="3842147"/>
              <a:ext cx="201997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下一步工作目标（2026年下半年）​</a:t>
              </a:r>
            </a:p>
          </p:txBody>
        </p:sp>
        <p:sp>
          <p:nvSpPr>
            <p:cNvPr id="148" name="Rectangle 148"/>
            <p:cNvSpPr/>
            <p:nvPr/>
          </p:nvSpPr>
          <p:spPr>
            <a:xfrm>
              <a:off x="6248400" y="4019550"/>
              <a:ext cx="5600700" cy="285750"/>
            </a:xfrm>
            <a:prstGeom prst="rect">
              <a:avLst/>
            </a:prstGeom>
            <a:solidFill>
              <a:srgbClr val="EAF1FB"/>
            </a:solidFill>
            <a:ln>
              <a:noFill/>
            </a:ln>
          </p:spPr>
        </p:sp>
        <p:sp>
          <p:nvSpPr>
            <p:cNvPr id="149" name="TextBox 149"/>
            <p:cNvSpPr txBox="1"/>
            <p:nvPr/>
          </p:nvSpPr>
          <p:spPr>
            <a:xfrm>
              <a:off x="6319838" y="412908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重点领域</a:t>
              </a:r>
            </a:p>
          </p:txBody>
        </p:sp>
        <p:sp>
          <p:nvSpPr>
            <p:cNvPr id="150" name="TextBox 150"/>
            <p:cNvSpPr txBox="1"/>
            <p:nvPr/>
          </p:nvSpPr>
          <p:spPr>
            <a:xfrm>
              <a:off x="7119938" y="4129088"/>
              <a:ext cx="101917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贷款余额目标（亿元）</a:t>
              </a:r>
            </a:p>
          </p:txBody>
        </p:sp>
        <p:sp>
          <p:nvSpPr>
            <p:cNvPr id="151" name="TextBox 151"/>
            <p:cNvSpPr txBox="1"/>
            <p:nvPr/>
          </p:nvSpPr>
          <p:spPr>
            <a:xfrm>
              <a:off x="8012430" y="4129088"/>
              <a:ext cx="1120140"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较年初增量目标（亿元）</a:t>
              </a:r>
            </a:p>
          </p:txBody>
        </p:sp>
        <p:sp>
          <p:nvSpPr>
            <p:cNvPr id="152" name="TextBox 152"/>
            <p:cNvSpPr txBox="1"/>
            <p:nvPr/>
          </p:nvSpPr>
          <p:spPr>
            <a:xfrm>
              <a:off x="9194482" y="4129088"/>
              <a:ext cx="41338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增速目标</a:t>
              </a:r>
            </a:p>
          </p:txBody>
        </p:sp>
        <p:sp>
          <p:nvSpPr>
            <p:cNvPr id="153" name="TextBox 153"/>
            <p:cNvSpPr txBox="1"/>
            <p:nvPr/>
          </p:nvSpPr>
          <p:spPr>
            <a:xfrm>
              <a:off x="10440352" y="4129088"/>
              <a:ext cx="81724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重点举措（示例）</a:t>
              </a:r>
            </a:p>
          </p:txBody>
        </p:sp>
        <p:grpSp>
          <p:nvGrpSpPr>
            <p:cNvPr id="157" name="Group 157"/>
            <p:cNvGrpSpPr/>
            <p:nvPr/>
          </p:nvGrpSpPr>
          <p:grpSpPr>
            <a:xfrm>
              <a:off x="6365582" y="4462462"/>
              <a:ext cx="97130" cy="97131"/>
              <a:chOff x="6365582" y="4462462"/>
              <a:chExt cx="97130" cy="97131"/>
            </a:xfrm>
          </p:grpSpPr>
          <p:sp>
            <p:nvSpPr>
              <p:cNvPr id="154" name="Freeform 154"/>
              <p:cNvSpPr/>
              <p:nvPr/>
            </p:nvSpPr>
            <p:spPr>
              <a:xfrm>
                <a:off x="6367462" y="4462462"/>
                <a:ext cx="95250" cy="95250"/>
              </a:xfrm>
              <a:custGeom>
                <a:avLst/>
                <a:gdLst/>
                <a:ahLst/>
                <a:cxnLst/>
                <a:rect l="l" t="t" r="r" b="b"/>
                <a:pathLst>
                  <a:path w="95250" h="95250">
                    <a:moveTo>
                      <a:pt x="0" y="53578"/>
                    </a:moveTo>
                    <a:cubicBezTo>
                      <a:pt x="21849" y="56175"/>
                      <a:pt x="39075" y="73401"/>
                      <a:pt x="41672" y="95250"/>
                    </a:cubicBezTo>
                    <a:cubicBezTo>
                      <a:pt x="52370" y="89082"/>
                      <a:pt x="59124" y="77826"/>
                      <a:pt x="59531" y="65484"/>
                    </a:cubicBezTo>
                    <a:cubicBezTo>
                      <a:pt x="79973" y="58293"/>
                      <a:pt x="94070" y="39497"/>
                      <a:pt x="95250" y="17859"/>
                    </a:cubicBezTo>
                    <a:cubicBezTo>
                      <a:pt x="95250" y="7996"/>
                      <a:pt x="87254" y="0"/>
                      <a:pt x="77391" y="0"/>
                    </a:cubicBezTo>
                    <a:cubicBezTo>
                      <a:pt x="55753" y="1180"/>
                      <a:pt x="36957" y="15277"/>
                      <a:pt x="29766" y="35719"/>
                    </a:cubicBezTo>
                    <a:cubicBezTo>
                      <a:pt x="17424" y="36126"/>
                      <a:pt x="6168" y="42880"/>
                      <a:pt x="0" y="53578"/>
                    </a:cubicBezTo>
                  </a:path>
                </a:pathLst>
              </a:custGeom>
              <a:noFill/>
              <a:ln w="11906">
                <a:solidFill>
                  <a:srgbClr val="E04C2E"/>
                </a:solidFill>
              </a:ln>
            </p:spPr>
          </p:sp>
          <p:sp>
            <p:nvSpPr>
              <p:cNvPr id="155" name="Freeform 155"/>
              <p:cNvSpPr/>
              <p:nvPr/>
            </p:nvSpPr>
            <p:spPr>
              <a:xfrm>
                <a:off x="6365582" y="4521994"/>
                <a:ext cx="37599" cy="37599"/>
              </a:xfrm>
              <a:custGeom>
                <a:avLst/>
                <a:gdLst/>
                <a:ahLst/>
                <a:cxnLst/>
                <a:rect l="l" t="t" r="r" b="b"/>
                <a:pathLst>
                  <a:path w="37599" h="37599">
                    <a:moveTo>
                      <a:pt x="19740" y="0"/>
                    </a:moveTo>
                    <a:cubicBezTo>
                      <a:pt x="7065" y="7155"/>
                      <a:pt x="0" y="21286"/>
                      <a:pt x="1880" y="35719"/>
                    </a:cubicBezTo>
                    <a:cubicBezTo>
                      <a:pt x="16313" y="37599"/>
                      <a:pt x="30444" y="30534"/>
                      <a:pt x="37599" y="17859"/>
                    </a:cubicBezTo>
                  </a:path>
                </a:pathLst>
              </a:custGeom>
              <a:noFill/>
              <a:ln w="11906">
                <a:solidFill>
                  <a:srgbClr val="E04C2E"/>
                </a:solidFill>
              </a:ln>
            </p:spPr>
          </p:sp>
          <p:sp>
            <p:nvSpPr>
              <p:cNvPr id="156" name="Freeform 156"/>
              <p:cNvSpPr/>
              <p:nvPr/>
            </p:nvSpPr>
            <p:spPr>
              <a:xfrm>
                <a:off x="6426994" y="4486275"/>
                <a:ext cx="11906" cy="11906"/>
              </a:xfrm>
              <a:custGeom>
                <a:avLst/>
                <a:gdLst/>
                <a:ahLst/>
                <a:cxnLst/>
                <a:rect l="l" t="t" r="r" b="b"/>
                <a:pathLst>
                  <a:path w="11906" h="11906">
                    <a:moveTo>
                      <a:pt x="0" y="5953"/>
                    </a:moveTo>
                    <a:cubicBezTo>
                      <a:pt x="0" y="9241"/>
                      <a:pt x="2665" y="11906"/>
                      <a:pt x="5953" y="11906"/>
                    </a:cubicBezTo>
                    <a:cubicBezTo>
                      <a:pt x="9241" y="11906"/>
                      <a:pt x="11906" y="9241"/>
                      <a:pt x="11906" y="5953"/>
                    </a:cubicBezTo>
                    <a:cubicBezTo>
                      <a:pt x="11906" y="2665"/>
                      <a:pt x="9241" y="0"/>
                      <a:pt x="5953" y="0"/>
                    </a:cubicBezTo>
                    <a:cubicBezTo>
                      <a:pt x="2665" y="0"/>
                      <a:pt x="0" y="2665"/>
                      <a:pt x="0" y="5953"/>
                    </a:cubicBezTo>
                  </a:path>
                </a:pathLst>
              </a:custGeom>
              <a:noFill/>
              <a:ln w="11906">
                <a:solidFill>
                  <a:srgbClr val="E04C2E"/>
                </a:solidFill>
              </a:ln>
            </p:spPr>
          </p:sp>
        </p:grpSp>
        <p:sp>
          <p:nvSpPr>
            <p:cNvPr id="158" name="TextBox 158"/>
            <p:cNvSpPr txBox="1"/>
            <p:nvPr/>
          </p:nvSpPr>
          <p:spPr>
            <a:xfrm>
              <a:off x="6548438" y="4467939"/>
              <a:ext cx="434924" cy="154781"/>
            </a:xfrm>
            <a:prstGeom prst="rect">
              <a:avLst/>
            </a:prstGeom>
            <a:noFill/>
            <a:ln>
              <a:noFill/>
            </a:ln>
          </p:spPr>
          <p:txBody>
            <a:bodyPr wrap="none" lIns="0" tIns="0" rIns="0" bIns="0" anchor="t" anchorCtr="0">
              <a:spAutoFit/>
            </a:bodyPr>
            <a:lstStyle/>
            <a:p>
              <a:pPr algn="l"/>
              <a:r>
                <a:rPr lang="zh-CN" sz="790" b="1" dirty="0">
                  <a:solidFill>
                    <a:srgbClr val="5F3A33"/>
                  </a:solidFill>
                  <a:latin typeface="+mn-lt"/>
                  <a:ea typeface="+mn-ea"/>
                  <a:cs typeface="+mn-cs"/>
                </a:rPr>
                <a:t>科技金融</a:t>
              </a:r>
            </a:p>
          </p:txBody>
        </p:sp>
        <p:sp>
          <p:nvSpPr>
            <p:cNvPr id="159" name="TextBox 159"/>
            <p:cNvSpPr txBox="1"/>
            <p:nvPr/>
          </p:nvSpPr>
          <p:spPr>
            <a:xfrm>
              <a:off x="7440511" y="4467939"/>
              <a:ext cx="378027"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≥53.0​</a:t>
              </a:r>
            </a:p>
          </p:txBody>
        </p:sp>
        <p:sp>
          <p:nvSpPr>
            <p:cNvPr id="160" name="TextBox 160"/>
            <p:cNvSpPr txBox="1"/>
            <p:nvPr/>
          </p:nvSpPr>
          <p:spPr>
            <a:xfrm>
              <a:off x="8421507" y="446793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≥6.2​</a:t>
              </a:r>
            </a:p>
          </p:txBody>
        </p:sp>
        <p:sp>
          <p:nvSpPr>
            <p:cNvPr id="161" name="TextBox 161"/>
            <p:cNvSpPr txBox="1"/>
            <p:nvPr/>
          </p:nvSpPr>
          <p:spPr>
            <a:xfrm>
              <a:off x="9170286" y="4467939"/>
              <a:ext cx="461778"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≥14.0%​</a:t>
              </a:r>
            </a:p>
          </p:txBody>
        </p:sp>
        <p:sp>
          <p:nvSpPr>
            <p:cNvPr id="162" name="TextBox 162"/>
            <p:cNvSpPr txBox="1"/>
            <p:nvPr/>
          </p:nvSpPr>
          <p:spPr>
            <a:xfrm>
              <a:off x="9901238" y="4418886"/>
              <a:ext cx="136207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70504A"/>
                  </a:solidFill>
                  <a:latin typeface="+mn-lt"/>
                  <a:ea typeface="+mn-ea"/>
                  <a:cs typeface="+mn-cs"/>
                </a:rPr>
                <a:t>深化科创企业分层经营，拓展投贷</a:t>
              </a:r>
              <a:br/>
              <a:r>
                <a:rPr lang="zh-CN" sz="710" dirty="0">
                  <a:solidFill>
                    <a:srgbClr val="70504A"/>
                  </a:solidFill>
                  <a:latin typeface="+mn-lt"/>
                  <a:ea typeface="+mn-ea"/>
                  <a:cs typeface="+mn-cs"/>
                </a:rPr>
                <a:t>联动与知识产权质押</a:t>
              </a:r>
            </a:p>
          </p:txBody>
        </p:sp>
        <p:sp>
          <p:nvSpPr>
            <p:cNvPr id="163" name="Line 163"/>
            <p:cNvSpPr/>
            <p:nvPr/>
          </p:nvSpPr>
          <p:spPr>
            <a:xfrm>
              <a:off x="6248400" y="4686300"/>
              <a:ext cx="5600700" cy="9525"/>
            </a:xfrm>
            <a:custGeom>
              <a:avLst/>
              <a:gdLst/>
              <a:ahLst/>
              <a:cxnLst/>
              <a:rect l="l" t="t" r="r" b="b"/>
              <a:pathLst>
                <a:path w="5600700" h="9525">
                  <a:moveTo>
                    <a:pt x="0" y="0"/>
                  </a:moveTo>
                  <a:lnTo>
                    <a:pt x="5600700" y="0"/>
                  </a:lnTo>
                </a:path>
              </a:pathLst>
            </a:custGeom>
            <a:noFill/>
            <a:ln w="9525">
              <a:solidFill>
                <a:srgbClr val="EDF2FA"/>
              </a:solidFill>
            </a:ln>
          </p:spPr>
        </p:sp>
        <p:grpSp>
          <p:nvGrpSpPr>
            <p:cNvPr id="166" name="Group 166"/>
            <p:cNvGrpSpPr/>
            <p:nvPr/>
          </p:nvGrpSpPr>
          <p:grpSpPr>
            <a:xfrm>
              <a:off x="6358896" y="4987296"/>
              <a:ext cx="112383" cy="112383"/>
              <a:chOff x="6358896" y="4987296"/>
              <a:chExt cx="112383" cy="112383"/>
            </a:xfrm>
          </p:grpSpPr>
          <p:sp>
            <p:nvSpPr>
              <p:cNvPr id="164" name="Freeform 164"/>
              <p:cNvSpPr/>
              <p:nvPr/>
            </p:nvSpPr>
            <p:spPr>
              <a:xfrm>
                <a:off x="6358896" y="4987296"/>
                <a:ext cx="112383" cy="112383"/>
              </a:xfrm>
              <a:custGeom>
                <a:avLst/>
                <a:gdLst/>
                <a:ahLst/>
                <a:cxnLst/>
                <a:rect l="l" t="t" r="r" b="b"/>
                <a:pathLst>
                  <a:path w="112383" h="112383">
                    <a:moveTo>
                      <a:pt x="46220" y="10454"/>
                    </a:moveTo>
                    <a:cubicBezTo>
                      <a:pt x="48756" y="0"/>
                      <a:pt x="63627" y="0"/>
                      <a:pt x="66163" y="10454"/>
                    </a:cubicBezTo>
                    <a:cubicBezTo>
                      <a:pt x="66935" y="13639"/>
                      <a:pt x="69181" y="16264"/>
                      <a:pt x="72209" y="17519"/>
                    </a:cubicBezTo>
                    <a:cubicBezTo>
                      <a:pt x="75237" y="18773"/>
                      <a:pt x="78682" y="18506"/>
                      <a:pt x="81480" y="16800"/>
                    </a:cubicBezTo>
                    <a:cubicBezTo>
                      <a:pt x="90666" y="11204"/>
                      <a:pt x="101185" y="21717"/>
                      <a:pt x="95589" y="30909"/>
                    </a:cubicBezTo>
                    <a:cubicBezTo>
                      <a:pt x="93886" y="33706"/>
                      <a:pt x="93619" y="37148"/>
                      <a:pt x="94872" y="40174"/>
                    </a:cubicBezTo>
                    <a:cubicBezTo>
                      <a:pt x="96125" y="43200"/>
                      <a:pt x="98747" y="45446"/>
                      <a:pt x="101929" y="46220"/>
                    </a:cubicBezTo>
                    <a:cubicBezTo>
                      <a:pt x="112383" y="48756"/>
                      <a:pt x="112383" y="63627"/>
                      <a:pt x="101929" y="66163"/>
                    </a:cubicBezTo>
                    <a:cubicBezTo>
                      <a:pt x="98744" y="66935"/>
                      <a:pt x="96119" y="69181"/>
                      <a:pt x="94865" y="72209"/>
                    </a:cubicBezTo>
                    <a:cubicBezTo>
                      <a:pt x="93610" y="75237"/>
                      <a:pt x="93877" y="78682"/>
                      <a:pt x="95583" y="81480"/>
                    </a:cubicBezTo>
                    <a:cubicBezTo>
                      <a:pt x="101179" y="90666"/>
                      <a:pt x="90666" y="101185"/>
                      <a:pt x="81474" y="95589"/>
                    </a:cubicBezTo>
                    <a:cubicBezTo>
                      <a:pt x="78677" y="93886"/>
                      <a:pt x="75235" y="93619"/>
                      <a:pt x="72209" y="94872"/>
                    </a:cubicBezTo>
                    <a:cubicBezTo>
                      <a:pt x="69183" y="96125"/>
                      <a:pt x="66937" y="98747"/>
                      <a:pt x="66163" y="101929"/>
                    </a:cubicBezTo>
                    <a:cubicBezTo>
                      <a:pt x="63627" y="112383"/>
                      <a:pt x="48756" y="112383"/>
                      <a:pt x="46220" y="101929"/>
                    </a:cubicBezTo>
                    <a:cubicBezTo>
                      <a:pt x="45448" y="98744"/>
                      <a:pt x="43202" y="96119"/>
                      <a:pt x="40174" y="94865"/>
                    </a:cubicBezTo>
                    <a:cubicBezTo>
                      <a:pt x="37146" y="93610"/>
                      <a:pt x="33701" y="93877"/>
                      <a:pt x="30903" y="95583"/>
                    </a:cubicBezTo>
                    <a:cubicBezTo>
                      <a:pt x="21717" y="101179"/>
                      <a:pt x="11198" y="90666"/>
                      <a:pt x="16794" y="81474"/>
                    </a:cubicBezTo>
                    <a:cubicBezTo>
                      <a:pt x="18497" y="78677"/>
                      <a:pt x="18764" y="75235"/>
                      <a:pt x="17511" y="72209"/>
                    </a:cubicBezTo>
                    <a:cubicBezTo>
                      <a:pt x="16258" y="69183"/>
                      <a:pt x="13636" y="66937"/>
                      <a:pt x="10454" y="66163"/>
                    </a:cubicBezTo>
                    <a:cubicBezTo>
                      <a:pt x="0" y="63627"/>
                      <a:pt x="0" y="48756"/>
                      <a:pt x="10454" y="46220"/>
                    </a:cubicBezTo>
                    <a:cubicBezTo>
                      <a:pt x="13639" y="45448"/>
                      <a:pt x="16264" y="43202"/>
                      <a:pt x="17519" y="40174"/>
                    </a:cubicBezTo>
                    <a:cubicBezTo>
                      <a:pt x="18773" y="37146"/>
                      <a:pt x="18506" y="33701"/>
                      <a:pt x="16800" y="30903"/>
                    </a:cubicBezTo>
                    <a:cubicBezTo>
                      <a:pt x="11204" y="21717"/>
                      <a:pt x="21717" y="11198"/>
                      <a:pt x="30909" y="16794"/>
                    </a:cubicBezTo>
                    <a:cubicBezTo>
                      <a:pt x="36862" y="20413"/>
                      <a:pt x="44577" y="17210"/>
                      <a:pt x="46220" y="10454"/>
                    </a:cubicBezTo>
                  </a:path>
                </a:pathLst>
              </a:custGeom>
              <a:noFill/>
              <a:ln w="11906">
                <a:solidFill>
                  <a:srgbClr val="E04C2E"/>
                </a:solidFill>
              </a:ln>
            </p:spPr>
          </p:sp>
          <p:sp>
            <p:nvSpPr>
              <p:cNvPr id="165" name="Freeform 165"/>
              <p:cNvSpPr/>
              <p:nvPr/>
            </p:nvSpPr>
            <p:spPr>
              <a:xfrm>
                <a:off x="6397228" y="5025628"/>
                <a:ext cx="35719" cy="35719"/>
              </a:xfrm>
              <a:custGeom>
                <a:avLst/>
                <a:gdLst/>
                <a:ahLst/>
                <a:cxnLst/>
                <a:rect l="l" t="t" r="r" b="b"/>
                <a:pathLst>
                  <a:path w="35719" h="35719">
                    <a:moveTo>
                      <a:pt x="0" y="17859"/>
                    </a:moveTo>
                    <a:cubicBezTo>
                      <a:pt x="0" y="27723"/>
                      <a:pt x="7996" y="35719"/>
                      <a:pt x="17859" y="35719"/>
                    </a:cubicBezTo>
                    <a:cubicBezTo>
                      <a:pt x="27723" y="35719"/>
                      <a:pt x="35719" y="27723"/>
                      <a:pt x="35719" y="17859"/>
                    </a:cubicBezTo>
                    <a:cubicBezTo>
                      <a:pt x="35719" y="7996"/>
                      <a:pt x="27723" y="0"/>
                      <a:pt x="17859" y="0"/>
                    </a:cubicBezTo>
                    <a:cubicBezTo>
                      <a:pt x="7996" y="0"/>
                      <a:pt x="0" y="7996"/>
                      <a:pt x="0" y="17859"/>
                    </a:cubicBezTo>
                  </a:path>
                </a:pathLst>
              </a:custGeom>
              <a:noFill/>
              <a:ln w="11906">
                <a:solidFill>
                  <a:srgbClr val="E04C2E"/>
                </a:solidFill>
              </a:ln>
            </p:spPr>
          </p:sp>
        </p:grpSp>
        <p:sp>
          <p:nvSpPr>
            <p:cNvPr id="167" name="TextBox 167"/>
            <p:cNvSpPr txBox="1"/>
            <p:nvPr/>
          </p:nvSpPr>
          <p:spPr>
            <a:xfrm>
              <a:off x="6548438" y="5001339"/>
              <a:ext cx="541274" cy="154781"/>
            </a:xfrm>
            <a:prstGeom prst="rect">
              <a:avLst/>
            </a:prstGeom>
            <a:noFill/>
            <a:ln>
              <a:noFill/>
            </a:ln>
          </p:spPr>
          <p:txBody>
            <a:bodyPr wrap="none" lIns="0" tIns="0" rIns="0" bIns="0" anchor="t" anchorCtr="0">
              <a:spAutoFit/>
            </a:bodyPr>
            <a:lstStyle/>
            <a:p>
              <a:pPr algn="l"/>
              <a:r>
                <a:rPr lang="zh-CN" sz="790" b="1" dirty="0">
                  <a:solidFill>
                    <a:srgbClr val="5F3A33"/>
                  </a:solidFill>
                  <a:latin typeface="+mn-lt"/>
                  <a:ea typeface="+mn-ea"/>
                  <a:cs typeface="+mn-cs"/>
                </a:rPr>
                <a:t>制造业贷款</a:t>
              </a:r>
            </a:p>
          </p:txBody>
        </p:sp>
        <p:sp>
          <p:nvSpPr>
            <p:cNvPr id="168" name="TextBox 168"/>
            <p:cNvSpPr txBox="1"/>
            <p:nvPr/>
          </p:nvSpPr>
          <p:spPr>
            <a:xfrm>
              <a:off x="7440511" y="5001339"/>
              <a:ext cx="378027"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≥62.0​</a:t>
              </a:r>
            </a:p>
          </p:txBody>
        </p:sp>
        <p:sp>
          <p:nvSpPr>
            <p:cNvPr id="169" name="TextBox 169"/>
            <p:cNvSpPr txBox="1"/>
            <p:nvPr/>
          </p:nvSpPr>
          <p:spPr>
            <a:xfrm>
              <a:off x="8421507" y="500133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≥9.4​</a:t>
              </a:r>
            </a:p>
          </p:txBody>
        </p:sp>
        <p:sp>
          <p:nvSpPr>
            <p:cNvPr id="170" name="TextBox 170"/>
            <p:cNvSpPr txBox="1"/>
            <p:nvPr/>
          </p:nvSpPr>
          <p:spPr>
            <a:xfrm>
              <a:off x="9170286" y="5001339"/>
              <a:ext cx="461778"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≥15.0%​</a:t>
              </a:r>
            </a:p>
          </p:txBody>
        </p:sp>
        <p:sp>
          <p:nvSpPr>
            <p:cNvPr id="171" name="TextBox 171"/>
            <p:cNvSpPr txBox="1"/>
            <p:nvPr/>
          </p:nvSpPr>
          <p:spPr>
            <a:xfrm>
              <a:off x="9901238" y="4952286"/>
              <a:ext cx="145224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70504A"/>
                  </a:solidFill>
                  <a:latin typeface="+mn-lt"/>
                  <a:ea typeface="+mn-ea"/>
                  <a:cs typeface="+mn-cs"/>
                </a:rPr>
                <a:t>聚焦产业链强链补链，提升核心企业</a:t>
              </a:r>
              <a:br/>
              <a:r>
                <a:rPr lang="zh-CN" sz="710" dirty="0">
                  <a:solidFill>
                    <a:srgbClr val="70504A"/>
                  </a:solidFill>
                  <a:latin typeface="+mn-lt"/>
                  <a:ea typeface="+mn-ea"/>
                  <a:cs typeface="+mn-cs"/>
                </a:rPr>
                <a:t>综合服务能力</a:t>
              </a:r>
            </a:p>
          </p:txBody>
        </p:sp>
        <p:sp>
          <p:nvSpPr>
            <p:cNvPr id="172" name="Line 172"/>
            <p:cNvSpPr/>
            <p:nvPr/>
          </p:nvSpPr>
          <p:spPr>
            <a:xfrm>
              <a:off x="6248400" y="5219700"/>
              <a:ext cx="5600700" cy="9525"/>
            </a:xfrm>
            <a:custGeom>
              <a:avLst/>
              <a:gdLst/>
              <a:ahLst/>
              <a:cxnLst/>
              <a:rect l="l" t="t" r="r" b="b"/>
              <a:pathLst>
                <a:path w="5600700" h="9525">
                  <a:moveTo>
                    <a:pt x="0" y="0"/>
                  </a:moveTo>
                  <a:lnTo>
                    <a:pt x="5600700" y="0"/>
                  </a:lnTo>
                </a:path>
              </a:pathLst>
            </a:custGeom>
            <a:noFill/>
            <a:ln w="9525">
              <a:solidFill>
                <a:srgbClr val="EDF2FA"/>
              </a:solidFill>
            </a:ln>
          </p:spPr>
        </p:sp>
        <p:grpSp>
          <p:nvGrpSpPr>
            <p:cNvPr id="175" name="Group 175"/>
            <p:cNvGrpSpPr/>
            <p:nvPr/>
          </p:nvGrpSpPr>
          <p:grpSpPr>
            <a:xfrm>
              <a:off x="6361509" y="5523309"/>
              <a:ext cx="107156" cy="107156"/>
              <a:chOff x="6361509" y="5523309"/>
              <a:chExt cx="107156" cy="107156"/>
            </a:xfrm>
          </p:grpSpPr>
          <p:sp>
            <p:nvSpPr>
              <p:cNvPr id="173" name="Freeform 173"/>
              <p:cNvSpPr/>
              <p:nvPr/>
            </p:nvSpPr>
            <p:spPr>
              <a:xfrm>
                <a:off x="6361509" y="5523309"/>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11906">
                <a:solidFill>
                  <a:srgbClr val="9E402E"/>
                </a:solidFill>
              </a:ln>
            </p:spPr>
          </p:sp>
          <p:sp>
            <p:nvSpPr>
              <p:cNvPr id="174" name="Freeform 174"/>
              <p:cNvSpPr/>
              <p:nvPr/>
            </p:nvSpPr>
            <p:spPr>
              <a:xfrm>
                <a:off x="6397228" y="5564981"/>
                <a:ext cx="35719" cy="23812"/>
              </a:xfrm>
              <a:custGeom>
                <a:avLst/>
                <a:gdLst/>
                <a:ahLst/>
                <a:cxnLst/>
                <a:rect l="l" t="t" r="r" b="b"/>
                <a:pathLst>
                  <a:path w="35719" h="23812">
                    <a:moveTo>
                      <a:pt x="0" y="11906"/>
                    </a:moveTo>
                    <a:lnTo>
                      <a:pt x="11906" y="23812"/>
                    </a:lnTo>
                    <a:lnTo>
                      <a:pt x="35719" y="0"/>
                    </a:lnTo>
                  </a:path>
                </a:pathLst>
              </a:custGeom>
              <a:noFill/>
              <a:ln w="11906">
                <a:solidFill>
                  <a:srgbClr val="9E402E"/>
                </a:solidFill>
              </a:ln>
            </p:spPr>
          </p:sp>
        </p:grpSp>
        <p:sp>
          <p:nvSpPr>
            <p:cNvPr id="176" name="TextBox 176"/>
            <p:cNvSpPr txBox="1"/>
            <p:nvPr/>
          </p:nvSpPr>
          <p:spPr>
            <a:xfrm>
              <a:off x="6548438" y="5534739"/>
              <a:ext cx="434924" cy="154781"/>
            </a:xfrm>
            <a:prstGeom prst="rect">
              <a:avLst/>
            </a:prstGeom>
            <a:noFill/>
            <a:ln>
              <a:noFill/>
            </a:ln>
          </p:spPr>
          <p:txBody>
            <a:bodyPr wrap="none" lIns="0" tIns="0" rIns="0" bIns="0" anchor="t" anchorCtr="0">
              <a:spAutoFit/>
            </a:bodyPr>
            <a:lstStyle/>
            <a:p>
              <a:pPr algn="l"/>
              <a:r>
                <a:rPr lang="zh-CN" sz="790" b="1" dirty="0">
                  <a:solidFill>
                    <a:srgbClr val="5F3A33"/>
                  </a:solidFill>
                  <a:latin typeface="+mn-lt"/>
                  <a:ea typeface="+mn-ea"/>
                  <a:cs typeface="+mn-cs"/>
                </a:rPr>
                <a:t>绿色信贷</a:t>
              </a:r>
            </a:p>
          </p:txBody>
        </p:sp>
        <p:sp>
          <p:nvSpPr>
            <p:cNvPr id="177" name="TextBox 177"/>
            <p:cNvSpPr txBox="1"/>
            <p:nvPr/>
          </p:nvSpPr>
          <p:spPr>
            <a:xfrm>
              <a:off x="7440511" y="5534739"/>
              <a:ext cx="378027"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≥68.0​</a:t>
              </a:r>
            </a:p>
          </p:txBody>
        </p:sp>
        <p:sp>
          <p:nvSpPr>
            <p:cNvPr id="178" name="TextBox 178"/>
            <p:cNvSpPr txBox="1"/>
            <p:nvPr/>
          </p:nvSpPr>
          <p:spPr>
            <a:xfrm>
              <a:off x="8421507" y="553473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≥9.7​</a:t>
              </a:r>
            </a:p>
          </p:txBody>
        </p:sp>
        <p:sp>
          <p:nvSpPr>
            <p:cNvPr id="179" name="TextBox 179"/>
            <p:cNvSpPr txBox="1"/>
            <p:nvPr/>
          </p:nvSpPr>
          <p:spPr>
            <a:xfrm>
              <a:off x="9170286" y="5534739"/>
              <a:ext cx="461778"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≥16.0%​</a:t>
              </a:r>
            </a:p>
          </p:txBody>
        </p:sp>
        <p:sp>
          <p:nvSpPr>
            <p:cNvPr id="180" name="TextBox 180"/>
            <p:cNvSpPr txBox="1"/>
            <p:nvPr/>
          </p:nvSpPr>
          <p:spPr>
            <a:xfrm>
              <a:off x="9901238" y="5485686"/>
              <a:ext cx="145224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70504A"/>
                  </a:solidFill>
                  <a:latin typeface="+mn-lt"/>
                  <a:ea typeface="+mn-ea"/>
                  <a:cs typeface="+mn-cs"/>
                </a:rPr>
                <a:t>加大绿色项目储备与银团合作，提升</a:t>
              </a:r>
              <a:br/>
              <a:r>
                <a:rPr lang="zh-CN" sz="710" dirty="0">
                  <a:solidFill>
                    <a:srgbClr val="70504A"/>
                  </a:solidFill>
                  <a:latin typeface="+mn-lt"/>
                  <a:ea typeface="+mn-ea"/>
                  <a:cs typeface="+mn-cs"/>
                </a:rPr>
                <a:t>绿色金融占比</a:t>
              </a:r>
            </a:p>
          </p:txBody>
        </p:sp>
        <p:sp>
          <p:nvSpPr>
            <p:cNvPr id="181" name="Line 181"/>
            <p:cNvSpPr/>
            <p:nvPr/>
          </p:nvSpPr>
          <p:spPr>
            <a:xfrm>
              <a:off x="6248400" y="5753100"/>
              <a:ext cx="5600700" cy="9525"/>
            </a:xfrm>
            <a:custGeom>
              <a:avLst/>
              <a:gdLst/>
              <a:ahLst/>
              <a:cxnLst/>
              <a:rect l="l" t="t" r="r" b="b"/>
              <a:pathLst>
                <a:path w="5600700" h="9525">
                  <a:moveTo>
                    <a:pt x="0" y="0"/>
                  </a:moveTo>
                  <a:lnTo>
                    <a:pt x="5600700" y="0"/>
                  </a:lnTo>
                </a:path>
              </a:pathLst>
            </a:custGeom>
            <a:noFill/>
            <a:ln w="9525">
              <a:solidFill>
                <a:srgbClr val="EDF2FA"/>
              </a:solidFill>
            </a:ln>
          </p:spPr>
        </p:sp>
        <p:grpSp>
          <p:nvGrpSpPr>
            <p:cNvPr id="188" name="Group 188"/>
            <p:cNvGrpSpPr/>
            <p:nvPr/>
          </p:nvGrpSpPr>
          <p:grpSpPr>
            <a:xfrm>
              <a:off x="6361509" y="6056709"/>
              <a:ext cx="107156" cy="107156"/>
              <a:chOff x="6361509" y="6056709"/>
              <a:chExt cx="107156" cy="107156"/>
            </a:xfrm>
          </p:grpSpPr>
          <p:sp>
            <p:nvSpPr>
              <p:cNvPr id="182" name="Freeform 182"/>
              <p:cNvSpPr/>
              <p:nvPr/>
            </p:nvSpPr>
            <p:spPr>
              <a:xfrm>
                <a:off x="6403181" y="610433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E04C2E"/>
                </a:solidFill>
              </a:ln>
            </p:spPr>
          </p:sp>
          <p:sp>
            <p:nvSpPr>
              <p:cNvPr id="183" name="Freeform 183"/>
              <p:cNvSpPr/>
              <p:nvPr/>
            </p:nvSpPr>
            <p:spPr>
              <a:xfrm>
                <a:off x="6391275" y="6146006"/>
                <a:ext cx="47625" cy="17859"/>
              </a:xfrm>
              <a:custGeom>
                <a:avLst/>
                <a:gdLst/>
                <a:ahLst/>
                <a:cxnLst/>
                <a:rect l="l" t="t" r="r" b="b"/>
                <a:pathLst>
                  <a:path w="47625" h="17859">
                    <a:moveTo>
                      <a:pt x="0" y="17859"/>
                    </a:moveTo>
                    <a:lnTo>
                      <a:pt x="0" y="11906"/>
                    </a:lnTo>
                    <a:cubicBezTo>
                      <a:pt x="0" y="5331"/>
                      <a:pt x="5331" y="0"/>
                      <a:pt x="11906" y="0"/>
                    </a:cubicBezTo>
                    <a:lnTo>
                      <a:pt x="35719" y="0"/>
                    </a:lnTo>
                    <a:cubicBezTo>
                      <a:pt x="42294" y="0"/>
                      <a:pt x="47625" y="5331"/>
                      <a:pt x="47625" y="11906"/>
                    </a:cubicBezTo>
                    <a:lnTo>
                      <a:pt x="47625" y="17859"/>
                    </a:lnTo>
                  </a:path>
                </a:pathLst>
              </a:custGeom>
              <a:noFill/>
              <a:ln w="11906">
                <a:solidFill>
                  <a:srgbClr val="E04C2E"/>
                </a:solidFill>
              </a:ln>
            </p:spPr>
          </p:sp>
          <p:sp>
            <p:nvSpPr>
              <p:cNvPr id="184" name="Freeform 184"/>
              <p:cNvSpPr/>
              <p:nvPr/>
            </p:nvSpPr>
            <p:spPr>
              <a:xfrm>
                <a:off x="6432947" y="60567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E04C2E"/>
                </a:solidFill>
              </a:ln>
            </p:spPr>
          </p:sp>
          <p:sp>
            <p:nvSpPr>
              <p:cNvPr id="185" name="Freeform 185"/>
              <p:cNvSpPr/>
              <p:nvPr/>
            </p:nvSpPr>
            <p:spPr>
              <a:xfrm>
                <a:off x="6444853" y="6098381"/>
                <a:ext cx="23812" cy="17859"/>
              </a:xfrm>
              <a:custGeom>
                <a:avLst/>
                <a:gdLst/>
                <a:ahLst/>
                <a:cxnLst/>
                <a:rect l="l" t="t" r="r" b="b"/>
                <a:pathLst>
                  <a:path w="23812" h="17859">
                    <a:moveTo>
                      <a:pt x="0" y="0"/>
                    </a:moveTo>
                    <a:lnTo>
                      <a:pt x="11906" y="0"/>
                    </a:lnTo>
                    <a:cubicBezTo>
                      <a:pt x="18482" y="0"/>
                      <a:pt x="23812" y="5331"/>
                      <a:pt x="23812" y="11906"/>
                    </a:cubicBezTo>
                    <a:lnTo>
                      <a:pt x="23812" y="17859"/>
                    </a:lnTo>
                  </a:path>
                </a:pathLst>
              </a:custGeom>
              <a:noFill/>
              <a:ln w="11906">
                <a:solidFill>
                  <a:srgbClr val="E04C2E"/>
                </a:solidFill>
              </a:ln>
            </p:spPr>
          </p:sp>
          <p:sp>
            <p:nvSpPr>
              <p:cNvPr id="186" name="Freeform 186"/>
              <p:cNvSpPr/>
              <p:nvPr/>
            </p:nvSpPr>
            <p:spPr>
              <a:xfrm>
                <a:off x="6373416" y="60567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E04C2E"/>
                </a:solidFill>
              </a:ln>
            </p:spPr>
          </p:sp>
          <p:sp>
            <p:nvSpPr>
              <p:cNvPr id="187" name="Freeform 187"/>
              <p:cNvSpPr/>
              <p:nvPr/>
            </p:nvSpPr>
            <p:spPr>
              <a:xfrm>
                <a:off x="6361509" y="6098381"/>
                <a:ext cx="23812" cy="17859"/>
              </a:xfrm>
              <a:custGeom>
                <a:avLst/>
                <a:gdLst/>
                <a:ahLst/>
                <a:cxnLst/>
                <a:rect l="l" t="t" r="r" b="b"/>
                <a:pathLst>
                  <a:path w="23812" h="17859">
                    <a:moveTo>
                      <a:pt x="0" y="17859"/>
                    </a:moveTo>
                    <a:lnTo>
                      <a:pt x="0" y="11906"/>
                    </a:lnTo>
                    <a:cubicBezTo>
                      <a:pt x="0" y="5331"/>
                      <a:pt x="5331" y="0"/>
                      <a:pt x="11906" y="0"/>
                    </a:cubicBezTo>
                    <a:lnTo>
                      <a:pt x="23812" y="0"/>
                    </a:lnTo>
                  </a:path>
                </a:pathLst>
              </a:custGeom>
              <a:noFill/>
              <a:ln w="11906">
                <a:solidFill>
                  <a:srgbClr val="E04C2E"/>
                </a:solidFill>
              </a:ln>
            </p:spPr>
          </p:sp>
        </p:grpSp>
        <p:sp>
          <p:nvSpPr>
            <p:cNvPr id="189" name="TextBox 189"/>
            <p:cNvSpPr txBox="1"/>
            <p:nvPr/>
          </p:nvSpPr>
          <p:spPr>
            <a:xfrm>
              <a:off x="6548438" y="6068139"/>
              <a:ext cx="647624" cy="154781"/>
            </a:xfrm>
            <a:prstGeom prst="rect">
              <a:avLst/>
            </a:prstGeom>
            <a:noFill/>
            <a:ln>
              <a:noFill/>
            </a:ln>
          </p:spPr>
          <p:txBody>
            <a:bodyPr wrap="none" lIns="0" tIns="0" rIns="0" bIns="0" anchor="t" anchorCtr="0">
              <a:spAutoFit/>
            </a:bodyPr>
            <a:lstStyle/>
            <a:p>
              <a:pPr algn="l"/>
              <a:r>
                <a:rPr lang="zh-CN" sz="790" b="1" dirty="0">
                  <a:solidFill>
                    <a:srgbClr val="5F3A33"/>
                  </a:solidFill>
                  <a:latin typeface="+mn-lt"/>
                  <a:ea typeface="+mn-ea"/>
                  <a:cs typeface="+mn-cs"/>
                </a:rPr>
                <a:t>普惠小微贷款</a:t>
              </a:r>
            </a:p>
          </p:txBody>
        </p:sp>
        <p:sp>
          <p:nvSpPr>
            <p:cNvPr id="190" name="TextBox 190"/>
            <p:cNvSpPr txBox="1"/>
            <p:nvPr/>
          </p:nvSpPr>
          <p:spPr>
            <a:xfrm>
              <a:off x="7440511" y="6068139"/>
              <a:ext cx="378027"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≥48.0​</a:t>
              </a:r>
            </a:p>
          </p:txBody>
        </p:sp>
        <p:sp>
          <p:nvSpPr>
            <p:cNvPr id="191" name="TextBox 191"/>
            <p:cNvSpPr txBox="1"/>
            <p:nvPr/>
          </p:nvSpPr>
          <p:spPr>
            <a:xfrm>
              <a:off x="8421507" y="6068139"/>
              <a:ext cx="301987" cy="154781"/>
            </a:xfrm>
            <a:prstGeom prst="rect">
              <a:avLst/>
            </a:prstGeom>
            <a:noFill/>
            <a:ln>
              <a:noFill/>
            </a:ln>
          </p:spPr>
          <p:txBody>
            <a:bodyPr wrap="none" lIns="0" tIns="0" rIns="0" bIns="0" anchor="t" anchorCtr="0">
              <a:spAutoFit/>
            </a:bodyPr>
            <a:lstStyle/>
            <a:p>
              <a:pPr algn="ctr"/>
              <a:r>
                <a:rPr lang="zh-CN" sz="790" dirty="0">
                  <a:solidFill>
                    <a:srgbClr val="5F3A33"/>
                  </a:solidFill>
                  <a:latin typeface="+mn-lt"/>
                  <a:ea typeface="+mn-ea"/>
                  <a:cs typeface="+mn-cs"/>
                </a:rPr>
                <a:t>≥6.5​</a:t>
              </a:r>
            </a:p>
          </p:txBody>
        </p:sp>
        <p:sp>
          <p:nvSpPr>
            <p:cNvPr id="192" name="TextBox 192"/>
            <p:cNvSpPr txBox="1"/>
            <p:nvPr/>
          </p:nvSpPr>
          <p:spPr>
            <a:xfrm>
              <a:off x="9170286" y="6068139"/>
              <a:ext cx="461778"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≥15.0%​</a:t>
              </a:r>
            </a:p>
          </p:txBody>
        </p:sp>
        <p:sp>
          <p:nvSpPr>
            <p:cNvPr id="193" name="TextBox 193"/>
            <p:cNvSpPr txBox="1"/>
            <p:nvPr/>
          </p:nvSpPr>
          <p:spPr>
            <a:xfrm>
              <a:off x="9901238" y="6019086"/>
              <a:ext cx="145224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70504A"/>
                  </a:solidFill>
                  <a:latin typeface="+mn-lt"/>
                  <a:ea typeface="+mn-ea"/>
                  <a:cs typeface="+mn-cs"/>
                </a:rPr>
                <a:t>优化线上化服务与风险模型，提升首</a:t>
              </a:r>
              <a:br/>
              <a:r>
                <a:rPr lang="zh-CN" sz="710" dirty="0">
                  <a:solidFill>
                    <a:srgbClr val="70504A"/>
                  </a:solidFill>
                  <a:latin typeface="+mn-lt"/>
                  <a:ea typeface="+mn-ea"/>
                  <a:cs typeface="+mn-cs"/>
                </a:rPr>
                <a:t>贷率与信用贷占比</a:t>
              </a:r>
            </a:p>
          </p:txBody>
        </p:sp>
        <p:sp>
          <p:nvSpPr>
            <p:cNvPr id="194" name="TextBox 194"/>
            <p:cNvSpPr txBox="1"/>
            <p:nvPr/>
          </p:nvSpPr>
          <p:spPr>
            <a:xfrm>
              <a:off x="6319838" y="6499384"/>
              <a:ext cx="2389607" cy="133350"/>
            </a:xfrm>
            <a:prstGeom prst="rect">
              <a:avLst/>
            </a:prstGeom>
            <a:noFill/>
            <a:ln>
              <a:noFill/>
            </a:ln>
          </p:spPr>
          <p:txBody>
            <a:bodyPr wrap="none" lIns="0" tIns="0" rIns="0" bIns="0" anchor="t" anchorCtr="0">
              <a:spAutoFit/>
            </a:bodyPr>
            <a:lstStyle/>
            <a:p>
              <a:pPr algn="l"/>
              <a:r>
                <a:rPr lang="zh-CN" sz="680" dirty="0">
                  <a:solidFill>
                    <a:srgbClr val="BEA09A"/>
                  </a:solidFill>
                  <a:latin typeface="+mn-lt"/>
                  <a:ea typeface="+mn-ea"/>
                  <a:cs typeface="+mn-cs"/>
                </a:rPr>
                <a:t>注：以上目标为示例数据，实际以总行下达年度计划为准。</a:t>
              </a:r>
            </a:p>
          </p:txBody>
        </p:sp>
      </p:grpSp>
      <p:sp>
        <p:nvSpPr>
          <p:cNvPr id="196"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05 / 18 页​</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06​</a:t>
              </a:r>
            </a:p>
          </p:txBody>
        </p:sp>
        <p:sp>
          <p:nvSpPr>
            <p:cNvPr id="4" name="TextBox 4"/>
            <p:cNvSpPr txBox="1"/>
            <p:nvPr/>
          </p:nvSpPr>
          <p:spPr>
            <a:xfrm>
              <a:off x="1019175" y="169069"/>
              <a:ext cx="6852361"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对公客户基础持续夯实，客户结构由零散开户向分层经营转变</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59428" y="300038"/>
              <a:ext cx="1423035"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金额单位：人民币亿元（示例）</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24" name="pyramid-layers"/>
          <p:cNvGrpSpPr/>
          <p:nvPr/>
        </p:nvGrpSpPr>
        <p:grpSpPr>
          <a:xfrm>
            <a:off x="228600" y="685800"/>
            <a:ext cx="3143250" cy="2552938"/>
            <a:chOff x="228600" y="685800"/>
            <a:chExt cx="3143250" cy="2552938"/>
          </a:xfrm>
        </p:grpSpPr>
        <p:sp>
          <p:nvSpPr>
            <p:cNvPr id="9" name="Rectangle 9"/>
            <p:cNvSpPr/>
            <p:nvPr/>
          </p:nvSpPr>
          <p:spPr>
            <a:xfrm>
              <a:off x="228600" y="685800"/>
              <a:ext cx="3143250" cy="2552700"/>
            </a:xfrm>
            <a:prstGeom prst="roundRect">
              <a:avLst>
                <a:gd name="adj" fmla="val 2239"/>
              </a:avLst>
            </a:prstGeom>
            <a:solidFill>
              <a:srgbClr val="FFFFFF"/>
            </a:solidFill>
            <a:ln w="9525">
              <a:solidFill>
                <a:srgbClr val="C9D6E9"/>
              </a:solidFill>
            </a:ln>
          </p:spPr>
        </p:sp>
        <p:sp>
          <p:nvSpPr>
            <p:cNvPr id="10" name="Rectangle 10"/>
            <p:cNvSpPr/>
            <p:nvPr/>
          </p:nvSpPr>
          <p:spPr>
            <a:xfrm>
              <a:off x="228600" y="685800"/>
              <a:ext cx="3143250" cy="247650"/>
            </a:xfrm>
            <a:prstGeom prst="roundRect">
              <a:avLst>
                <a:gd name="adj" fmla="val 23077"/>
              </a:avLst>
            </a:prstGeom>
            <a:solidFill>
              <a:srgbClr val="69281B"/>
            </a:solidFill>
            <a:ln>
              <a:noFill/>
            </a:ln>
          </p:spPr>
        </p:sp>
        <p:sp>
          <p:nvSpPr>
            <p:cNvPr id="11" name="Rectangle 11"/>
            <p:cNvSpPr/>
            <p:nvPr/>
          </p:nvSpPr>
          <p:spPr>
            <a:xfrm>
              <a:off x="228600" y="838200"/>
              <a:ext cx="3143250" cy="95250"/>
            </a:xfrm>
            <a:prstGeom prst="rect">
              <a:avLst/>
            </a:prstGeom>
            <a:solidFill>
              <a:srgbClr val="69281B"/>
            </a:solidFill>
            <a:ln>
              <a:noFill/>
            </a:ln>
          </p:spPr>
        </p:sp>
        <p:sp>
          <p:nvSpPr>
            <p:cNvPr id="12" name="TextBox 12"/>
            <p:cNvSpPr txBox="1"/>
            <p:nvPr/>
          </p:nvSpPr>
          <p:spPr>
            <a:xfrm>
              <a:off x="1226020" y="756047"/>
              <a:ext cx="114841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客户分层结构（户）</a:t>
              </a:r>
            </a:p>
          </p:txBody>
        </p:sp>
        <p:sp>
          <p:nvSpPr>
            <p:cNvPr id="13" name="Freeform 13"/>
            <p:cNvSpPr/>
            <p:nvPr/>
          </p:nvSpPr>
          <p:spPr>
            <a:xfrm>
              <a:off x="1276350" y="990600"/>
              <a:ext cx="1047750" cy="381000"/>
            </a:xfrm>
            <a:prstGeom prst="trapezoid">
              <a:avLst>
                <a:gd name="adj" fmla="val 75000"/>
              </a:avLst>
            </a:prstGeom>
            <a:solidFill>
              <a:srgbClr val="5C2216"/>
            </a:solidFill>
            <a:ln>
              <a:noFill/>
            </a:ln>
          </p:spPr>
        </p:sp>
        <p:sp>
          <p:nvSpPr>
            <p:cNvPr id="14" name="Freeform 14"/>
            <p:cNvSpPr/>
            <p:nvPr/>
          </p:nvSpPr>
          <p:spPr>
            <a:xfrm>
              <a:off x="990600" y="1409700"/>
              <a:ext cx="1619250" cy="381000"/>
            </a:xfrm>
            <a:prstGeom prst="trapezoid">
              <a:avLst>
                <a:gd name="adj" fmla="val 75000"/>
              </a:avLst>
            </a:prstGeom>
            <a:solidFill>
              <a:srgbClr val="9B3824"/>
            </a:solidFill>
            <a:ln>
              <a:noFill/>
            </a:ln>
          </p:spPr>
        </p:sp>
        <p:sp>
          <p:nvSpPr>
            <p:cNvPr id="15" name="Freeform 15"/>
            <p:cNvSpPr/>
            <p:nvPr/>
          </p:nvSpPr>
          <p:spPr>
            <a:xfrm>
              <a:off x="704850" y="1828800"/>
              <a:ext cx="2190750" cy="381000"/>
            </a:xfrm>
            <a:prstGeom prst="trapezoid">
              <a:avLst>
                <a:gd name="adj" fmla="val 75000"/>
              </a:avLst>
            </a:prstGeom>
            <a:solidFill>
              <a:srgbClr val="E8654A"/>
            </a:solidFill>
            <a:ln>
              <a:noFill/>
            </a:ln>
          </p:spPr>
        </p:sp>
        <p:sp>
          <p:nvSpPr>
            <p:cNvPr id="16" name="Freeform 16"/>
            <p:cNvSpPr/>
            <p:nvPr/>
          </p:nvSpPr>
          <p:spPr>
            <a:xfrm>
              <a:off x="419100" y="2247900"/>
              <a:ext cx="2762250" cy="381000"/>
            </a:xfrm>
            <a:prstGeom prst="trapezoid">
              <a:avLst>
                <a:gd name="adj" fmla="val 75000"/>
              </a:avLst>
            </a:prstGeom>
            <a:solidFill>
              <a:srgbClr val="EEB4A8"/>
            </a:solidFill>
            <a:ln>
              <a:noFill/>
            </a:ln>
          </p:spPr>
        </p:sp>
        <p:sp>
          <p:nvSpPr>
            <p:cNvPr id="17" name="TextBox 17"/>
            <p:cNvSpPr txBox="1"/>
            <p:nvPr/>
          </p:nvSpPr>
          <p:spPr>
            <a:xfrm>
              <a:off x="1450110" y="1132761"/>
              <a:ext cx="700230"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 xml:space="preserve">战略客户 </a:t>
              </a:r>
              <a:r>
                <a:rPr lang="zh-CN" sz="820" b="1" dirty="0">
                  <a:solidFill>
                    <a:srgbClr val="FFFFFF"/>
                  </a:solidFill>
                  <a:latin typeface="+mn-lt"/>
                  <a:ea typeface="+mn-ea"/>
                  <a:cs typeface="+mn-cs"/>
                </a:rPr>
                <a:t>86</a:t>
              </a:r>
              <a:r>
                <a:rPr lang="zh-CN" sz="710" b="1" dirty="0">
                  <a:solidFill>
                    <a:srgbClr val="FFFFFF"/>
                  </a:solidFill>
                  <a:latin typeface="+mn-lt"/>
                  <a:ea typeface="+mn-ea"/>
                  <a:cs typeface="+mn-cs"/>
                </a:rPr>
                <a:t>户​</a:t>
              </a:r>
            </a:p>
          </p:txBody>
        </p:sp>
        <p:sp>
          <p:nvSpPr>
            <p:cNvPr id="18" name="TextBox 18"/>
            <p:cNvSpPr txBox="1"/>
            <p:nvPr/>
          </p:nvSpPr>
          <p:spPr>
            <a:xfrm>
              <a:off x="1381841" y="1543764"/>
              <a:ext cx="836768"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 xml:space="preserve">重点客户 </a:t>
              </a:r>
              <a:r>
                <a:rPr lang="zh-CN" sz="860" b="1" dirty="0">
                  <a:solidFill>
                    <a:srgbClr val="FFFFFF"/>
                  </a:solidFill>
                  <a:latin typeface="+mn-lt"/>
                  <a:ea typeface="+mn-ea"/>
                  <a:cs typeface="+mn-cs"/>
                </a:rPr>
                <a:t>420</a:t>
              </a:r>
              <a:r>
                <a:rPr lang="zh-CN" sz="790" b="1" dirty="0">
                  <a:solidFill>
                    <a:srgbClr val="FFFFFF"/>
                  </a:solidFill>
                  <a:latin typeface="+mn-lt"/>
                  <a:ea typeface="+mn-ea"/>
                  <a:cs typeface="+mn-cs"/>
                </a:rPr>
                <a:t>户​</a:t>
              </a:r>
            </a:p>
          </p:txBody>
        </p:sp>
        <p:sp>
          <p:nvSpPr>
            <p:cNvPr id="19" name="TextBox 19"/>
            <p:cNvSpPr txBox="1"/>
            <p:nvPr/>
          </p:nvSpPr>
          <p:spPr>
            <a:xfrm>
              <a:off x="1314982" y="1962864"/>
              <a:ext cx="97048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 xml:space="preserve">成长客户 </a:t>
              </a:r>
              <a:r>
                <a:rPr lang="zh-CN" sz="860" b="1" dirty="0">
                  <a:solidFill>
                    <a:srgbClr val="FFFFFF"/>
                  </a:solidFill>
                  <a:latin typeface="+mn-lt"/>
                  <a:ea typeface="+mn-ea"/>
                  <a:cs typeface="+mn-cs"/>
                </a:rPr>
                <a:t>2,180</a:t>
              </a:r>
              <a:r>
                <a:rPr lang="zh-CN" sz="790" b="1" dirty="0">
                  <a:solidFill>
                    <a:srgbClr val="FFFFFF"/>
                  </a:solidFill>
                  <a:latin typeface="+mn-lt"/>
                  <a:ea typeface="+mn-ea"/>
                  <a:cs typeface="+mn-cs"/>
                </a:rPr>
                <a:t>户​</a:t>
              </a:r>
            </a:p>
          </p:txBody>
        </p:sp>
        <p:sp>
          <p:nvSpPr>
            <p:cNvPr id="20" name="TextBox 20"/>
            <p:cNvSpPr txBox="1"/>
            <p:nvPr/>
          </p:nvSpPr>
          <p:spPr>
            <a:xfrm>
              <a:off x="1314982" y="2381964"/>
              <a:ext cx="970486" cy="154781"/>
            </a:xfrm>
            <a:prstGeom prst="rect">
              <a:avLst/>
            </a:prstGeom>
            <a:noFill/>
            <a:ln>
              <a:noFill/>
            </a:ln>
          </p:spPr>
          <p:txBody>
            <a:bodyPr wrap="none" lIns="0" tIns="0" rIns="0" bIns="0" anchor="t" anchorCtr="0">
              <a:spAutoFit/>
            </a:bodyPr>
            <a:lstStyle/>
            <a:p>
              <a:pPr algn="ctr"/>
              <a:r>
                <a:rPr lang="zh-CN" sz="790" b="1" dirty="0">
                  <a:solidFill>
                    <a:srgbClr val="5C2216"/>
                  </a:solidFill>
                  <a:latin typeface="+mn-lt"/>
                  <a:ea typeface="+mn-ea"/>
                  <a:cs typeface="+mn-cs"/>
                </a:rPr>
                <a:t xml:space="preserve">基础客户 </a:t>
              </a:r>
              <a:r>
                <a:rPr lang="zh-CN" sz="860" b="1" dirty="0">
                  <a:solidFill>
                    <a:srgbClr val="5C2216"/>
                  </a:solidFill>
                  <a:latin typeface="+mn-lt"/>
                  <a:ea typeface="+mn-ea"/>
                  <a:cs typeface="+mn-cs"/>
                </a:rPr>
                <a:t>9,994</a:t>
              </a:r>
              <a:r>
                <a:rPr lang="zh-CN" sz="790" b="1" dirty="0">
                  <a:solidFill>
                    <a:srgbClr val="5C2216"/>
                  </a:solidFill>
                  <a:latin typeface="+mn-lt"/>
                  <a:ea typeface="+mn-ea"/>
                  <a:cs typeface="+mn-cs"/>
                </a:rPr>
                <a:t>户​</a:t>
              </a:r>
            </a:p>
          </p:txBody>
        </p:sp>
        <p:sp>
          <p:nvSpPr>
            <p:cNvPr id="21" name="Rectangle 21"/>
            <p:cNvSpPr/>
            <p:nvPr/>
          </p:nvSpPr>
          <p:spPr>
            <a:xfrm>
              <a:off x="419100" y="2724150"/>
              <a:ext cx="2762250" cy="285750"/>
            </a:xfrm>
            <a:prstGeom prst="rect">
              <a:avLst/>
            </a:prstGeom>
            <a:solidFill>
              <a:srgbClr val="5C2216"/>
            </a:solidFill>
            <a:ln>
              <a:noFill/>
            </a:ln>
          </p:spPr>
        </p:sp>
        <p:sp>
          <p:nvSpPr>
            <p:cNvPr id="22" name="TextBox 22"/>
            <p:cNvSpPr txBox="1"/>
            <p:nvPr/>
          </p:nvSpPr>
          <p:spPr>
            <a:xfrm>
              <a:off x="1295686" y="2817495"/>
              <a:ext cx="100907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 xml:space="preserve">总计 </a:t>
              </a:r>
              <a:r>
                <a:rPr lang="zh-CN" sz="1050" b="1" dirty="0">
                  <a:solidFill>
                    <a:srgbClr val="FFFFFF"/>
                  </a:solidFill>
                  <a:latin typeface="+mn-lt"/>
                  <a:ea typeface="+mn-ea"/>
                  <a:cs typeface="+mn-cs"/>
                </a:rPr>
                <a:t>12,680</a:t>
              </a:r>
              <a:r>
                <a:rPr lang="zh-CN" sz="900" b="1" dirty="0">
                  <a:solidFill>
                    <a:srgbClr val="FFFFFF"/>
                  </a:solidFill>
                  <a:latin typeface="+mn-lt"/>
                  <a:ea typeface="+mn-ea"/>
                  <a:cs typeface="+mn-cs"/>
                </a:rPr>
                <a:t xml:space="preserve"> 户​</a:t>
              </a:r>
            </a:p>
          </p:txBody>
        </p:sp>
        <p:sp>
          <p:nvSpPr>
            <p:cNvPr id="23" name="TextBox 23"/>
            <p:cNvSpPr txBox="1"/>
            <p:nvPr/>
          </p:nvSpPr>
          <p:spPr>
            <a:xfrm>
              <a:off x="338138" y="3112532"/>
              <a:ext cx="1327724"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数据口径：2026年6月末（示例）​</a:t>
              </a:r>
            </a:p>
          </p:txBody>
        </p:sp>
      </p:grpSp>
      <p:grpSp>
        <p:nvGrpSpPr>
          <p:cNvPr id="99" name="combo-newloss"/>
          <p:cNvGrpSpPr/>
          <p:nvPr/>
        </p:nvGrpSpPr>
        <p:grpSpPr>
          <a:xfrm>
            <a:off x="3486150" y="685800"/>
            <a:ext cx="5334000" cy="2552700"/>
            <a:chOff x="3486150" y="685800"/>
            <a:chExt cx="5334000" cy="2552700"/>
          </a:xfrm>
        </p:grpSpPr>
        <p:sp>
          <p:nvSpPr>
            <p:cNvPr id="25" name="Rectangle 25"/>
            <p:cNvSpPr/>
            <p:nvPr/>
          </p:nvSpPr>
          <p:spPr>
            <a:xfrm>
              <a:off x="3486150" y="685800"/>
              <a:ext cx="5334000" cy="2552700"/>
            </a:xfrm>
            <a:prstGeom prst="roundRect">
              <a:avLst>
                <a:gd name="adj" fmla="val 2239"/>
              </a:avLst>
            </a:prstGeom>
            <a:solidFill>
              <a:srgbClr val="FFFFFF"/>
            </a:solidFill>
            <a:ln w="9525">
              <a:solidFill>
                <a:srgbClr val="C9D6E9"/>
              </a:solidFill>
            </a:ln>
          </p:spPr>
        </p:sp>
        <p:sp>
          <p:nvSpPr>
            <p:cNvPr id="26" name="Rectangle 26"/>
            <p:cNvSpPr/>
            <p:nvPr/>
          </p:nvSpPr>
          <p:spPr>
            <a:xfrm>
              <a:off x="3486150" y="685800"/>
              <a:ext cx="5334000" cy="247650"/>
            </a:xfrm>
            <a:prstGeom prst="roundRect">
              <a:avLst>
                <a:gd name="adj" fmla="val 23077"/>
              </a:avLst>
            </a:prstGeom>
            <a:solidFill>
              <a:srgbClr val="69281B"/>
            </a:solidFill>
            <a:ln>
              <a:noFill/>
            </a:ln>
          </p:spPr>
        </p:sp>
        <p:sp>
          <p:nvSpPr>
            <p:cNvPr id="27" name="Rectangle 27"/>
            <p:cNvSpPr/>
            <p:nvPr/>
          </p:nvSpPr>
          <p:spPr>
            <a:xfrm>
              <a:off x="3486150" y="838200"/>
              <a:ext cx="5334000" cy="95250"/>
            </a:xfrm>
            <a:prstGeom prst="rect">
              <a:avLst/>
            </a:prstGeom>
            <a:solidFill>
              <a:srgbClr val="69281B"/>
            </a:solidFill>
            <a:ln>
              <a:noFill/>
            </a:ln>
          </p:spPr>
        </p:sp>
        <p:sp>
          <p:nvSpPr>
            <p:cNvPr id="28" name="TextBox 28"/>
            <p:cNvSpPr txBox="1"/>
            <p:nvPr/>
          </p:nvSpPr>
          <p:spPr>
            <a:xfrm>
              <a:off x="5389131" y="756047"/>
              <a:ext cx="15280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客户新增与流失情况（户）</a:t>
              </a:r>
            </a:p>
          </p:txBody>
        </p:sp>
        <p:sp>
          <p:nvSpPr>
            <p:cNvPr id="29" name="Rectangle 29"/>
            <p:cNvSpPr/>
            <p:nvPr/>
          </p:nvSpPr>
          <p:spPr>
            <a:xfrm>
              <a:off x="3962400" y="1028700"/>
              <a:ext cx="85725" cy="85725"/>
            </a:xfrm>
            <a:prstGeom prst="rect">
              <a:avLst/>
            </a:prstGeom>
            <a:solidFill>
              <a:srgbClr val="69281B"/>
            </a:solidFill>
            <a:ln>
              <a:noFill/>
            </a:ln>
          </p:spPr>
        </p:sp>
        <p:sp>
          <p:nvSpPr>
            <p:cNvPr id="30" name="TextBox 30"/>
            <p:cNvSpPr txBox="1"/>
            <p:nvPr/>
          </p:nvSpPr>
          <p:spPr>
            <a:xfrm>
              <a:off x="4090988" y="1037511"/>
              <a:ext cx="774167"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新增客户（左轴）</a:t>
              </a:r>
            </a:p>
          </p:txBody>
        </p:sp>
        <p:sp>
          <p:nvSpPr>
            <p:cNvPr id="31" name="Rectangle 31"/>
            <p:cNvSpPr/>
            <p:nvPr/>
          </p:nvSpPr>
          <p:spPr>
            <a:xfrm>
              <a:off x="5200650" y="1028700"/>
              <a:ext cx="85725" cy="85725"/>
            </a:xfrm>
            <a:prstGeom prst="rect">
              <a:avLst/>
            </a:prstGeom>
            <a:solidFill>
              <a:srgbClr val="EEB4A8"/>
            </a:solidFill>
            <a:ln>
              <a:noFill/>
            </a:ln>
          </p:spPr>
        </p:sp>
        <p:sp>
          <p:nvSpPr>
            <p:cNvPr id="32" name="TextBox 32"/>
            <p:cNvSpPr txBox="1"/>
            <p:nvPr/>
          </p:nvSpPr>
          <p:spPr>
            <a:xfrm>
              <a:off x="5329238" y="1037511"/>
              <a:ext cx="774167"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流失客户（左轴）</a:t>
              </a:r>
            </a:p>
          </p:txBody>
        </p:sp>
        <p:sp>
          <p:nvSpPr>
            <p:cNvPr id="33" name="Line 33"/>
            <p:cNvSpPr/>
            <p:nvPr/>
          </p:nvSpPr>
          <p:spPr>
            <a:xfrm>
              <a:off x="6438900" y="1066800"/>
              <a:ext cx="285750" cy="9525"/>
            </a:xfrm>
            <a:custGeom>
              <a:avLst/>
              <a:gdLst/>
              <a:ahLst/>
              <a:cxnLst/>
              <a:rect l="l" t="t" r="r" b="b"/>
              <a:pathLst>
                <a:path w="285750" h="9525">
                  <a:moveTo>
                    <a:pt x="0" y="0"/>
                  </a:moveTo>
                  <a:lnTo>
                    <a:pt x="285750" y="0"/>
                  </a:lnTo>
                </a:path>
              </a:pathLst>
            </a:custGeom>
            <a:noFill/>
            <a:ln w="19050">
              <a:solidFill>
                <a:srgbClr val="E04C2E"/>
              </a:solidFill>
            </a:ln>
          </p:spPr>
        </p:sp>
        <p:sp>
          <p:nvSpPr>
            <p:cNvPr id="34" name="Ellipse 34"/>
            <p:cNvSpPr/>
            <p:nvPr/>
          </p:nvSpPr>
          <p:spPr>
            <a:xfrm>
              <a:off x="6553200" y="1038225"/>
              <a:ext cx="57150" cy="57150"/>
            </a:xfrm>
            <a:prstGeom prst="ellipse">
              <a:avLst/>
            </a:prstGeom>
            <a:solidFill>
              <a:srgbClr val="FFFFFF"/>
            </a:solidFill>
            <a:ln w="15240">
              <a:solidFill>
                <a:srgbClr val="E04C2E"/>
              </a:solidFill>
            </a:ln>
          </p:spPr>
        </p:sp>
        <p:sp>
          <p:nvSpPr>
            <p:cNvPr id="35" name="TextBox 35"/>
            <p:cNvSpPr txBox="1"/>
            <p:nvPr/>
          </p:nvSpPr>
          <p:spPr>
            <a:xfrm>
              <a:off x="6777038" y="1037511"/>
              <a:ext cx="774167"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净增客户（右轴）</a:t>
              </a:r>
            </a:p>
          </p:txBody>
        </p:sp>
        <p:sp>
          <p:nvSpPr>
            <p:cNvPr id="36" name="TextBox 36"/>
            <p:cNvSpPr txBox="1"/>
            <p:nvPr/>
          </p:nvSpPr>
          <p:spPr>
            <a:xfrm>
              <a:off x="3722789" y="1202055"/>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400​</a:t>
              </a:r>
            </a:p>
          </p:txBody>
        </p:sp>
        <p:sp>
          <p:nvSpPr>
            <p:cNvPr id="37" name="TextBox 37"/>
            <p:cNvSpPr txBox="1"/>
            <p:nvPr/>
          </p:nvSpPr>
          <p:spPr>
            <a:xfrm>
              <a:off x="3722789" y="1468755"/>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300​</a:t>
              </a:r>
            </a:p>
          </p:txBody>
        </p:sp>
        <p:sp>
          <p:nvSpPr>
            <p:cNvPr id="38" name="TextBox 38"/>
            <p:cNvSpPr txBox="1"/>
            <p:nvPr/>
          </p:nvSpPr>
          <p:spPr>
            <a:xfrm>
              <a:off x="3722789" y="1744980"/>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200​</a:t>
              </a:r>
            </a:p>
          </p:txBody>
        </p:sp>
        <p:sp>
          <p:nvSpPr>
            <p:cNvPr id="39" name="TextBox 39"/>
            <p:cNvSpPr txBox="1"/>
            <p:nvPr/>
          </p:nvSpPr>
          <p:spPr>
            <a:xfrm>
              <a:off x="3722789" y="2011680"/>
              <a:ext cx="187223"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100​</a:t>
              </a:r>
            </a:p>
          </p:txBody>
        </p:sp>
        <p:sp>
          <p:nvSpPr>
            <p:cNvPr id="40" name="TextBox 40"/>
            <p:cNvSpPr txBox="1"/>
            <p:nvPr/>
          </p:nvSpPr>
          <p:spPr>
            <a:xfrm>
              <a:off x="3811638" y="2278380"/>
              <a:ext cx="98374"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0​</a:t>
              </a:r>
            </a:p>
          </p:txBody>
        </p:sp>
        <p:sp>
          <p:nvSpPr>
            <p:cNvPr id="41" name="TextBox 41"/>
            <p:cNvSpPr txBox="1"/>
            <p:nvPr/>
          </p:nvSpPr>
          <p:spPr>
            <a:xfrm>
              <a:off x="3678364" y="2554605"/>
              <a:ext cx="231648"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-100​</a:t>
              </a:r>
            </a:p>
          </p:txBody>
        </p:sp>
        <p:sp>
          <p:nvSpPr>
            <p:cNvPr id="42" name="TextBox 42"/>
            <p:cNvSpPr txBox="1"/>
            <p:nvPr/>
          </p:nvSpPr>
          <p:spPr>
            <a:xfrm>
              <a:off x="3678364" y="2821305"/>
              <a:ext cx="231648" cy="119062"/>
            </a:xfrm>
            <a:prstGeom prst="rect">
              <a:avLst/>
            </a:prstGeom>
            <a:noFill/>
            <a:ln>
              <a:noFill/>
            </a:ln>
          </p:spPr>
          <p:txBody>
            <a:bodyPr wrap="none" lIns="0" tIns="0" rIns="0" bIns="0" anchor="t" anchorCtr="0">
              <a:spAutoFit/>
            </a:bodyPr>
            <a:lstStyle/>
            <a:p>
              <a:pPr algn="r"/>
              <a:r>
                <a:rPr lang="zh-CN" sz="600" dirty="0">
                  <a:solidFill>
                    <a:srgbClr val="BEA09A"/>
                  </a:solidFill>
                  <a:latin typeface="+mn-lt"/>
                  <a:ea typeface="+mn-ea"/>
                  <a:cs typeface="+mn-cs"/>
                </a:rPr>
                <a:t>-200​</a:t>
              </a:r>
            </a:p>
          </p:txBody>
        </p:sp>
        <p:sp>
          <p:nvSpPr>
            <p:cNvPr id="43" name="Line 43"/>
            <p:cNvSpPr/>
            <p:nvPr/>
          </p:nvSpPr>
          <p:spPr>
            <a:xfrm>
              <a:off x="3943350" y="1238250"/>
              <a:ext cx="9525" cy="1676400"/>
            </a:xfrm>
            <a:custGeom>
              <a:avLst/>
              <a:gdLst/>
              <a:ahLst/>
              <a:cxnLst/>
              <a:rect l="l" t="t" r="r" b="b"/>
              <a:pathLst>
                <a:path w="9525" h="1676400">
                  <a:moveTo>
                    <a:pt x="0" y="0"/>
                  </a:moveTo>
                  <a:lnTo>
                    <a:pt x="0" y="1676400"/>
                  </a:lnTo>
                </a:path>
              </a:pathLst>
            </a:custGeom>
            <a:noFill/>
            <a:ln w="9525">
              <a:solidFill>
                <a:srgbClr val="C9D6E9"/>
              </a:solidFill>
            </a:ln>
          </p:spPr>
        </p:sp>
        <p:sp>
          <p:nvSpPr>
            <p:cNvPr id="44" name="Line 44"/>
            <p:cNvSpPr/>
            <p:nvPr/>
          </p:nvSpPr>
          <p:spPr>
            <a:xfrm>
              <a:off x="3943350" y="2317432"/>
              <a:ext cx="2724150" cy="9525"/>
            </a:xfrm>
            <a:custGeom>
              <a:avLst/>
              <a:gdLst/>
              <a:ahLst/>
              <a:cxnLst/>
              <a:rect l="l" t="t" r="r" b="b"/>
              <a:pathLst>
                <a:path w="2724150" h="9525">
                  <a:moveTo>
                    <a:pt x="0" y="0"/>
                  </a:moveTo>
                  <a:lnTo>
                    <a:pt x="2724150" y="0"/>
                  </a:lnTo>
                </a:path>
              </a:pathLst>
            </a:custGeom>
            <a:noFill/>
            <a:ln w="9525">
              <a:solidFill>
                <a:srgbClr val="C9D6E9"/>
              </a:solidFill>
            </a:ln>
          </p:spPr>
        </p:sp>
        <p:sp>
          <p:nvSpPr>
            <p:cNvPr id="45" name="Rectangle 45"/>
            <p:cNvSpPr/>
            <p:nvPr/>
          </p:nvSpPr>
          <p:spPr>
            <a:xfrm>
              <a:off x="4000500" y="1859280"/>
              <a:ext cx="266700" cy="458152"/>
            </a:xfrm>
            <a:prstGeom prst="rect">
              <a:avLst/>
            </a:prstGeom>
            <a:solidFill>
              <a:srgbClr val="69281B"/>
            </a:solidFill>
            <a:ln>
              <a:noFill/>
            </a:ln>
          </p:spPr>
        </p:sp>
        <p:sp>
          <p:nvSpPr>
            <p:cNvPr id="46" name="Rectangle 46"/>
            <p:cNvSpPr/>
            <p:nvPr/>
          </p:nvSpPr>
          <p:spPr>
            <a:xfrm>
              <a:off x="4457700" y="1750695"/>
              <a:ext cx="266700" cy="566738"/>
            </a:xfrm>
            <a:prstGeom prst="rect">
              <a:avLst/>
            </a:prstGeom>
            <a:solidFill>
              <a:srgbClr val="69281B"/>
            </a:solidFill>
            <a:ln>
              <a:noFill/>
            </a:ln>
          </p:spPr>
        </p:sp>
        <p:sp>
          <p:nvSpPr>
            <p:cNvPr id="47" name="Rectangle 47"/>
            <p:cNvSpPr/>
            <p:nvPr/>
          </p:nvSpPr>
          <p:spPr>
            <a:xfrm>
              <a:off x="4914900" y="1697355"/>
              <a:ext cx="266700" cy="620078"/>
            </a:xfrm>
            <a:prstGeom prst="rect">
              <a:avLst/>
            </a:prstGeom>
            <a:solidFill>
              <a:srgbClr val="69281B"/>
            </a:solidFill>
            <a:ln>
              <a:noFill/>
            </a:ln>
          </p:spPr>
        </p:sp>
        <p:sp>
          <p:nvSpPr>
            <p:cNvPr id="48" name="Rectangle 48"/>
            <p:cNvSpPr/>
            <p:nvPr/>
          </p:nvSpPr>
          <p:spPr>
            <a:xfrm>
              <a:off x="5372100" y="1724025"/>
              <a:ext cx="266700" cy="593408"/>
            </a:xfrm>
            <a:prstGeom prst="rect">
              <a:avLst/>
            </a:prstGeom>
            <a:solidFill>
              <a:srgbClr val="69281B"/>
            </a:solidFill>
            <a:ln>
              <a:noFill/>
            </a:ln>
          </p:spPr>
        </p:sp>
        <p:sp>
          <p:nvSpPr>
            <p:cNvPr id="49" name="Rectangle 49"/>
            <p:cNvSpPr/>
            <p:nvPr/>
          </p:nvSpPr>
          <p:spPr>
            <a:xfrm>
              <a:off x="5829300" y="1750695"/>
              <a:ext cx="266700" cy="566738"/>
            </a:xfrm>
            <a:prstGeom prst="rect">
              <a:avLst/>
            </a:prstGeom>
            <a:solidFill>
              <a:srgbClr val="69281B"/>
            </a:solidFill>
            <a:ln>
              <a:noFill/>
            </a:ln>
          </p:spPr>
        </p:sp>
        <p:sp>
          <p:nvSpPr>
            <p:cNvPr id="50" name="Rectangle 50"/>
            <p:cNvSpPr/>
            <p:nvPr/>
          </p:nvSpPr>
          <p:spPr>
            <a:xfrm>
              <a:off x="6286500" y="1777365"/>
              <a:ext cx="266700" cy="540068"/>
            </a:xfrm>
            <a:prstGeom prst="rect">
              <a:avLst/>
            </a:prstGeom>
            <a:solidFill>
              <a:srgbClr val="69281B"/>
            </a:solidFill>
            <a:ln>
              <a:noFill/>
            </a:ln>
          </p:spPr>
        </p:sp>
        <p:sp>
          <p:nvSpPr>
            <p:cNvPr id="51" name="Rectangle 51"/>
            <p:cNvSpPr/>
            <p:nvPr/>
          </p:nvSpPr>
          <p:spPr>
            <a:xfrm>
              <a:off x="4000500" y="2317432"/>
              <a:ext cx="266700" cy="216218"/>
            </a:xfrm>
            <a:prstGeom prst="rect">
              <a:avLst/>
            </a:prstGeom>
            <a:solidFill>
              <a:srgbClr val="EEB4A8"/>
            </a:solidFill>
            <a:ln>
              <a:noFill/>
            </a:ln>
          </p:spPr>
        </p:sp>
        <p:sp>
          <p:nvSpPr>
            <p:cNvPr id="52" name="Rectangle 52"/>
            <p:cNvSpPr/>
            <p:nvPr/>
          </p:nvSpPr>
          <p:spPr>
            <a:xfrm>
              <a:off x="4457700" y="2317432"/>
              <a:ext cx="266700" cy="188595"/>
            </a:xfrm>
            <a:prstGeom prst="rect">
              <a:avLst/>
            </a:prstGeom>
            <a:solidFill>
              <a:srgbClr val="EEB4A8"/>
            </a:solidFill>
            <a:ln>
              <a:noFill/>
            </a:ln>
          </p:spPr>
        </p:sp>
        <p:sp>
          <p:nvSpPr>
            <p:cNvPr id="53" name="Rectangle 53"/>
            <p:cNvSpPr/>
            <p:nvPr/>
          </p:nvSpPr>
          <p:spPr>
            <a:xfrm>
              <a:off x="4914900" y="2317432"/>
              <a:ext cx="266700" cy="161925"/>
            </a:xfrm>
            <a:prstGeom prst="rect">
              <a:avLst/>
            </a:prstGeom>
            <a:solidFill>
              <a:srgbClr val="EEB4A8"/>
            </a:solidFill>
            <a:ln>
              <a:noFill/>
            </a:ln>
          </p:spPr>
        </p:sp>
        <p:sp>
          <p:nvSpPr>
            <p:cNvPr id="54" name="Rectangle 54"/>
            <p:cNvSpPr/>
            <p:nvPr/>
          </p:nvSpPr>
          <p:spPr>
            <a:xfrm>
              <a:off x="5372100" y="2317432"/>
              <a:ext cx="266700" cy="188595"/>
            </a:xfrm>
            <a:prstGeom prst="rect">
              <a:avLst/>
            </a:prstGeom>
            <a:solidFill>
              <a:srgbClr val="EEB4A8"/>
            </a:solidFill>
            <a:ln>
              <a:noFill/>
            </a:ln>
          </p:spPr>
        </p:sp>
        <p:sp>
          <p:nvSpPr>
            <p:cNvPr id="55" name="Rectangle 55"/>
            <p:cNvSpPr/>
            <p:nvPr/>
          </p:nvSpPr>
          <p:spPr>
            <a:xfrm>
              <a:off x="5829300" y="2317432"/>
              <a:ext cx="266700" cy="188595"/>
            </a:xfrm>
            <a:prstGeom prst="rect">
              <a:avLst/>
            </a:prstGeom>
            <a:solidFill>
              <a:srgbClr val="EEB4A8"/>
            </a:solidFill>
            <a:ln>
              <a:noFill/>
            </a:ln>
          </p:spPr>
        </p:sp>
        <p:sp>
          <p:nvSpPr>
            <p:cNvPr id="56" name="Rectangle 56"/>
            <p:cNvSpPr/>
            <p:nvPr/>
          </p:nvSpPr>
          <p:spPr>
            <a:xfrm>
              <a:off x="6286500" y="2317432"/>
              <a:ext cx="266700" cy="188595"/>
            </a:xfrm>
            <a:prstGeom prst="rect">
              <a:avLst/>
            </a:prstGeom>
            <a:solidFill>
              <a:srgbClr val="EEB4A8"/>
            </a:solidFill>
            <a:ln>
              <a:noFill/>
            </a:ln>
          </p:spPr>
        </p:sp>
        <p:sp>
          <p:nvSpPr>
            <p:cNvPr id="57" name="TextBox 57"/>
            <p:cNvSpPr txBox="1"/>
            <p:nvPr/>
          </p:nvSpPr>
          <p:spPr>
            <a:xfrm>
              <a:off x="4034315" y="1740932"/>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170​</a:t>
              </a:r>
            </a:p>
          </p:txBody>
        </p:sp>
        <p:sp>
          <p:nvSpPr>
            <p:cNvPr id="58" name="TextBox 58"/>
            <p:cNvSpPr txBox="1"/>
            <p:nvPr/>
          </p:nvSpPr>
          <p:spPr>
            <a:xfrm>
              <a:off x="4491515" y="163615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210​</a:t>
              </a:r>
            </a:p>
          </p:txBody>
        </p:sp>
        <p:sp>
          <p:nvSpPr>
            <p:cNvPr id="59" name="TextBox 59"/>
            <p:cNvSpPr txBox="1"/>
            <p:nvPr/>
          </p:nvSpPr>
          <p:spPr>
            <a:xfrm>
              <a:off x="4948715" y="15790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230​</a:t>
              </a:r>
            </a:p>
          </p:txBody>
        </p:sp>
        <p:sp>
          <p:nvSpPr>
            <p:cNvPr id="60" name="TextBox 60"/>
            <p:cNvSpPr txBox="1"/>
            <p:nvPr/>
          </p:nvSpPr>
          <p:spPr>
            <a:xfrm>
              <a:off x="5405915" y="1607582"/>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220​</a:t>
              </a:r>
            </a:p>
          </p:txBody>
        </p:sp>
        <p:sp>
          <p:nvSpPr>
            <p:cNvPr id="61" name="TextBox 61"/>
            <p:cNvSpPr txBox="1"/>
            <p:nvPr/>
          </p:nvSpPr>
          <p:spPr>
            <a:xfrm>
              <a:off x="5863115" y="163615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210​</a:t>
              </a:r>
            </a:p>
          </p:txBody>
        </p:sp>
        <p:sp>
          <p:nvSpPr>
            <p:cNvPr id="62" name="TextBox 62"/>
            <p:cNvSpPr txBox="1"/>
            <p:nvPr/>
          </p:nvSpPr>
          <p:spPr>
            <a:xfrm>
              <a:off x="6320315" y="1664732"/>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200​</a:t>
              </a:r>
            </a:p>
          </p:txBody>
        </p:sp>
        <p:sp>
          <p:nvSpPr>
            <p:cNvPr id="63" name="TextBox 63"/>
            <p:cNvSpPr txBox="1"/>
            <p:nvPr/>
          </p:nvSpPr>
          <p:spPr>
            <a:xfrm>
              <a:off x="4029576" y="2598182"/>
              <a:ext cx="208547" cy="126206"/>
            </a:xfrm>
            <a:prstGeom prst="rect">
              <a:avLst/>
            </a:prstGeom>
            <a:noFill/>
            <a:ln>
              <a:noFill/>
            </a:ln>
          </p:spPr>
          <p:txBody>
            <a:bodyPr wrap="none" lIns="0" tIns="0" rIns="0" bIns="0" anchor="t" anchorCtr="0">
              <a:spAutoFit/>
            </a:bodyPr>
            <a:lstStyle/>
            <a:p>
              <a:pPr algn="ctr"/>
              <a:r>
                <a:rPr lang="zh-CN" sz="640" b="1" dirty="0">
                  <a:solidFill>
                    <a:srgbClr val="D0442C"/>
                  </a:solidFill>
                  <a:latin typeface="+mn-lt"/>
                  <a:ea typeface="+mn-ea"/>
                  <a:cs typeface="+mn-cs"/>
                </a:rPr>
                <a:t>-80​</a:t>
              </a:r>
            </a:p>
          </p:txBody>
        </p:sp>
        <p:sp>
          <p:nvSpPr>
            <p:cNvPr id="64" name="TextBox 64"/>
            <p:cNvSpPr txBox="1"/>
            <p:nvPr/>
          </p:nvSpPr>
          <p:spPr>
            <a:xfrm>
              <a:off x="4486776" y="2569607"/>
              <a:ext cx="208547" cy="126206"/>
            </a:xfrm>
            <a:prstGeom prst="rect">
              <a:avLst/>
            </a:prstGeom>
            <a:noFill/>
            <a:ln>
              <a:noFill/>
            </a:ln>
          </p:spPr>
          <p:txBody>
            <a:bodyPr wrap="none" lIns="0" tIns="0" rIns="0" bIns="0" anchor="t" anchorCtr="0">
              <a:spAutoFit/>
            </a:bodyPr>
            <a:lstStyle/>
            <a:p>
              <a:pPr algn="ctr"/>
              <a:r>
                <a:rPr lang="zh-CN" sz="640" b="1" dirty="0">
                  <a:solidFill>
                    <a:srgbClr val="D0442C"/>
                  </a:solidFill>
                  <a:latin typeface="+mn-lt"/>
                  <a:ea typeface="+mn-ea"/>
                  <a:cs typeface="+mn-cs"/>
                </a:rPr>
                <a:t>-70​</a:t>
              </a:r>
            </a:p>
          </p:txBody>
        </p:sp>
        <p:sp>
          <p:nvSpPr>
            <p:cNvPr id="65" name="TextBox 65"/>
            <p:cNvSpPr txBox="1"/>
            <p:nvPr/>
          </p:nvSpPr>
          <p:spPr>
            <a:xfrm>
              <a:off x="4943976" y="2541032"/>
              <a:ext cx="208547" cy="126206"/>
            </a:xfrm>
            <a:prstGeom prst="rect">
              <a:avLst/>
            </a:prstGeom>
            <a:noFill/>
            <a:ln>
              <a:noFill/>
            </a:ln>
          </p:spPr>
          <p:txBody>
            <a:bodyPr wrap="none" lIns="0" tIns="0" rIns="0" bIns="0" anchor="t" anchorCtr="0">
              <a:spAutoFit/>
            </a:bodyPr>
            <a:lstStyle/>
            <a:p>
              <a:pPr algn="ctr"/>
              <a:r>
                <a:rPr lang="zh-CN" sz="640" b="1" dirty="0">
                  <a:solidFill>
                    <a:srgbClr val="D0442C"/>
                  </a:solidFill>
                  <a:latin typeface="+mn-lt"/>
                  <a:ea typeface="+mn-ea"/>
                  <a:cs typeface="+mn-cs"/>
                </a:rPr>
                <a:t>-60​</a:t>
              </a:r>
            </a:p>
          </p:txBody>
        </p:sp>
        <p:sp>
          <p:nvSpPr>
            <p:cNvPr id="66" name="TextBox 66"/>
            <p:cNvSpPr txBox="1"/>
            <p:nvPr/>
          </p:nvSpPr>
          <p:spPr>
            <a:xfrm>
              <a:off x="5401176" y="2569607"/>
              <a:ext cx="208547" cy="126206"/>
            </a:xfrm>
            <a:prstGeom prst="rect">
              <a:avLst/>
            </a:prstGeom>
            <a:noFill/>
            <a:ln>
              <a:noFill/>
            </a:ln>
          </p:spPr>
          <p:txBody>
            <a:bodyPr wrap="none" lIns="0" tIns="0" rIns="0" bIns="0" anchor="t" anchorCtr="0">
              <a:spAutoFit/>
            </a:bodyPr>
            <a:lstStyle/>
            <a:p>
              <a:pPr algn="ctr"/>
              <a:r>
                <a:rPr lang="zh-CN" sz="640" b="1" dirty="0">
                  <a:solidFill>
                    <a:srgbClr val="D0442C"/>
                  </a:solidFill>
                  <a:latin typeface="+mn-lt"/>
                  <a:ea typeface="+mn-ea"/>
                  <a:cs typeface="+mn-cs"/>
                </a:rPr>
                <a:t>-70​</a:t>
              </a:r>
            </a:p>
          </p:txBody>
        </p:sp>
        <p:sp>
          <p:nvSpPr>
            <p:cNvPr id="67" name="TextBox 67"/>
            <p:cNvSpPr txBox="1"/>
            <p:nvPr/>
          </p:nvSpPr>
          <p:spPr>
            <a:xfrm>
              <a:off x="5858376" y="2569607"/>
              <a:ext cx="208547" cy="126206"/>
            </a:xfrm>
            <a:prstGeom prst="rect">
              <a:avLst/>
            </a:prstGeom>
            <a:noFill/>
            <a:ln>
              <a:noFill/>
            </a:ln>
          </p:spPr>
          <p:txBody>
            <a:bodyPr wrap="none" lIns="0" tIns="0" rIns="0" bIns="0" anchor="t" anchorCtr="0">
              <a:spAutoFit/>
            </a:bodyPr>
            <a:lstStyle/>
            <a:p>
              <a:pPr algn="ctr"/>
              <a:r>
                <a:rPr lang="zh-CN" sz="640" b="1" dirty="0">
                  <a:solidFill>
                    <a:srgbClr val="D0442C"/>
                  </a:solidFill>
                  <a:latin typeface="+mn-lt"/>
                  <a:ea typeface="+mn-ea"/>
                  <a:cs typeface="+mn-cs"/>
                </a:rPr>
                <a:t>-70​</a:t>
              </a:r>
            </a:p>
          </p:txBody>
        </p:sp>
        <p:sp>
          <p:nvSpPr>
            <p:cNvPr id="68" name="TextBox 68"/>
            <p:cNvSpPr txBox="1"/>
            <p:nvPr/>
          </p:nvSpPr>
          <p:spPr>
            <a:xfrm>
              <a:off x="6315576" y="2569607"/>
              <a:ext cx="208547" cy="126206"/>
            </a:xfrm>
            <a:prstGeom prst="rect">
              <a:avLst/>
            </a:prstGeom>
            <a:noFill/>
            <a:ln>
              <a:noFill/>
            </a:ln>
          </p:spPr>
          <p:txBody>
            <a:bodyPr wrap="none" lIns="0" tIns="0" rIns="0" bIns="0" anchor="t" anchorCtr="0">
              <a:spAutoFit/>
            </a:bodyPr>
            <a:lstStyle/>
            <a:p>
              <a:pPr algn="ctr"/>
              <a:r>
                <a:rPr lang="zh-CN" sz="640" b="1" dirty="0">
                  <a:solidFill>
                    <a:srgbClr val="D0442C"/>
                  </a:solidFill>
                  <a:latin typeface="+mn-lt"/>
                  <a:ea typeface="+mn-ea"/>
                  <a:cs typeface="+mn-cs"/>
                </a:rPr>
                <a:t>-70​</a:t>
              </a:r>
            </a:p>
          </p:txBody>
        </p:sp>
        <p:sp>
          <p:nvSpPr>
            <p:cNvPr id="69" name="Freeform 69"/>
            <p:cNvSpPr/>
            <p:nvPr/>
          </p:nvSpPr>
          <p:spPr>
            <a:xfrm>
              <a:off x="4133850" y="1859280"/>
              <a:ext cx="2286000" cy="215265"/>
            </a:xfrm>
            <a:custGeom>
              <a:avLst/>
              <a:gdLst/>
              <a:ahLst/>
              <a:cxnLst/>
              <a:rect l="l" t="t" r="r" b="b"/>
              <a:pathLst>
                <a:path w="2286000" h="215265">
                  <a:moveTo>
                    <a:pt x="0" y="215265"/>
                  </a:moveTo>
                  <a:lnTo>
                    <a:pt x="457200" y="80010"/>
                  </a:lnTo>
                  <a:lnTo>
                    <a:pt x="914400" y="0"/>
                  </a:lnTo>
                  <a:lnTo>
                    <a:pt x="1371600" y="53340"/>
                  </a:lnTo>
                  <a:lnTo>
                    <a:pt x="1828800" y="80010"/>
                  </a:lnTo>
                  <a:lnTo>
                    <a:pt x="2286000" y="106680"/>
                  </a:lnTo>
                </a:path>
              </a:pathLst>
            </a:custGeom>
            <a:noFill/>
            <a:ln w="19050">
              <a:solidFill>
                <a:srgbClr val="E04C2E"/>
              </a:solidFill>
            </a:ln>
          </p:spPr>
        </p:sp>
        <p:sp>
          <p:nvSpPr>
            <p:cNvPr id="70" name="Ellipse 70"/>
            <p:cNvSpPr/>
            <p:nvPr/>
          </p:nvSpPr>
          <p:spPr>
            <a:xfrm>
              <a:off x="4105275" y="2045970"/>
              <a:ext cx="57150" cy="57150"/>
            </a:xfrm>
            <a:prstGeom prst="ellipse">
              <a:avLst/>
            </a:prstGeom>
            <a:solidFill>
              <a:srgbClr val="FFFFFF"/>
            </a:solidFill>
            <a:ln w="15240">
              <a:solidFill>
                <a:srgbClr val="E04C2E"/>
              </a:solidFill>
            </a:ln>
          </p:spPr>
        </p:sp>
        <p:sp>
          <p:nvSpPr>
            <p:cNvPr id="71" name="Ellipse 71"/>
            <p:cNvSpPr/>
            <p:nvPr/>
          </p:nvSpPr>
          <p:spPr>
            <a:xfrm>
              <a:off x="4562475" y="1910715"/>
              <a:ext cx="57150" cy="57150"/>
            </a:xfrm>
            <a:prstGeom prst="ellipse">
              <a:avLst/>
            </a:prstGeom>
            <a:solidFill>
              <a:srgbClr val="FFFFFF"/>
            </a:solidFill>
            <a:ln w="15240">
              <a:solidFill>
                <a:srgbClr val="E04C2E"/>
              </a:solidFill>
            </a:ln>
          </p:spPr>
        </p:sp>
        <p:sp>
          <p:nvSpPr>
            <p:cNvPr id="72" name="Ellipse 72"/>
            <p:cNvSpPr/>
            <p:nvPr/>
          </p:nvSpPr>
          <p:spPr>
            <a:xfrm>
              <a:off x="5019675" y="1830705"/>
              <a:ext cx="57150" cy="57150"/>
            </a:xfrm>
            <a:prstGeom prst="ellipse">
              <a:avLst/>
            </a:prstGeom>
            <a:solidFill>
              <a:srgbClr val="FFFFFF"/>
            </a:solidFill>
            <a:ln w="15240">
              <a:solidFill>
                <a:srgbClr val="E04C2E"/>
              </a:solidFill>
            </a:ln>
          </p:spPr>
        </p:sp>
        <p:sp>
          <p:nvSpPr>
            <p:cNvPr id="73" name="Ellipse 73"/>
            <p:cNvSpPr/>
            <p:nvPr/>
          </p:nvSpPr>
          <p:spPr>
            <a:xfrm>
              <a:off x="5476875" y="1884045"/>
              <a:ext cx="57150" cy="57150"/>
            </a:xfrm>
            <a:prstGeom prst="ellipse">
              <a:avLst/>
            </a:prstGeom>
            <a:solidFill>
              <a:srgbClr val="FFFFFF"/>
            </a:solidFill>
            <a:ln w="15240">
              <a:solidFill>
                <a:srgbClr val="E04C2E"/>
              </a:solidFill>
            </a:ln>
          </p:spPr>
        </p:sp>
        <p:sp>
          <p:nvSpPr>
            <p:cNvPr id="74" name="Ellipse 74"/>
            <p:cNvSpPr/>
            <p:nvPr/>
          </p:nvSpPr>
          <p:spPr>
            <a:xfrm>
              <a:off x="5934075" y="1910715"/>
              <a:ext cx="57150" cy="57150"/>
            </a:xfrm>
            <a:prstGeom prst="ellipse">
              <a:avLst/>
            </a:prstGeom>
            <a:solidFill>
              <a:srgbClr val="FFFFFF"/>
            </a:solidFill>
            <a:ln w="15240">
              <a:solidFill>
                <a:srgbClr val="E04C2E"/>
              </a:solidFill>
            </a:ln>
          </p:spPr>
        </p:sp>
        <p:sp>
          <p:nvSpPr>
            <p:cNvPr id="75" name="Ellipse 75"/>
            <p:cNvSpPr/>
            <p:nvPr/>
          </p:nvSpPr>
          <p:spPr>
            <a:xfrm>
              <a:off x="6391275" y="1937385"/>
              <a:ext cx="57150" cy="57150"/>
            </a:xfrm>
            <a:prstGeom prst="ellipse">
              <a:avLst/>
            </a:prstGeom>
            <a:solidFill>
              <a:srgbClr val="FFFFFF"/>
            </a:solidFill>
            <a:ln w="15240">
              <a:solidFill>
                <a:srgbClr val="E04C2E"/>
              </a:solidFill>
            </a:ln>
          </p:spPr>
        </p:sp>
        <p:sp>
          <p:nvSpPr>
            <p:cNvPr id="76" name="TextBox 76"/>
            <p:cNvSpPr txBox="1"/>
            <p:nvPr/>
          </p:nvSpPr>
          <p:spPr>
            <a:xfrm>
              <a:off x="4054454" y="1940957"/>
              <a:ext cx="158792"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90​</a:t>
              </a:r>
            </a:p>
          </p:txBody>
        </p:sp>
        <p:sp>
          <p:nvSpPr>
            <p:cNvPr id="77" name="TextBox 77"/>
            <p:cNvSpPr txBox="1"/>
            <p:nvPr/>
          </p:nvSpPr>
          <p:spPr>
            <a:xfrm>
              <a:off x="4486776" y="1807607"/>
              <a:ext cx="208547"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140​</a:t>
              </a:r>
            </a:p>
          </p:txBody>
        </p:sp>
        <p:sp>
          <p:nvSpPr>
            <p:cNvPr id="78" name="TextBox 78"/>
            <p:cNvSpPr txBox="1"/>
            <p:nvPr/>
          </p:nvSpPr>
          <p:spPr>
            <a:xfrm>
              <a:off x="4943976" y="1721882"/>
              <a:ext cx="208547"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170​</a:t>
              </a:r>
            </a:p>
          </p:txBody>
        </p:sp>
        <p:sp>
          <p:nvSpPr>
            <p:cNvPr id="79" name="TextBox 79"/>
            <p:cNvSpPr txBox="1"/>
            <p:nvPr/>
          </p:nvSpPr>
          <p:spPr>
            <a:xfrm>
              <a:off x="5401176" y="1779032"/>
              <a:ext cx="208547"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150​</a:t>
              </a:r>
            </a:p>
          </p:txBody>
        </p:sp>
        <p:sp>
          <p:nvSpPr>
            <p:cNvPr id="80" name="TextBox 80"/>
            <p:cNvSpPr txBox="1"/>
            <p:nvPr/>
          </p:nvSpPr>
          <p:spPr>
            <a:xfrm>
              <a:off x="5858376" y="1807607"/>
              <a:ext cx="208547"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140​</a:t>
              </a:r>
            </a:p>
          </p:txBody>
        </p:sp>
        <p:sp>
          <p:nvSpPr>
            <p:cNvPr id="81" name="TextBox 81"/>
            <p:cNvSpPr txBox="1"/>
            <p:nvPr/>
          </p:nvSpPr>
          <p:spPr>
            <a:xfrm>
              <a:off x="6315576" y="1836182"/>
              <a:ext cx="208547"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130​</a:t>
              </a:r>
            </a:p>
          </p:txBody>
        </p:sp>
        <p:sp>
          <p:nvSpPr>
            <p:cNvPr id="82" name="TextBox 82"/>
            <p:cNvSpPr txBox="1"/>
            <p:nvPr/>
          </p:nvSpPr>
          <p:spPr>
            <a:xfrm>
              <a:off x="4028728" y="29710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1月​</a:t>
              </a:r>
            </a:p>
          </p:txBody>
        </p:sp>
        <p:sp>
          <p:nvSpPr>
            <p:cNvPr id="83" name="TextBox 83"/>
            <p:cNvSpPr txBox="1"/>
            <p:nvPr/>
          </p:nvSpPr>
          <p:spPr>
            <a:xfrm>
              <a:off x="4485928" y="29710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2月​</a:t>
              </a:r>
            </a:p>
          </p:txBody>
        </p:sp>
        <p:sp>
          <p:nvSpPr>
            <p:cNvPr id="84" name="TextBox 84"/>
            <p:cNvSpPr txBox="1"/>
            <p:nvPr/>
          </p:nvSpPr>
          <p:spPr>
            <a:xfrm>
              <a:off x="4943128" y="29710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3月​</a:t>
              </a:r>
            </a:p>
          </p:txBody>
        </p:sp>
        <p:sp>
          <p:nvSpPr>
            <p:cNvPr id="85" name="TextBox 85"/>
            <p:cNvSpPr txBox="1"/>
            <p:nvPr/>
          </p:nvSpPr>
          <p:spPr>
            <a:xfrm>
              <a:off x="5400328" y="29710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4月​</a:t>
              </a:r>
            </a:p>
          </p:txBody>
        </p:sp>
        <p:sp>
          <p:nvSpPr>
            <p:cNvPr id="86" name="TextBox 86"/>
            <p:cNvSpPr txBox="1"/>
            <p:nvPr/>
          </p:nvSpPr>
          <p:spPr>
            <a:xfrm>
              <a:off x="5857528" y="29710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5月​</a:t>
              </a:r>
            </a:p>
          </p:txBody>
        </p:sp>
        <p:sp>
          <p:nvSpPr>
            <p:cNvPr id="87" name="TextBox 87"/>
            <p:cNvSpPr txBox="1"/>
            <p:nvPr/>
          </p:nvSpPr>
          <p:spPr>
            <a:xfrm>
              <a:off x="6314728" y="2971086"/>
              <a:ext cx="210243"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6月​</a:t>
              </a:r>
            </a:p>
          </p:txBody>
        </p:sp>
        <p:sp>
          <p:nvSpPr>
            <p:cNvPr id="88" name="Rectangle 88"/>
            <p:cNvSpPr/>
            <p:nvPr/>
          </p:nvSpPr>
          <p:spPr>
            <a:xfrm>
              <a:off x="6819900" y="1238250"/>
              <a:ext cx="1847850" cy="1771650"/>
            </a:xfrm>
            <a:prstGeom prst="roundRect">
              <a:avLst>
                <a:gd name="adj" fmla="val 2151"/>
              </a:avLst>
            </a:prstGeom>
            <a:solidFill>
              <a:srgbClr val="FFFFFF"/>
            </a:solidFill>
            <a:ln w="9525">
              <a:solidFill>
                <a:srgbClr val="EBC1B8"/>
              </a:solidFill>
              <a:custDash>
                <a:ds d="400000" sp="300000"/>
              </a:custDash>
            </a:ln>
          </p:spPr>
        </p:sp>
        <p:sp>
          <p:nvSpPr>
            <p:cNvPr id="89" name="TextBox 89"/>
            <p:cNvSpPr txBox="1"/>
            <p:nvPr/>
          </p:nvSpPr>
          <p:spPr>
            <a:xfrm>
              <a:off x="7242315" y="1358741"/>
              <a:ext cx="1003021" cy="161925"/>
            </a:xfrm>
            <a:prstGeom prst="rect">
              <a:avLst/>
            </a:prstGeom>
            <a:noFill/>
            <a:ln>
              <a:noFill/>
            </a:ln>
          </p:spPr>
          <p:txBody>
            <a:bodyPr wrap="none" lIns="0" tIns="0" rIns="0" bIns="0" anchor="t" anchorCtr="0">
              <a:spAutoFit/>
            </a:bodyPr>
            <a:lstStyle/>
            <a:p>
              <a:pPr algn="ctr"/>
              <a:r>
                <a:rPr lang="zh-CN" sz="820" b="1" dirty="0">
                  <a:solidFill>
                    <a:srgbClr val="69281B"/>
                  </a:solidFill>
                  <a:latin typeface="+mn-lt"/>
                  <a:ea typeface="+mn-ea"/>
                  <a:cs typeface="+mn-cs"/>
                </a:rPr>
                <a:t>上半年合计（示例）</a:t>
              </a:r>
            </a:p>
          </p:txBody>
        </p:sp>
        <p:sp>
          <p:nvSpPr>
            <p:cNvPr id="90" name="TextBox 90"/>
            <p:cNvSpPr txBox="1"/>
            <p:nvPr/>
          </p:nvSpPr>
          <p:spPr>
            <a:xfrm>
              <a:off x="6948488" y="1652588"/>
              <a:ext cx="413385"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新增客户</a:t>
              </a:r>
            </a:p>
          </p:txBody>
        </p:sp>
        <p:sp>
          <p:nvSpPr>
            <p:cNvPr id="91" name="TextBox 91"/>
            <p:cNvSpPr txBox="1"/>
            <p:nvPr/>
          </p:nvSpPr>
          <p:spPr>
            <a:xfrm>
              <a:off x="7905287" y="1650206"/>
              <a:ext cx="634828" cy="220028"/>
            </a:xfrm>
            <a:prstGeom prst="rect">
              <a:avLst/>
            </a:prstGeom>
            <a:noFill/>
            <a:ln>
              <a:noFill/>
            </a:ln>
          </p:spPr>
          <p:txBody>
            <a:bodyPr wrap="none" lIns="0" tIns="0" rIns="0" bIns="0" anchor="t" anchorCtr="0">
              <a:spAutoFit/>
            </a:bodyPr>
            <a:lstStyle/>
            <a:p>
              <a:pPr algn="r"/>
              <a:r>
                <a:rPr lang="zh-CN" sz="1120" b="1" dirty="0">
                  <a:solidFill>
                    <a:srgbClr val="5C2216"/>
                  </a:solidFill>
                  <a:latin typeface="+mn-lt"/>
                  <a:ea typeface="+mn-ea"/>
                  <a:cs typeface="+mn-cs"/>
                </a:rPr>
                <a:t>1,240</a:t>
              </a:r>
              <a:r>
                <a:rPr lang="zh-CN" sz="750" b="1" dirty="0">
                  <a:solidFill>
                    <a:srgbClr val="5C2216"/>
                  </a:solidFill>
                  <a:latin typeface="+mn-lt"/>
                  <a:ea typeface="+mn-ea"/>
                  <a:cs typeface="+mn-cs"/>
                </a:rPr>
                <a:t>户</a:t>
              </a:r>
              <a:r>
                <a:rPr lang="zh-CN" sz="1120" b="1" dirty="0">
                  <a:solidFill>
                    <a:srgbClr val="5C2216"/>
                  </a:solidFill>
                  <a:latin typeface="+mn-lt"/>
                  <a:ea typeface="+mn-ea"/>
                  <a:cs typeface="+mn-cs"/>
                </a:rPr>
                <a:t>​</a:t>
              </a:r>
            </a:p>
          </p:txBody>
        </p:sp>
        <p:sp>
          <p:nvSpPr>
            <p:cNvPr id="92" name="Line 92"/>
            <p:cNvSpPr/>
            <p:nvPr/>
          </p:nvSpPr>
          <p:spPr>
            <a:xfrm>
              <a:off x="6953250" y="1885950"/>
              <a:ext cx="1581150" cy="9525"/>
            </a:xfrm>
            <a:custGeom>
              <a:avLst/>
              <a:gdLst/>
              <a:ahLst/>
              <a:cxnLst/>
              <a:rect l="l" t="t" r="r" b="b"/>
              <a:pathLst>
                <a:path w="1581150" h="9525">
                  <a:moveTo>
                    <a:pt x="0" y="0"/>
                  </a:moveTo>
                  <a:lnTo>
                    <a:pt x="1581150" y="0"/>
                  </a:lnTo>
                </a:path>
              </a:pathLst>
            </a:custGeom>
            <a:noFill/>
            <a:ln w="9525">
              <a:solidFill>
                <a:srgbClr val="EDF2FA"/>
              </a:solidFill>
            </a:ln>
          </p:spPr>
        </p:sp>
        <p:sp>
          <p:nvSpPr>
            <p:cNvPr id="93" name="TextBox 93"/>
            <p:cNvSpPr txBox="1"/>
            <p:nvPr/>
          </p:nvSpPr>
          <p:spPr>
            <a:xfrm>
              <a:off x="6948488" y="2052638"/>
              <a:ext cx="413385"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流失客户</a:t>
              </a:r>
            </a:p>
          </p:txBody>
        </p:sp>
        <p:sp>
          <p:nvSpPr>
            <p:cNvPr id="94" name="TextBox 94"/>
            <p:cNvSpPr txBox="1"/>
            <p:nvPr/>
          </p:nvSpPr>
          <p:spPr>
            <a:xfrm>
              <a:off x="8079431" y="2050256"/>
              <a:ext cx="460684" cy="220028"/>
            </a:xfrm>
            <a:prstGeom prst="rect">
              <a:avLst/>
            </a:prstGeom>
            <a:noFill/>
            <a:ln>
              <a:noFill/>
            </a:ln>
          </p:spPr>
          <p:txBody>
            <a:bodyPr wrap="none" lIns="0" tIns="0" rIns="0" bIns="0" anchor="t" anchorCtr="0">
              <a:spAutoFit/>
            </a:bodyPr>
            <a:lstStyle/>
            <a:p>
              <a:pPr algn="r"/>
              <a:r>
                <a:rPr lang="zh-CN" sz="1120" b="1" dirty="0">
                  <a:solidFill>
                    <a:srgbClr val="D0442C"/>
                  </a:solidFill>
                  <a:latin typeface="+mn-lt"/>
                  <a:ea typeface="+mn-ea"/>
                  <a:cs typeface="+mn-cs"/>
                </a:rPr>
                <a:t>420</a:t>
              </a:r>
              <a:r>
                <a:rPr lang="zh-CN" sz="750" b="1" dirty="0">
                  <a:solidFill>
                    <a:srgbClr val="D0442C"/>
                  </a:solidFill>
                  <a:latin typeface="+mn-lt"/>
                  <a:ea typeface="+mn-ea"/>
                  <a:cs typeface="+mn-cs"/>
                </a:rPr>
                <a:t>户</a:t>
              </a:r>
              <a:r>
                <a:rPr lang="zh-CN" sz="1120" b="1" dirty="0">
                  <a:solidFill>
                    <a:srgbClr val="D0442C"/>
                  </a:solidFill>
                  <a:latin typeface="+mn-lt"/>
                  <a:ea typeface="+mn-ea"/>
                  <a:cs typeface="+mn-cs"/>
                </a:rPr>
                <a:t>​</a:t>
              </a:r>
            </a:p>
          </p:txBody>
        </p:sp>
        <p:sp>
          <p:nvSpPr>
            <p:cNvPr id="95" name="Line 95"/>
            <p:cNvSpPr/>
            <p:nvPr/>
          </p:nvSpPr>
          <p:spPr>
            <a:xfrm>
              <a:off x="6953250" y="2286000"/>
              <a:ext cx="1581150" cy="9525"/>
            </a:xfrm>
            <a:custGeom>
              <a:avLst/>
              <a:gdLst/>
              <a:ahLst/>
              <a:cxnLst/>
              <a:rect l="l" t="t" r="r" b="b"/>
              <a:pathLst>
                <a:path w="1581150" h="9525">
                  <a:moveTo>
                    <a:pt x="0" y="0"/>
                  </a:moveTo>
                  <a:lnTo>
                    <a:pt x="1581150" y="0"/>
                  </a:lnTo>
                </a:path>
              </a:pathLst>
            </a:custGeom>
            <a:noFill/>
            <a:ln w="9525">
              <a:solidFill>
                <a:srgbClr val="EDF2FA"/>
              </a:solidFill>
            </a:ln>
          </p:spPr>
        </p:sp>
        <p:sp>
          <p:nvSpPr>
            <p:cNvPr id="96" name="TextBox 96"/>
            <p:cNvSpPr txBox="1"/>
            <p:nvPr/>
          </p:nvSpPr>
          <p:spPr>
            <a:xfrm>
              <a:off x="6948488" y="2452688"/>
              <a:ext cx="413385" cy="147638"/>
            </a:xfrm>
            <a:prstGeom prst="rect">
              <a:avLst/>
            </a:prstGeom>
            <a:noFill/>
            <a:ln>
              <a:noFill/>
            </a:ln>
          </p:spPr>
          <p:txBody>
            <a:bodyPr wrap="none" lIns="0" tIns="0" rIns="0" bIns="0" anchor="t" anchorCtr="0">
              <a:spAutoFit/>
            </a:bodyPr>
            <a:lstStyle/>
            <a:p>
              <a:pPr algn="l"/>
              <a:r>
                <a:rPr lang="zh-CN" sz="750" dirty="0">
                  <a:solidFill>
                    <a:srgbClr val="987F7A"/>
                  </a:solidFill>
                  <a:latin typeface="+mn-lt"/>
                  <a:ea typeface="+mn-ea"/>
                  <a:cs typeface="+mn-cs"/>
                </a:rPr>
                <a:t>净增客户</a:t>
              </a:r>
            </a:p>
          </p:txBody>
        </p:sp>
        <p:sp>
          <p:nvSpPr>
            <p:cNvPr id="97" name="TextBox 97"/>
            <p:cNvSpPr txBox="1"/>
            <p:nvPr/>
          </p:nvSpPr>
          <p:spPr>
            <a:xfrm>
              <a:off x="8079431" y="2450306"/>
              <a:ext cx="460684" cy="220028"/>
            </a:xfrm>
            <a:prstGeom prst="rect">
              <a:avLst/>
            </a:prstGeom>
            <a:noFill/>
            <a:ln>
              <a:noFill/>
            </a:ln>
          </p:spPr>
          <p:txBody>
            <a:bodyPr wrap="none" lIns="0" tIns="0" rIns="0" bIns="0" anchor="t" anchorCtr="0">
              <a:spAutoFit/>
            </a:bodyPr>
            <a:lstStyle/>
            <a:p>
              <a:pPr algn="r"/>
              <a:r>
                <a:rPr lang="zh-CN" sz="1120" b="1" dirty="0">
                  <a:solidFill>
                    <a:srgbClr val="E04C2E"/>
                  </a:solidFill>
                  <a:latin typeface="+mn-lt"/>
                  <a:ea typeface="+mn-ea"/>
                  <a:cs typeface="+mn-cs"/>
                </a:rPr>
                <a:t>820</a:t>
              </a:r>
              <a:r>
                <a:rPr lang="zh-CN" sz="750" b="1" dirty="0">
                  <a:solidFill>
                    <a:srgbClr val="E04C2E"/>
                  </a:solidFill>
                  <a:latin typeface="+mn-lt"/>
                  <a:ea typeface="+mn-ea"/>
                  <a:cs typeface="+mn-cs"/>
                </a:rPr>
                <a:t>户</a:t>
              </a:r>
              <a:r>
                <a:rPr lang="zh-CN" sz="1120" b="1" dirty="0">
                  <a:solidFill>
                    <a:srgbClr val="E04C2E"/>
                  </a:solidFill>
                  <a:latin typeface="+mn-lt"/>
                  <a:ea typeface="+mn-ea"/>
                  <a:cs typeface="+mn-cs"/>
                </a:rPr>
                <a:t>​</a:t>
              </a:r>
            </a:p>
          </p:txBody>
        </p:sp>
        <p:sp>
          <p:nvSpPr>
            <p:cNvPr id="98" name="TextBox 98"/>
            <p:cNvSpPr txBox="1"/>
            <p:nvPr/>
          </p:nvSpPr>
          <p:spPr>
            <a:xfrm>
              <a:off x="7079963" y="2788682"/>
              <a:ext cx="1327724"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数据口径：2026年6月末（示例）​</a:t>
              </a:r>
            </a:p>
          </p:txBody>
        </p:sp>
      </p:grpSp>
      <p:grpSp>
        <p:nvGrpSpPr>
          <p:cNvPr id="128" name="pie-industry"/>
          <p:cNvGrpSpPr/>
          <p:nvPr/>
        </p:nvGrpSpPr>
        <p:grpSpPr>
          <a:xfrm>
            <a:off x="8934450" y="685800"/>
            <a:ext cx="3028950" cy="2559130"/>
            <a:chOff x="8934450" y="685800"/>
            <a:chExt cx="3028950" cy="2559130"/>
          </a:xfrm>
        </p:grpSpPr>
        <p:sp>
          <p:nvSpPr>
            <p:cNvPr id="100" name="Rectangle 100"/>
            <p:cNvSpPr/>
            <p:nvPr/>
          </p:nvSpPr>
          <p:spPr>
            <a:xfrm>
              <a:off x="8934450" y="685800"/>
              <a:ext cx="3028950" cy="2552700"/>
            </a:xfrm>
            <a:prstGeom prst="roundRect">
              <a:avLst>
                <a:gd name="adj" fmla="val 2239"/>
              </a:avLst>
            </a:prstGeom>
            <a:solidFill>
              <a:srgbClr val="FFFFFF"/>
            </a:solidFill>
            <a:ln w="9525">
              <a:solidFill>
                <a:srgbClr val="C9D6E9"/>
              </a:solidFill>
            </a:ln>
          </p:spPr>
        </p:sp>
        <p:sp>
          <p:nvSpPr>
            <p:cNvPr id="101" name="Rectangle 101"/>
            <p:cNvSpPr/>
            <p:nvPr/>
          </p:nvSpPr>
          <p:spPr>
            <a:xfrm>
              <a:off x="8934450" y="685800"/>
              <a:ext cx="3028950" cy="247650"/>
            </a:xfrm>
            <a:prstGeom prst="roundRect">
              <a:avLst>
                <a:gd name="adj" fmla="val 23077"/>
              </a:avLst>
            </a:prstGeom>
            <a:solidFill>
              <a:srgbClr val="69281B"/>
            </a:solidFill>
            <a:ln>
              <a:noFill/>
            </a:ln>
          </p:spPr>
        </p:sp>
        <p:sp>
          <p:nvSpPr>
            <p:cNvPr id="102" name="Rectangle 102"/>
            <p:cNvSpPr/>
            <p:nvPr/>
          </p:nvSpPr>
          <p:spPr>
            <a:xfrm>
              <a:off x="8934450" y="838200"/>
              <a:ext cx="3028950" cy="95250"/>
            </a:xfrm>
            <a:prstGeom prst="rect">
              <a:avLst/>
            </a:prstGeom>
            <a:solidFill>
              <a:srgbClr val="69281B"/>
            </a:solidFill>
            <a:ln>
              <a:noFill/>
            </a:ln>
          </p:spPr>
        </p:sp>
        <p:sp>
          <p:nvSpPr>
            <p:cNvPr id="103" name="TextBox 103"/>
            <p:cNvSpPr txBox="1"/>
            <p:nvPr/>
          </p:nvSpPr>
          <p:spPr>
            <a:xfrm>
              <a:off x="9874720" y="756047"/>
              <a:ext cx="114841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客户行业分布（户）</a:t>
              </a:r>
            </a:p>
          </p:txBody>
        </p:sp>
        <p:sp>
          <p:nvSpPr>
            <p:cNvPr id="104" name="Freeform 104"/>
            <p:cNvSpPr/>
            <p:nvPr/>
          </p:nvSpPr>
          <p:spPr>
            <a:xfrm>
              <a:off x="9810750" y="1200150"/>
              <a:ext cx="781319" cy="1016413"/>
            </a:xfrm>
            <a:custGeom>
              <a:avLst/>
              <a:gdLst/>
              <a:ahLst/>
              <a:cxnLst/>
              <a:rect l="l" t="t" r="r" b="b"/>
              <a:pathLst>
                <a:path w="781319" h="1016413">
                  <a:moveTo>
                    <a:pt x="0" y="742950"/>
                  </a:moveTo>
                  <a:lnTo>
                    <a:pt x="0" y="0"/>
                  </a:lnTo>
                  <a:cubicBezTo>
                    <a:pt x="246053" y="13"/>
                    <a:pt x="476139" y="121845"/>
                    <a:pt x="614441" y="325350"/>
                  </a:cubicBezTo>
                  <a:cubicBezTo>
                    <a:pt x="752743" y="528856"/>
                    <a:pt x="781319" y="787634"/>
                    <a:pt x="690753" y="1016413"/>
                  </a:cubicBezTo>
                  <a:close/>
                </a:path>
              </a:pathLst>
            </a:custGeom>
            <a:solidFill>
              <a:srgbClr val="69281B"/>
            </a:solidFill>
            <a:ln>
              <a:noFill/>
            </a:ln>
          </p:spPr>
        </p:sp>
        <p:sp>
          <p:nvSpPr>
            <p:cNvPr id="105" name="Freeform 105"/>
            <p:cNvSpPr/>
            <p:nvPr/>
          </p:nvSpPr>
          <p:spPr>
            <a:xfrm>
              <a:off x="9581198" y="1943100"/>
              <a:ext cx="920306" cy="827727"/>
            </a:xfrm>
            <a:custGeom>
              <a:avLst/>
              <a:gdLst/>
              <a:ahLst/>
              <a:cxnLst/>
              <a:rect l="l" t="t" r="r" b="b"/>
              <a:pathLst>
                <a:path w="920306" h="827727">
                  <a:moveTo>
                    <a:pt x="229553" y="0"/>
                  </a:moveTo>
                  <a:lnTo>
                    <a:pt x="920306" y="273463"/>
                  </a:lnTo>
                  <a:cubicBezTo>
                    <a:pt x="775931" y="638103"/>
                    <a:pt x="372997" y="827727"/>
                    <a:pt x="0" y="706564"/>
                  </a:cubicBezTo>
                  <a:close/>
                </a:path>
              </a:pathLst>
            </a:custGeom>
            <a:solidFill>
              <a:srgbClr val="9B3824"/>
            </a:solidFill>
            <a:ln>
              <a:noFill/>
            </a:ln>
          </p:spPr>
        </p:sp>
        <p:sp>
          <p:nvSpPr>
            <p:cNvPr id="106" name="Freeform 106"/>
            <p:cNvSpPr/>
            <p:nvPr/>
          </p:nvSpPr>
          <p:spPr>
            <a:xfrm>
              <a:off x="9104186" y="1943100"/>
              <a:ext cx="706564" cy="706565"/>
            </a:xfrm>
            <a:custGeom>
              <a:avLst/>
              <a:gdLst/>
              <a:ahLst/>
              <a:cxnLst/>
              <a:rect l="l" t="t" r="r" b="b"/>
              <a:pathLst>
                <a:path w="706564" h="706565">
                  <a:moveTo>
                    <a:pt x="706564" y="0"/>
                  </a:moveTo>
                  <a:lnTo>
                    <a:pt x="477012" y="706565"/>
                  </a:lnTo>
                  <a:cubicBezTo>
                    <a:pt x="250824" y="633074"/>
                    <a:pt x="73490" y="455740"/>
                    <a:pt x="0" y="229552"/>
                  </a:cubicBezTo>
                  <a:close/>
                </a:path>
              </a:pathLst>
            </a:custGeom>
            <a:solidFill>
              <a:srgbClr val="E04C2E"/>
            </a:solidFill>
            <a:ln>
              <a:noFill/>
            </a:ln>
          </p:spPr>
        </p:sp>
        <p:sp>
          <p:nvSpPr>
            <p:cNvPr id="107" name="Freeform 107"/>
            <p:cNvSpPr/>
            <p:nvPr/>
          </p:nvSpPr>
          <p:spPr>
            <a:xfrm>
              <a:off x="9045784" y="1626775"/>
              <a:ext cx="764966" cy="545878"/>
            </a:xfrm>
            <a:custGeom>
              <a:avLst/>
              <a:gdLst/>
              <a:ahLst/>
              <a:cxnLst/>
              <a:rect l="l" t="t" r="r" b="b"/>
              <a:pathLst>
                <a:path w="764966" h="545878">
                  <a:moveTo>
                    <a:pt x="764966" y="316325"/>
                  </a:moveTo>
                  <a:lnTo>
                    <a:pt x="58401" y="545878"/>
                  </a:lnTo>
                  <a:cubicBezTo>
                    <a:pt x="0" y="366178"/>
                    <a:pt x="12262" y="170979"/>
                    <a:pt x="92691" y="0"/>
                  </a:cubicBezTo>
                  <a:close/>
                </a:path>
              </a:pathLst>
            </a:custGeom>
            <a:solidFill>
              <a:srgbClr val="E8654A"/>
            </a:solidFill>
            <a:ln>
              <a:noFill/>
            </a:ln>
          </p:spPr>
        </p:sp>
        <p:sp>
          <p:nvSpPr>
            <p:cNvPr id="108" name="Freeform 108"/>
            <p:cNvSpPr/>
            <p:nvPr/>
          </p:nvSpPr>
          <p:spPr>
            <a:xfrm>
              <a:off x="9138476" y="1292066"/>
              <a:ext cx="672275" cy="651034"/>
            </a:xfrm>
            <a:custGeom>
              <a:avLst/>
              <a:gdLst/>
              <a:ahLst/>
              <a:cxnLst/>
              <a:rect l="l" t="t" r="r" b="b"/>
              <a:pathLst>
                <a:path w="672275" h="651034">
                  <a:moveTo>
                    <a:pt x="672275" y="651034"/>
                  </a:moveTo>
                  <a:lnTo>
                    <a:pt x="0" y="334708"/>
                  </a:lnTo>
                  <a:cubicBezTo>
                    <a:pt x="66805" y="192749"/>
                    <a:pt x="176837" y="75582"/>
                    <a:pt x="314325" y="0"/>
                  </a:cubicBezTo>
                  <a:close/>
                </a:path>
              </a:pathLst>
            </a:custGeom>
            <a:solidFill>
              <a:srgbClr val="DC9C8F"/>
            </a:solidFill>
            <a:ln>
              <a:noFill/>
            </a:ln>
          </p:spPr>
        </p:sp>
        <p:sp>
          <p:nvSpPr>
            <p:cNvPr id="109" name="Freeform 109"/>
            <p:cNvSpPr/>
            <p:nvPr/>
          </p:nvSpPr>
          <p:spPr>
            <a:xfrm>
              <a:off x="9452800" y="1200150"/>
              <a:ext cx="357950" cy="742950"/>
            </a:xfrm>
            <a:custGeom>
              <a:avLst/>
              <a:gdLst/>
              <a:ahLst/>
              <a:cxnLst/>
              <a:rect l="l" t="t" r="r" b="b"/>
              <a:pathLst>
                <a:path w="357950" h="742950">
                  <a:moveTo>
                    <a:pt x="357950" y="742950"/>
                  </a:moveTo>
                  <a:lnTo>
                    <a:pt x="0" y="91916"/>
                  </a:lnTo>
                  <a:cubicBezTo>
                    <a:pt x="109670" y="31617"/>
                    <a:pt x="232796" y="0"/>
                    <a:pt x="357950" y="0"/>
                  </a:cubicBezTo>
                  <a:close/>
                </a:path>
              </a:pathLst>
            </a:custGeom>
            <a:solidFill>
              <a:srgbClr val="C9D6E9"/>
            </a:solidFill>
            <a:ln>
              <a:noFill/>
            </a:ln>
          </p:spPr>
        </p:sp>
        <p:sp>
          <p:nvSpPr>
            <p:cNvPr id="110" name="TextBox 110"/>
            <p:cNvSpPr txBox="1"/>
            <p:nvPr/>
          </p:nvSpPr>
          <p:spPr>
            <a:xfrm>
              <a:off x="10062512" y="1629489"/>
              <a:ext cx="27752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31%​</a:t>
              </a:r>
            </a:p>
          </p:txBody>
        </p:sp>
        <p:sp>
          <p:nvSpPr>
            <p:cNvPr id="111" name="TextBox 111"/>
            <p:cNvSpPr txBox="1"/>
            <p:nvPr/>
          </p:nvSpPr>
          <p:spPr>
            <a:xfrm>
              <a:off x="9878797" y="2328862"/>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24%​</a:t>
              </a:r>
            </a:p>
          </p:txBody>
        </p:sp>
        <p:sp>
          <p:nvSpPr>
            <p:cNvPr id="112" name="TextBox 112"/>
            <p:cNvSpPr txBox="1"/>
            <p:nvPr/>
          </p:nvSpPr>
          <p:spPr>
            <a:xfrm>
              <a:off x="9352181" y="2237661"/>
              <a:ext cx="25038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15%​</a:t>
              </a:r>
            </a:p>
          </p:txBody>
        </p:sp>
        <p:sp>
          <p:nvSpPr>
            <p:cNvPr id="113" name="TextBox 113"/>
            <p:cNvSpPr txBox="1"/>
            <p:nvPr/>
          </p:nvSpPr>
          <p:spPr>
            <a:xfrm>
              <a:off x="9209306" y="1875711"/>
              <a:ext cx="25038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12%​</a:t>
              </a:r>
            </a:p>
          </p:txBody>
        </p:sp>
        <p:sp>
          <p:nvSpPr>
            <p:cNvPr id="114" name="TextBox 114"/>
            <p:cNvSpPr txBox="1"/>
            <p:nvPr/>
          </p:nvSpPr>
          <p:spPr>
            <a:xfrm>
              <a:off x="9347745" y="1584484"/>
              <a:ext cx="240210" cy="133350"/>
            </a:xfrm>
            <a:prstGeom prst="rect">
              <a:avLst/>
            </a:prstGeom>
            <a:noFill/>
            <a:ln>
              <a:noFill/>
            </a:ln>
          </p:spPr>
          <p:txBody>
            <a:bodyPr wrap="none" lIns="0" tIns="0" rIns="0" bIns="0" anchor="t" anchorCtr="0">
              <a:spAutoFit/>
            </a:bodyPr>
            <a:lstStyle/>
            <a:p>
              <a:pPr algn="ctr"/>
              <a:r>
                <a:rPr lang="zh-CN" sz="680" b="1" dirty="0">
                  <a:solidFill>
                    <a:srgbClr val="5C2216"/>
                  </a:solidFill>
                  <a:latin typeface="+mn-lt"/>
                  <a:ea typeface="+mn-ea"/>
                  <a:cs typeface="+mn-cs"/>
                </a:rPr>
                <a:t>10%​</a:t>
              </a:r>
            </a:p>
          </p:txBody>
        </p:sp>
        <p:sp>
          <p:nvSpPr>
            <p:cNvPr id="115" name="TextBox 115"/>
            <p:cNvSpPr txBox="1"/>
            <p:nvPr/>
          </p:nvSpPr>
          <p:spPr>
            <a:xfrm>
              <a:off x="9602778" y="1451134"/>
              <a:ext cx="187345" cy="133350"/>
            </a:xfrm>
            <a:prstGeom prst="rect">
              <a:avLst/>
            </a:prstGeom>
            <a:noFill/>
            <a:ln>
              <a:noFill/>
            </a:ln>
          </p:spPr>
          <p:txBody>
            <a:bodyPr wrap="none" lIns="0" tIns="0" rIns="0" bIns="0" anchor="t" anchorCtr="0">
              <a:spAutoFit/>
            </a:bodyPr>
            <a:lstStyle/>
            <a:p>
              <a:pPr algn="ctr"/>
              <a:r>
                <a:rPr lang="zh-CN" sz="680" b="1" dirty="0">
                  <a:solidFill>
                    <a:srgbClr val="5C2216"/>
                  </a:solidFill>
                  <a:latin typeface="+mn-lt"/>
                  <a:ea typeface="+mn-ea"/>
                  <a:cs typeface="+mn-cs"/>
                </a:rPr>
                <a:t>8%​</a:t>
              </a:r>
            </a:p>
          </p:txBody>
        </p:sp>
        <p:sp>
          <p:nvSpPr>
            <p:cNvPr id="116" name="Rectangle 116"/>
            <p:cNvSpPr/>
            <p:nvPr/>
          </p:nvSpPr>
          <p:spPr>
            <a:xfrm>
              <a:off x="9086850" y="2790825"/>
              <a:ext cx="95250" cy="95250"/>
            </a:xfrm>
            <a:prstGeom prst="rect">
              <a:avLst/>
            </a:prstGeom>
            <a:solidFill>
              <a:srgbClr val="69281B"/>
            </a:solidFill>
            <a:ln>
              <a:noFill/>
            </a:ln>
          </p:spPr>
        </p:sp>
        <p:sp>
          <p:nvSpPr>
            <p:cNvPr id="117" name="TextBox 117"/>
            <p:cNvSpPr txBox="1"/>
            <p:nvPr/>
          </p:nvSpPr>
          <p:spPr>
            <a:xfrm>
              <a:off x="9234488" y="2799636"/>
              <a:ext cx="554332"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制造业 31%​</a:t>
              </a:r>
            </a:p>
          </p:txBody>
        </p:sp>
        <p:sp>
          <p:nvSpPr>
            <p:cNvPr id="118" name="Rectangle 118"/>
            <p:cNvSpPr/>
            <p:nvPr/>
          </p:nvSpPr>
          <p:spPr>
            <a:xfrm>
              <a:off x="10382250" y="2790825"/>
              <a:ext cx="95250" cy="95250"/>
            </a:xfrm>
            <a:prstGeom prst="rect">
              <a:avLst/>
            </a:prstGeom>
            <a:solidFill>
              <a:srgbClr val="9B3824"/>
            </a:solidFill>
            <a:ln>
              <a:noFill/>
            </a:ln>
          </p:spPr>
        </p:sp>
        <p:sp>
          <p:nvSpPr>
            <p:cNvPr id="119" name="TextBox 119"/>
            <p:cNvSpPr txBox="1"/>
            <p:nvPr/>
          </p:nvSpPr>
          <p:spPr>
            <a:xfrm>
              <a:off x="10529888" y="2799636"/>
              <a:ext cx="649912"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商贸服务 24%​</a:t>
              </a:r>
            </a:p>
          </p:txBody>
        </p:sp>
        <p:sp>
          <p:nvSpPr>
            <p:cNvPr id="120" name="Rectangle 120"/>
            <p:cNvSpPr/>
            <p:nvPr/>
          </p:nvSpPr>
          <p:spPr>
            <a:xfrm>
              <a:off x="9086850" y="2943225"/>
              <a:ext cx="95250" cy="95250"/>
            </a:xfrm>
            <a:prstGeom prst="rect">
              <a:avLst/>
            </a:prstGeom>
            <a:solidFill>
              <a:srgbClr val="E04C2E"/>
            </a:solidFill>
            <a:ln>
              <a:noFill/>
            </a:ln>
          </p:spPr>
        </p:sp>
        <p:sp>
          <p:nvSpPr>
            <p:cNvPr id="121" name="TextBox 121"/>
            <p:cNvSpPr txBox="1"/>
            <p:nvPr/>
          </p:nvSpPr>
          <p:spPr>
            <a:xfrm>
              <a:off x="9234488" y="2952036"/>
              <a:ext cx="554332"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房地产 15%​</a:t>
              </a:r>
            </a:p>
          </p:txBody>
        </p:sp>
        <p:sp>
          <p:nvSpPr>
            <p:cNvPr id="122" name="Rectangle 122"/>
            <p:cNvSpPr/>
            <p:nvPr/>
          </p:nvSpPr>
          <p:spPr>
            <a:xfrm>
              <a:off x="10382250" y="2943225"/>
              <a:ext cx="95250" cy="95250"/>
            </a:xfrm>
            <a:prstGeom prst="rect">
              <a:avLst/>
            </a:prstGeom>
            <a:solidFill>
              <a:srgbClr val="E8654A"/>
            </a:solidFill>
            <a:ln>
              <a:noFill/>
            </a:ln>
          </p:spPr>
        </p:sp>
        <p:sp>
          <p:nvSpPr>
            <p:cNvPr id="123" name="TextBox 123"/>
            <p:cNvSpPr txBox="1"/>
            <p:nvPr/>
          </p:nvSpPr>
          <p:spPr>
            <a:xfrm>
              <a:off x="10529888" y="2952036"/>
              <a:ext cx="649912"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科技企业 12%​</a:t>
              </a:r>
            </a:p>
          </p:txBody>
        </p:sp>
        <p:sp>
          <p:nvSpPr>
            <p:cNvPr id="124" name="Rectangle 124"/>
            <p:cNvSpPr/>
            <p:nvPr/>
          </p:nvSpPr>
          <p:spPr>
            <a:xfrm>
              <a:off x="9086850" y="3095625"/>
              <a:ext cx="95250" cy="95250"/>
            </a:xfrm>
            <a:prstGeom prst="rect">
              <a:avLst/>
            </a:prstGeom>
            <a:solidFill>
              <a:srgbClr val="DC9C8F"/>
            </a:solidFill>
            <a:ln>
              <a:noFill/>
            </a:ln>
          </p:spPr>
        </p:sp>
        <p:sp>
          <p:nvSpPr>
            <p:cNvPr id="125" name="TextBox 125"/>
            <p:cNvSpPr txBox="1"/>
            <p:nvPr/>
          </p:nvSpPr>
          <p:spPr>
            <a:xfrm>
              <a:off x="9234488" y="3104436"/>
              <a:ext cx="649912"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公共机构 10%​</a:t>
              </a:r>
            </a:p>
          </p:txBody>
        </p:sp>
        <p:sp>
          <p:nvSpPr>
            <p:cNvPr id="126" name="Rectangle 126"/>
            <p:cNvSpPr/>
            <p:nvPr/>
          </p:nvSpPr>
          <p:spPr>
            <a:xfrm>
              <a:off x="10382250" y="3095625"/>
              <a:ext cx="95250" cy="95250"/>
            </a:xfrm>
            <a:prstGeom prst="rect">
              <a:avLst/>
            </a:prstGeom>
            <a:solidFill>
              <a:srgbClr val="C9D6E9"/>
            </a:solidFill>
            <a:ln>
              <a:noFill/>
            </a:ln>
          </p:spPr>
        </p:sp>
        <p:sp>
          <p:nvSpPr>
            <p:cNvPr id="127" name="TextBox 127"/>
            <p:cNvSpPr txBox="1"/>
            <p:nvPr/>
          </p:nvSpPr>
          <p:spPr>
            <a:xfrm>
              <a:off x="10529888" y="3104436"/>
              <a:ext cx="406183"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其他 8%​</a:t>
              </a:r>
            </a:p>
          </p:txBody>
        </p:sp>
      </p:grpSp>
      <p:grpSp>
        <p:nvGrpSpPr>
          <p:cNvPr id="179" name="matrix-table"/>
          <p:cNvGrpSpPr/>
          <p:nvPr/>
        </p:nvGrpSpPr>
        <p:grpSpPr>
          <a:xfrm>
            <a:off x="228600" y="3352800"/>
            <a:ext cx="7239000" cy="3314700"/>
            <a:chOff x="228600" y="3352800"/>
            <a:chExt cx="7239000" cy="3314700"/>
          </a:xfrm>
        </p:grpSpPr>
        <p:sp>
          <p:nvSpPr>
            <p:cNvPr id="129" name="Rectangle 129"/>
            <p:cNvSpPr/>
            <p:nvPr/>
          </p:nvSpPr>
          <p:spPr>
            <a:xfrm>
              <a:off x="228600" y="3352800"/>
              <a:ext cx="7239000" cy="3314700"/>
            </a:xfrm>
            <a:prstGeom prst="roundRect">
              <a:avLst>
                <a:gd name="adj" fmla="val 1724"/>
              </a:avLst>
            </a:prstGeom>
            <a:solidFill>
              <a:srgbClr val="FFFFFF"/>
            </a:solidFill>
            <a:ln w="9525">
              <a:solidFill>
                <a:srgbClr val="C9D6E9"/>
              </a:solidFill>
            </a:ln>
          </p:spPr>
        </p:sp>
        <p:sp>
          <p:nvSpPr>
            <p:cNvPr id="130" name="Rectangle 130"/>
            <p:cNvSpPr/>
            <p:nvPr/>
          </p:nvSpPr>
          <p:spPr>
            <a:xfrm>
              <a:off x="228600" y="3352800"/>
              <a:ext cx="7239000" cy="247650"/>
            </a:xfrm>
            <a:prstGeom prst="roundRect">
              <a:avLst>
                <a:gd name="adj" fmla="val 23077"/>
              </a:avLst>
            </a:prstGeom>
            <a:solidFill>
              <a:srgbClr val="69281B"/>
            </a:solidFill>
            <a:ln>
              <a:noFill/>
            </a:ln>
          </p:spPr>
        </p:sp>
        <p:sp>
          <p:nvSpPr>
            <p:cNvPr id="131" name="Rectangle 131"/>
            <p:cNvSpPr/>
            <p:nvPr/>
          </p:nvSpPr>
          <p:spPr>
            <a:xfrm>
              <a:off x="228600" y="3505200"/>
              <a:ext cx="7239000" cy="95250"/>
            </a:xfrm>
            <a:prstGeom prst="rect">
              <a:avLst/>
            </a:prstGeom>
            <a:solidFill>
              <a:srgbClr val="69281B"/>
            </a:solidFill>
            <a:ln>
              <a:noFill/>
            </a:ln>
          </p:spPr>
        </p:sp>
        <p:sp>
          <p:nvSpPr>
            <p:cNvPr id="132" name="TextBox 132"/>
            <p:cNvSpPr txBox="1"/>
            <p:nvPr/>
          </p:nvSpPr>
          <p:spPr>
            <a:xfrm>
              <a:off x="3463709" y="342304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客户经营矩阵</a:t>
              </a:r>
            </a:p>
          </p:txBody>
        </p:sp>
        <p:sp>
          <p:nvSpPr>
            <p:cNvPr id="133" name="Rectangle 133"/>
            <p:cNvSpPr/>
            <p:nvPr/>
          </p:nvSpPr>
          <p:spPr>
            <a:xfrm>
              <a:off x="342900" y="3600450"/>
              <a:ext cx="7010400" cy="285750"/>
            </a:xfrm>
            <a:prstGeom prst="rect">
              <a:avLst/>
            </a:prstGeom>
            <a:solidFill>
              <a:srgbClr val="EAF1FB"/>
            </a:solidFill>
            <a:ln>
              <a:noFill/>
            </a:ln>
          </p:spPr>
        </p:sp>
        <p:sp>
          <p:nvSpPr>
            <p:cNvPr id="134" name="TextBox 134"/>
            <p:cNvSpPr txBox="1"/>
            <p:nvPr/>
          </p:nvSpPr>
          <p:spPr>
            <a:xfrm>
              <a:off x="414338" y="370998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客户层级</a:t>
              </a:r>
            </a:p>
          </p:txBody>
        </p:sp>
        <p:sp>
          <p:nvSpPr>
            <p:cNvPr id="135" name="TextBox 135"/>
            <p:cNvSpPr txBox="1"/>
            <p:nvPr/>
          </p:nvSpPr>
          <p:spPr>
            <a:xfrm>
              <a:off x="1020128" y="3709988"/>
              <a:ext cx="81724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维护频次（建议）</a:t>
              </a:r>
            </a:p>
          </p:txBody>
        </p:sp>
        <p:sp>
          <p:nvSpPr>
            <p:cNvPr id="136" name="TextBox 136"/>
            <p:cNvSpPr txBox="1"/>
            <p:nvPr/>
          </p:nvSpPr>
          <p:spPr>
            <a:xfrm>
              <a:off x="2314575" y="3709988"/>
              <a:ext cx="514350"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主办责任人</a:t>
              </a:r>
            </a:p>
          </p:txBody>
        </p:sp>
        <p:sp>
          <p:nvSpPr>
            <p:cNvPr id="137" name="TextBox 137"/>
            <p:cNvSpPr txBox="1"/>
            <p:nvPr/>
          </p:nvSpPr>
          <p:spPr>
            <a:xfrm>
              <a:off x="3896678" y="3709988"/>
              <a:ext cx="81724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产品组合（示例）</a:t>
              </a:r>
            </a:p>
          </p:txBody>
        </p:sp>
        <p:sp>
          <p:nvSpPr>
            <p:cNvPr id="138" name="TextBox 138"/>
            <p:cNvSpPr txBox="1"/>
            <p:nvPr/>
          </p:nvSpPr>
          <p:spPr>
            <a:xfrm>
              <a:off x="5459694" y="3709988"/>
              <a:ext cx="1310711"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目标提升（2026年下半年）​</a:t>
              </a:r>
            </a:p>
          </p:txBody>
        </p:sp>
        <p:sp>
          <p:nvSpPr>
            <p:cNvPr id="139" name="Freeform 139"/>
            <p:cNvSpPr/>
            <p:nvPr/>
          </p:nvSpPr>
          <p:spPr>
            <a:xfrm>
              <a:off x="416719" y="3995737"/>
              <a:ext cx="100012" cy="66675"/>
            </a:xfrm>
            <a:custGeom>
              <a:avLst/>
              <a:gdLst/>
              <a:ahLst/>
              <a:cxnLst/>
              <a:rect l="l" t="t" r="r" b="b"/>
              <a:pathLst>
                <a:path w="100012" h="66675">
                  <a:moveTo>
                    <a:pt x="50006" y="0"/>
                  </a:moveTo>
                  <a:lnTo>
                    <a:pt x="72231" y="33337"/>
                  </a:lnTo>
                  <a:lnTo>
                    <a:pt x="100012" y="11112"/>
                  </a:lnTo>
                  <a:lnTo>
                    <a:pt x="88900" y="66675"/>
                  </a:lnTo>
                  <a:lnTo>
                    <a:pt x="11112" y="66675"/>
                  </a:lnTo>
                  <a:lnTo>
                    <a:pt x="0" y="11112"/>
                  </a:lnTo>
                  <a:lnTo>
                    <a:pt x="27781" y="33337"/>
                  </a:lnTo>
                  <a:lnTo>
                    <a:pt x="50006" y="0"/>
                  </a:lnTo>
                </a:path>
              </a:pathLst>
            </a:custGeom>
            <a:noFill/>
            <a:ln w="11112">
              <a:solidFill>
                <a:srgbClr val="D83013"/>
              </a:solidFill>
            </a:ln>
          </p:spPr>
        </p:sp>
        <p:sp>
          <p:nvSpPr>
            <p:cNvPr id="140" name="TextBox 140"/>
            <p:cNvSpPr txBox="1"/>
            <p:nvPr/>
          </p:nvSpPr>
          <p:spPr>
            <a:xfrm>
              <a:off x="585788" y="3982164"/>
              <a:ext cx="434924" cy="154781"/>
            </a:xfrm>
            <a:prstGeom prst="rect">
              <a:avLst/>
            </a:prstGeom>
            <a:noFill/>
            <a:ln>
              <a:noFill/>
            </a:ln>
          </p:spPr>
          <p:txBody>
            <a:bodyPr wrap="none" lIns="0" tIns="0" rIns="0" bIns="0" anchor="t" anchorCtr="0">
              <a:spAutoFit/>
            </a:bodyPr>
            <a:lstStyle/>
            <a:p>
              <a:pPr algn="l"/>
              <a:r>
                <a:rPr lang="zh-CN" sz="790" b="1" dirty="0">
                  <a:solidFill>
                    <a:srgbClr val="5F3A33"/>
                  </a:solidFill>
                  <a:latin typeface="+mn-lt"/>
                  <a:ea typeface="+mn-ea"/>
                  <a:cs typeface="+mn-cs"/>
                </a:rPr>
                <a:t>战略客户</a:t>
              </a:r>
            </a:p>
          </p:txBody>
        </p:sp>
        <p:sp>
          <p:nvSpPr>
            <p:cNvPr id="141" name="TextBox 141"/>
            <p:cNvSpPr txBox="1"/>
            <p:nvPr/>
          </p:nvSpPr>
          <p:spPr>
            <a:xfrm>
              <a:off x="1120150" y="3987832"/>
              <a:ext cx="617200" cy="144780"/>
            </a:xfrm>
            <a:prstGeom prst="rect">
              <a:avLst/>
            </a:prstGeom>
            <a:noFill/>
            <a:ln>
              <a:noFill/>
            </a:ln>
          </p:spPr>
          <p:txBody>
            <a:bodyPr wrap="none" lIns="0" tIns="0" rIns="0" bIns="0" anchor="t" anchorCtr="0">
              <a:spAutoFit/>
            </a:bodyPr>
            <a:lstStyle/>
            <a:p>
              <a:pPr algn="ctr"/>
              <a:r>
                <a:rPr lang="zh-CN" sz="740" dirty="0">
                  <a:solidFill>
                    <a:srgbClr val="5F3A33"/>
                  </a:solidFill>
                  <a:latin typeface="+mn-lt"/>
                  <a:ea typeface="+mn-ea"/>
                  <a:cs typeface="+mn-cs"/>
                </a:rPr>
                <a:t>每月至少2次​</a:t>
              </a:r>
            </a:p>
          </p:txBody>
        </p:sp>
        <p:sp>
          <p:nvSpPr>
            <p:cNvPr id="142" name="TextBox 142"/>
            <p:cNvSpPr txBox="1"/>
            <p:nvPr/>
          </p:nvSpPr>
          <p:spPr>
            <a:xfrm>
              <a:off x="2197798" y="3937159"/>
              <a:ext cx="747903"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70504A"/>
                  </a:solidFill>
                  <a:latin typeface="+mn-lt"/>
                  <a:ea typeface="+mn-ea"/>
                  <a:cs typeface="+mn-cs"/>
                </a:rPr>
                <a:t>总行/分行公司部</a:t>
              </a:r>
              <a:br/>
              <a:r>
                <a:rPr lang="zh-CN" sz="680" dirty="0">
                  <a:solidFill>
                    <a:srgbClr val="70504A"/>
                  </a:solidFill>
                  <a:latin typeface="+mn-lt"/>
                  <a:ea typeface="+mn-ea"/>
                  <a:cs typeface="+mn-cs"/>
                </a:rPr>
                <a:t>客户经理+产品经理</a:t>
              </a:r>
            </a:p>
          </p:txBody>
        </p:sp>
        <p:sp>
          <p:nvSpPr>
            <p:cNvPr id="143" name="TextBox 143"/>
            <p:cNvSpPr txBox="1"/>
            <p:nvPr/>
          </p:nvSpPr>
          <p:spPr>
            <a:xfrm>
              <a:off x="3652838" y="3938778"/>
              <a:ext cx="1237488" cy="254318"/>
            </a:xfrm>
            <a:prstGeom prst="rect">
              <a:avLst/>
            </a:prstGeom>
            <a:noFill/>
            <a:ln>
              <a:noFill/>
            </a:ln>
          </p:spPr>
          <p:txBody>
            <a:bodyPr wrap="none" lIns="0" tIns="0" rIns="0" bIns="0" anchor="t" anchorCtr="0">
              <a:spAutoFit/>
            </a:bodyPr>
            <a:lstStyle/>
            <a:p>
              <a:pPr algn="l">
                <a:lnSpc>
                  <a:spcPts val="975"/>
                </a:lnSpc>
              </a:pPr>
              <a:r>
                <a:rPr lang="zh-CN" sz="660" dirty="0">
                  <a:solidFill>
                    <a:srgbClr val="70504A"/>
                  </a:solidFill>
                  <a:latin typeface="+mn-lt"/>
                  <a:ea typeface="+mn-ea"/>
                  <a:cs typeface="+mn-cs"/>
                </a:rPr>
                <a:t>投行+现金管理+供应链+跨境服务</a:t>
              </a:r>
              <a:br/>
              <a:r>
                <a:rPr lang="zh-CN" sz="660" dirty="0">
                  <a:solidFill>
                    <a:srgbClr val="70504A"/>
                  </a:solidFill>
                  <a:latin typeface="+mn-lt"/>
                  <a:ea typeface="+mn-ea"/>
                  <a:cs typeface="+mn-cs"/>
                </a:rPr>
                <a:t>+境内外联动综合方案</a:t>
              </a:r>
            </a:p>
          </p:txBody>
        </p:sp>
        <p:sp>
          <p:nvSpPr>
            <p:cNvPr id="144" name="TextBox 144"/>
            <p:cNvSpPr txBox="1"/>
            <p:nvPr/>
          </p:nvSpPr>
          <p:spPr>
            <a:xfrm>
              <a:off x="5443538" y="3938778"/>
              <a:ext cx="1266825" cy="254318"/>
            </a:xfrm>
            <a:prstGeom prst="rect">
              <a:avLst/>
            </a:prstGeom>
            <a:noFill/>
            <a:ln>
              <a:noFill/>
            </a:ln>
          </p:spPr>
          <p:txBody>
            <a:bodyPr wrap="none" lIns="0" tIns="0" rIns="0" bIns="0" anchor="t" anchorCtr="0">
              <a:spAutoFit/>
            </a:bodyPr>
            <a:lstStyle/>
            <a:p>
              <a:pPr algn="l">
                <a:lnSpc>
                  <a:spcPts val="975"/>
                </a:lnSpc>
              </a:pPr>
              <a:r>
                <a:rPr lang="zh-CN" sz="660" dirty="0">
                  <a:solidFill>
                    <a:srgbClr val="70504A"/>
                  </a:solidFill>
                  <a:latin typeface="+mn-lt"/>
                  <a:ea typeface="+mn-ea"/>
                  <a:cs typeface="+mn-cs"/>
                </a:rPr>
                <a:t>深化综合服务，提升非息收入贡献</a:t>
              </a:r>
              <a:br/>
              <a:r>
                <a:rPr lang="zh-CN" sz="660" dirty="0">
                  <a:solidFill>
                    <a:srgbClr val="70504A"/>
                  </a:solidFill>
                  <a:latin typeface="+mn-lt"/>
                  <a:ea typeface="+mn-ea"/>
                  <a:cs typeface="+mn-cs"/>
                </a:rPr>
                <a:t>度，打造标杆客户</a:t>
              </a:r>
            </a:p>
          </p:txBody>
        </p:sp>
        <p:sp>
          <p:nvSpPr>
            <p:cNvPr id="145" name="Line 145"/>
            <p:cNvSpPr/>
            <p:nvPr/>
          </p:nvSpPr>
          <p:spPr>
            <a:xfrm>
              <a:off x="342900" y="4343400"/>
              <a:ext cx="7010400" cy="9525"/>
            </a:xfrm>
            <a:custGeom>
              <a:avLst/>
              <a:gdLst/>
              <a:ahLst/>
              <a:cxnLst/>
              <a:rect l="l" t="t" r="r" b="b"/>
              <a:pathLst>
                <a:path w="7010400" h="9525">
                  <a:moveTo>
                    <a:pt x="0" y="0"/>
                  </a:moveTo>
                  <a:lnTo>
                    <a:pt x="7010400" y="0"/>
                  </a:lnTo>
                </a:path>
              </a:pathLst>
            </a:custGeom>
            <a:noFill/>
            <a:ln w="9525">
              <a:solidFill>
                <a:srgbClr val="EDF2FA"/>
              </a:solidFill>
            </a:ln>
          </p:spPr>
        </p:sp>
        <p:grpSp>
          <p:nvGrpSpPr>
            <p:cNvPr id="149" name="Group 149"/>
            <p:cNvGrpSpPr/>
            <p:nvPr/>
          </p:nvGrpSpPr>
          <p:grpSpPr>
            <a:xfrm>
              <a:off x="418952" y="4436269"/>
              <a:ext cx="95534" cy="99401"/>
              <a:chOff x="418952" y="4436269"/>
              <a:chExt cx="95534" cy="99401"/>
            </a:xfrm>
          </p:grpSpPr>
          <p:sp>
            <p:nvSpPr>
              <p:cNvPr id="146" name="Freeform 146"/>
              <p:cNvSpPr/>
              <p:nvPr/>
            </p:nvSpPr>
            <p:spPr>
              <a:xfrm>
                <a:off x="433387" y="4436269"/>
                <a:ext cx="66675" cy="66675"/>
              </a:xfrm>
              <a:custGeom>
                <a:avLst/>
                <a:gdLst/>
                <a:ahLst/>
                <a:cxnLst/>
                <a:rect l="l" t="t" r="r" b="b"/>
                <a:pathLst>
                  <a:path w="66675" h="66675">
                    <a:moveTo>
                      <a:pt x="0" y="33337"/>
                    </a:moveTo>
                    <a:cubicBezTo>
                      <a:pt x="0" y="51749"/>
                      <a:pt x="14926" y="66675"/>
                      <a:pt x="33337" y="66675"/>
                    </a:cubicBezTo>
                    <a:cubicBezTo>
                      <a:pt x="51749" y="66675"/>
                      <a:pt x="66675" y="51749"/>
                      <a:pt x="66675" y="33337"/>
                    </a:cubicBezTo>
                    <a:cubicBezTo>
                      <a:pt x="66675" y="14926"/>
                      <a:pt x="51749" y="0"/>
                      <a:pt x="33337" y="0"/>
                    </a:cubicBezTo>
                    <a:cubicBezTo>
                      <a:pt x="14926" y="0"/>
                      <a:pt x="0" y="14926"/>
                      <a:pt x="0" y="33337"/>
                    </a:cubicBezTo>
                  </a:path>
                </a:pathLst>
              </a:custGeom>
              <a:noFill/>
              <a:ln w="11112">
                <a:solidFill>
                  <a:srgbClr val="E04C2E"/>
                </a:solidFill>
              </a:ln>
            </p:spPr>
          </p:sp>
          <p:sp>
            <p:nvSpPr>
              <p:cNvPr id="147" name="Freeform 147"/>
              <p:cNvSpPr/>
              <p:nvPr/>
            </p:nvSpPr>
            <p:spPr>
              <a:xfrm>
                <a:off x="466725" y="4486275"/>
                <a:ext cx="47761" cy="49395"/>
              </a:xfrm>
              <a:custGeom>
                <a:avLst/>
                <a:gdLst/>
                <a:ahLst/>
                <a:cxnLst/>
                <a:rect l="l" t="t" r="r" b="b"/>
                <a:pathLst>
                  <a:path w="47761" h="49395">
                    <a:moveTo>
                      <a:pt x="0" y="16669"/>
                    </a:moveTo>
                    <a:lnTo>
                      <a:pt x="18891" y="49395"/>
                    </a:lnTo>
                    <a:lnTo>
                      <a:pt x="27770" y="31432"/>
                    </a:lnTo>
                    <a:lnTo>
                      <a:pt x="47761" y="32721"/>
                    </a:lnTo>
                    <a:lnTo>
                      <a:pt x="28870" y="0"/>
                    </a:lnTo>
                  </a:path>
                </a:pathLst>
              </a:custGeom>
              <a:noFill/>
              <a:ln w="11112">
                <a:solidFill>
                  <a:srgbClr val="E04C2E"/>
                </a:solidFill>
              </a:ln>
            </p:spPr>
          </p:sp>
          <p:sp>
            <p:nvSpPr>
              <p:cNvPr id="148" name="Freeform 148"/>
              <p:cNvSpPr/>
              <p:nvPr/>
            </p:nvSpPr>
            <p:spPr>
              <a:xfrm>
                <a:off x="418952" y="4486275"/>
                <a:ext cx="47761" cy="49389"/>
              </a:xfrm>
              <a:custGeom>
                <a:avLst/>
                <a:gdLst/>
                <a:ahLst/>
                <a:cxnLst/>
                <a:rect l="l" t="t" r="r" b="b"/>
                <a:pathLst>
                  <a:path w="47761" h="49389">
                    <a:moveTo>
                      <a:pt x="18891" y="0"/>
                    </a:moveTo>
                    <a:lnTo>
                      <a:pt x="0" y="32726"/>
                    </a:lnTo>
                    <a:lnTo>
                      <a:pt x="19991" y="31432"/>
                    </a:lnTo>
                    <a:lnTo>
                      <a:pt x="28870" y="49389"/>
                    </a:lnTo>
                    <a:lnTo>
                      <a:pt x="47761" y="16669"/>
                    </a:lnTo>
                  </a:path>
                </a:pathLst>
              </a:custGeom>
              <a:noFill/>
              <a:ln w="11112">
                <a:solidFill>
                  <a:srgbClr val="E04C2E"/>
                </a:solidFill>
              </a:ln>
            </p:spPr>
          </p:sp>
        </p:grpSp>
        <p:sp>
          <p:nvSpPr>
            <p:cNvPr id="150" name="TextBox 150"/>
            <p:cNvSpPr txBox="1"/>
            <p:nvPr/>
          </p:nvSpPr>
          <p:spPr>
            <a:xfrm>
              <a:off x="585788" y="4439364"/>
              <a:ext cx="434924" cy="154781"/>
            </a:xfrm>
            <a:prstGeom prst="rect">
              <a:avLst/>
            </a:prstGeom>
            <a:noFill/>
            <a:ln>
              <a:noFill/>
            </a:ln>
          </p:spPr>
          <p:txBody>
            <a:bodyPr wrap="none" lIns="0" tIns="0" rIns="0" bIns="0" anchor="t" anchorCtr="0">
              <a:spAutoFit/>
            </a:bodyPr>
            <a:lstStyle/>
            <a:p>
              <a:pPr algn="l"/>
              <a:r>
                <a:rPr lang="zh-CN" sz="790" b="1" dirty="0">
                  <a:solidFill>
                    <a:srgbClr val="5F3A33"/>
                  </a:solidFill>
                  <a:latin typeface="+mn-lt"/>
                  <a:ea typeface="+mn-ea"/>
                  <a:cs typeface="+mn-cs"/>
                </a:rPr>
                <a:t>重点客户</a:t>
              </a:r>
            </a:p>
          </p:txBody>
        </p:sp>
        <p:sp>
          <p:nvSpPr>
            <p:cNvPr id="151" name="TextBox 151"/>
            <p:cNvSpPr txBox="1"/>
            <p:nvPr/>
          </p:nvSpPr>
          <p:spPr>
            <a:xfrm>
              <a:off x="1120150" y="4445032"/>
              <a:ext cx="617200" cy="144780"/>
            </a:xfrm>
            <a:prstGeom prst="rect">
              <a:avLst/>
            </a:prstGeom>
            <a:noFill/>
            <a:ln>
              <a:noFill/>
            </a:ln>
          </p:spPr>
          <p:txBody>
            <a:bodyPr wrap="none" lIns="0" tIns="0" rIns="0" bIns="0" anchor="t" anchorCtr="0">
              <a:spAutoFit/>
            </a:bodyPr>
            <a:lstStyle/>
            <a:p>
              <a:pPr algn="ctr"/>
              <a:r>
                <a:rPr lang="zh-CN" sz="740" dirty="0">
                  <a:solidFill>
                    <a:srgbClr val="5F3A33"/>
                  </a:solidFill>
                  <a:latin typeface="+mn-lt"/>
                  <a:ea typeface="+mn-ea"/>
                  <a:cs typeface="+mn-cs"/>
                </a:rPr>
                <a:t>每月至少1次​</a:t>
              </a:r>
            </a:p>
          </p:txBody>
        </p:sp>
        <p:sp>
          <p:nvSpPr>
            <p:cNvPr id="152" name="TextBox 152"/>
            <p:cNvSpPr txBox="1"/>
            <p:nvPr/>
          </p:nvSpPr>
          <p:spPr>
            <a:xfrm>
              <a:off x="2351088" y="4394359"/>
              <a:ext cx="441325"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70504A"/>
                  </a:solidFill>
                  <a:latin typeface="+mn-lt"/>
                  <a:ea typeface="+mn-ea"/>
                  <a:cs typeface="+mn-cs"/>
                </a:rPr>
                <a:t>分行公司部</a:t>
              </a:r>
              <a:br/>
              <a:r>
                <a:rPr lang="zh-CN" sz="680" dirty="0">
                  <a:solidFill>
                    <a:srgbClr val="70504A"/>
                  </a:solidFill>
                  <a:latin typeface="+mn-lt"/>
                  <a:ea typeface="+mn-ea"/>
                  <a:cs typeface="+mn-cs"/>
                </a:rPr>
                <a:t>客户经理</a:t>
              </a:r>
            </a:p>
          </p:txBody>
        </p:sp>
        <p:sp>
          <p:nvSpPr>
            <p:cNvPr id="153" name="TextBox 153"/>
            <p:cNvSpPr txBox="1"/>
            <p:nvPr/>
          </p:nvSpPr>
          <p:spPr>
            <a:xfrm>
              <a:off x="3652838" y="4395978"/>
              <a:ext cx="1153668" cy="254318"/>
            </a:xfrm>
            <a:prstGeom prst="rect">
              <a:avLst/>
            </a:prstGeom>
            <a:noFill/>
            <a:ln>
              <a:noFill/>
            </a:ln>
          </p:spPr>
          <p:txBody>
            <a:bodyPr wrap="none" lIns="0" tIns="0" rIns="0" bIns="0" anchor="t" anchorCtr="0">
              <a:spAutoFit/>
            </a:bodyPr>
            <a:lstStyle/>
            <a:p>
              <a:pPr algn="l">
                <a:lnSpc>
                  <a:spcPts val="975"/>
                </a:lnSpc>
              </a:pPr>
              <a:r>
                <a:rPr lang="zh-CN" sz="660" dirty="0">
                  <a:solidFill>
                    <a:srgbClr val="70504A"/>
                  </a:solidFill>
                  <a:latin typeface="+mn-lt"/>
                  <a:ea typeface="+mn-ea"/>
                  <a:cs typeface="+mn-cs"/>
                </a:rPr>
                <a:t>投行+现金管理+结算+贸易融资</a:t>
              </a:r>
              <a:br/>
              <a:r>
                <a:rPr lang="zh-CN" sz="660" dirty="0">
                  <a:solidFill>
                    <a:srgbClr val="70504A"/>
                  </a:solidFill>
                  <a:latin typeface="+mn-lt"/>
                  <a:ea typeface="+mn-ea"/>
                  <a:cs typeface="+mn-cs"/>
                </a:rPr>
                <a:t>+保险/票据</a:t>
              </a:r>
            </a:p>
          </p:txBody>
        </p:sp>
        <p:sp>
          <p:nvSpPr>
            <p:cNvPr id="154" name="TextBox 154"/>
            <p:cNvSpPr txBox="1"/>
            <p:nvPr/>
          </p:nvSpPr>
          <p:spPr>
            <a:xfrm>
              <a:off x="5443538" y="4395978"/>
              <a:ext cx="1183005" cy="254318"/>
            </a:xfrm>
            <a:prstGeom prst="rect">
              <a:avLst/>
            </a:prstGeom>
            <a:noFill/>
            <a:ln>
              <a:noFill/>
            </a:ln>
          </p:spPr>
          <p:txBody>
            <a:bodyPr wrap="none" lIns="0" tIns="0" rIns="0" bIns="0" anchor="t" anchorCtr="0">
              <a:spAutoFit/>
            </a:bodyPr>
            <a:lstStyle/>
            <a:p>
              <a:pPr algn="l">
                <a:lnSpc>
                  <a:spcPts val="975"/>
                </a:lnSpc>
              </a:pPr>
              <a:r>
                <a:rPr lang="zh-CN" sz="660" dirty="0">
                  <a:solidFill>
                    <a:srgbClr val="70504A"/>
                  </a:solidFill>
                  <a:latin typeface="+mn-lt"/>
                  <a:ea typeface="+mn-ea"/>
                  <a:cs typeface="+mn-cs"/>
                </a:rPr>
                <a:t>提升结算渗透率与授信使用率，</a:t>
              </a:r>
              <a:br/>
              <a:r>
                <a:rPr lang="zh-CN" sz="660" dirty="0">
                  <a:solidFill>
                    <a:srgbClr val="70504A"/>
                  </a:solidFill>
                  <a:latin typeface="+mn-lt"/>
                  <a:ea typeface="+mn-ea"/>
                  <a:cs typeface="+mn-cs"/>
                </a:rPr>
                <a:t>拓展更多产品交叉销售</a:t>
              </a:r>
            </a:p>
          </p:txBody>
        </p:sp>
        <p:sp>
          <p:nvSpPr>
            <p:cNvPr id="155" name="Line 155"/>
            <p:cNvSpPr/>
            <p:nvPr/>
          </p:nvSpPr>
          <p:spPr>
            <a:xfrm>
              <a:off x="342900" y="4800600"/>
              <a:ext cx="7010400" cy="9525"/>
            </a:xfrm>
            <a:custGeom>
              <a:avLst/>
              <a:gdLst/>
              <a:ahLst/>
              <a:cxnLst/>
              <a:rect l="l" t="t" r="r" b="b"/>
              <a:pathLst>
                <a:path w="7010400" h="9525">
                  <a:moveTo>
                    <a:pt x="0" y="0"/>
                  </a:moveTo>
                  <a:lnTo>
                    <a:pt x="7010400" y="0"/>
                  </a:lnTo>
                </a:path>
              </a:pathLst>
            </a:custGeom>
            <a:noFill/>
            <a:ln w="9525">
              <a:solidFill>
                <a:srgbClr val="EDF2FA"/>
              </a:solidFill>
            </a:ln>
          </p:spPr>
        </p:sp>
        <p:grpSp>
          <p:nvGrpSpPr>
            <p:cNvPr id="158" name="Group 158"/>
            <p:cNvGrpSpPr/>
            <p:nvPr/>
          </p:nvGrpSpPr>
          <p:grpSpPr>
            <a:xfrm>
              <a:off x="416719" y="4915694"/>
              <a:ext cx="100012" cy="55562"/>
              <a:chOff x="416719" y="4915694"/>
              <a:chExt cx="100012" cy="55562"/>
            </a:xfrm>
          </p:grpSpPr>
          <p:sp>
            <p:nvSpPr>
              <p:cNvPr id="156" name="Freeform 156"/>
              <p:cNvSpPr/>
              <p:nvPr/>
            </p:nvSpPr>
            <p:spPr>
              <a:xfrm>
                <a:off x="416719" y="4915694"/>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E04C2E"/>
                </a:solidFill>
              </a:ln>
            </p:spPr>
          </p:sp>
          <p:sp>
            <p:nvSpPr>
              <p:cNvPr id="157" name="Freeform 157"/>
              <p:cNvSpPr/>
              <p:nvPr/>
            </p:nvSpPr>
            <p:spPr>
              <a:xfrm>
                <a:off x="477837" y="4915694"/>
                <a:ext cx="38894" cy="38894"/>
              </a:xfrm>
              <a:custGeom>
                <a:avLst/>
                <a:gdLst/>
                <a:ahLst/>
                <a:cxnLst/>
                <a:rect l="l" t="t" r="r" b="b"/>
                <a:pathLst>
                  <a:path w="38894" h="38894">
                    <a:moveTo>
                      <a:pt x="0" y="0"/>
                    </a:moveTo>
                    <a:lnTo>
                      <a:pt x="38894" y="0"/>
                    </a:lnTo>
                    <a:lnTo>
                      <a:pt x="38894" y="38894"/>
                    </a:lnTo>
                  </a:path>
                </a:pathLst>
              </a:custGeom>
              <a:noFill/>
              <a:ln w="11112">
                <a:solidFill>
                  <a:srgbClr val="E04C2E"/>
                </a:solidFill>
              </a:ln>
            </p:spPr>
          </p:sp>
        </p:grpSp>
        <p:sp>
          <p:nvSpPr>
            <p:cNvPr id="159" name="TextBox 159"/>
            <p:cNvSpPr txBox="1"/>
            <p:nvPr/>
          </p:nvSpPr>
          <p:spPr>
            <a:xfrm>
              <a:off x="585788" y="4896564"/>
              <a:ext cx="434924" cy="154781"/>
            </a:xfrm>
            <a:prstGeom prst="rect">
              <a:avLst/>
            </a:prstGeom>
            <a:noFill/>
            <a:ln>
              <a:noFill/>
            </a:ln>
          </p:spPr>
          <p:txBody>
            <a:bodyPr wrap="none" lIns="0" tIns="0" rIns="0" bIns="0" anchor="t" anchorCtr="0">
              <a:spAutoFit/>
            </a:bodyPr>
            <a:lstStyle/>
            <a:p>
              <a:pPr algn="l"/>
              <a:r>
                <a:rPr lang="zh-CN" sz="790" b="1" dirty="0">
                  <a:solidFill>
                    <a:srgbClr val="5F3A33"/>
                  </a:solidFill>
                  <a:latin typeface="+mn-lt"/>
                  <a:ea typeface="+mn-ea"/>
                  <a:cs typeface="+mn-cs"/>
                </a:rPr>
                <a:t>成长客户</a:t>
              </a:r>
            </a:p>
          </p:txBody>
        </p:sp>
        <p:sp>
          <p:nvSpPr>
            <p:cNvPr id="160" name="TextBox 160"/>
            <p:cNvSpPr txBox="1"/>
            <p:nvPr/>
          </p:nvSpPr>
          <p:spPr>
            <a:xfrm>
              <a:off x="1070341" y="4902232"/>
              <a:ext cx="716818" cy="144780"/>
            </a:xfrm>
            <a:prstGeom prst="rect">
              <a:avLst/>
            </a:prstGeom>
            <a:noFill/>
            <a:ln>
              <a:noFill/>
            </a:ln>
          </p:spPr>
          <p:txBody>
            <a:bodyPr wrap="none" lIns="0" tIns="0" rIns="0" bIns="0" anchor="t" anchorCtr="0">
              <a:spAutoFit/>
            </a:bodyPr>
            <a:lstStyle/>
            <a:p>
              <a:pPr algn="ctr"/>
              <a:r>
                <a:rPr lang="zh-CN" sz="740" dirty="0">
                  <a:solidFill>
                    <a:srgbClr val="5F3A33"/>
                  </a:solidFill>
                  <a:latin typeface="+mn-lt"/>
                  <a:ea typeface="+mn-ea"/>
                  <a:cs typeface="+mn-cs"/>
                </a:rPr>
                <a:t>每月度至少1次​</a:t>
              </a:r>
            </a:p>
          </p:txBody>
        </p:sp>
        <p:sp>
          <p:nvSpPr>
            <p:cNvPr id="161" name="TextBox 161"/>
            <p:cNvSpPr txBox="1"/>
            <p:nvPr/>
          </p:nvSpPr>
          <p:spPr>
            <a:xfrm>
              <a:off x="2307908" y="4851559"/>
              <a:ext cx="527685"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70504A"/>
                  </a:solidFill>
                  <a:latin typeface="+mn-lt"/>
                  <a:ea typeface="+mn-ea"/>
                  <a:cs typeface="+mn-cs"/>
                </a:rPr>
                <a:t>支行公司团队</a:t>
              </a:r>
              <a:br/>
              <a:r>
                <a:rPr lang="zh-CN" sz="680" dirty="0">
                  <a:solidFill>
                    <a:srgbClr val="70504A"/>
                  </a:solidFill>
                  <a:latin typeface="+mn-lt"/>
                  <a:ea typeface="+mn-ea"/>
                  <a:cs typeface="+mn-cs"/>
                </a:rPr>
                <a:t>客户经理</a:t>
              </a:r>
            </a:p>
          </p:txBody>
        </p:sp>
        <p:sp>
          <p:nvSpPr>
            <p:cNvPr id="162" name="TextBox 162"/>
            <p:cNvSpPr txBox="1"/>
            <p:nvPr/>
          </p:nvSpPr>
          <p:spPr>
            <a:xfrm>
              <a:off x="3652838" y="4853178"/>
              <a:ext cx="1237488" cy="254318"/>
            </a:xfrm>
            <a:prstGeom prst="rect">
              <a:avLst/>
            </a:prstGeom>
            <a:noFill/>
            <a:ln>
              <a:noFill/>
            </a:ln>
          </p:spPr>
          <p:txBody>
            <a:bodyPr wrap="none" lIns="0" tIns="0" rIns="0" bIns="0" anchor="t" anchorCtr="0">
              <a:spAutoFit/>
            </a:bodyPr>
            <a:lstStyle/>
            <a:p>
              <a:pPr algn="l">
                <a:lnSpc>
                  <a:spcPts val="975"/>
                </a:lnSpc>
              </a:pPr>
              <a:r>
                <a:rPr lang="zh-CN" sz="660" dirty="0">
                  <a:solidFill>
                    <a:srgbClr val="70504A"/>
                  </a:solidFill>
                  <a:latin typeface="+mn-lt"/>
                  <a:ea typeface="+mn-ea"/>
                  <a:cs typeface="+mn-cs"/>
                </a:rPr>
                <a:t>结算+税务服务+票据+线上化产品</a:t>
              </a:r>
              <a:br/>
              <a:r>
                <a:rPr lang="zh-CN" sz="660" dirty="0">
                  <a:solidFill>
                    <a:srgbClr val="70504A"/>
                  </a:solidFill>
                  <a:latin typeface="+mn-lt"/>
                  <a:ea typeface="+mn-ea"/>
                  <a:cs typeface="+mn-cs"/>
                </a:rPr>
                <a:t>+部分信贷产品</a:t>
              </a:r>
            </a:p>
          </p:txBody>
        </p:sp>
        <p:sp>
          <p:nvSpPr>
            <p:cNvPr id="163" name="TextBox 163"/>
            <p:cNvSpPr txBox="1"/>
            <p:nvPr/>
          </p:nvSpPr>
          <p:spPr>
            <a:xfrm>
              <a:off x="5443538" y="4853178"/>
              <a:ext cx="1183005" cy="254318"/>
            </a:xfrm>
            <a:prstGeom prst="rect">
              <a:avLst/>
            </a:prstGeom>
            <a:noFill/>
            <a:ln>
              <a:noFill/>
            </a:ln>
          </p:spPr>
          <p:txBody>
            <a:bodyPr wrap="none" lIns="0" tIns="0" rIns="0" bIns="0" anchor="t" anchorCtr="0">
              <a:spAutoFit/>
            </a:bodyPr>
            <a:lstStyle/>
            <a:p>
              <a:pPr algn="l">
                <a:lnSpc>
                  <a:spcPts val="975"/>
                </a:lnSpc>
              </a:pPr>
              <a:r>
                <a:rPr lang="zh-CN" sz="660" dirty="0">
                  <a:solidFill>
                    <a:srgbClr val="70504A"/>
                  </a:solidFill>
                  <a:latin typeface="+mn-lt"/>
                  <a:ea typeface="+mn-ea"/>
                  <a:cs typeface="+mn-cs"/>
                </a:rPr>
                <a:t>提升结算与线上化产品使用率，</a:t>
              </a:r>
              <a:br/>
              <a:r>
                <a:rPr lang="zh-CN" sz="660" dirty="0">
                  <a:solidFill>
                    <a:srgbClr val="70504A"/>
                  </a:solidFill>
                  <a:latin typeface="+mn-lt"/>
                  <a:ea typeface="+mn-ea"/>
                  <a:cs typeface="+mn-cs"/>
                </a:rPr>
                <a:t>向重点客户梯队培育</a:t>
              </a:r>
            </a:p>
          </p:txBody>
        </p:sp>
        <p:sp>
          <p:nvSpPr>
            <p:cNvPr id="164" name="Line 164"/>
            <p:cNvSpPr/>
            <p:nvPr/>
          </p:nvSpPr>
          <p:spPr>
            <a:xfrm>
              <a:off x="342900" y="5257800"/>
              <a:ext cx="7010400" cy="9525"/>
            </a:xfrm>
            <a:custGeom>
              <a:avLst/>
              <a:gdLst/>
              <a:ahLst/>
              <a:cxnLst/>
              <a:rect l="l" t="t" r="r" b="b"/>
              <a:pathLst>
                <a:path w="7010400" h="9525">
                  <a:moveTo>
                    <a:pt x="0" y="0"/>
                  </a:moveTo>
                  <a:lnTo>
                    <a:pt x="7010400" y="0"/>
                  </a:lnTo>
                </a:path>
              </a:pathLst>
            </a:custGeom>
            <a:noFill/>
            <a:ln w="9525">
              <a:solidFill>
                <a:srgbClr val="EDF2FA"/>
              </a:solidFill>
            </a:ln>
          </p:spPr>
        </p:sp>
        <p:grpSp>
          <p:nvGrpSpPr>
            <p:cNvPr id="171" name="Group 171"/>
            <p:cNvGrpSpPr/>
            <p:nvPr/>
          </p:nvGrpSpPr>
          <p:grpSpPr>
            <a:xfrm>
              <a:off x="416719" y="5350669"/>
              <a:ext cx="100012" cy="100012"/>
              <a:chOff x="416719" y="5350669"/>
              <a:chExt cx="100012" cy="100012"/>
            </a:xfrm>
          </p:grpSpPr>
          <p:sp>
            <p:nvSpPr>
              <p:cNvPr id="165" name="Freeform 165"/>
              <p:cNvSpPr/>
              <p:nvPr/>
            </p:nvSpPr>
            <p:spPr>
              <a:xfrm>
                <a:off x="455612" y="539511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04C2E"/>
                </a:solidFill>
              </a:ln>
            </p:spPr>
          </p:sp>
          <p:sp>
            <p:nvSpPr>
              <p:cNvPr id="166" name="Freeform 166"/>
              <p:cNvSpPr/>
              <p:nvPr/>
            </p:nvSpPr>
            <p:spPr>
              <a:xfrm>
                <a:off x="444500" y="5434012"/>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E04C2E"/>
                </a:solidFill>
              </a:ln>
            </p:spPr>
          </p:sp>
          <p:sp>
            <p:nvSpPr>
              <p:cNvPr id="167" name="Freeform 167"/>
              <p:cNvSpPr/>
              <p:nvPr/>
            </p:nvSpPr>
            <p:spPr>
              <a:xfrm>
                <a:off x="483394" y="53506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04C2E"/>
                </a:solidFill>
              </a:ln>
            </p:spPr>
          </p:sp>
          <p:sp>
            <p:nvSpPr>
              <p:cNvPr id="168" name="Freeform 168"/>
              <p:cNvSpPr/>
              <p:nvPr/>
            </p:nvSpPr>
            <p:spPr>
              <a:xfrm>
                <a:off x="494506" y="5389562"/>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E04C2E"/>
                </a:solidFill>
              </a:ln>
            </p:spPr>
          </p:sp>
          <p:sp>
            <p:nvSpPr>
              <p:cNvPr id="169" name="Freeform 169"/>
              <p:cNvSpPr/>
              <p:nvPr/>
            </p:nvSpPr>
            <p:spPr>
              <a:xfrm>
                <a:off x="427831" y="53506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04C2E"/>
                </a:solidFill>
              </a:ln>
            </p:spPr>
          </p:sp>
          <p:sp>
            <p:nvSpPr>
              <p:cNvPr id="170" name="Freeform 170"/>
              <p:cNvSpPr/>
              <p:nvPr/>
            </p:nvSpPr>
            <p:spPr>
              <a:xfrm>
                <a:off x="416719" y="5389562"/>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E04C2E"/>
                </a:solidFill>
              </a:ln>
            </p:spPr>
          </p:sp>
        </p:grpSp>
        <p:sp>
          <p:nvSpPr>
            <p:cNvPr id="172" name="TextBox 172"/>
            <p:cNvSpPr txBox="1"/>
            <p:nvPr/>
          </p:nvSpPr>
          <p:spPr>
            <a:xfrm>
              <a:off x="585788" y="5353764"/>
              <a:ext cx="434924" cy="154781"/>
            </a:xfrm>
            <a:prstGeom prst="rect">
              <a:avLst/>
            </a:prstGeom>
            <a:noFill/>
            <a:ln>
              <a:noFill/>
            </a:ln>
          </p:spPr>
          <p:txBody>
            <a:bodyPr wrap="none" lIns="0" tIns="0" rIns="0" bIns="0" anchor="t" anchorCtr="0">
              <a:spAutoFit/>
            </a:bodyPr>
            <a:lstStyle/>
            <a:p>
              <a:pPr algn="l"/>
              <a:r>
                <a:rPr lang="zh-CN" sz="790" b="1" dirty="0">
                  <a:solidFill>
                    <a:srgbClr val="5F3A33"/>
                  </a:solidFill>
                  <a:latin typeface="+mn-lt"/>
                  <a:ea typeface="+mn-ea"/>
                  <a:cs typeface="+mn-cs"/>
                </a:rPr>
                <a:t>基础客户</a:t>
              </a:r>
            </a:p>
          </p:txBody>
        </p:sp>
        <p:sp>
          <p:nvSpPr>
            <p:cNvPr id="173" name="TextBox 173"/>
            <p:cNvSpPr txBox="1"/>
            <p:nvPr/>
          </p:nvSpPr>
          <p:spPr>
            <a:xfrm>
              <a:off x="1070341" y="5359432"/>
              <a:ext cx="716818" cy="144780"/>
            </a:xfrm>
            <a:prstGeom prst="rect">
              <a:avLst/>
            </a:prstGeom>
            <a:noFill/>
            <a:ln>
              <a:noFill/>
            </a:ln>
          </p:spPr>
          <p:txBody>
            <a:bodyPr wrap="none" lIns="0" tIns="0" rIns="0" bIns="0" anchor="t" anchorCtr="0">
              <a:spAutoFit/>
            </a:bodyPr>
            <a:lstStyle/>
            <a:p>
              <a:pPr algn="ctr"/>
              <a:r>
                <a:rPr lang="zh-CN" sz="740" dirty="0">
                  <a:solidFill>
                    <a:srgbClr val="5F3A33"/>
                  </a:solidFill>
                  <a:latin typeface="+mn-lt"/>
                  <a:ea typeface="+mn-ea"/>
                  <a:cs typeface="+mn-cs"/>
                </a:rPr>
                <a:t>每半年至少1次​</a:t>
              </a:r>
            </a:p>
          </p:txBody>
        </p:sp>
        <p:sp>
          <p:nvSpPr>
            <p:cNvPr id="174" name="TextBox 174"/>
            <p:cNvSpPr txBox="1"/>
            <p:nvPr/>
          </p:nvSpPr>
          <p:spPr>
            <a:xfrm>
              <a:off x="2284158" y="5308759"/>
              <a:ext cx="575183" cy="257175"/>
            </a:xfrm>
            <a:prstGeom prst="rect">
              <a:avLst/>
            </a:prstGeom>
            <a:noFill/>
            <a:ln>
              <a:noFill/>
            </a:ln>
          </p:spPr>
          <p:txBody>
            <a:bodyPr wrap="none" lIns="0" tIns="0" rIns="0" bIns="0" anchor="t" anchorCtr="0">
              <a:spAutoFit/>
            </a:bodyPr>
            <a:lstStyle/>
            <a:p>
              <a:pPr algn="ctr">
                <a:lnSpc>
                  <a:spcPts val="975"/>
                </a:lnSpc>
              </a:pPr>
              <a:r>
                <a:rPr lang="zh-CN" sz="680" dirty="0">
                  <a:solidFill>
                    <a:srgbClr val="70504A"/>
                  </a:solidFill>
                  <a:latin typeface="+mn-lt"/>
                  <a:ea typeface="+mn-ea"/>
                  <a:cs typeface="+mn-cs"/>
                </a:rPr>
                <a:t>支行客户经理</a:t>
              </a:r>
              <a:br/>
              <a:r>
                <a:rPr lang="zh-CN" sz="680" dirty="0">
                  <a:solidFill>
                    <a:srgbClr val="70504A"/>
                  </a:solidFill>
                  <a:latin typeface="+mn-lt"/>
                  <a:ea typeface="+mn-ea"/>
                  <a:cs typeface="+mn-cs"/>
                </a:rPr>
                <a:t>+客户服务经理</a:t>
              </a:r>
            </a:p>
          </p:txBody>
        </p:sp>
        <p:sp>
          <p:nvSpPr>
            <p:cNvPr id="175" name="TextBox 175"/>
            <p:cNvSpPr txBox="1"/>
            <p:nvPr/>
          </p:nvSpPr>
          <p:spPr>
            <a:xfrm>
              <a:off x="3652838" y="5367528"/>
              <a:ext cx="1173450"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结算+基础存款+电子渠道产品</a:t>
              </a:r>
            </a:p>
          </p:txBody>
        </p:sp>
        <p:sp>
          <p:nvSpPr>
            <p:cNvPr id="176" name="TextBox 176"/>
            <p:cNvSpPr txBox="1"/>
            <p:nvPr/>
          </p:nvSpPr>
          <p:spPr>
            <a:xfrm>
              <a:off x="5443538" y="5310378"/>
              <a:ext cx="1099185" cy="254318"/>
            </a:xfrm>
            <a:prstGeom prst="rect">
              <a:avLst/>
            </a:prstGeom>
            <a:noFill/>
            <a:ln>
              <a:noFill/>
            </a:ln>
          </p:spPr>
          <p:txBody>
            <a:bodyPr wrap="none" lIns="0" tIns="0" rIns="0" bIns="0" anchor="t" anchorCtr="0">
              <a:spAutoFit/>
            </a:bodyPr>
            <a:lstStyle/>
            <a:p>
              <a:pPr algn="l">
                <a:lnSpc>
                  <a:spcPts val="975"/>
                </a:lnSpc>
              </a:pPr>
              <a:r>
                <a:rPr lang="zh-CN" sz="660" dirty="0">
                  <a:solidFill>
                    <a:srgbClr val="70504A"/>
                  </a:solidFill>
                  <a:latin typeface="+mn-lt"/>
                  <a:ea typeface="+mn-ea"/>
                  <a:cs typeface="+mn-cs"/>
                </a:rPr>
                <a:t>提高有效户客户产品渗透率，</a:t>
              </a:r>
              <a:br/>
              <a:r>
                <a:rPr lang="zh-CN" sz="660" dirty="0">
                  <a:solidFill>
                    <a:srgbClr val="70504A"/>
                  </a:solidFill>
                  <a:latin typeface="+mn-lt"/>
                  <a:ea typeface="+mn-ea"/>
                  <a:cs typeface="+mn-cs"/>
                </a:rPr>
                <a:t>筛选优质客户新开/升级</a:t>
              </a:r>
            </a:p>
          </p:txBody>
        </p:sp>
        <p:sp>
          <p:nvSpPr>
            <p:cNvPr id="177" name="Line 177"/>
            <p:cNvSpPr/>
            <p:nvPr/>
          </p:nvSpPr>
          <p:spPr>
            <a:xfrm>
              <a:off x="342900" y="5715000"/>
              <a:ext cx="7010400" cy="9525"/>
            </a:xfrm>
            <a:custGeom>
              <a:avLst/>
              <a:gdLst/>
              <a:ahLst/>
              <a:cxnLst/>
              <a:rect l="l" t="t" r="r" b="b"/>
              <a:pathLst>
                <a:path w="7010400" h="9525">
                  <a:moveTo>
                    <a:pt x="0" y="0"/>
                  </a:moveTo>
                  <a:lnTo>
                    <a:pt x="7010400" y="0"/>
                  </a:lnTo>
                </a:path>
              </a:pathLst>
            </a:custGeom>
            <a:noFill/>
            <a:ln w="9525">
              <a:solidFill>
                <a:srgbClr val="C9D6E9"/>
              </a:solidFill>
            </a:ln>
          </p:spPr>
        </p:sp>
        <p:sp>
          <p:nvSpPr>
            <p:cNvPr id="178" name="TextBox 178"/>
            <p:cNvSpPr txBox="1"/>
            <p:nvPr/>
          </p:nvSpPr>
          <p:spPr>
            <a:xfrm>
              <a:off x="338138" y="5874782"/>
              <a:ext cx="2508072"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注：维护频次为管理建议口径，产品组合与目标提升为示例内容。</a:t>
              </a:r>
            </a:p>
          </p:txBody>
        </p:sp>
      </p:grpSp>
      <p:grpSp>
        <p:nvGrpSpPr>
          <p:cNvPr id="213" name="kpi-right"/>
          <p:cNvGrpSpPr/>
          <p:nvPr/>
        </p:nvGrpSpPr>
        <p:grpSpPr>
          <a:xfrm>
            <a:off x="7581900" y="3352800"/>
            <a:ext cx="4381500" cy="3314700"/>
            <a:chOff x="7581900" y="3352800"/>
            <a:chExt cx="4381500" cy="3314700"/>
          </a:xfrm>
        </p:grpSpPr>
        <p:sp>
          <p:nvSpPr>
            <p:cNvPr id="180" name="Rectangle 180"/>
            <p:cNvSpPr/>
            <p:nvPr/>
          </p:nvSpPr>
          <p:spPr>
            <a:xfrm>
              <a:off x="7581900" y="3352800"/>
              <a:ext cx="4381500" cy="3314700"/>
            </a:xfrm>
            <a:prstGeom prst="roundRect">
              <a:avLst>
                <a:gd name="adj" fmla="val 1724"/>
              </a:avLst>
            </a:prstGeom>
            <a:solidFill>
              <a:srgbClr val="FFFFFF"/>
            </a:solidFill>
            <a:ln w="9525">
              <a:solidFill>
                <a:srgbClr val="C9D6E9"/>
              </a:solidFill>
            </a:ln>
          </p:spPr>
        </p:sp>
        <p:sp>
          <p:nvSpPr>
            <p:cNvPr id="181" name="Rectangle 181"/>
            <p:cNvSpPr/>
            <p:nvPr/>
          </p:nvSpPr>
          <p:spPr>
            <a:xfrm>
              <a:off x="7581900" y="3352800"/>
              <a:ext cx="4381500" cy="247650"/>
            </a:xfrm>
            <a:prstGeom prst="roundRect">
              <a:avLst>
                <a:gd name="adj" fmla="val 23077"/>
              </a:avLst>
            </a:prstGeom>
            <a:solidFill>
              <a:srgbClr val="69281B"/>
            </a:solidFill>
            <a:ln>
              <a:noFill/>
            </a:ln>
          </p:spPr>
        </p:sp>
        <p:sp>
          <p:nvSpPr>
            <p:cNvPr id="182" name="Rectangle 182"/>
            <p:cNvSpPr/>
            <p:nvPr/>
          </p:nvSpPr>
          <p:spPr>
            <a:xfrm>
              <a:off x="7581900" y="3505200"/>
              <a:ext cx="4381500" cy="95250"/>
            </a:xfrm>
            <a:prstGeom prst="rect">
              <a:avLst/>
            </a:prstGeom>
            <a:solidFill>
              <a:srgbClr val="69281B"/>
            </a:solidFill>
            <a:ln>
              <a:noFill/>
            </a:ln>
          </p:spPr>
        </p:sp>
        <p:sp>
          <p:nvSpPr>
            <p:cNvPr id="183" name="TextBox 183"/>
            <p:cNvSpPr txBox="1"/>
            <p:nvPr/>
          </p:nvSpPr>
          <p:spPr>
            <a:xfrm>
              <a:off x="8283224" y="3423047"/>
              <a:ext cx="297885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关键经营指标（数据口径：2026年6月末（示例））​</a:t>
              </a:r>
            </a:p>
          </p:txBody>
        </p:sp>
        <p:sp>
          <p:nvSpPr>
            <p:cNvPr id="184" name="Rectangle 184"/>
            <p:cNvSpPr/>
            <p:nvPr/>
          </p:nvSpPr>
          <p:spPr>
            <a:xfrm>
              <a:off x="7734300" y="3733800"/>
              <a:ext cx="1295400" cy="2457450"/>
            </a:xfrm>
            <a:prstGeom prst="roundRect">
              <a:avLst>
                <a:gd name="adj" fmla="val 4412"/>
              </a:avLst>
            </a:prstGeom>
            <a:solidFill>
              <a:srgbClr val="F5F8FD"/>
            </a:solidFill>
            <a:ln w="9525">
              <a:solidFill>
                <a:srgbClr val="E3EAF5"/>
              </a:solidFill>
            </a:ln>
          </p:spPr>
        </p:sp>
        <p:sp>
          <p:nvSpPr>
            <p:cNvPr id="185" name="Ellipse 185"/>
            <p:cNvSpPr/>
            <p:nvPr/>
          </p:nvSpPr>
          <p:spPr>
            <a:xfrm>
              <a:off x="8096250" y="4057650"/>
              <a:ext cx="571500" cy="571500"/>
            </a:xfrm>
            <a:prstGeom prst="ellipse">
              <a:avLst/>
            </a:prstGeom>
            <a:solidFill>
              <a:srgbClr val="EAF1FB"/>
            </a:solidFill>
            <a:ln>
              <a:noFill/>
            </a:ln>
          </p:spPr>
        </p:sp>
        <p:grpSp>
          <p:nvGrpSpPr>
            <p:cNvPr id="189" name="Group 189"/>
            <p:cNvGrpSpPr/>
            <p:nvPr/>
          </p:nvGrpSpPr>
          <p:grpSpPr>
            <a:xfrm>
              <a:off x="8305800" y="4229100"/>
              <a:ext cx="190500" cy="228600"/>
              <a:chOff x="8305800" y="4229100"/>
              <a:chExt cx="190500" cy="228600"/>
            </a:xfrm>
          </p:grpSpPr>
          <p:sp>
            <p:nvSpPr>
              <p:cNvPr id="186" name="Freeform 186"/>
              <p:cNvSpPr/>
              <p:nvPr/>
            </p:nvSpPr>
            <p:spPr>
              <a:xfrm>
                <a:off x="8331200" y="422910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rgbClr val="69281B"/>
                </a:solidFill>
              </a:ln>
            </p:spPr>
          </p:sp>
          <p:sp>
            <p:nvSpPr>
              <p:cNvPr id="187" name="Freeform 187"/>
              <p:cNvSpPr/>
              <p:nvPr/>
            </p:nvSpPr>
            <p:spPr>
              <a:xfrm>
                <a:off x="8305800" y="4381500"/>
                <a:ext cx="101600" cy="76200"/>
              </a:xfrm>
              <a:custGeom>
                <a:avLst/>
                <a:gdLst/>
                <a:ahLst/>
                <a:cxnLst/>
                <a:rect l="l" t="t" r="r" b="b"/>
                <a:pathLst>
                  <a:path w="101600" h="76200">
                    <a:moveTo>
                      <a:pt x="0" y="76200"/>
                    </a:moveTo>
                    <a:lnTo>
                      <a:pt x="0" y="50800"/>
                    </a:lnTo>
                    <a:cubicBezTo>
                      <a:pt x="0" y="22744"/>
                      <a:pt x="22744" y="0"/>
                      <a:pt x="50800" y="0"/>
                    </a:cubicBezTo>
                    <a:lnTo>
                      <a:pt x="101600" y="0"/>
                    </a:lnTo>
                  </a:path>
                </a:pathLst>
              </a:custGeom>
              <a:noFill/>
              <a:ln w="25400">
                <a:solidFill>
                  <a:srgbClr val="69281B"/>
                </a:solidFill>
              </a:ln>
            </p:spPr>
          </p:sp>
          <p:sp>
            <p:nvSpPr>
              <p:cNvPr id="188" name="Freeform 188"/>
              <p:cNvSpPr/>
              <p:nvPr/>
            </p:nvSpPr>
            <p:spPr>
              <a:xfrm>
                <a:off x="8420100" y="4406899"/>
                <a:ext cx="76200" cy="50800"/>
              </a:xfrm>
              <a:custGeom>
                <a:avLst/>
                <a:gdLst/>
                <a:ahLst/>
                <a:cxnLst/>
                <a:rect l="l" t="t" r="r" b="b"/>
                <a:pathLst>
                  <a:path w="76200" h="50800">
                    <a:moveTo>
                      <a:pt x="0" y="25400"/>
                    </a:moveTo>
                    <a:lnTo>
                      <a:pt x="25400" y="50800"/>
                    </a:lnTo>
                    <a:lnTo>
                      <a:pt x="76200" y="0"/>
                    </a:lnTo>
                  </a:path>
                </a:pathLst>
              </a:custGeom>
              <a:noFill/>
              <a:ln w="25400">
                <a:solidFill>
                  <a:srgbClr val="69281B"/>
                </a:solidFill>
              </a:ln>
            </p:spPr>
          </p:sp>
        </p:grpSp>
        <p:sp>
          <p:nvSpPr>
            <p:cNvPr id="190" name="TextBox 190"/>
            <p:cNvSpPr txBox="1"/>
            <p:nvPr/>
          </p:nvSpPr>
          <p:spPr>
            <a:xfrm>
              <a:off x="8211655" y="4863941"/>
              <a:ext cx="340690" cy="161925"/>
            </a:xfrm>
            <a:prstGeom prst="rect">
              <a:avLst/>
            </a:prstGeom>
            <a:noFill/>
            <a:ln>
              <a:noFill/>
            </a:ln>
          </p:spPr>
          <p:txBody>
            <a:bodyPr wrap="none" lIns="0" tIns="0" rIns="0" bIns="0" anchor="t" anchorCtr="0">
              <a:spAutoFit/>
            </a:bodyPr>
            <a:lstStyle/>
            <a:p>
              <a:pPr algn="ctr"/>
              <a:r>
                <a:rPr lang="zh-CN" sz="820" dirty="0">
                  <a:solidFill>
                    <a:srgbClr val="70504A"/>
                  </a:solidFill>
                  <a:latin typeface="+mn-lt"/>
                  <a:ea typeface="+mn-ea"/>
                  <a:cs typeface="+mn-cs"/>
                </a:rPr>
                <a:t>有效率</a:t>
              </a:r>
            </a:p>
          </p:txBody>
        </p:sp>
        <p:sp>
          <p:nvSpPr>
            <p:cNvPr id="191" name="TextBox 191"/>
            <p:cNvSpPr txBox="1"/>
            <p:nvPr/>
          </p:nvSpPr>
          <p:spPr>
            <a:xfrm>
              <a:off x="7949631" y="5199698"/>
              <a:ext cx="864738" cy="381381"/>
            </a:xfrm>
            <a:prstGeom prst="rect">
              <a:avLst/>
            </a:prstGeom>
            <a:noFill/>
            <a:ln>
              <a:noFill/>
            </a:ln>
          </p:spPr>
          <p:txBody>
            <a:bodyPr wrap="none" lIns="0" tIns="0" rIns="0" bIns="0" anchor="t" anchorCtr="0">
              <a:spAutoFit/>
            </a:bodyPr>
            <a:lstStyle/>
            <a:p>
              <a:pPr algn="ctr"/>
              <a:r>
                <a:rPr lang="zh-CN" sz="1950" b="1" dirty="0">
                  <a:solidFill>
                    <a:srgbClr val="69281B"/>
                  </a:solidFill>
                  <a:latin typeface="+mn-lt"/>
                  <a:ea typeface="+mn-ea"/>
                  <a:cs typeface="+mn-cs"/>
                </a:rPr>
                <a:t>68.5</a:t>
              </a:r>
              <a:r>
                <a:rPr lang="zh-CN" sz="820" b="1" dirty="0">
                  <a:solidFill>
                    <a:srgbClr val="69281B"/>
                  </a:solidFill>
                  <a:latin typeface="+mn-lt"/>
                  <a:ea typeface="+mn-ea"/>
                  <a:cs typeface="+mn-cs"/>
                </a:rPr>
                <a:t>%</a:t>
              </a:r>
              <a:r>
                <a:rPr lang="zh-CN" sz="1950" b="1" dirty="0">
                  <a:solidFill>
                    <a:srgbClr val="69281B"/>
                  </a:solidFill>
                  <a:latin typeface="+mn-lt"/>
                  <a:ea typeface="+mn-ea"/>
                  <a:cs typeface="+mn-cs"/>
                </a:rPr>
                <a:t>​</a:t>
              </a:r>
            </a:p>
          </p:txBody>
        </p:sp>
        <p:sp>
          <p:nvSpPr>
            <p:cNvPr id="192" name="TextBox 192"/>
            <p:cNvSpPr txBox="1"/>
            <p:nvPr/>
          </p:nvSpPr>
          <p:spPr>
            <a:xfrm>
              <a:off x="7816545" y="5661184"/>
              <a:ext cx="1130910" cy="133350"/>
            </a:xfrm>
            <a:prstGeom prst="rect">
              <a:avLst/>
            </a:prstGeom>
            <a:noFill/>
            <a:ln>
              <a:noFill/>
            </a:ln>
          </p:spPr>
          <p:txBody>
            <a:bodyPr wrap="none" lIns="0" tIns="0" rIns="0" bIns="0" anchor="t" anchorCtr="0">
              <a:spAutoFit/>
            </a:bodyPr>
            <a:lstStyle/>
            <a:p>
              <a:pPr algn="ctr"/>
              <a:r>
                <a:rPr lang="zh-CN" sz="680" dirty="0">
                  <a:solidFill>
                    <a:srgbClr val="E04C2E"/>
                  </a:solidFill>
                  <a:latin typeface="+mn-lt"/>
                  <a:ea typeface="+mn-ea"/>
                  <a:cs typeface="+mn-cs"/>
                </a:rPr>
                <a:t>较2025年末 +5.6个百分点​</a:t>
              </a:r>
            </a:p>
          </p:txBody>
        </p:sp>
        <p:sp>
          <p:nvSpPr>
            <p:cNvPr id="193" name="Rectangle 193"/>
            <p:cNvSpPr/>
            <p:nvPr/>
          </p:nvSpPr>
          <p:spPr>
            <a:xfrm>
              <a:off x="9124950" y="3733800"/>
              <a:ext cx="1295400" cy="2457450"/>
            </a:xfrm>
            <a:prstGeom prst="roundRect">
              <a:avLst>
                <a:gd name="adj" fmla="val 4412"/>
              </a:avLst>
            </a:prstGeom>
            <a:solidFill>
              <a:srgbClr val="F5F8FD"/>
            </a:solidFill>
            <a:ln w="9525">
              <a:solidFill>
                <a:srgbClr val="E3EAF5"/>
              </a:solidFill>
            </a:ln>
          </p:spPr>
        </p:sp>
        <p:sp>
          <p:nvSpPr>
            <p:cNvPr id="194" name="Ellipse 194"/>
            <p:cNvSpPr/>
            <p:nvPr/>
          </p:nvSpPr>
          <p:spPr>
            <a:xfrm>
              <a:off x="9486900" y="4057650"/>
              <a:ext cx="571500" cy="571500"/>
            </a:xfrm>
            <a:prstGeom prst="ellipse">
              <a:avLst/>
            </a:prstGeom>
            <a:solidFill>
              <a:srgbClr val="EAF1FB"/>
            </a:solidFill>
            <a:ln>
              <a:noFill/>
            </a:ln>
          </p:spPr>
        </p:sp>
        <p:grpSp>
          <p:nvGrpSpPr>
            <p:cNvPr id="197" name="Group 197"/>
            <p:cNvGrpSpPr/>
            <p:nvPr/>
          </p:nvGrpSpPr>
          <p:grpSpPr>
            <a:xfrm>
              <a:off x="9671050" y="4236900"/>
              <a:ext cx="203199" cy="213000"/>
              <a:chOff x="9671050" y="4236900"/>
              <a:chExt cx="203199" cy="213000"/>
            </a:xfrm>
          </p:grpSpPr>
          <p:sp>
            <p:nvSpPr>
              <p:cNvPr id="195" name="Freeform 195"/>
              <p:cNvSpPr/>
              <p:nvPr/>
            </p:nvSpPr>
            <p:spPr>
              <a:xfrm>
                <a:off x="9671050" y="423690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rgbClr val="69281B"/>
                </a:solidFill>
              </a:ln>
            </p:spPr>
          </p:sp>
          <p:sp>
            <p:nvSpPr>
              <p:cNvPr id="196" name="Freeform 196"/>
              <p:cNvSpPr/>
              <p:nvPr/>
            </p:nvSpPr>
            <p:spPr>
              <a:xfrm>
                <a:off x="9671050" y="435610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rgbClr val="69281B"/>
                </a:solidFill>
              </a:ln>
            </p:spPr>
          </p:sp>
        </p:grpSp>
        <p:sp>
          <p:nvSpPr>
            <p:cNvPr id="198" name="TextBox 198"/>
            <p:cNvSpPr txBox="1"/>
            <p:nvPr/>
          </p:nvSpPr>
          <p:spPr>
            <a:xfrm>
              <a:off x="9381528" y="4863941"/>
              <a:ext cx="782244" cy="161925"/>
            </a:xfrm>
            <a:prstGeom prst="rect">
              <a:avLst/>
            </a:prstGeom>
            <a:noFill/>
            <a:ln>
              <a:noFill/>
            </a:ln>
          </p:spPr>
          <p:txBody>
            <a:bodyPr wrap="none" lIns="0" tIns="0" rIns="0" bIns="0" anchor="t" anchorCtr="0">
              <a:spAutoFit/>
            </a:bodyPr>
            <a:lstStyle/>
            <a:p>
              <a:pPr algn="ctr"/>
              <a:r>
                <a:rPr lang="zh-CN" sz="820" dirty="0">
                  <a:solidFill>
                    <a:srgbClr val="70504A"/>
                  </a:solidFill>
                  <a:latin typeface="+mn-lt"/>
                  <a:ea typeface="+mn-ea"/>
                  <a:cs typeface="+mn-cs"/>
                </a:rPr>
                <a:t>结算客户渗透率</a:t>
              </a:r>
            </a:p>
          </p:txBody>
        </p:sp>
        <p:sp>
          <p:nvSpPr>
            <p:cNvPr id="199" name="TextBox 199"/>
            <p:cNvSpPr txBox="1"/>
            <p:nvPr/>
          </p:nvSpPr>
          <p:spPr>
            <a:xfrm>
              <a:off x="9340281" y="5199698"/>
              <a:ext cx="864738" cy="381381"/>
            </a:xfrm>
            <a:prstGeom prst="rect">
              <a:avLst/>
            </a:prstGeom>
            <a:noFill/>
            <a:ln>
              <a:noFill/>
            </a:ln>
          </p:spPr>
          <p:txBody>
            <a:bodyPr wrap="none" lIns="0" tIns="0" rIns="0" bIns="0" anchor="t" anchorCtr="0">
              <a:spAutoFit/>
            </a:bodyPr>
            <a:lstStyle/>
            <a:p>
              <a:pPr algn="ctr"/>
              <a:r>
                <a:rPr lang="zh-CN" sz="1950" b="1" dirty="0">
                  <a:solidFill>
                    <a:srgbClr val="69281B"/>
                  </a:solidFill>
                  <a:latin typeface="+mn-lt"/>
                  <a:ea typeface="+mn-ea"/>
                  <a:cs typeface="+mn-cs"/>
                </a:rPr>
                <a:t>54.2</a:t>
              </a:r>
              <a:r>
                <a:rPr lang="zh-CN" sz="820" b="1" dirty="0">
                  <a:solidFill>
                    <a:srgbClr val="69281B"/>
                  </a:solidFill>
                  <a:latin typeface="+mn-lt"/>
                  <a:ea typeface="+mn-ea"/>
                  <a:cs typeface="+mn-cs"/>
                </a:rPr>
                <a:t>%</a:t>
              </a:r>
              <a:r>
                <a:rPr lang="zh-CN" sz="1950" b="1" dirty="0">
                  <a:solidFill>
                    <a:srgbClr val="69281B"/>
                  </a:solidFill>
                  <a:latin typeface="+mn-lt"/>
                  <a:ea typeface="+mn-ea"/>
                  <a:cs typeface="+mn-cs"/>
                </a:rPr>
                <a:t>​</a:t>
              </a:r>
            </a:p>
          </p:txBody>
        </p:sp>
        <p:sp>
          <p:nvSpPr>
            <p:cNvPr id="200" name="TextBox 200"/>
            <p:cNvSpPr txBox="1"/>
            <p:nvPr/>
          </p:nvSpPr>
          <p:spPr>
            <a:xfrm>
              <a:off x="9207195" y="5661184"/>
              <a:ext cx="1130910" cy="133350"/>
            </a:xfrm>
            <a:prstGeom prst="rect">
              <a:avLst/>
            </a:prstGeom>
            <a:noFill/>
            <a:ln>
              <a:noFill/>
            </a:ln>
          </p:spPr>
          <p:txBody>
            <a:bodyPr wrap="none" lIns="0" tIns="0" rIns="0" bIns="0" anchor="t" anchorCtr="0">
              <a:spAutoFit/>
            </a:bodyPr>
            <a:lstStyle/>
            <a:p>
              <a:pPr algn="ctr"/>
              <a:r>
                <a:rPr lang="zh-CN" sz="680" dirty="0">
                  <a:solidFill>
                    <a:srgbClr val="E04C2E"/>
                  </a:solidFill>
                  <a:latin typeface="+mn-lt"/>
                  <a:ea typeface="+mn-ea"/>
                  <a:cs typeface="+mn-cs"/>
                </a:rPr>
                <a:t>较2025年末 +4.3个百分点​</a:t>
              </a:r>
            </a:p>
          </p:txBody>
        </p:sp>
        <p:sp>
          <p:nvSpPr>
            <p:cNvPr id="201" name="Rectangle 201"/>
            <p:cNvSpPr/>
            <p:nvPr/>
          </p:nvSpPr>
          <p:spPr>
            <a:xfrm>
              <a:off x="10515600" y="3733800"/>
              <a:ext cx="1295400" cy="2457450"/>
            </a:xfrm>
            <a:prstGeom prst="roundRect">
              <a:avLst>
                <a:gd name="adj" fmla="val 4412"/>
              </a:avLst>
            </a:prstGeom>
            <a:solidFill>
              <a:srgbClr val="F5F8FD"/>
            </a:solidFill>
            <a:ln w="9525">
              <a:solidFill>
                <a:srgbClr val="E3EAF5"/>
              </a:solidFill>
            </a:ln>
          </p:spPr>
        </p:sp>
        <p:sp>
          <p:nvSpPr>
            <p:cNvPr id="202" name="Ellipse 202"/>
            <p:cNvSpPr/>
            <p:nvPr/>
          </p:nvSpPr>
          <p:spPr>
            <a:xfrm>
              <a:off x="10877550" y="4057650"/>
              <a:ext cx="571500" cy="571500"/>
            </a:xfrm>
            <a:prstGeom prst="ellipse">
              <a:avLst/>
            </a:prstGeom>
            <a:solidFill>
              <a:srgbClr val="EAF1FB"/>
            </a:solidFill>
            <a:ln>
              <a:noFill/>
            </a:ln>
          </p:spPr>
        </p:sp>
        <p:grpSp>
          <p:nvGrpSpPr>
            <p:cNvPr id="208" name="Group 208"/>
            <p:cNvGrpSpPr/>
            <p:nvPr/>
          </p:nvGrpSpPr>
          <p:grpSpPr>
            <a:xfrm>
              <a:off x="11049000" y="4229100"/>
              <a:ext cx="228599" cy="228599"/>
              <a:chOff x="11049000" y="4229100"/>
              <a:chExt cx="228599" cy="228599"/>
            </a:xfrm>
          </p:grpSpPr>
          <p:sp>
            <p:nvSpPr>
              <p:cNvPr id="203" name="Freeform 203"/>
              <p:cNvSpPr/>
              <p:nvPr/>
            </p:nvSpPr>
            <p:spPr>
              <a:xfrm>
                <a:off x="11137900" y="42291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69281B"/>
                </a:solidFill>
              </a:ln>
            </p:spPr>
          </p:sp>
          <p:sp>
            <p:nvSpPr>
              <p:cNvPr id="204" name="Freeform 204"/>
              <p:cNvSpPr/>
              <p:nvPr/>
            </p:nvSpPr>
            <p:spPr>
              <a:xfrm>
                <a:off x="11049000" y="440689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69281B"/>
                </a:solidFill>
              </a:ln>
            </p:spPr>
          </p:sp>
          <p:sp>
            <p:nvSpPr>
              <p:cNvPr id="205" name="Freeform 205"/>
              <p:cNvSpPr/>
              <p:nvPr/>
            </p:nvSpPr>
            <p:spPr>
              <a:xfrm>
                <a:off x="11226799" y="440689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69281B"/>
                </a:solidFill>
              </a:ln>
            </p:spPr>
          </p:sp>
          <p:sp>
            <p:nvSpPr>
              <p:cNvPr id="206" name="Freeform 206"/>
              <p:cNvSpPr/>
              <p:nvPr/>
            </p:nvSpPr>
            <p:spPr>
              <a:xfrm>
                <a:off x="11093450" y="4356100"/>
                <a:ext cx="139700" cy="57150"/>
              </a:xfrm>
              <a:custGeom>
                <a:avLst/>
                <a:gdLst/>
                <a:ahLst/>
                <a:cxnLst/>
                <a:rect l="l" t="t" r="r" b="b"/>
                <a:pathLst>
                  <a:path w="139700" h="57150">
                    <a:moveTo>
                      <a:pt x="0" y="57150"/>
                    </a:moveTo>
                    <a:lnTo>
                      <a:pt x="69850" y="0"/>
                    </a:lnTo>
                    <a:lnTo>
                      <a:pt x="139700" y="57150"/>
                    </a:lnTo>
                  </a:path>
                </a:pathLst>
              </a:custGeom>
              <a:noFill/>
              <a:ln w="25400">
                <a:solidFill>
                  <a:srgbClr val="69281B"/>
                </a:solidFill>
              </a:ln>
            </p:spPr>
          </p:sp>
          <p:sp>
            <p:nvSpPr>
              <p:cNvPr id="207" name="Freeform 207"/>
              <p:cNvSpPr/>
              <p:nvPr/>
            </p:nvSpPr>
            <p:spPr>
              <a:xfrm>
                <a:off x="11163300" y="4279900"/>
                <a:ext cx="9525" cy="76200"/>
              </a:xfrm>
              <a:custGeom>
                <a:avLst/>
                <a:gdLst/>
                <a:ahLst/>
                <a:cxnLst/>
                <a:rect l="l" t="t" r="r" b="b"/>
                <a:pathLst>
                  <a:path w="9525" h="76200">
                    <a:moveTo>
                      <a:pt x="0" y="0"/>
                    </a:moveTo>
                    <a:lnTo>
                      <a:pt x="0" y="76200"/>
                    </a:lnTo>
                  </a:path>
                </a:pathLst>
              </a:custGeom>
              <a:noFill/>
              <a:ln w="25400">
                <a:solidFill>
                  <a:srgbClr val="69281B"/>
                </a:solidFill>
              </a:ln>
            </p:spPr>
          </p:sp>
        </p:grpSp>
        <p:sp>
          <p:nvSpPr>
            <p:cNvPr id="209" name="TextBox 209"/>
            <p:cNvSpPr txBox="1"/>
            <p:nvPr/>
          </p:nvSpPr>
          <p:spPr>
            <a:xfrm>
              <a:off x="10772178" y="4863941"/>
              <a:ext cx="782244" cy="161925"/>
            </a:xfrm>
            <a:prstGeom prst="rect">
              <a:avLst/>
            </a:prstGeom>
            <a:noFill/>
            <a:ln>
              <a:noFill/>
            </a:ln>
          </p:spPr>
          <p:txBody>
            <a:bodyPr wrap="none" lIns="0" tIns="0" rIns="0" bIns="0" anchor="t" anchorCtr="0">
              <a:spAutoFit/>
            </a:bodyPr>
            <a:lstStyle/>
            <a:p>
              <a:pPr algn="ctr"/>
              <a:r>
                <a:rPr lang="zh-CN" sz="820" dirty="0">
                  <a:solidFill>
                    <a:srgbClr val="70504A"/>
                  </a:solidFill>
                  <a:latin typeface="+mn-lt"/>
                  <a:ea typeface="+mn-ea"/>
                  <a:cs typeface="+mn-cs"/>
                </a:rPr>
                <a:t>综合产品持有数</a:t>
              </a:r>
            </a:p>
          </p:txBody>
        </p:sp>
        <p:sp>
          <p:nvSpPr>
            <p:cNvPr id="210" name="TextBox 210"/>
            <p:cNvSpPr txBox="1"/>
            <p:nvPr/>
          </p:nvSpPr>
          <p:spPr>
            <a:xfrm>
              <a:off x="10795002" y="5199698"/>
              <a:ext cx="736596" cy="381381"/>
            </a:xfrm>
            <a:prstGeom prst="rect">
              <a:avLst/>
            </a:prstGeom>
            <a:noFill/>
            <a:ln>
              <a:noFill/>
            </a:ln>
          </p:spPr>
          <p:txBody>
            <a:bodyPr wrap="none" lIns="0" tIns="0" rIns="0" bIns="0" anchor="t" anchorCtr="0">
              <a:spAutoFit/>
            </a:bodyPr>
            <a:lstStyle/>
            <a:p>
              <a:pPr algn="ctr"/>
              <a:r>
                <a:rPr lang="zh-CN" sz="1950" b="1" dirty="0">
                  <a:solidFill>
                    <a:srgbClr val="69281B"/>
                  </a:solidFill>
                  <a:latin typeface="+mn-lt"/>
                  <a:ea typeface="+mn-ea"/>
                  <a:cs typeface="+mn-cs"/>
                </a:rPr>
                <a:t>2.7</a:t>
              </a:r>
              <a:r>
                <a:rPr lang="zh-CN" sz="820" b="1" dirty="0">
                  <a:solidFill>
                    <a:srgbClr val="69281B"/>
                  </a:solidFill>
                  <a:latin typeface="+mn-lt"/>
                  <a:ea typeface="+mn-ea"/>
                  <a:cs typeface="+mn-cs"/>
                </a:rPr>
                <a:t>个</a:t>
              </a:r>
              <a:r>
                <a:rPr lang="zh-CN" sz="1950" b="1" dirty="0">
                  <a:solidFill>
                    <a:srgbClr val="69281B"/>
                  </a:solidFill>
                  <a:latin typeface="+mn-lt"/>
                  <a:ea typeface="+mn-ea"/>
                  <a:cs typeface="+mn-cs"/>
                </a:rPr>
                <a:t>​</a:t>
              </a:r>
            </a:p>
          </p:txBody>
        </p:sp>
        <p:sp>
          <p:nvSpPr>
            <p:cNvPr id="211" name="TextBox 211"/>
            <p:cNvSpPr txBox="1"/>
            <p:nvPr/>
          </p:nvSpPr>
          <p:spPr>
            <a:xfrm>
              <a:off x="10735158" y="5661184"/>
              <a:ext cx="856285" cy="133350"/>
            </a:xfrm>
            <a:prstGeom prst="rect">
              <a:avLst/>
            </a:prstGeom>
            <a:noFill/>
            <a:ln>
              <a:noFill/>
            </a:ln>
          </p:spPr>
          <p:txBody>
            <a:bodyPr wrap="none" lIns="0" tIns="0" rIns="0" bIns="0" anchor="t" anchorCtr="0">
              <a:spAutoFit/>
            </a:bodyPr>
            <a:lstStyle/>
            <a:p>
              <a:pPr algn="ctr"/>
              <a:r>
                <a:rPr lang="zh-CN" sz="680" dirty="0">
                  <a:solidFill>
                    <a:srgbClr val="E04C2E"/>
                  </a:solidFill>
                  <a:latin typeface="+mn-lt"/>
                  <a:ea typeface="+mn-ea"/>
                  <a:cs typeface="+mn-cs"/>
                </a:rPr>
                <a:t>较2025年末 +0.4个​</a:t>
              </a:r>
            </a:p>
          </p:txBody>
        </p:sp>
        <p:sp>
          <p:nvSpPr>
            <p:cNvPr id="212" name="TextBox 212"/>
            <p:cNvSpPr txBox="1"/>
            <p:nvPr/>
          </p:nvSpPr>
          <p:spPr>
            <a:xfrm>
              <a:off x="8820163" y="6370082"/>
              <a:ext cx="1904975"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注：以上为示例数据，实际以经营系统数据为准。</a:t>
              </a:r>
            </a:p>
          </p:txBody>
        </p:sp>
      </p:grpSp>
      <p:sp>
        <p:nvSpPr>
          <p:cNvPr id="214"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06 / 18 页​</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07​</a:t>
              </a:r>
            </a:p>
          </p:txBody>
        </p:sp>
        <p:sp>
          <p:nvSpPr>
            <p:cNvPr id="4" name="TextBox 4"/>
            <p:cNvSpPr txBox="1"/>
            <p:nvPr/>
          </p:nvSpPr>
          <p:spPr>
            <a:xfrm>
              <a:off x="1019175" y="169069"/>
              <a:ext cx="5586933"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分层维护、场景引流与腰部突破共同推动存款增长</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59428" y="300038"/>
              <a:ext cx="1423035"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金额单位：人民币亿元（示例）</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26" name="measure-1"/>
          <p:cNvGrpSpPr/>
          <p:nvPr/>
        </p:nvGrpSpPr>
        <p:grpSpPr>
          <a:xfrm>
            <a:off x="228600" y="685800"/>
            <a:ext cx="3810000" cy="1295400"/>
            <a:chOff x="228600" y="685800"/>
            <a:chExt cx="3810000" cy="1295400"/>
          </a:xfrm>
        </p:grpSpPr>
        <p:sp>
          <p:nvSpPr>
            <p:cNvPr id="9" name="Rectangle 9"/>
            <p:cNvSpPr/>
            <p:nvPr/>
          </p:nvSpPr>
          <p:spPr>
            <a:xfrm>
              <a:off x="228600" y="685800"/>
              <a:ext cx="3810000" cy="1295400"/>
            </a:xfrm>
            <a:prstGeom prst="roundRect">
              <a:avLst>
                <a:gd name="adj" fmla="val 4412"/>
              </a:avLst>
            </a:prstGeom>
            <a:solidFill>
              <a:srgbClr val="FFFFFF"/>
            </a:solidFill>
            <a:ln w="9525">
              <a:solidFill>
                <a:srgbClr val="C9D6E9"/>
              </a:solidFill>
            </a:ln>
          </p:spPr>
        </p:sp>
        <p:sp>
          <p:nvSpPr>
            <p:cNvPr id="10" name="Freeform 10"/>
            <p:cNvSpPr/>
            <p:nvPr/>
          </p:nvSpPr>
          <p:spPr>
            <a:xfrm>
              <a:off x="228600" y="685800"/>
              <a:ext cx="3810000" cy="247650"/>
            </a:xfrm>
            <a:custGeom>
              <a:avLst/>
              <a:gdLst/>
              <a:ahLst/>
              <a:cxnLst/>
              <a:rect l="l" t="t" r="r" b="b"/>
              <a:pathLst>
                <a:path w="3810000" h="247650">
                  <a:moveTo>
                    <a:pt x="0" y="57150"/>
                  </a:moveTo>
                  <a:cubicBezTo>
                    <a:pt x="0" y="25587"/>
                    <a:pt x="25587" y="0"/>
                    <a:pt x="57150" y="0"/>
                  </a:cubicBezTo>
                  <a:lnTo>
                    <a:pt x="3810000" y="0"/>
                  </a:lnTo>
                  <a:lnTo>
                    <a:pt x="3581400" y="247650"/>
                  </a:lnTo>
                  <a:lnTo>
                    <a:pt x="0" y="247650"/>
                  </a:lnTo>
                  <a:close/>
                </a:path>
              </a:pathLst>
            </a:custGeom>
            <a:solidFill>
              <a:srgbClr val="69281B"/>
            </a:solidFill>
            <a:ln>
              <a:noFill/>
            </a:ln>
          </p:spPr>
        </p:sp>
        <p:sp>
          <p:nvSpPr>
            <p:cNvPr id="11" name="TextBox 11"/>
            <p:cNvSpPr txBox="1"/>
            <p:nvPr/>
          </p:nvSpPr>
          <p:spPr>
            <a:xfrm>
              <a:off x="376238" y="756047"/>
              <a:ext cx="15280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举措一：园区楼宇商圈专项</a:t>
              </a:r>
            </a:p>
          </p:txBody>
        </p:sp>
        <p:grpSp>
          <p:nvGrpSpPr>
            <p:cNvPr id="20" name="Group 20"/>
            <p:cNvGrpSpPr/>
            <p:nvPr/>
          </p:nvGrpSpPr>
          <p:grpSpPr>
            <a:xfrm>
              <a:off x="519113" y="1166813"/>
              <a:ext cx="371476" cy="381000"/>
              <a:chOff x="519113" y="1166813"/>
              <a:chExt cx="371476" cy="381000"/>
            </a:xfrm>
          </p:grpSpPr>
          <p:sp>
            <p:nvSpPr>
              <p:cNvPr id="12" name="Freeform 12"/>
              <p:cNvSpPr/>
              <p:nvPr/>
            </p:nvSpPr>
            <p:spPr>
              <a:xfrm>
                <a:off x="519113" y="1538288"/>
                <a:ext cx="371476" cy="9525"/>
              </a:xfrm>
              <a:custGeom>
                <a:avLst/>
                <a:gdLst/>
                <a:ahLst/>
                <a:cxnLst/>
                <a:rect l="l" t="t" r="r" b="b"/>
                <a:pathLst>
                  <a:path w="371476" h="9525">
                    <a:moveTo>
                      <a:pt x="0" y="0"/>
                    </a:moveTo>
                    <a:lnTo>
                      <a:pt x="371476" y="0"/>
                    </a:lnTo>
                  </a:path>
                </a:pathLst>
              </a:custGeom>
              <a:noFill/>
              <a:ln w="41275">
                <a:solidFill>
                  <a:srgbClr val="E8735B"/>
                </a:solidFill>
              </a:ln>
            </p:spPr>
          </p:sp>
          <p:sp>
            <p:nvSpPr>
              <p:cNvPr id="13" name="Freeform 13"/>
              <p:cNvSpPr/>
              <p:nvPr/>
            </p:nvSpPr>
            <p:spPr>
              <a:xfrm>
                <a:off x="519113" y="1311275"/>
                <a:ext cx="371476" cy="9525"/>
              </a:xfrm>
              <a:custGeom>
                <a:avLst/>
                <a:gdLst/>
                <a:ahLst/>
                <a:cxnLst/>
                <a:rect l="l" t="t" r="r" b="b"/>
                <a:pathLst>
                  <a:path w="371476" h="9525">
                    <a:moveTo>
                      <a:pt x="0" y="0"/>
                    </a:moveTo>
                    <a:lnTo>
                      <a:pt x="371476" y="0"/>
                    </a:lnTo>
                  </a:path>
                </a:pathLst>
              </a:custGeom>
              <a:noFill/>
              <a:ln w="41275">
                <a:solidFill>
                  <a:srgbClr val="E8735B"/>
                </a:solidFill>
              </a:ln>
            </p:spPr>
          </p:sp>
          <p:sp>
            <p:nvSpPr>
              <p:cNvPr id="14" name="Freeform 14"/>
              <p:cNvSpPr/>
              <p:nvPr/>
            </p:nvSpPr>
            <p:spPr>
              <a:xfrm>
                <a:off x="560388" y="1166813"/>
                <a:ext cx="288925" cy="61913"/>
              </a:xfrm>
              <a:custGeom>
                <a:avLst/>
                <a:gdLst/>
                <a:ahLst/>
                <a:cxnLst/>
                <a:rect l="l" t="t" r="r" b="b"/>
                <a:pathLst>
                  <a:path w="288925" h="61913">
                    <a:moveTo>
                      <a:pt x="0" y="61913"/>
                    </a:moveTo>
                    <a:lnTo>
                      <a:pt x="144463" y="0"/>
                    </a:lnTo>
                    <a:lnTo>
                      <a:pt x="288925" y="61913"/>
                    </a:lnTo>
                  </a:path>
                </a:pathLst>
              </a:custGeom>
              <a:noFill/>
              <a:ln w="41275">
                <a:solidFill>
                  <a:srgbClr val="E8735B"/>
                </a:solidFill>
              </a:ln>
            </p:spPr>
          </p:sp>
          <p:sp>
            <p:nvSpPr>
              <p:cNvPr id="15" name="Freeform 15"/>
              <p:cNvSpPr/>
              <p:nvPr/>
            </p:nvSpPr>
            <p:spPr>
              <a:xfrm>
                <a:off x="539750" y="1311275"/>
                <a:ext cx="9525" cy="227013"/>
              </a:xfrm>
              <a:custGeom>
                <a:avLst/>
                <a:gdLst/>
                <a:ahLst/>
                <a:cxnLst/>
                <a:rect l="l" t="t" r="r" b="b"/>
                <a:pathLst>
                  <a:path w="9525" h="227013">
                    <a:moveTo>
                      <a:pt x="0" y="0"/>
                    </a:moveTo>
                    <a:lnTo>
                      <a:pt x="0" y="227013"/>
                    </a:lnTo>
                  </a:path>
                </a:pathLst>
              </a:custGeom>
              <a:noFill/>
              <a:ln w="41275">
                <a:solidFill>
                  <a:srgbClr val="E8735B"/>
                </a:solidFill>
              </a:ln>
            </p:spPr>
          </p:sp>
          <p:sp>
            <p:nvSpPr>
              <p:cNvPr id="16" name="Freeform 16"/>
              <p:cNvSpPr/>
              <p:nvPr/>
            </p:nvSpPr>
            <p:spPr>
              <a:xfrm>
                <a:off x="869951" y="1311275"/>
                <a:ext cx="9525" cy="227013"/>
              </a:xfrm>
              <a:custGeom>
                <a:avLst/>
                <a:gdLst/>
                <a:ahLst/>
                <a:cxnLst/>
                <a:rect l="l" t="t" r="r" b="b"/>
                <a:pathLst>
                  <a:path w="9525" h="227013">
                    <a:moveTo>
                      <a:pt x="0" y="0"/>
                    </a:moveTo>
                    <a:lnTo>
                      <a:pt x="0" y="227013"/>
                    </a:lnTo>
                  </a:path>
                </a:pathLst>
              </a:custGeom>
              <a:noFill/>
              <a:ln w="41275">
                <a:solidFill>
                  <a:srgbClr val="E8735B"/>
                </a:solidFill>
              </a:ln>
            </p:spPr>
          </p:sp>
          <p:sp>
            <p:nvSpPr>
              <p:cNvPr id="17" name="Freeform 17"/>
              <p:cNvSpPr/>
              <p:nvPr/>
            </p:nvSpPr>
            <p:spPr>
              <a:xfrm>
                <a:off x="622300" y="1393825"/>
                <a:ext cx="9525" cy="61913"/>
              </a:xfrm>
              <a:custGeom>
                <a:avLst/>
                <a:gdLst/>
                <a:ahLst/>
                <a:cxnLst/>
                <a:rect l="l" t="t" r="r" b="b"/>
                <a:pathLst>
                  <a:path w="9525" h="61913">
                    <a:moveTo>
                      <a:pt x="0" y="0"/>
                    </a:moveTo>
                    <a:lnTo>
                      <a:pt x="0" y="61913"/>
                    </a:lnTo>
                  </a:path>
                </a:pathLst>
              </a:custGeom>
              <a:noFill/>
              <a:ln w="41275">
                <a:solidFill>
                  <a:srgbClr val="E8735B"/>
                </a:solidFill>
              </a:ln>
            </p:spPr>
          </p:sp>
          <p:sp>
            <p:nvSpPr>
              <p:cNvPr id="18" name="Freeform 18"/>
              <p:cNvSpPr/>
              <p:nvPr/>
            </p:nvSpPr>
            <p:spPr>
              <a:xfrm>
                <a:off x="704850" y="1393825"/>
                <a:ext cx="9525" cy="61913"/>
              </a:xfrm>
              <a:custGeom>
                <a:avLst/>
                <a:gdLst/>
                <a:ahLst/>
                <a:cxnLst/>
                <a:rect l="l" t="t" r="r" b="b"/>
                <a:pathLst>
                  <a:path w="9525" h="61913">
                    <a:moveTo>
                      <a:pt x="0" y="0"/>
                    </a:moveTo>
                    <a:lnTo>
                      <a:pt x="0" y="61913"/>
                    </a:lnTo>
                  </a:path>
                </a:pathLst>
              </a:custGeom>
              <a:noFill/>
              <a:ln w="41275">
                <a:solidFill>
                  <a:srgbClr val="E8735B"/>
                </a:solidFill>
              </a:ln>
            </p:spPr>
          </p:sp>
          <p:sp>
            <p:nvSpPr>
              <p:cNvPr id="19" name="Freeform 19"/>
              <p:cNvSpPr/>
              <p:nvPr/>
            </p:nvSpPr>
            <p:spPr>
              <a:xfrm>
                <a:off x="787401" y="1393825"/>
                <a:ext cx="9525" cy="61913"/>
              </a:xfrm>
              <a:custGeom>
                <a:avLst/>
                <a:gdLst/>
                <a:ahLst/>
                <a:cxnLst/>
                <a:rect l="l" t="t" r="r" b="b"/>
                <a:pathLst>
                  <a:path w="9525" h="61913">
                    <a:moveTo>
                      <a:pt x="0" y="0"/>
                    </a:moveTo>
                    <a:lnTo>
                      <a:pt x="0" y="61913"/>
                    </a:lnTo>
                  </a:path>
                </a:pathLst>
              </a:custGeom>
              <a:noFill/>
              <a:ln w="41275">
                <a:solidFill>
                  <a:srgbClr val="E8735B"/>
                </a:solidFill>
              </a:ln>
            </p:spPr>
          </p:sp>
        </p:grpSp>
        <p:sp>
          <p:nvSpPr>
            <p:cNvPr id="21" name="TextBox 21"/>
            <p:cNvSpPr txBox="1"/>
            <p:nvPr/>
          </p:nvSpPr>
          <p:spPr>
            <a:xfrm>
              <a:off x="1233488" y="1115139"/>
              <a:ext cx="222225" cy="154781"/>
            </a:xfrm>
            <a:prstGeom prst="rect">
              <a:avLst/>
            </a:prstGeom>
            <a:noFill/>
            <a:ln>
              <a:noFill/>
            </a:ln>
          </p:spPr>
          <p:txBody>
            <a:bodyPr wrap="none" lIns="0" tIns="0" rIns="0" bIns="0" anchor="t" anchorCtr="0">
              <a:spAutoFit/>
            </a:bodyPr>
            <a:lstStyle/>
            <a:p>
              <a:pPr algn="l"/>
              <a:r>
                <a:rPr lang="zh-CN" sz="790" dirty="0">
                  <a:solidFill>
                    <a:srgbClr val="987F7A"/>
                  </a:solidFill>
                  <a:latin typeface="+mn-lt"/>
                  <a:ea typeface="+mn-ea"/>
                  <a:cs typeface="+mn-cs"/>
                </a:rPr>
                <a:t>走访</a:t>
              </a:r>
            </a:p>
          </p:txBody>
        </p:sp>
        <p:sp>
          <p:nvSpPr>
            <p:cNvPr id="22" name="TextBox 22"/>
            <p:cNvSpPr txBox="1"/>
            <p:nvPr/>
          </p:nvSpPr>
          <p:spPr>
            <a:xfrm>
              <a:off x="1611630" y="1057275"/>
              <a:ext cx="825316" cy="293370"/>
            </a:xfrm>
            <a:prstGeom prst="rect">
              <a:avLst/>
            </a:prstGeom>
            <a:noFill/>
            <a:ln>
              <a:noFill/>
            </a:ln>
          </p:spPr>
          <p:txBody>
            <a:bodyPr wrap="none" lIns="0" tIns="0" rIns="0" bIns="0" anchor="t" anchorCtr="0">
              <a:spAutoFit/>
            </a:bodyPr>
            <a:lstStyle/>
            <a:p>
              <a:pPr algn="l"/>
              <a:r>
                <a:rPr lang="zh-CN" sz="1500" b="1" dirty="0">
                  <a:solidFill>
                    <a:srgbClr val="E04C2E"/>
                  </a:solidFill>
                  <a:latin typeface="+mn-lt"/>
                  <a:ea typeface="+mn-ea"/>
                  <a:cs typeface="+mn-cs"/>
                </a:rPr>
                <a:t>1,860</a:t>
              </a:r>
              <a:r>
                <a:rPr lang="zh-CN" sz="820" b="1" dirty="0">
                  <a:solidFill>
                    <a:srgbClr val="E04C2E"/>
                  </a:solidFill>
                  <a:latin typeface="+mn-lt"/>
                  <a:ea typeface="+mn-ea"/>
                  <a:cs typeface="+mn-cs"/>
                </a:rPr>
                <a:t>家</a:t>
              </a:r>
              <a:r>
                <a:rPr lang="zh-CN" sz="1500" b="1" dirty="0">
                  <a:solidFill>
                    <a:srgbClr val="E04C2E"/>
                  </a:solidFill>
                  <a:latin typeface="+mn-lt"/>
                  <a:ea typeface="+mn-ea"/>
                  <a:cs typeface="+mn-cs"/>
                </a:rPr>
                <a:t>​</a:t>
              </a:r>
            </a:p>
          </p:txBody>
        </p:sp>
        <p:sp>
          <p:nvSpPr>
            <p:cNvPr id="23" name="TextBox 23"/>
            <p:cNvSpPr txBox="1"/>
            <p:nvPr/>
          </p:nvSpPr>
          <p:spPr>
            <a:xfrm>
              <a:off x="1233488" y="1496139"/>
              <a:ext cx="434924" cy="154781"/>
            </a:xfrm>
            <a:prstGeom prst="rect">
              <a:avLst/>
            </a:prstGeom>
            <a:noFill/>
            <a:ln>
              <a:noFill/>
            </a:ln>
          </p:spPr>
          <p:txBody>
            <a:bodyPr wrap="none" lIns="0" tIns="0" rIns="0" bIns="0" anchor="t" anchorCtr="0">
              <a:spAutoFit/>
            </a:bodyPr>
            <a:lstStyle/>
            <a:p>
              <a:pPr algn="l"/>
              <a:r>
                <a:rPr lang="zh-CN" sz="790" dirty="0">
                  <a:solidFill>
                    <a:srgbClr val="987F7A"/>
                  </a:solidFill>
                  <a:latin typeface="+mn-lt"/>
                  <a:ea typeface="+mn-ea"/>
                  <a:cs typeface="+mn-cs"/>
                </a:rPr>
                <a:t>新增开户</a:t>
              </a:r>
            </a:p>
          </p:txBody>
        </p:sp>
        <p:sp>
          <p:nvSpPr>
            <p:cNvPr id="24" name="TextBox 24"/>
            <p:cNvSpPr txBox="1"/>
            <p:nvPr/>
          </p:nvSpPr>
          <p:spPr>
            <a:xfrm>
              <a:off x="1897380" y="1438275"/>
              <a:ext cx="825316"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1,240</a:t>
              </a:r>
              <a:r>
                <a:rPr lang="zh-CN" sz="820" b="1" dirty="0">
                  <a:solidFill>
                    <a:srgbClr val="69281B"/>
                  </a:solidFill>
                  <a:latin typeface="+mn-lt"/>
                  <a:ea typeface="+mn-ea"/>
                  <a:cs typeface="+mn-cs"/>
                </a:rPr>
                <a:t>户</a:t>
              </a:r>
              <a:r>
                <a:rPr lang="zh-CN" sz="1500" b="1" dirty="0">
                  <a:solidFill>
                    <a:srgbClr val="69281B"/>
                  </a:solidFill>
                  <a:latin typeface="+mn-lt"/>
                  <a:ea typeface="+mn-ea"/>
                  <a:cs typeface="+mn-cs"/>
                </a:rPr>
                <a:t>​</a:t>
              </a:r>
            </a:p>
          </p:txBody>
        </p:sp>
        <p:sp>
          <p:nvSpPr>
            <p:cNvPr id="25" name="TextBox 25"/>
            <p:cNvSpPr txBox="1"/>
            <p:nvPr/>
          </p:nvSpPr>
          <p:spPr>
            <a:xfrm>
              <a:off x="1233488" y="1779032"/>
              <a:ext cx="526466"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（示例数据）</a:t>
              </a:r>
            </a:p>
          </p:txBody>
        </p:sp>
      </p:grpSp>
      <p:grpSp>
        <p:nvGrpSpPr>
          <p:cNvPr id="60" name="measure-2"/>
          <p:cNvGrpSpPr/>
          <p:nvPr/>
        </p:nvGrpSpPr>
        <p:grpSpPr>
          <a:xfrm>
            <a:off x="4171950" y="685800"/>
            <a:ext cx="3810000" cy="1295400"/>
            <a:chOff x="4171950" y="685800"/>
            <a:chExt cx="3810000" cy="1295400"/>
          </a:xfrm>
        </p:grpSpPr>
        <p:sp>
          <p:nvSpPr>
            <p:cNvPr id="27" name="Rectangle 27"/>
            <p:cNvSpPr/>
            <p:nvPr/>
          </p:nvSpPr>
          <p:spPr>
            <a:xfrm>
              <a:off x="4171950" y="685800"/>
              <a:ext cx="3810000" cy="1295400"/>
            </a:xfrm>
            <a:prstGeom prst="roundRect">
              <a:avLst>
                <a:gd name="adj" fmla="val 4412"/>
              </a:avLst>
            </a:prstGeom>
            <a:solidFill>
              <a:srgbClr val="FFFFFF"/>
            </a:solidFill>
            <a:ln w="9525">
              <a:solidFill>
                <a:srgbClr val="C9D6E9"/>
              </a:solidFill>
            </a:ln>
          </p:spPr>
        </p:sp>
        <p:sp>
          <p:nvSpPr>
            <p:cNvPr id="28" name="Freeform 28"/>
            <p:cNvSpPr/>
            <p:nvPr/>
          </p:nvSpPr>
          <p:spPr>
            <a:xfrm>
              <a:off x="4171950" y="685800"/>
              <a:ext cx="3810000" cy="247650"/>
            </a:xfrm>
            <a:custGeom>
              <a:avLst/>
              <a:gdLst/>
              <a:ahLst/>
              <a:cxnLst/>
              <a:rect l="l" t="t" r="r" b="b"/>
              <a:pathLst>
                <a:path w="3810000" h="247650">
                  <a:moveTo>
                    <a:pt x="0" y="57150"/>
                  </a:moveTo>
                  <a:cubicBezTo>
                    <a:pt x="0" y="25587"/>
                    <a:pt x="25587" y="0"/>
                    <a:pt x="57150" y="0"/>
                  </a:cubicBezTo>
                  <a:lnTo>
                    <a:pt x="3810000" y="0"/>
                  </a:lnTo>
                  <a:lnTo>
                    <a:pt x="3581400" y="247650"/>
                  </a:lnTo>
                  <a:lnTo>
                    <a:pt x="0" y="247650"/>
                  </a:lnTo>
                  <a:close/>
                </a:path>
              </a:pathLst>
            </a:custGeom>
            <a:solidFill>
              <a:srgbClr val="69281B"/>
            </a:solidFill>
            <a:ln>
              <a:noFill/>
            </a:ln>
          </p:spPr>
        </p:sp>
        <p:sp>
          <p:nvSpPr>
            <p:cNvPr id="29" name="TextBox 29"/>
            <p:cNvSpPr txBox="1"/>
            <p:nvPr/>
          </p:nvSpPr>
          <p:spPr>
            <a:xfrm>
              <a:off x="4319588" y="756047"/>
              <a:ext cx="1274953"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举措二：资金场景归集</a:t>
              </a:r>
            </a:p>
          </p:txBody>
        </p:sp>
        <p:grpSp>
          <p:nvGrpSpPr>
            <p:cNvPr id="38" name="Group 38"/>
            <p:cNvGrpSpPr/>
            <p:nvPr/>
          </p:nvGrpSpPr>
          <p:grpSpPr>
            <a:xfrm>
              <a:off x="4502944" y="1092994"/>
              <a:ext cx="157956" cy="166687"/>
              <a:chOff x="4502944" y="1092994"/>
              <a:chExt cx="157956" cy="166687"/>
            </a:xfrm>
          </p:grpSpPr>
          <p:sp>
            <p:nvSpPr>
              <p:cNvPr id="30" name="Freeform 30"/>
              <p:cNvSpPr/>
              <p:nvPr/>
            </p:nvSpPr>
            <p:spPr>
              <a:xfrm>
                <a:off x="4502944" y="1250156"/>
                <a:ext cx="157163" cy="9525"/>
              </a:xfrm>
              <a:custGeom>
                <a:avLst/>
                <a:gdLst/>
                <a:ahLst/>
                <a:cxnLst/>
                <a:rect l="l" t="t" r="r" b="b"/>
                <a:pathLst>
                  <a:path w="157163" h="9525">
                    <a:moveTo>
                      <a:pt x="0" y="0"/>
                    </a:moveTo>
                    <a:lnTo>
                      <a:pt x="157163" y="0"/>
                    </a:lnTo>
                  </a:path>
                </a:pathLst>
              </a:custGeom>
              <a:noFill/>
              <a:ln w="17463">
                <a:solidFill>
                  <a:srgbClr val="E04C2E"/>
                </a:solidFill>
              </a:ln>
            </p:spPr>
          </p:sp>
          <p:sp>
            <p:nvSpPr>
              <p:cNvPr id="31" name="Freeform 31"/>
              <p:cNvSpPr/>
              <p:nvPr/>
            </p:nvSpPr>
            <p:spPr>
              <a:xfrm>
                <a:off x="4502944" y="1154113"/>
                <a:ext cx="157163" cy="9525"/>
              </a:xfrm>
              <a:custGeom>
                <a:avLst/>
                <a:gdLst/>
                <a:ahLst/>
                <a:cxnLst/>
                <a:rect l="l" t="t" r="r" b="b"/>
                <a:pathLst>
                  <a:path w="157163" h="9525">
                    <a:moveTo>
                      <a:pt x="0" y="0"/>
                    </a:moveTo>
                    <a:lnTo>
                      <a:pt x="157163" y="0"/>
                    </a:lnTo>
                  </a:path>
                </a:pathLst>
              </a:custGeom>
              <a:noFill/>
              <a:ln w="17463">
                <a:solidFill>
                  <a:srgbClr val="E04C2E"/>
                </a:solidFill>
              </a:ln>
            </p:spPr>
          </p:sp>
          <p:sp>
            <p:nvSpPr>
              <p:cNvPr id="32" name="Freeform 32"/>
              <p:cNvSpPr/>
              <p:nvPr/>
            </p:nvSpPr>
            <p:spPr>
              <a:xfrm>
                <a:off x="4520406" y="1092994"/>
                <a:ext cx="122238" cy="26194"/>
              </a:xfrm>
              <a:custGeom>
                <a:avLst/>
                <a:gdLst/>
                <a:ahLst/>
                <a:cxnLst/>
                <a:rect l="l" t="t" r="r" b="b"/>
                <a:pathLst>
                  <a:path w="122238" h="26194">
                    <a:moveTo>
                      <a:pt x="0" y="26194"/>
                    </a:moveTo>
                    <a:lnTo>
                      <a:pt x="61119" y="0"/>
                    </a:lnTo>
                    <a:lnTo>
                      <a:pt x="122238" y="26194"/>
                    </a:lnTo>
                  </a:path>
                </a:pathLst>
              </a:custGeom>
              <a:noFill/>
              <a:ln w="17463">
                <a:solidFill>
                  <a:srgbClr val="E04C2E"/>
                </a:solidFill>
              </a:ln>
            </p:spPr>
          </p:sp>
          <p:sp>
            <p:nvSpPr>
              <p:cNvPr id="33" name="Freeform 33"/>
              <p:cNvSpPr/>
              <p:nvPr/>
            </p:nvSpPr>
            <p:spPr>
              <a:xfrm>
                <a:off x="4511675" y="1154113"/>
                <a:ext cx="9525" cy="96044"/>
              </a:xfrm>
              <a:custGeom>
                <a:avLst/>
                <a:gdLst/>
                <a:ahLst/>
                <a:cxnLst/>
                <a:rect l="l" t="t" r="r" b="b"/>
                <a:pathLst>
                  <a:path w="9525" h="96044">
                    <a:moveTo>
                      <a:pt x="0" y="0"/>
                    </a:moveTo>
                    <a:lnTo>
                      <a:pt x="0" y="96044"/>
                    </a:lnTo>
                  </a:path>
                </a:pathLst>
              </a:custGeom>
              <a:noFill/>
              <a:ln w="17463">
                <a:solidFill>
                  <a:srgbClr val="E04C2E"/>
                </a:solidFill>
              </a:ln>
            </p:spPr>
          </p:sp>
          <p:sp>
            <p:nvSpPr>
              <p:cNvPr id="34" name="Freeform 34"/>
              <p:cNvSpPr/>
              <p:nvPr/>
            </p:nvSpPr>
            <p:spPr>
              <a:xfrm>
                <a:off x="4651375" y="1154113"/>
                <a:ext cx="9525" cy="96044"/>
              </a:xfrm>
              <a:custGeom>
                <a:avLst/>
                <a:gdLst/>
                <a:ahLst/>
                <a:cxnLst/>
                <a:rect l="l" t="t" r="r" b="b"/>
                <a:pathLst>
                  <a:path w="9525" h="96044">
                    <a:moveTo>
                      <a:pt x="0" y="0"/>
                    </a:moveTo>
                    <a:lnTo>
                      <a:pt x="0" y="96044"/>
                    </a:lnTo>
                  </a:path>
                </a:pathLst>
              </a:custGeom>
              <a:noFill/>
              <a:ln w="17463">
                <a:solidFill>
                  <a:srgbClr val="E04C2E"/>
                </a:solidFill>
              </a:ln>
            </p:spPr>
          </p:sp>
          <p:sp>
            <p:nvSpPr>
              <p:cNvPr id="35" name="Freeform 35"/>
              <p:cNvSpPr/>
              <p:nvPr/>
            </p:nvSpPr>
            <p:spPr>
              <a:xfrm>
                <a:off x="4546600" y="1189038"/>
                <a:ext cx="9525" cy="26194"/>
              </a:xfrm>
              <a:custGeom>
                <a:avLst/>
                <a:gdLst/>
                <a:ahLst/>
                <a:cxnLst/>
                <a:rect l="l" t="t" r="r" b="b"/>
                <a:pathLst>
                  <a:path w="9525" h="26194">
                    <a:moveTo>
                      <a:pt x="0" y="0"/>
                    </a:moveTo>
                    <a:lnTo>
                      <a:pt x="0" y="26194"/>
                    </a:lnTo>
                  </a:path>
                </a:pathLst>
              </a:custGeom>
              <a:noFill/>
              <a:ln w="17463">
                <a:solidFill>
                  <a:srgbClr val="E04C2E"/>
                </a:solidFill>
              </a:ln>
            </p:spPr>
          </p:sp>
          <p:sp>
            <p:nvSpPr>
              <p:cNvPr id="36" name="Freeform 36"/>
              <p:cNvSpPr/>
              <p:nvPr/>
            </p:nvSpPr>
            <p:spPr>
              <a:xfrm>
                <a:off x="4581525" y="1189038"/>
                <a:ext cx="9525" cy="26194"/>
              </a:xfrm>
              <a:custGeom>
                <a:avLst/>
                <a:gdLst/>
                <a:ahLst/>
                <a:cxnLst/>
                <a:rect l="l" t="t" r="r" b="b"/>
                <a:pathLst>
                  <a:path w="9525" h="26194">
                    <a:moveTo>
                      <a:pt x="0" y="0"/>
                    </a:moveTo>
                    <a:lnTo>
                      <a:pt x="0" y="26194"/>
                    </a:lnTo>
                  </a:path>
                </a:pathLst>
              </a:custGeom>
              <a:noFill/>
              <a:ln w="17463">
                <a:solidFill>
                  <a:srgbClr val="E04C2E"/>
                </a:solidFill>
              </a:ln>
            </p:spPr>
          </p:sp>
          <p:sp>
            <p:nvSpPr>
              <p:cNvPr id="37" name="Freeform 37"/>
              <p:cNvSpPr/>
              <p:nvPr/>
            </p:nvSpPr>
            <p:spPr>
              <a:xfrm>
                <a:off x="4616450" y="1189038"/>
                <a:ext cx="9525" cy="26194"/>
              </a:xfrm>
              <a:custGeom>
                <a:avLst/>
                <a:gdLst/>
                <a:ahLst/>
                <a:cxnLst/>
                <a:rect l="l" t="t" r="r" b="b"/>
                <a:pathLst>
                  <a:path w="9525" h="26194">
                    <a:moveTo>
                      <a:pt x="0" y="0"/>
                    </a:moveTo>
                    <a:lnTo>
                      <a:pt x="0" y="26194"/>
                    </a:lnTo>
                  </a:path>
                </a:pathLst>
              </a:custGeom>
              <a:noFill/>
              <a:ln w="17463">
                <a:solidFill>
                  <a:srgbClr val="E04C2E"/>
                </a:solidFill>
              </a:ln>
            </p:spPr>
          </p:sp>
        </p:grpSp>
        <p:sp>
          <p:nvSpPr>
            <p:cNvPr id="39" name="TextBox 39"/>
            <p:cNvSpPr txBox="1"/>
            <p:nvPr/>
          </p:nvSpPr>
          <p:spPr>
            <a:xfrm>
              <a:off x="4377525" y="1368457"/>
              <a:ext cx="408000" cy="144780"/>
            </a:xfrm>
            <a:prstGeom prst="rect">
              <a:avLst/>
            </a:prstGeom>
            <a:noFill/>
            <a:ln>
              <a:noFill/>
            </a:ln>
          </p:spPr>
          <p:txBody>
            <a:bodyPr wrap="none" lIns="0" tIns="0" rIns="0" bIns="0" anchor="t" anchorCtr="0">
              <a:spAutoFit/>
            </a:bodyPr>
            <a:lstStyle/>
            <a:p>
              <a:pPr algn="ctr"/>
              <a:r>
                <a:rPr lang="zh-CN" sz="740" dirty="0">
                  <a:solidFill>
                    <a:srgbClr val="70504A"/>
                  </a:solidFill>
                  <a:latin typeface="+mn-lt"/>
                  <a:ea typeface="+mn-ea"/>
                  <a:cs typeface="+mn-cs"/>
                </a:rPr>
                <a:t>监管资金</a:t>
              </a:r>
            </a:p>
          </p:txBody>
        </p:sp>
        <p:sp>
          <p:nvSpPr>
            <p:cNvPr id="40" name="TextBox 40"/>
            <p:cNvSpPr txBox="1"/>
            <p:nvPr/>
          </p:nvSpPr>
          <p:spPr>
            <a:xfrm>
              <a:off x="4272609" y="1559004"/>
              <a:ext cx="617832" cy="212693"/>
            </a:xfrm>
            <a:prstGeom prst="rect">
              <a:avLst/>
            </a:prstGeom>
            <a:noFill/>
            <a:ln>
              <a:noFill/>
            </a:ln>
          </p:spPr>
          <p:txBody>
            <a:bodyPr wrap="none" lIns="0" tIns="0" rIns="0" bIns="0" anchor="t" anchorCtr="0">
              <a:spAutoFit/>
            </a:bodyPr>
            <a:lstStyle/>
            <a:p>
              <a:pPr algn="ctr"/>
              <a:r>
                <a:rPr lang="zh-CN" sz="1090" b="1" dirty="0">
                  <a:solidFill>
                    <a:srgbClr val="69281B"/>
                  </a:solidFill>
                  <a:latin typeface="+mn-lt"/>
                  <a:ea typeface="+mn-ea"/>
                  <a:cs typeface="+mn-cs"/>
                </a:rPr>
                <a:t>18.2</a:t>
              </a:r>
              <a:r>
                <a:rPr lang="zh-CN" sz="680" b="1" dirty="0">
                  <a:solidFill>
                    <a:srgbClr val="69281B"/>
                  </a:solidFill>
                  <a:latin typeface="+mn-lt"/>
                  <a:ea typeface="+mn-ea"/>
                  <a:cs typeface="+mn-cs"/>
                </a:rPr>
                <a:t>亿元</a:t>
              </a:r>
              <a:r>
                <a:rPr lang="zh-CN" sz="1090" b="1" dirty="0">
                  <a:solidFill>
                    <a:srgbClr val="69281B"/>
                  </a:solidFill>
                  <a:latin typeface="+mn-lt"/>
                  <a:ea typeface="+mn-ea"/>
                  <a:cs typeface="+mn-cs"/>
                </a:rPr>
                <a:t>​</a:t>
              </a:r>
            </a:p>
          </p:txBody>
        </p:sp>
        <p:grpSp>
          <p:nvGrpSpPr>
            <p:cNvPr id="44" name="Group 44"/>
            <p:cNvGrpSpPr/>
            <p:nvPr/>
          </p:nvGrpSpPr>
          <p:grpSpPr>
            <a:xfrm>
              <a:off x="5455444" y="1092994"/>
              <a:ext cx="157163" cy="157162"/>
              <a:chOff x="5455444" y="1092994"/>
              <a:chExt cx="157163" cy="157162"/>
            </a:xfrm>
          </p:grpSpPr>
          <p:sp>
            <p:nvSpPr>
              <p:cNvPr id="41" name="Freeform 41"/>
              <p:cNvSpPr/>
              <p:nvPr/>
            </p:nvSpPr>
            <p:spPr>
              <a:xfrm>
                <a:off x="5455444" y="1092994"/>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E04C2E"/>
                </a:solidFill>
              </a:ln>
            </p:spPr>
          </p:sp>
          <p:sp>
            <p:nvSpPr>
              <p:cNvPr id="42" name="Freeform 42"/>
              <p:cNvSpPr/>
              <p:nvPr/>
            </p:nvSpPr>
            <p:spPr>
              <a:xfrm>
                <a:off x="5472906" y="1171575"/>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E04C2E"/>
                </a:solidFill>
              </a:ln>
            </p:spPr>
          </p:sp>
          <p:sp>
            <p:nvSpPr>
              <p:cNvPr id="43" name="Freeform 43"/>
              <p:cNvSpPr/>
              <p:nvPr/>
            </p:nvSpPr>
            <p:spPr>
              <a:xfrm>
                <a:off x="5507831" y="1180306"/>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E04C2E"/>
                </a:solidFill>
              </a:ln>
            </p:spPr>
          </p:sp>
        </p:grpSp>
        <p:sp>
          <p:nvSpPr>
            <p:cNvPr id="45" name="TextBox 45"/>
            <p:cNvSpPr txBox="1"/>
            <p:nvPr/>
          </p:nvSpPr>
          <p:spPr>
            <a:xfrm>
              <a:off x="5330025" y="1368457"/>
              <a:ext cx="408000" cy="144780"/>
            </a:xfrm>
            <a:prstGeom prst="rect">
              <a:avLst/>
            </a:prstGeom>
            <a:noFill/>
            <a:ln>
              <a:noFill/>
            </a:ln>
          </p:spPr>
          <p:txBody>
            <a:bodyPr wrap="none" lIns="0" tIns="0" rIns="0" bIns="0" anchor="t" anchorCtr="0">
              <a:spAutoFit/>
            </a:bodyPr>
            <a:lstStyle/>
            <a:p>
              <a:pPr algn="ctr"/>
              <a:r>
                <a:rPr lang="zh-CN" sz="740" dirty="0">
                  <a:solidFill>
                    <a:srgbClr val="70504A"/>
                  </a:solidFill>
                  <a:latin typeface="+mn-lt"/>
                  <a:ea typeface="+mn-ea"/>
                  <a:cs typeface="+mn-cs"/>
                </a:rPr>
                <a:t>售楼资金</a:t>
              </a:r>
            </a:p>
          </p:txBody>
        </p:sp>
        <p:sp>
          <p:nvSpPr>
            <p:cNvPr id="46" name="TextBox 46"/>
            <p:cNvSpPr txBox="1"/>
            <p:nvPr/>
          </p:nvSpPr>
          <p:spPr>
            <a:xfrm>
              <a:off x="5225109" y="1559004"/>
              <a:ext cx="617832" cy="212693"/>
            </a:xfrm>
            <a:prstGeom prst="rect">
              <a:avLst/>
            </a:prstGeom>
            <a:noFill/>
            <a:ln>
              <a:noFill/>
            </a:ln>
          </p:spPr>
          <p:txBody>
            <a:bodyPr wrap="none" lIns="0" tIns="0" rIns="0" bIns="0" anchor="t" anchorCtr="0">
              <a:spAutoFit/>
            </a:bodyPr>
            <a:lstStyle/>
            <a:p>
              <a:pPr algn="ctr"/>
              <a:r>
                <a:rPr lang="zh-CN" sz="1090" b="1" dirty="0">
                  <a:solidFill>
                    <a:srgbClr val="69281B"/>
                  </a:solidFill>
                  <a:latin typeface="+mn-lt"/>
                  <a:ea typeface="+mn-ea"/>
                  <a:cs typeface="+mn-cs"/>
                </a:rPr>
                <a:t>12.6</a:t>
              </a:r>
              <a:r>
                <a:rPr lang="zh-CN" sz="680" b="1" dirty="0">
                  <a:solidFill>
                    <a:srgbClr val="69281B"/>
                  </a:solidFill>
                  <a:latin typeface="+mn-lt"/>
                  <a:ea typeface="+mn-ea"/>
                  <a:cs typeface="+mn-cs"/>
                </a:rPr>
                <a:t>亿元</a:t>
              </a:r>
              <a:r>
                <a:rPr lang="zh-CN" sz="1090" b="1" dirty="0">
                  <a:solidFill>
                    <a:srgbClr val="69281B"/>
                  </a:solidFill>
                  <a:latin typeface="+mn-lt"/>
                  <a:ea typeface="+mn-ea"/>
                  <a:cs typeface="+mn-cs"/>
                </a:rPr>
                <a:t>​</a:t>
              </a:r>
            </a:p>
          </p:txBody>
        </p:sp>
        <p:grpSp>
          <p:nvGrpSpPr>
            <p:cNvPr id="50" name="Group 50"/>
            <p:cNvGrpSpPr/>
            <p:nvPr/>
          </p:nvGrpSpPr>
          <p:grpSpPr>
            <a:xfrm>
              <a:off x="6416675" y="1092994"/>
              <a:ext cx="139700" cy="157162"/>
              <a:chOff x="6416675" y="1092994"/>
              <a:chExt cx="139700" cy="157162"/>
            </a:xfrm>
          </p:grpSpPr>
          <p:sp>
            <p:nvSpPr>
              <p:cNvPr id="47" name="Freeform 47"/>
              <p:cNvSpPr/>
              <p:nvPr/>
            </p:nvSpPr>
            <p:spPr>
              <a:xfrm>
                <a:off x="6416675" y="10929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E04C2E"/>
                </a:solidFill>
              </a:ln>
            </p:spPr>
          </p:sp>
          <p:sp>
            <p:nvSpPr>
              <p:cNvPr id="48" name="Freeform 48"/>
              <p:cNvSpPr/>
              <p:nvPr/>
            </p:nvSpPr>
            <p:spPr>
              <a:xfrm>
                <a:off x="6416675" y="11191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E04C2E"/>
                </a:solidFill>
              </a:ln>
            </p:spPr>
          </p:sp>
          <p:sp>
            <p:nvSpPr>
              <p:cNvPr id="49" name="Freeform 49"/>
              <p:cNvSpPr/>
              <p:nvPr/>
            </p:nvSpPr>
            <p:spPr>
              <a:xfrm>
                <a:off x="6416675" y="11715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E04C2E"/>
                </a:solidFill>
              </a:ln>
            </p:spPr>
          </p:sp>
        </p:grpSp>
        <p:sp>
          <p:nvSpPr>
            <p:cNvPr id="51" name="TextBox 51"/>
            <p:cNvSpPr txBox="1"/>
            <p:nvPr/>
          </p:nvSpPr>
          <p:spPr>
            <a:xfrm>
              <a:off x="6282525" y="1368457"/>
              <a:ext cx="408000" cy="144780"/>
            </a:xfrm>
            <a:prstGeom prst="rect">
              <a:avLst/>
            </a:prstGeom>
            <a:noFill/>
            <a:ln>
              <a:noFill/>
            </a:ln>
          </p:spPr>
          <p:txBody>
            <a:bodyPr wrap="none" lIns="0" tIns="0" rIns="0" bIns="0" anchor="t" anchorCtr="0">
              <a:spAutoFit/>
            </a:bodyPr>
            <a:lstStyle/>
            <a:p>
              <a:pPr algn="ctr"/>
              <a:r>
                <a:rPr lang="zh-CN" sz="740" dirty="0">
                  <a:solidFill>
                    <a:srgbClr val="70504A"/>
                  </a:solidFill>
                  <a:latin typeface="+mn-lt"/>
                  <a:ea typeface="+mn-ea"/>
                  <a:cs typeface="+mn-cs"/>
                </a:rPr>
                <a:t>土地资金</a:t>
              </a:r>
            </a:p>
          </p:txBody>
        </p:sp>
        <p:sp>
          <p:nvSpPr>
            <p:cNvPr id="52" name="TextBox 52"/>
            <p:cNvSpPr txBox="1"/>
            <p:nvPr/>
          </p:nvSpPr>
          <p:spPr>
            <a:xfrm>
              <a:off x="6219979" y="1559004"/>
              <a:ext cx="533092" cy="212693"/>
            </a:xfrm>
            <a:prstGeom prst="rect">
              <a:avLst/>
            </a:prstGeom>
            <a:noFill/>
            <a:ln>
              <a:noFill/>
            </a:ln>
          </p:spPr>
          <p:txBody>
            <a:bodyPr wrap="none" lIns="0" tIns="0" rIns="0" bIns="0" anchor="t" anchorCtr="0">
              <a:spAutoFit/>
            </a:bodyPr>
            <a:lstStyle/>
            <a:p>
              <a:pPr algn="ctr"/>
              <a:r>
                <a:rPr lang="zh-CN" sz="1090" b="1" dirty="0">
                  <a:solidFill>
                    <a:srgbClr val="69281B"/>
                  </a:solidFill>
                  <a:latin typeface="+mn-lt"/>
                  <a:ea typeface="+mn-ea"/>
                  <a:cs typeface="+mn-cs"/>
                </a:rPr>
                <a:t>7.8</a:t>
              </a:r>
              <a:r>
                <a:rPr lang="zh-CN" sz="680" b="1" dirty="0">
                  <a:solidFill>
                    <a:srgbClr val="69281B"/>
                  </a:solidFill>
                  <a:latin typeface="+mn-lt"/>
                  <a:ea typeface="+mn-ea"/>
                  <a:cs typeface="+mn-cs"/>
                </a:rPr>
                <a:t>亿元</a:t>
              </a:r>
              <a:r>
                <a:rPr lang="zh-CN" sz="1090" b="1" dirty="0">
                  <a:solidFill>
                    <a:srgbClr val="69281B"/>
                  </a:solidFill>
                  <a:latin typeface="+mn-lt"/>
                  <a:ea typeface="+mn-ea"/>
                  <a:cs typeface="+mn-cs"/>
                </a:rPr>
                <a:t>​</a:t>
              </a:r>
            </a:p>
          </p:txBody>
        </p:sp>
        <p:grpSp>
          <p:nvGrpSpPr>
            <p:cNvPr id="56" name="Group 56"/>
            <p:cNvGrpSpPr/>
            <p:nvPr/>
          </p:nvGrpSpPr>
          <p:grpSpPr>
            <a:xfrm>
              <a:off x="7360444" y="1110456"/>
              <a:ext cx="157163" cy="122238"/>
              <a:chOff x="7360444" y="1110456"/>
              <a:chExt cx="157163" cy="122238"/>
            </a:xfrm>
          </p:grpSpPr>
          <p:sp>
            <p:nvSpPr>
              <p:cNvPr id="53" name="Freeform 53"/>
              <p:cNvSpPr/>
              <p:nvPr/>
            </p:nvSpPr>
            <p:spPr>
              <a:xfrm>
                <a:off x="7360444" y="1110456"/>
                <a:ext cx="122238" cy="87313"/>
              </a:xfrm>
              <a:custGeom>
                <a:avLst/>
                <a:gdLst/>
                <a:ahLst/>
                <a:cxnLst/>
                <a:rect l="l" t="t" r="r" b="b"/>
                <a:pathLst>
                  <a:path w="122238" h="87313">
                    <a:moveTo>
                      <a:pt x="34925" y="87313"/>
                    </a:moveTo>
                    <a:lnTo>
                      <a:pt x="8731" y="87313"/>
                    </a:lnTo>
                    <a:cubicBezTo>
                      <a:pt x="3909" y="87313"/>
                      <a:pt x="0" y="83403"/>
                      <a:pt x="0" y="78581"/>
                    </a:cubicBezTo>
                    <a:lnTo>
                      <a:pt x="0" y="8731"/>
                    </a:lnTo>
                    <a:cubicBezTo>
                      <a:pt x="0" y="3909"/>
                      <a:pt x="3909" y="0"/>
                      <a:pt x="8731" y="0"/>
                    </a:cubicBezTo>
                    <a:lnTo>
                      <a:pt x="113506" y="0"/>
                    </a:lnTo>
                    <a:cubicBezTo>
                      <a:pt x="118328" y="0"/>
                      <a:pt x="122238" y="3909"/>
                      <a:pt x="122238" y="8731"/>
                    </a:cubicBezTo>
                    <a:lnTo>
                      <a:pt x="122238" y="34925"/>
                    </a:lnTo>
                  </a:path>
                </a:pathLst>
              </a:custGeom>
              <a:noFill/>
              <a:ln w="17463">
                <a:solidFill>
                  <a:srgbClr val="E04C2E"/>
                </a:solidFill>
              </a:ln>
            </p:spPr>
          </p:sp>
          <p:sp>
            <p:nvSpPr>
              <p:cNvPr id="54" name="Freeform 54"/>
              <p:cNvSpPr/>
              <p:nvPr/>
            </p:nvSpPr>
            <p:spPr>
              <a:xfrm>
                <a:off x="7395369" y="1145381"/>
                <a:ext cx="122238" cy="87313"/>
              </a:xfrm>
              <a:custGeom>
                <a:avLst/>
                <a:gdLst/>
                <a:ahLst/>
                <a:cxnLst/>
                <a:rect l="l" t="t" r="r" b="b"/>
                <a:pathLst>
                  <a:path w="122238" h="87313">
                    <a:moveTo>
                      <a:pt x="0" y="8731"/>
                    </a:moveTo>
                    <a:cubicBezTo>
                      <a:pt x="0" y="3909"/>
                      <a:pt x="3909" y="0"/>
                      <a:pt x="8731" y="0"/>
                    </a:cubicBezTo>
                    <a:lnTo>
                      <a:pt x="113506" y="0"/>
                    </a:lnTo>
                    <a:cubicBezTo>
                      <a:pt x="118328" y="0"/>
                      <a:pt x="122238" y="3909"/>
                      <a:pt x="122238" y="8731"/>
                    </a:cubicBezTo>
                    <a:lnTo>
                      <a:pt x="122238" y="78581"/>
                    </a:lnTo>
                    <a:cubicBezTo>
                      <a:pt x="122238" y="83403"/>
                      <a:pt x="118328" y="87313"/>
                      <a:pt x="113506" y="87313"/>
                    </a:cubicBezTo>
                    <a:lnTo>
                      <a:pt x="8731" y="87313"/>
                    </a:lnTo>
                    <a:cubicBezTo>
                      <a:pt x="3909" y="87313"/>
                      <a:pt x="0" y="83403"/>
                      <a:pt x="0" y="78581"/>
                    </a:cubicBezTo>
                    <a:lnTo>
                      <a:pt x="0" y="8731"/>
                    </a:lnTo>
                  </a:path>
                </a:pathLst>
              </a:custGeom>
              <a:noFill/>
              <a:ln w="17463">
                <a:solidFill>
                  <a:srgbClr val="E04C2E"/>
                </a:solidFill>
              </a:ln>
            </p:spPr>
          </p:sp>
          <p:sp>
            <p:nvSpPr>
              <p:cNvPr id="55" name="Freeform 55"/>
              <p:cNvSpPr/>
              <p:nvPr/>
            </p:nvSpPr>
            <p:spPr>
              <a:xfrm>
                <a:off x="7439025" y="1171575"/>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E04C2E"/>
                </a:solidFill>
              </a:ln>
            </p:spPr>
          </p:sp>
        </p:grpSp>
        <p:sp>
          <p:nvSpPr>
            <p:cNvPr id="57" name="TextBox 57"/>
            <p:cNvSpPr txBox="1"/>
            <p:nvPr/>
          </p:nvSpPr>
          <p:spPr>
            <a:xfrm>
              <a:off x="7235025" y="1368457"/>
              <a:ext cx="408000" cy="144780"/>
            </a:xfrm>
            <a:prstGeom prst="rect">
              <a:avLst/>
            </a:prstGeom>
            <a:noFill/>
            <a:ln>
              <a:noFill/>
            </a:ln>
          </p:spPr>
          <p:txBody>
            <a:bodyPr wrap="none" lIns="0" tIns="0" rIns="0" bIns="0" anchor="t" anchorCtr="0">
              <a:spAutoFit/>
            </a:bodyPr>
            <a:lstStyle/>
            <a:p>
              <a:pPr algn="ctr"/>
              <a:r>
                <a:rPr lang="zh-CN" sz="740" dirty="0">
                  <a:solidFill>
                    <a:srgbClr val="70504A"/>
                  </a:solidFill>
                  <a:latin typeface="+mn-lt"/>
                  <a:ea typeface="+mn-ea"/>
                  <a:cs typeface="+mn-cs"/>
                </a:rPr>
                <a:t>出口退税</a:t>
              </a:r>
            </a:p>
          </p:txBody>
        </p:sp>
        <p:sp>
          <p:nvSpPr>
            <p:cNvPr id="58" name="TextBox 58"/>
            <p:cNvSpPr txBox="1"/>
            <p:nvPr/>
          </p:nvSpPr>
          <p:spPr>
            <a:xfrm>
              <a:off x="7172479" y="1559004"/>
              <a:ext cx="533092" cy="212693"/>
            </a:xfrm>
            <a:prstGeom prst="rect">
              <a:avLst/>
            </a:prstGeom>
            <a:noFill/>
            <a:ln>
              <a:noFill/>
            </a:ln>
          </p:spPr>
          <p:txBody>
            <a:bodyPr wrap="none" lIns="0" tIns="0" rIns="0" bIns="0" anchor="t" anchorCtr="0">
              <a:spAutoFit/>
            </a:bodyPr>
            <a:lstStyle/>
            <a:p>
              <a:pPr algn="ctr"/>
              <a:r>
                <a:rPr lang="zh-CN" sz="1090" b="1" dirty="0">
                  <a:solidFill>
                    <a:srgbClr val="69281B"/>
                  </a:solidFill>
                  <a:latin typeface="+mn-lt"/>
                  <a:ea typeface="+mn-ea"/>
                  <a:cs typeface="+mn-cs"/>
                </a:rPr>
                <a:t>4.0</a:t>
              </a:r>
              <a:r>
                <a:rPr lang="zh-CN" sz="680" b="1" dirty="0">
                  <a:solidFill>
                    <a:srgbClr val="69281B"/>
                  </a:solidFill>
                  <a:latin typeface="+mn-lt"/>
                  <a:ea typeface="+mn-ea"/>
                  <a:cs typeface="+mn-cs"/>
                </a:rPr>
                <a:t>亿元</a:t>
              </a:r>
              <a:r>
                <a:rPr lang="zh-CN" sz="1090" b="1" dirty="0">
                  <a:solidFill>
                    <a:srgbClr val="69281B"/>
                  </a:solidFill>
                  <a:latin typeface="+mn-lt"/>
                  <a:ea typeface="+mn-ea"/>
                  <a:cs typeface="+mn-cs"/>
                </a:rPr>
                <a:t>​</a:t>
              </a:r>
            </a:p>
          </p:txBody>
        </p:sp>
        <p:sp>
          <p:nvSpPr>
            <p:cNvPr id="59" name="TextBox 59"/>
            <p:cNvSpPr txBox="1"/>
            <p:nvPr/>
          </p:nvSpPr>
          <p:spPr>
            <a:xfrm>
              <a:off x="4319588" y="1798082"/>
              <a:ext cx="526466"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（示例数据）</a:t>
              </a:r>
            </a:p>
          </p:txBody>
        </p:sp>
      </p:grpSp>
      <p:grpSp>
        <p:nvGrpSpPr>
          <p:cNvPr id="76" name="measure-3"/>
          <p:cNvGrpSpPr/>
          <p:nvPr/>
        </p:nvGrpSpPr>
        <p:grpSpPr>
          <a:xfrm>
            <a:off x="8115300" y="685800"/>
            <a:ext cx="3810000" cy="1295400"/>
            <a:chOff x="8115300" y="685800"/>
            <a:chExt cx="3810000" cy="1295400"/>
          </a:xfrm>
        </p:grpSpPr>
        <p:sp>
          <p:nvSpPr>
            <p:cNvPr id="61" name="Rectangle 61"/>
            <p:cNvSpPr/>
            <p:nvPr/>
          </p:nvSpPr>
          <p:spPr>
            <a:xfrm>
              <a:off x="8115300" y="685800"/>
              <a:ext cx="3810000" cy="1295400"/>
            </a:xfrm>
            <a:prstGeom prst="roundRect">
              <a:avLst>
                <a:gd name="adj" fmla="val 4412"/>
              </a:avLst>
            </a:prstGeom>
            <a:solidFill>
              <a:srgbClr val="FFFFFF"/>
            </a:solidFill>
            <a:ln w="9525">
              <a:solidFill>
                <a:srgbClr val="C9D6E9"/>
              </a:solidFill>
            </a:ln>
          </p:spPr>
        </p:sp>
        <p:sp>
          <p:nvSpPr>
            <p:cNvPr id="62" name="Freeform 62"/>
            <p:cNvSpPr/>
            <p:nvPr/>
          </p:nvSpPr>
          <p:spPr>
            <a:xfrm>
              <a:off x="8115300" y="685800"/>
              <a:ext cx="3810000" cy="247650"/>
            </a:xfrm>
            <a:custGeom>
              <a:avLst/>
              <a:gdLst/>
              <a:ahLst/>
              <a:cxnLst/>
              <a:rect l="l" t="t" r="r" b="b"/>
              <a:pathLst>
                <a:path w="3810000" h="247650">
                  <a:moveTo>
                    <a:pt x="0" y="57150"/>
                  </a:moveTo>
                  <a:cubicBezTo>
                    <a:pt x="0" y="25587"/>
                    <a:pt x="25587" y="0"/>
                    <a:pt x="57150" y="0"/>
                  </a:cubicBezTo>
                  <a:lnTo>
                    <a:pt x="3810000" y="0"/>
                  </a:lnTo>
                  <a:lnTo>
                    <a:pt x="3581400" y="247650"/>
                  </a:lnTo>
                  <a:lnTo>
                    <a:pt x="0" y="247650"/>
                  </a:lnTo>
                  <a:close/>
                </a:path>
              </a:pathLst>
            </a:custGeom>
            <a:solidFill>
              <a:srgbClr val="69281B"/>
            </a:solidFill>
            <a:ln>
              <a:noFill/>
            </a:ln>
          </p:spPr>
        </p:sp>
        <p:sp>
          <p:nvSpPr>
            <p:cNvPr id="63" name="TextBox 63"/>
            <p:cNvSpPr txBox="1"/>
            <p:nvPr/>
          </p:nvSpPr>
          <p:spPr>
            <a:xfrm>
              <a:off x="8262938" y="756047"/>
              <a:ext cx="1274953"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举措三：腰部客户突破</a:t>
              </a:r>
            </a:p>
          </p:txBody>
        </p:sp>
        <p:grpSp>
          <p:nvGrpSpPr>
            <p:cNvPr id="70" name="Group 70"/>
            <p:cNvGrpSpPr/>
            <p:nvPr/>
          </p:nvGrpSpPr>
          <p:grpSpPr>
            <a:xfrm>
              <a:off x="8405813" y="1166813"/>
              <a:ext cx="371475" cy="371476"/>
              <a:chOff x="8405813" y="1166813"/>
              <a:chExt cx="371475" cy="371476"/>
            </a:xfrm>
          </p:grpSpPr>
          <p:sp>
            <p:nvSpPr>
              <p:cNvPr id="64" name="Freeform 64"/>
              <p:cNvSpPr/>
              <p:nvPr/>
            </p:nvSpPr>
            <p:spPr>
              <a:xfrm>
                <a:off x="8550275" y="1331913"/>
                <a:ext cx="82550" cy="82550"/>
              </a:xfrm>
              <a:custGeom>
                <a:avLst/>
                <a:gdLst/>
                <a:ahLst/>
                <a:cxnLst/>
                <a:rect l="l" t="t" r="r" b="b"/>
                <a:pathLst>
                  <a:path w="82550" h="82550">
                    <a:moveTo>
                      <a:pt x="0" y="41275"/>
                    </a:moveTo>
                    <a:cubicBezTo>
                      <a:pt x="0" y="64071"/>
                      <a:pt x="18479" y="82550"/>
                      <a:pt x="41275" y="82550"/>
                    </a:cubicBezTo>
                    <a:cubicBezTo>
                      <a:pt x="64071" y="82550"/>
                      <a:pt x="82550" y="64071"/>
                      <a:pt x="82550" y="41275"/>
                    </a:cubicBezTo>
                    <a:cubicBezTo>
                      <a:pt x="82550" y="18479"/>
                      <a:pt x="64071" y="0"/>
                      <a:pt x="41275" y="0"/>
                    </a:cubicBezTo>
                    <a:cubicBezTo>
                      <a:pt x="18479" y="0"/>
                      <a:pt x="0" y="18479"/>
                      <a:pt x="0" y="41275"/>
                    </a:cubicBezTo>
                  </a:path>
                </a:pathLst>
              </a:custGeom>
              <a:noFill/>
              <a:ln w="41275">
                <a:solidFill>
                  <a:srgbClr val="E8735B"/>
                </a:solidFill>
              </a:ln>
            </p:spPr>
          </p:sp>
          <p:sp>
            <p:nvSpPr>
              <p:cNvPr id="65" name="Freeform 65"/>
              <p:cNvSpPr/>
              <p:nvPr/>
            </p:nvSpPr>
            <p:spPr>
              <a:xfrm>
                <a:off x="8509000" y="1476376"/>
                <a:ext cx="165100" cy="61913"/>
              </a:xfrm>
              <a:custGeom>
                <a:avLst/>
                <a:gdLst/>
                <a:ahLst/>
                <a:cxnLst/>
                <a:rect l="l" t="t" r="r" b="b"/>
                <a:pathLst>
                  <a:path w="165100" h="61913">
                    <a:moveTo>
                      <a:pt x="0" y="61913"/>
                    </a:moveTo>
                    <a:lnTo>
                      <a:pt x="0" y="41275"/>
                    </a:lnTo>
                    <a:cubicBezTo>
                      <a:pt x="0" y="18479"/>
                      <a:pt x="18479" y="0"/>
                      <a:pt x="41275" y="0"/>
                    </a:cubicBezTo>
                    <a:lnTo>
                      <a:pt x="123825" y="0"/>
                    </a:lnTo>
                    <a:cubicBezTo>
                      <a:pt x="146621" y="0"/>
                      <a:pt x="165100" y="18479"/>
                      <a:pt x="165100" y="41275"/>
                    </a:cubicBezTo>
                    <a:lnTo>
                      <a:pt x="165100" y="61913"/>
                    </a:lnTo>
                  </a:path>
                </a:pathLst>
              </a:custGeom>
              <a:noFill/>
              <a:ln w="41275">
                <a:solidFill>
                  <a:srgbClr val="E8735B"/>
                </a:solidFill>
              </a:ln>
            </p:spPr>
          </p:sp>
          <p:sp>
            <p:nvSpPr>
              <p:cNvPr id="66" name="Freeform 66"/>
              <p:cNvSpPr/>
              <p:nvPr/>
            </p:nvSpPr>
            <p:spPr>
              <a:xfrm>
                <a:off x="8653463" y="1166813"/>
                <a:ext cx="82550" cy="82550"/>
              </a:xfrm>
              <a:custGeom>
                <a:avLst/>
                <a:gdLst/>
                <a:ahLst/>
                <a:cxnLst/>
                <a:rect l="l" t="t" r="r" b="b"/>
                <a:pathLst>
                  <a:path w="82550" h="82550">
                    <a:moveTo>
                      <a:pt x="0" y="41275"/>
                    </a:moveTo>
                    <a:cubicBezTo>
                      <a:pt x="0" y="64071"/>
                      <a:pt x="18479" y="82550"/>
                      <a:pt x="41275" y="82550"/>
                    </a:cubicBezTo>
                    <a:cubicBezTo>
                      <a:pt x="64071" y="82550"/>
                      <a:pt x="82550" y="64071"/>
                      <a:pt x="82550" y="41275"/>
                    </a:cubicBezTo>
                    <a:cubicBezTo>
                      <a:pt x="82550" y="18479"/>
                      <a:pt x="64071" y="0"/>
                      <a:pt x="41275" y="0"/>
                    </a:cubicBezTo>
                    <a:cubicBezTo>
                      <a:pt x="18479" y="0"/>
                      <a:pt x="0" y="18479"/>
                      <a:pt x="0" y="41275"/>
                    </a:cubicBezTo>
                  </a:path>
                </a:pathLst>
              </a:custGeom>
              <a:noFill/>
              <a:ln w="41275">
                <a:solidFill>
                  <a:srgbClr val="E8735B"/>
                </a:solidFill>
              </a:ln>
            </p:spPr>
          </p:sp>
          <p:sp>
            <p:nvSpPr>
              <p:cNvPr id="67" name="Freeform 67"/>
              <p:cNvSpPr/>
              <p:nvPr/>
            </p:nvSpPr>
            <p:spPr>
              <a:xfrm>
                <a:off x="8694738" y="1311275"/>
                <a:ext cx="82550" cy="61913"/>
              </a:xfrm>
              <a:custGeom>
                <a:avLst/>
                <a:gdLst/>
                <a:ahLst/>
                <a:cxnLst/>
                <a:rect l="l" t="t" r="r" b="b"/>
                <a:pathLst>
                  <a:path w="82550" h="61913">
                    <a:moveTo>
                      <a:pt x="0" y="0"/>
                    </a:moveTo>
                    <a:lnTo>
                      <a:pt x="41275" y="0"/>
                    </a:lnTo>
                    <a:cubicBezTo>
                      <a:pt x="64071" y="0"/>
                      <a:pt x="82550" y="18479"/>
                      <a:pt x="82550" y="41275"/>
                    </a:cubicBezTo>
                    <a:lnTo>
                      <a:pt x="82550" y="61913"/>
                    </a:lnTo>
                  </a:path>
                </a:pathLst>
              </a:custGeom>
              <a:noFill/>
              <a:ln w="41275">
                <a:solidFill>
                  <a:srgbClr val="E8735B"/>
                </a:solidFill>
              </a:ln>
            </p:spPr>
          </p:sp>
          <p:sp>
            <p:nvSpPr>
              <p:cNvPr id="68" name="Freeform 68"/>
              <p:cNvSpPr/>
              <p:nvPr/>
            </p:nvSpPr>
            <p:spPr>
              <a:xfrm>
                <a:off x="8447088" y="1166813"/>
                <a:ext cx="82550" cy="82550"/>
              </a:xfrm>
              <a:custGeom>
                <a:avLst/>
                <a:gdLst/>
                <a:ahLst/>
                <a:cxnLst/>
                <a:rect l="l" t="t" r="r" b="b"/>
                <a:pathLst>
                  <a:path w="82550" h="82550">
                    <a:moveTo>
                      <a:pt x="0" y="41275"/>
                    </a:moveTo>
                    <a:cubicBezTo>
                      <a:pt x="0" y="64071"/>
                      <a:pt x="18479" y="82550"/>
                      <a:pt x="41275" y="82550"/>
                    </a:cubicBezTo>
                    <a:cubicBezTo>
                      <a:pt x="64071" y="82550"/>
                      <a:pt x="82550" y="64071"/>
                      <a:pt x="82550" y="41275"/>
                    </a:cubicBezTo>
                    <a:cubicBezTo>
                      <a:pt x="82550" y="18479"/>
                      <a:pt x="64071" y="0"/>
                      <a:pt x="41275" y="0"/>
                    </a:cubicBezTo>
                    <a:cubicBezTo>
                      <a:pt x="18479" y="0"/>
                      <a:pt x="0" y="18479"/>
                      <a:pt x="0" y="41275"/>
                    </a:cubicBezTo>
                  </a:path>
                </a:pathLst>
              </a:custGeom>
              <a:noFill/>
              <a:ln w="41275">
                <a:solidFill>
                  <a:srgbClr val="E8735B"/>
                </a:solidFill>
              </a:ln>
            </p:spPr>
          </p:sp>
          <p:sp>
            <p:nvSpPr>
              <p:cNvPr id="69" name="Freeform 69"/>
              <p:cNvSpPr/>
              <p:nvPr/>
            </p:nvSpPr>
            <p:spPr>
              <a:xfrm>
                <a:off x="8405813" y="1311275"/>
                <a:ext cx="82550" cy="61913"/>
              </a:xfrm>
              <a:custGeom>
                <a:avLst/>
                <a:gdLst/>
                <a:ahLst/>
                <a:cxnLst/>
                <a:rect l="l" t="t" r="r" b="b"/>
                <a:pathLst>
                  <a:path w="82550" h="61913">
                    <a:moveTo>
                      <a:pt x="0" y="61913"/>
                    </a:moveTo>
                    <a:lnTo>
                      <a:pt x="0" y="41275"/>
                    </a:lnTo>
                    <a:cubicBezTo>
                      <a:pt x="0" y="18479"/>
                      <a:pt x="18479" y="0"/>
                      <a:pt x="41275" y="0"/>
                    </a:cubicBezTo>
                    <a:lnTo>
                      <a:pt x="82550" y="0"/>
                    </a:lnTo>
                  </a:path>
                </a:pathLst>
              </a:custGeom>
              <a:noFill/>
              <a:ln w="41275">
                <a:solidFill>
                  <a:srgbClr val="E8735B"/>
                </a:solidFill>
              </a:ln>
            </p:spPr>
          </p:sp>
        </p:grpSp>
        <p:sp>
          <p:nvSpPr>
            <p:cNvPr id="71" name="TextBox 71"/>
            <p:cNvSpPr txBox="1"/>
            <p:nvPr/>
          </p:nvSpPr>
          <p:spPr>
            <a:xfrm>
              <a:off x="9120188" y="1115139"/>
              <a:ext cx="434924" cy="154781"/>
            </a:xfrm>
            <a:prstGeom prst="rect">
              <a:avLst/>
            </a:prstGeom>
            <a:noFill/>
            <a:ln>
              <a:noFill/>
            </a:ln>
          </p:spPr>
          <p:txBody>
            <a:bodyPr wrap="none" lIns="0" tIns="0" rIns="0" bIns="0" anchor="t" anchorCtr="0">
              <a:spAutoFit/>
            </a:bodyPr>
            <a:lstStyle/>
            <a:p>
              <a:pPr algn="l"/>
              <a:r>
                <a:rPr lang="zh-CN" sz="790" dirty="0">
                  <a:solidFill>
                    <a:srgbClr val="987F7A"/>
                  </a:solidFill>
                  <a:latin typeface="+mn-lt"/>
                  <a:ea typeface="+mn-ea"/>
                  <a:cs typeface="+mn-cs"/>
                </a:rPr>
                <a:t>覆盖客户</a:t>
              </a:r>
            </a:p>
          </p:txBody>
        </p:sp>
        <p:sp>
          <p:nvSpPr>
            <p:cNvPr id="72" name="TextBox 72"/>
            <p:cNvSpPr txBox="1"/>
            <p:nvPr/>
          </p:nvSpPr>
          <p:spPr>
            <a:xfrm>
              <a:off x="9803130" y="1057275"/>
              <a:ext cx="592087" cy="293370"/>
            </a:xfrm>
            <a:prstGeom prst="rect">
              <a:avLst/>
            </a:prstGeom>
            <a:noFill/>
            <a:ln>
              <a:noFill/>
            </a:ln>
          </p:spPr>
          <p:txBody>
            <a:bodyPr wrap="none" lIns="0" tIns="0" rIns="0" bIns="0" anchor="t" anchorCtr="0">
              <a:spAutoFit/>
            </a:bodyPr>
            <a:lstStyle/>
            <a:p>
              <a:pPr algn="l"/>
              <a:r>
                <a:rPr lang="zh-CN" sz="1500" b="1" dirty="0">
                  <a:solidFill>
                    <a:srgbClr val="E04C2E"/>
                  </a:solidFill>
                  <a:latin typeface="+mn-lt"/>
                  <a:ea typeface="+mn-ea"/>
                  <a:cs typeface="+mn-cs"/>
                </a:rPr>
                <a:t>560</a:t>
              </a:r>
              <a:r>
                <a:rPr lang="zh-CN" sz="820" b="1" dirty="0">
                  <a:solidFill>
                    <a:srgbClr val="E04C2E"/>
                  </a:solidFill>
                  <a:latin typeface="+mn-lt"/>
                  <a:ea typeface="+mn-ea"/>
                  <a:cs typeface="+mn-cs"/>
                </a:rPr>
                <a:t>户</a:t>
              </a:r>
              <a:r>
                <a:rPr lang="zh-CN" sz="1500" b="1" dirty="0">
                  <a:solidFill>
                    <a:srgbClr val="E04C2E"/>
                  </a:solidFill>
                  <a:latin typeface="+mn-lt"/>
                  <a:ea typeface="+mn-ea"/>
                  <a:cs typeface="+mn-cs"/>
                </a:rPr>
                <a:t>​</a:t>
              </a:r>
            </a:p>
          </p:txBody>
        </p:sp>
        <p:sp>
          <p:nvSpPr>
            <p:cNvPr id="73" name="TextBox 73"/>
            <p:cNvSpPr txBox="1"/>
            <p:nvPr/>
          </p:nvSpPr>
          <p:spPr>
            <a:xfrm>
              <a:off x="9120188" y="1496139"/>
              <a:ext cx="434924" cy="154781"/>
            </a:xfrm>
            <a:prstGeom prst="rect">
              <a:avLst/>
            </a:prstGeom>
            <a:noFill/>
            <a:ln>
              <a:noFill/>
            </a:ln>
          </p:spPr>
          <p:txBody>
            <a:bodyPr wrap="none" lIns="0" tIns="0" rIns="0" bIns="0" anchor="t" anchorCtr="0">
              <a:spAutoFit/>
            </a:bodyPr>
            <a:lstStyle/>
            <a:p>
              <a:pPr algn="l"/>
              <a:r>
                <a:rPr lang="zh-CN" sz="790" dirty="0">
                  <a:solidFill>
                    <a:srgbClr val="987F7A"/>
                  </a:solidFill>
                  <a:latin typeface="+mn-lt"/>
                  <a:ea typeface="+mn-ea"/>
                  <a:cs typeface="+mn-cs"/>
                </a:rPr>
                <a:t>净增存款</a:t>
              </a:r>
            </a:p>
          </p:txBody>
        </p:sp>
        <p:sp>
          <p:nvSpPr>
            <p:cNvPr id="74" name="TextBox 74"/>
            <p:cNvSpPr txBox="1"/>
            <p:nvPr/>
          </p:nvSpPr>
          <p:spPr>
            <a:xfrm>
              <a:off x="9803130" y="1438275"/>
              <a:ext cx="702475"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9.4</a:t>
              </a:r>
              <a:r>
                <a:rPr lang="zh-CN" sz="820" b="1" dirty="0">
                  <a:solidFill>
                    <a:srgbClr val="69281B"/>
                  </a:solidFill>
                  <a:latin typeface="+mn-lt"/>
                  <a:ea typeface="+mn-ea"/>
                  <a:cs typeface="+mn-cs"/>
                </a:rPr>
                <a:t>亿元</a:t>
              </a:r>
              <a:r>
                <a:rPr lang="zh-CN" sz="1500" b="1" dirty="0">
                  <a:solidFill>
                    <a:srgbClr val="69281B"/>
                  </a:solidFill>
                  <a:latin typeface="+mn-lt"/>
                  <a:ea typeface="+mn-ea"/>
                  <a:cs typeface="+mn-cs"/>
                </a:rPr>
                <a:t>​</a:t>
              </a:r>
            </a:p>
          </p:txBody>
        </p:sp>
        <p:sp>
          <p:nvSpPr>
            <p:cNvPr id="75" name="TextBox 75"/>
            <p:cNvSpPr txBox="1"/>
            <p:nvPr/>
          </p:nvSpPr>
          <p:spPr>
            <a:xfrm>
              <a:off x="9120188" y="1779032"/>
              <a:ext cx="526466"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（示例数据）</a:t>
              </a:r>
            </a:p>
          </p:txBody>
        </p:sp>
      </p:grpSp>
      <p:grpSp>
        <p:nvGrpSpPr>
          <p:cNvPr id="99" name="funnel"/>
          <p:cNvGrpSpPr/>
          <p:nvPr/>
        </p:nvGrpSpPr>
        <p:grpSpPr>
          <a:xfrm>
            <a:off x="228600" y="2057400"/>
            <a:ext cx="8153400" cy="1447800"/>
            <a:chOff x="228600" y="2057400"/>
            <a:chExt cx="8153400" cy="1447800"/>
          </a:xfrm>
        </p:grpSpPr>
        <p:sp>
          <p:nvSpPr>
            <p:cNvPr id="77" name="Rectangle 77"/>
            <p:cNvSpPr/>
            <p:nvPr/>
          </p:nvSpPr>
          <p:spPr>
            <a:xfrm>
              <a:off x="228600" y="2057400"/>
              <a:ext cx="8153400" cy="1447800"/>
            </a:xfrm>
            <a:prstGeom prst="roundRect">
              <a:avLst>
                <a:gd name="adj" fmla="val 3947"/>
              </a:avLst>
            </a:prstGeom>
            <a:solidFill>
              <a:srgbClr val="FFFFFF"/>
            </a:solidFill>
            <a:ln w="9525">
              <a:solidFill>
                <a:srgbClr val="C9D6E9"/>
              </a:solidFill>
            </a:ln>
          </p:spPr>
        </p:sp>
        <p:sp>
          <p:nvSpPr>
            <p:cNvPr id="78" name="TextBox 78"/>
            <p:cNvSpPr txBox="1"/>
            <p:nvPr/>
          </p:nvSpPr>
          <p:spPr>
            <a:xfrm>
              <a:off x="3508781" y="2161699"/>
              <a:ext cx="1593037" cy="190690"/>
            </a:xfrm>
            <a:prstGeom prst="rect">
              <a:avLst/>
            </a:prstGeom>
            <a:noFill/>
            <a:ln>
              <a:noFill/>
            </a:ln>
          </p:spPr>
          <p:txBody>
            <a:bodyPr wrap="none" lIns="0" tIns="0" rIns="0" bIns="0" anchor="t" anchorCtr="0">
              <a:spAutoFit/>
            </a:bodyPr>
            <a:lstStyle/>
            <a:p>
              <a:pPr algn="ctr"/>
              <a:r>
                <a:rPr lang="zh-CN" sz="980" b="1" dirty="0">
                  <a:solidFill>
                    <a:srgbClr val="69281B"/>
                  </a:solidFill>
                  <a:latin typeface="+mn-lt"/>
                  <a:ea typeface="+mn-ea"/>
                  <a:cs typeface="+mn-cs"/>
                </a:rPr>
                <a:t>营销漏斗（从名单到增存）</a:t>
              </a:r>
            </a:p>
          </p:txBody>
        </p:sp>
        <p:sp>
          <p:nvSpPr>
            <p:cNvPr id="79" name="TextBox 79"/>
            <p:cNvSpPr txBox="1"/>
            <p:nvPr/>
          </p:nvSpPr>
          <p:spPr>
            <a:xfrm>
              <a:off x="1664454" y="2293382"/>
              <a:ext cx="595391"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触达率 58.1%​</a:t>
              </a:r>
            </a:p>
          </p:txBody>
        </p:sp>
        <p:sp>
          <p:nvSpPr>
            <p:cNvPr id="80" name="TextBox 80"/>
            <p:cNvSpPr txBox="1"/>
            <p:nvPr/>
          </p:nvSpPr>
          <p:spPr>
            <a:xfrm>
              <a:off x="3216598" y="2293382"/>
              <a:ext cx="767705"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开户转化率 66.7%​</a:t>
              </a:r>
            </a:p>
          </p:txBody>
        </p:sp>
        <p:sp>
          <p:nvSpPr>
            <p:cNvPr id="81" name="TextBox 81"/>
            <p:cNvSpPr txBox="1"/>
            <p:nvPr/>
          </p:nvSpPr>
          <p:spPr>
            <a:xfrm>
              <a:off x="4811819" y="2293382"/>
              <a:ext cx="853862"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有效户转化率 68.5%​</a:t>
              </a:r>
            </a:p>
          </p:txBody>
        </p:sp>
        <p:sp>
          <p:nvSpPr>
            <p:cNvPr id="82" name="TextBox 82"/>
            <p:cNvSpPr txBox="1"/>
            <p:nvPr/>
          </p:nvSpPr>
          <p:spPr>
            <a:xfrm>
              <a:off x="6407041" y="2293382"/>
              <a:ext cx="940018"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增存客户转化率 65.9%​</a:t>
              </a:r>
            </a:p>
          </p:txBody>
        </p:sp>
        <p:sp>
          <p:nvSpPr>
            <p:cNvPr id="83" name="Freeform 83"/>
            <p:cNvSpPr/>
            <p:nvPr/>
          </p:nvSpPr>
          <p:spPr>
            <a:xfrm>
              <a:off x="381000" y="2457450"/>
              <a:ext cx="1771650" cy="685800"/>
            </a:xfrm>
            <a:custGeom>
              <a:avLst/>
              <a:gdLst/>
              <a:ahLst/>
              <a:cxnLst/>
              <a:rect l="l" t="t" r="r" b="b"/>
              <a:pathLst>
                <a:path w="1771650" h="685800">
                  <a:moveTo>
                    <a:pt x="0" y="0"/>
                  </a:moveTo>
                  <a:lnTo>
                    <a:pt x="1771650" y="0"/>
                  </a:lnTo>
                  <a:lnTo>
                    <a:pt x="1619250" y="685800"/>
                  </a:lnTo>
                  <a:lnTo>
                    <a:pt x="0" y="685800"/>
                  </a:lnTo>
                  <a:close/>
                </a:path>
              </a:pathLst>
            </a:custGeom>
            <a:solidFill>
              <a:srgbClr val="5C2216"/>
            </a:solidFill>
            <a:ln>
              <a:noFill/>
            </a:ln>
          </p:spPr>
        </p:sp>
        <p:sp>
          <p:nvSpPr>
            <p:cNvPr id="84" name="TextBox 84"/>
            <p:cNvSpPr txBox="1"/>
            <p:nvPr/>
          </p:nvSpPr>
          <p:spPr>
            <a:xfrm>
              <a:off x="1031558" y="2643188"/>
              <a:ext cx="413385" cy="147638"/>
            </a:xfrm>
            <a:prstGeom prst="rect">
              <a:avLst/>
            </a:prstGeom>
            <a:noFill/>
            <a:ln>
              <a:noFill/>
            </a:ln>
          </p:spPr>
          <p:txBody>
            <a:bodyPr wrap="none" lIns="0" tIns="0" rIns="0" bIns="0" anchor="t" anchorCtr="0">
              <a:spAutoFit/>
            </a:bodyPr>
            <a:lstStyle/>
            <a:p>
              <a:pPr algn="ctr"/>
              <a:r>
                <a:rPr lang="zh-CN" sz="750" dirty="0">
                  <a:solidFill>
                    <a:srgbClr val="C9D6E9"/>
                  </a:solidFill>
                  <a:latin typeface="+mn-lt"/>
                  <a:ea typeface="+mn-ea"/>
                  <a:cs typeface="+mn-cs"/>
                </a:rPr>
                <a:t>名单客户</a:t>
              </a:r>
            </a:p>
          </p:txBody>
        </p:sp>
        <p:sp>
          <p:nvSpPr>
            <p:cNvPr id="85" name="TextBox 85"/>
            <p:cNvSpPr txBox="1"/>
            <p:nvPr/>
          </p:nvSpPr>
          <p:spPr>
            <a:xfrm>
              <a:off x="901797" y="2842260"/>
              <a:ext cx="67290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3,200</a:t>
              </a:r>
              <a:r>
                <a:rPr lang="zh-CN" sz="750" b="1" dirty="0">
                  <a:solidFill>
                    <a:srgbClr val="FFFFFF"/>
                  </a:solidFill>
                  <a:latin typeface="+mn-lt"/>
                  <a:ea typeface="+mn-ea"/>
                  <a:cs typeface="+mn-cs"/>
                </a:rPr>
                <a:t>户</a:t>
              </a:r>
              <a:r>
                <a:rPr lang="zh-CN" sz="1200" b="1" dirty="0">
                  <a:solidFill>
                    <a:srgbClr val="FFFFFF"/>
                  </a:solidFill>
                  <a:latin typeface="+mn-lt"/>
                  <a:ea typeface="+mn-ea"/>
                  <a:cs typeface="+mn-cs"/>
                </a:rPr>
                <a:t>​</a:t>
              </a:r>
            </a:p>
          </p:txBody>
        </p:sp>
        <p:sp>
          <p:nvSpPr>
            <p:cNvPr id="86" name="Freeform 86"/>
            <p:cNvSpPr/>
            <p:nvPr/>
          </p:nvSpPr>
          <p:spPr>
            <a:xfrm>
              <a:off x="2076450" y="2457450"/>
              <a:ext cx="1714500" cy="685800"/>
            </a:xfrm>
            <a:custGeom>
              <a:avLst/>
              <a:gdLst/>
              <a:ahLst/>
              <a:cxnLst/>
              <a:rect l="l" t="t" r="r" b="b"/>
              <a:pathLst>
                <a:path w="1714500" h="685800">
                  <a:moveTo>
                    <a:pt x="0" y="0"/>
                  </a:moveTo>
                  <a:lnTo>
                    <a:pt x="1714500" y="0"/>
                  </a:lnTo>
                  <a:lnTo>
                    <a:pt x="1562100" y="685800"/>
                  </a:lnTo>
                  <a:lnTo>
                    <a:pt x="0" y="685800"/>
                  </a:lnTo>
                  <a:close/>
                </a:path>
              </a:pathLst>
            </a:custGeom>
            <a:solidFill>
              <a:srgbClr val="9B3824"/>
            </a:solidFill>
            <a:ln>
              <a:noFill/>
            </a:ln>
          </p:spPr>
        </p:sp>
        <p:sp>
          <p:nvSpPr>
            <p:cNvPr id="87" name="TextBox 87"/>
            <p:cNvSpPr txBox="1"/>
            <p:nvPr/>
          </p:nvSpPr>
          <p:spPr>
            <a:xfrm>
              <a:off x="2679382" y="2643188"/>
              <a:ext cx="413385" cy="147638"/>
            </a:xfrm>
            <a:prstGeom prst="rect">
              <a:avLst/>
            </a:prstGeom>
            <a:noFill/>
            <a:ln>
              <a:noFill/>
            </a:ln>
          </p:spPr>
          <p:txBody>
            <a:bodyPr wrap="none" lIns="0" tIns="0" rIns="0" bIns="0" anchor="t" anchorCtr="0">
              <a:spAutoFit/>
            </a:bodyPr>
            <a:lstStyle/>
            <a:p>
              <a:pPr algn="ctr"/>
              <a:r>
                <a:rPr lang="zh-CN" sz="750" dirty="0">
                  <a:solidFill>
                    <a:srgbClr val="C9D6E9"/>
                  </a:solidFill>
                  <a:latin typeface="+mn-lt"/>
                  <a:ea typeface="+mn-ea"/>
                  <a:cs typeface="+mn-cs"/>
                </a:rPr>
                <a:t>有效触达</a:t>
              </a:r>
            </a:p>
          </p:txBody>
        </p:sp>
        <p:sp>
          <p:nvSpPr>
            <p:cNvPr id="88" name="TextBox 88"/>
            <p:cNvSpPr txBox="1"/>
            <p:nvPr/>
          </p:nvSpPr>
          <p:spPr>
            <a:xfrm>
              <a:off x="2549622" y="2842260"/>
              <a:ext cx="67290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1,860</a:t>
              </a:r>
              <a:r>
                <a:rPr lang="zh-CN" sz="750" b="1" dirty="0">
                  <a:solidFill>
                    <a:srgbClr val="FFFFFF"/>
                  </a:solidFill>
                  <a:latin typeface="+mn-lt"/>
                  <a:ea typeface="+mn-ea"/>
                  <a:cs typeface="+mn-cs"/>
                </a:rPr>
                <a:t>户</a:t>
              </a:r>
              <a:r>
                <a:rPr lang="zh-CN" sz="1200" b="1" dirty="0">
                  <a:solidFill>
                    <a:srgbClr val="FFFFFF"/>
                  </a:solidFill>
                  <a:latin typeface="+mn-lt"/>
                  <a:ea typeface="+mn-ea"/>
                  <a:cs typeface="+mn-cs"/>
                </a:rPr>
                <a:t>​</a:t>
              </a:r>
            </a:p>
          </p:txBody>
        </p:sp>
        <p:sp>
          <p:nvSpPr>
            <p:cNvPr id="89" name="Freeform 89"/>
            <p:cNvSpPr/>
            <p:nvPr/>
          </p:nvSpPr>
          <p:spPr>
            <a:xfrm>
              <a:off x="3714750" y="2457450"/>
              <a:ext cx="1657350" cy="685800"/>
            </a:xfrm>
            <a:custGeom>
              <a:avLst/>
              <a:gdLst/>
              <a:ahLst/>
              <a:cxnLst/>
              <a:rect l="l" t="t" r="r" b="b"/>
              <a:pathLst>
                <a:path w="1657350" h="685800">
                  <a:moveTo>
                    <a:pt x="0" y="0"/>
                  </a:moveTo>
                  <a:lnTo>
                    <a:pt x="1657350" y="0"/>
                  </a:lnTo>
                  <a:lnTo>
                    <a:pt x="1504950" y="685800"/>
                  </a:lnTo>
                  <a:lnTo>
                    <a:pt x="0" y="685800"/>
                  </a:lnTo>
                  <a:close/>
                </a:path>
              </a:pathLst>
            </a:custGeom>
            <a:solidFill>
              <a:srgbClr val="E04C2E"/>
            </a:solidFill>
            <a:ln>
              <a:noFill/>
            </a:ln>
          </p:spPr>
        </p:sp>
        <p:sp>
          <p:nvSpPr>
            <p:cNvPr id="90" name="TextBox 90"/>
            <p:cNvSpPr txBox="1"/>
            <p:nvPr/>
          </p:nvSpPr>
          <p:spPr>
            <a:xfrm>
              <a:off x="4390072" y="2643188"/>
              <a:ext cx="211455" cy="147638"/>
            </a:xfrm>
            <a:prstGeom prst="rect">
              <a:avLst/>
            </a:prstGeom>
            <a:noFill/>
            <a:ln>
              <a:noFill/>
            </a:ln>
          </p:spPr>
          <p:txBody>
            <a:bodyPr wrap="none" lIns="0" tIns="0" rIns="0" bIns="0" anchor="t" anchorCtr="0">
              <a:spAutoFit/>
            </a:bodyPr>
            <a:lstStyle/>
            <a:p>
              <a:pPr algn="ctr"/>
              <a:r>
                <a:rPr lang="zh-CN" sz="750" dirty="0">
                  <a:solidFill>
                    <a:srgbClr val="D8E4F6"/>
                  </a:solidFill>
                  <a:latin typeface="+mn-lt"/>
                  <a:ea typeface="+mn-ea"/>
                  <a:cs typeface="+mn-cs"/>
                </a:rPr>
                <a:t>开户</a:t>
              </a:r>
            </a:p>
          </p:txBody>
        </p:sp>
        <p:sp>
          <p:nvSpPr>
            <p:cNvPr id="91" name="TextBox 91"/>
            <p:cNvSpPr txBox="1"/>
            <p:nvPr/>
          </p:nvSpPr>
          <p:spPr>
            <a:xfrm>
              <a:off x="4159347" y="2842260"/>
              <a:ext cx="67290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1,240</a:t>
              </a:r>
              <a:r>
                <a:rPr lang="zh-CN" sz="750" b="1" dirty="0">
                  <a:solidFill>
                    <a:srgbClr val="FFFFFF"/>
                  </a:solidFill>
                  <a:latin typeface="+mn-lt"/>
                  <a:ea typeface="+mn-ea"/>
                  <a:cs typeface="+mn-cs"/>
                </a:rPr>
                <a:t>户</a:t>
              </a:r>
              <a:r>
                <a:rPr lang="zh-CN" sz="1200" b="1" dirty="0">
                  <a:solidFill>
                    <a:srgbClr val="FFFFFF"/>
                  </a:solidFill>
                  <a:latin typeface="+mn-lt"/>
                  <a:ea typeface="+mn-ea"/>
                  <a:cs typeface="+mn-cs"/>
                </a:rPr>
                <a:t>​</a:t>
              </a:r>
            </a:p>
          </p:txBody>
        </p:sp>
        <p:sp>
          <p:nvSpPr>
            <p:cNvPr id="92" name="Freeform 92"/>
            <p:cNvSpPr/>
            <p:nvPr/>
          </p:nvSpPr>
          <p:spPr>
            <a:xfrm>
              <a:off x="5295900" y="2457450"/>
              <a:ext cx="1600200" cy="685800"/>
            </a:xfrm>
            <a:custGeom>
              <a:avLst/>
              <a:gdLst/>
              <a:ahLst/>
              <a:cxnLst/>
              <a:rect l="l" t="t" r="r" b="b"/>
              <a:pathLst>
                <a:path w="1600200" h="685800">
                  <a:moveTo>
                    <a:pt x="0" y="0"/>
                  </a:moveTo>
                  <a:lnTo>
                    <a:pt x="1600200" y="0"/>
                  </a:lnTo>
                  <a:lnTo>
                    <a:pt x="1447800" y="685800"/>
                  </a:lnTo>
                  <a:lnTo>
                    <a:pt x="0" y="685800"/>
                  </a:lnTo>
                  <a:close/>
                </a:path>
              </a:pathLst>
            </a:custGeom>
            <a:solidFill>
              <a:srgbClr val="E8735B"/>
            </a:solidFill>
            <a:ln>
              <a:noFill/>
            </a:ln>
          </p:spPr>
        </p:sp>
        <p:sp>
          <p:nvSpPr>
            <p:cNvPr id="93" name="TextBox 93"/>
            <p:cNvSpPr txBox="1"/>
            <p:nvPr/>
          </p:nvSpPr>
          <p:spPr>
            <a:xfrm>
              <a:off x="5892165" y="2643188"/>
              <a:ext cx="312420" cy="147638"/>
            </a:xfrm>
            <a:prstGeom prst="rect">
              <a:avLst/>
            </a:prstGeom>
            <a:noFill/>
            <a:ln>
              <a:noFill/>
            </a:ln>
          </p:spPr>
          <p:txBody>
            <a:bodyPr wrap="none" lIns="0" tIns="0" rIns="0" bIns="0" anchor="t" anchorCtr="0">
              <a:spAutoFit/>
            </a:bodyPr>
            <a:lstStyle/>
            <a:p>
              <a:pPr algn="ctr"/>
              <a:r>
                <a:rPr lang="zh-CN" sz="750" dirty="0">
                  <a:solidFill>
                    <a:srgbClr val="E8F0FA"/>
                  </a:solidFill>
                  <a:latin typeface="+mn-lt"/>
                  <a:ea typeface="+mn-ea"/>
                  <a:cs typeface="+mn-cs"/>
                </a:rPr>
                <a:t>有效户</a:t>
              </a:r>
            </a:p>
          </p:txBody>
        </p:sp>
        <p:sp>
          <p:nvSpPr>
            <p:cNvPr id="94" name="TextBox 94"/>
            <p:cNvSpPr txBox="1"/>
            <p:nvPr/>
          </p:nvSpPr>
          <p:spPr>
            <a:xfrm>
              <a:off x="5805213" y="2842260"/>
              <a:ext cx="4863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850</a:t>
              </a:r>
              <a:r>
                <a:rPr lang="zh-CN" sz="750" b="1" dirty="0">
                  <a:solidFill>
                    <a:srgbClr val="FFFFFF"/>
                  </a:solidFill>
                  <a:latin typeface="+mn-lt"/>
                  <a:ea typeface="+mn-ea"/>
                  <a:cs typeface="+mn-cs"/>
                </a:rPr>
                <a:t>户</a:t>
              </a:r>
              <a:r>
                <a:rPr lang="zh-CN" sz="1200" b="1" dirty="0">
                  <a:solidFill>
                    <a:srgbClr val="FFFFFF"/>
                  </a:solidFill>
                  <a:latin typeface="+mn-lt"/>
                  <a:ea typeface="+mn-ea"/>
                  <a:cs typeface="+mn-cs"/>
                </a:rPr>
                <a:t>​</a:t>
              </a:r>
            </a:p>
          </p:txBody>
        </p:sp>
        <p:sp>
          <p:nvSpPr>
            <p:cNvPr id="95" name="Freeform 95"/>
            <p:cNvSpPr/>
            <p:nvPr/>
          </p:nvSpPr>
          <p:spPr>
            <a:xfrm>
              <a:off x="6819900" y="2457450"/>
              <a:ext cx="1543050" cy="685800"/>
            </a:xfrm>
            <a:custGeom>
              <a:avLst/>
              <a:gdLst/>
              <a:ahLst/>
              <a:cxnLst/>
              <a:rect l="l" t="t" r="r" b="b"/>
              <a:pathLst>
                <a:path w="1543050" h="685800">
                  <a:moveTo>
                    <a:pt x="0" y="0"/>
                  </a:moveTo>
                  <a:lnTo>
                    <a:pt x="1543050" y="0"/>
                  </a:lnTo>
                  <a:lnTo>
                    <a:pt x="1390650" y="685800"/>
                  </a:lnTo>
                  <a:lnTo>
                    <a:pt x="0" y="685800"/>
                  </a:lnTo>
                  <a:close/>
                </a:path>
              </a:pathLst>
            </a:custGeom>
            <a:solidFill>
              <a:srgbClr val="DC9C8F"/>
            </a:solidFill>
            <a:ln>
              <a:noFill/>
            </a:ln>
          </p:spPr>
        </p:sp>
        <p:sp>
          <p:nvSpPr>
            <p:cNvPr id="96" name="TextBox 96"/>
            <p:cNvSpPr txBox="1"/>
            <p:nvPr/>
          </p:nvSpPr>
          <p:spPr>
            <a:xfrm>
              <a:off x="7337108" y="2643188"/>
              <a:ext cx="413385" cy="147638"/>
            </a:xfrm>
            <a:prstGeom prst="rect">
              <a:avLst/>
            </a:prstGeom>
            <a:noFill/>
            <a:ln>
              <a:noFill/>
            </a:ln>
          </p:spPr>
          <p:txBody>
            <a:bodyPr wrap="none" lIns="0" tIns="0" rIns="0" bIns="0" anchor="t" anchorCtr="0">
              <a:spAutoFit/>
            </a:bodyPr>
            <a:lstStyle/>
            <a:p>
              <a:pPr algn="ctr"/>
              <a:r>
                <a:rPr lang="zh-CN" sz="750" dirty="0">
                  <a:solidFill>
                    <a:srgbClr val="F2F6FC"/>
                  </a:solidFill>
                  <a:latin typeface="+mn-lt"/>
                  <a:ea typeface="+mn-ea"/>
                  <a:cs typeface="+mn-cs"/>
                </a:rPr>
                <a:t>增存客户</a:t>
              </a:r>
            </a:p>
          </p:txBody>
        </p:sp>
        <p:sp>
          <p:nvSpPr>
            <p:cNvPr id="97" name="TextBox 97"/>
            <p:cNvSpPr txBox="1"/>
            <p:nvPr/>
          </p:nvSpPr>
          <p:spPr>
            <a:xfrm>
              <a:off x="7300638" y="2842260"/>
              <a:ext cx="4863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560</a:t>
              </a:r>
              <a:r>
                <a:rPr lang="zh-CN" sz="750" b="1" dirty="0">
                  <a:solidFill>
                    <a:srgbClr val="FFFFFF"/>
                  </a:solidFill>
                  <a:latin typeface="+mn-lt"/>
                  <a:ea typeface="+mn-ea"/>
                  <a:cs typeface="+mn-cs"/>
                </a:rPr>
                <a:t>户</a:t>
              </a:r>
              <a:r>
                <a:rPr lang="zh-CN" sz="1200" b="1" dirty="0">
                  <a:solidFill>
                    <a:srgbClr val="FFFFFF"/>
                  </a:solidFill>
                  <a:latin typeface="+mn-lt"/>
                  <a:ea typeface="+mn-ea"/>
                  <a:cs typeface="+mn-cs"/>
                </a:rPr>
                <a:t>​</a:t>
              </a:r>
            </a:p>
          </p:txBody>
        </p:sp>
        <p:sp>
          <p:nvSpPr>
            <p:cNvPr id="98" name="TextBox 98"/>
            <p:cNvSpPr txBox="1"/>
            <p:nvPr/>
          </p:nvSpPr>
          <p:spPr>
            <a:xfrm>
              <a:off x="3525126" y="3283982"/>
              <a:ext cx="156034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从名单到增存的全链路转化（示例数据）</a:t>
              </a:r>
            </a:p>
          </p:txBody>
        </p:sp>
      </p:grpSp>
      <p:grpSp>
        <p:nvGrpSpPr>
          <p:cNvPr id="189" name="rank-table"/>
          <p:cNvGrpSpPr/>
          <p:nvPr/>
        </p:nvGrpSpPr>
        <p:grpSpPr>
          <a:xfrm>
            <a:off x="228600" y="3581400"/>
            <a:ext cx="8153400" cy="3086100"/>
            <a:chOff x="228600" y="3581400"/>
            <a:chExt cx="8153400" cy="3086100"/>
          </a:xfrm>
        </p:grpSpPr>
        <p:sp>
          <p:nvSpPr>
            <p:cNvPr id="100" name="Rectangle 100"/>
            <p:cNvSpPr/>
            <p:nvPr/>
          </p:nvSpPr>
          <p:spPr>
            <a:xfrm>
              <a:off x="228600" y="3581400"/>
              <a:ext cx="8153400" cy="3086100"/>
            </a:xfrm>
            <a:prstGeom prst="roundRect">
              <a:avLst>
                <a:gd name="adj" fmla="val 1852"/>
              </a:avLst>
            </a:prstGeom>
            <a:solidFill>
              <a:srgbClr val="FFFFFF"/>
            </a:solidFill>
            <a:ln w="9525">
              <a:solidFill>
                <a:srgbClr val="C9D6E9"/>
              </a:solidFill>
            </a:ln>
          </p:spPr>
        </p:sp>
        <p:sp>
          <p:nvSpPr>
            <p:cNvPr id="101" name="Rectangle 101"/>
            <p:cNvSpPr/>
            <p:nvPr/>
          </p:nvSpPr>
          <p:spPr>
            <a:xfrm>
              <a:off x="228600" y="3581400"/>
              <a:ext cx="8153400" cy="247650"/>
            </a:xfrm>
            <a:prstGeom prst="roundRect">
              <a:avLst>
                <a:gd name="adj" fmla="val 23077"/>
              </a:avLst>
            </a:prstGeom>
            <a:solidFill>
              <a:srgbClr val="69281B"/>
            </a:solidFill>
            <a:ln>
              <a:noFill/>
            </a:ln>
          </p:spPr>
        </p:sp>
        <p:sp>
          <p:nvSpPr>
            <p:cNvPr id="102" name="Rectangle 102"/>
            <p:cNvSpPr/>
            <p:nvPr/>
          </p:nvSpPr>
          <p:spPr>
            <a:xfrm>
              <a:off x="228600" y="3733800"/>
              <a:ext cx="8153400" cy="95250"/>
            </a:xfrm>
            <a:prstGeom prst="rect">
              <a:avLst/>
            </a:prstGeom>
            <a:solidFill>
              <a:srgbClr val="69281B"/>
            </a:solidFill>
            <a:ln>
              <a:noFill/>
            </a:ln>
          </p:spPr>
        </p:sp>
        <p:sp>
          <p:nvSpPr>
            <p:cNvPr id="103" name="TextBox 103"/>
            <p:cNvSpPr txBox="1"/>
            <p:nvPr/>
          </p:nvSpPr>
          <p:spPr>
            <a:xfrm>
              <a:off x="3424208" y="3651647"/>
              <a:ext cx="1762185"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分支机构执行排名（TOP10）​</a:t>
              </a:r>
            </a:p>
          </p:txBody>
        </p:sp>
        <p:sp>
          <p:nvSpPr>
            <p:cNvPr id="104" name="Rectangle 104"/>
            <p:cNvSpPr/>
            <p:nvPr/>
          </p:nvSpPr>
          <p:spPr>
            <a:xfrm>
              <a:off x="342900" y="3829050"/>
              <a:ext cx="7924800" cy="209550"/>
            </a:xfrm>
            <a:prstGeom prst="rect">
              <a:avLst/>
            </a:prstGeom>
            <a:solidFill>
              <a:srgbClr val="EAF1FB"/>
            </a:solidFill>
            <a:ln>
              <a:noFill/>
            </a:ln>
          </p:spPr>
        </p:sp>
        <p:sp>
          <p:nvSpPr>
            <p:cNvPr id="105" name="TextBox 105"/>
            <p:cNvSpPr txBox="1"/>
            <p:nvPr/>
          </p:nvSpPr>
          <p:spPr>
            <a:xfrm>
              <a:off x="456248" y="3890962"/>
              <a:ext cx="21145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排名</a:t>
              </a:r>
            </a:p>
          </p:txBody>
        </p:sp>
        <p:sp>
          <p:nvSpPr>
            <p:cNvPr id="106" name="TextBox 106"/>
            <p:cNvSpPr txBox="1"/>
            <p:nvPr/>
          </p:nvSpPr>
          <p:spPr>
            <a:xfrm>
              <a:off x="1789748" y="3890962"/>
              <a:ext cx="21145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机构</a:t>
              </a:r>
            </a:p>
          </p:txBody>
        </p:sp>
        <p:sp>
          <p:nvSpPr>
            <p:cNvPr id="107" name="TextBox 107"/>
            <p:cNvSpPr txBox="1"/>
            <p:nvPr/>
          </p:nvSpPr>
          <p:spPr>
            <a:xfrm>
              <a:off x="3207068" y="3890962"/>
              <a:ext cx="61531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走访数（家）</a:t>
              </a:r>
            </a:p>
          </p:txBody>
        </p:sp>
        <p:sp>
          <p:nvSpPr>
            <p:cNvPr id="108" name="TextBox 108"/>
            <p:cNvSpPr txBox="1"/>
            <p:nvPr/>
          </p:nvSpPr>
          <p:spPr>
            <a:xfrm>
              <a:off x="4445318" y="3890962"/>
              <a:ext cx="61531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开户数（户）</a:t>
              </a:r>
            </a:p>
          </p:txBody>
        </p:sp>
        <p:sp>
          <p:nvSpPr>
            <p:cNvPr id="109" name="TextBox 109"/>
            <p:cNvSpPr txBox="1"/>
            <p:nvPr/>
          </p:nvSpPr>
          <p:spPr>
            <a:xfrm>
              <a:off x="5725478" y="3890962"/>
              <a:ext cx="81724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增存金额（亿元）</a:t>
              </a:r>
            </a:p>
          </p:txBody>
        </p:sp>
        <p:sp>
          <p:nvSpPr>
            <p:cNvPr id="110" name="TextBox 110"/>
            <p:cNvSpPr txBox="1"/>
            <p:nvPr/>
          </p:nvSpPr>
          <p:spPr>
            <a:xfrm>
              <a:off x="7312966" y="3890962"/>
              <a:ext cx="652167"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完成率（%）​</a:t>
              </a:r>
            </a:p>
          </p:txBody>
        </p:sp>
        <p:sp>
          <p:nvSpPr>
            <p:cNvPr id="111" name="TextBox 111"/>
            <p:cNvSpPr txBox="1"/>
            <p:nvPr/>
          </p:nvSpPr>
          <p:spPr>
            <a:xfrm>
              <a:off x="498905" y="4119562"/>
              <a:ext cx="126140"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1​</a:t>
              </a:r>
            </a:p>
          </p:txBody>
        </p:sp>
        <p:grpSp>
          <p:nvGrpSpPr>
            <p:cNvPr id="115" name="Group 115"/>
            <p:cNvGrpSpPr/>
            <p:nvPr/>
          </p:nvGrpSpPr>
          <p:grpSpPr>
            <a:xfrm>
              <a:off x="874802" y="4111228"/>
              <a:ext cx="88711" cy="92302"/>
              <a:chOff x="874802" y="4111228"/>
              <a:chExt cx="88711" cy="92302"/>
            </a:xfrm>
          </p:grpSpPr>
          <p:sp>
            <p:nvSpPr>
              <p:cNvPr id="112" name="Freeform 112"/>
              <p:cNvSpPr/>
              <p:nvPr/>
            </p:nvSpPr>
            <p:spPr>
              <a:xfrm>
                <a:off x="888206" y="4111228"/>
                <a:ext cx="61913" cy="61913"/>
              </a:xfrm>
              <a:custGeom>
                <a:avLst/>
                <a:gdLst/>
                <a:ahLst/>
                <a:cxnLst/>
                <a:rect l="l" t="t" r="r" b="b"/>
                <a:pathLst>
                  <a:path w="61913" h="61913">
                    <a:moveTo>
                      <a:pt x="0" y="30956"/>
                    </a:moveTo>
                    <a:cubicBezTo>
                      <a:pt x="0" y="48053"/>
                      <a:pt x="13860" y="61913"/>
                      <a:pt x="30956" y="61913"/>
                    </a:cubicBezTo>
                    <a:cubicBezTo>
                      <a:pt x="48053" y="61913"/>
                      <a:pt x="61913" y="48053"/>
                      <a:pt x="61913" y="30956"/>
                    </a:cubicBezTo>
                    <a:cubicBezTo>
                      <a:pt x="61913" y="13860"/>
                      <a:pt x="48053" y="0"/>
                      <a:pt x="30956" y="0"/>
                    </a:cubicBezTo>
                    <a:cubicBezTo>
                      <a:pt x="13860" y="0"/>
                      <a:pt x="0" y="13860"/>
                      <a:pt x="0" y="30956"/>
                    </a:cubicBezTo>
                  </a:path>
                </a:pathLst>
              </a:custGeom>
              <a:noFill/>
              <a:ln w="10319">
                <a:solidFill>
                  <a:srgbClr val="D83013"/>
                </a:solidFill>
              </a:ln>
            </p:spPr>
          </p:sp>
          <p:sp>
            <p:nvSpPr>
              <p:cNvPr id="113" name="Freeform 113"/>
              <p:cNvSpPr/>
              <p:nvPr/>
            </p:nvSpPr>
            <p:spPr>
              <a:xfrm>
                <a:off x="919163" y="4157663"/>
                <a:ext cx="44350" cy="45867"/>
              </a:xfrm>
              <a:custGeom>
                <a:avLst/>
                <a:gdLst/>
                <a:ahLst/>
                <a:cxnLst/>
                <a:rect l="l" t="t" r="r" b="b"/>
                <a:pathLst>
                  <a:path w="44350" h="45867">
                    <a:moveTo>
                      <a:pt x="0" y="15478"/>
                    </a:moveTo>
                    <a:lnTo>
                      <a:pt x="17542" y="45867"/>
                    </a:lnTo>
                    <a:lnTo>
                      <a:pt x="25787" y="29187"/>
                    </a:lnTo>
                    <a:lnTo>
                      <a:pt x="44350" y="30384"/>
                    </a:lnTo>
                    <a:lnTo>
                      <a:pt x="26808" y="0"/>
                    </a:lnTo>
                  </a:path>
                </a:pathLst>
              </a:custGeom>
              <a:noFill/>
              <a:ln w="10319">
                <a:solidFill>
                  <a:srgbClr val="D83013"/>
                </a:solidFill>
              </a:ln>
            </p:spPr>
          </p:sp>
          <p:sp>
            <p:nvSpPr>
              <p:cNvPr id="114" name="Freeform 114"/>
              <p:cNvSpPr/>
              <p:nvPr/>
            </p:nvSpPr>
            <p:spPr>
              <a:xfrm>
                <a:off x="874802" y="4157663"/>
                <a:ext cx="44350" cy="45862"/>
              </a:xfrm>
              <a:custGeom>
                <a:avLst/>
                <a:gdLst/>
                <a:ahLst/>
                <a:cxnLst/>
                <a:rect l="l" t="t" r="r" b="b"/>
                <a:pathLst>
                  <a:path w="44350" h="45862">
                    <a:moveTo>
                      <a:pt x="17542" y="0"/>
                    </a:moveTo>
                    <a:lnTo>
                      <a:pt x="0" y="30389"/>
                    </a:lnTo>
                    <a:lnTo>
                      <a:pt x="18563" y="29187"/>
                    </a:lnTo>
                    <a:lnTo>
                      <a:pt x="26808" y="45862"/>
                    </a:lnTo>
                    <a:lnTo>
                      <a:pt x="44350" y="15478"/>
                    </a:lnTo>
                  </a:path>
                </a:pathLst>
              </a:custGeom>
              <a:noFill/>
              <a:ln w="10319">
                <a:solidFill>
                  <a:srgbClr val="D83013"/>
                </a:solidFill>
              </a:ln>
            </p:spPr>
          </p:sp>
        </p:grpSp>
        <p:sp>
          <p:nvSpPr>
            <p:cNvPr id="116" name="TextBox 116"/>
            <p:cNvSpPr txBox="1"/>
            <p:nvPr/>
          </p:nvSpPr>
          <p:spPr>
            <a:xfrm>
              <a:off x="1551861" y="4119562"/>
              <a:ext cx="68722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XX分行营业部​</a:t>
              </a:r>
            </a:p>
          </p:txBody>
        </p:sp>
        <p:sp>
          <p:nvSpPr>
            <p:cNvPr id="117" name="TextBox 117"/>
            <p:cNvSpPr txBox="1"/>
            <p:nvPr/>
          </p:nvSpPr>
          <p:spPr>
            <a:xfrm>
              <a:off x="3398901" y="41195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286​</a:t>
              </a:r>
            </a:p>
          </p:txBody>
        </p:sp>
        <p:sp>
          <p:nvSpPr>
            <p:cNvPr id="118" name="TextBox 118"/>
            <p:cNvSpPr txBox="1"/>
            <p:nvPr/>
          </p:nvSpPr>
          <p:spPr>
            <a:xfrm>
              <a:off x="4637151" y="41195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192​</a:t>
              </a:r>
            </a:p>
          </p:txBody>
        </p:sp>
        <p:sp>
          <p:nvSpPr>
            <p:cNvPr id="119" name="TextBox 119"/>
            <p:cNvSpPr txBox="1"/>
            <p:nvPr/>
          </p:nvSpPr>
          <p:spPr>
            <a:xfrm>
              <a:off x="5983569" y="4119562"/>
              <a:ext cx="301061"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2.48​</a:t>
              </a:r>
            </a:p>
          </p:txBody>
        </p:sp>
        <p:sp>
          <p:nvSpPr>
            <p:cNvPr id="120" name="TextBox 120"/>
            <p:cNvSpPr txBox="1"/>
            <p:nvPr/>
          </p:nvSpPr>
          <p:spPr>
            <a:xfrm>
              <a:off x="7419611" y="4119562"/>
              <a:ext cx="438879"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124.0%​</a:t>
              </a:r>
            </a:p>
          </p:txBody>
        </p:sp>
        <p:sp>
          <p:nvSpPr>
            <p:cNvPr id="121" name="TextBox 121"/>
            <p:cNvSpPr txBox="1"/>
            <p:nvPr/>
          </p:nvSpPr>
          <p:spPr>
            <a:xfrm>
              <a:off x="498905" y="4348162"/>
              <a:ext cx="126140"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2​</a:t>
              </a:r>
            </a:p>
          </p:txBody>
        </p:sp>
        <p:grpSp>
          <p:nvGrpSpPr>
            <p:cNvPr id="125" name="Group 125"/>
            <p:cNvGrpSpPr/>
            <p:nvPr/>
          </p:nvGrpSpPr>
          <p:grpSpPr>
            <a:xfrm>
              <a:off x="874802" y="4339828"/>
              <a:ext cx="88711" cy="92302"/>
              <a:chOff x="874802" y="4339828"/>
              <a:chExt cx="88711" cy="92302"/>
            </a:xfrm>
          </p:grpSpPr>
          <p:sp>
            <p:nvSpPr>
              <p:cNvPr id="122" name="Freeform 122"/>
              <p:cNvSpPr/>
              <p:nvPr/>
            </p:nvSpPr>
            <p:spPr>
              <a:xfrm>
                <a:off x="888206" y="4339828"/>
                <a:ext cx="61913" cy="61913"/>
              </a:xfrm>
              <a:custGeom>
                <a:avLst/>
                <a:gdLst/>
                <a:ahLst/>
                <a:cxnLst/>
                <a:rect l="l" t="t" r="r" b="b"/>
                <a:pathLst>
                  <a:path w="61913" h="61913">
                    <a:moveTo>
                      <a:pt x="0" y="30956"/>
                    </a:moveTo>
                    <a:cubicBezTo>
                      <a:pt x="0" y="48053"/>
                      <a:pt x="13860" y="61913"/>
                      <a:pt x="30956" y="61913"/>
                    </a:cubicBezTo>
                    <a:cubicBezTo>
                      <a:pt x="48053" y="61913"/>
                      <a:pt x="61913" y="48053"/>
                      <a:pt x="61913" y="30956"/>
                    </a:cubicBezTo>
                    <a:cubicBezTo>
                      <a:pt x="61913" y="13860"/>
                      <a:pt x="48053" y="0"/>
                      <a:pt x="30956" y="0"/>
                    </a:cubicBezTo>
                    <a:cubicBezTo>
                      <a:pt x="13860" y="0"/>
                      <a:pt x="0" y="13860"/>
                      <a:pt x="0" y="30956"/>
                    </a:cubicBezTo>
                  </a:path>
                </a:pathLst>
              </a:custGeom>
              <a:noFill/>
              <a:ln w="10319">
                <a:solidFill>
                  <a:srgbClr val="AB918C"/>
                </a:solidFill>
              </a:ln>
            </p:spPr>
          </p:sp>
          <p:sp>
            <p:nvSpPr>
              <p:cNvPr id="123" name="Freeform 123"/>
              <p:cNvSpPr/>
              <p:nvPr/>
            </p:nvSpPr>
            <p:spPr>
              <a:xfrm>
                <a:off x="919163" y="4386263"/>
                <a:ext cx="44350" cy="45867"/>
              </a:xfrm>
              <a:custGeom>
                <a:avLst/>
                <a:gdLst/>
                <a:ahLst/>
                <a:cxnLst/>
                <a:rect l="l" t="t" r="r" b="b"/>
                <a:pathLst>
                  <a:path w="44350" h="45867">
                    <a:moveTo>
                      <a:pt x="0" y="15478"/>
                    </a:moveTo>
                    <a:lnTo>
                      <a:pt x="17542" y="45867"/>
                    </a:lnTo>
                    <a:lnTo>
                      <a:pt x="25787" y="29187"/>
                    </a:lnTo>
                    <a:lnTo>
                      <a:pt x="44350" y="30384"/>
                    </a:lnTo>
                    <a:lnTo>
                      <a:pt x="26808" y="0"/>
                    </a:lnTo>
                  </a:path>
                </a:pathLst>
              </a:custGeom>
              <a:noFill/>
              <a:ln w="10319">
                <a:solidFill>
                  <a:srgbClr val="AB918C"/>
                </a:solidFill>
              </a:ln>
            </p:spPr>
          </p:sp>
          <p:sp>
            <p:nvSpPr>
              <p:cNvPr id="124" name="Freeform 124"/>
              <p:cNvSpPr/>
              <p:nvPr/>
            </p:nvSpPr>
            <p:spPr>
              <a:xfrm>
                <a:off x="874802" y="4386263"/>
                <a:ext cx="44350" cy="45862"/>
              </a:xfrm>
              <a:custGeom>
                <a:avLst/>
                <a:gdLst/>
                <a:ahLst/>
                <a:cxnLst/>
                <a:rect l="l" t="t" r="r" b="b"/>
                <a:pathLst>
                  <a:path w="44350" h="45862">
                    <a:moveTo>
                      <a:pt x="17542" y="0"/>
                    </a:moveTo>
                    <a:lnTo>
                      <a:pt x="0" y="30389"/>
                    </a:lnTo>
                    <a:lnTo>
                      <a:pt x="18563" y="29187"/>
                    </a:lnTo>
                    <a:lnTo>
                      <a:pt x="26808" y="45862"/>
                    </a:lnTo>
                    <a:lnTo>
                      <a:pt x="44350" y="15478"/>
                    </a:lnTo>
                  </a:path>
                </a:pathLst>
              </a:custGeom>
              <a:noFill/>
              <a:ln w="10319">
                <a:solidFill>
                  <a:srgbClr val="AB918C"/>
                </a:solidFill>
              </a:ln>
            </p:spPr>
          </p:sp>
        </p:grpSp>
        <p:sp>
          <p:nvSpPr>
            <p:cNvPr id="126" name="TextBox 126"/>
            <p:cNvSpPr txBox="1"/>
            <p:nvPr/>
          </p:nvSpPr>
          <p:spPr>
            <a:xfrm>
              <a:off x="1501378" y="4348162"/>
              <a:ext cx="788194"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XX高新科技支行​</a:t>
              </a:r>
            </a:p>
          </p:txBody>
        </p:sp>
        <p:sp>
          <p:nvSpPr>
            <p:cNvPr id="127" name="TextBox 127"/>
            <p:cNvSpPr txBox="1"/>
            <p:nvPr/>
          </p:nvSpPr>
          <p:spPr>
            <a:xfrm>
              <a:off x="3398901" y="43481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241​</a:t>
              </a:r>
            </a:p>
          </p:txBody>
        </p:sp>
        <p:sp>
          <p:nvSpPr>
            <p:cNvPr id="128" name="TextBox 128"/>
            <p:cNvSpPr txBox="1"/>
            <p:nvPr/>
          </p:nvSpPr>
          <p:spPr>
            <a:xfrm>
              <a:off x="4637151" y="43481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160​</a:t>
              </a:r>
            </a:p>
          </p:txBody>
        </p:sp>
        <p:sp>
          <p:nvSpPr>
            <p:cNvPr id="129" name="TextBox 129"/>
            <p:cNvSpPr txBox="1"/>
            <p:nvPr/>
          </p:nvSpPr>
          <p:spPr>
            <a:xfrm>
              <a:off x="5983569" y="4348162"/>
              <a:ext cx="301061"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1.96​</a:t>
              </a:r>
            </a:p>
          </p:txBody>
        </p:sp>
        <p:sp>
          <p:nvSpPr>
            <p:cNvPr id="130" name="TextBox 130"/>
            <p:cNvSpPr txBox="1"/>
            <p:nvPr/>
          </p:nvSpPr>
          <p:spPr>
            <a:xfrm>
              <a:off x="7419611" y="4348162"/>
              <a:ext cx="438879"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118.1%​</a:t>
              </a:r>
            </a:p>
          </p:txBody>
        </p:sp>
        <p:sp>
          <p:nvSpPr>
            <p:cNvPr id="131" name="TextBox 131"/>
            <p:cNvSpPr txBox="1"/>
            <p:nvPr/>
          </p:nvSpPr>
          <p:spPr>
            <a:xfrm>
              <a:off x="498905" y="4576762"/>
              <a:ext cx="126140"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3​</a:t>
              </a:r>
            </a:p>
          </p:txBody>
        </p:sp>
        <p:grpSp>
          <p:nvGrpSpPr>
            <p:cNvPr id="135" name="Group 135"/>
            <p:cNvGrpSpPr/>
            <p:nvPr/>
          </p:nvGrpSpPr>
          <p:grpSpPr>
            <a:xfrm>
              <a:off x="874802" y="4568428"/>
              <a:ext cx="88711" cy="92302"/>
              <a:chOff x="874802" y="4568428"/>
              <a:chExt cx="88711" cy="92302"/>
            </a:xfrm>
          </p:grpSpPr>
          <p:sp>
            <p:nvSpPr>
              <p:cNvPr id="132" name="Freeform 132"/>
              <p:cNvSpPr/>
              <p:nvPr/>
            </p:nvSpPr>
            <p:spPr>
              <a:xfrm>
                <a:off x="888206" y="4568428"/>
                <a:ext cx="61913" cy="61913"/>
              </a:xfrm>
              <a:custGeom>
                <a:avLst/>
                <a:gdLst/>
                <a:ahLst/>
                <a:cxnLst/>
                <a:rect l="l" t="t" r="r" b="b"/>
                <a:pathLst>
                  <a:path w="61913" h="61913">
                    <a:moveTo>
                      <a:pt x="0" y="30956"/>
                    </a:moveTo>
                    <a:cubicBezTo>
                      <a:pt x="0" y="48053"/>
                      <a:pt x="13860" y="61913"/>
                      <a:pt x="30956" y="61913"/>
                    </a:cubicBezTo>
                    <a:cubicBezTo>
                      <a:pt x="48053" y="61913"/>
                      <a:pt x="61913" y="48053"/>
                      <a:pt x="61913" y="30956"/>
                    </a:cubicBezTo>
                    <a:cubicBezTo>
                      <a:pt x="61913" y="13860"/>
                      <a:pt x="48053" y="0"/>
                      <a:pt x="30956" y="0"/>
                    </a:cubicBezTo>
                    <a:cubicBezTo>
                      <a:pt x="13860" y="0"/>
                      <a:pt x="0" y="13860"/>
                      <a:pt x="0" y="30956"/>
                    </a:cubicBezTo>
                  </a:path>
                </a:pathLst>
              </a:custGeom>
              <a:noFill/>
              <a:ln w="10319">
                <a:solidFill>
                  <a:srgbClr val="B84733"/>
                </a:solidFill>
              </a:ln>
            </p:spPr>
          </p:sp>
          <p:sp>
            <p:nvSpPr>
              <p:cNvPr id="133" name="Freeform 133"/>
              <p:cNvSpPr/>
              <p:nvPr/>
            </p:nvSpPr>
            <p:spPr>
              <a:xfrm>
                <a:off x="919163" y="4614863"/>
                <a:ext cx="44350" cy="45867"/>
              </a:xfrm>
              <a:custGeom>
                <a:avLst/>
                <a:gdLst/>
                <a:ahLst/>
                <a:cxnLst/>
                <a:rect l="l" t="t" r="r" b="b"/>
                <a:pathLst>
                  <a:path w="44350" h="45867">
                    <a:moveTo>
                      <a:pt x="0" y="15478"/>
                    </a:moveTo>
                    <a:lnTo>
                      <a:pt x="17542" y="45867"/>
                    </a:lnTo>
                    <a:lnTo>
                      <a:pt x="25787" y="29187"/>
                    </a:lnTo>
                    <a:lnTo>
                      <a:pt x="44350" y="30384"/>
                    </a:lnTo>
                    <a:lnTo>
                      <a:pt x="26808" y="0"/>
                    </a:lnTo>
                  </a:path>
                </a:pathLst>
              </a:custGeom>
              <a:noFill/>
              <a:ln w="10319">
                <a:solidFill>
                  <a:srgbClr val="B84733"/>
                </a:solidFill>
              </a:ln>
            </p:spPr>
          </p:sp>
          <p:sp>
            <p:nvSpPr>
              <p:cNvPr id="134" name="Freeform 134"/>
              <p:cNvSpPr/>
              <p:nvPr/>
            </p:nvSpPr>
            <p:spPr>
              <a:xfrm>
                <a:off x="874802" y="4614863"/>
                <a:ext cx="44350" cy="45862"/>
              </a:xfrm>
              <a:custGeom>
                <a:avLst/>
                <a:gdLst/>
                <a:ahLst/>
                <a:cxnLst/>
                <a:rect l="l" t="t" r="r" b="b"/>
                <a:pathLst>
                  <a:path w="44350" h="45862">
                    <a:moveTo>
                      <a:pt x="17542" y="0"/>
                    </a:moveTo>
                    <a:lnTo>
                      <a:pt x="0" y="30389"/>
                    </a:lnTo>
                    <a:lnTo>
                      <a:pt x="18563" y="29187"/>
                    </a:lnTo>
                    <a:lnTo>
                      <a:pt x="26808" y="45862"/>
                    </a:lnTo>
                    <a:lnTo>
                      <a:pt x="44350" y="15478"/>
                    </a:lnTo>
                  </a:path>
                </a:pathLst>
              </a:custGeom>
              <a:noFill/>
              <a:ln w="10319">
                <a:solidFill>
                  <a:srgbClr val="B84733"/>
                </a:solidFill>
              </a:ln>
            </p:spPr>
          </p:sp>
        </p:grpSp>
        <p:sp>
          <p:nvSpPr>
            <p:cNvPr id="136" name="TextBox 136"/>
            <p:cNvSpPr txBox="1"/>
            <p:nvPr/>
          </p:nvSpPr>
          <p:spPr>
            <a:xfrm>
              <a:off x="1551861" y="4576762"/>
              <a:ext cx="68722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XX开发区支行​</a:t>
              </a:r>
            </a:p>
          </p:txBody>
        </p:sp>
        <p:sp>
          <p:nvSpPr>
            <p:cNvPr id="137" name="TextBox 137"/>
            <p:cNvSpPr txBox="1"/>
            <p:nvPr/>
          </p:nvSpPr>
          <p:spPr>
            <a:xfrm>
              <a:off x="3398901" y="45767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233​</a:t>
              </a:r>
            </a:p>
          </p:txBody>
        </p:sp>
        <p:sp>
          <p:nvSpPr>
            <p:cNvPr id="138" name="TextBox 138"/>
            <p:cNvSpPr txBox="1"/>
            <p:nvPr/>
          </p:nvSpPr>
          <p:spPr>
            <a:xfrm>
              <a:off x="4637151" y="45767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158​</a:t>
              </a:r>
            </a:p>
          </p:txBody>
        </p:sp>
        <p:sp>
          <p:nvSpPr>
            <p:cNvPr id="139" name="TextBox 139"/>
            <p:cNvSpPr txBox="1"/>
            <p:nvPr/>
          </p:nvSpPr>
          <p:spPr>
            <a:xfrm>
              <a:off x="5983569" y="4576762"/>
              <a:ext cx="301061"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1.75​</a:t>
              </a:r>
            </a:p>
          </p:txBody>
        </p:sp>
        <p:sp>
          <p:nvSpPr>
            <p:cNvPr id="140" name="TextBox 140"/>
            <p:cNvSpPr txBox="1"/>
            <p:nvPr/>
          </p:nvSpPr>
          <p:spPr>
            <a:xfrm>
              <a:off x="7419611" y="4576762"/>
              <a:ext cx="438879"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112.4%​</a:t>
              </a:r>
            </a:p>
          </p:txBody>
        </p:sp>
        <p:sp>
          <p:nvSpPr>
            <p:cNvPr id="141" name="TextBox 141"/>
            <p:cNvSpPr txBox="1"/>
            <p:nvPr/>
          </p:nvSpPr>
          <p:spPr>
            <a:xfrm>
              <a:off x="501682" y="4805362"/>
              <a:ext cx="120586" cy="147638"/>
            </a:xfrm>
            <a:prstGeom prst="rect">
              <a:avLst/>
            </a:prstGeom>
            <a:noFill/>
            <a:ln>
              <a:noFill/>
            </a:ln>
          </p:spPr>
          <p:txBody>
            <a:bodyPr wrap="none" lIns="0" tIns="0" rIns="0" bIns="0" anchor="t" anchorCtr="0">
              <a:spAutoFit/>
            </a:bodyPr>
            <a:lstStyle/>
            <a:p>
              <a:pPr algn="ctr"/>
              <a:r>
                <a:rPr lang="zh-CN" sz="750" dirty="0">
                  <a:solidFill>
                    <a:srgbClr val="987F7A"/>
                  </a:solidFill>
                  <a:latin typeface="+mn-lt"/>
                  <a:ea typeface="+mn-ea"/>
                  <a:cs typeface="+mn-cs"/>
                </a:rPr>
                <a:t>4​</a:t>
              </a:r>
            </a:p>
          </p:txBody>
        </p:sp>
        <p:sp>
          <p:nvSpPr>
            <p:cNvPr id="142" name="TextBox 142"/>
            <p:cNvSpPr txBox="1"/>
            <p:nvPr/>
          </p:nvSpPr>
          <p:spPr>
            <a:xfrm>
              <a:off x="1602343" y="4805362"/>
              <a:ext cx="586264"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XX滨江支行​</a:t>
              </a:r>
            </a:p>
          </p:txBody>
        </p:sp>
        <p:sp>
          <p:nvSpPr>
            <p:cNvPr id="143" name="TextBox 143"/>
            <p:cNvSpPr txBox="1"/>
            <p:nvPr/>
          </p:nvSpPr>
          <p:spPr>
            <a:xfrm>
              <a:off x="3398901" y="48053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214​</a:t>
              </a:r>
            </a:p>
          </p:txBody>
        </p:sp>
        <p:sp>
          <p:nvSpPr>
            <p:cNvPr id="144" name="TextBox 144"/>
            <p:cNvSpPr txBox="1"/>
            <p:nvPr/>
          </p:nvSpPr>
          <p:spPr>
            <a:xfrm>
              <a:off x="4637151" y="48053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142​</a:t>
              </a:r>
            </a:p>
          </p:txBody>
        </p:sp>
        <p:sp>
          <p:nvSpPr>
            <p:cNvPr id="145" name="TextBox 145"/>
            <p:cNvSpPr txBox="1"/>
            <p:nvPr/>
          </p:nvSpPr>
          <p:spPr>
            <a:xfrm>
              <a:off x="5990511" y="4805362"/>
              <a:ext cx="28717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1.48​</a:t>
              </a:r>
            </a:p>
          </p:txBody>
        </p:sp>
        <p:sp>
          <p:nvSpPr>
            <p:cNvPr id="146" name="TextBox 146"/>
            <p:cNvSpPr txBox="1"/>
            <p:nvPr/>
          </p:nvSpPr>
          <p:spPr>
            <a:xfrm>
              <a:off x="7429833" y="4805362"/>
              <a:ext cx="418433"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106.0%​</a:t>
              </a:r>
            </a:p>
          </p:txBody>
        </p:sp>
        <p:sp>
          <p:nvSpPr>
            <p:cNvPr id="147" name="TextBox 147"/>
            <p:cNvSpPr txBox="1"/>
            <p:nvPr/>
          </p:nvSpPr>
          <p:spPr>
            <a:xfrm>
              <a:off x="501682" y="5033962"/>
              <a:ext cx="120586" cy="147638"/>
            </a:xfrm>
            <a:prstGeom prst="rect">
              <a:avLst/>
            </a:prstGeom>
            <a:noFill/>
            <a:ln>
              <a:noFill/>
            </a:ln>
          </p:spPr>
          <p:txBody>
            <a:bodyPr wrap="none" lIns="0" tIns="0" rIns="0" bIns="0" anchor="t" anchorCtr="0">
              <a:spAutoFit/>
            </a:bodyPr>
            <a:lstStyle/>
            <a:p>
              <a:pPr algn="ctr"/>
              <a:r>
                <a:rPr lang="zh-CN" sz="750" dirty="0">
                  <a:solidFill>
                    <a:srgbClr val="987F7A"/>
                  </a:solidFill>
                  <a:latin typeface="+mn-lt"/>
                  <a:ea typeface="+mn-ea"/>
                  <a:cs typeface="+mn-cs"/>
                </a:rPr>
                <a:t>5​</a:t>
              </a:r>
            </a:p>
          </p:txBody>
        </p:sp>
        <p:sp>
          <p:nvSpPr>
            <p:cNvPr id="148" name="TextBox 148"/>
            <p:cNvSpPr txBox="1"/>
            <p:nvPr/>
          </p:nvSpPr>
          <p:spPr>
            <a:xfrm>
              <a:off x="1602343" y="5033962"/>
              <a:ext cx="586264"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XX科技支行​</a:t>
              </a:r>
            </a:p>
          </p:txBody>
        </p:sp>
        <p:sp>
          <p:nvSpPr>
            <p:cNvPr id="149" name="TextBox 149"/>
            <p:cNvSpPr txBox="1"/>
            <p:nvPr/>
          </p:nvSpPr>
          <p:spPr>
            <a:xfrm>
              <a:off x="3398901" y="50339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198​</a:t>
              </a:r>
            </a:p>
          </p:txBody>
        </p:sp>
        <p:sp>
          <p:nvSpPr>
            <p:cNvPr id="150" name="TextBox 150"/>
            <p:cNvSpPr txBox="1"/>
            <p:nvPr/>
          </p:nvSpPr>
          <p:spPr>
            <a:xfrm>
              <a:off x="4637151" y="50339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131​</a:t>
              </a:r>
            </a:p>
          </p:txBody>
        </p:sp>
        <p:sp>
          <p:nvSpPr>
            <p:cNvPr id="151" name="TextBox 151"/>
            <p:cNvSpPr txBox="1"/>
            <p:nvPr/>
          </p:nvSpPr>
          <p:spPr>
            <a:xfrm>
              <a:off x="5990511" y="5033962"/>
              <a:ext cx="28717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1.33​</a:t>
              </a:r>
            </a:p>
          </p:txBody>
        </p:sp>
        <p:sp>
          <p:nvSpPr>
            <p:cNvPr id="152" name="TextBox 152"/>
            <p:cNvSpPr txBox="1"/>
            <p:nvPr/>
          </p:nvSpPr>
          <p:spPr>
            <a:xfrm>
              <a:off x="7429833" y="5033962"/>
              <a:ext cx="418433"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101.5%​</a:t>
              </a:r>
            </a:p>
          </p:txBody>
        </p:sp>
        <p:sp>
          <p:nvSpPr>
            <p:cNvPr id="153" name="TextBox 153"/>
            <p:cNvSpPr txBox="1"/>
            <p:nvPr/>
          </p:nvSpPr>
          <p:spPr>
            <a:xfrm>
              <a:off x="501682" y="5262562"/>
              <a:ext cx="120586" cy="147638"/>
            </a:xfrm>
            <a:prstGeom prst="rect">
              <a:avLst/>
            </a:prstGeom>
            <a:noFill/>
            <a:ln>
              <a:noFill/>
            </a:ln>
          </p:spPr>
          <p:txBody>
            <a:bodyPr wrap="none" lIns="0" tIns="0" rIns="0" bIns="0" anchor="t" anchorCtr="0">
              <a:spAutoFit/>
            </a:bodyPr>
            <a:lstStyle/>
            <a:p>
              <a:pPr algn="ctr"/>
              <a:r>
                <a:rPr lang="zh-CN" sz="750" dirty="0">
                  <a:solidFill>
                    <a:srgbClr val="987F7A"/>
                  </a:solidFill>
                  <a:latin typeface="+mn-lt"/>
                  <a:ea typeface="+mn-ea"/>
                  <a:cs typeface="+mn-cs"/>
                </a:rPr>
                <a:t>6​</a:t>
              </a:r>
            </a:p>
          </p:txBody>
        </p:sp>
        <p:sp>
          <p:nvSpPr>
            <p:cNvPr id="154" name="TextBox 154"/>
            <p:cNvSpPr txBox="1"/>
            <p:nvPr/>
          </p:nvSpPr>
          <p:spPr>
            <a:xfrm>
              <a:off x="1602343" y="5262562"/>
              <a:ext cx="586264"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XX城西支行​</a:t>
              </a:r>
            </a:p>
          </p:txBody>
        </p:sp>
        <p:sp>
          <p:nvSpPr>
            <p:cNvPr id="155" name="TextBox 155"/>
            <p:cNvSpPr txBox="1"/>
            <p:nvPr/>
          </p:nvSpPr>
          <p:spPr>
            <a:xfrm>
              <a:off x="3398901" y="52625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187​</a:t>
              </a:r>
            </a:p>
          </p:txBody>
        </p:sp>
        <p:sp>
          <p:nvSpPr>
            <p:cNvPr id="156" name="TextBox 156"/>
            <p:cNvSpPr txBox="1"/>
            <p:nvPr/>
          </p:nvSpPr>
          <p:spPr>
            <a:xfrm>
              <a:off x="4637151" y="52625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120​</a:t>
              </a:r>
            </a:p>
          </p:txBody>
        </p:sp>
        <p:sp>
          <p:nvSpPr>
            <p:cNvPr id="157" name="TextBox 157"/>
            <p:cNvSpPr txBox="1"/>
            <p:nvPr/>
          </p:nvSpPr>
          <p:spPr>
            <a:xfrm>
              <a:off x="5990511" y="5262562"/>
              <a:ext cx="28717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1.22​</a:t>
              </a:r>
            </a:p>
          </p:txBody>
        </p:sp>
        <p:sp>
          <p:nvSpPr>
            <p:cNvPr id="158" name="TextBox 158"/>
            <p:cNvSpPr txBox="1"/>
            <p:nvPr/>
          </p:nvSpPr>
          <p:spPr>
            <a:xfrm>
              <a:off x="7457599" y="526256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98.4%​</a:t>
              </a:r>
            </a:p>
          </p:txBody>
        </p:sp>
        <p:sp>
          <p:nvSpPr>
            <p:cNvPr id="159" name="TextBox 159"/>
            <p:cNvSpPr txBox="1"/>
            <p:nvPr/>
          </p:nvSpPr>
          <p:spPr>
            <a:xfrm>
              <a:off x="501682" y="5491162"/>
              <a:ext cx="120586" cy="147638"/>
            </a:xfrm>
            <a:prstGeom prst="rect">
              <a:avLst/>
            </a:prstGeom>
            <a:noFill/>
            <a:ln>
              <a:noFill/>
            </a:ln>
          </p:spPr>
          <p:txBody>
            <a:bodyPr wrap="none" lIns="0" tIns="0" rIns="0" bIns="0" anchor="t" anchorCtr="0">
              <a:spAutoFit/>
            </a:bodyPr>
            <a:lstStyle/>
            <a:p>
              <a:pPr algn="ctr"/>
              <a:r>
                <a:rPr lang="zh-CN" sz="750" dirty="0">
                  <a:solidFill>
                    <a:srgbClr val="987F7A"/>
                  </a:solidFill>
                  <a:latin typeface="+mn-lt"/>
                  <a:ea typeface="+mn-ea"/>
                  <a:cs typeface="+mn-cs"/>
                </a:rPr>
                <a:t>7​</a:t>
              </a:r>
            </a:p>
          </p:txBody>
        </p:sp>
        <p:sp>
          <p:nvSpPr>
            <p:cNvPr id="160" name="TextBox 160"/>
            <p:cNvSpPr txBox="1"/>
            <p:nvPr/>
          </p:nvSpPr>
          <p:spPr>
            <a:xfrm>
              <a:off x="1602343" y="5491162"/>
              <a:ext cx="586264"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XX城南支行​</a:t>
              </a:r>
            </a:p>
          </p:txBody>
        </p:sp>
        <p:sp>
          <p:nvSpPr>
            <p:cNvPr id="161" name="TextBox 161"/>
            <p:cNvSpPr txBox="1"/>
            <p:nvPr/>
          </p:nvSpPr>
          <p:spPr>
            <a:xfrm>
              <a:off x="3398901" y="54911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176​</a:t>
              </a:r>
            </a:p>
          </p:txBody>
        </p:sp>
        <p:sp>
          <p:nvSpPr>
            <p:cNvPr id="162" name="TextBox 162"/>
            <p:cNvSpPr txBox="1"/>
            <p:nvPr/>
          </p:nvSpPr>
          <p:spPr>
            <a:xfrm>
              <a:off x="4637151" y="54911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116​</a:t>
              </a:r>
            </a:p>
          </p:txBody>
        </p:sp>
        <p:sp>
          <p:nvSpPr>
            <p:cNvPr id="163" name="TextBox 163"/>
            <p:cNvSpPr txBox="1"/>
            <p:nvPr/>
          </p:nvSpPr>
          <p:spPr>
            <a:xfrm>
              <a:off x="5990511" y="5491162"/>
              <a:ext cx="28717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1.08​</a:t>
              </a:r>
            </a:p>
          </p:txBody>
        </p:sp>
        <p:sp>
          <p:nvSpPr>
            <p:cNvPr id="164" name="TextBox 164"/>
            <p:cNvSpPr txBox="1"/>
            <p:nvPr/>
          </p:nvSpPr>
          <p:spPr>
            <a:xfrm>
              <a:off x="7457599" y="549116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93.2%​</a:t>
              </a:r>
            </a:p>
          </p:txBody>
        </p:sp>
        <p:sp>
          <p:nvSpPr>
            <p:cNvPr id="165" name="TextBox 165"/>
            <p:cNvSpPr txBox="1"/>
            <p:nvPr/>
          </p:nvSpPr>
          <p:spPr>
            <a:xfrm>
              <a:off x="501682" y="5719762"/>
              <a:ext cx="120586" cy="147638"/>
            </a:xfrm>
            <a:prstGeom prst="rect">
              <a:avLst/>
            </a:prstGeom>
            <a:noFill/>
            <a:ln>
              <a:noFill/>
            </a:ln>
          </p:spPr>
          <p:txBody>
            <a:bodyPr wrap="none" lIns="0" tIns="0" rIns="0" bIns="0" anchor="t" anchorCtr="0">
              <a:spAutoFit/>
            </a:bodyPr>
            <a:lstStyle/>
            <a:p>
              <a:pPr algn="ctr"/>
              <a:r>
                <a:rPr lang="zh-CN" sz="750" dirty="0">
                  <a:solidFill>
                    <a:srgbClr val="987F7A"/>
                  </a:solidFill>
                  <a:latin typeface="+mn-lt"/>
                  <a:ea typeface="+mn-ea"/>
                  <a:cs typeface="+mn-cs"/>
                </a:rPr>
                <a:t>8​</a:t>
              </a:r>
            </a:p>
          </p:txBody>
        </p:sp>
        <p:sp>
          <p:nvSpPr>
            <p:cNvPr id="166" name="TextBox 166"/>
            <p:cNvSpPr txBox="1"/>
            <p:nvPr/>
          </p:nvSpPr>
          <p:spPr>
            <a:xfrm>
              <a:off x="1551861" y="5719762"/>
              <a:ext cx="68722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XX物流园支行​</a:t>
              </a:r>
            </a:p>
          </p:txBody>
        </p:sp>
        <p:sp>
          <p:nvSpPr>
            <p:cNvPr id="167" name="TextBox 167"/>
            <p:cNvSpPr txBox="1"/>
            <p:nvPr/>
          </p:nvSpPr>
          <p:spPr>
            <a:xfrm>
              <a:off x="3398901" y="57197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165​</a:t>
              </a:r>
            </a:p>
          </p:txBody>
        </p:sp>
        <p:sp>
          <p:nvSpPr>
            <p:cNvPr id="168" name="TextBox 168"/>
            <p:cNvSpPr txBox="1"/>
            <p:nvPr/>
          </p:nvSpPr>
          <p:spPr>
            <a:xfrm>
              <a:off x="4637151" y="57197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108​</a:t>
              </a:r>
            </a:p>
          </p:txBody>
        </p:sp>
        <p:sp>
          <p:nvSpPr>
            <p:cNvPr id="169" name="TextBox 169"/>
            <p:cNvSpPr txBox="1"/>
            <p:nvPr/>
          </p:nvSpPr>
          <p:spPr>
            <a:xfrm>
              <a:off x="5990511" y="5719762"/>
              <a:ext cx="28717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0.96​</a:t>
              </a:r>
            </a:p>
          </p:txBody>
        </p:sp>
        <p:sp>
          <p:nvSpPr>
            <p:cNvPr id="170" name="TextBox 170"/>
            <p:cNvSpPr txBox="1"/>
            <p:nvPr/>
          </p:nvSpPr>
          <p:spPr>
            <a:xfrm>
              <a:off x="7457599" y="571976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87.3%​</a:t>
              </a:r>
            </a:p>
          </p:txBody>
        </p:sp>
        <p:sp>
          <p:nvSpPr>
            <p:cNvPr id="171" name="TextBox 171"/>
            <p:cNvSpPr txBox="1"/>
            <p:nvPr/>
          </p:nvSpPr>
          <p:spPr>
            <a:xfrm>
              <a:off x="501682" y="5948362"/>
              <a:ext cx="120586" cy="147638"/>
            </a:xfrm>
            <a:prstGeom prst="rect">
              <a:avLst/>
            </a:prstGeom>
            <a:noFill/>
            <a:ln>
              <a:noFill/>
            </a:ln>
          </p:spPr>
          <p:txBody>
            <a:bodyPr wrap="none" lIns="0" tIns="0" rIns="0" bIns="0" anchor="t" anchorCtr="0">
              <a:spAutoFit/>
            </a:bodyPr>
            <a:lstStyle/>
            <a:p>
              <a:pPr algn="ctr"/>
              <a:r>
                <a:rPr lang="zh-CN" sz="750" dirty="0">
                  <a:solidFill>
                    <a:srgbClr val="987F7A"/>
                  </a:solidFill>
                  <a:latin typeface="+mn-lt"/>
                  <a:ea typeface="+mn-ea"/>
                  <a:cs typeface="+mn-cs"/>
                </a:rPr>
                <a:t>9​</a:t>
              </a:r>
            </a:p>
          </p:txBody>
        </p:sp>
        <p:sp>
          <p:nvSpPr>
            <p:cNvPr id="172" name="TextBox 172"/>
            <p:cNvSpPr txBox="1"/>
            <p:nvPr/>
          </p:nvSpPr>
          <p:spPr>
            <a:xfrm>
              <a:off x="1551861" y="5948362"/>
              <a:ext cx="68722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XX商贸城支行​</a:t>
              </a:r>
            </a:p>
          </p:txBody>
        </p:sp>
        <p:sp>
          <p:nvSpPr>
            <p:cNvPr id="173" name="TextBox 173"/>
            <p:cNvSpPr txBox="1"/>
            <p:nvPr/>
          </p:nvSpPr>
          <p:spPr>
            <a:xfrm>
              <a:off x="3398901" y="59483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152​</a:t>
              </a:r>
            </a:p>
          </p:txBody>
        </p:sp>
        <p:sp>
          <p:nvSpPr>
            <p:cNvPr id="174" name="TextBox 174"/>
            <p:cNvSpPr txBox="1"/>
            <p:nvPr/>
          </p:nvSpPr>
          <p:spPr>
            <a:xfrm>
              <a:off x="4664916" y="5948362"/>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94​</a:t>
              </a:r>
            </a:p>
          </p:txBody>
        </p:sp>
        <p:sp>
          <p:nvSpPr>
            <p:cNvPr id="175" name="TextBox 175"/>
            <p:cNvSpPr txBox="1"/>
            <p:nvPr/>
          </p:nvSpPr>
          <p:spPr>
            <a:xfrm>
              <a:off x="5990511" y="5948362"/>
              <a:ext cx="28717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0.84​</a:t>
              </a:r>
            </a:p>
          </p:txBody>
        </p:sp>
        <p:sp>
          <p:nvSpPr>
            <p:cNvPr id="176" name="TextBox 176"/>
            <p:cNvSpPr txBox="1"/>
            <p:nvPr/>
          </p:nvSpPr>
          <p:spPr>
            <a:xfrm>
              <a:off x="7457599" y="594836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83.1%​</a:t>
              </a:r>
            </a:p>
          </p:txBody>
        </p:sp>
        <p:sp>
          <p:nvSpPr>
            <p:cNvPr id="177" name="TextBox 177"/>
            <p:cNvSpPr txBox="1"/>
            <p:nvPr/>
          </p:nvSpPr>
          <p:spPr>
            <a:xfrm>
              <a:off x="473916" y="6176962"/>
              <a:ext cx="176117" cy="147638"/>
            </a:xfrm>
            <a:prstGeom prst="rect">
              <a:avLst/>
            </a:prstGeom>
            <a:noFill/>
            <a:ln>
              <a:noFill/>
            </a:ln>
          </p:spPr>
          <p:txBody>
            <a:bodyPr wrap="none" lIns="0" tIns="0" rIns="0" bIns="0" anchor="t" anchorCtr="0">
              <a:spAutoFit/>
            </a:bodyPr>
            <a:lstStyle/>
            <a:p>
              <a:pPr algn="ctr"/>
              <a:r>
                <a:rPr lang="zh-CN" sz="750" dirty="0">
                  <a:solidFill>
                    <a:srgbClr val="987F7A"/>
                  </a:solidFill>
                  <a:latin typeface="+mn-lt"/>
                  <a:ea typeface="+mn-ea"/>
                  <a:cs typeface="+mn-cs"/>
                </a:rPr>
                <a:t>10​</a:t>
              </a:r>
            </a:p>
          </p:txBody>
        </p:sp>
        <p:sp>
          <p:nvSpPr>
            <p:cNvPr id="178" name="TextBox 178"/>
            <p:cNvSpPr txBox="1"/>
            <p:nvPr/>
          </p:nvSpPr>
          <p:spPr>
            <a:xfrm>
              <a:off x="1551861" y="6176962"/>
              <a:ext cx="68722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XX大学城支行​</a:t>
              </a:r>
            </a:p>
          </p:txBody>
        </p:sp>
        <p:sp>
          <p:nvSpPr>
            <p:cNvPr id="179" name="TextBox 179"/>
            <p:cNvSpPr txBox="1"/>
            <p:nvPr/>
          </p:nvSpPr>
          <p:spPr>
            <a:xfrm>
              <a:off x="3398901" y="61769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138​</a:t>
              </a:r>
            </a:p>
          </p:txBody>
        </p:sp>
        <p:sp>
          <p:nvSpPr>
            <p:cNvPr id="180" name="TextBox 180"/>
            <p:cNvSpPr txBox="1"/>
            <p:nvPr/>
          </p:nvSpPr>
          <p:spPr>
            <a:xfrm>
              <a:off x="4664916" y="6176962"/>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77​</a:t>
              </a:r>
            </a:p>
          </p:txBody>
        </p:sp>
        <p:sp>
          <p:nvSpPr>
            <p:cNvPr id="181" name="TextBox 181"/>
            <p:cNvSpPr txBox="1"/>
            <p:nvPr/>
          </p:nvSpPr>
          <p:spPr>
            <a:xfrm>
              <a:off x="5990511" y="6176962"/>
              <a:ext cx="287179"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0.73​</a:t>
              </a:r>
            </a:p>
          </p:txBody>
        </p:sp>
        <p:sp>
          <p:nvSpPr>
            <p:cNvPr id="182" name="TextBox 182"/>
            <p:cNvSpPr txBox="1"/>
            <p:nvPr/>
          </p:nvSpPr>
          <p:spPr>
            <a:xfrm>
              <a:off x="7457599" y="617696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78.6%​</a:t>
              </a:r>
            </a:p>
          </p:txBody>
        </p:sp>
        <p:sp>
          <p:nvSpPr>
            <p:cNvPr id="183" name="Rectangle 183"/>
            <p:cNvSpPr/>
            <p:nvPr/>
          </p:nvSpPr>
          <p:spPr>
            <a:xfrm>
              <a:off x="342900" y="6324600"/>
              <a:ext cx="7924800" cy="247650"/>
            </a:xfrm>
            <a:prstGeom prst="rect">
              <a:avLst/>
            </a:prstGeom>
            <a:solidFill>
              <a:srgbClr val="69281B"/>
            </a:solidFill>
            <a:ln>
              <a:noFill/>
            </a:ln>
          </p:spPr>
        </p:sp>
        <p:sp>
          <p:nvSpPr>
            <p:cNvPr id="184" name="TextBox 184"/>
            <p:cNvSpPr txBox="1"/>
            <p:nvPr/>
          </p:nvSpPr>
          <p:spPr>
            <a:xfrm>
              <a:off x="980554" y="6401514"/>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合计/平均</a:t>
              </a:r>
            </a:p>
          </p:txBody>
        </p:sp>
        <p:sp>
          <p:nvSpPr>
            <p:cNvPr id="185" name="TextBox 185"/>
            <p:cNvSpPr txBox="1"/>
            <p:nvPr/>
          </p:nvSpPr>
          <p:spPr>
            <a:xfrm>
              <a:off x="3325711" y="640151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1,860​</a:t>
              </a:r>
            </a:p>
          </p:txBody>
        </p:sp>
        <p:sp>
          <p:nvSpPr>
            <p:cNvPr id="186" name="TextBox 186"/>
            <p:cNvSpPr txBox="1"/>
            <p:nvPr/>
          </p:nvSpPr>
          <p:spPr>
            <a:xfrm>
              <a:off x="4563961" y="640151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1,240​</a:t>
              </a:r>
            </a:p>
          </p:txBody>
        </p:sp>
        <p:sp>
          <p:nvSpPr>
            <p:cNvPr id="187" name="TextBox 187"/>
            <p:cNvSpPr txBox="1"/>
            <p:nvPr/>
          </p:nvSpPr>
          <p:spPr>
            <a:xfrm>
              <a:off x="5945086" y="640151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12.83​</a:t>
              </a:r>
            </a:p>
          </p:txBody>
        </p:sp>
        <p:sp>
          <p:nvSpPr>
            <p:cNvPr id="188" name="TextBox 188"/>
            <p:cNvSpPr txBox="1"/>
            <p:nvPr/>
          </p:nvSpPr>
          <p:spPr>
            <a:xfrm>
              <a:off x="7408161" y="6401514"/>
              <a:ext cx="461778"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100.0%​</a:t>
              </a:r>
            </a:p>
          </p:txBody>
        </p:sp>
      </p:grpSp>
      <p:grpSp>
        <p:nvGrpSpPr>
          <p:cNvPr id="252" name="next-steps"/>
          <p:cNvGrpSpPr/>
          <p:nvPr/>
        </p:nvGrpSpPr>
        <p:grpSpPr>
          <a:xfrm>
            <a:off x="8496300" y="2057400"/>
            <a:ext cx="3467100" cy="4610100"/>
            <a:chOff x="8496300" y="2057400"/>
            <a:chExt cx="3467100" cy="4610100"/>
          </a:xfrm>
        </p:grpSpPr>
        <p:sp>
          <p:nvSpPr>
            <p:cNvPr id="190" name="Rectangle 190"/>
            <p:cNvSpPr/>
            <p:nvPr/>
          </p:nvSpPr>
          <p:spPr>
            <a:xfrm>
              <a:off x="8496300" y="2057400"/>
              <a:ext cx="3467100" cy="4610100"/>
            </a:xfrm>
            <a:prstGeom prst="roundRect">
              <a:avLst>
                <a:gd name="adj" fmla="val 1648"/>
              </a:avLst>
            </a:prstGeom>
            <a:solidFill>
              <a:srgbClr val="FFFFFF"/>
            </a:solidFill>
            <a:ln w="9525">
              <a:solidFill>
                <a:srgbClr val="C9D6E9"/>
              </a:solidFill>
            </a:ln>
          </p:spPr>
        </p:sp>
        <p:sp>
          <p:nvSpPr>
            <p:cNvPr id="191" name="Rectangle 191"/>
            <p:cNvSpPr/>
            <p:nvPr/>
          </p:nvSpPr>
          <p:spPr>
            <a:xfrm>
              <a:off x="8496300" y="2057400"/>
              <a:ext cx="3467100" cy="266700"/>
            </a:xfrm>
            <a:prstGeom prst="roundRect">
              <a:avLst>
                <a:gd name="adj" fmla="val 21429"/>
              </a:avLst>
            </a:prstGeom>
            <a:solidFill>
              <a:srgbClr val="69281B"/>
            </a:solidFill>
            <a:ln>
              <a:noFill/>
            </a:ln>
          </p:spPr>
        </p:sp>
        <p:sp>
          <p:nvSpPr>
            <p:cNvPr id="192" name="Rectangle 192"/>
            <p:cNvSpPr/>
            <p:nvPr/>
          </p:nvSpPr>
          <p:spPr>
            <a:xfrm>
              <a:off x="8496300" y="2190750"/>
              <a:ext cx="3467100" cy="133350"/>
            </a:xfrm>
            <a:prstGeom prst="rect">
              <a:avLst/>
            </a:prstGeom>
            <a:solidFill>
              <a:srgbClr val="69281B"/>
            </a:solidFill>
            <a:ln>
              <a:noFill/>
            </a:ln>
          </p:spPr>
        </p:sp>
        <p:sp>
          <p:nvSpPr>
            <p:cNvPr id="193" name="TextBox 193"/>
            <p:cNvSpPr txBox="1"/>
            <p:nvPr/>
          </p:nvSpPr>
          <p:spPr>
            <a:xfrm>
              <a:off x="9763150" y="2133124"/>
              <a:ext cx="93339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下半年优化方向</a:t>
              </a:r>
            </a:p>
          </p:txBody>
        </p:sp>
        <p:sp>
          <p:nvSpPr>
            <p:cNvPr id="194" name="Rectangle 194"/>
            <p:cNvSpPr/>
            <p:nvPr/>
          </p:nvSpPr>
          <p:spPr>
            <a:xfrm>
              <a:off x="8648700" y="2457450"/>
              <a:ext cx="285750" cy="285750"/>
            </a:xfrm>
            <a:prstGeom prst="rect">
              <a:avLst/>
            </a:prstGeom>
            <a:solidFill>
              <a:srgbClr val="E04C2E"/>
            </a:solidFill>
            <a:ln>
              <a:noFill/>
            </a:ln>
          </p:spPr>
        </p:sp>
        <p:sp>
          <p:nvSpPr>
            <p:cNvPr id="195" name="TextBox 195"/>
            <p:cNvSpPr txBox="1"/>
            <p:nvPr/>
          </p:nvSpPr>
          <p:spPr>
            <a:xfrm>
              <a:off x="8663796" y="254412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01​</a:t>
              </a:r>
            </a:p>
          </p:txBody>
        </p:sp>
        <p:sp>
          <p:nvSpPr>
            <p:cNvPr id="196" name="TextBox 196"/>
            <p:cNvSpPr txBox="1"/>
            <p:nvPr/>
          </p:nvSpPr>
          <p:spPr>
            <a:xfrm>
              <a:off x="9043988" y="2546747"/>
              <a:ext cx="768782"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核心企业深耕</a:t>
              </a:r>
            </a:p>
          </p:txBody>
        </p:sp>
        <p:grpSp>
          <p:nvGrpSpPr>
            <p:cNvPr id="205" name="Group 205"/>
            <p:cNvGrpSpPr/>
            <p:nvPr/>
          </p:nvGrpSpPr>
          <p:grpSpPr>
            <a:xfrm>
              <a:off x="11527631" y="2478881"/>
              <a:ext cx="242888" cy="252413"/>
              <a:chOff x="11527631" y="2478881"/>
              <a:chExt cx="242888" cy="252413"/>
            </a:xfrm>
          </p:grpSpPr>
          <p:sp>
            <p:nvSpPr>
              <p:cNvPr id="197" name="Freeform 197"/>
              <p:cNvSpPr/>
              <p:nvPr/>
            </p:nvSpPr>
            <p:spPr>
              <a:xfrm>
                <a:off x="11527631" y="2721769"/>
                <a:ext cx="242888" cy="9525"/>
              </a:xfrm>
              <a:custGeom>
                <a:avLst/>
                <a:gdLst/>
                <a:ahLst/>
                <a:cxnLst/>
                <a:rect l="l" t="t" r="r" b="b"/>
                <a:pathLst>
                  <a:path w="242888" h="9525">
                    <a:moveTo>
                      <a:pt x="0" y="0"/>
                    </a:moveTo>
                    <a:lnTo>
                      <a:pt x="242888" y="0"/>
                    </a:lnTo>
                  </a:path>
                </a:pathLst>
              </a:custGeom>
              <a:noFill/>
              <a:ln w="26988">
                <a:solidFill>
                  <a:srgbClr val="E8735B"/>
                </a:solidFill>
              </a:ln>
            </p:spPr>
          </p:sp>
          <p:sp>
            <p:nvSpPr>
              <p:cNvPr id="198" name="Freeform 198"/>
              <p:cNvSpPr/>
              <p:nvPr/>
            </p:nvSpPr>
            <p:spPr>
              <a:xfrm>
                <a:off x="11527631" y="2573338"/>
                <a:ext cx="242888" cy="9525"/>
              </a:xfrm>
              <a:custGeom>
                <a:avLst/>
                <a:gdLst/>
                <a:ahLst/>
                <a:cxnLst/>
                <a:rect l="l" t="t" r="r" b="b"/>
                <a:pathLst>
                  <a:path w="242888" h="9525">
                    <a:moveTo>
                      <a:pt x="0" y="0"/>
                    </a:moveTo>
                    <a:lnTo>
                      <a:pt x="242888" y="0"/>
                    </a:lnTo>
                  </a:path>
                </a:pathLst>
              </a:custGeom>
              <a:noFill/>
              <a:ln w="26988">
                <a:solidFill>
                  <a:srgbClr val="E8735B"/>
                </a:solidFill>
              </a:ln>
            </p:spPr>
          </p:sp>
          <p:sp>
            <p:nvSpPr>
              <p:cNvPr id="199" name="Freeform 199"/>
              <p:cNvSpPr/>
              <p:nvPr/>
            </p:nvSpPr>
            <p:spPr>
              <a:xfrm>
                <a:off x="11554619" y="2478881"/>
                <a:ext cx="188913" cy="40481"/>
              </a:xfrm>
              <a:custGeom>
                <a:avLst/>
                <a:gdLst/>
                <a:ahLst/>
                <a:cxnLst/>
                <a:rect l="l" t="t" r="r" b="b"/>
                <a:pathLst>
                  <a:path w="188913" h="40481">
                    <a:moveTo>
                      <a:pt x="0" y="40481"/>
                    </a:moveTo>
                    <a:lnTo>
                      <a:pt x="94456" y="0"/>
                    </a:lnTo>
                    <a:lnTo>
                      <a:pt x="188913" y="40481"/>
                    </a:lnTo>
                  </a:path>
                </a:pathLst>
              </a:custGeom>
              <a:noFill/>
              <a:ln w="26988">
                <a:solidFill>
                  <a:srgbClr val="E8735B"/>
                </a:solidFill>
              </a:ln>
            </p:spPr>
          </p:sp>
          <p:sp>
            <p:nvSpPr>
              <p:cNvPr id="200" name="Freeform 200"/>
              <p:cNvSpPr/>
              <p:nvPr/>
            </p:nvSpPr>
            <p:spPr>
              <a:xfrm>
                <a:off x="11541125" y="2573338"/>
                <a:ext cx="9525" cy="148432"/>
              </a:xfrm>
              <a:custGeom>
                <a:avLst/>
                <a:gdLst/>
                <a:ahLst/>
                <a:cxnLst/>
                <a:rect l="l" t="t" r="r" b="b"/>
                <a:pathLst>
                  <a:path w="9525" h="148432">
                    <a:moveTo>
                      <a:pt x="0" y="0"/>
                    </a:moveTo>
                    <a:lnTo>
                      <a:pt x="0" y="148432"/>
                    </a:lnTo>
                  </a:path>
                </a:pathLst>
              </a:custGeom>
              <a:noFill/>
              <a:ln w="26988">
                <a:solidFill>
                  <a:srgbClr val="E8735B"/>
                </a:solidFill>
              </a:ln>
            </p:spPr>
          </p:sp>
          <p:sp>
            <p:nvSpPr>
              <p:cNvPr id="201" name="Freeform 201"/>
              <p:cNvSpPr/>
              <p:nvPr/>
            </p:nvSpPr>
            <p:spPr>
              <a:xfrm>
                <a:off x="11757026" y="2573338"/>
                <a:ext cx="9525" cy="148432"/>
              </a:xfrm>
              <a:custGeom>
                <a:avLst/>
                <a:gdLst/>
                <a:ahLst/>
                <a:cxnLst/>
                <a:rect l="l" t="t" r="r" b="b"/>
                <a:pathLst>
                  <a:path w="9525" h="148432">
                    <a:moveTo>
                      <a:pt x="0" y="0"/>
                    </a:moveTo>
                    <a:lnTo>
                      <a:pt x="0" y="148432"/>
                    </a:lnTo>
                  </a:path>
                </a:pathLst>
              </a:custGeom>
              <a:noFill/>
              <a:ln w="26988">
                <a:solidFill>
                  <a:srgbClr val="E8735B"/>
                </a:solidFill>
              </a:ln>
            </p:spPr>
          </p:sp>
          <p:sp>
            <p:nvSpPr>
              <p:cNvPr id="202" name="Freeform 202"/>
              <p:cNvSpPr/>
              <p:nvPr/>
            </p:nvSpPr>
            <p:spPr>
              <a:xfrm>
                <a:off x="11595100" y="2627313"/>
                <a:ext cx="9525" cy="40481"/>
              </a:xfrm>
              <a:custGeom>
                <a:avLst/>
                <a:gdLst/>
                <a:ahLst/>
                <a:cxnLst/>
                <a:rect l="l" t="t" r="r" b="b"/>
                <a:pathLst>
                  <a:path w="9525" h="40481">
                    <a:moveTo>
                      <a:pt x="0" y="0"/>
                    </a:moveTo>
                    <a:lnTo>
                      <a:pt x="0" y="40481"/>
                    </a:lnTo>
                  </a:path>
                </a:pathLst>
              </a:custGeom>
              <a:noFill/>
              <a:ln w="26988">
                <a:solidFill>
                  <a:srgbClr val="E8735B"/>
                </a:solidFill>
              </a:ln>
            </p:spPr>
          </p:sp>
          <p:sp>
            <p:nvSpPr>
              <p:cNvPr id="203" name="Freeform 203"/>
              <p:cNvSpPr/>
              <p:nvPr/>
            </p:nvSpPr>
            <p:spPr>
              <a:xfrm>
                <a:off x="11649075" y="2627313"/>
                <a:ext cx="9525" cy="40481"/>
              </a:xfrm>
              <a:custGeom>
                <a:avLst/>
                <a:gdLst/>
                <a:ahLst/>
                <a:cxnLst/>
                <a:rect l="l" t="t" r="r" b="b"/>
                <a:pathLst>
                  <a:path w="9525" h="40481">
                    <a:moveTo>
                      <a:pt x="0" y="0"/>
                    </a:moveTo>
                    <a:lnTo>
                      <a:pt x="0" y="40481"/>
                    </a:lnTo>
                  </a:path>
                </a:pathLst>
              </a:custGeom>
              <a:noFill/>
              <a:ln w="26988">
                <a:solidFill>
                  <a:srgbClr val="E8735B"/>
                </a:solidFill>
              </a:ln>
            </p:spPr>
          </p:sp>
          <p:sp>
            <p:nvSpPr>
              <p:cNvPr id="204" name="Freeform 204"/>
              <p:cNvSpPr/>
              <p:nvPr/>
            </p:nvSpPr>
            <p:spPr>
              <a:xfrm>
                <a:off x="11703051" y="2627313"/>
                <a:ext cx="9525" cy="40481"/>
              </a:xfrm>
              <a:custGeom>
                <a:avLst/>
                <a:gdLst/>
                <a:ahLst/>
                <a:cxnLst/>
                <a:rect l="l" t="t" r="r" b="b"/>
                <a:pathLst>
                  <a:path w="9525" h="40481">
                    <a:moveTo>
                      <a:pt x="0" y="0"/>
                    </a:moveTo>
                    <a:lnTo>
                      <a:pt x="0" y="40481"/>
                    </a:lnTo>
                  </a:path>
                </a:pathLst>
              </a:custGeom>
              <a:noFill/>
              <a:ln w="26988">
                <a:solidFill>
                  <a:srgbClr val="E8735B"/>
                </a:solidFill>
              </a:ln>
            </p:spPr>
          </p:sp>
        </p:grpSp>
        <p:sp>
          <p:nvSpPr>
            <p:cNvPr id="206" name="Ellipse 206"/>
            <p:cNvSpPr/>
            <p:nvPr/>
          </p:nvSpPr>
          <p:spPr>
            <a:xfrm>
              <a:off x="8726805" y="2897505"/>
              <a:ext cx="34290" cy="34290"/>
            </a:xfrm>
            <a:prstGeom prst="ellipse">
              <a:avLst/>
            </a:prstGeom>
            <a:solidFill>
              <a:srgbClr val="E04C2E"/>
            </a:solidFill>
            <a:ln>
              <a:noFill/>
            </a:ln>
          </p:spPr>
        </p:sp>
        <p:sp>
          <p:nvSpPr>
            <p:cNvPr id="207" name="TextBox 207"/>
            <p:cNvSpPr txBox="1"/>
            <p:nvPr/>
          </p:nvSpPr>
          <p:spPr>
            <a:xfrm>
              <a:off x="8834438" y="2873407"/>
              <a:ext cx="1304569"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聚焦核心企业资金主账户建设</a:t>
              </a:r>
            </a:p>
          </p:txBody>
        </p:sp>
        <p:sp>
          <p:nvSpPr>
            <p:cNvPr id="208" name="Ellipse 208"/>
            <p:cNvSpPr/>
            <p:nvPr/>
          </p:nvSpPr>
          <p:spPr>
            <a:xfrm>
              <a:off x="8726805" y="3088005"/>
              <a:ext cx="34290" cy="34290"/>
            </a:xfrm>
            <a:prstGeom prst="ellipse">
              <a:avLst/>
            </a:prstGeom>
            <a:solidFill>
              <a:srgbClr val="E04C2E"/>
            </a:solidFill>
            <a:ln>
              <a:noFill/>
            </a:ln>
          </p:spPr>
        </p:sp>
        <p:sp>
          <p:nvSpPr>
            <p:cNvPr id="209" name="TextBox 209"/>
            <p:cNvSpPr txBox="1"/>
            <p:nvPr/>
          </p:nvSpPr>
          <p:spPr>
            <a:xfrm>
              <a:off x="8834438" y="3063907"/>
              <a:ext cx="1304569"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强化集团资金归集与内部协同</a:t>
              </a:r>
            </a:p>
          </p:txBody>
        </p:sp>
        <p:sp>
          <p:nvSpPr>
            <p:cNvPr id="210" name="Line 210"/>
            <p:cNvSpPr/>
            <p:nvPr/>
          </p:nvSpPr>
          <p:spPr>
            <a:xfrm>
              <a:off x="8648700" y="3314700"/>
              <a:ext cx="3162300" cy="9525"/>
            </a:xfrm>
            <a:custGeom>
              <a:avLst/>
              <a:gdLst/>
              <a:ahLst/>
              <a:cxnLst/>
              <a:rect l="l" t="t" r="r" b="b"/>
              <a:pathLst>
                <a:path w="3162300" h="9525">
                  <a:moveTo>
                    <a:pt x="0" y="0"/>
                  </a:moveTo>
                  <a:lnTo>
                    <a:pt x="3162300" y="0"/>
                  </a:lnTo>
                </a:path>
              </a:pathLst>
            </a:custGeom>
            <a:noFill/>
            <a:ln w="9525">
              <a:solidFill>
                <a:srgbClr val="EDF2FA"/>
              </a:solidFill>
            </a:ln>
          </p:spPr>
        </p:sp>
        <p:sp>
          <p:nvSpPr>
            <p:cNvPr id="211" name="Rectangle 211"/>
            <p:cNvSpPr/>
            <p:nvPr/>
          </p:nvSpPr>
          <p:spPr>
            <a:xfrm>
              <a:off x="8648700" y="3448050"/>
              <a:ext cx="285750" cy="285750"/>
            </a:xfrm>
            <a:prstGeom prst="rect">
              <a:avLst/>
            </a:prstGeom>
            <a:solidFill>
              <a:srgbClr val="E04C2E"/>
            </a:solidFill>
            <a:ln>
              <a:noFill/>
            </a:ln>
          </p:spPr>
        </p:sp>
        <p:sp>
          <p:nvSpPr>
            <p:cNvPr id="212" name="TextBox 212"/>
            <p:cNvSpPr txBox="1"/>
            <p:nvPr/>
          </p:nvSpPr>
          <p:spPr>
            <a:xfrm>
              <a:off x="8663796" y="353472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02​</a:t>
              </a:r>
            </a:p>
          </p:txBody>
        </p:sp>
        <p:sp>
          <p:nvSpPr>
            <p:cNvPr id="213" name="TextBox 213"/>
            <p:cNvSpPr txBox="1"/>
            <p:nvPr/>
          </p:nvSpPr>
          <p:spPr>
            <a:xfrm>
              <a:off x="9043988" y="3537347"/>
              <a:ext cx="768782"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链主客户拓展</a:t>
              </a:r>
            </a:p>
          </p:txBody>
        </p:sp>
        <p:grpSp>
          <p:nvGrpSpPr>
            <p:cNvPr id="217" name="Group 217"/>
            <p:cNvGrpSpPr/>
            <p:nvPr/>
          </p:nvGrpSpPr>
          <p:grpSpPr>
            <a:xfrm>
              <a:off x="11541123" y="3476382"/>
              <a:ext cx="222476" cy="229059"/>
              <a:chOff x="11541123" y="3476382"/>
              <a:chExt cx="222476" cy="229059"/>
            </a:xfrm>
          </p:grpSpPr>
          <p:sp>
            <p:nvSpPr>
              <p:cNvPr id="214" name="Freeform 214"/>
              <p:cNvSpPr/>
              <p:nvPr/>
            </p:nvSpPr>
            <p:spPr>
              <a:xfrm>
                <a:off x="11608594" y="3550444"/>
                <a:ext cx="80963" cy="80963"/>
              </a:xfrm>
              <a:custGeom>
                <a:avLst/>
                <a:gdLst/>
                <a:ahLst/>
                <a:cxnLst/>
                <a:rect l="l" t="t" r="r" b="b"/>
                <a:pathLst>
                  <a:path w="80963" h="80963">
                    <a:moveTo>
                      <a:pt x="0" y="80963"/>
                    </a:moveTo>
                    <a:lnTo>
                      <a:pt x="80963" y="0"/>
                    </a:lnTo>
                  </a:path>
                </a:pathLst>
              </a:custGeom>
              <a:noFill/>
              <a:ln w="26988">
                <a:solidFill>
                  <a:srgbClr val="E8735B"/>
                </a:solidFill>
              </a:ln>
            </p:spPr>
          </p:sp>
          <p:sp>
            <p:nvSpPr>
              <p:cNvPr id="215" name="Freeform 215"/>
              <p:cNvSpPr/>
              <p:nvPr/>
            </p:nvSpPr>
            <p:spPr>
              <a:xfrm>
                <a:off x="11635582" y="3476382"/>
                <a:ext cx="128017" cy="128037"/>
              </a:xfrm>
              <a:custGeom>
                <a:avLst/>
                <a:gdLst/>
                <a:ahLst/>
                <a:cxnLst/>
                <a:rect l="l" t="t" r="r" b="b"/>
                <a:pathLst>
                  <a:path w="128017" h="128037">
                    <a:moveTo>
                      <a:pt x="0" y="33581"/>
                    </a:moveTo>
                    <a:lnTo>
                      <a:pt x="6248" y="26348"/>
                    </a:lnTo>
                    <a:cubicBezTo>
                      <a:pt x="32599" y="0"/>
                      <a:pt x="75321" y="3"/>
                      <a:pt x="101669" y="26355"/>
                    </a:cubicBezTo>
                    <a:cubicBezTo>
                      <a:pt x="128017" y="52706"/>
                      <a:pt x="128014" y="95428"/>
                      <a:pt x="101662" y="121776"/>
                    </a:cubicBezTo>
                    <a:lnTo>
                      <a:pt x="94456" y="128037"/>
                    </a:lnTo>
                  </a:path>
                </a:pathLst>
              </a:custGeom>
              <a:noFill/>
              <a:ln w="26988">
                <a:solidFill>
                  <a:srgbClr val="E8735B"/>
                </a:solidFill>
              </a:ln>
            </p:spPr>
          </p:sp>
          <p:sp>
            <p:nvSpPr>
              <p:cNvPr id="216" name="Freeform 216"/>
              <p:cNvSpPr/>
              <p:nvPr/>
            </p:nvSpPr>
            <p:spPr>
              <a:xfrm>
                <a:off x="11541123" y="3577432"/>
                <a:ext cx="121446" cy="128009"/>
              </a:xfrm>
              <a:custGeom>
                <a:avLst/>
                <a:gdLst/>
                <a:ahLst/>
                <a:cxnLst/>
                <a:rect l="l" t="t" r="r" b="b"/>
                <a:pathLst>
                  <a:path w="121446" h="128009">
                    <a:moveTo>
                      <a:pt x="121446" y="94456"/>
                    </a:moveTo>
                    <a:lnTo>
                      <a:pt x="116089" y="101662"/>
                    </a:lnTo>
                    <a:cubicBezTo>
                      <a:pt x="89446" y="128009"/>
                      <a:pt x="46562" y="128009"/>
                      <a:pt x="19919" y="101662"/>
                    </a:cubicBezTo>
                    <a:cubicBezTo>
                      <a:pt x="7173" y="89059"/>
                      <a:pt x="0" y="71880"/>
                      <a:pt x="0" y="53955"/>
                    </a:cubicBezTo>
                    <a:cubicBezTo>
                      <a:pt x="0" y="36030"/>
                      <a:pt x="7173" y="18851"/>
                      <a:pt x="19919" y="6248"/>
                    </a:cubicBezTo>
                    <a:lnTo>
                      <a:pt x="26989" y="0"/>
                    </a:lnTo>
                  </a:path>
                </a:pathLst>
              </a:custGeom>
              <a:noFill/>
              <a:ln w="26988">
                <a:solidFill>
                  <a:srgbClr val="E8735B"/>
                </a:solidFill>
              </a:ln>
            </p:spPr>
          </p:sp>
        </p:grpSp>
        <p:sp>
          <p:nvSpPr>
            <p:cNvPr id="218" name="Ellipse 218"/>
            <p:cNvSpPr/>
            <p:nvPr/>
          </p:nvSpPr>
          <p:spPr>
            <a:xfrm>
              <a:off x="8726805" y="3888105"/>
              <a:ext cx="34290" cy="34290"/>
            </a:xfrm>
            <a:prstGeom prst="ellipse">
              <a:avLst/>
            </a:prstGeom>
            <a:solidFill>
              <a:srgbClr val="E04C2E"/>
            </a:solidFill>
            <a:ln>
              <a:noFill/>
            </a:ln>
          </p:spPr>
        </p:sp>
        <p:sp>
          <p:nvSpPr>
            <p:cNvPr id="219" name="TextBox 219"/>
            <p:cNvSpPr txBox="1"/>
            <p:nvPr/>
          </p:nvSpPr>
          <p:spPr>
            <a:xfrm>
              <a:off x="8834438" y="3864007"/>
              <a:ext cx="1105332"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围绕产业链上游强链补链</a:t>
              </a:r>
            </a:p>
          </p:txBody>
        </p:sp>
        <p:sp>
          <p:nvSpPr>
            <p:cNvPr id="220" name="Ellipse 220"/>
            <p:cNvSpPr/>
            <p:nvPr/>
          </p:nvSpPr>
          <p:spPr>
            <a:xfrm>
              <a:off x="8726805" y="4078605"/>
              <a:ext cx="34290" cy="34290"/>
            </a:xfrm>
            <a:prstGeom prst="ellipse">
              <a:avLst/>
            </a:prstGeom>
            <a:solidFill>
              <a:srgbClr val="E04C2E"/>
            </a:solidFill>
            <a:ln>
              <a:noFill/>
            </a:ln>
          </p:spPr>
        </p:sp>
        <p:sp>
          <p:nvSpPr>
            <p:cNvPr id="221" name="TextBox 221"/>
            <p:cNvSpPr txBox="1"/>
            <p:nvPr/>
          </p:nvSpPr>
          <p:spPr>
            <a:xfrm>
              <a:off x="8834438" y="4054507"/>
              <a:ext cx="1105332"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打造链式获客与资金闭环</a:t>
              </a:r>
            </a:p>
          </p:txBody>
        </p:sp>
        <p:sp>
          <p:nvSpPr>
            <p:cNvPr id="222" name="Line 222"/>
            <p:cNvSpPr/>
            <p:nvPr/>
          </p:nvSpPr>
          <p:spPr>
            <a:xfrm>
              <a:off x="8648700" y="4305300"/>
              <a:ext cx="3162300" cy="9525"/>
            </a:xfrm>
            <a:custGeom>
              <a:avLst/>
              <a:gdLst/>
              <a:ahLst/>
              <a:cxnLst/>
              <a:rect l="l" t="t" r="r" b="b"/>
              <a:pathLst>
                <a:path w="3162300" h="9525">
                  <a:moveTo>
                    <a:pt x="0" y="0"/>
                  </a:moveTo>
                  <a:lnTo>
                    <a:pt x="3162300" y="0"/>
                  </a:lnTo>
                </a:path>
              </a:pathLst>
            </a:custGeom>
            <a:noFill/>
            <a:ln w="9525">
              <a:solidFill>
                <a:srgbClr val="EDF2FA"/>
              </a:solidFill>
            </a:ln>
          </p:spPr>
        </p:sp>
        <p:sp>
          <p:nvSpPr>
            <p:cNvPr id="223" name="Rectangle 223"/>
            <p:cNvSpPr/>
            <p:nvPr/>
          </p:nvSpPr>
          <p:spPr>
            <a:xfrm>
              <a:off x="8648700" y="4438650"/>
              <a:ext cx="285750" cy="285750"/>
            </a:xfrm>
            <a:prstGeom prst="rect">
              <a:avLst/>
            </a:prstGeom>
            <a:solidFill>
              <a:srgbClr val="E04C2E"/>
            </a:solidFill>
            <a:ln>
              <a:noFill/>
            </a:ln>
          </p:spPr>
        </p:sp>
        <p:sp>
          <p:nvSpPr>
            <p:cNvPr id="224" name="TextBox 224"/>
            <p:cNvSpPr txBox="1"/>
            <p:nvPr/>
          </p:nvSpPr>
          <p:spPr>
            <a:xfrm>
              <a:off x="8663796" y="452532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03​</a:t>
              </a:r>
            </a:p>
          </p:txBody>
        </p:sp>
        <p:sp>
          <p:nvSpPr>
            <p:cNvPr id="225" name="TextBox 225"/>
            <p:cNvSpPr txBox="1"/>
            <p:nvPr/>
          </p:nvSpPr>
          <p:spPr>
            <a:xfrm>
              <a:off x="9043988" y="4527947"/>
              <a:ext cx="768782"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机构客户突破</a:t>
              </a:r>
            </a:p>
          </p:txBody>
        </p:sp>
        <p:grpSp>
          <p:nvGrpSpPr>
            <p:cNvPr id="232" name="Group 232"/>
            <p:cNvGrpSpPr/>
            <p:nvPr/>
          </p:nvGrpSpPr>
          <p:grpSpPr>
            <a:xfrm>
              <a:off x="11527631" y="4460081"/>
              <a:ext cx="242888" cy="242888"/>
              <a:chOff x="11527631" y="4460081"/>
              <a:chExt cx="242888" cy="242888"/>
            </a:xfrm>
          </p:grpSpPr>
          <p:sp>
            <p:nvSpPr>
              <p:cNvPr id="226" name="Freeform 226"/>
              <p:cNvSpPr/>
              <p:nvPr/>
            </p:nvSpPr>
            <p:spPr>
              <a:xfrm>
                <a:off x="11622088" y="4568032"/>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E8735B"/>
                </a:solidFill>
              </a:ln>
            </p:spPr>
          </p:sp>
          <p:sp>
            <p:nvSpPr>
              <p:cNvPr id="227" name="Freeform 227"/>
              <p:cNvSpPr/>
              <p:nvPr/>
            </p:nvSpPr>
            <p:spPr>
              <a:xfrm>
                <a:off x="11595100" y="4662488"/>
                <a:ext cx="107950" cy="40481"/>
              </a:xfrm>
              <a:custGeom>
                <a:avLst/>
                <a:gdLst/>
                <a:ahLst/>
                <a:cxnLst/>
                <a:rect l="l" t="t" r="r" b="b"/>
                <a:pathLst>
                  <a:path w="107950" h="40481">
                    <a:moveTo>
                      <a:pt x="0" y="40481"/>
                    </a:moveTo>
                    <a:lnTo>
                      <a:pt x="0" y="26988"/>
                    </a:lnTo>
                    <a:cubicBezTo>
                      <a:pt x="0" y="12083"/>
                      <a:pt x="12083" y="0"/>
                      <a:pt x="26988" y="0"/>
                    </a:cubicBezTo>
                    <a:lnTo>
                      <a:pt x="80963" y="0"/>
                    </a:lnTo>
                    <a:cubicBezTo>
                      <a:pt x="95868" y="0"/>
                      <a:pt x="107950" y="12083"/>
                      <a:pt x="107950" y="26988"/>
                    </a:cubicBezTo>
                    <a:lnTo>
                      <a:pt x="107950" y="40481"/>
                    </a:lnTo>
                  </a:path>
                </a:pathLst>
              </a:custGeom>
              <a:noFill/>
              <a:ln w="26988">
                <a:solidFill>
                  <a:srgbClr val="E8735B"/>
                </a:solidFill>
              </a:ln>
            </p:spPr>
          </p:sp>
          <p:sp>
            <p:nvSpPr>
              <p:cNvPr id="228" name="Freeform 228"/>
              <p:cNvSpPr/>
              <p:nvPr/>
            </p:nvSpPr>
            <p:spPr>
              <a:xfrm>
                <a:off x="11689557" y="4460081"/>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E8735B"/>
                </a:solidFill>
              </a:ln>
            </p:spPr>
          </p:sp>
          <p:sp>
            <p:nvSpPr>
              <p:cNvPr id="229" name="Freeform 229"/>
              <p:cNvSpPr/>
              <p:nvPr/>
            </p:nvSpPr>
            <p:spPr>
              <a:xfrm>
                <a:off x="11716544" y="4554538"/>
                <a:ext cx="53975" cy="40481"/>
              </a:xfrm>
              <a:custGeom>
                <a:avLst/>
                <a:gdLst/>
                <a:ahLst/>
                <a:cxnLst/>
                <a:rect l="l" t="t" r="r" b="b"/>
                <a:pathLst>
                  <a:path w="53975" h="40481">
                    <a:moveTo>
                      <a:pt x="0" y="0"/>
                    </a:moveTo>
                    <a:lnTo>
                      <a:pt x="26988" y="0"/>
                    </a:lnTo>
                    <a:cubicBezTo>
                      <a:pt x="41892" y="0"/>
                      <a:pt x="53975" y="12083"/>
                      <a:pt x="53975" y="26988"/>
                    </a:cubicBezTo>
                    <a:lnTo>
                      <a:pt x="53975" y="40481"/>
                    </a:lnTo>
                  </a:path>
                </a:pathLst>
              </a:custGeom>
              <a:noFill/>
              <a:ln w="26988">
                <a:solidFill>
                  <a:srgbClr val="E8735B"/>
                </a:solidFill>
              </a:ln>
            </p:spPr>
          </p:sp>
          <p:sp>
            <p:nvSpPr>
              <p:cNvPr id="230" name="Freeform 230"/>
              <p:cNvSpPr/>
              <p:nvPr/>
            </p:nvSpPr>
            <p:spPr>
              <a:xfrm>
                <a:off x="11554619" y="4460081"/>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E8735B"/>
                </a:solidFill>
              </a:ln>
            </p:spPr>
          </p:sp>
          <p:sp>
            <p:nvSpPr>
              <p:cNvPr id="231" name="Freeform 231"/>
              <p:cNvSpPr/>
              <p:nvPr/>
            </p:nvSpPr>
            <p:spPr>
              <a:xfrm>
                <a:off x="11527631" y="4554538"/>
                <a:ext cx="53975" cy="40481"/>
              </a:xfrm>
              <a:custGeom>
                <a:avLst/>
                <a:gdLst/>
                <a:ahLst/>
                <a:cxnLst/>
                <a:rect l="l" t="t" r="r" b="b"/>
                <a:pathLst>
                  <a:path w="53975" h="40481">
                    <a:moveTo>
                      <a:pt x="0" y="40481"/>
                    </a:moveTo>
                    <a:lnTo>
                      <a:pt x="0" y="26988"/>
                    </a:lnTo>
                    <a:cubicBezTo>
                      <a:pt x="0" y="12083"/>
                      <a:pt x="12083" y="0"/>
                      <a:pt x="26988" y="0"/>
                    </a:cubicBezTo>
                    <a:lnTo>
                      <a:pt x="53975" y="0"/>
                    </a:lnTo>
                  </a:path>
                </a:pathLst>
              </a:custGeom>
              <a:noFill/>
              <a:ln w="26988">
                <a:solidFill>
                  <a:srgbClr val="E8735B"/>
                </a:solidFill>
              </a:ln>
            </p:spPr>
          </p:sp>
        </p:grpSp>
        <p:sp>
          <p:nvSpPr>
            <p:cNvPr id="233" name="Ellipse 233"/>
            <p:cNvSpPr/>
            <p:nvPr/>
          </p:nvSpPr>
          <p:spPr>
            <a:xfrm>
              <a:off x="8726805" y="4878705"/>
              <a:ext cx="34290" cy="34290"/>
            </a:xfrm>
            <a:prstGeom prst="ellipse">
              <a:avLst/>
            </a:prstGeom>
            <a:solidFill>
              <a:srgbClr val="E04C2E"/>
            </a:solidFill>
            <a:ln>
              <a:noFill/>
            </a:ln>
          </p:spPr>
        </p:sp>
        <p:sp>
          <p:nvSpPr>
            <p:cNvPr id="234" name="TextBox 234"/>
            <p:cNvSpPr txBox="1"/>
            <p:nvPr/>
          </p:nvSpPr>
          <p:spPr>
            <a:xfrm>
              <a:off x="8834438" y="4854607"/>
              <a:ext cx="1304569"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加大政府、平台、事业部协同</a:t>
              </a:r>
            </a:p>
          </p:txBody>
        </p:sp>
        <p:sp>
          <p:nvSpPr>
            <p:cNvPr id="235" name="Ellipse 235"/>
            <p:cNvSpPr/>
            <p:nvPr/>
          </p:nvSpPr>
          <p:spPr>
            <a:xfrm>
              <a:off x="8726805" y="5069205"/>
              <a:ext cx="34290" cy="34290"/>
            </a:xfrm>
            <a:prstGeom prst="ellipse">
              <a:avLst/>
            </a:prstGeom>
            <a:solidFill>
              <a:srgbClr val="E04C2E"/>
            </a:solidFill>
            <a:ln>
              <a:noFill/>
            </a:ln>
          </p:spPr>
        </p:sp>
        <p:sp>
          <p:nvSpPr>
            <p:cNvPr id="236" name="TextBox 236"/>
            <p:cNvSpPr txBox="1"/>
            <p:nvPr/>
          </p:nvSpPr>
          <p:spPr>
            <a:xfrm>
              <a:off x="8834438" y="5045107"/>
              <a:ext cx="1404188"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拓展财政、补贴、项目资金沉淀</a:t>
              </a:r>
            </a:p>
          </p:txBody>
        </p:sp>
        <p:sp>
          <p:nvSpPr>
            <p:cNvPr id="237" name="Line 237"/>
            <p:cNvSpPr/>
            <p:nvPr/>
          </p:nvSpPr>
          <p:spPr>
            <a:xfrm>
              <a:off x="8648700" y="5295900"/>
              <a:ext cx="3162300" cy="9525"/>
            </a:xfrm>
            <a:custGeom>
              <a:avLst/>
              <a:gdLst/>
              <a:ahLst/>
              <a:cxnLst/>
              <a:rect l="l" t="t" r="r" b="b"/>
              <a:pathLst>
                <a:path w="3162300" h="9525">
                  <a:moveTo>
                    <a:pt x="0" y="0"/>
                  </a:moveTo>
                  <a:lnTo>
                    <a:pt x="3162300" y="0"/>
                  </a:lnTo>
                </a:path>
              </a:pathLst>
            </a:custGeom>
            <a:noFill/>
            <a:ln w="9525">
              <a:solidFill>
                <a:srgbClr val="EDF2FA"/>
              </a:solidFill>
            </a:ln>
          </p:spPr>
        </p:sp>
        <p:sp>
          <p:nvSpPr>
            <p:cNvPr id="238" name="Rectangle 238"/>
            <p:cNvSpPr/>
            <p:nvPr/>
          </p:nvSpPr>
          <p:spPr>
            <a:xfrm>
              <a:off x="8648700" y="5429250"/>
              <a:ext cx="285750" cy="285750"/>
            </a:xfrm>
            <a:prstGeom prst="rect">
              <a:avLst/>
            </a:prstGeom>
            <a:solidFill>
              <a:srgbClr val="E04C2E"/>
            </a:solidFill>
            <a:ln>
              <a:noFill/>
            </a:ln>
          </p:spPr>
        </p:sp>
        <p:sp>
          <p:nvSpPr>
            <p:cNvPr id="239" name="TextBox 239"/>
            <p:cNvSpPr txBox="1"/>
            <p:nvPr/>
          </p:nvSpPr>
          <p:spPr>
            <a:xfrm>
              <a:off x="8663796" y="551592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04​</a:t>
              </a:r>
            </a:p>
          </p:txBody>
        </p:sp>
        <p:sp>
          <p:nvSpPr>
            <p:cNvPr id="240" name="TextBox 240"/>
            <p:cNvSpPr txBox="1"/>
            <p:nvPr/>
          </p:nvSpPr>
          <p:spPr>
            <a:xfrm>
              <a:off x="9043988" y="5518547"/>
              <a:ext cx="768782" cy="183356"/>
            </a:xfrm>
            <a:prstGeom prst="rect">
              <a:avLst/>
            </a:prstGeom>
            <a:noFill/>
            <a:ln>
              <a:noFill/>
            </a:ln>
          </p:spPr>
          <p:txBody>
            <a:bodyPr wrap="none" lIns="0" tIns="0" rIns="0" bIns="0" anchor="t" anchorCtr="0">
              <a:spAutoFit/>
            </a:bodyPr>
            <a:lstStyle/>
            <a:p>
              <a:pPr algn="l"/>
              <a:r>
                <a:rPr lang="zh-CN" sz="940" b="1" dirty="0">
                  <a:solidFill>
                    <a:srgbClr val="69281B"/>
                  </a:solidFill>
                  <a:latin typeface="+mn-lt"/>
                  <a:ea typeface="+mn-ea"/>
                  <a:cs typeface="+mn-cs"/>
                </a:rPr>
                <a:t>结算场景深耕</a:t>
              </a:r>
            </a:p>
          </p:txBody>
        </p:sp>
        <p:grpSp>
          <p:nvGrpSpPr>
            <p:cNvPr id="246" name="Group 246"/>
            <p:cNvGrpSpPr/>
            <p:nvPr/>
          </p:nvGrpSpPr>
          <p:grpSpPr>
            <a:xfrm>
              <a:off x="11554619" y="5450681"/>
              <a:ext cx="188913" cy="242888"/>
              <a:chOff x="11554619" y="5450681"/>
              <a:chExt cx="188913" cy="242888"/>
            </a:xfrm>
          </p:grpSpPr>
          <p:sp>
            <p:nvSpPr>
              <p:cNvPr id="241" name="Freeform 241"/>
              <p:cNvSpPr/>
              <p:nvPr/>
            </p:nvSpPr>
            <p:spPr>
              <a:xfrm>
                <a:off x="11676063" y="5450681"/>
                <a:ext cx="67469" cy="67469"/>
              </a:xfrm>
              <a:custGeom>
                <a:avLst/>
                <a:gdLst/>
                <a:ahLst/>
                <a:cxnLst/>
                <a:rect l="l" t="t" r="r" b="b"/>
                <a:pathLst>
                  <a:path w="67469" h="67469">
                    <a:moveTo>
                      <a:pt x="0" y="0"/>
                    </a:moveTo>
                    <a:lnTo>
                      <a:pt x="0" y="53975"/>
                    </a:lnTo>
                    <a:cubicBezTo>
                      <a:pt x="0" y="61428"/>
                      <a:pt x="6041" y="67469"/>
                      <a:pt x="13494" y="67469"/>
                    </a:cubicBezTo>
                    <a:lnTo>
                      <a:pt x="67469" y="67469"/>
                    </a:lnTo>
                  </a:path>
                </a:pathLst>
              </a:custGeom>
              <a:noFill/>
              <a:ln w="26988">
                <a:solidFill>
                  <a:srgbClr val="E8735B"/>
                </a:solidFill>
              </a:ln>
            </p:spPr>
          </p:sp>
          <p:sp>
            <p:nvSpPr>
              <p:cNvPr id="242" name="Freeform 242"/>
              <p:cNvSpPr/>
              <p:nvPr/>
            </p:nvSpPr>
            <p:spPr>
              <a:xfrm>
                <a:off x="11554619" y="5450681"/>
                <a:ext cx="188913" cy="242888"/>
              </a:xfrm>
              <a:custGeom>
                <a:avLst/>
                <a:gdLst/>
                <a:ahLst/>
                <a:cxnLst/>
                <a:rect l="l" t="t" r="r" b="b"/>
                <a:pathLst>
                  <a:path w="188913" h="242888">
                    <a:moveTo>
                      <a:pt x="161925" y="242888"/>
                    </a:moveTo>
                    <a:lnTo>
                      <a:pt x="26988" y="242888"/>
                    </a:lnTo>
                    <a:cubicBezTo>
                      <a:pt x="12083" y="242888"/>
                      <a:pt x="0" y="230805"/>
                      <a:pt x="0" y="215901"/>
                    </a:cubicBezTo>
                    <a:lnTo>
                      <a:pt x="0" y="26988"/>
                    </a:lnTo>
                    <a:cubicBezTo>
                      <a:pt x="0" y="12083"/>
                      <a:pt x="12083" y="0"/>
                      <a:pt x="26988" y="0"/>
                    </a:cubicBezTo>
                    <a:lnTo>
                      <a:pt x="121444" y="0"/>
                    </a:lnTo>
                    <a:lnTo>
                      <a:pt x="188913" y="67469"/>
                    </a:lnTo>
                    <a:lnTo>
                      <a:pt x="188913" y="215901"/>
                    </a:lnTo>
                    <a:cubicBezTo>
                      <a:pt x="188913" y="230805"/>
                      <a:pt x="176830" y="242888"/>
                      <a:pt x="161925" y="242888"/>
                    </a:cubicBezTo>
                  </a:path>
                </a:pathLst>
              </a:custGeom>
              <a:noFill/>
              <a:ln w="26988">
                <a:solidFill>
                  <a:srgbClr val="E8735B"/>
                </a:solidFill>
              </a:ln>
            </p:spPr>
          </p:sp>
          <p:sp>
            <p:nvSpPr>
              <p:cNvPr id="243" name="Freeform 243"/>
              <p:cNvSpPr/>
              <p:nvPr/>
            </p:nvSpPr>
            <p:spPr>
              <a:xfrm>
                <a:off x="11608594" y="5531644"/>
                <a:ext cx="13494" cy="9525"/>
              </a:xfrm>
              <a:custGeom>
                <a:avLst/>
                <a:gdLst/>
                <a:ahLst/>
                <a:cxnLst/>
                <a:rect l="l" t="t" r="r" b="b"/>
                <a:pathLst>
                  <a:path w="13494" h="9525">
                    <a:moveTo>
                      <a:pt x="0" y="0"/>
                    </a:moveTo>
                    <a:lnTo>
                      <a:pt x="13494" y="0"/>
                    </a:lnTo>
                  </a:path>
                </a:pathLst>
              </a:custGeom>
              <a:noFill/>
              <a:ln w="26988">
                <a:solidFill>
                  <a:srgbClr val="E8735B"/>
                </a:solidFill>
              </a:ln>
            </p:spPr>
          </p:sp>
          <p:sp>
            <p:nvSpPr>
              <p:cNvPr id="244" name="Freeform 244"/>
              <p:cNvSpPr/>
              <p:nvPr/>
            </p:nvSpPr>
            <p:spPr>
              <a:xfrm>
                <a:off x="11608594" y="5585619"/>
                <a:ext cx="80963" cy="9525"/>
              </a:xfrm>
              <a:custGeom>
                <a:avLst/>
                <a:gdLst/>
                <a:ahLst/>
                <a:cxnLst/>
                <a:rect l="l" t="t" r="r" b="b"/>
                <a:pathLst>
                  <a:path w="80963" h="9525">
                    <a:moveTo>
                      <a:pt x="0" y="0"/>
                    </a:moveTo>
                    <a:lnTo>
                      <a:pt x="80963" y="0"/>
                    </a:lnTo>
                  </a:path>
                </a:pathLst>
              </a:custGeom>
              <a:noFill/>
              <a:ln w="26988">
                <a:solidFill>
                  <a:srgbClr val="E8735B"/>
                </a:solidFill>
              </a:ln>
            </p:spPr>
          </p:sp>
          <p:sp>
            <p:nvSpPr>
              <p:cNvPr id="245" name="Freeform 245"/>
              <p:cNvSpPr/>
              <p:nvPr/>
            </p:nvSpPr>
            <p:spPr>
              <a:xfrm>
                <a:off x="11608594" y="5639594"/>
                <a:ext cx="80963" cy="9525"/>
              </a:xfrm>
              <a:custGeom>
                <a:avLst/>
                <a:gdLst/>
                <a:ahLst/>
                <a:cxnLst/>
                <a:rect l="l" t="t" r="r" b="b"/>
                <a:pathLst>
                  <a:path w="80963" h="9525">
                    <a:moveTo>
                      <a:pt x="0" y="0"/>
                    </a:moveTo>
                    <a:lnTo>
                      <a:pt x="80963" y="0"/>
                    </a:lnTo>
                  </a:path>
                </a:pathLst>
              </a:custGeom>
              <a:noFill/>
              <a:ln w="26988">
                <a:solidFill>
                  <a:srgbClr val="E8735B"/>
                </a:solidFill>
              </a:ln>
            </p:spPr>
          </p:sp>
        </p:grpSp>
        <p:sp>
          <p:nvSpPr>
            <p:cNvPr id="247" name="Ellipse 247"/>
            <p:cNvSpPr/>
            <p:nvPr/>
          </p:nvSpPr>
          <p:spPr>
            <a:xfrm>
              <a:off x="8726805" y="5869305"/>
              <a:ext cx="34290" cy="34290"/>
            </a:xfrm>
            <a:prstGeom prst="ellipse">
              <a:avLst/>
            </a:prstGeom>
            <a:solidFill>
              <a:srgbClr val="E04C2E"/>
            </a:solidFill>
            <a:ln>
              <a:noFill/>
            </a:ln>
          </p:spPr>
        </p:sp>
        <p:sp>
          <p:nvSpPr>
            <p:cNvPr id="248" name="TextBox 248"/>
            <p:cNvSpPr txBox="1"/>
            <p:nvPr/>
          </p:nvSpPr>
          <p:spPr>
            <a:xfrm>
              <a:off x="8834438" y="5845207"/>
              <a:ext cx="1304569"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拓展代发、收单、票据等场景</a:t>
              </a:r>
            </a:p>
          </p:txBody>
        </p:sp>
        <p:sp>
          <p:nvSpPr>
            <p:cNvPr id="249" name="Ellipse 249"/>
            <p:cNvSpPr/>
            <p:nvPr/>
          </p:nvSpPr>
          <p:spPr>
            <a:xfrm>
              <a:off x="8726805" y="6059805"/>
              <a:ext cx="34290" cy="34290"/>
            </a:xfrm>
            <a:prstGeom prst="ellipse">
              <a:avLst/>
            </a:prstGeom>
            <a:solidFill>
              <a:srgbClr val="E04C2E"/>
            </a:solidFill>
            <a:ln>
              <a:noFill/>
            </a:ln>
          </p:spPr>
        </p:sp>
        <p:sp>
          <p:nvSpPr>
            <p:cNvPr id="250" name="TextBox 250"/>
            <p:cNvSpPr txBox="1"/>
            <p:nvPr/>
          </p:nvSpPr>
          <p:spPr>
            <a:xfrm>
              <a:off x="8834438" y="6035707"/>
              <a:ext cx="1204951"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提升场景粘性与资金留存率</a:t>
              </a:r>
            </a:p>
          </p:txBody>
        </p:sp>
        <p:sp>
          <p:nvSpPr>
            <p:cNvPr id="251" name="TextBox 251"/>
            <p:cNvSpPr txBox="1"/>
            <p:nvPr/>
          </p:nvSpPr>
          <p:spPr>
            <a:xfrm>
              <a:off x="8643938" y="6446282"/>
              <a:ext cx="1301877"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注：以上方向与说明为示例内容。</a:t>
              </a:r>
            </a:p>
          </p:txBody>
        </p:sp>
      </p:grpSp>
      <p:sp>
        <p:nvSpPr>
          <p:cNvPr id="253"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07 / 18 页​</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08​</a:t>
              </a:r>
            </a:p>
          </p:txBody>
        </p:sp>
        <p:sp>
          <p:nvSpPr>
            <p:cNvPr id="4" name="TextBox 4"/>
            <p:cNvSpPr txBox="1"/>
            <p:nvPr/>
          </p:nvSpPr>
          <p:spPr>
            <a:xfrm>
              <a:off x="1019175" y="169069"/>
              <a:ext cx="7105447"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重大项目名单制管理持续深化，融资服务更好融入区域发展大局</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59428" y="300038"/>
              <a:ext cx="1423035"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金额单位：人民币亿元（示例）</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76" name="loop-steps"/>
          <p:cNvGrpSpPr/>
          <p:nvPr/>
        </p:nvGrpSpPr>
        <p:grpSpPr>
          <a:xfrm>
            <a:off x="228600" y="685800"/>
            <a:ext cx="2571750" cy="5619988"/>
            <a:chOff x="228600" y="685800"/>
            <a:chExt cx="2571750" cy="5619988"/>
          </a:xfrm>
        </p:grpSpPr>
        <p:sp>
          <p:nvSpPr>
            <p:cNvPr id="9" name="Rectangle 9"/>
            <p:cNvSpPr/>
            <p:nvPr/>
          </p:nvSpPr>
          <p:spPr>
            <a:xfrm>
              <a:off x="228600" y="685800"/>
              <a:ext cx="2571750" cy="5600700"/>
            </a:xfrm>
            <a:prstGeom prst="roundRect">
              <a:avLst>
                <a:gd name="adj" fmla="val 2222"/>
              </a:avLst>
            </a:prstGeom>
            <a:solidFill>
              <a:srgbClr val="FFFFFF"/>
            </a:solidFill>
            <a:ln w="9525">
              <a:solidFill>
                <a:srgbClr val="C9D6E9"/>
              </a:solidFill>
            </a:ln>
          </p:spPr>
        </p:sp>
        <p:sp>
          <p:nvSpPr>
            <p:cNvPr id="10" name="Rectangle 10"/>
            <p:cNvSpPr/>
            <p:nvPr/>
          </p:nvSpPr>
          <p:spPr>
            <a:xfrm>
              <a:off x="228600" y="685800"/>
              <a:ext cx="2571750" cy="247650"/>
            </a:xfrm>
            <a:prstGeom prst="roundRect">
              <a:avLst>
                <a:gd name="adj" fmla="val 23077"/>
              </a:avLst>
            </a:prstGeom>
            <a:solidFill>
              <a:srgbClr val="69281B"/>
            </a:solidFill>
            <a:ln>
              <a:noFill/>
            </a:ln>
          </p:spPr>
        </p:sp>
        <p:sp>
          <p:nvSpPr>
            <p:cNvPr id="11" name="Rectangle 11"/>
            <p:cNvSpPr/>
            <p:nvPr/>
          </p:nvSpPr>
          <p:spPr>
            <a:xfrm>
              <a:off x="228600" y="838200"/>
              <a:ext cx="2571750" cy="95250"/>
            </a:xfrm>
            <a:prstGeom prst="rect">
              <a:avLst/>
            </a:prstGeom>
            <a:solidFill>
              <a:srgbClr val="69281B"/>
            </a:solidFill>
            <a:ln>
              <a:noFill/>
            </a:ln>
          </p:spPr>
        </p:sp>
        <p:sp>
          <p:nvSpPr>
            <p:cNvPr id="12" name="TextBox 12"/>
            <p:cNvSpPr txBox="1"/>
            <p:nvPr/>
          </p:nvSpPr>
          <p:spPr>
            <a:xfrm>
              <a:off x="876998" y="756047"/>
              <a:ext cx="127495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重大项目营销闭环管理</a:t>
              </a:r>
            </a:p>
          </p:txBody>
        </p:sp>
        <p:sp>
          <p:nvSpPr>
            <p:cNvPr id="13" name="Line 13"/>
            <p:cNvSpPr/>
            <p:nvPr/>
          </p:nvSpPr>
          <p:spPr>
            <a:xfrm>
              <a:off x="542925" y="1276350"/>
              <a:ext cx="9525" cy="3200400"/>
            </a:xfrm>
            <a:custGeom>
              <a:avLst/>
              <a:gdLst/>
              <a:ahLst/>
              <a:cxnLst/>
              <a:rect l="l" t="t" r="r" b="b"/>
              <a:pathLst>
                <a:path w="9525" h="3200400">
                  <a:moveTo>
                    <a:pt x="0" y="0"/>
                  </a:moveTo>
                  <a:lnTo>
                    <a:pt x="0" y="3200400"/>
                  </a:lnTo>
                </a:path>
              </a:pathLst>
            </a:custGeom>
            <a:noFill/>
            <a:ln w="14288">
              <a:solidFill>
                <a:srgbClr val="C9D6E9"/>
              </a:solidFill>
              <a:custDash>
                <a:ds d="200000" sp="200000"/>
              </a:custDash>
            </a:ln>
          </p:spPr>
        </p:sp>
        <p:sp>
          <p:nvSpPr>
            <p:cNvPr id="14" name="Ellipse 14"/>
            <p:cNvSpPr/>
            <p:nvPr/>
          </p:nvSpPr>
          <p:spPr>
            <a:xfrm>
              <a:off x="390525" y="1047750"/>
              <a:ext cx="304800" cy="304800"/>
            </a:xfrm>
            <a:prstGeom prst="ellipse">
              <a:avLst/>
            </a:prstGeom>
            <a:solidFill>
              <a:srgbClr val="EAF1FB"/>
            </a:solidFill>
            <a:ln>
              <a:noFill/>
            </a:ln>
          </p:spPr>
        </p:sp>
        <p:grpSp>
          <p:nvGrpSpPr>
            <p:cNvPr id="20" name="Group 20"/>
            <p:cNvGrpSpPr/>
            <p:nvPr/>
          </p:nvGrpSpPr>
          <p:grpSpPr>
            <a:xfrm>
              <a:off x="492919" y="1135856"/>
              <a:ext cx="100012" cy="128588"/>
              <a:chOff x="492919" y="1135856"/>
              <a:chExt cx="100012" cy="128588"/>
            </a:xfrm>
          </p:grpSpPr>
          <p:sp>
            <p:nvSpPr>
              <p:cNvPr id="15" name="Freeform 15"/>
              <p:cNvSpPr/>
              <p:nvPr/>
            </p:nvSpPr>
            <p:spPr>
              <a:xfrm>
                <a:off x="557212" y="113585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E04C2E"/>
                </a:solidFill>
              </a:ln>
            </p:spPr>
          </p:sp>
          <p:sp>
            <p:nvSpPr>
              <p:cNvPr id="16" name="Freeform 16"/>
              <p:cNvSpPr/>
              <p:nvPr/>
            </p:nvSpPr>
            <p:spPr>
              <a:xfrm>
                <a:off x="492919" y="113585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E04C2E"/>
                </a:solidFill>
              </a:ln>
            </p:spPr>
          </p:sp>
          <p:sp>
            <p:nvSpPr>
              <p:cNvPr id="17" name="Freeform 17"/>
              <p:cNvSpPr/>
              <p:nvPr/>
            </p:nvSpPr>
            <p:spPr>
              <a:xfrm>
                <a:off x="521494" y="1178719"/>
                <a:ext cx="9525" cy="9525"/>
              </a:xfrm>
              <a:custGeom>
                <a:avLst/>
                <a:gdLst/>
                <a:ahLst/>
                <a:cxnLst/>
                <a:rect l="l" t="t" r="r" b="b"/>
                <a:pathLst>
                  <a:path w="9525" h="9525">
                    <a:moveTo>
                      <a:pt x="0" y="0"/>
                    </a:moveTo>
                    <a:lnTo>
                      <a:pt x="7144" y="0"/>
                    </a:lnTo>
                  </a:path>
                </a:pathLst>
              </a:custGeom>
              <a:noFill/>
              <a:ln w="14288">
                <a:solidFill>
                  <a:srgbClr val="E04C2E"/>
                </a:solidFill>
              </a:ln>
            </p:spPr>
          </p:sp>
          <p:sp>
            <p:nvSpPr>
              <p:cNvPr id="18" name="Freeform 18"/>
              <p:cNvSpPr/>
              <p:nvPr/>
            </p:nvSpPr>
            <p:spPr>
              <a:xfrm>
                <a:off x="521494" y="1207294"/>
                <a:ext cx="42862" cy="9525"/>
              </a:xfrm>
              <a:custGeom>
                <a:avLst/>
                <a:gdLst/>
                <a:ahLst/>
                <a:cxnLst/>
                <a:rect l="l" t="t" r="r" b="b"/>
                <a:pathLst>
                  <a:path w="42862" h="9525">
                    <a:moveTo>
                      <a:pt x="0" y="0"/>
                    </a:moveTo>
                    <a:lnTo>
                      <a:pt x="42862" y="0"/>
                    </a:lnTo>
                  </a:path>
                </a:pathLst>
              </a:custGeom>
              <a:noFill/>
              <a:ln w="14288">
                <a:solidFill>
                  <a:srgbClr val="E04C2E"/>
                </a:solidFill>
              </a:ln>
            </p:spPr>
          </p:sp>
          <p:sp>
            <p:nvSpPr>
              <p:cNvPr id="19" name="Freeform 19"/>
              <p:cNvSpPr/>
              <p:nvPr/>
            </p:nvSpPr>
            <p:spPr>
              <a:xfrm>
                <a:off x="521494" y="1235869"/>
                <a:ext cx="42862" cy="9525"/>
              </a:xfrm>
              <a:custGeom>
                <a:avLst/>
                <a:gdLst/>
                <a:ahLst/>
                <a:cxnLst/>
                <a:rect l="l" t="t" r="r" b="b"/>
                <a:pathLst>
                  <a:path w="42862" h="9525">
                    <a:moveTo>
                      <a:pt x="0" y="0"/>
                    </a:moveTo>
                    <a:lnTo>
                      <a:pt x="42862" y="0"/>
                    </a:lnTo>
                  </a:path>
                </a:pathLst>
              </a:custGeom>
              <a:noFill/>
              <a:ln w="14288">
                <a:solidFill>
                  <a:srgbClr val="E04C2E"/>
                </a:solidFill>
              </a:ln>
            </p:spPr>
          </p:sp>
        </p:grpSp>
        <p:sp>
          <p:nvSpPr>
            <p:cNvPr id="21" name="TextBox 21"/>
            <p:cNvSpPr txBox="1"/>
            <p:nvPr/>
          </p:nvSpPr>
          <p:spPr>
            <a:xfrm>
              <a:off x="795338" y="1087993"/>
              <a:ext cx="704164" cy="169069"/>
            </a:xfrm>
            <a:prstGeom prst="rect">
              <a:avLst/>
            </a:prstGeom>
            <a:noFill/>
            <a:ln>
              <a:noFill/>
            </a:ln>
          </p:spPr>
          <p:txBody>
            <a:bodyPr wrap="none" lIns="0" tIns="0" rIns="0" bIns="0" anchor="t" anchorCtr="0">
              <a:spAutoFit/>
            </a:bodyPr>
            <a:lstStyle/>
            <a:p>
              <a:pPr algn="l"/>
              <a:r>
                <a:rPr lang="zh-CN" sz="860" b="1" dirty="0">
                  <a:solidFill>
                    <a:srgbClr val="69281B"/>
                  </a:solidFill>
                  <a:latin typeface="+mn-lt"/>
                  <a:ea typeface="+mn-ea"/>
                  <a:cs typeface="+mn-cs"/>
                </a:rPr>
                <a:t>项目清单获取</a:t>
              </a:r>
            </a:p>
          </p:txBody>
        </p:sp>
        <p:sp>
          <p:nvSpPr>
            <p:cNvPr id="22" name="TextBox 22"/>
            <p:cNvSpPr txBox="1"/>
            <p:nvPr/>
          </p:nvSpPr>
          <p:spPr>
            <a:xfrm>
              <a:off x="795338" y="1262253"/>
              <a:ext cx="1015365" cy="244793"/>
            </a:xfrm>
            <a:prstGeom prst="rect">
              <a:avLst/>
            </a:prstGeom>
            <a:noFill/>
            <a:ln>
              <a:noFill/>
            </a:ln>
          </p:spPr>
          <p:txBody>
            <a:bodyPr wrap="none" lIns="0" tIns="0" rIns="0" bIns="0" anchor="t" anchorCtr="0">
              <a:spAutoFit/>
            </a:bodyPr>
            <a:lstStyle/>
            <a:p>
              <a:pPr algn="l">
                <a:lnSpc>
                  <a:spcPts val="900"/>
                </a:lnSpc>
              </a:pPr>
              <a:r>
                <a:rPr lang="zh-CN" sz="660" dirty="0">
                  <a:solidFill>
                    <a:srgbClr val="987F7A"/>
                  </a:solidFill>
                  <a:latin typeface="+mn-lt"/>
                  <a:ea typeface="+mn-ea"/>
                  <a:cs typeface="+mn-cs"/>
                </a:rPr>
                <a:t>对接发改委、工信、园区等</a:t>
              </a:r>
              <a:br/>
              <a:r>
                <a:rPr lang="zh-CN" sz="660" dirty="0">
                  <a:solidFill>
                    <a:srgbClr val="987F7A"/>
                  </a:solidFill>
                  <a:latin typeface="+mn-lt"/>
                  <a:ea typeface="+mn-ea"/>
                  <a:cs typeface="+mn-cs"/>
                </a:rPr>
                <a:t>多渠道获取项目清单</a:t>
              </a:r>
            </a:p>
          </p:txBody>
        </p:sp>
        <p:sp>
          <p:nvSpPr>
            <p:cNvPr id="23" name="Ellipse 23"/>
            <p:cNvSpPr/>
            <p:nvPr/>
          </p:nvSpPr>
          <p:spPr>
            <a:xfrm>
              <a:off x="390525" y="1657350"/>
              <a:ext cx="304800" cy="304800"/>
            </a:xfrm>
            <a:prstGeom prst="ellipse">
              <a:avLst/>
            </a:prstGeom>
            <a:solidFill>
              <a:srgbClr val="EAF1FB"/>
            </a:solidFill>
            <a:ln>
              <a:noFill/>
            </a:ln>
          </p:spPr>
        </p:sp>
        <p:sp>
          <p:nvSpPr>
            <p:cNvPr id="24" name="Freeform 24"/>
            <p:cNvSpPr/>
            <p:nvPr/>
          </p:nvSpPr>
          <p:spPr>
            <a:xfrm>
              <a:off x="485775" y="1752600"/>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E04C2E"/>
              </a:solidFill>
            </a:ln>
          </p:spPr>
        </p:sp>
        <p:sp>
          <p:nvSpPr>
            <p:cNvPr id="25" name="TextBox 25"/>
            <p:cNvSpPr txBox="1"/>
            <p:nvPr/>
          </p:nvSpPr>
          <p:spPr>
            <a:xfrm>
              <a:off x="795338" y="1697593"/>
              <a:ext cx="472618" cy="169069"/>
            </a:xfrm>
            <a:prstGeom prst="rect">
              <a:avLst/>
            </a:prstGeom>
            <a:noFill/>
            <a:ln>
              <a:noFill/>
            </a:ln>
          </p:spPr>
          <p:txBody>
            <a:bodyPr wrap="none" lIns="0" tIns="0" rIns="0" bIns="0" anchor="t" anchorCtr="0">
              <a:spAutoFit/>
            </a:bodyPr>
            <a:lstStyle/>
            <a:p>
              <a:pPr algn="l"/>
              <a:r>
                <a:rPr lang="zh-CN" sz="860" b="1" dirty="0">
                  <a:solidFill>
                    <a:srgbClr val="69281B"/>
                  </a:solidFill>
                  <a:latin typeface="+mn-lt"/>
                  <a:ea typeface="+mn-ea"/>
                  <a:cs typeface="+mn-cs"/>
                </a:rPr>
                <a:t>分层筛选</a:t>
              </a:r>
            </a:p>
          </p:txBody>
        </p:sp>
        <p:sp>
          <p:nvSpPr>
            <p:cNvPr id="26" name="TextBox 26"/>
            <p:cNvSpPr txBox="1"/>
            <p:nvPr/>
          </p:nvSpPr>
          <p:spPr>
            <a:xfrm>
              <a:off x="795338" y="1871853"/>
              <a:ext cx="931545" cy="244793"/>
            </a:xfrm>
            <a:prstGeom prst="rect">
              <a:avLst/>
            </a:prstGeom>
            <a:noFill/>
            <a:ln>
              <a:noFill/>
            </a:ln>
          </p:spPr>
          <p:txBody>
            <a:bodyPr wrap="none" lIns="0" tIns="0" rIns="0" bIns="0" anchor="t" anchorCtr="0">
              <a:spAutoFit/>
            </a:bodyPr>
            <a:lstStyle/>
            <a:p>
              <a:pPr algn="l">
                <a:lnSpc>
                  <a:spcPts val="900"/>
                </a:lnSpc>
              </a:pPr>
              <a:r>
                <a:rPr lang="zh-CN" sz="660" dirty="0">
                  <a:solidFill>
                    <a:srgbClr val="987F7A"/>
                  </a:solidFill>
                  <a:latin typeface="+mn-lt"/>
                  <a:ea typeface="+mn-ea"/>
                  <a:cs typeface="+mn-cs"/>
                </a:rPr>
                <a:t>按政策导向、投资规模、</a:t>
              </a:r>
              <a:br/>
              <a:r>
                <a:rPr lang="zh-CN" sz="660" dirty="0">
                  <a:solidFill>
                    <a:srgbClr val="987F7A"/>
                  </a:solidFill>
                  <a:latin typeface="+mn-lt"/>
                  <a:ea typeface="+mn-ea"/>
                  <a:cs typeface="+mn-cs"/>
                </a:rPr>
                <a:t>行业集中度分层筛选</a:t>
              </a:r>
            </a:p>
          </p:txBody>
        </p:sp>
        <p:sp>
          <p:nvSpPr>
            <p:cNvPr id="27" name="Ellipse 27"/>
            <p:cNvSpPr/>
            <p:nvPr/>
          </p:nvSpPr>
          <p:spPr>
            <a:xfrm>
              <a:off x="390525" y="2266950"/>
              <a:ext cx="304800" cy="304800"/>
            </a:xfrm>
            <a:prstGeom prst="ellipse">
              <a:avLst/>
            </a:prstGeom>
            <a:solidFill>
              <a:srgbClr val="EAF1FB"/>
            </a:solidFill>
            <a:ln>
              <a:noFill/>
            </a:ln>
          </p:spPr>
        </p:sp>
        <p:grpSp>
          <p:nvGrpSpPr>
            <p:cNvPr id="34" name="Group 34"/>
            <p:cNvGrpSpPr/>
            <p:nvPr/>
          </p:nvGrpSpPr>
          <p:grpSpPr>
            <a:xfrm>
              <a:off x="478631" y="2355056"/>
              <a:ext cx="128588" cy="128587"/>
              <a:chOff x="478631" y="2355056"/>
              <a:chExt cx="128588" cy="128587"/>
            </a:xfrm>
          </p:grpSpPr>
          <p:sp>
            <p:nvSpPr>
              <p:cNvPr id="28" name="Freeform 28"/>
              <p:cNvSpPr/>
              <p:nvPr/>
            </p:nvSpPr>
            <p:spPr>
              <a:xfrm>
                <a:off x="528638" y="24122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29" name="Freeform 29"/>
              <p:cNvSpPr/>
              <p:nvPr/>
            </p:nvSpPr>
            <p:spPr>
              <a:xfrm>
                <a:off x="514350" y="246221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E04C2E"/>
                </a:solidFill>
              </a:ln>
            </p:spPr>
          </p:sp>
          <p:sp>
            <p:nvSpPr>
              <p:cNvPr id="30" name="Freeform 30"/>
              <p:cNvSpPr/>
              <p:nvPr/>
            </p:nvSpPr>
            <p:spPr>
              <a:xfrm>
                <a:off x="564356" y="23550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31" name="Freeform 31"/>
              <p:cNvSpPr/>
              <p:nvPr/>
            </p:nvSpPr>
            <p:spPr>
              <a:xfrm>
                <a:off x="578644" y="240506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E04C2E"/>
                </a:solidFill>
              </a:ln>
            </p:spPr>
          </p:sp>
          <p:sp>
            <p:nvSpPr>
              <p:cNvPr id="32" name="Freeform 32"/>
              <p:cNvSpPr/>
              <p:nvPr/>
            </p:nvSpPr>
            <p:spPr>
              <a:xfrm>
                <a:off x="492919" y="23550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33" name="Freeform 33"/>
              <p:cNvSpPr/>
              <p:nvPr/>
            </p:nvSpPr>
            <p:spPr>
              <a:xfrm>
                <a:off x="478631" y="240506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E04C2E"/>
                </a:solidFill>
              </a:ln>
            </p:spPr>
          </p:sp>
        </p:grpSp>
        <p:sp>
          <p:nvSpPr>
            <p:cNvPr id="35" name="TextBox 35"/>
            <p:cNvSpPr txBox="1"/>
            <p:nvPr/>
          </p:nvSpPr>
          <p:spPr>
            <a:xfrm>
              <a:off x="795338" y="2307193"/>
              <a:ext cx="472618" cy="169069"/>
            </a:xfrm>
            <a:prstGeom prst="rect">
              <a:avLst/>
            </a:prstGeom>
            <a:noFill/>
            <a:ln>
              <a:noFill/>
            </a:ln>
          </p:spPr>
          <p:txBody>
            <a:bodyPr wrap="none" lIns="0" tIns="0" rIns="0" bIns="0" anchor="t" anchorCtr="0">
              <a:spAutoFit/>
            </a:bodyPr>
            <a:lstStyle/>
            <a:p>
              <a:pPr algn="l"/>
              <a:r>
                <a:rPr lang="zh-CN" sz="860" b="1" dirty="0">
                  <a:solidFill>
                    <a:srgbClr val="69281B"/>
                  </a:solidFill>
                  <a:latin typeface="+mn-lt"/>
                  <a:ea typeface="+mn-ea"/>
                  <a:cs typeface="+mn-cs"/>
                </a:rPr>
                <a:t>专班对接</a:t>
              </a:r>
            </a:p>
          </p:txBody>
        </p:sp>
        <p:sp>
          <p:nvSpPr>
            <p:cNvPr id="36" name="TextBox 36"/>
            <p:cNvSpPr txBox="1"/>
            <p:nvPr/>
          </p:nvSpPr>
          <p:spPr>
            <a:xfrm>
              <a:off x="795338" y="2481453"/>
              <a:ext cx="1015365" cy="244793"/>
            </a:xfrm>
            <a:prstGeom prst="rect">
              <a:avLst/>
            </a:prstGeom>
            <a:noFill/>
            <a:ln>
              <a:noFill/>
            </a:ln>
          </p:spPr>
          <p:txBody>
            <a:bodyPr wrap="none" lIns="0" tIns="0" rIns="0" bIns="0" anchor="t" anchorCtr="0">
              <a:spAutoFit/>
            </a:bodyPr>
            <a:lstStyle/>
            <a:p>
              <a:pPr algn="l">
                <a:lnSpc>
                  <a:spcPts val="900"/>
                </a:lnSpc>
              </a:pPr>
              <a:r>
                <a:rPr lang="zh-CN" sz="660" dirty="0">
                  <a:solidFill>
                    <a:srgbClr val="987F7A"/>
                  </a:solidFill>
                  <a:latin typeface="+mn-lt"/>
                  <a:ea typeface="+mn-ea"/>
                  <a:cs typeface="+mn-cs"/>
                </a:rPr>
                <a:t>组建项目专班，深入调研，</a:t>
              </a:r>
              <a:br/>
              <a:r>
                <a:rPr lang="zh-CN" sz="660" dirty="0">
                  <a:solidFill>
                    <a:srgbClr val="987F7A"/>
                  </a:solidFill>
                  <a:latin typeface="+mn-lt"/>
                  <a:ea typeface="+mn-ea"/>
                  <a:cs typeface="+mn-cs"/>
                </a:rPr>
                <a:t>定制融资服务方案</a:t>
              </a:r>
            </a:p>
          </p:txBody>
        </p:sp>
        <p:sp>
          <p:nvSpPr>
            <p:cNvPr id="37" name="Ellipse 37"/>
            <p:cNvSpPr/>
            <p:nvPr/>
          </p:nvSpPr>
          <p:spPr>
            <a:xfrm>
              <a:off x="390525" y="2876550"/>
              <a:ext cx="304800" cy="304800"/>
            </a:xfrm>
            <a:prstGeom prst="ellipse">
              <a:avLst/>
            </a:prstGeom>
            <a:solidFill>
              <a:srgbClr val="EAF1FB"/>
            </a:solidFill>
            <a:ln>
              <a:noFill/>
            </a:ln>
          </p:spPr>
        </p:sp>
        <p:grpSp>
          <p:nvGrpSpPr>
            <p:cNvPr id="43" name="Group 43"/>
            <p:cNvGrpSpPr/>
            <p:nvPr/>
          </p:nvGrpSpPr>
          <p:grpSpPr>
            <a:xfrm>
              <a:off x="477321" y="2963346"/>
              <a:ext cx="131370" cy="139423"/>
              <a:chOff x="477321" y="2963346"/>
              <a:chExt cx="131370" cy="139423"/>
            </a:xfrm>
          </p:grpSpPr>
          <p:sp>
            <p:nvSpPr>
              <p:cNvPr id="38" name="Freeform 38"/>
              <p:cNvSpPr/>
              <p:nvPr/>
            </p:nvSpPr>
            <p:spPr>
              <a:xfrm>
                <a:off x="528638" y="3014662"/>
                <a:ext cx="80053" cy="80036"/>
              </a:xfrm>
              <a:custGeom>
                <a:avLst/>
                <a:gdLst/>
                <a:ahLst/>
                <a:cxnLst/>
                <a:rect l="l" t="t" r="r" b="b"/>
                <a:pathLst>
                  <a:path w="80053" h="80036">
                    <a:moveTo>
                      <a:pt x="21431" y="0"/>
                    </a:moveTo>
                    <a:lnTo>
                      <a:pt x="74174" y="52992"/>
                    </a:lnTo>
                    <a:cubicBezTo>
                      <a:pt x="80053" y="58850"/>
                      <a:pt x="80053" y="68337"/>
                      <a:pt x="74174" y="74188"/>
                    </a:cubicBezTo>
                    <a:cubicBezTo>
                      <a:pt x="68294" y="80036"/>
                      <a:pt x="58794" y="80036"/>
                      <a:pt x="52914" y="74188"/>
                    </a:cubicBezTo>
                    <a:lnTo>
                      <a:pt x="0" y="21431"/>
                    </a:lnTo>
                  </a:path>
                </a:pathLst>
              </a:custGeom>
              <a:noFill/>
              <a:ln w="14288">
                <a:solidFill>
                  <a:srgbClr val="E04C2E"/>
                </a:solidFill>
              </a:ln>
            </p:spPr>
          </p:sp>
          <p:sp>
            <p:nvSpPr>
              <p:cNvPr id="39" name="Freeform 39"/>
              <p:cNvSpPr/>
              <p:nvPr/>
            </p:nvSpPr>
            <p:spPr>
              <a:xfrm>
                <a:off x="500062" y="3007519"/>
                <a:ext cx="28575" cy="28575"/>
              </a:xfrm>
              <a:custGeom>
                <a:avLst/>
                <a:gdLst/>
                <a:ahLst/>
                <a:cxnLst/>
                <a:rect l="l" t="t" r="r" b="b"/>
                <a:pathLst>
                  <a:path w="28575" h="28575">
                    <a:moveTo>
                      <a:pt x="0" y="0"/>
                    </a:moveTo>
                    <a:lnTo>
                      <a:pt x="28575" y="28575"/>
                    </a:lnTo>
                  </a:path>
                </a:pathLst>
              </a:custGeom>
              <a:noFill/>
              <a:ln w="14288">
                <a:solidFill>
                  <a:srgbClr val="E04C2E"/>
                </a:solidFill>
              </a:ln>
            </p:spPr>
          </p:sp>
          <p:sp>
            <p:nvSpPr>
              <p:cNvPr id="40" name="Freeform 40"/>
              <p:cNvSpPr/>
              <p:nvPr/>
            </p:nvSpPr>
            <p:spPr>
              <a:xfrm>
                <a:off x="521494" y="2986088"/>
                <a:ext cx="28575" cy="28575"/>
              </a:xfrm>
              <a:custGeom>
                <a:avLst/>
                <a:gdLst/>
                <a:ahLst/>
                <a:cxnLst/>
                <a:rect l="l" t="t" r="r" b="b"/>
                <a:pathLst>
                  <a:path w="28575" h="28575">
                    <a:moveTo>
                      <a:pt x="28575" y="28575"/>
                    </a:moveTo>
                    <a:lnTo>
                      <a:pt x="0" y="0"/>
                    </a:lnTo>
                  </a:path>
                </a:pathLst>
              </a:custGeom>
              <a:noFill/>
              <a:ln w="14288">
                <a:solidFill>
                  <a:srgbClr val="E04C2E"/>
                </a:solidFill>
              </a:ln>
            </p:spPr>
          </p:sp>
          <p:sp>
            <p:nvSpPr>
              <p:cNvPr id="41" name="Freeform 41"/>
              <p:cNvSpPr/>
              <p:nvPr/>
            </p:nvSpPr>
            <p:spPr>
              <a:xfrm>
                <a:off x="478631" y="3093244"/>
                <a:ext cx="50006" cy="9525"/>
              </a:xfrm>
              <a:custGeom>
                <a:avLst/>
                <a:gdLst/>
                <a:ahLst/>
                <a:cxnLst/>
                <a:rect l="l" t="t" r="r" b="b"/>
                <a:pathLst>
                  <a:path w="50006" h="9525">
                    <a:moveTo>
                      <a:pt x="0" y="0"/>
                    </a:moveTo>
                    <a:lnTo>
                      <a:pt x="50006" y="0"/>
                    </a:lnTo>
                  </a:path>
                </a:pathLst>
              </a:custGeom>
              <a:noFill/>
              <a:ln w="14288">
                <a:solidFill>
                  <a:srgbClr val="E04C2E"/>
                </a:solidFill>
              </a:ln>
            </p:spPr>
          </p:sp>
          <p:sp>
            <p:nvSpPr>
              <p:cNvPr id="42" name="Freeform 42"/>
              <p:cNvSpPr/>
              <p:nvPr/>
            </p:nvSpPr>
            <p:spPr>
              <a:xfrm>
                <a:off x="477321" y="2963346"/>
                <a:ext cx="95489" cy="95489"/>
              </a:xfrm>
              <a:custGeom>
                <a:avLst/>
                <a:gdLst/>
                <a:ahLst/>
                <a:cxnLst/>
                <a:rect l="l" t="t" r="r" b="b"/>
                <a:pathLst>
                  <a:path w="95489" h="95489">
                    <a:moveTo>
                      <a:pt x="28406" y="92700"/>
                    </a:moveTo>
                    <a:lnTo>
                      <a:pt x="2789" y="67083"/>
                    </a:lnTo>
                    <a:cubicBezTo>
                      <a:pt x="0" y="64293"/>
                      <a:pt x="0" y="59771"/>
                      <a:pt x="2789" y="56981"/>
                    </a:cubicBezTo>
                    <a:lnTo>
                      <a:pt x="19169" y="40601"/>
                    </a:lnTo>
                    <a:lnTo>
                      <a:pt x="22741" y="44173"/>
                    </a:lnTo>
                    <a:lnTo>
                      <a:pt x="44173" y="22741"/>
                    </a:lnTo>
                    <a:lnTo>
                      <a:pt x="40601" y="19169"/>
                    </a:lnTo>
                    <a:lnTo>
                      <a:pt x="56981" y="2789"/>
                    </a:lnTo>
                    <a:cubicBezTo>
                      <a:pt x="59771" y="0"/>
                      <a:pt x="64293" y="0"/>
                      <a:pt x="67083" y="2789"/>
                    </a:cubicBezTo>
                    <a:lnTo>
                      <a:pt x="92700" y="28406"/>
                    </a:lnTo>
                    <a:cubicBezTo>
                      <a:pt x="95489" y="31196"/>
                      <a:pt x="95489" y="35718"/>
                      <a:pt x="92700" y="38508"/>
                    </a:cubicBezTo>
                    <a:lnTo>
                      <a:pt x="76319" y="54888"/>
                    </a:lnTo>
                    <a:lnTo>
                      <a:pt x="72748" y="51316"/>
                    </a:lnTo>
                    <a:lnTo>
                      <a:pt x="51316" y="72748"/>
                    </a:lnTo>
                    <a:lnTo>
                      <a:pt x="54888" y="76319"/>
                    </a:lnTo>
                    <a:lnTo>
                      <a:pt x="38508" y="92700"/>
                    </a:lnTo>
                    <a:cubicBezTo>
                      <a:pt x="35718" y="95489"/>
                      <a:pt x="31196" y="95489"/>
                      <a:pt x="28406" y="92700"/>
                    </a:cubicBezTo>
                  </a:path>
                </a:pathLst>
              </a:custGeom>
              <a:noFill/>
              <a:ln w="14288">
                <a:solidFill>
                  <a:srgbClr val="E04C2E"/>
                </a:solidFill>
              </a:ln>
            </p:spPr>
          </p:sp>
        </p:grpSp>
        <p:sp>
          <p:nvSpPr>
            <p:cNvPr id="44" name="TextBox 44"/>
            <p:cNvSpPr txBox="1"/>
            <p:nvPr/>
          </p:nvSpPr>
          <p:spPr>
            <a:xfrm>
              <a:off x="795338" y="2916793"/>
              <a:ext cx="472618" cy="169069"/>
            </a:xfrm>
            <a:prstGeom prst="rect">
              <a:avLst/>
            </a:prstGeom>
            <a:noFill/>
            <a:ln>
              <a:noFill/>
            </a:ln>
          </p:spPr>
          <p:txBody>
            <a:bodyPr wrap="none" lIns="0" tIns="0" rIns="0" bIns="0" anchor="t" anchorCtr="0">
              <a:spAutoFit/>
            </a:bodyPr>
            <a:lstStyle/>
            <a:p>
              <a:pPr algn="l"/>
              <a:r>
                <a:rPr lang="zh-CN" sz="860" b="1" dirty="0">
                  <a:solidFill>
                    <a:srgbClr val="69281B"/>
                  </a:solidFill>
                  <a:latin typeface="+mn-lt"/>
                  <a:ea typeface="+mn-ea"/>
                  <a:cs typeface="+mn-cs"/>
                </a:rPr>
                <a:t>授信审批</a:t>
              </a:r>
            </a:p>
          </p:txBody>
        </p:sp>
        <p:sp>
          <p:nvSpPr>
            <p:cNvPr id="45" name="TextBox 45"/>
            <p:cNvSpPr txBox="1"/>
            <p:nvPr/>
          </p:nvSpPr>
          <p:spPr>
            <a:xfrm>
              <a:off x="795338" y="3091053"/>
              <a:ext cx="763905" cy="244793"/>
            </a:xfrm>
            <a:prstGeom prst="rect">
              <a:avLst/>
            </a:prstGeom>
            <a:noFill/>
            <a:ln>
              <a:noFill/>
            </a:ln>
          </p:spPr>
          <p:txBody>
            <a:bodyPr wrap="none" lIns="0" tIns="0" rIns="0" bIns="0" anchor="t" anchorCtr="0">
              <a:spAutoFit/>
            </a:bodyPr>
            <a:lstStyle/>
            <a:p>
              <a:pPr algn="l">
                <a:lnSpc>
                  <a:spcPts val="900"/>
                </a:lnSpc>
              </a:pPr>
              <a:r>
                <a:rPr lang="zh-CN" sz="660" dirty="0">
                  <a:solidFill>
                    <a:srgbClr val="987F7A"/>
                  </a:solidFill>
                  <a:latin typeface="+mn-lt"/>
                  <a:ea typeface="+mn-ea"/>
                  <a:cs typeface="+mn-cs"/>
                </a:rPr>
                <a:t>开通绿色通道，加快</a:t>
              </a:r>
              <a:br/>
              <a:r>
                <a:rPr lang="zh-CN" sz="660" dirty="0">
                  <a:solidFill>
                    <a:srgbClr val="987F7A"/>
                  </a:solidFill>
                  <a:latin typeface="+mn-lt"/>
                  <a:ea typeface="+mn-ea"/>
                  <a:cs typeface="+mn-cs"/>
                </a:rPr>
                <a:t>提高审批时效</a:t>
              </a:r>
            </a:p>
          </p:txBody>
        </p:sp>
        <p:sp>
          <p:nvSpPr>
            <p:cNvPr id="46" name="Ellipse 46"/>
            <p:cNvSpPr/>
            <p:nvPr/>
          </p:nvSpPr>
          <p:spPr>
            <a:xfrm>
              <a:off x="390525" y="3486150"/>
              <a:ext cx="304800" cy="304800"/>
            </a:xfrm>
            <a:prstGeom prst="ellipse">
              <a:avLst/>
            </a:prstGeom>
            <a:solidFill>
              <a:srgbClr val="EAF1FB"/>
            </a:solidFill>
            <a:ln>
              <a:noFill/>
            </a:ln>
          </p:spPr>
        </p:sp>
        <p:grpSp>
          <p:nvGrpSpPr>
            <p:cNvPr id="49" name="Group 49"/>
            <p:cNvGrpSpPr/>
            <p:nvPr/>
          </p:nvGrpSpPr>
          <p:grpSpPr>
            <a:xfrm>
              <a:off x="478631" y="3595688"/>
              <a:ext cx="128588" cy="85725"/>
              <a:chOff x="478631" y="3595688"/>
              <a:chExt cx="128588" cy="85725"/>
            </a:xfrm>
          </p:grpSpPr>
          <p:sp>
            <p:nvSpPr>
              <p:cNvPr id="47" name="Freeform 47"/>
              <p:cNvSpPr/>
              <p:nvPr/>
            </p:nvSpPr>
            <p:spPr>
              <a:xfrm>
                <a:off x="528638" y="362426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48" name="Freeform 48"/>
              <p:cNvSpPr/>
              <p:nvPr/>
            </p:nvSpPr>
            <p:spPr>
              <a:xfrm>
                <a:off x="478631" y="3595688"/>
                <a:ext cx="128588" cy="85725"/>
              </a:xfrm>
              <a:custGeom>
                <a:avLst/>
                <a:gdLst/>
                <a:ahLst/>
                <a:cxnLst/>
                <a:rect l="l" t="t" r="r" b="b"/>
                <a:pathLst>
                  <a:path w="128588" h="85725">
                    <a:moveTo>
                      <a:pt x="128588" y="42862"/>
                    </a:moveTo>
                    <a:cubicBezTo>
                      <a:pt x="111443" y="71438"/>
                      <a:pt x="90011" y="85725"/>
                      <a:pt x="64294" y="85725"/>
                    </a:cubicBezTo>
                    <a:cubicBezTo>
                      <a:pt x="38576" y="85725"/>
                      <a:pt x="17145" y="71438"/>
                      <a:pt x="0" y="42862"/>
                    </a:cubicBezTo>
                    <a:cubicBezTo>
                      <a:pt x="17145" y="14288"/>
                      <a:pt x="38576" y="0"/>
                      <a:pt x="64294" y="0"/>
                    </a:cubicBezTo>
                    <a:cubicBezTo>
                      <a:pt x="90011" y="0"/>
                      <a:pt x="111443" y="14288"/>
                      <a:pt x="128588" y="42862"/>
                    </a:cubicBezTo>
                  </a:path>
                </a:pathLst>
              </a:custGeom>
              <a:noFill/>
              <a:ln w="14288">
                <a:solidFill>
                  <a:srgbClr val="E04C2E"/>
                </a:solidFill>
              </a:ln>
            </p:spPr>
          </p:sp>
        </p:grpSp>
        <p:sp>
          <p:nvSpPr>
            <p:cNvPr id="50" name="TextBox 50"/>
            <p:cNvSpPr txBox="1"/>
            <p:nvPr/>
          </p:nvSpPr>
          <p:spPr>
            <a:xfrm>
              <a:off x="795338" y="3526393"/>
              <a:ext cx="472618" cy="169069"/>
            </a:xfrm>
            <a:prstGeom prst="rect">
              <a:avLst/>
            </a:prstGeom>
            <a:noFill/>
            <a:ln>
              <a:noFill/>
            </a:ln>
          </p:spPr>
          <p:txBody>
            <a:bodyPr wrap="none" lIns="0" tIns="0" rIns="0" bIns="0" anchor="t" anchorCtr="0">
              <a:spAutoFit/>
            </a:bodyPr>
            <a:lstStyle/>
            <a:p>
              <a:pPr algn="l"/>
              <a:r>
                <a:rPr lang="zh-CN" sz="860" b="1" dirty="0">
                  <a:solidFill>
                    <a:srgbClr val="69281B"/>
                  </a:solidFill>
                  <a:latin typeface="+mn-lt"/>
                  <a:ea typeface="+mn-ea"/>
                  <a:cs typeface="+mn-cs"/>
                </a:rPr>
                <a:t>投放监测</a:t>
              </a:r>
            </a:p>
          </p:txBody>
        </p:sp>
        <p:sp>
          <p:nvSpPr>
            <p:cNvPr id="51" name="TextBox 51"/>
            <p:cNvSpPr txBox="1"/>
            <p:nvPr/>
          </p:nvSpPr>
          <p:spPr>
            <a:xfrm>
              <a:off x="795338" y="3700653"/>
              <a:ext cx="1015365" cy="244793"/>
            </a:xfrm>
            <a:prstGeom prst="rect">
              <a:avLst/>
            </a:prstGeom>
            <a:noFill/>
            <a:ln>
              <a:noFill/>
            </a:ln>
          </p:spPr>
          <p:txBody>
            <a:bodyPr wrap="none" lIns="0" tIns="0" rIns="0" bIns="0" anchor="t" anchorCtr="0">
              <a:spAutoFit/>
            </a:bodyPr>
            <a:lstStyle/>
            <a:p>
              <a:pPr algn="l">
                <a:lnSpc>
                  <a:spcPts val="900"/>
                </a:lnSpc>
              </a:pPr>
              <a:r>
                <a:rPr lang="zh-CN" sz="660" dirty="0">
                  <a:solidFill>
                    <a:srgbClr val="987F7A"/>
                  </a:solidFill>
                  <a:latin typeface="+mn-lt"/>
                  <a:ea typeface="+mn-ea"/>
                  <a:cs typeface="+mn-cs"/>
                </a:rPr>
                <a:t>跟踪资金投向与项目进度，</a:t>
              </a:r>
              <a:br/>
              <a:r>
                <a:rPr lang="zh-CN" sz="660" dirty="0">
                  <a:solidFill>
                    <a:srgbClr val="987F7A"/>
                  </a:solidFill>
                  <a:latin typeface="+mn-lt"/>
                  <a:ea typeface="+mn-ea"/>
                  <a:cs typeface="+mn-cs"/>
                </a:rPr>
                <a:t>强化风险监测预警</a:t>
              </a:r>
            </a:p>
          </p:txBody>
        </p:sp>
        <p:sp>
          <p:nvSpPr>
            <p:cNvPr id="52" name="Ellipse 52"/>
            <p:cNvSpPr/>
            <p:nvPr/>
          </p:nvSpPr>
          <p:spPr>
            <a:xfrm>
              <a:off x="390525" y="4095750"/>
              <a:ext cx="304800" cy="304800"/>
            </a:xfrm>
            <a:prstGeom prst="ellipse">
              <a:avLst/>
            </a:prstGeom>
            <a:solidFill>
              <a:srgbClr val="EAF1FB"/>
            </a:solidFill>
            <a:ln>
              <a:noFill/>
            </a:ln>
          </p:spPr>
        </p:sp>
        <p:grpSp>
          <p:nvGrpSpPr>
            <p:cNvPr id="57" name="Group 57"/>
            <p:cNvGrpSpPr/>
            <p:nvPr/>
          </p:nvGrpSpPr>
          <p:grpSpPr>
            <a:xfrm>
              <a:off x="478631" y="4183856"/>
              <a:ext cx="128588" cy="121444"/>
              <a:chOff x="478631" y="4183856"/>
              <a:chExt cx="128588" cy="121444"/>
            </a:xfrm>
          </p:grpSpPr>
          <p:sp>
            <p:nvSpPr>
              <p:cNvPr id="53" name="Freeform 53"/>
              <p:cNvSpPr/>
              <p:nvPr/>
            </p:nvSpPr>
            <p:spPr>
              <a:xfrm>
                <a:off x="478631" y="4212431"/>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E04C2E"/>
                </a:solidFill>
              </a:ln>
            </p:spPr>
          </p:sp>
          <p:sp>
            <p:nvSpPr>
              <p:cNvPr id="54" name="Freeform 54"/>
              <p:cNvSpPr/>
              <p:nvPr/>
            </p:nvSpPr>
            <p:spPr>
              <a:xfrm>
                <a:off x="514350" y="4183856"/>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E04C2E"/>
                </a:solidFill>
              </a:ln>
            </p:spPr>
          </p:sp>
          <p:sp>
            <p:nvSpPr>
              <p:cNvPr id="55" name="Freeform 55"/>
              <p:cNvSpPr/>
              <p:nvPr/>
            </p:nvSpPr>
            <p:spPr>
              <a:xfrm>
                <a:off x="542925" y="4248150"/>
                <a:ext cx="9525" cy="9525"/>
              </a:xfrm>
              <a:custGeom>
                <a:avLst/>
                <a:gdLst/>
                <a:ahLst/>
                <a:cxnLst/>
                <a:rect l="l" t="t" r="r" b="b"/>
                <a:pathLst>
                  <a:path w="9525" h="9525">
                    <a:moveTo>
                      <a:pt x="0" y="0"/>
                    </a:moveTo>
                    <a:lnTo>
                      <a:pt x="0" y="71"/>
                    </a:lnTo>
                  </a:path>
                </a:pathLst>
              </a:custGeom>
              <a:noFill/>
              <a:ln w="14288">
                <a:solidFill>
                  <a:srgbClr val="E04C2E"/>
                </a:solidFill>
              </a:ln>
            </p:spPr>
          </p:sp>
          <p:sp>
            <p:nvSpPr>
              <p:cNvPr id="56" name="Freeform 56"/>
              <p:cNvSpPr/>
              <p:nvPr/>
            </p:nvSpPr>
            <p:spPr>
              <a:xfrm>
                <a:off x="478631" y="4255294"/>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E04C2E"/>
                </a:solidFill>
              </a:ln>
            </p:spPr>
          </p:sp>
        </p:grpSp>
        <p:sp>
          <p:nvSpPr>
            <p:cNvPr id="58" name="TextBox 58"/>
            <p:cNvSpPr txBox="1"/>
            <p:nvPr/>
          </p:nvSpPr>
          <p:spPr>
            <a:xfrm>
              <a:off x="795338" y="4135993"/>
              <a:ext cx="472618" cy="169069"/>
            </a:xfrm>
            <a:prstGeom prst="rect">
              <a:avLst/>
            </a:prstGeom>
            <a:noFill/>
            <a:ln>
              <a:noFill/>
            </a:ln>
          </p:spPr>
          <p:txBody>
            <a:bodyPr wrap="none" lIns="0" tIns="0" rIns="0" bIns="0" anchor="t" anchorCtr="0">
              <a:spAutoFit/>
            </a:bodyPr>
            <a:lstStyle/>
            <a:p>
              <a:pPr algn="l"/>
              <a:r>
                <a:rPr lang="zh-CN" sz="860" b="1" dirty="0">
                  <a:solidFill>
                    <a:srgbClr val="69281B"/>
                  </a:solidFill>
                  <a:latin typeface="+mn-lt"/>
                  <a:ea typeface="+mn-ea"/>
                  <a:cs typeface="+mn-cs"/>
                </a:rPr>
                <a:t>综合服务</a:t>
              </a:r>
            </a:p>
          </p:txBody>
        </p:sp>
        <p:sp>
          <p:nvSpPr>
            <p:cNvPr id="59" name="TextBox 59"/>
            <p:cNvSpPr txBox="1"/>
            <p:nvPr/>
          </p:nvSpPr>
          <p:spPr>
            <a:xfrm>
              <a:off x="795338" y="4310253"/>
              <a:ext cx="847725" cy="244793"/>
            </a:xfrm>
            <a:prstGeom prst="rect">
              <a:avLst/>
            </a:prstGeom>
            <a:noFill/>
            <a:ln>
              <a:noFill/>
            </a:ln>
          </p:spPr>
          <p:txBody>
            <a:bodyPr wrap="none" lIns="0" tIns="0" rIns="0" bIns="0" anchor="t" anchorCtr="0">
              <a:spAutoFit/>
            </a:bodyPr>
            <a:lstStyle/>
            <a:p>
              <a:pPr algn="l">
                <a:lnSpc>
                  <a:spcPts val="900"/>
                </a:lnSpc>
              </a:pPr>
              <a:r>
                <a:rPr lang="zh-CN" sz="660" dirty="0">
                  <a:solidFill>
                    <a:srgbClr val="987F7A"/>
                  </a:solidFill>
                  <a:latin typeface="+mn-lt"/>
                  <a:ea typeface="+mn-ea"/>
                  <a:cs typeface="+mn-cs"/>
                </a:rPr>
                <a:t>提供结算、现金管理、</a:t>
              </a:r>
              <a:br/>
              <a:r>
                <a:rPr lang="zh-CN" sz="660" dirty="0">
                  <a:solidFill>
                    <a:srgbClr val="987F7A"/>
                  </a:solidFill>
                  <a:latin typeface="+mn-lt"/>
                  <a:ea typeface="+mn-ea"/>
                  <a:cs typeface="+mn-cs"/>
                </a:rPr>
                <a:t>保函、债券等综合服务</a:t>
              </a:r>
            </a:p>
          </p:txBody>
        </p:sp>
        <p:sp>
          <p:nvSpPr>
            <p:cNvPr id="60" name="Rectangle 60"/>
            <p:cNvSpPr/>
            <p:nvPr/>
          </p:nvSpPr>
          <p:spPr>
            <a:xfrm>
              <a:off x="323850" y="4724400"/>
              <a:ext cx="762000" cy="1428750"/>
            </a:xfrm>
            <a:prstGeom prst="roundRect">
              <a:avLst>
                <a:gd name="adj" fmla="val 5000"/>
              </a:avLst>
            </a:prstGeom>
            <a:solidFill>
              <a:srgbClr val="F5F8FD"/>
            </a:solidFill>
            <a:ln w="9525">
              <a:solidFill>
                <a:srgbClr val="E3EAF5"/>
              </a:solidFill>
            </a:ln>
          </p:spPr>
        </p:sp>
        <p:sp>
          <p:nvSpPr>
            <p:cNvPr id="61" name="TextBox 61"/>
            <p:cNvSpPr txBox="1"/>
            <p:nvPr/>
          </p:nvSpPr>
          <p:spPr>
            <a:xfrm>
              <a:off x="556717" y="4895136"/>
              <a:ext cx="296266"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覆盖率</a:t>
              </a:r>
            </a:p>
          </p:txBody>
        </p:sp>
        <p:sp>
          <p:nvSpPr>
            <p:cNvPr id="62" name="TextBox 62"/>
            <p:cNvSpPr txBox="1"/>
            <p:nvPr/>
          </p:nvSpPr>
          <p:spPr>
            <a:xfrm>
              <a:off x="456749" y="5142071"/>
              <a:ext cx="496202" cy="278702"/>
            </a:xfrm>
            <a:prstGeom prst="rect">
              <a:avLst/>
            </a:prstGeom>
            <a:noFill/>
            <a:ln>
              <a:noFill/>
            </a:ln>
          </p:spPr>
          <p:txBody>
            <a:bodyPr wrap="none" lIns="0" tIns="0" rIns="0" bIns="0" anchor="t" anchorCtr="0">
              <a:spAutoFit/>
            </a:bodyPr>
            <a:lstStyle/>
            <a:p>
              <a:pPr algn="ctr"/>
              <a:r>
                <a:rPr lang="zh-CN" sz="1420" b="1" dirty="0">
                  <a:solidFill>
                    <a:srgbClr val="69281B"/>
                  </a:solidFill>
                  <a:latin typeface="+mn-lt"/>
                  <a:ea typeface="+mn-ea"/>
                  <a:cs typeface="+mn-cs"/>
                </a:rPr>
                <a:t>92%​</a:t>
              </a:r>
            </a:p>
          </p:txBody>
        </p:sp>
        <p:sp>
          <p:nvSpPr>
            <p:cNvPr id="63" name="TextBox 63"/>
            <p:cNvSpPr txBox="1"/>
            <p:nvPr/>
          </p:nvSpPr>
          <p:spPr>
            <a:xfrm>
              <a:off x="377000" y="5497830"/>
              <a:ext cx="655701"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覆盖重大项目数量</a:t>
              </a:r>
            </a:p>
          </p:txBody>
        </p:sp>
        <p:sp>
          <p:nvSpPr>
            <p:cNvPr id="64" name="TextBox 64"/>
            <p:cNvSpPr txBox="1"/>
            <p:nvPr/>
          </p:nvSpPr>
          <p:spPr>
            <a:xfrm>
              <a:off x="399602" y="5642134"/>
              <a:ext cx="610496" cy="133350"/>
            </a:xfrm>
            <a:prstGeom prst="rect">
              <a:avLst/>
            </a:prstGeom>
            <a:noFill/>
            <a:ln>
              <a:noFill/>
            </a:ln>
          </p:spPr>
          <p:txBody>
            <a:bodyPr wrap="none" lIns="0" tIns="0" rIns="0" bIns="0" anchor="t" anchorCtr="0">
              <a:spAutoFit/>
            </a:bodyPr>
            <a:lstStyle/>
            <a:p>
              <a:pPr algn="ctr"/>
              <a:r>
                <a:rPr lang="zh-CN" sz="680" b="1" dirty="0">
                  <a:solidFill>
                    <a:srgbClr val="E04C2E"/>
                  </a:solidFill>
                  <a:latin typeface="+mn-lt"/>
                  <a:ea typeface="+mn-ea"/>
                  <a:cs typeface="+mn-cs"/>
                </a:rPr>
                <a:t>208 / 226 个​</a:t>
              </a:r>
            </a:p>
          </p:txBody>
        </p:sp>
        <p:sp>
          <p:nvSpPr>
            <p:cNvPr id="65" name="Rectangle 65"/>
            <p:cNvSpPr/>
            <p:nvPr/>
          </p:nvSpPr>
          <p:spPr>
            <a:xfrm>
              <a:off x="1143000" y="4724400"/>
              <a:ext cx="762000" cy="1428750"/>
            </a:xfrm>
            <a:prstGeom prst="roundRect">
              <a:avLst>
                <a:gd name="adj" fmla="val 5000"/>
              </a:avLst>
            </a:prstGeom>
            <a:solidFill>
              <a:srgbClr val="F5F8FD"/>
            </a:solidFill>
            <a:ln w="9525">
              <a:solidFill>
                <a:srgbClr val="E3EAF5"/>
              </a:solidFill>
            </a:ln>
          </p:spPr>
        </p:sp>
        <p:sp>
          <p:nvSpPr>
            <p:cNvPr id="66" name="TextBox 66"/>
            <p:cNvSpPr txBox="1"/>
            <p:nvPr/>
          </p:nvSpPr>
          <p:spPr>
            <a:xfrm>
              <a:off x="1375867" y="4895136"/>
              <a:ext cx="296266"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合作率</a:t>
              </a:r>
            </a:p>
          </p:txBody>
        </p:sp>
        <p:sp>
          <p:nvSpPr>
            <p:cNvPr id="67" name="TextBox 67"/>
            <p:cNvSpPr txBox="1"/>
            <p:nvPr/>
          </p:nvSpPr>
          <p:spPr>
            <a:xfrm>
              <a:off x="1275899" y="5142071"/>
              <a:ext cx="496202" cy="278702"/>
            </a:xfrm>
            <a:prstGeom prst="rect">
              <a:avLst/>
            </a:prstGeom>
            <a:noFill/>
            <a:ln>
              <a:noFill/>
            </a:ln>
          </p:spPr>
          <p:txBody>
            <a:bodyPr wrap="none" lIns="0" tIns="0" rIns="0" bIns="0" anchor="t" anchorCtr="0">
              <a:spAutoFit/>
            </a:bodyPr>
            <a:lstStyle/>
            <a:p>
              <a:pPr algn="ctr"/>
              <a:r>
                <a:rPr lang="zh-CN" sz="1420" b="1" dirty="0">
                  <a:solidFill>
                    <a:srgbClr val="69281B"/>
                  </a:solidFill>
                  <a:latin typeface="+mn-lt"/>
                  <a:ea typeface="+mn-ea"/>
                  <a:cs typeface="+mn-cs"/>
                </a:rPr>
                <a:t>61%​</a:t>
              </a:r>
            </a:p>
          </p:txBody>
        </p:sp>
        <p:sp>
          <p:nvSpPr>
            <p:cNvPr id="68" name="TextBox 68"/>
            <p:cNvSpPr txBox="1"/>
            <p:nvPr/>
          </p:nvSpPr>
          <p:spPr>
            <a:xfrm>
              <a:off x="1236536" y="5497830"/>
              <a:ext cx="574929"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已合作项目数量</a:t>
              </a:r>
            </a:p>
          </p:txBody>
        </p:sp>
        <p:sp>
          <p:nvSpPr>
            <p:cNvPr id="69" name="TextBox 69"/>
            <p:cNvSpPr txBox="1"/>
            <p:nvPr/>
          </p:nvSpPr>
          <p:spPr>
            <a:xfrm>
              <a:off x="1218752" y="5642134"/>
              <a:ext cx="610496" cy="133350"/>
            </a:xfrm>
            <a:prstGeom prst="rect">
              <a:avLst/>
            </a:prstGeom>
            <a:noFill/>
            <a:ln>
              <a:noFill/>
            </a:ln>
          </p:spPr>
          <p:txBody>
            <a:bodyPr wrap="none" lIns="0" tIns="0" rIns="0" bIns="0" anchor="t" anchorCtr="0">
              <a:spAutoFit/>
            </a:bodyPr>
            <a:lstStyle/>
            <a:p>
              <a:pPr algn="ctr"/>
              <a:r>
                <a:rPr lang="zh-CN" sz="680" b="1" dirty="0">
                  <a:solidFill>
                    <a:srgbClr val="E04C2E"/>
                  </a:solidFill>
                  <a:latin typeface="+mn-lt"/>
                  <a:ea typeface="+mn-ea"/>
                  <a:cs typeface="+mn-cs"/>
                </a:rPr>
                <a:t>127 / 208 个​</a:t>
              </a:r>
            </a:p>
          </p:txBody>
        </p:sp>
        <p:sp>
          <p:nvSpPr>
            <p:cNvPr id="70" name="Rectangle 70"/>
            <p:cNvSpPr/>
            <p:nvPr/>
          </p:nvSpPr>
          <p:spPr>
            <a:xfrm>
              <a:off x="1962150" y="4724400"/>
              <a:ext cx="762000" cy="1428750"/>
            </a:xfrm>
            <a:prstGeom prst="roundRect">
              <a:avLst>
                <a:gd name="adj" fmla="val 5000"/>
              </a:avLst>
            </a:prstGeom>
            <a:solidFill>
              <a:srgbClr val="F5F8FD"/>
            </a:solidFill>
            <a:ln w="9525">
              <a:solidFill>
                <a:srgbClr val="E3EAF5"/>
              </a:solidFill>
            </a:ln>
          </p:spPr>
        </p:sp>
        <p:sp>
          <p:nvSpPr>
            <p:cNvPr id="71" name="TextBox 71"/>
            <p:cNvSpPr txBox="1"/>
            <p:nvPr/>
          </p:nvSpPr>
          <p:spPr>
            <a:xfrm>
              <a:off x="2099437" y="4895136"/>
              <a:ext cx="487426"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投放转化率</a:t>
              </a:r>
            </a:p>
          </p:txBody>
        </p:sp>
        <p:sp>
          <p:nvSpPr>
            <p:cNvPr id="72" name="TextBox 72"/>
            <p:cNvSpPr txBox="1"/>
            <p:nvPr/>
          </p:nvSpPr>
          <p:spPr>
            <a:xfrm>
              <a:off x="1984654" y="5142071"/>
              <a:ext cx="716992" cy="278702"/>
            </a:xfrm>
            <a:prstGeom prst="rect">
              <a:avLst/>
            </a:prstGeom>
            <a:noFill/>
            <a:ln>
              <a:noFill/>
            </a:ln>
          </p:spPr>
          <p:txBody>
            <a:bodyPr wrap="none" lIns="0" tIns="0" rIns="0" bIns="0" anchor="t" anchorCtr="0">
              <a:spAutoFit/>
            </a:bodyPr>
            <a:lstStyle/>
            <a:p>
              <a:pPr algn="ctr"/>
              <a:r>
                <a:rPr lang="zh-CN" sz="1420" b="1" dirty="0">
                  <a:solidFill>
                    <a:srgbClr val="69281B"/>
                  </a:solidFill>
                  <a:latin typeface="+mn-lt"/>
                  <a:ea typeface="+mn-ea"/>
                  <a:cs typeface="+mn-cs"/>
                </a:rPr>
                <a:t>62.3%​</a:t>
              </a:r>
            </a:p>
          </p:txBody>
        </p:sp>
        <p:sp>
          <p:nvSpPr>
            <p:cNvPr id="73" name="TextBox 73"/>
            <p:cNvSpPr txBox="1"/>
            <p:nvPr/>
          </p:nvSpPr>
          <p:spPr>
            <a:xfrm>
              <a:off x="2073859" y="5497830"/>
              <a:ext cx="538582"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已投放/已审批</a:t>
              </a:r>
            </a:p>
          </p:txBody>
        </p:sp>
        <p:sp>
          <p:nvSpPr>
            <p:cNvPr id="74" name="TextBox 74"/>
            <p:cNvSpPr txBox="1"/>
            <p:nvPr/>
          </p:nvSpPr>
          <p:spPr>
            <a:xfrm>
              <a:off x="1929654" y="5642134"/>
              <a:ext cx="826991" cy="133350"/>
            </a:xfrm>
            <a:prstGeom prst="rect">
              <a:avLst/>
            </a:prstGeom>
            <a:noFill/>
            <a:ln>
              <a:noFill/>
            </a:ln>
          </p:spPr>
          <p:txBody>
            <a:bodyPr wrap="none" lIns="0" tIns="0" rIns="0" bIns="0" anchor="t" anchorCtr="0">
              <a:spAutoFit/>
            </a:bodyPr>
            <a:lstStyle/>
            <a:p>
              <a:pPr algn="ctr"/>
              <a:r>
                <a:rPr lang="zh-CN" sz="680" b="1" dirty="0">
                  <a:solidFill>
                    <a:srgbClr val="E04C2E"/>
                  </a:solidFill>
                  <a:latin typeface="+mn-lt"/>
                  <a:ea typeface="+mn-ea"/>
                  <a:cs typeface="+mn-cs"/>
                </a:rPr>
                <a:t>172.2/276.4亿元​</a:t>
              </a:r>
            </a:p>
          </p:txBody>
        </p:sp>
        <p:sp>
          <p:nvSpPr>
            <p:cNvPr id="75" name="TextBox 75"/>
            <p:cNvSpPr txBox="1"/>
            <p:nvPr/>
          </p:nvSpPr>
          <p:spPr>
            <a:xfrm>
              <a:off x="319088" y="6179582"/>
              <a:ext cx="1301877"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注：闭环各环节说明为示例表述。</a:t>
              </a:r>
            </a:p>
          </p:txBody>
        </p:sp>
      </p:grpSp>
      <p:grpSp>
        <p:nvGrpSpPr>
          <p:cNvPr id="126" name="map-board"/>
          <p:cNvGrpSpPr/>
          <p:nvPr/>
        </p:nvGrpSpPr>
        <p:grpSpPr>
          <a:xfrm>
            <a:off x="2914650" y="685800"/>
            <a:ext cx="5905500" cy="3390900"/>
            <a:chOff x="2914650" y="685800"/>
            <a:chExt cx="5905500" cy="3390900"/>
          </a:xfrm>
        </p:grpSpPr>
        <p:sp>
          <p:nvSpPr>
            <p:cNvPr id="77" name="Rectangle 77"/>
            <p:cNvSpPr/>
            <p:nvPr/>
          </p:nvSpPr>
          <p:spPr>
            <a:xfrm>
              <a:off x="2914650" y="685800"/>
              <a:ext cx="5905500" cy="3390900"/>
            </a:xfrm>
            <a:prstGeom prst="roundRect">
              <a:avLst>
                <a:gd name="adj" fmla="val 1685"/>
              </a:avLst>
            </a:prstGeom>
            <a:solidFill>
              <a:srgbClr val="FFFFFF"/>
            </a:solidFill>
            <a:ln w="9525">
              <a:solidFill>
                <a:srgbClr val="C9D6E9"/>
              </a:solidFill>
            </a:ln>
          </p:spPr>
        </p:sp>
        <p:sp>
          <p:nvSpPr>
            <p:cNvPr id="78" name="Rectangle 78"/>
            <p:cNvSpPr/>
            <p:nvPr/>
          </p:nvSpPr>
          <p:spPr>
            <a:xfrm>
              <a:off x="2914650" y="685800"/>
              <a:ext cx="5905500" cy="247650"/>
            </a:xfrm>
            <a:prstGeom prst="roundRect">
              <a:avLst>
                <a:gd name="adj" fmla="val 23077"/>
              </a:avLst>
            </a:prstGeom>
            <a:solidFill>
              <a:srgbClr val="69281B"/>
            </a:solidFill>
            <a:ln>
              <a:noFill/>
            </a:ln>
          </p:spPr>
        </p:sp>
        <p:sp>
          <p:nvSpPr>
            <p:cNvPr id="79" name="Rectangle 79"/>
            <p:cNvSpPr/>
            <p:nvPr/>
          </p:nvSpPr>
          <p:spPr>
            <a:xfrm>
              <a:off x="2914650" y="838200"/>
              <a:ext cx="5905500" cy="95250"/>
            </a:xfrm>
            <a:prstGeom prst="rect">
              <a:avLst/>
            </a:prstGeom>
            <a:solidFill>
              <a:srgbClr val="69281B"/>
            </a:solidFill>
            <a:ln>
              <a:noFill/>
            </a:ln>
          </p:spPr>
        </p:sp>
        <p:sp>
          <p:nvSpPr>
            <p:cNvPr id="80" name="TextBox 80"/>
            <p:cNvSpPr txBox="1"/>
            <p:nvPr/>
          </p:nvSpPr>
          <p:spPr>
            <a:xfrm>
              <a:off x="5040109" y="756047"/>
              <a:ext cx="165458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重大项目储备地图式分布看板</a:t>
              </a:r>
            </a:p>
          </p:txBody>
        </p:sp>
        <p:grpSp>
          <p:nvGrpSpPr>
            <p:cNvPr id="84" name="map-blobs"/>
            <p:cNvGrpSpPr/>
            <p:nvPr/>
          </p:nvGrpSpPr>
          <p:grpSpPr>
            <a:xfrm>
              <a:off x="3810000" y="1047750"/>
              <a:ext cx="4762500" cy="2095500"/>
              <a:chOff x="3810000" y="1047750"/>
              <a:chExt cx="4762500" cy="2095500"/>
            </a:xfrm>
          </p:grpSpPr>
          <p:sp>
            <p:nvSpPr>
              <p:cNvPr id="81" name="Freeform 81"/>
              <p:cNvSpPr/>
              <p:nvPr/>
            </p:nvSpPr>
            <p:spPr>
              <a:xfrm>
                <a:off x="3810000" y="1333500"/>
                <a:ext cx="2095500" cy="1809750"/>
              </a:xfrm>
              <a:custGeom>
                <a:avLst/>
                <a:gdLst/>
                <a:ahLst/>
                <a:cxnLst/>
                <a:rect l="l" t="t" r="r" b="b"/>
                <a:pathLst>
                  <a:path w="2095500" h="1809750">
                    <a:moveTo>
                      <a:pt x="0" y="381000"/>
                    </a:moveTo>
                    <a:lnTo>
                      <a:pt x="666750" y="0"/>
                    </a:lnTo>
                    <a:lnTo>
                      <a:pt x="1524000" y="95250"/>
                    </a:lnTo>
                    <a:lnTo>
                      <a:pt x="2000250" y="476250"/>
                    </a:lnTo>
                    <a:lnTo>
                      <a:pt x="1714500" y="1047750"/>
                    </a:lnTo>
                    <a:lnTo>
                      <a:pt x="2095500" y="1524000"/>
                    </a:lnTo>
                    <a:lnTo>
                      <a:pt x="1333500" y="1809750"/>
                    </a:lnTo>
                    <a:lnTo>
                      <a:pt x="571500" y="1619250"/>
                    </a:lnTo>
                    <a:lnTo>
                      <a:pt x="95250" y="1143000"/>
                    </a:lnTo>
                    <a:close/>
                  </a:path>
                </a:pathLst>
              </a:custGeom>
              <a:solidFill>
                <a:srgbClr val="EE8E7A"/>
              </a:solidFill>
              <a:ln>
                <a:noFill/>
              </a:ln>
            </p:spPr>
          </p:sp>
          <p:sp>
            <p:nvSpPr>
              <p:cNvPr id="82" name="Freeform 82"/>
              <p:cNvSpPr/>
              <p:nvPr/>
            </p:nvSpPr>
            <p:spPr>
              <a:xfrm>
                <a:off x="5810250" y="1047750"/>
                <a:ext cx="2000250" cy="1809750"/>
              </a:xfrm>
              <a:custGeom>
                <a:avLst/>
                <a:gdLst/>
                <a:ahLst/>
                <a:cxnLst/>
                <a:rect l="l" t="t" r="r" b="b"/>
                <a:pathLst>
                  <a:path w="2000250" h="1809750">
                    <a:moveTo>
                      <a:pt x="95250" y="190500"/>
                    </a:moveTo>
                    <a:lnTo>
                      <a:pt x="857250" y="0"/>
                    </a:lnTo>
                    <a:lnTo>
                      <a:pt x="1619250" y="285750"/>
                    </a:lnTo>
                    <a:lnTo>
                      <a:pt x="2000250" y="857250"/>
                    </a:lnTo>
                    <a:lnTo>
                      <a:pt x="1619250" y="1524000"/>
                    </a:lnTo>
                    <a:lnTo>
                      <a:pt x="857250" y="1809750"/>
                    </a:lnTo>
                    <a:lnTo>
                      <a:pt x="285750" y="1619250"/>
                    </a:lnTo>
                    <a:lnTo>
                      <a:pt x="0" y="1143000"/>
                    </a:lnTo>
                    <a:lnTo>
                      <a:pt x="190500" y="666750"/>
                    </a:lnTo>
                    <a:close/>
                  </a:path>
                </a:pathLst>
              </a:custGeom>
              <a:solidFill>
                <a:srgbClr val="EEB4A8"/>
              </a:solidFill>
              <a:ln>
                <a:noFill/>
              </a:ln>
            </p:spPr>
          </p:sp>
          <p:sp>
            <p:nvSpPr>
              <p:cNvPr id="83" name="Freeform 83"/>
              <p:cNvSpPr/>
              <p:nvPr/>
            </p:nvSpPr>
            <p:spPr>
              <a:xfrm>
                <a:off x="7524750" y="1238250"/>
                <a:ext cx="1047750" cy="1333500"/>
              </a:xfrm>
              <a:custGeom>
                <a:avLst/>
                <a:gdLst/>
                <a:ahLst/>
                <a:cxnLst/>
                <a:rect l="l" t="t" r="r" b="b"/>
                <a:pathLst>
                  <a:path w="1047750" h="1333500">
                    <a:moveTo>
                      <a:pt x="0" y="190500"/>
                    </a:moveTo>
                    <a:lnTo>
                      <a:pt x="571500" y="0"/>
                    </a:lnTo>
                    <a:lnTo>
                      <a:pt x="1047750" y="381000"/>
                    </a:lnTo>
                    <a:lnTo>
                      <a:pt x="952500" y="1047750"/>
                    </a:lnTo>
                    <a:lnTo>
                      <a:pt x="476250" y="1333500"/>
                    </a:lnTo>
                    <a:lnTo>
                      <a:pt x="95250" y="952500"/>
                    </a:lnTo>
                    <a:close/>
                  </a:path>
                </a:pathLst>
              </a:custGeom>
              <a:solidFill>
                <a:srgbClr val="C9D6E9"/>
              </a:solidFill>
              <a:ln>
                <a:noFill/>
              </a:ln>
            </p:spPr>
          </p:sp>
        </p:grpSp>
        <p:sp>
          <p:nvSpPr>
            <p:cNvPr id="85" name="Ellipse 85"/>
            <p:cNvSpPr/>
            <p:nvPr/>
          </p:nvSpPr>
          <p:spPr>
            <a:xfrm>
              <a:off x="4438650" y="2343150"/>
              <a:ext cx="76200" cy="76200"/>
            </a:xfrm>
            <a:prstGeom prst="ellipse">
              <a:avLst/>
            </a:prstGeom>
            <a:solidFill>
              <a:srgbClr val="5C2216"/>
            </a:solidFill>
            <a:ln>
              <a:noFill/>
            </a:ln>
          </p:spPr>
        </p:sp>
        <p:sp>
          <p:nvSpPr>
            <p:cNvPr id="86" name="Rectangle 86"/>
            <p:cNvSpPr/>
            <p:nvPr/>
          </p:nvSpPr>
          <p:spPr>
            <a:xfrm>
              <a:off x="3067050" y="1866900"/>
              <a:ext cx="1066800" cy="552450"/>
            </a:xfrm>
            <a:prstGeom prst="roundRect">
              <a:avLst>
                <a:gd name="adj" fmla="val 6897"/>
              </a:avLst>
            </a:prstGeom>
            <a:solidFill>
              <a:srgbClr val="FFFFFF"/>
            </a:solidFill>
            <a:ln w="9525">
              <a:solidFill>
                <a:srgbClr val="EBC1B8"/>
              </a:solidFill>
            </a:ln>
          </p:spPr>
        </p:sp>
        <p:sp>
          <p:nvSpPr>
            <p:cNvPr id="87" name="TextBox 87"/>
            <p:cNvSpPr txBox="1"/>
            <p:nvPr/>
          </p:nvSpPr>
          <p:spPr>
            <a:xfrm>
              <a:off x="3157538" y="19764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区级项目</a:t>
              </a:r>
            </a:p>
          </p:txBody>
        </p:sp>
        <p:sp>
          <p:nvSpPr>
            <p:cNvPr id="88" name="TextBox 88"/>
            <p:cNvSpPr txBox="1"/>
            <p:nvPr/>
          </p:nvSpPr>
          <p:spPr>
            <a:xfrm>
              <a:off x="3155823" y="2186464"/>
              <a:ext cx="566242" cy="249364"/>
            </a:xfrm>
            <a:prstGeom prst="rect">
              <a:avLst/>
            </a:prstGeom>
            <a:noFill/>
            <a:ln>
              <a:noFill/>
            </a:ln>
          </p:spPr>
          <p:txBody>
            <a:bodyPr wrap="none" lIns="0" tIns="0" rIns="0" bIns="0" anchor="t" anchorCtr="0">
              <a:spAutoFit/>
            </a:bodyPr>
            <a:lstStyle/>
            <a:p>
              <a:pPr algn="l"/>
              <a:r>
                <a:rPr lang="zh-CN" sz="1280" b="1" dirty="0">
                  <a:solidFill>
                    <a:srgbClr val="5C2216"/>
                  </a:solidFill>
                  <a:latin typeface="+mn-lt"/>
                  <a:ea typeface="+mn-ea"/>
                  <a:cs typeface="+mn-cs"/>
                </a:rPr>
                <a:t xml:space="preserve">128 </a:t>
              </a:r>
              <a:r>
                <a:rPr lang="zh-CN" sz="750" dirty="0">
                  <a:solidFill>
                    <a:srgbClr val="5C2216"/>
                  </a:solidFill>
                  <a:latin typeface="+mn-lt"/>
                  <a:ea typeface="+mn-ea"/>
                  <a:cs typeface="+mn-cs"/>
                </a:rPr>
                <a:t>个</a:t>
              </a:r>
              <a:r>
                <a:rPr lang="zh-CN" sz="1280" b="1" dirty="0">
                  <a:solidFill>
                    <a:srgbClr val="5C2216"/>
                  </a:solidFill>
                  <a:latin typeface="+mn-lt"/>
                  <a:ea typeface="+mn-ea"/>
                  <a:cs typeface="+mn-cs"/>
                </a:rPr>
                <a:t>​</a:t>
              </a:r>
            </a:p>
          </p:txBody>
        </p:sp>
        <p:grpSp>
          <p:nvGrpSpPr>
            <p:cNvPr id="97" name="Group 97"/>
            <p:cNvGrpSpPr/>
            <p:nvPr/>
          </p:nvGrpSpPr>
          <p:grpSpPr>
            <a:xfrm>
              <a:off x="3874294" y="2140744"/>
              <a:ext cx="157956" cy="166687"/>
              <a:chOff x="3874294" y="2140744"/>
              <a:chExt cx="157956" cy="166687"/>
            </a:xfrm>
          </p:grpSpPr>
          <p:sp>
            <p:nvSpPr>
              <p:cNvPr id="89" name="Freeform 89"/>
              <p:cNvSpPr/>
              <p:nvPr/>
            </p:nvSpPr>
            <p:spPr>
              <a:xfrm>
                <a:off x="3874294" y="2297906"/>
                <a:ext cx="157163" cy="9525"/>
              </a:xfrm>
              <a:custGeom>
                <a:avLst/>
                <a:gdLst/>
                <a:ahLst/>
                <a:cxnLst/>
                <a:rect l="l" t="t" r="r" b="b"/>
                <a:pathLst>
                  <a:path w="157163" h="9525">
                    <a:moveTo>
                      <a:pt x="0" y="0"/>
                    </a:moveTo>
                    <a:lnTo>
                      <a:pt x="157163" y="0"/>
                    </a:lnTo>
                  </a:path>
                </a:pathLst>
              </a:custGeom>
              <a:noFill/>
              <a:ln w="17463">
                <a:solidFill>
                  <a:srgbClr val="E8735B"/>
                </a:solidFill>
              </a:ln>
            </p:spPr>
          </p:sp>
          <p:sp>
            <p:nvSpPr>
              <p:cNvPr id="90" name="Freeform 90"/>
              <p:cNvSpPr/>
              <p:nvPr/>
            </p:nvSpPr>
            <p:spPr>
              <a:xfrm>
                <a:off x="3874294" y="2201863"/>
                <a:ext cx="157163" cy="9525"/>
              </a:xfrm>
              <a:custGeom>
                <a:avLst/>
                <a:gdLst/>
                <a:ahLst/>
                <a:cxnLst/>
                <a:rect l="l" t="t" r="r" b="b"/>
                <a:pathLst>
                  <a:path w="157163" h="9525">
                    <a:moveTo>
                      <a:pt x="0" y="0"/>
                    </a:moveTo>
                    <a:lnTo>
                      <a:pt x="157163" y="0"/>
                    </a:lnTo>
                  </a:path>
                </a:pathLst>
              </a:custGeom>
              <a:noFill/>
              <a:ln w="17463">
                <a:solidFill>
                  <a:srgbClr val="E8735B"/>
                </a:solidFill>
              </a:ln>
            </p:spPr>
          </p:sp>
          <p:sp>
            <p:nvSpPr>
              <p:cNvPr id="91" name="Freeform 91"/>
              <p:cNvSpPr/>
              <p:nvPr/>
            </p:nvSpPr>
            <p:spPr>
              <a:xfrm>
                <a:off x="3891756" y="2140744"/>
                <a:ext cx="122238" cy="26194"/>
              </a:xfrm>
              <a:custGeom>
                <a:avLst/>
                <a:gdLst/>
                <a:ahLst/>
                <a:cxnLst/>
                <a:rect l="l" t="t" r="r" b="b"/>
                <a:pathLst>
                  <a:path w="122238" h="26194">
                    <a:moveTo>
                      <a:pt x="0" y="26194"/>
                    </a:moveTo>
                    <a:lnTo>
                      <a:pt x="61119" y="0"/>
                    </a:lnTo>
                    <a:lnTo>
                      <a:pt x="122238" y="26194"/>
                    </a:lnTo>
                  </a:path>
                </a:pathLst>
              </a:custGeom>
              <a:noFill/>
              <a:ln w="17463">
                <a:solidFill>
                  <a:srgbClr val="E8735B"/>
                </a:solidFill>
              </a:ln>
            </p:spPr>
          </p:sp>
          <p:sp>
            <p:nvSpPr>
              <p:cNvPr id="92" name="Freeform 92"/>
              <p:cNvSpPr/>
              <p:nvPr/>
            </p:nvSpPr>
            <p:spPr>
              <a:xfrm>
                <a:off x="3883025" y="2201863"/>
                <a:ext cx="9525" cy="96044"/>
              </a:xfrm>
              <a:custGeom>
                <a:avLst/>
                <a:gdLst/>
                <a:ahLst/>
                <a:cxnLst/>
                <a:rect l="l" t="t" r="r" b="b"/>
                <a:pathLst>
                  <a:path w="9525" h="96044">
                    <a:moveTo>
                      <a:pt x="0" y="0"/>
                    </a:moveTo>
                    <a:lnTo>
                      <a:pt x="0" y="96044"/>
                    </a:lnTo>
                  </a:path>
                </a:pathLst>
              </a:custGeom>
              <a:noFill/>
              <a:ln w="17463">
                <a:solidFill>
                  <a:srgbClr val="E8735B"/>
                </a:solidFill>
              </a:ln>
            </p:spPr>
          </p:sp>
          <p:sp>
            <p:nvSpPr>
              <p:cNvPr id="93" name="Freeform 93"/>
              <p:cNvSpPr/>
              <p:nvPr/>
            </p:nvSpPr>
            <p:spPr>
              <a:xfrm>
                <a:off x="4022725" y="2201863"/>
                <a:ext cx="9525" cy="96044"/>
              </a:xfrm>
              <a:custGeom>
                <a:avLst/>
                <a:gdLst/>
                <a:ahLst/>
                <a:cxnLst/>
                <a:rect l="l" t="t" r="r" b="b"/>
                <a:pathLst>
                  <a:path w="9525" h="96044">
                    <a:moveTo>
                      <a:pt x="0" y="0"/>
                    </a:moveTo>
                    <a:lnTo>
                      <a:pt x="0" y="96044"/>
                    </a:lnTo>
                  </a:path>
                </a:pathLst>
              </a:custGeom>
              <a:noFill/>
              <a:ln w="17463">
                <a:solidFill>
                  <a:srgbClr val="E8735B"/>
                </a:solidFill>
              </a:ln>
            </p:spPr>
          </p:sp>
          <p:sp>
            <p:nvSpPr>
              <p:cNvPr id="94" name="Freeform 94"/>
              <p:cNvSpPr/>
              <p:nvPr/>
            </p:nvSpPr>
            <p:spPr>
              <a:xfrm>
                <a:off x="3917950" y="2236788"/>
                <a:ext cx="9525" cy="26194"/>
              </a:xfrm>
              <a:custGeom>
                <a:avLst/>
                <a:gdLst/>
                <a:ahLst/>
                <a:cxnLst/>
                <a:rect l="l" t="t" r="r" b="b"/>
                <a:pathLst>
                  <a:path w="9525" h="26194">
                    <a:moveTo>
                      <a:pt x="0" y="0"/>
                    </a:moveTo>
                    <a:lnTo>
                      <a:pt x="0" y="26194"/>
                    </a:lnTo>
                  </a:path>
                </a:pathLst>
              </a:custGeom>
              <a:noFill/>
              <a:ln w="17463">
                <a:solidFill>
                  <a:srgbClr val="E8735B"/>
                </a:solidFill>
              </a:ln>
            </p:spPr>
          </p:sp>
          <p:sp>
            <p:nvSpPr>
              <p:cNvPr id="95" name="Freeform 95"/>
              <p:cNvSpPr/>
              <p:nvPr/>
            </p:nvSpPr>
            <p:spPr>
              <a:xfrm>
                <a:off x="3952875" y="2236788"/>
                <a:ext cx="9525" cy="26194"/>
              </a:xfrm>
              <a:custGeom>
                <a:avLst/>
                <a:gdLst/>
                <a:ahLst/>
                <a:cxnLst/>
                <a:rect l="l" t="t" r="r" b="b"/>
                <a:pathLst>
                  <a:path w="9525" h="26194">
                    <a:moveTo>
                      <a:pt x="0" y="0"/>
                    </a:moveTo>
                    <a:lnTo>
                      <a:pt x="0" y="26194"/>
                    </a:lnTo>
                  </a:path>
                </a:pathLst>
              </a:custGeom>
              <a:noFill/>
              <a:ln w="17463">
                <a:solidFill>
                  <a:srgbClr val="E8735B"/>
                </a:solidFill>
              </a:ln>
            </p:spPr>
          </p:sp>
          <p:sp>
            <p:nvSpPr>
              <p:cNvPr id="96" name="Freeform 96"/>
              <p:cNvSpPr/>
              <p:nvPr/>
            </p:nvSpPr>
            <p:spPr>
              <a:xfrm>
                <a:off x="3987800" y="2236788"/>
                <a:ext cx="9525" cy="26194"/>
              </a:xfrm>
              <a:custGeom>
                <a:avLst/>
                <a:gdLst/>
                <a:ahLst/>
                <a:cxnLst/>
                <a:rect l="l" t="t" r="r" b="b"/>
                <a:pathLst>
                  <a:path w="9525" h="26194">
                    <a:moveTo>
                      <a:pt x="0" y="0"/>
                    </a:moveTo>
                    <a:lnTo>
                      <a:pt x="0" y="26194"/>
                    </a:lnTo>
                  </a:path>
                </a:pathLst>
              </a:custGeom>
              <a:noFill/>
              <a:ln w="17463">
                <a:solidFill>
                  <a:srgbClr val="E8735B"/>
                </a:solidFill>
              </a:ln>
            </p:spPr>
          </p:sp>
        </p:grpSp>
        <p:sp>
          <p:nvSpPr>
            <p:cNvPr id="98" name="Ellipse 98"/>
            <p:cNvSpPr/>
            <p:nvPr/>
          </p:nvSpPr>
          <p:spPr>
            <a:xfrm>
              <a:off x="6629400" y="1485900"/>
              <a:ext cx="76200" cy="76200"/>
            </a:xfrm>
            <a:prstGeom prst="ellipse">
              <a:avLst/>
            </a:prstGeom>
            <a:solidFill>
              <a:srgbClr val="5C2216"/>
            </a:solidFill>
            <a:ln>
              <a:noFill/>
            </a:ln>
          </p:spPr>
        </p:sp>
        <p:sp>
          <p:nvSpPr>
            <p:cNvPr id="99" name="Rectangle 99"/>
            <p:cNvSpPr/>
            <p:nvPr/>
          </p:nvSpPr>
          <p:spPr>
            <a:xfrm>
              <a:off x="6153150" y="990600"/>
              <a:ext cx="1028700" cy="514350"/>
            </a:xfrm>
            <a:prstGeom prst="roundRect">
              <a:avLst>
                <a:gd name="adj" fmla="val 7407"/>
              </a:avLst>
            </a:prstGeom>
            <a:solidFill>
              <a:srgbClr val="FFFFFF"/>
            </a:solidFill>
            <a:ln w="9525">
              <a:solidFill>
                <a:srgbClr val="EBC1B8"/>
              </a:solidFill>
            </a:ln>
          </p:spPr>
        </p:sp>
        <p:sp>
          <p:nvSpPr>
            <p:cNvPr id="100" name="TextBox 100"/>
            <p:cNvSpPr txBox="1"/>
            <p:nvPr/>
          </p:nvSpPr>
          <p:spPr>
            <a:xfrm>
              <a:off x="6243638" y="11001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市级项目</a:t>
              </a:r>
            </a:p>
          </p:txBody>
        </p:sp>
        <p:sp>
          <p:nvSpPr>
            <p:cNvPr id="101" name="TextBox 101"/>
            <p:cNvSpPr txBox="1"/>
            <p:nvPr/>
          </p:nvSpPr>
          <p:spPr>
            <a:xfrm>
              <a:off x="6241923" y="1291114"/>
              <a:ext cx="466731" cy="249364"/>
            </a:xfrm>
            <a:prstGeom prst="rect">
              <a:avLst/>
            </a:prstGeom>
            <a:noFill/>
            <a:ln>
              <a:noFill/>
            </a:ln>
          </p:spPr>
          <p:txBody>
            <a:bodyPr wrap="none" lIns="0" tIns="0" rIns="0" bIns="0" anchor="t" anchorCtr="0">
              <a:spAutoFit/>
            </a:bodyPr>
            <a:lstStyle/>
            <a:p>
              <a:pPr algn="l"/>
              <a:r>
                <a:rPr lang="zh-CN" sz="1280" b="1" dirty="0">
                  <a:solidFill>
                    <a:srgbClr val="5C2216"/>
                  </a:solidFill>
                  <a:latin typeface="+mn-lt"/>
                  <a:ea typeface="+mn-ea"/>
                  <a:cs typeface="+mn-cs"/>
                </a:rPr>
                <a:t xml:space="preserve">56 </a:t>
              </a:r>
              <a:r>
                <a:rPr lang="zh-CN" sz="750" dirty="0">
                  <a:solidFill>
                    <a:srgbClr val="5C2216"/>
                  </a:solidFill>
                  <a:latin typeface="+mn-lt"/>
                  <a:ea typeface="+mn-ea"/>
                  <a:cs typeface="+mn-cs"/>
                </a:rPr>
                <a:t>个</a:t>
              </a:r>
              <a:r>
                <a:rPr lang="zh-CN" sz="1280" b="1" dirty="0">
                  <a:solidFill>
                    <a:srgbClr val="5C2216"/>
                  </a:solidFill>
                  <a:latin typeface="+mn-lt"/>
                  <a:ea typeface="+mn-ea"/>
                  <a:cs typeface="+mn-cs"/>
                </a:rPr>
                <a:t>​</a:t>
              </a:r>
            </a:p>
          </p:txBody>
        </p:sp>
        <p:grpSp>
          <p:nvGrpSpPr>
            <p:cNvPr id="105" name="Group 105"/>
            <p:cNvGrpSpPr/>
            <p:nvPr/>
          </p:nvGrpSpPr>
          <p:grpSpPr>
            <a:xfrm>
              <a:off x="6938962" y="1243012"/>
              <a:ext cx="142875" cy="142875"/>
              <a:chOff x="6938962" y="1243012"/>
              <a:chExt cx="142875" cy="142875"/>
            </a:xfrm>
          </p:grpSpPr>
          <p:sp>
            <p:nvSpPr>
              <p:cNvPr id="102" name="Freeform 102"/>
              <p:cNvSpPr/>
              <p:nvPr/>
            </p:nvSpPr>
            <p:spPr>
              <a:xfrm>
                <a:off x="6938962" y="124301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E8735B"/>
                </a:solidFill>
              </a:ln>
            </p:spPr>
          </p:sp>
          <p:sp>
            <p:nvSpPr>
              <p:cNvPr id="103" name="Freeform 103"/>
              <p:cNvSpPr/>
              <p:nvPr/>
            </p:nvSpPr>
            <p:spPr>
              <a:xfrm>
                <a:off x="6954837" y="131445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E8735B"/>
                </a:solidFill>
              </a:ln>
            </p:spPr>
          </p:sp>
          <p:sp>
            <p:nvSpPr>
              <p:cNvPr id="104" name="Freeform 104"/>
              <p:cNvSpPr/>
              <p:nvPr/>
            </p:nvSpPr>
            <p:spPr>
              <a:xfrm>
                <a:off x="6986587" y="132238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E8735B"/>
                </a:solidFill>
              </a:ln>
            </p:spPr>
          </p:sp>
        </p:grpSp>
        <p:sp>
          <p:nvSpPr>
            <p:cNvPr id="106" name="Ellipse 106"/>
            <p:cNvSpPr/>
            <p:nvPr/>
          </p:nvSpPr>
          <p:spPr>
            <a:xfrm>
              <a:off x="7981950" y="2057400"/>
              <a:ext cx="76200" cy="76200"/>
            </a:xfrm>
            <a:prstGeom prst="ellipse">
              <a:avLst/>
            </a:prstGeom>
            <a:solidFill>
              <a:srgbClr val="5C2216"/>
            </a:solidFill>
            <a:ln>
              <a:noFill/>
            </a:ln>
          </p:spPr>
        </p:sp>
        <p:sp>
          <p:nvSpPr>
            <p:cNvPr id="107" name="Rectangle 107"/>
            <p:cNvSpPr/>
            <p:nvPr/>
          </p:nvSpPr>
          <p:spPr>
            <a:xfrm>
              <a:off x="7905750" y="1866900"/>
              <a:ext cx="781050" cy="552450"/>
            </a:xfrm>
            <a:prstGeom prst="roundRect">
              <a:avLst>
                <a:gd name="adj" fmla="val 6897"/>
              </a:avLst>
            </a:prstGeom>
            <a:solidFill>
              <a:srgbClr val="FFFFFF"/>
            </a:solidFill>
            <a:ln w="9525">
              <a:solidFill>
                <a:srgbClr val="EBC1B8"/>
              </a:solidFill>
            </a:ln>
          </p:spPr>
        </p:sp>
        <p:sp>
          <p:nvSpPr>
            <p:cNvPr id="108" name="TextBox 108"/>
            <p:cNvSpPr txBox="1"/>
            <p:nvPr/>
          </p:nvSpPr>
          <p:spPr>
            <a:xfrm>
              <a:off x="7977188" y="1976438"/>
              <a:ext cx="514350"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产业园项目</a:t>
              </a:r>
            </a:p>
          </p:txBody>
        </p:sp>
        <p:sp>
          <p:nvSpPr>
            <p:cNvPr id="109" name="TextBox 109"/>
            <p:cNvSpPr txBox="1"/>
            <p:nvPr/>
          </p:nvSpPr>
          <p:spPr>
            <a:xfrm>
              <a:off x="7975473" y="2186464"/>
              <a:ext cx="466731" cy="249364"/>
            </a:xfrm>
            <a:prstGeom prst="rect">
              <a:avLst/>
            </a:prstGeom>
            <a:noFill/>
            <a:ln>
              <a:noFill/>
            </a:ln>
          </p:spPr>
          <p:txBody>
            <a:bodyPr wrap="none" lIns="0" tIns="0" rIns="0" bIns="0" anchor="t" anchorCtr="0">
              <a:spAutoFit/>
            </a:bodyPr>
            <a:lstStyle/>
            <a:p>
              <a:pPr algn="l"/>
              <a:r>
                <a:rPr lang="zh-CN" sz="1280" b="1" dirty="0">
                  <a:solidFill>
                    <a:srgbClr val="5C2216"/>
                  </a:solidFill>
                  <a:latin typeface="+mn-lt"/>
                  <a:ea typeface="+mn-ea"/>
                  <a:cs typeface="+mn-cs"/>
                </a:rPr>
                <a:t xml:space="preserve">42 </a:t>
              </a:r>
              <a:r>
                <a:rPr lang="zh-CN" sz="750" dirty="0">
                  <a:solidFill>
                    <a:srgbClr val="5C2216"/>
                  </a:solidFill>
                  <a:latin typeface="+mn-lt"/>
                  <a:ea typeface="+mn-ea"/>
                  <a:cs typeface="+mn-cs"/>
                </a:rPr>
                <a:t>个</a:t>
              </a:r>
              <a:r>
                <a:rPr lang="zh-CN" sz="1280" b="1" dirty="0">
                  <a:solidFill>
                    <a:srgbClr val="5C2216"/>
                  </a:solidFill>
                  <a:latin typeface="+mn-lt"/>
                  <a:ea typeface="+mn-ea"/>
                  <a:cs typeface="+mn-cs"/>
                </a:rPr>
                <a:t>​</a:t>
              </a:r>
            </a:p>
          </p:txBody>
        </p:sp>
        <p:sp>
          <p:nvSpPr>
            <p:cNvPr id="110" name="Rectangle 110"/>
            <p:cNvSpPr/>
            <p:nvPr/>
          </p:nvSpPr>
          <p:spPr>
            <a:xfrm>
              <a:off x="3067050" y="2933700"/>
              <a:ext cx="1333500" cy="990600"/>
            </a:xfrm>
            <a:prstGeom prst="roundRect">
              <a:avLst>
                <a:gd name="adj" fmla="val 3846"/>
              </a:avLst>
            </a:prstGeom>
            <a:solidFill>
              <a:srgbClr val="F5F8FD"/>
            </a:solidFill>
            <a:ln w="9525">
              <a:solidFill>
                <a:srgbClr val="E3EAF5"/>
              </a:solidFill>
            </a:ln>
          </p:spPr>
        </p:sp>
        <p:sp>
          <p:nvSpPr>
            <p:cNvPr id="111" name="TextBox 111"/>
            <p:cNvSpPr txBox="1"/>
            <p:nvPr/>
          </p:nvSpPr>
          <p:spPr>
            <a:xfrm>
              <a:off x="3426142" y="3081338"/>
              <a:ext cx="615315"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储备融资金额</a:t>
              </a:r>
            </a:p>
          </p:txBody>
        </p:sp>
        <p:sp>
          <p:nvSpPr>
            <p:cNvPr id="112" name="TextBox 112"/>
            <p:cNvSpPr txBox="1"/>
            <p:nvPr/>
          </p:nvSpPr>
          <p:spPr>
            <a:xfrm>
              <a:off x="3311923" y="3348514"/>
              <a:ext cx="843755" cy="249364"/>
            </a:xfrm>
            <a:prstGeom prst="rect">
              <a:avLst/>
            </a:prstGeom>
            <a:noFill/>
            <a:ln>
              <a:noFill/>
            </a:ln>
          </p:spPr>
          <p:txBody>
            <a:bodyPr wrap="none" lIns="0" tIns="0" rIns="0" bIns="0" anchor="t" anchorCtr="0">
              <a:spAutoFit/>
            </a:bodyPr>
            <a:lstStyle/>
            <a:p>
              <a:pPr algn="ctr"/>
              <a:r>
                <a:rPr lang="zh-CN" sz="1280" b="1" dirty="0">
                  <a:solidFill>
                    <a:srgbClr val="69281B"/>
                  </a:solidFill>
                  <a:latin typeface="+mn-lt"/>
                  <a:ea typeface="+mn-ea"/>
                  <a:cs typeface="+mn-cs"/>
                </a:rPr>
                <a:t>424.7</a:t>
              </a:r>
              <a:r>
                <a:rPr lang="zh-CN" sz="750" b="1" dirty="0">
                  <a:solidFill>
                    <a:srgbClr val="69281B"/>
                  </a:solidFill>
                  <a:latin typeface="+mn-lt"/>
                  <a:ea typeface="+mn-ea"/>
                  <a:cs typeface="+mn-cs"/>
                </a:rPr>
                <a:t xml:space="preserve"> 亿元</a:t>
              </a:r>
              <a:r>
                <a:rPr lang="zh-CN" sz="1280" b="1" dirty="0">
                  <a:solidFill>
                    <a:srgbClr val="69281B"/>
                  </a:solidFill>
                  <a:latin typeface="+mn-lt"/>
                  <a:ea typeface="+mn-ea"/>
                  <a:cs typeface="+mn-cs"/>
                </a:rPr>
                <a:t>​</a:t>
              </a:r>
            </a:p>
          </p:txBody>
        </p:sp>
        <p:sp>
          <p:nvSpPr>
            <p:cNvPr id="113" name="TextBox 113"/>
            <p:cNvSpPr txBox="1"/>
            <p:nvPr/>
          </p:nvSpPr>
          <p:spPr>
            <a:xfrm>
              <a:off x="3486722" y="3669030"/>
              <a:ext cx="494157"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（示例数据）</a:t>
              </a:r>
            </a:p>
          </p:txBody>
        </p:sp>
        <p:sp>
          <p:nvSpPr>
            <p:cNvPr id="114" name="Rectangle 114"/>
            <p:cNvSpPr/>
            <p:nvPr/>
          </p:nvSpPr>
          <p:spPr>
            <a:xfrm>
              <a:off x="4495800" y="2933700"/>
              <a:ext cx="1333500" cy="990600"/>
            </a:xfrm>
            <a:prstGeom prst="roundRect">
              <a:avLst>
                <a:gd name="adj" fmla="val 3846"/>
              </a:avLst>
            </a:prstGeom>
            <a:solidFill>
              <a:srgbClr val="F5F8FD"/>
            </a:solidFill>
            <a:ln w="9525">
              <a:solidFill>
                <a:srgbClr val="E3EAF5"/>
              </a:solidFill>
            </a:ln>
          </p:spPr>
        </p:sp>
        <p:sp>
          <p:nvSpPr>
            <p:cNvPr id="115" name="TextBox 115"/>
            <p:cNvSpPr txBox="1"/>
            <p:nvPr/>
          </p:nvSpPr>
          <p:spPr>
            <a:xfrm>
              <a:off x="4854892" y="3081338"/>
              <a:ext cx="615315"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已批融资金额</a:t>
              </a:r>
            </a:p>
          </p:txBody>
        </p:sp>
        <p:sp>
          <p:nvSpPr>
            <p:cNvPr id="116" name="TextBox 116"/>
            <p:cNvSpPr txBox="1"/>
            <p:nvPr/>
          </p:nvSpPr>
          <p:spPr>
            <a:xfrm>
              <a:off x="4740673" y="3348514"/>
              <a:ext cx="843755" cy="249364"/>
            </a:xfrm>
            <a:prstGeom prst="rect">
              <a:avLst/>
            </a:prstGeom>
            <a:noFill/>
            <a:ln>
              <a:noFill/>
            </a:ln>
          </p:spPr>
          <p:txBody>
            <a:bodyPr wrap="none" lIns="0" tIns="0" rIns="0" bIns="0" anchor="t" anchorCtr="0">
              <a:spAutoFit/>
            </a:bodyPr>
            <a:lstStyle/>
            <a:p>
              <a:pPr algn="ctr"/>
              <a:r>
                <a:rPr lang="zh-CN" sz="1280" b="1" dirty="0">
                  <a:solidFill>
                    <a:srgbClr val="69281B"/>
                  </a:solidFill>
                  <a:latin typeface="+mn-lt"/>
                  <a:ea typeface="+mn-ea"/>
                  <a:cs typeface="+mn-cs"/>
                </a:rPr>
                <a:t>276.4</a:t>
              </a:r>
              <a:r>
                <a:rPr lang="zh-CN" sz="750" b="1" dirty="0">
                  <a:solidFill>
                    <a:srgbClr val="69281B"/>
                  </a:solidFill>
                  <a:latin typeface="+mn-lt"/>
                  <a:ea typeface="+mn-ea"/>
                  <a:cs typeface="+mn-cs"/>
                </a:rPr>
                <a:t xml:space="preserve"> 亿元</a:t>
              </a:r>
              <a:r>
                <a:rPr lang="zh-CN" sz="1280" b="1" dirty="0">
                  <a:solidFill>
                    <a:srgbClr val="69281B"/>
                  </a:solidFill>
                  <a:latin typeface="+mn-lt"/>
                  <a:ea typeface="+mn-ea"/>
                  <a:cs typeface="+mn-cs"/>
                </a:rPr>
                <a:t>​</a:t>
              </a:r>
            </a:p>
          </p:txBody>
        </p:sp>
        <p:sp>
          <p:nvSpPr>
            <p:cNvPr id="117" name="TextBox 117"/>
            <p:cNvSpPr txBox="1"/>
            <p:nvPr/>
          </p:nvSpPr>
          <p:spPr>
            <a:xfrm>
              <a:off x="4915471" y="3669030"/>
              <a:ext cx="494157"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（示例数据）</a:t>
              </a:r>
            </a:p>
          </p:txBody>
        </p:sp>
        <p:sp>
          <p:nvSpPr>
            <p:cNvPr id="118" name="Rectangle 118"/>
            <p:cNvSpPr/>
            <p:nvPr/>
          </p:nvSpPr>
          <p:spPr>
            <a:xfrm>
              <a:off x="5924550" y="2933700"/>
              <a:ext cx="1333500" cy="990600"/>
            </a:xfrm>
            <a:prstGeom prst="roundRect">
              <a:avLst>
                <a:gd name="adj" fmla="val 3846"/>
              </a:avLst>
            </a:prstGeom>
            <a:solidFill>
              <a:srgbClr val="F5F8FD"/>
            </a:solidFill>
            <a:ln w="9525">
              <a:solidFill>
                <a:srgbClr val="E3EAF5"/>
              </a:solidFill>
            </a:ln>
          </p:spPr>
        </p:sp>
        <p:sp>
          <p:nvSpPr>
            <p:cNvPr id="119" name="TextBox 119"/>
            <p:cNvSpPr txBox="1"/>
            <p:nvPr/>
          </p:nvSpPr>
          <p:spPr>
            <a:xfrm>
              <a:off x="6334125" y="3081338"/>
              <a:ext cx="51435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已投放金额</a:t>
              </a:r>
            </a:p>
          </p:txBody>
        </p:sp>
        <p:sp>
          <p:nvSpPr>
            <p:cNvPr id="120" name="TextBox 120"/>
            <p:cNvSpPr txBox="1"/>
            <p:nvPr/>
          </p:nvSpPr>
          <p:spPr>
            <a:xfrm>
              <a:off x="6169423" y="3348514"/>
              <a:ext cx="843755" cy="249364"/>
            </a:xfrm>
            <a:prstGeom prst="rect">
              <a:avLst/>
            </a:prstGeom>
            <a:noFill/>
            <a:ln>
              <a:noFill/>
            </a:ln>
          </p:spPr>
          <p:txBody>
            <a:bodyPr wrap="none" lIns="0" tIns="0" rIns="0" bIns="0" anchor="t" anchorCtr="0">
              <a:spAutoFit/>
            </a:bodyPr>
            <a:lstStyle/>
            <a:p>
              <a:pPr algn="ctr"/>
              <a:r>
                <a:rPr lang="zh-CN" sz="1280" b="1" dirty="0">
                  <a:solidFill>
                    <a:srgbClr val="69281B"/>
                  </a:solidFill>
                  <a:latin typeface="+mn-lt"/>
                  <a:ea typeface="+mn-ea"/>
                  <a:cs typeface="+mn-cs"/>
                </a:rPr>
                <a:t>172.2</a:t>
              </a:r>
              <a:r>
                <a:rPr lang="zh-CN" sz="750" b="1" dirty="0">
                  <a:solidFill>
                    <a:srgbClr val="69281B"/>
                  </a:solidFill>
                  <a:latin typeface="+mn-lt"/>
                  <a:ea typeface="+mn-ea"/>
                  <a:cs typeface="+mn-cs"/>
                </a:rPr>
                <a:t xml:space="preserve"> 亿元</a:t>
              </a:r>
              <a:r>
                <a:rPr lang="zh-CN" sz="1280" b="1" dirty="0">
                  <a:solidFill>
                    <a:srgbClr val="69281B"/>
                  </a:solidFill>
                  <a:latin typeface="+mn-lt"/>
                  <a:ea typeface="+mn-ea"/>
                  <a:cs typeface="+mn-cs"/>
                </a:rPr>
                <a:t>​</a:t>
              </a:r>
            </a:p>
          </p:txBody>
        </p:sp>
        <p:sp>
          <p:nvSpPr>
            <p:cNvPr id="121" name="TextBox 121"/>
            <p:cNvSpPr txBox="1"/>
            <p:nvPr/>
          </p:nvSpPr>
          <p:spPr>
            <a:xfrm>
              <a:off x="6344221" y="3669030"/>
              <a:ext cx="494157"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（示例数据）</a:t>
              </a:r>
            </a:p>
          </p:txBody>
        </p:sp>
        <p:sp>
          <p:nvSpPr>
            <p:cNvPr id="122" name="Rectangle 122"/>
            <p:cNvSpPr/>
            <p:nvPr/>
          </p:nvSpPr>
          <p:spPr>
            <a:xfrm>
              <a:off x="7353300" y="2933700"/>
              <a:ext cx="1333500" cy="990600"/>
            </a:xfrm>
            <a:prstGeom prst="roundRect">
              <a:avLst>
                <a:gd name="adj" fmla="val 3846"/>
              </a:avLst>
            </a:prstGeom>
            <a:solidFill>
              <a:srgbClr val="F5F8FD"/>
            </a:solidFill>
            <a:ln w="9525">
              <a:solidFill>
                <a:srgbClr val="E3EAF5"/>
              </a:solidFill>
            </a:ln>
          </p:spPr>
        </p:sp>
        <p:sp>
          <p:nvSpPr>
            <p:cNvPr id="123" name="TextBox 123"/>
            <p:cNvSpPr txBox="1"/>
            <p:nvPr/>
          </p:nvSpPr>
          <p:spPr>
            <a:xfrm>
              <a:off x="7762875" y="3081338"/>
              <a:ext cx="51435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投放转化率</a:t>
              </a:r>
            </a:p>
          </p:txBody>
        </p:sp>
        <p:sp>
          <p:nvSpPr>
            <p:cNvPr id="124" name="TextBox 124"/>
            <p:cNvSpPr txBox="1"/>
            <p:nvPr/>
          </p:nvSpPr>
          <p:spPr>
            <a:xfrm>
              <a:off x="7696947" y="3348514"/>
              <a:ext cx="646206" cy="249364"/>
            </a:xfrm>
            <a:prstGeom prst="rect">
              <a:avLst/>
            </a:prstGeom>
            <a:noFill/>
            <a:ln>
              <a:noFill/>
            </a:ln>
          </p:spPr>
          <p:txBody>
            <a:bodyPr wrap="none" lIns="0" tIns="0" rIns="0" bIns="0" anchor="t" anchorCtr="0">
              <a:spAutoFit/>
            </a:bodyPr>
            <a:lstStyle/>
            <a:p>
              <a:pPr algn="ctr"/>
              <a:r>
                <a:rPr lang="zh-CN" sz="1280" b="1" dirty="0">
                  <a:solidFill>
                    <a:srgbClr val="E04C2E"/>
                  </a:solidFill>
                  <a:latin typeface="+mn-lt"/>
                  <a:ea typeface="+mn-ea"/>
                  <a:cs typeface="+mn-cs"/>
                </a:rPr>
                <a:t>62.3%​</a:t>
              </a:r>
            </a:p>
          </p:txBody>
        </p:sp>
        <p:sp>
          <p:nvSpPr>
            <p:cNvPr id="125" name="TextBox 125"/>
            <p:cNvSpPr txBox="1"/>
            <p:nvPr/>
          </p:nvSpPr>
          <p:spPr>
            <a:xfrm>
              <a:off x="7772971" y="3669030"/>
              <a:ext cx="494157"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（示例数据）</a:t>
              </a:r>
            </a:p>
          </p:txBody>
        </p:sp>
      </p:grpSp>
      <p:grpSp>
        <p:nvGrpSpPr>
          <p:cNvPr id="204" name="push-table"/>
          <p:cNvGrpSpPr/>
          <p:nvPr/>
        </p:nvGrpSpPr>
        <p:grpSpPr>
          <a:xfrm>
            <a:off x="2914650" y="4152900"/>
            <a:ext cx="5905500" cy="2514600"/>
            <a:chOff x="2914650" y="4152900"/>
            <a:chExt cx="5905500" cy="2514600"/>
          </a:xfrm>
        </p:grpSpPr>
        <p:sp>
          <p:nvSpPr>
            <p:cNvPr id="127" name="Rectangle 127"/>
            <p:cNvSpPr/>
            <p:nvPr/>
          </p:nvSpPr>
          <p:spPr>
            <a:xfrm>
              <a:off x="2914650" y="4152900"/>
              <a:ext cx="5905500" cy="2514600"/>
            </a:xfrm>
            <a:prstGeom prst="roundRect">
              <a:avLst>
                <a:gd name="adj" fmla="val 2273"/>
              </a:avLst>
            </a:prstGeom>
            <a:solidFill>
              <a:srgbClr val="FFFFFF"/>
            </a:solidFill>
            <a:ln w="9525">
              <a:solidFill>
                <a:srgbClr val="C9D6E9"/>
              </a:solidFill>
            </a:ln>
          </p:spPr>
        </p:sp>
        <p:sp>
          <p:nvSpPr>
            <p:cNvPr id="128" name="Rectangle 128"/>
            <p:cNvSpPr/>
            <p:nvPr/>
          </p:nvSpPr>
          <p:spPr>
            <a:xfrm>
              <a:off x="2914650" y="4152900"/>
              <a:ext cx="5905500" cy="228600"/>
            </a:xfrm>
            <a:prstGeom prst="roundRect">
              <a:avLst>
                <a:gd name="adj" fmla="val 25000"/>
              </a:avLst>
            </a:prstGeom>
            <a:solidFill>
              <a:srgbClr val="69281B"/>
            </a:solidFill>
            <a:ln>
              <a:noFill/>
            </a:ln>
          </p:spPr>
        </p:sp>
        <p:sp>
          <p:nvSpPr>
            <p:cNvPr id="129" name="Rectangle 129"/>
            <p:cNvSpPr/>
            <p:nvPr/>
          </p:nvSpPr>
          <p:spPr>
            <a:xfrm>
              <a:off x="2914650" y="4286250"/>
              <a:ext cx="5905500" cy="95250"/>
            </a:xfrm>
            <a:prstGeom prst="rect">
              <a:avLst/>
            </a:prstGeom>
            <a:solidFill>
              <a:srgbClr val="69281B"/>
            </a:solidFill>
            <a:ln>
              <a:noFill/>
            </a:ln>
          </p:spPr>
        </p:sp>
        <p:sp>
          <p:nvSpPr>
            <p:cNvPr id="130" name="TextBox 130"/>
            <p:cNvSpPr txBox="1"/>
            <p:nvPr/>
          </p:nvSpPr>
          <p:spPr>
            <a:xfrm>
              <a:off x="5438584" y="4217670"/>
              <a:ext cx="85763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重点项目推进表</a:t>
              </a:r>
            </a:p>
          </p:txBody>
        </p:sp>
        <p:sp>
          <p:nvSpPr>
            <p:cNvPr id="131" name="Rectangle 131"/>
            <p:cNvSpPr/>
            <p:nvPr/>
          </p:nvSpPr>
          <p:spPr>
            <a:xfrm>
              <a:off x="2990850" y="4381500"/>
              <a:ext cx="5753100" cy="190500"/>
            </a:xfrm>
            <a:prstGeom prst="rect">
              <a:avLst/>
            </a:prstGeom>
            <a:solidFill>
              <a:srgbClr val="EAF1FB"/>
            </a:solidFill>
            <a:ln>
              <a:noFill/>
            </a:ln>
          </p:spPr>
        </p:sp>
        <p:sp>
          <p:nvSpPr>
            <p:cNvPr id="132" name="TextBox 132"/>
            <p:cNvSpPr txBox="1"/>
            <p:nvPr/>
          </p:nvSpPr>
          <p:spPr>
            <a:xfrm>
              <a:off x="3045498" y="4448461"/>
              <a:ext cx="176454" cy="121920"/>
            </a:xfrm>
            <a:prstGeom prst="rect">
              <a:avLst/>
            </a:prstGeom>
            <a:noFill/>
            <a:ln>
              <a:noFill/>
            </a:ln>
          </p:spPr>
          <p:txBody>
            <a:bodyPr wrap="none" lIns="0" tIns="0" rIns="0" bIns="0" anchor="t" anchorCtr="0">
              <a:spAutoFit/>
            </a:bodyPr>
            <a:lstStyle/>
            <a:p>
              <a:pPr algn="ctr"/>
              <a:r>
                <a:rPr lang="zh-CN" sz="620" b="1" dirty="0">
                  <a:solidFill>
                    <a:srgbClr val="69281B"/>
                  </a:solidFill>
                  <a:latin typeface="+mn-lt"/>
                  <a:ea typeface="+mn-ea"/>
                  <a:cs typeface="+mn-cs"/>
                </a:rPr>
                <a:t>序号</a:t>
              </a:r>
            </a:p>
          </p:txBody>
        </p:sp>
        <p:sp>
          <p:nvSpPr>
            <p:cNvPr id="133" name="TextBox 133"/>
            <p:cNvSpPr txBox="1"/>
            <p:nvPr/>
          </p:nvSpPr>
          <p:spPr>
            <a:xfrm>
              <a:off x="3819284" y="4448461"/>
              <a:ext cx="343383" cy="121920"/>
            </a:xfrm>
            <a:prstGeom prst="rect">
              <a:avLst/>
            </a:prstGeom>
            <a:noFill/>
            <a:ln>
              <a:noFill/>
            </a:ln>
          </p:spPr>
          <p:txBody>
            <a:bodyPr wrap="none" lIns="0" tIns="0" rIns="0" bIns="0" anchor="t" anchorCtr="0">
              <a:spAutoFit/>
            </a:bodyPr>
            <a:lstStyle/>
            <a:p>
              <a:pPr algn="ctr"/>
              <a:r>
                <a:rPr lang="zh-CN" sz="620" b="1" dirty="0">
                  <a:solidFill>
                    <a:srgbClr val="69281B"/>
                  </a:solidFill>
                  <a:latin typeface="+mn-lt"/>
                  <a:ea typeface="+mn-ea"/>
                  <a:cs typeface="+mn-cs"/>
                </a:rPr>
                <a:t>项目名称</a:t>
              </a:r>
            </a:p>
          </p:txBody>
        </p:sp>
        <p:sp>
          <p:nvSpPr>
            <p:cNvPr id="134" name="TextBox 134"/>
            <p:cNvSpPr txBox="1"/>
            <p:nvPr/>
          </p:nvSpPr>
          <p:spPr>
            <a:xfrm>
              <a:off x="4902873" y="4448461"/>
              <a:ext cx="176454" cy="121920"/>
            </a:xfrm>
            <a:prstGeom prst="rect">
              <a:avLst/>
            </a:prstGeom>
            <a:noFill/>
            <a:ln>
              <a:noFill/>
            </a:ln>
          </p:spPr>
          <p:txBody>
            <a:bodyPr wrap="none" lIns="0" tIns="0" rIns="0" bIns="0" anchor="t" anchorCtr="0">
              <a:spAutoFit/>
            </a:bodyPr>
            <a:lstStyle/>
            <a:p>
              <a:pPr algn="ctr"/>
              <a:r>
                <a:rPr lang="zh-CN" sz="620" b="1" dirty="0">
                  <a:solidFill>
                    <a:srgbClr val="69281B"/>
                  </a:solidFill>
                  <a:latin typeface="+mn-lt"/>
                  <a:ea typeface="+mn-ea"/>
                  <a:cs typeface="+mn-cs"/>
                </a:rPr>
                <a:t>行业</a:t>
              </a:r>
            </a:p>
          </p:txBody>
        </p:sp>
        <p:sp>
          <p:nvSpPr>
            <p:cNvPr id="135" name="TextBox 135"/>
            <p:cNvSpPr txBox="1"/>
            <p:nvPr/>
          </p:nvSpPr>
          <p:spPr>
            <a:xfrm>
              <a:off x="5413591" y="4448461"/>
              <a:ext cx="259918" cy="121920"/>
            </a:xfrm>
            <a:prstGeom prst="rect">
              <a:avLst/>
            </a:prstGeom>
            <a:noFill/>
            <a:ln>
              <a:noFill/>
            </a:ln>
          </p:spPr>
          <p:txBody>
            <a:bodyPr wrap="none" lIns="0" tIns="0" rIns="0" bIns="0" anchor="t" anchorCtr="0">
              <a:spAutoFit/>
            </a:bodyPr>
            <a:lstStyle/>
            <a:p>
              <a:pPr algn="ctr"/>
              <a:r>
                <a:rPr lang="zh-CN" sz="620" b="1" dirty="0">
                  <a:solidFill>
                    <a:srgbClr val="69281B"/>
                  </a:solidFill>
                  <a:latin typeface="+mn-lt"/>
                  <a:ea typeface="+mn-ea"/>
                  <a:cs typeface="+mn-cs"/>
                </a:rPr>
                <a:t>总投资</a:t>
              </a:r>
            </a:p>
          </p:txBody>
        </p:sp>
        <p:sp>
          <p:nvSpPr>
            <p:cNvPr id="136" name="TextBox 136"/>
            <p:cNvSpPr txBox="1"/>
            <p:nvPr/>
          </p:nvSpPr>
          <p:spPr>
            <a:xfrm>
              <a:off x="5924309" y="4448461"/>
              <a:ext cx="343383" cy="121920"/>
            </a:xfrm>
            <a:prstGeom prst="rect">
              <a:avLst/>
            </a:prstGeom>
            <a:noFill/>
            <a:ln>
              <a:noFill/>
            </a:ln>
          </p:spPr>
          <p:txBody>
            <a:bodyPr wrap="none" lIns="0" tIns="0" rIns="0" bIns="0" anchor="t" anchorCtr="0">
              <a:spAutoFit/>
            </a:bodyPr>
            <a:lstStyle/>
            <a:p>
              <a:pPr algn="ctr"/>
              <a:r>
                <a:rPr lang="zh-CN" sz="620" b="1" dirty="0">
                  <a:solidFill>
                    <a:srgbClr val="69281B"/>
                  </a:solidFill>
                  <a:latin typeface="+mn-lt"/>
                  <a:ea typeface="+mn-ea"/>
                  <a:cs typeface="+mn-cs"/>
                </a:rPr>
                <a:t>融资需求</a:t>
              </a:r>
            </a:p>
          </p:txBody>
        </p:sp>
        <p:sp>
          <p:nvSpPr>
            <p:cNvPr id="137" name="TextBox 137"/>
            <p:cNvSpPr txBox="1"/>
            <p:nvPr/>
          </p:nvSpPr>
          <p:spPr>
            <a:xfrm>
              <a:off x="6476759" y="4448461"/>
              <a:ext cx="343383" cy="121920"/>
            </a:xfrm>
            <a:prstGeom prst="rect">
              <a:avLst/>
            </a:prstGeom>
            <a:noFill/>
            <a:ln>
              <a:noFill/>
            </a:ln>
          </p:spPr>
          <p:txBody>
            <a:bodyPr wrap="none" lIns="0" tIns="0" rIns="0" bIns="0" anchor="t" anchorCtr="0">
              <a:spAutoFit/>
            </a:bodyPr>
            <a:lstStyle/>
            <a:p>
              <a:pPr algn="ctr"/>
              <a:r>
                <a:rPr lang="zh-CN" sz="620" b="1" dirty="0">
                  <a:solidFill>
                    <a:srgbClr val="69281B"/>
                  </a:solidFill>
                  <a:latin typeface="+mn-lt"/>
                  <a:ea typeface="+mn-ea"/>
                  <a:cs typeface="+mn-cs"/>
                </a:rPr>
                <a:t>已批金额</a:t>
              </a:r>
            </a:p>
          </p:txBody>
        </p:sp>
        <p:sp>
          <p:nvSpPr>
            <p:cNvPr id="138" name="TextBox 138"/>
            <p:cNvSpPr txBox="1"/>
            <p:nvPr/>
          </p:nvSpPr>
          <p:spPr>
            <a:xfrm>
              <a:off x="6987476" y="4448461"/>
              <a:ext cx="426847" cy="121920"/>
            </a:xfrm>
            <a:prstGeom prst="rect">
              <a:avLst/>
            </a:prstGeom>
            <a:noFill/>
            <a:ln>
              <a:noFill/>
            </a:ln>
          </p:spPr>
          <p:txBody>
            <a:bodyPr wrap="none" lIns="0" tIns="0" rIns="0" bIns="0" anchor="t" anchorCtr="0">
              <a:spAutoFit/>
            </a:bodyPr>
            <a:lstStyle/>
            <a:p>
              <a:pPr algn="ctr"/>
              <a:r>
                <a:rPr lang="zh-CN" sz="620" b="1" dirty="0">
                  <a:solidFill>
                    <a:srgbClr val="69281B"/>
                  </a:solidFill>
                  <a:latin typeface="+mn-lt"/>
                  <a:ea typeface="+mn-ea"/>
                  <a:cs typeface="+mn-cs"/>
                </a:rPr>
                <a:t>已投放金额</a:t>
              </a:r>
            </a:p>
          </p:txBody>
        </p:sp>
        <p:sp>
          <p:nvSpPr>
            <p:cNvPr id="139" name="TextBox 139"/>
            <p:cNvSpPr txBox="1"/>
            <p:nvPr/>
          </p:nvSpPr>
          <p:spPr>
            <a:xfrm>
              <a:off x="7543559" y="4448461"/>
              <a:ext cx="343383" cy="121920"/>
            </a:xfrm>
            <a:prstGeom prst="rect">
              <a:avLst/>
            </a:prstGeom>
            <a:noFill/>
            <a:ln>
              <a:noFill/>
            </a:ln>
          </p:spPr>
          <p:txBody>
            <a:bodyPr wrap="none" lIns="0" tIns="0" rIns="0" bIns="0" anchor="t" anchorCtr="0">
              <a:spAutoFit/>
            </a:bodyPr>
            <a:lstStyle/>
            <a:p>
              <a:pPr algn="ctr"/>
              <a:r>
                <a:rPr lang="zh-CN" sz="620" b="1" dirty="0">
                  <a:solidFill>
                    <a:srgbClr val="69281B"/>
                  </a:solidFill>
                  <a:latin typeface="+mn-lt"/>
                  <a:ea typeface="+mn-ea"/>
                  <a:cs typeface="+mn-cs"/>
                </a:rPr>
                <a:t>审批状态</a:t>
              </a:r>
            </a:p>
          </p:txBody>
        </p:sp>
        <p:sp>
          <p:nvSpPr>
            <p:cNvPr id="140" name="TextBox 140"/>
            <p:cNvSpPr txBox="1"/>
            <p:nvPr/>
          </p:nvSpPr>
          <p:spPr>
            <a:xfrm>
              <a:off x="8035226" y="4448461"/>
              <a:ext cx="426847" cy="121920"/>
            </a:xfrm>
            <a:prstGeom prst="rect">
              <a:avLst/>
            </a:prstGeom>
            <a:noFill/>
            <a:ln>
              <a:noFill/>
            </a:ln>
          </p:spPr>
          <p:txBody>
            <a:bodyPr wrap="none" lIns="0" tIns="0" rIns="0" bIns="0" anchor="t" anchorCtr="0">
              <a:spAutoFit/>
            </a:bodyPr>
            <a:lstStyle/>
            <a:p>
              <a:pPr algn="ctr"/>
              <a:r>
                <a:rPr lang="zh-CN" sz="620" b="1" dirty="0">
                  <a:solidFill>
                    <a:srgbClr val="69281B"/>
                  </a:solidFill>
                  <a:latin typeface="+mn-lt"/>
                  <a:ea typeface="+mn-ea"/>
                  <a:cs typeface="+mn-cs"/>
                </a:rPr>
                <a:t>下一步节点</a:t>
              </a:r>
            </a:p>
          </p:txBody>
        </p:sp>
        <p:sp>
          <p:nvSpPr>
            <p:cNvPr id="141" name="TextBox 141"/>
            <p:cNvSpPr txBox="1"/>
            <p:nvPr/>
          </p:nvSpPr>
          <p:spPr>
            <a:xfrm>
              <a:off x="3083057" y="4638961"/>
              <a:ext cx="101336" cy="121920"/>
            </a:xfrm>
            <a:prstGeom prst="rect">
              <a:avLst/>
            </a:prstGeom>
            <a:noFill/>
            <a:ln>
              <a:noFill/>
            </a:ln>
          </p:spPr>
          <p:txBody>
            <a:bodyPr wrap="none" lIns="0" tIns="0" rIns="0" bIns="0" anchor="t" anchorCtr="0">
              <a:spAutoFit/>
            </a:bodyPr>
            <a:lstStyle/>
            <a:p>
              <a:pPr algn="ctr"/>
              <a:r>
                <a:rPr lang="zh-CN" sz="620" dirty="0">
                  <a:solidFill>
                    <a:srgbClr val="987F7A"/>
                  </a:solidFill>
                  <a:latin typeface="+mn-lt"/>
                  <a:ea typeface="+mn-ea"/>
                  <a:cs typeface="+mn-cs"/>
                </a:rPr>
                <a:t>1​</a:t>
              </a:r>
            </a:p>
          </p:txBody>
        </p:sp>
        <p:sp>
          <p:nvSpPr>
            <p:cNvPr id="142" name="TextBox 142"/>
            <p:cNvSpPr txBox="1"/>
            <p:nvPr/>
          </p:nvSpPr>
          <p:spPr>
            <a:xfrm>
              <a:off x="3271838" y="4638961"/>
              <a:ext cx="844169" cy="121920"/>
            </a:xfrm>
            <a:prstGeom prst="rect">
              <a:avLst/>
            </a:prstGeom>
            <a:noFill/>
            <a:ln>
              <a:noFill/>
            </a:ln>
          </p:spPr>
          <p:txBody>
            <a:bodyPr wrap="none" lIns="0" tIns="0" rIns="0" bIns="0" anchor="t" anchorCtr="0">
              <a:spAutoFit/>
            </a:bodyPr>
            <a:lstStyle/>
            <a:p>
              <a:pPr algn="l"/>
              <a:r>
                <a:rPr lang="zh-CN" sz="620" dirty="0">
                  <a:solidFill>
                    <a:srgbClr val="5F3A33"/>
                  </a:solidFill>
                  <a:latin typeface="+mn-lt"/>
                  <a:ea typeface="+mn-ea"/>
                  <a:cs typeface="+mn-cs"/>
                </a:rPr>
                <a:t>城市轨道交通三期工程</a:t>
              </a:r>
            </a:p>
          </p:txBody>
        </p:sp>
        <p:sp>
          <p:nvSpPr>
            <p:cNvPr id="143" name="TextBox 143"/>
            <p:cNvSpPr txBox="1"/>
            <p:nvPr/>
          </p:nvSpPr>
          <p:spPr>
            <a:xfrm>
              <a:off x="4819409" y="4638961"/>
              <a:ext cx="343383"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基础设施</a:t>
              </a:r>
            </a:p>
          </p:txBody>
        </p:sp>
        <p:sp>
          <p:nvSpPr>
            <p:cNvPr id="144" name="TextBox 144"/>
            <p:cNvSpPr txBox="1"/>
            <p:nvPr/>
          </p:nvSpPr>
          <p:spPr>
            <a:xfrm>
              <a:off x="5401071" y="4638961"/>
              <a:ext cx="284958"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255.8​</a:t>
              </a:r>
            </a:p>
          </p:txBody>
        </p:sp>
        <p:sp>
          <p:nvSpPr>
            <p:cNvPr id="145" name="TextBox 145"/>
            <p:cNvSpPr txBox="1"/>
            <p:nvPr/>
          </p:nvSpPr>
          <p:spPr>
            <a:xfrm>
              <a:off x="5976474" y="46389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78.0​</a:t>
              </a:r>
            </a:p>
          </p:txBody>
        </p:sp>
        <p:sp>
          <p:nvSpPr>
            <p:cNvPr id="146" name="TextBox 146"/>
            <p:cNvSpPr txBox="1"/>
            <p:nvPr/>
          </p:nvSpPr>
          <p:spPr>
            <a:xfrm>
              <a:off x="6528924" y="46389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62.0​</a:t>
              </a:r>
            </a:p>
          </p:txBody>
        </p:sp>
        <p:sp>
          <p:nvSpPr>
            <p:cNvPr id="147" name="TextBox 147"/>
            <p:cNvSpPr txBox="1"/>
            <p:nvPr/>
          </p:nvSpPr>
          <p:spPr>
            <a:xfrm>
              <a:off x="7081374" y="46389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38.0​</a:t>
              </a:r>
            </a:p>
          </p:txBody>
        </p:sp>
        <p:sp>
          <p:nvSpPr>
            <p:cNvPr id="148" name="TextBox 148"/>
            <p:cNvSpPr txBox="1"/>
            <p:nvPr/>
          </p:nvSpPr>
          <p:spPr>
            <a:xfrm>
              <a:off x="7627023" y="4638961"/>
              <a:ext cx="176454" cy="121920"/>
            </a:xfrm>
            <a:prstGeom prst="rect">
              <a:avLst/>
            </a:prstGeom>
            <a:noFill/>
            <a:ln>
              <a:noFill/>
            </a:ln>
          </p:spPr>
          <p:txBody>
            <a:bodyPr wrap="none" lIns="0" tIns="0" rIns="0" bIns="0" anchor="t" anchorCtr="0">
              <a:spAutoFit/>
            </a:bodyPr>
            <a:lstStyle/>
            <a:p>
              <a:pPr algn="ctr"/>
              <a:r>
                <a:rPr lang="zh-CN" sz="620" b="1" dirty="0">
                  <a:solidFill>
                    <a:srgbClr val="E04C2E"/>
                  </a:solidFill>
                  <a:latin typeface="+mn-lt"/>
                  <a:ea typeface="+mn-ea"/>
                  <a:cs typeface="+mn-cs"/>
                </a:rPr>
                <a:t>已批</a:t>
              </a:r>
            </a:p>
          </p:txBody>
        </p:sp>
        <p:sp>
          <p:nvSpPr>
            <p:cNvPr id="149" name="TextBox 149"/>
            <p:cNvSpPr txBox="1"/>
            <p:nvPr/>
          </p:nvSpPr>
          <p:spPr>
            <a:xfrm>
              <a:off x="7958138" y="4600861"/>
              <a:ext cx="560705" cy="217170"/>
            </a:xfrm>
            <a:prstGeom prst="rect">
              <a:avLst/>
            </a:prstGeom>
            <a:noFill/>
            <a:ln>
              <a:noFill/>
            </a:ln>
          </p:spPr>
          <p:txBody>
            <a:bodyPr wrap="none" lIns="0" tIns="0" rIns="0" bIns="0" anchor="t" anchorCtr="0">
              <a:spAutoFit/>
            </a:bodyPr>
            <a:lstStyle/>
            <a:p>
              <a:pPr algn="l">
                <a:lnSpc>
                  <a:spcPts val="750"/>
                </a:lnSpc>
              </a:pPr>
              <a:r>
                <a:rPr lang="zh-CN" sz="620" dirty="0">
                  <a:solidFill>
                    <a:srgbClr val="70504A"/>
                  </a:solidFill>
                  <a:latin typeface="+mn-lt"/>
                  <a:ea typeface="+mn-ea"/>
                  <a:cs typeface="+mn-cs"/>
                </a:rPr>
                <a:t>首笔投放完成，</a:t>
              </a:r>
              <a:br/>
              <a:r>
                <a:rPr lang="zh-CN" sz="620" dirty="0">
                  <a:solidFill>
                    <a:srgbClr val="70504A"/>
                  </a:solidFill>
                  <a:latin typeface="+mn-lt"/>
                  <a:ea typeface="+mn-ea"/>
                  <a:cs typeface="+mn-cs"/>
                </a:rPr>
                <a:t>跟踪建设进度</a:t>
              </a:r>
            </a:p>
          </p:txBody>
        </p:sp>
        <p:sp>
          <p:nvSpPr>
            <p:cNvPr id="150" name="TextBox 150"/>
            <p:cNvSpPr txBox="1"/>
            <p:nvPr/>
          </p:nvSpPr>
          <p:spPr>
            <a:xfrm>
              <a:off x="3083057" y="4867561"/>
              <a:ext cx="101336" cy="121920"/>
            </a:xfrm>
            <a:prstGeom prst="rect">
              <a:avLst/>
            </a:prstGeom>
            <a:noFill/>
            <a:ln>
              <a:noFill/>
            </a:ln>
          </p:spPr>
          <p:txBody>
            <a:bodyPr wrap="none" lIns="0" tIns="0" rIns="0" bIns="0" anchor="t" anchorCtr="0">
              <a:spAutoFit/>
            </a:bodyPr>
            <a:lstStyle/>
            <a:p>
              <a:pPr algn="ctr"/>
              <a:r>
                <a:rPr lang="zh-CN" sz="620" dirty="0">
                  <a:solidFill>
                    <a:srgbClr val="987F7A"/>
                  </a:solidFill>
                  <a:latin typeface="+mn-lt"/>
                  <a:ea typeface="+mn-ea"/>
                  <a:cs typeface="+mn-cs"/>
                </a:rPr>
                <a:t>2​</a:t>
              </a:r>
            </a:p>
          </p:txBody>
        </p:sp>
        <p:sp>
          <p:nvSpPr>
            <p:cNvPr id="151" name="TextBox 151"/>
            <p:cNvSpPr txBox="1"/>
            <p:nvPr/>
          </p:nvSpPr>
          <p:spPr>
            <a:xfrm>
              <a:off x="3271838" y="4867561"/>
              <a:ext cx="927633" cy="121920"/>
            </a:xfrm>
            <a:prstGeom prst="rect">
              <a:avLst/>
            </a:prstGeom>
            <a:noFill/>
            <a:ln>
              <a:noFill/>
            </a:ln>
          </p:spPr>
          <p:txBody>
            <a:bodyPr wrap="none" lIns="0" tIns="0" rIns="0" bIns="0" anchor="t" anchorCtr="0">
              <a:spAutoFit/>
            </a:bodyPr>
            <a:lstStyle/>
            <a:p>
              <a:pPr algn="l"/>
              <a:r>
                <a:rPr lang="zh-CN" sz="620" dirty="0">
                  <a:solidFill>
                    <a:srgbClr val="5F3A33"/>
                  </a:solidFill>
                  <a:latin typeface="+mn-lt"/>
                  <a:ea typeface="+mn-ea"/>
                  <a:cs typeface="+mn-cs"/>
                </a:rPr>
                <a:t>新能源汽车零部件产业园</a:t>
              </a:r>
            </a:p>
          </p:txBody>
        </p:sp>
        <p:sp>
          <p:nvSpPr>
            <p:cNvPr id="152" name="TextBox 152"/>
            <p:cNvSpPr txBox="1"/>
            <p:nvPr/>
          </p:nvSpPr>
          <p:spPr>
            <a:xfrm>
              <a:off x="4819409" y="4867561"/>
              <a:ext cx="343383"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先进制造</a:t>
              </a:r>
            </a:p>
          </p:txBody>
        </p:sp>
        <p:sp>
          <p:nvSpPr>
            <p:cNvPr id="153" name="TextBox 153"/>
            <p:cNvSpPr txBox="1"/>
            <p:nvPr/>
          </p:nvSpPr>
          <p:spPr>
            <a:xfrm>
              <a:off x="5401071" y="4867561"/>
              <a:ext cx="284958"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120.5​</a:t>
              </a:r>
            </a:p>
          </p:txBody>
        </p:sp>
        <p:sp>
          <p:nvSpPr>
            <p:cNvPr id="154" name="TextBox 154"/>
            <p:cNvSpPr txBox="1"/>
            <p:nvPr/>
          </p:nvSpPr>
          <p:spPr>
            <a:xfrm>
              <a:off x="5976474" y="48675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45.0​</a:t>
              </a:r>
            </a:p>
          </p:txBody>
        </p:sp>
        <p:sp>
          <p:nvSpPr>
            <p:cNvPr id="155" name="TextBox 155"/>
            <p:cNvSpPr txBox="1"/>
            <p:nvPr/>
          </p:nvSpPr>
          <p:spPr>
            <a:xfrm>
              <a:off x="6528924" y="48675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30.0​</a:t>
              </a:r>
            </a:p>
          </p:txBody>
        </p:sp>
        <p:sp>
          <p:nvSpPr>
            <p:cNvPr id="156" name="TextBox 156"/>
            <p:cNvSpPr txBox="1"/>
            <p:nvPr/>
          </p:nvSpPr>
          <p:spPr>
            <a:xfrm>
              <a:off x="7081374" y="48675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18.0​</a:t>
              </a:r>
            </a:p>
          </p:txBody>
        </p:sp>
        <p:sp>
          <p:nvSpPr>
            <p:cNvPr id="157" name="TextBox 157"/>
            <p:cNvSpPr txBox="1"/>
            <p:nvPr/>
          </p:nvSpPr>
          <p:spPr>
            <a:xfrm>
              <a:off x="7627023" y="4867561"/>
              <a:ext cx="176454" cy="121920"/>
            </a:xfrm>
            <a:prstGeom prst="rect">
              <a:avLst/>
            </a:prstGeom>
            <a:noFill/>
            <a:ln>
              <a:noFill/>
            </a:ln>
          </p:spPr>
          <p:txBody>
            <a:bodyPr wrap="none" lIns="0" tIns="0" rIns="0" bIns="0" anchor="t" anchorCtr="0">
              <a:spAutoFit/>
            </a:bodyPr>
            <a:lstStyle/>
            <a:p>
              <a:pPr algn="ctr"/>
              <a:r>
                <a:rPr lang="zh-CN" sz="620" b="1" dirty="0">
                  <a:solidFill>
                    <a:srgbClr val="E04C2E"/>
                  </a:solidFill>
                  <a:latin typeface="+mn-lt"/>
                  <a:ea typeface="+mn-ea"/>
                  <a:cs typeface="+mn-cs"/>
                </a:rPr>
                <a:t>已批</a:t>
              </a:r>
            </a:p>
          </p:txBody>
        </p:sp>
        <p:sp>
          <p:nvSpPr>
            <p:cNvPr id="158" name="TextBox 158"/>
            <p:cNvSpPr txBox="1"/>
            <p:nvPr/>
          </p:nvSpPr>
          <p:spPr>
            <a:xfrm>
              <a:off x="7958138" y="4829461"/>
              <a:ext cx="560705" cy="217170"/>
            </a:xfrm>
            <a:prstGeom prst="rect">
              <a:avLst/>
            </a:prstGeom>
            <a:noFill/>
            <a:ln>
              <a:noFill/>
            </a:ln>
          </p:spPr>
          <p:txBody>
            <a:bodyPr wrap="none" lIns="0" tIns="0" rIns="0" bIns="0" anchor="t" anchorCtr="0">
              <a:spAutoFit/>
            </a:bodyPr>
            <a:lstStyle/>
            <a:p>
              <a:pPr algn="l">
                <a:lnSpc>
                  <a:spcPts val="750"/>
                </a:lnSpc>
              </a:pPr>
              <a:r>
                <a:rPr lang="zh-CN" sz="620" dirty="0">
                  <a:solidFill>
                    <a:srgbClr val="70504A"/>
                  </a:solidFill>
                  <a:latin typeface="+mn-lt"/>
                  <a:ea typeface="+mn-ea"/>
                  <a:cs typeface="+mn-cs"/>
                </a:rPr>
                <a:t>二期土地摘牌，</a:t>
              </a:r>
              <a:br/>
              <a:r>
                <a:rPr lang="zh-CN" sz="620" dirty="0">
                  <a:solidFill>
                    <a:srgbClr val="70504A"/>
                  </a:solidFill>
                  <a:latin typeface="+mn-lt"/>
                  <a:ea typeface="+mn-ea"/>
                  <a:cs typeface="+mn-cs"/>
                </a:rPr>
                <a:t>追加授信</a:t>
              </a:r>
            </a:p>
          </p:txBody>
        </p:sp>
        <p:sp>
          <p:nvSpPr>
            <p:cNvPr id="159" name="TextBox 159"/>
            <p:cNvSpPr txBox="1"/>
            <p:nvPr/>
          </p:nvSpPr>
          <p:spPr>
            <a:xfrm>
              <a:off x="3083057" y="5096161"/>
              <a:ext cx="101336" cy="121920"/>
            </a:xfrm>
            <a:prstGeom prst="rect">
              <a:avLst/>
            </a:prstGeom>
            <a:noFill/>
            <a:ln>
              <a:noFill/>
            </a:ln>
          </p:spPr>
          <p:txBody>
            <a:bodyPr wrap="none" lIns="0" tIns="0" rIns="0" bIns="0" anchor="t" anchorCtr="0">
              <a:spAutoFit/>
            </a:bodyPr>
            <a:lstStyle/>
            <a:p>
              <a:pPr algn="ctr"/>
              <a:r>
                <a:rPr lang="zh-CN" sz="620" dirty="0">
                  <a:solidFill>
                    <a:srgbClr val="987F7A"/>
                  </a:solidFill>
                  <a:latin typeface="+mn-lt"/>
                  <a:ea typeface="+mn-ea"/>
                  <a:cs typeface="+mn-cs"/>
                </a:rPr>
                <a:t>3​</a:t>
              </a:r>
            </a:p>
          </p:txBody>
        </p:sp>
        <p:sp>
          <p:nvSpPr>
            <p:cNvPr id="160" name="TextBox 160"/>
            <p:cNvSpPr txBox="1"/>
            <p:nvPr/>
          </p:nvSpPr>
          <p:spPr>
            <a:xfrm>
              <a:off x="3271838" y="5096161"/>
              <a:ext cx="1011098" cy="121920"/>
            </a:xfrm>
            <a:prstGeom prst="rect">
              <a:avLst/>
            </a:prstGeom>
            <a:noFill/>
            <a:ln>
              <a:noFill/>
            </a:ln>
          </p:spPr>
          <p:txBody>
            <a:bodyPr wrap="none" lIns="0" tIns="0" rIns="0" bIns="0" anchor="t" anchorCtr="0">
              <a:spAutoFit/>
            </a:bodyPr>
            <a:lstStyle/>
            <a:p>
              <a:pPr algn="l"/>
              <a:r>
                <a:rPr lang="zh-CN" sz="620" dirty="0">
                  <a:solidFill>
                    <a:srgbClr val="5F3A33"/>
                  </a:solidFill>
                  <a:latin typeface="+mn-lt"/>
                  <a:ea typeface="+mn-ea"/>
                  <a:cs typeface="+mn-cs"/>
                </a:rPr>
                <a:t>智慧城市更新项目（一期）</a:t>
              </a:r>
            </a:p>
          </p:txBody>
        </p:sp>
        <p:sp>
          <p:nvSpPr>
            <p:cNvPr id="161" name="TextBox 161"/>
            <p:cNvSpPr txBox="1"/>
            <p:nvPr/>
          </p:nvSpPr>
          <p:spPr>
            <a:xfrm>
              <a:off x="4819409" y="5096161"/>
              <a:ext cx="343383"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城市更新</a:t>
              </a:r>
            </a:p>
          </p:txBody>
        </p:sp>
        <p:sp>
          <p:nvSpPr>
            <p:cNvPr id="162" name="TextBox 162"/>
            <p:cNvSpPr txBox="1"/>
            <p:nvPr/>
          </p:nvSpPr>
          <p:spPr>
            <a:xfrm>
              <a:off x="5424024" y="50961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86.2​</a:t>
              </a:r>
            </a:p>
          </p:txBody>
        </p:sp>
        <p:sp>
          <p:nvSpPr>
            <p:cNvPr id="163" name="TextBox 163"/>
            <p:cNvSpPr txBox="1"/>
            <p:nvPr/>
          </p:nvSpPr>
          <p:spPr>
            <a:xfrm>
              <a:off x="5976474" y="50961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32.0​</a:t>
              </a:r>
            </a:p>
          </p:txBody>
        </p:sp>
        <p:sp>
          <p:nvSpPr>
            <p:cNvPr id="164" name="TextBox 164"/>
            <p:cNvSpPr txBox="1"/>
            <p:nvPr/>
          </p:nvSpPr>
          <p:spPr>
            <a:xfrm>
              <a:off x="6528924" y="50961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20.0​</a:t>
              </a:r>
            </a:p>
          </p:txBody>
        </p:sp>
        <p:sp>
          <p:nvSpPr>
            <p:cNvPr id="165" name="TextBox 165"/>
            <p:cNvSpPr txBox="1"/>
            <p:nvPr/>
          </p:nvSpPr>
          <p:spPr>
            <a:xfrm>
              <a:off x="7081374" y="50961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12.0​</a:t>
              </a:r>
            </a:p>
          </p:txBody>
        </p:sp>
        <p:sp>
          <p:nvSpPr>
            <p:cNvPr id="166" name="TextBox 166"/>
            <p:cNvSpPr txBox="1"/>
            <p:nvPr/>
          </p:nvSpPr>
          <p:spPr>
            <a:xfrm>
              <a:off x="7585291" y="5096161"/>
              <a:ext cx="259918" cy="121920"/>
            </a:xfrm>
            <a:prstGeom prst="rect">
              <a:avLst/>
            </a:prstGeom>
            <a:noFill/>
            <a:ln>
              <a:noFill/>
            </a:ln>
          </p:spPr>
          <p:txBody>
            <a:bodyPr wrap="none" lIns="0" tIns="0" rIns="0" bIns="0" anchor="t" anchorCtr="0">
              <a:spAutoFit/>
            </a:bodyPr>
            <a:lstStyle/>
            <a:p>
              <a:pPr algn="ctr"/>
              <a:r>
                <a:rPr lang="zh-CN" sz="620" b="1" dirty="0">
                  <a:solidFill>
                    <a:srgbClr val="E82D0C"/>
                  </a:solidFill>
                  <a:latin typeface="+mn-lt"/>
                  <a:ea typeface="+mn-ea"/>
                  <a:cs typeface="+mn-cs"/>
                </a:rPr>
                <a:t>审批中</a:t>
              </a:r>
            </a:p>
          </p:txBody>
        </p:sp>
        <p:sp>
          <p:nvSpPr>
            <p:cNvPr id="167" name="TextBox 167"/>
            <p:cNvSpPr txBox="1"/>
            <p:nvPr/>
          </p:nvSpPr>
          <p:spPr>
            <a:xfrm>
              <a:off x="7958138" y="5058061"/>
              <a:ext cx="481965" cy="217170"/>
            </a:xfrm>
            <a:prstGeom prst="rect">
              <a:avLst/>
            </a:prstGeom>
            <a:noFill/>
            <a:ln>
              <a:noFill/>
            </a:ln>
          </p:spPr>
          <p:txBody>
            <a:bodyPr wrap="none" lIns="0" tIns="0" rIns="0" bIns="0" anchor="t" anchorCtr="0">
              <a:spAutoFit/>
            </a:bodyPr>
            <a:lstStyle/>
            <a:p>
              <a:pPr algn="l">
                <a:lnSpc>
                  <a:spcPts val="750"/>
                </a:lnSpc>
              </a:pPr>
              <a:r>
                <a:rPr lang="zh-CN" sz="620" dirty="0">
                  <a:solidFill>
                    <a:srgbClr val="70504A"/>
                  </a:solidFill>
                  <a:latin typeface="+mn-lt"/>
                  <a:ea typeface="+mn-ea"/>
                  <a:cs typeface="+mn-cs"/>
                </a:rPr>
                <a:t>完成评审会，</a:t>
              </a:r>
              <a:br/>
              <a:r>
                <a:rPr lang="zh-CN" sz="620" dirty="0">
                  <a:solidFill>
                    <a:srgbClr val="70504A"/>
                  </a:solidFill>
                  <a:latin typeface="+mn-lt"/>
                  <a:ea typeface="+mn-ea"/>
                  <a:cs typeface="+mn-cs"/>
                </a:rPr>
                <a:t>报分行审批</a:t>
              </a:r>
            </a:p>
          </p:txBody>
        </p:sp>
        <p:sp>
          <p:nvSpPr>
            <p:cNvPr id="168" name="TextBox 168"/>
            <p:cNvSpPr txBox="1"/>
            <p:nvPr/>
          </p:nvSpPr>
          <p:spPr>
            <a:xfrm>
              <a:off x="3083057" y="5324761"/>
              <a:ext cx="101336" cy="121920"/>
            </a:xfrm>
            <a:prstGeom prst="rect">
              <a:avLst/>
            </a:prstGeom>
            <a:noFill/>
            <a:ln>
              <a:noFill/>
            </a:ln>
          </p:spPr>
          <p:txBody>
            <a:bodyPr wrap="none" lIns="0" tIns="0" rIns="0" bIns="0" anchor="t" anchorCtr="0">
              <a:spAutoFit/>
            </a:bodyPr>
            <a:lstStyle/>
            <a:p>
              <a:pPr algn="ctr"/>
              <a:r>
                <a:rPr lang="zh-CN" sz="620" dirty="0">
                  <a:solidFill>
                    <a:srgbClr val="987F7A"/>
                  </a:solidFill>
                  <a:latin typeface="+mn-lt"/>
                  <a:ea typeface="+mn-ea"/>
                  <a:cs typeface="+mn-cs"/>
                </a:rPr>
                <a:t>4​</a:t>
              </a:r>
            </a:p>
          </p:txBody>
        </p:sp>
        <p:sp>
          <p:nvSpPr>
            <p:cNvPr id="169" name="TextBox 169"/>
            <p:cNvSpPr txBox="1"/>
            <p:nvPr/>
          </p:nvSpPr>
          <p:spPr>
            <a:xfrm>
              <a:off x="3271838" y="5324761"/>
              <a:ext cx="760705" cy="121920"/>
            </a:xfrm>
            <a:prstGeom prst="rect">
              <a:avLst/>
            </a:prstGeom>
            <a:noFill/>
            <a:ln>
              <a:noFill/>
            </a:ln>
          </p:spPr>
          <p:txBody>
            <a:bodyPr wrap="none" lIns="0" tIns="0" rIns="0" bIns="0" anchor="t" anchorCtr="0">
              <a:spAutoFit/>
            </a:bodyPr>
            <a:lstStyle/>
            <a:p>
              <a:pPr algn="l"/>
              <a:r>
                <a:rPr lang="zh-CN" sz="620" dirty="0">
                  <a:solidFill>
                    <a:srgbClr val="5F3A33"/>
                  </a:solidFill>
                  <a:latin typeface="+mn-lt"/>
                  <a:ea typeface="+mn-ea"/>
                  <a:cs typeface="+mn-cs"/>
                </a:rPr>
                <a:t>绿色化工新材料项目</a:t>
              </a:r>
            </a:p>
          </p:txBody>
        </p:sp>
        <p:sp>
          <p:nvSpPr>
            <p:cNvPr id="170" name="TextBox 170"/>
            <p:cNvSpPr txBox="1"/>
            <p:nvPr/>
          </p:nvSpPr>
          <p:spPr>
            <a:xfrm>
              <a:off x="4819409" y="5324761"/>
              <a:ext cx="343383"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先进制造</a:t>
              </a:r>
            </a:p>
          </p:txBody>
        </p:sp>
        <p:sp>
          <p:nvSpPr>
            <p:cNvPr id="171" name="TextBox 171"/>
            <p:cNvSpPr txBox="1"/>
            <p:nvPr/>
          </p:nvSpPr>
          <p:spPr>
            <a:xfrm>
              <a:off x="5424024" y="53247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68.7​</a:t>
              </a:r>
            </a:p>
          </p:txBody>
        </p:sp>
        <p:sp>
          <p:nvSpPr>
            <p:cNvPr id="172" name="TextBox 172"/>
            <p:cNvSpPr txBox="1"/>
            <p:nvPr/>
          </p:nvSpPr>
          <p:spPr>
            <a:xfrm>
              <a:off x="5976474" y="53247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25.0​</a:t>
              </a:r>
            </a:p>
          </p:txBody>
        </p:sp>
        <p:sp>
          <p:nvSpPr>
            <p:cNvPr id="173" name="TextBox 173"/>
            <p:cNvSpPr txBox="1"/>
            <p:nvPr/>
          </p:nvSpPr>
          <p:spPr>
            <a:xfrm>
              <a:off x="6528924" y="53247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15.0​</a:t>
              </a:r>
            </a:p>
          </p:txBody>
        </p:sp>
        <p:sp>
          <p:nvSpPr>
            <p:cNvPr id="174" name="TextBox 174"/>
            <p:cNvSpPr txBox="1"/>
            <p:nvPr/>
          </p:nvSpPr>
          <p:spPr>
            <a:xfrm>
              <a:off x="7104327" y="5324761"/>
              <a:ext cx="193147"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8.0​</a:t>
              </a:r>
            </a:p>
          </p:txBody>
        </p:sp>
        <p:sp>
          <p:nvSpPr>
            <p:cNvPr id="175" name="TextBox 175"/>
            <p:cNvSpPr txBox="1"/>
            <p:nvPr/>
          </p:nvSpPr>
          <p:spPr>
            <a:xfrm>
              <a:off x="7585291" y="5324761"/>
              <a:ext cx="259918" cy="121920"/>
            </a:xfrm>
            <a:prstGeom prst="rect">
              <a:avLst/>
            </a:prstGeom>
            <a:noFill/>
            <a:ln>
              <a:noFill/>
            </a:ln>
          </p:spPr>
          <p:txBody>
            <a:bodyPr wrap="none" lIns="0" tIns="0" rIns="0" bIns="0" anchor="t" anchorCtr="0">
              <a:spAutoFit/>
            </a:bodyPr>
            <a:lstStyle/>
            <a:p>
              <a:pPr algn="ctr"/>
              <a:r>
                <a:rPr lang="zh-CN" sz="620" b="1" dirty="0">
                  <a:solidFill>
                    <a:srgbClr val="E82D0C"/>
                  </a:solidFill>
                  <a:latin typeface="+mn-lt"/>
                  <a:ea typeface="+mn-ea"/>
                  <a:cs typeface="+mn-cs"/>
                </a:rPr>
                <a:t>审批中</a:t>
              </a:r>
            </a:p>
          </p:txBody>
        </p:sp>
        <p:sp>
          <p:nvSpPr>
            <p:cNvPr id="176" name="TextBox 176"/>
            <p:cNvSpPr txBox="1"/>
            <p:nvPr/>
          </p:nvSpPr>
          <p:spPr>
            <a:xfrm>
              <a:off x="7958138" y="5286661"/>
              <a:ext cx="560705" cy="217170"/>
            </a:xfrm>
            <a:prstGeom prst="rect">
              <a:avLst/>
            </a:prstGeom>
            <a:noFill/>
            <a:ln>
              <a:noFill/>
            </a:ln>
          </p:spPr>
          <p:txBody>
            <a:bodyPr wrap="none" lIns="0" tIns="0" rIns="0" bIns="0" anchor="t" anchorCtr="0">
              <a:spAutoFit/>
            </a:bodyPr>
            <a:lstStyle/>
            <a:p>
              <a:pPr algn="l">
                <a:lnSpc>
                  <a:spcPts val="750"/>
                </a:lnSpc>
              </a:pPr>
              <a:r>
                <a:rPr lang="zh-CN" sz="620" dirty="0">
                  <a:solidFill>
                    <a:srgbClr val="70504A"/>
                  </a:solidFill>
                  <a:latin typeface="+mn-lt"/>
                  <a:ea typeface="+mn-ea"/>
                  <a:cs typeface="+mn-cs"/>
                </a:rPr>
                <a:t>补充尽调资料，</a:t>
              </a:r>
              <a:br/>
              <a:r>
                <a:rPr lang="zh-CN" sz="620" dirty="0">
                  <a:solidFill>
                    <a:srgbClr val="70504A"/>
                  </a:solidFill>
                  <a:latin typeface="+mn-lt"/>
                  <a:ea typeface="+mn-ea"/>
                  <a:cs typeface="+mn-cs"/>
                </a:rPr>
                <a:t>完善财务模型</a:t>
              </a:r>
            </a:p>
          </p:txBody>
        </p:sp>
        <p:sp>
          <p:nvSpPr>
            <p:cNvPr id="177" name="TextBox 177"/>
            <p:cNvSpPr txBox="1"/>
            <p:nvPr/>
          </p:nvSpPr>
          <p:spPr>
            <a:xfrm>
              <a:off x="3083057" y="5553361"/>
              <a:ext cx="101336" cy="121920"/>
            </a:xfrm>
            <a:prstGeom prst="rect">
              <a:avLst/>
            </a:prstGeom>
            <a:noFill/>
            <a:ln>
              <a:noFill/>
            </a:ln>
          </p:spPr>
          <p:txBody>
            <a:bodyPr wrap="none" lIns="0" tIns="0" rIns="0" bIns="0" anchor="t" anchorCtr="0">
              <a:spAutoFit/>
            </a:bodyPr>
            <a:lstStyle/>
            <a:p>
              <a:pPr algn="ctr"/>
              <a:r>
                <a:rPr lang="zh-CN" sz="620" dirty="0">
                  <a:solidFill>
                    <a:srgbClr val="987F7A"/>
                  </a:solidFill>
                  <a:latin typeface="+mn-lt"/>
                  <a:ea typeface="+mn-ea"/>
                  <a:cs typeface="+mn-cs"/>
                </a:rPr>
                <a:t>5​</a:t>
              </a:r>
            </a:p>
          </p:txBody>
        </p:sp>
        <p:sp>
          <p:nvSpPr>
            <p:cNvPr id="178" name="TextBox 178"/>
            <p:cNvSpPr txBox="1"/>
            <p:nvPr/>
          </p:nvSpPr>
          <p:spPr>
            <a:xfrm>
              <a:off x="3271838" y="5553361"/>
              <a:ext cx="844169" cy="121920"/>
            </a:xfrm>
            <a:prstGeom prst="rect">
              <a:avLst/>
            </a:prstGeom>
            <a:noFill/>
            <a:ln>
              <a:noFill/>
            </a:ln>
          </p:spPr>
          <p:txBody>
            <a:bodyPr wrap="none" lIns="0" tIns="0" rIns="0" bIns="0" anchor="t" anchorCtr="0">
              <a:spAutoFit/>
            </a:bodyPr>
            <a:lstStyle/>
            <a:p>
              <a:pPr algn="l"/>
              <a:r>
                <a:rPr lang="zh-CN" sz="620" dirty="0">
                  <a:solidFill>
                    <a:srgbClr val="5F3A33"/>
                  </a:solidFill>
                  <a:latin typeface="+mn-lt"/>
                  <a:ea typeface="+mn-ea"/>
                  <a:cs typeface="+mn-cs"/>
                </a:rPr>
                <a:t>产业园区基础设施项目</a:t>
              </a:r>
            </a:p>
          </p:txBody>
        </p:sp>
        <p:sp>
          <p:nvSpPr>
            <p:cNvPr id="179" name="TextBox 179"/>
            <p:cNvSpPr txBox="1"/>
            <p:nvPr/>
          </p:nvSpPr>
          <p:spPr>
            <a:xfrm>
              <a:off x="4819409" y="5553361"/>
              <a:ext cx="343383"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产业园区</a:t>
              </a:r>
            </a:p>
          </p:txBody>
        </p:sp>
        <p:sp>
          <p:nvSpPr>
            <p:cNvPr id="180" name="TextBox 180"/>
            <p:cNvSpPr txBox="1"/>
            <p:nvPr/>
          </p:nvSpPr>
          <p:spPr>
            <a:xfrm>
              <a:off x="5424024" y="55533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51.3​</a:t>
              </a:r>
            </a:p>
          </p:txBody>
        </p:sp>
        <p:sp>
          <p:nvSpPr>
            <p:cNvPr id="181" name="TextBox 181"/>
            <p:cNvSpPr txBox="1"/>
            <p:nvPr/>
          </p:nvSpPr>
          <p:spPr>
            <a:xfrm>
              <a:off x="5976474" y="55533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18.0​</a:t>
              </a:r>
            </a:p>
          </p:txBody>
        </p:sp>
        <p:sp>
          <p:nvSpPr>
            <p:cNvPr id="182" name="TextBox 182"/>
            <p:cNvSpPr txBox="1"/>
            <p:nvPr/>
          </p:nvSpPr>
          <p:spPr>
            <a:xfrm>
              <a:off x="6528924" y="55533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10.0​</a:t>
              </a:r>
            </a:p>
          </p:txBody>
        </p:sp>
        <p:sp>
          <p:nvSpPr>
            <p:cNvPr id="183" name="TextBox 183"/>
            <p:cNvSpPr txBox="1"/>
            <p:nvPr/>
          </p:nvSpPr>
          <p:spPr>
            <a:xfrm>
              <a:off x="7104327" y="5553361"/>
              <a:ext cx="193147"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6.0​</a:t>
              </a:r>
            </a:p>
          </p:txBody>
        </p:sp>
        <p:sp>
          <p:nvSpPr>
            <p:cNvPr id="184" name="TextBox 184"/>
            <p:cNvSpPr txBox="1"/>
            <p:nvPr/>
          </p:nvSpPr>
          <p:spPr>
            <a:xfrm>
              <a:off x="7627023" y="5553361"/>
              <a:ext cx="176454" cy="121920"/>
            </a:xfrm>
            <a:prstGeom prst="rect">
              <a:avLst/>
            </a:prstGeom>
            <a:noFill/>
            <a:ln>
              <a:noFill/>
            </a:ln>
          </p:spPr>
          <p:txBody>
            <a:bodyPr wrap="none" lIns="0" tIns="0" rIns="0" bIns="0" anchor="t" anchorCtr="0">
              <a:spAutoFit/>
            </a:bodyPr>
            <a:lstStyle/>
            <a:p>
              <a:pPr algn="ctr"/>
              <a:r>
                <a:rPr lang="zh-CN" sz="620" b="1" dirty="0">
                  <a:solidFill>
                    <a:srgbClr val="E04C2E"/>
                  </a:solidFill>
                  <a:latin typeface="+mn-lt"/>
                  <a:ea typeface="+mn-ea"/>
                  <a:cs typeface="+mn-cs"/>
                </a:rPr>
                <a:t>已批</a:t>
              </a:r>
            </a:p>
          </p:txBody>
        </p:sp>
        <p:sp>
          <p:nvSpPr>
            <p:cNvPr id="185" name="TextBox 185"/>
            <p:cNvSpPr txBox="1"/>
            <p:nvPr/>
          </p:nvSpPr>
          <p:spPr>
            <a:xfrm>
              <a:off x="7958138" y="5515261"/>
              <a:ext cx="560705" cy="217170"/>
            </a:xfrm>
            <a:prstGeom prst="rect">
              <a:avLst/>
            </a:prstGeom>
            <a:noFill/>
            <a:ln>
              <a:noFill/>
            </a:ln>
          </p:spPr>
          <p:txBody>
            <a:bodyPr wrap="none" lIns="0" tIns="0" rIns="0" bIns="0" anchor="t" anchorCtr="0">
              <a:spAutoFit/>
            </a:bodyPr>
            <a:lstStyle/>
            <a:p>
              <a:pPr algn="l">
                <a:lnSpc>
                  <a:spcPts val="750"/>
                </a:lnSpc>
              </a:pPr>
              <a:r>
                <a:rPr lang="zh-CN" sz="620" dirty="0">
                  <a:solidFill>
                    <a:srgbClr val="70504A"/>
                  </a:solidFill>
                  <a:latin typeface="+mn-lt"/>
                  <a:ea typeface="+mn-ea"/>
                  <a:cs typeface="+mn-cs"/>
                </a:rPr>
                <a:t>资金分段投放，</a:t>
              </a:r>
              <a:br/>
              <a:r>
                <a:rPr lang="zh-CN" sz="620" dirty="0">
                  <a:solidFill>
                    <a:srgbClr val="70504A"/>
                  </a:solidFill>
                  <a:latin typeface="+mn-lt"/>
                  <a:ea typeface="+mn-ea"/>
                  <a:cs typeface="+mn-cs"/>
                </a:rPr>
                <a:t>验收节点监控</a:t>
              </a:r>
            </a:p>
          </p:txBody>
        </p:sp>
        <p:sp>
          <p:nvSpPr>
            <p:cNvPr id="186" name="TextBox 186"/>
            <p:cNvSpPr txBox="1"/>
            <p:nvPr/>
          </p:nvSpPr>
          <p:spPr>
            <a:xfrm>
              <a:off x="3083057" y="5781961"/>
              <a:ext cx="101336" cy="121920"/>
            </a:xfrm>
            <a:prstGeom prst="rect">
              <a:avLst/>
            </a:prstGeom>
            <a:noFill/>
            <a:ln>
              <a:noFill/>
            </a:ln>
          </p:spPr>
          <p:txBody>
            <a:bodyPr wrap="none" lIns="0" tIns="0" rIns="0" bIns="0" anchor="t" anchorCtr="0">
              <a:spAutoFit/>
            </a:bodyPr>
            <a:lstStyle/>
            <a:p>
              <a:pPr algn="ctr"/>
              <a:r>
                <a:rPr lang="zh-CN" sz="620" dirty="0">
                  <a:solidFill>
                    <a:srgbClr val="987F7A"/>
                  </a:solidFill>
                  <a:latin typeface="+mn-lt"/>
                  <a:ea typeface="+mn-ea"/>
                  <a:cs typeface="+mn-cs"/>
                </a:rPr>
                <a:t>6​</a:t>
              </a:r>
            </a:p>
          </p:txBody>
        </p:sp>
        <p:sp>
          <p:nvSpPr>
            <p:cNvPr id="187" name="TextBox 187"/>
            <p:cNvSpPr txBox="1"/>
            <p:nvPr/>
          </p:nvSpPr>
          <p:spPr>
            <a:xfrm>
              <a:off x="3271838" y="5781961"/>
              <a:ext cx="844169" cy="121920"/>
            </a:xfrm>
            <a:prstGeom prst="rect">
              <a:avLst/>
            </a:prstGeom>
            <a:noFill/>
            <a:ln>
              <a:noFill/>
            </a:ln>
          </p:spPr>
          <p:txBody>
            <a:bodyPr wrap="none" lIns="0" tIns="0" rIns="0" bIns="0" anchor="t" anchorCtr="0">
              <a:spAutoFit/>
            </a:bodyPr>
            <a:lstStyle/>
            <a:p>
              <a:pPr algn="l"/>
              <a:r>
                <a:rPr lang="zh-CN" sz="620" dirty="0">
                  <a:solidFill>
                    <a:srgbClr val="5F3A33"/>
                  </a:solidFill>
                  <a:latin typeface="+mn-lt"/>
                  <a:ea typeface="+mn-ea"/>
                  <a:cs typeface="+mn-cs"/>
                </a:rPr>
                <a:t>区域能源综合利用项目</a:t>
              </a:r>
            </a:p>
          </p:txBody>
        </p:sp>
        <p:sp>
          <p:nvSpPr>
            <p:cNvPr id="188" name="TextBox 188"/>
            <p:cNvSpPr txBox="1"/>
            <p:nvPr/>
          </p:nvSpPr>
          <p:spPr>
            <a:xfrm>
              <a:off x="4819409" y="5781961"/>
              <a:ext cx="343383"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能源环保</a:t>
              </a:r>
            </a:p>
          </p:txBody>
        </p:sp>
        <p:sp>
          <p:nvSpPr>
            <p:cNvPr id="189" name="TextBox 189"/>
            <p:cNvSpPr txBox="1"/>
            <p:nvPr/>
          </p:nvSpPr>
          <p:spPr>
            <a:xfrm>
              <a:off x="5424024" y="57819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42.6​</a:t>
              </a:r>
            </a:p>
          </p:txBody>
        </p:sp>
        <p:sp>
          <p:nvSpPr>
            <p:cNvPr id="190" name="TextBox 190"/>
            <p:cNvSpPr txBox="1"/>
            <p:nvPr/>
          </p:nvSpPr>
          <p:spPr>
            <a:xfrm>
              <a:off x="5976474" y="5781961"/>
              <a:ext cx="239052"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16.0​</a:t>
              </a:r>
            </a:p>
          </p:txBody>
        </p:sp>
        <p:sp>
          <p:nvSpPr>
            <p:cNvPr id="191" name="TextBox 191"/>
            <p:cNvSpPr txBox="1"/>
            <p:nvPr/>
          </p:nvSpPr>
          <p:spPr>
            <a:xfrm>
              <a:off x="6551877" y="5781961"/>
              <a:ext cx="193147"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8.0​</a:t>
              </a:r>
            </a:p>
          </p:txBody>
        </p:sp>
        <p:sp>
          <p:nvSpPr>
            <p:cNvPr id="192" name="TextBox 192"/>
            <p:cNvSpPr txBox="1"/>
            <p:nvPr/>
          </p:nvSpPr>
          <p:spPr>
            <a:xfrm>
              <a:off x="7104327" y="5781961"/>
              <a:ext cx="193147"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4.2​</a:t>
              </a:r>
            </a:p>
          </p:txBody>
        </p:sp>
        <p:sp>
          <p:nvSpPr>
            <p:cNvPr id="193" name="TextBox 193"/>
            <p:cNvSpPr txBox="1"/>
            <p:nvPr/>
          </p:nvSpPr>
          <p:spPr>
            <a:xfrm>
              <a:off x="7585291" y="5781961"/>
              <a:ext cx="259918" cy="121920"/>
            </a:xfrm>
            <a:prstGeom prst="rect">
              <a:avLst/>
            </a:prstGeom>
            <a:noFill/>
            <a:ln>
              <a:noFill/>
            </a:ln>
          </p:spPr>
          <p:txBody>
            <a:bodyPr wrap="none" lIns="0" tIns="0" rIns="0" bIns="0" anchor="t" anchorCtr="0">
              <a:spAutoFit/>
            </a:bodyPr>
            <a:lstStyle/>
            <a:p>
              <a:pPr algn="ctr"/>
              <a:r>
                <a:rPr lang="zh-CN" sz="620" b="1" dirty="0">
                  <a:solidFill>
                    <a:srgbClr val="D0442C"/>
                  </a:solidFill>
                  <a:latin typeface="+mn-lt"/>
                  <a:ea typeface="+mn-ea"/>
                  <a:cs typeface="+mn-cs"/>
                </a:rPr>
                <a:t>立项中</a:t>
              </a:r>
            </a:p>
          </p:txBody>
        </p:sp>
        <p:sp>
          <p:nvSpPr>
            <p:cNvPr id="194" name="TextBox 194"/>
            <p:cNvSpPr txBox="1"/>
            <p:nvPr/>
          </p:nvSpPr>
          <p:spPr>
            <a:xfrm>
              <a:off x="7958138" y="5743861"/>
              <a:ext cx="560705" cy="217170"/>
            </a:xfrm>
            <a:prstGeom prst="rect">
              <a:avLst/>
            </a:prstGeom>
            <a:noFill/>
            <a:ln>
              <a:noFill/>
            </a:ln>
          </p:spPr>
          <p:txBody>
            <a:bodyPr wrap="none" lIns="0" tIns="0" rIns="0" bIns="0" anchor="t" anchorCtr="0">
              <a:spAutoFit/>
            </a:bodyPr>
            <a:lstStyle/>
            <a:p>
              <a:pPr algn="l">
                <a:lnSpc>
                  <a:spcPts val="750"/>
                </a:lnSpc>
              </a:pPr>
              <a:r>
                <a:rPr lang="zh-CN" sz="620" dirty="0">
                  <a:solidFill>
                    <a:srgbClr val="70504A"/>
                  </a:solidFill>
                  <a:latin typeface="+mn-lt"/>
                  <a:ea typeface="+mn-ea"/>
                  <a:cs typeface="+mn-cs"/>
                </a:rPr>
                <a:t>完成立项评估，</a:t>
              </a:r>
              <a:br/>
              <a:r>
                <a:rPr lang="zh-CN" sz="620" dirty="0">
                  <a:solidFill>
                    <a:srgbClr val="70504A"/>
                  </a:solidFill>
                  <a:latin typeface="+mn-lt"/>
                  <a:ea typeface="+mn-ea"/>
                  <a:cs typeface="+mn-cs"/>
                </a:rPr>
                <a:t>启动尽调</a:t>
              </a:r>
            </a:p>
          </p:txBody>
        </p:sp>
        <p:sp>
          <p:nvSpPr>
            <p:cNvPr id="195" name="Line 195"/>
            <p:cNvSpPr/>
            <p:nvPr/>
          </p:nvSpPr>
          <p:spPr>
            <a:xfrm>
              <a:off x="2990850" y="5943600"/>
              <a:ext cx="5753100" cy="9525"/>
            </a:xfrm>
            <a:custGeom>
              <a:avLst/>
              <a:gdLst/>
              <a:ahLst/>
              <a:cxnLst/>
              <a:rect l="l" t="t" r="r" b="b"/>
              <a:pathLst>
                <a:path w="5753100" h="9525">
                  <a:moveTo>
                    <a:pt x="0" y="0"/>
                  </a:moveTo>
                  <a:lnTo>
                    <a:pt x="5753100" y="0"/>
                  </a:lnTo>
                </a:path>
              </a:pathLst>
            </a:custGeom>
            <a:noFill/>
            <a:ln w="9525">
              <a:solidFill>
                <a:srgbClr val="C9D6E9"/>
              </a:solidFill>
            </a:ln>
          </p:spPr>
        </p:sp>
        <p:sp>
          <p:nvSpPr>
            <p:cNvPr id="196" name="Rectangle 196"/>
            <p:cNvSpPr/>
            <p:nvPr/>
          </p:nvSpPr>
          <p:spPr>
            <a:xfrm>
              <a:off x="2990850" y="6019800"/>
              <a:ext cx="5753100" cy="228600"/>
            </a:xfrm>
            <a:prstGeom prst="rect">
              <a:avLst/>
            </a:prstGeom>
            <a:solidFill>
              <a:srgbClr val="69281B"/>
            </a:solidFill>
            <a:ln>
              <a:noFill/>
            </a:ln>
          </p:spPr>
        </p:sp>
        <p:sp>
          <p:nvSpPr>
            <p:cNvPr id="197" name="TextBox 197"/>
            <p:cNvSpPr txBox="1"/>
            <p:nvPr/>
          </p:nvSpPr>
          <p:spPr>
            <a:xfrm>
              <a:off x="3666071" y="6099334"/>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合计</a:t>
              </a:r>
            </a:p>
          </p:txBody>
        </p:sp>
        <p:sp>
          <p:nvSpPr>
            <p:cNvPr id="198" name="TextBox 198"/>
            <p:cNvSpPr txBox="1"/>
            <p:nvPr/>
          </p:nvSpPr>
          <p:spPr>
            <a:xfrm>
              <a:off x="5380192" y="6099334"/>
              <a:ext cx="32671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625.1​</a:t>
              </a:r>
            </a:p>
          </p:txBody>
        </p:sp>
        <p:sp>
          <p:nvSpPr>
            <p:cNvPr id="199" name="TextBox 199"/>
            <p:cNvSpPr txBox="1"/>
            <p:nvPr/>
          </p:nvSpPr>
          <p:spPr>
            <a:xfrm>
              <a:off x="5932642" y="6099334"/>
              <a:ext cx="32671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214.0​</a:t>
              </a:r>
            </a:p>
          </p:txBody>
        </p:sp>
        <p:sp>
          <p:nvSpPr>
            <p:cNvPr id="200" name="TextBox 200"/>
            <p:cNvSpPr txBox="1"/>
            <p:nvPr/>
          </p:nvSpPr>
          <p:spPr>
            <a:xfrm>
              <a:off x="6485092" y="6099334"/>
              <a:ext cx="32671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145.0​</a:t>
              </a:r>
            </a:p>
          </p:txBody>
        </p:sp>
        <p:sp>
          <p:nvSpPr>
            <p:cNvPr id="201" name="TextBox 201"/>
            <p:cNvSpPr txBox="1"/>
            <p:nvPr/>
          </p:nvSpPr>
          <p:spPr>
            <a:xfrm>
              <a:off x="7063974" y="6099334"/>
              <a:ext cx="27385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86.2​</a:t>
              </a:r>
            </a:p>
          </p:txBody>
        </p:sp>
        <p:sp>
          <p:nvSpPr>
            <p:cNvPr id="202" name="TextBox 202"/>
            <p:cNvSpPr txBox="1"/>
            <p:nvPr/>
          </p:nvSpPr>
          <p:spPr>
            <a:xfrm>
              <a:off x="8217455" y="6099334"/>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a:t>
              </a:r>
            </a:p>
          </p:txBody>
        </p:sp>
        <p:sp>
          <p:nvSpPr>
            <p:cNvPr id="203" name="TextBox 203"/>
            <p:cNvSpPr txBox="1"/>
            <p:nvPr/>
          </p:nvSpPr>
          <p:spPr>
            <a:xfrm>
              <a:off x="2986088" y="6507480"/>
              <a:ext cx="1948053" cy="119062"/>
            </a:xfrm>
            <a:prstGeom prst="rect">
              <a:avLst/>
            </a:prstGeom>
            <a:noFill/>
            <a:ln>
              <a:noFill/>
            </a:ln>
          </p:spPr>
          <p:txBody>
            <a:bodyPr wrap="none" lIns="0" tIns="0" rIns="0" bIns="0" anchor="t" anchorCtr="0">
              <a:spAutoFit/>
            </a:bodyPr>
            <a:lstStyle/>
            <a:p>
              <a:pPr algn="l"/>
              <a:r>
                <a:rPr lang="zh-CN" sz="600" dirty="0">
                  <a:solidFill>
                    <a:srgbClr val="BEA09A"/>
                  </a:solidFill>
                  <a:latin typeface="+mn-lt"/>
                  <a:ea typeface="+mn-ea"/>
                  <a:cs typeface="+mn-cs"/>
                </a:rPr>
                <a:t>注：金额为示例数据；总投资合计含在办项目全口径。</a:t>
              </a:r>
            </a:p>
          </p:txBody>
        </p:sp>
      </p:grpSp>
      <p:grpSp>
        <p:nvGrpSpPr>
          <p:cNvPr id="245" name="type-donut"/>
          <p:cNvGrpSpPr/>
          <p:nvPr/>
        </p:nvGrpSpPr>
        <p:grpSpPr>
          <a:xfrm>
            <a:off x="8934450" y="685800"/>
            <a:ext cx="3028950" cy="5981700"/>
            <a:chOff x="8934450" y="685800"/>
            <a:chExt cx="3028950" cy="5981700"/>
          </a:xfrm>
        </p:grpSpPr>
        <p:sp>
          <p:nvSpPr>
            <p:cNvPr id="205" name="Rectangle 205"/>
            <p:cNvSpPr/>
            <p:nvPr/>
          </p:nvSpPr>
          <p:spPr>
            <a:xfrm>
              <a:off x="8934450" y="685800"/>
              <a:ext cx="3028950" cy="5981700"/>
            </a:xfrm>
            <a:prstGeom prst="roundRect">
              <a:avLst>
                <a:gd name="adj" fmla="val 1887"/>
              </a:avLst>
            </a:prstGeom>
            <a:solidFill>
              <a:srgbClr val="FFFFFF"/>
            </a:solidFill>
            <a:ln w="9525">
              <a:solidFill>
                <a:srgbClr val="C9D6E9"/>
              </a:solidFill>
            </a:ln>
          </p:spPr>
        </p:sp>
        <p:sp>
          <p:nvSpPr>
            <p:cNvPr id="206" name="Rectangle 206"/>
            <p:cNvSpPr/>
            <p:nvPr/>
          </p:nvSpPr>
          <p:spPr>
            <a:xfrm>
              <a:off x="8934450" y="685800"/>
              <a:ext cx="3028950" cy="247650"/>
            </a:xfrm>
            <a:prstGeom prst="roundRect">
              <a:avLst>
                <a:gd name="adj" fmla="val 23077"/>
              </a:avLst>
            </a:prstGeom>
            <a:solidFill>
              <a:srgbClr val="69281B"/>
            </a:solidFill>
            <a:ln>
              <a:noFill/>
            </a:ln>
          </p:spPr>
        </p:sp>
        <p:sp>
          <p:nvSpPr>
            <p:cNvPr id="207" name="Rectangle 207"/>
            <p:cNvSpPr/>
            <p:nvPr/>
          </p:nvSpPr>
          <p:spPr>
            <a:xfrm>
              <a:off x="8934450" y="838200"/>
              <a:ext cx="3028950" cy="95250"/>
            </a:xfrm>
            <a:prstGeom prst="rect">
              <a:avLst/>
            </a:prstGeom>
            <a:solidFill>
              <a:srgbClr val="69281B"/>
            </a:solidFill>
            <a:ln>
              <a:noFill/>
            </a:ln>
          </p:spPr>
        </p:sp>
        <p:sp>
          <p:nvSpPr>
            <p:cNvPr id="208" name="TextBox 208"/>
            <p:cNvSpPr txBox="1"/>
            <p:nvPr/>
          </p:nvSpPr>
          <p:spPr>
            <a:xfrm>
              <a:off x="9495092" y="756047"/>
              <a:ext cx="190766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项目类型分布（按储备融资金额）</a:t>
              </a:r>
            </a:p>
          </p:txBody>
        </p:sp>
        <p:sp>
          <p:nvSpPr>
            <p:cNvPr id="209" name="Freeform 209"/>
            <p:cNvSpPr/>
            <p:nvPr/>
          </p:nvSpPr>
          <p:spPr>
            <a:xfrm>
              <a:off x="10429875" y="1562080"/>
              <a:ext cx="860653" cy="1167976"/>
            </a:xfrm>
            <a:custGeom>
              <a:avLst/>
              <a:gdLst/>
              <a:ahLst/>
              <a:cxnLst/>
              <a:rect l="l" t="t" r="r" b="b"/>
              <a:pathLst>
                <a:path w="860653" h="1167976">
                  <a:moveTo>
                    <a:pt x="0" y="20"/>
                  </a:moveTo>
                  <a:cubicBezTo>
                    <a:pt x="280445" y="0"/>
                    <a:pt x="541409" y="143451"/>
                    <a:pt x="691683" y="380236"/>
                  </a:cubicBezTo>
                  <a:cubicBezTo>
                    <a:pt x="841958" y="617021"/>
                    <a:pt x="860653" y="914226"/>
                    <a:pt x="741235" y="1167976"/>
                  </a:cubicBezTo>
                  <a:lnTo>
                    <a:pt x="448151" y="1030054"/>
                  </a:lnTo>
                  <a:cubicBezTo>
                    <a:pt x="520344" y="876632"/>
                    <a:pt x="509039" y="696942"/>
                    <a:pt x="418185" y="553778"/>
                  </a:cubicBezTo>
                  <a:cubicBezTo>
                    <a:pt x="327332" y="410614"/>
                    <a:pt x="169559" y="323875"/>
                    <a:pt x="0" y="323870"/>
                  </a:cubicBezTo>
                  <a:close/>
                </a:path>
              </a:pathLst>
            </a:custGeom>
            <a:solidFill>
              <a:srgbClr val="5C2216"/>
            </a:solidFill>
            <a:ln>
              <a:noFill/>
            </a:ln>
          </p:spPr>
        </p:sp>
        <p:sp>
          <p:nvSpPr>
            <p:cNvPr id="210" name="Freeform 210"/>
            <p:cNvSpPr/>
            <p:nvPr/>
          </p:nvSpPr>
          <p:spPr>
            <a:xfrm>
              <a:off x="10176700" y="2592134"/>
              <a:ext cx="994410" cy="695757"/>
            </a:xfrm>
            <a:custGeom>
              <a:avLst/>
              <a:gdLst/>
              <a:ahLst/>
              <a:cxnLst/>
              <a:rect l="l" t="t" r="r" b="b"/>
              <a:pathLst>
                <a:path w="994410" h="695757">
                  <a:moveTo>
                    <a:pt x="994410" y="137922"/>
                  </a:moveTo>
                  <a:cubicBezTo>
                    <a:pt x="818670" y="511381"/>
                    <a:pt x="392526" y="695757"/>
                    <a:pt x="0" y="568166"/>
                  </a:cubicBezTo>
                  <a:lnTo>
                    <a:pt x="100108" y="260128"/>
                  </a:lnTo>
                  <a:cubicBezTo>
                    <a:pt x="337428" y="337248"/>
                    <a:pt x="595060" y="225779"/>
                    <a:pt x="701326" y="0"/>
                  </a:cubicBezTo>
                  <a:close/>
                </a:path>
              </a:pathLst>
            </a:custGeom>
            <a:solidFill>
              <a:srgbClr val="9B3824"/>
            </a:solidFill>
            <a:ln>
              <a:noFill/>
            </a:ln>
          </p:spPr>
        </p:sp>
        <p:sp>
          <p:nvSpPr>
            <p:cNvPr id="211" name="Freeform 211"/>
            <p:cNvSpPr/>
            <p:nvPr/>
          </p:nvSpPr>
          <p:spPr>
            <a:xfrm>
              <a:off x="9617202" y="2443353"/>
              <a:ext cx="659606" cy="716947"/>
            </a:xfrm>
            <a:custGeom>
              <a:avLst/>
              <a:gdLst/>
              <a:ahLst/>
              <a:cxnLst/>
              <a:rect l="l" t="t" r="r" b="b"/>
              <a:pathLst>
                <a:path w="659606" h="716947">
                  <a:moveTo>
                    <a:pt x="559499" y="716947"/>
                  </a:moveTo>
                  <a:cubicBezTo>
                    <a:pt x="257746" y="618875"/>
                    <a:pt x="39767" y="355364"/>
                    <a:pt x="0" y="40576"/>
                  </a:cubicBezTo>
                  <a:lnTo>
                    <a:pt x="321278" y="0"/>
                  </a:lnTo>
                  <a:cubicBezTo>
                    <a:pt x="345350" y="190321"/>
                    <a:pt x="477158" y="349627"/>
                    <a:pt x="659606" y="408908"/>
                  </a:cubicBezTo>
                  <a:close/>
                </a:path>
              </a:pathLst>
            </a:custGeom>
            <a:solidFill>
              <a:srgbClr val="E04C2E"/>
            </a:solidFill>
            <a:ln>
              <a:noFill/>
            </a:ln>
          </p:spPr>
        </p:sp>
        <p:sp>
          <p:nvSpPr>
            <p:cNvPr id="212" name="Freeform 212"/>
            <p:cNvSpPr/>
            <p:nvPr/>
          </p:nvSpPr>
          <p:spPr>
            <a:xfrm>
              <a:off x="9591067" y="1899761"/>
              <a:ext cx="438091" cy="584168"/>
            </a:xfrm>
            <a:custGeom>
              <a:avLst/>
              <a:gdLst/>
              <a:ahLst/>
              <a:cxnLst/>
              <a:rect l="l" t="t" r="r" b="b"/>
              <a:pathLst>
                <a:path w="438091" h="584168">
                  <a:moveTo>
                    <a:pt x="26135" y="584168"/>
                  </a:moveTo>
                  <a:cubicBezTo>
                    <a:pt x="0" y="377465"/>
                    <a:pt x="53612" y="168571"/>
                    <a:pt x="176058" y="0"/>
                  </a:cubicBezTo>
                  <a:lnTo>
                    <a:pt x="438091" y="190405"/>
                  </a:lnTo>
                  <a:cubicBezTo>
                    <a:pt x="364052" y="292319"/>
                    <a:pt x="331626" y="418615"/>
                    <a:pt x="347413" y="543592"/>
                  </a:cubicBezTo>
                  <a:close/>
                </a:path>
              </a:pathLst>
            </a:custGeom>
            <a:solidFill>
              <a:srgbClr val="E8654A"/>
            </a:solidFill>
            <a:ln>
              <a:noFill/>
            </a:ln>
          </p:spPr>
        </p:sp>
        <p:sp>
          <p:nvSpPr>
            <p:cNvPr id="213" name="Freeform 213"/>
            <p:cNvSpPr/>
            <p:nvPr/>
          </p:nvSpPr>
          <p:spPr>
            <a:xfrm>
              <a:off x="9767126" y="1619631"/>
              <a:ext cx="480441" cy="470535"/>
            </a:xfrm>
            <a:custGeom>
              <a:avLst/>
              <a:gdLst/>
              <a:ahLst/>
              <a:cxnLst/>
              <a:rect l="l" t="t" r="r" b="b"/>
              <a:pathLst>
                <a:path w="480441" h="470535">
                  <a:moveTo>
                    <a:pt x="0" y="280130"/>
                  </a:moveTo>
                  <a:cubicBezTo>
                    <a:pt x="91377" y="154374"/>
                    <a:pt x="216651" y="57214"/>
                    <a:pt x="361188" y="0"/>
                  </a:cubicBezTo>
                  <a:lnTo>
                    <a:pt x="480441" y="301085"/>
                  </a:lnTo>
                  <a:cubicBezTo>
                    <a:pt x="393032" y="335696"/>
                    <a:pt x="317279" y="394469"/>
                    <a:pt x="262033" y="470535"/>
                  </a:cubicBezTo>
                  <a:close/>
                </a:path>
              </a:pathLst>
            </a:custGeom>
            <a:solidFill>
              <a:srgbClr val="D0442C"/>
            </a:solidFill>
            <a:ln>
              <a:noFill/>
            </a:ln>
          </p:spPr>
        </p:sp>
        <p:sp>
          <p:nvSpPr>
            <p:cNvPr id="214" name="Freeform 214"/>
            <p:cNvSpPr/>
            <p:nvPr/>
          </p:nvSpPr>
          <p:spPr>
            <a:xfrm>
              <a:off x="10128314" y="1562100"/>
              <a:ext cx="301562" cy="358616"/>
            </a:xfrm>
            <a:custGeom>
              <a:avLst/>
              <a:gdLst/>
              <a:ahLst/>
              <a:cxnLst/>
              <a:rect l="l" t="t" r="r" b="b"/>
              <a:pathLst>
                <a:path w="301562" h="358616">
                  <a:moveTo>
                    <a:pt x="0" y="57531"/>
                  </a:moveTo>
                  <a:cubicBezTo>
                    <a:pt x="95997" y="19521"/>
                    <a:pt x="198314" y="1"/>
                    <a:pt x="301562" y="0"/>
                  </a:cubicBezTo>
                  <a:lnTo>
                    <a:pt x="301562" y="323850"/>
                  </a:lnTo>
                  <a:cubicBezTo>
                    <a:pt x="239144" y="323848"/>
                    <a:pt x="177289" y="335644"/>
                    <a:pt x="119253" y="358616"/>
                  </a:cubicBezTo>
                  <a:close/>
                </a:path>
              </a:pathLst>
            </a:custGeom>
            <a:solidFill>
              <a:srgbClr val="E8AAA0"/>
            </a:solidFill>
            <a:ln>
              <a:noFill/>
            </a:ln>
          </p:spPr>
        </p:sp>
        <p:sp>
          <p:nvSpPr>
            <p:cNvPr id="215" name="TextBox 215"/>
            <p:cNvSpPr txBox="1"/>
            <p:nvPr/>
          </p:nvSpPr>
          <p:spPr>
            <a:xfrm>
              <a:off x="10850347" y="1985962"/>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32%​</a:t>
              </a:r>
            </a:p>
          </p:txBody>
        </p:sp>
        <p:sp>
          <p:nvSpPr>
            <p:cNvPr id="216" name="TextBox 216"/>
            <p:cNvSpPr txBox="1"/>
            <p:nvPr/>
          </p:nvSpPr>
          <p:spPr>
            <a:xfrm>
              <a:off x="10555072" y="2938462"/>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23%​</a:t>
              </a:r>
            </a:p>
          </p:txBody>
        </p:sp>
        <p:sp>
          <p:nvSpPr>
            <p:cNvPr id="217" name="TextBox 217"/>
            <p:cNvSpPr txBox="1"/>
            <p:nvPr/>
          </p:nvSpPr>
          <p:spPr>
            <a:xfrm>
              <a:off x="9793072" y="27574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18%​</a:t>
              </a:r>
            </a:p>
          </p:txBody>
        </p:sp>
        <p:sp>
          <p:nvSpPr>
            <p:cNvPr id="218" name="TextBox 218"/>
            <p:cNvSpPr txBox="1"/>
            <p:nvPr/>
          </p:nvSpPr>
          <p:spPr>
            <a:xfrm>
              <a:off x="9666506" y="2180511"/>
              <a:ext cx="25038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12%​</a:t>
              </a:r>
            </a:p>
          </p:txBody>
        </p:sp>
        <p:sp>
          <p:nvSpPr>
            <p:cNvPr id="219" name="TextBox 219"/>
            <p:cNvSpPr txBox="1"/>
            <p:nvPr/>
          </p:nvSpPr>
          <p:spPr>
            <a:xfrm>
              <a:off x="9932230" y="1818561"/>
              <a:ext cx="195190"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9%​</a:t>
              </a:r>
            </a:p>
          </p:txBody>
        </p:sp>
        <p:sp>
          <p:nvSpPr>
            <p:cNvPr id="220" name="TextBox 220"/>
            <p:cNvSpPr txBox="1"/>
            <p:nvPr/>
          </p:nvSpPr>
          <p:spPr>
            <a:xfrm>
              <a:off x="10212378" y="1698784"/>
              <a:ext cx="187345" cy="133350"/>
            </a:xfrm>
            <a:prstGeom prst="rect">
              <a:avLst/>
            </a:prstGeom>
            <a:noFill/>
            <a:ln>
              <a:noFill/>
            </a:ln>
          </p:spPr>
          <p:txBody>
            <a:bodyPr wrap="none" lIns="0" tIns="0" rIns="0" bIns="0" anchor="t" anchorCtr="0">
              <a:spAutoFit/>
            </a:bodyPr>
            <a:lstStyle/>
            <a:p>
              <a:pPr algn="ctr"/>
              <a:r>
                <a:rPr lang="zh-CN" sz="680" b="1" dirty="0">
                  <a:solidFill>
                    <a:srgbClr val="8C3324"/>
                  </a:solidFill>
                  <a:latin typeface="+mn-lt"/>
                  <a:ea typeface="+mn-ea"/>
                  <a:cs typeface="+mn-cs"/>
                </a:rPr>
                <a:t>6%​</a:t>
              </a:r>
            </a:p>
          </p:txBody>
        </p:sp>
        <p:sp>
          <p:nvSpPr>
            <p:cNvPr id="221" name="TextBox 221"/>
            <p:cNvSpPr txBox="1"/>
            <p:nvPr/>
          </p:nvSpPr>
          <p:spPr>
            <a:xfrm>
              <a:off x="10091451" y="2208371"/>
              <a:ext cx="676849" cy="278702"/>
            </a:xfrm>
            <a:prstGeom prst="rect">
              <a:avLst/>
            </a:prstGeom>
            <a:noFill/>
            <a:ln>
              <a:noFill/>
            </a:ln>
          </p:spPr>
          <p:txBody>
            <a:bodyPr wrap="none" lIns="0" tIns="0" rIns="0" bIns="0" anchor="t" anchorCtr="0">
              <a:spAutoFit/>
            </a:bodyPr>
            <a:lstStyle/>
            <a:p>
              <a:pPr algn="ctr"/>
              <a:r>
                <a:rPr lang="zh-CN" sz="1420" b="1" dirty="0">
                  <a:solidFill>
                    <a:srgbClr val="69281B"/>
                  </a:solidFill>
                  <a:latin typeface="+mn-lt"/>
                  <a:ea typeface="+mn-ea"/>
                  <a:cs typeface="+mn-cs"/>
                </a:rPr>
                <a:t>424.7​</a:t>
              </a:r>
            </a:p>
          </p:txBody>
        </p:sp>
        <p:sp>
          <p:nvSpPr>
            <p:cNvPr id="222" name="TextBox 222"/>
            <p:cNvSpPr txBox="1"/>
            <p:nvPr/>
          </p:nvSpPr>
          <p:spPr>
            <a:xfrm>
              <a:off x="10324148" y="2452688"/>
              <a:ext cx="211455" cy="147638"/>
            </a:xfrm>
            <a:prstGeom prst="rect">
              <a:avLst/>
            </a:prstGeom>
            <a:noFill/>
            <a:ln>
              <a:noFill/>
            </a:ln>
          </p:spPr>
          <p:txBody>
            <a:bodyPr wrap="none" lIns="0" tIns="0" rIns="0" bIns="0" anchor="t" anchorCtr="0">
              <a:spAutoFit/>
            </a:bodyPr>
            <a:lstStyle/>
            <a:p>
              <a:pPr algn="ctr"/>
              <a:r>
                <a:rPr lang="zh-CN" sz="750" dirty="0">
                  <a:solidFill>
                    <a:srgbClr val="987F7A"/>
                  </a:solidFill>
                  <a:latin typeface="+mn-lt"/>
                  <a:ea typeface="+mn-ea"/>
                  <a:cs typeface="+mn-cs"/>
                </a:rPr>
                <a:t>亿元</a:t>
              </a:r>
            </a:p>
          </p:txBody>
        </p:sp>
        <p:sp>
          <p:nvSpPr>
            <p:cNvPr id="223" name="Rectangle 223"/>
            <p:cNvSpPr/>
            <p:nvPr/>
          </p:nvSpPr>
          <p:spPr>
            <a:xfrm>
              <a:off x="9163050" y="3638550"/>
              <a:ext cx="104775" cy="104775"/>
            </a:xfrm>
            <a:prstGeom prst="rect">
              <a:avLst/>
            </a:prstGeom>
            <a:solidFill>
              <a:srgbClr val="5C2216"/>
            </a:solidFill>
            <a:ln>
              <a:noFill/>
            </a:ln>
          </p:spPr>
        </p:sp>
        <p:sp>
          <p:nvSpPr>
            <p:cNvPr id="224" name="TextBox 224"/>
            <p:cNvSpPr txBox="1"/>
            <p:nvPr/>
          </p:nvSpPr>
          <p:spPr>
            <a:xfrm>
              <a:off x="9329738" y="3648789"/>
              <a:ext cx="722069"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基础设施 32%​</a:t>
              </a:r>
            </a:p>
          </p:txBody>
        </p:sp>
        <p:sp>
          <p:nvSpPr>
            <p:cNvPr id="225" name="TextBox 225"/>
            <p:cNvSpPr txBox="1"/>
            <p:nvPr/>
          </p:nvSpPr>
          <p:spPr>
            <a:xfrm>
              <a:off x="11309223" y="3652838"/>
              <a:ext cx="54464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135.1亿元​</a:t>
              </a:r>
            </a:p>
          </p:txBody>
        </p:sp>
        <p:sp>
          <p:nvSpPr>
            <p:cNvPr id="226" name="Rectangle 226"/>
            <p:cNvSpPr/>
            <p:nvPr/>
          </p:nvSpPr>
          <p:spPr>
            <a:xfrm>
              <a:off x="9163050" y="3924300"/>
              <a:ext cx="104775" cy="104775"/>
            </a:xfrm>
            <a:prstGeom prst="rect">
              <a:avLst/>
            </a:prstGeom>
            <a:solidFill>
              <a:srgbClr val="9B3824"/>
            </a:solidFill>
            <a:ln>
              <a:noFill/>
            </a:ln>
          </p:spPr>
        </p:sp>
        <p:sp>
          <p:nvSpPr>
            <p:cNvPr id="227" name="TextBox 227"/>
            <p:cNvSpPr txBox="1"/>
            <p:nvPr/>
          </p:nvSpPr>
          <p:spPr>
            <a:xfrm>
              <a:off x="9329738" y="3934539"/>
              <a:ext cx="722069"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先进制造 23%​</a:t>
              </a:r>
            </a:p>
          </p:txBody>
        </p:sp>
        <p:sp>
          <p:nvSpPr>
            <p:cNvPr id="228" name="TextBox 228"/>
            <p:cNvSpPr txBox="1"/>
            <p:nvPr/>
          </p:nvSpPr>
          <p:spPr>
            <a:xfrm>
              <a:off x="11364754" y="3938588"/>
              <a:ext cx="489109"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97.6亿元​</a:t>
              </a:r>
            </a:p>
          </p:txBody>
        </p:sp>
        <p:sp>
          <p:nvSpPr>
            <p:cNvPr id="229" name="Rectangle 229"/>
            <p:cNvSpPr/>
            <p:nvPr/>
          </p:nvSpPr>
          <p:spPr>
            <a:xfrm>
              <a:off x="9163050" y="4210050"/>
              <a:ext cx="104775" cy="104775"/>
            </a:xfrm>
            <a:prstGeom prst="rect">
              <a:avLst/>
            </a:prstGeom>
            <a:solidFill>
              <a:srgbClr val="E04C2E"/>
            </a:solidFill>
            <a:ln>
              <a:noFill/>
            </a:ln>
          </p:spPr>
        </p:sp>
        <p:sp>
          <p:nvSpPr>
            <p:cNvPr id="230" name="TextBox 230"/>
            <p:cNvSpPr txBox="1"/>
            <p:nvPr/>
          </p:nvSpPr>
          <p:spPr>
            <a:xfrm>
              <a:off x="9329738" y="4220289"/>
              <a:ext cx="722069"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城市更新 18%​</a:t>
              </a:r>
            </a:p>
          </p:txBody>
        </p:sp>
        <p:sp>
          <p:nvSpPr>
            <p:cNvPr id="231" name="TextBox 231"/>
            <p:cNvSpPr txBox="1"/>
            <p:nvPr/>
          </p:nvSpPr>
          <p:spPr>
            <a:xfrm>
              <a:off x="11364754" y="4224338"/>
              <a:ext cx="489109"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76.4亿元​</a:t>
              </a:r>
            </a:p>
          </p:txBody>
        </p:sp>
        <p:sp>
          <p:nvSpPr>
            <p:cNvPr id="232" name="Rectangle 232"/>
            <p:cNvSpPr/>
            <p:nvPr/>
          </p:nvSpPr>
          <p:spPr>
            <a:xfrm>
              <a:off x="9163050" y="4495800"/>
              <a:ext cx="104775" cy="104775"/>
            </a:xfrm>
            <a:prstGeom prst="rect">
              <a:avLst/>
            </a:prstGeom>
            <a:solidFill>
              <a:srgbClr val="E8654A"/>
            </a:solidFill>
            <a:ln>
              <a:noFill/>
            </a:ln>
          </p:spPr>
        </p:sp>
        <p:sp>
          <p:nvSpPr>
            <p:cNvPr id="233" name="TextBox 233"/>
            <p:cNvSpPr txBox="1"/>
            <p:nvPr/>
          </p:nvSpPr>
          <p:spPr>
            <a:xfrm>
              <a:off x="9329738" y="4506039"/>
              <a:ext cx="722069"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产业园区 12%​</a:t>
              </a:r>
            </a:p>
          </p:txBody>
        </p:sp>
        <p:sp>
          <p:nvSpPr>
            <p:cNvPr id="234" name="TextBox 234"/>
            <p:cNvSpPr txBox="1"/>
            <p:nvPr/>
          </p:nvSpPr>
          <p:spPr>
            <a:xfrm>
              <a:off x="11364754" y="4510088"/>
              <a:ext cx="489109"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50.9亿元​</a:t>
              </a:r>
            </a:p>
          </p:txBody>
        </p:sp>
        <p:sp>
          <p:nvSpPr>
            <p:cNvPr id="235" name="Rectangle 235"/>
            <p:cNvSpPr/>
            <p:nvPr/>
          </p:nvSpPr>
          <p:spPr>
            <a:xfrm>
              <a:off x="9163050" y="4781550"/>
              <a:ext cx="104775" cy="104775"/>
            </a:xfrm>
            <a:prstGeom prst="rect">
              <a:avLst/>
            </a:prstGeom>
            <a:solidFill>
              <a:srgbClr val="D0442C"/>
            </a:solidFill>
            <a:ln>
              <a:noFill/>
            </a:ln>
          </p:spPr>
        </p:sp>
        <p:sp>
          <p:nvSpPr>
            <p:cNvPr id="236" name="TextBox 236"/>
            <p:cNvSpPr txBox="1"/>
            <p:nvPr/>
          </p:nvSpPr>
          <p:spPr>
            <a:xfrm>
              <a:off x="9329738" y="4791789"/>
              <a:ext cx="663576"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能源环保 9%​</a:t>
              </a:r>
            </a:p>
          </p:txBody>
        </p:sp>
        <p:sp>
          <p:nvSpPr>
            <p:cNvPr id="237" name="TextBox 237"/>
            <p:cNvSpPr txBox="1"/>
            <p:nvPr/>
          </p:nvSpPr>
          <p:spPr>
            <a:xfrm>
              <a:off x="11364754" y="4795838"/>
              <a:ext cx="489109"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38.2亿元​</a:t>
              </a:r>
            </a:p>
          </p:txBody>
        </p:sp>
        <p:sp>
          <p:nvSpPr>
            <p:cNvPr id="238" name="Rectangle 238"/>
            <p:cNvSpPr/>
            <p:nvPr/>
          </p:nvSpPr>
          <p:spPr>
            <a:xfrm>
              <a:off x="9163050" y="5067300"/>
              <a:ext cx="104775" cy="104775"/>
            </a:xfrm>
            <a:prstGeom prst="rect">
              <a:avLst/>
            </a:prstGeom>
            <a:solidFill>
              <a:srgbClr val="E8AAA0"/>
            </a:solidFill>
            <a:ln>
              <a:noFill/>
            </a:ln>
          </p:spPr>
        </p:sp>
        <p:sp>
          <p:nvSpPr>
            <p:cNvPr id="239" name="TextBox 239"/>
            <p:cNvSpPr txBox="1"/>
            <p:nvPr/>
          </p:nvSpPr>
          <p:spPr>
            <a:xfrm>
              <a:off x="9329738" y="5077539"/>
              <a:ext cx="450877" cy="154781"/>
            </a:xfrm>
            <a:prstGeom prst="rect">
              <a:avLst/>
            </a:prstGeom>
            <a:noFill/>
            <a:ln>
              <a:noFill/>
            </a:ln>
          </p:spPr>
          <p:txBody>
            <a:bodyPr wrap="none" lIns="0" tIns="0" rIns="0" bIns="0" anchor="t" anchorCtr="0">
              <a:spAutoFit/>
            </a:bodyPr>
            <a:lstStyle/>
            <a:p>
              <a:pPr algn="l"/>
              <a:r>
                <a:rPr lang="zh-CN" sz="790" dirty="0">
                  <a:solidFill>
                    <a:srgbClr val="5F3A33"/>
                  </a:solidFill>
                  <a:latin typeface="+mn-lt"/>
                  <a:ea typeface="+mn-ea"/>
                  <a:cs typeface="+mn-cs"/>
                </a:rPr>
                <a:t>其他 6%​</a:t>
              </a:r>
            </a:p>
          </p:txBody>
        </p:sp>
        <p:sp>
          <p:nvSpPr>
            <p:cNvPr id="240" name="TextBox 240"/>
            <p:cNvSpPr txBox="1"/>
            <p:nvPr/>
          </p:nvSpPr>
          <p:spPr>
            <a:xfrm>
              <a:off x="11364754" y="5081588"/>
              <a:ext cx="489109"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26.5亿元​</a:t>
              </a:r>
            </a:p>
          </p:txBody>
        </p:sp>
        <p:sp>
          <p:nvSpPr>
            <p:cNvPr id="241" name="Line 241"/>
            <p:cNvSpPr/>
            <p:nvPr/>
          </p:nvSpPr>
          <p:spPr>
            <a:xfrm>
              <a:off x="9163050" y="5391150"/>
              <a:ext cx="2686050" cy="9525"/>
            </a:xfrm>
            <a:custGeom>
              <a:avLst/>
              <a:gdLst/>
              <a:ahLst/>
              <a:cxnLst/>
              <a:rect l="l" t="t" r="r" b="b"/>
              <a:pathLst>
                <a:path w="2686050" h="9525">
                  <a:moveTo>
                    <a:pt x="0" y="0"/>
                  </a:moveTo>
                  <a:lnTo>
                    <a:pt x="2686050" y="0"/>
                  </a:lnTo>
                </a:path>
              </a:pathLst>
            </a:custGeom>
            <a:noFill/>
            <a:ln w="9525">
              <a:solidFill>
                <a:srgbClr val="EDF2FA"/>
              </a:solidFill>
            </a:ln>
          </p:spPr>
        </p:sp>
        <p:sp>
          <p:nvSpPr>
            <p:cNvPr id="242" name="TextBox 242"/>
            <p:cNvSpPr txBox="1"/>
            <p:nvPr/>
          </p:nvSpPr>
          <p:spPr>
            <a:xfrm>
              <a:off x="9158288" y="5546884"/>
              <a:ext cx="1210881"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 xml:space="preserve">储备融资合计 </a:t>
              </a:r>
              <a:r>
                <a:rPr lang="zh-CN" sz="820" b="1" dirty="0">
                  <a:solidFill>
                    <a:srgbClr val="69281B"/>
                  </a:solidFill>
                  <a:latin typeface="+mn-lt"/>
                  <a:ea typeface="+mn-ea"/>
                  <a:cs typeface="+mn-cs"/>
                </a:rPr>
                <a:t>424.7 亿元</a:t>
              </a:r>
              <a:r>
                <a:rPr lang="zh-CN" sz="680" dirty="0">
                  <a:solidFill>
                    <a:srgbClr val="70504A"/>
                  </a:solidFill>
                  <a:latin typeface="+mn-lt"/>
                  <a:ea typeface="+mn-ea"/>
                  <a:cs typeface="+mn-cs"/>
                </a:rPr>
                <a:t>​</a:t>
              </a:r>
            </a:p>
          </p:txBody>
        </p:sp>
        <p:sp>
          <p:nvSpPr>
            <p:cNvPr id="243" name="TextBox 243"/>
            <p:cNvSpPr txBox="1"/>
            <p:nvPr/>
          </p:nvSpPr>
          <p:spPr>
            <a:xfrm>
              <a:off x="9158288" y="5779532"/>
              <a:ext cx="1327724"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数据口径：2026年6月末（示例）​</a:t>
              </a:r>
            </a:p>
          </p:txBody>
        </p:sp>
        <p:sp>
          <p:nvSpPr>
            <p:cNvPr id="244" name="TextBox 244"/>
            <p:cNvSpPr txBox="1"/>
            <p:nvPr/>
          </p:nvSpPr>
          <p:spPr>
            <a:xfrm>
              <a:off x="9158288" y="5970032"/>
              <a:ext cx="1646504"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环形图角度按各类型储备融资金额占比绘制</a:t>
              </a:r>
            </a:p>
          </p:txBody>
        </p:sp>
      </p:grpSp>
      <p:sp>
        <p:nvSpPr>
          <p:cNvPr id="246"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08 / 18 页​</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09​</a:t>
              </a:r>
            </a:p>
          </p:txBody>
        </p:sp>
        <p:sp>
          <p:nvSpPr>
            <p:cNvPr id="4" name="TextBox 4"/>
            <p:cNvSpPr txBox="1"/>
            <p:nvPr/>
          </p:nvSpPr>
          <p:spPr>
            <a:xfrm>
              <a:off x="1019175" y="169069"/>
              <a:ext cx="7611618"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综合金融服务能力不断增强，中收来源由单一结算向多产品协同拓展</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59428" y="300038"/>
              <a:ext cx="1423035"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金额单位：人民币亿元（示例）</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19" name="kpi-fee"/>
          <p:cNvGrpSpPr/>
          <p:nvPr/>
        </p:nvGrpSpPr>
        <p:grpSpPr>
          <a:xfrm>
            <a:off x="228600" y="685800"/>
            <a:ext cx="2819400" cy="857250"/>
            <a:chOff x="228600" y="685800"/>
            <a:chExt cx="2819400" cy="857250"/>
          </a:xfrm>
        </p:grpSpPr>
        <p:sp>
          <p:nvSpPr>
            <p:cNvPr id="9" name="Rectangle 9"/>
            <p:cNvSpPr/>
            <p:nvPr/>
          </p:nvSpPr>
          <p:spPr>
            <a:xfrm>
              <a:off x="228600" y="685800"/>
              <a:ext cx="2819400" cy="857250"/>
            </a:xfrm>
            <a:prstGeom prst="roundRect">
              <a:avLst>
                <a:gd name="adj" fmla="val 6667"/>
              </a:avLst>
            </a:prstGeom>
            <a:solidFill>
              <a:srgbClr val="FFFFFF"/>
            </a:solidFill>
            <a:ln w="9525">
              <a:solidFill>
                <a:srgbClr val="C9D6E9"/>
              </a:solidFill>
            </a:ln>
          </p:spPr>
        </p:sp>
        <p:sp>
          <p:nvSpPr>
            <p:cNvPr id="10" name="Ellipse 10"/>
            <p:cNvSpPr/>
            <p:nvPr/>
          </p:nvSpPr>
          <p:spPr>
            <a:xfrm>
              <a:off x="381000" y="885825"/>
              <a:ext cx="457200" cy="457200"/>
            </a:xfrm>
            <a:prstGeom prst="ellipse">
              <a:avLst/>
            </a:prstGeom>
            <a:solidFill>
              <a:srgbClr val="EAF1FB"/>
            </a:solidFill>
            <a:ln>
              <a:noFill/>
            </a:ln>
          </p:spPr>
        </p:sp>
        <p:grpSp>
          <p:nvGrpSpPr>
            <p:cNvPr id="16" name="Group 16"/>
            <p:cNvGrpSpPr/>
            <p:nvPr/>
          </p:nvGrpSpPr>
          <p:grpSpPr>
            <a:xfrm>
              <a:off x="516731" y="1020173"/>
              <a:ext cx="185737" cy="187120"/>
              <a:chOff x="516731" y="1020173"/>
              <a:chExt cx="185737" cy="187120"/>
            </a:xfrm>
          </p:grpSpPr>
          <p:sp>
            <p:nvSpPr>
              <p:cNvPr id="11" name="Freeform 11"/>
              <p:cNvSpPr/>
              <p:nvPr/>
            </p:nvSpPr>
            <p:spPr>
              <a:xfrm>
                <a:off x="578643" y="1104106"/>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69281B"/>
                </a:solidFill>
              </a:ln>
            </p:spPr>
          </p:sp>
          <p:sp>
            <p:nvSpPr>
              <p:cNvPr id="12" name="Freeform 12"/>
              <p:cNvSpPr/>
              <p:nvPr/>
            </p:nvSpPr>
            <p:spPr>
              <a:xfrm>
                <a:off x="578643" y="1135062"/>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69281B"/>
                </a:solidFill>
              </a:ln>
            </p:spPr>
          </p:sp>
          <p:sp>
            <p:nvSpPr>
              <p:cNvPr id="13" name="Freeform 13"/>
              <p:cNvSpPr/>
              <p:nvPr/>
            </p:nvSpPr>
            <p:spPr>
              <a:xfrm>
                <a:off x="516731" y="1020173"/>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69281B"/>
                </a:solidFill>
              </a:ln>
            </p:spPr>
          </p:sp>
          <p:sp>
            <p:nvSpPr>
              <p:cNvPr id="14" name="Freeform 14"/>
              <p:cNvSpPr/>
              <p:nvPr/>
            </p:nvSpPr>
            <p:spPr>
              <a:xfrm>
                <a:off x="516731" y="1052512"/>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69281B"/>
                </a:solidFill>
              </a:ln>
            </p:spPr>
          </p:sp>
          <p:sp>
            <p:nvSpPr>
              <p:cNvPr id="15" name="Freeform 15"/>
              <p:cNvSpPr/>
              <p:nvPr/>
            </p:nvSpPr>
            <p:spPr>
              <a:xfrm>
                <a:off x="516731" y="1104106"/>
                <a:ext cx="20637" cy="20637"/>
              </a:xfrm>
              <a:custGeom>
                <a:avLst/>
                <a:gdLst/>
                <a:ahLst/>
                <a:cxnLst/>
                <a:rect l="l" t="t" r="r" b="b"/>
                <a:pathLst>
                  <a:path w="20637" h="20637">
                    <a:moveTo>
                      <a:pt x="0" y="0"/>
                    </a:moveTo>
                    <a:cubicBezTo>
                      <a:pt x="0" y="9163"/>
                      <a:pt x="7966" y="14962"/>
                      <a:pt x="20637" y="20637"/>
                    </a:cubicBezTo>
                  </a:path>
                </a:pathLst>
              </a:custGeom>
              <a:noFill/>
              <a:ln w="20637">
                <a:solidFill>
                  <a:srgbClr val="69281B"/>
                </a:solidFill>
              </a:ln>
            </p:spPr>
          </p:sp>
        </p:grpSp>
        <p:sp>
          <p:nvSpPr>
            <p:cNvPr id="17" name="TextBox 17"/>
            <p:cNvSpPr txBox="1"/>
            <p:nvPr/>
          </p:nvSpPr>
          <p:spPr>
            <a:xfrm>
              <a:off x="947738" y="897493"/>
              <a:ext cx="1051484" cy="169069"/>
            </a:xfrm>
            <a:prstGeom prst="rect">
              <a:avLst/>
            </a:prstGeom>
            <a:noFill/>
            <a:ln>
              <a:noFill/>
            </a:ln>
          </p:spPr>
          <p:txBody>
            <a:bodyPr wrap="none" lIns="0" tIns="0" rIns="0" bIns="0" anchor="t" anchorCtr="0">
              <a:spAutoFit/>
            </a:bodyPr>
            <a:lstStyle/>
            <a:p>
              <a:pPr algn="l"/>
              <a:r>
                <a:rPr lang="zh-CN" sz="860" dirty="0">
                  <a:solidFill>
                    <a:srgbClr val="987F7A"/>
                  </a:solidFill>
                  <a:latin typeface="+mn-lt"/>
                  <a:ea typeface="+mn-ea"/>
                  <a:cs typeface="+mn-cs"/>
                </a:rPr>
                <a:t>公司中收（上半年）</a:t>
              </a:r>
            </a:p>
          </p:txBody>
        </p:sp>
        <p:sp>
          <p:nvSpPr>
            <p:cNvPr id="18" name="TextBox 18"/>
            <p:cNvSpPr txBox="1"/>
            <p:nvPr/>
          </p:nvSpPr>
          <p:spPr>
            <a:xfrm>
              <a:off x="942213" y="1095851"/>
              <a:ext cx="1109212" cy="396050"/>
            </a:xfrm>
            <a:prstGeom prst="rect">
              <a:avLst/>
            </a:prstGeom>
            <a:noFill/>
            <a:ln>
              <a:noFill/>
            </a:ln>
          </p:spPr>
          <p:txBody>
            <a:bodyPr wrap="none" lIns="0" tIns="0" rIns="0" bIns="0" anchor="t" anchorCtr="0">
              <a:spAutoFit/>
            </a:bodyPr>
            <a:lstStyle/>
            <a:p>
              <a:pPr algn="l"/>
              <a:r>
                <a:rPr lang="zh-CN" sz="2020" b="1" dirty="0">
                  <a:solidFill>
                    <a:srgbClr val="69281B"/>
                  </a:solidFill>
                  <a:latin typeface="+mn-lt"/>
                  <a:ea typeface="+mn-ea"/>
                  <a:cs typeface="+mn-cs"/>
                </a:rPr>
                <a:t>1.86</a:t>
              </a:r>
              <a:r>
                <a:rPr lang="zh-CN" sz="980" dirty="0">
                  <a:solidFill>
                    <a:srgbClr val="69281B"/>
                  </a:solidFill>
                  <a:latin typeface="+mn-lt"/>
                  <a:ea typeface="+mn-ea"/>
                  <a:cs typeface="+mn-cs"/>
                </a:rPr>
                <a:t xml:space="preserve"> 亿元</a:t>
              </a:r>
              <a:r>
                <a:rPr lang="zh-CN" sz="2020" b="1" dirty="0">
                  <a:solidFill>
                    <a:srgbClr val="69281B"/>
                  </a:solidFill>
                  <a:latin typeface="+mn-lt"/>
                  <a:ea typeface="+mn-ea"/>
                  <a:cs typeface="+mn-cs"/>
                </a:rPr>
                <a:t>​</a:t>
              </a:r>
            </a:p>
          </p:txBody>
        </p:sp>
      </p:grpSp>
      <p:grpSp>
        <p:nvGrpSpPr>
          <p:cNvPr id="27" name="kpi-growth"/>
          <p:cNvGrpSpPr/>
          <p:nvPr/>
        </p:nvGrpSpPr>
        <p:grpSpPr>
          <a:xfrm>
            <a:off x="3162300" y="685800"/>
            <a:ext cx="2819400" cy="857250"/>
            <a:chOff x="3162300" y="685800"/>
            <a:chExt cx="2819400" cy="857250"/>
          </a:xfrm>
        </p:grpSpPr>
        <p:sp>
          <p:nvSpPr>
            <p:cNvPr id="20" name="Rectangle 20"/>
            <p:cNvSpPr/>
            <p:nvPr/>
          </p:nvSpPr>
          <p:spPr>
            <a:xfrm>
              <a:off x="3162300" y="685800"/>
              <a:ext cx="2819400" cy="857250"/>
            </a:xfrm>
            <a:prstGeom prst="roundRect">
              <a:avLst>
                <a:gd name="adj" fmla="val 6667"/>
              </a:avLst>
            </a:prstGeom>
            <a:solidFill>
              <a:srgbClr val="FFFFFF"/>
            </a:solidFill>
            <a:ln w="9525">
              <a:solidFill>
                <a:srgbClr val="C9D6E9"/>
              </a:solidFill>
            </a:ln>
          </p:spPr>
        </p:sp>
        <p:sp>
          <p:nvSpPr>
            <p:cNvPr id="21" name="Ellipse 21"/>
            <p:cNvSpPr/>
            <p:nvPr/>
          </p:nvSpPr>
          <p:spPr>
            <a:xfrm>
              <a:off x="3314700" y="885825"/>
              <a:ext cx="457200" cy="457200"/>
            </a:xfrm>
            <a:prstGeom prst="ellipse">
              <a:avLst/>
            </a:prstGeom>
            <a:solidFill>
              <a:srgbClr val="EAF1FB"/>
            </a:solidFill>
            <a:ln>
              <a:noFill/>
            </a:ln>
          </p:spPr>
        </p:sp>
        <p:grpSp>
          <p:nvGrpSpPr>
            <p:cNvPr id="24" name="Group 24"/>
            <p:cNvGrpSpPr/>
            <p:nvPr/>
          </p:nvGrpSpPr>
          <p:grpSpPr>
            <a:xfrm>
              <a:off x="3450431" y="1062831"/>
              <a:ext cx="185737" cy="103187"/>
              <a:chOff x="3450431" y="1062831"/>
              <a:chExt cx="185737" cy="103187"/>
            </a:xfrm>
          </p:grpSpPr>
          <p:sp>
            <p:nvSpPr>
              <p:cNvPr id="22" name="Freeform 22"/>
              <p:cNvSpPr/>
              <p:nvPr/>
            </p:nvSpPr>
            <p:spPr>
              <a:xfrm>
                <a:off x="3450431" y="1062831"/>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69281B"/>
                </a:solidFill>
              </a:ln>
            </p:spPr>
          </p:sp>
          <p:sp>
            <p:nvSpPr>
              <p:cNvPr id="23" name="Freeform 23"/>
              <p:cNvSpPr/>
              <p:nvPr/>
            </p:nvSpPr>
            <p:spPr>
              <a:xfrm>
                <a:off x="3563937" y="1062831"/>
                <a:ext cx="72231" cy="72231"/>
              </a:xfrm>
              <a:custGeom>
                <a:avLst/>
                <a:gdLst/>
                <a:ahLst/>
                <a:cxnLst/>
                <a:rect l="l" t="t" r="r" b="b"/>
                <a:pathLst>
                  <a:path w="72231" h="72231">
                    <a:moveTo>
                      <a:pt x="0" y="0"/>
                    </a:moveTo>
                    <a:lnTo>
                      <a:pt x="72231" y="0"/>
                    </a:lnTo>
                    <a:lnTo>
                      <a:pt x="72231" y="72231"/>
                    </a:lnTo>
                  </a:path>
                </a:pathLst>
              </a:custGeom>
              <a:noFill/>
              <a:ln w="20637">
                <a:solidFill>
                  <a:srgbClr val="69281B"/>
                </a:solidFill>
              </a:ln>
            </p:spPr>
          </p:sp>
        </p:grpSp>
        <p:sp>
          <p:nvSpPr>
            <p:cNvPr id="25" name="TextBox 25"/>
            <p:cNvSpPr txBox="1"/>
            <p:nvPr/>
          </p:nvSpPr>
          <p:spPr>
            <a:xfrm>
              <a:off x="3881438" y="897493"/>
              <a:ext cx="472618" cy="169069"/>
            </a:xfrm>
            <a:prstGeom prst="rect">
              <a:avLst/>
            </a:prstGeom>
            <a:noFill/>
            <a:ln>
              <a:noFill/>
            </a:ln>
          </p:spPr>
          <p:txBody>
            <a:bodyPr wrap="none" lIns="0" tIns="0" rIns="0" bIns="0" anchor="t" anchorCtr="0">
              <a:spAutoFit/>
            </a:bodyPr>
            <a:lstStyle/>
            <a:p>
              <a:pPr algn="l"/>
              <a:r>
                <a:rPr lang="zh-CN" sz="860" dirty="0">
                  <a:solidFill>
                    <a:srgbClr val="987F7A"/>
                  </a:solidFill>
                  <a:latin typeface="+mn-lt"/>
                  <a:ea typeface="+mn-ea"/>
                  <a:cs typeface="+mn-cs"/>
                </a:rPr>
                <a:t>同比增速</a:t>
              </a:r>
            </a:p>
          </p:txBody>
        </p:sp>
        <p:sp>
          <p:nvSpPr>
            <p:cNvPr id="26" name="TextBox 26"/>
            <p:cNvSpPr txBox="1"/>
            <p:nvPr/>
          </p:nvSpPr>
          <p:spPr>
            <a:xfrm>
              <a:off x="3875913" y="1095851"/>
              <a:ext cx="1101344" cy="396050"/>
            </a:xfrm>
            <a:prstGeom prst="rect">
              <a:avLst/>
            </a:prstGeom>
            <a:noFill/>
            <a:ln>
              <a:noFill/>
            </a:ln>
          </p:spPr>
          <p:txBody>
            <a:bodyPr wrap="none" lIns="0" tIns="0" rIns="0" bIns="0" anchor="t" anchorCtr="0">
              <a:spAutoFit/>
            </a:bodyPr>
            <a:lstStyle/>
            <a:p>
              <a:pPr algn="l"/>
              <a:r>
                <a:rPr lang="zh-CN" sz="2020" b="1" dirty="0">
                  <a:solidFill>
                    <a:srgbClr val="E04C2E"/>
                  </a:solidFill>
                  <a:latin typeface="+mn-lt"/>
                  <a:ea typeface="+mn-ea"/>
                  <a:cs typeface="+mn-cs"/>
                </a:rPr>
                <a:t>+16.8</a:t>
              </a:r>
              <a:r>
                <a:rPr lang="zh-CN" sz="980" dirty="0">
                  <a:solidFill>
                    <a:srgbClr val="5F3A33"/>
                  </a:solidFill>
                  <a:latin typeface="+mn-lt"/>
                  <a:ea typeface="+mn-ea"/>
                  <a:cs typeface="+mn-cs"/>
                </a:rPr>
                <a:t xml:space="preserve"> %</a:t>
              </a:r>
              <a:r>
                <a:rPr lang="zh-CN" sz="2020" b="1" dirty="0">
                  <a:solidFill>
                    <a:srgbClr val="E04C2E"/>
                  </a:solidFill>
                  <a:latin typeface="+mn-lt"/>
                  <a:ea typeface="+mn-ea"/>
                  <a:cs typeface="+mn-cs"/>
                </a:rPr>
                <a:t>​</a:t>
              </a:r>
            </a:p>
          </p:txBody>
        </p:sp>
      </p:grpSp>
      <p:grpSp>
        <p:nvGrpSpPr>
          <p:cNvPr id="36" name="kpi-plan"/>
          <p:cNvGrpSpPr/>
          <p:nvPr/>
        </p:nvGrpSpPr>
        <p:grpSpPr>
          <a:xfrm>
            <a:off x="6096000" y="685800"/>
            <a:ext cx="2819400" cy="857250"/>
            <a:chOff x="6096000" y="685800"/>
            <a:chExt cx="2819400" cy="857250"/>
          </a:xfrm>
        </p:grpSpPr>
        <p:sp>
          <p:nvSpPr>
            <p:cNvPr id="28" name="Rectangle 28"/>
            <p:cNvSpPr/>
            <p:nvPr/>
          </p:nvSpPr>
          <p:spPr>
            <a:xfrm>
              <a:off x="6096000" y="685800"/>
              <a:ext cx="2819400" cy="857250"/>
            </a:xfrm>
            <a:prstGeom prst="roundRect">
              <a:avLst>
                <a:gd name="adj" fmla="val 6667"/>
              </a:avLst>
            </a:prstGeom>
            <a:solidFill>
              <a:srgbClr val="FFFFFF"/>
            </a:solidFill>
            <a:ln w="9525">
              <a:solidFill>
                <a:srgbClr val="C9D6E9"/>
              </a:solidFill>
            </a:ln>
          </p:spPr>
        </p:sp>
        <p:sp>
          <p:nvSpPr>
            <p:cNvPr id="29" name="Ellipse 29"/>
            <p:cNvSpPr/>
            <p:nvPr/>
          </p:nvSpPr>
          <p:spPr>
            <a:xfrm>
              <a:off x="6248400" y="885825"/>
              <a:ext cx="457200" cy="457200"/>
            </a:xfrm>
            <a:prstGeom prst="ellipse">
              <a:avLst/>
            </a:prstGeom>
            <a:solidFill>
              <a:srgbClr val="EAF1FB"/>
            </a:solidFill>
            <a:ln>
              <a:noFill/>
            </a:ln>
          </p:spPr>
        </p:sp>
        <p:grpSp>
          <p:nvGrpSpPr>
            <p:cNvPr id="33" name="Group 33"/>
            <p:cNvGrpSpPr/>
            <p:nvPr/>
          </p:nvGrpSpPr>
          <p:grpSpPr>
            <a:xfrm>
              <a:off x="6384131" y="1021556"/>
              <a:ext cx="185737" cy="185737"/>
              <a:chOff x="6384131" y="1021556"/>
              <a:chExt cx="185737" cy="185737"/>
            </a:xfrm>
          </p:grpSpPr>
          <p:sp>
            <p:nvSpPr>
              <p:cNvPr id="30" name="Freeform 30"/>
              <p:cNvSpPr/>
              <p:nvPr/>
            </p:nvSpPr>
            <p:spPr>
              <a:xfrm>
                <a:off x="6466681" y="110410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69281B"/>
                </a:solidFill>
              </a:ln>
            </p:spPr>
          </p:sp>
          <p:sp>
            <p:nvSpPr>
              <p:cNvPr id="31" name="Freeform 31"/>
              <p:cNvSpPr/>
              <p:nvPr/>
            </p:nvSpPr>
            <p:spPr>
              <a:xfrm>
                <a:off x="6425406" y="106283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69281B"/>
                </a:solidFill>
              </a:ln>
            </p:spPr>
          </p:sp>
          <p:sp>
            <p:nvSpPr>
              <p:cNvPr id="32" name="Freeform 32"/>
              <p:cNvSpPr/>
              <p:nvPr/>
            </p:nvSpPr>
            <p:spPr>
              <a:xfrm>
                <a:off x="6384131" y="10215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69281B"/>
                </a:solidFill>
              </a:ln>
            </p:spPr>
          </p:sp>
        </p:grpSp>
        <p:sp>
          <p:nvSpPr>
            <p:cNvPr id="34" name="TextBox 34"/>
            <p:cNvSpPr txBox="1"/>
            <p:nvPr/>
          </p:nvSpPr>
          <p:spPr>
            <a:xfrm>
              <a:off x="6815138" y="897493"/>
              <a:ext cx="588391" cy="169069"/>
            </a:xfrm>
            <a:prstGeom prst="rect">
              <a:avLst/>
            </a:prstGeom>
            <a:noFill/>
            <a:ln>
              <a:noFill/>
            </a:ln>
          </p:spPr>
          <p:txBody>
            <a:bodyPr wrap="none" lIns="0" tIns="0" rIns="0" bIns="0" anchor="t" anchorCtr="0">
              <a:spAutoFit/>
            </a:bodyPr>
            <a:lstStyle/>
            <a:p>
              <a:pPr algn="l"/>
              <a:r>
                <a:rPr lang="zh-CN" sz="860" dirty="0">
                  <a:solidFill>
                    <a:srgbClr val="987F7A"/>
                  </a:solidFill>
                  <a:latin typeface="+mn-lt"/>
                  <a:ea typeface="+mn-ea"/>
                  <a:cs typeface="+mn-cs"/>
                </a:rPr>
                <a:t>计划完成率</a:t>
              </a:r>
            </a:p>
          </p:txBody>
        </p:sp>
        <p:sp>
          <p:nvSpPr>
            <p:cNvPr id="35" name="TextBox 35"/>
            <p:cNvSpPr txBox="1"/>
            <p:nvPr/>
          </p:nvSpPr>
          <p:spPr>
            <a:xfrm>
              <a:off x="6809613" y="1095851"/>
              <a:ext cx="1101344" cy="396050"/>
            </a:xfrm>
            <a:prstGeom prst="rect">
              <a:avLst/>
            </a:prstGeom>
            <a:noFill/>
            <a:ln>
              <a:noFill/>
            </a:ln>
          </p:spPr>
          <p:txBody>
            <a:bodyPr wrap="none" lIns="0" tIns="0" rIns="0" bIns="0" anchor="t" anchorCtr="0">
              <a:spAutoFit/>
            </a:bodyPr>
            <a:lstStyle/>
            <a:p>
              <a:pPr algn="l"/>
              <a:r>
                <a:rPr lang="zh-CN" sz="2020" b="1" dirty="0">
                  <a:solidFill>
                    <a:srgbClr val="E04C2E"/>
                  </a:solidFill>
                  <a:latin typeface="+mn-lt"/>
                  <a:ea typeface="+mn-ea"/>
                  <a:cs typeface="+mn-cs"/>
                </a:rPr>
                <a:t>112.2</a:t>
              </a:r>
              <a:r>
                <a:rPr lang="zh-CN" sz="980" dirty="0">
                  <a:solidFill>
                    <a:srgbClr val="5F3A33"/>
                  </a:solidFill>
                  <a:latin typeface="+mn-lt"/>
                  <a:ea typeface="+mn-ea"/>
                  <a:cs typeface="+mn-cs"/>
                </a:rPr>
                <a:t xml:space="preserve"> %</a:t>
              </a:r>
              <a:r>
                <a:rPr lang="zh-CN" sz="2020" b="1" dirty="0">
                  <a:solidFill>
                    <a:srgbClr val="E04C2E"/>
                  </a:solidFill>
                  <a:latin typeface="+mn-lt"/>
                  <a:ea typeface="+mn-ea"/>
                  <a:cs typeface="+mn-cs"/>
                </a:rPr>
                <a:t>​</a:t>
              </a:r>
            </a:p>
          </p:txBody>
        </p:sp>
      </p:grpSp>
      <p:grpSp>
        <p:nvGrpSpPr>
          <p:cNvPr id="48" name="kpi-clients"/>
          <p:cNvGrpSpPr/>
          <p:nvPr/>
        </p:nvGrpSpPr>
        <p:grpSpPr>
          <a:xfrm>
            <a:off x="9029700" y="685800"/>
            <a:ext cx="2819400" cy="857250"/>
            <a:chOff x="9029700" y="685800"/>
            <a:chExt cx="2819400" cy="857250"/>
          </a:xfrm>
        </p:grpSpPr>
        <p:sp>
          <p:nvSpPr>
            <p:cNvPr id="37" name="Rectangle 37"/>
            <p:cNvSpPr/>
            <p:nvPr/>
          </p:nvSpPr>
          <p:spPr>
            <a:xfrm>
              <a:off x="9029700" y="685800"/>
              <a:ext cx="2819400" cy="857250"/>
            </a:xfrm>
            <a:prstGeom prst="roundRect">
              <a:avLst>
                <a:gd name="adj" fmla="val 6667"/>
              </a:avLst>
            </a:prstGeom>
            <a:solidFill>
              <a:srgbClr val="FFFFFF"/>
            </a:solidFill>
            <a:ln w="9525">
              <a:solidFill>
                <a:srgbClr val="C9D6E9"/>
              </a:solidFill>
            </a:ln>
          </p:spPr>
        </p:sp>
        <p:sp>
          <p:nvSpPr>
            <p:cNvPr id="38" name="Ellipse 38"/>
            <p:cNvSpPr/>
            <p:nvPr/>
          </p:nvSpPr>
          <p:spPr>
            <a:xfrm>
              <a:off x="9182100" y="885825"/>
              <a:ext cx="457200" cy="457200"/>
            </a:xfrm>
            <a:prstGeom prst="ellipse">
              <a:avLst/>
            </a:prstGeom>
            <a:solidFill>
              <a:srgbClr val="EAF1FB"/>
            </a:solidFill>
            <a:ln>
              <a:noFill/>
            </a:ln>
          </p:spPr>
        </p:sp>
        <p:grpSp>
          <p:nvGrpSpPr>
            <p:cNvPr id="45" name="Group 45"/>
            <p:cNvGrpSpPr/>
            <p:nvPr/>
          </p:nvGrpSpPr>
          <p:grpSpPr>
            <a:xfrm>
              <a:off x="9317831" y="1021556"/>
              <a:ext cx="185737" cy="185737"/>
              <a:chOff x="9317831" y="1021556"/>
              <a:chExt cx="185737" cy="185737"/>
            </a:xfrm>
          </p:grpSpPr>
          <p:sp>
            <p:nvSpPr>
              <p:cNvPr id="39" name="Freeform 39"/>
              <p:cNvSpPr/>
              <p:nvPr/>
            </p:nvSpPr>
            <p:spPr>
              <a:xfrm>
                <a:off x="9390062" y="11041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69281B"/>
                </a:solidFill>
              </a:ln>
            </p:spPr>
          </p:sp>
          <p:sp>
            <p:nvSpPr>
              <p:cNvPr id="40" name="Freeform 40"/>
              <p:cNvSpPr/>
              <p:nvPr/>
            </p:nvSpPr>
            <p:spPr>
              <a:xfrm>
                <a:off x="9369425" y="117633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69281B"/>
                </a:solidFill>
              </a:ln>
            </p:spPr>
          </p:sp>
          <p:sp>
            <p:nvSpPr>
              <p:cNvPr id="41" name="Freeform 41"/>
              <p:cNvSpPr/>
              <p:nvPr/>
            </p:nvSpPr>
            <p:spPr>
              <a:xfrm>
                <a:off x="9441656" y="10215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69281B"/>
                </a:solidFill>
              </a:ln>
            </p:spPr>
          </p:sp>
          <p:sp>
            <p:nvSpPr>
              <p:cNvPr id="42" name="Freeform 42"/>
              <p:cNvSpPr/>
              <p:nvPr/>
            </p:nvSpPr>
            <p:spPr>
              <a:xfrm>
                <a:off x="9462293" y="109378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69281B"/>
                </a:solidFill>
              </a:ln>
            </p:spPr>
          </p:sp>
          <p:sp>
            <p:nvSpPr>
              <p:cNvPr id="43" name="Freeform 43"/>
              <p:cNvSpPr/>
              <p:nvPr/>
            </p:nvSpPr>
            <p:spPr>
              <a:xfrm>
                <a:off x="9338469" y="10215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69281B"/>
                </a:solidFill>
              </a:ln>
            </p:spPr>
          </p:sp>
          <p:sp>
            <p:nvSpPr>
              <p:cNvPr id="44" name="Freeform 44"/>
              <p:cNvSpPr/>
              <p:nvPr/>
            </p:nvSpPr>
            <p:spPr>
              <a:xfrm>
                <a:off x="9317831" y="109378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69281B"/>
                </a:solidFill>
              </a:ln>
            </p:spPr>
          </p:sp>
        </p:grpSp>
        <p:sp>
          <p:nvSpPr>
            <p:cNvPr id="46" name="TextBox 46"/>
            <p:cNvSpPr txBox="1"/>
            <p:nvPr/>
          </p:nvSpPr>
          <p:spPr>
            <a:xfrm>
              <a:off x="9748838" y="897493"/>
              <a:ext cx="704164" cy="169069"/>
            </a:xfrm>
            <a:prstGeom prst="rect">
              <a:avLst/>
            </a:prstGeom>
            <a:noFill/>
            <a:ln>
              <a:noFill/>
            </a:ln>
          </p:spPr>
          <p:txBody>
            <a:bodyPr wrap="none" lIns="0" tIns="0" rIns="0" bIns="0" anchor="t" anchorCtr="0">
              <a:spAutoFit/>
            </a:bodyPr>
            <a:lstStyle/>
            <a:p>
              <a:pPr algn="l"/>
              <a:r>
                <a:rPr lang="zh-CN" sz="860" dirty="0">
                  <a:solidFill>
                    <a:srgbClr val="987F7A"/>
                  </a:solidFill>
                  <a:latin typeface="+mn-lt"/>
                  <a:ea typeface="+mn-ea"/>
                  <a:cs typeface="+mn-cs"/>
                </a:rPr>
                <a:t>综合融资客户</a:t>
              </a:r>
            </a:p>
          </p:txBody>
        </p:sp>
        <p:sp>
          <p:nvSpPr>
            <p:cNvPr id="47" name="TextBox 47"/>
            <p:cNvSpPr txBox="1"/>
            <p:nvPr/>
          </p:nvSpPr>
          <p:spPr>
            <a:xfrm>
              <a:off x="9743313" y="1095851"/>
              <a:ext cx="820244" cy="396050"/>
            </a:xfrm>
            <a:prstGeom prst="rect">
              <a:avLst/>
            </a:prstGeom>
            <a:noFill/>
            <a:ln>
              <a:noFill/>
            </a:ln>
          </p:spPr>
          <p:txBody>
            <a:bodyPr wrap="none" lIns="0" tIns="0" rIns="0" bIns="0" anchor="t" anchorCtr="0">
              <a:spAutoFit/>
            </a:bodyPr>
            <a:lstStyle/>
            <a:p>
              <a:pPr algn="l"/>
              <a:r>
                <a:rPr lang="zh-CN" sz="2020" b="1" dirty="0">
                  <a:solidFill>
                    <a:srgbClr val="69281B"/>
                  </a:solidFill>
                  <a:latin typeface="+mn-lt"/>
                  <a:ea typeface="+mn-ea"/>
                  <a:cs typeface="+mn-cs"/>
                </a:rPr>
                <a:t>680</a:t>
              </a:r>
              <a:r>
                <a:rPr lang="zh-CN" sz="980" dirty="0">
                  <a:solidFill>
                    <a:srgbClr val="69281B"/>
                  </a:solidFill>
                  <a:latin typeface="+mn-lt"/>
                  <a:ea typeface="+mn-ea"/>
                  <a:cs typeface="+mn-cs"/>
                </a:rPr>
                <a:t xml:space="preserve"> 户</a:t>
              </a:r>
              <a:r>
                <a:rPr lang="zh-CN" sz="2020" b="1" dirty="0">
                  <a:solidFill>
                    <a:srgbClr val="69281B"/>
                  </a:solidFill>
                  <a:latin typeface="+mn-lt"/>
                  <a:ea typeface="+mn-ea"/>
                  <a:cs typeface="+mn-cs"/>
                </a:rPr>
                <a:t>​</a:t>
              </a:r>
            </a:p>
          </p:txBody>
        </p:sp>
      </p:grpSp>
      <p:grpSp>
        <p:nvGrpSpPr>
          <p:cNvPr id="77" name="fee-pie"/>
          <p:cNvGrpSpPr/>
          <p:nvPr/>
        </p:nvGrpSpPr>
        <p:grpSpPr>
          <a:xfrm>
            <a:off x="228600" y="1638300"/>
            <a:ext cx="2667000" cy="2565559"/>
            <a:chOff x="228600" y="1638300"/>
            <a:chExt cx="2667000" cy="2565559"/>
          </a:xfrm>
        </p:grpSpPr>
        <p:sp>
          <p:nvSpPr>
            <p:cNvPr id="49" name="Rectangle 49"/>
            <p:cNvSpPr/>
            <p:nvPr/>
          </p:nvSpPr>
          <p:spPr>
            <a:xfrm>
              <a:off x="228600" y="1638300"/>
              <a:ext cx="2667000" cy="2552700"/>
            </a:xfrm>
            <a:prstGeom prst="roundRect">
              <a:avLst>
                <a:gd name="adj" fmla="val 2239"/>
              </a:avLst>
            </a:prstGeom>
            <a:solidFill>
              <a:srgbClr val="FFFFFF"/>
            </a:solidFill>
            <a:ln w="9525">
              <a:solidFill>
                <a:srgbClr val="C9D6E9"/>
              </a:solidFill>
            </a:ln>
          </p:spPr>
        </p:sp>
        <p:sp>
          <p:nvSpPr>
            <p:cNvPr id="50" name="Rectangle 50"/>
            <p:cNvSpPr/>
            <p:nvPr/>
          </p:nvSpPr>
          <p:spPr>
            <a:xfrm>
              <a:off x="228600" y="1638300"/>
              <a:ext cx="2667000" cy="228600"/>
            </a:xfrm>
            <a:prstGeom prst="roundRect">
              <a:avLst>
                <a:gd name="adj" fmla="val 25000"/>
              </a:avLst>
            </a:prstGeom>
            <a:solidFill>
              <a:srgbClr val="69281B"/>
            </a:solidFill>
            <a:ln>
              <a:noFill/>
            </a:ln>
          </p:spPr>
        </p:sp>
        <p:sp>
          <p:nvSpPr>
            <p:cNvPr id="51" name="Rectangle 51"/>
            <p:cNvSpPr/>
            <p:nvPr/>
          </p:nvSpPr>
          <p:spPr>
            <a:xfrm>
              <a:off x="228600" y="1771650"/>
              <a:ext cx="2667000" cy="95250"/>
            </a:xfrm>
            <a:prstGeom prst="rect">
              <a:avLst/>
            </a:prstGeom>
            <a:solidFill>
              <a:srgbClr val="69281B"/>
            </a:solidFill>
            <a:ln>
              <a:noFill/>
            </a:ln>
          </p:spPr>
        </p:sp>
        <p:sp>
          <p:nvSpPr>
            <p:cNvPr id="52" name="TextBox 52"/>
            <p:cNvSpPr txBox="1"/>
            <p:nvPr/>
          </p:nvSpPr>
          <p:spPr>
            <a:xfrm>
              <a:off x="1012126" y="1703070"/>
              <a:ext cx="109994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中收结构（上半年）</a:t>
              </a:r>
            </a:p>
          </p:txBody>
        </p:sp>
        <p:sp>
          <p:nvSpPr>
            <p:cNvPr id="53" name="Freeform 53"/>
            <p:cNvSpPr/>
            <p:nvPr/>
          </p:nvSpPr>
          <p:spPr>
            <a:xfrm>
              <a:off x="1524000" y="2028810"/>
              <a:ext cx="921943" cy="1345898"/>
            </a:xfrm>
            <a:custGeom>
              <a:avLst/>
              <a:gdLst/>
              <a:ahLst/>
              <a:cxnLst/>
              <a:rect l="l" t="t" r="r" b="b"/>
              <a:pathLst>
                <a:path w="921943" h="1345898">
                  <a:moveTo>
                    <a:pt x="0" y="876315"/>
                  </a:moveTo>
                  <a:lnTo>
                    <a:pt x="0" y="15"/>
                  </a:lnTo>
                  <a:cubicBezTo>
                    <a:pt x="319653" y="0"/>
                    <a:pt x="613956" y="174041"/>
                    <a:pt x="767950" y="454156"/>
                  </a:cubicBezTo>
                  <a:cubicBezTo>
                    <a:pt x="921943" y="734270"/>
                    <a:pt x="911195" y="1076014"/>
                    <a:pt x="739902" y="1345898"/>
                  </a:cubicBezTo>
                  <a:close/>
                </a:path>
              </a:pathLst>
            </a:custGeom>
            <a:solidFill>
              <a:srgbClr val="69281B"/>
            </a:solidFill>
            <a:ln>
              <a:noFill/>
            </a:ln>
          </p:spPr>
        </p:sp>
        <p:sp>
          <p:nvSpPr>
            <p:cNvPr id="54" name="Freeform 54"/>
            <p:cNvSpPr/>
            <p:nvPr/>
          </p:nvSpPr>
          <p:spPr>
            <a:xfrm>
              <a:off x="1201388" y="2905125"/>
              <a:ext cx="1062514" cy="969649"/>
            </a:xfrm>
            <a:custGeom>
              <a:avLst/>
              <a:gdLst/>
              <a:ahLst/>
              <a:cxnLst/>
              <a:rect l="l" t="t" r="r" b="b"/>
              <a:pathLst>
                <a:path w="1062514" h="969649">
                  <a:moveTo>
                    <a:pt x="322612" y="0"/>
                  </a:moveTo>
                  <a:lnTo>
                    <a:pt x="1062514" y="469583"/>
                  </a:lnTo>
                  <a:cubicBezTo>
                    <a:pt x="837105" y="824757"/>
                    <a:pt x="391114" y="969649"/>
                    <a:pt x="0" y="814769"/>
                  </a:cubicBezTo>
                  <a:close/>
                </a:path>
              </a:pathLst>
            </a:custGeom>
            <a:solidFill>
              <a:srgbClr val="9B3824"/>
            </a:solidFill>
            <a:ln>
              <a:noFill/>
            </a:ln>
          </p:spPr>
        </p:sp>
        <p:sp>
          <p:nvSpPr>
            <p:cNvPr id="55" name="Freeform 55"/>
            <p:cNvSpPr/>
            <p:nvPr/>
          </p:nvSpPr>
          <p:spPr>
            <a:xfrm>
              <a:off x="649415" y="2905125"/>
              <a:ext cx="874585" cy="814769"/>
            </a:xfrm>
            <a:custGeom>
              <a:avLst/>
              <a:gdLst/>
              <a:ahLst/>
              <a:cxnLst/>
              <a:rect l="l" t="t" r="r" b="b"/>
              <a:pathLst>
                <a:path w="874585" h="814769">
                  <a:moveTo>
                    <a:pt x="874585" y="0"/>
                  </a:moveTo>
                  <a:lnTo>
                    <a:pt x="551974" y="814769"/>
                  </a:lnTo>
                  <a:cubicBezTo>
                    <a:pt x="236371" y="689809"/>
                    <a:pt x="21322" y="393824"/>
                    <a:pt x="0" y="55054"/>
                  </a:cubicBezTo>
                  <a:close/>
                </a:path>
              </a:pathLst>
            </a:custGeom>
            <a:solidFill>
              <a:srgbClr val="E04C2E"/>
            </a:solidFill>
            <a:ln>
              <a:noFill/>
            </a:ln>
          </p:spPr>
        </p:sp>
        <p:sp>
          <p:nvSpPr>
            <p:cNvPr id="56" name="Freeform 56"/>
            <p:cNvSpPr/>
            <p:nvPr/>
          </p:nvSpPr>
          <p:spPr>
            <a:xfrm>
              <a:off x="635416" y="2346579"/>
              <a:ext cx="888584" cy="613601"/>
            </a:xfrm>
            <a:custGeom>
              <a:avLst/>
              <a:gdLst/>
              <a:ahLst/>
              <a:cxnLst/>
              <a:rect l="l" t="t" r="r" b="b"/>
              <a:pathLst>
                <a:path w="888584" h="613601">
                  <a:moveTo>
                    <a:pt x="888584" y="558546"/>
                  </a:moveTo>
                  <a:lnTo>
                    <a:pt x="13999" y="613601"/>
                  </a:lnTo>
                  <a:cubicBezTo>
                    <a:pt x="0" y="391157"/>
                    <a:pt x="71289" y="171738"/>
                    <a:pt x="213357" y="0"/>
                  </a:cubicBezTo>
                  <a:close/>
                </a:path>
              </a:pathLst>
            </a:custGeom>
            <a:solidFill>
              <a:srgbClr val="E8654A"/>
            </a:solidFill>
            <a:ln>
              <a:noFill/>
            </a:ln>
          </p:spPr>
        </p:sp>
        <p:sp>
          <p:nvSpPr>
            <p:cNvPr id="57" name="Freeform 57"/>
            <p:cNvSpPr/>
            <p:nvPr/>
          </p:nvSpPr>
          <p:spPr>
            <a:xfrm>
              <a:off x="848773" y="2090357"/>
              <a:ext cx="675227" cy="814768"/>
            </a:xfrm>
            <a:custGeom>
              <a:avLst/>
              <a:gdLst/>
              <a:ahLst/>
              <a:cxnLst/>
              <a:rect l="l" t="t" r="r" b="b"/>
              <a:pathLst>
                <a:path w="675227" h="814768">
                  <a:moveTo>
                    <a:pt x="675227" y="814768"/>
                  </a:moveTo>
                  <a:lnTo>
                    <a:pt x="0" y="256222"/>
                  </a:lnTo>
                  <a:cubicBezTo>
                    <a:pt x="94082" y="142480"/>
                    <a:pt x="215373" y="54346"/>
                    <a:pt x="352615" y="0"/>
                  </a:cubicBezTo>
                  <a:close/>
                </a:path>
              </a:pathLst>
            </a:custGeom>
            <a:solidFill>
              <a:srgbClr val="DC9C8F"/>
            </a:solidFill>
            <a:ln>
              <a:noFill/>
            </a:ln>
          </p:spPr>
        </p:sp>
        <p:sp>
          <p:nvSpPr>
            <p:cNvPr id="58" name="Freeform 58"/>
            <p:cNvSpPr/>
            <p:nvPr/>
          </p:nvSpPr>
          <p:spPr>
            <a:xfrm>
              <a:off x="1201388" y="2028820"/>
              <a:ext cx="322612" cy="876305"/>
            </a:xfrm>
            <a:custGeom>
              <a:avLst/>
              <a:gdLst/>
              <a:ahLst/>
              <a:cxnLst/>
              <a:rect l="l" t="t" r="r" b="b"/>
              <a:pathLst>
                <a:path w="322612" h="876305">
                  <a:moveTo>
                    <a:pt x="322612" y="876305"/>
                  </a:moveTo>
                  <a:lnTo>
                    <a:pt x="0" y="61536"/>
                  </a:lnTo>
                  <a:cubicBezTo>
                    <a:pt x="102698" y="20877"/>
                    <a:pt x="212158" y="0"/>
                    <a:pt x="322612" y="5"/>
                  </a:cubicBezTo>
                  <a:close/>
                </a:path>
              </a:pathLst>
            </a:custGeom>
            <a:solidFill>
              <a:srgbClr val="C9D6E9"/>
            </a:solidFill>
            <a:ln>
              <a:noFill/>
            </a:ln>
          </p:spPr>
        </p:sp>
        <p:sp>
          <p:nvSpPr>
            <p:cNvPr id="59" name="TextBox 59"/>
            <p:cNvSpPr txBox="1"/>
            <p:nvPr/>
          </p:nvSpPr>
          <p:spPr>
            <a:xfrm>
              <a:off x="1846873" y="2596991"/>
              <a:ext cx="28770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34%​</a:t>
              </a:r>
            </a:p>
          </p:txBody>
        </p:sp>
        <p:sp>
          <p:nvSpPr>
            <p:cNvPr id="60" name="TextBox 60"/>
            <p:cNvSpPr txBox="1"/>
            <p:nvPr/>
          </p:nvSpPr>
          <p:spPr>
            <a:xfrm>
              <a:off x="1547162" y="3363039"/>
              <a:ext cx="27752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22%​</a:t>
              </a:r>
            </a:p>
          </p:txBody>
        </p:sp>
        <p:sp>
          <p:nvSpPr>
            <p:cNvPr id="61" name="TextBox 61"/>
            <p:cNvSpPr txBox="1"/>
            <p:nvPr/>
          </p:nvSpPr>
          <p:spPr>
            <a:xfrm>
              <a:off x="963397" y="31765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18%​</a:t>
              </a:r>
            </a:p>
          </p:txBody>
        </p:sp>
        <p:sp>
          <p:nvSpPr>
            <p:cNvPr id="62" name="TextBox 62"/>
            <p:cNvSpPr txBox="1"/>
            <p:nvPr/>
          </p:nvSpPr>
          <p:spPr>
            <a:xfrm>
              <a:off x="887197" y="270033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12%​</a:t>
              </a:r>
            </a:p>
          </p:txBody>
        </p:sp>
        <p:sp>
          <p:nvSpPr>
            <p:cNvPr id="63" name="TextBox 63"/>
            <p:cNvSpPr txBox="1"/>
            <p:nvPr/>
          </p:nvSpPr>
          <p:spPr>
            <a:xfrm>
              <a:off x="1112080" y="2437686"/>
              <a:ext cx="195190" cy="140494"/>
            </a:xfrm>
            <a:prstGeom prst="rect">
              <a:avLst/>
            </a:prstGeom>
            <a:noFill/>
            <a:ln>
              <a:noFill/>
            </a:ln>
          </p:spPr>
          <p:txBody>
            <a:bodyPr wrap="none" lIns="0" tIns="0" rIns="0" bIns="0" anchor="t" anchorCtr="0">
              <a:spAutoFit/>
            </a:bodyPr>
            <a:lstStyle/>
            <a:p>
              <a:pPr algn="ctr"/>
              <a:r>
                <a:rPr lang="zh-CN" sz="710" b="1" dirty="0">
                  <a:solidFill>
                    <a:srgbClr val="5C2216"/>
                  </a:solidFill>
                  <a:latin typeface="+mn-lt"/>
                  <a:ea typeface="+mn-ea"/>
                  <a:cs typeface="+mn-cs"/>
                </a:rPr>
                <a:t>8%​</a:t>
              </a:r>
            </a:p>
          </p:txBody>
        </p:sp>
        <p:sp>
          <p:nvSpPr>
            <p:cNvPr id="64" name="TextBox 64"/>
            <p:cNvSpPr txBox="1"/>
            <p:nvPr/>
          </p:nvSpPr>
          <p:spPr>
            <a:xfrm>
              <a:off x="1331155" y="2342436"/>
              <a:ext cx="195190" cy="140494"/>
            </a:xfrm>
            <a:prstGeom prst="rect">
              <a:avLst/>
            </a:prstGeom>
            <a:noFill/>
            <a:ln>
              <a:noFill/>
            </a:ln>
          </p:spPr>
          <p:txBody>
            <a:bodyPr wrap="none" lIns="0" tIns="0" rIns="0" bIns="0" anchor="t" anchorCtr="0">
              <a:spAutoFit/>
            </a:bodyPr>
            <a:lstStyle/>
            <a:p>
              <a:pPr algn="ctr"/>
              <a:r>
                <a:rPr lang="zh-CN" sz="710" b="1" dirty="0">
                  <a:solidFill>
                    <a:srgbClr val="5C2216"/>
                  </a:solidFill>
                  <a:latin typeface="+mn-lt"/>
                  <a:ea typeface="+mn-ea"/>
                  <a:cs typeface="+mn-cs"/>
                </a:rPr>
                <a:t>6%​</a:t>
              </a:r>
            </a:p>
          </p:txBody>
        </p:sp>
        <p:sp>
          <p:nvSpPr>
            <p:cNvPr id="65" name="Rectangle 65"/>
            <p:cNvSpPr/>
            <p:nvPr/>
          </p:nvSpPr>
          <p:spPr>
            <a:xfrm>
              <a:off x="419100" y="3905250"/>
              <a:ext cx="95250" cy="95250"/>
            </a:xfrm>
            <a:prstGeom prst="rect">
              <a:avLst/>
            </a:prstGeom>
            <a:solidFill>
              <a:srgbClr val="69281B"/>
            </a:solidFill>
            <a:ln>
              <a:noFill/>
            </a:ln>
          </p:spPr>
        </p:sp>
        <p:sp>
          <p:nvSpPr>
            <p:cNvPr id="66" name="TextBox 66"/>
            <p:cNvSpPr txBox="1"/>
            <p:nvPr/>
          </p:nvSpPr>
          <p:spPr>
            <a:xfrm>
              <a:off x="566738" y="3918109"/>
              <a:ext cx="439771"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结算 34%​</a:t>
              </a:r>
            </a:p>
          </p:txBody>
        </p:sp>
        <p:sp>
          <p:nvSpPr>
            <p:cNvPr id="67" name="Rectangle 67"/>
            <p:cNvSpPr/>
            <p:nvPr/>
          </p:nvSpPr>
          <p:spPr>
            <a:xfrm>
              <a:off x="1219200" y="3905250"/>
              <a:ext cx="95250" cy="95250"/>
            </a:xfrm>
            <a:prstGeom prst="rect">
              <a:avLst/>
            </a:prstGeom>
            <a:solidFill>
              <a:srgbClr val="9B3824"/>
            </a:solidFill>
            <a:ln>
              <a:noFill/>
            </a:ln>
          </p:spPr>
        </p:sp>
        <p:sp>
          <p:nvSpPr>
            <p:cNvPr id="68" name="TextBox 68"/>
            <p:cNvSpPr txBox="1"/>
            <p:nvPr/>
          </p:nvSpPr>
          <p:spPr>
            <a:xfrm>
              <a:off x="1366838" y="3918109"/>
              <a:ext cx="439771"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投行 22%​</a:t>
              </a:r>
            </a:p>
          </p:txBody>
        </p:sp>
        <p:sp>
          <p:nvSpPr>
            <p:cNvPr id="69" name="Rectangle 69"/>
            <p:cNvSpPr/>
            <p:nvPr/>
          </p:nvSpPr>
          <p:spPr>
            <a:xfrm>
              <a:off x="2019300" y="3905250"/>
              <a:ext cx="95250" cy="95250"/>
            </a:xfrm>
            <a:prstGeom prst="rect">
              <a:avLst/>
            </a:prstGeom>
            <a:solidFill>
              <a:srgbClr val="E04C2E"/>
            </a:solidFill>
            <a:ln>
              <a:noFill/>
            </a:ln>
          </p:spPr>
        </p:sp>
        <p:sp>
          <p:nvSpPr>
            <p:cNvPr id="70" name="TextBox 70"/>
            <p:cNvSpPr txBox="1"/>
            <p:nvPr/>
          </p:nvSpPr>
          <p:spPr>
            <a:xfrm>
              <a:off x="2166938" y="3918109"/>
              <a:ext cx="439771"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国际 18%​</a:t>
              </a:r>
            </a:p>
          </p:txBody>
        </p:sp>
        <p:sp>
          <p:nvSpPr>
            <p:cNvPr id="71" name="Rectangle 71"/>
            <p:cNvSpPr/>
            <p:nvPr/>
          </p:nvSpPr>
          <p:spPr>
            <a:xfrm>
              <a:off x="419100" y="4057650"/>
              <a:ext cx="95250" cy="95250"/>
            </a:xfrm>
            <a:prstGeom prst="rect">
              <a:avLst/>
            </a:prstGeom>
            <a:solidFill>
              <a:srgbClr val="E8654A"/>
            </a:solidFill>
            <a:ln>
              <a:noFill/>
            </a:ln>
          </p:spPr>
        </p:sp>
        <p:sp>
          <p:nvSpPr>
            <p:cNvPr id="72" name="TextBox 72"/>
            <p:cNvSpPr txBox="1"/>
            <p:nvPr/>
          </p:nvSpPr>
          <p:spPr>
            <a:xfrm>
              <a:off x="566738" y="4070509"/>
              <a:ext cx="439771"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票据 12%​</a:t>
              </a:r>
            </a:p>
          </p:txBody>
        </p:sp>
        <p:sp>
          <p:nvSpPr>
            <p:cNvPr id="73" name="Rectangle 73"/>
            <p:cNvSpPr/>
            <p:nvPr/>
          </p:nvSpPr>
          <p:spPr>
            <a:xfrm>
              <a:off x="1219200" y="4057650"/>
              <a:ext cx="95250" cy="95250"/>
            </a:xfrm>
            <a:prstGeom prst="rect">
              <a:avLst/>
            </a:prstGeom>
            <a:solidFill>
              <a:srgbClr val="DC9C8F"/>
            </a:solidFill>
            <a:ln>
              <a:noFill/>
            </a:ln>
          </p:spPr>
        </p:sp>
        <p:sp>
          <p:nvSpPr>
            <p:cNvPr id="74" name="TextBox 74"/>
            <p:cNvSpPr txBox="1"/>
            <p:nvPr/>
          </p:nvSpPr>
          <p:spPr>
            <a:xfrm>
              <a:off x="1366838" y="4070509"/>
              <a:ext cx="389423"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托管 8%​</a:t>
              </a:r>
            </a:p>
          </p:txBody>
        </p:sp>
        <p:sp>
          <p:nvSpPr>
            <p:cNvPr id="75" name="Rectangle 75"/>
            <p:cNvSpPr/>
            <p:nvPr/>
          </p:nvSpPr>
          <p:spPr>
            <a:xfrm>
              <a:off x="2019300" y="4057650"/>
              <a:ext cx="95250" cy="95250"/>
            </a:xfrm>
            <a:prstGeom prst="rect">
              <a:avLst/>
            </a:prstGeom>
            <a:solidFill>
              <a:srgbClr val="C9D6E9"/>
            </a:solidFill>
            <a:ln>
              <a:noFill/>
            </a:ln>
          </p:spPr>
        </p:sp>
        <p:sp>
          <p:nvSpPr>
            <p:cNvPr id="76" name="TextBox 76"/>
            <p:cNvSpPr txBox="1"/>
            <p:nvPr/>
          </p:nvSpPr>
          <p:spPr>
            <a:xfrm>
              <a:off x="2166938" y="4070509"/>
              <a:ext cx="389423"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其他 6%​</a:t>
              </a:r>
            </a:p>
          </p:txBody>
        </p:sp>
      </p:grpSp>
      <p:grpSp>
        <p:nvGrpSpPr>
          <p:cNvPr id="137" name="cross-matrix"/>
          <p:cNvGrpSpPr/>
          <p:nvPr/>
        </p:nvGrpSpPr>
        <p:grpSpPr>
          <a:xfrm>
            <a:off x="3009900" y="1638300"/>
            <a:ext cx="5334000" cy="2552700"/>
            <a:chOff x="3009900" y="1638300"/>
            <a:chExt cx="5334000" cy="2552700"/>
          </a:xfrm>
        </p:grpSpPr>
        <p:sp>
          <p:nvSpPr>
            <p:cNvPr id="78" name="Rectangle 78"/>
            <p:cNvSpPr/>
            <p:nvPr/>
          </p:nvSpPr>
          <p:spPr>
            <a:xfrm>
              <a:off x="3009900" y="1638300"/>
              <a:ext cx="5334000" cy="2552700"/>
            </a:xfrm>
            <a:prstGeom prst="roundRect">
              <a:avLst>
                <a:gd name="adj" fmla="val 2239"/>
              </a:avLst>
            </a:prstGeom>
            <a:solidFill>
              <a:srgbClr val="FFFFFF"/>
            </a:solidFill>
            <a:ln w="9525">
              <a:solidFill>
                <a:srgbClr val="C9D6E9"/>
              </a:solidFill>
            </a:ln>
          </p:spPr>
        </p:sp>
        <p:sp>
          <p:nvSpPr>
            <p:cNvPr id="79" name="Rectangle 79"/>
            <p:cNvSpPr/>
            <p:nvPr/>
          </p:nvSpPr>
          <p:spPr>
            <a:xfrm>
              <a:off x="3009900" y="1638300"/>
              <a:ext cx="5334000" cy="228600"/>
            </a:xfrm>
            <a:prstGeom prst="roundRect">
              <a:avLst>
                <a:gd name="adj" fmla="val 25000"/>
              </a:avLst>
            </a:prstGeom>
            <a:solidFill>
              <a:srgbClr val="69281B"/>
            </a:solidFill>
            <a:ln>
              <a:noFill/>
            </a:ln>
          </p:spPr>
        </p:sp>
        <p:sp>
          <p:nvSpPr>
            <p:cNvPr id="80" name="Rectangle 80"/>
            <p:cNvSpPr/>
            <p:nvPr/>
          </p:nvSpPr>
          <p:spPr>
            <a:xfrm>
              <a:off x="3009900" y="1771650"/>
              <a:ext cx="5334000" cy="95250"/>
            </a:xfrm>
            <a:prstGeom prst="rect">
              <a:avLst/>
            </a:prstGeom>
            <a:solidFill>
              <a:srgbClr val="69281B"/>
            </a:solidFill>
            <a:ln>
              <a:noFill/>
            </a:ln>
          </p:spPr>
        </p:sp>
        <p:sp>
          <p:nvSpPr>
            <p:cNvPr id="81" name="TextBox 81"/>
            <p:cNvSpPr txBox="1"/>
            <p:nvPr/>
          </p:nvSpPr>
          <p:spPr>
            <a:xfrm>
              <a:off x="4801920" y="1703070"/>
              <a:ext cx="174996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产品交叉销售矩阵（渗透率%）​</a:t>
              </a:r>
            </a:p>
          </p:txBody>
        </p:sp>
        <p:sp>
          <p:nvSpPr>
            <p:cNvPr id="82" name="Rectangle 82"/>
            <p:cNvSpPr/>
            <p:nvPr/>
          </p:nvSpPr>
          <p:spPr>
            <a:xfrm>
              <a:off x="3086100" y="1866900"/>
              <a:ext cx="5181600" cy="247650"/>
            </a:xfrm>
            <a:prstGeom prst="rect">
              <a:avLst/>
            </a:prstGeom>
            <a:solidFill>
              <a:srgbClr val="EAF1FB"/>
            </a:solidFill>
            <a:ln>
              <a:noFill/>
            </a:ln>
          </p:spPr>
        </p:sp>
        <p:sp>
          <p:nvSpPr>
            <p:cNvPr id="83" name="TextBox 83"/>
            <p:cNvSpPr txBox="1"/>
            <p:nvPr/>
          </p:nvSpPr>
          <p:spPr>
            <a:xfrm>
              <a:off x="3157538" y="1893332"/>
              <a:ext cx="578485" cy="230981"/>
            </a:xfrm>
            <a:prstGeom prst="rect">
              <a:avLst/>
            </a:prstGeom>
            <a:noFill/>
            <a:ln>
              <a:noFill/>
            </a:ln>
          </p:spPr>
          <p:txBody>
            <a:bodyPr wrap="none" lIns="0" tIns="0" rIns="0" bIns="0" anchor="t" anchorCtr="0">
              <a:spAutoFit/>
            </a:bodyPr>
            <a:lstStyle/>
            <a:p>
              <a:pPr algn="l">
                <a:lnSpc>
                  <a:spcPts val="825"/>
                </a:lnSpc>
              </a:pPr>
              <a:r>
                <a:rPr lang="zh-CN" sz="640" b="1" dirty="0">
                  <a:solidFill>
                    <a:srgbClr val="69281B"/>
                  </a:solidFill>
                  <a:latin typeface="+mn-lt"/>
                  <a:ea typeface="+mn-ea"/>
                  <a:cs typeface="+mn-cs"/>
                </a:rPr>
                <a:t>客户分层</a:t>
              </a:r>
              <a:br/>
              <a:r>
                <a:rPr lang="zh-CN" sz="640" dirty="0">
                  <a:solidFill>
                    <a:srgbClr val="69281B"/>
                  </a:solidFill>
                  <a:latin typeface="+mn-lt"/>
                  <a:ea typeface="+mn-ea"/>
                  <a:cs typeface="+mn-cs"/>
                </a:rPr>
                <a:t>（按授信规模）</a:t>
              </a:r>
            </a:p>
          </p:txBody>
        </p:sp>
        <p:sp>
          <p:nvSpPr>
            <p:cNvPr id="84" name="TextBox 84"/>
            <p:cNvSpPr txBox="1"/>
            <p:nvPr/>
          </p:nvSpPr>
          <p:spPr>
            <a:xfrm>
              <a:off x="3475546" y="1893332"/>
              <a:ext cx="440309"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授信渗透率</a:t>
              </a:r>
            </a:p>
          </p:txBody>
        </p:sp>
        <p:sp>
          <p:nvSpPr>
            <p:cNvPr id="85" name="TextBox 85"/>
            <p:cNvSpPr txBox="1"/>
            <p:nvPr/>
          </p:nvSpPr>
          <p:spPr>
            <a:xfrm>
              <a:off x="4085146" y="1893332"/>
              <a:ext cx="440309"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结算渗透率</a:t>
              </a:r>
            </a:p>
          </p:txBody>
        </p:sp>
        <p:sp>
          <p:nvSpPr>
            <p:cNvPr id="86" name="TextBox 86"/>
            <p:cNvSpPr txBox="1"/>
            <p:nvPr/>
          </p:nvSpPr>
          <p:spPr>
            <a:xfrm>
              <a:off x="4747578" y="1893332"/>
              <a:ext cx="33464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69281B"/>
                  </a:solidFill>
                  <a:latin typeface="+mn-lt"/>
                  <a:ea typeface="+mn-ea"/>
                  <a:cs typeface="+mn-cs"/>
                </a:rPr>
                <a:t>现金管理</a:t>
              </a:r>
              <a:br/>
              <a:r>
                <a:rPr lang="zh-CN" sz="640" b="1" dirty="0">
                  <a:solidFill>
                    <a:srgbClr val="69281B"/>
                  </a:solidFill>
                  <a:latin typeface="+mn-lt"/>
                  <a:ea typeface="+mn-ea"/>
                  <a:cs typeface="+mn-cs"/>
                </a:rPr>
                <a:t>渗透率</a:t>
              </a:r>
            </a:p>
          </p:txBody>
        </p:sp>
        <p:sp>
          <p:nvSpPr>
            <p:cNvPr id="87" name="TextBox 87"/>
            <p:cNvSpPr txBox="1"/>
            <p:nvPr/>
          </p:nvSpPr>
          <p:spPr>
            <a:xfrm>
              <a:off x="5357177" y="1893332"/>
              <a:ext cx="33464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69281B"/>
                  </a:solidFill>
                  <a:latin typeface="+mn-lt"/>
                  <a:ea typeface="+mn-ea"/>
                  <a:cs typeface="+mn-cs"/>
                </a:rPr>
                <a:t>代发工资</a:t>
              </a:r>
              <a:br/>
              <a:r>
                <a:rPr lang="zh-CN" sz="640" b="1" dirty="0">
                  <a:solidFill>
                    <a:srgbClr val="69281B"/>
                  </a:solidFill>
                  <a:latin typeface="+mn-lt"/>
                  <a:ea typeface="+mn-ea"/>
                  <a:cs typeface="+mn-cs"/>
                </a:rPr>
                <a:t>渗透率</a:t>
              </a:r>
            </a:p>
          </p:txBody>
        </p:sp>
        <p:sp>
          <p:nvSpPr>
            <p:cNvPr id="88" name="TextBox 88"/>
            <p:cNvSpPr txBox="1"/>
            <p:nvPr/>
          </p:nvSpPr>
          <p:spPr>
            <a:xfrm>
              <a:off x="5966777" y="1893332"/>
              <a:ext cx="33464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69281B"/>
                  </a:solidFill>
                  <a:latin typeface="+mn-lt"/>
                  <a:ea typeface="+mn-ea"/>
                  <a:cs typeface="+mn-cs"/>
                </a:rPr>
                <a:t>国际业务</a:t>
              </a:r>
              <a:br/>
              <a:r>
                <a:rPr lang="zh-CN" sz="640" b="1" dirty="0">
                  <a:solidFill>
                    <a:srgbClr val="69281B"/>
                  </a:solidFill>
                  <a:latin typeface="+mn-lt"/>
                  <a:ea typeface="+mn-ea"/>
                  <a:cs typeface="+mn-cs"/>
                </a:rPr>
                <a:t>渗透率</a:t>
              </a:r>
            </a:p>
          </p:txBody>
        </p:sp>
        <p:sp>
          <p:nvSpPr>
            <p:cNvPr id="89" name="TextBox 89"/>
            <p:cNvSpPr txBox="1"/>
            <p:nvPr/>
          </p:nvSpPr>
          <p:spPr>
            <a:xfrm>
              <a:off x="6576377" y="1893332"/>
              <a:ext cx="33464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69281B"/>
                  </a:solidFill>
                  <a:latin typeface="+mn-lt"/>
                  <a:ea typeface="+mn-ea"/>
                  <a:cs typeface="+mn-cs"/>
                </a:rPr>
                <a:t>投行业务</a:t>
              </a:r>
              <a:br/>
              <a:r>
                <a:rPr lang="zh-CN" sz="640" b="1" dirty="0">
                  <a:solidFill>
                    <a:srgbClr val="69281B"/>
                  </a:solidFill>
                  <a:latin typeface="+mn-lt"/>
                  <a:ea typeface="+mn-ea"/>
                  <a:cs typeface="+mn-cs"/>
                </a:rPr>
                <a:t>渗透率</a:t>
              </a:r>
            </a:p>
          </p:txBody>
        </p:sp>
        <p:sp>
          <p:nvSpPr>
            <p:cNvPr id="90" name="TextBox 90"/>
            <p:cNvSpPr txBox="1"/>
            <p:nvPr/>
          </p:nvSpPr>
          <p:spPr>
            <a:xfrm>
              <a:off x="7185977" y="1893332"/>
              <a:ext cx="33464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69281B"/>
                  </a:solidFill>
                  <a:latin typeface="+mn-lt"/>
                  <a:ea typeface="+mn-ea"/>
                  <a:cs typeface="+mn-cs"/>
                </a:rPr>
                <a:t>保险产品</a:t>
              </a:r>
              <a:br/>
              <a:r>
                <a:rPr lang="zh-CN" sz="640" b="1" dirty="0">
                  <a:solidFill>
                    <a:srgbClr val="69281B"/>
                  </a:solidFill>
                  <a:latin typeface="+mn-lt"/>
                  <a:ea typeface="+mn-ea"/>
                  <a:cs typeface="+mn-cs"/>
                </a:rPr>
                <a:t>渗透率</a:t>
              </a:r>
            </a:p>
          </p:txBody>
        </p:sp>
        <p:sp>
          <p:nvSpPr>
            <p:cNvPr id="91" name="TextBox 91"/>
            <p:cNvSpPr txBox="1"/>
            <p:nvPr/>
          </p:nvSpPr>
          <p:spPr>
            <a:xfrm>
              <a:off x="3157538" y="2237661"/>
              <a:ext cx="44005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5F3A33"/>
                  </a:solidFill>
                  <a:latin typeface="+mn-lt"/>
                  <a:ea typeface="+mn-ea"/>
                  <a:cs typeface="+mn-cs"/>
                </a:rPr>
                <a:t>战略客户</a:t>
              </a:r>
            </a:p>
            <a:p>
              <a:pPr algn="l">
                <a:lnSpc>
                  <a:spcPts val="900"/>
                </a:lnSpc>
              </a:pPr>
              <a:r>
                <a:rPr lang="zh-CN" sz="600" dirty="0">
                  <a:solidFill>
                    <a:srgbClr val="987F7A"/>
                  </a:solidFill>
                  <a:latin typeface="+mn-lt"/>
                  <a:ea typeface="+mn-ea"/>
                  <a:cs typeface="+mn-cs"/>
                </a:rPr>
                <a:t>（≥5亿元）​</a:t>
              </a:r>
            </a:p>
          </p:txBody>
        </p:sp>
        <p:sp>
          <p:nvSpPr>
            <p:cNvPr id="92" name="TextBox 92"/>
            <p:cNvSpPr txBox="1"/>
            <p:nvPr/>
          </p:nvSpPr>
          <p:spPr>
            <a:xfrm>
              <a:off x="3534568" y="2281238"/>
              <a:ext cx="322264"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100%​</a:t>
              </a:r>
            </a:p>
          </p:txBody>
        </p:sp>
        <p:sp>
          <p:nvSpPr>
            <p:cNvPr id="93" name="TextBox 93"/>
            <p:cNvSpPr txBox="1"/>
            <p:nvPr/>
          </p:nvSpPr>
          <p:spPr>
            <a:xfrm>
              <a:off x="4179379" y="22812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98%​</a:t>
              </a:r>
            </a:p>
          </p:txBody>
        </p:sp>
        <p:sp>
          <p:nvSpPr>
            <p:cNvPr id="94" name="TextBox 94"/>
            <p:cNvSpPr txBox="1"/>
            <p:nvPr/>
          </p:nvSpPr>
          <p:spPr>
            <a:xfrm>
              <a:off x="4788980" y="22812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90%​</a:t>
              </a:r>
            </a:p>
          </p:txBody>
        </p:sp>
        <p:sp>
          <p:nvSpPr>
            <p:cNvPr id="95" name="TextBox 95"/>
            <p:cNvSpPr txBox="1"/>
            <p:nvPr/>
          </p:nvSpPr>
          <p:spPr>
            <a:xfrm>
              <a:off x="5398580" y="22812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85%​</a:t>
              </a:r>
            </a:p>
          </p:txBody>
        </p:sp>
        <p:sp>
          <p:nvSpPr>
            <p:cNvPr id="96" name="TextBox 96"/>
            <p:cNvSpPr txBox="1"/>
            <p:nvPr/>
          </p:nvSpPr>
          <p:spPr>
            <a:xfrm>
              <a:off x="6008180" y="22812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62%​</a:t>
              </a:r>
            </a:p>
          </p:txBody>
        </p:sp>
        <p:sp>
          <p:nvSpPr>
            <p:cNvPr id="97" name="TextBox 97"/>
            <p:cNvSpPr txBox="1"/>
            <p:nvPr/>
          </p:nvSpPr>
          <p:spPr>
            <a:xfrm>
              <a:off x="6617780" y="22812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58%​</a:t>
              </a:r>
            </a:p>
          </p:txBody>
        </p:sp>
        <p:sp>
          <p:nvSpPr>
            <p:cNvPr id="98" name="TextBox 98"/>
            <p:cNvSpPr txBox="1"/>
            <p:nvPr/>
          </p:nvSpPr>
          <p:spPr>
            <a:xfrm>
              <a:off x="7227380" y="22812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45%​</a:t>
              </a:r>
            </a:p>
          </p:txBody>
        </p:sp>
        <p:sp>
          <p:nvSpPr>
            <p:cNvPr id="99" name="Line 99"/>
            <p:cNvSpPr/>
            <p:nvPr/>
          </p:nvSpPr>
          <p:spPr>
            <a:xfrm>
              <a:off x="3086100" y="2495550"/>
              <a:ext cx="5181600" cy="9525"/>
            </a:xfrm>
            <a:custGeom>
              <a:avLst/>
              <a:gdLst/>
              <a:ahLst/>
              <a:cxnLst/>
              <a:rect l="l" t="t" r="r" b="b"/>
              <a:pathLst>
                <a:path w="5181600" h="9525">
                  <a:moveTo>
                    <a:pt x="0" y="0"/>
                  </a:moveTo>
                  <a:lnTo>
                    <a:pt x="5181600" y="0"/>
                  </a:lnTo>
                </a:path>
              </a:pathLst>
            </a:custGeom>
            <a:noFill/>
            <a:ln w="9525">
              <a:solidFill>
                <a:srgbClr val="EDF2FA"/>
              </a:solidFill>
            </a:ln>
          </p:spPr>
        </p:sp>
        <p:sp>
          <p:nvSpPr>
            <p:cNvPr id="100" name="TextBox 100"/>
            <p:cNvSpPr txBox="1"/>
            <p:nvPr/>
          </p:nvSpPr>
          <p:spPr>
            <a:xfrm>
              <a:off x="3157538" y="2637711"/>
              <a:ext cx="48196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5F3A33"/>
                  </a:solidFill>
                  <a:latin typeface="+mn-lt"/>
                  <a:ea typeface="+mn-ea"/>
                  <a:cs typeface="+mn-cs"/>
                </a:rPr>
                <a:t>重点客户</a:t>
              </a:r>
            </a:p>
            <a:p>
              <a:pPr algn="l">
                <a:lnSpc>
                  <a:spcPts val="900"/>
                </a:lnSpc>
              </a:pPr>
              <a:r>
                <a:rPr lang="zh-CN" sz="600" dirty="0">
                  <a:solidFill>
                    <a:srgbClr val="987F7A"/>
                  </a:solidFill>
                  <a:latin typeface="+mn-lt"/>
                  <a:ea typeface="+mn-ea"/>
                  <a:cs typeface="+mn-cs"/>
                </a:rPr>
                <a:t>（1-5亿元）​</a:t>
              </a:r>
            </a:p>
          </p:txBody>
        </p:sp>
        <p:sp>
          <p:nvSpPr>
            <p:cNvPr id="101" name="TextBox 101"/>
            <p:cNvSpPr txBox="1"/>
            <p:nvPr/>
          </p:nvSpPr>
          <p:spPr>
            <a:xfrm>
              <a:off x="3563722" y="2681288"/>
              <a:ext cx="263957"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95%​</a:t>
              </a:r>
            </a:p>
          </p:txBody>
        </p:sp>
        <p:sp>
          <p:nvSpPr>
            <p:cNvPr id="102" name="TextBox 102"/>
            <p:cNvSpPr txBox="1"/>
            <p:nvPr/>
          </p:nvSpPr>
          <p:spPr>
            <a:xfrm>
              <a:off x="4179379" y="26812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93%​</a:t>
              </a:r>
            </a:p>
          </p:txBody>
        </p:sp>
        <p:sp>
          <p:nvSpPr>
            <p:cNvPr id="103" name="TextBox 103"/>
            <p:cNvSpPr txBox="1"/>
            <p:nvPr/>
          </p:nvSpPr>
          <p:spPr>
            <a:xfrm>
              <a:off x="4788980" y="26812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78%​</a:t>
              </a:r>
            </a:p>
          </p:txBody>
        </p:sp>
        <p:sp>
          <p:nvSpPr>
            <p:cNvPr id="104" name="TextBox 104"/>
            <p:cNvSpPr txBox="1"/>
            <p:nvPr/>
          </p:nvSpPr>
          <p:spPr>
            <a:xfrm>
              <a:off x="5398580" y="26812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72%​</a:t>
              </a:r>
            </a:p>
          </p:txBody>
        </p:sp>
        <p:sp>
          <p:nvSpPr>
            <p:cNvPr id="105" name="TextBox 105"/>
            <p:cNvSpPr txBox="1"/>
            <p:nvPr/>
          </p:nvSpPr>
          <p:spPr>
            <a:xfrm>
              <a:off x="6008180" y="26812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38%​</a:t>
              </a:r>
            </a:p>
          </p:txBody>
        </p:sp>
        <p:sp>
          <p:nvSpPr>
            <p:cNvPr id="106" name="TextBox 106"/>
            <p:cNvSpPr txBox="1"/>
            <p:nvPr/>
          </p:nvSpPr>
          <p:spPr>
            <a:xfrm>
              <a:off x="6617780" y="26812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33%​</a:t>
              </a:r>
            </a:p>
          </p:txBody>
        </p:sp>
        <p:sp>
          <p:nvSpPr>
            <p:cNvPr id="107" name="TextBox 107"/>
            <p:cNvSpPr txBox="1"/>
            <p:nvPr/>
          </p:nvSpPr>
          <p:spPr>
            <a:xfrm>
              <a:off x="7227380" y="26812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28%​</a:t>
              </a:r>
            </a:p>
          </p:txBody>
        </p:sp>
        <p:sp>
          <p:nvSpPr>
            <p:cNvPr id="108" name="Line 108"/>
            <p:cNvSpPr/>
            <p:nvPr/>
          </p:nvSpPr>
          <p:spPr>
            <a:xfrm>
              <a:off x="3086100" y="2895600"/>
              <a:ext cx="5181600" cy="9525"/>
            </a:xfrm>
            <a:custGeom>
              <a:avLst/>
              <a:gdLst/>
              <a:ahLst/>
              <a:cxnLst/>
              <a:rect l="l" t="t" r="r" b="b"/>
              <a:pathLst>
                <a:path w="5181600" h="9525">
                  <a:moveTo>
                    <a:pt x="0" y="0"/>
                  </a:moveTo>
                  <a:lnTo>
                    <a:pt x="5181600" y="0"/>
                  </a:lnTo>
                </a:path>
              </a:pathLst>
            </a:custGeom>
            <a:noFill/>
            <a:ln w="9525">
              <a:solidFill>
                <a:srgbClr val="EDF2FA"/>
              </a:solidFill>
            </a:ln>
          </p:spPr>
        </p:sp>
        <p:sp>
          <p:nvSpPr>
            <p:cNvPr id="109" name="TextBox 109"/>
            <p:cNvSpPr txBox="1"/>
            <p:nvPr/>
          </p:nvSpPr>
          <p:spPr>
            <a:xfrm>
              <a:off x="3157538" y="3037761"/>
              <a:ext cx="56578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5F3A33"/>
                  </a:solidFill>
                  <a:latin typeface="+mn-lt"/>
                  <a:ea typeface="+mn-ea"/>
                  <a:cs typeface="+mn-cs"/>
                </a:rPr>
                <a:t>成长客户</a:t>
              </a:r>
            </a:p>
            <a:p>
              <a:pPr algn="l">
                <a:lnSpc>
                  <a:spcPts val="900"/>
                </a:lnSpc>
              </a:pPr>
              <a:r>
                <a:rPr lang="zh-CN" sz="600" dirty="0">
                  <a:solidFill>
                    <a:srgbClr val="987F7A"/>
                  </a:solidFill>
                  <a:latin typeface="+mn-lt"/>
                  <a:ea typeface="+mn-ea"/>
                  <a:cs typeface="+mn-cs"/>
                </a:rPr>
                <a:t>（0.2-1亿元）​</a:t>
              </a:r>
            </a:p>
          </p:txBody>
        </p:sp>
        <p:sp>
          <p:nvSpPr>
            <p:cNvPr id="110" name="TextBox 110"/>
            <p:cNvSpPr txBox="1"/>
            <p:nvPr/>
          </p:nvSpPr>
          <p:spPr>
            <a:xfrm>
              <a:off x="3563722" y="3081338"/>
              <a:ext cx="263957"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88%​</a:t>
              </a:r>
            </a:p>
          </p:txBody>
        </p:sp>
        <p:sp>
          <p:nvSpPr>
            <p:cNvPr id="111" name="TextBox 111"/>
            <p:cNvSpPr txBox="1"/>
            <p:nvPr/>
          </p:nvSpPr>
          <p:spPr>
            <a:xfrm>
              <a:off x="4179379" y="30813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86%​</a:t>
              </a:r>
            </a:p>
          </p:txBody>
        </p:sp>
        <p:sp>
          <p:nvSpPr>
            <p:cNvPr id="112" name="TextBox 112"/>
            <p:cNvSpPr txBox="1"/>
            <p:nvPr/>
          </p:nvSpPr>
          <p:spPr>
            <a:xfrm>
              <a:off x="4788980" y="30813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62%​</a:t>
              </a:r>
            </a:p>
          </p:txBody>
        </p:sp>
        <p:sp>
          <p:nvSpPr>
            <p:cNvPr id="113" name="TextBox 113"/>
            <p:cNvSpPr txBox="1"/>
            <p:nvPr/>
          </p:nvSpPr>
          <p:spPr>
            <a:xfrm>
              <a:off x="5398580" y="30813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58%​</a:t>
              </a:r>
            </a:p>
          </p:txBody>
        </p:sp>
        <p:sp>
          <p:nvSpPr>
            <p:cNvPr id="114" name="TextBox 114"/>
            <p:cNvSpPr txBox="1"/>
            <p:nvPr/>
          </p:nvSpPr>
          <p:spPr>
            <a:xfrm>
              <a:off x="6008180" y="30813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24%​</a:t>
              </a:r>
            </a:p>
          </p:txBody>
        </p:sp>
        <p:sp>
          <p:nvSpPr>
            <p:cNvPr id="115" name="TextBox 115"/>
            <p:cNvSpPr txBox="1"/>
            <p:nvPr/>
          </p:nvSpPr>
          <p:spPr>
            <a:xfrm>
              <a:off x="6617780" y="30813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18%​</a:t>
              </a:r>
            </a:p>
          </p:txBody>
        </p:sp>
        <p:sp>
          <p:nvSpPr>
            <p:cNvPr id="116" name="TextBox 116"/>
            <p:cNvSpPr txBox="1"/>
            <p:nvPr/>
          </p:nvSpPr>
          <p:spPr>
            <a:xfrm>
              <a:off x="7227380" y="308133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16%​</a:t>
              </a:r>
            </a:p>
          </p:txBody>
        </p:sp>
        <p:sp>
          <p:nvSpPr>
            <p:cNvPr id="117" name="Line 117"/>
            <p:cNvSpPr/>
            <p:nvPr/>
          </p:nvSpPr>
          <p:spPr>
            <a:xfrm>
              <a:off x="3086100" y="3295650"/>
              <a:ext cx="5181600" cy="9525"/>
            </a:xfrm>
            <a:custGeom>
              <a:avLst/>
              <a:gdLst/>
              <a:ahLst/>
              <a:cxnLst/>
              <a:rect l="l" t="t" r="r" b="b"/>
              <a:pathLst>
                <a:path w="5181600" h="9525">
                  <a:moveTo>
                    <a:pt x="0" y="0"/>
                  </a:moveTo>
                  <a:lnTo>
                    <a:pt x="5181600" y="0"/>
                  </a:lnTo>
                </a:path>
              </a:pathLst>
            </a:custGeom>
            <a:noFill/>
            <a:ln w="9525">
              <a:solidFill>
                <a:srgbClr val="EDF2FA"/>
              </a:solidFill>
            </a:ln>
          </p:spPr>
        </p:sp>
        <p:sp>
          <p:nvSpPr>
            <p:cNvPr id="118" name="TextBox 118"/>
            <p:cNvSpPr txBox="1"/>
            <p:nvPr/>
          </p:nvSpPr>
          <p:spPr>
            <a:xfrm>
              <a:off x="3157538" y="3437811"/>
              <a:ext cx="523875" cy="254794"/>
            </a:xfrm>
            <a:prstGeom prst="rect">
              <a:avLst/>
            </a:prstGeom>
            <a:noFill/>
            <a:ln>
              <a:noFill/>
            </a:ln>
          </p:spPr>
          <p:txBody>
            <a:bodyPr wrap="none" lIns="0" tIns="0" rIns="0" bIns="0" anchor="t" anchorCtr="0">
              <a:spAutoFit/>
            </a:bodyPr>
            <a:lstStyle/>
            <a:p>
              <a:pPr algn="l">
                <a:lnSpc>
                  <a:spcPts val="900"/>
                </a:lnSpc>
              </a:pPr>
              <a:r>
                <a:rPr lang="zh-CN" sz="710" b="1" dirty="0">
                  <a:solidFill>
                    <a:srgbClr val="5F3A33"/>
                  </a:solidFill>
                  <a:latin typeface="+mn-lt"/>
                  <a:ea typeface="+mn-ea"/>
                  <a:cs typeface="+mn-cs"/>
                </a:rPr>
                <a:t>潜力客户</a:t>
              </a:r>
            </a:p>
            <a:p>
              <a:pPr algn="l">
                <a:lnSpc>
                  <a:spcPts val="900"/>
                </a:lnSpc>
              </a:pPr>
              <a:r>
                <a:rPr lang="zh-CN" sz="600" dirty="0">
                  <a:solidFill>
                    <a:srgbClr val="987F7A"/>
                  </a:solidFill>
                  <a:latin typeface="+mn-lt"/>
                  <a:ea typeface="+mn-ea"/>
                  <a:cs typeface="+mn-cs"/>
                </a:rPr>
                <a:t>（&lt;0.2亿元）​</a:t>
              </a:r>
            </a:p>
          </p:txBody>
        </p:sp>
        <p:sp>
          <p:nvSpPr>
            <p:cNvPr id="119" name="TextBox 119"/>
            <p:cNvSpPr txBox="1"/>
            <p:nvPr/>
          </p:nvSpPr>
          <p:spPr>
            <a:xfrm>
              <a:off x="3563722" y="3481388"/>
              <a:ext cx="263957"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62%​</a:t>
              </a:r>
            </a:p>
          </p:txBody>
        </p:sp>
        <p:sp>
          <p:nvSpPr>
            <p:cNvPr id="120" name="TextBox 120"/>
            <p:cNvSpPr txBox="1"/>
            <p:nvPr/>
          </p:nvSpPr>
          <p:spPr>
            <a:xfrm>
              <a:off x="4179379" y="34813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68%​</a:t>
              </a:r>
            </a:p>
          </p:txBody>
        </p:sp>
        <p:sp>
          <p:nvSpPr>
            <p:cNvPr id="121" name="TextBox 121"/>
            <p:cNvSpPr txBox="1"/>
            <p:nvPr/>
          </p:nvSpPr>
          <p:spPr>
            <a:xfrm>
              <a:off x="4788980" y="34813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38%​</a:t>
              </a:r>
            </a:p>
          </p:txBody>
        </p:sp>
        <p:sp>
          <p:nvSpPr>
            <p:cNvPr id="122" name="TextBox 122"/>
            <p:cNvSpPr txBox="1"/>
            <p:nvPr/>
          </p:nvSpPr>
          <p:spPr>
            <a:xfrm>
              <a:off x="5398580" y="34813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32%​</a:t>
              </a:r>
            </a:p>
          </p:txBody>
        </p:sp>
        <p:sp>
          <p:nvSpPr>
            <p:cNvPr id="123" name="TextBox 123"/>
            <p:cNvSpPr txBox="1"/>
            <p:nvPr/>
          </p:nvSpPr>
          <p:spPr>
            <a:xfrm>
              <a:off x="6008180" y="3481388"/>
              <a:ext cx="251841"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12%​</a:t>
              </a:r>
            </a:p>
          </p:txBody>
        </p:sp>
        <p:sp>
          <p:nvSpPr>
            <p:cNvPr id="124" name="TextBox 124"/>
            <p:cNvSpPr txBox="1"/>
            <p:nvPr/>
          </p:nvSpPr>
          <p:spPr>
            <a:xfrm>
              <a:off x="6645545" y="3481388"/>
              <a:ext cx="196310"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8%​</a:t>
              </a:r>
            </a:p>
          </p:txBody>
        </p:sp>
        <p:sp>
          <p:nvSpPr>
            <p:cNvPr id="125" name="TextBox 125"/>
            <p:cNvSpPr txBox="1"/>
            <p:nvPr/>
          </p:nvSpPr>
          <p:spPr>
            <a:xfrm>
              <a:off x="7255145" y="3481388"/>
              <a:ext cx="196310"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8%​</a:t>
              </a:r>
            </a:p>
          </p:txBody>
        </p:sp>
        <p:sp>
          <p:nvSpPr>
            <p:cNvPr id="126" name="Line 126"/>
            <p:cNvSpPr/>
            <p:nvPr/>
          </p:nvSpPr>
          <p:spPr>
            <a:xfrm>
              <a:off x="3086100" y="3695700"/>
              <a:ext cx="5181600" cy="9525"/>
            </a:xfrm>
            <a:custGeom>
              <a:avLst/>
              <a:gdLst/>
              <a:ahLst/>
              <a:cxnLst/>
              <a:rect l="l" t="t" r="r" b="b"/>
              <a:pathLst>
                <a:path w="5181600" h="9525">
                  <a:moveTo>
                    <a:pt x="0" y="0"/>
                  </a:moveTo>
                  <a:lnTo>
                    <a:pt x="5181600" y="0"/>
                  </a:lnTo>
                </a:path>
              </a:pathLst>
            </a:custGeom>
            <a:noFill/>
            <a:ln w="9525">
              <a:solidFill>
                <a:srgbClr val="C9D6E9"/>
              </a:solidFill>
            </a:ln>
          </p:spPr>
        </p:sp>
        <p:sp>
          <p:nvSpPr>
            <p:cNvPr id="127" name="Rectangle 127"/>
            <p:cNvSpPr/>
            <p:nvPr/>
          </p:nvSpPr>
          <p:spPr>
            <a:xfrm>
              <a:off x="3086100" y="3695700"/>
              <a:ext cx="5181600" cy="266700"/>
            </a:xfrm>
            <a:prstGeom prst="rect">
              <a:avLst/>
            </a:prstGeom>
            <a:solidFill>
              <a:srgbClr val="69281B"/>
            </a:solidFill>
            <a:ln>
              <a:noFill/>
            </a:ln>
          </p:spPr>
        </p:sp>
        <p:sp>
          <p:nvSpPr>
            <p:cNvPr id="128" name="TextBox 128"/>
            <p:cNvSpPr txBox="1"/>
            <p:nvPr/>
          </p:nvSpPr>
          <p:spPr>
            <a:xfrm>
              <a:off x="3157538" y="3790236"/>
              <a:ext cx="48742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总体渗透率</a:t>
              </a:r>
            </a:p>
          </p:txBody>
        </p:sp>
        <p:sp>
          <p:nvSpPr>
            <p:cNvPr id="129" name="TextBox 129"/>
            <p:cNvSpPr txBox="1"/>
            <p:nvPr/>
          </p:nvSpPr>
          <p:spPr>
            <a:xfrm>
              <a:off x="3563722" y="37861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91%​</a:t>
              </a:r>
            </a:p>
          </p:txBody>
        </p:sp>
        <p:sp>
          <p:nvSpPr>
            <p:cNvPr id="130" name="TextBox 130"/>
            <p:cNvSpPr txBox="1"/>
            <p:nvPr/>
          </p:nvSpPr>
          <p:spPr>
            <a:xfrm>
              <a:off x="4173322" y="37861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91%​</a:t>
              </a:r>
            </a:p>
          </p:txBody>
        </p:sp>
        <p:sp>
          <p:nvSpPr>
            <p:cNvPr id="131" name="TextBox 131"/>
            <p:cNvSpPr txBox="1"/>
            <p:nvPr/>
          </p:nvSpPr>
          <p:spPr>
            <a:xfrm>
              <a:off x="4782922" y="37861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72%​</a:t>
              </a:r>
            </a:p>
          </p:txBody>
        </p:sp>
        <p:sp>
          <p:nvSpPr>
            <p:cNvPr id="132" name="TextBox 132"/>
            <p:cNvSpPr txBox="1"/>
            <p:nvPr/>
          </p:nvSpPr>
          <p:spPr>
            <a:xfrm>
              <a:off x="5392522" y="37861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66%​</a:t>
              </a:r>
            </a:p>
          </p:txBody>
        </p:sp>
        <p:sp>
          <p:nvSpPr>
            <p:cNvPr id="133" name="TextBox 133"/>
            <p:cNvSpPr txBox="1"/>
            <p:nvPr/>
          </p:nvSpPr>
          <p:spPr>
            <a:xfrm>
              <a:off x="6002122" y="37861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34%​</a:t>
              </a:r>
            </a:p>
          </p:txBody>
        </p:sp>
        <p:sp>
          <p:nvSpPr>
            <p:cNvPr id="134" name="TextBox 134"/>
            <p:cNvSpPr txBox="1"/>
            <p:nvPr/>
          </p:nvSpPr>
          <p:spPr>
            <a:xfrm>
              <a:off x="6611722" y="37861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29%​</a:t>
              </a:r>
            </a:p>
          </p:txBody>
        </p:sp>
        <p:sp>
          <p:nvSpPr>
            <p:cNvPr id="135" name="TextBox 135"/>
            <p:cNvSpPr txBox="1"/>
            <p:nvPr/>
          </p:nvSpPr>
          <p:spPr>
            <a:xfrm>
              <a:off x="7221322" y="37861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24%​</a:t>
              </a:r>
            </a:p>
          </p:txBody>
        </p:sp>
        <p:sp>
          <p:nvSpPr>
            <p:cNvPr id="136" name="TextBox 136"/>
            <p:cNvSpPr txBox="1"/>
            <p:nvPr/>
          </p:nvSpPr>
          <p:spPr>
            <a:xfrm>
              <a:off x="3081338" y="4045982"/>
              <a:ext cx="2258217"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注：渗透率=使用该产品的客户数/该层客户总数（示例）。</a:t>
              </a:r>
            </a:p>
          </p:txBody>
        </p:sp>
      </p:grpSp>
      <p:grpSp>
        <p:nvGrpSpPr>
          <p:cNvPr id="176" name="case-panel"/>
          <p:cNvGrpSpPr/>
          <p:nvPr/>
        </p:nvGrpSpPr>
        <p:grpSpPr>
          <a:xfrm>
            <a:off x="8458200" y="1638300"/>
            <a:ext cx="3505200" cy="5029200"/>
            <a:chOff x="8458200" y="1638300"/>
            <a:chExt cx="3505200" cy="5029200"/>
          </a:xfrm>
        </p:grpSpPr>
        <p:sp>
          <p:nvSpPr>
            <p:cNvPr id="138" name="Rectangle 138"/>
            <p:cNvSpPr/>
            <p:nvPr/>
          </p:nvSpPr>
          <p:spPr>
            <a:xfrm>
              <a:off x="8458200" y="1638300"/>
              <a:ext cx="3505200" cy="5029200"/>
            </a:xfrm>
            <a:prstGeom prst="roundRect">
              <a:avLst>
                <a:gd name="adj" fmla="val 1630"/>
              </a:avLst>
            </a:prstGeom>
            <a:solidFill>
              <a:srgbClr val="FFFFFF"/>
            </a:solidFill>
            <a:ln w="9525">
              <a:solidFill>
                <a:srgbClr val="C9D6E9"/>
              </a:solidFill>
            </a:ln>
          </p:spPr>
        </p:sp>
        <p:sp>
          <p:nvSpPr>
            <p:cNvPr id="139" name="Rectangle 139"/>
            <p:cNvSpPr/>
            <p:nvPr/>
          </p:nvSpPr>
          <p:spPr>
            <a:xfrm>
              <a:off x="8458200" y="1638300"/>
              <a:ext cx="3505200" cy="228600"/>
            </a:xfrm>
            <a:prstGeom prst="roundRect">
              <a:avLst>
                <a:gd name="adj" fmla="val 25000"/>
              </a:avLst>
            </a:prstGeom>
            <a:solidFill>
              <a:srgbClr val="69281B"/>
            </a:solidFill>
            <a:ln>
              <a:noFill/>
            </a:ln>
          </p:spPr>
        </p:sp>
        <p:sp>
          <p:nvSpPr>
            <p:cNvPr id="140" name="Rectangle 140"/>
            <p:cNvSpPr/>
            <p:nvPr/>
          </p:nvSpPr>
          <p:spPr>
            <a:xfrm>
              <a:off x="8458200" y="1771650"/>
              <a:ext cx="3505200" cy="95250"/>
            </a:xfrm>
            <a:prstGeom prst="rect">
              <a:avLst/>
            </a:prstGeom>
            <a:solidFill>
              <a:srgbClr val="69281B"/>
            </a:solidFill>
            <a:ln>
              <a:noFill/>
            </a:ln>
          </p:spPr>
        </p:sp>
        <p:sp>
          <p:nvSpPr>
            <p:cNvPr id="141" name="TextBox 141"/>
            <p:cNvSpPr txBox="1"/>
            <p:nvPr/>
          </p:nvSpPr>
          <p:spPr>
            <a:xfrm>
              <a:off x="9963722" y="17030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重点案例</a:t>
              </a:r>
            </a:p>
          </p:txBody>
        </p:sp>
        <p:sp>
          <p:nvSpPr>
            <p:cNvPr id="142" name="Rectangle 142"/>
            <p:cNvSpPr/>
            <p:nvPr/>
          </p:nvSpPr>
          <p:spPr>
            <a:xfrm>
              <a:off x="8591550" y="1943100"/>
              <a:ext cx="3238500" cy="857250"/>
            </a:xfrm>
            <a:prstGeom prst="roundRect">
              <a:avLst>
                <a:gd name="adj" fmla="val 4444"/>
              </a:avLst>
            </a:prstGeom>
            <a:solidFill>
              <a:srgbClr val="F5F8FD"/>
            </a:solidFill>
            <a:ln w="9525">
              <a:solidFill>
                <a:srgbClr val="E3EAF5"/>
              </a:solidFill>
            </a:ln>
          </p:spPr>
        </p:sp>
        <p:sp>
          <p:nvSpPr>
            <p:cNvPr id="143" name="Ellipse 143"/>
            <p:cNvSpPr/>
            <p:nvPr/>
          </p:nvSpPr>
          <p:spPr>
            <a:xfrm>
              <a:off x="8648700" y="2019300"/>
              <a:ext cx="190500" cy="190500"/>
            </a:xfrm>
            <a:prstGeom prst="ellipse">
              <a:avLst/>
            </a:prstGeom>
            <a:solidFill>
              <a:srgbClr val="E04C2E"/>
            </a:solidFill>
            <a:ln>
              <a:noFill/>
            </a:ln>
          </p:spPr>
        </p:sp>
        <p:sp>
          <p:nvSpPr>
            <p:cNvPr id="144" name="TextBox 144"/>
            <p:cNvSpPr txBox="1"/>
            <p:nvPr/>
          </p:nvSpPr>
          <p:spPr>
            <a:xfrm>
              <a:off x="8675438" y="206359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a:t>
              </a:r>
            </a:p>
          </p:txBody>
        </p:sp>
        <p:sp>
          <p:nvSpPr>
            <p:cNvPr id="145" name="TextBox 145"/>
            <p:cNvSpPr txBox="1"/>
            <p:nvPr/>
          </p:nvSpPr>
          <p:spPr>
            <a:xfrm>
              <a:off x="8910638" y="2059543"/>
              <a:ext cx="472618" cy="169069"/>
            </a:xfrm>
            <a:prstGeom prst="rect">
              <a:avLst/>
            </a:prstGeom>
            <a:noFill/>
            <a:ln>
              <a:noFill/>
            </a:ln>
          </p:spPr>
          <p:txBody>
            <a:bodyPr wrap="none" lIns="0" tIns="0" rIns="0" bIns="0" anchor="t" anchorCtr="0">
              <a:spAutoFit/>
            </a:bodyPr>
            <a:lstStyle/>
            <a:p>
              <a:pPr algn="l"/>
              <a:r>
                <a:rPr lang="zh-CN" sz="860" b="1" dirty="0">
                  <a:solidFill>
                    <a:srgbClr val="69281B"/>
                  </a:solidFill>
                  <a:latin typeface="+mn-lt"/>
                  <a:ea typeface="+mn-ea"/>
                  <a:cs typeface="+mn-cs"/>
                </a:rPr>
                <a:t>债券承销</a:t>
              </a:r>
            </a:p>
          </p:txBody>
        </p:sp>
        <p:sp>
          <p:nvSpPr>
            <p:cNvPr id="146" name="TextBox 146"/>
            <p:cNvSpPr txBox="1"/>
            <p:nvPr/>
          </p:nvSpPr>
          <p:spPr>
            <a:xfrm>
              <a:off x="8910638" y="2252853"/>
              <a:ext cx="1253414"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为某省属国企成功承销公司债券</a:t>
              </a:r>
            </a:p>
          </p:txBody>
        </p:sp>
        <p:sp>
          <p:nvSpPr>
            <p:cNvPr id="147" name="TextBox 147"/>
            <p:cNvSpPr txBox="1"/>
            <p:nvPr/>
          </p:nvSpPr>
          <p:spPr>
            <a:xfrm>
              <a:off x="8910638" y="2386203"/>
              <a:ext cx="1523293"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承销规模 </a:t>
              </a:r>
              <a:r>
                <a:rPr lang="zh-CN" sz="660" b="1" dirty="0">
                  <a:solidFill>
                    <a:srgbClr val="E04C2E"/>
                  </a:solidFill>
                  <a:latin typeface="+mn-lt"/>
                  <a:ea typeface="+mn-ea"/>
                  <a:cs typeface="+mn-cs"/>
                </a:rPr>
                <a:t>20亿元</a:t>
              </a:r>
              <a:r>
                <a:rPr lang="zh-CN" sz="660" dirty="0">
                  <a:solidFill>
                    <a:srgbClr val="70504A"/>
                  </a:solidFill>
                  <a:latin typeface="+mn-lt"/>
                  <a:ea typeface="+mn-ea"/>
                  <a:cs typeface="+mn-cs"/>
                </a:rPr>
                <a:t xml:space="preserve">　承销中收 </a:t>
              </a:r>
              <a:r>
                <a:rPr lang="zh-CN" sz="660" b="1" dirty="0">
                  <a:solidFill>
                    <a:srgbClr val="E04C2E"/>
                  </a:solidFill>
                  <a:latin typeface="+mn-lt"/>
                  <a:ea typeface="+mn-ea"/>
                  <a:cs typeface="+mn-cs"/>
                </a:rPr>
                <a:t>950万元</a:t>
              </a:r>
              <a:r>
                <a:rPr lang="zh-CN" sz="660" dirty="0">
                  <a:solidFill>
                    <a:srgbClr val="70504A"/>
                  </a:solidFill>
                  <a:latin typeface="+mn-lt"/>
                  <a:ea typeface="+mn-ea"/>
                  <a:cs typeface="+mn-cs"/>
                </a:rPr>
                <a:t>​</a:t>
              </a:r>
            </a:p>
          </p:txBody>
        </p:sp>
        <p:sp>
          <p:nvSpPr>
            <p:cNvPr id="148" name="TextBox 148"/>
            <p:cNvSpPr txBox="1"/>
            <p:nvPr/>
          </p:nvSpPr>
          <p:spPr>
            <a:xfrm>
              <a:off x="8910638" y="2519553"/>
              <a:ext cx="847151"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带动新增授信 </a:t>
              </a:r>
              <a:r>
                <a:rPr lang="zh-CN" sz="660" b="1" dirty="0">
                  <a:solidFill>
                    <a:srgbClr val="E04C2E"/>
                  </a:solidFill>
                  <a:latin typeface="+mn-lt"/>
                  <a:ea typeface="+mn-ea"/>
                  <a:cs typeface="+mn-cs"/>
                </a:rPr>
                <a:t>8亿元</a:t>
              </a:r>
              <a:r>
                <a:rPr lang="zh-CN" sz="660" dirty="0">
                  <a:solidFill>
                    <a:srgbClr val="70504A"/>
                  </a:solidFill>
                  <a:latin typeface="+mn-lt"/>
                  <a:ea typeface="+mn-ea"/>
                  <a:cs typeface="+mn-cs"/>
                </a:rPr>
                <a:t>​</a:t>
              </a:r>
            </a:p>
          </p:txBody>
        </p:sp>
        <p:sp>
          <p:nvSpPr>
            <p:cNvPr id="149" name="Rectangle 149"/>
            <p:cNvSpPr/>
            <p:nvPr/>
          </p:nvSpPr>
          <p:spPr>
            <a:xfrm>
              <a:off x="8591550" y="2876550"/>
              <a:ext cx="3238500" cy="857250"/>
            </a:xfrm>
            <a:prstGeom prst="roundRect">
              <a:avLst>
                <a:gd name="adj" fmla="val 4444"/>
              </a:avLst>
            </a:prstGeom>
            <a:solidFill>
              <a:srgbClr val="F5F8FD"/>
            </a:solidFill>
            <a:ln w="9525">
              <a:solidFill>
                <a:srgbClr val="E3EAF5"/>
              </a:solidFill>
            </a:ln>
          </p:spPr>
        </p:sp>
        <p:sp>
          <p:nvSpPr>
            <p:cNvPr id="150" name="Ellipse 150"/>
            <p:cNvSpPr/>
            <p:nvPr/>
          </p:nvSpPr>
          <p:spPr>
            <a:xfrm>
              <a:off x="8648700" y="2952750"/>
              <a:ext cx="190500" cy="190500"/>
            </a:xfrm>
            <a:prstGeom prst="ellipse">
              <a:avLst/>
            </a:prstGeom>
            <a:solidFill>
              <a:srgbClr val="E04C2E"/>
            </a:solidFill>
            <a:ln>
              <a:noFill/>
            </a:ln>
          </p:spPr>
        </p:sp>
        <p:sp>
          <p:nvSpPr>
            <p:cNvPr id="151" name="TextBox 151"/>
            <p:cNvSpPr txBox="1"/>
            <p:nvPr/>
          </p:nvSpPr>
          <p:spPr>
            <a:xfrm>
              <a:off x="8675438" y="29970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a:t>
              </a:r>
            </a:p>
          </p:txBody>
        </p:sp>
        <p:sp>
          <p:nvSpPr>
            <p:cNvPr id="152" name="TextBox 152"/>
            <p:cNvSpPr txBox="1"/>
            <p:nvPr/>
          </p:nvSpPr>
          <p:spPr>
            <a:xfrm>
              <a:off x="8910638" y="2992993"/>
              <a:ext cx="771023" cy="169069"/>
            </a:xfrm>
            <a:prstGeom prst="rect">
              <a:avLst/>
            </a:prstGeom>
            <a:noFill/>
            <a:ln>
              <a:noFill/>
            </a:ln>
          </p:spPr>
          <p:txBody>
            <a:bodyPr wrap="none" lIns="0" tIns="0" rIns="0" bIns="0" anchor="t" anchorCtr="0">
              <a:spAutoFit/>
            </a:bodyPr>
            <a:lstStyle/>
            <a:p>
              <a:pPr algn="l"/>
              <a:r>
                <a:rPr lang="zh-CN" sz="860" b="1" dirty="0">
                  <a:solidFill>
                    <a:srgbClr val="69281B"/>
                  </a:solidFill>
                  <a:latin typeface="+mn-lt"/>
                  <a:ea typeface="+mn-ea"/>
                  <a:cs typeface="+mn-cs"/>
                </a:rPr>
                <a:t>中票/并购融资</a:t>
              </a:r>
            </a:p>
          </p:txBody>
        </p:sp>
        <p:sp>
          <p:nvSpPr>
            <p:cNvPr id="153" name="TextBox 153"/>
            <p:cNvSpPr txBox="1"/>
            <p:nvPr/>
          </p:nvSpPr>
          <p:spPr>
            <a:xfrm>
              <a:off x="8910638" y="3186303"/>
              <a:ext cx="1253414"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协助某制造业企业发行中期票据</a:t>
              </a:r>
            </a:p>
          </p:txBody>
        </p:sp>
        <p:sp>
          <p:nvSpPr>
            <p:cNvPr id="154" name="TextBox 154"/>
            <p:cNvSpPr txBox="1"/>
            <p:nvPr/>
          </p:nvSpPr>
          <p:spPr>
            <a:xfrm>
              <a:off x="8910638" y="3319653"/>
              <a:ext cx="1612142"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发行规模 </a:t>
              </a:r>
              <a:r>
                <a:rPr lang="zh-CN" sz="660" b="1" dirty="0">
                  <a:solidFill>
                    <a:srgbClr val="E04C2E"/>
                  </a:solidFill>
                  <a:latin typeface="+mn-lt"/>
                  <a:ea typeface="+mn-ea"/>
                  <a:cs typeface="+mn-cs"/>
                </a:rPr>
                <a:t>10亿元</a:t>
              </a:r>
              <a:r>
                <a:rPr lang="zh-CN" sz="660" dirty="0">
                  <a:solidFill>
                    <a:srgbClr val="70504A"/>
                  </a:solidFill>
                  <a:latin typeface="+mn-lt"/>
                  <a:ea typeface="+mn-ea"/>
                  <a:cs typeface="+mn-cs"/>
                </a:rPr>
                <a:t xml:space="preserve">　中票承销费 </a:t>
              </a:r>
              <a:r>
                <a:rPr lang="zh-CN" sz="660" b="1" dirty="0">
                  <a:solidFill>
                    <a:srgbClr val="E04C2E"/>
                  </a:solidFill>
                  <a:latin typeface="+mn-lt"/>
                  <a:ea typeface="+mn-ea"/>
                  <a:cs typeface="+mn-cs"/>
                </a:rPr>
                <a:t>520万元</a:t>
              </a:r>
              <a:r>
                <a:rPr lang="zh-CN" sz="660" dirty="0">
                  <a:solidFill>
                    <a:srgbClr val="70504A"/>
                  </a:solidFill>
                  <a:latin typeface="+mn-lt"/>
                  <a:ea typeface="+mn-ea"/>
                  <a:cs typeface="+mn-cs"/>
                </a:rPr>
                <a:t>​</a:t>
              </a:r>
            </a:p>
          </p:txBody>
        </p:sp>
        <p:sp>
          <p:nvSpPr>
            <p:cNvPr id="155" name="TextBox 155"/>
            <p:cNvSpPr txBox="1"/>
            <p:nvPr/>
          </p:nvSpPr>
          <p:spPr>
            <a:xfrm>
              <a:off x="8910638" y="3453003"/>
              <a:ext cx="949772"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配套并购贷款 </a:t>
              </a:r>
              <a:r>
                <a:rPr lang="zh-CN" sz="660" b="1" dirty="0">
                  <a:solidFill>
                    <a:srgbClr val="E04C2E"/>
                  </a:solidFill>
                  <a:latin typeface="+mn-lt"/>
                  <a:ea typeface="+mn-ea"/>
                  <a:cs typeface="+mn-cs"/>
                </a:rPr>
                <a:t>3.2亿元</a:t>
              </a:r>
              <a:r>
                <a:rPr lang="zh-CN" sz="660" dirty="0">
                  <a:solidFill>
                    <a:srgbClr val="70504A"/>
                  </a:solidFill>
                  <a:latin typeface="+mn-lt"/>
                  <a:ea typeface="+mn-ea"/>
                  <a:cs typeface="+mn-cs"/>
                </a:rPr>
                <a:t>​</a:t>
              </a:r>
            </a:p>
          </p:txBody>
        </p:sp>
        <p:sp>
          <p:nvSpPr>
            <p:cNvPr id="156" name="Rectangle 156"/>
            <p:cNvSpPr/>
            <p:nvPr/>
          </p:nvSpPr>
          <p:spPr>
            <a:xfrm>
              <a:off x="8591550" y="3810000"/>
              <a:ext cx="3238500" cy="857250"/>
            </a:xfrm>
            <a:prstGeom prst="roundRect">
              <a:avLst>
                <a:gd name="adj" fmla="val 4444"/>
              </a:avLst>
            </a:prstGeom>
            <a:solidFill>
              <a:srgbClr val="F5F8FD"/>
            </a:solidFill>
            <a:ln w="9525">
              <a:solidFill>
                <a:srgbClr val="E3EAF5"/>
              </a:solidFill>
            </a:ln>
          </p:spPr>
        </p:sp>
        <p:sp>
          <p:nvSpPr>
            <p:cNvPr id="157" name="Ellipse 157"/>
            <p:cNvSpPr/>
            <p:nvPr/>
          </p:nvSpPr>
          <p:spPr>
            <a:xfrm>
              <a:off x="8648700" y="3886200"/>
              <a:ext cx="190500" cy="190500"/>
            </a:xfrm>
            <a:prstGeom prst="ellipse">
              <a:avLst/>
            </a:prstGeom>
            <a:solidFill>
              <a:srgbClr val="E04C2E"/>
            </a:solidFill>
            <a:ln>
              <a:noFill/>
            </a:ln>
          </p:spPr>
        </p:sp>
        <p:sp>
          <p:nvSpPr>
            <p:cNvPr id="158" name="TextBox 158"/>
            <p:cNvSpPr txBox="1"/>
            <p:nvPr/>
          </p:nvSpPr>
          <p:spPr>
            <a:xfrm>
              <a:off x="8675438" y="393049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a:t>
              </a:r>
            </a:p>
          </p:txBody>
        </p:sp>
        <p:sp>
          <p:nvSpPr>
            <p:cNvPr id="159" name="TextBox 159"/>
            <p:cNvSpPr txBox="1"/>
            <p:nvPr/>
          </p:nvSpPr>
          <p:spPr>
            <a:xfrm>
              <a:off x="8910638" y="3926443"/>
              <a:ext cx="472618" cy="169069"/>
            </a:xfrm>
            <a:prstGeom prst="rect">
              <a:avLst/>
            </a:prstGeom>
            <a:noFill/>
            <a:ln>
              <a:noFill/>
            </a:ln>
          </p:spPr>
          <p:txBody>
            <a:bodyPr wrap="none" lIns="0" tIns="0" rIns="0" bIns="0" anchor="t" anchorCtr="0">
              <a:spAutoFit/>
            </a:bodyPr>
            <a:lstStyle/>
            <a:p>
              <a:pPr algn="l"/>
              <a:r>
                <a:rPr lang="zh-CN" sz="860" b="1" dirty="0">
                  <a:solidFill>
                    <a:srgbClr val="69281B"/>
                  </a:solidFill>
                  <a:latin typeface="+mn-lt"/>
                  <a:ea typeface="+mn-ea"/>
                  <a:cs typeface="+mn-cs"/>
                </a:rPr>
                <a:t>跨境结算</a:t>
              </a:r>
            </a:p>
          </p:txBody>
        </p:sp>
        <p:sp>
          <p:nvSpPr>
            <p:cNvPr id="160" name="TextBox 160"/>
            <p:cNvSpPr txBox="1"/>
            <p:nvPr/>
          </p:nvSpPr>
          <p:spPr>
            <a:xfrm>
              <a:off x="8910638" y="4119753"/>
              <a:ext cx="1164565"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为外贸企业提供跨境结算服务</a:t>
              </a:r>
            </a:p>
          </p:txBody>
        </p:sp>
        <p:sp>
          <p:nvSpPr>
            <p:cNvPr id="161" name="TextBox 161"/>
            <p:cNvSpPr txBox="1"/>
            <p:nvPr/>
          </p:nvSpPr>
          <p:spPr>
            <a:xfrm>
              <a:off x="8910638" y="4253103"/>
              <a:ext cx="1714763"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结算金额 </a:t>
              </a:r>
              <a:r>
                <a:rPr lang="zh-CN" sz="660" b="1" dirty="0">
                  <a:solidFill>
                    <a:srgbClr val="E04C2E"/>
                  </a:solidFill>
                  <a:latin typeface="+mn-lt"/>
                  <a:ea typeface="+mn-ea"/>
                  <a:cs typeface="+mn-cs"/>
                </a:rPr>
                <a:t>13.5亿美元</a:t>
              </a:r>
              <a:r>
                <a:rPr lang="zh-CN" sz="660" dirty="0">
                  <a:solidFill>
                    <a:srgbClr val="70504A"/>
                  </a:solidFill>
                  <a:latin typeface="+mn-lt"/>
                  <a:ea typeface="+mn-ea"/>
                  <a:cs typeface="+mn-cs"/>
                </a:rPr>
                <a:t xml:space="preserve">　跨境中收 </a:t>
              </a:r>
              <a:r>
                <a:rPr lang="zh-CN" sz="660" b="1" dirty="0">
                  <a:solidFill>
                    <a:srgbClr val="E04C2E"/>
                  </a:solidFill>
                  <a:latin typeface="+mn-lt"/>
                  <a:ea typeface="+mn-ea"/>
                  <a:cs typeface="+mn-cs"/>
                </a:rPr>
                <a:t>280万元</a:t>
              </a:r>
              <a:r>
                <a:rPr lang="zh-CN" sz="660" dirty="0">
                  <a:solidFill>
                    <a:srgbClr val="70504A"/>
                  </a:solidFill>
                  <a:latin typeface="+mn-lt"/>
                  <a:ea typeface="+mn-ea"/>
                  <a:cs typeface="+mn-cs"/>
                </a:rPr>
                <a:t>​</a:t>
              </a:r>
            </a:p>
          </p:txBody>
        </p:sp>
        <p:sp>
          <p:nvSpPr>
            <p:cNvPr id="162" name="TextBox 162"/>
            <p:cNvSpPr txBox="1"/>
            <p:nvPr/>
          </p:nvSpPr>
          <p:spPr>
            <a:xfrm>
              <a:off x="8910638" y="4386453"/>
              <a:ext cx="1038621"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带动外币存款 </a:t>
              </a:r>
              <a:r>
                <a:rPr lang="zh-CN" sz="660" b="1" dirty="0">
                  <a:solidFill>
                    <a:srgbClr val="E04C2E"/>
                  </a:solidFill>
                  <a:latin typeface="+mn-lt"/>
                  <a:ea typeface="+mn-ea"/>
                  <a:cs typeface="+mn-cs"/>
                </a:rPr>
                <a:t>1.8亿美元</a:t>
              </a:r>
              <a:r>
                <a:rPr lang="zh-CN" sz="660" dirty="0">
                  <a:solidFill>
                    <a:srgbClr val="70504A"/>
                  </a:solidFill>
                  <a:latin typeface="+mn-lt"/>
                  <a:ea typeface="+mn-ea"/>
                  <a:cs typeface="+mn-cs"/>
                </a:rPr>
                <a:t>​</a:t>
              </a:r>
            </a:p>
          </p:txBody>
        </p:sp>
        <p:sp>
          <p:nvSpPr>
            <p:cNvPr id="163" name="Rectangle 163"/>
            <p:cNvSpPr/>
            <p:nvPr/>
          </p:nvSpPr>
          <p:spPr>
            <a:xfrm>
              <a:off x="8458200" y="4762500"/>
              <a:ext cx="3505200" cy="228600"/>
            </a:xfrm>
            <a:prstGeom prst="roundRect">
              <a:avLst>
                <a:gd name="adj" fmla="val 25000"/>
              </a:avLst>
            </a:prstGeom>
            <a:solidFill>
              <a:srgbClr val="69281B"/>
            </a:solidFill>
            <a:ln>
              <a:noFill/>
            </a:ln>
          </p:spPr>
        </p:sp>
        <p:sp>
          <p:nvSpPr>
            <p:cNvPr id="164" name="Rectangle 164"/>
            <p:cNvSpPr/>
            <p:nvPr/>
          </p:nvSpPr>
          <p:spPr>
            <a:xfrm>
              <a:off x="8458200" y="4895850"/>
              <a:ext cx="3505200" cy="95250"/>
            </a:xfrm>
            <a:prstGeom prst="rect">
              <a:avLst/>
            </a:prstGeom>
            <a:solidFill>
              <a:srgbClr val="69281B"/>
            </a:solidFill>
            <a:ln>
              <a:noFill/>
            </a:ln>
          </p:spPr>
        </p:sp>
        <p:sp>
          <p:nvSpPr>
            <p:cNvPr id="165" name="TextBox 165"/>
            <p:cNvSpPr txBox="1"/>
            <p:nvPr/>
          </p:nvSpPr>
          <p:spPr>
            <a:xfrm>
              <a:off x="9963722" y="4827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主要举措</a:t>
              </a:r>
            </a:p>
          </p:txBody>
        </p:sp>
        <p:sp>
          <p:nvSpPr>
            <p:cNvPr id="166" name="Ellipse 166"/>
            <p:cNvSpPr/>
            <p:nvPr/>
          </p:nvSpPr>
          <p:spPr>
            <a:xfrm>
              <a:off x="8667750" y="5124450"/>
              <a:ext cx="38100" cy="38100"/>
            </a:xfrm>
            <a:prstGeom prst="ellipse">
              <a:avLst/>
            </a:prstGeom>
            <a:solidFill>
              <a:srgbClr val="E04C2E"/>
            </a:solidFill>
            <a:ln>
              <a:noFill/>
            </a:ln>
          </p:spPr>
        </p:sp>
        <p:sp>
          <p:nvSpPr>
            <p:cNvPr id="167" name="TextBox 167"/>
            <p:cNvSpPr txBox="1"/>
            <p:nvPr/>
          </p:nvSpPr>
          <p:spPr>
            <a:xfrm>
              <a:off x="8777288" y="5102257"/>
              <a:ext cx="1902282"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深化客户分层经营，提升高价值客户渗透率</a:t>
              </a:r>
            </a:p>
          </p:txBody>
        </p:sp>
        <p:sp>
          <p:nvSpPr>
            <p:cNvPr id="168" name="Ellipse 168"/>
            <p:cNvSpPr/>
            <p:nvPr/>
          </p:nvSpPr>
          <p:spPr>
            <a:xfrm>
              <a:off x="8667750" y="5372100"/>
              <a:ext cx="38100" cy="38100"/>
            </a:xfrm>
            <a:prstGeom prst="ellipse">
              <a:avLst/>
            </a:prstGeom>
            <a:solidFill>
              <a:srgbClr val="E04C2E"/>
            </a:solidFill>
            <a:ln>
              <a:noFill/>
            </a:ln>
          </p:spPr>
        </p:sp>
        <p:sp>
          <p:nvSpPr>
            <p:cNvPr id="169" name="TextBox 169"/>
            <p:cNvSpPr txBox="1"/>
            <p:nvPr/>
          </p:nvSpPr>
          <p:spPr>
            <a:xfrm>
              <a:off x="8777288" y="5349907"/>
              <a:ext cx="2001901"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强化产品联动与交叉销售，打造综合服务方案</a:t>
              </a:r>
            </a:p>
          </p:txBody>
        </p:sp>
        <p:sp>
          <p:nvSpPr>
            <p:cNvPr id="170" name="Ellipse 170"/>
            <p:cNvSpPr/>
            <p:nvPr/>
          </p:nvSpPr>
          <p:spPr>
            <a:xfrm>
              <a:off x="8667750" y="5619750"/>
              <a:ext cx="38100" cy="38100"/>
            </a:xfrm>
            <a:prstGeom prst="ellipse">
              <a:avLst/>
            </a:prstGeom>
            <a:solidFill>
              <a:srgbClr val="E04C2E"/>
            </a:solidFill>
            <a:ln>
              <a:noFill/>
            </a:ln>
          </p:spPr>
        </p:sp>
        <p:sp>
          <p:nvSpPr>
            <p:cNvPr id="171" name="TextBox 171"/>
            <p:cNvSpPr txBox="1"/>
            <p:nvPr/>
          </p:nvSpPr>
          <p:spPr>
            <a:xfrm>
              <a:off x="8777288" y="5597557"/>
              <a:ext cx="2001901"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拓展投行与国际业务，提升高附加值收入占比</a:t>
              </a:r>
            </a:p>
          </p:txBody>
        </p:sp>
        <p:sp>
          <p:nvSpPr>
            <p:cNvPr id="172" name="Ellipse 172"/>
            <p:cNvSpPr/>
            <p:nvPr/>
          </p:nvSpPr>
          <p:spPr>
            <a:xfrm>
              <a:off x="8667750" y="5867400"/>
              <a:ext cx="38100" cy="38100"/>
            </a:xfrm>
            <a:prstGeom prst="ellipse">
              <a:avLst/>
            </a:prstGeom>
            <a:solidFill>
              <a:srgbClr val="E04C2E"/>
            </a:solidFill>
            <a:ln>
              <a:noFill/>
            </a:ln>
          </p:spPr>
        </p:sp>
        <p:sp>
          <p:nvSpPr>
            <p:cNvPr id="173" name="TextBox 173"/>
            <p:cNvSpPr txBox="1"/>
            <p:nvPr/>
          </p:nvSpPr>
          <p:spPr>
            <a:xfrm>
              <a:off x="8777288" y="5845207"/>
              <a:ext cx="2101520" cy="144780"/>
            </a:xfrm>
            <a:prstGeom prst="rect">
              <a:avLst/>
            </a:prstGeom>
            <a:noFill/>
            <a:ln>
              <a:noFill/>
            </a:ln>
          </p:spPr>
          <p:txBody>
            <a:bodyPr wrap="none" lIns="0" tIns="0" rIns="0" bIns="0" anchor="t" anchorCtr="0">
              <a:spAutoFit/>
            </a:bodyPr>
            <a:lstStyle/>
            <a:p>
              <a:pPr algn="l"/>
              <a:r>
                <a:rPr lang="zh-CN" sz="740" dirty="0">
                  <a:solidFill>
                    <a:srgbClr val="70504A"/>
                  </a:solidFill>
                  <a:latin typeface="+mn-lt"/>
                  <a:ea typeface="+mn-ea"/>
                  <a:cs typeface="+mn-cs"/>
                </a:rPr>
                <a:t>优化定价与费用管理，提升中收贡献度与利润率</a:t>
              </a:r>
            </a:p>
          </p:txBody>
        </p:sp>
        <p:sp>
          <p:nvSpPr>
            <p:cNvPr id="174" name="TextBox 174"/>
            <p:cNvSpPr txBox="1"/>
            <p:nvPr/>
          </p:nvSpPr>
          <p:spPr>
            <a:xfrm>
              <a:off x="8586788" y="6236732"/>
              <a:ext cx="1301877"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注：案例与举措表述为示例内容。</a:t>
              </a:r>
            </a:p>
          </p:txBody>
        </p:sp>
        <p:sp>
          <p:nvSpPr>
            <p:cNvPr id="175" name="TextBox 175"/>
            <p:cNvSpPr txBox="1"/>
            <p:nvPr/>
          </p:nvSpPr>
          <p:spPr>
            <a:xfrm>
              <a:off x="8586788" y="6427232"/>
              <a:ext cx="1263106"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金额单位：人民币/美元（示例）</a:t>
              </a:r>
            </a:p>
          </p:txBody>
        </p:sp>
      </p:grpSp>
      <p:grpSp>
        <p:nvGrpSpPr>
          <p:cNvPr id="234" name="waterfall"/>
          <p:cNvGrpSpPr/>
          <p:nvPr/>
        </p:nvGrpSpPr>
        <p:grpSpPr>
          <a:xfrm>
            <a:off x="219347" y="4286250"/>
            <a:ext cx="5305153" cy="2381250"/>
            <a:chOff x="219347" y="4286250"/>
            <a:chExt cx="5305153" cy="2381250"/>
          </a:xfrm>
        </p:grpSpPr>
        <p:sp>
          <p:nvSpPr>
            <p:cNvPr id="177" name="Rectangle 177"/>
            <p:cNvSpPr/>
            <p:nvPr/>
          </p:nvSpPr>
          <p:spPr>
            <a:xfrm>
              <a:off x="228600" y="4286250"/>
              <a:ext cx="5295900" cy="2381250"/>
            </a:xfrm>
            <a:prstGeom prst="roundRect">
              <a:avLst>
                <a:gd name="adj" fmla="val 2400"/>
              </a:avLst>
            </a:prstGeom>
            <a:solidFill>
              <a:srgbClr val="FFFFFF"/>
            </a:solidFill>
            <a:ln w="9525">
              <a:solidFill>
                <a:srgbClr val="C9D6E9"/>
              </a:solidFill>
            </a:ln>
          </p:spPr>
        </p:sp>
        <p:sp>
          <p:nvSpPr>
            <p:cNvPr id="178" name="Rectangle 178"/>
            <p:cNvSpPr/>
            <p:nvPr/>
          </p:nvSpPr>
          <p:spPr>
            <a:xfrm>
              <a:off x="228600" y="4286250"/>
              <a:ext cx="5295900" cy="228600"/>
            </a:xfrm>
            <a:prstGeom prst="roundRect">
              <a:avLst>
                <a:gd name="adj" fmla="val 25000"/>
              </a:avLst>
            </a:prstGeom>
            <a:solidFill>
              <a:srgbClr val="69281B"/>
            </a:solidFill>
            <a:ln>
              <a:noFill/>
            </a:ln>
          </p:spPr>
        </p:sp>
        <p:sp>
          <p:nvSpPr>
            <p:cNvPr id="179" name="Rectangle 179"/>
            <p:cNvSpPr/>
            <p:nvPr/>
          </p:nvSpPr>
          <p:spPr>
            <a:xfrm>
              <a:off x="228600" y="4419600"/>
              <a:ext cx="5295900" cy="95250"/>
            </a:xfrm>
            <a:prstGeom prst="rect">
              <a:avLst/>
            </a:prstGeom>
            <a:solidFill>
              <a:srgbClr val="69281B"/>
            </a:solidFill>
            <a:ln>
              <a:noFill/>
            </a:ln>
          </p:spPr>
        </p:sp>
        <p:sp>
          <p:nvSpPr>
            <p:cNvPr id="180" name="TextBox 180"/>
            <p:cNvSpPr txBox="1"/>
            <p:nvPr/>
          </p:nvSpPr>
          <p:spPr>
            <a:xfrm>
              <a:off x="1963102" y="4351020"/>
              <a:ext cx="182689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中收增长贡献分析（单位：万元）</a:t>
              </a:r>
            </a:p>
          </p:txBody>
        </p:sp>
        <p:sp>
          <p:nvSpPr>
            <p:cNvPr id="181" name="Line 181"/>
            <p:cNvSpPr/>
            <p:nvPr/>
          </p:nvSpPr>
          <p:spPr>
            <a:xfrm>
              <a:off x="571500" y="4933950"/>
              <a:ext cx="247650" cy="9525"/>
            </a:xfrm>
            <a:custGeom>
              <a:avLst/>
              <a:gdLst/>
              <a:ahLst/>
              <a:cxnLst/>
              <a:rect l="l" t="t" r="r" b="b"/>
              <a:pathLst>
                <a:path w="247650" h="9525">
                  <a:moveTo>
                    <a:pt x="0" y="0"/>
                  </a:moveTo>
                  <a:lnTo>
                    <a:pt x="247650" y="0"/>
                  </a:lnTo>
                </a:path>
              </a:pathLst>
            </a:custGeom>
            <a:noFill/>
            <a:ln w="76200">
              <a:solidFill>
                <a:srgbClr val="E04C2E"/>
              </a:solidFill>
            </a:ln>
          </p:spPr>
        </p:sp>
        <p:sp>
          <p:nvSpPr>
            <p:cNvPr id="182" name="TextBox 182"/>
            <p:cNvSpPr txBox="1"/>
            <p:nvPr/>
          </p:nvSpPr>
          <p:spPr>
            <a:xfrm>
              <a:off x="871538" y="4899184"/>
              <a:ext cx="375691"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正向贡献</a:t>
              </a:r>
            </a:p>
          </p:txBody>
        </p:sp>
        <p:sp>
          <p:nvSpPr>
            <p:cNvPr id="183" name="Line 183"/>
            <p:cNvSpPr/>
            <p:nvPr/>
          </p:nvSpPr>
          <p:spPr>
            <a:xfrm>
              <a:off x="1428750" y="4933950"/>
              <a:ext cx="247650" cy="9525"/>
            </a:xfrm>
            <a:custGeom>
              <a:avLst/>
              <a:gdLst/>
              <a:ahLst/>
              <a:cxnLst/>
              <a:rect l="l" t="t" r="r" b="b"/>
              <a:pathLst>
                <a:path w="247650" h="9525">
                  <a:moveTo>
                    <a:pt x="0" y="0"/>
                  </a:moveTo>
                  <a:lnTo>
                    <a:pt x="247650" y="0"/>
                  </a:lnTo>
                </a:path>
              </a:pathLst>
            </a:custGeom>
            <a:noFill/>
            <a:ln w="76200">
              <a:solidFill>
                <a:srgbClr val="D0442C"/>
              </a:solidFill>
            </a:ln>
          </p:spPr>
        </p:sp>
        <p:sp>
          <p:nvSpPr>
            <p:cNvPr id="184" name="TextBox 184"/>
            <p:cNvSpPr txBox="1"/>
            <p:nvPr/>
          </p:nvSpPr>
          <p:spPr>
            <a:xfrm>
              <a:off x="1728788" y="4899184"/>
              <a:ext cx="375691"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负向贡献</a:t>
              </a:r>
            </a:p>
          </p:txBody>
        </p:sp>
        <p:sp>
          <p:nvSpPr>
            <p:cNvPr id="185" name="Line 185"/>
            <p:cNvSpPr/>
            <p:nvPr/>
          </p:nvSpPr>
          <p:spPr>
            <a:xfrm>
              <a:off x="2343150" y="4933950"/>
              <a:ext cx="247650" cy="9525"/>
            </a:xfrm>
            <a:custGeom>
              <a:avLst/>
              <a:gdLst/>
              <a:ahLst/>
              <a:cxnLst/>
              <a:rect l="l" t="t" r="r" b="b"/>
              <a:pathLst>
                <a:path w="247650" h="9525">
                  <a:moveTo>
                    <a:pt x="0" y="0"/>
                  </a:moveTo>
                  <a:lnTo>
                    <a:pt x="247650" y="0"/>
                  </a:lnTo>
                </a:path>
              </a:pathLst>
            </a:custGeom>
            <a:noFill/>
            <a:ln w="76200">
              <a:solidFill>
                <a:srgbClr val="69281B"/>
              </a:solidFill>
            </a:ln>
          </p:spPr>
        </p:sp>
        <p:sp>
          <p:nvSpPr>
            <p:cNvPr id="186" name="TextBox 186"/>
            <p:cNvSpPr txBox="1"/>
            <p:nvPr/>
          </p:nvSpPr>
          <p:spPr>
            <a:xfrm>
              <a:off x="2643188" y="4899184"/>
              <a:ext cx="426039"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小计/合计</a:t>
              </a:r>
            </a:p>
          </p:txBody>
        </p:sp>
        <p:sp>
          <p:nvSpPr>
            <p:cNvPr id="187" name="Line 187"/>
            <p:cNvSpPr/>
            <p:nvPr/>
          </p:nvSpPr>
          <p:spPr>
            <a:xfrm>
              <a:off x="533400" y="6238875"/>
              <a:ext cx="4800600" cy="9525"/>
            </a:xfrm>
            <a:custGeom>
              <a:avLst/>
              <a:gdLst/>
              <a:ahLst/>
              <a:cxnLst/>
              <a:rect l="l" t="t" r="r" b="b"/>
              <a:pathLst>
                <a:path w="4800600" h="9525">
                  <a:moveTo>
                    <a:pt x="0" y="0"/>
                  </a:moveTo>
                  <a:lnTo>
                    <a:pt x="4800600" y="0"/>
                  </a:lnTo>
                </a:path>
              </a:pathLst>
            </a:custGeom>
            <a:noFill/>
            <a:ln w="9525">
              <a:solidFill>
                <a:srgbClr val="C9D6E9"/>
              </a:solidFill>
            </a:ln>
          </p:spPr>
        </p:sp>
        <p:sp>
          <p:nvSpPr>
            <p:cNvPr id="188" name="Line 188"/>
            <p:cNvSpPr/>
            <p:nvPr/>
          </p:nvSpPr>
          <p:spPr>
            <a:xfrm>
              <a:off x="533400" y="5953125"/>
              <a:ext cx="4800600" cy="9525"/>
            </a:xfrm>
            <a:custGeom>
              <a:avLst/>
              <a:gdLst/>
              <a:ahLst/>
              <a:cxnLst/>
              <a:rect l="l" t="t" r="r" b="b"/>
              <a:pathLst>
                <a:path w="4800600" h="9525">
                  <a:moveTo>
                    <a:pt x="0" y="0"/>
                  </a:moveTo>
                  <a:lnTo>
                    <a:pt x="4800600" y="0"/>
                  </a:lnTo>
                </a:path>
              </a:pathLst>
            </a:custGeom>
            <a:noFill/>
            <a:ln w="9525">
              <a:solidFill>
                <a:srgbClr val="EDF2FA"/>
              </a:solidFill>
            </a:ln>
          </p:spPr>
        </p:sp>
        <p:sp>
          <p:nvSpPr>
            <p:cNvPr id="189" name="Line 189"/>
            <p:cNvSpPr/>
            <p:nvPr/>
          </p:nvSpPr>
          <p:spPr>
            <a:xfrm>
              <a:off x="533400" y="5667375"/>
              <a:ext cx="4800600" cy="9525"/>
            </a:xfrm>
            <a:custGeom>
              <a:avLst/>
              <a:gdLst/>
              <a:ahLst/>
              <a:cxnLst/>
              <a:rect l="l" t="t" r="r" b="b"/>
              <a:pathLst>
                <a:path w="4800600" h="9525">
                  <a:moveTo>
                    <a:pt x="0" y="0"/>
                  </a:moveTo>
                  <a:lnTo>
                    <a:pt x="4800600" y="0"/>
                  </a:lnTo>
                </a:path>
              </a:pathLst>
            </a:custGeom>
            <a:noFill/>
            <a:ln w="9525">
              <a:solidFill>
                <a:srgbClr val="EDF2FA"/>
              </a:solidFill>
            </a:ln>
          </p:spPr>
        </p:sp>
        <p:sp>
          <p:nvSpPr>
            <p:cNvPr id="190" name="Line 190"/>
            <p:cNvSpPr/>
            <p:nvPr/>
          </p:nvSpPr>
          <p:spPr>
            <a:xfrm>
              <a:off x="533400" y="5381625"/>
              <a:ext cx="4800600" cy="9525"/>
            </a:xfrm>
            <a:custGeom>
              <a:avLst/>
              <a:gdLst/>
              <a:ahLst/>
              <a:cxnLst/>
              <a:rect l="l" t="t" r="r" b="b"/>
              <a:pathLst>
                <a:path w="4800600" h="9525">
                  <a:moveTo>
                    <a:pt x="0" y="0"/>
                  </a:moveTo>
                  <a:lnTo>
                    <a:pt x="4800600" y="0"/>
                  </a:lnTo>
                </a:path>
              </a:pathLst>
            </a:custGeom>
            <a:noFill/>
            <a:ln w="9525">
              <a:solidFill>
                <a:srgbClr val="EDF2FA"/>
              </a:solidFill>
            </a:ln>
          </p:spPr>
        </p:sp>
        <p:sp>
          <p:nvSpPr>
            <p:cNvPr id="191" name="Line 191"/>
            <p:cNvSpPr/>
            <p:nvPr/>
          </p:nvSpPr>
          <p:spPr>
            <a:xfrm>
              <a:off x="533400" y="5095875"/>
              <a:ext cx="4800600" cy="9525"/>
            </a:xfrm>
            <a:custGeom>
              <a:avLst/>
              <a:gdLst/>
              <a:ahLst/>
              <a:cxnLst/>
              <a:rect l="l" t="t" r="r" b="b"/>
              <a:pathLst>
                <a:path w="4800600" h="9525">
                  <a:moveTo>
                    <a:pt x="0" y="0"/>
                  </a:moveTo>
                  <a:lnTo>
                    <a:pt x="4800600" y="0"/>
                  </a:lnTo>
                </a:path>
              </a:pathLst>
            </a:custGeom>
            <a:noFill/>
            <a:ln w="9525">
              <a:solidFill>
                <a:srgbClr val="EDF2FA"/>
              </a:solidFill>
            </a:ln>
          </p:spPr>
        </p:sp>
        <p:sp>
          <p:nvSpPr>
            <p:cNvPr id="192" name="Line 192"/>
            <p:cNvSpPr/>
            <p:nvPr/>
          </p:nvSpPr>
          <p:spPr>
            <a:xfrm>
              <a:off x="533400" y="4810125"/>
              <a:ext cx="4800600" cy="9525"/>
            </a:xfrm>
            <a:custGeom>
              <a:avLst/>
              <a:gdLst/>
              <a:ahLst/>
              <a:cxnLst/>
              <a:rect l="l" t="t" r="r" b="b"/>
              <a:pathLst>
                <a:path w="4800600" h="9525">
                  <a:moveTo>
                    <a:pt x="0" y="0"/>
                  </a:moveTo>
                  <a:lnTo>
                    <a:pt x="4800600" y="0"/>
                  </a:lnTo>
                </a:path>
              </a:pathLst>
            </a:custGeom>
            <a:noFill/>
            <a:ln w="9525">
              <a:solidFill>
                <a:srgbClr val="EDF2FA"/>
              </a:solidFill>
            </a:ln>
          </p:spPr>
        </p:sp>
        <p:sp>
          <p:nvSpPr>
            <p:cNvPr id="193" name="TextBox 193"/>
            <p:cNvSpPr txBox="1"/>
            <p:nvPr/>
          </p:nvSpPr>
          <p:spPr>
            <a:xfrm>
              <a:off x="426662" y="6206728"/>
              <a:ext cx="92451"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0​</a:t>
              </a:r>
            </a:p>
          </p:txBody>
        </p:sp>
        <p:sp>
          <p:nvSpPr>
            <p:cNvPr id="194" name="TextBox 194"/>
            <p:cNvSpPr txBox="1"/>
            <p:nvPr/>
          </p:nvSpPr>
          <p:spPr>
            <a:xfrm>
              <a:off x="260810" y="5920978"/>
              <a:ext cx="258303"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5,000​</a:t>
              </a:r>
            </a:p>
          </p:txBody>
        </p:sp>
        <p:sp>
          <p:nvSpPr>
            <p:cNvPr id="195" name="TextBox 195"/>
            <p:cNvSpPr txBox="1"/>
            <p:nvPr/>
          </p:nvSpPr>
          <p:spPr>
            <a:xfrm>
              <a:off x="219347" y="5635228"/>
              <a:ext cx="299766"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10,000​</a:t>
              </a:r>
            </a:p>
          </p:txBody>
        </p:sp>
        <p:sp>
          <p:nvSpPr>
            <p:cNvPr id="196" name="TextBox 196"/>
            <p:cNvSpPr txBox="1"/>
            <p:nvPr/>
          </p:nvSpPr>
          <p:spPr>
            <a:xfrm>
              <a:off x="219347" y="5349478"/>
              <a:ext cx="299766"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15,000​</a:t>
              </a:r>
            </a:p>
          </p:txBody>
        </p:sp>
        <p:sp>
          <p:nvSpPr>
            <p:cNvPr id="197" name="TextBox 197"/>
            <p:cNvSpPr txBox="1"/>
            <p:nvPr/>
          </p:nvSpPr>
          <p:spPr>
            <a:xfrm>
              <a:off x="219347" y="5063728"/>
              <a:ext cx="299766"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20,000​</a:t>
              </a:r>
            </a:p>
          </p:txBody>
        </p:sp>
        <p:sp>
          <p:nvSpPr>
            <p:cNvPr id="198" name="TextBox 198"/>
            <p:cNvSpPr txBox="1"/>
            <p:nvPr/>
          </p:nvSpPr>
          <p:spPr>
            <a:xfrm>
              <a:off x="219347" y="4777978"/>
              <a:ext cx="299766"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25,000​</a:t>
              </a:r>
            </a:p>
          </p:txBody>
        </p:sp>
        <p:sp>
          <p:nvSpPr>
            <p:cNvPr id="199" name="Rectangle 199"/>
            <p:cNvSpPr/>
            <p:nvPr/>
          </p:nvSpPr>
          <p:spPr>
            <a:xfrm>
              <a:off x="533400" y="5329238"/>
              <a:ext cx="381000" cy="909638"/>
            </a:xfrm>
            <a:prstGeom prst="rect">
              <a:avLst/>
            </a:prstGeom>
            <a:solidFill>
              <a:srgbClr val="69281B"/>
            </a:solidFill>
            <a:ln>
              <a:noFill/>
            </a:ln>
          </p:spPr>
        </p:sp>
        <p:sp>
          <p:nvSpPr>
            <p:cNvPr id="200" name="TextBox 200"/>
            <p:cNvSpPr txBox="1"/>
            <p:nvPr/>
          </p:nvSpPr>
          <p:spPr>
            <a:xfrm>
              <a:off x="544993" y="5198507"/>
              <a:ext cx="357814"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15,921​</a:t>
              </a:r>
            </a:p>
          </p:txBody>
        </p:sp>
        <p:sp>
          <p:nvSpPr>
            <p:cNvPr id="201" name="Line 201"/>
            <p:cNvSpPr/>
            <p:nvPr/>
          </p:nvSpPr>
          <p:spPr>
            <a:xfrm>
              <a:off x="914400" y="5329238"/>
              <a:ext cx="133350" cy="9525"/>
            </a:xfrm>
            <a:custGeom>
              <a:avLst/>
              <a:gdLst/>
              <a:ahLst/>
              <a:cxnLst/>
              <a:rect l="l" t="t" r="r" b="b"/>
              <a:pathLst>
                <a:path w="133350" h="9525">
                  <a:moveTo>
                    <a:pt x="0" y="0"/>
                  </a:moveTo>
                  <a:lnTo>
                    <a:pt x="133350" y="0"/>
                  </a:lnTo>
                </a:path>
              </a:pathLst>
            </a:custGeom>
            <a:noFill/>
            <a:ln w="9525">
              <a:solidFill>
                <a:srgbClr val="EBC1B8"/>
              </a:solidFill>
              <a:prstDash val="sysDot"/>
            </a:ln>
          </p:spPr>
        </p:sp>
        <p:sp>
          <p:nvSpPr>
            <p:cNvPr id="202" name="Rectangle 202"/>
            <p:cNvSpPr/>
            <p:nvPr/>
          </p:nvSpPr>
          <p:spPr>
            <a:xfrm>
              <a:off x="1047750" y="5196840"/>
              <a:ext cx="381000" cy="132398"/>
            </a:xfrm>
            <a:prstGeom prst="rect">
              <a:avLst/>
            </a:prstGeom>
            <a:solidFill>
              <a:srgbClr val="E04C2E"/>
            </a:solidFill>
            <a:ln>
              <a:noFill/>
            </a:ln>
          </p:spPr>
        </p:sp>
        <p:sp>
          <p:nvSpPr>
            <p:cNvPr id="203" name="TextBox 203"/>
            <p:cNvSpPr txBox="1"/>
            <p:nvPr/>
          </p:nvSpPr>
          <p:spPr>
            <a:xfrm>
              <a:off x="1059343" y="5074682"/>
              <a:ext cx="357814"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+2,310​</a:t>
              </a:r>
            </a:p>
          </p:txBody>
        </p:sp>
        <p:sp>
          <p:nvSpPr>
            <p:cNvPr id="204" name="Line 204"/>
            <p:cNvSpPr/>
            <p:nvPr/>
          </p:nvSpPr>
          <p:spPr>
            <a:xfrm>
              <a:off x="1428750" y="5196840"/>
              <a:ext cx="133350" cy="9525"/>
            </a:xfrm>
            <a:custGeom>
              <a:avLst/>
              <a:gdLst/>
              <a:ahLst/>
              <a:cxnLst/>
              <a:rect l="l" t="t" r="r" b="b"/>
              <a:pathLst>
                <a:path w="133350" h="9525">
                  <a:moveTo>
                    <a:pt x="0" y="0"/>
                  </a:moveTo>
                  <a:lnTo>
                    <a:pt x="133350" y="0"/>
                  </a:lnTo>
                </a:path>
              </a:pathLst>
            </a:custGeom>
            <a:noFill/>
            <a:ln w="9525">
              <a:solidFill>
                <a:srgbClr val="EBC1B8"/>
              </a:solidFill>
              <a:prstDash val="sysDot"/>
            </a:ln>
          </p:spPr>
        </p:sp>
        <p:sp>
          <p:nvSpPr>
            <p:cNvPr id="205" name="Rectangle 205"/>
            <p:cNvSpPr/>
            <p:nvPr/>
          </p:nvSpPr>
          <p:spPr>
            <a:xfrm>
              <a:off x="1562100" y="5041582"/>
              <a:ext cx="381000" cy="155258"/>
            </a:xfrm>
            <a:prstGeom prst="rect">
              <a:avLst/>
            </a:prstGeom>
            <a:solidFill>
              <a:srgbClr val="E04C2E"/>
            </a:solidFill>
            <a:ln>
              <a:noFill/>
            </a:ln>
          </p:spPr>
        </p:sp>
        <p:sp>
          <p:nvSpPr>
            <p:cNvPr id="206" name="TextBox 206"/>
            <p:cNvSpPr txBox="1"/>
            <p:nvPr/>
          </p:nvSpPr>
          <p:spPr>
            <a:xfrm>
              <a:off x="1573693" y="4922282"/>
              <a:ext cx="357814"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+2,720​</a:t>
              </a:r>
            </a:p>
          </p:txBody>
        </p:sp>
        <p:sp>
          <p:nvSpPr>
            <p:cNvPr id="207" name="Line 207"/>
            <p:cNvSpPr/>
            <p:nvPr/>
          </p:nvSpPr>
          <p:spPr>
            <a:xfrm>
              <a:off x="1943100" y="5041582"/>
              <a:ext cx="133350" cy="9525"/>
            </a:xfrm>
            <a:custGeom>
              <a:avLst/>
              <a:gdLst/>
              <a:ahLst/>
              <a:cxnLst/>
              <a:rect l="l" t="t" r="r" b="b"/>
              <a:pathLst>
                <a:path w="133350" h="9525">
                  <a:moveTo>
                    <a:pt x="0" y="0"/>
                  </a:moveTo>
                  <a:lnTo>
                    <a:pt x="133350" y="0"/>
                  </a:lnTo>
                </a:path>
              </a:pathLst>
            </a:custGeom>
            <a:noFill/>
            <a:ln w="9525">
              <a:solidFill>
                <a:srgbClr val="EBC1B8"/>
              </a:solidFill>
              <a:prstDash val="sysDot"/>
            </a:ln>
          </p:spPr>
        </p:sp>
        <p:sp>
          <p:nvSpPr>
            <p:cNvPr id="208" name="Rectangle 208"/>
            <p:cNvSpPr/>
            <p:nvPr/>
          </p:nvSpPr>
          <p:spPr>
            <a:xfrm>
              <a:off x="2076450" y="4947285"/>
              <a:ext cx="381000" cy="94298"/>
            </a:xfrm>
            <a:prstGeom prst="rect">
              <a:avLst/>
            </a:prstGeom>
            <a:solidFill>
              <a:srgbClr val="E04C2E"/>
            </a:solidFill>
            <a:ln>
              <a:noFill/>
            </a:ln>
          </p:spPr>
        </p:sp>
        <p:sp>
          <p:nvSpPr>
            <p:cNvPr id="209" name="TextBox 209"/>
            <p:cNvSpPr txBox="1"/>
            <p:nvPr/>
          </p:nvSpPr>
          <p:spPr>
            <a:xfrm>
              <a:off x="2088043" y="4827032"/>
              <a:ext cx="357814"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+1,650​</a:t>
              </a:r>
            </a:p>
          </p:txBody>
        </p:sp>
        <p:sp>
          <p:nvSpPr>
            <p:cNvPr id="210" name="Line 210"/>
            <p:cNvSpPr/>
            <p:nvPr/>
          </p:nvSpPr>
          <p:spPr>
            <a:xfrm>
              <a:off x="2457450" y="4947285"/>
              <a:ext cx="133350" cy="9525"/>
            </a:xfrm>
            <a:custGeom>
              <a:avLst/>
              <a:gdLst/>
              <a:ahLst/>
              <a:cxnLst/>
              <a:rect l="l" t="t" r="r" b="b"/>
              <a:pathLst>
                <a:path w="133350" h="9525">
                  <a:moveTo>
                    <a:pt x="0" y="0"/>
                  </a:moveTo>
                  <a:lnTo>
                    <a:pt x="133350" y="0"/>
                  </a:lnTo>
                </a:path>
              </a:pathLst>
            </a:custGeom>
            <a:noFill/>
            <a:ln w="9525">
              <a:solidFill>
                <a:srgbClr val="EBC1B8"/>
              </a:solidFill>
              <a:prstDash val="sysDot"/>
            </a:ln>
          </p:spPr>
        </p:sp>
        <p:sp>
          <p:nvSpPr>
            <p:cNvPr id="211" name="Rectangle 211"/>
            <p:cNvSpPr/>
            <p:nvPr/>
          </p:nvSpPr>
          <p:spPr>
            <a:xfrm>
              <a:off x="2590800" y="4883468"/>
              <a:ext cx="381000" cy="63818"/>
            </a:xfrm>
            <a:prstGeom prst="rect">
              <a:avLst/>
            </a:prstGeom>
            <a:solidFill>
              <a:srgbClr val="E04C2E"/>
            </a:solidFill>
            <a:ln>
              <a:noFill/>
            </a:ln>
          </p:spPr>
        </p:sp>
        <p:sp>
          <p:nvSpPr>
            <p:cNvPr id="212" name="TextBox 212"/>
            <p:cNvSpPr txBox="1"/>
            <p:nvPr/>
          </p:nvSpPr>
          <p:spPr>
            <a:xfrm>
              <a:off x="2602393" y="4760357"/>
              <a:ext cx="357814"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+1,120​</a:t>
              </a:r>
            </a:p>
          </p:txBody>
        </p:sp>
        <p:sp>
          <p:nvSpPr>
            <p:cNvPr id="213" name="Line 213"/>
            <p:cNvSpPr/>
            <p:nvPr/>
          </p:nvSpPr>
          <p:spPr>
            <a:xfrm>
              <a:off x="2971800" y="4883468"/>
              <a:ext cx="133350" cy="9525"/>
            </a:xfrm>
            <a:custGeom>
              <a:avLst/>
              <a:gdLst/>
              <a:ahLst/>
              <a:cxnLst/>
              <a:rect l="l" t="t" r="r" b="b"/>
              <a:pathLst>
                <a:path w="133350" h="9525">
                  <a:moveTo>
                    <a:pt x="0" y="0"/>
                  </a:moveTo>
                  <a:lnTo>
                    <a:pt x="133350" y="0"/>
                  </a:lnTo>
                </a:path>
              </a:pathLst>
            </a:custGeom>
            <a:noFill/>
            <a:ln w="9525">
              <a:solidFill>
                <a:srgbClr val="EBC1B8"/>
              </a:solidFill>
              <a:prstDash val="sysDot"/>
            </a:ln>
          </p:spPr>
        </p:sp>
        <p:sp>
          <p:nvSpPr>
            <p:cNvPr id="214" name="Rectangle 214"/>
            <p:cNvSpPr/>
            <p:nvPr/>
          </p:nvSpPr>
          <p:spPr>
            <a:xfrm>
              <a:off x="3105150" y="4848225"/>
              <a:ext cx="381000" cy="35242"/>
            </a:xfrm>
            <a:prstGeom prst="rect">
              <a:avLst/>
            </a:prstGeom>
            <a:solidFill>
              <a:srgbClr val="E04C2E"/>
            </a:solidFill>
            <a:ln>
              <a:noFill/>
            </a:ln>
          </p:spPr>
        </p:sp>
        <p:sp>
          <p:nvSpPr>
            <p:cNvPr id="215" name="TextBox 215"/>
            <p:cNvSpPr txBox="1"/>
            <p:nvPr/>
          </p:nvSpPr>
          <p:spPr>
            <a:xfrm>
              <a:off x="3166499" y="4731782"/>
              <a:ext cx="258303"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+620​</a:t>
              </a:r>
            </a:p>
          </p:txBody>
        </p:sp>
        <p:sp>
          <p:nvSpPr>
            <p:cNvPr id="216" name="Line 216"/>
            <p:cNvSpPr/>
            <p:nvPr/>
          </p:nvSpPr>
          <p:spPr>
            <a:xfrm>
              <a:off x="3486150" y="4848225"/>
              <a:ext cx="133350" cy="9525"/>
            </a:xfrm>
            <a:custGeom>
              <a:avLst/>
              <a:gdLst/>
              <a:ahLst/>
              <a:cxnLst/>
              <a:rect l="l" t="t" r="r" b="b"/>
              <a:pathLst>
                <a:path w="133350" h="9525">
                  <a:moveTo>
                    <a:pt x="0" y="0"/>
                  </a:moveTo>
                  <a:lnTo>
                    <a:pt x="133350" y="0"/>
                  </a:lnTo>
                </a:path>
              </a:pathLst>
            </a:custGeom>
            <a:noFill/>
            <a:ln w="9525">
              <a:solidFill>
                <a:srgbClr val="EBC1B8"/>
              </a:solidFill>
              <a:prstDash val="sysDot"/>
            </a:ln>
          </p:spPr>
        </p:sp>
        <p:sp>
          <p:nvSpPr>
            <p:cNvPr id="217" name="Rectangle 217"/>
            <p:cNvSpPr/>
            <p:nvPr/>
          </p:nvSpPr>
          <p:spPr>
            <a:xfrm>
              <a:off x="3619500" y="4824412"/>
              <a:ext cx="381000" cy="23812"/>
            </a:xfrm>
            <a:prstGeom prst="rect">
              <a:avLst/>
            </a:prstGeom>
            <a:solidFill>
              <a:srgbClr val="E04C2E"/>
            </a:solidFill>
            <a:ln>
              <a:noFill/>
            </a:ln>
          </p:spPr>
        </p:sp>
        <p:sp>
          <p:nvSpPr>
            <p:cNvPr id="218" name="TextBox 218"/>
            <p:cNvSpPr txBox="1"/>
            <p:nvPr/>
          </p:nvSpPr>
          <p:spPr>
            <a:xfrm>
              <a:off x="3680849" y="4703207"/>
              <a:ext cx="258303"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+410​</a:t>
              </a:r>
            </a:p>
          </p:txBody>
        </p:sp>
        <p:sp>
          <p:nvSpPr>
            <p:cNvPr id="219" name="Line 219"/>
            <p:cNvSpPr/>
            <p:nvPr/>
          </p:nvSpPr>
          <p:spPr>
            <a:xfrm>
              <a:off x="4000500" y="4824412"/>
              <a:ext cx="133350" cy="9525"/>
            </a:xfrm>
            <a:custGeom>
              <a:avLst/>
              <a:gdLst/>
              <a:ahLst/>
              <a:cxnLst/>
              <a:rect l="l" t="t" r="r" b="b"/>
              <a:pathLst>
                <a:path w="133350" h="9525">
                  <a:moveTo>
                    <a:pt x="0" y="0"/>
                  </a:moveTo>
                  <a:lnTo>
                    <a:pt x="133350" y="0"/>
                  </a:lnTo>
                </a:path>
              </a:pathLst>
            </a:custGeom>
            <a:noFill/>
            <a:ln w="9525">
              <a:solidFill>
                <a:srgbClr val="E8BBB3"/>
              </a:solidFill>
              <a:prstDash val="sysDot"/>
            </a:ln>
          </p:spPr>
        </p:sp>
        <p:sp>
          <p:nvSpPr>
            <p:cNvPr id="220" name="Rectangle 220"/>
            <p:cNvSpPr/>
            <p:nvPr/>
          </p:nvSpPr>
          <p:spPr>
            <a:xfrm>
              <a:off x="4133850" y="4824412"/>
              <a:ext cx="381000" cy="80962"/>
            </a:xfrm>
            <a:prstGeom prst="rect">
              <a:avLst/>
            </a:prstGeom>
            <a:solidFill>
              <a:srgbClr val="D0442C"/>
            </a:solidFill>
            <a:ln>
              <a:noFill/>
            </a:ln>
          </p:spPr>
        </p:sp>
        <p:sp>
          <p:nvSpPr>
            <p:cNvPr id="221" name="TextBox 221"/>
            <p:cNvSpPr txBox="1"/>
            <p:nvPr/>
          </p:nvSpPr>
          <p:spPr>
            <a:xfrm>
              <a:off x="4145443" y="4703207"/>
              <a:ext cx="357814" cy="126206"/>
            </a:xfrm>
            <a:prstGeom prst="rect">
              <a:avLst/>
            </a:prstGeom>
            <a:noFill/>
            <a:ln>
              <a:noFill/>
            </a:ln>
          </p:spPr>
          <p:txBody>
            <a:bodyPr wrap="none" lIns="0" tIns="0" rIns="0" bIns="0" anchor="t" anchorCtr="0">
              <a:spAutoFit/>
            </a:bodyPr>
            <a:lstStyle/>
            <a:p>
              <a:pPr algn="ctr"/>
              <a:r>
                <a:rPr lang="zh-CN" sz="640" b="1" dirty="0">
                  <a:solidFill>
                    <a:srgbClr val="D0442C"/>
                  </a:solidFill>
                  <a:latin typeface="+mn-lt"/>
                  <a:ea typeface="+mn-ea"/>
                  <a:cs typeface="+mn-cs"/>
                </a:rPr>
                <a:t>-1,420​</a:t>
              </a:r>
            </a:p>
          </p:txBody>
        </p:sp>
        <p:sp>
          <p:nvSpPr>
            <p:cNvPr id="222" name="Rectangle 222"/>
            <p:cNvSpPr/>
            <p:nvPr/>
          </p:nvSpPr>
          <p:spPr>
            <a:xfrm>
              <a:off x="4648200" y="5174932"/>
              <a:ext cx="381000" cy="1063942"/>
            </a:xfrm>
            <a:prstGeom prst="rect">
              <a:avLst/>
            </a:prstGeom>
            <a:solidFill>
              <a:srgbClr val="69281B"/>
            </a:solidFill>
            <a:ln>
              <a:noFill/>
            </a:ln>
          </p:spPr>
        </p:sp>
        <p:sp>
          <p:nvSpPr>
            <p:cNvPr id="223" name="TextBox 223"/>
            <p:cNvSpPr txBox="1"/>
            <p:nvPr/>
          </p:nvSpPr>
          <p:spPr>
            <a:xfrm>
              <a:off x="4659793" y="5046107"/>
              <a:ext cx="357814"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18,610​</a:t>
              </a:r>
            </a:p>
          </p:txBody>
        </p:sp>
        <p:sp>
          <p:nvSpPr>
            <p:cNvPr id="224" name="TextBox 224"/>
            <p:cNvSpPr txBox="1"/>
            <p:nvPr/>
          </p:nvSpPr>
          <p:spPr>
            <a:xfrm>
              <a:off x="577342" y="6299549"/>
              <a:ext cx="293116" cy="201930"/>
            </a:xfrm>
            <a:prstGeom prst="rect">
              <a:avLst/>
            </a:prstGeom>
            <a:noFill/>
            <a:ln>
              <a:noFill/>
            </a:ln>
          </p:spPr>
          <p:txBody>
            <a:bodyPr wrap="none" lIns="0" tIns="0" rIns="0" bIns="0" anchor="t" anchorCtr="0">
              <a:spAutoFit/>
            </a:bodyPr>
            <a:lstStyle/>
            <a:p>
              <a:pPr algn="ctr">
                <a:lnSpc>
                  <a:spcPts val="675"/>
                </a:lnSpc>
              </a:pPr>
              <a:r>
                <a:rPr lang="en-US" sz="580" dirty="0">
                  <a:solidFill>
                    <a:srgbClr val="70504A"/>
                  </a:solidFill>
                  <a:latin typeface="+mn-lt"/>
                  <a:ea typeface="+mn-ea"/>
                  <a:cs typeface="+mn-cs"/>
                </a:rPr>
                <a:t>2025H1​</a:t>
              </a:r>
              <a:br/>
              <a:r>
                <a:rPr lang="zh-CN" sz="580" dirty="0">
                  <a:solidFill>
                    <a:srgbClr val="70504A"/>
                  </a:solidFill>
                  <a:latin typeface="+mn-lt"/>
                  <a:ea typeface="+mn-ea"/>
                  <a:cs typeface="+mn-cs"/>
                </a:rPr>
                <a:t>中收</a:t>
              </a:r>
            </a:p>
          </p:txBody>
        </p:sp>
        <p:sp>
          <p:nvSpPr>
            <p:cNvPr id="225" name="TextBox 225"/>
            <p:cNvSpPr txBox="1"/>
            <p:nvPr/>
          </p:nvSpPr>
          <p:spPr>
            <a:xfrm>
              <a:off x="1077328" y="6337649"/>
              <a:ext cx="321843"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结算业务</a:t>
              </a:r>
            </a:p>
          </p:txBody>
        </p:sp>
        <p:sp>
          <p:nvSpPr>
            <p:cNvPr id="226" name="TextBox 226"/>
            <p:cNvSpPr txBox="1"/>
            <p:nvPr/>
          </p:nvSpPr>
          <p:spPr>
            <a:xfrm>
              <a:off x="1591678" y="6337649"/>
              <a:ext cx="321843"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投行业务</a:t>
              </a:r>
            </a:p>
          </p:txBody>
        </p:sp>
        <p:sp>
          <p:nvSpPr>
            <p:cNvPr id="227" name="TextBox 227"/>
            <p:cNvSpPr txBox="1"/>
            <p:nvPr/>
          </p:nvSpPr>
          <p:spPr>
            <a:xfrm>
              <a:off x="2106028" y="6337649"/>
              <a:ext cx="321843"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国际业务</a:t>
              </a:r>
            </a:p>
          </p:txBody>
        </p:sp>
        <p:sp>
          <p:nvSpPr>
            <p:cNvPr id="228" name="TextBox 228"/>
            <p:cNvSpPr txBox="1"/>
            <p:nvPr/>
          </p:nvSpPr>
          <p:spPr>
            <a:xfrm>
              <a:off x="2620378" y="6337649"/>
              <a:ext cx="321843"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票据业务</a:t>
              </a:r>
            </a:p>
          </p:txBody>
        </p:sp>
        <p:sp>
          <p:nvSpPr>
            <p:cNvPr id="229" name="TextBox 229"/>
            <p:cNvSpPr txBox="1"/>
            <p:nvPr/>
          </p:nvSpPr>
          <p:spPr>
            <a:xfrm>
              <a:off x="3134728" y="6337649"/>
              <a:ext cx="321843"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托管业务</a:t>
              </a:r>
            </a:p>
          </p:txBody>
        </p:sp>
        <p:sp>
          <p:nvSpPr>
            <p:cNvPr id="230" name="TextBox 230"/>
            <p:cNvSpPr txBox="1"/>
            <p:nvPr/>
          </p:nvSpPr>
          <p:spPr>
            <a:xfrm>
              <a:off x="3649078" y="6337649"/>
              <a:ext cx="321843"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其他业务</a:t>
              </a:r>
            </a:p>
          </p:txBody>
        </p:sp>
        <p:sp>
          <p:nvSpPr>
            <p:cNvPr id="231" name="TextBox 231"/>
            <p:cNvSpPr txBox="1"/>
            <p:nvPr/>
          </p:nvSpPr>
          <p:spPr>
            <a:xfrm>
              <a:off x="4163428" y="6337649"/>
              <a:ext cx="321843"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费用因素</a:t>
              </a:r>
            </a:p>
          </p:txBody>
        </p:sp>
        <p:sp>
          <p:nvSpPr>
            <p:cNvPr id="232" name="TextBox 232"/>
            <p:cNvSpPr txBox="1"/>
            <p:nvPr/>
          </p:nvSpPr>
          <p:spPr>
            <a:xfrm>
              <a:off x="4692142" y="6299549"/>
              <a:ext cx="293116" cy="201930"/>
            </a:xfrm>
            <a:prstGeom prst="rect">
              <a:avLst/>
            </a:prstGeom>
            <a:noFill/>
            <a:ln>
              <a:noFill/>
            </a:ln>
          </p:spPr>
          <p:txBody>
            <a:bodyPr wrap="none" lIns="0" tIns="0" rIns="0" bIns="0" anchor="t" anchorCtr="0">
              <a:spAutoFit/>
            </a:bodyPr>
            <a:lstStyle/>
            <a:p>
              <a:pPr algn="ctr">
                <a:lnSpc>
                  <a:spcPts val="675"/>
                </a:lnSpc>
              </a:pPr>
              <a:r>
                <a:rPr lang="en-US" sz="580" dirty="0">
                  <a:solidFill>
                    <a:srgbClr val="70504A"/>
                  </a:solidFill>
                  <a:latin typeface="+mn-lt"/>
                  <a:ea typeface="+mn-ea"/>
                  <a:cs typeface="+mn-cs"/>
                </a:rPr>
                <a:t>2026H1​</a:t>
              </a:r>
              <a:br/>
              <a:r>
                <a:rPr lang="zh-CN" sz="580" dirty="0">
                  <a:solidFill>
                    <a:srgbClr val="70504A"/>
                  </a:solidFill>
                  <a:latin typeface="+mn-lt"/>
                  <a:ea typeface="+mn-ea"/>
                  <a:cs typeface="+mn-cs"/>
                </a:rPr>
                <a:t>中收</a:t>
              </a:r>
            </a:p>
          </p:txBody>
        </p:sp>
        <p:sp>
          <p:nvSpPr>
            <p:cNvPr id="233" name="TextBox 233"/>
            <p:cNvSpPr txBox="1"/>
            <p:nvPr/>
          </p:nvSpPr>
          <p:spPr>
            <a:xfrm>
              <a:off x="376238" y="6526530"/>
              <a:ext cx="1059561" cy="119062"/>
            </a:xfrm>
            <a:prstGeom prst="rect">
              <a:avLst/>
            </a:prstGeom>
            <a:noFill/>
            <a:ln>
              <a:noFill/>
            </a:ln>
          </p:spPr>
          <p:txBody>
            <a:bodyPr wrap="none" lIns="0" tIns="0" rIns="0" bIns="0" anchor="t" anchorCtr="0">
              <a:spAutoFit/>
            </a:bodyPr>
            <a:lstStyle/>
            <a:p>
              <a:pPr algn="l"/>
              <a:r>
                <a:rPr lang="zh-CN" sz="600" dirty="0">
                  <a:solidFill>
                    <a:srgbClr val="BEA09A"/>
                  </a:solidFill>
                  <a:latin typeface="+mn-lt"/>
                  <a:ea typeface="+mn-ea"/>
                  <a:cs typeface="+mn-cs"/>
                </a:rPr>
                <a:t>注：图中贡献值为示例数据。</a:t>
              </a:r>
            </a:p>
          </p:txBody>
        </p:sp>
      </p:grpSp>
      <p:grpSp>
        <p:nvGrpSpPr>
          <p:cNvPr id="251" name="target-card"/>
          <p:cNvGrpSpPr/>
          <p:nvPr/>
        </p:nvGrpSpPr>
        <p:grpSpPr>
          <a:xfrm>
            <a:off x="5638800" y="4286250"/>
            <a:ext cx="2705100" cy="2381250"/>
            <a:chOff x="5638800" y="4286250"/>
            <a:chExt cx="2705100" cy="2381250"/>
          </a:xfrm>
        </p:grpSpPr>
        <p:sp>
          <p:nvSpPr>
            <p:cNvPr id="235" name="Rectangle 235"/>
            <p:cNvSpPr/>
            <p:nvPr/>
          </p:nvSpPr>
          <p:spPr>
            <a:xfrm>
              <a:off x="5638800" y="4286250"/>
              <a:ext cx="2705100" cy="2381250"/>
            </a:xfrm>
            <a:prstGeom prst="roundRect">
              <a:avLst>
                <a:gd name="adj" fmla="val 2400"/>
              </a:avLst>
            </a:prstGeom>
            <a:solidFill>
              <a:srgbClr val="FFFFFF"/>
            </a:solidFill>
            <a:ln w="9525">
              <a:solidFill>
                <a:srgbClr val="C9D6E9"/>
              </a:solidFill>
            </a:ln>
          </p:spPr>
        </p:sp>
        <p:sp>
          <p:nvSpPr>
            <p:cNvPr id="236" name="Rectangle 236"/>
            <p:cNvSpPr/>
            <p:nvPr/>
          </p:nvSpPr>
          <p:spPr>
            <a:xfrm>
              <a:off x="5638800" y="4286250"/>
              <a:ext cx="2705100" cy="228600"/>
            </a:xfrm>
            <a:prstGeom prst="roundRect">
              <a:avLst>
                <a:gd name="adj" fmla="val 25000"/>
              </a:avLst>
            </a:prstGeom>
            <a:solidFill>
              <a:srgbClr val="69281B"/>
            </a:solidFill>
            <a:ln>
              <a:noFill/>
            </a:ln>
          </p:spPr>
        </p:sp>
        <p:sp>
          <p:nvSpPr>
            <p:cNvPr id="237" name="Rectangle 237"/>
            <p:cNvSpPr/>
            <p:nvPr/>
          </p:nvSpPr>
          <p:spPr>
            <a:xfrm>
              <a:off x="5638800" y="4419600"/>
              <a:ext cx="2705100" cy="95250"/>
            </a:xfrm>
            <a:prstGeom prst="rect">
              <a:avLst/>
            </a:prstGeom>
            <a:solidFill>
              <a:srgbClr val="69281B"/>
            </a:solidFill>
            <a:ln>
              <a:noFill/>
            </a:ln>
          </p:spPr>
        </p:sp>
        <p:sp>
          <p:nvSpPr>
            <p:cNvPr id="238" name="TextBox 238"/>
            <p:cNvSpPr txBox="1"/>
            <p:nvPr/>
          </p:nvSpPr>
          <p:spPr>
            <a:xfrm>
              <a:off x="6448192" y="4351020"/>
              <a:ext cx="108631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2026年下半年目标​</a:t>
              </a:r>
            </a:p>
          </p:txBody>
        </p:sp>
        <p:sp>
          <p:nvSpPr>
            <p:cNvPr id="239" name="TextBox 239"/>
            <p:cNvSpPr txBox="1"/>
            <p:nvPr/>
          </p:nvSpPr>
          <p:spPr>
            <a:xfrm>
              <a:off x="5824538" y="4658439"/>
              <a:ext cx="1179373" cy="154781"/>
            </a:xfrm>
            <a:prstGeom prst="rect">
              <a:avLst/>
            </a:prstGeom>
            <a:noFill/>
            <a:ln>
              <a:noFill/>
            </a:ln>
          </p:spPr>
          <p:txBody>
            <a:bodyPr wrap="none" lIns="0" tIns="0" rIns="0" bIns="0" anchor="t" anchorCtr="0">
              <a:spAutoFit/>
            </a:bodyPr>
            <a:lstStyle/>
            <a:p>
              <a:pPr algn="l"/>
              <a:r>
                <a:rPr lang="zh-CN" sz="790" dirty="0">
                  <a:solidFill>
                    <a:srgbClr val="987F7A"/>
                  </a:solidFill>
                  <a:latin typeface="+mn-lt"/>
                  <a:ea typeface="+mn-ea"/>
                  <a:cs typeface="+mn-cs"/>
                </a:rPr>
                <a:t>公司中收目标（下半年）</a:t>
              </a:r>
            </a:p>
          </p:txBody>
        </p:sp>
        <p:sp>
          <p:nvSpPr>
            <p:cNvPr id="240" name="TextBox 240"/>
            <p:cNvSpPr txBox="1"/>
            <p:nvPr/>
          </p:nvSpPr>
          <p:spPr>
            <a:xfrm>
              <a:off x="5814060" y="4857750"/>
              <a:ext cx="1543407" cy="586740"/>
            </a:xfrm>
            <a:prstGeom prst="rect">
              <a:avLst/>
            </a:prstGeom>
            <a:noFill/>
            <a:ln>
              <a:noFill/>
            </a:ln>
          </p:spPr>
          <p:txBody>
            <a:bodyPr wrap="none" lIns="0" tIns="0" rIns="0" bIns="0" anchor="t" anchorCtr="0">
              <a:spAutoFit/>
            </a:bodyPr>
            <a:lstStyle/>
            <a:p>
              <a:pPr algn="l"/>
              <a:r>
                <a:rPr lang="zh-CN" sz="3000" b="1" dirty="0">
                  <a:solidFill>
                    <a:srgbClr val="69281B"/>
                  </a:solidFill>
                  <a:latin typeface="+mn-lt"/>
                  <a:ea typeface="+mn-ea"/>
                  <a:cs typeface="+mn-cs"/>
                </a:rPr>
                <a:t>2.15</a:t>
              </a:r>
              <a:r>
                <a:rPr lang="zh-CN" sz="1120" dirty="0">
                  <a:solidFill>
                    <a:srgbClr val="69281B"/>
                  </a:solidFill>
                  <a:latin typeface="+mn-lt"/>
                  <a:ea typeface="+mn-ea"/>
                  <a:cs typeface="+mn-cs"/>
                </a:rPr>
                <a:t xml:space="preserve"> 亿元</a:t>
              </a:r>
              <a:r>
                <a:rPr lang="zh-CN" sz="3000" b="1" dirty="0">
                  <a:solidFill>
                    <a:srgbClr val="69281B"/>
                  </a:solidFill>
                  <a:latin typeface="+mn-lt"/>
                  <a:ea typeface="+mn-ea"/>
                  <a:cs typeface="+mn-cs"/>
                </a:rPr>
                <a:t>​</a:t>
              </a:r>
            </a:p>
          </p:txBody>
        </p:sp>
        <p:sp>
          <p:nvSpPr>
            <p:cNvPr id="241" name="Line 241"/>
            <p:cNvSpPr/>
            <p:nvPr/>
          </p:nvSpPr>
          <p:spPr>
            <a:xfrm>
              <a:off x="5829300" y="5391150"/>
              <a:ext cx="2324100" cy="9525"/>
            </a:xfrm>
            <a:custGeom>
              <a:avLst/>
              <a:gdLst/>
              <a:ahLst/>
              <a:cxnLst/>
              <a:rect l="l" t="t" r="r" b="b"/>
              <a:pathLst>
                <a:path w="2324100" h="9525">
                  <a:moveTo>
                    <a:pt x="0" y="0"/>
                  </a:moveTo>
                  <a:lnTo>
                    <a:pt x="2324100" y="0"/>
                  </a:lnTo>
                </a:path>
              </a:pathLst>
            </a:custGeom>
            <a:noFill/>
            <a:ln w="9525">
              <a:solidFill>
                <a:srgbClr val="EDF2FA"/>
              </a:solidFill>
            </a:ln>
          </p:spPr>
        </p:sp>
        <p:sp>
          <p:nvSpPr>
            <p:cNvPr id="242" name="TextBox 242"/>
            <p:cNvSpPr txBox="1"/>
            <p:nvPr/>
          </p:nvSpPr>
          <p:spPr>
            <a:xfrm>
              <a:off x="5824538" y="5553789"/>
              <a:ext cx="434924" cy="154781"/>
            </a:xfrm>
            <a:prstGeom prst="rect">
              <a:avLst/>
            </a:prstGeom>
            <a:noFill/>
            <a:ln>
              <a:noFill/>
            </a:ln>
          </p:spPr>
          <p:txBody>
            <a:bodyPr wrap="none" lIns="0" tIns="0" rIns="0" bIns="0" anchor="t" anchorCtr="0">
              <a:spAutoFit/>
            </a:bodyPr>
            <a:lstStyle/>
            <a:p>
              <a:pPr algn="l"/>
              <a:r>
                <a:rPr lang="zh-CN" sz="790" dirty="0">
                  <a:solidFill>
                    <a:srgbClr val="987F7A"/>
                  </a:solidFill>
                  <a:latin typeface="+mn-lt"/>
                  <a:ea typeface="+mn-ea"/>
                  <a:cs typeface="+mn-cs"/>
                </a:rPr>
                <a:t>同比增速</a:t>
              </a:r>
            </a:p>
          </p:txBody>
        </p:sp>
        <p:sp>
          <p:nvSpPr>
            <p:cNvPr id="243" name="TextBox 243"/>
            <p:cNvSpPr txBox="1"/>
            <p:nvPr/>
          </p:nvSpPr>
          <p:spPr>
            <a:xfrm>
              <a:off x="6662547" y="5543074"/>
              <a:ext cx="570928" cy="190690"/>
            </a:xfrm>
            <a:prstGeom prst="rect">
              <a:avLst/>
            </a:prstGeom>
            <a:noFill/>
            <a:ln>
              <a:noFill/>
            </a:ln>
          </p:spPr>
          <p:txBody>
            <a:bodyPr wrap="none" lIns="0" tIns="0" rIns="0" bIns="0" anchor="t" anchorCtr="0">
              <a:spAutoFit/>
            </a:bodyPr>
            <a:lstStyle/>
            <a:p>
              <a:pPr algn="l"/>
              <a:r>
                <a:rPr lang="zh-CN" sz="980" b="1" dirty="0">
                  <a:solidFill>
                    <a:srgbClr val="E04C2E"/>
                  </a:solidFill>
                  <a:latin typeface="+mn-lt"/>
                  <a:ea typeface="+mn-ea"/>
                  <a:cs typeface="+mn-cs"/>
                </a:rPr>
                <a:t>+15.6%​</a:t>
              </a:r>
            </a:p>
          </p:txBody>
        </p:sp>
        <p:sp>
          <p:nvSpPr>
            <p:cNvPr id="244" name="TextBox 244"/>
            <p:cNvSpPr txBox="1"/>
            <p:nvPr/>
          </p:nvSpPr>
          <p:spPr>
            <a:xfrm>
              <a:off x="5824538" y="5820489"/>
              <a:ext cx="434924" cy="154781"/>
            </a:xfrm>
            <a:prstGeom prst="rect">
              <a:avLst/>
            </a:prstGeom>
            <a:noFill/>
            <a:ln>
              <a:noFill/>
            </a:ln>
          </p:spPr>
          <p:txBody>
            <a:bodyPr wrap="none" lIns="0" tIns="0" rIns="0" bIns="0" anchor="t" anchorCtr="0">
              <a:spAutoFit/>
            </a:bodyPr>
            <a:lstStyle/>
            <a:p>
              <a:pPr algn="l"/>
              <a:r>
                <a:rPr lang="zh-CN" sz="790" dirty="0">
                  <a:solidFill>
                    <a:srgbClr val="987F7A"/>
                  </a:solidFill>
                  <a:latin typeface="+mn-lt"/>
                  <a:ea typeface="+mn-ea"/>
                  <a:cs typeface="+mn-cs"/>
                </a:rPr>
                <a:t>全年目标</a:t>
              </a:r>
            </a:p>
          </p:txBody>
        </p:sp>
        <p:sp>
          <p:nvSpPr>
            <p:cNvPr id="245" name="TextBox 245"/>
            <p:cNvSpPr txBox="1"/>
            <p:nvPr/>
          </p:nvSpPr>
          <p:spPr>
            <a:xfrm>
              <a:off x="6433947" y="5809774"/>
              <a:ext cx="696259" cy="190690"/>
            </a:xfrm>
            <a:prstGeom prst="rect">
              <a:avLst/>
            </a:prstGeom>
            <a:noFill/>
            <a:ln>
              <a:noFill/>
            </a:ln>
          </p:spPr>
          <p:txBody>
            <a:bodyPr wrap="none" lIns="0" tIns="0" rIns="0" bIns="0" anchor="t" anchorCtr="0">
              <a:spAutoFit/>
            </a:bodyPr>
            <a:lstStyle/>
            <a:p>
              <a:pPr algn="l"/>
              <a:r>
                <a:rPr lang="zh-CN" sz="980" b="1" dirty="0">
                  <a:solidFill>
                    <a:srgbClr val="69281B"/>
                  </a:solidFill>
                  <a:latin typeface="+mn-lt"/>
                  <a:ea typeface="+mn-ea"/>
                  <a:cs typeface="+mn-cs"/>
                </a:rPr>
                <a:t>4.01 亿元​</a:t>
              </a:r>
            </a:p>
          </p:txBody>
        </p:sp>
        <p:grpSp>
          <p:nvGrpSpPr>
            <p:cNvPr id="249" name="Group 249"/>
            <p:cNvGrpSpPr/>
            <p:nvPr/>
          </p:nvGrpSpPr>
          <p:grpSpPr>
            <a:xfrm>
              <a:off x="7558088" y="5595938"/>
              <a:ext cx="428625" cy="428625"/>
              <a:chOff x="7558088" y="5595938"/>
              <a:chExt cx="428625" cy="428625"/>
            </a:xfrm>
          </p:grpSpPr>
          <p:sp>
            <p:nvSpPr>
              <p:cNvPr id="246" name="Freeform 246"/>
              <p:cNvSpPr/>
              <p:nvPr/>
            </p:nvSpPr>
            <p:spPr>
              <a:xfrm>
                <a:off x="7748588" y="578643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47625">
                <a:solidFill>
                  <a:srgbClr val="E8735B"/>
                </a:solidFill>
              </a:ln>
            </p:spPr>
          </p:sp>
          <p:sp>
            <p:nvSpPr>
              <p:cNvPr id="247" name="Freeform 247"/>
              <p:cNvSpPr/>
              <p:nvPr/>
            </p:nvSpPr>
            <p:spPr>
              <a:xfrm>
                <a:off x="7653338" y="5691188"/>
                <a:ext cx="238125" cy="238125"/>
              </a:xfrm>
              <a:custGeom>
                <a:avLst/>
                <a:gdLst/>
                <a:ahLst/>
                <a:cxnLst/>
                <a:rect l="l" t="t" r="r" b="b"/>
                <a:pathLst>
                  <a:path w="238125" h="238125">
                    <a:moveTo>
                      <a:pt x="0" y="119062"/>
                    </a:moveTo>
                    <a:cubicBezTo>
                      <a:pt x="0" y="184819"/>
                      <a:pt x="53306" y="238125"/>
                      <a:pt x="119062" y="238125"/>
                    </a:cubicBezTo>
                    <a:cubicBezTo>
                      <a:pt x="184819" y="238125"/>
                      <a:pt x="238125" y="184819"/>
                      <a:pt x="238125" y="119062"/>
                    </a:cubicBezTo>
                    <a:cubicBezTo>
                      <a:pt x="238125" y="53306"/>
                      <a:pt x="184819" y="0"/>
                      <a:pt x="119062" y="0"/>
                    </a:cubicBezTo>
                    <a:cubicBezTo>
                      <a:pt x="53306" y="0"/>
                      <a:pt x="0" y="53306"/>
                      <a:pt x="0" y="119062"/>
                    </a:cubicBezTo>
                  </a:path>
                </a:pathLst>
              </a:custGeom>
              <a:noFill/>
              <a:ln w="47625">
                <a:solidFill>
                  <a:srgbClr val="E8735B"/>
                </a:solidFill>
              </a:ln>
            </p:spPr>
          </p:sp>
          <p:sp>
            <p:nvSpPr>
              <p:cNvPr id="248" name="Freeform 248"/>
              <p:cNvSpPr/>
              <p:nvPr/>
            </p:nvSpPr>
            <p:spPr>
              <a:xfrm>
                <a:off x="7558088" y="5595938"/>
                <a:ext cx="428625" cy="428625"/>
              </a:xfrm>
              <a:custGeom>
                <a:avLst/>
                <a:gdLst/>
                <a:ahLst/>
                <a:cxnLst/>
                <a:rect l="l" t="t" r="r" b="b"/>
                <a:pathLst>
                  <a:path w="428625" h="428625">
                    <a:moveTo>
                      <a:pt x="0" y="214312"/>
                    </a:moveTo>
                    <a:cubicBezTo>
                      <a:pt x="0" y="332674"/>
                      <a:pt x="95951" y="428625"/>
                      <a:pt x="214312" y="428625"/>
                    </a:cubicBezTo>
                    <a:cubicBezTo>
                      <a:pt x="332674" y="428625"/>
                      <a:pt x="428625" y="332674"/>
                      <a:pt x="428625" y="214312"/>
                    </a:cubicBezTo>
                    <a:cubicBezTo>
                      <a:pt x="428625" y="95951"/>
                      <a:pt x="332674" y="0"/>
                      <a:pt x="214312" y="0"/>
                    </a:cubicBezTo>
                    <a:cubicBezTo>
                      <a:pt x="95951" y="0"/>
                      <a:pt x="0" y="95951"/>
                      <a:pt x="0" y="214312"/>
                    </a:cubicBezTo>
                  </a:path>
                </a:pathLst>
              </a:custGeom>
              <a:noFill/>
              <a:ln w="47625">
                <a:solidFill>
                  <a:srgbClr val="E8735B"/>
                </a:solidFill>
              </a:ln>
            </p:spPr>
          </p:sp>
        </p:grpSp>
        <p:sp>
          <p:nvSpPr>
            <p:cNvPr id="250" name="TextBox 250"/>
            <p:cNvSpPr txBox="1"/>
            <p:nvPr/>
          </p:nvSpPr>
          <p:spPr>
            <a:xfrm>
              <a:off x="5824538" y="6293882"/>
              <a:ext cx="1818818"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注：目标值为示例数据，实际以年度计划为准。</a:t>
              </a:r>
            </a:p>
          </p:txBody>
        </p:sp>
      </p:grpSp>
      <p:sp>
        <p:nvSpPr>
          <p:cNvPr id="252"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09 / 18 页​</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10​</a:t>
              </a:r>
            </a:p>
          </p:txBody>
        </p:sp>
        <p:sp>
          <p:nvSpPr>
            <p:cNvPr id="4" name="TextBox 4"/>
            <p:cNvSpPr txBox="1"/>
            <p:nvPr/>
          </p:nvSpPr>
          <p:spPr>
            <a:xfrm>
              <a:off x="1019175" y="169069"/>
              <a:ext cx="7358532"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资产质量总体可控，但重点行业与大额客户风险需要持续前置管理</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19" name="kpi-npl"/>
          <p:cNvGrpSpPr/>
          <p:nvPr/>
        </p:nvGrpSpPr>
        <p:grpSpPr>
          <a:xfrm>
            <a:off x="228600" y="685800"/>
            <a:ext cx="2819400" cy="800100"/>
            <a:chOff x="228600" y="685800"/>
            <a:chExt cx="2819400" cy="800100"/>
          </a:xfrm>
        </p:grpSpPr>
        <p:sp>
          <p:nvSpPr>
            <p:cNvPr id="9" name="Rectangle 9"/>
            <p:cNvSpPr/>
            <p:nvPr/>
          </p:nvSpPr>
          <p:spPr>
            <a:xfrm>
              <a:off x="228600" y="685800"/>
              <a:ext cx="2819400" cy="800100"/>
            </a:xfrm>
            <a:prstGeom prst="roundRect">
              <a:avLst>
                <a:gd name="adj" fmla="val 7143"/>
              </a:avLst>
            </a:prstGeom>
            <a:solidFill>
              <a:srgbClr val="FFFFFF"/>
            </a:solidFill>
            <a:ln w="9525">
              <a:solidFill>
                <a:srgbClr val="C9D6E9"/>
              </a:solidFill>
            </a:ln>
          </p:spPr>
        </p:sp>
        <p:sp>
          <p:nvSpPr>
            <p:cNvPr id="10" name="Ellipse 10"/>
            <p:cNvSpPr/>
            <p:nvPr/>
          </p:nvSpPr>
          <p:spPr>
            <a:xfrm>
              <a:off x="361950" y="857250"/>
              <a:ext cx="457200" cy="457200"/>
            </a:xfrm>
            <a:prstGeom prst="ellipse">
              <a:avLst/>
            </a:prstGeom>
            <a:solidFill>
              <a:srgbClr val="EAF1FB"/>
            </a:solidFill>
            <a:ln>
              <a:noFill/>
            </a:ln>
          </p:spPr>
        </p:sp>
        <p:grpSp>
          <p:nvGrpSpPr>
            <p:cNvPr id="15" name="Group 15"/>
            <p:cNvGrpSpPr/>
            <p:nvPr/>
          </p:nvGrpSpPr>
          <p:grpSpPr>
            <a:xfrm>
              <a:off x="497681" y="1003300"/>
              <a:ext cx="185737" cy="174624"/>
              <a:chOff x="497681" y="1003300"/>
              <a:chExt cx="185737" cy="174624"/>
            </a:xfrm>
          </p:grpSpPr>
          <p:sp>
            <p:nvSpPr>
              <p:cNvPr id="11" name="Freeform 11"/>
              <p:cNvSpPr/>
              <p:nvPr/>
            </p:nvSpPr>
            <p:spPr>
              <a:xfrm>
                <a:off x="497681" y="108585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69281B"/>
                </a:solidFill>
              </a:ln>
            </p:spPr>
          </p:sp>
          <p:sp>
            <p:nvSpPr>
              <p:cNvPr id="12" name="Freeform 12"/>
              <p:cNvSpPr/>
              <p:nvPr/>
            </p:nvSpPr>
            <p:spPr>
              <a:xfrm>
                <a:off x="621506" y="104457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69281B"/>
                </a:solidFill>
              </a:ln>
            </p:spPr>
          </p:sp>
          <p:sp>
            <p:nvSpPr>
              <p:cNvPr id="13" name="Freeform 13"/>
              <p:cNvSpPr/>
              <p:nvPr/>
            </p:nvSpPr>
            <p:spPr>
              <a:xfrm>
                <a:off x="559593" y="100330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69281B"/>
                </a:solidFill>
              </a:ln>
            </p:spPr>
          </p:sp>
          <p:sp>
            <p:nvSpPr>
              <p:cNvPr id="14" name="Freeform 14"/>
              <p:cNvSpPr/>
              <p:nvPr/>
            </p:nvSpPr>
            <p:spPr>
              <a:xfrm>
                <a:off x="508000" y="1168399"/>
                <a:ext cx="144462" cy="9525"/>
              </a:xfrm>
              <a:custGeom>
                <a:avLst/>
                <a:gdLst/>
                <a:ahLst/>
                <a:cxnLst/>
                <a:rect l="l" t="t" r="r" b="b"/>
                <a:pathLst>
                  <a:path w="144462" h="9525">
                    <a:moveTo>
                      <a:pt x="0" y="0"/>
                    </a:moveTo>
                    <a:lnTo>
                      <a:pt x="144462" y="0"/>
                    </a:lnTo>
                  </a:path>
                </a:pathLst>
              </a:custGeom>
              <a:noFill/>
              <a:ln w="20637">
                <a:solidFill>
                  <a:srgbClr val="69281B"/>
                </a:solidFill>
              </a:ln>
            </p:spPr>
          </p:sp>
        </p:grpSp>
        <p:sp>
          <p:nvSpPr>
            <p:cNvPr id="16" name="TextBox 16"/>
            <p:cNvSpPr txBox="1"/>
            <p:nvPr/>
          </p:nvSpPr>
          <p:spPr>
            <a:xfrm>
              <a:off x="928688" y="844391"/>
              <a:ext cx="561467" cy="161925"/>
            </a:xfrm>
            <a:prstGeom prst="rect">
              <a:avLst/>
            </a:prstGeom>
            <a:noFill/>
            <a:ln>
              <a:noFill/>
            </a:ln>
          </p:spPr>
          <p:txBody>
            <a:bodyPr wrap="none" lIns="0" tIns="0" rIns="0" bIns="0" anchor="t" anchorCtr="0">
              <a:spAutoFit/>
            </a:bodyPr>
            <a:lstStyle/>
            <a:p>
              <a:pPr algn="l"/>
              <a:r>
                <a:rPr lang="zh-CN" sz="820" dirty="0">
                  <a:solidFill>
                    <a:srgbClr val="987F7A"/>
                  </a:solidFill>
                  <a:latin typeface="+mn-lt"/>
                  <a:ea typeface="+mn-ea"/>
                  <a:cs typeface="+mn-cs"/>
                </a:rPr>
                <a:t>不良贷款率</a:t>
              </a:r>
            </a:p>
          </p:txBody>
        </p:sp>
        <p:sp>
          <p:nvSpPr>
            <p:cNvPr id="17" name="TextBox 17"/>
            <p:cNvSpPr txBox="1"/>
            <p:nvPr/>
          </p:nvSpPr>
          <p:spPr>
            <a:xfrm>
              <a:off x="923544" y="1027748"/>
              <a:ext cx="905023" cy="381381"/>
            </a:xfrm>
            <a:prstGeom prst="rect">
              <a:avLst/>
            </a:prstGeom>
            <a:noFill/>
            <a:ln>
              <a:noFill/>
            </a:ln>
          </p:spPr>
          <p:txBody>
            <a:bodyPr wrap="none" lIns="0" tIns="0" rIns="0" bIns="0" anchor="t" anchorCtr="0">
              <a:spAutoFit/>
            </a:bodyPr>
            <a:lstStyle/>
            <a:p>
              <a:pPr algn="l"/>
              <a:r>
                <a:rPr lang="zh-CN" sz="1950" b="1" dirty="0">
                  <a:solidFill>
                    <a:srgbClr val="69281B"/>
                  </a:solidFill>
                  <a:latin typeface="+mn-lt"/>
                  <a:ea typeface="+mn-ea"/>
                  <a:cs typeface="+mn-cs"/>
                </a:rPr>
                <a:t>0.92</a:t>
              </a:r>
              <a:r>
                <a:rPr lang="zh-CN" sz="900" dirty="0">
                  <a:solidFill>
                    <a:srgbClr val="69281B"/>
                  </a:solidFill>
                  <a:latin typeface="+mn-lt"/>
                  <a:ea typeface="+mn-ea"/>
                  <a:cs typeface="+mn-cs"/>
                </a:rPr>
                <a:t xml:space="preserve"> %</a:t>
              </a:r>
              <a:r>
                <a:rPr lang="zh-CN" sz="1950" b="1" dirty="0">
                  <a:solidFill>
                    <a:srgbClr val="69281B"/>
                  </a:solidFill>
                  <a:latin typeface="+mn-lt"/>
                  <a:ea typeface="+mn-ea"/>
                  <a:cs typeface="+mn-cs"/>
                </a:rPr>
                <a:t>​</a:t>
              </a:r>
            </a:p>
          </p:txBody>
        </p:sp>
        <p:sp>
          <p:nvSpPr>
            <p:cNvPr id="18" name="TextBox 18"/>
            <p:cNvSpPr txBox="1"/>
            <p:nvPr/>
          </p:nvSpPr>
          <p:spPr>
            <a:xfrm>
              <a:off x="928688" y="1336834"/>
              <a:ext cx="1019915" cy="133350"/>
            </a:xfrm>
            <a:prstGeom prst="rect">
              <a:avLst/>
            </a:prstGeom>
            <a:noFill/>
            <a:ln>
              <a:noFill/>
            </a:ln>
          </p:spPr>
          <p:txBody>
            <a:bodyPr wrap="none" lIns="0" tIns="0" rIns="0" bIns="0" anchor="t" anchorCtr="0">
              <a:spAutoFit/>
            </a:bodyPr>
            <a:lstStyle/>
            <a:p>
              <a:pPr algn="l"/>
              <a:r>
                <a:rPr lang="zh-CN" sz="680" dirty="0">
                  <a:solidFill>
                    <a:srgbClr val="987F7A"/>
                  </a:solidFill>
                  <a:latin typeface="+mn-lt"/>
                  <a:ea typeface="+mn-ea"/>
                  <a:cs typeface="+mn-cs"/>
                </a:rPr>
                <a:t xml:space="preserve">较年初 </a:t>
              </a:r>
              <a:r>
                <a:rPr lang="zh-CN" sz="680" b="1" dirty="0">
                  <a:solidFill>
                    <a:srgbClr val="9E402E"/>
                  </a:solidFill>
                  <a:latin typeface="+mn-lt"/>
                  <a:ea typeface="+mn-ea"/>
                  <a:cs typeface="+mn-cs"/>
                </a:rPr>
                <a:t>-0.08</a:t>
              </a:r>
              <a:r>
                <a:rPr lang="zh-CN" sz="680" dirty="0">
                  <a:solidFill>
                    <a:srgbClr val="987F7A"/>
                  </a:solidFill>
                  <a:latin typeface="+mn-lt"/>
                  <a:ea typeface="+mn-ea"/>
                  <a:cs typeface="+mn-cs"/>
                </a:rPr>
                <a:t xml:space="preserve"> 个百分点​</a:t>
              </a:r>
            </a:p>
          </p:txBody>
        </p:sp>
      </p:grpSp>
      <p:grpSp>
        <p:nvGrpSpPr>
          <p:cNvPr id="28" name="kpi-watch"/>
          <p:cNvGrpSpPr/>
          <p:nvPr/>
        </p:nvGrpSpPr>
        <p:grpSpPr>
          <a:xfrm>
            <a:off x="3162300" y="685800"/>
            <a:ext cx="2819400" cy="800100"/>
            <a:chOff x="3162300" y="685800"/>
            <a:chExt cx="2819400" cy="800100"/>
          </a:xfrm>
        </p:grpSpPr>
        <p:sp>
          <p:nvSpPr>
            <p:cNvPr id="20" name="Rectangle 20"/>
            <p:cNvSpPr/>
            <p:nvPr/>
          </p:nvSpPr>
          <p:spPr>
            <a:xfrm>
              <a:off x="3162300" y="685800"/>
              <a:ext cx="2819400" cy="800100"/>
            </a:xfrm>
            <a:prstGeom prst="roundRect">
              <a:avLst>
                <a:gd name="adj" fmla="val 7143"/>
              </a:avLst>
            </a:prstGeom>
            <a:solidFill>
              <a:srgbClr val="FFFFFF"/>
            </a:solidFill>
            <a:ln w="9525">
              <a:solidFill>
                <a:srgbClr val="C9D6E9"/>
              </a:solidFill>
            </a:ln>
          </p:spPr>
        </p:sp>
        <p:sp>
          <p:nvSpPr>
            <p:cNvPr id="21" name="Ellipse 21"/>
            <p:cNvSpPr/>
            <p:nvPr/>
          </p:nvSpPr>
          <p:spPr>
            <a:xfrm>
              <a:off x="3295650" y="857250"/>
              <a:ext cx="457200" cy="457200"/>
            </a:xfrm>
            <a:prstGeom prst="ellipse">
              <a:avLst/>
            </a:prstGeom>
            <a:solidFill>
              <a:srgbClr val="EAF1FB"/>
            </a:solidFill>
            <a:ln>
              <a:noFill/>
            </a:ln>
          </p:spPr>
        </p:sp>
        <p:grpSp>
          <p:nvGrpSpPr>
            <p:cNvPr id="24" name="Group 24"/>
            <p:cNvGrpSpPr/>
            <p:nvPr/>
          </p:nvGrpSpPr>
          <p:grpSpPr>
            <a:xfrm>
              <a:off x="3431381" y="1023937"/>
              <a:ext cx="185737" cy="123825"/>
              <a:chOff x="3431381" y="1023937"/>
              <a:chExt cx="185737" cy="123825"/>
            </a:xfrm>
          </p:grpSpPr>
          <p:sp>
            <p:nvSpPr>
              <p:cNvPr id="22" name="Freeform 22"/>
              <p:cNvSpPr/>
              <p:nvPr/>
            </p:nvSpPr>
            <p:spPr>
              <a:xfrm>
                <a:off x="3503612" y="1065212"/>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69281B"/>
                </a:solidFill>
              </a:ln>
            </p:spPr>
          </p:sp>
          <p:sp>
            <p:nvSpPr>
              <p:cNvPr id="23" name="Freeform 23"/>
              <p:cNvSpPr/>
              <p:nvPr/>
            </p:nvSpPr>
            <p:spPr>
              <a:xfrm>
                <a:off x="3431381" y="1023937"/>
                <a:ext cx="185737" cy="123825"/>
              </a:xfrm>
              <a:custGeom>
                <a:avLst/>
                <a:gdLst/>
                <a:ahLst/>
                <a:cxnLst/>
                <a:rect l="l" t="t" r="r" b="b"/>
                <a:pathLst>
                  <a:path w="185737" h="123825">
                    <a:moveTo>
                      <a:pt x="185737" y="61912"/>
                    </a:moveTo>
                    <a:cubicBezTo>
                      <a:pt x="160972" y="103187"/>
                      <a:pt x="130016" y="123825"/>
                      <a:pt x="92868" y="123825"/>
                    </a:cubicBezTo>
                    <a:cubicBezTo>
                      <a:pt x="55721" y="123825"/>
                      <a:pt x="24765" y="103187"/>
                      <a:pt x="0" y="61912"/>
                    </a:cubicBezTo>
                    <a:cubicBezTo>
                      <a:pt x="24765" y="20637"/>
                      <a:pt x="55721" y="0"/>
                      <a:pt x="92868" y="0"/>
                    </a:cubicBezTo>
                    <a:cubicBezTo>
                      <a:pt x="130016" y="0"/>
                      <a:pt x="160972" y="20637"/>
                      <a:pt x="185737" y="61912"/>
                    </a:cubicBezTo>
                  </a:path>
                </a:pathLst>
              </a:custGeom>
              <a:noFill/>
              <a:ln w="20637">
                <a:solidFill>
                  <a:srgbClr val="69281B"/>
                </a:solidFill>
              </a:ln>
            </p:spPr>
          </p:sp>
        </p:grpSp>
        <p:sp>
          <p:nvSpPr>
            <p:cNvPr id="25" name="TextBox 25"/>
            <p:cNvSpPr txBox="1"/>
            <p:nvPr/>
          </p:nvSpPr>
          <p:spPr>
            <a:xfrm>
              <a:off x="3862388" y="844391"/>
              <a:ext cx="671855" cy="161925"/>
            </a:xfrm>
            <a:prstGeom prst="rect">
              <a:avLst/>
            </a:prstGeom>
            <a:noFill/>
            <a:ln>
              <a:noFill/>
            </a:ln>
          </p:spPr>
          <p:txBody>
            <a:bodyPr wrap="none" lIns="0" tIns="0" rIns="0" bIns="0" anchor="t" anchorCtr="0">
              <a:spAutoFit/>
            </a:bodyPr>
            <a:lstStyle/>
            <a:p>
              <a:pPr algn="l"/>
              <a:r>
                <a:rPr lang="zh-CN" sz="820" dirty="0">
                  <a:solidFill>
                    <a:srgbClr val="987F7A"/>
                  </a:solidFill>
                  <a:latin typeface="+mn-lt"/>
                  <a:ea typeface="+mn-ea"/>
                  <a:cs typeface="+mn-cs"/>
                </a:rPr>
                <a:t>关注类贷款率</a:t>
              </a:r>
            </a:p>
          </p:txBody>
        </p:sp>
        <p:sp>
          <p:nvSpPr>
            <p:cNvPr id="26" name="TextBox 26"/>
            <p:cNvSpPr txBox="1"/>
            <p:nvPr/>
          </p:nvSpPr>
          <p:spPr>
            <a:xfrm>
              <a:off x="3857244" y="1027748"/>
              <a:ext cx="905023" cy="381381"/>
            </a:xfrm>
            <a:prstGeom prst="rect">
              <a:avLst/>
            </a:prstGeom>
            <a:noFill/>
            <a:ln>
              <a:noFill/>
            </a:ln>
          </p:spPr>
          <p:txBody>
            <a:bodyPr wrap="none" lIns="0" tIns="0" rIns="0" bIns="0" anchor="t" anchorCtr="0">
              <a:spAutoFit/>
            </a:bodyPr>
            <a:lstStyle/>
            <a:p>
              <a:pPr algn="l"/>
              <a:r>
                <a:rPr lang="zh-CN" sz="1950" b="1" dirty="0">
                  <a:solidFill>
                    <a:srgbClr val="69281B"/>
                  </a:solidFill>
                  <a:latin typeface="+mn-lt"/>
                  <a:ea typeface="+mn-ea"/>
                  <a:cs typeface="+mn-cs"/>
                </a:rPr>
                <a:t>1.36</a:t>
              </a:r>
              <a:r>
                <a:rPr lang="zh-CN" sz="900" dirty="0">
                  <a:solidFill>
                    <a:srgbClr val="69281B"/>
                  </a:solidFill>
                  <a:latin typeface="+mn-lt"/>
                  <a:ea typeface="+mn-ea"/>
                  <a:cs typeface="+mn-cs"/>
                </a:rPr>
                <a:t xml:space="preserve"> %</a:t>
              </a:r>
              <a:r>
                <a:rPr lang="zh-CN" sz="1950" b="1" dirty="0">
                  <a:solidFill>
                    <a:srgbClr val="69281B"/>
                  </a:solidFill>
                  <a:latin typeface="+mn-lt"/>
                  <a:ea typeface="+mn-ea"/>
                  <a:cs typeface="+mn-cs"/>
                </a:rPr>
                <a:t>​</a:t>
              </a:r>
            </a:p>
          </p:txBody>
        </p:sp>
        <p:sp>
          <p:nvSpPr>
            <p:cNvPr id="27" name="TextBox 27"/>
            <p:cNvSpPr txBox="1"/>
            <p:nvPr/>
          </p:nvSpPr>
          <p:spPr>
            <a:xfrm>
              <a:off x="3862388" y="1336834"/>
              <a:ext cx="1019915" cy="133350"/>
            </a:xfrm>
            <a:prstGeom prst="rect">
              <a:avLst/>
            </a:prstGeom>
            <a:noFill/>
            <a:ln>
              <a:noFill/>
            </a:ln>
          </p:spPr>
          <p:txBody>
            <a:bodyPr wrap="none" lIns="0" tIns="0" rIns="0" bIns="0" anchor="t" anchorCtr="0">
              <a:spAutoFit/>
            </a:bodyPr>
            <a:lstStyle/>
            <a:p>
              <a:pPr algn="l"/>
              <a:r>
                <a:rPr lang="zh-CN" sz="680" dirty="0">
                  <a:solidFill>
                    <a:srgbClr val="987F7A"/>
                  </a:solidFill>
                  <a:latin typeface="+mn-lt"/>
                  <a:ea typeface="+mn-ea"/>
                  <a:cs typeface="+mn-cs"/>
                </a:rPr>
                <a:t xml:space="preserve">较年初 </a:t>
              </a:r>
              <a:r>
                <a:rPr lang="zh-CN" sz="680" b="1" dirty="0">
                  <a:solidFill>
                    <a:srgbClr val="9E402E"/>
                  </a:solidFill>
                  <a:latin typeface="+mn-lt"/>
                  <a:ea typeface="+mn-ea"/>
                  <a:cs typeface="+mn-cs"/>
                </a:rPr>
                <a:t>-0.12</a:t>
              </a:r>
              <a:r>
                <a:rPr lang="zh-CN" sz="680" dirty="0">
                  <a:solidFill>
                    <a:srgbClr val="987F7A"/>
                  </a:solidFill>
                  <a:latin typeface="+mn-lt"/>
                  <a:ea typeface="+mn-ea"/>
                  <a:cs typeface="+mn-cs"/>
                </a:rPr>
                <a:t xml:space="preserve"> 个百分点​</a:t>
              </a:r>
            </a:p>
          </p:txBody>
        </p:sp>
      </p:grpSp>
      <p:grpSp>
        <p:nvGrpSpPr>
          <p:cNvPr id="37" name="kpi-overdue"/>
          <p:cNvGrpSpPr/>
          <p:nvPr/>
        </p:nvGrpSpPr>
        <p:grpSpPr>
          <a:xfrm>
            <a:off x="6096000" y="685800"/>
            <a:ext cx="2819400" cy="800100"/>
            <a:chOff x="6096000" y="685800"/>
            <a:chExt cx="2819400" cy="800100"/>
          </a:xfrm>
        </p:grpSpPr>
        <p:sp>
          <p:nvSpPr>
            <p:cNvPr id="29" name="Rectangle 29"/>
            <p:cNvSpPr/>
            <p:nvPr/>
          </p:nvSpPr>
          <p:spPr>
            <a:xfrm>
              <a:off x="6096000" y="685800"/>
              <a:ext cx="2819400" cy="800100"/>
            </a:xfrm>
            <a:prstGeom prst="roundRect">
              <a:avLst>
                <a:gd name="adj" fmla="val 7143"/>
              </a:avLst>
            </a:prstGeom>
            <a:solidFill>
              <a:srgbClr val="FFFFFF"/>
            </a:solidFill>
            <a:ln w="9525">
              <a:solidFill>
                <a:srgbClr val="C9D6E9"/>
              </a:solidFill>
            </a:ln>
          </p:spPr>
        </p:sp>
        <p:sp>
          <p:nvSpPr>
            <p:cNvPr id="30" name="Ellipse 30"/>
            <p:cNvSpPr/>
            <p:nvPr/>
          </p:nvSpPr>
          <p:spPr>
            <a:xfrm>
              <a:off x="6229350" y="857250"/>
              <a:ext cx="457200" cy="457200"/>
            </a:xfrm>
            <a:prstGeom prst="ellipse">
              <a:avLst/>
            </a:prstGeom>
            <a:solidFill>
              <a:srgbClr val="EAF1FB"/>
            </a:solidFill>
            <a:ln>
              <a:noFill/>
            </a:ln>
          </p:spPr>
        </p:sp>
        <p:grpSp>
          <p:nvGrpSpPr>
            <p:cNvPr id="33" name="Group 33"/>
            <p:cNvGrpSpPr/>
            <p:nvPr/>
          </p:nvGrpSpPr>
          <p:grpSpPr>
            <a:xfrm>
              <a:off x="6365081" y="992981"/>
              <a:ext cx="185737" cy="185737"/>
              <a:chOff x="6365081" y="992981"/>
              <a:chExt cx="185737" cy="185737"/>
            </a:xfrm>
          </p:grpSpPr>
          <p:sp>
            <p:nvSpPr>
              <p:cNvPr id="31" name="Freeform 31"/>
              <p:cNvSpPr/>
              <p:nvPr/>
            </p:nvSpPr>
            <p:spPr>
              <a:xfrm>
                <a:off x="6365081" y="9929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69281B"/>
                </a:solidFill>
              </a:ln>
            </p:spPr>
          </p:sp>
          <p:sp>
            <p:nvSpPr>
              <p:cNvPr id="32" name="Freeform 32"/>
              <p:cNvSpPr/>
              <p:nvPr/>
            </p:nvSpPr>
            <p:spPr>
              <a:xfrm>
                <a:off x="6457950" y="1034256"/>
                <a:ext cx="30956" cy="82550"/>
              </a:xfrm>
              <a:custGeom>
                <a:avLst/>
                <a:gdLst/>
                <a:ahLst/>
                <a:cxnLst/>
                <a:rect l="l" t="t" r="r" b="b"/>
                <a:pathLst>
                  <a:path w="30956" h="82550">
                    <a:moveTo>
                      <a:pt x="0" y="0"/>
                    </a:moveTo>
                    <a:lnTo>
                      <a:pt x="0" y="51594"/>
                    </a:lnTo>
                    <a:lnTo>
                      <a:pt x="30956" y="82550"/>
                    </a:lnTo>
                  </a:path>
                </a:pathLst>
              </a:custGeom>
              <a:noFill/>
              <a:ln w="20637">
                <a:solidFill>
                  <a:srgbClr val="69281B"/>
                </a:solidFill>
              </a:ln>
            </p:spPr>
          </p:sp>
        </p:grpSp>
        <p:sp>
          <p:nvSpPr>
            <p:cNvPr id="34" name="TextBox 34"/>
            <p:cNvSpPr txBox="1"/>
            <p:nvPr/>
          </p:nvSpPr>
          <p:spPr>
            <a:xfrm>
              <a:off x="6796088" y="844391"/>
              <a:ext cx="561467" cy="161925"/>
            </a:xfrm>
            <a:prstGeom prst="rect">
              <a:avLst/>
            </a:prstGeom>
            <a:noFill/>
            <a:ln>
              <a:noFill/>
            </a:ln>
          </p:spPr>
          <p:txBody>
            <a:bodyPr wrap="none" lIns="0" tIns="0" rIns="0" bIns="0" anchor="t" anchorCtr="0">
              <a:spAutoFit/>
            </a:bodyPr>
            <a:lstStyle/>
            <a:p>
              <a:pPr algn="l"/>
              <a:r>
                <a:rPr lang="zh-CN" sz="820" dirty="0">
                  <a:solidFill>
                    <a:srgbClr val="987F7A"/>
                  </a:solidFill>
                  <a:latin typeface="+mn-lt"/>
                  <a:ea typeface="+mn-ea"/>
                  <a:cs typeface="+mn-cs"/>
                </a:rPr>
                <a:t>逾期贷款率</a:t>
              </a:r>
            </a:p>
          </p:txBody>
        </p:sp>
        <p:sp>
          <p:nvSpPr>
            <p:cNvPr id="35" name="TextBox 35"/>
            <p:cNvSpPr txBox="1"/>
            <p:nvPr/>
          </p:nvSpPr>
          <p:spPr>
            <a:xfrm>
              <a:off x="6790944" y="1027748"/>
              <a:ext cx="905023" cy="381381"/>
            </a:xfrm>
            <a:prstGeom prst="rect">
              <a:avLst/>
            </a:prstGeom>
            <a:noFill/>
            <a:ln>
              <a:noFill/>
            </a:ln>
          </p:spPr>
          <p:txBody>
            <a:bodyPr wrap="none" lIns="0" tIns="0" rIns="0" bIns="0" anchor="t" anchorCtr="0">
              <a:spAutoFit/>
            </a:bodyPr>
            <a:lstStyle/>
            <a:p>
              <a:pPr algn="l"/>
              <a:r>
                <a:rPr lang="zh-CN" sz="1950" b="1" dirty="0">
                  <a:solidFill>
                    <a:srgbClr val="69281B"/>
                  </a:solidFill>
                  <a:latin typeface="+mn-lt"/>
                  <a:ea typeface="+mn-ea"/>
                  <a:cs typeface="+mn-cs"/>
                </a:rPr>
                <a:t>0.78</a:t>
              </a:r>
              <a:r>
                <a:rPr lang="zh-CN" sz="900" dirty="0">
                  <a:solidFill>
                    <a:srgbClr val="69281B"/>
                  </a:solidFill>
                  <a:latin typeface="+mn-lt"/>
                  <a:ea typeface="+mn-ea"/>
                  <a:cs typeface="+mn-cs"/>
                </a:rPr>
                <a:t xml:space="preserve"> %</a:t>
              </a:r>
              <a:r>
                <a:rPr lang="zh-CN" sz="1950" b="1" dirty="0">
                  <a:solidFill>
                    <a:srgbClr val="69281B"/>
                  </a:solidFill>
                  <a:latin typeface="+mn-lt"/>
                  <a:ea typeface="+mn-ea"/>
                  <a:cs typeface="+mn-cs"/>
                </a:rPr>
                <a:t>​</a:t>
              </a:r>
            </a:p>
          </p:txBody>
        </p:sp>
        <p:sp>
          <p:nvSpPr>
            <p:cNvPr id="36" name="TextBox 36"/>
            <p:cNvSpPr txBox="1"/>
            <p:nvPr/>
          </p:nvSpPr>
          <p:spPr>
            <a:xfrm>
              <a:off x="6796088" y="1336834"/>
              <a:ext cx="1019915" cy="133350"/>
            </a:xfrm>
            <a:prstGeom prst="rect">
              <a:avLst/>
            </a:prstGeom>
            <a:noFill/>
            <a:ln>
              <a:noFill/>
            </a:ln>
          </p:spPr>
          <p:txBody>
            <a:bodyPr wrap="none" lIns="0" tIns="0" rIns="0" bIns="0" anchor="t" anchorCtr="0">
              <a:spAutoFit/>
            </a:bodyPr>
            <a:lstStyle/>
            <a:p>
              <a:pPr algn="l"/>
              <a:r>
                <a:rPr lang="zh-CN" sz="680" dirty="0">
                  <a:solidFill>
                    <a:srgbClr val="987F7A"/>
                  </a:solidFill>
                  <a:latin typeface="+mn-lt"/>
                  <a:ea typeface="+mn-ea"/>
                  <a:cs typeface="+mn-cs"/>
                </a:rPr>
                <a:t xml:space="preserve">较年初 </a:t>
              </a:r>
              <a:r>
                <a:rPr lang="zh-CN" sz="680" b="1" dirty="0">
                  <a:solidFill>
                    <a:srgbClr val="9E402E"/>
                  </a:solidFill>
                  <a:latin typeface="+mn-lt"/>
                  <a:ea typeface="+mn-ea"/>
                  <a:cs typeface="+mn-cs"/>
                </a:rPr>
                <a:t>-0.06</a:t>
              </a:r>
              <a:r>
                <a:rPr lang="zh-CN" sz="680" dirty="0">
                  <a:solidFill>
                    <a:srgbClr val="987F7A"/>
                  </a:solidFill>
                  <a:latin typeface="+mn-lt"/>
                  <a:ea typeface="+mn-ea"/>
                  <a:cs typeface="+mn-cs"/>
                </a:rPr>
                <a:t xml:space="preserve"> 个百分点​</a:t>
              </a:r>
            </a:p>
          </p:txBody>
        </p:sp>
      </p:grpSp>
      <p:grpSp>
        <p:nvGrpSpPr>
          <p:cNvPr id="46" name="kpi-provision"/>
          <p:cNvGrpSpPr/>
          <p:nvPr/>
        </p:nvGrpSpPr>
        <p:grpSpPr>
          <a:xfrm>
            <a:off x="9029700" y="685800"/>
            <a:ext cx="2819400" cy="800100"/>
            <a:chOff x="9029700" y="685800"/>
            <a:chExt cx="2819400" cy="800100"/>
          </a:xfrm>
        </p:grpSpPr>
        <p:sp>
          <p:nvSpPr>
            <p:cNvPr id="38" name="Rectangle 38"/>
            <p:cNvSpPr/>
            <p:nvPr/>
          </p:nvSpPr>
          <p:spPr>
            <a:xfrm>
              <a:off x="9029700" y="685800"/>
              <a:ext cx="2819400" cy="800100"/>
            </a:xfrm>
            <a:prstGeom prst="roundRect">
              <a:avLst>
                <a:gd name="adj" fmla="val 7143"/>
              </a:avLst>
            </a:prstGeom>
            <a:solidFill>
              <a:srgbClr val="FFFFFF"/>
            </a:solidFill>
            <a:ln w="9525">
              <a:solidFill>
                <a:srgbClr val="C9D6E9"/>
              </a:solidFill>
            </a:ln>
          </p:spPr>
        </p:sp>
        <p:sp>
          <p:nvSpPr>
            <p:cNvPr id="39" name="Ellipse 39"/>
            <p:cNvSpPr/>
            <p:nvPr/>
          </p:nvSpPr>
          <p:spPr>
            <a:xfrm>
              <a:off x="9163050" y="857250"/>
              <a:ext cx="457200" cy="457200"/>
            </a:xfrm>
            <a:prstGeom prst="ellipse">
              <a:avLst/>
            </a:prstGeom>
            <a:solidFill>
              <a:srgbClr val="EAF1FB"/>
            </a:solidFill>
            <a:ln>
              <a:noFill/>
            </a:ln>
          </p:spPr>
        </p:sp>
        <p:grpSp>
          <p:nvGrpSpPr>
            <p:cNvPr id="42" name="Group 42"/>
            <p:cNvGrpSpPr/>
            <p:nvPr/>
          </p:nvGrpSpPr>
          <p:grpSpPr>
            <a:xfrm>
              <a:off x="9284856" y="992981"/>
              <a:ext cx="201506" cy="185737"/>
              <a:chOff x="9284856" y="992981"/>
              <a:chExt cx="201506" cy="185737"/>
            </a:xfrm>
          </p:grpSpPr>
          <p:sp>
            <p:nvSpPr>
              <p:cNvPr id="40" name="Freeform 40"/>
              <p:cNvSpPr/>
              <p:nvPr/>
            </p:nvSpPr>
            <p:spPr>
              <a:xfrm>
                <a:off x="9284856" y="992981"/>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69281B"/>
                </a:solidFill>
              </a:ln>
            </p:spPr>
          </p:sp>
          <p:sp>
            <p:nvSpPr>
              <p:cNvPr id="41" name="Freeform 41"/>
              <p:cNvSpPr/>
              <p:nvPr/>
            </p:nvSpPr>
            <p:spPr>
              <a:xfrm>
                <a:off x="9422606" y="1137443"/>
                <a:ext cx="61912" cy="41275"/>
              </a:xfrm>
              <a:custGeom>
                <a:avLst/>
                <a:gdLst/>
                <a:ahLst/>
                <a:cxnLst/>
                <a:rect l="l" t="t" r="r" b="b"/>
                <a:pathLst>
                  <a:path w="61912" h="41275">
                    <a:moveTo>
                      <a:pt x="0" y="20637"/>
                    </a:moveTo>
                    <a:lnTo>
                      <a:pt x="20637" y="41275"/>
                    </a:lnTo>
                    <a:lnTo>
                      <a:pt x="61912" y="0"/>
                    </a:lnTo>
                  </a:path>
                </a:pathLst>
              </a:custGeom>
              <a:noFill/>
              <a:ln w="20637">
                <a:solidFill>
                  <a:srgbClr val="69281B"/>
                </a:solidFill>
              </a:ln>
            </p:spPr>
          </p:sp>
        </p:grpSp>
        <p:sp>
          <p:nvSpPr>
            <p:cNvPr id="43" name="TextBox 43"/>
            <p:cNvSpPr txBox="1"/>
            <p:nvPr/>
          </p:nvSpPr>
          <p:spPr>
            <a:xfrm>
              <a:off x="9729788" y="844391"/>
              <a:ext cx="561467" cy="161925"/>
            </a:xfrm>
            <a:prstGeom prst="rect">
              <a:avLst/>
            </a:prstGeom>
            <a:noFill/>
            <a:ln>
              <a:noFill/>
            </a:ln>
          </p:spPr>
          <p:txBody>
            <a:bodyPr wrap="none" lIns="0" tIns="0" rIns="0" bIns="0" anchor="t" anchorCtr="0">
              <a:spAutoFit/>
            </a:bodyPr>
            <a:lstStyle/>
            <a:p>
              <a:pPr algn="l"/>
              <a:r>
                <a:rPr lang="zh-CN" sz="820" dirty="0">
                  <a:solidFill>
                    <a:srgbClr val="987F7A"/>
                  </a:solidFill>
                  <a:latin typeface="+mn-lt"/>
                  <a:ea typeface="+mn-ea"/>
                  <a:cs typeface="+mn-cs"/>
                </a:rPr>
                <a:t>拨备覆盖率</a:t>
              </a:r>
            </a:p>
          </p:txBody>
        </p:sp>
        <p:sp>
          <p:nvSpPr>
            <p:cNvPr id="44" name="TextBox 44"/>
            <p:cNvSpPr txBox="1"/>
            <p:nvPr/>
          </p:nvSpPr>
          <p:spPr>
            <a:xfrm>
              <a:off x="9724644" y="1027748"/>
              <a:ext cx="1208221" cy="381381"/>
            </a:xfrm>
            <a:prstGeom prst="rect">
              <a:avLst/>
            </a:prstGeom>
            <a:noFill/>
            <a:ln>
              <a:noFill/>
            </a:ln>
          </p:spPr>
          <p:txBody>
            <a:bodyPr wrap="none" lIns="0" tIns="0" rIns="0" bIns="0" anchor="t" anchorCtr="0">
              <a:spAutoFit/>
            </a:bodyPr>
            <a:lstStyle/>
            <a:p>
              <a:pPr algn="l"/>
              <a:r>
                <a:rPr lang="zh-CN" sz="1950" b="1" dirty="0">
                  <a:solidFill>
                    <a:srgbClr val="69281B"/>
                  </a:solidFill>
                  <a:latin typeface="+mn-lt"/>
                  <a:ea typeface="+mn-ea"/>
                  <a:cs typeface="+mn-cs"/>
                </a:rPr>
                <a:t>268.00</a:t>
              </a:r>
              <a:r>
                <a:rPr lang="zh-CN" sz="900" dirty="0">
                  <a:solidFill>
                    <a:srgbClr val="69281B"/>
                  </a:solidFill>
                  <a:latin typeface="+mn-lt"/>
                  <a:ea typeface="+mn-ea"/>
                  <a:cs typeface="+mn-cs"/>
                </a:rPr>
                <a:t xml:space="preserve"> %</a:t>
              </a:r>
              <a:r>
                <a:rPr lang="zh-CN" sz="1950" b="1" dirty="0">
                  <a:solidFill>
                    <a:srgbClr val="69281B"/>
                  </a:solidFill>
                  <a:latin typeface="+mn-lt"/>
                  <a:ea typeface="+mn-ea"/>
                  <a:cs typeface="+mn-cs"/>
                </a:rPr>
                <a:t>​</a:t>
              </a:r>
            </a:p>
          </p:txBody>
        </p:sp>
        <p:sp>
          <p:nvSpPr>
            <p:cNvPr id="45" name="TextBox 45"/>
            <p:cNvSpPr txBox="1"/>
            <p:nvPr/>
          </p:nvSpPr>
          <p:spPr>
            <a:xfrm>
              <a:off x="9729788" y="1336834"/>
              <a:ext cx="1072781" cy="133350"/>
            </a:xfrm>
            <a:prstGeom prst="rect">
              <a:avLst/>
            </a:prstGeom>
            <a:noFill/>
            <a:ln>
              <a:noFill/>
            </a:ln>
          </p:spPr>
          <p:txBody>
            <a:bodyPr wrap="none" lIns="0" tIns="0" rIns="0" bIns="0" anchor="t" anchorCtr="0">
              <a:spAutoFit/>
            </a:bodyPr>
            <a:lstStyle/>
            <a:p>
              <a:pPr algn="l"/>
              <a:r>
                <a:rPr lang="zh-CN" sz="680" dirty="0">
                  <a:solidFill>
                    <a:srgbClr val="987F7A"/>
                  </a:solidFill>
                  <a:latin typeface="+mn-lt"/>
                  <a:ea typeface="+mn-ea"/>
                  <a:cs typeface="+mn-cs"/>
                </a:rPr>
                <a:t xml:space="preserve">较年初 </a:t>
              </a:r>
              <a:r>
                <a:rPr lang="zh-CN" sz="680" b="1" dirty="0">
                  <a:solidFill>
                    <a:srgbClr val="E04C2E"/>
                  </a:solidFill>
                  <a:latin typeface="+mn-lt"/>
                  <a:ea typeface="+mn-ea"/>
                  <a:cs typeface="+mn-cs"/>
                </a:rPr>
                <a:t>+18.23</a:t>
              </a:r>
              <a:r>
                <a:rPr lang="zh-CN" sz="680" dirty="0">
                  <a:solidFill>
                    <a:srgbClr val="987F7A"/>
                  </a:solidFill>
                  <a:latin typeface="+mn-lt"/>
                  <a:ea typeface="+mn-ea"/>
                  <a:cs typeface="+mn-cs"/>
                </a:rPr>
                <a:t xml:space="preserve"> 个百分点​</a:t>
              </a:r>
            </a:p>
          </p:txBody>
        </p:sp>
      </p:grpSp>
      <p:grpSp>
        <p:nvGrpSpPr>
          <p:cNvPr id="152" name="migration"/>
          <p:cNvGrpSpPr/>
          <p:nvPr/>
        </p:nvGrpSpPr>
        <p:grpSpPr>
          <a:xfrm>
            <a:off x="228600" y="1562100"/>
            <a:ext cx="3619500" cy="3390900"/>
            <a:chOff x="228600" y="1562100"/>
            <a:chExt cx="3619500" cy="3390900"/>
          </a:xfrm>
        </p:grpSpPr>
        <p:sp>
          <p:nvSpPr>
            <p:cNvPr id="47" name="Rectangle 47"/>
            <p:cNvSpPr/>
            <p:nvPr/>
          </p:nvSpPr>
          <p:spPr>
            <a:xfrm>
              <a:off x="228600" y="1562100"/>
              <a:ext cx="3619500" cy="3390900"/>
            </a:xfrm>
            <a:prstGeom prst="roundRect">
              <a:avLst>
                <a:gd name="adj" fmla="val 1685"/>
              </a:avLst>
            </a:prstGeom>
            <a:solidFill>
              <a:srgbClr val="FFFFFF"/>
            </a:solidFill>
            <a:ln w="9525">
              <a:solidFill>
                <a:srgbClr val="C9D6E9"/>
              </a:solidFill>
            </a:ln>
          </p:spPr>
        </p:sp>
        <p:sp>
          <p:nvSpPr>
            <p:cNvPr id="48" name="Rectangle 48"/>
            <p:cNvSpPr/>
            <p:nvPr/>
          </p:nvSpPr>
          <p:spPr>
            <a:xfrm>
              <a:off x="228600" y="1562100"/>
              <a:ext cx="3619500" cy="228600"/>
            </a:xfrm>
            <a:prstGeom prst="roundRect">
              <a:avLst>
                <a:gd name="adj" fmla="val 25000"/>
              </a:avLst>
            </a:prstGeom>
            <a:solidFill>
              <a:srgbClr val="69281B"/>
            </a:solidFill>
            <a:ln>
              <a:noFill/>
            </a:ln>
          </p:spPr>
        </p:sp>
        <p:sp>
          <p:nvSpPr>
            <p:cNvPr id="49" name="Rectangle 49"/>
            <p:cNvSpPr/>
            <p:nvPr/>
          </p:nvSpPr>
          <p:spPr>
            <a:xfrm>
              <a:off x="228600" y="1695450"/>
              <a:ext cx="3619500" cy="95250"/>
            </a:xfrm>
            <a:prstGeom prst="rect">
              <a:avLst/>
            </a:prstGeom>
            <a:solidFill>
              <a:srgbClr val="69281B"/>
            </a:solidFill>
            <a:ln>
              <a:noFill/>
            </a:ln>
          </p:spPr>
        </p:sp>
        <p:sp>
          <p:nvSpPr>
            <p:cNvPr id="50" name="TextBox 50"/>
            <p:cNvSpPr txBox="1"/>
            <p:nvPr/>
          </p:nvSpPr>
          <p:spPr>
            <a:xfrm>
              <a:off x="1185482" y="1626870"/>
              <a:ext cx="170573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资产质量迁徙图（单位：亿元）</a:t>
              </a:r>
            </a:p>
          </p:txBody>
        </p:sp>
        <p:sp>
          <p:nvSpPr>
            <p:cNvPr id="51" name="Rectangle 51"/>
            <p:cNvSpPr/>
            <p:nvPr/>
          </p:nvSpPr>
          <p:spPr>
            <a:xfrm>
              <a:off x="361950" y="2019300"/>
              <a:ext cx="609600" cy="933450"/>
            </a:xfrm>
            <a:prstGeom prst="roundRect">
              <a:avLst>
                <a:gd name="adj" fmla="val 6250"/>
              </a:avLst>
            </a:prstGeom>
            <a:solidFill>
              <a:srgbClr val="F5F8FD"/>
            </a:solidFill>
            <a:ln w="9525">
              <a:solidFill>
                <a:srgbClr val="EBC1B8"/>
              </a:solidFill>
            </a:ln>
          </p:spPr>
        </p:sp>
        <p:sp>
          <p:nvSpPr>
            <p:cNvPr id="52" name="TextBox 52"/>
            <p:cNvSpPr txBox="1"/>
            <p:nvPr/>
          </p:nvSpPr>
          <p:spPr>
            <a:xfrm>
              <a:off x="561022" y="2090738"/>
              <a:ext cx="21145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正常</a:t>
              </a:r>
            </a:p>
          </p:txBody>
        </p:sp>
        <p:grpSp>
          <p:nvGrpSpPr>
            <p:cNvPr id="55" name="Group 55"/>
            <p:cNvGrpSpPr/>
            <p:nvPr/>
          </p:nvGrpSpPr>
          <p:grpSpPr>
            <a:xfrm>
              <a:off x="592815" y="2250281"/>
              <a:ext cx="139505" cy="128588"/>
              <a:chOff x="592815" y="2250281"/>
              <a:chExt cx="139505" cy="128588"/>
            </a:xfrm>
          </p:grpSpPr>
          <p:sp>
            <p:nvSpPr>
              <p:cNvPr id="53" name="Freeform 53"/>
              <p:cNvSpPr/>
              <p:nvPr/>
            </p:nvSpPr>
            <p:spPr>
              <a:xfrm>
                <a:off x="592815" y="225028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E04C2E"/>
                </a:solidFill>
              </a:ln>
            </p:spPr>
          </p:sp>
          <p:sp>
            <p:nvSpPr>
              <p:cNvPr id="54" name="Freeform 54"/>
              <p:cNvSpPr/>
              <p:nvPr/>
            </p:nvSpPr>
            <p:spPr>
              <a:xfrm>
                <a:off x="688181" y="2350294"/>
                <a:ext cx="42862" cy="28575"/>
              </a:xfrm>
              <a:custGeom>
                <a:avLst/>
                <a:gdLst/>
                <a:ahLst/>
                <a:cxnLst/>
                <a:rect l="l" t="t" r="r" b="b"/>
                <a:pathLst>
                  <a:path w="42862" h="28575">
                    <a:moveTo>
                      <a:pt x="0" y="14288"/>
                    </a:moveTo>
                    <a:lnTo>
                      <a:pt x="14288" y="28575"/>
                    </a:lnTo>
                    <a:lnTo>
                      <a:pt x="42862" y="0"/>
                    </a:lnTo>
                  </a:path>
                </a:pathLst>
              </a:custGeom>
              <a:noFill/>
              <a:ln w="14288">
                <a:solidFill>
                  <a:srgbClr val="E04C2E"/>
                </a:solidFill>
              </a:ln>
            </p:spPr>
          </p:sp>
        </p:grpSp>
        <p:sp>
          <p:nvSpPr>
            <p:cNvPr id="56" name="TextBox 56"/>
            <p:cNvSpPr txBox="1"/>
            <p:nvPr/>
          </p:nvSpPr>
          <p:spPr>
            <a:xfrm>
              <a:off x="511213" y="2491978"/>
              <a:ext cx="311074"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期初余额</a:t>
              </a:r>
            </a:p>
          </p:txBody>
        </p:sp>
        <p:sp>
          <p:nvSpPr>
            <p:cNvPr id="57" name="TextBox 57"/>
            <p:cNvSpPr txBox="1"/>
            <p:nvPr/>
          </p:nvSpPr>
          <p:spPr>
            <a:xfrm>
              <a:off x="375116" y="2616041"/>
              <a:ext cx="583269" cy="161925"/>
            </a:xfrm>
            <a:prstGeom prst="rect">
              <a:avLst/>
            </a:prstGeom>
            <a:noFill/>
            <a:ln>
              <a:noFill/>
            </a:ln>
          </p:spPr>
          <p:txBody>
            <a:bodyPr wrap="none" lIns="0" tIns="0" rIns="0" bIns="0" anchor="t" anchorCtr="0">
              <a:spAutoFit/>
            </a:bodyPr>
            <a:lstStyle/>
            <a:p>
              <a:pPr algn="ctr"/>
              <a:r>
                <a:rPr lang="zh-CN" sz="820" b="1" dirty="0">
                  <a:solidFill>
                    <a:srgbClr val="69281B"/>
                  </a:solidFill>
                  <a:latin typeface="+mn-lt"/>
                  <a:ea typeface="+mn-ea"/>
                  <a:cs typeface="+mn-cs"/>
                </a:rPr>
                <a:t>1,248.60​</a:t>
              </a:r>
            </a:p>
          </p:txBody>
        </p:sp>
        <p:sp>
          <p:nvSpPr>
            <p:cNvPr id="58" name="TextBox 58"/>
            <p:cNvSpPr txBox="1"/>
            <p:nvPr/>
          </p:nvSpPr>
          <p:spPr>
            <a:xfrm>
              <a:off x="405536" y="2792730"/>
              <a:ext cx="522427" cy="119062"/>
            </a:xfrm>
            <a:prstGeom prst="rect">
              <a:avLst/>
            </a:prstGeom>
            <a:noFill/>
            <a:ln>
              <a:noFill/>
            </a:ln>
          </p:spPr>
          <p:txBody>
            <a:bodyPr wrap="none" lIns="0" tIns="0" rIns="0" bIns="0" anchor="t" anchorCtr="0">
              <a:spAutoFit/>
            </a:bodyPr>
            <a:lstStyle/>
            <a:p>
              <a:pPr algn="ctr"/>
              <a:r>
                <a:rPr lang="zh-CN" sz="600" dirty="0">
                  <a:solidFill>
                    <a:srgbClr val="E04C2E"/>
                  </a:solidFill>
                  <a:latin typeface="+mn-lt"/>
                  <a:ea typeface="+mn-ea"/>
                  <a:cs typeface="+mn-cs"/>
                </a:rPr>
                <a:t>占比 97.20%​</a:t>
              </a:r>
            </a:p>
          </p:txBody>
        </p:sp>
        <p:sp>
          <p:nvSpPr>
            <p:cNvPr id="59" name="Rectangle 59"/>
            <p:cNvSpPr/>
            <p:nvPr/>
          </p:nvSpPr>
          <p:spPr>
            <a:xfrm>
              <a:off x="1276350" y="2019300"/>
              <a:ext cx="609600" cy="933450"/>
            </a:xfrm>
            <a:prstGeom prst="roundRect">
              <a:avLst>
                <a:gd name="adj" fmla="val 6250"/>
              </a:avLst>
            </a:prstGeom>
            <a:solidFill>
              <a:srgbClr val="EAF1FB"/>
            </a:solidFill>
            <a:ln w="9525">
              <a:solidFill>
                <a:srgbClr val="EBC1B8"/>
              </a:solidFill>
            </a:ln>
          </p:spPr>
        </p:sp>
        <p:sp>
          <p:nvSpPr>
            <p:cNvPr id="60" name="TextBox 60"/>
            <p:cNvSpPr txBox="1"/>
            <p:nvPr/>
          </p:nvSpPr>
          <p:spPr>
            <a:xfrm>
              <a:off x="1475422" y="2090738"/>
              <a:ext cx="211455"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关注</a:t>
              </a:r>
            </a:p>
          </p:txBody>
        </p:sp>
        <p:grpSp>
          <p:nvGrpSpPr>
            <p:cNvPr id="63" name="Group 63"/>
            <p:cNvGrpSpPr/>
            <p:nvPr/>
          </p:nvGrpSpPr>
          <p:grpSpPr>
            <a:xfrm>
              <a:off x="1516856" y="2271712"/>
              <a:ext cx="128588" cy="85725"/>
              <a:chOff x="1516856" y="2271712"/>
              <a:chExt cx="128588" cy="85725"/>
            </a:xfrm>
          </p:grpSpPr>
          <p:sp>
            <p:nvSpPr>
              <p:cNvPr id="61" name="Freeform 61"/>
              <p:cNvSpPr/>
              <p:nvPr/>
            </p:nvSpPr>
            <p:spPr>
              <a:xfrm>
                <a:off x="1566862" y="2300288"/>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62" name="Freeform 62"/>
              <p:cNvSpPr/>
              <p:nvPr/>
            </p:nvSpPr>
            <p:spPr>
              <a:xfrm>
                <a:off x="1516856" y="2271712"/>
                <a:ext cx="128588" cy="85725"/>
              </a:xfrm>
              <a:custGeom>
                <a:avLst/>
                <a:gdLst/>
                <a:ahLst/>
                <a:cxnLst/>
                <a:rect l="l" t="t" r="r" b="b"/>
                <a:pathLst>
                  <a:path w="128588" h="85725">
                    <a:moveTo>
                      <a:pt x="128588" y="42862"/>
                    </a:moveTo>
                    <a:cubicBezTo>
                      <a:pt x="111442" y="71438"/>
                      <a:pt x="90011" y="85725"/>
                      <a:pt x="64294" y="85725"/>
                    </a:cubicBezTo>
                    <a:cubicBezTo>
                      <a:pt x="38576" y="85725"/>
                      <a:pt x="17145" y="71438"/>
                      <a:pt x="0" y="42862"/>
                    </a:cubicBezTo>
                    <a:cubicBezTo>
                      <a:pt x="17145" y="14288"/>
                      <a:pt x="38576" y="0"/>
                      <a:pt x="64294" y="0"/>
                    </a:cubicBezTo>
                    <a:cubicBezTo>
                      <a:pt x="90011" y="0"/>
                      <a:pt x="111442" y="14288"/>
                      <a:pt x="128588" y="42862"/>
                    </a:cubicBezTo>
                  </a:path>
                </a:pathLst>
              </a:custGeom>
              <a:noFill/>
              <a:ln w="14288">
                <a:solidFill>
                  <a:srgbClr val="E04C2E"/>
                </a:solidFill>
              </a:ln>
            </p:spPr>
          </p:sp>
        </p:grpSp>
        <p:sp>
          <p:nvSpPr>
            <p:cNvPr id="64" name="TextBox 64"/>
            <p:cNvSpPr txBox="1"/>
            <p:nvPr/>
          </p:nvSpPr>
          <p:spPr>
            <a:xfrm>
              <a:off x="1425613" y="2491978"/>
              <a:ext cx="311074"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期初余额</a:t>
              </a:r>
            </a:p>
          </p:txBody>
        </p:sp>
        <p:sp>
          <p:nvSpPr>
            <p:cNvPr id="65" name="TextBox 65"/>
            <p:cNvSpPr txBox="1"/>
            <p:nvPr/>
          </p:nvSpPr>
          <p:spPr>
            <a:xfrm>
              <a:off x="1385140" y="2616041"/>
              <a:ext cx="392021" cy="161925"/>
            </a:xfrm>
            <a:prstGeom prst="rect">
              <a:avLst/>
            </a:prstGeom>
            <a:noFill/>
            <a:ln>
              <a:noFill/>
            </a:ln>
          </p:spPr>
          <p:txBody>
            <a:bodyPr wrap="none" lIns="0" tIns="0" rIns="0" bIns="0" anchor="t" anchorCtr="0">
              <a:spAutoFit/>
            </a:bodyPr>
            <a:lstStyle/>
            <a:p>
              <a:pPr algn="ctr"/>
              <a:r>
                <a:rPr lang="zh-CN" sz="820" b="1" dirty="0">
                  <a:solidFill>
                    <a:srgbClr val="69281B"/>
                  </a:solidFill>
                  <a:latin typeface="+mn-lt"/>
                  <a:ea typeface="+mn-ea"/>
                  <a:cs typeface="+mn-cs"/>
                </a:rPr>
                <a:t>17.92​</a:t>
              </a:r>
            </a:p>
          </p:txBody>
        </p:sp>
        <p:sp>
          <p:nvSpPr>
            <p:cNvPr id="66" name="TextBox 66"/>
            <p:cNvSpPr txBox="1"/>
            <p:nvPr/>
          </p:nvSpPr>
          <p:spPr>
            <a:xfrm>
              <a:off x="1342149" y="2792730"/>
              <a:ext cx="478003" cy="119062"/>
            </a:xfrm>
            <a:prstGeom prst="rect">
              <a:avLst/>
            </a:prstGeom>
            <a:noFill/>
            <a:ln>
              <a:noFill/>
            </a:ln>
          </p:spPr>
          <p:txBody>
            <a:bodyPr wrap="none" lIns="0" tIns="0" rIns="0" bIns="0" anchor="t" anchorCtr="0">
              <a:spAutoFit/>
            </a:bodyPr>
            <a:lstStyle/>
            <a:p>
              <a:pPr algn="ctr"/>
              <a:r>
                <a:rPr lang="zh-CN" sz="600" dirty="0">
                  <a:solidFill>
                    <a:srgbClr val="E04C2E"/>
                  </a:solidFill>
                  <a:latin typeface="+mn-lt"/>
                  <a:ea typeface="+mn-ea"/>
                  <a:cs typeface="+mn-cs"/>
                </a:rPr>
                <a:t>占比 1.40%​</a:t>
              </a:r>
            </a:p>
          </p:txBody>
        </p:sp>
        <p:sp>
          <p:nvSpPr>
            <p:cNvPr id="67" name="Rectangle 67"/>
            <p:cNvSpPr/>
            <p:nvPr/>
          </p:nvSpPr>
          <p:spPr>
            <a:xfrm>
              <a:off x="2190750" y="2019300"/>
              <a:ext cx="609600" cy="933450"/>
            </a:xfrm>
            <a:prstGeom prst="roundRect">
              <a:avLst>
                <a:gd name="adj" fmla="val 6250"/>
              </a:avLst>
            </a:prstGeom>
            <a:solidFill>
              <a:srgbClr val="FBEAE9"/>
            </a:solidFill>
            <a:ln w="9525">
              <a:solidFill>
                <a:srgbClr val="E8BBB3"/>
              </a:solidFill>
            </a:ln>
          </p:spPr>
        </p:sp>
        <p:sp>
          <p:nvSpPr>
            <p:cNvPr id="68" name="TextBox 68"/>
            <p:cNvSpPr txBox="1"/>
            <p:nvPr/>
          </p:nvSpPr>
          <p:spPr>
            <a:xfrm>
              <a:off x="2389822" y="2090738"/>
              <a:ext cx="211455" cy="147638"/>
            </a:xfrm>
            <a:prstGeom prst="rect">
              <a:avLst/>
            </a:prstGeom>
            <a:noFill/>
            <a:ln>
              <a:noFill/>
            </a:ln>
          </p:spPr>
          <p:txBody>
            <a:bodyPr wrap="none" lIns="0" tIns="0" rIns="0" bIns="0" anchor="t" anchorCtr="0">
              <a:spAutoFit/>
            </a:bodyPr>
            <a:lstStyle/>
            <a:p>
              <a:pPr algn="ctr"/>
              <a:r>
                <a:rPr lang="zh-CN" sz="750" b="1" dirty="0">
                  <a:solidFill>
                    <a:srgbClr val="D0442C"/>
                  </a:solidFill>
                  <a:latin typeface="+mn-lt"/>
                  <a:ea typeface="+mn-ea"/>
                  <a:cs typeface="+mn-cs"/>
                </a:rPr>
                <a:t>不良</a:t>
              </a:r>
            </a:p>
          </p:txBody>
        </p:sp>
        <p:grpSp>
          <p:nvGrpSpPr>
            <p:cNvPr id="72" name="Group 72"/>
            <p:cNvGrpSpPr/>
            <p:nvPr/>
          </p:nvGrpSpPr>
          <p:grpSpPr>
            <a:xfrm>
              <a:off x="2423504" y="2247908"/>
              <a:ext cx="144086" cy="123788"/>
              <a:chOff x="2423504" y="2247908"/>
              <a:chExt cx="144086" cy="123788"/>
            </a:xfrm>
          </p:grpSpPr>
          <p:sp>
            <p:nvSpPr>
              <p:cNvPr id="69" name="Freeform 69"/>
              <p:cNvSpPr/>
              <p:nvPr/>
            </p:nvSpPr>
            <p:spPr>
              <a:xfrm>
                <a:off x="2495550" y="2293144"/>
                <a:ext cx="9525" cy="28575"/>
              </a:xfrm>
              <a:custGeom>
                <a:avLst/>
                <a:gdLst/>
                <a:ahLst/>
                <a:cxnLst/>
                <a:rect l="l" t="t" r="r" b="b"/>
                <a:pathLst>
                  <a:path w="9525" h="28575">
                    <a:moveTo>
                      <a:pt x="0" y="0"/>
                    </a:moveTo>
                    <a:lnTo>
                      <a:pt x="0" y="28575"/>
                    </a:lnTo>
                  </a:path>
                </a:pathLst>
              </a:custGeom>
              <a:noFill/>
              <a:ln w="14288">
                <a:solidFill>
                  <a:srgbClr val="D0442C"/>
                </a:solidFill>
              </a:ln>
            </p:spPr>
          </p:sp>
          <p:sp>
            <p:nvSpPr>
              <p:cNvPr id="70" name="Freeform 70"/>
              <p:cNvSpPr/>
              <p:nvPr/>
            </p:nvSpPr>
            <p:spPr>
              <a:xfrm>
                <a:off x="2423504" y="2247908"/>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D0442C"/>
                </a:solidFill>
              </a:ln>
            </p:spPr>
          </p:sp>
          <p:sp>
            <p:nvSpPr>
              <p:cNvPr id="71" name="Freeform 71"/>
              <p:cNvSpPr/>
              <p:nvPr/>
            </p:nvSpPr>
            <p:spPr>
              <a:xfrm>
                <a:off x="2495550" y="2343150"/>
                <a:ext cx="9525" cy="9525"/>
              </a:xfrm>
              <a:custGeom>
                <a:avLst/>
                <a:gdLst/>
                <a:ahLst/>
                <a:cxnLst/>
                <a:rect l="l" t="t" r="r" b="b"/>
                <a:pathLst>
                  <a:path w="9525" h="9525">
                    <a:moveTo>
                      <a:pt x="0" y="0"/>
                    </a:moveTo>
                    <a:lnTo>
                      <a:pt x="71" y="0"/>
                    </a:lnTo>
                  </a:path>
                </a:pathLst>
              </a:custGeom>
              <a:noFill/>
              <a:ln w="14288">
                <a:solidFill>
                  <a:srgbClr val="D0442C"/>
                </a:solidFill>
              </a:ln>
            </p:spPr>
          </p:sp>
        </p:grpSp>
        <p:sp>
          <p:nvSpPr>
            <p:cNvPr id="73" name="TextBox 73"/>
            <p:cNvSpPr txBox="1"/>
            <p:nvPr/>
          </p:nvSpPr>
          <p:spPr>
            <a:xfrm>
              <a:off x="2340013" y="2491978"/>
              <a:ext cx="311074"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期初余额</a:t>
              </a:r>
            </a:p>
          </p:txBody>
        </p:sp>
        <p:sp>
          <p:nvSpPr>
            <p:cNvPr id="74" name="TextBox 74"/>
            <p:cNvSpPr txBox="1"/>
            <p:nvPr/>
          </p:nvSpPr>
          <p:spPr>
            <a:xfrm>
              <a:off x="2299540" y="2616041"/>
              <a:ext cx="392021" cy="161925"/>
            </a:xfrm>
            <a:prstGeom prst="rect">
              <a:avLst/>
            </a:prstGeom>
            <a:noFill/>
            <a:ln>
              <a:noFill/>
            </a:ln>
          </p:spPr>
          <p:txBody>
            <a:bodyPr wrap="none" lIns="0" tIns="0" rIns="0" bIns="0" anchor="t" anchorCtr="0">
              <a:spAutoFit/>
            </a:bodyPr>
            <a:lstStyle/>
            <a:p>
              <a:pPr algn="ctr"/>
              <a:r>
                <a:rPr lang="zh-CN" sz="820" b="1" dirty="0">
                  <a:solidFill>
                    <a:srgbClr val="D0442C"/>
                  </a:solidFill>
                  <a:latin typeface="+mn-lt"/>
                  <a:ea typeface="+mn-ea"/>
                  <a:cs typeface="+mn-cs"/>
                </a:rPr>
                <a:t>11.86​</a:t>
              </a:r>
            </a:p>
          </p:txBody>
        </p:sp>
        <p:sp>
          <p:nvSpPr>
            <p:cNvPr id="75" name="TextBox 75"/>
            <p:cNvSpPr txBox="1"/>
            <p:nvPr/>
          </p:nvSpPr>
          <p:spPr>
            <a:xfrm>
              <a:off x="2256549" y="2792730"/>
              <a:ext cx="478003" cy="119062"/>
            </a:xfrm>
            <a:prstGeom prst="rect">
              <a:avLst/>
            </a:prstGeom>
            <a:noFill/>
            <a:ln>
              <a:noFill/>
            </a:ln>
          </p:spPr>
          <p:txBody>
            <a:bodyPr wrap="none" lIns="0" tIns="0" rIns="0" bIns="0" anchor="t" anchorCtr="0">
              <a:spAutoFit/>
            </a:bodyPr>
            <a:lstStyle/>
            <a:p>
              <a:pPr algn="ctr"/>
              <a:r>
                <a:rPr lang="zh-CN" sz="600" dirty="0">
                  <a:solidFill>
                    <a:srgbClr val="D0442C"/>
                  </a:solidFill>
                  <a:latin typeface="+mn-lt"/>
                  <a:ea typeface="+mn-ea"/>
                  <a:cs typeface="+mn-cs"/>
                </a:rPr>
                <a:t>占比 0.92%​</a:t>
              </a:r>
            </a:p>
          </p:txBody>
        </p:sp>
        <p:sp>
          <p:nvSpPr>
            <p:cNvPr id="76" name="Rectangle 76"/>
            <p:cNvSpPr/>
            <p:nvPr/>
          </p:nvSpPr>
          <p:spPr>
            <a:xfrm>
              <a:off x="3105150" y="2019300"/>
              <a:ext cx="609600" cy="933450"/>
            </a:xfrm>
            <a:prstGeom prst="roundRect">
              <a:avLst>
                <a:gd name="adj" fmla="val 6250"/>
              </a:avLst>
            </a:prstGeom>
            <a:solidFill>
              <a:srgbClr val="F5F8FD"/>
            </a:solidFill>
            <a:ln w="9525">
              <a:solidFill>
                <a:srgbClr val="C9D6E9"/>
              </a:solidFill>
            </a:ln>
          </p:spPr>
        </p:sp>
        <p:sp>
          <p:nvSpPr>
            <p:cNvPr id="77" name="TextBox 77"/>
            <p:cNvSpPr txBox="1"/>
            <p:nvPr/>
          </p:nvSpPr>
          <p:spPr>
            <a:xfrm>
              <a:off x="3203258" y="2090738"/>
              <a:ext cx="413385"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处置回收</a:t>
              </a:r>
            </a:p>
          </p:txBody>
        </p:sp>
        <p:grpSp>
          <p:nvGrpSpPr>
            <p:cNvPr id="80" name="Group 80"/>
            <p:cNvGrpSpPr/>
            <p:nvPr/>
          </p:nvGrpSpPr>
          <p:grpSpPr>
            <a:xfrm>
              <a:off x="3352800" y="2254669"/>
              <a:ext cx="114300" cy="119813"/>
              <a:chOff x="3352800" y="2254669"/>
              <a:chExt cx="114300" cy="119813"/>
            </a:xfrm>
          </p:grpSpPr>
          <p:sp>
            <p:nvSpPr>
              <p:cNvPr id="78" name="Freeform 78"/>
              <p:cNvSpPr/>
              <p:nvPr/>
            </p:nvSpPr>
            <p:spPr>
              <a:xfrm>
                <a:off x="3352800" y="2254669"/>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70504A"/>
                </a:solidFill>
              </a:ln>
            </p:spPr>
          </p:sp>
          <p:sp>
            <p:nvSpPr>
              <p:cNvPr id="79" name="Freeform 79"/>
              <p:cNvSpPr/>
              <p:nvPr/>
            </p:nvSpPr>
            <p:spPr>
              <a:xfrm>
                <a:off x="3352800" y="2321719"/>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70504A"/>
                </a:solidFill>
              </a:ln>
            </p:spPr>
          </p:sp>
        </p:grpSp>
        <p:sp>
          <p:nvSpPr>
            <p:cNvPr id="81" name="TextBox 81"/>
            <p:cNvSpPr txBox="1"/>
            <p:nvPr/>
          </p:nvSpPr>
          <p:spPr>
            <a:xfrm>
              <a:off x="3254413" y="2491978"/>
              <a:ext cx="311074"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期初余额</a:t>
              </a:r>
            </a:p>
          </p:txBody>
        </p:sp>
        <p:sp>
          <p:nvSpPr>
            <p:cNvPr id="82" name="TextBox 82"/>
            <p:cNvSpPr txBox="1"/>
            <p:nvPr/>
          </p:nvSpPr>
          <p:spPr>
            <a:xfrm>
              <a:off x="3213940" y="2616041"/>
              <a:ext cx="392021" cy="161925"/>
            </a:xfrm>
            <a:prstGeom prst="rect">
              <a:avLst/>
            </a:prstGeom>
            <a:noFill/>
            <a:ln>
              <a:noFill/>
            </a:ln>
          </p:spPr>
          <p:txBody>
            <a:bodyPr wrap="none" lIns="0" tIns="0" rIns="0" bIns="0" anchor="t" anchorCtr="0">
              <a:spAutoFit/>
            </a:bodyPr>
            <a:lstStyle/>
            <a:p>
              <a:pPr algn="ctr"/>
              <a:r>
                <a:rPr lang="zh-CN" sz="820" b="1" dirty="0">
                  <a:solidFill>
                    <a:srgbClr val="5F3A33"/>
                  </a:solidFill>
                  <a:latin typeface="+mn-lt"/>
                  <a:ea typeface="+mn-ea"/>
                  <a:cs typeface="+mn-cs"/>
                </a:rPr>
                <a:t>22.47​</a:t>
              </a:r>
            </a:p>
          </p:txBody>
        </p:sp>
        <p:sp>
          <p:nvSpPr>
            <p:cNvPr id="83" name="TextBox 83"/>
            <p:cNvSpPr txBox="1"/>
            <p:nvPr/>
          </p:nvSpPr>
          <p:spPr>
            <a:xfrm>
              <a:off x="3170949" y="2792730"/>
              <a:ext cx="478003" cy="119062"/>
            </a:xfrm>
            <a:prstGeom prst="rect">
              <a:avLst/>
            </a:prstGeom>
            <a:noFill/>
            <a:ln>
              <a:noFill/>
            </a:ln>
          </p:spPr>
          <p:txBody>
            <a:bodyPr wrap="none" lIns="0" tIns="0" rIns="0" bIns="0" anchor="t" anchorCtr="0">
              <a:spAutoFit/>
            </a:bodyPr>
            <a:lstStyle/>
            <a:p>
              <a:pPr algn="ctr"/>
              <a:r>
                <a:rPr lang="zh-CN" sz="600" dirty="0">
                  <a:solidFill>
                    <a:srgbClr val="70504A"/>
                  </a:solidFill>
                  <a:latin typeface="+mn-lt"/>
                  <a:ea typeface="+mn-ea"/>
                  <a:cs typeface="+mn-cs"/>
                </a:rPr>
                <a:t>占比 1.75%​</a:t>
              </a:r>
            </a:p>
          </p:txBody>
        </p:sp>
        <p:sp>
          <p:nvSpPr>
            <p:cNvPr id="84" name="TextBox 84"/>
            <p:cNvSpPr txBox="1"/>
            <p:nvPr/>
          </p:nvSpPr>
          <p:spPr>
            <a:xfrm>
              <a:off x="988579" y="1901428"/>
              <a:ext cx="270742" cy="111919"/>
            </a:xfrm>
            <a:prstGeom prst="rect">
              <a:avLst/>
            </a:prstGeom>
            <a:noFill/>
            <a:ln>
              <a:noFill/>
            </a:ln>
          </p:spPr>
          <p:txBody>
            <a:bodyPr wrap="none" lIns="0" tIns="0" rIns="0" bIns="0" anchor="t" anchorCtr="0">
              <a:spAutoFit/>
            </a:bodyPr>
            <a:lstStyle/>
            <a:p>
              <a:pPr algn="ctr"/>
              <a:r>
                <a:rPr lang="zh-CN" sz="560" b="1" dirty="0">
                  <a:solidFill>
                    <a:srgbClr val="69281B"/>
                  </a:solidFill>
                  <a:latin typeface="+mn-lt"/>
                  <a:ea typeface="+mn-ea"/>
                  <a:cs typeface="+mn-cs"/>
                </a:rPr>
                <a:t>18.27​</a:t>
              </a:r>
            </a:p>
          </p:txBody>
        </p:sp>
        <p:sp>
          <p:nvSpPr>
            <p:cNvPr id="85" name="Line 85"/>
            <p:cNvSpPr/>
            <p:nvPr/>
          </p:nvSpPr>
          <p:spPr>
            <a:xfrm>
              <a:off x="990600" y="2286000"/>
              <a:ext cx="247650" cy="9525"/>
            </a:xfrm>
            <a:custGeom>
              <a:avLst/>
              <a:gdLst/>
              <a:ahLst/>
              <a:cxnLst/>
              <a:rect l="l" t="t" r="r" b="b"/>
              <a:pathLst>
                <a:path w="247650" h="9525">
                  <a:moveTo>
                    <a:pt x="0" y="0"/>
                  </a:moveTo>
                  <a:lnTo>
                    <a:pt x="247650" y="0"/>
                  </a:lnTo>
                </a:path>
              </a:pathLst>
            </a:custGeom>
            <a:noFill/>
            <a:ln w="11430">
              <a:solidFill>
                <a:srgbClr val="69281B"/>
              </a:solidFill>
            </a:ln>
          </p:spPr>
        </p:sp>
        <p:sp>
          <p:nvSpPr>
            <p:cNvPr id="86" name="Freeform 86"/>
            <p:cNvSpPr/>
            <p:nvPr/>
          </p:nvSpPr>
          <p:spPr>
            <a:xfrm>
              <a:off x="1219200" y="2257425"/>
              <a:ext cx="57150" cy="57150"/>
            </a:xfrm>
            <a:custGeom>
              <a:avLst/>
              <a:gdLst/>
              <a:ahLst/>
              <a:cxnLst/>
              <a:rect l="l" t="t" r="r" b="b"/>
              <a:pathLst>
                <a:path w="57150" h="57150">
                  <a:moveTo>
                    <a:pt x="0" y="0"/>
                  </a:moveTo>
                  <a:lnTo>
                    <a:pt x="57150" y="28575"/>
                  </a:lnTo>
                  <a:lnTo>
                    <a:pt x="0" y="57150"/>
                  </a:lnTo>
                  <a:close/>
                </a:path>
              </a:pathLst>
            </a:custGeom>
            <a:solidFill>
              <a:srgbClr val="69281B"/>
            </a:solidFill>
            <a:ln>
              <a:noFill/>
            </a:ln>
          </p:spPr>
        </p:sp>
        <p:sp>
          <p:nvSpPr>
            <p:cNvPr id="87" name="TextBox 87"/>
            <p:cNvSpPr txBox="1"/>
            <p:nvPr/>
          </p:nvSpPr>
          <p:spPr>
            <a:xfrm>
              <a:off x="1924747" y="1901428"/>
              <a:ext cx="227206" cy="111919"/>
            </a:xfrm>
            <a:prstGeom prst="rect">
              <a:avLst/>
            </a:prstGeom>
            <a:noFill/>
            <a:ln>
              <a:noFill/>
            </a:ln>
          </p:spPr>
          <p:txBody>
            <a:bodyPr wrap="none" lIns="0" tIns="0" rIns="0" bIns="0" anchor="t" anchorCtr="0">
              <a:spAutoFit/>
            </a:bodyPr>
            <a:lstStyle/>
            <a:p>
              <a:pPr algn="ctr"/>
              <a:r>
                <a:rPr lang="zh-CN" sz="560" b="1" dirty="0">
                  <a:solidFill>
                    <a:srgbClr val="69281B"/>
                  </a:solidFill>
                  <a:latin typeface="+mn-lt"/>
                  <a:ea typeface="+mn-ea"/>
                  <a:cs typeface="+mn-cs"/>
                </a:rPr>
                <a:t>4.31​</a:t>
              </a:r>
            </a:p>
          </p:txBody>
        </p:sp>
        <p:sp>
          <p:nvSpPr>
            <p:cNvPr id="88" name="Line 88"/>
            <p:cNvSpPr/>
            <p:nvPr/>
          </p:nvSpPr>
          <p:spPr>
            <a:xfrm>
              <a:off x="1905000" y="2286000"/>
              <a:ext cx="247650" cy="9525"/>
            </a:xfrm>
            <a:custGeom>
              <a:avLst/>
              <a:gdLst/>
              <a:ahLst/>
              <a:cxnLst/>
              <a:rect l="l" t="t" r="r" b="b"/>
              <a:pathLst>
                <a:path w="247650" h="9525">
                  <a:moveTo>
                    <a:pt x="0" y="0"/>
                  </a:moveTo>
                  <a:lnTo>
                    <a:pt x="247650" y="0"/>
                  </a:lnTo>
                </a:path>
              </a:pathLst>
            </a:custGeom>
            <a:noFill/>
            <a:ln w="11430">
              <a:solidFill>
                <a:srgbClr val="69281B"/>
              </a:solidFill>
            </a:ln>
          </p:spPr>
        </p:sp>
        <p:sp>
          <p:nvSpPr>
            <p:cNvPr id="89" name="Freeform 89"/>
            <p:cNvSpPr/>
            <p:nvPr/>
          </p:nvSpPr>
          <p:spPr>
            <a:xfrm>
              <a:off x="2133600" y="2257425"/>
              <a:ext cx="57150" cy="57150"/>
            </a:xfrm>
            <a:custGeom>
              <a:avLst/>
              <a:gdLst/>
              <a:ahLst/>
              <a:cxnLst/>
              <a:rect l="l" t="t" r="r" b="b"/>
              <a:pathLst>
                <a:path w="57150" h="57150">
                  <a:moveTo>
                    <a:pt x="0" y="0"/>
                  </a:moveTo>
                  <a:lnTo>
                    <a:pt x="57150" y="28575"/>
                  </a:lnTo>
                  <a:lnTo>
                    <a:pt x="0" y="57150"/>
                  </a:lnTo>
                  <a:close/>
                </a:path>
              </a:pathLst>
            </a:custGeom>
            <a:solidFill>
              <a:srgbClr val="69281B"/>
            </a:solidFill>
            <a:ln>
              <a:noFill/>
            </a:ln>
          </p:spPr>
        </p:sp>
        <p:sp>
          <p:nvSpPr>
            <p:cNvPr id="90" name="TextBox 90"/>
            <p:cNvSpPr txBox="1"/>
            <p:nvPr/>
          </p:nvSpPr>
          <p:spPr>
            <a:xfrm>
              <a:off x="2839147" y="1901428"/>
              <a:ext cx="227206" cy="111919"/>
            </a:xfrm>
            <a:prstGeom prst="rect">
              <a:avLst/>
            </a:prstGeom>
            <a:noFill/>
            <a:ln>
              <a:noFill/>
            </a:ln>
          </p:spPr>
          <p:txBody>
            <a:bodyPr wrap="none" lIns="0" tIns="0" rIns="0" bIns="0" anchor="t" anchorCtr="0">
              <a:spAutoFit/>
            </a:bodyPr>
            <a:lstStyle/>
            <a:p>
              <a:pPr algn="ctr"/>
              <a:r>
                <a:rPr lang="zh-CN" sz="560" b="1" dirty="0">
                  <a:solidFill>
                    <a:srgbClr val="69281B"/>
                  </a:solidFill>
                  <a:latin typeface="+mn-lt"/>
                  <a:ea typeface="+mn-ea"/>
                  <a:cs typeface="+mn-cs"/>
                </a:rPr>
                <a:t>3.60​</a:t>
              </a:r>
            </a:p>
          </p:txBody>
        </p:sp>
        <p:sp>
          <p:nvSpPr>
            <p:cNvPr id="91" name="Line 91"/>
            <p:cNvSpPr/>
            <p:nvPr/>
          </p:nvSpPr>
          <p:spPr>
            <a:xfrm>
              <a:off x="2819400" y="2286000"/>
              <a:ext cx="247650" cy="9525"/>
            </a:xfrm>
            <a:custGeom>
              <a:avLst/>
              <a:gdLst/>
              <a:ahLst/>
              <a:cxnLst/>
              <a:rect l="l" t="t" r="r" b="b"/>
              <a:pathLst>
                <a:path w="247650" h="9525">
                  <a:moveTo>
                    <a:pt x="0" y="0"/>
                  </a:moveTo>
                  <a:lnTo>
                    <a:pt x="247650" y="0"/>
                  </a:lnTo>
                </a:path>
              </a:pathLst>
            </a:custGeom>
            <a:noFill/>
            <a:ln w="11430">
              <a:solidFill>
                <a:srgbClr val="69281B"/>
              </a:solidFill>
            </a:ln>
          </p:spPr>
        </p:sp>
        <p:sp>
          <p:nvSpPr>
            <p:cNvPr id="92" name="Freeform 92"/>
            <p:cNvSpPr/>
            <p:nvPr/>
          </p:nvSpPr>
          <p:spPr>
            <a:xfrm>
              <a:off x="3048000" y="2257425"/>
              <a:ext cx="57150" cy="57150"/>
            </a:xfrm>
            <a:custGeom>
              <a:avLst/>
              <a:gdLst/>
              <a:ahLst/>
              <a:cxnLst/>
              <a:rect l="l" t="t" r="r" b="b"/>
              <a:pathLst>
                <a:path w="57150" h="57150">
                  <a:moveTo>
                    <a:pt x="0" y="0"/>
                  </a:moveTo>
                  <a:lnTo>
                    <a:pt x="57150" y="28575"/>
                  </a:lnTo>
                  <a:lnTo>
                    <a:pt x="0" y="57150"/>
                  </a:lnTo>
                  <a:close/>
                </a:path>
              </a:pathLst>
            </a:custGeom>
            <a:solidFill>
              <a:srgbClr val="69281B"/>
            </a:solidFill>
            <a:ln>
              <a:noFill/>
            </a:ln>
          </p:spPr>
        </p:sp>
        <p:sp>
          <p:nvSpPr>
            <p:cNvPr id="93" name="Line 93"/>
            <p:cNvSpPr/>
            <p:nvPr/>
          </p:nvSpPr>
          <p:spPr>
            <a:xfrm>
              <a:off x="990600" y="2667000"/>
              <a:ext cx="247650" cy="9525"/>
            </a:xfrm>
            <a:custGeom>
              <a:avLst/>
              <a:gdLst/>
              <a:ahLst/>
              <a:cxnLst/>
              <a:rect l="l" t="t" r="r" b="b"/>
              <a:pathLst>
                <a:path w="247650" h="9525">
                  <a:moveTo>
                    <a:pt x="247650" y="0"/>
                  </a:moveTo>
                  <a:lnTo>
                    <a:pt x="0" y="0"/>
                  </a:lnTo>
                </a:path>
              </a:pathLst>
            </a:custGeom>
            <a:noFill/>
            <a:ln w="11430">
              <a:solidFill>
                <a:srgbClr val="E04C2E"/>
              </a:solidFill>
            </a:ln>
          </p:spPr>
        </p:sp>
        <p:sp>
          <p:nvSpPr>
            <p:cNvPr id="94" name="Freeform 94"/>
            <p:cNvSpPr/>
            <p:nvPr/>
          </p:nvSpPr>
          <p:spPr>
            <a:xfrm>
              <a:off x="952500" y="2638425"/>
              <a:ext cx="57150" cy="57150"/>
            </a:xfrm>
            <a:custGeom>
              <a:avLst/>
              <a:gdLst/>
              <a:ahLst/>
              <a:cxnLst/>
              <a:rect l="l" t="t" r="r" b="b"/>
              <a:pathLst>
                <a:path w="57150" h="57150">
                  <a:moveTo>
                    <a:pt x="57150" y="0"/>
                  </a:moveTo>
                  <a:lnTo>
                    <a:pt x="0" y="28575"/>
                  </a:lnTo>
                  <a:lnTo>
                    <a:pt x="57150" y="57150"/>
                  </a:lnTo>
                  <a:close/>
                </a:path>
              </a:pathLst>
            </a:custGeom>
            <a:solidFill>
              <a:srgbClr val="E04C2E"/>
            </a:solidFill>
            <a:ln>
              <a:noFill/>
            </a:ln>
          </p:spPr>
        </p:sp>
        <p:sp>
          <p:nvSpPr>
            <p:cNvPr id="95" name="TextBox 95"/>
            <p:cNvSpPr txBox="1"/>
            <p:nvPr/>
          </p:nvSpPr>
          <p:spPr>
            <a:xfrm>
              <a:off x="988579" y="3006328"/>
              <a:ext cx="270742" cy="111919"/>
            </a:xfrm>
            <a:prstGeom prst="rect">
              <a:avLst/>
            </a:prstGeom>
            <a:noFill/>
            <a:ln>
              <a:noFill/>
            </a:ln>
          </p:spPr>
          <p:txBody>
            <a:bodyPr wrap="none" lIns="0" tIns="0" rIns="0" bIns="0" anchor="t" anchorCtr="0">
              <a:spAutoFit/>
            </a:bodyPr>
            <a:lstStyle/>
            <a:p>
              <a:pPr algn="ctr"/>
              <a:r>
                <a:rPr lang="zh-CN" sz="560" b="1" dirty="0">
                  <a:solidFill>
                    <a:srgbClr val="E04C2E"/>
                  </a:solidFill>
                  <a:latin typeface="+mn-lt"/>
                  <a:ea typeface="+mn-ea"/>
                  <a:cs typeface="+mn-cs"/>
                </a:rPr>
                <a:t>26.54​</a:t>
              </a:r>
            </a:p>
          </p:txBody>
        </p:sp>
        <p:sp>
          <p:nvSpPr>
            <p:cNvPr id="96" name="Line 96"/>
            <p:cNvSpPr/>
            <p:nvPr/>
          </p:nvSpPr>
          <p:spPr>
            <a:xfrm>
              <a:off x="1905000" y="2667000"/>
              <a:ext cx="247650" cy="9525"/>
            </a:xfrm>
            <a:custGeom>
              <a:avLst/>
              <a:gdLst/>
              <a:ahLst/>
              <a:cxnLst/>
              <a:rect l="l" t="t" r="r" b="b"/>
              <a:pathLst>
                <a:path w="247650" h="9525">
                  <a:moveTo>
                    <a:pt x="247650" y="0"/>
                  </a:moveTo>
                  <a:lnTo>
                    <a:pt x="0" y="0"/>
                  </a:lnTo>
                </a:path>
              </a:pathLst>
            </a:custGeom>
            <a:noFill/>
            <a:ln w="11430">
              <a:solidFill>
                <a:srgbClr val="E04C2E"/>
              </a:solidFill>
            </a:ln>
          </p:spPr>
        </p:sp>
        <p:sp>
          <p:nvSpPr>
            <p:cNvPr id="97" name="Freeform 97"/>
            <p:cNvSpPr/>
            <p:nvPr/>
          </p:nvSpPr>
          <p:spPr>
            <a:xfrm>
              <a:off x="1866900" y="2638425"/>
              <a:ext cx="57150" cy="57150"/>
            </a:xfrm>
            <a:custGeom>
              <a:avLst/>
              <a:gdLst/>
              <a:ahLst/>
              <a:cxnLst/>
              <a:rect l="l" t="t" r="r" b="b"/>
              <a:pathLst>
                <a:path w="57150" h="57150">
                  <a:moveTo>
                    <a:pt x="57150" y="0"/>
                  </a:moveTo>
                  <a:lnTo>
                    <a:pt x="0" y="28575"/>
                  </a:lnTo>
                  <a:lnTo>
                    <a:pt x="57150" y="57150"/>
                  </a:lnTo>
                  <a:close/>
                </a:path>
              </a:pathLst>
            </a:custGeom>
            <a:solidFill>
              <a:srgbClr val="E04C2E"/>
            </a:solidFill>
            <a:ln>
              <a:noFill/>
            </a:ln>
          </p:spPr>
        </p:sp>
        <p:sp>
          <p:nvSpPr>
            <p:cNvPr id="98" name="TextBox 98"/>
            <p:cNvSpPr txBox="1"/>
            <p:nvPr/>
          </p:nvSpPr>
          <p:spPr>
            <a:xfrm>
              <a:off x="1924747" y="3006328"/>
              <a:ext cx="227206" cy="111919"/>
            </a:xfrm>
            <a:prstGeom prst="rect">
              <a:avLst/>
            </a:prstGeom>
            <a:noFill/>
            <a:ln>
              <a:noFill/>
            </a:ln>
          </p:spPr>
          <p:txBody>
            <a:bodyPr wrap="none" lIns="0" tIns="0" rIns="0" bIns="0" anchor="t" anchorCtr="0">
              <a:spAutoFit/>
            </a:bodyPr>
            <a:lstStyle/>
            <a:p>
              <a:pPr algn="ctr"/>
              <a:r>
                <a:rPr lang="zh-CN" sz="560" b="1" dirty="0">
                  <a:solidFill>
                    <a:srgbClr val="E04C2E"/>
                  </a:solidFill>
                  <a:latin typeface="+mn-lt"/>
                  <a:ea typeface="+mn-ea"/>
                  <a:cs typeface="+mn-cs"/>
                </a:rPr>
                <a:t>3.58​</a:t>
              </a:r>
            </a:p>
          </p:txBody>
        </p:sp>
        <p:sp>
          <p:nvSpPr>
            <p:cNvPr id="99" name="Line 99"/>
            <p:cNvSpPr/>
            <p:nvPr/>
          </p:nvSpPr>
          <p:spPr>
            <a:xfrm>
              <a:off x="2819400" y="2667000"/>
              <a:ext cx="247650" cy="9525"/>
            </a:xfrm>
            <a:custGeom>
              <a:avLst/>
              <a:gdLst/>
              <a:ahLst/>
              <a:cxnLst/>
              <a:rect l="l" t="t" r="r" b="b"/>
              <a:pathLst>
                <a:path w="247650" h="9525">
                  <a:moveTo>
                    <a:pt x="247650" y="0"/>
                  </a:moveTo>
                  <a:lnTo>
                    <a:pt x="0" y="0"/>
                  </a:lnTo>
                </a:path>
              </a:pathLst>
            </a:custGeom>
            <a:noFill/>
            <a:ln w="11430">
              <a:solidFill>
                <a:srgbClr val="E04C2E"/>
              </a:solidFill>
            </a:ln>
          </p:spPr>
        </p:sp>
        <p:sp>
          <p:nvSpPr>
            <p:cNvPr id="100" name="Freeform 100"/>
            <p:cNvSpPr/>
            <p:nvPr/>
          </p:nvSpPr>
          <p:spPr>
            <a:xfrm>
              <a:off x="2781300" y="2638425"/>
              <a:ext cx="57150" cy="57150"/>
            </a:xfrm>
            <a:custGeom>
              <a:avLst/>
              <a:gdLst/>
              <a:ahLst/>
              <a:cxnLst/>
              <a:rect l="l" t="t" r="r" b="b"/>
              <a:pathLst>
                <a:path w="57150" h="57150">
                  <a:moveTo>
                    <a:pt x="57150" y="0"/>
                  </a:moveTo>
                  <a:lnTo>
                    <a:pt x="0" y="28575"/>
                  </a:lnTo>
                  <a:lnTo>
                    <a:pt x="57150" y="57150"/>
                  </a:lnTo>
                  <a:close/>
                </a:path>
              </a:pathLst>
            </a:custGeom>
            <a:solidFill>
              <a:srgbClr val="E04C2E"/>
            </a:solidFill>
            <a:ln>
              <a:noFill/>
            </a:ln>
          </p:spPr>
        </p:sp>
        <p:sp>
          <p:nvSpPr>
            <p:cNvPr id="101" name="TextBox 101"/>
            <p:cNvSpPr txBox="1"/>
            <p:nvPr/>
          </p:nvSpPr>
          <p:spPr>
            <a:xfrm>
              <a:off x="2839147" y="3006328"/>
              <a:ext cx="227206" cy="111919"/>
            </a:xfrm>
            <a:prstGeom prst="rect">
              <a:avLst/>
            </a:prstGeom>
            <a:noFill/>
            <a:ln>
              <a:noFill/>
            </a:ln>
          </p:spPr>
          <p:txBody>
            <a:bodyPr wrap="none" lIns="0" tIns="0" rIns="0" bIns="0" anchor="t" anchorCtr="0">
              <a:spAutoFit/>
            </a:bodyPr>
            <a:lstStyle/>
            <a:p>
              <a:pPr algn="ctr"/>
              <a:r>
                <a:rPr lang="zh-CN" sz="560" b="1" dirty="0">
                  <a:solidFill>
                    <a:srgbClr val="E04C2E"/>
                  </a:solidFill>
                  <a:latin typeface="+mn-lt"/>
                  <a:ea typeface="+mn-ea"/>
                  <a:cs typeface="+mn-cs"/>
                </a:rPr>
                <a:t>1.22​</a:t>
              </a:r>
            </a:p>
          </p:txBody>
        </p:sp>
        <p:sp>
          <p:nvSpPr>
            <p:cNvPr id="102" name="TextBox 102"/>
            <p:cNvSpPr txBox="1"/>
            <p:nvPr/>
          </p:nvSpPr>
          <p:spPr>
            <a:xfrm>
              <a:off x="1209309" y="1848326"/>
              <a:ext cx="1658082" cy="104775"/>
            </a:xfrm>
            <a:prstGeom prst="rect">
              <a:avLst/>
            </a:prstGeom>
            <a:noFill/>
            <a:ln>
              <a:noFill/>
            </a:ln>
          </p:spPr>
          <p:txBody>
            <a:bodyPr wrap="none" lIns="0" tIns="0" rIns="0" bIns="0" anchor="t" anchorCtr="0">
              <a:spAutoFit/>
            </a:bodyPr>
            <a:lstStyle/>
            <a:p>
              <a:pPr algn="ctr"/>
              <a:r>
                <a:rPr lang="zh-CN" sz="520" dirty="0">
                  <a:solidFill>
                    <a:srgbClr val="BEA09A"/>
                  </a:solidFill>
                  <a:latin typeface="+mn-lt"/>
                  <a:ea typeface="+mn-ea"/>
                  <a:cs typeface="+mn-cs"/>
                </a:rPr>
                <a:t>上排：迁徙至下一级发生额　下排：回迁/核销回收额</a:t>
              </a:r>
            </a:p>
          </p:txBody>
        </p:sp>
        <p:sp>
          <p:nvSpPr>
            <p:cNvPr id="103" name="Rectangle 103"/>
            <p:cNvSpPr/>
            <p:nvPr/>
          </p:nvSpPr>
          <p:spPr>
            <a:xfrm>
              <a:off x="323850" y="3162300"/>
              <a:ext cx="3390900" cy="190500"/>
            </a:xfrm>
            <a:prstGeom prst="rect">
              <a:avLst/>
            </a:prstGeom>
            <a:solidFill>
              <a:srgbClr val="EAF1FB"/>
            </a:solidFill>
            <a:ln>
              <a:noFill/>
            </a:ln>
          </p:spPr>
        </p:sp>
        <p:sp>
          <p:nvSpPr>
            <p:cNvPr id="104" name="TextBox 104"/>
            <p:cNvSpPr txBox="1"/>
            <p:nvPr/>
          </p:nvSpPr>
          <p:spPr>
            <a:xfrm>
              <a:off x="376238" y="3232499"/>
              <a:ext cx="556082" cy="116205"/>
            </a:xfrm>
            <a:prstGeom prst="rect">
              <a:avLst/>
            </a:prstGeom>
            <a:noFill/>
            <a:ln>
              <a:noFill/>
            </a:ln>
          </p:spPr>
          <p:txBody>
            <a:bodyPr wrap="none" lIns="0" tIns="0" rIns="0" bIns="0" anchor="t" anchorCtr="0">
              <a:spAutoFit/>
            </a:bodyPr>
            <a:lstStyle/>
            <a:p>
              <a:pPr algn="l"/>
              <a:r>
                <a:rPr lang="zh-CN" sz="580" b="1" dirty="0">
                  <a:solidFill>
                    <a:srgbClr val="69281B"/>
                  </a:solidFill>
                  <a:latin typeface="+mn-lt"/>
                  <a:ea typeface="+mn-ea"/>
                  <a:cs typeface="+mn-cs"/>
                </a:rPr>
                <a:t>（单位：亿元）</a:t>
              </a:r>
            </a:p>
          </p:txBody>
        </p:sp>
        <p:sp>
          <p:nvSpPr>
            <p:cNvPr id="105" name="TextBox 105"/>
            <p:cNvSpPr txBox="1"/>
            <p:nvPr/>
          </p:nvSpPr>
          <p:spPr>
            <a:xfrm>
              <a:off x="963028" y="3232499"/>
              <a:ext cx="321843" cy="116205"/>
            </a:xfrm>
            <a:prstGeom prst="rect">
              <a:avLst/>
            </a:prstGeom>
            <a:noFill/>
            <a:ln>
              <a:noFill/>
            </a:ln>
          </p:spPr>
          <p:txBody>
            <a:bodyPr wrap="none" lIns="0" tIns="0" rIns="0" bIns="0" anchor="t" anchorCtr="0">
              <a:spAutoFit/>
            </a:bodyPr>
            <a:lstStyle/>
            <a:p>
              <a:pPr algn="ctr"/>
              <a:r>
                <a:rPr lang="zh-CN" sz="580" b="1" dirty="0">
                  <a:solidFill>
                    <a:srgbClr val="69281B"/>
                  </a:solidFill>
                  <a:latin typeface="+mn-lt"/>
                  <a:ea typeface="+mn-ea"/>
                  <a:cs typeface="+mn-cs"/>
                </a:rPr>
                <a:t>期初余额</a:t>
              </a:r>
            </a:p>
          </p:txBody>
        </p:sp>
        <p:sp>
          <p:nvSpPr>
            <p:cNvPr id="106" name="TextBox 106"/>
            <p:cNvSpPr txBox="1"/>
            <p:nvPr/>
          </p:nvSpPr>
          <p:spPr>
            <a:xfrm>
              <a:off x="1479258" y="3232499"/>
              <a:ext cx="165684" cy="116205"/>
            </a:xfrm>
            <a:prstGeom prst="rect">
              <a:avLst/>
            </a:prstGeom>
            <a:noFill/>
            <a:ln>
              <a:noFill/>
            </a:ln>
          </p:spPr>
          <p:txBody>
            <a:bodyPr wrap="none" lIns="0" tIns="0" rIns="0" bIns="0" anchor="t" anchorCtr="0">
              <a:spAutoFit/>
            </a:bodyPr>
            <a:lstStyle/>
            <a:p>
              <a:pPr algn="ctr"/>
              <a:r>
                <a:rPr lang="zh-CN" sz="580" b="1" dirty="0">
                  <a:solidFill>
                    <a:srgbClr val="69281B"/>
                  </a:solidFill>
                  <a:latin typeface="+mn-lt"/>
                  <a:ea typeface="+mn-ea"/>
                  <a:cs typeface="+mn-cs"/>
                </a:rPr>
                <a:t>迁入</a:t>
              </a:r>
            </a:p>
          </p:txBody>
        </p:sp>
        <p:sp>
          <p:nvSpPr>
            <p:cNvPr id="107" name="TextBox 107"/>
            <p:cNvSpPr txBox="1"/>
            <p:nvPr/>
          </p:nvSpPr>
          <p:spPr>
            <a:xfrm>
              <a:off x="1879308" y="3232499"/>
              <a:ext cx="165684" cy="116205"/>
            </a:xfrm>
            <a:prstGeom prst="rect">
              <a:avLst/>
            </a:prstGeom>
            <a:noFill/>
            <a:ln>
              <a:noFill/>
            </a:ln>
          </p:spPr>
          <p:txBody>
            <a:bodyPr wrap="none" lIns="0" tIns="0" rIns="0" bIns="0" anchor="t" anchorCtr="0">
              <a:spAutoFit/>
            </a:bodyPr>
            <a:lstStyle/>
            <a:p>
              <a:pPr algn="ctr"/>
              <a:r>
                <a:rPr lang="zh-CN" sz="580" b="1" dirty="0">
                  <a:solidFill>
                    <a:srgbClr val="69281B"/>
                  </a:solidFill>
                  <a:latin typeface="+mn-lt"/>
                  <a:ea typeface="+mn-ea"/>
                  <a:cs typeface="+mn-cs"/>
                </a:rPr>
                <a:t>迁出</a:t>
              </a:r>
            </a:p>
          </p:txBody>
        </p:sp>
        <p:sp>
          <p:nvSpPr>
            <p:cNvPr id="108" name="TextBox 108"/>
            <p:cNvSpPr txBox="1"/>
            <p:nvPr/>
          </p:nvSpPr>
          <p:spPr>
            <a:xfrm>
              <a:off x="2277478" y="3232499"/>
              <a:ext cx="321843" cy="116205"/>
            </a:xfrm>
            <a:prstGeom prst="rect">
              <a:avLst/>
            </a:prstGeom>
            <a:noFill/>
            <a:ln>
              <a:noFill/>
            </a:ln>
          </p:spPr>
          <p:txBody>
            <a:bodyPr wrap="none" lIns="0" tIns="0" rIns="0" bIns="0" anchor="t" anchorCtr="0">
              <a:spAutoFit/>
            </a:bodyPr>
            <a:lstStyle/>
            <a:p>
              <a:pPr algn="ctr"/>
              <a:r>
                <a:rPr lang="zh-CN" sz="580" b="1" dirty="0">
                  <a:solidFill>
                    <a:srgbClr val="69281B"/>
                  </a:solidFill>
                  <a:latin typeface="+mn-lt"/>
                  <a:ea typeface="+mn-ea"/>
                  <a:cs typeface="+mn-cs"/>
                </a:rPr>
                <a:t>期末余额</a:t>
              </a:r>
            </a:p>
          </p:txBody>
        </p:sp>
        <p:sp>
          <p:nvSpPr>
            <p:cNvPr id="109" name="TextBox 109"/>
            <p:cNvSpPr txBox="1"/>
            <p:nvPr/>
          </p:nvSpPr>
          <p:spPr>
            <a:xfrm>
              <a:off x="2850858" y="3232499"/>
              <a:ext cx="165684" cy="116205"/>
            </a:xfrm>
            <a:prstGeom prst="rect">
              <a:avLst/>
            </a:prstGeom>
            <a:noFill/>
            <a:ln>
              <a:noFill/>
            </a:ln>
          </p:spPr>
          <p:txBody>
            <a:bodyPr wrap="none" lIns="0" tIns="0" rIns="0" bIns="0" anchor="t" anchorCtr="0">
              <a:spAutoFit/>
            </a:bodyPr>
            <a:lstStyle/>
            <a:p>
              <a:pPr algn="ctr"/>
              <a:r>
                <a:rPr lang="zh-CN" sz="580" b="1" dirty="0">
                  <a:solidFill>
                    <a:srgbClr val="69281B"/>
                  </a:solidFill>
                  <a:latin typeface="+mn-lt"/>
                  <a:ea typeface="+mn-ea"/>
                  <a:cs typeface="+mn-cs"/>
                </a:rPr>
                <a:t>占比</a:t>
              </a:r>
            </a:p>
          </p:txBody>
        </p:sp>
        <p:sp>
          <p:nvSpPr>
            <p:cNvPr id="110" name="TextBox 110"/>
            <p:cNvSpPr txBox="1"/>
            <p:nvPr/>
          </p:nvSpPr>
          <p:spPr>
            <a:xfrm>
              <a:off x="3229038" y="3232499"/>
              <a:ext cx="399923" cy="116205"/>
            </a:xfrm>
            <a:prstGeom prst="rect">
              <a:avLst/>
            </a:prstGeom>
            <a:noFill/>
            <a:ln>
              <a:noFill/>
            </a:ln>
          </p:spPr>
          <p:txBody>
            <a:bodyPr wrap="none" lIns="0" tIns="0" rIns="0" bIns="0" anchor="t" anchorCtr="0">
              <a:spAutoFit/>
            </a:bodyPr>
            <a:lstStyle/>
            <a:p>
              <a:pPr algn="ctr"/>
              <a:r>
                <a:rPr lang="zh-CN" sz="580" b="1" dirty="0">
                  <a:solidFill>
                    <a:srgbClr val="69281B"/>
                  </a:solidFill>
                  <a:latin typeface="+mn-lt"/>
                  <a:ea typeface="+mn-ea"/>
                  <a:cs typeface="+mn-cs"/>
                </a:rPr>
                <a:t>较年初变动</a:t>
              </a:r>
            </a:p>
          </p:txBody>
        </p:sp>
        <p:sp>
          <p:nvSpPr>
            <p:cNvPr id="111" name="TextBox 111"/>
            <p:cNvSpPr txBox="1"/>
            <p:nvPr/>
          </p:nvSpPr>
          <p:spPr>
            <a:xfrm>
              <a:off x="376238" y="3455432"/>
              <a:ext cx="181839" cy="126206"/>
            </a:xfrm>
            <a:prstGeom prst="rect">
              <a:avLst/>
            </a:prstGeom>
            <a:noFill/>
            <a:ln>
              <a:noFill/>
            </a:ln>
          </p:spPr>
          <p:txBody>
            <a:bodyPr wrap="none" lIns="0" tIns="0" rIns="0" bIns="0" anchor="t" anchorCtr="0">
              <a:spAutoFit/>
            </a:bodyPr>
            <a:lstStyle/>
            <a:p>
              <a:pPr algn="l"/>
              <a:r>
                <a:rPr lang="zh-CN" sz="640" dirty="0">
                  <a:solidFill>
                    <a:srgbClr val="5F3A33"/>
                  </a:solidFill>
                  <a:latin typeface="+mn-lt"/>
                  <a:ea typeface="+mn-ea"/>
                  <a:cs typeface="+mn-cs"/>
                </a:rPr>
                <a:t>正常</a:t>
              </a:r>
            </a:p>
          </p:txBody>
        </p:sp>
        <p:sp>
          <p:nvSpPr>
            <p:cNvPr id="112" name="TextBox 112"/>
            <p:cNvSpPr txBox="1"/>
            <p:nvPr/>
          </p:nvSpPr>
          <p:spPr>
            <a:xfrm>
              <a:off x="905949" y="3455432"/>
              <a:ext cx="436001"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1,248.60​</a:t>
              </a:r>
            </a:p>
          </p:txBody>
        </p:sp>
        <p:sp>
          <p:nvSpPr>
            <p:cNvPr id="113" name="TextBox 113"/>
            <p:cNvSpPr txBox="1"/>
            <p:nvPr/>
          </p:nvSpPr>
          <p:spPr>
            <a:xfrm>
              <a:off x="1533644" y="3455432"/>
              <a:ext cx="56911"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a:t>
              </a:r>
            </a:p>
          </p:txBody>
        </p:sp>
        <p:sp>
          <p:nvSpPr>
            <p:cNvPr id="114" name="TextBox 114"/>
            <p:cNvSpPr txBox="1"/>
            <p:nvPr/>
          </p:nvSpPr>
          <p:spPr>
            <a:xfrm>
              <a:off x="1815229" y="3455432"/>
              <a:ext cx="2938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18.27​</a:t>
              </a:r>
            </a:p>
          </p:txBody>
        </p:sp>
        <p:sp>
          <p:nvSpPr>
            <p:cNvPr id="115" name="TextBox 115"/>
            <p:cNvSpPr txBox="1"/>
            <p:nvPr/>
          </p:nvSpPr>
          <p:spPr>
            <a:xfrm>
              <a:off x="2220399" y="3455432"/>
              <a:ext cx="436001"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1,256.87​</a:t>
              </a:r>
            </a:p>
          </p:txBody>
        </p:sp>
        <p:sp>
          <p:nvSpPr>
            <p:cNvPr id="116" name="TextBox 116"/>
            <p:cNvSpPr txBox="1"/>
            <p:nvPr/>
          </p:nvSpPr>
          <p:spPr>
            <a:xfrm>
              <a:off x="2754470" y="3455432"/>
              <a:ext cx="35846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97.20%​</a:t>
              </a:r>
            </a:p>
          </p:txBody>
        </p:sp>
        <p:sp>
          <p:nvSpPr>
            <p:cNvPr id="117" name="TextBox 117"/>
            <p:cNvSpPr txBox="1"/>
            <p:nvPr/>
          </p:nvSpPr>
          <p:spPr>
            <a:xfrm>
              <a:off x="3274971" y="3455432"/>
              <a:ext cx="308058" cy="126206"/>
            </a:xfrm>
            <a:prstGeom prst="rect">
              <a:avLst/>
            </a:prstGeom>
            <a:noFill/>
            <a:ln>
              <a:noFill/>
            </a:ln>
          </p:spPr>
          <p:txBody>
            <a:bodyPr wrap="none" lIns="0" tIns="0" rIns="0" bIns="0" anchor="t" anchorCtr="0">
              <a:spAutoFit/>
            </a:bodyPr>
            <a:lstStyle/>
            <a:p>
              <a:pPr algn="ctr"/>
              <a:r>
                <a:rPr lang="zh-CN" sz="640" b="1" dirty="0">
                  <a:solidFill>
                    <a:srgbClr val="9E402E"/>
                  </a:solidFill>
                  <a:latin typeface="+mn-lt"/>
                  <a:ea typeface="+mn-ea"/>
                  <a:cs typeface="+mn-cs"/>
                </a:rPr>
                <a:t>+8.27​</a:t>
              </a:r>
            </a:p>
          </p:txBody>
        </p:sp>
        <p:sp>
          <p:nvSpPr>
            <p:cNvPr id="118" name="Line 118"/>
            <p:cNvSpPr/>
            <p:nvPr/>
          </p:nvSpPr>
          <p:spPr>
            <a:xfrm>
              <a:off x="323850" y="3600450"/>
              <a:ext cx="3390900" cy="9525"/>
            </a:xfrm>
            <a:custGeom>
              <a:avLst/>
              <a:gdLst/>
              <a:ahLst/>
              <a:cxnLst/>
              <a:rect l="l" t="t" r="r" b="b"/>
              <a:pathLst>
                <a:path w="3390900" h="9525">
                  <a:moveTo>
                    <a:pt x="0" y="0"/>
                  </a:moveTo>
                  <a:lnTo>
                    <a:pt x="3390900" y="0"/>
                  </a:lnTo>
                </a:path>
              </a:pathLst>
            </a:custGeom>
            <a:noFill/>
            <a:ln w="9525">
              <a:solidFill>
                <a:srgbClr val="EDF2FA"/>
              </a:solidFill>
            </a:ln>
          </p:spPr>
        </p:sp>
        <p:sp>
          <p:nvSpPr>
            <p:cNvPr id="119" name="TextBox 119"/>
            <p:cNvSpPr txBox="1"/>
            <p:nvPr/>
          </p:nvSpPr>
          <p:spPr>
            <a:xfrm>
              <a:off x="376238" y="3703082"/>
              <a:ext cx="181839" cy="126206"/>
            </a:xfrm>
            <a:prstGeom prst="rect">
              <a:avLst/>
            </a:prstGeom>
            <a:noFill/>
            <a:ln>
              <a:noFill/>
            </a:ln>
          </p:spPr>
          <p:txBody>
            <a:bodyPr wrap="none" lIns="0" tIns="0" rIns="0" bIns="0" anchor="t" anchorCtr="0">
              <a:spAutoFit/>
            </a:bodyPr>
            <a:lstStyle/>
            <a:p>
              <a:pPr algn="l"/>
              <a:r>
                <a:rPr lang="zh-CN" sz="640" dirty="0">
                  <a:solidFill>
                    <a:srgbClr val="5F3A33"/>
                  </a:solidFill>
                  <a:latin typeface="+mn-lt"/>
                  <a:ea typeface="+mn-ea"/>
                  <a:cs typeface="+mn-cs"/>
                </a:rPr>
                <a:t>关注</a:t>
              </a:r>
            </a:p>
          </p:txBody>
        </p:sp>
        <p:sp>
          <p:nvSpPr>
            <p:cNvPr id="120" name="TextBox 120"/>
            <p:cNvSpPr txBox="1"/>
            <p:nvPr/>
          </p:nvSpPr>
          <p:spPr>
            <a:xfrm>
              <a:off x="977029" y="3703082"/>
              <a:ext cx="2938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17.92​</a:t>
              </a:r>
            </a:p>
          </p:txBody>
        </p:sp>
        <p:sp>
          <p:nvSpPr>
            <p:cNvPr id="121" name="TextBox 121"/>
            <p:cNvSpPr txBox="1"/>
            <p:nvPr/>
          </p:nvSpPr>
          <p:spPr>
            <a:xfrm>
              <a:off x="1415179" y="3703082"/>
              <a:ext cx="2938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18.27​</a:t>
              </a:r>
            </a:p>
          </p:txBody>
        </p:sp>
        <p:sp>
          <p:nvSpPr>
            <p:cNvPr id="122" name="TextBox 122"/>
            <p:cNvSpPr txBox="1"/>
            <p:nvPr/>
          </p:nvSpPr>
          <p:spPr>
            <a:xfrm>
              <a:off x="1815229" y="3703082"/>
              <a:ext cx="2938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22.11​</a:t>
              </a:r>
            </a:p>
          </p:txBody>
        </p:sp>
        <p:sp>
          <p:nvSpPr>
            <p:cNvPr id="123" name="TextBox 123"/>
            <p:cNvSpPr txBox="1"/>
            <p:nvPr/>
          </p:nvSpPr>
          <p:spPr>
            <a:xfrm>
              <a:off x="2291479" y="3703082"/>
              <a:ext cx="2938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14.08​</a:t>
              </a:r>
            </a:p>
          </p:txBody>
        </p:sp>
        <p:sp>
          <p:nvSpPr>
            <p:cNvPr id="124" name="TextBox 124"/>
            <p:cNvSpPr txBox="1"/>
            <p:nvPr/>
          </p:nvSpPr>
          <p:spPr>
            <a:xfrm>
              <a:off x="2778163" y="3703082"/>
              <a:ext cx="31107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1.09%​</a:t>
              </a:r>
            </a:p>
          </p:txBody>
        </p:sp>
        <p:sp>
          <p:nvSpPr>
            <p:cNvPr id="125" name="TextBox 125"/>
            <p:cNvSpPr txBox="1"/>
            <p:nvPr/>
          </p:nvSpPr>
          <p:spPr>
            <a:xfrm>
              <a:off x="3274971" y="3703082"/>
              <a:ext cx="308058" cy="126206"/>
            </a:xfrm>
            <a:prstGeom prst="rect">
              <a:avLst/>
            </a:prstGeom>
            <a:noFill/>
            <a:ln>
              <a:noFill/>
            </a:ln>
          </p:spPr>
          <p:txBody>
            <a:bodyPr wrap="none" lIns="0" tIns="0" rIns="0" bIns="0" anchor="t" anchorCtr="0">
              <a:spAutoFit/>
            </a:bodyPr>
            <a:lstStyle/>
            <a:p>
              <a:pPr algn="ctr"/>
              <a:r>
                <a:rPr lang="zh-CN" sz="640" b="1" dirty="0">
                  <a:solidFill>
                    <a:srgbClr val="9E402E"/>
                  </a:solidFill>
                  <a:latin typeface="+mn-lt"/>
                  <a:ea typeface="+mn-ea"/>
                  <a:cs typeface="+mn-cs"/>
                </a:rPr>
                <a:t>-3.84​</a:t>
              </a:r>
            </a:p>
          </p:txBody>
        </p:sp>
        <p:sp>
          <p:nvSpPr>
            <p:cNvPr id="126" name="Line 126"/>
            <p:cNvSpPr/>
            <p:nvPr/>
          </p:nvSpPr>
          <p:spPr>
            <a:xfrm>
              <a:off x="323850" y="3848100"/>
              <a:ext cx="3390900" cy="9525"/>
            </a:xfrm>
            <a:custGeom>
              <a:avLst/>
              <a:gdLst/>
              <a:ahLst/>
              <a:cxnLst/>
              <a:rect l="l" t="t" r="r" b="b"/>
              <a:pathLst>
                <a:path w="3390900" h="9525">
                  <a:moveTo>
                    <a:pt x="0" y="0"/>
                  </a:moveTo>
                  <a:lnTo>
                    <a:pt x="3390900" y="0"/>
                  </a:lnTo>
                </a:path>
              </a:pathLst>
            </a:custGeom>
            <a:noFill/>
            <a:ln w="9525">
              <a:solidFill>
                <a:srgbClr val="EDF2FA"/>
              </a:solidFill>
            </a:ln>
          </p:spPr>
        </p:sp>
        <p:sp>
          <p:nvSpPr>
            <p:cNvPr id="127" name="TextBox 127"/>
            <p:cNvSpPr txBox="1"/>
            <p:nvPr/>
          </p:nvSpPr>
          <p:spPr>
            <a:xfrm>
              <a:off x="376238" y="3950732"/>
              <a:ext cx="181839" cy="126206"/>
            </a:xfrm>
            <a:prstGeom prst="rect">
              <a:avLst/>
            </a:prstGeom>
            <a:noFill/>
            <a:ln>
              <a:noFill/>
            </a:ln>
          </p:spPr>
          <p:txBody>
            <a:bodyPr wrap="none" lIns="0" tIns="0" rIns="0" bIns="0" anchor="t" anchorCtr="0">
              <a:spAutoFit/>
            </a:bodyPr>
            <a:lstStyle/>
            <a:p>
              <a:pPr algn="l"/>
              <a:r>
                <a:rPr lang="zh-CN" sz="640" b="1" dirty="0">
                  <a:solidFill>
                    <a:srgbClr val="D0442C"/>
                  </a:solidFill>
                  <a:latin typeface="+mn-lt"/>
                  <a:ea typeface="+mn-ea"/>
                  <a:cs typeface="+mn-cs"/>
                </a:rPr>
                <a:t>不良</a:t>
              </a:r>
            </a:p>
          </p:txBody>
        </p:sp>
        <p:sp>
          <p:nvSpPr>
            <p:cNvPr id="128" name="TextBox 128"/>
            <p:cNvSpPr txBox="1"/>
            <p:nvPr/>
          </p:nvSpPr>
          <p:spPr>
            <a:xfrm>
              <a:off x="977029" y="3950732"/>
              <a:ext cx="2938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11.86​</a:t>
              </a:r>
            </a:p>
          </p:txBody>
        </p:sp>
        <p:sp>
          <p:nvSpPr>
            <p:cNvPr id="129" name="TextBox 129"/>
            <p:cNvSpPr txBox="1"/>
            <p:nvPr/>
          </p:nvSpPr>
          <p:spPr>
            <a:xfrm>
              <a:off x="1438872" y="3950732"/>
              <a:ext cx="246456"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4.31​</a:t>
              </a:r>
            </a:p>
          </p:txBody>
        </p:sp>
        <p:sp>
          <p:nvSpPr>
            <p:cNvPr id="130" name="TextBox 130"/>
            <p:cNvSpPr txBox="1"/>
            <p:nvPr/>
          </p:nvSpPr>
          <p:spPr>
            <a:xfrm>
              <a:off x="1838922" y="3950732"/>
              <a:ext cx="246456"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5.53​</a:t>
              </a:r>
            </a:p>
          </p:txBody>
        </p:sp>
        <p:sp>
          <p:nvSpPr>
            <p:cNvPr id="131" name="TextBox 131"/>
            <p:cNvSpPr txBox="1"/>
            <p:nvPr/>
          </p:nvSpPr>
          <p:spPr>
            <a:xfrm>
              <a:off x="2291479" y="3950732"/>
              <a:ext cx="2938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10.64​</a:t>
              </a:r>
            </a:p>
          </p:txBody>
        </p:sp>
        <p:sp>
          <p:nvSpPr>
            <p:cNvPr id="132" name="TextBox 132"/>
            <p:cNvSpPr txBox="1"/>
            <p:nvPr/>
          </p:nvSpPr>
          <p:spPr>
            <a:xfrm>
              <a:off x="2778163" y="3950732"/>
              <a:ext cx="31107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0.82%​</a:t>
              </a:r>
            </a:p>
          </p:txBody>
        </p:sp>
        <p:sp>
          <p:nvSpPr>
            <p:cNvPr id="133" name="TextBox 133"/>
            <p:cNvSpPr txBox="1"/>
            <p:nvPr/>
          </p:nvSpPr>
          <p:spPr>
            <a:xfrm>
              <a:off x="3274971" y="3950732"/>
              <a:ext cx="308058" cy="126206"/>
            </a:xfrm>
            <a:prstGeom prst="rect">
              <a:avLst/>
            </a:prstGeom>
            <a:noFill/>
            <a:ln>
              <a:noFill/>
            </a:ln>
          </p:spPr>
          <p:txBody>
            <a:bodyPr wrap="none" lIns="0" tIns="0" rIns="0" bIns="0" anchor="t" anchorCtr="0">
              <a:spAutoFit/>
            </a:bodyPr>
            <a:lstStyle/>
            <a:p>
              <a:pPr algn="ctr"/>
              <a:r>
                <a:rPr lang="zh-CN" sz="640" b="1" dirty="0">
                  <a:solidFill>
                    <a:srgbClr val="9E402E"/>
                  </a:solidFill>
                  <a:latin typeface="+mn-lt"/>
                  <a:ea typeface="+mn-ea"/>
                  <a:cs typeface="+mn-cs"/>
                </a:rPr>
                <a:t>-1.22​</a:t>
              </a:r>
            </a:p>
          </p:txBody>
        </p:sp>
        <p:sp>
          <p:nvSpPr>
            <p:cNvPr id="134" name="Line 134"/>
            <p:cNvSpPr/>
            <p:nvPr/>
          </p:nvSpPr>
          <p:spPr>
            <a:xfrm>
              <a:off x="323850" y="4095750"/>
              <a:ext cx="3390900" cy="9525"/>
            </a:xfrm>
            <a:custGeom>
              <a:avLst/>
              <a:gdLst/>
              <a:ahLst/>
              <a:cxnLst/>
              <a:rect l="l" t="t" r="r" b="b"/>
              <a:pathLst>
                <a:path w="3390900" h="9525">
                  <a:moveTo>
                    <a:pt x="0" y="0"/>
                  </a:moveTo>
                  <a:lnTo>
                    <a:pt x="3390900" y="0"/>
                  </a:lnTo>
                </a:path>
              </a:pathLst>
            </a:custGeom>
            <a:noFill/>
            <a:ln w="9525">
              <a:solidFill>
                <a:srgbClr val="EDF2FA"/>
              </a:solidFill>
            </a:ln>
          </p:spPr>
        </p:sp>
        <p:sp>
          <p:nvSpPr>
            <p:cNvPr id="135" name="TextBox 135"/>
            <p:cNvSpPr txBox="1"/>
            <p:nvPr/>
          </p:nvSpPr>
          <p:spPr>
            <a:xfrm>
              <a:off x="376238" y="4198382"/>
              <a:ext cx="354152" cy="126206"/>
            </a:xfrm>
            <a:prstGeom prst="rect">
              <a:avLst/>
            </a:prstGeom>
            <a:noFill/>
            <a:ln>
              <a:noFill/>
            </a:ln>
          </p:spPr>
          <p:txBody>
            <a:bodyPr wrap="none" lIns="0" tIns="0" rIns="0" bIns="0" anchor="t" anchorCtr="0">
              <a:spAutoFit/>
            </a:bodyPr>
            <a:lstStyle/>
            <a:p>
              <a:pPr algn="l"/>
              <a:r>
                <a:rPr lang="zh-CN" sz="640" dirty="0">
                  <a:solidFill>
                    <a:srgbClr val="5F3A33"/>
                  </a:solidFill>
                  <a:latin typeface="+mn-lt"/>
                  <a:ea typeface="+mn-ea"/>
                  <a:cs typeface="+mn-cs"/>
                </a:rPr>
                <a:t>处置回收</a:t>
              </a:r>
            </a:p>
          </p:txBody>
        </p:sp>
        <p:sp>
          <p:nvSpPr>
            <p:cNvPr id="136" name="TextBox 136"/>
            <p:cNvSpPr txBox="1"/>
            <p:nvPr/>
          </p:nvSpPr>
          <p:spPr>
            <a:xfrm>
              <a:off x="977029" y="4198382"/>
              <a:ext cx="2938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22.47​</a:t>
              </a:r>
            </a:p>
          </p:txBody>
        </p:sp>
        <p:sp>
          <p:nvSpPr>
            <p:cNvPr id="137" name="TextBox 137"/>
            <p:cNvSpPr txBox="1"/>
            <p:nvPr/>
          </p:nvSpPr>
          <p:spPr>
            <a:xfrm>
              <a:off x="1438872" y="4198382"/>
              <a:ext cx="246456"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3.60​</a:t>
              </a:r>
            </a:p>
          </p:txBody>
        </p:sp>
        <p:sp>
          <p:nvSpPr>
            <p:cNvPr id="138" name="TextBox 138"/>
            <p:cNvSpPr txBox="1"/>
            <p:nvPr/>
          </p:nvSpPr>
          <p:spPr>
            <a:xfrm>
              <a:off x="1838922" y="4198382"/>
              <a:ext cx="246456"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1.22​</a:t>
              </a:r>
            </a:p>
          </p:txBody>
        </p:sp>
        <p:sp>
          <p:nvSpPr>
            <p:cNvPr id="139" name="TextBox 139"/>
            <p:cNvSpPr txBox="1"/>
            <p:nvPr/>
          </p:nvSpPr>
          <p:spPr>
            <a:xfrm>
              <a:off x="2291479" y="4198382"/>
              <a:ext cx="2938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24.85​</a:t>
              </a:r>
            </a:p>
          </p:txBody>
        </p:sp>
        <p:sp>
          <p:nvSpPr>
            <p:cNvPr id="140" name="TextBox 140"/>
            <p:cNvSpPr txBox="1"/>
            <p:nvPr/>
          </p:nvSpPr>
          <p:spPr>
            <a:xfrm>
              <a:off x="2778163" y="4198382"/>
              <a:ext cx="31107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1.92%​</a:t>
              </a:r>
            </a:p>
          </p:txBody>
        </p:sp>
        <p:sp>
          <p:nvSpPr>
            <p:cNvPr id="141" name="TextBox 141"/>
            <p:cNvSpPr txBox="1"/>
            <p:nvPr/>
          </p:nvSpPr>
          <p:spPr>
            <a:xfrm>
              <a:off x="3274971" y="4198382"/>
              <a:ext cx="308058" cy="126206"/>
            </a:xfrm>
            <a:prstGeom prst="rect">
              <a:avLst/>
            </a:prstGeom>
            <a:noFill/>
            <a:ln>
              <a:noFill/>
            </a:ln>
          </p:spPr>
          <p:txBody>
            <a:bodyPr wrap="none" lIns="0" tIns="0" rIns="0" bIns="0" anchor="t" anchorCtr="0">
              <a:spAutoFit/>
            </a:bodyPr>
            <a:lstStyle/>
            <a:p>
              <a:pPr algn="ctr"/>
              <a:r>
                <a:rPr lang="zh-CN" sz="640" b="1" dirty="0">
                  <a:solidFill>
                    <a:srgbClr val="9E402E"/>
                  </a:solidFill>
                  <a:latin typeface="+mn-lt"/>
                  <a:ea typeface="+mn-ea"/>
                  <a:cs typeface="+mn-cs"/>
                </a:rPr>
                <a:t>+2.38​</a:t>
              </a:r>
            </a:p>
          </p:txBody>
        </p:sp>
        <p:sp>
          <p:nvSpPr>
            <p:cNvPr id="142" name="Line 142"/>
            <p:cNvSpPr/>
            <p:nvPr/>
          </p:nvSpPr>
          <p:spPr>
            <a:xfrm>
              <a:off x="323850" y="4343400"/>
              <a:ext cx="3390900" cy="9525"/>
            </a:xfrm>
            <a:custGeom>
              <a:avLst/>
              <a:gdLst/>
              <a:ahLst/>
              <a:cxnLst/>
              <a:rect l="l" t="t" r="r" b="b"/>
              <a:pathLst>
                <a:path w="3390900" h="9525">
                  <a:moveTo>
                    <a:pt x="0" y="0"/>
                  </a:moveTo>
                  <a:lnTo>
                    <a:pt x="3390900" y="0"/>
                  </a:lnTo>
                </a:path>
              </a:pathLst>
            </a:custGeom>
            <a:noFill/>
            <a:ln w="9525">
              <a:solidFill>
                <a:srgbClr val="C9D6E9"/>
              </a:solidFill>
            </a:ln>
          </p:spPr>
        </p:sp>
        <p:sp>
          <p:nvSpPr>
            <p:cNvPr id="143" name="Rectangle 143"/>
            <p:cNvSpPr/>
            <p:nvPr/>
          </p:nvSpPr>
          <p:spPr>
            <a:xfrm>
              <a:off x="323850" y="4362450"/>
              <a:ext cx="3390900" cy="228600"/>
            </a:xfrm>
            <a:prstGeom prst="rect">
              <a:avLst/>
            </a:prstGeom>
            <a:solidFill>
              <a:srgbClr val="EAF1FB"/>
            </a:solidFill>
            <a:ln>
              <a:noFill/>
            </a:ln>
          </p:spPr>
        </p:sp>
        <p:sp>
          <p:nvSpPr>
            <p:cNvPr id="144" name="TextBox 144"/>
            <p:cNvSpPr txBox="1"/>
            <p:nvPr/>
          </p:nvSpPr>
          <p:spPr>
            <a:xfrm>
              <a:off x="376238" y="4441984"/>
              <a:ext cx="192608" cy="133350"/>
            </a:xfrm>
            <a:prstGeom prst="rect">
              <a:avLst/>
            </a:prstGeom>
            <a:noFill/>
            <a:ln>
              <a:noFill/>
            </a:ln>
          </p:spPr>
          <p:txBody>
            <a:bodyPr wrap="none" lIns="0" tIns="0" rIns="0" bIns="0" anchor="t" anchorCtr="0">
              <a:spAutoFit/>
            </a:bodyPr>
            <a:lstStyle/>
            <a:p>
              <a:pPr algn="l"/>
              <a:r>
                <a:rPr lang="zh-CN" sz="680" b="1" dirty="0">
                  <a:solidFill>
                    <a:srgbClr val="69281B"/>
                  </a:solidFill>
                  <a:latin typeface="+mn-lt"/>
                  <a:ea typeface="+mn-ea"/>
                  <a:cs typeface="+mn-cs"/>
                </a:rPr>
                <a:t>合计</a:t>
              </a:r>
            </a:p>
          </p:txBody>
        </p:sp>
        <p:sp>
          <p:nvSpPr>
            <p:cNvPr id="145" name="TextBox 145"/>
            <p:cNvSpPr txBox="1"/>
            <p:nvPr/>
          </p:nvSpPr>
          <p:spPr>
            <a:xfrm>
              <a:off x="881294" y="4441984"/>
              <a:ext cx="485312"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1,300.85​</a:t>
              </a:r>
            </a:p>
          </p:txBody>
        </p:sp>
        <p:sp>
          <p:nvSpPr>
            <p:cNvPr id="146" name="TextBox 146"/>
            <p:cNvSpPr txBox="1"/>
            <p:nvPr/>
          </p:nvSpPr>
          <p:spPr>
            <a:xfrm>
              <a:off x="1398742" y="4441984"/>
              <a:ext cx="326717"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26.18​</a:t>
              </a:r>
            </a:p>
          </p:txBody>
        </p:sp>
        <p:sp>
          <p:nvSpPr>
            <p:cNvPr id="147" name="TextBox 147"/>
            <p:cNvSpPr txBox="1"/>
            <p:nvPr/>
          </p:nvSpPr>
          <p:spPr>
            <a:xfrm>
              <a:off x="1798792" y="4441984"/>
              <a:ext cx="326717"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47.13​</a:t>
              </a:r>
            </a:p>
          </p:txBody>
        </p:sp>
        <p:sp>
          <p:nvSpPr>
            <p:cNvPr id="148" name="TextBox 148"/>
            <p:cNvSpPr txBox="1"/>
            <p:nvPr/>
          </p:nvSpPr>
          <p:spPr>
            <a:xfrm>
              <a:off x="2195744" y="4441984"/>
              <a:ext cx="485312"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1,306.44​</a:t>
              </a:r>
            </a:p>
          </p:txBody>
        </p:sp>
        <p:sp>
          <p:nvSpPr>
            <p:cNvPr id="149" name="TextBox 149"/>
            <p:cNvSpPr txBox="1"/>
            <p:nvPr/>
          </p:nvSpPr>
          <p:spPr>
            <a:xfrm>
              <a:off x="2707865" y="4441984"/>
              <a:ext cx="45167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100.00%​</a:t>
              </a:r>
            </a:p>
          </p:txBody>
        </p:sp>
        <p:sp>
          <p:nvSpPr>
            <p:cNvPr id="150" name="TextBox 150"/>
            <p:cNvSpPr txBox="1"/>
            <p:nvPr/>
          </p:nvSpPr>
          <p:spPr>
            <a:xfrm>
              <a:off x="3265642" y="4441984"/>
              <a:ext cx="326717" cy="133350"/>
            </a:xfrm>
            <a:prstGeom prst="rect">
              <a:avLst/>
            </a:prstGeom>
            <a:noFill/>
            <a:ln>
              <a:noFill/>
            </a:ln>
          </p:spPr>
          <p:txBody>
            <a:bodyPr wrap="none" lIns="0" tIns="0" rIns="0" bIns="0" anchor="t" anchorCtr="0">
              <a:spAutoFit/>
            </a:bodyPr>
            <a:lstStyle/>
            <a:p>
              <a:pPr algn="ctr"/>
              <a:r>
                <a:rPr lang="zh-CN" sz="680" b="1" dirty="0">
                  <a:solidFill>
                    <a:srgbClr val="9E402E"/>
                  </a:solidFill>
                  <a:latin typeface="+mn-lt"/>
                  <a:ea typeface="+mn-ea"/>
                  <a:cs typeface="+mn-cs"/>
                </a:rPr>
                <a:t>+5.59​</a:t>
              </a:r>
            </a:p>
          </p:txBody>
        </p:sp>
        <p:sp>
          <p:nvSpPr>
            <p:cNvPr id="151" name="TextBox 151"/>
            <p:cNvSpPr txBox="1"/>
            <p:nvPr/>
          </p:nvSpPr>
          <p:spPr>
            <a:xfrm>
              <a:off x="376238" y="4735830"/>
              <a:ext cx="1221105" cy="119062"/>
            </a:xfrm>
            <a:prstGeom prst="rect">
              <a:avLst/>
            </a:prstGeom>
            <a:noFill/>
            <a:ln>
              <a:noFill/>
            </a:ln>
          </p:spPr>
          <p:txBody>
            <a:bodyPr wrap="none" lIns="0" tIns="0" rIns="0" bIns="0" anchor="t" anchorCtr="0">
              <a:spAutoFit/>
            </a:bodyPr>
            <a:lstStyle/>
            <a:p>
              <a:pPr algn="l"/>
              <a:r>
                <a:rPr lang="zh-CN" sz="600" dirty="0">
                  <a:solidFill>
                    <a:srgbClr val="BEA09A"/>
                  </a:solidFill>
                  <a:latin typeface="+mn-lt"/>
                  <a:ea typeface="+mn-ea"/>
                  <a:cs typeface="+mn-cs"/>
                </a:rPr>
                <a:t>注：迁徙金额与占比为示例数据。</a:t>
              </a:r>
            </a:p>
          </p:txBody>
        </p:sp>
      </p:grpSp>
      <p:grpSp>
        <p:nvGrpSpPr>
          <p:cNvPr id="259" name="heat-matrix"/>
          <p:cNvGrpSpPr/>
          <p:nvPr/>
        </p:nvGrpSpPr>
        <p:grpSpPr>
          <a:xfrm>
            <a:off x="3962400" y="1562100"/>
            <a:ext cx="4000500" cy="3390900"/>
            <a:chOff x="3962400" y="1562100"/>
            <a:chExt cx="4000500" cy="3390900"/>
          </a:xfrm>
        </p:grpSpPr>
        <p:sp>
          <p:nvSpPr>
            <p:cNvPr id="153" name="Rectangle 153"/>
            <p:cNvSpPr/>
            <p:nvPr/>
          </p:nvSpPr>
          <p:spPr>
            <a:xfrm>
              <a:off x="3962400" y="1562100"/>
              <a:ext cx="4000500" cy="3390900"/>
            </a:xfrm>
            <a:prstGeom prst="roundRect">
              <a:avLst>
                <a:gd name="adj" fmla="val 1685"/>
              </a:avLst>
            </a:prstGeom>
            <a:solidFill>
              <a:srgbClr val="FFFFFF"/>
            </a:solidFill>
            <a:ln w="9525">
              <a:solidFill>
                <a:srgbClr val="C9D6E9"/>
              </a:solidFill>
            </a:ln>
          </p:spPr>
        </p:sp>
        <p:sp>
          <p:nvSpPr>
            <p:cNvPr id="154" name="Rectangle 154"/>
            <p:cNvSpPr/>
            <p:nvPr/>
          </p:nvSpPr>
          <p:spPr>
            <a:xfrm>
              <a:off x="3962400" y="1562100"/>
              <a:ext cx="4000500" cy="228600"/>
            </a:xfrm>
            <a:prstGeom prst="roundRect">
              <a:avLst>
                <a:gd name="adj" fmla="val 25000"/>
              </a:avLst>
            </a:prstGeom>
            <a:solidFill>
              <a:srgbClr val="69281B"/>
            </a:solidFill>
            <a:ln>
              <a:noFill/>
            </a:ln>
          </p:spPr>
        </p:sp>
        <p:sp>
          <p:nvSpPr>
            <p:cNvPr id="155" name="Rectangle 155"/>
            <p:cNvSpPr/>
            <p:nvPr/>
          </p:nvSpPr>
          <p:spPr>
            <a:xfrm>
              <a:off x="3962400" y="1695450"/>
              <a:ext cx="4000500" cy="95250"/>
            </a:xfrm>
            <a:prstGeom prst="rect">
              <a:avLst/>
            </a:prstGeom>
            <a:solidFill>
              <a:srgbClr val="69281B"/>
            </a:solidFill>
            <a:ln>
              <a:noFill/>
            </a:ln>
          </p:spPr>
        </p:sp>
        <p:sp>
          <p:nvSpPr>
            <p:cNvPr id="156" name="TextBox 156"/>
            <p:cNvSpPr txBox="1"/>
            <p:nvPr/>
          </p:nvSpPr>
          <p:spPr>
            <a:xfrm>
              <a:off x="4753123" y="1626870"/>
              <a:ext cx="241905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行业风险热力矩阵（1=低风险，5=高风险）​</a:t>
              </a:r>
            </a:p>
          </p:txBody>
        </p:sp>
        <p:sp>
          <p:nvSpPr>
            <p:cNvPr id="157" name="Rectangle 157"/>
            <p:cNvSpPr/>
            <p:nvPr/>
          </p:nvSpPr>
          <p:spPr>
            <a:xfrm>
              <a:off x="4038600" y="1866900"/>
              <a:ext cx="3848100" cy="228600"/>
            </a:xfrm>
            <a:prstGeom prst="rect">
              <a:avLst/>
            </a:prstGeom>
            <a:solidFill>
              <a:srgbClr val="EAF1FB"/>
            </a:solidFill>
            <a:ln>
              <a:noFill/>
            </a:ln>
          </p:spPr>
        </p:sp>
        <p:sp>
          <p:nvSpPr>
            <p:cNvPr id="158" name="TextBox 158"/>
            <p:cNvSpPr txBox="1"/>
            <p:nvPr/>
          </p:nvSpPr>
          <p:spPr>
            <a:xfrm>
              <a:off x="4266146" y="1946434"/>
              <a:ext cx="192608"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行业</a:t>
              </a:r>
            </a:p>
          </p:txBody>
        </p:sp>
        <p:sp>
          <p:nvSpPr>
            <p:cNvPr id="159" name="TextBox 159"/>
            <p:cNvSpPr txBox="1"/>
            <p:nvPr/>
          </p:nvSpPr>
          <p:spPr>
            <a:xfrm>
              <a:off x="4791875" y="1946434"/>
              <a:ext cx="284150"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现金流</a:t>
              </a:r>
            </a:p>
          </p:txBody>
        </p:sp>
        <p:sp>
          <p:nvSpPr>
            <p:cNvPr id="160" name="TextBox 160"/>
            <p:cNvSpPr txBox="1"/>
            <p:nvPr/>
          </p:nvSpPr>
          <p:spPr>
            <a:xfrm>
              <a:off x="5287175" y="1946434"/>
              <a:ext cx="284150"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负债率</a:t>
              </a:r>
            </a:p>
          </p:txBody>
        </p:sp>
        <p:sp>
          <p:nvSpPr>
            <p:cNvPr id="161" name="TextBox 161"/>
            <p:cNvSpPr txBox="1"/>
            <p:nvPr/>
          </p:nvSpPr>
          <p:spPr>
            <a:xfrm>
              <a:off x="5828246" y="1946434"/>
              <a:ext cx="192608"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担保</a:t>
              </a:r>
            </a:p>
          </p:txBody>
        </p:sp>
        <p:sp>
          <p:nvSpPr>
            <p:cNvPr id="162" name="TextBox 162"/>
            <p:cNvSpPr txBox="1"/>
            <p:nvPr/>
          </p:nvSpPr>
          <p:spPr>
            <a:xfrm>
              <a:off x="6277775" y="1946434"/>
              <a:ext cx="284150"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集中度</a:t>
              </a:r>
            </a:p>
          </p:txBody>
        </p:sp>
        <p:sp>
          <p:nvSpPr>
            <p:cNvPr id="163" name="TextBox 163"/>
            <p:cNvSpPr txBox="1"/>
            <p:nvPr/>
          </p:nvSpPr>
          <p:spPr>
            <a:xfrm>
              <a:off x="6727304" y="1946434"/>
              <a:ext cx="37569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市场景气</a:t>
              </a:r>
            </a:p>
          </p:txBody>
        </p:sp>
        <p:sp>
          <p:nvSpPr>
            <p:cNvPr id="164" name="Rectangle 164"/>
            <p:cNvSpPr/>
            <p:nvPr/>
          </p:nvSpPr>
          <p:spPr>
            <a:xfrm>
              <a:off x="7162800" y="1866900"/>
              <a:ext cx="723900" cy="228600"/>
            </a:xfrm>
            <a:prstGeom prst="rect">
              <a:avLst/>
            </a:prstGeom>
            <a:solidFill>
              <a:srgbClr val="69281B"/>
            </a:solidFill>
            <a:ln>
              <a:noFill/>
            </a:ln>
          </p:spPr>
        </p:sp>
        <p:sp>
          <p:nvSpPr>
            <p:cNvPr id="165" name="TextBox 165"/>
            <p:cNvSpPr txBox="1"/>
            <p:nvPr/>
          </p:nvSpPr>
          <p:spPr>
            <a:xfrm>
              <a:off x="7390752" y="1902857"/>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综合风</a:t>
              </a:r>
            </a:p>
          </p:txBody>
        </p:sp>
        <p:sp>
          <p:nvSpPr>
            <p:cNvPr id="166" name="TextBox 166"/>
            <p:cNvSpPr txBox="1"/>
            <p:nvPr/>
          </p:nvSpPr>
          <p:spPr>
            <a:xfrm>
              <a:off x="7390752" y="1998107"/>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险得分</a:t>
              </a:r>
            </a:p>
          </p:txBody>
        </p:sp>
        <p:sp>
          <p:nvSpPr>
            <p:cNvPr id="167" name="TextBox 167"/>
            <p:cNvSpPr txBox="1"/>
            <p:nvPr/>
          </p:nvSpPr>
          <p:spPr>
            <a:xfrm>
              <a:off x="4214317" y="2228136"/>
              <a:ext cx="296266"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房地产</a:t>
              </a:r>
            </a:p>
          </p:txBody>
        </p:sp>
        <p:sp>
          <p:nvSpPr>
            <p:cNvPr id="168" name="Rectangle 168"/>
            <p:cNvSpPr/>
            <p:nvPr/>
          </p:nvSpPr>
          <p:spPr>
            <a:xfrm>
              <a:off x="4695825" y="2124075"/>
              <a:ext cx="476250" cy="266700"/>
            </a:xfrm>
            <a:prstGeom prst="rect">
              <a:avLst/>
            </a:prstGeom>
            <a:solidFill>
              <a:srgbClr val="E0604A"/>
            </a:solidFill>
            <a:ln>
              <a:noFill/>
            </a:ln>
          </p:spPr>
        </p:sp>
        <p:sp>
          <p:nvSpPr>
            <p:cNvPr id="169" name="TextBox 169"/>
            <p:cNvSpPr txBox="1"/>
            <p:nvPr/>
          </p:nvSpPr>
          <p:spPr>
            <a:xfrm>
              <a:off x="4870880" y="22240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170" name="Rectangle 170"/>
            <p:cNvSpPr/>
            <p:nvPr/>
          </p:nvSpPr>
          <p:spPr>
            <a:xfrm>
              <a:off x="5191125" y="2124075"/>
              <a:ext cx="476250" cy="266700"/>
            </a:xfrm>
            <a:prstGeom prst="rect">
              <a:avLst/>
            </a:prstGeom>
            <a:solidFill>
              <a:srgbClr val="E0604A"/>
            </a:solidFill>
            <a:ln>
              <a:noFill/>
            </a:ln>
          </p:spPr>
        </p:sp>
        <p:sp>
          <p:nvSpPr>
            <p:cNvPr id="171" name="TextBox 171"/>
            <p:cNvSpPr txBox="1"/>
            <p:nvPr/>
          </p:nvSpPr>
          <p:spPr>
            <a:xfrm>
              <a:off x="5366180" y="22240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172" name="Rectangle 172"/>
            <p:cNvSpPr/>
            <p:nvPr/>
          </p:nvSpPr>
          <p:spPr>
            <a:xfrm>
              <a:off x="5686425" y="2124075"/>
              <a:ext cx="476250" cy="266700"/>
            </a:xfrm>
            <a:prstGeom prst="rect">
              <a:avLst/>
            </a:prstGeom>
            <a:solidFill>
              <a:srgbClr val="F07E6B"/>
            </a:solidFill>
            <a:ln>
              <a:noFill/>
            </a:ln>
          </p:spPr>
        </p:sp>
        <p:sp>
          <p:nvSpPr>
            <p:cNvPr id="173" name="TextBox 173"/>
            <p:cNvSpPr txBox="1"/>
            <p:nvPr/>
          </p:nvSpPr>
          <p:spPr>
            <a:xfrm>
              <a:off x="5861480" y="22240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74" name="Rectangle 174"/>
            <p:cNvSpPr/>
            <p:nvPr/>
          </p:nvSpPr>
          <p:spPr>
            <a:xfrm>
              <a:off x="6181725" y="2124075"/>
              <a:ext cx="476250" cy="266700"/>
            </a:xfrm>
            <a:prstGeom prst="rect">
              <a:avLst/>
            </a:prstGeom>
            <a:solidFill>
              <a:srgbClr val="E0604A"/>
            </a:solidFill>
            <a:ln>
              <a:noFill/>
            </a:ln>
          </p:spPr>
        </p:sp>
        <p:sp>
          <p:nvSpPr>
            <p:cNvPr id="175" name="TextBox 175"/>
            <p:cNvSpPr txBox="1"/>
            <p:nvPr/>
          </p:nvSpPr>
          <p:spPr>
            <a:xfrm>
              <a:off x="6356780" y="22240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176" name="Rectangle 176"/>
            <p:cNvSpPr/>
            <p:nvPr/>
          </p:nvSpPr>
          <p:spPr>
            <a:xfrm>
              <a:off x="6677025" y="2124075"/>
              <a:ext cx="476250" cy="266700"/>
            </a:xfrm>
            <a:prstGeom prst="rect">
              <a:avLst/>
            </a:prstGeom>
            <a:solidFill>
              <a:srgbClr val="F07E6B"/>
            </a:solidFill>
            <a:ln>
              <a:noFill/>
            </a:ln>
          </p:spPr>
        </p:sp>
        <p:sp>
          <p:nvSpPr>
            <p:cNvPr id="177" name="TextBox 177"/>
            <p:cNvSpPr txBox="1"/>
            <p:nvPr/>
          </p:nvSpPr>
          <p:spPr>
            <a:xfrm>
              <a:off x="6852080" y="22240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78" name="Rectangle 178"/>
            <p:cNvSpPr/>
            <p:nvPr/>
          </p:nvSpPr>
          <p:spPr>
            <a:xfrm>
              <a:off x="7172325" y="2124075"/>
              <a:ext cx="704850" cy="266700"/>
            </a:xfrm>
            <a:prstGeom prst="rect">
              <a:avLst/>
            </a:prstGeom>
            <a:solidFill>
              <a:srgbClr val="E0604A"/>
            </a:solidFill>
            <a:ln>
              <a:noFill/>
            </a:ln>
          </p:spPr>
        </p:sp>
        <p:sp>
          <p:nvSpPr>
            <p:cNvPr id="179" name="TextBox 179"/>
            <p:cNvSpPr txBox="1"/>
            <p:nvPr/>
          </p:nvSpPr>
          <p:spPr>
            <a:xfrm>
              <a:off x="7366445" y="2220039"/>
              <a:ext cx="316610"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4.60​</a:t>
              </a:r>
            </a:p>
          </p:txBody>
        </p:sp>
        <p:sp>
          <p:nvSpPr>
            <p:cNvPr id="180" name="TextBox 180"/>
            <p:cNvSpPr txBox="1"/>
            <p:nvPr/>
          </p:nvSpPr>
          <p:spPr>
            <a:xfrm>
              <a:off x="4262107" y="2513886"/>
              <a:ext cx="200685"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建筑</a:t>
              </a:r>
            </a:p>
          </p:txBody>
        </p:sp>
        <p:sp>
          <p:nvSpPr>
            <p:cNvPr id="181" name="Rectangle 181"/>
            <p:cNvSpPr/>
            <p:nvPr/>
          </p:nvSpPr>
          <p:spPr>
            <a:xfrm>
              <a:off x="4695825" y="2409825"/>
              <a:ext cx="476250" cy="266700"/>
            </a:xfrm>
            <a:prstGeom prst="rect">
              <a:avLst/>
            </a:prstGeom>
            <a:solidFill>
              <a:srgbClr val="F07E6B"/>
            </a:solidFill>
            <a:ln>
              <a:noFill/>
            </a:ln>
          </p:spPr>
        </p:sp>
        <p:sp>
          <p:nvSpPr>
            <p:cNvPr id="182" name="TextBox 182"/>
            <p:cNvSpPr txBox="1"/>
            <p:nvPr/>
          </p:nvSpPr>
          <p:spPr>
            <a:xfrm>
              <a:off x="4870880" y="25098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83" name="Rectangle 183"/>
            <p:cNvSpPr/>
            <p:nvPr/>
          </p:nvSpPr>
          <p:spPr>
            <a:xfrm>
              <a:off x="5191125" y="2409825"/>
              <a:ext cx="476250" cy="266700"/>
            </a:xfrm>
            <a:prstGeom prst="rect">
              <a:avLst/>
            </a:prstGeom>
            <a:solidFill>
              <a:srgbClr val="F07E6B"/>
            </a:solidFill>
            <a:ln>
              <a:noFill/>
            </a:ln>
          </p:spPr>
        </p:sp>
        <p:sp>
          <p:nvSpPr>
            <p:cNvPr id="184" name="TextBox 184"/>
            <p:cNvSpPr txBox="1"/>
            <p:nvPr/>
          </p:nvSpPr>
          <p:spPr>
            <a:xfrm>
              <a:off x="5366180" y="25098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85" name="Rectangle 185"/>
            <p:cNvSpPr/>
            <p:nvPr/>
          </p:nvSpPr>
          <p:spPr>
            <a:xfrm>
              <a:off x="5686425" y="2409825"/>
              <a:ext cx="476250" cy="266700"/>
            </a:xfrm>
            <a:prstGeom prst="rect">
              <a:avLst/>
            </a:prstGeom>
            <a:solidFill>
              <a:srgbClr val="F25337"/>
            </a:solidFill>
            <a:ln>
              <a:noFill/>
            </a:ln>
          </p:spPr>
        </p:sp>
        <p:sp>
          <p:nvSpPr>
            <p:cNvPr id="186" name="TextBox 186"/>
            <p:cNvSpPr txBox="1"/>
            <p:nvPr/>
          </p:nvSpPr>
          <p:spPr>
            <a:xfrm>
              <a:off x="5861480" y="250983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187" name="Rectangle 187"/>
            <p:cNvSpPr/>
            <p:nvPr/>
          </p:nvSpPr>
          <p:spPr>
            <a:xfrm>
              <a:off x="6181725" y="2409825"/>
              <a:ext cx="476250" cy="266700"/>
            </a:xfrm>
            <a:prstGeom prst="rect">
              <a:avLst/>
            </a:prstGeom>
            <a:solidFill>
              <a:srgbClr val="F07E6B"/>
            </a:solidFill>
            <a:ln>
              <a:noFill/>
            </a:ln>
          </p:spPr>
        </p:sp>
        <p:sp>
          <p:nvSpPr>
            <p:cNvPr id="188" name="TextBox 188"/>
            <p:cNvSpPr txBox="1"/>
            <p:nvPr/>
          </p:nvSpPr>
          <p:spPr>
            <a:xfrm>
              <a:off x="6356780" y="25098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89" name="Rectangle 189"/>
            <p:cNvSpPr/>
            <p:nvPr/>
          </p:nvSpPr>
          <p:spPr>
            <a:xfrm>
              <a:off x="6677025" y="2409825"/>
              <a:ext cx="476250" cy="266700"/>
            </a:xfrm>
            <a:prstGeom prst="rect">
              <a:avLst/>
            </a:prstGeom>
            <a:solidFill>
              <a:srgbClr val="F25337"/>
            </a:solidFill>
            <a:ln>
              <a:noFill/>
            </a:ln>
          </p:spPr>
        </p:sp>
        <p:sp>
          <p:nvSpPr>
            <p:cNvPr id="190" name="TextBox 190"/>
            <p:cNvSpPr txBox="1"/>
            <p:nvPr/>
          </p:nvSpPr>
          <p:spPr>
            <a:xfrm>
              <a:off x="6852080" y="250983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191" name="Rectangle 191"/>
            <p:cNvSpPr/>
            <p:nvPr/>
          </p:nvSpPr>
          <p:spPr>
            <a:xfrm>
              <a:off x="7172325" y="2409825"/>
              <a:ext cx="704850" cy="266700"/>
            </a:xfrm>
            <a:prstGeom prst="rect">
              <a:avLst/>
            </a:prstGeom>
            <a:solidFill>
              <a:srgbClr val="F07E6B"/>
            </a:solidFill>
            <a:ln>
              <a:noFill/>
            </a:ln>
          </p:spPr>
        </p:sp>
        <p:sp>
          <p:nvSpPr>
            <p:cNvPr id="192" name="TextBox 192"/>
            <p:cNvSpPr txBox="1"/>
            <p:nvPr/>
          </p:nvSpPr>
          <p:spPr>
            <a:xfrm>
              <a:off x="7366445" y="2505789"/>
              <a:ext cx="316610"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3.60​</a:t>
              </a:r>
            </a:p>
          </p:txBody>
        </p:sp>
        <p:sp>
          <p:nvSpPr>
            <p:cNvPr id="193" name="TextBox 193"/>
            <p:cNvSpPr txBox="1"/>
            <p:nvPr/>
          </p:nvSpPr>
          <p:spPr>
            <a:xfrm>
              <a:off x="4262107" y="2799636"/>
              <a:ext cx="200685"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商贸</a:t>
              </a:r>
            </a:p>
          </p:txBody>
        </p:sp>
        <p:sp>
          <p:nvSpPr>
            <p:cNvPr id="194" name="Rectangle 194"/>
            <p:cNvSpPr/>
            <p:nvPr/>
          </p:nvSpPr>
          <p:spPr>
            <a:xfrm>
              <a:off x="4695825" y="2695575"/>
              <a:ext cx="476250" cy="266700"/>
            </a:xfrm>
            <a:prstGeom prst="rect">
              <a:avLst/>
            </a:prstGeom>
            <a:solidFill>
              <a:srgbClr val="F25337"/>
            </a:solidFill>
            <a:ln>
              <a:noFill/>
            </a:ln>
          </p:spPr>
        </p:sp>
        <p:sp>
          <p:nvSpPr>
            <p:cNvPr id="195" name="TextBox 195"/>
            <p:cNvSpPr txBox="1"/>
            <p:nvPr/>
          </p:nvSpPr>
          <p:spPr>
            <a:xfrm>
              <a:off x="4870880" y="279558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196" name="Rectangle 196"/>
            <p:cNvSpPr/>
            <p:nvPr/>
          </p:nvSpPr>
          <p:spPr>
            <a:xfrm>
              <a:off x="5191125" y="2695575"/>
              <a:ext cx="476250" cy="266700"/>
            </a:xfrm>
            <a:prstGeom prst="rect">
              <a:avLst/>
            </a:prstGeom>
            <a:solidFill>
              <a:srgbClr val="F25337"/>
            </a:solidFill>
            <a:ln>
              <a:noFill/>
            </a:ln>
          </p:spPr>
        </p:sp>
        <p:sp>
          <p:nvSpPr>
            <p:cNvPr id="197" name="TextBox 197"/>
            <p:cNvSpPr txBox="1"/>
            <p:nvPr/>
          </p:nvSpPr>
          <p:spPr>
            <a:xfrm>
              <a:off x="5366180" y="279558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198" name="Rectangle 198"/>
            <p:cNvSpPr/>
            <p:nvPr/>
          </p:nvSpPr>
          <p:spPr>
            <a:xfrm>
              <a:off x="5686425" y="2695575"/>
              <a:ext cx="476250" cy="266700"/>
            </a:xfrm>
            <a:prstGeom prst="rect">
              <a:avLst/>
            </a:prstGeom>
            <a:solidFill>
              <a:srgbClr val="F25337"/>
            </a:solidFill>
            <a:ln>
              <a:noFill/>
            </a:ln>
          </p:spPr>
        </p:sp>
        <p:sp>
          <p:nvSpPr>
            <p:cNvPr id="199" name="TextBox 199"/>
            <p:cNvSpPr txBox="1"/>
            <p:nvPr/>
          </p:nvSpPr>
          <p:spPr>
            <a:xfrm>
              <a:off x="5861480" y="279558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200" name="Rectangle 200"/>
            <p:cNvSpPr/>
            <p:nvPr/>
          </p:nvSpPr>
          <p:spPr>
            <a:xfrm>
              <a:off x="6181725" y="2695575"/>
              <a:ext cx="476250" cy="266700"/>
            </a:xfrm>
            <a:prstGeom prst="rect">
              <a:avLst/>
            </a:prstGeom>
            <a:solidFill>
              <a:srgbClr val="F25337"/>
            </a:solidFill>
            <a:ln>
              <a:noFill/>
            </a:ln>
          </p:spPr>
        </p:sp>
        <p:sp>
          <p:nvSpPr>
            <p:cNvPr id="201" name="TextBox 201"/>
            <p:cNvSpPr txBox="1"/>
            <p:nvPr/>
          </p:nvSpPr>
          <p:spPr>
            <a:xfrm>
              <a:off x="6356780" y="279558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202" name="Rectangle 202"/>
            <p:cNvSpPr/>
            <p:nvPr/>
          </p:nvSpPr>
          <p:spPr>
            <a:xfrm>
              <a:off x="6677025" y="2695575"/>
              <a:ext cx="476250" cy="266700"/>
            </a:xfrm>
            <a:prstGeom prst="rect">
              <a:avLst/>
            </a:prstGeom>
            <a:solidFill>
              <a:srgbClr val="F25337"/>
            </a:solidFill>
            <a:ln>
              <a:noFill/>
            </a:ln>
          </p:spPr>
        </p:sp>
        <p:sp>
          <p:nvSpPr>
            <p:cNvPr id="203" name="TextBox 203"/>
            <p:cNvSpPr txBox="1"/>
            <p:nvPr/>
          </p:nvSpPr>
          <p:spPr>
            <a:xfrm>
              <a:off x="6852080" y="279558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204" name="Rectangle 204"/>
            <p:cNvSpPr/>
            <p:nvPr/>
          </p:nvSpPr>
          <p:spPr>
            <a:xfrm>
              <a:off x="7172325" y="2695575"/>
              <a:ext cx="704850" cy="266700"/>
            </a:xfrm>
            <a:prstGeom prst="rect">
              <a:avLst/>
            </a:prstGeom>
            <a:solidFill>
              <a:srgbClr val="F25337"/>
            </a:solidFill>
            <a:ln>
              <a:noFill/>
            </a:ln>
          </p:spPr>
        </p:sp>
        <p:sp>
          <p:nvSpPr>
            <p:cNvPr id="205" name="TextBox 205"/>
            <p:cNvSpPr txBox="1"/>
            <p:nvPr/>
          </p:nvSpPr>
          <p:spPr>
            <a:xfrm>
              <a:off x="7366445" y="2791539"/>
              <a:ext cx="316610"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3.00​</a:t>
              </a:r>
            </a:p>
          </p:txBody>
        </p:sp>
        <p:sp>
          <p:nvSpPr>
            <p:cNvPr id="206" name="TextBox 206"/>
            <p:cNvSpPr txBox="1"/>
            <p:nvPr/>
          </p:nvSpPr>
          <p:spPr>
            <a:xfrm>
              <a:off x="4262107" y="3085386"/>
              <a:ext cx="200685"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制造</a:t>
              </a:r>
            </a:p>
          </p:txBody>
        </p:sp>
        <p:sp>
          <p:nvSpPr>
            <p:cNvPr id="207" name="Rectangle 207"/>
            <p:cNvSpPr/>
            <p:nvPr/>
          </p:nvSpPr>
          <p:spPr>
            <a:xfrm>
              <a:off x="4695825" y="2981325"/>
              <a:ext cx="476250" cy="266700"/>
            </a:xfrm>
            <a:prstGeom prst="rect">
              <a:avLst/>
            </a:prstGeom>
            <a:solidFill>
              <a:srgbClr val="DDA9A0"/>
            </a:solidFill>
            <a:ln>
              <a:noFill/>
            </a:ln>
          </p:spPr>
        </p:sp>
        <p:sp>
          <p:nvSpPr>
            <p:cNvPr id="208" name="TextBox 208"/>
            <p:cNvSpPr txBox="1"/>
            <p:nvPr/>
          </p:nvSpPr>
          <p:spPr>
            <a:xfrm>
              <a:off x="4870880" y="308133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2​</a:t>
              </a:r>
            </a:p>
          </p:txBody>
        </p:sp>
        <p:sp>
          <p:nvSpPr>
            <p:cNvPr id="209" name="Rectangle 209"/>
            <p:cNvSpPr/>
            <p:nvPr/>
          </p:nvSpPr>
          <p:spPr>
            <a:xfrm>
              <a:off x="5191125" y="2981325"/>
              <a:ext cx="476250" cy="266700"/>
            </a:xfrm>
            <a:prstGeom prst="rect">
              <a:avLst/>
            </a:prstGeom>
            <a:solidFill>
              <a:srgbClr val="F25337"/>
            </a:solidFill>
            <a:ln>
              <a:noFill/>
            </a:ln>
          </p:spPr>
        </p:sp>
        <p:sp>
          <p:nvSpPr>
            <p:cNvPr id="210" name="TextBox 210"/>
            <p:cNvSpPr txBox="1"/>
            <p:nvPr/>
          </p:nvSpPr>
          <p:spPr>
            <a:xfrm>
              <a:off x="5366180" y="308133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211" name="Rectangle 211"/>
            <p:cNvSpPr/>
            <p:nvPr/>
          </p:nvSpPr>
          <p:spPr>
            <a:xfrm>
              <a:off x="5686425" y="2981325"/>
              <a:ext cx="476250" cy="266700"/>
            </a:xfrm>
            <a:prstGeom prst="rect">
              <a:avLst/>
            </a:prstGeom>
            <a:solidFill>
              <a:srgbClr val="DDA9A0"/>
            </a:solidFill>
            <a:ln>
              <a:noFill/>
            </a:ln>
          </p:spPr>
        </p:sp>
        <p:sp>
          <p:nvSpPr>
            <p:cNvPr id="212" name="TextBox 212"/>
            <p:cNvSpPr txBox="1"/>
            <p:nvPr/>
          </p:nvSpPr>
          <p:spPr>
            <a:xfrm>
              <a:off x="5861480" y="308133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2​</a:t>
              </a:r>
            </a:p>
          </p:txBody>
        </p:sp>
        <p:sp>
          <p:nvSpPr>
            <p:cNvPr id="213" name="Rectangle 213"/>
            <p:cNvSpPr/>
            <p:nvPr/>
          </p:nvSpPr>
          <p:spPr>
            <a:xfrm>
              <a:off x="6181725" y="2981325"/>
              <a:ext cx="476250" cy="266700"/>
            </a:xfrm>
            <a:prstGeom prst="rect">
              <a:avLst/>
            </a:prstGeom>
            <a:solidFill>
              <a:srgbClr val="F25337"/>
            </a:solidFill>
            <a:ln>
              <a:noFill/>
            </a:ln>
          </p:spPr>
        </p:sp>
        <p:sp>
          <p:nvSpPr>
            <p:cNvPr id="214" name="TextBox 214"/>
            <p:cNvSpPr txBox="1"/>
            <p:nvPr/>
          </p:nvSpPr>
          <p:spPr>
            <a:xfrm>
              <a:off x="6356780" y="308133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215" name="Rectangle 215"/>
            <p:cNvSpPr/>
            <p:nvPr/>
          </p:nvSpPr>
          <p:spPr>
            <a:xfrm>
              <a:off x="6677025" y="2981325"/>
              <a:ext cx="476250" cy="266700"/>
            </a:xfrm>
            <a:prstGeom prst="rect">
              <a:avLst/>
            </a:prstGeom>
            <a:solidFill>
              <a:srgbClr val="F25337"/>
            </a:solidFill>
            <a:ln>
              <a:noFill/>
            </a:ln>
          </p:spPr>
        </p:sp>
        <p:sp>
          <p:nvSpPr>
            <p:cNvPr id="216" name="TextBox 216"/>
            <p:cNvSpPr txBox="1"/>
            <p:nvPr/>
          </p:nvSpPr>
          <p:spPr>
            <a:xfrm>
              <a:off x="6852080" y="308133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3​</a:t>
              </a:r>
            </a:p>
          </p:txBody>
        </p:sp>
        <p:sp>
          <p:nvSpPr>
            <p:cNvPr id="217" name="Rectangle 217"/>
            <p:cNvSpPr/>
            <p:nvPr/>
          </p:nvSpPr>
          <p:spPr>
            <a:xfrm>
              <a:off x="7172325" y="2981325"/>
              <a:ext cx="704850" cy="266700"/>
            </a:xfrm>
            <a:prstGeom prst="rect">
              <a:avLst/>
            </a:prstGeom>
            <a:solidFill>
              <a:srgbClr val="F25337"/>
            </a:solidFill>
            <a:ln>
              <a:noFill/>
            </a:ln>
          </p:spPr>
        </p:sp>
        <p:sp>
          <p:nvSpPr>
            <p:cNvPr id="218" name="TextBox 218"/>
            <p:cNvSpPr txBox="1"/>
            <p:nvPr/>
          </p:nvSpPr>
          <p:spPr>
            <a:xfrm>
              <a:off x="7366445" y="3077289"/>
              <a:ext cx="316610"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2.60​</a:t>
              </a:r>
            </a:p>
          </p:txBody>
        </p:sp>
        <p:sp>
          <p:nvSpPr>
            <p:cNvPr id="219" name="TextBox 219"/>
            <p:cNvSpPr txBox="1"/>
            <p:nvPr/>
          </p:nvSpPr>
          <p:spPr>
            <a:xfrm>
              <a:off x="4262107" y="3371136"/>
              <a:ext cx="200685"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科技</a:t>
              </a:r>
            </a:p>
          </p:txBody>
        </p:sp>
        <p:sp>
          <p:nvSpPr>
            <p:cNvPr id="220" name="Rectangle 220"/>
            <p:cNvSpPr/>
            <p:nvPr/>
          </p:nvSpPr>
          <p:spPr>
            <a:xfrm>
              <a:off x="4695825" y="3267075"/>
              <a:ext cx="476250" cy="266700"/>
            </a:xfrm>
            <a:prstGeom prst="rect">
              <a:avLst/>
            </a:prstGeom>
            <a:solidFill>
              <a:srgbClr val="C4877B"/>
            </a:solidFill>
            <a:ln>
              <a:noFill/>
            </a:ln>
          </p:spPr>
        </p:sp>
        <p:sp>
          <p:nvSpPr>
            <p:cNvPr id="221" name="TextBox 221"/>
            <p:cNvSpPr txBox="1"/>
            <p:nvPr/>
          </p:nvSpPr>
          <p:spPr>
            <a:xfrm>
              <a:off x="4870880" y="33670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222" name="Rectangle 222"/>
            <p:cNvSpPr/>
            <p:nvPr/>
          </p:nvSpPr>
          <p:spPr>
            <a:xfrm>
              <a:off x="5191125" y="3267075"/>
              <a:ext cx="476250" cy="266700"/>
            </a:xfrm>
            <a:prstGeom prst="rect">
              <a:avLst/>
            </a:prstGeom>
            <a:solidFill>
              <a:srgbClr val="DDA9A0"/>
            </a:solidFill>
            <a:ln>
              <a:noFill/>
            </a:ln>
          </p:spPr>
        </p:sp>
        <p:sp>
          <p:nvSpPr>
            <p:cNvPr id="223" name="TextBox 223"/>
            <p:cNvSpPr txBox="1"/>
            <p:nvPr/>
          </p:nvSpPr>
          <p:spPr>
            <a:xfrm>
              <a:off x="5366180" y="336708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2​</a:t>
              </a:r>
            </a:p>
          </p:txBody>
        </p:sp>
        <p:sp>
          <p:nvSpPr>
            <p:cNvPr id="224" name="Rectangle 224"/>
            <p:cNvSpPr/>
            <p:nvPr/>
          </p:nvSpPr>
          <p:spPr>
            <a:xfrm>
              <a:off x="5686425" y="3267075"/>
              <a:ext cx="476250" cy="266700"/>
            </a:xfrm>
            <a:prstGeom prst="rect">
              <a:avLst/>
            </a:prstGeom>
            <a:solidFill>
              <a:srgbClr val="C4877B"/>
            </a:solidFill>
            <a:ln>
              <a:noFill/>
            </a:ln>
          </p:spPr>
        </p:sp>
        <p:sp>
          <p:nvSpPr>
            <p:cNvPr id="225" name="TextBox 225"/>
            <p:cNvSpPr txBox="1"/>
            <p:nvPr/>
          </p:nvSpPr>
          <p:spPr>
            <a:xfrm>
              <a:off x="5861480" y="33670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226" name="Rectangle 226"/>
            <p:cNvSpPr/>
            <p:nvPr/>
          </p:nvSpPr>
          <p:spPr>
            <a:xfrm>
              <a:off x="6181725" y="3267075"/>
              <a:ext cx="476250" cy="266700"/>
            </a:xfrm>
            <a:prstGeom prst="rect">
              <a:avLst/>
            </a:prstGeom>
            <a:solidFill>
              <a:srgbClr val="DDA9A0"/>
            </a:solidFill>
            <a:ln>
              <a:noFill/>
            </a:ln>
          </p:spPr>
        </p:sp>
        <p:sp>
          <p:nvSpPr>
            <p:cNvPr id="227" name="TextBox 227"/>
            <p:cNvSpPr txBox="1"/>
            <p:nvPr/>
          </p:nvSpPr>
          <p:spPr>
            <a:xfrm>
              <a:off x="6356780" y="336708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2​</a:t>
              </a:r>
            </a:p>
          </p:txBody>
        </p:sp>
        <p:sp>
          <p:nvSpPr>
            <p:cNvPr id="228" name="Rectangle 228"/>
            <p:cNvSpPr/>
            <p:nvPr/>
          </p:nvSpPr>
          <p:spPr>
            <a:xfrm>
              <a:off x="6677025" y="3267075"/>
              <a:ext cx="476250" cy="266700"/>
            </a:xfrm>
            <a:prstGeom prst="rect">
              <a:avLst/>
            </a:prstGeom>
            <a:solidFill>
              <a:srgbClr val="DDA9A0"/>
            </a:solidFill>
            <a:ln>
              <a:noFill/>
            </a:ln>
          </p:spPr>
        </p:sp>
        <p:sp>
          <p:nvSpPr>
            <p:cNvPr id="229" name="TextBox 229"/>
            <p:cNvSpPr txBox="1"/>
            <p:nvPr/>
          </p:nvSpPr>
          <p:spPr>
            <a:xfrm>
              <a:off x="6852080" y="3367088"/>
              <a:ext cx="126140" cy="147638"/>
            </a:xfrm>
            <a:prstGeom prst="rect">
              <a:avLst/>
            </a:prstGeom>
            <a:noFill/>
            <a:ln>
              <a:noFill/>
            </a:ln>
          </p:spPr>
          <p:txBody>
            <a:bodyPr wrap="none" lIns="0" tIns="0" rIns="0" bIns="0" anchor="t" anchorCtr="0">
              <a:spAutoFit/>
            </a:bodyPr>
            <a:lstStyle/>
            <a:p>
              <a:pPr algn="ctr"/>
              <a:r>
                <a:rPr lang="zh-CN" sz="750" b="1" dirty="0">
                  <a:solidFill>
                    <a:srgbClr val="5F3A33"/>
                  </a:solidFill>
                  <a:latin typeface="+mn-lt"/>
                  <a:ea typeface="+mn-ea"/>
                  <a:cs typeface="+mn-cs"/>
                </a:rPr>
                <a:t>2​</a:t>
              </a:r>
            </a:p>
          </p:txBody>
        </p:sp>
        <p:sp>
          <p:nvSpPr>
            <p:cNvPr id="230" name="Rectangle 230"/>
            <p:cNvSpPr/>
            <p:nvPr/>
          </p:nvSpPr>
          <p:spPr>
            <a:xfrm>
              <a:off x="7172325" y="3267075"/>
              <a:ext cx="704850" cy="266700"/>
            </a:xfrm>
            <a:prstGeom prst="rect">
              <a:avLst/>
            </a:prstGeom>
            <a:solidFill>
              <a:srgbClr val="DDA9A0"/>
            </a:solidFill>
            <a:ln>
              <a:noFill/>
            </a:ln>
          </p:spPr>
        </p:sp>
        <p:sp>
          <p:nvSpPr>
            <p:cNvPr id="231" name="TextBox 231"/>
            <p:cNvSpPr txBox="1"/>
            <p:nvPr/>
          </p:nvSpPr>
          <p:spPr>
            <a:xfrm>
              <a:off x="7366445" y="3363039"/>
              <a:ext cx="316610"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1.60​</a:t>
              </a:r>
            </a:p>
          </p:txBody>
        </p:sp>
        <p:sp>
          <p:nvSpPr>
            <p:cNvPr id="232" name="TextBox 232"/>
            <p:cNvSpPr txBox="1"/>
            <p:nvPr/>
          </p:nvSpPr>
          <p:spPr>
            <a:xfrm>
              <a:off x="4166527" y="3656886"/>
              <a:ext cx="391846"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公共事业</a:t>
              </a:r>
            </a:p>
          </p:txBody>
        </p:sp>
        <p:sp>
          <p:nvSpPr>
            <p:cNvPr id="233" name="Rectangle 233"/>
            <p:cNvSpPr/>
            <p:nvPr/>
          </p:nvSpPr>
          <p:spPr>
            <a:xfrm>
              <a:off x="4695825" y="3552825"/>
              <a:ext cx="476250" cy="266700"/>
            </a:xfrm>
            <a:prstGeom prst="rect">
              <a:avLst/>
            </a:prstGeom>
            <a:solidFill>
              <a:srgbClr val="C4877B"/>
            </a:solidFill>
            <a:ln>
              <a:noFill/>
            </a:ln>
          </p:spPr>
        </p:sp>
        <p:sp>
          <p:nvSpPr>
            <p:cNvPr id="234" name="TextBox 234"/>
            <p:cNvSpPr txBox="1"/>
            <p:nvPr/>
          </p:nvSpPr>
          <p:spPr>
            <a:xfrm>
              <a:off x="4870880" y="36528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235" name="Rectangle 235"/>
            <p:cNvSpPr/>
            <p:nvPr/>
          </p:nvSpPr>
          <p:spPr>
            <a:xfrm>
              <a:off x="5191125" y="3552825"/>
              <a:ext cx="476250" cy="266700"/>
            </a:xfrm>
            <a:prstGeom prst="rect">
              <a:avLst/>
            </a:prstGeom>
            <a:solidFill>
              <a:srgbClr val="C4877B"/>
            </a:solidFill>
            <a:ln>
              <a:noFill/>
            </a:ln>
          </p:spPr>
        </p:sp>
        <p:sp>
          <p:nvSpPr>
            <p:cNvPr id="236" name="TextBox 236"/>
            <p:cNvSpPr txBox="1"/>
            <p:nvPr/>
          </p:nvSpPr>
          <p:spPr>
            <a:xfrm>
              <a:off x="5366180" y="36528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237" name="Rectangle 237"/>
            <p:cNvSpPr/>
            <p:nvPr/>
          </p:nvSpPr>
          <p:spPr>
            <a:xfrm>
              <a:off x="5686425" y="3552825"/>
              <a:ext cx="476250" cy="266700"/>
            </a:xfrm>
            <a:prstGeom prst="rect">
              <a:avLst/>
            </a:prstGeom>
            <a:solidFill>
              <a:srgbClr val="C4877B"/>
            </a:solidFill>
            <a:ln>
              <a:noFill/>
            </a:ln>
          </p:spPr>
        </p:sp>
        <p:sp>
          <p:nvSpPr>
            <p:cNvPr id="238" name="TextBox 238"/>
            <p:cNvSpPr txBox="1"/>
            <p:nvPr/>
          </p:nvSpPr>
          <p:spPr>
            <a:xfrm>
              <a:off x="5861480" y="36528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239" name="Rectangle 239"/>
            <p:cNvSpPr/>
            <p:nvPr/>
          </p:nvSpPr>
          <p:spPr>
            <a:xfrm>
              <a:off x="6181725" y="3552825"/>
              <a:ext cx="476250" cy="266700"/>
            </a:xfrm>
            <a:prstGeom prst="rect">
              <a:avLst/>
            </a:prstGeom>
            <a:solidFill>
              <a:srgbClr val="C4877B"/>
            </a:solidFill>
            <a:ln>
              <a:noFill/>
            </a:ln>
          </p:spPr>
        </p:sp>
        <p:sp>
          <p:nvSpPr>
            <p:cNvPr id="240" name="TextBox 240"/>
            <p:cNvSpPr txBox="1"/>
            <p:nvPr/>
          </p:nvSpPr>
          <p:spPr>
            <a:xfrm>
              <a:off x="6356780" y="36528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241" name="Rectangle 241"/>
            <p:cNvSpPr/>
            <p:nvPr/>
          </p:nvSpPr>
          <p:spPr>
            <a:xfrm>
              <a:off x="6677025" y="3552825"/>
              <a:ext cx="476250" cy="266700"/>
            </a:xfrm>
            <a:prstGeom prst="rect">
              <a:avLst/>
            </a:prstGeom>
            <a:solidFill>
              <a:srgbClr val="C4877B"/>
            </a:solidFill>
            <a:ln>
              <a:noFill/>
            </a:ln>
          </p:spPr>
        </p:sp>
        <p:sp>
          <p:nvSpPr>
            <p:cNvPr id="242" name="TextBox 242"/>
            <p:cNvSpPr txBox="1"/>
            <p:nvPr/>
          </p:nvSpPr>
          <p:spPr>
            <a:xfrm>
              <a:off x="6852080" y="36528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243" name="Rectangle 243"/>
            <p:cNvSpPr/>
            <p:nvPr/>
          </p:nvSpPr>
          <p:spPr>
            <a:xfrm>
              <a:off x="7172325" y="3552825"/>
              <a:ext cx="704850" cy="266700"/>
            </a:xfrm>
            <a:prstGeom prst="rect">
              <a:avLst/>
            </a:prstGeom>
            <a:solidFill>
              <a:srgbClr val="C4877B"/>
            </a:solidFill>
            <a:ln>
              <a:noFill/>
            </a:ln>
          </p:spPr>
        </p:sp>
        <p:sp>
          <p:nvSpPr>
            <p:cNvPr id="244" name="TextBox 244"/>
            <p:cNvSpPr txBox="1"/>
            <p:nvPr/>
          </p:nvSpPr>
          <p:spPr>
            <a:xfrm>
              <a:off x="7366445" y="3648789"/>
              <a:ext cx="316610"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1.00​</a:t>
              </a:r>
            </a:p>
          </p:txBody>
        </p:sp>
        <p:sp>
          <p:nvSpPr>
            <p:cNvPr id="245" name="TextBox 245"/>
            <p:cNvSpPr txBox="1"/>
            <p:nvPr/>
          </p:nvSpPr>
          <p:spPr>
            <a:xfrm>
              <a:off x="4071938" y="3969782"/>
              <a:ext cx="440309"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风险等级：</a:t>
              </a:r>
            </a:p>
          </p:txBody>
        </p:sp>
        <p:sp>
          <p:nvSpPr>
            <p:cNvPr id="246" name="Rectangle 246"/>
            <p:cNvSpPr/>
            <p:nvPr/>
          </p:nvSpPr>
          <p:spPr>
            <a:xfrm>
              <a:off x="4552950" y="3952875"/>
              <a:ext cx="133350" cy="95250"/>
            </a:xfrm>
            <a:prstGeom prst="rect">
              <a:avLst/>
            </a:prstGeom>
            <a:solidFill>
              <a:srgbClr val="C4877B"/>
            </a:solidFill>
            <a:ln>
              <a:noFill/>
            </a:ln>
          </p:spPr>
        </p:sp>
        <p:sp>
          <p:nvSpPr>
            <p:cNvPr id="247" name="TextBox 247"/>
            <p:cNvSpPr txBox="1"/>
            <p:nvPr/>
          </p:nvSpPr>
          <p:spPr>
            <a:xfrm>
              <a:off x="4719638" y="3969782"/>
              <a:ext cx="362768"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1（低）​</a:t>
              </a:r>
            </a:p>
          </p:txBody>
        </p:sp>
        <p:sp>
          <p:nvSpPr>
            <p:cNvPr id="248" name="Rectangle 248"/>
            <p:cNvSpPr/>
            <p:nvPr/>
          </p:nvSpPr>
          <p:spPr>
            <a:xfrm>
              <a:off x="5124450" y="3952875"/>
              <a:ext cx="133350" cy="95250"/>
            </a:xfrm>
            <a:prstGeom prst="rect">
              <a:avLst/>
            </a:prstGeom>
            <a:solidFill>
              <a:srgbClr val="DDA9A0"/>
            </a:solidFill>
            <a:ln>
              <a:noFill/>
            </a:ln>
          </p:spPr>
        </p:sp>
        <p:sp>
          <p:nvSpPr>
            <p:cNvPr id="249" name="TextBox 249"/>
            <p:cNvSpPr txBox="1"/>
            <p:nvPr/>
          </p:nvSpPr>
          <p:spPr>
            <a:xfrm>
              <a:off x="5291138" y="3969782"/>
              <a:ext cx="104297"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2​</a:t>
              </a:r>
            </a:p>
          </p:txBody>
        </p:sp>
        <p:sp>
          <p:nvSpPr>
            <p:cNvPr id="250" name="Rectangle 250"/>
            <p:cNvSpPr/>
            <p:nvPr/>
          </p:nvSpPr>
          <p:spPr>
            <a:xfrm>
              <a:off x="5505450" y="3952875"/>
              <a:ext cx="133350" cy="95250"/>
            </a:xfrm>
            <a:prstGeom prst="rect">
              <a:avLst/>
            </a:prstGeom>
            <a:solidFill>
              <a:srgbClr val="F25337"/>
            </a:solidFill>
            <a:ln>
              <a:noFill/>
            </a:ln>
          </p:spPr>
        </p:sp>
        <p:sp>
          <p:nvSpPr>
            <p:cNvPr id="251" name="TextBox 251"/>
            <p:cNvSpPr txBox="1"/>
            <p:nvPr/>
          </p:nvSpPr>
          <p:spPr>
            <a:xfrm>
              <a:off x="5672138" y="3969782"/>
              <a:ext cx="104297"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3​</a:t>
              </a:r>
            </a:p>
          </p:txBody>
        </p:sp>
        <p:sp>
          <p:nvSpPr>
            <p:cNvPr id="252" name="Rectangle 252"/>
            <p:cNvSpPr/>
            <p:nvPr/>
          </p:nvSpPr>
          <p:spPr>
            <a:xfrm>
              <a:off x="5886450" y="3952875"/>
              <a:ext cx="133350" cy="95250"/>
            </a:xfrm>
            <a:prstGeom prst="rect">
              <a:avLst/>
            </a:prstGeom>
            <a:solidFill>
              <a:srgbClr val="F07E6B"/>
            </a:solidFill>
            <a:ln>
              <a:noFill/>
            </a:ln>
          </p:spPr>
        </p:sp>
        <p:sp>
          <p:nvSpPr>
            <p:cNvPr id="253" name="TextBox 253"/>
            <p:cNvSpPr txBox="1"/>
            <p:nvPr/>
          </p:nvSpPr>
          <p:spPr>
            <a:xfrm>
              <a:off x="6053138" y="3969782"/>
              <a:ext cx="104297"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4​</a:t>
              </a:r>
            </a:p>
          </p:txBody>
        </p:sp>
        <p:sp>
          <p:nvSpPr>
            <p:cNvPr id="254" name="Rectangle 254"/>
            <p:cNvSpPr/>
            <p:nvPr/>
          </p:nvSpPr>
          <p:spPr>
            <a:xfrm>
              <a:off x="6267450" y="3952875"/>
              <a:ext cx="133350" cy="95250"/>
            </a:xfrm>
            <a:prstGeom prst="rect">
              <a:avLst/>
            </a:prstGeom>
            <a:solidFill>
              <a:srgbClr val="E0604A"/>
            </a:solidFill>
            <a:ln>
              <a:noFill/>
            </a:ln>
          </p:spPr>
        </p:sp>
        <p:sp>
          <p:nvSpPr>
            <p:cNvPr id="255" name="TextBox 255"/>
            <p:cNvSpPr txBox="1"/>
            <p:nvPr/>
          </p:nvSpPr>
          <p:spPr>
            <a:xfrm>
              <a:off x="6434138" y="3969782"/>
              <a:ext cx="362768"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5（高）​</a:t>
              </a:r>
            </a:p>
          </p:txBody>
        </p:sp>
        <p:sp>
          <p:nvSpPr>
            <p:cNvPr id="256" name="TextBox 256"/>
            <p:cNvSpPr txBox="1"/>
            <p:nvPr/>
          </p:nvSpPr>
          <p:spPr>
            <a:xfrm>
              <a:off x="4071938" y="4179332"/>
              <a:ext cx="267995" cy="126206"/>
            </a:xfrm>
            <a:prstGeom prst="rect">
              <a:avLst/>
            </a:prstGeom>
            <a:noFill/>
            <a:ln>
              <a:noFill/>
            </a:ln>
          </p:spPr>
          <p:txBody>
            <a:bodyPr wrap="none" lIns="0" tIns="0" rIns="0" bIns="0" anchor="t" anchorCtr="0">
              <a:spAutoFit/>
            </a:bodyPr>
            <a:lstStyle/>
            <a:p>
              <a:pPr algn="l"/>
              <a:r>
                <a:rPr lang="zh-CN" sz="640" b="1" dirty="0">
                  <a:solidFill>
                    <a:srgbClr val="5F3A33"/>
                  </a:solidFill>
                  <a:latin typeface="+mn-lt"/>
                  <a:ea typeface="+mn-ea"/>
                  <a:cs typeface="+mn-cs"/>
                </a:rPr>
                <a:t>说明：</a:t>
              </a:r>
            </a:p>
          </p:txBody>
        </p:sp>
        <p:sp>
          <p:nvSpPr>
            <p:cNvPr id="257" name="TextBox 257"/>
            <p:cNvSpPr txBox="1"/>
            <p:nvPr/>
          </p:nvSpPr>
          <p:spPr>
            <a:xfrm>
              <a:off x="4071938" y="4316730"/>
              <a:ext cx="2280285" cy="233362"/>
            </a:xfrm>
            <a:prstGeom prst="rect">
              <a:avLst/>
            </a:prstGeom>
            <a:noFill/>
            <a:ln>
              <a:noFill/>
            </a:ln>
          </p:spPr>
          <p:txBody>
            <a:bodyPr wrap="none" lIns="0" tIns="0" rIns="0" bIns="0" anchor="t" anchorCtr="0">
              <a:spAutoFit/>
            </a:bodyPr>
            <a:lstStyle/>
            <a:p>
              <a:pPr algn="l">
                <a:lnSpc>
                  <a:spcPts val="900"/>
                </a:lnSpc>
              </a:pPr>
              <a:r>
                <a:rPr lang="zh-CN" sz="600" dirty="0">
                  <a:solidFill>
                    <a:srgbClr val="70504A"/>
                  </a:solidFill>
                  <a:latin typeface="+mn-lt"/>
                  <a:ea typeface="+mn-ea"/>
                  <a:cs typeface="+mn-cs"/>
                </a:rPr>
                <a:t>1. 风险得分按各维度加权得出，权重分别为：​</a:t>
              </a:r>
              <a:br/>
              <a:r>
                <a:rPr lang="zh-CN" sz="600" dirty="0">
                  <a:solidFill>
                    <a:srgbClr val="70504A"/>
                  </a:solidFill>
                  <a:latin typeface="+mn-lt"/>
                  <a:ea typeface="+mn-ea"/>
                  <a:cs typeface="+mn-cs"/>
                </a:rPr>
                <a:t>现金流30%、负债率25%、担保20%、集中度15%、市场景气10%。​</a:t>
              </a:r>
            </a:p>
          </p:txBody>
        </p:sp>
        <p:sp>
          <p:nvSpPr>
            <p:cNvPr id="258" name="TextBox 258"/>
            <p:cNvSpPr txBox="1"/>
            <p:nvPr/>
          </p:nvSpPr>
          <p:spPr>
            <a:xfrm>
              <a:off x="4071938" y="4583430"/>
              <a:ext cx="2670962"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2. 房地产、建筑行业风险较大，需重点关注现金流恶化与项目去化风险。​</a:t>
              </a:r>
            </a:p>
          </p:txBody>
        </p:sp>
      </p:grpSp>
      <p:grpSp>
        <p:nvGrpSpPr>
          <p:cNvPr id="311" name="risk-list"/>
          <p:cNvGrpSpPr/>
          <p:nvPr/>
        </p:nvGrpSpPr>
        <p:grpSpPr>
          <a:xfrm>
            <a:off x="8077200" y="1562100"/>
            <a:ext cx="3886200" cy="3390900"/>
            <a:chOff x="8077200" y="1562100"/>
            <a:chExt cx="3886200" cy="3390900"/>
          </a:xfrm>
        </p:grpSpPr>
        <p:sp>
          <p:nvSpPr>
            <p:cNvPr id="260" name="Rectangle 260"/>
            <p:cNvSpPr/>
            <p:nvPr/>
          </p:nvSpPr>
          <p:spPr>
            <a:xfrm>
              <a:off x="8077200" y="1562100"/>
              <a:ext cx="3886200" cy="3390900"/>
            </a:xfrm>
            <a:prstGeom prst="roundRect">
              <a:avLst>
                <a:gd name="adj" fmla="val 1685"/>
              </a:avLst>
            </a:prstGeom>
            <a:solidFill>
              <a:srgbClr val="FFFFFF"/>
            </a:solidFill>
            <a:ln w="9525">
              <a:solidFill>
                <a:srgbClr val="C9D6E9"/>
              </a:solidFill>
            </a:ln>
          </p:spPr>
        </p:sp>
        <p:sp>
          <p:nvSpPr>
            <p:cNvPr id="261" name="Rectangle 261"/>
            <p:cNvSpPr/>
            <p:nvPr/>
          </p:nvSpPr>
          <p:spPr>
            <a:xfrm>
              <a:off x="8077200" y="1562100"/>
              <a:ext cx="3886200" cy="228600"/>
            </a:xfrm>
            <a:prstGeom prst="roundRect">
              <a:avLst>
                <a:gd name="adj" fmla="val 25000"/>
              </a:avLst>
            </a:prstGeom>
            <a:solidFill>
              <a:srgbClr val="69281B"/>
            </a:solidFill>
            <a:ln>
              <a:noFill/>
            </a:ln>
          </p:spPr>
        </p:sp>
        <p:sp>
          <p:nvSpPr>
            <p:cNvPr id="262" name="Rectangle 262"/>
            <p:cNvSpPr/>
            <p:nvPr/>
          </p:nvSpPr>
          <p:spPr>
            <a:xfrm>
              <a:off x="8077200" y="1695450"/>
              <a:ext cx="3886200" cy="95250"/>
            </a:xfrm>
            <a:prstGeom prst="rect">
              <a:avLst/>
            </a:prstGeom>
            <a:solidFill>
              <a:srgbClr val="69281B"/>
            </a:solidFill>
            <a:ln>
              <a:noFill/>
            </a:ln>
          </p:spPr>
        </p:sp>
        <p:sp>
          <p:nvSpPr>
            <p:cNvPr id="263" name="TextBox 263"/>
            <p:cNvSpPr txBox="1"/>
            <p:nvPr/>
          </p:nvSpPr>
          <p:spPr>
            <a:xfrm>
              <a:off x="8820162" y="1626870"/>
              <a:ext cx="240027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大额授信客户风险清单（敞口金额≥1亿元）​</a:t>
              </a:r>
            </a:p>
          </p:txBody>
        </p:sp>
        <p:sp>
          <p:nvSpPr>
            <p:cNvPr id="264" name="Rectangle 264"/>
            <p:cNvSpPr/>
            <p:nvPr/>
          </p:nvSpPr>
          <p:spPr>
            <a:xfrm>
              <a:off x="8153400" y="1828800"/>
              <a:ext cx="3733800" cy="228600"/>
            </a:xfrm>
            <a:prstGeom prst="rect">
              <a:avLst/>
            </a:prstGeom>
            <a:solidFill>
              <a:srgbClr val="EAF1FB"/>
            </a:solidFill>
            <a:ln>
              <a:noFill/>
            </a:ln>
          </p:spPr>
        </p:sp>
        <p:sp>
          <p:nvSpPr>
            <p:cNvPr id="265" name="TextBox 265"/>
            <p:cNvSpPr txBox="1"/>
            <p:nvPr/>
          </p:nvSpPr>
          <p:spPr>
            <a:xfrm>
              <a:off x="8357324" y="19028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客户名称</a:t>
              </a:r>
            </a:p>
          </p:txBody>
        </p:sp>
        <p:sp>
          <p:nvSpPr>
            <p:cNvPr id="266" name="TextBox 266"/>
            <p:cNvSpPr txBox="1"/>
            <p:nvPr/>
          </p:nvSpPr>
          <p:spPr>
            <a:xfrm>
              <a:off x="8976449" y="18647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敞口金额</a:t>
              </a:r>
            </a:p>
          </p:txBody>
        </p:sp>
        <p:sp>
          <p:nvSpPr>
            <p:cNvPr id="267" name="TextBox 267"/>
            <p:cNvSpPr txBox="1"/>
            <p:nvPr/>
          </p:nvSpPr>
          <p:spPr>
            <a:xfrm>
              <a:off x="8997988" y="1968103"/>
              <a:ext cx="311074" cy="111919"/>
            </a:xfrm>
            <a:prstGeom prst="rect">
              <a:avLst/>
            </a:prstGeom>
            <a:noFill/>
            <a:ln>
              <a:noFill/>
            </a:ln>
          </p:spPr>
          <p:txBody>
            <a:bodyPr wrap="none" lIns="0" tIns="0" rIns="0" bIns="0" anchor="t" anchorCtr="0">
              <a:spAutoFit/>
            </a:bodyPr>
            <a:lstStyle/>
            <a:p>
              <a:pPr algn="ctr"/>
              <a:r>
                <a:rPr lang="zh-CN" sz="560" dirty="0">
                  <a:solidFill>
                    <a:srgbClr val="69281B"/>
                  </a:solidFill>
                  <a:latin typeface="+mn-lt"/>
                  <a:ea typeface="+mn-ea"/>
                  <a:cs typeface="+mn-cs"/>
                </a:rPr>
                <a:t>（亿元）</a:t>
              </a:r>
            </a:p>
          </p:txBody>
        </p:sp>
        <p:sp>
          <p:nvSpPr>
            <p:cNvPr id="268" name="TextBox 268"/>
            <p:cNvSpPr txBox="1"/>
            <p:nvPr/>
          </p:nvSpPr>
          <p:spPr>
            <a:xfrm>
              <a:off x="9814649" y="19028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预警信号</a:t>
              </a:r>
            </a:p>
          </p:txBody>
        </p:sp>
        <p:sp>
          <p:nvSpPr>
            <p:cNvPr id="269" name="TextBox 269"/>
            <p:cNvSpPr txBox="1"/>
            <p:nvPr/>
          </p:nvSpPr>
          <p:spPr>
            <a:xfrm>
              <a:off x="10586174" y="19028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风险等级</a:t>
              </a:r>
            </a:p>
          </p:txBody>
        </p:sp>
        <p:sp>
          <p:nvSpPr>
            <p:cNvPr id="270" name="TextBox 270"/>
            <p:cNvSpPr txBox="1"/>
            <p:nvPr/>
          </p:nvSpPr>
          <p:spPr>
            <a:xfrm>
              <a:off x="11320031" y="1902857"/>
              <a:ext cx="181839"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措施</a:t>
              </a:r>
            </a:p>
          </p:txBody>
        </p:sp>
        <p:sp>
          <p:nvSpPr>
            <p:cNvPr id="271" name="TextBox 271"/>
            <p:cNvSpPr txBox="1"/>
            <p:nvPr/>
          </p:nvSpPr>
          <p:spPr>
            <a:xfrm>
              <a:off x="8306160" y="2198132"/>
              <a:ext cx="456480"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A地产集团​</a:t>
              </a:r>
            </a:p>
          </p:txBody>
        </p:sp>
        <p:sp>
          <p:nvSpPr>
            <p:cNvPr id="272" name="TextBox 272"/>
            <p:cNvSpPr txBox="1"/>
            <p:nvPr/>
          </p:nvSpPr>
          <p:spPr>
            <a:xfrm>
              <a:off x="8990167" y="2194084"/>
              <a:ext cx="326717"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18.60​</a:t>
              </a:r>
            </a:p>
          </p:txBody>
        </p:sp>
        <p:sp>
          <p:nvSpPr>
            <p:cNvPr id="273" name="TextBox 273"/>
            <p:cNvSpPr txBox="1"/>
            <p:nvPr/>
          </p:nvSpPr>
          <p:spPr>
            <a:xfrm>
              <a:off x="9463088" y="2108549"/>
              <a:ext cx="527685" cy="30670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销售回款下降</a:t>
              </a:r>
            </a:p>
            <a:p>
              <a:pPr algn="l" marL="76200" indent="-76200">
                <a:lnSpc>
                  <a:spcPts val="750"/>
                </a:lnSpc>
                <a:buClr>
                  <a:srgbClr val="70504A"/>
                </a:buClr>
                <a:buSzTx/>
                <a:buFontTx/>
                <a:buChar char="•"/>
              </a:pPr>
              <a:r>
                <a:rPr lang="zh-CN" sz="580" dirty="0">
                  <a:solidFill>
                    <a:srgbClr val="70504A"/>
                  </a:solidFill>
                  <a:latin typeface="+mn-lt"/>
                  <a:ea typeface="+mn-ea"/>
                  <a:cs typeface="+mn-cs"/>
                </a:rPr>
                <a:t>新增土储减少</a:t>
              </a:r>
            </a:p>
            <a:p>
              <a:pPr algn="l" marL="76200" indent="-76200">
                <a:lnSpc>
                  <a:spcPts val="750"/>
                </a:lnSpc>
                <a:buClr>
                  <a:srgbClr val="70504A"/>
                </a:buClr>
                <a:buSzTx/>
                <a:buFontTx/>
                <a:buChar char="•"/>
              </a:pPr>
              <a:r>
                <a:rPr lang="zh-CN" sz="580" dirty="0">
                  <a:solidFill>
                    <a:srgbClr val="70504A"/>
                  </a:solidFill>
                  <a:latin typeface="+mn-lt"/>
                  <a:ea typeface="+mn-ea"/>
                  <a:cs typeface="+mn-cs"/>
                </a:rPr>
                <a:t>债务集中到期</a:t>
              </a:r>
            </a:p>
          </p:txBody>
        </p:sp>
        <p:sp>
          <p:nvSpPr>
            <p:cNvPr id="274" name="TextBox 274"/>
            <p:cNvSpPr txBox="1"/>
            <p:nvPr/>
          </p:nvSpPr>
          <p:spPr>
            <a:xfrm>
              <a:off x="10712717" y="2194084"/>
              <a:ext cx="101067" cy="133350"/>
            </a:xfrm>
            <a:prstGeom prst="rect">
              <a:avLst/>
            </a:prstGeom>
            <a:noFill/>
            <a:ln>
              <a:noFill/>
            </a:ln>
          </p:spPr>
          <p:txBody>
            <a:bodyPr wrap="none" lIns="0" tIns="0" rIns="0" bIns="0" anchor="t" anchorCtr="0">
              <a:spAutoFit/>
            </a:bodyPr>
            <a:lstStyle/>
            <a:p>
              <a:pPr algn="ctr"/>
              <a:r>
                <a:rPr lang="zh-CN" sz="680" b="1" dirty="0">
                  <a:solidFill>
                    <a:srgbClr val="D0442C"/>
                  </a:solidFill>
                  <a:latin typeface="+mn-lt"/>
                  <a:ea typeface="+mn-ea"/>
                  <a:cs typeface="+mn-cs"/>
                </a:rPr>
                <a:t>高</a:t>
              </a:r>
            </a:p>
          </p:txBody>
        </p:sp>
        <p:sp>
          <p:nvSpPr>
            <p:cNvPr id="275" name="TextBox 275"/>
            <p:cNvSpPr txBox="1"/>
            <p:nvPr/>
          </p:nvSpPr>
          <p:spPr>
            <a:xfrm>
              <a:off x="11006138" y="2108549"/>
              <a:ext cx="601345" cy="30670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压降敞口</a:t>
              </a:r>
            </a:p>
            <a:p>
              <a:pPr algn="l" marL="76200" indent="-76200">
                <a:lnSpc>
                  <a:spcPts val="750"/>
                </a:lnSpc>
                <a:buClr>
                  <a:srgbClr val="70504A"/>
                </a:buClr>
                <a:buSzTx/>
                <a:buFontTx/>
                <a:buChar char="•"/>
              </a:pPr>
              <a:r>
                <a:rPr lang="zh-CN" sz="580" dirty="0">
                  <a:solidFill>
                    <a:srgbClr val="70504A"/>
                  </a:solidFill>
                  <a:latin typeface="+mn-lt"/>
                  <a:ea typeface="+mn-ea"/>
                  <a:cs typeface="+mn-cs"/>
                </a:rPr>
                <a:t>追加担保</a:t>
              </a:r>
            </a:p>
            <a:p>
              <a:pPr algn="l" marL="76200" indent="-76200">
                <a:lnSpc>
                  <a:spcPts val="750"/>
                </a:lnSpc>
                <a:buClr>
                  <a:srgbClr val="70504A"/>
                </a:buClr>
                <a:buSzTx/>
                <a:buFontTx/>
                <a:buChar char="•"/>
              </a:pPr>
              <a:r>
                <a:rPr lang="zh-CN" sz="580" dirty="0">
                  <a:solidFill>
                    <a:srgbClr val="70504A"/>
                  </a:solidFill>
                  <a:latin typeface="+mn-lt"/>
                  <a:ea typeface="+mn-ea"/>
                  <a:cs typeface="+mn-cs"/>
                </a:rPr>
                <a:t>强化现金流监控</a:t>
              </a:r>
            </a:p>
          </p:txBody>
        </p:sp>
        <p:sp>
          <p:nvSpPr>
            <p:cNvPr id="276" name="Line 276"/>
            <p:cNvSpPr/>
            <p:nvPr/>
          </p:nvSpPr>
          <p:spPr>
            <a:xfrm>
              <a:off x="8153400" y="2438400"/>
              <a:ext cx="3733800" cy="9525"/>
            </a:xfrm>
            <a:custGeom>
              <a:avLst/>
              <a:gdLst/>
              <a:ahLst/>
              <a:cxnLst/>
              <a:rect l="l" t="t" r="r" b="b"/>
              <a:pathLst>
                <a:path w="3733800" h="9525">
                  <a:moveTo>
                    <a:pt x="0" y="0"/>
                  </a:moveTo>
                  <a:lnTo>
                    <a:pt x="3733800" y="0"/>
                  </a:lnTo>
                </a:path>
              </a:pathLst>
            </a:custGeom>
            <a:noFill/>
            <a:ln w="9525">
              <a:solidFill>
                <a:srgbClr val="EDF2FA"/>
              </a:solidFill>
            </a:ln>
          </p:spPr>
        </p:sp>
        <p:sp>
          <p:nvSpPr>
            <p:cNvPr id="277" name="TextBox 277"/>
            <p:cNvSpPr txBox="1"/>
            <p:nvPr/>
          </p:nvSpPr>
          <p:spPr>
            <a:xfrm>
              <a:off x="8220003" y="2579132"/>
              <a:ext cx="628793"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B建筑工程公司​</a:t>
              </a:r>
            </a:p>
          </p:txBody>
        </p:sp>
        <p:sp>
          <p:nvSpPr>
            <p:cNvPr id="278" name="TextBox 278"/>
            <p:cNvSpPr txBox="1"/>
            <p:nvPr/>
          </p:nvSpPr>
          <p:spPr>
            <a:xfrm>
              <a:off x="8990167" y="2575084"/>
              <a:ext cx="326717"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12.30​</a:t>
              </a:r>
            </a:p>
          </p:txBody>
        </p:sp>
        <p:sp>
          <p:nvSpPr>
            <p:cNvPr id="279" name="TextBox 279"/>
            <p:cNvSpPr txBox="1"/>
            <p:nvPr/>
          </p:nvSpPr>
          <p:spPr>
            <a:xfrm>
              <a:off x="9463088" y="2537174"/>
              <a:ext cx="67500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在建项目回款滞后</a:t>
              </a:r>
            </a:p>
            <a:p>
              <a:pPr algn="l" marL="76200" indent="-76200">
                <a:lnSpc>
                  <a:spcPts val="750"/>
                </a:lnSpc>
                <a:buClr>
                  <a:srgbClr val="70504A"/>
                </a:buClr>
                <a:buSzTx/>
                <a:buFontTx/>
                <a:buChar char="•"/>
              </a:pPr>
              <a:r>
                <a:rPr lang="zh-CN" sz="580" dirty="0">
                  <a:solidFill>
                    <a:srgbClr val="70504A"/>
                  </a:solidFill>
                  <a:latin typeface="+mn-lt"/>
                  <a:ea typeface="+mn-ea"/>
                  <a:cs typeface="+mn-cs"/>
                </a:rPr>
                <a:t>应收账款上升</a:t>
              </a:r>
            </a:p>
          </p:txBody>
        </p:sp>
        <p:sp>
          <p:nvSpPr>
            <p:cNvPr id="280" name="TextBox 280"/>
            <p:cNvSpPr txBox="1"/>
            <p:nvPr/>
          </p:nvSpPr>
          <p:spPr>
            <a:xfrm>
              <a:off x="10712717" y="2575084"/>
              <a:ext cx="101067" cy="133350"/>
            </a:xfrm>
            <a:prstGeom prst="rect">
              <a:avLst/>
            </a:prstGeom>
            <a:noFill/>
            <a:ln>
              <a:noFill/>
            </a:ln>
          </p:spPr>
          <p:txBody>
            <a:bodyPr wrap="none" lIns="0" tIns="0" rIns="0" bIns="0" anchor="t" anchorCtr="0">
              <a:spAutoFit/>
            </a:bodyPr>
            <a:lstStyle/>
            <a:p>
              <a:pPr algn="ctr"/>
              <a:r>
                <a:rPr lang="zh-CN" sz="680" b="1" dirty="0">
                  <a:solidFill>
                    <a:srgbClr val="D0442C"/>
                  </a:solidFill>
                  <a:latin typeface="+mn-lt"/>
                  <a:ea typeface="+mn-ea"/>
                  <a:cs typeface="+mn-cs"/>
                </a:rPr>
                <a:t>高</a:t>
              </a:r>
            </a:p>
          </p:txBody>
        </p:sp>
        <p:sp>
          <p:nvSpPr>
            <p:cNvPr id="281" name="TextBox 281"/>
            <p:cNvSpPr txBox="1"/>
            <p:nvPr/>
          </p:nvSpPr>
          <p:spPr>
            <a:xfrm>
              <a:off x="11006138" y="2537174"/>
              <a:ext cx="52768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调整结算方式</a:t>
              </a:r>
            </a:p>
            <a:p>
              <a:pPr algn="l" marL="76200" indent="-76200">
                <a:lnSpc>
                  <a:spcPts val="750"/>
                </a:lnSpc>
                <a:buClr>
                  <a:srgbClr val="70504A"/>
                </a:buClr>
                <a:buSzTx/>
                <a:buFontTx/>
                <a:buChar char="•"/>
              </a:pPr>
              <a:r>
                <a:rPr lang="zh-CN" sz="580" dirty="0">
                  <a:solidFill>
                    <a:srgbClr val="70504A"/>
                  </a:solidFill>
                  <a:latin typeface="+mn-lt"/>
                  <a:ea typeface="+mn-ea"/>
                  <a:cs typeface="+mn-cs"/>
                </a:rPr>
                <a:t>加强项目跟踪</a:t>
              </a:r>
            </a:p>
          </p:txBody>
        </p:sp>
        <p:sp>
          <p:nvSpPr>
            <p:cNvPr id="282" name="Line 282"/>
            <p:cNvSpPr/>
            <p:nvPr/>
          </p:nvSpPr>
          <p:spPr>
            <a:xfrm>
              <a:off x="8153400" y="2819400"/>
              <a:ext cx="3733800" cy="9525"/>
            </a:xfrm>
            <a:custGeom>
              <a:avLst/>
              <a:gdLst/>
              <a:ahLst/>
              <a:cxnLst/>
              <a:rect l="l" t="t" r="r" b="b"/>
              <a:pathLst>
                <a:path w="3733800" h="9525">
                  <a:moveTo>
                    <a:pt x="0" y="0"/>
                  </a:moveTo>
                  <a:lnTo>
                    <a:pt x="3733800" y="0"/>
                  </a:lnTo>
                </a:path>
              </a:pathLst>
            </a:custGeom>
            <a:noFill/>
            <a:ln w="9525">
              <a:solidFill>
                <a:srgbClr val="EDF2FA"/>
              </a:solidFill>
            </a:ln>
          </p:spPr>
        </p:sp>
        <p:sp>
          <p:nvSpPr>
            <p:cNvPr id="283" name="TextBox 283"/>
            <p:cNvSpPr txBox="1"/>
            <p:nvPr/>
          </p:nvSpPr>
          <p:spPr>
            <a:xfrm>
              <a:off x="8220003" y="2960132"/>
              <a:ext cx="628793"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C商贸有限公司​</a:t>
              </a:r>
            </a:p>
          </p:txBody>
        </p:sp>
        <p:sp>
          <p:nvSpPr>
            <p:cNvPr id="284" name="TextBox 284"/>
            <p:cNvSpPr txBox="1"/>
            <p:nvPr/>
          </p:nvSpPr>
          <p:spPr>
            <a:xfrm>
              <a:off x="8990167" y="2956084"/>
              <a:ext cx="326717"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10.80​</a:t>
              </a:r>
            </a:p>
          </p:txBody>
        </p:sp>
        <p:sp>
          <p:nvSpPr>
            <p:cNvPr id="285" name="TextBox 285"/>
            <p:cNvSpPr txBox="1"/>
            <p:nvPr/>
          </p:nvSpPr>
          <p:spPr>
            <a:xfrm>
              <a:off x="9463088" y="2918174"/>
              <a:ext cx="52768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存货周转放缓</a:t>
              </a:r>
            </a:p>
            <a:p>
              <a:pPr algn="l" marL="76200" indent="-76200">
                <a:lnSpc>
                  <a:spcPts val="750"/>
                </a:lnSpc>
                <a:buClr>
                  <a:srgbClr val="70504A"/>
                </a:buClr>
                <a:buSzTx/>
                <a:buFontTx/>
                <a:buChar char="•"/>
              </a:pPr>
              <a:r>
                <a:rPr lang="zh-CN" sz="580" dirty="0">
                  <a:solidFill>
                    <a:srgbClr val="70504A"/>
                  </a:solidFill>
                  <a:latin typeface="+mn-lt"/>
                  <a:ea typeface="+mn-ea"/>
                  <a:cs typeface="+mn-cs"/>
                </a:rPr>
                <a:t>毛利率下降</a:t>
              </a:r>
            </a:p>
          </p:txBody>
        </p:sp>
        <p:sp>
          <p:nvSpPr>
            <p:cNvPr id="286" name="TextBox 286"/>
            <p:cNvSpPr txBox="1"/>
            <p:nvPr/>
          </p:nvSpPr>
          <p:spPr>
            <a:xfrm>
              <a:off x="10712717" y="2956084"/>
              <a:ext cx="101067" cy="133350"/>
            </a:xfrm>
            <a:prstGeom prst="rect">
              <a:avLst/>
            </a:prstGeom>
            <a:noFill/>
            <a:ln>
              <a:noFill/>
            </a:ln>
          </p:spPr>
          <p:txBody>
            <a:bodyPr wrap="none" lIns="0" tIns="0" rIns="0" bIns="0" anchor="t" anchorCtr="0">
              <a:spAutoFit/>
            </a:bodyPr>
            <a:lstStyle/>
            <a:p>
              <a:pPr algn="ctr"/>
              <a:r>
                <a:rPr lang="zh-CN" sz="680" b="1" dirty="0">
                  <a:solidFill>
                    <a:srgbClr val="E82D0C"/>
                  </a:solidFill>
                  <a:latin typeface="+mn-lt"/>
                  <a:ea typeface="+mn-ea"/>
                  <a:cs typeface="+mn-cs"/>
                </a:rPr>
                <a:t>中</a:t>
              </a:r>
            </a:p>
          </p:txBody>
        </p:sp>
        <p:sp>
          <p:nvSpPr>
            <p:cNvPr id="287" name="TextBox 287"/>
            <p:cNvSpPr txBox="1"/>
            <p:nvPr/>
          </p:nvSpPr>
          <p:spPr>
            <a:xfrm>
              <a:off x="11006138" y="2918174"/>
              <a:ext cx="52768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控制新增授信</a:t>
              </a:r>
            </a:p>
            <a:p>
              <a:pPr algn="l" marL="76200" indent="-76200">
                <a:lnSpc>
                  <a:spcPts val="750"/>
                </a:lnSpc>
                <a:buClr>
                  <a:srgbClr val="70504A"/>
                </a:buClr>
                <a:buSzTx/>
                <a:buFontTx/>
                <a:buChar char="•"/>
              </a:pPr>
              <a:r>
                <a:rPr lang="zh-CN" sz="580" dirty="0">
                  <a:solidFill>
                    <a:srgbClr val="70504A"/>
                  </a:solidFill>
                  <a:latin typeface="+mn-lt"/>
                  <a:ea typeface="+mn-ea"/>
                  <a:cs typeface="+mn-cs"/>
                </a:rPr>
                <a:t>跟踪库存情况</a:t>
              </a:r>
            </a:p>
          </p:txBody>
        </p:sp>
        <p:sp>
          <p:nvSpPr>
            <p:cNvPr id="288" name="Line 288"/>
            <p:cNvSpPr/>
            <p:nvPr/>
          </p:nvSpPr>
          <p:spPr>
            <a:xfrm>
              <a:off x="8153400" y="3200400"/>
              <a:ext cx="3733800" cy="9525"/>
            </a:xfrm>
            <a:custGeom>
              <a:avLst/>
              <a:gdLst/>
              <a:ahLst/>
              <a:cxnLst/>
              <a:rect l="l" t="t" r="r" b="b"/>
              <a:pathLst>
                <a:path w="3733800" h="9525">
                  <a:moveTo>
                    <a:pt x="0" y="0"/>
                  </a:moveTo>
                  <a:lnTo>
                    <a:pt x="3733800" y="0"/>
                  </a:lnTo>
                </a:path>
              </a:pathLst>
            </a:custGeom>
            <a:noFill/>
            <a:ln w="9525">
              <a:solidFill>
                <a:srgbClr val="EDF2FA"/>
              </a:solidFill>
            </a:ln>
          </p:spPr>
        </p:sp>
        <p:sp>
          <p:nvSpPr>
            <p:cNvPr id="289" name="TextBox 289"/>
            <p:cNvSpPr txBox="1"/>
            <p:nvPr/>
          </p:nvSpPr>
          <p:spPr>
            <a:xfrm>
              <a:off x="8220003" y="3341132"/>
              <a:ext cx="628793"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D制造股份公司​</a:t>
              </a:r>
            </a:p>
          </p:txBody>
        </p:sp>
        <p:sp>
          <p:nvSpPr>
            <p:cNvPr id="290" name="TextBox 290"/>
            <p:cNvSpPr txBox="1"/>
            <p:nvPr/>
          </p:nvSpPr>
          <p:spPr>
            <a:xfrm>
              <a:off x="9016599" y="3337084"/>
              <a:ext cx="27385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9.50​</a:t>
              </a:r>
            </a:p>
          </p:txBody>
        </p:sp>
        <p:sp>
          <p:nvSpPr>
            <p:cNvPr id="291" name="TextBox 291"/>
            <p:cNvSpPr txBox="1"/>
            <p:nvPr/>
          </p:nvSpPr>
          <p:spPr>
            <a:xfrm>
              <a:off x="9463088" y="3299174"/>
              <a:ext cx="52768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订单增长放缓</a:t>
              </a:r>
            </a:p>
            <a:p>
              <a:pPr algn="l" marL="76200" indent="-76200">
                <a:lnSpc>
                  <a:spcPts val="750"/>
                </a:lnSpc>
                <a:buClr>
                  <a:srgbClr val="70504A"/>
                </a:buClr>
                <a:buSzTx/>
                <a:buFontTx/>
                <a:buChar char="•"/>
              </a:pPr>
              <a:r>
                <a:rPr lang="zh-CN" sz="580" dirty="0">
                  <a:solidFill>
                    <a:srgbClr val="70504A"/>
                  </a:solidFill>
                  <a:latin typeface="+mn-lt"/>
                  <a:ea typeface="+mn-ea"/>
                  <a:cs typeface="+mn-cs"/>
                </a:rPr>
                <a:t>负债率上升</a:t>
              </a:r>
            </a:p>
          </p:txBody>
        </p:sp>
        <p:sp>
          <p:nvSpPr>
            <p:cNvPr id="292" name="TextBox 292"/>
            <p:cNvSpPr txBox="1"/>
            <p:nvPr/>
          </p:nvSpPr>
          <p:spPr>
            <a:xfrm>
              <a:off x="10712717" y="3337084"/>
              <a:ext cx="101067" cy="133350"/>
            </a:xfrm>
            <a:prstGeom prst="rect">
              <a:avLst/>
            </a:prstGeom>
            <a:noFill/>
            <a:ln>
              <a:noFill/>
            </a:ln>
          </p:spPr>
          <p:txBody>
            <a:bodyPr wrap="none" lIns="0" tIns="0" rIns="0" bIns="0" anchor="t" anchorCtr="0">
              <a:spAutoFit/>
            </a:bodyPr>
            <a:lstStyle/>
            <a:p>
              <a:pPr algn="ctr"/>
              <a:r>
                <a:rPr lang="zh-CN" sz="680" b="1" dirty="0">
                  <a:solidFill>
                    <a:srgbClr val="E82D0C"/>
                  </a:solidFill>
                  <a:latin typeface="+mn-lt"/>
                  <a:ea typeface="+mn-ea"/>
                  <a:cs typeface="+mn-cs"/>
                </a:rPr>
                <a:t>中</a:t>
              </a:r>
            </a:p>
          </p:txBody>
        </p:sp>
        <p:sp>
          <p:nvSpPr>
            <p:cNvPr id="293" name="TextBox 293"/>
            <p:cNvSpPr txBox="1"/>
            <p:nvPr/>
          </p:nvSpPr>
          <p:spPr>
            <a:xfrm>
              <a:off x="11006138" y="3299174"/>
              <a:ext cx="52768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优化授信结构</a:t>
              </a:r>
            </a:p>
            <a:p>
              <a:pPr algn="l" marL="76200" indent="-76200">
                <a:lnSpc>
                  <a:spcPts val="750"/>
                </a:lnSpc>
                <a:buClr>
                  <a:srgbClr val="70504A"/>
                </a:buClr>
                <a:buSzTx/>
                <a:buFontTx/>
                <a:buChar char="•"/>
              </a:pPr>
              <a:r>
                <a:rPr lang="zh-CN" sz="580" dirty="0">
                  <a:solidFill>
                    <a:srgbClr val="70504A"/>
                  </a:solidFill>
                  <a:latin typeface="+mn-lt"/>
                  <a:ea typeface="+mn-ea"/>
                  <a:cs typeface="+mn-cs"/>
                </a:rPr>
                <a:t>关注经营改善</a:t>
              </a:r>
            </a:p>
          </p:txBody>
        </p:sp>
        <p:sp>
          <p:nvSpPr>
            <p:cNvPr id="294" name="Line 294"/>
            <p:cNvSpPr/>
            <p:nvPr/>
          </p:nvSpPr>
          <p:spPr>
            <a:xfrm>
              <a:off x="8153400" y="3581400"/>
              <a:ext cx="3733800" cy="9525"/>
            </a:xfrm>
            <a:custGeom>
              <a:avLst/>
              <a:gdLst/>
              <a:ahLst/>
              <a:cxnLst/>
              <a:rect l="l" t="t" r="r" b="b"/>
              <a:pathLst>
                <a:path w="3733800" h="9525">
                  <a:moveTo>
                    <a:pt x="0" y="0"/>
                  </a:moveTo>
                  <a:lnTo>
                    <a:pt x="3733800" y="0"/>
                  </a:lnTo>
                </a:path>
              </a:pathLst>
            </a:custGeom>
            <a:noFill/>
            <a:ln w="9525">
              <a:solidFill>
                <a:srgbClr val="EDF2FA"/>
              </a:solidFill>
            </a:ln>
          </p:spPr>
        </p:sp>
        <p:sp>
          <p:nvSpPr>
            <p:cNvPr id="295" name="TextBox 295"/>
            <p:cNvSpPr txBox="1"/>
            <p:nvPr/>
          </p:nvSpPr>
          <p:spPr>
            <a:xfrm>
              <a:off x="8220003" y="3722132"/>
              <a:ext cx="628793"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E科技有限公司​</a:t>
              </a:r>
            </a:p>
          </p:txBody>
        </p:sp>
        <p:sp>
          <p:nvSpPr>
            <p:cNvPr id="296" name="TextBox 296"/>
            <p:cNvSpPr txBox="1"/>
            <p:nvPr/>
          </p:nvSpPr>
          <p:spPr>
            <a:xfrm>
              <a:off x="9016599" y="3718084"/>
              <a:ext cx="27385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7.80​</a:t>
              </a:r>
            </a:p>
          </p:txBody>
        </p:sp>
        <p:sp>
          <p:nvSpPr>
            <p:cNvPr id="297" name="TextBox 297"/>
            <p:cNvSpPr txBox="1"/>
            <p:nvPr/>
          </p:nvSpPr>
          <p:spPr>
            <a:xfrm>
              <a:off x="9463088" y="3680174"/>
              <a:ext cx="52768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研发投入加大</a:t>
              </a:r>
            </a:p>
            <a:p>
              <a:pPr algn="l" marL="76200" indent="-76200">
                <a:lnSpc>
                  <a:spcPts val="750"/>
                </a:lnSpc>
                <a:buClr>
                  <a:srgbClr val="70504A"/>
                </a:buClr>
                <a:buSzTx/>
                <a:buFontTx/>
                <a:buChar char="•"/>
              </a:pPr>
              <a:r>
                <a:rPr lang="zh-CN" sz="580" dirty="0">
                  <a:solidFill>
                    <a:srgbClr val="70504A"/>
                  </a:solidFill>
                  <a:latin typeface="+mn-lt"/>
                  <a:ea typeface="+mn-ea"/>
                  <a:cs typeface="+mn-cs"/>
                </a:rPr>
                <a:t>现金流波动</a:t>
              </a:r>
            </a:p>
          </p:txBody>
        </p:sp>
        <p:sp>
          <p:nvSpPr>
            <p:cNvPr id="298" name="TextBox 298"/>
            <p:cNvSpPr txBox="1"/>
            <p:nvPr/>
          </p:nvSpPr>
          <p:spPr>
            <a:xfrm>
              <a:off x="10712717" y="3718084"/>
              <a:ext cx="101067" cy="133350"/>
            </a:xfrm>
            <a:prstGeom prst="rect">
              <a:avLst/>
            </a:prstGeom>
            <a:noFill/>
            <a:ln>
              <a:noFill/>
            </a:ln>
          </p:spPr>
          <p:txBody>
            <a:bodyPr wrap="none" lIns="0" tIns="0" rIns="0" bIns="0" anchor="t" anchorCtr="0">
              <a:spAutoFit/>
            </a:bodyPr>
            <a:lstStyle/>
            <a:p>
              <a:pPr algn="ctr"/>
              <a:r>
                <a:rPr lang="zh-CN" sz="680" b="1" dirty="0">
                  <a:solidFill>
                    <a:srgbClr val="9E402E"/>
                  </a:solidFill>
                  <a:latin typeface="+mn-lt"/>
                  <a:ea typeface="+mn-ea"/>
                  <a:cs typeface="+mn-cs"/>
                </a:rPr>
                <a:t>低</a:t>
              </a:r>
            </a:p>
          </p:txBody>
        </p:sp>
        <p:sp>
          <p:nvSpPr>
            <p:cNvPr id="299" name="TextBox 299"/>
            <p:cNvSpPr txBox="1"/>
            <p:nvPr/>
          </p:nvSpPr>
          <p:spPr>
            <a:xfrm>
              <a:off x="11006138" y="3680174"/>
              <a:ext cx="38036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持续关注</a:t>
              </a:r>
            </a:p>
            <a:p>
              <a:pPr algn="l" marL="76200" indent="-76200">
                <a:lnSpc>
                  <a:spcPts val="750"/>
                </a:lnSpc>
                <a:buClr>
                  <a:srgbClr val="70504A"/>
                </a:buClr>
                <a:buSzTx/>
                <a:buFontTx/>
                <a:buChar char="•"/>
              </a:pPr>
              <a:r>
                <a:rPr lang="zh-CN" sz="580" dirty="0">
                  <a:solidFill>
                    <a:srgbClr val="70504A"/>
                  </a:solidFill>
                  <a:latin typeface="+mn-lt"/>
                  <a:ea typeface="+mn-ea"/>
                  <a:cs typeface="+mn-cs"/>
                </a:rPr>
                <a:t>定期回访</a:t>
              </a:r>
            </a:p>
          </p:txBody>
        </p:sp>
        <p:sp>
          <p:nvSpPr>
            <p:cNvPr id="300" name="Line 300"/>
            <p:cNvSpPr/>
            <p:nvPr/>
          </p:nvSpPr>
          <p:spPr>
            <a:xfrm>
              <a:off x="8153400" y="3962400"/>
              <a:ext cx="3733800" cy="9525"/>
            </a:xfrm>
            <a:custGeom>
              <a:avLst/>
              <a:gdLst/>
              <a:ahLst/>
              <a:cxnLst/>
              <a:rect l="l" t="t" r="r" b="b"/>
              <a:pathLst>
                <a:path w="3733800" h="9525">
                  <a:moveTo>
                    <a:pt x="0" y="0"/>
                  </a:moveTo>
                  <a:lnTo>
                    <a:pt x="3733800" y="0"/>
                  </a:lnTo>
                </a:path>
              </a:pathLst>
            </a:custGeom>
            <a:noFill/>
            <a:ln w="9525">
              <a:solidFill>
                <a:srgbClr val="EDF2FA"/>
              </a:solidFill>
            </a:ln>
          </p:spPr>
        </p:sp>
        <p:sp>
          <p:nvSpPr>
            <p:cNvPr id="301" name="TextBox 301"/>
            <p:cNvSpPr txBox="1"/>
            <p:nvPr/>
          </p:nvSpPr>
          <p:spPr>
            <a:xfrm>
              <a:off x="8220003" y="4103132"/>
              <a:ext cx="628793"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F公共事业公司​</a:t>
              </a:r>
            </a:p>
          </p:txBody>
        </p:sp>
        <p:sp>
          <p:nvSpPr>
            <p:cNvPr id="302" name="TextBox 302"/>
            <p:cNvSpPr txBox="1"/>
            <p:nvPr/>
          </p:nvSpPr>
          <p:spPr>
            <a:xfrm>
              <a:off x="9016599" y="4099084"/>
              <a:ext cx="27385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6.20​</a:t>
              </a:r>
            </a:p>
          </p:txBody>
        </p:sp>
        <p:sp>
          <p:nvSpPr>
            <p:cNvPr id="303" name="TextBox 303"/>
            <p:cNvSpPr txBox="1"/>
            <p:nvPr/>
          </p:nvSpPr>
          <p:spPr>
            <a:xfrm>
              <a:off x="9463088" y="4061174"/>
              <a:ext cx="67500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财政回款周期延长</a:t>
              </a:r>
            </a:p>
            <a:p>
              <a:pPr algn="l" marL="76200" indent="-76200">
                <a:lnSpc>
                  <a:spcPts val="750"/>
                </a:lnSpc>
                <a:buClr>
                  <a:srgbClr val="70504A"/>
                </a:buClr>
                <a:buSzTx/>
                <a:buFontTx/>
                <a:buChar char="•"/>
              </a:pPr>
              <a:r>
                <a:rPr lang="zh-CN" sz="580" dirty="0">
                  <a:solidFill>
                    <a:srgbClr val="70504A"/>
                  </a:solidFill>
                  <a:latin typeface="+mn-lt"/>
                  <a:ea typeface="+mn-ea"/>
                  <a:cs typeface="+mn-cs"/>
                </a:rPr>
                <a:t>项目结算滞后</a:t>
              </a:r>
            </a:p>
          </p:txBody>
        </p:sp>
        <p:sp>
          <p:nvSpPr>
            <p:cNvPr id="304" name="TextBox 304"/>
            <p:cNvSpPr txBox="1"/>
            <p:nvPr/>
          </p:nvSpPr>
          <p:spPr>
            <a:xfrm>
              <a:off x="10712717" y="4099084"/>
              <a:ext cx="101067" cy="133350"/>
            </a:xfrm>
            <a:prstGeom prst="rect">
              <a:avLst/>
            </a:prstGeom>
            <a:noFill/>
            <a:ln>
              <a:noFill/>
            </a:ln>
          </p:spPr>
          <p:txBody>
            <a:bodyPr wrap="none" lIns="0" tIns="0" rIns="0" bIns="0" anchor="t" anchorCtr="0">
              <a:spAutoFit/>
            </a:bodyPr>
            <a:lstStyle/>
            <a:p>
              <a:pPr algn="ctr"/>
              <a:r>
                <a:rPr lang="zh-CN" sz="680" b="1" dirty="0">
                  <a:solidFill>
                    <a:srgbClr val="9E402E"/>
                  </a:solidFill>
                  <a:latin typeface="+mn-lt"/>
                  <a:ea typeface="+mn-ea"/>
                  <a:cs typeface="+mn-cs"/>
                </a:rPr>
                <a:t>低</a:t>
              </a:r>
            </a:p>
          </p:txBody>
        </p:sp>
        <p:sp>
          <p:nvSpPr>
            <p:cNvPr id="305" name="TextBox 305"/>
            <p:cNvSpPr txBox="1"/>
            <p:nvPr/>
          </p:nvSpPr>
          <p:spPr>
            <a:xfrm>
              <a:off x="11006138" y="4061174"/>
              <a:ext cx="38036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保持跟踪</a:t>
              </a:r>
            </a:p>
            <a:p>
              <a:pPr algn="l" marL="76200" indent="-76200">
                <a:lnSpc>
                  <a:spcPts val="750"/>
                </a:lnSpc>
                <a:buClr>
                  <a:srgbClr val="70504A"/>
                </a:buClr>
                <a:buSzTx/>
                <a:buFontTx/>
                <a:buChar char="•"/>
              </a:pPr>
              <a:r>
                <a:rPr lang="zh-CN" sz="580" dirty="0">
                  <a:solidFill>
                    <a:srgbClr val="70504A"/>
                  </a:solidFill>
                  <a:latin typeface="+mn-lt"/>
                  <a:ea typeface="+mn-ea"/>
                  <a:cs typeface="+mn-cs"/>
                </a:rPr>
                <a:t>动态监测</a:t>
              </a:r>
            </a:p>
          </p:txBody>
        </p:sp>
        <p:sp>
          <p:nvSpPr>
            <p:cNvPr id="306" name="Line 306"/>
            <p:cNvSpPr/>
            <p:nvPr/>
          </p:nvSpPr>
          <p:spPr>
            <a:xfrm>
              <a:off x="8153400" y="4343400"/>
              <a:ext cx="3733800" cy="9525"/>
            </a:xfrm>
            <a:custGeom>
              <a:avLst/>
              <a:gdLst/>
              <a:ahLst/>
              <a:cxnLst/>
              <a:rect l="l" t="t" r="r" b="b"/>
              <a:pathLst>
                <a:path w="3733800" h="9525">
                  <a:moveTo>
                    <a:pt x="0" y="0"/>
                  </a:moveTo>
                  <a:lnTo>
                    <a:pt x="3733800" y="0"/>
                  </a:lnTo>
                </a:path>
              </a:pathLst>
            </a:custGeom>
            <a:noFill/>
            <a:ln w="9525">
              <a:solidFill>
                <a:srgbClr val="C9D6E9"/>
              </a:solidFill>
            </a:ln>
          </p:spPr>
        </p:sp>
        <p:sp>
          <p:nvSpPr>
            <p:cNvPr id="307" name="Rectangle 307"/>
            <p:cNvSpPr/>
            <p:nvPr/>
          </p:nvSpPr>
          <p:spPr>
            <a:xfrm>
              <a:off x="8153400" y="4362450"/>
              <a:ext cx="3733800" cy="228600"/>
            </a:xfrm>
            <a:prstGeom prst="rect">
              <a:avLst/>
            </a:prstGeom>
            <a:solidFill>
              <a:srgbClr val="EAF1FB"/>
            </a:solidFill>
            <a:ln>
              <a:noFill/>
            </a:ln>
          </p:spPr>
        </p:sp>
        <p:sp>
          <p:nvSpPr>
            <p:cNvPr id="308" name="TextBox 308"/>
            <p:cNvSpPr txBox="1"/>
            <p:nvPr/>
          </p:nvSpPr>
          <p:spPr>
            <a:xfrm>
              <a:off x="8255013" y="4441984"/>
              <a:ext cx="558775"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合计敞口金额</a:t>
              </a:r>
            </a:p>
          </p:txBody>
        </p:sp>
        <p:sp>
          <p:nvSpPr>
            <p:cNvPr id="309" name="TextBox 309"/>
            <p:cNvSpPr txBox="1"/>
            <p:nvPr/>
          </p:nvSpPr>
          <p:spPr>
            <a:xfrm>
              <a:off x="8983170" y="4437936"/>
              <a:ext cx="340710"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65.20​</a:t>
              </a:r>
            </a:p>
          </p:txBody>
        </p:sp>
        <p:sp>
          <p:nvSpPr>
            <p:cNvPr id="310" name="TextBox 310"/>
            <p:cNvSpPr txBox="1"/>
            <p:nvPr/>
          </p:nvSpPr>
          <p:spPr>
            <a:xfrm>
              <a:off x="8224838" y="4735830"/>
              <a:ext cx="1867281" cy="119062"/>
            </a:xfrm>
            <a:prstGeom prst="rect">
              <a:avLst/>
            </a:prstGeom>
            <a:noFill/>
            <a:ln>
              <a:noFill/>
            </a:ln>
          </p:spPr>
          <p:txBody>
            <a:bodyPr wrap="none" lIns="0" tIns="0" rIns="0" bIns="0" anchor="t" anchorCtr="0">
              <a:spAutoFit/>
            </a:bodyPr>
            <a:lstStyle/>
            <a:p>
              <a:pPr algn="l"/>
              <a:r>
                <a:rPr lang="zh-CN" sz="600" dirty="0">
                  <a:solidFill>
                    <a:srgbClr val="BEA09A"/>
                  </a:solidFill>
                  <a:latin typeface="+mn-lt"/>
                  <a:ea typeface="+mn-ea"/>
                  <a:cs typeface="+mn-cs"/>
                </a:rPr>
                <a:t>注：客户名称为脱敏示例，敞口与措施为示例数据。</a:t>
              </a:r>
            </a:p>
          </p:txBody>
        </p:sp>
      </p:grpSp>
      <p:grpSp>
        <p:nvGrpSpPr>
          <p:cNvPr id="316" name="mech-label"/>
          <p:cNvGrpSpPr/>
          <p:nvPr/>
        </p:nvGrpSpPr>
        <p:grpSpPr>
          <a:xfrm>
            <a:off x="228600" y="5029200"/>
            <a:ext cx="1047750" cy="1638300"/>
            <a:chOff x="228600" y="5029200"/>
            <a:chExt cx="1047750" cy="1638300"/>
          </a:xfrm>
        </p:grpSpPr>
        <p:sp>
          <p:nvSpPr>
            <p:cNvPr id="312" name="Rectangle 312"/>
            <p:cNvSpPr/>
            <p:nvPr/>
          </p:nvSpPr>
          <p:spPr>
            <a:xfrm>
              <a:off x="228600" y="5029200"/>
              <a:ext cx="1047750" cy="1638300"/>
            </a:xfrm>
            <a:prstGeom prst="roundRect">
              <a:avLst>
                <a:gd name="adj" fmla="val 5455"/>
              </a:avLst>
            </a:prstGeom>
            <a:solidFill>
              <a:srgbClr val="69281B"/>
            </a:solidFill>
            <a:ln>
              <a:noFill/>
            </a:ln>
          </p:spPr>
        </p:sp>
        <p:sp>
          <p:nvSpPr>
            <p:cNvPr id="313" name="TextBox 313"/>
            <p:cNvSpPr txBox="1"/>
            <p:nvPr/>
          </p:nvSpPr>
          <p:spPr>
            <a:xfrm>
              <a:off x="605790" y="54873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风险</a:t>
              </a:r>
            </a:p>
          </p:txBody>
        </p:sp>
        <p:sp>
          <p:nvSpPr>
            <p:cNvPr id="314" name="TextBox 314"/>
            <p:cNvSpPr txBox="1"/>
            <p:nvPr/>
          </p:nvSpPr>
          <p:spPr>
            <a:xfrm>
              <a:off x="464439" y="57350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前置管理</a:t>
              </a:r>
            </a:p>
          </p:txBody>
        </p:sp>
        <p:sp>
          <p:nvSpPr>
            <p:cNvPr id="315" name="TextBox 315"/>
            <p:cNvSpPr txBox="1"/>
            <p:nvPr/>
          </p:nvSpPr>
          <p:spPr>
            <a:xfrm>
              <a:off x="464439" y="60398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四项机制</a:t>
              </a:r>
            </a:p>
          </p:txBody>
        </p:sp>
      </p:grpSp>
      <p:grpSp>
        <p:nvGrpSpPr>
          <p:cNvPr id="333" name="mech-1"/>
          <p:cNvGrpSpPr/>
          <p:nvPr/>
        </p:nvGrpSpPr>
        <p:grpSpPr>
          <a:xfrm>
            <a:off x="1352550" y="5029200"/>
            <a:ext cx="2266950" cy="1638300"/>
            <a:chOff x="1352550" y="5029200"/>
            <a:chExt cx="2266950" cy="1638300"/>
          </a:xfrm>
        </p:grpSpPr>
        <p:sp>
          <p:nvSpPr>
            <p:cNvPr id="317" name="Rectangle 317"/>
            <p:cNvSpPr/>
            <p:nvPr/>
          </p:nvSpPr>
          <p:spPr>
            <a:xfrm>
              <a:off x="1352550" y="5029200"/>
              <a:ext cx="2266950" cy="1638300"/>
            </a:xfrm>
            <a:prstGeom prst="roundRect">
              <a:avLst>
                <a:gd name="adj" fmla="val 3488"/>
              </a:avLst>
            </a:prstGeom>
            <a:solidFill>
              <a:srgbClr val="FFFFFF"/>
            </a:solidFill>
            <a:ln w="9525">
              <a:solidFill>
                <a:srgbClr val="C9D6E9"/>
              </a:solidFill>
            </a:ln>
          </p:spPr>
        </p:sp>
        <p:sp>
          <p:nvSpPr>
            <p:cNvPr id="318" name="Ellipse 318"/>
            <p:cNvSpPr/>
            <p:nvPr/>
          </p:nvSpPr>
          <p:spPr>
            <a:xfrm>
              <a:off x="1466850" y="5143500"/>
              <a:ext cx="304800" cy="304800"/>
            </a:xfrm>
            <a:prstGeom prst="ellipse">
              <a:avLst/>
            </a:prstGeom>
            <a:solidFill>
              <a:srgbClr val="EAF1FB"/>
            </a:solidFill>
            <a:ln>
              <a:noFill/>
            </a:ln>
          </p:spPr>
        </p:sp>
        <p:grpSp>
          <p:nvGrpSpPr>
            <p:cNvPr id="325" name="Group 325"/>
            <p:cNvGrpSpPr/>
            <p:nvPr/>
          </p:nvGrpSpPr>
          <p:grpSpPr>
            <a:xfrm>
              <a:off x="1558528" y="5242322"/>
              <a:ext cx="117872" cy="105965"/>
              <a:chOff x="1558528" y="5242322"/>
              <a:chExt cx="117872" cy="105965"/>
            </a:xfrm>
          </p:grpSpPr>
          <p:sp>
            <p:nvSpPr>
              <p:cNvPr id="319" name="Freeform 319"/>
              <p:cNvSpPr/>
              <p:nvPr/>
            </p:nvSpPr>
            <p:spPr>
              <a:xfrm>
                <a:off x="1558528" y="5242322"/>
                <a:ext cx="28575" cy="17859"/>
              </a:xfrm>
              <a:custGeom>
                <a:avLst/>
                <a:gdLst/>
                <a:ahLst/>
                <a:cxnLst/>
                <a:rect l="l" t="t" r="r" b="b"/>
                <a:pathLst>
                  <a:path w="28575" h="17859">
                    <a:moveTo>
                      <a:pt x="0" y="7144"/>
                    </a:moveTo>
                    <a:lnTo>
                      <a:pt x="10716" y="17859"/>
                    </a:lnTo>
                    <a:lnTo>
                      <a:pt x="28575" y="0"/>
                    </a:lnTo>
                  </a:path>
                </a:pathLst>
              </a:custGeom>
              <a:noFill/>
              <a:ln w="14288">
                <a:solidFill>
                  <a:srgbClr val="69281B"/>
                </a:solidFill>
              </a:ln>
            </p:spPr>
          </p:sp>
          <p:sp>
            <p:nvSpPr>
              <p:cNvPr id="320" name="Freeform 320"/>
              <p:cNvSpPr/>
              <p:nvPr/>
            </p:nvSpPr>
            <p:spPr>
              <a:xfrm>
                <a:off x="1558528" y="5285184"/>
                <a:ext cx="28575" cy="17859"/>
              </a:xfrm>
              <a:custGeom>
                <a:avLst/>
                <a:gdLst/>
                <a:ahLst/>
                <a:cxnLst/>
                <a:rect l="l" t="t" r="r" b="b"/>
                <a:pathLst>
                  <a:path w="28575" h="17859">
                    <a:moveTo>
                      <a:pt x="0" y="7144"/>
                    </a:moveTo>
                    <a:lnTo>
                      <a:pt x="10716" y="17859"/>
                    </a:lnTo>
                    <a:lnTo>
                      <a:pt x="28575" y="0"/>
                    </a:lnTo>
                  </a:path>
                </a:pathLst>
              </a:custGeom>
              <a:noFill/>
              <a:ln w="14288">
                <a:solidFill>
                  <a:srgbClr val="69281B"/>
                </a:solidFill>
              </a:ln>
            </p:spPr>
          </p:sp>
          <p:sp>
            <p:nvSpPr>
              <p:cNvPr id="321" name="Freeform 321"/>
              <p:cNvSpPr/>
              <p:nvPr/>
            </p:nvSpPr>
            <p:spPr>
              <a:xfrm>
                <a:off x="1558528" y="5328047"/>
                <a:ext cx="28575" cy="17859"/>
              </a:xfrm>
              <a:custGeom>
                <a:avLst/>
                <a:gdLst/>
                <a:ahLst/>
                <a:cxnLst/>
                <a:rect l="l" t="t" r="r" b="b"/>
                <a:pathLst>
                  <a:path w="28575" h="17859">
                    <a:moveTo>
                      <a:pt x="0" y="7144"/>
                    </a:moveTo>
                    <a:lnTo>
                      <a:pt x="10716" y="17859"/>
                    </a:lnTo>
                    <a:lnTo>
                      <a:pt x="28575" y="0"/>
                    </a:lnTo>
                  </a:path>
                </a:pathLst>
              </a:custGeom>
              <a:noFill/>
              <a:ln w="14288">
                <a:solidFill>
                  <a:srgbClr val="69281B"/>
                </a:solidFill>
              </a:ln>
            </p:spPr>
          </p:sp>
          <p:sp>
            <p:nvSpPr>
              <p:cNvPr id="322" name="Freeform 322"/>
              <p:cNvSpPr/>
              <p:nvPr/>
            </p:nvSpPr>
            <p:spPr>
              <a:xfrm>
                <a:off x="1612106" y="5253038"/>
                <a:ext cx="64294" cy="9525"/>
              </a:xfrm>
              <a:custGeom>
                <a:avLst/>
                <a:gdLst/>
                <a:ahLst/>
                <a:cxnLst/>
                <a:rect l="l" t="t" r="r" b="b"/>
                <a:pathLst>
                  <a:path w="64294" h="9525">
                    <a:moveTo>
                      <a:pt x="0" y="0"/>
                    </a:moveTo>
                    <a:lnTo>
                      <a:pt x="64294" y="0"/>
                    </a:lnTo>
                  </a:path>
                </a:pathLst>
              </a:custGeom>
              <a:noFill/>
              <a:ln w="14288">
                <a:solidFill>
                  <a:srgbClr val="69281B"/>
                </a:solidFill>
              </a:ln>
            </p:spPr>
          </p:sp>
          <p:sp>
            <p:nvSpPr>
              <p:cNvPr id="323" name="Freeform 323"/>
              <p:cNvSpPr/>
              <p:nvPr/>
            </p:nvSpPr>
            <p:spPr>
              <a:xfrm>
                <a:off x="1612106" y="5295900"/>
                <a:ext cx="64294" cy="9525"/>
              </a:xfrm>
              <a:custGeom>
                <a:avLst/>
                <a:gdLst/>
                <a:ahLst/>
                <a:cxnLst/>
                <a:rect l="l" t="t" r="r" b="b"/>
                <a:pathLst>
                  <a:path w="64294" h="9525">
                    <a:moveTo>
                      <a:pt x="0" y="0"/>
                    </a:moveTo>
                    <a:lnTo>
                      <a:pt x="64294" y="0"/>
                    </a:lnTo>
                  </a:path>
                </a:pathLst>
              </a:custGeom>
              <a:noFill/>
              <a:ln w="14288">
                <a:solidFill>
                  <a:srgbClr val="69281B"/>
                </a:solidFill>
              </a:ln>
            </p:spPr>
          </p:sp>
          <p:sp>
            <p:nvSpPr>
              <p:cNvPr id="324" name="Freeform 324"/>
              <p:cNvSpPr/>
              <p:nvPr/>
            </p:nvSpPr>
            <p:spPr>
              <a:xfrm>
                <a:off x="1612106" y="5338762"/>
                <a:ext cx="64294" cy="9525"/>
              </a:xfrm>
              <a:custGeom>
                <a:avLst/>
                <a:gdLst/>
                <a:ahLst/>
                <a:cxnLst/>
                <a:rect l="l" t="t" r="r" b="b"/>
                <a:pathLst>
                  <a:path w="64294" h="9525">
                    <a:moveTo>
                      <a:pt x="0" y="0"/>
                    </a:moveTo>
                    <a:lnTo>
                      <a:pt x="64294" y="0"/>
                    </a:lnTo>
                  </a:path>
                </a:pathLst>
              </a:custGeom>
              <a:noFill/>
              <a:ln w="14288">
                <a:solidFill>
                  <a:srgbClr val="69281B"/>
                </a:solidFill>
              </a:ln>
            </p:spPr>
          </p:sp>
        </p:grpSp>
        <p:sp>
          <p:nvSpPr>
            <p:cNvPr id="326" name="TextBox 326"/>
            <p:cNvSpPr txBox="1"/>
            <p:nvPr/>
          </p:nvSpPr>
          <p:spPr>
            <a:xfrm>
              <a:off x="1843088" y="5246370"/>
              <a:ext cx="984544"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1. 名单监测机制​</a:t>
              </a:r>
            </a:p>
          </p:txBody>
        </p:sp>
        <p:sp>
          <p:nvSpPr>
            <p:cNvPr id="327" name="Ellipse 327"/>
            <p:cNvSpPr/>
            <p:nvPr/>
          </p:nvSpPr>
          <p:spPr>
            <a:xfrm>
              <a:off x="1487805" y="5602605"/>
              <a:ext cx="34290" cy="34290"/>
            </a:xfrm>
            <a:prstGeom prst="ellipse">
              <a:avLst/>
            </a:prstGeom>
            <a:solidFill>
              <a:srgbClr val="E04C2E"/>
            </a:solidFill>
            <a:ln>
              <a:noFill/>
            </a:ln>
          </p:spPr>
        </p:sp>
        <p:sp>
          <p:nvSpPr>
            <p:cNvPr id="328" name="TextBox 328"/>
            <p:cNvSpPr txBox="1"/>
            <p:nvPr/>
          </p:nvSpPr>
          <p:spPr>
            <a:xfrm>
              <a:off x="1576388" y="5586603"/>
              <a:ext cx="1350645" cy="244793"/>
            </a:xfrm>
            <a:prstGeom prst="rect">
              <a:avLst/>
            </a:prstGeom>
            <a:noFill/>
            <a:ln>
              <a:noFill/>
            </a:ln>
          </p:spPr>
          <p:txBody>
            <a:bodyPr wrap="none" lIns="0" tIns="0" rIns="0" bIns="0" anchor="t" anchorCtr="0">
              <a:spAutoFit/>
            </a:bodyPr>
            <a:lstStyle/>
            <a:p>
              <a:pPr algn="l">
                <a:lnSpc>
                  <a:spcPts val="900"/>
                </a:lnSpc>
              </a:pPr>
              <a:r>
                <a:rPr lang="zh-CN" sz="660" dirty="0">
                  <a:solidFill>
                    <a:srgbClr val="70504A"/>
                  </a:solidFill>
                  <a:latin typeface="+mn-lt"/>
                  <a:ea typeface="+mn-ea"/>
                  <a:cs typeface="+mn-cs"/>
                </a:rPr>
                <a:t>建立重点行业、重点客户、重点项目</a:t>
              </a:r>
              <a:br/>
              <a:r>
                <a:rPr lang="zh-CN" sz="660" dirty="0">
                  <a:solidFill>
                    <a:srgbClr val="70504A"/>
                  </a:solidFill>
                  <a:latin typeface="+mn-lt"/>
                  <a:ea typeface="+mn-ea"/>
                  <a:cs typeface="+mn-cs"/>
                </a:rPr>
                <a:t>三张清单</a:t>
              </a:r>
            </a:p>
          </p:txBody>
        </p:sp>
        <p:sp>
          <p:nvSpPr>
            <p:cNvPr id="329" name="Ellipse 329"/>
            <p:cNvSpPr/>
            <p:nvPr/>
          </p:nvSpPr>
          <p:spPr>
            <a:xfrm>
              <a:off x="1487805" y="5926455"/>
              <a:ext cx="34290" cy="34290"/>
            </a:xfrm>
            <a:prstGeom prst="ellipse">
              <a:avLst/>
            </a:prstGeom>
            <a:solidFill>
              <a:srgbClr val="E04C2E"/>
            </a:solidFill>
            <a:ln>
              <a:noFill/>
            </a:ln>
          </p:spPr>
        </p:sp>
        <p:sp>
          <p:nvSpPr>
            <p:cNvPr id="330" name="TextBox 330"/>
            <p:cNvSpPr txBox="1"/>
            <p:nvPr/>
          </p:nvSpPr>
          <p:spPr>
            <a:xfrm>
              <a:off x="1576388" y="5910453"/>
              <a:ext cx="1342263"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实行分级分类管理，月度动态更新</a:t>
              </a:r>
            </a:p>
          </p:txBody>
        </p:sp>
        <p:sp>
          <p:nvSpPr>
            <p:cNvPr id="331" name="Ellipse 331"/>
            <p:cNvSpPr/>
            <p:nvPr/>
          </p:nvSpPr>
          <p:spPr>
            <a:xfrm>
              <a:off x="1487805" y="6155055"/>
              <a:ext cx="34290" cy="34290"/>
            </a:xfrm>
            <a:prstGeom prst="ellipse">
              <a:avLst/>
            </a:prstGeom>
            <a:solidFill>
              <a:srgbClr val="E04C2E"/>
            </a:solidFill>
            <a:ln>
              <a:noFill/>
            </a:ln>
          </p:spPr>
        </p:sp>
        <p:sp>
          <p:nvSpPr>
            <p:cNvPr id="332" name="TextBox 332"/>
            <p:cNvSpPr txBox="1"/>
            <p:nvPr/>
          </p:nvSpPr>
          <p:spPr>
            <a:xfrm>
              <a:off x="1576388" y="6139053"/>
              <a:ext cx="1345595"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上半年累计监测客户 </a:t>
              </a:r>
              <a:r>
                <a:rPr lang="zh-CN" sz="660" b="1" dirty="0">
                  <a:solidFill>
                    <a:srgbClr val="E04C2E"/>
                  </a:solidFill>
                  <a:latin typeface="+mn-lt"/>
                  <a:ea typeface="+mn-ea"/>
                  <a:cs typeface="+mn-cs"/>
                </a:rPr>
                <a:t>1,862</a:t>
              </a:r>
              <a:r>
                <a:rPr lang="zh-CN" sz="660" dirty="0">
                  <a:solidFill>
                    <a:srgbClr val="70504A"/>
                  </a:solidFill>
                  <a:latin typeface="+mn-lt"/>
                  <a:ea typeface="+mn-ea"/>
                  <a:cs typeface="+mn-cs"/>
                </a:rPr>
                <a:t xml:space="preserve"> 户次​</a:t>
              </a:r>
            </a:p>
          </p:txBody>
        </p:sp>
      </p:grpSp>
      <p:grpSp>
        <p:nvGrpSpPr>
          <p:cNvPr id="347" name="mech-2"/>
          <p:cNvGrpSpPr/>
          <p:nvPr/>
        </p:nvGrpSpPr>
        <p:grpSpPr>
          <a:xfrm>
            <a:off x="3695700" y="5029200"/>
            <a:ext cx="2266950" cy="1638300"/>
            <a:chOff x="3695700" y="5029200"/>
            <a:chExt cx="2266950" cy="1638300"/>
          </a:xfrm>
        </p:grpSpPr>
        <p:sp>
          <p:nvSpPr>
            <p:cNvPr id="334" name="Rectangle 334"/>
            <p:cNvSpPr/>
            <p:nvPr/>
          </p:nvSpPr>
          <p:spPr>
            <a:xfrm>
              <a:off x="3695700" y="5029200"/>
              <a:ext cx="2266950" cy="1638300"/>
            </a:xfrm>
            <a:prstGeom prst="roundRect">
              <a:avLst>
                <a:gd name="adj" fmla="val 3488"/>
              </a:avLst>
            </a:prstGeom>
            <a:solidFill>
              <a:srgbClr val="FFFFFF"/>
            </a:solidFill>
            <a:ln w="9525">
              <a:solidFill>
                <a:srgbClr val="C9D6E9"/>
              </a:solidFill>
            </a:ln>
          </p:spPr>
        </p:sp>
        <p:sp>
          <p:nvSpPr>
            <p:cNvPr id="335" name="Ellipse 335"/>
            <p:cNvSpPr/>
            <p:nvPr/>
          </p:nvSpPr>
          <p:spPr>
            <a:xfrm>
              <a:off x="3810000" y="5143500"/>
              <a:ext cx="304800" cy="304800"/>
            </a:xfrm>
            <a:prstGeom prst="ellipse">
              <a:avLst/>
            </a:prstGeom>
            <a:solidFill>
              <a:srgbClr val="EAF1FB"/>
            </a:solidFill>
            <a:ln>
              <a:noFill/>
            </a:ln>
          </p:spPr>
        </p:sp>
        <p:grpSp>
          <p:nvGrpSpPr>
            <p:cNvPr id="339" name="Group 339"/>
            <p:cNvGrpSpPr/>
            <p:nvPr/>
          </p:nvGrpSpPr>
          <p:grpSpPr>
            <a:xfrm>
              <a:off x="3890354" y="5229233"/>
              <a:ext cx="144086" cy="123788"/>
              <a:chOff x="3890354" y="5229233"/>
              <a:chExt cx="144086" cy="123788"/>
            </a:xfrm>
          </p:grpSpPr>
          <p:sp>
            <p:nvSpPr>
              <p:cNvPr id="336" name="Freeform 336"/>
              <p:cNvSpPr/>
              <p:nvPr/>
            </p:nvSpPr>
            <p:spPr>
              <a:xfrm>
                <a:off x="3962400" y="5274469"/>
                <a:ext cx="9525" cy="28575"/>
              </a:xfrm>
              <a:custGeom>
                <a:avLst/>
                <a:gdLst/>
                <a:ahLst/>
                <a:cxnLst/>
                <a:rect l="l" t="t" r="r" b="b"/>
                <a:pathLst>
                  <a:path w="9525" h="28575">
                    <a:moveTo>
                      <a:pt x="0" y="0"/>
                    </a:moveTo>
                    <a:lnTo>
                      <a:pt x="0" y="28575"/>
                    </a:lnTo>
                  </a:path>
                </a:pathLst>
              </a:custGeom>
              <a:noFill/>
              <a:ln w="14288">
                <a:solidFill>
                  <a:srgbClr val="69281B"/>
                </a:solidFill>
              </a:ln>
            </p:spPr>
          </p:sp>
          <p:sp>
            <p:nvSpPr>
              <p:cNvPr id="337" name="Freeform 337"/>
              <p:cNvSpPr/>
              <p:nvPr/>
            </p:nvSpPr>
            <p:spPr>
              <a:xfrm>
                <a:off x="3890354" y="5229233"/>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69281B"/>
                </a:solidFill>
              </a:ln>
            </p:spPr>
          </p:sp>
          <p:sp>
            <p:nvSpPr>
              <p:cNvPr id="338" name="Freeform 338"/>
              <p:cNvSpPr/>
              <p:nvPr/>
            </p:nvSpPr>
            <p:spPr>
              <a:xfrm>
                <a:off x="3962400" y="5324475"/>
                <a:ext cx="9525" cy="9525"/>
              </a:xfrm>
              <a:custGeom>
                <a:avLst/>
                <a:gdLst/>
                <a:ahLst/>
                <a:cxnLst/>
                <a:rect l="l" t="t" r="r" b="b"/>
                <a:pathLst>
                  <a:path w="9525" h="9525">
                    <a:moveTo>
                      <a:pt x="0" y="0"/>
                    </a:moveTo>
                    <a:lnTo>
                      <a:pt x="71" y="0"/>
                    </a:lnTo>
                  </a:path>
                </a:pathLst>
              </a:custGeom>
              <a:noFill/>
              <a:ln w="14288">
                <a:solidFill>
                  <a:srgbClr val="69281B"/>
                </a:solidFill>
              </a:ln>
            </p:spPr>
          </p:sp>
        </p:grpSp>
        <p:sp>
          <p:nvSpPr>
            <p:cNvPr id="340" name="TextBox 340"/>
            <p:cNvSpPr txBox="1"/>
            <p:nvPr/>
          </p:nvSpPr>
          <p:spPr>
            <a:xfrm>
              <a:off x="4186238" y="5246370"/>
              <a:ext cx="984544"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2. 早期预警机制​</a:t>
              </a:r>
            </a:p>
          </p:txBody>
        </p:sp>
        <p:sp>
          <p:nvSpPr>
            <p:cNvPr id="341" name="Ellipse 341"/>
            <p:cNvSpPr/>
            <p:nvPr/>
          </p:nvSpPr>
          <p:spPr>
            <a:xfrm>
              <a:off x="3830955" y="5602605"/>
              <a:ext cx="34290" cy="34290"/>
            </a:xfrm>
            <a:prstGeom prst="ellipse">
              <a:avLst/>
            </a:prstGeom>
            <a:solidFill>
              <a:srgbClr val="E04C2E"/>
            </a:solidFill>
            <a:ln>
              <a:noFill/>
            </a:ln>
          </p:spPr>
        </p:sp>
        <p:sp>
          <p:nvSpPr>
            <p:cNvPr id="342" name="TextBox 342"/>
            <p:cNvSpPr txBox="1"/>
            <p:nvPr/>
          </p:nvSpPr>
          <p:spPr>
            <a:xfrm>
              <a:off x="3919538" y="5586603"/>
              <a:ext cx="1311166"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构建“财务+非财务”预警指标体系</a:t>
              </a:r>
            </a:p>
          </p:txBody>
        </p:sp>
        <p:sp>
          <p:nvSpPr>
            <p:cNvPr id="343" name="Ellipse 343"/>
            <p:cNvSpPr/>
            <p:nvPr/>
          </p:nvSpPr>
          <p:spPr>
            <a:xfrm>
              <a:off x="3830955" y="5831205"/>
              <a:ext cx="34290" cy="34290"/>
            </a:xfrm>
            <a:prstGeom prst="ellipse">
              <a:avLst/>
            </a:prstGeom>
            <a:solidFill>
              <a:srgbClr val="E04C2E"/>
            </a:solidFill>
            <a:ln>
              <a:noFill/>
            </a:ln>
          </p:spPr>
        </p:sp>
        <p:sp>
          <p:nvSpPr>
            <p:cNvPr id="344" name="TextBox 344"/>
            <p:cNvSpPr txBox="1"/>
            <p:nvPr/>
          </p:nvSpPr>
          <p:spPr>
            <a:xfrm>
              <a:off x="3919538" y="5815203"/>
              <a:ext cx="1619917"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触发预警信号 </a:t>
              </a:r>
              <a:r>
                <a:rPr lang="zh-CN" sz="660" b="1" dirty="0">
                  <a:solidFill>
                    <a:srgbClr val="E04C2E"/>
                  </a:solidFill>
                  <a:latin typeface="+mn-lt"/>
                  <a:ea typeface="+mn-ea"/>
                  <a:cs typeface="+mn-cs"/>
                </a:rPr>
                <a:t>286</a:t>
              </a:r>
              <a:r>
                <a:rPr lang="zh-CN" sz="660" dirty="0">
                  <a:solidFill>
                    <a:srgbClr val="70504A"/>
                  </a:solidFill>
                  <a:latin typeface="+mn-lt"/>
                  <a:ea typeface="+mn-ea"/>
                  <a:cs typeface="+mn-cs"/>
                </a:rPr>
                <a:t xml:space="preserve"> 条，预警准确率 </a:t>
              </a:r>
              <a:r>
                <a:rPr lang="zh-CN" sz="660" b="1" dirty="0">
                  <a:solidFill>
                    <a:srgbClr val="E04C2E"/>
                  </a:solidFill>
                  <a:latin typeface="+mn-lt"/>
                  <a:ea typeface="+mn-ea"/>
                  <a:cs typeface="+mn-cs"/>
                </a:rPr>
                <a:t>72%</a:t>
              </a:r>
              <a:r>
                <a:rPr lang="zh-CN" sz="660" dirty="0">
                  <a:solidFill>
                    <a:srgbClr val="70504A"/>
                  </a:solidFill>
                  <a:latin typeface="+mn-lt"/>
                  <a:ea typeface="+mn-ea"/>
                  <a:cs typeface="+mn-cs"/>
                </a:rPr>
                <a:t>​</a:t>
              </a:r>
            </a:p>
          </p:txBody>
        </p:sp>
        <p:sp>
          <p:nvSpPr>
            <p:cNvPr id="345" name="Ellipse 345"/>
            <p:cNvSpPr/>
            <p:nvPr/>
          </p:nvSpPr>
          <p:spPr>
            <a:xfrm>
              <a:off x="3830955" y="6059805"/>
              <a:ext cx="34290" cy="34290"/>
            </a:xfrm>
            <a:prstGeom prst="ellipse">
              <a:avLst/>
            </a:prstGeom>
            <a:solidFill>
              <a:srgbClr val="E04C2E"/>
            </a:solidFill>
            <a:ln>
              <a:noFill/>
            </a:ln>
          </p:spPr>
        </p:sp>
        <p:sp>
          <p:nvSpPr>
            <p:cNvPr id="346" name="TextBox 346"/>
            <p:cNvSpPr txBox="1"/>
            <p:nvPr/>
          </p:nvSpPr>
          <p:spPr>
            <a:xfrm>
              <a:off x="3919538" y="6043803"/>
              <a:ext cx="1242974"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推动客户制定整改方案 </a:t>
              </a:r>
              <a:r>
                <a:rPr lang="zh-CN" sz="660" b="1" dirty="0">
                  <a:solidFill>
                    <a:srgbClr val="E04C2E"/>
                  </a:solidFill>
                  <a:latin typeface="+mn-lt"/>
                  <a:ea typeface="+mn-ea"/>
                  <a:cs typeface="+mn-cs"/>
                </a:rPr>
                <a:t>142</a:t>
              </a:r>
              <a:r>
                <a:rPr lang="zh-CN" sz="660" dirty="0">
                  <a:solidFill>
                    <a:srgbClr val="70504A"/>
                  </a:solidFill>
                  <a:latin typeface="+mn-lt"/>
                  <a:ea typeface="+mn-ea"/>
                  <a:cs typeface="+mn-cs"/>
                </a:rPr>
                <a:t xml:space="preserve"> 户​</a:t>
              </a:r>
            </a:p>
          </p:txBody>
        </p:sp>
      </p:grpSp>
      <p:grpSp>
        <p:nvGrpSpPr>
          <p:cNvPr id="360" name="mech-3"/>
          <p:cNvGrpSpPr/>
          <p:nvPr/>
        </p:nvGrpSpPr>
        <p:grpSpPr>
          <a:xfrm>
            <a:off x="6038850" y="5029200"/>
            <a:ext cx="2266950" cy="1638300"/>
            <a:chOff x="6038850" y="5029200"/>
            <a:chExt cx="2266950" cy="1638300"/>
          </a:xfrm>
        </p:grpSpPr>
        <p:sp>
          <p:nvSpPr>
            <p:cNvPr id="348" name="Rectangle 348"/>
            <p:cNvSpPr/>
            <p:nvPr/>
          </p:nvSpPr>
          <p:spPr>
            <a:xfrm>
              <a:off x="6038850" y="5029200"/>
              <a:ext cx="2266950" cy="1638300"/>
            </a:xfrm>
            <a:prstGeom prst="roundRect">
              <a:avLst>
                <a:gd name="adj" fmla="val 3488"/>
              </a:avLst>
            </a:prstGeom>
            <a:solidFill>
              <a:srgbClr val="FFFFFF"/>
            </a:solidFill>
            <a:ln w="9525">
              <a:solidFill>
                <a:srgbClr val="C9D6E9"/>
              </a:solidFill>
            </a:ln>
          </p:spPr>
        </p:sp>
        <p:sp>
          <p:nvSpPr>
            <p:cNvPr id="349" name="Ellipse 349"/>
            <p:cNvSpPr/>
            <p:nvPr/>
          </p:nvSpPr>
          <p:spPr>
            <a:xfrm>
              <a:off x="6153150" y="5143500"/>
              <a:ext cx="304800" cy="304800"/>
            </a:xfrm>
            <a:prstGeom prst="ellipse">
              <a:avLst/>
            </a:prstGeom>
            <a:solidFill>
              <a:srgbClr val="EAF1FB"/>
            </a:solidFill>
            <a:ln>
              <a:noFill/>
            </a:ln>
          </p:spPr>
        </p:sp>
        <p:grpSp>
          <p:nvGrpSpPr>
            <p:cNvPr id="352" name="Group 352"/>
            <p:cNvGrpSpPr/>
            <p:nvPr/>
          </p:nvGrpSpPr>
          <p:grpSpPr>
            <a:xfrm>
              <a:off x="6241256" y="5231606"/>
              <a:ext cx="128587" cy="128587"/>
              <a:chOff x="6241256" y="5231606"/>
              <a:chExt cx="128587" cy="128587"/>
            </a:xfrm>
          </p:grpSpPr>
          <p:sp>
            <p:nvSpPr>
              <p:cNvPr id="350" name="Freeform 350"/>
              <p:cNvSpPr/>
              <p:nvPr/>
            </p:nvSpPr>
            <p:spPr>
              <a:xfrm>
                <a:off x="6241256" y="5231606"/>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69281B"/>
                </a:solidFill>
              </a:ln>
            </p:spPr>
          </p:sp>
          <p:sp>
            <p:nvSpPr>
              <p:cNvPr id="351" name="Freeform 351"/>
              <p:cNvSpPr/>
              <p:nvPr/>
            </p:nvSpPr>
            <p:spPr>
              <a:xfrm>
                <a:off x="6326981" y="5317331"/>
                <a:ext cx="42862" cy="42862"/>
              </a:xfrm>
              <a:custGeom>
                <a:avLst/>
                <a:gdLst/>
                <a:ahLst/>
                <a:cxnLst/>
                <a:rect l="l" t="t" r="r" b="b"/>
                <a:pathLst>
                  <a:path w="42862" h="42862">
                    <a:moveTo>
                      <a:pt x="42862" y="42862"/>
                    </a:moveTo>
                    <a:lnTo>
                      <a:pt x="0" y="0"/>
                    </a:lnTo>
                  </a:path>
                </a:pathLst>
              </a:custGeom>
              <a:noFill/>
              <a:ln w="14288">
                <a:solidFill>
                  <a:srgbClr val="69281B"/>
                </a:solidFill>
              </a:ln>
            </p:spPr>
          </p:sp>
        </p:grpSp>
        <p:sp>
          <p:nvSpPr>
            <p:cNvPr id="353" name="TextBox 353"/>
            <p:cNvSpPr txBox="1"/>
            <p:nvPr/>
          </p:nvSpPr>
          <p:spPr>
            <a:xfrm>
              <a:off x="6529388" y="5246370"/>
              <a:ext cx="984544"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3. 现场检查机制​</a:t>
              </a:r>
            </a:p>
          </p:txBody>
        </p:sp>
        <p:sp>
          <p:nvSpPr>
            <p:cNvPr id="354" name="Ellipse 354"/>
            <p:cNvSpPr/>
            <p:nvPr/>
          </p:nvSpPr>
          <p:spPr>
            <a:xfrm>
              <a:off x="6174105" y="5602605"/>
              <a:ext cx="34290" cy="34290"/>
            </a:xfrm>
            <a:prstGeom prst="ellipse">
              <a:avLst/>
            </a:prstGeom>
            <a:solidFill>
              <a:srgbClr val="E04C2E"/>
            </a:solidFill>
            <a:ln>
              <a:noFill/>
            </a:ln>
          </p:spPr>
        </p:sp>
        <p:sp>
          <p:nvSpPr>
            <p:cNvPr id="355" name="TextBox 355"/>
            <p:cNvSpPr txBox="1"/>
            <p:nvPr/>
          </p:nvSpPr>
          <p:spPr>
            <a:xfrm>
              <a:off x="6262688" y="5586603"/>
              <a:ext cx="1075715"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聚焦高风险行业与大额客户</a:t>
              </a:r>
            </a:p>
          </p:txBody>
        </p:sp>
        <p:sp>
          <p:nvSpPr>
            <p:cNvPr id="356" name="Ellipse 356"/>
            <p:cNvSpPr/>
            <p:nvPr/>
          </p:nvSpPr>
          <p:spPr>
            <a:xfrm>
              <a:off x="6174105" y="5831205"/>
              <a:ext cx="34290" cy="34290"/>
            </a:xfrm>
            <a:prstGeom prst="ellipse">
              <a:avLst/>
            </a:prstGeom>
            <a:solidFill>
              <a:srgbClr val="E04C2E"/>
            </a:solidFill>
            <a:ln>
              <a:noFill/>
            </a:ln>
          </p:spPr>
        </p:sp>
        <p:sp>
          <p:nvSpPr>
            <p:cNvPr id="357" name="TextBox 357"/>
            <p:cNvSpPr txBox="1"/>
            <p:nvPr/>
          </p:nvSpPr>
          <p:spPr>
            <a:xfrm>
              <a:off x="6262688" y="5815203"/>
              <a:ext cx="1191664"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上半年开展现场检查 </a:t>
              </a:r>
              <a:r>
                <a:rPr lang="zh-CN" sz="660" b="1" dirty="0">
                  <a:solidFill>
                    <a:srgbClr val="E04C2E"/>
                  </a:solidFill>
                  <a:latin typeface="+mn-lt"/>
                  <a:ea typeface="+mn-ea"/>
                  <a:cs typeface="+mn-cs"/>
                </a:rPr>
                <a:t>96</a:t>
              </a:r>
              <a:r>
                <a:rPr lang="zh-CN" sz="660" dirty="0">
                  <a:solidFill>
                    <a:srgbClr val="70504A"/>
                  </a:solidFill>
                  <a:latin typeface="+mn-lt"/>
                  <a:ea typeface="+mn-ea"/>
                  <a:cs typeface="+mn-cs"/>
                </a:rPr>
                <a:t xml:space="preserve"> 户次​</a:t>
              </a:r>
            </a:p>
          </p:txBody>
        </p:sp>
        <p:sp>
          <p:nvSpPr>
            <p:cNvPr id="358" name="Ellipse 358"/>
            <p:cNvSpPr/>
            <p:nvPr/>
          </p:nvSpPr>
          <p:spPr>
            <a:xfrm>
              <a:off x="6174105" y="6059805"/>
              <a:ext cx="34290" cy="34290"/>
            </a:xfrm>
            <a:prstGeom prst="ellipse">
              <a:avLst/>
            </a:prstGeom>
            <a:solidFill>
              <a:srgbClr val="E04C2E"/>
            </a:solidFill>
            <a:ln>
              <a:noFill/>
            </a:ln>
          </p:spPr>
        </p:sp>
        <p:sp>
          <p:nvSpPr>
            <p:cNvPr id="359" name="TextBox 359"/>
            <p:cNvSpPr txBox="1"/>
            <p:nvPr/>
          </p:nvSpPr>
          <p:spPr>
            <a:xfrm>
              <a:off x="6262688" y="6043803"/>
              <a:ext cx="1450215"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发现问题 </a:t>
              </a:r>
              <a:r>
                <a:rPr lang="zh-CN" sz="660" b="1" dirty="0">
                  <a:solidFill>
                    <a:srgbClr val="E04C2E"/>
                  </a:solidFill>
                  <a:latin typeface="+mn-lt"/>
                  <a:ea typeface="+mn-ea"/>
                  <a:cs typeface="+mn-cs"/>
                </a:rPr>
                <a:t>183</a:t>
              </a:r>
              <a:r>
                <a:rPr lang="zh-CN" sz="660" dirty="0">
                  <a:solidFill>
                    <a:srgbClr val="70504A"/>
                  </a:solidFill>
                  <a:latin typeface="+mn-lt"/>
                  <a:ea typeface="+mn-ea"/>
                  <a:cs typeface="+mn-cs"/>
                </a:rPr>
                <a:t xml:space="preserve"> 项，完成整改 </a:t>
              </a:r>
              <a:r>
                <a:rPr lang="zh-CN" sz="660" b="1" dirty="0">
                  <a:solidFill>
                    <a:srgbClr val="E04C2E"/>
                  </a:solidFill>
                  <a:latin typeface="+mn-lt"/>
                  <a:ea typeface="+mn-ea"/>
                  <a:cs typeface="+mn-cs"/>
                </a:rPr>
                <a:t>149</a:t>
              </a:r>
              <a:r>
                <a:rPr lang="zh-CN" sz="660" dirty="0">
                  <a:solidFill>
                    <a:srgbClr val="70504A"/>
                  </a:solidFill>
                  <a:latin typeface="+mn-lt"/>
                  <a:ea typeface="+mn-ea"/>
                  <a:cs typeface="+mn-cs"/>
                </a:rPr>
                <a:t xml:space="preserve"> 项​</a:t>
              </a:r>
            </a:p>
          </p:txBody>
        </p:sp>
      </p:grpSp>
      <p:grpSp>
        <p:nvGrpSpPr>
          <p:cNvPr id="373" name="mech-4"/>
          <p:cNvGrpSpPr/>
          <p:nvPr/>
        </p:nvGrpSpPr>
        <p:grpSpPr>
          <a:xfrm>
            <a:off x="8382000" y="5029200"/>
            <a:ext cx="2266950" cy="1638300"/>
            <a:chOff x="8382000" y="5029200"/>
            <a:chExt cx="2266950" cy="1638300"/>
          </a:xfrm>
        </p:grpSpPr>
        <p:sp>
          <p:nvSpPr>
            <p:cNvPr id="361" name="Rectangle 361"/>
            <p:cNvSpPr/>
            <p:nvPr/>
          </p:nvSpPr>
          <p:spPr>
            <a:xfrm>
              <a:off x="8382000" y="5029200"/>
              <a:ext cx="2266950" cy="1638300"/>
            </a:xfrm>
            <a:prstGeom prst="roundRect">
              <a:avLst>
                <a:gd name="adj" fmla="val 3488"/>
              </a:avLst>
            </a:prstGeom>
            <a:solidFill>
              <a:srgbClr val="FFFFFF"/>
            </a:solidFill>
            <a:ln w="9525">
              <a:solidFill>
                <a:srgbClr val="C9D6E9"/>
              </a:solidFill>
            </a:ln>
          </p:spPr>
        </p:sp>
        <p:sp>
          <p:nvSpPr>
            <p:cNvPr id="362" name="Ellipse 362"/>
            <p:cNvSpPr/>
            <p:nvPr/>
          </p:nvSpPr>
          <p:spPr>
            <a:xfrm>
              <a:off x="8496300" y="5143500"/>
              <a:ext cx="304800" cy="304800"/>
            </a:xfrm>
            <a:prstGeom prst="ellipse">
              <a:avLst/>
            </a:prstGeom>
            <a:solidFill>
              <a:srgbClr val="EAF1FB"/>
            </a:solidFill>
            <a:ln>
              <a:noFill/>
            </a:ln>
          </p:spPr>
        </p:sp>
        <p:grpSp>
          <p:nvGrpSpPr>
            <p:cNvPr id="365" name="Group 365"/>
            <p:cNvGrpSpPr/>
            <p:nvPr/>
          </p:nvGrpSpPr>
          <p:grpSpPr>
            <a:xfrm>
              <a:off x="8574765" y="5231606"/>
              <a:ext cx="139505" cy="128588"/>
              <a:chOff x="8574765" y="5231606"/>
              <a:chExt cx="139505" cy="128588"/>
            </a:xfrm>
          </p:grpSpPr>
          <p:sp>
            <p:nvSpPr>
              <p:cNvPr id="363" name="Freeform 363"/>
              <p:cNvSpPr/>
              <p:nvPr/>
            </p:nvSpPr>
            <p:spPr>
              <a:xfrm>
                <a:off x="8574765" y="523160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69281B"/>
                </a:solidFill>
              </a:ln>
            </p:spPr>
          </p:sp>
          <p:sp>
            <p:nvSpPr>
              <p:cNvPr id="364" name="Freeform 364"/>
              <p:cNvSpPr/>
              <p:nvPr/>
            </p:nvSpPr>
            <p:spPr>
              <a:xfrm>
                <a:off x="8670131" y="5331619"/>
                <a:ext cx="42862" cy="28575"/>
              </a:xfrm>
              <a:custGeom>
                <a:avLst/>
                <a:gdLst/>
                <a:ahLst/>
                <a:cxnLst/>
                <a:rect l="l" t="t" r="r" b="b"/>
                <a:pathLst>
                  <a:path w="42862" h="28575">
                    <a:moveTo>
                      <a:pt x="0" y="14288"/>
                    </a:moveTo>
                    <a:lnTo>
                      <a:pt x="14288" y="28575"/>
                    </a:lnTo>
                    <a:lnTo>
                      <a:pt x="42862" y="0"/>
                    </a:lnTo>
                  </a:path>
                </a:pathLst>
              </a:custGeom>
              <a:noFill/>
              <a:ln w="14288">
                <a:solidFill>
                  <a:srgbClr val="69281B"/>
                </a:solidFill>
              </a:ln>
            </p:spPr>
          </p:sp>
        </p:grpSp>
        <p:sp>
          <p:nvSpPr>
            <p:cNvPr id="366" name="TextBox 366"/>
            <p:cNvSpPr txBox="1"/>
            <p:nvPr/>
          </p:nvSpPr>
          <p:spPr>
            <a:xfrm>
              <a:off x="8872538" y="5246370"/>
              <a:ext cx="984544"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4. 处置化解机制​</a:t>
              </a:r>
            </a:p>
          </p:txBody>
        </p:sp>
        <p:sp>
          <p:nvSpPr>
            <p:cNvPr id="367" name="Ellipse 367"/>
            <p:cNvSpPr/>
            <p:nvPr/>
          </p:nvSpPr>
          <p:spPr>
            <a:xfrm>
              <a:off x="8517255" y="5602605"/>
              <a:ext cx="34290" cy="34290"/>
            </a:xfrm>
            <a:prstGeom prst="ellipse">
              <a:avLst/>
            </a:prstGeom>
            <a:solidFill>
              <a:srgbClr val="E04C2E"/>
            </a:solidFill>
            <a:ln>
              <a:noFill/>
            </a:ln>
          </p:spPr>
        </p:sp>
        <p:sp>
          <p:nvSpPr>
            <p:cNvPr id="368" name="TextBox 368"/>
            <p:cNvSpPr txBox="1"/>
            <p:nvPr/>
          </p:nvSpPr>
          <p:spPr>
            <a:xfrm>
              <a:off x="8605838" y="5586603"/>
              <a:ext cx="1253414"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分类施策，压降敞口、盘活存量</a:t>
              </a:r>
            </a:p>
          </p:txBody>
        </p:sp>
        <p:sp>
          <p:nvSpPr>
            <p:cNvPr id="369" name="Ellipse 369"/>
            <p:cNvSpPr/>
            <p:nvPr/>
          </p:nvSpPr>
          <p:spPr>
            <a:xfrm>
              <a:off x="8517255" y="5831205"/>
              <a:ext cx="34290" cy="34290"/>
            </a:xfrm>
            <a:prstGeom prst="ellipse">
              <a:avLst/>
            </a:prstGeom>
            <a:solidFill>
              <a:srgbClr val="E04C2E"/>
            </a:solidFill>
            <a:ln>
              <a:noFill/>
            </a:ln>
          </p:spPr>
        </p:sp>
        <p:sp>
          <p:nvSpPr>
            <p:cNvPr id="370" name="TextBox 370"/>
            <p:cNvSpPr txBox="1"/>
            <p:nvPr/>
          </p:nvSpPr>
          <p:spPr>
            <a:xfrm>
              <a:off x="8605838" y="5815203"/>
              <a:ext cx="1242974"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上半年化解风险贷款 </a:t>
              </a:r>
              <a:r>
                <a:rPr lang="zh-CN" sz="660" b="1" dirty="0">
                  <a:solidFill>
                    <a:srgbClr val="E04C2E"/>
                  </a:solidFill>
                  <a:latin typeface="+mn-lt"/>
                  <a:ea typeface="+mn-ea"/>
                  <a:cs typeface="+mn-cs"/>
                </a:rPr>
                <a:t>3.6</a:t>
              </a:r>
              <a:r>
                <a:rPr lang="zh-CN" sz="660" dirty="0">
                  <a:solidFill>
                    <a:srgbClr val="70504A"/>
                  </a:solidFill>
                  <a:latin typeface="+mn-lt"/>
                  <a:ea typeface="+mn-ea"/>
                  <a:cs typeface="+mn-cs"/>
                </a:rPr>
                <a:t xml:space="preserve"> 亿元​</a:t>
              </a:r>
            </a:p>
          </p:txBody>
        </p:sp>
        <p:sp>
          <p:nvSpPr>
            <p:cNvPr id="371" name="Ellipse 371"/>
            <p:cNvSpPr/>
            <p:nvPr/>
          </p:nvSpPr>
          <p:spPr>
            <a:xfrm>
              <a:off x="8517255" y="6059805"/>
              <a:ext cx="34290" cy="34290"/>
            </a:xfrm>
            <a:prstGeom prst="ellipse">
              <a:avLst/>
            </a:prstGeom>
            <a:solidFill>
              <a:srgbClr val="E04C2E"/>
            </a:solidFill>
            <a:ln>
              <a:noFill/>
            </a:ln>
          </p:spPr>
        </p:sp>
        <p:sp>
          <p:nvSpPr>
            <p:cNvPr id="372" name="TextBox 372"/>
            <p:cNvSpPr txBox="1"/>
            <p:nvPr/>
          </p:nvSpPr>
          <p:spPr>
            <a:xfrm>
              <a:off x="8605838" y="6043803"/>
              <a:ext cx="1450215" cy="130493"/>
            </a:xfrm>
            <a:prstGeom prst="rect">
              <a:avLst/>
            </a:prstGeom>
            <a:noFill/>
            <a:ln>
              <a:noFill/>
            </a:ln>
          </p:spPr>
          <p:txBody>
            <a:bodyPr wrap="none" lIns="0" tIns="0" rIns="0" bIns="0" anchor="t" anchorCtr="0">
              <a:spAutoFit/>
            </a:bodyPr>
            <a:lstStyle/>
            <a:p>
              <a:pPr algn="l"/>
              <a:r>
                <a:rPr lang="zh-CN" sz="660" dirty="0">
                  <a:solidFill>
                    <a:srgbClr val="70504A"/>
                  </a:solidFill>
                  <a:latin typeface="+mn-lt"/>
                  <a:ea typeface="+mn-ea"/>
                  <a:cs typeface="+mn-cs"/>
                </a:rPr>
                <a:t xml:space="preserve">不良核销 </a:t>
              </a:r>
              <a:r>
                <a:rPr lang="zh-CN" sz="660" b="1" dirty="0">
                  <a:solidFill>
                    <a:srgbClr val="E04C2E"/>
                  </a:solidFill>
                  <a:latin typeface="+mn-lt"/>
                  <a:ea typeface="+mn-ea"/>
                  <a:cs typeface="+mn-cs"/>
                </a:rPr>
                <a:t>2.8</a:t>
              </a:r>
              <a:r>
                <a:rPr lang="zh-CN" sz="660" dirty="0">
                  <a:solidFill>
                    <a:srgbClr val="70504A"/>
                  </a:solidFill>
                  <a:latin typeface="+mn-lt"/>
                  <a:ea typeface="+mn-ea"/>
                  <a:cs typeface="+mn-cs"/>
                </a:rPr>
                <a:t xml:space="preserve"> 亿元，回收 </a:t>
              </a:r>
              <a:r>
                <a:rPr lang="zh-CN" sz="660" b="1" dirty="0">
                  <a:solidFill>
                    <a:srgbClr val="E04C2E"/>
                  </a:solidFill>
                  <a:latin typeface="+mn-lt"/>
                  <a:ea typeface="+mn-ea"/>
                  <a:cs typeface="+mn-cs"/>
                </a:rPr>
                <a:t>0.8</a:t>
              </a:r>
              <a:r>
                <a:rPr lang="zh-CN" sz="660" dirty="0">
                  <a:solidFill>
                    <a:srgbClr val="70504A"/>
                  </a:solidFill>
                  <a:latin typeface="+mn-lt"/>
                  <a:ea typeface="+mn-ea"/>
                  <a:cs typeface="+mn-cs"/>
                </a:rPr>
                <a:t xml:space="preserve"> 亿元​</a:t>
              </a:r>
            </a:p>
          </p:txBody>
        </p:sp>
      </p:grpSp>
      <p:grpSp>
        <p:nvGrpSpPr>
          <p:cNvPr id="382" name="mech-summary"/>
          <p:cNvGrpSpPr/>
          <p:nvPr/>
        </p:nvGrpSpPr>
        <p:grpSpPr>
          <a:xfrm>
            <a:off x="10725150" y="5029200"/>
            <a:ext cx="1238250" cy="1638300"/>
            <a:chOff x="10725150" y="5029200"/>
            <a:chExt cx="1238250" cy="1638300"/>
          </a:xfrm>
        </p:grpSpPr>
        <p:sp>
          <p:nvSpPr>
            <p:cNvPr id="374" name="Rectangle 374"/>
            <p:cNvSpPr/>
            <p:nvPr/>
          </p:nvSpPr>
          <p:spPr>
            <a:xfrm>
              <a:off x="10725150" y="5029200"/>
              <a:ext cx="1238250" cy="1638300"/>
            </a:xfrm>
            <a:prstGeom prst="roundRect">
              <a:avLst>
                <a:gd name="adj" fmla="val 4615"/>
              </a:avLst>
            </a:prstGeom>
            <a:solidFill>
              <a:srgbClr val="69281B"/>
            </a:solidFill>
            <a:ln>
              <a:noFill/>
            </a:ln>
          </p:spPr>
        </p:sp>
        <p:sp>
          <p:nvSpPr>
            <p:cNvPr id="375" name="TextBox 375"/>
            <p:cNvSpPr txBox="1"/>
            <p:nvPr/>
          </p:nvSpPr>
          <p:spPr>
            <a:xfrm>
              <a:off x="10909402" y="5218986"/>
              <a:ext cx="869747" cy="140494"/>
            </a:xfrm>
            <a:prstGeom prst="rect">
              <a:avLst/>
            </a:prstGeom>
            <a:noFill/>
            <a:ln>
              <a:noFill/>
            </a:ln>
          </p:spPr>
          <p:txBody>
            <a:bodyPr wrap="none" lIns="0" tIns="0" rIns="0" bIns="0" anchor="t" anchorCtr="0">
              <a:spAutoFit/>
            </a:bodyPr>
            <a:lstStyle/>
            <a:p>
              <a:pPr algn="ctr"/>
              <a:r>
                <a:rPr lang="zh-CN" sz="710" dirty="0">
                  <a:solidFill>
                    <a:srgbClr val="D8E4F6"/>
                  </a:solidFill>
                  <a:latin typeface="+mn-lt"/>
                  <a:ea typeface="+mn-ea"/>
                  <a:cs typeface="+mn-cs"/>
                </a:rPr>
                <a:t>上半年化解风险贷款</a:t>
              </a:r>
            </a:p>
          </p:txBody>
        </p:sp>
        <p:sp>
          <p:nvSpPr>
            <p:cNvPr id="376" name="TextBox 376"/>
            <p:cNvSpPr txBox="1"/>
            <p:nvPr/>
          </p:nvSpPr>
          <p:spPr>
            <a:xfrm>
              <a:off x="10904224" y="5466398"/>
              <a:ext cx="880101"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3.6</a:t>
              </a:r>
              <a:r>
                <a:rPr lang="zh-CN" sz="820" dirty="0">
                  <a:solidFill>
                    <a:srgbClr val="FFFFFF"/>
                  </a:solidFill>
                  <a:latin typeface="+mn-lt"/>
                  <a:ea typeface="+mn-ea"/>
                  <a:cs typeface="+mn-cs"/>
                </a:rPr>
                <a:t xml:space="preserve"> 亿元</a:t>
              </a:r>
              <a:r>
                <a:rPr lang="zh-CN" sz="1950" b="1" dirty="0">
                  <a:solidFill>
                    <a:srgbClr val="FFFFFF"/>
                  </a:solidFill>
                  <a:latin typeface="+mn-lt"/>
                  <a:ea typeface="+mn-ea"/>
                  <a:cs typeface="+mn-cs"/>
                </a:rPr>
                <a:t>​</a:t>
              </a:r>
            </a:p>
          </p:txBody>
        </p:sp>
        <p:sp>
          <p:nvSpPr>
            <p:cNvPr id="377" name="Line 377"/>
            <p:cNvSpPr/>
            <p:nvPr/>
          </p:nvSpPr>
          <p:spPr>
            <a:xfrm>
              <a:off x="10858500" y="5848350"/>
              <a:ext cx="971550" cy="9525"/>
            </a:xfrm>
            <a:custGeom>
              <a:avLst/>
              <a:gdLst/>
              <a:ahLst/>
              <a:cxnLst/>
              <a:rect l="l" t="t" r="r" b="b"/>
              <a:pathLst>
                <a:path w="971550" h="9525">
                  <a:moveTo>
                    <a:pt x="0" y="0"/>
                  </a:moveTo>
                  <a:lnTo>
                    <a:pt x="971550" y="0"/>
                  </a:lnTo>
                </a:path>
              </a:pathLst>
            </a:custGeom>
            <a:noFill/>
            <a:ln w="9525">
              <a:solidFill>
                <a:srgbClr val="98574A"/>
              </a:solidFill>
            </a:ln>
          </p:spPr>
        </p:sp>
        <p:sp>
          <p:nvSpPr>
            <p:cNvPr id="378" name="TextBox 378"/>
            <p:cNvSpPr txBox="1"/>
            <p:nvPr/>
          </p:nvSpPr>
          <p:spPr>
            <a:xfrm>
              <a:off x="10853738" y="6023134"/>
              <a:ext cx="375691" cy="133350"/>
            </a:xfrm>
            <a:prstGeom prst="rect">
              <a:avLst/>
            </a:prstGeom>
            <a:noFill/>
            <a:ln>
              <a:noFill/>
            </a:ln>
          </p:spPr>
          <p:txBody>
            <a:bodyPr wrap="none" lIns="0" tIns="0" rIns="0" bIns="0" anchor="t" anchorCtr="0">
              <a:spAutoFit/>
            </a:bodyPr>
            <a:lstStyle/>
            <a:p>
              <a:pPr algn="l"/>
              <a:r>
                <a:rPr lang="zh-CN" sz="680" dirty="0">
                  <a:solidFill>
                    <a:srgbClr val="D8E4F6"/>
                  </a:solidFill>
                  <a:latin typeface="+mn-lt"/>
                  <a:ea typeface="+mn-ea"/>
                  <a:cs typeface="+mn-cs"/>
                </a:rPr>
                <a:t>不良核销</a:t>
              </a:r>
            </a:p>
          </p:txBody>
        </p:sp>
        <p:sp>
          <p:nvSpPr>
            <p:cNvPr id="379" name="TextBox 379"/>
            <p:cNvSpPr txBox="1"/>
            <p:nvPr/>
          </p:nvSpPr>
          <p:spPr>
            <a:xfrm>
              <a:off x="11383229" y="6019086"/>
              <a:ext cx="451583" cy="140494"/>
            </a:xfrm>
            <a:prstGeom prst="rect">
              <a:avLst/>
            </a:prstGeom>
            <a:noFill/>
            <a:ln>
              <a:noFill/>
            </a:ln>
          </p:spPr>
          <p:txBody>
            <a:bodyPr wrap="none" lIns="0" tIns="0" rIns="0" bIns="0" anchor="t" anchorCtr="0">
              <a:spAutoFit/>
            </a:bodyPr>
            <a:lstStyle/>
            <a:p>
              <a:pPr algn="r"/>
              <a:r>
                <a:rPr lang="zh-CN" sz="710" b="1" dirty="0">
                  <a:solidFill>
                    <a:srgbClr val="FFFFFF"/>
                  </a:solidFill>
                  <a:latin typeface="+mn-lt"/>
                  <a:ea typeface="+mn-ea"/>
                  <a:cs typeface="+mn-cs"/>
                </a:rPr>
                <a:t>2.8 亿元​</a:t>
              </a:r>
            </a:p>
          </p:txBody>
        </p:sp>
        <p:sp>
          <p:nvSpPr>
            <p:cNvPr id="380" name="TextBox 380"/>
            <p:cNvSpPr txBox="1"/>
            <p:nvPr/>
          </p:nvSpPr>
          <p:spPr>
            <a:xfrm>
              <a:off x="10853738" y="6251734"/>
              <a:ext cx="375691" cy="133350"/>
            </a:xfrm>
            <a:prstGeom prst="rect">
              <a:avLst/>
            </a:prstGeom>
            <a:noFill/>
            <a:ln>
              <a:noFill/>
            </a:ln>
          </p:spPr>
          <p:txBody>
            <a:bodyPr wrap="none" lIns="0" tIns="0" rIns="0" bIns="0" anchor="t" anchorCtr="0">
              <a:spAutoFit/>
            </a:bodyPr>
            <a:lstStyle/>
            <a:p>
              <a:pPr algn="l"/>
              <a:r>
                <a:rPr lang="zh-CN" sz="680" dirty="0">
                  <a:solidFill>
                    <a:srgbClr val="D8E4F6"/>
                  </a:solidFill>
                  <a:latin typeface="+mn-lt"/>
                  <a:ea typeface="+mn-ea"/>
                  <a:cs typeface="+mn-cs"/>
                </a:rPr>
                <a:t>现金回收</a:t>
              </a:r>
            </a:p>
          </p:txBody>
        </p:sp>
        <p:sp>
          <p:nvSpPr>
            <p:cNvPr id="381" name="TextBox 381"/>
            <p:cNvSpPr txBox="1"/>
            <p:nvPr/>
          </p:nvSpPr>
          <p:spPr>
            <a:xfrm>
              <a:off x="11383229" y="6247686"/>
              <a:ext cx="451583" cy="140494"/>
            </a:xfrm>
            <a:prstGeom prst="rect">
              <a:avLst/>
            </a:prstGeom>
            <a:noFill/>
            <a:ln>
              <a:noFill/>
            </a:ln>
          </p:spPr>
          <p:txBody>
            <a:bodyPr wrap="none" lIns="0" tIns="0" rIns="0" bIns="0" anchor="t" anchorCtr="0">
              <a:spAutoFit/>
            </a:bodyPr>
            <a:lstStyle/>
            <a:p>
              <a:pPr algn="r"/>
              <a:r>
                <a:rPr lang="zh-CN" sz="710" b="1" dirty="0">
                  <a:solidFill>
                    <a:srgbClr val="FFFFFF"/>
                  </a:solidFill>
                  <a:latin typeface="+mn-lt"/>
                  <a:ea typeface="+mn-ea"/>
                  <a:cs typeface="+mn-cs"/>
                </a:rPr>
                <a:t>0.8 亿元​</a:t>
              </a:r>
            </a:p>
          </p:txBody>
        </p:sp>
      </p:grpSp>
      <p:sp>
        <p:nvSpPr>
          <p:cNvPr id="383"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10 / 18 页​</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11​</a:t>
              </a:r>
            </a:p>
          </p:txBody>
        </p:sp>
        <p:sp>
          <p:nvSpPr>
            <p:cNvPr id="4" name="TextBox 4"/>
            <p:cNvSpPr txBox="1"/>
            <p:nvPr/>
          </p:nvSpPr>
          <p:spPr>
            <a:xfrm>
              <a:off x="1019175" y="169069"/>
              <a:ext cx="7358532"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渠道建设与线上转型同步推进，客户触达效率和服务半径持续扩大</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84" name="eco-graph"/>
          <p:cNvGrpSpPr/>
          <p:nvPr/>
        </p:nvGrpSpPr>
        <p:grpSpPr>
          <a:xfrm>
            <a:off x="228600" y="685800"/>
            <a:ext cx="4095750" cy="3409950"/>
            <a:chOff x="228600" y="685800"/>
            <a:chExt cx="4095750" cy="3409950"/>
          </a:xfrm>
        </p:grpSpPr>
        <p:sp>
          <p:nvSpPr>
            <p:cNvPr id="9" name="Rectangle 9"/>
            <p:cNvSpPr/>
            <p:nvPr/>
          </p:nvSpPr>
          <p:spPr>
            <a:xfrm>
              <a:off x="228600" y="685800"/>
              <a:ext cx="4095750" cy="3409950"/>
            </a:xfrm>
            <a:prstGeom prst="roundRect">
              <a:avLst>
                <a:gd name="adj" fmla="val 1676"/>
              </a:avLst>
            </a:prstGeom>
            <a:solidFill>
              <a:srgbClr val="FFFFFF"/>
            </a:solidFill>
            <a:ln w="9525">
              <a:solidFill>
                <a:srgbClr val="C9D6E9"/>
              </a:solidFill>
            </a:ln>
          </p:spPr>
        </p:sp>
        <p:sp>
          <p:nvSpPr>
            <p:cNvPr id="10" name="Rectangle 10"/>
            <p:cNvSpPr/>
            <p:nvPr/>
          </p:nvSpPr>
          <p:spPr>
            <a:xfrm>
              <a:off x="228600" y="685800"/>
              <a:ext cx="4095750" cy="228600"/>
            </a:xfrm>
            <a:prstGeom prst="roundRect">
              <a:avLst>
                <a:gd name="adj" fmla="val 25000"/>
              </a:avLst>
            </a:prstGeom>
            <a:solidFill>
              <a:srgbClr val="69281B"/>
            </a:solidFill>
            <a:ln>
              <a:noFill/>
            </a:ln>
          </p:spPr>
        </p:sp>
        <p:sp>
          <p:nvSpPr>
            <p:cNvPr id="11" name="Rectangle 11"/>
            <p:cNvSpPr/>
            <p:nvPr/>
          </p:nvSpPr>
          <p:spPr>
            <a:xfrm>
              <a:off x="228600" y="819150"/>
              <a:ext cx="4095750" cy="95250"/>
            </a:xfrm>
            <a:prstGeom prst="rect">
              <a:avLst/>
            </a:prstGeom>
            <a:solidFill>
              <a:srgbClr val="69281B"/>
            </a:solidFill>
            <a:ln>
              <a:noFill/>
            </a:ln>
          </p:spPr>
        </p:sp>
        <p:sp>
          <p:nvSpPr>
            <p:cNvPr id="12" name="TextBox 12"/>
            <p:cNvSpPr txBox="1"/>
            <p:nvPr/>
          </p:nvSpPr>
          <p:spPr>
            <a:xfrm>
              <a:off x="1787080" y="750570"/>
              <a:ext cx="97878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生态渠道协同图谱</a:t>
              </a:r>
            </a:p>
          </p:txBody>
        </p:sp>
        <p:sp>
          <p:nvSpPr>
            <p:cNvPr id="13" name="Line 13"/>
            <p:cNvSpPr/>
            <p:nvPr/>
          </p:nvSpPr>
          <p:spPr>
            <a:xfrm>
              <a:off x="1333500" y="1333500"/>
              <a:ext cx="942975" cy="1162050"/>
            </a:xfrm>
            <a:custGeom>
              <a:avLst/>
              <a:gdLst/>
              <a:ahLst/>
              <a:cxnLst/>
              <a:rect l="l" t="t" r="r" b="b"/>
              <a:pathLst>
                <a:path w="942975" h="1162050">
                  <a:moveTo>
                    <a:pt x="942975" y="1162050"/>
                  </a:moveTo>
                  <a:lnTo>
                    <a:pt x="0" y="0"/>
                  </a:lnTo>
                </a:path>
              </a:pathLst>
            </a:custGeom>
            <a:noFill/>
            <a:ln w="11430">
              <a:solidFill>
                <a:srgbClr val="EBC1B8"/>
              </a:solidFill>
              <a:custDash>
                <a:ds d="333333" sp="250000"/>
              </a:custDash>
            </a:ln>
          </p:spPr>
        </p:sp>
        <p:sp>
          <p:nvSpPr>
            <p:cNvPr id="14" name="Line 14"/>
            <p:cNvSpPr/>
            <p:nvPr/>
          </p:nvSpPr>
          <p:spPr>
            <a:xfrm>
              <a:off x="2276475" y="1333500"/>
              <a:ext cx="581025" cy="1162050"/>
            </a:xfrm>
            <a:custGeom>
              <a:avLst/>
              <a:gdLst/>
              <a:ahLst/>
              <a:cxnLst/>
              <a:rect l="l" t="t" r="r" b="b"/>
              <a:pathLst>
                <a:path w="581025" h="1162050">
                  <a:moveTo>
                    <a:pt x="0" y="1162050"/>
                  </a:moveTo>
                  <a:lnTo>
                    <a:pt x="581025" y="0"/>
                  </a:lnTo>
                </a:path>
              </a:pathLst>
            </a:custGeom>
            <a:noFill/>
            <a:ln w="11430">
              <a:solidFill>
                <a:srgbClr val="EBC1B8"/>
              </a:solidFill>
              <a:custDash>
                <a:ds d="333333" sp="250000"/>
              </a:custDash>
            </a:ln>
          </p:spPr>
        </p:sp>
        <p:sp>
          <p:nvSpPr>
            <p:cNvPr id="15" name="Line 15"/>
            <p:cNvSpPr/>
            <p:nvPr/>
          </p:nvSpPr>
          <p:spPr>
            <a:xfrm>
              <a:off x="2276475" y="2495550"/>
              <a:ext cx="1247775" cy="9525"/>
            </a:xfrm>
            <a:custGeom>
              <a:avLst/>
              <a:gdLst/>
              <a:ahLst/>
              <a:cxnLst/>
              <a:rect l="l" t="t" r="r" b="b"/>
              <a:pathLst>
                <a:path w="1247775" h="9525">
                  <a:moveTo>
                    <a:pt x="0" y="0"/>
                  </a:moveTo>
                  <a:lnTo>
                    <a:pt x="1247775" y="0"/>
                  </a:lnTo>
                </a:path>
              </a:pathLst>
            </a:custGeom>
            <a:noFill/>
            <a:ln w="11430">
              <a:solidFill>
                <a:srgbClr val="EBC1B8"/>
              </a:solidFill>
              <a:custDash>
                <a:ds d="333333" sp="250000"/>
              </a:custDash>
            </a:ln>
          </p:spPr>
        </p:sp>
        <p:sp>
          <p:nvSpPr>
            <p:cNvPr id="16" name="Line 16"/>
            <p:cNvSpPr/>
            <p:nvPr/>
          </p:nvSpPr>
          <p:spPr>
            <a:xfrm>
              <a:off x="2276475" y="2495550"/>
              <a:ext cx="581025" cy="1162050"/>
            </a:xfrm>
            <a:custGeom>
              <a:avLst/>
              <a:gdLst/>
              <a:ahLst/>
              <a:cxnLst/>
              <a:rect l="l" t="t" r="r" b="b"/>
              <a:pathLst>
                <a:path w="581025" h="1162050">
                  <a:moveTo>
                    <a:pt x="0" y="0"/>
                  </a:moveTo>
                  <a:lnTo>
                    <a:pt x="581025" y="1162050"/>
                  </a:lnTo>
                </a:path>
              </a:pathLst>
            </a:custGeom>
            <a:noFill/>
            <a:ln w="11430">
              <a:solidFill>
                <a:srgbClr val="EBC1B8"/>
              </a:solidFill>
              <a:custDash>
                <a:ds d="333333" sp="250000"/>
              </a:custDash>
            </a:ln>
          </p:spPr>
        </p:sp>
        <p:sp>
          <p:nvSpPr>
            <p:cNvPr id="17" name="Line 17"/>
            <p:cNvSpPr/>
            <p:nvPr/>
          </p:nvSpPr>
          <p:spPr>
            <a:xfrm>
              <a:off x="1333500" y="2495550"/>
              <a:ext cx="942975" cy="1162050"/>
            </a:xfrm>
            <a:custGeom>
              <a:avLst/>
              <a:gdLst/>
              <a:ahLst/>
              <a:cxnLst/>
              <a:rect l="l" t="t" r="r" b="b"/>
              <a:pathLst>
                <a:path w="942975" h="1162050">
                  <a:moveTo>
                    <a:pt x="942975" y="0"/>
                  </a:moveTo>
                  <a:lnTo>
                    <a:pt x="0" y="1162050"/>
                  </a:lnTo>
                </a:path>
              </a:pathLst>
            </a:custGeom>
            <a:noFill/>
            <a:ln w="11430">
              <a:solidFill>
                <a:srgbClr val="EBC1B8"/>
              </a:solidFill>
              <a:custDash>
                <a:ds d="333333" sp="250000"/>
              </a:custDash>
            </a:ln>
          </p:spPr>
        </p:sp>
        <p:sp>
          <p:nvSpPr>
            <p:cNvPr id="18" name="Line 18"/>
            <p:cNvSpPr/>
            <p:nvPr/>
          </p:nvSpPr>
          <p:spPr>
            <a:xfrm>
              <a:off x="571500" y="2495550"/>
              <a:ext cx="1704975" cy="9525"/>
            </a:xfrm>
            <a:custGeom>
              <a:avLst/>
              <a:gdLst/>
              <a:ahLst/>
              <a:cxnLst/>
              <a:rect l="l" t="t" r="r" b="b"/>
              <a:pathLst>
                <a:path w="1704975" h="9525">
                  <a:moveTo>
                    <a:pt x="1704975" y="0"/>
                  </a:moveTo>
                  <a:lnTo>
                    <a:pt x="0" y="0"/>
                  </a:lnTo>
                </a:path>
              </a:pathLst>
            </a:custGeom>
            <a:noFill/>
            <a:ln w="11430">
              <a:solidFill>
                <a:srgbClr val="EBC1B8"/>
              </a:solidFill>
              <a:custDash>
                <a:ds d="333333" sp="250000"/>
              </a:custDash>
            </a:ln>
          </p:spPr>
        </p:sp>
        <p:sp>
          <p:nvSpPr>
            <p:cNvPr id="19" name="Ellipse 19"/>
            <p:cNvSpPr/>
            <p:nvPr/>
          </p:nvSpPr>
          <p:spPr>
            <a:xfrm>
              <a:off x="1838325" y="2057400"/>
              <a:ext cx="876300" cy="876300"/>
            </a:xfrm>
            <a:prstGeom prst="ellipse">
              <a:avLst/>
            </a:prstGeom>
            <a:solidFill>
              <a:srgbClr val="69281B"/>
            </a:solidFill>
            <a:ln>
              <a:noFill/>
            </a:ln>
          </p:spPr>
        </p:sp>
        <p:sp>
          <p:nvSpPr>
            <p:cNvPr id="20" name="Ellipse 20"/>
            <p:cNvSpPr/>
            <p:nvPr/>
          </p:nvSpPr>
          <p:spPr>
            <a:xfrm>
              <a:off x="1781175" y="2000250"/>
              <a:ext cx="990600" cy="990600"/>
            </a:xfrm>
            <a:prstGeom prst="ellipse">
              <a:avLst/>
            </a:prstGeom>
            <a:noFill/>
            <a:ln w="9525">
              <a:solidFill>
                <a:srgbClr val="EBC1B8"/>
              </a:solidFill>
            </a:ln>
          </p:spPr>
        </p:sp>
        <p:grpSp>
          <p:nvGrpSpPr>
            <p:cNvPr id="29" name="Group 29"/>
            <p:cNvGrpSpPr/>
            <p:nvPr/>
          </p:nvGrpSpPr>
          <p:grpSpPr>
            <a:xfrm>
              <a:off x="2183606" y="2278856"/>
              <a:ext cx="185737" cy="195262"/>
              <a:chOff x="2183606" y="2278856"/>
              <a:chExt cx="185737" cy="195262"/>
            </a:xfrm>
          </p:grpSpPr>
          <p:sp>
            <p:nvSpPr>
              <p:cNvPr id="21" name="Freeform 21"/>
              <p:cNvSpPr/>
              <p:nvPr/>
            </p:nvSpPr>
            <p:spPr>
              <a:xfrm>
                <a:off x="2183606" y="2464593"/>
                <a:ext cx="185737" cy="9525"/>
              </a:xfrm>
              <a:custGeom>
                <a:avLst/>
                <a:gdLst/>
                <a:ahLst/>
                <a:cxnLst/>
                <a:rect l="l" t="t" r="r" b="b"/>
                <a:pathLst>
                  <a:path w="185737" h="9525">
                    <a:moveTo>
                      <a:pt x="0" y="0"/>
                    </a:moveTo>
                    <a:lnTo>
                      <a:pt x="185737" y="0"/>
                    </a:lnTo>
                  </a:path>
                </a:pathLst>
              </a:custGeom>
              <a:noFill/>
              <a:ln w="20637">
                <a:solidFill>
                  <a:srgbClr val="FFFFFF"/>
                </a:solidFill>
              </a:ln>
            </p:spPr>
          </p:sp>
          <p:sp>
            <p:nvSpPr>
              <p:cNvPr id="22" name="Freeform 22"/>
              <p:cNvSpPr/>
              <p:nvPr/>
            </p:nvSpPr>
            <p:spPr>
              <a:xfrm>
                <a:off x="2183606" y="2351087"/>
                <a:ext cx="185737" cy="9525"/>
              </a:xfrm>
              <a:custGeom>
                <a:avLst/>
                <a:gdLst/>
                <a:ahLst/>
                <a:cxnLst/>
                <a:rect l="l" t="t" r="r" b="b"/>
                <a:pathLst>
                  <a:path w="185737" h="9525">
                    <a:moveTo>
                      <a:pt x="0" y="0"/>
                    </a:moveTo>
                    <a:lnTo>
                      <a:pt x="185737" y="0"/>
                    </a:lnTo>
                  </a:path>
                </a:pathLst>
              </a:custGeom>
              <a:noFill/>
              <a:ln w="20637">
                <a:solidFill>
                  <a:srgbClr val="FFFFFF"/>
                </a:solidFill>
              </a:ln>
            </p:spPr>
          </p:sp>
          <p:sp>
            <p:nvSpPr>
              <p:cNvPr id="23" name="Freeform 23"/>
              <p:cNvSpPr/>
              <p:nvPr/>
            </p:nvSpPr>
            <p:spPr>
              <a:xfrm>
                <a:off x="2204244" y="2278856"/>
                <a:ext cx="144462" cy="30956"/>
              </a:xfrm>
              <a:custGeom>
                <a:avLst/>
                <a:gdLst/>
                <a:ahLst/>
                <a:cxnLst/>
                <a:rect l="l" t="t" r="r" b="b"/>
                <a:pathLst>
                  <a:path w="144462" h="30956">
                    <a:moveTo>
                      <a:pt x="0" y="30956"/>
                    </a:moveTo>
                    <a:lnTo>
                      <a:pt x="72231" y="0"/>
                    </a:lnTo>
                    <a:lnTo>
                      <a:pt x="144462" y="30956"/>
                    </a:lnTo>
                  </a:path>
                </a:pathLst>
              </a:custGeom>
              <a:noFill/>
              <a:ln w="20637">
                <a:solidFill>
                  <a:srgbClr val="FFFFFF"/>
                </a:solidFill>
              </a:ln>
            </p:spPr>
          </p:sp>
          <p:sp>
            <p:nvSpPr>
              <p:cNvPr id="24" name="Freeform 24"/>
              <p:cNvSpPr/>
              <p:nvPr/>
            </p:nvSpPr>
            <p:spPr>
              <a:xfrm>
                <a:off x="2193925" y="2351087"/>
                <a:ext cx="9525" cy="113506"/>
              </a:xfrm>
              <a:custGeom>
                <a:avLst/>
                <a:gdLst/>
                <a:ahLst/>
                <a:cxnLst/>
                <a:rect l="l" t="t" r="r" b="b"/>
                <a:pathLst>
                  <a:path w="9525" h="113506">
                    <a:moveTo>
                      <a:pt x="0" y="0"/>
                    </a:moveTo>
                    <a:lnTo>
                      <a:pt x="0" y="113506"/>
                    </a:lnTo>
                  </a:path>
                </a:pathLst>
              </a:custGeom>
              <a:noFill/>
              <a:ln w="20637">
                <a:solidFill>
                  <a:srgbClr val="FFFFFF"/>
                </a:solidFill>
              </a:ln>
            </p:spPr>
          </p:sp>
          <p:sp>
            <p:nvSpPr>
              <p:cNvPr id="25" name="Freeform 25"/>
              <p:cNvSpPr/>
              <p:nvPr/>
            </p:nvSpPr>
            <p:spPr>
              <a:xfrm>
                <a:off x="2359024" y="2351087"/>
                <a:ext cx="9525" cy="113506"/>
              </a:xfrm>
              <a:custGeom>
                <a:avLst/>
                <a:gdLst/>
                <a:ahLst/>
                <a:cxnLst/>
                <a:rect l="l" t="t" r="r" b="b"/>
                <a:pathLst>
                  <a:path w="9525" h="113506">
                    <a:moveTo>
                      <a:pt x="0" y="0"/>
                    </a:moveTo>
                    <a:lnTo>
                      <a:pt x="0" y="113506"/>
                    </a:lnTo>
                  </a:path>
                </a:pathLst>
              </a:custGeom>
              <a:noFill/>
              <a:ln w="20637">
                <a:solidFill>
                  <a:srgbClr val="FFFFFF"/>
                </a:solidFill>
              </a:ln>
            </p:spPr>
          </p:sp>
          <p:sp>
            <p:nvSpPr>
              <p:cNvPr id="26" name="Freeform 26"/>
              <p:cNvSpPr/>
              <p:nvPr/>
            </p:nvSpPr>
            <p:spPr>
              <a:xfrm>
                <a:off x="2235200" y="2392362"/>
                <a:ext cx="9525" cy="30956"/>
              </a:xfrm>
              <a:custGeom>
                <a:avLst/>
                <a:gdLst/>
                <a:ahLst/>
                <a:cxnLst/>
                <a:rect l="l" t="t" r="r" b="b"/>
                <a:pathLst>
                  <a:path w="9525" h="30956">
                    <a:moveTo>
                      <a:pt x="0" y="0"/>
                    </a:moveTo>
                    <a:lnTo>
                      <a:pt x="0" y="30956"/>
                    </a:lnTo>
                  </a:path>
                </a:pathLst>
              </a:custGeom>
              <a:noFill/>
              <a:ln w="20637">
                <a:solidFill>
                  <a:srgbClr val="FFFFFF"/>
                </a:solidFill>
              </a:ln>
            </p:spPr>
          </p:sp>
          <p:sp>
            <p:nvSpPr>
              <p:cNvPr id="27" name="Freeform 27"/>
              <p:cNvSpPr/>
              <p:nvPr/>
            </p:nvSpPr>
            <p:spPr>
              <a:xfrm>
                <a:off x="2276475" y="2392362"/>
                <a:ext cx="9525" cy="30956"/>
              </a:xfrm>
              <a:custGeom>
                <a:avLst/>
                <a:gdLst/>
                <a:ahLst/>
                <a:cxnLst/>
                <a:rect l="l" t="t" r="r" b="b"/>
                <a:pathLst>
                  <a:path w="9525" h="30956">
                    <a:moveTo>
                      <a:pt x="0" y="0"/>
                    </a:moveTo>
                    <a:lnTo>
                      <a:pt x="0" y="30956"/>
                    </a:lnTo>
                  </a:path>
                </a:pathLst>
              </a:custGeom>
              <a:noFill/>
              <a:ln w="20637">
                <a:solidFill>
                  <a:srgbClr val="FFFFFF"/>
                </a:solidFill>
              </a:ln>
            </p:spPr>
          </p:sp>
          <p:sp>
            <p:nvSpPr>
              <p:cNvPr id="28" name="Freeform 28"/>
              <p:cNvSpPr/>
              <p:nvPr/>
            </p:nvSpPr>
            <p:spPr>
              <a:xfrm>
                <a:off x="2317749" y="2392362"/>
                <a:ext cx="9525" cy="30956"/>
              </a:xfrm>
              <a:custGeom>
                <a:avLst/>
                <a:gdLst/>
                <a:ahLst/>
                <a:cxnLst/>
                <a:rect l="l" t="t" r="r" b="b"/>
                <a:pathLst>
                  <a:path w="9525" h="30956">
                    <a:moveTo>
                      <a:pt x="0" y="0"/>
                    </a:moveTo>
                    <a:lnTo>
                      <a:pt x="0" y="30956"/>
                    </a:lnTo>
                  </a:path>
                </a:pathLst>
              </a:custGeom>
              <a:noFill/>
              <a:ln w="20637">
                <a:solidFill>
                  <a:srgbClr val="FFFFFF"/>
                </a:solidFill>
              </a:ln>
            </p:spPr>
          </p:sp>
        </p:grpSp>
        <p:sp>
          <p:nvSpPr>
            <p:cNvPr id="30" name="TextBox 30"/>
            <p:cNvSpPr txBox="1"/>
            <p:nvPr/>
          </p:nvSpPr>
          <p:spPr>
            <a:xfrm>
              <a:off x="1968818" y="260508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银行公司业务</a:t>
              </a:r>
            </a:p>
          </p:txBody>
        </p:sp>
        <p:sp>
          <p:nvSpPr>
            <p:cNvPr id="31" name="Ellipse 31"/>
            <p:cNvSpPr/>
            <p:nvPr/>
          </p:nvSpPr>
          <p:spPr>
            <a:xfrm>
              <a:off x="1162050" y="1162050"/>
              <a:ext cx="342900" cy="342900"/>
            </a:xfrm>
            <a:prstGeom prst="ellipse">
              <a:avLst/>
            </a:prstGeom>
            <a:solidFill>
              <a:srgbClr val="EAF1FB"/>
            </a:solidFill>
            <a:ln w="9525">
              <a:solidFill>
                <a:srgbClr val="EBC1B8"/>
              </a:solidFill>
            </a:ln>
          </p:spPr>
        </p:sp>
        <p:grpSp>
          <p:nvGrpSpPr>
            <p:cNvPr id="40" name="Group 40"/>
            <p:cNvGrpSpPr/>
            <p:nvPr/>
          </p:nvGrpSpPr>
          <p:grpSpPr>
            <a:xfrm>
              <a:off x="1269206" y="1269206"/>
              <a:ext cx="130969" cy="138113"/>
              <a:chOff x="1269206" y="1269206"/>
              <a:chExt cx="130969" cy="138113"/>
            </a:xfrm>
          </p:grpSpPr>
          <p:sp>
            <p:nvSpPr>
              <p:cNvPr id="32" name="Freeform 32"/>
              <p:cNvSpPr/>
              <p:nvPr/>
            </p:nvSpPr>
            <p:spPr>
              <a:xfrm>
                <a:off x="1269206" y="1397794"/>
                <a:ext cx="128588" cy="9525"/>
              </a:xfrm>
              <a:custGeom>
                <a:avLst/>
                <a:gdLst/>
                <a:ahLst/>
                <a:cxnLst/>
                <a:rect l="l" t="t" r="r" b="b"/>
                <a:pathLst>
                  <a:path w="128588" h="9525">
                    <a:moveTo>
                      <a:pt x="0" y="0"/>
                    </a:moveTo>
                    <a:lnTo>
                      <a:pt x="128588" y="0"/>
                    </a:lnTo>
                  </a:path>
                </a:pathLst>
              </a:custGeom>
              <a:noFill/>
              <a:ln w="14288">
                <a:solidFill>
                  <a:srgbClr val="E04C2E"/>
                </a:solidFill>
              </a:ln>
            </p:spPr>
          </p:sp>
          <p:sp>
            <p:nvSpPr>
              <p:cNvPr id="33" name="Freeform 33"/>
              <p:cNvSpPr/>
              <p:nvPr/>
            </p:nvSpPr>
            <p:spPr>
              <a:xfrm>
                <a:off x="1269206" y="1319212"/>
                <a:ext cx="128588" cy="9525"/>
              </a:xfrm>
              <a:custGeom>
                <a:avLst/>
                <a:gdLst/>
                <a:ahLst/>
                <a:cxnLst/>
                <a:rect l="l" t="t" r="r" b="b"/>
                <a:pathLst>
                  <a:path w="128588" h="9525">
                    <a:moveTo>
                      <a:pt x="0" y="0"/>
                    </a:moveTo>
                    <a:lnTo>
                      <a:pt x="128588" y="0"/>
                    </a:lnTo>
                  </a:path>
                </a:pathLst>
              </a:custGeom>
              <a:noFill/>
              <a:ln w="14288">
                <a:solidFill>
                  <a:srgbClr val="E04C2E"/>
                </a:solidFill>
              </a:ln>
            </p:spPr>
          </p:sp>
          <p:sp>
            <p:nvSpPr>
              <p:cNvPr id="34" name="Freeform 34"/>
              <p:cNvSpPr/>
              <p:nvPr/>
            </p:nvSpPr>
            <p:spPr>
              <a:xfrm>
                <a:off x="1283494" y="1269206"/>
                <a:ext cx="100012" cy="21431"/>
              </a:xfrm>
              <a:custGeom>
                <a:avLst/>
                <a:gdLst/>
                <a:ahLst/>
                <a:cxnLst/>
                <a:rect l="l" t="t" r="r" b="b"/>
                <a:pathLst>
                  <a:path w="100012" h="21431">
                    <a:moveTo>
                      <a:pt x="0" y="21431"/>
                    </a:moveTo>
                    <a:lnTo>
                      <a:pt x="50006" y="0"/>
                    </a:lnTo>
                    <a:lnTo>
                      <a:pt x="100012" y="21431"/>
                    </a:lnTo>
                  </a:path>
                </a:pathLst>
              </a:custGeom>
              <a:noFill/>
              <a:ln w="14288">
                <a:solidFill>
                  <a:srgbClr val="E04C2E"/>
                </a:solidFill>
              </a:ln>
            </p:spPr>
          </p:sp>
          <p:sp>
            <p:nvSpPr>
              <p:cNvPr id="35" name="Freeform 35"/>
              <p:cNvSpPr/>
              <p:nvPr/>
            </p:nvSpPr>
            <p:spPr>
              <a:xfrm>
                <a:off x="1276350" y="1319212"/>
                <a:ext cx="9525" cy="78581"/>
              </a:xfrm>
              <a:custGeom>
                <a:avLst/>
                <a:gdLst/>
                <a:ahLst/>
                <a:cxnLst/>
                <a:rect l="l" t="t" r="r" b="b"/>
                <a:pathLst>
                  <a:path w="9525" h="78581">
                    <a:moveTo>
                      <a:pt x="0" y="0"/>
                    </a:moveTo>
                    <a:lnTo>
                      <a:pt x="0" y="78581"/>
                    </a:lnTo>
                  </a:path>
                </a:pathLst>
              </a:custGeom>
              <a:noFill/>
              <a:ln w="14288">
                <a:solidFill>
                  <a:srgbClr val="E04C2E"/>
                </a:solidFill>
              </a:ln>
            </p:spPr>
          </p:sp>
          <p:sp>
            <p:nvSpPr>
              <p:cNvPr id="36" name="Freeform 36"/>
              <p:cNvSpPr/>
              <p:nvPr/>
            </p:nvSpPr>
            <p:spPr>
              <a:xfrm>
                <a:off x="1390650" y="1319212"/>
                <a:ext cx="9525" cy="78581"/>
              </a:xfrm>
              <a:custGeom>
                <a:avLst/>
                <a:gdLst/>
                <a:ahLst/>
                <a:cxnLst/>
                <a:rect l="l" t="t" r="r" b="b"/>
                <a:pathLst>
                  <a:path w="9525" h="78581">
                    <a:moveTo>
                      <a:pt x="0" y="0"/>
                    </a:moveTo>
                    <a:lnTo>
                      <a:pt x="0" y="78581"/>
                    </a:lnTo>
                  </a:path>
                </a:pathLst>
              </a:custGeom>
              <a:noFill/>
              <a:ln w="14288">
                <a:solidFill>
                  <a:srgbClr val="E04C2E"/>
                </a:solidFill>
              </a:ln>
            </p:spPr>
          </p:sp>
          <p:sp>
            <p:nvSpPr>
              <p:cNvPr id="37" name="Freeform 37"/>
              <p:cNvSpPr/>
              <p:nvPr/>
            </p:nvSpPr>
            <p:spPr>
              <a:xfrm>
                <a:off x="1304925" y="1347788"/>
                <a:ext cx="9525" cy="21431"/>
              </a:xfrm>
              <a:custGeom>
                <a:avLst/>
                <a:gdLst/>
                <a:ahLst/>
                <a:cxnLst/>
                <a:rect l="l" t="t" r="r" b="b"/>
                <a:pathLst>
                  <a:path w="9525" h="21431">
                    <a:moveTo>
                      <a:pt x="0" y="0"/>
                    </a:moveTo>
                    <a:lnTo>
                      <a:pt x="0" y="21431"/>
                    </a:lnTo>
                  </a:path>
                </a:pathLst>
              </a:custGeom>
              <a:noFill/>
              <a:ln w="14288">
                <a:solidFill>
                  <a:srgbClr val="E04C2E"/>
                </a:solidFill>
              </a:ln>
            </p:spPr>
          </p:sp>
          <p:sp>
            <p:nvSpPr>
              <p:cNvPr id="38" name="Freeform 38"/>
              <p:cNvSpPr/>
              <p:nvPr/>
            </p:nvSpPr>
            <p:spPr>
              <a:xfrm>
                <a:off x="1333500" y="1347788"/>
                <a:ext cx="9525" cy="21431"/>
              </a:xfrm>
              <a:custGeom>
                <a:avLst/>
                <a:gdLst/>
                <a:ahLst/>
                <a:cxnLst/>
                <a:rect l="l" t="t" r="r" b="b"/>
                <a:pathLst>
                  <a:path w="9525" h="21431">
                    <a:moveTo>
                      <a:pt x="0" y="0"/>
                    </a:moveTo>
                    <a:lnTo>
                      <a:pt x="0" y="21431"/>
                    </a:lnTo>
                  </a:path>
                </a:pathLst>
              </a:custGeom>
              <a:noFill/>
              <a:ln w="14288">
                <a:solidFill>
                  <a:srgbClr val="E04C2E"/>
                </a:solidFill>
              </a:ln>
            </p:spPr>
          </p:sp>
          <p:sp>
            <p:nvSpPr>
              <p:cNvPr id="39" name="Freeform 39"/>
              <p:cNvSpPr/>
              <p:nvPr/>
            </p:nvSpPr>
            <p:spPr>
              <a:xfrm>
                <a:off x="1362075" y="1347788"/>
                <a:ext cx="9525" cy="21431"/>
              </a:xfrm>
              <a:custGeom>
                <a:avLst/>
                <a:gdLst/>
                <a:ahLst/>
                <a:cxnLst/>
                <a:rect l="l" t="t" r="r" b="b"/>
                <a:pathLst>
                  <a:path w="9525" h="21431">
                    <a:moveTo>
                      <a:pt x="0" y="0"/>
                    </a:moveTo>
                    <a:lnTo>
                      <a:pt x="0" y="21431"/>
                    </a:lnTo>
                  </a:path>
                </a:pathLst>
              </a:custGeom>
              <a:noFill/>
              <a:ln w="14288">
                <a:solidFill>
                  <a:srgbClr val="E04C2E"/>
                </a:solidFill>
              </a:ln>
            </p:spPr>
          </p:sp>
        </p:grpSp>
        <p:sp>
          <p:nvSpPr>
            <p:cNvPr id="41" name="TextBox 41"/>
            <p:cNvSpPr txBox="1"/>
            <p:nvPr/>
          </p:nvSpPr>
          <p:spPr>
            <a:xfrm>
              <a:off x="1557338" y="12144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政府部门</a:t>
              </a:r>
            </a:p>
          </p:txBody>
        </p:sp>
        <p:sp>
          <p:nvSpPr>
            <p:cNvPr id="42" name="TextBox 42"/>
            <p:cNvSpPr txBox="1"/>
            <p:nvPr/>
          </p:nvSpPr>
          <p:spPr>
            <a:xfrm>
              <a:off x="1557338" y="1365599"/>
              <a:ext cx="380365" cy="325755"/>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政策协同</a:t>
              </a:r>
            </a:p>
            <a:p>
              <a:pPr algn="l" marL="76200" indent="-76200">
                <a:lnSpc>
                  <a:spcPts val="825"/>
                </a:lnSpc>
                <a:buClr>
                  <a:srgbClr val="70504A"/>
                </a:buClr>
                <a:buSzTx/>
                <a:buFontTx/>
                <a:buChar char="•"/>
              </a:pPr>
              <a:r>
                <a:rPr lang="zh-CN" sz="580" dirty="0">
                  <a:solidFill>
                    <a:srgbClr val="70504A"/>
                  </a:solidFill>
                  <a:latin typeface="+mn-lt"/>
                  <a:ea typeface="+mn-ea"/>
                  <a:cs typeface="+mn-cs"/>
                </a:rPr>
                <a:t>项目信息</a:t>
              </a:r>
            </a:p>
            <a:p>
              <a:pPr algn="l" marL="76200" indent="-76200">
                <a:lnSpc>
                  <a:spcPts val="825"/>
                </a:lnSpc>
                <a:buClr>
                  <a:srgbClr val="70504A"/>
                </a:buClr>
                <a:buSzTx/>
                <a:buFontTx/>
                <a:buChar char="•"/>
              </a:pPr>
              <a:r>
                <a:rPr lang="zh-CN" sz="580" dirty="0">
                  <a:solidFill>
                    <a:srgbClr val="70504A"/>
                  </a:solidFill>
                  <a:latin typeface="+mn-lt"/>
                  <a:ea typeface="+mn-ea"/>
                  <a:cs typeface="+mn-cs"/>
                </a:rPr>
                <a:t>企业名录</a:t>
              </a:r>
            </a:p>
          </p:txBody>
        </p:sp>
        <p:sp>
          <p:nvSpPr>
            <p:cNvPr id="43" name="Ellipse 43"/>
            <p:cNvSpPr/>
            <p:nvPr/>
          </p:nvSpPr>
          <p:spPr>
            <a:xfrm>
              <a:off x="2686050" y="1162050"/>
              <a:ext cx="342900" cy="342900"/>
            </a:xfrm>
            <a:prstGeom prst="ellipse">
              <a:avLst/>
            </a:prstGeom>
            <a:solidFill>
              <a:srgbClr val="EAF1FB"/>
            </a:solidFill>
            <a:ln w="9525">
              <a:solidFill>
                <a:srgbClr val="EBC1B8"/>
              </a:solidFill>
            </a:ln>
          </p:spPr>
        </p:sp>
        <p:grpSp>
          <p:nvGrpSpPr>
            <p:cNvPr id="47" name="Group 47"/>
            <p:cNvGrpSpPr/>
            <p:nvPr/>
          </p:nvGrpSpPr>
          <p:grpSpPr>
            <a:xfrm>
              <a:off x="2793206" y="1269206"/>
              <a:ext cx="128588" cy="128588"/>
              <a:chOff x="2793206" y="1269206"/>
              <a:chExt cx="128588" cy="128588"/>
            </a:xfrm>
          </p:grpSpPr>
          <p:sp>
            <p:nvSpPr>
              <p:cNvPr id="44" name="Freeform 44"/>
              <p:cNvSpPr/>
              <p:nvPr/>
            </p:nvSpPr>
            <p:spPr>
              <a:xfrm>
                <a:off x="2793206" y="1269206"/>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E04C2E"/>
                </a:solidFill>
              </a:ln>
            </p:spPr>
          </p:sp>
          <p:sp>
            <p:nvSpPr>
              <p:cNvPr id="45" name="Freeform 45"/>
              <p:cNvSpPr/>
              <p:nvPr/>
            </p:nvSpPr>
            <p:spPr>
              <a:xfrm>
                <a:off x="2807494" y="1333500"/>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E04C2E"/>
                </a:solidFill>
              </a:ln>
            </p:spPr>
          </p:sp>
          <p:sp>
            <p:nvSpPr>
              <p:cNvPr id="46" name="Freeform 46"/>
              <p:cNvSpPr/>
              <p:nvPr/>
            </p:nvSpPr>
            <p:spPr>
              <a:xfrm>
                <a:off x="2836069" y="1340644"/>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E04C2E"/>
                </a:solidFill>
              </a:ln>
            </p:spPr>
          </p:sp>
        </p:grpSp>
        <p:sp>
          <p:nvSpPr>
            <p:cNvPr id="48" name="TextBox 48"/>
            <p:cNvSpPr txBox="1"/>
            <p:nvPr/>
          </p:nvSpPr>
          <p:spPr>
            <a:xfrm>
              <a:off x="3081338" y="12144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产业园区</a:t>
              </a:r>
            </a:p>
          </p:txBody>
        </p:sp>
        <p:sp>
          <p:nvSpPr>
            <p:cNvPr id="49" name="TextBox 49"/>
            <p:cNvSpPr txBox="1"/>
            <p:nvPr/>
          </p:nvSpPr>
          <p:spPr>
            <a:xfrm>
              <a:off x="3081338" y="1365599"/>
              <a:ext cx="380365" cy="325755"/>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园区授信</a:t>
              </a:r>
            </a:p>
            <a:p>
              <a:pPr algn="l" marL="76200" indent="-76200">
                <a:lnSpc>
                  <a:spcPts val="825"/>
                </a:lnSpc>
                <a:buClr>
                  <a:srgbClr val="70504A"/>
                </a:buClr>
                <a:buSzTx/>
                <a:buFontTx/>
                <a:buChar char="•"/>
              </a:pPr>
              <a:r>
                <a:rPr lang="zh-CN" sz="580" dirty="0">
                  <a:solidFill>
                    <a:srgbClr val="70504A"/>
                  </a:solidFill>
                  <a:latin typeface="+mn-lt"/>
                  <a:ea typeface="+mn-ea"/>
                  <a:cs typeface="+mn-cs"/>
                </a:rPr>
                <a:t>企业入驻</a:t>
              </a:r>
            </a:p>
            <a:p>
              <a:pPr algn="l" marL="76200" indent="-76200">
                <a:lnSpc>
                  <a:spcPts val="825"/>
                </a:lnSpc>
                <a:buClr>
                  <a:srgbClr val="70504A"/>
                </a:buClr>
                <a:buSzTx/>
                <a:buFontTx/>
                <a:buChar char="•"/>
              </a:pPr>
              <a:r>
                <a:rPr lang="zh-CN" sz="580" dirty="0">
                  <a:solidFill>
                    <a:srgbClr val="70504A"/>
                  </a:solidFill>
                  <a:latin typeface="+mn-lt"/>
                  <a:ea typeface="+mn-ea"/>
                  <a:cs typeface="+mn-cs"/>
                </a:rPr>
                <a:t>需求对接</a:t>
              </a:r>
            </a:p>
          </p:txBody>
        </p:sp>
        <p:sp>
          <p:nvSpPr>
            <p:cNvPr id="50" name="Ellipse 50"/>
            <p:cNvSpPr/>
            <p:nvPr/>
          </p:nvSpPr>
          <p:spPr>
            <a:xfrm>
              <a:off x="3352800" y="2324100"/>
              <a:ext cx="342900" cy="342900"/>
            </a:xfrm>
            <a:prstGeom prst="ellipse">
              <a:avLst/>
            </a:prstGeom>
            <a:solidFill>
              <a:srgbClr val="EAF1FB"/>
            </a:solidFill>
            <a:ln w="9525">
              <a:solidFill>
                <a:srgbClr val="EBC1B8"/>
              </a:solidFill>
            </a:ln>
          </p:spPr>
        </p:sp>
        <p:grpSp>
          <p:nvGrpSpPr>
            <p:cNvPr id="56" name="Group 56"/>
            <p:cNvGrpSpPr/>
            <p:nvPr/>
          </p:nvGrpSpPr>
          <p:grpSpPr>
            <a:xfrm>
              <a:off x="3459956" y="2431256"/>
              <a:ext cx="128588" cy="128588"/>
              <a:chOff x="3459956" y="2431256"/>
              <a:chExt cx="128588" cy="128588"/>
            </a:xfrm>
          </p:grpSpPr>
          <p:sp>
            <p:nvSpPr>
              <p:cNvPr id="51" name="Freeform 51"/>
              <p:cNvSpPr/>
              <p:nvPr/>
            </p:nvSpPr>
            <p:spPr>
              <a:xfrm>
                <a:off x="3509962" y="24312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52" name="Freeform 52"/>
              <p:cNvSpPr/>
              <p:nvPr/>
            </p:nvSpPr>
            <p:spPr>
              <a:xfrm>
                <a:off x="3459956" y="25312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53" name="Freeform 53"/>
              <p:cNvSpPr/>
              <p:nvPr/>
            </p:nvSpPr>
            <p:spPr>
              <a:xfrm>
                <a:off x="3559969" y="25312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54" name="Freeform 54"/>
              <p:cNvSpPr/>
              <p:nvPr/>
            </p:nvSpPr>
            <p:spPr>
              <a:xfrm>
                <a:off x="3484959" y="2502694"/>
                <a:ext cx="78581" cy="32147"/>
              </a:xfrm>
              <a:custGeom>
                <a:avLst/>
                <a:gdLst/>
                <a:ahLst/>
                <a:cxnLst/>
                <a:rect l="l" t="t" r="r" b="b"/>
                <a:pathLst>
                  <a:path w="78581" h="32147">
                    <a:moveTo>
                      <a:pt x="0" y="32147"/>
                    </a:moveTo>
                    <a:lnTo>
                      <a:pt x="39291" y="0"/>
                    </a:lnTo>
                    <a:lnTo>
                      <a:pt x="78581" y="32147"/>
                    </a:lnTo>
                  </a:path>
                </a:pathLst>
              </a:custGeom>
              <a:noFill/>
              <a:ln w="14288">
                <a:solidFill>
                  <a:srgbClr val="E04C2E"/>
                </a:solidFill>
              </a:ln>
            </p:spPr>
          </p:sp>
          <p:sp>
            <p:nvSpPr>
              <p:cNvPr id="55" name="Freeform 55"/>
              <p:cNvSpPr/>
              <p:nvPr/>
            </p:nvSpPr>
            <p:spPr>
              <a:xfrm>
                <a:off x="3524250" y="2459831"/>
                <a:ext cx="9525" cy="42862"/>
              </a:xfrm>
              <a:custGeom>
                <a:avLst/>
                <a:gdLst/>
                <a:ahLst/>
                <a:cxnLst/>
                <a:rect l="l" t="t" r="r" b="b"/>
                <a:pathLst>
                  <a:path w="9525" h="42862">
                    <a:moveTo>
                      <a:pt x="0" y="0"/>
                    </a:moveTo>
                    <a:lnTo>
                      <a:pt x="0" y="42862"/>
                    </a:lnTo>
                  </a:path>
                </a:pathLst>
              </a:custGeom>
              <a:noFill/>
              <a:ln w="14288">
                <a:solidFill>
                  <a:srgbClr val="E04C2E"/>
                </a:solidFill>
              </a:ln>
            </p:spPr>
          </p:sp>
        </p:grpSp>
        <p:sp>
          <p:nvSpPr>
            <p:cNvPr id="57" name="TextBox 57"/>
            <p:cNvSpPr txBox="1"/>
            <p:nvPr/>
          </p:nvSpPr>
          <p:spPr>
            <a:xfrm>
              <a:off x="3748088" y="22812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核心企业</a:t>
              </a:r>
            </a:p>
          </p:txBody>
        </p:sp>
        <p:sp>
          <p:nvSpPr>
            <p:cNvPr id="58" name="TextBox 58"/>
            <p:cNvSpPr txBox="1"/>
            <p:nvPr/>
          </p:nvSpPr>
          <p:spPr>
            <a:xfrm>
              <a:off x="3748088" y="2432399"/>
              <a:ext cx="454025" cy="325755"/>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供应链协同</a:t>
              </a:r>
            </a:p>
            <a:p>
              <a:pPr algn="l" marL="76200" indent="-76200">
                <a:lnSpc>
                  <a:spcPts val="825"/>
                </a:lnSpc>
                <a:buClr>
                  <a:srgbClr val="70504A"/>
                </a:buClr>
                <a:buSzTx/>
                <a:buFontTx/>
                <a:buChar char="•"/>
              </a:pPr>
              <a:r>
                <a:rPr lang="zh-CN" sz="580" dirty="0">
                  <a:solidFill>
                    <a:srgbClr val="70504A"/>
                  </a:solidFill>
                  <a:latin typeface="+mn-lt"/>
                  <a:ea typeface="+mn-ea"/>
                  <a:cs typeface="+mn-cs"/>
                </a:rPr>
                <a:t>场景嵌入</a:t>
              </a:r>
            </a:p>
            <a:p>
              <a:pPr algn="l" marL="76200" indent="-76200">
                <a:lnSpc>
                  <a:spcPts val="825"/>
                </a:lnSpc>
                <a:buClr>
                  <a:srgbClr val="70504A"/>
                </a:buClr>
                <a:buSzTx/>
                <a:buFontTx/>
                <a:buChar char="•"/>
              </a:pPr>
              <a:r>
                <a:rPr lang="zh-CN" sz="580" dirty="0">
                  <a:solidFill>
                    <a:srgbClr val="70504A"/>
                  </a:solidFill>
                  <a:latin typeface="+mn-lt"/>
                  <a:ea typeface="+mn-ea"/>
                  <a:cs typeface="+mn-cs"/>
                </a:rPr>
                <a:t>批量拓客</a:t>
              </a:r>
            </a:p>
          </p:txBody>
        </p:sp>
        <p:sp>
          <p:nvSpPr>
            <p:cNvPr id="59" name="Ellipse 59"/>
            <p:cNvSpPr/>
            <p:nvPr/>
          </p:nvSpPr>
          <p:spPr>
            <a:xfrm>
              <a:off x="2686050" y="3486150"/>
              <a:ext cx="342900" cy="342900"/>
            </a:xfrm>
            <a:prstGeom prst="ellipse">
              <a:avLst/>
            </a:prstGeom>
            <a:solidFill>
              <a:srgbClr val="EAF1FB"/>
            </a:solidFill>
            <a:ln w="9525">
              <a:solidFill>
                <a:srgbClr val="EBC1B8"/>
              </a:solidFill>
            </a:ln>
          </p:spPr>
        </p:sp>
        <p:grpSp>
          <p:nvGrpSpPr>
            <p:cNvPr id="63" name="Group 63"/>
            <p:cNvGrpSpPr/>
            <p:nvPr/>
          </p:nvGrpSpPr>
          <p:grpSpPr>
            <a:xfrm>
              <a:off x="2814638" y="3593306"/>
              <a:ext cx="85725" cy="128588"/>
              <a:chOff x="2814638" y="3593306"/>
              <a:chExt cx="85725" cy="128588"/>
            </a:xfrm>
          </p:grpSpPr>
          <p:sp>
            <p:nvSpPr>
              <p:cNvPr id="60" name="Freeform 60"/>
              <p:cNvSpPr/>
              <p:nvPr/>
            </p:nvSpPr>
            <p:spPr>
              <a:xfrm>
                <a:off x="2814638" y="3593306"/>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E04C2E"/>
                </a:solidFill>
              </a:ln>
            </p:spPr>
          </p:sp>
          <p:sp>
            <p:nvSpPr>
              <p:cNvPr id="61" name="Freeform 61"/>
              <p:cNvSpPr/>
              <p:nvPr/>
            </p:nvSpPr>
            <p:spPr>
              <a:xfrm>
                <a:off x="2850356" y="3600450"/>
                <a:ext cx="14288" cy="9525"/>
              </a:xfrm>
              <a:custGeom>
                <a:avLst/>
                <a:gdLst/>
                <a:ahLst/>
                <a:cxnLst/>
                <a:rect l="l" t="t" r="r" b="b"/>
                <a:pathLst>
                  <a:path w="14288" h="9525">
                    <a:moveTo>
                      <a:pt x="0" y="0"/>
                    </a:moveTo>
                    <a:lnTo>
                      <a:pt x="14288" y="0"/>
                    </a:lnTo>
                  </a:path>
                </a:pathLst>
              </a:custGeom>
              <a:noFill/>
              <a:ln w="14288">
                <a:solidFill>
                  <a:srgbClr val="E04C2E"/>
                </a:solidFill>
              </a:ln>
            </p:spPr>
          </p:sp>
          <p:sp>
            <p:nvSpPr>
              <p:cNvPr id="62" name="Freeform 62"/>
              <p:cNvSpPr/>
              <p:nvPr/>
            </p:nvSpPr>
            <p:spPr>
              <a:xfrm>
                <a:off x="2857500" y="3693319"/>
                <a:ext cx="9525" cy="9525"/>
              </a:xfrm>
              <a:custGeom>
                <a:avLst/>
                <a:gdLst/>
                <a:ahLst/>
                <a:cxnLst/>
                <a:rect l="l" t="t" r="r" b="b"/>
                <a:pathLst>
                  <a:path w="9525" h="9525">
                    <a:moveTo>
                      <a:pt x="0" y="0"/>
                    </a:moveTo>
                    <a:lnTo>
                      <a:pt x="0" y="71"/>
                    </a:lnTo>
                  </a:path>
                </a:pathLst>
              </a:custGeom>
              <a:noFill/>
              <a:ln w="14288">
                <a:solidFill>
                  <a:srgbClr val="E04C2E"/>
                </a:solidFill>
              </a:ln>
            </p:spPr>
          </p:sp>
        </p:grpSp>
        <p:sp>
          <p:nvSpPr>
            <p:cNvPr id="64" name="TextBox 64"/>
            <p:cNvSpPr txBox="1"/>
            <p:nvPr/>
          </p:nvSpPr>
          <p:spPr>
            <a:xfrm>
              <a:off x="3081338" y="35385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数字平台</a:t>
              </a:r>
            </a:p>
          </p:txBody>
        </p:sp>
        <p:sp>
          <p:nvSpPr>
            <p:cNvPr id="65" name="TextBox 65"/>
            <p:cNvSpPr txBox="1"/>
            <p:nvPr/>
          </p:nvSpPr>
          <p:spPr>
            <a:xfrm>
              <a:off x="3081338" y="3689699"/>
              <a:ext cx="582930" cy="325755"/>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政务平台</a:t>
              </a:r>
            </a:p>
            <a:p>
              <a:pPr algn="l" marL="76200" indent="-76200">
                <a:lnSpc>
                  <a:spcPts val="825"/>
                </a:lnSpc>
                <a:buClr>
                  <a:srgbClr val="70504A"/>
                </a:buClr>
                <a:buSzTx/>
                <a:buFontTx/>
                <a:buChar char="•"/>
              </a:pPr>
              <a:r>
                <a:rPr lang="zh-CN" sz="580" dirty="0">
                  <a:solidFill>
                    <a:srgbClr val="70504A"/>
                  </a:solidFill>
                  <a:latin typeface="+mn-lt"/>
                  <a:ea typeface="+mn-ea"/>
                  <a:cs typeface="+mn-cs"/>
                </a:rPr>
                <a:t>第三方平台</a:t>
              </a:r>
            </a:p>
            <a:p>
              <a:pPr algn="l" marL="76200" indent="-76200">
                <a:lnSpc>
                  <a:spcPts val="825"/>
                </a:lnSpc>
                <a:buClr>
                  <a:srgbClr val="70504A"/>
                </a:buClr>
                <a:buSzTx/>
                <a:buFontTx/>
                <a:buChar char="•"/>
              </a:pPr>
              <a:r>
                <a:rPr lang="zh-CN" sz="580" dirty="0">
                  <a:solidFill>
                    <a:srgbClr val="70504A"/>
                  </a:solidFill>
                  <a:latin typeface="+mn-lt"/>
                  <a:ea typeface="+mn-ea"/>
                  <a:cs typeface="+mn-cs"/>
                </a:rPr>
                <a:t>行业SaaS平台​</a:t>
              </a:r>
            </a:p>
          </p:txBody>
        </p:sp>
        <p:sp>
          <p:nvSpPr>
            <p:cNvPr id="66" name="Ellipse 66"/>
            <p:cNvSpPr/>
            <p:nvPr/>
          </p:nvSpPr>
          <p:spPr>
            <a:xfrm>
              <a:off x="1162050" y="3486150"/>
              <a:ext cx="342900" cy="342900"/>
            </a:xfrm>
            <a:prstGeom prst="ellipse">
              <a:avLst/>
            </a:prstGeom>
            <a:solidFill>
              <a:srgbClr val="EAF1FB"/>
            </a:solidFill>
            <a:ln w="9525">
              <a:solidFill>
                <a:srgbClr val="EBC1B8"/>
              </a:solidFill>
            </a:ln>
          </p:spPr>
        </p:sp>
        <p:grpSp>
          <p:nvGrpSpPr>
            <p:cNvPr id="71" name="Group 71"/>
            <p:cNvGrpSpPr/>
            <p:nvPr/>
          </p:nvGrpSpPr>
          <p:grpSpPr>
            <a:xfrm>
              <a:off x="1269206" y="3593306"/>
              <a:ext cx="128588" cy="121444"/>
              <a:chOff x="1269206" y="3593306"/>
              <a:chExt cx="128588" cy="121444"/>
            </a:xfrm>
          </p:grpSpPr>
          <p:sp>
            <p:nvSpPr>
              <p:cNvPr id="67" name="Freeform 67"/>
              <p:cNvSpPr/>
              <p:nvPr/>
            </p:nvSpPr>
            <p:spPr>
              <a:xfrm>
                <a:off x="1269206" y="3621881"/>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E04C2E"/>
                </a:solidFill>
              </a:ln>
            </p:spPr>
          </p:sp>
          <p:sp>
            <p:nvSpPr>
              <p:cNvPr id="68" name="Freeform 68"/>
              <p:cNvSpPr/>
              <p:nvPr/>
            </p:nvSpPr>
            <p:spPr>
              <a:xfrm>
                <a:off x="1304925" y="3593306"/>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E04C2E"/>
                </a:solidFill>
              </a:ln>
            </p:spPr>
          </p:sp>
          <p:sp>
            <p:nvSpPr>
              <p:cNvPr id="69" name="Freeform 69"/>
              <p:cNvSpPr/>
              <p:nvPr/>
            </p:nvSpPr>
            <p:spPr>
              <a:xfrm>
                <a:off x="1333500" y="3657600"/>
                <a:ext cx="9525" cy="9525"/>
              </a:xfrm>
              <a:custGeom>
                <a:avLst/>
                <a:gdLst/>
                <a:ahLst/>
                <a:cxnLst/>
                <a:rect l="l" t="t" r="r" b="b"/>
                <a:pathLst>
                  <a:path w="9525" h="9525">
                    <a:moveTo>
                      <a:pt x="0" y="0"/>
                    </a:moveTo>
                    <a:lnTo>
                      <a:pt x="0" y="71"/>
                    </a:lnTo>
                  </a:path>
                </a:pathLst>
              </a:custGeom>
              <a:noFill/>
              <a:ln w="14288">
                <a:solidFill>
                  <a:srgbClr val="E04C2E"/>
                </a:solidFill>
              </a:ln>
            </p:spPr>
          </p:sp>
          <p:sp>
            <p:nvSpPr>
              <p:cNvPr id="70" name="Freeform 70"/>
              <p:cNvSpPr/>
              <p:nvPr/>
            </p:nvSpPr>
            <p:spPr>
              <a:xfrm>
                <a:off x="1269206" y="3664744"/>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E04C2E"/>
                </a:solidFill>
              </a:ln>
            </p:spPr>
          </p:sp>
        </p:grpSp>
        <p:sp>
          <p:nvSpPr>
            <p:cNvPr id="72" name="TextBox 72"/>
            <p:cNvSpPr txBox="1"/>
            <p:nvPr/>
          </p:nvSpPr>
          <p:spPr>
            <a:xfrm>
              <a:off x="1557338" y="35385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专业机构</a:t>
              </a:r>
            </a:p>
          </p:txBody>
        </p:sp>
        <p:sp>
          <p:nvSpPr>
            <p:cNvPr id="73" name="TextBox 73"/>
            <p:cNvSpPr txBox="1"/>
            <p:nvPr/>
          </p:nvSpPr>
          <p:spPr>
            <a:xfrm>
              <a:off x="1557338" y="3689699"/>
              <a:ext cx="527685" cy="325755"/>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会计师事务所</a:t>
              </a:r>
            </a:p>
            <a:p>
              <a:pPr algn="l" marL="76200" indent="-76200">
                <a:lnSpc>
                  <a:spcPts val="825"/>
                </a:lnSpc>
                <a:buClr>
                  <a:srgbClr val="70504A"/>
                </a:buClr>
                <a:buSzTx/>
                <a:buFontTx/>
                <a:buChar char="•"/>
              </a:pPr>
              <a:r>
                <a:rPr lang="zh-CN" sz="580" dirty="0">
                  <a:solidFill>
                    <a:srgbClr val="70504A"/>
                  </a:solidFill>
                  <a:latin typeface="+mn-lt"/>
                  <a:ea typeface="+mn-ea"/>
                  <a:cs typeface="+mn-cs"/>
                </a:rPr>
                <a:t>律师事务所</a:t>
              </a:r>
            </a:p>
            <a:p>
              <a:pPr algn="l" marL="76200" indent="-76200">
                <a:lnSpc>
                  <a:spcPts val="825"/>
                </a:lnSpc>
                <a:buClr>
                  <a:srgbClr val="70504A"/>
                </a:buClr>
                <a:buSzTx/>
                <a:buFontTx/>
                <a:buChar char="•"/>
              </a:pPr>
              <a:r>
                <a:rPr lang="zh-CN" sz="580" dirty="0">
                  <a:solidFill>
                    <a:srgbClr val="70504A"/>
                  </a:solidFill>
                  <a:latin typeface="+mn-lt"/>
                  <a:ea typeface="+mn-ea"/>
                  <a:cs typeface="+mn-cs"/>
                </a:rPr>
                <a:t>咨询顾问公司</a:t>
              </a:r>
            </a:p>
          </p:txBody>
        </p:sp>
        <p:sp>
          <p:nvSpPr>
            <p:cNvPr id="74" name="Ellipse 74"/>
            <p:cNvSpPr/>
            <p:nvPr/>
          </p:nvSpPr>
          <p:spPr>
            <a:xfrm>
              <a:off x="400050" y="2324100"/>
              <a:ext cx="342900" cy="342900"/>
            </a:xfrm>
            <a:prstGeom prst="ellipse">
              <a:avLst/>
            </a:prstGeom>
            <a:solidFill>
              <a:srgbClr val="EAF1FB"/>
            </a:solidFill>
            <a:ln w="9525">
              <a:solidFill>
                <a:srgbClr val="EBC1B8"/>
              </a:solidFill>
            </a:ln>
          </p:spPr>
        </p:sp>
        <p:grpSp>
          <p:nvGrpSpPr>
            <p:cNvPr id="81" name="Group 81"/>
            <p:cNvGrpSpPr/>
            <p:nvPr/>
          </p:nvGrpSpPr>
          <p:grpSpPr>
            <a:xfrm>
              <a:off x="507206" y="2431256"/>
              <a:ext cx="128588" cy="128587"/>
              <a:chOff x="507206" y="2431256"/>
              <a:chExt cx="128588" cy="128587"/>
            </a:xfrm>
          </p:grpSpPr>
          <p:sp>
            <p:nvSpPr>
              <p:cNvPr id="75" name="Freeform 75"/>
              <p:cNvSpPr/>
              <p:nvPr/>
            </p:nvSpPr>
            <p:spPr>
              <a:xfrm>
                <a:off x="557212" y="24884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76" name="Freeform 76"/>
              <p:cNvSpPr/>
              <p:nvPr/>
            </p:nvSpPr>
            <p:spPr>
              <a:xfrm>
                <a:off x="542925" y="253841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E04C2E"/>
                </a:solidFill>
              </a:ln>
            </p:spPr>
          </p:sp>
          <p:sp>
            <p:nvSpPr>
              <p:cNvPr id="77" name="Freeform 77"/>
              <p:cNvSpPr/>
              <p:nvPr/>
            </p:nvSpPr>
            <p:spPr>
              <a:xfrm>
                <a:off x="592931" y="24312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78" name="Freeform 78"/>
              <p:cNvSpPr/>
              <p:nvPr/>
            </p:nvSpPr>
            <p:spPr>
              <a:xfrm>
                <a:off x="607219" y="248126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E04C2E"/>
                </a:solidFill>
              </a:ln>
            </p:spPr>
          </p:sp>
          <p:sp>
            <p:nvSpPr>
              <p:cNvPr id="79" name="Freeform 79"/>
              <p:cNvSpPr/>
              <p:nvPr/>
            </p:nvSpPr>
            <p:spPr>
              <a:xfrm>
                <a:off x="521494" y="24312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E04C2E"/>
                </a:solidFill>
              </a:ln>
            </p:spPr>
          </p:sp>
          <p:sp>
            <p:nvSpPr>
              <p:cNvPr id="80" name="Freeform 80"/>
              <p:cNvSpPr/>
              <p:nvPr/>
            </p:nvSpPr>
            <p:spPr>
              <a:xfrm>
                <a:off x="507206" y="248126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E04C2E"/>
                </a:solidFill>
              </a:ln>
            </p:spPr>
          </p:sp>
        </p:grpSp>
        <p:sp>
          <p:nvSpPr>
            <p:cNvPr id="82" name="TextBox 82"/>
            <p:cNvSpPr txBox="1"/>
            <p:nvPr/>
          </p:nvSpPr>
          <p:spPr>
            <a:xfrm>
              <a:off x="795338" y="22812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商会协会</a:t>
              </a:r>
            </a:p>
          </p:txBody>
        </p:sp>
        <p:sp>
          <p:nvSpPr>
            <p:cNvPr id="83" name="TextBox 83"/>
            <p:cNvSpPr txBox="1"/>
            <p:nvPr/>
          </p:nvSpPr>
          <p:spPr>
            <a:xfrm>
              <a:off x="795338" y="2432399"/>
              <a:ext cx="380365" cy="325755"/>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会员服务</a:t>
              </a:r>
            </a:p>
            <a:p>
              <a:pPr algn="l" marL="76200" indent="-76200">
                <a:lnSpc>
                  <a:spcPts val="825"/>
                </a:lnSpc>
                <a:buClr>
                  <a:srgbClr val="70504A"/>
                </a:buClr>
                <a:buSzTx/>
                <a:buFontTx/>
                <a:buChar char="•"/>
              </a:pPr>
              <a:r>
                <a:rPr lang="zh-CN" sz="580" dirty="0">
                  <a:solidFill>
                    <a:srgbClr val="70504A"/>
                  </a:solidFill>
                  <a:latin typeface="+mn-lt"/>
                  <a:ea typeface="+mn-ea"/>
                  <a:cs typeface="+mn-cs"/>
                </a:rPr>
                <a:t>活动组织</a:t>
              </a:r>
            </a:p>
            <a:p>
              <a:pPr algn="l" marL="76200" indent="-76200">
                <a:lnSpc>
                  <a:spcPts val="825"/>
                </a:lnSpc>
                <a:buClr>
                  <a:srgbClr val="70504A"/>
                </a:buClr>
                <a:buSzTx/>
                <a:buFontTx/>
                <a:buChar char="•"/>
              </a:pPr>
              <a:r>
                <a:rPr lang="zh-CN" sz="580" dirty="0">
                  <a:solidFill>
                    <a:srgbClr val="70504A"/>
                  </a:solidFill>
                  <a:latin typeface="+mn-lt"/>
                  <a:ea typeface="+mn-ea"/>
                  <a:cs typeface="+mn-cs"/>
                </a:rPr>
                <a:t>信息共享</a:t>
              </a:r>
            </a:p>
          </p:txBody>
        </p:sp>
      </p:grpSp>
      <p:grpSp>
        <p:nvGrpSpPr>
          <p:cNvPr id="123" name="channel-acq"/>
          <p:cNvGrpSpPr/>
          <p:nvPr/>
        </p:nvGrpSpPr>
        <p:grpSpPr>
          <a:xfrm>
            <a:off x="4438650" y="685800"/>
            <a:ext cx="7524750" cy="990600"/>
            <a:chOff x="4438650" y="685800"/>
            <a:chExt cx="7524750" cy="990600"/>
          </a:xfrm>
        </p:grpSpPr>
        <p:sp>
          <p:nvSpPr>
            <p:cNvPr id="85" name="Rectangle 85"/>
            <p:cNvSpPr/>
            <p:nvPr/>
          </p:nvSpPr>
          <p:spPr>
            <a:xfrm>
              <a:off x="4438650" y="685800"/>
              <a:ext cx="7524750" cy="990600"/>
            </a:xfrm>
            <a:prstGeom prst="roundRect">
              <a:avLst>
                <a:gd name="adj" fmla="val 5769"/>
              </a:avLst>
            </a:prstGeom>
            <a:solidFill>
              <a:srgbClr val="FFFFFF"/>
            </a:solidFill>
            <a:ln w="9525">
              <a:solidFill>
                <a:srgbClr val="C9D6E9"/>
              </a:solidFill>
            </a:ln>
          </p:spPr>
        </p:sp>
        <p:sp>
          <p:nvSpPr>
            <p:cNvPr id="86" name="Rectangle 86"/>
            <p:cNvSpPr/>
            <p:nvPr/>
          </p:nvSpPr>
          <p:spPr>
            <a:xfrm>
              <a:off x="4438650" y="685800"/>
              <a:ext cx="1238250" cy="209550"/>
            </a:xfrm>
            <a:prstGeom prst="rect">
              <a:avLst/>
            </a:prstGeom>
            <a:solidFill>
              <a:srgbClr val="69281B"/>
            </a:solidFill>
            <a:ln>
              <a:noFill/>
            </a:ln>
          </p:spPr>
        </p:sp>
        <p:sp>
          <p:nvSpPr>
            <p:cNvPr id="87" name="TextBox 87"/>
            <p:cNvSpPr txBox="1"/>
            <p:nvPr/>
          </p:nvSpPr>
          <p:spPr>
            <a:xfrm>
              <a:off x="4721847" y="739616"/>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渠道获客数据</a:t>
              </a:r>
            </a:p>
          </p:txBody>
        </p:sp>
        <p:sp>
          <p:nvSpPr>
            <p:cNvPr id="88" name="Rectangle 88"/>
            <p:cNvSpPr/>
            <p:nvPr/>
          </p:nvSpPr>
          <p:spPr>
            <a:xfrm>
              <a:off x="4552950" y="971550"/>
              <a:ext cx="1752600" cy="609600"/>
            </a:xfrm>
            <a:prstGeom prst="roundRect">
              <a:avLst>
                <a:gd name="adj" fmla="val 6250"/>
              </a:avLst>
            </a:prstGeom>
            <a:solidFill>
              <a:srgbClr val="F5F8FD"/>
            </a:solidFill>
            <a:ln w="9525">
              <a:solidFill>
                <a:srgbClr val="E3EAF5"/>
              </a:solidFill>
            </a:ln>
          </p:spPr>
        </p:sp>
        <p:grpSp>
          <p:nvGrpSpPr>
            <p:cNvPr id="95" name="Group 95"/>
            <p:cNvGrpSpPr/>
            <p:nvPr/>
          </p:nvGrpSpPr>
          <p:grpSpPr>
            <a:xfrm>
              <a:off x="4700588" y="1157288"/>
              <a:ext cx="200025" cy="200026"/>
              <a:chOff x="4700588" y="1157288"/>
              <a:chExt cx="200025" cy="200026"/>
            </a:xfrm>
          </p:grpSpPr>
          <p:sp>
            <p:nvSpPr>
              <p:cNvPr id="89" name="Freeform 89"/>
              <p:cNvSpPr/>
              <p:nvPr/>
            </p:nvSpPr>
            <p:spPr>
              <a:xfrm>
                <a:off x="4778375" y="12461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69281B"/>
                </a:solidFill>
              </a:ln>
            </p:spPr>
          </p:sp>
          <p:sp>
            <p:nvSpPr>
              <p:cNvPr id="90" name="Freeform 90"/>
              <p:cNvSpPr/>
              <p:nvPr/>
            </p:nvSpPr>
            <p:spPr>
              <a:xfrm>
                <a:off x="4756150" y="132397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69281B"/>
                </a:solidFill>
              </a:ln>
            </p:spPr>
          </p:sp>
          <p:sp>
            <p:nvSpPr>
              <p:cNvPr id="91" name="Freeform 91"/>
              <p:cNvSpPr/>
              <p:nvPr/>
            </p:nvSpPr>
            <p:spPr>
              <a:xfrm>
                <a:off x="4833938" y="11572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69281B"/>
                </a:solidFill>
              </a:ln>
            </p:spPr>
          </p:sp>
          <p:sp>
            <p:nvSpPr>
              <p:cNvPr id="92" name="Freeform 92"/>
              <p:cNvSpPr/>
              <p:nvPr/>
            </p:nvSpPr>
            <p:spPr>
              <a:xfrm>
                <a:off x="4856163" y="123507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69281B"/>
                </a:solidFill>
              </a:ln>
            </p:spPr>
          </p:sp>
          <p:sp>
            <p:nvSpPr>
              <p:cNvPr id="93" name="Freeform 93"/>
              <p:cNvSpPr/>
              <p:nvPr/>
            </p:nvSpPr>
            <p:spPr>
              <a:xfrm>
                <a:off x="4722813" y="11572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69281B"/>
                </a:solidFill>
              </a:ln>
            </p:spPr>
          </p:sp>
          <p:sp>
            <p:nvSpPr>
              <p:cNvPr id="94" name="Freeform 94"/>
              <p:cNvSpPr/>
              <p:nvPr/>
            </p:nvSpPr>
            <p:spPr>
              <a:xfrm>
                <a:off x="4700588" y="123507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69281B"/>
                </a:solidFill>
              </a:ln>
            </p:spPr>
          </p:sp>
        </p:grpSp>
        <p:sp>
          <p:nvSpPr>
            <p:cNvPr id="96" name="TextBox 96"/>
            <p:cNvSpPr txBox="1"/>
            <p:nvPr/>
          </p:nvSpPr>
          <p:spPr>
            <a:xfrm>
              <a:off x="5024438" y="1062038"/>
              <a:ext cx="514350" cy="147638"/>
            </a:xfrm>
            <a:prstGeom prst="rect">
              <a:avLst/>
            </a:prstGeom>
            <a:noFill/>
            <a:ln>
              <a:noFill/>
            </a:ln>
          </p:spPr>
          <p:txBody>
            <a:bodyPr wrap="none" lIns="0" tIns="0" rIns="0" bIns="0" anchor="t" anchorCtr="0">
              <a:spAutoFit/>
            </a:bodyPr>
            <a:lstStyle/>
            <a:p>
              <a:pPr algn="l"/>
              <a:r>
                <a:rPr lang="zh-CN" sz="750" dirty="0">
                  <a:solidFill>
                    <a:srgbClr val="70504A"/>
                  </a:solidFill>
                  <a:latin typeface="+mn-lt"/>
                  <a:ea typeface="+mn-ea"/>
                  <a:cs typeface="+mn-cs"/>
                </a:rPr>
                <a:t>合作商协会</a:t>
              </a:r>
            </a:p>
          </p:txBody>
        </p:sp>
        <p:sp>
          <p:nvSpPr>
            <p:cNvPr id="97" name="TextBox 97"/>
            <p:cNvSpPr txBox="1"/>
            <p:nvPr/>
          </p:nvSpPr>
          <p:spPr>
            <a:xfrm>
              <a:off x="5021580" y="1228725"/>
              <a:ext cx="496338"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18</a:t>
              </a:r>
              <a:r>
                <a:rPr lang="zh-CN" sz="750" dirty="0">
                  <a:solidFill>
                    <a:srgbClr val="69281B"/>
                  </a:solidFill>
                  <a:latin typeface="+mn-lt"/>
                  <a:ea typeface="+mn-ea"/>
                  <a:cs typeface="+mn-cs"/>
                </a:rPr>
                <a:t xml:space="preserve"> 家</a:t>
              </a:r>
              <a:r>
                <a:rPr lang="zh-CN" sz="1500" b="1" dirty="0">
                  <a:solidFill>
                    <a:srgbClr val="69281B"/>
                  </a:solidFill>
                  <a:latin typeface="+mn-lt"/>
                  <a:ea typeface="+mn-ea"/>
                  <a:cs typeface="+mn-cs"/>
                </a:rPr>
                <a:t>​</a:t>
              </a:r>
            </a:p>
          </p:txBody>
        </p:sp>
        <p:sp>
          <p:nvSpPr>
            <p:cNvPr id="98" name="TextBox 98"/>
            <p:cNvSpPr txBox="1"/>
            <p:nvPr/>
          </p:nvSpPr>
          <p:spPr>
            <a:xfrm>
              <a:off x="5585519" y="1436132"/>
              <a:ext cx="648593" cy="126206"/>
            </a:xfrm>
            <a:prstGeom prst="rect">
              <a:avLst/>
            </a:prstGeom>
            <a:noFill/>
            <a:ln>
              <a:noFill/>
            </a:ln>
          </p:spPr>
          <p:txBody>
            <a:bodyPr wrap="none" lIns="0" tIns="0" rIns="0" bIns="0" anchor="t" anchorCtr="0">
              <a:spAutoFit/>
            </a:bodyPr>
            <a:lstStyle/>
            <a:p>
              <a:pPr algn="r"/>
              <a:r>
                <a:rPr lang="zh-CN" sz="640" dirty="0">
                  <a:solidFill>
                    <a:srgbClr val="987F7A"/>
                  </a:solidFill>
                  <a:latin typeface="+mn-lt"/>
                  <a:ea typeface="+mn-ea"/>
                  <a:cs typeface="+mn-cs"/>
                </a:rPr>
                <a:t xml:space="preserve">同比 </a:t>
              </a:r>
              <a:r>
                <a:rPr lang="zh-CN" sz="640" b="1" dirty="0">
                  <a:solidFill>
                    <a:srgbClr val="D0442C"/>
                  </a:solidFill>
                  <a:latin typeface="+mn-lt"/>
                  <a:ea typeface="+mn-ea"/>
                  <a:cs typeface="+mn-cs"/>
                </a:rPr>
                <a:t>+12.5% ↑</a:t>
              </a:r>
              <a:r>
                <a:rPr lang="zh-CN" sz="640" dirty="0">
                  <a:solidFill>
                    <a:srgbClr val="987F7A"/>
                  </a:solidFill>
                  <a:latin typeface="+mn-lt"/>
                  <a:ea typeface="+mn-ea"/>
                  <a:cs typeface="+mn-cs"/>
                </a:rPr>
                <a:t>​</a:t>
              </a:r>
            </a:p>
          </p:txBody>
        </p:sp>
        <p:sp>
          <p:nvSpPr>
            <p:cNvPr id="99" name="Rectangle 99"/>
            <p:cNvSpPr/>
            <p:nvPr/>
          </p:nvSpPr>
          <p:spPr>
            <a:xfrm>
              <a:off x="6419850" y="971550"/>
              <a:ext cx="1752600" cy="609600"/>
            </a:xfrm>
            <a:prstGeom prst="roundRect">
              <a:avLst>
                <a:gd name="adj" fmla="val 6250"/>
              </a:avLst>
            </a:prstGeom>
            <a:solidFill>
              <a:srgbClr val="F5F8FD"/>
            </a:solidFill>
            <a:ln w="9525">
              <a:solidFill>
                <a:srgbClr val="E3EAF5"/>
              </a:solidFill>
            </a:ln>
          </p:spPr>
        </p:sp>
        <p:grpSp>
          <p:nvGrpSpPr>
            <p:cNvPr id="106" name="Group 106"/>
            <p:cNvGrpSpPr/>
            <p:nvPr/>
          </p:nvGrpSpPr>
          <p:grpSpPr>
            <a:xfrm>
              <a:off x="6578600" y="1157288"/>
              <a:ext cx="177801" cy="200026"/>
              <a:chOff x="6578600" y="1157288"/>
              <a:chExt cx="177801" cy="200026"/>
            </a:xfrm>
          </p:grpSpPr>
          <p:sp>
            <p:nvSpPr>
              <p:cNvPr id="100" name="Freeform 100"/>
              <p:cNvSpPr/>
              <p:nvPr/>
            </p:nvSpPr>
            <p:spPr>
              <a:xfrm>
                <a:off x="6578600" y="1179513"/>
                <a:ext cx="177801" cy="177801"/>
              </a:xfrm>
              <a:custGeom>
                <a:avLst/>
                <a:gdLst/>
                <a:ahLst/>
                <a:cxnLst/>
                <a:rect l="l" t="t" r="r" b="b"/>
                <a:pathLst>
                  <a:path w="177801" h="177801">
                    <a:moveTo>
                      <a:pt x="0" y="22225"/>
                    </a:moveTo>
                    <a:cubicBezTo>
                      <a:pt x="0" y="9950"/>
                      <a:pt x="9950" y="0"/>
                      <a:pt x="22225" y="0"/>
                    </a:cubicBezTo>
                    <a:lnTo>
                      <a:pt x="155575" y="0"/>
                    </a:lnTo>
                    <a:cubicBezTo>
                      <a:pt x="167850" y="0"/>
                      <a:pt x="177801" y="9950"/>
                      <a:pt x="177801" y="22225"/>
                    </a:cubicBezTo>
                    <a:lnTo>
                      <a:pt x="177801" y="155575"/>
                    </a:lnTo>
                    <a:cubicBezTo>
                      <a:pt x="177801" y="167850"/>
                      <a:pt x="167850" y="177801"/>
                      <a:pt x="155575" y="177801"/>
                    </a:cubicBezTo>
                    <a:lnTo>
                      <a:pt x="22225" y="177801"/>
                    </a:lnTo>
                    <a:cubicBezTo>
                      <a:pt x="9950" y="177801"/>
                      <a:pt x="0" y="167850"/>
                      <a:pt x="0" y="155575"/>
                    </a:cubicBezTo>
                    <a:lnTo>
                      <a:pt x="0" y="22225"/>
                    </a:lnTo>
                  </a:path>
                </a:pathLst>
              </a:custGeom>
              <a:noFill/>
              <a:ln w="22225">
                <a:solidFill>
                  <a:srgbClr val="69281B"/>
                </a:solidFill>
              </a:ln>
            </p:spPr>
          </p:sp>
          <p:sp>
            <p:nvSpPr>
              <p:cNvPr id="101" name="Freeform 101"/>
              <p:cNvSpPr/>
              <p:nvPr/>
            </p:nvSpPr>
            <p:spPr>
              <a:xfrm>
                <a:off x="6711951" y="1157288"/>
                <a:ext cx="9525" cy="44450"/>
              </a:xfrm>
              <a:custGeom>
                <a:avLst/>
                <a:gdLst/>
                <a:ahLst/>
                <a:cxnLst/>
                <a:rect l="l" t="t" r="r" b="b"/>
                <a:pathLst>
                  <a:path w="9525" h="44450">
                    <a:moveTo>
                      <a:pt x="0" y="0"/>
                    </a:moveTo>
                    <a:lnTo>
                      <a:pt x="0" y="44450"/>
                    </a:lnTo>
                  </a:path>
                </a:pathLst>
              </a:custGeom>
              <a:noFill/>
              <a:ln w="22225">
                <a:solidFill>
                  <a:srgbClr val="69281B"/>
                </a:solidFill>
              </a:ln>
            </p:spPr>
          </p:sp>
          <p:sp>
            <p:nvSpPr>
              <p:cNvPr id="102" name="Freeform 102"/>
              <p:cNvSpPr/>
              <p:nvPr/>
            </p:nvSpPr>
            <p:spPr>
              <a:xfrm>
                <a:off x="6623050" y="1157288"/>
                <a:ext cx="9525" cy="44450"/>
              </a:xfrm>
              <a:custGeom>
                <a:avLst/>
                <a:gdLst/>
                <a:ahLst/>
                <a:cxnLst/>
                <a:rect l="l" t="t" r="r" b="b"/>
                <a:pathLst>
                  <a:path w="9525" h="44450">
                    <a:moveTo>
                      <a:pt x="0" y="0"/>
                    </a:moveTo>
                    <a:lnTo>
                      <a:pt x="0" y="44450"/>
                    </a:lnTo>
                  </a:path>
                </a:pathLst>
              </a:custGeom>
              <a:noFill/>
              <a:ln w="22225">
                <a:solidFill>
                  <a:srgbClr val="69281B"/>
                </a:solidFill>
              </a:ln>
            </p:spPr>
          </p:sp>
          <p:sp>
            <p:nvSpPr>
              <p:cNvPr id="103" name="Freeform 103"/>
              <p:cNvSpPr/>
              <p:nvPr/>
            </p:nvSpPr>
            <p:spPr>
              <a:xfrm>
                <a:off x="6578600" y="1246188"/>
                <a:ext cx="177801" cy="9525"/>
              </a:xfrm>
              <a:custGeom>
                <a:avLst/>
                <a:gdLst/>
                <a:ahLst/>
                <a:cxnLst/>
                <a:rect l="l" t="t" r="r" b="b"/>
                <a:pathLst>
                  <a:path w="177801" h="9525">
                    <a:moveTo>
                      <a:pt x="0" y="0"/>
                    </a:moveTo>
                    <a:lnTo>
                      <a:pt x="177801" y="0"/>
                    </a:lnTo>
                  </a:path>
                </a:pathLst>
              </a:custGeom>
              <a:noFill/>
              <a:ln w="22225">
                <a:solidFill>
                  <a:srgbClr val="69281B"/>
                </a:solidFill>
              </a:ln>
            </p:spPr>
          </p:sp>
          <p:sp>
            <p:nvSpPr>
              <p:cNvPr id="104" name="Freeform 104"/>
              <p:cNvSpPr/>
              <p:nvPr/>
            </p:nvSpPr>
            <p:spPr>
              <a:xfrm>
                <a:off x="6656388" y="1290638"/>
                <a:ext cx="11113" cy="9525"/>
              </a:xfrm>
              <a:custGeom>
                <a:avLst/>
                <a:gdLst/>
                <a:ahLst/>
                <a:cxnLst/>
                <a:rect l="l" t="t" r="r" b="b"/>
                <a:pathLst>
                  <a:path w="11113" h="9525">
                    <a:moveTo>
                      <a:pt x="0" y="0"/>
                    </a:moveTo>
                    <a:lnTo>
                      <a:pt x="11113" y="0"/>
                    </a:lnTo>
                  </a:path>
                </a:pathLst>
              </a:custGeom>
              <a:noFill/>
              <a:ln w="22225">
                <a:solidFill>
                  <a:srgbClr val="69281B"/>
                </a:solidFill>
              </a:ln>
            </p:spPr>
          </p:sp>
          <p:sp>
            <p:nvSpPr>
              <p:cNvPr id="105" name="Freeform 105"/>
              <p:cNvSpPr/>
              <p:nvPr/>
            </p:nvSpPr>
            <p:spPr>
              <a:xfrm>
                <a:off x="6667500" y="1290638"/>
                <a:ext cx="9525" cy="33338"/>
              </a:xfrm>
              <a:custGeom>
                <a:avLst/>
                <a:gdLst/>
                <a:ahLst/>
                <a:cxnLst/>
                <a:rect l="l" t="t" r="r" b="b"/>
                <a:pathLst>
                  <a:path w="9525" h="33338">
                    <a:moveTo>
                      <a:pt x="0" y="0"/>
                    </a:moveTo>
                    <a:lnTo>
                      <a:pt x="0" y="33338"/>
                    </a:lnTo>
                  </a:path>
                </a:pathLst>
              </a:custGeom>
              <a:noFill/>
              <a:ln w="22225">
                <a:solidFill>
                  <a:srgbClr val="69281B"/>
                </a:solidFill>
              </a:ln>
            </p:spPr>
          </p:sp>
        </p:grpSp>
        <p:sp>
          <p:nvSpPr>
            <p:cNvPr id="107" name="TextBox 107"/>
            <p:cNvSpPr txBox="1"/>
            <p:nvPr/>
          </p:nvSpPr>
          <p:spPr>
            <a:xfrm>
              <a:off x="6891338" y="1062038"/>
              <a:ext cx="514350" cy="147638"/>
            </a:xfrm>
            <a:prstGeom prst="rect">
              <a:avLst/>
            </a:prstGeom>
            <a:noFill/>
            <a:ln>
              <a:noFill/>
            </a:ln>
          </p:spPr>
          <p:txBody>
            <a:bodyPr wrap="none" lIns="0" tIns="0" rIns="0" bIns="0" anchor="t" anchorCtr="0">
              <a:spAutoFit/>
            </a:bodyPr>
            <a:lstStyle/>
            <a:p>
              <a:pPr algn="l"/>
              <a:r>
                <a:rPr lang="zh-CN" sz="750" dirty="0">
                  <a:solidFill>
                    <a:srgbClr val="70504A"/>
                  </a:solidFill>
                  <a:latin typeface="+mn-lt"/>
                  <a:ea typeface="+mn-ea"/>
                  <a:cs typeface="+mn-cs"/>
                </a:rPr>
                <a:t>政银企活动</a:t>
              </a:r>
            </a:p>
          </p:txBody>
        </p:sp>
        <p:sp>
          <p:nvSpPr>
            <p:cNvPr id="108" name="TextBox 108"/>
            <p:cNvSpPr txBox="1"/>
            <p:nvPr/>
          </p:nvSpPr>
          <p:spPr>
            <a:xfrm>
              <a:off x="6888480" y="1228725"/>
              <a:ext cx="496338"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36</a:t>
              </a:r>
              <a:r>
                <a:rPr lang="zh-CN" sz="750" dirty="0">
                  <a:solidFill>
                    <a:srgbClr val="69281B"/>
                  </a:solidFill>
                  <a:latin typeface="+mn-lt"/>
                  <a:ea typeface="+mn-ea"/>
                  <a:cs typeface="+mn-cs"/>
                </a:rPr>
                <a:t xml:space="preserve"> 场</a:t>
              </a:r>
              <a:r>
                <a:rPr lang="zh-CN" sz="1500" b="1" dirty="0">
                  <a:solidFill>
                    <a:srgbClr val="69281B"/>
                  </a:solidFill>
                  <a:latin typeface="+mn-lt"/>
                  <a:ea typeface="+mn-ea"/>
                  <a:cs typeface="+mn-cs"/>
                </a:rPr>
                <a:t>​</a:t>
              </a:r>
            </a:p>
          </p:txBody>
        </p:sp>
        <p:sp>
          <p:nvSpPr>
            <p:cNvPr id="109" name="TextBox 109"/>
            <p:cNvSpPr txBox="1"/>
            <p:nvPr/>
          </p:nvSpPr>
          <p:spPr>
            <a:xfrm>
              <a:off x="7452419" y="1436132"/>
              <a:ext cx="648593" cy="126206"/>
            </a:xfrm>
            <a:prstGeom prst="rect">
              <a:avLst/>
            </a:prstGeom>
            <a:noFill/>
            <a:ln>
              <a:noFill/>
            </a:ln>
          </p:spPr>
          <p:txBody>
            <a:bodyPr wrap="none" lIns="0" tIns="0" rIns="0" bIns="0" anchor="t" anchorCtr="0">
              <a:spAutoFit/>
            </a:bodyPr>
            <a:lstStyle/>
            <a:p>
              <a:pPr algn="r"/>
              <a:r>
                <a:rPr lang="zh-CN" sz="640" dirty="0">
                  <a:solidFill>
                    <a:srgbClr val="987F7A"/>
                  </a:solidFill>
                  <a:latin typeface="+mn-lt"/>
                  <a:ea typeface="+mn-ea"/>
                  <a:cs typeface="+mn-cs"/>
                </a:rPr>
                <a:t xml:space="preserve">同比 </a:t>
              </a:r>
              <a:r>
                <a:rPr lang="zh-CN" sz="640" b="1" dirty="0">
                  <a:solidFill>
                    <a:srgbClr val="D0442C"/>
                  </a:solidFill>
                  <a:latin typeface="+mn-lt"/>
                  <a:ea typeface="+mn-ea"/>
                  <a:cs typeface="+mn-cs"/>
                </a:rPr>
                <a:t>+20.0% ↑</a:t>
              </a:r>
              <a:r>
                <a:rPr lang="zh-CN" sz="640" dirty="0">
                  <a:solidFill>
                    <a:srgbClr val="987F7A"/>
                  </a:solidFill>
                  <a:latin typeface="+mn-lt"/>
                  <a:ea typeface="+mn-ea"/>
                  <a:cs typeface="+mn-cs"/>
                </a:rPr>
                <a:t>​</a:t>
              </a:r>
            </a:p>
          </p:txBody>
        </p:sp>
        <p:sp>
          <p:nvSpPr>
            <p:cNvPr id="110" name="Rectangle 110"/>
            <p:cNvSpPr/>
            <p:nvPr/>
          </p:nvSpPr>
          <p:spPr>
            <a:xfrm>
              <a:off x="8286750" y="971550"/>
              <a:ext cx="1752600" cy="609600"/>
            </a:xfrm>
            <a:prstGeom prst="roundRect">
              <a:avLst>
                <a:gd name="adj" fmla="val 6250"/>
              </a:avLst>
            </a:prstGeom>
            <a:solidFill>
              <a:srgbClr val="F5F8FD"/>
            </a:solidFill>
            <a:ln w="9525">
              <a:solidFill>
                <a:srgbClr val="E3EAF5"/>
              </a:solidFill>
            </a:ln>
          </p:spPr>
        </p:sp>
        <p:sp>
          <p:nvSpPr>
            <p:cNvPr id="111" name="Freeform 111"/>
            <p:cNvSpPr/>
            <p:nvPr/>
          </p:nvSpPr>
          <p:spPr>
            <a:xfrm>
              <a:off x="8445500" y="1168400"/>
              <a:ext cx="177801" cy="188913"/>
            </a:xfrm>
            <a:custGeom>
              <a:avLst/>
              <a:gdLst/>
              <a:ahLst/>
              <a:cxnLst/>
              <a:rect l="l" t="t" r="r" b="b"/>
              <a:pathLst>
                <a:path w="177801" h="188913">
                  <a:moveTo>
                    <a:pt x="0" y="0"/>
                  </a:moveTo>
                  <a:lnTo>
                    <a:pt x="177801" y="0"/>
                  </a:lnTo>
                  <a:lnTo>
                    <a:pt x="177801" y="24136"/>
                  </a:lnTo>
                  <a:cubicBezTo>
                    <a:pt x="177799" y="30030"/>
                    <a:pt x="175457" y="35683"/>
                    <a:pt x="171289" y="39850"/>
                  </a:cubicBezTo>
                  <a:lnTo>
                    <a:pt x="122238" y="88900"/>
                  </a:lnTo>
                  <a:lnTo>
                    <a:pt x="122238" y="166688"/>
                  </a:lnTo>
                  <a:lnTo>
                    <a:pt x="55563" y="188913"/>
                  </a:lnTo>
                  <a:lnTo>
                    <a:pt x="55563" y="94457"/>
                  </a:lnTo>
                  <a:lnTo>
                    <a:pt x="5779" y="39694"/>
                  </a:lnTo>
                  <a:cubicBezTo>
                    <a:pt x="2061" y="35604"/>
                    <a:pt x="1" y="30275"/>
                    <a:pt x="0" y="24748"/>
                  </a:cubicBezTo>
                  <a:lnTo>
                    <a:pt x="0" y="0"/>
                  </a:lnTo>
                </a:path>
              </a:pathLst>
            </a:custGeom>
            <a:noFill/>
            <a:ln w="22225">
              <a:solidFill>
                <a:srgbClr val="69281B"/>
              </a:solidFill>
            </a:ln>
          </p:spPr>
        </p:sp>
        <p:sp>
          <p:nvSpPr>
            <p:cNvPr id="112" name="TextBox 112"/>
            <p:cNvSpPr txBox="1"/>
            <p:nvPr/>
          </p:nvSpPr>
          <p:spPr>
            <a:xfrm>
              <a:off x="8758238" y="1062038"/>
              <a:ext cx="615315" cy="147638"/>
            </a:xfrm>
            <a:prstGeom prst="rect">
              <a:avLst/>
            </a:prstGeom>
            <a:noFill/>
            <a:ln>
              <a:noFill/>
            </a:ln>
          </p:spPr>
          <p:txBody>
            <a:bodyPr wrap="none" lIns="0" tIns="0" rIns="0" bIns="0" anchor="t" anchorCtr="0">
              <a:spAutoFit/>
            </a:bodyPr>
            <a:lstStyle/>
            <a:p>
              <a:pPr algn="l"/>
              <a:r>
                <a:rPr lang="zh-CN" sz="750" dirty="0">
                  <a:solidFill>
                    <a:srgbClr val="70504A"/>
                  </a:solidFill>
                  <a:latin typeface="+mn-lt"/>
                  <a:ea typeface="+mn-ea"/>
                  <a:cs typeface="+mn-cs"/>
                </a:rPr>
                <a:t>渠道推荐线索</a:t>
              </a:r>
            </a:p>
          </p:txBody>
        </p:sp>
        <p:sp>
          <p:nvSpPr>
            <p:cNvPr id="113" name="TextBox 113"/>
            <p:cNvSpPr txBox="1"/>
            <p:nvPr/>
          </p:nvSpPr>
          <p:spPr>
            <a:xfrm>
              <a:off x="8755380" y="1228725"/>
              <a:ext cx="846182"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2,460</a:t>
              </a:r>
              <a:r>
                <a:rPr lang="zh-CN" sz="750" dirty="0">
                  <a:solidFill>
                    <a:srgbClr val="69281B"/>
                  </a:solidFill>
                  <a:latin typeface="+mn-lt"/>
                  <a:ea typeface="+mn-ea"/>
                  <a:cs typeface="+mn-cs"/>
                </a:rPr>
                <a:t xml:space="preserve"> 条</a:t>
              </a:r>
              <a:r>
                <a:rPr lang="zh-CN" sz="1500" b="1" dirty="0">
                  <a:solidFill>
                    <a:srgbClr val="69281B"/>
                  </a:solidFill>
                  <a:latin typeface="+mn-lt"/>
                  <a:ea typeface="+mn-ea"/>
                  <a:cs typeface="+mn-cs"/>
                </a:rPr>
                <a:t>​</a:t>
              </a:r>
            </a:p>
          </p:txBody>
        </p:sp>
        <p:sp>
          <p:nvSpPr>
            <p:cNvPr id="114" name="TextBox 114"/>
            <p:cNvSpPr txBox="1"/>
            <p:nvPr/>
          </p:nvSpPr>
          <p:spPr>
            <a:xfrm>
              <a:off x="9319319" y="1436132"/>
              <a:ext cx="648593" cy="126206"/>
            </a:xfrm>
            <a:prstGeom prst="rect">
              <a:avLst/>
            </a:prstGeom>
            <a:noFill/>
            <a:ln>
              <a:noFill/>
            </a:ln>
          </p:spPr>
          <p:txBody>
            <a:bodyPr wrap="none" lIns="0" tIns="0" rIns="0" bIns="0" anchor="t" anchorCtr="0">
              <a:spAutoFit/>
            </a:bodyPr>
            <a:lstStyle/>
            <a:p>
              <a:pPr algn="r"/>
              <a:r>
                <a:rPr lang="zh-CN" sz="640" dirty="0">
                  <a:solidFill>
                    <a:srgbClr val="987F7A"/>
                  </a:solidFill>
                  <a:latin typeface="+mn-lt"/>
                  <a:ea typeface="+mn-ea"/>
                  <a:cs typeface="+mn-cs"/>
                </a:rPr>
                <a:t xml:space="preserve">同比 </a:t>
              </a:r>
              <a:r>
                <a:rPr lang="zh-CN" sz="640" b="1" dirty="0">
                  <a:solidFill>
                    <a:srgbClr val="D0442C"/>
                  </a:solidFill>
                  <a:latin typeface="+mn-lt"/>
                  <a:ea typeface="+mn-ea"/>
                  <a:cs typeface="+mn-cs"/>
                </a:rPr>
                <a:t>+28.4% ↑</a:t>
              </a:r>
              <a:r>
                <a:rPr lang="zh-CN" sz="640" dirty="0">
                  <a:solidFill>
                    <a:srgbClr val="987F7A"/>
                  </a:solidFill>
                  <a:latin typeface="+mn-lt"/>
                  <a:ea typeface="+mn-ea"/>
                  <a:cs typeface="+mn-cs"/>
                </a:rPr>
                <a:t>​</a:t>
              </a:r>
            </a:p>
          </p:txBody>
        </p:sp>
        <p:sp>
          <p:nvSpPr>
            <p:cNvPr id="115" name="Rectangle 115"/>
            <p:cNvSpPr/>
            <p:nvPr/>
          </p:nvSpPr>
          <p:spPr>
            <a:xfrm>
              <a:off x="10153650" y="971550"/>
              <a:ext cx="1695450" cy="609600"/>
            </a:xfrm>
            <a:prstGeom prst="roundRect">
              <a:avLst>
                <a:gd name="adj" fmla="val 6250"/>
              </a:avLst>
            </a:prstGeom>
            <a:solidFill>
              <a:srgbClr val="F5F8FD"/>
            </a:solidFill>
            <a:ln w="9525">
              <a:solidFill>
                <a:srgbClr val="E3EAF5"/>
              </a:solidFill>
            </a:ln>
          </p:spPr>
        </p:sp>
        <p:grpSp>
          <p:nvGrpSpPr>
            <p:cNvPr id="119" name="Group 119"/>
            <p:cNvGrpSpPr/>
            <p:nvPr/>
          </p:nvGrpSpPr>
          <p:grpSpPr>
            <a:xfrm>
              <a:off x="10334625" y="1157288"/>
              <a:ext cx="166688" cy="200025"/>
              <a:chOff x="10334625" y="1157288"/>
              <a:chExt cx="166688" cy="200025"/>
            </a:xfrm>
          </p:grpSpPr>
          <p:sp>
            <p:nvSpPr>
              <p:cNvPr id="116" name="Freeform 116"/>
              <p:cNvSpPr/>
              <p:nvPr/>
            </p:nvSpPr>
            <p:spPr>
              <a:xfrm>
                <a:off x="10356850" y="11572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69281B"/>
                </a:solidFill>
              </a:ln>
            </p:spPr>
          </p:sp>
          <p:sp>
            <p:nvSpPr>
              <p:cNvPr id="117" name="Freeform 117"/>
              <p:cNvSpPr/>
              <p:nvPr/>
            </p:nvSpPr>
            <p:spPr>
              <a:xfrm>
                <a:off x="10334625" y="129063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69281B"/>
                </a:solidFill>
              </a:ln>
            </p:spPr>
          </p:sp>
          <p:sp>
            <p:nvSpPr>
              <p:cNvPr id="118" name="Freeform 118"/>
              <p:cNvSpPr/>
              <p:nvPr/>
            </p:nvSpPr>
            <p:spPr>
              <a:xfrm>
                <a:off x="10434638" y="1312863"/>
                <a:ext cx="66675" cy="44450"/>
              </a:xfrm>
              <a:custGeom>
                <a:avLst/>
                <a:gdLst/>
                <a:ahLst/>
                <a:cxnLst/>
                <a:rect l="l" t="t" r="r" b="b"/>
                <a:pathLst>
                  <a:path w="66675" h="44450">
                    <a:moveTo>
                      <a:pt x="0" y="22225"/>
                    </a:moveTo>
                    <a:lnTo>
                      <a:pt x="22225" y="44450"/>
                    </a:lnTo>
                    <a:lnTo>
                      <a:pt x="66675" y="0"/>
                    </a:lnTo>
                  </a:path>
                </a:pathLst>
              </a:custGeom>
              <a:noFill/>
              <a:ln w="22225">
                <a:solidFill>
                  <a:srgbClr val="69281B"/>
                </a:solidFill>
              </a:ln>
            </p:spPr>
          </p:sp>
        </p:grpSp>
        <p:sp>
          <p:nvSpPr>
            <p:cNvPr id="120" name="TextBox 120"/>
            <p:cNvSpPr txBox="1"/>
            <p:nvPr/>
          </p:nvSpPr>
          <p:spPr>
            <a:xfrm>
              <a:off x="10625138" y="1062038"/>
              <a:ext cx="413385" cy="147638"/>
            </a:xfrm>
            <a:prstGeom prst="rect">
              <a:avLst/>
            </a:prstGeom>
            <a:noFill/>
            <a:ln>
              <a:noFill/>
            </a:ln>
          </p:spPr>
          <p:txBody>
            <a:bodyPr wrap="none" lIns="0" tIns="0" rIns="0" bIns="0" anchor="t" anchorCtr="0">
              <a:spAutoFit/>
            </a:bodyPr>
            <a:lstStyle/>
            <a:p>
              <a:pPr algn="l"/>
              <a:r>
                <a:rPr lang="zh-CN" sz="750" dirty="0">
                  <a:solidFill>
                    <a:srgbClr val="70504A"/>
                  </a:solidFill>
                  <a:latin typeface="+mn-lt"/>
                  <a:ea typeface="+mn-ea"/>
                  <a:cs typeface="+mn-cs"/>
                </a:rPr>
                <a:t>转化开户</a:t>
              </a:r>
            </a:p>
          </p:txBody>
        </p:sp>
        <p:sp>
          <p:nvSpPr>
            <p:cNvPr id="121" name="TextBox 121"/>
            <p:cNvSpPr txBox="1"/>
            <p:nvPr/>
          </p:nvSpPr>
          <p:spPr>
            <a:xfrm>
              <a:off x="10622280" y="1228725"/>
              <a:ext cx="612953"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680</a:t>
              </a:r>
              <a:r>
                <a:rPr lang="zh-CN" sz="750" dirty="0">
                  <a:solidFill>
                    <a:srgbClr val="69281B"/>
                  </a:solidFill>
                  <a:latin typeface="+mn-lt"/>
                  <a:ea typeface="+mn-ea"/>
                  <a:cs typeface="+mn-cs"/>
                </a:rPr>
                <a:t xml:space="preserve"> 户</a:t>
              </a:r>
              <a:r>
                <a:rPr lang="zh-CN" sz="1500" b="1" dirty="0">
                  <a:solidFill>
                    <a:srgbClr val="69281B"/>
                  </a:solidFill>
                  <a:latin typeface="+mn-lt"/>
                  <a:ea typeface="+mn-ea"/>
                  <a:cs typeface="+mn-cs"/>
                </a:rPr>
                <a:t>​</a:t>
              </a:r>
            </a:p>
          </p:txBody>
        </p:sp>
        <p:sp>
          <p:nvSpPr>
            <p:cNvPr id="122" name="TextBox 122"/>
            <p:cNvSpPr txBox="1"/>
            <p:nvPr/>
          </p:nvSpPr>
          <p:spPr>
            <a:xfrm>
              <a:off x="11129069" y="1436132"/>
              <a:ext cx="648593" cy="126206"/>
            </a:xfrm>
            <a:prstGeom prst="rect">
              <a:avLst/>
            </a:prstGeom>
            <a:noFill/>
            <a:ln>
              <a:noFill/>
            </a:ln>
          </p:spPr>
          <p:txBody>
            <a:bodyPr wrap="none" lIns="0" tIns="0" rIns="0" bIns="0" anchor="t" anchorCtr="0">
              <a:spAutoFit/>
            </a:bodyPr>
            <a:lstStyle/>
            <a:p>
              <a:pPr algn="r"/>
              <a:r>
                <a:rPr lang="zh-CN" sz="640" dirty="0">
                  <a:solidFill>
                    <a:srgbClr val="987F7A"/>
                  </a:solidFill>
                  <a:latin typeface="+mn-lt"/>
                  <a:ea typeface="+mn-ea"/>
                  <a:cs typeface="+mn-cs"/>
                </a:rPr>
                <a:t xml:space="preserve">同比 </a:t>
              </a:r>
              <a:r>
                <a:rPr lang="zh-CN" sz="640" b="1" dirty="0">
                  <a:solidFill>
                    <a:srgbClr val="D0442C"/>
                  </a:solidFill>
                  <a:latin typeface="+mn-lt"/>
                  <a:ea typeface="+mn-ea"/>
                  <a:cs typeface="+mn-cs"/>
                </a:rPr>
                <a:t>+25.9% ↑</a:t>
              </a:r>
              <a:r>
                <a:rPr lang="zh-CN" sz="640" dirty="0">
                  <a:solidFill>
                    <a:srgbClr val="987F7A"/>
                  </a:solidFill>
                  <a:latin typeface="+mn-lt"/>
                  <a:ea typeface="+mn-ea"/>
                  <a:cs typeface="+mn-cs"/>
                </a:rPr>
                <a:t>​</a:t>
              </a:r>
            </a:p>
          </p:txBody>
        </p:sp>
      </p:grpSp>
      <p:grpSp>
        <p:nvGrpSpPr>
          <p:cNvPr id="159" name="online-board"/>
          <p:cNvGrpSpPr/>
          <p:nvPr/>
        </p:nvGrpSpPr>
        <p:grpSpPr>
          <a:xfrm>
            <a:off x="4438650" y="1771650"/>
            <a:ext cx="7524750" cy="2324100"/>
            <a:chOff x="4438650" y="1771650"/>
            <a:chExt cx="7524750" cy="2324100"/>
          </a:xfrm>
        </p:grpSpPr>
        <p:sp>
          <p:nvSpPr>
            <p:cNvPr id="124" name="Rectangle 124"/>
            <p:cNvSpPr/>
            <p:nvPr/>
          </p:nvSpPr>
          <p:spPr>
            <a:xfrm>
              <a:off x="4438650" y="1771650"/>
              <a:ext cx="7524750" cy="2324100"/>
            </a:xfrm>
            <a:prstGeom prst="roundRect">
              <a:avLst>
                <a:gd name="adj" fmla="val 2459"/>
              </a:avLst>
            </a:prstGeom>
            <a:solidFill>
              <a:srgbClr val="FFFFFF"/>
            </a:solidFill>
            <a:ln w="9525">
              <a:solidFill>
                <a:srgbClr val="C9D6E9"/>
              </a:solidFill>
            </a:ln>
          </p:spPr>
        </p:sp>
        <p:sp>
          <p:nvSpPr>
            <p:cNvPr id="125" name="Rectangle 125"/>
            <p:cNvSpPr/>
            <p:nvPr/>
          </p:nvSpPr>
          <p:spPr>
            <a:xfrm>
              <a:off x="4438650" y="1771650"/>
              <a:ext cx="1428750" cy="209550"/>
            </a:xfrm>
            <a:prstGeom prst="rect">
              <a:avLst/>
            </a:prstGeom>
            <a:solidFill>
              <a:srgbClr val="69281B"/>
            </a:solidFill>
            <a:ln>
              <a:noFill/>
            </a:ln>
          </p:spPr>
        </p:sp>
        <p:sp>
          <p:nvSpPr>
            <p:cNvPr id="126" name="TextBox 126"/>
            <p:cNvSpPr txBox="1"/>
            <p:nvPr/>
          </p:nvSpPr>
          <p:spPr>
            <a:xfrm>
              <a:off x="4706709" y="1825466"/>
              <a:ext cx="89263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线上产品运营看板</a:t>
              </a:r>
            </a:p>
          </p:txBody>
        </p:sp>
        <p:sp>
          <p:nvSpPr>
            <p:cNvPr id="127" name="Rectangle 127"/>
            <p:cNvSpPr/>
            <p:nvPr/>
          </p:nvSpPr>
          <p:spPr>
            <a:xfrm>
              <a:off x="4552950" y="2076450"/>
              <a:ext cx="1752600" cy="1123950"/>
            </a:xfrm>
            <a:prstGeom prst="roundRect">
              <a:avLst>
                <a:gd name="adj" fmla="val 3390"/>
              </a:avLst>
            </a:prstGeom>
            <a:solidFill>
              <a:srgbClr val="F5F8FD"/>
            </a:solidFill>
            <a:ln w="9525">
              <a:solidFill>
                <a:srgbClr val="E3EAF5"/>
              </a:solidFill>
            </a:ln>
          </p:spPr>
        </p:sp>
        <p:sp>
          <p:nvSpPr>
            <p:cNvPr id="128" name="TextBox 128"/>
            <p:cNvSpPr txBox="1"/>
            <p:nvPr/>
          </p:nvSpPr>
          <p:spPr>
            <a:xfrm>
              <a:off x="5052263" y="2200989"/>
              <a:ext cx="753974"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企业网银活跃率</a:t>
              </a:r>
            </a:p>
          </p:txBody>
        </p:sp>
        <p:sp>
          <p:nvSpPr>
            <p:cNvPr id="129" name="Ellipse 129"/>
            <p:cNvSpPr/>
            <p:nvPr/>
          </p:nvSpPr>
          <p:spPr>
            <a:xfrm>
              <a:off x="4667250" y="2514600"/>
              <a:ext cx="419100" cy="419100"/>
            </a:xfrm>
            <a:prstGeom prst="ellipse">
              <a:avLst/>
            </a:prstGeom>
            <a:noFill/>
            <a:ln w="57150">
              <a:solidFill>
                <a:srgbClr val="DDE6F2"/>
              </a:solidFill>
            </a:ln>
          </p:spPr>
        </p:sp>
        <p:sp>
          <p:nvSpPr>
            <p:cNvPr id="130" name="Freeform 130"/>
            <p:cNvSpPr/>
            <p:nvPr/>
          </p:nvSpPr>
          <p:spPr>
            <a:xfrm>
              <a:off x="4652910" y="2514455"/>
              <a:ext cx="451470" cy="434494"/>
            </a:xfrm>
            <a:custGeom>
              <a:avLst/>
              <a:gdLst/>
              <a:ahLst/>
              <a:cxnLst/>
              <a:rect l="l" t="t" r="r" b="b"/>
              <a:pathLst>
                <a:path w="451470" h="434494">
                  <a:moveTo>
                    <a:pt x="223890" y="145"/>
                  </a:moveTo>
                  <a:cubicBezTo>
                    <a:pt x="313023" y="0"/>
                    <a:pt x="392493" y="56255"/>
                    <a:pt x="421982" y="140369"/>
                  </a:cubicBezTo>
                  <a:cubicBezTo>
                    <a:pt x="451470" y="224483"/>
                    <a:pt x="424522" y="318046"/>
                    <a:pt x="354809" y="373587"/>
                  </a:cubicBezTo>
                  <a:cubicBezTo>
                    <a:pt x="285097" y="429129"/>
                    <a:pt x="187879" y="434494"/>
                    <a:pt x="112479" y="386959"/>
                  </a:cubicBezTo>
                  <a:cubicBezTo>
                    <a:pt x="37079" y="339424"/>
                    <a:pt x="0" y="249394"/>
                    <a:pt x="20055" y="162547"/>
                  </a:cubicBezTo>
                </a:path>
              </a:pathLst>
            </a:custGeom>
            <a:noFill/>
            <a:ln w="57150">
              <a:solidFill>
                <a:srgbClr val="E04C2E"/>
              </a:solidFill>
            </a:ln>
          </p:spPr>
        </p:sp>
        <p:sp>
          <p:nvSpPr>
            <p:cNvPr id="131" name="TextBox 131"/>
            <p:cNvSpPr txBox="1"/>
            <p:nvPr/>
          </p:nvSpPr>
          <p:spPr>
            <a:xfrm>
              <a:off x="5212080" y="2619375"/>
              <a:ext cx="757333" cy="293370"/>
            </a:xfrm>
            <a:prstGeom prst="rect">
              <a:avLst/>
            </a:prstGeom>
            <a:noFill/>
            <a:ln>
              <a:noFill/>
            </a:ln>
          </p:spPr>
          <p:txBody>
            <a:bodyPr wrap="none" lIns="0" tIns="0" rIns="0" bIns="0" anchor="t" anchorCtr="0">
              <a:spAutoFit/>
            </a:bodyPr>
            <a:lstStyle/>
            <a:p>
              <a:pPr algn="l"/>
              <a:r>
                <a:rPr lang="zh-CN" sz="1500" b="1" dirty="0">
                  <a:solidFill>
                    <a:srgbClr val="E04C2E"/>
                  </a:solidFill>
                  <a:latin typeface="+mn-lt"/>
                  <a:ea typeface="+mn-ea"/>
                  <a:cs typeface="+mn-cs"/>
                </a:rPr>
                <a:t>78.6%​</a:t>
              </a:r>
            </a:p>
          </p:txBody>
        </p:sp>
        <p:sp>
          <p:nvSpPr>
            <p:cNvPr id="132" name="TextBox 132"/>
            <p:cNvSpPr txBox="1"/>
            <p:nvPr/>
          </p:nvSpPr>
          <p:spPr>
            <a:xfrm>
              <a:off x="5553857" y="3036332"/>
              <a:ext cx="680256" cy="126206"/>
            </a:xfrm>
            <a:prstGeom prst="rect">
              <a:avLst/>
            </a:prstGeom>
            <a:noFill/>
            <a:ln>
              <a:noFill/>
            </a:ln>
          </p:spPr>
          <p:txBody>
            <a:bodyPr wrap="none" lIns="0" tIns="0" rIns="0" bIns="0" anchor="t" anchorCtr="0">
              <a:spAutoFit/>
            </a:bodyPr>
            <a:lstStyle/>
            <a:p>
              <a:pPr algn="r"/>
              <a:r>
                <a:rPr lang="zh-CN" sz="640" dirty="0">
                  <a:solidFill>
                    <a:srgbClr val="987F7A"/>
                  </a:solidFill>
                  <a:latin typeface="+mn-lt"/>
                  <a:ea typeface="+mn-ea"/>
                  <a:cs typeface="+mn-cs"/>
                </a:rPr>
                <a:t xml:space="preserve">同比 </a:t>
              </a:r>
              <a:r>
                <a:rPr lang="en-US" sz="640" b="1" dirty="0">
                  <a:solidFill>
                    <a:srgbClr val="D0442C"/>
                  </a:solidFill>
                  <a:latin typeface="+mn-lt"/>
                  <a:ea typeface="+mn-ea"/>
                  <a:cs typeface="+mn-cs"/>
                </a:rPr>
                <a:t>+8.3pct ↑</a:t>
              </a:r>
              <a:r>
                <a:rPr lang="zh-CN" sz="640" dirty="0">
                  <a:solidFill>
                    <a:srgbClr val="987F7A"/>
                  </a:solidFill>
                  <a:latin typeface="+mn-lt"/>
                  <a:ea typeface="+mn-ea"/>
                  <a:cs typeface="+mn-cs"/>
                </a:rPr>
                <a:t>​</a:t>
              </a:r>
            </a:p>
          </p:txBody>
        </p:sp>
        <p:sp>
          <p:nvSpPr>
            <p:cNvPr id="133" name="Rectangle 133"/>
            <p:cNvSpPr/>
            <p:nvPr/>
          </p:nvSpPr>
          <p:spPr>
            <a:xfrm>
              <a:off x="6419850" y="2076450"/>
              <a:ext cx="1752600" cy="1123950"/>
            </a:xfrm>
            <a:prstGeom prst="roundRect">
              <a:avLst>
                <a:gd name="adj" fmla="val 3390"/>
              </a:avLst>
            </a:prstGeom>
            <a:solidFill>
              <a:srgbClr val="F5F8FD"/>
            </a:solidFill>
            <a:ln w="9525">
              <a:solidFill>
                <a:srgbClr val="E3EAF5"/>
              </a:solidFill>
            </a:ln>
          </p:spPr>
        </p:sp>
        <p:sp>
          <p:nvSpPr>
            <p:cNvPr id="134" name="TextBox 134"/>
            <p:cNvSpPr txBox="1"/>
            <p:nvPr/>
          </p:nvSpPr>
          <p:spPr>
            <a:xfrm>
              <a:off x="6972338" y="2200989"/>
              <a:ext cx="647624"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银企直联客户</a:t>
              </a:r>
            </a:p>
          </p:txBody>
        </p:sp>
        <p:grpSp>
          <p:nvGrpSpPr>
            <p:cNvPr id="139" name="Group 139"/>
            <p:cNvGrpSpPr/>
            <p:nvPr/>
          </p:nvGrpSpPr>
          <p:grpSpPr>
            <a:xfrm>
              <a:off x="6619875" y="2597150"/>
              <a:ext cx="285751" cy="254000"/>
              <a:chOff x="6619875" y="2597150"/>
              <a:chExt cx="285751" cy="254000"/>
            </a:xfrm>
          </p:grpSpPr>
          <p:sp>
            <p:nvSpPr>
              <p:cNvPr id="135" name="Freeform 135"/>
              <p:cNvSpPr/>
              <p:nvPr/>
            </p:nvSpPr>
            <p:spPr>
              <a:xfrm>
                <a:off x="6619875" y="2644775"/>
                <a:ext cx="285751" cy="9525"/>
              </a:xfrm>
              <a:custGeom>
                <a:avLst/>
                <a:gdLst/>
                <a:ahLst/>
                <a:cxnLst/>
                <a:rect l="l" t="t" r="r" b="b"/>
                <a:pathLst>
                  <a:path w="285751" h="9525">
                    <a:moveTo>
                      <a:pt x="285751" y="0"/>
                    </a:moveTo>
                    <a:lnTo>
                      <a:pt x="0" y="0"/>
                    </a:lnTo>
                  </a:path>
                </a:pathLst>
              </a:custGeom>
              <a:noFill/>
              <a:ln w="31750">
                <a:solidFill>
                  <a:srgbClr val="69281B"/>
                </a:solidFill>
              </a:ln>
            </p:spPr>
          </p:sp>
          <p:sp>
            <p:nvSpPr>
              <p:cNvPr id="136" name="Freeform 136"/>
              <p:cNvSpPr/>
              <p:nvPr/>
            </p:nvSpPr>
            <p:spPr>
              <a:xfrm>
                <a:off x="6858001" y="2597150"/>
                <a:ext cx="47625" cy="95250"/>
              </a:xfrm>
              <a:custGeom>
                <a:avLst/>
                <a:gdLst/>
                <a:ahLst/>
                <a:cxnLst/>
                <a:rect l="l" t="t" r="r" b="b"/>
                <a:pathLst>
                  <a:path w="47625" h="95250">
                    <a:moveTo>
                      <a:pt x="0" y="95250"/>
                    </a:moveTo>
                    <a:lnTo>
                      <a:pt x="47625" y="47625"/>
                    </a:lnTo>
                    <a:lnTo>
                      <a:pt x="0" y="0"/>
                    </a:lnTo>
                  </a:path>
                </a:pathLst>
              </a:custGeom>
              <a:noFill/>
              <a:ln w="31750">
                <a:solidFill>
                  <a:srgbClr val="69281B"/>
                </a:solidFill>
              </a:ln>
            </p:spPr>
          </p:sp>
          <p:sp>
            <p:nvSpPr>
              <p:cNvPr id="137" name="Freeform 137"/>
              <p:cNvSpPr/>
              <p:nvPr/>
            </p:nvSpPr>
            <p:spPr>
              <a:xfrm>
                <a:off x="6619875" y="2755900"/>
                <a:ext cx="47625" cy="95250"/>
              </a:xfrm>
              <a:custGeom>
                <a:avLst/>
                <a:gdLst/>
                <a:ahLst/>
                <a:cxnLst/>
                <a:rect l="l" t="t" r="r" b="b"/>
                <a:pathLst>
                  <a:path w="47625" h="95250">
                    <a:moveTo>
                      <a:pt x="47625" y="95250"/>
                    </a:moveTo>
                    <a:lnTo>
                      <a:pt x="0" y="47625"/>
                    </a:lnTo>
                    <a:lnTo>
                      <a:pt x="47625" y="0"/>
                    </a:lnTo>
                  </a:path>
                </a:pathLst>
              </a:custGeom>
              <a:noFill/>
              <a:ln w="31750">
                <a:solidFill>
                  <a:srgbClr val="69281B"/>
                </a:solidFill>
              </a:ln>
            </p:spPr>
          </p:sp>
          <p:sp>
            <p:nvSpPr>
              <p:cNvPr id="138" name="Freeform 138"/>
              <p:cNvSpPr/>
              <p:nvPr/>
            </p:nvSpPr>
            <p:spPr>
              <a:xfrm>
                <a:off x="6619875" y="2803526"/>
                <a:ext cx="285751" cy="9525"/>
              </a:xfrm>
              <a:custGeom>
                <a:avLst/>
                <a:gdLst/>
                <a:ahLst/>
                <a:cxnLst/>
                <a:rect l="l" t="t" r="r" b="b"/>
                <a:pathLst>
                  <a:path w="285751" h="9525">
                    <a:moveTo>
                      <a:pt x="0" y="0"/>
                    </a:moveTo>
                    <a:lnTo>
                      <a:pt x="285751" y="0"/>
                    </a:lnTo>
                  </a:path>
                </a:pathLst>
              </a:custGeom>
              <a:noFill/>
              <a:ln w="31750">
                <a:solidFill>
                  <a:srgbClr val="69281B"/>
                </a:solidFill>
              </a:ln>
            </p:spPr>
          </p:sp>
        </p:grpSp>
        <p:sp>
          <p:nvSpPr>
            <p:cNvPr id="140" name="TextBox 140"/>
            <p:cNvSpPr txBox="1"/>
            <p:nvPr/>
          </p:nvSpPr>
          <p:spPr>
            <a:xfrm>
              <a:off x="7078980" y="2619375"/>
              <a:ext cx="612953" cy="293370"/>
            </a:xfrm>
            <a:prstGeom prst="rect">
              <a:avLst/>
            </a:prstGeom>
            <a:noFill/>
            <a:ln>
              <a:noFill/>
            </a:ln>
          </p:spPr>
          <p:txBody>
            <a:bodyPr wrap="none" lIns="0" tIns="0" rIns="0" bIns="0" anchor="t" anchorCtr="0">
              <a:spAutoFit/>
            </a:bodyPr>
            <a:lstStyle/>
            <a:p>
              <a:pPr algn="l"/>
              <a:r>
                <a:rPr lang="zh-CN" sz="1500" b="1" dirty="0">
                  <a:solidFill>
                    <a:srgbClr val="E04C2E"/>
                  </a:solidFill>
                  <a:latin typeface="+mn-lt"/>
                  <a:ea typeface="+mn-ea"/>
                  <a:cs typeface="+mn-cs"/>
                </a:rPr>
                <a:t>420</a:t>
              </a:r>
              <a:r>
                <a:rPr lang="zh-CN" sz="750" dirty="0">
                  <a:solidFill>
                    <a:srgbClr val="5F3A33"/>
                  </a:solidFill>
                  <a:latin typeface="+mn-lt"/>
                  <a:ea typeface="+mn-ea"/>
                  <a:cs typeface="+mn-cs"/>
                </a:rPr>
                <a:t xml:space="preserve"> 户</a:t>
              </a:r>
              <a:r>
                <a:rPr lang="zh-CN" sz="1500" b="1" dirty="0">
                  <a:solidFill>
                    <a:srgbClr val="E04C2E"/>
                  </a:solidFill>
                  <a:latin typeface="+mn-lt"/>
                  <a:ea typeface="+mn-ea"/>
                  <a:cs typeface="+mn-cs"/>
                </a:rPr>
                <a:t>​</a:t>
              </a:r>
            </a:p>
          </p:txBody>
        </p:sp>
        <p:sp>
          <p:nvSpPr>
            <p:cNvPr id="141" name="TextBox 141"/>
            <p:cNvSpPr txBox="1"/>
            <p:nvPr/>
          </p:nvSpPr>
          <p:spPr>
            <a:xfrm>
              <a:off x="7452419" y="3036332"/>
              <a:ext cx="648593" cy="126206"/>
            </a:xfrm>
            <a:prstGeom prst="rect">
              <a:avLst/>
            </a:prstGeom>
            <a:noFill/>
            <a:ln>
              <a:noFill/>
            </a:ln>
          </p:spPr>
          <p:txBody>
            <a:bodyPr wrap="none" lIns="0" tIns="0" rIns="0" bIns="0" anchor="t" anchorCtr="0">
              <a:spAutoFit/>
            </a:bodyPr>
            <a:lstStyle/>
            <a:p>
              <a:pPr algn="r"/>
              <a:r>
                <a:rPr lang="zh-CN" sz="640" dirty="0">
                  <a:solidFill>
                    <a:srgbClr val="987F7A"/>
                  </a:solidFill>
                  <a:latin typeface="+mn-lt"/>
                  <a:ea typeface="+mn-ea"/>
                  <a:cs typeface="+mn-cs"/>
                </a:rPr>
                <a:t xml:space="preserve">同比 </a:t>
              </a:r>
              <a:r>
                <a:rPr lang="zh-CN" sz="640" b="1" dirty="0">
                  <a:solidFill>
                    <a:srgbClr val="D0442C"/>
                  </a:solidFill>
                  <a:latin typeface="+mn-lt"/>
                  <a:ea typeface="+mn-ea"/>
                  <a:cs typeface="+mn-cs"/>
                </a:rPr>
                <a:t>+23.5% ↑</a:t>
              </a:r>
              <a:r>
                <a:rPr lang="zh-CN" sz="640" dirty="0">
                  <a:solidFill>
                    <a:srgbClr val="987F7A"/>
                  </a:solidFill>
                  <a:latin typeface="+mn-lt"/>
                  <a:ea typeface="+mn-ea"/>
                  <a:cs typeface="+mn-cs"/>
                </a:rPr>
                <a:t>​</a:t>
              </a:r>
            </a:p>
          </p:txBody>
        </p:sp>
        <p:sp>
          <p:nvSpPr>
            <p:cNvPr id="142" name="Rectangle 142"/>
            <p:cNvSpPr/>
            <p:nvPr/>
          </p:nvSpPr>
          <p:spPr>
            <a:xfrm>
              <a:off x="8286750" y="2076450"/>
              <a:ext cx="1752600" cy="1123950"/>
            </a:xfrm>
            <a:prstGeom prst="roundRect">
              <a:avLst>
                <a:gd name="adj" fmla="val 3390"/>
              </a:avLst>
            </a:prstGeom>
            <a:solidFill>
              <a:srgbClr val="F5F8FD"/>
            </a:solidFill>
            <a:ln w="9525">
              <a:solidFill>
                <a:srgbClr val="E3EAF5"/>
              </a:solidFill>
            </a:ln>
          </p:spPr>
        </p:sp>
        <p:sp>
          <p:nvSpPr>
            <p:cNvPr id="143" name="TextBox 143"/>
            <p:cNvSpPr txBox="1"/>
            <p:nvPr/>
          </p:nvSpPr>
          <p:spPr>
            <a:xfrm>
              <a:off x="8839238" y="2200989"/>
              <a:ext cx="647624"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线上融资申请</a:t>
              </a:r>
            </a:p>
          </p:txBody>
        </p:sp>
        <p:grpSp>
          <p:nvGrpSpPr>
            <p:cNvPr id="149" name="Group 149"/>
            <p:cNvGrpSpPr/>
            <p:nvPr/>
          </p:nvGrpSpPr>
          <p:grpSpPr>
            <a:xfrm>
              <a:off x="8518525" y="2581275"/>
              <a:ext cx="222250" cy="285751"/>
              <a:chOff x="8518525" y="2581275"/>
              <a:chExt cx="222250" cy="285751"/>
            </a:xfrm>
          </p:grpSpPr>
          <p:sp>
            <p:nvSpPr>
              <p:cNvPr id="144" name="Freeform 144"/>
              <p:cNvSpPr/>
              <p:nvPr/>
            </p:nvSpPr>
            <p:spPr>
              <a:xfrm>
                <a:off x="8661400" y="258127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31750">
                <a:solidFill>
                  <a:srgbClr val="69281B"/>
                </a:solidFill>
              </a:ln>
            </p:spPr>
          </p:sp>
          <p:sp>
            <p:nvSpPr>
              <p:cNvPr id="145" name="Freeform 145"/>
              <p:cNvSpPr/>
              <p:nvPr/>
            </p:nvSpPr>
            <p:spPr>
              <a:xfrm>
                <a:off x="8518525" y="2581275"/>
                <a:ext cx="222250" cy="285751"/>
              </a:xfrm>
              <a:custGeom>
                <a:avLst/>
                <a:gdLst/>
                <a:ahLst/>
                <a:cxnLst/>
                <a:rect l="l" t="t" r="r" b="b"/>
                <a:pathLst>
                  <a:path w="222250" h="285751">
                    <a:moveTo>
                      <a:pt x="190500" y="285751"/>
                    </a:moveTo>
                    <a:lnTo>
                      <a:pt x="31750" y="285751"/>
                    </a:lnTo>
                    <a:cubicBezTo>
                      <a:pt x="14215" y="285751"/>
                      <a:pt x="0" y="271536"/>
                      <a:pt x="0" y="254001"/>
                    </a:cubicBezTo>
                    <a:lnTo>
                      <a:pt x="0" y="31750"/>
                    </a:lnTo>
                    <a:cubicBezTo>
                      <a:pt x="0" y="14215"/>
                      <a:pt x="14215" y="0"/>
                      <a:pt x="31750" y="0"/>
                    </a:cubicBezTo>
                    <a:lnTo>
                      <a:pt x="142875" y="0"/>
                    </a:lnTo>
                    <a:lnTo>
                      <a:pt x="222250" y="79375"/>
                    </a:lnTo>
                    <a:lnTo>
                      <a:pt x="222250" y="254001"/>
                    </a:lnTo>
                    <a:cubicBezTo>
                      <a:pt x="222250" y="271536"/>
                      <a:pt x="208035" y="285751"/>
                      <a:pt x="190500" y="285751"/>
                    </a:cubicBezTo>
                  </a:path>
                </a:pathLst>
              </a:custGeom>
              <a:noFill/>
              <a:ln w="31750">
                <a:solidFill>
                  <a:srgbClr val="69281B"/>
                </a:solidFill>
              </a:ln>
            </p:spPr>
          </p:sp>
          <p:sp>
            <p:nvSpPr>
              <p:cNvPr id="146" name="Freeform 146"/>
              <p:cNvSpPr/>
              <p:nvPr/>
            </p:nvSpPr>
            <p:spPr>
              <a:xfrm>
                <a:off x="8582025" y="2676525"/>
                <a:ext cx="15875" cy="9525"/>
              </a:xfrm>
              <a:custGeom>
                <a:avLst/>
                <a:gdLst/>
                <a:ahLst/>
                <a:cxnLst/>
                <a:rect l="l" t="t" r="r" b="b"/>
                <a:pathLst>
                  <a:path w="15875" h="9525">
                    <a:moveTo>
                      <a:pt x="0" y="0"/>
                    </a:moveTo>
                    <a:lnTo>
                      <a:pt x="15875" y="0"/>
                    </a:lnTo>
                  </a:path>
                </a:pathLst>
              </a:custGeom>
              <a:noFill/>
              <a:ln w="31750">
                <a:solidFill>
                  <a:srgbClr val="69281B"/>
                </a:solidFill>
              </a:ln>
            </p:spPr>
          </p:sp>
          <p:sp>
            <p:nvSpPr>
              <p:cNvPr id="147" name="Freeform 147"/>
              <p:cNvSpPr/>
              <p:nvPr/>
            </p:nvSpPr>
            <p:spPr>
              <a:xfrm>
                <a:off x="8582025" y="2740025"/>
                <a:ext cx="95250" cy="9525"/>
              </a:xfrm>
              <a:custGeom>
                <a:avLst/>
                <a:gdLst/>
                <a:ahLst/>
                <a:cxnLst/>
                <a:rect l="l" t="t" r="r" b="b"/>
                <a:pathLst>
                  <a:path w="95250" h="9525">
                    <a:moveTo>
                      <a:pt x="0" y="0"/>
                    </a:moveTo>
                    <a:lnTo>
                      <a:pt x="95250" y="0"/>
                    </a:lnTo>
                  </a:path>
                </a:pathLst>
              </a:custGeom>
              <a:noFill/>
              <a:ln w="31750">
                <a:solidFill>
                  <a:srgbClr val="69281B"/>
                </a:solidFill>
              </a:ln>
            </p:spPr>
          </p:sp>
          <p:sp>
            <p:nvSpPr>
              <p:cNvPr id="148" name="Freeform 148"/>
              <p:cNvSpPr/>
              <p:nvPr/>
            </p:nvSpPr>
            <p:spPr>
              <a:xfrm>
                <a:off x="8582025" y="2803526"/>
                <a:ext cx="95250" cy="9525"/>
              </a:xfrm>
              <a:custGeom>
                <a:avLst/>
                <a:gdLst/>
                <a:ahLst/>
                <a:cxnLst/>
                <a:rect l="l" t="t" r="r" b="b"/>
                <a:pathLst>
                  <a:path w="95250" h="9525">
                    <a:moveTo>
                      <a:pt x="0" y="0"/>
                    </a:moveTo>
                    <a:lnTo>
                      <a:pt x="95250" y="0"/>
                    </a:lnTo>
                  </a:path>
                </a:pathLst>
              </a:custGeom>
              <a:noFill/>
              <a:ln w="31750">
                <a:solidFill>
                  <a:srgbClr val="69281B"/>
                </a:solidFill>
              </a:ln>
            </p:spPr>
          </p:sp>
        </p:grpSp>
        <p:sp>
          <p:nvSpPr>
            <p:cNvPr id="150" name="TextBox 150"/>
            <p:cNvSpPr txBox="1"/>
            <p:nvPr/>
          </p:nvSpPr>
          <p:spPr>
            <a:xfrm>
              <a:off x="8945880" y="2619375"/>
              <a:ext cx="846182" cy="293370"/>
            </a:xfrm>
            <a:prstGeom prst="rect">
              <a:avLst/>
            </a:prstGeom>
            <a:noFill/>
            <a:ln>
              <a:noFill/>
            </a:ln>
          </p:spPr>
          <p:txBody>
            <a:bodyPr wrap="none" lIns="0" tIns="0" rIns="0" bIns="0" anchor="t" anchorCtr="0">
              <a:spAutoFit/>
            </a:bodyPr>
            <a:lstStyle/>
            <a:p>
              <a:pPr algn="l"/>
              <a:r>
                <a:rPr lang="zh-CN" sz="1500" b="1" dirty="0">
                  <a:solidFill>
                    <a:srgbClr val="E04C2E"/>
                  </a:solidFill>
                  <a:latin typeface="+mn-lt"/>
                  <a:ea typeface="+mn-ea"/>
                  <a:cs typeface="+mn-cs"/>
                </a:rPr>
                <a:t>1,860</a:t>
              </a:r>
              <a:r>
                <a:rPr lang="zh-CN" sz="750" dirty="0">
                  <a:solidFill>
                    <a:srgbClr val="5F3A33"/>
                  </a:solidFill>
                  <a:latin typeface="+mn-lt"/>
                  <a:ea typeface="+mn-ea"/>
                  <a:cs typeface="+mn-cs"/>
                </a:rPr>
                <a:t xml:space="preserve"> 笔</a:t>
              </a:r>
              <a:r>
                <a:rPr lang="zh-CN" sz="1500" b="1" dirty="0">
                  <a:solidFill>
                    <a:srgbClr val="E04C2E"/>
                  </a:solidFill>
                  <a:latin typeface="+mn-lt"/>
                  <a:ea typeface="+mn-ea"/>
                  <a:cs typeface="+mn-cs"/>
                </a:rPr>
                <a:t>​</a:t>
              </a:r>
            </a:p>
          </p:txBody>
        </p:sp>
        <p:sp>
          <p:nvSpPr>
            <p:cNvPr id="151" name="TextBox 151"/>
            <p:cNvSpPr txBox="1"/>
            <p:nvPr/>
          </p:nvSpPr>
          <p:spPr>
            <a:xfrm>
              <a:off x="9319319" y="3036332"/>
              <a:ext cx="648593" cy="126206"/>
            </a:xfrm>
            <a:prstGeom prst="rect">
              <a:avLst/>
            </a:prstGeom>
            <a:noFill/>
            <a:ln>
              <a:noFill/>
            </a:ln>
          </p:spPr>
          <p:txBody>
            <a:bodyPr wrap="none" lIns="0" tIns="0" rIns="0" bIns="0" anchor="t" anchorCtr="0">
              <a:spAutoFit/>
            </a:bodyPr>
            <a:lstStyle/>
            <a:p>
              <a:pPr algn="r"/>
              <a:r>
                <a:rPr lang="zh-CN" sz="640" dirty="0">
                  <a:solidFill>
                    <a:srgbClr val="987F7A"/>
                  </a:solidFill>
                  <a:latin typeface="+mn-lt"/>
                  <a:ea typeface="+mn-ea"/>
                  <a:cs typeface="+mn-cs"/>
                </a:rPr>
                <a:t xml:space="preserve">同比 </a:t>
              </a:r>
              <a:r>
                <a:rPr lang="zh-CN" sz="640" b="1" dirty="0">
                  <a:solidFill>
                    <a:srgbClr val="D0442C"/>
                  </a:solidFill>
                  <a:latin typeface="+mn-lt"/>
                  <a:ea typeface="+mn-ea"/>
                  <a:cs typeface="+mn-cs"/>
                </a:rPr>
                <a:t>+34.7% ↑</a:t>
              </a:r>
              <a:r>
                <a:rPr lang="zh-CN" sz="640" dirty="0">
                  <a:solidFill>
                    <a:srgbClr val="987F7A"/>
                  </a:solidFill>
                  <a:latin typeface="+mn-lt"/>
                  <a:ea typeface="+mn-ea"/>
                  <a:cs typeface="+mn-cs"/>
                </a:rPr>
                <a:t>​</a:t>
              </a:r>
            </a:p>
          </p:txBody>
        </p:sp>
        <p:sp>
          <p:nvSpPr>
            <p:cNvPr id="152" name="Rectangle 152"/>
            <p:cNvSpPr/>
            <p:nvPr/>
          </p:nvSpPr>
          <p:spPr>
            <a:xfrm>
              <a:off x="10153650" y="2076450"/>
              <a:ext cx="1695450" cy="1123950"/>
            </a:xfrm>
            <a:prstGeom prst="roundRect">
              <a:avLst>
                <a:gd name="adj" fmla="val 3390"/>
              </a:avLst>
            </a:prstGeom>
            <a:solidFill>
              <a:srgbClr val="F5F8FD"/>
            </a:solidFill>
            <a:ln w="9525">
              <a:solidFill>
                <a:srgbClr val="E3EAF5"/>
              </a:solidFill>
            </a:ln>
          </p:spPr>
        </p:sp>
        <p:sp>
          <p:nvSpPr>
            <p:cNvPr id="153" name="TextBox 153"/>
            <p:cNvSpPr txBox="1"/>
            <p:nvPr/>
          </p:nvSpPr>
          <p:spPr>
            <a:xfrm>
              <a:off x="10677563" y="2200989"/>
              <a:ext cx="647624" cy="154781"/>
            </a:xfrm>
            <a:prstGeom prst="rect">
              <a:avLst/>
            </a:prstGeom>
            <a:noFill/>
            <a:ln>
              <a:noFill/>
            </a:ln>
          </p:spPr>
          <p:txBody>
            <a:bodyPr wrap="none" lIns="0" tIns="0" rIns="0" bIns="0" anchor="t" anchorCtr="0">
              <a:spAutoFit/>
            </a:bodyPr>
            <a:lstStyle/>
            <a:p>
              <a:pPr algn="ctr"/>
              <a:r>
                <a:rPr lang="zh-CN" sz="790" b="1" dirty="0">
                  <a:solidFill>
                    <a:srgbClr val="5F3A33"/>
                  </a:solidFill>
                  <a:latin typeface="+mn-lt"/>
                  <a:ea typeface="+mn-ea"/>
                  <a:cs typeface="+mn-cs"/>
                </a:rPr>
                <a:t>线上结算占比</a:t>
              </a:r>
            </a:p>
          </p:txBody>
        </p:sp>
        <p:sp>
          <p:nvSpPr>
            <p:cNvPr id="154" name="Ellipse 154"/>
            <p:cNvSpPr/>
            <p:nvPr/>
          </p:nvSpPr>
          <p:spPr>
            <a:xfrm>
              <a:off x="10267950" y="2514600"/>
              <a:ext cx="419100" cy="419100"/>
            </a:xfrm>
            <a:prstGeom prst="ellipse">
              <a:avLst/>
            </a:prstGeom>
            <a:noFill/>
            <a:ln w="57150">
              <a:solidFill>
                <a:srgbClr val="DDE6F2"/>
              </a:solidFill>
            </a:ln>
          </p:spPr>
        </p:sp>
        <p:sp>
          <p:nvSpPr>
            <p:cNvPr id="155" name="Freeform 155"/>
            <p:cNvSpPr/>
            <p:nvPr/>
          </p:nvSpPr>
          <p:spPr>
            <a:xfrm>
              <a:off x="10270808" y="2514583"/>
              <a:ext cx="422065" cy="430035"/>
            </a:xfrm>
            <a:custGeom>
              <a:avLst/>
              <a:gdLst/>
              <a:ahLst/>
              <a:cxnLst/>
              <a:rect l="l" t="t" r="r" b="b"/>
              <a:pathLst>
                <a:path w="422065" h="430035">
                  <a:moveTo>
                    <a:pt x="206692" y="17"/>
                  </a:moveTo>
                  <a:cubicBezTo>
                    <a:pt x="317969" y="0"/>
                    <a:pt x="409854" y="86961"/>
                    <a:pt x="415960" y="198070"/>
                  </a:cubicBezTo>
                  <a:cubicBezTo>
                    <a:pt x="422065" y="309179"/>
                    <a:pt x="340262" y="405684"/>
                    <a:pt x="229654" y="417859"/>
                  </a:cubicBezTo>
                  <a:cubicBezTo>
                    <a:pt x="119045" y="430035"/>
                    <a:pt x="18209" y="353634"/>
                    <a:pt x="0" y="243857"/>
                  </a:cubicBezTo>
                </a:path>
              </a:pathLst>
            </a:custGeom>
            <a:noFill/>
            <a:ln w="57150">
              <a:solidFill>
                <a:srgbClr val="E04C2E"/>
              </a:solidFill>
            </a:ln>
          </p:spPr>
        </p:sp>
        <p:sp>
          <p:nvSpPr>
            <p:cNvPr id="156" name="TextBox 156"/>
            <p:cNvSpPr txBox="1"/>
            <p:nvPr/>
          </p:nvSpPr>
          <p:spPr>
            <a:xfrm>
              <a:off x="10812780" y="2619375"/>
              <a:ext cx="757333" cy="293370"/>
            </a:xfrm>
            <a:prstGeom prst="rect">
              <a:avLst/>
            </a:prstGeom>
            <a:noFill/>
            <a:ln>
              <a:noFill/>
            </a:ln>
          </p:spPr>
          <p:txBody>
            <a:bodyPr wrap="none" lIns="0" tIns="0" rIns="0" bIns="0" anchor="t" anchorCtr="0">
              <a:spAutoFit/>
            </a:bodyPr>
            <a:lstStyle/>
            <a:p>
              <a:pPr algn="l"/>
              <a:r>
                <a:rPr lang="zh-CN" sz="1500" b="1" dirty="0">
                  <a:solidFill>
                    <a:srgbClr val="E04C2E"/>
                  </a:solidFill>
                  <a:latin typeface="+mn-lt"/>
                  <a:ea typeface="+mn-ea"/>
                  <a:cs typeface="+mn-cs"/>
                </a:rPr>
                <a:t>72.4%​</a:t>
              </a:r>
            </a:p>
          </p:txBody>
        </p:sp>
        <p:sp>
          <p:nvSpPr>
            <p:cNvPr id="157" name="TextBox 157"/>
            <p:cNvSpPr txBox="1"/>
            <p:nvPr/>
          </p:nvSpPr>
          <p:spPr>
            <a:xfrm>
              <a:off x="11097407" y="3036332"/>
              <a:ext cx="680256" cy="126206"/>
            </a:xfrm>
            <a:prstGeom prst="rect">
              <a:avLst/>
            </a:prstGeom>
            <a:noFill/>
            <a:ln>
              <a:noFill/>
            </a:ln>
          </p:spPr>
          <p:txBody>
            <a:bodyPr wrap="none" lIns="0" tIns="0" rIns="0" bIns="0" anchor="t" anchorCtr="0">
              <a:spAutoFit/>
            </a:bodyPr>
            <a:lstStyle/>
            <a:p>
              <a:pPr algn="r"/>
              <a:r>
                <a:rPr lang="zh-CN" sz="640" dirty="0">
                  <a:solidFill>
                    <a:srgbClr val="987F7A"/>
                  </a:solidFill>
                  <a:latin typeface="+mn-lt"/>
                  <a:ea typeface="+mn-ea"/>
                  <a:cs typeface="+mn-cs"/>
                </a:rPr>
                <a:t xml:space="preserve">同比 </a:t>
              </a:r>
              <a:r>
                <a:rPr lang="en-US" sz="640" b="1" dirty="0">
                  <a:solidFill>
                    <a:srgbClr val="D0442C"/>
                  </a:solidFill>
                  <a:latin typeface="+mn-lt"/>
                  <a:ea typeface="+mn-ea"/>
                  <a:cs typeface="+mn-cs"/>
                </a:rPr>
                <a:t>+9.1pct ↑</a:t>
              </a:r>
              <a:r>
                <a:rPr lang="zh-CN" sz="640" dirty="0">
                  <a:solidFill>
                    <a:srgbClr val="987F7A"/>
                  </a:solidFill>
                  <a:latin typeface="+mn-lt"/>
                  <a:ea typeface="+mn-ea"/>
                  <a:cs typeface="+mn-cs"/>
                </a:rPr>
                <a:t>​</a:t>
              </a:r>
            </a:p>
          </p:txBody>
        </p:sp>
        <p:sp>
          <p:nvSpPr>
            <p:cNvPr id="158" name="TextBox 158"/>
            <p:cNvSpPr txBox="1"/>
            <p:nvPr/>
          </p:nvSpPr>
          <p:spPr>
            <a:xfrm>
              <a:off x="4548188" y="3379232"/>
              <a:ext cx="2292680"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数据口径：2026年6月末（示例）；同比为较2025年同期。​</a:t>
              </a:r>
            </a:p>
          </p:txBody>
        </p:sp>
      </p:grpSp>
      <p:grpSp>
        <p:nvGrpSpPr>
          <p:cNvPr id="183" name="lead-funnel"/>
          <p:cNvGrpSpPr/>
          <p:nvPr/>
        </p:nvGrpSpPr>
        <p:grpSpPr>
          <a:xfrm>
            <a:off x="228600" y="4191000"/>
            <a:ext cx="4095750" cy="2476500"/>
            <a:chOff x="228600" y="4191000"/>
            <a:chExt cx="4095750" cy="2476500"/>
          </a:xfrm>
        </p:grpSpPr>
        <p:sp>
          <p:nvSpPr>
            <p:cNvPr id="160" name="Rectangle 160"/>
            <p:cNvSpPr/>
            <p:nvPr/>
          </p:nvSpPr>
          <p:spPr>
            <a:xfrm>
              <a:off x="228600" y="4191000"/>
              <a:ext cx="4095750" cy="2476500"/>
            </a:xfrm>
            <a:prstGeom prst="roundRect">
              <a:avLst>
                <a:gd name="adj" fmla="val 2308"/>
              </a:avLst>
            </a:prstGeom>
            <a:solidFill>
              <a:srgbClr val="FFFFFF"/>
            </a:solidFill>
            <a:ln w="9525">
              <a:solidFill>
                <a:srgbClr val="C9D6E9"/>
              </a:solidFill>
            </a:ln>
          </p:spPr>
        </p:sp>
        <p:sp>
          <p:nvSpPr>
            <p:cNvPr id="161" name="Rectangle 161"/>
            <p:cNvSpPr/>
            <p:nvPr/>
          </p:nvSpPr>
          <p:spPr>
            <a:xfrm>
              <a:off x="228600" y="4191000"/>
              <a:ext cx="1905000" cy="209550"/>
            </a:xfrm>
            <a:prstGeom prst="rect">
              <a:avLst/>
            </a:prstGeom>
            <a:solidFill>
              <a:srgbClr val="69281B"/>
            </a:solidFill>
            <a:ln>
              <a:noFill/>
            </a:ln>
          </p:spPr>
        </p:sp>
        <p:sp>
          <p:nvSpPr>
            <p:cNvPr id="162" name="TextBox 162"/>
            <p:cNvSpPr txBox="1"/>
            <p:nvPr/>
          </p:nvSpPr>
          <p:spPr>
            <a:xfrm>
              <a:off x="426938" y="4244816"/>
              <a:ext cx="15083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线索转化漏斗（单位：条/户）</a:t>
              </a:r>
            </a:p>
          </p:txBody>
        </p:sp>
        <p:sp>
          <p:nvSpPr>
            <p:cNvPr id="163" name="Freeform 163"/>
            <p:cNvSpPr/>
            <p:nvPr/>
          </p:nvSpPr>
          <p:spPr>
            <a:xfrm rot="10800000">
              <a:off x="1428750" y="4572000"/>
              <a:ext cx="1905000" cy="342900"/>
            </a:xfrm>
            <a:prstGeom prst="trapezoid">
              <a:avLst>
                <a:gd name="adj" fmla="val 33333"/>
              </a:avLst>
            </a:prstGeom>
            <a:solidFill>
              <a:srgbClr val="5C2216"/>
            </a:solidFill>
            <a:ln>
              <a:noFill/>
            </a:ln>
          </p:spPr>
        </p:sp>
        <p:sp>
          <p:nvSpPr>
            <p:cNvPr id="164" name="Freeform 164"/>
            <p:cNvSpPr/>
            <p:nvPr/>
          </p:nvSpPr>
          <p:spPr>
            <a:xfrm rot="10800000">
              <a:off x="1543050" y="4972050"/>
              <a:ext cx="1676400" cy="342900"/>
            </a:xfrm>
            <a:prstGeom prst="trapezoid">
              <a:avLst>
                <a:gd name="adj" fmla="val 33333"/>
              </a:avLst>
            </a:prstGeom>
            <a:solidFill>
              <a:srgbClr val="9B3824"/>
            </a:solidFill>
            <a:ln>
              <a:noFill/>
            </a:ln>
          </p:spPr>
        </p:sp>
        <p:sp>
          <p:nvSpPr>
            <p:cNvPr id="165" name="Freeform 165"/>
            <p:cNvSpPr/>
            <p:nvPr/>
          </p:nvSpPr>
          <p:spPr>
            <a:xfrm rot="10800000">
              <a:off x="1657350" y="5372100"/>
              <a:ext cx="1447800" cy="342900"/>
            </a:xfrm>
            <a:prstGeom prst="trapezoid">
              <a:avLst>
                <a:gd name="adj" fmla="val 33333"/>
              </a:avLst>
            </a:prstGeom>
            <a:solidFill>
              <a:srgbClr val="E04C2E"/>
            </a:solidFill>
            <a:ln>
              <a:noFill/>
            </a:ln>
          </p:spPr>
        </p:sp>
        <p:sp>
          <p:nvSpPr>
            <p:cNvPr id="166" name="Freeform 166"/>
            <p:cNvSpPr/>
            <p:nvPr/>
          </p:nvSpPr>
          <p:spPr>
            <a:xfrm rot="10800000">
              <a:off x="1771650" y="5772150"/>
              <a:ext cx="1219200" cy="342900"/>
            </a:xfrm>
            <a:prstGeom prst="trapezoid">
              <a:avLst>
                <a:gd name="adj" fmla="val 33333"/>
              </a:avLst>
            </a:prstGeom>
            <a:solidFill>
              <a:srgbClr val="E8735B"/>
            </a:solidFill>
            <a:ln>
              <a:noFill/>
            </a:ln>
          </p:spPr>
        </p:sp>
        <p:sp>
          <p:nvSpPr>
            <p:cNvPr id="167" name="Freeform 167"/>
            <p:cNvSpPr/>
            <p:nvPr/>
          </p:nvSpPr>
          <p:spPr>
            <a:xfrm rot="10800000">
              <a:off x="1885950" y="6172200"/>
              <a:ext cx="990600" cy="342900"/>
            </a:xfrm>
            <a:prstGeom prst="trapezoid">
              <a:avLst>
                <a:gd name="adj" fmla="val 33333"/>
              </a:avLst>
            </a:prstGeom>
            <a:solidFill>
              <a:srgbClr val="DC9C8F"/>
            </a:solidFill>
            <a:ln>
              <a:noFill/>
            </a:ln>
          </p:spPr>
        </p:sp>
        <p:sp>
          <p:nvSpPr>
            <p:cNvPr id="168" name="TextBox 168"/>
            <p:cNvSpPr txBox="1"/>
            <p:nvPr/>
          </p:nvSpPr>
          <p:spPr>
            <a:xfrm>
              <a:off x="2166581" y="4684395"/>
              <a:ext cx="42933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2,460​</a:t>
              </a:r>
            </a:p>
          </p:txBody>
        </p:sp>
        <p:sp>
          <p:nvSpPr>
            <p:cNvPr id="169" name="TextBox 169"/>
            <p:cNvSpPr txBox="1"/>
            <p:nvPr/>
          </p:nvSpPr>
          <p:spPr>
            <a:xfrm>
              <a:off x="2166581" y="5084445"/>
              <a:ext cx="42933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1,820​</a:t>
              </a:r>
            </a:p>
          </p:txBody>
        </p:sp>
        <p:sp>
          <p:nvSpPr>
            <p:cNvPr id="170" name="TextBox 170"/>
            <p:cNvSpPr txBox="1"/>
            <p:nvPr/>
          </p:nvSpPr>
          <p:spPr>
            <a:xfrm>
              <a:off x="2166581" y="5484495"/>
              <a:ext cx="42933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1,120​</a:t>
              </a:r>
            </a:p>
          </p:txBody>
        </p:sp>
        <p:sp>
          <p:nvSpPr>
            <p:cNvPr id="171" name="TextBox 171"/>
            <p:cNvSpPr txBox="1"/>
            <p:nvPr/>
          </p:nvSpPr>
          <p:spPr>
            <a:xfrm>
              <a:off x="2236550" y="5884545"/>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680​</a:t>
              </a:r>
            </a:p>
          </p:txBody>
        </p:sp>
        <p:sp>
          <p:nvSpPr>
            <p:cNvPr id="172" name="TextBox 172"/>
            <p:cNvSpPr txBox="1"/>
            <p:nvPr/>
          </p:nvSpPr>
          <p:spPr>
            <a:xfrm>
              <a:off x="2236550" y="6284595"/>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420​</a:t>
              </a:r>
            </a:p>
          </p:txBody>
        </p:sp>
        <p:sp>
          <p:nvSpPr>
            <p:cNvPr id="173" name="TextBox 173"/>
            <p:cNvSpPr txBox="1"/>
            <p:nvPr/>
          </p:nvSpPr>
          <p:spPr>
            <a:xfrm>
              <a:off x="376238" y="4704636"/>
              <a:ext cx="583006"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渠道推荐线索</a:t>
              </a:r>
            </a:p>
          </p:txBody>
        </p:sp>
        <p:sp>
          <p:nvSpPr>
            <p:cNvPr id="174" name="TextBox 174"/>
            <p:cNvSpPr txBox="1"/>
            <p:nvPr/>
          </p:nvSpPr>
          <p:spPr>
            <a:xfrm>
              <a:off x="376238" y="5104686"/>
              <a:ext cx="583006"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验证有效线索</a:t>
              </a:r>
            </a:p>
          </p:txBody>
        </p:sp>
        <p:sp>
          <p:nvSpPr>
            <p:cNvPr id="175" name="TextBox 175"/>
            <p:cNvSpPr txBox="1"/>
            <p:nvPr/>
          </p:nvSpPr>
          <p:spPr>
            <a:xfrm>
              <a:off x="376238" y="5504736"/>
              <a:ext cx="391846"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意向客户</a:t>
              </a:r>
            </a:p>
          </p:txBody>
        </p:sp>
        <p:sp>
          <p:nvSpPr>
            <p:cNvPr id="176" name="TextBox 176"/>
            <p:cNvSpPr txBox="1"/>
            <p:nvPr/>
          </p:nvSpPr>
          <p:spPr>
            <a:xfrm>
              <a:off x="376238" y="5904786"/>
              <a:ext cx="391846"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开户客户</a:t>
              </a:r>
            </a:p>
          </p:txBody>
        </p:sp>
        <p:sp>
          <p:nvSpPr>
            <p:cNvPr id="177" name="TextBox 177"/>
            <p:cNvSpPr txBox="1"/>
            <p:nvPr/>
          </p:nvSpPr>
          <p:spPr>
            <a:xfrm>
              <a:off x="376238" y="6304836"/>
              <a:ext cx="391846"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授信客户</a:t>
              </a:r>
            </a:p>
          </p:txBody>
        </p:sp>
        <p:sp>
          <p:nvSpPr>
            <p:cNvPr id="178" name="TextBox 178"/>
            <p:cNvSpPr txBox="1"/>
            <p:nvPr/>
          </p:nvSpPr>
          <p:spPr>
            <a:xfrm>
              <a:off x="3481388" y="4708684"/>
              <a:ext cx="59873" cy="133350"/>
            </a:xfrm>
            <a:prstGeom prst="rect">
              <a:avLst/>
            </a:prstGeom>
            <a:noFill/>
            <a:ln>
              <a:noFill/>
            </a:ln>
          </p:spPr>
          <p:txBody>
            <a:bodyPr wrap="none" lIns="0" tIns="0" rIns="0" bIns="0" anchor="t" anchorCtr="0">
              <a:spAutoFit/>
            </a:bodyPr>
            <a:lstStyle/>
            <a:p>
              <a:pPr algn="l"/>
              <a:r>
                <a:rPr lang="zh-CN" sz="680" dirty="0">
                  <a:solidFill>
                    <a:srgbClr val="BEA09A"/>
                  </a:solidFill>
                  <a:latin typeface="+mn-lt"/>
                  <a:ea typeface="+mn-ea"/>
                  <a:cs typeface="+mn-cs"/>
                </a:rPr>
                <a:t>—</a:t>
              </a:r>
            </a:p>
          </p:txBody>
        </p:sp>
        <p:sp>
          <p:nvSpPr>
            <p:cNvPr id="179" name="TextBox 179"/>
            <p:cNvSpPr txBox="1"/>
            <p:nvPr/>
          </p:nvSpPr>
          <p:spPr>
            <a:xfrm>
              <a:off x="3481388" y="5108734"/>
              <a:ext cx="645510"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 xml:space="preserve">有效率 </a:t>
              </a:r>
              <a:r>
                <a:rPr lang="zh-CN" sz="680" b="1" dirty="0">
                  <a:solidFill>
                    <a:srgbClr val="E04C2E"/>
                  </a:solidFill>
                  <a:latin typeface="+mn-lt"/>
                  <a:ea typeface="+mn-ea"/>
                  <a:cs typeface="+mn-cs"/>
                </a:rPr>
                <a:t>74.0%</a:t>
              </a:r>
              <a:r>
                <a:rPr lang="zh-CN" sz="680" dirty="0">
                  <a:solidFill>
                    <a:srgbClr val="70504A"/>
                  </a:solidFill>
                  <a:latin typeface="+mn-lt"/>
                  <a:ea typeface="+mn-ea"/>
                  <a:cs typeface="+mn-cs"/>
                </a:rPr>
                <a:t>​</a:t>
              </a:r>
            </a:p>
          </p:txBody>
        </p:sp>
        <p:sp>
          <p:nvSpPr>
            <p:cNvPr id="180" name="TextBox 180"/>
            <p:cNvSpPr txBox="1"/>
            <p:nvPr/>
          </p:nvSpPr>
          <p:spPr>
            <a:xfrm>
              <a:off x="3481388" y="5508784"/>
              <a:ext cx="645510"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 xml:space="preserve">转化率 </a:t>
              </a:r>
              <a:r>
                <a:rPr lang="zh-CN" sz="680" b="1" dirty="0">
                  <a:solidFill>
                    <a:srgbClr val="E04C2E"/>
                  </a:solidFill>
                  <a:latin typeface="+mn-lt"/>
                  <a:ea typeface="+mn-ea"/>
                  <a:cs typeface="+mn-cs"/>
                </a:rPr>
                <a:t>61.5%</a:t>
              </a:r>
              <a:r>
                <a:rPr lang="zh-CN" sz="680" dirty="0">
                  <a:solidFill>
                    <a:srgbClr val="70504A"/>
                  </a:solidFill>
                  <a:latin typeface="+mn-lt"/>
                  <a:ea typeface="+mn-ea"/>
                  <a:cs typeface="+mn-cs"/>
                </a:rPr>
                <a:t>​</a:t>
              </a:r>
            </a:p>
          </p:txBody>
        </p:sp>
        <p:sp>
          <p:nvSpPr>
            <p:cNvPr id="181" name="TextBox 181"/>
            <p:cNvSpPr txBox="1"/>
            <p:nvPr/>
          </p:nvSpPr>
          <p:spPr>
            <a:xfrm>
              <a:off x="3481388" y="5908834"/>
              <a:ext cx="645510"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 xml:space="preserve">转化率 </a:t>
              </a:r>
              <a:r>
                <a:rPr lang="zh-CN" sz="680" b="1" dirty="0">
                  <a:solidFill>
                    <a:srgbClr val="E04C2E"/>
                  </a:solidFill>
                  <a:latin typeface="+mn-lt"/>
                  <a:ea typeface="+mn-ea"/>
                  <a:cs typeface="+mn-cs"/>
                </a:rPr>
                <a:t>60.7%</a:t>
              </a:r>
              <a:r>
                <a:rPr lang="zh-CN" sz="680" dirty="0">
                  <a:solidFill>
                    <a:srgbClr val="70504A"/>
                  </a:solidFill>
                  <a:latin typeface="+mn-lt"/>
                  <a:ea typeface="+mn-ea"/>
                  <a:cs typeface="+mn-cs"/>
                </a:rPr>
                <a:t>​</a:t>
              </a:r>
            </a:p>
          </p:txBody>
        </p:sp>
        <p:sp>
          <p:nvSpPr>
            <p:cNvPr id="182" name="TextBox 182"/>
            <p:cNvSpPr txBox="1"/>
            <p:nvPr/>
          </p:nvSpPr>
          <p:spPr>
            <a:xfrm>
              <a:off x="3481388" y="6308884"/>
              <a:ext cx="645510"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 xml:space="preserve">转化率 </a:t>
              </a:r>
              <a:r>
                <a:rPr lang="zh-CN" sz="680" b="1" dirty="0">
                  <a:solidFill>
                    <a:srgbClr val="E04C2E"/>
                  </a:solidFill>
                  <a:latin typeface="+mn-lt"/>
                  <a:ea typeface="+mn-ea"/>
                  <a:cs typeface="+mn-cs"/>
                </a:rPr>
                <a:t>61.8%</a:t>
              </a:r>
              <a:r>
                <a:rPr lang="zh-CN" sz="680" dirty="0">
                  <a:solidFill>
                    <a:srgbClr val="70504A"/>
                  </a:solidFill>
                  <a:latin typeface="+mn-lt"/>
                  <a:ea typeface="+mn-ea"/>
                  <a:cs typeface="+mn-cs"/>
                </a:rPr>
                <a:t>​</a:t>
              </a:r>
            </a:p>
          </p:txBody>
        </p:sp>
      </p:grpSp>
      <p:grpSp>
        <p:nvGrpSpPr>
          <p:cNvPr id="275" name="channel-table"/>
          <p:cNvGrpSpPr/>
          <p:nvPr/>
        </p:nvGrpSpPr>
        <p:grpSpPr>
          <a:xfrm>
            <a:off x="4438650" y="4191000"/>
            <a:ext cx="7524750" cy="2476500"/>
            <a:chOff x="4438650" y="4191000"/>
            <a:chExt cx="7524750" cy="2476500"/>
          </a:xfrm>
        </p:grpSpPr>
        <p:sp>
          <p:nvSpPr>
            <p:cNvPr id="184" name="Rectangle 184"/>
            <p:cNvSpPr/>
            <p:nvPr/>
          </p:nvSpPr>
          <p:spPr>
            <a:xfrm>
              <a:off x="4438650" y="4191000"/>
              <a:ext cx="7524750" cy="2476500"/>
            </a:xfrm>
            <a:prstGeom prst="roundRect">
              <a:avLst>
                <a:gd name="adj" fmla="val 2308"/>
              </a:avLst>
            </a:prstGeom>
            <a:solidFill>
              <a:srgbClr val="FFFFFF"/>
            </a:solidFill>
            <a:ln w="9525">
              <a:solidFill>
                <a:srgbClr val="C9D6E9"/>
              </a:solidFill>
            </a:ln>
          </p:spPr>
        </p:sp>
        <p:sp>
          <p:nvSpPr>
            <p:cNvPr id="185" name="Rectangle 185"/>
            <p:cNvSpPr/>
            <p:nvPr/>
          </p:nvSpPr>
          <p:spPr>
            <a:xfrm>
              <a:off x="4438650" y="4191000"/>
              <a:ext cx="1428750" cy="209550"/>
            </a:xfrm>
            <a:prstGeom prst="rect">
              <a:avLst/>
            </a:prstGeom>
            <a:solidFill>
              <a:srgbClr val="69281B"/>
            </a:solidFill>
            <a:ln>
              <a:noFill/>
            </a:ln>
          </p:spPr>
        </p:sp>
        <p:sp>
          <p:nvSpPr>
            <p:cNvPr id="186" name="TextBox 186"/>
            <p:cNvSpPr txBox="1"/>
            <p:nvPr/>
          </p:nvSpPr>
          <p:spPr>
            <a:xfrm>
              <a:off x="4761903" y="4244816"/>
              <a:ext cx="78224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渠道效能分析表</a:t>
              </a:r>
            </a:p>
          </p:txBody>
        </p:sp>
        <p:sp>
          <p:nvSpPr>
            <p:cNvPr id="187" name="Rectangle 187"/>
            <p:cNvSpPr/>
            <p:nvPr/>
          </p:nvSpPr>
          <p:spPr>
            <a:xfrm>
              <a:off x="4514850" y="4476750"/>
              <a:ext cx="7372350" cy="209550"/>
            </a:xfrm>
            <a:prstGeom prst="rect">
              <a:avLst/>
            </a:prstGeom>
            <a:solidFill>
              <a:srgbClr val="EAF1FB"/>
            </a:solidFill>
            <a:ln>
              <a:noFill/>
            </a:ln>
          </p:spPr>
        </p:sp>
        <p:sp>
          <p:nvSpPr>
            <p:cNvPr id="188" name="TextBox 188"/>
            <p:cNvSpPr txBox="1"/>
            <p:nvPr/>
          </p:nvSpPr>
          <p:spPr>
            <a:xfrm>
              <a:off x="4986007" y="4542711"/>
              <a:ext cx="200685"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渠道</a:t>
              </a:r>
            </a:p>
          </p:txBody>
        </p:sp>
        <p:sp>
          <p:nvSpPr>
            <p:cNvPr id="189" name="TextBox 189"/>
            <p:cNvSpPr txBox="1"/>
            <p:nvPr/>
          </p:nvSpPr>
          <p:spPr>
            <a:xfrm>
              <a:off x="5928487" y="4542711"/>
              <a:ext cx="487426"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线索（条）</a:t>
              </a:r>
            </a:p>
          </p:txBody>
        </p:sp>
        <p:sp>
          <p:nvSpPr>
            <p:cNvPr id="190" name="TextBox 190"/>
            <p:cNvSpPr txBox="1"/>
            <p:nvPr/>
          </p:nvSpPr>
          <p:spPr>
            <a:xfrm>
              <a:off x="6966712" y="4542711"/>
              <a:ext cx="487426"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开户（户）</a:t>
              </a:r>
            </a:p>
          </p:txBody>
        </p:sp>
        <p:sp>
          <p:nvSpPr>
            <p:cNvPr id="191" name="TextBox 191"/>
            <p:cNvSpPr txBox="1"/>
            <p:nvPr/>
          </p:nvSpPr>
          <p:spPr>
            <a:xfrm>
              <a:off x="8004937" y="4542711"/>
              <a:ext cx="487426"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授信（户）</a:t>
              </a:r>
            </a:p>
          </p:txBody>
        </p:sp>
        <p:sp>
          <p:nvSpPr>
            <p:cNvPr id="192" name="TextBox 192"/>
            <p:cNvSpPr txBox="1"/>
            <p:nvPr/>
          </p:nvSpPr>
          <p:spPr>
            <a:xfrm>
              <a:off x="8899792" y="4542711"/>
              <a:ext cx="774167"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综合贡献（万元）</a:t>
              </a:r>
            </a:p>
          </p:txBody>
        </p:sp>
        <p:sp>
          <p:nvSpPr>
            <p:cNvPr id="193" name="TextBox 193"/>
            <p:cNvSpPr txBox="1"/>
            <p:nvPr/>
          </p:nvSpPr>
          <p:spPr>
            <a:xfrm>
              <a:off x="10081387" y="4542711"/>
              <a:ext cx="487426"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线索转化率</a:t>
              </a:r>
            </a:p>
          </p:txBody>
        </p:sp>
        <p:sp>
          <p:nvSpPr>
            <p:cNvPr id="194" name="TextBox 194"/>
            <p:cNvSpPr txBox="1"/>
            <p:nvPr/>
          </p:nvSpPr>
          <p:spPr>
            <a:xfrm>
              <a:off x="11071822" y="4542711"/>
              <a:ext cx="583006"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累计贡献占比</a:t>
              </a:r>
            </a:p>
          </p:txBody>
        </p:sp>
        <p:grpSp>
          <p:nvGrpSpPr>
            <p:cNvPr id="201" name="Group 201"/>
            <p:cNvGrpSpPr/>
            <p:nvPr/>
          </p:nvGrpSpPr>
          <p:grpSpPr>
            <a:xfrm>
              <a:off x="4626769" y="4798219"/>
              <a:ext cx="100012" cy="100012"/>
              <a:chOff x="4626769" y="4798219"/>
              <a:chExt cx="100012" cy="100012"/>
            </a:xfrm>
          </p:grpSpPr>
          <p:sp>
            <p:nvSpPr>
              <p:cNvPr id="195" name="Freeform 195"/>
              <p:cNvSpPr/>
              <p:nvPr/>
            </p:nvSpPr>
            <p:spPr>
              <a:xfrm>
                <a:off x="4665662" y="48426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04C2E"/>
                </a:solidFill>
              </a:ln>
            </p:spPr>
          </p:sp>
          <p:sp>
            <p:nvSpPr>
              <p:cNvPr id="196" name="Freeform 196"/>
              <p:cNvSpPr/>
              <p:nvPr/>
            </p:nvSpPr>
            <p:spPr>
              <a:xfrm>
                <a:off x="4654550" y="4881562"/>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E04C2E"/>
                </a:solidFill>
              </a:ln>
            </p:spPr>
          </p:sp>
          <p:sp>
            <p:nvSpPr>
              <p:cNvPr id="197" name="Freeform 197"/>
              <p:cNvSpPr/>
              <p:nvPr/>
            </p:nvSpPr>
            <p:spPr>
              <a:xfrm>
                <a:off x="4693444" y="479821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04C2E"/>
                </a:solidFill>
              </a:ln>
            </p:spPr>
          </p:sp>
          <p:sp>
            <p:nvSpPr>
              <p:cNvPr id="198" name="Freeform 198"/>
              <p:cNvSpPr/>
              <p:nvPr/>
            </p:nvSpPr>
            <p:spPr>
              <a:xfrm>
                <a:off x="4704556" y="4837112"/>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E04C2E"/>
                </a:solidFill>
              </a:ln>
            </p:spPr>
          </p:sp>
          <p:sp>
            <p:nvSpPr>
              <p:cNvPr id="199" name="Freeform 199"/>
              <p:cNvSpPr/>
              <p:nvPr/>
            </p:nvSpPr>
            <p:spPr>
              <a:xfrm>
                <a:off x="4637881" y="479821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04C2E"/>
                </a:solidFill>
              </a:ln>
            </p:spPr>
          </p:sp>
          <p:sp>
            <p:nvSpPr>
              <p:cNvPr id="200" name="Freeform 200"/>
              <p:cNvSpPr/>
              <p:nvPr/>
            </p:nvSpPr>
            <p:spPr>
              <a:xfrm>
                <a:off x="4626769" y="4837112"/>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E04C2E"/>
                </a:solidFill>
              </a:ln>
            </p:spPr>
          </p:sp>
        </p:grpSp>
        <p:sp>
          <p:nvSpPr>
            <p:cNvPr id="202" name="TextBox 202"/>
            <p:cNvSpPr txBox="1"/>
            <p:nvPr/>
          </p:nvSpPr>
          <p:spPr>
            <a:xfrm>
              <a:off x="4814888" y="4805362"/>
              <a:ext cx="312420" cy="147638"/>
            </a:xfrm>
            <a:prstGeom prst="rect">
              <a:avLst/>
            </a:prstGeom>
            <a:noFill/>
            <a:ln>
              <a:noFill/>
            </a:ln>
          </p:spPr>
          <p:txBody>
            <a:bodyPr wrap="none" lIns="0" tIns="0" rIns="0" bIns="0" anchor="t" anchorCtr="0">
              <a:spAutoFit/>
            </a:bodyPr>
            <a:lstStyle/>
            <a:p>
              <a:pPr algn="l"/>
              <a:r>
                <a:rPr lang="zh-CN" sz="750" dirty="0">
                  <a:solidFill>
                    <a:srgbClr val="5F3A33"/>
                  </a:solidFill>
                  <a:latin typeface="+mn-lt"/>
                  <a:ea typeface="+mn-ea"/>
                  <a:cs typeface="+mn-cs"/>
                </a:rPr>
                <a:t>商协会</a:t>
              </a:r>
            </a:p>
          </p:txBody>
        </p:sp>
        <p:sp>
          <p:nvSpPr>
            <p:cNvPr id="203" name="TextBox 203"/>
            <p:cNvSpPr txBox="1"/>
            <p:nvPr/>
          </p:nvSpPr>
          <p:spPr>
            <a:xfrm>
              <a:off x="6000845" y="4805362"/>
              <a:ext cx="342710"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1,020​</a:t>
              </a:r>
            </a:p>
          </p:txBody>
        </p:sp>
        <p:sp>
          <p:nvSpPr>
            <p:cNvPr id="204" name="TextBox 204"/>
            <p:cNvSpPr txBox="1"/>
            <p:nvPr/>
          </p:nvSpPr>
          <p:spPr>
            <a:xfrm>
              <a:off x="7094601" y="48053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320​</a:t>
              </a:r>
            </a:p>
          </p:txBody>
        </p:sp>
        <p:sp>
          <p:nvSpPr>
            <p:cNvPr id="205" name="TextBox 205"/>
            <p:cNvSpPr txBox="1"/>
            <p:nvPr/>
          </p:nvSpPr>
          <p:spPr>
            <a:xfrm>
              <a:off x="8132826" y="48053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198​</a:t>
              </a:r>
            </a:p>
          </p:txBody>
        </p:sp>
        <p:sp>
          <p:nvSpPr>
            <p:cNvPr id="206" name="TextBox 206"/>
            <p:cNvSpPr txBox="1"/>
            <p:nvPr/>
          </p:nvSpPr>
          <p:spPr>
            <a:xfrm>
              <a:off x="9087755" y="4805362"/>
              <a:ext cx="398240"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12,860​</a:t>
              </a:r>
            </a:p>
          </p:txBody>
        </p:sp>
        <p:sp>
          <p:nvSpPr>
            <p:cNvPr id="207" name="TextBox 207"/>
            <p:cNvSpPr txBox="1"/>
            <p:nvPr/>
          </p:nvSpPr>
          <p:spPr>
            <a:xfrm>
              <a:off x="10143649" y="480536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31.4%​</a:t>
              </a:r>
            </a:p>
          </p:txBody>
        </p:sp>
        <p:sp>
          <p:nvSpPr>
            <p:cNvPr id="208" name="TextBox 208"/>
            <p:cNvSpPr txBox="1"/>
            <p:nvPr/>
          </p:nvSpPr>
          <p:spPr>
            <a:xfrm>
              <a:off x="11173039" y="4805362"/>
              <a:ext cx="380571"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36.8%​</a:t>
              </a:r>
            </a:p>
          </p:txBody>
        </p:sp>
        <p:sp>
          <p:nvSpPr>
            <p:cNvPr id="209" name="Line 209"/>
            <p:cNvSpPr/>
            <p:nvPr/>
          </p:nvSpPr>
          <p:spPr>
            <a:xfrm>
              <a:off x="4514850" y="4972050"/>
              <a:ext cx="7372350" cy="9525"/>
            </a:xfrm>
            <a:custGeom>
              <a:avLst/>
              <a:gdLst/>
              <a:ahLst/>
              <a:cxnLst/>
              <a:rect l="l" t="t" r="r" b="b"/>
              <a:pathLst>
                <a:path w="7372350" h="9525">
                  <a:moveTo>
                    <a:pt x="0" y="0"/>
                  </a:moveTo>
                  <a:lnTo>
                    <a:pt x="7372350" y="0"/>
                  </a:lnTo>
                </a:path>
              </a:pathLst>
            </a:custGeom>
            <a:noFill/>
            <a:ln w="9525">
              <a:solidFill>
                <a:srgbClr val="EDF2FA"/>
              </a:solidFill>
            </a:ln>
          </p:spPr>
        </p:sp>
        <p:grpSp>
          <p:nvGrpSpPr>
            <p:cNvPr id="218" name="Group 218"/>
            <p:cNvGrpSpPr/>
            <p:nvPr/>
          </p:nvGrpSpPr>
          <p:grpSpPr>
            <a:xfrm>
              <a:off x="4626769" y="5083969"/>
              <a:ext cx="103981" cy="109537"/>
              <a:chOff x="4626769" y="5083969"/>
              <a:chExt cx="103981" cy="109537"/>
            </a:xfrm>
          </p:grpSpPr>
          <p:sp>
            <p:nvSpPr>
              <p:cNvPr id="210" name="Freeform 210"/>
              <p:cNvSpPr/>
              <p:nvPr/>
            </p:nvSpPr>
            <p:spPr>
              <a:xfrm>
                <a:off x="4626769" y="5183981"/>
                <a:ext cx="100012" cy="9525"/>
              </a:xfrm>
              <a:custGeom>
                <a:avLst/>
                <a:gdLst/>
                <a:ahLst/>
                <a:cxnLst/>
                <a:rect l="l" t="t" r="r" b="b"/>
                <a:pathLst>
                  <a:path w="100012" h="9525">
                    <a:moveTo>
                      <a:pt x="0" y="0"/>
                    </a:moveTo>
                    <a:lnTo>
                      <a:pt x="100012" y="0"/>
                    </a:lnTo>
                  </a:path>
                </a:pathLst>
              </a:custGeom>
              <a:noFill/>
              <a:ln w="11112">
                <a:solidFill>
                  <a:srgbClr val="E04C2E"/>
                </a:solidFill>
              </a:ln>
            </p:spPr>
          </p:sp>
          <p:sp>
            <p:nvSpPr>
              <p:cNvPr id="211" name="Freeform 211"/>
              <p:cNvSpPr/>
              <p:nvPr/>
            </p:nvSpPr>
            <p:spPr>
              <a:xfrm>
                <a:off x="4626769" y="5122862"/>
                <a:ext cx="100012" cy="9525"/>
              </a:xfrm>
              <a:custGeom>
                <a:avLst/>
                <a:gdLst/>
                <a:ahLst/>
                <a:cxnLst/>
                <a:rect l="l" t="t" r="r" b="b"/>
                <a:pathLst>
                  <a:path w="100012" h="9525">
                    <a:moveTo>
                      <a:pt x="0" y="0"/>
                    </a:moveTo>
                    <a:lnTo>
                      <a:pt x="100012" y="0"/>
                    </a:lnTo>
                  </a:path>
                </a:pathLst>
              </a:custGeom>
              <a:noFill/>
              <a:ln w="11112">
                <a:solidFill>
                  <a:srgbClr val="E04C2E"/>
                </a:solidFill>
              </a:ln>
            </p:spPr>
          </p:sp>
          <p:sp>
            <p:nvSpPr>
              <p:cNvPr id="212" name="Freeform 212"/>
              <p:cNvSpPr/>
              <p:nvPr/>
            </p:nvSpPr>
            <p:spPr>
              <a:xfrm>
                <a:off x="4637881" y="5083969"/>
                <a:ext cx="77787" cy="16669"/>
              </a:xfrm>
              <a:custGeom>
                <a:avLst/>
                <a:gdLst/>
                <a:ahLst/>
                <a:cxnLst/>
                <a:rect l="l" t="t" r="r" b="b"/>
                <a:pathLst>
                  <a:path w="77787" h="16669">
                    <a:moveTo>
                      <a:pt x="0" y="16669"/>
                    </a:moveTo>
                    <a:lnTo>
                      <a:pt x="38894" y="0"/>
                    </a:lnTo>
                    <a:lnTo>
                      <a:pt x="77787" y="16669"/>
                    </a:lnTo>
                  </a:path>
                </a:pathLst>
              </a:custGeom>
              <a:noFill/>
              <a:ln w="11112">
                <a:solidFill>
                  <a:srgbClr val="E04C2E"/>
                </a:solidFill>
              </a:ln>
            </p:spPr>
          </p:sp>
          <p:sp>
            <p:nvSpPr>
              <p:cNvPr id="213" name="Freeform 213"/>
              <p:cNvSpPr/>
              <p:nvPr/>
            </p:nvSpPr>
            <p:spPr>
              <a:xfrm>
                <a:off x="4632325" y="5122862"/>
                <a:ext cx="9525" cy="61119"/>
              </a:xfrm>
              <a:custGeom>
                <a:avLst/>
                <a:gdLst/>
                <a:ahLst/>
                <a:cxnLst/>
                <a:rect l="l" t="t" r="r" b="b"/>
                <a:pathLst>
                  <a:path w="9525" h="61119">
                    <a:moveTo>
                      <a:pt x="0" y="0"/>
                    </a:moveTo>
                    <a:lnTo>
                      <a:pt x="0" y="61119"/>
                    </a:lnTo>
                  </a:path>
                </a:pathLst>
              </a:custGeom>
              <a:noFill/>
              <a:ln w="11112">
                <a:solidFill>
                  <a:srgbClr val="E04C2E"/>
                </a:solidFill>
              </a:ln>
            </p:spPr>
          </p:sp>
          <p:sp>
            <p:nvSpPr>
              <p:cNvPr id="214" name="Freeform 214"/>
              <p:cNvSpPr/>
              <p:nvPr/>
            </p:nvSpPr>
            <p:spPr>
              <a:xfrm>
                <a:off x="4721225" y="5122862"/>
                <a:ext cx="9525" cy="61119"/>
              </a:xfrm>
              <a:custGeom>
                <a:avLst/>
                <a:gdLst/>
                <a:ahLst/>
                <a:cxnLst/>
                <a:rect l="l" t="t" r="r" b="b"/>
                <a:pathLst>
                  <a:path w="9525" h="61119">
                    <a:moveTo>
                      <a:pt x="0" y="0"/>
                    </a:moveTo>
                    <a:lnTo>
                      <a:pt x="0" y="61119"/>
                    </a:lnTo>
                  </a:path>
                </a:pathLst>
              </a:custGeom>
              <a:noFill/>
              <a:ln w="11112">
                <a:solidFill>
                  <a:srgbClr val="E04C2E"/>
                </a:solidFill>
              </a:ln>
            </p:spPr>
          </p:sp>
          <p:sp>
            <p:nvSpPr>
              <p:cNvPr id="215" name="Freeform 215"/>
              <p:cNvSpPr/>
              <p:nvPr/>
            </p:nvSpPr>
            <p:spPr>
              <a:xfrm>
                <a:off x="4654550" y="5145087"/>
                <a:ext cx="9525" cy="16669"/>
              </a:xfrm>
              <a:custGeom>
                <a:avLst/>
                <a:gdLst/>
                <a:ahLst/>
                <a:cxnLst/>
                <a:rect l="l" t="t" r="r" b="b"/>
                <a:pathLst>
                  <a:path w="9525" h="16669">
                    <a:moveTo>
                      <a:pt x="0" y="0"/>
                    </a:moveTo>
                    <a:lnTo>
                      <a:pt x="0" y="16669"/>
                    </a:lnTo>
                  </a:path>
                </a:pathLst>
              </a:custGeom>
              <a:noFill/>
              <a:ln w="11112">
                <a:solidFill>
                  <a:srgbClr val="E04C2E"/>
                </a:solidFill>
              </a:ln>
            </p:spPr>
          </p:sp>
          <p:sp>
            <p:nvSpPr>
              <p:cNvPr id="216" name="Freeform 216"/>
              <p:cNvSpPr/>
              <p:nvPr/>
            </p:nvSpPr>
            <p:spPr>
              <a:xfrm>
                <a:off x="4676775" y="5145087"/>
                <a:ext cx="9525" cy="16669"/>
              </a:xfrm>
              <a:custGeom>
                <a:avLst/>
                <a:gdLst/>
                <a:ahLst/>
                <a:cxnLst/>
                <a:rect l="l" t="t" r="r" b="b"/>
                <a:pathLst>
                  <a:path w="9525" h="16669">
                    <a:moveTo>
                      <a:pt x="0" y="0"/>
                    </a:moveTo>
                    <a:lnTo>
                      <a:pt x="0" y="16669"/>
                    </a:lnTo>
                  </a:path>
                </a:pathLst>
              </a:custGeom>
              <a:noFill/>
              <a:ln w="11112">
                <a:solidFill>
                  <a:srgbClr val="E04C2E"/>
                </a:solidFill>
              </a:ln>
            </p:spPr>
          </p:sp>
          <p:sp>
            <p:nvSpPr>
              <p:cNvPr id="217" name="Freeform 217"/>
              <p:cNvSpPr/>
              <p:nvPr/>
            </p:nvSpPr>
            <p:spPr>
              <a:xfrm>
                <a:off x="4699000" y="5145087"/>
                <a:ext cx="9525" cy="16669"/>
              </a:xfrm>
              <a:custGeom>
                <a:avLst/>
                <a:gdLst/>
                <a:ahLst/>
                <a:cxnLst/>
                <a:rect l="l" t="t" r="r" b="b"/>
                <a:pathLst>
                  <a:path w="9525" h="16669">
                    <a:moveTo>
                      <a:pt x="0" y="0"/>
                    </a:moveTo>
                    <a:lnTo>
                      <a:pt x="0" y="16669"/>
                    </a:lnTo>
                  </a:path>
                </a:pathLst>
              </a:custGeom>
              <a:noFill/>
              <a:ln w="11112">
                <a:solidFill>
                  <a:srgbClr val="E04C2E"/>
                </a:solidFill>
              </a:ln>
            </p:spPr>
          </p:sp>
        </p:grpSp>
        <p:sp>
          <p:nvSpPr>
            <p:cNvPr id="219" name="TextBox 219"/>
            <p:cNvSpPr txBox="1"/>
            <p:nvPr/>
          </p:nvSpPr>
          <p:spPr>
            <a:xfrm>
              <a:off x="4814888" y="5091112"/>
              <a:ext cx="413385" cy="147638"/>
            </a:xfrm>
            <a:prstGeom prst="rect">
              <a:avLst/>
            </a:prstGeom>
            <a:noFill/>
            <a:ln>
              <a:noFill/>
            </a:ln>
          </p:spPr>
          <p:txBody>
            <a:bodyPr wrap="none" lIns="0" tIns="0" rIns="0" bIns="0" anchor="t" anchorCtr="0">
              <a:spAutoFit/>
            </a:bodyPr>
            <a:lstStyle/>
            <a:p>
              <a:pPr algn="l"/>
              <a:r>
                <a:rPr lang="zh-CN" sz="750" dirty="0">
                  <a:solidFill>
                    <a:srgbClr val="5F3A33"/>
                  </a:solidFill>
                  <a:latin typeface="+mn-lt"/>
                  <a:ea typeface="+mn-ea"/>
                  <a:cs typeface="+mn-cs"/>
                </a:rPr>
                <a:t>政府部门</a:t>
              </a:r>
            </a:p>
          </p:txBody>
        </p:sp>
        <p:sp>
          <p:nvSpPr>
            <p:cNvPr id="220" name="TextBox 220"/>
            <p:cNvSpPr txBox="1"/>
            <p:nvPr/>
          </p:nvSpPr>
          <p:spPr>
            <a:xfrm>
              <a:off x="6056376" y="509111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620​</a:t>
              </a:r>
            </a:p>
          </p:txBody>
        </p:sp>
        <p:sp>
          <p:nvSpPr>
            <p:cNvPr id="221" name="TextBox 221"/>
            <p:cNvSpPr txBox="1"/>
            <p:nvPr/>
          </p:nvSpPr>
          <p:spPr>
            <a:xfrm>
              <a:off x="7094601" y="509111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190​</a:t>
              </a:r>
            </a:p>
          </p:txBody>
        </p:sp>
        <p:sp>
          <p:nvSpPr>
            <p:cNvPr id="222" name="TextBox 222"/>
            <p:cNvSpPr txBox="1"/>
            <p:nvPr/>
          </p:nvSpPr>
          <p:spPr>
            <a:xfrm>
              <a:off x="8132826" y="509111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128​</a:t>
              </a:r>
            </a:p>
          </p:txBody>
        </p:sp>
        <p:sp>
          <p:nvSpPr>
            <p:cNvPr id="223" name="TextBox 223"/>
            <p:cNvSpPr txBox="1"/>
            <p:nvPr/>
          </p:nvSpPr>
          <p:spPr>
            <a:xfrm>
              <a:off x="9115520" y="5091112"/>
              <a:ext cx="342710"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9,420​</a:t>
              </a:r>
            </a:p>
          </p:txBody>
        </p:sp>
        <p:sp>
          <p:nvSpPr>
            <p:cNvPr id="224" name="TextBox 224"/>
            <p:cNvSpPr txBox="1"/>
            <p:nvPr/>
          </p:nvSpPr>
          <p:spPr>
            <a:xfrm>
              <a:off x="10143649" y="509111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30.6%​</a:t>
              </a:r>
            </a:p>
          </p:txBody>
        </p:sp>
        <p:sp>
          <p:nvSpPr>
            <p:cNvPr id="225" name="TextBox 225"/>
            <p:cNvSpPr txBox="1"/>
            <p:nvPr/>
          </p:nvSpPr>
          <p:spPr>
            <a:xfrm>
              <a:off x="11173039" y="5091112"/>
              <a:ext cx="380571"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27.0%​</a:t>
              </a:r>
            </a:p>
          </p:txBody>
        </p:sp>
        <p:sp>
          <p:nvSpPr>
            <p:cNvPr id="226" name="Line 226"/>
            <p:cNvSpPr/>
            <p:nvPr/>
          </p:nvSpPr>
          <p:spPr>
            <a:xfrm>
              <a:off x="4514850" y="5257800"/>
              <a:ext cx="7372350" cy="9525"/>
            </a:xfrm>
            <a:custGeom>
              <a:avLst/>
              <a:gdLst/>
              <a:ahLst/>
              <a:cxnLst/>
              <a:rect l="l" t="t" r="r" b="b"/>
              <a:pathLst>
                <a:path w="7372350" h="9525">
                  <a:moveTo>
                    <a:pt x="0" y="0"/>
                  </a:moveTo>
                  <a:lnTo>
                    <a:pt x="7372350" y="0"/>
                  </a:lnTo>
                </a:path>
              </a:pathLst>
            </a:custGeom>
            <a:noFill/>
            <a:ln w="9525">
              <a:solidFill>
                <a:srgbClr val="EDF2FA"/>
              </a:solidFill>
            </a:ln>
          </p:spPr>
        </p:sp>
        <p:grpSp>
          <p:nvGrpSpPr>
            <p:cNvPr id="230" name="Group 230"/>
            <p:cNvGrpSpPr/>
            <p:nvPr/>
          </p:nvGrpSpPr>
          <p:grpSpPr>
            <a:xfrm>
              <a:off x="4626769" y="5369719"/>
              <a:ext cx="100012" cy="100012"/>
              <a:chOff x="4626769" y="5369719"/>
              <a:chExt cx="100012" cy="100012"/>
            </a:xfrm>
          </p:grpSpPr>
          <p:sp>
            <p:nvSpPr>
              <p:cNvPr id="227" name="Freeform 227"/>
              <p:cNvSpPr/>
              <p:nvPr/>
            </p:nvSpPr>
            <p:spPr>
              <a:xfrm>
                <a:off x="4626769" y="5369719"/>
                <a:ext cx="100012" cy="50006"/>
              </a:xfrm>
              <a:custGeom>
                <a:avLst/>
                <a:gdLst/>
                <a:ahLst/>
                <a:cxnLst/>
                <a:rect l="l" t="t" r="r" b="b"/>
                <a:pathLst>
                  <a:path w="100012" h="50006">
                    <a:moveTo>
                      <a:pt x="11112" y="50006"/>
                    </a:moveTo>
                    <a:lnTo>
                      <a:pt x="0" y="50006"/>
                    </a:lnTo>
                    <a:lnTo>
                      <a:pt x="50006" y="0"/>
                    </a:lnTo>
                    <a:lnTo>
                      <a:pt x="100012" y="50006"/>
                    </a:lnTo>
                    <a:lnTo>
                      <a:pt x="88900" y="50006"/>
                    </a:lnTo>
                  </a:path>
                </a:pathLst>
              </a:custGeom>
              <a:noFill/>
              <a:ln w="11112">
                <a:solidFill>
                  <a:srgbClr val="E04C2E"/>
                </a:solidFill>
              </a:ln>
            </p:spPr>
          </p:sp>
          <p:sp>
            <p:nvSpPr>
              <p:cNvPr id="228" name="Freeform 228"/>
              <p:cNvSpPr/>
              <p:nvPr/>
            </p:nvSpPr>
            <p:spPr>
              <a:xfrm>
                <a:off x="4637881" y="5419725"/>
                <a:ext cx="77787" cy="50006"/>
              </a:xfrm>
              <a:custGeom>
                <a:avLst/>
                <a:gdLst/>
                <a:ahLst/>
                <a:cxnLst/>
                <a:rect l="l" t="t" r="r" b="b"/>
                <a:pathLst>
                  <a:path w="77787" h="50006">
                    <a:moveTo>
                      <a:pt x="0" y="0"/>
                    </a:moveTo>
                    <a:lnTo>
                      <a:pt x="0" y="38894"/>
                    </a:lnTo>
                    <a:cubicBezTo>
                      <a:pt x="0" y="45031"/>
                      <a:pt x="4975" y="50006"/>
                      <a:pt x="11112" y="50006"/>
                    </a:cubicBezTo>
                    <a:lnTo>
                      <a:pt x="66675" y="50006"/>
                    </a:lnTo>
                    <a:cubicBezTo>
                      <a:pt x="72812" y="50006"/>
                      <a:pt x="77787" y="45031"/>
                      <a:pt x="77787" y="38894"/>
                    </a:cubicBezTo>
                    <a:lnTo>
                      <a:pt x="77787" y="0"/>
                    </a:lnTo>
                  </a:path>
                </a:pathLst>
              </a:custGeom>
              <a:noFill/>
              <a:ln w="11112">
                <a:solidFill>
                  <a:srgbClr val="E04C2E"/>
                </a:solidFill>
              </a:ln>
            </p:spPr>
          </p:sp>
          <p:sp>
            <p:nvSpPr>
              <p:cNvPr id="229" name="Freeform 229"/>
              <p:cNvSpPr/>
              <p:nvPr/>
            </p:nvSpPr>
            <p:spPr>
              <a:xfrm>
                <a:off x="4660106" y="5425281"/>
                <a:ext cx="33337" cy="44450"/>
              </a:xfrm>
              <a:custGeom>
                <a:avLst/>
                <a:gdLst/>
                <a:ahLst/>
                <a:cxnLst/>
                <a:rect l="l" t="t" r="r" b="b"/>
                <a:pathLst>
                  <a:path w="33337" h="44450">
                    <a:moveTo>
                      <a:pt x="0" y="44450"/>
                    </a:moveTo>
                    <a:lnTo>
                      <a:pt x="0" y="11112"/>
                    </a:lnTo>
                    <a:cubicBezTo>
                      <a:pt x="0" y="4975"/>
                      <a:pt x="4975" y="0"/>
                      <a:pt x="11112" y="0"/>
                    </a:cubicBezTo>
                    <a:lnTo>
                      <a:pt x="22225" y="0"/>
                    </a:lnTo>
                    <a:cubicBezTo>
                      <a:pt x="28362" y="0"/>
                      <a:pt x="33337" y="4975"/>
                      <a:pt x="33337" y="11112"/>
                    </a:cubicBezTo>
                    <a:lnTo>
                      <a:pt x="33337" y="44450"/>
                    </a:lnTo>
                  </a:path>
                </a:pathLst>
              </a:custGeom>
              <a:noFill/>
              <a:ln w="11112">
                <a:solidFill>
                  <a:srgbClr val="E04C2E"/>
                </a:solidFill>
              </a:ln>
            </p:spPr>
          </p:sp>
        </p:grpSp>
        <p:sp>
          <p:nvSpPr>
            <p:cNvPr id="231" name="TextBox 231"/>
            <p:cNvSpPr txBox="1"/>
            <p:nvPr/>
          </p:nvSpPr>
          <p:spPr>
            <a:xfrm>
              <a:off x="4814888" y="5376862"/>
              <a:ext cx="413385" cy="147638"/>
            </a:xfrm>
            <a:prstGeom prst="rect">
              <a:avLst/>
            </a:prstGeom>
            <a:noFill/>
            <a:ln>
              <a:noFill/>
            </a:ln>
          </p:spPr>
          <p:txBody>
            <a:bodyPr wrap="none" lIns="0" tIns="0" rIns="0" bIns="0" anchor="t" anchorCtr="0">
              <a:spAutoFit/>
            </a:bodyPr>
            <a:lstStyle/>
            <a:p>
              <a:pPr algn="l"/>
              <a:r>
                <a:rPr lang="zh-CN" sz="750" dirty="0">
                  <a:solidFill>
                    <a:srgbClr val="5F3A33"/>
                  </a:solidFill>
                  <a:latin typeface="+mn-lt"/>
                  <a:ea typeface="+mn-ea"/>
                  <a:cs typeface="+mn-cs"/>
                </a:rPr>
                <a:t>产业园区</a:t>
              </a:r>
            </a:p>
          </p:txBody>
        </p:sp>
        <p:sp>
          <p:nvSpPr>
            <p:cNvPr id="232" name="TextBox 232"/>
            <p:cNvSpPr txBox="1"/>
            <p:nvPr/>
          </p:nvSpPr>
          <p:spPr>
            <a:xfrm>
              <a:off x="6056376" y="53768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420​</a:t>
              </a:r>
            </a:p>
          </p:txBody>
        </p:sp>
        <p:sp>
          <p:nvSpPr>
            <p:cNvPr id="233" name="TextBox 233"/>
            <p:cNvSpPr txBox="1"/>
            <p:nvPr/>
          </p:nvSpPr>
          <p:spPr>
            <a:xfrm>
              <a:off x="7094601" y="53768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120​</a:t>
              </a:r>
            </a:p>
          </p:txBody>
        </p:sp>
        <p:sp>
          <p:nvSpPr>
            <p:cNvPr id="234" name="TextBox 234"/>
            <p:cNvSpPr txBox="1"/>
            <p:nvPr/>
          </p:nvSpPr>
          <p:spPr>
            <a:xfrm>
              <a:off x="8160591" y="5376862"/>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72​</a:t>
              </a:r>
            </a:p>
          </p:txBody>
        </p:sp>
        <p:sp>
          <p:nvSpPr>
            <p:cNvPr id="235" name="TextBox 235"/>
            <p:cNvSpPr txBox="1"/>
            <p:nvPr/>
          </p:nvSpPr>
          <p:spPr>
            <a:xfrm>
              <a:off x="9115520" y="5376862"/>
              <a:ext cx="342710"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6,280​</a:t>
              </a:r>
            </a:p>
          </p:txBody>
        </p:sp>
        <p:sp>
          <p:nvSpPr>
            <p:cNvPr id="236" name="TextBox 236"/>
            <p:cNvSpPr txBox="1"/>
            <p:nvPr/>
          </p:nvSpPr>
          <p:spPr>
            <a:xfrm>
              <a:off x="10143649" y="537686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28.6%​</a:t>
              </a:r>
            </a:p>
          </p:txBody>
        </p:sp>
        <p:sp>
          <p:nvSpPr>
            <p:cNvPr id="237" name="TextBox 237"/>
            <p:cNvSpPr txBox="1"/>
            <p:nvPr/>
          </p:nvSpPr>
          <p:spPr>
            <a:xfrm>
              <a:off x="11173039" y="5376862"/>
              <a:ext cx="380571"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18.0%​</a:t>
              </a:r>
            </a:p>
          </p:txBody>
        </p:sp>
        <p:sp>
          <p:nvSpPr>
            <p:cNvPr id="238" name="Line 238"/>
            <p:cNvSpPr/>
            <p:nvPr/>
          </p:nvSpPr>
          <p:spPr>
            <a:xfrm>
              <a:off x="4514850" y="5543550"/>
              <a:ext cx="7372350" cy="9525"/>
            </a:xfrm>
            <a:custGeom>
              <a:avLst/>
              <a:gdLst/>
              <a:ahLst/>
              <a:cxnLst/>
              <a:rect l="l" t="t" r="r" b="b"/>
              <a:pathLst>
                <a:path w="7372350" h="9525">
                  <a:moveTo>
                    <a:pt x="0" y="0"/>
                  </a:moveTo>
                  <a:lnTo>
                    <a:pt x="7372350" y="0"/>
                  </a:lnTo>
                </a:path>
              </a:pathLst>
            </a:custGeom>
            <a:noFill/>
            <a:ln w="9525">
              <a:solidFill>
                <a:srgbClr val="EDF2FA"/>
              </a:solidFill>
            </a:ln>
          </p:spPr>
        </p:sp>
        <p:grpSp>
          <p:nvGrpSpPr>
            <p:cNvPr id="244" name="Group 244"/>
            <p:cNvGrpSpPr/>
            <p:nvPr/>
          </p:nvGrpSpPr>
          <p:grpSpPr>
            <a:xfrm>
              <a:off x="4626769" y="5655469"/>
              <a:ext cx="100012" cy="100012"/>
              <a:chOff x="4626769" y="5655469"/>
              <a:chExt cx="100012" cy="100012"/>
            </a:xfrm>
          </p:grpSpPr>
          <p:sp>
            <p:nvSpPr>
              <p:cNvPr id="239" name="Freeform 239"/>
              <p:cNvSpPr/>
              <p:nvPr/>
            </p:nvSpPr>
            <p:spPr>
              <a:xfrm>
                <a:off x="4665662" y="56554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04C2E"/>
                </a:solidFill>
              </a:ln>
            </p:spPr>
          </p:sp>
          <p:sp>
            <p:nvSpPr>
              <p:cNvPr id="240" name="Freeform 240"/>
              <p:cNvSpPr/>
              <p:nvPr/>
            </p:nvSpPr>
            <p:spPr>
              <a:xfrm>
                <a:off x="4626769" y="5733256"/>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04C2E"/>
                </a:solidFill>
              </a:ln>
            </p:spPr>
          </p:sp>
          <p:sp>
            <p:nvSpPr>
              <p:cNvPr id="241" name="Freeform 241"/>
              <p:cNvSpPr/>
              <p:nvPr/>
            </p:nvSpPr>
            <p:spPr>
              <a:xfrm>
                <a:off x="4704556" y="5733256"/>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04C2E"/>
                </a:solidFill>
              </a:ln>
            </p:spPr>
          </p:sp>
          <p:sp>
            <p:nvSpPr>
              <p:cNvPr id="242" name="Freeform 242"/>
              <p:cNvSpPr/>
              <p:nvPr/>
            </p:nvSpPr>
            <p:spPr>
              <a:xfrm>
                <a:off x="4646216" y="5711031"/>
                <a:ext cx="61119" cy="25003"/>
              </a:xfrm>
              <a:custGeom>
                <a:avLst/>
                <a:gdLst/>
                <a:ahLst/>
                <a:cxnLst/>
                <a:rect l="l" t="t" r="r" b="b"/>
                <a:pathLst>
                  <a:path w="61119" h="25003">
                    <a:moveTo>
                      <a:pt x="0" y="25003"/>
                    </a:moveTo>
                    <a:lnTo>
                      <a:pt x="30559" y="0"/>
                    </a:lnTo>
                    <a:lnTo>
                      <a:pt x="61119" y="25003"/>
                    </a:lnTo>
                  </a:path>
                </a:pathLst>
              </a:custGeom>
              <a:noFill/>
              <a:ln w="11112">
                <a:solidFill>
                  <a:srgbClr val="E04C2E"/>
                </a:solidFill>
              </a:ln>
            </p:spPr>
          </p:sp>
          <p:sp>
            <p:nvSpPr>
              <p:cNvPr id="243" name="Freeform 243"/>
              <p:cNvSpPr/>
              <p:nvPr/>
            </p:nvSpPr>
            <p:spPr>
              <a:xfrm>
                <a:off x="4676775" y="5677694"/>
                <a:ext cx="9525" cy="33337"/>
              </a:xfrm>
              <a:custGeom>
                <a:avLst/>
                <a:gdLst/>
                <a:ahLst/>
                <a:cxnLst/>
                <a:rect l="l" t="t" r="r" b="b"/>
                <a:pathLst>
                  <a:path w="9525" h="33337">
                    <a:moveTo>
                      <a:pt x="0" y="0"/>
                    </a:moveTo>
                    <a:lnTo>
                      <a:pt x="0" y="33337"/>
                    </a:lnTo>
                  </a:path>
                </a:pathLst>
              </a:custGeom>
              <a:noFill/>
              <a:ln w="11112">
                <a:solidFill>
                  <a:srgbClr val="E04C2E"/>
                </a:solidFill>
              </a:ln>
            </p:spPr>
          </p:sp>
        </p:grpSp>
        <p:sp>
          <p:nvSpPr>
            <p:cNvPr id="245" name="TextBox 245"/>
            <p:cNvSpPr txBox="1"/>
            <p:nvPr/>
          </p:nvSpPr>
          <p:spPr>
            <a:xfrm>
              <a:off x="4814888" y="5662612"/>
              <a:ext cx="413385" cy="147638"/>
            </a:xfrm>
            <a:prstGeom prst="rect">
              <a:avLst/>
            </a:prstGeom>
            <a:noFill/>
            <a:ln>
              <a:noFill/>
            </a:ln>
          </p:spPr>
          <p:txBody>
            <a:bodyPr wrap="none" lIns="0" tIns="0" rIns="0" bIns="0" anchor="t" anchorCtr="0">
              <a:spAutoFit/>
            </a:bodyPr>
            <a:lstStyle/>
            <a:p>
              <a:pPr algn="l"/>
              <a:r>
                <a:rPr lang="zh-CN" sz="750" dirty="0">
                  <a:solidFill>
                    <a:srgbClr val="5F3A33"/>
                  </a:solidFill>
                  <a:latin typeface="+mn-lt"/>
                  <a:ea typeface="+mn-ea"/>
                  <a:cs typeface="+mn-cs"/>
                </a:rPr>
                <a:t>核心企业</a:t>
              </a:r>
            </a:p>
          </p:txBody>
        </p:sp>
        <p:sp>
          <p:nvSpPr>
            <p:cNvPr id="246" name="TextBox 246"/>
            <p:cNvSpPr txBox="1"/>
            <p:nvPr/>
          </p:nvSpPr>
          <p:spPr>
            <a:xfrm>
              <a:off x="6056376" y="566261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240​</a:t>
              </a:r>
            </a:p>
          </p:txBody>
        </p:sp>
        <p:sp>
          <p:nvSpPr>
            <p:cNvPr id="247" name="TextBox 247"/>
            <p:cNvSpPr txBox="1"/>
            <p:nvPr/>
          </p:nvSpPr>
          <p:spPr>
            <a:xfrm>
              <a:off x="7122366" y="5662612"/>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80​</a:t>
              </a:r>
            </a:p>
          </p:txBody>
        </p:sp>
        <p:sp>
          <p:nvSpPr>
            <p:cNvPr id="248" name="TextBox 248"/>
            <p:cNvSpPr txBox="1"/>
            <p:nvPr/>
          </p:nvSpPr>
          <p:spPr>
            <a:xfrm>
              <a:off x="8160591" y="5662612"/>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54​</a:t>
              </a:r>
            </a:p>
          </p:txBody>
        </p:sp>
        <p:sp>
          <p:nvSpPr>
            <p:cNvPr id="249" name="TextBox 249"/>
            <p:cNvSpPr txBox="1"/>
            <p:nvPr/>
          </p:nvSpPr>
          <p:spPr>
            <a:xfrm>
              <a:off x="9115520" y="5662612"/>
              <a:ext cx="342710"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4,280​</a:t>
              </a:r>
            </a:p>
          </p:txBody>
        </p:sp>
        <p:sp>
          <p:nvSpPr>
            <p:cNvPr id="250" name="TextBox 250"/>
            <p:cNvSpPr txBox="1"/>
            <p:nvPr/>
          </p:nvSpPr>
          <p:spPr>
            <a:xfrm>
              <a:off x="10143649" y="566261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33.3%​</a:t>
              </a:r>
            </a:p>
          </p:txBody>
        </p:sp>
        <p:sp>
          <p:nvSpPr>
            <p:cNvPr id="251" name="TextBox 251"/>
            <p:cNvSpPr txBox="1"/>
            <p:nvPr/>
          </p:nvSpPr>
          <p:spPr>
            <a:xfrm>
              <a:off x="11173039" y="5662612"/>
              <a:ext cx="380571"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12.2%​</a:t>
              </a:r>
            </a:p>
          </p:txBody>
        </p:sp>
        <p:sp>
          <p:nvSpPr>
            <p:cNvPr id="252" name="Line 252"/>
            <p:cNvSpPr/>
            <p:nvPr/>
          </p:nvSpPr>
          <p:spPr>
            <a:xfrm>
              <a:off x="4514850" y="5829300"/>
              <a:ext cx="7372350" cy="9525"/>
            </a:xfrm>
            <a:custGeom>
              <a:avLst/>
              <a:gdLst/>
              <a:ahLst/>
              <a:cxnLst/>
              <a:rect l="l" t="t" r="r" b="b"/>
              <a:pathLst>
                <a:path w="7372350" h="9525">
                  <a:moveTo>
                    <a:pt x="0" y="0"/>
                  </a:moveTo>
                  <a:lnTo>
                    <a:pt x="7372350" y="0"/>
                  </a:lnTo>
                </a:path>
              </a:pathLst>
            </a:custGeom>
            <a:noFill/>
            <a:ln w="9525">
              <a:solidFill>
                <a:srgbClr val="EDF2FA"/>
              </a:solidFill>
            </a:ln>
          </p:spPr>
        </p:sp>
        <p:grpSp>
          <p:nvGrpSpPr>
            <p:cNvPr id="257" name="Group 257"/>
            <p:cNvGrpSpPr/>
            <p:nvPr/>
          </p:nvGrpSpPr>
          <p:grpSpPr>
            <a:xfrm>
              <a:off x="4626769" y="5941219"/>
              <a:ext cx="100012" cy="94456"/>
              <a:chOff x="4626769" y="5941219"/>
              <a:chExt cx="100012" cy="94456"/>
            </a:xfrm>
          </p:grpSpPr>
          <p:sp>
            <p:nvSpPr>
              <p:cNvPr id="253" name="Freeform 253"/>
              <p:cNvSpPr/>
              <p:nvPr/>
            </p:nvSpPr>
            <p:spPr>
              <a:xfrm>
                <a:off x="4626769" y="5963444"/>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E04C2E"/>
                </a:solidFill>
              </a:ln>
            </p:spPr>
          </p:sp>
          <p:sp>
            <p:nvSpPr>
              <p:cNvPr id="254" name="Freeform 254"/>
              <p:cNvSpPr/>
              <p:nvPr/>
            </p:nvSpPr>
            <p:spPr>
              <a:xfrm>
                <a:off x="4654550" y="5941219"/>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E04C2E"/>
                </a:solidFill>
              </a:ln>
            </p:spPr>
          </p:sp>
          <p:sp>
            <p:nvSpPr>
              <p:cNvPr id="255" name="Freeform 255"/>
              <p:cNvSpPr/>
              <p:nvPr/>
            </p:nvSpPr>
            <p:spPr>
              <a:xfrm>
                <a:off x="4676775" y="5991225"/>
                <a:ext cx="9525" cy="9525"/>
              </a:xfrm>
              <a:custGeom>
                <a:avLst/>
                <a:gdLst/>
                <a:ahLst/>
                <a:cxnLst/>
                <a:rect l="l" t="t" r="r" b="b"/>
                <a:pathLst>
                  <a:path w="9525" h="9525">
                    <a:moveTo>
                      <a:pt x="0" y="0"/>
                    </a:moveTo>
                    <a:lnTo>
                      <a:pt x="0" y="56"/>
                    </a:lnTo>
                  </a:path>
                </a:pathLst>
              </a:custGeom>
              <a:noFill/>
              <a:ln w="11112">
                <a:solidFill>
                  <a:srgbClr val="E04C2E"/>
                </a:solidFill>
              </a:ln>
            </p:spPr>
          </p:sp>
          <p:sp>
            <p:nvSpPr>
              <p:cNvPr id="256" name="Freeform 256"/>
              <p:cNvSpPr/>
              <p:nvPr/>
            </p:nvSpPr>
            <p:spPr>
              <a:xfrm>
                <a:off x="4626769" y="5996781"/>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E04C2E"/>
                </a:solidFill>
              </a:ln>
            </p:spPr>
          </p:sp>
        </p:grpSp>
        <p:sp>
          <p:nvSpPr>
            <p:cNvPr id="258" name="TextBox 258"/>
            <p:cNvSpPr txBox="1"/>
            <p:nvPr/>
          </p:nvSpPr>
          <p:spPr>
            <a:xfrm>
              <a:off x="4814888" y="5948362"/>
              <a:ext cx="413385" cy="147638"/>
            </a:xfrm>
            <a:prstGeom prst="rect">
              <a:avLst/>
            </a:prstGeom>
            <a:noFill/>
            <a:ln>
              <a:noFill/>
            </a:ln>
          </p:spPr>
          <p:txBody>
            <a:bodyPr wrap="none" lIns="0" tIns="0" rIns="0" bIns="0" anchor="t" anchorCtr="0">
              <a:spAutoFit/>
            </a:bodyPr>
            <a:lstStyle/>
            <a:p>
              <a:pPr algn="l"/>
              <a:r>
                <a:rPr lang="zh-CN" sz="750" dirty="0">
                  <a:solidFill>
                    <a:srgbClr val="5F3A33"/>
                  </a:solidFill>
                  <a:latin typeface="+mn-lt"/>
                  <a:ea typeface="+mn-ea"/>
                  <a:cs typeface="+mn-cs"/>
                </a:rPr>
                <a:t>专业机构</a:t>
              </a:r>
            </a:p>
          </p:txBody>
        </p:sp>
        <p:sp>
          <p:nvSpPr>
            <p:cNvPr id="259" name="TextBox 259"/>
            <p:cNvSpPr txBox="1"/>
            <p:nvPr/>
          </p:nvSpPr>
          <p:spPr>
            <a:xfrm>
              <a:off x="6056376" y="5948362"/>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100​</a:t>
              </a:r>
            </a:p>
          </p:txBody>
        </p:sp>
        <p:sp>
          <p:nvSpPr>
            <p:cNvPr id="260" name="TextBox 260"/>
            <p:cNvSpPr txBox="1"/>
            <p:nvPr/>
          </p:nvSpPr>
          <p:spPr>
            <a:xfrm>
              <a:off x="7122366" y="5948362"/>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40​</a:t>
              </a:r>
            </a:p>
          </p:txBody>
        </p:sp>
        <p:sp>
          <p:nvSpPr>
            <p:cNvPr id="261" name="TextBox 261"/>
            <p:cNvSpPr txBox="1"/>
            <p:nvPr/>
          </p:nvSpPr>
          <p:spPr>
            <a:xfrm>
              <a:off x="8160591" y="5948362"/>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24​</a:t>
              </a:r>
            </a:p>
          </p:txBody>
        </p:sp>
        <p:sp>
          <p:nvSpPr>
            <p:cNvPr id="262" name="TextBox 262"/>
            <p:cNvSpPr txBox="1"/>
            <p:nvPr/>
          </p:nvSpPr>
          <p:spPr>
            <a:xfrm>
              <a:off x="9115520" y="5948362"/>
              <a:ext cx="342710"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2,160​</a:t>
              </a:r>
            </a:p>
          </p:txBody>
        </p:sp>
        <p:sp>
          <p:nvSpPr>
            <p:cNvPr id="263" name="TextBox 263"/>
            <p:cNvSpPr txBox="1"/>
            <p:nvPr/>
          </p:nvSpPr>
          <p:spPr>
            <a:xfrm>
              <a:off x="10143649" y="5948362"/>
              <a:ext cx="362902"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40.0%​</a:t>
              </a:r>
            </a:p>
          </p:txBody>
        </p:sp>
        <p:sp>
          <p:nvSpPr>
            <p:cNvPr id="264" name="TextBox 264"/>
            <p:cNvSpPr txBox="1"/>
            <p:nvPr/>
          </p:nvSpPr>
          <p:spPr>
            <a:xfrm>
              <a:off x="11202193" y="5948362"/>
              <a:ext cx="322264"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6.2%​</a:t>
              </a:r>
            </a:p>
          </p:txBody>
        </p:sp>
        <p:sp>
          <p:nvSpPr>
            <p:cNvPr id="265" name="Line 265"/>
            <p:cNvSpPr/>
            <p:nvPr/>
          </p:nvSpPr>
          <p:spPr>
            <a:xfrm>
              <a:off x="4514850" y="6115050"/>
              <a:ext cx="7372350" cy="9525"/>
            </a:xfrm>
            <a:custGeom>
              <a:avLst/>
              <a:gdLst/>
              <a:ahLst/>
              <a:cxnLst/>
              <a:rect l="l" t="t" r="r" b="b"/>
              <a:pathLst>
                <a:path w="7372350" h="9525">
                  <a:moveTo>
                    <a:pt x="0" y="0"/>
                  </a:moveTo>
                  <a:lnTo>
                    <a:pt x="7372350" y="0"/>
                  </a:lnTo>
                </a:path>
              </a:pathLst>
            </a:custGeom>
            <a:noFill/>
            <a:ln w="9525">
              <a:solidFill>
                <a:srgbClr val="C9D6E9"/>
              </a:solidFill>
            </a:ln>
          </p:spPr>
        </p:sp>
        <p:sp>
          <p:nvSpPr>
            <p:cNvPr id="266" name="Rectangle 266"/>
            <p:cNvSpPr/>
            <p:nvPr/>
          </p:nvSpPr>
          <p:spPr>
            <a:xfrm>
              <a:off x="4514850" y="6134100"/>
              <a:ext cx="7372350" cy="247650"/>
            </a:xfrm>
            <a:prstGeom prst="rect">
              <a:avLst/>
            </a:prstGeom>
            <a:solidFill>
              <a:srgbClr val="69281B"/>
            </a:solidFill>
            <a:ln>
              <a:noFill/>
            </a:ln>
          </p:spPr>
        </p:sp>
        <p:sp>
          <p:nvSpPr>
            <p:cNvPr id="267" name="TextBox 267"/>
            <p:cNvSpPr txBox="1"/>
            <p:nvPr/>
          </p:nvSpPr>
          <p:spPr>
            <a:xfrm>
              <a:off x="4975238" y="6211014"/>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合计</a:t>
              </a:r>
            </a:p>
          </p:txBody>
        </p:sp>
        <p:sp>
          <p:nvSpPr>
            <p:cNvPr id="268" name="TextBox 268"/>
            <p:cNvSpPr txBox="1"/>
            <p:nvPr/>
          </p:nvSpPr>
          <p:spPr>
            <a:xfrm>
              <a:off x="5983186" y="6211014"/>
              <a:ext cx="37802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2,460​</a:t>
              </a:r>
            </a:p>
          </p:txBody>
        </p:sp>
        <p:sp>
          <p:nvSpPr>
            <p:cNvPr id="269" name="TextBox 269"/>
            <p:cNvSpPr txBox="1"/>
            <p:nvPr/>
          </p:nvSpPr>
          <p:spPr>
            <a:xfrm>
              <a:off x="7082828" y="6211014"/>
              <a:ext cx="25519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680​</a:t>
              </a:r>
            </a:p>
          </p:txBody>
        </p:sp>
        <p:sp>
          <p:nvSpPr>
            <p:cNvPr id="270" name="TextBox 270"/>
            <p:cNvSpPr txBox="1"/>
            <p:nvPr/>
          </p:nvSpPr>
          <p:spPr>
            <a:xfrm>
              <a:off x="8121053" y="6211014"/>
              <a:ext cx="25519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476​</a:t>
              </a:r>
            </a:p>
          </p:txBody>
        </p:sp>
        <p:sp>
          <p:nvSpPr>
            <p:cNvPr id="271" name="TextBox 271"/>
            <p:cNvSpPr txBox="1"/>
            <p:nvPr/>
          </p:nvSpPr>
          <p:spPr>
            <a:xfrm>
              <a:off x="9067153" y="6211014"/>
              <a:ext cx="43944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35,000​</a:t>
              </a:r>
            </a:p>
          </p:txBody>
        </p:sp>
        <p:sp>
          <p:nvSpPr>
            <p:cNvPr id="272" name="TextBox 272"/>
            <p:cNvSpPr txBox="1"/>
            <p:nvPr/>
          </p:nvSpPr>
          <p:spPr>
            <a:xfrm>
              <a:off x="10124920" y="6211014"/>
              <a:ext cx="40036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27.6%​</a:t>
              </a:r>
            </a:p>
          </p:txBody>
        </p:sp>
        <p:sp>
          <p:nvSpPr>
            <p:cNvPr id="273" name="TextBox 273"/>
            <p:cNvSpPr txBox="1"/>
            <p:nvPr/>
          </p:nvSpPr>
          <p:spPr>
            <a:xfrm>
              <a:off x="11132436" y="6211014"/>
              <a:ext cx="461778"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100.0%​</a:t>
              </a:r>
            </a:p>
          </p:txBody>
        </p:sp>
        <p:sp>
          <p:nvSpPr>
            <p:cNvPr id="274" name="TextBox 274"/>
            <p:cNvSpPr txBox="1"/>
            <p:nvPr/>
          </p:nvSpPr>
          <p:spPr>
            <a:xfrm>
              <a:off x="4510088" y="6503432"/>
              <a:ext cx="3369640"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注：渠道数据为示例口径，综合贡献按线索带来的存款、贷款、中收综合折算（万元）。</a:t>
              </a:r>
            </a:p>
          </p:txBody>
        </p:sp>
      </p:grpSp>
      <p:sp>
        <p:nvSpPr>
          <p:cNvPr id="276"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11 / 18 页​</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12​</a:t>
              </a:r>
            </a:p>
          </p:txBody>
        </p:sp>
        <p:sp>
          <p:nvSpPr>
            <p:cNvPr id="4" name="TextBox 4"/>
            <p:cNvSpPr txBox="1"/>
            <p:nvPr/>
          </p:nvSpPr>
          <p:spPr>
            <a:xfrm>
              <a:off x="1019175" y="169069"/>
              <a:ext cx="7105447"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对标先进同业，存款竞争力、客户结构与基层转型存在明显短板</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32" name="problem-1"/>
          <p:cNvGrpSpPr/>
          <p:nvPr/>
        </p:nvGrpSpPr>
        <p:grpSpPr>
          <a:xfrm>
            <a:off x="228600" y="685800"/>
            <a:ext cx="2819400" cy="1695450"/>
            <a:chOff x="228600" y="685800"/>
            <a:chExt cx="2819400" cy="1695450"/>
          </a:xfrm>
        </p:grpSpPr>
        <p:sp>
          <p:nvSpPr>
            <p:cNvPr id="9" name="Rectangle 9"/>
            <p:cNvSpPr/>
            <p:nvPr/>
          </p:nvSpPr>
          <p:spPr>
            <a:xfrm>
              <a:off x="228600" y="685800"/>
              <a:ext cx="2819400" cy="1695450"/>
            </a:xfrm>
            <a:prstGeom prst="roundRect">
              <a:avLst>
                <a:gd name="adj" fmla="val 3371"/>
              </a:avLst>
            </a:prstGeom>
            <a:solidFill>
              <a:srgbClr val="FFFFFF"/>
            </a:solidFill>
            <a:ln w="9525">
              <a:solidFill>
                <a:srgbClr val="C9D6E9"/>
              </a:solidFill>
            </a:ln>
          </p:spPr>
        </p:sp>
        <p:sp>
          <p:nvSpPr>
            <p:cNvPr id="10" name="Freeform 10"/>
            <p:cNvSpPr/>
            <p:nvPr/>
          </p:nvSpPr>
          <p:spPr>
            <a:xfrm>
              <a:off x="228600" y="685800"/>
              <a:ext cx="2819400" cy="209550"/>
            </a:xfrm>
            <a:custGeom>
              <a:avLst/>
              <a:gdLst/>
              <a:ahLst/>
              <a:cxnLst/>
              <a:rect l="l" t="t" r="r" b="b"/>
              <a:pathLst>
                <a:path w="2819400" h="209550">
                  <a:moveTo>
                    <a:pt x="0" y="57150"/>
                  </a:moveTo>
                  <a:cubicBezTo>
                    <a:pt x="0" y="25587"/>
                    <a:pt x="25587" y="0"/>
                    <a:pt x="57150" y="0"/>
                  </a:cubicBezTo>
                  <a:lnTo>
                    <a:pt x="2819400" y="0"/>
                  </a:lnTo>
                  <a:lnTo>
                    <a:pt x="2628900" y="209550"/>
                  </a:lnTo>
                  <a:lnTo>
                    <a:pt x="0" y="209550"/>
                  </a:lnTo>
                  <a:close/>
                </a:path>
              </a:pathLst>
            </a:custGeom>
            <a:solidFill>
              <a:srgbClr val="69281B"/>
            </a:solidFill>
            <a:ln>
              <a:noFill/>
            </a:ln>
          </p:spPr>
        </p:sp>
        <p:sp>
          <p:nvSpPr>
            <p:cNvPr id="11" name="TextBox 11"/>
            <p:cNvSpPr txBox="1"/>
            <p:nvPr/>
          </p:nvSpPr>
          <p:spPr>
            <a:xfrm>
              <a:off x="357188" y="735568"/>
              <a:ext cx="1416748"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问题1：存款市场份额不足​</a:t>
              </a:r>
            </a:p>
          </p:txBody>
        </p:sp>
        <p:sp>
          <p:nvSpPr>
            <p:cNvPr id="12" name="TextBox 12"/>
            <p:cNvSpPr txBox="1"/>
            <p:nvPr/>
          </p:nvSpPr>
          <p:spPr>
            <a:xfrm>
              <a:off x="357188" y="997982"/>
              <a:ext cx="1043407" cy="126206"/>
            </a:xfrm>
            <a:prstGeom prst="rect">
              <a:avLst/>
            </a:prstGeom>
            <a:noFill/>
            <a:ln>
              <a:noFill/>
            </a:ln>
          </p:spPr>
          <p:txBody>
            <a:bodyPr wrap="none" lIns="0" tIns="0" rIns="0" bIns="0" anchor="t" anchorCtr="0">
              <a:spAutoFit/>
            </a:bodyPr>
            <a:lstStyle/>
            <a:p>
              <a:pPr algn="l"/>
              <a:r>
                <a:rPr lang="zh-CN" sz="640" dirty="0">
                  <a:solidFill>
                    <a:srgbClr val="987F7A"/>
                  </a:solidFill>
                  <a:latin typeface="+mn-lt"/>
                  <a:ea typeface="+mn-ea"/>
                  <a:cs typeface="+mn-cs"/>
                </a:rPr>
                <a:t>存款市场份额（对公存款）</a:t>
              </a:r>
            </a:p>
          </p:txBody>
        </p:sp>
        <p:sp>
          <p:nvSpPr>
            <p:cNvPr id="13" name="Rectangle 13"/>
            <p:cNvSpPr/>
            <p:nvPr/>
          </p:nvSpPr>
          <p:spPr>
            <a:xfrm>
              <a:off x="495300" y="1333500"/>
              <a:ext cx="152400" cy="571500"/>
            </a:xfrm>
            <a:prstGeom prst="rect">
              <a:avLst/>
            </a:prstGeom>
            <a:solidFill>
              <a:srgbClr val="DC9C8F"/>
            </a:solidFill>
            <a:ln>
              <a:noFill/>
            </a:ln>
          </p:spPr>
        </p:sp>
        <p:sp>
          <p:nvSpPr>
            <p:cNvPr id="14" name="Rectangle 14"/>
            <p:cNvSpPr/>
            <p:nvPr/>
          </p:nvSpPr>
          <p:spPr>
            <a:xfrm>
              <a:off x="800100" y="1428750"/>
              <a:ext cx="152400" cy="476250"/>
            </a:xfrm>
            <a:prstGeom prst="rect">
              <a:avLst/>
            </a:prstGeom>
            <a:solidFill>
              <a:srgbClr val="DC9C8F"/>
            </a:solidFill>
            <a:ln>
              <a:noFill/>
            </a:ln>
          </p:spPr>
        </p:sp>
        <p:sp>
          <p:nvSpPr>
            <p:cNvPr id="15" name="Rectangle 15"/>
            <p:cNvSpPr/>
            <p:nvPr/>
          </p:nvSpPr>
          <p:spPr>
            <a:xfrm>
              <a:off x="1104900" y="1514475"/>
              <a:ext cx="152400" cy="390525"/>
            </a:xfrm>
            <a:prstGeom prst="rect">
              <a:avLst/>
            </a:prstGeom>
            <a:solidFill>
              <a:srgbClr val="DC9C8F"/>
            </a:solidFill>
            <a:ln>
              <a:noFill/>
            </a:ln>
          </p:spPr>
        </p:sp>
        <p:sp>
          <p:nvSpPr>
            <p:cNvPr id="16" name="Rectangle 16"/>
            <p:cNvSpPr/>
            <p:nvPr/>
          </p:nvSpPr>
          <p:spPr>
            <a:xfrm>
              <a:off x="1409700" y="1638300"/>
              <a:ext cx="152400" cy="266700"/>
            </a:xfrm>
            <a:prstGeom prst="rect">
              <a:avLst/>
            </a:prstGeom>
            <a:solidFill>
              <a:srgbClr val="D0442C"/>
            </a:solidFill>
            <a:ln>
              <a:noFill/>
            </a:ln>
          </p:spPr>
        </p:sp>
        <p:sp>
          <p:nvSpPr>
            <p:cNvPr id="17" name="TextBox 17"/>
            <p:cNvSpPr txBox="1"/>
            <p:nvPr/>
          </p:nvSpPr>
          <p:spPr>
            <a:xfrm>
              <a:off x="434810" y="1234678"/>
              <a:ext cx="273380" cy="111919"/>
            </a:xfrm>
            <a:prstGeom prst="rect">
              <a:avLst/>
            </a:prstGeom>
            <a:noFill/>
            <a:ln>
              <a:noFill/>
            </a:ln>
          </p:spPr>
          <p:txBody>
            <a:bodyPr wrap="none" lIns="0" tIns="0" rIns="0" bIns="0" anchor="t" anchorCtr="0">
              <a:spAutoFit/>
            </a:bodyPr>
            <a:lstStyle/>
            <a:p>
              <a:pPr algn="ctr"/>
              <a:r>
                <a:rPr lang="zh-CN" sz="560" dirty="0">
                  <a:solidFill>
                    <a:srgbClr val="70504A"/>
                  </a:solidFill>
                  <a:latin typeface="+mn-lt"/>
                  <a:ea typeface="+mn-ea"/>
                  <a:cs typeface="+mn-cs"/>
                </a:rPr>
                <a:t>18.4%​</a:t>
              </a:r>
            </a:p>
          </p:txBody>
        </p:sp>
        <p:sp>
          <p:nvSpPr>
            <p:cNvPr id="18" name="TextBox 18"/>
            <p:cNvSpPr txBox="1"/>
            <p:nvPr/>
          </p:nvSpPr>
          <p:spPr>
            <a:xfrm>
              <a:off x="739610" y="1329928"/>
              <a:ext cx="273380" cy="111919"/>
            </a:xfrm>
            <a:prstGeom prst="rect">
              <a:avLst/>
            </a:prstGeom>
            <a:noFill/>
            <a:ln>
              <a:noFill/>
            </a:ln>
          </p:spPr>
          <p:txBody>
            <a:bodyPr wrap="none" lIns="0" tIns="0" rIns="0" bIns="0" anchor="t" anchorCtr="0">
              <a:spAutoFit/>
            </a:bodyPr>
            <a:lstStyle/>
            <a:p>
              <a:pPr algn="ctr"/>
              <a:r>
                <a:rPr lang="zh-CN" sz="560" dirty="0">
                  <a:solidFill>
                    <a:srgbClr val="70504A"/>
                  </a:solidFill>
                  <a:latin typeface="+mn-lt"/>
                  <a:ea typeface="+mn-ea"/>
                  <a:cs typeface="+mn-cs"/>
                </a:rPr>
                <a:t>15.2%​</a:t>
              </a:r>
            </a:p>
          </p:txBody>
        </p:sp>
        <p:sp>
          <p:nvSpPr>
            <p:cNvPr id="19" name="TextBox 19"/>
            <p:cNvSpPr txBox="1"/>
            <p:nvPr/>
          </p:nvSpPr>
          <p:spPr>
            <a:xfrm>
              <a:off x="1044410" y="1415653"/>
              <a:ext cx="273380" cy="111919"/>
            </a:xfrm>
            <a:prstGeom prst="rect">
              <a:avLst/>
            </a:prstGeom>
            <a:noFill/>
            <a:ln>
              <a:noFill/>
            </a:ln>
          </p:spPr>
          <p:txBody>
            <a:bodyPr wrap="none" lIns="0" tIns="0" rIns="0" bIns="0" anchor="t" anchorCtr="0">
              <a:spAutoFit/>
            </a:bodyPr>
            <a:lstStyle/>
            <a:p>
              <a:pPr algn="ctr"/>
              <a:r>
                <a:rPr lang="zh-CN" sz="560" dirty="0">
                  <a:solidFill>
                    <a:srgbClr val="70504A"/>
                  </a:solidFill>
                  <a:latin typeface="+mn-lt"/>
                  <a:ea typeface="+mn-ea"/>
                  <a:cs typeface="+mn-cs"/>
                </a:rPr>
                <a:t>12.7%​</a:t>
              </a:r>
            </a:p>
          </p:txBody>
        </p:sp>
        <p:sp>
          <p:nvSpPr>
            <p:cNvPr id="20" name="TextBox 20"/>
            <p:cNvSpPr txBox="1"/>
            <p:nvPr/>
          </p:nvSpPr>
          <p:spPr>
            <a:xfrm>
              <a:off x="1364382" y="1539478"/>
              <a:ext cx="243037" cy="111919"/>
            </a:xfrm>
            <a:prstGeom prst="rect">
              <a:avLst/>
            </a:prstGeom>
            <a:noFill/>
            <a:ln>
              <a:noFill/>
            </a:ln>
          </p:spPr>
          <p:txBody>
            <a:bodyPr wrap="none" lIns="0" tIns="0" rIns="0" bIns="0" anchor="t" anchorCtr="0">
              <a:spAutoFit/>
            </a:bodyPr>
            <a:lstStyle/>
            <a:p>
              <a:pPr algn="ctr"/>
              <a:r>
                <a:rPr lang="zh-CN" sz="560" b="1" dirty="0">
                  <a:solidFill>
                    <a:srgbClr val="D0442C"/>
                  </a:solidFill>
                  <a:latin typeface="+mn-lt"/>
                  <a:ea typeface="+mn-ea"/>
                  <a:cs typeface="+mn-cs"/>
                </a:rPr>
                <a:t>8.6%​</a:t>
              </a:r>
            </a:p>
          </p:txBody>
        </p:sp>
        <p:sp>
          <p:nvSpPr>
            <p:cNvPr id="21" name="Line 21"/>
            <p:cNvSpPr/>
            <p:nvPr/>
          </p:nvSpPr>
          <p:spPr>
            <a:xfrm>
              <a:off x="419100" y="1905000"/>
              <a:ext cx="1295400" cy="9525"/>
            </a:xfrm>
            <a:custGeom>
              <a:avLst/>
              <a:gdLst/>
              <a:ahLst/>
              <a:cxnLst/>
              <a:rect l="l" t="t" r="r" b="b"/>
              <a:pathLst>
                <a:path w="1295400" h="9525">
                  <a:moveTo>
                    <a:pt x="0" y="0"/>
                  </a:moveTo>
                  <a:lnTo>
                    <a:pt x="1295400" y="0"/>
                  </a:lnTo>
                </a:path>
              </a:pathLst>
            </a:custGeom>
            <a:noFill/>
            <a:ln w="9525">
              <a:solidFill>
                <a:srgbClr val="C9D6E9"/>
              </a:solidFill>
            </a:ln>
          </p:spPr>
        </p:sp>
        <p:sp>
          <p:nvSpPr>
            <p:cNvPr id="22" name="TextBox 22"/>
            <p:cNvSpPr txBox="1"/>
            <p:nvPr/>
          </p:nvSpPr>
          <p:spPr>
            <a:xfrm>
              <a:off x="449887" y="1958578"/>
              <a:ext cx="243225"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同业1​</a:t>
              </a:r>
            </a:p>
          </p:txBody>
        </p:sp>
        <p:sp>
          <p:nvSpPr>
            <p:cNvPr id="23" name="TextBox 23"/>
            <p:cNvSpPr txBox="1"/>
            <p:nvPr/>
          </p:nvSpPr>
          <p:spPr>
            <a:xfrm>
              <a:off x="754687" y="1958578"/>
              <a:ext cx="243225"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同业2​</a:t>
              </a:r>
            </a:p>
          </p:txBody>
        </p:sp>
        <p:sp>
          <p:nvSpPr>
            <p:cNvPr id="24" name="TextBox 24"/>
            <p:cNvSpPr txBox="1"/>
            <p:nvPr/>
          </p:nvSpPr>
          <p:spPr>
            <a:xfrm>
              <a:off x="1059487" y="1958578"/>
              <a:ext cx="243225"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同业3​</a:t>
              </a:r>
            </a:p>
          </p:txBody>
        </p:sp>
        <p:sp>
          <p:nvSpPr>
            <p:cNvPr id="25" name="TextBox 25"/>
            <p:cNvSpPr txBox="1"/>
            <p:nvPr/>
          </p:nvSpPr>
          <p:spPr>
            <a:xfrm>
              <a:off x="1405750" y="1958578"/>
              <a:ext cx="160299" cy="111919"/>
            </a:xfrm>
            <a:prstGeom prst="rect">
              <a:avLst/>
            </a:prstGeom>
            <a:noFill/>
            <a:ln>
              <a:noFill/>
            </a:ln>
          </p:spPr>
          <p:txBody>
            <a:bodyPr wrap="none" lIns="0" tIns="0" rIns="0" bIns="0" anchor="t" anchorCtr="0">
              <a:spAutoFit/>
            </a:bodyPr>
            <a:lstStyle/>
            <a:p>
              <a:pPr algn="ctr"/>
              <a:r>
                <a:rPr lang="zh-CN" sz="560" b="1" dirty="0">
                  <a:solidFill>
                    <a:srgbClr val="D0442C"/>
                  </a:solidFill>
                  <a:latin typeface="+mn-lt"/>
                  <a:ea typeface="+mn-ea"/>
                  <a:cs typeface="+mn-cs"/>
                </a:rPr>
                <a:t>本行</a:t>
              </a:r>
            </a:p>
          </p:txBody>
        </p:sp>
        <p:sp>
          <p:nvSpPr>
            <p:cNvPr id="26" name="TextBox 26"/>
            <p:cNvSpPr txBox="1"/>
            <p:nvPr/>
          </p:nvSpPr>
          <p:spPr>
            <a:xfrm>
              <a:off x="1862138" y="1146334"/>
              <a:ext cx="650316"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本行与同业前三</a:t>
              </a:r>
            </a:p>
          </p:txBody>
        </p:sp>
        <p:sp>
          <p:nvSpPr>
            <p:cNvPr id="27" name="TextBox 27"/>
            <p:cNvSpPr txBox="1"/>
            <p:nvPr/>
          </p:nvSpPr>
          <p:spPr>
            <a:xfrm>
              <a:off x="1862138" y="1279684"/>
              <a:ext cx="284150"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均值低</a:t>
              </a:r>
            </a:p>
          </p:txBody>
        </p:sp>
        <p:sp>
          <p:nvSpPr>
            <p:cNvPr id="28" name="TextBox 28"/>
            <p:cNvSpPr txBox="1"/>
            <p:nvPr/>
          </p:nvSpPr>
          <p:spPr>
            <a:xfrm>
              <a:off x="1861185" y="1421606"/>
              <a:ext cx="359719" cy="220028"/>
            </a:xfrm>
            <a:prstGeom prst="rect">
              <a:avLst/>
            </a:prstGeom>
            <a:noFill/>
            <a:ln>
              <a:noFill/>
            </a:ln>
          </p:spPr>
          <p:txBody>
            <a:bodyPr wrap="none" lIns="0" tIns="0" rIns="0" bIns="0" anchor="t" anchorCtr="0">
              <a:spAutoFit/>
            </a:bodyPr>
            <a:lstStyle/>
            <a:p>
              <a:pPr algn="l"/>
              <a:r>
                <a:rPr lang="zh-CN" sz="1120" b="1" dirty="0">
                  <a:solidFill>
                    <a:srgbClr val="D0442C"/>
                  </a:solidFill>
                  <a:latin typeface="+mn-lt"/>
                  <a:ea typeface="+mn-ea"/>
                  <a:cs typeface="+mn-cs"/>
                </a:rPr>
                <a:t>9.8​</a:t>
              </a:r>
            </a:p>
          </p:txBody>
        </p:sp>
        <p:sp>
          <p:nvSpPr>
            <p:cNvPr id="29" name="TextBox 29"/>
            <p:cNvSpPr txBox="1"/>
            <p:nvPr/>
          </p:nvSpPr>
          <p:spPr>
            <a:xfrm>
              <a:off x="2205038" y="1470184"/>
              <a:ext cx="375691"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个百分点</a:t>
              </a:r>
            </a:p>
          </p:txBody>
        </p:sp>
        <p:sp>
          <p:nvSpPr>
            <p:cNvPr id="30" name="Rectangle 30"/>
            <p:cNvSpPr/>
            <p:nvPr/>
          </p:nvSpPr>
          <p:spPr>
            <a:xfrm>
              <a:off x="304800" y="2114550"/>
              <a:ext cx="2667000" cy="190500"/>
            </a:xfrm>
            <a:prstGeom prst="rect">
              <a:avLst/>
            </a:prstGeom>
            <a:solidFill>
              <a:srgbClr val="FBEAE9"/>
            </a:solidFill>
            <a:ln>
              <a:noFill/>
            </a:ln>
          </p:spPr>
        </p:sp>
        <p:sp>
          <p:nvSpPr>
            <p:cNvPr id="31" name="TextBox 31"/>
            <p:cNvSpPr txBox="1"/>
            <p:nvPr/>
          </p:nvSpPr>
          <p:spPr>
            <a:xfrm>
              <a:off x="376238" y="2176653"/>
              <a:ext cx="1608811" cy="130493"/>
            </a:xfrm>
            <a:prstGeom prst="rect">
              <a:avLst/>
            </a:prstGeom>
            <a:noFill/>
            <a:ln>
              <a:noFill/>
            </a:ln>
          </p:spPr>
          <p:txBody>
            <a:bodyPr wrap="none" lIns="0" tIns="0" rIns="0" bIns="0" anchor="t" anchorCtr="0">
              <a:spAutoFit/>
            </a:bodyPr>
            <a:lstStyle/>
            <a:p>
              <a:pPr algn="l"/>
              <a:r>
                <a:rPr lang="zh-CN" sz="660" b="1" dirty="0">
                  <a:solidFill>
                    <a:srgbClr val="D0442C"/>
                  </a:solidFill>
                  <a:latin typeface="+mn-lt"/>
                  <a:ea typeface="+mn-ea"/>
                  <a:cs typeface="+mn-cs"/>
                </a:rPr>
                <a:t>稳定资金沉淀不足，结构性存款占比较高</a:t>
              </a:r>
            </a:p>
          </p:txBody>
        </p:sp>
      </p:grpSp>
      <p:grpSp>
        <p:nvGrpSpPr>
          <p:cNvPr id="49" name="problem-2"/>
          <p:cNvGrpSpPr/>
          <p:nvPr/>
        </p:nvGrpSpPr>
        <p:grpSpPr>
          <a:xfrm>
            <a:off x="3162300" y="685800"/>
            <a:ext cx="2819400" cy="1695450"/>
            <a:chOff x="3162300" y="685800"/>
            <a:chExt cx="2819400" cy="1695450"/>
          </a:xfrm>
        </p:grpSpPr>
        <p:sp>
          <p:nvSpPr>
            <p:cNvPr id="33" name="Rectangle 33"/>
            <p:cNvSpPr/>
            <p:nvPr/>
          </p:nvSpPr>
          <p:spPr>
            <a:xfrm>
              <a:off x="3162300" y="685800"/>
              <a:ext cx="2819400" cy="1695450"/>
            </a:xfrm>
            <a:prstGeom prst="roundRect">
              <a:avLst>
                <a:gd name="adj" fmla="val 3371"/>
              </a:avLst>
            </a:prstGeom>
            <a:solidFill>
              <a:srgbClr val="FFFFFF"/>
            </a:solidFill>
            <a:ln w="9525">
              <a:solidFill>
                <a:srgbClr val="C9D6E9"/>
              </a:solidFill>
            </a:ln>
          </p:spPr>
        </p:sp>
        <p:sp>
          <p:nvSpPr>
            <p:cNvPr id="34" name="Freeform 34"/>
            <p:cNvSpPr/>
            <p:nvPr/>
          </p:nvSpPr>
          <p:spPr>
            <a:xfrm>
              <a:off x="3162300" y="685800"/>
              <a:ext cx="2819400" cy="209550"/>
            </a:xfrm>
            <a:custGeom>
              <a:avLst/>
              <a:gdLst/>
              <a:ahLst/>
              <a:cxnLst/>
              <a:rect l="l" t="t" r="r" b="b"/>
              <a:pathLst>
                <a:path w="2819400" h="209550">
                  <a:moveTo>
                    <a:pt x="0" y="57150"/>
                  </a:moveTo>
                  <a:cubicBezTo>
                    <a:pt x="0" y="25587"/>
                    <a:pt x="25587" y="0"/>
                    <a:pt x="57150" y="0"/>
                  </a:cubicBezTo>
                  <a:lnTo>
                    <a:pt x="2819400" y="0"/>
                  </a:lnTo>
                  <a:lnTo>
                    <a:pt x="2628900" y="209550"/>
                  </a:lnTo>
                  <a:lnTo>
                    <a:pt x="0" y="209550"/>
                  </a:lnTo>
                  <a:close/>
                </a:path>
              </a:pathLst>
            </a:custGeom>
            <a:solidFill>
              <a:srgbClr val="69281B"/>
            </a:solidFill>
            <a:ln>
              <a:noFill/>
            </a:ln>
          </p:spPr>
        </p:sp>
        <p:sp>
          <p:nvSpPr>
            <p:cNvPr id="35" name="TextBox 35"/>
            <p:cNvSpPr txBox="1"/>
            <p:nvPr/>
          </p:nvSpPr>
          <p:spPr>
            <a:xfrm>
              <a:off x="3290888" y="735568"/>
              <a:ext cx="1416748"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问题2：法人信贷储备不足​</a:t>
              </a:r>
            </a:p>
          </p:txBody>
        </p:sp>
        <p:sp>
          <p:nvSpPr>
            <p:cNvPr id="36" name="TextBox 36"/>
            <p:cNvSpPr txBox="1"/>
            <p:nvPr/>
          </p:nvSpPr>
          <p:spPr>
            <a:xfrm>
              <a:off x="3290888" y="997982"/>
              <a:ext cx="1357879" cy="126206"/>
            </a:xfrm>
            <a:prstGeom prst="rect">
              <a:avLst/>
            </a:prstGeom>
            <a:noFill/>
            <a:ln>
              <a:noFill/>
            </a:ln>
          </p:spPr>
          <p:txBody>
            <a:bodyPr wrap="none" lIns="0" tIns="0" rIns="0" bIns="0" anchor="t" anchorCtr="0">
              <a:spAutoFit/>
            </a:bodyPr>
            <a:lstStyle/>
            <a:p>
              <a:pPr algn="l"/>
              <a:r>
                <a:rPr lang="zh-CN" sz="640" dirty="0">
                  <a:solidFill>
                    <a:srgbClr val="987F7A"/>
                  </a:solidFill>
                  <a:latin typeface="+mn-lt"/>
                  <a:ea typeface="+mn-ea"/>
                  <a:cs typeface="+mn-cs"/>
                </a:rPr>
                <a:t>未来90天可投放项目储备（亿元）​</a:t>
              </a:r>
            </a:p>
          </p:txBody>
        </p:sp>
        <p:sp>
          <p:nvSpPr>
            <p:cNvPr id="37" name="Rectangle 37"/>
            <p:cNvSpPr/>
            <p:nvPr/>
          </p:nvSpPr>
          <p:spPr>
            <a:xfrm>
              <a:off x="3581400" y="1219200"/>
              <a:ext cx="247650" cy="685800"/>
            </a:xfrm>
            <a:prstGeom prst="rect">
              <a:avLst/>
            </a:prstGeom>
            <a:solidFill>
              <a:srgbClr val="E04C2E"/>
            </a:solidFill>
            <a:ln>
              <a:noFill/>
            </a:ln>
          </p:spPr>
        </p:sp>
        <p:sp>
          <p:nvSpPr>
            <p:cNvPr id="38" name="Rectangle 38"/>
            <p:cNvSpPr/>
            <p:nvPr/>
          </p:nvSpPr>
          <p:spPr>
            <a:xfrm>
              <a:off x="4095750" y="1590675"/>
              <a:ext cx="247650" cy="314325"/>
            </a:xfrm>
            <a:prstGeom prst="rect">
              <a:avLst/>
            </a:prstGeom>
            <a:noFill/>
            <a:ln w="14288">
              <a:solidFill>
                <a:srgbClr val="D0442C"/>
              </a:solidFill>
              <a:custDash>
                <a:ds d="200000" sp="133333"/>
              </a:custDash>
            </a:ln>
          </p:spPr>
        </p:sp>
        <p:sp>
          <p:nvSpPr>
            <p:cNvPr id="39" name="TextBox 39"/>
            <p:cNvSpPr txBox="1"/>
            <p:nvPr/>
          </p:nvSpPr>
          <p:spPr>
            <a:xfrm>
              <a:off x="3591622" y="1120378"/>
              <a:ext cx="227206" cy="111919"/>
            </a:xfrm>
            <a:prstGeom prst="rect">
              <a:avLst/>
            </a:prstGeom>
            <a:noFill/>
            <a:ln>
              <a:noFill/>
            </a:ln>
          </p:spPr>
          <p:txBody>
            <a:bodyPr wrap="none" lIns="0" tIns="0" rIns="0" bIns="0" anchor="t" anchorCtr="0">
              <a:spAutoFit/>
            </a:bodyPr>
            <a:lstStyle/>
            <a:p>
              <a:pPr algn="ctr"/>
              <a:r>
                <a:rPr lang="zh-CN" sz="560" b="1" dirty="0">
                  <a:solidFill>
                    <a:srgbClr val="E04C2E"/>
                  </a:solidFill>
                  <a:latin typeface="+mn-lt"/>
                  <a:ea typeface="+mn-ea"/>
                  <a:cs typeface="+mn-cs"/>
                </a:rPr>
                <a:t>42.8​</a:t>
              </a:r>
            </a:p>
          </p:txBody>
        </p:sp>
        <p:sp>
          <p:nvSpPr>
            <p:cNvPr id="40" name="TextBox 40"/>
            <p:cNvSpPr txBox="1"/>
            <p:nvPr/>
          </p:nvSpPr>
          <p:spPr>
            <a:xfrm>
              <a:off x="4105972" y="1491853"/>
              <a:ext cx="227206" cy="111919"/>
            </a:xfrm>
            <a:prstGeom prst="rect">
              <a:avLst/>
            </a:prstGeom>
            <a:noFill/>
            <a:ln>
              <a:noFill/>
            </a:ln>
          </p:spPr>
          <p:txBody>
            <a:bodyPr wrap="none" lIns="0" tIns="0" rIns="0" bIns="0" anchor="t" anchorCtr="0">
              <a:spAutoFit/>
            </a:bodyPr>
            <a:lstStyle/>
            <a:p>
              <a:pPr algn="ctr"/>
              <a:r>
                <a:rPr lang="zh-CN" sz="560" b="1" dirty="0">
                  <a:solidFill>
                    <a:srgbClr val="D0442C"/>
                  </a:solidFill>
                  <a:latin typeface="+mn-lt"/>
                  <a:ea typeface="+mn-ea"/>
                  <a:cs typeface="+mn-cs"/>
                </a:rPr>
                <a:t>18.6​</a:t>
              </a:r>
            </a:p>
          </p:txBody>
        </p:sp>
        <p:sp>
          <p:nvSpPr>
            <p:cNvPr id="41" name="Line 41"/>
            <p:cNvSpPr/>
            <p:nvPr/>
          </p:nvSpPr>
          <p:spPr>
            <a:xfrm>
              <a:off x="3505200" y="1905000"/>
              <a:ext cx="971550" cy="9525"/>
            </a:xfrm>
            <a:custGeom>
              <a:avLst/>
              <a:gdLst/>
              <a:ahLst/>
              <a:cxnLst/>
              <a:rect l="l" t="t" r="r" b="b"/>
              <a:pathLst>
                <a:path w="971550" h="9525">
                  <a:moveTo>
                    <a:pt x="0" y="0"/>
                  </a:moveTo>
                  <a:lnTo>
                    <a:pt x="971550" y="0"/>
                  </a:lnTo>
                </a:path>
              </a:pathLst>
            </a:custGeom>
            <a:noFill/>
            <a:ln w="9525">
              <a:solidFill>
                <a:srgbClr val="C9D6E9"/>
              </a:solidFill>
            </a:ln>
          </p:spPr>
        </p:sp>
        <p:sp>
          <p:nvSpPr>
            <p:cNvPr id="42" name="TextBox 42"/>
            <p:cNvSpPr txBox="1"/>
            <p:nvPr/>
          </p:nvSpPr>
          <p:spPr>
            <a:xfrm>
              <a:off x="3587382" y="1958578"/>
              <a:ext cx="235687"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已储备</a:t>
              </a:r>
            </a:p>
          </p:txBody>
        </p:sp>
        <p:sp>
          <p:nvSpPr>
            <p:cNvPr id="43" name="TextBox 43"/>
            <p:cNvSpPr txBox="1"/>
            <p:nvPr/>
          </p:nvSpPr>
          <p:spPr>
            <a:xfrm>
              <a:off x="4139425" y="1958578"/>
              <a:ext cx="160299" cy="111919"/>
            </a:xfrm>
            <a:prstGeom prst="rect">
              <a:avLst/>
            </a:prstGeom>
            <a:noFill/>
            <a:ln>
              <a:noFill/>
            </a:ln>
          </p:spPr>
          <p:txBody>
            <a:bodyPr wrap="none" lIns="0" tIns="0" rIns="0" bIns="0" anchor="t" anchorCtr="0">
              <a:spAutoFit/>
            </a:bodyPr>
            <a:lstStyle/>
            <a:p>
              <a:pPr algn="ctr"/>
              <a:r>
                <a:rPr lang="zh-CN" sz="560" b="1" dirty="0">
                  <a:solidFill>
                    <a:srgbClr val="D0442C"/>
                  </a:solidFill>
                  <a:latin typeface="+mn-lt"/>
                  <a:ea typeface="+mn-ea"/>
                  <a:cs typeface="+mn-cs"/>
                </a:rPr>
                <a:t>缺口</a:t>
              </a:r>
            </a:p>
          </p:txBody>
        </p:sp>
        <p:sp>
          <p:nvSpPr>
            <p:cNvPr id="44" name="TextBox 44"/>
            <p:cNvSpPr txBox="1"/>
            <p:nvPr/>
          </p:nvSpPr>
          <p:spPr>
            <a:xfrm>
              <a:off x="4681538" y="1184434"/>
              <a:ext cx="709818"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未来90天可投放​</a:t>
              </a:r>
            </a:p>
          </p:txBody>
        </p:sp>
        <p:sp>
          <p:nvSpPr>
            <p:cNvPr id="45" name="TextBox 45"/>
            <p:cNvSpPr txBox="1"/>
            <p:nvPr/>
          </p:nvSpPr>
          <p:spPr>
            <a:xfrm>
              <a:off x="4681538" y="1355884"/>
              <a:ext cx="783967"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 xml:space="preserve">可投放 </a:t>
              </a:r>
              <a:r>
                <a:rPr lang="zh-CN" sz="680" b="1" dirty="0">
                  <a:solidFill>
                    <a:srgbClr val="E04C2E"/>
                  </a:solidFill>
                  <a:latin typeface="+mn-lt"/>
                  <a:ea typeface="+mn-ea"/>
                  <a:cs typeface="+mn-cs"/>
                </a:rPr>
                <a:t>42.8</a:t>
              </a:r>
              <a:r>
                <a:rPr lang="zh-CN" sz="680" dirty="0">
                  <a:solidFill>
                    <a:srgbClr val="70504A"/>
                  </a:solidFill>
                  <a:latin typeface="+mn-lt"/>
                  <a:ea typeface="+mn-ea"/>
                  <a:cs typeface="+mn-cs"/>
                </a:rPr>
                <a:t xml:space="preserve"> 亿元​</a:t>
              </a:r>
            </a:p>
          </p:txBody>
        </p:sp>
        <p:sp>
          <p:nvSpPr>
            <p:cNvPr id="46" name="TextBox 46"/>
            <p:cNvSpPr txBox="1"/>
            <p:nvPr/>
          </p:nvSpPr>
          <p:spPr>
            <a:xfrm>
              <a:off x="4681538" y="1527334"/>
              <a:ext cx="692425"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 xml:space="preserve">缺口 </a:t>
              </a:r>
              <a:r>
                <a:rPr lang="zh-CN" sz="680" b="1" dirty="0">
                  <a:solidFill>
                    <a:srgbClr val="D0442C"/>
                  </a:solidFill>
                  <a:latin typeface="+mn-lt"/>
                  <a:ea typeface="+mn-ea"/>
                  <a:cs typeface="+mn-cs"/>
                </a:rPr>
                <a:t>18.6</a:t>
              </a:r>
              <a:r>
                <a:rPr lang="zh-CN" sz="680" dirty="0">
                  <a:solidFill>
                    <a:srgbClr val="70504A"/>
                  </a:solidFill>
                  <a:latin typeface="+mn-lt"/>
                  <a:ea typeface="+mn-ea"/>
                  <a:cs typeface="+mn-cs"/>
                </a:rPr>
                <a:t xml:space="preserve"> 亿元​</a:t>
              </a:r>
            </a:p>
          </p:txBody>
        </p:sp>
        <p:sp>
          <p:nvSpPr>
            <p:cNvPr id="47" name="Rectangle 47"/>
            <p:cNvSpPr/>
            <p:nvPr/>
          </p:nvSpPr>
          <p:spPr>
            <a:xfrm>
              <a:off x="3238500" y="2114550"/>
              <a:ext cx="2667000" cy="190500"/>
            </a:xfrm>
            <a:prstGeom prst="rect">
              <a:avLst/>
            </a:prstGeom>
            <a:solidFill>
              <a:srgbClr val="FBEAE9"/>
            </a:solidFill>
            <a:ln>
              <a:noFill/>
            </a:ln>
          </p:spPr>
        </p:sp>
        <p:sp>
          <p:nvSpPr>
            <p:cNvPr id="48" name="TextBox 48"/>
            <p:cNvSpPr txBox="1"/>
            <p:nvPr/>
          </p:nvSpPr>
          <p:spPr>
            <a:xfrm>
              <a:off x="3309938" y="2176653"/>
              <a:ext cx="1342263" cy="130493"/>
            </a:xfrm>
            <a:prstGeom prst="rect">
              <a:avLst/>
            </a:prstGeom>
            <a:noFill/>
            <a:ln>
              <a:noFill/>
            </a:ln>
          </p:spPr>
          <p:txBody>
            <a:bodyPr wrap="none" lIns="0" tIns="0" rIns="0" bIns="0" anchor="t" anchorCtr="0">
              <a:spAutoFit/>
            </a:bodyPr>
            <a:lstStyle/>
            <a:p>
              <a:pPr algn="l"/>
              <a:r>
                <a:rPr lang="zh-CN" sz="660" b="1" dirty="0">
                  <a:solidFill>
                    <a:srgbClr val="D0442C"/>
                  </a:solidFill>
                  <a:latin typeface="+mn-lt"/>
                  <a:ea typeface="+mn-ea"/>
                  <a:cs typeface="+mn-cs"/>
                </a:rPr>
                <a:t>优质项目储备不足，投放后劲受限</a:t>
              </a:r>
            </a:p>
          </p:txBody>
        </p:sp>
      </p:grpSp>
      <p:grpSp>
        <p:nvGrpSpPr>
          <p:cNvPr id="64" name="problem-3"/>
          <p:cNvGrpSpPr/>
          <p:nvPr/>
        </p:nvGrpSpPr>
        <p:grpSpPr>
          <a:xfrm>
            <a:off x="6096000" y="685800"/>
            <a:ext cx="2819400" cy="1695450"/>
            <a:chOff x="6096000" y="685800"/>
            <a:chExt cx="2819400" cy="1695450"/>
          </a:xfrm>
        </p:grpSpPr>
        <p:sp>
          <p:nvSpPr>
            <p:cNvPr id="50" name="Rectangle 50"/>
            <p:cNvSpPr/>
            <p:nvPr/>
          </p:nvSpPr>
          <p:spPr>
            <a:xfrm>
              <a:off x="6096000" y="685800"/>
              <a:ext cx="2819400" cy="1695450"/>
            </a:xfrm>
            <a:prstGeom prst="roundRect">
              <a:avLst>
                <a:gd name="adj" fmla="val 3371"/>
              </a:avLst>
            </a:prstGeom>
            <a:solidFill>
              <a:srgbClr val="FFFFFF"/>
            </a:solidFill>
            <a:ln w="9525">
              <a:solidFill>
                <a:srgbClr val="C9D6E9"/>
              </a:solidFill>
            </a:ln>
          </p:spPr>
        </p:sp>
        <p:sp>
          <p:nvSpPr>
            <p:cNvPr id="51" name="Freeform 51"/>
            <p:cNvSpPr/>
            <p:nvPr/>
          </p:nvSpPr>
          <p:spPr>
            <a:xfrm>
              <a:off x="6096000" y="685800"/>
              <a:ext cx="2819400" cy="209550"/>
            </a:xfrm>
            <a:custGeom>
              <a:avLst/>
              <a:gdLst/>
              <a:ahLst/>
              <a:cxnLst/>
              <a:rect l="l" t="t" r="r" b="b"/>
              <a:pathLst>
                <a:path w="2819400" h="209550">
                  <a:moveTo>
                    <a:pt x="0" y="57150"/>
                  </a:moveTo>
                  <a:cubicBezTo>
                    <a:pt x="0" y="25587"/>
                    <a:pt x="25587" y="0"/>
                    <a:pt x="57150" y="0"/>
                  </a:cubicBezTo>
                  <a:lnTo>
                    <a:pt x="2819400" y="0"/>
                  </a:lnTo>
                  <a:lnTo>
                    <a:pt x="2628900" y="209550"/>
                  </a:lnTo>
                  <a:lnTo>
                    <a:pt x="0" y="209550"/>
                  </a:lnTo>
                  <a:close/>
                </a:path>
              </a:pathLst>
            </a:custGeom>
            <a:solidFill>
              <a:srgbClr val="69281B"/>
            </a:solidFill>
            <a:ln>
              <a:noFill/>
            </a:ln>
          </p:spPr>
        </p:sp>
        <p:sp>
          <p:nvSpPr>
            <p:cNvPr id="52" name="TextBox 52"/>
            <p:cNvSpPr txBox="1"/>
            <p:nvPr/>
          </p:nvSpPr>
          <p:spPr>
            <a:xfrm>
              <a:off x="6224588" y="735568"/>
              <a:ext cx="1185202"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问题3：客户结构不优​</a:t>
              </a:r>
            </a:p>
          </p:txBody>
        </p:sp>
        <p:sp>
          <p:nvSpPr>
            <p:cNvPr id="53" name="TextBox 53"/>
            <p:cNvSpPr txBox="1"/>
            <p:nvPr/>
          </p:nvSpPr>
          <p:spPr>
            <a:xfrm>
              <a:off x="6224588" y="997982"/>
              <a:ext cx="1043407" cy="126206"/>
            </a:xfrm>
            <a:prstGeom prst="rect">
              <a:avLst/>
            </a:prstGeom>
            <a:noFill/>
            <a:ln>
              <a:noFill/>
            </a:ln>
          </p:spPr>
          <p:txBody>
            <a:bodyPr wrap="none" lIns="0" tIns="0" rIns="0" bIns="0" anchor="t" anchorCtr="0">
              <a:spAutoFit/>
            </a:bodyPr>
            <a:lstStyle/>
            <a:p>
              <a:pPr algn="l"/>
              <a:r>
                <a:rPr lang="zh-CN" sz="640" dirty="0">
                  <a:solidFill>
                    <a:srgbClr val="987F7A"/>
                  </a:solidFill>
                  <a:latin typeface="+mn-lt"/>
                  <a:ea typeface="+mn-ea"/>
                  <a:cs typeface="+mn-cs"/>
                </a:rPr>
                <a:t>对公客户结构（户数占比）</a:t>
              </a:r>
            </a:p>
          </p:txBody>
        </p:sp>
        <p:sp>
          <p:nvSpPr>
            <p:cNvPr id="54" name="Freeform 54"/>
            <p:cNvSpPr/>
            <p:nvPr/>
          </p:nvSpPr>
          <p:spPr>
            <a:xfrm>
              <a:off x="6781800" y="1352550"/>
              <a:ext cx="300929" cy="563404"/>
            </a:xfrm>
            <a:custGeom>
              <a:avLst/>
              <a:gdLst/>
              <a:ahLst/>
              <a:cxnLst/>
              <a:rect l="l" t="t" r="r" b="b"/>
              <a:pathLst>
                <a:path w="300929" h="563404">
                  <a:moveTo>
                    <a:pt x="0" y="285750"/>
                  </a:moveTo>
                  <a:lnTo>
                    <a:pt x="0" y="0"/>
                  </a:lnTo>
                  <a:cubicBezTo>
                    <a:pt x="144659" y="3"/>
                    <a:pt x="266496" y="108111"/>
                    <a:pt x="283713" y="251742"/>
                  </a:cubicBezTo>
                  <a:cubicBezTo>
                    <a:pt x="300929" y="395373"/>
                    <a:pt x="208093" y="529213"/>
                    <a:pt x="67532" y="563404"/>
                  </a:cubicBezTo>
                  <a:close/>
                </a:path>
              </a:pathLst>
            </a:custGeom>
            <a:solidFill>
              <a:srgbClr val="D0442C"/>
            </a:solidFill>
            <a:ln>
              <a:noFill/>
            </a:ln>
          </p:spPr>
        </p:sp>
        <p:sp>
          <p:nvSpPr>
            <p:cNvPr id="55" name="Freeform 55"/>
            <p:cNvSpPr/>
            <p:nvPr/>
          </p:nvSpPr>
          <p:spPr>
            <a:xfrm>
              <a:off x="6476391" y="1352548"/>
              <a:ext cx="372941" cy="589465"/>
            </a:xfrm>
            <a:custGeom>
              <a:avLst/>
              <a:gdLst/>
              <a:ahLst/>
              <a:cxnLst/>
              <a:rect l="l" t="t" r="r" b="b"/>
              <a:pathLst>
                <a:path w="372941" h="589465">
                  <a:moveTo>
                    <a:pt x="305409" y="285752"/>
                  </a:moveTo>
                  <a:lnTo>
                    <a:pt x="372941" y="563406"/>
                  </a:lnTo>
                  <a:cubicBezTo>
                    <a:pt x="265811" y="589465"/>
                    <a:pt x="153246" y="551567"/>
                    <a:pt x="83691" y="466022"/>
                  </a:cubicBezTo>
                  <a:cubicBezTo>
                    <a:pt x="14136" y="380477"/>
                    <a:pt x="0" y="262548"/>
                    <a:pt x="47368" y="162988"/>
                  </a:cubicBezTo>
                  <a:cubicBezTo>
                    <a:pt x="94735" y="63427"/>
                    <a:pt x="195155" y="0"/>
                    <a:pt x="305409" y="2"/>
                  </a:cubicBezTo>
                  <a:close/>
                </a:path>
              </a:pathLst>
            </a:custGeom>
            <a:solidFill>
              <a:srgbClr val="EBC1B8"/>
            </a:solidFill>
            <a:ln>
              <a:noFill/>
            </a:ln>
          </p:spPr>
        </p:sp>
        <p:sp>
          <p:nvSpPr>
            <p:cNvPr id="56" name="Ellipse 56"/>
            <p:cNvSpPr/>
            <p:nvPr/>
          </p:nvSpPr>
          <p:spPr>
            <a:xfrm>
              <a:off x="6619875" y="1476375"/>
              <a:ext cx="323850" cy="323850"/>
            </a:xfrm>
            <a:prstGeom prst="ellipse">
              <a:avLst/>
            </a:prstGeom>
            <a:solidFill>
              <a:srgbClr val="FFFFFF"/>
            </a:solidFill>
            <a:ln>
              <a:noFill/>
            </a:ln>
          </p:spPr>
        </p:sp>
        <p:sp>
          <p:nvSpPr>
            <p:cNvPr id="57" name="TextBox 57"/>
            <p:cNvSpPr txBox="1"/>
            <p:nvPr/>
          </p:nvSpPr>
          <p:spPr>
            <a:xfrm>
              <a:off x="6618724" y="1540907"/>
              <a:ext cx="326151" cy="126206"/>
            </a:xfrm>
            <a:prstGeom prst="rect">
              <a:avLst/>
            </a:prstGeom>
            <a:noFill/>
            <a:ln>
              <a:noFill/>
            </a:ln>
          </p:spPr>
          <p:txBody>
            <a:bodyPr wrap="none" lIns="0" tIns="0" rIns="0" bIns="0" anchor="t" anchorCtr="0">
              <a:spAutoFit/>
            </a:bodyPr>
            <a:lstStyle/>
            <a:p>
              <a:pPr algn="ctr"/>
              <a:r>
                <a:rPr lang="zh-CN" sz="640" b="1" dirty="0">
                  <a:solidFill>
                    <a:srgbClr val="D0442C"/>
                  </a:solidFill>
                  <a:latin typeface="+mn-lt"/>
                  <a:ea typeface="+mn-ea"/>
                  <a:cs typeface="+mn-cs"/>
                </a:rPr>
                <a:t>46.2%​</a:t>
              </a:r>
            </a:p>
          </p:txBody>
        </p:sp>
        <p:sp>
          <p:nvSpPr>
            <p:cNvPr id="58" name="TextBox 58"/>
            <p:cNvSpPr txBox="1"/>
            <p:nvPr/>
          </p:nvSpPr>
          <p:spPr>
            <a:xfrm>
              <a:off x="6645110" y="1652349"/>
              <a:ext cx="273380" cy="97631"/>
            </a:xfrm>
            <a:prstGeom prst="rect">
              <a:avLst/>
            </a:prstGeom>
            <a:noFill/>
            <a:ln>
              <a:noFill/>
            </a:ln>
          </p:spPr>
          <p:txBody>
            <a:bodyPr wrap="none" lIns="0" tIns="0" rIns="0" bIns="0" anchor="t" anchorCtr="0">
              <a:spAutoFit/>
            </a:bodyPr>
            <a:lstStyle/>
            <a:p>
              <a:pPr algn="ctr"/>
              <a:r>
                <a:rPr lang="zh-CN" sz="490" dirty="0">
                  <a:solidFill>
                    <a:srgbClr val="987F7A"/>
                  </a:solidFill>
                  <a:latin typeface="+mn-lt"/>
                  <a:ea typeface="+mn-ea"/>
                  <a:cs typeface="+mn-cs"/>
                </a:rPr>
                <a:t>零散过渡</a:t>
              </a:r>
            </a:p>
          </p:txBody>
        </p:sp>
        <p:sp>
          <p:nvSpPr>
            <p:cNvPr id="59" name="TextBox 59"/>
            <p:cNvSpPr txBox="1"/>
            <p:nvPr/>
          </p:nvSpPr>
          <p:spPr>
            <a:xfrm>
              <a:off x="7196138" y="1184434"/>
              <a:ext cx="1011677"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 xml:space="preserve">零散过渡客户占 </a:t>
              </a:r>
              <a:r>
                <a:rPr lang="zh-CN" sz="680" b="1" dirty="0">
                  <a:solidFill>
                    <a:srgbClr val="D0442C"/>
                  </a:solidFill>
                  <a:latin typeface="+mn-lt"/>
                  <a:ea typeface="+mn-ea"/>
                  <a:cs typeface="+mn-cs"/>
                </a:rPr>
                <a:t>46.2%</a:t>
              </a:r>
              <a:r>
                <a:rPr lang="zh-CN" sz="680" dirty="0">
                  <a:solidFill>
                    <a:srgbClr val="70504A"/>
                  </a:solidFill>
                  <a:latin typeface="+mn-lt"/>
                  <a:ea typeface="+mn-ea"/>
                  <a:cs typeface="+mn-cs"/>
                </a:rPr>
                <a:t>​</a:t>
              </a:r>
            </a:p>
          </p:txBody>
        </p:sp>
        <p:sp>
          <p:nvSpPr>
            <p:cNvPr id="60" name="TextBox 60"/>
            <p:cNvSpPr txBox="1"/>
            <p:nvPr/>
          </p:nvSpPr>
          <p:spPr>
            <a:xfrm>
              <a:off x="7196138" y="1355884"/>
              <a:ext cx="883747"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战略+重点客户贡献度</a:t>
              </a:r>
            </a:p>
          </p:txBody>
        </p:sp>
        <p:sp>
          <p:nvSpPr>
            <p:cNvPr id="61" name="TextBox 61"/>
            <p:cNvSpPr txBox="1"/>
            <p:nvPr/>
          </p:nvSpPr>
          <p:spPr>
            <a:xfrm>
              <a:off x="7196138" y="1527334"/>
              <a:ext cx="801131" cy="133350"/>
            </a:xfrm>
            <a:prstGeom prst="rect">
              <a:avLst/>
            </a:prstGeom>
            <a:noFill/>
            <a:ln>
              <a:noFill/>
            </a:ln>
          </p:spPr>
          <p:txBody>
            <a:bodyPr wrap="none" lIns="0" tIns="0" rIns="0" bIns="0" anchor="t" anchorCtr="0">
              <a:spAutoFit/>
            </a:bodyPr>
            <a:lstStyle/>
            <a:p>
              <a:pPr algn="l"/>
              <a:r>
                <a:rPr lang="zh-CN" sz="680" b="1" dirty="0">
                  <a:solidFill>
                    <a:srgbClr val="69281B"/>
                  </a:solidFill>
                  <a:latin typeface="+mn-lt"/>
                  <a:ea typeface="+mn-ea"/>
                  <a:cs typeface="+mn-cs"/>
                </a:rPr>
                <a:t>63.1%</a:t>
              </a:r>
              <a:r>
                <a:rPr lang="zh-CN" sz="680" dirty="0">
                  <a:solidFill>
                    <a:srgbClr val="70504A"/>
                  </a:solidFill>
                  <a:latin typeface="+mn-lt"/>
                  <a:ea typeface="+mn-ea"/>
                  <a:cs typeface="+mn-cs"/>
                </a:rPr>
                <a:t>，低于同业​</a:t>
              </a:r>
            </a:p>
          </p:txBody>
        </p:sp>
        <p:sp>
          <p:nvSpPr>
            <p:cNvPr id="62" name="Rectangle 62"/>
            <p:cNvSpPr/>
            <p:nvPr/>
          </p:nvSpPr>
          <p:spPr>
            <a:xfrm>
              <a:off x="6172200" y="2114550"/>
              <a:ext cx="2667000" cy="190500"/>
            </a:xfrm>
            <a:prstGeom prst="rect">
              <a:avLst/>
            </a:prstGeom>
            <a:solidFill>
              <a:srgbClr val="FBEAE9"/>
            </a:solidFill>
            <a:ln>
              <a:noFill/>
            </a:ln>
          </p:spPr>
        </p:sp>
        <p:sp>
          <p:nvSpPr>
            <p:cNvPr id="63" name="TextBox 63"/>
            <p:cNvSpPr txBox="1"/>
            <p:nvPr/>
          </p:nvSpPr>
          <p:spPr>
            <a:xfrm>
              <a:off x="6243638" y="2176653"/>
              <a:ext cx="1519961" cy="130493"/>
            </a:xfrm>
            <a:prstGeom prst="rect">
              <a:avLst/>
            </a:prstGeom>
            <a:noFill/>
            <a:ln>
              <a:noFill/>
            </a:ln>
          </p:spPr>
          <p:txBody>
            <a:bodyPr wrap="none" lIns="0" tIns="0" rIns="0" bIns="0" anchor="t" anchorCtr="0">
              <a:spAutoFit/>
            </a:bodyPr>
            <a:lstStyle/>
            <a:p>
              <a:pPr algn="l"/>
              <a:r>
                <a:rPr lang="zh-CN" sz="660" b="1" dirty="0">
                  <a:solidFill>
                    <a:srgbClr val="D0442C"/>
                  </a:solidFill>
                  <a:latin typeface="+mn-lt"/>
                  <a:ea typeface="+mn-ea"/>
                  <a:cs typeface="+mn-cs"/>
                </a:rPr>
                <a:t>客户结构不优，盈利与增长可持续性弱</a:t>
              </a:r>
            </a:p>
          </p:txBody>
        </p:sp>
      </p:grpSp>
      <p:grpSp>
        <p:nvGrpSpPr>
          <p:cNvPr id="88" name="problem-4"/>
          <p:cNvGrpSpPr/>
          <p:nvPr/>
        </p:nvGrpSpPr>
        <p:grpSpPr>
          <a:xfrm>
            <a:off x="9029700" y="685800"/>
            <a:ext cx="2819400" cy="1695450"/>
            <a:chOff x="9029700" y="685800"/>
            <a:chExt cx="2819400" cy="1695450"/>
          </a:xfrm>
        </p:grpSpPr>
        <p:sp>
          <p:nvSpPr>
            <p:cNvPr id="65" name="Rectangle 65"/>
            <p:cNvSpPr/>
            <p:nvPr/>
          </p:nvSpPr>
          <p:spPr>
            <a:xfrm>
              <a:off x="9029700" y="685800"/>
              <a:ext cx="2819400" cy="1695450"/>
            </a:xfrm>
            <a:prstGeom prst="roundRect">
              <a:avLst>
                <a:gd name="adj" fmla="val 3371"/>
              </a:avLst>
            </a:prstGeom>
            <a:solidFill>
              <a:srgbClr val="FFFFFF"/>
            </a:solidFill>
            <a:ln w="9525">
              <a:solidFill>
                <a:srgbClr val="C9D6E9"/>
              </a:solidFill>
            </a:ln>
          </p:spPr>
        </p:sp>
        <p:sp>
          <p:nvSpPr>
            <p:cNvPr id="66" name="Freeform 66"/>
            <p:cNvSpPr/>
            <p:nvPr/>
          </p:nvSpPr>
          <p:spPr>
            <a:xfrm>
              <a:off x="9029700" y="685800"/>
              <a:ext cx="2819400" cy="209550"/>
            </a:xfrm>
            <a:custGeom>
              <a:avLst/>
              <a:gdLst/>
              <a:ahLst/>
              <a:cxnLst/>
              <a:rect l="l" t="t" r="r" b="b"/>
              <a:pathLst>
                <a:path w="2819400" h="209550">
                  <a:moveTo>
                    <a:pt x="0" y="57150"/>
                  </a:moveTo>
                  <a:cubicBezTo>
                    <a:pt x="0" y="25587"/>
                    <a:pt x="25587" y="0"/>
                    <a:pt x="57150" y="0"/>
                  </a:cubicBezTo>
                  <a:lnTo>
                    <a:pt x="2819400" y="0"/>
                  </a:lnTo>
                  <a:lnTo>
                    <a:pt x="2628900" y="209550"/>
                  </a:lnTo>
                  <a:lnTo>
                    <a:pt x="0" y="209550"/>
                  </a:lnTo>
                  <a:close/>
                </a:path>
              </a:pathLst>
            </a:custGeom>
            <a:solidFill>
              <a:srgbClr val="69281B"/>
            </a:solidFill>
            <a:ln>
              <a:noFill/>
            </a:ln>
          </p:spPr>
        </p:sp>
        <p:sp>
          <p:nvSpPr>
            <p:cNvPr id="67" name="TextBox 67"/>
            <p:cNvSpPr txBox="1"/>
            <p:nvPr/>
          </p:nvSpPr>
          <p:spPr>
            <a:xfrm>
              <a:off x="9158288" y="735568"/>
              <a:ext cx="1416748"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问题4：网点对公转型缓慢​</a:t>
              </a:r>
            </a:p>
          </p:txBody>
        </p:sp>
        <p:sp>
          <p:nvSpPr>
            <p:cNvPr id="68" name="TextBox 68"/>
            <p:cNvSpPr txBox="1"/>
            <p:nvPr/>
          </p:nvSpPr>
          <p:spPr>
            <a:xfrm>
              <a:off x="9158288" y="997982"/>
              <a:ext cx="1043407" cy="126206"/>
            </a:xfrm>
            <a:prstGeom prst="rect">
              <a:avLst/>
            </a:prstGeom>
            <a:noFill/>
            <a:ln>
              <a:noFill/>
            </a:ln>
          </p:spPr>
          <p:txBody>
            <a:bodyPr wrap="none" lIns="0" tIns="0" rIns="0" bIns="0" anchor="t" anchorCtr="0">
              <a:spAutoFit/>
            </a:bodyPr>
            <a:lstStyle/>
            <a:p>
              <a:pPr algn="l"/>
              <a:r>
                <a:rPr lang="zh-CN" sz="640" dirty="0">
                  <a:solidFill>
                    <a:srgbClr val="987F7A"/>
                  </a:solidFill>
                  <a:latin typeface="+mn-lt"/>
                  <a:ea typeface="+mn-ea"/>
                  <a:cs typeface="+mn-cs"/>
                </a:rPr>
                <a:t>网点对公有效户均值（户）</a:t>
              </a:r>
            </a:p>
          </p:txBody>
        </p:sp>
        <p:sp>
          <p:nvSpPr>
            <p:cNvPr id="69" name="Rectangle 69"/>
            <p:cNvSpPr/>
            <p:nvPr/>
          </p:nvSpPr>
          <p:spPr>
            <a:xfrm>
              <a:off x="9296400" y="1333500"/>
              <a:ext cx="152400" cy="571500"/>
            </a:xfrm>
            <a:prstGeom prst="rect">
              <a:avLst/>
            </a:prstGeom>
            <a:solidFill>
              <a:srgbClr val="DC9C8F"/>
            </a:solidFill>
            <a:ln>
              <a:noFill/>
            </a:ln>
          </p:spPr>
        </p:sp>
        <p:sp>
          <p:nvSpPr>
            <p:cNvPr id="70" name="Rectangle 70"/>
            <p:cNvSpPr/>
            <p:nvPr/>
          </p:nvSpPr>
          <p:spPr>
            <a:xfrm>
              <a:off x="9601200" y="1495425"/>
              <a:ext cx="152400" cy="409575"/>
            </a:xfrm>
            <a:prstGeom prst="rect">
              <a:avLst/>
            </a:prstGeom>
            <a:solidFill>
              <a:srgbClr val="DC9C8F"/>
            </a:solidFill>
            <a:ln>
              <a:noFill/>
            </a:ln>
          </p:spPr>
        </p:sp>
        <p:sp>
          <p:nvSpPr>
            <p:cNvPr id="71" name="Rectangle 71"/>
            <p:cNvSpPr/>
            <p:nvPr/>
          </p:nvSpPr>
          <p:spPr>
            <a:xfrm>
              <a:off x="9906000" y="1600200"/>
              <a:ext cx="152400" cy="304800"/>
            </a:xfrm>
            <a:prstGeom prst="rect">
              <a:avLst/>
            </a:prstGeom>
            <a:solidFill>
              <a:srgbClr val="DC9C8F"/>
            </a:solidFill>
            <a:ln>
              <a:noFill/>
            </a:ln>
          </p:spPr>
        </p:sp>
        <p:sp>
          <p:nvSpPr>
            <p:cNvPr id="72" name="Rectangle 72"/>
            <p:cNvSpPr/>
            <p:nvPr/>
          </p:nvSpPr>
          <p:spPr>
            <a:xfrm>
              <a:off x="10210800" y="1724025"/>
              <a:ext cx="152400" cy="180975"/>
            </a:xfrm>
            <a:prstGeom prst="rect">
              <a:avLst/>
            </a:prstGeom>
            <a:solidFill>
              <a:srgbClr val="D0442C"/>
            </a:solidFill>
            <a:ln>
              <a:noFill/>
            </a:ln>
          </p:spPr>
        </p:sp>
        <p:sp>
          <p:nvSpPr>
            <p:cNvPr id="73" name="TextBox 73"/>
            <p:cNvSpPr txBox="1"/>
            <p:nvPr/>
          </p:nvSpPr>
          <p:spPr>
            <a:xfrm>
              <a:off x="9284912" y="1234678"/>
              <a:ext cx="175377" cy="111919"/>
            </a:xfrm>
            <a:prstGeom prst="rect">
              <a:avLst/>
            </a:prstGeom>
            <a:noFill/>
            <a:ln>
              <a:noFill/>
            </a:ln>
          </p:spPr>
          <p:txBody>
            <a:bodyPr wrap="none" lIns="0" tIns="0" rIns="0" bIns="0" anchor="t" anchorCtr="0">
              <a:spAutoFit/>
            </a:bodyPr>
            <a:lstStyle/>
            <a:p>
              <a:pPr algn="ctr"/>
              <a:r>
                <a:rPr lang="zh-CN" sz="560" dirty="0">
                  <a:solidFill>
                    <a:srgbClr val="70504A"/>
                  </a:solidFill>
                  <a:latin typeface="+mn-lt"/>
                  <a:ea typeface="+mn-ea"/>
                  <a:cs typeface="+mn-cs"/>
                </a:rPr>
                <a:t>268​</a:t>
              </a:r>
            </a:p>
          </p:txBody>
        </p:sp>
        <p:sp>
          <p:nvSpPr>
            <p:cNvPr id="74" name="TextBox 74"/>
            <p:cNvSpPr txBox="1"/>
            <p:nvPr/>
          </p:nvSpPr>
          <p:spPr>
            <a:xfrm>
              <a:off x="9589712" y="1396603"/>
              <a:ext cx="175377" cy="111919"/>
            </a:xfrm>
            <a:prstGeom prst="rect">
              <a:avLst/>
            </a:prstGeom>
            <a:noFill/>
            <a:ln>
              <a:noFill/>
            </a:ln>
          </p:spPr>
          <p:txBody>
            <a:bodyPr wrap="none" lIns="0" tIns="0" rIns="0" bIns="0" anchor="t" anchorCtr="0">
              <a:spAutoFit/>
            </a:bodyPr>
            <a:lstStyle/>
            <a:p>
              <a:pPr algn="ctr"/>
              <a:r>
                <a:rPr lang="zh-CN" sz="560" dirty="0">
                  <a:solidFill>
                    <a:srgbClr val="70504A"/>
                  </a:solidFill>
                  <a:latin typeface="+mn-lt"/>
                  <a:ea typeface="+mn-ea"/>
                  <a:cs typeface="+mn-cs"/>
                </a:rPr>
                <a:t>192​</a:t>
              </a:r>
            </a:p>
          </p:txBody>
        </p:sp>
        <p:sp>
          <p:nvSpPr>
            <p:cNvPr id="75" name="TextBox 75"/>
            <p:cNvSpPr txBox="1"/>
            <p:nvPr/>
          </p:nvSpPr>
          <p:spPr>
            <a:xfrm>
              <a:off x="9894512" y="1501378"/>
              <a:ext cx="175377" cy="111919"/>
            </a:xfrm>
            <a:prstGeom prst="rect">
              <a:avLst/>
            </a:prstGeom>
            <a:noFill/>
            <a:ln>
              <a:noFill/>
            </a:ln>
          </p:spPr>
          <p:txBody>
            <a:bodyPr wrap="none" lIns="0" tIns="0" rIns="0" bIns="0" anchor="t" anchorCtr="0">
              <a:spAutoFit/>
            </a:bodyPr>
            <a:lstStyle/>
            <a:p>
              <a:pPr algn="ctr"/>
              <a:r>
                <a:rPr lang="zh-CN" sz="560" dirty="0">
                  <a:solidFill>
                    <a:srgbClr val="70504A"/>
                  </a:solidFill>
                  <a:latin typeface="+mn-lt"/>
                  <a:ea typeface="+mn-ea"/>
                  <a:cs typeface="+mn-cs"/>
                </a:rPr>
                <a:t>143​</a:t>
              </a:r>
            </a:p>
          </p:txBody>
        </p:sp>
        <p:sp>
          <p:nvSpPr>
            <p:cNvPr id="76" name="TextBox 76"/>
            <p:cNvSpPr txBox="1"/>
            <p:nvPr/>
          </p:nvSpPr>
          <p:spPr>
            <a:xfrm>
              <a:off x="10216933" y="1625203"/>
              <a:ext cx="140133" cy="111919"/>
            </a:xfrm>
            <a:prstGeom prst="rect">
              <a:avLst/>
            </a:prstGeom>
            <a:noFill/>
            <a:ln>
              <a:noFill/>
            </a:ln>
          </p:spPr>
          <p:txBody>
            <a:bodyPr wrap="none" lIns="0" tIns="0" rIns="0" bIns="0" anchor="t" anchorCtr="0">
              <a:spAutoFit/>
            </a:bodyPr>
            <a:lstStyle/>
            <a:p>
              <a:pPr algn="ctr"/>
              <a:r>
                <a:rPr lang="zh-CN" sz="560" b="1" dirty="0">
                  <a:solidFill>
                    <a:srgbClr val="D0442C"/>
                  </a:solidFill>
                  <a:latin typeface="+mn-lt"/>
                  <a:ea typeface="+mn-ea"/>
                  <a:cs typeface="+mn-cs"/>
                </a:rPr>
                <a:t>86​</a:t>
              </a:r>
            </a:p>
          </p:txBody>
        </p:sp>
        <p:sp>
          <p:nvSpPr>
            <p:cNvPr id="77" name="Line 77"/>
            <p:cNvSpPr/>
            <p:nvPr/>
          </p:nvSpPr>
          <p:spPr>
            <a:xfrm>
              <a:off x="9220200" y="1905000"/>
              <a:ext cx="1257300" cy="9525"/>
            </a:xfrm>
            <a:custGeom>
              <a:avLst/>
              <a:gdLst/>
              <a:ahLst/>
              <a:cxnLst/>
              <a:rect l="l" t="t" r="r" b="b"/>
              <a:pathLst>
                <a:path w="1257300" h="9525">
                  <a:moveTo>
                    <a:pt x="0" y="0"/>
                  </a:moveTo>
                  <a:lnTo>
                    <a:pt x="1257300" y="0"/>
                  </a:lnTo>
                </a:path>
              </a:pathLst>
            </a:custGeom>
            <a:noFill/>
            <a:ln w="9525">
              <a:solidFill>
                <a:srgbClr val="C9D6E9"/>
              </a:solidFill>
            </a:ln>
          </p:spPr>
        </p:sp>
        <p:sp>
          <p:nvSpPr>
            <p:cNvPr id="78" name="TextBox 78"/>
            <p:cNvSpPr txBox="1"/>
            <p:nvPr/>
          </p:nvSpPr>
          <p:spPr>
            <a:xfrm>
              <a:off x="9250987" y="1958578"/>
              <a:ext cx="243225"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同业1​</a:t>
              </a:r>
            </a:p>
          </p:txBody>
        </p:sp>
        <p:sp>
          <p:nvSpPr>
            <p:cNvPr id="79" name="TextBox 79"/>
            <p:cNvSpPr txBox="1"/>
            <p:nvPr/>
          </p:nvSpPr>
          <p:spPr>
            <a:xfrm>
              <a:off x="9555787" y="1958578"/>
              <a:ext cx="243225"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同业2​</a:t>
              </a:r>
            </a:p>
          </p:txBody>
        </p:sp>
        <p:sp>
          <p:nvSpPr>
            <p:cNvPr id="80" name="TextBox 80"/>
            <p:cNvSpPr txBox="1"/>
            <p:nvPr/>
          </p:nvSpPr>
          <p:spPr>
            <a:xfrm>
              <a:off x="9860587" y="1958578"/>
              <a:ext cx="243225" cy="111919"/>
            </a:xfrm>
            <a:prstGeom prst="rect">
              <a:avLst/>
            </a:prstGeom>
            <a:noFill/>
            <a:ln>
              <a:noFill/>
            </a:ln>
          </p:spPr>
          <p:txBody>
            <a:bodyPr wrap="none" lIns="0" tIns="0" rIns="0" bIns="0" anchor="t" anchorCtr="0">
              <a:spAutoFit/>
            </a:bodyPr>
            <a:lstStyle/>
            <a:p>
              <a:pPr algn="ctr"/>
              <a:r>
                <a:rPr lang="zh-CN" sz="560" dirty="0">
                  <a:solidFill>
                    <a:srgbClr val="987F7A"/>
                  </a:solidFill>
                  <a:latin typeface="+mn-lt"/>
                  <a:ea typeface="+mn-ea"/>
                  <a:cs typeface="+mn-cs"/>
                </a:rPr>
                <a:t>同业3​</a:t>
              </a:r>
            </a:p>
          </p:txBody>
        </p:sp>
        <p:sp>
          <p:nvSpPr>
            <p:cNvPr id="81" name="TextBox 81"/>
            <p:cNvSpPr txBox="1"/>
            <p:nvPr/>
          </p:nvSpPr>
          <p:spPr>
            <a:xfrm>
              <a:off x="10206850" y="1958578"/>
              <a:ext cx="160299" cy="111919"/>
            </a:xfrm>
            <a:prstGeom prst="rect">
              <a:avLst/>
            </a:prstGeom>
            <a:noFill/>
            <a:ln>
              <a:noFill/>
            </a:ln>
          </p:spPr>
          <p:txBody>
            <a:bodyPr wrap="none" lIns="0" tIns="0" rIns="0" bIns="0" anchor="t" anchorCtr="0">
              <a:spAutoFit/>
            </a:bodyPr>
            <a:lstStyle/>
            <a:p>
              <a:pPr algn="ctr"/>
              <a:r>
                <a:rPr lang="zh-CN" sz="560" b="1" dirty="0">
                  <a:solidFill>
                    <a:srgbClr val="D0442C"/>
                  </a:solidFill>
                  <a:latin typeface="+mn-lt"/>
                  <a:ea typeface="+mn-ea"/>
                  <a:cs typeface="+mn-cs"/>
                </a:rPr>
                <a:t>本行</a:t>
              </a:r>
            </a:p>
          </p:txBody>
        </p:sp>
        <p:sp>
          <p:nvSpPr>
            <p:cNvPr id="82" name="TextBox 82"/>
            <p:cNvSpPr txBox="1"/>
            <p:nvPr/>
          </p:nvSpPr>
          <p:spPr>
            <a:xfrm>
              <a:off x="10663238" y="1184434"/>
              <a:ext cx="558775"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本行网点对公</a:t>
              </a:r>
            </a:p>
          </p:txBody>
        </p:sp>
        <p:sp>
          <p:nvSpPr>
            <p:cNvPr id="83" name="TextBox 83"/>
            <p:cNvSpPr txBox="1"/>
            <p:nvPr/>
          </p:nvSpPr>
          <p:spPr>
            <a:xfrm>
              <a:off x="10663238" y="1317784"/>
              <a:ext cx="467233"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有效户均值</a:t>
              </a:r>
            </a:p>
          </p:txBody>
        </p:sp>
        <p:sp>
          <p:nvSpPr>
            <p:cNvPr id="84" name="TextBox 84"/>
            <p:cNvSpPr txBox="1"/>
            <p:nvPr/>
          </p:nvSpPr>
          <p:spPr>
            <a:xfrm>
              <a:off x="10662285" y="1459706"/>
              <a:ext cx="411682" cy="220028"/>
            </a:xfrm>
            <a:prstGeom prst="rect">
              <a:avLst/>
            </a:prstGeom>
            <a:noFill/>
            <a:ln>
              <a:noFill/>
            </a:ln>
          </p:spPr>
          <p:txBody>
            <a:bodyPr wrap="none" lIns="0" tIns="0" rIns="0" bIns="0" anchor="t" anchorCtr="0">
              <a:spAutoFit/>
            </a:bodyPr>
            <a:lstStyle/>
            <a:p>
              <a:pPr algn="l"/>
              <a:r>
                <a:rPr lang="zh-CN" sz="1120" b="1" dirty="0">
                  <a:solidFill>
                    <a:srgbClr val="D0442C"/>
                  </a:solidFill>
                  <a:latin typeface="+mn-lt"/>
                  <a:ea typeface="+mn-ea"/>
                  <a:cs typeface="+mn-cs"/>
                </a:rPr>
                <a:t xml:space="preserve">86 </a:t>
              </a:r>
              <a:r>
                <a:rPr lang="zh-CN" sz="680" dirty="0">
                  <a:solidFill>
                    <a:srgbClr val="70504A"/>
                  </a:solidFill>
                  <a:latin typeface="+mn-lt"/>
                  <a:ea typeface="+mn-ea"/>
                  <a:cs typeface="+mn-cs"/>
                </a:rPr>
                <a:t>户</a:t>
              </a:r>
              <a:r>
                <a:rPr lang="zh-CN" sz="1120" b="1" dirty="0">
                  <a:solidFill>
                    <a:srgbClr val="D0442C"/>
                  </a:solidFill>
                  <a:latin typeface="+mn-lt"/>
                  <a:ea typeface="+mn-ea"/>
                  <a:cs typeface="+mn-cs"/>
                </a:rPr>
                <a:t>​</a:t>
              </a:r>
            </a:p>
          </p:txBody>
        </p:sp>
        <p:sp>
          <p:nvSpPr>
            <p:cNvPr id="85" name="TextBox 85"/>
            <p:cNvSpPr txBox="1"/>
            <p:nvPr/>
          </p:nvSpPr>
          <p:spPr>
            <a:xfrm>
              <a:off x="10663238" y="1683782"/>
              <a:ext cx="1000328"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低于同业前三均值 106户​</a:t>
              </a:r>
            </a:p>
          </p:txBody>
        </p:sp>
        <p:sp>
          <p:nvSpPr>
            <p:cNvPr id="86" name="Rectangle 86"/>
            <p:cNvSpPr/>
            <p:nvPr/>
          </p:nvSpPr>
          <p:spPr>
            <a:xfrm>
              <a:off x="9105900" y="2114550"/>
              <a:ext cx="2667000" cy="190500"/>
            </a:xfrm>
            <a:prstGeom prst="rect">
              <a:avLst/>
            </a:prstGeom>
            <a:solidFill>
              <a:srgbClr val="FBEAE9"/>
            </a:solidFill>
            <a:ln>
              <a:noFill/>
            </a:ln>
          </p:spPr>
        </p:sp>
        <p:sp>
          <p:nvSpPr>
            <p:cNvPr id="87" name="TextBox 87"/>
            <p:cNvSpPr txBox="1"/>
            <p:nvPr/>
          </p:nvSpPr>
          <p:spPr>
            <a:xfrm>
              <a:off x="9177338" y="2176653"/>
              <a:ext cx="1431112" cy="130493"/>
            </a:xfrm>
            <a:prstGeom prst="rect">
              <a:avLst/>
            </a:prstGeom>
            <a:noFill/>
            <a:ln>
              <a:noFill/>
            </a:ln>
          </p:spPr>
          <p:txBody>
            <a:bodyPr wrap="none" lIns="0" tIns="0" rIns="0" bIns="0" anchor="t" anchorCtr="0">
              <a:spAutoFit/>
            </a:bodyPr>
            <a:lstStyle/>
            <a:p>
              <a:pPr algn="l"/>
              <a:r>
                <a:rPr lang="zh-CN" sz="660" b="1" dirty="0">
                  <a:solidFill>
                    <a:srgbClr val="D0442C"/>
                  </a:solidFill>
                  <a:latin typeface="+mn-lt"/>
                  <a:ea typeface="+mn-ea"/>
                  <a:cs typeface="+mn-cs"/>
                </a:rPr>
                <a:t>转型动力不足，客户经理能力差异大</a:t>
              </a:r>
            </a:p>
          </p:txBody>
        </p:sp>
      </p:grpSp>
      <p:grpSp>
        <p:nvGrpSpPr>
          <p:cNvPr id="138" name="problem-tree"/>
          <p:cNvGrpSpPr/>
          <p:nvPr/>
        </p:nvGrpSpPr>
        <p:grpSpPr>
          <a:xfrm>
            <a:off x="228600" y="2495550"/>
            <a:ext cx="11734800" cy="1664018"/>
            <a:chOff x="228600" y="2495550"/>
            <a:chExt cx="11734800" cy="1664018"/>
          </a:xfrm>
        </p:grpSpPr>
        <p:sp>
          <p:nvSpPr>
            <p:cNvPr id="89" name="Rectangle 89"/>
            <p:cNvSpPr/>
            <p:nvPr/>
          </p:nvSpPr>
          <p:spPr>
            <a:xfrm>
              <a:off x="228600" y="2495550"/>
              <a:ext cx="11734800" cy="1657350"/>
            </a:xfrm>
            <a:prstGeom prst="roundRect">
              <a:avLst>
                <a:gd name="adj" fmla="val 3448"/>
              </a:avLst>
            </a:prstGeom>
            <a:solidFill>
              <a:srgbClr val="FFFFFF"/>
            </a:solidFill>
            <a:ln w="9525">
              <a:solidFill>
                <a:srgbClr val="C9D6E9"/>
              </a:solidFill>
            </a:ln>
          </p:spPr>
        </p:sp>
        <p:sp>
          <p:nvSpPr>
            <p:cNvPr id="90" name="Rectangle 90"/>
            <p:cNvSpPr/>
            <p:nvPr/>
          </p:nvSpPr>
          <p:spPr>
            <a:xfrm>
              <a:off x="304800" y="2571750"/>
              <a:ext cx="419100" cy="1504950"/>
            </a:xfrm>
            <a:prstGeom prst="rect">
              <a:avLst/>
            </a:prstGeom>
            <a:solidFill>
              <a:srgbClr val="69281B"/>
            </a:solidFill>
            <a:ln>
              <a:noFill/>
            </a:ln>
          </p:spPr>
        </p:sp>
        <p:sp>
          <p:nvSpPr>
            <p:cNvPr id="91" name="TextBox 91"/>
            <p:cNvSpPr txBox="1"/>
            <p:nvPr/>
          </p:nvSpPr>
          <p:spPr>
            <a:xfrm>
              <a:off x="443433" y="3037999"/>
              <a:ext cx="14183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问</a:t>
              </a:r>
            </a:p>
          </p:txBody>
        </p:sp>
        <p:sp>
          <p:nvSpPr>
            <p:cNvPr id="92" name="TextBox 92"/>
            <p:cNvSpPr txBox="1"/>
            <p:nvPr/>
          </p:nvSpPr>
          <p:spPr>
            <a:xfrm>
              <a:off x="443433" y="3228499"/>
              <a:ext cx="14183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题</a:t>
              </a:r>
            </a:p>
          </p:txBody>
        </p:sp>
        <p:sp>
          <p:nvSpPr>
            <p:cNvPr id="93" name="TextBox 93"/>
            <p:cNvSpPr txBox="1"/>
            <p:nvPr/>
          </p:nvSpPr>
          <p:spPr>
            <a:xfrm>
              <a:off x="443433" y="3418999"/>
              <a:ext cx="14183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树</a:t>
              </a:r>
            </a:p>
          </p:txBody>
        </p:sp>
        <p:sp>
          <p:nvSpPr>
            <p:cNvPr id="94" name="Rectangle 94"/>
            <p:cNvSpPr/>
            <p:nvPr/>
          </p:nvSpPr>
          <p:spPr>
            <a:xfrm>
              <a:off x="762000" y="2571750"/>
              <a:ext cx="1428750" cy="209550"/>
            </a:xfrm>
            <a:prstGeom prst="rect">
              <a:avLst/>
            </a:prstGeom>
            <a:solidFill>
              <a:srgbClr val="EAF1FB"/>
            </a:solidFill>
            <a:ln>
              <a:noFill/>
            </a:ln>
          </p:spPr>
        </p:sp>
        <p:sp>
          <p:nvSpPr>
            <p:cNvPr id="95" name="Rectangle 95"/>
            <p:cNvSpPr/>
            <p:nvPr/>
          </p:nvSpPr>
          <p:spPr>
            <a:xfrm>
              <a:off x="2209800" y="2571750"/>
              <a:ext cx="2362200" cy="209550"/>
            </a:xfrm>
            <a:prstGeom prst="rect">
              <a:avLst/>
            </a:prstGeom>
            <a:solidFill>
              <a:srgbClr val="EAF1FB"/>
            </a:solidFill>
            <a:ln>
              <a:noFill/>
            </a:ln>
          </p:spPr>
        </p:sp>
        <p:sp>
          <p:nvSpPr>
            <p:cNvPr id="96" name="Rectangle 96"/>
            <p:cNvSpPr/>
            <p:nvPr/>
          </p:nvSpPr>
          <p:spPr>
            <a:xfrm>
              <a:off x="4591050" y="2571750"/>
              <a:ext cx="2362200" cy="209550"/>
            </a:xfrm>
            <a:prstGeom prst="rect">
              <a:avLst/>
            </a:prstGeom>
            <a:solidFill>
              <a:srgbClr val="EAF1FB"/>
            </a:solidFill>
            <a:ln>
              <a:noFill/>
            </a:ln>
          </p:spPr>
        </p:sp>
        <p:sp>
          <p:nvSpPr>
            <p:cNvPr id="97" name="Rectangle 97"/>
            <p:cNvSpPr/>
            <p:nvPr/>
          </p:nvSpPr>
          <p:spPr>
            <a:xfrm>
              <a:off x="6972300" y="2571750"/>
              <a:ext cx="2362200" cy="209550"/>
            </a:xfrm>
            <a:prstGeom prst="rect">
              <a:avLst/>
            </a:prstGeom>
            <a:solidFill>
              <a:srgbClr val="EAF1FB"/>
            </a:solidFill>
            <a:ln>
              <a:noFill/>
            </a:ln>
          </p:spPr>
        </p:sp>
        <p:sp>
          <p:nvSpPr>
            <p:cNvPr id="98" name="Rectangle 98"/>
            <p:cNvSpPr/>
            <p:nvPr/>
          </p:nvSpPr>
          <p:spPr>
            <a:xfrm>
              <a:off x="9353550" y="2571750"/>
              <a:ext cx="2533650" cy="209550"/>
            </a:xfrm>
            <a:prstGeom prst="rect">
              <a:avLst/>
            </a:prstGeom>
            <a:solidFill>
              <a:srgbClr val="EAF1FB"/>
            </a:solidFill>
            <a:ln>
              <a:noFill/>
            </a:ln>
          </p:spPr>
        </p:sp>
        <p:sp>
          <p:nvSpPr>
            <p:cNvPr id="99" name="TextBox 99"/>
            <p:cNvSpPr txBox="1"/>
            <p:nvPr/>
          </p:nvSpPr>
          <p:spPr>
            <a:xfrm>
              <a:off x="1380071" y="2641759"/>
              <a:ext cx="192608"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问题</a:t>
              </a:r>
            </a:p>
          </p:txBody>
        </p:sp>
        <p:sp>
          <p:nvSpPr>
            <p:cNvPr id="100" name="TextBox 100"/>
            <p:cNvSpPr txBox="1"/>
            <p:nvPr/>
          </p:nvSpPr>
          <p:spPr>
            <a:xfrm>
              <a:off x="2928430" y="2641759"/>
              <a:ext cx="92494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表象（我们看到什么）</a:t>
              </a:r>
            </a:p>
          </p:txBody>
        </p:sp>
        <p:sp>
          <p:nvSpPr>
            <p:cNvPr id="101" name="TextBox 101"/>
            <p:cNvSpPr txBox="1"/>
            <p:nvPr/>
          </p:nvSpPr>
          <p:spPr>
            <a:xfrm>
              <a:off x="4547609" y="2643188"/>
              <a:ext cx="67832"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a:t>
              </a:r>
            </a:p>
          </p:txBody>
        </p:sp>
        <p:sp>
          <p:nvSpPr>
            <p:cNvPr id="102" name="TextBox 102"/>
            <p:cNvSpPr txBox="1"/>
            <p:nvPr/>
          </p:nvSpPr>
          <p:spPr>
            <a:xfrm>
              <a:off x="5218138" y="2641759"/>
              <a:ext cx="1108024"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直接原因（为什么会这样）</a:t>
              </a:r>
            </a:p>
          </p:txBody>
        </p:sp>
        <p:sp>
          <p:nvSpPr>
            <p:cNvPr id="103" name="TextBox 103"/>
            <p:cNvSpPr txBox="1"/>
            <p:nvPr/>
          </p:nvSpPr>
          <p:spPr>
            <a:xfrm>
              <a:off x="6928859" y="2643188"/>
              <a:ext cx="67832"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a:t>
              </a:r>
            </a:p>
          </p:txBody>
        </p:sp>
        <p:sp>
          <p:nvSpPr>
            <p:cNvPr id="104" name="TextBox 104"/>
            <p:cNvSpPr txBox="1"/>
            <p:nvPr/>
          </p:nvSpPr>
          <p:spPr>
            <a:xfrm>
              <a:off x="7736700" y="2641759"/>
              <a:ext cx="833399"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根源（深层次原因）</a:t>
              </a:r>
            </a:p>
          </p:txBody>
        </p:sp>
        <p:sp>
          <p:nvSpPr>
            <p:cNvPr id="105" name="TextBox 105"/>
            <p:cNvSpPr txBox="1"/>
            <p:nvPr/>
          </p:nvSpPr>
          <p:spPr>
            <a:xfrm>
              <a:off x="9310109" y="2643188"/>
              <a:ext cx="67832"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a:t>
              </a:r>
            </a:p>
          </p:txBody>
        </p:sp>
        <p:sp>
          <p:nvSpPr>
            <p:cNvPr id="106" name="TextBox 106"/>
            <p:cNvSpPr txBox="1"/>
            <p:nvPr/>
          </p:nvSpPr>
          <p:spPr>
            <a:xfrm>
              <a:off x="10112134" y="2641759"/>
              <a:ext cx="1016483"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经营影响（带来的结果）</a:t>
              </a:r>
            </a:p>
          </p:txBody>
        </p:sp>
        <p:sp>
          <p:nvSpPr>
            <p:cNvPr id="107" name="Ellipse 107"/>
            <p:cNvSpPr/>
            <p:nvPr/>
          </p:nvSpPr>
          <p:spPr>
            <a:xfrm>
              <a:off x="828675" y="2867025"/>
              <a:ext cx="133350" cy="133350"/>
            </a:xfrm>
            <a:prstGeom prst="ellipse">
              <a:avLst/>
            </a:prstGeom>
            <a:solidFill>
              <a:srgbClr val="E04C2E"/>
            </a:solidFill>
            <a:ln>
              <a:noFill/>
            </a:ln>
          </p:spPr>
        </p:sp>
        <p:sp>
          <p:nvSpPr>
            <p:cNvPr id="108" name="TextBox 108"/>
            <p:cNvSpPr txBox="1"/>
            <p:nvPr/>
          </p:nvSpPr>
          <p:spPr>
            <a:xfrm>
              <a:off x="843942" y="2897505"/>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1​</a:t>
              </a:r>
            </a:p>
          </p:txBody>
        </p:sp>
        <p:sp>
          <p:nvSpPr>
            <p:cNvPr id="109" name="TextBox 109"/>
            <p:cNvSpPr txBox="1"/>
            <p:nvPr/>
          </p:nvSpPr>
          <p:spPr>
            <a:xfrm>
              <a:off x="1023938" y="2900553"/>
              <a:ext cx="720319" cy="130493"/>
            </a:xfrm>
            <a:prstGeom prst="rect">
              <a:avLst/>
            </a:prstGeom>
            <a:noFill/>
            <a:ln>
              <a:noFill/>
            </a:ln>
          </p:spPr>
          <p:txBody>
            <a:bodyPr wrap="none" lIns="0" tIns="0" rIns="0" bIns="0" anchor="t" anchorCtr="0">
              <a:spAutoFit/>
            </a:bodyPr>
            <a:lstStyle/>
            <a:p>
              <a:pPr algn="l"/>
              <a:r>
                <a:rPr lang="zh-CN" sz="660" b="1" dirty="0">
                  <a:solidFill>
                    <a:srgbClr val="69281B"/>
                  </a:solidFill>
                  <a:latin typeface="+mn-lt"/>
                  <a:ea typeface="+mn-ea"/>
                  <a:cs typeface="+mn-cs"/>
                </a:rPr>
                <a:t>存款市场份额不足</a:t>
              </a:r>
            </a:p>
          </p:txBody>
        </p:sp>
        <p:sp>
          <p:nvSpPr>
            <p:cNvPr id="110" name="TextBox 110"/>
            <p:cNvSpPr txBox="1"/>
            <p:nvPr/>
          </p:nvSpPr>
          <p:spPr>
            <a:xfrm>
              <a:off x="2262188" y="2868930"/>
              <a:ext cx="996315" cy="219075"/>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本行对公存款份额仅8.6%，​</a:t>
              </a:r>
              <a:br/>
              <a:r>
                <a:rPr lang="zh-CN" sz="600" dirty="0">
                  <a:solidFill>
                    <a:srgbClr val="70504A"/>
                  </a:solidFill>
                  <a:latin typeface="+mn-lt"/>
                  <a:ea typeface="+mn-ea"/>
                  <a:cs typeface="+mn-cs"/>
                </a:rPr>
                <a:t>低于同业前三</a:t>
              </a:r>
            </a:p>
          </p:txBody>
        </p:sp>
        <p:sp>
          <p:nvSpPr>
            <p:cNvPr id="111" name="TextBox 111"/>
            <p:cNvSpPr txBox="1"/>
            <p:nvPr/>
          </p:nvSpPr>
          <p:spPr>
            <a:xfrm>
              <a:off x="4643438" y="2868930"/>
              <a:ext cx="1042035" cy="319088"/>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重点行业沉淀不足，定存/低成</a:t>
              </a:r>
              <a:br/>
              <a:r>
                <a:rPr lang="zh-CN" sz="600" dirty="0">
                  <a:solidFill>
                    <a:srgbClr val="70504A"/>
                  </a:solidFill>
                  <a:latin typeface="+mn-lt"/>
                  <a:ea typeface="+mn-ea"/>
                  <a:cs typeface="+mn-cs"/>
                </a:rPr>
                <a:t>本存款占比偏低；核心客户</a:t>
              </a:r>
              <a:br/>
              <a:r>
                <a:rPr lang="zh-CN" sz="600" dirty="0">
                  <a:solidFill>
                    <a:srgbClr val="70504A"/>
                  </a:solidFill>
                  <a:latin typeface="+mn-lt"/>
                  <a:ea typeface="+mn-ea"/>
                  <a:cs typeface="+mn-cs"/>
                </a:rPr>
                <a:t>资金归集率不高</a:t>
              </a:r>
            </a:p>
          </p:txBody>
        </p:sp>
        <p:sp>
          <p:nvSpPr>
            <p:cNvPr id="112" name="TextBox 112"/>
            <p:cNvSpPr txBox="1"/>
            <p:nvPr/>
          </p:nvSpPr>
          <p:spPr>
            <a:xfrm>
              <a:off x="7024688" y="2868930"/>
              <a:ext cx="923925" cy="319088"/>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行业研究与客户深耕不足；</a:t>
              </a:r>
              <a:br/>
              <a:r>
                <a:rPr lang="zh-CN" sz="600" dirty="0">
                  <a:solidFill>
                    <a:srgbClr val="70504A"/>
                  </a:solidFill>
                  <a:latin typeface="+mn-lt"/>
                  <a:ea typeface="+mn-ea"/>
                  <a:cs typeface="+mn-cs"/>
                </a:rPr>
                <a:t>产品与服务竞争力弱；内部</a:t>
              </a:r>
              <a:br/>
              <a:r>
                <a:rPr lang="zh-CN" sz="600" dirty="0">
                  <a:solidFill>
                    <a:srgbClr val="70504A"/>
                  </a:solidFill>
                  <a:latin typeface="+mn-lt"/>
                  <a:ea typeface="+mn-ea"/>
                  <a:cs typeface="+mn-cs"/>
                </a:rPr>
                <a:t>协同与激励不到位</a:t>
              </a:r>
            </a:p>
          </p:txBody>
        </p:sp>
        <p:sp>
          <p:nvSpPr>
            <p:cNvPr id="113" name="TextBox 113"/>
            <p:cNvSpPr txBox="1"/>
            <p:nvPr/>
          </p:nvSpPr>
          <p:spPr>
            <a:xfrm>
              <a:off x="9405938" y="2868930"/>
              <a:ext cx="923925" cy="219075"/>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付息率偏高，净息差承压，</a:t>
              </a:r>
              <a:br/>
              <a:r>
                <a:rPr lang="zh-CN" sz="600" dirty="0">
                  <a:solidFill>
                    <a:srgbClr val="70504A"/>
                  </a:solidFill>
                  <a:latin typeface="+mn-lt"/>
                  <a:ea typeface="+mn-ea"/>
                  <a:cs typeface="+mn-cs"/>
                </a:rPr>
                <a:t>资金稳定性不足</a:t>
              </a:r>
            </a:p>
          </p:txBody>
        </p:sp>
        <p:sp>
          <p:nvSpPr>
            <p:cNvPr id="114" name="Line 114"/>
            <p:cNvSpPr/>
            <p:nvPr/>
          </p:nvSpPr>
          <p:spPr>
            <a:xfrm>
              <a:off x="762000" y="3143250"/>
              <a:ext cx="11125200" cy="9525"/>
            </a:xfrm>
            <a:custGeom>
              <a:avLst/>
              <a:gdLst/>
              <a:ahLst/>
              <a:cxnLst/>
              <a:rect l="l" t="t" r="r" b="b"/>
              <a:pathLst>
                <a:path w="11125200" h="9525">
                  <a:moveTo>
                    <a:pt x="0" y="0"/>
                  </a:moveTo>
                  <a:lnTo>
                    <a:pt x="11125200" y="0"/>
                  </a:lnTo>
                </a:path>
              </a:pathLst>
            </a:custGeom>
            <a:noFill/>
            <a:ln w="9525">
              <a:solidFill>
                <a:srgbClr val="EDF2FA"/>
              </a:solidFill>
            </a:ln>
          </p:spPr>
        </p:sp>
        <p:sp>
          <p:nvSpPr>
            <p:cNvPr id="115" name="Ellipse 115"/>
            <p:cNvSpPr/>
            <p:nvPr/>
          </p:nvSpPr>
          <p:spPr>
            <a:xfrm>
              <a:off x="828675" y="3190875"/>
              <a:ext cx="133350" cy="133350"/>
            </a:xfrm>
            <a:prstGeom prst="ellipse">
              <a:avLst/>
            </a:prstGeom>
            <a:solidFill>
              <a:srgbClr val="E04C2E"/>
            </a:solidFill>
            <a:ln>
              <a:noFill/>
            </a:ln>
          </p:spPr>
        </p:sp>
        <p:sp>
          <p:nvSpPr>
            <p:cNvPr id="116" name="TextBox 116"/>
            <p:cNvSpPr txBox="1"/>
            <p:nvPr/>
          </p:nvSpPr>
          <p:spPr>
            <a:xfrm>
              <a:off x="843942" y="3221355"/>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2​</a:t>
              </a:r>
            </a:p>
          </p:txBody>
        </p:sp>
        <p:sp>
          <p:nvSpPr>
            <p:cNvPr id="117" name="TextBox 117"/>
            <p:cNvSpPr txBox="1"/>
            <p:nvPr/>
          </p:nvSpPr>
          <p:spPr>
            <a:xfrm>
              <a:off x="1023938" y="3224403"/>
              <a:ext cx="720319" cy="130493"/>
            </a:xfrm>
            <a:prstGeom prst="rect">
              <a:avLst/>
            </a:prstGeom>
            <a:noFill/>
            <a:ln>
              <a:noFill/>
            </a:ln>
          </p:spPr>
          <p:txBody>
            <a:bodyPr wrap="none" lIns="0" tIns="0" rIns="0" bIns="0" anchor="t" anchorCtr="0">
              <a:spAutoFit/>
            </a:bodyPr>
            <a:lstStyle/>
            <a:p>
              <a:pPr algn="l"/>
              <a:r>
                <a:rPr lang="zh-CN" sz="660" b="1" dirty="0">
                  <a:solidFill>
                    <a:srgbClr val="69281B"/>
                  </a:solidFill>
                  <a:latin typeface="+mn-lt"/>
                  <a:ea typeface="+mn-ea"/>
                  <a:cs typeface="+mn-cs"/>
                </a:rPr>
                <a:t>法人信贷储备不足</a:t>
              </a:r>
            </a:p>
          </p:txBody>
        </p:sp>
        <p:sp>
          <p:nvSpPr>
            <p:cNvPr id="118" name="TextBox 118"/>
            <p:cNvSpPr txBox="1"/>
            <p:nvPr/>
          </p:nvSpPr>
          <p:spPr>
            <a:xfrm>
              <a:off x="2262188" y="3192780"/>
              <a:ext cx="988695" cy="219075"/>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未来90天可投放项目仅42.8​</a:t>
              </a:r>
              <a:br/>
              <a:r>
                <a:rPr lang="zh-CN" sz="600" dirty="0">
                  <a:solidFill>
                    <a:srgbClr val="70504A"/>
                  </a:solidFill>
                  <a:latin typeface="+mn-lt"/>
                  <a:ea typeface="+mn-ea"/>
                  <a:cs typeface="+mn-cs"/>
                </a:rPr>
                <a:t>亿元，缺口18.6亿元​</a:t>
              </a:r>
            </a:p>
          </p:txBody>
        </p:sp>
        <p:sp>
          <p:nvSpPr>
            <p:cNvPr id="119" name="TextBox 119"/>
            <p:cNvSpPr txBox="1"/>
            <p:nvPr/>
          </p:nvSpPr>
          <p:spPr>
            <a:xfrm>
              <a:off x="4643438" y="3192780"/>
              <a:ext cx="1000125" cy="319088"/>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项目线索转化率低，优质项目</a:t>
              </a:r>
              <a:br/>
              <a:r>
                <a:rPr lang="zh-CN" sz="600" dirty="0">
                  <a:solidFill>
                    <a:srgbClr val="70504A"/>
                  </a:solidFill>
                  <a:latin typeface="+mn-lt"/>
                  <a:ea typeface="+mn-ea"/>
                  <a:cs typeface="+mn-cs"/>
                </a:rPr>
                <a:t>储备池偏小；中长期项目储</a:t>
              </a:r>
              <a:br/>
              <a:r>
                <a:rPr lang="zh-CN" sz="600" dirty="0">
                  <a:solidFill>
                    <a:srgbClr val="70504A"/>
                  </a:solidFill>
                  <a:latin typeface="+mn-lt"/>
                  <a:ea typeface="+mn-ea"/>
                  <a:cs typeface="+mn-cs"/>
                </a:rPr>
                <a:t>备偏弱</a:t>
              </a:r>
            </a:p>
          </p:txBody>
        </p:sp>
        <p:sp>
          <p:nvSpPr>
            <p:cNvPr id="120" name="TextBox 120"/>
            <p:cNvSpPr txBox="1"/>
            <p:nvPr/>
          </p:nvSpPr>
          <p:spPr>
            <a:xfrm>
              <a:off x="7024688" y="3192780"/>
              <a:ext cx="923925" cy="319088"/>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前端营销与生态建设不足；</a:t>
              </a:r>
              <a:br/>
              <a:r>
                <a:rPr lang="zh-CN" sz="600" dirty="0">
                  <a:solidFill>
                    <a:srgbClr val="70504A"/>
                  </a:solidFill>
                  <a:latin typeface="+mn-lt"/>
                  <a:ea typeface="+mn-ea"/>
                  <a:cs typeface="+mn-cs"/>
                </a:rPr>
                <a:t>项目评估与审批效率不高；</a:t>
              </a:r>
              <a:br/>
              <a:r>
                <a:rPr lang="zh-CN" sz="600" dirty="0">
                  <a:solidFill>
                    <a:srgbClr val="70504A"/>
                  </a:solidFill>
                  <a:latin typeface="+mn-lt"/>
                  <a:ea typeface="+mn-ea"/>
                  <a:cs typeface="+mn-cs"/>
                </a:rPr>
                <a:t>行业布局稳定性失衡</a:t>
              </a:r>
            </a:p>
          </p:txBody>
        </p:sp>
        <p:sp>
          <p:nvSpPr>
            <p:cNvPr id="121" name="TextBox 121"/>
            <p:cNvSpPr txBox="1"/>
            <p:nvPr/>
          </p:nvSpPr>
          <p:spPr>
            <a:xfrm>
              <a:off x="9405938" y="3192780"/>
              <a:ext cx="1059561"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投放后劲不足，市场机会流失</a:t>
              </a:r>
            </a:p>
          </p:txBody>
        </p:sp>
        <p:sp>
          <p:nvSpPr>
            <p:cNvPr id="122" name="Line 122"/>
            <p:cNvSpPr/>
            <p:nvPr/>
          </p:nvSpPr>
          <p:spPr>
            <a:xfrm>
              <a:off x="762000" y="3467100"/>
              <a:ext cx="11125200" cy="9525"/>
            </a:xfrm>
            <a:custGeom>
              <a:avLst/>
              <a:gdLst/>
              <a:ahLst/>
              <a:cxnLst/>
              <a:rect l="l" t="t" r="r" b="b"/>
              <a:pathLst>
                <a:path w="11125200" h="9525">
                  <a:moveTo>
                    <a:pt x="0" y="0"/>
                  </a:moveTo>
                  <a:lnTo>
                    <a:pt x="11125200" y="0"/>
                  </a:lnTo>
                </a:path>
              </a:pathLst>
            </a:custGeom>
            <a:noFill/>
            <a:ln w="9525">
              <a:solidFill>
                <a:srgbClr val="EDF2FA"/>
              </a:solidFill>
            </a:ln>
          </p:spPr>
        </p:sp>
        <p:sp>
          <p:nvSpPr>
            <p:cNvPr id="123" name="Ellipse 123"/>
            <p:cNvSpPr/>
            <p:nvPr/>
          </p:nvSpPr>
          <p:spPr>
            <a:xfrm>
              <a:off x="828675" y="3514725"/>
              <a:ext cx="133350" cy="133350"/>
            </a:xfrm>
            <a:prstGeom prst="ellipse">
              <a:avLst/>
            </a:prstGeom>
            <a:solidFill>
              <a:srgbClr val="E04C2E"/>
            </a:solidFill>
            <a:ln>
              <a:noFill/>
            </a:ln>
          </p:spPr>
        </p:sp>
        <p:sp>
          <p:nvSpPr>
            <p:cNvPr id="124" name="TextBox 124"/>
            <p:cNvSpPr txBox="1"/>
            <p:nvPr/>
          </p:nvSpPr>
          <p:spPr>
            <a:xfrm>
              <a:off x="843942" y="3545205"/>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3​</a:t>
              </a:r>
            </a:p>
          </p:txBody>
        </p:sp>
        <p:sp>
          <p:nvSpPr>
            <p:cNvPr id="125" name="TextBox 125"/>
            <p:cNvSpPr txBox="1"/>
            <p:nvPr/>
          </p:nvSpPr>
          <p:spPr>
            <a:xfrm>
              <a:off x="1023938" y="3548253"/>
              <a:ext cx="542620" cy="130493"/>
            </a:xfrm>
            <a:prstGeom prst="rect">
              <a:avLst/>
            </a:prstGeom>
            <a:noFill/>
            <a:ln>
              <a:noFill/>
            </a:ln>
          </p:spPr>
          <p:txBody>
            <a:bodyPr wrap="none" lIns="0" tIns="0" rIns="0" bIns="0" anchor="t" anchorCtr="0">
              <a:spAutoFit/>
            </a:bodyPr>
            <a:lstStyle/>
            <a:p>
              <a:pPr algn="l"/>
              <a:r>
                <a:rPr lang="zh-CN" sz="660" b="1" dirty="0">
                  <a:solidFill>
                    <a:srgbClr val="69281B"/>
                  </a:solidFill>
                  <a:latin typeface="+mn-lt"/>
                  <a:ea typeface="+mn-ea"/>
                  <a:cs typeface="+mn-cs"/>
                </a:rPr>
                <a:t>客户结构不优</a:t>
              </a:r>
            </a:p>
          </p:txBody>
        </p:sp>
        <p:sp>
          <p:nvSpPr>
            <p:cNvPr id="126" name="TextBox 126"/>
            <p:cNvSpPr txBox="1"/>
            <p:nvPr/>
          </p:nvSpPr>
          <p:spPr>
            <a:xfrm>
              <a:off x="2262188" y="3516630"/>
              <a:ext cx="1080135" cy="319088"/>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零散/过渡型客户占比46.2%，​</a:t>
              </a:r>
              <a:br/>
              <a:r>
                <a:rPr lang="zh-CN" sz="600" dirty="0">
                  <a:solidFill>
                    <a:srgbClr val="70504A"/>
                  </a:solidFill>
                  <a:latin typeface="+mn-lt"/>
                  <a:ea typeface="+mn-ea"/>
                  <a:cs typeface="+mn-cs"/>
                </a:rPr>
                <a:t>收入贡献集中在战略+重点</a:t>
              </a:r>
              <a:br/>
              <a:r>
                <a:rPr lang="zh-CN" sz="600" dirty="0">
                  <a:solidFill>
                    <a:srgbClr val="70504A"/>
                  </a:solidFill>
                  <a:latin typeface="+mn-lt"/>
                  <a:ea typeface="+mn-ea"/>
                  <a:cs typeface="+mn-cs"/>
                </a:rPr>
                <a:t>客户（63.1%）​</a:t>
              </a:r>
            </a:p>
          </p:txBody>
        </p:sp>
        <p:sp>
          <p:nvSpPr>
            <p:cNvPr id="127" name="TextBox 127"/>
            <p:cNvSpPr txBox="1"/>
            <p:nvPr/>
          </p:nvSpPr>
          <p:spPr>
            <a:xfrm>
              <a:off x="4643438" y="3516630"/>
              <a:ext cx="1000125" cy="219075"/>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获客偏向小而散；分层经营未</a:t>
              </a:r>
              <a:br/>
              <a:r>
                <a:rPr lang="zh-CN" sz="600" dirty="0">
                  <a:solidFill>
                    <a:srgbClr val="70504A"/>
                  </a:solidFill>
                  <a:latin typeface="+mn-lt"/>
                  <a:ea typeface="+mn-ea"/>
                  <a:cs typeface="+mn-cs"/>
                </a:rPr>
                <a:t>有效落地；价值提升手段不足</a:t>
              </a:r>
            </a:p>
          </p:txBody>
        </p:sp>
        <p:sp>
          <p:nvSpPr>
            <p:cNvPr id="128" name="TextBox 128"/>
            <p:cNvSpPr txBox="1"/>
            <p:nvPr/>
          </p:nvSpPr>
          <p:spPr>
            <a:xfrm>
              <a:off x="7024688" y="3516630"/>
              <a:ext cx="1000125" cy="319088"/>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客户分层标准不清；差异化服</a:t>
              </a:r>
              <a:br/>
              <a:r>
                <a:rPr lang="zh-CN" sz="600" dirty="0">
                  <a:solidFill>
                    <a:srgbClr val="70504A"/>
                  </a:solidFill>
                  <a:latin typeface="+mn-lt"/>
                  <a:ea typeface="+mn-ea"/>
                  <a:cs typeface="+mn-cs"/>
                </a:rPr>
                <a:t>务与产品供给不足；综合经营</a:t>
              </a:r>
              <a:br/>
              <a:r>
                <a:rPr lang="zh-CN" sz="600" dirty="0">
                  <a:solidFill>
                    <a:srgbClr val="70504A"/>
                  </a:solidFill>
                  <a:latin typeface="+mn-lt"/>
                  <a:ea typeface="+mn-ea"/>
                  <a:cs typeface="+mn-cs"/>
                </a:rPr>
                <a:t>能力弱</a:t>
              </a:r>
            </a:p>
          </p:txBody>
        </p:sp>
        <p:sp>
          <p:nvSpPr>
            <p:cNvPr id="129" name="TextBox 129"/>
            <p:cNvSpPr txBox="1"/>
            <p:nvPr/>
          </p:nvSpPr>
          <p:spPr>
            <a:xfrm>
              <a:off x="9405938" y="3516630"/>
              <a:ext cx="1000125" cy="219075"/>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客户粘性弱，抗风险能力弱，</a:t>
              </a:r>
              <a:br/>
              <a:r>
                <a:rPr lang="zh-CN" sz="600" dirty="0">
                  <a:solidFill>
                    <a:srgbClr val="70504A"/>
                  </a:solidFill>
                  <a:latin typeface="+mn-lt"/>
                  <a:ea typeface="+mn-ea"/>
                  <a:cs typeface="+mn-cs"/>
                </a:rPr>
                <a:t>增长质量不高</a:t>
              </a:r>
            </a:p>
          </p:txBody>
        </p:sp>
        <p:sp>
          <p:nvSpPr>
            <p:cNvPr id="130" name="Line 130"/>
            <p:cNvSpPr/>
            <p:nvPr/>
          </p:nvSpPr>
          <p:spPr>
            <a:xfrm>
              <a:off x="762000" y="3790950"/>
              <a:ext cx="11125200" cy="9525"/>
            </a:xfrm>
            <a:custGeom>
              <a:avLst/>
              <a:gdLst/>
              <a:ahLst/>
              <a:cxnLst/>
              <a:rect l="l" t="t" r="r" b="b"/>
              <a:pathLst>
                <a:path w="11125200" h="9525">
                  <a:moveTo>
                    <a:pt x="0" y="0"/>
                  </a:moveTo>
                  <a:lnTo>
                    <a:pt x="11125200" y="0"/>
                  </a:lnTo>
                </a:path>
              </a:pathLst>
            </a:custGeom>
            <a:noFill/>
            <a:ln w="9525">
              <a:solidFill>
                <a:srgbClr val="EDF2FA"/>
              </a:solidFill>
            </a:ln>
          </p:spPr>
        </p:sp>
        <p:sp>
          <p:nvSpPr>
            <p:cNvPr id="131" name="Ellipse 131"/>
            <p:cNvSpPr/>
            <p:nvPr/>
          </p:nvSpPr>
          <p:spPr>
            <a:xfrm>
              <a:off x="828675" y="3838575"/>
              <a:ext cx="133350" cy="133350"/>
            </a:xfrm>
            <a:prstGeom prst="ellipse">
              <a:avLst/>
            </a:prstGeom>
            <a:solidFill>
              <a:srgbClr val="E04C2E"/>
            </a:solidFill>
            <a:ln>
              <a:noFill/>
            </a:ln>
          </p:spPr>
        </p:sp>
        <p:sp>
          <p:nvSpPr>
            <p:cNvPr id="132" name="TextBox 132"/>
            <p:cNvSpPr txBox="1"/>
            <p:nvPr/>
          </p:nvSpPr>
          <p:spPr>
            <a:xfrm>
              <a:off x="843942" y="3869055"/>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4​</a:t>
              </a:r>
            </a:p>
          </p:txBody>
        </p:sp>
        <p:sp>
          <p:nvSpPr>
            <p:cNvPr id="133" name="TextBox 133"/>
            <p:cNvSpPr txBox="1"/>
            <p:nvPr/>
          </p:nvSpPr>
          <p:spPr>
            <a:xfrm>
              <a:off x="1023938" y="3872103"/>
              <a:ext cx="720319" cy="130493"/>
            </a:xfrm>
            <a:prstGeom prst="rect">
              <a:avLst/>
            </a:prstGeom>
            <a:noFill/>
            <a:ln>
              <a:noFill/>
            </a:ln>
          </p:spPr>
          <p:txBody>
            <a:bodyPr wrap="none" lIns="0" tIns="0" rIns="0" bIns="0" anchor="t" anchorCtr="0">
              <a:spAutoFit/>
            </a:bodyPr>
            <a:lstStyle/>
            <a:p>
              <a:pPr algn="l"/>
              <a:r>
                <a:rPr lang="zh-CN" sz="660" b="1" dirty="0">
                  <a:solidFill>
                    <a:srgbClr val="69281B"/>
                  </a:solidFill>
                  <a:latin typeface="+mn-lt"/>
                  <a:ea typeface="+mn-ea"/>
                  <a:cs typeface="+mn-cs"/>
                </a:rPr>
                <a:t>网点对公转型缓慢</a:t>
              </a:r>
            </a:p>
          </p:txBody>
        </p:sp>
        <p:sp>
          <p:nvSpPr>
            <p:cNvPr id="134" name="TextBox 134"/>
            <p:cNvSpPr txBox="1"/>
            <p:nvPr/>
          </p:nvSpPr>
          <p:spPr>
            <a:xfrm>
              <a:off x="2262188" y="3840480"/>
              <a:ext cx="973455" cy="319088"/>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网点对公有效户均值86户，​</a:t>
              </a:r>
              <a:br/>
              <a:r>
                <a:rPr lang="zh-CN" sz="600" dirty="0">
                  <a:solidFill>
                    <a:srgbClr val="70504A"/>
                  </a:solidFill>
                  <a:latin typeface="+mn-lt"/>
                  <a:ea typeface="+mn-ea"/>
                  <a:cs typeface="+mn-cs"/>
                </a:rPr>
                <a:t>低于同业前三均值106户；​</a:t>
              </a:r>
              <a:br/>
              <a:r>
                <a:rPr lang="zh-CN" sz="600" dirty="0">
                  <a:solidFill>
                    <a:srgbClr val="70504A"/>
                  </a:solidFill>
                  <a:latin typeface="+mn-lt"/>
                  <a:ea typeface="+mn-ea"/>
                  <a:cs typeface="+mn-cs"/>
                </a:rPr>
                <a:t>客户经营能力差异大</a:t>
              </a:r>
            </a:p>
          </p:txBody>
        </p:sp>
        <p:sp>
          <p:nvSpPr>
            <p:cNvPr id="135" name="TextBox 135"/>
            <p:cNvSpPr txBox="1"/>
            <p:nvPr/>
          </p:nvSpPr>
          <p:spPr>
            <a:xfrm>
              <a:off x="4643438" y="3840480"/>
              <a:ext cx="1076325" cy="319088"/>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网点对公资源与考核倾斜不足；</a:t>
              </a:r>
              <a:br/>
              <a:r>
                <a:rPr lang="zh-CN" sz="600" dirty="0">
                  <a:solidFill>
                    <a:srgbClr val="70504A"/>
                  </a:solidFill>
                  <a:latin typeface="+mn-lt"/>
                  <a:ea typeface="+mn-ea"/>
                  <a:cs typeface="+mn-cs"/>
                </a:rPr>
                <a:t>客户经理专业能力与项目开</a:t>
              </a:r>
              <a:br/>
              <a:r>
                <a:rPr lang="zh-CN" sz="600" dirty="0">
                  <a:solidFill>
                    <a:srgbClr val="70504A"/>
                  </a:solidFill>
                  <a:latin typeface="+mn-lt"/>
                  <a:ea typeface="+mn-ea"/>
                  <a:cs typeface="+mn-cs"/>
                </a:rPr>
                <a:t>拓能力不足</a:t>
              </a:r>
            </a:p>
          </p:txBody>
        </p:sp>
        <p:sp>
          <p:nvSpPr>
            <p:cNvPr id="136" name="TextBox 136"/>
            <p:cNvSpPr txBox="1"/>
            <p:nvPr/>
          </p:nvSpPr>
          <p:spPr>
            <a:xfrm>
              <a:off x="7024688" y="3840480"/>
              <a:ext cx="1000125" cy="319088"/>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网点定位不清；培训体系与辅</a:t>
              </a:r>
              <a:br/>
              <a:r>
                <a:rPr lang="zh-CN" sz="600" dirty="0">
                  <a:solidFill>
                    <a:srgbClr val="70504A"/>
                  </a:solidFill>
                  <a:latin typeface="+mn-lt"/>
                  <a:ea typeface="+mn-ea"/>
                  <a:cs typeface="+mn-cs"/>
                </a:rPr>
                <a:t>导机制不健全；激励约束与</a:t>
              </a:r>
              <a:br/>
              <a:r>
                <a:rPr lang="zh-CN" sz="600" dirty="0">
                  <a:solidFill>
                    <a:srgbClr val="70504A"/>
                  </a:solidFill>
                  <a:latin typeface="+mn-lt"/>
                  <a:ea typeface="+mn-ea"/>
                  <a:cs typeface="+mn-cs"/>
                </a:rPr>
                <a:t>转型目标未强穿透</a:t>
              </a:r>
            </a:p>
          </p:txBody>
        </p:sp>
        <p:sp>
          <p:nvSpPr>
            <p:cNvPr id="137" name="TextBox 137"/>
            <p:cNvSpPr txBox="1"/>
            <p:nvPr/>
          </p:nvSpPr>
          <p:spPr>
            <a:xfrm>
              <a:off x="9405938" y="3840480"/>
              <a:ext cx="771525" cy="219075"/>
            </a:xfrm>
            <a:prstGeom prst="rect">
              <a:avLst/>
            </a:prstGeom>
            <a:noFill/>
            <a:ln>
              <a:noFill/>
            </a:ln>
          </p:spPr>
          <p:txBody>
            <a:bodyPr wrap="none" lIns="0" tIns="0" rIns="0" bIns="0" anchor="t" anchorCtr="0">
              <a:spAutoFit/>
            </a:bodyPr>
            <a:lstStyle/>
            <a:p>
              <a:pPr algn="l">
                <a:lnSpc>
                  <a:spcPts val="788"/>
                </a:lnSpc>
              </a:pPr>
              <a:r>
                <a:rPr lang="zh-CN" sz="600" dirty="0">
                  <a:solidFill>
                    <a:srgbClr val="70504A"/>
                  </a:solidFill>
                  <a:latin typeface="+mn-lt"/>
                  <a:ea typeface="+mn-ea"/>
                  <a:cs typeface="+mn-cs"/>
                </a:rPr>
                <a:t>转型进度慢，人效低，</a:t>
              </a:r>
              <a:br/>
              <a:r>
                <a:rPr lang="zh-CN" sz="600" dirty="0">
                  <a:solidFill>
                    <a:srgbClr val="70504A"/>
                  </a:solidFill>
                  <a:latin typeface="+mn-lt"/>
                  <a:ea typeface="+mn-ea"/>
                  <a:cs typeface="+mn-cs"/>
                </a:rPr>
                <a:t>团队稳定性差</a:t>
              </a:r>
            </a:p>
          </p:txBody>
        </p:sp>
      </p:grpSp>
      <p:grpSp>
        <p:nvGrpSpPr>
          <p:cNvPr id="185" name="benchmark-table"/>
          <p:cNvGrpSpPr/>
          <p:nvPr/>
        </p:nvGrpSpPr>
        <p:grpSpPr>
          <a:xfrm>
            <a:off x="228600" y="4191000"/>
            <a:ext cx="5715000" cy="2476500"/>
            <a:chOff x="228600" y="4191000"/>
            <a:chExt cx="5715000" cy="2476500"/>
          </a:xfrm>
        </p:grpSpPr>
        <p:sp>
          <p:nvSpPr>
            <p:cNvPr id="139" name="Rectangle 139"/>
            <p:cNvSpPr/>
            <p:nvPr/>
          </p:nvSpPr>
          <p:spPr>
            <a:xfrm>
              <a:off x="228600" y="4191000"/>
              <a:ext cx="5715000" cy="2476500"/>
            </a:xfrm>
            <a:prstGeom prst="roundRect">
              <a:avLst>
                <a:gd name="adj" fmla="val 2308"/>
              </a:avLst>
            </a:prstGeom>
            <a:solidFill>
              <a:srgbClr val="FFFFFF"/>
            </a:solidFill>
            <a:ln w="9525">
              <a:solidFill>
                <a:srgbClr val="C9D6E9"/>
              </a:solidFill>
            </a:ln>
          </p:spPr>
        </p:sp>
        <p:sp>
          <p:nvSpPr>
            <p:cNvPr id="140" name="Rectangle 140"/>
            <p:cNvSpPr/>
            <p:nvPr/>
          </p:nvSpPr>
          <p:spPr>
            <a:xfrm>
              <a:off x="228600" y="4191000"/>
              <a:ext cx="5715000" cy="228600"/>
            </a:xfrm>
            <a:prstGeom prst="roundRect">
              <a:avLst>
                <a:gd name="adj" fmla="val 25000"/>
              </a:avLst>
            </a:prstGeom>
            <a:solidFill>
              <a:srgbClr val="69281B"/>
            </a:solidFill>
            <a:ln>
              <a:noFill/>
            </a:ln>
          </p:spPr>
        </p:sp>
        <p:sp>
          <p:nvSpPr>
            <p:cNvPr id="141" name="Rectangle 141"/>
            <p:cNvSpPr/>
            <p:nvPr/>
          </p:nvSpPr>
          <p:spPr>
            <a:xfrm>
              <a:off x="228600" y="4324350"/>
              <a:ext cx="5715000" cy="95250"/>
            </a:xfrm>
            <a:prstGeom prst="rect">
              <a:avLst/>
            </a:prstGeom>
            <a:solidFill>
              <a:srgbClr val="69281B"/>
            </a:solidFill>
            <a:ln>
              <a:noFill/>
            </a:ln>
          </p:spPr>
        </p:sp>
        <p:sp>
          <p:nvSpPr>
            <p:cNvPr id="142" name="TextBox 142"/>
            <p:cNvSpPr txBox="1"/>
            <p:nvPr/>
          </p:nvSpPr>
          <p:spPr>
            <a:xfrm>
              <a:off x="2051494" y="4255770"/>
              <a:ext cx="206921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关键差距对标（与同业前三均值对比）</a:t>
              </a:r>
            </a:p>
          </p:txBody>
        </p:sp>
        <p:sp>
          <p:nvSpPr>
            <p:cNvPr id="143" name="Rectangle 143"/>
            <p:cNvSpPr/>
            <p:nvPr/>
          </p:nvSpPr>
          <p:spPr>
            <a:xfrm>
              <a:off x="304800" y="4419600"/>
              <a:ext cx="5562600" cy="209550"/>
            </a:xfrm>
            <a:prstGeom prst="rect">
              <a:avLst/>
            </a:prstGeom>
            <a:solidFill>
              <a:srgbClr val="EAF1FB"/>
            </a:solidFill>
            <a:ln>
              <a:noFill/>
            </a:ln>
          </p:spPr>
        </p:sp>
        <p:sp>
          <p:nvSpPr>
            <p:cNvPr id="144" name="TextBox 144"/>
            <p:cNvSpPr txBox="1"/>
            <p:nvPr/>
          </p:nvSpPr>
          <p:spPr>
            <a:xfrm>
              <a:off x="376238" y="4489609"/>
              <a:ext cx="192608" cy="133350"/>
            </a:xfrm>
            <a:prstGeom prst="rect">
              <a:avLst/>
            </a:prstGeom>
            <a:noFill/>
            <a:ln>
              <a:noFill/>
            </a:ln>
          </p:spPr>
          <p:txBody>
            <a:bodyPr wrap="none" lIns="0" tIns="0" rIns="0" bIns="0" anchor="t" anchorCtr="0">
              <a:spAutoFit/>
            </a:bodyPr>
            <a:lstStyle/>
            <a:p>
              <a:pPr algn="l"/>
              <a:r>
                <a:rPr lang="zh-CN" sz="680" b="1" dirty="0">
                  <a:solidFill>
                    <a:srgbClr val="69281B"/>
                  </a:solidFill>
                  <a:latin typeface="+mn-lt"/>
                  <a:ea typeface="+mn-ea"/>
                  <a:cs typeface="+mn-cs"/>
                </a:rPr>
                <a:t>维度</a:t>
              </a:r>
            </a:p>
          </p:txBody>
        </p:sp>
        <p:sp>
          <p:nvSpPr>
            <p:cNvPr id="145" name="TextBox 145"/>
            <p:cNvSpPr txBox="1"/>
            <p:nvPr/>
          </p:nvSpPr>
          <p:spPr>
            <a:xfrm>
              <a:off x="2380876" y="4489609"/>
              <a:ext cx="667498"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本行表现（A）​</a:t>
              </a:r>
            </a:p>
          </p:txBody>
        </p:sp>
        <p:sp>
          <p:nvSpPr>
            <p:cNvPr id="146" name="TextBox 146"/>
            <p:cNvSpPr txBox="1"/>
            <p:nvPr/>
          </p:nvSpPr>
          <p:spPr>
            <a:xfrm>
              <a:off x="3146585" y="4489609"/>
              <a:ext cx="85058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同业前三均值（B）​</a:t>
              </a:r>
            </a:p>
          </p:txBody>
        </p:sp>
        <p:sp>
          <p:nvSpPr>
            <p:cNvPr id="147" name="TextBox 147"/>
            <p:cNvSpPr txBox="1"/>
            <p:nvPr/>
          </p:nvSpPr>
          <p:spPr>
            <a:xfrm>
              <a:off x="4178685" y="4489609"/>
              <a:ext cx="596130"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差距（B-A）​</a:t>
              </a:r>
            </a:p>
          </p:txBody>
        </p:sp>
        <p:sp>
          <p:nvSpPr>
            <p:cNvPr id="148" name="TextBox 148"/>
            <p:cNvSpPr txBox="1"/>
            <p:nvPr/>
          </p:nvSpPr>
          <p:spPr>
            <a:xfrm>
              <a:off x="5268125" y="4489609"/>
              <a:ext cx="284150"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差距率</a:t>
              </a:r>
            </a:p>
          </p:txBody>
        </p:sp>
        <p:sp>
          <p:nvSpPr>
            <p:cNvPr id="149" name="TextBox 149"/>
            <p:cNvSpPr txBox="1"/>
            <p:nvPr/>
          </p:nvSpPr>
          <p:spPr>
            <a:xfrm>
              <a:off x="376238" y="4708684"/>
              <a:ext cx="741858"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对公存款市场份额</a:t>
              </a:r>
            </a:p>
          </p:txBody>
        </p:sp>
        <p:sp>
          <p:nvSpPr>
            <p:cNvPr id="150" name="TextBox 150"/>
            <p:cNvSpPr txBox="1"/>
            <p:nvPr/>
          </p:nvSpPr>
          <p:spPr>
            <a:xfrm>
              <a:off x="2574839" y="4708684"/>
              <a:ext cx="279573"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8.6%​</a:t>
              </a:r>
            </a:p>
          </p:txBody>
        </p:sp>
        <p:sp>
          <p:nvSpPr>
            <p:cNvPr id="151" name="TextBox 151"/>
            <p:cNvSpPr txBox="1"/>
            <p:nvPr/>
          </p:nvSpPr>
          <p:spPr>
            <a:xfrm>
              <a:off x="3406915" y="4708684"/>
              <a:ext cx="329921"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15.4%​</a:t>
              </a:r>
            </a:p>
          </p:txBody>
        </p:sp>
        <p:sp>
          <p:nvSpPr>
            <p:cNvPr id="152" name="TextBox 152"/>
            <p:cNvSpPr txBox="1"/>
            <p:nvPr/>
          </p:nvSpPr>
          <p:spPr>
            <a:xfrm>
              <a:off x="4163035" y="4708684"/>
              <a:ext cx="627431" cy="133350"/>
            </a:xfrm>
            <a:prstGeom prst="rect">
              <a:avLst/>
            </a:prstGeom>
            <a:noFill/>
            <a:ln>
              <a:noFill/>
            </a:ln>
          </p:spPr>
          <p:txBody>
            <a:bodyPr wrap="none" lIns="0" tIns="0" rIns="0" bIns="0" anchor="t" anchorCtr="0">
              <a:spAutoFit/>
            </a:bodyPr>
            <a:lstStyle/>
            <a:p>
              <a:pPr algn="ctr"/>
              <a:r>
                <a:rPr lang="zh-CN" sz="680" dirty="0">
                  <a:solidFill>
                    <a:srgbClr val="D0442C"/>
                  </a:solidFill>
                  <a:latin typeface="+mn-lt"/>
                  <a:ea typeface="+mn-ea"/>
                  <a:cs typeface="+mn-cs"/>
                </a:rPr>
                <a:t>-6.8个百分点​</a:t>
              </a:r>
            </a:p>
          </p:txBody>
        </p:sp>
        <p:sp>
          <p:nvSpPr>
            <p:cNvPr id="153" name="TextBox 153"/>
            <p:cNvSpPr txBox="1"/>
            <p:nvPr/>
          </p:nvSpPr>
          <p:spPr>
            <a:xfrm>
              <a:off x="5202210" y="4704636"/>
              <a:ext cx="415980" cy="140494"/>
            </a:xfrm>
            <a:prstGeom prst="rect">
              <a:avLst/>
            </a:prstGeom>
            <a:noFill/>
            <a:ln>
              <a:noFill/>
            </a:ln>
          </p:spPr>
          <p:txBody>
            <a:bodyPr wrap="none" lIns="0" tIns="0" rIns="0" bIns="0" anchor="t" anchorCtr="0">
              <a:spAutoFit/>
            </a:bodyPr>
            <a:lstStyle/>
            <a:p>
              <a:pPr algn="ctr"/>
              <a:r>
                <a:rPr lang="zh-CN" sz="710" b="1" dirty="0">
                  <a:solidFill>
                    <a:srgbClr val="D0442C"/>
                  </a:solidFill>
                  <a:latin typeface="+mn-lt"/>
                  <a:ea typeface="+mn-ea"/>
                  <a:cs typeface="+mn-cs"/>
                </a:rPr>
                <a:t>-44.2%​</a:t>
              </a:r>
            </a:p>
          </p:txBody>
        </p:sp>
        <p:sp>
          <p:nvSpPr>
            <p:cNvPr id="154" name="Line 154"/>
            <p:cNvSpPr/>
            <p:nvPr/>
          </p:nvSpPr>
          <p:spPr>
            <a:xfrm>
              <a:off x="304800" y="4857750"/>
              <a:ext cx="5562600" cy="9525"/>
            </a:xfrm>
            <a:custGeom>
              <a:avLst/>
              <a:gdLst/>
              <a:ahLst/>
              <a:cxnLst/>
              <a:rect l="l" t="t" r="r" b="b"/>
              <a:pathLst>
                <a:path w="5562600" h="9525">
                  <a:moveTo>
                    <a:pt x="0" y="0"/>
                  </a:moveTo>
                  <a:lnTo>
                    <a:pt x="5562600" y="0"/>
                  </a:lnTo>
                </a:path>
              </a:pathLst>
            </a:custGeom>
            <a:noFill/>
            <a:ln w="9525">
              <a:solidFill>
                <a:srgbClr val="EDF2FA"/>
              </a:solidFill>
            </a:ln>
          </p:spPr>
        </p:sp>
        <p:sp>
          <p:nvSpPr>
            <p:cNvPr id="155" name="TextBox 155"/>
            <p:cNvSpPr txBox="1"/>
            <p:nvPr/>
          </p:nvSpPr>
          <p:spPr>
            <a:xfrm>
              <a:off x="376238" y="4956334"/>
              <a:ext cx="650316"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对公存款付息率</a:t>
              </a:r>
            </a:p>
          </p:txBody>
        </p:sp>
        <p:sp>
          <p:nvSpPr>
            <p:cNvPr id="156" name="TextBox 156"/>
            <p:cNvSpPr txBox="1"/>
            <p:nvPr/>
          </p:nvSpPr>
          <p:spPr>
            <a:xfrm>
              <a:off x="2549665" y="4956334"/>
              <a:ext cx="329921"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1.78%​</a:t>
              </a:r>
            </a:p>
          </p:txBody>
        </p:sp>
        <p:sp>
          <p:nvSpPr>
            <p:cNvPr id="157" name="TextBox 157"/>
            <p:cNvSpPr txBox="1"/>
            <p:nvPr/>
          </p:nvSpPr>
          <p:spPr>
            <a:xfrm>
              <a:off x="3406915" y="4956334"/>
              <a:ext cx="329921"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1.41%​</a:t>
              </a:r>
            </a:p>
          </p:txBody>
        </p:sp>
        <p:sp>
          <p:nvSpPr>
            <p:cNvPr id="158" name="TextBox 158"/>
            <p:cNvSpPr txBox="1"/>
            <p:nvPr/>
          </p:nvSpPr>
          <p:spPr>
            <a:xfrm>
              <a:off x="4137861" y="4956334"/>
              <a:ext cx="677779" cy="133350"/>
            </a:xfrm>
            <a:prstGeom prst="rect">
              <a:avLst/>
            </a:prstGeom>
            <a:noFill/>
            <a:ln>
              <a:noFill/>
            </a:ln>
          </p:spPr>
          <p:txBody>
            <a:bodyPr wrap="none" lIns="0" tIns="0" rIns="0" bIns="0" anchor="t" anchorCtr="0">
              <a:spAutoFit/>
            </a:bodyPr>
            <a:lstStyle/>
            <a:p>
              <a:pPr algn="ctr"/>
              <a:r>
                <a:rPr lang="zh-CN" sz="680" dirty="0">
                  <a:solidFill>
                    <a:srgbClr val="D0442C"/>
                  </a:solidFill>
                  <a:latin typeface="+mn-lt"/>
                  <a:ea typeface="+mn-ea"/>
                  <a:cs typeface="+mn-cs"/>
                </a:rPr>
                <a:t>+0.37个百分点​</a:t>
              </a:r>
            </a:p>
          </p:txBody>
        </p:sp>
        <p:sp>
          <p:nvSpPr>
            <p:cNvPr id="159" name="TextBox 159"/>
            <p:cNvSpPr txBox="1"/>
            <p:nvPr/>
          </p:nvSpPr>
          <p:spPr>
            <a:xfrm>
              <a:off x="5202210" y="4952286"/>
              <a:ext cx="415980" cy="140494"/>
            </a:xfrm>
            <a:prstGeom prst="rect">
              <a:avLst/>
            </a:prstGeom>
            <a:noFill/>
            <a:ln>
              <a:noFill/>
            </a:ln>
          </p:spPr>
          <p:txBody>
            <a:bodyPr wrap="none" lIns="0" tIns="0" rIns="0" bIns="0" anchor="t" anchorCtr="0">
              <a:spAutoFit/>
            </a:bodyPr>
            <a:lstStyle/>
            <a:p>
              <a:pPr algn="ctr"/>
              <a:r>
                <a:rPr lang="zh-CN" sz="710" b="1" dirty="0">
                  <a:solidFill>
                    <a:srgbClr val="D0442C"/>
                  </a:solidFill>
                  <a:latin typeface="+mn-lt"/>
                  <a:ea typeface="+mn-ea"/>
                  <a:cs typeface="+mn-cs"/>
                </a:rPr>
                <a:t>+26.2%​</a:t>
              </a:r>
            </a:p>
          </p:txBody>
        </p:sp>
        <p:sp>
          <p:nvSpPr>
            <p:cNvPr id="160" name="Line 160"/>
            <p:cNvSpPr/>
            <p:nvPr/>
          </p:nvSpPr>
          <p:spPr>
            <a:xfrm>
              <a:off x="304800" y="5105400"/>
              <a:ext cx="5562600" cy="9525"/>
            </a:xfrm>
            <a:custGeom>
              <a:avLst/>
              <a:gdLst/>
              <a:ahLst/>
              <a:cxnLst/>
              <a:rect l="l" t="t" r="r" b="b"/>
              <a:pathLst>
                <a:path w="5562600" h="9525">
                  <a:moveTo>
                    <a:pt x="0" y="0"/>
                  </a:moveTo>
                  <a:lnTo>
                    <a:pt x="5562600" y="0"/>
                  </a:lnTo>
                </a:path>
              </a:pathLst>
            </a:custGeom>
            <a:noFill/>
            <a:ln w="9525">
              <a:solidFill>
                <a:srgbClr val="EDF2FA"/>
              </a:solidFill>
            </a:ln>
          </p:spPr>
        </p:sp>
        <p:sp>
          <p:nvSpPr>
            <p:cNvPr id="161" name="TextBox 161"/>
            <p:cNvSpPr txBox="1"/>
            <p:nvPr/>
          </p:nvSpPr>
          <p:spPr>
            <a:xfrm>
              <a:off x="376238" y="5203984"/>
              <a:ext cx="1075985"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未来60天可投放项目储备​</a:t>
              </a:r>
            </a:p>
          </p:txBody>
        </p:sp>
        <p:sp>
          <p:nvSpPr>
            <p:cNvPr id="162" name="TextBox 162"/>
            <p:cNvSpPr txBox="1"/>
            <p:nvPr/>
          </p:nvSpPr>
          <p:spPr>
            <a:xfrm>
              <a:off x="2492451" y="5203984"/>
              <a:ext cx="444348"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42.8亿元​</a:t>
              </a:r>
            </a:p>
          </p:txBody>
        </p:sp>
        <p:sp>
          <p:nvSpPr>
            <p:cNvPr id="163" name="TextBox 163"/>
            <p:cNvSpPr txBox="1"/>
            <p:nvPr/>
          </p:nvSpPr>
          <p:spPr>
            <a:xfrm>
              <a:off x="3349701" y="5203984"/>
              <a:ext cx="444348"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61.4亿元​</a:t>
              </a:r>
            </a:p>
          </p:txBody>
        </p:sp>
        <p:sp>
          <p:nvSpPr>
            <p:cNvPr id="164" name="TextBox 164"/>
            <p:cNvSpPr txBox="1"/>
            <p:nvPr/>
          </p:nvSpPr>
          <p:spPr>
            <a:xfrm>
              <a:off x="4229402" y="5203984"/>
              <a:ext cx="494695" cy="133350"/>
            </a:xfrm>
            <a:prstGeom prst="rect">
              <a:avLst/>
            </a:prstGeom>
            <a:noFill/>
            <a:ln>
              <a:noFill/>
            </a:ln>
          </p:spPr>
          <p:txBody>
            <a:bodyPr wrap="none" lIns="0" tIns="0" rIns="0" bIns="0" anchor="t" anchorCtr="0">
              <a:spAutoFit/>
            </a:bodyPr>
            <a:lstStyle/>
            <a:p>
              <a:pPr algn="ctr"/>
              <a:r>
                <a:rPr lang="zh-CN" sz="680" dirty="0">
                  <a:solidFill>
                    <a:srgbClr val="D0442C"/>
                  </a:solidFill>
                  <a:latin typeface="+mn-lt"/>
                  <a:ea typeface="+mn-ea"/>
                  <a:cs typeface="+mn-cs"/>
                </a:rPr>
                <a:t>-18.6亿元​</a:t>
              </a:r>
            </a:p>
          </p:txBody>
        </p:sp>
        <p:sp>
          <p:nvSpPr>
            <p:cNvPr id="165" name="TextBox 165"/>
            <p:cNvSpPr txBox="1"/>
            <p:nvPr/>
          </p:nvSpPr>
          <p:spPr>
            <a:xfrm>
              <a:off x="5202210" y="5199936"/>
              <a:ext cx="415980" cy="140494"/>
            </a:xfrm>
            <a:prstGeom prst="rect">
              <a:avLst/>
            </a:prstGeom>
            <a:noFill/>
            <a:ln>
              <a:noFill/>
            </a:ln>
          </p:spPr>
          <p:txBody>
            <a:bodyPr wrap="none" lIns="0" tIns="0" rIns="0" bIns="0" anchor="t" anchorCtr="0">
              <a:spAutoFit/>
            </a:bodyPr>
            <a:lstStyle/>
            <a:p>
              <a:pPr algn="ctr"/>
              <a:r>
                <a:rPr lang="zh-CN" sz="710" b="1" dirty="0">
                  <a:solidFill>
                    <a:srgbClr val="D0442C"/>
                  </a:solidFill>
                  <a:latin typeface="+mn-lt"/>
                  <a:ea typeface="+mn-ea"/>
                  <a:cs typeface="+mn-cs"/>
                </a:rPr>
                <a:t>-30.3%​</a:t>
              </a:r>
            </a:p>
          </p:txBody>
        </p:sp>
        <p:sp>
          <p:nvSpPr>
            <p:cNvPr id="166" name="Line 166"/>
            <p:cNvSpPr/>
            <p:nvPr/>
          </p:nvSpPr>
          <p:spPr>
            <a:xfrm>
              <a:off x="304800" y="5353050"/>
              <a:ext cx="5562600" cy="9525"/>
            </a:xfrm>
            <a:custGeom>
              <a:avLst/>
              <a:gdLst/>
              <a:ahLst/>
              <a:cxnLst/>
              <a:rect l="l" t="t" r="r" b="b"/>
              <a:pathLst>
                <a:path w="5562600" h="9525">
                  <a:moveTo>
                    <a:pt x="0" y="0"/>
                  </a:moveTo>
                  <a:lnTo>
                    <a:pt x="5562600" y="0"/>
                  </a:lnTo>
                </a:path>
              </a:pathLst>
            </a:custGeom>
            <a:noFill/>
            <a:ln w="9525">
              <a:solidFill>
                <a:srgbClr val="EDF2FA"/>
              </a:solidFill>
            </a:ln>
          </p:spPr>
        </p:sp>
        <p:sp>
          <p:nvSpPr>
            <p:cNvPr id="167" name="TextBox 167"/>
            <p:cNvSpPr txBox="1"/>
            <p:nvPr/>
          </p:nvSpPr>
          <p:spPr>
            <a:xfrm>
              <a:off x="376238" y="5451634"/>
              <a:ext cx="1524538"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对公客户户均+重点占比（收入口径）</a:t>
              </a:r>
            </a:p>
          </p:txBody>
        </p:sp>
        <p:sp>
          <p:nvSpPr>
            <p:cNvPr id="168" name="TextBox 168"/>
            <p:cNvSpPr txBox="1"/>
            <p:nvPr/>
          </p:nvSpPr>
          <p:spPr>
            <a:xfrm>
              <a:off x="2549665" y="5451634"/>
              <a:ext cx="329921"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63.1%​</a:t>
              </a:r>
            </a:p>
          </p:txBody>
        </p:sp>
        <p:sp>
          <p:nvSpPr>
            <p:cNvPr id="169" name="TextBox 169"/>
            <p:cNvSpPr txBox="1"/>
            <p:nvPr/>
          </p:nvSpPr>
          <p:spPr>
            <a:xfrm>
              <a:off x="3406915" y="5451634"/>
              <a:ext cx="329921"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71.8%​</a:t>
              </a:r>
            </a:p>
          </p:txBody>
        </p:sp>
        <p:sp>
          <p:nvSpPr>
            <p:cNvPr id="170" name="TextBox 170"/>
            <p:cNvSpPr txBox="1"/>
            <p:nvPr/>
          </p:nvSpPr>
          <p:spPr>
            <a:xfrm>
              <a:off x="4163035" y="5451634"/>
              <a:ext cx="627431" cy="133350"/>
            </a:xfrm>
            <a:prstGeom prst="rect">
              <a:avLst/>
            </a:prstGeom>
            <a:noFill/>
            <a:ln>
              <a:noFill/>
            </a:ln>
          </p:spPr>
          <p:txBody>
            <a:bodyPr wrap="none" lIns="0" tIns="0" rIns="0" bIns="0" anchor="t" anchorCtr="0">
              <a:spAutoFit/>
            </a:bodyPr>
            <a:lstStyle/>
            <a:p>
              <a:pPr algn="ctr"/>
              <a:r>
                <a:rPr lang="zh-CN" sz="680" dirty="0">
                  <a:solidFill>
                    <a:srgbClr val="D0442C"/>
                  </a:solidFill>
                  <a:latin typeface="+mn-lt"/>
                  <a:ea typeface="+mn-ea"/>
                  <a:cs typeface="+mn-cs"/>
                </a:rPr>
                <a:t>-8.7个百分点​</a:t>
              </a:r>
            </a:p>
          </p:txBody>
        </p:sp>
        <p:sp>
          <p:nvSpPr>
            <p:cNvPr id="171" name="TextBox 171"/>
            <p:cNvSpPr txBox="1"/>
            <p:nvPr/>
          </p:nvSpPr>
          <p:spPr>
            <a:xfrm>
              <a:off x="5202210" y="5447586"/>
              <a:ext cx="415980" cy="140494"/>
            </a:xfrm>
            <a:prstGeom prst="rect">
              <a:avLst/>
            </a:prstGeom>
            <a:noFill/>
            <a:ln>
              <a:noFill/>
            </a:ln>
          </p:spPr>
          <p:txBody>
            <a:bodyPr wrap="none" lIns="0" tIns="0" rIns="0" bIns="0" anchor="t" anchorCtr="0">
              <a:spAutoFit/>
            </a:bodyPr>
            <a:lstStyle/>
            <a:p>
              <a:pPr algn="ctr"/>
              <a:r>
                <a:rPr lang="zh-CN" sz="710" b="1" dirty="0">
                  <a:solidFill>
                    <a:srgbClr val="D0442C"/>
                  </a:solidFill>
                  <a:latin typeface="+mn-lt"/>
                  <a:ea typeface="+mn-ea"/>
                  <a:cs typeface="+mn-cs"/>
                </a:rPr>
                <a:t>-12.1%​</a:t>
              </a:r>
            </a:p>
          </p:txBody>
        </p:sp>
        <p:sp>
          <p:nvSpPr>
            <p:cNvPr id="172" name="Line 172"/>
            <p:cNvSpPr/>
            <p:nvPr/>
          </p:nvSpPr>
          <p:spPr>
            <a:xfrm>
              <a:off x="304800" y="5600700"/>
              <a:ext cx="5562600" cy="9525"/>
            </a:xfrm>
            <a:custGeom>
              <a:avLst/>
              <a:gdLst/>
              <a:ahLst/>
              <a:cxnLst/>
              <a:rect l="l" t="t" r="r" b="b"/>
              <a:pathLst>
                <a:path w="5562600" h="9525">
                  <a:moveTo>
                    <a:pt x="0" y="0"/>
                  </a:moveTo>
                  <a:lnTo>
                    <a:pt x="5562600" y="0"/>
                  </a:lnTo>
                </a:path>
              </a:pathLst>
            </a:custGeom>
            <a:noFill/>
            <a:ln w="9525">
              <a:solidFill>
                <a:srgbClr val="EDF2FA"/>
              </a:solidFill>
            </a:ln>
          </p:spPr>
        </p:sp>
        <p:sp>
          <p:nvSpPr>
            <p:cNvPr id="173" name="TextBox 173"/>
            <p:cNvSpPr txBox="1"/>
            <p:nvPr/>
          </p:nvSpPr>
          <p:spPr>
            <a:xfrm>
              <a:off x="376238" y="5699284"/>
              <a:ext cx="1108024"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网点对公有效户均值（户）</a:t>
              </a:r>
            </a:p>
          </p:txBody>
        </p:sp>
        <p:sp>
          <p:nvSpPr>
            <p:cNvPr id="174" name="TextBox 174"/>
            <p:cNvSpPr txBox="1"/>
            <p:nvPr/>
          </p:nvSpPr>
          <p:spPr>
            <a:xfrm>
              <a:off x="2634341" y="5699284"/>
              <a:ext cx="160569"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86​</a:t>
              </a:r>
            </a:p>
          </p:txBody>
        </p:sp>
        <p:sp>
          <p:nvSpPr>
            <p:cNvPr id="175" name="TextBox 175"/>
            <p:cNvSpPr txBox="1"/>
            <p:nvPr/>
          </p:nvSpPr>
          <p:spPr>
            <a:xfrm>
              <a:off x="3466417" y="5699284"/>
              <a:ext cx="210917"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192​</a:t>
              </a:r>
            </a:p>
          </p:txBody>
        </p:sp>
        <p:sp>
          <p:nvSpPr>
            <p:cNvPr id="176" name="TextBox 176"/>
            <p:cNvSpPr txBox="1"/>
            <p:nvPr/>
          </p:nvSpPr>
          <p:spPr>
            <a:xfrm>
              <a:off x="4300347" y="5699284"/>
              <a:ext cx="352806" cy="133350"/>
            </a:xfrm>
            <a:prstGeom prst="rect">
              <a:avLst/>
            </a:prstGeom>
            <a:noFill/>
            <a:ln>
              <a:noFill/>
            </a:ln>
          </p:spPr>
          <p:txBody>
            <a:bodyPr wrap="none" lIns="0" tIns="0" rIns="0" bIns="0" anchor="t" anchorCtr="0">
              <a:spAutoFit/>
            </a:bodyPr>
            <a:lstStyle/>
            <a:p>
              <a:pPr algn="ctr"/>
              <a:r>
                <a:rPr lang="zh-CN" sz="680" dirty="0">
                  <a:solidFill>
                    <a:srgbClr val="D0442C"/>
                  </a:solidFill>
                  <a:latin typeface="+mn-lt"/>
                  <a:ea typeface="+mn-ea"/>
                  <a:cs typeface="+mn-cs"/>
                </a:rPr>
                <a:t>-106户​</a:t>
              </a:r>
            </a:p>
          </p:txBody>
        </p:sp>
        <p:sp>
          <p:nvSpPr>
            <p:cNvPr id="177" name="TextBox 177"/>
            <p:cNvSpPr txBox="1"/>
            <p:nvPr/>
          </p:nvSpPr>
          <p:spPr>
            <a:xfrm>
              <a:off x="5202210" y="5695236"/>
              <a:ext cx="415980" cy="140494"/>
            </a:xfrm>
            <a:prstGeom prst="rect">
              <a:avLst/>
            </a:prstGeom>
            <a:noFill/>
            <a:ln>
              <a:noFill/>
            </a:ln>
          </p:spPr>
          <p:txBody>
            <a:bodyPr wrap="none" lIns="0" tIns="0" rIns="0" bIns="0" anchor="t" anchorCtr="0">
              <a:spAutoFit/>
            </a:bodyPr>
            <a:lstStyle/>
            <a:p>
              <a:pPr algn="ctr"/>
              <a:r>
                <a:rPr lang="zh-CN" sz="710" b="1" dirty="0">
                  <a:solidFill>
                    <a:srgbClr val="D0442C"/>
                  </a:solidFill>
                  <a:latin typeface="+mn-lt"/>
                  <a:ea typeface="+mn-ea"/>
                  <a:cs typeface="+mn-cs"/>
                </a:rPr>
                <a:t>-55.2%​</a:t>
              </a:r>
            </a:p>
          </p:txBody>
        </p:sp>
        <p:sp>
          <p:nvSpPr>
            <p:cNvPr id="178" name="Line 178"/>
            <p:cNvSpPr/>
            <p:nvPr/>
          </p:nvSpPr>
          <p:spPr>
            <a:xfrm>
              <a:off x="304800" y="5848350"/>
              <a:ext cx="5562600" cy="9525"/>
            </a:xfrm>
            <a:custGeom>
              <a:avLst/>
              <a:gdLst/>
              <a:ahLst/>
              <a:cxnLst/>
              <a:rect l="l" t="t" r="r" b="b"/>
              <a:pathLst>
                <a:path w="5562600" h="9525">
                  <a:moveTo>
                    <a:pt x="0" y="0"/>
                  </a:moveTo>
                  <a:lnTo>
                    <a:pt x="5562600" y="0"/>
                  </a:lnTo>
                </a:path>
              </a:pathLst>
            </a:custGeom>
            <a:noFill/>
            <a:ln w="9525">
              <a:solidFill>
                <a:srgbClr val="EDF2FA"/>
              </a:solidFill>
            </a:ln>
          </p:spPr>
        </p:sp>
        <p:sp>
          <p:nvSpPr>
            <p:cNvPr id="179" name="TextBox 179"/>
            <p:cNvSpPr txBox="1"/>
            <p:nvPr/>
          </p:nvSpPr>
          <p:spPr>
            <a:xfrm>
              <a:off x="376238" y="5946934"/>
              <a:ext cx="1291107"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对公客户经理人均创收（万元）</a:t>
              </a:r>
            </a:p>
          </p:txBody>
        </p:sp>
        <p:sp>
          <p:nvSpPr>
            <p:cNvPr id="180" name="TextBox 180"/>
            <p:cNvSpPr txBox="1"/>
            <p:nvPr/>
          </p:nvSpPr>
          <p:spPr>
            <a:xfrm>
              <a:off x="2583993" y="5946934"/>
              <a:ext cx="261264"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18.7​</a:t>
              </a:r>
            </a:p>
          </p:txBody>
        </p:sp>
        <p:sp>
          <p:nvSpPr>
            <p:cNvPr id="181" name="TextBox 181"/>
            <p:cNvSpPr txBox="1"/>
            <p:nvPr/>
          </p:nvSpPr>
          <p:spPr>
            <a:xfrm>
              <a:off x="3441243" y="5946934"/>
              <a:ext cx="261264" cy="133350"/>
            </a:xfrm>
            <a:prstGeom prst="rect">
              <a:avLst/>
            </a:prstGeom>
            <a:noFill/>
            <a:ln>
              <a:noFill/>
            </a:ln>
          </p:spPr>
          <p:txBody>
            <a:bodyPr wrap="none" lIns="0" tIns="0" rIns="0" bIns="0" anchor="t" anchorCtr="0">
              <a:spAutoFit/>
            </a:bodyPr>
            <a:lstStyle/>
            <a:p>
              <a:pPr algn="ctr"/>
              <a:r>
                <a:rPr lang="zh-CN" sz="680" dirty="0">
                  <a:solidFill>
                    <a:srgbClr val="5F3A33"/>
                  </a:solidFill>
                  <a:latin typeface="+mn-lt"/>
                  <a:ea typeface="+mn-ea"/>
                  <a:cs typeface="+mn-cs"/>
                </a:rPr>
                <a:t>26.9​</a:t>
              </a:r>
            </a:p>
          </p:txBody>
        </p:sp>
        <p:sp>
          <p:nvSpPr>
            <p:cNvPr id="182" name="TextBox 182"/>
            <p:cNvSpPr txBox="1"/>
            <p:nvPr/>
          </p:nvSpPr>
          <p:spPr>
            <a:xfrm>
              <a:off x="4346118" y="5946934"/>
              <a:ext cx="261264" cy="133350"/>
            </a:xfrm>
            <a:prstGeom prst="rect">
              <a:avLst/>
            </a:prstGeom>
            <a:noFill/>
            <a:ln>
              <a:noFill/>
            </a:ln>
          </p:spPr>
          <p:txBody>
            <a:bodyPr wrap="none" lIns="0" tIns="0" rIns="0" bIns="0" anchor="t" anchorCtr="0">
              <a:spAutoFit/>
            </a:bodyPr>
            <a:lstStyle/>
            <a:p>
              <a:pPr algn="ctr"/>
              <a:r>
                <a:rPr lang="zh-CN" sz="680" dirty="0">
                  <a:solidFill>
                    <a:srgbClr val="D0442C"/>
                  </a:solidFill>
                  <a:latin typeface="+mn-lt"/>
                  <a:ea typeface="+mn-ea"/>
                  <a:cs typeface="+mn-cs"/>
                </a:rPr>
                <a:t>-8.2​</a:t>
              </a:r>
            </a:p>
          </p:txBody>
        </p:sp>
        <p:sp>
          <p:nvSpPr>
            <p:cNvPr id="183" name="TextBox 183"/>
            <p:cNvSpPr txBox="1"/>
            <p:nvPr/>
          </p:nvSpPr>
          <p:spPr>
            <a:xfrm>
              <a:off x="5202210" y="5942886"/>
              <a:ext cx="415980" cy="140494"/>
            </a:xfrm>
            <a:prstGeom prst="rect">
              <a:avLst/>
            </a:prstGeom>
            <a:noFill/>
            <a:ln>
              <a:noFill/>
            </a:ln>
          </p:spPr>
          <p:txBody>
            <a:bodyPr wrap="none" lIns="0" tIns="0" rIns="0" bIns="0" anchor="t" anchorCtr="0">
              <a:spAutoFit/>
            </a:bodyPr>
            <a:lstStyle/>
            <a:p>
              <a:pPr algn="ctr"/>
              <a:r>
                <a:rPr lang="zh-CN" sz="710" b="1" dirty="0">
                  <a:solidFill>
                    <a:srgbClr val="D0442C"/>
                  </a:solidFill>
                  <a:latin typeface="+mn-lt"/>
                  <a:ea typeface="+mn-ea"/>
                  <a:cs typeface="+mn-cs"/>
                </a:rPr>
                <a:t>-30.5%​</a:t>
              </a:r>
            </a:p>
          </p:txBody>
        </p:sp>
        <p:sp>
          <p:nvSpPr>
            <p:cNvPr id="184" name="TextBox 184"/>
            <p:cNvSpPr txBox="1"/>
            <p:nvPr/>
          </p:nvSpPr>
          <p:spPr>
            <a:xfrm>
              <a:off x="300038" y="6370082"/>
              <a:ext cx="1043407"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注：对标数据为示例口径。</a:t>
              </a:r>
            </a:p>
          </p:txBody>
        </p:sp>
      </p:grpSp>
      <p:grpSp>
        <p:nvGrpSpPr>
          <p:cNvPr id="223" name="priority-table"/>
          <p:cNvGrpSpPr/>
          <p:nvPr/>
        </p:nvGrpSpPr>
        <p:grpSpPr>
          <a:xfrm>
            <a:off x="6057900" y="4191000"/>
            <a:ext cx="5905500" cy="2476500"/>
            <a:chOff x="6057900" y="4191000"/>
            <a:chExt cx="5905500" cy="2476500"/>
          </a:xfrm>
        </p:grpSpPr>
        <p:sp>
          <p:nvSpPr>
            <p:cNvPr id="186" name="Rectangle 186"/>
            <p:cNvSpPr/>
            <p:nvPr/>
          </p:nvSpPr>
          <p:spPr>
            <a:xfrm>
              <a:off x="6057900" y="4191000"/>
              <a:ext cx="5905500" cy="2476500"/>
            </a:xfrm>
            <a:prstGeom prst="roundRect">
              <a:avLst>
                <a:gd name="adj" fmla="val 2308"/>
              </a:avLst>
            </a:prstGeom>
            <a:solidFill>
              <a:srgbClr val="FFFFFF"/>
            </a:solidFill>
            <a:ln w="9525">
              <a:solidFill>
                <a:srgbClr val="C9D6E9"/>
              </a:solidFill>
            </a:ln>
          </p:spPr>
        </p:sp>
        <p:sp>
          <p:nvSpPr>
            <p:cNvPr id="187" name="Rectangle 187"/>
            <p:cNvSpPr/>
            <p:nvPr/>
          </p:nvSpPr>
          <p:spPr>
            <a:xfrm>
              <a:off x="6057900" y="4191000"/>
              <a:ext cx="5905500" cy="228600"/>
            </a:xfrm>
            <a:prstGeom prst="roundRect">
              <a:avLst>
                <a:gd name="adj" fmla="val 25000"/>
              </a:avLst>
            </a:prstGeom>
            <a:solidFill>
              <a:srgbClr val="69281B"/>
            </a:solidFill>
            <a:ln>
              <a:noFill/>
            </a:ln>
          </p:spPr>
        </p:sp>
        <p:sp>
          <p:nvSpPr>
            <p:cNvPr id="188" name="Rectangle 188"/>
            <p:cNvSpPr/>
            <p:nvPr/>
          </p:nvSpPr>
          <p:spPr>
            <a:xfrm>
              <a:off x="6057900" y="4324350"/>
              <a:ext cx="5905500" cy="95250"/>
            </a:xfrm>
            <a:prstGeom prst="rect">
              <a:avLst/>
            </a:prstGeom>
            <a:solidFill>
              <a:srgbClr val="69281B"/>
            </a:solidFill>
            <a:ln>
              <a:noFill/>
            </a:ln>
          </p:spPr>
        </p:sp>
        <p:sp>
          <p:nvSpPr>
            <p:cNvPr id="189" name="TextBox 189"/>
            <p:cNvSpPr txBox="1"/>
            <p:nvPr/>
          </p:nvSpPr>
          <p:spPr>
            <a:xfrm>
              <a:off x="8400098" y="4255770"/>
              <a:ext cx="122110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整改优先级与重点举措</a:t>
              </a:r>
            </a:p>
          </p:txBody>
        </p:sp>
        <p:sp>
          <p:nvSpPr>
            <p:cNvPr id="190" name="Rectangle 190"/>
            <p:cNvSpPr/>
            <p:nvPr/>
          </p:nvSpPr>
          <p:spPr>
            <a:xfrm>
              <a:off x="6134100" y="4419600"/>
              <a:ext cx="5753100" cy="209550"/>
            </a:xfrm>
            <a:prstGeom prst="rect">
              <a:avLst/>
            </a:prstGeom>
            <a:solidFill>
              <a:srgbClr val="EAF1FB"/>
            </a:solidFill>
            <a:ln>
              <a:noFill/>
            </a:ln>
          </p:spPr>
        </p:sp>
        <p:sp>
          <p:nvSpPr>
            <p:cNvPr id="191" name="TextBox 191"/>
            <p:cNvSpPr txBox="1"/>
            <p:nvPr/>
          </p:nvSpPr>
          <p:spPr>
            <a:xfrm>
              <a:off x="6211100" y="4489609"/>
              <a:ext cx="284150"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优先级</a:t>
              </a:r>
            </a:p>
          </p:txBody>
        </p:sp>
        <p:sp>
          <p:nvSpPr>
            <p:cNvPr id="192" name="TextBox 192"/>
            <p:cNvSpPr txBox="1"/>
            <p:nvPr/>
          </p:nvSpPr>
          <p:spPr>
            <a:xfrm>
              <a:off x="6955904" y="4489609"/>
              <a:ext cx="37569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聚焦场景</a:t>
              </a:r>
            </a:p>
          </p:txBody>
        </p:sp>
        <p:sp>
          <p:nvSpPr>
            <p:cNvPr id="193" name="TextBox 193"/>
            <p:cNvSpPr txBox="1"/>
            <p:nvPr/>
          </p:nvSpPr>
          <p:spPr>
            <a:xfrm>
              <a:off x="8813279" y="4489609"/>
              <a:ext cx="37569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关键举措</a:t>
              </a:r>
            </a:p>
          </p:txBody>
        </p:sp>
        <p:sp>
          <p:nvSpPr>
            <p:cNvPr id="194" name="TextBox 194"/>
            <p:cNvSpPr txBox="1"/>
            <p:nvPr/>
          </p:nvSpPr>
          <p:spPr>
            <a:xfrm>
              <a:off x="10575404" y="4489609"/>
              <a:ext cx="37569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牵头部门</a:t>
              </a:r>
            </a:p>
          </p:txBody>
        </p:sp>
        <p:sp>
          <p:nvSpPr>
            <p:cNvPr id="195" name="TextBox 195"/>
            <p:cNvSpPr txBox="1"/>
            <p:nvPr/>
          </p:nvSpPr>
          <p:spPr>
            <a:xfrm>
              <a:off x="11375504" y="4489609"/>
              <a:ext cx="37569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完成时限</a:t>
              </a:r>
            </a:p>
          </p:txBody>
        </p:sp>
        <p:sp>
          <p:nvSpPr>
            <p:cNvPr id="196" name="Rectangle 196"/>
            <p:cNvSpPr/>
            <p:nvPr/>
          </p:nvSpPr>
          <p:spPr>
            <a:xfrm>
              <a:off x="6134100" y="4648200"/>
              <a:ext cx="419100" cy="457200"/>
            </a:xfrm>
            <a:prstGeom prst="rect">
              <a:avLst/>
            </a:prstGeom>
            <a:solidFill>
              <a:srgbClr val="D0442C"/>
            </a:solidFill>
            <a:ln>
              <a:noFill/>
            </a:ln>
          </p:spPr>
        </p:sp>
        <p:sp>
          <p:nvSpPr>
            <p:cNvPr id="197" name="TextBox 197"/>
            <p:cNvSpPr txBox="1"/>
            <p:nvPr/>
          </p:nvSpPr>
          <p:spPr>
            <a:xfrm>
              <a:off x="6237851" y="4759166"/>
              <a:ext cx="211598"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P0​</a:t>
              </a:r>
            </a:p>
          </p:txBody>
        </p:sp>
        <p:sp>
          <p:nvSpPr>
            <p:cNvPr id="198" name="TextBox 198"/>
            <p:cNvSpPr txBox="1"/>
            <p:nvPr/>
          </p:nvSpPr>
          <p:spPr>
            <a:xfrm>
              <a:off x="6624638" y="4748403"/>
              <a:ext cx="819785" cy="244793"/>
            </a:xfrm>
            <a:prstGeom prst="rect">
              <a:avLst/>
            </a:prstGeom>
            <a:noFill/>
            <a:ln>
              <a:noFill/>
            </a:ln>
          </p:spPr>
          <p:txBody>
            <a:bodyPr wrap="none" lIns="0" tIns="0" rIns="0" bIns="0" anchor="t" anchorCtr="0">
              <a:spAutoFit/>
            </a:bodyPr>
            <a:lstStyle/>
            <a:p>
              <a:pPr algn="l">
                <a:lnSpc>
                  <a:spcPts val="900"/>
                </a:lnSpc>
              </a:pPr>
              <a:r>
                <a:rPr lang="zh-CN" sz="660" b="1" dirty="0">
                  <a:solidFill>
                    <a:srgbClr val="5F3A33"/>
                  </a:solidFill>
                  <a:latin typeface="+mn-lt"/>
                  <a:ea typeface="+mn-ea"/>
                  <a:cs typeface="+mn-cs"/>
                </a:rPr>
                <a:t>存款市场份额不足</a:t>
              </a:r>
            </a:p>
            <a:p>
              <a:pPr algn="l">
                <a:lnSpc>
                  <a:spcPts val="900"/>
                </a:lnSpc>
              </a:pPr>
              <a:r>
                <a:rPr lang="zh-CN" sz="580" dirty="0">
                  <a:solidFill>
                    <a:srgbClr val="70504A"/>
                  </a:solidFill>
                  <a:latin typeface="+mn-lt"/>
                  <a:ea typeface="+mn-ea"/>
                  <a:cs typeface="+mn-cs"/>
                </a:rPr>
                <a:t>提升有效获客与结构优化</a:t>
              </a:r>
            </a:p>
          </p:txBody>
        </p:sp>
        <p:sp>
          <p:nvSpPr>
            <p:cNvPr id="199" name="TextBox 199"/>
            <p:cNvSpPr txBox="1"/>
            <p:nvPr/>
          </p:nvSpPr>
          <p:spPr>
            <a:xfrm>
              <a:off x="7824788" y="4705636"/>
              <a:ext cx="1186688" cy="331470"/>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1. 重点行业客户归集与专班攻坚​</a:t>
              </a:r>
            </a:p>
            <a:p>
              <a:pPr algn="l">
                <a:lnSpc>
                  <a:spcPts val="825"/>
                </a:lnSpc>
              </a:pPr>
              <a:r>
                <a:rPr lang="zh-CN" sz="620" dirty="0">
                  <a:solidFill>
                    <a:srgbClr val="70504A"/>
                  </a:solidFill>
                  <a:latin typeface="+mn-lt"/>
                  <a:ea typeface="+mn-ea"/>
                  <a:cs typeface="+mn-cs"/>
                </a:rPr>
                <a:t>2. 推进低成本存款专班产品包​</a:t>
              </a:r>
            </a:p>
            <a:p>
              <a:pPr algn="l">
                <a:lnSpc>
                  <a:spcPts val="825"/>
                </a:lnSpc>
              </a:pPr>
              <a:r>
                <a:rPr lang="zh-CN" sz="620" dirty="0">
                  <a:solidFill>
                    <a:srgbClr val="70504A"/>
                  </a:solidFill>
                  <a:latin typeface="+mn-lt"/>
                  <a:ea typeface="+mn-ea"/>
                  <a:cs typeface="+mn-cs"/>
                </a:rPr>
                <a:t>3. 客户分层管理与提升计划​</a:t>
              </a:r>
            </a:p>
          </p:txBody>
        </p:sp>
        <p:sp>
          <p:nvSpPr>
            <p:cNvPr id="200" name="TextBox 200"/>
            <p:cNvSpPr txBox="1"/>
            <p:nvPr/>
          </p:nvSpPr>
          <p:spPr>
            <a:xfrm>
              <a:off x="10514648" y="4769882"/>
              <a:ext cx="49720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F3A33"/>
                  </a:solidFill>
                  <a:latin typeface="+mn-lt"/>
                  <a:ea typeface="+mn-ea"/>
                  <a:cs typeface="+mn-cs"/>
                </a:rPr>
                <a:t>公司金融部</a:t>
              </a:r>
              <a:br/>
              <a:r>
                <a:rPr lang="zh-CN" sz="640" dirty="0">
                  <a:solidFill>
                    <a:srgbClr val="5F3A33"/>
                  </a:solidFill>
                  <a:latin typeface="+mn-lt"/>
                  <a:ea typeface="+mn-ea"/>
                  <a:cs typeface="+mn-cs"/>
                </a:rPr>
                <a:t>资金营运中心</a:t>
              </a:r>
            </a:p>
          </p:txBody>
        </p:sp>
        <p:sp>
          <p:nvSpPr>
            <p:cNvPr id="201" name="TextBox 201"/>
            <p:cNvSpPr txBox="1"/>
            <p:nvPr/>
          </p:nvSpPr>
          <p:spPr>
            <a:xfrm>
              <a:off x="11330272" y="4846082"/>
              <a:ext cx="466156"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2026年9月​</a:t>
              </a:r>
            </a:p>
          </p:txBody>
        </p:sp>
        <p:sp>
          <p:nvSpPr>
            <p:cNvPr id="202" name="Line 202"/>
            <p:cNvSpPr/>
            <p:nvPr/>
          </p:nvSpPr>
          <p:spPr>
            <a:xfrm>
              <a:off x="6134100" y="5105400"/>
              <a:ext cx="5753100" cy="9525"/>
            </a:xfrm>
            <a:custGeom>
              <a:avLst/>
              <a:gdLst/>
              <a:ahLst/>
              <a:cxnLst/>
              <a:rect l="l" t="t" r="r" b="b"/>
              <a:pathLst>
                <a:path w="5753100" h="9525">
                  <a:moveTo>
                    <a:pt x="0" y="0"/>
                  </a:moveTo>
                  <a:lnTo>
                    <a:pt x="5753100" y="0"/>
                  </a:lnTo>
                </a:path>
              </a:pathLst>
            </a:custGeom>
            <a:noFill/>
            <a:ln w="9525">
              <a:solidFill>
                <a:srgbClr val="EDF2FA"/>
              </a:solidFill>
            </a:ln>
          </p:spPr>
        </p:sp>
        <p:sp>
          <p:nvSpPr>
            <p:cNvPr id="203" name="Rectangle 203"/>
            <p:cNvSpPr/>
            <p:nvPr/>
          </p:nvSpPr>
          <p:spPr>
            <a:xfrm>
              <a:off x="6134100" y="5124450"/>
              <a:ext cx="419100" cy="457200"/>
            </a:xfrm>
            <a:prstGeom prst="rect">
              <a:avLst/>
            </a:prstGeom>
            <a:solidFill>
              <a:srgbClr val="E82D0C"/>
            </a:solidFill>
            <a:ln>
              <a:noFill/>
            </a:ln>
          </p:spPr>
        </p:sp>
        <p:sp>
          <p:nvSpPr>
            <p:cNvPr id="204" name="TextBox 204"/>
            <p:cNvSpPr txBox="1"/>
            <p:nvPr/>
          </p:nvSpPr>
          <p:spPr>
            <a:xfrm>
              <a:off x="6237851" y="5235416"/>
              <a:ext cx="211598"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P1​</a:t>
              </a:r>
            </a:p>
          </p:txBody>
        </p:sp>
        <p:sp>
          <p:nvSpPr>
            <p:cNvPr id="205" name="TextBox 205"/>
            <p:cNvSpPr txBox="1"/>
            <p:nvPr/>
          </p:nvSpPr>
          <p:spPr>
            <a:xfrm>
              <a:off x="6624638" y="5224653"/>
              <a:ext cx="893445" cy="244793"/>
            </a:xfrm>
            <a:prstGeom prst="rect">
              <a:avLst/>
            </a:prstGeom>
            <a:noFill/>
            <a:ln>
              <a:noFill/>
            </a:ln>
          </p:spPr>
          <p:txBody>
            <a:bodyPr wrap="none" lIns="0" tIns="0" rIns="0" bIns="0" anchor="t" anchorCtr="0">
              <a:spAutoFit/>
            </a:bodyPr>
            <a:lstStyle/>
            <a:p>
              <a:pPr algn="l">
                <a:lnSpc>
                  <a:spcPts val="900"/>
                </a:lnSpc>
              </a:pPr>
              <a:r>
                <a:rPr lang="zh-CN" sz="660" b="1" dirty="0">
                  <a:solidFill>
                    <a:srgbClr val="5F3A33"/>
                  </a:solidFill>
                  <a:latin typeface="+mn-lt"/>
                  <a:ea typeface="+mn-ea"/>
                  <a:cs typeface="+mn-cs"/>
                </a:rPr>
                <a:t>法人信贷储备不足</a:t>
              </a:r>
            </a:p>
            <a:p>
              <a:pPr algn="l">
                <a:lnSpc>
                  <a:spcPts val="900"/>
                </a:lnSpc>
              </a:pPr>
              <a:r>
                <a:rPr lang="zh-CN" sz="580" dirty="0">
                  <a:solidFill>
                    <a:srgbClr val="70504A"/>
                  </a:solidFill>
                  <a:latin typeface="+mn-lt"/>
                  <a:ea typeface="+mn-ea"/>
                  <a:cs typeface="+mn-cs"/>
                </a:rPr>
                <a:t>夯实储备池、增强投放后劲</a:t>
              </a:r>
            </a:p>
          </p:txBody>
        </p:sp>
        <p:sp>
          <p:nvSpPr>
            <p:cNvPr id="206" name="TextBox 206"/>
            <p:cNvSpPr txBox="1"/>
            <p:nvPr/>
          </p:nvSpPr>
          <p:spPr>
            <a:xfrm>
              <a:off x="7824788" y="5181886"/>
              <a:ext cx="1344168" cy="331470"/>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1. 行业生态建设与项目线索来源扩容​</a:t>
              </a:r>
            </a:p>
            <a:p>
              <a:pPr algn="l">
                <a:lnSpc>
                  <a:spcPts val="825"/>
                </a:lnSpc>
              </a:pPr>
              <a:r>
                <a:rPr lang="zh-CN" sz="620" dirty="0">
                  <a:solidFill>
                    <a:srgbClr val="70504A"/>
                  </a:solidFill>
                  <a:latin typeface="+mn-lt"/>
                  <a:ea typeface="+mn-ea"/>
                  <a:cs typeface="+mn-cs"/>
                </a:rPr>
                <a:t>2. 中长期重大项目与专班储备机制​</a:t>
              </a:r>
            </a:p>
            <a:p>
              <a:pPr algn="l">
                <a:lnSpc>
                  <a:spcPts val="825"/>
                </a:lnSpc>
              </a:pPr>
              <a:r>
                <a:rPr lang="zh-CN" sz="620" dirty="0">
                  <a:solidFill>
                    <a:srgbClr val="70504A"/>
                  </a:solidFill>
                  <a:latin typeface="+mn-lt"/>
                  <a:ea typeface="+mn-ea"/>
                  <a:cs typeface="+mn-cs"/>
                </a:rPr>
                <a:t>3. 项目获取与转化全流程提速​</a:t>
              </a:r>
            </a:p>
          </p:txBody>
        </p:sp>
        <p:sp>
          <p:nvSpPr>
            <p:cNvPr id="207" name="TextBox 207"/>
            <p:cNvSpPr txBox="1"/>
            <p:nvPr/>
          </p:nvSpPr>
          <p:spPr>
            <a:xfrm>
              <a:off x="10555288" y="5246132"/>
              <a:ext cx="41592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F3A33"/>
                  </a:solidFill>
                  <a:latin typeface="+mn-lt"/>
                  <a:ea typeface="+mn-ea"/>
                  <a:cs typeface="+mn-cs"/>
                </a:rPr>
                <a:t>公司金融部</a:t>
              </a:r>
              <a:br/>
              <a:r>
                <a:rPr lang="zh-CN" sz="640" dirty="0">
                  <a:solidFill>
                    <a:srgbClr val="5F3A33"/>
                  </a:solidFill>
                  <a:latin typeface="+mn-lt"/>
                  <a:ea typeface="+mn-ea"/>
                  <a:cs typeface="+mn-cs"/>
                </a:rPr>
                <a:t>授信审批部</a:t>
              </a:r>
            </a:p>
          </p:txBody>
        </p:sp>
        <p:sp>
          <p:nvSpPr>
            <p:cNvPr id="208" name="TextBox 208"/>
            <p:cNvSpPr txBox="1"/>
            <p:nvPr/>
          </p:nvSpPr>
          <p:spPr>
            <a:xfrm>
              <a:off x="11306579" y="5322332"/>
              <a:ext cx="5135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2026年10月​</a:t>
              </a:r>
            </a:p>
          </p:txBody>
        </p:sp>
        <p:sp>
          <p:nvSpPr>
            <p:cNvPr id="209" name="Line 209"/>
            <p:cNvSpPr/>
            <p:nvPr/>
          </p:nvSpPr>
          <p:spPr>
            <a:xfrm>
              <a:off x="6134100" y="5581650"/>
              <a:ext cx="5753100" cy="9525"/>
            </a:xfrm>
            <a:custGeom>
              <a:avLst/>
              <a:gdLst/>
              <a:ahLst/>
              <a:cxnLst/>
              <a:rect l="l" t="t" r="r" b="b"/>
              <a:pathLst>
                <a:path w="5753100" h="9525">
                  <a:moveTo>
                    <a:pt x="0" y="0"/>
                  </a:moveTo>
                  <a:lnTo>
                    <a:pt x="5753100" y="0"/>
                  </a:lnTo>
                </a:path>
              </a:pathLst>
            </a:custGeom>
            <a:noFill/>
            <a:ln w="9525">
              <a:solidFill>
                <a:srgbClr val="EDF2FA"/>
              </a:solidFill>
            </a:ln>
          </p:spPr>
        </p:sp>
        <p:sp>
          <p:nvSpPr>
            <p:cNvPr id="210" name="Rectangle 210"/>
            <p:cNvSpPr/>
            <p:nvPr/>
          </p:nvSpPr>
          <p:spPr>
            <a:xfrm>
              <a:off x="6134100" y="5600700"/>
              <a:ext cx="419100" cy="457200"/>
            </a:xfrm>
            <a:prstGeom prst="rect">
              <a:avLst/>
            </a:prstGeom>
            <a:solidFill>
              <a:srgbClr val="F25337"/>
            </a:solidFill>
            <a:ln>
              <a:noFill/>
            </a:ln>
          </p:spPr>
        </p:sp>
        <p:sp>
          <p:nvSpPr>
            <p:cNvPr id="211" name="TextBox 211"/>
            <p:cNvSpPr txBox="1"/>
            <p:nvPr/>
          </p:nvSpPr>
          <p:spPr>
            <a:xfrm>
              <a:off x="6237851" y="5711666"/>
              <a:ext cx="211598" cy="161925"/>
            </a:xfrm>
            <a:prstGeom prst="rect">
              <a:avLst/>
            </a:prstGeom>
            <a:noFill/>
            <a:ln>
              <a:noFill/>
            </a:ln>
          </p:spPr>
          <p:txBody>
            <a:bodyPr wrap="none" lIns="0" tIns="0" rIns="0" bIns="0" anchor="t" anchorCtr="0">
              <a:spAutoFit/>
            </a:bodyPr>
            <a:lstStyle/>
            <a:p>
              <a:pPr algn="ctr"/>
              <a:r>
                <a:rPr lang="en-US" sz="820" b="1" dirty="0">
                  <a:solidFill>
                    <a:srgbClr val="5F3A33"/>
                  </a:solidFill>
                  <a:latin typeface="+mn-lt"/>
                  <a:ea typeface="+mn-ea"/>
                  <a:cs typeface="+mn-cs"/>
                </a:rPr>
                <a:t>P2​</a:t>
              </a:r>
            </a:p>
          </p:txBody>
        </p:sp>
        <p:sp>
          <p:nvSpPr>
            <p:cNvPr id="212" name="TextBox 212"/>
            <p:cNvSpPr txBox="1"/>
            <p:nvPr/>
          </p:nvSpPr>
          <p:spPr>
            <a:xfrm>
              <a:off x="6624638" y="5700903"/>
              <a:ext cx="512445" cy="244793"/>
            </a:xfrm>
            <a:prstGeom prst="rect">
              <a:avLst/>
            </a:prstGeom>
            <a:noFill/>
            <a:ln>
              <a:noFill/>
            </a:ln>
          </p:spPr>
          <p:txBody>
            <a:bodyPr wrap="none" lIns="0" tIns="0" rIns="0" bIns="0" anchor="t" anchorCtr="0">
              <a:spAutoFit/>
            </a:bodyPr>
            <a:lstStyle/>
            <a:p>
              <a:pPr algn="l">
                <a:lnSpc>
                  <a:spcPts val="900"/>
                </a:lnSpc>
              </a:pPr>
              <a:r>
                <a:rPr lang="zh-CN" sz="660" b="1" dirty="0">
                  <a:solidFill>
                    <a:srgbClr val="5F3A33"/>
                  </a:solidFill>
                  <a:latin typeface="+mn-lt"/>
                  <a:ea typeface="+mn-ea"/>
                  <a:cs typeface="+mn-cs"/>
                </a:rPr>
                <a:t>客户结构不优</a:t>
              </a:r>
            </a:p>
            <a:p>
              <a:pPr algn="l">
                <a:lnSpc>
                  <a:spcPts val="900"/>
                </a:lnSpc>
              </a:pPr>
              <a:r>
                <a:rPr lang="zh-CN" sz="580" dirty="0">
                  <a:solidFill>
                    <a:srgbClr val="70504A"/>
                  </a:solidFill>
                  <a:latin typeface="+mn-lt"/>
                  <a:ea typeface="+mn-ea"/>
                  <a:cs typeface="+mn-cs"/>
                </a:rPr>
                <a:t>优化客户结构</a:t>
              </a:r>
            </a:p>
          </p:txBody>
        </p:sp>
        <p:sp>
          <p:nvSpPr>
            <p:cNvPr id="213" name="TextBox 213"/>
            <p:cNvSpPr txBox="1"/>
            <p:nvPr/>
          </p:nvSpPr>
          <p:spPr>
            <a:xfrm>
              <a:off x="7824788" y="5658136"/>
              <a:ext cx="1265428" cy="331470"/>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1. 客户分层标准落地与差异化服务​</a:t>
              </a:r>
            </a:p>
            <a:p>
              <a:pPr algn="l">
                <a:lnSpc>
                  <a:spcPts val="825"/>
                </a:lnSpc>
              </a:pPr>
              <a:r>
                <a:rPr lang="zh-CN" sz="620" dirty="0">
                  <a:solidFill>
                    <a:srgbClr val="70504A"/>
                  </a:solidFill>
                  <a:latin typeface="+mn-lt"/>
                  <a:ea typeface="+mn-ea"/>
                  <a:cs typeface="+mn-cs"/>
                </a:rPr>
                <a:t>2. 价值提升手段赋能​</a:t>
              </a:r>
            </a:p>
            <a:p>
              <a:pPr algn="l">
                <a:lnSpc>
                  <a:spcPts val="825"/>
                </a:lnSpc>
              </a:pPr>
              <a:r>
                <a:rPr lang="zh-CN" sz="620" dirty="0">
                  <a:solidFill>
                    <a:srgbClr val="70504A"/>
                  </a:solidFill>
                  <a:latin typeface="+mn-lt"/>
                  <a:ea typeface="+mn-ea"/>
                  <a:cs typeface="+mn-cs"/>
                </a:rPr>
                <a:t>3. 公私联动与代发协同​</a:t>
              </a:r>
            </a:p>
          </p:txBody>
        </p:sp>
        <p:sp>
          <p:nvSpPr>
            <p:cNvPr id="214" name="TextBox 214"/>
            <p:cNvSpPr txBox="1"/>
            <p:nvPr/>
          </p:nvSpPr>
          <p:spPr>
            <a:xfrm>
              <a:off x="10543096" y="5798582"/>
              <a:ext cx="440309"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客户发展部</a:t>
              </a:r>
            </a:p>
          </p:txBody>
        </p:sp>
        <p:sp>
          <p:nvSpPr>
            <p:cNvPr id="215" name="TextBox 215"/>
            <p:cNvSpPr txBox="1"/>
            <p:nvPr/>
          </p:nvSpPr>
          <p:spPr>
            <a:xfrm>
              <a:off x="11306579" y="5798582"/>
              <a:ext cx="5135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2026年12月​</a:t>
              </a:r>
            </a:p>
          </p:txBody>
        </p:sp>
        <p:sp>
          <p:nvSpPr>
            <p:cNvPr id="216" name="Line 216"/>
            <p:cNvSpPr/>
            <p:nvPr/>
          </p:nvSpPr>
          <p:spPr>
            <a:xfrm>
              <a:off x="6134100" y="6057900"/>
              <a:ext cx="5753100" cy="9525"/>
            </a:xfrm>
            <a:custGeom>
              <a:avLst/>
              <a:gdLst/>
              <a:ahLst/>
              <a:cxnLst/>
              <a:rect l="l" t="t" r="r" b="b"/>
              <a:pathLst>
                <a:path w="5753100" h="9525">
                  <a:moveTo>
                    <a:pt x="0" y="0"/>
                  </a:moveTo>
                  <a:lnTo>
                    <a:pt x="5753100" y="0"/>
                  </a:lnTo>
                </a:path>
              </a:pathLst>
            </a:custGeom>
            <a:noFill/>
            <a:ln w="9525">
              <a:solidFill>
                <a:srgbClr val="EDF2FA"/>
              </a:solidFill>
            </a:ln>
          </p:spPr>
        </p:sp>
        <p:sp>
          <p:nvSpPr>
            <p:cNvPr id="217" name="Rectangle 217"/>
            <p:cNvSpPr/>
            <p:nvPr/>
          </p:nvSpPr>
          <p:spPr>
            <a:xfrm>
              <a:off x="6134100" y="6076950"/>
              <a:ext cx="419100" cy="457200"/>
            </a:xfrm>
            <a:prstGeom prst="rect">
              <a:avLst/>
            </a:prstGeom>
            <a:solidFill>
              <a:srgbClr val="F25337"/>
            </a:solidFill>
            <a:ln>
              <a:noFill/>
            </a:ln>
          </p:spPr>
        </p:sp>
        <p:sp>
          <p:nvSpPr>
            <p:cNvPr id="218" name="TextBox 218"/>
            <p:cNvSpPr txBox="1"/>
            <p:nvPr/>
          </p:nvSpPr>
          <p:spPr>
            <a:xfrm>
              <a:off x="6237851" y="6187916"/>
              <a:ext cx="211598" cy="161925"/>
            </a:xfrm>
            <a:prstGeom prst="rect">
              <a:avLst/>
            </a:prstGeom>
            <a:noFill/>
            <a:ln>
              <a:noFill/>
            </a:ln>
          </p:spPr>
          <p:txBody>
            <a:bodyPr wrap="none" lIns="0" tIns="0" rIns="0" bIns="0" anchor="t" anchorCtr="0">
              <a:spAutoFit/>
            </a:bodyPr>
            <a:lstStyle/>
            <a:p>
              <a:pPr algn="ctr"/>
              <a:r>
                <a:rPr lang="en-US" sz="820" b="1" dirty="0">
                  <a:solidFill>
                    <a:srgbClr val="5F3A33"/>
                  </a:solidFill>
                  <a:latin typeface="+mn-lt"/>
                  <a:ea typeface="+mn-ea"/>
                  <a:cs typeface="+mn-cs"/>
                </a:rPr>
                <a:t>P2​</a:t>
              </a:r>
            </a:p>
          </p:txBody>
        </p:sp>
        <p:sp>
          <p:nvSpPr>
            <p:cNvPr id="219" name="TextBox 219"/>
            <p:cNvSpPr txBox="1"/>
            <p:nvPr/>
          </p:nvSpPr>
          <p:spPr>
            <a:xfrm>
              <a:off x="6624638" y="6177153"/>
              <a:ext cx="680085" cy="244793"/>
            </a:xfrm>
            <a:prstGeom prst="rect">
              <a:avLst/>
            </a:prstGeom>
            <a:noFill/>
            <a:ln>
              <a:noFill/>
            </a:ln>
          </p:spPr>
          <p:txBody>
            <a:bodyPr wrap="none" lIns="0" tIns="0" rIns="0" bIns="0" anchor="t" anchorCtr="0">
              <a:spAutoFit/>
            </a:bodyPr>
            <a:lstStyle/>
            <a:p>
              <a:pPr algn="l">
                <a:lnSpc>
                  <a:spcPts val="900"/>
                </a:lnSpc>
              </a:pPr>
              <a:r>
                <a:rPr lang="zh-CN" sz="660" b="1" dirty="0">
                  <a:solidFill>
                    <a:srgbClr val="5F3A33"/>
                  </a:solidFill>
                  <a:latin typeface="+mn-lt"/>
                  <a:ea typeface="+mn-ea"/>
                  <a:cs typeface="+mn-cs"/>
                </a:rPr>
                <a:t>网点对公转型缓慢</a:t>
              </a:r>
            </a:p>
            <a:p>
              <a:pPr algn="l">
                <a:lnSpc>
                  <a:spcPts val="900"/>
                </a:lnSpc>
              </a:pPr>
              <a:r>
                <a:rPr lang="zh-CN" sz="580" dirty="0">
                  <a:solidFill>
                    <a:srgbClr val="70504A"/>
                  </a:solidFill>
                  <a:latin typeface="+mn-lt"/>
                  <a:ea typeface="+mn-ea"/>
                  <a:cs typeface="+mn-cs"/>
                </a:rPr>
                <a:t>加快网点转型</a:t>
              </a:r>
            </a:p>
          </p:txBody>
        </p:sp>
        <p:sp>
          <p:nvSpPr>
            <p:cNvPr id="220" name="TextBox 220"/>
            <p:cNvSpPr txBox="1"/>
            <p:nvPr/>
          </p:nvSpPr>
          <p:spPr>
            <a:xfrm>
              <a:off x="7824788" y="6134386"/>
              <a:ext cx="1107948" cy="331470"/>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1. 网点对公定位与资源倾斜​</a:t>
              </a:r>
            </a:p>
            <a:p>
              <a:pPr algn="l">
                <a:lnSpc>
                  <a:spcPts val="825"/>
                </a:lnSpc>
              </a:pPr>
              <a:r>
                <a:rPr lang="zh-CN" sz="620" dirty="0">
                  <a:solidFill>
                    <a:srgbClr val="70504A"/>
                  </a:solidFill>
                  <a:latin typeface="+mn-lt"/>
                  <a:ea typeface="+mn-ea"/>
                  <a:cs typeface="+mn-cs"/>
                </a:rPr>
                <a:t>2. 客户经理赋能与专班认证​</a:t>
              </a:r>
            </a:p>
            <a:p>
              <a:pPr algn="l">
                <a:lnSpc>
                  <a:spcPts val="825"/>
                </a:lnSpc>
              </a:pPr>
              <a:r>
                <a:rPr lang="zh-CN" sz="620" dirty="0">
                  <a:solidFill>
                    <a:srgbClr val="70504A"/>
                  </a:solidFill>
                  <a:latin typeface="+mn-lt"/>
                  <a:ea typeface="+mn-ea"/>
                  <a:cs typeface="+mn-cs"/>
                </a:rPr>
                <a:t>3. 考核激励与转型目标强穿透​</a:t>
              </a:r>
            </a:p>
          </p:txBody>
        </p:sp>
        <p:sp>
          <p:nvSpPr>
            <p:cNvPr id="221" name="TextBox 221"/>
            <p:cNvSpPr txBox="1"/>
            <p:nvPr/>
          </p:nvSpPr>
          <p:spPr>
            <a:xfrm>
              <a:off x="10555288" y="6274832"/>
              <a:ext cx="41592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F3A33"/>
                  </a:solidFill>
                  <a:latin typeface="+mn-lt"/>
                  <a:ea typeface="+mn-ea"/>
                  <a:cs typeface="+mn-cs"/>
                </a:rPr>
                <a:t>零售与网点</a:t>
              </a:r>
              <a:br/>
              <a:r>
                <a:rPr lang="zh-CN" sz="640" dirty="0">
                  <a:solidFill>
                    <a:srgbClr val="5F3A33"/>
                  </a:solidFill>
                  <a:latin typeface="+mn-lt"/>
                  <a:ea typeface="+mn-ea"/>
                  <a:cs typeface="+mn-cs"/>
                </a:rPr>
                <a:t>管理部</a:t>
              </a:r>
            </a:p>
          </p:txBody>
        </p:sp>
        <p:sp>
          <p:nvSpPr>
            <p:cNvPr id="222" name="TextBox 222"/>
            <p:cNvSpPr txBox="1"/>
            <p:nvPr/>
          </p:nvSpPr>
          <p:spPr>
            <a:xfrm>
              <a:off x="11306579" y="6274832"/>
              <a:ext cx="513542"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2026年12月​</a:t>
              </a:r>
            </a:p>
          </p:txBody>
        </p:sp>
      </p:grpSp>
      <p:sp>
        <p:nvSpPr>
          <p:cNvPr id="224"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12 / 18 页​</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13​</a:t>
              </a:r>
            </a:p>
          </p:txBody>
        </p:sp>
        <p:sp>
          <p:nvSpPr>
            <p:cNvPr id="4" name="TextBox 4"/>
            <p:cNvSpPr txBox="1"/>
            <p:nvPr/>
          </p:nvSpPr>
          <p:spPr>
            <a:xfrm>
              <a:off x="1019175" y="169069"/>
              <a:ext cx="7864704"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下半年经营目标全面分解，以规模增长、结构优化和价值提升牵引执行</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23" name="kpi-deposit"/>
          <p:cNvGrpSpPr/>
          <p:nvPr/>
        </p:nvGrpSpPr>
        <p:grpSpPr>
          <a:xfrm>
            <a:off x="228600" y="685800"/>
            <a:ext cx="2819400" cy="895350"/>
            <a:chOff x="228600" y="685800"/>
            <a:chExt cx="2819400" cy="895350"/>
          </a:xfrm>
        </p:grpSpPr>
        <p:sp>
          <p:nvSpPr>
            <p:cNvPr id="9" name="Rectangle 9"/>
            <p:cNvSpPr/>
            <p:nvPr/>
          </p:nvSpPr>
          <p:spPr>
            <a:xfrm>
              <a:off x="228600" y="685800"/>
              <a:ext cx="2819400" cy="895350"/>
            </a:xfrm>
            <a:prstGeom prst="roundRect">
              <a:avLst>
                <a:gd name="adj" fmla="val 6383"/>
              </a:avLst>
            </a:prstGeom>
            <a:solidFill>
              <a:srgbClr val="FFFFFF"/>
            </a:solidFill>
            <a:ln w="9525">
              <a:solidFill>
                <a:srgbClr val="C9D6E9"/>
              </a:solidFill>
            </a:ln>
          </p:spPr>
        </p:sp>
        <p:sp>
          <p:nvSpPr>
            <p:cNvPr id="10" name="Ellipse 10"/>
            <p:cNvSpPr/>
            <p:nvPr/>
          </p:nvSpPr>
          <p:spPr>
            <a:xfrm>
              <a:off x="361950" y="885825"/>
              <a:ext cx="495300" cy="495300"/>
            </a:xfrm>
            <a:prstGeom prst="ellipse">
              <a:avLst/>
            </a:prstGeom>
            <a:solidFill>
              <a:srgbClr val="EAF1FB"/>
            </a:solidFill>
            <a:ln>
              <a:noFill/>
            </a:ln>
          </p:spPr>
        </p:sp>
        <p:grpSp>
          <p:nvGrpSpPr>
            <p:cNvPr id="19" name="Group 19"/>
            <p:cNvGrpSpPr/>
            <p:nvPr/>
          </p:nvGrpSpPr>
          <p:grpSpPr>
            <a:xfrm>
              <a:off x="509588" y="1033463"/>
              <a:ext cx="200026" cy="209550"/>
              <a:chOff x="509588" y="1033463"/>
              <a:chExt cx="200026" cy="209550"/>
            </a:xfrm>
          </p:grpSpPr>
          <p:sp>
            <p:nvSpPr>
              <p:cNvPr id="11" name="Freeform 11"/>
              <p:cNvSpPr/>
              <p:nvPr/>
            </p:nvSpPr>
            <p:spPr>
              <a:xfrm>
                <a:off x="509588" y="1233488"/>
                <a:ext cx="200026" cy="9525"/>
              </a:xfrm>
              <a:custGeom>
                <a:avLst/>
                <a:gdLst/>
                <a:ahLst/>
                <a:cxnLst/>
                <a:rect l="l" t="t" r="r" b="b"/>
                <a:pathLst>
                  <a:path w="200026" h="9525">
                    <a:moveTo>
                      <a:pt x="0" y="0"/>
                    </a:moveTo>
                    <a:lnTo>
                      <a:pt x="200026" y="0"/>
                    </a:lnTo>
                  </a:path>
                </a:pathLst>
              </a:custGeom>
              <a:noFill/>
              <a:ln w="22225">
                <a:solidFill>
                  <a:srgbClr val="69281B"/>
                </a:solidFill>
              </a:ln>
            </p:spPr>
          </p:sp>
          <p:sp>
            <p:nvSpPr>
              <p:cNvPr id="12" name="Freeform 12"/>
              <p:cNvSpPr/>
              <p:nvPr/>
            </p:nvSpPr>
            <p:spPr>
              <a:xfrm>
                <a:off x="509588" y="1111250"/>
                <a:ext cx="200026" cy="9525"/>
              </a:xfrm>
              <a:custGeom>
                <a:avLst/>
                <a:gdLst/>
                <a:ahLst/>
                <a:cxnLst/>
                <a:rect l="l" t="t" r="r" b="b"/>
                <a:pathLst>
                  <a:path w="200026" h="9525">
                    <a:moveTo>
                      <a:pt x="0" y="0"/>
                    </a:moveTo>
                    <a:lnTo>
                      <a:pt x="200026" y="0"/>
                    </a:lnTo>
                  </a:path>
                </a:pathLst>
              </a:custGeom>
              <a:noFill/>
              <a:ln w="22225">
                <a:solidFill>
                  <a:srgbClr val="69281B"/>
                </a:solidFill>
              </a:ln>
            </p:spPr>
          </p:sp>
          <p:sp>
            <p:nvSpPr>
              <p:cNvPr id="13" name="Freeform 13"/>
              <p:cNvSpPr/>
              <p:nvPr/>
            </p:nvSpPr>
            <p:spPr>
              <a:xfrm>
                <a:off x="531813" y="1033463"/>
                <a:ext cx="155575" cy="33338"/>
              </a:xfrm>
              <a:custGeom>
                <a:avLst/>
                <a:gdLst/>
                <a:ahLst/>
                <a:cxnLst/>
                <a:rect l="l" t="t" r="r" b="b"/>
                <a:pathLst>
                  <a:path w="155575" h="33338">
                    <a:moveTo>
                      <a:pt x="0" y="33338"/>
                    </a:moveTo>
                    <a:lnTo>
                      <a:pt x="77788" y="0"/>
                    </a:lnTo>
                    <a:lnTo>
                      <a:pt x="155575" y="33338"/>
                    </a:lnTo>
                  </a:path>
                </a:pathLst>
              </a:custGeom>
              <a:noFill/>
              <a:ln w="22225">
                <a:solidFill>
                  <a:srgbClr val="69281B"/>
                </a:solidFill>
              </a:ln>
            </p:spPr>
          </p:sp>
          <p:sp>
            <p:nvSpPr>
              <p:cNvPr id="14" name="Freeform 14"/>
              <p:cNvSpPr/>
              <p:nvPr/>
            </p:nvSpPr>
            <p:spPr>
              <a:xfrm>
                <a:off x="520700" y="1111250"/>
                <a:ext cx="9525" cy="122238"/>
              </a:xfrm>
              <a:custGeom>
                <a:avLst/>
                <a:gdLst/>
                <a:ahLst/>
                <a:cxnLst/>
                <a:rect l="l" t="t" r="r" b="b"/>
                <a:pathLst>
                  <a:path w="9525" h="122238">
                    <a:moveTo>
                      <a:pt x="0" y="0"/>
                    </a:moveTo>
                    <a:lnTo>
                      <a:pt x="0" y="122238"/>
                    </a:lnTo>
                  </a:path>
                </a:pathLst>
              </a:custGeom>
              <a:noFill/>
              <a:ln w="22225">
                <a:solidFill>
                  <a:srgbClr val="69281B"/>
                </a:solidFill>
              </a:ln>
            </p:spPr>
          </p:sp>
          <p:sp>
            <p:nvSpPr>
              <p:cNvPr id="15" name="Freeform 15"/>
              <p:cNvSpPr/>
              <p:nvPr/>
            </p:nvSpPr>
            <p:spPr>
              <a:xfrm>
                <a:off x="698501" y="1111250"/>
                <a:ext cx="9525" cy="122238"/>
              </a:xfrm>
              <a:custGeom>
                <a:avLst/>
                <a:gdLst/>
                <a:ahLst/>
                <a:cxnLst/>
                <a:rect l="l" t="t" r="r" b="b"/>
                <a:pathLst>
                  <a:path w="9525" h="122238">
                    <a:moveTo>
                      <a:pt x="0" y="0"/>
                    </a:moveTo>
                    <a:lnTo>
                      <a:pt x="0" y="122238"/>
                    </a:lnTo>
                  </a:path>
                </a:pathLst>
              </a:custGeom>
              <a:noFill/>
              <a:ln w="22225">
                <a:solidFill>
                  <a:srgbClr val="69281B"/>
                </a:solidFill>
              </a:ln>
            </p:spPr>
          </p:sp>
          <p:sp>
            <p:nvSpPr>
              <p:cNvPr id="16" name="Freeform 16"/>
              <p:cNvSpPr/>
              <p:nvPr/>
            </p:nvSpPr>
            <p:spPr>
              <a:xfrm>
                <a:off x="565150" y="1155700"/>
                <a:ext cx="9525" cy="33338"/>
              </a:xfrm>
              <a:custGeom>
                <a:avLst/>
                <a:gdLst/>
                <a:ahLst/>
                <a:cxnLst/>
                <a:rect l="l" t="t" r="r" b="b"/>
                <a:pathLst>
                  <a:path w="9525" h="33338">
                    <a:moveTo>
                      <a:pt x="0" y="0"/>
                    </a:moveTo>
                    <a:lnTo>
                      <a:pt x="0" y="33338"/>
                    </a:lnTo>
                  </a:path>
                </a:pathLst>
              </a:custGeom>
              <a:noFill/>
              <a:ln w="22225">
                <a:solidFill>
                  <a:srgbClr val="69281B"/>
                </a:solidFill>
              </a:ln>
            </p:spPr>
          </p:sp>
          <p:sp>
            <p:nvSpPr>
              <p:cNvPr id="17" name="Freeform 17"/>
              <p:cNvSpPr/>
              <p:nvPr/>
            </p:nvSpPr>
            <p:spPr>
              <a:xfrm>
                <a:off x="609600" y="1155700"/>
                <a:ext cx="9525" cy="33338"/>
              </a:xfrm>
              <a:custGeom>
                <a:avLst/>
                <a:gdLst/>
                <a:ahLst/>
                <a:cxnLst/>
                <a:rect l="l" t="t" r="r" b="b"/>
                <a:pathLst>
                  <a:path w="9525" h="33338">
                    <a:moveTo>
                      <a:pt x="0" y="0"/>
                    </a:moveTo>
                    <a:lnTo>
                      <a:pt x="0" y="33338"/>
                    </a:lnTo>
                  </a:path>
                </a:pathLst>
              </a:custGeom>
              <a:noFill/>
              <a:ln w="22225">
                <a:solidFill>
                  <a:srgbClr val="69281B"/>
                </a:solidFill>
              </a:ln>
            </p:spPr>
          </p:sp>
          <p:sp>
            <p:nvSpPr>
              <p:cNvPr id="18" name="Freeform 18"/>
              <p:cNvSpPr/>
              <p:nvPr/>
            </p:nvSpPr>
            <p:spPr>
              <a:xfrm>
                <a:off x="654051" y="1155700"/>
                <a:ext cx="9525" cy="33338"/>
              </a:xfrm>
              <a:custGeom>
                <a:avLst/>
                <a:gdLst/>
                <a:ahLst/>
                <a:cxnLst/>
                <a:rect l="l" t="t" r="r" b="b"/>
                <a:pathLst>
                  <a:path w="9525" h="33338">
                    <a:moveTo>
                      <a:pt x="0" y="0"/>
                    </a:moveTo>
                    <a:lnTo>
                      <a:pt x="0" y="33338"/>
                    </a:lnTo>
                  </a:path>
                </a:pathLst>
              </a:custGeom>
              <a:noFill/>
              <a:ln w="22225">
                <a:solidFill>
                  <a:srgbClr val="69281B"/>
                </a:solidFill>
              </a:ln>
            </p:spPr>
          </p:sp>
        </p:grpSp>
        <p:sp>
          <p:nvSpPr>
            <p:cNvPr id="20" name="TextBox 20"/>
            <p:cNvSpPr txBox="1"/>
            <p:nvPr/>
          </p:nvSpPr>
          <p:spPr>
            <a:xfrm>
              <a:off x="985838" y="840343"/>
              <a:ext cx="704164" cy="169069"/>
            </a:xfrm>
            <a:prstGeom prst="rect">
              <a:avLst/>
            </a:prstGeom>
            <a:noFill/>
            <a:ln>
              <a:noFill/>
            </a:ln>
          </p:spPr>
          <p:txBody>
            <a:bodyPr wrap="none" lIns="0" tIns="0" rIns="0" bIns="0" anchor="t" anchorCtr="0">
              <a:spAutoFit/>
            </a:bodyPr>
            <a:lstStyle/>
            <a:p>
              <a:pPr algn="l"/>
              <a:r>
                <a:rPr lang="zh-CN" sz="860" dirty="0">
                  <a:solidFill>
                    <a:srgbClr val="987F7A"/>
                  </a:solidFill>
                  <a:latin typeface="+mn-lt"/>
                  <a:ea typeface="+mn-ea"/>
                  <a:cs typeface="+mn-cs"/>
                </a:rPr>
                <a:t>年末对公存款</a:t>
              </a:r>
            </a:p>
          </p:txBody>
        </p:sp>
        <p:sp>
          <p:nvSpPr>
            <p:cNvPr id="21" name="TextBox 21"/>
            <p:cNvSpPr txBox="1"/>
            <p:nvPr/>
          </p:nvSpPr>
          <p:spPr>
            <a:xfrm>
              <a:off x="980313" y="1019651"/>
              <a:ext cx="952171" cy="396050"/>
            </a:xfrm>
            <a:prstGeom prst="rect">
              <a:avLst/>
            </a:prstGeom>
            <a:noFill/>
            <a:ln>
              <a:noFill/>
            </a:ln>
          </p:spPr>
          <p:txBody>
            <a:bodyPr wrap="none" lIns="0" tIns="0" rIns="0" bIns="0" anchor="t" anchorCtr="0">
              <a:spAutoFit/>
            </a:bodyPr>
            <a:lstStyle/>
            <a:p>
              <a:pPr algn="l"/>
              <a:r>
                <a:rPr lang="zh-CN" sz="2020" b="1" dirty="0">
                  <a:solidFill>
                    <a:srgbClr val="69281B"/>
                  </a:solidFill>
                  <a:latin typeface="+mn-lt"/>
                  <a:ea typeface="+mn-ea"/>
                  <a:cs typeface="+mn-cs"/>
                </a:rPr>
                <a:t>358</a:t>
              </a:r>
              <a:r>
                <a:rPr lang="zh-CN" sz="980" dirty="0">
                  <a:solidFill>
                    <a:srgbClr val="69281B"/>
                  </a:solidFill>
                  <a:latin typeface="+mn-lt"/>
                  <a:ea typeface="+mn-ea"/>
                  <a:cs typeface="+mn-cs"/>
                </a:rPr>
                <a:t xml:space="preserve"> 亿元</a:t>
              </a:r>
              <a:r>
                <a:rPr lang="zh-CN" sz="2020" b="1" dirty="0">
                  <a:solidFill>
                    <a:srgbClr val="69281B"/>
                  </a:solidFill>
                  <a:latin typeface="+mn-lt"/>
                  <a:ea typeface="+mn-ea"/>
                  <a:cs typeface="+mn-cs"/>
                </a:rPr>
                <a:t>​</a:t>
              </a:r>
            </a:p>
          </p:txBody>
        </p:sp>
        <p:sp>
          <p:nvSpPr>
            <p:cNvPr id="22" name="TextBox 22"/>
            <p:cNvSpPr txBox="1"/>
            <p:nvPr/>
          </p:nvSpPr>
          <p:spPr>
            <a:xfrm>
              <a:off x="985838" y="1370886"/>
              <a:ext cx="1009294"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下半年净增 </a:t>
              </a:r>
              <a:r>
                <a:rPr lang="zh-CN" sz="710" b="1" dirty="0">
                  <a:solidFill>
                    <a:srgbClr val="E04C2E"/>
                  </a:solidFill>
                  <a:latin typeface="+mn-lt"/>
                  <a:ea typeface="+mn-ea"/>
                  <a:cs typeface="+mn-cs"/>
                </a:rPr>
                <a:t>31.2</a:t>
              </a:r>
              <a:r>
                <a:rPr lang="zh-CN" sz="710" dirty="0">
                  <a:solidFill>
                    <a:srgbClr val="70504A"/>
                  </a:solidFill>
                  <a:latin typeface="+mn-lt"/>
                  <a:ea typeface="+mn-ea"/>
                  <a:cs typeface="+mn-cs"/>
                </a:rPr>
                <a:t xml:space="preserve"> 亿元​</a:t>
              </a:r>
            </a:p>
          </p:txBody>
        </p:sp>
      </p:grpSp>
      <p:grpSp>
        <p:nvGrpSpPr>
          <p:cNvPr id="32" name="kpi-loan"/>
          <p:cNvGrpSpPr/>
          <p:nvPr/>
        </p:nvGrpSpPr>
        <p:grpSpPr>
          <a:xfrm>
            <a:off x="3162300" y="685800"/>
            <a:ext cx="2819400" cy="895350"/>
            <a:chOff x="3162300" y="685800"/>
            <a:chExt cx="2819400" cy="895350"/>
          </a:xfrm>
        </p:grpSpPr>
        <p:sp>
          <p:nvSpPr>
            <p:cNvPr id="24" name="Rectangle 24"/>
            <p:cNvSpPr/>
            <p:nvPr/>
          </p:nvSpPr>
          <p:spPr>
            <a:xfrm>
              <a:off x="3162300" y="685800"/>
              <a:ext cx="2819400" cy="895350"/>
            </a:xfrm>
            <a:prstGeom prst="roundRect">
              <a:avLst>
                <a:gd name="adj" fmla="val 6383"/>
              </a:avLst>
            </a:prstGeom>
            <a:solidFill>
              <a:srgbClr val="FFFFFF"/>
            </a:solidFill>
            <a:ln w="9525">
              <a:solidFill>
                <a:srgbClr val="C9D6E9"/>
              </a:solidFill>
            </a:ln>
          </p:spPr>
        </p:sp>
        <p:sp>
          <p:nvSpPr>
            <p:cNvPr id="25" name="Ellipse 25"/>
            <p:cNvSpPr/>
            <p:nvPr/>
          </p:nvSpPr>
          <p:spPr>
            <a:xfrm>
              <a:off x="3295650" y="885825"/>
              <a:ext cx="495300" cy="495300"/>
            </a:xfrm>
            <a:prstGeom prst="ellipse">
              <a:avLst/>
            </a:prstGeom>
            <a:solidFill>
              <a:srgbClr val="EAF1FB"/>
            </a:solidFill>
            <a:ln>
              <a:noFill/>
            </a:ln>
          </p:spPr>
        </p:sp>
        <p:grpSp>
          <p:nvGrpSpPr>
            <p:cNvPr id="28" name="Group 28"/>
            <p:cNvGrpSpPr/>
            <p:nvPr/>
          </p:nvGrpSpPr>
          <p:grpSpPr>
            <a:xfrm>
              <a:off x="3454400" y="1044575"/>
              <a:ext cx="177800" cy="177801"/>
              <a:chOff x="3454400" y="1044575"/>
              <a:chExt cx="177800" cy="177801"/>
            </a:xfrm>
          </p:grpSpPr>
          <p:sp>
            <p:nvSpPr>
              <p:cNvPr id="26" name="Freeform 26"/>
              <p:cNvSpPr/>
              <p:nvPr/>
            </p:nvSpPr>
            <p:spPr>
              <a:xfrm>
                <a:off x="3454400" y="1044575"/>
                <a:ext cx="166688" cy="177801"/>
              </a:xfrm>
              <a:custGeom>
                <a:avLst/>
                <a:gdLst/>
                <a:ahLst/>
                <a:cxnLst/>
                <a:rect l="l" t="t" r="r" b="b"/>
                <a:pathLst>
                  <a:path w="166688" h="177801">
                    <a:moveTo>
                      <a:pt x="144463" y="44450"/>
                    </a:moveTo>
                    <a:lnTo>
                      <a:pt x="144463" y="11113"/>
                    </a:lnTo>
                    <a:cubicBezTo>
                      <a:pt x="144463" y="4975"/>
                      <a:pt x="139488" y="0"/>
                      <a:pt x="133350" y="0"/>
                    </a:cubicBezTo>
                    <a:lnTo>
                      <a:pt x="22225" y="0"/>
                    </a:lnTo>
                    <a:cubicBezTo>
                      <a:pt x="9950" y="0"/>
                      <a:pt x="0" y="9950"/>
                      <a:pt x="0" y="22225"/>
                    </a:cubicBezTo>
                    <a:cubicBezTo>
                      <a:pt x="0" y="34500"/>
                      <a:pt x="9950" y="44450"/>
                      <a:pt x="22225" y="44450"/>
                    </a:cubicBezTo>
                    <a:lnTo>
                      <a:pt x="155575" y="44450"/>
                    </a:lnTo>
                    <a:cubicBezTo>
                      <a:pt x="161713" y="44450"/>
                      <a:pt x="166688" y="49425"/>
                      <a:pt x="166688" y="55563"/>
                    </a:cubicBezTo>
                    <a:lnTo>
                      <a:pt x="166688" y="88900"/>
                    </a:lnTo>
                    <a:moveTo>
                      <a:pt x="166688" y="133350"/>
                    </a:moveTo>
                    <a:lnTo>
                      <a:pt x="166688" y="166688"/>
                    </a:lnTo>
                    <a:cubicBezTo>
                      <a:pt x="166688" y="172825"/>
                      <a:pt x="161713" y="177801"/>
                      <a:pt x="155575" y="177801"/>
                    </a:cubicBezTo>
                    <a:lnTo>
                      <a:pt x="22225" y="177801"/>
                    </a:lnTo>
                    <a:cubicBezTo>
                      <a:pt x="9950" y="177801"/>
                      <a:pt x="0" y="167850"/>
                      <a:pt x="0" y="155575"/>
                    </a:cubicBezTo>
                    <a:lnTo>
                      <a:pt x="0" y="22225"/>
                    </a:lnTo>
                  </a:path>
                </a:pathLst>
              </a:custGeom>
              <a:noFill/>
              <a:ln w="22225">
                <a:solidFill>
                  <a:srgbClr val="69281B"/>
                </a:solidFill>
              </a:ln>
            </p:spPr>
          </p:sp>
          <p:sp>
            <p:nvSpPr>
              <p:cNvPr id="27" name="Freeform 27"/>
              <p:cNvSpPr/>
              <p:nvPr/>
            </p:nvSpPr>
            <p:spPr>
              <a:xfrm>
                <a:off x="3565525" y="1133475"/>
                <a:ext cx="66675" cy="44450"/>
              </a:xfrm>
              <a:custGeom>
                <a:avLst/>
                <a:gdLst/>
                <a:ahLst/>
                <a:cxnLst/>
                <a:rect l="l" t="t" r="r" b="b"/>
                <a:pathLst>
                  <a:path w="66675" h="44450">
                    <a:moveTo>
                      <a:pt x="66675" y="0"/>
                    </a:moveTo>
                    <a:lnTo>
                      <a:pt x="66675" y="44450"/>
                    </a:lnTo>
                    <a:lnTo>
                      <a:pt x="22225" y="44450"/>
                    </a:lnTo>
                    <a:cubicBezTo>
                      <a:pt x="9950" y="44450"/>
                      <a:pt x="0" y="34500"/>
                      <a:pt x="0" y="22225"/>
                    </a:cubicBezTo>
                    <a:cubicBezTo>
                      <a:pt x="0" y="9950"/>
                      <a:pt x="9950" y="0"/>
                      <a:pt x="22225" y="0"/>
                    </a:cubicBezTo>
                    <a:lnTo>
                      <a:pt x="66675" y="0"/>
                    </a:lnTo>
                  </a:path>
                </a:pathLst>
              </a:custGeom>
              <a:noFill/>
              <a:ln w="22225">
                <a:solidFill>
                  <a:srgbClr val="69281B"/>
                </a:solidFill>
              </a:ln>
            </p:spPr>
          </p:sp>
        </p:grpSp>
        <p:sp>
          <p:nvSpPr>
            <p:cNvPr id="29" name="TextBox 29"/>
            <p:cNvSpPr txBox="1"/>
            <p:nvPr/>
          </p:nvSpPr>
          <p:spPr>
            <a:xfrm>
              <a:off x="3919538" y="840343"/>
              <a:ext cx="704164" cy="169069"/>
            </a:xfrm>
            <a:prstGeom prst="rect">
              <a:avLst/>
            </a:prstGeom>
            <a:noFill/>
            <a:ln>
              <a:noFill/>
            </a:ln>
          </p:spPr>
          <p:txBody>
            <a:bodyPr wrap="none" lIns="0" tIns="0" rIns="0" bIns="0" anchor="t" anchorCtr="0">
              <a:spAutoFit/>
            </a:bodyPr>
            <a:lstStyle/>
            <a:p>
              <a:pPr algn="l"/>
              <a:r>
                <a:rPr lang="zh-CN" sz="860" dirty="0">
                  <a:solidFill>
                    <a:srgbClr val="987F7A"/>
                  </a:solidFill>
                  <a:latin typeface="+mn-lt"/>
                  <a:ea typeface="+mn-ea"/>
                  <a:cs typeface="+mn-cs"/>
                </a:rPr>
                <a:t>年末对公贷款</a:t>
              </a:r>
            </a:p>
          </p:txBody>
        </p:sp>
        <p:sp>
          <p:nvSpPr>
            <p:cNvPr id="30" name="TextBox 30"/>
            <p:cNvSpPr txBox="1"/>
            <p:nvPr/>
          </p:nvSpPr>
          <p:spPr>
            <a:xfrm>
              <a:off x="3914013" y="1019651"/>
              <a:ext cx="952171" cy="396050"/>
            </a:xfrm>
            <a:prstGeom prst="rect">
              <a:avLst/>
            </a:prstGeom>
            <a:noFill/>
            <a:ln>
              <a:noFill/>
            </a:ln>
          </p:spPr>
          <p:txBody>
            <a:bodyPr wrap="none" lIns="0" tIns="0" rIns="0" bIns="0" anchor="t" anchorCtr="0">
              <a:spAutoFit/>
            </a:bodyPr>
            <a:lstStyle/>
            <a:p>
              <a:pPr algn="l"/>
              <a:r>
                <a:rPr lang="zh-CN" sz="2020" b="1" dirty="0">
                  <a:solidFill>
                    <a:srgbClr val="69281B"/>
                  </a:solidFill>
                  <a:latin typeface="+mn-lt"/>
                  <a:ea typeface="+mn-ea"/>
                  <a:cs typeface="+mn-cs"/>
                </a:rPr>
                <a:t>315</a:t>
              </a:r>
              <a:r>
                <a:rPr lang="zh-CN" sz="980" dirty="0">
                  <a:solidFill>
                    <a:srgbClr val="69281B"/>
                  </a:solidFill>
                  <a:latin typeface="+mn-lt"/>
                  <a:ea typeface="+mn-ea"/>
                  <a:cs typeface="+mn-cs"/>
                </a:rPr>
                <a:t xml:space="preserve"> 亿元</a:t>
              </a:r>
              <a:r>
                <a:rPr lang="zh-CN" sz="2020" b="1" dirty="0">
                  <a:solidFill>
                    <a:srgbClr val="69281B"/>
                  </a:solidFill>
                  <a:latin typeface="+mn-lt"/>
                  <a:ea typeface="+mn-ea"/>
                  <a:cs typeface="+mn-cs"/>
                </a:rPr>
                <a:t>​</a:t>
              </a:r>
            </a:p>
          </p:txBody>
        </p:sp>
        <p:sp>
          <p:nvSpPr>
            <p:cNvPr id="31" name="TextBox 31"/>
            <p:cNvSpPr txBox="1"/>
            <p:nvPr/>
          </p:nvSpPr>
          <p:spPr>
            <a:xfrm>
              <a:off x="3919538" y="1370886"/>
              <a:ext cx="1009294"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下半年净增 </a:t>
              </a:r>
              <a:r>
                <a:rPr lang="zh-CN" sz="710" b="1" dirty="0">
                  <a:solidFill>
                    <a:srgbClr val="E04C2E"/>
                  </a:solidFill>
                  <a:latin typeface="+mn-lt"/>
                  <a:ea typeface="+mn-ea"/>
                  <a:cs typeface="+mn-cs"/>
                </a:rPr>
                <a:t>30.5</a:t>
              </a:r>
              <a:r>
                <a:rPr lang="zh-CN" sz="710" dirty="0">
                  <a:solidFill>
                    <a:srgbClr val="70504A"/>
                  </a:solidFill>
                  <a:latin typeface="+mn-lt"/>
                  <a:ea typeface="+mn-ea"/>
                  <a:cs typeface="+mn-cs"/>
                </a:rPr>
                <a:t xml:space="preserve"> 亿元​</a:t>
              </a:r>
            </a:p>
          </p:txBody>
        </p:sp>
      </p:grpSp>
      <p:grpSp>
        <p:nvGrpSpPr>
          <p:cNvPr id="41" name="kpi-fee"/>
          <p:cNvGrpSpPr/>
          <p:nvPr/>
        </p:nvGrpSpPr>
        <p:grpSpPr>
          <a:xfrm>
            <a:off x="6096000" y="685800"/>
            <a:ext cx="2819400" cy="895350"/>
            <a:chOff x="6096000" y="685800"/>
            <a:chExt cx="2819400" cy="895350"/>
          </a:xfrm>
        </p:grpSpPr>
        <p:sp>
          <p:nvSpPr>
            <p:cNvPr id="33" name="Rectangle 33"/>
            <p:cNvSpPr/>
            <p:nvPr/>
          </p:nvSpPr>
          <p:spPr>
            <a:xfrm>
              <a:off x="6096000" y="685800"/>
              <a:ext cx="2819400" cy="895350"/>
            </a:xfrm>
            <a:prstGeom prst="roundRect">
              <a:avLst>
                <a:gd name="adj" fmla="val 6383"/>
              </a:avLst>
            </a:prstGeom>
            <a:solidFill>
              <a:srgbClr val="FFFFFF"/>
            </a:solidFill>
            <a:ln w="9525">
              <a:solidFill>
                <a:srgbClr val="C9D6E9"/>
              </a:solidFill>
            </a:ln>
          </p:spPr>
        </p:sp>
        <p:sp>
          <p:nvSpPr>
            <p:cNvPr id="34" name="Ellipse 34"/>
            <p:cNvSpPr/>
            <p:nvPr/>
          </p:nvSpPr>
          <p:spPr>
            <a:xfrm>
              <a:off x="6229350" y="885825"/>
              <a:ext cx="495300" cy="495300"/>
            </a:xfrm>
            <a:prstGeom prst="ellipse">
              <a:avLst/>
            </a:prstGeom>
            <a:solidFill>
              <a:srgbClr val="EAF1FB"/>
            </a:solidFill>
            <a:ln>
              <a:noFill/>
            </a:ln>
          </p:spPr>
        </p:sp>
        <p:grpSp>
          <p:nvGrpSpPr>
            <p:cNvPr id="37" name="Group 37"/>
            <p:cNvGrpSpPr/>
            <p:nvPr/>
          </p:nvGrpSpPr>
          <p:grpSpPr>
            <a:xfrm>
              <a:off x="6376988" y="1077913"/>
              <a:ext cx="200026" cy="111125"/>
              <a:chOff x="6376988" y="1077913"/>
              <a:chExt cx="200026" cy="111125"/>
            </a:xfrm>
          </p:grpSpPr>
          <p:sp>
            <p:nvSpPr>
              <p:cNvPr id="35" name="Freeform 35"/>
              <p:cNvSpPr/>
              <p:nvPr/>
            </p:nvSpPr>
            <p:spPr>
              <a:xfrm>
                <a:off x="6376988" y="1077913"/>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69281B"/>
                </a:solidFill>
              </a:ln>
            </p:spPr>
          </p:sp>
          <p:sp>
            <p:nvSpPr>
              <p:cNvPr id="36" name="Freeform 36"/>
              <p:cNvSpPr/>
              <p:nvPr/>
            </p:nvSpPr>
            <p:spPr>
              <a:xfrm>
                <a:off x="6499225" y="1077913"/>
                <a:ext cx="77788" cy="77788"/>
              </a:xfrm>
              <a:custGeom>
                <a:avLst/>
                <a:gdLst/>
                <a:ahLst/>
                <a:cxnLst/>
                <a:rect l="l" t="t" r="r" b="b"/>
                <a:pathLst>
                  <a:path w="77788" h="77788">
                    <a:moveTo>
                      <a:pt x="0" y="0"/>
                    </a:moveTo>
                    <a:lnTo>
                      <a:pt x="77788" y="0"/>
                    </a:lnTo>
                    <a:lnTo>
                      <a:pt x="77788" y="77788"/>
                    </a:lnTo>
                  </a:path>
                </a:pathLst>
              </a:custGeom>
              <a:noFill/>
              <a:ln w="22225">
                <a:solidFill>
                  <a:srgbClr val="69281B"/>
                </a:solidFill>
              </a:ln>
            </p:spPr>
          </p:sp>
        </p:grpSp>
        <p:sp>
          <p:nvSpPr>
            <p:cNvPr id="38" name="TextBox 38"/>
            <p:cNvSpPr txBox="1"/>
            <p:nvPr/>
          </p:nvSpPr>
          <p:spPr>
            <a:xfrm>
              <a:off x="6853238" y="840343"/>
              <a:ext cx="704164" cy="169069"/>
            </a:xfrm>
            <a:prstGeom prst="rect">
              <a:avLst/>
            </a:prstGeom>
            <a:noFill/>
            <a:ln>
              <a:noFill/>
            </a:ln>
          </p:spPr>
          <p:txBody>
            <a:bodyPr wrap="none" lIns="0" tIns="0" rIns="0" bIns="0" anchor="t" anchorCtr="0">
              <a:spAutoFit/>
            </a:bodyPr>
            <a:lstStyle/>
            <a:p>
              <a:pPr algn="l"/>
              <a:r>
                <a:rPr lang="zh-CN" sz="860" dirty="0">
                  <a:solidFill>
                    <a:srgbClr val="987F7A"/>
                  </a:solidFill>
                  <a:latin typeface="+mn-lt"/>
                  <a:ea typeface="+mn-ea"/>
                  <a:cs typeface="+mn-cs"/>
                </a:rPr>
                <a:t>全年公司中收</a:t>
              </a:r>
            </a:p>
          </p:txBody>
        </p:sp>
        <p:sp>
          <p:nvSpPr>
            <p:cNvPr id="39" name="TextBox 39"/>
            <p:cNvSpPr txBox="1"/>
            <p:nvPr/>
          </p:nvSpPr>
          <p:spPr>
            <a:xfrm>
              <a:off x="6847713" y="1019651"/>
              <a:ext cx="1109212" cy="396050"/>
            </a:xfrm>
            <a:prstGeom prst="rect">
              <a:avLst/>
            </a:prstGeom>
            <a:noFill/>
            <a:ln>
              <a:noFill/>
            </a:ln>
          </p:spPr>
          <p:txBody>
            <a:bodyPr wrap="none" lIns="0" tIns="0" rIns="0" bIns="0" anchor="t" anchorCtr="0">
              <a:spAutoFit/>
            </a:bodyPr>
            <a:lstStyle/>
            <a:p>
              <a:pPr algn="l"/>
              <a:r>
                <a:rPr lang="zh-CN" sz="2020" b="1" dirty="0">
                  <a:solidFill>
                    <a:srgbClr val="69281B"/>
                  </a:solidFill>
                  <a:latin typeface="+mn-lt"/>
                  <a:ea typeface="+mn-ea"/>
                  <a:cs typeface="+mn-cs"/>
                </a:rPr>
                <a:t>4.01</a:t>
              </a:r>
              <a:r>
                <a:rPr lang="zh-CN" sz="980" dirty="0">
                  <a:solidFill>
                    <a:srgbClr val="69281B"/>
                  </a:solidFill>
                  <a:latin typeface="+mn-lt"/>
                  <a:ea typeface="+mn-ea"/>
                  <a:cs typeface="+mn-cs"/>
                </a:rPr>
                <a:t xml:space="preserve"> 亿元</a:t>
              </a:r>
              <a:r>
                <a:rPr lang="zh-CN" sz="2020" b="1" dirty="0">
                  <a:solidFill>
                    <a:srgbClr val="69281B"/>
                  </a:solidFill>
                  <a:latin typeface="+mn-lt"/>
                  <a:ea typeface="+mn-ea"/>
                  <a:cs typeface="+mn-cs"/>
                </a:rPr>
                <a:t>​</a:t>
              </a:r>
            </a:p>
          </p:txBody>
        </p:sp>
        <p:sp>
          <p:nvSpPr>
            <p:cNvPr id="40" name="TextBox 40"/>
            <p:cNvSpPr txBox="1"/>
            <p:nvPr/>
          </p:nvSpPr>
          <p:spPr>
            <a:xfrm>
              <a:off x="6853238" y="1370886"/>
              <a:ext cx="1009294"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下半年目标 </a:t>
              </a:r>
              <a:r>
                <a:rPr lang="zh-CN" sz="710" b="1" dirty="0">
                  <a:solidFill>
                    <a:srgbClr val="E04C2E"/>
                  </a:solidFill>
                  <a:latin typeface="+mn-lt"/>
                  <a:ea typeface="+mn-ea"/>
                  <a:cs typeface="+mn-cs"/>
                </a:rPr>
                <a:t>2.15</a:t>
              </a:r>
              <a:r>
                <a:rPr lang="zh-CN" sz="710" dirty="0">
                  <a:solidFill>
                    <a:srgbClr val="70504A"/>
                  </a:solidFill>
                  <a:latin typeface="+mn-lt"/>
                  <a:ea typeface="+mn-ea"/>
                  <a:cs typeface="+mn-cs"/>
                </a:rPr>
                <a:t xml:space="preserve"> 亿元​</a:t>
              </a:r>
            </a:p>
          </p:txBody>
        </p:sp>
      </p:grpSp>
      <p:grpSp>
        <p:nvGrpSpPr>
          <p:cNvPr id="52" name="kpi-clients"/>
          <p:cNvGrpSpPr/>
          <p:nvPr/>
        </p:nvGrpSpPr>
        <p:grpSpPr>
          <a:xfrm>
            <a:off x="9029700" y="685800"/>
            <a:ext cx="2819400" cy="895350"/>
            <a:chOff x="9029700" y="685800"/>
            <a:chExt cx="2819400" cy="895350"/>
          </a:xfrm>
        </p:grpSpPr>
        <p:sp>
          <p:nvSpPr>
            <p:cNvPr id="42" name="Rectangle 42"/>
            <p:cNvSpPr/>
            <p:nvPr/>
          </p:nvSpPr>
          <p:spPr>
            <a:xfrm>
              <a:off x="9029700" y="685800"/>
              <a:ext cx="2819400" cy="895350"/>
            </a:xfrm>
            <a:prstGeom prst="roundRect">
              <a:avLst>
                <a:gd name="adj" fmla="val 6383"/>
              </a:avLst>
            </a:prstGeom>
            <a:solidFill>
              <a:srgbClr val="FFFFFF"/>
            </a:solidFill>
            <a:ln w="9525">
              <a:solidFill>
                <a:srgbClr val="C9D6E9"/>
              </a:solidFill>
            </a:ln>
          </p:spPr>
        </p:sp>
        <p:sp>
          <p:nvSpPr>
            <p:cNvPr id="43" name="Ellipse 43"/>
            <p:cNvSpPr/>
            <p:nvPr/>
          </p:nvSpPr>
          <p:spPr>
            <a:xfrm>
              <a:off x="9163050" y="885825"/>
              <a:ext cx="495300" cy="495300"/>
            </a:xfrm>
            <a:prstGeom prst="ellipse">
              <a:avLst/>
            </a:prstGeom>
            <a:solidFill>
              <a:srgbClr val="EAF1FB"/>
            </a:solidFill>
            <a:ln>
              <a:noFill/>
            </a:ln>
          </p:spPr>
        </p:sp>
        <p:grpSp>
          <p:nvGrpSpPr>
            <p:cNvPr id="48" name="Group 48"/>
            <p:cNvGrpSpPr/>
            <p:nvPr/>
          </p:nvGrpSpPr>
          <p:grpSpPr>
            <a:xfrm>
              <a:off x="9310688" y="1033463"/>
              <a:ext cx="200026" cy="200025"/>
              <a:chOff x="9310688" y="1033463"/>
              <a:chExt cx="200026" cy="200025"/>
            </a:xfrm>
          </p:grpSpPr>
          <p:sp>
            <p:nvSpPr>
              <p:cNvPr id="44" name="Freeform 44"/>
              <p:cNvSpPr/>
              <p:nvPr/>
            </p:nvSpPr>
            <p:spPr>
              <a:xfrm>
                <a:off x="9332913" y="103346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69281B"/>
                </a:solidFill>
              </a:ln>
            </p:spPr>
          </p:sp>
          <p:sp>
            <p:nvSpPr>
              <p:cNvPr id="45" name="Freeform 45"/>
              <p:cNvSpPr/>
              <p:nvPr/>
            </p:nvSpPr>
            <p:spPr>
              <a:xfrm>
                <a:off x="9310688" y="1166813"/>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69281B"/>
                </a:solidFill>
              </a:ln>
            </p:spPr>
          </p:sp>
          <p:sp>
            <p:nvSpPr>
              <p:cNvPr id="46" name="Freeform 46"/>
              <p:cNvSpPr/>
              <p:nvPr/>
            </p:nvSpPr>
            <p:spPr>
              <a:xfrm>
                <a:off x="9455151" y="1034907"/>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69281B"/>
                </a:solidFill>
              </a:ln>
            </p:spPr>
          </p:sp>
          <p:sp>
            <p:nvSpPr>
              <p:cNvPr id="47" name="Freeform 47"/>
              <p:cNvSpPr/>
              <p:nvPr/>
            </p:nvSpPr>
            <p:spPr>
              <a:xfrm>
                <a:off x="9477376" y="1168480"/>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69281B"/>
                </a:solidFill>
              </a:ln>
            </p:spPr>
          </p:sp>
        </p:grpSp>
        <p:sp>
          <p:nvSpPr>
            <p:cNvPr id="49" name="TextBox 49"/>
            <p:cNvSpPr txBox="1"/>
            <p:nvPr/>
          </p:nvSpPr>
          <p:spPr>
            <a:xfrm>
              <a:off x="9786938" y="840343"/>
              <a:ext cx="704164" cy="169069"/>
            </a:xfrm>
            <a:prstGeom prst="rect">
              <a:avLst/>
            </a:prstGeom>
            <a:noFill/>
            <a:ln>
              <a:noFill/>
            </a:ln>
          </p:spPr>
          <p:txBody>
            <a:bodyPr wrap="none" lIns="0" tIns="0" rIns="0" bIns="0" anchor="t" anchorCtr="0">
              <a:spAutoFit/>
            </a:bodyPr>
            <a:lstStyle/>
            <a:p>
              <a:pPr algn="l"/>
              <a:r>
                <a:rPr lang="zh-CN" sz="860" dirty="0">
                  <a:solidFill>
                    <a:srgbClr val="987F7A"/>
                  </a:solidFill>
                  <a:latin typeface="+mn-lt"/>
                  <a:ea typeface="+mn-ea"/>
                  <a:cs typeface="+mn-cs"/>
                </a:rPr>
                <a:t>对公有效客户</a:t>
              </a:r>
            </a:p>
          </p:txBody>
        </p:sp>
        <p:sp>
          <p:nvSpPr>
            <p:cNvPr id="50" name="TextBox 50"/>
            <p:cNvSpPr txBox="1"/>
            <p:nvPr/>
          </p:nvSpPr>
          <p:spPr>
            <a:xfrm>
              <a:off x="9781413" y="1019651"/>
              <a:ext cx="1291367" cy="396050"/>
            </a:xfrm>
            <a:prstGeom prst="rect">
              <a:avLst/>
            </a:prstGeom>
            <a:noFill/>
            <a:ln>
              <a:noFill/>
            </a:ln>
          </p:spPr>
          <p:txBody>
            <a:bodyPr wrap="none" lIns="0" tIns="0" rIns="0" bIns="0" anchor="t" anchorCtr="0">
              <a:spAutoFit/>
            </a:bodyPr>
            <a:lstStyle/>
            <a:p>
              <a:pPr algn="l"/>
              <a:r>
                <a:rPr lang="zh-CN" sz="2020" b="1" dirty="0">
                  <a:solidFill>
                    <a:srgbClr val="69281B"/>
                  </a:solidFill>
                  <a:latin typeface="+mn-lt"/>
                  <a:ea typeface="+mn-ea"/>
                  <a:cs typeface="+mn-cs"/>
                </a:rPr>
                <a:t>13,800</a:t>
              </a:r>
              <a:r>
                <a:rPr lang="zh-CN" sz="980" dirty="0">
                  <a:solidFill>
                    <a:srgbClr val="69281B"/>
                  </a:solidFill>
                  <a:latin typeface="+mn-lt"/>
                  <a:ea typeface="+mn-ea"/>
                  <a:cs typeface="+mn-cs"/>
                </a:rPr>
                <a:t xml:space="preserve"> 户</a:t>
              </a:r>
              <a:r>
                <a:rPr lang="zh-CN" sz="2020" b="1" dirty="0">
                  <a:solidFill>
                    <a:srgbClr val="69281B"/>
                  </a:solidFill>
                  <a:latin typeface="+mn-lt"/>
                  <a:ea typeface="+mn-ea"/>
                  <a:cs typeface="+mn-cs"/>
                </a:rPr>
                <a:t>​</a:t>
              </a:r>
            </a:p>
          </p:txBody>
        </p:sp>
        <p:sp>
          <p:nvSpPr>
            <p:cNvPr id="51" name="TextBox 51"/>
            <p:cNvSpPr txBox="1"/>
            <p:nvPr/>
          </p:nvSpPr>
          <p:spPr>
            <a:xfrm>
              <a:off x="9786938" y="1370886"/>
              <a:ext cx="968911"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下半年净增 </a:t>
              </a:r>
              <a:r>
                <a:rPr lang="zh-CN" sz="710" b="1" dirty="0">
                  <a:solidFill>
                    <a:srgbClr val="E04C2E"/>
                  </a:solidFill>
                  <a:latin typeface="+mn-lt"/>
                  <a:ea typeface="+mn-ea"/>
                  <a:cs typeface="+mn-cs"/>
                </a:rPr>
                <a:t>1,120</a:t>
              </a:r>
              <a:r>
                <a:rPr lang="zh-CN" sz="710" dirty="0">
                  <a:solidFill>
                    <a:srgbClr val="70504A"/>
                  </a:solidFill>
                  <a:latin typeface="+mn-lt"/>
                  <a:ea typeface="+mn-ea"/>
                  <a:cs typeface="+mn-cs"/>
                </a:rPr>
                <a:t xml:space="preserve"> 户​</a:t>
              </a:r>
            </a:p>
          </p:txBody>
        </p:sp>
      </p:grpSp>
      <p:grpSp>
        <p:nvGrpSpPr>
          <p:cNvPr id="86" name="chart-monthly"/>
          <p:cNvGrpSpPr/>
          <p:nvPr/>
        </p:nvGrpSpPr>
        <p:grpSpPr>
          <a:xfrm>
            <a:off x="228600" y="1676400"/>
            <a:ext cx="5715000" cy="2324100"/>
            <a:chOff x="228600" y="1676400"/>
            <a:chExt cx="5715000" cy="2324100"/>
          </a:xfrm>
        </p:grpSpPr>
        <p:sp>
          <p:nvSpPr>
            <p:cNvPr id="53" name="Rectangle 53"/>
            <p:cNvSpPr/>
            <p:nvPr/>
          </p:nvSpPr>
          <p:spPr>
            <a:xfrm>
              <a:off x="228600" y="1676400"/>
              <a:ext cx="5715000" cy="2324100"/>
            </a:xfrm>
            <a:prstGeom prst="roundRect">
              <a:avLst>
                <a:gd name="adj" fmla="val 2459"/>
              </a:avLst>
            </a:prstGeom>
            <a:solidFill>
              <a:srgbClr val="FFFFFF"/>
            </a:solidFill>
            <a:ln w="9525">
              <a:solidFill>
                <a:srgbClr val="C9D6E9"/>
              </a:solidFill>
            </a:ln>
          </p:spPr>
        </p:sp>
        <p:sp>
          <p:nvSpPr>
            <p:cNvPr id="54" name="Rectangle 54"/>
            <p:cNvSpPr/>
            <p:nvPr/>
          </p:nvSpPr>
          <p:spPr>
            <a:xfrm>
              <a:off x="228600" y="1676400"/>
              <a:ext cx="5715000" cy="228600"/>
            </a:xfrm>
            <a:prstGeom prst="roundRect">
              <a:avLst>
                <a:gd name="adj" fmla="val 25000"/>
              </a:avLst>
            </a:prstGeom>
            <a:solidFill>
              <a:srgbClr val="69281B"/>
            </a:solidFill>
            <a:ln>
              <a:noFill/>
            </a:ln>
          </p:spPr>
        </p:sp>
        <p:sp>
          <p:nvSpPr>
            <p:cNvPr id="55" name="Rectangle 55"/>
            <p:cNvSpPr/>
            <p:nvPr/>
          </p:nvSpPr>
          <p:spPr>
            <a:xfrm>
              <a:off x="228600" y="1809750"/>
              <a:ext cx="5715000" cy="95250"/>
            </a:xfrm>
            <a:prstGeom prst="rect">
              <a:avLst/>
            </a:prstGeom>
            <a:solidFill>
              <a:srgbClr val="69281B"/>
            </a:solidFill>
            <a:ln>
              <a:noFill/>
            </a:ln>
          </p:spPr>
        </p:sp>
        <p:sp>
          <p:nvSpPr>
            <p:cNvPr id="56" name="TextBox 56"/>
            <p:cNvSpPr txBox="1"/>
            <p:nvPr/>
          </p:nvSpPr>
          <p:spPr>
            <a:xfrm>
              <a:off x="1997731" y="1741170"/>
              <a:ext cx="217673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7—12月对公存款月度净增目标（亿元）​</a:t>
              </a:r>
            </a:p>
          </p:txBody>
        </p:sp>
        <p:sp>
          <p:nvSpPr>
            <p:cNvPr id="57" name="TextBox 57"/>
            <p:cNvSpPr txBox="1"/>
            <p:nvPr/>
          </p:nvSpPr>
          <p:spPr>
            <a:xfrm>
              <a:off x="449961" y="2071688"/>
              <a:ext cx="221551"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7月​</a:t>
              </a:r>
            </a:p>
          </p:txBody>
        </p:sp>
        <p:sp>
          <p:nvSpPr>
            <p:cNvPr id="58" name="Rectangle 58"/>
            <p:cNvSpPr/>
            <p:nvPr/>
          </p:nvSpPr>
          <p:spPr>
            <a:xfrm>
              <a:off x="857250" y="2038350"/>
              <a:ext cx="2200275" cy="152400"/>
            </a:xfrm>
            <a:prstGeom prst="roundRect">
              <a:avLst>
                <a:gd name="adj" fmla="val 12500"/>
              </a:avLst>
            </a:prstGeom>
            <a:solidFill>
              <a:srgbClr val="E04C2E"/>
            </a:solidFill>
            <a:ln>
              <a:noFill/>
            </a:ln>
          </p:spPr>
        </p:sp>
        <p:sp>
          <p:nvSpPr>
            <p:cNvPr id="59" name="TextBox 59"/>
            <p:cNvSpPr txBox="1"/>
            <p:nvPr/>
          </p:nvSpPr>
          <p:spPr>
            <a:xfrm>
              <a:off x="3119438" y="207311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4.2​</a:t>
              </a:r>
            </a:p>
          </p:txBody>
        </p:sp>
        <p:sp>
          <p:nvSpPr>
            <p:cNvPr id="60" name="TextBox 60"/>
            <p:cNvSpPr txBox="1"/>
            <p:nvPr/>
          </p:nvSpPr>
          <p:spPr>
            <a:xfrm>
              <a:off x="449961" y="2357438"/>
              <a:ext cx="221551"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8月​</a:t>
              </a:r>
            </a:p>
          </p:txBody>
        </p:sp>
        <p:sp>
          <p:nvSpPr>
            <p:cNvPr id="61" name="Rectangle 61"/>
            <p:cNvSpPr/>
            <p:nvPr/>
          </p:nvSpPr>
          <p:spPr>
            <a:xfrm>
              <a:off x="857250" y="2324100"/>
              <a:ext cx="2357438" cy="152400"/>
            </a:xfrm>
            <a:prstGeom prst="roundRect">
              <a:avLst>
                <a:gd name="adj" fmla="val 12500"/>
              </a:avLst>
            </a:prstGeom>
            <a:solidFill>
              <a:srgbClr val="E04C2E"/>
            </a:solidFill>
            <a:ln>
              <a:noFill/>
            </a:ln>
          </p:spPr>
        </p:sp>
        <p:sp>
          <p:nvSpPr>
            <p:cNvPr id="62" name="TextBox 62"/>
            <p:cNvSpPr txBox="1"/>
            <p:nvPr/>
          </p:nvSpPr>
          <p:spPr>
            <a:xfrm>
              <a:off x="3271838" y="235886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4.5​</a:t>
              </a:r>
            </a:p>
          </p:txBody>
        </p:sp>
        <p:sp>
          <p:nvSpPr>
            <p:cNvPr id="63" name="TextBox 63"/>
            <p:cNvSpPr txBox="1"/>
            <p:nvPr/>
          </p:nvSpPr>
          <p:spPr>
            <a:xfrm>
              <a:off x="449961" y="2643188"/>
              <a:ext cx="221551"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9月​</a:t>
              </a:r>
            </a:p>
          </p:txBody>
        </p:sp>
        <p:sp>
          <p:nvSpPr>
            <p:cNvPr id="64" name="Rectangle 64"/>
            <p:cNvSpPr/>
            <p:nvPr/>
          </p:nvSpPr>
          <p:spPr>
            <a:xfrm>
              <a:off x="857250" y="2609850"/>
              <a:ext cx="2514600" cy="152400"/>
            </a:xfrm>
            <a:prstGeom prst="roundRect">
              <a:avLst>
                <a:gd name="adj" fmla="val 12500"/>
              </a:avLst>
            </a:prstGeom>
            <a:solidFill>
              <a:srgbClr val="E04C2E"/>
            </a:solidFill>
            <a:ln>
              <a:noFill/>
            </a:ln>
          </p:spPr>
        </p:sp>
        <p:sp>
          <p:nvSpPr>
            <p:cNvPr id="65" name="TextBox 65"/>
            <p:cNvSpPr txBox="1"/>
            <p:nvPr/>
          </p:nvSpPr>
          <p:spPr>
            <a:xfrm>
              <a:off x="3433762" y="264461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4.8​</a:t>
              </a:r>
            </a:p>
          </p:txBody>
        </p:sp>
        <p:sp>
          <p:nvSpPr>
            <p:cNvPr id="66" name="TextBox 66"/>
            <p:cNvSpPr txBox="1"/>
            <p:nvPr/>
          </p:nvSpPr>
          <p:spPr>
            <a:xfrm>
              <a:off x="394430" y="2928938"/>
              <a:ext cx="277082"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10月​</a:t>
              </a:r>
            </a:p>
          </p:txBody>
        </p:sp>
        <p:sp>
          <p:nvSpPr>
            <p:cNvPr id="67" name="Rectangle 67"/>
            <p:cNvSpPr/>
            <p:nvPr/>
          </p:nvSpPr>
          <p:spPr>
            <a:xfrm>
              <a:off x="857250" y="2895600"/>
              <a:ext cx="2619375" cy="152400"/>
            </a:xfrm>
            <a:prstGeom prst="roundRect">
              <a:avLst>
                <a:gd name="adj" fmla="val 12500"/>
              </a:avLst>
            </a:prstGeom>
            <a:solidFill>
              <a:srgbClr val="E04C2E"/>
            </a:solidFill>
            <a:ln>
              <a:noFill/>
            </a:ln>
          </p:spPr>
        </p:sp>
        <p:sp>
          <p:nvSpPr>
            <p:cNvPr id="68" name="TextBox 68"/>
            <p:cNvSpPr txBox="1"/>
            <p:nvPr/>
          </p:nvSpPr>
          <p:spPr>
            <a:xfrm>
              <a:off x="3538538" y="293036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5.0​</a:t>
              </a:r>
            </a:p>
          </p:txBody>
        </p:sp>
        <p:sp>
          <p:nvSpPr>
            <p:cNvPr id="69" name="TextBox 69"/>
            <p:cNvSpPr txBox="1"/>
            <p:nvPr/>
          </p:nvSpPr>
          <p:spPr>
            <a:xfrm>
              <a:off x="394430" y="3214688"/>
              <a:ext cx="277082"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11月​</a:t>
              </a:r>
            </a:p>
          </p:txBody>
        </p:sp>
        <p:sp>
          <p:nvSpPr>
            <p:cNvPr id="70" name="Rectangle 70"/>
            <p:cNvSpPr/>
            <p:nvPr/>
          </p:nvSpPr>
          <p:spPr>
            <a:xfrm>
              <a:off x="857250" y="3181350"/>
              <a:ext cx="3038475" cy="152400"/>
            </a:xfrm>
            <a:prstGeom prst="roundRect">
              <a:avLst>
                <a:gd name="adj" fmla="val 12500"/>
              </a:avLst>
            </a:prstGeom>
            <a:solidFill>
              <a:srgbClr val="E04C2E"/>
            </a:solidFill>
            <a:ln>
              <a:noFill/>
            </a:ln>
          </p:spPr>
        </p:sp>
        <p:sp>
          <p:nvSpPr>
            <p:cNvPr id="71" name="TextBox 71"/>
            <p:cNvSpPr txBox="1"/>
            <p:nvPr/>
          </p:nvSpPr>
          <p:spPr>
            <a:xfrm>
              <a:off x="3957638" y="321611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5.8​</a:t>
              </a:r>
            </a:p>
          </p:txBody>
        </p:sp>
        <p:sp>
          <p:nvSpPr>
            <p:cNvPr id="72" name="TextBox 72"/>
            <p:cNvSpPr txBox="1"/>
            <p:nvPr/>
          </p:nvSpPr>
          <p:spPr>
            <a:xfrm>
              <a:off x="394430" y="3500438"/>
              <a:ext cx="277082"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12月​</a:t>
              </a:r>
            </a:p>
          </p:txBody>
        </p:sp>
        <p:sp>
          <p:nvSpPr>
            <p:cNvPr id="73" name="Rectangle 73"/>
            <p:cNvSpPr/>
            <p:nvPr/>
          </p:nvSpPr>
          <p:spPr>
            <a:xfrm>
              <a:off x="857250" y="3467100"/>
              <a:ext cx="3614738" cy="152400"/>
            </a:xfrm>
            <a:prstGeom prst="roundRect">
              <a:avLst>
                <a:gd name="adj" fmla="val 12500"/>
              </a:avLst>
            </a:prstGeom>
            <a:solidFill>
              <a:srgbClr val="E04C2E"/>
            </a:solidFill>
            <a:ln>
              <a:noFill/>
            </a:ln>
          </p:spPr>
        </p:sp>
        <p:sp>
          <p:nvSpPr>
            <p:cNvPr id="74" name="TextBox 74"/>
            <p:cNvSpPr txBox="1"/>
            <p:nvPr/>
          </p:nvSpPr>
          <p:spPr>
            <a:xfrm>
              <a:off x="4529138" y="350186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6.9​</a:t>
              </a:r>
            </a:p>
          </p:txBody>
        </p:sp>
        <p:sp>
          <p:nvSpPr>
            <p:cNvPr id="75" name="Line 75"/>
            <p:cNvSpPr/>
            <p:nvPr/>
          </p:nvSpPr>
          <p:spPr>
            <a:xfrm>
              <a:off x="857250" y="3733800"/>
              <a:ext cx="4191000" cy="9525"/>
            </a:xfrm>
            <a:custGeom>
              <a:avLst/>
              <a:gdLst/>
              <a:ahLst/>
              <a:cxnLst/>
              <a:rect l="l" t="t" r="r" b="b"/>
              <a:pathLst>
                <a:path w="4191000" h="9525">
                  <a:moveTo>
                    <a:pt x="0" y="0"/>
                  </a:moveTo>
                  <a:lnTo>
                    <a:pt x="4191000" y="0"/>
                  </a:lnTo>
                </a:path>
              </a:pathLst>
            </a:custGeom>
            <a:noFill/>
            <a:ln w="9525">
              <a:solidFill>
                <a:srgbClr val="C9D6E9"/>
              </a:solidFill>
            </a:ln>
          </p:spPr>
        </p:sp>
        <p:sp>
          <p:nvSpPr>
            <p:cNvPr id="76" name="TextBox 76"/>
            <p:cNvSpPr txBox="1"/>
            <p:nvPr/>
          </p:nvSpPr>
          <p:spPr>
            <a:xfrm>
              <a:off x="80510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0​</a:t>
              </a:r>
            </a:p>
          </p:txBody>
        </p:sp>
        <p:sp>
          <p:nvSpPr>
            <p:cNvPr id="77" name="TextBox 77"/>
            <p:cNvSpPr txBox="1"/>
            <p:nvPr/>
          </p:nvSpPr>
          <p:spPr>
            <a:xfrm>
              <a:off x="1328976"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1​</a:t>
              </a:r>
            </a:p>
          </p:txBody>
        </p:sp>
        <p:sp>
          <p:nvSpPr>
            <p:cNvPr id="78" name="TextBox 78"/>
            <p:cNvSpPr txBox="1"/>
            <p:nvPr/>
          </p:nvSpPr>
          <p:spPr>
            <a:xfrm>
              <a:off x="185285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2​</a:t>
              </a:r>
            </a:p>
          </p:txBody>
        </p:sp>
        <p:sp>
          <p:nvSpPr>
            <p:cNvPr id="79" name="TextBox 79"/>
            <p:cNvSpPr txBox="1"/>
            <p:nvPr/>
          </p:nvSpPr>
          <p:spPr>
            <a:xfrm>
              <a:off x="2376726"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3​</a:t>
              </a:r>
            </a:p>
          </p:txBody>
        </p:sp>
        <p:sp>
          <p:nvSpPr>
            <p:cNvPr id="80" name="TextBox 80"/>
            <p:cNvSpPr txBox="1"/>
            <p:nvPr/>
          </p:nvSpPr>
          <p:spPr>
            <a:xfrm>
              <a:off x="290060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4​</a:t>
              </a:r>
            </a:p>
          </p:txBody>
        </p:sp>
        <p:sp>
          <p:nvSpPr>
            <p:cNvPr id="81" name="TextBox 81"/>
            <p:cNvSpPr txBox="1"/>
            <p:nvPr/>
          </p:nvSpPr>
          <p:spPr>
            <a:xfrm>
              <a:off x="3424476"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5​</a:t>
              </a:r>
            </a:p>
          </p:txBody>
        </p:sp>
        <p:sp>
          <p:nvSpPr>
            <p:cNvPr id="82" name="TextBox 82"/>
            <p:cNvSpPr txBox="1"/>
            <p:nvPr/>
          </p:nvSpPr>
          <p:spPr>
            <a:xfrm>
              <a:off x="394835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6​</a:t>
              </a:r>
            </a:p>
          </p:txBody>
        </p:sp>
        <p:sp>
          <p:nvSpPr>
            <p:cNvPr id="83" name="TextBox 83"/>
            <p:cNvSpPr txBox="1"/>
            <p:nvPr/>
          </p:nvSpPr>
          <p:spPr>
            <a:xfrm>
              <a:off x="4472226"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7​</a:t>
              </a:r>
            </a:p>
          </p:txBody>
        </p:sp>
        <p:sp>
          <p:nvSpPr>
            <p:cNvPr id="84" name="TextBox 84"/>
            <p:cNvSpPr txBox="1"/>
            <p:nvPr/>
          </p:nvSpPr>
          <p:spPr>
            <a:xfrm>
              <a:off x="499610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8​</a:t>
              </a:r>
            </a:p>
          </p:txBody>
        </p:sp>
        <p:sp>
          <p:nvSpPr>
            <p:cNvPr id="85" name="TextBox 85"/>
            <p:cNvSpPr txBox="1"/>
            <p:nvPr/>
          </p:nvSpPr>
          <p:spPr>
            <a:xfrm>
              <a:off x="5329238" y="3798332"/>
              <a:ext cx="354152"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（亿元）</a:t>
              </a:r>
            </a:p>
          </p:txBody>
        </p:sp>
      </p:grpSp>
      <p:grpSp>
        <p:nvGrpSpPr>
          <p:cNvPr id="115" name="chart-region"/>
          <p:cNvGrpSpPr/>
          <p:nvPr/>
        </p:nvGrpSpPr>
        <p:grpSpPr>
          <a:xfrm>
            <a:off x="6057900" y="1676400"/>
            <a:ext cx="5905500" cy="2324100"/>
            <a:chOff x="6057900" y="1676400"/>
            <a:chExt cx="5905500" cy="2324100"/>
          </a:xfrm>
        </p:grpSpPr>
        <p:sp>
          <p:nvSpPr>
            <p:cNvPr id="87" name="Rectangle 87"/>
            <p:cNvSpPr/>
            <p:nvPr/>
          </p:nvSpPr>
          <p:spPr>
            <a:xfrm>
              <a:off x="6057900" y="1676400"/>
              <a:ext cx="5905500" cy="2324100"/>
            </a:xfrm>
            <a:prstGeom prst="roundRect">
              <a:avLst>
                <a:gd name="adj" fmla="val 2459"/>
              </a:avLst>
            </a:prstGeom>
            <a:solidFill>
              <a:srgbClr val="FFFFFF"/>
            </a:solidFill>
            <a:ln w="9525">
              <a:solidFill>
                <a:srgbClr val="C9D6E9"/>
              </a:solidFill>
            </a:ln>
          </p:spPr>
        </p:sp>
        <p:sp>
          <p:nvSpPr>
            <p:cNvPr id="88" name="Rectangle 88"/>
            <p:cNvSpPr/>
            <p:nvPr/>
          </p:nvSpPr>
          <p:spPr>
            <a:xfrm>
              <a:off x="6057900" y="1676400"/>
              <a:ext cx="5905500" cy="228600"/>
            </a:xfrm>
            <a:prstGeom prst="roundRect">
              <a:avLst>
                <a:gd name="adj" fmla="val 25000"/>
              </a:avLst>
            </a:prstGeom>
            <a:solidFill>
              <a:srgbClr val="69281B"/>
            </a:solidFill>
            <a:ln>
              <a:noFill/>
            </a:ln>
          </p:spPr>
        </p:sp>
        <p:sp>
          <p:nvSpPr>
            <p:cNvPr id="89" name="Rectangle 89"/>
            <p:cNvSpPr/>
            <p:nvPr/>
          </p:nvSpPr>
          <p:spPr>
            <a:xfrm>
              <a:off x="6057900" y="1809750"/>
              <a:ext cx="5905500" cy="95250"/>
            </a:xfrm>
            <a:prstGeom prst="rect">
              <a:avLst/>
            </a:prstGeom>
            <a:solidFill>
              <a:srgbClr val="69281B"/>
            </a:solidFill>
            <a:ln>
              <a:noFill/>
            </a:ln>
          </p:spPr>
        </p:sp>
        <p:sp>
          <p:nvSpPr>
            <p:cNvPr id="90" name="TextBox 90"/>
            <p:cNvSpPr txBox="1"/>
            <p:nvPr/>
          </p:nvSpPr>
          <p:spPr>
            <a:xfrm>
              <a:off x="8097202" y="1741170"/>
              <a:ext cx="182689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区域目标分配（存款净增，亿元）</a:t>
              </a:r>
            </a:p>
          </p:txBody>
        </p:sp>
        <p:sp>
          <p:nvSpPr>
            <p:cNvPr id="91" name="TextBox 91"/>
            <p:cNvSpPr txBox="1"/>
            <p:nvPr/>
          </p:nvSpPr>
          <p:spPr>
            <a:xfrm>
              <a:off x="6258878" y="2128838"/>
              <a:ext cx="413385"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中心城区</a:t>
              </a:r>
            </a:p>
          </p:txBody>
        </p:sp>
        <p:sp>
          <p:nvSpPr>
            <p:cNvPr id="92" name="Rectangle 92"/>
            <p:cNvSpPr/>
            <p:nvPr/>
          </p:nvSpPr>
          <p:spPr>
            <a:xfrm>
              <a:off x="6781800" y="2095500"/>
              <a:ext cx="3067050" cy="152400"/>
            </a:xfrm>
            <a:prstGeom prst="roundRect">
              <a:avLst>
                <a:gd name="adj" fmla="val 12500"/>
              </a:avLst>
            </a:prstGeom>
            <a:solidFill>
              <a:srgbClr val="E04C2E"/>
            </a:solidFill>
            <a:ln>
              <a:noFill/>
            </a:ln>
          </p:spPr>
        </p:sp>
        <p:sp>
          <p:nvSpPr>
            <p:cNvPr id="93" name="TextBox 93"/>
            <p:cNvSpPr txBox="1"/>
            <p:nvPr/>
          </p:nvSpPr>
          <p:spPr>
            <a:xfrm>
              <a:off x="9910762" y="213026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9.2​</a:t>
              </a:r>
            </a:p>
          </p:txBody>
        </p:sp>
        <p:sp>
          <p:nvSpPr>
            <p:cNvPr id="94" name="TextBox 94"/>
            <p:cNvSpPr txBox="1"/>
            <p:nvPr/>
          </p:nvSpPr>
          <p:spPr>
            <a:xfrm>
              <a:off x="6460808" y="2471738"/>
              <a:ext cx="211455"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东部</a:t>
              </a:r>
            </a:p>
          </p:txBody>
        </p:sp>
        <p:sp>
          <p:nvSpPr>
            <p:cNvPr id="95" name="Rectangle 95"/>
            <p:cNvSpPr/>
            <p:nvPr/>
          </p:nvSpPr>
          <p:spPr>
            <a:xfrm>
              <a:off x="6781800" y="2438400"/>
              <a:ext cx="2533650" cy="152400"/>
            </a:xfrm>
            <a:prstGeom prst="roundRect">
              <a:avLst>
                <a:gd name="adj" fmla="val 12500"/>
              </a:avLst>
            </a:prstGeom>
            <a:solidFill>
              <a:srgbClr val="E04C2E"/>
            </a:solidFill>
            <a:ln>
              <a:noFill/>
            </a:ln>
          </p:spPr>
        </p:sp>
        <p:sp>
          <p:nvSpPr>
            <p:cNvPr id="96" name="TextBox 96"/>
            <p:cNvSpPr txBox="1"/>
            <p:nvPr/>
          </p:nvSpPr>
          <p:spPr>
            <a:xfrm>
              <a:off x="9377362" y="247316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7.6​</a:t>
              </a:r>
            </a:p>
          </p:txBody>
        </p:sp>
        <p:sp>
          <p:nvSpPr>
            <p:cNvPr id="97" name="TextBox 97"/>
            <p:cNvSpPr txBox="1"/>
            <p:nvPr/>
          </p:nvSpPr>
          <p:spPr>
            <a:xfrm>
              <a:off x="6460808" y="2814638"/>
              <a:ext cx="211455"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西部</a:t>
              </a:r>
            </a:p>
          </p:txBody>
        </p:sp>
        <p:sp>
          <p:nvSpPr>
            <p:cNvPr id="98" name="Rectangle 98"/>
            <p:cNvSpPr/>
            <p:nvPr/>
          </p:nvSpPr>
          <p:spPr>
            <a:xfrm>
              <a:off x="6781800" y="2781300"/>
              <a:ext cx="1933575" cy="152400"/>
            </a:xfrm>
            <a:prstGeom prst="roundRect">
              <a:avLst>
                <a:gd name="adj" fmla="val 12500"/>
              </a:avLst>
            </a:prstGeom>
            <a:solidFill>
              <a:srgbClr val="E04C2E"/>
            </a:solidFill>
            <a:ln>
              <a:noFill/>
            </a:ln>
          </p:spPr>
        </p:sp>
        <p:sp>
          <p:nvSpPr>
            <p:cNvPr id="99" name="TextBox 99"/>
            <p:cNvSpPr txBox="1"/>
            <p:nvPr/>
          </p:nvSpPr>
          <p:spPr>
            <a:xfrm>
              <a:off x="8777288" y="281606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5.8​</a:t>
              </a:r>
            </a:p>
          </p:txBody>
        </p:sp>
        <p:sp>
          <p:nvSpPr>
            <p:cNvPr id="100" name="TextBox 100"/>
            <p:cNvSpPr txBox="1"/>
            <p:nvPr/>
          </p:nvSpPr>
          <p:spPr>
            <a:xfrm>
              <a:off x="6460808" y="3157538"/>
              <a:ext cx="211455"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南部</a:t>
              </a:r>
            </a:p>
          </p:txBody>
        </p:sp>
        <p:sp>
          <p:nvSpPr>
            <p:cNvPr id="101" name="Rectangle 101"/>
            <p:cNvSpPr/>
            <p:nvPr/>
          </p:nvSpPr>
          <p:spPr>
            <a:xfrm>
              <a:off x="6781800" y="3124200"/>
              <a:ext cx="1633538" cy="152400"/>
            </a:xfrm>
            <a:prstGeom prst="roundRect">
              <a:avLst>
                <a:gd name="adj" fmla="val 12500"/>
              </a:avLst>
            </a:prstGeom>
            <a:solidFill>
              <a:srgbClr val="E04C2E"/>
            </a:solidFill>
            <a:ln>
              <a:noFill/>
            </a:ln>
          </p:spPr>
        </p:sp>
        <p:sp>
          <p:nvSpPr>
            <p:cNvPr id="102" name="TextBox 102"/>
            <p:cNvSpPr txBox="1"/>
            <p:nvPr/>
          </p:nvSpPr>
          <p:spPr>
            <a:xfrm>
              <a:off x="8472488" y="315896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4.9​</a:t>
              </a:r>
            </a:p>
          </p:txBody>
        </p:sp>
        <p:sp>
          <p:nvSpPr>
            <p:cNvPr id="103" name="TextBox 103"/>
            <p:cNvSpPr txBox="1"/>
            <p:nvPr/>
          </p:nvSpPr>
          <p:spPr>
            <a:xfrm>
              <a:off x="6460808" y="3500438"/>
              <a:ext cx="211455" cy="147638"/>
            </a:xfrm>
            <a:prstGeom prst="rect">
              <a:avLst/>
            </a:prstGeom>
            <a:noFill/>
            <a:ln>
              <a:noFill/>
            </a:ln>
          </p:spPr>
          <p:txBody>
            <a:bodyPr wrap="none" lIns="0" tIns="0" rIns="0" bIns="0" anchor="t" anchorCtr="0">
              <a:spAutoFit/>
            </a:bodyPr>
            <a:lstStyle/>
            <a:p>
              <a:pPr algn="r"/>
              <a:r>
                <a:rPr lang="zh-CN" sz="750" dirty="0">
                  <a:solidFill>
                    <a:srgbClr val="5F3A33"/>
                  </a:solidFill>
                  <a:latin typeface="+mn-lt"/>
                  <a:ea typeface="+mn-ea"/>
                  <a:cs typeface="+mn-cs"/>
                </a:rPr>
                <a:t>北部</a:t>
              </a:r>
            </a:p>
          </p:txBody>
        </p:sp>
        <p:sp>
          <p:nvSpPr>
            <p:cNvPr id="104" name="Rectangle 104"/>
            <p:cNvSpPr/>
            <p:nvPr/>
          </p:nvSpPr>
          <p:spPr>
            <a:xfrm>
              <a:off x="6781800" y="3467100"/>
              <a:ext cx="1233488" cy="152400"/>
            </a:xfrm>
            <a:prstGeom prst="roundRect">
              <a:avLst>
                <a:gd name="adj" fmla="val 12500"/>
              </a:avLst>
            </a:prstGeom>
            <a:solidFill>
              <a:srgbClr val="E04C2E"/>
            </a:solidFill>
            <a:ln>
              <a:noFill/>
            </a:ln>
          </p:spPr>
        </p:sp>
        <p:sp>
          <p:nvSpPr>
            <p:cNvPr id="105" name="TextBox 105"/>
            <p:cNvSpPr txBox="1"/>
            <p:nvPr/>
          </p:nvSpPr>
          <p:spPr>
            <a:xfrm>
              <a:off x="8072438" y="3501866"/>
              <a:ext cx="264522" cy="161925"/>
            </a:xfrm>
            <a:prstGeom prst="rect">
              <a:avLst/>
            </a:prstGeom>
            <a:noFill/>
            <a:ln>
              <a:noFill/>
            </a:ln>
          </p:spPr>
          <p:txBody>
            <a:bodyPr wrap="none" lIns="0" tIns="0" rIns="0" bIns="0" anchor="t" anchorCtr="0">
              <a:spAutoFit/>
            </a:bodyPr>
            <a:lstStyle/>
            <a:p>
              <a:pPr algn="l"/>
              <a:r>
                <a:rPr lang="zh-CN" sz="820" b="1" dirty="0">
                  <a:solidFill>
                    <a:srgbClr val="69281B"/>
                  </a:solidFill>
                  <a:latin typeface="+mn-lt"/>
                  <a:ea typeface="+mn-ea"/>
                  <a:cs typeface="+mn-cs"/>
                </a:rPr>
                <a:t>3.7​</a:t>
              </a:r>
            </a:p>
          </p:txBody>
        </p:sp>
        <p:sp>
          <p:nvSpPr>
            <p:cNvPr id="106" name="Line 106"/>
            <p:cNvSpPr/>
            <p:nvPr/>
          </p:nvSpPr>
          <p:spPr>
            <a:xfrm>
              <a:off x="6781800" y="3733800"/>
              <a:ext cx="4000500" cy="9525"/>
            </a:xfrm>
            <a:custGeom>
              <a:avLst/>
              <a:gdLst/>
              <a:ahLst/>
              <a:cxnLst/>
              <a:rect l="l" t="t" r="r" b="b"/>
              <a:pathLst>
                <a:path w="4000500" h="9525">
                  <a:moveTo>
                    <a:pt x="0" y="0"/>
                  </a:moveTo>
                  <a:lnTo>
                    <a:pt x="4000500" y="0"/>
                  </a:lnTo>
                </a:path>
              </a:pathLst>
            </a:custGeom>
            <a:noFill/>
            <a:ln w="9525">
              <a:solidFill>
                <a:srgbClr val="C9D6E9"/>
              </a:solidFill>
            </a:ln>
          </p:spPr>
        </p:sp>
        <p:sp>
          <p:nvSpPr>
            <p:cNvPr id="107" name="TextBox 107"/>
            <p:cNvSpPr txBox="1"/>
            <p:nvPr/>
          </p:nvSpPr>
          <p:spPr>
            <a:xfrm>
              <a:off x="672965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0​</a:t>
              </a:r>
            </a:p>
          </p:txBody>
        </p:sp>
        <p:sp>
          <p:nvSpPr>
            <p:cNvPr id="108" name="TextBox 108"/>
            <p:cNvSpPr txBox="1"/>
            <p:nvPr/>
          </p:nvSpPr>
          <p:spPr>
            <a:xfrm>
              <a:off x="739640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2​</a:t>
              </a:r>
            </a:p>
          </p:txBody>
        </p:sp>
        <p:sp>
          <p:nvSpPr>
            <p:cNvPr id="109" name="TextBox 109"/>
            <p:cNvSpPr txBox="1"/>
            <p:nvPr/>
          </p:nvSpPr>
          <p:spPr>
            <a:xfrm>
              <a:off x="806315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4​</a:t>
              </a:r>
            </a:p>
          </p:txBody>
        </p:sp>
        <p:sp>
          <p:nvSpPr>
            <p:cNvPr id="110" name="TextBox 110"/>
            <p:cNvSpPr txBox="1"/>
            <p:nvPr/>
          </p:nvSpPr>
          <p:spPr>
            <a:xfrm>
              <a:off x="872990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6​</a:t>
              </a:r>
            </a:p>
          </p:txBody>
        </p:sp>
        <p:sp>
          <p:nvSpPr>
            <p:cNvPr id="111" name="TextBox 111"/>
            <p:cNvSpPr txBox="1"/>
            <p:nvPr/>
          </p:nvSpPr>
          <p:spPr>
            <a:xfrm>
              <a:off x="9396651" y="3798332"/>
              <a:ext cx="10429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8​</a:t>
              </a:r>
            </a:p>
          </p:txBody>
        </p:sp>
        <p:sp>
          <p:nvSpPr>
            <p:cNvPr id="112" name="TextBox 112"/>
            <p:cNvSpPr txBox="1"/>
            <p:nvPr/>
          </p:nvSpPr>
          <p:spPr>
            <a:xfrm>
              <a:off x="10039708" y="3798332"/>
              <a:ext cx="151684"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10​</a:t>
              </a:r>
            </a:p>
          </p:txBody>
        </p:sp>
        <p:sp>
          <p:nvSpPr>
            <p:cNvPr id="113" name="TextBox 113"/>
            <p:cNvSpPr txBox="1"/>
            <p:nvPr/>
          </p:nvSpPr>
          <p:spPr>
            <a:xfrm>
              <a:off x="10706458" y="3798332"/>
              <a:ext cx="151684"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12​</a:t>
              </a:r>
            </a:p>
          </p:txBody>
        </p:sp>
        <p:sp>
          <p:nvSpPr>
            <p:cNvPr id="114" name="TextBox 114"/>
            <p:cNvSpPr txBox="1"/>
            <p:nvPr/>
          </p:nvSpPr>
          <p:spPr>
            <a:xfrm>
              <a:off x="11044238" y="3798332"/>
              <a:ext cx="354152"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（亿元）</a:t>
              </a:r>
            </a:p>
          </p:txBody>
        </p:sp>
      </p:grpSp>
      <p:grpSp>
        <p:nvGrpSpPr>
          <p:cNvPr id="144" name="resp-1"/>
          <p:cNvGrpSpPr/>
          <p:nvPr/>
        </p:nvGrpSpPr>
        <p:grpSpPr>
          <a:xfrm>
            <a:off x="228600" y="4076700"/>
            <a:ext cx="1885950" cy="2590800"/>
            <a:chOff x="228600" y="4076700"/>
            <a:chExt cx="1885950" cy="2590800"/>
          </a:xfrm>
        </p:grpSpPr>
        <p:sp>
          <p:nvSpPr>
            <p:cNvPr id="116" name="Rectangle 116"/>
            <p:cNvSpPr/>
            <p:nvPr/>
          </p:nvSpPr>
          <p:spPr>
            <a:xfrm>
              <a:off x="228600" y="4076700"/>
              <a:ext cx="1885950" cy="2590800"/>
            </a:xfrm>
            <a:prstGeom prst="roundRect">
              <a:avLst>
                <a:gd name="adj" fmla="val 3030"/>
              </a:avLst>
            </a:prstGeom>
            <a:solidFill>
              <a:srgbClr val="FFFFFF"/>
            </a:solidFill>
            <a:ln w="9525">
              <a:solidFill>
                <a:srgbClr val="C9D6E9"/>
              </a:solidFill>
            </a:ln>
          </p:spPr>
        </p:sp>
        <p:sp>
          <p:nvSpPr>
            <p:cNvPr id="117" name="Ellipse 117"/>
            <p:cNvSpPr/>
            <p:nvPr/>
          </p:nvSpPr>
          <p:spPr>
            <a:xfrm>
              <a:off x="304800" y="4191000"/>
              <a:ext cx="228600" cy="228600"/>
            </a:xfrm>
            <a:prstGeom prst="ellipse">
              <a:avLst/>
            </a:prstGeom>
            <a:solidFill>
              <a:srgbClr val="69281B"/>
            </a:solidFill>
            <a:ln>
              <a:noFill/>
            </a:ln>
          </p:spPr>
        </p:sp>
        <p:sp>
          <p:nvSpPr>
            <p:cNvPr id="118" name="TextBox 118"/>
            <p:cNvSpPr txBox="1"/>
            <p:nvPr/>
          </p:nvSpPr>
          <p:spPr>
            <a:xfrm>
              <a:off x="326877" y="42624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01​</a:t>
              </a:r>
            </a:p>
          </p:txBody>
        </p:sp>
        <p:sp>
          <p:nvSpPr>
            <p:cNvPr id="119" name="TextBox 119"/>
            <p:cNvSpPr txBox="1"/>
            <p:nvPr/>
          </p:nvSpPr>
          <p:spPr>
            <a:xfrm>
              <a:off x="585788" y="4255770"/>
              <a:ext cx="736473"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核心客户深耕</a:t>
              </a:r>
            </a:p>
          </p:txBody>
        </p:sp>
        <p:grpSp>
          <p:nvGrpSpPr>
            <p:cNvPr id="124" name="Group 124"/>
            <p:cNvGrpSpPr/>
            <p:nvPr/>
          </p:nvGrpSpPr>
          <p:grpSpPr>
            <a:xfrm>
              <a:off x="1819275" y="4219575"/>
              <a:ext cx="171450" cy="171450"/>
              <a:chOff x="1819275" y="4219575"/>
              <a:chExt cx="171450" cy="171450"/>
            </a:xfrm>
          </p:grpSpPr>
          <p:sp>
            <p:nvSpPr>
              <p:cNvPr id="120" name="Freeform 120"/>
              <p:cNvSpPr/>
              <p:nvPr/>
            </p:nvSpPr>
            <p:spPr>
              <a:xfrm>
                <a:off x="1838325" y="42195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E8735B"/>
                </a:solidFill>
              </a:ln>
            </p:spPr>
          </p:sp>
          <p:sp>
            <p:nvSpPr>
              <p:cNvPr id="121" name="Freeform 121"/>
              <p:cNvSpPr/>
              <p:nvPr/>
            </p:nvSpPr>
            <p:spPr>
              <a:xfrm>
                <a:off x="1819275" y="43338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E8735B"/>
                </a:solidFill>
              </a:ln>
            </p:spPr>
          </p:sp>
          <p:sp>
            <p:nvSpPr>
              <p:cNvPr id="122" name="Freeform 122"/>
              <p:cNvSpPr/>
              <p:nvPr/>
            </p:nvSpPr>
            <p:spPr>
              <a:xfrm>
                <a:off x="1943100" y="42208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E8735B"/>
                </a:solidFill>
              </a:ln>
            </p:spPr>
          </p:sp>
          <p:sp>
            <p:nvSpPr>
              <p:cNvPr id="123" name="Freeform 123"/>
              <p:cNvSpPr/>
              <p:nvPr/>
            </p:nvSpPr>
            <p:spPr>
              <a:xfrm>
                <a:off x="1962150" y="43353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E8735B"/>
                </a:solidFill>
              </a:ln>
            </p:spPr>
          </p:sp>
        </p:grpSp>
        <p:sp>
          <p:nvSpPr>
            <p:cNvPr id="125" name="Line 125"/>
            <p:cNvSpPr/>
            <p:nvPr/>
          </p:nvSpPr>
          <p:spPr>
            <a:xfrm>
              <a:off x="342900" y="4495800"/>
              <a:ext cx="1657350" cy="9525"/>
            </a:xfrm>
            <a:custGeom>
              <a:avLst/>
              <a:gdLst/>
              <a:ahLst/>
              <a:cxnLst/>
              <a:rect l="l" t="t" r="r" b="b"/>
              <a:pathLst>
                <a:path w="1657350" h="9525">
                  <a:moveTo>
                    <a:pt x="0" y="0"/>
                  </a:moveTo>
                  <a:lnTo>
                    <a:pt x="1657350" y="0"/>
                  </a:lnTo>
                </a:path>
              </a:pathLst>
            </a:custGeom>
            <a:noFill/>
            <a:ln w="9525">
              <a:solidFill>
                <a:srgbClr val="EDF2FA"/>
              </a:solidFill>
            </a:ln>
          </p:spPr>
        </p:sp>
        <p:grpSp>
          <p:nvGrpSpPr>
            <p:cNvPr id="129" name="Group 129"/>
            <p:cNvGrpSpPr/>
            <p:nvPr/>
          </p:nvGrpSpPr>
          <p:grpSpPr>
            <a:xfrm>
              <a:off x="357188" y="4662488"/>
              <a:ext cx="85725" cy="85725"/>
              <a:chOff x="357188" y="4662488"/>
              <a:chExt cx="85725" cy="85725"/>
            </a:xfrm>
          </p:grpSpPr>
          <p:sp>
            <p:nvSpPr>
              <p:cNvPr id="126" name="Freeform 126"/>
              <p:cNvSpPr/>
              <p:nvPr/>
            </p:nvSpPr>
            <p:spPr>
              <a:xfrm>
                <a:off x="395288" y="470058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04C2E"/>
                </a:solidFill>
              </a:ln>
            </p:spPr>
          </p:sp>
          <p:sp>
            <p:nvSpPr>
              <p:cNvPr id="127" name="Freeform 127"/>
              <p:cNvSpPr/>
              <p:nvPr/>
            </p:nvSpPr>
            <p:spPr>
              <a:xfrm>
                <a:off x="376238" y="468153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04C2E"/>
                </a:solidFill>
              </a:ln>
            </p:spPr>
          </p:sp>
          <p:sp>
            <p:nvSpPr>
              <p:cNvPr id="128" name="Freeform 128"/>
              <p:cNvSpPr/>
              <p:nvPr/>
            </p:nvSpPr>
            <p:spPr>
              <a:xfrm>
                <a:off x="357188" y="46624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04C2E"/>
                </a:solidFill>
              </a:ln>
            </p:spPr>
          </p:sp>
        </p:grpSp>
        <p:sp>
          <p:nvSpPr>
            <p:cNvPr id="130" name="TextBox 130"/>
            <p:cNvSpPr txBox="1"/>
            <p:nvPr/>
          </p:nvSpPr>
          <p:spPr>
            <a:xfrm>
              <a:off x="509588" y="4666536"/>
              <a:ext cx="1200454"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目标：存款净增 </a:t>
              </a:r>
              <a:r>
                <a:rPr lang="zh-CN" sz="710" b="1" dirty="0">
                  <a:solidFill>
                    <a:srgbClr val="E04C2E"/>
                  </a:solidFill>
                  <a:latin typeface="+mn-lt"/>
                  <a:ea typeface="+mn-ea"/>
                  <a:cs typeface="+mn-cs"/>
                </a:rPr>
                <a:t>18.0</a:t>
              </a:r>
              <a:r>
                <a:rPr lang="zh-CN" sz="710" dirty="0">
                  <a:solidFill>
                    <a:srgbClr val="70504A"/>
                  </a:solidFill>
                  <a:latin typeface="+mn-lt"/>
                  <a:ea typeface="+mn-ea"/>
                  <a:cs typeface="+mn-cs"/>
                </a:rPr>
                <a:t xml:space="preserve"> 亿元​</a:t>
              </a:r>
            </a:p>
          </p:txBody>
        </p:sp>
        <p:grpSp>
          <p:nvGrpSpPr>
            <p:cNvPr id="137" name="Group 137"/>
            <p:cNvGrpSpPr/>
            <p:nvPr/>
          </p:nvGrpSpPr>
          <p:grpSpPr>
            <a:xfrm>
              <a:off x="359569" y="5050631"/>
              <a:ext cx="78581" cy="73819"/>
              <a:chOff x="359569" y="5050631"/>
              <a:chExt cx="78581" cy="73819"/>
            </a:xfrm>
          </p:grpSpPr>
          <p:sp>
            <p:nvSpPr>
              <p:cNvPr id="131" name="Freeform 131"/>
              <p:cNvSpPr/>
              <p:nvPr/>
            </p:nvSpPr>
            <p:spPr>
              <a:xfrm>
                <a:off x="359569" y="505063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132" name="Freeform 132"/>
              <p:cNvSpPr/>
              <p:nvPr/>
            </p:nvSpPr>
            <p:spPr>
              <a:xfrm>
                <a:off x="359569" y="5079206"/>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133" name="Freeform 133"/>
              <p:cNvSpPr/>
              <p:nvPr/>
            </p:nvSpPr>
            <p:spPr>
              <a:xfrm>
                <a:off x="359569" y="510778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134" name="Freeform 134"/>
              <p:cNvSpPr/>
              <p:nvPr/>
            </p:nvSpPr>
            <p:spPr>
              <a:xfrm>
                <a:off x="395288" y="5057775"/>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135" name="Freeform 135"/>
              <p:cNvSpPr/>
              <p:nvPr/>
            </p:nvSpPr>
            <p:spPr>
              <a:xfrm>
                <a:off x="395288" y="5086350"/>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136" name="Freeform 136"/>
              <p:cNvSpPr/>
              <p:nvPr/>
            </p:nvSpPr>
            <p:spPr>
              <a:xfrm>
                <a:off x="395288" y="5114925"/>
                <a:ext cx="42862" cy="9525"/>
              </a:xfrm>
              <a:custGeom>
                <a:avLst/>
                <a:gdLst/>
                <a:ahLst/>
                <a:cxnLst/>
                <a:rect l="l" t="t" r="r" b="b"/>
                <a:pathLst>
                  <a:path w="42862" h="9525">
                    <a:moveTo>
                      <a:pt x="0" y="0"/>
                    </a:moveTo>
                    <a:lnTo>
                      <a:pt x="42862" y="0"/>
                    </a:lnTo>
                  </a:path>
                </a:pathLst>
              </a:custGeom>
              <a:noFill/>
              <a:ln w="9525">
                <a:solidFill>
                  <a:srgbClr val="E04C2E"/>
                </a:solidFill>
              </a:ln>
            </p:spPr>
          </p:sp>
        </p:grpSp>
        <p:sp>
          <p:nvSpPr>
            <p:cNvPr id="138" name="TextBox 138"/>
            <p:cNvSpPr txBox="1"/>
            <p:nvPr/>
          </p:nvSpPr>
          <p:spPr>
            <a:xfrm>
              <a:off x="509588" y="5047536"/>
              <a:ext cx="118173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关键举措：名单制经营、集团</a:t>
              </a:r>
              <a:br/>
              <a:r>
                <a:rPr lang="zh-CN" sz="710" dirty="0">
                  <a:solidFill>
                    <a:srgbClr val="70504A"/>
                  </a:solidFill>
                  <a:latin typeface="+mn-lt"/>
                  <a:ea typeface="+mn-ea"/>
                  <a:cs typeface="+mn-cs"/>
                </a:rPr>
                <a:t>一揽子方案、资金归集提升</a:t>
              </a:r>
            </a:p>
          </p:txBody>
        </p:sp>
        <p:grpSp>
          <p:nvGrpSpPr>
            <p:cNvPr id="142" name="Group 142"/>
            <p:cNvGrpSpPr/>
            <p:nvPr/>
          </p:nvGrpSpPr>
          <p:grpSpPr>
            <a:xfrm>
              <a:off x="371475" y="5691188"/>
              <a:ext cx="71438" cy="85725"/>
              <a:chOff x="371475" y="5691188"/>
              <a:chExt cx="71438" cy="85725"/>
            </a:xfrm>
          </p:grpSpPr>
          <p:sp>
            <p:nvSpPr>
              <p:cNvPr id="139" name="Freeform 139"/>
              <p:cNvSpPr/>
              <p:nvPr/>
            </p:nvSpPr>
            <p:spPr>
              <a:xfrm>
                <a:off x="381000" y="56911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04C2E"/>
                </a:solidFill>
              </a:ln>
            </p:spPr>
          </p:sp>
          <p:sp>
            <p:nvSpPr>
              <p:cNvPr id="140" name="Freeform 140"/>
              <p:cNvSpPr/>
              <p:nvPr/>
            </p:nvSpPr>
            <p:spPr>
              <a:xfrm>
                <a:off x="371475" y="5748338"/>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E04C2E"/>
                </a:solidFill>
              </a:ln>
            </p:spPr>
          </p:sp>
          <p:sp>
            <p:nvSpPr>
              <p:cNvPr id="141" name="Freeform 141"/>
              <p:cNvSpPr/>
              <p:nvPr/>
            </p:nvSpPr>
            <p:spPr>
              <a:xfrm>
                <a:off x="414338" y="5757862"/>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143" name="TextBox 143"/>
            <p:cNvSpPr txBox="1"/>
            <p:nvPr/>
          </p:nvSpPr>
          <p:spPr>
            <a:xfrm>
              <a:off x="509588" y="5695236"/>
              <a:ext cx="665683"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负责人：</a:t>
              </a:r>
              <a:r>
                <a:rPr lang="zh-CN" sz="710" b="1" dirty="0">
                  <a:solidFill>
                    <a:srgbClr val="69281B"/>
                  </a:solidFill>
                  <a:latin typeface="+mn-lt"/>
                  <a:ea typeface="+mn-ea"/>
                  <a:cs typeface="+mn-cs"/>
                </a:rPr>
                <a:t>张 明</a:t>
              </a:r>
              <a:r>
                <a:rPr lang="zh-CN" sz="710" dirty="0">
                  <a:solidFill>
                    <a:srgbClr val="70504A"/>
                  </a:solidFill>
                  <a:latin typeface="+mn-lt"/>
                  <a:ea typeface="+mn-ea"/>
                  <a:cs typeface="+mn-cs"/>
                </a:rPr>
                <a:t>​</a:t>
              </a:r>
            </a:p>
          </p:txBody>
        </p:sp>
      </p:grpSp>
      <p:grpSp>
        <p:nvGrpSpPr>
          <p:cNvPr id="175" name="resp-2"/>
          <p:cNvGrpSpPr/>
          <p:nvPr/>
        </p:nvGrpSpPr>
        <p:grpSpPr>
          <a:xfrm>
            <a:off x="2190750" y="4076700"/>
            <a:ext cx="1885950" cy="2590800"/>
            <a:chOff x="2190750" y="4076700"/>
            <a:chExt cx="1885950" cy="2590800"/>
          </a:xfrm>
        </p:grpSpPr>
        <p:sp>
          <p:nvSpPr>
            <p:cNvPr id="145" name="Rectangle 145"/>
            <p:cNvSpPr/>
            <p:nvPr/>
          </p:nvSpPr>
          <p:spPr>
            <a:xfrm>
              <a:off x="2190750" y="4076700"/>
              <a:ext cx="1885950" cy="2590800"/>
            </a:xfrm>
            <a:prstGeom prst="roundRect">
              <a:avLst>
                <a:gd name="adj" fmla="val 3030"/>
              </a:avLst>
            </a:prstGeom>
            <a:solidFill>
              <a:srgbClr val="FFFFFF"/>
            </a:solidFill>
            <a:ln w="9525">
              <a:solidFill>
                <a:srgbClr val="C9D6E9"/>
              </a:solidFill>
            </a:ln>
          </p:spPr>
        </p:sp>
        <p:sp>
          <p:nvSpPr>
            <p:cNvPr id="146" name="Ellipse 146"/>
            <p:cNvSpPr/>
            <p:nvPr/>
          </p:nvSpPr>
          <p:spPr>
            <a:xfrm>
              <a:off x="2266950" y="4191000"/>
              <a:ext cx="228600" cy="228600"/>
            </a:xfrm>
            <a:prstGeom prst="ellipse">
              <a:avLst/>
            </a:prstGeom>
            <a:solidFill>
              <a:srgbClr val="69281B"/>
            </a:solidFill>
            <a:ln>
              <a:noFill/>
            </a:ln>
          </p:spPr>
        </p:sp>
        <p:sp>
          <p:nvSpPr>
            <p:cNvPr id="147" name="TextBox 147"/>
            <p:cNvSpPr txBox="1"/>
            <p:nvPr/>
          </p:nvSpPr>
          <p:spPr>
            <a:xfrm>
              <a:off x="2289027" y="42624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02​</a:t>
              </a:r>
            </a:p>
          </p:txBody>
        </p:sp>
        <p:sp>
          <p:nvSpPr>
            <p:cNvPr id="148" name="TextBox 148"/>
            <p:cNvSpPr txBox="1"/>
            <p:nvPr/>
          </p:nvSpPr>
          <p:spPr>
            <a:xfrm>
              <a:off x="2547938" y="4255770"/>
              <a:ext cx="736473"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腰部客户突破</a:t>
              </a:r>
            </a:p>
          </p:txBody>
        </p:sp>
        <p:grpSp>
          <p:nvGrpSpPr>
            <p:cNvPr id="155" name="Group 155"/>
            <p:cNvGrpSpPr/>
            <p:nvPr/>
          </p:nvGrpSpPr>
          <p:grpSpPr>
            <a:xfrm>
              <a:off x="3781425" y="4219575"/>
              <a:ext cx="171450" cy="171450"/>
              <a:chOff x="3781425" y="4219575"/>
              <a:chExt cx="171450" cy="171450"/>
            </a:xfrm>
          </p:grpSpPr>
          <p:sp>
            <p:nvSpPr>
              <p:cNvPr id="149" name="Freeform 149"/>
              <p:cNvSpPr/>
              <p:nvPr/>
            </p:nvSpPr>
            <p:spPr>
              <a:xfrm>
                <a:off x="3848100" y="42957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E8735B"/>
                </a:solidFill>
              </a:ln>
            </p:spPr>
          </p:sp>
          <p:sp>
            <p:nvSpPr>
              <p:cNvPr id="150" name="Freeform 150"/>
              <p:cNvSpPr/>
              <p:nvPr/>
            </p:nvSpPr>
            <p:spPr>
              <a:xfrm>
                <a:off x="3829050" y="43624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E8735B"/>
                </a:solidFill>
              </a:ln>
            </p:spPr>
          </p:sp>
          <p:sp>
            <p:nvSpPr>
              <p:cNvPr id="151" name="Freeform 151"/>
              <p:cNvSpPr/>
              <p:nvPr/>
            </p:nvSpPr>
            <p:spPr>
              <a:xfrm>
                <a:off x="3895725" y="42195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E8735B"/>
                </a:solidFill>
              </a:ln>
            </p:spPr>
          </p:sp>
          <p:sp>
            <p:nvSpPr>
              <p:cNvPr id="152" name="Freeform 152"/>
              <p:cNvSpPr/>
              <p:nvPr/>
            </p:nvSpPr>
            <p:spPr>
              <a:xfrm>
                <a:off x="3914775" y="42862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E8735B"/>
                </a:solidFill>
              </a:ln>
            </p:spPr>
          </p:sp>
          <p:sp>
            <p:nvSpPr>
              <p:cNvPr id="153" name="Freeform 153"/>
              <p:cNvSpPr/>
              <p:nvPr/>
            </p:nvSpPr>
            <p:spPr>
              <a:xfrm>
                <a:off x="3800475" y="42195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E8735B"/>
                </a:solidFill>
              </a:ln>
            </p:spPr>
          </p:sp>
          <p:sp>
            <p:nvSpPr>
              <p:cNvPr id="154" name="Freeform 154"/>
              <p:cNvSpPr/>
              <p:nvPr/>
            </p:nvSpPr>
            <p:spPr>
              <a:xfrm>
                <a:off x="3781425" y="42862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E8735B"/>
                </a:solidFill>
              </a:ln>
            </p:spPr>
          </p:sp>
        </p:grpSp>
        <p:sp>
          <p:nvSpPr>
            <p:cNvPr id="156" name="Line 156"/>
            <p:cNvSpPr/>
            <p:nvPr/>
          </p:nvSpPr>
          <p:spPr>
            <a:xfrm>
              <a:off x="2305050" y="4495800"/>
              <a:ext cx="1657350" cy="9525"/>
            </a:xfrm>
            <a:custGeom>
              <a:avLst/>
              <a:gdLst/>
              <a:ahLst/>
              <a:cxnLst/>
              <a:rect l="l" t="t" r="r" b="b"/>
              <a:pathLst>
                <a:path w="1657350" h="9525">
                  <a:moveTo>
                    <a:pt x="0" y="0"/>
                  </a:moveTo>
                  <a:lnTo>
                    <a:pt x="1657350" y="0"/>
                  </a:lnTo>
                </a:path>
              </a:pathLst>
            </a:custGeom>
            <a:noFill/>
            <a:ln w="9525">
              <a:solidFill>
                <a:srgbClr val="EDF2FA"/>
              </a:solidFill>
            </a:ln>
          </p:spPr>
        </p:sp>
        <p:grpSp>
          <p:nvGrpSpPr>
            <p:cNvPr id="160" name="Group 160"/>
            <p:cNvGrpSpPr/>
            <p:nvPr/>
          </p:nvGrpSpPr>
          <p:grpSpPr>
            <a:xfrm>
              <a:off x="2319338" y="4662488"/>
              <a:ext cx="85725" cy="85725"/>
              <a:chOff x="2319338" y="4662488"/>
              <a:chExt cx="85725" cy="85725"/>
            </a:xfrm>
          </p:grpSpPr>
          <p:sp>
            <p:nvSpPr>
              <p:cNvPr id="157" name="Freeform 157"/>
              <p:cNvSpPr/>
              <p:nvPr/>
            </p:nvSpPr>
            <p:spPr>
              <a:xfrm>
                <a:off x="2357438" y="470058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04C2E"/>
                </a:solidFill>
              </a:ln>
            </p:spPr>
          </p:sp>
          <p:sp>
            <p:nvSpPr>
              <p:cNvPr id="158" name="Freeform 158"/>
              <p:cNvSpPr/>
              <p:nvPr/>
            </p:nvSpPr>
            <p:spPr>
              <a:xfrm>
                <a:off x="2338388" y="468153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04C2E"/>
                </a:solidFill>
              </a:ln>
            </p:spPr>
          </p:sp>
          <p:sp>
            <p:nvSpPr>
              <p:cNvPr id="159" name="Freeform 159"/>
              <p:cNvSpPr/>
              <p:nvPr/>
            </p:nvSpPr>
            <p:spPr>
              <a:xfrm>
                <a:off x="2319338" y="46624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04C2E"/>
                </a:solidFill>
              </a:ln>
            </p:spPr>
          </p:sp>
        </p:grpSp>
        <p:sp>
          <p:nvSpPr>
            <p:cNvPr id="161" name="TextBox 161"/>
            <p:cNvSpPr txBox="1"/>
            <p:nvPr/>
          </p:nvSpPr>
          <p:spPr>
            <a:xfrm>
              <a:off x="2471738" y="4666536"/>
              <a:ext cx="1145257"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目标：存款净增 </a:t>
              </a:r>
              <a:r>
                <a:rPr lang="zh-CN" sz="710" b="1" dirty="0">
                  <a:solidFill>
                    <a:srgbClr val="E04C2E"/>
                  </a:solidFill>
                  <a:latin typeface="+mn-lt"/>
                  <a:ea typeface="+mn-ea"/>
                  <a:cs typeface="+mn-cs"/>
                </a:rPr>
                <a:t>8.5</a:t>
              </a:r>
              <a:r>
                <a:rPr lang="zh-CN" sz="710" dirty="0">
                  <a:solidFill>
                    <a:srgbClr val="70504A"/>
                  </a:solidFill>
                  <a:latin typeface="+mn-lt"/>
                  <a:ea typeface="+mn-ea"/>
                  <a:cs typeface="+mn-cs"/>
                </a:rPr>
                <a:t xml:space="preserve"> 亿元​</a:t>
              </a:r>
            </a:p>
          </p:txBody>
        </p:sp>
        <p:grpSp>
          <p:nvGrpSpPr>
            <p:cNvPr id="168" name="Group 168"/>
            <p:cNvGrpSpPr/>
            <p:nvPr/>
          </p:nvGrpSpPr>
          <p:grpSpPr>
            <a:xfrm>
              <a:off x="2321719" y="5050631"/>
              <a:ext cx="78581" cy="73819"/>
              <a:chOff x="2321719" y="5050631"/>
              <a:chExt cx="78581" cy="73819"/>
            </a:xfrm>
          </p:grpSpPr>
          <p:sp>
            <p:nvSpPr>
              <p:cNvPr id="162" name="Freeform 162"/>
              <p:cNvSpPr/>
              <p:nvPr/>
            </p:nvSpPr>
            <p:spPr>
              <a:xfrm>
                <a:off x="2321719" y="505063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163" name="Freeform 163"/>
              <p:cNvSpPr/>
              <p:nvPr/>
            </p:nvSpPr>
            <p:spPr>
              <a:xfrm>
                <a:off x="2321719" y="5079206"/>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164" name="Freeform 164"/>
              <p:cNvSpPr/>
              <p:nvPr/>
            </p:nvSpPr>
            <p:spPr>
              <a:xfrm>
                <a:off x="2321719" y="510778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165" name="Freeform 165"/>
              <p:cNvSpPr/>
              <p:nvPr/>
            </p:nvSpPr>
            <p:spPr>
              <a:xfrm>
                <a:off x="2357438" y="5057775"/>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166" name="Freeform 166"/>
              <p:cNvSpPr/>
              <p:nvPr/>
            </p:nvSpPr>
            <p:spPr>
              <a:xfrm>
                <a:off x="2357438" y="5086350"/>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167" name="Freeform 167"/>
              <p:cNvSpPr/>
              <p:nvPr/>
            </p:nvSpPr>
            <p:spPr>
              <a:xfrm>
                <a:off x="2357438" y="5114925"/>
                <a:ext cx="42862" cy="9525"/>
              </a:xfrm>
              <a:custGeom>
                <a:avLst/>
                <a:gdLst/>
                <a:ahLst/>
                <a:cxnLst/>
                <a:rect l="l" t="t" r="r" b="b"/>
                <a:pathLst>
                  <a:path w="42862" h="9525">
                    <a:moveTo>
                      <a:pt x="0" y="0"/>
                    </a:moveTo>
                    <a:lnTo>
                      <a:pt x="42862" y="0"/>
                    </a:lnTo>
                  </a:path>
                </a:pathLst>
              </a:custGeom>
              <a:noFill/>
              <a:ln w="9525">
                <a:solidFill>
                  <a:srgbClr val="E04C2E"/>
                </a:solidFill>
              </a:ln>
            </p:spPr>
          </p:sp>
        </p:grpSp>
        <p:sp>
          <p:nvSpPr>
            <p:cNvPr id="169" name="TextBox 169"/>
            <p:cNvSpPr txBox="1"/>
            <p:nvPr/>
          </p:nvSpPr>
          <p:spPr>
            <a:xfrm>
              <a:off x="2471738" y="5047536"/>
              <a:ext cx="118173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关键举措：行业链营销、场景</a:t>
              </a:r>
              <a:br/>
              <a:r>
                <a:rPr lang="zh-CN" sz="710" dirty="0">
                  <a:solidFill>
                    <a:srgbClr val="70504A"/>
                  </a:solidFill>
                  <a:latin typeface="+mn-lt"/>
                  <a:ea typeface="+mn-ea"/>
                  <a:cs typeface="+mn-cs"/>
                </a:rPr>
                <a:t>方案嵌入、交叉销售提升</a:t>
              </a:r>
            </a:p>
          </p:txBody>
        </p:sp>
        <p:grpSp>
          <p:nvGrpSpPr>
            <p:cNvPr id="173" name="Group 173"/>
            <p:cNvGrpSpPr/>
            <p:nvPr/>
          </p:nvGrpSpPr>
          <p:grpSpPr>
            <a:xfrm>
              <a:off x="2333625" y="5691188"/>
              <a:ext cx="71438" cy="85725"/>
              <a:chOff x="2333625" y="5691188"/>
              <a:chExt cx="71438" cy="85725"/>
            </a:xfrm>
          </p:grpSpPr>
          <p:sp>
            <p:nvSpPr>
              <p:cNvPr id="170" name="Freeform 170"/>
              <p:cNvSpPr/>
              <p:nvPr/>
            </p:nvSpPr>
            <p:spPr>
              <a:xfrm>
                <a:off x="2343150" y="56911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04C2E"/>
                </a:solidFill>
              </a:ln>
            </p:spPr>
          </p:sp>
          <p:sp>
            <p:nvSpPr>
              <p:cNvPr id="171" name="Freeform 171"/>
              <p:cNvSpPr/>
              <p:nvPr/>
            </p:nvSpPr>
            <p:spPr>
              <a:xfrm>
                <a:off x="2333625" y="5748338"/>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E04C2E"/>
                </a:solidFill>
              </a:ln>
            </p:spPr>
          </p:sp>
          <p:sp>
            <p:nvSpPr>
              <p:cNvPr id="172" name="Freeform 172"/>
              <p:cNvSpPr/>
              <p:nvPr/>
            </p:nvSpPr>
            <p:spPr>
              <a:xfrm>
                <a:off x="2376488" y="5757862"/>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174" name="TextBox 174"/>
            <p:cNvSpPr txBox="1"/>
            <p:nvPr/>
          </p:nvSpPr>
          <p:spPr>
            <a:xfrm>
              <a:off x="2471738" y="5695236"/>
              <a:ext cx="665683"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负责人：</a:t>
              </a:r>
              <a:r>
                <a:rPr lang="zh-CN" sz="710" b="1" dirty="0">
                  <a:solidFill>
                    <a:srgbClr val="69281B"/>
                  </a:solidFill>
                  <a:latin typeface="+mn-lt"/>
                  <a:ea typeface="+mn-ea"/>
                  <a:cs typeface="+mn-cs"/>
                </a:rPr>
                <a:t>李 娜</a:t>
              </a:r>
              <a:r>
                <a:rPr lang="zh-CN" sz="710" dirty="0">
                  <a:solidFill>
                    <a:srgbClr val="70504A"/>
                  </a:solidFill>
                  <a:latin typeface="+mn-lt"/>
                  <a:ea typeface="+mn-ea"/>
                  <a:cs typeface="+mn-cs"/>
                </a:rPr>
                <a:t>​</a:t>
              </a:r>
            </a:p>
          </p:txBody>
        </p:sp>
      </p:grpSp>
      <p:grpSp>
        <p:nvGrpSpPr>
          <p:cNvPr id="208" name="resp-3"/>
          <p:cNvGrpSpPr/>
          <p:nvPr/>
        </p:nvGrpSpPr>
        <p:grpSpPr>
          <a:xfrm>
            <a:off x="4152900" y="4076700"/>
            <a:ext cx="1885950" cy="2590800"/>
            <a:chOff x="4152900" y="4076700"/>
            <a:chExt cx="1885950" cy="2590800"/>
          </a:xfrm>
        </p:grpSpPr>
        <p:sp>
          <p:nvSpPr>
            <p:cNvPr id="176" name="Rectangle 176"/>
            <p:cNvSpPr/>
            <p:nvPr/>
          </p:nvSpPr>
          <p:spPr>
            <a:xfrm>
              <a:off x="4152900" y="4076700"/>
              <a:ext cx="1885950" cy="2590800"/>
            </a:xfrm>
            <a:prstGeom prst="roundRect">
              <a:avLst>
                <a:gd name="adj" fmla="val 3030"/>
              </a:avLst>
            </a:prstGeom>
            <a:solidFill>
              <a:srgbClr val="FFFFFF"/>
            </a:solidFill>
            <a:ln w="9525">
              <a:solidFill>
                <a:srgbClr val="C9D6E9"/>
              </a:solidFill>
            </a:ln>
          </p:spPr>
        </p:sp>
        <p:sp>
          <p:nvSpPr>
            <p:cNvPr id="177" name="Ellipse 177"/>
            <p:cNvSpPr/>
            <p:nvPr/>
          </p:nvSpPr>
          <p:spPr>
            <a:xfrm>
              <a:off x="4229100" y="4191000"/>
              <a:ext cx="228600" cy="228600"/>
            </a:xfrm>
            <a:prstGeom prst="ellipse">
              <a:avLst/>
            </a:prstGeom>
            <a:solidFill>
              <a:srgbClr val="69281B"/>
            </a:solidFill>
            <a:ln>
              <a:noFill/>
            </a:ln>
          </p:spPr>
        </p:sp>
        <p:sp>
          <p:nvSpPr>
            <p:cNvPr id="178" name="TextBox 178"/>
            <p:cNvSpPr txBox="1"/>
            <p:nvPr/>
          </p:nvSpPr>
          <p:spPr>
            <a:xfrm>
              <a:off x="4251177" y="42624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03​</a:t>
              </a:r>
            </a:p>
          </p:txBody>
        </p:sp>
        <p:sp>
          <p:nvSpPr>
            <p:cNvPr id="179" name="TextBox 179"/>
            <p:cNvSpPr txBox="1"/>
            <p:nvPr/>
          </p:nvSpPr>
          <p:spPr>
            <a:xfrm>
              <a:off x="4510088" y="4255770"/>
              <a:ext cx="736473"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重大项目投放</a:t>
              </a:r>
            </a:p>
          </p:txBody>
        </p:sp>
        <p:grpSp>
          <p:nvGrpSpPr>
            <p:cNvPr id="188" name="Group 188"/>
            <p:cNvGrpSpPr/>
            <p:nvPr/>
          </p:nvGrpSpPr>
          <p:grpSpPr>
            <a:xfrm>
              <a:off x="5743575" y="4219575"/>
              <a:ext cx="171450" cy="180975"/>
              <a:chOff x="5743575" y="4219575"/>
              <a:chExt cx="171450" cy="180975"/>
            </a:xfrm>
          </p:grpSpPr>
          <p:sp>
            <p:nvSpPr>
              <p:cNvPr id="180" name="Freeform 180"/>
              <p:cNvSpPr/>
              <p:nvPr/>
            </p:nvSpPr>
            <p:spPr>
              <a:xfrm>
                <a:off x="5743575" y="4391025"/>
                <a:ext cx="171450" cy="9525"/>
              </a:xfrm>
              <a:custGeom>
                <a:avLst/>
                <a:gdLst/>
                <a:ahLst/>
                <a:cxnLst/>
                <a:rect l="l" t="t" r="r" b="b"/>
                <a:pathLst>
                  <a:path w="171450" h="9525">
                    <a:moveTo>
                      <a:pt x="0" y="0"/>
                    </a:moveTo>
                    <a:lnTo>
                      <a:pt x="171450" y="0"/>
                    </a:lnTo>
                  </a:path>
                </a:pathLst>
              </a:custGeom>
              <a:noFill/>
              <a:ln w="19050">
                <a:solidFill>
                  <a:srgbClr val="E8735B"/>
                </a:solidFill>
              </a:ln>
            </p:spPr>
          </p:sp>
          <p:sp>
            <p:nvSpPr>
              <p:cNvPr id="181" name="Freeform 181"/>
              <p:cNvSpPr/>
              <p:nvPr/>
            </p:nvSpPr>
            <p:spPr>
              <a:xfrm>
                <a:off x="5743575" y="4286250"/>
                <a:ext cx="171450" cy="9525"/>
              </a:xfrm>
              <a:custGeom>
                <a:avLst/>
                <a:gdLst/>
                <a:ahLst/>
                <a:cxnLst/>
                <a:rect l="l" t="t" r="r" b="b"/>
                <a:pathLst>
                  <a:path w="171450" h="9525">
                    <a:moveTo>
                      <a:pt x="0" y="0"/>
                    </a:moveTo>
                    <a:lnTo>
                      <a:pt x="171450" y="0"/>
                    </a:lnTo>
                  </a:path>
                </a:pathLst>
              </a:custGeom>
              <a:noFill/>
              <a:ln w="19050">
                <a:solidFill>
                  <a:srgbClr val="E8735B"/>
                </a:solidFill>
              </a:ln>
            </p:spPr>
          </p:sp>
          <p:sp>
            <p:nvSpPr>
              <p:cNvPr id="182" name="Freeform 182"/>
              <p:cNvSpPr/>
              <p:nvPr/>
            </p:nvSpPr>
            <p:spPr>
              <a:xfrm>
                <a:off x="5762625" y="4219575"/>
                <a:ext cx="133350" cy="28575"/>
              </a:xfrm>
              <a:custGeom>
                <a:avLst/>
                <a:gdLst/>
                <a:ahLst/>
                <a:cxnLst/>
                <a:rect l="l" t="t" r="r" b="b"/>
                <a:pathLst>
                  <a:path w="133350" h="28575">
                    <a:moveTo>
                      <a:pt x="0" y="28575"/>
                    </a:moveTo>
                    <a:lnTo>
                      <a:pt x="66675" y="0"/>
                    </a:lnTo>
                    <a:lnTo>
                      <a:pt x="133350" y="28575"/>
                    </a:lnTo>
                  </a:path>
                </a:pathLst>
              </a:custGeom>
              <a:noFill/>
              <a:ln w="19050">
                <a:solidFill>
                  <a:srgbClr val="E8735B"/>
                </a:solidFill>
              </a:ln>
            </p:spPr>
          </p:sp>
          <p:sp>
            <p:nvSpPr>
              <p:cNvPr id="183" name="Freeform 183"/>
              <p:cNvSpPr/>
              <p:nvPr/>
            </p:nvSpPr>
            <p:spPr>
              <a:xfrm>
                <a:off x="5753100" y="4286250"/>
                <a:ext cx="9525" cy="104775"/>
              </a:xfrm>
              <a:custGeom>
                <a:avLst/>
                <a:gdLst/>
                <a:ahLst/>
                <a:cxnLst/>
                <a:rect l="l" t="t" r="r" b="b"/>
                <a:pathLst>
                  <a:path w="9525" h="104775">
                    <a:moveTo>
                      <a:pt x="0" y="0"/>
                    </a:moveTo>
                    <a:lnTo>
                      <a:pt x="0" y="104775"/>
                    </a:lnTo>
                  </a:path>
                </a:pathLst>
              </a:custGeom>
              <a:noFill/>
              <a:ln w="19050">
                <a:solidFill>
                  <a:srgbClr val="E8735B"/>
                </a:solidFill>
              </a:ln>
            </p:spPr>
          </p:sp>
          <p:sp>
            <p:nvSpPr>
              <p:cNvPr id="184" name="Freeform 184"/>
              <p:cNvSpPr/>
              <p:nvPr/>
            </p:nvSpPr>
            <p:spPr>
              <a:xfrm>
                <a:off x="5905500" y="4286250"/>
                <a:ext cx="9525" cy="104775"/>
              </a:xfrm>
              <a:custGeom>
                <a:avLst/>
                <a:gdLst/>
                <a:ahLst/>
                <a:cxnLst/>
                <a:rect l="l" t="t" r="r" b="b"/>
                <a:pathLst>
                  <a:path w="9525" h="104775">
                    <a:moveTo>
                      <a:pt x="0" y="0"/>
                    </a:moveTo>
                    <a:lnTo>
                      <a:pt x="0" y="104775"/>
                    </a:lnTo>
                  </a:path>
                </a:pathLst>
              </a:custGeom>
              <a:noFill/>
              <a:ln w="19050">
                <a:solidFill>
                  <a:srgbClr val="E8735B"/>
                </a:solidFill>
              </a:ln>
            </p:spPr>
          </p:sp>
          <p:sp>
            <p:nvSpPr>
              <p:cNvPr id="185" name="Freeform 185"/>
              <p:cNvSpPr/>
              <p:nvPr/>
            </p:nvSpPr>
            <p:spPr>
              <a:xfrm>
                <a:off x="5791200" y="4324350"/>
                <a:ext cx="9525" cy="28575"/>
              </a:xfrm>
              <a:custGeom>
                <a:avLst/>
                <a:gdLst/>
                <a:ahLst/>
                <a:cxnLst/>
                <a:rect l="l" t="t" r="r" b="b"/>
                <a:pathLst>
                  <a:path w="9525" h="28575">
                    <a:moveTo>
                      <a:pt x="0" y="0"/>
                    </a:moveTo>
                    <a:lnTo>
                      <a:pt x="0" y="28575"/>
                    </a:lnTo>
                  </a:path>
                </a:pathLst>
              </a:custGeom>
              <a:noFill/>
              <a:ln w="19050">
                <a:solidFill>
                  <a:srgbClr val="E8735B"/>
                </a:solidFill>
              </a:ln>
            </p:spPr>
          </p:sp>
          <p:sp>
            <p:nvSpPr>
              <p:cNvPr id="186" name="Freeform 186"/>
              <p:cNvSpPr/>
              <p:nvPr/>
            </p:nvSpPr>
            <p:spPr>
              <a:xfrm>
                <a:off x="5829300" y="4324350"/>
                <a:ext cx="9525" cy="28575"/>
              </a:xfrm>
              <a:custGeom>
                <a:avLst/>
                <a:gdLst/>
                <a:ahLst/>
                <a:cxnLst/>
                <a:rect l="l" t="t" r="r" b="b"/>
                <a:pathLst>
                  <a:path w="9525" h="28575">
                    <a:moveTo>
                      <a:pt x="0" y="0"/>
                    </a:moveTo>
                    <a:lnTo>
                      <a:pt x="0" y="28575"/>
                    </a:lnTo>
                  </a:path>
                </a:pathLst>
              </a:custGeom>
              <a:noFill/>
              <a:ln w="19050">
                <a:solidFill>
                  <a:srgbClr val="E8735B"/>
                </a:solidFill>
              </a:ln>
            </p:spPr>
          </p:sp>
          <p:sp>
            <p:nvSpPr>
              <p:cNvPr id="187" name="Freeform 187"/>
              <p:cNvSpPr/>
              <p:nvPr/>
            </p:nvSpPr>
            <p:spPr>
              <a:xfrm>
                <a:off x="5867400" y="4324350"/>
                <a:ext cx="9525" cy="28575"/>
              </a:xfrm>
              <a:custGeom>
                <a:avLst/>
                <a:gdLst/>
                <a:ahLst/>
                <a:cxnLst/>
                <a:rect l="l" t="t" r="r" b="b"/>
                <a:pathLst>
                  <a:path w="9525" h="28575">
                    <a:moveTo>
                      <a:pt x="0" y="0"/>
                    </a:moveTo>
                    <a:lnTo>
                      <a:pt x="0" y="28575"/>
                    </a:lnTo>
                  </a:path>
                </a:pathLst>
              </a:custGeom>
              <a:noFill/>
              <a:ln w="19050">
                <a:solidFill>
                  <a:srgbClr val="E8735B"/>
                </a:solidFill>
              </a:ln>
            </p:spPr>
          </p:sp>
        </p:grpSp>
        <p:sp>
          <p:nvSpPr>
            <p:cNvPr id="189" name="Line 189"/>
            <p:cNvSpPr/>
            <p:nvPr/>
          </p:nvSpPr>
          <p:spPr>
            <a:xfrm>
              <a:off x="4267200" y="4495800"/>
              <a:ext cx="1657350" cy="9525"/>
            </a:xfrm>
            <a:custGeom>
              <a:avLst/>
              <a:gdLst/>
              <a:ahLst/>
              <a:cxnLst/>
              <a:rect l="l" t="t" r="r" b="b"/>
              <a:pathLst>
                <a:path w="1657350" h="9525">
                  <a:moveTo>
                    <a:pt x="0" y="0"/>
                  </a:moveTo>
                  <a:lnTo>
                    <a:pt x="1657350" y="0"/>
                  </a:lnTo>
                </a:path>
              </a:pathLst>
            </a:custGeom>
            <a:noFill/>
            <a:ln w="9525">
              <a:solidFill>
                <a:srgbClr val="EDF2FA"/>
              </a:solidFill>
            </a:ln>
          </p:spPr>
        </p:sp>
        <p:grpSp>
          <p:nvGrpSpPr>
            <p:cNvPr id="193" name="Group 193"/>
            <p:cNvGrpSpPr/>
            <p:nvPr/>
          </p:nvGrpSpPr>
          <p:grpSpPr>
            <a:xfrm>
              <a:off x="4281488" y="4662488"/>
              <a:ext cx="85725" cy="85725"/>
              <a:chOff x="4281488" y="4662488"/>
              <a:chExt cx="85725" cy="85725"/>
            </a:xfrm>
          </p:grpSpPr>
          <p:sp>
            <p:nvSpPr>
              <p:cNvPr id="190" name="Freeform 190"/>
              <p:cNvSpPr/>
              <p:nvPr/>
            </p:nvSpPr>
            <p:spPr>
              <a:xfrm>
                <a:off x="4319588" y="470058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04C2E"/>
                </a:solidFill>
              </a:ln>
            </p:spPr>
          </p:sp>
          <p:sp>
            <p:nvSpPr>
              <p:cNvPr id="191" name="Freeform 191"/>
              <p:cNvSpPr/>
              <p:nvPr/>
            </p:nvSpPr>
            <p:spPr>
              <a:xfrm>
                <a:off x="4300538" y="468153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04C2E"/>
                </a:solidFill>
              </a:ln>
            </p:spPr>
          </p:sp>
          <p:sp>
            <p:nvSpPr>
              <p:cNvPr id="192" name="Freeform 192"/>
              <p:cNvSpPr/>
              <p:nvPr/>
            </p:nvSpPr>
            <p:spPr>
              <a:xfrm>
                <a:off x="4281488" y="46624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04C2E"/>
                </a:solidFill>
              </a:ln>
            </p:spPr>
          </p:sp>
        </p:grpSp>
        <p:sp>
          <p:nvSpPr>
            <p:cNvPr id="194" name="TextBox 194"/>
            <p:cNvSpPr txBox="1"/>
            <p:nvPr/>
          </p:nvSpPr>
          <p:spPr>
            <a:xfrm>
              <a:off x="4433888" y="4666536"/>
              <a:ext cx="1200454"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目标：存款净增 </a:t>
              </a:r>
              <a:r>
                <a:rPr lang="zh-CN" sz="710" b="1" dirty="0">
                  <a:solidFill>
                    <a:srgbClr val="E04C2E"/>
                  </a:solidFill>
                  <a:latin typeface="+mn-lt"/>
                  <a:ea typeface="+mn-ea"/>
                  <a:cs typeface="+mn-cs"/>
                </a:rPr>
                <a:t>26.0</a:t>
              </a:r>
              <a:r>
                <a:rPr lang="zh-CN" sz="710" dirty="0">
                  <a:solidFill>
                    <a:srgbClr val="70504A"/>
                  </a:solidFill>
                  <a:latin typeface="+mn-lt"/>
                  <a:ea typeface="+mn-ea"/>
                  <a:cs typeface="+mn-cs"/>
                </a:rPr>
                <a:t xml:space="preserve"> 亿元​</a:t>
              </a:r>
            </a:p>
          </p:txBody>
        </p:sp>
        <p:grpSp>
          <p:nvGrpSpPr>
            <p:cNvPr id="201" name="Group 201"/>
            <p:cNvGrpSpPr/>
            <p:nvPr/>
          </p:nvGrpSpPr>
          <p:grpSpPr>
            <a:xfrm>
              <a:off x="4283869" y="5050631"/>
              <a:ext cx="78581" cy="73819"/>
              <a:chOff x="4283869" y="5050631"/>
              <a:chExt cx="78581" cy="73819"/>
            </a:xfrm>
          </p:grpSpPr>
          <p:sp>
            <p:nvSpPr>
              <p:cNvPr id="195" name="Freeform 195"/>
              <p:cNvSpPr/>
              <p:nvPr/>
            </p:nvSpPr>
            <p:spPr>
              <a:xfrm>
                <a:off x="4283869" y="505063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196" name="Freeform 196"/>
              <p:cNvSpPr/>
              <p:nvPr/>
            </p:nvSpPr>
            <p:spPr>
              <a:xfrm>
                <a:off x="4283869" y="5079206"/>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197" name="Freeform 197"/>
              <p:cNvSpPr/>
              <p:nvPr/>
            </p:nvSpPr>
            <p:spPr>
              <a:xfrm>
                <a:off x="4283869" y="510778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198" name="Freeform 198"/>
              <p:cNvSpPr/>
              <p:nvPr/>
            </p:nvSpPr>
            <p:spPr>
              <a:xfrm>
                <a:off x="4319588" y="5057775"/>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199" name="Freeform 199"/>
              <p:cNvSpPr/>
              <p:nvPr/>
            </p:nvSpPr>
            <p:spPr>
              <a:xfrm>
                <a:off x="4319588" y="5086350"/>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200" name="Freeform 200"/>
              <p:cNvSpPr/>
              <p:nvPr/>
            </p:nvSpPr>
            <p:spPr>
              <a:xfrm>
                <a:off x="4319588" y="5114925"/>
                <a:ext cx="42862" cy="9525"/>
              </a:xfrm>
              <a:custGeom>
                <a:avLst/>
                <a:gdLst/>
                <a:ahLst/>
                <a:cxnLst/>
                <a:rect l="l" t="t" r="r" b="b"/>
                <a:pathLst>
                  <a:path w="42862" h="9525">
                    <a:moveTo>
                      <a:pt x="0" y="0"/>
                    </a:moveTo>
                    <a:lnTo>
                      <a:pt x="42862" y="0"/>
                    </a:lnTo>
                  </a:path>
                </a:pathLst>
              </a:custGeom>
              <a:noFill/>
              <a:ln w="9525">
                <a:solidFill>
                  <a:srgbClr val="E04C2E"/>
                </a:solidFill>
              </a:ln>
            </p:spPr>
          </p:sp>
        </p:grpSp>
        <p:sp>
          <p:nvSpPr>
            <p:cNvPr id="202" name="TextBox 202"/>
            <p:cNvSpPr txBox="1"/>
            <p:nvPr/>
          </p:nvSpPr>
          <p:spPr>
            <a:xfrm>
              <a:off x="4433888" y="5047536"/>
              <a:ext cx="118173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关键举措：项目清单管理、绿</a:t>
              </a:r>
              <a:br/>
              <a:r>
                <a:rPr lang="zh-CN" sz="710" dirty="0">
                  <a:solidFill>
                    <a:srgbClr val="70504A"/>
                  </a:solidFill>
                  <a:latin typeface="+mn-lt"/>
                  <a:ea typeface="+mn-ea"/>
                  <a:cs typeface="+mn-cs"/>
                </a:rPr>
                <a:t>色与制造业重点投放</a:t>
              </a:r>
            </a:p>
          </p:txBody>
        </p:sp>
        <p:grpSp>
          <p:nvGrpSpPr>
            <p:cNvPr id="206" name="Group 206"/>
            <p:cNvGrpSpPr/>
            <p:nvPr/>
          </p:nvGrpSpPr>
          <p:grpSpPr>
            <a:xfrm>
              <a:off x="4295775" y="5691188"/>
              <a:ext cx="71438" cy="85725"/>
              <a:chOff x="4295775" y="5691188"/>
              <a:chExt cx="71438" cy="85725"/>
            </a:xfrm>
          </p:grpSpPr>
          <p:sp>
            <p:nvSpPr>
              <p:cNvPr id="203" name="Freeform 203"/>
              <p:cNvSpPr/>
              <p:nvPr/>
            </p:nvSpPr>
            <p:spPr>
              <a:xfrm>
                <a:off x="4305300" y="56911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04C2E"/>
                </a:solidFill>
              </a:ln>
            </p:spPr>
          </p:sp>
          <p:sp>
            <p:nvSpPr>
              <p:cNvPr id="204" name="Freeform 204"/>
              <p:cNvSpPr/>
              <p:nvPr/>
            </p:nvSpPr>
            <p:spPr>
              <a:xfrm>
                <a:off x="4295775" y="5748338"/>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E04C2E"/>
                </a:solidFill>
              </a:ln>
            </p:spPr>
          </p:sp>
          <p:sp>
            <p:nvSpPr>
              <p:cNvPr id="205" name="Freeform 205"/>
              <p:cNvSpPr/>
              <p:nvPr/>
            </p:nvSpPr>
            <p:spPr>
              <a:xfrm>
                <a:off x="4338638" y="5757862"/>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207" name="TextBox 207"/>
            <p:cNvSpPr txBox="1"/>
            <p:nvPr/>
          </p:nvSpPr>
          <p:spPr>
            <a:xfrm>
              <a:off x="4433888" y="5695236"/>
              <a:ext cx="665683"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负责人：</a:t>
              </a:r>
              <a:r>
                <a:rPr lang="zh-CN" sz="710" b="1" dirty="0">
                  <a:solidFill>
                    <a:srgbClr val="69281B"/>
                  </a:solidFill>
                  <a:latin typeface="+mn-lt"/>
                  <a:ea typeface="+mn-ea"/>
                  <a:cs typeface="+mn-cs"/>
                </a:rPr>
                <a:t>王 强</a:t>
              </a:r>
              <a:r>
                <a:rPr lang="zh-CN" sz="710" dirty="0">
                  <a:solidFill>
                    <a:srgbClr val="70504A"/>
                  </a:solidFill>
                  <a:latin typeface="+mn-lt"/>
                  <a:ea typeface="+mn-ea"/>
                  <a:cs typeface="+mn-cs"/>
                </a:rPr>
                <a:t>​</a:t>
              </a:r>
            </a:p>
          </p:txBody>
        </p:sp>
      </p:grpSp>
      <p:grpSp>
        <p:nvGrpSpPr>
          <p:cNvPr id="238" name="resp-4"/>
          <p:cNvGrpSpPr/>
          <p:nvPr/>
        </p:nvGrpSpPr>
        <p:grpSpPr>
          <a:xfrm>
            <a:off x="6115050" y="4076700"/>
            <a:ext cx="1885950" cy="2590800"/>
            <a:chOff x="6115050" y="4076700"/>
            <a:chExt cx="1885950" cy="2590800"/>
          </a:xfrm>
        </p:grpSpPr>
        <p:sp>
          <p:nvSpPr>
            <p:cNvPr id="209" name="Rectangle 209"/>
            <p:cNvSpPr/>
            <p:nvPr/>
          </p:nvSpPr>
          <p:spPr>
            <a:xfrm>
              <a:off x="6115050" y="4076700"/>
              <a:ext cx="1885950" cy="2590800"/>
            </a:xfrm>
            <a:prstGeom prst="roundRect">
              <a:avLst>
                <a:gd name="adj" fmla="val 3030"/>
              </a:avLst>
            </a:prstGeom>
            <a:solidFill>
              <a:srgbClr val="FFFFFF"/>
            </a:solidFill>
            <a:ln w="9525">
              <a:solidFill>
                <a:srgbClr val="C9D6E9"/>
              </a:solidFill>
            </a:ln>
          </p:spPr>
        </p:sp>
        <p:sp>
          <p:nvSpPr>
            <p:cNvPr id="210" name="Ellipse 210"/>
            <p:cNvSpPr/>
            <p:nvPr/>
          </p:nvSpPr>
          <p:spPr>
            <a:xfrm>
              <a:off x="6191250" y="4191000"/>
              <a:ext cx="228600" cy="228600"/>
            </a:xfrm>
            <a:prstGeom prst="ellipse">
              <a:avLst/>
            </a:prstGeom>
            <a:solidFill>
              <a:srgbClr val="69281B"/>
            </a:solidFill>
            <a:ln>
              <a:noFill/>
            </a:ln>
          </p:spPr>
        </p:sp>
        <p:sp>
          <p:nvSpPr>
            <p:cNvPr id="211" name="TextBox 211"/>
            <p:cNvSpPr txBox="1"/>
            <p:nvPr/>
          </p:nvSpPr>
          <p:spPr>
            <a:xfrm>
              <a:off x="6213327" y="42624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04​</a:t>
              </a:r>
            </a:p>
          </p:txBody>
        </p:sp>
        <p:sp>
          <p:nvSpPr>
            <p:cNvPr id="212" name="TextBox 212"/>
            <p:cNvSpPr txBox="1"/>
            <p:nvPr/>
          </p:nvSpPr>
          <p:spPr>
            <a:xfrm>
              <a:off x="6472238" y="4255770"/>
              <a:ext cx="736473"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综合金融增收</a:t>
              </a:r>
            </a:p>
          </p:txBody>
        </p:sp>
        <p:grpSp>
          <p:nvGrpSpPr>
            <p:cNvPr id="218" name="Group 218"/>
            <p:cNvGrpSpPr/>
            <p:nvPr/>
          </p:nvGrpSpPr>
          <p:grpSpPr>
            <a:xfrm>
              <a:off x="7705725" y="4218299"/>
              <a:ext cx="171450" cy="172726"/>
              <a:chOff x="7705725" y="4218299"/>
              <a:chExt cx="171450" cy="172726"/>
            </a:xfrm>
          </p:grpSpPr>
          <p:sp>
            <p:nvSpPr>
              <p:cNvPr id="213" name="Freeform 213"/>
              <p:cNvSpPr/>
              <p:nvPr/>
            </p:nvSpPr>
            <p:spPr>
              <a:xfrm>
                <a:off x="7762875" y="429577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E8735B"/>
                </a:solidFill>
              </a:ln>
            </p:spPr>
          </p:sp>
          <p:sp>
            <p:nvSpPr>
              <p:cNvPr id="214" name="Freeform 214"/>
              <p:cNvSpPr/>
              <p:nvPr/>
            </p:nvSpPr>
            <p:spPr>
              <a:xfrm>
                <a:off x="7762875" y="432435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E8735B"/>
                </a:solidFill>
              </a:ln>
            </p:spPr>
          </p:sp>
          <p:sp>
            <p:nvSpPr>
              <p:cNvPr id="215" name="Freeform 215"/>
              <p:cNvSpPr/>
              <p:nvPr/>
            </p:nvSpPr>
            <p:spPr>
              <a:xfrm>
                <a:off x="7705725" y="421829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E8735B"/>
                </a:solidFill>
              </a:ln>
            </p:spPr>
          </p:sp>
          <p:sp>
            <p:nvSpPr>
              <p:cNvPr id="216" name="Freeform 216"/>
              <p:cNvSpPr/>
              <p:nvPr/>
            </p:nvSpPr>
            <p:spPr>
              <a:xfrm>
                <a:off x="7705725" y="424815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E8735B"/>
                </a:solidFill>
              </a:ln>
            </p:spPr>
          </p:sp>
          <p:sp>
            <p:nvSpPr>
              <p:cNvPr id="217" name="Freeform 217"/>
              <p:cNvSpPr/>
              <p:nvPr/>
            </p:nvSpPr>
            <p:spPr>
              <a:xfrm>
                <a:off x="7705725" y="429577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E8735B"/>
                </a:solidFill>
              </a:ln>
            </p:spPr>
          </p:sp>
        </p:grpSp>
        <p:sp>
          <p:nvSpPr>
            <p:cNvPr id="219" name="Line 219"/>
            <p:cNvSpPr/>
            <p:nvPr/>
          </p:nvSpPr>
          <p:spPr>
            <a:xfrm>
              <a:off x="6229350" y="4495800"/>
              <a:ext cx="1657350" cy="9525"/>
            </a:xfrm>
            <a:custGeom>
              <a:avLst/>
              <a:gdLst/>
              <a:ahLst/>
              <a:cxnLst/>
              <a:rect l="l" t="t" r="r" b="b"/>
              <a:pathLst>
                <a:path w="1657350" h="9525">
                  <a:moveTo>
                    <a:pt x="0" y="0"/>
                  </a:moveTo>
                  <a:lnTo>
                    <a:pt x="1657350" y="0"/>
                  </a:lnTo>
                </a:path>
              </a:pathLst>
            </a:custGeom>
            <a:noFill/>
            <a:ln w="9525">
              <a:solidFill>
                <a:srgbClr val="EDF2FA"/>
              </a:solidFill>
            </a:ln>
          </p:spPr>
        </p:sp>
        <p:grpSp>
          <p:nvGrpSpPr>
            <p:cNvPr id="223" name="Group 223"/>
            <p:cNvGrpSpPr/>
            <p:nvPr/>
          </p:nvGrpSpPr>
          <p:grpSpPr>
            <a:xfrm>
              <a:off x="6243638" y="4662488"/>
              <a:ext cx="85725" cy="85725"/>
              <a:chOff x="6243638" y="4662488"/>
              <a:chExt cx="85725" cy="85725"/>
            </a:xfrm>
          </p:grpSpPr>
          <p:sp>
            <p:nvSpPr>
              <p:cNvPr id="220" name="Freeform 220"/>
              <p:cNvSpPr/>
              <p:nvPr/>
            </p:nvSpPr>
            <p:spPr>
              <a:xfrm>
                <a:off x="6281738" y="470058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04C2E"/>
                </a:solidFill>
              </a:ln>
            </p:spPr>
          </p:sp>
          <p:sp>
            <p:nvSpPr>
              <p:cNvPr id="221" name="Freeform 221"/>
              <p:cNvSpPr/>
              <p:nvPr/>
            </p:nvSpPr>
            <p:spPr>
              <a:xfrm>
                <a:off x="6262688" y="468153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04C2E"/>
                </a:solidFill>
              </a:ln>
            </p:spPr>
          </p:sp>
          <p:sp>
            <p:nvSpPr>
              <p:cNvPr id="222" name="Freeform 222"/>
              <p:cNvSpPr/>
              <p:nvPr/>
            </p:nvSpPr>
            <p:spPr>
              <a:xfrm>
                <a:off x="6243638" y="46624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04C2E"/>
                </a:solidFill>
              </a:ln>
            </p:spPr>
          </p:sp>
        </p:grpSp>
        <p:sp>
          <p:nvSpPr>
            <p:cNvPr id="224" name="TextBox 224"/>
            <p:cNvSpPr txBox="1"/>
            <p:nvPr/>
          </p:nvSpPr>
          <p:spPr>
            <a:xfrm>
              <a:off x="6396038" y="4666536"/>
              <a:ext cx="1009294"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目标：中收 </a:t>
              </a:r>
              <a:r>
                <a:rPr lang="zh-CN" sz="710" b="1" dirty="0">
                  <a:solidFill>
                    <a:srgbClr val="E04C2E"/>
                  </a:solidFill>
                  <a:latin typeface="+mn-lt"/>
                  <a:ea typeface="+mn-ea"/>
                  <a:cs typeface="+mn-cs"/>
                </a:rPr>
                <a:t>2.15</a:t>
              </a:r>
              <a:r>
                <a:rPr lang="zh-CN" sz="710" dirty="0">
                  <a:solidFill>
                    <a:srgbClr val="70504A"/>
                  </a:solidFill>
                  <a:latin typeface="+mn-lt"/>
                  <a:ea typeface="+mn-ea"/>
                  <a:cs typeface="+mn-cs"/>
                </a:rPr>
                <a:t xml:space="preserve"> 亿元​</a:t>
              </a:r>
            </a:p>
          </p:txBody>
        </p:sp>
        <p:grpSp>
          <p:nvGrpSpPr>
            <p:cNvPr id="231" name="Group 231"/>
            <p:cNvGrpSpPr/>
            <p:nvPr/>
          </p:nvGrpSpPr>
          <p:grpSpPr>
            <a:xfrm>
              <a:off x="6246019" y="5050631"/>
              <a:ext cx="78581" cy="73819"/>
              <a:chOff x="6246019" y="5050631"/>
              <a:chExt cx="78581" cy="73819"/>
            </a:xfrm>
          </p:grpSpPr>
          <p:sp>
            <p:nvSpPr>
              <p:cNvPr id="225" name="Freeform 225"/>
              <p:cNvSpPr/>
              <p:nvPr/>
            </p:nvSpPr>
            <p:spPr>
              <a:xfrm>
                <a:off x="6246019" y="505063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226" name="Freeform 226"/>
              <p:cNvSpPr/>
              <p:nvPr/>
            </p:nvSpPr>
            <p:spPr>
              <a:xfrm>
                <a:off x="6246019" y="5079206"/>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227" name="Freeform 227"/>
              <p:cNvSpPr/>
              <p:nvPr/>
            </p:nvSpPr>
            <p:spPr>
              <a:xfrm>
                <a:off x="6246019" y="510778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228" name="Freeform 228"/>
              <p:cNvSpPr/>
              <p:nvPr/>
            </p:nvSpPr>
            <p:spPr>
              <a:xfrm>
                <a:off x="6281738" y="5057775"/>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229" name="Freeform 229"/>
              <p:cNvSpPr/>
              <p:nvPr/>
            </p:nvSpPr>
            <p:spPr>
              <a:xfrm>
                <a:off x="6281738" y="5086350"/>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230" name="Freeform 230"/>
              <p:cNvSpPr/>
              <p:nvPr/>
            </p:nvSpPr>
            <p:spPr>
              <a:xfrm>
                <a:off x="6281738" y="5114925"/>
                <a:ext cx="42862" cy="9525"/>
              </a:xfrm>
              <a:custGeom>
                <a:avLst/>
                <a:gdLst/>
                <a:ahLst/>
                <a:cxnLst/>
                <a:rect l="l" t="t" r="r" b="b"/>
                <a:pathLst>
                  <a:path w="42862" h="9525">
                    <a:moveTo>
                      <a:pt x="0" y="0"/>
                    </a:moveTo>
                    <a:lnTo>
                      <a:pt x="42862" y="0"/>
                    </a:lnTo>
                  </a:path>
                </a:pathLst>
              </a:custGeom>
              <a:noFill/>
              <a:ln w="9525">
                <a:solidFill>
                  <a:srgbClr val="E04C2E"/>
                </a:solidFill>
              </a:ln>
            </p:spPr>
          </p:sp>
        </p:grpSp>
        <p:sp>
          <p:nvSpPr>
            <p:cNvPr id="232" name="TextBox 232"/>
            <p:cNvSpPr txBox="1"/>
            <p:nvPr/>
          </p:nvSpPr>
          <p:spPr>
            <a:xfrm>
              <a:off x="6396038" y="5047536"/>
              <a:ext cx="1100582"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关键举措：结算+现金管理+</a:t>
              </a:r>
              <a:br/>
              <a:r>
                <a:rPr lang="zh-CN" sz="710" dirty="0">
                  <a:solidFill>
                    <a:srgbClr val="70504A"/>
                  </a:solidFill>
                  <a:latin typeface="+mn-lt"/>
                  <a:ea typeface="+mn-ea"/>
                  <a:cs typeface="+mn-cs"/>
                </a:rPr>
                <a:t>票据+保理+投行联动</a:t>
              </a:r>
            </a:p>
          </p:txBody>
        </p:sp>
        <p:grpSp>
          <p:nvGrpSpPr>
            <p:cNvPr id="236" name="Group 236"/>
            <p:cNvGrpSpPr/>
            <p:nvPr/>
          </p:nvGrpSpPr>
          <p:grpSpPr>
            <a:xfrm>
              <a:off x="6257925" y="5691188"/>
              <a:ext cx="71438" cy="85725"/>
              <a:chOff x="6257925" y="5691188"/>
              <a:chExt cx="71438" cy="85725"/>
            </a:xfrm>
          </p:grpSpPr>
          <p:sp>
            <p:nvSpPr>
              <p:cNvPr id="233" name="Freeform 233"/>
              <p:cNvSpPr/>
              <p:nvPr/>
            </p:nvSpPr>
            <p:spPr>
              <a:xfrm>
                <a:off x="6267450" y="56911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04C2E"/>
                </a:solidFill>
              </a:ln>
            </p:spPr>
          </p:sp>
          <p:sp>
            <p:nvSpPr>
              <p:cNvPr id="234" name="Freeform 234"/>
              <p:cNvSpPr/>
              <p:nvPr/>
            </p:nvSpPr>
            <p:spPr>
              <a:xfrm>
                <a:off x="6257925" y="5748338"/>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E04C2E"/>
                </a:solidFill>
              </a:ln>
            </p:spPr>
          </p:sp>
          <p:sp>
            <p:nvSpPr>
              <p:cNvPr id="235" name="Freeform 235"/>
              <p:cNvSpPr/>
              <p:nvPr/>
            </p:nvSpPr>
            <p:spPr>
              <a:xfrm>
                <a:off x="6300788" y="5757862"/>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237" name="TextBox 237"/>
            <p:cNvSpPr txBox="1"/>
            <p:nvPr/>
          </p:nvSpPr>
          <p:spPr>
            <a:xfrm>
              <a:off x="6396038" y="5695236"/>
              <a:ext cx="665683"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负责人：</a:t>
              </a:r>
              <a:r>
                <a:rPr lang="zh-CN" sz="710" b="1" dirty="0">
                  <a:solidFill>
                    <a:srgbClr val="69281B"/>
                  </a:solidFill>
                  <a:latin typeface="+mn-lt"/>
                  <a:ea typeface="+mn-ea"/>
                  <a:cs typeface="+mn-cs"/>
                </a:rPr>
                <a:t>陈 雯</a:t>
              </a:r>
              <a:r>
                <a:rPr lang="zh-CN" sz="710" dirty="0">
                  <a:solidFill>
                    <a:srgbClr val="70504A"/>
                  </a:solidFill>
                  <a:latin typeface="+mn-lt"/>
                  <a:ea typeface="+mn-ea"/>
                  <a:cs typeface="+mn-cs"/>
                </a:rPr>
                <a:t>​</a:t>
              </a:r>
            </a:p>
          </p:txBody>
        </p:sp>
      </p:grpSp>
      <p:grpSp>
        <p:nvGrpSpPr>
          <p:cNvPr id="266" name="resp-5"/>
          <p:cNvGrpSpPr/>
          <p:nvPr/>
        </p:nvGrpSpPr>
        <p:grpSpPr>
          <a:xfrm>
            <a:off x="8077200" y="4076700"/>
            <a:ext cx="1885950" cy="2590800"/>
            <a:chOff x="8077200" y="4076700"/>
            <a:chExt cx="1885950" cy="2590800"/>
          </a:xfrm>
        </p:grpSpPr>
        <p:sp>
          <p:nvSpPr>
            <p:cNvPr id="239" name="Rectangle 239"/>
            <p:cNvSpPr/>
            <p:nvPr/>
          </p:nvSpPr>
          <p:spPr>
            <a:xfrm>
              <a:off x="8077200" y="4076700"/>
              <a:ext cx="1885950" cy="2590800"/>
            </a:xfrm>
            <a:prstGeom prst="roundRect">
              <a:avLst>
                <a:gd name="adj" fmla="val 3030"/>
              </a:avLst>
            </a:prstGeom>
            <a:solidFill>
              <a:srgbClr val="FFFFFF"/>
            </a:solidFill>
            <a:ln w="9525">
              <a:solidFill>
                <a:srgbClr val="C9D6E9"/>
              </a:solidFill>
            </a:ln>
          </p:spPr>
        </p:sp>
        <p:sp>
          <p:nvSpPr>
            <p:cNvPr id="240" name="Ellipse 240"/>
            <p:cNvSpPr/>
            <p:nvPr/>
          </p:nvSpPr>
          <p:spPr>
            <a:xfrm>
              <a:off x="8153400" y="4191000"/>
              <a:ext cx="228600" cy="228600"/>
            </a:xfrm>
            <a:prstGeom prst="ellipse">
              <a:avLst/>
            </a:prstGeom>
            <a:solidFill>
              <a:srgbClr val="69281B"/>
            </a:solidFill>
            <a:ln>
              <a:noFill/>
            </a:ln>
          </p:spPr>
        </p:sp>
        <p:sp>
          <p:nvSpPr>
            <p:cNvPr id="241" name="TextBox 241"/>
            <p:cNvSpPr txBox="1"/>
            <p:nvPr/>
          </p:nvSpPr>
          <p:spPr>
            <a:xfrm>
              <a:off x="8175477" y="4262438"/>
              <a:ext cx="18444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05​</a:t>
              </a:r>
            </a:p>
          </p:txBody>
        </p:sp>
        <p:sp>
          <p:nvSpPr>
            <p:cNvPr id="242" name="TextBox 242"/>
            <p:cNvSpPr txBox="1"/>
            <p:nvPr/>
          </p:nvSpPr>
          <p:spPr>
            <a:xfrm>
              <a:off x="8434388" y="4255770"/>
              <a:ext cx="736473"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数字渠道提效</a:t>
              </a:r>
            </a:p>
          </p:txBody>
        </p:sp>
        <p:grpSp>
          <p:nvGrpSpPr>
            <p:cNvPr id="246" name="Group 246"/>
            <p:cNvGrpSpPr/>
            <p:nvPr/>
          </p:nvGrpSpPr>
          <p:grpSpPr>
            <a:xfrm>
              <a:off x="9696450" y="4219575"/>
              <a:ext cx="114300" cy="171450"/>
              <a:chOff x="9696450" y="4219575"/>
              <a:chExt cx="114300" cy="171450"/>
            </a:xfrm>
          </p:grpSpPr>
          <p:sp>
            <p:nvSpPr>
              <p:cNvPr id="243" name="Freeform 243"/>
              <p:cNvSpPr/>
              <p:nvPr/>
            </p:nvSpPr>
            <p:spPr>
              <a:xfrm>
                <a:off x="9696450" y="421957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E8735B"/>
                </a:solidFill>
              </a:ln>
            </p:spPr>
          </p:sp>
          <p:sp>
            <p:nvSpPr>
              <p:cNvPr id="244" name="Freeform 244"/>
              <p:cNvSpPr/>
              <p:nvPr/>
            </p:nvSpPr>
            <p:spPr>
              <a:xfrm>
                <a:off x="9744075" y="4229100"/>
                <a:ext cx="19050" cy="9525"/>
              </a:xfrm>
              <a:custGeom>
                <a:avLst/>
                <a:gdLst/>
                <a:ahLst/>
                <a:cxnLst/>
                <a:rect l="l" t="t" r="r" b="b"/>
                <a:pathLst>
                  <a:path w="19050" h="9525">
                    <a:moveTo>
                      <a:pt x="0" y="0"/>
                    </a:moveTo>
                    <a:lnTo>
                      <a:pt x="19050" y="0"/>
                    </a:lnTo>
                  </a:path>
                </a:pathLst>
              </a:custGeom>
              <a:noFill/>
              <a:ln w="19050">
                <a:solidFill>
                  <a:srgbClr val="E8735B"/>
                </a:solidFill>
              </a:ln>
            </p:spPr>
          </p:sp>
          <p:sp>
            <p:nvSpPr>
              <p:cNvPr id="245" name="Freeform 245"/>
              <p:cNvSpPr/>
              <p:nvPr/>
            </p:nvSpPr>
            <p:spPr>
              <a:xfrm>
                <a:off x="9753600" y="4352925"/>
                <a:ext cx="9525" cy="9525"/>
              </a:xfrm>
              <a:custGeom>
                <a:avLst/>
                <a:gdLst/>
                <a:ahLst/>
                <a:cxnLst/>
                <a:rect l="l" t="t" r="r" b="b"/>
                <a:pathLst>
                  <a:path w="9525" h="9525">
                    <a:moveTo>
                      <a:pt x="0" y="0"/>
                    </a:moveTo>
                    <a:lnTo>
                      <a:pt x="0" y="95"/>
                    </a:lnTo>
                  </a:path>
                </a:pathLst>
              </a:custGeom>
              <a:noFill/>
              <a:ln w="19050">
                <a:solidFill>
                  <a:srgbClr val="E8735B"/>
                </a:solidFill>
              </a:ln>
            </p:spPr>
          </p:sp>
        </p:grpSp>
        <p:sp>
          <p:nvSpPr>
            <p:cNvPr id="247" name="Line 247"/>
            <p:cNvSpPr/>
            <p:nvPr/>
          </p:nvSpPr>
          <p:spPr>
            <a:xfrm>
              <a:off x="8191500" y="4495800"/>
              <a:ext cx="1657350" cy="9525"/>
            </a:xfrm>
            <a:custGeom>
              <a:avLst/>
              <a:gdLst/>
              <a:ahLst/>
              <a:cxnLst/>
              <a:rect l="l" t="t" r="r" b="b"/>
              <a:pathLst>
                <a:path w="1657350" h="9525">
                  <a:moveTo>
                    <a:pt x="0" y="0"/>
                  </a:moveTo>
                  <a:lnTo>
                    <a:pt x="1657350" y="0"/>
                  </a:lnTo>
                </a:path>
              </a:pathLst>
            </a:custGeom>
            <a:noFill/>
            <a:ln w="9525">
              <a:solidFill>
                <a:srgbClr val="EDF2FA"/>
              </a:solidFill>
            </a:ln>
          </p:spPr>
        </p:sp>
        <p:grpSp>
          <p:nvGrpSpPr>
            <p:cNvPr id="251" name="Group 251"/>
            <p:cNvGrpSpPr/>
            <p:nvPr/>
          </p:nvGrpSpPr>
          <p:grpSpPr>
            <a:xfrm>
              <a:off x="8205788" y="4662488"/>
              <a:ext cx="85725" cy="85725"/>
              <a:chOff x="8205788" y="4662488"/>
              <a:chExt cx="85725" cy="85725"/>
            </a:xfrm>
          </p:grpSpPr>
          <p:sp>
            <p:nvSpPr>
              <p:cNvPr id="248" name="Freeform 248"/>
              <p:cNvSpPr/>
              <p:nvPr/>
            </p:nvSpPr>
            <p:spPr>
              <a:xfrm>
                <a:off x="8243888" y="470058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04C2E"/>
                </a:solidFill>
              </a:ln>
            </p:spPr>
          </p:sp>
          <p:sp>
            <p:nvSpPr>
              <p:cNvPr id="249" name="Freeform 249"/>
              <p:cNvSpPr/>
              <p:nvPr/>
            </p:nvSpPr>
            <p:spPr>
              <a:xfrm>
                <a:off x="8224838" y="468153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04C2E"/>
                </a:solidFill>
              </a:ln>
            </p:spPr>
          </p:sp>
          <p:sp>
            <p:nvSpPr>
              <p:cNvPr id="250" name="Freeform 250"/>
              <p:cNvSpPr/>
              <p:nvPr/>
            </p:nvSpPr>
            <p:spPr>
              <a:xfrm>
                <a:off x="8205788" y="46624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04C2E"/>
                </a:solidFill>
              </a:ln>
            </p:spPr>
          </p:sp>
        </p:grpSp>
        <p:sp>
          <p:nvSpPr>
            <p:cNvPr id="252" name="TextBox 252"/>
            <p:cNvSpPr txBox="1"/>
            <p:nvPr/>
          </p:nvSpPr>
          <p:spPr>
            <a:xfrm>
              <a:off x="8358188" y="4666536"/>
              <a:ext cx="1351232"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目标：线上活跃客户 </a:t>
              </a:r>
              <a:r>
                <a:rPr lang="zh-CN" sz="710" b="1" dirty="0">
                  <a:solidFill>
                    <a:srgbClr val="E04C2E"/>
                  </a:solidFill>
                  <a:latin typeface="+mn-lt"/>
                  <a:ea typeface="+mn-ea"/>
                  <a:cs typeface="+mn-cs"/>
                </a:rPr>
                <a:t>6,000</a:t>
              </a:r>
              <a:r>
                <a:rPr lang="zh-CN" sz="710" dirty="0">
                  <a:solidFill>
                    <a:srgbClr val="70504A"/>
                  </a:solidFill>
                  <a:latin typeface="+mn-lt"/>
                  <a:ea typeface="+mn-ea"/>
                  <a:cs typeface="+mn-cs"/>
                </a:rPr>
                <a:t xml:space="preserve"> 户​</a:t>
              </a:r>
            </a:p>
          </p:txBody>
        </p:sp>
        <p:grpSp>
          <p:nvGrpSpPr>
            <p:cNvPr id="259" name="Group 259"/>
            <p:cNvGrpSpPr/>
            <p:nvPr/>
          </p:nvGrpSpPr>
          <p:grpSpPr>
            <a:xfrm>
              <a:off x="8208169" y="5050631"/>
              <a:ext cx="78581" cy="73819"/>
              <a:chOff x="8208169" y="5050631"/>
              <a:chExt cx="78581" cy="73819"/>
            </a:xfrm>
          </p:grpSpPr>
          <p:sp>
            <p:nvSpPr>
              <p:cNvPr id="253" name="Freeform 253"/>
              <p:cNvSpPr/>
              <p:nvPr/>
            </p:nvSpPr>
            <p:spPr>
              <a:xfrm>
                <a:off x="8208169" y="505063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254" name="Freeform 254"/>
              <p:cNvSpPr/>
              <p:nvPr/>
            </p:nvSpPr>
            <p:spPr>
              <a:xfrm>
                <a:off x="8208169" y="5079206"/>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255" name="Freeform 255"/>
              <p:cNvSpPr/>
              <p:nvPr/>
            </p:nvSpPr>
            <p:spPr>
              <a:xfrm>
                <a:off x="8208169" y="5107781"/>
                <a:ext cx="19050" cy="11906"/>
              </a:xfrm>
              <a:custGeom>
                <a:avLst/>
                <a:gdLst/>
                <a:ahLst/>
                <a:cxnLst/>
                <a:rect l="l" t="t" r="r" b="b"/>
                <a:pathLst>
                  <a:path w="19050" h="11906">
                    <a:moveTo>
                      <a:pt x="0" y="4762"/>
                    </a:moveTo>
                    <a:lnTo>
                      <a:pt x="7144" y="11906"/>
                    </a:lnTo>
                    <a:lnTo>
                      <a:pt x="19050" y="0"/>
                    </a:lnTo>
                  </a:path>
                </a:pathLst>
              </a:custGeom>
              <a:noFill/>
              <a:ln w="9525">
                <a:solidFill>
                  <a:srgbClr val="E04C2E"/>
                </a:solidFill>
              </a:ln>
            </p:spPr>
          </p:sp>
          <p:sp>
            <p:nvSpPr>
              <p:cNvPr id="256" name="Freeform 256"/>
              <p:cNvSpPr/>
              <p:nvPr/>
            </p:nvSpPr>
            <p:spPr>
              <a:xfrm>
                <a:off x="8243888" y="5057775"/>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257" name="Freeform 257"/>
              <p:cNvSpPr/>
              <p:nvPr/>
            </p:nvSpPr>
            <p:spPr>
              <a:xfrm>
                <a:off x="8243888" y="5086350"/>
                <a:ext cx="42862" cy="9525"/>
              </a:xfrm>
              <a:custGeom>
                <a:avLst/>
                <a:gdLst/>
                <a:ahLst/>
                <a:cxnLst/>
                <a:rect l="l" t="t" r="r" b="b"/>
                <a:pathLst>
                  <a:path w="42862" h="9525">
                    <a:moveTo>
                      <a:pt x="0" y="0"/>
                    </a:moveTo>
                    <a:lnTo>
                      <a:pt x="42862" y="0"/>
                    </a:lnTo>
                  </a:path>
                </a:pathLst>
              </a:custGeom>
              <a:noFill/>
              <a:ln w="9525">
                <a:solidFill>
                  <a:srgbClr val="E04C2E"/>
                </a:solidFill>
              </a:ln>
            </p:spPr>
          </p:sp>
          <p:sp>
            <p:nvSpPr>
              <p:cNvPr id="258" name="Freeform 258"/>
              <p:cNvSpPr/>
              <p:nvPr/>
            </p:nvSpPr>
            <p:spPr>
              <a:xfrm>
                <a:off x="8243888" y="5114925"/>
                <a:ext cx="42862" cy="9525"/>
              </a:xfrm>
              <a:custGeom>
                <a:avLst/>
                <a:gdLst/>
                <a:ahLst/>
                <a:cxnLst/>
                <a:rect l="l" t="t" r="r" b="b"/>
                <a:pathLst>
                  <a:path w="42862" h="9525">
                    <a:moveTo>
                      <a:pt x="0" y="0"/>
                    </a:moveTo>
                    <a:lnTo>
                      <a:pt x="42862" y="0"/>
                    </a:lnTo>
                  </a:path>
                </a:pathLst>
              </a:custGeom>
              <a:noFill/>
              <a:ln w="9525">
                <a:solidFill>
                  <a:srgbClr val="E04C2E"/>
                </a:solidFill>
              </a:ln>
            </p:spPr>
          </p:sp>
        </p:grpSp>
        <p:sp>
          <p:nvSpPr>
            <p:cNvPr id="260" name="TextBox 260"/>
            <p:cNvSpPr txBox="1"/>
            <p:nvPr/>
          </p:nvSpPr>
          <p:spPr>
            <a:xfrm>
              <a:off x="8358188" y="5047536"/>
              <a:ext cx="118173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关键举措：企业网银迭代、数</a:t>
              </a:r>
              <a:br/>
              <a:r>
                <a:rPr lang="zh-CN" sz="710" dirty="0">
                  <a:solidFill>
                    <a:srgbClr val="70504A"/>
                  </a:solidFill>
                  <a:latin typeface="+mn-lt"/>
                  <a:ea typeface="+mn-ea"/>
                  <a:cs typeface="+mn-cs"/>
                </a:rPr>
                <a:t>据经营、流程自动化</a:t>
              </a:r>
            </a:p>
          </p:txBody>
        </p:sp>
        <p:grpSp>
          <p:nvGrpSpPr>
            <p:cNvPr id="264" name="Group 264"/>
            <p:cNvGrpSpPr/>
            <p:nvPr/>
          </p:nvGrpSpPr>
          <p:grpSpPr>
            <a:xfrm>
              <a:off x="8220075" y="5691188"/>
              <a:ext cx="71438" cy="85725"/>
              <a:chOff x="8220075" y="5691188"/>
              <a:chExt cx="71438" cy="85725"/>
            </a:xfrm>
          </p:grpSpPr>
          <p:sp>
            <p:nvSpPr>
              <p:cNvPr id="261" name="Freeform 261"/>
              <p:cNvSpPr/>
              <p:nvPr/>
            </p:nvSpPr>
            <p:spPr>
              <a:xfrm>
                <a:off x="8229600" y="56911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04C2E"/>
                </a:solidFill>
              </a:ln>
            </p:spPr>
          </p:sp>
          <p:sp>
            <p:nvSpPr>
              <p:cNvPr id="262" name="Freeform 262"/>
              <p:cNvSpPr/>
              <p:nvPr/>
            </p:nvSpPr>
            <p:spPr>
              <a:xfrm>
                <a:off x="8220075" y="5748338"/>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E04C2E"/>
                </a:solidFill>
              </a:ln>
            </p:spPr>
          </p:sp>
          <p:sp>
            <p:nvSpPr>
              <p:cNvPr id="263" name="Freeform 263"/>
              <p:cNvSpPr/>
              <p:nvPr/>
            </p:nvSpPr>
            <p:spPr>
              <a:xfrm>
                <a:off x="8262938" y="5757862"/>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265" name="TextBox 265"/>
            <p:cNvSpPr txBox="1"/>
            <p:nvPr/>
          </p:nvSpPr>
          <p:spPr>
            <a:xfrm>
              <a:off x="8358188" y="5695236"/>
              <a:ext cx="665683"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负责人：</a:t>
              </a:r>
              <a:r>
                <a:rPr lang="zh-CN" sz="710" b="1" dirty="0">
                  <a:solidFill>
                    <a:srgbClr val="69281B"/>
                  </a:solidFill>
                  <a:latin typeface="+mn-lt"/>
                  <a:ea typeface="+mn-ea"/>
                  <a:cs typeface="+mn-cs"/>
                </a:rPr>
                <a:t>刘 洋</a:t>
              </a:r>
              <a:r>
                <a:rPr lang="zh-CN" sz="710" dirty="0">
                  <a:solidFill>
                    <a:srgbClr val="70504A"/>
                  </a:solidFill>
                  <a:latin typeface="+mn-lt"/>
                  <a:ea typeface="+mn-ea"/>
                  <a:cs typeface="+mn-cs"/>
                </a:rPr>
                <a:t>​</a:t>
              </a:r>
            </a:p>
          </p:txBody>
        </p:sp>
      </p:grpSp>
      <p:grpSp>
        <p:nvGrpSpPr>
          <p:cNvPr id="280" name="reminder"/>
          <p:cNvGrpSpPr/>
          <p:nvPr/>
        </p:nvGrpSpPr>
        <p:grpSpPr>
          <a:xfrm>
            <a:off x="10039350" y="4076700"/>
            <a:ext cx="1885950" cy="2590800"/>
            <a:chOff x="10039350" y="4076700"/>
            <a:chExt cx="1885950" cy="2590800"/>
          </a:xfrm>
        </p:grpSpPr>
        <p:sp>
          <p:nvSpPr>
            <p:cNvPr id="267" name="Rectangle 267"/>
            <p:cNvSpPr/>
            <p:nvPr/>
          </p:nvSpPr>
          <p:spPr>
            <a:xfrm>
              <a:off x="10039350" y="4076700"/>
              <a:ext cx="1885950" cy="2590800"/>
            </a:xfrm>
            <a:prstGeom prst="roundRect">
              <a:avLst>
                <a:gd name="adj" fmla="val 3030"/>
              </a:avLst>
            </a:prstGeom>
            <a:solidFill>
              <a:srgbClr val="FFF7F6"/>
            </a:solidFill>
            <a:ln w="14288">
              <a:solidFill>
                <a:srgbClr val="D0442C"/>
              </a:solidFill>
            </a:ln>
          </p:spPr>
        </p:sp>
        <p:grpSp>
          <p:nvGrpSpPr>
            <p:cNvPr id="271" name="Group 271"/>
            <p:cNvGrpSpPr/>
            <p:nvPr/>
          </p:nvGrpSpPr>
          <p:grpSpPr>
            <a:xfrm>
              <a:off x="10206949" y="4231225"/>
              <a:ext cx="160095" cy="137543"/>
              <a:chOff x="10206949" y="4231225"/>
              <a:chExt cx="160095" cy="137543"/>
            </a:xfrm>
          </p:grpSpPr>
          <p:sp>
            <p:nvSpPr>
              <p:cNvPr id="268" name="Freeform 268"/>
              <p:cNvSpPr/>
              <p:nvPr/>
            </p:nvSpPr>
            <p:spPr>
              <a:xfrm>
                <a:off x="10287000" y="4281487"/>
                <a:ext cx="9525" cy="31750"/>
              </a:xfrm>
              <a:custGeom>
                <a:avLst/>
                <a:gdLst/>
                <a:ahLst/>
                <a:cxnLst/>
                <a:rect l="l" t="t" r="r" b="b"/>
                <a:pathLst>
                  <a:path w="9525" h="31750">
                    <a:moveTo>
                      <a:pt x="0" y="0"/>
                    </a:moveTo>
                    <a:lnTo>
                      <a:pt x="0" y="31750"/>
                    </a:lnTo>
                  </a:path>
                </a:pathLst>
              </a:custGeom>
              <a:noFill/>
              <a:ln w="15875">
                <a:solidFill>
                  <a:srgbClr val="D0442C"/>
                </a:solidFill>
              </a:ln>
            </p:spPr>
          </p:sp>
          <p:sp>
            <p:nvSpPr>
              <p:cNvPr id="269" name="Freeform 269"/>
              <p:cNvSpPr/>
              <p:nvPr/>
            </p:nvSpPr>
            <p:spPr>
              <a:xfrm>
                <a:off x="10206949" y="423122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D0442C"/>
                </a:solidFill>
              </a:ln>
            </p:spPr>
          </p:sp>
          <p:sp>
            <p:nvSpPr>
              <p:cNvPr id="270" name="Freeform 270"/>
              <p:cNvSpPr/>
              <p:nvPr/>
            </p:nvSpPr>
            <p:spPr>
              <a:xfrm>
                <a:off x="10287000" y="4337050"/>
                <a:ext cx="9525" cy="9525"/>
              </a:xfrm>
              <a:custGeom>
                <a:avLst/>
                <a:gdLst/>
                <a:ahLst/>
                <a:cxnLst/>
                <a:rect l="l" t="t" r="r" b="b"/>
                <a:pathLst>
                  <a:path w="9525" h="9525">
                    <a:moveTo>
                      <a:pt x="0" y="0"/>
                    </a:moveTo>
                    <a:lnTo>
                      <a:pt x="79" y="0"/>
                    </a:lnTo>
                  </a:path>
                </a:pathLst>
              </a:custGeom>
              <a:noFill/>
              <a:ln w="15875">
                <a:solidFill>
                  <a:srgbClr val="D0442C"/>
                </a:solidFill>
              </a:ln>
            </p:spPr>
          </p:sp>
        </p:grpSp>
        <p:sp>
          <p:nvSpPr>
            <p:cNvPr id="272" name="TextBox 272"/>
            <p:cNvSpPr txBox="1"/>
            <p:nvPr/>
          </p:nvSpPr>
          <p:spPr>
            <a:xfrm>
              <a:off x="10453688" y="4251722"/>
              <a:ext cx="515696" cy="183356"/>
            </a:xfrm>
            <a:prstGeom prst="rect">
              <a:avLst/>
            </a:prstGeom>
            <a:noFill/>
            <a:ln>
              <a:noFill/>
            </a:ln>
          </p:spPr>
          <p:txBody>
            <a:bodyPr wrap="none" lIns="0" tIns="0" rIns="0" bIns="0" anchor="t" anchorCtr="0">
              <a:spAutoFit/>
            </a:bodyPr>
            <a:lstStyle/>
            <a:p>
              <a:pPr algn="l"/>
              <a:r>
                <a:rPr lang="zh-CN" sz="940" b="1" dirty="0">
                  <a:solidFill>
                    <a:srgbClr val="D0442C"/>
                  </a:solidFill>
                  <a:latin typeface="+mn-lt"/>
                  <a:ea typeface="+mn-ea"/>
                  <a:cs typeface="+mn-cs"/>
                </a:rPr>
                <a:t>重点提醒</a:t>
              </a:r>
            </a:p>
          </p:txBody>
        </p:sp>
        <p:sp>
          <p:nvSpPr>
            <p:cNvPr id="273" name="Line 273"/>
            <p:cNvSpPr/>
            <p:nvPr/>
          </p:nvSpPr>
          <p:spPr>
            <a:xfrm>
              <a:off x="10153650" y="4495800"/>
              <a:ext cx="1657350" cy="9525"/>
            </a:xfrm>
            <a:custGeom>
              <a:avLst/>
              <a:gdLst/>
              <a:ahLst/>
              <a:cxnLst/>
              <a:rect l="l" t="t" r="r" b="b"/>
              <a:pathLst>
                <a:path w="1657350" h="9525">
                  <a:moveTo>
                    <a:pt x="0" y="0"/>
                  </a:moveTo>
                  <a:lnTo>
                    <a:pt x="1657350" y="0"/>
                  </a:lnTo>
                </a:path>
              </a:pathLst>
            </a:custGeom>
            <a:noFill/>
            <a:ln w="9525">
              <a:solidFill>
                <a:srgbClr val="F5DCDA"/>
              </a:solidFill>
            </a:ln>
          </p:spPr>
        </p:sp>
        <p:sp>
          <p:nvSpPr>
            <p:cNvPr id="274" name="Ellipse 274"/>
            <p:cNvSpPr/>
            <p:nvPr/>
          </p:nvSpPr>
          <p:spPr>
            <a:xfrm>
              <a:off x="10208895" y="4684395"/>
              <a:ext cx="41910" cy="41910"/>
            </a:xfrm>
            <a:prstGeom prst="ellipse">
              <a:avLst/>
            </a:prstGeom>
            <a:solidFill>
              <a:srgbClr val="D0442C"/>
            </a:solidFill>
            <a:ln>
              <a:noFill/>
            </a:ln>
          </p:spPr>
        </p:sp>
        <p:sp>
          <p:nvSpPr>
            <p:cNvPr id="275" name="TextBox 275"/>
            <p:cNvSpPr txBox="1"/>
            <p:nvPr/>
          </p:nvSpPr>
          <p:spPr>
            <a:xfrm>
              <a:off x="10320338" y="466653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关注存款结构优化，</a:t>
              </a:r>
              <a:br/>
              <a:r>
                <a:rPr lang="zh-CN" sz="710" dirty="0">
                  <a:solidFill>
                    <a:srgbClr val="70504A"/>
                  </a:solidFill>
                  <a:latin typeface="+mn-lt"/>
                  <a:ea typeface="+mn-ea"/>
                  <a:cs typeface="+mn-cs"/>
                </a:rPr>
                <a:t>提升低成本存款占比</a:t>
              </a:r>
            </a:p>
          </p:txBody>
        </p:sp>
        <p:sp>
          <p:nvSpPr>
            <p:cNvPr id="276" name="Ellipse 276"/>
            <p:cNvSpPr/>
            <p:nvPr/>
          </p:nvSpPr>
          <p:spPr>
            <a:xfrm>
              <a:off x="10208895" y="5122545"/>
              <a:ext cx="41910" cy="41910"/>
            </a:xfrm>
            <a:prstGeom prst="ellipse">
              <a:avLst/>
            </a:prstGeom>
            <a:solidFill>
              <a:srgbClr val="D0442C"/>
            </a:solidFill>
            <a:ln>
              <a:noFill/>
            </a:ln>
          </p:spPr>
        </p:sp>
        <p:sp>
          <p:nvSpPr>
            <p:cNvPr id="277" name="TextBox 277"/>
            <p:cNvSpPr txBox="1"/>
            <p:nvPr/>
          </p:nvSpPr>
          <p:spPr>
            <a:xfrm>
              <a:off x="10320338" y="5104686"/>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严控信贷风险，</a:t>
              </a:r>
              <a:br/>
              <a:r>
                <a:rPr lang="zh-CN" sz="710" dirty="0">
                  <a:solidFill>
                    <a:srgbClr val="70504A"/>
                  </a:solidFill>
                  <a:latin typeface="+mn-lt"/>
                  <a:ea typeface="+mn-ea"/>
                  <a:cs typeface="+mn-cs"/>
                </a:rPr>
                <a:t>守住资产质量底线</a:t>
              </a:r>
            </a:p>
          </p:txBody>
        </p:sp>
        <p:sp>
          <p:nvSpPr>
            <p:cNvPr id="278" name="Ellipse 278"/>
            <p:cNvSpPr/>
            <p:nvPr/>
          </p:nvSpPr>
          <p:spPr>
            <a:xfrm>
              <a:off x="10208895" y="5560695"/>
              <a:ext cx="41910" cy="41910"/>
            </a:xfrm>
            <a:prstGeom prst="ellipse">
              <a:avLst/>
            </a:prstGeom>
            <a:solidFill>
              <a:srgbClr val="D0442C"/>
            </a:solidFill>
            <a:ln>
              <a:noFill/>
            </a:ln>
          </p:spPr>
        </p:sp>
        <p:sp>
          <p:nvSpPr>
            <p:cNvPr id="279" name="TextBox 279"/>
            <p:cNvSpPr txBox="1"/>
            <p:nvPr/>
          </p:nvSpPr>
          <p:spPr>
            <a:xfrm>
              <a:off x="10320338" y="5542836"/>
              <a:ext cx="911225" cy="407194"/>
            </a:xfrm>
            <a:prstGeom prst="rect">
              <a:avLst/>
            </a:prstGeom>
            <a:noFill/>
            <a:ln>
              <a:noFill/>
            </a:ln>
          </p:spPr>
          <p:txBody>
            <a:bodyPr wrap="none" lIns="0" tIns="0" rIns="0" bIns="0" anchor="t" anchorCtr="0">
              <a:spAutoFit/>
            </a:bodyPr>
            <a:lstStyle/>
            <a:p>
              <a:pPr algn="l">
                <a:lnSpc>
                  <a:spcPts val="1050"/>
                </a:lnSpc>
              </a:pPr>
              <a:r>
                <a:rPr lang="zh-CN" sz="710" dirty="0">
                  <a:solidFill>
                    <a:srgbClr val="70504A"/>
                  </a:solidFill>
                  <a:latin typeface="+mn-lt"/>
                  <a:ea typeface="+mn-ea"/>
                  <a:cs typeface="+mn-cs"/>
                </a:rPr>
                <a:t>强化资源向重点区域、</a:t>
              </a:r>
              <a:br/>
              <a:r>
                <a:rPr lang="zh-CN" sz="710" dirty="0">
                  <a:solidFill>
                    <a:srgbClr val="70504A"/>
                  </a:solidFill>
                  <a:latin typeface="+mn-lt"/>
                  <a:ea typeface="+mn-ea"/>
                  <a:cs typeface="+mn-cs"/>
                </a:rPr>
                <a:t>重点客户、重点产品</a:t>
              </a:r>
              <a:br/>
              <a:r>
                <a:rPr lang="zh-CN" sz="710" dirty="0">
                  <a:solidFill>
                    <a:srgbClr val="70504A"/>
                  </a:solidFill>
                  <a:latin typeface="+mn-lt"/>
                  <a:ea typeface="+mn-ea"/>
                  <a:cs typeface="+mn-cs"/>
                </a:rPr>
                <a:t>倾斜</a:t>
              </a:r>
            </a:p>
          </p:txBody>
        </p:sp>
      </p:grpSp>
      <p:sp>
        <p:nvSpPr>
          <p:cNvPr id="281"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13 / 18 页​</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14​</a:t>
              </a:r>
            </a:p>
          </p:txBody>
        </p:sp>
        <p:sp>
          <p:nvSpPr>
            <p:cNvPr id="4" name="TextBox 4"/>
            <p:cNvSpPr txBox="1"/>
            <p:nvPr/>
          </p:nvSpPr>
          <p:spPr>
            <a:xfrm>
              <a:off x="1019175" y="169069"/>
              <a:ext cx="7105447"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深度融入区域发展大局，以重大项目和产业链金融扩大有效投放</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76" name="six-steps"/>
          <p:cNvGrpSpPr/>
          <p:nvPr/>
        </p:nvGrpSpPr>
        <p:grpSpPr>
          <a:xfrm>
            <a:off x="228600" y="685800"/>
            <a:ext cx="2143125" cy="3429000"/>
            <a:chOff x="228600" y="685800"/>
            <a:chExt cx="2143125" cy="3429000"/>
          </a:xfrm>
        </p:grpSpPr>
        <p:sp>
          <p:nvSpPr>
            <p:cNvPr id="9" name="Rectangle 9"/>
            <p:cNvSpPr/>
            <p:nvPr/>
          </p:nvSpPr>
          <p:spPr>
            <a:xfrm>
              <a:off x="228600" y="685800"/>
              <a:ext cx="2143125" cy="3429000"/>
            </a:xfrm>
            <a:prstGeom prst="roundRect">
              <a:avLst>
                <a:gd name="adj" fmla="val 2667"/>
              </a:avLst>
            </a:prstGeom>
            <a:solidFill>
              <a:srgbClr val="FFFFFF"/>
            </a:solidFill>
            <a:ln w="9525">
              <a:solidFill>
                <a:srgbClr val="C9D6E9"/>
              </a:solidFill>
            </a:ln>
          </p:spPr>
        </p:sp>
        <p:sp>
          <p:nvSpPr>
            <p:cNvPr id="10" name="Rectangle 10"/>
            <p:cNvSpPr/>
            <p:nvPr/>
          </p:nvSpPr>
          <p:spPr>
            <a:xfrm>
              <a:off x="228600" y="685800"/>
              <a:ext cx="2143125" cy="209550"/>
            </a:xfrm>
            <a:prstGeom prst="roundRect">
              <a:avLst>
                <a:gd name="adj" fmla="val 27273"/>
              </a:avLst>
            </a:prstGeom>
            <a:solidFill>
              <a:srgbClr val="69281B"/>
            </a:solidFill>
            <a:ln>
              <a:noFill/>
            </a:ln>
          </p:spPr>
        </p:sp>
        <p:sp>
          <p:nvSpPr>
            <p:cNvPr id="11" name="Rectangle 11"/>
            <p:cNvSpPr/>
            <p:nvPr/>
          </p:nvSpPr>
          <p:spPr>
            <a:xfrm>
              <a:off x="228600" y="800100"/>
              <a:ext cx="2143125" cy="95250"/>
            </a:xfrm>
            <a:prstGeom prst="rect">
              <a:avLst/>
            </a:prstGeom>
            <a:solidFill>
              <a:srgbClr val="69281B"/>
            </a:solidFill>
            <a:ln>
              <a:noFill/>
            </a:ln>
          </p:spPr>
        </p:sp>
        <p:sp>
          <p:nvSpPr>
            <p:cNvPr id="12" name="TextBox 12"/>
            <p:cNvSpPr txBox="1"/>
            <p:nvPr/>
          </p:nvSpPr>
          <p:spPr>
            <a:xfrm>
              <a:off x="573113" y="739616"/>
              <a:ext cx="14445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项目名单制闭环（六步流程）</a:t>
              </a:r>
            </a:p>
          </p:txBody>
        </p:sp>
        <p:sp>
          <p:nvSpPr>
            <p:cNvPr id="13" name="Line 13"/>
            <p:cNvSpPr/>
            <p:nvPr/>
          </p:nvSpPr>
          <p:spPr>
            <a:xfrm>
              <a:off x="400050" y="1162050"/>
              <a:ext cx="9525" cy="2286000"/>
            </a:xfrm>
            <a:custGeom>
              <a:avLst/>
              <a:gdLst/>
              <a:ahLst/>
              <a:cxnLst/>
              <a:rect l="l" t="t" r="r" b="b"/>
              <a:pathLst>
                <a:path w="9525" h="2286000">
                  <a:moveTo>
                    <a:pt x="0" y="0"/>
                  </a:moveTo>
                  <a:lnTo>
                    <a:pt x="0" y="2286000"/>
                  </a:lnTo>
                </a:path>
              </a:pathLst>
            </a:custGeom>
            <a:noFill/>
            <a:ln w="11430">
              <a:solidFill>
                <a:srgbClr val="C9D6E9"/>
              </a:solidFill>
              <a:custDash>
                <a:ds d="250000" sp="250000"/>
              </a:custDash>
            </a:ln>
          </p:spPr>
        </p:sp>
        <p:sp>
          <p:nvSpPr>
            <p:cNvPr id="14" name="Ellipse 14"/>
            <p:cNvSpPr/>
            <p:nvPr/>
          </p:nvSpPr>
          <p:spPr>
            <a:xfrm>
              <a:off x="314325" y="981075"/>
              <a:ext cx="171450" cy="171450"/>
            </a:xfrm>
            <a:prstGeom prst="ellipse">
              <a:avLst/>
            </a:prstGeom>
            <a:solidFill>
              <a:srgbClr val="69281B"/>
            </a:solidFill>
            <a:ln>
              <a:noFill/>
            </a:ln>
          </p:spPr>
        </p:sp>
        <p:sp>
          <p:nvSpPr>
            <p:cNvPr id="15" name="TextBox 15"/>
            <p:cNvSpPr txBox="1"/>
            <p:nvPr/>
          </p:nvSpPr>
          <p:spPr>
            <a:xfrm>
              <a:off x="342422" y="1027271"/>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grpSp>
          <p:nvGrpSpPr>
            <p:cNvPr id="22" name="Group 22"/>
            <p:cNvGrpSpPr/>
            <p:nvPr/>
          </p:nvGrpSpPr>
          <p:grpSpPr>
            <a:xfrm>
              <a:off x="574675" y="1019175"/>
              <a:ext cx="104775" cy="95250"/>
              <a:chOff x="574675" y="1019175"/>
              <a:chExt cx="104775" cy="95250"/>
            </a:xfrm>
          </p:grpSpPr>
          <p:sp>
            <p:nvSpPr>
              <p:cNvPr id="16" name="Freeform 16"/>
              <p:cNvSpPr/>
              <p:nvPr/>
            </p:nvSpPr>
            <p:spPr>
              <a:xfrm>
                <a:off x="574675" y="1019175"/>
                <a:ext cx="25400" cy="15875"/>
              </a:xfrm>
              <a:custGeom>
                <a:avLst/>
                <a:gdLst/>
                <a:ahLst/>
                <a:cxnLst/>
                <a:rect l="l" t="t" r="r" b="b"/>
                <a:pathLst>
                  <a:path w="25400" h="15875">
                    <a:moveTo>
                      <a:pt x="0" y="6350"/>
                    </a:moveTo>
                    <a:lnTo>
                      <a:pt x="9525" y="15875"/>
                    </a:lnTo>
                    <a:lnTo>
                      <a:pt x="25400" y="0"/>
                    </a:lnTo>
                  </a:path>
                </a:pathLst>
              </a:custGeom>
              <a:noFill/>
              <a:ln w="12700">
                <a:solidFill>
                  <a:srgbClr val="E04C2E"/>
                </a:solidFill>
              </a:ln>
            </p:spPr>
          </p:sp>
          <p:sp>
            <p:nvSpPr>
              <p:cNvPr id="17" name="Freeform 17"/>
              <p:cNvSpPr/>
              <p:nvPr/>
            </p:nvSpPr>
            <p:spPr>
              <a:xfrm>
                <a:off x="574675" y="1057275"/>
                <a:ext cx="25400" cy="15875"/>
              </a:xfrm>
              <a:custGeom>
                <a:avLst/>
                <a:gdLst/>
                <a:ahLst/>
                <a:cxnLst/>
                <a:rect l="l" t="t" r="r" b="b"/>
                <a:pathLst>
                  <a:path w="25400" h="15875">
                    <a:moveTo>
                      <a:pt x="0" y="6350"/>
                    </a:moveTo>
                    <a:lnTo>
                      <a:pt x="9525" y="15875"/>
                    </a:lnTo>
                    <a:lnTo>
                      <a:pt x="25400" y="0"/>
                    </a:lnTo>
                  </a:path>
                </a:pathLst>
              </a:custGeom>
              <a:noFill/>
              <a:ln w="12700">
                <a:solidFill>
                  <a:srgbClr val="E04C2E"/>
                </a:solidFill>
              </a:ln>
            </p:spPr>
          </p:sp>
          <p:sp>
            <p:nvSpPr>
              <p:cNvPr id="18" name="Freeform 18"/>
              <p:cNvSpPr/>
              <p:nvPr/>
            </p:nvSpPr>
            <p:spPr>
              <a:xfrm>
                <a:off x="574675" y="1095375"/>
                <a:ext cx="25400" cy="15875"/>
              </a:xfrm>
              <a:custGeom>
                <a:avLst/>
                <a:gdLst/>
                <a:ahLst/>
                <a:cxnLst/>
                <a:rect l="l" t="t" r="r" b="b"/>
                <a:pathLst>
                  <a:path w="25400" h="15875">
                    <a:moveTo>
                      <a:pt x="0" y="6350"/>
                    </a:moveTo>
                    <a:lnTo>
                      <a:pt x="9525" y="15875"/>
                    </a:lnTo>
                    <a:lnTo>
                      <a:pt x="25400" y="0"/>
                    </a:lnTo>
                  </a:path>
                </a:pathLst>
              </a:custGeom>
              <a:noFill/>
              <a:ln w="12700">
                <a:solidFill>
                  <a:srgbClr val="E04C2E"/>
                </a:solidFill>
              </a:ln>
            </p:spPr>
          </p:sp>
          <p:sp>
            <p:nvSpPr>
              <p:cNvPr id="19" name="Freeform 19"/>
              <p:cNvSpPr/>
              <p:nvPr/>
            </p:nvSpPr>
            <p:spPr>
              <a:xfrm>
                <a:off x="622300" y="1028700"/>
                <a:ext cx="57150" cy="9525"/>
              </a:xfrm>
              <a:custGeom>
                <a:avLst/>
                <a:gdLst/>
                <a:ahLst/>
                <a:cxnLst/>
                <a:rect l="l" t="t" r="r" b="b"/>
                <a:pathLst>
                  <a:path w="57150" h="9525">
                    <a:moveTo>
                      <a:pt x="0" y="0"/>
                    </a:moveTo>
                    <a:lnTo>
                      <a:pt x="57150" y="0"/>
                    </a:lnTo>
                  </a:path>
                </a:pathLst>
              </a:custGeom>
              <a:noFill/>
              <a:ln w="12700">
                <a:solidFill>
                  <a:srgbClr val="E04C2E"/>
                </a:solidFill>
              </a:ln>
            </p:spPr>
          </p:sp>
          <p:sp>
            <p:nvSpPr>
              <p:cNvPr id="20" name="Freeform 20"/>
              <p:cNvSpPr/>
              <p:nvPr/>
            </p:nvSpPr>
            <p:spPr>
              <a:xfrm>
                <a:off x="622300" y="1066800"/>
                <a:ext cx="57150" cy="9525"/>
              </a:xfrm>
              <a:custGeom>
                <a:avLst/>
                <a:gdLst/>
                <a:ahLst/>
                <a:cxnLst/>
                <a:rect l="l" t="t" r="r" b="b"/>
                <a:pathLst>
                  <a:path w="57150" h="9525">
                    <a:moveTo>
                      <a:pt x="0" y="0"/>
                    </a:moveTo>
                    <a:lnTo>
                      <a:pt x="57150" y="0"/>
                    </a:lnTo>
                  </a:path>
                </a:pathLst>
              </a:custGeom>
              <a:noFill/>
              <a:ln w="12700">
                <a:solidFill>
                  <a:srgbClr val="E04C2E"/>
                </a:solidFill>
              </a:ln>
            </p:spPr>
          </p:sp>
          <p:sp>
            <p:nvSpPr>
              <p:cNvPr id="21" name="Freeform 21"/>
              <p:cNvSpPr/>
              <p:nvPr/>
            </p:nvSpPr>
            <p:spPr>
              <a:xfrm>
                <a:off x="622300" y="1104900"/>
                <a:ext cx="57150" cy="9525"/>
              </a:xfrm>
              <a:custGeom>
                <a:avLst/>
                <a:gdLst/>
                <a:ahLst/>
                <a:cxnLst/>
                <a:rect l="l" t="t" r="r" b="b"/>
                <a:pathLst>
                  <a:path w="57150" h="9525">
                    <a:moveTo>
                      <a:pt x="0" y="0"/>
                    </a:moveTo>
                    <a:lnTo>
                      <a:pt x="57150" y="0"/>
                    </a:lnTo>
                  </a:path>
                </a:pathLst>
              </a:custGeom>
              <a:noFill/>
              <a:ln w="12700">
                <a:solidFill>
                  <a:srgbClr val="E04C2E"/>
                </a:solidFill>
              </a:ln>
            </p:spPr>
          </p:sp>
        </p:grpSp>
        <p:sp>
          <p:nvSpPr>
            <p:cNvPr id="23" name="TextBox 23"/>
            <p:cNvSpPr txBox="1"/>
            <p:nvPr/>
          </p:nvSpPr>
          <p:spPr>
            <a:xfrm>
              <a:off x="757238" y="9858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清单获取</a:t>
              </a:r>
            </a:p>
          </p:txBody>
        </p:sp>
        <p:sp>
          <p:nvSpPr>
            <p:cNvPr id="24" name="TextBox 24"/>
            <p:cNvSpPr txBox="1"/>
            <p:nvPr/>
          </p:nvSpPr>
          <p:spPr>
            <a:xfrm>
              <a:off x="757238" y="1129903"/>
              <a:ext cx="875157" cy="207169"/>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60" dirty="0">
                  <a:solidFill>
                    <a:srgbClr val="70504A"/>
                  </a:solidFill>
                  <a:latin typeface="+mn-lt"/>
                  <a:ea typeface="+mn-ea"/>
                  <a:cs typeface="+mn-cs"/>
                </a:rPr>
                <a:t>政府/园区/平台定期推送</a:t>
              </a:r>
            </a:p>
            <a:p>
              <a:pPr algn="l" marL="76200" indent="-76200">
                <a:lnSpc>
                  <a:spcPts val="750"/>
                </a:lnSpc>
                <a:buClr>
                  <a:srgbClr val="70504A"/>
                </a:buClr>
                <a:buSzTx/>
                <a:buFontTx/>
                <a:buChar char="•"/>
              </a:pPr>
              <a:r>
                <a:rPr lang="zh-CN" sz="560" dirty="0">
                  <a:solidFill>
                    <a:srgbClr val="70504A"/>
                  </a:solidFill>
                  <a:latin typeface="+mn-lt"/>
                  <a:ea typeface="+mn-ea"/>
                  <a:cs typeface="+mn-cs"/>
                </a:rPr>
                <a:t>行业协会、链主企业推荐</a:t>
              </a:r>
            </a:p>
          </p:txBody>
        </p:sp>
        <p:sp>
          <p:nvSpPr>
            <p:cNvPr id="25" name="Ellipse 25"/>
            <p:cNvSpPr/>
            <p:nvPr/>
          </p:nvSpPr>
          <p:spPr>
            <a:xfrm>
              <a:off x="314325" y="1457325"/>
              <a:ext cx="171450" cy="171450"/>
            </a:xfrm>
            <a:prstGeom prst="ellipse">
              <a:avLst/>
            </a:prstGeom>
            <a:solidFill>
              <a:srgbClr val="69281B"/>
            </a:solidFill>
            <a:ln>
              <a:noFill/>
            </a:ln>
          </p:spPr>
        </p:sp>
        <p:sp>
          <p:nvSpPr>
            <p:cNvPr id="26" name="TextBox 26"/>
            <p:cNvSpPr txBox="1"/>
            <p:nvPr/>
          </p:nvSpPr>
          <p:spPr>
            <a:xfrm>
              <a:off x="342422" y="1503521"/>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sp>
          <p:nvSpPr>
            <p:cNvPr id="27" name="Freeform 27"/>
            <p:cNvSpPr/>
            <p:nvPr/>
          </p:nvSpPr>
          <p:spPr>
            <a:xfrm>
              <a:off x="577850" y="1492250"/>
              <a:ext cx="101600" cy="107950"/>
            </a:xfrm>
            <a:custGeom>
              <a:avLst/>
              <a:gdLst/>
              <a:ahLst/>
              <a:cxnLst/>
              <a:rect l="l" t="t" r="r" b="b"/>
              <a:pathLst>
                <a:path w="101600" h="107950">
                  <a:moveTo>
                    <a:pt x="0" y="0"/>
                  </a:moveTo>
                  <a:lnTo>
                    <a:pt x="101600" y="0"/>
                  </a:lnTo>
                  <a:lnTo>
                    <a:pt x="101600" y="13792"/>
                  </a:lnTo>
                  <a:cubicBezTo>
                    <a:pt x="101599" y="17160"/>
                    <a:pt x="100261" y="20390"/>
                    <a:pt x="97879" y="22771"/>
                  </a:cubicBezTo>
                  <a:lnTo>
                    <a:pt x="69850" y="50800"/>
                  </a:lnTo>
                  <a:lnTo>
                    <a:pt x="69850" y="95250"/>
                  </a:lnTo>
                  <a:lnTo>
                    <a:pt x="31750" y="107950"/>
                  </a:lnTo>
                  <a:lnTo>
                    <a:pt x="31750" y="53975"/>
                  </a:lnTo>
                  <a:lnTo>
                    <a:pt x="3302" y="22682"/>
                  </a:lnTo>
                  <a:cubicBezTo>
                    <a:pt x="1178" y="20345"/>
                    <a:pt x="0" y="17300"/>
                    <a:pt x="0" y="14141"/>
                  </a:cubicBezTo>
                  <a:lnTo>
                    <a:pt x="0" y="0"/>
                  </a:lnTo>
                </a:path>
              </a:pathLst>
            </a:custGeom>
            <a:noFill/>
            <a:ln w="12700">
              <a:solidFill>
                <a:srgbClr val="E04C2E"/>
              </a:solidFill>
            </a:ln>
          </p:spPr>
        </p:sp>
        <p:sp>
          <p:nvSpPr>
            <p:cNvPr id="28" name="TextBox 28"/>
            <p:cNvSpPr txBox="1"/>
            <p:nvPr/>
          </p:nvSpPr>
          <p:spPr>
            <a:xfrm>
              <a:off x="757238" y="146208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分层筛选</a:t>
              </a:r>
            </a:p>
          </p:txBody>
        </p:sp>
        <p:sp>
          <p:nvSpPr>
            <p:cNvPr id="29" name="TextBox 29"/>
            <p:cNvSpPr txBox="1"/>
            <p:nvPr/>
          </p:nvSpPr>
          <p:spPr>
            <a:xfrm>
              <a:off x="757238" y="1606153"/>
              <a:ext cx="1376553" cy="207169"/>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60" dirty="0">
                  <a:solidFill>
                    <a:srgbClr val="70504A"/>
                  </a:solidFill>
                  <a:latin typeface="+mn-lt"/>
                  <a:ea typeface="+mn-ea"/>
                  <a:cs typeface="+mn-cs"/>
                </a:rPr>
                <a:t>产业政策匹配度 · 经济效益与财务可行性</a:t>
              </a:r>
            </a:p>
            <a:p>
              <a:pPr algn="l" marL="76200" indent="-76200">
                <a:lnSpc>
                  <a:spcPts val="750"/>
                </a:lnSpc>
                <a:buClr>
                  <a:srgbClr val="70504A"/>
                </a:buClr>
                <a:buSzTx/>
                <a:buFontTx/>
                <a:buChar char="•"/>
              </a:pPr>
              <a:r>
                <a:rPr lang="zh-CN" sz="560" dirty="0">
                  <a:solidFill>
                    <a:srgbClr val="70504A"/>
                  </a:solidFill>
                  <a:latin typeface="+mn-lt"/>
                  <a:ea typeface="+mn-ea"/>
                  <a:cs typeface="+mn-cs"/>
                </a:rPr>
                <a:t>风险评级与准入把控</a:t>
              </a:r>
            </a:p>
          </p:txBody>
        </p:sp>
        <p:sp>
          <p:nvSpPr>
            <p:cNvPr id="30" name="Ellipse 30"/>
            <p:cNvSpPr/>
            <p:nvPr/>
          </p:nvSpPr>
          <p:spPr>
            <a:xfrm>
              <a:off x="314325" y="1933575"/>
              <a:ext cx="171450" cy="171450"/>
            </a:xfrm>
            <a:prstGeom prst="ellipse">
              <a:avLst/>
            </a:prstGeom>
            <a:solidFill>
              <a:srgbClr val="69281B"/>
            </a:solidFill>
            <a:ln>
              <a:noFill/>
            </a:ln>
          </p:spPr>
        </p:sp>
        <p:sp>
          <p:nvSpPr>
            <p:cNvPr id="31" name="TextBox 31"/>
            <p:cNvSpPr txBox="1"/>
            <p:nvPr/>
          </p:nvSpPr>
          <p:spPr>
            <a:xfrm>
              <a:off x="342422" y="1979771"/>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grpSp>
          <p:nvGrpSpPr>
            <p:cNvPr id="38" name="Group 38"/>
            <p:cNvGrpSpPr/>
            <p:nvPr/>
          </p:nvGrpSpPr>
          <p:grpSpPr>
            <a:xfrm>
              <a:off x="571500" y="1962150"/>
              <a:ext cx="114300" cy="114300"/>
              <a:chOff x="571500" y="1962150"/>
              <a:chExt cx="114300" cy="114300"/>
            </a:xfrm>
          </p:grpSpPr>
          <p:sp>
            <p:nvSpPr>
              <p:cNvPr id="32" name="Freeform 32"/>
              <p:cNvSpPr/>
              <p:nvPr/>
            </p:nvSpPr>
            <p:spPr>
              <a:xfrm>
                <a:off x="615950" y="20129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E04C2E"/>
                </a:solidFill>
              </a:ln>
            </p:spPr>
          </p:sp>
          <p:sp>
            <p:nvSpPr>
              <p:cNvPr id="33" name="Freeform 33"/>
              <p:cNvSpPr/>
              <p:nvPr/>
            </p:nvSpPr>
            <p:spPr>
              <a:xfrm>
                <a:off x="603250" y="20574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E04C2E"/>
                </a:solidFill>
              </a:ln>
            </p:spPr>
          </p:sp>
          <p:sp>
            <p:nvSpPr>
              <p:cNvPr id="34" name="Freeform 34"/>
              <p:cNvSpPr/>
              <p:nvPr/>
            </p:nvSpPr>
            <p:spPr>
              <a:xfrm>
                <a:off x="647700" y="19621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E04C2E"/>
                </a:solidFill>
              </a:ln>
            </p:spPr>
          </p:sp>
          <p:sp>
            <p:nvSpPr>
              <p:cNvPr id="35" name="Freeform 35"/>
              <p:cNvSpPr/>
              <p:nvPr/>
            </p:nvSpPr>
            <p:spPr>
              <a:xfrm>
                <a:off x="660400" y="20066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E04C2E"/>
                </a:solidFill>
              </a:ln>
            </p:spPr>
          </p:sp>
          <p:sp>
            <p:nvSpPr>
              <p:cNvPr id="36" name="Freeform 36"/>
              <p:cNvSpPr/>
              <p:nvPr/>
            </p:nvSpPr>
            <p:spPr>
              <a:xfrm>
                <a:off x="584200" y="19621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E04C2E"/>
                </a:solidFill>
              </a:ln>
            </p:spPr>
          </p:sp>
          <p:sp>
            <p:nvSpPr>
              <p:cNvPr id="37" name="Freeform 37"/>
              <p:cNvSpPr/>
              <p:nvPr/>
            </p:nvSpPr>
            <p:spPr>
              <a:xfrm>
                <a:off x="571500" y="20066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E04C2E"/>
                </a:solidFill>
              </a:ln>
            </p:spPr>
          </p:sp>
        </p:grpSp>
        <p:sp>
          <p:nvSpPr>
            <p:cNvPr id="39" name="TextBox 39"/>
            <p:cNvSpPr txBox="1"/>
            <p:nvPr/>
          </p:nvSpPr>
          <p:spPr>
            <a:xfrm>
              <a:off x="757238" y="19383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专班对接</a:t>
              </a:r>
            </a:p>
          </p:txBody>
        </p:sp>
        <p:sp>
          <p:nvSpPr>
            <p:cNvPr id="40" name="TextBox 40"/>
            <p:cNvSpPr txBox="1"/>
            <p:nvPr/>
          </p:nvSpPr>
          <p:spPr>
            <a:xfrm>
              <a:off x="757238" y="2082403"/>
              <a:ext cx="868045" cy="207169"/>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60" dirty="0">
                  <a:solidFill>
                    <a:srgbClr val="70504A"/>
                  </a:solidFill>
                  <a:latin typeface="+mn-lt"/>
                  <a:ea typeface="+mn-ea"/>
                  <a:cs typeface="+mn-cs"/>
                </a:rPr>
                <a:t>成立项目专班一对一跟进</a:t>
              </a:r>
            </a:p>
            <a:p>
              <a:pPr algn="l" marL="76200" indent="-76200">
                <a:lnSpc>
                  <a:spcPts val="750"/>
                </a:lnSpc>
                <a:buClr>
                  <a:srgbClr val="70504A"/>
                </a:buClr>
                <a:buSzTx/>
                <a:buFontTx/>
                <a:buChar char="•"/>
              </a:pPr>
              <a:r>
                <a:rPr lang="zh-CN" sz="560" dirty="0">
                  <a:solidFill>
                    <a:srgbClr val="70504A"/>
                  </a:solidFill>
                  <a:latin typeface="+mn-lt"/>
                  <a:ea typeface="+mn-ea"/>
                  <a:cs typeface="+mn-cs"/>
                </a:rPr>
                <a:t>主动上门、现场尽调</a:t>
              </a:r>
            </a:p>
          </p:txBody>
        </p:sp>
        <p:sp>
          <p:nvSpPr>
            <p:cNvPr id="41" name="Ellipse 41"/>
            <p:cNvSpPr/>
            <p:nvPr/>
          </p:nvSpPr>
          <p:spPr>
            <a:xfrm>
              <a:off x="314325" y="2409825"/>
              <a:ext cx="171450" cy="171450"/>
            </a:xfrm>
            <a:prstGeom prst="ellipse">
              <a:avLst/>
            </a:prstGeom>
            <a:solidFill>
              <a:srgbClr val="69281B"/>
            </a:solidFill>
            <a:ln>
              <a:noFill/>
            </a:ln>
          </p:spPr>
        </p:sp>
        <p:sp>
          <p:nvSpPr>
            <p:cNvPr id="42" name="TextBox 42"/>
            <p:cNvSpPr txBox="1"/>
            <p:nvPr/>
          </p:nvSpPr>
          <p:spPr>
            <a:xfrm>
              <a:off x="342422" y="2456021"/>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grpSp>
          <p:nvGrpSpPr>
            <p:cNvPr id="48" name="Group 48"/>
            <p:cNvGrpSpPr/>
            <p:nvPr/>
          </p:nvGrpSpPr>
          <p:grpSpPr>
            <a:xfrm>
              <a:off x="584200" y="2438400"/>
              <a:ext cx="88900" cy="114300"/>
              <a:chOff x="584200" y="2438400"/>
              <a:chExt cx="88900" cy="114300"/>
            </a:xfrm>
          </p:grpSpPr>
          <p:sp>
            <p:nvSpPr>
              <p:cNvPr id="43" name="Freeform 43"/>
              <p:cNvSpPr/>
              <p:nvPr/>
            </p:nvSpPr>
            <p:spPr>
              <a:xfrm>
                <a:off x="641350" y="24384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E04C2E"/>
                </a:solidFill>
              </a:ln>
            </p:spPr>
          </p:sp>
          <p:sp>
            <p:nvSpPr>
              <p:cNvPr id="44" name="Freeform 44"/>
              <p:cNvSpPr/>
              <p:nvPr/>
            </p:nvSpPr>
            <p:spPr>
              <a:xfrm>
                <a:off x="584200" y="24384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E04C2E"/>
                </a:solidFill>
              </a:ln>
            </p:spPr>
          </p:sp>
          <p:sp>
            <p:nvSpPr>
              <p:cNvPr id="45" name="Freeform 45"/>
              <p:cNvSpPr/>
              <p:nvPr/>
            </p:nvSpPr>
            <p:spPr>
              <a:xfrm>
                <a:off x="609600" y="2476500"/>
                <a:ext cx="9525" cy="9525"/>
              </a:xfrm>
              <a:custGeom>
                <a:avLst/>
                <a:gdLst/>
                <a:ahLst/>
                <a:cxnLst/>
                <a:rect l="l" t="t" r="r" b="b"/>
                <a:pathLst>
                  <a:path w="9525" h="9525">
                    <a:moveTo>
                      <a:pt x="0" y="0"/>
                    </a:moveTo>
                    <a:lnTo>
                      <a:pt x="6350" y="0"/>
                    </a:lnTo>
                  </a:path>
                </a:pathLst>
              </a:custGeom>
              <a:noFill/>
              <a:ln w="12700">
                <a:solidFill>
                  <a:srgbClr val="E04C2E"/>
                </a:solidFill>
              </a:ln>
            </p:spPr>
          </p:sp>
          <p:sp>
            <p:nvSpPr>
              <p:cNvPr id="46" name="Freeform 46"/>
              <p:cNvSpPr/>
              <p:nvPr/>
            </p:nvSpPr>
            <p:spPr>
              <a:xfrm>
                <a:off x="609600" y="2501900"/>
                <a:ext cx="38100" cy="9525"/>
              </a:xfrm>
              <a:custGeom>
                <a:avLst/>
                <a:gdLst/>
                <a:ahLst/>
                <a:cxnLst/>
                <a:rect l="l" t="t" r="r" b="b"/>
                <a:pathLst>
                  <a:path w="38100" h="9525">
                    <a:moveTo>
                      <a:pt x="0" y="0"/>
                    </a:moveTo>
                    <a:lnTo>
                      <a:pt x="38100" y="0"/>
                    </a:lnTo>
                  </a:path>
                </a:pathLst>
              </a:custGeom>
              <a:noFill/>
              <a:ln w="12700">
                <a:solidFill>
                  <a:srgbClr val="E04C2E"/>
                </a:solidFill>
              </a:ln>
            </p:spPr>
          </p:sp>
          <p:sp>
            <p:nvSpPr>
              <p:cNvPr id="47" name="Freeform 47"/>
              <p:cNvSpPr/>
              <p:nvPr/>
            </p:nvSpPr>
            <p:spPr>
              <a:xfrm>
                <a:off x="609600" y="2527300"/>
                <a:ext cx="38100" cy="9525"/>
              </a:xfrm>
              <a:custGeom>
                <a:avLst/>
                <a:gdLst/>
                <a:ahLst/>
                <a:cxnLst/>
                <a:rect l="l" t="t" r="r" b="b"/>
                <a:pathLst>
                  <a:path w="38100" h="9525">
                    <a:moveTo>
                      <a:pt x="0" y="0"/>
                    </a:moveTo>
                    <a:lnTo>
                      <a:pt x="38100" y="0"/>
                    </a:lnTo>
                  </a:path>
                </a:pathLst>
              </a:custGeom>
              <a:noFill/>
              <a:ln w="12700">
                <a:solidFill>
                  <a:srgbClr val="E04C2E"/>
                </a:solidFill>
              </a:ln>
            </p:spPr>
          </p:sp>
        </p:grpSp>
        <p:sp>
          <p:nvSpPr>
            <p:cNvPr id="49" name="TextBox 49"/>
            <p:cNvSpPr txBox="1"/>
            <p:nvPr/>
          </p:nvSpPr>
          <p:spPr>
            <a:xfrm>
              <a:off x="757238" y="241458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方案设计</a:t>
              </a:r>
            </a:p>
          </p:txBody>
        </p:sp>
        <p:sp>
          <p:nvSpPr>
            <p:cNvPr id="50" name="TextBox 50"/>
            <p:cNvSpPr txBox="1"/>
            <p:nvPr/>
          </p:nvSpPr>
          <p:spPr>
            <a:xfrm>
              <a:off x="757238" y="2558653"/>
              <a:ext cx="764921" cy="207169"/>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60" dirty="0">
                  <a:solidFill>
                    <a:srgbClr val="70504A"/>
                  </a:solidFill>
                  <a:latin typeface="+mn-lt"/>
                  <a:ea typeface="+mn-ea"/>
                  <a:cs typeface="+mn-cs"/>
                </a:rPr>
                <a:t>综合金融方案定制</a:t>
              </a:r>
            </a:p>
            <a:p>
              <a:pPr algn="l" marL="76200" indent="-76200">
                <a:lnSpc>
                  <a:spcPts val="750"/>
                </a:lnSpc>
                <a:buClr>
                  <a:srgbClr val="70504A"/>
                </a:buClr>
                <a:buSzTx/>
                <a:buFontTx/>
                <a:buChar char="•"/>
              </a:pPr>
              <a:r>
                <a:rPr lang="zh-CN" sz="560" dirty="0">
                  <a:solidFill>
                    <a:srgbClr val="70504A"/>
                  </a:solidFill>
                  <a:latin typeface="+mn-lt"/>
                  <a:ea typeface="+mn-ea"/>
                  <a:cs typeface="+mn-cs"/>
                </a:rPr>
                <a:t>产业链融资+综合服务</a:t>
              </a:r>
            </a:p>
          </p:txBody>
        </p:sp>
        <p:sp>
          <p:nvSpPr>
            <p:cNvPr id="51" name="Ellipse 51"/>
            <p:cNvSpPr/>
            <p:nvPr/>
          </p:nvSpPr>
          <p:spPr>
            <a:xfrm>
              <a:off x="314325" y="2886075"/>
              <a:ext cx="171450" cy="171450"/>
            </a:xfrm>
            <a:prstGeom prst="ellipse">
              <a:avLst/>
            </a:prstGeom>
            <a:solidFill>
              <a:srgbClr val="69281B"/>
            </a:solidFill>
            <a:ln>
              <a:noFill/>
            </a:ln>
          </p:spPr>
        </p:sp>
        <p:sp>
          <p:nvSpPr>
            <p:cNvPr id="52" name="TextBox 52"/>
            <p:cNvSpPr txBox="1"/>
            <p:nvPr/>
          </p:nvSpPr>
          <p:spPr>
            <a:xfrm>
              <a:off x="342422" y="2932271"/>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5​</a:t>
              </a:r>
            </a:p>
          </p:txBody>
        </p:sp>
        <p:grpSp>
          <p:nvGrpSpPr>
            <p:cNvPr id="61" name="Group 61"/>
            <p:cNvGrpSpPr/>
            <p:nvPr/>
          </p:nvGrpSpPr>
          <p:grpSpPr>
            <a:xfrm>
              <a:off x="571500" y="2914650"/>
              <a:ext cx="117475" cy="123825"/>
              <a:chOff x="571500" y="2914650"/>
              <a:chExt cx="117475" cy="123825"/>
            </a:xfrm>
          </p:grpSpPr>
          <p:sp>
            <p:nvSpPr>
              <p:cNvPr id="53" name="Freeform 53"/>
              <p:cNvSpPr/>
              <p:nvPr/>
            </p:nvSpPr>
            <p:spPr>
              <a:xfrm>
                <a:off x="571500" y="3028950"/>
                <a:ext cx="114300" cy="9525"/>
              </a:xfrm>
              <a:custGeom>
                <a:avLst/>
                <a:gdLst/>
                <a:ahLst/>
                <a:cxnLst/>
                <a:rect l="l" t="t" r="r" b="b"/>
                <a:pathLst>
                  <a:path w="114300" h="9525">
                    <a:moveTo>
                      <a:pt x="0" y="0"/>
                    </a:moveTo>
                    <a:lnTo>
                      <a:pt x="114300" y="0"/>
                    </a:lnTo>
                  </a:path>
                </a:pathLst>
              </a:custGeom>
              <a:noFill/>
              <a:ln w="12700">
                <a:solidFill>
                  <a:srgbClr val="E04C2E"/>
                </a:solidFill>
              </a:ln>
            </p:spPr>
          </p:sp>
          <p:sp>
            <p:nvSpPr>
              <p:cNvPr id="54" name="Freeform 54"/>
              <p:cNvSpPr/>
              <p:nvPr/>
            </p:nvSpPr>
            <p:spPr>
              <a:xfrm>
                <a:off x="571500" y="2959100"/>
                <a:ext cx="114300" cy="9525"/>
              </a:xfrm>
              <a:custGeom>
                <a:avLst/>
                <a:gdLst/>
                <a:ahLst/>
                <a:cxnLst/>
                <a:rect l="l" t="t" r="r" b="b"/>
                <a:pathLst>
                  <a:path w="114300" h="9525">
                    <a:moveTo>
                      <a:pt x="0" y="0"/>
                    </a:moveTo>
                    <a:lnTo>
                      <a:pt x="114300" y="0"/>
                    </a:lnTo>
                  </a:path>
                </a:pathLst>
              </a:custGeom>
              <a:noFill/>
              <a:ln w="12700">
                <a:solidFill>
                  <a:srgbClr val="E04C2E"/>
                </a:solidFill>
              </a:ln>
            </p:spPr>
          </p:sp>
          <p:sp>
            <p:nvSpPr>
              <p:cNvPr id="55" name="Freeform 55"/>
              <p:cNvSpPr/>
              <p:nvPr/>
            </p:nvSpPr>
            <p:spPr>
              <a:xfrm>
                <a:off x="584200" y="2914650"/>
                <a:ext cx="88900" cy="19050"/>
              </a:xfrm>
              <a:custGeom>
                <a:avLst/>
                <a:gdLst/>
                <a:ahLst/>
                <a:cxnLst/>
                <a:rect l="l" t="t" r="r" b="b"/>
                <a:pathLst>
                  <a:path w="88900" h="19050">
                    <a:moveTo>
                      <a:pt x="0" y="19050"/>
                    </a:moveTo>
                    <a:lnTo>
                      <a:pt x="44450" y="0"/>
                    </a:lnTo>
                    <a:lnTo>
                      <a:pt x="88900" y="19050"/>
                    </a:lnTo>
                  </a:path>
                </a:pathLst>
              </a:custGeom>
              <a:noFill/>
              <a:ln w="12700">
                <a:solidFill>
                  <a:srgbClr val="E04C2E"/>
                </a:solidFill>
              </a:ln>
            </p:spPr>
          </p:sp>
          <p:sp>
            <p:nvSpPr>
              <p:cNvPr id="56" name="Freeform 56"/>
              <p:cNvSpPr/>
              <p:nvPr/>
            </p:nvSpPr>
            <p:spPr>
              <a:xfrm>
                <a:off x="577850" y="2959100"/>
                <a:ext cx="9525" cy="69850"/>
              </a:xfrm>
              <a:custGeom>
                <a:avLst/>
                <a:gdLst/>
                <a:ahLst/>
                <a:cxnLst/>
                <a:rect l="l" t="t" r="r" b="b"/>
                <a:pathLst>
                  <a:path w="9525" h="69850">
                    <a:moveTo>
                      <a:pt x="0" y="0"/>
                    </a:moveTo>
                    <a:lnTo>
                      <a:pt x="0" y="69850"/>
                    </a:lnTo>
                  </a:path>
                </a:pathLst>
              </a:custGeom>
              <a:noFill/>
              <a:ln w="12700">
                <a:solidFill>
                  <a:srgbClr val="E04C2E"/>
                </a:solidFill>
              </a:ln>
            </p:spPr>
          </p:sp>
          <p:sp>
            <p:nvSpPr>
              <p:cNvPr id="57" name="Freeform 57"/>
              <p:cNvSpPr/>
              <p:nvPr/>
            </p:nvSpPr>
            <p:spPr>
              <a:xfrm>
                <a:off x="679450" y="2959100"/>
                <a:ext cx="9525" cy="69850"/>
              </a:xfrm>
              <a:custGeom>
                <a:avLst/>
                <a:gdLst/>
                <a:ahLst/>
                <a:cxnLst/>
                <a:rect l="l" t="t" r="r" b="b"/>
                <a:pathLst>
                  <a:path w="9525" h="69850">
                    <a:moveTo>
                      <a:pt x="0" y="0"/>
                    </a:moveTo>
                    <a:lnTo>
                      <a:pt x="0" y="69850"/>
                    </a:lnTo>
                  </a:path>
                </a:pathLst>
              </a:custGeom>
              <a:noFill/>
              <a:ln w="12700">
                <a:solidFill>
                  <a:srgbClr val="E04C2E"/>
                </a:solidFill>
              </a:ln>
            </p:spPr>
          </p:sp>
          <p:sp>
            <p:nvSpPr>
              <p:cNvPr id="58" name="Freeform 58"/>
              <p:cNvSpPr/>
              <p:nvPr/>
            </p:nvSpPr>
            <p:spPr>
              <a:xfrm>
                <a:off x="603250" y="2984500"/>
                <a:ext cx="9525" cy="19050"/>
              </a:xfrm>
              <a:custGeom>
                <a:avLst/>
                <a:gdLst/>
                <a:ahLst/>
                <a:cxnLst/>
                <a:rect l="l" t="t" r="r" b="b"/>
                <a:pathLst>
                  <a:path w="9525" h="19050">
                    <a:moveTo>
                      <a:pt x="0" y="0"/>
                    </a:moveTo>
                    <a:lnTo>
                      <a:pt x="0" y="19050"/>
                    </a:lnTo>
                  </a:path>
                </a:pathLst>
              </a:custGeom>
              <a:noFill/>
              <a:ln w="12700">
                <a:solidFill>
                  <a:srgbClr val="E04C2E"/>
                </a:solidFill>
              </a:ln>
            </p:spPr>
          </p:sp>
          <p:sp>
            <p:nvSpPr>
              <p:cNvPr id="59" name="Freeform 59"/>
              <p:cNvSpPr/>
              <p:nvPr/>
            </p:nvSpPr>
            <p:spPr>
              <a:xfrm>
                <a:off x="628650" y="2984500"/>
                <a:ext cx="9525" cy="19050"/>
              </a:xfrm>
              <a:custGeom>
                <a:avLst/>
                <a:gdLst/>
                <a:ahLst/>
                <a:cxnLst/>
                <a:rect l="l" t="t" r="r" b="b"/>
                <a:pathLst>
                  <a:path w="9525" h="19050">
                    <a:moveTo>
                      <a:pt x="0" y="0"/>
                    </a:moveTo>
                    <a:lnTo>
                      <a:pt x="0" y="19050"/>
                    </a:lnTo>
                  </a:path>
                </a:pathLst>
              </a:custGeom>
              <a:noFill/>
              <a:ln w="12700">
                <a:solidFill>
                  <a:srgbClr val="E04C2E"/>
                </a:solidFill>
              </a:ln>
            </p:spPr>
          </p:sp>
          <p:sp>
            <p:nvSpPr>
              <p:cNvPr id="60" name="Freeform 60"/>
              <p:cNvSpPr/>
              <p:nvPr/>
            </p:nvSpPr>
            <p:spPr>
              <a:xfrm>
                <a:off x="654050" y="2984500"/>
                <a:ext cx="9525" cy="19050"/>
              </a:xfrm>
              <a:custGeom>
                <a:avLst/>
                <a:gdLst/>
                <a:ahLst/>
                <a:cxnLst/>
                <a:rect l="l" t="t" r="r" b="b"/>
                <a:pathLst>
                  <a:path w="9525" h="19050">
                    <a:moveTo>
                      <a:pt x="0" y="0"/>
                    </a:moveTo>
                    <a:lnTo>
                      <a:pt x="0" y="19050"/>
                    </a:lnTo>
                  </a:path>
                </a:pathLst>
              </a:custGeom>
              <a:noFill/>
              <a:ln w="12700">
                <a:solidFill>
                  <a:srgbClr val="E04C2E"/>
                </a:solidFill>
              </a:ln>
            </p:spPr>
          </p:sp>
        </p:grpSp>
        <p:sp>
          <p:nvSpPr>
            <p:cNvPr id="62" name="TextBox 62"/>
            <p:cNvSpPr txBox="1"/>
            <p:nvPr/>
          </p:nvSpPr>
          <p:spPr>
            <a:xfrm>
              <a:off x="757238" y="289083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审批投放</a:t>
              </a:r>
            </a:p>
          </p:txBody>
        </p:sp>
        <p:sp>
          <p:nvSpPr>
            <p:cNvPr id="63" name="TextBox 63"/>
            <p:cNvSpPr txBox="1"/>
            <p:nvPr/>
          </p:nvSpPr>
          <p:spPr>
            <a:xfrm>
              <a:off x="757238" y="3034903"/>
              <a:ext cx="725805" cy="207169"/>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60" dirty="0">
                  <a:solidFill>
                    <a:srgbClr val="70504A"/>
                  </a:solidFill>
                  <a:latin typeface="+mn-lt"/>
                  <a:ea typeface="+mn-ea"/>
                  <a:cs typeface="+mn-cs"/>
                </a:rPr>
                <a:t>绿色通道、并联审批</a:t>
              </a:r>
            </a:p>
            <a:p>
              <a:pPr algn="l" marL="76200" indent="-76200">
                <a:lnSpc>
                  <a:spcPts val="750"/>
                </a:lnSpc>
                <a:buClr>
                  <a:srgbClr val="70504A"/>
                </a:buClr>
                <a:buSzTx/>
                <a:buFontTx/>
                <a:buChar char="•"/>
              </a:pPr>
              <a:r>
                <a:rPr lang="zh-CN" sz="560" dirty="0">
                  <a:solidFill>
                    <a:srgbClr val="70504A"/>
                  </a:solidFill>
                  <a:latin typeface="+mn-lt"/>
                  <a:ea typeface="+mn-ea"/>
                  <a:cs typeface="+mn-cs"/>
                </a:rPr>
                <a:t>授信落地、分段投放</a:t>
              </a:r>
            </a:p>
          </p:txBody>
        </p:sp>
        <p:sp>
          <p:nvSpPr>
            <p:cNvPr id="64" name="Ellipse 64"/>
            <p:cNvSpPr/>
            <p:nvPr/>
          </p:nvSpPr>
          <p:spPr>
            <a:xfrm>
              <a:off x="314325" y="3362325"/>
              <a:ext cx="171450" cy="171450"/>
            </a:xfrm>
            <a:prstGeom prst="ellipse">
              <a:avLst/>
            </a:prstGeom>
            <a:solidFill>
              <a:srgbClr val="69281B"/>
            </a:solidFill>
            <a:ln>
              <a:noFill/>
            </a:ln>
          </p:spPr>
        </p:sp>
        <p:sp>
          <p:nvSpPr>
            <p:cNvPr id="65" name="TextBox 65"/>
            <p:cNvSpPr txBox="1"/>
            <p:nvPr/>
          </p:nvSpPr>
          <p:spPr>
            <a:xfrm>
              <a:off x="342422" y="3408521"/>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6​</a:t>
              </a:r>
            </a:p>
          </p:txBody>
        </p:sp>
        <p:grpSp>
          <p:nvGrpSpPr>
            <p:cNvPr id="68" name="Group 68"/>
            <p:cNvGrpSpPr/>
            <p:nvPr/>
          </p:nvGrpSpPr>
          <p:grpSpPr>
            <a:xfrm>
              <a:off x="577850" y="3409950"/>
              <a:ext cx="101600" cy="92075"/>
              <a:chOff x="577850" y="3409950"/>
              <a:chExt cx="101600" cy="92075"/>
            </a:xfrm>
          </p:grpSpPr>
          <p:sp>
            <p:nvSpPr>
              <p:cNvPr id="66" name="Freeform 66"/>
              <p:cNvSpPr/>
              <p:nvPr/>
            </p:nvSpPr>
            <p:spPr>
              <a:xfrm>
                <a:off x="577850" y="3492500"/>
                <a:ext cx="101600" cy="9525"/>
              </a:xfrm>
              <a:custGeom>
                <a:avLst/>
                <a:gdLst/>
                <a:ahLst/>
                <a:cxnLst/>
                <a:rect l="l" t="t" r="r" b="b"/>
                <a:pathLst>
                  <a:path w="101600" h="9525">
                    <a:moveTo>
                      <a:pt x="0" y="0"/>
                    </a:moveTo>
                    <a:lnTo>
                      <a:pt x="101600" y="0"/>
                    </a:lnTo>
                  </a:path>
                </a:pathLst>
              </a:custGeom>
              <a:noFill/>
              <a:ln w="12700">
                <a:solidFill>
                  <a:srgbClr val="E04C2E"/>
                </a:solidFill>
              </a:ln>
            </p:spPr>
          </p:sp>
          <p:sp>
            <p:nvSpPr>
              <p:cNvPr id="67" name="Freeform 67"/>
              <p:cNvSpPr/>
              <p:nvPr/>
            </p:nvSpPr>
            <p:spPr>
              <a:xfrm>
                <a:off x="577850" y="340995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E04C2E"/>
                </a:solidFill>
              </a:ln>
            </p:spPr>
          </p:sp>
        </p:grpSp>
        <p:sp>
          <p:nvSpPr>
            <p:cNvPr id="69" name="TextBox 69"/>
            <p:cNvSpPr txBox="1"/>
            <p:nvPr/>
          </p:nvSpPr>
          <p:spPr>
            <a:xfrm>
              <a:off x="757238" y="3367088"/>
              <a:ext cx="41338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贷后跟踪</a:t>
              </a:r>
            </a:p>
          </p:txBody>
        </p:sp>
        <p:sp>
          <p:nvSpPr>
            <p:cNvPr id="70" name="TextBox 70"/>
            <p:cNvSpPr txBox="1"/>
            <p:nvPr/>
          </p:nvSpPr>
          <p:spPr>
            <a:xfrm>
              <a:off x="757238" y="3511153"/>
              <a:ext cx="868045" cy="207169"/>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60" dirty="0">
                  <a:solidFill>
                    <a:srgbClr val="70504A"/>
                  </a:solidFill>
                  <a:latin typeface="+mn-lt"/>
                  <a:ea typeface="+mn-ea"/>
                  <a:cs typeface="+mn-cs"/>
                </a:rPr>
                <a:t>项目进度与资金用途监控</a:t>
              </a:r>
            </a:p>
            <a:p>
              <a:pPr algn="l" marL="76200" indent="-76200">
                <a:lnSpc>
                  <a:spcPts val="750"/>
                </a:lnSpc>
                <a:buClr>
                  <a:srgbClr val="70504A"/>
                </a:buClr>
                <a:buSzTx/>
                <a:buFontTx/>
                <a:buChar char="•"/>
              </a:pPr>
              <a:r>
                <a:rPr lang="zh-CN" sz="560" dirty="0">
                  <a:solidFill>
                    <a:srgbClr val="70504A"/>
                  </a:solidFill>
                  <a:latin typeface="+mn-lt"/>
                  <a:ea typeface="+mn-ea"/>
                  <a:cs typeface="+mn-cs"/>
                </a:rPr>
                <a:t>风险预警与持续服务</a:t>
              </a:r>
            </a:p>
          </p:txBody>
        </p:sp>
        <p:sp>
          <p:nvSpPr>
            <p:cNvPr id="71" name="Rectangle 71"/>
            <p:cNvSpPr/>
            <p:nvPr/>
          </p:nvSpPr>
          <p:spPr>
            <a:xfrm>
              <a:off x="304800" y="3771900"/>
              <a:ext cx="1990725" cy="285750"/>
            </a:xfrm>
            <a:prstGeom prst="roundRect">
              <a:avLst>
                <a:gd name="adj" fmla="val 13333"/>
              </a:avLst>
            </a:prstGeom>
            <a:solidFill>
              <a:srgbClr val="EAF1FB"/>
            </a:solidFill>
            <a:ln w="9525">
              <a:solidFill>
                <a:srgbClr val="EBC1B8"/>
              </a:solidFill>
            </a:ln>
          </p:spPr>
        </p:sp>
        <p:grpSp>
          <p:nvGrpSpPr>
            <p:cNvPr id="74" name="Group 74"/>
            <p:cNvGrpSpPr/>
            <p:nvPr/>
          </p:nvGrpSpPr>
          <p:grpSpPr>
            <a:xfrm>
              <a:off x="406400" y="3861525"/>
              <a:ext cx="101600" cy="106500"/>
              <a:chOff x="406400" y="3861525"/>
              <a:chExt cx="101600" cy="106500"/>
            </a:xfrm>
          </p:grpSpPr>
          <p:sp>
            <p:nvSpPr>
              <p:cNvPr id="72" name="Freeform 72"/>
              <p:cNvSpPr/>
              <p:nvPr/>
            </p:nvSpPr>
            <p:spPr>
              <a:xfrm>
                <a:off x="406400" y="3861525"/>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E04C2E"/>
                </a:solidFill>
              </a:ln>
            </p:spPr>
          </p:sp>
          <p:sp>
            <p:nvSpPr>
              <p:cNvPr id="73" name="Freeform 73"/>
              <p:cNvSpPr/>
              <p:nvPr/>
            </p:nvSpPr>
            <p:spPr>
              <a:xfrm>
                <a:off x="406400" y="3921125"/>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E04C2E"/>
                </a:solidFill>
              </a:ln>
            </p:spPr>
          </p:sp>
        </p:grpSp>
        <p:sp>
          <p:nvSpPr>
            <p:cNvPr id="75" name="TextBox 75"/>
            <p:cNvSpPr txBox="1"/>
            <p:nvPr/>
          </p:nvSpPr>
          <p:spPr>
            <a:xfrm>
              <a:off x="585788" y="3823049"/>
              <a:ext cx="1114425" cy="211455"/>
            </a:xfrm>
            <a:prstGeom prst="rect">
              <a:avLst/>
            </a:prstGeom>
            <a:noFill/>
            <a:ln>
              <a:noFill/>
            </a:ln>
          </p:spPr>
          <p:txBody>
            <a:bodyPr wrap="none" lIns="0" tIns="0" rIns="0" bIns="0" anchor="t" anchorCtr="0">
              <a:spAutoFit/>
            </a:bodyPr>
            <a:lstStyle/>
            <a:p>
              <a:pPr algn="l">
                <a:lnSpc>
                  <a:spcPts val="750"/>
                </a:lnSpc>
              </a:pPr>
              <a:r>
                <a:rPr lang="zh-CN" sz="580" b="1" dirty="0">
                  <a:solidFill>
                    <a:srgbClr val="69281B"/>
                  </a:solidFill>
                  <a:latin typeface="+mn-lt"/>
                  <a:ea typeface="+mn-ea"/>
                  <a:cs typeface="+mn-cs"/>
                </a:rPr>
                <a:t>名单动态更新、闭环管理</a:t>
              </a:r>
              <a:br/>
              <a:r>
                <a:rPr lang="zh-CN" sz="580" dirty="0">
                  <a:solidFill>
                    <a:srgbClr val="70504A"/>
                  </a:solidFill>
                  <a:latin typeface="+mn-lt"/>
                  <a:ea typeface="+mn-ea"/>
                  <a:cs typeface="+mn-cs"/>
                </a:rPr>
                <a:t>推动项目快对接、快落地、快见效</a:t>
              </a:r>
            </a:p>
          </p:txBody>
        </p:sp>
      </p:grpSp>
      <p:grpSp>
        <p:nvGrpSpPr>
          <p:cNvPr id="108" name="top-metrics"/>
          <p:cNvGrpSpPr/>
          <p:nvPr/>
        </p:nvGrpSpPr>
        <p:grpSpPr>
          <a:xfrm>
            <a:off x="2466975" y="685800"/>
            <a:ext cx="6191250" cy="571500"/>
            <a:chOff x="2466975" y="685800"/>
            <a:chExt cx="6191250" cy="571500"/>
          </a:xfrm>
        </p:grpSpPr>
        <p:sp>
          <p:nvSpPr>
            <p:cNvPr id="77" name="Rectangle 77"/>
            <p:cNvSpPr/>
            <p:nvPr/>
          </p:nvSpPr>
          <p:spPr>
            <a:xfrm>
              <a:off x="2466975" y="685800"/>
              <a:ext cx="1476375" cy="571500"/>
            </a:xfrm>
            <a:prstGeom prst="roundRect">
              <a:avLst>
                <a:gd name="adj" fmla="val 10000"/>
              </a:avLst>
            </a:prstGeom>
            <a:solidFill>
              <a:srgbClr val="FFFFFF"/>
            </a:solidFill>
            <a:ln w="9525">
              <a:solidFill>
                <a:srgbClr val="C9D6E9"/>
              </a:solidFill>
            </a:ln>
          </p:spPr>
        </p:sp>
        <p:grpSp>
          <p:nvGrpSpPr>
            <p:cNvPr id="82" name="Group 82"/>
            <p:cNvGrpSpPr/>
            <p:nvPr/>
          </p:nvGrpSpPr>
          <p:grpSpPr>
            <a:xfrm>
              <a:off x="2627313" y="882650"/>
              <a:ext cx="166687" cy="188913"/>
              <a:chOff x="2627313" y="882650"/>
              <a:chExt cx="166687" cy="188913"/>
            </a:xfrm>
          </p:grpSpPr>
          <p:sp>
            <p:nvSpPr>
              <p:cNvPr id="78" name="Freeform 78"/>
              <p:cNvSpPr/>
              <p:nvPr/>
            </p:nvSpPr>
            <p:spPr>
              <a:xfrm>
                <a:off x="2627313" y="882650"/>
                <a:ext cx="133350" cy="177801"/>
              </a:xfrm>
              <a:custGeom>
                <a:avLst/>
                <a:gdLst/>
                <a:ahLst/>
                <a:cxnLst/>
                <a:rect l="l" t="t" r="r" b="b"/>
                <a:pathLst>
                  <a:path w="133350" h="177801">
                    <a:moveTo>
                      <a:pt x="51284" y="177801"/>
                    </a:moveTo>
                    <a:lnTo>
                      <a:pt x="22225" y="177801"/>
                    </a:lnTo>
                    <a:cubicBezTo>
                      <a:pt x="9950" y="177801"/>
                      <a:pt x="0" y="167850"/>
                      <a:pt x="0" y="155575"/>
                    </a:cubicBezTo>
                    <a:lnTo>
                      <a:pt x="0" y="22225"/>
                    </a:lnTo>
                    <a:cubicBezTo>
                      <a:pt x="0" y="9950"/>
                      <a:pt x="9950" y="0"/>
                      <a:pt x="22225" y="0"/>
                    </a:cubicBezTo>
                    <a:lnTo>
                      <a:pt x="111125" y="0"/>
                    </a:lnTo>
                    <a:cubicBezTo>
                      <a:pt x="123400" y="0"/>
                      <a:pt x="133350" y="9950"/>
                      <a:pt x="133350" y="22225"/>
                    </a:cubicBezTo>
                    <a:lnTo>
                      <a:pt x="133350" y="111125"/>
                    </a:lnTo>
                  </a:path>
                </a:pathLst>
              </a:custGeom>
              <a:noFill/>
              <a:ln w="22225">
                <a:solidFill>
                  <a:srgbClr val="69281B"/>
                </a:solidFill>
              </a:ln>
            </p:spPr>
          </p:sp>
          <p:sp>
            <p:nvSpPr>
              <p:cNvPr id="79" name="Freeform 79"/>
              <p:cNvSpPr/>
              <p:nvPr/>
            </p:nvSpPr>
            <p:spPr>
              <a:xfrm>
                <a:off x="2727325" y="1027113"/>
                <a:ext cx="66675" cy="44450"/>
              </a:xfrm>
              <a:custGeom>
                <a:avLst/>
                <a:gdLst/>
                <a:ahLst/>
                <a:cxnLst/>
                <a:rect l="l" t="t" r="r" b="b"/>
                <a:pathLst>
                  <a:path w="66675" h="44450">
                    <a:moveTo>
                      <a:pt x="0" y="22225"/>
                    </a:moveTo>
                    <a:lnTo>
                      <a:pt x="22225" y="44450"/>
                    </a:lnTo>
                    <a:lnTo>
                      <a:pt x="66675" y="0"/>
                    </a:lnTo>
                  </a:path>
                </a:pathLst>
              </a:custGeom>
              <a:noFill/>
              <a:ln w="22225">
                <a:solidFill>
                  <a:srgbClr val="69281B"/>
                </a:solidFill>
              </a:ln>
            </p:spPr>
          </p:sp>
          <p:sp>
            <p:nvSpPr>
              <p:cNvPr id="80" name="Freeform 80"/>
              <p:cNvSpPr/>
              <p:nvPr/>
            </p:nvSpPr>
            <p:spPr>
              <a:xfrm>
                <a:off x="2671763" y="927100"/>
                <a:ext cx="44450" cy="9525"/>
              </a:xfrm>
              <a:custGeom>
                <a:avLst/>
                <a:gdLst/>
                <a:ahLst/>
                <a:cxnLst/>
                <a:rect l="l" t="t" r="r" b="b"/>
                <a:pathLst>
                  <a:path w="44450" h="9525">
                    <a:moveTo>
                      <a:pt x="0" y="0"/>
                    </a:moveTo>
                    <a:lnTo>
                      <a:pt x="44450" y="0"/>
                    </a:lnTo>
                  </a:path>
                </a:pathLst>
              </a:custGeom>
              <a:noFill/>
              <a:ln w="22225">
                <a:solidFill>
                  <a:srgbClr val="69281B"/>
                </a:solidFill>
              </a:ln>
            </p:spPr>
          </p:sp>
          <p:sp>
            <p:nvSpPr>
              <p:cNvPr id="81" name="Freeform 81"/>
              <p:cNvSpPr/>
              <p:nvPr/>
            </p:nvSpPr>
            <p:spPr>
              <a:xfrm>
                <a:off x="2671763" y="971550"/>
                <a:ext cx="22225" cy="9525"/>
              </a:xfrm>
              <a:custGeom>
                <a:avLst/>
                <a:gdLst/>
                <a:ahLst/>
                <a:cxnLst/>
                <a:rect l="l" t="t" r="r" b="b"/>
                <a:pathLst>
                  <a:path w="22225" h="9525">
                    <a:moveTo>
                      <a:pt x="0" y="0"/>
                    </a:moveTo>
                    <a:lnTo>
                      <a:pt x="22225" y="0"/>
                    </a:lnTo>
                  </a:path>
                </a:pathLst>
              </a:custGeom>
              <a:noFill/>
              <a:ln w="22225">
                <a:solidFill>
                  <a:srgbClr val="69281B"/>
                </a:solidFill>
              </a:ln>
            </p:spPr>
          </p:sp>
        </p:grpSp>
        <p:sp>
          <p:nvSpPr>
            <p:cNvPr id="83" name="TextBox 83"/>
            <p:cNvSpPr txBox="1"/>
            <p:nvPr/>
          </p:nvSpPr>
          <p:spPr>
            <a:xfrm>
              <a:off x="2928938" y="799386"/>
              <a:ext cx="391846" cy="140494"/>
            </a:xfrm>
            <a:prstGeom prst="rect">
              <a:avLst/>
            </a:prstGeom>
            <a:noFill/>
            <a:ln>
              <a:noFill/>
            </a:ln>
          </p:spPr>
          <p:txBody>
            <a:bodyPr wrap="none" lIns="0" tIns="0" rIns="0" bIns="0" anchor="t" anchorCtr="0">
              <a:spAutoFit/>
            </a:bodyPr>
            <a:lstStyle/>
            <a:p>
              <a:pPr algn="l"/>
              <a:r>
                <a:rPr lang="zh-CN" sz="710" dirty="0">
                  <a:solidFill>
                    <a:srgbClr val="987F7A"/>
                  </a:solidFill>
                  <a:latin typeface="+mn-lt"/>
                  <a:ea typeface="+mn-ea"/>
                  <a:cs typeface="+mn-cs"/>
                </a:rPr>
                <a:t>覆盖项目</a:t>
              </a:r>
            </a:p>
          </p:txBody>
        </p:sp>
        <p:sp>
          <p:nvSpPr>
            <p:cNvPr id="84" name="TextBox 84"/>
            <p:cNvSpPr txBox="1"/>
            <p:nvPr/>
          </p:nvSpPr>
          <p:spPr>
            <a:xfrm>
              <a:off x="2926080" y="962025"/>
              <a:ext cx="612953"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226</a:t>
              </a:r>
              <a:r>
                <a:rPr lang="zh-CN" sz="750" dirty="0">
                  <a:solidFill>
                    <a:srgbClr val="69281B"/>
                  </a:solidFill>
                  <a:latin typeface="+mn-lt"/>
                  <a:ea typeface="+mn-ea"/>
                  <a:cs typeface="+mn-cs"/>
                </a:rPr>
                <a:t xml:space="preserve"> 个</a:t>
              </a:r>
              <a:r>
                <a:rPr lang="zh-CN" sz="1500" b="1" dirty="0">
                  <a:solidFill>
                    <a:srgbClr val="69281B"/>
                  </a:solidFill>
                  <a:latin typeface="+mn-lt"/>
                  <a:ea typeface="+mn-ea"/>
                  <a:cs typeface="+mn-cs"/>
                </a:rPr>
                <a:t>​</a:t>
              </a:r>
            </a:p>
          </p:txBody>
        </p:sp>
        <p:sp>
          <p:nvSpPr>
            <p:cNvPr id="85" name="Rectangle 85"/>
            <p:cNvSpPr/>
            <p:nvPr/>
          </p:nvSpPr>
          <p:spPr>
            <a:xfrm>
              <a:off x="4038600" y="685800"/>
              <a:ext cx="1476375" cy="571500"/>
            </a:xfrm>
            <a:prstGeom prst="roundRect">
              <a:avLst>
                <a:gd name="adj" fmla="val 10000"/>
              </a:avLst>
            </a:prstGeom>
            <a:solidFill>
              <a:srgbClr val="FFFFFF"/>
            </a:solidFill>
            <a:ln w="9525">
              <a:solidFill>
                <a:srgbClr val="C9D6E9"/>
              </a:solidFill>
            </a:ln>
          </p:spPr>
        </p:sp>
        <p:grpSp>
          <p:nvGrpSpPr>
            <p:cNvPr id="90" name="Group 90"/>
            <p:cNvGrpSpPr/>
            <p:nvPr/>
          </p:nvGrpSpPr>
          <p:grpSpPr>
            <a:xfrm>
              <a:off x="4176713" y="882650"/>
              <a:ext cx="200026" cy="177800"/>
              <a:chOff x="4176713" y="882650"/>
              <a:chExt cx="200026" cy="177800"/>
            </a:xfrm>
          </p:grpSpPr>
          <p:sp>
            <p:nvSpPr>
              <p:cNvPr id="86" name="Freeform 86"/>
              <p:cNvSpPr/>
              <p:nvPr/>
            </p:nvSpPr>
            <p:spPr>
              <a:xfrm>
                <a:off x="4176713" y="915988"/>
                <a:ext cx="200026" cy="9525"/>
              </a:xfrm>
              <a:custGeom>
                <a:avLst/>
                <a:gdLst/>
                <a:ahLst/>
                <a:cxnLst/>
                <a:rect l="l" t="t" r="r" b="b"/>
                <a:pathLst>
                  <a:path w="200026" h="9525">
                    <a:moveTo>
                      <a:pt x="200026" y="0"/>
                    </a:moveTo>
                    <a:lnTo>
                      <a:pt x="0" y="0"/>
                    </a:lnTo>
                  </a:path>
                </a:pathLst>
              </a:custGeom>
              <a:noFill/>
              <a:ln w="22225">
                <a:solidFill>
                  <a:srgbClr val="69281B"/>
                </a:solidFill>
              </a:ln>
            </p:spPr>
          </p:sp>
          <p:sp>
            <p:nvSpPr>
              <p:cNvPr id="87" name="Freeform 87"/>
              <p:cNvSpPr/>
              <p:nvPr/>
            </p:nvSpPr>
            <p:spPr>
              <a:xfrm>
                <a:off x="4343401" y="882650"/>
                <a:ext cx="33338" cy="66675"/>
              </a:xfrm>
              <a:custGeom>
                <a:avLst/>
                <a:gdLst/>
                <a:ahLst/>
                <a:cxnLst/>
                <a:rect l="l" t="t" r="r" b="b"/>
                <a:pathLst>
                  <a:path w="33338" h="66675">
                    <a:moveTo>
                      <a:pt x="0" y="66675"/>
                    </a:moveTo>
                    <a:lnTo>
                      <a:pt x="33338" y="33338"/>
                    </a:lnTo>
                    <a:lnTo>
                      <a:pt x="0" y="0"/>
                    </a:lnTo>
                  </a:path>
                </a:pathLst>
              </a:custGeom>
              <a:noFill/>
              <a:ln w="22225">
                <a:solidFill>
                  <a:srgbClr val="69281B"/>
                </a:solidFill>
              </a:ln>
            </p:spPr>
          </p:sp>
          <p:sp>
            <p:nvSpPr>
              <p:cNvPr id="88" name="Freeform 88"/>
              <p:cNvSpPr/>
              <p:nvPr/>
            </p:nvSpPr>
            <p:spPr>
              <a:xfrm>
                <a:off x="4176713" y="993775"/>
                <a:ext cx="33338" cy="66675"/>
              </a:xfrm>
              <a:custGeom>
                <a:avLst/>
                <a:gdLst/>
                <a:ahLst/>
                <a:cxnLst/>
                <a:rect l="l" t="t" r="r" b="b"/>
                <a:pathLst>
                  <a:path w="33338" h="66675">
                    <a:moveTo>
                      <a:pt x="33338" y="66675"/>
                    </a:moveTo>
                    <a:lnTo>
                      <a:pt x="0" y="33338"/>
                    </a:lnTo>
                    <a:lnTo>
                      <a:pt x="33338" y="0"/>
                    </a:lnTo>
                  </a:path>
                </a:pathLst>
              </a:custGeom>
              <a:noFill/>
              <a:ln w="22225">
                <a:solidFill>
                  <a:srgbClr val="69281B"/>
                </a:solidFill>
              </a:ln>
            </p:spPr>
          </p:sp>
          <p:sp>
            <p:nvSpPr>
              <p:cNvPr id="89" name="Freeform 89"/>
              <p:cNvSpPr/>
              <p:nvPr/>
            </p:nvSpPr>
            <p:spPr>
              <a:xfrm>
                <a:off x="4176713" y="1027113"/>
                <a:ext cx="200026" cy="9525"/>
              </a:xfrm>
              <a:custGeom>
                <a:avLst/>
                <a:gdLst/>
                <a:ahLst/>
                <a:cxnLst/>
                <a:rect l="l" t="t" r="r" b="b"/>
                <a:pathLst>
                  <a:path w="200026" h="9525">
                    <a:moveTo>
                      <a:pt x="0" y="0"/>
                    </a:moveTo>
                    <a:lnTo>
                      <a:pt x="200026" y="0"/>
                    </a:lnTo>
                  </a:path>
                </a:pathLst>
              </a:custGeom>
              <a:noFill/>
              <a:ln w="22225">
                <a:solidFill>
                  <a:srgbClr val="69281B"/>
                </a:solidFill>
              </a:ln>
            </p:spPr>
          </p:sp>
        </p:grpSp>
        <p:sp>
          <p:nvSpPr>
            <p:cNvPr id="91" name="TextBox 91"/>
            <p:cNvSpPr txBox="1"/>
            <p:nvPr/>
          </p:nvSpPr>
          <p:spPr>
            <a:xfrm>
              <a:off x="4500562" y="799386"/>
              <a:ext cx="487426" cy="140494"/>
            </a:xfrm>
            <a:prstGeom prst="rect">
              <a:avLst/>
            </a:prstGeom>
            <a:noFill/>
            <a:ln>
              <a:noFill/>
            </a:ln>
          </p:spPr>
          <p:txBody>
            <a:bodyPr wrap="none" lIns="0" tIns="0" rIns="0" bIns="0" anchor="t" anchorCtr="0">
              <a:spAutoFit/>
            </a:bodyPr>
            <a:lstStyle/>
            <a:p>
              <a:pPr algn="l"/>
              <a:r>
                <a:rPr lang="zh-CN" sz="710" dirty="0">
                  <a:solidFill>
                    <a:srgbClr val="987F7A"/>
                  </a:solidFill>
                  <a:latin typeface="+mn-lt"/>
                  <a:ea typeface="+mn-ea"/>
                  <a:cs typeface="+mn-cs"/>
                </a:rPr>
                <a:t>已合作项目</a:t>
              </a:r>
            </a:p>
          </p:txBody>
        </p:sp>
        <p:sp>
          <p:nvSpPr>
            <p:cNvPr id="92" name="TextBox 92"/>
            <p:cNvSpPr txBox="1"/>
            <p:nvPr/>
          </p:nvSpPr>
          <p:spPr>
            <a:xfrm>
              <a:off x="4497705" y="962025"/>
              <a:ext cx="612953"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127</a:t>
              </a:r>
              <a:r>
                <a:rPr lang="zh-CN" sz="750" dirty="0">
                  <a:solidFill>
                    <a:srgbClr val="69281B"/>
                  </a:solidFill>
                  <a:latin typeface="+mn-lt"/>
                  <a:ea typeface="+mn-ea"/>
                  <a:cs typeface="+mn-cs"/>
                </a:rPr>
                <a:t xml:space="preserve"> 个</a:t>
              </a:r>
              <a:r>
                <a:rPr lang="zh-CN" sz="1500" b="1" dirty="0">
                  <a:solidFill>
                    <a:srgbClr val="69281B"/>
                  </a:solidFill>
                  <a:latin typeface="+mn-lt"/>
                  <a:ea typeface="+mn-ea"/>
                  <a:cs typeface="+mn-cs"/>
                </a:rPr>
                <a:t>​</a:t>
              </a:r>
            </a:p>
          </p:txBody>
        </p:sp>
        <p:sp>
          <p:nvSpPr>
            <p:cNvPr id="93" name="Rectangle 93"/>
            <p:cNvSpPr/>
            <p:nvPr/>
          </p:nvSpPr>
          <p:spPr>
            <a:xfrm>
              <a:off x="5610225" y="685800"/>
              <a:ext cx="1476375" cy="571500"/>
            </a:xfrm>
            <a:prstGeom prst="roundRect">
              <a:avLst>
                <a:gd name="adj" fmla="val 10000"/>
              </a:avLst>
            </a:prstGeom>
            <a:solidFill>
              <a:srgbClr val="FFFFFF"/>
            </a:solidFill>
            <a:ln w="9525">
              <a:solidFill>
                <a:srgbClr val="C9D6E9"/>
              </a:solidFill>
            </a:ln>
          </p:spPr>
        </p:sp>
        <p:grpSp>
          <p:nvGrpSpPr>
            <p:cNvPr id="99" name="Group 99"/>
            <p:cNvGrpSpPr/>
            <p:nvPr/>
          </p:nvGrpSpPr>
          <p:grpSpPr>
            <a:xfrm>
              <a:off x="5748338" y="870049"/>
              <a:ext cx="200025" cy="201514"/>
              <a:chOff x="5748338" y="870049"/>
              <a:chExt cx="200025" cy="201514"/>
            </a:xfrm>
          </p:grpSpPr>
          <p:sp>
            <p:nvSpPr>
              <p:cNvPr id="94" name="Freeform 94"/>
              <p:cNvSpPr/>
              <p:nvPr/>
            </p:nvSpPr>
            <p:spPr>
              <a:xfrm>
                <a:off x="5815013" y="960438"/>
                <a:ext cx="133350" cy="66675"/>
              </a:xfrm>
              <a:custGeom>
                <a:avLst/>
                <a:gdLst/>
                <a:ahLst/>
                <a:cxnLst/>
                <a:rect l="l" t="t" r="r" b="b"/>
                <a:pathLst>
                  <a:path w="133350" h="66675">
                    <a:moveTo>
                      <a:pt x="0" y="33338"/>
                    </a:moveTo>
                    <a:cubicBezTo>
                      <a:pt x="0" y="51751"/>
                      <a:pt x="29848" y="66675"/>
                      <a:pt x="66675" y="66675"/>
                    </a:cubicBezTo>
                    <a:cubicBezTo>
                      <a:pt x="103502" y="66675"/>
                      <a:pt x="133350" y="51751"/>
                      <a:pt x="133350" y="33338"/>
                    </a:cubicBezTo>
                    <a:cubicBezTo>
                      <a:pt x="133350" y="14924"/>
                      <a:pt x="103502" y="0"/>
                      <a:pt x="66675" y="0"/>
                    </a:cubicBezTo>
                    <a:cubicBezTo>
                      <a:pt x="29848" y="0"/>
                      <a:pt x="0" y="14924"/>
                      <a:pt x="0" y="33338"/>
                    </a:cubicBezTo>
                  </a:path>
                </a:pathLst>
              </a:custGeom>
              <a:noFill/>
              <a:ln w="22225">
                <a:solidFill>
                  <a:srgbClr val="69281B"/>
                </a:solidFill>
              </a:ln>
            </p:spPr>
          </p:sp>
          <p:sp>
            <p:nvSpPr>
              <p:cNvPr id="95" name="Freeform 95"/>
              <p:cNvSpPr/>
              <p:nvPr/>
            </p:nvSpPr>
            <p:spPr>
              <a:xfrm>
                <a:off x="5815013" y="993775"/>
                <a:ext cx="133350" cy="77788"/>
              </a:xfrm>
              <a:custGeom>
                <a:avLst/>
                <a:gdLst/>
                <a:ahLst/>
                <a:cxnLst/>
                <a:rect l="l" t="t" r="r" b="b"/>
                <a:pathLst>
                  <a:path w="133350" h="77788">
                    <a:moveTo>
                      <a:pt x="0" y="0"/>
                    </a:moveTo>
                    <a:lnTo>
                      <a:pt x="0" y="44450"/>
                    </a:lnTo>
                    <a:cubicBezTo>
                      <a:pt x="0" y="62852"/>
                      <a:pt x="29848" y="77788"/>
                      <a:pt x="66675" y="77788"/>
                    </a:cubicBezTo>
                    <a:cubicBezTo>
                      <a:pt x="103502" y="77788"/>
                      <a:pt x="133350" y="62852"/>
                      <a:pt x="133350" y="44450"/>
                    </a:cubicBezTo>
                    <a:lnTo>
                      <a:pt x="133350" y="0"/>
                    </a:lnTo>
                  </a:path>
                </a:pathLst>
              </a:custGeom>
              <a:noFill/>
              <a:ln w="22225">
                <a:solidFill>
                  <a:srgbClr val="69281B"/>
                </a:solidFill>
              </a:ln>
            </p:spPr>
          </p:sp>
          <p:sp>
            <p:nvSpPr>
              <p:cNvPr id="96" name="Freeform 96"/>
              <p:cNvSpPr/>
              <p:nvPr/>
            </p:nvSpPr>
            <p:spPr>
              <a:xfrm>
                <a:off x="5748338" y="870049"/>
                <a:ext cx="133350" cy="69653"/>
              </a:xfrm>
              <a:custGeom>
                <a:avLst/>
                <a:gdLst/>
                <a:ahLst/>
                <a:cxnLst/>
                <a:rect l="l" t="t" r="r" b="b"/>
                <a:pathLst>
                  <a:path w="133350" h="69653">
                    <a:moveTo>
                      <a:pt x="0" y="34827"/>
                    </a:moveTo>
                    <a:cubicBezTo>
                      <a:pt x="0" y="46739"/>
                      <a:pt x="12713" y="57741"/>
                      <a:pt x="33338" y="63697"/>
                    </a:cubicBezTo>
                    <a:cubicBezTo>
                      <a:pt x="53962" y="69653"/>
                      <a:pt x="79388" y="69653"/>
                      <a:pt x="100013" y="63697"/>
                    </a:cubicBezTo>
                    <a:cubicBezTo>
                      <a:pt x="120638" y="57741"/>
                      <a:pt x="133350" y="46739"/>
                      <a:pt x="133350" y="34827"/>
                    </a:cubicBezTo>
                    <a:cubicBezTo>
                      <a:pt x="133350" y="22914"/>
                      <a:pt x="120638" y="11913"/>
                      <a:pt x="100013" y="5956"/>
                    </a:cubicBezTo>
                    <a:cubicBezTo>
                      <a:pt x="79388" y="0"/>
                      <a:pt x="53962" y="0"/>
                      <a:pt x="33338" y="5956"/>
                    </a:cubicBezTo>
                    <a:cubicBezTo>
                      <a:pt x="12713" y="11913"/>
                      <a:pt x="0" y="22914"/>
                      <a:pt x="0" y="34827"/>
                    </a:cubicBezTo>
                  </a:path>
                </a:pathLst>
              </a:custGeom>
              <a:noFill/>
              <a:ln w="22225">
                <a:solidFill>
                  <a:srgbClr val="69281B"/>
                </a:solidFill>
              </a:ln>
            </p:spPr>
          </p:sp>
          <p:sp>
            <p:nvSpPr>
              <p:cNvPr id="97" name="Freeform 97"/>
              <p:cNvSpPr/>
              <p:nvPr/>
            </p:nvSpPr>
            <p:spPr>
              <a:xfrm>
                <a:off x="5748338" y="904875"/>
                <a:ext cx="22225" cy="133350"/>
              </a:xfrm>
              <a:custGeom>
                <a:avLst/>
                <a:gdLst/>
                <a:ahLst/>
                <a:cxnLst/>
                <a:rect l="l" t="t" r="r" b="b"/>
                <a:pathLst>
                  <a:path w="22225" h="133350">
                    <a:moveTo>
                      <a:pt x="0" y="0"/>
                    </a:moveTo>
                    <a:lnTo>
                      <a:pt x="0" y="111125"/>
                    </a:lnTo>
                    <a:cubicBezTo>
                      <a:pt x="0" y="120993"/>
                      <a:pt x="8579" y="127238"/>
                      <a:pt x="22225" y="133350"/>
                    </a:cubicBezTo>
                  </a:path>
                </a:pathLst>
              </a:custGeom>
              <a:noFill/>
              <a:ln w="22225">
                <a:solidFill>
                  <a:srgbClr val="69281B"/>
                </a:solidFill>
              </a:ln>
            </p:spPr>
          </p:sp>
          <p:sp>
            <p:nvSpPr>
              <p:cNvPr id="98" name="Freeform 98"/>
              <p:cNvSpPr/>
              <p:nvPr/>
            </p:nvSpPr>
            <p:spPr>
              <a:xfrm>
                <a:off x="5748338" y="960438"/>
                <a:ext cx="22225" cy="22225"/>
              </a:xfrm>
              <a:custGeom>
                <a:avLst/>
                <a:gdLst/>
                <a:ahLst/>
                <a:cxnLst/>
                <a:rect l="l" t="t" r="r" b="b"/>
                <a:pathLst>
                  <a:path w="22225" h="22225">
                    <a:moveTo>
                      <a:pt x="0" y="0"/>
                    </a:moveTo>
                    <a:cubicBezTo>
                      <a:pt x="0" y="9868"/>
                      <a:pt x="8579" y="16113"/>
                      <a:pt x="22225" y="22225"/>
                    </a:cubicBezTo>
                  </a:path>
                </a:pathLst>
              </a:custGeom>
              <a:noFill/>
              <a:ln w="22225">
                <a:solidFill>
                  <a:srgbClr val="69281B"/>
                </a:solidFill>
              </a:ln>
            </p:spPr>
          </p:sp>
        </p:grpSp>
        <p:sp>
          <p:nvSpPr>
            <p:cNvPr id="100" name="TextBox 100"/>
            <p:cNvSpPr txBox="1"/>
            <p:nvPr/>
          </p:nvSpPr>
          <p:spPr>
            <a:xfrm>
              <a:off x="6072188" y="799386"/>
              <a:ext cx="391846" cy="140494"/>
            </a:xfrm>
            <a:prstGeom prst="rect">
              <a:avLst/>
            </a:prstGeom>
            <a:noFill/>
            <a:ln>
              <a:noFill/>
            </a:ln>
          </p:spPr>
          <p:txBody>
            <a:bodyPr wrap="none" lIns="0" tIns="0" rIns="0" bIns="0" anchor="t" anchorCtr="0">
              <a:spAutoFit/>
            </a:bodyPr>
            <a:lstStyle/>
            <a:p>
              <a:pPr algn="l"/>
              <a:r>
                <a:rPr lang="zh-CN" sz="710" dirty="0">
                  <a:solidFill>
                    <a:srgbClr val="987F7A"/>
                  </a:solidFill>
                  <a:latin typeface="+mn-lt"/>
                  <a:ea typeface="+mn-ea"/>
                  <a:cs typeface="+mn-cs"/>
                </a:rPr>
                <a:t>授信储备</a:t>
              </a:r>
            </a:p>
          </p:txBody>
        </p:sp>
        <p:sp>
          <p:nvSpPr>
            <p:cNvPr id="101" name="TextBox 101"/>
            <p:cNvSpPr txBox="1"/>
            <p:nvPr/>
          </p:nvSpPr>
          <p:spPr>
            <a:xfrm>
              <a:off x="6069330" y="962025"/>
              <a:ext cx="947147"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424.7</a:t>
              </a:r>
              <a:r>
                <a:rPr lang="zh-CN" sz="750" dirty="0">
                  <a:solidFill>
                    <a:srgbClr val="69281B"/>
                  </a:solidFill>
                  <a:latin typeface="+mn-lt"/>
                  <a:ea typeface="+mn-ea"/>
                  <a:cs typeface="+mn-cs"/>
                </a:rPr>
                <a:t xml:space="preserve"> 亿元</a:t>
              </a:r>
              <a:r>
                <a:rPr lang="zh-CN" sz="1500" b="1" dirty="0">
                  <a:solidFill>
                    <a:srgbClr val="69281B"/>
                  </a:solidFill>
                  <a:latin typeface="+mn-lt"/>
                  <a:ea typeface="+mn-ea"/>
                  <a:cs typeface="+mn-cs"/>
                </a:rPr>
                <a:t>​</a:t>
              </a:r>
            </a:p>
          </p:txBody>
        </p:sp>
        <p:sp>
          <p:nvSpPr>
            <p:cNvPr id="102" name="Rectangle 102"/>
            <p:cNvSpPr/>
            <p:nvPr/>
          </p:nvSpPr>
          <p:spPr>
            <a:xfrm>
              <a:off x="7181850" y="685800"/>
              <a:ext cx="1476375" cy="571500"/>
            </a:xfrm>
            <a:prstGeom prst="roundRect">
              <a:avLst>
                <a:gd name="adj" fmla="val 10000"/>
              </a:avLst>
            </a:prstGeom>
            <a:solidFill>
              <a:srgbClr val="FFFFFF"/>
            </a:solidFill>
            <a:ln w="9525">
              <a:solidFill>
                <a:srgbClr val="C9D6E9"/>
              </a:solidFill>
            </a:ln>
          </p:spPr>
        </p:sp>
        <p:grpSp>
          <p:nvGrpSpPr>
            <p:cNvPr id="105" name="Group 105"/>
            <p:cNvGrpSpPr/>
            <p:nvPr/>
          </p:nvGrpSpPr>
          <p:grpSpPr>
            <a:xfrm>
              <a:off x="7316865" y="873448"/>
              <a:ext cx="200901" cy="201212"/>
              <a:chOff x="7316865" y="873448"/>
              <a:chExt cx="200901" cy="201212"/>
            </a:xfrm>
          </p:grpSpPr>
          <p:sp>
            <p:nvSpPr>
              <p:cNvPr id="103" name="Freeform 103"/>
              <p:cNvSpPr/>
              <p:nvPr/>
            </p:nvSpPr>
            <p:spPr>
              <a:xfrm>
                <a:off x="7316865" y="87344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14223" y="109214"/>
                    </a:lnTo>
                    <a:cubicBezTo>
                      <a:pt x="101948" y="109214"/>
                      <a:pt x="91998" y="99264"/>
                      <a:pt x="91998" y="86989"/>
                    </a:cubicBezTo>
                    <a:lnTo>
                      <a:pt x="91998" y="9202"/>
                    </a:lnTo>
                    <a:cubicBezTo>
                      <a:pt x="91719" y="6542"/>
                      <a:pt x="90387" y="4105"/>
                      <a:pt x="88299" y="2435"/>
                    </a:cubicBezTo>
                    <a:cubicBezTo>
                      <a:pt x="86211" y="765"/>
                      <a:pt x="83541" y="0"/>
                      <a:pt x="80885" y="312"/>
                    </a:cubicBezTo>
                  </a:path>
                </a:pathLst>
              </a:custGeom>
              <a:noFill/>
              <a:ln w="22225">
                <a:solidFill>
                  <a:srgbClr val="69281B"/>
                </a:solidFill>
              </a:ln>
            </p:spPr>
          </p:sp>
          <p:sp>
            <p:nvSpPr>
              <p:cNvPr id="104" name="Freeform 104"/>
              <p:cNvSpPr/>
              <p:nvPr/>
            </p:nvSpPr>
            <p:spPr>
              <a:xfrm>
                <a:off x="7453313" y="877094"/>
                <a:ext cx="61119" cy="61119"/>
              </a:xfrm>
              <a:custGeom>
                <a:avLst/>
                <a:gdLst/>
                <a:ahLst/>
                <a:cxnLst/>
                <a:rect l="l" t="t" r="r" b="b"/>
                <a:pathLst>
                  <a:path w="61119" h="61119">
                    <a:moveTo>
                      <a:pt x="0" y="0"/>
                    </a:moveTo>
                    <a:cubicBezTo>
                      <a:pt x="28579" y="10063"/>
                      <a:pt x="51056" y="32540"/>
                      <a:pt x="61119" y="61119"/>
                    </a:cubicBezTo>
                    <a:lnTo>
                      <a:pt x="11113" y="61119"/>
                    </a:lnTo>
                    <a:cubicBezTo>
                      <a:pt x="4975" y="61119"/>
                      <a:pt x="0" y="56144"/>
                      <a:pt x="0" y="50006"/>
                    </a:cubicBezTo>
                    <a:lnTo>
                      <a:pt x="0" y="0"/>
                    </a:lnTo>
                  </a:path>
                </a:pathLst>
              </a:custGeom>
              <a:noFill/>
              <a:ln w="22225">
                <a:solidFill>
                  <a:srgbClr val="69281B"/>
                </a:solidFill>
              </a:ln>
            </p:spPr>
          </p:sp>
        </p:grpSp>
        <p:sp>
          <p:nvSpPr>
            <p:cNvPr id="106" name="TextBox 106"/>
            <p:cNvSpPr txBox="1"/>
            <p:nvPr/>
          </p:nvSpPr>
          <p:spPr>
            <a:xfrm>
              <a:off x="7643812" y="799386"/>
              <a:ext cx="487426" cy="140494"/>
            </a:xfrm>
            <a:prstGeom prst="rect">
              <a:avLst/>
            </a:prstGeom>
            <a:noFill/>
            <a:ln>
              <a:noFill/>
            </a:ln>
          </p:spPr>
          <p:txBody>
            <a:bodyPr wrap="none" lIns="0" tIns="0" rIns="0" bIns="0" anchor="t" anchorCtr="0">
              <a:spAutoFit/>
            </a:bodyPr>
            <a:lstStyle/>
            <a:p>
              <a:pPr algn="l"/>
              <a:r>
                <a:rPr lang="zh-CN" sz="710" dirty="0">
                  <a:solidFill>
                    <a:srgbClr val="987F7A"/>
                  </a:solidFill>
                  <a:latin typeface="+mn-lt"/>
                  <a:ea typeface="+mn-ea"/>
                  <a:cs typeface="+mn-cs"/>
                </a:rPr>
                <a:t>已投放金额</a:t>
              </a:r>
            </a:p>
          </p:txBody>
        </p:sp>
        <p:sp>
          <p:nvSpPr>
            <p:cNvPr id="107" name="TextBox 107"/>
            <p:cNvSpPr txBox="1"/>
            <p:nvPr/>
          </p:nvSpPr>
          <p:spPr>
            <a:xfrm>
              <a:off x="7640955" y="962025"/>
              <a:ext cx="947147" cy="293370"/>
            </a:xfrm>
            <a:prstGeom prst="rect">
              <a:avLst/>
            </a:prstGeom>
            <a:noFill/>
            <a:ln>
              <a:noFill/>
            </a:ln>
          </p:spPr>
          <p:txBody>
            <a:bodyPr wrap="none" lIns="0" tIns="0" rIns="0" bIns="0" anchor="t" anchorCtr="0">
              <a:spAutoFit/>
            </a:bodyPr>
            <a:lstStyle/>
            <a:p>
              <a:pPr algn="l"/>
              <a:r>
                <a:rPr lang="zh-CN" sz="1500" b="1" dirty="0">
                  <a:solidFill>
                    <a:srgbClr val="69281B"/>
                  </a:solidFill>
                  <a:latin typeface="+mn-lt"/>
                  <a:ea typeface="+mn-ea"/>
                  <a:cs typeface="+mn-cs"/>
                </a:rPr>
                <a:t>172.2</a:t>
              </a:r>
              <a:r>
                <a:rPr lang="zh-CN" sz="750" dirty="0">
                  <a:solidFill>
                    <a:srgbClr val="69281B"/>
                  </a:solidFill>
                  <a:latin typeface="+mn-lt"/>
                  <a:ea typeface="+mn-ea"/>
                  <a:cs typeface="+mn-cs"/>
                </a:rPr>
                <a:t xml:space="preserve"> 亿元</a:t>
              </a:r>
              <a:r>
                <a:rPr lang="zh-CN" sz="1500" b="1" dirty="0">
                  <a:solidFill>
                    <a:srgbClr val="69281B"/>
                  </a:solidFill>
                  <a:latin typeface="+mn-lt"/>
                  <a:ea typeface="+mn-ea"/>
                  <a:cs typeface="+mn-cs"/>
                </a:rPr>
                <a:t>​</a:t>
              </a:r>
            </a:p>
          </p:txBody>
        </p:sp>
      </p:grpSp>
      <p:grpSp>
        <p:nvGrpSpPr>
          <p:cNvPr id="182" name="industry-map"/>
          <p:cNvGrpSpPr/>
          <p:nvPr/>
        </p:nvGrpSpPr>
        <p:grpSpPr>
          <a:xfrm>
            <a:off x="2466975" y="1333500"/>
            <a:ext cx="6191250" cy="2781300"/>
            <a:chOff x="2466975" y="1333500"/>
            <a:chExt cx="6191250" cy="2781300"/>
          </a:xfrm>
        </p:grpSpPr>
        <p:sp>
          <p:nvSpPr>
            <p:cNvPr id="109" name="Rectangle 109"/>
            <p:cNvSpPr/>
            <p:nvPr/>
          </p:nvSpPr>
          <p:spPr>
            <a:xfrm>
              <a:off x="2466975" y="1333500"/>
              <a:ext cx="6191250" cy="2781300"/>
            </a:xfrm>
            <a:prstGeom prst="roundRect">
              <a:avLst>
                <a:gd name="adj" fmla="val 2055"/>
              </a:avLst>
            </a:prstGeom>
            <a:solidFill>
              <a:srgbClr val="FFFFFF"/>
            </a:solidFill>
            <a:ln w="9525">
              <a:solidFill>
                <a:srgbClr val="C9D6E9"/>
              </a:solidFill>
            </a:ln>
          </p:spPr>
        </p:sp>
        <p:sp>
          <p:nvSpPr>
            <p:cNvPr id="110" name="Rectangle 110"/>
            <p:cNvSpPr/>
            <p:nvPr/>
          </p:nvSpPr>
          <p:spPr>
            <a:xfrm>
              <a:off x="2466975" y="1333500"/>
              <a:ext cx="6191250" cy="209550"/>
            </a:xfrm>
            <a:prstGeom prst="roundRect">
              <a:avLst>
                <a:gd name="adj" fmla="val 27273"/>
              </a:avLst>
            </a:prstGeom>
            <a:solidFill>
              <a:srgbClr val="69281B"/>
            </a:solidFill>
            <a:ln>
              <a:noFill/>
            </a:ln>
          </p:spPr>
        </p:sp>
        <p:sp>
          <p:nvSpPr>
            <p:cNvPr id="111" name="Rectangle 111"/>
            <p:cNvSpPr/>
            <p:nvPr/>
          </p:nvSpPr>
          <p:spPr>
            <a:xfrm>
              <a:off x="2466975" y="1447800"/>
              <a:ext cx="6191250" cy="95250"/>
            </a:xfrm>
            <a:prstGeom prst="rect">
              <a:avLst/>
            </a:prstGeom>
            <a:solidFill>
              <a:srgbClr val="69281B"/>
            </a:solidFill>
            <a:ln>
              <a:noFill/>
            </a:ln>
          </p:spPr>
        </p:sp>
        <p:sp>
          <p:nvSpPr>
            <p:cNvPr id="112" name="TextBox 112"/>
            <p:cNvSpPr txBox="1"/>
            <p:nvPr/>
          </p:nvSpPr>
          <p:spPr>
            <a:xfrm>
              <a:off x="4895507" y="1387316"/>
              <a:ext cx="133418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重点产业地图（五大方向）</a:t>
              </a:r>
            </a:p>
          </p:txBody>
        </p:sp>
        <p:sp>
          <p:nvSpPr>
            <p:cNvPr id="113" name="Rectangle 113"/>
            <p:cNvSpPr/>
            <p:nvPr/>
          </p:nvSpPr>
          <p:spPr>
            <a:xfrm>
              <a:off x="2543175" y="1619250"/>
              <a:ext cx="1162050" cy="2419350"/>
            </a:xfrm>
            <a:prstGeom prst="roundRect">
              <a:avLst>
                <a:gd name="adj" fmla="val 3279"/>
              </a:avLst>
            </a:prstGeom>
            <a:solidFill>
              <a:srgbClr val="F5F8FD"/>
            </a:solidFill>
            <a:ln w="9525">
              <a:solidFill>
                <a:srgbClr val="E3EAF5"/>
              </a:solidFill>
            </a:ln>
          </p:spPr>
        </p:sp>
        <p:sp>
          <p:nvSpPr>
            <p:cNvPr id="114" name="Rectangle 114"/>
            <p:cNvSpPr/>
            <p:nvPr/>
          </p:nvSpPr>
          <p:spPr>
            <a:xfrm>
              <a:off x="2543175" y="1619250"/>
              <a:ext cx="1162050" cy="190500"/>
            </a:xfrm>
            <a:prstGeom prst="roundRect">
              <a:avLst>
                <a:gd name="adj" fmla="val 20000"/>
              </a:avLst>
            </a:prstGeom>
            <a:solidFill>
              <a:srgbClr val="E04C2E"/>
            </a:solidFill>
            <a:ln>
              <a:noFill/>
            </a:ln>
          </p:spPr>
        </p:sp>
        <p:sp>
          <p:nvSpPr>
            <p:cNvPr id="115" name="TextBox 115"/>
            <p:cNvSpPr txBox="1"/>
            <p:nvPr/>
          </p:nvSpPr>
          <p:spPr>
            <a:xfrm>
              <a:off x="2917508" y="16716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先进制造</a:t>
              </a:r>
            </a:p>
          </p:txBody>
        </p:sp>
        <p:grpSp>
          <p:nvGrpSpPr>
            <p:cNvPr id="118" name="Group 118"/>
            <p:cNvGrpSpPr/>
            <p:nvPr/>
          </p:nvGrpSpPr>
          <p:grpSpPr>
            <a:xfrm>
              <a:off x="3026801" y="1893326"/>
              <a:ext cx="194797" cy="194797"/>
              <a:chOff x="3026801" y="1893326"/>
              <a:chExt cx="194797" cy="194797"/>
            </a:xfrm>
          </p:grpSpPr>
          <p:sp>
            <p:nvSpPr>
              <p:cNvPr id="116" name="Freeform 116"/>
              <p:cNvSpPr/>
              <p:nvPr/>
            </p:nvSpPr>
            <p:spPr>
              <a:xfrm>
                <a:off x="3026801" y="1893326"/>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69281B"/>
                </a:solidFill>
              </a:ln>
            </p:spPr>
          </p:sp>
          <p:sp>
            <p:nvSpPr>
              <p:cNvPr id="117" name="Freeform 117"/>
              <p:cNvSpPr/>
              <p:nvPr/>
            </p:nvSpPr>
            <p:spPr>
              <a:xfrm>
                <a:off x="3093243" y="1959768"/>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69281B"/>
                </a:solidFill>
              </a:ln>
            </p:spPr>
          </p:sp>
        </p:grpSp>
        <p:sp>
          <p:nvSpPr>
            <p:cNvPr id="119" name="TextBox 119"/>
            <p:cNvSpPr txBox="1"/>
            <p:nvPr/>
          </p:nvSpPr>
          <p:spPr>
            <a:xfrm>
              <a:off x="2614612" y="2198132"/>
              <a:ext cx="699210"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项目数量：</a:t>
              </a:r>
              <a:r>
                <a:rPr lang="zh-CN" sz="640" b="1" dirty="0">
                  <a:solidFill>
                    <a:srgbClr val="69281B"/>
                  </a:solidFill>
                  <a:latin typeface="+mn-lt"/>
                  <a:ea typeface="+mn-ea"/>
                  <a:cs typeface="+mn-cs"/>
                </a:rPr>
                <a:t>68</a:t>
              </a:r>
              <a:r>
                <a:rPr lang="zh-CN" sz="640" dirty="0">
                  <a:solidFill>
                    <a:srgbClr val="70504A"/>
                  </a:solidFill>
                  <a:latin typeface="+mn-lt"/>
                  <a:ea typeface="+mn-ea"/>
                  <a:cs typeface="+mn-cs"/>
                </a:rPr>
                <a:t xml:space="preserve"> 个​</a:t>
              </a:r>
            </a:p>
          </p:txBody>
        </p:sp>
        <p:sp>
          <p:nvSpPr>
            <p:cNvPr id="120" name="TextBox 120"/>
            <p:cNvSpPr txBox="1"/>
            <p:nvPr/>
          </p:nvSpPr>
          <p:spPr>
            <a:xfrm>
              <a:off x="2614612" y="2321957"/>
              <a:ext cx="613053"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已合作：</a:t>
              </a:r>
              <a:r>
                <a:rPr lang="zh-CN" sz="640" b="1" dirty="0">
                  <a:solidFill>
                    <a:srgbClr val="69281B"/>
                  </a:solidFill>
                  <a:latin typeface="+mn-lt"/>
                  <a:ea typeface="+mn-ea"/>
                  <a:cs typeface="+mn-cs"/>
                </a:rPr>
                <a:t>41</a:t>
              </a:r>
              <a:r>
                <a:rPr lang="zh-CN" sz="640" dirty="0">
                  <a:solidFill>
                    <a:srgbClr val="70504A"/>
                  </a:solidFill>
                  <a:latin typeface="+mn-lt"/>
                  <a:ea typeface="+mn-ea"/>
                  <a:cs typeface="+mn-cs"/>
                </a:rPr>
                <a:t xml:space="preserve"> 个​</a:t>
              </a:r>
            </a:p>
          </p:txBody>
        </p:sp>
        <p:sp>
          <p:nvSpPr>
            <p:cNvPr id="121" name="TextBox 121"/>
            <p:cNvSpPr txBox="1"/>
            <p:nvPr/>
          </p:nvSpPr>
          <p:spPr>
            <a:xfrm>
              <a:off x="2614612" y="2508599"/>
              <a:ext cx="527685" cy="430530"/>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高端装备制造</a:t>
              </a:r>
            </a:p>
            <a:p>
              <a:pPr algn="l" marL="76200" indent="-76200">
                <a:lnSpc>
                  <a:spcPts val="825"/>
                </a:lnSpc>
                <a:buClr>
                  <a:srgbClr val="70504A"/>
                </a:buClr>
                <a:buSzTx/>
                <a:buFontTx/>
                <a:buChar char="•"/>
              </a:pPr>
              <a:r>
                <a:rPr lang="zh-CN" sz="580" dirty="0">
                  <a:solidFill>
                    <a:srgbClr val="70504A"/>
                  </a:solidFill>
                  <a:latin typeface="+mn-lt"/>
                  <a:ea typeface="+mn-ea"/>
                  <a:cs typeface="+mn-cs"/>
                </a:rPr>
                <a:t>汽车及零部件</a:t>
              </a:r>
            </a:p>
            <a:p>
              <a:pPr algn="l" marL="76200" indent="-76200">
                <a:lnSpc>
                  <a:spcPts val="825"/>
                </a:lnSpc>
                <a:buClr>
                  <a:srgbClr val="70504A"/>
                </a:buClr>
                <a:buSzTx/>
                <a:buFontTx/>
                <a:buChar char="•"/>
              </a:pPr>
              <a:r>
                <a:rPr lang="zh-CN" sz="580" dirty="0">
                  <a:solidFill>
                    <a:srgbClr val="70504A"/>
                  </a:solidFill>
                  <a:latin typeface="+mn-lt"/>
                  <a:ea typeface="+mn-ea"/>
                  <a:cs typeface="+mn-cs"/>
                </a:rPr>
                <a:t>电子信息制造</a:t>
              </a:r>
            </a:p>
            <a:p>
              <a:pPr algn="l" marL="76200" indent="-76200">
                <a:lnSpc>
                  <a:spcPts val="825"/>
                </a:lnSpc>
                <a:buClr>
                  <a:srgbClr val="70504A"/>
                </a:buClr>
                <a:buSzTx/>
                <a:buFontTx/>
                <a:buChar char="•"/>
              </a:pPr>
              <a:r>
                <a:rPr lang="zh-CN" sz="580" dirty="0">
                  <a:solidFill>
                    <a:srgbClr val="70504A"/>
                  </a:solidFill>
                  <a:latin typeface="+mn-lt"/>
                  <a:ea typeface="+mn-ea"/>
                  <a:cs typeface="+mn-cs"/>
                </a:rPr>
                <a:t>新材料</a:t>
              </a:r>
            </a:p>
          </p:txBody>
        </p:sp>
        <p:sp>
          <p:nvSpPr>
            <p:cNvPr id="122" name="Line 122"/>
            <p:cNvSpPr/>
            <p:nvPr/>
          </p:nvSpPr>
          <p:spPr>
            <a:xfrm>
              <a:off x="2619375" y="3600450"/>
              <a:ext cx="1009650" cy="9525"/>
            </a:xfrm>
            <a:custGeom>
              <a:avLst/>
              <a:gdLst/>
              <a:ahLst/>
              <a:cxnLst/>
              <a:rect l="l" t="t" r="r" b="b"/>
              <a:pathLst>
                <a:path w="1009650" h="9525">
                  <a:moveTo>
                    <a:pt x="0" y="0"/>
                  </a:moveTo>
                  <a:lnTo>
                    <a:pt x="1009650" y="0"/>
                  </a:lnTo>
                </a:path>
              </a:pathLst>
            </a:custGeom>
            <a:noFill/>
            <a:ln w="9525">
              <a:solidFill>
                <a:srgbClr val="DDE6F2"/>
              </a:solidFill>
            </a:ln>
          </p:spPr>
        </p:sp>
        <p:sp>
          <p:nvSpPr>
            <p:cNvPr id="123" name="TextBox 123"/>
            <p:cNvSpPr txBox="1"/>
            <p:nvPr/>
          </p:nvSpPr>
          <p:spPr>
            <a:xfrm>
              <a:off x="2614612" y="3707130"/>
              <a:ext cx="852583"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授信储备：</a:t>
              </a:r>
              <a:r>
                <a:rPr lang="zh-CN" sz="600" b="1" dirty="0">
                  <a:solidFill>
                    <a:srgbClr val="E04C2E"/>
                  </a:solidFill>
                  <a:latin typeface="+mn-lt"/>
                  <a:ea typeface="+mn-ea"/>
                  <a:cs typeface="+mn-cs"/>
                </a:rPr>
                <a:t>128.6</a:t>
              </a:r>
              <a:r>
                <a:rPr lang="zh-CN" sz="600" dirty="0">
                  <a:solidFill>
                    <a:srgbClr val="70504A"/>
                  </a:solidFill>
                  <a:latin typeface="+mn-lt"/>
                  <a:ea typeface="+mn-ea"/>
                  <a:cs typeface="+mn-cs"/>
                </a:rPr>
                <a:t>亿元​</a:t>
              </a:r>
            </a:p>
          </p:txBody>
        </p:sp>
        <p:sp>
          <p:nvSpPr>
            <p:cNvPr id="124" name="TextBox 124"/>
            <p:cNvSpPr txBox="1"/>
            <p:nvPr/>
          </p:nvSpPr>
          <p:spPr>
            <a:xfrm>
              <a:off x="2614612" y="3859530"/>
              <a:ext cx="725165"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已投放：</a:t>
              </a:r>
              <a:r>
                <a:rPr lang="zh-CN" sz="600" b="1" dirty="0">
                  <a:solidFill>
                    <a:srgbClr val="E04C2E"/>
                  </a:solidFill>
                  <a:latin typeface="+mn-lt"/>
                  <a:ea typeface="+mn-ea"/>
                  <a:cs typeface="+mn-cs"/>
                </a:rPr>
                <a:t>52.3</a:t>
              </a:r>
              <a:r>
                <a:rPr lang="zh-CN" sz="600" dirty="0">
                  <a:solidFill>
                    <a:srgbClr val="70504A"/>
                  </a:solidFill>
                  <a:latin typeface="+mn-lt"/>
                  <a:ea typeface="+mn-ea"/>
                  <a:cs typeface="+mn-cs"/>
                </a:rPr>
                <a:t>亿元​</a:t>
              </a:r>
            </a:p>
          </p:txBody>
        </p:sp>
        <p:sp>
          <p:nvSpPr>
            <p:cNvPr id="125" name="Rectangle 125"/>
            <p:cNvSpPr/>
            <p:nvPr/>
          </p:nvSpPr>
          <p:spPr>
            <a:xfrm>
              <a:off x="3800475" y="1619250"/>
              <a:ext cx="1162050" cy="2419350"/>
            </a:xfrm>
            <a:prstGeom prst="roundRect">
              <a:avLst>
                <a:gd name="adj" fmla="val 3279"/>
              </a:avLst>
            </a:prstGeom>
            <a:solidFill>
              <a:srgbClr val="F5F8FD"/>
            </a:solidFill>
            <a:ln w="9525">
              <a:solidFill>
                <a:srgbClr val="E3EAF5"/>
              </a:solidFill>
            </a:ln>
          </p:spPr>
        </p:sp>
        <p:sp>
          <p:nvSpPr>
            <p:cNvPr id="126" name="Rectangle 126"/>
            <p:cNvSpPr/>
            <p:nvPr/>
          </p:nvSpPr>
          <p:spPr>
            <a:xfrm>
              <a:off x="3800475" y="1619250"/>
              <a:ext cx="1162050" cy="190500"/>
            </a:xfrm>
            <a:prstGeom prst="roundRect">
              <a:avLst>
                <a:gd name="adj" fmla="val 20000"/>
              </a:avLst>
            </a:prstGeom>
            <a:solidFill>
              <a:srgbClr val="E04C2E"/>
            </a:solidFill>
            <a:ln>
              <a:noFill/>
            </a:ln>
          </p:spPr>
        </p:sp>
        <p:sp>
          <p:nvSpPr>
            <p:cNvPr id="127" name="TextBox 127"/>
            <p:cNvSpPr txBox="1"/>
            <p:nvPr/>
          </p:nvSpPr>
          <p:spPr>
            <a:xfrm>
              <a:off x="4174808" y="16716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现代服务</a:t>
              </a:r>
            </a:p>
          </p:txBody>
        </p:sp>
        <p:grpSp>
          <p:nvGrpSpPr>
            <p:cNvPr id="132" name="Group 132"/>
            <p:cNvGrpSpPr/>
            <p:nvPr/>
          </p:nvGrpSpPr>
          <p:grpSpPr>
            <a:xfrm>
              <a:off x="4288631" y="1897856"/>
              <a:ext cx="185737" cy="175418"/>
              <a:chOff x="4288631" y="1897856"/>
              <a:chExt cx="185737" cy="175418"/>
            </a:xfrm>
          </p:grpSpPr>
          <p:sp>
            <p:nvSpPr>
              <p:cNvPr id="128" name="Freeform 128"/>
              <p:cNvSpPr/>
              <p:nvPr/>
            </p:nvSpPr>
            <p:spPr>
              <a:xfrm>
                <a:off x="4288631" y="1939131"/>
                <a:ext cx="185737" cy="134143"/>
              </a:xfrm>
              <a:custGeom>
                <a:avLst/>
                <a:gdLst/>
                <a:ahLst/>
                <a:cxnLst/>
                <a:rect l="l" t="t" r="r" b="b"/>
                <a:pathLst>
                  <a:path w="185737" h="134143">
                    <a:moveTo>
                      <a:pt x="0" y="20637"/>
                    </a:moveTo>
                    <a:cubicBezTo>
                      <a:pt x="0" y="9240"/>
                      <a:pt x="9240" y="0"/>
                      <a:pt x="20637" y="0"/>
                    </a:cubicBezTo>
                    <a:lnTo>
                      <a:pt x="165099" y="0"/>
                    </a:lnTo>
                    <a:cubicBezTo>
                      <a:pt x="176497" y="0"/>
                      <a:pt x="185737" y="9240"/>
                      <a:pt x="185737" y="20637"/>
                    </a:cubicBezTo>
                    <a:lnTo>
                      <a:pt x="185737" y="113506"/>
                    </a:lnTo>
                    <a:cubicBezTo>
                      <a:pt x="185737" y="124904"/>
                      <a:pt x="176497" y="134143"/>
                      <a:pt x="165099" y="134143"/>
                    </a:cubicBezTo>
                    <a:lnTo>
                      <a:pt x="20637" y="134143"/>
                    </a:lnTo>
                    <a:cubicBezTo>
                      <a:pt x="9240" y="134143"/>
                      <a:pt x="0" y="124904"/>
                      <a:pt x="0" y="113506"/>
                    </a:cubicBezTo>
                    <a:lnTo>
                      <a:pt x="0" y="20637"/>
                    </a:lnTo>
                  </a:path>
                </a:pathLst>
              </a:custGeom>
              <a:noFill/>
              <a:ln w="20637">
                <a:solidFill>
                  <a:srgbClr val="69281B"/>
                </a:solidFill>
              </a:ln>
            </p:spPr>
          </p:sp>
          <p:sp>
            <p:nvSpPr>
              <p:cNvPr id="129" name="Freeform 129"/>
              <p:cNvSpPr/>
              <p:nvPr/>
            </p:nvSpPr>
            <p:spPr>
              <a:xfrm>
                <a:off x="4340225" y="1897856"/>
                <a:ext cx="82550" cy="41275"/>
              </a:xfrm>
              <a:custGeom>
                <a:avLst/>
                <a:gdLst/>
                <a:ahLst/>
                <a:cxnLst/>
                <a:rect l="l" t="t" r="r" b="b"/>
                <a:pathLst>
                  <a:path w="82550" h="41275">
                    <a:moveTo>
                      <a:pt x="0" y="41275"/>
                    </a:moveTo>
                    <a:lnTo>
                      <a:pt x="0" y="20637"/>
                    </a:lnTo>
                    <a:cubicBezTo>
                      <a:pt x="0" y="9240"/>
                      <a:pt x="9240" y="0"/>
                      <a:pt x="20637" y="0"/>
                    </a:cubicBezTo>
                    <a:lnTo>
                      <a:pt x="61912" y="0"/>
                    </a:lnTo>
                    <a:cubicBezTo>
                      <a:pt x="73310" y="0"/>
                      <a:pt x="82550" y="9240"/>
                      <a:pt x="82550" y="20637"/>
                    </a:cubicBezTo>
                    <a:lnTo>
                      <a:pt x="82550" y="41275"/>
                    </a:lnTo>
                  </a:path>
                </a:pathLst>
              </a:custGeom>
              <a:noFill/>
              <a:ln w="20637">
                <a:solidFill>
                  <a:srgbClr val="69281B"/>
                </a:solidFill>
              </a:ln>
            </p:spPr>
          </p:sp>
          <p:sp>
            <p:nvSpPr>
              <p:cNvPr id="130" name="Freeform 130"/>
              <p:cNvSpPr/>
              <p:nvPr/>
            </p:nvSpPr>
            <p:spPr>
              <a:xfrm>
                <a:off x="4381500" y="1990725"/>
                <a:ext cx="9525" cy="9525"/>
              </a:xfrm>
              <a:custGeom>
                <a:avLst/>
                <a:gdLst/>
                <a:ahLst/>
                <a:cxnLst/>
                <a:rect l="l" t="t" r="r" b="b"/>
                <a:pathLst>
                  <a:path w="9525" h="9525">
                    <a:moveTo>
                      <a:pt x="0" y="0"/>
                    </a:moveTo>
                    <a:lnTo>
                      <a:pt x="0" y="103"/>
                    </a:lnTo>
                  </a:path>
                </a:pathLst>
              </a:custGeom>
              <a:noFill/>
              <a:ln w="20637">
                <a:solidFill>
                  <a:srgbClr val="69281B"/>
                </a:solidFill>
              </a:ln>
            </p:spPr>
          </p:sp>
          <p:sp>
            <p:nvSpPr>
              <p:cNvPr id="131" name="Freeform 131"/>
              <p:cNvSpPr/>
              <p:nvPr/>
            </p:nvSpPr>
            <p:spPr>
              <a:xfrm>
                <a:off x="4288631" y="2001043"/>
                <a:ext cx="185737" cy="29435"/>
              </a:xfrm>
              <a:custGeom>
                <a:avLst/>
                <a:gdLst/>
                <a:ahLst/>
                <a:cxnLst/>
                <a:rect l="l" t="t" r="r" b="b"/>
                <a:pathLst>
                  <a:path w="185737" h="29435">
                    <a:moveTo>
                      <a:pt x="0" y="0"/>
                    </a:moveTo>
                    <a:cubicBezTo>
                      <a:pt x="58414" y="29435"/>
                      <a:pt x="127323" y="29435"/>
                      <a:pt x="185737" y="0"/>
                    </a:cubicBezTo>
                  </a:path>
                </a:pathLst>
              </a:custGeom>
              <a:noFill/>
              <a:ln w="20637">
                <a:solidFill>
                  <a:srgbClr val="69281B"/>
                </a:solidFill>
              </a:ln>
            </p:spPr>
          </p:sp>
        </p:grpSp>
        <p:sp>
          <p:nvSpPr>
            <p:cNvPr id="133" name="TextBox 133"/>
            <p:cNvSpPr txBox="1"/>
            <p:nvPr/>
          </p:nvSpPr>
          <p:spPr>
            <a:xfrm>
              <a:off x="3871912" y="2198132"/>
              <a:ext cx="699210"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项目数量：</a:t>
              </a:r>
              <a:r>
                <a:rPr lang="zh-CN" sz="640" b="1" dirty="0">
                  <a:solidFill>
                    <a:srgbClr val="69281B"/>
                  </a:solidFill>
                  <a:latin typeface="+mn-lt"/>
                  <a:ea typeface="+mn-ea"/>
                  <a:cs typeface="+mn-cs"/>
                </a:rPr>
                <a:t>52</a:t>
              </a:r>
              <a:r>
                <a:rPr lang="zh-CN" sz="640" dirty="0">
                  <a:solidFill>
                    <a:srgbClr val="70504A"/>
                  </a:solidFill>
                  <a:latin typeface="+mn-lt"/>
                  <a:ea typeface="+mn-ea"/>
                  <a:cs typeface="+mn-cs"/>
                </a:rPr>
                <a:t xml:space="preserve"> 个​</a:t>
              </a:r>
            </a:p>
          </p:txBody>
        </p:sp>
        <p:sp>
          <p:nvSpPr>
            <p:cNvPr id="134" name="TextBox 134"/>
            <p:cNvSpPr txBox="1"/>
            <p:nvPr/>
          </p:nvSpPr>
          <p:spPr>
            <a:xfrm>
              <a:off x="3871912" y="2321957"/>
              <a:ext cx="613053"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已合作：</a:t>
              </a:r>
              <a:r>
                <a:rPr lang="zh-CN" sz="640" b="1" dirty="0">
                  <a:solidFill>
                    <a:srgbClr val="69281B"/>
                  </a:solidFill>
                  <a:latin typeface="+mn-lt"/>
                  <a:ea typeface="+mn-ea"/>
                  <a:cs typeface="+mn-cs"/>
                </a:rPr>
                <a:t>31</a:t>
              </a:r>
              <a:r>
                <a:rPr lang="zh-CN" sz="640" dirty="0">
                  <a:solidFill>
                    <a:srgbClr val="70504A"/>
                  </a:solidFill>
                  <a:latin typeface="+mn-lt"/>
                  <a:ea typeface="+mn-ea"/>
                  <a:cs typeface="+mn-cs"/>
                </a:rPr>
                <a:t xml:space="preserve"> 个​</a:t>
              </a:r>
            </a:p>
          </p:txBody>
        </p:sp>
        <p:sp>
          <p:nvSpPr>
            <p:cNvPr id="135" name="TextBox 135"/>
            <p:cNvSpPr txBox="1"/>
            <p:nvPr/>
          </p:nvSpPr>
          <p:spPr>
            <a:xfrm>
              <a:off x="3871912" y="2508599"/>
              <a:ext cx="748665" cy="430530"/>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现代物流与供应链</a:t>
              </a:r>
            </a:p>
            <a:p>
              <a:pPr algn="l" marL="76200" indent="-76200">
                <a:lnSpc>
                  <a:spcPts val="825"/>
                </a:lnSpc>
                <a:buClr>
                  <a:srgbClr val="70504A"/>
                </a:buClr>
                <a:buSzTx/>
                <a:buFontTx/>
                <a:buChar char="•"/>
              </a:pPr>
              <a:r>
                <a:rPr lang="zh-CN" sz="580" dirty="0">
                  <a:solidFill>
                    <a:srgbClr val="70504A"/>
                  </a:solidFill>
                  <a:latin typeface="+mn-lt"/>
                  <a:ea typeface="+mn-ea"/>
                  <a:cs typeface="+mn-cs"/>
                </a:rPr>
                <a:t>商贸流通与会展</a:t>
              </a:r>
            </a:p>
            <a:p>
              <a:pPr algn="l" marL="76200" indent="-76200">
                <a:lnSpc>
                  <a:spcPts val="825"/>
                </a:lnSpc>
                <a:buClr>
                  <a:srgbClr val="70504A"/>
                </a:buClr>
                <a:buSzTx/>
                <a:buFontTx/>
                <a:buChar char="•"/>
              </a:pPr>
              <a:r>
                <a:rPr lang="zh-CN" sz="580" dirty="0">
                  <a:solidFill>
                    <a:srgbClr val="70504A"/>
                  </a:solidFill>
                  <a:latin typeface="+mn-lt"/>
                  <a:ea typeface="+mn-ea"/>
                  <a:cs typeface="+mn-cs"/>
                </a:rPr>
                <a:t>数字经济与平台经济</a:t>
              </a:r>
            </a:p>
            <a:p>
              <a:pPr algn="l" marL="76200" indent="-76200">
                <a:lnSpc>
                  <a:spcPts val="825"/>
                </a:lnSpc>
                <a:buClr>
                  <a:srgbClr val="70504A"/>
                </a:buClr>
                <a:buSzTx/>
                <a:buFontTx/>
                <a:buChar char="•"/>
              </a:pPr>
              <a:r>
                <a:rPr lang="zh-CN" sz="580" dirty="0">
                  <a:solidFill>
                    <a:srgbClr val="70504A"/>
                  </a:solidFill>
                  <a:latin typeface="+mn-lt"/>
                  <a:ea typeface="+mn-ea"/>
                  <a:cs typeface="+mn-cs"/>
                </a:rPr>
                <a:t>专业服务</a:t>
              </a:r>
            </a:p>
          </p:txBody>
        </p:sp>
        <p:sp>
          <p:nvSpPr>
            <p:cNvPr id="136" name="Line 136"/>
            <p:cNvSpPr/>
            <p:nvPr/>
          </p:nvSpPr>
          <p:spPr>
            <a:xfrm>
              <a:off x="3876675" y="3600450"/>
              <a:ext cx="1009650" cy="9525"/>
            </a:xfrm>
            <a:custGeom>
              <a:avLst/>
              <a:gdLst/>
              <a:ahLst/>
              <a:cxnLst/>
              <a:rect l="l" t="t" r="r" b="b"/>
              <a:pathLst>
                <a:path w="1009650" h="9525">
                  <a:moveTo>
                    <a:pt x="0" y="0"/>
                  </a:moveTo>
                  <a:lnTo>
                    <a:pt x="1009650" y="0"/>
                  </a:lnTo>
                </a:path>
              </a:pathLst>
            </a:custGeom>
            <a:noFill/>
            <a:ln w="9525">
              <a:solidFill>
                <a:srgbClr val="DDE6F2"/>
              </a:solidFill>
            </a:ln>
          </p:spPr>
        </p:sp>
        <p:sp>
          <p:nvSpPr>
            <p:cNvPr id="137" name="TextBox 137"/>
            <p:cNvSpPr txBox="1"/>
            <p:nvPr/>
          </p:nvSpPr>
          <p:spPr>
            <a:xfrm>
              <a:off x="3871912" y="3707130"/>
              <a:ext cx="805937"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授信储备：</a:t>
              </a:r>
              <a:r>
                <a:rPr lang="zh-CN" sz="600" b="1" dirty="0">
                  <a:solidFill>
                    <a:srgbClr val="E04C2E"/>
                  </a:solidFill>
                  <a:latin typeface="+mn-lt"/>
                  <a:ea typeface="+mn-ea"/>
                  <a:cs typeface="+mn-cs"/>
                </a:rPr>
                <a:t>96.4</a:t>
              </a:r>
              <a:r>
                <a:rPr lang="zh-CN" sz="600" dirty="0">
                  <a:solidFill>
                    <a:srgbClr val="70504A"/>
                  </a:solidFill>
                  <a:latin typeface="+mn-lt"/>
                  <a:ea typeface="+mn-ea"/>
                  <a:cs typeface="+mn-cs"/>
                </a:rPr>
                <a:t>亿元​</a:t>
              </a:r>
            </a:p>
          </p:txBody>
        </p:sp>
        <p:sp>
          <p:nvSpPr>
            <p:cNvPr id="138" name="TextBox 138"/>
            <p:cNvSpPr txBox="1"/>
            <p:nvPr/>
          </p:nvSpPr>
          <p:spPr>
            <a:xfrm>
              <a:off x="3871912" y="3859530"/>
              <a:ext cx="725165"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已投放：</a:t>
              </a:r>
              <a:r>
                <a:rPr lang="zh-CN" sz="600" b="1" dirty="0">
                  <a:solidFill>
                    <a:srgbClr val="E04C2E"/>
                  </a:solidFill>
                  <a:latin typeface="+mn-lt"/>
                  <a:ea typeface="+mn-ea"/>
                  <a:cs typeface="+mn-cs"/>
                </a:rPr>
                <a:t>36.8</a:t>
              </a:r>
              <a:r>
                <a:rPr lang="zh-CN" sz="600" dirty="0">
                  <a:solidFill>
                    <a:srgbClr val="70504A"/>
                  </a:solidFill>
                  <a:latin typeface="+mn-lt"/>
                  <a:ea typeface="+mn-ea"/>
                  <a:cs typeface="+mn-cs"/>
                </a:rPr>
                <a:t>亿元​</a:t>
              </a:r>
            </a:p>
          </p:txBody>
        </p:sp>
        <p:sp>
          <p:nvSpPr>
            <p:cNvPr id="139" name="Rectangle 139"/>
            <p:cNvSpPr/>
            <p:nvPr/>
          </p:nvSpPr>
          <p:spPr>
            <a:xfrm>
              <a:off x="5057775" y="1619250"/>
              <a:ext cx="1162050" cy="2419350"/>
            </a:xfrm>
            <a:prstGeom prst="roundRect">
              <a:avLst>
                <a:gd name="adj" fmla="val 3279"/>
              </a:avLst>
            </a:prstGeom>
            <a:solidFill>
              <a:srgbClr val="F5F8FD"/>
            </a:solidFill>
            <a:ln w="9525">
              <a:solidFill>
                <a:srgbClr val="E3EAF5"/>
              </a:solidFill>
            </a:ln>
          </p:spPr>
        </p:sp>
        <p:sp>
          <p:nvSpPr>
            <p:cNvPr id="140" name="Rectangle 140"/>
            <p:cNvSpPr/>
            <p:nvPr/>
          </p:nvSpPr>
          <p:spPr>
            <a:xfrm>
              <a:off x="5057775" y="1619250"/>
              <a:ext cx="1162050" cy="190500"/>
            </a:xfrm>
            <a:prstGeom prst="roundRect">
              <a:avLst>
                <a:gd name="adj" fmla="val 20000"/>
              </a:avLst>
            </a:prstGeom>
            <a:solidFill>
              <a:srgbClr val="E04C2E"/>
            </a:solidFill>
            <a:ln>
              <a:noFill/>
            </a:ln>
          </p:spPr>
        </p:sp>
        <p:sp>
          <p:nvSpPr>
            <p:cNvPr id="141" name="TextBox 141"/>
            <p:cNvSpPr txBox="1"/>
            <p:nvPr/>
          </p:nvSpPr>
          <p:spPr>
            <a:xfrm>
              <a:off x="5432108" y="16716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战略新兴</a:t>
              </a:r>
            </a:p>
          </p:txBody>
        </p:sp>
        <p:grpSp>
          <p:nvGrpSpPr>
            <p:cNvPr id="145" name="Group 145"/>
            <p:cNvGrpSpPr/>
            <p:nvPr/>
          </p:nvGrpSpPr>
          <p:grpSpPr>
            <a:xfrm>
              <a:off x="5552991" y="1908175"/>
              <a:ext cx="168358" cy="168359"/>
              <a:chOff x="5552991" y="1908175"/>
              <a:chExt cx="168358" cy="168359"/>
            </a:xfrm>
          </p:grpSpPr>
          <p:sp>
            <p:nvSpPr>
              <p:cNvPr id="142" name="Freeform 142"/>
              <p:cNvSpPr/>
              <p:nvPr/>
            </p:nvSpPr>
            <p:spPr>
              <a:xfrm>
                <a:off x="5556250" y="1908175"/>
                <a:ext cx="165099" cy="165099"/>
              </a:xfrm>
              <a:custGeom>
                <a:avLst/>
                <a:gdLst/>
                <a:ahLst/>
                <a:cxnLst/>
                <a:rect l="l" t="t" r="r" b="b"/>
                <a:pathLst>
                  <a:path w="165099" h="165099">
                    <a:moveTo>
                      <a:pt x="0" y="92868"/>
                    </a:moveTo>
                    <a:cubicBezTo>
                      <a:pt x="37872" y="97369"/>
                      <a:pt x="67730" y="127228"/>
                      <a:pt x="72231" y="165099"/>
                    </a:cubicBezTo>
                    <a:cubicBezTo>
                      <a:pt x="90774" y="154409"/>
                      <a:pt x="102481" y="134899"/>
                      <a:pt x="103187" y="113506"/>
                    </a:cubicBezTo>
                    <a:cubicBezTo>
                      <a:pt x="138619" y="101041"/>
                      <a:pt x="163055" y="68461"/>
                      <a:pt x="165099" y="30956"/>
                    </a:cubicBezTo>
                    <a:cubicBezTo>
                      <a:pt x="165099" y="13860"/>
                      <a:pt x="151240" y="0"/>
                      <a:pt x="134143" y="0"/>
                    </a:cubicBezTo>
                    <a:cubicBezTo>
                      <a:pt x="96638" y="2045"/>
                      <a:pt x="64058" y="26480"/>
                      <a:pt x="51594" y="61912"/>
                    </a:cubicBezTo>
                    <a:cubicBezTo>
                      <a:pt x="30201" y="62619"/>
                      <a:pt x="10691" y="74325"/>
                      <a:pt x="0" y="92868"/>
                    </a:cubicBezTo>
                  </a:path>
                </a:pathLst>
              </a:custGeom>
              <a:noFill/>
              <a:ln w="20637">
                <a:solidFill>
                  <a:srgbClr val="69281B"/>
                </a:solidFill>
              </a:ln>
            </p:spPr>
          </p:sp>
          <p:sp>
            <p:nvSpPr>
              <p:cNvPr id="143" name="Freeform 143"/>
              <p:cNvSpPr/>
              <p:nvPr/>
            </p:nvSpPr>
            <p:spPr>
              <a:xfrm>
                <a:off x="5552991" y="2011362"/>
                <a:ext cx="65172" cy="65172"/>
              </a:xfrm>
              <a:custGeom>
                <a:avLst/>
                <a:gdLst/>
                <a:ahLst/>
                <a:cxnLst/>
                <a:rect l="l" t="t" r="r" b="b"/>
                <a:pathLst>
                  <a:path w="65172" h="65172">
                    <a:moveTo>
                      <a:pt x="34215" y="0"/>
                    </a:moveTo>
                    <a:cubicBezTo>
                      <a:pt x="12246" y="12403"/>
                      <a:pt x="0" y="36895"/>
                      <a:pt x="3259" y="61912"/>
                    </a:cubicBezTo>
                    <a:cubicBezTo>
                      <a:pt x="28276" y="65172"/>
                      <a:pt x="52769" y="52925"/>
                      <a:pt x="65172" y="30956"/>
                    </a:cubicBezTo>
                  </a:path>
                </a:pathLst>
              </a:custGeom>
              <a:noFill/>
              <a:ln w="20637">
                <a:solidFill>
                  <a:srgbClr val="69281B"/>
                </a:solidFill>
              </a:ln>
            </p:spPr>
          </p:sp>
          <p:sp>
            <p:nvSpPr>
              <p:cNvPr id="144" name="Freeform 144"/>
              <p:cNvSpPr/>
              <p:nvPr/>
            </p:nvSpPr>
            <p:spPr>
              <a:xfrm>
                <a:off x="5659437" y="1949450"/>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69281B"/>
                </a:solidFill>
              </a:ln>
            </p:spPr>
          </p:sp>
        </p:grpSp>
        <p:sp>
          <p:nvSpPr>
            <p:cNvPr id="146" name="TextBox 146"/>
            <p:cNvSpPr txBox="1"/>
            <p:nvPr/>
          </p:nvSpPr>
          <p:spPr>
            <a:xfrm>
              <a:off x="5129212" y="2198132"/>
              <a:ext cx="699210"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项目数量：</a:t>
              </a:r>
              <a:r>
                <a:rPr lang="zh-CN" sz="640" b="1" dirty="0">
                  <a:solidFill>
                    <a:srgbClr val="69281B"/>
                  </a:solidFill>
                  <a:latin typeface="+mn-lt"/>
                  <a:ea typeface="+mn-ea"/>
                  <a:cs typeface="+mn-cs"/>
                </a:rPr>
                <a:t>41</a:t>
              </a:r>
              <a:r>
                <a:rPr lang="zh-CN" sz="640" dirty="0">
                  <a:solidFill>
                    <a:srgbClr val="70504A"/>
                  </a:solidFill>
                  <a:latin typeface="+mn-lt"/>
                  <a:ea typeface="+mn-ea"/>
                  <a:cs typeface="+mn-cs"/>
                </a:rPr>
                <a:t xml:space="preserve"> 个​</a:t>
              </a:r>
            </a:p>
          </p:txBody>
        </p:sp>
        <p:sp>
          <p:nvSpPr>
            <p:cNvPr id="147" name="TextBox 147"/>
            <p:cNvSpPr txBox="1"/>
            <p:nvPr/>
          </p:nvSpPr>
          <p:spPr>
            <a:xfrm>
              <a:off x="5129212" y="2321957"/>
              <a:ext cx="613053"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已合作：</a:t>
              </a:r>
              <a:r>
                <a:rPr lang="zh-CN" sz="640" b="1" dirty="0">
                  <a:solidFill>
                    <a:srgbClr val="69281B"/>
                  </a:solidFill>
                  <a:latin typeface="+mn-lt"/>
                  <a:ea typeface="+mn-ea"/>
                  <a:cs typeface="+mn-cs"/>
                </a:rPr>
                <a:t>23</a:t>
              </a:r>
              <a:r>
                <a:rPr lang="zh-CN" sz="640" dirty="0">
                  <a:solidFill>
                    <a:srgbClr val="70504A"/>
                  </a:solidFill>
                  <a:latin typeface="+mn-lt"/>
                  <a:ea typeface="+mn-ea"/>
                  <a:cs typeface="+mn-cs"/>
                </a:rPr>
                <a:t xml:space="preserve"> 个​</a:t>
              </a:r>
            </a:p>
          </p:txBody>
        </p:sp>
        <p:sp>
          <p:nvSpPr>
            <p:cNvPr id="148" name="TextBox 148"/>
            <p:cNvSpPr txBox="1"/>
            <p:nvPr/>
          </p:nvSpPr>
          <p:spPr>
            <a:xfrm>
              <a:off x="5129212" y="2508599"/>
              <a:ext cx="748665" cy="430530"/>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生物医药与大健康</a:t>
              </a:r>
            </a:p>
            <a:p>
              <a:pPr algn="l" marL="76200" indent="-76200">
                <a:lnSpc>
                  <a:spcPts val="825"/>
                </a:lnSpc>
                <a:buClr>
                  <a:srgbClr val="70504A"/>
                </a:buClr>
                <a:buSzTx/>
                <a:buFontTx/>
                <a:buChar char="•"/>
              </a:pPr>
              <a:r>
                <a:rPr lang="zh-CN" sz="580" dirty="0">
                  <a:solidFill>
                    <a:srgbClr val="70504A"/>
                  </a:solidFill>
                  <a:latin typeface="+mn-lt"/>
                  <a:ea typeface="+mn-ea"/>
                  <a:cs typeface="+mn-cs"/>
                </a:rPr>
                <a:t>新能源及智能网联</a:t>
              </a:r>
            </a:p>
            <a:p>
              <a:pPr algn="l" marL="76200" indent="-76200">
                <a:lnSpc>
                  <a:spcPts val="825"/>
                </a:lnSpc>
                <a:buClr>
                  <a:srgbClr val="70504A"/>
                </a:buClr>
                <a:buSzTx/>
                <a:buFontTx/>
                <a:buChar char="•"/>
              </a:pPr>
              <a:r>
                <a:rPr lang="zh-CN" sz="580" dirty="0">
                  <a:solidFill>
                    <a:srgbClr val="70504A"/>
                  </a:solidFill>
                  <a:latin typeface="+mn-lt"/>
                  <a:ea typeface="+mn-ea"/>
                  <a:cs typeface="+mn-cs"/>
                </a:rPr>
                <a:t>低空经济与商业航天</a:t>
              </a:r>
            </a:p>
            <a:p>
              <a:pPr algn="l" marL="76200" indent="-76200">
                <a:lnSpc>
                  <a:spcPts val="825"/>
                </a:lnSpc>
                <a:buClr>
                  <a:srgbClr val="70504A"/>
                </a:buClr>
                <a:buSzTx/>
                <a:buFontTx/>
                <a:buChar char="•"/>
              </a:pPr>
              <a:r>
                <a:rPr lang="zh-CN" sz="580" dirty="0">
                  <a:solidFill>
                    <a:srgbClr val="70504A"/>
                  </a:solidFill>
                  <a:latin typeface="+mn-lt"/>
                  <a:ea typeface="+mn-ea"/>
                  <a:cs typeface="+mn-cs"/>
                </a:rPr>
                <a:t>人工智能与半导体</a:t>
              </a:r>
            </a:p>
          </p:txBody>
        </p:sp>
        <p:sp>
          <p:nvSpPr>
            <p:cNvPr id="149" name="Line 149"/>
            <p:cNvSpPr/>
            <p:nvPr/>
          </p:nvSpPr>
          <p:spPr>
            <a:xfrm>
              <a:off x="5133975" y="3600450"/>
              <a:ext cx="1009650" cy="9525"/>
            </a:xfrm>
            <a:custGeom>
              <a:avLst/>
              <a:gdLst/>
              <a:ahLst/>
              <a:cxnLst/>
              <a:rect l="l" t="t" r="r" b="b"/>
              <a:pathLst>
                <a:path w="1009650" h="9525">
                  <a:moveTo>
                    <a:pt x="0" y="0"/>
                  </a:moveTo>
                  <a:lnTo>
                    <a:pt x="1009650" y="0"/>
                  </a:lnTo>
                </a:path>
              </a:pathLst>
            </a:custGeom>
            <a:noFill/>
            <a:ln w="9525">
              <a:solidFill>
                <a:srgbClr val="DDE6F2"/>
              </a:solidFill>
            </a:ln>
          </p:spPr>
        </p:sp>
        <p:sp>
          <p:nvSpPr>
            <p:cNvPr id="150" name="TextBox 150"/>
            <p:cNvSpPr txBox="1"/>
            <p:nvPr/>
          </p:nvSpPr>
          <p:spPr>
            <a:xfrm>
              <a:off x="5129212" y="3707130"/>
              <a:ext cx="852583"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授信储备：</a:t>
              </a:r>
              <a:r>
                <a:rPr lang="zh-CN" sz="600" b="1" dirty="0">
                  <a:solidFill>
                    <a:srgbClr val="E04C2E"/>
                  </a:solidFill>
                  <a:latin typeface="+mn-lt"/>
                  <a:ea typeface="+mn-ea"/>
                  <a:cs typeface="+mn-cs"/>
                </a:rPr>
                <a:t>102.7</a:t>
              </a:r>
              <a:r>
                <a:rPr lang="zh-CN" sz="600" dirty="0">
                  <a:solidFill>
                    <a:srgbClr val="70504A"/>
                  </a:solidFill>
                  <a:latin typeface="+mn-lt"/>
                  <a:ea typeface="+mn-ea"/>
                  <a:cs typeface="+mn-cs"/>
                </a:rPr>
                <a:t>亿元​</a:t>
              </a:r>
            </a:p>
          </p:txBody>
        </p:sp>
        <p:sp>
          <p:nvSpPr>
            <p:cNvPr id="151" name="TextBox 151"/>
            <p:cNvSpPr txBox="1"/>
            <p:nvPr/>
          </p:nvSpPr>
          <p:spPr>
            <a:xfrm>
              <a:off x="5129212" y="3859530"/>
              <a:ext cx="725165"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已投放：</a:t>
              </a:r>
              <a:r>
                <a:rPr lang="zh-CN" sz="600" b="1" dirty="0">
                  <a:solidFill>
                    <a:srgbClr val="E04C2E"/>
                  </a:solidFill>
                  <a:latin typeface="+mn-lt"/>
                  <a:ea typeface="+mn-ea"/>
                  <a:cs typeface="+mn-cs"/>
                </a:rPr>
                <a:t>38.6</a:t>
              </a:r>
              <a:r>
                <a:rPr lang="zh-CN" sz="600" dirty="0">
                  <a:solidFill>
                    <a:srgbClr val="70504A"/>
                  </a:solidFill>
                  <a:latin typeface="+mn-lt"/>
                  <a:ea typeface="+mn-ea"/>
                  <a:cs typeface="+mn-cs"/>
                </a:rPr>
                <a:t>亿元​</a:t>
              </a:r>
            </a:p>
          </p:txBody>
        </p:sp>
        <p:sp>
          <p:nvSpPr>
            <p:cNvPr id="152" name="Rectangle 152"/>
            <p:cNvSpPr/>
            <p:nvPr/>
          </p:nvSpPr>
          <p:spPr>
            <a:xfrm>
              <a:off x="6315075" y="1619250"/>
              <a:ext cx="1162050" cy="2419350"/>
            </a:xfrm>
            <a:prstGeom prst="roundRect">
              <a:avLst>
                <a:gd name="adj" fmla="val 3279"/>
              </a:avLst>
            </a:prstGeom>
            <a:solidFill>
              <a:srgbClr val="F5F8FD"/>
            </a:solidFill>
            <a:ln w="9525">
              <a:solidFill>
                <a:srgbClr val="E3EAF5"/>
              </a:solidFill>
            </a:ln>
          </p:spPr>
        </p:sp>
        <p:sp>
          <p:nvSpPr>
            <p:cNvPr id="153" name="Rectangle 153"/>
            <p:cNvSpPr/>
            <p:nvPr/>
          </p:nvSpPr>
          <p:spPr>
            <a:xfrm>
              <a:off x="6315075" y="1619250"/>
              <a:ext cx="1162050" cy="190500"/>
            </a:xfrm>
            <a:prstGeom prst="roundRect">
              <a:avLst>
                <a:gd name="adj" fmla="val 20000"/>
              </a:avLst>
            </a:prstGeom>
            <a:solidFill>
              <a:srgbClr val="E04C2E"/>
            </a:solidFill>
            <a:ln>
              <a:noFill/>
            </a:ln>
          </p:spPr>
        </p:sp>
        <p:sp>
          <p:nvSpPr>
            <p:cNvPr id="154" name="TextBox 154"/>
            <p:cNvSpPr txBox="1"/>
            <p:nvPr/>
          </p:nvSpPr>
          <p:spPr>
            <a:xfrm>
              <a:off x="6689408" y="16716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城市更新</a:t>
              </a:r>
            </a:p>
          </p:txBody>
        </p:sp>
        <p:grpSp>
          <p:nvGrpSpPr>
            <p:cNvPr id="163" name="Group 163"/>
            <p:cNvGrpSpPr/>
            <p:nvPr/>
          </p:nvGrpSpPr>
          <p:grpSpPr>
            <a:xfrm>
              <a:off x="6803231" y="1897856"/>
              <a:ext cx="185737" cy="195262"/>
              <a:chOff x="6803231" y="1897856"/>
              <a:chExt cx="185737" cy="195262"/>
            </a:xfrm>
          </p:grpSpPr>
          <p:sp>
            <p:nvSpPr>
              <p:cNvPr id="155" name="Freeform 155"/>
              <p:cNvSpPr/>
              <p:nvPr/>
            </p:nvSpPr>
            <p:spPr>
              <a:xfrm>
                <a:off x="6803231" y="2083593"/>
                <a:ext cx="185737" cy="9525"/>
              </a:xfrm>
              <a:custGeom>
                <a:avLst/>
                <a:gdLst/>
                <a:ahLst/>
                <a:cxnLst/>
                <a:rect l="l" t="t" r="r" b="b"/>
                <a:pathLst>
                  <a:path w="185737" h="9525">
                    <a:moveTo>
                      <a:pt x="0" y="0"/>
                    </a:moveTo>
                    <a:lnTo>
                      <a:pt x="185737" y="0"/>
                    </a:lnTo>
                  </a:path>
                </a:pathLst>
              </a:custGeom>
              <a:noFill/>
              <a:ln w="20637">
                <a:solidFill>
                  <a:srgbClr val="69281B"/>
                </a:solidFill>
              </a:ln>
            </p:spPr>
          </p:sp>
          <p:sp>
            <p:nvSpPr>
              <p:cNvPr id="156" name="Freeform 156"/>
              <p:cNvSpPr/>
              <p:nvPr/>
            </p:nvSpPr>
            <p:spPr>
              <a:xfrm>
                <a:off x="6803231" y="1970087"/>
                <a:ext cx="185737" cy="9525"/>
              </a:xfrm>
              <a:custGeom>
                <a:avLst/>
                <a:gdLst/>
                <a:ahLst/>
                <a:cxnLst/>
                <a:rect l="l" t="t" r="r" b="b"/>
                <a:pathLst>
                  <a:path w="185737" h="9525">
                    <a:moveTo>
                      <a:pt x="0" y="0"/>
                    </a:moveTo>
                    <a:lnTo>
                      <a:pt x="185737" y="0"/>
                    </a:lnTo>
                  </a:path>
                </a:pathLst>
              </a:custGeom>
              <a:noFill/>
              <a:ln w="20637">
                <a:solidFill>
                  <a:srgbClr val="69281B"/>
                </a:solidFill>
              </a:ln>
            </p:spPr>
          </p:sp>
          <p:sp>
            <p:nvSpPr>
              <p:cNvPr id="157" name="Freeform 157"/>
              <p:cNvSpPr/>
              <p:nvPr/>
            </p:nvSpPr>
            <p:spPr>
              <a:xfrm>
                <a:off x="6823869" y="1897856"/>
                <a:ext cx="144462" cy="30956"/>
              </a:xfrm>
              <a:custGeom>
                <a:avLst/>
                <a:gdLst/>
                <a:ahLst/>
                <a:cxnLst/>
                <a:rect l="l" t="t" r="r" b="b"/>
                <a:pathLst>
                  <a:path w="144462" h="30956">
                    <a:moveTo>
                      <a:pt x="0" y="30956"/>
                    </a:moveTo>
                    <a:lnTo>
                      <a:pt x="72231" y="0"/>
                    </a:lnTo>
                    <a:lnTo>
                      <a:pt x="144462" y="30956"/>
                    </a:lnTo>
                  </a:path>
                </a:pathLst>
              </a:custGeom>
              <a:noFill/>
              <a:ln w="20637">
                <a:solidFill>
                  <a:srgbClr val="69281B"/>
                </a:solidFill>
              </a:ln>
            </p:spPr>
          </p:sp>
          <p:sp>
            <p:nvSpPr>
              <p:cNvPr id="158" name="Freeform 158"/>
              <p:cNvSpPr/>
              <p:nvPr/>
            </p:nvSpPr>
            <p:spPr>
              <a:xfrm>
                <a:off x="6813550" y="1970087"/>
                <a:ext cx="9525" cy="113506"/>
              </a:xfrm>
              <a:custGeom>
                <a:avLst/>
                <a:gdLst/>
                <a:ahLst/>
                <a:cxnLst/>
                <a:rect l="l" t="t" r="r" b="b"/>
                <a:pathLst>
                  <a:path w="9525" h="113506">
                    <a:moveTo>
                      <a:pt x="0" y="0"/>
                    </a:moveTo>
                    <a:lnTo>
                      <a:pt x="0" y="113506"/>
                    </a:lnTo>
                  </a:path>
                </a:pathLst>
              </a:custGeom>
              <a:noFill/>
              <a:ln w="20637">
                <a:solidFill>
                  <a:srgbClr val="69281B"/>
                </a:solidFill>
              </a:ln>
            </p:spPr>
          </p:sp>
          <p:sp>
            <p:nvSpPr>
              <p:cNvPr id="159" name="Freeform 159"/>
              <p:cNvSpPr/>
              <p:nvPr/>
            </p:nvSpPr>
            <p:spPr>
              <a:xfrm>
                <a:off x="6978649" y="1970087"/>
                <a:ext cx="9525" cy="113506"/>
              </a:xfrm>
              <a:custGeom>
                <a:avLst/>
                <a:gdLst/>
                <a:ahLst/>
                <a:cxnLst/>
                <a:rect l="l" t="t" r="r" b="b"/>
                <a:pathLst>
                  <a:path w="9525" h="113506">
                    <a:moveTo>
                      <a:pt x="0" y="0"/>
                    </a:moveTo>
                    <a:lnTo>
                      <a:pt x="0" y="113506"/>
                    </a:lnTo>
                  </a:path>
                </a:pathLst>
              </a:custGeom>
              <a:noFill/>
              <a:ln w="20637">
                <a:solidFill>
                  <a:srgbClr val="69281B"/>
                </a:solidFill>
              </a:ln>
            </p:spPr>
          </p:sp>
          <p:sp>
            <p:nvSpPr>
              <p:cNvPr id="160" name="Freeform 160"/>
              <p:cNvSpPr/>
              <p:nvPr/>
            </p:nvSpPr>
            <p:spPr>
              <a:xfrm>
                <a:off x="6854825" y="2011362"/>
                <a:ext cx="9525" cy="30956"/>
              </a:xfrm>
              <a:custGeom>
                <a:avLst/>
                <a:gdLst/>
                <a:ahLst/>
                <a:cxnLst/>
                <a:rect l="l" t="t" r="r" b="b"/>
                <a:pathLst>
                  <a:path w="9525" h="30956">
                    <a:moveTo>
                      <a:pt x="0" y="0"/>
                    </a:moveTo>
                    <a:lnTo>
                      <a:pt x="0" y="30956"/>
                    </a:lnTo>
                  </a:path>
                </a:pathLst>
              </a:custGeom>
              <a:noFill/>
              <a:ln w="20637">
                <a:solidFill>
                  <a:srgbClr val="69281B"/>
                </a:solidFill>
              </a:ln>
            </p:spPr>
          </p:sp>
          <p:sp>
            <p:nvSpPr>
              <p:cNvPr id="161" name="Freeform 161"/>
              <p:cNvSpPr/>
              <p:nvPr/>
            </p:nvSpPr>
            <p:spPr>
              <a:xfrm>
                <a:off x="6896100" y="2011362"/>
                <a:ext cx="9525" cy="30956"/>
              </a:xfrm>
              <a:custGeom>
                <a:avLst/>
                <a:gdLst/>
                <a:ahLst/>
                <a:cxnLst/>
                <a:rect l="l" t="t" r="r" b="b"/>
                <a:pathLst>
                  <a:path w="9525" h="30956">
                    <a:moveTo>
                      <a:pt x="0" y="0"/>
                    </a:moveTo>
                    <a:lnTo>
                      <a:pt x="0" y="30956"/>
                    </a:lnTo>
                  </a:path>
                </a:pathLst>
              </a:custGeom>
              <a:noFill/>
              <a:ln w="20637">
                <a:solidFill>
                  <a:srgbClr val="69281B"/>
                </a:solidFill>
              </a:ln>
            </p:spPr>
          </p:sp>
          <p:sp>
            <p:nvSpPr>
              <p:cNvPr id="162" name="Freeform 162"/>
              <p:cNvSpPr/>
              <p:nvPr/>
            </p:nvSpPr>
            <p:spPr>
              <a:xfrm>
                <a:off x="6937374" y="2011362"/>
                <a:ext cx="9525" cy="30956"/>
              </a:xfrm>
              <a:custGeom>
                <a:avLst/>
                <a:gdLst/>
                <a:ahLst/>
                <a:cxnLst/>
                <a:rect l="l" t="t" r="r" b="b"/>
                <a:pathLst>
                  <a:path w="9525" h="30956">
                    <a:moveTo>
                      <a:pt x="0" y="0"/>
                    </a:moveTo>
                    <a:lnTo>
                      <a:pt x="0" y="30956"/>
                    </a:lnTo>
                  </a:path>
                </a:pathLst>
              </a:custGeom>
              <a:noFill/>
              <a:ln w="20637">
                <a:solidFill>
                  <a:srgbClr val="69281B"/>
                </a:solidFill>
              </a:ln>
            </p:spPr>
          </p:sp>
        </p:grpSp>
        <p:sp>
          <p:nvSpPr>
            <p:cNvPr id="164" name="TextBox 164"/>
            <p:cNvSpPr txBox="1"/>
            <p:nvPr/>
          </p:nvSpPr>
          <p:spPr>
            <a:xfrm>
              <a:off x="6386512" y="2198132"/>
              <a:ext cx="699210"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项目数量：</a:t>
              </a:r>
              <a:r>
                <a:rPr lang="zh-CN" sz="640" b="1" dirty="0">
                  <a:solidFill>
                    <a:srgbClr val="69281B"/>
                  </a:solidFill>
                  <a:latin typeface="+mn-lt"/>
                  <a:ea typeface="+mn-ea"/>
                  <a:cs typeface="+mn-cs"/>
                </a:rPr>
                <a:t>34</a:t>
              </a:r>
              <a:r>
                <a:rPr lang="zh-CN" sz="640" dirty="0">
                  <a:solidFill>
                    <a:srgbClr val="70504A"/>
                  </a:solidFill>
                  <a:latin typeface="+mn-lt"/>
                  <a:ea typeface="+mn-ea"/>
                  <a:cs typeface="+mn-cs"/>
                </a:rPr>
                <a:t xml:space="preserve"> 个​</a:t>
              </a:r>
            </a:p>
          </p:txBody>
        </p:sp>
        <p:sp>
          <p:nvSpPr>
            <p:cNvPr id="165" name="TextBox 165"/>
            <p:cNvSpPr txBox="1"/>
            <p:nvPr/>
          </p:nvSpPr>
          <p:spPr>
            <a:xfrm>
              <a:off x="6386512" y="2321957"/>
              <a:ext cx="613053"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已合作：</a:t>
              </a:r>
              <a:r>
                <a:rPr lang="zh-CN" sz="640" b="1" dirty="0">
                  <a:solidFill>
                    <a:srgbClr val="69281B"/>
                  </a:solidFill>
                  <a:latin typeface="+mn-lt"/>
                  <a:ea typeface="+mn-ea"/>
                  <a:cs typeface="+mn-cs"/>
                </a:rPr>
                <a:t>18</a:t>
              </a:r>
              <a:r>
                <a:rPr lang="zh-CN" sz="640" dirty="0">
                  <a:solidFill>
                    <a:srgbClr val="70504A"/>
                  </a:solidFill>
                  <a:latin typeface="+mn-lt"/>
                  <a:ea typeface="+mn-ea"/>
                  <a:cs typeface="+mn-cs"/>
                </a:rPr>
                <a:t xml:space="preserve"> 个​</a:t>
              </a:r>
            </a:p>
          </p:txBody>
        </p:sp>
        <p:sp>
          <p:nvSpPr>
            <p:cNvPr id="166" name="TextBox 166"/>
            <p:cNvSpPr txBox="1"/>
            <p:nvPr/>
          </p:nvSpPr>
          <p:spPr>
            <a:xfrm>
              <a:off x="6386512" y="2508599"/>
              <a:ext cx="527685" cy="430530"/>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城市基础设施</a:t>
              </a:r>
            </a:p>
            <a:p>
              <a:pPr algn="l" marL="76200" indent="-76200">
                <a:lnSpc>
                  <a:spcPts val="825"/>
                </a:lnSpc>
                <a:buClr>
                  <a:srgbClr val="70504A"/>
                </a:buClr>
                <a:buSzTx/>
                <a:buFontTx/>
                <a:buChar char="•"/>
              </a:pPr>
              <a:r>
                <a:rPr lang="zh-CN" sz="580" dirty="0">
                  <a:solidFill>
                    <a:srgbClr val="70504A"/>
                  </a:solidFill>
                  <a:latin typeface="+mn-lt"/>
                  <a:ea typeface="+mn-ea"/>
                  <a:cs typeface="+mn-cs"/>
                </a:rPr>
                <a:t>保障性住房</a:t>
              </a:r>
            </a:p>
            <a:p>
              <a:pPr algn="l" marL="76200" indent="-76200">
                <a:lnSpc>
                  <a:spcPts val="825"/>
                </a:lnSpc>
                <a:buClr>
                  <a:srgbClr val="70504A"/>
                </a:buClr>
                <a:buSzTx/>
                <a:buFontTx/>
                <a:buChar char="•"/>
              </a:pPr>
              <a:r>
                <a:rPr lang="zh-CN" sz="580" dirty="0">
                  <a:solidFill>
                    <a:srgbClr val="70504A"/>
                  </a:solidFill>
                  <a:latin typeface="+mn-lt"/>
                  <a:ea typeface="+mn-ea"/>
                  <a:cs typeface="+mn-cs"/>
                </a:rPr>
                <a:t>片区综合开发</a:t>
              </a:r>
            </a:p>
            <a:p>
              <a:pPr algn="l" marL="76200" indent="-76200">
                <a:lnSpc>
                  <a:spcPts val="825"/>
                </a:lnSpc>
                <a:buClr>
                  <a:srgbClr val="70504A"/>
                </a:buClr>
                <a:buSzTx/>
                <a:buFontTx/>
                <a:buChar char="•"/>
              </a:pPr>
              <a:r>
                <a:rPr lang="zh-CN" sz="580" dirty="0">
                  <a:solidFill>
                    <a:srgbClr val="70504A"/>
                  </a:solidFill>
                  <a:latin typeface="+mn-lt"/>
                  <a:ea typeface="+mn-ea"/>
                  <a:cs typeface="+mn-cs"/>
                </a:rPr>
                <a:t>旧城改造</a:t>
              </a:r>
            </a:p>
          </p:txBody>
        </p:sp>
        <p:sp>
          <p:nvSpPr>
            <p:cNvPr id="167" name="Line 167"/>
            <p:cNvSpPr/>
            <p:nvPr/>
          </p:nvSpPr>
          <p:spPr>
            <a:xfrm>
              <a:off x="6391275" y="3600450"/>
              <a:ext cx="1009650" cy="9525"/>
            </a:xfrm>
            <a:custGeom>
              <a:avLst/>
              <a:gdLst/>
              <a:ahLst/>
              <a:cxnLst/>
              <a:rect l="l" t="t" r="r" b="b"/>
              <a:pathLst>
                <a:path w="1009650" h="9525">
                  <a:moveTo>
                    <a:pt x="0" y="0"/>
                  </a:moveTo>
                  <a:lnTo>
                    <a:pt x="1009650" y="0"/>
                  </a:lnTo>
                </a:path>
              </a:pathLst>
            </a:custGeom>
            <a:noFill/>
            <a:ln w="9525">
              <a:solidFill>
                <a:srgbClr val="DDE6F2"/>
              </a:solidFill>
            </a:ln>
          </p:spPr>
        </p:sp>
        <p:sp>
          <p:nvSpPr>
            <p:cNvPr id="168" name="TextBox 168"/>
            <p:cNvSpPr txBox="1"/>
            <p:nvPr/>
          </p:nvSpPr>
          <p:spPr>
            <a:xfrm>
              <a:off x="6386512" y="3707130"/>
              <a:ext cx="805937"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授信储备：</a:t>
              </a:r>
              <a:r>
                <a:rPr lang="zh-CN" sz="600" b="1" dirty="0">
                  <a:solidFill>
                    <a:srgbClr val="E04C2E"/>
                  </a:solidFill>
                  <a:latin typeface="+mn-lt"/>
                  <a:ea typeface="+mn-ea"/>
                  <a:cs typeface="+mn-cs"/>
                </a:rPr>
                <a:t>64.2</a:t>
              </a:r>
              <a:r>
                <a:rPr lang="zh-CN" sz="600" dirty="0">
                  <a:solidFill>
                    <a:srgbClr val="70504A"/>
                  </a:solidFill>
                  <a:latin typeface="+mn-lt"/>
                  <a:ea typeface="+mn-ea"/>
                  <a:cs typeface="+mn-cs"/>
                </a:rPr>
                <a:t>亿元​</a:t>
              </a:r>
            </a:p>
          </p:txBody>
        </p:sp>
        <p:sp>
          <p:nvSpPr>
            <p:cNvPr id="169" name="TextBox 169"/>
            <p:cNvSpPr txBox="1"/>
            <p:nvPr/>
          </p:nvSpPr>
          <p:spPr>
            <a:xfrm>
              <a:off x="6386512" y="3859530"/>
              <a:ext cx="725165"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已投放：</a:t>
              </a:r>
              <a:r>
                <a:rPr lang="zh-CN" sz="600" b="1" dirty="0">
                  <a:solidFill>
                    <a:srgbClr val="E04C2E"/>
                  </a:solidFill>
                  <a:latin typeface="+mn-lt"/>
                  <a:ea typeface="+mn-ea"/>
                  <a:cs typeface="+mn-cs"/>
                </a:rPr>
                <a:t>24.5</a:t>
              </a:r>
              <a:r>
                <a:rPr lang="zh-CN" sz="600" dirty="0">
                  <a:solidFill>
                    <a:srgbClr val="70504A"/>
                  </a:solidFill>
                  <a:latin typeface="+mn-lt"/>
                  <a:ea typeface="+mn-ea"/>
                  <a:cs typeface="+mn-cs"/>
                </a:rPr>
                <a:t>亿元​</a:t>
              </a:r>
            </a:p>
          </p:txBody>
        </p:sp>
        <p:sp>
          <p:nvSpPr>
            <p:cNvPr id="170" name="Rectangle 170"/>
            <p:cNvSpPr/>
            <p:nvPr/>
          </p:nvSpPr>
          <p:spPr>
            <a:xfrm>
              <a:off x="7572375" y="1619250"/>
              <a:ext cx="1009650" cy="2419350"/>
            </a:xfrm>
            <a:prstGeom prst="roundRect">
              <a:avLst>
                <a:gd name="adj" fmla="val 3774"/>
              </a:avLst>
            </a:prstGeom>
            <a:solidFill>
              <a:srgbClr val="F5F8FD"/>
            </a:solidFill>
            <a:ln w="9525">
              <a:solidFill>
                <a:srgbClr val="E3EAF5"/>
              </a:solidFill>
            </a:ln>
          </p:spPr>
        </p:sp>
        <p:sp>
          <p:nvSpPr>
            <p:cNvPr id="171" name="Rectangle 171"/>
            <p:cNvSpPr/>
            <p:nvPr/>
          </p:nvSpPr>
          <p:spPr>
            <a:xfrm>
              <a:off x="7572375" y="1619250"/>
              <a:ext cx="1009650" cy="190500"/>
            </a:xfrm>
            <a:prstGeom prst="roundRect">
              <a:avLst>
                <a:gd name="adj" fmla="val 20000"/>
              </a:avLst>
            </a:prstGeom>
            <a:solidFill>
              <a:srgbClr val="9E402E"/>
            </a:solidFill>
            <a:ln>
              <a:noFill/>
            </a:ln>
          </p:spPr>
        </p:sp>
        <p:sp>
          <p:nvSpPr>
            <p:cNvPr id="172" name="TextBox 172"/>
            <p:cNvSpPr txBox="1"/>
            <p:nvPr/>
          </p:nvSpPr>
          <p:spPr>
            <a:xfrm>
              <a:off x="7870508" y="16716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绿色能源</a:t>
              </a:r>
            </a:p>
          </p:txBody>
        </p:sp>
        <p:grpSp>
          <p:nvGrpSpPr>
            <p:cNvPr id="175" name="Group 175"/>
            <p:cNvGrpSpPr/>
            <p:nvPr/>
          </p:nvGrpSpPr>
          <p:grpSpPr>
            <a:xfrm>
              <a:off x="7984331" y="1897856"/>
              <a:ext cx="185737" cy="185737"/>
              <a:chOff x="7984331" y="1897856"/>
              <a:chExt cx="185737" cy="185737"/>
            </a:xfrm>
          </p:grpSpPr>
          <p:sp>
            <p:nvSpPr>
              <p:cNvPr id="173" name="Freeform 173"/>
              <p:cNvSpPr/>
              <p:nvPr/>
            </p:nvSpPr>
            <p:spPr>
              <a:xfrm>
                <a:off x="7984331" y="18978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9E402E"/>
                </a:solidFill>
              </a:ln>
            </p:spPr>
          </p:sp>
          <p:sp>
            <p:nvSpPr>
              <p:cNvPr id="174" name="Freeform 174"/>
              <p:cNvSpPr/>
              <p:nvPr/>
            </p:nvSpPr>
            <p:spPr>
              <a:xfrm>
                <a:off x="8046243" y="1970087"/>
                <a:ext cx="61912" cy="41275"/>
              </a:xfrm>
              <a:custGeom>
                <a:avLst/>
                <a:gdLst/>
                <a:ahLst/>
                <a:cxnLst/>
                <a:rect l="l" t="t" r="r" b="b"/>
                <a:pathLst>
                  <a:path w="61912" h="41275">
                    <a:moveTo>
                      <a:pt x="0" y="20637"/>
                    </a:moveTo>
                    <a:lnTo>
                      <a:pt x="20637" y="41275"/>
                    </a:lnTo>
                    <a:lnTo>
                      <a:pt x="61912" y="0"/>
                    </a:lnTo>
                  </a:path>
                </a:pathLst>
              </a:custGeom>
              <a:noFill/>
              <a:ln w="20637">
                <a:solidFill>
                  <a:srgbClr val="9E402E"/>
                </a:solidFill>
              </a:ln>
            </p:spPr>
          </p:sp>
        </p:grpSp>
        <p:sp>
          <p:nvSpPr>
            <p:cNvPr id="176" name="TextBox 176"/>
            <p:cNvSpPr txBox="1"/>
            <p:nvPr/>
          </p:nvSpPr>
          <p:spPr>
            <a:xfrm>
              <a:off x="7643812" y="2198132"/>
              <a:ext cx="699210"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项目数量：</a:t>
              </a:r>
              <a:r>
                <a:rPr lang="zh-CN" sz="640" b="1" dirty="0">
                  <a:solidFill>
                    <a:srgbClr val="69281B"/>
                  </a:solidFill>
                  <a:latin typeface="+mn-lt"/>
                  <a:ea typeface="+mn-ea"/>
                  <a:cs typeface="+mn-cs"/>
                </a:rPr>
                <a:t>31</a:t>
              </a:r>
              <a:r>
                <a:rPr lang="zh-CN" sz="640" dirty="0">
                  <a:solidFill>
                    <a:srgbClr val="70504A"/>
                  </a:solidFill>
                  <a:latin typeface="+mn-lt"/>
                  <a:ea typeface="+mn-ea"/>
                  <a:cs typeface="+mn-cs"/>
                </a:rPr>
                <a:t xml:space="preserve"> 个​</a:t>
              </a:r>
            </a:p>
          </p:txBody>
        </p:sp>
        <p:sp>
          <p:nvSpPr>
            <p:cNvPr id="177" name="TextBox 177"/>
            <p:cNvSpPr txBox="1"/>
            <p:nvPr/>
          </p:nvSpPr>
          <p:spPr>
            <a:xfrm>
              <a:off x="7643812" y="2321957"/>
              <a:ext cx="613053"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已合作：</a:t>
              </a:r>
              <a:r>
                <a:rPr lang="zh-CN" sz="640" b="1" dirty="0">
                  <a:solidFill>
                    <a:srgbClr val="69281B"/>
                  </a:solidFill>
                  <a:latin typeface="+mn-lt"/>
                  <a:ea typeface="+mn-ea"/>
                  <a:cs typeface="+mn-cs"/>
                </a:rPr>
                <a:t>14</a:t>
              </a:r>
              <a:r>
                <a:rPr lang="zh-CN" sz="640" dirty="0">
                  <a:solidFill>
                    <a:srgbClr val="70504A"/>
                  </a:solidFill>
                  <a:latin typeface="+mn-lt"/>
                  <a:ea typeface="+mn-ea"/>
                  <a:cs typeface="+mn-cs"/>
                </a:rPr>
                <a:t xml:space="preserve"> 个​</a:t>
              </a:r>
            </a:p>
          </p:txBody>
        </p:sp>
        <p:sp>
          <p:nvSpPr>
            <p:cNvPr id="178" name="TextBox 178"/>
            <p:cNvSpPr txBox="1"/>
            <p:nvPr/>
          </p:nvSpPr>
          <p:spPr>
            <a:xfrm>
              <a:off x="7643812" y="2508599"/>
              <a:ext cx="675005" cy="430530"/>
            </a:xfrm>
            <a:prstGeom prst="rect">
              <a:avLst/>
            </a:prstGeom>
            <a:noFill/>
            <a:ln>
              <a:noFill/>
            </a:ln>
          </p:spPr>
          <p:txBody>
            <a:bodyPr wrap="none" lIns="0" tIns="0" rIns="0" bIns="0" anchor="t" anchorCtr="0">
              <a:spAutoFit/>
            </a:bodyPr>
            <a:lstStyle/>
            <a:p>
              <a:pPr algn="l" marL="76200" indent="-76200">
                <a:lnSpc>
                  <a:spcPts val="825"/>
                </a:lnSpc>
                <a:buClr>
                  <a:srgbClr val="70504A"/>
                </a:buClr>
                <a:buSzTx/>
                <a:buFontTx/>
                <a:buChar char="•"/>
              </a:pPr>
              <a:r>
                <a:rPr lang="zh-CN" sz="580" dirty="0">
                  <a:solidFill>
                    <a:srgbClr val="70504A"/>
                  </a:solidFill>
                  <a:latin typeface="+mn-lt"/>
                  <a:ea typeface="+mn-ea"/>
                  <a:cs typeface="+mn-cs"/>
                </a:rPr>
                <a:t>光伏与风电</a:t>
              </a:r>
            </a:p>
            <a:p>
              <a:pPr algn="l" marL="76200" indent="-76200">
                <a:lnSpc>
                  <a:spcPts val="825"/>
                </a:lnSpc>
                <a:buClr>
                  <a:srgbClr val="70504A"/>
                </a:buClr>
                <a:buSzTx/>
                <a:buFontTx/>
                <a:buChar char="•"/>
              </a:pPr>
              <a:r>
                <a:rPr lang="zh-CN" sz="580" dirty="0">
                  <a:solidFill>
                    <a:srgbClr val="70504A"/>
                  </a:solidFill>
                  <a:latin typeface="+mn-lt"/>
                  <a:ea typeface="+mn-ea"/>
                  <a:cs typeface="+mn-cs"/>
                </a:rPr>
                <a:t>储能与充电桩</a:t>
              </a:r>
            </a:p>
            <a:p>
              <a:pPr algn="l" marL="76200" indent="-76200">
                <a:lnSpc>
                  <a:spcPts val="825"/>
                </a:lnSpc>
                <a:buClr>
                  <a:srgbClr val="70504A"/>
                </a:buClr>
                <a:buSzTx/>
                <a:buFontTx/>
                <a:buChar char="•"/>
              </a:pPr>
              <a:r>
                <a:rPr lang="zh-CN" sz="580" dirty="0">
                  <a:solidFill>
                    <a:srgbClr val="70504A"/>
                  </a:solidFill>
                  <a:latin typeface="+mn-lt"/>
                  <a:ea typeface="+mn-ea"/>
                  <a:cs typeface="+mn-cs"/>
                </a:rPr>
                <a:t>节能环保</a:t>
              </a:r>
            </a:p>
            <a:p>
              <a:pPr algn="l" marL="76200" indent="-76200">
                <a:lnSpc>
                  <a:spcPts val="825"/>
                </a:lnSpc>
                <a:buClr>
                  <a:srgbClr val="70504A"/>
                </a:buClr>
                <a:buSzTx/>
                <a:buFontTx/>
                <a:buChar char="•"/>
              </a:pPr>
              <a:r>
                <a:rPr lang="zh-CN" sz="580" dirty="0">
                  <a:solidFill>
                    <a:srgbClr val="70504A"/>
                  </a:solidFill>
                  <a:latin typeface="+mn-lt"/>
                  <a:ea typeface="+mn-ea"/>
                  <a:cs typeface="+mn-cs"/>
                </a:rPr>
                <a:t>碳中和与绿色园区</a:t>
              </a:r>
            </a:p>
          </p:txBody>
        </p:sp>
        <p:sp>
          <p:nvSpPr>
            <p:cNvPr id="179" name="Line 179"/>
            <p:cNvSpPr/>
            <p:nvPr/>
          </p:nvSpPr>
          <p:spPr>
            <a:xfrm>
              <a:off x="7648575" y="3600450"/>
              <a:ext cx="857250" cy="9525"/>
            </a:xfrm>
            <a:custGeom>
              <a:avLst/>
              <a:gdLst/>
              <a:ahLst/>
              <a:cxnLst/>
              <a:rect l="l" t="t" r="r" b="b"/>
              <a:pathLst>
                <a:path w="857250" h="9525">
                  <a:moveTo>
                    <a:pt x="0" y="0"/>
                  </a:moveTo>
                  <a:lnTo>
                    <a:pt x="857250" y="0"/>
                  </a:lnTo>
                </a:path>
              </a:pathLst>
            </a:custGeom>
            <a:noFill/>
            <a:ln w="9525">
              <a:solidFill>
                <a:srgbClr val="DDE6F2"/>
              </a:solidFill>
            </a:ln>
          </p:spPr>
        </p:sp>
        <p:sp>
          <p:nvSpPr>
            <p:cNvPr id="180" name="TextBox 180"/>
            <p:cNvSpPr txBox="1"/>
            <p:nvPr/>
          </p:nvSpPr>
          <p:spPr>
            <a:xfrm>
              <a:off x="7643812" y="3707130"/>
              <a:ext cx="805937"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授信储备：</a:t>
              </a:r>
              <a:r>
                <a:rPr lang="zh-CN" sz="600" b="1" dirty="0">
                  <a:solidFill>
                    <a:srgbClr val="9E402E"/>
                  </a:solidFill>
                  <a:latin typeface="+mn-lt"/>
                  <a:ea typeface="+mn-ea"/>
                  <a:cs typeface="+mn-cs"/>
                </a:rPr>
                <a:t>32.8</a:t>
              </a:r>
              <a:r>
                <a:rPr lang="zh-CN" sz="600" dirty="0">
                  <a:solidFill>
                    <a:srgbClr val="70504A"/>
                  </a:solidFill>
                  <a:latin typeface="+mn-lt"/>
                  <a:ea typeface="+mn-ea"/>
                  <a:cs typeface="+mn-cs"/>
                </a:rPr>
                <a:t>亿元​</a:t>
              </a:r>
            </a:p>
          </p:txBody>
        </p:sp>
        <p:sp>
          <p:nvSpPr>
            <p:cNvPr id="181" name="TextBox 181"/>
            <p:cNvSpPr txBox="1"/>
            <p:nvPr/>
          </p:nvSpPr>
          <p:spPr>
            <a:xfrm>
              <a:off x="7643812" y="3859530"/>
              <a:ext cx="725165"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已投放：</a:t>
              </a:r>
              <a:r>
                <a:rPr lang="zh-CN" sz="600" b="1" dirty="0">
                  <a:solidFill>
                    <a:srgbClr val="9E402E"/>
                  </a:solidFill>
                  <a:latin typeface="+mn-lt"/>
                  <a:ea typeface="+mn-ea"/>
                  <a:cs typeface="+mn-cs"/>
                </a:rPr>
                <a:t>19.8</a:t>
              </a:r>
              <a:r>
                <a:rPr lang="zh-CN" sz="600" dirty="0">
                  <a:solidFill>
                    <a:srgbClr val="70504A"/>
                  </a:solidFill>
                  <a:latin typeface="+mn-lt"/>
                  <a:ea typeface="+mn-ea"/>
                  <a:cs typeface="+mn-cs"/>
                </a:rPr>
                <a:t>亿元​</a:t>
              </a:r>
            </a:p>
          </p:txBody>
        </p:sp>
      </p:grpSp>
      <p:grpSp>
        <p:nvGrpSpPr>
          <p:cNvPr id="221" name="goals"/>
          <p:cNvGrpSpPr/>
          <p:nvPr/>
        </p:nvGrpSpPr>
        <p:grpSpPr>
          <a:xfrm>
            <a:off x="8772525" y="685800"/>
            <a:ext cx="3190875" cy="2258473"/>
            <a:chOff x="8772525" y="685800"/>
            <a:chExt cx="3190875" cy="2258473"/>
          </a:xfrm>
        </p:grpSpPr>
        <p:sp>
          <p:nvSpPr>
            <p:cNvPr id="183" name="Rectangle 183"/>
            <p:cNvSpPr/>
            <p:nvPr/>
          </p:nvSpPr>
          <p:spPr>
            <a:xfrm>
              <a:off x="8772525" y="685800"/>
              <a:ext cx="3190875" cy="2247900"/>
            </a:xfrm>
            <a:prstGeom prst="roundRect">
              <a:avLst>
                <a:gd name="adj" fmla="val 2542"/>
              </a:avLst>
            </a:prstGeom>
            <a:solidFill>
              <a:srgbClr val="FFFFFF"/>
            </a:solidFill>
            <a:ln w="9525">
              <a:solidFill>
                <a:srgbClr val="C9D6E9"/>
              </a:solidFill>
            </a:ln>
          </p:spPr>
        </p:sp>
        <p:sp>
          <p:nvSpPr>
            <p:cNvPr id="184" name="Rectangle 184"/>
            <p:cNvSpPr/>
            <p:nvPr/>
          </p:nvSpPr>
          <p:spPr>
            <a:xfrm>
              <a:off x="8772525" y="685800"/>
              <a:ext cx="3190875" cy="209550"/>
            </a:xfrm>
            <a:prstGeom prst="roundRect">
              <a:avLst>
                <a:gd name="adj" fmla="val 27273"/>
              </a:avLst>
            </a:prstGeom>
            <a:solidFill>
              <a:srgbClr val="69281B"/>
            </a:solidFill>
            <a:ln>
              <a:noFill/>
            </a:ln>
          </p:spPr>
        </p:sp>
        <p:sp>
          <p:nvSpPr>
            <p:cNvPr id="185" name="Rectangle 185"/>
            <p:cNvSpPr/>
            <p:nvPr/>
          </p:nvSpPr>
          <p:spPr>
            <a:xfrm>
              <a:off x="8772525" y="800100"/>
              <a:ext cx="3190875" cy="95250"/>
            </a:xfrm>
            <a:prstGeom prst="rect">
              <a:avLst/>
            </a:prstGeom>
            <a:solidFill>
              <a:srgbClr val="69281B"/>
            </a:solidFill>
            <a:ln>
              <a:noFill/>
            </a:ln>
          </p:spPr>
        </p:sp>
        <p:sp>
          <p:nvSpPr>
            <p:cNvPr id="186" name="TextBox 186"/>
            <p:cNvSpPr txBox="1"/>
            <p:nvPr/>
          </p:nvSpPr>
          <p:spPr>
            <a:xfrm>
              <a:off x="9757511" y="739616"/>
              <a:ext cx="12113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2026年下半年工作目标​</a:t>
              </a:r>
            </a:p>
          </p:txBody>
        </p:sp>
        <p:grpSp>
          <p:nvGrpSpPr>
            <p:cNvPr id="190" name="Group 190"/>
            <p:cNvGrpSpPr/>
            <p:nvPr/>
          </p:nvGrpSpPr>
          <p:grpSpPr>
            <a:xfrm>
              <a:off x="8910637" y="1052512"/>
              <a:ext cx="142875" cy="142875"/>
              <a:chOff x="8910637" y="1052512"/>
              <a:chExt cx="142875" cy="142875"/>
            </a:xfrm>
          </p:grpSpPr>
          <p:sp>
            <p:nvSpPr>
              <p:cNvPr id="187" name="Freeform 187"/>
              <p:cNvSpPr/>
              <p:nvPr/>
            </p:nvSpPr>
            <p:spPr>
              <a:xfrm>
                <a:off x="8974137" y="11160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E04C2E"/>
                </a:solidFill>
              </a:ln>
            </p:spPr>
          </p:sp>
          <p:sp>
            <p:nvSpPr>
              <p:cNvPr id="188" name="Freeform 188"/>
              <p:cNvSpPr/>
              <p:nvPr/>
            </p:nvSpPr>
            <p:spPr>
              <a:xfrm>
                <a:off x="8942387" y="10842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E04C2E"/>
                </a:solidFill>
              </a:ln>
            </p:spPr>
          </p:sp>
          <p:sp>
            <p:nvSpPr>
              <p:cNvPr id="189" name="Freeform 189"/>
              <p:cNvSpPr/>
              <p:nvPr/>
            </p:nvSpPr>
            <p:spPr>
              <a:xfrm>
                <a:off x="8910637" y="10525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E04C2E"/>
                </a:solidFill>
              </a:ln>
            </p:spPr>
          </p:sp>
        </p:grpSp>
        <p:sp>
          <p:nvSpPr>
            <p:cNvPr id="191" name="TextBox 191"/>
            <p:cNvSpPr txBox="1"/>
            <p:nvPr/>
          </p:nvSpPr>
          <p:spPr>
            <a:xfrm>
              <a:off x="9158288" y="1047036"/>
              <a:ext cx="67858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项目对接覆盖率</a:t>
              </a:r>
            </a:p>
          </p:txBody>
        </p:sp>
        <p:sp>
          <p:nvSpPr>
            <p:cNvPr id="192" name="TextBox 192"/>
            <p:cNvSpPr txBox="1"/>
            <p:nvPr/>
          </p:nvSpPr>
          <p:spPr>
            <a:xfrm>
              <a:off x="9158288" y="1177528"/>
              <a:ext cx="612623" cy="111919"/>
            </a:xfrm>
            <a:prstGeom prst="rect">
              <a:avLst/>
            </a:prstGeom>
            <a:noFill/>
            <a:ln>
              <a:noFill/>
            </a:ln>
          </p:spPr>
          <p:txBody>
            <a:bodyPr wrap="none" lIns="0" tIns="0" rIns="0" bIns="0" anchor="t" anchorCtr="0">
              <a:spAutoFit/>
            </a:bodyPr>
            <a:lstStyle/>
            <a:p>
              <a:pPr algn="l"/>
              <a:r>
                <a:rPr lang="zh-CN" sz="560" dirty="0">
                  <a:solidFill>
                    <a:srgbClr val="BEA09A"/>
                  </a:solidFill>
                  <a:latin typeface="+mn-lt"/>
                  <a:ea typeface="+mn-ea"/>
                  <a:cs typeface="+mn-cs"/>
                </a:rPr>
                <a:t>（区域重点项目）</a:t>
              </a:r>
            </a:p>
          </p:txBody>
        </p:sp>
        <p:sp>
          <p:nvSpPr>
            <p:cNvPr id="193" name="TextBox 193"/>
            <p:cNvSpPr txBox="1"/>
            <p:nvPr/>
          </p:nvSpPr>
          <p:spPr>
            <a:xfrm>
              <a:off x="11320771" y="1065371"/>
              <a:ext cx="535568" cy="278702"/>
            </a:xfrm>
            <a:prstGeom prst="rect">
              <a:avLst/>
            </a:prstGeom>
            <a:noFill/>
            <a:ln>
              <a:noFill/>
            </a:ln>
          </p:spPr>
          <p:txBody>
            <a:bodyPr wrap="none" lIns="0" tIns="0" rIns="0" bIns="0" anchor="t" anchorCtr="0">
              <a:spAutoFit/>
            </a:bodyPr>
            <a:lstStyle/>
            <a:p>
              <a:pPr algn="r"/>
              <a:r>
                <a:rPr lang="zh-CN" sz="1420" b="1" dirty="0">
                  <a:solidFill>
                    <a:srgbClr val="E04C2E"/>
                  </a:solidFill>
                  <a:latin typeface="+mn-lt"/>
                  <a:ea typeface="+mn-ea"/>
                  <a:cs typeface="+mn-cs"/>
                </a:rPr>
                <a:t>100</a:t>
              </a:r>
              <a:r>
                <a:rPr lang="zh-CN" sz="750" b="1" dirty="0">
                  <a:solidFill>
                    <a:srgbClr val="E04C2E"/>
                  </a:solidFill>
                  <a:latin typeface="+mn-lt"/>
                  <a:ea typeface="+mn-ea"/>
                  <a:cs typeface="+mn-cs"/>
                </a:rPr>
                <a:t>%</a:t>
              </a:r>
              <a:r>
                <a:rPr lang="zh-CN" sz="1420" b="1" dirty="0">
                  <a:solidFill>
                    <a:srgbClr val="E04C2E"/>
                  </a:solidFill>
                  <a:latin typeface="+mn-lt"/>
                  <a:ea typeface="+mn-ea"/>
                  <a:cs typeface="+mn-cs"/>
                </a:rPr>
                <a:t>​</a:t>
              </a:r>
            </a:p>
          </p:txBody>
        </p:sp>
        <p:sp>
          <p:nvSpPr>
            <p:cNvPr id="194" name="Line 194"/>
            <p:cNvSpPr/>
            <p:nvPr/>
          </p:nvSpPr>
          <p:spPr>
            <a:xfrm>
              <a:off x="8886825" y="1333500"/>
              <a:ext cx="2962275" cy="9525"/>
            </a:xfrm>
            <a:custGeom>
              <a:avLst/>
              <a:gdLst/>
              <a:ahLst/>
              <a:cxnLst/>
              <a:rect l="l" t="t" r="r" b="b"/>
              <a:pathLst>
                <a:path w="2962275" h="9525">
                  <a:moveTo>
                    <a:pt x="0" y="0"/>
                  </a:moveTo>
                  <a:lnTo>
                    <a:pt x="2962275" y="0"/>
                  </a:lnTo>
                </a:path>
              </a:pathLst>
            </a:custGeom>
            <a:noFill/>
            <a:ln w="9525">
              <a:solidFill>
                <a:srgbClr val="EDF2FA"/>
              </a:solidFill>
            </a:ln>
          </p:spPr>
        </p:sp>
        <p:grpSp>
          <p:nvGrpSpPr>
            <p:cNvPr id="199" name="Group 199"/>
            <p:cNvGrpSpPr/>
            <p:nvPr/>
          </p:nvGrpSpPr>
          <p:grpSpPr>
            <a:xfrm>
              <a:off x="8910637" y="1460500"/>
              <a:ext cx="142875" cy="127000"/>
              <a:chOff x="8910637" y="1460500"/>
              <a:chExt cx="142875" cy="127000"/>
            </a:xfrm>
          </p:grpSpPr>
          <p:sp>
            <p:nvSpPr>
              <p:cNvPr id="195" name="Freeform 195"/>
              <p:cNvSpPr/>
              <p:nvPr/>
            </p:nvSpPr>
            <p:spPr>
              <a:xfrm>
                <a:off x="8910637" y="1484312"/>
                <a:ext cx="142875" cy="9525"/>
              </a:xfrm>
              <a:custGeom>
                <a:avLst/>
                <a:gdLst/>
                <a:ahLst/>
                <a:cxnLst/>
                <a:rect l="l" t="t" r="r" b="b"/>
                <a:pathLst>
                  <a:path w="142875" h="9525">
                    <a:moveTo>
                      <a:pt x="142875" y="0"/>
                    </a:moveTo>
                    <a:lnTo>
                      <a:pt x="0" y="0"/>
                    </a:lnTo>
                  </a:path>
                </a:pathLst>
              </a:custGeom>
              <a:noFill/>
              <a:ln w="15875">
                <a:solidFill>
                  <a:srgbClr val="E04C2E"/>
                </a:solidFill>
              </a:ln>
            </p:spPr>
          </p:sp>
          <p:sp>
            <p:nvSpPr>
              <p:cNvPr id="196" name="Freeform 196"/>
              <p:cNvSpPr/>
              <p:nvPr/>
            </p:nvSpPr>
            <p:spPr>
              <a:xfrm>
                <a:off x="9029700" y="1460500"/>
                <a:ext cx="23812" cy="47625"/>
              </a:xfrm>
              <a:custGeom>
                <a:avLst/>
                <a:gdLst/>
                <a:ahLst/>
                <a:cxnLst/>
                <a:rect l="l" t="t" r="r" b="b"/>
                <a:pathLst>
                  <a:path w="23812" h="47625">
                    <a:moveTo>
                      <a:pt x="0" y="47625"/>
                    </a:moveTo>
                    <a:lnTo>
                      <a:pt x="23812" y="23812"/>
                    </a:lnTo>
                    <a:lnTo>
                      <a:pt x="0" y="0"/>
                    </a:lnTo>
                  </a:path>
                </a:pathLst>
              </a:custGeom>
              <a:noFill/>
              <a:ln w="15875">
                <a:solidFill>
                  <a:srgbClr val="E04C2E"/>
                </a:solidFill>
              </a:ln>
            </p:spPr>
          </p:sp>
          <p:sp>
            <p:nvSpPr>
              <p:cNvPr id="197" name="Freeform 197"/>
              <p:cNvSpPr/>
              <p:nvPr/>
            </p:nvSpPr>
            <p:spPr>
              <a:xfrm>
                <a:off x="8910637" y="1539875"/>
                <a:ext cx="23812" cy="47625"/>
              </a:xfrm>
              <a:custGeom>
                <a:avLst/>
                <a:gdLst/>
                <a:ahLst/>
                <a:cxnLst/>
                <a:rect l="l" t="t" r="r" b="b"/>
                <a:pathLst>
                  <a:path w="23812" h="47625">
                    <a:moveTo>
                      <a:pt x="23812" y="47625"/>
                    </a:moveTo>
                    <a:lnTo>
                      <a:pt x="0" y="23812"/>
                    </a:lnTo>
                    <a:lnTo>
                      <a:pt x="23812" y="0"/>
                    </a:lnTo>
                  </a:path>
                </a:pathLst>
              </a:custGeom>
              <a:noFill/>
              <a:ln w="15875">
                <a:solidFill>
                  <a:srgbClr val="E04C2E"/>
                </a:solidFill>
              </a:ln>
            </p:spPr>
          </p:sp>
          <p:sp>
            <p:nvSpPr>
              <p:cNvPr id="198" name="Freeform 198"/>
              <p:cNvSpPr/>
              <p:nvPr/>
            </p:nvSpPr>
            <p:spPr>
              <a:xfrm>
                <a:off x="8910637" y="1563687"/>
                <a:ext cx="142875" cy="9525"/>
              </a:xfrm>
              <a:custGeom>
                <a:avLst/>
                <a:gdLst/>
                <a:ahLst/>
                <a:cxnLst/>
                <a:rect l="l" t="t" r="r" b="b"/>
                <a:pathLst>
                  <a:path w="142875" h="9525">
                    <a:moveTo>
                      <a:pt x="0" y="0"/>
                    </a:moveTo>
                    <a:lnTo>
                      <a:pt x="142875" y="0"/>
                    </a:lnTo>
                  </a:path>
                </a:pathLst>
              </a:custGeom>
              <a:noFill/>
              <a:ln w="15875">
                <a:solidFill>
                  <a:srgbClr val="E04C2E"/>
                </a:solidFill>
              </a:ln>
            </p:spPr>
          </p:sp>
        </p:grpSp>
        <p:sp>
          <p:nvSpPr>
            <p:cNvPr id="200" name="TextBox 200"/>
            <p:cNvSpPr txBox="1"/>
            <p:nvPr/>
          </p:nvSpPr>
          <p:spPr>
            <a:xfrm>
              <a:off x="9158288" y="1447086"/>
              <a:ext cx="48742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信贷合作率</a:t>
              </a:r>
            </a:p>
          </p:txBody>
        </p:sp>
        <p:sp>
          <p:nvSpPr>
            <p:cNvPr id="201" name="TextBox 201"/>
            <p:cNvSpPr txBox="1"/>
            <p:nvPr/>
          </p:nvSpPr>
          <p:spPr>
            <a:xfrm>
              <a:off x="9158288" y="1577578"/>
              <a:ext cx="461848" cy="111919"/>
            </a:xfrm>
            <a:prstGeom prst="rect">
              <a:avLst/>
            </a:prstGeom>
            <a:noFill/>
            <a:ln>
              <a:noFill/>
            </a:ln>
          </p:spPr>
          <p:txBody>
            <a:bodyPr wrap="none" lIns="0" tIns="0" rIns="0" bIns="0" anchor="t" anchorCtr="0">
              <a:spAutoFit/>
            </a:bodyPr>
            <a:lstStyle/>
            <a:p>
              <a:pPr algn="l"/>
              <a:r>
                <a:rPr lang="zh-CN" sz="560" dirty="0">
                  <a:solidFill>
                    <a:srgbClr val="BEA09A"/>
                  </a:solidFill>
                  <a:latin typeface="+mn-lt"/>
                  <a:ea typeface="+mn-ea"/>
                  <a:cs typeface="+mn-cs"/>
                </a:rPr>
                <a:t>（对接项目）</a:t>
              </a:r>
            </a:p>
          </p:txBody>
        </p:sp>
        <p:sp>
          <p:nvSpPr>
            <p:cNvPr id="202" name="TextBox 202"/>
            <p:cNvSpPr txBox="1"/>
            <p:nvPr/>
          </p:nvSpPr>
          <p:spPr>
            <a:xfrm>
              <a:off x="11229236" y="1465421"/>
              <a:ext cx="627103" cy="278702"/>
            </a:xfrm>
            <a:prstGeom prst="rect">
              <a:avLst/>
            </a:prstGeom>
            <a:noFill/>
            <a:ln>
              <a:noFill/>
            </a:ln>
          </p:spPr>
          <p:txBody>
            <a:bodyPr wrap="none" lIns="0" tIns="0" rIns="0" bIns="0" anchor="t" anchorCtr="0">
              <a:spAutoFit/>
            </a:bodyPr>
            <a:lstStyle/>
            <a:p>
              <a:pPr algn="r"/>
              <a:r>
                <a:rPr lang="zh-CN" sz="1420" b="1" dirty="0">
                  <a:solidFill>
                    <a:srgbClr val="D0442C"/>
                  </a:solidFill>
                  <a:latin typeface="+mn-lt"/>
                  <a:ea typeface="+mn-ea"/>
                  <a:cs typeface="+mn-cs"/>
                </a:rPr>
                <a:t>70</a:t>
              </a:r>
              <a:r>
                <a:rPr lang="zh-CN" sz="750" b="1" dirty="0">
                  <a:solidFill>
                    <a:srgbClr val="D0442C"/>
                  </a:solidFill>
                  <a:latin typeface="+mn-lt"/>
                  <a:ea typeface="+mn-ea"/>
                  <a:cs typeface="+mn-cs"/>
                </a:rPr>
                <a:t>%以上</a:t>
              </a:r>
              <a:r>
                <a:rPr lang="zh-CN" sz="1420" b="1" dirty="0">
                  <a:solidFill>
                    <a:srgbClr val="D0442C"/>
                  </a:solidFill>
                  <a:latin typeface="+mn-lt"/>
                  <a:ea typeface="+mn-ea"/>
                  <a:cs typeface="+mn-cs"/>
                </a:rPr>
                <a:t>​</a:t>
              </a:r>
            </a:p>
          </p:txBody>
        </p:sp>
        <p:sp>
          <p:nvSpPr>
            <p:cNvPr id="203" name="Line 203"/>
            <p:cNvSpPr/>
            <p:nvPr/>
          </p:nvSpPr>
          <p:spPr>
            <a:xfrm>
              <a:off x="8886825" y="1733550"/>
              <a:ext cx="2962275" cy="9525"/>
            </a:xfrm>
            <a:custGeom>
              <a:avLst/>
              <a:gdLst/>
              <a:ahLst/>
              <a:cxnLst/>
              <a:rect l="l" t="t" r="r" b="b"/>
              <a:pathLst>
                <a:path w="2962275" h="9525">
                  <a:moveTo>
                    <a:pt x="0" y="0"/>
                  </a:moveTo>
                  <a:lnTo>
                    <a:pt x="2962275" y="0"/>
                  </a:lnTo>
                </a:path>
              </a:pathLst>
            </a:custGeom>
            <a:noFill/>
            <a:ln w="9525">
              <a:solidFill>
                <a:srgbClr val="EDF2FA"/>
              </a:solidFill>
            </a:ln>
          </p:spPr>
        </p:sp>
        <p:grpSp>
          <p:nvGrpSpPr>
            <p:cNvPr id="206" name="Group 206"/>
            <p:cNvGrpSpPr/>
            <p:nvPr/>
          </p:nvGrpSpPr>
          <p:grpSpPr>
            <a:xfrm>
              <a:off x="8907153" y="1849128"/>
              <a:ext cx="149844" cy="149844"/>
              <a:chOff x="8907153" y="1849128"/>
              <a:chExt cx="149844" cy="149844"/>
            </a:xfrm>
          </p:grpSpPr>
          <p:sp>
            <p:nvSpPr>
              <p:cNvPr id="204" name="Freeform 204"/>
              <p:cNvSpPr/>
              <p:nvPr/>
            </p:nvSpPr>
            <p:spPr>
              <a:xfrm>
                <a:off x="8907153" y="184912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E04C2E"/>
                </a:solidFill>
              </a:ln>
            </p:spPr>
          </p:sp>
          <p:sp>
            <p:nvSpPr>
              <p:cNvPr id="205" name="Freeform 205"/>
              <p:cNvSpPr/>
              <p:nvPr/>
            </p:nvSpPr>
            <p:spPr>
              <a:xfrm>
                <a:off x="8958262" y="190023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E04C2E"/>
                </a:solidFill>
              </a:ln>
            </p:spPr>
          </p:sp>
        </p:grpSp>
        <p:sp>
          <p:nvSpPr>
            <p:cNvPr id="207" name="TextBox 207"/>
            <p:cNvSpPr txBox="1"/>
            <p:nvPr/>
          </p:nvSpPr>
          <p:spPr>
            <a:xfrm>
              <a:off x="9158288" y="1885236"/>
              <a:ext cx="67858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制造业新增贷款</a:t>
              </a:r>
            </a:p>
          </p:txBody>
        </p:sp>
        <p:sp>
          <p:nvSpPr>
            <p:cNvPr id="208" name="TextBox 208"/>
            <p:cNvSpPr txBox="1"/>
            <p:nvPr/>
          </p:nvSpPr>
          <p:spPr>
            <a:xfrm>
              <a:off x="11308746" y="1865471"/>
              <a:ext cx="547593" cy="278702"/>
            </a:xfrm>
            <a:prstGeom prst="rect">
              <a:avLst/>
            </a:prstGeom>
            <a:noFill/>
            <a:ln>
              <a:noFill/>
            </a:ln>
          </p:spPr>
          <p:txBody>
            <a:bodyPr wrap="none" lIns="0" tIns="0" rIns="0" bIns="0" anchor="t" anchorCtr="0">
              <a:spAutoFit/>
            </a:bodyPr>
            <a:lstStyle/>
            <a:p>
              <a:pPr algn="r"/>
              <a:r>
                <a:rPr lang="zh-CN" sz="1420" b="1" dirty="0">
                  <a:solidFill>
                    <a:srgbClr val="E04C2E"/>
                  </a:solidFill>
                  <a:latin typeface="+mn-lt"/>
                  <a:ea typeface="+mn-ea"/>
                  <a:cs typeface="+mn-cs"/>
                </a:rPr>
                <a:t>18</a:t>
              </a:r>
              <a:r>
                <a:rPr lang="zh-CN" sz="750" b="1" dirty="0">
                  <a:solidFill>
                    <a:srgbClr val="E04C2E"/>
                  </a:solidFill>
                  <a:latin typeface="+mn-lt"/>
                  <a:ea typeface="+mn-ea"/>
                  <a:cs typeface="+mn-cs"/>
                </a:rPr>
                <a:t>亿元</a:t>
              </a:r>
              <a:r>
                <a:rPr lang="zh-CN" sz="1420" b="1" dirty="0">
                  <a:solidFill>
                    <a:srgbClr val="E04C2E"/>
                  </a:solidFill>
                  <a:latin typeface="+mn-lt"/>
                  <a:ea typeface="+mn-ea"/>
                  <a:cs typeface="+mn-cs"/>
                </a:rPr>
                <a:t>​</a:t>
              </a:r>
            </a:p>
          </p:txBody>
        </p:sp>
        <p:sp>
          <p:nvSpPr>
            <p:cNvPr id="209" name="Line 209"/>
            <p:cNvSpPr/>
            <p:nvPr/>
          </p:nvSpPr>
          <p:spPr>
            <a:xfrm>
              <a:off x="8886825" y="2133600"/>
              <a:ext cx="2962275" cy="9525"/>
            </a:xfrm>
            <a:custGeom>
              <a:avLst/>
              <a:gdLst/>
              <a:ahLst/>
              <a:cxnLst/>
              <a:rect l="l" t="t" r="r" b="b"/>
              <a:pathLst>
                <a:path w="2962275" h="9525">
                  <a:moveTo>
                    <a:pt x="0" y="0"/>
                  </a:moveTo>
                  <a:lnTo>
                    <a:pt x="2962275" y="0"/>
                  </a:lnTo>
                </a:path>
              </a:pathLst>
            </a:custGeom>
            <a:noFill/>
            <a:ln w="9525">
              <a:solidFill>
                <a:srgbClr val="EDF2FA"/>
              </a:solidFill>
            </a:ln>
          </p:spPr>
        </p:sp>
        <p:grpSp>
          <p:nvGrpSpPr>
            <p:cNvPr id="212" name="Group 212"/>
            <p:cNvGrpSpPr/>
            <p:nvPr/>
          </p:nvGrpSpPr>
          <p:grpSpPr>
            <a:xfrm>
              <a:off x="8918575" y="2252662"/>
              <a:ext cx="127000" cy="142875"/>
              <a:chOff x="8918575" y="2252662"/>
              <a:chExt cx="127000" cy="142875"/>
            </a:xfrm>
          </p:grpSpPr>
          <p:sp>
            <p:nvSpPr>
              <p:cNvPr id="210" name="Freeform 210"/>
              <p:cNvSpPr/>
              <p:nvPr/>
            </p:nvSpPr>
            <p:spPr>
              <a:xfrm>
                <a:off x="8918575" y="2252662"/>
                <a:ext cx="127000" cy="71437"/>
              </a:xfrm>
              <a:custGeom>
                <a:avLst/>
                <a:gdLst/>
                <a:ahLst/>
                <a:cxnLst/>
                <a:rect l="l" t="t" r="r" b="b"/>
                <a:pathLst>
                  <a:path w="127000" h="71437">
                    <a:moveTo>
                      <a:pt x="0" y="71437"/>
                    </a:moveTo>
                    <a:lnTo>
                      <a:pt x="0" y="47625"/>
                    </a:lnTo>
                    <a:cubicBezTo>
                      <a:pt x="0" y="34474"/>
                      <a:pt x="10661" y="23812"/>
                      <a:pt x="23812" y="23812"/>
                    </a:cubicBezTo>
                    <a:lnTo>
                      <a:pt x="127000" y="23812"/>
                    </a:lnTo>
                    <a:moveTo>
                      <a:pt x="103187" y="0"/>
                    </a:moveTo>
                    <a:lnTo>
                      <a:pt x="127000" y="23812"/>
                    </a:lnTo>
                    <a:lnTo>
                      <a:pt x="103187" y="47625"/>
                    </a:lnTo>
                  </a:path>
                </a:pathLst>
              </a:custGeom>
              <a:noFill/>
              <a:ln w="15875">
                <a:solidFill>
                  <a:srgbClr val="E04C2E"/>
                </a:solidFill>
              </a:ln>
            </p:spPr>
          </p:sp>
          <p:sp>
            <p:nvSpPr>
              <p:cNvPr id="211" name="Freeform 211"/>
              <p:cNvSpPr/>
              <p:nvPr/>
            </p:nvSpPr>
            <p:spPr>
              <a:xfrm>
                <a:off x="8918575" y="2324100"/>
                <a:ext cx="127000" cy="71437"/>
              </a:xfrm>
              <a:custGeom>
                <a:avLst/>
                <a:gdLst/>
                <a:ahLst/>
                <a:cxnLst/>
                <a:rect l="l" t="t" r="r" b="b"/>
                <a:pathLst>
                  <a:path w="127000" h="71437">
                    <a:moveTo>
                      <a:pt x="127000" y="0"/>
                    </a:moveTo>
                    <a:lnTo>
                      <a:pt x="127000" y="23812"/>
                    </a:lnTo>
                    <a:cubicBezTo>
                      <a:pt x="127000" y="36964"/>
                      <a:pt x="116339" y="47625"/>
                      <a:pt x="103187" y="47625"/>
                    </a:cubicBezTo>
                    <a:lnTo>
                      <a:pt x="0" y="47625"/>
                    </a:lnTo>
                    <a:moveTo>
                      <a:pt x="23812" y="71437"/>
                    </a:moveTo>
                    <a:lnTo>
                      <a:pt x="0" y="47625"/>
                    </a:lnTo>
                    <a:lnTo>
                      <a:pt x="23812" y="23812"/>
                    </a:lnTo>
                  </a:path>
                </a:pathLst>
              </a:custGeom>
              <a:noFill/>
              <a:ln w="15875">
                <a:solidFill>
                  <a:srgbClr val="E04C2E"/>
                </a:solidFill>
              </a:ln>
            </p:spPr>
          </p:sp>
        </p:grpSp>
        <p:sp>
          <p:nvSpPr>
            <p:cNvPr id="213" name="TextBox 213"/>
            <p:cNvSpPr txBox="1"/>
            <p:nvPr/>
          </p:nvSpPr>
          <p:spPr>
            <a:xfrm>
              <a:off x="9158288" y="2285286"/>
              <a:ext cx="58300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设备更新贷款</a:t>
              </a:r>
            </a:p>
          </p:txBody>
        </p:sp>
        <p:sp>
          <p:nvSpPr>
            <p:cNvPr id="214" name="TextBox 214"/>
            <p:cNvSpPr txBox="1"/>
            <p:nvPr/>
          </p:nvSpPr>
          <p:spPr>
            <a:xfrm>
              <a:off x="11419141" y="2265521"/>
              <a:ext cx="437198" cy="278702"/>
            </a:xfrm>
            <a:prstGeom prst="rect">
              <a:avLst/>
            </a:prstGeom>
            <a:noFill/>
            <a:ln>
              <a:noFill/>
            </a:ln>
          </p:spPr>
          <p:txBody>
            <a:bodyPr wrap="none" lIns="0" tIns="0" rIns="0" bIns="0" anchor="t" anchorCtr="0">
              <a:spAutoFit/>
            </a:bodyPr>
            <a:lstStyle/>
            <a:p>
              <a:pPr algn="r"/>
              <a:r>
                <a:rPr lang="zh-CN" sz="1420" b="1" dirty="0">
                  <a:solidFill>
                    <a:srgbClr val="E04C2E"/>
                  </a:solidFill>
                  <a:latin typeface="+mn-lt"/>
                  <a:ea typeface="+mn-ea"/>
                  <a:cs typeface="+mn-cs"/>
                </a:rPr>
                <a:t>8</a:t>
              </a:r>
              <a:r>
                <a:rPr lang="zh-CN" sz="750" b="1" dirty="0">
                  <a:solidFill>
                    <a:srgbClr val="E04C2E"/>
                  </a:solidFill>
                  <a:latin typeface="+mn-lt"/>
                  <a:ea typeface="+mn-ea"/>
                  <a:cs typeface="+mn-cs"/>
                </a:rPr>
                <a:t>亿元</a:t>
              </a:r>
              <a:r>
                <a:rPr lang="zh-CN" sz="1420" b="1" dirty="0">
                  <a:solidFill>
                    <a:srgbClr val="E04C2E"/>
                  </a:solidFill>
                  <a:latin typeface="+mn-lt"/>
                  <a:ea typeface="+mn-ea"/>
                  <a:cs typeface="+mn-cs"/>
                </a:rPr>
                <a:t>​</a:t>
              </a:r>
            </a:p>
          </p:txBody>
        </p:sp>
        <p:sp>
          <p:nvSpPr>
            <p:cNvPr id="215" name="Line 215"/>
            <p:cNvSpPr/>
            <p:nvPr/>
          </p:nvSpPr>
          <p:spPr>
            <a:xfrm>
              <a:off x="8886825" y="2533650"/>
              <a:ext cx="2962275" cy="9525"/>
            </a:xfrm>
            <a:custGeom>
              <a:avLst/>
              <a:gdLst/>
              <a:ahLst/>
              <a:cxnLst/>
              <a:rect l="l" t="t" r="r" b="b"/>
              <a:pathLst>
                <a:path w="2962275" h="9525">
                  <a:moveTo>
                    <a:pt x="0" y="0"/>
                  </a:moveTo>
                  <a:lnTo>
                    <a:pt x="2962275" y="0"/>
                  </a:lnTo>
                </a:path>
              </a:pathLst>
            </a:custGeom>
            <a:noFill/>
            <a:ln w="9525">
              <a:solidFill>
                <a:srgbClr val="EDF2FA"/>
              </a:solidFill>
            </a:ln>
          </p:spPr>
        </p:sp>
        <p:grpSp>
          <p:nvGrpSpPr>
            <p:cNvPr id="218" name="Group 218"/>
            <p:cNvGrpSpPr/>
            <p:nvPr/>
          </p:nvGrpSpPr>
          <p:grpSpPr>
            <a:xfrm>
              <a:off x="8910637" y="2652712"/>
              <a:ext cx="142875" cy="142875"/>
              <a:chOff x="8910637" y="2652712"/>
              <a:chExt cx="142875" cy="142875"/>
            </a:xfrm>
          </p:grpSpPr>
          <p:sp>
            <p:nvSpPr>
              <p:cNvPr id="216" name="Freeform 216"/>
              <p:cNvSpPr/>
              <p:nvPr/>
            </p:nvSpPr>
            <p:spPr>
              <a:xfrm>
                <a:off x="8910637" y="26527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9E402E"/>
                </a:solidFill>
              </a:ln>
            </p:spPr>
          </p:sp>
          <p:sp>
            <p:nvSpPr>
              <p:cNvPr id="217" name="Freeform 217"/>
              <p:cNvSpPr/>
              <p:nvPr/>
            </p:nvSpPr>
            <p:spPr>
              <a:xfrm>
                <a:off x="8958262" y="2708275"/>
                <a:ext cx="47625" cy="31750"/>
              </a:xfrm>
              <a:custGeom>
                <a:avLst/>
                <a:gdLst/>
                <a:ahLst/>
                <a:cxnLst/>
                <a:rect l="l" t="t" r="r" b="b"/>
                <a:pathLst>
                  <a:path w="47625" h="31750">
                    <a:moveTo>
                      <a:pt x="0" y="15875"/>
                    </a:moveTo>
                    <a:lnTo>
                      <a:pt x="15875" y="31750"/>
                    </a:lnTo>
                    <a:lnTo>
                      <a:pt x="47625" y="0"/>
                    </a:lnTo>
                  </a:path>
                </a:pathLst>
              </a:custGeom>
              <a:noFill/>
              <a:ln w="15875">
                <a:solidFill>
                  <a:srgbClr val="9E402E"/>
                </a:solidFill>
              </a:ln>
            </p:spPr>
          </p:sp>
        </p:grpSp>
        <p:sp>
          <p:nvSpPr>
            <p:cNvPr id="219" name="TextBox 219"/>
            <p:cNvSpPr txBox="1"/>
            <p:nvPr/>
          </p:nvSpPr>
          <p:spPr>
            <a:xfrm>
              <a:off x="9158288" y="2685336"/>
              <a:ext cx="58300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绿色贷款新增</a:t>
              </a:r>
            </a:p>
          </p:txBody>
        </p:sp>
        <p:sp>
          <p:nvSpPr>
            <p:cNvPr id="220" name="TextBox 220"/>
            <p:cNvSpPr txBox="1"/>
            <p:nvPr/>
          </p:nvSpPr>
          <p:spPr>
            <a:xfrm>
              <a:off x="11308746" y="2665571"/>
              <a:ext cx="547593" cy="278702"/>
            </a:xfrm>
            <a:prstGeom prst="rect">
              <a:avLst/>
            </a:prstGeom>
            <a:noFill/>
            <a:ln>
              <a:noFill/>
            </a:ln>
          </p:spPr>
          <p:txBody>
            <a:bodyPr wrap="none" lIns="0" tIns="0" rIns="0" bIns="0" anchor="t" anchorCtr="0">
              <a:spAutoFit/>
            </a:bodyPr>
            <a:lstStyle/>
            <a:p>
              <a:pPr algn="r"/>
              <a:r>
                <a:rPr lang="zh-CN" sz="1420" b="1" dirty="0">
                  <a:solidFill>
                    <a:srgbClr val="E04C2E"/>
                  </a:solidFill>
                  <a:latin typeface="+mn-lt"/>
                  <a:ea typeface="+mn-ea"/>
                  <a:cs typeface="+mn-cs"/>
                </a:rPr>
                <a:t>12</a:t>
              </a:r>
              <a:r>
                <a:rPr lang="zh-CN" sz="750" b="1" dirty="0">
                  <a:solidFill>
                    <a:srgbClr val="E04C2E"/>
                  </a:solidFill>
                  <a:latin typeface="+mn-lt"/>
                  <a:ea typeface="+mn-ea"/>
                  <a:cs typeface="+mn-cs"/>
                </a:rPr>
                <a:t>亿元</a:t>
              </a:r>
              <a:r>
                <a:rPr lang="zh-CN" sz="1420" b="1" dirty="0">
                  <a:solidFill>
                    <a:srgbClr val="E04C2E"/>
                  </a:solidFill>
                  <a:latin typeface="+mn-lt"/>
                  <a:ea typeface="+mn-ea"/>
                  <a:cs typeface="+mn-cs"/>
                </a:rPr>
                <a:t>​</a:t>
              </a:r>
            </a:p>
          </p:txBody>
        </p:sp>
      </p:grpSp>
      <p:grpSp>
        <p:nvGrpSpPr>
          <p:cNvPr id="236" name="reminder"/>
          <p:cNvGrpSpPr/>
          <p:nvPr/>
        </p:nvGrpSpPr>
        <p:grpSpPr>
          <a:xfrm>
            <a:off x="8772525" y="3009900"/>
            <a:ext cx="3190875" cy="1104900"/>
            <a:chOff x="8772525" y="3009900"/>
            <a:chExt cx="3190875" cy="1104900"/>
          </a:xfrm>
        </p:grpSpPr>
        <p:sp>
          <p:nvSpPr>
            <p:cNvPr id="222" name="Rectangle 222"/>
            <p:cNvSpPr/>
            <p:nvPr/>
          </p:nvSpPr>
          <p:spPr>
            <a:xfrm>
              <a:off x="8772525" y="3009900"/>
              <a:ext cx="3190875" cy="1104900"/>
            </a:xfrm>
            <a:prstGeom prst="roundRect">
              <a:avLst>
                <a:gd name="adj" fmla="val 5172"/>
              </a:avLst>
            </a:prstGeom>
            <a:solidFill>
              <a:srgbClr val="FFF7F6"/>
            </a:solidFill>
            <a:ln w="11430">
              <a:solidFill>
                <a:srgbClr val="D0442C"/>
              </a:solidFill>
            </a:ln>
          </p:spPr>
        </p:sp>
        <p:grpSp>
          <p:nvGrpSpPr>
            <p:cNvPr id="226" name="Group 226"/>
            <p:cNvGrpSpPr/>
            <p:nvPr/>
          </p:nvGrpSpPr>
          <p:grpSpPr>
            <a:xfrm>
              <a:off x="8898985" y="3122090"/>
              <a:ext cx="128076" cy="110034"/>
              <a:chOff x="8898985" y="3122090"/>
              <a:chExt cx="128076" cy="110034"/>
            </a:xfrm>
          </p:grpSpPr>
          <p:sp>
            <p:nvSpPr>
              <p:cNvPr id="223" name="Freeform 223"/>
              <p:cNvSpPr/>
              <p:nvPr/>
            </p:nvSpPr>
            <p:spPr>
              <a:xfrm>
                <a:off x="8963025" y="3162300"/>
                <a:ext cx="9525" cy="25400"/>
              </a:xfrm>
              <a:custGeom>
                <a:avLst/>
                <a:gdLst/>
                <a:ahLst/>
                <a:cxnLst/>
                <a:rect l="l" t="t" r="r" b="b"/>
                <a:pathLst>
                  <a:path w="9525" h="25400">
                    <a:moveTo>
                      <a:pt x="0" y="0"/>
                    </a:moveTo>
                    <a:lnTo>
                      <a:pt x="0" y="25400"/>
                    </a:lnTo>
                  </a:path>
                </a:pathLst>
              </a:custGeom>
              <a:noFill/>
              <a:ln w="12700">
                <a:solidFill>
                  <a:srgbClr val="D0442C"/>
                </a:solidFill>
              </a:ln>
            </p:spPr>
          </p:sp>
          <p:sp>
            <p:nvSpPr>
              <p:cNvPr id="224" name="Freeform 224"/>
              <p:cNvSpPr/>
              <p:nvPr/>
            </p:nvSpPr>
            <p:spPr>
              <a:xfrm>
                <a:off x="8898985" y="312209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D0442C"/>
                </a:solidFill>
              </a:ln>
            </p:spPr>
          </p:sp>
          <p:sp>
            <p:nvSpPr>
              <p:cNvPr id="225" name="Freeform 225"/>
              <p:cNvSpPr/>
              <p:nvPr/>
            </p:nvSpPr>
            <p:spPr>
              <a:xfrm>
                <a:off x="8963025" y="3206750"/>
                <a:ext cx="9525" cy="9525"/>
              </a:xfrm>
              <a:custGeom>
                <a:avLst/>
                <a:gdLst/>
                <a:ahLst/>
                <a:cxnLst/>
                <a:rect l="l" t="t" r="r" b="b"/>
                <a:pathLst>
                  <a:path w="9525" h="9525">
                    <a:moveTo>
                      <a:pt x="0" y="0"/>
                    </a:moveTo>
                    <a:lnTo>
                      <a:pt x="64" y="0"/>
                    </a:lnTo>
                  </a:path>
                </a:pathLst>
              </a:custGeom>
              <a:noFill/>
              <a:ln w="12700">
                <a:solidFill>
                  <a:srgbClr val="D0442C"/>
                </a:solidFill>
              </a:ln>
            </p:spPr>
          </p:sp>
        </p:grpSp>
        <p:sp>
          <p:nvSpPr>
            <p:cNvPr id="227" name="TextBox 227"/>
            <p:cNvSpPr txBox="1"/>
            <p:nvPr/>
          </p:nvSpPr>
          <p:spPr>
            <a:xfrm>
              <a:off x="9101138" y="3143964"/>
              <a:ext cx="1099439" cy="154781"/>
            </a:xfrm>
            <a:prstGeom prst="rect">
              <a:avLst/>
            </a:prstGeom>
            <a:noFill/>
            <a:ln>
              <a:noFill/>
            </a:ln>
          </p:spPr>
          <p:txBody>
            <a:bodyPr wrap="none" lIns="0" tIns="0" rIns="0" bIns="0" anchor="t" anchorCtr="0">
              <a:spAutoFit/>
            </a:bodyPr>
            <a:lstStyle/>
            <a:p>
              <a:pPr algn="l"/>
              <a:r>
                <a:rPr lang="zh-CN" sz="790" b="1" dirty="0">
                  <a:solidFill>
                    <a:srgbClr val="D0442C"/>
                  </a:solidFill>
                  <a:latin typeface="+mn-lt"/>
                  <a:ea typeface="+mn-ea"/>
                  <a:cs typeface="+mn-cs"/>
                </a:rPr>
                <a:t>重点提醒</a:t>
              </a:r>
              <a:r>
                <a:rPr lang="zh-CN" sz="640" dirty="0">
                  <a:solidFill>
                    <a:srgbClr val="D0442C"/>
                  </a:solidFill>
                  <a:latin typeface="+mn-lt"/>
                  <a:ea typeface="+mn-ea"/>
                  <a:cs typeface="+mn-cs"/>
                </a:rPr>
                <a:t>（风险与差距）</a:t>
              </a:r>
              <a:r>
                <a:rPr lang="zh-CN" sz="790" b="1" dirty="0">
                  <a:solidFill>
                    <a:srgbClr val="D0442C"/>
                  </a:solidFill>
                  <a:latin typeface="+mn-lt"/>
                  <a:ea typeface="+mn-ea"/>
                  <a:cs typeface="+mn-cs"/>
                </a:rPr>
                <a:t>​</a:t>
              </a:r>
            </a:p>
          </p:txBody>
        </p:sp>
        <p:sp>
          <p:nvSpPr>
            <p:cNvPr id="228" name="Ellipse 228"/>
            <p:cNvSpPr/>
            <p:nvPr/>
          </p:nvSpPr>
          <p:spPr>
            <a:xfrm>
              <a:off x="8926830" y="3392805"/>
              <a:ext cx="34290" cy="34290"/>
            </a:xfrm>
            <a:prstGeom prst="ellipse">
              <a:avLst/>
            </a:prstGeom>
            <a:solidFill>
              <a:srgbClr val="D0442C"/>
            </a:solidFill>
            <a:ln>
              <a:noFill/>
            </a:ln>
          </p:spPr>
        </p:sp>
        <p:sp>
          <p:nvSpPr>
            <p:cNvPr id="229" name="TextBox 229"/>
            <p:cNvSpPr txBox="1"/>
            <p:nvPr/>
          </p:nvSpPr>
          <p:spPr>
            <a:xfrm>
              <a:off x="9024938" y="3379232"/>
              <a:ext cx="1388034"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项目资本金到位不足，落地节奏偏慢</a:t>
              </a:r>
            </a:p>
          </p:txBody>
        </p:sp>
        <p:sp>
          <p:nvSpPr>
            <p:cNvPr id="230" name="Ellipse 230"/>
            <p:cNvSpPr/>
            <p:nvPr/>
          </p:nvSpPr>
          <p:spPr>
            <a:xfrm>
              <a:off x="8926830" y="3564255"/>
              <a:ext cx="34290" cy="34290"/>
            </a:xfrm>
            <a:prstGeom prst="ellipse">
              <a:avLst/>
            </a:prstGeom>
            <a:solidFill>
              <a:srgbClr val="D0442C"/>
            </a:solidFill>
            <a:ln>
              <a:noFill/>
            </a:ln>
          </p:spPr>
        </p:sp>
        <p:sp>
          <p:nvSpPr>
            <p:cNvPr id="231" name="TextBox 231"/>
            <p:cNvSpPr txBox="1"/>
            <p:nvPr/>
          </p:nvSpPr>
          <p:spPr>
            <a:xfrm>
              <a:off x="9024938" y="3550682"/>
              <a:ext cx="1215720"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链上下游企业信用分层仍需加强</a:t>
              </a:r>
            </a:p>
          </p:txBody>
        </p:sp>
        <p:sp>
          <p:nvSpPr>
            <p:cNvPr id="232" name="Ellipse 232"/>
            <p:cNvSpPr/>
            <p:nvPr/>
          </p:nvSpPr>
          <p:spPr>
            <a:xfrm>
              <a:off x="8926830" y="3735705"/>
              <a:ext cx="34290" cy="34290"/>
            </a:xfrm>
            <a:prstGeom prst="ellipse">
              <a:avLst/>
            </a:prstGeom>
            <a:solidFill>
              <a:srgbClr val="D0442C"/>
            </a:solidFill>
            <a:ln>
              <a:noFill/>
            </a:ln>
          </p:spPr>
        </p:sp>
        <p:sp>
          <p:nvSpPr>
            <p:cNvPr id="233" name="TextBox 233"/>
            <p:cNvSpPr txBox="1"/>
            <p:nvPr/>
          </p:nvSpPr>
          <p:spPr>
            <a:xfrm>
              <a:off x="9024938" y="3722132"/>
              <a:ext cx="1215720"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竞争加剧，利率与费用压力上升</a:t>
              </a:r>
            </a:p>
          </p:txBody>
        </p:sp>
        <p:sp>
          <p:nvSpPr>
            <p:cNvPr id="234" name="Ellipse 234"/>
            <p:cNvSpPr/>
            <p:nvPr/>
          </p:nvSpPr>
          <p:spPr>
            <a:xfrm>
              <a:off x="8926830" y="3907155"/>
              <a:ext cx="34290" cy="34290"/>
            </a:xfrm>
            <a:prstGeom prst="ellipse">
              <a:avLst/>
            </a:prstGeom>
            <a:solidFill>
              <a:srgbClr val="D0442C"/>
            </a:solidFill>
            <a:ln>
              <a:noFill/>
            </a:ln>
          </p:spPr>
        </p:sp>
        <p:sp>
          <p:nvSpPr>
            <p:cNvPr id="235" name="TextBox 235"/>
            <p:cNvSpPr txBox="1"/>
            <p:nvPr/>
          </p:nvSpPr>
          <p:spPr>
            <a:xfrm>
              <a:off x="9024938" y="3893582"/>
              <a:ext cx="1129563"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强化贷后管理与项目投后跟踪</a:t>
              </a:r>
            </a:p>
          </p:txBody>
        </p:sp>
      </p:grpSp>
      <p:grpSp>
        <p:nvGrpSpPr>
          <p:cNvPr id="306" name="cases"/>
          <p:cNvGrpSpPr/>
          <p:nvPr/>
        </p:nvGrpSpPr>
        <p:grpSpPr>
          <a:xfrm>
            <a:off x="228600" y="4191000"/>
            <a:ext cx="8429625" cy="2476500"/>
            <a:chOff x="228600" y="4191000"/>
            <a:chExt cx="8429625" cy="2476500"/>
          </a:xfrm>
        </p:grpSpPr>
        <p:sp>
          <p:nvSpPr>
            <p:cNvPr id="237" name="Rectangle 237"/>
            <p:cNvSpPr/>
            <p:nvPr/>
          </p:nvSpPr>
          <p:spPr>
            <a:xfrm>
              <a:off x="228600" y="4191000"/>
              <a:ext cx="8429625" cy="2476500"/>
            </a:xfrm>
            <a:prstGeom prst="roundRect">
              <a:avLst>
                <a:gd name="adj" fmla="val 2308"/>
              </a:avLst>
            </a:prstGeom>
            <a:solidFill>
              <a:srgbClr val="F5F8FD"/>
            </a:solidFill>
            <a:ln w="9525">
              <a:solidFill>
                <a:srgbClr val="E3EAF5"/>
              </a:solidFill>
            </a:ln>
          </p:spPr>
        </p:sp>
        <p:sp>
          <p:nvSpPr>
            <p:cNvPr id="238" name="Rectangle 238"/>
            <p:cNvSpPr/>
            <p:nvPr/>
          </p:nvSpPr>
          <p:spPr>
            <a:xfrm>
              <a:off x="285750" y="4248150"/>
              <a:ext cx="247650" cy="2362200"/>
            </a:xfrm>
            <a:prstGeom prst="roundRect">
              <a:avLst>
                <a:gd name="adj" fmla="val 15385"/>
              </a:avLst>
            </a:prstGeom>
            <a:solidFill>
              <a:srgbClr val="69281B"/>
            </a:solidFill>
            <a:ln>
              <a:noFill/>
            </a:ln>
          </p:spPr>
        </p:sp>
        <p:sp>
          <p:nvSpPr>
            <p:cNvPr id="239" name="TextBox 239"/>
            <p:cNvSpPr txBox="1"/>
            <p:nvPr/>
          </p:nvSpPr>
          <p:spPr>
            <a:xfrm>
              <a:off x="349618" y="49591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典</a:t>
              </a:r>
            </a:p>
          </p:txBody>
        </p:sp>
        <p:sp>
          <p:nvSpPr>
            <p:cNvPr id="240" name="TextBox 240"/>
            <p:cNvSpPr txBox="1"/>
            <p:nvPr/>
          </p:nvSpPr>
          <p:spPr>
            <a:xfrm>
              <a:off x="349618" y="51115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型</a:t>
              </a:r>
            </a:p>
          </p:txBody>
        </p:sp>
        <p:sp>
          <p:nvSpPr>
            <p:cNvPr id="241" name="TextBox 241"/>
            <p:cNvSpPr txBox="1"/>
            <p:nvPr/>
          </p:nvSpPr>
          <p:spPr>
            <a:xfrm>
              <a:off x="349618" y="52639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项</a:t>
              </a:r>
            </a:p>
          </p:txBody>
        </p:sp>
        <p:sp>
          <p:nvSpPr>
            <p:cNvPr id="242" name="TextBox 242"/>
            <p:cNvSpPr txBox="1"/>
            <p:nvPr/>
          </p:nvSpPr>
          <p:spPr>
            <a:xfrm>
              <a:off x="349618" y="54163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目</a:t>
              </a:r>
            </a:p>
          </p:txBody>
        </p:sp>
        <p:sp>
          <p:nvSpPr>
            <p:cNvPr id="243" name="TextBox 243"/>
            <p:cNvSpPr txBox="1"/>
            <p:nvPr/>
          </p:nvSpPr>
          <p:spPr>
            <a:xfrm>
              <a:off x="349618" y="55687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案</a:t>
              </a:r>
            </a:p>
          </p:txBody>
        </p:sp>
        <p:sp>
          <p:nvSpPr>
            <p:cNvPr id="244" name="TextBox 244"/>
            <p:cNvSpPr txBox="1"/>
            <p:nvPr/>
          </p:nvSpPr>
          <p:spPr>
            <a:xfrm>
              <a:off x="349618" y="57211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例</a:t>
              </a:r>
            </a:p>
          </p:txBody>
        </p:sp>
        <p:sp>
          <p:nvSpPr>
            <p:cNvPr id="245" name="Rectangle 245"/>
            <p:cNvSpPr/>
            <p:nvPr/>
          </p:nvSpPr>
          <p:spPr>
            <a:xfrm>
              <a:off x="609600" y="4267200"/>
              <a:ext cx="1943100" cy="2324100"/>
            </a:xfrm>
            <a:prstGeom prst="roundRect">
              <a:avLst>
                <a:gd name="adj" fmla="val 1961"/>
              </a:avLst>
            </a:prstGeom>
            <a:solidFill>
              <a:srgbClr val="FFFFFF"/>
            </a:solidFill>
            <a:ln w="9525">
              <a:solidFill>
                <a:srgbClr val="C9D6E9"/>
              </a:solidFill>
            </a:ln>
          </p:spPr>
        </p:sp>
        <p:sp>
          <p:nvSpPr>
            <p:cNvPr id="246" name="Rectangle 246"/>
            <p:cNvSpPr/>
            <p:nvPr/>
          </p:nvSpPr>
          <p:spPr>
            <a:xfrm>
              <a:off x="685800" y="4343400"/>
              <a:ext cx="228600" cy="171450"/>
            </a:xfrm>
            <a:prstGeom prst="rect">
              <a:avLst/>
            </a:prstGeom>
            <a:solidFill>
              <a:srgbClr val="69281B"/>
            </a:solidFill>
            <a:ln>
              <a:noFill/>
            </a:ln>
          </p:spPr>
        </p:sp>
        <p:sp>
          <p:nvSpPr>
            <p:cNvPr id="247" name="TextBox 247"/>
            <p:cNvSpPr txBox="1"/>
            <p:nvPr/>
          </p:nvSpPr>
          <p:spPr>
            <a:xfrm>
              <a:off x="712541" y="4390311"/>
              <a:ext cx="175118"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01​</a:t>
              </a:r>
            </a:p>
          </p:txBody>
        </p:sp>
        <p:sp>
          <p:nvSpPr>
            <p:cNvPr id="248" name="TextBox 248"/>
            <p:cNvSpPr txBox="1"/>
            <p:nvPr/>
          </p:nvSpPr>
          <p:spPr>
            <a:xfrm>
              <a:off x="966788" y="4386262"/>
              <a:ext cx="122110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高端数控机床制造基地项目</a:t>
              </a:r>
            </a:p>
          </p:txBody>
        </p:sp>
        <p:sp>
          <p:nvSpPr>
            <p:cNvPr id="249" name="TextBox 249"/>
            <p:cNvSpPr txBox="1"/>
            <p:nvPr/>
          </p:nvSpPr>
          <p:spPr>
            <a:xfrm>
              <a:off x="681038" y="4600861"/>
              <a:ext cx="1592199" cy="388620"/>
            </a:xfrm>
            <a:prstGeom prst="rect">
              <a:avLst/>
            </a:prstGeom>
            <a:noFill/>
            <a:ln>
              <a:noFill/>
            </a:ln>
          </p:spPr>
          <p:txBody>
            <a:bodyPr wrap="none" lIns="0" tIns="0" rIns="0" bIns="0" anchor="t" anchorCtr="0">
              <a:spAutoFit/>
            </a:bodyPr>
            <a:lstStyle/>
            <a:p>
              <a:pPr algn="l">
                <a:lnSpc>
                  <a:spcPts val="1050"/>
                </a:lnSpc>
              </a:pPr>
              <a:r>
                <a:rPr lang="zh-CN" sz="620" dirty="0">
                  <a:solidFill>
                    <a:srgbClr val="70504A"/>
                  </a:solidFill>
                  <a:latin typeface="+mn-lt"/>
                  <a:ea typeface="+mn-ea"/>
                  <a:cs typeface="+mn-cs"/>
                </a:rPr>
                <a:t>所属领域：先进制造-高端装备</a:t>
              </a:r>
              <a:br/>
              <a:r>
                <a:rPr lang="zh-CN" sz="620" dirty="0">
                  <a:solidFill>
                    <a:srgbClr val="70504A"/>
                  </a:solidFill>
                  <a:latin typeface="+mn-lt"/>
                  <a:ea typeface="+mn-ea"/>
                  <a:cs typeface="+mn-cs"/>
                </a:rPr>
                <a:t>项目总投资：28.5亿元​</a:t>
              </a:r>
              <a:br/>
              <a:r>
                <a:rPr lang="zh-CN" sz="620" dirty="0">
                  <a:solidFill>
                    <a:srgbClr val="70504A"/>
                  </a:solidFill>
                  <a:latin typeface="+mn-lt"/>
                  <a:ea typeface="+mn-ea"/>
                  <a:cs typeface="+mn-cs"/>
                </a:rPr>
                <a:t>合作模式：项目贷款+设备融资租赁+结算服务</a:t>
              </a:r>
            </a:p>
          </p:txBody>
        </p:sp>
        <p:sp>
          <p:nvSpPr>
            <p:cNvPr id="250" name="Rectangle 250"/>
            <p:cNvSpPr/>
            <p:nvPr/>
          </p:nvSpPr>
          <p:spPr>
            <a:xfrm>
              <a:off x="685800" y="5029200"/>
              <a:ext cx="876300" cy="438150"/>
            </a:xfrm>
            <a:prstGeom prst="roundRect">
              <a:avLst>
                <a:gd name="adj" fmla="val 6522"/>
              </a:avLst>
            </a:prstGeom>
            <a:solidFill>
              <a:srgbClr val="EAF1FB"/>
            </a:solidFill>
            <a:ln>
              <a:noFill/>
            </a:ln>
          </p:spPr>
        </p:sp>
        <p:sp>
          <p:nvSpPr>
            <p:cNvPr id="251" name="TextBox 251"/>
            <p:cNvSpPr txBox="1"/>
            <p:nvPr/>
          </p:nvSpPr>
          <p:spPr>
            <a:xfrm>
              <a:off x="957643" y="5116830"/>
              <a:ext cx="332613" cy="119062"/>
            </a:xfrm>
            <a:prstGeom prst="rect">
              <a:avLst/>
            </a:prstGeom>
            <a:noFill/>
            <a:ln>
              <a:noFill/>
            </a:ln>
          </p:spPr>
          <p:txBody>
            <a:bodyPr wrap="none" lIns="0" tIns="0" rIns="0" bIns="0" anchor="t" anchorCtr="0">
              <a:spAutoFit/>
            </a:bodyPr>
            <a:lstStyle/>
            <a:p>
              <a:pPr algn="ctr"/>
              <a:r>
                <a:rPr lang="zh-CN" sz="600" dirty="0">
                  <a:solidFill>
                    <a:srgbClr val="70504A"/>
                  </a:solidFill>
                  <a:latin typeface="+mn-lt"/>
                  <a:ea typeface="+mn-ea"/>
                  <a:cs typeface="+mn-cs"/>
                </a:rPr>
                <a:t>授信金额</a:t>
              </a:r>
            </a:p>
          </p:txBody>
        </p:sp>
        <p:sp>
          <p:nvSpPr>
            <p:cNvPr id="252" name="TextBox 252"/>
            <p:cNvSpPr txBox="1"/>
            <p:nvPr/>
          </p:nvSpPr>
          <p:spPr>
            <a:xfrm>
              <a:off x="819782" y="5269706"/>
              <a:ext cx="608335"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12.0</a:t>
              </a:r>
              <a:r>
                <a:rPr lang="zh-CN" sz="600" dirty="0">
                  <a:solidFill>
                    <a:srgbClr val="E04C2E"/>
                  </a:solidFill>
                  <a:latin typeface="+mn-lt"/>
                  <a:ea typeface="+mn-ea"/>
                  <a:cs typeface="+mn-cs"/>
                </a:rPr>
                <a:t>亿元</a:t>
              </a:r>
              <a:r>
                <a:rPr lang="zh-CN" sz="1120" b="1" dirty="0">
                  <a:solidFill>
                    <a:srgbClr val="E04C2E"/>
                  </a:solidFill>
                  <a:latin typeface="+mn-lt"/>
                  <a:ea typeface="+mn-ea"/>
                  <a:cs typeface="+mn-cs"/>
                </a:rPr>
                <a:t>​</a:t>
              </a:r>
            </a:p>
          </p:txBody>
        </p:sp>
        <p:sp>
          <p:nvSpPr>
            <p:cNvPr id="253" name="Rectangle 253"/>
            <p:cNvSpPr/>
            <p:nvPr/>
          </p:nvSpPr>
          <p:spPr>
            <a:xfrm>
              <a:off x="1600200" y="5029200"/>
              <a:ext cx="876300" cy="438150"/>
            </a:xfrm>
            <a:prstGeom prst="roundRect">
              <a:avLst>
                <a:gd name="adj" fmla="val 6522"/>
              </a:avLst>
            </a:prstGeom>
            <a:solidFill>
              <a:srgbClr val="EAF1FB"/>
            </a:solidFill>
            <a:ln>
              <a:noFill/>
            </a:ln>
          </p:spPr>
        </p:sp>
        <p:sp>
          <p:nvSpPr>
            <p:cNvPr id="254" name="TextBox 254"/>
            <p:cNvSpPr txBox="1"/>
            <p:nvPr/>
          </p:nvSpPr>
          <p:spPr>
            <a:xfrm>
              <a:off x="1831658" y="5116830"/>
              <a:ext cx="413385" cy="119062"/>
            </a:xfrm>
            <a:prstGeom prst="rect">
              <a:avLst/>
            </a:prstGeom>
            <a:noFill/>
            <a:ln>
              <a:noFill/>
            </a:ln>
          </p:spPr>
          <p:txBody>
            <a:bodyPr wrap="none" lIns="0" tIns="0" rIns="0" bIns="0" anchor="t" anchorCtr="0">
              <a:spAutoFit/>
            </a:bodyPr>
            <a:lstStyle/>
            <a:p>
              <a:pPr algn="ctr"/>
              <a:r>
                <a:rPr lang="zh-CN" sz="600" dirty="0">
                  <a:solidFill>
                    <a:srgbClr val="70504A"/>
                  </a:solidFill>
                  <a:latin typeface="+mn-lt"/>
                  <a:ea typeface="+mn-ea"/>
                  <a:cs typeface="+mn-cs"/>
                </a:rPr>
                <a:t>已投放金额</a:t>
              </a:r>
            </a:p>
          </p:txBody>
        </p:sp>
        <p:sp>
          <p:nvSpPr>
            <p:cNvPr id="255" name="TextBox 255"/>
            <p:cNvSpPr txBox="1"/>
            <p:nvPr/>
          </p:nvSpPr>
          <p:spPr>
            <a:xfrm>
              <a:off x="1777719" y="5269706"/>
              <a:ext cx="521263"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5.2</a:t>
              </a:r>
              <a:r>
                <a:rPr lang="zh-CN" sz="600" dirty="0">
                  <a:solidFill>
                    <a:srgbClr val="E04C2E"/>
                  </a:solidFill>
                  <a:latin typeface="+mn-lt"/>
                  <a:ea typeface="+mn-ea"/>
                  <a:cs typeface="+mn-cs"/>
                </a:rPr>
                <a:t>亿元</a:t>
              </a:r>
              <a:r>
                <a:rPr lang="zh-CN" sz="1120" b="1" dirty="0">
                  <a:solidFill>
                    <a:srgbClr val="E04C2E"/>
                  </a:solidFill>
                  <a:latin typeface="+mn-lt"/>
                  <a:ea typeface="+mn-ea"/>
                  <a:cs typeface="+mn-cs"/>
                </a:rPr>
                <a:t>​</a:t>
              </a:r>
            </a:p>
          </p:txBody>
        </p:sp>
        <p:grpSp>
          <p:nvGrpSpPr>
            <p:cNvPr id="258" name="Group 258"/>
            <p:cNvGrpSpPr/>
            <p:nvPr/>
          </p:nvGrpSpPr>
          <p:grpSpPr>
            <a:xfrm>
              <a:off x="700088" y="5595938"/>
              <a:ext cx="85725" cy="85725"/>
              <a:chOff x="700088" y="5595938"/>
              <a:chExt cx="85725" cy="85725"/>
            </a:xfrm>
          </p:grpSpPr>
          <p:sp>
            <p:nvSpPr>
              <p:cNvPr id="256" name="Freeform 256"/>
              <p:cNvSpPr/>
              <p:nvPr/>
            </p:nvSpPr>
            <p:spPr>
              <a:xfrm>
                <a:off x="700088" y="55959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04C2E"/>
                </a:solidFill>
              </a:ln>
            </p:spPr>
          </p:sp>
          <p:sp>
            <p:nvSpPr>
              <p:cNvPr id="257" name="Freeform 257"/>
              <p:cNvSpPr/>
              <p:nvPr/>
            </p:nvSpPr>
            <p:spPr>
              <a:xfrm>
                <a:off x="728662" y="5629275"/>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259" name="TextBox 259"/>
            <p:cNvSpPr txBox="1"/>
            <p:nvPr/>
          </p:nvSpPr>
          <p:spPr>
            <a:xfrm>
              <a:off x="833438" y="5610511"/>
              <a:ext cx="1344955" cy="121920"/>
            </a:xfrm>
            <a:prstGeom prst="rect">
              <a:avLst/>
            </a:prstGeom>
            <a:noFill/>
            <a:ln>
              <a:noFill/>
            </a:ln>
          </p:spPr>
          <p:txBody>
            <a:bodyPr wrap="none" lIns="0" tIns="0" rIns="0" bIns="0" anchor="t" anchorCtr="0">
              <a:spAutoFit/>
            </a:bodyPr>
            <a:lstStyle/>
            <a:p>
              <a:pPr algn="l"/>
              <a:r>
                <a:rPr lang="zh-CN" sz="620" dirty="0">
                  <a:solidFill>
                    <a:srgbClr val="70504A"/>
                  </a:solidFill>
                  <a:latin typeface="+mn-lt"/>
                  <a:ea typeface="+mn-ea"/>
                  <a:cs typeface="+mn-cs"/>
                </a:rPr>
                <a:t>进展：主体厂房已封顶，设备采购中</a:t>
              </a:r>
            </a:p>
          </p:txBody>
        </p:sp>
        <p:sp>
          <p:nvSpPr>
            <p:cNvPr id="260" name="Rectangle 260"/>
            <p:cNvSpPr/>
            <p:nvPr/>
          </p:nvSpPr>
          <p:spPr>
            <a:xfrm>
              <a:off x="2628900" y="4267200"/>
              <a:ext cx="1943100" cy="2324100"/>
            </a:xfrm>
            <a:prstGeom prst="roundRect">
              <a:avLst>
                <a:gd name="adj" fmla="val 1961"/>
              </a:avLst>
            </a:prstGeom>
            <a:solidFill>
              <a:srgbClr val="FFFFFF"/>
            </a:solidFill>
            <a:ln w="9525">
              <a:solidFill>
                <a:srgbClr val="C9D6E9"/>
              </a:solidFill>
            </a:ln>
          </p:spPr>
        </p:sp>
        <p:sp>
          <p:nvSpPr>
            <p:cNvPr id="261" name="Rectangle 261"/>
            <p:cNvSpPr/>
            <p:nvPr/>
          </p:nvSpPr>
          <p:spPr>
            <a:xfrm>
              <a:off x="2705100" y="4343400"/>
              <a:ext cx="228600" cy="171450"/>
            </a:xfrm>
            <a:prstGeom prst="rect">
              <a:avLst/>
            </a:prstGeom>
            <a:solidFill>
              <a:srgbClr val="69281B"/>
            </a:solidFill>
            <a:ln>
              <a:noFill/>
            </a:ln>
          </p:spPr>
        </p:sp>
        <p:sp>
          <p:nvSpPr>
            <p:cNvPr id="262" name="TextBox 262"/>
            <p:cNvSpPr txBox="1"/>
            <p:nvPr/>
          </p:nvSpPr>
          <p:spPr>
            <a:xfrm>
              <a:off x="2731841" y="4390311"/>
              <a:ext cx="175118"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02​</a:t>
              </a:r>
            </a:p>
          </p:txBody>
        </p:sp>
        <p:sp>
          <p:nvSpPr>
            <p:cNvPr id="263" name="TextBox 263"/>
            <p:cNvSpPr txBox="1"/>
            <p:nvPr/>
          </p:nvSpPr>
          <p:spPr>
            <a:xfrm>
              <a:off x="2986088" y="4386262"/>
              <a:ext cx="918210"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智慧物流产业园项目</a:t>
              </a:r>
            </a:p>
          </p:txBody>
        </p:sp>
        <p:sp>
          <p:nvSpPr>
            <p:cNvPr id="264" name="TextBox 264"/>
            <p:cNvSpPr txBox="1"/>
            <p:nvPr/>
          </p:nvSpPr>
          <p:spPr>
            <a:xfrm>
              <a:off x="2700338" y="4600861"/>
              <a:ext cx="1513459" cy="388620"/>
            </a:xfrm>
            <a:prstGeom prst="rect">
              <a:avLst/>
            </a:prstGeom>
            <a:noFill/>
            <a:ln>
              <a:noFill/>
            </a:ln>
          </p:spPr>
          <p:txBody>
            <a:bodyPr wrap="none" lIns="0" tIns="0" rIns="0" bIns="0" anchor="t" anchorCtr="0">
              <a:spAutoFit/>
            </a:bodyPr>
            <a:lstStyle/>
            <a:p>
              <a:pPr algn="l">
                <a:lnSpc>
                  <a:spcPts val="1050"/>
                </a:lnSpc>
              </a:pPr>
              <a:r>
                <a:rPr lang="zh-CN" sz="620" dirty="0">
                  <a:solidFill>
                    <a:srgbClr val="70504A"/>
                  </a:solidFill>
                  <a:latin typeface="+mn-lt"/>
                  <a:ea typeface="+mn-ea"/>
                  <a:cs typeface="+mn-cs"/>
                </a:rPr>
                <a:t>所属领域：现代服务-现代物流</a:t>
              </a:r>
              <a:br/>
              <a:r>
                <a:rPr lang="zh-CN" sz="620" dirty="0">
                  <a:solidFill>
                    <a:srgbClr val="70504A"/>
                  </a:solidFill>
                  <a:latin typeface="+mn-lt"/>
                  <a:ea typeface="+mn-ea"/>
                  <a:cs typeface="+mn-cs"/>
                </a:rPr>
                <a:t>项目总投资：16.8亿元​</a:t>
              </a:r>
              <a:br/>
              <a:r>
                <a:rPr lang="zh-CN" sz="620" dirty="0">
                  <a:solidFill>
                    <a:srgbClr val="70504A"/>
                  </a:solidFill>
                  <a:latin typeface="+mn-lt"/>
                  <a:ea typeface="+mn-ea"/>
                  <a:cs typeface="+mn-cs"/>
                </a:rPr>
                <a:t>合作模式：项目贷款+供应链金融+现金管理</a:t>
              </a:r>
            </a:p>
          </p:txBody>
        </p:sp>
        <p:sp>
          <p:nvSpPr>
            <p:cNvPr id="265" name="Rectangle 265"/>
            <p:cNvSpPr/>
            <p:nvPr/>
          </p:nvSpPr>
          <p:spPr>
            <a:xfrm>
              <a:off x="2705100" y="5029200"/>
              <a:ext cx="876300" cy="438150"/>
            </a:xfrm>
            <a:prstGeom prst="roundRect">
              <a:avLst>
                <a:gd name="adj" fmla="val 6522"/>
              </a:avLst>
            </a:prstGeom>
            <a:solidFill>
              <a:srgbClr val="EAF1FB"/>
            </a:solidFill>
            <a:ln>
              <a:noFill/>
            </a:ln>
          </p:spPr>
        </p:sp>
        <p:sp>
          <p:nvSpPr>
            <p:cNvPr id="266" name="TextBox 266"/>
            <p:cNvSpPr txBox="1"/>
            <p:nvPr/>
          </p:nvSpPr>
          <p:spPr>
            <a:xfrm>
              <a:off x="2976944" y="5116830"/>
              <a:ext cx="332613" cy="119062"/>
            </a:xfrm>
            <a:prstGeom prst="rect">
              <a:avLst/>
            </a:prstGeom>
            <a:noFill/>
            <a:ln>
              <a:noFill/>
            </a:ln>
          </p:spPr>
          <p:txBody>
            <a:bodyPr wrap="none" lIns="0" tIns="0" rIns="0" bIns="0" anchor="t" anchorCtr="0">
              <a:spAutoFit/>
            </a:bodyPr>
            <a:lstStyle/>
            <a:p>
              <a:pPr algn="ctr"/>
              <a:r>
                <a:rPr lang="zh-CN" sz="600" dirty="0">
                  <a:solidFill>
                    <a:srgbClr val="70504A"/>
                  </a:solidFill>
                  <a:latin typeface="+mn-lt"/>
                  <a:ea typeface="+mn-ea"/>
                  <a:cs typeface="+mn-cs"/>
                </a:rPr>
                <a:t>授信金额</a:t>
              </a:r>
            </a:p>
          </p:txBody>
        </p:sp>
        <p:sp>
          <p:nvSpPr>
            <p:cNvPr id="267" name="TextBox 267"/>
            <p:cNvSpPr txBox="1"/>
            <p:nvPr/>
          </p:nvSpPr>
          <p:spPr>
            <a:xfrm>
              <a:off x="2882619" y="5269706"/>
              <a:ext cx="521263"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8.5</a:t>
              </a:r>
              <a:r>
                <a:rPr lang="zh-CN" sz="600" dirty="0">
                  <a:solidFill>
                    <a:srgbClr val="E04C2E"/>
                  </a:solidFill>
                  <a:latin typeface="+mn-lt"/>
                  <a:ea typeface="+mn-ea"/>
                  <a:cs typeface="+mn-cs"/>
                </a:rPr>
                <a:t>亿元</a:t>
              </a:r>
              <a:r>
                <a:rPr lang="zh-CN" sz="1120" b="1" dirty="0">
                  <a:solidFill>
                    <a:srgbClr val="E04C2E"/>
                  </a:solidFill>
                  <a:latin typeface="+mn-lt"/>
                  <a:ea typeface="+mn-ea"/>
                  <a:cs typeface="+mn-cs"/>
                </a:rPr>
                <a:t>​</a:t>
              </a:r>
            </a:p>
          </p:txBody>
        </p:sp>
        <p:sp>
          <p:nvSpPr>
            <p:cNvPr id="268" name="Rectangle 268"/>
            <p:cNvSpPr/>
            <p:nvPr/>
          </p:nvSpPr>
          <p:spPr>
            <a:xfrm>
              <a:off x="3619500" y="5029200"/>
              <a:ext cx="876300" cy="438150"/>
            </a:xfrm>
            <a:prstGeom prst="roundRect">
              <a:avLst>
                <a:gd name="adj" fmla="val 6522"/>
              </a:avLst>
            </a:prstGeom>
            <a:solidFill>
              <a:srgbClr val="EAF1FB"/>
            </a:solidFill>
            <a:ln>
              <a:noFill/>
            </a:ln>
          </p:spPr>
        </p:sp>
        <p:sp>
          <p:nvSpPr>
            <p:cNvPr id="269" name="TextBox 269"/>
            <p:cNvSpPr txBox="1"/>
            <p:nvPr/>
          </p:nvSpPr>
          <p:spPr>
            <a:xfrm>
              <a:off x="3850958" y="5116830"/>
              <a:ext cx="413385" cy="119062"/>
            </a:xfrm>
            <a:prstGeom prst="rect">
              <a:avLst/>
            </a:prstGeom>
            <a:noFill/>
            <a:ln>
              <a:noFill/>
            </a:ln>
          </p:spPr>
          <p:txBody>
            <a:bodyPr wrap="none" lIns="0" tIns="0" rIns="0" bIns="0" anchor="t" anchorCtr="0">
              <a:spAutoFit/>
            </a:bodyPr>
            <a:lstStyle/>
            <a:p>
              <a:pPr algn="ctr"/>
              <a:r>
                <a:rPr lang="zh-CN" sz="600" dirty="0">
                  <a:solidFill>
                    <a:srgbClr val="70504A"/>
                  </a:solidFill>
                  <a:latin typeface="+mn-lt"/>
                  <a:ea typeface="+mn-ea"/>
                  <a:cs typeface="+mn-cs"/>
                </a:rPr>
                <a:t>已投放金额</a:t>
              </a:r>
            </a:p>
          </p:txBody>
        </p:sp>
        <p:sp>
          <p:nvSpPr>
            <p:cNvPr id="270" name="TextBox 270"/>
            <p:cNvSpPr txBox="1"/>
            <p:nvPr/>
          </p:nvSpPr>
          <p:spPr>
            <a:xfrm>
              <a:off x="3797019" y="5269706"/>
              <a:ext cx="521263"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4.1</a:t>
              </a:r>
              <a:r>
                <a:rPr lang="zh-CN" sz="600" dirty="0">
                  <a:solidFill>
                    <a:srgbClr val="E04C2E"/>
                  </a:solidFill>
                  <a:latin typeface="+mn-lt"/>
                  <a:ea typeface="+mn-ea"/>
                  <a:cs typeface="+mn-cs"/>
                </a:rPr>
                <a:t>亿元</a:t>
              </a:r>
              <a:r>
                <a:rPr lang="zh-CN" sz="1120" b="1" dirty="0">
                  <a:solidFill>
                    <a:srgbClr val="E04C2E"/>
                  </a:solidFill>
                  <a:latin typeface="+mn-lt"/>
                  <a:ea typeface="+mn-ea"/>
                  <a:cs typeface="+mn-cs"/>
                </a:rPr>
                <a:t>​</a:t>
              </a:r>
            </a:p>
          </p:txBody>
        </p:sp>
        <p:grpSp>
          <p:nvGrpSpPr>
            <p:cNvPr id="273" name="Group 273"/>
            <p:cNvGrpSpPr/>
            <p:nvPr/>
          </p:nvGrpSpPr>
          <p:grpSpPr>
            <a:xfrm>
              <a:off x="2719388" y="5595938"/>
              <a:ext cx="85725" cy="85725"/>
              <a:chOff x="2719388" y="5595938"/>
              <a:chExt cx="85725" cy="85725"/>
            </a:xfrm>
          </p:grpSpPr>
          <p:sp>
            <p:nvSpPr>
              <p:cNvPr id="271" name="Freeform 271"/>
              <p:cNvSpPr/>
              <p:nvPr/>
            </p:nvSpPr>
            <p:spPr>
              <a:xfrm>
                <a:off x="2719388" y="55959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04C2E"/>
                </a:solidFill>
              </a:ln>
            </p:spPr>
          </p:sp>
          <p:sp>
            <p:nvSpPr>
              <p:cNvPr id="272" name="Freeform 272"/>
              <p:cNvSpPr/>
              <p:nvPr/>
            </p:nvSpPr>
            <p:spPr>
              <a:xfrm>
                <a:off x="2747962" y="5629275"/>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274" name="TextBox 274"/>
            <p:cNvSpPr txBox="1"/>
            <p:nvPr/>
          </p:nvSpPr>
          <p:spPr>
            <a:xfrm>
              <a:off x="2852738" y="5610511"/>
              <a:ext cx="1344955" cy="121920"/>
            </a:xfrm>
            <a:prstGeom prst="rect">
              <a:avLst/>
            </a:prstGeom>
            <a:noFill/>
            <a:ln>
              <a:noFill/>
            </a:ln>
          </p:spPr>
          <p:txBody>
            <a:bodyPr wrap="none" lIns="0" tIns="0" rIns="0" bIns="0" anchor="t" anchorCtr="0">
              <a:spAutoFit/>
            </a:bodyPr>
            <a:lstStyle/>
            <a:p>
              <a:pPr algn="l"/>
              <a:r>
                <a:rPr lang="zh-CN" sz="620" dirty="0">
                  <a:solidFill>
                    <a:srgbClr val="70504A"/>
                  </a:solidFill>
                  <a:latin typeface="+mn-lt"/>
                  <a:ea typeface="+mn-ea"/>
                  <a:cs typeface="+mn-cs"/>
                </a:rPr>
                <a:t>进展：一期仓储中心竣工，试运营中</a:t>
              </a:r>
            </a:p>
          </p:txBody>
        </p:sp>
        <p:sp>
          <p:nvSpPr>
            <p:cNvPr id="275" name="Rectangle 275"/>
            <p:cNvSpPr/>
            <p:nvPr/>
          </p:nvSpPr>
          <p:spPr>
            <a:xfrm>
              <a:off x="4648200" y="4267200"/>
              <a:ext cx="1943100" cy="2324100"/>
            </a:xfrm>
            <a:prstGeom prst="roundRect">
              <a:avLst>
                <a:gd name="adj" fmla="val 1961"/>
              </a:avLst>
            </a:prstGeom>
            <a:solidFill>
              <a:srgbClr val="FFFFFF"/>
            </a:solidFill>
            <a:ln w="9525">
              <a:solidFill>
                <a:srgbClr val="C9D6E9"/>
              </a:solidFill>
            </a:ln>
          </p:spPr>
        </p:sp>
        <p:sp>
          <p:nvSpPr>
            <p:cNvPr id="276" name="Rectangle 276"/>
            <p:cNvSpPr/>
            <p:nvPr/>
          </p:nvSpPr>
          <p:spPr>
            <a:xfrm>
              <a:off x="4724400" y="4343400"/>
              <a:ext cx="228600" cy="171450"/>
            </a:xfrm>
            <a:prstGeom prst="rect">
              <a:avLst/>
            </a:prstGeom>
            <a:solidFill>
              <a:srgbClr val="69281B"/>
            </a:solidFill>
            <a:ln>
              <a:noFill/>
            </a:ln>
          </p:spPr>
        </p:sp>
        <p:sp>
          <p:nvSpPr>
            <p:cNvPr id="277" name="TextBox 277"/>
            <p:cNvSpPr txBox="1"/>
            <p:nvPr/>
          </p:nvSpPr>
          <p:spPr>
            <a:xfrm>
              <a:off x="4751141" y="4390311"/>
              <a:ext cx="175118"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03​</a:t>
              </a:r>
            </a:p>
          </p:txBody>
        </p:sp>
        <p:sp>
          <p:nvSpPr>
            <p:cNvPr id="278" name="TextBox 278"/>
            <p:cNvSpPr txBox="1"/>
            <p:nvPr/>
          </p:nvSpPr>
          <p:spPr>
            <a:xfrm>
              <a:off x="5005388" y="4386262"/>
              <a:ext cx="976517"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光伏+储能一体化项目</a:t>
              </a:r>
            </a:p>
          </p:txBody>
        </p:sp>
        <p:sp>
          <p:nvSpPr>
            <p:cNvPr id="279" name="TextBox 279"/>
            <p:cNvSpPr txBox="1"/>
            <p:nvPr/>
          </p:nvSpPr>
          <p:spPr>
            <a:xfrm>
              <a:off x="4719638" y="4600861"/>
              <a:ext cx="1391412" cy="388620"/>
            </a:xfrm>
            <a:prstGeom prst="rect">
              <a:avLst/>
            </a:prstGeom>
            <a:noFill/>
            <a:ln>
              <a:noFill/>
            </a:ln>
          </p:spPr>
          <p:txBody>
            <a:bodyPr wrap="none" lIns="0" tIns="0" rIns="0" bIns="0" anchor="t" anchorCtr="0">
              <a:spAutoFit/>
            </a:bodyPr>
            <a:lstStyle/>
            <a:p>
              <a:pPr algn="l">
                <a:lnSpc>
                  <a:spcPts val="1050"/>
                </a:lnSpc>
              </a:pPr>
              <a:r>
                <a:rPr lang="zh-CN" sz="620" dirty="0">
                  <a:solidFill>
                    <a:srgbClr val="70504A"/>
                  </a:solidFill>
                  <a:latin typeface="+mn-lt"/>
                  <a:ea typeface="+mn-ea"/>
                  <a:cs typeface="+mn-cs"/>
                </a:rPr>
                <a:t>所属领域：绿色能源-新能源</a:t>
              </a:r>
              <a:br/>
              <a:r>
                <a:rPr lang="zh-CN" sz="620" dirty="0">
                  <a:solidFill>
                    <a:srgbClr val="70504A"/>
                  </a:solidFill>
                  <a:latin typeface="+mn-lt"/>
                  <a:ea typeface="+mn-ea"/>
                  <a:cs typeface="+mn-cs"/>
                </a:rPr>
                <a:t>项目总投资：22.3亿元​</a:t>
              </a:r>
              <a:br/>
              <a:r>
                <a:rPr lang="zh-CN" sz="620" dirty="0">
                  <a:solidFill>
                    <a:srgbClr val="70504A"/>
                  </a:solidFill>
                  <a:latin typeface="+mn-lt"/>
                  <a:ea typeface="+mn-ea"/>
                  <a:cs typeface="+mn-cs"/>
                </a:rPr>
                <a:t>合作模式：绿色项目贷款+绿色债权融资</a:t>
              </a:r>
            </a:p>
          </p:txBody>
        </p:sp>
        <p:sp>
          <p:nvSpPr>
            <p:cNvPr id="280" name="Rectangle 280"/>
            <p:cNvSpPr/>
            <p:nvPr/>
          </p:nvSpPr>
          <p:spPr>
            <a:xfrm>
              <a:off x="4724400" y="5029200"/>
              <a:ext cx="876300" cy="438150"/>
            </a:xfrm>
            <a:prstGeom prst="roundRect">
              <a:avLst>
                <a:gd name="adj" fmla="val 6522"/>
              </a:avLst>
            </a:prstGeom>
            <a:solidFill>
              <a:srgbClr val="EAF1FB"/>
            </a:solidFill>
            <a:ln>
              <a:noFill/>
            </a:ln>
          </p:spPr>
        </p:sp>
        <p:sp>
          <p:nvSpPr>
            <p:cNvPr id="281" name="TextBox 281"/>
            <p:cNvSpPr txBox="1"/>
            <p:nvPr/>
          </p:nvSpPr>
          <p:spPr>
            <a:xfrm>
              <a:off x="4996244" y="5116830"/>
              <a:ext cx="332613" cy="119062"/>
            </a:xfrm>
            <a:prstGeom prst="rect">
              <a:avLst/>
            </a:prstGeom>
            <a:noFill/>
            <a:ln>
              <a:noFill/>
            </a:ln>
          </p:spPr>
          <p:txBody>
            <a:bodyPr wrap="none" lIns="0" tIns="0" rIns="0" bIns="0" anchor="t" anchorCtr="0">
              <a:spAutoFit/>
            </a:bodyPr>
            <a:lstStyle/>
            <a:p>
              <a:pPr algn="ctr"/>
              <a:r>
                <a:rPr lang="zh-CN" sz="600" dirty="0">
                  <a:solidFill>
                    <a:srgbClr val="70504A"/>
                  </a:solidFill>
                  <a:latin typeface="+mn-lt"/>
                  <a:ea typeface="+mn-ea"/>
                  <a:cs typeface="+mn-cs"/>
                </a:rPr>
                <a:t>授信金额</a:t>
              </a:r>
            </a:p>
          </p:txBody>
        </p:sp>
        <p:sp>
          <p:nvSpPr>
            <p:cNvPr id="282" name="TextBox 282"/>
            <p:cNvSpPr txBox="1"/>
            <p:nvPr/>
          </p:nvSpPr>
          <p:spPr>
            <a:xfrm>
              <a:off x="4858382" y="5269706"/>
              <a:ext cx="608335"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11.0</a:t>
              </a:r>
              <a:r>
                <a:rPr lang="zh-CN" sz="600" dirty="0">
                  <a:solidFill>
                    <a:srgbClr val="E04C2E"/>
                  </a:solidFill>
                  <a:latin typeface="+mn-lt"/>
                  <a:ea typeface="+mn-ea"/>
                  <a:cs typeface="+mn-cs"/>
                </a:rPr>
                <a:t>亿元</a:t>
              </a:r>
              <a:r>
                <a:rPr lang="zh-CN" sz="1120" b="1" dirty="0">
                  <a:solidFill>
                    <a:srgbClr val="E04C2E"/>
                  </a:solidFill>
                  <a:latin typeface="+mn-lt"/>
                  <a:ea typeface="+mn-ea"/>
                  <a:cs typeface="+mn-cs"/>
                </a:rPr>
                <a:t>​</a:t>
              </a:r>
            </a:p>
          </p:txBody>
        </p:sp>
        <p:sp>
          <p:nvSpPr>
            <p:cNvPr id="283" name="Rectangle 283"/>
            <p:cNvSpPr/>
            <p:nvPr/>
          </p:nvSpPr>
          <p:spPr>
            <a:xfrm>
              <a:off x="5638800" y="5029200"/>
              <a:ext cx="876300" cy="438150"/>
            </a:xfrm>
            <a:prstGeom prst="roundRect">
              <a:avLst>
                <a:gd name="adj" fmla="val 6522"/>
              </a:avLst>
            </a:prstGeom>
            <a:solidFill>
              <a:srgbClr val="EAF1FB"/>
            </a:solidFill>
            <a:ln>
              <a:noFill/>
            </a:ln>
          </p:spPr>
        </p:sp>
        <p:sp>
          <p:nvSpPr>
            <p:cNvPr id="284" name="TextBox 284"/>
            <p:cNvSpPr txBox="1"/>
            <p:nvPr/>
          </p:nvSpPr>
          <p:spPr>
            <a:xfrm>
              <a:off x="5870258" y="5116830"/>
              <a:ext cx="413385" cy="119062"/>
            </a:xfrm>
            <a:prstGeom prst="rect">
              <a:avLst/>
            </a:prstGeom>
            <a:noFill/>
            <a:ln>
              <a:noFill/>
            </a:ln>
          </p:spPr>
          <p:txBody>
            <a:bodyPr wrap="none" lIns="0" tIns="0" rIns="0" bIns="0" anchor="t" anchorCtr="0">
              <a:spAutoFit/>
            </a:bodyPr>
            <a:lstStyle/>
            <a:p>
              <a:pPr algn="ctr"/>
              <a:r>
                <a:rPr lang="zh-CN" sz="600" dirty="0">
                  <a:solidFill>
                    <a:srgbClr val="70504A"/>
                  </a:solidFill>
                  <a:latin typeface="+mn-lt"/>
                  <a:ea typeface="+mn-ea"/>
                  <a:cs typeface="+mn-cs"/>
                </a:rPr>
                <a:t>已投放金额</a:t>
              </a:r>
            </a:p>
          </p:txBody>
        </p:sp>
        <p:sp>
          <p:nvSpPr>
            <p:cNvPr id="285" name="TextBox 285"/>
            <p:cNvSpPr txBox="1"/>
            <p:nvPr/>
          </p:nvSpPr>
          <p:spPr>
            <a:xfrm>
              <a:off x="5816319" y="5269706"/>
              <a:ext cx="521263"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6.3</a:t>
              </a:r>
              <a:r>
                <a:rPr lang="zh-CN" sz="600" dirty="0">
                  <a:solidFill>
                    <a:srgbClr val="E04C2E"/>
                  </a:solidFill>
                  <a:latin typeface="+mn-lt"/>
                  <a:ea typeface="+mn-ea"/>
                  <a:cs typeface="+mn-cs"/>
                </a:rPr>
                <a:t>亿元</a:t>
              </a:r>
              <a:r>
                <a:rPr lang="zh-CN" sz="1120" b="1" dirty="0">
                  <a:solidFill>
                    <a:srgbClr val="E04C2E"/>
                  </a:solidFill>
                  <a:latin typeface="+mn-lt"/>
                  <a:ea typeface="+mn-ea"/>
                  <a:cs typeface="+mn-cs"/>
                </a:rPr>
                <a:t>​</a:t>
              </a:r>
            </a:p>
          </p:txBody>
        </p:sp>
        <p:grpSp>
          <p:nvGrpSpPr>
            <p:cNvPr id="288" name="Group 288"/>
            <p:cNvGrpSpPr/>
            <p:nvPr/>
          </p:nvGrpSpPr>
          <p:grpSpPr>
            <a:xfrm>
              <a:off x="4738688" y="5595938"/>
              <a:ext cx="85725" cy="85725"/>
              <a:chOff x="4738688" y="5595938"/>
              <a:chExt cx="85725" cy="85725"/>
            </a:xfrm>
          </p:grpSpPr>
          <p:sp>
            <p:nvSpPr>
              <p:cNvPr id="286" name="Freeform 286"/>
              <p:cNvSpPr/>
              <p:nvPr/>
            </p:nvSpPr>
            <p:spPr>
              <a:xfrm>
                <a:off x="4738688" y="55959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04C2E"/>
                </a:solidFill>
              </a:ln>
            </p:spPr>
          </p:sp>
          <p:sp>
            <p:nvSpPr>
              <p:cNvPr id="287" name="Freeform 287"/>
              <p:cNvSpPr/>
              <p:nvPr/>
            </p:nvSpPr>
            <p:spPr>
              <a:xfrm>
                <a:off x="4767262" y="5629275"/>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289" name="TextBox 289"/>
            <p:cNvSpPr txBox="1"/>
            <p:nvPr/>
          </p:nvSpPr>
          <p:spPr>
            <a:xfrm>
              <a:off x="4872038" y="5610511"/>
              <a:ext cx="1178027" cy="121920"/>
            </a:xfrm>
            <a:prstGeom prst="rect">
              <a:avLst/>
            </a:prstGeom>
            <a:noFill/>
            <a:ln>
              <a:noFill/>
            </a:ln>
          </p:spPr>
          <p:txBody>
            <a:bodyPr wrap="none" lIns="0" tIns="0" rIns="0" bIns="0" anchor="t" anchorCtr="0">
              <a:spAutoFit/>
            </a:bodyPr>
            <a:lstStyle/>
            <a:p>
              <a:pPr algn="l"/>
              <a:r>
                <a:rPr lang="zh-CN" sz="620" dirty="0">
                  <a:solidFill>
                    <a:srgbClr val="70504A"/>
                  </a:solidFill>
                  <a:latin typeface="+mn-lt"/>
                  <a:ea typeface="+mn-ea"/>
                  <a:cs typeface="+mn-cs"/>
                </a:rPr>
                <a:t>进展：首批并网发电，运行稳定</a:t>
              </a:r>
            </a:p>
          </p:txBody>
        </p:sp>
        <p:sp>
          <p:nvSpPr>
            <p:cNvPr id="290" name="Rectangle 290"/>
            <p:cNvSpPr/>
            <p:nvPr/>
          </p:nvSpPr>
          <p:spPr>
            <a:xfrm>
              <a:off x="6667500" y="4267200"/>
              <a:ext cx="1943100" cy="2324100"/>
            </a:xfrm>
            <a:prstGeom prst="roundRect">
              <a:avLst>
                <a:gd name="adj" fmla="val 1961"/>
              </a:avLst>
            </a:prstGeom>
            <a:solidFill>
              <a:srgbClr val="FFFFFF"/>
            </a:solidFill>
            <a:ln w="9525">
              <a:solidFill>
                <a:srgbClr val="C9D6E9"/>
              </a:solidFill>
            </a:ln>
          </p:spPr>
        </p:sp>
        <p:sp>
          <p:nvSpPr>
            <p:cNvPr id="291" name="Rectangle 291"/>
            <p:cNvSpPr/>
            <p:nvPr/>
          </p:nvSpPr>
          <p:spPr>
            <a:xfrm>
              <a:off x="6743700" y="4343400"/>
              <a:ext cx="228600" cy="171450"/>
            </a:xfrm>
            <a:prstGeom prst="rect">
              <a:avLst/>
            </a:prstGeom>
            <a:solidFill>
              <a:srgbClr val="69281B"/>
            </a:solidFill>
            <a:ln>
              <a:noFill/>
            </a:ln>
          </p:spPr>
        </p:sp>
        <p:sp>
          <p:nvSpPr>
            <p:cNvPr id="292" name="TextBox 292"/>
            <p:cNvSpPr txBox="1"/>
            <p:nvPr/>
          </p:nvSpPr>
          <p:spPr>
            <a:xfrm>
              <a:off x="6770441" y="4390311"/>
              <a:ext cx="175118"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04​</a:t>
              </a:r>
            </a:p>
          </p:txBody>
        </p:sp>
        <p:sp>
          <p:nvSpPr>
            <p:cNvPr id="293" name="TextBox 293"/>
            <p:cNvSpPr txBox="1"/>
            <p:nvPr/>
          </p:nvSpPr>
          <p:spPr>
            <a:xfrm>
              <a:off x="7024688" y="4386262"/>
              <a:ext cx="101917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城市片区综合开发项目</a:t>
              </a:r>
            </a:p>
          </p:txBody>
        </p:sp>
        <p:sp>
          <p:nvSpPr>
            <p:cNvPr id="294" name="TextBox 294"/>
            <p:cNvSpPr txBox="1"/>
            <p:nvPr/>
          </p:nvSpPr>
          <p:spPr>
            <a:xfrm>
              <a:off x="6738938" y="4600861"/>
              <a:ext cx="1513459" cy="388620"/>
            </a:xfrm>
            <a:prstGeom prst="rect">
              <a:avLst/>
            </a:prstGeom>
            <a:noFill/>
            <a:ln>
              <a:noFill/>
            </a:ln>
          </p:spPr>
          <p:txBody>
            <a:bodyPr wrap="none" lIns="0" tIns="0" rIns="0" bIns="0" anchor="t" anchorCtr="0">
              <a:spAutoFit/>
            </a:bodyPr>
            <a:lstStyle/>
            <a:p>
              <a:pPr algn="l">
                <a:lnSpc>
                  <a:spcPts val="1050"/>
                </a:lnSpc>
              </a:pPr>
              <a:r>
                <a:rPr lang="zh-CN" sz="620" dirty="0">
                  <a:solidFill>
                    <a:srgbClr val="70504A"/>
                  </a:solidFill>
                  <a:latin typeface="+mn-lt"/>
                  <a:ea typeface="+mn-ea"/>
                  <a:cs typeface="+mn-cs"/>
                </a:rPr>
                <a:t>所属领域：城市更新-片区开发</a:t>
              </a:r>
              <a:br/>
              <a:r>
                <a:rPr lang="zh-CN" sz="620" dirty="0">
                  <a:solidFill>
                    <a:srgbClr val="70504A"/>
                  </a:solidFill>
                  <a:latin typeface="+mn-lt"/>
                  <a:ea typeface="+mn-ea"/>
                  <a:cs typeface="+mn-cs"/>
                </a:rPr>
                <a:t>项目总投资：35.6亿元​</a:t>
              </a:r>
              <a:br/>
              <a:r>
                <a:rPr lang="zh-CN" sz="620" dirty="0">
                  <a:solidFill>
                    <a:srgbClr val="70504A"/>
                  </a:solidFill>
                  <a:latin typeface="+mn-lt"/>
                  <a:ea typeface="+mn-ea"/>
                  <a:cs typeface="+mn-cs"/>
                </a:rPr>
                <a:t>合作模式：项目贷款+并购贷+代建资金监管</a:t>
              </a:r>
            </a:p>
          </p:txBody>
        </p:sp>
        <p:sp>
          <p:nvSpPr>
            <p:cNvPr id="295" name="Rectangle 295"/>
            <p:cNvSpPr/>
            <p:nvPr/>
          </p:nvSpPr>
          <p:spPr>
            <a:xfrm>
              <a:off x="6743700" y="5029200"/>
              <a:ext cx="876300" cy="438150"/>
            </a:xfrm>
            <a:prstGeom prst="roundRect">
              <a:avLst>
                <a:gd name="adj" fmla="val 6522"/>
              </a:avLst>
            </a:prstGeom>
            <a:solidFill>
              <a:srgbClr val="EAF1FB"/>
            </a:solidFill>
            <a:ln>
              <a:noFill/>
            </a:ln>
          </p:spPr>
        </p:sp>
        <p:sp>
          <p:nvSpPr>
            <p:cNvPr id="296" name="TextBox 296"/>
            <p:cNvSpPr txBox="1"/>
            <p:nvPr/>
          </p:nvSpPr>
          <p:spPr>
            <a:xfrm>
              <a:off x="7015544" y="5116830"/>
              <a:ext cx="332613" cy="119062"/>
            </a:xfrm>
            <a:prstGeom prst="rect">
              <a:avLst/>
            </a:prstGeom>
            <a:noFill/>
            <a:ln>
              <a:noFill/>
            </a:ln>
          </p:spPr>
          <p:txBody>
            <a:bodyPr wrap="none" lIns="0" tIns="0" rIns="0" bIns="0" anchor="t" anchorCtr="0">
              <a:spAutoFit/>
            </a:bodyPr>
            <a:lstStyle/>
            <a:p>
              <a:pPr algn="ctr"/>
              <a:r>
                <a:rPr lang="zh-CN" sz="600" dirty="0">
                  <a:solidFill>
                    <a:srgbClr val="70504A"/>
                  </a:solidFill>
                  <a:latin typeface="+mn-lt"/>
                  <a:ea typeface="+mn-ea"/>
                  <a:cs typeface="+mn-cs"/>
                </a:rPr>
                <a:t>授信金额</a:t>
              </a:r>
            </a:p>
          </p:txBody>
        </p:sp>
        <p:sp>
          <p:nvSpPr>
            <p:cNvPr id="297" name="TextBox 297"/>
            <p:cNvSpPr txBox="1"/>
            <p:nvPr/>
          </p:nvSpPr>
          <p:spPr>
            <a:xfrm>
              <a:off x="6877682" y="5269706"/>
              <a:ext cx="608335"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15.0</a:t>
              </a:r>
              <a:r>
                <a:rPr lang="zh-CN" sz="600" dirty="0">
                  <a:solidFill>
                    <a:srgbClr val="E04C2E"/>
                  </a:solidFill>
                  <a:latin typeface="+mn-lt"/>
                  <a:ea typeface="+mn-ea"/>
                  <a:cs typeface="+mn-cs"/>
                </a:rPr>
                <a:t>亿元</a:t>
              </a:r>
              <a:r>
                <a:rPr lang="zh-CN" sz="1120" b="1" dirty="0">
                  <a:solidFill>
                    <a:srgbClr val="E04C2E"/>
                  </a:solidFill>
                  <a:latin typeface="+mn-lt"/>
                  <a:ea typeface="+mn-ea"/>
                  <a:cs typeface="+mn-cs"/>
                </a:rPr>
                <a:t>​</a:t>
              </a:r>
            </a:p>
          </p:txBody>
        </p:sp>
        <p:sp>
          <p:nvSpPr>
            <p:cNvPr id="298" name="Rectangle 298"/>
            <p:cNvSpPr/>
            <p:nvPr/>
          </p:nvSpPr>
          <p:spPr>
            <a:xfrm>
              <a:off x="7658100" y="5029200"/>
              <a:ext cx="876300" cy="438150"/>
            </a:xfrm>
            <a:prstGeom prst="roundRect">
              <a:avLst>
                <a:gd name="adj" fmla="val 6522"/>
              </a:avLst>
            </a:prstGeom>
            <a:solidFill>
              <a:srgbClr val="EAF1FB"/>
            </a:solidFill>
            <a:ln>
              <a:noFill/>
            </a:ln>
          </p:spPr>
        </p:sp>
        <p:sp>
          <p:nvSpPr>
            <p:cNvPr id="299" name="TextBox 299"/>
            <p:cNvSpPr txBox="1"/>
            <p:nvPr/>
          </p:nvSpPr>
          <p:spPr>
            <a:xfrm>
              <a:off x="7889558" y="5116830"/>
              <a:ext cx="413385" cy="119062"/>
            </a:xfrm>
            <a:prstGeom prst="rect">
              <a:avLst/>
            </a:prstGeom>
            <a:noFill/>
            <a:ln>
              <a:noFill/>
            </a:ln>
          </p:spPr>
          <p:txBody>
            <a:bodyPr wrap="none" lIns="0" tIns="0" rIns="0" bIns="0" anchor="t" anchorCtr="0">
              <a:spAutoFit/>
            </a:bodyPr>
            <a:lstStyle/>
            <a:p>
              <a:pPr algn="ctr"/>
              <a:r>
                <a:rPr lang="zh-CN" sz="600" dirty="0">
                  <a:solidFill>
                    <a:srgbClr val="70504A"/>
                  </a:solidFill>
                  <a:latin typeface="+mn-lt"/>
                  <a:ea typeface="+mn-ea"/>
                  <a:cs typeface="+mn-cs"/>
                </a:rPr>
                <a:t>已投放金额</a:t>
              </a:r>
            </a:p>
          </p:txBody>
        </p:sp>
        <p:sp>
          <p:nvSpPr>
            <p:cNvPr id="300" name="TextBox 300"/>
            <p:cNvSpPr txBox="1"/>
            <p:nvPr/>
          </p:nvSpPr>
          <p:spPr>
            <a:xfrm>
              <a:off x="7835619" y="5269706"/>
              <a:ext cx="521263"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7.8</a:t>
              </a:r>
              <a:r>
                <a:rPr lang="zh-CN" sz="600" dirty="0">
                  <a:solidFill>
                    <a:srgbClr val="E04C2E"/>
                  </a:solidFill>
                  <a:latin typeface="+mn-lt"/>
                  <a:ea typeface="+mn-ea"/>
                  <a:cs typeface="+mn-cs"/>
                </a:rPr>
                <a:t>亿元</a:t>
              </a:r>
              <a:r>
                <a:rPr lang="zh-CN" sz="1120" b="1" dirty="0">
                  <a:solidFill>
                    <a:srgbClr val="E04C2E"/>
                  </a:solidFill>
                  <a:latin typeface="+mn-lt"/>
                  <a:ea typeface="+mn-ea"/>
                  <a:cs typeface="+mn-cs"/>
                </a:rPr>
                <a:t>​</a:t>
              </a:r>
            </a:p>
          </p:txBody>
        </p:sp>
        <p:grpSp>
          <p:nvGrpSpPr>
            <p:cNvPr id="303" name="Group 303"/>
            <p:cNvGrpSpPr/>
            <p:nvPr/>
          </p:nvGrpSpPr>
          <p:grpSpPr>
            <a:xfrm>
              <a:off x="6757988" y="5595938"/>
              <a:ext cx="85725" cy="85725"/>
              <a:chOff x="6757988" y="5595938"/>
              <a:chExt cx="85725" cy="85725"/>
            </a:xfrm>
          </p:grpSpPr>
          <p:sp>
            <p:nvSpPr>
              <p:cNvPr id="301" name="Freeform 301"/>
              <p:cNvSpPr/>
              <p:nvPr/>
            </p:nvSpPr>
            <p:spPr>
              <a:xfrm>
                <a:off x="6757988" y="55959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04C2E"/>
                </a:solidFill>
              </a:ln>
            </p:spPr>
          </p:sp>
          <p:sp>
            <p:nvSpPr>
              <p:cNvPr id="302" name="Freeform 302"/>
              <p:cNvSpPr/>
              <p:nvPr/>
            </p:nvSpPr>
            <p:spPr>
              <a:xfrm>
                <a:off x="6786562" y="5629275"/>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304" name="TextBox 304"/>
            <p:cNvSpPr txBox="1"/>
            <p:nvPr/>
          </p:nvSpPr>
          <p:spPr>
            <a:xfrm>
              <a:off x="6891338" y="5610511"/>
              <a:ext cx="1344955" cy="121920"/>
            </a:xfrm>
            <a:prstGeom prst="rect">
              <a:avLst/>
            </a:prstGeom>
            <a:noFill/>
            <a:ln>
              <a:noFill/>
            </a:ln>
          </p:spPr>
          <p:txBody>
            <a:bodyPr wrap="none" lIns="0" tIns="0" rIns="0" bIns="0" anchor="t" anchorCtr="0">
              <a:spAutoFit/>
            </a:bodyPr>
            <a:lstStyle/>
            <a:p>
              <a:pPr algn="l"/>
              <a:r>
                <a:rPr lang="zh-CN" sz="620" dirty="0">
                  <a:solidFill>
                    <a:srgbClr val="70504A"/>
                  </a:solidFill>
                  <a:latin typeface="+mn-lt"/>
                  <a:ea typeface="+mn-ea"/>
                  <a:cs typeface="+mn-cs"/>
                </a:rPr>
                <a:t>进展：安置房开工，配套道路施工中</a:t>
              </a:r>
            </a:p>
          </p:txBody>
        </p:sp>
        <p:sp>
          <p:nvSpPr>
            <p:cNvPr id="305" name="TextBox 305"/>
            <p:cNvSpPr txBox="1"/>
            <p:nvPr/>
          </p:nvSpPr>
          <p:spPr>
            <a:xfrm>
              <a:off x="604838" y="6412230"/>
              <a:ext cx="1867281" cy="119062"/>
            </a:xfrm>
            <a:prstGeom prst="rect">
              <a:avLst/>
            </a:prstGeom>
            <a:noFill/>
            <a:ln>
              <a:noFill/>
            </a:ln>
          </p:spPr>
          <p:txBody>
            <a:bodyPr wrap="none" lIns="0" tIns="0" rIns="0" bIns="0" anchor="t" anchorCtr="0">
              <a:spAutoFit/>
            </a:bodyPr>
            <a:lstStyle/>
            <a:p>
              <a:pPr algn="l"/>
              <a:r>
                <a:rPr lang="zh-CN" sz="600" dirty="0">
                  <a:solidFill>
                    <a:srgbClr val="BEA09A"/>
                  </a:solidFill>
                  <a:latin typeface="+mn-lt"/>
                  <a:ea typeface="+mn-ea"/>
                  <a:cs typeface="+mn-cs"/>
                </a:rPr>
                <a:t>注：案例信息为示例数据，金额单位为人民币亿元。</a:t>
              </a:r>
            </a:p>
          </p:txBody>
        </p:sp>
      </p:grpSp>
      <p:grpSp>
        <p:nvGrpSpPr>
          <p:cNvPr id="322" name="timeline"/>
          <p:cNvGrpSpPr/>
          <p:nvPr/>
        </p:nvGrpSpPr>
        <p:grpSpPr>
          <a:xfrm>
            <a:off x="8772525" y="4191000"/>
            <a:ext cx="3190875" cy="2476500"/>
            <a:chOff x="8772525" y="4191000"/>
            <a:chExt cx="3190875" cy="2476500"/>
          </a:xfrm>
        </p:grpSpPr>
        <p:sp>
          <p:nvSpPr>
            <p:cNvPr id="307" name="Rectangle 307"/>
            <p:cNvSpPr/>
            <p:nvPr/>
          </p:nvSpPr>
          <p:spPr>
            <a:xfrm>
              <a:off x="8772525" y="4191000"/>
              <a:ext cx="3190875" cy="2476500"/>
            </a:xfrm>
            <a:prstGeom prst="roundRect">
              <a:avLst>
                <a:gd name="adj" fmla="val 2308"/>
              </a:avLst>
            </a:prstGeom>
            <a:solidFill>
              <a:srgbClr val="F5F8FD"/>
            </a:solidFill>
            <a:ln w="9525">
              <a:solidFill>
                <a:srgbClr val="E3EAF5"/>
              </a:solidFill>
            </a:ln>
          </p:spPr>
        </p:sp>
        <p:sp>
          <p:nvSpPr>
            <p:cNvPr id="308" name="TextBox 308"/>
            <p:cNvSpPr txBox="1"/>
            <p:nvPr/>
          </p:nvSpPr>
          <p:spPr>
            <a:xfrm>
              <a:off x="9751301" y="4330541"/>
              <a:ext cx="1223797" cy="161925"/>
            </a:xfrm>
            <a:prstGeom prst="rect">
              <a:avLst/>
            </a:prstGeom>
            <a:noFill/>
            <a:ln>
              <a:noFill/>
            </a:ln>
          </p:spPr>
          <p:txBody>
            <a:bodyPr wrap="none" lIns="0" tIns="0" rIns="0" bIns="0" anchor="t" anchorCtr="0">
              <a:spAutoFit/>
            </a:bodyPr>
            <a:lstStyle/>
            <a:p>
              <a:pPr algn="ctr"/>
              <a:r>
                <a:rPr lang="zh-CN" sz="820" b="1" dirty="0">
                  <a:solidFill>
                    <a:srgbClr val="69281B"/>
                  </a:solidFill>
                  <a:latin typeface="+mn-lt"/>
                  <a:ea typeface="+mn-ea"/>
                  <a:cs typeface="+mn-cs"/>
                </a:rPr>
                <a:t>关键时间节点（下半年）</a:t>
              </a:r>
            </a:p>
          </p:txBody>
        </p:sp>
        <p:sp>
          <p:nvSpPr>
            <p:cNvPr id="309" name="Line 309"/>
            <p:cNvSpPr/>
            <p:nvPr/>
          </p:nvSpPr>
          <p:spPr>
            <a:xfrm>
              <a:off x="8991600" y="4591050"/>
              <a:ext cx="9525" cy="1847850"/>
            </a:xfrm>
            <a:custGeom>
              <a:avLst/>
              <a:gdLst/>
              <a:ahLst/>
              <a:cxnLst/>
              <a:rect l="l" t="t" r="r" b="b"/>
              <a:pathLst>
                <a:path w="9525" h="1847850">
                  <a:moveTo>
                    <a:pt x="0" y="0"/>
                  </a:moveTo>
                  <a:lnTo>
                    <a:pt x="0" y="1847850"/>
                  </a:lnTo>
                </a:path>
              </a:pathLst>
            </a:custGeom>
            <a:noFill/>
            <a:ln w="14288">
              <a:solidFill>
                <a:srgbClr val="EBC1B8"/>
              </a:solidFill>
              <a:custDash>
                <a:ds d="200000" sp="200000"/>
              </a:custDash>
            </a:ln>
          </p:spPr>
        </p:sp>
        <p:sp>
          <p:nvSpPr>
            <p:cNvPr id="310" name="Ellipse 310"/>
            <p:cNvSpPr/>
            <p:nvPr/>
          </p:nvSpPr>
          <p:spPr>
            <a:xfrm>
              <a:off x="8943975" y="4619625"/>
              <a:ext cx="95250" cy="95250"/>
            </a:xfrm>
            <a:prstGeom prst="ellipse">
              <a:avLst/>
            </a:prstGeom>
            <a:solidFill>
              <a:srgbClr val="E04C2E"/>
            </a:solidFill>
            <a:ln>
              <a:noFill/>
            </a:ln>
          </p:spPr>
        </p:sp>
        <p:sp>
          <p:nvSpPr>
            <p:cNvPr id="311" name="TextBox 311"/>
            <p:cNvSpPr txBox="1"/>
            <p:nvPr/>
          </p:nvSpPr>
          <p:spPr>
            <a:xfrm>
              <a:off x="9120188" y="4628436"/>
              <a:ext cx="531871" cy="140494"/>
            </a:xfrm>
            <a:prstGeom prst="rect">
              <a:avLst/>
            </a:prstGeom>
            <a:noFill/>
            <a:ln>
              <a:noFill/>
            </a:ln>
          </p:spPr>
          <p:txBody>
            <a:bodyPr wrap="none" lIns="0" tIns="0" rIns="0" bIns="0" anchor="t" anchorCtr="0">
              <a:spAutoFit/>
            </a:bodyPr>
            <a:lstStyle/>
            <a:p>
              <a:pPr algn="l"/>
              <a:r>
                <a:rPr lang="zh-CN" sz="710" b="1" dirty="0">
                  <a:solidFill>
                    <a:srgbClr val="69281B"/>
                  </a:solidFill>
                  <a:latin typeface="+mn-lt"/>
                  <a:ea typeface="+mn-ea"/>
                  <a:cs typeface="+mn-cs"/>
                </a:rPr>
                <a:t>2026年7月​</a:t>
              </a:r>
            </a:p>
          </p:txBody>
        </p:sp>
        <p:sp>
          <p:nvSpPr>
            <p:cNvPr id="312" name="TextBox 312"/>
            <p:cNvSpPr txBox="1"/>
            <p:nvPr/>
          </p:nvSpPr>
          <p:spPr>
            <a:xfrm>
              <a:off x="9120188" y="4769882"/>
              <a:ext cx="1732661"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完成重点项目清单二次更新，专班全覆盖对接</a:t>
              </a:r>
            </a:p>
          </p:txBody>
        </p:sp>
        <p:sp>
          <p:nvSpPr>
            <p:cNvPr id="313" name="Ellipse 313"/>
            <p:cNvSpPr/>
            <p:nvPr/>
          </p:nvSpPr>
          <p:spPr>
            <a:xfrm>
              <a:off x="8943975" y="5076825"/>
              <a:ext cx="95250" cy="95250"/>
            </a:xfrm>
            <a:prstGeom prst="ellipse">
              <a:avLst/>
            </a:prstGeom>
            <a:solidFill>
              <a:srgbClr val="FFFFFF"/>
            </a:solidFill>
            <a:ln w="19050">
              <a:solidFill>
                <a:srgbClr val="E04C2E"/>
              </a:solidFill>
            </a:ln>
          </p:spPr>
        </p:sp>
        <p:sp>
          <p:nvSpPr>
            <p:cNvPr id="314" name="TextBox 314"/>
            <p:cNvSpPr txBox="1"/>
            <p:nvPr/>
          </p:nvSpPr>
          <p:spPr>
            <a:xfrm>
              <a:off x="9120188" y="5085636"/>
              <a:ext cx="642266" cy="140494"/>
            </a:xfrm>
            <a:prstGeom prst="rect">
              <a:avLst/>
            </a:prstGeom>
            <a:noFill/>
            <a:ln>
              <a:noFill/>
            </a:ln>
          </p:spPr>
          <p:txBody>
            <a:bodyPr wrap="none" lIns="0" tIns="0" rIns="0" bIns="0" anchor="t" anchorCtr="0">
              <a:spAutoFit/>
            </a:bodyPr>
            <a:lstStyle/>
            <a:p>
              <a:pPr algn="l"/>
              <a:r>
                <a:rPr lang="zh-CN" sz="710" b="1" dirty="0">
                  <a:solidFill>
                    <a:srgbClr val="69281B"/>
                  </a:solidFill>
                  <a:latin typeface="+mn-lt"/>
                  <a:ea typeface="+mn-ea"/>
                  <a:cs typeface="+mn-cs"/>
                </a:rPr>
                <a:t>2026年8-9月​</a:t>
              </a:r>
            </a:p>
          </p:txBody>
        </p:sp>
        <p:sp>
          <p:nvSpPr>
            <p:cNvPr id="315" name="TextBox 315"/>
            <p:cNvSpPr txBox="1"/>
            <p:nvPr/>
          </p:nvSpPr>
          <p:spPr>
            <a:xfrm>
              <a:off x="9120188" y="5227082"/>
              <a:ext cx="1301877"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推动一批项目签约落地，集中投放</a:t>
              </a:r>
            </a:p>
          </p:txBody>
        </p:sp>
        <p:sp>
          <p:nvSpPr>
            <p:cNvPr id="316" name="Ellipse 316"/>
            <p:cNvSpPr/>
            <p:nvPr/>
          </p:nvSpPr>
          <p:spPr>
            <a:xfrm>
              <a:off x="8943975" y="5534025"/>
              <a:ext cx="95250" cy="95250"/>
            </a:xfrm>
            <a:prstGeom prst="ellipse">
              <a:avLst/>
            </a:prstGeom>
            <a:solidFill>
              <a:srgbClr val="E04C2E"/>
            </a:solidFill>
            <a:ln>
              <a:noFill/>
            </a:ln>
          </p:spPr>
        </p:sp>
        <p:sp>
          <p:nvSpPr>
            <p:cNvPr id="317" name="TextBox 317"/>
            <p:cNvSpPr txBox="1"/>
            <p:nvPr/>
          </p:nvSpPr>
          <p:spPr>
            <a:xfrm>
              <a:off x="9120188" y="5542836"/>
              <a:ext cx="587068" cy="140494"/>
            </a:xfrm>
            <a:prstGeom prst="rect">
              <a:avLst/>
            </a:prstGeom>
            <a:noFill/>
            <a:ln>
              <a:noFill/>
            </a:ln>
          </p:spPr>
          <p:txBody>
            <a:bodyPr wrap="none" lIns="0" tIns="0" rIns="0" bIns="0" anchor="t" anchorCtr="0">
              <a:spAutoFit/>
            </a:bodyPr>
            <a:lstStyle/>
            <a:p>
              <a:pPr algn="l"/>
              <a:r>
                <a:rPr lang="zh-CN" sz="710" b="1" dirty="0">
                  <a:solidFill>
                    <a:srgbClr val="69281B"/>
                  </a:solidFill>
                  <a:latin typeface="+mn-lt"/>
                  <a:ea typeface="+mn-ea"/>
                  <a:cs typeface="+mn-cs"/>
                </a:rPr>
                <a:t>2026年10月​</a:t>
              </a:r>
            </a:p>
          </p:txBody>
        </p:sp>
        <p:sp>
          <p:nvSpPr>
            <p:cNvPr id="318" name="TextBox 318"/>
            <p:cNvSpPr txBox="1"/>
            <p:nvPr/>
          </p:nvSpPr>
          <p:spPr>
            <a:xfrm>
              <a:off x="9120188" y="5684282"/>
              <a:ext cx="1215720"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制造业与设备更新项目加速投放</a:t>
              </a:r>
            </a:p>
          </p:txBody>
        </p:sp>
        <p:sp>
          <p:nvSpPr>
            <p:cNvPr id="319" name="Ellipse 319"/>
            <p:cNvSpPr/>
            <p:nvPr/>
          </p:nvSpPr>
          <p:spPr>
            <a:xfrm>
              <a:off x="8943975" y="5991225"/>
              <a:ext cx="95250" cy="95250"/>
            </a:xfrm>
            <a:prstGeom prst="ellipse">
              <a:avLst/>
            </a:prstGeom>
            <a:solidFill>
              <a:srgbClr val="FFFFFF"/>
            </a:solidFill>
            <a:ln w="19050">
              <a:solidFill>
                <a:srgbClr val="E04C2E"/>
              </a:solidFill>
            </a:ln>
          </p:spPr>
        </p:sp>
        <p:sp>
          <p:nvSpPr>
            <p:cNvPr id="320" name="TextBox 320"/>
            <p:cNvSpPr txBox="1"/>
            <p:nvPr/>
          </p:nvSpPr>
          <p:spPr>
            <a:xfrm>
              <a:off x="9120188" y="6000036"/>
              <a:ext cx="752661" cy="140494"/>
            </a:xfrm>
            <a:prstGeom prst="rect">
              <a:avLst/>
            </a:prstGeom>
            <a:noFill/>
            <a:ln>
              <a:noFill/>
            </a:ln>
          </p:spPr>
          <p:txBody>
            <a:bodyPr wrap="none" lIns="0" tIns="0" rIns="0" bIns="0" anchor="t" anchorCtr="0">
              <a:spAutoFit/>
            </a:bodyPr>
            <a:lstStyle/>
            <a:p>
              <a:pPr algn="l"/>
              <a:r>
                <a:rPr lang="zh-CN" sz="710" b="1" dirty="0">
                  <a:solidFill>
                    <a:srgbClr val="69281B"/>
                  </a:solidFill>
                  <a:latin typeface="+mn-lt"/>
                  <a:ea typeface="+mn-ea"/>
                  <a:cs typeface="+mn-cs"/>
                </a:rPr>
                <a:t>2026年11-12月​</a:t>
              </a:r>
            </a:p>
          </p:txBody>
        </p:sp>
        <p:sp>
          <p:nvSpPr>
            <p:cNvPr id="321" name="TextBox 321"/>
            <p:cNvSpPr txBox="1"/>
            <p:nvPr/>
          </p:nvSpPr>
          <p:spPr>
            <a:xfrm>
              <a:off x="9120188" y="6141482"/>
              <a:ext cx="1560347"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冲刺全年目标，强化贷后管理与成效复盘</a:t>
              </a:r>
            </a:p>
          </p:txBody>
        </p:sp>
      </p:grpSp>
      <p:sp>
        <p:nvSpPr>
          <p:cNvPr id="323"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14 / 18 页​</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15​</a:t>
              </a:r>
            </a:p>
          </p:txBody>
        </p:sp>
        <p:sp>
          <p:nvSpPr>
            <p:cNvPr id="4" name="TextBox 4"/>
            <p:cNvSpPr txBox="1"/>
            <p:nvPr/>
          </p:nvSpPr>
          <p:spPr>
            <a:xfrm>
              <a:off x="1019175" y="169069"/>
              <a:ext cx="7358532"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以市场份额为导向重塑存款增长模式，推动资金由流量转化为留量</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38" name="share-bars"/>
          <p:cNvGrpSpPr/>
          <p:nvPr/>
        </p:nvGrpSpPr>
        <p:grpSpPr>
          <a:xfrm>
            <a:off x="228600" y="685800"/>
            <a:ext cx="3048000" cy="1524000"/>
            <a:chOff x="228600" y="685800"/>
            <a:chExt cx="3048000" cy="1524000"/>
          </a:xfrm>
        </p:grpSpPr>
        <p:sp>
          <p:nvSpPr>
            <p:cNvPr id="9" name="Rectangle 9"/>
            <p:cNvSpPr/>
            <p:nvPr/>
          </p:nvSpPr>
          <p:spPr>
            <a:xfrm>
              <a:off x="228600" y="685800"/>
              <a:ext cx="3048000" cy="1524000"/>
            </a:xfrm>
            <a:prstGeom prst="roundRect">
              <a:avLst>
                <a:gd name="adj" fmla="val 3750"/>
              </a:avLst>
            </a:prstGeom>
            <a:solidFill>
              <a:srgbClr val="FFFFFF"/>
            </a:solidFill>
            <a:ln w="9525">
              <a:solidFill>
                <a:srgbClr val="C9D6E9"/>
              </a:solidFill>
            </a:ln>
          </p:spPr>
        </p:sp>
        <p:sp>
          <p:nvSpPr>
            <p:cNvPr id="10" name="Rectangle 10"/>
            <p:cNvSpPr/>
            <p:nvPr/>
          </p:nvSpPr>
          <p:spPr>
            <a:xfrm>
              <a:off x="228600" y="685800"/>
              <a:ext cx="3048000" cy="209550"/>
            </a:xfrm>
            <a:prstGeom prst="roundRect">
              <a:avLst>
                <a:gd name="adj" fmla="val 27273"/>
              </a:avLst>
            </a:prstGeom>
            <a:solidFill>
              <a:srgbClr val="69281B"/>
            </a:solidFill>
            <a:ln>
              <a:noFill/>
            </a:ln>
          </p:spPr>
        </p:sp>
        <p:sp>
          <p:nvSpPr>
            <p:cNvPr id="11" name="Rectangle 11"/>
            <p:cNvSpPr/>
            <p:nvPr/>
          </p:nvSpPr>
          <p:spPr>
            <a:xfrm>
              <a:off x="228600" y="800100"/>
              <a:ext cx="3048000" cy="95250"/>
            </a:xfrm>
            <a:prstGeom prst="rect">
              <a:avLst/>
            </a:prstGeom>
            <a:solidFill>
              <a:srgbClr val="69281B"/>
            </a:solidFill>
            <a:ln>
              <a:noFill/>
            </a:ln>
          </p:spPr>
        </p:sp>
        <p:sp>
          <p:nvSpPr>
            <p:cNvPr id="12" name="TextBox 12"/>
            <p:cNvSpPr txBox="1"/>
            <p:nvPr/>
          </p:nvSpPr>
          <p:spPr>
            <a:xfrm>
              <a:off x="1010167" y="739616"/>
              <a:ext cx="148486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同业存款市场份额对标（%）​</a:t>
              </a:r>
            </a:p>
          </p:txBody>
        </p:sp>
        <p:sp>
          <p:nvSpPr>
            <p:cNvPr id="13" name="Line 13"/>
            <p:cNvSpPr/>
            <p:nvPr/>
          </p:nvSpPr>
          <p:spPr>
            <a:xfrm>
              <a:off x="495300" y="1981200"/>
              <a:ext cx="2571750" cy="9525"/>
            </a:xfrm>
            <a:custGeom>
              <a:avLst/>
              <a:gdLst/>
              <a:ahLst/>
              <a:cxnLst/>
              <a:rect l="l" t="t" r="r" b="b"/>
              <a:pathLst>
                <a:path w="2571750" h="9525">
                  <a:moveTo>
                    <a:pt x="0" y="0"/>
                  </a:moveTo>
                  <a:lnTo>
                    <a:pt x="2571750" y="0"/>
                  </a:lnTo>
                </a:path>
              </a:pathLst>
            </a:custGeom>
            <a:noFill/>
            <a:ln w="9525">
              <a:solidFill>
                <a:srgbClr val="C9D6E9"/>
              </a:solidFill>
            </a:ln>
          </p:spPr>
        </p:sp>
        <p:sp>
          <p:nvSpPr>
            <p:cNvPr id="14" name="Line 14"/>
            <p:cNvSpPr/>
            <p:nvPr/>
          </p:nvSpPr>
          <p:spPr>
            <a:xfrm>
              <a:off x="495300" y="1743075"/>
              <a:ext cx="2571750" cy="9525"/>
            </a:xfrm>
            <a:custGeom>
              <a:avLst/>
              <a:gdLst/>
              <a:ahLst/>
              <a:cxnLst/>
              <a:rect l="l" t="t" r="r" b="b"/>
              <a:pathLst>
                <a:path w="2571750" h="9525">
                  <a:moveTo>
                    <a:pt x="0" y="0"/>
                  </a:moveTo>
                  <a:lnTo>
                    <a:pt x="2571750" y="0"/>
                  </a:lnTo>
                </a:path>
              </a:pathLst>
            </a:custGeom>
            <a:noFill/>
            <a:ln w="9525">
              <a:solidFill>
                <a:srgbClr val="EDF2FA"/>
              </a:solidFill>
            </a:ln>
          </p:spPr>
        </p:sp>
        <p:sp>
          <p:nvSpPr>
            <p:cNvPr id="15" name="Line 15"/>
            <p:cNvSpPr/>
            <p:nvPr/>
          </p:nvSpPr>
          <p:spPr>
            <a:xfrm>
              <a:off x="495300" y="1504950"/>
              <a:ext cx="2571750" cy="9525"/>
            </a:xfrm>
            <a:custGeom>
              <a:avLst/>
              <a:gdLst/>
              <a:ahLst/>
              <a:cxnLst/>
              <a:rect l="l" t="t" r="r" b="b"/>
              <a:pathLst>
                <a:path w="2571750" h="9525">
                  <a:moveTo>
                    <a:pt x="0" y="0"/>
                  </a:moveTo>
                  <a:lnTo>
                    <a:pt x="2571750" y="0"/>
                  </a:lnTo>
                </a:path>
              </a:pathLst>
            </a:custGeom>
            <a:noFill/>
            <a:ln w="9525">
              <a:solidFill>
                <a:srgbClr val="EDF2FA"/>
              </a:solidFill>
            </a:ln>
          </p:spPr>
        </p:sp>
        <p:sp>
          <p:nvSpPr>
            <p:cNvPr id="16" name="Line 16"/>
            <p:cNvSpPr/>
            <p:nvPr/>
          </p:nvSpPr>
          <p:spPr>
            <a:xfrm>
              <a:off x="495300" y="1266825"/>
              <a:ext cx="2571750" cy="9525"/>
            </a:xfrm>
            <a:custGeom>
              <a:avLst/>
              <a:gdLst/>
              <a:ahLst/>
              <a:cxnLst/>
              <a:rect l="l" t="t" r="r" b="b"/>
              <a:pathLst>
                <a:path w="2571750" h="9525">
                  <a:moveTo>
                    <a:pt x="0" y="0"/>
                  </a:moveTo>
                  <a:lnTo>
                    <a:pt x="2571750" y="0"/>
                  </a:lnTo>
                </a:path>
              </a:pathLst>
            </a:custGeom>
            <a:noFill/>
            <a:ln w="9525">
              <a:solidFill>
                <a:srgbClr val="EDF2FA"/>
              </a:solidFill>
            </a:ln>
          </p:spPr>
        </p:sp>
        <p:sp>
          <p:nvSpPr>
            <p:cNvPr id="17" name="Line 17"/>
            <p:cNvSpPr/>
            <p:nvPr/>
          </p:nvSpPr>
          <p:spPr>
            <a:xfrm>
              <a:off x="495300" y="1028700"/>
              <a:ext cx="2571750" cy="9525"/>
            </a:xfrm>
            <a:custGeom>
              <a:avLst/>
              <a:gdLst/>
              <a:ahLst/>
              <a:cxnLst/>
              <a:rect l="l" t="t" r="r" b="b"/>
              <a:pathLst>
                <a:path w="2571750" h="9525">
                  <a:moveTo>
                    <a:pt x="0" y="0"/>
                  </a:moveTo>
                  <a:lnTo>
                    <a:pt x="2571750" y="0"/>
                  </a:lnTo>
                </a:path>
              </a:pathLst>
            </a:custGeom>
            <a:noFill/>
            <a:ln w="9525">
              <a:solidFill>
                <a:srgbClr val="EDF2FA"/>
              </a:solidFill>
            </a:ln>
          </p:spPr>
        </p:sp>
        <p:sp>
          <p:nvSpPr>
            <p:cNvPr id="18" name="TextBox 18"/>
            <p:cNvSpPr txBox="1"/>
            <p:nvPr/>
          </p:nvSpPr>
          <p:spPr>
            <a:xfrm>
              <a:off x="312971" y="1949053"/>
              <a:ext cx="148991"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0%​</a:t>
              </a:r>
            </a:p>
          </p:txBody>
        </p:sp>
        <p:sp>
          <p:nvSpPr>
            <p:cNvPr id="19" name="TextBox 19"/>
            <p:cNvSpPr txBox="1"/>
            <p:nvPr/>
          </p:nvSpPr>
          <p:spPr>
            <a:xfrm>
              <a:off x="312971" y="1710928"/>
              <a:ext cx="148991"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5%​</a:t>
              </a:r>
            </a:p>
          </p:txBody>
        </p:sp>
        <p:sp>
          <p:nvSpPr>
            <p:cNvPr id="20" name="TextBox 20"/>
            <p:cNvSpPr txBox="1"/>
            <p:nvPr/>
          </p:nvSpPr>
          <p:spPr>
            <a:xfrm>
              <a:off x="271508" y="1472803"/>
              <a:ext cx="190454"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10%​</a:t>
              </a:r>
            </a:p>
          </p:txBody>
        </p:sp>
        <p:sp>
          <p:nvSpPr>
            <p:cNvPr id="21" name="TextBox 21"/>
            <p:cNvSpPr txBox="1"/>
            <p:nvPr/>
          </p:nvSpPr>
          <p:spPr>
            <a:xfrm>
              <a:off x="271508" y="1234678"/>
              <a:ext cx="190454"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15%​</a:t>
              </a:r>
            </a:p>
          </p:txBody>
        </p:sp>
        <p:sp>
          <p:nvSpPr>
            <p:cNvPr id="22" name="TextBox 22"/>
            <p:cNvSpPr txBox="1"/>
            <p:nvPr/>
          </p:nvSpPr>
          <p:spPr>
            <a:xfrm>
              <a:off x="271508" y="996553"/>
              <a:ext cx="190454"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20%​</a:t>
              </a:r>
            </a:p>
          </p:txBody>
        </p:sp>
        <p:sp>
          <p:nvSpPr>
            <p:cNvPr id="23" name="Rectangle 23"/>
            <p:cNvSpPr/>
            <p:nvPr/>
          </p:nvSpPr>
          <p:spPr>
            <a:xfrm>
              <a:off x="628650" y="1104900"/>
              <a:ext cx="266700" cy="876300"/>
            </a:xfrm>
            <a:prstGeom prst="rect">
              <a:avLst/>
            </a:prstGeom>
            <a:solidFill>
              <a:srgbClr val="E04C2E"/>
            </a:solidFill>
            <a:ln>
              <a:noFill/>
            </a:ln>
          </p:spPr>
        </p:sp>
        <p:sp>
          <p:nvSpPr>
            <p:cNvPr id="24" name="TextBox 24"/>
            <p:cNvSpPr txBox="1"/>
            <p:nvPr/>
          </p:nvSpPr>
          <p:spPr>
            <a:xfrm>
              <a:off x="598924" y="997982"/>
              <a:ext cx="326151"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18.4%​</a:t>
              </a:r>
            </a:p>
          </p:txBody>
        </p:sp>
        <p:sp>
          <p:nvSpPr>
            <p:cNvPr id="25" name="TextBox 25"/>
            <p:cNvSpPr txBox="1"/>
            <p:nvPr/>
          </p:nvSpPr>
          <p:spPr>
            <a:xfrm>
              <a:off x="629526" y="2040255"/>
              <a:ext cx="264947" cy="119062"/>
            </a:xfrm>
            <a:prstGeom prst="rect">
              <a:avLst/>
            </a:prstGeom>
            <a:noFill/>
            <a:ln>
              <a:noFill/>
            </a:ln>
          </p:spPr>
          <p:txBody>
            <a:bodyPr wrap="none" lIns="0" tIns="0" rIns="0" bIns="0" anchor="t" anchorCtr="0">
              <a:spAutoFit/>
            </a:bodyPr>
            <a:lstStyle/>
            <a:p>
              <a:pPr algn="ctr"/>
              <a:r>
                <a:rPr lang="zh-CN" sz="600" dirty="0">
                  <a:solidFill>
                    <a:srgbClr val="987F7A"/>
                  </a:solidFill>
                  <a:latin typeface="+mn-lt"/>
                  <a:ea typeface="+mn-ea"/>
                  <a:cs typeface="+mn-cs"/>
                </a:rPr>
                <a:t>同业A​</a:t>
              </a:r>
            </a:p>
          </p:txBody>
        </p:sp>
        <p:sp>
          <p:nvSpPr>
            <p:cNvPr id="26" name="Rectangle 26"/>
            <p:cNvSpPr/>
            <p:nvPr/>
          </p:nvSpPr>
          <p:spPr>
            <a:xfrm>
              <a:off x="1123950" y="1257300"/>
              <a:ext cx="266700" cy="723900"/>
            </a:xfrm>
            <a:prstGeom prst="rect">
              <a:avLst/>
            </a:prstGeom>
            <a:solidFill>
              <a:srgbClr val="E04C2E"/>
            </a:solidFill>
            <a:ln>
              <a:noFill/>
            </a:ln>
          </p:spPr>
        </p:sp>
        <p:sp>
          <p:nvSpPr>
            <p:cNvPr id="27" name="TextBox 27"/>
            <p:cNvSpPr txBox="1"/>
            <p:nvPr/>
          </p:nvSpPr>
          <p:spPr>
            <a:xfrm>
              <a:off x="1094224" y="1150382"/>
              <a:ext cx="326151"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15.2%​</a:t>
              </a:r>
            </a:p>
          </p:txBody>
        </p:sp>
        <p:sp>
          <p:nvSpPr>
            <p:cNvPr id="28" name="TextBox 28"/>
            <p:cNvSpPr txBox="1"/>
            <p:nvPr/>
          </p:nvSpPr>
          <p:spPr>
            <a:xfrm>
              <a:off x="1124826" y="2040255"/>
              <a:ext cx="264947" cy="119062"/>
            </a:xfrm>
            <a:prstGeom prst="rect">
              <a:avLst/>
            </a:prstGeom>
            <a:noFill/>
            <a:ln>
              <a:noFill/>
            </a:ln>
          </p:spPr>
          <p:txBody>
            <a:bodyPr wrap="none" lIns="0" tIns="0" rIns="0" bIns="0" anchor="t" anchorCtr="0">
              <a:spAutoFit/>
            </a:bodyPr>
            <a:lstStyle/>
            <a:p>
              <a:pPr algn="ctr"/>
              <a:r>
                <a:rPr lang="zh-CN" sz="600" dirty="0">
                  <a:solidFill>
                    <a:srgbClr val="987F7A"/>
                  </a:solidFill>
                  <a:latin typeface="+mn-lt"/>
                  <a:ea typeface="+mn-ea"/>
                  <a:cs typeface="+mn-cs"/>
                </a:rPr>
                <a:t>同业B​</a:t>
              </a:r>
            </a:p>
          </p:txBody>
        </p:sp>
        <p:sp>
          <p:nvSpPr>
            <p:cNvPr id="29" name="Rectangle 29"/>
            <p:cNvSpPr/>
            <p:nvPr/>
          </p:nvSpPr>
          <p:spPr>
            <a:xfrm>
              <a:off x="1619250" y="1376362"/>
              <a:ext cx="266700" cy="604838"/>
            </a:xfrm>
            <a:prstGeom prst="rect">
              <a:avLst/>
            </a:prstGeom>
            <a:solidFill>
              <a:srgbClr val="E04C2E"/>
            </a:solidFill>
            <a:ln>
              <a:noFill/>
            </a:ln>
          </p:spPr>
        </p:sp>
        <p:sp>
          <p:nvSpPr>
            <p:cNvPr id="30" name="TextBox 30"/>
            <p:cNvSpPr txBox="1"/>
            <p:nvPr/>
          </p:nvSpPr>
          <p:spPr>
            <a:xfrm>
              <a:off x="1589524" y="1264682"/>
              <a:ext cx="326151"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12.7%​</a:t>
              </a:r>
            </a:p>
          </p:txBody>
        </p:sp>
        <p:sp>
          <p:nvSpPr>
            <p:cNvPr id="31" name="TextBox 31"/>
            <p:cNvSpPr txBox="1"/>
            <p:nvPr/>
          </p:nvSpPr>
          <p:spPr>
            <a:xfrm>
              <a:off x="1620126" y="2040255"/>
              <a:ext cx="264947" cy="119062"/>
            </a:xfrm>
            <a:prstGeom prst="rect">
              <a:avLst/>
            </a:prstGeom>
            <a:noFill/>
            <a:ln>
              <a:noFill/>
            </a:ln>
          </p:spPr>
          <p:txBody>
            <a:bodyPr wrap="none" lIns="0" tIns="0" rIns="0" bIns="0" anchor="t" anchorCtr="0">
              <a:spAutoFit/>
            </a:bodyPr>
            <a:lstStyle/>
            <a:p>
              <a:pPr algn="ctr"/>
              <a:r>
                <a:rPr lang="zh-CN" sz="600" dirty="0">
                  <a:solidFill>
                    <a:srgbClr val="987F7A"/>
                  </a:solidFill>
                  <a:latin typeface="+mn-lt"/>
                  <a:ea typeface="+mn-ea"/>
                  <a:cs typeface="+mn-cs"/>
                </a:rPr>
                <a:t>同业C​</a:t>
              </a:r>
            </a:p>
          </p:txBody>
        </p:sp>
        <p:sp>
          <p:nvSpPr>
            <p:cNvPr id="32" name="Rectangle 32"/>
            <p:cNvSpPr/>
            <p:nvPr/>
          </p:nvSpPr>
          <p:spPr>
            <a:xfrm>
              <a:off x="2114550" y="1571625"/>
              <a:ext cx="266700" cy="409575"/>
            </a:xfrm>
            <a:prstGeom prst="rect">
              <a:avLst/>
            </a:prstGeom>
            <a:solidFill>
              <a:srgbClr val="5C2216"/>
            </a:solidFill>
            <a:ln>
              <a:noFill/>
            </a:ln>
          </p:spPr>
        </p:sp>
        <p:sp>
          <p:nvSpPr>
            <p:cNvPr id="33" name="TextBox 33"/>
            <p:cNvSpPr txBox="1"/>
            <p:nvPr/>
          </p:nvSpPr>
          <p:spPr>
            <a:xfrm>
              <a:off x="2109702" y="1464707"/>
              <a:ext cx="276396" cy="126206"/>
            </a:xfrm>
            <a:prstGeom prst="rect">
              <a:avLst/>
            </a:prstGeom>
            <a:noFill/>
            <a:ln>
              <a:noFill/>
            </a:ln>
          </p:spPr>
          <p:txBody>
            <a:bodyPr wrap="none" lIns="0" tIns="0" rIns="0" bIns="0" anchor="t" anchorCtr="0">
              <a:spAutoFit/>
            </a:bodyPr>
            <a:lstStyle/>
            <a:p>
              <a:pPr algn="ctr"/>
              <a:r>
                <a:rPr lang="zh-CN" sz="640" b="1" dirty="0">
                  <a:solidFill>
                    <a:srgbClr val="5C2216"/>
                  </a:solidFill>
                  <a:latin typeface="+mn-lt"/>
                  <a:ea typeface="+mn-ea"/>
                  <a:cs typeface="+mn-cs"/>
                </a:rPr>
                <a:t>8.6%​</a:t>
              </a:r>
            </a:p>
          </p:txBody>
        </p:sp>
        <p:sp>
          <p:nvSpPr>
            <p:cNvPr id="34" name="TextBox 34"/>
            <p:cNvSpPr txBox="1"/>
            <p:nvPr/>
          </p:nvSpPr>
          <p:spPr>
            <a:xfrm>
              <a:off x="2162366" y="2040255"/>
              <a:ext cx="171069" cy="119062"/>
            </a:xfrm>
            <a:prstGeom prst="rect">
              <a:avLst/>
            </a:prstGeom>
            <a:noFill/>
            <a:ln>
              <a:noFill/>
            </a:ln>
          </p:spPr>
          <p:txBody>
            <a:bodyPr wrap="none" lIns="0" tIns="0" rIns="0" bIns="0" anchor="t" anchorCtr="0">
              <a:spAutoFit/>
            </a:bodyPr>
            <a:lstStyle/>
            <a:p>
              <a:pPr algn="ctr"/>
              <a:r>
                <a:rPr lang="zh-CN" sz="600" b="1" dirty="0">
                  <a:solidFill>
                    <a:srgbClr val="5C2216"/>
                  </a:solidFill>
                  <a:latin typeface="+mn-lt"/>
                  <a:ea typeface="+mn-ea"/>
                  <a:cs typeface="+mn-cs"/>
                </a:rPr>
                <a:t>本行</a:t>
              </a:r>
            </a:p>
          </p:txBody>
        </p:sp>
        <p:sp>
          <p:nvSpPr>
            <p:cNvPr id="35" name="Rectangle 35"/>
            <p:cNvSpPr/>
            <p:nvPr/>
          </p:nvSpPr>
          <p:spPr>
            <a:xfrm>
              <a:off x="2609850" y="1538288"/>
              <a:ext cx="266700" cy="442912"/>
            </a:xfrm>
            <a:prstGeom prst="rect">
              <a:avLst/>
            </a:prstGeom>
            <a:noFill/>
            <a:ln w="14288">
              <a:solidFill>
                <a:srgbClr val="E04C2E"/>
              </a:solidFill>
              <a:custDash>
                <a:ds d="200000" sp="133333"/>
              </a:custDash>
            </a:ln>
          </p:spPr>
        </p:sp>
        <p:sp>
          <p:nvSpPr>
            <p:cNvPr id="36" name="TextBox 36"/>
            <p:cNvSpPr txBox="1"/>
            <p:nvPr/>
          </p:nvSpPr>
          <p:spPr>
            <a:xfrm>
              <a:off x="2605002" y="1426607"/>
              <a:ext cx="276396" cy="126206"/>
            </a:xfrm>
            <a:prstGeom prst="rect">
              <a:avLst/>
            </a:prstGeom>
            <a:noFill/>
            <a:ln>
              <a:noFill/>
            </a:ln>
          </p:spPr>
          <p:txBody>
            <a:bodyPr wrap="none" lIns="0" tIns="0" rIns="0" bIns="0" anchor="t" anchorCtr="0">
              <a:spAutoFit/>
            </a:bodyPr>
            <a:lstStyle/>
            <a:p>
              <a:pPr algn="ctr"/>
              <a:r>
                <a:rPr lang="zh-CN" sz="640" b="1" dirty="0">
                  <a:solidFill>
                    <a:srgbClr val="E04C2E"/>
                  </a:solidFill>
                  <a:latin typeface="+mn-lt"/>
                  <a:ea typeface="+mn-ea"/>
                  <a:cs typeface="+mn-cs"/>
                </a:rPr>
                <a:t>9.3%​</a:t>
              </a:r>
            </a:p>
          </p:txBody>
        </p:sp>
        <p:sp>
          <p:nvSpPr>
            <p:cNvPr id="37" name="TextBox 37"/>
            <p:cNvSpPr txBox="1"/>
            <p:nvPr/>
          </p:nvSpPr>
          <p:spPr>
            <a:xfrm>
              <a:off x="2657666" y="2040255"/>
              <a:ext cx="171069" cy="119062"/>
            </a:xfrm>
            <a:prstGeom prst="rect">
              <a:avLst/>
            </a:prstGeom>
            <a:noFill/>
            <a:ln>
              <a:noFill/>
            </a:ln>
          </p:spPr>
          <p:txBody>
            <a:bodyPr wrap="none" lIns="0" tIns="0" rIns="0" bIns="0" anchor="t" anchorCtr="0">
              <a:spAutoFit/>
            </a:bodyPr>
            <a:lstStyle/>
            <a:p>
              <a:pPr algn="ctr"/>
              <a:r>
                <a:rPr lang="zh-CN" sz="600" dirty="0">
                  <a:solidFill>
                    <a:srgbClr val="E04C2E"/>
                  </a:solidFill>
                  <a:latin typeface="+mn-lt"/>
                  <a:ea typeface="+mn-ea"/>
                  <a:cs typeface="+mn-cs"/>
                </a:rPr>
                <a:t>目标</a:t>
              </a:r>
            </a:p>
          </p:txBody>
        </p:sp>
      </p:grpSp>
      <p:grpSp>
        <p:nvGrpSpPr>
          <p:cNvPr id="93" name="source-structure"/>
          <p:cNvGrpSpPr/>
          <p:nvPr/>
        </p:nvGrpSpPr>
        <p:grpSpPr>
          <a:xfrm>
            <a:off x="228600" y="2286000"/>
            <a:ext cx="3048000" cy="2190750"/>
            <a:chOff x="228600" y="2286000"/>
            <a:chExt cx="3048000" cy="2190750"/>
          </a:xfrm>
        </p:grpSpPr>
        <p:sp>
          <p:nvSpPr>
            <p:cNvPr id="39" name="Rectangle 39"/>
            <p:cNvSpPr/>
            <p:nvPr/>
          </p:nvSpPr>
          <p:spPr>
            <a:xfrm>
              <a:off x="228600" y="2286000"/>
              <a:ext cx="3048000" cy="2190750"/>
            </a:xfrm>
            <a:prstGeom prst="roundRect">
              <a:avLst>
                <a:gd name="adj" fmla="val 2609"/>
              </a:avLst>
            </a:prstGeom>
            <a:solidFill>
              <a:srgbClr val="FFFFFF"/>
            </a:solidFill>
            <a:ln w="9525">
              <a:solidFill>
                <a:srgbClr val="C9D6E9"/>
              </a:solidFill>
            </a:ln>
          </p:spPr>
        </p:sp>
        <p:sp>
          <p:nvSpPr>
            <p:cNvPr id="40" name="Rectangle 40"/>
            <p:cNvSpPr/>
            <p:nvPr/>
          </p:nvSpPr>
          <p:spPr>
            <a:xfrm>
              <a:off x="228600" y="2286000"/>
              <a:ext cx="3048000" cy="209550"/>
            </a:xfrm>
            <a:prstGeom prst="roundRect">
              <a:avLst>
                <a:gd name="adj" fmla="val 27273"/>
              </a:avLst>
            </a:prstGeom>
            <a:solidFill>
              <a:srgbClr val="69281B"/>
            </a:solidFill>
            <a:ln>
              <a:noFill/>
            </a:ln>
          </p:spPr>
        </p:sp>
        <p:sp>
          <p:nvSpPr>
            <p:cNvPr id="41" name="Rectangle 41"/>
            <p:cNvSpPr/>
            <p:nvPr/>
          </p:nvSpPr>
          <p:spPr>
            <a:xfrm>
              <a:off x="228600" y="2400300"/>
              <a:ext cx="3048000" cy="95250"/>
            </a:xfrm>
            <a:prstGeom prst="rect">
              <a:avLst/>
            </a:prstGeom>
            <a:solidFill>
              <a:srgbClr val="69281B"/>
            </a:solidFill>
            <a:ln>
              <a:noFill/>
            </a:ln>
          </p:spPr>
        </p:sp>
        <p:sp>
          <p:nvSpPr>
            <p:cNvPr id="42" name="TextBox 42"/>
            <p:cNvSpPr txBox="1"/>
            <p:nvPr/>
          </p:nvSpPr>
          <p:spPr>
            <a:xfrm>
              <a:off x="1030313" y="2339816"/>
              <a:ext cx="14445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存款来源结构（按余额占比）</a:t>
              </a:r>
            </a:p>
          </p:txBody>
        </p:sp>
        <p:grpSp>
          <p:nvGrpSpPr>
            <p:cNvPr id="51" name="Group 51"/>
            <p:cNvGrpSpPr/>
            <p:nvPr/>
          </p:nvGrpSpPr>
          <p:grpSpPr>
            <a:xfrm>
              <a:off x="338138" y="2643188"/>
              <a:ext cx="90487" cy="95249"/>
              <a:chOff x="338138" y="2643188"/>
              <a:chExt cx="90487" cy="95249"/>
            </a:xfrm>
          </p:grpSpPr>
          <p:sp>
            <p:nvSpPr>
              <p:cNvPr id="43" name="Freeform 43"/>
              <p:cNvSpPr/>
              <p:nvPr/>
            </p:nvSpPr>
            <p:spPr>
              <a:xfrm>
                <a:off x="338138" y="2728912"/>
                <a:ext cx="85725" cy="9525"/>
              </a:xfrm>
              <a:custGeom>
                <a:avLst/>
                <a:gdLst/>
                <a:ahLst/>
                <a:cxnLst/>
                <a:rect l="l" t="t" r="r" b="b"/>
                <a:pathLst>
                  <a:path w="85725" h="9525">
                    <a:moveTo>
                      <a:pt x="0" y="0"/>
                    </a:moveTo>
                    <a:lnTo>
                      <a:pt x="85725" y="0"/>
                    </a:lnTo>
                  </a:path>
                </a:pathLst>
              </a:custGeom>
              <a:noFill/>
              <a:ln w="9525">
                <a:solidFill>
                  <a:srgbClr val="E04C2E"/>
                </a:solidFill>
              </a:ln>
            </p:spPr>
          </p:sp>
          <p:sp>
            <p:nvSpPr>
              <p:cNvPr id="44" name="Freeform 44"/>
              <p:cNvSpPr/>
              <p:nvPr/>
            </p:nvSpPr>
            <p:spPr>
              <a:xfrm>
                <a:off x="338138" y="2676525"/>
                <a:ext cx="85725" cy="9525"/>
              </a:xfrm>
              <a:custGeom>
                <a:avLst/>
                <a:gdLst/>
                <a:ahLst/>
                <a:cxnLst/>
                <a:rect l="l" t="t" r="r" b="b"/>
                <a:pathLst>
                  <a:path w="85725" h="9525">
                    <a:moveTo>
                      <a:pt x="0" y="0"/>
                    </a:moveTo>
                    <a:lnTo>
                      <a:pt x="85725" y="0"/>
                    </a:lnTo>
                  </a:path>
                </a:pathLst>
              </a:custGeom>
              <a:noFill/>
              <a:ln w="9525">
                <a:solidFill>
                  <a:srgbClr val="E04C2E"/>
                </a:solidFill>
              </a:ln>
            </p:spPr>
          </p:sp>
          <p:sp>
            <p:nvSpPr>
              <p:cNvPr id="45" name="Freeform 45"/>
              <p:cNvSpPr/>
              <p:nvPr/>
            </p:nvSpPr>
            <p:spPr>
              <a:xfrm>
                <a:off x="347662" y="2643188"/>
                <a:ext cx="66675" cy="14288"/>
              </a:xfrm>
              <a:custGeom>
                <a:avLst/>
                <a:gdLst/>
                <a:ahLst/>
                <a:cxnLst/>
                <a:rect l="l" t="t" r="r" b="b"/>
                <a:pathLst>
                  <a:path w="66675" h="14288">
                    <a:moveTo>
                      <a:pt x="0" y="14288"/>
                    </a:moveTo>
                    <a:lnTo>
                      <a:pt x="33338" y="0"/>
                    </a:lnTo>
                    <a:lnTo>
                      <a:pt x="66675" y="14288"/>
                    </a:lnTo>
                  </a:path>
                </a:pathLst>
              </a:custGeom>
              <a:noFill/>
              <a:ln w="9525">
                <a:solidFill>
                  <a:srgbClr val="E04C2E"/>
                </a:solidFill>
              </a:ln>
            </p:spPr>
          </p:sp>
          <p:sp>
            <p:nvSpPr>
              <p:cNvPr id="46" name="Freeform 46"/>
              <p:cNvSpPr/>
              <p:nvPr/>
            </p:nvSpPr>
            <p:spPr>
              <a:xfrm>
                <a:off x="342900" y="2676525"/>
                <a:ext cx="9525" cy="52388"/>
              </a:xfrm>
              <a:custGeom>
                <a:avLst/>
                <a:gdLst/>
                <a:ahLst/>
                <a:cxnLst/>
                <a:rect l="l" t="t" r="r" b="b"/>
                <a:pathLst>
                  <a:path w="9525" h="52388">
                    <a:moveTo>
                      <a:pt x="0" y="0"/>
                    </a:moveTo>
                    <a:lnTo>
                      <a:pt x="0" y="52388"/>
                    </a:lnTo>
                  </a:path>
                </a:pathLst>
              </a:custGeom>
              <a:noFill/>
              <a:ln w="9525">
                <a:solidFill>
                  <a:srgbClr val="E04C2E"/>
                </a:solidFill>
              </a:ln>
            </p:spPr>
          </p:sp>
          <p:sp>
            <p:nvSpPr>
              <p:cNvPr id="47" name="Freeform 47"/>
              <p:cNvSpPr/>
              <p:nvPr/>
            </p:nvSpPr>
            <p:spPr>
              <a:xfrm>
                <a:off x="419100" y="2676525"/>
                <a:ext cx="9525" cy="52388"/>
              </a:xfrm>
              <a:custGeom>
                <a:avLst/>
                <a:gdLst/>
                <a:ahLst/>
                <a:cxnLst/>
                <a:rect l="l" t="t" r="r" b="b"/>
                <a:pathLst>
                  <a:path w="9525" h="52388">
                    <a:moveTo>
                      <a:pt x="0" y="0"/>
                    </a:moveTo>
                    <a:lnTo>
                      <a:pt x="0" y="52388"/>
                    </a:lnTo>
                  </a:path>
                </a:pathLst>
              </a:custGeom>
              <a:noFill/>
              <a:ln w="9525">
                <a:solidFill>
                  <a:srgbClr val="E04C2E"/>
                </a:solidFill>
              </a:ln>
            </p:spPr>
          </p:sp>
          <p:sp>
            <p:nvSpPr>
              <p:cNvPr id="48" name="Freeform 48"/>
              <p:cNvSpPr/>
              <p:nvPr/>
            </p:nvSpPr>
            <p:spPr>
              <a:xfrm>
                <a:off x="361950" y="2695575"/>
                <a:ext cx="9525" cy="14288"/>
              </a:xfrm>
              <a:custGeom>
                <a:avLst/>
                <a:gdLst/>
                <a:ahLst/>
                <a:cxnLst/>
                <a:rect l="l" t="t" r="r" b="b"/>
                <a:pathLst>
                  <a:path w="9525" h="14288">
                    <a:moveTo>
                      <a:pt x="0" y="0"/>
                    </a:moveTo>
                    <a:lnTo>
                      <a:pt x="0" y="14288"/>
                    </a:lnTo>
                  </a:path>
                </a:pathLst>
              </a:custGeom>
              <a:noFill/>
              <a:ln w="9525">
                <a:solidFill>
                  <a:srgbClr val="E04C2E"/>
                </a:solidFill>
              </a:ln>
            </p:spPr>
          </p:sp>
          <p:sp>
            <p:nvSpPr>
              <p:cNvPr id="49" name="Freeform 49"/>
              <p:cNvSpPr/>
              <p:nvPr/>
            </p:nvSpPr>
            <p:spPr>
              <a:xfrm>
                <a:off x="381000" y="2695575"/>
                <a:ext cx="9525" cy="14288"/>
              </a:xfrm>
              <a:custGeom>
                <a:avLst/>
                <a:gdLst/>
                <a:ahLst/>
                <a:cxnLst/>
                <a:rect l="l" t="t" r="r" b="b"/>
                <a:pathLst>
                  <a:path w="9525" h="14288">
                    <a:moveTo>
                      <a:pt x="0" y="0"/>
                    </a:moveTo>
                    <a:lnTo>
                      <a:pt x="0" y="14288"/>
                    </a:lnTo>
                  </a:path>
                </a:pathLst>
              </a:custGeom>
              <a:noFill/>
              <a:ln w="9525">
                <a:solidFill>
                  <a:srgbClr val="E04C2E"/>
                </a:solidFill>
              </a:ln>
            </p:spPr>
          </p:sp>
          <p:sp>
            <p:nvSpPr>
              <p:cNvPr id="50" name="Freeform 50"/>
              <p:cNvSpPr/>
              <p:nvPr/>
            </p:nvSpPr>
            <p:spPr>
              <a:xfrm>
                <a:off x="400050" y="2695575"/>
                <a:ext cx="9525" cy="14288"/>
              </a:xfrm>
              <a:custGeom>
                <a:avLst/>
                <a:gdLst/>
                <a:ahLst/>
                <a:cxnLst/>
                <a:rect l="l" t="t" r="r" b="b"/>
                <a:pathLst>
                  <a:path w="9525" h="14288">
                    <a:moveTo>
                      <a:pt x="0" y="0"/>
                    </a:moveTo>
                    <a:lnTo>
                      <a:pt x="0" y="14288"/>
                    </a:lnTo>
                  </a:path>
                </a:pathLst>
              </a:custGeom>
              <a:noFill/>
              <a:ln w="9525">
                <a:solidFill>
                  <a:srgbClr val="E04C2E"/>
                </a:solidFill>
              </a:ln>
            </p:spPr>
          </p:sp>
        </p:grpSp>
        <p:sp>
          <p:nvSpPr>
            <p:cNvPr id="52" name="TextBox 52"/>
            <p:cNvSpPr txBox="1"/>
            <p:nvPr/>
          </p:nvSpPr>
          <p:spPr>
            <a:xfrm>
              <a:off x="471488" y="2651284"/>
              <a:ext cx="375691"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结算沉淀</a:t>
              </a:r>
            </a:p>
          </p:txBody>
        </p:sp>
        <p:sp>
          <p:nvSpPr>
            <p:cNvPr id="53" name="Rectangle 53"/>
            <p:cNvSpPr/>
            <p:nvPr/>
          </p:nvSpPr>
          <p:spPr>
            <a:xfrm>
              <a:off x="1143000" y="2619375"/>
              <a:ext cx="971550" cy="133350"/>
            </a:xfrm>
            <a:prstGeom prst="rect">
              <a:avLst/>
            </a:prstGeom>
            <a:solidFill>
              <a:srgbClr val="5C2216"/>
            </a:solidFill>
            <a:ln>
              <a:noFill/>
            </a:ln>
          </p:spPr>
        </p:sp>
        <p:sp>
          <p:nvSpPr>
            <p:cNvPr id="54" name="TextBox 54"/>
            <p:cNvSpPr txBox="1"/>
            <p:nvPr/>
          </p:nvSpPr>
          <p:spPr>
            <a:xfrm>
              <a:off x="1195388" y="2655332"/>
              <a:ext cx="226640" cy="126206"/>
            </a:xfrm>
            <a:prstGeom prst="rect">
              <a:avLst/>
            </a:prstGeom>
            <a:noFill/>
            <a:ln>
              <a:noFill/>
            </a:ln>
          </p:spPr>
          <p:txBody>
            <a:bodyPr wrap="none" lIns="0" tIns="0" rIns="0" bIns="0" anchor="t" anchorCtr="0">
              <a:spAutoFit/>
            </a:bodyPr>
            <a:lstStyle/>
            <a:p>
              <a:pPr algn="l"/>
              <a:r>
                <a:rPr lang="zh-CN" sz="640" b="1" dirty="0">
                  <a:solidFill>
                    <a:srgbClr val="FFFFFF"/>
                  </a:solidFill>
                  <a:latin typeface="+mn-lt"/>
                  <a:ea typeface="+mn-ea"/>
                  <a:cs typeface="+mn-cs"/>
                </a:rPr>
                <a:t>34%​</a:t>
              </a:r>
            </a:p>
          </p:txBody>
        </p:sp>
        <p:sp>
          <p:nvSpPr>
            <p:cNvPr id="55" name="TextBox 55"/>
            <p:cNvSpPr txBox="1"/>
            <p:nvPr/>
          </p:nvSpPr>
          <p:spPr>
            <a:xfrm>
              <a:off x="2185988" y="2663428"/>
              <a:ext cx="838784" cy="111919"/>
            </a:xfrm>
            <a:prstGeom prst="rect">
              <a:avLst/>
            </a:prstGeom>
            <a:noFill/>
            <a:ln>
              <a:noFill/>
            </a:ln>
          </p:spPr>
          <p:txBody>
            <a:bodyPr wrap="none" lIns="0" tIns="0" rIns="0" bIns="0" anchor="t" anchorCtr="0">
              <a:spAutoFit/>
            </a:bodyPr>
            <a:lstStyle/>
            <a:p>
              <a:pPr algn="l"/>
              <a:r>
                <a:rPr lang="zh-CN" sz="560" dirty="0">
                  <a:solidFill>
                    <a:srgbClr val="987F7A"/>
                  </a:solidFill>
                  <a:latin typeface="+mn-lt"/>
                  <a:ea typeface="+mn-ea"/>
                  <a:cs typeface="+mn-cs"/>
                </a:rPr>
                <a:t>对公结算存款、账户沉淀</a:t>
              </a:r>
            </a:p>
          </p:txBody>
        </p:sp>
        <p:grpSp>
          <p:nvGrpSpPr>
            <p:cNvPr id="59" name="Group 59"/>
            <p:cNvGrpSpPr/>
            <p:nvPr/>
          </p:nvGrpSpPr>
          <p:grpSpPr>
            <a:xfrm>
              <a:off x="342900" y="2947988"/>
              <a:ext cx="76200" cy="85724"/>
              <a:chOff x="342900" y="2947988"/>
              <a:chExt cx="76200" cy="85724"/>
            </a:xfrm>
          </p:grpSpPr>
          <p:sp>
            <p:nvSpPr>
              <p:cNvPr id="56" name="Freeform 56"/>
              <p:cNvSpPr/>
              <p:nvPr/>
            </p:nvSpPr>
            <p:spPr>
              <a:xfrm>
                <a:off x="342900" y="2947988"/>
                <a:ext cx="76200" cy="28575"/>
              </a:xfrm>
              <a:custGeom>
                <a:avLst/>
                <a:gdLst/>
                <a:ahLst/>
                <a:cxnLst/>
                <a:rect l="l" t="t" r="r" b="b"/>
                <a:pathLst>
                  <a:path w="76200" h="28575">
                    <a:moveTo>
                      <a:pt x="0" y="14288"/>
                    </a:moveTo>
                    <a:cubicBezTo>
                      <a:pt x="0" y="22178"/>
                      <a:pt x="17058" y="28575"/>
                      <a:pt x="38100" y="28575"/>
                    </a:cubicBezTo>
                    <a:cubicBezTo>
                      <a:pt x="59142" y="28575"/>
                      <a:pt x="76200" y="22178"/>
                      <a:pt x="76200" y="14288"/>
                    </a:cubicBezTo>
                    <a:cubicBezTo>
                      <a:pt x="76200" y="6397"/>
                      <a:pt x="59142" y="0"/>
                      <a:pt x="38100" y="0"/>
                    </a:cubicBezTo>
                    <a:cubicBezTo>
                      <a:pt x="17058" y="0"/>
                      <a:pt x="0" y="6397"/>
                      <a:pt x="0" y="14288"/>
                    </a:cubicBezTo>
                  </a:path>
                </a:pathLst>
              </a:custGeom>
              <a:noFill/>
              <a:ln w="9525">
                <a:solidFill>
                  <a:srgbClr val="E04C2E"/>
                </a:solidFill>
              </a:ln>
            </p:spPr>
          </p:sp>
          <p:sp>
            <p:nvSpPr>
              <p:cNvPr id="57" name="Freeform 57"/>
              <p:cNvSpPr/>
              <p:nvPr/>
            </p:nvSpPr>
            <p:spPr>
              <a:xfrm>
                <a:off x="342900" y="2962275"/>
                <a:ext cx="76200" cy="42862"/>
              </a:xfrm>
              <a:custGeom>
                <a:avLst/>
                <a:gdLst/>
                <a:ahLst/>
                <a:cxnLst/>
                <a:rect l="l" t="t" r="r" b="b"/>
                <a:pathLst>
                  <a:path w="76200" h="42862">
                    <a:moveTo>
                      <a:pt x="0" y="0"/>
                    </a:moveTo>
                    <a:lnTo>
                      <a:pt x="0" y="28575"/>
                    </a:lnTo>
                    <a:cubicBezTo>
                      <a:pt x="0" y="36466"/>
                      <a:pt x="17058" y="42862"/>
                      <a:pt x="38100" y="42862"/>
                    </a:cubicBezTo>
                    <a:cubicBezTo>
                      <a:pt x="59142" y="42862"/>
                      <a:pt x="76200" y="36466"/>
                      <a:pt x="76200" y="28575"/>
                    </a:cubicBezTo>
                    <a:lnTo>
                      <a:pt x="76200" y="0"/>
                    </a:lnTo>
                  </a:path>
                </a:pathLst>
              </a:custGeom>
              <a:noFill/>
              <a:ln w="9525">
                <a:solidFill>
                  <a:srgbClr val="E04C2E"/>
                </a:solidFill>
              </a:ln>
            </p:spPr>
          </p:sp>
          <p:sp>
            <p:nvSpPr>
              <p:cNvPr id="58" name="Freeform 58"/>
              <p:cNvSpPr/>
              <p:nvPr/>
            </p:nvSpPr>
            <p:spPr>
              <a:xfrm>
                <a:off x="342900" y="2990850"/>
                <a:ext cx="76200" cy="42862"/>
              </a:xfrm>
              <a:custGeom>
                <a:avLst/>
                <a:gdLst/>
                <a:ahLst/>
                <a:cxnLst/>
                <a:rect l="l" t="t" r="r" b="b"/>
                <a:pathLst>
                  <a:path w="76200" h="42862">
                    <a:moveTo>
                      <a:pt x="0" y="0"/>
                    </a:moveTo>
                    <a:lnTo>
                      <a:pt x="0" y="28575"/>
                    </a:lnTo>
                    <a:cubicBezTo>
                      <a:pt x="0" y="36466"/>
                      <a:pt x="17058" y="42862"/>
                      <a:pt x="38100" y="42862"/>
                    </a:cubicBezTo>
                    <a:cubicBezTo>
                      <a:pt x="59142" y="42862"/>
                      <a:pt x="76200" y="36466"/>
                      <a:pt x="76200" y="28575"/>
                    </a:cubicBezTo>
                    <a:lnTo>
                      <a:pt x="76200" y="0"/>
                    </a:lnTo>
                  </a:path>
                </a:pathLst>
              </a:custGeom>
              <a:noFill/>
              <a:ln w="9525">
                <a:solidFill>
                  <a:srgbClr val="E04C2E"/>
                </a:solidFill>
              </a:ln>
            </p:spPr>
          </p:sp>
        </p:grpSp>
        <p:sp>
          <p:nvSpPr>
            <p:cNvPr id="60" name="TextBox 60"/>
            <p:cNvSpPr txBox="1"/>
            <p:nvPr/>
          </p:nvSpPr>
          <p:spPr>
            <a:xfrm>
              <a:off x="471488" y="2956084"/>
              <a:ext cx="375691"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机构资金</a:t>
              </a:r>
            </a:p>
          </p:txBody>
        </p:sp>
        <p:sp>
          <p:nvSpPr>
            <p:cNvPr id="61" name="Rectangle 61"/>
            <p:cNvSpPr/>
            <p:nvPr/>
          </p:nvSpPr>
          <p:spPr>
            <a:xfrm>
              <a:off x="1143000" y="2924175"/>
              <a:ext cx="685800" cy="133350"/>
            </a:xfrm>
            <a:prstGeom prst="rect">
              <a:avLst/>
            </a:prstGeom>
            <a:solidFill>
              <a:srgbClr val="9B3824"/>
            </a:solidFill>
            <a:ln>
              <a:noFill/>
            </a:ln>
          </p:spPr>
        </p:sp>
        <p:sp>
          <p:nvSpPr>
            <p:cNvPr id="62" name="TextBox 62"/>
            <p:cNvSpPr txBox="1"/>
            <p:nvPr/>
          </p:nvSpPr>
          <p:spPr>
            <a:xfrm>
              <a:off x="1195388" y="2960132"/>
              <a:ext cx="226640" cy="126206"/>
            </a:xfrm>
            <a:prstGeom prst="rect">
              <a:avLst/>
            </a:prstGeom>
            <a:noFill/>
            <a:ln>
              <a:noFill/>
            </a:ln>
          </p:spPr>
          <p:txBody>
            <a:bodyPr wrap="none" lIns="0" tIns="0" rIns="0" bIns="0" anchor="t" anchorCtr="0">
              <a:spAutoFit/>
            </a:bodyPr>
            <a:lstStyle/>
            <a:p>
              <a:pPr algn="l"/>
              <a:r>
                <a:rPr lang="zh-CN" sz="640" b="1" dirty="0">
                  <a:solidFill>
                    <a:srgbClr val="FFFFFF"/>
                  </a:solidFill>
                  <a:latin typeface="+mn-lt"/>
                  <a:ea typeface="+mn-ea"/>
                  <a:cs typeface="+mn-cs"/>
                </a:rPr>
                <a:t>24%​</a:t>
              </a:r>
            </a:p>
          </p:txBody>
        </p:sp>
        <p:sp>
          <p:nvSpPr>
            <p:cNvPr id="63" name="TextBox 63"/>
            <p:cNvSpPr txBox="1"/>
            <p:nvPr/>
          </p:nvSpPr>
          <p:spPr>
            <a:xfrm>
              <a:off x="2185988" y="2968228"/>
              <a:ext cx="838784" cy="111919"/>
            </a:xfrm>
            <a:prstGeom prst="rect">
              <a:avLst/>
            </a:prstGeom>
            <a:noFill/>
            <a:ln>
              <a:noFill/>
            </a:ln>
          </p:spPr>
          <p:txBody>
            <a:bodyPr wrap="none" lIns="0" tIns="0" rIns="0" bIns="0" anchor="t" anchorCtr="0">
              <a:spAutoFit/>
            </a:bodyPr>
            <a:lstStyle/>
            <a:p>
              <a:pPr algn="l"/>
              <a:r>
                <a:rPr lang="zh-CN" sz="560" dirty="0">
                  <a:solidFill>
                    <a:srgbClr val="987F7A"/>
                  </a:solidFill>
                  <a:latin typeface="+mn-lt"/>
                  <a:ea typeface="+mn-ea"/>
                  <a:cs typeface="+mn-cs"/>
                </a:rPr>
                <a:t>同业、理财、机构专户等</a:t>
              </a:r>
            </a:p>
          </p:txBody>
        </p:sp>
        <p:grpSp>
          <p:nvGrpSpPr>
            <p:cNvPr id="67" name="Group 67"/>
            <p:cNvGrpSpPr/>
            <p:nvPr/>
          </p:nvGrpSpPr>
          <p:grpSpPr>
            <a:xfrm>
              <a:off x="342899" y="3255223"/>
              <a:ext cx="78521" cy="80844"/>
              <a:chOff x="342899" y="3255223"/>
              <a:chExt cx="78521" cy="80844"/>
            </a:xfrm>
          </p:grpSpPr>
          <p:sp>
            <p:nvSpPr>
              <p:cNvPr id="64" name="Freeform 64"/>
              <p:cNvSpPr/>
              <p:nvPr/>
            </p:nvSpPr>
            <p:spPr>
              <a:xfrm>
                <a:off x="366712" y="3281362"/>
                <a:ext cx="28575" cy="28575"/>
              </a:xfrm>
              <a:custGeom>
                <a:avLst/>
                <a:gdLst/>
                <a:ahLst/>
                <a:cxnLst/>
                <a:rect l="l" t="t" r="r" b="b"/>
                <a:pathLst>
                  <a:path w="28575" h="28575">
                    <a:moveTo>
                      <a:pt x="0" y="28575"/>
                    </a:moveTo>
                    <a:lnTo>
                      <a:pt x="28575" y="0"/>
                    </a:lnTo>
                  </a:path>
                </a:pathLst>
              </a:custGeom>
              <a:noFill/>
              <a:ln w="9525">
                <a:solidFill>
                  <a:srgbClr val="E04C2E"/>
                </a:solidFill>
              </a:ln>
            </p:spPr>
          </p:sp>
          <p:sp>
            <p:nvSpPr>
              <p:cNvPr id="65" name="Freeform 65"/>
              <p:cNvSpPr/>
              <p:nvPr/>
            </p:nvSpPr>
            <p:spPr>
              <a:xfrm>
                <a:off x="376238" y="3255223"/>
                <a:ext cx="45182" cy="45189"/>
              </a:xfrm>
              <a:custGeom>
                <a:avLst/>
                <a:gdLst/>
                <a:ahLst/>
                <a:cxnLst/>
                <a:rect l="l" t="t" r="r" b="b"/>
                <a:pathLst>
                  <a:path w="45182" h="45189">
                    <a:moveTo>
                      <a:pt x="0" y="11852"/>
                    </a:moveTo>
                    <a:lnTo>
                      <a:pt x="2205" y="9299"/>
                    </a:lnTo>
                    <a:cubicBezTo>
                      <a:pt x="11506" y="0"/>
                      <a:pt x="26584" y="1"/>
                      <a:pt x="35883" y="9302"/>
                    </a:cubicBezTo>
                    <a:cubicBezTo>
                      <a:pt x="45182" y="18602"/>
                      <a:pt x="45181" y="33680"/>
                      <a:pt x="35881" y="42980"/>
                    </a:cubicBezTo>
                    <a:lnTo>
                      <a:pt x="33338" y="45189"/>
                    </a:lnTo>
                  </a:path>
                </a:pathLst>
              </a:custGeom>
              <a:noFill/>
              <a:ln w="9525">
                <a:solidFill>
                  <a:srgbClr val="E04C2E"/>
                </a:solidFill>
              </a:ln>
            </p:spPr>
          </p:sp>
          <p:sp>
            <p:nvSpPr>
              <p:cNvPr id="66" name="Freeform 66"/>
              <p:cNvSpPr/>
              <p:nvPr/>
            </p:nvSpPr>
            <p:spPr>
              <a:xfrm>
                <a:off x="342899" y="3290888"/>
                <a:ext cx="42863" cy="45179"/>
              </a:xfrm>
              <a:custGeom>
                <a:avLst/>
                <a:gdLst/>
                <a:ahLst/>
                <a:cxnLst/>
                <a:rect l="l" t="t" r="r" b="b"/>
                <a:pathLst>
                  <a:path w="42863" h="45179">
                    <a:moveTo>
                      <a:pt x="42863" y="33338"/>
                    </a:moveTo>
                    <a:lnTo>
                      <a:pt x="40972" y="35881"/>
                    </a:lnTo>
                    <a:cubicBezTo>
                      <a:pt x="31569" y="45179"/>
                      <a:pt x="16434" y="45179"/>
                      <a:pt x="7030" y="35881"/>
                    </a:cubicBezTo>
                    <a:cubicBezTo>
                      <a:pt x="2532" y="31433"/>
                      <a:pt x="0" y="25369"/>
                      <a:pt x="0" y="19043"/>
                    </a:cubicBezTo>
                    <a:cubicBezTo>
                      <a:pt x="0" y="12716"/>
                      <a:pt x="2532" y="6653"/>
                      <a:pt x="7030" y="2205"/>
                    </a:cubicBezTo>
                    <a:lnTo>
                      <a:pt x="9526" y="0"/>
                    </a:lnTo>
                  </a:path>
                </a:pathLst>
              </a:custGeom>
              <a:noFill/>
              <a:ln w="9525">
                <a:solidFill>
                  <a:srgbClr val="E04C2E"/>
                </a:solidFill>
              </a:ln>
            </p:spPr>
          </p:sp>
        </p:grpSp>
        <p:sp>
          <p:nvSpPr>
            <p:cNvPr id="68" name="TextBox 68"/>
            <p:cNvSpPr txBox="1"/>
            <p:nvPr/>
          </p:nvSpPr>
          <p:spPr>
            <a:xfrm>
              <a:off x="471488" y="3260884"/>
              <a:ext cx="467233"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产业链资金</a:t>
              </a:r>
            </a:p>
          </p:txBody>
        </p:sp>
        <p:sp>
          <p:nvSpPr>
            <p:cNvPr id="69" name="Rectangle 69"/>
            <p:cNvSpPr/>
            <p:nvPr/>
          </p:nvSpPr>
          <p:spPr>
            <a:xfrm>
              <a:off x="1143000" y="3228975"/>
              <a:ext cx="514350" cy="133350"/>
            </a:xfrm>
            <a:prstGeom prst="rect">
              <a:avLst/>
            </a:prstGeom>
            <a:solidFill>
              <a:srgbClr val="E04C2E"/>
            </a:solidFill>
            <a:ln>
              <a:noFill/>
            </a:ln>
          </p:spPr>
        </p:sp>
        <p:sp>
          <p:nvSpPr>
            <p:cNvPr id="70" name="TextBox 70"/>
            <p:cNvSpPr txBox="1"/>
            <p:nvPr/>
          </p:nvSpPr>
          <p:spPr>
            <a:xfrm>
              <a:off x="1195388" y="3264932"/>
              <a:ext cx="226640" cy="126206"/>
            </a:xfrm>
            <a:prstGeom prst="rect">
              <a:avLst/>
            </a:prstGeom>
            <a:noFill/>
            <a:ln>
              <a:noFill/>
            </a:ln>
          </p:spPr>
          <p:txBody>
            <a:bodyPr wrap="none" lIns="0" tIns="0" rIns="0" bIns="0" anchor="t" anchorCtr="0">
              <a:spAutoFit/>
            </a:bodyPr>
            <a:lstStyle/>
            <a:p>
              <a:pPr algn="l"/>
              <a:r>
                <a:rPr lang="zh-CN" sz="640" b="1" dirty="0">
                  <a:solidFill>
                    <a:srgbClr val="FFFFFF"/>
                  </a:solidFill>
                  <a:latin typeface="+mn-lt"/>
                  <a:ea typeface="+mn-ea"/>
                  <a:cs typeface="+mn-cs"/>
                </a:rPr>
                <a:t>18%​</a:t>
              </a:r>
            </a:p>
          </p:txBody>
        </p:sp>
        <p:sp>
          <p:nvSpPr>
            <p:cNvPr id="71" name="TextBox 71"/>
            <p:cNvSpPr txBox="1"/>
            <p:nvPr/>
          </p:nvSpPr>
          <p:spPr>
            <a:xfrm>
              <a:off x="2185988" y="3273028"/>
              <a:ext cx="763397" cy="111919"/>
            </a:xfrm>
            <a:prstGeom prst="rect">
              <a:avLst/>
            </a:prstGeom>
            <a:noFill/>
            <a:ln>
              <a:noFill/>
            </a:ln>
          </p:spPr>
          <p:txBody>
            <a:bodyPr wrap="none" lIns="0" tIns="0" rIns="0" bIns="0" anchor="t" anchorCtr="0">
              <a:spAutoFit/>
            </a:bodyPr>
            <a:lstStyle/>
            <a:p>
              <a:pPr algn="l"/>
              <a:r>
                <a:rPr lang="zh-CN" sz="560" dirty="0">
                  <a:solidFill>
                    <a:srgbClr val="987F7A"/>
                  </a:solidFill>
                  <a:latin typeface="+mn-lt"/>
                  <a:ea typeface="+mn-ea"/>
                  <a:cs typeface="+mn-cs"/>
                </a:rPr>
                <a:t>供应链上下游资金沉淀</a:t>
              </a:r>
            </a:p>
          </p:txBody>
        </p:sp>
        <p:grpSp>
          <p:nvGrpSpPr>
            <p:cNvPr id="74" name="Group 74"/>
            <p:cNvGrpSpPr/>
            <p:nvPr/>
          </p:nvGrpSpPr>
          <p:grpSpPr>
            <a:xfrm>
              <a:off x="331710" y="3557588"/>
              <a:ext cx="93003" cy="85724"/>
              <a:chOff x="331710" y="3557588"/>
              <a:chExt cx="93003" cy="85724"/>
            </a:xfrm>
          </p:grpSpPr>
          <p:sp>
            <p:nvSpPr>
              <p:cNvPr id="72" name="Freeform 72"/>
              <p:cNvSpPr/>
              <p:nvPr/>
            </p:nvSpPr>
            <p:spPr>
              <a:xfrm>
                <a:off x="331710" y="3557588"/>
                <a:ext cx="93003" cy="84992"/>
              </a:xfrm>
              <a:custGeom>
                <a:avLst/>
                <a:gdLst/>
                <a:ahLst/>
                <a:cxnLst/>
                <a:rect l="l" t="t" r="r" b="b"/>
                <a:pathLst>
                  <a:path w="93003" h="84992">
                    <a:moveTo>
                      <a:pt x="46718" y="84992"/>
                    </a:moveTo>
                    <a:cubicBezTo>
                      <a:pt x="16883" y="75743"/>
                      <a:pt x="0" y="44255"/>
                      <a:pt x="8808" y="14288"/>
                    </a:cubicBezTo>
                    <a:cubicBezTo>
                      <a:pt x="23646" y="14966"/>
                      <a:pt x="38165" y="9842"/>
                      <a:pt x="49290" y="0"/>
                    </a:cubicBezTo>
                    <a:cubicBezTo>
                      <a:pt x="60414" y="9842"/>
                      <a:pt x="74933" y="14966"/>
                      <a:pt x="89771" y="14288"/>
                    </a:cubicBezTo>
                    <a:cubicBezTo>
                      <a:pt x="93003" y="25285"/>
                      <a:pt x="92854" y="37000"/>
                      <a:pt x="89342" y="47911"/>
                    </a:cubicBezTo>
                  </a:path>
                </a:pathLst>
              </a:custGeom>
              <a:noFill/>
              <a:ln w="9525">
                <a:solidFill>
                  <a:srgbClr val="E04C2E"/>
                </a:solidFill>
              </a:ln>
            </p:spPr>
          </p:sp>
          <p:sp>
            <p:nvSpPr>
              <p:cNvPr id="73" name="Freeform 73"/>
              <p:cNvSpPr/>
              <p:nvPr/>
            </p:nvSpPr>
            <p:spPr>
              <a:xfrm>
                <a:off x="395288" y="3624262"/>
                <a:ext cx="28575" cy="19050"/>
              </a:xfrm>
              <a:custGeom>
                <a:avLst/>
                <a:gdLst/>
                <a:ahLst/>
                <a:cxnLst/>
                <a:rect l="l" t="t" r="r" b="b"/>
                <a:pathLst>
                  <a:path w="28575" h="19050">
                    <a:moveTo>
                      <a:pt x="0" y="9525"/>
                    </a:moveTo>
                    <a:lnTo>
                      <a:pt x="9525" y="19050"/>
                    </a:lnTo>
                    <a:lnTo>
                      <a:pt x="28575" y="0"/>
                    </a:lnTo>
                  </a:path>
                </a:pathLst>
              </a:custGeom>
              <a:noFill/>
              <a:ln w="9525">
                <a:solidFill>
                  <a:srgbClr val="E04C2E"/>
                </a:solidFill>
              </a:ln>
            </p:spPr>
          </p:sp>
        </p:grpSp>
        <p:sp>
          <p:nvSpPr>
            <p:cNvPr id="75" name="TextBox 75"/>
            <p:cNvSpPr txBox="1"/>
            <p:nvPr/>
          </p:nvSpPr>
          <p:spPr>
            <a:xfrm>
              <a:off x="471488" y="3565684"/>
              <a:ext cx="650316"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监管及交易资金</a:t>
              </a:r>
            </a:p>
          </p:txBody>
        </p:sp>
        <p:sp>
          <p:nvSpPr>
            <p:cNvPr id="76" name="Rectangle 76"/>
            <p:cNvSpPr/>
            <p:nvPr/>
          </p:nvSpPr>
          <p:spPr>
            <a:xfrm>
              <a:off x="1143000" y="3533775"/>
              <a:ext cx="400050" cy="133350"/>
            </a:xfrm>
            <a:prstGeom prst="rect">
              <a:avLst/>
            </a:prstGeom>
            <a:solidFill>
              <a:srgbClr val="E8735B"/>
            </a:solidFill>
            <a:ln>
              <a:noFill/>
            </a:ln>
          </p:spPr>
        </p:sp>
        <p:sp>
          <p:nvSpPr>
            <p:cNvPr id="77" name="TextBox 77"/>
            <p:cNvSpPr txBox="1"/>
            <p:nvPr/>
          </p:nvSpPr>
          <p:spPr>
            <a:xfrm>
              <a:off x="1195388" y="3569732"/>
              <a:ext cx="226640" cy="126206"/>
            </a:xfrm>
            <a:prstGeom prst="rect">
              <a:avLst/>
            </a:prstGeom>
            <a:noFill/>
            <a:ln>
              <a:noFill/>
            </a:ln>
          </p:spPr>
          <p:txBody>
            <a:bodyPr wrap="none" lIns="0" tIns="0" rIns="0" bIns="0" anchor="t" anchorCtr="0">
              <a:spAutoFit/>
            </a:bodyPr>
            <a:lstStyle/>
            <a:p>
              <a:pPr algn="l"/>
              <a:r>
                <a:rPr lang="zh-CN" sz="640" b="1" dirty="0">
                  <a:solidFill>
                    <a:srgbClr val="FFFFFF"/>
                  </a:solidFill>
                  <a:latin typeface="+mn-lt"/>
                  <a:ea typeface="+mn-ea"/>
                  <a:cs typeface="+mn-cs"/>
                </a:rPr>
                <a:t>14%​</a:t>
              </a:r>
            </a:p>
          </p:txBody>
        </p:sp>
        <p:sp>
          <p:nvSpPr>
            <p:cNvPr id="78" name="TextBox 78"/>
            <p:cNvSpPr txBox="1"/>
            <p:nvPr/>
          </p:nvSpPr>
          <p:spPr>
            <a:xfrm>
              <a:off x="2185988" y="3577828"/>
              <a:ext cx="838784" cy="111919"/>
            </a:xfrm>
            <a:prstGeom prst="rect">
              <a:avLst/>
            </a:prstGeom>
            <a:noFill/>
            <a:ln>
              <a:noFill/>
            </a:ln>
          </p:spPr>
          <p:txBody>
            <a:bodyPr wrap="none" lIns="0" tIns="0" rIns="0" bIns="0" anchor="t" anchorCtr="0">
              <a:spAutoFit/>
            </a:bodyPr>
            <a:lstStyle/>
            <a:p>
              <a:pPr algn="l"/>
              <a:r>
                <a:rPr lang="zh-CN" sz="560" dirty="0">
                  <a:solidFill>
                    <a:srgbClr val="987F7A"/>
                  </a:solidFill>
                  <a:latin typeface="+mn-lt"/>
                  <a:ea typeface="+mn-ea"/>
                  <a:cs typeface="+mn-cs"/>
                </a:rPr>
                <a:t>财政、保证金、备付金等</a:t>
              </a:r>
            </a:p>
          </p:txBody>
        </p:sp>
        <p:grpSp>
          <p:nvGrpSpPr>
            <p:cNvPr id="84" name="Group 84"/>
            <p:cNvGrpSpPr/>
            <p:nvPr/>
          </p:nvGrpSpPr>
          <p:grpSpPr>
            <a:xfrm>
              <a:off x="338138" y="3862388"/>
              <a:ext cx="85724" cy="85724"/>
              <a:chOff x="338138" y="3862388"/>
              <a:chExt cx="85724" cy="85724"/>
            </a:xfrm>
          </p:grpSpPr>
          <p:sp>
            <p:nvSpPr>
              <p:cNvPr id="79" name="Freeform 79"/>
              <p:cNvSpPr/>
              <p:nvPr/>
            </p:nvSpPr>
            <p:spPr>
              <a:xfrm>
                <a:off x="371475" y="3862388"/>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E04C2E"/>
                </a:solidFill>
              </a:ln>
            </p:spPr>
          </p:sp>
          <p:sp>
            <p:nvSpPr>
              <p:cNvPr id="80" name="Freeform 80"/>
              <p:cNvSpPr/>
              <p:nvPr/>
            </p:nvSpPr>
            <p:spPr>
              <a:xfrm>
                <a:off x="338138" y="3929062"/>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E04C2E"/>
                </a:solidFill>
              </a:ln>
            </p:spPr>
          </p:sp>
          <p:sp>
            <p:nvSpPr>
              <p:cNvPr id="81" name="Freeform 81"/>
              <p:cNvSpPr/>
              <p:nvPr/>
            </p:nvSpPr>
            <p:spPr>
              <a:xfrm>
                <a:off x="404812" y="3929062"/>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E04C2E"/>
                </a:solidFill>
              </a:ln>
            </p:spPr>
          </p:sp>
          <p:sp>
            <p:nvSpPr>
              <p:cNvPr id="82" name="Freeform 82"/>
              <p:cNvSpPr/>
              <p:nvPr/>
            </p:nvSpPr>
            <p:spPr>
              <a:xfrm>
                <a:off x="354806" y="3910012"/>
                <a:ext cx="52388" cy="21431"/>
              </a:xfrm>
              <a:custGeom>
                <a:avLst/>
                <a:gdLst/>
                <a:ahLst/>
                <a:cxnLst/>
                <a:rect l="l" t="t" r="r" b="b"/>
                <a:pathLst>
                  <a:path w="52388" h="21431">
                    <a:moveTo>
                      <a:pt x="0" y="21431"/>
                    </a:moveTo>
                    <a:lnTo>
                      <a:pt x="26194" y="0"/>
                    </a:lnTo>
                    <a:lnTo>
                      <a:pt x="52388" y="21431"/>
                    </a:lnTo>
                  </a:path>
                </a:pathLst>
              </a:custGeom>
              <a:noFill/>
              <a:ln w="9525">
                <a:solidFill>
                  <a:srgbClr val="E04C2E"/>
                </a:solidFill>
              </a:ln>
            </p:spPr>
          </p:sp>
          <p:sp>
            <p:nvSpPr>
              <p:cNvPr id="83" name="Freeform 83"/>
              <p:cNvSpPr/>
              <p:nvPr/>
            </p:nvSpPr>
            <p:spPr>
              <a:xfrm>
                <a:off x="381000" y="3881438"/>
                <a:ext cx="9525" cy="28575"/>
              </a:xfrm>
              <a:custGeom>
                <a:avLst/>
                <a:gdLst/>
                <a:ahLst/>
                <a:cxnLst/>
                <a:rect l="l" t="t" r="r" b="b"/>
                <a:pathLst>
                  <a:path w="9525" h="28575">
                    <a:moveTo>
                      <a:pt x="0" y="0"/>
                    </a:moveTo>
                    <a:lnTo>
                      <a:pt x="0" y="28575"/>
                    </a:lnTo>
                  </a:path>
                </a:pathLst>
              </a:custGeom>
              <a:noFill/>
              <a:ln w="9525">
                <a:solidFill>
                  <a:srgbClr val="E04C2E"/>
                </a:solidFill>
              </a:ln>
            </p:spPr>
          </p:sp>
        </p:grpSp>
        <p:sp>
          <p:nvSpPr>
            <p:cNvPr id="85" name="TextBox 85"/>
            <p:cNvSpPr txBox="1"/>
            <p:nvPr/>
          </p:nvSpPr>
          <p:spPr>
            <a:xfrm>
              <a:off x="471488" y="3870484"/>
              <a:ext cx="192608"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其他</a:t>
              </a:r>
            </a:p>
          </p:txBody>
        </p:sp>
        <p:sp>
          <p:nvSpPr>
            <p:cNvPr id="86" name="Rectangle 86"/>
            <p:cNvSpPr/>
            <p:nvPr/>
          </p:nvSpPr>
          <p:spPr>
            <a:xfrm>
              <a:off x="1143000" y="3838575"/>
              <a:ext cx="285750" cy="133350"/>
            </a:xfrm>
            <a:prstGeom prst="rect">
              <a:avLst/>
            </a:prstGeom>
            <a:solidFill>
              <a:srgbClr val="DC9C8F"/>
            </a:solidFill>
            <a:ln>
              <a:noFill/>
            </a:ln>
          </p:spPr>
        </p:sp>
        <p:sp>
          <p:nvSpPr>
            <p:cNvPr id="87" name="TextBox 87"/>
            <p:cNvSpPr txBox="1"/>
            <p:nvPr/>
          </p:nvSpPr>
          <p:spPr>
            <a:xfrm>
              <a:off x="1195388" y="3874532"/>
              <a:ext cx="226640" cy="126206"/>
            </a:xfrm>
            <a:prstGeom prst="rect">
              <a:avLst/>
            </a:prstGeom>
            <a:noFill/>
            <a:ln>
              <a:noFill/>
            </a:ln>
          </p:spPr>
          <p:txBody>
            <a:bodyPr wrap="none" lIns="0" tIns="0" rIns="0" bIns="0" anchor="t" anchorCtr="0">
              <a:spAutoFit/>
            </a:bodyPr>
            <a:lstStyle/>
            <a:p>
              <a:pPr algn="l"/>
              <a:r>
                <a:rPr lang="zh-CN" sz="640" b="1" dirty="0">
                  <a:solidFill>
                    <a:srgbClr val="FFFFFF"/>
                  </a:solidFill>
                  <a:latin typeface="+mn-lt"/>
                  <a:ea typeface="+mn-ea"/>
                  <a:cs typeface="+mn-cs"/>
                </a:rPr>
                <a:t>10%​</a:t>
              </a:r>
            </a:p>
          </p:txBody>
        </p:sp>
        <p:sp>
          <p:nvSpPr>
            <p:cNvPr id="88" name="TextBox 88"/>
            <p:cNvSpPr txBox="1"/>
            <p:nvPr/>
          </p:nvSpPr>
          <p:spPr>
            <a:xfrm>
              <a:off x="2185988" y="3882628"/>
              <a:ext cx="838784" cy="111919"/>
            </a:xfrm>
            <a:prstGeom prst="rect">
              <a:avLst/>
            </a:prstGeom>
            <a:noFill/>
            <a:ln>
              <a:noFill/>
            </a:ln>
          </p:spPr>
          <p:txBody>
            <a:bodyPr wrap="none" lIns="0" tIns="0" rIns="0" bIns="0" anchor="t" anchorCtr="0">
              <a:spAutoFit/>
            </a:bodyPr>
            <a:lstStyle/>
            <a:p>
              <a:pPr algn="l"/>
              <a:r>
                <a:rPr lang="zh-CN" sz="560" dirty="0">
                  <a:solidFill>
                    <a:srgbClr val="987F7A"/>
                  </a:solidFill>
                  <a:latin typeface="+mn-lt"/>
                  <a:ea typeface="+mn-ea"/>
                  <a:cs typeface="+mn-cs"/>
                </a:rPr>
                <a:t>保证金、押金、其他沉淀</a:t>
              </a:r>
            </a:p>
          </p:txBody>
        </p:sp>
        <p:sp>
          <p:nvSpPr>
            <p:cNvPr id="89" name="Line 89"/>
            <p:cNvSpPr/>
            <p:nvPr/>
          </p:nvSpPr>
          <p:spPr>
            <a:xfrm>
              <a:off x="323850" y="4076700"/>
              <a:ext cx="2857500" cy="9525"/>
            </a:xfrm>
            <a:custGeom>
              <a:avLst/>
              <a:gdLst/>
              <a:ahLst/>
              <a:cxnLst/>
              <a:rect l="l" t="t" r="r" b="b"/>
              <a:pathLst>
                <a:path w="2857500" h="9525">
                  <a:moveTo>
                    <a:pt x="0" y="0"/>
                  </a:moveTo>
                  <a:lnTo>
                    <a:pt x="2857500" y="0"/>
                  </a:lnTo>
                </a:path>
              </a:pathLst>
            </a:custGeom>
            <a:noFill/>
            <a:ln w="9525">
              <a:solidFill>
                <a:srgbClr val="C9D6E9"/>
              </a:solidFill>
            </a:ln>
          </p:spPr>
        </p:sp>
        <p:sp>
          <p:nvSpPr>
            <p:cNvPr id="90" name="TextBox 90"/>
            <p:cNvSpPr txBox="1"/>
            <p:nvPr/>
          </p:nvSpPr>
          <p:spPr>
            <a:xfrm>
              <a:off x="471488" y="4190286"/>
              <a:ext cx="200685" cy="140494"/>
            </a:xfrm>
            <a:prstGeom prst="rect">
              <a:avLst/>
            </a:prstGeom>
            <a:noFill/>
            <a:ln>
              <a:noFill/>
            </a:ln>
          </p:spPr>
          <p:txBody>
            <a:bodyPr wrap="none" lIns="0" tIns="0" rIns="0" bIns="0" anchor="t" anchorCtr="0">
              <a:spAutoFit/>
            </a:bodyPr>
            <a:lstStyle/>
            <a:p>
              <a:pPr algn="l"/>
              <a:r>
                <a:rPr lang="zh-CN" sz="710" b="1" dirty="0">
                  <a:solidFill>
                    <a:srgbClr val="69281B"/>
                  </a:solidFill>
                  <a:latin typeface="+mn-lt"/>
                  <a:ea typeface="+mn-ea"/>
                  <a:cs typeface="+mn-cs"/>
                </a:rPr>
                <a:t>合计</a:t>
              </a:r>
            </a:p>
          </p:txBody>
        </p:sp>
        <p:sp>
          <p:nvSpPr>
            <p:cNvPr id="91" name="TextBox 91"/>
            <p:cNvSpPr txBox="1"/>
            <p:nvPr/>
          </p:nvSpPr>
          <p:spPr>
            <a:xfrm>
              <a:off x="1195388" y="4190286"/>
              <a:ext cx="305585" cy="140494"/>
            </a:xfrm>
            <a:prstGeom prst="rect">
              <a:avLst/>
            </a:prstGeom>
            <a:noFill/>
            <a:ln>
              <a:noFill/>
            </a:ln>
          </p:spPr>
          <p:txBody>
            <a:bodyPr wrap="none" lIns="0" tIns="0" rIns="0" bIns="0" anchor="t" anchorCtr="0">
              <a:spAutoFit/>
            </a:bodyPr>
            <a:lstStyle/>
            <a:p>
              <a:pPr algn="l"/>
              <a:r>
                <a:rPr lang="zh-CN" sz="710" b="1" dirty="0">
                  <a:solidFill>
                    <a:srgbClr val="69281B"/>
                  </a:solidFill>
                  <a:latin typeface="+mn-lt"/>
                  <a:ea typeface="+mn-ea"/>
                  <a:cs typeface="+mn-cs"/>
                </a:rPr>
                <a:t>100%​</a:t>
              </a:r>
            </a:p>
          </p:txBody>
        </p:sp>
        <p:sp>
          <p:nvSpPr>
            <p:cNvPr id="92" name="TextBox 92"/>
            <p:cNvSpPr txBox="1"/>
            <p:nvPr/>
          </p:nvSpPr>
          <p:spPr>
            <a:xfrm>
              <a:off x="2023163" y="4206478"/>
              <a:ext cx="1162949" cy="111919"/>
            </a:xfrm>
            <a:prstGeom prst="rect">
              <a:avLst/>
            </a:prstGeom>
            <a:noFill/>
            <a:ln>
              <a:noFill/>
            </a:ln>
          </p:spPr>
          <p:txBody>
            <a:bodyPr wrap="none" lIns="0" tIns="0" rIns="0" bIns="0" anchor="t" anchorCtr="0">
              <a:spAutoFit/>
            </a:bodyPr>
            <a:lstStyle/>
            <a:p>
              <a:pPr algn="r"/>
              <a:r>
                <a:rPr lang="zh-CN" sz="560" dirty="0">
                  <a:solidFill>
                    <a:srgbClr val="BEA09A"/>
                  </a:solidFill>
                  <a:latin typeface="+mn-lt"/>
                  <a:ea typeface="+mn-ea"/>
                  <a:cs typeface="+mn-cs"/>
                </a:rPr>
                <a:t>数据口径：2026年6月末（示例）​</a:t>
              </a:r>
            </a:p>
          </p:txBody>
        </p:sp>
      </p:grpSp>
      <p:grpSp>
        <p:nvGrpSpPr>
          <p:cNvPr id="211" name="flywheel"/>
          <p:cNvGrpSpPr/>
          <p:nvPr/>
        </p:nvGrpSpPr>
        <p:grpSpPr>
          <a:xfrm>
            <a:off x="3390900" y="685800"/>
            <a:ext cx="4476750" cy="3790950"/>
            <a:chOff x="3390900" y="685800"/>
            <a:chExt cx="4476750" cy="3790950"/>
          </a:xfrm>
        </p:grpSpPr>
        <p:sp>
          <p:nvSpPr>
            <p:cNvPr id="94" name="Rectangle 94"/>
            <p:cNvSpPr/>
            <p:nvPr/>
          </p:nvSpPr>
          <p:spPr>
            <a:xfrm>
              <a:off x="3390900" y="685800"/>
              <a:ext cx="4476750" cy="3790950"/>
            </a:xfrm>
            <a:prstGeom prst="roundRect">
              <a:avLst>
                <a:gd name="adj" fmla="val 1508"/>
              </a:avLst>
            </a:prstGeom>
            <a:solidFill>
              <a:srgbClr val="FFFFFF"/>
            </a:solidFill>
            <a:ln w="9525">
              <a:solidFill>
                <a:srgbClr val="C9D6E9"/>
              </a:solidFill>
            </a:ln>
          </p:spPr>
        </p:sp>
        <p:sp>
          <p:nvSpPr>
            <p:cNvPr id="95" name="Rectangle 95"/>
            <p:cNvSpPr/>
            <p:nvPr/>
          </p:nvSpPr>
          <p:spPr>
            <a:xfrm>
              <a:off x="3390900" y="685800"/>
              <a:ext cx="4476750" cy="209550"/>
            </a:xfrm>
            <a:prstGeom prst="roundRect">
              <a:avLst>
                <a:gd name="adj" fmla="val 27273"/>
              </a:avLst>
            </a:prstGeom>
            <a:solidFill>
              <a:srgbClr val="69281B"/>
            </a:solidFill>
            <a:ln>
              <a:noFill/>
            </a:ln>
          </p:spPr>
        </p:sp>
        <p:sp>
          <p:nvSpPr>
            <p:cNvPr id="96" name="Rectangle 96"/>
            <p:cNvSpPr/>
            <p:nvPr/>
          </p:nvSpPr>
          <p:spPr>
            <a:xfrm>
              <a:off x="3390900" y="800100"/>
              <a:ext cx="4476750" cy="95250"/>
            </a:xfrm>
            <a:prstGeom prst="rect">
              <a:avLst/>
            </a:prstGeom>
            <a:solidFill>
              <a:srgbClr val="69281B"/>
            </a:solidFill>
            <a:ln>
              <a:noFill/>
            </a:ln>
          </p:spPr>
        </p:sp>
        <p:sp>
          <p:nvSpPr>
            <p:cNvPr id="97" name="TextBox 97"/>
            <p:cNvSpPr txBox="1"/>
            <p:nvPr/>
          </p:nvSpPr>
          <p:spPr>
            <a:xfrm>
              <a:off x="4834683" y="739616"/>
              <a:ext cx="158918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“客户—场景—产品”三层增长飞轮</a:t>
              </a:r>
            </a:p>
          </p:txBody>
        </p:sp>
        <p:sp>
          <p:nvSpPr>
            <p:cNvPr id="98" name="Freeform 98"/>
            <p:cNvSpPr/>
            <p:nvPr/>
          </p:nvSpPr>
          <p:spPr>
            <a:xfrm>
              <a:off x="3466703" y="1238250"/>
              <a:ext cx="686197" cy="2095500"/>
            </a:xfrm>
            <a:custGeom>
              <a:avLst/>
              <a:gdLst/>
              <a:ahLst/>
              <a:cxnLst/>
              <a:rect l="l" t="t" r="r" b="b"/>
              <a:pathLst>
                <a:path w="686197" h="2095500">
                  <a:moveTo>
                    <a:pt x="686197" y="0"/>
                  </a:moveTo>
                  <a:cubicBezTo>
                    <a:pt x="269444" y="181698"/>
                    <a:pt x="0" y="593111"/>
                    <a:pt x="0" y="1047750"/>
                  </a:cubicBezTo>
                  <a:cubicBezTo>
                    <a:pt x="0" y="1502389"/>
                    <a:pt x="269444" y="1913802"/>
                    <a:pt x="686197" y="2095500"/>
                  </a:cubicBezTo>
                </a:path>
              </a:pathLst>
            </a:custGeom>
            <a:noFill/>
            <a:ln w="38100">
              <a:solidFill>
                <a:srgbClr val="EBC1B8"/>
              </a:solidFill>
              <a:tailEnd type="triangle" w="lg" len="lg"/>
            </a:ln>
          </p:spPr>
        </p:sp>
        <p:sp>
          <p:nvSpPr>
            <p:cNvPr id="99" name="Freeform 99"/>
            <p:cNvSpPr/>
            <p:nvPr/>
          </p:nvSpPr>
          <p:spPr>
            <a:xfrm>
              <a:off x="7105650" y="1238250"/>
              <a:ext cx="686197" cy="2095500"/>
            </a:xfrm>
            <a:custGeom>
              <a:avLst/>
              <a:gdLst/>
              <a:ahLst/>
              <a:cxnLst/>
              <a:rect l="l" t="t" r="r" b="b"/>
              <a:pathLst>
                <a:path w="686197" h="2095500">
                  <a:moveTo>
                    <a:pt x="0" y="2095500"/>
                  </a:moveTo>
                  <a:cubicBezTo>
                    <a:pt x="416753" y="1913802"/>
                    <a:pt x="686197" y="1502389"/>
                    <a:pt x="686197" y="1047750"/>
                  </a:cubicBezTo>
                  <a:cubicBezTo>
                    <a:pt x="686197" y="593111"/>
                    <a:pt x="416753" y="181698"/>
                    <a:pt x="0" y="0"/>
                  </a:cubicBezTo>
                </a:path>
              </a:pathLst>
            </a:custGeom>
            <a:noFill/>
            <a:ln w="38100">
              <a:solidFill>
                <a:srgbClr val="EBC1B8"/>
              </a:solidFill>
              <a:tailEnd type="triangle" w="lg" len="lg"/>
            </a:ln>
          </p:spPr>
        </p:sp>
        <p:sp>
          <p:nvSpPr>
            <p:cNvPr id="100" name="TextBox 100"/>
            <p:cNvSpPr txBox="1"/>
            <p:nvPr/>
          </p:nvSpPr>
          <p:spPr>
            <a:xfrm>
              <a:off x="3538538" y="1180386"/>
              <a:ext cx="296266" cy="140494"/>
            </a:xfrm>
            <a:prstGeom prst="rect">
              <a:avLst/>
            </a:prstGeom>
            <a:noFill/>
            <a:ln>
              <a:noFill/>
            </a:ln>
          </p:spPr>
          <p:txBody>
            <a:bodyPr wrap="none" lIns="0" tIns="0" rIns="0" bIns="0" anchor="t" anchorCtr="0">
              <a:spAutoFit/>
            </a:bodyPr>
            <a:lstStyle/>
            <a:p>
              <a:pPr algn="l"/>
              <a:r>
                <a:rPr lang="zh-CN" sz="710" b="1" dirty="0">
                  <a:solidFill>
                    <a:srgbClr val="69281B"/>
                  </a:solidFill>
                  <a:latin typeface="+mn-lt"/>
                  <a:ea typeface="+mn-ea"/>
                  <a:cs typeface="+mn-cs"/>
                </a:rPr>
                <a:t>客户层</a:t>
              </a:r>
            </a:p>
          </p:txBody>
        </p:sp>
        <p:sp>
          <p:nvSpPr>
            <p:cNvPr id="101" name="TextBox 101"/>
            <p:cNvSpPr txBox="1"/>
            <p:nvPr/>
          </p:nvSpPr>
          <p:spPr>
            <a:xfrm>
              <a:off x="3538538" y="1324451"/>
              <a:ext cx="289535" cy="104775"/>
            </a:xfrm>
            <a:prstGeom prst="rect">
              <a:avLst/>
            </a:prstGeom>
            <a:noFill/>
            <a:ln>
              <a:noFill/>
            </a:ln>
          </p:spPr>
          <p:txBody>
            <a:bodyPr wrap="none" lIns="0" tIns="0" rIns="0" bIns="0" anchor="t" anchorCtr="0">
              <a:spAutoFit/>
            </a:bodyPr>
            <a:lstStyle/>
            <a:p>
              <a:pPr algn="l"/>
              <a:r>
                <a:rPr lang="zh-CN" sz="520" dirty="0">
                  <a:solidFill>
                    <a:srgbClr val="987F7A"/>
                  </a:solidFill>
                  <a:latin typeface="+mn-lt"/>
                  <a:ea typeface="+mn-ea"/>
                  <a:cs typeface="+mn-cs"/>
                </a:rPr>
                <a:t>精准客群</a:t>
              </a:r>
            </a:p>
          </p:txBody>
        </p:sp>
        <p:sp>
          <p:nvSpPr>
            <p:cNvPr id="102" name="TextBox 102"/>
            <p:cNvSpPr txBox="1"/>
            <p:nvPr/>
          </p:nvSpPr>
          <p:spPr>
            <a:xfrm>
              <a:off x="3538538" y="1419701"/>
              <a:ext cx="289535" cy="104775"/>
            </a:xfrm>
            <a:prstGeom prst="rect">
              <a:avLst/>
            </a:prstGeom>
            <a:noFill/>
            <a:ln>
              <a:noFill/>
            </a:ln>
          </p:spPr>
          <p:txBody>
            <a:bodyPr wrap="none" lIns="0" tIns="0" rIns="0" bIns="0" anchor="t" anchorCtr="0">
              <a:spAutoFit/>
            </a:bodyPr>
            <a:lstStyle/>
            <a:p>
              <a:pPr algn="l"/>
              <a:r>
                <a:rPr lang="zh-CN" sz="520" dirty="0">
                  <a:solidFill>
                    <a:srgbClr val="987F7A"/>
                  </a:solidFill>
                  <a:latin typeface="+mn-lt"/>
                  <a:ea typeface="+mn-ea"/>
                  <a:cs typeface="+mn-cs"/>
                </a:rPr>
                <a:t>分层经营</a:t>
              </a:r>
            </a:p>
          </p:txBody>
        </p:sp>
        <p:sp>
          <p:nvSpPr>
            <p:cNvPr id="103" name="Rectangle 103"/>
            <p:cNvSpPr/>
            <p:nvPr/>
          </p:nvSpPr>
          <p:spPr>
            <a:xfrm>
              <a:off x="4191000" y="1028700"/>
              <a:ext cx="723900" cy="514350"/>
            </a:xfrm>
            <a:prstGeom prst="roundRect">
              <a:avLst>
                <a:gd name="adj" fmla="val 7407"/>
              </a:avLst>
            </a:prstGeom>
            <a:solidFill>
              <a:srgbClr val="F5F8FD"/>
            </a:solidFill>
            <a:ln w="9525">
              <a:solidFill>
                <a:srgbClr val="EBC1B8"/>
              </a:solidFill>
            </a:ln>
          </p:spPr>
        </p:sp>
        <p:grpSp>
          <p:nvGrpSpPr>
            <p:cNvPr id="112" name="Group 112"/>
            <p:cNvGrpSpPr/>
            <p:nvPr/>
          </p:nvGrpSpPr>
          <p:grpSpPr>
            <a:xfrm>
              <a:off x="4488656" y="1107281"/>
              <a:ext cx="130969" cy="138113"/>
              <a:chOff x="4488656" y="1107281"/>
              <a:chExt cx="130969" cy="138113"/>
            </a:xfrm>
          </p:grpSpPr>
          <p:sp>
            <p:nvSpPr>
              <p:cNvPr id="104" name="Freeform 104"/>
              <p:cNvSpPr/>
              <p:nvPr/>
            </p:nvSpPr>
            <p:spPr>
              <a:xfrm>
                <a:off x="4488656" y="1235869"/>
                <a:ext cx="128588" cy="9525"/>
              </a:xfrm>
              <a:custGeom>
                <a:avLst/>
                <a:gdLst/>
                <a:ahLst/>
                <a:cxnLst/>
                <a:rect l="l" t="t" r="r" b="b"/>
                <a:pathLst>
                  <a:path w="128588" h="9525">
                    <a:moveTo>
                      <a:pt x="0" y="0"/>
                    </a:moveTo>
                    <a:lnTo>
                      <a:pt x="128588" y="0"/>
                    </a:lnTo>
                  </a:path>
                </a:pathLst>
              </a:custGeom>
              <a:noFill/>
              <a:ln w="14288">
                <a:solidFill>
                  <a:srgbClr val="69281B"/>
                </a:solidFill>
              </a:ln>
            </p:spPr>
          </p:sp>
          <p:sp>
            <p:nvSpPr>
              <p:cNvPr id="105" name="Freeform 105"/>
              <p:cNvSpPr/>
              <p:nvPr/>
            </p:nvSpPr>
            <p:spPr>
              <a:xfrm>
                <a:off x="4488656" y="1157288"/>
                <a:ext cx="128588" cy="9525"/>
              </a:xfrm>
              <a:custGeom>
                <a:avLst/>
                <a:gdLst/>
                <a:ahLst/>
                <a:cxnLst/>
                <a:rect l="l" t="t" r="r" b="b"/>
                <a:pathLst>
                  <a:path w="128588" h="9525">
                    <a:moveTo>
                      <a:pt x="0" y="0"/>
                    </a:moveTo>
                    <a:lnTo>
                      <a:pt x="128588" y="0"/>
                    </a:lnTo>
                  </a:path>
                </a:pathLst>
              </a:custGeom>
              <a:noFill/>
              <a:ln w="14288">
                <a:solidFill>
                  <a:srgbClr val="69281B"/>
                </a:solidFill>
              </a:ln>
            </p:spPr>
          </p:sp>
          <p:sp>
            <p:nvSpPr>
              <p:cNvPr id="106" name="Freeform 106"/>
              <p:cNvSpPr/>
              <p:nvPr/>
            </p:nvSpPr>
            <p:spPr>
              <a:xfrm>
                <a:off x="4502944" y="1107281"/>
                <a:ext cx="100012" cy="21431"/>
              </a:xfrm>
              <a:custGeom>
                <a:avLst/>
                <a:gdLst/>
                <a:ahLst/>
                <a:cxnLst/>
                <a:rect l="l" t="t" r="r" b="b"/>
                <a:pathLst>
                  <a:path w="100012" h="21431">
                    <a:moveTo>
                      <a:pt x="0" y="21431"/>
                    </a:moveTo>
                    <a:lnTo>
                      <a:pt x="50006" y="0"/>
                    </a:lnTo>
                    <a:lnTo>
                      <a:pt x="100012" y="21431"/>
                    </a:lnTo>
                  </a:path>
                </a:pathLst>
              </a:custGeom>
              <a:noFill/>
              <a:ln w="14288">
                <a:solidFill>
                  <a:srgbClr val="69281B"/>
                </a:solidFill>
              </a:ln>
            </p:spPr>
          </p:sp>
          <p:sp>
            <p:nvSpPr>
              <p:cNvPr id="107" name="Freeform 107"/>
              <p:cNvSpPr/>
              <p:nvPr/>
            </p:nvSpPr>
            <p:spPr>
              <a:xfrm>
                <a:off x="4495800" y="1157288"/>
                <a:ext cx="9525" cy="78581"/>
              </a:xfrm>
              <a:custGeom>
                <a:avLst/>
                <a:gdLst/>
                <a:ahLst/>
                <a:cxnLst/>
                <a:rect l="l" t="t" r="r" b="b"/>
                <a:pathLst>
                  <a:path w="9525" h="78581">
                    <a:moveTo>
                      <a:pt x="0" y="0"/>
                    </a:moveTo>
                    <a:lnTo>
                      <a:pt x="0" y="78581"/>
                    </a:lnTo>
                  </a:path>
                </a:pathLst>
              </a:custGeom>
              <a:noFill/>
              <a:ln w="14288">
                <a:solidFill>
                  <a:srgbClr val="69281B"/>
                </a:solidFill>
              </a:ln>
            </p:spPr>
          </p:sp>
          <p:sp>
            <p:nvSpPr>
              <p:cNvPr id="108" name="Freeform 108"/>
              <p:cNvSpPr/>
              <p:nvPr/>
            </p:nvSpPr>
            <p:spPr>
              <a:xfrm>
                <a:off x="4610100" y="1157288"/>
                <a:ext cx="9525" cy="78581"/>
              </a:xfrm>
              <a:custGeom>
                <a:avLst/>
                <a:gdLst/>
                <a:ahLst/>
                <a:cxnLst/>
                <a:rect l="l" t="t" r="r" b="b"/>
                <a:pathLst>
                  <a:path w="9525" h="78581">
                    <a:moveTo>
                      <a:pt x="0" y="0"/>
                    </a:moveTo>
                    <a:lnTo>
                      <a:pt x="0" y="78581"/>
                    </a:lnTo>
                  </a:path>
                </a:pathLst>
              </a:custGeom>
              <a:noFill/>
              <a:ln w="14288">
                <a:solidFill>
                  <a:srgbClr val="69281B"/>
                </a:solidFill>
              </a:ln>
            </p:spPr>
          </p:sp>
          <p:sp>
            <p:nvSpPr>
              <p:cNvPr id="109" name="Freeform 109"/>
              <p:cNvSpPr/>
              <p:nvPr/>
            </p:nvSpPr>
            <p:spPr>
              <a:xfrm>
                <a:off x="4524375" y="1185862"/>
                <a:ext cx="9525" cy="21431"/>
              </a:xfrm>
              <a:custGeom>
                <a:avLst/>
                <a:gdLst/>
                <a:ahLst/>
                <a:cxnLst/>
                <a:rect l="l" t="t" r="r" b="b"/>
                <a:pathLst>
                  <a:path w="9525" h="21431">
                    <a:moveTo>
                      <a:pt x="0" y="0"/>
                    </a:moveTo>
                    <a:lnTo>
                      <a:pt x="0" y="21431"/>
                    </a:lnTo>
                  </a:path>
                </a:pathLst>
              </a:custGeom>
              <a:noFill/>
              <a:ln w="14288">
                <a:solidFill>
                  <a:srgbClr val="69281B"/>
                </a:solidFill>
              </a:ln>
            </p:spPr>
          </p:sp>
          <p:sp>
            <p:nvSpPr>
              <p:cNvPr id="110" name="Freeform 110"/>
              <p:cNvSpPr/>
              <p:nvPr/>
            </p:nvSpPr>
            <p:spPr>
              <a:xfrm>
                <a:off x="4552950" y="1185862"/>
                <a:ext cx="9525" cy="21431"/>
              </a:xfrm>
              <a:custGeom>
                <a:avLst/>
                <a:gdLst/>
                <a:ahLst/>
                <a:cxnLst/>
                <a:rect l="l" t="t" r="r" b="b"/>
                <a:pathLst>
                  <a:path w="9525" h="21431">
                    <a:moveTo>
                      <a:pt x="0" y="0"/>
                    </a:moveTo>
                    <a:lnTo>
                      <a:pt x="0" y="21431"/>
                    </a:lnTo>
                  </a:path>
                </a:pathLst>
              </a:custGeom>
              <a:noFill/>
              <a:ln w="14288">
                <a:solidFill>
                  <a:srgbClr val="69281B"/>
                </a:solidFill>
              </a:ln>
            </p:spPr>
          </p:sp>
          <p:sp>
            <p:nvSpPr>
              <p:cNvPr id="111" name="Freeform 111"/>
              <p:cNvSpPr/>
              <p:nvPr/>
            </p:nvSpPr>
            <p:spPr>
              <a:xfrm>
                <a:off x="4581525" y="1185862"/>
                <a:ext cx="9525" cy="21431"/>
              </a:xfrm>
              <a:custGeom>
                <a:avLst/>
                <a:gdLst/>
                <a:ahLst/>
                <a:cxnLst/>
                <a:rect l="l" t="t" r="r" b="b"/>
                <a:pathLst>
                  <a:path w="9525" h="21431">
                    <a:moveTo>
                      <a:pt x="0" y="0"/>
                    </a:moveTo>
                    <a:lnTo>
                      <a:pt x="0" y="21431"/>
                    </a:lnTo>
                  </a:path>
                </a:pathLst>
              </a:custGeom>
              <a:noFill/>
              <a:ln w="14288">
                <a:solidFill>
                  <a:srgbClr val="69281B"/>
                </a:solidFill>
              </a:ln>
            </p:spPr>
          </p:sp>
        </p:grpSp>
        <p:sp>
          <p:nvSpPr>
            <p:cNvPr id="113" name="TextBox 113"/>
            <p:cNvSpPr txBox="1"/>
            <p:nvPr/>
          </p:nvSpPr>
          <p:spPr>
            <a:xfrm>
              <a:off x="4375874" y="1378982"/>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核心企业</a:t>
              </a:r>
            </a:p>
          </p:txBody>
        </p:sp>
        <p:sp>
          <p:nvSpPr>
            <p:cNvPr id="114" name="Rectangle 114"/>
            <p:cNvSpPr/>
            <p:nvPr/>
          </p:nvSpPr>
          <p:spPr>
            <a:xfrm>
              <a:off x="5010150" y="1028700"/>
              <a:ext cx="723900" cy="514350"/>
            </a:xfrm>
            <a:prstGeom prst="roundRect">
              <a:avLst>
                <a:gd name="adj" fmla="val 7407"/>
              </a:avLst>
            </a:prstGeom>
            <a:solidFill>
              <a:srgbClr val="F5F8FD"/>
            </a:solidFill>
            <a:ln w="9525">
              <a:solidFill>
                <a:srgbClr val="EBC1B8"/>
              </a:solidFill>
            </a:ln>
          </p:spPr>
        </p:sp>
        <p:grpSp>
          <p:nvGrpSpPr>
            <p:cNvPr id="120" name="Group 120"/>
            <p:cNvGrpSpPr/>
            <p:nvPr/>
          </p:nvGrpSpPr>
          <p:grpSpPr>
            <a:xfrm>
              <a:off x="5307806" y="1107281"/>
              <a:ext cx="128588" cy="128588"/>
              <a:chOff x="5307806" y="1107281"/>
              <a:chExt cx="128588" cy="128588"/>
            </a:xfrm>
          </p:grpSpPr>
          <p:sp>
            <p:nvSpPr>
              <p:cNvPr id="115" name="Freeform 115"/>
              <p:cNvSpPr/>
              <p:nvPr/>
            </p:nvSpPr>
            <p:spPr>
              <a:xfrm>
                <a:off x="5357812" y="11072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69281B"/>
                </a:solidFill>
              </a:ln>
            </p:spPr>
          </p:sp>
          <p:sp>
            <p:nvSpPr>
              <p:cNvPr id="116" name="Freeform 116"/>
              <p:cNvSpPr/>
              <p:nvPr/>
            </p:nvSpPr>
            <p:spPr>
              <a:xfrm>
                <a:off x="5307806" y="12072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69281B"/>
                </a:solidFill>
              </a:ln>
            </p:spPr>
          </p:sp>
          <p:sp>
            <p:nvSpPr>
              <p:cNvPr id="117" name="Freeform 117"/>
              <p:cNvSpPr/>
              <p:nvPr/>
            </p:nvSpPr>
            <p:spPr>
              <a:xfrm>
                <a:off x="5407819" y="12072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69281B"/>
                </a:solidFill>
              </a:ln>
            </p:spPr>
          </p:sp>
          <p:sp>
            <p:nvSpPr>
              <p:cNvPr id="118" name="Freeform 118"/>
              <p:cNvSpPr/>
              <p:nvPr/>
            </p:nvSpPr>
            <p:spPr>
              <a:xfrm>
                <a:off x="5332809" y="1178719"/>
                <a:ext cx="78581" cy="32147"/>
              </a:xfrm>
              <a:custGeom>
                <a:avLst/>
                <a:gdLst/>
                <a:ahLst/>
                <a:cxnLst/>
                <a:rect l="l" t="t" r="r" b="b"/>
                <a:pathLst>
                  <a:path w="78581" h="32147">
                    <a:moveTo>
                      <a:pt x="0" y="32147"/>
                    </a:moveTo>
                    <a:lnTo>
                      <a:pt x="39291" y="0"/>
                    </a:lnTo>
                    <a:lnTo>
                      <a:pt x="78581" y="32147"/>
                    </a:lnTo>
                  </a:path>
                </a:pathLst>
              </a:custGeom>
              <a:noFill/>
              <a:ln w="14288">
                <a:solidFill>
                  <a:srgbClr val="69281B"/>
                </a:solidFill>
              </a:ln>
            </p:spPr>
          </p:sp>
          <p:sp>
            <p:nvSpPr>
              <p:cNvPr id="119" name="Freeform 119"/>
              <p:cNvSpPr/>
              <p:nvPr/>
            </p:nvSpPr>
            <p:spPr>
              <a:xfrm>
                <a:off x="5372100" y="1135856"/>
                <a:ext cx="9525" cy="42862"/>
              </a:xfrm>
              <a:custGeom>
                <a:avLst/>
                <a:gdLst/>
                <a:ahLst/>
                <a:cxnLst/>
                <a:rect l="l" t="t" r="r" b="b"/>
                <a:pathLst>
                  <a:path w="9525" h="42862">
                    <a:moveTo>
                      <a:pt x="0" y="0"/>
                    </a:moveTo>
                    <a:lnTo>
                      <a:pt x="0" y="42862"/>
                    </a:lnTo>
                  </a:path>
                </a:pathLst>
              </a:custGeom>
              <a:noFill/>
              <a:ln w="14288">
                <a:solidFill>
                  <a:srgbClr val="69281B"/>
                </a:solidFill>
              </a:ln>
            </p:spPr>
          </p:sp>
        </p:grpSp>
        <p:sp>
          <p:nvSpPr>
            <p:cNvPr id="121" name="TextBox 121"/>
            <p:cNvSpPr txBox="1"/>
            <p:nvPr/>
          </p:nvSpPr>
          <p:spPr>
            <a:xfrm>
              <a:off x="5195024" y="1378982"/>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链主企业</a:t>
              </a:r>
            </a:p>
          </p:txBody>
        </p:sp>
        <p:sp>
          <p:nvSpPr>
            <p:cNvPr id="122" name="Rectangle 122"/>
            <p:cNvSpPr/>
            <p:nvPr/>
          </p:nvSpPr>
          <p:spPr>
            <a:xfrm>
              <a:off x="5829300" y="1028700"/>
              <a:ext cx="723900" cy="514350"/>
            </a:xfrm>
            <a:prstGeom prst="roundRect">
              <a:avLst>
                <a:gd name="adj" fmla="val 7407"/>
              </a:avLst>
            </a:prstGeom>
            <a:solidFill>
              <a:srgbClr val="F5F8FD"/>
            </a:solidFill>
            <a:ln w="9525">
              <a:solidFill>
                <a:srgbClr val="EBC1B8"/>
              </a:solidFill>
            </a:ln>
          </p:spPr>
        </p:sp>
        <p:grpSp>
          <p:nvGrpSpPr>
            <p:cNvPr id="125" name="Group 125"/>
            <p:cNvGrpSpPr/>
            <p:nvPr/>
          </p:nvGrpSpPr>
          <p:grpSpPr>
            <a:xfrm>
              <a:off x="6119812" y="1121569"/>
              <a:ext cx="142875" cy="100012"/>
              <a:chOff x="6119812" y="1121569"/>
              <a:chExt cx="142875" cy="100012"/>
            </a:xfrm>
          </p:grpSpPr>
          <p:sp>
            <p:nvSpPr>
              <p:cNvPr id="123" name="Freeform 123"/>
              <p:cNvSpPr/>
              <p:nvPr/>
            </p:nvSpPr>
            <p:spPr>
              <a:xfrm>
                <a:off x="6119812" y="1121569"/>
                <a:ext cx="142875" cy="71438"/>
              </a:xfrm>
              <a:custGeom>
                <a:avLst/>
                <a:gdLst/>
                <a:ahLst/>
                <a:cxnLst/>
                <a:rect l="l" t="t" r="r" b="b"/>
                <a:pathLst>
                  <a:path w="142875" h="71438">
                    <a:moveTo>
                      <a:pt x="142875" y="28575"/>
                    </a:moveTo>
                    <a:lnTo>
                      <a:pt x="71438" y="0"/>
                    </a:lnTo>
                    <a:lnTo>
                      <a:pt x="0" y="28575"/>
                    </a:lnTo>
                    <a:lnTo>
                      <a:pt x="71438" y="57150"/>
                    </a:lnTo>
                    <a:lnTo>
                      <a:pt x="142875" y="28575"/>
                    </a:lnTo>
                    <a:lnTo>
                      <a:pt x="142875" y="71438"/>
                    </a:lnTo>
                  </a:path>
                </a:pathLst>
              </a:custGeom>
              <a:noFill/>
              <a:ln w="14288">
                <a:solidFill>
                  <a:srgbClr val="69281B"/>
                </a:solidFill>
              </a:ln>
            </p:spPr>
          </p:sp>
          <p:sp>
            <p:nvSpPr>
              <p:cNvPr id="124" name="Freeform 124"/>
              <p:cNvSpPr/>
              <p:nvPr/>
            </p:nvSpPr>
            <p:spPr>
              <a:xfrm>
                <a:off x="6148388" y="1161574"/>
                <a:ext cx="85725" cy="60007"/>
              </a:xfrm>
              <a:custGeom>
                <a:avLst/>
                <a:gdLst/>
                <a:ahLst/>
                <a:cxnLst/>
                <a:rect l="l" t="t" r="r" b="b"/>
                <a:pathLst>
                  <a:path w="85725" h="60007">
                    <a:moveTo>
                      <a:pt x="0" y="0"/>
                    </a:moveTo>
                    <a:lnTo>
                      <a:pt x="0" y="38576"/>
                    </a:lnTo>
                    <a:cubicBezTo>
                      <a:pt x="0" y="50412"/>
                      <a:pt x="19190" y="60007"/>
                      <a:pt x="42862" y="60007"/>
                    </a:cubicBezTo>
                    <a:cubicBezTo>
                      <a:pt x="66535" y="60007"/>
                      <a:pt x="85725" y="50412"/>
                      <a:pt x="85725" y="38576"/>
                    </a:cubicBezTo>
                    <a:lnTo>
                      <a:pt x="85725" y="0"/>
                    </a:lnTo>
                  </a:path>
                </a:pathLst>
              </a:custGeom>
              <a:noFill/>
              <a:ln w="14288">
                <a:solidFill>
                  <a:srgbClr val="69281B"/>
                </a:solidFill>
              </a:ln>
            </p:spPr>
          </p:sp>
        </p:grpSp>
        <p:sp>
          <p:nvSpPr>
            <p:cNvPr id="126" name="TextBox 126"/>
            <p:cNvSpPr txBox="1"/>
            <p:nvPr/>
          </p:nvSpPr>
          <p:spPr>
            <a:xfrm>
              <a:off x="6014174" y="1378982"/>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机构客户</a:t>
              </a:r>
            </a:p>
          </p:txBody>
        </p:sp>
        <p:sp>
          <p:nvSpPr>
            <p:cNvPr id="127" name="Rectangle 127"/>
            <p:cNvSpPr/>
            <p:nvPr/>
          </p:nvSpPr>
          <p:spPr>
            <a:xfrm>
              <a:off x="6648450" y="1028700"/>
              <a:ext cx="723900" cy="514350"/>
            </a:xfrm>
            <a:prstGeom prst="roundRect">
              <a:avLst>
                <a:gd name="adj" fmla="val 7407"/>
              </a:avLst>
            </a:prstGeom>
            <a:solidFill>
              <a:srgbClr val="F5F8FD"/>
            </a:solidFill>
            <a:ln w="9525">
              <a:solidFill>
                <a:srgbClr val="EBC1B8"/>
              </a:solidFill>
            </a:ln>
          </p:spPr>
        </p:sp>
        <p:grpSp>
          <p:nvGrpSpPr>
            <p:cNvPr id="134" name="Group 134"/>
            <p:cNvGrpSpPr/>
            <p:nvPr/>
          </p:nvGrpSpPr>
          <p:grpSpPr>
            <a:xfrm>
              <a:off x="6946106" y="1107281"/>
              <a:ext cx="128588" cy="128588"/>
              <a:chOff x="6946106" y="1107281"/>
              <a:chExt cx="128588" cy="128588"/>
            </a:xfrm>
          </p:grpSpPr>
          <p:sp>
            <p:nvSpPr>
              <p:cNvPr id="128" name="Freeform 128"/>
              <p:cNvSpPr/>
              <p:nvPr/>
            </p:nvSpPr>
            <p:spPr>
              <a:xfrm>
                <a:off x="6996112" y="11644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69281B"/>
                </a:solidFill>
              </a:ln>
            </p:spPr>
          </p:sp>
          <p:sp>
            <p:nvSpPr>
              <p:cNvPr id="129" name="Freeform 129"/>
              <p:cNvSpPr/>
              <p:nvPr/>
            </p:nvSpPr>
            <p:spPr>
              <a:xfrm>
                <a:off x="6981825" y="121443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69281B"/>
                </a:solidFill>
              </a:ln>
            </p:spPr>
          </p:sp>
          <p:sp>
            <p:nvSpPr>
              <p:cNvPr id="130" name="Freeform 130"/>
              <p:cNvSpPr/>
              <p:nvPr/>
            </p:nvSpPr>
            <p:spPr>
              <a:xfrm>
                <a:off x="7031831" y="11072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69281B"/>
                </a:solidFill>
              </a:ln>
            </p:spPr>
          </p:sp>
          <p:sp>
            <p:nvSpPr>
              <p:cNvPr id="131" name="Freeform 131"/>
              <p:cNvSpPr/>
              <p:nvPr/>
            </p:nvSpPr>
            <p:spPr>
              <a:xfrm>
                <a:off x="7046119" y="115728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69281B"/>
                </a:solidFill>
              </a:ln>
            </p:spPr>
          </p:sp>
          <p:sp>
            <p:nvSpPr>
              <p:cNvPr id="132" name="Freeform 132"/>
              <p:cNvSpPr/>
              <p:nvPr/>
            </p:nvSpPr>
            <p:spPr>
              <a:xfrm>
                <a:off x="6960394" y="11072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69281B"/>
                </a:solidFill>
              </a:ln>
            </p:spPr>
          </p:sp>
          <p:sp>
            <p:nvSpPr>
              <p:cNvPr id="133" name="Freeform 133"/>
              <p:cNvSpPr/>
              <p:nvPr/>
            </p:nvSpPr>
            <p:spPr>
              <a:xfrm>
                <a:off x="6946106" y="115728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69281B"/>
                </a:solidFill>
              </a:ln>
            </p:spPr>
          </p:sp>
        </p:grpSp>
        <p:sp>
          <p:nvSpPr>
            <p:cNvPr id="135" name="TextBox 135"/>
            <p:cNvSpPr txBox="1"/>
            <p:nvPr/>
          </p:nvSpPr>
          <p:spPr>
            <a:xfrm>
              <a:off x="6747167" y="1378982"/>
              <a:ext cx="526466"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优质中小企业</a:t>
              </a:r>
            </a:p>
          </p:txBody>
        </p:sp>
        <p:sp>
          <p:nvSpPr>
            <p:cNvPr id="136" name="Line 136"/>
            <p:cNvSpPr/>
            <p:nvPr/>
          </p:nvSpPr>
          <p:spPr>
            <a:xfrm>
              <a:off x="4552950" y="1543050"/>
              <a:ext cx="9525" cy="247650"/>
            </a:xfrm>
            <a:custGeom>
              <a:avLst/>
              <a:gdLst/>
              <a:ahLst/>
              <a:cxnLst/>
              <a:rect l="l" t="t" r="r" b="b"/>
              <a:pathLst>
                <a:path w="9525" h="247650">
                  <a:moveTo>
                    <a:pt x="0" y="0"/>
                  </a:moveTo>
                  <a:lnTo>
                    <a:pt x="0" y="247650"/>
                  </a:lnTo>
                </a:path>
              </a:pathLst>
            </a:custGeom>
            <a:noFill/>
            <a:ln w="9525">
              <a:solidFill>
                <a:srgbClr val="EBC1B8"/>
              </a:solidFill>
              <a:prstDash val="sysDot"/>
            </a:ln>
          </p:spPr>
        </p:sp>
        <p:sp>
          <p:nvSpPr>
            <p:cNvPr id="137" name="Line 137"/>
            <p:cNvSpPr/>
            <p:nvPr/>
          </p:nvSpPr>
          <p:spPr>
            <a:xfrm>
              <a:off x="5372100" y="1543050"/>
              <a:ext cx="9525" cy="247650"/>
            </a:xfrm>
            <a:custGeom>
              <a:avLst/>
              <a:gdLst/>
              <a:ahLst/>
              <a:cxnLst/>
              <a:rect l="l" t="t" r="r" b="b"/>
              <a:pathLst>
                <a:path w="9525" h="247650">
                  <a:moveTo>
                    <a:pt x="0" y="0"/>
                  </a:moveTo>
                  <a:lnTo>
                    <a:pt x="0" y="247650"/>
                  </a:lnTo>
                </a:path>
              </a:pathLst>
            </a:custGeom>
            <a:noFill/>
            <a:ln w="9525">
              <a:solidFill>
                <a:srgbClr val="EBC1B8"/>
              </a:solidFill>
              <a:prstDash val="sysDot"/>
            </a:ln>
          </p:spPr>
        </p:sp>
        <p:sp>
          <p:nvSpPr>
            <p:cNvPr id="138" name="Line 138"/>
            <p:cNvSpPr/>
            <p:nvPr/>
          </p:nvSpPr>
          <p:spPr>
            <a:xfrm>
              <a:off x="6191250" y="1543050"/>
              <a:ext cx="9525" cy="247650"/>
            </a:xfrm>
            <a:custGeom>
              <a:avLst/>
              <a:gdLst/>
              <a:ahLst/>
              <a:cxnLst/>
              <a:rect l="l" t="t" r="r" b="b"/>
              <a:pathLst>
                <a:path w="9525" h="247650">
                  <a:moveTo>
                    <a:pt x="0" y="0"/>
                  </a:moveTo>
                  <a:lnTo>
                    <a:pt x="0" y="247650"/>
                  </a:lnTo>
                </a:path>
              </a:pathLst>
            </a:custGeom>
            <a:noFill/>
            <a:ln w="9525">
              <a:solidFill>
                <a:srgbClr val="EBC1B8"/>
              </a:solidFill>
              <a:prstDash val="sysDot"/>
            </a:ln>
          </p:spPr>
        </p:sp>
        <p:sp>
          <p:nvSpPr>
            <p:cNvPr id="139" name="Line 139"/>
            <p:cNvSpPr/>
            <p:nvPr/>
          </p:nvSpPr>
          <p:spPr>
            <a:xfrm>
              <a:off x="7010400" y="1543050"/>
              <a:ext cx="9525" cy="247650"/>
            </a:xfrm>
            <a:custGeom>
              <a:avLst/>
              <a:gdLst/>
              <a:ahLst/>
              <a:cxnLst/>
              <a:rect l="l" t="t" r="r" b="b"/>
              <a:pathLst>
                <a:path w="9525" h="247650">
                  <a:moveTo>
                    <a:pt x="0" y="0"/>
                  </a:moveTo>
                  <a:lnTo>
                    <a:pt x="0" y="247650"/>
                  </a:lnTo>
                </a:path>
              </a:pathLst>
            </a:custGeom>
            <a:noFill/>
            <a:ln w="9525">
              <a:solidFill>
                <a:srgbClr val="EBC1B8"/>
              </a:solidFill>
              <a:prstDash val="sysDot"/>
            </a:ln>
          </p:spPr>
        </p:sp>
        <p:sp>
          <p:nvSpPr>
            <p:cNvPr id="140" name="TextBox 140"/>
            <p:cNvSpPr txBox="1"/>
            <p:nvPr/>
          </p:nvSpPr>
          <p:spPr>
            <a:xfrm>
              <a:off x="3538538" y="2037636"/>
              <a:ext cx="296266" cy="140494"/>
            </a:xfrm>
            <a:prstGeom prst="rect">
              <a:avLst/>
            </a:prstGeom>
            <a:noFill/>
            <a:ln>
              <a:noFill/>
            </a:ln>
          </p:spPr>
          <p:txBody>
            <a:bodyPr wrap="none" lIns="0" tIns="0" rIns="0" bIns="0" anchor="t" anchorCtr="0">
              <a:spAutoFit/>
            </a:bodyPr>
            <a:lstStyle/>
            <a:p>
              <a:pPr algn="l"/>
              <a:r>
                <a:rPr lang="zh-CN" sz="710" b="1" dirty="0">
                  <a:solidFill>
                    <a:srgbClr val="69281B"/>
                  </a:solidFill>
                  <a:latin typeface="+mn-lt"/>
                  <a:ea typeface="+mn-ea"/>
                  <a:cs typeface="+mn-cs"/>
                </a:rPr>
                <a:t>场景层</a:t>
              </a:r>
            </a:p>
          </p:txBody>
        </p:sp>
        <p:sp>
          <p:nvSpPr>
            <p:cNvPr id="141" name="TextBox 141"/>
            <p:cNvSpPr txBox="1"/>
            <p:nvPr/>
          </p:nvSpPr>
          <p:spPr>
            <a:xfrm>
              <a:off x="3538538" y="2181701"/>
              <a:ext cx="289535" cy="104775"/>
            </a:xfrm>
            <a:prstGeom prst="rect">
              <a:avLst/>
            </a:prstGeom>
            <a:noFill/>
            <a:ln>
              <a:noFill/>
            </a:ln>
          </p:spPr>
          <p:txBody>
            <a:bodyPr wrap="none" lIns="0" tIns="0" rIns="0" bIns="0" anchor="t" anchorCtr="0">
              <a:spAutoFit/>
            </a:bodyPr>
            <a:lstStyle/>
            <a:p>
              <a:pPr algn="l"/>
              <a:r>
                <a:rPr lang="zh-CN" sz="520" dirty="0">
                  <a:solidFill>
                    <a:srgbClr val="987F7A"/>
                  </a:solidFill>
                  <a:latin typeface="+mn-lt"/>
                  <a:ea typeface="+mn-ea"/>
                  <a:cs typeface="+mn-cs"/>
                </a:rPr>
                <a:t>高频场景</a:t>
              </a:r>
            </a:p>
          </p:txBody>
        </p:sp>
        <p:sp>
          <p:nvSpPr>
            <p:cNvPr id="142" name="TextBox 142"/>
            <p:cNvSpPr txBox="1"/>
            <p:nvPr/>
          </p:nvSpPr>
          <p:spPr>
            <a:xfrm>
              <a:off x="3538538" y="2276951"/>
              <a:ext cx="289535" cy="104775"/>
            </a:xfrm>
            <a:prstGeom prst="rect">
              <a:avLst/>
            </a:prstGeom>
            <a:noFill/>
            <a:ln>
              <a:noFill/>
            </a:ln>
          </p:spPr>
          <p:txBody>
            <a:bodyPr wrap="none" lIns="0" tIns="0" rIns="0" bIns="0" anchor="t" anchorCtr="0">
              <a:spAutoFit/>
            </a:bodyPr>
            <a:lstStyle/>
            <a:p>
              <a:pPr algn="l"/>
              <a:r>
                <a:rPr lang="zh-CN" sz="520" dirty="0">
                  <a:solidFill>
                    <a:srgbClr val="987F7A"/>
                  </a:solidFill>
                  <a:latin typeface="+mn-lt"/>
                  <a:ea typeface="+mn-ea"/>
                  <a:cs typeface="+mn-cs"/>
                </a:rPr>
                <a:t>深度渗透</a:t>
              </a:r>
            </a:p>
          </p:txBody>
        </p:sp>
        <p:sp>
          <p:nvSpPr>
            <p:cNvPr id="143" name="Ellipse 143"/>
            <p:cNvSpPr/>
            <p:nvPr/>
          </p:nvSpPr>
          <p:spPr>
            <a:xfrm>
              <a:off x="4314825" y="1857375"/>
              <a:ext cx="323850" cy="323850"/>
            </a:xfrm>
            <a:prstGeom prst="ellipse">
              <a:avLst/>
            </a:prstGeom>
            <a:solidFill>
              <a:srgbClr val="E04C2E"/>
            </a:solidFill>
            <a:ln>
              <a:noFill/>
            </a:ln>
          </p:spPr>
        </p:sp>
        <p:grpSp>
          <p:nvGrpSpPr>
            <p:cNvPr id="147" name="Group 147"/>
            <p:cNvGrpSpPr/>
            <p:nvPr/>
          </p:nvGrpSpPr>
          <p:grpSpPr>
            <a:xfrm>
              <a:off x="4433888" y="1955006"/>
              <a:ext cx="107155" cy="128588"/>
              <a:chOff x="4433888" y="1955006"/>
              <a:chExt cx="107155" cy="128588"/>
            </a:xfrm>
          </p:grpSpPr>
          <p:sp>
            <p:nvSpPr>
              <p:cNvPr id="144" name="Freeform 144"/>
              <p:cNvSpPr/>
              <p:nvPr/>
            </p:nvSpPr>
            <p:spPr>
              <a:xfrm>
                <a:off x="4448175" y="19550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45" name="Freeform 145"/>
              <p:cNvSpPr/>
              <p:nvPr/>
            </p:nvSpPr>
            <p:spPr>
              <a:xfrm>
                <a:off x="4433888" y="2040731"/>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FFFFFF"/>
                </a:solidFill>
              </a:ln>
            </p:spPr>
          </p:sp>
          <p:sp>
            <p:nvSpPr>
              <p:cNvPr id="146" name="Freeform 146"/>
              <p:cNvSpPr/>
              <p:nvPr/>
            </p:nvSpPr>
            <p:spPr>
              <a:xfrm>
                <a:off x="4498181" y="205501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148" name="TextBox 148"/>
            <p:cNvSpPr txBox="1"/>
            <p:nvPr/>
          </p:nvSpPr>
          <p:spPr>
            <a:xfrm>
              <a:off x="4385831" y="2255282"/>
              <a:ext cx="181839"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账户</a:t>
              </a:r>
            </a:p>
          </p:txBody>
        </p:sp>
        <p:sp>
          <p:nvSpPr>
            <p:cNvPr id="149" name="Ellipse 149"/>
            <p:cNvSpPr/>
            <p:nvPr/>
          </p:nvSpPr>
          <p:spPr>
            <a:xfrm>
              <a:off x="4886325" y="1857375"/>
              <a:ext cx="323850" cy="323850"/>
            </a:xfrm>
            <a:prstGeom prst="ellipse">
              <a:avLst/>
            </a:prstGeom>
            <a:solidFill>
              <a:srgbClr val="E04C2E"/>
            </a:solidFill>
            <a:ln>
              <a:noFill/>
            </a:ln>
          </p:spPr>
        </p:sp>
        <p:grpSp>
          <p:nvGrpSpPr>
            <p:cNvPr id="154" name="Group 154"/>
            <p:cNvGrpSpPr/>
            <p:nvPr/>
          </p:nvGrpSpPr>
          <p:grpSpPr>
            <a:xfrm>
              <a:off x="4983956" y="1962150"/>
              <a:ext cx="128588" cy="114300"/>
              <a:chOff x="4983956" y="1962150"/>
              <a:chExt cx="128588" cy="114300"/>
            </a:xfrm>
          </p:grpSpPr>
          <p:sp>
            <p:nvSpPr>
              <p:cNvPr id="150" name="Freeform 150"/>
              <p:cNvSpPr/>
              <p:nvPr/>
            </p:nvSpPr>
            <p:spPr>
              <a:xfrm>
                <a:off x="4983956" y="1983581"/>
                <a:ext cx="128588" cy="9525"/>
              </a:xfrm>
              <a:custGeom>
                <a:avLst/>
                <a:gdLst/>
                <a:ahLst/>
                <a:cxnLst/>
                <a:rect l="l" t="t" r="r" b="b"/>
                <a:pathLst>
                  <a:path w="128588" h="9525">
                    <a:moveTo>
                      <a:pt x="128588" y="0"/>
                    </a:moveTo>
                    <a:lnTo>
                      <a:pt x="0" y="0"/>
                    </a:lnTo>
                  </a:path>
                </a:pathLst>
              </a:custGeom>
              <a:noFill/>
              <a:ln w="14288">
                <a:solidFill>
                  <a:srgbClr val="FFFFFF"/>
                </a:solidFill>
              </a:ln>
            </p:spPr>
          </p:sp>
          <p:sp>
            <p:nvSpPr>
              <p:cNvPr id="151" name="Freeform 151"/>
              <p:cNvSpPr/>
              <p:nvPr/>
            </p:nvSpPr>
            <p:spPr>
              <a:xfrm>
                <a:off x="5091112" y="1962150"/>
                <a:ext cx="21431" cy="42862"/>
              </a:xfrm>
              <a:custGeom>
                <a:avLst/>
                <a:gdLst/>
                <a:ahLst/>
                <a:cxnLst/>
                <a:rect l="l" t="t" r="r" b="b"/>
                <a:pathLst>
                  <a:path w="21431" h="42862">
                    <a:moveTo>
                      <a:pt x="0" y="42862"/>
                    </a:moveTo>
                    <a:lnTo>
                      <a:pt x="21431" y="21431"/>
                    </a:lnTo>
                    <a:lnTo>
                      <a:pt x="0" y="0"/>
                    </a:lnTo>
                  </a:path>
                </a:pathLst>
              </a:custGeom>
              <a:noFill/>
              <a:ln w="14288">
                <a:solidFill>
                  <a:srgbClr val="FFFFFF"/>
                </a:solidFill>
              </a:ln>
            </p:spPr>
          </p:sp>
          <p:sp>
            <p:nvSpPr>
              <p:cNvPr id="152" name="Freeform 152"/>
              <p:cNvSpPr/>
              <p:nvPr/>
            </p:nvSpPr>
            <p:spPr>
              <a:xfrm>
                <a:off x="4983956" y="2033588"/>
                <a:ext cx="21431" cy="42862"/>
              </a:xfrm>
              <a:custGeom>
                <a:avLst/>
                <a:gdLst/>
                <a:ahLst/>
                <a:cxnLst/>
                <a:rect l="l" t="t" r="r" b="b"/>
                <a:pathLst>
                  <a:path w="21431" h="42862">
                    <a:moveTo>
                      <a:pt x="21431" y="42862"/>
                    </a:moveTo>
                    <a:lnTo>
                      <a:pt x="0" y="21431"/>
                    </a:lnTo>
                    <a:lnTo>
                      <a:pt x="21431" y="0"/>
                    </a:lnTo>
                  </a:path>
                </a:pathLst>
              </a:custGeom>
              <a:noFill/>
              <a:ln w="14288">
                <a:solidFill>
                  <a:srgbClr val="FFFFFF"/>
                </a:solidFill>
              </a:ln>
            </p:spPr>
          </p:sp>
          <p:sp>
            <p:nvSpPr>
              <p:cNvPr id="153" name="Freeform 153"/>
              <p:cNvSpPr/>
              <p:nvPr/>
            </p:nvSpPr>
            <p:spPr>
              <a:xfrm>
                <a:off x="4983956" y="2055019"/>
                <a:ext cx="128588" cy="9525"/>
              </a:xfrm>
              <a:custGeom>
                <a:avLst/>
                <a:gdLst/>
                <a:ahLst/>
                <a:cxnLst/>
                <a:rect l="l" t="t" r="r" b="b"/>
                <a:pathLst>
                  <a:path w="128588" h="9525">
                    <a:moveTo>
                      <a:pt x="0" y="0"/>
                    </a:moveTo>
                    <a:lnTo>
                      <a:pt x="128588" y="0"/>
                    </a:lnTo>
                  </a:path>
                </a:pathLst>
              </a:custGeom>
              <a:noFill/>
              <a:ln w="14288">
                <a:solidFill>
                  <a:srgbClr val="FFFFFF"/>
                </a:solidFill>
              </a:ln>
            </p:spPr>
          </p:sp>
        </p:grpSp>
        <p:sp>
          <p:nvSpPr>
            <p:cNvPr id="155" name="TextBox 155"/>
            <p:cNvSpPr txBox="1"/>
            <p:nvPr/>
          </p:nvSpPr>
          <p:spPr>
            <a:xfrm>
              <a:off x="4957331" y="2255282"/>
              <a:ext cx="181839"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结算</a:t>
              </a:r>
            </a:p>
          </p:txBody>
        </p:sp>
        <p:sp>
          <p:nvSpPr>
            <p:cNvPr id="156" name="Ellipse 156"/>
            <p:cNvSpPr/>
            <p:nvPr/>
          </p:nvSpPr>
          <p:spPr>
            <a:xfrm>
              <a:off x="5457825" y="1857375"/>
              <a:ext cx="323850" cy="323850"/>
            </a:xfrm>
            <a:prstGeom prst="ellipse">
              <a:avLst/>
            </a:prstGeom>
            <a:solidFill>
              <a:srgbClr val="E04C2E"/>
            </a:solidFill>
            <a:ln>
              <a:noFill/>
            </a:ln>
          </p:spPr>
        </p:sp>
        <p:grpSp>
          <p:nvGrpSpPr>
            <p:cNvPr id="161" name="Group 161"/>
            <p:cNvGrpSpPr/>
            <p:nvPr/>
          </p:nvGrpSpPr>
          <p:grpSpPr>
            <a:xfrm>
              <a:off x="5555456" y="1955006"/>
              <a:ext cx="128587" cy="128588"/>
              <a:chOff x="5555456" y="1955006"/>
              <a:chExt cx="128587" cy="128588"/>
            </a:xfrm>
          </p:grpSpPr>
          <p:sp>
            <p:nvSpPr>
              <p:cNvPr id="157" name="Freeform 157"/>
              <p:cNvSpPr/>
              <p:nvPr/>
            </p:nvSpPr>
            <p:spPr>
              <a:xfrm>
                <a:off x="5569744" y="19550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58" name="Freeform 158"/>
              <p:cNvSpPr/>
              <p:nvPr/>
            </p:nvSpPr>
            <p:spPr>
              <a:xfrm>
                <a:off x="5555456" y="20407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159" name="Freeform 159"/>
              <p:cNvSpPr/>
              <p:nvPr/>
            </p:nvSpPr>
            <p:spPr>
              <a:xfrm>
                <a:off x="5648325" y="19559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160" name="Freeform 160"/>
              <p:cNvSpPr/>
              <p:nvPr/>
            </p:nvSpPr>
            <p:spPr>
              <a:xfrm>
                <a:off x="5662612" y="20418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162" name="TextBox 162"/>
            <p:cNvSpPr txBox="1"/>
            <p:nvPr/>
          </p:nvSpPr>
          <p:spPr>
            <a:xfrm>
              <a:off x="5528831" y="2255282"/>
              <a:ext cx="181839"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代发</a:t>
              </a:r>
            </a:p>
          </p:txBody>
        </p:sp>
        <p:sp>
          <p:nvSpPr>
            <p:cNvPr id="163" name="Ellipse 163"/>
            <p:cNvSpPr/>
            <p:nvPr/>
          </p:nvSpPr>
          <p:spPr>
            <a:xfrm>
              <a:off x="6029325" y="1857375"/>
              <a:ext cx="323850" cy="323850"/>
            </a:xfrm>
            <a:prstGeom prst="ellipse">
              <a:avLst/>
            </a:prstGeom>
            <a:solidFill>
              <a:srgbClr val="E04C2E"/>
            </a:solidFill>
            <a:ln>
              <a:noFill/>
            </a:ln>
          </p:spPr>
        </p:sp>
        <p:grpSp>
          <p:nvGrpSpPr>
            <p:cNvPr id="166" name="Group 166"/>
            <p:cNvGrpSpPr/>
            <p:nvPr/>
          </p:nvGrpSpPr>
          <p:grpSpPr>
            <a:xfrm>
              <a:off x="6124965" y="1956235"/>
              <a:ext cx="129150" cy="129350"/>
              <a:chOff x="6124965" y="1956235"/>
              <a:chExt cx="129150" cy="129350"/>
            </a:xfrm>
          </p:grpSpPr>
          <p:sp>
            <p:nvSpPr>
              <p:cNvPr id="164" name="Freeform 164"/>
              <p:cNvSpPr/>
              <p:nvPr/>
            </p:nvSpPr>
            <p:spPr>
              <a:xfrm>
                <a:off x="6124965" y="1956235"/>
                <a:ext cx="129150" cy="129350"/>
              </a:xfrm>
              <a:custGeom>
                <a:avLst/>
                <a:gdLst/>
                <a:ahLst/>
                <a:cxnLst/>
                <a:rect l="l" t="t" r="r" b="b"/>
                <a:pathLst>
                  <a:path w="129150" h="129350">
                    <a:moveTo>
                      <a:pt x="51998" y="200"/>
                    </a:moveTo>
                    <a:cubicBezTo>
                      <a:pt x="21065" y="7371"/>
                      <a:pt x="0" y="36049"/>
                      <a:pt x="2409" y="67710"/>
                    </a:cubicBezTo>
                    <a:cubicBezTo>
                      <a:pt x="4818" y="99372"/>
                      <a:pt x="29979" y="124533"/>
                      <a:pt x="61640" y="126942"/>
                    </a:cubicBezTo>
                    <a:cubicBezTo>
                      <a:pt x="93301" y="129350"/>
                      <a:pt x="121979" y="108285"/>
                      <a:pt x="129150" y="77353"/>
                    </a:cubicBezTo>
                    <a:cubicBezTo>
                      <a:pt x="129150" y="73407"/>
                      <a:pt x="125952" y="70209"/>
                      <a:pt x="122006" y="70209"/>
                    </a:cubicBezTo>
                    <a:lnTo>
                      <a:pt x="73429" y="70209"/>
                    </a:lnTo>
                    <a:cubicBezTo>
                      <a:pt x="65538" y="70209"/>
                      <a:pt x="59141" y="63812"/>
                      <a:pt x="59141" y="55922"/>
                    </a:cubicBezTo>
                    <a:lnTo>
                      <a:pt x="59141" y="5915"/>
                    </a:lnTo>
                    <a:cubicBezTo>
                      <a:pt x="58962" y="4206"/>
                      <a:pt x="58106" y="2639"/>
                      <a:pt x="56763" y="1565"/>
                    </a:cubicBezTo>
                    <a:cubicBezTo>
                      <a:pt x="55421" y="492"/>
                      <a:pt x="53705" y="0"/>
                      <a:pt x="51998" y="200"/>
                    </a:cubicBezTo>
                  </a:path>
                </a:pathLst>
              </a:custGeom>
              <a:noFill/>
              <a:ln w="14288">
                <a:solidFill>
                  <a:srgbClr val="FFFFFF"/>
                </a:solidFill>
              </a:ln>
            </p:spPr>
          </p:sp>
          <p:sp>
            <p:nvSpPr>
              <p:cNvPr id="165" name="Freeform 165"/>
              <p:cNvSpPr/>
              <p:nvPr/>
            </p:nvSpPr>
            <p:spPr>
              <a:xfrm>
                <a:off x="6212681" y="1958578"/>
                <a:ext cx="39291" cy="39291"/>
              </a:xfrm>
              <a:custGeom>
                <a:avLst/>
                <a:gdLst/>
                <a:ahLst/>
                <a:cxnLst/>
                <a:rect l="l" t="t" r="r" b="b"/>
                <a:pathLst>
                  <a:path w="39291" h="39291">
                    <a:moveTo>
                      <a:pt x="0" y="0"/>
                    </a:moveTo>
                    <a:cubicBezTo>
                      <a:pt x="18372" y="6469"/>
                      <a:pt x="32822" y="20918"/>
                      <a:pt x="39291" y="39291"/>
                    </a:cubicBezTo>
                    <a:lnTo>
                      <a:pt x="7144" y="39291"/>
                    </a:lnTo>
                    <a:cubicBezTo>
                      <a:pt x="3198" y="39291"/>
                      <a:pt x="0" y="36092"/>
                      <a:pt x="0" y="32147"/>
                    </a:cubicBezTo>
                    <a:lnTo>
                      <a:pt x="0" y="0"/>
                    </a:lnTo>
                  </a:path>
                </a:pathLst>
              </a:custGeom>
              <a:noFill/>
              <a:ln w="14288">
                <a:solidFill>
                  <a:srgbClr val="FFFFFF"/>
                </a:solidFill>
              </a:ln>
            </p:spPr>
          </p:sp>
        </p:grpSp>
        <p:sp>
          <p:nvSpPr>
            <p:cNvPr id="167" name="TextBox 167"/>
            <p:cNvSpPr txBox="1"/>
            <p:nvPr/>
          </p:nvSpPr>
          <p:spPr>
            <a:xfrm>
              <a:off x="6014174" y="2255282"/>
              <a:ext cx="354152"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现金管理</a:t>
              </a:r>
            </a:p>
          </p:txBody>
        </p:sp>
        <p:sp>
          <p:nvSpPr>
            <p:cNvPr id="168" name="Ellipse 168"/>
            <p:cNvSpPr/>
            <p:nvPr/>
          </p:nvSpPr>
          <p:spPr>
            <a:xfrm>
              <a:off x="6600825" y="1857375"/>
              <a:ext cx="323850" cy="323850"/>
            </a:xfrm>
            <a:prstGeom prst="ellipse">
              <a:avLst/>
            </a:prstGeom>
            <a:solidFill>
              <a:srgbClr val="E04C2E"/>
            </a:solidFill>
            <a:ln>
              <a:noFill/>
            </a:ln>
          </p:spPr>
        </p:sp>
        <p:grpSp>
          <p:nvGrpSpPr>
            <p:cNvPr id="172" name="Group 172"/>
            <p:cNvGrpSpPr/>
            <p:nvPr/>
          </p:nvGrpSpPr>
          <p:grpSpPr>
            <a:xfrm>
              <a:off x="6705599" y="1958660"/>
              <a:ext cx="117780" cy="121265"/>
              <a:chOff x="6705599" y="1958660"/>
              <a:chExt cx="117780" cy="121265"/>
            </a:xfrm>
          </p:grpSpPr>
          <p:sp>
            <p:nvSpPr>
              <p:cNvPr id="169" name="Freeform 169"/>
              <p:cNvSpPr/>
              <p:nvPr/>
            </p:nvSpPr>
            <p:spPr>
              <a:xfrm>
                <a:off x="6741319" y="1997869"/>
                <a:ext cx="42862" cy="42862"/>
              </a:xfrm>
              <a:custGeom>
                <a:avLst/>
                <a:gdLst/>
                <a:ahLst/>
                <a:cxnLst/>
                <a:rect l="l" t="t" r="r" b="b"/>
                <a:pathLst>
                  <a:path w="42862" h="42862">
                    <a:moveTo>
                      <a:pt x="0" y="42862"/>
                    </a:moveTo>
                    <a:lnTo>
                      <a:pt x="42862" y="0"/>
                    </a:lnTo>
                  </a:path>
                </a:pathLst>
              </a:custGeom>
              <a:noFill/>
              <a:ln w="14288">
                <a:solidFill>
                  <a:srgbClr val="FFFFFF"/>
                </a:solidFill>
              </a:ln>
            </p:spPr>
          </p:sp>
          <p:sp>
            <p:nvSpPr>
              <p:cNvPr id="170" name="Freeform 170"/>
              <p:cNvSpPr/>
              <p:nvPr/>
            </p:nvSpPr>
            <p:spPr>
              <a:xfrm>
                <a:off x="6755606" y="1958660"/>
                <a:ext cx="67773" cy="67784"/>
              </a:xfrm>
              <a:custGeom>
                <a:avLst/>
                <a:gdLst/>
                <a:ahLst/>
                <a:cxnLst/>
                <a:rect l="l" t="t" r="r" b="b"/>
                <a:pathLst>
                  <a:path w="67773" h="67784">
                    <a:moveTo>
                      <a:pt x="0" y="17778"/>
                    </a:moveTo>
                    <a:lnTo>
                      <a:pt x="3308" y="13949"/>
                    </a:lnTo>
                    <a:cubicBezTo>
                      <a:pt x="17258" y="0"/>
                      <a:pt x="39876" y="2"/>
                      <a:pt x="53825" y="13952"/>
                    </a:cubicBezTo>
                    <a:cubicBezTo>
                      <a:pt x="67773" y="27903"/>
                      <a:pt x="67772" y="50521"/>
                      <a:pt x="53821" y="64470"/>
                    </a:cubicBezTo>
                    <a:lnTo>
                      <a:pt x="50006" y="67784"/>
                    </a:lnTo>
                  </a:path>
                </a:pathLst>
              </a:custGeom>
              <a:noFill/>
              <a:ln w="14288">
                <a:solidFill>
                  <a:srgbClr val="FFFFFF"/>
                </a:solidFill>
              </a:ln>
            </p:spPr>
          </p:sp>
          <p:sp>
            <p:nvSpPr>
              <p:cNvPr id="171" name="Freeform 171"/>
              <p:cNvSpPr/>
              <p:nvPr/>
            </p:nvSpPr>
            <p:spPr>
              <a:xfrm>
                <a:off x="6705599" y="2012156"/>
                <a:ext cx="64295" cy="67769"/>
              </a:xfrm>
              <a:custGeom>
                <a:avLst/>
                <a:gdLst/>
                <a:ahLst/>
                <a:cxnLst/>
                <a:rect l="l" t="t" r="r" b="b"/>
                <a:pathLst>
                  <a:path w="64295" h="67769">
                    <a:moveTo>
                      <a:pt x="64295" y="50006"/>
                    </a:moveTo>
                    <a:lnTo>
                      <a:pt x="61459" y="53821"/>
                    </a:lnTo>
                    <a:cubicBezTo>
                      <a:pt x="47353" y="67769"/>
                      <a:pt x="24650" y="67769"/>
                      <a:pt x="10545" y="53821"/>
                    </a:cubicBezTo>
                    <a:cubicBezTo>
                      <a:pt x="3797" y="47149"/>
                      <a:pt x="0" y="38054"/>
                      <a:pt x="0" y="28564"/>
                    </a:cubicBezTo>
                    <a:cubicBezTo>
                      <a:pt x="0" y="19075"/>
                      <a:pt x="3797" y="9980"/>
                      <a:pt x="10545" y="3308"/>
                    </a:cubicBezTo>
                    <a:lnTo>
                      <a:pt x="14289" y="0"/>
                    </a:lnTo>
                  </a:path>
                </a:pathLst>
              </a:custGeom>
              <a:noFill/>
              <a:ln w="14288">
                <a:solidFill>
                  <a:srgbClr val="FFFFFF"/>
                </a:solidFill>
              </a:ln>
            </p:spPr>
          </p:sp>
        </p:grpSp>
        <p:sp>
          <p:nvSpPr>
            <p:cNvPr id="173" name="TextBox 173"/>
            <p:cNvSpPr txBox="1"/>
            <p:nvPr/>
          </p:nvSpPr>
          <p:spPr>
            <a:xfrm>
              <a:off x="6628752" y="2255282"/>
              <a:ext cx="267995"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供应链</a:t>
              </a:r>
            </a:p>
          </p:txBody>
        </p:sp>
        <p:sp>
          <p:nvSpPr>
            <p:cNvPr id="174" name="Rectangle 174"/>
            <p:cNvSpPr/>
            <p:nvPr/>
          </p:nvSpPr>
          <p:spPr>
            <a:xfrm>
              <a:off x="5048250" y="2419350"/>
              <a:ext cx="1143000" cy="171450"/>
            </a:xfrm>
            <a:prstGeom prst="roundRect">
              <a:avLst>
                <a:gd name="adj" fmla="val 50000"/>
              </a:avLst>
            </a:prstGeom>
            <a:solidFill>
              <a:srgbClr val="EAF1FB"/>
            </a:solidFill>
            <a:ln>
              <a:noFill/>
            </a:ln>
          </p:spPr>
        </p:sp>
        <p:sp>
          <p:nvSpPr>
            <p:cNvPr id="175" name="TextBox 175"/>
            <p:cNvSpPr txBox="1"/>
            <p:nvPr/>
          </p:nvSpPr>
          <p:spPr>
            <a:xfrm>
              <a:off x="5227282" y="2474357"/>
              <a:ext cx="784936"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场景驱动　资金沉淀</a:t>
              </a:r>
            </a:p>
          </p:txBody>
        </p:sp>
        <p:sp>
          <p:nvSpPr>
            <p:cNvPr id="176" name="TextBox 176"/>
            <p:cNvSpPr txBox="1"/>
            <p:nvPr/>
          </p:nvSpPr>
          <p:spPr>
            <a:xfrm>
              <a:off x="3538538" y="2894886"/>
              <a:ext cx="296266" cy="140494"/>
            </a:xfrm>
            <a:prstGeom prst="rect">
              <a:avLst/>
            </a:prstGeom>
            <a:noFill/>
            <a:ln>
              <a:noFill/>
            </a:ln>
          </p:spPr>
          <p:txBody>
            <a:bodyPr wrap="none" lIns="0" tIns="0" rIns="0" bIns="0" anchor="t" anchorCtr="0">
              <a:spAutoFit/>
            </a:bodyPr>
            <a:lstStyle/>
            <a:p>
              <a:pPr algn="l"/>
              <a:r>
                <a:rPr lang="zh-CN" sz="710" b="1" dirty="0">
                  <a:solidFill>
                    <a:srgbClr val="69281B"/>
                  </a:solidFill>
                  <a:latin typeface="+mn-lt"/>
                  <a:ea typeface="+mn-ea"/>
                  <a:cs typeface="+mn-cs"/>
                </a:rPr>
                <a:t>产品层</a:t>
              </a:r>
            </a:p>
          </p:txBody>
        </p:sp>
        <p:sp>
          <p:nvSpPr>
            <p:cNvPr id="177" name="TextBox 177"/>
            <p:cNvSpPr txBox="1"/>
            <p:nvPr/>
          </p:nvSpPr>
          <p:spPr>
            <a:xfrm>
              <a:off x="3538538" y="3038951"/>
              <a:ext cx="289535" cy="104775"/>
            </a:xfrm>
            <a:prstGeom prst="rect">
              <a:avLst/>
            </a:prstGeom>
            <a:noFill/>
            <a:ln>
              <a:noFill/>
            </a:ln>
          </p:spPr>
          <p:txBody>
            <a:bodyPr wrap="none" lIns="0" tIns="0" rIns="0" bIns="0" anchor="t" anchorCtr="0">
              <a:spAutoFit/>
            </a:bodyPr>
            <a:lstStyle/>
            <a:p>
              <a:pPr algn="l"/>
              <a:r>
                <a:rPr lang="zh-CN" sz="520" dirty="0">
                  <a:solidFill>
                    <a:srgbClr val="987F7A"/>
                  </a:solidFill>
                  <a:latin typeface="+mn-lt"/>
                  <a:ea typeface="+mn-ea"/>
                  <a:cs typeface="+mn-cs"/>
                </a:rPr>
                <a:t>产品组合</a:t>
              </a:r>
            </a:p>
          </p:txBody>
        </p:sp>
        <p:sp>
          <p:nvSpPr>
            <p:cNvPr id="178" name="TextBox 178"/>
            <p:cNvSpPr txBox="1"/>
            <p:nvPr/>
          </p:nvSpPr>
          <p:spPr>
            <a:xfrm>
              <a:off x="3538538" y="3134201"/>
              <a:ext cx="289535" cy="104775"/>
            </a:xfrm>
            <a:prstGeom prst="rect">
              <a:avLst/>
            </a:prstGeom>
            <a:noFill/>
            <a:ln>
              <a:noFill/>
            </a:ln>
          </p:spPr>
          <p:txBody>
            <a:bodyPr wrap="none" lIns="0" tIns="0" rIns="0" bIns="0" anchor="t" anchorCtr="0">
              <a:spAutoFit/>
            </a:bodyPr>
            <a:lstStyle/>
            <a:p>
              <a:pPr algn="l"/>
              <a:r>
                <a:rPr lang="zh-CN" sz="520" dirty="0">
                  <a:solidFill>
                    <a:srgbClr val="987F7A"/>
                  </a:solidFill>
                  <a:latin typeface="+mn-lt"/>
                  <a:ea typeface="+mn-ea"/>
                  <a:cs typeface="+mn-cs"/>
                </a:rPr>
                <a:t>留住资金</a:t>
              </a:r>
            </a:p>
          </p:txBody>
        </p:sp>
        <p:sp>
          <p:nvSpPr>
            <p:cNvPr id="179" name="Rectangle 179"/>
            <p:cNvSpPr/>
            <p:nvPr/>
          </p:nvSpPr>
          <p:spPr>
            <a:xfrm>
              <a:off x="4191000" y="2762250"/>
              <a:ext cx="590550" cy="514350"/>
            </a:xfrm>
            <a:prstGeom prst="roundRect">
              <a:avLst>
                <a:gd name="adj" fmla="val 7407"/>
              </a:avLst>
            </a:prstGeom>
            <a:solidFill>
              <a:srgbClr val="F5F8FD"/>
            </a:solidFill>
            <a:ln w="9525">
              <a:solidFill>
                <a:srgbClr val="EBC1B8"/>
              </a:solidFill>
            </a:ln>
          </p:spPr>
        </p:sp>
        <p:grpSp>
          <p:nvGrpSpPr>
            <p:cNvPr id="184" name="Group 184"/>
            <p:cNvGrpSpPr/>
            <p:nvPr/>
          </p:nvGrpSpPr>
          <p:grpSpPr>
            <a:xfrm>
              <a:off x="4421981" y="2855119"/>
              <a:ext cx="128588" cy="100012"/>
              <a:chOff x="4421981" y="2855119"/>
              <a:chExt cx="128588" cy="100012"/>
            </a:xfrm>
          </p:grpSpPr>
          <p:sp>
            <p:nvSpPr>
              <p:cNvPr id="180" name="Freeform 180"/>
              <p:cNvSpPr/>
              <p:nvPr/>
            </p:nvSpPr>
            <p:spPr>
              <a:xfrm>
                <a:off x="4421981" y="2855119"/>
                <a:ext cx="128588" cy="100012"/>
              </a:xfrm>
              <a:custGeom>
                <a:avLst/>
                <a:gdLst/>
                <a:ahLst/>
                <a:cxnLst/>
                <a:rect l="l" t="t" r="r" b="b"/>
                <a:pathLst>
                  <a:path w="128588" h="100012">
                    <a:moveTo>
                      <a:pt x="0" y="21431"/>
                    </a:moveTo>
                    <a:cubicBezTo>
                      <a:pt x="0" y="9595"/>
                      <a:pt x="9595" y="0"/>
                      <a:pt x="21431" y="0"/>
                    </a:cubicBezTo>
                    <a:lnTo>
                      <a:pt x="107156" y="0"/>
                    </a:lnTo>
                    <a:cubicBezTo>
                      <a:pt x="118992" y="0"/>
                      <a:pt x="128588" y="9595"/>
                      <a:pt x="128588" y="21431"/>
                    </a:cubicBezTo>
                    <a:lnTo>
                      <a:pt x="128588" y="78581"/>
                    </a:lnTo>
                    <a:cubicBezTo>
                      <a:pt x="128588" y="90417"/>
                      <a:pt x="118992" y="100012"/>
                      <a:pt x="107156" y="100012"/>
                    </a:cubicBezTo>
                    <a:lnTo>
                      <a:pt x="21431" y="100012"/>
                    </a:lnTo>
                    <a:cubicBezTo>
                      <a:pt x="9595" y="100012"/>
                      <a:pt x="0" y="90417"/>
                      <a:pt x="0" y="78581"/>
                    </a:cubicBezTo>
                    <a:lnTo>
                      <a:pt x="0" y="21431"/>
                    </a:lnTo>
                  </a:path>
                </a:pathLst>
              </a:custGeom>
              <a:noFill/>
              <a:ln w="14288">
                <a:solidFill>
                  <a:srgbClr val="69281B"/>
                </a:solidFill>
              </a:ln>
            </p:spPr>
          </p:sp>
          <p:sp>
            <p:nvSpPr>
              <p:cNvPr id="181" name="Freeform 181"/>
              <p:cNvSpPr/>
              <p:nvPr/>
            </p:nvSpPr>
            <p:spPr>
              <a:xfrm>
                <a:off x="4421981" y="2890838"/>
                <a:ext cx="128588" cy="9525"/>
              </a:xfrm>
              <a:custGeom>
                <a:avLst/>
                <a:gdLst/>
                <a:ahLst/>
                <a:cxnLst/>
                <a:rect l="l" t="t" r="r" b="b"/>
                <a:pathLst>
                  <a:path w="128588" h="9525">
                    <a:moveTo>
                      <a:pt x="0" y="0"/>
                    </a:moveTo>
                    <a:lnTo>
                      <a:pt x="128588" y="0"/>
                    </a:lnTo>
                  </a:path>
                </a:pathLst>
              </a:custGeom>
              <a:noFill/>
              <a:ln w="14288">
                <a:solidFill>
                  <a:srgbClr val="69281B"/>
                </a:solidFill>
              </a:ln>
            </p:spPr>
          </p:sp>
          <p:sp>
            <p:nvSpPr>
              <p:cNvPr id="182" name="Freeform 182"/>
              <p:cNvSpPr/>
              <p:nvPr/>
            </p:nvSpPr>
            <p:spPr>
              <a:xfrm>
                <a:off x="4450556" y="2926556"/>
                <a:ext cx="9525" cy="9525"/>
              </a:xfrm>
              <a:custGeom>
                <a:avLst/>
                <a:gdLst/>
                <a:ahLst/>
                <a:cxnLst/>
                <a:rect l="l" t="t" r="r" b="b"/>
                <a:pathLst>
                  <a:path w="9525" h="9525">
                    <a:moveTo>
                      <a:pt x="0" y="0"/>
                    </a:moveTo>
                    <a:lnTo>
                      <a:pt x="71" y="0"/>
                    </a:lnTo>
                  </a:path>
                </a:pathLst>
              </a:custGeom>
              <a:noFill/>
              <a:ln w="14288">
                <a:solidFill>
                  <a:srgbClr val="69281B"/>
                </a:solidFill>
              </a:ln>
            </p:spPr>
          </p:sp>
          <p:sp>
            <p:nvSpPr>
              <p:cNvPr id="183" name="Freeform 183"/>
              <p:cNvSpPr/>
              <p:nvPr/>
            </p:nvSpPr>
            <p:spPr>
              <a:xfrm>
                <a:off x="4479131" y="2926556"/>
                <a:ext cx="14288" cy="9525"/>
              </a:xfrm>
              <a:custGeom>
                <a:avLst/>
                <a:gdLst/>
                <a:ahLst/>
                <a:cxnLst/>
                <a:rect l="l" t="t" r="r" b="b"/>
                <a:pathLst>
                  <a:path w="14288" h="9525">
                    <a:moveTo>
                      <a:pt x="0" y="0"/>
                    </a:moveTo>
                    <a:lnTo>
                      <a:pt x="14288" y="0"/>
                    </a:lnTo>
                  </a:path>
                </a:pathLst>
              </a:custGeom>
              <a:noFill/>
              <a:ln w="14288">
                <a:solidFill>
                  <a:srgbClr val="69281B"/>
                </a:solidFill>
              </a:ln>
            </p:spPr>
          </p:sp>
        </p:grpSp>
        <p:sp>
          <p:nvSpPr>
            <p:cNvPr id="185" name="TextBox 185"/>
            <p:cNvSpPr txBox="1"/>
            <p:nvPr/>
          </p:nvSpPr>
          <p:spPr>
            <a:xfrm>
              <a:off x="4319968" y="3116580"/>
              <a:ext cx="332613"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活期存款</a:t>
              </a:r>
            </a:p>
          </p:txBody>
        </p:sp>
        <p:sp>
          <p:nvSpPr>
            <p:cNvPr id="186" name="Rectangle 186"/>
            <p:cNvSpPr/>
            <p:nvPr/>
          </p:nvSpPr>
          <p:spPr>
            <a:xfrm>
              <a:off x="4876800" y="2762250"/>
              <a:ext cx="590550" cy="514350"/>
            </a:xfrm>
            <a:prstGeom prst="roundRect">
              <a:avLst>
                <a:gd name="adj" fmla="val 7407"/>
              </a:avLst>
            </a:prstGeom>
            <a:solidFill>
              <a:srgbClr val="F5F8FD"/>
            </a:solidFill>
            <a:ln w="9525">
              <a:solidFill>
                <a:srgbClr val="EBC1B8"/>
              </a:solidFill>
            </a:ln>
          </p:spPr>
        </p:sp>
        <p:grpSp>
          <p:nvGrpSpPr>
            <p:cNvPr id="192" name="Group 192"/>
            <p:cNvGrpSpPr/>
            <p:nvPr/>
          </p:nvGrpSpPr>
          <p:grpSpPr>
            <a:xfrm>
              <a:off x="5107781" y="2839874"/>
              <a:ext cx="128588" cy="129544"/>
              <a:chOff x="5107781" y="2839874"/>
              <a:chExt cx="128588" cy="129544"/>
            </a:xfrm>
          </p:grpSpPr>
          <p:sp>
            <p:nvSpPr>
              <p:cNvPr id="187" name="Freeform 187"/>
              <p:cNvSpPr/>
              <p:nvPr/>
            </p:nvSpPr>
            <p:spPr>
              <a:xfrm>
                <a:off x="5150644" y="289798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69281B"/>
                </a:solidFill>
              </a:ln>
            </p:spPr>
          </p:sp>
          <p:sp>
            <p:nvSpPr>
              <p:cNvPr id="188" name="Freeform 188"/>
              <p:cNvSpPr/>
              <p:nvPr/>
            </p:nvSpPr>
            <p:spPr>
              <a:xfrm>
                <a:off x="5150644" y="291941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69281B"/>
                </a:solidFill>
              </a:ln>
            </p:spPr>
          </p:sp>
          <p:sp>
            <p:nvSpPr>
              <p:cNvPr id="189" name="Freeform 189"/>
              <p:cNvSpPr/>
              <p:nvPr/>
            </p:nvSpPr>
            <p:spPr>
              <a:xfrm>
                <a:off x="5107781" y="283987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69281B"/>
                </a:solidFill>
              </a:ln>
            </p:spPr>
          </p:sp>
          <p:sp>
            <p:nvSpPr>
              <p:cNvPr id="190" name="Freeform 190"/>
              <p:cNvSpPr/>
              <p:nvPr/>
            </p:nvSpPr>
            <p:spPr>
              <a:xfrm>
                <a:off x="5107781" y="286226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69281B"/>
                </a:solidFill>
              </a:ln>
            </p:spPr>
          </p:sp>
          <p:sp>
            <p:nvSpPr>
              <p:cNvPr id="191" name="Freeform 191"/>
              <p:cNvSpPr/>
              <p:nvPr/>
            </p:nvSpPr>
            <p:spPr>
              <a:xfrm>
                <a:off x="5107781" y="289798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69281B"/>
                </a:solidFill>
              </a:ln>
            </p:spPr>
          </p:sp>
        </p:grpSp>
        <p:sp>
          <p:nvSpPr>
            <p:cNvPr id="193" name="TextBox 193"/>
            <p:cNvSpPr txBox="1"/>
            <p:nvPr/>
          </p:nvSpPr>
          <p:spPr>
            <a:xfrm>
              <a:off x="4924996" y="3116580"/>
              <a:ext cx="494157"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单位协定存款</a:t>
              </a:r>
            </a:p>
          </p:txBody>
        </p:sp>
        <p:sp>
          <p:nvSpPr>
            <p:cNvPr id="194" name="Rectangle 194"/>
            <p:cNvSpPr/>
            <p:nvPr/>
          </p:nvSpPr>
          <p:spPr>
            <a:xfrm>
              <a:off x="5562600" y="2762250"/>
              <a:ext cx="590550" cy="514350"/>
            </a:xfrm>
            <a:prstGeom prst="roundRect">
              <a:avLst>
                <a:gd name="adj" fmla="val 7407"/>
              </a:avLst>
            </a:prstGeom>
            <a:solidFill>
              <a:srgbClr val="F5F8FD"/>
            </a:solidFill>
            <a:ln w="9525">
              <a:solidFill>
                <a:srgbClr val="EBC1B8"/>
              </a:solidFill>
            </a:ln>
          </p:spPr>
        </p:sp>
        <p:grpSp>
          <p:nvGrpSpPr>
            <p:cNvPr id="197" name="Group 197"/>
            <p:cNvGrpSpPr/>
            <p:nvPr/>
          </p:nvGrpSpPr>
          <p:grpSpPr>
            <a:xfrm>
              <a:off x="5793581" y="2840831"/>
              <a:ext cx="128588" cy="128588"/>
              <a:chOff x="5793581" y="2840831"/>
              <a:chExt cx="128588" cy="128588"/>
            </a:xfrm>
          </p:grpSpPr>
          <p:sp>
            <p:nvSpPr>
              <p:cNvPr id="195" name="Freeform 195"/>
              <p:cNvSpPr/>
              <p:nvPr/>
            </p:nvSpPr>
            <p:spPr>
              <a:xfrm>
                <a:off x="5793581" y="28408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69281B"/>
                </a:solidFill>
              </a:ln>
            </p:spPr>
          </p:sp>
          <p:sp>
            <p:nvSpPr>
              <p:cNvPr id="196" name="Freeform 196"/>
              <p:cNvSpPr/>
              <p:nvPr/>
            </p:nvSpPr>
            <p:spPr>
              <a:xfrm>
                <a:off x="5857875" y="2869406"/>
                <a:ext cx="21431" cy="57150"/>
              </a:xfrm>
              <a:custGeom>
                <a:avLst/>
                <a:gdLst/>
                <a:ahLst/>
                <a:cxnLst/>
                <a:rect l="l" t="t" r="r" b="b"/>
                <a:pathLst>
                  <a:path w="21431" h="57150">
                    <a:moveTo>
                      <a:pt x="0" y="0"/>
                    </a:moveTo>
                    <a:lnTo>
                      <a:pt x="0" y="35719"/>
                    </a:lnTo>
                    <a:lnTo>
                      <a:pt x="21431" y="57150"/>
                    </a:lnTo>
                  </a:path>
                </a:pathLst>
              </a:custGeom>
              <a:noFill/>
              <a:ln w="14288">
                <a:solidFill>
                  <a:srgbClr val="69281B"/>
                </a:solidFill>
              </a:ln>
            </p:spPr>
          </p:sp>
        </p:grpSp>
        <p:sp>
          <p:nvSpPr>
            <p:cNvPr id="198" name="TextBox 198"/>
            <p:cNvSpPr txBox="1"/>
            <p:nvPr/>
          </p:nvSpPr>
          <p:spPr>
            <a:xfrm>
              <a:off x="5691568" y="3116580"/>
              <a:ext cx="332613"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通知存款</a:t>
              </a:r>
            </a:p>
          </p:txBody>
        </p:sp>
        <p:sp>
          <p:nvSpPr>
            <p:cNvPr id="199" name="Rectangle 199"/>
            <p:cNvSpPr/>
            <p:nvPr/>
          </p:nvSpPr>
          <p:spPr>
            <a:xfrm>
              <a:off x="6248400" y="2762250"/>
              <a:ext cx="590550" cy="514350"/>
            </a:xfrm>
            <a:prstGeom prst="roundRect">
              <a:avLst>
                <a:gd name="adj" fmla="val 7407"/>
              </a:avLst>
            </a:prstGeom>
            <a:solidFill>
              <a:srgbClr val="F5F8FD"/>
            </a:solidFill>
            <a:ln w="9525">
              <a:solidFill>
                <a:srgbClr val="EBC1B8"/>
              </a:solidFill>
            </a:ln>
          </p:spPr>
        </p:sp>
        <p:grpSp>
          <p:nvGrpSpPr>
            <p:cNvPr id="202" name="Group 202"/>
            <p:cNvGrpSpPr/>
            <p:nvPr/>
          </p:nvGrpSpPr>
          <p:grpSpPr>
            <a:xfrm>
              <a:off x="6477390" y="2842060"/>
              <a:ext cx="129150" cy="129350"/>
              <a:chOff x="6477390" y="2842060"/>
              <a:chExt cx="129150" cy="129350"/>
            </a:xfrm>
          </p:grpSpPr>
          <p:sp>
            <p:nvSpPr>
              <p:cNvPr id="200" name="Freeform 200"/>
              <p:cNvSpPr/>
              <p:nvPr/>
            </p:nvSpPr>
            <p:spPr>
              <a:xfrm>
                <a:off x="6477390" y="2842060"/>
                <a:ext cx="129150" cy="129350"/>
              </a:xfrm>
              <a:custGeom>
                <a:avLst/>
                <a:gdLst/>
                <a:ahLst/>
                <a:cxnLst/>
                <a:rect l="l" t="t" r="r" b="b"/>
                <a:pathLst>
                  <a:path w="129150" h="129350">
                    <a:moveTo>
                      <a:pt x="51998" y="200"/>
                    </a:moveTo>
                    <a:cubicBezTo>
                      <a:pt x="21065" y="7371"/>
                      <a:pt x="0" y="36049"/>
                      <a:pt x="2409" y="67710"/>
                    </a:cubicBezTo>
                    <a:cubicBezTo>
                      <a:pt x="4818" y="99372"/>
                      <a:pt x="29979" y="124533"/>
                      <a:pt x="61640" y="126942"/>
                    </a:cubicBezTo>
                    <a:cubicBezTo>
                      <a:pt x="93301" y="129350"/>
                      <a:pt x="121979" y="108285"/>
                      <a:pt x="129150" y="77353"/>
                    </a:cubicBezTo>
                    <a:cubicBezTo>
                      <a:pt x="129150" y="73407"/>
                      <a:pt x="125952" y="70209"/>
                      <a:pt x="122006" y="70209"/>
                    </a:cubicBezTo>
                    <a:lnTo>
                      <a:pt x="73429" y="70209"/>
                    </a:lnTo>
                    <a:cubicBezTo>
                      <a:pt x="65538" y="70209"/>
                      <a:pt x="59141" y="63812"/>
                      <a:pt x="59141" y="55922"/>
                    </a:cubicBezTo>
                    <a:lnTo>
                      <a:pt x="59141" y="5915"/>
                    </a:lnTo>
                    <a:cubicBezTo>
                      <a:pt x="58962" y="4206"/>
                      <a:pt x="58106" y="2639"/>
                      <a:pt x="56763" y="1565"/>
                    </a:cubicBezTo>
                    <a:cubicBezTo>
                      <a:pt x="55421" y="492"/>
                      <a:pt x="53705" y="0"/>
                      <a:pt x="51998" y="200"/>
                    </a:cubicBezTo>
                  </a:path>
                </a:pathLst>
              </a:custGeom>
              <a:noFill/>
              <a:ln w="14288">
                <a:solidFill>
                  <a:srgbClr val="69281B"/>
                </a:solidFill>
              </a:ln>
            </p:spPr>
          </p:sp>
          <p:sp>
            <p:nvSpPr>
              <p:cNvPr id="201" name="Freeform 201"/>
              <p:cNvSpPr/>
              <p:nvPr/>
            </p:nvSpPr>
            <p:spPr>
              <a:xfrm>
                <a:off x="6565106" y="2844403"/>
                <a:ext cx="39291" cy="39291"/>
              </a:xfrm>
              <a:custGeom>
                <a:avLst/>
                <a:gdLst/>
                <a:ahLst/>
                <a:cxnLst/>
                <a:rect l="l" t="t" r="r" b="b"/>
                <a:pathLst>
                  <a:path w="39291" h="39291">
                    <a:moveTo>
                      <a:pt x="0" y="0"/>
                    </a:moveTo>
                    <a:cubicBezTo>
                      <a:pt x="18372" y="6469"/>
                      <a:pt x="32822" y="20918"/>
                      <a:pt x="39291" y="39291"/>
                    </a:cubicBezTo>
                    <a:lnTo>
                      <a:pt x="7144" y="39291"/>
                    </a:lnTo>
                    <a:cubicBezTo>
                      <a:pt x="3198" y="39291"/>
                      <a:pt x="0" y="36092"/>
                      <a:pt x="0" y="32147"/>
                    </a:cubicBezTo>
                    <a:lnTo>
                      <a:pt x="0" y="0"/>
                    </a:lnTo>
                  </a:path>
                </a:pathLst>
              </a:custGeom>
              <a:noFill/>
              <a:ln w="14288">
                <a:solidFill>
                  <a:srgbClr val="69281B"/>
                </a:solidFill>
              </a:ln>
            </p:spPr>
          </p:sp>
        </p:grpSp>
        <p:sp>
          <p:nvSpPr>
            <p:cNvPr id="203" name="TextBox 203"/>
            <p:cNvSpPr txBox="1"/>
            <p:nvPr/>
          </p:nvSpPr>
          <p:spPr>
            <a:xfrm>
              <a:off x="6336982" y="3116580"/>
              <a:ext cx="413385"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结构性存款</a:t>
              </a:r>
            </a:p>
          </p:txBody>
        </p:sp>
        <p:sp>
          <p:nvSpPr>
            <p:cNvPr id="204" name="Rectangle 204"/>
            <p:cNvSpPr/>
            <p:nvPr/>
          </p:nvSpPr>
          <p:spPr>
            <a:xfrm>
              <a:off x="6934200" y="2762250"/>
              <a:ext cx="590550" cy="514350"/>
            </a:xfrm>
            <a:prstGeom prst="roundRect">
              <a:avLst>
                <a:gd name="adj" fmla="val 7407"/>
              </a:avLst>
            </a:prstGeom>
            <a:solidFill>
              <a:srgbClr val="F5F8FD"/>
            </a:solidFill>
            <a:ln w="9525">
              <a:solidFill>
                <a:srgbClr val="EBC1B8"/>
              </a:solidFill>
            </a:ln>
          </p:spPr>
        </p:sp>
        <p:grpSp>
          <p:nvGrpSpPr>
            <p:cNvPr id="207" name="Group 207"/>
            <p:cNvGrpSpPr/>
            <p:nvPr/>
          </p:nvGrpSpPr>
          <p:grpSpPr>
            <a:xfrm>
              <a:off x="7165181" y="2869406"/>
              <a:ext cx="128588" cy="71438"/>
              <a:chOff x="7165181" y="2869406"/>
              <a:chExt cx="128588" cy="71438"/>
            </a:xfrm>
          </p:grpSpPr>
          <p:sp>
            <p:nvSpPr>
              <p:cNvPr id="205" name="Freeform 205"/>
              <p:cNvSpPr/>
              <p:nvPr/>
            </p:nvSpPr>
            <p:spPr>
              <a:xfrm>
                <a:off x="7165181" y="286940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69281B"/>
                </a:solidFill>
              </a:ln>
            </p:spPr>
          </p:sp>
          <p:sp>
            <p:nvSpPr>
              <p:cNvPr id="206" name="Freeform 206"/>
              <p:cNvSpPr/>
              <p:nvPr/>
            </p:nvSpPr>
            <p:spPr>
              <a:xfrm>
                <a:off x="7243762" y="2869406"/>
                <a:ext cx="50006" cy="50006"/>
              </a:xfrm>
              <a:custGeom>
                <a:avLst/>
                <a:gdLst/>
                <a:ahLst/>
                <a:cxnLst/>
                <a:rect l="l" t="t" r="r" b="b"/>
                <a:pathLst>
                  <a:path w="50006" h="50006">
                    <a:moveTo>
                      <a:pt x="0" y="0"/>
                    </a:moveTo>
                    <a:lnTo>
                      <a:pt x="50006" y="0"/>
                    </a:lnTo>
                    <a:lnTo>
                      <a:pt x="50006" y="50006"/>
                    </a:lnTo>
                  </a:path>
                </a:pathLst>
              </a:custGeom>
              <a:noFill/>
              <a:ln w="14288">
                <a:solidFill>
                  <a:srgbClr val="69281B"/>
                </a:solidFill>
              </a:ln>
            </p:spPr>
          </p:sp>
        </p:grpSp>
        <p:sp>
          <p:nvSpPr>
            <p:cNvPr id="208" name="TextBox 208"/>
            <p:cNvSpPr txBox="1"/>
            <p:nvPr/>
          </p:nvSpPr>
          <p:spPr>
            <a:xfrm>
              <a:off x="7063168" y="3116580"/>
              <a:ext cx="332613"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理财直投</a:t>
              </a:r>
            </a:p>
          </p:txBody>
        </p:sp>
        <p:sp>
          <p:nvSpPr>
            <p:cNvPr id="209" name="TextBox 209"/>
            <p:cNvSpPr txBox="1"/>
            <p:nvPr/>
          </p:nvSpPr>
          <p:spPr>
            <a:xfrm>
              <a:off x="4320688" y="3701891"/>
              <a:ext cx="2617175" cy="161925"/>
            </a:xfrm>
            <a:prstGeom prst="rect">
              <a:avLst/>
            </a:prstGeom>
            <a:noFill/>
            <a:ln>
              <a:noFill/>
            </a:ln>
          </p:spPr>
          <p:txBody>
            <a:bodyPr wrap="none" lIns="0" tIns="0" rIns="0" bIns="0" anchor="t" anchorCtr="0">
              <a:spAutoFit/>
            </a:bodyPr>
            <a:lstStyle/>
            <a:p>
              <a:pPr algn="ctr"/>
              <a:r>
                <a:rPr lang="zh-CN" sz="820" b="1" dirty="0">
                  <a:solidFill>
                    <a:srgbClr val="69281B"/>
                  </a:solidFill>
                  <a:latin typeface="+mn-lt"/>
                  <a:ea typeface="+mn-ea"/>
                  <a:cs typeface="+mn-cs"/>
                </a:rPr>
                <a:t>以场景获客 → 以产品留客 → 以服务锁客 → 以生态固客</a:t>
              </a:r>
            </a:p>
          </p:txBody>
        </p:sp>
        <p:sp>
          <p:nvSpPr>
            <p:cNvPr id="210" name="TextBox 210"/>
            <p:cNvSpPr txBox="1"/>
            <p:nvPr/>
          </p:nvSpPr>
          <p:spPr>
            <a:xfrm>
              <a:off x="4978336" y="4179332"/>
              <a:ext cx="1301877" cy="126206"/>
            </a:xfrm>
            <a:prstGeom prst="rect">
              <a:avLst/>
            </a:prstGeom>
            <a:noFill/>
            <a:ln>
              <a:noFill/>
            </a:ln>
          </p:spPr>
          <p:txBody>
            <a:bodyPr wrap="none" lIns="0" tIns="0" rIns="0" bIns="0" anchor="t" anchorCtr="0">
              <a:spAutoFit/>
            </a:bodyPr>
            <a:lstStyle/>
            <a:p>
              <a:pPr algn="ctr"/>
              <a:r>
                <a:rPr lang="zh-CN" sz="640" dirty="0">
                  <a:solidFill>
                    <a:srgbClr val="BEA09A"/>
                  </a:solidFill>
                  <a:latin typeface="+mn-lt"/>
                  <a:ea typeface="+mn-ea"/>
                  <a:cs typeface="+mn-cs"/>
                </a:rPr>
                <a:t>注：飞轮结构与要素为示例内容。</a:t>
              </a:r>
            </a:p>
          </p:txBody>
        </p:sp>
      </p:grpSp>
      <p:grpSp>
        <p:nvGrpSpPr>
          <p:cNvPr id="255" name="actions"/>
          <p:cNvGrpSpPr/>
          <p:nvPr/>
        </p:nvGrpSpPr>
        <p:grpSpPr>
          <a:xfrm>
            <a:off x="7981950" y="685800"/>
            <a:ext cx="3981450" cy="2171700"/>
            <a:chOff x="7981950" y="685800"/>
            <a:chExt cx="3981450" cy="2171700"/>
          </a:xfrm>
        </p:grpSpPr>
        <p:sp>
          <p:nvSpPr>
            <p:cNvPr id="212" name="Rectangle 212"/>
            <p:cNvSpPr/>
            <p:nvPr/>
          </p:nvSpPr>
          <p:spPr>
            <a:xfrm>
              <a:off x="7981950" y="685800"/>
              <a:ext cx="3981450" cy="2171700"/>
            </a:xfrm>
            <a:prstGeom prst="roundRect">
              <a:avLst>
                <a:gd name="adj" fmla="val 2632"/>
              </a:avLst>
            </a:prstGeom>
            <a:solidFill>
              <a:srgbClr val="FFFFFF"/>
            </a:solidFill>
            <a:ln w="9525">
              <a:solidFill>
                <a:srgbClr val="C9D6E9"/>
              </a:solidFill>
            </a:ln>
          </p:spPr>
        </p:sp>
        <p:sp>
          <p:nvSpPr>
            <p:cNvPr id="213" name="Rectangle 213"/>
            <p:cNvSpPr/>
            <p:nvPr/>
          </p:nvSpPr>
          <p:spPr>
            <a:xfrm>
              <a:off x="7981950" y="685800"/>
              <a:ext cx="3981450" cy="209550"/>
            </a:xfrm>
            <a:prstGeom prst="roundRect">
              <a:avLst>
                <a:gd name="adj" fmla="val 27273"/>
              </a:avLst>
            </a:prstGeom>
            <a:solidFill>
              <a:srgbClr val="69281B"/>
            </a:solidFill>
            <a:ln>
              <a:noFill/>
            </a:ln>
          </p:spPr>
        </p:sp>
        <p:sp>
          <p:nvSpPr>
            <p:cNvPr id="214" name="Rectangle 214"/>
            <p:cNvSpPr/>
            <p:nvPr/>
          </p:nvSpPr>
          <p:spPr>
            <a:xfrm>
              <a:off x="7981950" y="800100"/>
              <a:ext cx="3981450" cy="95250"/>
            </a:xfrm>
            <a:prstGeom prst="rect">
              <a:avLst/>
            </a:prstGeom>
            <a:solidFill>
              <a:srgbClr val="69281B"/>
            </a:solidFill>
            <a:ln>
              <a:noFill/>
            </a:ln>
          </p:spPr>
        </p:sp>
        <p:sp>
          <p:nvSpPr>
            <p:cNvPr id="215" name="TextBox 215"/>
            <p:cNvSpPr txBox="1"/>
            <p:nvPr/>
          </p:nvSpPr>
          <p:spPr>
            <a:xfrm>
              <a:off x="9256597" y="739616"/>
              <a:ext cx="143215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2026年下半年四项攻坚行动​</a:t>
              </a:r>
            </a:p>
          </p:txBody>
        </p:sp>
        <p:sp>
          <p:nvSpPr>
            <p:cNvPr id="216" name="Rectangle 216"/>
            <p:cNvSpPr/>
            <p:nvPr/>
          </p:nvSpPr>
          <p:spPr>
            <a:xfrm>
              <a:off x="8077200" y="990600"/>
              <a:ext cx="247650" cy="247650"/>
            </a:xfrm>
            <a:prstGeom prst="rect">
              <a:avLst/>
            </a:prstGeom>
            <a:solidFill>
              <a:srgbClr val="69281B"/>
            </a:solidFill>
            <a:ln>
              <a:noFill/>
            </a:ln>
          </p:spPr>
        </p:sp>
        <p:sp>
          <p:nvSpPr>
            <p:cNvPr id="217" name="TextBox 217"/>
            <p:cNvSpPr txBox="1"/>
            <p:nvPr/>
          </p:nvSpPr>
          <p:spPr>
            <a:xfrm>
              <a:off x="8100639" y="1072991"/>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01​</a:t>
              </a:r>
            </a:p>
          </p:txBody>
        </p:sp>
        <p:grpSp>
          <p:nvGrpSpPr>
            <p:cNvPr id="221" name="Group 221"/>
            <p:cNvGrpSpPr/>
            <p:nvPr/>
          </p:nvGrpSpPr>
          <p:grpSpPr>
            <a:xfrm>
              <a:off x="8427244" y="1035844"/>
              <a:ext cx="157163" cy="157163"/>
              <a:chOff x="8427244" y="1035844"/>
              <a:chExt cx="157163" cy="157163"/>
            </a:xfrm>
          </p:grpSpPr>
          <p:sp>
            <p:nvSpPr>
              <p:cNvPr id="218" name="Freeform 218"/>
              <p:cNvSpPr/>
              <p:nvPr/>
            </p:nvSpPr>
            <p:spPr>
              <a:xfrm>
                <a:off x="8497094" y="110569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E04C2E"/>
                </a:solidFill>
              </a:ln>
            </p:spPr>
          </p:sp>
          <p:sp>
            <p:nvSpPr>
              <p:cNvPr id="219" name="Freeform 219"/>
              <p:cNvSpPr/>
              <p:nvPr/>
            </p:nvSpPr>
            <p:spPr>
              <a:xfrm>
                <a:off x="8462169" y="107076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E04C2E"/>
                </a:solidFill>
              </a:ln>
            </p:spPr>
          </p:sp>
          <p:sp>
            <p:nvSpPr>
              <p:cNvPr id="220" name="Freeform 220"/>
              <p:cNvSpPr/>
              <p:nvPr/>
            </p:nvSpPr>
            <p:spPr>
              <a:xfrm>
                <a:off x="8427244" y="10358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E04C2E"/>
                </a:solidFill>
              </a:ln>
            </p:spPr>
          </p:sp>
        </p:grpSp>
        <p:sp>
          <p:nvSpPr>
            <p:cNvPr id="222" name="TextBox 222"/>
            <p:cNvSpPr txBox="1"/>
            <p:nvPr/>
          </p:nvSpPr>
          <p:spPr>
            <a:xfrm>
              <a:off x="8701088" y="1023938"/>
              <a:ext cx="81724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百户核心企业深耕</a:t>
              </a:r>
            </a:p>
          </p:txBody>
        </p:sp>
        <p:sp>
          <p:nvSpPr>
            <p:cNvPr id="223" name="TextBox 223"/>
            <p:cNvSpPr txBox="1"/>
            <p:nvPr/>
          </p:nvSpPr>
          <p:spPr>
            <a:xfrm>
              <a:off x="8701088" y="1165574"/>
              <a:ext cx="1713611"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聚焦存量核心企业名单，实施“一户一策”综合服务</a:t>
              </a:r>
            </a:p>
            <a:p>
              <a:pPr algn="l" marL="76200" indent="-76200">
                <a:lnSpc>
                  <a:spcPts val="750"/>
                </a:lnSpc>
                <a:buClr>
                  <a:srgbClr val="70504A"/>
                </a:buClr>
                <a:buSzTx/>
                <a:buFontTx/>
                <a:buChar char="•"/>
              </a:pPr>
              <a:r>
                <a:rPr lang="zh-CN" sz="580" dirty="0">
                  <a:solidFill>
                    <a:srgbClr val="70504A"/>
                  </a:solidFill>
                  <a:latin typeface="+mn-lt"/>
                  <a:ea typeface="+mn-ea"/>
                  <a:cs typeface="+mn-cs"/>
                </a:rPr>
                <a:t>强化高层对接与资金归集，提升集团资金集中度</a:t>
              </a:r>
            </a:p>
          </p:txBody>
        </p:sp>
        <p:sp>
          <p:nvSpPr>
            <p:cNvPr id="224" name="Line 224"/>
            <p:cNvSpPr/>
            <p:nvPr/>
          </p:nvSpPr>
          <p:spPr>
            <a:xfrm>
              <a:off x="8077200" y="1409700"/>
              <a:ext cx="3790950" cy="9525"/>
            </a:xfrm>
            <a:custGeom>
              <a:avLst/>
              <a:gdLst/>
              <a:ahLst/>
              <a:cxnLst/>
              <a:rect l="l" t="t" r="r" b="b"/>
              <a:pathLst>
                <a:path w="3790950" h="9525">
                  <a:moveTo>
                    <a:pt x="0" y="0"/>
                  </a:moveTo>
                  <a:lnTo>
                    <a:pt x="3790950" y="0"/>
                  </a:lnTo>
                </a:path>
              </a:pathLst>
            </a:custGeom>
            <a:noFill/>
            <a:ln w="9525">
              <a:solidFill>
                <a:srgbClr val="EDF2FA"/>
              </a:solidFill>
            </a:ln>
          </p:spPr>
        </p:sp>
        <p:sp>
          <p:nvSpPr>
            <p:cNvPr id="225" name="Rectangle 225"/>
            <p:cNvSpPr/>
            <p:nvPr/>
          </p:nvSpPr>
          <p:spPr>
            <a:xfrm>
              <a:off x="8077200" y="1466850"/>
              <a:ext cx="247650" cy="247650"/>
            </a:xfrm>
            <a:prstGeom prst="rect">
              <a:avLst/>
            </a:prstGeom>
            <a:solidFill>
              <a:srgbClr val="69281B"/>
            </a:solidFill>
            <a:ln>
              <a:noFill/>
            </a:ln>
          </p:spPr>
        </p:sp>
        <p:sp>
          <p:nvSpPr>
            <p:cNvPr id="226" name="TextBox 226"/>
            <p:cNvSpPr txBox="1"/>
            <p:nvPr/>
          </p:nvSpPr>
          <p:spPr>
            <a:xfrm>
              <a:off x="8100639" y="1549241"/>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02​</a:t>
              </a:r>
            </a:p>
          </p:txBody>
        </p:sp>
        <p:grpSp>
          <p:nvGrpSpPr>
            <p:cNvPr id="235" name="Group 235"/>
            <p:cNvGrpSpPr/>
            <p:nvPr/>
          </p:nvGrpSpPr>
          <p:grpSpPr>
            <a:xfrm>
              <a:off x="8427244" y="1512094"/>
              <a:ext cx="157956" cy="166687"/>
              <a:chOff x="8427244" y="1512094"/>
              <a:chExt cx="157956" cy="166687"/>
            </a:xfrm>
          </p:grpSpPr>
          <p:sp>
            <p:nvSpPr>
              <p:cNvPr id="227" name="Freeform 227"/>
              <p:cNvSpPr/>
              <p:nvPr/>
            </p:nvSpPr>
            <p:spPr>
              <a:xfrm>
                <a:off x="8427244" y="1669256"/>
                <a:ext cx="157163" cy="9525"/>
              </a:xfrm>
              <a:custGeom>
                <a:avLst/>
                <a:gdLst/>
                <a:ahLst/>
                <a:cxnLst/>
                <a:rect l="l" t="t" r="r" b="b"/>
                <a:pathLst>
                  <a:path w="157163" h="9525">
                    <a:moveTo>
                      <a:pt x="0" y="0"/>
                    </a:moveTo>
                    <a:lnTo>
                      <a:pt x="157163" y="0"/>
                    </a:lnTo>
                  </a:path>
                </a:pathLst>
              </a:custGeom>
              <a:noFill/>
              <a:ln w="17463">
                <a:solidFill>
                  <a:srgbClr val="E04C2E"/>
                </a:solidFill>
              </a:ln>
            </p:spPr>
          </p:sp>
          <p:sp>
            <p:nvSpPr>
              <p:cNvPr id="228" name="Freeform 228"/>
              <p:cNvSpPr/>
              <p:nvPr/>
            </p:nvSpPr>
            <p:spPr>
              <a:xfrm>
                <a:off x="8427244" y="1573213"/>
                <a:ext cx="157163" cy="9525"/>
              </a:xfrm>
              <a:custGeom>
                <a:avLst/>
                <a:gdLst/>
                <a:ahLst/>
                <a:cxnLst/>
                <a:rect l="l" t="t" r="r" b="b"/>
                <a:pathLst>
                  <a:path w="157163" h="9525">
                    <a:moveTo>
                      <a:pt x="0" y="0"/>
                    </a:moveTo>
                    <a:lnTo>
                      <a:pt x="157163" y="0"/>
                    </a:lnTo>
                  </a:path>
                </a:pathLst>
              </a:custGeom>
              <a:noFill/>
              <a:ln w="17463">
                <a:solidFill>
                  <a:srgbClr val="E04C2E"/>
                </a:solidFill>
              </a:ln>
            </p:spPr>
          </p:sp>
          <p:sp>
            <p:nvSpPr>
              <p:cNvPr id="229" name="Freeform 229"/>
              <p:cNvSpPr/>
              <p:nvPr/>
            </p:nvSpPr>
            <p:spPr>
              <a:xfrm>
                <a:off x="8444706" y="1512094"/>
                <a:ext cx="122238" cy="26194"/>
              </a:xfrm>
              <a:custGeom>
                <a:avLst/>
                <a:gdLst/>
                <a:ahLst/>
                <a:cxnLst/>
                <a:rect l="l" t="t" r="r" b="b"/>
                <a:pathLst>
                  <a:path w="122238" h="26194">
                    <a:moveTo>
                      <a:pt x="0" y="26194"/>
                    </a:moveTo>
                    <a:lnTo>
                      <a:pt x="61119" y="0"/>
                    </a:lnTo>
                    <a:lnTo>
                      <a:pt x="122238" y="26194"/>
                    </a:lnTo>
                  </a:path>
                </a:pathLst>
              </a:custGeom>
              <a:noFill/>
              <a:ln w="17463">
                <a:solidFill>
                  <a:srgbClr val="E04C2E"/>
                </a:solidFill>
              </a:ln>
            </p:spPr>
          </p:sp>
          <p:sp>
            <p:nvSpPr>
              <p:cNvPr id="230" name="Freeform 230"/>
              <p:cNvSpPr/>
              <p:nvPr/>
            </p:nvSpPr>
            <p:spPr>
              <a:xfrm>
                <a:off x="8435975" y="1573213"/>
                <a:ext cx="9525" cy="96044"/>
              </a:xfrm>
              <a:custGeom>
                <a:avLst/>
                <a:gdLst/>
                <a:ahLst/>
                <a:cxnLst/>
                <a:rect l="l" t="t" r="r" b="b"/>
                <a:pathLst>
                  <a:path w="9525" h="96044">
                    <a:moveTo>
                      <a:pt x="0" y="0"/>
                    </a:moveTo>
                    <a:lnTo>
                      <a:pt x="0" y="96044"/>
                    </a:lnTo>
                  </a:path>
                </a:pathLst>
              </a:custGeom>
              <a:noFill/>
              <a:ln w="17463">
                <a:solidFill>
                  <a:srgbClr val="E04C2E"/>
                </a:solidFill>
              </a:ln>
            </p:spPr>
          </p:sp>
          <p:sp>
            <p:nvSpPr>
              <p:cNvPr id="231" name="Freeform 231"/>
              <p:cNvSpPr/>
              <p:nvPr/>
            </p:nvSpPr>
            <p:spPr>
              <a:xfrm>
                <a:off x="8575675" y="1573213"/>
                <a:ext cx="9525" cy="96044"/>
              </a:xfrm>
              <a:custGeom>
                <a:avLst/>
                <a:gdLst/>
                <a:ahLst/>
                <a:cxnLst/>
                <a:rect l="l" t="t" r="r" b="b"/>
                <a:pathLst>
                  <a:path w="9525" h="96044">
                    <a:moveTo>
                      <a:pt x="0" y="0"/>
                    </a:moveTo>
                    <a:lnTo>
                      <a:pt x="0" y="96044"/>
                    </a:lnTo>
                  </a:path>
                </a:pathLst>
              </a:custGeom>
              <a:noFill/>
              <a:ln w="17463">
                <a:solidFill>
                  <a:srgbClr val="E04C2E"/>
                </a:solidFill>
              </a:ln>
            </p:spPr>
          </p:sp>
          <p:sp>
            <p:nvSpPr>
              <p:cNvPr id="232" name="Freeform 232"/>
              <p:cNvSpPr/>
              <p:nvPr/>
            </p:nvSpPr>
            <p:spPr>
              <a:xfrm>
                <a:off x="8470900" y="1608138"/>
                <a:ext cx="9525" cy="26194"/>
              </a:xfrm>
              <a:custGeom>
                <a:avLst/>
                <a:gdLst/>
                <a:ahLst/>
                <a:cxnLst/>
                <a:rect l="l" t="t" r="r" b="b"/>
                <a:pathLst>
                  <a:path w="9525" h="26194">
                    <a:moveTo>
                      <a:pt x="0" y="0"/>
                    </a:moveTo>
                    <a:lnTo>
                      <a:pt x="0" y="26194"/>
                    </a:lnTo>
                  </a:path>
                </a:pathLst>
              </a:custGeom>
              <a:noFill/>
              <a:ln w="17463">
                <a:solidFill>
                  <a:srgbClr val="E04C2E"/>
                </a:solidFill>
              </a:ln>
            </p:spPr>
          </p:sp>
          <p:sp>
            <p:nvSpPr>
              <p:cNvPr id="233" name="Freeform 233"/>
              <p:cNvSpPr/>
              <p:nvPr/>
            </p:nvSpPr>
            <p:spPr>
              <a:xfrm>
                <a:off x="8505825" y="1608138"/>
                <a:ext cx="9525" cy="26194"/>
              </a:xfrm>
              <a:custGeom>
                <a:avLst/>
                <a:gdLst/>
                <a:ahLst/>
                <a:cxnLst/>
                <a:rect l="l" t="t" r="r" b="b"/>
                <a:pathLst>
                  <a:path w="9525" h="26194">
                    <a:moveTo>
                      <a:pt x="0" y="0"/>
                    </a:moveTo>
                    <a:lnTo>
                      <a:pt x="0" y="26194"/>
                    </a:lnTo>
                  </a:path>
                </a:pathLst>
              </a:custGeom>
              <a:noFill/>
              <a:ln w="17463">
                <a:solidFill>
                  <a:srgbClr val="E04C2E"/>
                </a:solidFill>
              </a:ln>
            </p:spPr>
          </p:sp>
          <p:sp>
            <p:nvSpPr>
              <p:cNvPr id="234" name="Freeform 234"/>
              <p:cNvSpPr/>
              <p:nvPr/>
            </p:nvSpPr>
            <p:spPr>
              <a:xfrm>
                <a:off x="8540750" y="1608138"/>
                <a:ext cx="9525" cy="26194"/>
              </a:xfrm>
              <a:custGeom>
                <a:avLst/>
                <a:gdLst/>
                <a:ahLst/>
                <a:cxnLst/>
                <a:rect l="l" t="t" r="r" b="b"/>
                <a:pathLst>
                  <a:path w="9525" h="26194">
                    <a:moveTo>
                      <a:pt x="0" y="0"/>
                    </a:moveTo>
                    <a:lnTo>
                      <a:pt x="0" y="26194"/>
                    </a:lnTo>
                  </a:path>
                </a:pathLst>
              </a:custGeom>
              <a:noFill/>
              <a:ln w="17463">
                <a:solidFill>
                  <a:srgbClr val="E04C2E"/>
                </a:solidFill>
              </a:ln>
            </p:spPr>
          </p:sp>
        </p:grpSp>
        <p:sp>
          <p:nvSpPr>
            <p:cNvPr id="236" name="TextBox 236"/>
            <p:cNvSpPr txBox="1"/>
            <p:nvPr/>
          </p:nvSpPr>
          <p:spPr>
            <a:xfrm>
              <a:off x="8701088" y="1500188"/>
              <a:ext cx="81724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园区楼宇批量拓户</a:t>
              </a:r>
            </a:p>
          </p:txBody>
        </p:sp>
        <p:sp>
          <p:nvSpPr>
            <p:cNvPr id="237" name="TextBox 237"/>
            <p:cNvSpPr txBox="1"/>
            <p:nvPr/>
          </p:nvSpPr>
          <p:spPr>
            <a:xfrm>
              <a:off x="8701088" y="1641824"/>
              <a:ext cx="1566291"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聚焦重点园区、楼宇，批量营销入驻企业</a:t>
              </a:r>
            </a:p>
            <a:p>
              <a:pPr algn="l" marL="76200" indent="-76200">
                <a:lnSpc>
                  <a:spcPts val="750"/>
                </a:lnSpc>
                <a:buClr>
                  <a:srgbClr val="70504A"/>
                </a:buClr>
                <a:buSzTx/>
                <a:buFontTx/>
                <a:buChar char="•"/>
              </a:pPr>
              <a:r>
                <a:rPr lang="zh-CN" sz="580" dirty="0">
                  <a:solidFill>
                    <a:srgbClr val="70504A"/>
                  </a:solidFill>
                  <a:latin typeface="+mn-lt"/>
                  <a:ea typeface="+mn-ea"/>
                  <a:cs typeface="+mn-cs"/>
                </a:rPr>
                <a:t>打造园区专属结算+代发+供应链综合服务方案</a:t>
              </a:r>
            </a:p>
          </p:txBody>
        </p:sp>
        <p:sp>
          <p:nvSpPr>
            <p:cNvPr id="238" name="Line 238"/>
            <p:cNvSpPr/>
            <p:nvPr/>
          </p:nvSpPr>
          <p:spPr>
            <a:xfrm>
              <a:off x="8077200" y="1885950"/>
              <a:ext cx="3790950" cy="9525"/>
            </a:xfrm>
            <a:custGeom>
              <a:avLst/>
              <a:gdLst/>
              <a:ahLst/>
              <a:cxnLst/>
              <a:rect l="l" t="t" r="r" b="b"/>
              <a:pathLst>
                <a:path w="3790950" h="9525">
                  <a:moveTo>
                    <a:pt x="0" y="0"/>
                  </a:moveTo>
                  <a:lnTo>
                    <a:pt x="3790950" y="0"/>
                  </a:lnTo>
                </a:path>
              </a:pathLst>
            </a:custGeom>
            <a:noFill/>
            <a:ln w="9525">
              <a:solidFill>
                <a:srgbClr val="EDF2FA"/>
              </a:solidFill>
            </a:ln>
          </p:spPr>
        </p:sp>
        <p:sp>
          <p:nvSpPr>
            <p:cNvPr id="239" name="Rectangle 239"/>
            <p:cNvSpPr/>
            <p:nvPr/>
          </p:nvSpPr>
          <p:spPr>
            <a:xfrm>
              <a:off x="8077200" y="1943100"/>
              <a:ext cx="247650" cy="247650"/>
            </a:xfrm>
            <a:prstGeom prst="rect">
              <a:avLst/>
            </a:prstGeom>
            <a:solidFill>
              <a:srgbClr val="69281B"/>
            </a:solidFill>
            <a:ln>
              <a:noFill/>
            </a:ln>
          </p:spPr>
        </p:sp>
        <p:sp>
          <p:nvSpPr>
            <p:cNvPr id="240" name="TextBox 240"/>
            <p:cNvSpPr txBox="1"/>
            <p:nvPr/>
          </p:nvSpPr>
          <p:spPr>
            <a:xfrm>
              <a:off x="8100639" y="2025491"/>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03​</a:t>
              </a:r>
            </a:p>
          </p:txBody>
        </p:sp>
        <p:grpSp>
          <p:nvGrpSpPr>
            <p:cNvPr id="243" name="Group 243"/>
            <p:cNvGrpSpPr/>
            <p:nvPr/>
          </p:nvGrpSpPr>
          <p:grpSpPr>
            <a:xfrm>
              <a:off x="8415460" y="1988344"/>
              <a:ext cx="170506" cy="157162"/>
              <a:chOff x="8415460" y="1988344"/>
              <a:chExt cx="170506" cy="157162"/>
            </a:xfrm>
          </p:grpSpPr>
          <p:sp>
            <p:nvSpPr>
              <p:cNvPr id="241" name="Freeform 241"/>
              <p:cNvSpPr/>
              <p:nvPr/>
            </p:nvSpPr>
            <p:spPr>
              <a:xfrm>
                <a:off x="8415460" y="198834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E04C2E"/>
                </a:solidFill>
              </a:ln>
            </p:spPr>
          </p:sp>
          <p:sp>
            <p:nvSpPr>
              <p:cNvPr id="242" name="Freeform 242"/>
              <p:cNvSpPr/>
              <p:nvPr/>
            </p:nvSpPr>
            <p:spPr>
              <a:xfrm>
                <a:off x="8532019" y="2110581"/>
                <a:ext cx="52388" cy="34925"/>
              </a:xfrm>
              <a:custGeom>
                <a:avLst/>
                <a:gdLst/>
                <a:ahLst/>
                <a:cxnLst/>
                <a:rect l="l" t="t" r="r" b="b"/>
                <a:pathLst>
                  <a:path w="52388" h="34925">
                    <a:moveTo>
                      <a:pt x="0" y="17463"/>
                    </a:moveTo>
                    <a:lnTo>
                      <a:pt x="17463" y="34925"/>
                    </a:lnTo>
                    <a:lnTo>
                      <a:pt x="52388" y="0"/>
                    </a:lnTo>
                  </a:path>
                </a:pathLst>
              </a:custGeom>
              <a:noFill/>
              <a:ln w="17463">
                <a:solidFill>
                  <a:srgbClr val="E04C2E"/>
                </a:solidFill>
              </a:ln>
            </p:spPr>
          </p:sp>
        </p:grpSp>
        <p:sp>
          <p:nvSpPr>
            <p:cNvPr id="244" name="TextBox 244"/>
            <p:cNvSpPr txBox="1"/>
            <p:nvPr/>
          </p:nvSpPr>
          <p:spPr>
            <a:xfrm>
              <a:off x="8701088" y="1976438"/>
              <a:ext cx="81724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财政监管资金营销</a:t>
              </a:r>
            </a:p>
          </p:txBody>
        </p:sp>
        <p:sp>
          <p:nvSpPr>
            <p:cNvPr id="245" name="TextBox 245"/>
            <p:cNvSpPr txBox="1"/>
            <p:nvPr/>
          </p:nvSpPr>
          <p:spPr>
            <a:xfrm>
              <a:off x="8701088" y="2118074"/>
              <a:ext cx="155892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紧盯财政、社保、医保、教育等监管资金客户</a:t>
              </a:r>
            </a:p>
            <a:p>
              <a:pPr algn="l" marL="76200" indent="-76200">
                <a:lnSpc>
                  <a:spcPts val="750"/>
                </a:lnSpc>
                <a:buClr>
                  <a:srgbClr val="70504A"/>
                </a:buClr>
                <a:buSzTx/>
                <a:buFontTx/>
                <a:buChar char="•"/>
              </a:pPr>
              <a:r>
                <a:rPr lang="zh-CN" sz="580" dirty="0">
                  <a:solidFill>
                    <a:srgbClr val="70504A"/>
                  </a:solidFill>
                  <a:latin typeface="+mn-lt"/>
                  <a:ea typeface="+mn-ea"/>
                  <a:cs typeface="+mn-cs"/>
                </a:rPr>
                <a:t>强化专户单位开户推动，资金归集与滞留沉淀</a:t>
              </a:r>
            </a:p>
          </p:txBody>
        </p:sp>
        <p:sp>
          <p:nvSpPr>
            <p:cNvPr id="246" name="Line 246"/>
            <p:cNvSpPr/>
            <p:nvPr/>
          </p:nvSpPr>
          <p:spPr>
            <a:xfrm>
              <a:off x="8077200" y="2362200"/>
              <a:ext cx="3790950" cy="9525"/>
            </a:xfrm>
            <a:custGeom>
              <a:avLst/>
              <a:gdLst/>
              <a:ahLst/>
              <a:cxnLst/>
              <a:rect l="l" t="t" r="r" b="b"/>
              <a:pathLst>
                <a:path w="3790950" h="9525">
                  <a:moveTo>
                    <a:pt x="0" y="0"/>
                  </a:moveTo>
                  <a:lnTo>
                    <a:pt x="3790950" y="0"/>
                  </a:lnTo>
                </a:path>
              </a:pathLst>
            </a:custGeom>
            <a:noFill/>
            <a:ln w="9525">
              <a:solidFill>
                <a:srgbClr val="EDF2FA"/>
              </a:solidFill>
            </a:ln>
          </p:spPr>
        </p:sp>
        <p:sp>
          <p:nvSpPr>
            <p:cNvPr id="247" name="Rectangle 247"/>
            <p:cNvSpPr/>
            <p:nvPr/>
          </p:nvSpPr>
          <p:spPr>
            <a:xfrm>
              <a:off x="8077200" y="2419350"/>
              <a:ext cx="247650" cy="247650"/>
            </a:xfrm>
            <a:prstGeom prst="rect">
              <a:avLst/>
            </a:prstGeom>
            <a:solidFill>
              <a:srgbClr val="69281B"/>
            </a:solidFill>
            <a:ln>
              <a:noFill/>
            </a:ln>
          </p:spPr>
        </p:sp>
        <p:sp>
          <p:nvSpPr>
            <p:cNvPr id="248" name="TextBox 248"/>
            <p:cNvSpPr txBox="1"/>
            <p:nvPr/>
          </p:nvSpPr>
          <p:spPr>
            <a:xfrm>
              <a:off x="8100639" y="2501741"/>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04​</a:t>
              </a:r>
            </a:p>
          </p:txBody>
        </p:sp>
        <p:grpSp>
          <p:nvGrpSpPr>
            <p:cNvPr id="252" name="Group 252"/>
            <p:cNvGrpSpPr/>
            <p:nvPr/>
          </p:nvGrpSpPr>
          <p:grpSpPr>
            <a:xfrm>
              <a:off x="8435974" y="2469059"/>
              <a:ext cx="143954" cy="148214"/>
              <a:chOff x="8435974" y="2469059"/>
              <a:chExt cx="143954" cy="148214"/>
            </a:xfrm>
          </p:grpSpPr>
          <p:sp>
            <p:nvSpPr>
              <p:cNvPr id="249" name="Freeform 249"/>
              <p:cNvSpPr/>
              <p:nvPr/>
            </p:nvSpPr>
            <p:spPr>
              <a:xfrm>
                <a:off x="8479631" y="2516981"/>
                <a:ext cx="52388" cy="52388"/>
              </a:xfrm>
              <a:custGeom>
                <a:avLst/>
                <a:gdLst/>
                <a:ahLst/>
                <a:cxnLst/>
                <a:rect l="l" t="t" r="r" b="b"/>
                <a:pathLst>
                  <a:path w="52388" h="52388">
                    <a:moveTo>
                      <a:pt x="0" y="52388"/>
                    </a:moveTo>
                    <a:lnTo>
                      <a:pt x="52388" y="0"/>
                    </a:lnTo>
                  </a:path>
                </a:pathLst>
              </a:custGeom>
              <a:noFill/>
              <a:ln w="17463">
                <a:solidFill>
                  <a:srgbClr val="E04C2E"/>
                </a:solidFill>
              </a:ln>
            </p:spPr>
          </p:sp>
          <p:sp>
            <p:nvSpPr>
              <p:cNvPr id="250" name="Freeform 250"/>
              <p:cNvSpPr/>
              <p:nvPr/>
            </p:nvSpPr>
            <p:spPr>
              <a:xfrm>
                <a:off x="8497094" y="2469059"/>
                <a:ext cx="82834" cy="82847"/>
              </a:xfrm>
              <a:custGeom>
                <a:avLst/>
                <a:gdLst/>
                <a:ahLst/>
                <a:cxnLst/>
                <a:rect l="l" t="t" r="r" b="b"/>
                <a:pathLst>
                  <a:path w="82834" h="82847">
                    <a:moveTo>
                      <a:pt x="0" y="21729"/>
                    </a:moveTo>
                    <a:lnTo>
                      <a:pt x="4043" y="17049"/>
                    </a:lnTo>
                    <a:cubicBezTo>
                      <a:pt x="21094" y="0"/>
                      <a:pt x="48737" y="2"/>
                      <a:pt x="65786" y="17053"/>
                    </a:cubicBezTo>
                    <a:cubicBezTo>
                      <a:pt x="82834" y="34104"/>
                      <a:pt x="82832" y="61747"/>
                      <a:pt x="65781" y="78796"/>
                    </a:cubicBezTo>
                    <a:lnTo>
                      <a:pt x="61119" y="82847"/>
                    </a:lnTo>
                  </a:path>
                </a:pathLst>
              </a:custGeom>
              <a:noFill/>
              <a:ln w="17463">
                <a:solidFill>
                  <a:srgbClr val="E04C2E"/>
                </a:solidFill>
              </a:ln>
            </p:spPr>
          </p:sp>
          <p:sp>
            <p:nvSpPr>
              <p:cNvPr id="251" name="Freeform 251"/>
              <p:cNvSpPr/>
              <p:nvPr/>
            </p:nvSpPr>
            <p:spPr>
              <a:xfrm>
                <a:off x="8435974" y="2534444"/>
                <a:ext cx="78583" cy="82829"/>
              </a:xfrm>
              <a:custGeom>
                <a:avLst/>
                <a:gdLst/>
                <a:ahLst/>
                <a:cxnLst/>
                <a:rect l="l" t="t" r="r" b="b"/>
                <a:pathLst>
                  <a:path w="78583" h="82829">
                    <a:moveTo>
                      <a:pt x="78583" y="61119"/>
                    </a:moveTo>
                    <a:lnTo>
                      <a:pt x="75116" y="65781"/>
                    </a:lnTo>
                    <a:cubicBezTo>
                      <a:pt x="57876" y="82829"/>
                      <a:pt x="30128" y="82829"/>
                      <a:pt x="12889" y="65781"/>
                    </a:cubicBezTo>
                    <a:cubicBezTo>
                      <a:pt x="4641" y="57626"/>
                      <a:pt x="0" y="46510"/>
                      <a:pt x="0" y="34912"/>
                    </a:cubicBezTo>
                    <a:cubicBezTo>
                      <a:pt x="0" y="23314"/>
                      <a:pt x="4641" y="12197"/>
                      <a:pt x="12889" y="4043"/>
                    </a:cubicBezTo>
                    <a:lnTo>
                      <a:pt x="17464" y="0"/>
                    </a:lnTo>
                  </a:path>
                </a:pathLst>
              </a:custGeom>
              <a:noFill/>
              <a:ln w="17463">
                <a:solidFill>
                  <a:srgbClr val="E04C2E"/>
                </a:solidFill>
              </a:ln>
            </p:spPr>
          </p:sp>
        </p:grpSp>
        <p:sp>
          <p:nvSpPr>
            <p:cNvPr id="253" name="TextBox 253"/>
            <p:cNvSpPr txBox="1"/>
            <p:nvPr/>
          </p:nvSpPr>
          <p:spPr>
            <a:xfrm>
              <a:off x="8701088" y="2452688"/>
              <a:ext cx="615315"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结算场景绑定</a:t>
              </a:r>
            </a:p>
          </p:txBody>
        </p:sp>
        <p:sp>
          <p:nvSpPr>
            <p:cNvPr id="254" name="TextBox 254"/>
            <p:cNvSpPr txBox="1"/>
            <p:nvPr/>
          </p:nvSpPr>
          <p:spPr>
            <a:xfrm>
              <a:off x="8701088" y="2594324"/>
              <a:ext cx="1706245" cy="2114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拓展企业结算规模与履约占比，绑定核心结算链路</a:t>
              </a:r>
            </a:p>
            <a:p>
              <a:pPr algn="l" marL="76200" indent="-76200">
                <a:lnSpc>
                  <a:spcPts val="750"/>
                </a:lnSpc>
                <a:buClr>
                  <a:srgbClr val="70504A"/>
                </a:buClr>
                <a:buSzTx/>
                <a:buFontTx/>
                <a:buChar char="•"/>
              </a:pPr>
              <a:r>
                <a:rPr lang="zh-CN" sz="580" dirty="0">
                  <a:solidFill>
                    <a:srgbClr val="70504A"/>
                  </a:solidFill>
                  <a:latin typeface="+mn-lt"/>
                  <a:ea typeface="+mn-ea"/>
                  <a:cs typeface="+mn-cs"/>
                </a:rPr>
                <a:t>提供银企直联、电子回单、代发代扣等高频场景</a:t>
              </a:r>
            </a:p>
          </p:txBody>
        </p:sp>
      </p:grpSp>
      <p:grpSp>
        <p:nvGrpSpPr>
          <p:cNvPr id="298" name="core-targets"/>
          <p:cNvGrpSpPr/>
          <p:nvPr/>
        </p:nvGrpSpPr>
        <p:grpSpPr>
          <a:xfrm>
            <a:off x="7981950" y="2933700"/>
            <a:ext cx="3981450" cy="1543050"/>
            <a:chOff x="7981950" y="2933700"/>
            <a:chExt cx="3981450" cy="1543050"/>
          </a:xfrm>
        </p:grpSpPr>
        <p:sp>
          <p:nvSpPr>
            <p:cNvPr id="256" name="Rectangle 256"/>
            <p:cNvSpPr/>
            <p:nvPr/>
          </p:nvSpPr>
          <p:spPr>
            <a:xfrm>
              <a:off x="7981950" y="2933700"/>
              <a:ext cx="3981450" cy="1543050"/>
            </a:xfrm>
            <a:prstGeom prst="roundRect">
              <a:avLst>
                <a:gd name="adj" fmla="val 3704"/>
              </a:avLst>
            </a:prstGeom>
            <a:solidFill>
              <a:srgbClr val="FFFFFF"/>
            </a:solidFill>
            <a:ln w="9525">
              <a:solidFill>
                <a:srgbClr val="C9D6E9"/>
              </a:solidFill>
            </a:ln>
          </p:spPr>
        </p:sp>
        <p:sp>
          <p:nvSpPr>
            <p:cNvPr id="257" name="Rectangle 257"/>
            <p:cNvSpPr/>
            <p:nvPr/>
          </p:nvSpPr>
          <p:spPr>
            <a:xfrm>
              <a:off x="7981950" y="2933700"/>
              <a:ext cx="3981450" cy="209550"/>
            </a:xfrm>
            <a:prstGeom prst="roundRect">
              <a:avLst>
                <a:gd name="adj" fmla="val 27273"/>
              </a:avLst>
            </a:prstGeom>
            <a:solidFill>
              <a:srgbClr val="69281B"/>
            </a:solidFill>
            <a:ln>
              <a:noFill/>
            </a:ln>
          </p:spPr>
        </p:sp>
        <p:sp>
          <p:nvSpPr>
            <p:cNvPr id="258" name="Rectangle 258"/>
            <p:cNvSpPr/>
            <p:nvPr/>
          </p:nvSpPr>
          <p:spPr>
            <a:xfrm>
              <a:off x="7981950" y="3048000"/>
              <a:ext cx="3981450" cy="95250"/>
            </a:xfrm>
            <a:prstGeom prst="rect">
              <a:avLst/>
            </a:prstGeom>
            <a:solidFill>
              <a:srgbClr val="69281B"/>
            </a:solidFill>
            <a:ln>
              <a:noFill/>
            </a:ln>
          </p:spPr>
        </p:sp>
        <p:sp>
          <p:nvSpPr>
            <p:cNvPr id="259" name="TextBox 259"/>
            <p:cNvSpPr txBox="1"/>
            <p:nvPr/>
          </p:nvSpPr>
          <p:spPr>
            <a:xfrm>
              <a:off x="9256597" y="2987516"/>
              <a:ext cx="143215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2026年末核心目标（示例）​</a:t>
              </a:r>
            </a:p>
          </p:txBody>
        </p:sp>
        <p:sp>
          <p:nvSpPr>
            <p:cNvPr id="260" name="TextBox 260"/>
            <p:cNvSpPr txBox="1"/>
            <p:nvPr/>
          </p:nvSpPr>
          <p:spPr>
            <a:xfrm>
              <a:off x="8252549" y="3245882"/>
              <a:ext cx="354152"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存款余额</a:t>
              </a:r>
            </a:p>
          </p:txBody>
        </p:sp>
        <p:grpSp>
          <p:nvGrpSpPr>
            <p:cNvPr id="264" name="Group 264"/>
            <p:cNvGrpSpPr/>
            <p:nvPr/>
          </p:nvGrpSpPr>
          <p:grpSpPr>
            <a:xfrm>
              <a:off x="8353425" y="3419475"/>
              <a:ext cx="152400" cy="171450"/>
              <a:chOff x="8353425" y="3419475"/>
              <a:chExt cx="152400" cy="171450"/>
            </a:xfrm>
          </p:grpSpPr>
          <p:sp>
            <p:nvSpPr>
              <p:cNvPr id="261" name="Freeform 261"/>
              <p:cNvSpPr/>
              <p:nvPr/>
            </p:nvSpPr>
            <p:spPr>
              <a:xfrm>
                <a:off x="8353425" y="341947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E04C2E"/>
                </a:solidFill>
              </a:ln>
            </p:spPr>
          </p:sp>
          <p:sp>
            <p:nvSpPr>
              <p:cNvPr id="262" name="Freeform 262"/>
              <p:cNvSpPr/>
              <p:nvPr/>
            </p:nvSpPr>
            <p:spPr>
              <a:xfrm>
                <a:off x="8353425" y="34480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E04C2E"/>
                </a:solidFill>
              </a:ln>
            </p:spPr>
          </p:sp>
          <p:sp>
            <p:nvSpPr>
              <p:cNvPr id="263" name="Freeform 263"/>
              <p:cNvSpPr/>
              <p:nvPr/>
            </p:nvSpPr>
            <p:spPr>
              <a:xfrm>
                <a:off x="8353425" y="35052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E04C2E"/>
                </a:solidFill>
              </a:ln>
            </p:spPr>
          </p:sp>
        </p:grpSp>
        <p:sp>
          <p:nvSpPr>
            <p:cNvPr id="265" name="TextBox 265"/>
            <p:cNvSpPr txBox="1"/>
            <p:nvPr/>
          </p:nvSpPr>
          <p:spPr>
            <a:xfrm>
              <a:off x="8168994" y="3726656"/>
              <a:ext cx="521263" cy="220028"/>
            </a:xfrm>
            <a:prstGeom prst="rect">
              <a:avLst/>
            </a:prstGeom>
            <a:noFill/>
            <a:ln>
              <a:noFill/>
            </a:ln>
          </p:spPr>
          <p:txBody>
            <a:bodyPr wrap="none" lIns="0" tIns="0" rIns="0" bIns="0" anchor="t" anchorCtr="0">
              <a:spAutoFit/>
            </a:bodyPr>
            <a:lstStyle/>
            <a:p>
              <a:pPr algn="ctr"/>
              <a:r>
                <a:rPr lang="zh-CN" sz="1120" b="1" dirty="0">
                  <a:solidFill>
                    <a:srgbClr val="69281B"/>
                  </a:solidFill>
                  <a:latin typeface="+mn-lt"/>
                  <a:ea typeface="+mn-ea"/>
                  <a:cs typeface="+mn-cs"/>
                </a:rPr>
                <a:t>358</a:t>
              </a:r>
              <a:r>
                <a:rPr lang="zh-CN" sz="600" dirty="0">
                  <a:solidFill>
                    <a:srgbClr val="69281B"/>
                  </a:solidFill>
                  <a:latin typeface="+mn-lt"/>
                  <a:ea typeface="+mn-ea"/>
                  <a:cs typeface="+mn-cs"/>
                </a:rPr>
                <a:t>亿元</a:t>
              </a:r>
              <a:r>
                <a:rPr lang="zh-CN" sz="1120" b="1" dirty="0">
                  <a:solidFill>
                    <a:srgbClr val="69281B"/>
                  </a:solidFill>
                  <a:latin typeface="+mn-lt"/>
                  <a:ea typeface="+mn-ea"/>
                  <a:cs typeface="+mn-cs"/>
                </a:rPr>
                <a:t>​</a:t>
              </a:r>
            </a:p>
          </p:txBody>
        </p:sp>
        <p:sp>
          <p:nvSpPr>
            <p:cNvPr id="266" name="TextBox 266"/>
            <p:cNvSpPr txBox="1"/>
            <p:nvPr/>
          </p:nvSpPr>
          <p:spPr>
            <a:xfrm>
              <a:off x="9033599" y="3245882"/>
              <a:ext cx="354152"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日均存款</a:t>
              </a:r>
            </a:p>
          </p:txBody>
        </p:sp>
        <p:grpSp>
          <p:nvGrpSpPr>
            <p:cNvPr id="271" name="Group 271"/>
            <p:cNvGrpSpPr/>
            <p:nvPr/>
          </p:nvGrpSpPr>
          <p:grpSpPr>
            <a:xfrm>
              <a:off x="9124950" y="3429000"/>
              <a:ext cx="171450" cy="161925"/>
              <a:chOff x="9124950" y="3429000"/>
              <a:chExt cx="171450" cy="161925"/>
            </a:xfrm>
          </p:grpSpPr>
          <p:sp>
            <p:nvSpPr>
              <p:cNvPr id="267" name="Freeform 267"/>
              <p:cNvSpPr/>
              <p:nvPr/>
            </p:nvSpPr>
            <p:spPr>
              <a:xfrm>
                <a:off x="9124950" y="35052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E04C2E"/>
                </a:solidFill>
              </a:ln>
            </p:spPr>
          </p:sp>
          <p:sp>
            <p:nvSpPr>
              <p:cNvPr id="268" name="Freeform 268"/>
              <p:cNvSpPr/>
              <p:nvPr/>
            </p:nvSpPr>
            <p:spPr>
              <a:xfrm>
                <a:off x="9239250" y="34671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E04C2E"/>
                </a:solidFill>
              </a:ln>
            </p:spPr>
          </p:sp>
          <p:sp>
            <p:nvSpPr>
              <p:cNvPr id="269" name="Freeform 269"/>
              <p:cNvSpPr/>
              <p:nvPr/>
            </p:nvSpPr>
            <p:spPr>
              <a:xfrm>
                <a:off x="9182100" y="34290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E04C2E"/>
                </a:solidFill>
              </a:ln>
            </p:spPr>
          </p:sp>
          <p:sp>
            <p:nvSpPr>
              <p:cNvPr id="270" name="Freeform 270"/>
              <p:cNvSpPr/>
              <p:nvPr/>
            </p:nvSpPr>
            <p:spPr>
              <a:xfrm>
                <a:off x="9134475" y="3581400"/>
                <a:ext cx="133350" cy="9525"/>
              </a:xfrm>
              <a:custGeom>
                <a:avLst/>
                <a:gdLst/>
                <a:ahLst/>
                <a:cxnLst/>
                <a:rect l="l" t="t" r="r" b="b"/>
                <a:pathLst>
                  <a:path w="133350" h="9525">
                    <a:moveTo>
                      <a:pt x="0" y="0"/>
                    </a:moveTo>
                    <a:lnTo>
                      <a:pt x="133350" y="0"/>
                    </a:lnTo>
                  </a:path>
                </a:pathLst>
              </a:custGeom>
              <a:noFill/>
              <a:ln w="19050">
                <a:solidFill>
                  <a:srgbClr val="E04C2E"/>
                </a:solidFill>
              </a:ln>
            </p:spPr>
          </p:sp>
        </p:grpSp>
        <p:sp>
          <p:nvSpPr>
            <p:cNvPr id="272" name="TextBox 272"/>
            <p:cNvSpPr txBox="1"/>
            <p:nvPr/>
          </p:nvSpPr>
          <p:spPr>
            <a:xfrm>
              <a:off x="8950044" y="3726656"/>
              <a:ext cx="521263" cy="220028"/>
            </a:xfrm>
            <a:prstGeom prst="rect">
              <a:avLst/>
            </a:prstGeom>
            <a:noFill/>
            <a:ln>
              <a:noFill/>
            </a:ln>
          </p:spPr>
          <p:txBody>
            <a:bodyPr wrap="none" lIns="0" tIns="0" rIns="0" bIns="0" anchor="t" anchorCtr="0">
              <a:spAutoFit/>
            </a:bodyPr>
            <a:lstStyle/>
            <a:p>
              <a:pPr algn="ctr"/>
              <a:r>
                <a:rPr lang="zh-CN" sz="1120" b="1" dirty="0">
                  <a:solidFill>
                    <a:srgbClr val="69281B"/>
                  </a:solidFill>
                  <a:latin typeface="+mn-lt"/>
                  <a:ea typeface="+mn-ea"/>
                  <a:cs typeface="+mn-cs"/>
                </a:rPr>
                <a:t>330</a:t>
              </a:r>
              <a:r>
                <a:rPr lang="zh-CN" sz="600" dirty="0">
                  <a:solidFill>
                    <a:srgbClr val="69281B"/>
                  </a:solidFill>
                  <a:latin typeface="+mn-lt"/>
                  <a:ea typeface="+mn-ea"/>
                  <a:cs typeface="+mn-cs"/>
                </a:rPr>
                <a:t>亿元</a:t>
              </a:r>
              <a:r>
                <a:rPr lang="zh-CN" sz="1120" b="1" dirty="0">
                  <a:solidFill>
                    <a:srgbClr val="69281B"/>
                  </a:solidFill>
                  <a:latin typeface="+mn-lt"/>
                  <a:ea typeface="+mn-ea"/>
                  <a:cs typeface="+mn-cs"/>
                </a:rPr>
                <a:t>​</a:t>
              </a:r>
            </a:p>
          </p:txBody>
        </p:sp>
        <p:sp>
          <p:nvSpPr>
            <p:cNvPr id="273" name="TextBox 273"/>
            <p:cNvSpPr txBox="1"/>
            <p:nvPr/>
          </p:nvSpPr>
          <p:spPr>
            <a:xfrm>
              <a:off x="9814649" y="3245882"/>
              <a:ext cx="354152"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市场份额</a:t>
              </a:r>
            </a:p>
          </p:txBody>
        </p:sp>
        <p:grpSp>
          <p:nvGrpSpPr>
            <p:cNvPr id="276" name="Group 276"/>
            <p:cNvGrpSpPr/>
            <p:nvPr/>
          </p:nvGrpSpPr>
          <p:grpSpPr>
            <a:xfrm>
              <a:off x="9903345" y="3421113"/>
              <a:ext cx="172200" cy="172467"/>
              <a:chOff x="9903345" y="3421113"/>
              <a:chExt cx="172200" cy="172467"/>
            </a:xfrm>
          </p:grpSpPr>
          <p:sp>
            <p:nvSpPr>
              <p:cNvPr id="274" name="Freeform 274"/>
              <p:cNvSpPr/>
              <p:nvPr/>
            </p:nvSpPr>
            <p:spPr>
              <a:xfrm>
                <a:off x="9903345" y="3421113"/>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9050">
                <a:solidFill>
                  <a:srgbClr val="E04C2E"/>
                </a:solidFill>
              </a:ln>
            </p:spPr>
          </p:sp>
          <p:sp>
            <p:nvSpPr>
              <p:cNvPr id="275" name="Freeform 275"/>
              <p:cNvSpPr/>
              <p:nvPr/>
            </p:nvSpPr>
            <p:spPr>
              <a:xfrm>
                <a:off x="10020300" y="3424238"/>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9050">
                <a:solidFill>
                  <a:srgbClr val="E04C2E"/>
                </a:solidFill>
              </a:ln>
            </p:spPr>
          </p:sp>
        </p:grpSp>
        <p:sp>
          <p:nvSpPr>
            <p:cNvPr id="277" name="TextBox 277"/>
            <p:cNvSpPr txBox="1"/>
            <p:nvPr/>
          </p:nvSpPr>
          <p:spPr>
            <a:xfrm>
              <a:off x="9781576" y="3726656"/>
              <a:ext cx="420298" cy="220028"/>
            </a:xfrm>
            <a:prstGeom prst="rect">
              <a:avLst/>
            </a:prstGeom>
            <a:noFill/>
            <a:ln>
              <a:noFill/>
            </a:ln>
          </p:spPr>
          <p:txBody>
            <a:bodyPr wrap="none" lIns="0" tIns="0" rIns="0" bIns="0" anchor="t" anchorCtr="0">
              <a:spAutoFit/>
            </a:bodyPr>
            <a:lstStyle/>
            <a:p>
              <a:pPr algn="ctr"/>
              <a:r>
                <a:rPr lang="zh-CN" sz="1120" b="1" dirty="0">
                  <a:solidFill>
                    <a:srgbClr val="69281B"/>
                  </a:solidFill>
                  <a:latin typeface="+mn-lt"/>
                  <a:ea typeface="+mn-ea"/>
                  <a:cs typeface="+mn-cs"/>
                </a:rPr>
                <a:t>9.3</a:t>
              </a:r>
              <a:r>
                <a:rPr lang="zh-CN" sz="600" dirty="0">
                  <a:solidFill>
                    <a:srgbClr val="69281B"/>
                  </a:solidFill>
                  <a:latin typeface="+mn-lt"/>
                  <a:ea typeface="+mn-ea"/>
                  <a:cs typeface="+mn-cs"/>
                </a:rPr>
                <a:t>%</a:t>
              </a:r>
              <a:r>
                <a:rPr lang="zh-CN" sz="1120" b="1" dirty="0">
                  <a:solidFill>
                    <a:srgbClr val="69281B"/>
                  </a:solidFill>
                  <a:latin typeface="+mn-lt"/>
                  <a:ea typeface="+mn-ea"/>
                  <a:cs typeface="+mn-cs"/>
                </a:rPr>
                <a:t>​</a:t>
              </a:r>
            </a:p>
          </p:txBody>
        </p:sp>
        <p:sp>
          <p:nvSpPr>
            <p:cNvPr id="278" name="TextBox 278"/>
            <p:cNvSpPr txBox="1"/>
            <p:nvPr/>
          </p:nvSpPr>
          <p:spPr>
            <a:xfrm>
              <a:off x="10595699" y="3245882"/>
              <a:ext cx="354152"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活期占比</a:t>
              </a:r>
            </a:p>
          </p:txBody>
        </p:sp>
        <p:grpSp>
          <p:nvGrpSpPr>
            <p:cNvPr id="283" name="Group 283"/>
            <p:cNvGrpSpPr/>
            <p:nvPr/>
          </p:nvGrpSpPr>
          <p:grpSpPr>
            <a:xfrm>
              <a:off x="10687050" y="3438525"/>
              <a:ext cx="171450" cy="133350"/>
              <a:chOff x="10687050" y="3438525"/>
              <a:chExt cx="171450" cy="133350"/>
            </a:xfrm>
          </p:grpSpPr>
          <p:sp>
            <p:nvSpPr>
              <p:cNvPr id="279" name="Freeform 279"/>
              <p:cNvSpPr/>
              <p:nvPr/>
            </p:nvSpPr>
            <p:spPr>
              <a:xfrm>
                <a:off x="10687050" y="3438525"/>
                <a:ext cx="171450" cy="133350"/>
              </a:xfrm>
              <a:custGeom>
                <a:avLst/>
                <a:gdLst/>
                <a:ahLst/>
                <a:cxnLst/>
                <a:rect l="l" t="t" r="r" b="b"/>
                <a:pathLst>
                  <a:path w="171450" h="133350">
                    <a:moveTo>
                      <a:pt x="0" y="28575"/>
                    </a:move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28575" y="133350"/>
                    </a:lnTo>
                    <a:cubicBezTo>
                      <a:pt x="12793" y="133350"/>
                      <a:pt x="0" y="120557"/>
                      <a:pt x="0" y="104775"/>
                    </a:cubicBezTo>
                    <a:lnTo>
                      <a:pt x="0" y="28575"/>
                    </a:lnTo>
                  </a:path>
                </a:pathLst>
              </a:custGeom>
              <a:noFill/>
              <a:ln w="19050">
                <a:solidFill>
                  <a:srgbClr val="E04C2E"/>
                </a:solidFill>
              </a:ln>
            </p:spPr>
          </p:sp>
          <p:sp>
            <p:nvSpPr>
              <p:cNvPr id="280" name="Freeform 280"/>
              <p:cNvSpPr/>
              <p:nvPr/>
            </p:nvSpPr>
            <p:spPr>
              <a:xfrm>
                <a:off x="10687050" y="3486150"/>
                <a:ext cx="171450" cy="9525"/>
              </a:xfrm>
              <a:custGeom>
                <a:avLst/>
                <a:gdLst/>
                <a:ahLst/>
                <a:cxnLst/>
                <a:rect l="l" t="t" r="r" b="b"/>
                <a:pathLst>
                  <a:path w="171450" h="9525">
                    <a:moveTo>
                      <a:pt x="0" y="0"/>
                    </a:moveTo>
                    <a:lnTo>
                      <a:pt x="171450" y="0"/>
                    </a:lnTo>
                  </a:path>
                </a:pathLst>
              </a:custGeom>
              <a:noFill/>
              <a:ln w="19050">
                <a:solidFill>
                  <a:srgbClr val="E04C2E"/>
                </a:solidFill>
              </a:ln>
            </p:spPr>
          </p:sp>
          <p:sp>
            <p:nvSpPr>
              <p:cNvPr id="281" name="Freeform 281"/>
              <p:cNvSpPr/>
              <p:nvPr/>
            </p:nvSpPr>
            <p:spPr>
              <a:xfrm>
                <a:off x="10725150" y="3533775"/>
                <a:ext cx="9525" cy="9525"/>
              </a:xfrm>
              <a:custGeom>
                <a:avLst/>
                <a:gdLst/>
                <a:ahLst/>
                <a:cxnLst/>
                <a:rect l="l" t="t" r="r" b="b"/>
                <a:pathLst>
                  <a:path w="9525" h="9525">
                    <a:moveTo>
                      <a:pt x="0" y="0"/>
                    </a:moveTo>
                    <a:lnTo>
                      <a:pt x="95" y="0"/>
                    </a:lnTo>
                  </a:path>
                </a:pathLst>
              </a:custGeom>
              <a:noFill/>
              <a:ln w="19050">
                <a:solidFill>
                  <a:srgbClr val="E04C2E"/>
                </a:solidFill>
              </a:ln>
            </p:spPr>
          </p:sp>
          <p:sp>
            <p:nvSpPr>
              <p:cNvPr id="282" name="Freeform 282"/>
              <p:cNvSpPr/>
              <p:nvPr/>
            </p:nvSpPr>
            <p:spPr>
              <a:xfrm>
                <a:off x="10763250" y="3533775"/>
                <a:ext cx="19050" cy="9525"/>
              </a:xfrm>
              <a:custGeom>
                <a:avLst/>
                <a:gdLst/>
                <a:ahLst/>
                <a:cxnLst/>
                <a:rect l="l" t="t" r="r" b="b"/>
                <a:pathLst>
                  <a:path w="19050" h="9525">
                    <a:moveTo>
                      <a:pt x="0" y="0"/>
                    </a:moveTo>
                    <a:lnTo>
                      <a:pt x="19050" y="0"/>
                    </a:lnTo>
                  </a:path>
                </a:pathLst>
              </a:custGeom>
              <a:noFill/>
              <a:ln w="19050">
                <a:solidFill>
                  <a:srgbClr val="E04C2E"/>
                </a:solidFill>
              </a:ln>
            </p:spPr>
          </p:sp>
        </p:grpSp>
        <p:sp>
          <p:nvSpPr>
            <p:cNvPr id="284" name="TextBox 284"/>
            <p:cNvSpPr txBox="1"/>
            <p:nvPr/>
          </p:nvSpPr>
          <p:spPr>
            <a:xfrm>
              <a:off x="10606162" y="3726656"/>
              <a:ext cx="333226" cy="220028"/>
            </a:xfrm>
            <a:prstGeom prst="rect">
              <a:avLst/>
            </a:prstGeom>
            <a:noFill/>
            <a:ln>
              <a:noFill/>
            </a:ln>
          </p:spPr>
          <p:txBody>
            <a:bodyPr wrap="none" lIns="0" tIns="0" rIns="0" bIns="0" anchor="t" anchorCtr="0">
              <a:spAutoFit/>
            </a:bodyPr>
            <a:lstStyle/>
            <a:p>
              <a:pPr algn="ctr"/>
              <a:r>
                <a:rPr lang="zh-CN" sz="1120" b="1" dirty="0">
                  <a:solidFill>
                    <a:srgbClr val="69281B"/>
                  </a:solidFill>
                  <a:latin typeface="+mn-lt"/>
                  <a:ea typeface="+mn-ea"/>
                  <a:cs typeface="+mn-cs"/>
                </a:rPr>
                <a:t>50</a:t>
              </a:r>
              <a:r>
                <a:rPr lang="zh-CN" sz="600" dirty="0">
                  <a:solidFill>
                    <a:srgbClr val="69281B"/>
                  </a:solidFill>
                  <a:latin typeface="+mn-lt"/>
                  <a:ea typeface="+mn-ea"/>
                  <a:cs typeface="+mn-cs"/>
                </a:rPr>
                <a:t>%</a:t>
              </a:r>
              <a:r>
                <a:rPr lang="zh-CN" sz="1120" b="1" dirty="0">
                  <a:solidFill>
                    <a:srgbClr val="69281B"/>
                  </a:solidFill>
                  <a:latin typeface="+mn-lt"/>
                  <a:ea typeface="+mn-ea"/>
                  <a:cs typeface="+mn-cs"/>
                </a:rPr>
                <a:t>​</a:t>
              </a:r>
            </a:p>
          </p:txBody>
        </p:sp>
        <p:sp>
          <p:nvSpPr>
            <p:cNvPr id="285" name="TextBox 285"/>
            <p:cNvSpPr txBox="1"/>
            <p:nvPr/>
          </p:nvSpPr>
          <p:spPr>
            <a:xfrm>
              <a:off x="11247514" y="3245882"/>
              <a:ext cx="612623"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核心客户留存率</a:t>
              </a:r>
            </a:p>
          </p:txBody>
        </p:sp>
        <p:grpSp>
          <p:nvGrpSpPr>
            <p:cNvPr id="289" name="Group 289"/>
            <p:cNvGrpSpPr/>
            <p:nvPr/>
          </p:nvGrpSpPr>
          <p:grpSpPr>
            <a:xfrm>
              <a:off x="11496675" y="3419475"/>
              <a:ext cx="142875" cy="171450"/>
              <a:chOff x="11496675" y="3419475"/>
              <a:chExt cx="142875" cy="171450"/>
            </a:xfrm>
          </p:grpSpPr>
          <p:sp>
            <p:nvSpPr>
              <p:cNvPr id="286" name="Freeform 286"/>
              <p:cNvSpPr/>
              <p:nvPr/>
            </p:nvSpPr>
            <p:spPr>
              <a:xfrm>
                <a:off x="11515725" y="34194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E04C2E"/>
                </a:solidFill>
              </a:ln>
            </p:spPr>
          </p:sp>
          <p:sp>
            <p:nvSpPr>
              <p:cNvPr id="287" name="Freeform 287"/>
              <p:cNvSpPr/>
              <p:nvPr/>
            </p:nvSpPr>
            <p:spPr>
              <a:xfrm>
                <a:off x="11496675" y="35337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E04C2E"/>
                </a:solidFill>
              </a:ln>
            </p:spPr>
          </p:sp>
          <p:sp>
            <p:nvSpPr>
              <p:cNvPr id="288" name="Freeform 288"/>
              <p:cNvSpPr/>
              <p:nvPr/>
            </p:nvSpPr>
            <p:spPr>
              <a:xfrm>
                <a:off x="11582400" y="3552825"/>
                <a:ext cx="57150" cy="38100"/>
              </a:xfrm>
              <a:custGeom>
                <a:avLst/>
                <a:gdLst/>
                <a:ahLst/>
                <a:cxnLst/>
                <a:rect l="l" t="t" r="r" b="b"/>
                <a:pathLst>
                  <a:path w="57150" h="38100">
                    <a:moveTo>
                      <a:pt x="0" y="19050"/>
                    </a:moveTo>
                    <a:lnTo>
                      <a:pt x="19050" y="38100"/>
                    </a:lnTo>
                    <a:lnTo>
                      <a:pt x="57150" y="0"/>
                    </a:lnTo>
                  </a:path>
                </a:pathLst>
              </a:custGeom>
              <a:noFill/>
              <a:ln w="19050">
                <a:solidFill>
                  <a:srgbClr val="E04C2E"/>
                </a:solidFill>
              </a:ln>
            </p:spPr>
          </p:sp>
        </p:grpSp>
        <p:sp>
          <p:nvSpPr>
            <p:cNvPr id="290" name="TextBox 290"/>
            <p:cNvSpPr txBox="1"/>
            <p:nvPr/>
          </p:nvSpPr>
          <p:spPr>
            <a:xfrm>
              <a:off x="11387212" y="3726656"/>
              <a:ext cx="333226" cy="220028"/>
            </a:xfrm>
            <a:prstGeom prst="rect">
              <a:avLst/>
            </a:prstGeom>
            <a:noFill/>
            <a:ln>
              <a:noFill/>
            </a:ln>
          </p:spPr>
          <p:txBody>
            <a:bodyPr wrap="none" lIns="0" tIns="0" rIns="0" bIns="0" anchor="t" anchorCtr="0">
              <a:spAutoFit/>
            </a:bodyPr>
            <a:lstStyle/>
            <a:p>
              <a:pPr algn="ctr"/>
              <a:r>
                <a:rPr lang="zh-CN" sz="1120" b="1" dirty="0">
                  <a:solidFill>
                    <a:srgbClr val="69281B"/>
                  </a:solidFill>
                  <a:latin typeface="+mn-lt"/>
                  <a:ea typeface="+mn-ea"/>
                  <a:cs typeface="+mn-cs"/>
                </a:rPr>
                <a:t>95</a:t>
              </a:r>
              <a:r>
                <a:rPr lang="zh-CN" sz="600" dirty="0">
                  <a:solidFill>
                    <a:srgbClr val="69281B"/>
                  </a:solidFill>
                  <a:latin typeface="+mn-lt"/>
                  <a:ea typeface="+mn-ea"/>
                  <a:cs typeface="+mn-cs"/>
                </a:rPr>
                <a:t>%</a:t>
              </a:r>
              <a:r>
                <a:rPr lang="zh-CN" sz="1120" b="1" dirty="0">
                  <a:solidFill>
                    <a:srgbClr val="69281B"/>
                  </a:solidFill>
                  <a:latin typeface="+mn-lt"/>
                  <a:ea typeface="+mn-ea"/>
                  <a:cs typeface="+mn-cs"/>
                </a:rPr>
                <a:t>​</a:t>
              </a:r>
            </a:p>
          </p:txBody>
        </p:sp>
        <p:sp>
          <p:nvSpPr>
            <p:cNvPr id="291" name="Rectangle 291"/>
            <p:cNvSpPr/>
            <p:nvPr/>
          </p:nvSpPr>
          <p:spPr>
            <a:xfrm>
              <a:off x="8077200" y="4000500"/>
              <a:ext cx="3790950" cy="209550"/>
            </a:xfrm>
            <a:prstGeom prst="roundRect">
              <a:avLst>
                <a:gd name="adj" fmla="val 13636"/>
              </a:avLst>
            </a:prstGeom>
            <a:solidFill>
              <a:srgbClr val="FBEAE9"/>
            </a:solidFill>
            <a:ln>
              <a:noFill/>
            </a:ln>
          </p:spPr>
        </p:sp>
        <p:grpSp>
          <p:nvGrpSpPr>
            <p:cNvPr id="295" name="Group 295"/>
            <p:cNvGrpSpPr/>
            <p:nvPr/>
          </p:nvGrpSpPr>
          <p:grpSpPr>
            <a:xfrm>
              <a:off x="8170069" y="4055269"/>
              <a:ext cx="100012" cy="100012"/>
              <a:chOff x="8170069" y="4055269"/>
              <a:chExt cx="100012" cy="100012"/>
            </a:xfrm>
          </p:grpSpPr>
          <p:sp>
            <p:nvSpPr>
              <p:cNvPr id="292" name="Freeform 292"/>
              <p:cNvSpPr/>
              <p:nvPr/>
            </p:nvSpPr>
            <p:spPr>
              <a:xfrm>
                <a:off x="8214519" y="40997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D0442C"/>
                </a:solidFill>
              </a:ln>
            </p:spPr>
          </p:sp>
          <p:sp>
            <p:nvSpPr>
              <p:cNvPr id="293" name="Freeform 293"/>
              <p:cNvSpPr/>
              <p:nvPr/>
            </p:nvSpPr>
            <p:spPr>
              <a:xfrm>
                <a:off x="8192294" y="407749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D0442C"/>
                </a:solidFill>
              </a:ln>
            </p:spPr>
          </p:sp>
          <p:sp>
            <p:nvSpPr>
              <p:cNvPr id="294" name="Freeform 294"/>
              <p:cNvSpPr/>
              <p:nvPr/>
            </p:nvSpPr>
            <p:spPr>
              <a:xfrm>
                <a:off x="8170069" y="40552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0442C"/>
                </a:solidFill>
              </a:ln>
            </p:spPr>
          </p:sp>
        </p:grpSp>
        <p:sp>
          <p:nvSpPr>
            <p:cNvPr id="296" name="TextBox 296"/>
            <p:cNvSpPr txBox="1"/>
            <p:nvPr/>
          </p:nvSpPr>
          <p:spPr>
            <a:xfrm>
              <a:off x="8339138" y="4070509"/>
              <a:ext cx="1815412" cy="133350"/>
            </a:xfrm>
            <a:prstGeom prst="rect">
              <a:avLst/>
            </a:prstGeom>
            <a:noFill/>
            <a:ln>
              <a:noFill/>
            </a:ln>
          </p:spPr>
          <p:txBody>
            <a:bodyPr wrap="none" lIns="0" tIns="0" rIns="0" bIns="0" anchor="t" anchorCtr="0">
              <a:spAutoFit/>
            </a:bodyPr>
            <a:lstStyle/>
            <a:p>
              <a:pPr algn="l"/>
              <a:r>
                <a:rPr lang="zh-CN" sz="680" b="1" dirty="0">
                  <a:solidFill>
                    <a:srgbClr val="D0442C"/>
                  </a:solidFill>
                  <a:latin typeface="+mn-lt"/>
                  <a:ea typeface="+mn-ea"/>
                  <a:cs typeface="+mn-cs"/>
                </a:rPr>
                <a:t>对标同业先进，市场份额提升至 9.3% 以上​</a:t>
              </a:r>
            </a:p>
          </p:txBody>
        </p:sp>
        <p:sp>
          <p:nvSpPr>
            <p:cNvPr id="297" name="TextBox 297"/>
            <p:cNvSpPr txBox="1"/>
            <p:nvPr/>
          </p:nvSpPr>
          <p:spPr>
            <a:xfrm>
              <a:off x="8072438" y="4316730"/>
              <a:ext cx="898017" cy="119062"/>
            </a:xfrm>
            <a:prstGeom prst="rect">
              <a:avLst/>
            </a:prstGeom>
            <a:noFill/>
            <a:ln>
              <a:noFill/>
            </a:ln>
          </p:spPr>
          <p:txBody>
            <a:bodyPr wrap="none" lIns="0" tIns="0" rIns="0" bIns="0" anchor="t" anchorCtr="0">
              <a:spAutoFit/>
            </a:bodyPr>
            <a:lstStyle/>
            <a:p>
              <a:pPr algn="l"/>
              <a:r>
                <a:rPr lang="zh-CN" sz="600" dirty="0">
                  <a:solidFill>
                    <a:srgbClr val="BEA09A"/>
                  </a:solidFill>
                  <a:latin typeface="+mn-lt"/>
                  <a:ea typeface="+mn-ea"/>
                  <a:cs typeface="+mn-cs"/>
                </a:rPr>
                <a:t>注：目标值为示例数据。</a:t>
              </a:r>
            </a:p>
          </p:txBody>
        </p:sp>
      </p:grpSp>
      <p:grpSp>
        <p:nvGrpSpPr>
          <p:cNvPr id="396" name="milestone-table"/>
          <p:cNvGrpSpPr/>
          <p:nvPr/>
        </p:nvGrpSpPr>
        <p:grpSpPr>
          <a:xfrm>
            <a:off x="228600" y="4552950"/>
            <a:ext cx="7620000" cy="2114550"/>
            <a:chOff x="228600" y="4552950"/>
            <a:chExt cx="7620000" cy="2114550"/>
          </a:xfrm>
        </p:grpSpPr>
        <p:sp>
          <p:nvSpPr>
            <p:cNvPr id="299" name="Rectangle 299"/>
            <p:cNvSpPr/>
            <p:nvPr/>
          </p:nvSpPr>
          <p:spPr>
            <a:xfrm>
              <a:off x="228600" y="4552950"/>
              <a:ext cx="7620000" cy="2114550"/>
            </a:xfrm>
            <a:prstGeom prst="roundRect">
              <a:avLst>
                <a:gd name="adj" fmla="val 2703"/>
              </a:avLst>
            </a:prstGeom>
            <a:solidFill>
              <a:srgbClr val="FFFFFF"/>
            </a:solidFill>
            <a:ln w="9525">
              <a:solidFill>
                <a:srgbClr val="C9D6E9"/>
              </a:solidFill>
            </a:ln>
          </p:spPr>
        </p:sp>
        <p:sp>
          <p:nvSpPr>
            <p:cNvPr id="300" name="Rectangle 300"/>
            <p:cNvSpPr/>
            <p:nvPr/>
          </p:nvSpPr>
          <p:spPr>
            <a:xfrm>
              <a:off x="228600" y="4552950"/>
              <a:ext cx="7620000" cy="209550"/>
            </a:xfrm>
            <a:prstGeom prst="roundRect">
              <a:avLst>
                <a:gd name="adj" fmla="val 27273"/>
              </a:avLst>
            </a:prstGeom>
            <a:solidFill>
              <a:srgbClr val="69281B"/>
            </a:solidFill>
            <a:ln>
              <a:noFill/>
            </a:ln>
          </p:spPr>
        </p:sp>
        <p:sp>
          <p:nvSpPr>
            <p:cNvPr id="301" name="Rectangle 301"/>
            <p:cNvSpPr/>
            <p:nvPr/>
          </p:nvSpPr>
          <p:spPr>
            <a:xfrm>
              <a:off x="228600" y="4667250"/>
              <a:ext cx="7620000" cy="95250"/>
            </a:xfrm>
            <a:prstGeom prst="rect">
              <a:avLst/>
            </a:prstGeom>
            <a:solidFill>
              <a:srgbClr val="69281B"/>
            </a:solidFill>
            <a:ln>
              <a:noFill/>
            </a:ln>
          </p:spPr>
        </p:sp>
        <p:sp>
          <p:nvSpPr>
            <p:cNvPr id="302" name="TextBox 302"/>
            <p:cNvSpPr txBox="1"/>
            <p:nvPr/>
          </p:nvSpPr>
          <p:spPr>
            <a:xfrm>
              <a:off x="3156940" y="4606766"/>
              <a:ext cx="17633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2026年下半年月度里程碑（亿元）​</a:t>
              </a:r>
            </a:p>
          </p:txBody>
        </p:sp>
        <p:sp>
          <p:nvSpPr>
            <p:cNvPr id="303" name="Rectangle 303"/>
            <p:cNvSpPr/>
            <p:nvPr/>
          </p:nvSpPr>
          <p:spPr>
            <a:xfrm>
              <a:off x="304800" y="4781550"/>
              <a:ext cx="7467600" cy="247650"/>
            </a:xfrm>
            <a:prstGeom prst="rect">
              <a:avLst/>
            </a:prstGeom>
            <a:solidFill>
              <a:srgbClr val="EAF1FB"/>
            </a:solidFill>
            <a:ln>
              <a:noFill/>
            </a:ln>
          </p:spPr>
        </p:sp>
        <p:sp>
          <p:nvSpPr>
            <p:cNvPr id="304" name="TextBox 304"/>
            <p:cNvSpPr txBox="1"/>
            <p:nvPr/>
          </p:nvSpPr>
          <p:spPr>
            <a:xfrm>
              <a:off x="333565" y="4878705"/>
              <a:ext cx="171069"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序号</a:t>
              </a:r>
            </a:p>
          </p:txBody>
        </p:sp>
        <p:sp>
          <p:nvSpPr>
            <p:cNvPr id="305" name="TextBox 305"/>
            <p:cNvSpPr txBox="1"/>
            <p:nvPr/>
          </p:nvSpPr>
          <p:spPr>
            <a:xfrm>
              <a:off x="748093" y="4878705"/>
              <a:ext cx="332613"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责任部门</a:t>
              </a:r>
            </a:p>
          </p:txBody>
        </p:sp>
        <p:sp>
          <p:nvSpPr>
            <p:cNvPr id="306" name="TextBox 306"/>
            <p:cNvSpPr txBox="1"/>
            <p:nvPr/>
          </p:nvSpPr>
          <p:spPr>
            <a:xfrm>
              <a:off x="2033968" y="4878705"/>
              <a:ext cx="332613"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核心职责</a:t>
              </a:r>
            </a:p>
          </p:txBody>
        </p:sp>
        <p:sp>
          <p:nvSpPr>
            <p:cNvPr id="307" name="TextBox 307"/>
            <p:cNvSpPr txBox="1"/>
            <p:nvPr/>
          </p:nvSpPr>
          <p:spPr>
            <a:xfrm>
              <a:off x="3213381" y="4878705"/>
              <a:ext cx="183589"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7月​</a:t>
              </a:r>
            </a:p>
          </p:txBody>
        </p:sp>
        <p:sp>
          <p:nvSpPr>
            <p:cNvPr id="308" name="TextBox 308"/>
            <p:cNvSpPr txBox="1"/>
            <p:nvPr/>
          </p:nvSpPr>
          <p:spPr>
            <a:xfrm>
              <a:off x="3613431" y="4878705"/>
              <a:ext cx="183589"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8月​</a:t>
              </a:r>
            </a:p>
          </p:txBody>
        </p:sp>
        <p:sp>
          <p:nvSpPr>
            <p:cNvPr id="309" name="TextBox 309"/>
            <p:cNvSpPr txBox="1"/>
            <p:nvPr/>
          </p:nvSpPr>
          <p:spPr>
            <a:xfrm>
              <a:off x="4013481" y="4878705"/>
              <a:ext cx="183589"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9月​</a:t>
              </a:r>
            </a:p>
          </p:txBody>
        </p:sp>
        <p:sp>
          <p:nvSpPr>
            <p:cNvPr id="310" name="TextBox 310"/>
            <p:cNvSpPr txBox="1"/>
            <p:nvPr/>
          </p:nvSpPr>
          <p:spPr>
            <a:xfrm>
              <a:off x="4390208" y="4878705"/>
              <a:ext cx="230234"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10月​</a:t>
              </a:r>
            </a:p>
          </p:txBody>
        </p:sp>
        <p:sp>
          <p:nvSpPr>
            <p:cNvPr id="311" name="TextBox 311"/>
            <p:cNvSpPr txBox="1"/>
            <p:nvPr/>
          </p:nvSpPr>
          <p:spPr>
            <a:xfrm>
              <a:off x="4790258" y="4878705"/>
              <a:ext cx="230234"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11月​</a:t>
              </a:r>
            </a:p>
          </p:txBody>
        </p:sp>
        <p:sp>
          <p:nvSpPr>
            <p:cNvPr id="312" name="TextBox 312"/>
            <p:cNvSpPr txBox="1"/>
            <p:nvPr/>
          </p:nvSpPr>
          <p:spPr>
            <a:xfrm>
              <a:off x="5190308" y="4878705"/>
              <a:ext cx="230234" cy="119062"/>
            </a:xfrm>
            <a:prstGeom prst="rect">
              <a:avLst/>
            </a:prstGeom>
            <a:noFill/>
            <a:ln>
              <a:noFill/>
            </a:ln>
          </p:spPr>
          <p:txBody>
            <a:bodyPr wrap="none" lIns="0" tIns="0" rIns="0" bIns="0" anchor="t" anchorCtr="0">
              <a:spAutoFit/>
            </a:bodyPr>
            <a:lstStyle/>
            <a:p>
              <a:pPr algn="ctr"/>
              <a:r>
                <a:rPr lang="zh-CN" sz="600" b="1" dirty="0">
                  <a:solidFill>
                    <a:srgbClr val="69281B"/>
                  </a:solidFill>
                  <a:latin typeface="+mn-lt"/>
                  <a:ea typeface="+mn-ea"/>
                  <a:cs typeface="+mn-cs"/>
                </a:rPr>
                <a:t>12月​</a:t>
              </a:r>
            </a:p>
          </p:txBody>
        </p:sp>
        <p:sp>
          <p:nvSpPr>
            <p:cNvPr id="313" name="TextBox 313"/>
            <p:cNvSpPr txBox="1"/>
            <p:nvPr/>
          </p:nvSpPr>
          <p:spPr>
            <a:xfrm>
              <a:off x="5683694" y="4825603"/>
              <a:ext cx="386461" cy="111919"/>
            </a:xfrm>
            <a:prstGeom prst="rect">
              <a:avLst/>
            </a:prstGeom>
            <a:noFill/>
            <a:ln>
              <a:noFill/>
            </a:ln>
          </p:spPr>
          <p:txBody>
            <a:bodyPr wrap="none" lIns="0" tIns="0" rIns="0" bIns="0" anchor="t" anchorCtr="0">
              <a:spAutoFit/>
            </a:bodyPr>
            <a:lstStyle/>
            <a:p>
              <a:pPr algn="ctr"/>
              <a:r>
                <a:rPr lang="zh-CN" sz="560" b="1" dirty="0">
                  <a:solidFill>
                    <a:srgbClr val="69281B"/>
                  </a:solidFill>
                  <a:latin typeface="+mn-lt"/>
                  <a:ea typeface="+mn-ea"/>
                  <a:cs typeface="+mn-cs"/>
                </a:rPr>
                <a:t>年新增余额</a:t>
              </a:r>
            </a:p>
          </p:txBody>
        </p:sp>
        <p:sp>
          <p:nvSpPr>
            <p:cNvPr id="314" name="TextBox 314"/>
            <p:cNvSpPr txBox="1"/>
            <p:nvPr/>
          </p:nvSpPr>
          <p:spPr>
            <a:xfrm>
              <a:off x="5646001" y="4920853"/>
              <a:ext cx="461848" cy="111919"/>
            </a:xfrm>
            <a:prstGeom prst="rect">
              <a:avLst/>
            </a:prstGeom>
            <a:noFill/>
            <a:ln>
              <a:noFill/>
            </a:ln>
          </p:spPr>
          <p:txBody>
            <a:bodyPr wrap="none" lIns="0" tIns="0" rIns="0" bIns="0" anchor="t" anchorCtr="0">
              <a:spAutoFit/>
            </a:bodyPr>
            <a:lstStyle/>
            <a:p>
              <a:pPr algn="ctr"/>
              <a:r>
                <a:rPr lang="zh-CN" sz="560" b="1" dirty="0">
                  <a:solidFill>
                    <a:srgbClr val="69281B"/>
                  </a:solidFill>
                  <a:latin typeface="+mn-lt"/>
                  <a:ea typeface="+mn-ea"/>
                  <a:cs typeface="+mn-cs"/>
                </a:rPr>
                <a:t>目标（亿元）</a:t>
              </a:r>
            </a:p>
          </p:txBody>
        </p:sp>
        <p:sp>
          <p:nvSpPr>
            <p:cNvPr id="315" name="TextBox 315"/>
            <p:cNvSpPr txBox="1"/>
            <p:nvPr/>
          </p:nvSpPr>
          <p:spPr>
            <a:xfrm>
              <a:off x="6464338" y="4825603"/>
              <a:ext cx="311074" cy="111919"/>
            </a:xfrm>
            <a:prstGeom prst="rect">
              <a:avLst/>
            </a:prstGeom>
            <a:noFill/>
            <a:ln>
              <a:noFill/>
            </a:ln>
          </p:spPr>
          <p:txBody>
            <a:bodyPr wrap="none" lIns="0" tIns="0" rIns="0" bIns="0" anchor="t" anchorCtr="0">
              <a:spAutoFit/>
            </a:bodyPr>
            <a:lstStyle/>
            <a:p>
              <a:pPr algn="ctr"/>
              <a:r>
                <a:rPr lang="zh-CN" sz="560" b="1" dirty="0">
                  <a:solidFill>
                    <a:srgbClr val="69281B"/>
                  </a:solidFill>
                  <a:latin typeface="+mn-lt"/>
                  <a:ea typeface="+mn-ea"/>
                  <a:cs typeface="+mn-cs"/>
                </a:rPr>
                <a:t>年末余额</a:t>
              </a:r>
            </a:p>
          </p:txBody>
        </p:sp>
        <p:sp>
          <p:nvSpPr>
            <p:cNvPr id="316" name="TextBox 316"/>
            <p:cNvSpPr txBox="1"/>
            <p:nvPr/>
          </p:nvSpPr>
          <p:spPr>
            <a:xfrm>
              <a:off x="6388951" y="4920853"/>
              <a:ext cx="461848" cy="111919"/>
            </a:xfrm>
            <a:prstGeom prst="rect">
              <a:avLst/>
            </a:prstGeom>
            <a:noFill/>
            <a:ln>
              <a:noFill/>
            </a:ln>
          </p:spPr>
          <p:txBody>
            <a:bodyPr wrap="none" lIns="0" tIns="0" rIns="0" bIns="0" anchor="t" anchorCtr="0">
              <a:spAutoFit/>
            </a:bodyPr>
            <a:lstStyle/>
            <a:p>
              <a:pPr algn="ctr"/>
              <a:r>
                <a:rPr lang="zh-CN" sz="560" b="1" dirty="0">
                  <a:solidFill>
                    <a:srgbClr val="69281B"/>
                  </a:solidFill>
                  <a:latin typeface="+mn-lt"/>
                  <a:ea typeface="+mn-ea"/>
                  <a:cs typeface="+mn-cs"/>
                </a:rPr>
                <a:t>目标（亿元）</a:t>
              </a:r>
            </a:p>
          </p:txBody>
        </p:sp>
        <p:sp>
          <p:nvSpPr>
            <p:cNvPr id="317" name="TextBox 317"/>
            <p:cNvSpPr txBox="1"/>
            <p:nvPr/>
          </p:nvSpPr>
          <p:spPr>
            <a:xfrm>
              <a:off x="7226338" y="4825603"/>
              <a:ext cx="311074" cy="111919"/>
            </a:xfrm>
            <a:prstGeom prst="rect">
              <a:avLst/>
            </a:prstGeom>
            <a:noFill/>
            <a:ln>
              <a:noFill/>
            </a:ln>
          </p:spPr>
          <p:txBody>
            <a:bodyPr wrap="none" lIns="0" tIns="0" rIns="0" bIns="0" anchor="t" anchorCtr="0">
              <a:spAutoFit/>
            </a:bodyPr>
            <a:lstStyle/>
            <a:p>
              <a:pPr algn="ctr"/>
              <a:r>
                <a:rPr lang="zh-CN" sz="560" b="1" dirty="0">
                  <a:solidFill>
                    <a:srgbClr val="69281B"/>
                  </a:solidFill>
                  <a:latin typeface="+mn-lt"/>
                  <a:ea typeface="+mn-ea"/>
                  <a:cs typeface="+mn-cs"/>
                </a:rPr>
                <a:t>市场份额</a:t>
              </a:r>
            </a:p>
          </p:txBody>
        </p:sp>
        <p:sp>
          <p:nvSpPr>
            <p:cNvPr id="318" name="TextBox 318"/>
            <p:cNvSpPr txBox="1"/>
            <p:nvPr/>
          </p:nvSpPr>
          <p:spPr>
            <a:xfrm>
              <a:off x="7174886" y="4920853"/>
              <a:ext cx="413977" cy="111919"/>
            </a:xfrm>
            <a:prstGeom prst="rect">
              <a:avLst/>
            </a:prstGeom>
            <a:noFill/>
            <a:ln>
              <a:noFill/>
            </a:ln>
          </p:spPr>
          <p:txBody>
            <a:bodyPr wrap="none" lIns="0" tIns="0" rIns="0" bIns="0" anchor="t" anchorCtr="0">
              <a:spAutoFit/>
            </a:bodyPr>
            <a:lstStyle/>
            <a:p>
              <a:pPr algn="ctr"/>
              <a:r>
                <a:rPr lang="zh-CN" sz="560" b="1" dirty="0">
                  <a:solidFill>
                    <a:srgbClr val="69281B"/>
                  </a:solidFill>
                  <a:latin typeface="+mn-lt"/>
                  <a:ea typeface="+mn-ea"/>
                  <a:cs typeface="+mn-cs"/>
                </a:rPr>
                <a:t>目标（%）​</a:t>
              </a:r>
            </a:p>
          </p:txBody>
        </p:sp>
        <p:sp>
          <p:nvSpPr>
            <p:cNvPr id="319" name="TextBox 319"/>
            <p:cNvSpPr txBox="1"/>
            <p:nvPr/>
          </p:nvSpPr>
          <p:spPr>
            <a:xfrm>
              <a:off x="366951" y="51223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1​</a:t>
              </a:r>
            </a:p>
          </p:txBody>
        </p:sp>
        <p:sp>
          <p:nvSpPr>
            <p:cNvPr id="320" name="TextBox 320"/>
            <p:cNvSpPr txBox="1"/>
            <p:nvPr/>
          </p:nvSpPr>
          <p:spPr>
            <a:xfrm>
              <a:off x="694246" y="5122307"/>
              <a:ext cx="440309"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公司业务部</a:t>
              </a:r>
            </a:p>
          </p:txBody>
        </p:sp>
        <p:sp>
          <p:nvSpPr>
            <p:cNvPr id="321" name="TextBox 321"/>
            <p:cNvSpPr txBox="1"/>
            <p:nvPr/>
          </p:nvSpPr>
          <p:spPr>
            <a:xfrm>
              <a:off x="1328738" y="5126355"/>
              <a:ext cx="1301877"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客户统筹、名单管理与综合服务推进</a:t>
              </a:r>
            </a:p>
          </p:txBody>
        </p:sp>
        <p:sp>
          <p:nvSpPr>
            <p:cNvPr id="322" name="TextBox 322"/>
            <p:cNvSpPr txBox="1"/>
            <p:nvPr/>
          </p:nvSpPr>
          <p:spPr>
            <a:xfrm>
              <a:off x="3229333" y="51223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+8​</a:t>
              </a:r>
            </a:p>
          </p:txBody>
        </p:sp>
        <p:sp>
          <p:nvSpPr>
            <p:cNvPr id="323" name="TextBox 323"/>
            <p:cNvSpPr txBox="1"/>
            <p:nvPr/>
          </p:nvSpPr>
          <p:spPr>
            <a:xfrm>
              <a:off x="3605690" y="51223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+10​</a:t>
              </a:r>
            </a:p>
          </p:txBody>
        </p:sp>
        <p:sp>
          <p:nvSpPr>
            <p:cNvPr id="324" name="TextBox 324"/>
            <p:cNvSpPr txBox="1"/>
            <p:nvPr/>
          </p:nvSpPr>
          <p:spPr>
            <a:xfrm>
              <a:off x="4005740" y="51223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+12​</a:t>
              </a:r>
            </a:p>
          </p:txBody>
        </p:sp>
        <p:sp>
          <p:nvSpPr>
            <p:cNvPr id="325" name="TextBox 325"/>
            <p:cNvSpPr txBox="1"/>
            <p:nvPr/>
          </p:nvSpPr>
          <p:spPr>
            <a:xfrm>
              <a:off x="4405790" y="51223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+12​</a:t>
              </a:r>
            </a:p>
          </p:txBody>
        </p:sp>
        <p:sp>
          <p:nvSpPr>
            <p:cNvPr id="326" name="TextBox 326"/>
            <p:cNvSpPr txBox="1"/>
            <p:nvPr/>
          </p:nvSpPr>
          <p:spPr>
            <a:xfrm>
              <a:off x="4805840" y="51223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+13​</a:t>
              </a:r>
            </a:p>
          </p:txBody>
        </p:sp>
        <p:sp>
          <p:nvSpPr>
            <p:cNvPr id="327" name="TextBox 327"/>
            <p:cNvSpPr txBox="1"/>
            <p:nvPr/>
          </p:nvSpPr>
          <p:spPr>
            <a:xfrm>
              <a:off x="5205890" y="51223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+15​</a:t>
              </a:r>
            </a:p>
          </p:txBody>
        </p:sp>
        <p:sp>
          <p:nvSpPr>
            <p:cNvPr id="328" name="TextBox 328"/>
            <p:cNvSpPr txBox="1"/>
            <p:nvPr/>
          </p:nvSpPr>
          <p:spPr>
            <a:xfrm>
              <a:off x="5801083" y="51223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70​</a:t>
              </a:r>
            </a:p>
          </p:txBody>
        </p:sp>
        <p:sp>
          <p:nvSpPr>
            <p:cNvPr id="329" name="TextBox 329"/>
            <p:cNvSpPr txBox="1"/>
            <p:nvPr/>
          </p:nvSpPr>
          <p:spPr>
            <a:xfrm>
              <a:off x="6520340" y="51223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160​</a:t>
              </a:r>
            </a:p>
          </p:txBody>
        </p:sp>
        <p:sp>
          <p:nvSpPr>
            <p:cNvPr id="330" name="TextBox 330"/>
            <p:cNvSpPr txBox="1"/>
            <p:nvPr/>
          </p:nvSpPr>
          <p:spPr>
            <a:xfrm>
              <a:off x="7250031" y="5122307"/>
              <a:ext cx="263688"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4.2%​</a:t>
              </a:r>
            </a:p>
          </p:txBody>
        </p:sp>
        <p:sp>
          <p:nvSpPr>
            <p:cNvPr id="331" name="Line 331"/>
            <p:cNvSpPr/>
            <p:nvPr/>
          </p:nvSpPr>
          <p:spPr>
            <a:xfrm>
              <a:off x="304800" y="5257800"/>
              <a:ext cx="7467600" cy="9525"/>
            </a:xfrm>
            <a:custGeom>
              <a:avLst/>
              <a:gdLst/>
              <a:ahLst/>
              <a:cxnLst/>
              <a:rect l="l" t="t" r="r" b="b"/>
              <a:pathLst>
                <a:path w="7467600" h="9525">
                  <a:moveTo>
                    <a:pt x="0" y="0"/>
                  </a:moveTo>
                  <a:lnTo>
                    <a:pt x="7467600" y="0"/>
                  </a:lnTo>
                </a:path>
              </a:pathLst>
            </a:custGeom>
            <a:noFill/>
            <a:ln w="9525">
              <a:solidFill>
                <a:srgbClr val="EDF2FA"/>
              </a:solidFill>
            </a:ln>
          </p:spPr>
        </p:sp>
        <p:sp>
          <p:nvSpPr>
            <p:cNvPr id="332" name="TextBox 332"/>
            <p:cNvSpPr txBox="1"/>
            <p:nvPr/>
          </p:nvSpPr>
          <p:spPr>
            <a:xfrm>
              <a:off x="366951" y="53509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2​</a:t>
              </a:r>
            </a:p>
          </p:txBody>
        </p:sp>
        <p:sp>
          <p:nvSpPr>
            <p:cNvPr id="333" name="TextBox 333"/>
            <p:cNvSpPr txBox="1"/>
            <p:nvPr/>
          </p:nvSpPr>
          <p:spPr>
            <a:xfrm>
              <a:off x="694246" y="5350907"/>
              <a:ext cx="440309"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机构金融部</a:t>
              </a:r>
            </a:p>
          </p:txBody>
        </p:sp>
        <p:sp>
          <p:nvSpPr>
            <p:cNvPr id="334" name="TextBox 334"/>
            <p:cNvSpPr txBox="1"/>
            <p:nvPr/>
          </p:nvSpPr>
          <p:spPr>
            <a:xfrm>
              <a:off x="1328738" y="5354955"/>
              <a:ext cx="1301877"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机构资金引入、专户拓展与资金归集</a:t>
              </a:r>
            </a:p>
          </p:txBody>
        </p:sp>
        <p:sp>
          <p:nvSpPr>
            <p:cNvPr id="335" name="TextBox 335"/>
            <p:cNvSpPr txBox="1"/>
            <p:nvPr/>
          </p:nvSpPr>
          <p:spPr>
            <a:xfrm>
              <a:off x="3229333" y="53509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+6​</a:t>
              </a:r>
            </a:p>
          </p:txBody>
        </p:sp>
        <p:sp>
          <p:nvSpPr>
            <p:cNvPr id="336" name="TextBox 336"/>
            <p:cNvSpPr txBox="1"/>
            <p:nvPr/>
          </p:nvSpPr>
          <p:spPr>
            <a:xfrm>
              <a:off x="3629383" y="53509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+8​</a:t>
              </a:r>
            </a:p>
          </p:txBody>
        </p:sp>
        <p:sp>
          <p:nvSpPr>
            <p:cNvPr id="337" name="TextBox 337"/>
            <p:cNvSpPr txBox="1"/>
            <p:nvPr/>
          </p:nvSpPr>
          <p:spPr>
            <a:xfrm>
              <a:off x="4005740" y="53509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+10​</a:t>
              </a:r>
            </a:p>
          </p:txBody>
        </p:sp>
        <p:sp>
          <p:nvSpPr>
            <p:cNvPr id="338" name="TextBox 338"/>
            <p:cNvSpPr txBox="1"/>
            <p:nvPr/>
          </p:nvSpPr>
          <p:spPr>
            <a:xfrm>
              <a:off x="4405790" y="53509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+10​</a:t>
              </a:r>
            </a:p>
          </p:txBody>
        </p:sp>
        <p:sp>
          <p:nvSpPr>
            <p:cNvPr id="339" name="TextBox 339"/>
            <p:cNvSpPr txBox="1"/>
            <p:nvPr/>
          </p:nvSpPr>
          <p:spPr>
            <a:xfrm>
              <a:off x="4805840" y="53509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+11​</a:t>
              </a:r>
            </a:p>
          </p:txBody>
        </p:sp>
        <p:sp>
          <p:nvSpPr>
            <p:cNvPr id="340" name="TextBox 340"/>
            <p:cNvSpPr txBox="1"/>
            <p:nvPr/>
          </p:nvSpPr>
          <p:spPr>
            <a:xfrm>
              <a:off x="5205890" y="53509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+13​</a:t>
              </a:r>
            </a:p>
          </p:txBody>
        </p:sp>
        <p:sp>
          <p:nvSpPr>
            <p:cNvPr id="341" name="TextBox 341"/>
            <p:cNvSpPr txBox="1"/>
            <p:nvPr/>
          </p:nvSpPr>
          <p:spPr>
            <a:xfrm>
              <a:off x="5801083" y="53509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58​</a:t>
              </a:r>
            </a:p>
          </p:txBody>
        </p:sp>
        <p:sp>
          <p:nvSpPr>
            <p:cNvPr id="342" name="TextBox 342"/>
            <p:cNvSpPr txBox="1"/>
            <p:nvPr/>
          </p:nvSpPr>
          <p:spPr>
            <a:xfrm>
              <a:off x="6520340" y="53509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110​</a:t>
              </a:r>
            </a:p>
          </p:txBody>
        </p:sp>
        <p:sp>
          <p:nvSpPr>
            <p:cNvPr id="343" name="TextBox 343"/>
            <p:cNvSpPr txBox="1"/>
            <p:nvPr/>
          </p:nvSpPr>
          <p:spPr>
            <a:xfrm>
              <a:off x="7250031" y="5350907"/>
              <a:ext cx="263688"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1.8%​</a:t>
              </a:r>
            </a:p>
          </p:txBody>
        </p:sp>
        <p:sp>
          <p:nvSpPr>
            <p:cNvPr id="344" name="Line 344"/>
            <p:cNvSpPr/>
            <p:nvPr/>
          </p:nvSpPr>
          <p:spPr>
            <a:xfrm>
              <a:off x="304800" y="5486400"/>
              <a:ext cx="7467600" cy="9525"/>
            </a:xfrm>
            <a:custGeom>
              <a:avLst/>
              <a:gdLst/>
              <a:ahLst/>
              <a:cxnLst/>
              <a:rect l="l" t="t" r="r" b="b"/>
              <a:pathLst>
                <a:path w="7467600" h="9525">
                  <a:moveTo>
                    <a:pt x="0" y="0"/>
                  </a:moveTo>
                  <a:lnTo>
                    <a:pt x="7467600" y="0"/>
                  </a:lnTo>
                </a:path>
              </a:pathLst>
            </a:custGeom>
            <a:noFill/>
            <a:ln w="9525">
              <a:solidFill>
                <a:srgbClr val="EDF2FA"/>
              </a:solidFill>
            </a:ln>
          </p:spPr>
        </p:sp>
        <p:sp>
          <p:nvSpPr>
            <p:cNvPr id="345" name="TextBox 345"/>
            <p:cNvSpPr txBox="1"/>
            <p:nvPr/>
          </p:nvSpPr>
          <p:spPr>
            <a:xfrm>
              <a:off x="366951" y="55795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3​</a:t>
              </a:r>
            </a:p>
          </p:txBody>
        </p:sp>
        <p:sp>
          <p:nvSpPr>
            <p:cNvPr id="346" name="TextBox 346"/>
            <p:cNvSpPr txBox="1"/>
            <p:nvPr/>
          </p:nvSpPr>
          <p:spPr>
            <a:xfrm>
              <a:off x="694246" y="5579507"/>
              <a:ext cx="440309"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交易银行部</a:t>
              </a:r>
            </a:p>
          </p:txBody>
        </p:sp>
        <p:sp>
          <p:nvSpPr>
            <p:cNvPr id="347" name="TextBox 347"/>
            <p:cNvSpPr txBox="1"/>
            <p:nvPr/>
          </p:nvSpPr>
          <p:spPr>
            <a:xfrm>
              <a:off x="1328738" y="5583555"/>
              <a:ext cx="1382649"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结算场景经营、代发与供应链资金沉淀</a:t>
              </a:r>
            </a:p>
          </p:txBody>
        </p:sp>
        <p:sp>
          <p:nvSpPr>
            <p:cNvPr id="348" name="TextBox 348"/>
            <p:cNvSpPr txBox="1"/>
            <p:nvPr/>
          </p:nvSpPr>
          <p:spPr>
            <a:xfrm>
              <a:off x="3205640" y="55795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+10​</a:t>
              </a:r>
            </a:p>
          </p:txBody>
        </p:sp>
        <p:sp>
          <p:nvSpPr>
            <p:cNvPr id="349" name="TextBox 349"/>
            <p:cNvSpPr txBox="1"/>
            <p:nvPr/>
          </p:nvSpPr>
          <p:spPr>
            <a:xfrm>
              <a:off x="3605690" y="55795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+12​</a:t>
              </a:r>
            </a:p>
          </p:txBody>
        </p:sp>
        <p:sp>
          <p:nvSpPr>
            <p:cNvPr id="350" name="TextBox 350"/>
            <p:cNvSpPr txBox="1"/>
            <p:nvPr/>
          </p:nvSpPr>
          <p:spPr>
            <a:xfrm>
              <a:off x="4005740" y="55795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+14​</a:t>
              </a:r>
            </a:p>
          </p:txBody>
        </p:sp>
        <p:sp>
          <p:nvSpPr>
            <p:cNvPr id="351" name="TextBox 351"/>
            <p:cNvSpPr txBox="1"/>
            <p:nvPr/>
          </p:nvSpPr>
          <p:spPr>
            <a:xfrm>
              <a:off x="4405790" y="55795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+14​</a:t>
              </a:r>
            </a:p>
          </p:txBody>
        </p:sp>
        <p:sp>
          <p:nvSpPr>
            <p:cNvPr id="352" name="TextBox 352"/>
            <p:cNvSpPr txBox="1"/>
            <p:nvPr/>
          </p:nvSpPr>
          <p:spPr>
            <a:xfrm>
              <a:off x="4805840" y="55795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+15​</a:t>
              </a:r>
            </a:p>
          </p:txBody>
        </p:sp>
        <p:sp>
          <p:nvSpPr>
            <p:cNvPr id="353" name="TextBox 353"/>
            <p:cNvSpPr txBox="1"/>
            <p:nvPr/>
          </p:nvSpPr>
          <p:spPr>
            <a:xfrm>
              <a:off x="5205890" y="55795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+15​</a:t>
              </a:r>
            </a:p>
          </p:txBody>
        </p:sp>
        <p:sp>
          <p:nvSpPr>
            <p:cNvPr id="354" name="TextBox 354"/>
            <p:cNvSpPr txBox="1"/>
            <p:nvPr/>
          </p:nvSpPr>
          <p:spPr>
            <a:xfrm>
              <a:off x="5801083" y="55795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80​</a:t>
              </a:r>
            </a:p>
          </p:txBody>
        </p:sp>
        <p:sp>
          <p:nvSpPr>
            <p:cNvPr id="355" name="TextBox 355"/>
            <p:cNvSpPr txBox="1"/>
            <p:nvPr/>
          </p:nvSpPr>
          <p:spPr>
            <a:xfrm>
              <a:off x="6520340" y="5579507"/>
              <a:ext cx="199070"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150​</a:t>
              </a:r>
            </a:p>
          </p:txBody>
        </p:sp>
        <p:sp>
          <p:nvSpPr>
            <p:cNvPr id="356" name="TextBox 356"/>
            <p:cNvSpPr txBox="1"/>
            <p:nvPr/>
          </p:nvSpPr>
          <p:spPr>
            <a:xfrm>
              <a:off x="7250031" y="5579507"/>
              <a:ext cx="263688"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2.2%​</a:t>
              </a:r>
            </a:p>
          </p:txBody>
        </p:sp>
        <p:sp>
          <p:nvSpPr>
            <p:cNvPr id="357" name="Line 357"/>
            <p:cNvSpPr/>
            <p:nvPr/>
          </p:nvSpPr>
          <p:spPr>
            <a:xfrm>
              <a:off x="304800" y="5715000"/>
              <a:ext cx="7467600" cy="9525"/>
            </a:xfrm>
            <a:custGeom>
              <a:avLst/>
              <a:gdLst/>
              <a:ahLst/>
              <a:cxnLst/>
              <a:rect l="l" t="t" r="r" b="b"/>
              <a:pathLst>
                <a:path w="7467600" h="9525">
                  <a:moveTo>
                    <a:pt x="0" y="0"/>
                  </a:moveTo>
                  <a:lnTo>
                    <a:pt x="7467600" y="0"/>
                  </a:lnTo>
                </a:path>
              </a:pathLst>
            </a:custGeom>
            <a:noFill/>
            <a:ln w="9525">
              <a:solidFill>
                <a:srgbClr val="EDF2FA"/>
              </a:solidFill>
            </a:ln>
          </p:spPr>
        </p:sp>
        <p:sp>
          <p:nvSpPr>
            <p:cNvPr id="358" name="TextBox 358"/>
            <p:cNvSpPr txBox="1"/>
            <p:nvPr/>
          </p:nvSpPr>
          <p:spPr>
            <a:xfrm>
              <a:off x="366951" y="58081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4​</a:t>
              </a:r>
            </a:p>
          </p:txBody>
        </p:sp>
        <p:sp>
          <p:nvSpPr>
            <p:cNvPr id="359" name="TextBox 359"/>
            <p:cNvSpPr txBox="1"/>
            <p:nvPr/>
          </p:nvSpPr>
          <p:spPr>
            <a:xfrm>
              <a:off x="694246" y="5808107"/>
              <a:ext cx="440309"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普惠金融部</a:t>
              </a:r>
            </a:p>
          </p:txBody>
        </p:sp>
        <p:sp>
          <p:nvSpPr>
            <p:cNvPr id="360" name="TextBox 360"/>
            <p:cNvSpPr txBox="1"/>
            <p:nvPr/>
          </p:nvSpPr>
          <p:spPr>
            <a:xfrm>
              <a:off x="1328738" y="5812155"/>
              <a:ext cx="1221105"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园区楼宇拓户、优质中小企业沉淀</a:t>
              </a:r>
            </a:p>
          </p:txBody>
        </p:sp>
        <p:sp>
          <p:nvSpPr>
            <p:cNvPr id="361" name="TextBox 361"/>
            <p:cNvSpPr txBox="1"/>
            <p:nvPr/>
          </p:nvSpPr>
          <p:spPr>
            <a:xfrm>
              <a:off x="3229333" y="58081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+5​</a:t>
              </a:r>
            </a:p>
          </p:txBody>
        </p:sp>
        <p:sp>
          <p:nvSpPr>
            <p:cNvPr id="362" name="TextBox 362"/>
            <p:cNvSpPr txBox="1"/>
            <p:nvPr/>
          </p:nvSpPr>
          <p:spPr>
            <a:xfrm>
              <a:off x="3629383" y="58081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+6​</a:t>
              </a:r>
            </a:p>
          </p:txBody>
        </p:sp>
        <p:sp>
          <p:nvSpPr>
            <p:cNvPr id="363" name="TextBox 363"/>
            <p:cNvSpPr txBox="1"/>
            <p:nvPr/>
          </p:nvSpPr>
          <p:spPr>
            <a:xfrm>
              <a:off x="4029433" y="58081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+7​</a:t>
              </a:r>
            </a:p>
          </p:txBody>
        </p:sp>
        <p:sp>
          <p:nvSpPr>
            <p:cNvPr id="364" name="TextBox 364"/>
            <p:cNvSpPr txBox="1"/>
            <p:nvPr/>
          </p:nvSpPr>
          <p:spPr>
            <a:xfrm>
              <a:off x="4429483" y="58081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+7​</a:t>
              </a:r>
            </a:p>
          </p:txBody>
        </p:sp>
        <p:sp>
          <p:nvSpPr>
            <p:cNvPr id="365" name="TextBox 365"/>
            <p:cNvSpPr txBox="1"/>
            <p:nvPr/>
          </p:nvSpPr>
          <p:spPr>
            <a:xfrm>
              <a:off x="4829533" y="58081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+8​</a:t>
              </a:r>
            </a:p>
          </p:txBody>
        </p:sp>
        <p:sp>
          <p:nvSpPr>
            <p:cNvPr id="366" name="TextBox 366"/>
            <p:cNvSpPr txBox="1"/>
            <p:nvPr/>
          </p:nvSpPr>
          <p:spPr>
            <a:xfrm>
              <a:off x="5229583" y="58081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+9​</a:t>
              </a:r>
            </a:p>
          </p:txBody>
        </p:sp>
        <p:sp>
          <p:nvSpPr>
            <p:cNvPr id="367" name="TextBox 367"/>
            <p:cNvSpPr txBox="1"/>
            <p:nvPr/>
          </p:nvSpPr>
          <p:spPr>
            <a:xfrm>
              <a:off x="5801083" y="58081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42​</a:t>
              </a:r>
            </a:p>
          </p:txBody>
        </p:sp>
        <p:sp>
          <p:nvSpPr>
            <p:cNvPr id="368" name="TextBox 368"/>
            <p:cNvSpPr txBox="1"/>
            <p:nvPr/>
          </p:nvSpPr>
          <p:spPr>
            <a:xfrm>
              <a:off x="6544033" y="58081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85​</a:t>
              </a:r>
            </a:p>
          </p:txBody>
        </p:sp>
        <p:sp>
          <p:nvSpPr>
            <p:cNvPr id="369" name="TextBox 369"/>
            <p:cNvSpPr txBox="1"/>
            <p:nvPr/>
          </p:nvSpPr>
          <p:spPr>
            <a:xfrm>
              <a:off x="7250031" y="5808107"/>
              <a:ext cx="263688"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1.1%​</a:t>
              </a:r>
            </a:p>
          </p:txBody>
        </p:sp>
        <p:sp>
          <p:nvSpPr>
            <p:cNvPr id="370" name="Line 370"/>
            <p:cNvSpPr/>
            <p:nvPr/>
          </p:nvSpPr>
          <p:spPr>
            <a:xfrm>
              <a:off x="304800" y="5943600"/>
              <a:ext cx="7467600" cy="9525"/>
            </a:xfrm>
            <a:custGeom>
              <a:avLst/>
              <a:gdLst/>
              <a:ahLst/>
              <a:cxnLst/>
              <a:rect l="l" t="t" r="r" b="b"/>
              <a:pathLst>
                <a:path w="7467600" h="9525">
                  <a:moveTo>
                    <a:pt x="0" y="0"/>
                  </a:moveTo>
                  <a:lnTo>
                    <a:pt x="7467600" y="0"/>
                  </a:lnTo>
                </a:path>
              </a:pathLst>
            </a:custGeom>
            <a:noFill/>
            <a:ln w="9525">
              <a:solidFill>
                <a:srgbClr val="EDF2FA"/>
              </a:solidFill>
            </a:ln>
          </p:spPr>
        </p:sp>
        <p:sp>
          <p:nvSpPr>
            <p:cNvPr id="371" name="TextBox 371"/>
            <p:cNvSpPr txBox="1"/>
            <p:nvPr/>
          </p:nvSpPr>
          <p:spPr>
            <a:xfrm>
              <a:off x="366951" y="60367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5​</a:t>
              </a:r>
            </a:p>
          </p:txBody>
        </p:sp>
        <p:sp>
          <p:nvSpPr>
            <p:cNvPr id="372" name="TextBox 372"/>
            <p:cNvSpPr txBox="1"/>
            <p:nvPr/>
          </p:nvSpPr>
          <p:spPr>
            <a:xfrm>
              <a:off x="731838" y="6016228"/>
              <a:ext cx="365125" cy="197644"/>
            </a:xfrm>
            <a:prstGeom prst="rect">
              <a:avLst/>
            </a:prstGeom>
            <a:noFill/>
            <a:ln>
              <a:noFill/>
            </a:ln>
          </p:spPr>
          <p:txBody>
            <a:bodyPr wrap="none" lIns="0" tIns="0" rIns="0" bIns="0" anchor="t" anchorCtr="0">
              <a:spAutoFit/>
            </a:bodyPr>
            <a:lstStyle/>
            <a:p>
              <a:pPr algn="ctr">
                <a:lnSpc>
                  <a:spcPts val="675"/>
                </a:lnSpc>
              </a:pPr>
              <a:r>
                <a:rPr lang="zh-CN" sz="560" dirty="0">
                  <a:solidFill>
                    <a:srgbClr val="5F3A33"/>
                  </a:solidFill>
                  <a:latin typeface="+mn-lt"/>
                  <a:ea typeface="+mn-ea"/>
                  <a:cs typeface="+mn-cs"/>
                </a:rPr>
                <a:t>风险管理部</a:t>
              </a:r>
              <a:br/>
              <a:r>
                <a:rPr lang="zh-CN" sz="560" dirty="0">
                  <a:solidFill>
                    <a:srgbClr val="5F3A33"/>
                  </a:solidFill>
                  <a:latin typeface="+mn-lt"/>
                  <a:ea typeface="+mn-ea"/>
                  <a:cs typeface="+mn-cs"/>
                </a:rPr>
                <a:t>/合规部</a:t>
              </a:r>
            </a:p>
          </p:txBody>
        </p:sp>
        <p:sp>
          <p:nvSpPr>
            <p:cNvPr id="373" name="TextBox 373"/>
            <p:cNvSpPr txBox="1"/>
            <p:nvPr/>
          </p:nvSpPr>
          <p:spPr>
            <a:xfrm>
              <a:off x="1328738" y="6040755"/>
              <a:ext cx="1301877" cy="119062"/>
            </a:xfrm>
            <a:prstGeom prst="rect">
              <a:avLst/>
            </a:prstGeom>
            <a:noFill/>
            <a:ln>
              <a:noFill/>
            </a:ln>
          </p:spPr>
          <p:txBody>
            <a:bodyPr wrap="none" lIns="0" tIns="0" rIns="0" bIns="0" anchor="t" anchorCtr="0">
              <a:spAutoFit/>
            </a:bodyPr>
            <a:lstStyle/>
            <a:p>
              <a:pPr algn="l"/>
              <a:r>
                <a:rPr lang="zh-CN" sz="600" dirty="0">
                  <a:solidFill>
                    <a:srgbClr val="70504A"/>
                  </a:solidFill>
                  <a:latin typeface="+mn-lt"/>
                  <a:ea typeface="+mn-ea"/>
                  <a:cs typeface="+mn-cs"/>
                </a:rPr>
                <a:t>监管资金对接、账户合规与资金安全</a:t>
              </a:r>
            </a:p>
          </p:txBody>
        </p:sp>
        <p:sp>
          <p:nvSpPr>
            <p:cNvPr id="374" name="TextBox 374"/>
            <p:cNvSpPr txBox="1"/>
            <p:nvPr/>
          </p:nvSpPr>
          <p:spPr>
            <a:xfrm>
              <a:off x="3229333" y="60367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+3​</a:t>
              </a:r>
            </a:p>
          </p:txBody>
        </p:sp>
        <p:sp>
          <p:nvSpPr>
            <p:cNvPr id="375" name="TextBox 375"/>
            <p:cNvSpPr txBox="1"/>
            <p:nvPr/>
          </p:nvSpPr>
          <p:spPr>
            <a:xfrm>
              <a:off x="3629383" y="60367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+3​</a:t>
              </a:r>
            </a:p>
          </p:txBody>
        </p:sp>
        <p:sp>
          <p:nvSpPr>
            <p:cNvPr id="376" name="TextBox 376"/>
            <p:cNvSpPr txBox="1"/>
            <p:nvPr/>
          </p:nvSpPr>
          <p:spPr>
            <a:xfrm>
              <a:off x="4029433" y="60367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+4​</a:t>
              </a:r>
            </a:p>
          </p:txBody>
        </p:sp>
        <p:sp>
          <p:nvSpPr>
            <p:cNvPr id="377" name="TextBox 377"/>
            <p:cNvSpPr txBox="1"/>
            <p:nvPr/>
          </p:nvSpPr>
          <p:spPr>
            <a:xfrm>
              <a:off x="4429483" y="60367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+4​</a:t>
              </a:r>
            </a:p>
          </p:txBody>
        </p:sp>
        <p:sp>
          <p:nvSpPr>
            <p:cNvPr id="378" name="TextBox 378"/>
            <p:cNvSpPr txBox="1"/>
            <p:nvPr/>
          </p:nvSpPr>
          <p:spPr>
            <a:xfrm>
              <a:off x="4829533" y="60367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+5​</a:t>
              </a:r>
            </a:p>
          </p:txBody>
        </p:sp>
        <p:sp>
          <p:nvSpPr>
            <p:cNvPr id="379" name="TextBox 379"/>
            <p:cNvSpPr txBox="1"/>
            <p:nvPr/>
          </p:nvSpPr>
          <p:spPr>
            <a:xfrm>
              <a:off x="5229583" y="60367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+5​</a:t>
              </a:r>
            </a:p>
          </p:txBody>
        </p:sp>
        <p:sp>
          <p:nvSpPr>
            <p:cNvPr id="380" name="TextBox 380"/>
            <p:cNvSpPr txBox="1"/>
            <p:nvPr/>
          </p:nvSpPr>
          <p:spPr>
            <a:xfrm>
              <a:off x="5801083" y="60367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24​</a:t>
              </a:r>
            </a:p>
          </p:txBody>
        </p:sp>
        <p:sp>
          <p:nvSpPr>
            <p:cNvPr id="381" name="TextBox 381"/>
            <p:cNvSpPr txBox="1"/>
            <p:nvPr/>
          </p:nvSpPr>
          <p:spPr>
            <a:xfrm>
              <a:off x="6544033" y="6036707"/>
              <a:ext cx="151684"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48​</a:t>
              </a:r>
            </a:p>
          </p:txBody>
        </p:sp>
        <p:sp>
          <p:nvSpPr>
            <p:cNvPr id="382" name="TextBox 382"/>
            <p:cNvSpPr txBox="1"/>
            <p:nvPr/>
          </p:nvSpPr>
          <p:spPr>
            <a:xfrm>
              <a:off x="7250031" y="6036707"/>
              <a:ext cx="263688" cy="126206"/>
            </a:xfrm>
            <a:prstGeom prst="rect">
              <a:avLst/>
            </a:prstGeom>
            <a:noFill/>
            <a:ln>
              <a:noFill/>
            </a:ln>
          </p:spPr>
          <p:txBody>
            <a:bodyPr wrap="none" lIns="0" tIns="0" rIns="0" bIns="0" anchor="t" anchorCtr="0">
              <a:spAutoFit/>
            </a:bodyPr>
            <a:lstStyle/>
            <a:p>
              <a:pPr algn="ctr"/>
              <a:r>
                <a:rPr lang="zh-CN" sz="640" dirty="0">
                  <a:solidFill>
                    <a:srgbClr val="5F3A33"/>
                  </a:solidFill>
                  <a:latin typeface="+mn-lt"/>
                  <a:ea typeface="+mn-ea"/>
                  <a:cs typeface="+mn-cs"/>
                </a:rPr>
                <a:t>0.3%​</a:t>
              </a:r>
            </a:p>
          </p:txBody>
        </p:sp>
        <p:sp>
          <p:nvSpPr>
            <p:cNvPr id="383" name="Line 383"/>
            <p:cNvSpPr/>
            <p:nvPr/>
          </p:nvSpPr>
          <p:spPr>
            <a:xfrm>
              <a:off x="304800" y="6172200"/>
              <a:ext cx="7467600" cy="9525"/>
            </a:xfrm>
            <a:custGeom>
              <a:avLst/>
              <a:gdLst/>
              <a:ahLst/>
              <a:cxnLst/>
              <a:rect l="l" t="t" r="r" b="b"/>
              <a:pathLst>
                <a:path w="7467600" h="9525">
                  <a:moveTo>
                    <a:pt x="0" y="0"/>
                  </a:moveTo>
                  <a:lnTo>
                    <a:pt x="7467600" y="0"/>
                  </a:lnTo>
                </a:path>
              </a:pathLst>
            </a:custGeom>
            <a:noFill/>
            <a:ln w="9525">
              <a:solidFill>
                <a:srgbClr val="C9D6E9"/>
              </a:solidFill>
            </a:ln>
          </p:spPr>
        </p:sp>
        <p:sp>
          <p:nvSpPr>
            <p:cNvPr id="384" name="Rectangle 384"/>
            <p:cNvSpPr/>
            <p:nvPr/>
          </p:nvSpPr>
          <p:spPr>
            <a:xfrm>
              <a:off x="304800" y="6191250"/>
              <a:ext cx="7467600" cy="228600"/>
            </a:xfrm>
            <a:prstGeom prst="rect">
              <a:avLst/>
            </a:prstGeom>
            <a:solidFill>
              <a:srgbClr val="EAF1FB"/>
            </a:solidFill>
            <a:ln>
              <a:noFill/>
            </a:ln>
          </p:spPr>
        </p:sp>
        <p:sp>
          <p:nvSpPr>
            <p:cNvPr id="385" name="TextBox 385"/>
            <p:cNvSpPr txBox="1"/>
            <p:nvPr/>
          </p:nvSpPr>
          <p:spPr>
            <a:xfrm>
              <a:off x="814057" y="6266736"/>
              <a:ext cx="200685"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合计</a:t>
              </a:r>
            </a:p>
          </p:txBody>
        </p:sp>
        <p:sp>
          <p:nvSpPr>
            <p:cNvPr id="386" name="TextBox 386"/>
            <p:cNvSpPr txBox="1"/>
            <p:nvPr/>
          </p:nvSpPr>
          <p:spPr>
            <a:xfrm>
              <a:off x="3190017" y="6266736"/>
              <a:ext cx="230315"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+32​</a:t>
              </a:r>
            </a:p>
          </p:txBody>
        </p:sp>
        <p:sp>
          <p:nvSpPr>
            <p:cNvPr id="387" name="TextBox 387"/>
            <p:cNvSpPr txBox="1"/>
            <p:nvPr/>
          </p:nvSpPr>
          <p:spPr>
            <a:xfrm>
              <a:off x="3590067" y="6266736"/>
              <a:ext cx="230315"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+39​</a:t>
              </a:r>
            </a:p>
          </p:txBody>
        </p:sp>
        <p:sp>
          <p:nvSpPr>
            <p:cNvPr id="388" name="TextBox 388"/>
            <p:cNvSpPr txBox="1"/>
            <p:nvPr/>
          </p:nvSpPr>
          <p:spPr>
            <a:xfrm>
              <a:off x="3990117" y="6266736"/>
              <a:ext cx="230315"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+47​</a:t>
              </a:r>
            </a:p>
          </p:txBody>
        </p:sp>
        <p:sp>
          <p:nvSpPr>
            <p:cNvPr id="389" name="TextBox 389"/>
            <p:cNvSpPr txBox="1"/>
            <p:nvPr/>
          </p:nvSpPr>
          <p:spPr>
            <a:xfrm>
              <a:off x="4390167" y="6266736"/>
              <a:ext cx="230315"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+47​</a:t>
              </a:r>
            </a:p>
          </p:txBody>
        </p:sp>
        <p:sp>
          <p:nvSpPr>
            <p:cNvPr id="390" name="TextBox 390"/>
            <p:cNvSpPr txBox="1"/>
            <p:nvPr/>
          </p:nvSpPr>
          <p:spPr>
            <a:xfrm>
              <a:off x="4790217" y="6266736"/>
              <a:ext cx="230315"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+52​</a:t>
              </a:r>
            </a:p>
          </p:txBody>
        </p:sp>
        <p:sp>
          <p:nvSpPr>
            <p:cNvPr id="391" name="TextBox 391"/>
            <p:cNvSpPr txBox="1"/>
            <p:nvPr/>
          </p:nvSpPr>
          <p:spPr>
            <a:xfrm>
              <a:off x="5190267" y="6266736"/>
              <a:ext cx="230315"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+57​</a:t>
              </a:r>
            </a:p>
          </p:txBody>
        </p:sp>
        <p:sp>
          <p:nvSpPr>
            <p:cNvPr id="392" name="TextBox 392"/>
            <p:cNvSpPr txBox="1"/>
            <p:nvPr/>
          </p:nvSpPr>
          <p:spPr>
            <a:xfrm>
              <a:off x="5761767" y="6266736"/>
              <a:ext cx="230315"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274​</a:t>
              </a:r>
            </a:p>
          </p:txBody>
        </p:sp>
        <p:sp>
          <p:nvSpPr>
            <p:cNvPr id="393" name="TextBox 393"/>
            <p:cNvSpPr txBox="1"/>
            <p:nvPr/>
          </p:nvSpPr>
          <p:spPr>
            <a:xfrm>
              <a:off x="6504717" y="6266736"/>
              <a:ext cx="230315"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553​</a:t>
              </a:r>
            </a:p>
          </p:txBody>
        </p:sp>
        <p:sp>
          <p:nvSpPr>
            <p:cNvPr id="394" name="TextBox 394"/>
            <p:cNvSpPr txBox="1"/>
            <p:nvPr/>
          </p:nvSpPr>
          <p:spPr>
            <a:xfrm>
              <a:off x="7229083" y="6266736"/>
              <a:ext cx="305585" cy="140494"/>
            </a:xfrm>
            <a:prstGeom prst="rect">
              <a:avLst/>
            </a:prstGeom>
            <a:noFill/>
            <a:ln>
              <a:noFill/>
            </a:ln>
          </p:spPr>
          <p:txBody>
            <a:bodyPr wrap="none" lIns="0" tIns="0" rIns="0" bIns="0" anchor="t" anchorCtr="0">
              <a:spAutoFit/>
            </a:bodyPr>
            <a:lstStyle/>
            <a:p>
              <a:pPr algn="ctr"/>
              <a:r>
                <a:rPr lang="zh-CN" sz="710" b="1" dirty="0">
                  <a:solidFill>
                    <a:srgbClr val="E04C2E"/>
                  </a:solidFill>
                  <a:latin typeface="+mn-lt"/>
                  <a:ea typeface="+mn-ea"/>
                  <a:cs typeface="+mn-cs"/>
                </a:rPr>
                <a:t>9.6%​</a:t>
              </a:r>
            </a:p>
          </p:txBody>
        </p:sp>
        <p:sp>
          <p:nvSpPr>
            <p:cNvPr id="395" name="TextBox 395"/>
            <p:cNvSpPr txBox="1"/>
            <p:nvPr/>
          </p:nvSpPr>
          <p:spPr>
            <a:xfrm>
              <a:off x="300038" y="6526530"/>
              <a:ext cx="1301877" cy="119062"/>
            </a:xfrm>
            <a:prstGeom prst="rect">
              <a:avLst/>
            </a:prstGeom>
            <a:noFill/>
            <a:ln>
              <a:noFill/>
            </a:ln>
          </p:spPr>
          <p:txBody>
            <a:bodyPr wrap="none" lIns="0" tIns="0" rIns="0" bIns="0" anchor="t" anchorCtr="0">
              <a:spAutoFit/>
            </a:bodyPr>
            <a:lstStyle/>
            <a:p>
              <a:pPr algn="l"/>
              <a:r>
                <a:rPr lang="zh-CN" sz="600" dirty="0">
                  <a:solidFill>
                    <a:srgbClr val="BEA09A"/>
                  </a:solidFill>
                  <a:latin typeface="+mn-lt"/>
                  <a:ea typeface="+mn-ea"/>
                  <a:cs typeface="+mn-cs"/>
                </a:rPr>
                <a:t>注：月度净增为示例数据（亿元）。</a:t>
              </a:r>
            </a:p>
          </p:txBody>
        </p:sp>
      </p:grpSp>
      <p:grpSp>
        <p:nvGrpSpPr>
          <p:cNvPr id="413" name="risk-gap"/>
          <p:cNvGrpSpPr/>
          <p:nvPr/>
        </p:nvGrpSpPr>
        <p:grpSpPr>
          <a:xfrm>
            <a:off x="7962900" y="4552950"/>
            <a:ext cx="4000500" cy="2114550"/>
            <a:chOff x="7962900" y="4552950"/>
            <a:chExt cx="4000500" cy="2114550"/>
          </a:xfrm>
        </p:grpSpPr>
        <p:sp>
          <p:nvSpPr>
            <p:cNvPr id="397" name="Rectangle 397"/>
            <p:cNvSpPr/>
            <p:nvPr/>
          </p:nvSpPr>
          <p:spPr>
            <a:xfrm>
              <a:off x="7962900" y="4552950"/>
              <a:ext cx="4000500" cy="2114550"/>
            </a:xfrm>
            <a:prstGeom prst="roundRect">
              <a:avLst>
                <a:gd name="adj" fmla="val 2703"/>
              </a:avLst>
            </a:prstGeom>
            <a:solidFill>
              <a:srgbClr val="FFF7F6"/>
            </a:solidFill>
            <a:ln w="11430">
              <a:solidFill>
                <a:srgbClr val="D0442C"/>
              </a:solidFill>
            </a:ln>
          </p:spPr>
        </p:sp>
        <p:grpSp>
          <p:nvGrpSpPr>
            <p:cNvPr id="401" name="Group 401"/>
            <p:cNvGrpSpPr/>
            <p:nvPr/>
          </p:nvGrpSpPr>
          <p:grpSpPr>
            <a:xfrm>
              <a:off x="8109929" y="4686308"/>
              <a:ext cx="144086" cy="123788"/>
              <a:chOff x="8109929" y="4686308"/>
              <a:chExt cx="144086" cy="123788"/>
            </a:xfrm>
          </p:grpSpPr>
          <p:sp>
            <p:nvSpPr>
              <p:cNvPr id="398" name="Freeform 398"/>
              <p:cNvSpPr/>
              <p:nvPr/>
            </p:nvSpPr>
            <p:spPr>
              <a:xfrm>
                <a:off x="8181975" y="4731544"/>
                <a:ext cx="9525" cy="28575"/>
              </a:xfrm>
              <a:custGeom>
                <a:avLst/>
                <a:gdLst/>
                <a:ahLst/>
                <a:cxnLst/>
                <a:rect l="l" t="t" r="r" b="b"/>
                <a:pathLst>
                  <a:path w="9525" h="28575">
                    <a:moveTo>
                      <a:pt x="0" y="0"/>
                    </a:moveTo>
                    <a:lnTo>
                      <a:pt x="0" y="28575"/>
                    </a:lnTo>
                  </a:path>
                </a:pathLst>
              </a:custGeom>
              <a:noFill/>
              <a:ln w="14288">
                <a:solidFill>
                  <a:srgbClr val="D0442C"/>
                </a:solidFill>
              </a:ln>
            </p:spPr>
          </p:sp>
          <p:sp>
            <p:nvSpPr>
              <p:cNvPr id="399" name="Freeform 399"/>
              <p:cNvSpPr/>
              <p:nvPr/>
            </p:nvSpPr>
            <p:spPr>
              <a:xfrm>
                <a:off x="8109929" y="4686308"/>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D0442C"/>
                </a:solidFill>
              </a:ln>
            </p:spPr>
          </p:sp>
          <p:sp>
            <p:nvSpPr>
              <p:cNvPr id="400" name="Freeform 400"/>
              <p:cNvSpPr/>
              <p:nvPr/>
            </p:nvSpPr>
            <p:spPr>
              <a:xfrm>
                <a:off x="8181975" y="4781550"/>
                <a:ext cx="9525" cy="9525"/>
              </a:xfrm>
              <a:custGeom>
                <a:avLst/>
                <a:gdLst/>
                <a:ahLst/>
                <a:cxnLst/>
                <a:rect l="l" t="t" r="r" b="b"/>
                <a:pathLst>
                  <a:path w="9525" h="9525">
                    <a:moveTo>
                      <a:pt x="0" y="0"/>
                    </a:moveTo>
                    <a:lnTo>
                      <a:pt x="71" y="0"/>
                    </a:lnTo>
                  </a:path>
                </a:pathLst>
              </a:custGeom>
              <a:noFill/>
              <a:ln w="14288">
                <a:solidFill>
                  <a:srgbClr val="D0442C"/>
                </a:solidFill>
              </a:ln>
            </p:spPr>
          </p:sp>
        </p:grpSp>
        <p:sp>
          <p:nvSpPr>
            <p:cNvPr id="402" name="TextBox 402"/>
            <p:cNvSpPr txBox="1"/>
            <p:nvPr/>
          </p:nvSpPr>
          <p:spPr>
            <a:xfrm>
              <a:off x="8339138" y="4703445"/>
              <a:ext cx="857631" cy="176212"/>
            </a:xfrm>
            <a:prstGeom prst="rect">
              <a:avLst/>
            </a:prstGeom>
            <a:noFill/>
            <a:ln>
              <a:noFill/>
            </a:ln>
          </p:spPr>
          <p:txBody>
            <a:bodyPr wrap="none" lIns="0" tIns="0" rIns="0" bIns="0" anchor="t" anchorCtr="0">
              <a:spAutoFit/>
            </a:bodyPr>
            <a:lstStyle/>
            <a:p>
              <a:pPr algn="l"/>
              <a:r>
                <a:rPr lang="zh-CN" sz="900" b="1" dirty="0">
                  <a:solidFill>
                    <a:srgbClr val="D0442C"/>
                  </a:solidFill>
                  <a:latin typeface="+mn-lt"/>
                  <a:ea typeface="+mn-ea"/>
                  <a:cs typeface="+mn-cs"/>
                </a:rPr>
                <a:t>风险与差距提醒</a:t>
              </a:r>
            </a:p>
          </p:txBody>
        </p:sp>
        <p:sp>
          <p:nvSpPr>
            <p:cNvPr id="403" name="Ellipse 403"/>
            <p:cNvSpPr/>
            <p:nvPr/>
          </p:nvSpPr>
          <p:spPr>
            <a:xfrm>
              <a:off x="8134350" y="5029200"/>
              <a:ext cx="38100" cy="38100"/>
            </a:xfrm>
            <a:prstGeom prst="ellipse">
              <a:avLst/>
            </a:prstGeom>
            <a:solidFill>
              <a:srgbClr val="D0442C"/>
            </a:solidFill>
            <a:ln>
              <a:noFill/>
            </a:ln>
          </p:spPr>
        </p:sp>
        <p:sp>
          <p:nvSpPr>
            <p:cNvPr id="404" name="TextBox 404"/>
            <p:cNvSpPr txBox="1"/>
            <p:nvPr/>
          </p:nvSpPr>
          <p:spPr>
            <a:xfrm>
              <a:off x="8243888" y="5009436"/>
              <a:ext cx="1594867"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当前份额 </a:t>
              </a:r>
              <a:r>
                <a:rPr lang="zh-CN" sz="710" b="1" dirty="0">
                  <a:solidFill>
                    <a:srgbClr val="D0442C"/>
                  </a:solidFill>
                  <a:latin typeface="+mn-lt"/>
                  <a:ea typeface="+mn-ea"/>
                  <a:cs typeface="+mn-cs"/>
                </a:rPr>
                <a:t>8.6%</a:t>
              </a:r>
              <a:r>
                <a:rPr lang="zh-CN" sz="710" dirty="0">
                  <a:solidFill>
                    <a:srgbClr val="70504A"/>
                  </a:solidFill>
                  <a:latin typeface="+mn-lt"/>
                  <a:ea typeface="+mn-ea"/>
                  <a:cs typeface="+mn-cs"/>
                </a:rPr>
                <a:t>，低于同业A 9.8pct​</a:t>
              </a:r>
            </a:p>
          </p:txBody>
        </p:sp>
        <p:sp>
          <p:nvSpPr>
            <p:cNvPr id="405" name="Ellipse 405"/>
            <p:cNvSpPr/>
            <p:nvPr/>
          </p:nvSpPr>
          <p:spPr>
            <a:xfrm>
              <a:off x="8134350" y="5295900"/>
              <a:ext cx="38100" cy="38100"/>
            </a:xfrm>
            <a:prstGeom prst="ellipse">
              <a:avLst/>
            </a:prstGeom>
            <a:solidFill>
              <a:srgbClr val="D0442C"/>
            </a:solidFill>
            <a:ln>
              <a:noFill/>
            </a:ln>
          </p:spPr>
        </p:sp>
        <p:sp>
          <p:nvSpPr>
            <p:cNvPr id="406" name="TextBox 406"/>
            <p:cNvSpPr txBox="1"/>
            <p:nvPr/>
          </p:nvSpPr>
          <p:spPr>
            <a:xfrm>
              <a:off x="8243888" y="5276136"/>
              <a:ext cx="1375605"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活期占比 </a:t>
              </a:r>
              <a:r>
                <a:rPr lang="zh-CN" sz="710" b="1" dirty="0">
                  <a:solidFill>
                    <a:srgbClr val="D0442C"/>
                  </a:solidFill>
                  <a:latin typeface="+mn-lt"/>
                  <a:ea typeface="+mn-ea"/>
                  <a:cs typeface="+mn-cs"/>
                </a:rPr>
                <a:t>46%</a:t>
              </a:r>
              <a:r>
                <a:rPr lang="zh-CN" sz="710" dirty="0">
                  <a:solidFill>
                    <a:srgbClr val="70504A"/>
                  </a:solidFill>
                  <a:latin typeface="+mn-lt"/>
                  <a:ea typeface="+mn-ea"/>
                  <a:cs typeface="+mn-cs"/>
                </a:rPr>
                <a:t>，低于目标 4pct​</a:t>
              </a:r>
            </a:p>
          </p:txBody>
        </p:sp>
        <p:sp>
          <p:nvSpPr>
            <p:cNvPr id="407" name="Ellipse 407"/>
            <p:cNvSpPr/>
            <p:nvPr/>
          </p:nvSpPr>
          <p:spPr>
            <a:xfrm>
              <a:off x="8134350" y="5562600"/>
              <a:ext cx="38100" cy="38100"/>
            </a:xfrm>
            <a:prstGeom prst="ellipse">
              <a:avLst/>
            </a:prstGeom>
            <a:solidFill>
              <a:srgbClr val="D0442C"/>
            </a:solidFill>
            <a:ln>
              <a:noFill/>
            </a:ln>
          </p:spPr>
        </p:sp>
        <p:sp>
          <p:nvSpPr>
            <p:cNvPr id="408" name="TextBox 408"/>
            <p:cNvSpPr txBox="1"/>
            <p:nvPr/>
          </p:nvSpPr>
          <p:spPr>
            <a:xfrm>
              <a:off x="8243888" y="5542836"/>
              <a:ext cx="1327815"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机构资金占比 </a:t>
              </a:r>
              <a:r>
                <a:rPr lang="zh-CN" sz="710" b="1" dirty="0">
                  <a:solidFill>
                    <a:srgbClr val="D0442C"/>
                  </a:solidFill>
                  <a:latin typeface="+mn-lt"/>
                  <a:ea typeface="+mn-ea"/>
                  <a:cs typeface="+mn-cs"/>
                </a:rPr>
                <a:t>24%</a:t>
              </a:r>
              <a:r>
                <a:rPr lang="zh-CN" sz="710" dirty="0">
                  <a:solidFill>
                    <a:srgbClr val="70504A"/>
                  </a:solidFill>
                  <a:latin typeface="+mn-lt"/>
                  <a:ea typeface="+mn-ea"/>
                  <a:cs typeface="+mn-cs"/>
                </a:rPr>
                <a:t>，结构偏高​</a:t>
              </a:r>
            </a:p>
          </p:txBody>
        </p:sp>
        <p:sp>
          <p:nvSpPr>
            <p:cNvPr id="409" name="Ellipse 409"/>
            <p:cNvSpPr/>
            <p:nvPr/>
          </p:nvSpPr>
          <p:spPr>
            <a:xfrm>
              <a:off x="8134350" y="5829300"/>
              <a:ext cx="38100" cy="38100"/>
            </a:xfrm>
            <a:prstGeom prst="ellipse">
              <a:avLst/>
            </a:prstGeom>
            <a:solidFill>
              <a:srgbClr val="D0442C"/>
            </a:solidFill>
            <a:ln>
              <a:noFill/>
            </a:ln>
          </p:spPr>
        </p:sp>
        <p:sp>
          <p:nvSpPr>
            <p:cNvPr id="410" name="TextBox 410"/>
            <p:cNvSpPr txBox="1"/>
            <p:nvPr/>
          </p:nvSpPr>
          <p:spPr>
            <a:xfrm>
              <a:off x="8243888" y="5809536"/>
              <a:ext cx="1443228"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部分区域、行业拓展效率不达预期</a:t>
              </a:r>
            </a:p>
          </p:txBody>
        </p:sp>
        <p:sp>
          <p:nvSpPr>
            <p:cNvPr id="411" name="Line 411"/>
            <p:cNvSpPr/>
            <p:nvPr/>
          </p:nvSpPr>
          <p:spPr>
            <a:xfrm>
              <a:off x="8096250" y="6096000"/>
              <a:ext cx="3733800" cy="9525"/>
            </a:xfrm>
            <a:custGeom>
              <a:avLst/>
              <a:gdLst/>
              <a:ahLst/>
              <a:cxnLst/>
              <a:rect l="l" t="t" r="r" b="b"/>
              <a:pathLst>
                <a:path w="3733800" h="9525">
                  <a:moveTo>
                    <a:pt x="0" y="0"/>
                  </a:moveTo>
                  <a:lnTo>
                    <a:pt x="3733800" y="0"/>
                  </a:lnTo>
                </a:path>
              </a:pathLst>
            </a:custGeom>
            <a:noFill/>
            <a:ln w="9525">
              <a:solidFill>
                <a:srgbClr val="F5DCDA"/>
              </a:solidFill>
            </a:ln>
          </p:spPr>
        </p:sp>
        <p:sp>
          <p:nvSpPr>
            <p:cNvPr id="412" name="TextBox 412"/>
            <p:cNvSpPr txBox="1"/>
            <p:nvPr/>
          </p:nvSpPr>
          <p:spPr>
            <a:xfrm>
              <a:off x="8091488" y="6247686"/>
              <a:ext cx="2112289" cy="140494"/>
            </a:xfrm>
            <a:prstGeom prst="rect">
              <a:avLst/>
            </a:prstGeom>
            <a:noFill/>
            <a:ln>
              <a:noFill/>
            </a:ln>
          </p:spPr>
          <p:txBody>
            <a:bodyPr wrap="none" lIns="0" tIns="0" rIns="0" bIns="0" anchor="t" anchorCtr="0">
              <a:spAutoFit/>
            </a:bodyPr>
            <a:lstStyle/>
            <a:p>
              <a:pPr algn="l"/>
              <a:r>
                <a:rPr lang="zh-CN" sz="710" b="1" dirty="0">
                  <a:solidFill>
                    <a:srgbClr val="D0442C"/>
                  </a:solidFill>
                  <a:latin typeface="+mn-lt"/>
                  <a:ea typeface="+mn-ea"/>
                  <a:cs typeface="+mn-cs"/>
                </a:rPr>
                <a:t>重点关注：行业景气度、政策变化、同业价格竞争</a:t>
              </a:r>
            </a:p>
          </p:txBody>
        </p:sp>
      </p:grpSp>
      <p:sp>
        <p:nvSpPr>
          <p:cNvPr id="414"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15 / 18 页​</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16​</a:t>
              </a:r>
            </a:p>
          </p:txBody>
        </p:sp>
        <p:sp>
          <p:nvSpPr>
            <p:cNvPr id="4" name="TextBox 4"/>
            <p:cNvSpPr txBox="1"/>
            <p:nvPr/>
          </p:nvSpPr>
          <p:spPr>
            <a:xfrm>
              <a:off x="1019175" y="169069"/>
              <a:ext cx="6531575"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做实信贷储备与“信贷+”综合服务，增强实体经济融资供给</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57" name="reserve-funnel"/>
          <p:cNvGrpSpPr/>
          <p:nvPr/>
        </p:nvGrpSpPr>
        <p:grpSpPr>
          <a:xfrm>
            <a:off x="228600" y="685800"/>
            <a:ext cx="2667000" cy="3790950"/>
            <a:chOff x="228600" y="685800"/>
            <a:chExt cx="2667000" cy="3790950"/>
          </a:xfrm>
        </p:grpSpPr>
        <p:sp>
          <p:nvSpPr>
            <p:cNvPr id="9" name="Rectangle 9"/>
            <p:cNvSpPr/>
            <p:nvPr/>
          </p:nvSpPr>
          <p:spPr>
            <a:xfrm>
              <a:off x="228600" y="685800"/>
              <a:ext cx="2667000" cy="3790950"/>
            </a:xfrm>
            <a:prstGeom prst="roundRect">
              <a:avLst>
                <a:gd name="adj" fmla="val 2143"/>
              </a:avLst>
            </a:prstGeom>
            <a:solidFill>
              <a:srgbClr val="FFFFFF"/>
            </a:solidFill>
            <a:ln w="9525">
              <a:solidFill>
                <a:srgbClr val="C9D6E9"/>
              </a:solidFill>
            </a:ln>
          </p:spPr>
        </p:sp>
        <p:sp>
          <p:nvSpPr>
            <p:cNvPr id="10" name="Rectangle 10"/>
            <p:cNvSpPr/>
            <p:nvPr/>
          </p:nvSpPr>
          <p:spPr>
            <a:xfrm>
              <a:off x="228600" y="685800"/>
              <a:ext cx="2667000" cy="209550"/>
            </a:xfrm>
            <a:prstGeom prst="roundRect">
              <a:avLst>
                <a:gd name="adj" fmla="val 27273"/>
              </a:avLst>
            </a:prstGeom>
            <a:solidFill>
              <a:srgbClr val="69281B"/>
            </a:solidFill>
            <a:ln>
              <a:noFill/>
            </a:ln>
          </p:spPr>
        </p:sp>
        <p:sp>
          <p:nvSpPr>
            <p:cNvPr id="11" name="Rectangle 11"/>
            <p:cNvSpPr/>
            <p:nvPr/>
          </p:nvSpPr>
          <p:spPr>
            <a:xfrm>
              <a:off x="228600" y="800100"/>
              <a:ext cx="2667000" cy="95250"/>
            </a:xfrm>
            <a:prstGeom prst="rect">
              <a:avLst/>
            </a:prstGeom>
            <a:solidFill>
              <a:srgbClr val="69281B"/>
            </a:solidFill>
            <a:ln>
              <a:noFill/>
            </a:ln>
          </p:spPr>
        </p:sp>
        <p:sp>
          <p:nvSpPr>
            <p:cNvPr id="12" name="TextBox 12"/>
            <p:cNvSpPr txBox="1"/>
            <p:nvPr/>
          </p:nvSpPr>
          <p:spPr>
            <a:xfrm>
              <a:off x="839813" y="739616"/>
              <a:ext cx="14445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信贷储备漏斗（单位：亿元）</a:t>
              </a:r>
            </a:p>
          </p:txBody>
        </p:sp>
        <p:sp>
          <p:nvSpPr>
            <p:cNvPr id="13" name="Freeform 13"/>
            <p:cNvSpPr/>
            <p:nvPr/>
          </p:nvSpPr>
          <p:spPr>
            <a:xfrm rot="10800000">
              <a:off x="381000" y="1047750"/>
              <a:ext cx="1524000" cy="533400"/>
            </a:xfrm>
            <a:prstGeom prst="trapezoid">
              <a:avLst>
                <a:gd name="adj" fmla="val 17857"/>
              </a:avLst>
            </a:prstGeom>
            <a:solidFill>
              <a:srgbClr val="5C2216"/>
            </a:solidFill>
            <a:ln>
              <a:noFill/>
            </a:ln>
          </p:spPr>
        </p:sp>
        <p:sp>
          <p:nvSpPr>
            <p:cNvPr id="14" name="Freeform 14"/>
            <p:cNvSpPr/>
            <p:nvPr/>
          </p:nvSpPr>
          <p:spPr>
            <a:xfrm rot="10800000">
              <a:off x="476250" y="1638300"/>
              <a:ext cx="1333500" cy="533400"/>
            </a:xfrm>
            <a:prstGeom prst="trapezoid">
              <a:avLst>
                <a:gd name="adj" fmla="val 17857"/>
              </a:avLst>
            </a:prstGeom>
            <a:solidFill>
              <a:srgbClr val="9B3824"/>
            </a:solidFill>
            <a:ln>
              <a:noFill/>
            </a:ln>
          </p:spPr>
        </p:sp>
        <p:sp>
          <p:nvSpPr>
            <p:cNvPr id="15" name="Freeform 15"/>
            <p:cNvSpPr/>
            <p:nvPr/>
          </p:nvSpPr>
          <p:spPr>
            <a:xfrm rot="10800000">
              <a:off x="571500" y="2228850"/>
              <a:ext cx="1143000" cy="533400"/>
            </a:xfrm>
            <a:prstGeom prst="trapezoid">
              <a:avLst>
                <a:gd name="adj" fmla="val 17857"/>
              </a:avLst>
            </a:prstGeom>
            <a:solidFill>
              <a:srgbClr val="E04C2E"/>
            </a:solidFill>
            <a:ln>
              <a:noFill/>
            </a:ln>
          </p:spPr>
        </p:sp>
        <p:sp>
          <p:nvSpPr>
            <p:cNvPr id="16" name="Freeform 16"/>
            <p:cNvSpPr/>
            <p:nvPr/>
          </p:nvSpPr>
          <p:spPr>
            <a:xfrm rot="10800000">
              <a:off x="666750" y="2819400"/>
              <a:ext cx="952500" cy="533400"/>
            </a:xfrm>
            <a:prstGeom prst="trapezoid">
              <a:avLst>
                <a:gd name="adj" fmla="val 17857"/>
              </a:avLst>
            </a:prstGeom>
            <a:solidFill>
              <a:srgbClr val="E8735B"/>
            </a:solidFill>
            <a:ln>
              <a:noFill/>
            </a:ln>
          </p:spPr>
        </p:sp>
        <p:sp>
          <p:nvSpPr>
            <p:cNvPr id="17" name="Freeform 17"/>
            <p:cNvSpPr/>
            <p:nvPr/>
          </p:nvSpPr>
          <p:spPr>
            <a:xfrm rot="10800000">
              <a:off x="762000" y="3409950"/>
              <a:ext cx="762000" cy="533400"/>
            </a:xfrm>
            <a:prstGeom prst="trapezoid">
              <a:avLst>
                <a:gd name="adj" fmla="val 17857"/>
              </a:avLst>
            </a:prstGeom>
            <a:solidFill>
              <a:srgbClr val="DC9C8F"/>
            </a:solidFill>
            <a:ln>
              <a:noFill/>
            </a:ln>
          </p:spPr>
        </p:sp>
        <p:grpSp>
          <p:nvGrpSpPr>
            <p:cNvPr id="22" name="Group 22"/>
            <p:cNvGrpSpPr/>
            <p:nvPr/>
          </p:nvGrpSpPr>
          <p:grpSpPr>
            <a:xfrm>
              <a:off x="819150" y="1200150"/>
              <a:ext cx="114300" cy="114301"/>
              <a:chOff x="819150" y="1200150"/>
              <a:chExt cx="114300" cy="114301"/>
            </a:xfrm>
          </p:grpSpPr>
          <p:sp>
            <p:nvSpPr>
              <p:cNvPr id="18" name="Freeform 18"/>
              <p:cNvSpPr/>
              <p:nvPr/>
            </p:nvSpPr>
            <p:spPr>
              <a:xfrm>
                <a:off x="831850" y="12001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9" name="Freeform 19"/>
              <p:cNvSpPr/>
              <p:nvPr/>
            </p:nvSpPr>
            <p:spPr>
              <a:xfrm>
                <a:off x="819150" y="12763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20" name="Freeform 20"/>
              <p:cNvSpPr/>
              <p:nvPr/>
            </p:nvSpPr>
            <p:spPr>
              <a:xfrm>
                <a:off x="901700" y="12009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21" name="Freeform 21"/>
              <p:cNvSpPr/>
              <p:nvPr/>
            </p:nvSpPr>
            <p:spPr>
              <a:xfrm>
                <a:off x="914400" y="12773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23" name="TextBox 23"/>
            <p:cNvSpPr txBox="1"/>
            <p:nvPr/>
          </p:nvSpPr>
          <p:spPr>
            <a:xfrm>
              <a:off x="1004888" y="1275636"/>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营销线索</a:t>
              </a:r>
            </a:p>
          </p:txBody>
        </p:sp>
        <p:grpSp>
          <p:nvGrpSpPr>
            <p:cNvPr id="28" name="Group 28"/>
            <p:cNvGrpSpPr/>
            <p:nvPr/>
          </p:nvGrpSpPr>
          <p:grpSpPr>
            <a:xfrm>
              <a:off x="889000" y="1797050"/>
              <a:ext cx="95250" cy="107950"/>
              <a:chOff x="889000" y="1797050"/>
              <a:chExt cx="95250" cy="107950"/>
            </a:xfrm>
          </p:grpSpPr>
          <p:sp>
            <p:nvSpPr>
              <p:cNvPr id="24" name="Freeform 24"/>
              <p:cNvSpPr/>
              <p:nvPr/>
            </p:nvSpPr>
            <p:spPr>
              <a:xfrm>
                <a:off x="889000" y="179705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FFFFFF"/>
                </a:solidFill>
              </a:ln>
            </p:spPr>
          </p:sp>
          <p:sp>
            <p:nvSpPr>
              <p:cNvPr id="25" name="Freeform 25"/>
              <p:cNvSpPr/>
              <p:nvPr/>
            </p:nvSpPr>
            <p:spPr>
              <a:xfrm>
                <a:off x="946150" y="187960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sp>
            <p:nvSpPr>
              <p:cNvPr id="26" name="Freeform 26"/>
              <p:cNvSpPr/>
              <p:nvPr/>
            </p:nvSpPr>
            <p:spPr>
              <a:xfrm>
                <a:off x="914400" y="1822450"/>
                <a:ext cx="25400" cy="9525"/>
              </a:xfrm>
              <a:custGeom>
                <a:avLst/>
                <a:gdLst/>
                <a:ahLst/>
                <a:cxnLst/>
                <a:rect l="l" t="t" r="r" b="b"/>
                <a:pathLst>
                  <a:path w="25400" h="9525">
                    <a:moveTo>
                      <a:pt x="0" y="0"/>
                    </a:moveTo>
                    <a:lnTo>
                      <a:pt x="25400" y="0"/>
                    </a:lnTo>
                  </a:path>
                </a:pathLst>
              </a:custGeom>
              <a:noFill/>
              <a:ln w="12700">
                <a:solidFill>
                  <a:srgbClr val="FFFFFF"/>
                </a:solidFill>
              </a:ln>
            </p:spPr>
          </p:sp>
          <p:sp>
            <p:nvSpPr>
              <p:cNvPr id="27" name="Freeform 27"/>
              <p:cNvSpPr/>
              <p:nvPr/>
            </p:nvSpPr>
            <p:spPr>
              <a:xfrm>
                <a:off x="914400" y="1847850"/>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29" name="TextBox 29"/>
            <p:cNvSpPr txBox="1"/>
            <p:nvPr/>
          </p:nvSpPr>
          <p:spPr>
            <a:xfrm>
              <a:off x="1062038" y="1866186"/>
              <a:ext cx="39184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有效需求</a:t>
              </a:r>
            </a:p>
          </p:txBody>
        </p:sp>
        <p:grpSp>
          <p:nvGrpSpPr>
            <p:cNvPr id="35" name="Group 35"/>
            <p:cNvGrpSpPr/>
            <p:nvPr/>
          </p:nvGrpSpPr>
          <p:grpSpPr>
            <a:xfrm>
              <a:off x="913236" y="2380086"/>
              <a:ext cx="116772" cy="124989"/>
              <a:chOff x="913236" y="2380086"/>
              <a:chExt cx="116772" cy="124989"/>
            </a:xfrm>
          </p:grpSpPr>
          <p:sp>
            <p:nvSpPr>
              <p:cNvPr id="30" name="Freeform 30"/>
              <p:cNvSpPr/>
              <p:nvPr/>
            </p:nvSpPr>
            <p:spPr>
              <a:xfrm>
                <a:off x="958850" y="2425700"/>
                <a:ext cx="71158" cy="71143"/>
              </a:xfrm>
              <a:custGeom>
                <a:avLst/>
                <a:gdLst/>
                <a:ahLst/>
                <a:cxnLst/>
                <a:rect l="l" t="t" r="r" b="b"/>
                <a:pathLst>
                  <a:path w="71158" h="71143">
                    <a:moveTo>
                      <a:pt x="19050" y="0"/>
                    </a:moveTo>
                    <a:lnTo>
                      <a:pt x="65932" y="47104"/>
                    </a:lnTo>
                    <a:cubicBezTo>
                      <a:pt x="71158" y="52311"/>
                      <a:pt x="71158" y="60744"/>
                      <a:pt x="65932" y="65945"/>
                    </a:cubicBezTo>
                    <a:cubicBezTo>
                      <a:pt x="60705" y="71143"/>
                      <a:pt x="52261" y="71143"/>
                      <a:pt x="47034" y="65945"/>
                    </a:cubicBezTo>
                    <a:lnTo>
                      <a:pt x="0" y="19050"/>
                    </a:lnTo>
                  </a:path>
                </a:pathLst>
              </a:custGeom>
              <a:noFill/>
              <a:ln w="12700">
                <a:solidFill>
                  <a:srgbClr val="FFFFFF"/>
                </a:solidFill>
              </a:ln>
            </p:spPr>
          </p:sp>
          <p:sp>
            <p:nvSpPr>
              <p:cNvPr id="31" name="Freeform 31"/>
              <p:cNvSpPr/>
              <p:nvPr/>
            </p:nvSpPr>
            <p:spPr>
              <a:xfrm>
                <a:off x="933450" y="2419350"/>
                <a:ext cx="25400" cy="25400"/>
              </a:xfrm>
              <a:custGeom>
                <a:avLst/>
                <a:gdLst/>
                <a:ahLst/>
                <a:cxnLst/>
                <a:rect l="l" t="t" r="r" b="b"/>
                <a:pathLst>
                  <a:path w="25400" h="25400">
                    <a:moveTo>
                      <a:pt x="0" y="0"/>
                    </a:moveTo>
                    <a:lnTo>
                      <a:pt x="25400" y="25400"/>
                    </a:lnTo>
                  </a:path>
                </a:pathLst>
              </a:custGeom>
              <a:noFill/>
              <a:ln w="12700">
                <a:solidFill>
                  <a:srgbClr val="FFFFFF"/>
                </a:solidFill>
              </a:ln>
            </p:spPr>
          </p:sp>
          <p:sp>
            <p:nvSpPr>
              <p:cNvPr id="32" name="Freeform 32"/>
              <p:cNvSpPr/>
              <p:nvPr/>
            </p:nvSpPr>
            <p:spPr>
              <a:xfrm>
                <a:off x="952500" y="2400300"/>
                <a:ext cx="25400" cy="25400"/>
              </a:xfrm>
              <a:custGeom>
                <a:avLst/>
                <a:gdLst/>
                <a:ahLst/>
                <a:cxnLst/>
                <a:rect l="l" t="t" r="r" b="b"/>
                <a:pathLst>
                  <a:path w="25400" h="25400">
                    <a:moveTo>
                      <a:pt x="25400" y="25400"/>
                    </a:moveTo>
                    <a:lnTo>
                      <a:pt x="0" y="0"/>
                    </a:lnTo>
                  </a:path>
                </a:pathLst>
              </a:custGeom>
              <a:noFill/>
              <a:ln w="12700">
                <a:solidFill>
                  <a:srgbClr val="FFFFFF"/>
                </a:solidFill>
              </a:ln>
            </p:spPr>
          </p:sp>
          <p:sp>
            <p:nvSpPr>
              <p:cNvPr id="33" name="Freeform 33"/>
              <p:cNvSpPr/>
              <p:nvPr/>
            </p:nvSpPr>
            <p:spPr>
              <a:xfrm>
                <a:off x="914400" y="2495550"/>
                <a:ext cx="44450" cy="9525"/>
              </a:xfrm>
              <a:custGeom>
                <a:avLst/>
                <a:gdLst/>
                <a:ahLst/>
                <a:cxnLst/>
                <a:rect l="l" t="t" r="r" b="b"/>
                <a:pathLst>
                  <a:path w="44450" h="9525">
                    <a:moveTo>
                      <a:pt x="0" y="0"/>
                    </a:moveTo>
                    <a:lnTo>
                      <a:pt x="44450" y="0"/>
                    </a:lnTo>
                  </a:path>
                </a:pathLst>
              </a:custGeom>
              <a:noFill/>
              <a:ln w="12700">
                <a:solidFill>
                  <a:srgbClr val="FFFFFF"/>
                </a:solidFill>
              </a:ln>
            </p:spPr>
          </p:sp>
          <p:sp>
            <p:nvSpPr>
              <p:cNvPr id="34" name="Freeform 34"/>
              <p:cNvSpPr/>
              <p:nvPr/>
            </p:nvSpPr>
            <p:spPr>
              <a:xfrm>
                <a:off x="913236" y="2380086"/>
                <a:ext cx="84879" cy="84879"/>
              </a:xfrm>
              <a:custGeom>
                <a:avLst/>
                <a:gdLst/>
                <a:ahLst/>
                <a:cxnLst/>
                <a:rect l="l" t="t" r="r" b="b"/>
                <a:pathLst>
                  <a:path w="84879" h="84879">
                    <a:moveTo>
                      <a:pt x="25250" y="82400"/>
                    </a:moveTo>
                    <a:lnTo>
                      <a:pt x="2479" y="59629"/>
                    </a:lnTo>
                    <a:cubicBezTo>
                      <a:pt x="0" y="57149"/>
                      <a:pt x="0" y="53130"/>
                      <a:pt x="2479" y="50650"/>
                    </a:cubicBezTo>
                    <a:lnTo>
                      <a:pt x="17039" y="36089"/>
                    </a:lnTo>
                    <a:lnTo>
                      <a:pt x="20214" y="39264"/>
                    </a:lnTo>
                    <a:lnTo>
                      <a:pt x="39264" y="20214"/>
                    </a:lnTo>
                    <a:lnTo>
                      <a:pt x="36089" y="17039"/>
                    </a:lnTo>
                    <a:lnTo>
                      <a:pt x="50650" y="2479"/>
                    </a:lnTo>
                    <a:cubicBezTo>
                      <a:pt x="53130" y="0"/>
                      <a:pt x="57149" y="0"/>
                      <a:pt x="59629" y="2479"/>
                    </a:cubicBezTo>
                    <a:lnTo>
                      <a:pt x="82400" y="25250"/>
                    </a:lnTo>
                    <a:cubicBezTo>
                      <a:pt x="84879" y="27730"/>
                      <a:pt x="84879" y="31749"/>
                      <a:pt x="82400" y="34229"/>
                    </a:cubicBezTo>
                    <a:lnTo>
                      <a:pt x="67840" y="48789"/>
                    </a:lnTo>
                    <a:lnTo>
                      <a:pt x="64665" y="45614"/>
                    </a:lnTo>
                    <a:lnTo>
                      <a:pt x="45614" y="64665"/>
                    </a:lnTo>
                    <a:lnTo>
                      <a:pt x="48789" y="67840"/>
                    </a:lnTo>
                    <a:lnTo>
                      <a:pt x="34229" y="82400"/>
                    </a:lnTo>
                    <a:cubicBezTo>
                      <a:pt x="31749" y="84879"/>
                      <a:pt x="27730" y="84879"/>
                      <a:pt x="25250" y="82400"/>
                    </a:cubicBezTo>
                  </a:path>
                </a:pathLst>
              </a:custGeom>
              <a:noFill/>
              <a:ln w="12700">
                <a:solidFill>
                  <a:srgbClr val="FFFFFF"/>
                </a:solidFill>
              </a:ln>
            </p:spPr>
          </p:sp>
        </p:grpSp>
        <p:sp>
          <p:nvSpPr>
            <p:cNvPr id="36" name="TextBox 36"/>
            <p:cNvSpPr txBox="1"/>
            <p:nvPr/>
          </p:nvSpPr>
          <p:spPr>
            <a:xfrm>
              <a:off x="1100138" y="2456736"/>
              <a:ext cx="29626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已审批</a:t>
              </a:r>
            </a:p>
          </p:txBody>
        </p:sp>
        <p:grpSp>
          <p:nvGrpSpPr>
            <p:cNvPr id="39" name="Group 39"/>
            <p:cNvGrpSpPr/>
            <p:nvPr/>
          </p:nvGrpSpPr>
          <p:grpSpPr>
            <a:xfrm>
              <a:off x="952500" y="2971800"/>
              <a:ext cx="114300" cy="114300"/>
              <a:chOff x="952500" y="2971800"/>
              <a:chExt cx="114300" cy="114300"/>
            </a:xfrm>
          </p:grpSpPr>
          <p:sp>
            <p:nvSpPr>
              <p:cNvPr id="37" name="Freeform 37"/>
              <p:cNvSpPr/>
              <p:nvPr/>
            </p:nvSpPr>
            <p:spPr>
              <a:xfrm>
                <a:off x="952500" y="29718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sp>
            <p:nvSpPr>
              <p:cNvPr id="38" name="Freeform 38"/>
              <p:cNvSpPr/>
              <p:nvPr/>
            </p:nvSpPr>
            <p:spPr>
              <a:xfrm>
                <a:off x="1009650" y="2997200"/>
                <a:ext cx="19050" cy="50800"/>
              </a:xfrm>
              <a:custGeom>
                <a:avLst/>
                <a:gdLst/>
                <a:ahLst/>
                <a:cxnLst/>
                <a:rect l="l" t="t" r="r" b="b"/>
                <a:pathLst>
                  <a:path w="19050" h="50800">
                    <a:moveTo>
                      <a:pt x="0" y="0"/>
                    </a:moveTo>
                    <a:lnTo>
                      <a:pt x="0" y="31750"/>
                    </a:lnTo>
                    <a:lnTo>
                      <a:pt x="19050" y="50800"/>
                    </a:lnTo>
                  </a:path>
                </a:pathLst>
              </a:custGeom>
              <a:noFill/>
              <a:ln w="12700">
                <a:solidFill>
                  <a:srgbClr val="FFFFFF"/>
                </a:solidFill>
              </a:ln>
            </p:spPr>
          </p:sp>
        </p:grpSp>
        <p:sp>
          <p:nvSpPr>
            <p:cNvPr id="40" name="TextBox 40"/>
            <p:cNvSpPr txBox="1"/>
            <p:nvPr/>
          </p:nvSpPr>
          <p:spPr>
            <a:xfrm>
              <a:off x="1138238" y="3047286"/>
              <a:ext cx="296266"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待投放</a:t>
              </a:r>
            </a:p>
          </p:txBody>
        </p:sp>
        <p:sp>
          <p:nvSpPr>
            <p:cNvPr id="41" name="TextBox 41"/>
            <p:cNvSpPr txBox="1"/>
            <p:nvPr/>
          </p:nvSpPr>
          <p:spPr>
            <a:xfrm>
              <a:off x="985838" y="3573780"/>
              <a:ext cx="314325"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FFFFFF"/>
                  </a:solidFill>
                  <a:latin typeface="+mn-lt"/>
                  <a:ea typeface="+mn-ea"/>
                  <a:cs typeface="+mn-cs"/>
                </a:rPr>
                <a:t>下半年</a:t>
              </a:r>
              <a:br/>
              <a:r>
                <a:rPr lang="zh-CN" sz="600" b="1" dirty="0">
                  <a:solidFill>
                    <a:srgbClr val="FFFFFF"/>
                  </a:solidFill>
                  <a:latin typeface="+mn-lt"/>
                  <a:ea typeface="+mn-ea"/>
                  <a:cs typeface="+mn-cs"/>
                </a:rPr>
                <a:t>计划投放</a:t>
              </a:r>
            </a:p>
          </p:txBody>
        </p:sp>
        <p:sp>
          <p:nvSpPr>
            <p:cNvPr id="42" name="TextBox 42"/>
            <p:cNvSpPr txBox="1"/>
            <p:nvPr/>
          </p:nvSpPr>
          <p:spPr>
            <a:xfrm>
              <a:off x="2032635" y="1173956"/>
              <a:ext cx="533863"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680.0​</a:t>
              </a:r>
            </a:p>
          </p:txBody>
        </p:sp>
        <p:sp>
          <p:nvSpPr>
            <p:cNvPr id="43" name="TextBox 43"/>
            <p:cNvSpPr txBox="1"/>
            <p:nvPr/>
          </p:nvSpPr>
          <p:spPr>
            <a:xfrm>
              <a:off x="2033588" y="1363980"/>
              <a:ext cx="171069" cy="119062"/>
            </a:xfrm>
            <a:prstGeom prst="rect">
              <a:avLst/>
            </a:prstGeom>
            <a:noFill/>
            <a:ln>
              <a:noFill/>
            </a:ln>
          </p:spPr>
          <p:txBody>
            <a:bodyPr wrap="none" lIns="0" tIns="0" rIns="0" bIns="0" anchor="t" anchorCtr="0">
              <a:spAutoFit/>
            </a:bodyPr>
            <a:lstStyle/>
            <a:p>
              <a:pPr algn="l"/>
              <a:r>
                <a:rPr lang="zh-CN" sz="600" dirty="0">
                  <a:solidFill>
                    <a:srgbClr val="987F7A"/>
                  </a:solidFill>
                  <a:latin typeface="+mn-lt"/>
                  <a:ea typeface="+mn-ea"/>
                  <a:cs typeface="+mn-cs"/>
                </a:rPr>
                <a:t>亿元</a:t>
              </a:r>
            </a:p>
          </p:txBody>
        </p:sp>
        <p:sp>
          <p:nvSpPr>
            <p:cNvPr id="44" name="TextBox 44"/>
            <p:cNvSpPr txBox="1"/>
            <p:nvPr/>
          </p:nvSpPr>
          <p:spPr>
            <a:xfrm>
              <a:off x="2032635" y="1764506"/>
              <a:ext cx="533863"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424.7​</a:t>
              </a:r>
            </a:p>
          </p:txBody>
        </p:sp>
        <p:sp>
          <p:nvSpPr>
            <p:cNvPr id="45" name="TextBox 45"/>
            <p:cNvSpPr txBox="1"/>
            <p:nvPr/>
          </p:nvSpPr>
          <p:spPr>
            <a:xfrm>
              <a:off x="2033588" y="1954530"/>
              <a:ext cx="171069" cy="119062"/>
            </a:xfrm>
            <a:prstGeom prst="rect">
              <a:avLst/>
            </a:prstGeom>
            <a:noFill/>
            <a:ln>
              <a:noFill/>
            </a:ln>
          </p:spPr>
          <p:txBody>
            <a:bodyPr wrap="none" lIns="0" tIns="0" rIns="0" bIns="0" anchor="t" anchorCtr="0">
              <a:spAutoFit/>
            </a:bodyPr>
            <a:lstStyle/>
            <a:p>
              <a:pPr algn="l"/>
              <a:r>
                <a:rPr lang="zh-CN" sz="600" dirty="0">
                  <a:solidFill>
                    <a:srgbClr val="987F7A"/>
                  </a:solidFill>
                  <a:latin typeface="+mn-lt"/>
                  <a:ea typeface="+mn-ea"/>
                  <a:cs typeface="+mn-cs"/>
                </a:rPr>
                <a:t>亿元</a:t>
              </a:r>
            </a:p>
          </p:txBody>
        </p:sp>
        <p:sp>
          <p:nvSpPr>
            <p:cNvPr id="46" name="TextBox 46"/>
            <p:cNvSpPr txBox="1"/>
            <p:nvPr/>
          </p:nvSpPr>
          <p:spPr>
            <a:xfrm>
              <a:off x="2032635" y="2355056"/>
              <a:ext cx="533863"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276.4​</a:t>
              </a:r>
            </a:p>
          </p:txBody>
        </p:sp>
        <p:sp>
          <p:nvSpPr>
            <p:cNvPr id="47" name="TextBox 47"/>
            <p:cNvSpPr txBox="1"/>
            <p:nvPr/>
          </p:nvSpPr>
          <p:spPr>
            <a:xfrm>
              <a:off x="2033588" y="2545080"/>
              <a:ext cx="171069" cy="119062"/>
            </a:xfrm>
            <a:prstGeom prst="rect">
              <a:avLst/>
            </a:prstGeom>
            <a:noFill/>
            <a:ln>
              <a:noFill/>
            </a:ln>
          </p:spPr>
          <p:txBody>
            <a:bodyPr wrap="none" lIns="0" tIns="0" rIns="0" bIns="0" anchor="t" anchorCtr="0">
              <a:spAutoFit/>
            </a:bodyPr>
            <a:lstStyle/>
            <a:p>
              <a:pPr algn="l"/>
              <a:r>
                <a:rPr lang="zh-CN" sz="600" dirty="0">
                  <a:solidFill>
                    <a:srgbClr val="987F7A"/>
                  </a:solidFill>
                  <a:latin typeface="+mn-lt"/>
                  <a:ea typeface="+mn-ea"/>
                  <a:cs typeface="+mn-cs"/>
                </a:rPr>
                <a:t>亿元</a:t>
              </a:r>
            </a:p>
          </p:txBody>
        </p:sp>
        <p:sp>
          <p:nvSpPr>
            <p:cNvPr id="48" name="TextBox 48"/>
            <p:cNvSpPr txBox="1"/>
            <p:nvPr/>
          </p:nvSpPr>
          <p:spPr>
            <a:xfrm>
              <a:off x="2032635" y="2945606"/>
              <a:ext cx="533863"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104.6​</a:t>
              </a:r>
            </a:p>
          </p:txBody>
        </p:sp>
        <p:sp>
          <p:nvSpPr>
            <p:cNvPr id="49" name="TextBox 49"/>
            <p:cNvSpPr txBox="1"/>
            <p:nvPr/>
          </p:nvSpPr>
          <p:spPr>
            <a:xfrm>
              <a:off x="2033588" y="3135630"/>
              <a:ext cx="171069" cy="119062"/>
            </a:xfrm>
            <a:prstGeom prst="rect">
              <a:avLst/>
            </a:prstGeom>
            <a:noFill/>
            <a:ln>
              <a:noFill/>
            </a:ln>
          </p:spPr>
          <p:txBody>
            <a:bodyPr wrap="none" lIns="0" tIns="0" rIns="0" bIns="0" anchor="t" anchorCtr="0">
              <a:spAutoFit/>
            </a:bodyPr>
            <a:lstStyle/>
            <a:p>
              <a:pPr algn="l"/>
              <a:r>
                <a:rPr lang="zh-CN" sz="600" dirty="0">
                  <a:solidFill>
                    <a:srgbClr val="987F7A"/>
                  </a:solidFill>
                  <a:latin typeface="+mn-lt"/>
                  <a:ea typeface="+mn-ea"/>
                  <a:cs typeface="+mn-cs"/>
                </a:rPr>
                <a:t>亿元</a:t>
              </a:r>
            </a:p>
          </p:txBody>
        </p:sp>
        <p:sp>
          <p:nvSpPr>
            <p:cNvPr id="50" name="TextBox 50"/>
            <p:cNvSpPr txBox="1"/>
            <p:nvPr/>
          </p:nvSpPr>
          <p:spPr>
            <a:xfrm>
              <a:off x="2032635" y="3536156"/>
              <a:ext cx="446791" cy="220028"/>
            </a:xfrm>
            <a:prstGeom prst="rect">
              <a:avLst/>
            </a:prstGeom>
            <a:noFill/>
            <a:ln>
              <a:noFill/>
            </a:ln>
          </p:spPr>
          <p:txBody>
            <a:bodyPr wrap="none" lIns="0" tIns="0" rIns="0" bIns="0" anchor="t" anchorCtr="0">
              <a:spAutoFit/>
            </a:bodyPr>
            <a:lstStyle/>
            <a:p>
              <a:pPr algn="l"/>
              <a:r>
                <a:rPr lang="zh-CN" sz="1120" b="1" dirty="0">
                  <a:solidFill>
                    <a:srgbClr val="E04C2E"/>
                  </a:solidFill>
                  <a:latin typeface="+mn-lt"/>
                  <a:ea typeface="+mn-ea"/>
                  <a:cs typeface="+mn-cs"/>
                </a:rPr>
                <a:t>30.5​</a:t>
              </a:r>
            </a:p>
          </p:txBody>
        </p:sp>
        <p:sp>
          <p:nvSpPr>
            <p:cNvPr id="51" name="TextBox 51"/>
            <p:cNvSpPr txBox="1"/>
            <p:nvPr/>
          </p:nvSpPr>
          <p:spPr>
            <a:xfrm>
              <a:off x="2033588" y="3726180"/>
              <a:ext cx="171069" cy="119062"/>
            </a:xfrm>
            <a:prstGeom prst="rect">
              <a:avLst/>
            </a:prstGeom>
            <a:noFill/>
            <a:ln>
              <a:noFill/>
            </a:ln>
          </p:spPr>
          <p:txBody>
            <a:bodyPr wrap="none" lIns="0" tIns="0" rIns="0" bIns="0" anchor="t" anchorCtr="0">
              <a:spAutoFit/>
            </a:bodyPr>
            <a:lstStyle/>
            <a:p>
              <a:pPr algn="l"/>
              <a:r>
                <a:rPr lang="zh-CN" sz="600" dirty="0">
                  <a:solidFill>
                    <a:srgbClr val="987F7A"/>
                  </a:solidFill>
                  <a:latin typeface="+mn-lt"/>
                  <a:ea typeface="+mn-ea"/>
                  <a:cs typeface="+mn-cs"/>
                </a:rPr>
                <a:t>亿元</a:t>
              </a:r>
            </a:p>
          </p:txBody>
        </p:sp>
        <p:sp>
          <p:nvSpPr>
            <p:cNvPr id="52" name="Rectangle 52"/>
            <p:cNvSpPr/>
            <p:nvPr/>
          </p:nvSpPr>
          <p:spPr>
            <a:xfrm>
              <a:off x="323850" y="4038600"/>
              <a:ext cx="2476500" cy="361950"/>
            </a:xfrm>
            <a:prstGeom prst="roundRect">
              <a:avLst>
                <a:gd name="adj" fmla="val 10526"/>
              </a:avLst>
            </a:prstGeom>
            <a:solidFill>
              <a:srgbClr val="EAF1FB"/>
            </a:solidFill>
            <a:ln>
              <a:noFill/>
            </a:ln>
          </p:spPr>
        </p:sp>
        <p:grpSp>
          <p:nvGrpSpPr>
            <p:cNvPr id="55" name="Group 55"/>
            <p:cNvGrpSpPr/>
            <p:nvPr/>
          </p:nvGrpSpPr>
          <p:grpSpPr>
            <a:xfrm>
              <a:off x="421481" y="4174331"/>
              <a:ext cx="128588" cy="71438"/>
              <a:chOff x="421481" y="4174331"/>
              <a:chExt cx="128588" cy="71438"/>
            </a:xfrm>
          </p:grpSpPr>
          <p:sp>
            <p:nvSpPr>
              <p:cNvPr id="53" name="Freeform 53"/>
              <p:cNvSpPr/>
              <p:nvPr/>
            </p:nvSpPr>
            <p:spPr>
              <a:xfrm>
                <a:off x="421481" y="4174331"/>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E04C2E"/>
                </a:solidFill>
              </a:ln>
            </p:spPr>
          </p:sp>
          <p:sp>
            <p:nvSpPr>
              <p:cNvPr id="54" name="Freeform 54"/>
              <p:cNvSpPr/>
              <p:nvPr/>
            </p:nvSpPr>
            <p:spPr>
              <a:xfrm>
                <a:off x="500062" y="4174331"/>
                <a:ext cx="50006" cy="50006"/>
              </a:xfrm>
              <a:custGeom>
                <a:avLst/>
                <a:gdLst/>
                <a:ahLst/>
                <a:cxnLst/>
                <a:rect l="l" t="t" r="r" b="b"/>
                <a:pathLst>
                  <a:path w="50006" h="50006">
                    <a:moveTo>
                      <a:pt x="0" y="0"/>
                    </a:moveTo>
                    <a:lnTo>
                      <a:pt x="50006" y="0"/>
                    </a:lnTo>
                    <a:lnTo>
                      <a:pt x="50006" y="50006"/>
                    </a:lnTo>
                  </a:path>
                </a:pathLst>
              </a:custGeom>
              <a:noFill/>
              <a:ln w="14288">
                <a:solidFill>
                  <a:srgbClr val="E04C2E"/>
                </a:solidFill>
              </a:ln>
            </p:spPr>
          </p:sp>
        </p:grpSp>
        <p:sp>
          <p:nvSpPr>
            <p:cNvPr id="56" name="TextBox 56"/>
            <p:cNvSpPr txBox="1"/>
            <p:nvPr/>
          </p:nvSpPr>
          <p:spPr>
            <a:xfrm>
              <a:off x="642938" y="4112657"/>
              <a:ext cx="155384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F3A33"/>
                  </a:solidFill>
                  <a:latin typeface="+mn-lt"/>
                  <a:ea typeface="+mn-ea"/>
                  <a:cs typeface="+mn-cs"/>
                </a:rPr>
                <a:t>下半年将聚焦优质项目加快转化，强化供给</a:t>
              </a:r>
              <a:br/>
              <a:r>
                <a:rPr lang="zh-CN" sz="640" dirty="0">
                  <a:solidFill>
                    <a:srgbClr val="5F3A33"/>
                  </a:solidFill>
                  <a:latin typeface="+mn-lt"/>
                  <a:ea typeface="+mn-ea"/>
                  <a:cs typeface="+mn-cs"/>
                </a:rPr>
                <a:t>保障，力争完成全年投放目标。</a:t>
              </a:r>
            </a:p>
          </p:txBody>
        </p:sp>
      </p:grpSp>
      <p:grpSp>
        <p:nvGrpSpPr>
          <p:cNvPr id="154" name="schedule-table"/>
          <p:cNvGrpSpPr/>
          <p:nvPr/>
        </p:nvGrpSpPr>
        <p:grpSpPr>
          <a:xfrm>
            <a:off x="3009900" y="685800"/>
            <a:ext cx="4953000" cy="3790950"/>
            <a:chOff x="3009900" y="685800"/>
            <a:chExt cx="4953000" cy="3790950"/>
          </a:xfrm>
        </p:grpSpPr>
        <p:sp>
          <p:nvSpPr>
            <p:cNvPr id="58" name="Rectangle 58"/>
            <p:cNvSpPr/>
            <p:nvPr/>
          </p:nvSpPr>
          <p:spPr>
            <a:xfrm>
              <a:off x="3009900" y="685800"/>
              <a:ext cx="4953000" cy="3790950"/>
            </a:xfrm>
            <a:prstGeom prst="roundRect">
              <a:avLst>
                <a:gd name="adj" fmla="val 1508"/>
              </a:avLst>
            </a:prstGeom>
            <a:solidFill>
              <a:srgbClr val="FFFFFF"/>
            </a:solidFill>
            <a:ln w="9525">
              <a:solidFill>
                <a:srgbClr val="C9D6E9"/>
              </a:solidFill>
            </a:ln>
          </p:spPr>
        </p:sp>
        <p:sp>
          <p:nvSpPr>
            <p:cNvPr id="59" name="Rectangle 59"/>
            <p:cNvSpPr/>
            <p:nvPr/>
          </p:nvSpPr>
          <p:spPr>
            <a:xfrm>
              <a:off x="3009900" y="685800"/>
              <a:ext cx="4953000" cy="209550"/>
            </a:xfrm>
            <a:prstGeom prst="roundRect">
              <a:avLst>
                <a:gd name="adj" fmla="val 27273"/>
              </a:avLst>
            </a:prstGeom>
            <a:solidFill>
              <a:srgbClr val="69281B"/>
            </a:solidFill>
            <a:ln>
              <a:noFill/>
            </a:ln>
          </p:spPr>
        </p:sp>
        <p:sp>
          <p:nvSpPr>
            <p:cNvPr id="60" name="Rectangle 60"/>
            <p:cNvSpPr/>
            <p:nvPr/>
          </p:nvSpPr>
          <p:spPr>
            <a:xfrm>
              <a:off x="3009900" y="800100"/>
              <a:ext cx="4953000" cy="95250"/>
            </a:xfrm>
            <a:prstGeom prst="rect">
              <a:avLst/>
            </a:prstGeom>
            <a:solidFill>
              <a:srgbClr val="69281B"/>
            </a:solidFill>
            <a:ln>
              <a:noFill/>
            </a:ln>
          </p:spPr>
        </p:sp>
        <p:sp>
          <p:nvSpPr>
            <p:cNvPr id="61" name="TextBox 61"/>
            <p:cNvSpPr txBox="1"/>
            <p:nvPr/>
          </p:nvSpPr>
          <p:spPr>
            <a:xfrm>
              <a:off x="4613295" y="739616"/>
              <a:ext cx="174621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未来90天项目排期（单位：亿元）​</a:t>
              </a:r>
            </a:p>
          </p:txBody>
        </p:sp>
        <p:sp>
          <p:nvSpPr>
            <p:cNvPr id="62" name="Rectangle 62"/>
            <p:cNvSpPr/>
            <p:nvPr/>
          </p:nvSpPr>
          <p:spPr>
            <a:xfrm>
              <a:off x="3086100" y="952500"/>
              <a:ext cx="4800600" cy="361950"/>
            </a:xfrm>
            <a:prstGeom prst="rect">
              <a:avLst/>
            </a:prstGeom>
            <a:solidFill>
              <a:srgbClr val="EAF1FB"/>
            </a:solidFill>
            <a:ln>
              <a:noFill/>
            </a:ln>
          </p:spPr>
        </p:sp>
        <p:sp>
          <p:nvSpPr>
            <p:cNvPr id="63" name="TextBox 63"/>
            <p:cNvSpPr txBox="1"/>
            <p:nvPr/>
          </p:nvSpPr>
          <p:spPr>
            <a:xfrm>
              <a:off x="3271177" y="1104186"/>
              <a:ext cx="391846"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业务领域</a:t>
              </a:r>
            </a:p>
          </p:txBody>
        </p:sp>
        <p:sp>
          <p:nvSpPr>
            <p:cNvPr id="64" name="TextBox 64"/>
            <p:cNvSpPr txBox="1"/>
            <p:nvPr/>
          </p:nvSpPr>
          <p:spPr>
            <a:xfrm>
              <a:off x="4216600" y="999411"/>
              <a:ext cx="215500"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7月​</a:t>
              </a:r>
            </a:p>
          </p:txBody>
        </p:sp>
        <p:sp>
          <p:nvSpPr>
            <p:cNvPr id="65" name="TextBox 65"/>
            <p:cNvSpPr txBox="1"/>
            <p:nvPr/>
          </p:nvSpPr>
          <p:spPr>
            <a:xfrm>
              <a:off x="5169100" y="999411"/>
              <a:ext cx="215500"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8月​</a:t>
              </a:r>
            </a:p>
          </p:txBody>
        </p:sp>
        <p:sp>
          <p:nvSpPr>
            <p:cNvPr id="66" name="TextBox 66"/>
            <p:cNvSpPr txBox="1"/>
            <p:nvPr/>
          </p:nvSpPr>
          <p:spPr>
            <a:xfrm>
              <a:off x="6121600" y="999411"/>
              <a:ext cx="215500"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9月​</a:t>
              </a:r>
            </a:p>
          </p:txBody>
        </p:sp>
        <p:sp>
          <p:nvSpPr>
            <p:cNvPr id="67" name="TextBox 67"/>
            <p:cNvSpPr txBox="1"/>
            <p:nvPr/>
          </p:nvSpPr>
          <p:spPr>
            <a:xfrm>
              <a:off x="6942042" y="999411"/>
              <a:ext cx="708216"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合计（7-9月）​</a:t>
              </a:r>
            </a:p>
          </p:txBody>
        </p:sp>
        <p:sp>
          <p:nvSpPr>
            <p:cNvPr id="68" name="TextBox 68"/>
            <p:cNvSpPr txBox="1"/>
            <p:nvPr/>
          </p:nvSpPr>
          <p:spPr>
            <a:xfrm>
              <a:off x="3882360" y="1184624"/>
              <a:ext cx="407731"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项目数(个)</a:t>
              </a:r>
            </a:p>
          </p:txBody>
        </p:sp>
        <p:sp>
          <p:nvSpPr>
            <p:cNvPr id="69" name="TextBox 69"/>
            <p:cNvSpPr txBox="1"/>
            <p:nvPr/>
          </p:nvSpPr>
          <p:spPr>
            <a:xfrm>
              <a:off x="4479633" y="1184624"/>
              <a:ext cx="165684"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金额</a:t>
              </a:r>
            </a:p>
          </p:txBody>
        </p:sp>
        <p:sp>
          <p:nvSpPr>
            <p:cNvPr id="70" name="TextBox 70"/>
            <p:cNvSpPr txBox="1"/>
            <p:nvPr/>
          </p:nvSpPr>
          <p:spPr>
            <a:xfrm>
              <a:off x="4834860" y="1184624"/>
              <a:ext cx="407731"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项目数(个)</a:t>
              </a:r>
            </a:p>
          </p:txBody>
        </p:sp>
        <p:sp>
          <p:nvSpPr>
            <p:cNvPr id="71" name="TextBox 71"/>
            <p:cNvSpPr txBox="1"/>
            <p:nvPr/>
          </p:nvSpPr>
          <p:spPr>
            <a:xfrm>
              <a:off x="5432133" y="1184624"/>
              <a:ext cx="165684"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金额</a:t>
              </a:r>
            </a:p>
          </p:txBody>
        </p:sp>
        <p:sp>
          <p:nvSpPr>
            <p:cNvPr id="72" name="TextBox 72"/>
            <p:cNvSpPr txBox="1"/>
            <p:nvPr/>
          </p:nvSpPr>
          <p:spPr>
            <a:xfrm>
              <a:off x="5787360" y="1184624"/>
              <a:ext cx="407731"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项目数(个)</a:t>
              </a:r>
            </a:p>
          </p:txBody>
        </p:sp>
        <p:sp>
          <p:nvSpPr>
            <p:cNvPr id="73" name="TextBox 73"/>
            <p:cNvSpPr txBox="1"/>
            <p:nvPr/>
          </p:nvSpPr>
          <p:spPr>
            <a:xfrm>
              <a:off x="6384633" y="1184624"/>
              <a:ext cx="165684"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金额</a:t>
              </a:r>
            </a:p>
          </p:txBody>
        </p:sp>
        <p:sp>
          <p:nvSpPr>
            <p:cNvPr id="74" name="TextBox 74"/>
            <p:cNvSpPr txBox="1"/>
            <p:nvPr/>
          </p:nvSpPr>
          <p:spPr>
            <a:xfrm>
              <a:off x="6797010" y="1184624"/>
              <a:ext cx="407731"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项目数(个)</a:t>
              </a:r>
            </a:p>
          </p:txBody>
        </p:sp>
        <p:sp>
          <p:nvSpPr>
            <p:cNvPr id="75" name="TextBox 75"/>
            <p:cNvSpPr txBox="1"/>
            <p:nvPr/>
          </p:nvSpPr>
          <p:spPr>
            <a:xfrm>
              <a:off x="7508583" y="1184624"/>
              <a:ext cx="165684" cy="116205"/>
            </a:xfrm>
            <a:prstGeom prst="rect">
              <a:avLst/>
            </a:prstGeom>
            <a:noFill/>
            <a:ln>
              <a:noFill/>
            </a:ln>
          </p:spPr>
          <p:txBody>
            <a:bodyPr wrap="none" lIns="0" tIns="0" rIns="0" bIns="0" anchor="t" anchorCtr="0">
              <a:spAutoFit/>
            </a:bodyPr>
            <a:lstStyle/>
            <a:p>
              <a:pPr algn="ctr"/>
              <a:r>
                <a:rPr lang="zh-CN" sz="580" dirty="0">
                  <a:solidFill>
                    <a:srgbClr val="70504A"/>
                  </a:solidFill>
                  <a:latin typeface="+mn-lt"/>
                  <a:ea typeface="+mn-ea"/>
                  <a:cs typeface="+mn-cs"/>
                </a:rPr>
                <a:t>金额</a:t>
              </a:r>
            </a:p>
          </p:txBody>
        </p:sp>
        <p:grpSp>
          <p:nvGrpSpPr>
            <p:cNvPr id="78" name="Group 78"/>
            <p:cNvGrpSpPr/>
            <p:nvPr/>
          </p:nvGrpSpPr>
          <p:grpSpPr>
            <a:xfrm>
              <a:off x="3178562" y="1502162"/>
              <a:ext cx="119875" cy="119875"/>
              <a:chOff x="3178562" y="1502162"/>
              <a:chExt cx="119875" cy="119875"/>
            </a:xfrm>
          </p:grpSpPr>
          <p:sp>
            <p:nvSpPr>
              <p:cNvPr id="76" name="Freeform 76"/>
              <p:cNvSpPr/>
              <p:nvPr/>
            </p:nvSpPr>
            <p:spPr>
              <a:xfrm>
                <a:off x="3178562" y="150216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E04C2E"/>
                </a:solidFill>
              </a:ln>
            </p:spPr>
          </p:sp>
          <p:sp>
            <p:nvSpPr>
              <p:cNvPr id="77" name="Freeform 77"/>
              <p:cNvSpPr/>
              <p:nvPr/>
            </p:nvSpPr>
            <p:spPr>
              <a:xfrm>
                <a:off x="3219450" y="15430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E04C2E"/>
                </a:solidFill>
              </a:ln>
            </p:spPr>
          </p:sp>
        </p:grpSp>
        <p:sp>
          <p:nvSpPr>
            <p:cNvPr id="79" name="TextBox 79"/>
            <p:cNvSpPr txBox="1"/>
            <p:nvPr/>
          </p:nvSpPr>
          <p:spPr>
            <a:xfrm>
              <a:off x="3386138" y="1519238"/>
              <a:ext cx="312420"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制造业</a:t>
              </a:r>
            </a:p>
          </p:txBody>
        </p:sp>
        <p:sp>
          <p:nvSpPr>
            <p:cNvPr id="80" name="TextBox 80"/>
            <p:cNvSpPr txBox="1"/>
            <p:nvPr/>
          </p:nvSpPr>
          <p:spPr>
            <a:xfrm>
              <a:off x="3998166" y="15192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18​</a:t>
              </a:r>
            </a:p>
          </p:txBody>
        </p:sp>
        <p:sp>
          <p:nvSpPr>
            <p:cNvPr id="81" name="TextBox 81"/>
            <p:cNvSpPr txBox="1"/>
            <p:nvPr/>
          </p:nvSpPr>
          <p:spPr>
            <a:xfrm>
              <a:off x="4446651" y="15192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7.2​</a:t>
              </a:r>
            </a:p>
          </p:txBody>
        </p:sp>
        <p:sp>
          <p:nvSpPr>
            <p:cNvPr id="82" name="TextBox 82"/>
            <p:cNvSpPr txBox="1"/>
            <p:nvPr/>
          </p:nvSpPr>
          <p:spPr>
            <a:xfrm>
              <a:off x="4950666" y="15192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22​</a:t>
              </a:r>
            </a:p>
          </p:txBody>
        </p:sp>
        <p:sp>
          <p:nvSpPr>
            <p:cNvPr id="83" name="TextBox 83"/>
            <p:cNvSpPr txBox="1"/>
            <p:nvPr/>
          </p:nvSpPr>
          <p:spPr>
            <a:xfrm>
              <a:off x="5399151" y="15192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8.1​</a:t>
              </a:r>
            </a:p>
          </p:txBody>
        </p:sp>
        <p:sp>
          <p:nvSpPr>
            <p:cNvPr id="84" name="TextBox 84"/>
            <p:cNvSpPr txBox="1"/>
            <p:nvPr/>
          </p:nvSpPr>
          <p:spPr>
            <a:xfrm>
              <a:off x="5903166" y="15192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20​</a:t>
              </a:r>
            </a:p>
          </p:txBody>
        </p:sp>
        <p:sp>
          <p:nvSpPr>
            <p:cNvPr id="85" name="TextBox 85"/>
            <p:cNvSpPr txBox="1"/>
            <p:nvPr/>
          </p:nvSpPr>
          <p:spPr>
            <a:xfrm>
              <a:off x="6351651" y="15192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6.7​</a:t>
              </a:r>
            </a:p>
          </p:txBody>
        </p:sp>
        <p:sp>
          <p:nvSpPr>
            <p:cNvPr id="86" name="TextBox 86"/>
            <p:cNvSpPr txBox="1"/>
            <p:nvPr/>
          </p:nvSpPr>
          <p:spPr>
            <a:xfrm>
              <a:off x="6908652" y="1519238"/>
              <a:ext cx="184447"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60​</a:t>
              </a:r>
            </a:p>
          </p:txBody>
        </p:sp>
        <p:sp>
          <p:nvSpPr>
            <p:cNvPr id="87" name="TextBox 87"/>
            <p:cNvSpPr txBox="1"/>
            <p:nvPr/>
          </p:nvSpPr>
          <p:spPr>
            <a:xfrm>
              <a:off x="7440894" y="1519238"/>
              <a:ext cx="301061"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22.0​</a:t>
              </a:r>
            </a:p>
          </p:txBody>
        </p:sp>
        <p:sp>
          <p:nvSpPr>
            <p:cNvPr id="88" name="Line 88"/>
            <p:cNvSpPr/>
            <p:nvPr/>
          </p:nvSpPr>
          <p:spPr>
            <a:xfrm>
              <a:off x="3086100" y="1809750"/>
              <a:ext cx="4800600" cy="9525"/>
            </a:xfrm>
            <a:custGeom>
              <a:avLst/>
              <a:gdLst/>
              <a:ahLst/>
              <a:cxnLst/>
              <a:rect l="l" t="t" r="r" b="b"/>
              <a:pathLst>
                <a:path w="4800600" h="9525">
                  <a:moveTo>
                    <a:pt x="0" y="0"/>
                  </a:moveTo>
                  <a:lnTo>
                    <a:pt x="4800600" y="0"/>
                  </a:lnTo>
                </a:path>
              </a:pathLst>
            </a:custGeom>
            <a:noFill/>
            <a:ln w="9525">
              <a:solidFill>
                <a:srgbClr val="EDF2FA"/>
              </a:solidFill>
            </a:ln>
          </p:spPr>
        </p:sp>
        <p:grpSp>
          <p:nvGrpSpPr>
            <p:cNvPr id="91" name="Group 91"/>
            <p:cNvGrpSpPr/>
            <p:nvPr/>
          </p:nvGrpSpPr>
          <p:grpSpPr>
            <a:xfrm>
              <a:off x="3181350" y="2000250"/>
              <a:ext cx="114300" cy="114300"/>
              <a:chOff x="3181350" y="2000250"/>
              <a:chExt cx="114300" cy="114300"/>
            </a:xfrm>
          </p:grpSpPr>
          <p:sp>
            <p:nvSpPr>
              <p:cNvPr id="89" name="Freeform 89"/>
              <p:cNvSpPr/>
              <p:nvPr/>
            </p:nvSpPr>
            <p:spPr>
              <a:xfrm>
                <a:off x="3181350" y="20002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E402E"/>
                </a:solidFill>
              </a:ln>
            </p:spPr>
          </p:sp>
          <p:sp>
            <p:nvSpPr>
              <p:cNvPr id="90" name="Freeform 90"/>
              <p:cNvSpPr/>
              <p:nvPr/>
            </p:nvSpPr>
            <p:spPr>
              <a:xfrm>
                <a:off x="3219450" y="2044700"/>
                <a:ext cx="38100" cy="25400"/>
              </a:xfrm>
              <a:custGeom>
                <a:avLst/>
                <a:gdLst/>
                <a:ahLst/>
                <a:cxnLst/>
                <a:rect l="l" t="t" r="r" b="b"/>
                <a:pathLst>
                  <a:path w="38100" h="25400">
                    <a:moveTo>
                      <a:pt x="0" y="12700"/>
                    </a:moveTo>
                    <a:lnTo>
                      <a:pt x="12700" y="25400"/>
                    </a:lnTo>
                    <a:lnTo>
                      <a:pt x="38100" y="0"/>
                    </a:lnTo>
                  </a:path>
                </a:pathLst>
              </a:custGeom>
              <a:noFill/>
              <a:ln w="12700">
                <a:solidFill>
                  <a:srgbClr val="9E402E"/>
                </a:solidFill>
              </a:ln>
            </p:spPr>
          </p:sp>
        </p:grpSp>
        <p:sp>
          <p:nvSpPr>
            <p:cNvPr id="92" name="TextBox 92"/>
            <p:cNvSpPr txBox="1"/>
            <p:nvPr/>
          </p:nvSpPr>
          <p:spPr>
            <a:xfrm>
              <a:off x="3386138" y="2014538"/>
              <a:ext cx="211455"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绿色</a:t>
              </a:r>
            </a:p>
          </p:txBody>
        </p:sp>
        <p:sp>
          <p:nvSpPr>
            <p:cNvPr id="93" name="TextBox 93"/>
            <p:cNvSpPr txBox="1"/>
            <p:nvPr/>
          </p:nvSpPr>
          <p:spPr>
            <a:xfrm>
              <a:off x="3998166" y="20145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14​</a:t>
              </a:r>
            </a:p>
          </p:txBody>
        </p:sp>
        <p:sp>
          <p:nvSpPr>
            <p:cNvPr id="94" name="TextBox 94"/>
            <p:cNvSpPr txBox="1"/>
            <p:nvPr/>
          </p:nvSpPr>
          <p:spPr>
            <a:xfrm>
              <a:off x="4446651" y="20145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5.1​</a:t>
              </a:r>
            </a:p>
          </p:txBody>
        </p:sp>
        <p:sp>
          <p:nvSpPr>
            <p:cNvPr id="95" name="TextBox 95"/>
            <p:cNvSpPr txBox="1"/>
            <p:nvPr/>
          </p:nvSpPr>
          <p:spPr>
            <a:xfrm>
              <a:off x="4950666" y="20145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16​</a:t>
              </a:r>
            </a:p>
          </p:txBody>
        </p:sp>
        <p:sp>
          <p:nvSpPr>
            <p:cNvPr id="96" name="TextBox 96"/>
            <p:cNvSpPr txBox="1"/>
            <p:nvPr/>
          </p:nvSpPr>
          <p:spPr>
            <a:xfrm>
              <a:off x="5399151" y="20145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4.6​</a:t>
              </a:r>
            </a:p>
          </p:txBody>
        </p:sp>
        <p:sp>
          <p:nvSpPr>
            <p:cNvPr id="97" name="TextBox 97"/>
            <p:cNvSpPr txBox="1"/>
            <p:nvPr/>
          </p:nvSpPr>
          <p:spPr>
            <a:xfrm>
              <a:off x="5903166" y="20145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12​</a:t>
              </a:r>
            </a:p>
          </p:txBody>
        </p:sp>
        <p:sp>
          <p:nvSpPr>
            <p:cNvPr id="98" name="TextBox 98"/>
            <p:cNvSpPr txBox="1"/>
            <p:nvPr/>
          </p:nvSpPr>
          <p:spPr>
            <a:xfrm>
              <a:off x="6351651" y="20145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4.3​</a:t>
              </a:r>
            </a:p>
          </p:txBody>
        </p:sp>
        <p:sp>
          <p:nvSpPr>
            <p:cNvPr id="99" name="TextBox 99"/>
            <p:cNvSpPr txBox="1"/>
            <p:nvPr/>
          </p:nvSpPr>
          <p:spPr>
            <a:xfrm>
              <a:off x="6908652" y="2014538"/>
              <a:ext cx="184447"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42​</a:t>
              </a:r>
            </a:p>
          </p:txBody>
        </p:sp>
        <p:sp>
          <p:nvSpPr>
            <p:cNvPr id="100" name="TextBox 100"/>
            <p:cNvSpPr txBox="1"/>
            <p:nvPr/>
          </p:nvSpPr>
          <p:spPr>
            <a:xfrm>
              <a:off x="7440894" y="2014538"/>
              <a:ext cx="301061"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14.0​</a:t>
              </a:r>
            </a:p>
          </p:txBody>
        </p:sp>
        <p:sp>
          <p:nvSpPr>
            <p:cNvPr id="101" name="Line 101"/>
            <p:cNvSpPr/>
            <p:nvPr/>
          </p:nvSpPr>
          <p:spPr>
            <a:xfrm>
              <a:off x="3086100" y="2305050"/>
              <a:ext cx="4800600" cy="9525"/>
            </a:xfrm>
            <a:custGeom>
              <a:avLst/>
              <a:gdLst/>
              <a:ahLst/>
              <a:cxnLst/>
              <a:rect l="l" t="t" r="r" b="b"/>
              <a:pathLst>
                <a:path w="4800600" h="9525">
                  <a:moveTo>
                    <a:pt x="0" y="0"/>
                  </a:moveTo>
                  <a:lnTo>
                    <a:pt x="4800600" y="0"/>
                  </a:lnTo>
                </a:path>
              </a:pathLst>
            </a:custGeom>
            <a:noFill/>
            <a:ln w="9525">
              <a:solidFill>
                <a:srgbClr val="EDF2FA"/>
              </a:solidFill>
            </a:ln>
          </p:spPr>
        </p:sp>
        <p:grpSp>
          <p:nvGrpSpPr>
            <p:cNvPr id="105" name="Group 105"/>
            <p:cNvGrpSpPr/>
            <p:nvPr/>
          </p:nvGrpSpPr>
          <p:grpSpPr>
            <a:xfrm>
              <a:off x="3185694" y="2501900"/>
              <a:ext cx="103606" cy="103606"/>
              <a:chOff x="3185694" y="2501900"/>
              <a:chExt cx="103606" cy="103606"/>
            </a:xfrm>
          </p:grpSpPr>
          <p:sp>
            <p:nvSpPr>
              <p:cNvPr id="102" name="Freeform 102"/>
              <p:cNvSpPr/>
              <p:nvPr/>
            </p:nvSpPr>
            <p:spPr>
              <a:xfrm>
                <a:off x="3187700" y="2501900"/>
                <a:ext cx="101600" cy="101600"/>
              </a:xfrm>
              <a:custGeom>
                <a:avLst/>
                <a:gdLst/>
                <a:ahLst/>
                <a:cxnLst/>
                <a:rect l="l" t="t" r="r" b="b"/>
                <a:pathLst>
                  <a:path w="101600" h="101600">
                    <a:moveTo>
                      <a:pt x="0" y="57150"/>
                    </a:moveTo>
                    <a:cubicBezTo>
                      <a:pt x="23306" y="59920"/>
                      <a:pt x="41680" y="78294"/>
                      <a:pt x="44450" y="101600"/>
                    </a:cubicBezTo>
                    <a:cubicBezTo>
                      <a:pt x="55861" y="95021"/>
                      <a:pt x="63065" y="83015"/>
                      <a:pt x="63500" y="69850"/>
                    </a:cubicBezTo>
                    <a:cubicBezTo>
                      <a:pt x="85304" y="62180"/>
                      <a:pt x="100342" y="42130"/>
                      <a:pt x="101600" y="19050"/>
                    </a:cubicBezTo>
                    <a:cubicBezTo>
                      <a:pt x="101600" y="8529"/>
                      <a:pt x="93071" y="0"/>
                      <a:pt x="82550" y="0"/>
                    </a:cubicBezTo>
                    <a:cubicBezTo>
                      <a:pt x="59470" y="1258"/>
                      <a:pt x="39420" y="16296"/>
                      <a:pt x="31750" y="38100"/>
                    </a:cubicBezTo>
                    <a:cubicBezTo>
                      <a:pt x="18585" y="38535"/>
                      <a:pt x="6579" y="45739"/>
                      <a:pt x="0" y="57150"/>
                    </a:cubicBezTo>
                  </a:path>
                </a:pathLst>
              </a:custGeom>
              <a:noFill/>
              <a:ln w="12700">
                <a:solidFill>
                  <a:srgbClr val="E04C2E"/>
                </a:solidFill>
              </a:ln>
            </p:spPr>
          </p:sp>
          <p:sp>
            <p:nvSpPr>
              <p:cNvPr id="103" name="Freeform 103"/>
              <p:cNvSpPr/>
              <p:nvPr/>
            </p:nvSpPr>
            <p:spPr>
              <a:xfrm>
                <a:off x="3185694" y="2565400"/>
                <a:ext cx="40106" cy="40106"/>
              </a:xfrm>
              <a:custGeom>
                <a:avLst/>
                <a:gdLst/>
                <a:ahLst/>
                <a:cxnLst/>
                <a:rect l="l" t="t" r="r" b="b"/>
                <a:pathLst>
                  <a:path w="40106" h="40106">
                    <a:moveTo>
                      <a:pt x="21056" y="0"/>
                    </a:moveTo>
                    <a:cubicBezTo>
                      <a:pt x="7536" y="7633"/>
                      <a:pt x="0" y="22705"/>
                      <a:pt x="2006" y="38100"/>
                    </a:cubicBezTo>
                    <a:cubicBezTo>
                      <a:pt x="17401" y="40106"/>
                      <a:pt x="32473" y="32570"/>
                      <a:pt x="40106" y="19050"/>
                    </a:cubicBezTo>
                  </a:path>
                </a:pathLst>
              </a:custGeom>
              <a:noFill/>
              <a:ln w="12700">
                <a:solidFill>
                  <a:srgbClr val="E04C2E"/>
                </a:solidFill>
              </a:ln>
            </p:spPr>
          </p:sp>
          <p:sp>
            <p:nvSpPr>
              <p:cNvPr id="104" name="Freeform 104"/>
              <p:cNvSpPr/>
              <p:nvPr/>
            </p:nvSpPr>
            <p:spPr>
              <a:xfrm>
                <a:off x="3251200" y="25273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E04C2E"/>
                </a:solidFill>
              </a:ln>
            </p:spPr>
          </p:sp>
        </p:grpSp>
        <p:sp>
          <p:nvSpPr>
            <p:cNvPr id="106" name="TextBox 106"/>
            <p:cNvSpPr txBox="1"/>
            <p:nvPr/>
          </p:nvSpPr>
          <p:spPr>
            <a:xfrm>
              <a:off x="3386138" y="2509838"/>
              <a:ext cx="211455"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科创</a:t>
              </a:r>
            </a:p>
          </p:txBody>
        </p:sp>
        <p:sp>
          <p:nvSpPr>
            <p:cNvPr id="107" name="TextBox 107"/>
            <p:cNvSpPr txBox="1"/>
            <p:nvPr/>
          </p:nvSpPr>
          <p:spPr>
            <a:xfrm>
              <a:off x="3998166" y="25098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12​</a:t>
              </a:r>
            </a:p>
          </p:txBody>
        </p:sp>
        <p:sp>
          <p:nvSpPr>
            <p:cNvPr id="108" name="TextBox 108"/>
            <p:cNvSpPr txBox="1"/>
            <p:nvPr/>
          </p:nvSpPr>
          <p:spPr>
            <a:xfrm>
              <a:off x="4446651" y="25098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4.0​</a:t>
              </a:r>
            </a:p>
          </p:txBody>
        </p:sp>
        <p:sp>
          <p:nvSpPr>
            <p:cNvPr id="109" name="TextBox 109"/>
            <p:cNvSpPr txBox="1"/>
            <p:nvPr/>
          </p:nvSpPr>
          <p:spPr>
            <a:xfrm>
              <a:off x="4950666" y="25098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14​</a:t>
              </a:r>
            </a:p>
          </p:txBody>
        </p:sp>
        <p:sp>
          <p:nvSpPr>
            <p:cNvPr id="110" name="TextBox 110"/>
            <p:cNvSpPr txBox="1"/>
            <p:nvPr/>
          </p:nvSpPr>
          <p:spPr>
            <a:xfrm>
              <a:off x="5399151" y="25098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3.8​</a:t>
              </a:r>
            </a:p>
          </p:txBody>
        </p:sp>
        <p:sp>
          <p:nvSpPr>
            <p:cNvPr id="111" name="TextBox 111"/>
            <p:cNvSpPr txBox="1"/>
            <p:nvPr/>
          </p:nvSpPr>
          <p:spPr>
            <a:xfrm>
              <a:off x="5903166" y="25098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10​</a:t>
              </a:r>
            </a:p>
          </p:txBody>
        </p:sp>
        <p:sp>
          <p:nvSpPr>
            <p:cNvPr id="112" name="TextBox 112"/>
            <p:cNvSpPr txBox="1"/>
            <p:nvPr/>
          </p:nvSpPr>
          <p:spPr>
            <a:xfrm>
              <a:off x="6351651" y="25098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3.2​</a:t>
              </a:r>
            </a:p>
          </p:txBody>
        </p:sp>
        <p:sp>
          <p:nvSpPr>
            <p:cNvPr id="113" name="TextBox 113"/>
            <p:cNvSpPr txBox="1"/>
            <p:nvPr/>
          </p:nvSpPr>
          <p:spPr>
            <a:xfrm>
              <a:off x="6908652" y="2509838"/>
              <a:ext cx="184447"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36​</a:t>
              </a:r>
            </a:p>
          </p:txBody>
        </p:sp>
        <p:sp>
          <p:nvSpPr>
            <p:cNvPr id="114" name="TextBox 114"/>
            <p:cNvSpPr txBox="1"/>
            <p:nvPr/>
          </p:nvSpPr>
          <p:spPr>
            <a:xfrm>
              <a:off x="7440894" y="2509838"/>
              <a:ext cx="301061"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11.0​</a:t>
              </a:r>
            </a:p>
          </p:txBody>
        </p:sp>
        <p:sp>
          <p:nvSpPr>
            <p:cNvPr id="115" name="Line 115"/>
            <p:cNvSpPr/>
            <p:nvPr/>
          </p:nvSpPr>
          <p:spPr>
            <a:xfrm>
              <a:off x="3086100" y="2800350"/>
              <a:ext cx="4800600" cy="9525"/>
            </a:xfrm>
            <a:custGeom>
              <a:avLst/>
              <a:gdLst/>
              <a:ahLst/>
              <a:cxnLst/>
              <a:rect l="l" t="t" r="r" b="b"/>
              <a:pathLst>
                <a:path w="4800600" h="9525">
                  <a:moveTo>
                    <a:pt x="0" y="0"/>
                  </a:moveTo>
                  <a:lnTo>
                    <a:pt x="4800600" y="0"/>
                  </a:lnTo>
                </a:path>
              </a:pathLst>
            </a:custGeom>
            <a:noFill/>
            <a:ln w="9525">
              <a:solidFill>
                <a:srgbClr val="EDF2FA"/>
              </a:solidFill>
            </a:ln>
          </p:spPr>
        </p:sp>
        <p:grpSp>
          <p:nvGrpSpPr>
            <p:cNvPr id="124" name="Group 124"/>
            <p:cNvGrpSpPr/>
            <p:nvPr/>
          </p:nvGrpSpPr>
          <p:grpSpPr>
            <a:xfrm>
              <a:off x="3181350" y="2990850"/>
              <a:ext cx="117475" cy="123825"/>
              <a:chOff x="3181350" y="2990850"/>
              <a:chExt cx="117475" cy="123825"/>
            </a:xfrm>
          </p:grpSpPr>
          <p:sp>
            <p:nvSpPr>
              <p:cNvPr id="116" name="Freeform 116"/>
              <p:cNvSpPr/>
              <p:nvPr/>
            </p:nvSpPr>
            <p:spPr>
              <a:xfrm>
                <a:off x="3181350" y="3105150"/>
                <a:ext cx="114300" cy="9525"/>
              </a:xfrm>
              <a:custGeom>
                <a:avLst/>
                <a:gdLst/>
                <a:ahLst/>
                <a:cxnLst/>
                <a:rect l="l" t="t" r="r" b="b"/>
                <a:pathLst>
                  <a:path w="114300" h="9525">
                    <a:moveTo>
                      <a:pt x="0" y="0"/>
                    </a:moveTo>
                    <a:lnTo>
                      <a:pt x="114300" y="0"/>
                    </a:lnTo>
                  </a:path>
                </a:pathLst>
              </a:custGeom>
              <a:noFill/>
              <a:ln w="12700">
                <a:solidFill>
                  <a:srgbClr val="E04C2E"/>
                </a:solidFill>
              </a:ln>
            </p:spPr>
          </p:sp>
          <p:sp>
            <p:nvSpPr>
              <p:cNvPr id="117" name="Freeform 117"/>
              <p:cNvSpPr/>
              <p:nvPr/>
            </p:nvSpPr>
            <p:spPr>
              <a:xfrm>
                <a:off x="3181350" y="3035300"/>
                <a:ext cx="114300" cy="9525"/>
              </a:xfrm>
              <a:custGeom>
                <a:avLst/>
                <a:gdLst/>
                <a:ahLst/>
                <a:cxnLst/>
                <a:rect l="l" t="t" r="r" b="b"/>
                <a:pathLst>
                  <a:path w="114300" h="9525">
                    <a:moveTo>
                      <a:pt x="0" y="0"/>
                    </a:moveTo>
                    <a:lnTo>
                      <a:pt x="114300" y="0"/>
                    </a:lnTo>
                  </a:path>
                </a:pathLst>
              </a:custGeom>
              <a:noFill/>
              <a:ln w="12700">
                <a:solidFill>
                  <a:srgbClr val="E04C2E"/>
                </a:solidFill>
              </a:ln>
            </p:spPr>
          </p:sp>
          <p:sp>
            <p:nvSpPr>
              <p:cNvPr id="118" name="Freeform 118"/>
              <p:cNvSpPr/>
              <p:nvPr/>
            </p:nvSpPr>
            <p:spPr>
              <a:xfrm>
                <a:off x="3194050" y="2990850"/>
                <a:ext cx="88900" cy="19050"/>
              </a:xfrm>
              <a:custGeom>
                <a:avLst/>
                <a:gdLst/>
                <a:ahLst/>
                <a:cxnLst/>
                <a:rect l="l" t="t" r="r" b="b"/>
                <a:pathLst>
                  <a:path w="88900" h="19050">
                    <a:moveTo>
                      <a:pt x="0" y="19050"/>
                    </a:moveTo>
                    <a:lnTo>
                      <a:pt x="44450" y="0"/>
                    </a:lnTo>
                    <a:lnTo>
                      <a:pt x="88900" y="19050"/>
                    </a:lnTo>
                  </a:path>
                </a:pathLst>
              </a:custGeom>
              <a:noFill/>
              <a:ln w="12700">
                <a:solidFill>
                  <a:srgbClr val="E04C2E"/>
                </a:solidFill>
              </a:ln>
            </p:spPr>
          </p:sp>
          <p:sp>
            <p:nvSpPr>
              <p:cNvPr id="119" name="Freeform 119"/>
              <p:cNvSpPr/>
              <p:nvPr/>
            </p:nvSpPr>
            <p:spPr>
              <a:xfrm>
                <a:off x="3187700" y="3035300"/>
                <a:ext cx="9525" cy="69850"/>
              </a:xfrm>
              <a:custGeom>
                <a:avLst/>
                <a:gdLst/>
                <a:ahLst/>
                <a:cxnLst/>
                <a:rect l="l" t="t" r="r" b="b"/>
                <a:pathLst>
                  <a:path w="9525" h="69850">
                    <a:moveTo>
                      <a:pt x="0" y="0"/>
                    </a:moveTo>
                    <a:lnTo>
                      <a:pt x="0" y="69850"/>
                    </a:lnTo>
                  </a:path>
                </a:pathLst>
              </a:custGeom>
              <a:noFill/>
              <a:ln w="12700">
                <a:solidFill>
                  <a:srgbClr val="E04C2E"/>
                </a:solidFill>
              </a:ln>
            </p:spPr>
          </p:sp>
          <p:sp>
            <p:nvSpPr>
              <p:cNvPr id="120" name="Freeform 120"/>
              <p:cNvSpPr/>
              <p:nvPr/>
            </p:nvSpPr>
            <p:spPr>
              <a:xfrm>
                <a:off x="3289300" y="3035300"/>
                <a:ext cx="9525" cy="69850"/>
              </a:xfrm>
              <a:custGeom>
                <a:avLst/>
                <a:gdLst/>
                <a:ahLst/>
                <a:cxnLst/>
                <a:rect l="l" t="t" r="r" b="b"/>
                <a:pathLst>
                  <a:path w="9525" h="69850">
                    <a:moveTo>
                      <a:pt x="0" y="0"/>
                    </a:moveTo>
                    <a:lnTo>
                      <a:pt x="0" y="69850"/>
                    </a:lnTo>
                  </a:path>
                </a:pathLst>
              </a:custGeom>
              <a:noFill/>
              <a:ln w="12700">
                <a:solidFill>
                  <a:srgbClr val="E04C2E"/>
                </a:solidFill>
              </a:ln>
            </p:spPr>
          </p:sp>
          <p:sp>
            <p:nvSpPr>
              <p:cNvPr id="121" name="Freeform 121"/>
              <p:cNvSpPr/>
              <p:nvPr/>
            </p:nvSpPr>
            <p:spPr>
              <a:xfrm>
                <a:off x="3213100" y="3060700"/>
                <a:ext cx="9525" cy="19050"/>
              </a:xfrm>
              <a:custGeom>
                <a:avLst/>
                <a:gdLst/>
                <a:ahLst/>
                <a:cxnLst/>
                <a:rect l="l" t="t" r="r" b="b"/>
                <a:pathLst>
                  <a:path w="9525" h="19050">
                    <a:moveTo>
                      <a:pt x="0" y="0"/>
                    </a:moveTo>
                    <a:lnTo>
                      <a:pt x="0" y="19050"/>
                    </a:lnTo>
                  </a:path>
                </a:pathLst>
              </a:custGeom>
              <a:noFill/>
              <a:ln w="12700">
                <a:solidFill>
                  <a:srgbClr val="E04C2E"/>
                </a:solidFill>
              </a:ln>
            </p:spPr>
          </p:sp>
          <p:sp>
            <p:nvSpPr>
              <p:cNvPr id="122" name="Freeform 122"/>
              <p:cNvSpPr/>
              <p:nvPr/>
            </p:nvSpPr>
            <p:spPr>
              <a:xfrm>
                <a:off x="3238500" y="3060700"/>
                <a:ext cx="9525" cy="19050"/>
              </a:xfrm>
              <a:custGeom>
                <a:avLst/>
                <a:gdLst/>
                <a:ahLst/>
                <a:cxnLst/>
                <a:rect l="l" t="t" r="r" b="b"/>
                <a:pathLst>
                  <a:path w="9525" h="19050">
                    <a:moveTo>
                      <a:pt x="0" y="0"/>
                    </a:moveTo>
                    <a:lnTo>
                      <a:pt x="0" y="19050"/>
                    </a:lnTo>
                  </a:path>
                </a:pathLst>
              </a:custGeom>
              <a:noFill/>
              <a:ln w="12700">
                <a:solidFill>
                  <a:srgbClr val="E04C2E"/>
                </a:solidFill>
              </a:ln>
            </p:spPr>
          </p:sp>
          <p:sp>
            <p:nvSpPr>
              <p:cNvPr id="123" name="Freeform 123"/>
              <p:cNvSpPr/>
              <p:nvPr/>
            </p:nvSpPr>
            <p:spPr>
              <a:xfrm>
                <a:off x="3263900" y="3060700"/>
                <a:ext cx="9525" cy="19050"/>
              </a:xfrm>
              <a:custGeom>
                <a:avLst/>
                <a:gdLst/>
                <a:ahLst/>
                <a:cxnLst/>
                <a:rect l="l" t="t" r="r" b="b"/>
                <a:pathLst>
                  <a:path w="9525" h="19050">
                    <a:moveTo>
                      <a:pt x="0" y="0"/>
                    </a:moveTo>
                    <a:lnTo>
                      <a:pt x="0" y="19050"/>
                    </a:lnTo>
                  </a:path>
                </a:pathLst>
              </a:custGeom>
              <a:noFill/>
              <a:ln w="12700">
                <a:solidFill>
                  <a:srgbClr val="E04C2E"/>
                </a:solidFill>
              </a:ln>
            </p:spPr>
          </p:sp>
        </p:grpSp>
        <p:sp>
          <p:nvSpPr>
            <p:cNvPr id="125" name="TextBox 125"/>
            <p:cNvSpPr txBox="1"/>
            <p:nvPr/>
          </p:nvSpPr>
          <p:spPr>
            <a:xfrm>
              <a:off x="3386138" y="3005138"/>
              <a:ext cx="211455"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基建</a:t>
              </a:r>
            </a:p>
          </p:txBody>
        </p:sp>
        <p:sp>
          <p:nvSpPr>
            <p:cNvPr id="126" name="TextBox 126"/>
            <p:cNvSpPr txBox="1"/>
            <p:nvPr/>
          </p:nvSpPr>
          <p:spPr>
            <a:xfrm>
              <a:off x="3998166" y="30051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10​</a:t>
              </a:r>
            </a:p>
          </p:txBody>
        </p:sp>
        <p:sp>
          <p:nvSpPr>
            <p:cNvPr id="127" name="TextBox 127"/>
            <p:cNvSpPr txBox="1"/>
            <p:nvPr/>
          </p:nvSpPr>
          <p:spPr>
            <a:xfrm>
              <a:off x="4446651" y="30051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3.6​</a:t>
              </a:r>
            </a:p>
          </p:txBody>
        </p:sp>
        <p:sp>
          <p:nvSpPr>
            <p:cNvPr id="128" name="TextBox 128"/>
            <p:cNvSpPr txBox="1"/>
            <p:nvPr/>
          </p:nvSpPr>
          <p:spPr>
            <a:xfrm>
              <a:off x="4950666" y="30051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12​</a:t>
              </a:r>
            </a:p>
          </p:txBody>
        </p:sp>
        <p:sp>
          <p:nvSpPr>
            <p:cNvPr id="129" name="TextBox 129"/>
            <p:cNvSpPr txBox="1"/>
            <p:nvPr/>
          </p:nvSpPr>
          <p:spPr>
            <a:xfrm>
              <a:off x="5399151" y="30051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3.9​</a:t>
              </a:r>
            </a:p>
          </p:txBody>
        </p:sp>
        <p:sp>
          <p:nvSpPr>
            <p:cNvPr id="130" name="TextBox 130"/>
            <p:cNvSpPr txBox="1"/>
            <p:nvPr/>
          </p:nvSpPr>
          <p:spPr>
            <a:xfrm>
              <a:off x="5903166" y="3005138"/>
              <a:ext cx="176117"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10​</a:t>
              </a:r>
            </a:p>
          </p:txBody>
        </p:sp>
        <p:sp>
          <p:nvSpPr>
            <p:cNvPr id="131" name="TextBox 131"/>
            <p:cNvSpPr txBox="1"/>
            <p:nvPr/>
          </p:nvSpPr>
          <p:spPr>
            <a:xfrm>
              <a:off x="6351651" y="3005138"/>
              <a:ext cx="231648" cy="147638"/>
            </a:xfrm>
            <a:prstGeom prst="rect">
              <a:avLst/>
            </a:prstGeom>
            <a:noFill/>
            <a:ln>
              <a:noFill/>
            </a:ln>
          </p:spPr>
          <p:txBody>
            <a:bodyPr wrap="none" lIns="0" tIns="0" rIns="0" bIns="0" anchor="t" anchorCtr="0">
              <a:spAutoFit/>
            </a:bodyPr>
            <a:lstStyle/>
            <a:p>
              <a:pPr algn="ctr"/>
              <a:r>
                <a:rPr lang="zh-CN" sz="750" dirty="0">
                  <a:solidFill>
                    <a:srgbClr val="5F3A33"/>
                  </a:solidFill>
                  <a:latin typeface="+mn-lt"/>
                  <a:ea typeface="+mn-ea"/>
                  <a:cs typeface="+mn-cs"/>
                </a:rPr>
                <a:t>3.5​</a:t>
              </a:r>
            </a:p>
          </p:txBody>
        </p:sp>
        <p:sp>
          <p:nvSpPr>
            <p:cNvPr id="132" name="TextBox 132"/>
            <p:cNvSpPr txBox="1"/>
            <p:nvPr/>
          </p:nvSpPr>
          <p:spPr>
            <a:xfrm>
              <a:off x="6908652" y="3005138"/>
              <a:ext cx="184447" cy="147638"/>
            </a:xfrm>
            <a:prstGeom prst="rect">
              <a:avLst/>
            </a:prstGeom>
            <a:noFill/>
            <a:ln>
              <a:noFill/>
            </a:ln>
          </p:spPr>
          <p:txBody>
            <a:bodyPr wrap="none" lIns="0" tIns="0" rIns="0" bIns="0" anchor="t" anchorCtr="0">
              <a:spAutoFit/>
            </a:bodyPr>
            <a:lstStyle/>
            <a:p>
              <a:pPr algn="ctr"/>
              <a:r>
                <a:rPr lang="zh-CN" sz="750" b="1" dirty="0">
                  <a:solidFill>
                    <a:srgbClr val="69281B"/>
                  </a:solidFill>
                  <a:latin typeface="+mn-lt"/>
                  <a:ea typeface="+mn-ea"/>
                  <a:cs typeface="+mn-cs"/>
                </a:rPr>
                <a:t>32​</a:t>
              </a:r>
            </a:p>
          </p:txBody>
        </p:sp>
        <p:sp>
          <p:nvSpPr>
            <p:cNvPr id="133" name="TextBox 133"/>
            <p:cNvSpPr txBox="1"/>
            <p:nvPr/>
          </p:nvSpPr>
          <p:spPr>
            <a:xfrm>
              <a:off x="7440894" y="3005138"/>
              <a:ext cx="301061" cy="147638"/>
            </a:xfrm>
            <a:prstGeom prst="rect">
              <a:avLst/>
            </a:prstGeom>
            <a:noFill/>
            <a:ln>
              <a:noFill/>
            </a:ln>
          </p:spPr>
          <p:txBody>
            <a:bodyPr wrap="none" lIns="0" tIns="0" rIns="0" bIns="0" anchor="t" anchorCtr="0">
              <a:spAutoFit/>
            </a:bodyPr>
            <a:lstStyle/>
            <a:p>
              <a:pPr algn="ctr"/>
              <a:r>
                <a:rPr lang="zh-CN" sz="750" b="1" dirty="0">
                  <a:solidFill>
                    <a:srgbClr val="E04C2E"/>
                  </a:solidFill>
                  <a:latin typeface="+mn-lt"/>
                  <a:ea typeface="+mn-ea"/>
                  <a:cs typeface="+mn-cs"/>
                </a:rPr>
                <a:t>11.0​</a:t>
              </a:r>
            </a:p>
          </p:txBody>
        </p:sp>
        <p:sp>
          <p:nvSpPr>
            <p:cNvPr id="134" name="Line 134"/>
            <p:cNvSpPr/>
            <p:nvPr/>
          </p:nvSpPr>
          <p:spPr>
            <a:xfrm>
              <a:off x="3086100" y="3295650"/>
              <a:ext cx="4800600" cy="9525"/>
            </a:xfrm>
            <a:custGeom>
              <a:avLst/>
              <a:gdLst/>
              <a:ahLst/>
              <a:cxnLst/>
              <a:rect l="l" t="t" r="r" b="b"/>
              <a:pathLst>
                <a:path w="4800600" h="9525">
                  <a:moveTo>
                    <a:pt x="0" y="0"/>
                  </a:moveTo>
                  <a:lnTo>
                    <a:pt x="4800600" y="0"/>
                  </a:lnTo>
                </a:path>
              </a:pathLst>
            </a:custGeom>
            <a:noFill/>
            <a:ln w="9525">
              <a:solidFill>
                <a:srgbClr val="C9D6E9"/>
              </a:solidFill>
            </a:ln>
          </p:spPr>
        </p:sp>
        <p:sp>
          <p:nvSpPr>
            <p:cNvPr id="135" name="Rectangle 135"/>
            <p:cNvSpPr/>
            <p:nvPr/>
          </p:nvSpPr>
          <p:spPr>
            <a:xfrm>
              <a:off x="3086100" y="3314700"/>
              <a:ext cx="4800600" cy="247650"/>
            </a:xfrm>
            <a:prstGeom prst="rect">
              <a:avLst/>
            </a:prstGeom>
            <a:solidFill>
              <a:srgbClr val="EAF1FB"/>
            </a:solidFill>
            <a:ln>
              <a:noFill/>
            </a:ln>
          </p:spPr>
        </p:sp>
        <p:sp>
          <p:nvSpPr>
            <p:cNvPr id="136" name="TextBox 136"/>
            <p:cNvSpPr txBox="1"/>
            <p:nvPr/>
          </p:nvSpPr>
          <p:spPr>
            <a:xfrm>
              <a:off x="3339238" y="3391614"/>
              <a:ext cx="255725"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合 计</a:t>
              </a:r>
            </a:p>
          </p:txBody>
        </p:sp>
        <p:sp>
          <p:nvSpPr>
            <p:cNvPr id="137" name="TextBox 137"/>
            <p:cNvSpPr txBox="1"/>
            <p:nvPr/>
          </p:nvSpPr>
          <p:spPr>
            <a:xfrm>
              <a:off x="3989337" y="3391614"/>
              <a:ext cx="193776"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54​</a:t>
              </a:r>
            </a:p>
          </p:txBody>
        </p:sp>
        <p:sp>
          <p:nvSpPr>
            <p:cNvPr id="138" name="TextBox 138"/>
            <p:cNvSpPr txBox="1"/>
            <p:nvPr/>
          </p:nvSpPr>
          <p:spPr>
            <a:xfrm>
              <a:off x="4404170" y="3391614"/>
              <a:ext cx="316610"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19.9​</a:t>
              </a:r>
            </a:p>
          </p:txBody>
        </p:sp>
        <p:sp>
          <p:nvSpPr>
            <p:cNvPr id="139" name="TextBox 139"/>
            <p:cNvSpPr txBox="1"/>
            <p:nvPr/>
          </p:nvSpPr>
          <p:spPr>
            <a:xfrm>
              <a:off x="4941837" y="3391614"/>
              <a:ext cx="193776"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64​</a:t>
              </a:r>
            </a:p>
          </p:txBody>
        </p:sp>
        <p:sp>
          <p:nvSpPr>
            <p:cNvPr id="140" name="TextBox 140"/>
            <p:cNvSpPr txBox="1"/>
            <p:nvPr/>
          </p:nvSpPr>
          <p:spPr>
            <a:xfrm>
              <a:off x="5356670" y="3391614"/>
              <a:ext cx="316610"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20.4​</a:t>
              </a:r>
            </a:p>
          </p:txBody>
        </p:sp>
        <p:sp>
          <p:nvSpPr>
            <p:cNvPr id="141" name="TextBox 141"/>
            <p:cNvSpPr txBox="1"/>
            <p:nvPr/>
          </p:nvSpPr>
          <p:spPr>
            <a:xfrm>
              <a:off x="5894337" y="3391614"/>
              <a:ext cx="193776"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52​</a:t>
              </a:r>
            </a:p>
          </p:txBody>
        </p:sp>
        <p:sp>
          <p:nvSpPr>
            <p:cNvPr id="142" name="TextBox 142"/>
            <p:cNvSpPr txBox="1"/>
            <p:nvPr/>
          </p:nvSpPr>
          <p:spPr>
            <a:xfrm>
              <a:off x="6309170" y="3391614"/>
              <a:ext cx="316610"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17.7​</a:t>
              </a:r>
            </a:p>
          </p:txBody>
        </p:sp>
        <p:sp>
          <p:nvSpPr>
            <p:cNvPr id="143" name="TextBox 143"/>
            <p:cNvSpPr txBox="1"/>
            <p:nvPr/>
          </p:nvSpPr>
          <p:spPr>
            <a:xfrm>
              <a:off x="6873278" y="3391614"/>
              <a:ext cx="255193"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170​</a:t>
              </a:r>
            </a:p>
          </p:txBody>
        </p:sp>
        <p:sp>
          <p:nvSpPr>
            <p:cNvPr id="144" name="TextBox 144"/>
            <p:cNvSpPr txBox="1"/>
            <p:nvPr/>
          </p:nvSpPr>
          <p:spPr>
            <a:xfrm>
              <a:off x="7433120" y="3391614"/>
              <a:ext cx="316610" cy="154781"/>
            </a:xfrm>
            <a:prstGeom prst="rect">
              <a:avLst/>
            </a:prstGeom>
            <a:noFill/>
            <a:ln>
              <a:noFill/>
            </a:ln>
          </p:spPr>
          <p:txBody>
            <a:bodyPr wrap="none" lIns="0" tIns="0" rIns="0" bIns="0" anchor="t" anchorCtr="0">
              <a:spAutoFit/>
            </a:bodyPr>
            <a:lstStyle/>
            <a:p>
              <a:pPr algn="ctr"/>
              <a:r>
                <a:rPr lang="zh-CN" sz="790" b="1" dirty="0">
                  <a:solidFill>
                    <a:srgbClr val="E04C2E"/>
                  </a:solidFill>
                  <a:latin typeface="+mn-lt"/>
                  <a:ea typeface="+mn-ea"/>
                  <a:cs typeface="+mn-cs"/>
                </a:rPr>
                <a:t>58.0​</a:t>
              </a:r>
            </a:p>
          </p:txBody>
        </p:sp>
        <p:sp>
          <p:nvSpPr>
            <p:cNvPr id="145" name="Rectangle 145"/>
            <p:cNvSpPr/>
            <p:nvPr/>
          </p:nvSpPr>
          <p:spPr>
            <a:xfrm>
              <a:off x="3086100" y="3733800"/>
              <a:ext cx="4800600" cy="571500"/>
            </a:xfrm>
            <a:prstGeom prst="roundRect">
              <a:avLst>
                <a:gd name="adj" fmla="val 6667"/>
              </a:avLst>
            </a:prstGeom>
            <a:solidFill>
              <a:srgbClr val="EAF1FB"/>
            </a:solidFill>
            <a:ln>
              <a:noFill/>
            </a:ln>
          </p:spPr>
        </p:sp>
        <p:grpSp>
          <p:nvGrpSpPr>
            <p:cNvPr id="152" name="Group 152"/>
            <p:cNvGrpSpPr/>
            <p:nvPr/>
          </p:nvGrpSpPr>
          <p:grpSpPr>
            <a:xfrm>
              <a:off x="3216275" y="3931444"/>
              <a:ext cx="139700" cy="157162"/>
              <a:chOff x="3216275" y="3931444"/>
              <a:chExt cx="139700" cy="157162"/>
            </a:xfrm>
          </p:grpSpPr>
          <p:sp>
            <p:nvSpPr>
              <p:cNvPr id="146" name="Freeform 146"/>
              <p:cNvSpPr/>
              <p:nvPr/>
            </p:nvSpPr>
            <p:spPr>
              <a:xfrm>
                <a:off x="3216275" y="3948906"/>
                <a:ext cx="139700" cy="139700"/>
              </a:xfrm>
              <a:custGeom>
                <a:avLst/>
                <a:gdLst/>
                <a:ahLst/>
                <a:cxnLst/>
                <a:rect l="l" t="t" r="r" b="b"/>
                <a:pathLst>
                  <a:path w="139700" h="139700">
                    <a:moveTo>
                      <a:pt x="0" y="17463"/>
                    </a:moveTo>
                    <a:cubicBezTo>
                      <a:pt x="0" y="7818"/>
                      <a:pt x="7818" y="0"/>
                      <a:pt x="17463" y="0"/>
                    </a:cubicBezTo>
                    <a:lnTo>
                      <a:pt x="122238" y="0"/>
                    </a:lnTo>
                    <a:cubicBezTo>
                      <a:pt x="131882" y="0"/>
                      <a:pt x="139700" y="7818"/>
                      <a:pt x="139700" y="17463"/>
                    </a:cubicBezTo>
                    <a:lnTo>
                      <a:pt x="139700" y="122238"/>
                    </a:lnTo>
                    <a:cubicBezTo>
                      <a:pt x="139700" y="131882"/>
                      <a:pt x="131882" y="139700"/>
                      <a:pt x="122238" y="139700"/>
                    </a:cubicBezTo>
                    <a:lnTo>
                      <a:pt x="17463" y="139700"/>
                    </a:lnTo>
                    <a:cubicBezTo>
                      <a:pt x="7818" y="139700"/>
                      <a:pt x="0" y="131882"/>
                      <a:pt x="0" y="122238"/>
                    </a:cubicBezTo>
                    <a:lnTo>
                      <a:pt x="0" y="17463"/>
                    </a:lnTo>
                  </a:path>
                </a:pathLst>
              </a:custGeom>
              <a:noFill/>
              <a:ln w="17463">
                <a:solidFill>
                  <a:srgbClr val="E04C2E"/>
                </a:solidFill>
              </a:ln>
            </p:spPr>
          </p:sp>
          <p:sp>
            <p:nvSpPr>
              <p:cNvPr id="147" name="Freeform 147"/>
              <p:cNvSpPr/>
              <p:nvPr/>
            </p:nvSpPr>
            <p:spPr>
              <a:xfrm>
                <a:off x="3321050" y="3931444"/>
                <a:ext cx="9525" cy="34925"/>
              </a:xfrm>
              <a:custGeom>
                <a:avLst/>
                <a:gdLst/>
                <a:ahLst/>
                <a:cxnLst/>
                <a:rect l="l" t="t" r="r" b="b"/>
                <a:pathLst>
                  <a:path w="9525" h="34925">
                    <a:moveTo>
                      <a:pt x="0" y="0"/>
                    </a:moveTo>
                    <a:lnTo>
                      <a:pt x="0" y="34925"/>
                    </a:lnTo>
                  </a:path>
                </a:pathLst>
              </a:custGeom>
              <a:noFill/>
              <a:ln w="17463">
                <a:solidFill>
                  <a:srgbClr val="E04C2E"/>
                </a:solidFill>
              </a:ln>
            </p:spPr>
          </p:sp>
          <p:sp>
            <p:nvSpPr>
              <p:cNvPr id="148" name="Freeform 148"/>
              <p:cNvSpPr/>
              <p:nvPr/>
            </p:nvSpPr>
            <p:spPr>
              <a:xfrm>
                <a:off x="3251200" y="3931444"/>
                <a:ext cx="9525" cy="34925"/>
              </a:xfrm>
              <a:custGeom>
                <a:avLst/>
                <a:gdLst/>
                <a:ahLst/>
                <a:cxnLst/>
                <a:rect l="l" t="t" r="r" b="b"/>
                <a:pathLst>
                  <a:path w="9525" h="34925">
                    <a:moveTo>
                      <a:pt x="0" y="0"/>
                    </a:moveTo>
                    <a:lnTo>
                      <a:pt x="0" y="34925"/>
                    </a:lnTo>
                  </a:path>
                </a:pathLst>
              </a:custGeom>
              <a:noFill/>
              <a:ln w="17463">
                <a:solidFill>
                  <a:srgbClr val="E04C2E"/>
                </a:solidFill>
              </a:ln>
            </p:spPr>
          </p:sp>
          <p:sp>
            <p:nvSpPr>
              <p:cNvPr id="149" name="Freeform 149"/>
              <p:cNvSpPr/>
              <p:nvPr/>
            </p:nvSpPr>
            <p:spPr>
              <a:xfrm>
                <a:off x="3216275" y="4001294"/>
                <a:ext cx="139700" cy="9525"/>
              </a:xfrm>
              <a:custGeom>
                <a:avLst/>
                <a:gdLst/>
                <a:ahLst/>
                <a:cxnLst/>
                <a:rect l="l" t="t" r="r" b="b"/>
                <a:pathLst>
                  <a:path w="139700" h="9525">
                    <a:moveTo>
                      <a:pt x="0" y="0"/>
                    </a:moveTo>
                    <a:lnTo>
                      <a:pt x="139700" y="0"/>
                    </a:lnTo>
                  </a:path>
                </a:pathLst>
              </a:custGeom>
              <a:noFill/>
              <a:ln w="17463">
                <a:solidFill>
                  <a:srgbClr val="E04C2E"/>
                </a:solidFill>
              </a:ln>
            </p:spPr>
          </p:sp>
          <p:sp>
            <p:nvSpPr>
              <p:cNvPr id="150" name="Freeform 150"/>
              <p:cNvSpPr/>
              <p:nvPr/>
            </p:nvSpPr>
            <p:spPr>
              <a:xfrm>
                <a:off x="3277394" y="4036219"/>
                <a:ext cx="9525" cy="9525"/>
              </a:xfrm>
              <a:custGeom>
                <a:avLst/>
                <a:gdLst/>
                <a:ahLst/>
                <a:cxnLst/>
                <a:rect l="l" t="t" r="r" b="b"/>
                <a:pathLst>
                  <a:path w="9525" h="9525">
                    <a:moveTo>
                      <a:pt x="0" y="0"/>
                    </a:moveTo>
                    <a:lnTo>
                      <a:pt x="8731" y="0"/>
                    </a:lnTo>
                  </a:path>
                </a:pathLst>
              </a:custGeom>
              <a:noFill/>
              <a:ln w="17463">
                <a:solidFill>
                  <a:srgbClr val="E04C2E"/>
                </a:solidFill>
              </a:ln>
            </p:spPr>
          </p:sp>
          <p:sp>
            <p:nvSpPr>
              <p:cNvPr id="151" name="Freeform 151"/>
              <p:cNvSpPr/>
              <p:nvPr/>
            </p:nvSpPr>
            <p:spPr>
              <a:xfrm>
                <a:off x="3286125" y="4036219"/>
                <a:ext cx="9525" cy="26194"/>
              </a:xfrm>
              <a:custGeom>
                <a:avLst/>
                <a:gdLst/>
                <a:ahLst/>
                <a:cxnLst/>
                <a:rect l="l" t="t" r="r" b="b"/>
                <a:pathLst>
                  <a:path w="9525" h="26194">
                    <a:moveTo>
                      <a:pt x="0" y="0"/>
                    </a:moveTo>
                    <a:lnTo>
                      <a:pt x="0" y="26194"/>
                    </a:lnTo>
                  </a:path>
                </a:pathLst>
              </a:custGeom>
              <a:noFill/>
              <a:ln w="17463">
                <a:solidFill>
                  <a:srgbClr val="E04C2E"/>
                </a:solidFill>
              </a:ln>
            </p:spPr>
          </p:sp>
        </p:grpSp>
        <p:sp>
          <p:nvSpPr>
            <p:cNvPr id="153" name="TextBox 153"/>
            <p:cNvSpPr txBox="1"/>
            <p:nvPr/>
          </p:nvSpPr>
          <p:spPr>
            <a:xfrm>
              <a:off x="3481388" y="3889534"/>
              <a:ext cx="3169222" cy="285750"/>
            </a:xfrm>
            <a:prstGeom prst="rect">
              <a:avLst/>
            </a:prstGeom>
            <a:noFill/>
            <a:ln>
              <a:noFill/>
            </a:ln>
          </p:spPr>
          <p:txBody>
            <a:bodyPr wrap="none" lIns="0" tIns="0" rIns="0" bIns="0" anchor="t" anchorCtr="0">
              <a:spAutoFit/>
            </a:bodyPr>
            <a:lstStyle/>
            <a:p>
              <a:pPr algn="l">
                <a:lnSpc>
                  <a:spcPts val="1200"/>
                </a:lnSpc>
              </a:pPr>
              <a:r>
                <a:rPr lang="zh-CN" sz="680" dirty="0">
                  <a:solidFill>
                    <a:srgbClr val="5F3A33"/>
                  </a:solidFill>
                  <a:latin typeface="+mn-lt"/>
                  <a:ea typeface="+mn-ea"/>
                  <a:cs typeface="+mn-cs"/>
                </a:rPr>
                <a:t xml:space="preserve">排期项目合计 </a:t>
              </a:r>
              <a:r>
                <a:rPr lang="zh-CN" sz="680" b="1" dirty="0">
                  <a:solidFill>
                    <a:srgbClr val="69281B"/>
                  </a:solidFill>
                  <a:latin typeface="+mn-lt"/>
                  <a:ea typeface="+mn-ea"/>
                  <a:cs typeface="+mn-cs"/>
                </a:rPr>
                <a:t>170</a:t>
              </a:r>
              <a:r>
                <a:rPr lang="zh-CN" sz="680" dirty="0">
                  <a:solidFill>
                    <a:srgbClr val="5F3A33"/>
                  </a:solidFill>
                  <a:latin typeface="+mn-lt"/>
                  <a:ea typeface="+mn-ea"/>
                  <a:cs typeface="+mn-cs"/>
                </a:rPr>
                <a:t xml:space="preserve"> 个，金额 </a:t>
              </a:r>
              <a:r>
                <a:rPr lang="zh-CN" sz="680" b="1" dirty="0">
                  <a:solidFill>
                    <a:srgbClr val="69281B"/>
                  </a:solidFill>
                  <a:latin typeface="+mn-lt"/>
                  <a:ea typeface="+mn-ea"/>
                  <a:cs typeface="+mn-cs"/>
                </a:rPr>
                <a:t>58.0</a:t>
              </a:r>
              <a:r>
                <a:rPr lang="zh-CN" sz="680" dirty="0">
                  <a:solidFill>
                    <a:srgbClr val="5F3A33"/>
                  </a:solidFill>
                  <a:latin typeface="+mn-lt"/>
                  <a:ea typeface="+mn-ea"/>
                  <a:cs typeface="+mn-cs"/>
                </a:rPr>
                <a:t xml:space="preserve"> 亿元；其中制造业占 </a:t>
              </a:r>
              <a:r>
                <a:rPr lang="zh-CN" sz="680" b="1" dirty="0">
                  <a:solidFill>
                    <a:srgbClr val="69281B"/>
                  </a:solidFill>
                  <a:latin typeface="+mn-lt"/>
                  <a:ea typeface="+mn-ea"/>
                  <a:cs typeface="+mn-cs"/>
                </a:rPr>
                <a:t>37.9%</a:t>
              </a:r>
              <a:r>
                <a:rPr lang="zh-CN" sz="680" dirty="0">
                  <a:solidFill>
                    <a:srgbClr val="5F3A33"/>
                  </a:solidFill>
                  <a:latin typeface="+mn-lt"/>
                  <a:ea typeface="+mn-ea"/>
                  <a:cs typeface="+mn-cs"/>
                </a:rPr>
                <a:t xml:space="preserve">，绿色占 </a:t>
              </a:r>
              <a:r>
                <a:rPr lang="zh-CN" sz="680" b="1" dirty="0">
                  <a:solidFill>
                    <a:srgbClr val="69281B"/>
                  </a:solidFill>
                  <a:latin typeface="+mn-lt"/>
                  <a:ea typeface="+mn-ea"/>
                  <a:cs typeface="+mn-cs"/>
                </a:rPr>
                <a:t>24.1%</a:t>
              </a:r>
              <a:r>
                <a:rPr lang="zh-CN" sz="680" dirty="0">
                  <a:solidFill>
                    <a:srgbClr val="5F3A33"/>
                  </a:solidFill>
                  <a:latin typeface="+mn-lt"/>
                  <a:ea typeface="+mn-ea"/>
                  <a:cs typeface="+mn-cs"/>
                </a:rPr>
                <a:t>，​</a:t>
              </a:r>
              <a:br/>
              <a:r>
                <a:rPr lang="zh-CN" sz="680" dirty="0">
                  <a:solidFill>
                    <a:srgbClr val="5F3A33"/>
                  </a:solidFill>
                  <a:latin typeface="+mn-lt"/>
                  <a:ea typeface="+mn-ea"/>
                  <a:cs typeface="+mn-cs"/>
                </a:rPr>
                <a:t xml:space="preserve">科创占 </a:t>
              </a:r>
              <a:r>
                <a:rPr lang="zh-CN" sz="680" b="1" dirty="0">
                  <a:solidFill>
                    <a:srgbClr val="69281B"/>
                  </a:solidFill>
                  <a:latin typeface="+mn-lt"/>
                  <a:ea typeface="+mn-ea"/>
                  <a:cs typeface="+mn-cs"/>
                </a:rPr>
                <a:t>19.0%​</a:t>
              </a:r>
              <a:r>
                <a:rPr lang="zh-CN" sz="680" dirty="0">
                  <a:solidFill>
                    <a:srgbClr val="5F3A33"/>
                  </a:solidFill>
                  <a:latin typeface="+mn-lt"/>
                  <a:ea typeface="+mn-ea"/>
                  <a:cs typeface="+mn-cs"/>
                </a:rPr>
                <a:t xml:space="preserve">，基建占 </a:t>
              </a:r>
              <a:r>
                <a:rPr lang="zh-CN" sz="680" b="1" dirty="0">
                  <a:solidFill>
                    <a:srgbClr val="69281B"/>
                  </a:solidFill>
                  <a:latin typeface="+mn-lt"/>
                  <a:ea typeface="+mn-ea"/>
                  <a:cs typeface="+mn-cs"/>
                </a:rPr>
                <a:t>19.0%</a:t>
              </a:r>
              <a:r>
                <a:rPr lang="zh-CN" sz="680" dirty="0">
                  <a:solidFill>
                    <a:srgbClr val="5F3A33"/>
                  </a:solidFill>
                  <a:latin typeface="+mn-lt"/>
                  <a:ea typeface="+mn-ea"/>
                  <a:cs typeface="+mn-cs"/>
                </a:rPr>
                <a:t>。</a:t>
              </a:r>
            </a:p>
          </p:txBody>
        </p:sp>
      </p:grpSp>
      <p:grpSp>
        <p:nvGrpSpPr>
          <p:cNvPr id="192" name="target-cards"/>
          <p:cNvGrpSpPr/>
          <p:nvPr/>
        </p:nvGrpSpPr>
        <p:grpSpPr>
          <a:xfrm>
            <a:off x="8077200" y="685800"/>
            <a:ext cx="3886200" cy="1676400"/>
            <a:chOff x="8077200" y="685800"/>
            <a:chExt cx="3886200" cy="1676400"/>
          </a:xfrm>
        </p:grpSpPr>
        <p:sp>
          <p:nvSpPr>
            <p:cNvPr id="155" name="Rectangle 155"/>
            <p:cNvSpPr/>
            <p:nvPr/>
          </p:nvSpPr>
          <p:spPr>
            <a:xfrm>
              <a:off x="8077200" y="685800"/>
              <a:ext cx="3886200" cy="1676400"/>
            </a:xfrm>
            <a:prstGeom prst="roundRect">
              <a:avLst>
                <a:gd name="adj" fmla="val 3409"/>
              </a:avLst>
            </a:prstGeom>
            <a:solidFill>
              <a:srgbClr val="FFFFFF"/>
            </a:solidFill>
            <a:ln w="9525">
              <a:solidFill>
                <a:srgbClr val="C9D6E9"/>
              </a:solidFill>
            </a:ln>
          </p:spPr>
        </p:sp>
        <p:sp>
          <p:nvSpPr>
            <p:cNvPr id="156" name="Rectangle 156"/>
            <p:cNvSpPr/>
            <p:nvPr/>
          </p:nvSpPr>
          <p:spPr>
            <a:xfrm>
              <a:off x="8077200" y="685800"/>
              <a:ext cx="3886200" cy="209550"/>
            </a:xfrm>
            <a:prstGeom prst="roundRect">
              <a:avLst>
                <a:gd name="adj" fmla="val 27273"/>
              </a:avLst>
            </a:prstGeom>
            <a:solidFill>
              <a:srgbClr val="69281B"/>
            </a:solidFill>
            <a:ln>
              <a:noFill/>
            </a:ln>
          </p:spPr>
        </p:sp>
        <p:sp>
          <p:nvSpPr>
            <p:cNvPr id="157" name="Rectangle 157"/>
            <p:cNvSpPr/>
            <p:nvPr/>
          </p:nvSpPr>
          <p:spPr>
            <a:xfrm>
              <a:off x="8077200" y="800100"/>
              <a:ext cx="3886200" cy="95250"/>
            </a:xfrm>
            <a:prstGeom prst="rect">
              <a:avLst/>
            </a:prstGeom>
            <a:solidFill>
              <a:srgbClr val="69281B"/>
            </a:solidFill>
            <a:ln>
              <a:noFill/>
            </a:ln>
          </p:spPr>
        </p:sp>
        <p:sp>
          <p:nvSpPr>
            <p:cNvPr id="158" name="TextBox 158"/>
            <p:cNvSpPr txBox="1"/>
            <p:nvPr/>
          </p:nvSpPr>
          <p:spPr>
            <a:xfrm>
              <a:off x="8862669" y="739616"/>
              <a:ext cx="231526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重点领域投放目标（2026年下半年新增投放）​</a:t>
              </a:r>
            </a:p>
          </p:txBody>
        </p:sp>
        <p:sp>
          <p:nvSpPr>
            <p:cNvPr id="159" name="Rectangle 159"/>
            <p:cNvSpPr/>
            <p:nvPr/>
          </p:nvSpPr>
          <p:spPr>
            <a:xfrm>
              <a:off x="8172450" y="971550"/>
              <a:ext cx="1828800" cy="609600"/>
            </a:xfrm>
            <a:prstGeom prst="roundRect">
              <a:avLst>
                <a:gd name="adj" fmla="val 6250"/>
              </a:avLst>
            </a:prstGeom>
            <a:solidFill>
              <a:srgbClr val="F5F8FD"/>
            </a:solidFill>
            <a:ln w="9525">
              <a:solidFill>
                <a:srgbClr val="E3EAF5"/>
              </a:solidFill>
            </a:ln>
          </p:spPr>
        </p:sp>
        <p:grpSp>
          <p:nvGrpSpPr>
            <p:cNvPr id="162" name="Group 162"/>
            <p:cNvGrpSpPr/>
            <p:nvPr/>
          </p:nvGrpSpPr>
          <p:grpSpPr>
            <a:xfrm>
              <a:off x="8296159" y="1171459"/>
              <a:ext cx="209782" cy="209782"/>
              <a:chOff x="8296159" y="1171459"/>
              <a:chExt cx="209782" cy="209782"/>
            </a:xfrm>
          </p:grpSpPr>
          <p:sp>
            <p:nvSpPr>
              <p:cNvPr id="160" name="Freeform 160"/>
              <p:cNvSpPr/>
              <p:nvPr/>
            </p:nvSpPr>
            <p:spPr>
              <a:xfrm>
                <a:off x="8296159" y="1171459"/>
                <a:ext cx="209782" cy="209782"/>
              </a:xfrm>
              <a:custGeom>
                <a:avLst/>
                <a:gdLst/>
                <a:ahLst/>
                <a:cxnLst/>
                <a:rect l="l" t="t" r="r" b="b"/>
                <a:pathLst>
                  <a:path w="209782" h="209782">
                    <a:moveTo>
                      <a:pt x="86278" y="19514"/>
                    </a:moveTo>
                    <a:cubicBezTo>
                      <a:pt x="91012" y="0"/>
                      <a:pt x="118771" y="0"/>
                      <a:pt x="123505" y="19514"/>
                    </a:cubicBezTo>
                    <a:cubicBezTo>
                      <a:pt x="124945" y="25459"/>
                      <a:pt x="129139" y="30360"/>
                      <a:pt x="134791" y="32701"/>
                    </a:cubicBezTo>
                    <a:cubicBezTo>
                      <a:pt x="140443" y="35043"/>
                      <a:pt x="146874" y="34544"/>
                      <a:pt x="152097" y="31360"/>
                    </a:cubicBezTo>
                    <a:cubicBezTo>
                      <a:pt x="169244" y="20914"/>
                      <a:pt x="188880" y="40539"/>
                      <a:pt x="178434" y="57696"/>
                    </a:cubicBezTo>
                    <a:cubicBezTo>
                      <a:pt x="175254" y="62918"/>
                      <a:pt x="174756" y="69343"/>
                      <a:pt x="177095" y="74992"/>
                    </a:cubicBezTo>
                    <a:cubicBezTo>
                      <a:pt x="179434" y="80640"/>
                      <a:pt x="184328" y="84833"/>
                      <a:pt x="190269" y="86278"/>
                    </a:cubicBezTo>
                    <a:cubicBezTo>
                      <a:pt x="209782" y="91012"/>
                      <a:pt x="209782" y="118771"/>
                      <a:pt x="190269" y="123505"/>
                    </a:cubicBezTo>
                    <a:cubicBezTo>
                      <a:pt x="184323" y="124945"/>
                      <a:pt x="179423" y="129139"/>
                      <a:pt x="177081" y="134791"/>
                    </a:cubicBezTo>
                    <a:cubicBezTo>
                      <a:pt x="174739" y="140443"/>
                      <a:pt x="175238" y="146874"/>
                      <a:pt x="178423" y="152097"/>
                    </a:cubicBezTo>
                    <a:cubicBezTo>
                      <a:pt x="188869" y="169244"/>
                      <a:pt x="169244" y="188880"/>
                      <a:pt x="152086" y="178434"/>
                    </a:cubicBezTo>
                    <a:cubicBezTo>
                      <a:pt x="146865" y="175254"/>
                      <a:pt x="140439" y="174756"/>
                      <a:pt x="134791" y="177095"/>
                    </a:cubicBezTo>
                    <a:cubicBezTo>
                      <a:pt x="129142" y="179434"/>
                      <a:pt x="124949" y="184328"/>
                      <a:pt x="123505" y="190269"/>
                    </a:cubicBezTo>
                    <a:cubicBezTo>
                      <a:pt x="118771" y="209782"/>
                      <a:pt x="91012" y="209782"/>
                      <a:pt x="86278" y="190269"/>
                    </a:cubicBezTo>
                    <a:cubicBezTo>
                      <a:pt x="84837" y="184323"/>
                      <a:pt x="80643" y="179423"/>
                      <a:pt x="74991" y="177081"/>
                    </a:cubicBezTo>
                    <a:cubicBezTo>
                      <a:pt x="69339" y="174739"/>
                      <a:pt x="62909" y="175238"/>
                      <a:pt x="57685" y="178423"/>
                    </a:cubicBezTo>
                    <a:cubicBezTo>
                      <a:pt x="40539" y="188869"/>
                      <a:pt x="20903" y="169244"/>
                      <a:pt x="31348" y="152086"/>
                    </a:cubicBezTo>
                    <a:cubicBezTo>
                      <a:pt x="34529" y="146865"/>
                      <a:pt x="35026" y="140439"/>
                      <a:pt x="32687" y="134791"/>
                    </a:cubicBezTo>
                    <a:cubicBezTo>
                      <a:pt x="30348" y="129142"/>
                      <a:pt x="25454" y="124949"/>
                      <a:pt x="19514" y="123505"/>
                    </a:cubicBezTo>
                    <a:cubicBezTo>
                      <a:pt x="0" y="118771"/>
                      <a:pt x="0" y="91012"/>
                      <a:pt x="19514" y="86278"/>
                    </a:cubicBezTo>
                    <a:cubicBezTo>
                      <a:pt x="25459" y="84837"/>
                      <a:pt x="30360" y="80643"/>
                      <a:pt x="32701" y="74991"/>
                    </a:cubicBezTo>
                    <a:cubicBezTo>
                      <a:pt x="35043" y="69339"/>
                      <a:pt x="34544" y="62909"/>
                      <a:pt x="31360" y="57685"/>
                    </a:cubicBezTo>
                    <a:cubicBezTo>
                      <a:pt x="20914" y="40539"/>
                      <a:pt x="40539" y="20903"/>
                      <a:pt x="57696" y="31348"/>
                    </a:cubicBezTo>
                    <a:cubicBezTo>
                      <a:pt x="68809" y="38105"/>
                      <a:pt x="83211" y="32126"/>
                      <a:pt x="86278" y="19514"/>
                    </a:cubicBezTo>
                  </a:path>
                </a:pathLst>
              </a:custGeom>
              <a:noFill/>
              <a:ln w="22225">
                <a:solidFill>
                  <a:srgbClr val="E04C2E"/>
                </a:solidFill>
              </a:ln>
            </p:spPr>
          </p:sp>
          <p:sp>
            <p:nvSpPr>
              <p:cNvPr id="161" name="Freeform 161"/>
              <p:cNvSpPr/>
              <p:nvPr/>
            </p:nvSpPr>
            <p:spPr>
              <a:xfrm>
                <a:off x="8367713" y="1243013"/>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22225">
                <a:solidFill>
                  <a:srgbClr val="E04C2E"/>
                </a:solidFill>
              </a:ln>
            </p:spPr>
          </p:sp>
        </p:grpSp>
        <p:sp>
          <p:nvSpPr>
            <p:cNvPr id="163" name="TextBox 163"/>
            <p:cNvSpPr txBox="1"/>
            <p:nvPr/>
          </p:nvSpPr>
          <p:spPr>
            <a:xfrm>
              <a:off x="8624888" y="1062038"/>
              <a:ext cx="312420"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制造业</a:t>
              </a:r>
            </a:p>
          </p:txBody>
        </p:sp>
        <p:sp>
          <p:nvSpPr>
            <p:cNvPr id="164" name="TextBox 164"/>
            <p:cNvSpPr txBox="1"/>
            <p:nvPr/>
          </p:nvSpPr>
          <p:spPr>
            <a:xfrm>
              <a:off x="8624888" y="1194149"/>
              <a:ext cx="321843" cy="116205"/>
            </a:xfrm>
            <a:prstGeom prst="rect">
              <a:avLst/>
            </a:prstGeom>
            <a:noFill/>
            <a:ln>
              <a:noFill/>
            </a:ln>
          </p:spPr>
          <p:txBody>
            <a:bodyPr wrap="none" lIns="0" tIns="0" rIns="0" bIns="0" anchor="t" anchorCtr="0">
              <a:spAutoFit/>
            </a:bodyPr>
            <a:lstStyle/>
            <a:p>
              <a:pPr algn="l"/>
              <a:r>
                <a:rPr lang="zh-CN" sz="580" dirty="0">
                  <a:solidFill>
                    <a:srgbClr val="BEA09A"/>
                  </a:solidFill>
                  <a:latin typeface="+mn-lt"/>
                  <a:ea typeface="+mn-ea"/>
                  <a:cs typeface="+mn-cs"/>
                </a:rPr>
                <a:t>新增投放</a:t>
              </a:r>
            </a:p>
          </p:txBody>
        </p:sp>
        <p:sp>
          <p:nvSpPr>
            <p:cNvPr id="165" name="TextBox 165"/>
            <p:cNvSpPr txBox="1"/>
            <p:nvPr/>
          </p:nvSpPr>
          <p:spPr>
            <a:xfrm>
              <a:off x="9266498" y="1253490"/>
              <a:ext cx="648646" cy="352044"/>
            </a:xfrm>
            <a:prstGeom prst="rect">
              <a:avLst/>
            </a:prstGeom>
            <a:noFill/>
            <a:ln>
              <a:noFill/>
            </a:ln>
          </p:spPr>
          <p:txBody>
            <a:bodyPr wrap="none" lIns="0" tIns="0" rIns="0" bIns="0" anchor="t" anchorCtr="0">
              <a:spAutoFit/>
            </a:bodyPr>
            <a:lstStyle/>
            <a:p>
              <a:pPr algn="r"/>
              <a:r>
                <a:rPr lang="zh-CN" sz="1800" b="1" dirty="0">
                  <a:solidFill>
                    <a:srgbClr val="E04C2E"/>
                  </a:solidFill>
                  <a:latin typeface="+mn-lt"/>
                  <a:ea typeface="+mn-ea"/>
                  <a:cs typeface="+mn-cs"/>
                </a:rPr>
                <a:t>18</a:t>
              </a:r>
              <a:r>
                <a:rPr lang="zh-CN" sz="680" dirty="0">
                  <a:solidFill>
                    <a:srgbClr val="70504A"/>
                  </a:solidFill>
                  <a:latin typeface="+mn-lt"/>
                  <a:ea typeface="+mn-ea"/>
                  <a:cs typeface="+mn-cs"/>
                </a:rPr>
                <a:t xml:space="preserve"> 亿元</a:t>
              </a:r>
              <a:r>
                <a:rPr lang="zh-CN" sz="1800" b="1" dirty="0">
                  <a:solidFill>
                    <a:srgbClr val="E04C2E"/>
                  </a:solidFill>
                  <a:latin typeface="+mn-lt"/>
                  <a:ea typeface="+mn-ea"/>
                  <a:cs typeface="+mn-cs"/>
                </a:rPr>
                <a:t>​</a:t>
              </a:r>
            </a:p>
          </p:txBody>
        </p:sp>
        <p:sp>
          <p:nvSpPr>
            <p:cNvPr id="166" name="Rectangle 166"/>
            <p:cNvSpPr/>
            <p:nvPr/>
          </p:nvSpPr>
          <p:spPr>
            <a:xfrm>
              <a:off x="10058400" y="971550"/>
              <a:ext cx="1828800" cy="609600"/>
            </a:xfrm>
            <a:prstGeom prst="roundRect">
              <a:avLst>
                <a:gd name="adj" fmla="val 6250"/>
              </a:avLst>
            </a:prstGeom>
            <a:solidFill>
              <a:srgbClr val="F5F8FD"/>
            </a:solidFill>
            <a:ln w="9525">
              <a:solidFill>
                <a:srgbClr val="E3EAF5"/>
              </a:solidFill>
            </a:ln>
          </p:spPr>
        </p:sp>
        <p:grpSp>
          <p:nvGrpSpPr>
            <p:cNvPr id="169" name="Group 169"/>
            <p:cNvGrpSpPr/>
            <p:nvPr/>
          </p:nvGrpSpPr>
          <p:grpSpPr>
            <a:xfrm>
              <a:off x="10186988" y="1176338"/>
              <a:ext cx="200026" cy="200026"/>
              <a:chOff x="10186988" y="1176338"/>
              <a:chExt cx="200026" cy="200026"/>
            </a:xfrm>
          </p:grpSpPr>
          <p:sp>
            <p:nvSpPr>
              <p:cNvPr id="167" name="Freeform 167"/>
              <p:cNvSpPr/>
              <p:nvPr/>
            </p:nvSpPr>
            <p:spPr>
              <a:xfrm>
                <a:off x="10186988" y="11763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9E402E"/>
                </a:solidFill>
              </a:ln>
            </p:spPr>
          </p:sp>
          <p:sp>
            <p:nvSpPr>
              <p:cNvPr id="168" name="Freeform 168"/>
              <p:cNvSpPr/>
              <p:nvPr/>
            </p:nvSpPr>
            <p:spPr>
              <a:xfrm>
                <a:off x="10253663" y="1254125"/>
                <a:ext cx="66675" cy="44450"/>
              </a:xfrm>
              <a:custGeom>
                <a:avLst/>
                <a:gdLst/>
                <a:ahLst/>
                <a:cxnLst/>
                <a:rect l="l" t="t" r="r" b="b"/>
                <a:pathLst>
                  <a:path w="66675" h="44450">
                    <a:moveTo>
                      <a:pt x="0" y="22225"/>
                    </a:moveTo>
                    <a:lnTo>
                      <a:pt x="22225" y="44450"/>
                    </a:lnTo>
                    <a:lnTo>
                      <a:pt x="66675" y="0"/>
                    </a:lnTo>
                  </a:path>
                </a:pathLst>
              </a:custGeom>
              <a:noFill/>
              <a:ln w="22225">
                <a:solidFill>
                  <a:srgbClr val="9E402E"/>
                </a:solidFill>
              </a:ln>
            </p:spPr>
          </p:sp>
        </p:grpSp>
        <p:sp>
          <p:nvSpPr>
            <p:cNvPr id="170" name="TextBox 170"/>
            <p:cNvSpPr txBox="1"/>
            <p:nvPr/>
          </p:nvSpPr>
          <p:spPr>
            <a:xfrm>
              <a:off x="10510838" y="1062038"/>
              <a:ext cx="211455"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绿色</a:t>
              </a:r>
            </a:p>
          </p:txBody>
        </p:sp>
        <p:sp>
          <p:nvSpPr>
            <p:cNvPr id="171" name="TextBox 171"/>
            <p:cNvSpPr txBox="1"/>
            <p:nvPr/>
          </p:nvSpPr>
          <p:spPr>
            <a:xfrm>
              <a:off x="10510838" y="1194149"/>
              <a:ext cx="321843" cy="116205"/>
            </a:xfrm>
            <a:prstGeom prst="rect">
              <a:avLst/>
            </a:prstGeom>
            <a:noFill/>
            <a:ln>
              <a:noFill/>
            </a:ln>
          </p:spPr>
          <p:txBody>
            <a:bodyPr wrap="none" lIns="0" tIns="0" rIns="0" bIns="0" anchor="t" anchorCtr="0">
              <a:spAutoFit/>
            </a:bodyPr>
            <a:lstStyle/>
            <a:p>
              <a:pPr algn="l"/>
              <a:r>
                <a:rPr lang="zh-CN" sz="580" dirty="0">
                  <a:solidFill>
                    <a:srgbClr val="BEA09A"/>
                  </a:solidFill>
                  <a:latin typeface="+mn-lt"/>
                  <a:ea typeface="+mn-ea"/>
                  <a:cs typeface="+mn-cs"/>
                </a:rPr>
                <a:t>新增投放</a:t>
              </a:r>
            </a:p>
          </p:txBody>
        </p:sp>
        <p:sp>
          <p:nvSpPr>
            <p:cNvPr id="172" name="TextBox 172"/>
            <p:cNvSpPr txBox="1"/>
            <p:nvPr/>
          </p:nvSpPr>
          <p:spPr>
            <a:xfrm>
              <a:off x="11152448" y="1253490"/>
              <a:ext cx="648646" cy="352044"/>
            </a:xfrm>
            <a:prstGeom prst="rect">
              <a:avLst/>
            </a:prstGeom>
            <a:noFill/>
            <a:ln>
              <a:noFill/>
            </a:ln>
          </p:spPr>
          <p:txBody>
            <a:bodyPr wrap="none" lIns="0" tIns="0" rIns="0" bIns="0" anchor="t" anchorCtr="0">
              <a:spAutoFit/>
            </a:bodyPr>
            <a:lstStyle/>
            <a:p>
              <a:pPr algn="r"/>
              <a:r>
                <a:rPr lang="zh-CN" sz="1800" b="1" dirty="0">
                  <a:solidFill>
                    <a:srgbClr val="9E402E"/>
                  </a:solidFill>
                  <a:latin typeface="+mn-lt"/>
                  <a:ea typeface="+mn-ea"/>
                  <a:cs typeface="+mn-cs"/>
                </a:rPr>
                <a:t>12</a:t>
              </a:r>
              <a:r>
                <a:rPr lang="zh-CN" sz="680" dirty="0">
                  <a:solidFill>
                    <a:srgbClr val="70504A"/>
                  </a:solidFill>
                  <a:latin typeface="+mn-lt"/>
                  <a:ea typeface="+mn-ea"/>
                  <a:cs typeface="+mn-cs"/>
                </a:rPr>
                <a:t xml:space="preserve"> 亿元</a:t>
              </a:r>
              <a:r>
                <a:rPr lang="zh-CN" sz="1800" b="1" dirty="0">
                  <a:solidFill>
                    <a:srgbClr val="9E402E"/>
                  </a:solidFill>
                  <a:latin typeface="+mn-lt"/>
                  <a:ea typeface="+mn-ea"/>
                  <a:cs typeface="+mn-cs"/>
                </a:rPr>
                <a:t>​</a:t>
              </a:r>
            </a:p>
          </p:txBody>
        </p:sp>
        <p:sp>
          <p:nvSpPr>
            <p:cNvPr id="173" name="Rectangle 173"/>
            <p:cNvSpPr/>
            <p:nvPr/>
          </p:nvSpPr>
          <p:spPr>
            <a:xfrm>
              <a:off x="8172450" y="1657350"/>
              <a:ext cx="1828800" cy="609600"/>
            </a:xfrm>
            <a:prstGeom prst="roundRect">
              <a:avLst>
                <a:gd name="adj" fmla="val 6250"/>
              </a:avLst>
            </a:prstGeom>
            <a:solidFill>
              <a:srgbClr val="F5F8FD"/>
            </a:solidFill>
            <a:ln w="9525">
              <a:solidFill>
                <a:srgbClr val="E3EAF5"/>
              </a:solidFill>
            </a:ln>
          </p:spPr>
        </p:sp>
        <p:grpSp>
          <p:nvGrpSpPr>
            <p:cNvPr id="177" name="Group 177"/>
            <p:cNvGrpSpPr/>
            <p:nvPr/>
          </p:nvGrpSpPr>
          <p:grpSpPr>
            <a:xfrm>
              <a:off x="8308640" y="1873250"/>
              <a:ext cx="181311" cy="181310"/>
              <a:chOff x="8308640" y="1873250"/>
              <a:chExt cx="181311" cy="181310"/>
            </a:xfrm>
          </p:grpSpPr>
          <p:sp>
            <p:nvSpPr>
              <p:cNvPr id="174" name="Freeform 174"/>
              <p:cNvSpPr/>
              <p:nvPr/>
            </p:nvSpPr>
            <p:spPr>
              <a:xfrm>
                <a:off x="8312150" y="1873250"/>
                <a:ext cx="177801" cy="177801"/>
              </a:xfrm>
              <a:custGeom>
                <a:avLst/>
                <a:gdLst/>
                <a:ahLst/>
                <a:cxnLst/>
                <a:rect l="l" t="t" r="r" b="b"/>
                <a:pathLst>
                  <a:path w="177801" h="177801">
                    <a:moveTo>
                      <a:pt x="0" y="100013"/>
                    </a:moveTo>
                    <a:cubicBezTo>
                      <a:pt x="40785" y="104860"/>
                      <a:pt x="72941" y="137015"/>
                      <a:pt x="77788" y="177801"/>
                    </a:cubicBezTo>
                    <a:cubicBezTo>
                      <a:pt x="97758" y="166288"/>
                      <a:pt x="110364" y="145276"/>
                      <a:pt x="111125" y="122238"/>
                    </a:cubicBezTo>
                    <a:cubicBezTo>
                      <a:pt x="149283" y="108814"/>
                      <a:pt x="175598" y="73728"/>
                      <a:pt x="177801" y="33338"/>
                    </a:cubicBezTo>
                    <a:cubicBezTo>
                      <a:pt x="177801" y="14926"/>
                      <a:pt x="162875" y="0"/>
                      <a:pt x="144463" y="0"/>
                    </a:cubicBezTo>
                    <a:cubicBezTo>
                      <a:pt x="104073" y="2202"/>
                      <a:pt x="68986" y="28517"/>
                      <a:pt x="55563" y="66675"/>
                    </a:cubicBezTo>
                    <a:cubicBezTo>
                      <a:pt x="32524" y="67436"/>
                      <a:pt x="11513" y="80043"/>
                      <a:pt x="0" y="100013"/>
                    </a:cubicBezTo>
                  </a:path>
                </a:pathLst>
              </a:custGeom>
              <a:noFill/>
              <a:ln w="22225">
                <a:solidFill>
                  <a:srgbClr val="C7644F"/>
                </a:solidFill>
              </a:ln>
            </p:spPr>
          </p:sp>
          <p:sp>
            <p:nvSpPr>
              <p:cNvPr id="175" name="Freeform 175"/>
              <p:cNvSpPr/>
              <p:nvPr/>
            </p:nvSpPr>
            <p:spPr>
              <a:xfrm>
                <a:off x="8308640" y="1984375"/>
                <a:ext cx="70185" cy="70185"/>
              </a:xfrm>
              <a:custGeom>
                <a:avLst/>
                <a:gdLst/>
                <a:ahLst/>
                <a:cxnLst/>
                <a:rect l="l" t="t" r="r" b="b"/>
                <a:pathLst>
                  <a:path w="70185" h="70185">
                    <a:moveTo>
                      <a:pt x="36848" y="0"/>
                    </a:moveTo>
                    <a:cubicBezTo>
                      <a:pt x="13188" y="13357"/>
                      <a:pt x="0" y="39734"/>
                      <a:pt x="3510" y="66675"/>
                    </a:cubicBezTo>
                    <a:cubicBezTo>
                      <a:pt x="30452" y="70185"/>
                      <a:pt x="56828" y="56997"/>
                      <a:pt x="70185" y="33338"/>
                    </a:cubicBezTo>
                  </a:path>
                </a:pathLst>
              </a:custGeom>
              <a:noFill/>
              <a:ln w="22225">
                <a:solidFill>
                  <a:srgbClr val="C7644F"/>
                </a:solidFill>
              </a:ln>
            </p:spPr>
          </p:sp>
          <p:sp>
            <p:nvSpPr>
              <p:cNvPr id="176" name="Freeform 176"/>
              <p:cNvSpPr/>
              <p:nvPr/>
            </p:nvSpPr>
            <p:spPr>
              <a:xfrm>
                <a:off x="8423275" y="1917700"/>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C7644F"/>
                </a:solidFill>
              </a:ln>
            </p:spPr>
          </p:sp>
        </p:grpSp>
        <p:sp>
          <p:nvSpPr>
            <p:cNvPr id="178" name="TextBox 178"/>
            <p:cNvSpPr txBox="1"/>
            <p:nvPr/>
          </p:nvSpPr>
          <p:spPr>
            <a:xfrm>
              <a:off x="8624888" y="1747838"/>
              <a:ext cx="211455"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科技</a:t>
              </a:r>
            </a:p>
          </p:txBody>
        </p:sp>
        <p:sp>
          <p:nvSpPr>
            <p:cNvPr id="179" name="TextBox 179"/>
            <p:cNvSpPr txBox="1"/>
            <p:nvPr/>
          </p:nvSpPr>
          <p:spPr>
            <a:xfrm>
              <a:off x="8624888" y="1879949"/>
              <a:ext cx="321843" cy="116205"/>
            </a:xfrm>
            <a:prstGeom prst="rect">
              <a:avLst/>
            </a:prstGeom>
            <a:noFill/>
            <a:ln>
              <a:noFill/>
            </a:ln>
          </p:spPr>
          <p:txBody>
            <a:bodyPr wrap="none" lIns="0" tIns="0" rIns="0" bIns="0" anchor="t" anchorCtr="0">
              <a:spAutoFit/>
            </a:bodyPr>
            <a:lstStyle/>
            <a:p>
              <a:pPr algn="l"/>
              <a:r>
                <a:rPr lang="zh-CN" sz="580" dirty="0">
                  <a:solidFill>
                    <a:srgbClr val="BEA09A"/>
                  </a:solidFill>
                  <a:latin typeface="+mn-lt"/>
                  <a:ea typeface="+mn-ea"/>
                  <a:cs typeface="+mn-cs"/>
                </a:rPr>
                <a:t>新增投放</a:t>
              </a:r>
            </a:p>
          </p:txBody>
        </p:sp>
        <p:sp>
          <p:nvSpPr>
            <p:cNvPr id="180" name="TextBox 180"/>
            <p:cNvSpPr txBox="1"/>
            <p:nvPr/>
          </p:nvSpPr>
          <p:spPr>
            <a:xfrm>
              <a:off x="9266498" y="1939290"/>
              <a:ext cx="648646" cy="352044"/>
            </a:xfrm>
            <a:prstGeom prst="rect">
              <a:avLst/>
            </a:prstGeom>
            <a:noFill/>
            <a:ln>
              <a:noFill/>
            </a:ln>
          </p:spPr>
          <p:txBody>
            <a:bodyPr wrap="none" lIns="0" tIns="0" rIns="0" bIns="0" anchor="t" anchorCtr="0">
              <a:spAutoFit/>
            </a:bodyPr>
            <a:lstStyle/>
            <a:p>
              <a:pPr algn="r"/>
              <a:r>
                <a:rPr lang="zh-CN" sz="1800" b="1" dirty="0">
                  <a:solidFill>
                    <a:srgbClr val="C7644F"/>
                  </a:solidFill>
                  <a:latin typeface="+mn-lt"/>
                  <a:ea typeface="+mn-ea"/>
                  <a:cs typeface="+mn-cs"/>
                </a:rPr>
                <a:t>10</a:t>
              </a:r>
              <a:r>
                <a:rPr lang="zh-CN" sz="680" dirty="0">
                  <a:solidFill>
                    <a:srgbClr val="70504A"/>
                  </a:solidFill>
                  <a:latin typeface="+mn-lt"/>
                  <a:ea typeface="+mn-ea"/>
                  <a:cs typeface="+mn-cs"/>
                </a:rPr>
                <a:t xml:space="preserve"> 亿元</a:t>
              </a:r>
              <a:r>
                <a:rPr lang="zh-CN" sz="1800" b="1" dirty="0">
                  <a:solidFill>
                    <a:srgbClr val="C7644F"/>
                  </a:solidFill>
                  <a:latin typeface="+mn-lt"/>
                  <a:ea typeface="+mn-ea"/>
                  <a:cs typeface="+mn-cs"/>
                </a:rPr>
                <a:t>​</a:t>
              </a:r>
            </a:p>
          </p:txBody>
        </p:sp>
        <p:sp>
          <p:nvSpPr>
            <p:cNvPr id="181" name="Rectangle 181"/>
            <p:cNvSpPr/>
            <p:nvPr/>
          </p:nvSpPr>
          <p:spPr>
            <a:xfrm>
              <a:off x="10058400" y="1657350"/>
              <a:ext cx="1828800" cy="609600"/>
            </a:xfrm>
            <a:prstGeom prst="roundRect">
              <a:avLst>
                <a:gd name="adj" fmla="val 6250"/>
              </a:avLst>
            </a:prstGeom>
            <a:solidFill>
              <a:srgbClr val="F5F8FD"/>
            </a:solidFill>
            <a:ln w="9525">
              <a:solidFill>
                <a:srgbClr val="E3EAF5"/>
              </a:solidFill>
            </a:ln>
          </p:spPr>
        </p:sp>
        <p:grpSp>
          <p:nvGrpSpPr>
            <p:cNvPr id="188" name="Group 188"/>
            <p:cNvGrpSpPr/>
            <p:nvPr/>
          </p:nvGrpSpPr>
          <p:grpSpPr>
            <a:xfrm>
              <a:off x="10186988" y="1862138"/>
              <a:ext cx="200025" cy="200026"/>
              <a:chOff x="10186988" y="1862138"/>
              <a:chExt cx="200025" cy="200026"/>
            </a:xfrm>
          </p:grpSpPr>
          <p:sp>
            <p:nvSpPr>
              <p:cNvPr id="182" name="Freeform 182"/>
              <p:cNvSpPr/>
              <p:nvPr/>
            </p:nvSpPr>
            <p:spPr>
              <a:xfrm>
                <a:off x="10264775" y="19510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E82D0C"/>
                </a:solidFill>
              </a:ln>
            </p:spPr>
          </p:sp>
          <p:sp>
            <p:nvSpPr>
              <p:cNvPr id="183" name="Freeform 183"/>
              <p:cNvSpPr/>
              <p:nvPr/>
            </p:nvSpPr>
            <p:spPr>
              <a:xfrm>
                <a:off x="10242550" y="202882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E82D0C"/>
                </a:solidFill>
              </a:ln>
            </p:spPr>
          </p:sp>
          <p:sp>
            <p:nvSpPr>
              <p:cNvPr id="184" name="Freeform 184"/>
              <p:cNvSpPr/>
              <p:nvPr/>
            </p:nvSpPr>
            <p:spPr>
              <a:xfrm>
                <a:off x="10320338" y="18621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E82D0C"/>
                </a:solidFill>
              </a:ln>
            </p:spPr>
          </p:sp>
          <p:sp>
            <p:nvSpPr>
              <p:cNvPr id="185" name="Freeform 185"/>
              <p:cNvSpPr/>
              <p:nvPr/>
            </p:nvSpPr>
            <p:spPr>
              <a:xfrm>
                <a:off x="10342563" y="193992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E82D0C"/>
                </a:solidFill>
              </a:ln>
            </p:spPr>
          </p:sp>
          <p:sp>
            <p:nvSpPr>
              <p:cNvPr id="186" name="Freeform 186"/>
              <p:cNvSpPr/>
              <p:nvPr/>
            </p:nvSpPr>
            <p:spPr>
              <a:xfrm>
                <a:off x="10209213" y="18621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E82D0C"/>
                </a:solidFill>
              </a:ln>
            </p:spPr>
          </p:sp>
          <p:sp>
            <p:nvSpPr>
              <p:cNvPr id="187" name="Freeform 187"/>
              <p:cNvSpPr/>
              <p:nvPr/>
            </p:nvSpPr>
            <p:spPr>
              <a:xfrm>
                <a:off x="10186988" y="193992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E82D0C"/>
                </a:solidFill>
              </a:ln>
            </p:spPr>
          </p:sp>
        </p:grpSp>
        <p:sp>
          <p:nvSpPr>
            <p:cNvPr id="189" name="TextBox 189"/>
            <p:cNvSpPr txBox="1"/>
            <p:nvPr/>
          </p:nvSpPr>
          <p:spPr>
            <a:xfrm>
              <a:off x="10510838" y="1747838"/>
              <a:ext cx="211455"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普惠</a:t>
              </a:r>
            </a:p>
          </p:txBody>
        </p:sp>
        <p:sp>
          <p:nvSpPr>
            <p:cNvPr id="190" name="TextBox 190"/>
            <p:cNvSpPr txBox="1"/>
            <p:nvPr/>
          </p:nvSpPr>
          <p:spPr>
            <a:xfrm>
              <a:off x="10510838" y="1879949"/>
              <a:ext cx="321843" cy="116205"/>
            </a:xfrm>
            <a:prstGeom prst="rect">
              <a:avLst/>
            </a:prstGeom>
            <a:noFill/>
            <a:ln>
              <a:noFill/>
            </a:ln>
          </p:spPr>
          <p:txBody>
            <a:bodyPr wrap="none" lIns="0" tIns="0" rIns="0" bIns="0" anchor="t" anchorCtr="0">
              <a:spAutoFit/>
            </a:bodyPr>
            <a:lstStyle/>
            <a:p>
              <a:pPr algn="l"/>
              <a:r>
                <a:rPr lang="zh-CN" sz="580" dirty="0">
                  <a:solidFill>
                    <a:srgbClr val="BEA09A"/>
                  </a:solidFill>
                  <a:latin typeface="+mn-lt"/>
                  <a:ea typeface="+mn-ea"/>
                  <a:cs typeface="+mn-cs"/>
                </a:rPr>
                <a:t>新增投放</a:t>
              </a:r>
            </a:p>
          </p:txBody>
        </p:sp>
        <p:sp>
          <p:nvSpPr>
            <p:cNvPr id="191" name="TextBox 191"/>
            <p:cNvSpPr txBox="1"/>
            <p:nvPr/>
          </p:nvSpPr>
          <p:spPr>
            <a:xfrm>
              <a:off x="11292385" y="1939290"/>
              <a:ext cx="508709" cy="352044"/>
            </a:xfrm>
            <a:prstGeom prst="rect">
              <a:avLst/>
            </a:prstGeom>
            <a:noFill/>
            <a:ln>
              <a:noFill/>
            </a:ln>
          </p:spPr>
          <p:txBody>
            <a:bodyPr wrap="none" lIns="0" tIns="0" rIns="0" bIns="0" anchor="t" anchorCtr="0">
              <a:spAutoFit/>
            </a:bodyPr>
            <a:lstStyle/>
            <a:p>
              <a:pPr algn="r"/>
              <a:r>
                <a:rPr lang="zh-CN" sz="1800" b="1" dirty="0">
                  <a:solidFill>
                    <a:srgbClr val="E82D0C"/>
                  </a:solidFill>
                  <a:latin typeface="+mn-lt"/>
                  <a:ea typeface="+mn-ea"/>
                  <a:cs typeface="+mn-cs"/>
                </a:rPr>
                <a:t>6</a:t>
              </a:r>
              <a:r>
                <a:rPr lang="zh-CN" sz="680" dirty="0">
                  <a:solidFill>
                    <a:srgbClr val="70504A"/>
                  </a:solidFill>
                  <a:latin typeface="+mn-lt"/>
                  <a:ea typeface="+mn-ea"/>
                  <a:cs typeface="+mn-cs"/>
                </a:rPr>
                <a:t xml:space="preserve"> 亿元</a:t>
              </a:r>
              <a:r>
                <a:rPr lang="zh-CN" sz="1800" b="1" dirty="0">
                  <a:solidFill>
                    <a:srgbClr val="E82D0C"/>
                  </a:solidFill>
                  <a:latin typeface="+mn-lt"/>
                  <a:ea typeface="+mn-ea"/>
                  <a:cs typeface="+mn-cs"/>
                </a:rPr>
                <a:t>​</a:t>
              </a:r>
            </a:p>
          </p:txBody>
        </p:sp>
      </p:grpSp>
      <p:grpSp>
        <p:nvGrpSpPr>
          <p:cNvPr id="249" name="credit-plus"/>
          <p:cNvGrpSpPr/>
          <p:nvPr/>
        </p:nvGrpSpPr>
        <p:grpSpPr>
          <a:xfrm>
            <a:off x="8077200" y="2438400"/>
            <a:ext cx="3886200" cy="2038350"/>
            <a:chOff x="8077200" y="2438400"/>
            <a:chExt cx="3886200" cy="2038350"/>
          </a:xfrm>
        </p:grpSpPr>
        <p:sp>
          <p:nvSpPr>
            <p:cNvPr id="193" name="Rectangle 193"/>
            <p:cNvSpPr/>
            <p:nvPr/>
          </p:nvSpPr>
          <p:spPr>
            <a:xfrm>
              <a:off x="8077200" y="2438400"/>
              <a:ext cx="3886200" cy="2038350"/>
            </a:xfrm>
            <a:prstGeom prst="roundRect">
              <a:avLst>
                <a:gd name="adj" fmla="val 2804"/>
              </a:avLst>
            </a:prstGeom>
            <a:solidFill>
              <a:srgbClr val="FFFFFF"/>
            </a:solidFill>
            <a:ln w="9525">
              <a:solidFill>
                <a:srgbClr val="C9D6E9"/>
              </a:solidFill>
            </a:ln>
          </p:spPr>
        </p:sp>
        <p:sp>
          <p:nvSpPr>
            <p:cNvPr id="194" name="Rectangle 194"/>
            <p:cNvSpPr/>
            <p:nvPr/>
          </p:nvSpPr>
          <p:spPr>
            <a:xfrm>
              <a:off x="8077200" y="2438400"/>
              <a:ext cx="3886200" cy="209550"/>
            </a:xfrm>
            <a:prstGeom prst="roundRect">
              <a:avLst>
                <a:gd name="adj" fmla="val 27273"/>
              </a:avLst>
            </a:prstGeom>
            <a:solidFill>
              <a:srgbClr val="69281B"/>
            </a:solidFill>
            <a:ln>
              <a:noFill/>
            </a:ln>
          </p:spPr>
        </p:sp>
        <p:sp>
          <p:nvSpPr>
            <p:cNvPr id="195" name="Rectangle 195"/>
            <p:cNvSpPr/>
            <p:nvPr/>
          </p:nvSpPr>
          <p:spPr>
            <a:xfrm>
              <a:off x="8077200" y="2552700"/>
              <a:ext cx="3886200" cy="95250"/>
            </a:xfrm>
            <a:prstGeom prst="rect">
              <a:avLst/>
            </a:prstGeom>
            <a:solidFill>
              <a:srgbClr val="69281B"/>
            </a:solidFill>
            <a:ln>
              <a:noFill/>
            </a:ln>
          </p:spPr>
        </p:sp>
        <p:sp>
          <p:nvSpPr>
            <p:cNvPr id="196" name="TextBox 196"/>
            <p:cNvSpPr txBox="1"/>
            <p:nvPr/>
          </p:nvSpPr>
          <p:spPr>
            <a:xfrm>
              <a:off x="9478360" y="2492216"/>
              <a:ext cx="108388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“信贷+”综合服务矩阵</a:t>
              </a:r>
            </a:p>
          </p:txBody>
        </p:sp>
        <p:sp>
          <p:nvSpPr>
            <p:cNvPr id="197" name="Rectangle 197"/>
            <p:cNvSpPr/>
            <p:nvPr/>
          </p:nvSpPr>
          <p:spPr>
            <a:xfrm>
              <a:off x="8191500" y="2743200"/>
              <a:ext cx="571500" cy="533400"/>
            </a:xfrm>
            <a:prstGeom prst="roundRect">
              <a:avLst>
                <a:gd name="adj" fmla="val 7143"/>
              </a:avLst>
            </a:prstGeom>
            <a:solidFill>
              <a:srgbClr val="F5F8FD"/>
            </a:solidFill>
            <a:ln w="9525">
              <a:solidFill>
                <a:srgbClr val="E3EAF5"/>
              </a:solidFill>
            </a:ln>
          </p:spPr>
        </p:sp>
        <p:grpSp>
          <p:nvGrpSpPr>
            <p:cNvPr id="201" name="Group 201"/>
            <p:cNvGrpSpPr/>
            <p:nvPr/>
          </p:nvGrpSpPr>
          <p:grpSpPr>
            <a:xfrm>
              <a:off x="8398669" y="2844006"/>
              <a:ext cx="157163" cy="122238"/>
              <a:chOff x="8398669" y="2844006"/>
              <a:chExt cx="157163" cy="122238"/>
            </a:xfrm>
          </p:grpSpPr>
          <p:sp>
            <p:nvSpPr>
              <p:cNvPr id="198" name="Freeform 198"/>
              <p:cNvSpPr/>
              <p:nvPr/>
            </p:nvSpPr>
            <p:spPr>
              <a:xfrm>
                <a:off x="8398669" y="2844006"/>
                <a:ext cx="122238" cy="87313"/>
              </a:xfrm>
              <a:custGeom>
                <a:avLst/>
                <a:gdLst/>
                <a:ahLst/>
                <a:cxnLst/>
                <a:rect l="l" t="t" r="r" b="b"/>
                <a:pathLst>
                  <a:path w="122238" h="87313">
                    <a:moveTo>
                      <a:pt x="34925" y="87313"/>
                    </a:moveTo>
                    <a:lnTo>
                      <a:pt x="8731" y="87313"/>
                    </a:lnTo>
                    <a:cubicBezTo>
                      <a:pt x="3909" y="87313"/>
                      <a:pt x="0" y="83403"/>
                      <a:pt x="0" y="78581"/>
                    </a:cubicBezTo>
                    <a:lnTo>
                      <a:pt x="0" y="8731"/>
                    </a:lnTo>
                    <a:cubicBezTo>
                      <a:pt x="0" y="3909"/>
                      <a:pt x="3909" y="0"/>
                      <a:pt x="8731" y="0"/>
                    </a:cubicBezTo>
                    <a:lnTo>
                      <a:pt x="113506" y="0"/>
                    </a:lnTo>
                    <a:cubicBezTo>
                      <a:pt x="118328" y="0"/>
                      <a:pt x="122238" y="3909"/>
                      <a:pt x="122238" y="8731"/>
                    </a:cubicBezTo>
                    <a:lnTo>
                      <a:pt x="122238" y="34925"/>
                    </a:lnTo>
                  </a:path>
                </a:pathLst>
              </a:custGeom>
              <a:noFill/>
              <a:ln w="17463">
                <a:solidFill>
                  <a:srgbClr val="69281B"/>
                </a:solidFill>
              </a:ln>
            </p:spPr>
          </p:sp>
          <p:sp>
            <p:nvSpPr>
              <p:cNvPr id="199" name="Freeform 199"/>
              <p:cNvSpPr/>
              <p:nvPr/>
            </p:nvSpPr>
            <p:spPr>
              <a:xfrm>
                <a:off x="8433594" y="2878931"/>
                <a:ext cx="122238" cy="87313"/>
              </a:xfrm>
              <a:custGeom>
                <a:avLst/>
                <a:gdLst/>
                <a:ahLst/>
                <a:cxnLst/>
                <a:rect l="l" t="t" r="r" b="b"/>
                <a:pathLst>
                  <a:path w="122238" h="87313">
                    <a:moveTo>
                      <a:pt x="0" y="8731"/>
                    </a:moveTo>
                    <a:cubicBezTo>
                      <a:pt x="0" y="3909"/>
                      <a:pt x="3909" y="0"/>
                      <a:pt x="8731" y="0"/>
                    </a:cubicBezTo>
                    <a:lnTo>
                      <a:pt x="113506" y="0"/>
                    </a:lnTo>
                    <a:cubicBezTo>
                      <a:pt x="118328" y="0"/>
                      <a:pt x="122238" y="3909"/>
                      <a:pt x="122238" y="8731"/>
                    </a:cubicBezTo>
                    <a:lnTo>
                      <a:pt x="122238" y="78581"/>
                    </a:lnTo>
                    <a:cubicBezTo>
                      <a:pt x="122238" y="83403"/>
                      <a:pt x="118328" y="87313"/>
                      <a:pt x="113506" y="87313"/>
                    </a:cubicBezTo>
                    <a:lnTo>
                      <a:pt x="8731" y="87313"/>
                    </a:lnTo>
                    <a:cubicBezTo>
                      <a:pt x="3909" y="87313"/>
                      <a:pt x="0" y="83403"/>
                      <a:pt x="0" y="78581"/>
                    </a:cubicBezTo>
                    <a:lnTo>
                      <a:pt x="0" y="8731"/>
                    </a:lnTo>
                  </a:path>
                </a:pathLst>
              </a:custGeom>
              <a:noFill/>
              <a:ln w="17463">
                <a:solidFill>
                  <a:srgbClr val="69281B"/>
                </a:solidFill>
              </a:ln>
            </p:spPr>
          </p:sp>
          <p:sp>
            <p:nvSpPr>
              <p:cNvPr id="200" name="Freeform 200"/>
              <p:cNvSpPr/>
              <p:nvPr/>
            </p:nvSpPr>
            <p:spPr>
              <a:xfrm>
                <a:off x="8477250" y="2905125"/>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69281B"/>
                </a:solidFill>
              </a:ln>
            </p:spPr>
          </p:sp>
        </p:grpSp>
        <p:sp>
          <p:nvSpPr>
            <p:cNvPr id="202" name="TextBox 202"/>
            <p:cNvSpPr txBox="1"/>
            <p:nvPr/>
          </p:nvSpPr>
          <p:spPr>
            <a:xfrm>
              <a:off x="8380946" y="3108484"/>
              <a:ext cx="192608"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贷款</a:t>
              </a:r>
            </a:p>
          </p:txBody>
        </p:sp>
        <p:sp>
          <p:nvSpPr>
            <p:cNvPr id="203" name="Rectangle 203"/>
            <p:cNvSpPr/>
            <p:nvPr/>
          </p:nvSpPr>
          <p:spPr>
            <a:xfrm>
              <a:off x="8801100" y="2743200"/>
              <a:ext cx="571500" cy="533400"/>
            </a:xfrm>
            <a:prstGeom prst="roundRect">
              <a:avLst>
                <a:gd name="adj" fmla="val 7143"/>
              </a:avLst>
            </a:prstGeom>
            <a:solidFill>
              <a:srgbClr val="F5F8FD"/>
            </a:solidFill>
            <a:ln w="9525">
              <a:solidFill>
                <a:srgbClr val="E3EAF5"/>
              </a:solidFill>
            </a:ln>
          </p:spPr>
        </p:sp>
        <p:grpSp>
          <p:nvGrpSpPr>
            <p:cNvPr id="206" name="Group 206"/>
            <p:cNvGrpSpPr/>
            <p:nvPr/>
          </p:nvGrpSpPr>
          <p:grpSpPr>
            <a:xfrm>
              <a:off x="9017000" y="2852738"/>
              <a:ext cx="139700" cy="123031"/>
              <a:chOff x="9017000" y="2852738"/>
              <a:chExt cx="139700" cy="123031"/>
            </a:xfrm>
          </p:grpSpPr>
          <p:sp>
            <p:nvSpPr>
              <p:cNvPr id="204" name="Freeform 204"/>
              <p:cNvSpPr/>
              <p:nvPr/>
            </p:nvSpPr>
            <p:spPr>
              <a:xfrm>
                <a:off x="9017000" y="2966244"/>
                <a:ext cx="139700" cy="9525"/>
              </a:xfrm>
              <a:custGeom>
                <a:avLst/>
                <a:gdLst/>
                <a:ahLst/>
                <a:cxnLst/>
                <a:rect l="l" t="t" r="r" b="b"/>
                <a:pathLst>
                  <a:path w="139700" h="9525">
                    <a:moveTo>
                      <a:pt x="0" y="0"/>
                    </a:moveTo>
                    <a:lnTo>
                      <a:pt x="139700" y="0"/>
                    </a:lnTo>
                  </a:path>
                </a:pathLst>
              </a:custGeom>
              <a:noFill/>
              <a:ln w="17463">
                <a:solidFill>
                  <a:srgbClr val="69281B"/>
                </a:solidFill>
              </a:ln>
            </p:spPr>
          </p:sp>
          <p:sp>
            <p:nvSpPr>
              <p:cNvPr id="205" name="Freeform 205"/>
              <p:cNvSpPr/>
              <p:nvPr/>
            </p:nvSpPr>
            <p:spPr>
              <a:xfrm>
                <a:off x="9017000" y="2852738"/>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7463">
                <a:solidFill>
                  <a:srgbClr val="69281B"/>
                </a:solidFill>
              </a:ln>
            </p:spPr>
          </p:sp>
        </p:grpSp>
        <p:sp>
          <p:nvSpPr>
            <p:cNvPr id="207" name="TextBox 207"/>
            <p:cNvSpPr txBox="1"/>
            <p:nvPr/>
          </p:nvSpPr>
          <p:spPr>
            <a:xfrm>
              <a:off x="8990546" y="3108484"/>
              <a:ext cx="192608"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投行</a:t>
              </a:r>
            </a:p>
          </p:txBody>
        </p:sp>
        <p:sp>
          <p:nvSpPr>
            <p:cNvPr id="208" name="Rectangle 208"/>
            <p:cNvSpPr/>
            <p:nvPr/>
          </p:nvSpPr>
          <p:spPr>
            <a:xfrm>
              <a:off x="9410700" y="2743200"/>
              <a:ext cx="571500" cy="533400"/>
            </a:xfrm>
            <a:prstGeom prst="roundRect">
              <a:avLst>
                <a:gd name="adj" fmla="val 7143"/>
              </a:avLst>
            </a:prstGeom>
            <a:solidFill>
              <a:srgbClr val="F5F8FD"/>
            </a:solidFill>
            <a:ln w="9525">
              <a:solidFill>
                <a:srgbClr val="E3EAF5"/>
              </a:solidFill>
            </a:ln>
          </p:spPr>
        </p:sp>
        <p:grpSp>
          <p:nvGrpSpPr>
            <p:cNvPr id="212" name="Group 212"/>
            <p:cNvGrpSpPr/>
            <p:nvPr/>
          </p:nvGrpSpPr>
          <p:grpSpPr>
            <a:xfrm>
              <a:off x="9635331" y="2826544"/>
              <a:ext cx="122238" cy="157162"/>
              <a:chOff x="9635331" y="2826544"/>
              <a:chExt cx="122238" cy="157162"/>
            </a:xfrm>
          </p:grpSpPr>
          <p:sp>
            <p:nvSpPr>
              <p:cNvPr id="209" name="Freeform 209"/>
              <p:cNvSpPr/>
              <p:nvPr/>
            </p:nvSpPr>
            <p:spPr>
              <a:xfrm>
                <a:off x="9635331" y="2878931"/>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69281B"/>
                </a:solidFill>
              </a:ln>
            </p:spPr>
          </p:sp>
          <p:sp>
            <p:nvSpPr>
              <p:cNvPr id="210" name="Freeform 210"/>
              <p:cNvSpPr/>
              <p:nvPr/>
            </p:nvSpPr>
            <p:spPr>
              <a:xfrm>
                <a:off x="9696450" y="2826544"/>
                <a:ext cx="9525" cy="96044"/>
              </a:xfrm>
              <a:custGeom>
                <a:avLst/>
                <a:gdLst/>
                <a:ahLst/>
                <a:cxnLst/>
                <a:rect l="l" t="t" r="r" b="b"/>
                <a:pathLst>
                  <a:path w="9525" h="96044">
                    <a:moveTo>
                      <a:pt x="0" y="96044"/>
                    </a:moveTo>
                    <a:lnTo>
                      <a:pt x="0" y="0"/>
                    </a:lnTo>
                  </a:path>
                </a:pathLst>
              </a:custGeom>
              <a:noFill/>
              <a:ln w="17463">
                <a:solidFill>
                  <a:srgbClr val="69281B"/>
                </a:solidFill>
              </a:ln>
            </p:spPr>
          </p:sp>
          <p:sp>
            <p:nvSpPr>
              <p:cNvPr id="211" name="Freeform 211"/>
              <p:cNvSpPr/>
              <p:nvPr/>
            </p:nvSpPr>
            <p:spPr>
              <a:xfrm>
                <a:off x="9670256" y="2826544"/>
                <a:ext cx="52388" cy="26194"/>
              </a:xfrm>
              <a:custGeom>
                <a:avLst/>
                <a:gdLst/>
                <a:ahLst/>
                <a:cxnLst/>
                <a:rect l="l" t="t" r="r" b="b"/>
                <a:pathLst>
                  <a:path w="52388" h="26194">
                    <a:moveTo>
                      <a:pt x="0" y="26194"/>
                    </a:moveTo>
                    <a:lnTo>
                      <a:pt x="26194" y="0"/>
                    </a:lnTo>
                    <a:lnTo>
                      <a:pt x="52388" y="26194"/>
                    </a:lnTo>
                  </a:path>
                </a:pathLst>
              </a:custGeom>
              <a:noFill/>
              <a:ln w="17463">
                <a:solidFill>
                  <a:srgbClr val="69281B"/>
                </a:solidFill>
              </a:ln>
            </p:spPr>
          </p:sp>
        </p:grpSp>
        <p:sp>
          <p:nvSpPr>
            <p:cNvPr id="213" name="TextBox 213"/>
            <p:cNvSpPr txBox="1"/>
            <p:nvPr/>
          </p:nvSpPr>
          <p:spPr>
            <a:xfrm>
              <a:off x="9600146" y="3108484"/>
              <a:ext cx="192608"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国际</a:t>
              </a:r>
            </a:p>
          </p:txBody>
        </p:sp>
        <p:sp>
          <p:nvSpPr>
            <p:cNvPr id="214" name="Rectangle 214"/>
            <p:cNvSpPr/>
            <p:nvPr/>
          </p:nvSpPr>
          <p:spPr>
            <a:xfrm>
              <a:off x="10020300" y="2743200"/>
              <a:ext cx="571500" cy="533400"/>
            </a:xfrm>
            <a:prstGeom prst="roundRect">
              <a:avLst>
                <a:gd name="adj" fmla="val 7143"/>
              </a:avLst>
            </a:prstGeom>
            <a:solidFill>
              <a:srgbClr val="F5F8FD"/>
            </a:solidFill>
            <a:ln w="9525">
              <a:solidFill>
                <a:srgbClr val="E3EAF5"/>
              </a:solidFill>
            </a:ln>
          </p:spPr>
        </p:sp>
        <p:grpSp>
          <p:nvGrpSpPr>
            <p:cNvPr id="219" name="Group 219"/>
            <p:cNvGrpSpPr/>
            <p:nvPr/>
          </p:nvGrpSpPr>
          <p:grpSpPr>
            <a:xfrm>
              <a:off x="10227469" y="2844006"/>
              <a:ext cx="157163" cy="122238"/>
              <a:chOff x="10227469" y="2844006"/>
              <a:chExt cx="157163" cy="122238"/>
            </a:xfrm>
          </p:grpSpPr>
          <p:sp>
            <p:nvSpPr>
              <p:cNvPr id="215" name="Freeform 215"/>
              <p:cNvSpPr/>
              <p:nvPr/>
            </p:nvSpPr>
            <p:spPr>
              <a:xfrm>
                <a:off x="10227469" y="2844006"/>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7463">
                <a:solidFill>
                  <a:srgbClr val="69281B"/>
                </a:solidFill>
              </a:ln>
            </p:spPr>
          </p:sp>
          <p:sp>
            <p:nvSpPr>
              <p:cNvPr id="216" name="Freeform 216"/>
              <p:cNvSpPr/>
              <p:nvPr/>
            </p:nvSpPr>
            <p:spPr>
              <a:xfrm>
                <a:off x="10227469" y="2887663"/>
                <a:ext cx="157163" cy="9525"/>
              </a:xfrm>
              <a:custGeom>
                <a:avLst/>
                <a:gdLst/>
                <a:ahLst/>
                <a:cxnLst/>
                <a:rect l="l" t="t" r="r" b="b"/>
                <a:pathLst>
                  <a:path w="157163" h="9525">
                    <a:moveTo>
                      <a:pt x="0" y="0"/>
                    </a:moveTo>
                    <a:lnTo>
                      <a:pt x="157163" y="0"/>
                    </a:lnTo>
                  </a:path>
                </a:pathLst>
              </a:custGeom>
              <a:noFill/>
              <a:ln w="17463">
                <a:solidFill>
                  <a:srgbClr val="69281B"/>
                </a:solidFill>
              </a:ln>
            </p:spPr>
          </p:sp>
          <p:sp>
            <p:nvSpPr>
              <p:cNvPr id="217" name="Freeform 217"/>
              <p:cNvSpPr/>
              <p:nvPr/>
            </p:nvSpPr>
            <p:spPr>
              <a:xfrm>
                <a:off x="10262394" y="2931319"/>
                <a:ext cx="9525" cy="9525"/>
              </a:xfrm>
              <a:custGeom>
                <a:avLst/>
                <a:gdLst/>
                <a:ahLst/>
                <a:cxnLst/>
                <a:rect l="l" t="t" r="r" b="b"/>
                <a:pathLst>
                  <a:path w="9525" h="9525">
                    <a:moveTo>
                      <a:pt x="0" y="0"/>
                    </a:moveTo>
                    <a:lnTo>
                      <a:pt x="87" y="0"/>
                    </a:lnTo>
                  </a:path>
                </a:pathLst>
              </a:custGeom>
              <a:noFill/>
              <a:ln w="17463">
                <a:solidFill>
                  <a:srgbClr val="69281B"/>
                </a:solidFill>
              </a:ln>
            </p:spPr>
          </p:sp>
          <p:sp>
            <p:nvSpPr>
              <p:cNvPr id="218" name="Freeform 218"/>
              <p:cNvSpPr/>
              <p:nvPr/>
            </p:nvSpPr>
            <p:spPr>
              <a:xfrm>
                <a:off x="10297319" y="2931319"/>
                <a:ext cx="17463" cy="9525"/>
              </a:xfrm>
              <a:custGeom>
                <a:avLst/>
                <a:gdLst/>
                <a:ahLst/>
                <a:cxnLst/>
                <a:rect l="l" t="t" r="r" b="b"/>
                <a:pathLst>
                  <a:path w="17463" h="9525">
                    <a:moveTo>
                      <a:pt x="0" y="0"/>
                    </a:moveTo>
                    <a:lnTo>
                      <a:pt x="17463" y="0"/>
                    </a:lnTo>
                  </a:path>
                </a:pathLst>
              </a:custGeom>
              <a:noFill/>
              <a:ln w="17463">
                <a:solidFill>
                  <a:srgbClr val="69281B"/>
                </a:solidFill>
              </a:ln>
            </p:spPr>
          </p:sp>
        </p:grpSp>
        <p:sp>
          <p:nvSpPr>
            <p:cNvPr id="220" name="TextBox 220"/>
            <p:cNvSpPr txBox="1"/>
            <p:nvPr/>
          </p:nvSpPr>
          <p:spPr>
            <a:xfrm>
              <a:off x="10209746" y="3108484"/>
              <a:ext cx="192608"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结算</a:t>
              </a:r>
            </a:p>
          </p:txBody>
        </p:sp>
        <p:sp>
          <p:nvSpPr>
            <p:cNvPr id="221" name="Rectangle 221"/>
            <p:cNvSpPr/>
            <p:nvPr/>
          </p:nvSpPr>
          <p:spPr>
            <a:xfrm>
              <a:off x="10629900" y="2743200"/>
              <a:ext cx="571500" cy="533400"/>
            </a:xfrm>
            <a:prstGeom prst="roundRect">
              <a:avLst>
                <a:gd name="adj" fmla="val 7143"/>
              </a:avLst>
            </a:prstGeom>
            <a:solidFill>
              <a:srgbClr val="F5F8FD"/>
            </a:solidFill>
            <a:ln w="9525">
              <a:solidFill>
                <a:srgbClr val="E3EAF5"/>
              </a:solidFill>
            </a:ln>
          </p:spPr>
        </p:sp>
        <p:grpSp>
          <p:nvGrpSpPr>
            <p:cNvPr id="226" name="Group 226"/>
            <p:cNvGrpSpPr/>
            <p:nvPr/>
          </p:nvGrpSpPr>
          <p:grpSpPr>
            <a:xfrm>
              <a:off x="10837069" y="2826544"/>
              <a:ext cx="157163" cy="157163"/>
              <a:chOff x="10837069" y="2826544"/>
              <a:chExt cx="157163" cy="157163"/>
            </a:xfrm>
          </p:grpSpPr>
          <p:sp>
            <p:nvSpPr>
              <p:cNvPr id="222" name="Freeform 222"/>
              <p:cNvSpPr/>
              <p:nvPr/>
            </p:nvSpPr>
            <p:spPr>
              <a:xfrm>
                <a:off x="10854531" y="28265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69281B"/>
                </a:solidFill>
              </a:ln>
            </p:spPr>
          </p:sp>
          <p:sp>
            <p:nvSpPr>
              <p:cNvPr id="223" name="Freeform 223"/>
              <p:cNvSpPr/>
              <p:nvPr/>
            </p:nvSpPr>
            <p:spPr>
              <a:xfrm>
                <a:off x="10837069" y="29313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69281B"/>
                </a:solidFill>
              </a:ln>
            </p:spPr>
          </p:sp>
          <p:sp>
            <p:nvSpPr>
              <p:cNvPr id="224" name="Freeform 224"/>
              <p:cNvSpPr/>
              <p:nvPr/>
            </p:nvSpPr>
            <p:spPr>
              <a:xfrm>
                <a:off x="10950575" y="28276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69281B"/>
                </a:solidFill>
              </a:ln>
            </p:spPr>
          </p:sp>
          <p:sp>
            <p:nvSpPr>
              <p:cNvPr id="225" name="Freeform 225"/>
              <p:cNvSpPr/>
              <p:nvPr/>
            </p:nvSpPr>
            <p:spPr>
              <a:xfrm>
                <a:off x="10968038" y="29326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69281B"/>
                </a:solidFill>
              </a:ln>
            </p:spPr>
          </p:sp>
        </p:grpSp>
        <p:sp>
          <p:nvSpPr>
            <p:cNvPr id="227" name="TextBox 227"/>
            <p:cNvSpPr txBox="1"/>
            <p:nvPr/>
          </p:nvSpPr>
          <p:spPr>
            <a:xfrm>
              <a:off x="10819346" y="3108484"/>
              <a:ext cx="192608"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代发</a:t>
              </a:r>
            </a:p>
          </p:txBody>
        </p:sp>
        <p:sp>
          <p:nvSpPr>
            <p:cNvPr id="228" name="Rectangle 228"/>
            <p:cNvSpPr/>
            <p:nvPr/>
          </p:nvSpPr>
          <p:spPr>
            <a:xfrm>
              <a:off x="11239500" y="2743200"/>
              <a:ext cx="609600" cy="533400"/>
            </a:xfrm>
            <a:prstGeom prst="roundRect">
              <a:avLst>
                <a:gd name="adj" fmla="val 7143"/>
              </a:avLst>
            </a:prstGeom>
            <a:solidFill>
              <a:srgbClr val="F5F8FD"/>
            </a:solidFill>
            <a:ln w="9525">
              <a:solidFill>
                <a:srgbClr val="E3EAF5"/>
              </a:solidFill>
            </a:ln>
          </p:spPr>
        </p:sp>
        <p:grpSp>
          <p:nvGrpSpPr>
            <p:cNvPr id="231" name="Group 231"/>
            <p:cNvGrpSpPr/>
            <p:nvPr/>
          </p:nvGrpSpPr>
          <p:grpSpPr>
            <a:xfrm>
              <a:off x="11474450" y="2835275"/>
              <a:ext cx="139701" cy="139700"/>
              <a:chOff x="11474450" y="2835275"/>
              <a:chExt cx="139701" cy="139700"/>
            </a:xfrm>
          </p:grpSpPr>
          <p:sp>
            <p:nvSpPr>
              <p:cNvPr id="229" name="Freeform 229"/>
              <p:cNvSpPr/>
              <p:nvPr/>
            </p:nvSpPr>
            <p:spPr>
              <a:xfrm>
                <a:off x="11474450" y="2835275"/>
                <a:ext cx="130969" cy="139700"/>
              </a:xfrm>
              <a:custGeom>
                <a:avLst/>
                <a:gdLst/>
                <a:ahLst/>
                <a:cxnLst/>
                <a:rect l="l" t="t" r="r" b="b"/>
                <a:pathLst>
                  <a:path w="130969" h="139700">
                    <a:moveTo>
                      <a:pt x="113506" y="34925"/>
                    </a:moveTo>
                    <a:lnTo>
                      <a:pt x="113506" y="8731"/>
                    </a:lnTo>
                    <a:cubicBezTo>
                      <a:pt x="113506" y="3909"/>
                      <a:pt x="109597" y="0"/>
                      <a:pt x="104775" y="0"/>
                    </a:cubicBezTo>
                    <a:lnTo>
                      <a:pt x="17463" y="0"/>
                    </a:lnTo>
                    <a:cubicBezTo>
                      <a:pt x="7818" y="0"/>
                      <a:pt x="0" y="7818"/>
                      <a:pt x="0" y="17463"/>
                    </a:cubicBezTo>
                    <a:cubicBezTo>
                      <a:pt x="0" y="27107"/>
                      <a:pt x="7818" y="34925"/>
                      <a:pt x="17463" y="34925"/>
                    </a:cubicBezTo>
                    <a:lnTo>
                      <a:pt x="122238" y="34925"/>
                    </a:lnTo>
                    <a:cubicBezTo>
                      <a:pt x="127060" y="34925"/>
                      <a:pt x="130969" y="38834"/>
                      <a:pt x="130969" y="43656"/>
                    </a:cubicBezTo>
                    <a:lnTo>
                      <a:pt x="130969" y="69850"/>
                    </a:lnTo>
                    <a:moveTo>
                      <a:pt x="130969" y="104775"/>
                    </a:moveTo>
                    <a:lnTo>
                      <a:pt x="130969" y="130969"/>
                    </a:lnTo>
                    <a:cubicBezTo>
                      <a:pt x="130969" y="135791"/>
                      <a:pt x="127060" y="139700"/>
                      <a:pt x="122238" y="139700"/>
                    </a:cubicBezTo>
                    <a:lnTo>
                      <a:pt x="17463" y="139700"/>
                    </a:lnTo>
                    <a:cubicBezTo>
                      <a:pt x="7818" y="139700"/>
                      <a:pt x="0" y="131882"/>
                      <a:pt x="0" y="122238"/>
                    </a:cubicBezTo>
                    <a:lnTo>
                      <a:pt x="0" y="17463"/>
                    </a:lnTo>
                  </a:path>
                </a:pathLst>
              </a:custGeom>
              <a:noFill/>
              <a:ln w="17463">
                <a:solidFill>
                  <a:srgbClr val="69281B"/>
                </a:solidFill>
              </a:ln>
            </p:spPr>
          </p:sp>
          <p:sp>
            <p:nvSpPr>
              <p:cNvPr id="230" name="Freeform 230"/>
              <p:cNvSpPr/>
              <p:nvPr/>
            </p:nvSpPr>
            <p:spPr>
              <a:xfrm>
                <a:off x="11561763" y="2905125"/>
                <a:ext cx="52388" cy="34925"/>
              </a:xfrm>
              <a:custGeom>
                <a:avLst/>
                <a:gdLst/>
                <a:ahLst/>
                <a:cxnLst/>
                <a:rect l="l" t="t" r="r" b="b"/>
                <a:pathLst>
                  <a:path w="52388" h="34925">
                    <a:moveTo>
                      <a:pt x="52388" y="0"/>
                    </a:moveTo>
                    <a:lnTo>
                      <a:pt x="52388" y="34925"/>
                    </a:lnTo>
                    <a:lnTo>
                      <a:pt x="17463" y="34925"/>
                    </a:lnTo>
                    <a:cubicBezTo>
                      <a:pt x="7818" y="34925"/>
                      <a:pt x="0" y="27107"/>
                      <a:pt x="0" y="17463"/>
                    </a:cubicBezTo>
                    <a:cubicBezTo>
                      <a:pt x="0" y="7818"/>
                      <a:pt x="7818" y="0"/>
                      <a:pt x="17463" y="0"/>
                    </a:cubicBezTo>
                    <a:lnTo>
                      <a:pt x="52388" y="0"/>
                    </a:lnTo>
                  </a:path>
                </a:pathLst>
              </a:custGeom>
              <a:noFill/>
              <a:ln w="17463">
                <a:solidFill>
                  <a:srgbClr val="69281B"/>
                </a:solidFill>
              </a:ln>
            </p:spPr>
          </p:sp>
        </p:grpSp>
        <p:sp>
          <p:nvSpPr>
            <p:cNvPr id="232" name="TextBox 232"/>
            <p:cNvSpPr txBox="1"/>
            <p:nvPr/>
          </p:nvSpPr>
          <p:spPr>
            <a:xfrm>
              <a:off x="11356454" y="3108484"/>
              <a:ext cx="375691" cy="133350"/>
            </a:xfrm>
            <a:prstGeom prst="rect">
              <a:avLst/>
            </a:prstGeom>
            <a:noFill/>
            <a:ln>
              <a:noFill/>
            </a:ln>
          </p:spPr>
          <p:txBody>
            <a:bodyPr wrap="none" lIns="0" tIns="0" rIns="0" bIns="0" anchor="t" anchorCtr="0">
              <a:spAutoFit/>
            </a:bodyPr>
            <a:lstStyle/>
            <a:p>
              <a:pPr algn="ctr"/>
              <a:r>
                <a:rPr lang="zh-CN" sz="680" b="1" dirty="0">
                  <a:solidFill>
                    <a:srgbClr val="69281B"/>
                  </a:solidFill>
                  <a:latin typeface="+mn-lt"/>
                  <a:ea typeface="+mn-ea"/>
                  <a:cs typeface="+mn-cs"/>
                </a:rPr>
                <a:t>现金管理</a:t>
              </a:r>
            </a:p>
          </p:txBody>
        </p:sp>
        <p:sp>
          <p:nvSpPr>
            <p:cNvPr id="233" name="Rectangle 233"/>
            <p:cNvSpPr/>
            <p:nvPr/>
          </p:nvSpPr>
          <p:spPr>
            <a:xfrm>
              <a:off x="8191500" y="3390900"/>
              <a:ext cx="3657600" cy="438150"/>
            </a:xfrm>
            <a:prstGeom prst="roundRect">
              <a:avLst>
                <a:gd name="adj" fmla="val 8696"/>
              </a:avLst>
            </a:prstGeom>
            <a:solidFill>
              <a:srgbClr val="EAF1FB"/>
            </a:solidFill>
            <a:ln>
              <a:noFill/>
            </a:ln>
          </p:spPr>
        </p:sp>
        <p:grpSp>
          <p:nvGrpSpPr>
            <p:cNvPr id="237" name="Group 237"/>
            <p:cNvGrpSpPr/>
            <p:nvPr/>
          </p:nvGrpSpPr>
          <p:grpSpPr>
            <a:xfrm>
              <a:off x="8310562" y="3529012"/>
              <a:ext cx="142875" cy="142875"/>
              <a:chOff x="8310562" y="3529012"/>
              <a:chExt cx="142875" cy="142875"/>
            </a:xfrm>
          </p:grpSpPr>
          <p:sp>
            <p:nvSpPr>
              <p:cNvPr id="234" name="Freeform 234"/>
              <p:cNvSpPr/>
              <p:nvPr/>
            </p:nvSpPr>
            <p:spPr>
              <a:xfrm>
                <a:off x="8374062" y="35925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E04C2E"/>
                </a:solidFill>
              </a:ln>
            </p:spPr>
          </p:sp>
          <p:sp>
            <p:nvSpPr>
              <p:cNvPr id="235" name="Freeform 235"/>
              <p:cNvSpPr/>
              <p:nvPr/>
            </p:nvSpPr>
            <p:spPr>
              <a:xfrm>
                <a:off x="8342312" y="35607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E04C2E"/>
                </a:solidFill>
              </a:ln>
            </p:spPr>
          </p:sp>
          <p:sp>
            <p:nvSpPr>
              <p:cNvPr id="236" name="Freeform 236"/>
              <p:cNvSpPr/>
              <p:nvPr/>
            </p:nvSpPr>
            <p:spPr>
              <a:xfrm>
                <a:off x="8310562" y="35290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E04C2E"/>
                </a:solidFill>
              </a:ln>
            </p:spPr>
          </p:sp>
        </p:grpSp>
        <p:sp>
          <p:nvSpPr>
            <p:cNvPr id="238" name="TextBox 238"/>
            <p:cNvSpPr txBox="1"/>
            <p:nvPr/>
          </p:nvSpPr>
          <p:spPr>
            <a:xfrm>
              <a:off x="8548688" y="3580686"/>
              <a:ext cx="1347648"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目标：存量客户融资需求满足率</a:t>
              </a:r>
            </a:p>
          </p:txBody>
        </p:sp>
        <p:sp>
          <p:nvSpPr>
            <p:cNvPr id="239" name="TextBox 239"/>
            <p:cNvSpPr txBox="1"/>
            <p:nvPr/>
          </p:nvSpPr>
          <p:spPr>
            <a:xfrm>
              <a:off x="11075226" y="3541871"/>
              <a:ext cx="666813" cy="278702"/>
            </a:xfrm>
            <a:prstGeom prst="rect">
              <a:avLst/>
            </a:prstGeom>
            <a:noFill/>
            <a:ln>
              <a:noFill/>
            </a:ln>
          </p:spPr>
          <p:txBody>
            <a:bodyPr wrap="none" lIns="0" tIns="0" rIns="0" bIns="0" anchor="t" anchorCtr="0">
              <a:spAutoFit/>
            </a:bodyPr>
            <a:lstStyle/>
            <a:p>
              <a:pPr algn="r"/>
              <a:r>
                <a:rPr lang="zh-CN" sz="1420" b="1" dirty="0">
                  <a:solidFill>
                    <a:srgbClr val="E04C2E"/>
                  </a:solidFill>
                  <a:latin typeface="+mn-lt"/>
                  <a:ea typeface="+mn-ea"/>
                  <a:cs typeface="+mn-cs"/>
                </a:rPr>
                <a:t>≥ 90%​</a:t>
              </a:r>
            </a:p>
          </p:txBody>
        </p:sp>
        <p:sp>
          <p:nvSpPr>
            <p:cNvPr id="240" name="Rectangle 240"/>
            <p:cNvSpPr/>
            <p:nvPr/>
          </p:nvSpPr>
          <p:spPr>
            <a:xfrm>
              <a:off x="8191500" y="3905250"/>
              <a:ext cx="3657600" cy="438150"/>
            </a:xfrm>
            <a:prstGeom prst="roundRect">
              <a:avLst>
                <a:gd name="adj" fmla="val 8696"/>
              </a:avLst>
            </a:prstGeom>
            <a:solidFill>
              <a:srgbClr val="EAF1FB"/>
            </a:solidFill>
            <a:ln>
              <a:noFill/>
            </a:ln>
          </p:spPr>
        </p:sp>
        <p:grpSp>
          <p:nvGrpSpPr>
            <p:cNvPr id="246" name="Group 246"/>
            <p:cNvGrpSpPr/>
            <p:nvPr/>
          </p:nvGrpSpPr>
          <p:grpSpPr>
            <a:xfrm>
              <a:off x="8310562" y="4043362"/>
              <a:ext cx="142875" cy="142875"/>
              <a:chOff x="8310562" y="4043362"/>
              <a:chExt cx="142875" cy="142875"/>
            </a:xfrm>
          </p:grpSpPr>
          <p:sp>
            <p:nvSpPr>
              <p:cNvPr id="241" name="Freeform 241"/>
              <p:cNvSpPr/>
              <p:nvPr/>
            </p:nvSpPr>
            <p:spPr>
              <a:xfrm>
                <a:off x="8366125" y="40433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04C2E"/>
                </a:solidFill>
              </a:ln>
            </p:spPr>
          </p:sp>
          <p:sp>
            <p:nvSpPr>
              <p:cNvPr id="242" name="Freeform 242"/>
              <p:cNvSpPr/>
              <p:nvPr/>
            </p:nvSpPr>
            <p:spPr>
              <a:xfrm>
                <a:off x="8310562" y="41544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04C2E"/>
                </a:solidFill>
              </a:ln>
            </p:spPr>
          </p:sp>
          <p:sp>
            <p:nvSpPr>
              <p:cNvPr id="243" name="Freeform 243"/>
              <p:cNvSpPr/>
              <p:nvPr/>
            </p:nvSpPr>
            <p:spPr>
              <a:xfrm>
                <a:off x="8421687" y="41544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04C2E"/>
                </a:solidFill>
              </a:ln>
            </p:spPr>
          </p:sp>
          <p:sp>
            <p:nvSpPr>
              <p:cNvPr id="244" name="Freeform 244"/>
              <p:cNvSpPr/>
              <p:nvPr/>
            </p:nvSpPr>
            <p:spPr>
              <a:xfrm>
                <a:off x="8338344" y="4122737"/>
                <a:ext cx="87312" cy="35719"/>
              </a:xfrm>
              <a:custGeom>
                <a:avLst/>
                <a:gdLst/>
                <a:ahLst/>
                <a:cxnLst/>
                <a:rect l="l" t="t" r="r" b="b"/>
                <a:pathLst>
                  <a:path w="87312" h="35719">
                    <a:moveTo>
                      <a:pt x="0" y="35719"/>
                    </a:moveTo>
                    <a:lnTo>
                      <a:pt x="43656" y="0"/>
                    </a:lnTo>
                    <a:lnTo>
                      <a:pt x="87312" y="35719"/>
                    </a:lnTo>
                  </a:path>
                </a:pathLst>
              </a:custGeom>
              <a:noFill/>
              <a:ln w="15875">
                <a:solidFill>
                  <a:srgbClr val="E04C2E"/>
                </a:solidFill>
              </a:ln>
            </p:spPr>
          </p:sp>
          <p:sp>
            <p:nvSpPr>
              <p:cNvPr id="245" name="Freeform 245"/>
              <p:cNvSpPr/>
              <p:nvPr/>
            </p:nvSpPr>
            <p:spPr>
              <a:xfrm>
                <a:off x="8382000" y="4075112"/>
                <a:ext cx="9525" cy="47625"/>
              </a:xfrm>
              <a:custGeom>
                <a:avLst/>
                <a:gdLst/>
                <a:ahLst/>
                <a:cxnLst/>
                <a:rect l="l" t="t" r="r" b="b"/>
                <a:pathLst>
                  <a:path w="9525" h="47625">
                    <a:moveTo>
                      <a:pt x="0" y="0"/>
                    </a:moveTo>
                    <a:lnTo>
                      <a:pt x="0" y="47625"/>
                    </a:lnTo>
                  </a:path>
                </a:pathLst>
              </a:custGeom>
              <a:noFill/>
              <a:ln w="15875">
                <a:solidFill>
                  <a:srgbClr val="E04C2E"/>
                </a:solidFill>
              </a:ln>
            </p:spPr>
          </p:sp>
        </p:grpSp>
        <p:sp>
          <p:nvSpPr>
            <p:cNvPr id="247" name="TextBox 247"/>
            <p:cNvSpPr txBox="1"/>
            <p:nvPr/>
          </p:nvSpPr>
          <p:spPr>
            <a:xfrm>
              <a:off x="8548688" y="4028361"/>
              <a:ext cx="1538808"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目标：综合产品渗透率（单户平均）</a:t>
              </a:r>
            </a:p>
          </p:txBody>
        </p:sp>
        <p:sp>
          <p:nvSpPr>
            <p:cNvPr id="248" name="TextBox 248"/>
            <p:cNvSpPr txBox="1"/>
            <p:nvPr/>
          </p:nvSpPr>
          <p:spPr>
            <a:xfrm>
              <a:off x="8548688" y="4171236"/>
              <a:ext cx="1081457" cy="140494"/>
            </a:xfrm>
            <a:prstGeom prst="rect">
              <a:avLst/>
            </a:prstGeom>
            <a:noFill/>
            <a:ln>
              <a:noFill/>
            </a:ln>
          </p:spPr>
          <p:txBody>
            <a:bodyPr wrap="none" lIns="0" tIns="0" rIns="0" bIns="0" anchor="t" anchorCtr="0">
              <a:spAutoFit/>
            </a:bodyPr>
            <a:lstStyle/>
            <a:p>
              <a:pPr algn="l"/>
              <a:r>
                <a:rPr lang="zh-CN" sz="710" dirty="0">
                  <a:solidFill>
                    <a:srgbClr val="5F3A33"/>
                  </a:solidFill>
                  <a:latin typeface="+mn-lt"/>
                  <a:ea typeface="+mn-ea"/>
                  <a:cs typeface="+mn-cs"/>
                </a:rPr>
                <a:t xml:space="preserve">由 </a:t>
              </a:r>
              <a:r>
                <a:rPr lang="zh-CN" sz="710" b="1" dirty="0">
                  <a:solidFill>
                    <a:srgbClr val="69281B"/>
                  </a:solidFill>
                  <a:latin typeface="+mn-lt"/>
                  <a:ea typeface="+mn-ea"/>
                  <a:cs typeface="+mn-cs"/>
                </a:rPr>
                <a:t>2.6</a:t>
              </a:r>
              <a:r>
                <a:rPr lang="zh-CN" sz="710" dirty="0">
                  <a:solidFill>
                    <a:srgbClr val="5F3A33"/>
                  </a:solidFill>
                  <a:latin typeface="+mn-lt"/>
                  <a:ea typeface="+mn-ea"/>
                  <a:cs typeface="+mn-cs"/>
                </a:rPr>
                <a:t xml:space="preserve"> 项提升至 </a:t>
              </a:r>
              <a:r>
                <a:rPr lang="zh-CN" sz="710" b="1" dirty="0">
                  <a:solidFill>
                    <a:srgbClr val="E04C2E"/>
                  </a:solidFill>
                  <a:latin typeface="+mn-lt"/>
                  <a:ea typeface="+mn-ea"/>
                  <a:cs typeface="+mn-cs"/>
                </a:rPr>
                <a:t>3.4</a:t>
              </a:r>
              <a:r>
                <a:rPr lang="zh-CN" sz="710" dirty="0">
                  <a:solidFill>
                    <a:srgbClr val="5F3A33"/>
                  </a:solidFill>
                  <a:latin typeface="+mn-lt"/>
                  <a:ea typeface="+mn-ea"/>
                  <a:cs typeface="+mn-cs"/>
                </a:rPr>
                <a:t xml:space="preserve"> 项​</a:t>
              </a:r>
            </a:p>
          </p:txBody>
        </p:sp>
      </p:grpSp>
      <p:grpSp>
        <p:nvGrpSpPr>
          <p:cNvPr id="309" name="mechanisms"/>
          <p:cNvGrpSpPr/>
          <p:nvPr/>
        </p:nvGrpSpPr>
        <p:grpSpPr>
          <a:xfrm>
            <a:off x="228600" y="4552950"/>
            <a:ext cx="11734800" cy="2114550"/>
            <a:chOff x="228600" y="4552950"/>
            <a:chExt cx="11734800" cy="2114550"/>
          </a:xfrm>
        </p:grpSpPr>
        <p:sp>
          <p:nvSpPr>
            <p:cNvPr id="250" name="Rectangle 250"/>
            <p:cNvSpPr/>
            <p:nvPr/>
          </p:nvSpPr>
          <p:spPr>
            <a:xfrm>
              <a:off x="228600" y="4552950"/>
              <a:ext cx="11734800" cy="2114550"/>
            </a:xfrm>
            <a:prstGeom prst="roundRect">
              <a:avLst>
                <a:gd name="adj" fmla="val 2703"/>
              </a:avLst>
            </a:prstGeom>
            <a:solidFill>
              <a:srgbClr val="F5F8FD"/>
            </a:solidFill>
            <a:ln w="9525">
              <a:solidFill>
                <a:srgbClr val="E3EAF5"/>
              </a:solidFill>
            </a:ln>
          </p:spPr>
        </p:sp>
        <p:sp>
          <p:nvSpPr>
            <p:cNvPr id="251" name="Rectangle 251"/>
            <p:cNvSpPr/>
            <p:nvPr/>
          </p:nvSpPr>
          <p:spPr>
            <a:xfrm>
              <a:off x="228600" y="4552950"/>
              <a:ext cx="11734800" cy="228600"/>
            </a:xfrm>
            <a:prstGeom prst="roundRect">
              <a:avLst>
                <a:gd name="adj" fmla="val 25000"/>
              </a:avLst>
            </a:prstGeom>
            <a:solidFill>
              <a:srgbClr val="69281B"/>
            </a:solidFill>
            <a:ln>
              <a:noFill/>
            </a:ln>
          </p:spPr>
        </p:sp>
        <p:sp>
          <p:nvSpPr>
            <p:cNvPr id="252" name="Rectangle 252"/>
            <p:cNvSpPr/>
            <p:nvPr/>
          </p:nvSpPr>
          <p:spPr>
            <a:xfrm>
              <a:off x="228600" y="4686300"/>
              <a:ext cx="11734800" cy="95250"/>
            </a:xfrm>
            <a:prstGeom prst="rect">
              <a:avLst/>
            </a:prstGeom>
            <a:solidFill>
              <a:srgbClr val="69281B"/>
            </a:solidFill>
            <a:ln>
              <a:noFill/>
            </a:ln>
          </p:spPr>
        </p:sp>
        <p:sp>
          <p:nvSpPr>
            <p:cNvPr id="253" name="TextBox 253"/>
            <p:cNvSpPr txBox="1"/>
            <p:nvPr/>
          </p:nvSpPr>
          <p:spPr>
            <a:xfrm>
              <a:off x="5182552" y="4617720"/>
              <a:ext cx="182689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四项机制保障储备转化与投放落地</a:t>
              </a:r>
            </a:p>
          </p:txBody>
        </p:sp>
        <p:sp>
          <p:nvSpPr>
            <p:cNvPr id="254" name="Rectangle 254"/>
            <p:cNvSpPr/>
            <p:nvPr/>
          </p:nvSpPr>
          <p:spPr>
            <a:xfrm>
              <a:off x="342900" y="4876800"/>
              <a:ext cx="2781300" cy="1562100"/>
            </a:xfrm>
            <a:prstGeom prst="roundRect">
              <a:avLst>
                <a:gd name="adj" fmla="val 2439"/>
              </a:avLst>
            </a:prstGeom>
            <a:solidFill>
              <a:srgbClr val="FFFFFF"/>
            </a:solidFill>
            <a:ln w="9525">
              <a:solidFill>
                <a:srgbClr val="C9D6E9"/>
              </a:solidFill>
            </a:ln>
          </p:spPr>
        </p:sp>
        <p:sp>
          <p:nvSpPr>
            <p:cNvPr id="255" name="Rectangle 255"/>
            <p:cNvSpPr/>
            <p:nvPr/>
          </p:nvSpPr>
          <p:spPr>
            <a:xfrm>
              <a:off x="438150" y="4972050"/>
              <a:ext cx="266700" cy="209550"/>
            </a:xfrm>
            <a:prstGeom prst="rect">
              <a:avLst/>
            </a:prstGeom>
            <a:solidFill>
              <a:srgbClr val="69281B"/>
            </a:solidFill>
            <a:ln>
              <a:noFill/>
            </a:ln>
          </p:spPr>
        </p:sp>
        <p:sp>
          <p:nvSpPr>
            <p:cNvPr id="256" name="TextBox 256"/>
            <p:cNvSpPr txBox="1"/>
            <p:nvPr/>
          </p:nvSpPr>
          <p:spPr>
            <a:xfrm>
              <a:off x="471114" y="5035391"/>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01​</a:t>
              </a:r>
            </a:p>
          </p:txBody>
        </p:sp>
        <p:sp>
          <p:nvSpPr>
            <p:cNvPr id="257" name="TextBox 257"/>
            <p:cNvSpPr txBox="1"/>
            <p:nvPr/>
          </p:nvSpPr>
          <p:spPr>
            <a:xfrm>
              <a:off x="795338" y="5027295"/>
              <a:ext cx="736473"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审批提速机制</a:t>
              </a:r>
            </a:p>
          </p:txBody>
        </p:sp>
        <p:grpSp>
          <p:nvGrpSpPr>
            <p:cNvPr id="260" name="Group 260"/>
            <p:cNvGrpSpPr/>
            <p:nvPr/>
          </p:nvGrpSpPr>
          <p:grpSpPr>
            <a:xfrm>
              <a:off x="514873" y="5429773"/>
              <a:ext cx="284703" cy="284703"/>
              <a:chOff x="514873" y="5429773"/>
              <a:chExt cx="284703" cy="284703"/>
            </a:xfrm>
          </p:grpSpPr>
          <p:sp>
            <p:nvSpPr>
              <p:cNvPr id="258" name="Freeform 258"/>
              <p:cNvSpPr/>
              <p:nvPr/>
            </p:nvSpPr>
            <p:spPr>
              <a:xfrm>
                <a:off x="514873" y="5429773"/>
                <a:ext cx="284703" cy="284703"/>
              </a:xfrm>
              <a:custGeom>
                <a:avLst/>
                <a:gdLst/>
                <a:ahLst/>
                <a:cxnLst/>
                <a:rect l="l" t="t" r="r" b="b"/>
                <a:pathLst>
                  <a:path w="284703" h="284703">
                    <a:moveTo>
                      <a:pt x="117091" y="26483"/>
                    </a:moveTo>
                    <a:cubicBezTo>
                      <a:pt x="123515" y="0"/>
                      <a:pt x="161188" y="0"/>
                      <a:pt x="167613" y="26483"/>
                    </a:cubicBezTo>
                    <a:cubicBezTo>
                      <a:pt x="169568" y="34552"/>
                      <a:pt x="175259" y="41202"/>
                      <a:pt x="182930" y="44380"/>
                    </a:cubicBezTo>
                    <a:cubicBezTo>
                      <a:pt x="190600" y="47558"/>
                      <a:pt x="199328" y="46881"/>
                      <a:pt x="206417" y="42559"/>
                    </a:cubicBezTo>
                    <a:cubicBezTo>
                      <a:pt x="229687" y="28383"/>
                      <a:pt x="256335" y="55016"/>
                      <a:pt x="242159" y="78302"/>
                    </a:cubicBezTo>
                    <a:cubicBezTo>
                      <a:pt x="237843" y="85388"/>
                      <a:pt x="237168" y="94108"/>
                      <a:pt x="240342" y="101774"/>
                    </a:cubicBezTo>
                    <a:cubicBezTo>
                      <a:pt x="243516" y="109440"/>
                      <a:pt x="250159" y="115130"/>
                      <a:pt x="258221" y="117091"/>
                    </a:cubicBezTo>
                    <a:cubicBezTo>
                      <a:pt x="284703" y="123515"/>
                      <a:pt x="284703" y="161188"/>
                      <a:pt x="258221" y="167613"/>
                    </a:cubicBezTo>
                    <a:cubicBezTo>
                      <a:pt x="250151" y="169568"/>
                      <a:pt x="243501" y="175259"/>
                      <a:pt x="240323" y="182930"/>
                    </a:cubicBezTo>
                    <a:cubicBezTo>
                      <a:pt x="237145" y="190600"/>
                      <a:pt x="237822" y="199328"/>
                      <a:pt x="242144" y="206417"/>
                    </a:cubicBezTo>
                    <a:cubicBezTo>
                      <a:pt x="256320" y="229687"/>
                      <a:pt x="229687" y="256335"/>
                      <a:pt x="206402" y="242159"/>
                    </a:cubicBezTo>
                    <a:cubicBezTo>
                      <a:pt x="199316" y="237843"/>
                      <a:pt x="190595" y="237168"/>
                      <a:pt x="182929" y="240342"/>
                    </a:cubicBezTo>
                    <a:cubicBezTo>
                      <a:pt x="175264" y="243516"/>
                      <a:pt x="169573" y="250159"/>
                      <a:pt x="167613" y="258221"/>
                    </a:cubicBezTo>
                    <a:cubicBezTo>
                      <a:pt x="161188" y="284703"/>
                      <a:pt x="123515" y="284703"/>
                      <a:pt x="117091" y="258221"/>
                    </a:cubicBezTo>
                    <a:cubicBezTo>
                      <a:pt x="115135" y="250151"/>
                      <a:pt x="109444" y="243501"/>
                      <a:pt x="101773" y="240323"/>
                    </a:cubicBezTo>
                    <a:cubicBezTo>
                      <a:pt x="94103" y="237145"/>
                      <a:pt x="85376" y="237822"/>
                      <a:pt x="78287" y="242144"/>
                    </a:cubicBezTo>
                    <a:cubicBezTo>
                      <a:pt x="55016" y="256320"/>
                      <a:pt x="28368" y="229687"/>
                      <a:pt x="42544" y="206402"/>
                    </a:cubicBezTo>
                    <a:cubicBezTo>
                      <a:pt x="46860" y="199316"/>
                      <a:pt x="47535" y="190595"/>
                      <a:pt x="44361" y="182929"/>
                    </a:cubicBezTo>
                    <a:cubicBezTo>
                      <a:pt x="41187" y="175264"/>
                      <a:pt x="34545" y="169573"/>
                      <a:pt x="26483" y="167613"/>
                    </a:cubicBezTo>
                    <a:cubicBezTo>
                      <a:pt x="0" y="161188"/>
                      <a:pt x="0" y="123515"/>
                      <a:pt x="26483" y="117091"/>
                    </a:cubicBezTo>
                    <a:cubicBezTo>
                      <a:pt x="34552" y="115135"/>
                      <a:pt x="41202" y="109444"/>
                      <a:pt x="44380" y="101773"/>
                    </a:cubicBezTo>
                    <a:cubicBezTo>
                      <a:pt x="47558" y="94103"/>
                      <a:pt x="46881" y="85376"/>
                      <a:pt x="42559" y="78287"/>
                    </a:cubicBezTo>
                    <a:cubicBezTo>
                      <a:pt x="28383" y="55016"/>
                      <a:pt x="55016" y="28368"/>
                      <a:pt x="78302" y="42544"/>
                    </a:cubicBezTo>
                    <a:cubicBezTo>
                      <a:pt x="93383" y="51713"/>
                      <a:pt x="112928" y="43600"/>
                      <a:pt x="117091" y="26483"/>
                    </a:cubicBezTo>
                  </a:path>
                </a:pathLst>
              </a:custGeom>
              <a:noFill/>
              <a:ln w="30162">
                <a:solidFill>
                  <a:srgbClr val="E04C2E"/>
                </a:solidFill>
              </a:ln>
            </p:spPr>
          </p:sp>
          <p:sp>
            <p:nvSpPr>
              <p:cNvPr id="259" name="Freeform 259"/>
              <p:cNvSpPr/>
              <p:nvPr/>
            </p:nvSpPr>
            <p:spPr>
              <a:xfrm>
                <a:off x="611981" y="5526881"/>
                <a:ext cx="90487" cy="90487"/>
              </a:xfrm>
              <a:custGeom>
                <a:avLst/>
                <a:gdLst/>
                <a:ahLst/>
                <a:cxnLst/>
                <a:rect l="l" t="t" r="r" b="b"/>
                <a:pathLst>
                  <a:path w="90487" h="90487">
                    <a:moveTo>
                      <a:pt x="0" y="45244"/>
                    </a:moveTo>
                    <a:cubicBezTo>
                      <a:pt x="0" y="70231"/>
                      <a:pt x="20256" y="90487"/>
                      <a:pt x="45244" y="90487"/>
                    </a:cubicBezTo>
                    <a:cubicBezTo>
                      <a:pt x="70231" y="90487"/>
                      <a:pt x="90487" y="70231"/>
                      <a:pt x="90487" y="45244"/>
                    </a:cubicBezTo>
                    <a:cubicBezTo>
                      <a:pt x="90487" y="20256"/>
                      <a:pt x="70231" y="0"/>
                      <a:pt x="45244" y="0"/>
                    </a:cubicBezTo>
                    <a:cubicBezTo>
                      <a:pt x="20256" y="0"/>
                      <a:pt x="0" y="20256"/>
                      <a:pt x="0" y="45244"/>
                    </a:cubicBezTo>
                  </a:path>
                </a:pathLst>
              </a:custGeom>
              <a:noFill/>
              <a:ln w="30162">
                <a:solidFill>
                  <a:srgbClr val="E04C2E"/>
                </a:solidFill>
              </a:ln>
            </p:spPr>
          </p:sp>
        </p:grpSp>
        <p:sp>
          <p:nvSpPr>
            <p:cNvPr id="261" name="Ellipse 261"/>
            <p:cNvSpPr/>
            <p:nvPr/>
          </p:nvSpPr>
          <p:spPr>
            <a:xfrm>
              <a:off x="992505" y="5412105"/>
              <a:ext cx="34290" cy="34290"/>
            </a:xfrm>
            <a:prstGeom prst="ellipse">
              <a:avLst/>
            </a:prstGeom>
            <a:solidFill>
              <a:srgbClr val="E04C2E"/>
            </a:solidFill>
            <a:ln>
              <a:noFill/>
            </a:ln>
          </p:spPr>
        </p:sp>
        <p:sp>
          <p:nvSpPr>
            <p:cNvPr id="262" name="TextBox 262"/>
            <p:cNvSpPr txBox="1"/>
            <p:nvPr/>
          </p:nvSpPr>
          <p:spPr>
            <a:xfrm>
              <a:off x="1081088" y="5394484"/>
              <a:ext cx="1108024"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精简审批环节，压缩再压缩</a:t>
              </a:r>
            </a:p>
          </p:txBody>
        </p:sp>
        <p:sp>
          <p:nvSpPr>
            <p:cNvPr id="263" name="Ellipse 263"/>
            <p:cNvSpPr/>
            <p:nvPr/>
          </p:nvSpPr>
          <p:spPr>
            <a:xfrm>
              <a:off x="992505" y="5621655"/>
              <a:ext cx="34290" cy="34290"/>
            </a:xfrm>
            <a:prstGeom prst="ellipse">
              <a:avLst/>
            </a:prstGeom>
            <a:solidFill>
              <a:srgbClr val="E04C2E"/>
            </a:solidFill>
            <a:ln>
              <a:noFill/>
            </a:ln>
          </p:spPr>
        </p:sp>
        <p:sp>
          <p:nvSpPr>
            <p:cNvPr id="264" name="TextBox 264"/>
            <p:cNvSpPr txBox="1"/>
            <p:nvPr/>
          </p:nvSpPr>
          <p:spPr>
            <a:xfrm>
              <a:off x="1081088" y="5604034"/>
              <a:ext cx="1199566"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复杂项目并联审查、限时办结</a:t>
              </a:r>
            </a:p>
          </p:txBody>
        </p:sp>
        <p:sp>
          <p:nvSpPr>
            <p:cNvPr id="265" name="Line 265"/>
            <p:cNvSpPr/>
            <p:nvPr/>
          </p:nvSpPr>
          <p:spPr>
            <a:xfrm>
              <a:off x="438150" y="5924550"/>
              <a:ext cx="2590800" cy="9525"/>
            </a:xfrm>
            <a:custGeom>
              <a:avLst/>
              <a:gdLst/>
              <a:ahLst/>
              <a:cxnLst/>
              <a:rect l="l" t="t" r="r" b="b"/>
              <a:pathLst>
                <a:path w="2590800" h="9525">
                  <a:moveTo>
                    <a:pt x="0" y="0"/>
                  </a:moveTo>
                  <a:lnTo>
                    <a:pt x="2590800" y="0"/>
                  </a:lnTo>
                </a:path>
              </a:pathLst>
            </a:custGeom>
            <a:noFill/>
            <a:ln w="9525">
              <a:solidFill>
                <a:srgbClr val="EDF2FA"/>
              </a:solidFill>
            </a:ln>
          </p:spPr>
        </p:sp>
        <p:sp>
          <p:nvSpPr>
            <p:cNvPr id="266" name="TextBox 266"/>
            <p:cNvSpPr txBox="1"/>
            <p:nvPr/>
          </p:nvSpPr>
          <p:spPr>
            <a:xfrm>
              <a:off x="490538" y="6095286"/>
              <a:ext cx="1286715" cy="140494"/>
            </a:xfrm>
            <a:prstGeom prst="rect">
              <a:avLst/>
            </a:prstGeom>
            <a:noFill/>
            <a:ln>
              <a:noFill/>
            </a:ln>
          </p:spPr>
          <p:txBody>
            <a:bodyPr wrap="none" lIns="0" tIns="0" rIns="0" bIns="0" anchor="t" anchorCtr="0">
              <a:spAutoFit/>
            </a:bodyPr>
            <a:lstStyle/>
            <a:p>
              <a:pPr algn="l"/>
              <a:r>
                <a:rPr lang="zh-CN" sz="710" b="1" dirty="0">
                  <a:solidFill>
                    <a:srgbClr val="D0442C"/>
                  </a:solidFill>
                  <a:latin typeface="+mn-lt"/>
                  <a:ea typeface="+mn-ea"/>
                  <a:cs typeface="+mn-cs"/>
                </a:rPr>
                <a:t>目标：审批时效 ≤ 5个工作日​</a:t>
              </a:r>
            </a:p>
          </p:txBody>
        </p:sp>
        <p:sp>
          <p:nvSpPr>
            <p:cNvPr id="267" name="Rectangle 267"/>
            <p:cNvSpPr/>
            <p:nvPr/>
          </p:nvSpPr>
          <p:spPr>
            <a:xfrm>
              <a:off x="3276600" y="4876800"/>
              <a:ext cx="2781300" cy="1562100"/>
            </a:xfrm>
            <a:prstGeom prst="roundRect">
              <a:avLst>
                <a:gd name="adj" fmla="val 2439"/>
              </a:avLst>
            </a:prstGeom>
            <a:solidFill>
              <a:srgbClr val="FFFFFF"/>
            </a:solidFill>
            <a:ln w="9525">
              <a:solidFill>
                <a:srgbClr val="C9D6E9"/>
              </a:solidFill>
            </a:ln>
          </p:spPr>
        </p:sp>
        <p:sp>
          <p:nvSpPr>
            <p:cNvPr id="268" name="Rectangle 268"/>
            <p:cNvSpPr/>
            <p:nvPr/>
          </p:nvSpPr>
          <p:spPr>
            <a:xfrm>
              <a:off x="3371850" y="4972050"/>
              <a:ext cx="266700" cy="209550"/>
            </a:xfrm>
            <a:prstGeom prst="rect">
              <a:avLst/>
            </a:prstGeom>
            <a:solidFill>
              <a:srgbClr val="69281B"/>
            </a:solidFill>
            <a:ln>
              <a:noFill/>
            </a:ln>
          </p:spPr>
        </p:sp>
        <p:sp>
          <p:nvSpPr>
            <p:cNvPr id="269" name="TextBox 269"/>
            <p:cNvSpPr txBox="1"/>
            <p:nvPr/>
          </p:nvSpPr>
          <p:spPr>
            <a:xfrm>
              <a:off x="3404814" y="5035391"/>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02​</a:t>
              </a:r>
            </a:p>
          </p:txBody>
        </p:sp>
        <p:sp>
          <p:nvSpPr>
            <p:cNvPr id="270" name="TextBox 270"/>
            <p:cNvSpPr txBox="1"/>
            <p:nvPr/>
          </p:nvSpPr>
          <p:spPr>
            <a:xfrm>
              <a:off x="3729038" y="5027295"/>
              <a:ext cx="736473"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绿色通道机制</a:t>
              </a:r>
            </a:p>
          </p:txBody>
        </p:sp>
        <p:grpSp>
          <p:nvGrpSpPr>
            <p:cNvPr id="274" name="Group 274"/>
            <p:cNvGrpSpPr/>
            <p:nvPr/>
          </p:nvGrpSpPr>
          <p:grpSpPr>
            <a:xfrm>
              <a:off x="3465511" y="5451475"/>
              <a:ext cx="246063" cy="246063"/>
              <a:chOff x="3465511" y="5451475"/>
              <a:chExt cx="246063" cy="246063"/>
            </a:xfrm>
          </p:grpSpPr>
          <p:sp>
            <p:nvSpPr>
              <p:cNvPr id="271" name="Freeform 271"/>
              <p:cNvSpPr/>
              <p:nvPr/>
            </p:nvSpPr>
            <p:spPr>
              <a:xfrm>
                <a:off x="3470275" y="5451475"/>
                <a:ext cx="241299" cy="241299"/>
              </a:xfrm>
              <a:custGeom>
                <a:avLst/>
                <a:gdLst/>
                <a:ahLst/>
                <a:cxnLst/>
                <a:rect l="l" t="t" r="r" b="b"/>
                <a:pathLst>
                  <a:path w="241299" h="241299">
                    <a:moveTo>
                      <a:pt x="0" y="135731"/>
                    </a:moveTo>
                    <a:cubicBezTo>
                      <a:pt x="55351" y="142309"/>
                      <a:pt x="98990" y="185948"/>
                      <a:pt x="105569" y="241299"/>
                    </a:cubicBezTo>
                    <a:cubicBezTo>
                      <a:pt x="132671" y="225675"/>
                      <a:pt x="149780" y="197160"/>
                      <a:pt x="150812" y="165893"/>
                    </a:cubicBezTo>
                    <a:cubicBezTo>
                      <a:pt x="202598" y="147676"/>
                      <a:pt x="238311" y="100059"/>
                      <a:pt x="241299" y="45244"/>
                    </a:cubicBezTo>
                    <a:cubicBezTo>
                      <a:pt x="241299" y="20256"/>
                      <a:pt x="221043" y="0"/>
                      <a:pt x="196056" y="0"/>
                    </a:cubicBezTo>
                    <a:cubicBezTo>
                      <a:pt x="141241" y="2989"/>
                      <a:pt x="93623" y="38702"/>
                      <a:pt x="75406" y="90487"/>
                    </a:cubicBezTo>
                    <a:cubicBezTo>
                      <a:pt x="44140" y="91520"/>
                      <a:pt x="15625" y="108629"/>
                      <a:pt x="0" y="135731"/>
                    </a:cubicBezTo>
                  </a:path>
                </a:pathLst>
              </a:custGeom>
              <a:noFill/>
              <a:ln w="30162">
                <a:solidFill>
                  <a:srgbClr val="E04C2E"/>
                </a:solidFill>
              </a:ln>
            </p:spPr>
          </p:sp>
          <p:sp>
            <p:nvSpPr>
              <p:cNvPr id="272" name="Freeform 272"/>
              <p:cNvSpPr/>
              <p:nvPr/>
            </p:nvSpPr>
            <p:spPr>
              <a:xfrm>
                <a:off x="3465511" y="5602287"/>
                <a:ext cx="95251" cy="95251"/>
              </a:xfrm>
              <a:custGeom>
                <a:avLst/>
                <a:gdLst/>
                <a:ahLst/>
                <a:cxnLst/>
                <a:rect l="l" t="t" r="r" b="b"/>
                <a:pathLst>
                  <a:path w="95251" h="95251">
                    <a:moveTo>
                      <a:pt x="50007" y="0"/>
                    </a:moveTo>
                    <a:cubicBezTo>
                      <a:pt x="17898" y="18127"/>
                      <a:pt x="0" y="53924"/>
                      <a:pt x="4764" y="90487"/>
                    </a:cubicBezTo>
                    <a:cubicBezTo>
                      <a:pt x="41327" y="95251"/>
                      <a:pt x="77124" y="77352"/>
                      <a:pt x="95251" y="45244"/>
                    </a:cubicBezTo>
                  </a:path>
                </a:pathLst>
              </a:custGeom>
              <a:noFill/>
              <a:ln w="30162">
                <a:solidFill>
                  <a:srgbClr val="E04C2E"/>
                </a:solidFill>
              </a:ln>
            </p:spPr>
          </p:sp>
          <p:sp>
            <p:nvSpPr>
              <p:cNvPr id="273" name="Freeform 273"/>
              <p:cNvSpPr/>
              <p:nvPr/>
            </p:nvSpPr>
            <p:spPr>
              <a:xfrm>
                <a:off x="3621087" y="5511800"/>
                <a:ext cx="30162" cy="30162"/>
              </a:xfrm>
              <a:custGeom>
                <a:avLst/>
                <a:gdLst/>
                <a:ahLst/>
                <a:cxnLst/>
                <a:rect l="l" t="t" r="r" b="b"/>
                <a:pathLst>
                  <a:path w="30162" h="30162">
                    <a:moveTo>
                      <a:pt x="0" y="15081"/>
                    </a:moveTo>
                    <a:cubicBezTo>
                      <a:pt x="0" y="23410"/>
                      <a:pt x="6752" y="30162"/>
                      <a:pt x="15081" y="30162"/>
                    </a:cubicBezTo>
                    <a:cubicBezTo>
                      <a:pt x="23410" y="30162"/>
                      <a:pt x="30162" y="23410"/>
                      <a:pt x="30162" y="15081"/>
                    </a:cubicBezTo>
                    <a:cubicBezTo>
                      <a:pt x="30162" y="6752"/>
                      <a:pt x="23410" y="0"/>
                      <a:pt x="15081" y="0"/>
                    </a:cubicBezTo>
                    <a:cubicBezTo>
                      <a:pt x="6752" y="0"/>
                      <a:pt x="0" y="6752"/>
                      <a:pt x="0" y="15081"/>
                    </a:cubicBezTo>
                  </a:path>
                </a:pathLst>
              </a:custGeom>
              <a:noFill/>
              <a:ln w="30162">
                <a:solidFill>
                  <a:srgbClr val="E04C2E"/>
                </a:solidFill>
              </a:ln>
            </p:spPr>
          </p:sp>
        </p:grpSp>
        <p:sp>
          <p:nvSpPr>
            <p:cNvPr id="275" name="Ellipse 275"/>
            <p:cNvSpPr/>
            <p:nvPr/>
          </p:nvSpPr>
          <p:spPr>
            <a:xfrm>
              <a:off x="3926205" y="5412105"/>
              <a:ext cx="34290" cy="34290"/>
            </a:xfrm>
            <a:prstGeom prst="ellipse">
              <a:avLst/>
            </a:prstGeom>
            <a:solidFill>
              <a:srgbClr val="E04C2E"/>
            </a:solidFill>
            <a:ln>
              <a:noFill/>
            </a:ln>
          </p:spPr>
        </p:sp>
        <p:sp>
          <p:nvSpPr>
            <p:cNvPr id="276" name="TextBox 276"/>
            <p:cNvSpPr txBox="1"/>
            <p:nvPr/>
          </p:nvSpPr>
          <p:spPr>
            <a:xfrm>
              <a:off x="4014788" y="5394484"/>
              <a:ext cx="1199566"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重点项目、优质客户优先受理</a:t>
              </a:r>
            </a:p>
          </p:txBody>
        </p:sp>
        <p:sp>
          <p:nvSpPr>
            <p:cNvPr id="277" name="Ellipse 277"/>
            <p:cNvSpPr/>
            <p:nvPr/>
          </p:nvSpPr>
          <p:spPr>
            <a:xfrm>
              <a:off x="3926205" y="5621655"/>
              <a:ext cx="34290" cy="34290"/>
            </a:xfrm>
            <a:prstGeom prst="ellipse">
              <a:avLst/>
            </a:prstGeom>
            <a:solidFill>
              <a:srgbClr val="E04C2E"/>
            </a:solidFill>
            <a:ln>
              <a:noFill/>
            </a:ln>
          </p:spPr>
        </p:sp>
        <p:sp>
          <p:nvSpPr>
            <p:cNvPr id="278" name="TextBox 278"/>
            <p:cNvSpPr txBox="1"/>
            <p:nvPr/>
          </p:nvSpPr>
          <p:spPr>
            <a:xfrm>
              <a:off x="4014788" y="5604034"/>
              <a:ext cx="1291107"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专属通道、专人跟进、专班保障</a:t>
              </a:r>
            </a:p>
          </p:txBody>
        </p:sp>
        <p:sp>
          <p:nvSpPr>
            <p:cNvPr id="279" name="Line 279"/>
            <p:cNvSpPr/>
            <p:nvPr/>
          </p:nvSpPr>
          <p:spPr>
            <a:xfrm>
              <a:off x="3371850" y="5924550"/>
              <a:ext cx="2590800" cy="9525"/>
            </a:xfrm>
            <a:custGeom>
              <a:avLst/>
              <a:gdLst/>
              <a:ahLst/>
              <a:cxnLst/>
              <a:rect l="l" t="t" r="r" b="b"/>
              <a:pathLst>
                <a:path w="2590800" h="9525">
                  <a:moveTo>
                    <a:pt x="0" y="0"/>
                  </a:moveTo>
                  <a:lnTo>
                    <a:pt x="2590800" y="0"/>
                  </a:lnTo>
                </a:path>
              </a:pathLst>
            </a:custGeom>
            <a:noFill/>
            <a:ln w="9525">
              <a:solidFill>
                <a:srgbClr val="EDF2FA"/>
              </a:solidFill>
            </a:ln>
          </p:spPr>
        </p:sp>
        <p:sp>
          <p:nvSpPr>
            <p:cNvPr id="280" name="TextBox 280"/>
            <p:cNvSpPr txBox="1"/>
            <p:nvPr/>
          </p:nvSpPr>
          <p:spPr>
            <a:xfrm>
              <a:off x="3424238" y="6095286"/>
              <a:ext cx="1417182" cy="140494"/>
            </a:xfrm>
            <a:prstGeom prst="rect">
              <a:avLst/>
            </a:prstGeom>
            <a:noFill/>
            <a:ln>
              <a:noFill/>
            </a:ln>
          </p:spPr>
          <p:txBody>
            <a:bodyPr wrap="none" lIns="0" tIns="0" rIns="0" bIns="0" anchor="t" anchorCtr="0">
              <a:spAutoFit/>
            </a:bodyPr>
            <a:lstStyle/>
            <a:p>
              <a:pPr algn="l"/>
              <a:r>
                <a:rPr lang="zh-CN" sz="710" b="1" dirty="0">
                  <a:solidFill>
                    <a:srgbClr val="D0442C"/>
                  </a:solidFill>
                  <a:latin typeface="+mn-lt"/>
                  <a:ea typeface="+mn-ea"/>
                  <a:cs typeface="+mn-cs"/>
                </a:rPr>
                <a:t>目标：绿色通道项目占比 ≥ 30%​</a:t>
              </a:r>
            </a:p>
          </p:txBody>
        </p:sp>
        <p:sp>
          <p:nvSpPr>
            <p:cNvPr id="281" name="Rectangle 281"/>
            <p:cNvSpPr/>
            <p:nvPr/>
          </p:nvSpPr>
          <p:spPr>
            <a:xfrm>
              <a:off x="6210300" y="4876800"/>
              <a:ext cx="2781300" cy="1562100"/>
            </a:xfrm>
            <a:prstGeom prst="roundRect">
              <a:avLst>
                <a:gd name="adj" fmla="val 2439"/>
              </a:avLst>
            </a:prstGeom>
            <a:solidFill>
              <a:srgbClr val="FFFFFF"/>
            </a:solidFill>
            <a:ln w="9525">
              <a:solidFill>
                <a:srgbClr val="C9D6E9"/>
              </a:solidFill>
            </a:ln>
          </p:spPr>
        </p:sp>
        <p:sp>
          <p:nvSpPr>
            <p:cNvPr id="282" name="Rectangle 282"/>
            <p:cNvSpPr/>
            <p:nvPr/>
          </p:nvSpPr>
          <p:spPr>
            <a:xfrm>
              <a:off x="6305550" y="4972050"/>
              <a:ext cx="266700" cy="209550"/>
            </a:xfrm>
            <a:prstGeom prst="rect">
              <a:avLst/>
            </a:prstGeom>
            <a:solidFill>
              <a:srgbClr val="69281B"/>
            </a:solidFill>
            <a:ln>
              <a:noFill/>
            </a:ln>
          </p:spPr>
        </p:sp>
        <p:sp>
          <p:nvSpPr>
            <p:cNvPr id="283" name="TextBox 283"/>
            <p:cNvSpPr txBox="1"/>
            <p:nvPr/>
          </p:nvSpPr>
          <p:spPr>
            <a:xfrm>
              <a:off x="6338514" y="5035391"/>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03​</a:t>
              </a:r>
            </a:p>
          </p:txBody>
        </p:sp>
        <p:sp>
          <p:nvSpPr>
            <p:cNvPr id="284" name="TextBox 284"/>
            <p:cNvSpPr txBox="1"/>
            <p:nvPr/>
          </p:nvSpPr>
          <p:spPr>
            <a:xfrm>
              <a:off x="6662738" y="5027295"/>
              <a:ext cx="736473"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投放督导机制</a:t>
              </a:r>
            </a:p>
          </p:txBody>
        </p:sp>
        <p:grpSp>
          <p:nvGrpSpPr>
            <p:cNvPr id="288" name="Group 288"/>
            <p:cNvGrpSpPr/>
            <p:nvPr/>
          </p:nvGrpSpPr>
          <p:grpSpPr>
            <a:xfrm>
              <a:off x="6388894" y="5436394"/>
              <a:ext cx="271462" cy="271462"/>
              <a:chOff x="6388894" y="5436394"/>
              <a:chExt cx="271462" cy="271462"/>
            </a:xfrm>
          </p:grpSpPr>
          <p:sp>
            <p:nvSpPr>
              <p:cNvPr id="285" name="Freeform 285"/>
              <p:cNvSpPr/>
              <p:nvPr/>
            </p:nvSpPr>
            <p:spPr>
              <a:xfrm>
                <a:off x="6509543" y="5557043"/>
                <a:ext cx="30162" cy="30162"/>
              </a:xfrm>
              <a:custGeom>
                <a:avLst/>
                <a:gdLst/>
                <a:ahLst/>
                <a:cxnLst/>
                <a:rect l="l" t="t" r="r" b="b"/>
                <a:pathLst>
                  <a:path w="30162" h="30162">
                    <a:moveTo>
                      <a:pt x="0" y="15081"/>
                    </a:moveTo>
                    <a:cubicBezTo>
                      <a:pt x="0" y="23410"/>
                      <a:pt x="6752" y="30162"/>
                      <a:pt x="15081" y="30162"/>
                    </a:cubicBezTo>
                    <a:cubicBezTo>
                      <a:pt x="23410" y="30162"/>
                      <a:pt x="30162" y="23410"/>
                      <a:pt x="30162" y="15081"/>
                    </a:cubicBezTo>
                    <a:cubicBezTo>
                      <a:pt x="30162" y="6752"/>
                      <a:pt x="23410" y="0"/>
                      <a:pt x="15081" y="0"/>
                    </a:cubicBezTo>
                    <a:cubicBezTo>
                      <a:pt x="6752" y="0"/>
                      <a:pt x="0" y="6752"/>
                      <a:pt x="0" y="15081"/>
                    </a:cubicBezTo>
                  </a:path>
                </a:pathLst>
              </a:custGeom>
              <a:noFill/>
              <a:ln w="30162">
                <a:solidFill>
                  <a:srgbClr val="E04C2E"/>
                </a:solidFill>
              </a:ln>
            </p:spPr>
          </p:sp>
          <p:sp>
            <p:nvSpPr>
              <p:cNvPr id="286" name="Freeform 286"/>
              <p:cNvSpPr/>
              <p:nvPr/>
            </p:nvSpPr>
            <p:spPr>
              <a:xfrm>
                <a:off x="6449219" y="5496719"/>
                <a:ext cx="150812" cy="150812"/>
              </a:xfrm>
              <a:custGeom>
                <a:avLst/>
                <a:gdLst/>
                <a:ahLst/>
                <a:cxnLst/>
                <a:rect l="l" t="t" r="r" b="b"/>
                <a:pathLst>
                  <a:path w="150812" h="150812">
                    <a:moveTo>
                      <a:pt x="0" y="75406"/>
                    </a:moveTo>
                    <a:cubicBezTo>
                      <a:pt x="0" y="117052"/>
                      <a:pt x="33760" y="150812"/>
                      <a:pt x="75406" y="150812"/>
                    </a:cubicBezTo>
                    <a:cubicBezTo>
                      <a:pt x="117052" y="150812"/>
                      <a:pt x="150812" y="117052"/>
                      <a:pt x="150812" y="75406"/>
                    </a:cubicBezTo>
                    <a:cubicBezTo>
                      <a:pt x="150812" y="33760"/>
                      <a:pt x="117052" y="0"/>
                      <a:pt x="75406" y="0"/>
                    </a:cubicBezTo>
                    <a:cubicBezTo>
                      <a:pt x="33760" y="0"/>
                      <a:pt x="0" y="33760"/>
                      <a:pt x="0" y="75406"/>
                    </a:cubicBezTo>
                  </a:path>
                </a:pathLst>
              </a:custGeom>
              <a:noFill/>
              <a:ln w="30162">
                <a:solidFill>
                  <a:srgbClr val="E04C2E"/>
                </a:solidFill>
              </a:ln>
            </p:spPr>
          </p:sp>
          <p:sp>
            <p:nvSpPr>
              <p:cNvPr id="287" name="Freeform 287"/>
              <p:cNvSpPr/>
              <p:nvPr/>
            </p:nvSpPr>
            <p:spPr>
              <a:xfrm>
                <a:off x="6388894" y="5436394"/>
                <a:ext cx="271462" cy="271462"/>
              </a:xfrm>
              <a:custGeom>
                <a:avLst/>
                <a:gdLst/>
                <a:ahLst/>
                <a:cxnLst/>
                <a:rect l="l" t="t" r="r" b="b"/>
                <a:pathLst>
                  <a:path w="271462" h="271462">
                    <a:moveTo>
                      <a:pt x="0" y="135731"/>
                    </a:moveTo>
                    <a:cubicBezTo>
                      <a:pt x="0" y="210693"/>
                      <a:pt x="60769" y="271462"/>
                      <a:pt x="135731" y="271462"/>
                    </a:cubicBezTo>
                    <a:cubicBezTo>
                      <a:pt x="210693" y="271462"/>
                      <a:pt x="271462" y="210693"/>
                      <a:pt x="271462" y="135731"/>
                    </a:cubicBezTo>
                    <a:cubicBezTo>
                      <a:pt x="271462" y="60769"/>
                      <a:pt x="210693" y="0"/>
                      <a:pt x="135731" y="0"/>
                    </a:cubicBezTo>
                    <a:cubicBezTo>
                      <a:pt x="60769" y="0"/>
                      <a:pt x="0" y="60769"/>
                      <a:pt x="0" y="135731"/>
                    </a:cubicBezTo>
                  </a:path>
                </a:pathLst>
              </a:custGeom>
              <a:noFill/>
              <a:ln w="30162">
                <a:solidFill>
                  <a:srgbClr val="E04C2E"/>
                </a:solidFill>
              </a:ln>
            </p:spPr>
          </p:sp>
        </p:grpSp>
        <p:sp>
          <p:nvSpPr>
            <p:cNvPr id="289" name="Ellipse 289"/>
            <p:cNvSpPr/>
            <p:nvPr/>
          </p:nvSpPr>
          <p:spPr>
            <a:xfrm>
              <a:off x="6859905" y="5412105"/>
              <a:ext cx="34290" cy="34290"/>
            </a:xfrm>
            <a:prstGeom prst="ellipse">
              <a:avLst/>
            </a:prstGeom>
            <a:solidFill>
              <a:srgbClr val="E04C2E"/>
            </a:solidFill>
            <a:ln>
              <a:noFill/>
            </a:ln>
          </p:spPr>
        </p:sp>
        <p:sp>
          <p:nvSpPr>
            <p:cNvPr id="290" name="TextBox 290"/>
            <p:cNvSpPr txBox="1"/>
            <p:nvPr/>
          </p:nvSpPr>
          <p:spPr>
            <a:xfrm>
              <a:off x="6948488" y="5394484"/>
              <a:ext cx="1016483"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周跟踪、月通报、季考核</a:t>
              </a:r>
            </a:p>
          </p:txBody>
        </p:sp>
        <p:sp>
          <p:nvSpPr>
            <p:cNvPr id="291" name="Ellipse 291"/>
            <p:cNvSpPr/>
            <p:nvPr/>
          </p:nvSpPr>
          <p:spPr>
            <a:xfrm>
              <a:off x="6859905" y="5621655"/>
              <a:ext cx="34290" cy="34290"/>
            </a:xfrm>
            <a:prstGeom prst="ellipse">
              <a:avLst/>
            </a:prstGeom>
            <a:solidFill>
              <a:srgbClr val="E04C2E"/>
            </a:solidFill>
            <a:ln>
              <a:noFill/>
            </a:ln>
          </p:spPr>
        </p:sp>
        <p:sp>
          <p:nvSpPr>
            <p:cNvPr id="292" name="TextBox 292"/>
            <p:cNvSpPr txBox="1"/>
            <p:nvPr/>
          </p:nvSpPr>
          <p:spPr>
            <a:xfrm>
              <a:off x="6948488" y="5604034"/>
              <a:ext cx="1199566"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重点项目台账管理、销号推进</a:t>
              </a:r>
            </a:p>
          </p:txBody>
        </p:sp>
        <p:sp>
          <p:nvSpPr>
            <p:cNvPr id="293" name="Line 293"/>
            <p:cNvSpPr/>
            <p:nvPr/>
          </p:nvSpPr>
          <p:spPr>
            <a:xfrm>
              <a:off x="6305550" y="5924550"/>
              <a:ext cx="2590800" cy="9525"/>
            </a:xfrm>
            <a:custGeom>
              <a:avLst/>
              <a:gdLst/>
              <a:ahLst/>
              <a:cxnLst/>
              <a:rect l="l" t="t" r="r" b="b"/>
              <a:pathLst>
                <a:path w="2590800" h="9525">
                  <a:moveTo>
                    <a:pt x="0" y="0"/>
                  </a:moveTo>
                  <a:lnTo>
                    <a:pt x="2590800" y="0"/>
                  </a:lnTo>
                </a:path>
              </a:pathLst>
            </a:custGeom>
            <a:noFill/>
            <a:ln w="9525">
              <a:solidFill>
                <a:srgbClr val="EDF2FA"/>
              </a:solidFill>
            </a:ln>
          </p:spPr>
        </p:sp>
        <p:sp>
          <p:nvSpPr>
            <p:cNvPr id="294" name="TextBox 294"/>
            <p:cNvSpPr txBox="1"/>
            <p:nvPr/>
          </p:nvSpPr>
          <p:spPr>
            <a:xfrm>
              <a:off x="6357938" y="6095286"/>
              <a:ext cx="1130442" cy="140494"/>
            </a:xfrm>
            <a:prstGeom prst="rect">
              <a:avLst/>
            </a:prstGeom>
            <a:noFill/>
            <a:ln>
              <a:noFill/>
            </a:ln>
          </p:spPr>
          <p:txBody>
            <a:bodyPr wrap="none" lIns="0" tIns="0" rIns="0" bIns="0" anchor="t" anchorCtr="0">
              <a:spAutoFit/>
            </a:bodyPr>
            <a:lstStyle/>
            <a:p>
              <a:pPr algn="l"/>
              <a:r>
                <a:rPr lang="zh-CN" sz="710" b="1" dirty="0">
                  <a:solidFill>
                    <a:srgbClr val="D0442C"/>
                  </a:solidFill>
                  <a:latin typeface="+mn-lt"/>
                  <a:ea typeface="+mn-ea"/>
                  <a:cs typeface="+mn-cs"/>
                </a:rPr>
                <a:t>目标：按期投放率 ≥ 90%​</a:t>
              </a:r>
            </a:p>
          </p:txBody>
        </p:sp>
        <p:sp>
          <p:nvSpPr>
            <p:cNvPr id="295" name="Rectangle 295"/>
            <p:cNvSpPr/>
            <p:nvPr/>
          </p:nvSpPr>
          <p:spPr>
            <a:xfrm>
              <a:off x="9144000" y="4876800"/>
              <a:ext cx="2724150" cy="1562100"/>
            </a:xfrm>
            <a:prstGeom prst="roundRect">
              <a:avLst>
                <a:gd name="adj" fmla="val 2439"/>
              </a:avLst>
            </a:prstGeom>
            <a:solidFill>
              <a:srgbClr val="FFFFFF"/>
            </a:solidFill>
            <a:ln w="9525">
              <a:solidFill>
                <a:srgbClr val="C9D6E9"/>
              </a:solidFill>
            </a:ln>
          </p:spPr>
        </p:sp>
        <p:sp>
          <p:nvSpPr>
            <p:cNvPr id="296" name="Rectangle 296"/>
            <p:cNvSpPr/>
            <p:nvPr/>
          </p:nvSpPr>
          <p:spPr>
            <a:xfrm>
              <a:off x="9239250" y="4972050"/>
              <a:ext cx="266700" cy="209550"/>
            </a:xfrm>
            <a:prstGeom prst="rect">
              <a:avLst/>
            </a:prstGeom>
            <a:solidFill>
              <a:srgbClr val="69281B"/>
            </a:solidFill>
            <a:ln>
              <a:noFill/>
            </a:ln>
          </p:spPr>
        </p:sp>
        <p:sp>
          <p:nvSpPr>
            <p:cNvPr id="297" name="TextBox 297"/>
            <p:cNvSpPr txBox="1"/>
            <p:nvPr/>
          </p:nvSpPr>
          <p:spPr>
            <a:xfrm>
              <a:off x="9272214" y="5035391"/>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04​</a:t>
              </a:r>
            </a:p>
          </p:txBody>
        </p:sp>
        <p:sp>
          <p:nvSpPr>
            <p:cNvPr id="298" name="TextBox 298"/>
            <p:cNvSpPr txBox="1"/>
            <p:nvPr/>
          </p:nvSpPr>
          <p:spPr>
            <a:xfrm>
              <a:off x="9596438" y="5027295"/>
              <a:ext cx="736473"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贷后管理机制</a:t>
              </a:r>
            </a:p>
          </p:txBody>
        </p:sp>
        <p:grpSp>
          <p:nvGrpSpPr>
            <p:cNvPr id="301" name="Group 301"/>
            <p:cNvGrpSpPr/>
            <p:nvPr/>
          </p:nvGrpSpPr>
          <p:grpSpPr>
            <a:xfrm>
              <a:off x="9302241" y="5436394"/>
              <a:ext cx="294509" cy="271462"/>
              <a:chOff x="9302241" y="5436394"/>
              <a:chExt cx="294509" cy="271462"/>
            </a:xfrm>
          </p:grpSpPr>
          <p:sp>
            <p:nvSpPr>
              <p:cNvPr id="299" name="Freeform 299"/>
              <p:cNvSpPr/>
              <p:nvPr/>
            </p:nvSpPr>
            <p:spPr>
              <a:xfrm>
                <a:off x="9302241" y="5436394"/>
                <a:ext cx="294509" cy="269139"/>
              </a:xfrm>
              <a:custGeom>
                <a:avLst/>
                <a:gdLst/>
                <a:ahLst/>
                <a:cxnLst/>
                <a:rect l="l" t="t" r="r" b="b"/>
                <a:pathLst>
                  <a:path w="294509" h="269139">
                    <a:moveTo>
                      <a:pt x="147940" y="269139"/>
                    </a:moveTo>
                    <a:cubicBezTo>
                      <a:pt x="53463" y="239854"/>
                      <a:pt x="0" y="140141"/>
                      <a:pt x="27893" y="45244"/>
                    </a:cubicBezTo>
                    <a:cubicBezTo>
                      <a:pt x="74879" y="47394"/>
                      <a:pt x="120857" y="31166"/>
                      <a:pt x="156084" y="0"/>
                    </a:cubicBezTo>
                    <a:cubicBezTo>
                      <a:pt x="191311" y="31166"/>
                      <a:pt x="237288" y="47394"/>
                      <a:pt x="284274" y="45244"/>
                    </a:cubicBezTo>
                    <a:cubicBezTo>
                      <a:pt x="294509" y="80068"/>
                      <a:pt x="294037" y="117165"/>
                      <a:pt x="282917" y="151717"/>
                    </a:cubicBezTo>
                  </a:path>
                </a:pathLst>
              </a:custGeom>
              <a:noFill/>
              <a:ln w="30162">
                <a:solidFill>
                  <a:srgbClr val="E04C2E"/>
                </a:solidFill>
              </a:ln>
            </p:spPr>
          </p:sp>
          <p:sp>
            <p:nvSpPr>
              <p:cNvPr id="300" name="Freeform 300"/>
              <p:cNvSpPr/>
              <p:nvPr/>
            </p:nvSpPr>
            <p:spPr>
              <a:xfrm>
                <a:off x="9503568" y="5647531"/>
                <a:ext cx="90487" cy="60325"/>
              </a:xfrm>
              <a:custGeom>
                <a:avLst/>
                <a:gdLst/>
                <a:ahLst/>
                <a:cxnLst/>
                <a:rect l="l" t="t" r="r" b="b"/>
                <a:pathLst>
                  <a:path w="90487" h="60325">
                    <a:moveTo>
                      <a:pt x="0" y="30162"/>
                    </a:moveTo>
                    <a:lnTo>
                      <a:pt x="30162" y="60325"/>
                    </a:lnTo>
                    <a:lnTo>
                      <a:pt x="90487" y="0"/>
                    </a:lnTo>
                  </a:path>
                </a:pathLst>
              </a:custGeom>
              <a:noFill/>
              <a:ln w="30162">
                <a:solidFill>
                  <a:srgbClr val="E04C2E"/>
                </a:solidFill>
              </a:ln>
            </p:spPr>
          </p:sp>
        </p:grpSp>
        <p:sp>
          <p:nvSpPr>
            <p:cNvPr id="302" name="Ellipse 302"/>
            <p:cNvSpPr/>
            <p:nvPr/>
          </p:nvSpPr>
          <p:spPr>
            <a:xfrm>
              <a:off x="9793605" y="5412105"/>
              <a:ext cx="34290" cy="34290"/>
            </a:xfrm>
            <a:prstGeom prst="ellipse">
              <a:avLst/>
            </a:prstGeom>
            <a:solidFill>
              <a:srgbClr val="E04C2E"/>
            </a:solidFill>
            <a:ln>
              <a:noFill/>
            </a:ln>
          </p:spPr>
        </p:sp>
        <p:sp>
          <p:nvSpPr>
            <p:cNvPr id="303" name="TextBox 303"/>
            <p:cNvSpPr txBox="1"/>
            <p:nvPr/>
          </p:nvSpPr>
          <p:spPr>
            <a:xfrm>
              <a:off x="9882188" y="5394484"/>
              <a:ext cx="1016483"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加强用途监控与风险预警</a:t>
              </a:r>
            </a:p>
          </p:txBody>
        </p:sp>
        <p:sp>
          <p:nvSpPr>
            <p:cNvPr id="304" name="Ellipse 304"/>
            <p:cNvSpPr/>
            <p:nvPr/>
          </p:nvSpPr>
          <p:spPr>
            <a:xfrm>
              <a:off x="9793605" y="5621655"/>
              <a:ext cx="34290" cy="34290"/>
            </a:xfrm>
            <a:prstGeom prst="ellipse">
              <a:avLst/>
            </a:prstGeom>
            <a:solidFill>
              <a:srgbClr val="E04C2E"/>
            </a:solidFill>
            <a:ln>
              <a:noFill/>
            </a:ln>
          </p:spPr>
        </p:sp>
        <p:sp>
          <p:nvSpPr>
            <p:cNvPr id="305" name="TextBox 305"/>
            <p:cNvSpPr txBox="1"/>
            <p:nvPr/>
          </p:nvSpPr>
          <p:spPr>
            <a:xfrm>
              <a:off x="9882188" y="5604034"/>
              <a:ext cx="1016483"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分级分类管理，动态跟踪</a:t>
              </a:r>
            </a:p>
          </p:txBody>
        </p:sp>
        <p:sp>
          <p:nvSpPr>
            <p:cNvPr id="306" name="Line 306"/>
            <p:cNvSpPr/>
            <p:nvPr/>
          </p:nvSpPr>
          <p:spPr>
            <a:xfrm>
              <a:off x="9239250" y="5924550"/>
              <a:ext cx="2533650" cy="9525"/>
            </a:xfrm>
            <a:custGeom>
              <a:avLst/>
              <a:gdLst/>
              <a:ahLst/>
              <a:cxnLst/>
              <a:rect l="l" t="t" r="r" b="b"/>
              <a:pathLst>
                <a:path w="2533650" h="9525">
                  <a:moveTo>
                    <a:pt x="0" y="0"/>
                  </a:moveTo>
                  <a:lnTo>
                    <a:pt x="2533650" y="0"/>
                  </a:lnTo>
                </a:path>
              </a:pathLst>
            </a:custGeom>
            <a:noFill/>
            <a:ln w="9525">
              <a:solidFill>
                <a:srgbClr val="EDF2FA"/>
              </a:solidFill>
            </a:ln>
          </p:spPr>
        </p:sp>
        <p:sp>
          <p:nvSpPr>
            <p:cNvPr id="307" name="TextBox 307"/>
            <p:cNvSpPr txBox="1"/>
            <p:nvPr/>
          </p:nvSpPr>
          <p:spPr>
            <a:xfrm>
              <a:off x="9291638" y="6095286"/>
              <a:ext cx="994479" cy="140494"/>
            </a:xfrm>
            <a:prstGeom prst="rect">
              <a:avLst/>
            </a:prstGeom>
            <a:noFill/>
            <a:ln>
              <a:noFill/>
            </a:ln>
          </p:spPr>
          <p:txBody>
            <a:bodyPr wrap="none" lIns="0" tIns="0" rIns="0" bIns="0" anchor="t" anchorCtr="0">
              <a:spAutoFit/>
            </a:bodyPr>
            <a:lstStyle/>
            <a:p>
              <a:pPr algn="l"/>
              <a:r>
                <a:rPr lang="zh-CN" sz="710" b="1" dirty="0">
                  <a:solidFill>
                    <a:srgbClr val="D0442C"/>
                  </a:solidFill>
                  <a:latin typeface="+mn-lt"/>
                  <a:ea typeface="+mn-ea"/>
                  <a:cs typeface="+mn-cs"/>
                </a:rPr>
                <a:t>目标：不良率 ≤ 1.5%​</a:t>
              </a:r>
            </a:p>
          </p:txBody>
        </p:sp>
        <p:sp>
          <p:nvSpPr>
            <p:cNvPr id="308" name="TextBox 308"/>
            <p:cNvSpPr txBox="1"/>
            <p:nvPr/>
          </p:nvSpPr>
          <p:spPr>
            <a:xfrm>
              <a:off x="338138" y="6522482"/>
              <a:ext cx="1904975"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注：以上数据为示例，最终以实际统计结果为准。</a:t>
              </a:r>
            </a:p>
          </p:txBody>
        </p:sp>
      </p:grpSp>
      <p:sp>
        <p:nvSpPr>
          <p:cNvPr id="310"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16 / 18 页​</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17​</a:t>
              </a:r>
            </a:p>
          </p:txBody>
        </p:sp>
        <p:sp>
          <p:nvSpPr>
            <p:cNvPr id="4" name="TextBox 4"/>
            <p:cNvSpPr txBox="1"/>
            <p:nvPr/>
          </p:nvSpPr>
          <p:spPr>
            <a:xfrm>
              <a:off x="1019175" y="169069"/>
              <a:ext cx="7105447"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数字化渠道、网点转型与人才机制协同升级，提升基层经营能力</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62" name="dashboard"/>
          <p:cNvGrpSpPr/>
          <p:nvPr/>
        </p:nvGrpSpPr>
        <p:grpSpPr>
          <a:xfrm>
            <a:off x="228600" y="685800"/>
            <a:ext cx="3714750" cy="2705100"/>
            <a:chOff x="228600" y="685800"/>
            <a:chExt cx="3714750" cy="2705100"/>
          </a:xfrm>
        </p:grpSpPr>
        <p:sp>
          <p:nvSpPr>
            <p:cNvPr id="9" name="Rectangle 9"/>
            <p:cNvSpPr/>
            <p:nvPr/>
          </p:nvSpPr>
          <p:spPr>
            <a:xfrm>
              <a:off x="228600" y="685800"/>
              <a:ext cx="3714750" cy="2705100"/>
            </a:xfrm>
            <a:prstGeom prst="roundRect">
              <a:avLst>
                <a:gd name="adj" fmla="val 2113"/>
              </a:avLst>
            </a:prstGeom>
            <a:solidFill>
              <a:srgbClr val="FFFFFF"/>
            </a:solidFill>
            <a:ln w="9525">
              <a:solidFill>
                <a:srgbClr val="C9D6E9"/>
              </a:solidFill>
            </a:ln>
          </p:spPr>
        </p:sp>
        <p:sp>
          <p:nvSpPr>
            <p:cNvPr id="10" name="Rectangle 10"/>
            <p:cNvSpPr/>
            <p:nvPr/>
          </p:nvSpPr>
          <p:spPr>
            <a:xfrm>
              <a:off x="228600" y="685800"/>
              <a:ext cx="3714750" cy="209550"/>
            </a:xfrm>
            <a:prstGeom prst="roundRect">
              <a:avLst>
                <a:gd name="adj" fmla="val 27273"/>
              </a:avLst>
            </a:prstGeom>
            <a:solidFill>
              <a:srgbClr val="69281B"/>
            </a:solidFill>
            <a:ln>
              <a:noFill/>
            </a:ln>
          </p:spPr>
        </p:sp>
        <p:sp>
          <p:nvSpPr>
            <p:cNvPr id="11" name="Rectangle 11"/>
            <p:cNvSpPr/>
            <p:nvPr/>
          </p:nvSpPr>
          <p:spPr>
            <a:xfrm>
              <a:off x="228600" y="800100"/>
              <a:ext cx="3714750" cy="95250"/>
            </a:xfrm>
            <a:prstGeom prst="rect">
              <a:avLst/>
            </a:prstGeom>
            <a:solidFill>
              <a:srgbClr val="69281B"/>
            </a:solidFill>
            <a:ln>
              <a:noFill/>
            </a:ln>
          </p:spPr>
        </p:sp>
        <p:sp>
          <p:nvSpPr>
            <p:cNvPr id="12" name="TextBox 12"/>
            <p:cNvSpPr txBox="1"/>
            <p:nvPr/>
          </p:nvSpPr>
          <p:spPr>
            <a:xfrm>
              <a:off x="995405" y="739616"/>
              <a:ext cx="218114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数字化经营仪表盘（上半年 vs 2026目标）​</a:t>
              </a:r>
            </a:p>
          </p:txBody>
        </p:sp>
        <p:grpSp>
          <p:nvGrpSpPr>
            <p:cNvPr id="16" name="Group 16"/>
            <p:cNvGrpSpPr/>
            <p:nvPr/>
          </p:nvGrpSpPr>
          <p:grpSpPr>
            <a:xfrm>
              <a:off x="395288" y="1073944"/>
              <a:ext cx="104775" cy="157163"/>
              <a:chOff x="395288" y="1073944"/>
              <a:chExt cx="104775" cy="157163"/>
            </a:xfrm>
          </p:grpSpPr>
          <p:sp>
            <p:nvSpPr>
              <p:cNvPr id="13" name="Freeform 13"/>
              <p:cNvSpPr/>
              <p:nvPr/>
            </p:nvSpPr>
            <p:spPr>
              <a:xfrm>
                <a:off x="395288" y="1073944"/>
                <a:ext cx="104775" cy="157163"/>
              </a:xfrm>
              <a:custGeom>
                <a:avLst/>
                <a:gdLst/>
                <a:ahLst/>
                <a:cxnLst/>
                <a:rect l="l" t="t" r="r" b="b"/>
                <a:pathLst>
                  <a:path w="104775" h="157163">
                    <a:moveTo>
                      <a:pt x="0" y="17463"/>
                    </a:moveTo>
                    <a:cubicBezTo>
                      <a:pt x="0" y="7818"/>
                      <a:pt x="7818" y="0"/>
                      <a:pt x="17463" y="0"/>
                    </a:cubicBezTo>
                    <a:lnTo>
                      <a:pt x="87313" y="0"/>
                    </a:lnTo>
                    <a:cubicBezTo>
                      <a:pt x="96957" y="0"/>
                      <a:pt x="104775" y="7818"/>
                      <a:pt x="104775" y="17463"/>
                    </a:cubicBezTo>
                    <a:lnTo>
                      <a:pt x="104775" y="139700"/>
                    </a:lnTo>
                    <a:cubicBezTo>
                      <a:pt x="104775" y="149344"/>
                      <a:pt x="96957" y="157163"/>
                      <a:pt x="87313" y="157163"/>
                    </a:cubicBezTo>
                    <a:lnTo>
                      <a:pt x="17463" y="157163"/>
                    </a:lnTo>
                    <a:cubicBezTo>
                      <a:pt x="7818" y="157163"/>
                      <a:pt x="0" y="149344"/>
                      <a:pt x="0" y="139700"/>
                    </a:cubicBezTo>
                    <a:lnTo>
                      <a:pt x="0" y="17463"/>
                    </a:lnTo>
                  </a:path>
                </a:pathLst>
              </a:custGeom>
              <a:noFill/>
              <a:ln w="17463">
                <a:solidFill>
                  <a:srgbClr val="E04C2E"/>
                </a:solidFill>
              </a:ln>
            </p:spPr>
          </p:sp>
          <p:sp>
            <p:nvSpPr>
              <p:cNvPr id="14" name="Freeform 14"/>
              <p:cNvSpPr/>
              <p:nvPr/>
            </p:nvSpPr>
            <p:spPr>
              <a:xfrm>
                <a:off x="438944" y="1082675"/>
                <a:ext cx="17463" cy="9525"/>
              </a:xfrm>
              <a:custGeom>
                <a:avLst/>
                <a:gdLst/>
                <a:ahLst/>
                <a:cxnLst/>
                <a:rect l="l" t="t" r="r" b="b"/>
                <a:pathLst>
                  <a:path w="17463" h="9525">
                    <a:moveTo>
                      <a:pt x="0" y="0"/>
                    </a:moveTo>
                    <a:lnTo>
                      <a:pt x="17463" y="0"/>
                    </a:lnTo>
                  </a:path>
                </a:pathLst>
              </a:custGeom>
              <a:noFill/>
              <a:ln w="17463">
                <a:solidFill>
                  <a:srgbClr val="E04C2E"/>
                </a:solidFill>
              </a:ln>
            </p:spPr>
          </p:sp>
          <p:sp>
            <p:nvSpPr>
              <p:cNvPr id="15" name="Freeform 15"/>
              <p:cNvSpPr/>
              <p:nvPr/>
            </p:nvSpPr>
            <p:spPr>
              <a:xfrm>
                <a:off x="447675" y="1196181"/>
                <a:ext cx="9525" cy="9525"/>
              </a:xfrm>
              <a:custGeom>
                <a:avLst/>
                <a:gdLst/>
                <a:ahLst/>
                <a:cxnLst/>
                <a:rect l="l" t="t" r="r" b="b"/>
                <a:pathLst>
                  <a:path w="9525" h="9525">
                    <a:moveTo>
                      <a:pt x="0" y="0"/>
                    </a:moveTo>
                    <a:lnTo>
                      <a:pt x="0" y="87"/>
                    </a:lnTo>
                  </a:path>
                </a:pathLst>
              </a:custGeom>
              <a:noFill/>
              <a:ln w="17463">
                <a:solidFill>
                  <a:srgbClr val="E04C2E"/>
                </a:solidFill>
              </a:ln>
            </p:spPr>
          </p:sp>
        </p:grpSp>
        <p:sp>
          <p:nvSpPr>
            <p:cNvPr id="17" name="TextBox 17"/>
            <p:cNvSpPr txBox="1"/>
            <p:nvPr/>
          </p:nvSpPr>
          <p:spPr>
            <a:xfrm>
              <a:off x="623888" y="1042988"/>
              <a:ext cx="716280"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企业网银活跃率</a:t>
              </a:r>
            </a:p>
          </p:txBody>
        </p:sp>
        <p:sp>
          <p:nvSpPr>
            <p:cNvPr id="18" name="TextBox 18"/>
            <p:cNvSpPr txBox="1"/>
            <p:nvPr/>
          </p:nvSpPr>
          <p:spPr>
            <a:xfrm>
              <a:off x="1900238" y="1026795"/>
              <a:ext cx="454781"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78.6%​</a:t>
              </a:r>
            </a:p>
          </p:txBody>
        </p:sp>
        <p:sp>
          <p:nvSpPr>
            <p:cNvPr id="19" name="TextBox 19"/>
            <p:cNvSpPr txBox="1"/>
            <p:nvPr/>
          </p:nvSpPr>
          <p:spPr>
            <a:xfrm>
              <a:off x="2357438" y="1034891"/>
              <a:ext cx="70239" cy="161925"/>
            </a:xfrm>
            <a:prstGeom prst="rect">
              <a:avLst/>
            </a:prstGeom>
            <a:noFill/>
            <a:ln>
              <a:noFill/>
            </a:ln>
          </p:spPr>
          <p:txBody>
            <a:bodyPr wrap="none" lIns="0" tIns="0" rIns="0" bIns="0" anchor="t" anchorCtr="0">
              <a:spAutoFit/>
            </a:bodyPr>
            <a:lstStyle/>
            <a:p>
              <a:pPr algn="l"/>
              <a:r>
                <a:rPr lang="zh-CN" sz="820" dirty="0">
                  <a:solidFill>
                    <a:srgbClr val="BEA09A"/>
                  </a:solidFill>
                  <a:latin typeface="+mn-lt"/>
                  <a:ea typeface="+mn-ea"/>
                  <a:cs typeface="+mn-cs"/>
                </a:rPr>
                <a:t>→</a:t>
              </a:r>
            </a:p>
          </p:txBody>
        </p:sp>
        <p:sp>
          <p:nvSpPr>
            <p:cNvPr id="20" name="TextBox 20"/>
            <p:cNvSpPr txBox="1"/>
            <p:nvPr/>
          </p:nvSpPr>
          <p:spPr>
            <a:xfrm>
              <a:off x="2528888" y="1026795"/>
              <a:ext cx="314843" cy="176212"/>
            </a:xfrm>
            <a:prstGeom prst="rect">
              <a:avLst/>
            </a:prstGeom>
            <a:noFill/>
            <a:ln>
              <a:noFill/>
            </a:ln>
          </p:spPr>
          <p:txBody>
            <a:bodyPr wrap="none" lIns="0" tIns="0" rIns="0" bIns="0" anchor="t" anchorCtr="0">
              <a:spAutoFit/>
            </a:bodyPr>
            <a:lstStyle/>
            <a:p>
              <a:pPr algn="l"/>
              <a:r>
                <a:rPr lang="zh-CN" sz="900" b="1" dirty="0">
                  <a:solidFill>
                    <a:srgbClr val="E04C2E"/>
                  </a:solidFill>
                  <a:latin typeface="+mn-lt"/>
                  <a:ea typeface="+mn-ea"/>
                  <a:cs typeface="+mn-cs"/>
                </a:rPr>
                <a:t>85%​</a:t>
              </a:r>
            </a:p>
          </p:txBody>
        </p:sp>
        <p:sp>
          <p:nvSpPr>
            <p:cNvPr id="21" name="Rectangle 21"/>
            <p:cNvSpPr/>
            <p:nvPr/>
          </p:nvSpPr>
          <p:spPr>
            <a:xfrm>
              <a:off x="628650" y="1219200"/>
              <a:ext cx="3143250" cy="57150"/>
            </a:xfrm>
            <a:prstGeom prst="roundRect">
              <a:avLst>
                <a:gd name="adj" fmla="val 50000"/>
              </a:avLst>
            </a:prstGeom>
            <a:solidFill>
              <a:srgbClr val="DDE6F2"/>
            </a:solidFill>
            <a:ln>
              <a:noFill/>
            </a:ln>
          </p:spPr>
        </p:sp>
        <p:sp>
          <p:nvSpPr>
            <p:cNvPr id="22" name="Rectangle 22"/>
            <p:cNvSpPr/>
            <p:nvPr/>
          </p:nvSpPr>
          <p:spPr>
            <a:xfrm>
              <a:off x="628650" y="1219200"/>
              <a:ext cx="2905125" cy="57150"/>
            </a:xfrm>
            <a:prstGeom prst="roundRect">
              <a:avLst>
                <a:gd name="adj" fmla="val 50000"/>
              </a:avLst>
            </a:prstGeom>
            <a:solidFill>
              <a:srgbClr val="69281B"/>
            </a:solidFill>
            <a:ln>
              <a:noFill/>
            </a:ln>
          </p:spPr>
        </p:sp>
        <p:sp>
          <p:nvSpPr>
            <p:cNvPr id="23" name="TextBox 23"/>
            <p:cNvSpPr txBox="1"/>
            <p:nvPr/>
          </p:nvSpPr>
          <p:spPr>
            <a:xfrm>
              <a:off x="3411741" y="1325880"/>
              <a:ext cx="364922" cy="119062"/>
            </a:xfrm>
            <a:prstGeom prst="rect">
              <a:avLst/>
            </a:prstGeom>
            <a:noFill/>
            <a:ln>
              <a:noFill/>
            </a:ln>
          </p:spPr>
          <p:txBody>
            <a:bodyPr wrap="none" lIns="0" tIns="0" rIns="0" bIns="0" anchor="t" anchorCtr="0">
              <a:spAutoFit/>
            </a:bodyPr>
            <a:lstStyle/>
            <a:p>
              <a:pPr algn="r"/>
              <a:r>
                <a:rPr lang="en-US" sz="600" dirty="0">
                  <a:solidFill>
                    <a:srgbClr val="E04C2E"/>
                  </a:solidFill>
                  <a:latin typeface="+mn-lt"/>
                  <a:ea typeface="+mn-ea"/>
                  <a:cs typeface="+mn-cs"/>
                </a:rPr>
                <a:t>+6.4pct​</a:t>
              </a:r>
            </a:p>
          </p:txBody>
        </p:sp>
        <p:grpSp>
          <p:nvGrpSpPr>
            <p:cNvPr id="26" name="Group 26"/>
            <p:cNvGrpSpPr/>
            <p:nvPr/>
          </p:nvGrpSpPr>
          <p:grpSpPr>
            <a:xfrm>
              <a:off x="377825" y="1626394"/>
              <a:ext cx="139700" cy="157162"/>
              <a:chOff x="377825" y="1626394"/>
              <a:chExt cx="139700" cy="157162"/>
            </a:xfrm>
          </p:grpSpPr>
          <p:sp>
            <p:nvSpPr>
              <p:cNvPr id="24" name="Freeform 24"/>
              <p:cNvSpPr/>
              <p:nvPr/>
            </p:nvSpPr>
            <p:spPr>
              <a:xfrm>
                <a:off x="377825" y="1626394"/>
                <a:ext cx="139700" cy="78581"/>
              </a:xfrm>
              <a:custGeom>
                <a:avLst/>
                <a:gdLst/>
                <a:ahLst/>
                <a:cxnLst/>
                <a:rect l="l" t="t" r="r" b="b"/>
                <a:pathLst>
                  <a:path w="139700" h="78581">
                    <a:moveTo>
                      <a:pt x="0" y="78581"/>
                    </a:moveTo>
                    <a:lnTo>
                      <a:pt x="0" y="52388"/>
                    </a:lnTo>
                    <a:cubicBezTo>
                      <a:pt x="0" y="37921"/>
                      <a:pt x="11727" y="26194"/>
                      <a:pt x="26194" y="26194"/>
                    </a:cubicBezTo>
                    <a:lnTo>
                      <a:pt x="139700" y="26194"/>
                    </a:lnTo>
                    <a:moveTo>
                      <a:pt x="113506" y="0"/>
                    </a:moveTo>
                    <a:lnTo>
                      <a:pt x="139700" y="26194"/>
                    </a:lnTo>
                    <a:lnTo>
                      <a:pt x="113506" y="52388"/>
                    </a:lnTo>
                  </a:path>
                </a:pathLst>
              </a:custGeom>
              <a:noFill/>
              <a:ln w="17463">
                <a:solidFill>
                  <a:srgbClr val="E04C2E"/>
                </a:solidFill>
              </a:ln>
            </p:spPr>
          </p:sp>
          <p:sp>
            <p:nvSpPr>
              <p:cNvPr id="25" name="Freeform 25"/>
              <p:cNvSpPr/>
              <p:nvPr/>
            </p:nvSpPr>
            <p:spPr>
              <a:xfrm>
                <a:off x="377825" y="1704975"/>
                <a:ext cx="139700" cy="78581"/>
              </a:xfrm>
              <a:custGeom>
                <a:avLst/>
                <a:gdLst/>
                <a:ahLst/>
                <a:cxnLst/>
                <a:rect l="l" t="t" r="r" b="b"/>
                <a:pathLst>
                  <a:path w="139700" h="78581">
                    <a:moveTo>
                      <a:pt x="139700" y="0"/>
                    </a:moveTo>
                    <a:lnTo>
                      <a:pt x="139700" y="26194"/>
                    </a:lnTo>
                    <a:cubicBezTo>
                      <a:pt x="139700" y="40660"/>
                      <a:pt x="127973" y="52388"/>
                      <a:pt x="113506" y="52388"/>
                    </a:cubicBezTo>
                    <a:lnTo>
                      <a:pt x="0" y="52388"/>
                    </a:lnTo>
                    <a:moveTo>
                      <a:pt x="26194" y="78581"/>
                    </a:moveTo>
                    <a:lnTo>
                      <a:pt x="0" y="52388"/>
                    </a:lnTo>
                    <a:lnTo>
                      <a:pt x="26194" y="26194"/>
                    </a:lnTo>
                  </a:path>
                </a:pathLst>
              </a:custGeom>
              <a:noFill/>
              <a:ln w="17463">
                <a:solidFill>
                  <a:srgbClr val="E04C2E"/>
                </a:solidFill>
              </a:ln>
            </p:spPr>
          </p:sp>
        </p:grpSp>
        <p:sp>
          <p:nvSpPr>
            <p:cNvPr id="27" name="TextBox 27"/>
            <p:cNvSpPr txBox="1"/>
            <p:nvPr/>
          </p:nvSpPr>
          <p:spPr>
            <a:xfrm>
              <a:off x="623888" y="1595438"/>
              <a:ext cx="615315"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线上结算占比</a:t>
              </a:r>
            </a:p>
          </p:txBody>
        </p:sp>
        <p:sp>
          <p:nvSpPr>
            <p:cNvPr id="28" name="TextBox 28"/>
            <p:cNvSpPr txBox="1"/>
            <p:nvPr/>
          </p:nvSpPr>
          <p:spPr>
            <a:xfrm>
              <a:off x="1900238" y="1579245"/>
              <a:ext cx="454781"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72.4%​</a:t>
              </a:r>
            </a:p>
          </p:txBody>
        </p:sp>
        <p:sp>
          <p:nvSpPr>
            <p:cNvPr id="29" name="TextBox 29"/>
            <p:cNvSpPr txBox="1"/>
            <p:nvPr/>
          </p:nvSpPr>
          <p:spPr>
            <a:xfrm>
              <a:off x="2357438" y="1587341"/>
              <a:ext cx="70239" cy="161925"/>
            </a:xfrm>
            <a:prstGeom prst="rect">
              <a:avLst/>
            </a:prstGeom>
            <a:noFill/>
            <a:ln>
              <a:noFill/>
            </a:ln>
          </p:spPr>
          <p:txBody>
            <a:bodyPr wrap="none" lIns="0" tIns="0" rIns="0" bIns="0" anchor="t" anchorCtr="0">
              <a:spAutoFit/>
            </a:bodyPr>
            <a:lstStyle/>
            <a:p>
              <a:pPr algn="l"/>
              <a:r>
                <a:rPr lang="zh-CN" sz="820" dirty="0">
                  <a:solidFill>
                    <a:srgbClr val="BEA09A"/>
                  </a:solidFill>
                  <a:latin typeface="+mn-lt"/>
                  <a:ea typeface="+mn-ea"/>
                  <a:cs typeface="+mn-cs"/>
                </a:rPr>
                <a:t>→</a:t>
              </a:r>
            </a:p>
          </p:txBody>
        </p:sp>
        <p:sp>
          <p:nvSpPr>
            <p:cNvPr id="30" name="TextBox 30"/>
            <p:cNvSpPr txBox="1"/>
            <p:nvPr/>
          </p:nvSpPr>
          <p:spPr>
            <a:xfrm>
              <a:off x="2528888" y="1579245"/>
              <a:ext cx="314843" cy="176212"/>
            </a:xfrm>
            <a:prstGeom prst="rect">
              <a:avLst/>
            </a:prstGeom>
            <a:noFill/>
            <a:ln>
              <a:noFill/>
            </a:ln>
          </p:spPr>
          <p:txBody>
            <a:bodyPr wrap="none" lIns="0" tIns="0" rIns="0" bIns="0" anchor="t" anchorCtr="0">
              <a:spAutoFit/>
            </a:bodyPr>
            <a:lstStyle/>
            <a:p>
              <a:pPr algn="l"/>
              <a:r>
                <a:rPr lang="zh-CN" sz="900" b="1" dirty="0">
                  <a:solidFill>
                    <a:srgbClr val="E04C2E"/>
                  </a:solidFill>
                  <a:latin typeface="+mn-lt"/>
                  <a:ea typeface="+mn-ea"/>
                  <a:cs typeface="+mn-cs"/>
                </a:rPr>
                <a:t>80%​</a:t>
              </a:r>
            </a:p>
          </p:txBody>
        </p:sp>
        <p:sp>
          <p:nvSpPr>
            <p:cNvPr id="31" name="Rectangle 31"/>
            <p:cNvSpPr/>
            <p:nvPr/>
          </p:nvSpPr>
          <p:spPr>
            <a:xfrm>
              <a:off x="628650" y="1771650"/>
              <a:ext cx="3143250" cy="57150"/>
            </a:xfrm>
            <a:prstGeom prst="roundRect">
              <a:avLst>
                <a:gd name="adj" fmla="val 50000"/>
              </a:avLst>
            </a:prstGeom>
            <a:solidFill>
              <a:srgbClr val="DDE6F2"/>
            </a:solidFill>
            <a:ln>
              <a:noFill/>
            </a:ln>
          </p:spPr>
        </p:sp>
        <p:sp>
          <p:nvSpPr>
            <p:cNvPr id="32" name="Rectangle 32"/>
            <p:cNvSpPr/>
            <p:nvPr/>
          </p:nvSpPr>
          <p:spPr>
            <a:xfrm>
              <a:off x="628650" y="1771650"/>
              <a:ext cx="2847975" cy="57150"/>
            </a:xfrm>
            <a:prstGeom prst="roundRect">
              <a:avLst>
                <a:gd name="adj" fmla="val 50000"/>
              </a:avLst>
            </a:prstGeom>
            <a:solidFill>
              <a:srgbClr val="69281B"/>
            </a:solidFill>
            <a:ln>
              <a:noFill/>
            </a:ln>
          </p:spPr>
        </p:sp>
        <p:sp>
          <p:nvSpPr>
            <p:cNvPr id="33" name="TextBox 33"/>
            <p:cNvSpPr txBox="1"/>
            <p:nvPr/>
          </p:nvSpPr>
          <p:spPr>
            <a:xfrm>
              <a:off x="3411741" y="1878330"/>
              <a:ext cx="364922" cy="119062"/>
            </a:xfrm>
            <a:prstGeom prst="rect">
              <a:avLst/>
            </a:prstGeom>
            <a:noFill/>
            <a:ln>
              <a:noFill/>
            </a:ln>
          </p:spPr>
          <p:txBody>
            <a:bodyPr wrap="none" lIns="0" tIns="0" rIns="0" bIns="0" anchor="t" anchorCtr="0">
              <a:spAutoFit/>
            </a:bodyPr>
            <a:lstStyle/>
            <a:p>
              <a:pPr algn="r"/>
              <a:r>
                <a:rPr lang="en-US" sz="600" dirty="0">
                  <a:solidFill>
                    <a:srgbClr val="E04C2E"/>
                  </a:solidFill>
                  <a:latin typeface="+mn-lt"/>
                  <a:ea typeface="+mn-ea"/>
                  <a:cs typeface="+mn-cs"/>
                </a:rPr>
                <a:t>+7.6pct​</a:t>
              </a:r>
            </a:p>
          </p:txBody>
        </p:sp>
        <p:grpSp>
          <p:nvGrpSpPr>
            <p:cNvPr id="39" name="Group 39"/>
            <p:cNvGrpSpPr/>
            <p:nvPr/>
          </p:nvGrpSpPr>
          <p:grpSpPr>
            <a:xfrm>
              <a:off x="386556" y="2178844"/>
              <a:ext cx="122238" cy="157163"/>
              <a:chOff x="386556" y="2178844"/>
              <a:chExt cx="122238" cy="157163"/>
            </a:xfrm>
          </p:grpSpPr>
          <p:sp>
            <p:nvSpPr>
              <p:cNvPr id="34" name="Freeform 34"/>
              <p:cNvSpPr/>
              <p:nvPr/>
            </p:nvSpPr>
            <p:spPr>
              <a:xfrm>
                <a:off x="465138" y="21788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E04C2E"/>
                </a:solidFill>
              </a:ln>
            </p:spPr>
          </p:sp>
          <p:sp>
            <p:nvSpPr>
              <p:cNvPr id="35" name="Freeform 35"/>
              <p:cNvSpPr/>
              <p:nvPr/>
            </p:nvSpPr>
            <p:spPr>
              <a:xfrm>
                <a:off x="386556" y="21788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E04C2E"/>
                </a:solidFill>
              </a:ln>
            </p:spPr>
          </p:sp>
          <p:sp>
            <p:nvSpPr>
              <p:cNvPr id="36" name="Freeform 36"/>
              <p:cNvSpPr/>
              <p:nvPr/>
            </p:nvSpPr>
            <p:spPr>
              <a:xfrm>
                <a:off x="421481" y="2231231"/>
                <a:ext cx="9525" cy="9525"/>
              </a:xfrm>
              <a:custGeom>
                <a:avLst/>
                <a:gdLst/>
                <a:ahLst/>
                <a:cxnLst/>
                <a:rect l="l" t="t" r="r" b="b"/>
                <a:pathLst>
                  <a:path w="9525" h="9525">
                    <a:moveTo>
                      <a:pt x="0" y="0"/>
                    </a:moveTo>
                    <a:lnTo>
                      <a:pt x="8731" y="0"/>
                    </a:lnTo>
                  </a:path>
                </a:pathLst>
              </a:custGeom>
              <a:noFill/>
              <a:ln w="17463">
                <a:solidFill>
                  <a:srgbClr val="E04C2E"/>
                </a:solidFill>
              </a:ln>
            </p:spPr>
          </p:sp>
          <p:sp>
            <p:nvSpPr>
              <p:cNvPr id="37" name="Freeform 37"/>
              <p:cNvSpPr/>
              <p:nvPr/>
            </p:nvSpPr>
            <p:spPr>
              <a:xfrm>
                <a:off x="421481" y="2266156"/>
                <a:ext cx="52388" cy="9525"/>
              </a:xfrm>
              <a:custGeom>
                <a:avLst/>
                <a:gdLst/>
                <a:ahLst/>
                <a:cxnLst/>
                <a:rect l="l" t="t" r="r" b="b"/>
                <a:pathLst>
                  <a:path w="52388" h="9525">
                    <a:moveTo>
                      <a:pt x="0" y="0"/>
                    </a:moveTo>
                    <a:lnTo>
                      <a:pt x="52388" y="0"/>
                    </a:lnTo>
                  </a:path>
                </a:pathLst>
              </a:custGeom>
              <a:noFill/>
              <a:ln w="17463">
                <a:solidFill>
                  <a:srgbClr val="E04C2E"/>
                </a:solidFill>
              </a:ln>
            </p:spPr>
          </p:sp>
          <p:sp>
            <p:nvSpPr>
              <p:cNvPr id="38" name="Freeform 38"/>
              <p:cNvSpPr/>
              <p:nvPr/>
            </p:nvSpPr>
            <p:spPr>
              <a:xfrm>
                <a:off x="421481" y="2301081"/>
                <a:ext cx="52388" cy="9525"/>
              </a:xfrm>
              <a:custGeom>
                <a:avLst/>
                <a:gdLst/>
                <a:ahLst/>
                <a:cxnLst/>
                <a:rect l="l" t="t" r="r" b="b"/>
                <a:pathLst>
                  <a:path w="52388" h="9525">
                    <a:moveTo>
                      <a:pt x="0" y="0"/>
                    </a:moveTo>
                    <a:lnTo>
                      <a:pt x="52388" y="0"/>
                    </a:lnTo>
                  </a:path>
                </a:pathLst>
              </a:custGeom>
              <a:noFill/>
              <a:ln w="17463">
                <a:solidFill>
                  <a:srgbClr val="E04C2E"/>
                </a:solidFill>
              </a:ln>
            </p:spPr>
          </p:sp>
        </p:grpSp>
        <p:sp>
          <p:nvSpPr>
            <p:cNvPr id="40" name="TextBox 40"/>
            <p:cNvSpPr txBox="1"/>
            <p:nvPr/>
          </p:nvSpPr>
          <p:spPr>
            <a:xfrm>
              <a:off x="623888" y="2147888"/>
              <a:ext cx="615315"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线上融资申请</a:t>
              </a:r>
            </a:p>
          </p:txBody>
        </p:sp>
        <p:sp>
          <p:nvSpPr>
            <p:cNvPr id="41" name="TextBox 41"/>
            <p:cNvSpPr txBox="1"/>
            <p:nvPr/>
          </p:nvSpPr>
          <p:spPr>
            <a:xfrm>
              <a:off x="1900238" y="2131695"/>
              <a:ext cx="510109"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1,860</a:t>
              </a:r>
              <a:r>
                <a:rPr lang="zh-CN" sz="600" dirty="0">
                  <a:solidFill>
                    <a:srgbClr val="69281B"/>
                  </a:solidFill>
                  <a:latin typeface="+mn-lt"/>
                  <a:ea typeface="+mn-ea"/>
                  <a:cs typeface="+mn-cs"/>
                </a:rPr>
                <a:t>笔</a:t>
              </a:r>
              <a:r>
                <a:rPr lang="zh-CN" sz="900" b="1" dirty="0">
                  <a:solidFill>
                    <a:srgbClr val="69281B"/>
                  </a:solidFill>
                  <a:latin typeface="+mn-lt"/>
                  <a:ea typeface="+mn-ea"/>
                  <a:cs typeface="+mn-cs"/>
                </a:rPr>
                <a:t>​</a:t>
              </a:r>
            </a:p>
          </p:txBody>
        </p:sp>
        <p:sp>
          <p:nvSpPr>
            <p:cNvPr id="42" name="TextBox 42"/>
            <p:cNvSpPr txBox="1"/>
            <p:nvPr/>
          </p:nvSpPr>
          <p:spPr>
            <a:xfrm>
              <a:off x="2433638" y="2139791"/>
              <a:ext cx="70239" cy="161925"/>
            </a:xfrm>
            <a:prstGeom prst="rect">
              <a:avLst/>
            </a:prstGeom>
            <a:noFill/>
            <a:ln>
              <a:noFill/>
            </a:ln>
          </p:spPr>
          <p:txBody>
            <a:bodyPr wrap="none" lIns="0" tIns="0" rIns="0" bIns="0" anchor="t" anchorCtr="0">
              <a:spAutoFit/>
            </a:bodyPr>
            <a:lstStyle/>
            <a:p>
              <a:pPr algn="l"/>
              <a:r>
                <a:rPr lang="zh-CN" sz="820" dirty="0">
                  <a:solidFill>
                    <a:srgbClr val="BEA09A"/>
                  </a:solidFill>
                  <a:latin typeface="+mn-lt"/>
                  <a:ea typeface="+mn-ea"/>
                  <a:cs typeface="+mn-cs"/>
                </a:rPr>
                <a:t>→</a:t>
              </a:r>
            </a:p>
          </p:txBody>
        </p:sp>
        <p:sp>
          <p:nvSpPr>
            <p:cNvPr id="43" name="TextBox 43"/>
            <p:cNvSpPr txBox="1"/>
            <p:nvPr/>
          </p:nvSpPr>
          <p:spPr>
            <a:xfrm>
              <a:off x="2605088" y="2131695"/>
              <a:ext cx="510109" cy="176212"/>
            </a:xfrm>
            <a:prstGeom prst="rect">
              <a:avLst/>
            </a:prstGeom>
            <a:noFill/>
            <a:ln>
              <a:noFill/>
            </a:ln>
          </p:spPr>
          <p:txBody>
            <a:bodyPr wrap="none" lIns="0" tIns="0" rIns="0" bIns="0" anchor="t" anchorCtr="0">
              <a:spAutoFit/>
            </a:bodyPr>
            <a:lstStyle/>
            <a:p>
              <a:pPr algn="l"/>
              <a:r>
                <a:rPr lang="zh-CN" sz="900" b="1" dirty="0">
                  <a:solidFill>
                    <a:srgbClr val="E04C2E"/>
                  </a:solidFill>
                  <a:latin typeface="+mn-lt"/>
                  <a:ea typeface="+mn-ea"/>
                  <a:cs typeface="+mn-cs"/>
                </a:rPr>
                <a:t>2,600</a:t>
              </a:r>
              <a:r>
                <a:rPr lang="zh-CN" sz="600" dirty="0">
                  <a:solidFill>
                    <a:srgbClr val="70504A"/>
                  </a:solidFill>
                  <a:latin typeface="+mn-lt"/>
                  <a:ea typeface="+mn-ea"/>
                  <a:cs typeface="+mn-cs"/>
                </a:rPr>
                <a:t>笔</a:t>
              </a:r>
              <a:r>
                <a:rPr lang="zh-CN" sz="900" b="1" dirty="0">
                  <a:solidFill>
                    <a:srgbClr val="E04C2E"/>
                  </a:solidFill>
                  <a:latin typeface="+mn-lt"/>
                  <a:ea typeface="+mn-ea"/>
                  <a:cs typeface="+mn-cs"/>
                </a:rPr>
                <a:t>​</a:t>
              </a:r>
            </a:p>
          </p:txBody>
        </p:sp>
        <p:sp>
          <p:nvSpPr>
            <p:cNvPr id="44" name="Rectangle 44"/>
            <p:cNvSpPr/>
            <p:nvPr/>
          </p:nvSpPr>
          <p:spPr>
            <a:xfrm>
              <a:off x="628650" y="2324100"/>
              <a:ext cx="3143250" cy="57150"/>
            </a:xfrm>
            <a:prstGeom prst="roundRect">
              <a:avLst>
                <a:gd name="adj" fmla="val 50000"/>
              </a:avLst>
            </a:prstGeom>
            <a:solidFill>
              <a:srgbClr val="DDE6F2"/>
            </a:solidFill>
            <a:ln>
              <a:noFill/>
            </a:ln>
          </p:spPr>
        </p:sp>
        <p:sp>
          <p:nvSpPr>
            <p:cNvPr id="45" name="Rectangle 45"/>
            <p:cNvSpPr/>
            <p:nvPr/>
          </p:nvSpPr>
          <p:spPr>
            <a:xfrm>
              <a:off x="628650" y="2324100"/>
              <a:ext cx="2247900" cy="57150"/>
            </a:xfrm>
            <a:prstGeom prst="roundRect">
              <a:avLst>
                <a:gd name="adj" fmla="val 50000"/>
              </a:avLst>
            </a:prstGeom>
            <a:solidFill>
              <a:srgbClr val="69281B"/>
            </a:solidFill>
            <a:ln>
              <a:noFill/>
            </a:ln>
          </p:spPr>
        </p:sp>
        <p:sp>
          <p:nvSpPr>
            <p:cNvPr id="46" name="TextBox 46"/>
            <p:cNvSpPr txBox="1"/>
            <p:nvPr/>
          </p:nvSpPr>
          <p:spPr>
            <a:xfrm>
              <a:off x="3464242" y="2430780"/>
              <a:ext cx="312420" cy="119062"/>
            </a:xfrm>
            <a:prstGeom prst="rect">
              <a:avLst/>
            </a:prstGeom>
            <a:noFill/>
            <a:ln>
              <a:noFill/>
            </a:ln>
          </p:spPr>
          <p:txBody>
            <a:bodyPr wrap="none" lIns="0" tIns="0" rIns="0" bIns="0" anchor="t" anchorCtr="0">
              <a:spAutoFit/>
            </a:bodyPr>
            <a:lstStyle/>
            <a:p>
              <a:pPr algn="r"/>
              <a:r>
                <a:rPr lang="zh-CN" sz="600" dirty="0">
                  <a:solidFill>
                    <a:srgbClr val="E04C2E"/>
                  </a:solidFill>
                  <a:latin typeface="+mn-lt"/>
                  <a:ea typeface="+mn-ea"/>
                  <a:cs typeface="+mn-cs"/>
                </a:rPr>
                <a:t>+740笔​</a:t>
              </a:r>
            </a:p>
          </p:txBody>
        </p:sp>
        <p:grpSp>
          <p:nvGrpSpPr>
            <p:cNvPr id="50" name="Group 50"/>
            <p:cNvGrpSpPr/>
            <p:nvPr/>
          </p:nvGrpSpPr>
          <p:grpSpPr>
            <a:xfrm>
              <a:off x="377825" y="2731294"/>
              <a:ext cx="139700" cy="157162"/>
              <a:chOff x="377825" y="2731294"/>
              <a:chExt cx="139700" cy="157162"/>
            </a:xfrm>
          </p:grpSpPr>
          <p:sp>
            <p:nvSpPr>
              <p:cNvPr id="47" name="Freeform 47"/>
              <p:cNvSpPr/>
              <p:nvPr/>
            </p:nvSpPr>
            <p:spPr>
              <a:xfrm>
                <a:off x="377825" y="27312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E04C2E"/>
                </a:solidFill>
              </a:ln>
            </p:spPr>
          </p:sp>
          <p:sp>
            <p:nvSpPr>
              <p:cNvPr id="48" name="Freeform 48"/>
              <p:cNvSpPr/>
              <p:nvPr/>
            </p:nvSpPr>
            <p:spPr>
              <a:xfrm>
                <a:off x="377825" y="27574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E04C2E"/>
                </a:solidFill>
              </a:ln>
            </p:spPr>
          </p:sp>
          <p:sp>
            <p:nvSpPr>
              <p:cNvPr id="49" name="Freeform 49"/>
              <p:cNvSpPr/>
              <p:nvPr/>
            </p:nvSpPr>
            <p:spPr>
              <a:xfrm>
                <a:off x="377825" y="28098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E04C2E"/>
                </a:solidFill>
              </a:ln>
            </p:spPr>
          </p:sp>
        </p:grpSp>
        <p:sp>
          <p:nvSpPr>
            <p:cNvPr id="51" name="TextBox 51"/>
            <p:cNvSpPr txBox="1"/>
            <p:nvPr/>
          </p:nvSpPr>
          <p:spPr>
            <a:xfrm>
              <a:off x="623888" y="2700338"/>
              <a:ext cx="981813" cy="147638"/>
            </a:xfrm>
            <a:prstGeom prst="rect">
              <a:avLst/>
            </a:prstGeom>
            <a:noFill/>
            <a:ln>
              <a:noFill/>
            </a:ln>
          </p:spPr>
          <p:txBody>
            <a:bodyPr wrap="none" lIns="0" tIns="0" rIns="0" bIns="0" anchor="t" anchorCtr="0">
              <a:spAutoFit/>
            </a:bodyPr>
            <a:lstStyle/>
            <a:p>
              <a:pPr algn="l"/>
              <a:r>
                <a:rPr lang="zh-CN" sz="750" b="1" dirty="0">
                  <a:solidFill>
                    <a:srgbClr val="5F3A33"/>
                  </a:solidFill>
                  <a:latin typeface="+mn-lt"/>
                  <a:ea typeface="+mn-ea"/>
                  <a:cs typeface="+mn-cs"/>
                </a:rPr>
                <a:t>CRM关键字段完整率​</a:t>
              </a:r>
            </a:p>
          </p:txBody>
        </p:sp>
        <p:sp>
          <p:nvSpPr>
            <p:cNvPr id="52" name="TextBox 52"/>
            <p:cNvSpPr txBox="1"/>
            <p:nvPr/>
          </p:nvSpPr>
          <p:spPr>
            <a:xfrm>
              <a:off x="1900238" y="2684145"/>
              <a:ext cx="454781" cy="176212"/>
            </a:xfrm>
            <a:prstGeom prst="rect">
              <a:avLst/>
            </a:prstGeom>
            <a:noFill/>
            <a:ln>
              <a:noFill/>
            </a:ln>
          </p:spPr>
          <p:txBody>
            <a:bodyPr wrap="none" lIns="0" tIns="0" rIns="0" bIns="0" anchor="t" anchorCtr="0">
              <a:spAutoFit/>
            </a:bodyPr>
            <a:lstStyle/>
            <a:p>
              <a:pPr algn="l"/>
              <a:r>
                <a:rPr lang="zh-CN" sz="900" b="1" dirty="0">
                  <a:solidFill>
                    <a:srgbClr val="69281B"/>
                  </a:solidFill>
                  <a:latin typeface="+mn-lt"/>
                  <a:ea typeface="+mn-ea"/>
                  <a:cs typeface="+mn-cs"/>
                </a:rPr>
                <a:t>63.7%​</a:t>
              </a:r>
            </a:p>
          </p:txBody>
        </p:sp>
        <p:sp>
          <p:nvSpPr>
            <p:cNvPr id="53" name="TextBox 53"/>
            <p:cNvSpPr txBox="1"/>
            <p:nvPr/>
          </p:nvSpPr>
          <p:spPr>
            <a:xfrm>
              <a:off x="2357438" y="2692241"/>
              <a:ext cx="70239" cy="161925"/>
            </a:xfrm>
            <a:prstGeom prst="rect">
              <a:avLst/>
            </a:prstGeom>
            <a:noFill/>
            <a:ln>
              <a:noFill/>
            </a:ln>
          </p:spPr>
          <p:txBody>
            <a:bodyPr wrap="none" lIns="0" tIns="0" rIns="0" bIns="0" anchor="t" anchorCtr="0">
              <a:spAutoFit/>
            </a:bodyPr>
            <a:lstStyle/>
            <a:p>
              <a:pPr algn="l"/>
              <a:r>
                <a:rPr lang="zh-CN" sz="820" dirty="0">
                  <a:solidFill>
                    <a:srgbClr val="BEA09A"/>
                  </a:solidFill>
                  <a:latin typeface="+mn-lt"/>
                  <a:ea typeface="+mn-ea"/>
                  <a:cs typeface="+mn-cs"/>
                </a:rPr>
                <a:t>→</a:t>
              </a:r>
            </a:p>
          </p:txBody>
        </p:sp>
        <p:sp>
          <p:nvSpPr>
            <p:cNvPr id="54" name="TextBox 54"/>
            <p:cNvSpPr txBox="1"/>
            <p:nvPr/>
          </p:nvSpPr>
          <p:spPr>
            <a:xfrm>
              <a:off x="2528888" y="2684145"/>
              <a:ext cx="314843" cy="176212"/>
            </a:xfrm>
            <a:prstGeom prst="rect">
              <a:avLst/>
            </a:prstGeom>
            <a:noFill/>
            <a:ln>
              <a:noFill/>
            </a:ln>
          </p:spPr>
          <p:txBody>
            <a:bodyPr wrap="none" lIns="0" tIns="0" rIns="0" bIns="0" anchor="t" anchorCtr="0">
              <a:spAutoFit/>
            </a:bodyPr>
            <a:lstStyle/>
            <a:p>
              <a:pPr algn="l"/>
              <a:r>
                <a:rPr lang="zh-CN" sz="900" b="1" dirty="0">
                  <a:solidFill>
                    <a:srgbClr val="E04C2E"/>
                  </a:solidFill>
                  <a:latin typeface="+mn-lt"/>
                  <a:ea typeface="+mn-ea"/>
                  <a:cs typeface="+mn-cs"/>
                </a:rPr>
                <a:t>85%​</a:t>
              </a:r>
            </a:p>
          </p:txBody>
        </p:sp>
        <p:sp>
          <p:nvSpPr>
            <p:cNvPr id="55" name="Rectangle 55"/>
            <p:cNvSpPr/>
            <p:nvPr/>
          </p:nvSpPr>
          <p:spPr>
            <a:xfrm>
              <a:off x="628650" y="2876550"/>
              <a:ext cx="3143250" cy="57150"/>
            </a:xfrm>
            <a:prstGeom prst="roundRect">
              <a:avLst>
                <a:gd name="adj" fmla="val 50000"/>
              </a:avLst>
            </a:prstGeom>
            <a:solidFill>
              <a:srgbClr val="DDE6F2"/>
            </a:solidFill>
            <a:ln>
              <a:noFill/>
            </a:ln>
          </p:spPr>
        </p:sp>
        <p:sp>
          <p:nvSpPr>
            <p:cNvPr id="56" name="Rectangle 56"/>
            <p:cNvSpPr/>
            <p:nvPr/>
          </p:nvSpPr>
          <p:spPr>
            <a:xfrm>
              <a:off x="628650" y="2876550"/>
              <a:ext cx="2352675" cy="57150"/>
            </a:xfrm>
            <a:prstGeom prst="roundRect">
              <a:avLst>
                <a:gd name="adj" fmla="val 50000"/>
              </a:avLst>
            </a:prstGeom>
            <a:solidFill>
              <a:srgbClr val="69281B"/>
            </a:solidFill>
            <a:ln>
              <a:noFill/>
            </a:ln>
          </p:spPr>
        </p:sp>
        <p:sp>
          <p:nvSpPr>
            <p:cNvPr id="57" name="TextBox 57"/>
            <p:cNvSpPr txBox="1"/>
            <p:nvPr/>
          </p:nvSpPr>
          <p:spPr>
            <a:xfrm>
              <a:off x="3367316" y="2983230"/>
              <a:ext cx="409346" cy="119062"/>
            </a:xfrm>
            <a:prstGeom prst="rect">
              <a:avLst/>
            </a:prstGeom>
            <a:noFill/>
            <a:ln>
              <a:noFill/>
            </a:ln>
          </p:spPr>
          <p:txBody>
            <a:bodyPr wrap="none" lIns="0" tIns="0" rIns="0" bIns="0" anchor="t" anchorCtr="0">
              <a:spAutoFit/>
            </a:bodyPr>
            <a:lstStyle/>
            <a:p>
              <a:pPr algn="r"/>
              <a:r>
                <a:rPr lang="en-US" sz="600" dirty="0">
                  <a:solidFill>
                    <a:srgbClr val="E04C2E"/>
                  </a:solidFill>
                  <a:latin typeface="+mn-lt"/>
                  <a:ea typeface="+mn-ea"/>
                  <a:cs typeface="+mn-cs"/>
                </a:rPr>
                <a:t>+21.3pct​</a:t>
              </a:r>
            </a:p>
          </p:txBody>
        </p:sp>
        <p:sp>
          <p:nvSpPr>
            <p:cNvPr id="58" name="Rectangle 58"/>
            <p:cNvSpPr/>
            <p:nvPr/>
          </p:nvSpPr>
          <p:spPr>
            <a:xfrm>
              <a:off x="628650" y="3200400"/>
              <a:ext cx="95250" cy="76200"/>
            </a:xfrm>
            <a:prstGeom prst="rect">
              <a:avLst/>
            </a:prstGeom>
            <a:solidFill>
              <a:srgbClr val="69281B"/>
            </a:solidFill>
            <a:ln>
              <a:noFill/>
            </a:ln>
          </p:spPr>
        </p:sp>
        <p:sp>
          <p:nvSpPr>
            <p:cNvPr id="59" name="TextBox 59"/>
            <p:cNvSpPr txBox="1"/>
            <p:nvPr/>
          </p:nvSpPr>
          <p:spPr>
            <a:xfrm>
              <a:off x="776288" y="3207782"/>
              <a:ext cx="552313"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2026年6月末​</a:t>
              </a:r>
            </a:p>
          </p:txBody>
        </p:sp>
        <p:sp>
          <p:nvSpPr>
            <p:cNvPr id="60" name="Rectangle 60"/>
            <p:cNvSpPr/>
            <p:nvPr/>
          </p:nvSpPr>
          <p:spPr>
            <a:xfrm>
              <a:off x="1524000" y="3200400"/>
              <a:ext cx="95250" cy="76200"/>
            </a:xfrm>
            <a:prstGeom prst="rect">
              <a:avLst/>
            </a:prstGeom>
            <a:solidFill>
              <a:srgbClr val="DDE6F2"/>
            </a:solidFill>
            <a:ln>
              <a:noFill/>
            </a:ln>
          </p:spPr>
        </p:sp>
        <p:sp>
          <p:nvSpPr>
            <p:cNvPr id="61" name="TextBox 61"/>
            <p:cNvSpPr txBox="1"/>
            <p:nvPr/>
          </p:nvSpPr>
          <p:spPr>
            <a:xfrm>
              <a:off x="1671638" y="3207782"/>
              <a:ext cx="504927"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2026年目标​</a:t>
              </a:r>
            </a:p>
          </p:txBody>
        </p:sp>
      </p:grpSp>
      <p:grpSp>
        <p:nvGrpSpPr>
          <p:cNvPr id="115" name="tier-table"/>
          <p:cNvGrpSpPr/>
          <p:nvPr/>
        </p:nvGrpSpPr>
        <p:grpSpPr>
          <a:xfrm>
            <a:off x="4057650" y="685800"/>
            <a:ext cx="3810000" cy="2705100"/>
            <a:chOff x="4057650" y="685800"/>
            <a:chExt cx="3810000" cy="2705100"/>
          </a:xfrm>
        </p:grpSpPr>
        <p:sp>
          <p:nvSpPr>
            <p:cNvPr id="63" name="Rectangle 63"/>
            <p:cNvSpPr/>
            <p:nvPr/>
          </p:nvSpPr>
          <p:spPr>
            <a:xfrm>
              <a:off x="4057650" y="685800"/>
              <a:ext cx="3810000" cy="2705100"/>
            </a:xfrm>
            <a:prstGeom prst="roundRect">
              <a:avLst>
                <a:gd name="adj" fmla="val 2113"/>
              </a:avLst>
            </a:prstGeom>
            <a:solidFill>
              <a:srgbClr val="FFFFFF"/>
            </a:solidFill>
            <a:ln w="9525">
              <a:solidFill>
                <a:srgbClr val="C9D6E9"/>
              </a:solidFill>
            </a:ln>
          </p:spPr>
        </p:sp>
        <p:sp>
          <p:nvSpPr>
            <p:cNvPr id="64" name="Rectangle 64"/>
            <p:cNvSpPr/>
            <p:nvPr/>
          </p:nvSpPr>
          <p:spPr>
            <a:xfrm>
              <a:off x="4057650" y="685800"/>
              <a:ext cx="3810000" cy="209550"/>
            </a:xfrm>
            <a:prstGeom prst="roundRect">
              <a:avLst>
                <a:gd name="adj" fmla="val 27273"/>
              </a:avLst>
            </a:prstGeom>
            <a:solidFill>
              <a:srgbClr val="69281B"/>
            </a:solidFill>
            <a:ln>
              <a:noFill/>
            </a:ln>
          </p:spPr>
        </p:sp>
        <p:sp>
          <p:nvSpPr>
            <p:cNvPr id="65" name="Rectangle 65"/>
            <p:cNvSpPr/>
            <p:nvPr/>
          </p:nvSpPr>
          <p:spPr>
            <a:xfrm>
              <a:off x="4057650" y="800100"/>
              <a:ext cx="3810000" cy="95250"/>
            </a:xfrm>
            <a:prstGeom prst="rect">
              <a:avLst/>
            </a:prstGeom>
            <a:solidFill>
              <a:srgbClr val="69281B"/>
            </a:solidFill>
            <a:ln>
              <a:noFill/>
            </a:ln>
          </p:spPr>
        </p:sp>
        <p:sp>
          <p:nvSpPr>
            <p:cNvPr id="66" name="TextBox 66"/>
            <p:cNvSpPr txBox="1"/>
            <p:nvPr/>
          </p:nvSpPr>
          <p:spPr>
            <a:xfrm>
              <a:off x="5025795" y="739616"/>
              <a:ext cx="187370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网点对公转型分层及目标（2026年）​</a:t>
              </a:r>
            </a:p>
          </p:txBody>
        </p:sp>
        <p:sp>
          <p:nvSpPr>
            <p:cNvPr id="67" name="Rectangle 67"/>
            <p:cNvSpPr/>
            <p:nvPr/>
          </p:nvSpPr>
          <p:spPr>
            <a:xfrm>
              <a:off x="4133850" y="952500"/>
              <a:ext cx="3657600" cy="285750"/>
            </a:xfrm>
            <a:prstGeom prst="rect">
              <a:avLst/>
            </a:prstGeom>
            <a:solidFill>
              <a:srgbClr val="EAF1FB"/>
            </a:solidFill>
            <a:ln>
              <a:noFill/>
            </a:ln>
          </p:spPr>
        </p:sp>
        <p:sp>
          <p:nvSpPr>
            <p:cNvPr id="68" name="TextBox 68"/>
            <p:cNvSpPr txBox="1"/>
            <p:nvPr/>
          </p:nvSpPr>
          <p:spPr>
            <a:xfrm>
              <a:off x="4366349" y="10646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网点层级</a:t>
              </a:r>
            </a:p>
          </p:txBody>
        </p:sp>
        <p:sp>
          <p:nvSpPr>
            <p:cNvPr id="69" name="TextBox 69"/>
            <p:cNvSpPr txBox="1"/>
            <p:nvPr/>
          </p:nvSpPr>
          <p:spPr>
            <a:xfrm>
              <a:off x="5061674" y="10646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网点数量</a:t>
              </a:r>
            </a:p>
          </p:txBody>
        </p:sp>
        <p:sp>
          <p:nvSpPr>
            <p:cNvPr id="70" name="TextBox 70"/>
            <p:cNvSpPr txBox="1"/>
            <p:nvPr/>
          </p:nvSpPr>
          <p:spPr>
            <a:xfrm>
              <a:off x="5642267" y="1007507"/>
              <a:ext cx="526466"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客户经理配置</a:t>
              </a:r>
            </a:p>
          </p:txBody>
        </p:sp>
        <p:sp>
          <p:nvSpPr>
            <p:cNvPr id="71" name="TextBox 71"/>
            <p:cNvSpPr txBox="1"/>
            <p:nvPr/>
          </p:nvSpPr>
          <p:spPr>
            <a:xfrm>
              <a:off x="5706481" y="1124426"/>
              <a:ext cx="398038" cy="104775"/>
            </a:xfrm>
            <a:prstGeom prst="rect">
              <a:avLst/>
            </a:prstGeom>
            <a:noFill/>
            <a:ln>
              <a:noFill/>
            </a:ln>
          </p:spPr>
          <p:txBody>
            <a:bodyPr wrap="none" lIns="0" tIns="0" rIns="0" bIns="0" anchor="t" anchorCtr="0">
              <a:spAutoFit/>
            </a:bodyPr>
            <a:lstStyle/>
            <a:p>
              <a:pPr algn="ctr"/>
              <a:r>
                <a:rPr lang="zh-CN" sz="520" dirty="0">
                  <a:solidFill>
                    <a:srgbClr val="70504A"/>
                  </a:solidFill>
                  <a:latin typeface="+mn-lt"/>
                  <a:ea typeface="+mn-ea"/>
                  <a:cs typeface="+mn-cs"/>
                </a:rPr>
                <a:t>（人/网点）</a:t>
              </a:r>
            </a:p>
          </p:txBody>
        </p:sp>
        <p:sp>
          <p:nvSpPr>
            <p:cNvPr id="72" name="TextBox 72"/>
            <p:cNvSpPr txBox="1"/>
            <p:nvPr/>
          </p:nvSpPr>
          <p:spPr>
            <a:xfrm>
              <a:off x="6490424" y="100750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客户目标</a:t>
              </a:r>
            </a:p>
          </p:txBody>
        </p:sp>
        <p:sp>
          <p:nvSpPr>
            <p:cNvPr id="73" name="TextBox 73"/>
            <p:cNvSpPr txBox="1"/>
            <p:nvPr/>
          </p:nvSpPr>
          <p:spPr>
            <a:xfrm>
              <a:off x="6382728" y="1124426"/>
              <a:ext cx="569544" cy="104775"/>
            </a:xfrm>
            <a:prstGeom prst="rect">
              <a:avLst/>
            </a:prstGeom>
            <a:noFill/>
            <a:ln>
              <a:noFill/>
            </a:ln>
          </p:spPr>
          <p:txBody>
            <a:bodyPr wrap="none" lIns="0" tIns="0" rIns="0" bIns="0" anchor="t" anchorCtr="0">
              <a:spAutoFit/>
            </a:bodyPr>
            <a:lstStyle/>
            <a:p>
              <a:pPr algn="ctr"/>
              <a:r>
                <a:rPr lang="zh-CN" sz="520" dirty="0">
                  <a:solidFill>
                    <a:srgbClr val="70504A"/>
                  </a:solidFill>
                  <a:latin typeface="+mn-lt"/>
                  <a:ea typeface="+mn-ea"/>
                  <a:cs typeface="+mn-cs"/>
                </a:rPr>
                <a:t>（储备对公客户）</a:t>
              </a:r>
            </a:p>
          </p:txBody>
        </p:sp>
        <p:sp>
          <p:nvSpPr>
            <p:cNvPr id="74" name="TextBox 74"/>
            <p:cNvSpPr txBox="1"/>
            <p:nvPr/>
          </p:nvSpPr>
          <p:spPr>
            <a:xfrm>
              <a:off x="7242899" y="100750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产品目标</a:t>
              </a:r>
            </a:p>
          </p:txBody>
        </p:sp>
        <p:sp>
          <p:nvSpPr>
            <p:cNvPr id="75" name="TextBox 75"/>
            <p:cNvSpPr txBox="1"/>
            <p:nvPr/>
          </p:nvSpPr>
          <p:spPr>
            <a:xfrm>
              <a:off x="7100202" y="1124426"/>
              <a:ext cx="639547" cy="104775"/>
            </a:xfrm>
            <a:prstGeom prst="rect">
              <a:avLst/>
            </a:prstGeom>
            <a:noFill/>
            <a:ln>
              <a:noFill/>
            </a:ln>
          </p:spPr>
          <p:txBody>
            <a:bodyPr wrap="none" lIns="0" tIns="0" rIns="0" bIns="0" anchor="t" anchorCtr="0">
              <a:spAutoFit/>
            </a:bodyPr>
            <a:lstStyle/>
            <a:p>
              <a:pPr algn="ctr"/>
              <a:r>
                <a:rPr lang="zh-CN" sz="520" dirty="0">
                  <a:solidFill>
                    <a:srgbClr val="70504A"/>
                  </a:solidFill>
                  <a:latin typeface="+mn-lt"/>
                  <a:ea typeface="+mn-ea"/>
                  <a:cs typeface="+mn-cs"/>
                </a:rPr>
                <a:t>（核心产品有效户）</a:t>
              </a:r>
            </a:p>
          </p:txBody>
        </p:sp>
        <p:sp>
          <p:nvSpPr>
            <p:cNvPr id="76" name="Freeform 76"/>
            <p:cNvSpPr/>
            <p:nvPr/>
          </p:nvSpPr>
          <p:spPr>
            <a:xfrm>
              <a:off x="4212431" y="1433512"/>
              <a:ext cx="128588" cy="85725"/>
            </a:xfrm>
            <a:custGeom>
              <a:avLst/>
              <a:gdLst/>
              <a:ahLst/>
              <a:cxnLst/>
              <a:rect l="l" t="t" r="r" b="b"/>
              <a:pathLst>
                <a:path w="128588" h="85725">
                  <a:moveTo>
                    <a:pt x="64294" y="0"/>
                  </a:moveTo>
                  <a:lnTo>
                    <a:pt x="92869" y="42862"/>
                  </a:lnTo>
                  <a:lnTo>
                    <a:pt x="128588" y="14288"/>
                  </a:lnTo>
                  <a:lnTo>
                    <a:pt x="114300" y="85725"/>
                  </a:lnTo>
                  <a:lnTo>
                    <a:pt x="14288" y="85725"/>
                  </a:lnTo>
                  <a:lnTo>
                    <a:pt x="0" y="14288"/>
                  </a:lnTo>
                  <a:lnTo>
                    <a:pt x="35719" y="42862"/>
                  </a:lnTo>
                  <a:lnTo>
                    <a:pt x="64294" y="0"/>
                  </a:lnTo>
                </a:path>
              </a:pathLst>
            </a:custGeom>
            <a:noFill/>
            <a:ln w="14288">
              <a:solidFill>
                <a:srgbClr val="D83013"/>
              </a:solidFill>
            </a:ln>
          </p:spPr>
        </p:sp>
        <p:sp>
          <p:nvSpPr>
            <p:cNvPr id="77" name="TextBox 77"/>
            <p:cNvSpPr txBox="1"/>
            <p:nvPr/>
          </p:nvSpPr>
          <p:spPr>
            <a:xfrm>
              <a:off x="4414838" y="1408986"/>
              <a:ext cx="39184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旗舰网点</a:t>
              </a:r>
            </a:p>
          </p:txBody>
        </p:sp>
        <p:sp>
          <p:nvSpPr>
            <p:cNvPr id="78" name="TextBox 78"/>
            <p:cNvSpPr txBox="1"/>
            <p:nvPr/>
          </p:nvSpPr>
          <p:spPr>
            <a:xfrm>
              <a:off x="4414838" y="1539478"/>
              <a:ext cx="461848" cy="111919"/>
            </a:xfrm>
            <a:prstGeom prst="rect">
              <a:avLst/>
            </a:prstGeom>
            <a:noFill/>
            <a:ln>
              <a:noFill/>
            </a:ln>
          </p:spPr>
          <p:txBody>
            <a:bodyPr wrap="none" lIns="0" tIns="0" rIns="0" bIns="0" anchor="t" anchorCtr="0">
              <a:spAutoFit/>
            </a:bodyPr>
            <a:lstStyle/>
            <a:p>
              <a:pPr algn="l"/>
              <a:r>
                <a:rPr lang="zh-CN" sz="560" dirty="0">
                  <a:solidFill>
                    <a:srgbClr val="BEA09A"/>
                  </a:solidFill>
                  <a:latin typeface="+mn-lt"/>
                  <a:ea typeface="+mn-ea"/>
                  <a:cs typeface="+mn-cs"/>
                </a:rPr>
                <a:t>（标杆引领）</a:t>
              </a:r>
            </a:p>
          </p:txBody>
        </p:sp>
        <p:sp>
          <p:nvSpPr>
            <p:cNvPr id="79" name="TextBox 79"/>
            <p:cNvSpPr txBox="1"/>
            <p:nvPr/>
          </p:nvSpPr>
          <p:spPr>
            <a:xfrm>
              <a:off x="5105577" y="1440656"/>
              <a:ext cx="266346"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6</a:t>
              </a:r>
              <a:r>
                <a:rPr lang="zh-CN" sz="600" dirty="0">
                  <a:solidFill>
                    <a:srgbClr val="70504A"/>
                  </a:solidFill>
                  <a:latin typeface="+mn-lt"/>
                  <a:ea typeface="+mn-ea"/>
                  <a:cs typeface="+mn-cs"/>
                </a:rPr>
                <a:t>家</a:t>
              </a:r>
              <a:r>
                <a:rPr lang="zh-CN" sz="1120" b="1" dirty="0">
                  <a:solidFill>
                    <a:srgbClr val="E04C2E"/>
                  </a:solidFill>
                  <a:latin typeface="+mn-lt"/>
                  <a:ea typeface="+mn-ea"/>
                  <a:cs typeface="+mn-cs"/>
                </a:rPr>
                <a:t>​</a:t>
              </a:r>
            </a:p>
          </p:txBody>
        </p:sp>
        <p:sp>
          <p:nvSpPr>
            <p:cNvPr id="80" name="TextBox 80"/>
            <p:cNvSpPr txBox="1"/>
            <p:nvPr/>
          </p:nvSpPr>
          <p:spPr>
            <a:xfrm>
              <a:off x="5714953" y="1428036"/>
              <a:ext cx="381093"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8-10人​</a:t>
              </a:r>
            </a:p>
          </p:txBody>
        </p:sp>
        <p:sp>
          <p:nvSpPr>
            <p:cNvPr id="81" name="TextBox 81"/>
            <p:cNvSpPr txBox="1"/>
            <p:nvPr/>
          </p:nvSpPr>
          <p:spPr>
            <a:xfrm>
              <a:off x="5653844" y="1568053"/>
              <a:ext cx="503311" cy="111919"/>
            </a:xfrm>
            <a:prstGeom prst="rect">
              <a:avLst/>
            </a:prstGeom>
            <a:noFill/>
            <a:ln>
              <a:noFill/>
            </a:ln>
          </p:spPr>
          <p:txBody>
            <a:bodyPr wrap="none" lIns="0" tIns="0" rIns="0" bIns="0" anchor="t" anchorCtr="0">
              <a:spAutoFit/>
            </a:bodyPr>
            <a:lstStyle/>
            <a:p>
              <a:pPr algn="ctr"/>
              <a:r>
                <a:rPr lang="zh-CN" sz="560" dirty="0">
                  <a:solidFill>
                    <a:srgbClr val="BEA09A"/>
                  </a:solidFill>
                  <a:latin typeface="+mn-lt"/>
                  <a:ea typeface="+mn-ea"/>
                  <a:cs typeface="+mn-cs"/>
                </a:rPr>
                <a:t>资深+专家协同</a:t>
              </a:r>
            </a:p>
          </p:txBody>
        </p:sp>
        <p:sp>
          <p:nvSpPr>
            <p:cNvPr id="82" name="TextBox 82"/>
            <p:cNvSpPr txBox="1"/>
            <p:nvPr/>
          </p:nvSpPr>
          <p:spPr>
            <a:xfrm>
              <a:off x="6476953" y="1428036"/>
              <a:ext cx="381093"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≥450户​</a:t>
              </a:r>
            </a:p>
          </p:txBody>
        </p:sp>
        <p:sp>
          <p:nvSpPr>
            <p:cNvPr id="83" name="TextBox 83"/>
            <p:cNvSpPr txBox="1"/>
            <p:nvPr/>
          </p:nvSpPr>
          <p:spPr>
            <a:xfrm>
              <a:off x="6393228" y="1568053"/>
              <a:ext cx="548543" cy="111919"/>
            </a:xfrm>
            <a:prstGeom prst="rect">
              <a:avLst/>
            </a:prstGeom>
            <a:noFill/>
            <a:ln>
              <a:noFill/>
            </a:ln>
          </p:spPr>
          <p:txBody>
            <a:bodyPr wrap="none" lIns="0" tIns="0" rIns="0" bIns="0" anchor="t" anchorCtr="0">
              <a:spAutoFit/>
            </a:bodyPr>
            <a:lstStyle/>
            <a:p>
              <a:pPr algn="ctr"/>
              <a:r>
                <a:rPr lang="zh-CN" sz="560" dirty="0">
                  <a:solidFill>
                    <a:srgbClr val="BEA09A"/>
                  </a:solidFill>
                  <a:latin typeface="+mn-lt"/>
                  <a:ea typeface="+mn-ea"/>
                  <a:cs typeface="+mn-cs"/>
                </a:rPr>
                <a:t>较2025年+30%​</a:t>
              </a:r>
            </a:p>
          </p:txBody>
        </p:sp>
        <p:sp>
          <p:nvSpPr>
            <p:cNvPr id="84" name="TextBox 84"/>
            <p:cNvSpPr txBox="1"/>
            <p:nvPr/>
          </p:nvSpPr>
          <p:spPr>
            <a:xfrm>
              <a:off x="7229428" y="1428036"/>
              <a:ext cx="381093"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≥600户​</a:t>
              </a:r>
            </a:p>
          </p:txBody>
        </p:sp>
        <p:sp>
          <p:nvSpPr>
            <p:cNvPr id="85" name="TextBox 85"/>
            <p:cNvSpPr txBox="1"/>
            <p:nvPr/>
          </p:nvSpPr>
          <p:spPr>
            <a:xfrm>
              <a:off x="7145703" y="1568053"/>
              <a:ext cx="548543" cy="111919"/>
            </a:xfrm>
            <a:prstGeom prst="rect">
              <a:avLst/>
            </a:prstGeom>
            <a:noFill/>
            <a:ln>
              <a:noFill/>
            </a:ln>
          </p:spPr>
          <p:txBody>
            <a:bodyPr wrap="none" lIns="0" tIns="0" rIns="0" bIns="0" anchor="t" anchorCtr="0">
              <a:spAutoFit/>
            </a:bodyPr>
            <a:lstStyle/>
            <a:p>
              <a:pPr algn="ctr"/>
              <a:r>
                <a:rPr lang="zh-CN" sz="560" dirty="0">
                  <a:solidFill>
                    <a:srgbClr val="BEA09A"/>
                  </a:solidFill>
                  <a:latin typeface="+mn-lt"/>
                  <a:ea typeface="+mn-ea"/>
                  <a:cs typeface="+mn-cs"/>
                </a:rPr>
                <a:t>较2025年+30%​</a:t>
              </a:r>
            </a:p>
          </p:txBody>
        </p:sp>
        <p:sp>
          <p:nvSpPr>
            <p:cNvPr id="86" name="Line 86"/>
            <p:cNvSpPr/>
            <p:nvPr/>
          </p:nvSpPr>
          <p:spPr>
            <a:xfrm>
              <a:off x="4133850" y="1752600"/>
              <a:ext cx="3657600" cy="9525"/>
            </a:xfrm>
            <a:custGeom>
              <a:avLst/>
              <a:gdLst/>
              <a:ahLst/>
              <a:cxnLst/>
              <a:rect l="l" t="t" r="r" b="b"/>
              <a:pathLst>
                <a:path w="3657600" h="9525">
                  <a:moveTo>
                    <a:pt x="0" y="0"/>
                  </a:moveTo>
                  <a:lnTo>
                    <a:pt x="3657600" y="0"/>
                  </a:lnTo>
                </a:path>
              </a:pathLst>
            </a:custGeom>
            <a:noFill/>
            <a:ln w="9525">
              <a:solidFill>
                <a:srgbClr val="EDF2FA"/>
              </a:solidFill>
            </a:ln>
          </p:spPr>
        </p:sp>
        <p:grpSp>
          <p:nvGrpSpPr>
            <p:cNvPr id="89" name="Group 89"/>
            <p:cNvGrpSpPr/>
            <p:nvPr/>
          </p:nvGrpSpPr>
          <p:grpSpPr>
            <a:xfrm>
              <a:off x="4212431" y="2012156"/>
              <a:ext cx="128588" cy="71438"/>
              <a:chOff x="4212431" y="2012156"/>
              <a:chExt cx="128588" cy="71438"/>
            </a:xfrm>
          </p:grpSpPr>
          <p:sp>
            <p:nvSpPr>
              <p:cNvPr id="87" name="Freeform 87"/>
              <p:cNvSpPr/>
              <p:nvPr/>
            </p:nvSpPr>
            <p:spPr>
              <a:xfrm>
                <a:off x="4212431" y="20121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E04C2E"/>
                </a:solidFill>
              </a:ln>
            </p:spPr>
          </p:sp>
          <p:sp>
            <p:nvSpPr>
              <p:cNvPr id="88" name="Freeform 88"/>
              <p:cNvSpPr/>
              <p:nvPr/>
            </p:nvSpPr>
            <p:spPr>
              <a:xfrm>
                <a:off x="4291012" y="2012156"/>
                <a:ext cx="50006" cy="50006"/>
              </a:xfrm>
              <a:custGeom>
                <a:avLst/>
                <a:gdLst/>
                <a:ahLst/>
                <a:cxnLst/>
                <a:rect l="l" t="t" r="r" b="b"/>
                <a:pathLst>
                  <a:path w="50006" h="50006">
                    <a:moveTo>
                      <a:pt x="0" y="0"/>
                    </a:moveTo>
                    <a:lnTo>
                      <a:pt x="50006" y="0"/>
                    </a:lnTo>
                    <a:lnTo>
                      <a:pt x="50006" y="50006"/>
                    </a:lnTo>
                  </a:path>
                </a:pathLst>
              </a:custGeom>
              <a:noFill/>
              <a:ln w="14288">
                <a:solidFill>
                  <a:srgbClr val="E04C2E"/>
                </a:solidFill>
              </a:ln>
            </p:spPr>
          </p:sp>
        </p:grpSp>
        <p:sp>
          <p:nvSpPr>
            <p:cNvPr id="90" name="TextBox 90"/>
            <p:cNvSpPr txBox="1"/>
            <p:nvPr/>
          </p:nvSpPr>
          <p:spPr>
            <a:xfrm>
              <a:off x="4414838" y="1980486"/>
              <a:ext cx="39184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成长网点</a:t>
              </a:r>
            </a:p>
          </p:txBody>
        </p:sp>
        <p:sp>
          <p:nvSpPr>
            <p:cNvPr id="91" name="TextBox 91"/>
            <p:cNvSpPr txBox="1"/>
            <p:nvPr/>
          </p:nvSpPr>
          <p:spPr>
            <a:xfrm>
              <a:off x="4414838" y="2110978"/>
              <a:ext cx="461848" cy="111919"/>
            </a:xfrm>
            <a:prstGeom prst="rect">
              <a:avLst/>
            </a:prstGeom>
            <a:noFill/>
            <a:ln>
              <a:noFill/>
            </a:ln>
          </p:spPr>
          <p:txBody>
            <a:bodyPr wrap="none" lIns="0" tIns="0" rIns="0" bIns="0" anchor="t" anchorCtr="0">
              <a:spAutoFit/>
            </a:bodyPr>
            <a:lstStyle/>
            <a:p>
              <a:pPr algn="l"/>
              <a:r>
                <a:rPr lang="zh-CN" sz="560" dirty="0">
                  <a:solidFill>
                    <a:srgbClr val="BEA09A"/>
                  </a:solidFill>
                  <a:latin typeface="+mn-lt"/>
                  <a:ea typeface="+mn-ea"/>
                  <a:cs typeface="+mn-cs"/>
                </a:rPr>
                <a:t>（快速提升）</a:t>
              </a:r>
            </a:p>
          </p:txBody>
        </p:sp>
        <p:sp>
          <p:nvSpPr>
            <p:cNvPr id="92" name="TextBox 92"/>
            <p:cNvSpPr txBox="1"/>
            <p:nvPr/>
          </p:nvSpPr>
          <p:spPr>
            <a:xfrm>
              <a:off x="5062041" y="2012156"/>
              <a:ext cx="353419"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18</a:t>
              </a:r>
              <a:r>
                <a:rPr lang="zh-CN" sz="600" dirty="0">
                  <a:solidFill>
                    <a:srgbClr val="70504A"/>
                  </a:solidFill>
                  <a:latin typeface="+mn-lt"/>
                  <a:ea typeface="+mn-ea"/>
                  <a:cs typeface="+mn-cs"/>
                </a:rPr>
                <a:t>家</a:t>
              </a:r>
              <a:r>
                <a:rPr lang="zh-CN" sz="1120" b="1" dirty="0">
                  <a:solidFill>
                    <a:srgbClr val="E04C2E"/>
                  </a:solidFill>
                  <a:latin typeface="+mn-lt"/>
                  <a:ea typeface="+mn-ea"/>
                  <a:cs typeface="+mn-cs"/>
                </a:rPr>
                <a:t>​</a:t>
              </a:r>
            </a:p>
          </p:txBody>
        </p:sp>
        <p:sp>
          <p:nvSpPr>
            <p:cNvPr id="93" name="TextBox 93"/>
            <p:cNvSpPr txBox="1"/>
            <p:nvPr/>
          </p:nvSpPr>
          <p:spPr>
            <a:xfrm>
              <a:off x="5742552" y="1999536"/>
              <a:ext cx="325895"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5-7人​</a:t>
              </a:r>
            </a:p>
          </p:txBody>
        </p:sp>
        <p:sp>
          <p:nvSpPr>
            <p:cNvPr id="94" name="TextBox 94"/>
            <p:cNvSpPr txBox="1"/>
            <p:nvPr/>
          </p:nvSpPr>
          <p:spPr>
            <a:xfrm>
              <a:off x="5749963" y="2139553"/>
              <a:ext cx="311074" cy="111919"/>
            </a:xfrm>
            <a:prstGeom prst="rect">
              <a:avLst/>
            </a:prstGeom>
            <a:noFill/>
            <a:ln>
              <a:noFill/>
            </a:ln>
          </p:spPr>
          <p:txBody>
            <a:bodyPr wrap="none" lIns="0" tIns="0" rIns="0" bIns="0" anchor="t" anchorCtr="0">
              <a:spAutoFit/>
            </a:bodyPr>
            <a:lstStyle/>
            <a:p>
              <a:pPr algn="ctr"/>
              <a:r>
                <a:rPr lang="zh-CN" sz="560" dirty="0">
                  <a:solidFill>
                    <a:srgbClr val="BEA09A"/>
                  </a:solidFill>
                  <a:latin typeface="+mn-lt"/>
                  <a:ea typeface="+mn-ea"/>
                  <a:cs typeface="+mn-cs"/>
                </a:rPr>
                <a:t>骨干为主</a:t>
              </a:r>
            </a:p>
          </p:txBody>
        </p:sp>
        <p:sp>
          <p:nvSpPr>
            <p:cNvPr id="95" name="TextBox 95"/>
            <p:cNvSpPr txBox="1"/>
            <p:nvPr/>
          </p:nvSpPr>
          <p:spPr>
            <a:xfrm>
              <a:off x="6476953" y="1999536"/>
              <a:ext cx="381093"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≥260户​</a:t>
              </a:r>
            </a:p>
          </p:txBody>
        </p:sp>
        <p:sp>
          <p:nvSpPr>
            <p:cNvPr id="96" name="TextBox 96"/>
            <p:cNvSpPr txBox="1"/>
            <p:nvPr/>
          </p:nvSpPr>
          <p:spPr>
            <a:xfrm>
              <a:off x="6393228" y="2139553"/>
              <a:ext cx="548543" cy="111919"/>
            </a:xfrm>
            <a:prstGeom prst="rect">
              <a:avLst/>
            </a:prstGeom>
            <a:noFill/>
            <a:ln>
              <a:noFill/>
            </a:ln>
          </p:spPr>
          <p:txBody>
            <a:bodyPr wrap="none" lIns="0" tIns="0" rIns="0" bIns="0" anchor="t" anchorCtr="0">
              <a:spAutoFit/>
            </a:bodyPr>
            <a:lstStyle/>
            <a:p>
              <a:pPr algn="ctr"/>
              <a:r>
                <a:rPr lang="zh-CN" sz="560" dirty="0">
                  <a:solidFill>
                    <a:srgbClr val="BEA09A"/>
                  </a:solidFill>
                  <a:latin typeface="+mn-lt"/>
                  <a:ea typeface="+mn-ea"/>
                  <a:cs typeface="+mn-cs"/>
                </a:rPr>
                <a:t>较2025年+25%​</a:t>
              </a:r>
            </a:p>
          </p:txBody>
        </p:sp>
        <p:sp>
          <p:nvSpPr>
            <p:cNvPr id="97" name="TextBox 97"/>
            <p:cNvSpPr txBox="1"/>
            <p:nvPr/>
          </p:nvSpPr>
          <p:spPr>
            <a:xfrm>
              <a:off x="7229428" y="1999536"/>
              <a:ext cx="381093"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≥360户​</a:t>
              </a:r>
            </a:p>
          </p:txBody>
        </p:sp>
        <p:sp>
          <p:nvSpPr>
            <p:cNvPr id="98" name="TextBox 98"/>
            <p:cNvSpPr txBox="1"/>
            <p:nvPr/>
          </p:nvSpPr>
          <p:spPr>
            <a:xfrm>
              <a:off x="7145703" y="2139553"/>
              <a:ext cx="548543" cy="111919"/>
            </a:xfrm>
            <a:prstGeom prst="rect">
              <a:avLst/>
            </a:prstGeom>
            <a:noFill/>
            <a:ln>
              <a:noFill/>
            </a:ln>
          </p:spPr>
          <p:txBody>
            <a:bodyPr wrap="none" lIns="0" tIns="0" rIns="0" bIns="0" anchor="t" anchorCtr="0">
              <a:spAutoFit/>
            </a:bodyPr>
            <a:lstStyle/>
            <a:p>
              <a:pPr algn="ctr"/>
              <a:r>
                <a:rPr lang="zh-CN" sz="560" dirty="0">
                  <a:solidFill>
                    <a:srgbClr val="BEA09A"/>
                  </a:solidFill>
                  <a:latin typeface="+mn-lt"/>
                  <a:ea typeface="+mn-ea"/>
                  <a:cs typeface="+mn-cs"/>
                </a:rPr>
                <a:t>较2025年+25%​</a:t>
              </a:r>
            </a:p>
          </p:txBody>
        </p:sp>
        <p:sp>
          <p:nvSpPr>
            <p:cNvPr id="99" name="Line 99"/>
            <p:cNvSpPr/>
            <p:nvPr/>
          </p:nvSpPr>
          <p:spPr>
            <a:xfrm>
              <a:off x="4133850" y="2324100"/>
              <a:ext cx="3657600" cy="9525"/>
            </a:xfrm>
            <a:custGeom>
              <a:avLst/>
              <a:gdLst/>
              <a:ahLst/>
              <a:cxnLst/>
              <a:rect l="l" t="t" r="r" b="b"/>
              <a:pathLst>
                <a:path w="3657600" h="9525">
                  <a:moveTo>
                    <a:pt x="0" y="0"/>
                  </a:moveTo>
                  <a:lnTo>
                    <a:pt x="3657600" y="0"/>
                  </a:lnTo>
                </a:path>
              </a:pathLst>
            </a:custGeom>
            <a:noFill/>
            <a:ln w="9525">
              <a:solidFill>
                <a:srgbClr val="EDF2FA"/>
              </a:solidFill>
            </a:ln>
          </p:spPr>
        </p:sp>
        <p:grpSp>
          <p:nvGrpSpPr>
            <p:cNvPr id="103" name="Group 103"/>
            <p:cNvGrpSpPr/>
            <p:nvPr/>
          </p:nvGrpSpPr>
          <p:grpSpPr>
            <a:xfrm>
              <a:off x="4212431" y="2555081"/>
              <a:ext cx="128588" cy="128588"/>
              <a:chOff x="4212431" y="2555081"/>
              <a:chExt cx="128588" cy="128588"/>
            </a:xfrm>
          </p:grpSpPr>
          <p:sp>
            <p:nvSpPr>
              <p:cNvPr id="100" name="Freeform 100"/>
              <p:cNvSpPr/>
              <p:nvPr/>
            </p:nvSpPr>
            <p:spPr>
              <a:xfrm>
                <a:off x="4212431" y="25550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E04C2E"/>
                </a:solidFill>
              </a:ln>
            </p:spPr>
          </p:sp>
          <p:sp>
            <p:nvSpPr>
              <p:cNvPr id="101" name="Freeform 101"/>
              <p:cNvSpPr/>
              <p:nvPr/>
            </p:nvSpPr>
            <p:spPr>
              <a:xfrm>
                <a:off x="4226719" y="26193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E04C2E"/>
                </a:solidFill>
              </a:ln>
            </p:spPr>
          </p:sp>
          <p:sp>
            <p:nvSpPr>
              <p:cNvPr id="102" name="Freeform 102"/>
              <p:cNvSpPr/>
              <p:nvPr/>
            </p:nvSpPr>
            <p:spPr>
              <a:xfrm>
                <a:off x="4255294" y="26265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E04C2E"/>
                </a:solidFill>
              </a:ln>
            </p:spPr>
          </p:sp>
        </p:grpSp>
        <p:sp>
          <p:nvSpPr>
            <p:cNvPr id="104" name="TextBox 104"/>
            <p:cNvSpPr txBox="1"/>
            <p:nvPr/>
          </p:nvSpPr>
          <p:spPr>
            <a:xfrm>
              <a:off x="4414838" y="2551986"/>
              <a:ext cx="39184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基础网点</a:t>
              </a:r>
            </a:p>
          </p:txBody>
        </p:sp>
        <p:sp>
          <p:nvSpPr>
            <p:cNvPr id="105" name="TextBox 105"/>
            <p:cNvSpPr txBox="1"/>
            <p:nvPr/>
          </p:nvSpPr>
          <p:spPr>
            <a:xfrm>
              <a:off x="4414838" y="2682478"/>
              <a:ext cx="461848" cy="111919"/>
            </a:xfrm>
            <a:prstGeom prst="rect">
              <a:avLst/>
            </a:prstGeom>
            <a:noFill/>
            <a:ln>
              <a:noFill/>
            </a:ln>
          </p:spPr>
          <p:txBody>
            <a:bodyPr wrap="none" lIns="0" tIns="0" rIns="0" bIns="0" anchor="t" anchorCtr="0">
              <a:spAutoFit/>
            </a:bodyPr>
            <a:lstStyle/>
            <a:p>
              <a:pPr algn="l"/>
              <a:r>
                <a:rPr lang="zh-CN" sz="560" dirty="0">
                  <a:solidFill>
                    <a:srgbClr val="BEA09A"/>
                  </a:solidFill>
                  <a:latin typeface="+mn-lt"/>
                  <a:ea typeface="+mn-ea"/>
                  <a:cs typeface="+mn-cs"/>
                </a:rPr>
                <a:t>（夯实基础）</a:t>
              </a:r>
            </a:p>
          </p:txBody>
        </p:sp>
        <p:sp>
          <p:nvSpPr>
            <p:cNvPr id="106" name="TextBox 106"/>
            <p:cNvSpPr txBox="1"/>
            <p:nvPr/>
          </p:nvSpPr>
          <p:spPr>
            <a:xfrm>
              <a:off x="5062041" y="2583656"/>
              <a:ext cx="353419" cy="220028"/>
            </a:xfrm>
            <a:prstGeom prst="rect">
              <a:avLst/>
            </a:prstGeom>
            <a:noFill/>
            <a:ln>
              <a:noFill/>
            </a:ln>
          </p:spPr>
          <p:txBody>
            <a:bodyPr wrap="none" lIns="0" tIns="0" rIns="0" bIns="0" anchor="t" anchorCtr="0">
              <a:spAutoFit/>
            </a:bodyPr>
            <a:lstStyle/>
            <a:p>
              <a:pPr algn="ctr"/>
              <a:r>
                <a:rPr lang="zh-CN" sz="1120" b="1" dirty="0">
                  <a:solidFill>
                    <a:srgbClr val="E04C2E"/>
                  </a:solidFill>
                  <a:latin typeface="+mn-lt"/>
                  <a:ea typeface="+mn-ea"/>
                  <a:cs typeface="+mn-cs"/>
                </a:rPr>
                <a:t>32</a:t>
              </a:r>
              <a:r>
                <a:rPr lang="zh-CN" sz="600" dirty="0">
                  <a:solidFill>
                    <a:srgbClr val="70504A"/>
                  </a:solidFill>
                  <a:latin typeface="+mn-lt"/>
                  <a:ea typeface="+mn-ea"/>
                  <a:cs typeface="+mn-cs"/>
                </a:rPr>
                <a:t>家</a:t>
              </a:r>
              <a:r>
                <a:rPr lang="zh-CN" sz="1120" b="1" dirty="0">
                  <a:solidFill>
                    <a:srgbClr val="E04C2E"/>
                  </a:solidFill>
                  <a:latin typeface="+mn-lt"/>
                  <a:ea typeface="+mn-ea"/>
                  <a:cs typeface="+mn-cs"/>
                </a:rPr>
                <a:t>​</a:t>
              </a:r>
            </a:p>
          </p:txBody>
        </p:sp>
        <p:sp>
          <p:nvSpPr>
            <p:cNvPr id="107" name="TextBox 107"/>
            <p:cNvSpPr txBox="1"/>
            <p:nvPr/>
          </p:nvSpPr>
          <p:spPr>
            <a:xfrm>
              <a:off x="5742552" y="2571036"/>
              <a:ext cx="325895"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3-4人​</a:t>
              </a:r>
            </a:p>
          </p:txBody>
        </p:sp>
        <p:sp>
          <p:nvSpPr>
            <p:cNvPr id="108" name="TextBox 108"/>
            <p:cNvSpPr txBox="1"/>
            <p:nvPr/>
          </p:nvSpPr>
          <p:spPr>
            <a:xfrm>
              <a:off x="5712270" y="2711053"/>
              <a:ext cx="386461" cy="111919"/>
            </a:xfrm>
            <a:prstGeom prst="rect">
              <a:avLst/>
            </a:prstGeom>
            <a:noFill/>
            <a:ln>
              <a:noFill/>
            </a:ln>
          </p:spPr>
          <p:txBody>
            <a:bodyPr wrap="none" lIns="0" tIns="0" rIns="0" bIns="0" anchor="t" anchorCtr="0">
              <a:spAutoFit/>
            </a:bodyPr>
            <a:lstStyle/>
            <a:p>
              <a:pPr algn="ctr"/>
              <a:r>
                <a:rPr lang="zh-CN" sz="560" dirty="0">
                  <a:solidFill>
                    <a:srgbClr val="BEA09A"/>
                  </a:solidFill>
                  <a:latin typeface="+mn-lt"/>
                  <a:ea typeface="+mn-ea"/>
                  <a:cs typeface="+mn-cs"/>
                </a:rPr>
                <a:t>综合服务型</a:t>
              </a:r>
            </a:p>
          </p:txBody>
        </p:sp>
        <p:sp>
          <p:nvSpPr>
            <p:cNvPr id="109" name="TextBox 109"/>
            <p:cNvSpPr txBox="1"/>
            <p:nvPr/>
          </p:nvSpPr>
          <p:spPr>
            <a:xfrm>
              <a:off x="6476953" y="2571036"/>
              <a:ext cx="381093"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≥120户​</a:t>
              </a:r>
            </a:p>
          </p:txBody>
        </p:sp>
        <p:sp>
          <p:nvSpPr>
            <p:cNvPr id="110" name="TextBox 110"/>
            <p:cNvSpPr txBox="1"/>
            <p:nvPr/>
          </p:nvSpPr>
          <p:spPr>
            <a:xfrm>
              <a:off x="6393228" y="2711053"/>
              <a:ext cx="548543" cy="111919"/>
            </a:xfrm>
            <a:prstGeom prst="rect">
              <a:avLst/>
            </a:prstGeom>
            <a:noFill/>
            <a:ln>
              <a:noFill/>
            </a:ln>
          </p:spPr>
          <p:txBody>
            <a:bodyPr wrap="none" lIns="0" tIns="0" rIns="0" bIns="0" anchor="t" anchorCtr="0">
              <a:spAutoFit/>
            </a:bodyPr>
            <a:lstStyle/>
            <a:p>
              <a:pPr algn="ctr"/>
              <a:r>
                <a:rPr lang="zh-CN" sz="560" dirty="0">
                  <a:solidFill>
                    <a:srgbClr val="BEA09A"/>
                  </a:solidFill>
                  <a:latin typeface="+mn-lt"/>
                  <a:ea typeface="+mn-ea"/>
                  <a:cs typeface="+mn-cs"/>
                </a:rPr>
                <a:t>较2025年+20%​</a:t>
              </a:r>
            </a:p>
          </p:txBody>
        </p:sp>
        <p:sp>
          <p:nvSpPr>
            <p:cNvPr id="111" name="TextBox 111"/>
            <p:cNvSpPr txBox="1"/>
            <p:nvPr/>
          </p:nvSpPr>
          <p:spPr>
            <a:xfrm>
              <a:off x="7229428" y="2571036"/>
              <a:ext cx="381093" cy="140494"/>
            </a:xfrm>
            <a:prstGeom prst="rect">
              <a:avLst/>
            </a:prstGeom>
            <a:noFill/>
            <a:ln>
              <a:noFill/>
            </a:ln>
          </p:spPr>
          <p:txBody>
            <a:bodyPr wrap="none" lIns="0" tIns="0" rIns="0" bIns="0" anchor="t" anchorCtr="0">
              <a:spAutoFit/>
            </a:bodyPr>
            <a:lstStyle/>
            <a:p>
              <a:pPr algn="ctr"/>
              <a:r>
                <a:rPr lang="zh-CN" sz="710" b="1" dirty="0">
                  <a:solidFill>
                    <a:srgbClr val="69281B"/>
                  </a:solidFill>
                  <a:latin typeface="+mn-lt"/>
                  <a:ea typeface="+mn-ea"/>
                  <a:cs typeface="+mn-cs"/>
                </a:rPr>
                <a:t>≥180户​</a:t>
              </a:r>
            </a:p>
          </p:txBody>
        </p:sp>
        <p:sp>
          <p:nvSpPr>
            <p:cNvPr id="112" name="TextBox 112"/>
            <p:cNvSpPr txBox="1"/>
            <p:nvPr/>
          </p:nvSpPr>
          <p:spPr>
            <a:xfrm>
              <a:off x="7145703" y="2711053"/>
              <a:ext cx="548543" cy="111919"/>
            </a:xfrm>
            <a:prstGeom prst="rect">
              <a:avLst/>
            </a:prstGeom>
            <a:noFill/>
            <a:ln>
              <a:noFill/>
            </a:ln>
          </p:spPr>
          <p:txBody>
            <a:bodyPr wrap="none" lIns="0" tIns="0" rIns="0" bIns="0" anchor="t" anchorCtr="0">
              <a:spAutoFit/>
            </a:bodyPr>
            <a:lstStyle/>
            <a:p>
              <a:pPr algn="ctr"/>
              <a:r>
                <a:rPr lang="zh-CN" sz="560" dirty="0">
                  <a:solidFill>
                    <a:srgbClr val="BEA09A"/>
                  </a:solidFill>
                  <a:latin typeface="+mn-lt"/>
                  <a:ea typeface="+mn-ea"/>
                  <a:cs typeface="+mn-cs"/>
                </a:rPr>
                <a:t>较2025年+20%​</a:t>
              </a:r>
            </a:p>
          </p:txBody>
        </p:sp>
        <p:sp>
          <p:nvSpPr>
            <p:cNvPr id="113" name="Line 113"/>
            <p:cNvSpPr/>
            <p:nvPr/>
          </p:nvSpPr>
          <p:spPr>
            <a:xfrm>
              <a:off x="4133850" y="2895600"/>
              <a:ext cx="3657600" cy="9525"/>
            </a:xfrm>
            <a:custGeom>
              <a:avLst/>
              <a:gdLst/>
              <a:ahLst/>
              <a:cxnLst/>
              <a:rect l="l" t="t" r="r" b="b"/>
              <a:pathLst>
                <a:path w="3657600" h="9525">
                  <a:moveTo>
                    <a:pt x="0" y="0"/>
                  </a:moveTo>
                  <a:lnTo>
                    <a:pt x="3657600" y="0"/>
                  </a:lnTo>
                </a:path>
              </a:pathLst>
            </a:custGeom>
            <a:noFill/>
            <a:ln w="9525">
              <a:solidFill>
                <a:srgbClr val="C9D6E9"/>
              </a:solidFill>
            </a:ln>
          </p:spPr>
        </p:sp>
        <p:sp>
          <p:nvSpPr>
            <p:cNvPr id="114" name="TextBox 114"/>
            <p:cNvSpPr txBox="1"/>
            <p:nvPr/>
          </p:nvSpPr>
          <p:spPr>
            <a:xfrm>
              <a:off x="4129088" y="3021330"/>
              <a:ext cx="2318385" cy="233362"/>
            </a:xfrm>
            <a:prstGeom prst="rect">
              <a:avLst/>
            </a:prstGeom>
            <a:noFill/>
            <a:ln>
              <a:noFill/>
            </a:ln>
          </p:spPr>
          <p:txBody>
            <a:bodyPr wrap="none" lIns="0" tIns="0" rIns="0" bIns="0" anchor="t" anchorCtr="0">
              <a:spAutoFit/>
            </a:bodyPr>
            <a:lstStyle/>
            <a:p>
              <a:pPr algn="l">
                <a:lnSpc>
                  <a:spcPts val="900"/>
                </a:lnSpc>
              </a:pPr>
              <a:r>
                <a:rPr lang="zh-CN" sz="600" dirty="0">
                  <a:solidFill>
                    <a:srgbClr val="70504A"/>
                  </a:solidFill>
                  <a:latin typeface="+mn-lt"/>
                  <a:ea typeface="+mn-ea"/>
                  <a:cs typeface="+mn-cs"/>
                </a:rPr>
                <a:t>★ 分层动态管理：每半年评估一次，依据客户增长、产品渗透与经营</a:t>
              </a:r>
              <a:br/>
              <a:r>
                <a:rPr lang="zh-CN" sz="600" dirty="0">
                  <a:solidFill>
                    <a:srgbClr val="70504A"/>
                  </a:solidFill>
                  <a:latin typeface="+mn-lt"/>
                  <a:ea typeface="+mn-ea"/>
                  <a:cs typeface="+mn-cs"/>
                </a:rPr>
                <a:t>质量进行升级或降级。</a:t>
              </a:r>
            </a:p>
          </p:txBody>
        </p:sp>
      </p:grpSp>
      <p:grpSp>
        <p:nvGrpSpPr>
          <p:cNvPr id="162" name="talent-radar"/>
          <p:cNvGrpSpPr/>
          <p:nvPr/>
        </p:nvGrpSpPr>
        <p:grpSpPr>
          <a:xfrm>
            <a:off x="7981950" y="685800"/>
            <a:ext cx="3981450" cy="2705100"/>
            <a:chOff x="7981950" y="685800"/>
            <a:chExt cx="3981450" cy="2705100"/>
          </a:xfrm>
        </p:grpSpPr>
        <p:sp>
          <p:nvSpPr>
            <p:cNvPr id="116" name="Rectangle 116"/>
            <p:cNvSpPr/>
            <p:nvPr/>
          </p:nvSpPr>
          <p:spPr>
            <a:xfrm>
              <a:off x="7981950" y="685800"/>
              <a:ext cx="3981450" cy="2705100"/>
            </a:xfrm>
            <a:prstGeom prst="roundRect">
              <a:avLst>
                <a:gd name="adj" fmla="val 2113"/>
              </a:avLst>
            </a:prstGeom>
            <a:solidFill>
              <a:srgbClr val="FFFFFF"/>
            </a:solidFill>
            <a:ln w="9525">
              <a:solidFill>
                <a:srgbClr val="C9D6E9"/>
              </a:solidFill>
            </a:ln>
          </p:spPr>
        </p:sp>
        <p:sp>
          <p:nvSpPr>
            <p:cNvPr id="117" name="Rectangle 117"/>
            <p:cNvSpPr/>
            <p:nvPr/>
          </p:nvSpPr>
          <p:spPr>
            <a:xfrm>
              <a:off x="7981950" y="685800"/>
              <a:ext cx="3981450" cy="209550"/>
            </a:xfrm>
            <a:prstGeom prst="roundRect">
              <a:avLst>
                <a:gd name="adj" fmla="val 27273"/>
              </a:avLst>
            </a:prstGeom>
            <a:solidFill>
              <a:srgbClr val="69281B"/>
            </a:solidFill>
            <a:ln>
              <a:noFill/>
            </a:ln>
          </p:spPr>
        </p:sp>
        <p:sp>
          <p:nvSpPr>
            <p:cNvPr id="118" name="Rectangle 118"/>
            <p:cNvSpPr/>
            <p:nvPr/>
          </p:nvSpPr>
          <p:spPr>
            <a:xfrm>
              <a:off x="7981950" y="800100"/>
              <a:ext cx="3981450" cy="95250"/>
            </a:xfrm>
            <a:prstGeom prst="rect">
              <a:avLst/>
            </a:prstGeom>
            <a:solidFill>
              <a:srgbClr val="69281B"/>
            </a:solidFill>
            <a:ln>
              <a:noFill/>
            </a:ln>
          </p:spPr>
        </p:sp>
        <p:sp>
          <p:nvSpPr>
            <p:cNvPr id="119" name="TextBox 119"/>
            <p:cNvSpPr txBox="1"/>
            <p:nvPr/>
          </p:nvSpPr>
          <p:spPr>
            <a:xfrm>
              <a:off x="8676092" y="739616"/>
              <a:ext cx="259316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人才能力雷达图（当前 vs 2026年目标，满分100）​</a:t>
              </a:r>
            </a:p>
          </p:txBody>
        </p:sp>
        <p:sp>
          <p:nvSpPr>
            <p:cNvPr id="120" name="Line 120"/>
            <p:cNvSpPr/>
            <p:nvPr/>
          </p:nvSpPr>
          <p:spPr>
            <a:xfrm>
              <a:off x="8382000" y="1028700"/>
              <a:ext cx="247650" cy="9525"/>
            </a:xfrm>
            <a:custGeom>
              <a:avLst/>
              <a:gdLst/>
              <a:ahLst/>
              <a:cxnLst/>
              <a:rect l="l" t="t" r="r" b="b"/>
              <a:pathLst>
                <a:path w="247650" h="9525">
                  <a:moveTo>
                    <a:pt x="0" y="0"/>
                  </a:moveTo>
                  <a:lnTo>
                    <a:pt x="247650" y="0"/>
                  </a:lnTo>
                </a:path>
              </a:pathLst>
            </a:custGeom>
            <a:noFill/>
            <a:ln w="19050">
              <a:solidFill>
                <a:srgbClr val="69281B"/>
              </a:solidFill>
            </a:ln>
          </p:spPr>
        </p:sp>
        <p:sp>
          <p:nvSpPr>
            <p:cNvPr id="121" name="TextBox 121"/>
            <p:cNvSpPr txBox="1"/>
            <p:nvPr/>
          </p:nvSpPr>
          <p:spPr>
            <a:xfrm>
              <a:off x="8682038" y="997982"/>
              <a:ext cx="896940"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当前（2026年6月末）​</a:t>
              </a:r>
            </a:p>
          </p:txBody>
        </p:sp>
        <p:sp>
          <p:nvSpPr>
            <p:cNvPr id="122" name="Line 122"/>
            <p:cNvSpPr/>
            <p:nvPr/>
          </p:nvSpPr>
          <p:spPr>
            <a:xfrm>
              <a:off x="9810750" y="1028700"/>
              <a:ext cx="247650" cy="9525"/>
            </a:xfrm>
            <a:custGeom>
              <a:avLst/>
              <a:gdLst/>
              <a:ahLst/>
              <a:cxnLst/>
              <a:rect l="l" t="t" r="r" b="b"/>
              <a:pathLst>
                <a:path w="247650" h="9525">
                  <a:moveTo>
                    <a:pt x="0" y="0"/>
                  </a:moveTo>
                  <a:lnTo>
                    <a:pt x="247650" y="0"/>
                  </a:lnTo>
                </a:path>
              </a:pathLst>
            </a:custGeom>
            <a:noFill/>
            <a:ln w="19050">
              <a:solidFill>
                <a:srgbClr val="E04C2E"/>
              </a:solidFill>
              <a:custDash>
                <a:ds d="200000" sp="150000"/>
              </a:custDash>
            </a:ln>
          </p:spPr>
        </p:sp>
        <p:sp>
          <p:nvSpPr>
            <p:cNvPr id="123" name="TextBox 123"/>
            <p:cNvSpPr txBox="1"/>
            <p:nvPr/>
          </p:nvSpPr>
          <p:spPr>
            <a:xfrm>
              <a:off x="10110788" y="997982"/>
              <a:ext cx="763397"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目标（2026年末）​</a:t>
              </a:r>
            </a:p>
          </p:txBody>
        </p:sp>
        <p:sp>
          <p:nvSpPr>
            <p:cNvPr id="124" name="Line 124"/>
            <p:cNvSpPr/>
            <p:nvPr/>
          </p:nvSpPr>
          <p:spPr>
            <a:xfrm>
              <a:off x="9944100" y="1419225"/>
              <a:ext cx="9525" cy="723900"/>
            </a:xfrm>
            <a:custGeom>
              <a:avLst/>
              <a:gdLst/>
              <a:ahLst/>
              <a:cxnLst/>
              <a:rect l="l" t="t" r="r" b="b"/>
              <a:pathLst>
                <a:path w="9525" h="723900">
                  <a:moveTo>
                    <a:pt x="0" y="723900"/>
                  </a:moveTo>
                  <a:lnTo>
                    <a:pt x="0" y="0"/>
                  </a:lnTo>
                </a:path>
              </a:pathLst>
            </a:custGeom>
            <a:noFill/>
            <a:ln w="9525">
              <a:solidFill>
                <a:srgbClr val="DDE6F2"/>
              </a:solidFill>
            </a:ln>
          </p:spPr>
        </p:sp>
        <p:sp>
          <p:nvSpPr>
            <p:cNvPr id="125" name="Line 125"/>
            <p:cNvSpPr/>
            <p:nvPr/>
          </p:nvSpPr>
          <p:spPr>
            <a:xfrm>
              <a:off x="9944100" y="1919383"/>
              <a:ext cx="688467" cy="223742"/>
            </a:xfrm>
            <a:custGeom>
              <a:avLst/>
              <a:gdLst/>
              <a:ahLst/>
              <a:cxnLst/>
              <a:rect l="l" t="t" r="r" b="b"/>
              <a:pathLst>
                <a:path w="688467" h="223742">
                  <a:moveTo>
                    <a:pt x="0" y="223742"/>
                  </a:moveTo>
                  <a:lnTo>
                    <a:pt x="688467" y="0"/>
                  </a:lnTo>
                </a:path>
              </a:pathLst>
            </a:custGeom>
            <a:noFill/>
            <a:ln w="9525">
              <a:solidFill>
                <a:srgbClr val="DDE6F2"/>
              </a:solidFill>
            </a:ln>
          </p:spPr>
        </p:sp>
        <p:sp>
          <p:nvSpPr>
            <p:cNvPr id="126" name="Line 126"/>
            <p:cNvSpPr/>
            <p:nvPr/>
          </p:nvSpPr>
          <p:spPr>
            <a:xfrm>
              <a:off x="9944100" y="2143125"/>
              <a:ext cx="425482" cy="585692"/>
            </a:xfrm>
            <a:custGeom>
              <a:avLst/>
              <a:gdLst/>
              <a:ahLst/>
              <a:cxnLst/>
              <a:rect l="l" t="t" r="r" b="b"/>
              <a:pathLst>
                <a:path w="425482" h="585692">
                  <a:moveTo>
                    <a:pt x="0" y="0"/>
                  </a:moveTo>
                  <a:lnTo>
                    <a:pt x="425482" y="585692"/>
                  </a:lnTo>
                </a:path>
              </a:pathLst>
            </a:custGeom>
            <a:noFill/>
            <a:ln w="9525">
              <a:solidFill>
                <a:srgbClr val="DDE6F2"/>
              </a:solidFill>
            </a:ln>
          </p:spPr>
        </p:sp>
        <p:sp>
          <p:nvSpPr>
            <p:cNvPr id="127" name="Line 127"/>
            <p:cNvSpPr/>
            <p:nvPr/>
          </p:nvSpPr>
          <p:spPr>
            <a:xfrm>
              <a:off x="9518618" y="2143125"/>
              <a:ext cx="425482" cy="585692"/>
            </a:xfrm>
            <a:custGeom>
              <a:avLst/>
              <a:gdLst/>
              <a:ahLst/>
              <a:cxnLst/>
              <a:rect l="l" t="t" r="r" b="b"/>
              <a:pathLst>
                <a:path w="425482" h="585692">
                  <a:moveTo>
                    <a:pt x="425482" y="0"/>
                  </a:moveTo>
                  <a:lnTo>
                    <a:pt x="0" y="585692"/>
                  </a:lnTo>
                </a:path>
              </a:pathLst>
            </a:custGeom>
            <a:noFill/>
            <a:ln w="9525">
              <a:solidFill>
                <a:srgbClr val="DDE6F2"/>
              </a:solidFill>
            </a:ln>
          </p:spPr>
        </p:sp>
        <p:sp>
          <p:nvSpPr>
            <p:cNvPr id="128" name="Line 128"/>
            <p:cNvSpPr/>
            <p:nvPr/>
          </p:nvSpPr>
          <p:spPr>
            <a:xfrm>
              <a:off x="9255633" y="1919383"/>
              <a:ext cx="688467" cy="223742"/>
            </a:xfrm>
            <a:custGeom>
              <a:avLst/>
              <a:gdLst/>
              <a:ahLst/>
              <a:cxnLst/>
              <a:rect l="l" t="t" r="r" b="b"/>
              <a:pathLst>
                <a:path w="688467" h="223742">
                  <a:moveTo>
                    <a:pt x="688467" y="223742"/>
                  </a:moveTo>
                  <a:lnTo>
                    <a:pt x="0" y="0"/>
                  </a:lnTo>
                </a:path>
              </a:pathLst>
            </a:custGeom>
            <a:noFill/>
            <a:ln w="9525">
              <a:solidFill>
                <a:srgbClr val="DDE6F2"/>
              </a:solidFill>
            </a:ln>
          </p:spPr>
        </p:sp>
        <p:sp>
          <p:nvSpPr>
            <p:cNvPr id="129" name="Freeform 129"/>
            <p:cNvSpPr/>
            <p:nvPr/>
          </p:nvSpPr>
          <p:spPr>
            <a:xfrm>
              <a:off x="9806368" y="1998345"/>
              <a:ext cx="275463" cy="261938"/>
            </a:xfrm>
            <a:custGeom>
              <a:avLst/>
              <a:gdLst/>
              <a:ahLst/>
              <a:cxnLst/>
              <a:rect l="l" t="t" r="r" b="b"/>
              <a:pathLst>
                <a:path w="275463" h="261938">
                  <a:moveTo>
                    <a:pt x="137732" y="0"/>
                  </a:moveTo>
                  <a:lnTo>
                    <a:pt x="275463" y="100012"/>
                  </a:lnTo>
                  <a:lnTo>
                    <a:pt x="222790" y="261938"/>
                  </a:lnTo>
                  <a:lnTo>
                    <a:pt x="52673" y="261938"/>
                  </a:lnTo>
                  <a:lnTo>
                    <a:pt x="0" y="100012"/>
                  </a:lnTo>
                  <a:close/>
                </a:path>
              </a:pathLst>
            </a:custGeom>
            <a:noFill/>
            <a:ln w="9525">
              <a:solidFill>
                <a:srgbClr val="EDF2FA"/>
              </a:solidFill>
            </a:ln>
          </p:spPr>
        </p:sp>
        <p:sp>
          <p:nvSpPr>
            <p:cNvPr id="130" name="Freeform 130"/>
            <p:cNvSpPr/>
            <p:nvPr/>
          </p:nvSpPr>
          <p:spPr>
            <a:xfrm>
              <a:off x="9668732" y="1853565"/>
              <a:ext cx="550736" cy="523780"/>
            </a:xfrm>
            <a:custGeom>
              <a:avLst/>
              <a:gdLst/>
              <a:ahLst/>
              <a:cxnLst/>
              <a:rect l="l" t="t" r="r" b="b"/>
              <a:pathLst>
                <a:path w="550736" h="523780">
                  <a:moveTo>
                    <a:pt x="275368" y="0"/>
                  </a:moveTo>
                  <a:lnTo>
                    <a:pt x="550736" y="200120"/>
                  </a:lnTo>
                  <a:lnTo>
                    <a:pt x="445579" y="523780"/>
                  </a:lnTo>
                  <a:lnTo>
                    <a:pt x="105156" y="523780"/>
                  </a:lnTo>
                  <a:lnTo>
                    <a:pt x="0" y="200120"/>
                  </a:lnTo>
                  <a:close/>
                </a:path>
              </a:pathLst>
            </a:custGeom>
            <a:noFill/>
            <a:ln w="9525">
              <a:solidFill>
                <a:srgbClr val="EDF2FA"/>
              </a:solidFill>
            </a:ln>
          </p:spPr>
        </p:sp>
        <p:sp>
          <p:nvSpPr>
            <p:cNvPr id="131" name="Freeform 131"/>
            <p:cNvSpPr/>
            <p:nvPr/>
          </p:nvSpPr>
          <p:spPr>
            <a:xfrm>
              <a:off x="9531001" y="1708785"/>
              <a:ext cx="826198" cy="785717"/>
            </a:xfrm>
            <a:custGeom>
              <a:avLst/>
              <a:gdLst/>
              <a:ahLst/>
              <a:cxnLst/>
              <a:rect l="l" t="t" r="r" b="b"/>
              <a:pathLst>
                <a:path w="826198" h="785717">
                  <a:moveTo>
                    <a:pt x="413099" y="0"/>
                  </a:moveTo>
                  <a:lnTo>
                    <a:pt x="826198" y="300133"/>
                  </a:lnTo>
                  <a:lnTo>
                    <a:pt x="668369" y="785717"/>
                  </a:lnTo>
                  <a:lnTo>
                    <a:pt x="157829" y="785717"/>
                  </a:lnTo>
                  <a:lnTo>
                    <a:pt x="0" y="300133"/>
                  </a:lnTo>
                  <a:close/>
                </a:path>
              </a:pathLst>
            </a:custGeom>
            <a:noFill/>
            <a:ln w="9525">
              <a:solidFill>
                <a:srgbClr val="EDF2FA"/>
              </a:solidFill>
            </a:ln>
          </p:spPr>
        </p:sp>
        <p:sp>
          <p:nvSpPr>
            <p:cNvPr id="132" name="Freeform 132"/>
            <p:cNvSpPr/>
            <p:nvPr/>
          </p:nvSpPr>
          <p:spPr>
            <a:xfrm>
              <a:off x="9393364" y="1564005"/>
              <a:ext cx="1101471" cy="1047655"/>
            </a:xfrm>
            <a:custGeom>
              <a:avLst/>
              <a:gdLst/>
              <a:ahLst/>
              <a:cxnLst/>
              <a:rect l="l" t="t" r="r" b="b"/>
              <a:pathLst>
                <a:path w="1101471" h="1047655">
                  <a:moveTo>
                    <a:pt x="550736" y="0"/>
                  </a:moveTo>
                  <a:lnTo>
                    <a:pt x="1101471" y="400145"/>
                  </a:lnTo>
                  <a:lnTo>
                    <a:pt x="891159" y="1047655"/>
                  </a:lnTo>
                  <a:lnTo>
                    <a:pt x="210312" y="1047655"/>
                  </a:lnTo>
                  <a:lnTo>
                    <a:pt x="0" y="400145"/>
                  </a:lnTo>
                  <a:close/>
                </a:path>
              </a:pathLst>
            </a:custGeom>
            <a:noFill/>
            <a:ln w="9525">
              <a:solidFill>
                <a:srgbClr val="EDF2FA"/>
              </a:solidFill>
            </a:ln>
          </p:spPr>
        </p:sp>
        <p:sp>
          <p:nvSpPr>
            <p:cNvPr id="133" name="Freeform 133"/>
            <p:cNvSpPr/>
            <p:nvPr/>
          </p:nvSpPr>
          <p:spPr>
            <a:xfrm>
              <a:off x="9255633" y="1419225"/>
              <a:ext cx="1376934" cy="1309592"/>
            </a:xfrm>
            <a:custGeom>
              <a:avLst/>
              <a:gdLst/>
              <a:ahLst/>
              <a:cxnLst/>
              <a:rect l="l" t="t" r="r" b="b"/>
              <a:pathLst>
                <a:path w="1376934" h="1309592">
                  <a:moveTo>
                    <a:pt x="688467" y="0"/>
                  </a:moveTo>
                  <a:lnTo>
                    <a:pt x="1376934" y="500158"/>
                  </a:lnTo>
                  <a:lnTo>
                    <a:pt x="1113949" y="1309592"/>
                  </a:lnTo>
                  <a:lnTo>
                    <a:pt x="262985" y="1309592"/>
                  </a:lnTo>
                  <a:lnTo>
                    <a:pt x="0" y="500158"/>
                  </a:lnTo>
                  <a:close/>
                </a:path>
              </a:pathLst>
            </a:custGeom>
            <a:noFill/>
            <a:ln w="11430">
              <a:solidFill>
                <a:srgbClr val="DDE6F2"/>
              </a:solidFill>
            </a:ln>
          </p:spPr>
        </p:sp>
        <p:sp>
          <p:nvSpPr>
            <p:cNvPr id="134" name="TextBox 134"/>
            <p:cNvSpPr txBox="1"/>
            <p:nvPr/>
          </p:nvSpPr>
          <p:spPr>
            <a:xfrm>
              <a:off x="9996488" y="1972151"/>
              <a:ext cx="125029" cy="104775"/>
            </a:xfrm>
            <a:prstGeom prst="rect">
              <a:avLst/>
            </a:prstGeom>
            <a:noFill/>
            <a:ln>
              <a:noFill/>
            </a:ln>
          </p:spPr>
          <p:txBody>
            <a:bodyPr wrap="none" lIns="0" tIns="0" rIns="0" bIns="0" anchor="t" anchorCtr="0">
              <a:spAutoFit/>
            </a:bodyPr>
            <a:lstStyle/>
            <a:p>
              <a:pPr algn="l"/>
              <a:r>
                <a:rPr lang="zh-CN" sz="520" dirty="0">
                  <a:solidFill>
                    <a:srgbClr val="B4C2D6"/>
                  </a:solidFill>
                  <a:latin typeface="+mn-lt"/>
                  <a:ea typeface="+mn-ea"/>
                  <a:cs typeface="+mn-cs"/>
                </a:rPr>
                <a:t>20​</a:t>
              </a:r>
            </a:p>
          </p:txBody>
        </p:sp>
        <p:sp>
          <p:nvSpPr>
            <p:cNvPr id="135" name="TextBox 135"/>
            <p:cNvSpPr txBox="1"/>
            <p:nvPr/>
          </p:nvSpPr>
          <p:spPr>
            <a:xfrm>
              <a:off x="9996488" y="1829276"/>
              <a:ext cx="125029" cy="104775"/>
            </a:xfrm>
            <a:prstGeom prst="rect">
              <a:avLst/>
            </a:prstGeom>
            <a:noFill/>
            <a:ln>
              <a:noFill/>
            </a:ln>
          </p:spPr>
          <p:txBody>
            <a:bodyPr wrap="none" lIns="0" tIns="0" rIns="0" bIns="0" anchor="t" anchorCtr="0">
              <a:spAutoFit/>
            </a:bodyPr>
            <a:lstStyle/>
            <a:p>
              <a:pPr algn="l"/>
              <a:r>
                <a:rPr lang="zh-CN" sz="520" dirty="0">
                  <a:solidFill>
                    <a:srgbClr val="B4C2D6"/>
                  </a:solidFill>
                  <a:latin typeface="+mn-lt"/>
                  <a:ea typeface="+mn-ea"/>
                  <a:cs typeface="+mn-cs"/>
                </a:rPr>
                <a:t>40​</a:t>
              </a:r>
            </a:p>
          </p:txBody>
        </p:sp>
        <p:sp>
          <p:nvSpPr>
            <p:cNvPr id="136" name="TextBox 136"/>
            <p:cNvSpPr txBox="1"/>
            <p:nvPr/>
          </p:nvSpPr>
          <p:spPr>
            <a:xfrm>
              <a:off x="9996488" y="1686401"/>
              <a:ext cx="125029" cy="104775"/>
            </a:xfrm>
            <a:prstGeom prst="rect">
              <a:avLst/>
            </a:prstGeom>
            <a:noFill/>
            <a:ln>
              <a:noFill/>
            </a:ln>
          </p:spPr>
          <p:txBody>
            <a:bodyPr wrap="none" lIns="0" tIns="0" rIns="0" bIns="0" anchor="t" anchorCtr="0">
              <a:spAutoFit/>
            </a:bodyPr>
            <a:lstStyle/>
            <a:p>
              <a:pPr algn="l"/>
              <a:r>
                <a:rPr lang="zh-CN" sz="520" dirty="0">
                  <a:solidFill>
                    <a:srgbClr val="B4C2D6"/>
                  </a:solidFill>
                  <a:latin typeface="+mn-lt"/>
                  <a:ea typeface="+mn-ea"/>
                  <a:cs typeface="+mn-cs"/>
                </a:rPr>
                <a:t>60​</a:t>
              </a:r>
            </a:p>
          </p:txBody>
        </p:sp>
        <p:sp>
          <p:nvSpPr>
            <p:cNvPr id="137" name="TextBox 137"/>
            <p:cNvSpPr txBox="1"/>
            <p:nvPr/>
          </p:nvSpPr>
          <p:spPr>
            <a:xfrm>
              <a:off x="9996488" y="1543526"/>
              <a:ext cx="125029" cy="104775"/>
            </a:xfrm>
            <a:prstGeom prst="rect">
              <a:avLst/>
            </a:prstGeom>
            <a:noFill/>
            <a:ln>
              <a:noFill/>
            </a:ln>
          </p:spPr>
          <p:txBody>
            <a:bodyPr wrap="none" lIns="0" tIns="0" rIns="0" bIns="0" anchor="t" anchorCtr="0">
              <a:spAutoFit/>
            </a:bodyPr>
            <a:lstStyle/>
            <a:p>
              <a:pPr algn="l"/>
              <a:r>
                <a:rPr lang="zh-CN" sz="520" dirty="0">
                  <a:solidFill>
                    <a:srgbClr val="B4C2D6"/>
                  </a:solidFill>
                  <a:latin typeface="+mn-lt"/>
                  <a:ea typeface="+mn-ea"/>
                  <a:cs typeface="+mn-cs"/>
                </a:rPr>
                <a:t>80​</a:t>
              </a:r>
            </a:p>
          </p:txBody>
        </p:sp>
        <p:sp>
          <p:nvSpPr>
            <p:cNvPr id="138" name="TextBox 138"/>
            <p:cNvSpPr txBox="1"/>
            <p:nvPr/>
          </p:nvSpPr>
          <p:spPr>
            <a:xfrm>
              <a:off x="9996488" y="1400651"/>
              <a:ext cx="163530" cy="104775"/>
            </a:xfrm>
            <a:prstGeom prst="rect">
              <a:avLst/>
            </a:prstGeom>
            <a:noFill/>
            <a:ln>
              <a:noFill/>
            </a:ln>
          </p:spPr>
          <p:txBody>
            <a:bodyPr wrap="none" lIns="0" tIns="0" rIns="0" bIns="0" anchor="t" anchorCtr="0">
              <a:spAutoFit/>
            </a:bodyPr>
            <a:lstStyle/>
            <a:p>
              <a:pPr algn="l"/>
              <a:r>
                <a:rPr lang="zh-CN" sz="520" dirty="0">
                  <a:solidFill>
                    <a:srgbClr val="B4C2D6"/>
                  </a:solidFill>
                  <a:latin typeface="+mn-lt"/>
                  <a:ea typeface="+mn-ea"/>
                  <a:cs typeface="+mn-cs"/>
                </a:rPr>
                <a:t>100​</a:t>
              </a:r>
            </a:p>
          </p:txBody>
        </p:sp>
        <p:sp>
          <p:nvSpPr>
            <p:cNvPr id="139" name="Freeform 139"/>
            <p:cNvSpPr/>
            <p:nvPr/>
          </p:nvSpPr>
          <p:spPr>
            <a:xfrm>
              <a:off x="9448419" y="1600200"/>
              <a:ext cx="977646" cy="999744"/>
            </a:xfrm>
            <a:custGeom>
              <a:avLst/>
              <a:gdLst/>
              <a:ahLst/>
              <a:cxnLst/>
              <a:rect l="l" t="t" r="r" b="b"/>
              <a:pathLst>
                <a:path w="977646" h="999744">
                  <a:moveTo>
                    <a:pt x="495681" y="0"/>
                  </a:moveTo>
                  <a:lnTo>
                    <a:pt x="977646" y="386334"/>
                  </a:lnTo>
                  <a:lnTo>
                    <a:pt x="827532" y="999744"/>
                  </a:lnTo>
                  <a:lnTo>
                    <a:pt x="180785" y="976312"/>
                  </a:lnTo>
                  <a:lnTo>
                    <a:pt x="0" y="381857"/>
                  </a:lnTo>
                  <a:close/>
                </a:path>
              </a:pathLst>
            </a:custGeom>
            <a:solidFill>
              <a:srgbClr val="E04C2E">
                <a:alpha val="10000"/>
              </a:srgbClr>
            </a:solidFill>
            <a:ln w="17145">
              <a:solidFill>
                <a:srgbClr val="E04C2E"/>
              </a:solidFill>
              <a:custDash>
                <a:ds d="222222" sp="166667"/>
              </a:custDash>
            </a:ln>
          </p:spPr>
        </p:sp>
        <p:sp>
          <p:nvSpPr>
            <p:cNvPr id="140" name="Freeform 140"/>
            <p:cNvSpPr/>
            <p:nvPr/>
          </p:nvSpPr>
          <p:spPr>
            <a:xfrm>
              <a:off x="9606724" y="1723263"/>
              <a:ext cx="709136" cy="782955"/>
            </a:xfrm>
            <a:custGeom>
              <a:avLst/>
              <a:gdLst/>
              <a:ahLst/>
              <a:cxnLst/>
              <a:rect l="l" t="t" r="r" b="b"/>
              <a:pathLst>
                <a:path w="709136" h="782955">
                  <a:moveTo>
                    <a:pt x="337375" y="0"/>
                  </a:moveTo>
                  <a:lnTo>
                    <a:pt x="709136" y="299085"/>
                  </a:lnTo>
                  <a:lnTo>
                    <a:pt x="601218" y="782955"/>
                  </a:lnTo>
                  <a:lnTo>
                    <a:pt x="94869" y="753713"/>
                  </a:lnTo>
                  <a:lnTo>
                    <a:pt x="0" y="310229"/>
                  </a:lnTo>
                  <a:close/>
                </a:path>
              </a:pathLst>
            </a:custGeom>
            <a:solidFill>
              <a:srgbClr val="69281B">
                <a:alpha val="15000"/>
              </a:srgbClr>
            </a:solidFill>
            <a:ln w="19050">
              <a:solidFill>
                <a:srgbClr val="69281B"/>
              </a:solidFill>
            </a:ln>
          </p:spPr>
        </p:sp>
        <p:sp>
          <p:nvSpPr>
            <p:cNvPr id="141" name="Ellipse 141"/>
            <p:cNvSpPr/>
            <p:nvPr/>
          </p:nvSpPr>
          <p:spPr>
            <a:xfrm>
              <a:off x="9920288" y="1699450"/>
              <a:ext cx="47625" cy="47625"/>
            </a:xfrm>
            <a:prstGeom prst="ellipse">
              <a:avLst/>
            </a:prstGeom>
            <a:solidFill>
              <a:srgbClr val="69281B"/>
            </a:solidFill>
            <a:ln>
              <a:noFill/>
            </a:ln>
          </p:spPr>
        </p:sp>
        <p:sp>
          <p:nvSpPr>
            <p:cNvPr id="142" name="Ellipse 142"/>
            <p:cNvSpPr/>
            <p:nvPr/>
          </p:nvSpPr>
          <p:spPr>
            <a:xfrm>
              <a:off x="10292048" y="1998536"/>
              <a:ext cx="47625" cy="47625"/>
            </a:xfrm>
            <a:prstGeom prst="ellipse">
              <a:avLst/>
            </a:prstGeom>
            <a:solidFill>
              <a:srgbClr val="69281B"/>
            </a:solidFill>
            <a:ln>
              <a:noFill/>
            </a:ln>
          </p:spPr>
        </p:sp>
        <p:sp>
          <p:nvSpPr>
            <p:cNvPr id="143" name="Ellipse 143"/>
            <p:cNvSpPr/>
            <p:nvPr/>
          </p:nvSpPr>
          <p:spPr>
            <a:xfrm>
              <a:off x="10184130" y="2482406"/>
              <a:ext cx="47625" cy="47625"/>
            </a:xfrm>
            <a:prstGeom prst="ellipse">
              <a:avLst/>
            </a:prstGeom>
            <a:solidFill>
              <a:srgbClr val="69281B"/>
            </a:solidFill>
            <a:ln>
              <a:noFill/>
            </a:ln>
          </p:spPr>
        </p:sp>
        <p:sp>
          <p:nvSpPr>
            <p:cNvPr id="144" name="Ellipse 144"/>
            <p:cNvSpPr/>
            <p:nvPr/>
          </p:nvSpPr>
          <p:spPr>
            <a:xfrm>
              <a:off x="9677781" y="2453164"/>
              <a:ext cx="47625" cy="47625"/>
            </a:xfrm>
            <a:prstGeom prst="ellipse">
              <a:avLst/>
            </a:prstGeom>
            <a:solidFill>
              <a:srgbClr val="69281B"/>
            </a:solidFill>
            <a:ln>
              <a:noFill/>
            </a:ln>
          </p:spPr>
        </p:sp>
        <p:sp>
          <p:nvSpPr>
            <p:cNvPr id="145" name="Ellipse 145"/>
            <p:cNvSpPr/>
            <p:nvPr/>
          </p:nvSpPr>
          <p:spPr>
            <a:xfrm>
              <a:off x="9582912" y="2009680"/>
              <a:ext cx="47625" cy="47625"/>
            </a:xfrm>
            <a:prstGeom prst="ellipse">
              <a:avLst/>
            </a:prstGeom>
            <a:solidFill>
              <a:srgbClr val="69281B"/>
            </a:solidFill>
            <a:ln>
              <a:noFill/>
            </a:ln>
          </p:spPr>
        </p:sp>
        <p:sp>
          <p:nvSpPr>
            <p:cNvPr id="146" name="TextBox 146"/>
            <p:cNvSpPr txBox="1"/>
            <p:nvPr/>
          </p:nvSpPr>
          <p:spPr>
            <a:xfrm>
              <a:off x="9748177" y="1256586"/>
              <a:ext cx="391846" cy="140494"/>
            </a:xfrm>
            <a:prstGeom prst="rect">
              <a:avLst/>
            </a:prstGeom>
            <a:noFill/>
            <a:ln>
              <a:noFill/>
            </a:ln>
          </p:spPr>
          <p:txBody>
            <a:bodyPr wrap="none" lIns="0" tIns="0" rIns="0" bIns="0" anchor="t" anchorCtr="0">
              <a:spAutoFit/>
            </a:bodyPr>
            <a:lstStyle/>
            <a:p>
              <a:pPr algn="ctr"/>
              <a:r>
                <a:rPr lang="zh-CN" sz="710" b="1" dirty="0">
                  <a:solidFill>
                    <a:srgbClr val="5F3A33"/>
                  </a:solidFill>
                  <a:latin typeface="+mn-lt"/>
                  <a:ea typeface="+mn-ea"/>
                  <a:cs typeface="+mn-cs"/>
                </a:rPr>
                <a:t>产品能力</a:t>
              </a:r>
            </a:p>
          </p:txBody>
        </p:sp>
        <p:sp>
          <p:nvSpPr>
            <p:cNvPr id="147" name="TextBox 147"/>
            <p:cNvSpPr txBox="1"/>
            <p:nvPr/>
          </p:nvSpPr>
          <p:spPr>
            <a:xfrm>
              <a:off x="9685100" y="1611630"/>
              <a:ext cx="149462" cy="119062"/>
            </a:xfrm>
            <a:prstGeom prst="rect">
              <a:avLst/>
            </a:prstGeom>
            <a:noFill/>
            <a:ln>
              <a:noFill/>
            </a:ln>
          </p:spPr>
          <p:txBody>
            <a:bodyPr wrap="none" lIns="0" tIns="0" rIns="0" bIns="0" anchor="t" anchorCtr="0">
              <a:spAutoFit/>
            </a:bodyPr>
            <a:lstStyle/>
            <a:p>
              <a:pPr algn="r"/>
              <a:r>
                <a:rPr lang="zh-CN" sz="600" b="1" dirty="0">
                  <a:solidFill>
                    <a:srgbClr val="69281B"/>
                  </a:solidFill>
                  <a:latin typeface="+mn-lt"/>
                  <a:ea typeface="+mn-ea"/>
                  <a:cs typeface="+mn-cs"/>
                </a:rPr>
                <a:t>58​</a:t>
              </a:r>
            </a:p>
          </p:txBody>
        </p:sp>
        <p:sp>
          <p:nvSpPr>
            <p:cNvPr id="148" name="TextBox 148"/>
            <p:cNvSpPr txBox="1"/>
            <p:nvPr/>
          </p:nvSpPr>
          <p:spPr>
            <a:xfrm>
              <a:off x="10053638" y="1487805"/>
              <a:ext cx="149462" cy="119062"/>
            </a:xfrm>
            <a:prstGeom prst="rect">
              <a:avLst/>
            </a:prstGeom>
            <a:noFill/>
            <a:ln>
              <a:noFill/>
            </a:ln>
          </p:spPr>
          <p:txBody>
            <a:bodyPr wrap="none" lIns="0" tIns="0" rIns="0" bIns="0" anchor="t" anchorCtr="0">
              <a:spAutoFit/>
            </a:bodyPr>
            <a:lstStyle/>
            <a:p>
              <a:pPr algn="l"/>
              <a:r>
                <a:rPr lang="zh-CN" sz="600" b="1" dirty="0">
                  <a:solidFill>
                    <a:srgbClr val="E04C2E"/>
                  </a:solidFill>
                  <a:latin typeface="+mn-lt"/>
                  <a:ea typeface="+mn-ea"/>
                  <a:cs typeface="+mn-cs"/>
                </a:rPr>
                <a:t>75​</a:t>
              </a:r>
            </a:p>
          </p:txBody>
        </p:sp>
        <p:sp>
          <p:nvSpPr>
            <p:cNvPr id="149" name="TextBox 149"/>
            <p:cNvSpPr txBox="1"/>
            <p:nvPr/>
          </p:nvSpPr>
          <p:spPr>
            <a:xfrm>
              <a:off x="10701338" y="1809036"/>
              <a:ext cx="39184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行业理解</a:t>
              </a:r>
            </a:p>
          </p:txBody>
        </p:sp>
        <p:sp>
          <p:nvSpPr>
            <p:cNvPr id="150" name="TextBox 150"/>
            <p:cNvSpPr txBox="1"/>
            <p:nvPr/>
          </p:nvSpPr>
          <p:spPr>
            <a:xfrm>
              <a:off x="10377488" y="2049780"/>
              <a:ext cx="149462" cy="119062"/>
            </a:xfrm>
            <a:prstGeom prst="rect">
              <a:avLst/>
            </a:prstGeom>
            <a:noFill/>
            <a:ln>
              <a:noFill/>
            </a:ln>
          </p:spPr>
          <p:txBody>
            <a:bodyPr wrap="none" lIns="0" tIns="0" rIns="0" bIns="0" anchor="t" anchorCtr="0">
              <a:spAutoFit/>
            </a:bodyPr>
            <a:lstStyle/>
            <a:p>
              <a:pPr algn="l"/>
              <a:r>
                <a:rPr lang="zh-CN" sz="600" b="1" dirty="0">
                  <a:solidFill>
                    <a:srgbClr val="69281B"/>
                  </a:solidFill>
                  <a:latin typeface="+mn-lt"/>
                  <a:ea typeface="+mn-ea"/>
                  <a:cs typeface="+mn-cs"/>
                </a:rPr>
                <a:t>54​</a:t>
              </a:r>
            </a:p>
          </p:txBody>
        </p:sp>
        <p:sp>
          <p:nvSpPr>
            <p:cNvPr id="151" name="TextBox 151"/>
            <p:cNvSpPr txBox="1"/>
            <p:nvPr/>
          </p:nvSpPr>
          <p:spPr>
            <a:xfrm>
              <a:off x="10510838" y="1897380"/>
              <a:ext cx="149462" cy="119062"/>
            </a:xfrm>
            <a:prstGeom prst="rect">
              <a:avLst/>
            </a:prstGeom>
            <a:noFill/>
            <a:ln>
              <a:noFill/>
            </a:ln>
          </p:spPr>
          <p:txBody>
            <a:bodyPr wrap="none" lIns="0" tIns="0" rIns="0" bIns="0" anchor="t" anchorCtr="0">
              <a:spAutoFit/>
            </a:bodyPr>
            <a:lstStyle/>
            <a:p>
              <a:pPr algn="l"/>
              <a:r>
                <a:rPr lang="zh-CN" sz="600" b="1" dirty="0">
                  <a:solidFill>
                    <a:srgbClr val="E04C2E"/>
                  </a:solidFill>
                  <a:latin typeface="+mn-lt"/>
                  <a:ea typeface="+mn-ea"/>
                  <a:cs typeface="+mn-cs"/>
                </a:rPr>
                <a:t>70​</a:t>
              </a:r>
            </a:p>
          </p:txBody>
        </p:sp>
        <p:sp>
          <p:nvSpPr>
            <p:cNvPr id="152" name="TextBox 152"/>
            <p:cNvSpPr txBox="1"/>
            <p:nvPr/>
          </p:nvSpPr>
          <p:spPr>
            <a:xfrm>
              <a:off x="10434638" y="2818686"/>
              <a:ext cx="391846" cy="140494"/>
            </a:xfrm>
            <a:prstGeom prst="rect">
              <a:avLst/>
            </a:prstGeom>
            <a:noFill/>
            <a:ln>
              <a:noFill/>
            </a:ln>
          </p:spPr>
          <p:txBody>
            <a:bodyPr wrap="none" lIns="0" tIns="0" rIns="0" bIns="0" anchor="t" anchorCtr="0">
              <a:spAutoFit/>
            </a:bodyPr>
            <a:lstStyle/>
            <a:p>
              <a:pPr algn="l"/>
              <a:r>
                <a:rPr lang="zh-CN" sz="710" b="1" dirty="0">
                  <a:solidFill>
                    <a:srgbClr val="5F3A33"/>
                  </a:solidFill>
                  <a:latin typeface="+mn-lt"/>
                  <a:ea typeface="+mn-ea"/>
                  <a:cs typeface="+mn-cs"/>
                </a:rPr>
                <a:t>获客拓展</a:t>
              </a:r>
            </a:p>
          </p:txBody>
        </p:sp>
        <p:sp>
          <p:nvSpPr>
            <p:cNvPr id="153" name="TextBox 153"/>
            <p:cNvSpPr txBox="1"/>
            <p:nvPr/>
          </p:nvSpPr>
          <p:spPr>
            <a:xfrm>
              <a:off x="10225088" y="2583180"/>
              <a:ext cx="149462" cy="119062"/>
            </a:xfrm>
            <a:prstGeom prst="rect">
              <a:avLst/>
            </a:prstGeom>
            <a:noFill/>
            <a:ln>
              <a:noFill/>
            </a:ln>
          </p:spPr>
          <p:txBody>
            <a:bodyPr wrap="none" lIns="0" tIns="0" rIns="0" bIns="0" anchor="t" anchorCtr="0">
              <a:spAutoFit/>
            </a:bodyPr>
            <a:lstStyle/>
            <a:p>
              <a:pPr algn="l"/>
              <a:r>
                <a:rPr lang="zh-CN" sz="600" b="1" dirty="0">
                  <a:solidFill>
                    <a:srgbClr val="69281B"/>
                  </a:solidFill>
                  <a:latin typeface="+mn-lt"/>
                  <a:ea typeface="+mn-ea"/>
                  <a:cs typeface="+mn-cs"/>
                </a:rPr>
                <a:t>62​</a:t>
              </a:r>
            </a:p>
          </p:txBody>
        </p:sp>
        <p:sp>
          <p:nvSpPr>
            <p:cNvPr id="154" name="TextBox 154"/>
            <p:cNvSpPr txBox="1"/>
            <p:nvPr/>
          </p:nvSpPr>
          <p:spPr>
            <a:xfrm>
              <a:off x="10339388" y="2687955"/>
              <a:ext cx="149462" cy="119062"/>
            </a:xfrm>
            <a:prstGeom prst="rect">
              <a:avLst/>
            </a:prstGeom>
            <a:noFill/>
            <a:ln>
              <a:noFill/>
            </a:ln>
          </p:spPr>
          <p:txBody>
            <a:bodyPr wrap="none" lIns="0" tIns="0" rIns="0" bIns="0" anchor="t" anchorCtr="0">
              <a:spAutoFit/>
            </a:bodyPr>
            <a:lstStyle/>
            <a:p>
              <a:pPr algn="l"/>
              <a:r>
                <a:rPr lang="zh-CN" sz="600" b="1" dirty="0">
                  <a:solidFill>
                    <a:srgbClr val="E04C2E"/>
                  </a:solidFill>
                  <a:latin typeface="+mn-lt"/>
                  <a:ea typeface="+mn-ea"/>
                  <a:cs typeface="+mn-cs"/>
                </a:rPr>
                <a:t>78​</a:t>
              </a:r>
            </a:p>
          </p:txBody>
        </p:sp>
        <p:sp>
          <p:nvSpPr>
            <p:cNvPr id="155" name="TextBox 155"/>
            <p:cNvSpPr txBox="1"/>
            <p:nvPr/>
          </p:nvSpPr>
          <p:spPr>
            <a:xfrm>
              <a:off x="9061717" y="2818686"/>
              <a:ext cx="391846" cy="140494"/>
            </a:xfrm>
            <a:prstGeom prst="rect">
              <a:avLst/>
            </a:prstGeom>
            <a:noFill/>
            <a:ln>
              <a:noFill/>
            </a:ln>
          </p:spPr>
          <p:txBody>
            <a:bodyPr wrap="none" lIns="0" tIns="0" rIns="0" bIns="0" anchor="t" anchorCtr="0">
              <a:spAutoFit/>
            </a:bodyPr>
            <a:lstStyle/>
            <a:p>
              <a:pPr algn="r"/>
              <a:r>
                <a:rPr lang="zh-CN" sz="710" b="1" dirty="0">
                  <a:solidFill>
                    <a:srgbClr val="5F3A33"/>
                  </a:solidFill>
                  <a:latin typeface="+mn-lt"/>
                  <a:ea typeface="+mn-ea"/>
                  <a:cs typeface="+mn-cs"/>
                </a:rPr>
                <a:t>方案定制</a:t>
              </a:r>
            </a:p>
          </p:txBody>
        </p:sp>
        <p:sp>
          <p:nvSpPr>
            <p:cNvPr id="156" name="TextBox 156"/>
            <p:cNvSpPr txBox="1"/>
            <p:nvPr/>
          </p:nvSpPr>
          <p:spPr>
            <a:xfrm>
              <a:off x="9532700" y="2554605"/>
              <a:ext cx="149462" cy="119062"/>
            </a:xfrm>
            <a:prstGeom prst="rect">
              <a:avLst/>
            </a:prstGeom>
            <a:noFill/>
            <a:ln>
              <a:noFill/>
            </a:ln>
          </p:spPr>
          <p:txBody>
            <a:bodyPr wrap="none" lIns="0" tIns="0" rIns="0" bIns="0" anchor="t" anchorCtr="0">
              <a:spAutoFit/>
            </a:bodyPr>
            <a:lstStyle/>
            <a:p>
              <a:pPr algn="r"/>
              <a:r>
                <a:rPr lang="zh-CN" sz="600" b="1" dirty="0">
                  <a:solidFill>
                    <a:srgbClr val="69281B"/>
                  </a:solidFill>
                  <a:latin typeface="+mn-lt"/>
                  <a:ea typeface="+mn-ea"/>
                  <a:cs typeface="+mn-cs"/>
                </a:rPr>
                <a:t>57​</a:t>
              </a:r>
            </a:p>
          </p:txBody>
        </p:sp>
        <p:sp>
          <p:nvSpPr>
            <p:cNvPr id="157" name="TextBox 157"/>
            <p:cNvSpPr txBox="1"/>
            <p:nvPr/>
          </p:nvSpPr>
          <p:spPr>
            <a:xfrm>
              <a:off x="9418400" y="2668905"/>
              <a:ext cx="149462" cy="119062"/>
            </a:xfrm>
            <a:prstGeom prst="rect">
              <a:avLst/>
            </a:prstGeom>
            <a:noFill/>
            <a:ln>
              <a:noFill/>
            </a:ln>
          </p:spPr>
          <p:txBody>
            <a:bodyPr wrap="none" lIns="0" tIns="0" rIns="0" bIns="0" anchor="t" anchorCtr="0">
              <a:spAutoFit/>
            </a:bodyPr>
            <a:lstStyle/>
            <a:p>
              <a:pPr algn="r"/>
              <a:r>
                <a:rPr lang="zh-CN" sz="600" b="1" dirty="0">
                  <a:solidFill>
                    <a:srgbClr val="E04C2E"/>
                  </a:solidFill>
                  <a:latin typeface="+mn-lt"/>
                  <a:ea typeface="+mn-ea"/>
                  <a:cs typeface="+mn-cs"/>
                </a:rPr>
                <a:t>74​</a:t>
              </a:r>
            </a:p>
          </p:txBody>
        </p:sp>
        <p:sp>
          <p:nvSpPr>
            <p:cNvPr id="158" name="TextBox 158"/>
            <p:cNvSpPr txBox="1"/>
            <p:nvPr/>
          </p:nvSpPr>
          <p:spPr>
            <a:xfrm>
              <a:off x="8795017" y="1809036"/>
              <a:ext cx="391846" cy="140494"/>
            </a:xfrm>
            <a:prstGeom prst="rect">
              <a:avLst/>
            </a:prstGeom>
            <a:noFill/>
            <a:ln>
              <a:noFill/>
            </a:ln>
          </p:spPr>
          <p:txBody>
            <a:bodyPr wrap="none" lIns="0" tIns="0" rIns="0" bIns="0" anchor="t" anchorCtr="0">
              <a:spAutoFit/>
            </a:bodyPr>
            <a:lstStyle/>
            <a:p>
              <a:pPr algn="r"/>
              <a:r>
                <a:rPr lang="zh-CN" sz="710" b="1" dirty="0">
                  <a:solidFill>
                    <a:srgbClr val="5F3A33"/>
                  </a:solidFill>
                  <a:latin typeface="+mn-lt"/>
                  <a:ea typeface="+mn-ea"/>
                  <a:cs typeface="+mn-cs"/>
                </a:rPr>
                <a:t>数字工具</a:t>
              </a:r>
            </a:p>
          </p:txBody>
        </p:sp>
        <p:sp>
          <p:nvSpPr>
            <p:cNvPr id="159" name="TextBox 159"/>
            <p:cNvSpPr txBox="1"/>
            <p:nvPr/>
          </p:nvSpPr>
          <p:spPr>
            <a:xfrm>
              <a:off x="9437450" y="2068830"/>
              <a:ext cx="149462" cy="119062"/>
            </a:xfrm>
            <a:prstGeom prst="rect">
              <a:avLst/>
            </a:prstGeom>
            <a:noFill/>
            <a:ln>
              <a:noFill/>
            </a:ln>
          </p:spPr>
          <p:txBody>
            <a:bodyPr wrap="none" lIns="0" tIns="0" rIns="0" bIns="0" anchor="t" anchorCtr="0">
              <a:spAutoFit/>
            </a:bodyPr>
            <a:lstStyle/>
            <a:p>
              <a:pPr algn="r"/>
              <a:r>
                <a:rPr lang="zh-CN" sz="600" b="1" dirty="0">
                  <a:solidFill>
                    <a:srgbClr val="69281B"/>
                  </a:solidFill>
                  <a:latin typeface="+mn-lt"/>
                  <a:ea typeface="+mn-ea"/>
                  <a:cs typeface="+mn-cs"/>
                </a:rPr>
                <a:t>49​</a:t>
              </a:r>
            </a:p>
          </p:txBody>
        </p:sp>
        <p:sp>
          <p:nvSpPr>
            <p:cNvPr id="160" name="TextBox 160"/>
            <p:cNvSpPr txBox="1"/>
            <p:nvPr/>
          </p:nvSpPr>
          <p:spPr>
            <a:xfrm>
              <a:off x="9266000" y="1897380"/>
              <a:ext cx="149462" cy="119062"/>
            </a:xfrm>
            <a:prstGeom prst="rect">
              <a:avLst/>
            </a:prstGeom>
            <a:noFill/>
            <a:ln>
              <a:noFill/>
            </a:ln>
          </p:spPr>
          <p:txBody>
            <a:bodyPr wrap="none" lIns="0" tIns="0" rIns="0" bIns="0" anchor="t" anchorCtr="0">
              <a:spAutoFit/>
            </a:bodyPr>
            <a:lstStyle/>
            <a:p>
              <a:pPr algn="r"/>
              <a:r>
                <a:rPr lang="zh-CN" sz="600" b="1" dirty="0">
                  <a:solidFill>
                    <a:srgbClr val="E04C2E"/>
                  </a:solidFill>
                  <a:latin typeface="+mn-lt"/>
                  <a:ea typeface="+mn-ea"/>
                  <a:cs typeface="+mn-cs"/>
                </a:rPr>
                <a:t>72​</a:t>
              </a:r>
            </a:p>
          </p:txBody>
        </p:sp>
        <p:sp>
          <p:nvSpPr>
            <p:cNvPr id="161" name="TextBox 161"/>
            <p:cNvSpPr txBox="1"/>
            <p:nvPr/>
          </p:nvSpPr>
          <p:spPr>
            <a:xfrm>
              <a:off x="9079420" y="3173730"/>
              <a:ext cx="1786509" cy="119062"/>
            </a:xfrm>
            <a:prstGeom prst="rect">
              <a:avLst/>
            </a:prstGeom>
            <a:noFill/>
            <a:ln>
              <a:noFill/>
            </a:ln>
          </p:spPr>
          <p:txBody>
            <a:bodyPr wrap="none" lIns="0" tIns="0" rIns="0" bIns="0" anchor="t" anchorCtr="0">
              <a:spAutoFit/>
            </a:bodyPr>
            <a:lstStyle/>
            <a:p>
              <a:pPr algn="ctr"/>
              <a:r>
                <a:rPr lang="zh-CN" sz="600" dirty="0">
                  <a:solidFill>
                    <a:srgbClr val="BEA09A"/>
                  </a:solidFill>
                  <a:latin typeface="+mn-lt"/>
                  <a:ea typeface="+mn-ea"/>
                  <a:cs typeface="+mn-cs"/>
                </a:rPr>
                <a:t>注：能力得分为示例数据，按五维评估口径统计。</a:t>
              </a:r>
            </a:p>
          </p:txBody>
        </p:sp>
      </p:grpSp>
      <p:grpSp>
        <p:nvGrpSpPr>
          <p:cNvPr id="206" name="roadmap"/>
          <p:cNvGrpSpPr/>
          <p:nvPr/>
        </p:nvGrpSpPr>
        <p:grpSpPr>
          <a:xfrm>
            <a:off x="228600" y="3467100"/>
            <a:ext cx="8477250" cy="2247900"/>
            <a:chOff x="228600" y="3467100"/>
            <a:chExt cx="8477250" cy="2247900"/>
          </a:xfrm>
        </p:grpSpPr>
        <p:sp>
          <p:nvSpPr>
            <p:cNvPr id="163" name="Rectangle 163"/>
            <p:cNvSpPr/>
            <p:nvPr/>
          </p:nvSpPr>
          <p:spPr>
            <a:xfrm>
              <a:off x="228600" y="3467100"/>
              <a:ext cx="1676400" cy="247650"/>
            </a:xfrm>
            <a:prstGeom prst="roundRect">
              <a:avLst>
                <a:gd name="adj" fmla="val 15385"/>
              </a:avLst>
            </a:prstGeom>
            <a:solidFill>
              <a:srgbClr val="69281B"/>
            </a:solidFill>
            <a:ln>
              <a:noFill/>
            </a:ln>
          </p:spPr>
        </p:sp>
        <p:sp>
          <p:nvSpPr>
            <p:cNvPr id="164" name="TextBox 164"/>
            <p:cNvSpPr txBox="1"/>
            <p:nvPr/>
          </p:nvSpPr>
          <p:spPr>
            <a:xfrm>
              <a:off x="461111" y="3539966"/>
              <a:ext cx="12113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7—12月协同升级路线图​</a:t>
              </a:r>
            </a:p>
          </p:txBody>
        </p:sp>
        <p:sp>
          <p:nvSpPr>
            <p:cNvPr id="165" name="Freeform 165"/>
            <p:cNvSpPr/>
            <p:nvPr/>
          </p:nvSpPr>
          <p:spPr>
            <a:xfrm>
              <a:off x="1943100" y="3467100"/>
              <a:ext cx="1066800" cy="247650"/>
            </a:xfrm>
            <a:prstGeom prst="chevron">
              <a:avLst>
                <a:gd name="adj" fmla="val 40000"/>
              </a:avLst>
            </a:prstGeom>
            <a:solidFill>
              <a:srgbClr val="5C2216"/>
            </a:solidFill>
            <a:ln>
              <a:noFill/>
            </a:ln>
          </p:spPr>
        </p:sp>
        <p:sp>
          <p:nvSpPr>
            <p:cNvPr id="166" name="Freeform 166"/>
            <p:cNvSpPr/>
            <p:nvPr/>
          </p:nvSpPr>
          <p:spPr>
            <a:xfrm>
              <a:off x="3048000" y="3467100"/>
              <a:ext cx="1066800" cy="247650"/>
            </a:xfrm>
            <a:prstGeom prst="chevron">
              <a:avLst>
                <a:gd name="adj" fmla="val 40000"/>
              </a:avLst>
            </a:prstGeom>
            <a:solidFill>
              <a:srgbClr val="69281B"/>
            </a:solidFill>
            <a:ln>
              <a:noFill/>
            </a:ln>
          </p:spPr>
        </p:sp>
        <p:sp>
          <p:nvSpPr>
            <p:cNvPr id="167" name="Freeform 167"/>
            <p:cNvSpPr/>
            <p:nvPr/>
          </p:nvSpPr>
          <p:spPr>
            <a:xfrm>
              <a:off x="4152900" y="3467100"/>
              <a:ext cx="1066800" cy="247650"/>
            </a:xfrm>
            <a:prstGeom prst="chevron">
              <a:avLst>
                <a:gd name="adj" fmla="val 40000"/>
              </a:avLst>
            </a:prstGeom>
            <a:solidFill>
              <a:srgbClr val="9B3824"/>
            </a:solidFill>
            <a:ln>
              <a:noFill/>
            </a:ln>
          </p:spPr>
        </p:sp>
        <p:sp>
          <p:nvSpPr>
            <p:cNvPr id="168" name="Freeform 168"/>
            <p:cNvSpPr/>
            <p:nvPr/>
          </p:nvSpPr>
          <p:spPr>
            <a:xfrm>
              <a:off x="5257800" y="3467100"/>
              <a:ext cx="1066800" cy="247650"/>
            </a:xfrm>
            <a:prstGeom prst="chevron">
              <a:avLst>
                <a:gd name="adj" fmla="val 40000"/>
              </a:avLst>
            </a:prstGeom>
            <a:solidFill>
              <a:srgbClr val="E04C2E"/>
            </a:solidFill>
            <a:ln>
              <a:noFill/>
            </a:ln>
          </p:spPr>
        </p:sp>
        <p:sp>
          <p:nvSpPr>
            <p:cNvPr id="169" name="Freeform 169"/>
            <p:cNvSpPr/>
            <p:nvPr/>
          </p:nvSpPr>
          <p:spPr>
            <a:xfrm>
              <a:off x="6362700" y="3467100"/>
              <a:ext cx="1066800" cy="247650"/>
            </a:xfrm>
            <a:prstGeom prst="chevron">
              <a:avLst>
                <a:gd name="adj" fmla="val 40000"/>
              </a:avLst>
            </a:prstGeom>
            <a:solidFill>
              <a:srgbClr val="E8654A"/>
            </a:solidFill>
            <a:ln>
              <a:noFill/>
            </a:ln>
          </p:spPr>
        </p:sp>
        <p:sp>
          <p:nvSpPr>
            <p:cNvPr id="170" name="Freeform 170"/>
            <p:cNvSpPr/>
            <p:nvPr/>
          </p:nvSpPr>
          <p:spPr>
            <a:xfrm>
              <a:off x="7467600" y="3467100"/>
              <a:ext cx="1066800" cy="247650"/>
            </a:xfrm>
            <a:prstGeom prst="chevron">
              <a:avLst>
                <a:gd name="adj" fmla="val 40000"/>
              </a:avLst>
            </a:prstGeom>
            <a:solidFill>
              <a:srgbClr val="E8735B"/>
            </a:solidFill>
            <a:ln>
              <a:noFill/>
            </a:ln>
          </p:spPr>
        </p:sp>
        <p:sp>
          <p:nvSpPr>
            <p:cNvPr id="171" name="TextBox 171"/>
            <p:cNvSpPr txBox="1"/>
            <p:nvPr/>
          </p:nvSpPr>
          <p:spPr>
            <a:xfrm>
              <a:off x="2213700" y="3556159"/>
              <a:ext cx="601799"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7月 数据治理​</a:t>
              </a:r>
            </a:p>
          </p:txBody>
        </p:sp>
        <p:sp>
          <p:nvSpPr>
            <p:cNvPr id="172" name="TextBox 172"/>
            <p:cNvSpPr txBox="1"/>
            <p:nvPr/>
          </p:nvSpPr>
          <p:spPr>
            <a:xfrm>
              <a:off x="3318600" y="3556159"/>
              <a:ext cx="601799"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8月 工具上线​</a:t>
              </a:r>
            </a:p>
          </p:txBody>
        </p:sp>
        <p:sp>
          <p:nvSpPr>
            <p:cNvPr id="173" name="TextBox 173"/>
            <p:cNvSpPr txBox="1"/>
            <p:nvPr/>
          </p:nvSpPr>
          <p:spPr>
            <a:xfrm>
              <a:off x="4423500" y="3556159"/>
              <a:ext cx="601799"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9月 网点辅导​</a:t>
              </a:r>
            </a:p>
          </p:txBody>
        </p:sp>
        <p:sp>
          <p:nvSpPr>
            <p:cNvPr id="174" name="TextBox 174"/>
            <p:cNvSpPr txBox="1"/>
            <p:nvPr/>
          </p:nvSpPr>
          <p:spPr>
            <a:xfrm>
              <a:off x="5501968" y="3556159"/>
              <a:ext cx="654664"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10月 认证考核​</a:t>
              </a:r>
            </a:p>
          </p:txBody>
        </p:sp>
        <p:sp>
          <p:nvSpPr>
            <p:cNvPr id="175" name="TextBox 175"/>
            <p:cNvSpPr txBox="1"/>
            <p:nvPr/>
          </p:nvSpPr>
          <p:spPr>
            <a:xfrm>
              <a:off x="6606868" y="3556159"/>
              <a:ext cx="654664"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11月 绩效联动​</a:t>
              </a:r>
            </a:p>
          </p:txBody>
        </p:sp>
        <p:sp>
          <p:nvSpPr>
            <p:cNvPr id="176" name="TextBox 176"/>
            <p:cNvSpPr txBox="1"/>
            <p:nvPr/>
          </p:nvSpPr>
          <p:spPr>
            <a:xfrm>
              <a:off x="7711768" y="3556159"/>
              <a:ext cx="654664"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12月 复盘固化​</a:t>
              </a:r>
            </a:p>
          </p:txBody>
        </p:sp>
        <p:sp>
          <p:nvSpPr>
            <p:cNvPr id="177" name="Rectangle 177"/>
            <p:cNvSpPr/>
            <p:nvPr/>
          </p:nvSpPr>
          <p:spPr>
            <a:xfrm>
              <a:off x="228600" y="3771900"/>
              <a:ext cx="8477250" cy="1943100"/>
            </a:xfrm>
            <a:prstGeom prst="roundRect">
              <a:avLst>
                <a:gd name="adj" fmla="val 1961"/>
              </a:avLst>
            </a:prstGeom>
            <a:solidFill>
              <a:srgbClr val="F5F8FD"/>
            </a:solidFill>
            <a:ln w="9525">
              <a:solidFill>
                <a:srgbClr val="E3EAF5"/>
              </a:solidFill>
            </a:ln>
          </p:spPr>
        </p:sp>
        <p:sp>
          <p:nvSpPr>
            <p:cNvPr id="178" name="TextBox 178"/>
            <p:cNvSpPr txBox="1"/>
            <p:nvPr/>
          </p:nvSpPr>
          <p:spPr>
            <a:xfrm>
              <a:off x="1976438" y="3861149"/>
              <a:ext cx="914400" cy="44005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完成客户、产品、交易</a:t>
              </a:r>
              <a:br/>
              <a:r>
                <a:rPr lang="zh-CN" sz="580" dirty="0">
                  <a:solidFill>
                    <a:srgbClr val="70504A"/>
                  </a:solidFill>
                  <a:latin typeface="+mn-lt"/>
                  <a:ea typeface="+mn-ea"/>
                  <a:cs typeface="+mn-cs"/>
                </a:rPr>
                <a:t>数据标准梳理</a:t>
              </a:r>
            </a:p>
            <a:p>
              <a:pPr algn="l" marL="76200" indent="-76200">
                <a:lnSpc>
                  <a:spcPts val="750"/>
                </a:lnSpc>
                <a:spcBef>
                  <a:spcPts val="150"/>
                </a:spcBef>
                <a:buClr>
                  <a:srgbClr val="70504A"/>
                </a:buClr>
                <a:buSzTx/>
                <a:buFontTx/>
                <a:buChar char="•"/>
              </a:pPr>
              <a:r>
                <a:rPr lang="zh-CN" sz="580" dirty="0">
                  <a:solidFill>
                    <a:srgbClr val="70504A"/>
                  </a:solidFill>
                  <a:latin typeface="+mn-lt"/>
                  <a:ea typeface="+mn-ea"/>
                  <a:cs typeface="+mn-cs"/>
                </a:rPr>
                <a:t>CRM关键字段补齐至80%​</a:t>
              </a:r>
            </a:p>
            <a:p>
              <a:pPr algn="l" marL="76200" indent="-76200">
                <a:lnSpc>
                  <a:spcPts val="750"/>
                </a:lnSpc>
                <a:spcBef>
                  <a:spcPts val="150"/>
                </a:spcBef>
                <a:buClr>
                  <a:srgbClr val="70504A"/>
                </a:buClr>
                <a:buSzTx/>
                <a:buFontTx/>
                <a:buChar char="•"/>
              </a:pPr>
              <a:r>
                <a:rPr lang="zh-CN" sz="580" dirty="0">
                  <a:solidFill>
                    <a:srgbClr val="70504A"/>
                  </a:solidFill>
                  <a:latin typeface="+mn-lt"/>
                  <a:ea typeface="+mn-ea"/>
                  <a:cs typeface="+mn-cs"/>
                </a:rPr>
                <a:t>建立数据质量监测看板</a:t>
              </a:r>
            </a:p>
          </p:txBody>
        </p:sp>
        <p:sp>
          <p:nvSpPr>
            <p:cNvPr id="179" name="TextBox 179"/>
            <p:cNvSpPr txBox="1"/>
            <p:nvPr/>
          </p:nvSpPr>
          <p:spPr>
            <a:xfrm>
              <a:off x="3081338" y="3861149"/>
              <a:ext cx="910717" cy="53530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企业画像2.0与商机管理​</a:t>
              </a:r>
              <a:br/>
              <a:r>
                <a:rPr lang="zh-CN" sz="580" dirty="0">
                  <a:solidFill>
                    <a:srgbClr val="70504A"/>
                  </a:solidFill>
                  <a:latin typeface="+mn-lt"/>
                  <a:ea typeface="+mn-ea"/>
                  <a:cs typeface="+mn-cs"/>
                </a:rPr>
                <a:t>工具上线</a:t>
              </a:r>
            </a:p>
            <a:p>
              <a:pPr algn="l" marL="76200" indent="-76200">
                <a:lnSpc>
                  <a:spcPts val="750"/>
                </a:lnSpc>
                <a:spcBef>
                  <a:spcPts val="150"/>
                </a:spcBef>
                <a:buClr>
                  <a:srgbClr val="70504A"/>
                </a:buClr>
                <a:buSzTx/>
                <a:buFontTx/>
                <a:buChar char="•"/>
              </a:pPr>
              <a:r>
                <a:rPr lang="zh-CN" sz="580" dirty="0">
                  <a:solidFill>
                    <a:srgbClr val="70504A"/>
                  </a:solidFill>
                  <a:latin typeface="+mn-lt"/>
                  <a:ea typeface="+mn-ea"/>
                  <a:cs typeface="+mn-cs"/>
                </a:rPr>
                <a:t>审批提速与线上签约功能</a:t>
              </a:r>
              <a:br/>
              <a:r>
                <a:rPr lang="zh-CN" sz="580" dirty="0">
                  <a:solidFill>
                    <a:srgbClr val="70504A"/>
                  </a:solidFill>
                  <a:latin typeface="+mn-lt"/>
                  <a:ea typeface="+mn-ea"/>
                  <a:cs typeface="+mn-cs"/>
                </a:rPr>
                <a:t>推广</a:t>
              </a:r>
            </a:p>
            <a:p>
              <a:pPr algn="l" marL="76200" indent="-76200">
                <a:lnSpc>
                  <a:spcPts val="750"/>
                </a:lnSpc>
                <a:spcBef>
                  <a:spcPts val="150"/>
                </a:spcBef>
                <a:buClr>
                  <a:srgbClr val="70504A"/>
                </a:buClr>
                <a:buSzTx/>
                <a:buFontTx/>
                <a:buChar char="•"/>
              </a:pPr>
              <a:r>
                <a:rPr lang="zh-CN" sz="580" dirty="0">
                  <a:solidFill>
                    <a:srgbClr val="70504A"/>
                  </a:solidFill>
                  <a:latin typeface="+mn-lt"/>
                  <a:ea typeface="+mn-ea"/>
                  <a:cs typeface="+mn-cs"/>
                </a:rPr>
                <a:t>移动展业2.0全面覆盖​</a:t>
              </a:r>
            </a:p>
          </p:txBody>
        </p:sp>
        <p:sp>
          <p:nvSpPr>
            <p:cNvPr id="180" name="TextBox 180"/>
            <p:cNvSpPr txBox="1"/>
            <p:nvPr/>
          </p:nvSpPr>
          <p:spPr>
            <a:xfrm>
              <a:off x="4186238" y="3861149"/>
              <a:ext cx="895985" cy="344805"/>
            </a:xfrm>
            <a:prstGeom prst="rect">
              <a:avLst/>
            </a:prstGeom>
            <a:noFill/>
            <a:ln>
              <a:noFill/>
            </a:ln>
          </p:spPr>
          <p:txBody>
            <a:bodyPr wrap="none" lIns="0" tIns="0" rIns="0" bIns="0" anchor="t" anchorCtr="0">
              <a:spAutoFit/>
            </a:bodyPr>
            <a:lstStyle/>
            <a:p>
              <a:pPr algn="l" marL="76200" indent="-76200">
                <a:lnSpc>
                  <a:spcPts val="900"/>
                </a:lnSpc>
                <a:buClr>
                  <a:srgbClr val="70504A"/>
                </a:buClr>
                <a:buSzTx/>
                <a:buFontTx/>
                <a:buChar char="•"/>
              </a:pPr>
              <a:r>
                <a:rPr lang="zh-CN" sz="580" dirty="0">
                  <a:solidFill>
                    <a:srgbClr val="70504A"/>
                  </a:solidFill>
                  <a:latin typeface="+mn-lt"/>
                  <a:ea typeface="+mn-ea"/>
                  <a:cs typeface="+mn-cs"/>
                </a:rPr>
                <a:t>分层网点现场辅导全覆盖</a:t>
              </a:r>
            </a:p>
            <a:p>
              <a:pPr algn="l" marL="76200" indent="-76200">
                <a:lnSpc>
                  <a:spcPts val="900"/>
                </a:lnSpc>
                <a:buClr>
                  <a:srgbClr val="70504A"/>
                </a:buClr>
                <a:buSzTx/>
                <a:buFontTx/>
                <a:buChar char="•"/>
              </a:pPr>
              <a:r>
                <a:rPr lang="zh-CN" sz="580" dirty="0">
                  <a:solidFill>
                    <a:srgbClr val="70504A"/>
                  </a:solidFill>
                  <a:latin typeface="+mn-lt"/>
                  <a:ea typeface="+mn-ea"/>
                  <a:cs typeface="+mn-cs"/>
                </a:rPr>
                <a:t>输出网点经营提升清单</a:t>
              </a:r>
            </a:p>
            <a:p>
              <a:pPr algn="l" marL="76200" indent="-76200">
                <a:lnSpc>
                  <a:spcPts val="900"/>
                </a:lnSpc>
                <a:buClr>
                  <a:srgbClr val="70504A"/>
                </a:buClr>
                <a:buSzTx/>
                <a:buFontTx/>
                <a:buChar char="•"/>
              </a:pPr>
              <a:r>
                <a:rPr lang="zh-CN" sz="580" dirty="0">
                  <a:solidFill>
                    <a:srgbClr val="70504A"/>
                  </a:solidFill>
                  <a:latin typeface="+mn-lt"/>
                  <a:ea typeface="+mn-ea"/>
                  <a:cs typeface="+mn-cs"/>
                </a:rPr>
                <a:t>标杆网点案例复盘与推广</a:t>
              </a:r>
            </a:p>
          </p:txBody>
        </p:sp>
        <p:sp>
          <p:nvSpPr>
            <p:cNvPr id="181" name="TextBox 181"/>
            <p:cNvSpPr txBox="1"/>
            <p:nvPr/>
          </p:nvSpPr>
          <p:spPr>
            <a:xfrm>
              <a:off x="5291138" y="3861149"/>
              <a:ext cx="895985" cy="344805"/>
            </a:xfrm>
            <a:prstGeom prst="rect">
              <a:avLst/>
            </a:prstGeom>
            <a:noFill/>
            <a:ln>
              <a:noFill/>
            </a:ln>
          </p:spPr>
          <p:txBody>
            <a:bodyPr wrap="none" lIns="0" tIns="0" rIns="0" bIns="0" anchor="t" anchorCtr="0">
              <a:spAutoFit/>
            </a:bodyPr>
            <a:lstStyle/>
            <a:p>
              <a:pPr algn="l" marL="76200" indent="-76200">
                <a:lnSpc>
                  <a:spcPts val="900"/>
                </a:lnSpc>
                <a:buClr>
                  <a:srgbClr val="70504A"/>
                </a:buClr>
                <a:buSzTx/>
                <a:buFontTx/>
                <a:buChar char="•"/>
              </a:pPr>
              <a:r>
                <a:rPr lang="zh-CN" sz="580" dirty="0">
                  <a:solidFill>
                    <a:srgbClr val="70504A"/>
                  </a:solidFill>
                  <a:latin typeface="+mn-lt"/>
                  <a:ea typeface="+mn-ea"/>
                  <a:cs typeface="+mn-cs"/>
                </a:rPr>
                <a:t>对公产品与方案专项认证</a:t>
              </a:r>
            </a:p>
            <a:p>
              <a:pPr algn="l" marL="76200" indent="-76200">
                <a:lnSpc>
                  <a:spcPts val="900"/>
                </a:lnSpc>
                <a:buClr>
                  <a:srgbClr val="70504A"/>
                </a:buClr>
                <a:buSzTx/>
                <a:buFontTx/>
                <a:buChar char="•"/>
              </a:pPr>
              <a:r>
                <a:rPr lang="zh-CN" sz="580" dirty="0">
                  <a:solidFill>
                    <a:srgbClr val="70504A"/>
                  </a:solidFill>
                  <a:latin typeface="+mn-lt"/>
                  <a:ea typeface="+mn-ea"/>
                  <a:cs typeface="+mn-cs"/>
                </a:rPr>
                <a:t>数字化工具应用认证</a:t>
              </a:r>
            </a:p>
            <a:p>
              <a:pPr algn="l" marL="76200" indent="-76200">
                <a:lnSpc>
                  <a:spcPts val="900"/>
                </a:lnSpc>
                <a:buClr>
                  <a:srgbClr val="70504A"/>
                </a:buClr>
                <a:buSzTx/>
                <a:buFontTx/>
                <a:buChar char="•"/>
              </a:pPr>
              <a:r>
                <a:rPr lang="zh-CN" sz="580" dirty="0">
                  <a:solidFill>
                    <a:srgbClr val="70504A"/>
                  </a:solidFill>
                  <a:latin typeface="+mn-lt"/>
                  <a:ea typeface="+mn-ea"/>
                  <a:cs typeface="+mn-cs"/>
                </a:rPr>
                <a:t>认证通过率≥90%​</a:t>
              </a:r>
            </a:p>
          </p:txBody>
        </p:sp>
        <p:sp>
          <p:nvSpPr>
            <p:cNvPr id="182" name="TextBox 182"/>
            <p:cNvSpPr txBox="1"/>
            <p:nvPr/>
          </p:nvSpPr>
          <p:spPr>
            <a:xfrm>
              <a:off x="6396038" y="3861149"/>
              <a:ext cx="895985" cy="421005"/>
            </a:xfrm>
            <a:prstGeom prst="rect">
              <a:avLst/>
            </a:prstGeom>
            <a:noFill/>
            <a:ln>
              <a:noFill/>
            </a:ln>
          </p:spPr>
          <p:txBody>
            <a:bodyPr wrap="none" lIns="0" tIns="0" rIns="0" bIns="0" anchor="t" anchorCtr="0">
              <a:spAutoFit/>
            </a:bodyPr>
            <a:lstStyle/>
            <a:p>
              <a:pPr algn="l" marL="76200" indent="-76200">
                <a:lnSpc>
                  <a:spcPts val="750"/>
                </a:lnSpc>
                <a:buClr>
                  <a:srgbClr val="70504A"/>
                </a:buClr>
                <a:buSzTx/>
                <a:buFontTx/>
                <a:buChar char="•"/>
              </a:pPr>
              <a:r>
                <a:rPr lang="zh-CN" sz="580" dirty="0">
                  <a:solidFill>
                    <a:srgbClr val="70504A"/>
                  </a:solidFill>
                  <a:latin typeface="+mn-lt"/>
                  <a:ea typeface="+mn-ea"/>
                  <a:cs typeface="+mn-cs"/>
                </a:rPr>
                <a:t>将数据质量、线上化、客</a:t>
              </a:r>
              <a:br/>
              <a:r>
                <a:rPr lang="zh-CN" sz="580" dirty="0">
                  <a:solidFill>
                    <a:srgbClr val="70504A"/>
                  </a:solidFill>
                  <a:latin typeface="+mn-lt"/>
                  <a:ea typeface="+mn-ea"/>
                  <a:cs typeface="+mn-cs"/>
                </a:rPr>
                <a:t>户增长纳入绩效权重</a:t>
              </a:r>
            </a:p>
            <a:p>
              <a:pPr algn="l" marL="76200" indent="-76200">
                <a:lnSpc>
                  <a:spcPts val="750"/>
                </a:lnSpc>
                <a:spcBef>
                  <a:spcPts val="150"/>
                </a:spcBef>
                <a:buClr>
                  <a:srgbClr val="70504A"/>
                </a:buClr>
                <a:buSzTx/>
                <a:buFontTx/>
                <a:buChar char="•"/>
              </a:pPr>
              <a:r>
                <a:rPr lang="zh-CN" sz="580" dirty="0">
                  <a:solidFill>
                    <a:srgbClr val="70504A"/>
                  </a:solidFill>
                  <a:latin typeface="+mn-lt"/>
                  <a:ea typeface="+mn-ea"/>
                  <a:cs typeface="+mn-cs"/>
                </a:rPr>
                <a:t>网点分层目标达成与激励</a:t>
              </a:r>
              <a:br/>
              <a:r>
                <a:rPr lang="zh-CN" sz="580" dirty="0">
                  <a:solidFill>
                    <a:srgbClr val="70504A"/>
                  </a:solidFill>
                  <a:latin typeface="+mn-lt"/>
                  <a:ea typeface="+mn-ea"/>
                  <a:cs typeface="+mn-cs"/>
                </a:rPr>
                <a:t>联动</a:t>
              </a:r>
            </a:p>
          </p:txBody>
        </p:sp>
        <p:sp>
          <p:nvSpPr>
            <p:cNvPr id="183" name="TextBox 183"/>
            <p:cNvSpPr txBox="1"/>
            <p:nvPr/>
          </p:nvSpPr>
          <p:spPr>
            <a:xfrm>
              <a:off x="7500938" y="3861149"/>
              <a:ext cx="895985" cy="344805"/>
            </a:xfrm>
            <a:prstGeom prst="rect">
              <a:avLst/>
            </a:prstGeom>
            <a:noFill/>
            <a:ln>
              <a:noFill/>
            </a:ln>
          </p:spPr>
          <p:txBody>
            <a:bodyPr wrap="none" lIns="0" tIns="0" rIns="0" bIns="0" anchor="t" anchorCtr="0">
              <a:spAutoFit/>
            </a:bodyPr>
            <a:lstStyle/>
            <a:p>
              <a:pPr algn="l" marL="76200" indent="-76200">
                <a:lnSpc>
                  <a:spcPts val="900"/>
                </a:lnSpc>
                <a:buClr>
                  <a:srgbClr val="70504A"/>
                </a:buClr>
                <a:buSzTx/>
                <a:buFontTx/>
                <a:buChar char="•"/>
              </a:pPr>
              <a:r>
                <a:rPr lang="zh-CN" sz="580" dirty="0">
                  <a:solidFill>
                    <a:srgbClr val="70504A"/>
                  </a:solidFill>
                  <a:latin typeface="+mn-lt"/>
                  <a:ea typeface="+mn-ea"/>
                  <a:cs typeface="+mn-cs"/>
                </a:rPr>
                <a:t>年度复盘与差距分析</a:t>
              </a:r>
            </a:p>
            <a:p>
              <a:pPr algn="l" marL="76200" indent="-76200">
                <a:lnSpc>
                  <a:spcPts val="900"/>
                </a:lnSpc>
                <a:buClr>
                  <a:srgbClr val="70504A"/>
                </a:buClr>
                <a:buSzTx/>
                <a:buFontTx/>
                <a:buChar char="•"/>
              </a:pPr>
              <a:r>
                <a:rPr lang="zh-CN" sz="580" dirty="0">
                  <a:solidFill>
                    <a:srgbClr val="70504A"/>
                  </a:solidFill>
                  <a:latin typeface="+mn-lt"/>
                  <a:ea typeface="+mn-ea"/>
                  <a:cs typeface="+mn-cs"/>
                </a:rPr>
                <a:t>沉淀制度、流程与工具包</a:t>
              </a:r>
            </a:p>
            <a:p>
              <a:pPr algn="l" marL="76200" indent="-76200">
                <a:lnSpc>
                  <a:spcPts val="900"/>
                </a:lnSpc>
                <a:buClr>
                  <a:srgbClr val="70504A"/>
                </a:buClr>
                <a:buSzTx/>
                <a:buFontTx/>
                <a:buChar char="•"/>
              </a:pPr>
              <a:r>
                <a:rPr lang="zh-CN" sz="580" dirty="0">
                  <a:solidFill>
                    <a:srgbClr val="70504A"/>
                  </a:solidFill>
                  <a:latin typeface="+mn-lt"/>
                  <a:ea typeface="+mn-ea"/>
                  <a:cs typeface="+mn-cs"/>
                </a:rPr>
                <a:t>形成2027年优化建议​</a:t>
              </a:r>
            </a:p>
          </p:txBody>
        </p:sp>
        <p:sp>
          <p:nvSpPr>
            <p:cNvPr id="184" name="Rectangle 184"/>
            <p:cNvSpPr/>
            <p:nvPr/>
          </p:nvSpPr>
          <p:spPr>
            <a:xfrm>
              <a:off x="228600" y="4514850"/>
              <a:ext cx="1676400" cy="304800"/>
            </a:xfrm>
            <a:prstGeom prst="rect">
              <a:avLst/>
            </a:prstGeom>
            <a:solidFill>
              <a:srgbClr val="69281B"/>
            </a:solidFill>
            <a:ln>
              <a:noFill/>
            </a:ln>
          </p:spPr>
        </p:sp>
        <p:sp>
          <p:nvSpPr>
            <p:cNvPr id="185" name="TextBox 185"/>
            <p:cNvSpPr txBox="1"/>
            <p:nvPr/>
          </p:nvSpPr>
          <p:spPr>
            <a:xfrm>
              <a:off x="974555" y="4580811"/>
              <a:ext cx="184491"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P0​</a:t>
              </a:r>
            </a:p>
          </p:txBody>
        </p:sp>
        <p:sp>
          <p:nvSpPr>
            <p:cNvPr id="186" name="TextBox 186"/>
            <p:cNvSpPr txBox="1"/>
            <p:nvPr/>
          </p:nvSpPr>
          <p:spPr>
            <a:xfrm>
              <a:off x="940880" y="4697730"/>
              <a:ext cx="251841" cy="119062"/>
            </a:xfrm>
            <a:prstGeom prst="rect">
              <a:avLst/>
            </a:prstGeom>
            <a:noFill/>
            <a:ln>
              <a:noFill/>
            </a:ln>
          </p:spPr>
          <p:txBody>
            <a:bodyPr wrap="none" lIns="0" tIns="0" rIns="0" bIns="0" anchor="t" anchorCtr="0">
              <a:spAutoFit/>
            </a:bodyPr>
            <a:lstStyle/>
            <a:p>
              <a:pPr algn="ctr"/>
              <a:r>
                <a:rPr lang="zh-CN" sz="600" dirty="0">
                  <a:solidFill>
                    <a:srgbClr val="D8E4F6"/>
                  </a:solidFill>
                  <a:latin typeface="+mn-lt"/>
                  <a:ea typeface="+mn-ea"/>
                  <a:cs typeface="+mn-cs"/>
                </a:rPr>
                <a:t>责任人</a:t>
              </a:r>
            </a:p>
          </p:txBody>
        </p:sp>
        <p:sp>
          <p:nvSpPr>
            <p:cNvPr id="187" name="Line 187"/>
            <p:cNvSpPr/>
            <p:nvPr/>
          </p:nvSpPr>
          <p:spPr>
            <a:xfrm>
              <a:off x="1943100" y="4514850"/>
              <a:ext cx="6762750" cy="9525"/>
            </a:xfrm>
            <a:custGeom>
              <a:avLst/>
              <a:gdLst/>
              <a:ahLst/>
              <a:cxnLst/>
              <a:rect l="l" t="t" r="r" b="b"/>
              <a:pathLst>
                <a:path w="6762750" h="9525">
                  <a:moveTo>
                    <a:pt x="0" y="0"/>
                  </a:moveTo>
                  <a:lnTo>
                    <a:pt x="6762750" y="0"/>
                  </a:lnTo>
                </a:path>
              </a:pathLst>
            </a:custGeom>
            <a:noFill/>
            <a:ln w="9525">
              <a:solidFill>
                <a:srgbClr val="DDE6F2"/>
              </a:solidFill>
            </a:ln>
          </p:spPr>
        </p:sp>
        <p:sp>
          <p:nvSpPr>
            <p:cNvPr id="188" name="TextBox 188"/>
            <p:cNvSpPr txBox="1"/>
            <p:nvPr/>
          </p:nvSpPr>
          <p:spPr>
            <a:xfrm>
              <a:off x="2102408" y="4638961"/>
              <a:ext cx="748185" cy="121920"/>
            </a:xfrm>
            <a:prstGeom prst="rect">
              <a:avLst/>
            </a:prstGeom>
            <a:noFill/>
            <a:ln>
              <a:noFill/>
            </a:ln>
          </p:spPr>
          <p:txBody>
            <a:bodyPr wrap="none" lIns="0" tIns="0" rIns="0" bIns="0" anchor="t" anchorCtr="0">
              <a:spAutoFit/>
            </a:bodyPr>
            <a:lstStyle/>
            <a:p>
              <a:pPr algn="ctr"/>
              <a:r>
                <a:rPr lang="zh-CN" sz="620" b="1" dirty="0">
                  <a:solidFill>
                    <a:srgbClr val="D0442C"/>
                  </a:solidFill>
                  <a:latin typeface="+mn-lt"/>
                  <a:ea typeface="+mn-ea"/>
                  <a:cs typeface="+mn-cs"/>
                </a:rPr>
                <a:t>数据管理部</a:t>
              </a:r>
              <a:r>
                <a:rPr lang="zh-CN" sz="620" dirty="0">
                  <a:solidFill>
                    <a:srgbClr val="5F3A33"/>
                  </a:solidFill>
                  <a:latin typeface="+mn-lt"/>
                  <a:ea typeface="+mn-ea"/>
                  <a:cs typeface="+mn-cs"/>
                </a:rPr>
                <a:t xml:space="preserve"> 负责人​</a:t>
              </a:r>
            </a:p>
          </p:txBody>
        </p:sp>
        <p:sp>
          <p:nvSpPr>
            <p:cNvPr id="189" name="TextBox 189"/>
            <p:cNvSpPr txBox="1"/>
            <p:nvPr/>
          </p:nvSpPr>
          <p:spPr>
            <a:xfrm>
              <a:off x="3207308" y="4638961"/>
              <a:ext cx="748185" cy="121920"/>
            </a:xfrm>
            <a:prstGeom prst="rect">
              <a:avLst/>
            </a:prstGeom>
            <a:noFill/>
            <a:ln>
              <a:noFill/>
            </a:ln>
          </p:spPr>
          <p:txBody>
            <a:bodyPr wrap="none" lIns="0" tIns="0" rIns="0" bIns="0" anchor="t" anchorCtr="0">
              <a:spAutoFit/>
            </a:bodyPr>
            <a:lstStyle/>
            <a:p>
              <a:pPr algn="ctr"/>
              <a:r>
                <a:rPr lang="zh-CN" sz="620" b="1" dirty="0">
                  <a:solidFill>
                    <a:srgbClr val="D0442C"/>
                  </a:solidFill>
                  <a:latin typeface="+mn-lt"/>
                  <a:ea typeface="+mn-ea"/>
                  <a:cs typeface="+mn-cs"/>
                </a:rPr>
                <a:t>信息科技部</a:t>
              </a:r>
              <a:r>
                <a:rPr lang="zh-CN" sz="620" dirty="0">
                  <a:solidFill>
                    <a:srgbClr val="5F3A33"/>
                  </a:solidFill>
                  <a:latin typeface="+mn-lt"/>
                  <a:ea typeface="+mn-ea"/>
                  <a:cs typeface="+mn-cs"/>
                </a:rPr>
                <a:t xml:space="preserve"> 负责人​</a:t>
              </a:r>
            </a:p>
          </p:txBody>
        </p:sp>
        <p:sp>
          <p:nvSpPr>
            <p:cNvPr id="190" name="TextBox 190"/>
            <p:cNvSpPr txBox="1"/>
            <p:nvPr/>
          </p:nvSpPr>
          <p:spPr>
            <a:xfrm>
              <a:off x="4324727" y="4638961"/>
              <a:ext cx="723146" cy="121920"/>
            </a:xfrm>
            <a:prstGeom prst="rect">
              <a:avLst/>
            </a:prstGeom>
            <a:noFill/>
            <a:ln>
              <a:noFill/>
            </a:ln>
          </p:spPr>
          <p:txBody>
            <a:bodyPr wrap="none" lIns="0" tIns="0" rIns="0" bIns="0" anchor="t" anchorCtr="0">
              <a:spAutoFit/>
            </a:bodyPr>
            <a:lstStyle/>
            <a:p>
              <a:pPr algn="ctr"/>
              <a:r>
                <a:rPr lang="zh-CN" sz="620" b="1" dirty="0">
                  <a:solidFill>
                    <a:srgbClr val="D0442C"/>
                  </a:solidFill>
                  <a:latin typeface="+mn-lt"/>
                  <a:ea typeface="+mn-ea"/>
                  <a:cs typeface="+mn-cs"/>
                </a:rPr>
                <a:t>公司业务部</a:t>
              </a:r>
              <a:r>
                <a:rPr lang="zh-CN" sz="620" dirty="0">
                  <a:solidFill>
                    <a:srgbClr val="5F3A33"/>
                  </a:solidFill>
                  <a:latin typeface="+mn-lt"/>
                  <a:ea typeface="+mn-ea"/>
                  <a:cs typeface="+mn-cs"/>
                </a:rPr>
                <a:t>总经理​</a:t>
              </a:r>
            </a:p>
          </p:txBody>
        </p:sp>
        <p:sp>
          <p:nvSpPr>
            <p:cNvPr id="191" name="TextBox 191"/>
            <p:cNvSpPr txBox="1"/>
            <p:nvPr/>
          </p:nvSpPr>
          <p:spPr>
            <a:xfrm>
              <a:off x="5417108" y="4638961"/>
              <a:ext cx="748185" cy="121920"/>
            </a:xfrm>
            <a:prstGeom prst="rect">
              <a:avLst/>
            </a:prstGeom>
            <a:noFill/>
            <a:ln>
              <a:noFill/>
            </a:ln>
          </p:spPr>
          <p:txBody>
            <a:bodyPr wrap="none" lIns="0" tIns="0" rIns="0" bIns="0" anchor="t" anchorCtr="0">
              <a:spAutoFit/>
            </a:bodyPr>
            <a:lstStyle/>
            <a:p>
              <a:pPr algn="ctr"/>
              <a:r>
                <a:rPr lang="zh-CN" sz="620" b="1" dirty="0">
                  <a:solidFill>
                    <a:srgbClr val="D0442C"/>
                  </a:solidFill>
                  <a:latin typeface="+mn-lt"/>
                  <a:ea typeface="+mn-ea"/>
                  <a:cs typeface="+mn-cs"/>
                </a:rPr>
                <a:t>人力资源部</a:t>
              </a:r>
              <a:r>
                <a:rPr lang="zh-CN" sz="620" dirty="0">
                  <a:solidFill>
                    <a:srgbClr val="5F3A33"/>
                  </a:solidFill>
                  <a:latin typeface="+mn-lt"/>
                  <a:ea typeface="+mn-ea"/>
                  <a:cs typeface="+mn-cs"/>
                </a:rPr>
                <a:t xml:space="preserve"> 负责人​</a:t>
              </a:r>
            </a:p>
          </p:txBody>
        </p:sp>
        <p:sp>
          <p:nvSpPr>
            <p:cNvPr id="192" name="TextBox 192"/>
            <p:cNvSpPr txBox="1"/>
            <p:nvPr/>
          </p:nvSpPr>
          <p:spPr>
            <a:xfrm>
              <a:off x="6522008" y="4638961"/>
              <a:ext cx="748185" cy="121920"/>
            </a:xfrm>
            <a:prstGeom prst="rect">
              <a:avLst/>
            </a:prstGeom>
            <a:noFill/>
            <a:ln>
              <a:noFill/>
            </a:ln>
          </p:spPr>
          <p:txBody>
            <a:bodyPr wrap="none" lIns="0" tIns="0" rIns="0" bIns="0" anchor="t" anchorCtr="0">
              <a:spAutoFit/>
            </a:bodyPr>
            <a:lstStyle/>
            <a:p>
              <a:pPr algn="ctr"/>
              <a:r>
                <a:rPr lang="zh-CN" sz="620" b="1" dirty="0">
                  <a:solidFill>
                    <a:srgbClr val="D0442C"/>
                  </a:solidFill>
                  <a:latin typeface="+mn-lt"/>
                  <a:ea typeface="+mn-ea"/>
                  <a:cs typeface="+mn-cs"/>
                </a:rPr>
                <a:t>计划财务部</a:t>
              </a:r>
              <a:r>
                <a:rPr lang="zh-CN" sz="620" dirty="0">
                  <a:solidFill>
                    <a:srgbClr val="5F3A33"/>
                  </a:solidFill>
                  <a:latin typeface="+mn-lt"/>
                  <a:ea typeface="+mn-ea"/>
                  <a:cs typeface="+mn-cs"/>
                </a:rPr>
                <a:t xml:space="preserve"> 负责人​</a:t>
              </a:r>
            </a:p>
          </p:txBody>
        </p:sp>
        <p:sp>
          <p:nvSpPr>
            <p:cNvPr id="193" name="TextBox 193"/>
            <p:cNvSpPr txBox="1"/>
            <p:nvPr/>
          </p:nvSpPr>
          <p:spPr>
            <a:xfrm>
              <a:off x="7639427" y="4638961"/>
              <a:ext cx="723146" cy="121920"/>
            </a:xfrm>
            <a:prstGeom prst="rect">
              <a:avLst/>
            </a:prstGeom>
            <a:noFill/>
            <a:ln>
              <a:noFill/>
            </a:ln>
          </p:spPr>
          <p:txBody>
            <a:bodyPr wrap="none" lIns="0" tIns="0" rIns="0" bIns="0" anchor="t" anchorCtr="0">
              <a:spAutoFit/>
            </a:bodyPr>
            <a:lstStyle/>
            <a:p>
              <a:pPr algn="ctr"/>
              <a:r>
                <a:rPr lang="zh-CN" sz="620" b="1" dirty="0">
                  <a:solidFill>
                    <a:srgbClr val="D0442C"/>
                  </a:solidFill>
                  <a:latin typeface="+mn-lt"/>
                  <a:ea typeface="+mn-ea"/>
                  <a:cs typeface="+mn-cs"/>
                </a:rPr>
                <a:t>公司业务部</a:t>
              </a:r>
              <a:r>
                <a:rPr lang="zh-CN" sz="620" dirty="0">
                  <a:solidFill>
                    <a:srgbClr val="5F3A33"/>
                  </a:solidFill>
                  <a:latin typeface="+mn-lt"/>
                  <a:ea typeface="+mn-ea"/>
                  <a:cs typeface="+mn-cs"/>
                </a:rPr>
                <a:t>总经理​</a:t>
              </a:r>
            </a:p>
          </p:txBody>
        </p:sp>
        <p:sp>
          <p:nvSpPr>
            <p:cNvPr id="194" name="Rectangle 194"/>
            <p:cNvSpPr/>
            <p:nvPr/>
          </p:nvSpPr>
          <p:spPr>
            <a:xfrm>
              <a:off x="228600" y="4876800"/>
              <a:ext cx="1676400" cy="304800"/>
            </a:xfrm>
            <a:prstGeom prst="rect">
              <a:avLst/>
            </a:prstGeom>
            <a:solidFill>
              <a:srgbClr val="9B3824"/>
            </a:solidFill>
            <a:ln>
              <a:noFill/>
            </a:ln>
          </p:spPr>
        </p:sp>
        <p:sp>
          <p:nvSpPr>
            <p:cNvPr id="195" name="TextBox 195"/>
            <p:cNvSpPr txBox="1"/>
            <p:nvPr/>
          </p:nvSpPr>
          <p:spPr>
            <a:xfrm>
              <a:off x="974555" y="4942761"/>
              <a:ext cx="184491"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P1​</a:t>
              </a:r>
            </a:p>
          </p:txBody>
        </p:sp>
        <p:sp>
          <p:nvSpPr>
            <p:cNvPr id="196" name="TextBox 196"/>
            <p:cNvSpPr txBox="1"/>
            <p:nvPr/>
          </p:nvSpPr>
          <p:spPr>
            <a:xfrm>
              <a:off x="940880" y="5059680"/>
              <a:ext cx="251841" cy="119062"/>
            </a:xfrm>
            <a:prstGeom prst="rect">
              <a:avLst/>
            </a:prstGeom>
            <a:noFill/>
            <a:ln>
              <a:noFill/>
            </a:ln>
          </p:spPr>
          <p:txBody>
            <a:bodyPr wrap="none" lIns="0" tIns="0" rIns="0" bIns="0" anchor="t" anchorCtr="0">
              <a:spAutoFit/>
            </a:bodyPr>
            <a:lstStyle/>
            <a:p>
              <a:pPr algn="ctr"/>
              <a:r>
                <a:rPr lang="zh-CN" sz="600" dirty="0">
                  <a:solidFill>
                    <a:srgbClr val="D8E4F6"/>
                  </a:solidFill>
                  <a:latin typeface="+mn-lt"/>
                  <a:ea typeface="+mn-ea"/>
                  <a:cs typeface="+mn-cs"/>
                </a:rPr>
                <a:t>责任人</a:t>
              </a:r>
            </a:p>
          </p:txBody>
        </p:sp>
        <p:sp>
          <p:nvSpPr>
            <p:cNvPr id="197" name="Line 197"/>
            <p:cNvSpPr/>
            <p:nvPr/>
          </p:nvSpPr>
          <p:spPr>
            <a:xfrm>
              <a:off x="1943100" y="4876800"/>
              <a:ext cx="6762750" cy="9525"/>
            </a:xfrm>
            <a:custGeom>
              <a:avLst/>
              <a:gdLst/>
              <a:ahLst/>
              <a:cxnLst/>
              <a:rect l="l" t="t" r="r" b="b"/>
              <a:pathLst>
                <a:path w="6762750" h="9525">
                  <a:moveTo>
                    <a:pt x="0" y="0"/>
                  </a:moveTo>
                  <a:lnTo>
                    <a:pt x="6762750" y="0"/>
                  </a:lnTo>
                </a:path>
              </a:pathLst>
            </a:custGeom>
            <a:noFill/>
            <a:ln w="9525">
              <a:solidFill>
                <a:srgbClr val="DDE6F2"/>
              </a:solidFill>
            </a:ln>
          </p:spPr>
        </p:sp>
        <p:sp>
          <p:nvSpPr>
            <p:cNvPr id="198" name="TextBox 198"/>
            <p:cNvSpPr txBox="1"/>
            <p:nvPr/>
          </p:nvSpPr>
          <p:spPr>
            <a:xfrm>
              <a:off x="2027492" y="5002530"/>
              <a:ext cx="898017" cy="119062"/>
            </a:xfrm>
            <a:prstGeom prst="rect">
              <a:avLst/>
            </a:prstGeom>
            <a:noFill/>
            <a:ln>
              <a:noFill/>
            </a:ln>
          </p:spPr>
          <p:txBody>
            <a:bodyPr wrap="none" lIns="0" tIns="0" rIns="0" bIns="0" anchor="t" anchorCtr="0">
              <a:spAutoFit/>
            </a:bodyPr>
            <a:lstStyle/>
            <a:p>
              <a:pPr algn="ctr"/>
              <a:r>
                <a:rPr lang="zh-CN" sz="600" dirty="0">
                  <a:solidFill>
                    <a:srgbClr val="5F3A33"/>
                  </a:solidFill>
                  <a:latin typeface="+mn-lt"/>
                  <a:ea typeface="+mn-ea"/>
                  <a:cs typeface="+mn-cs"/>
                </a:rPr>
                <a:t>各分行公司业务部负责人</a:t>
              </a:r>
            </a:p>
          </p:txBody>
        </p:sp>
        <p:sp>
          <p:nvSpPr>
            <p:cNvPr id="199" name="TextBox 199"/>
            <p:cNvSpPr txBox="1"/>
            <p:nvPr/>
          </p:nvSpPr>
          <p:spPr>
            <a:xfrm>
              <a:off x="3172778" y="5002530"/>
              <a:ext cx="817245" cy="119062"/>
            </a:xfrm>
            <a:prstGeom prst="rect">
              <a:avLst/>
            </a:prstGeom>
            <a:noFill/>
            <a:ln>
              <a:noFill/>
            </a:ln>
          </p:spPr>
          <p:txBody>
            <a:bodyPr wrap="none" lIns="0" tIns="0" rIns="0" bIns="0" anchor="t" anchorCtr="0">
              <a:spAutoFit/>
            </a:bodyPr>
            <a:lstStyle/>
            <a:p>
              <a:pPr algn="ctr"/>
              <a:r>
                <a:rPr lang="zh-CN" sz="600" dirty="0">
                  <a:solidFill>
                    <a:srgbClr val="5F3A33"/>
                  </a:solidFill>
                  <a:latin typeface="+mn-lt"/>
                  <a:ea typeface="+mn-ea"/>
                  <a:cs typeface="+mn-cs"/>
                </a:rPr>
                <a:t>各分行科技条线负责人</a:t>
              </a:r>
            </a:p>
          </p:txBody>
        </p:sp>
        <p:sp>
          <p:nvSpPr>
            <p:cNvPr id="200" name="TextBox 200"/>
            <p:cNvSpPr txBox="1"/>
            <p:nvPr/>
          </p:nvSpPr>
          <p:spPr>
            <a:xfrm>
              <a:off x="4318064" y="5002530"/>
              <a:ext cx="736473" cy="119062"/>
            </a:xfrm>
            <a:prstGeom prst="rect">
              <a:avLst/>
            </a:prstGeom>
            <a:noFill/>
            <a:ln>
              <a:noFill/>
            </a:ln>
          </p:spPr>
          <p:txBody>
            <a:bodyPr wrap="none" lIns="0" tIns="0" rIns="0" bIns="0" anchor="t" anchorCtr="0">
              <a:spAutoFit/>
            </a:bodyPr>
            <a:lstStyle/>
            <a:p>
              <a:pPr algn="ctr"/>
              <a:r>
                <a:rPr lang="zh-CN" sz="600" dirty="0">
                  <a:solidFill>
                    <a:srgbClr val="5F3A33"/>
                  </a:solidFill>
                  <a:latin typeface="+mn-lt"/>
                  <a:ea typeface="+mn-ea"/>
                  <a:cs typeface="+mn-cs"/>
                </a:rPr>
                <a:t>各分行营管部负责人</a:t>
              </a:r>
            </a:p>
          </p:txBody>
        </p:sp>
        <p:sp>
          <p:nvSpPr>
            <p:cNvPr id="201" name="TextBox 201"/>
            <p:cNvSpPr txBox="1"/>
            <p:nvPr/>
          </p:nvSpPr>
          <p:spPr>
            <a:xfrm>
              <a:off x="5382578" y="5002530"/>
              <a:ext cx="817245" cy="119062"/>
            </a:xfrm>
            <a:prstGeom prst="rect">
              <a:avLst/>
            </a:prstGeom>
            <a:noFill/>
            <a:ln>
              <a:noFill/>
            </a:ln>
          </p:spPr>
          <p:txBody>
            <a:bodyPr wrap="none" lIns="0" tIns="0" rIns="0" bIns="0" anchor="t" anchorCtr="0">
              <a:spAutoFit/>
            </a:bodyPr>
            <a:lstStyle/>
            <a:p>
              <a:pPr algn="ctr"/>
              <a:r>
                <a:rPr lang="zh-CN" sz="600" dirty="0">
                  <a:solidFill>
                    <a:srgbClr val="5F3A33"/>
                  </a:solidFill>
                  <a:latin typeface="+mn-lt"/>
                  <a:ea typeface="+mn-ea"/>
                  <a:cs typeface="+mn-cs"/>
                </a:rPr>
                <a:t>各分行人力条线负责人</a:t>
              </a:r>
            </a:p>
          </p:txBody>
        </p:sp>
        <p:sp>
          <p:nvSpPr>
            <p:cNvPr id="202" name="TextBox 202"/>
            <p:cNvSpPr txBox="1"/>
            <p:nvPr/>
          </p:nvSpPr>
          <p:spPr>
            <a:xfrm>
              <a:off x="6487478" y="5002530"/>
              <a:ext cx="817245" cy="119062"/>
            </a:xfrm>
            <a:prstGeom prst="rect">
              <a:avLst/>
            </a:prstGeom>
            <a:noFill/>
            <a:ln>
              <a:noFill/>
            </a:ln>
          </p:spPr>
          <p:txBody>
            <a:bodyPr wrap="none" lIns="0" tIns="0" rIns="0" bIns="0" anchor="t" anchorCtr="0">
              <a:spAutoFit/>
            </a:bodyPr>
            <a:lstStyle/>
            <a:p>
              <a:pPr algn="ctr"/>
              <a:r>
                <a:rPr lang="zh-CN" sz="600" dirty="0">
                  <a:solidFill>
                    <a:srgbClr val="5F3A33"/>
                  </a:solidFill>
                  <a:latin typeface="+mn-lt"/>
                  <a:ea typeface="+mn-ea"/>
                  <a:cs typeface="+mn-cs"/>
                </a:rPr>
                <a:t>各分行财务条线负责人</a:t>
              </a:r>
            </a:p>
          </p:txBody>
        </p:sp>
        <p:sp>
          <p:nvSpPr>
            <p:cNvPr id="203" name="TextBox 203"/>
            <p:cNvSpPr txBox="1"/>
            <p:nvPr/>
          </p:nvSpPr>
          <p:spPr>
            <a:xfrm>
              <a:off x="7551992" y="5002530"/>
              <a:ext cx="898017" cy="119062"/>
            </a:xfrm>
            <a:prstGeom prst="rect">
              <a:avLst/>
            </a:prstGeom>
            <a:noFill/>
            <a:ln>
              <a:noFill/>
            </a:ln>
          </p:spPr>
          <p:txBody>
            <a:bodyPr wrap="none" lIns="0" tIns="0" rIns="0" bIns="0" anchor="t" anchorCtr="0">
              <a:spAutoFit/>
            </a:bodyPr>
            <a:lstStyle/>
            <a:p>
              <a:pPr algn="ctr"/>
              <a:r>
                <a:rPr lang="zh-CN" sz="600" dirty="0">
                  <a:solidFill>
                    <a:srgbClr val="5F3A33"/>
                  </a:solidFill>
                  <a:latin typeface="+mn-lt"/>
                  <a:ea typeface="+mn-ea"/>
                  <a:cs typeface="+mn-cs"/>
                </a:rPr>
                <a:t>各分行公司业务部负责人</a:t>
              </a:r>
            </a:p>
          </p:txBody>
        </p:sp>
        <p:sp>
          <p:nvSpPr>
            <p:cNvPr id="204" name="Line 204"/>
            <p:cNvSpPr/>
            <p:nvPr/>
          </p:nvSpPr>
          <p:spPr>
            <a:xfrm>
              <a:off x="1943100" y="5238750"/>
              <a:ext cx="6762750" cy="9525"/>
            </a:xfrm>
            <a:custGeom>
              <a:avLst/>
              <a:gdLst/>
              <a:ahLst/>
              <a:cxnLst/>
              <a:rect l="l" t="t" r="r" b="b"/>
              <a:pathLst>
                <a:path w="6762750" h="9525">
                  <a:moveTo>
                    <a:pt x="0" y="0"/>
                  </a:moveTo>
                  <a:lnTo>
                    <a:pt x="6762750" y="0"/>
                  </a:lnTo>
                </a:path>
              </a:pathLst>
            </a:custGeom>
            <a:noFill/>
            <a:ln w="9525">
              <a:solidFill>
                <a:srgbClr val="DDE6F2"/>
              </a:solidFill>
            </a:ln>
          </p:spPr>
        </p:sp>
        <p:sp>
          <p:nvSpPr>
            <p:cNvPr id="205" name="TextBox 205"/>
            <p:cNvSpPr txBox="1"/>
            <p:nvPr/>
          </p:nvSpPr>
          <p:spPr>
            <a:xfrm>
              <a:off x="338138" y="5455682"/>
              <a:ext cx="3186516"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注：路线图任务与责任分工为示例内容；P0为牵头责任人，P1为分行配合责任人。​</a:t>
              </a:r>
            </a:p>
          </p:txBody>
        </p:sp>
      </p:grpSp>
      <p:grpSp>
        <p:nvGrpSpPr>
          <p:cNvPr id="219" name="risk-tips"/>
          <p:cNvGrpSpPr/>
          <p:nvPr/>
        </p:nvGrpSpPr>
        <p:grpSpPr>
          <a:xfrm>
            <a:off x="8820150" y="3467100"/>
            <a:ext cx="3143250" cy="1085850"/>
            <a:chOff x="8820150" y="3467100"/>
            <a:chExt cx="3143250" cy="1085850"/>
          </a:xfrm>
        </p:grpSpPr>
        <p:sp>
          <p:nvSpPr>
            <p:cNvPr id="207" name="Rectangle 207"/>
            <p:cNvSpPr/>
            <p:nvPr/>
          </p:nvSpPr>
          <p:spPr>
            <a:xfrm>
              <a:off x="8820150" y="3467100"/>
              <a:ext cx="3143250" cy="1085850"/>
            </a:xfrm>
            <a:prstGeom prst="roundRect">
              <a:avLst>
                <a:gd name="adj" fmla="val 5263"/>
              </a:avLst>
            </a:prstGeom>
            <a:solidFill>
              <a:srgbClr val="FFF7F6"/>
            </a:solidFill>
            <a:ln w="11430">
              <a:solidFill>
                <a:srgbClr val="D0442C"/>
              </a:solidFill>
            </a:ln>
          </p:spPr>
        </p:sp>
        <p:grpSp>
          <p:nvGrpSpPr>
            <p:cNvPr id="211" name="Group 211"/>
            <p:cNvGrpSpPr/>
            <p:nvPr/>
          </p:nvGrpSpPr>
          <p:grpSpPr>
            <a:xfrm>
              <a:off x="8946610" y="3579290"/>
              <a:ext cx="128076" cy="110034"/>
              <a:chOff x="8946610" y="3579290"/>
              <a:chExt cx="128076" cy="110034"/>
            </a:xfrm>
          </p:grpSpPr>
          <p:sp>
            <p:nvSpPr>
              <p:cNvPr id="208" name="Freeform 208"/>
              <p:cNvSpPr/>
              <p:nvPr/>
            </p:nvSpPr>
            <p:spPr>
              <a:xfrm>
                <a:off x="9010650" y="3619500"/>
                <a:ext cx="9525" cy="25400"/>
              </a:xfrm>
              <a:custGeom>
                <a:avLst/>
                <a:gdLst/>
                <a:ahLst/>
                <a:cxnLst/>
                <a:rect l="l" t="t" r="r" b="b"/>
                <a:pathLst>
                  <a:path w="9525" h="25400">
                    <a:moveTo>
                      <a:pt x="0" y="0"/>
                    </a:moveTo>
                    <a:lnTo>
                      <a:pt x="0" y="25400"/>
                    </a:lnTo>
                  </a:path>
                </a:pathLst>
              </a:custGeom>
              <a:noFill/>
              <a:ln w="12700">
                <a:solidFill>
                  <a:srgbClr val="D0442C"/>
                </a:solidFill>
              </a:ln>
            </p:spPr>
          </p:sp>
          <p:sp>
            <p:nvSpPr>
              <p:cNvPr id="209" name="Freeform 209"/>
              <p:cNvSpPr/>
              <p:nvPr/>
            </p:nvSpPr>
            <p:spPr>
              <a:xfrm>
                <a:off x="8946610" y="357929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D0442C"/>
                </a:solidFill>
              </a:ln>
            </p:spPr>
          </p:sp>
          <p:sp>
            <p:nvSpPr>
              <p:cNvPr id="210" name="Freeform 210"/>
              <p:cNvSpPr/>
              <p:nvPr/>
            </p:nvSpPr>
            <p:spPr>
              <a:xfrm>
                <a:off x="9010650" y="3663950"/>
                <a:ext cx="9525" cy="9525"/>
              </a:xfrm>
              <a:custGeom>
                <a:avLst/>
                <a:gdLst/>
                <a:ahLst/>
                <a:cxnLst/>
                <a:rect l="l" t="t" r="r" b="b"/>
                <a:pathLst>
                  <a:path w="9525" h="9525">
                    <a:moveTo>
                      <a:pt x="0" y="0"/>
                    </a:moveTo>
                    <a:lnTo>
                      <a:pt x="64" y="0"/>
                    </a:lnTo>
                  </a:path>
                </a:pathLst>
              </a:custGeom>
              <a:noFill/>
              <a:ln w="12700">
                <a:solidFill>
                  <a:srgbClr val="D0442C"/>
                </a:solidFill>
              </a:ln>
            </p:spPr>
          </p:sp>
        </p:grpSp>
        <p:sp>
          <p:nvSpPr>
            <p:cNvPr id="212" name="TextBox 212"/>
            <p:cNvSpPr txBox="1"/>
            <p:nvPr/>
          </p:nvSpPr>
          <p:spPr>
            <a:xfrm>
              <a:off x="9139238" y="3601164"/>
              <a:ext cx="966673" cy="154781"/>
            </a:xfrm>
            <a:prstGeom prst="rect">
              <a:avLst/>
            </a:prstGeom>
            <a:noFill/>
            <a:ln>
              <a:noFill/>
            </a:ln>
          </p:spPr>
          <p:txBody>
            <a:bodyPr wrap="none" lIns="0" tIns="0" rIns="0" bIns="0" anchor="t" anchorCtr="0">
              <a:spAutoFit/>
            </a:bodyPr>
            <a:lstStyle/>
            <a:p>
              <a:pPr algn="l"/>
              <a:r>
                <a:rPr lang="zh-CN" sz="790" b="1" dirty="0">
                  <a:solidFill>
                    <a:srgbClr val="D0442C"/>
                  </a:solidFill>
                  <a:latin typeface="+mn-lt"/>
                  <a:ea typeface="+mn-ea"/>
                  <a:cs typeface="+mn-cs"/>
                </a:rPr>
                <a:t>重点关注与风险提示</a:t>
              </a:r>
            </a:p>
          </p:txBody>
        </p:sp>
        <p:sp>
          <p:nvSpPr>
            <p:cNvPr id="213" name="Ellipse 213"/>
            <p:cNvSpPr/>
            <p:nvPr/>
          </p:nvSpPr>
          <p:spPr>
            <a:xfrm>
              <a:off x="8974455" y="3850005"/>
              <a:ext cx="34290" cy="34290"/>
            </a:xfrm>
            <a:prstGeom prst="ellipse">
              <a:avLst/>
            </a:prstGeom>
            <a:solidFill>
              <a:srgbClr val="D0442C"/>
            </a:solidFill>
            <a:ln>
              <a:noFill/>
            </a:ln>
          </p:spPr>
        </p:sp>
        <p:sp>
          <p:nvSpPr>
            <p:cNvPr id="214" name="TextBox 214"/>
            <p:cNvSpPr txBox="1"/>
            <p:nvPr/>
          </p:nvSpPr>
          <p:spPr>
            <a:xfrm>
              <a:off x="9063038" y="3836432"/>
              <a:ext cx="1474191"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数据质量若未达标，倒排机制补齐滞后</a:t>
              </a:r>
            </a:p>
          </p:txBody>
        </p:sp>
        <p:sp>
          <p:nvSpPr>
            <p:cNvPr id="215" name="Ellipse 215"/>
            <p:cNvSpPr/>
            <p:nvPr/>
          </p:nvSpPr>
          <p:spPr>
            <a:xfrm>
              <a:off x="8974455" y="4059555"/>
              <a:ext cx="34290" cy="34290"/>
            </a:xfrm>
            <a:prstGeom prst="ellipse">
              <a:avLst/>
            </a:prstGeom>
            <a:solidFill>
              <a:srgbClr val="D0442C"/>
            </a:solidFill>
            <a:ln>
              <a:noFill/>
            </a:ln>
          </p:spPr>
        </p:sp>
        <p:sp>
          <p:nvSpPr>
            <p:cNvPr id="216" name="TextBox 216"/>
            <p:cNvSpPr txBox="1"/>
            <p:nvPr/>
          </p:nvSpPr>
          <p:spPr>
            <a:xfrm>
              <a:off x="9063038" y="4045982"/>
              <a:ext cx="1560347"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工具使用率低，导致线上化目标难以达成</a:t>
              </a:r>
            </a:p>
          </p:txBody>
        </p:sp>
        <p:sp>
          <p:nvSpPr>
            <p:cNvPr id="217" name="Ellipse 217"/>
            <p:cNvSpPr/>
            <p:nvPr/>
          </p:nvSpPr>
          <p:spPr>
            <a:xfrm>
              <a:off x="8974455" y="4269105"/>
              <a:ext cx="34290" cy="34290"/>
            </a:xfrm>
            <a:prstGeom prst="ellipse">
              <a:avLst/>
            </a:prstGeom>
            <a:solidFill>
              <a:srgbClr val="D0442C"/>
            </a:solidFill>
            <a:ln>
              <a:noFill/>
            </a:ln>
          </p:spPr>
        </p:sp>
        <p:sp>
          <p:nvSpPr>
            <p:cNvPr id="218" name="TextBox 218"/>
            <p:cNvSpPr txBox="1"/>
            <p:nvPr/>
          </p:nvSpPr>
          <p:spPr>
            <a:xfrm>
              <a:off x="9063038" y="4255532"/>
              <a:ext cx="1732661" cy="126206"/>
            </a:xfrm>
            <a:prstGeom prst="rect">
              <a:avLst/>
            </a:prstGeom>
            <a:noFill/>
            <a:ln>
              <a:noFill/>
            </a:ln>
          </p:spPr>
          <p:txBody>
            <a:bodyPr wrap="none" lIns="0" tIns="0" rIns="0" bIns="0" anchor="t" anchorCtr="0">
              <a:spAutoFit/>
            </a:bodyPr>
            <a:lstStyle/>
            <a:p>
              <a:pPr algn="l"/>
              <a:r>
                <a:rPr lang="zh-CN" sz="640" dirty="0">
                  <a:solidFill>
                    <a:srgbClr val="70504A"/>
                  </a:solidFill>
                  <a:latin typeface="+mn-lt"/>
                  <a:ea typeface="+mn-ea"/>
                  <a:cs typeface="+mn-cs"/>
                </a:rPr>
                <a:t>人才断层与激励不足，制约基层经营能力提升</a:t>
              </a:r>
            </a:p>
          </p:txBody>
        </p:sp>
      </p:grpSp>
      <p:grpSp>
        <p:nvGrpSpPr>
          <p:cNvPr id="238" name="success-factors"/>
          <p:cNvGrpSpPr/>
          <p:nvPr/>
        </p:nvGrpSpPr>
        <p:grpSpPr>
          <a:xfrm>
            <a:off x="8820150" y="4629150"/>
            <a:ext cx="3143250" cy="1085850"/>
            <a:chOff x="8820150" y="4629150"/>
            <a:chExt cx="3143250" cy="1085850"/>
          </a:xfrm>
        </p:grpSpPr>
        <p:sp>
          <p:nvSpPr>
            <p:cNvPr id="220" name="Rectangle 220"/>
            <p:cNvSpPr/>
            <p:nvPr/>
          </p:nvSpPr>
          <p:spPr>
            <a:xfrm>
              <a:off x="8820150" y="4629150"/>
              <a:ext cx="3143250" cy="1085850"/>
            </a:xfrm>
            <a:prstGeom prst="roundRect">
              <a:avLst>
                <a:gd name="adj" fmla="val 5263"/>
              </a:avLst>
            </a:prstGeom>
            <a:solidFill>
              <a:srgbClr val="FFFFFF"/>
            </a:solidFill>
            <a:ln w="9525">
              <a:solidFill>
                <a:srgbClr val="C9D6E9"/>
              </a:solidFill>
            </a:ln>
          </p:spPr>
        </p:sp>
        <p:sp>
          <p:nvSpPr>
            <p:cNvPr id="221" name="TextBox 221"/>
            <p:cNvSpPr txBox="1"/>
            <p:nvPr/>
          </p:nvSpPr>
          <p:spPr>
            <a:xfrm>
              <a:off x="10067963" y="4753689"/>
              <a:ext cx="647624" cy="154781"/>
            </a:xfrm>
            <a:prstGeom prst="rect">
              <a:avLst/>
            </a:prstGeom>
            <a:noFill/>
            <a:ln>
              <a:noFill/>
            </a:ln>
          </p:spPr>
          <p:txBody>
            <a:bodyPr wrap="none" lIns="0" tIns="0" rIns="0" bIns="0" anchor="t" anchorCtr="0">
              <a:spAutoFit/>
            </a:bodyPr>
            <a:lstStyle/>
            <a:p>
              <a:pPr algn="ctr"/>
              <a:r>
                <a:rPr lang="zh-CN" sz="790" b="1" dirty="0">
                  <a:solidFill>
                    <a:srgbClr val="69281B"/>
                  </a:solidFill>
                  <a:latin typeface="+mn-lt"/>
                  <a:ea typeface="+mn-ea"/>
                  <a:cs typeface="+mn-cs"/>
                </a:rPr>
                <a:t>关键成功要素</a:t>
              </a:r>
            </a:p>
          </p:txBody>
        </p:sp>
        <p:grpSp>
          <p:nvGrpSpPr>
            <p:cNvPr id="224" name="Group 224"/>
            <p:cNvGrpSpPr/>
            <p:nvPr/>
          </p:nvGrpSpPr>
          <p:grpSpPr>
            <a:xfrm>
              <a:off x="8970169" y="4988719"/>
              <a:ext cx="100012" cy="100012"/>
              <a:chOff x="8970169" y="4988719"/>
              <a:chExt cx="100012" cy="100012"/>
            </a:xfrm>
          </p:grpSpPr>
          <p:sp>
            <p:nvSpPr>
              <p:cNvPr id="222" name="Freeform 222"/>
              <p:cNvSpPr/>
              <p:nvPr/>
            </p:nvSpPr>
            <p:spPr>
              <a:xfrm>
                <a:off x="8970169" y="49887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E04C2E"/>
                </a:solidFill>
              </a:ln>
            </p:spPr>
          </p:sp>
          <p:sp>
            <p:nvSpPr>
              <p:cNvPr id="223" name="Freeform 223"/>
              <p:cNvSpPr/>
              <p:nvPr/>
            </p:nvSpPr>
            <p:spPr>
              <a:xfrm>
                <a:off x="9003506" y="5027612"/>
                <a:ext cx="33337" cy="22225"/>
              </a:xfrm>
              <a:custGeom>
                <a:avLst/>
                <a:gdLst/>
                <a:ahLst/>
                <a:cxnLst/>
                <a:rect l="l" t="t" r="r" b="b"/>
                <a:pathLst>
                  <a:path w="33337" h="22225">
                    <a:moveTo>
                      <a:pt x="0" y="11112"/>
                    </a:moveTo>
                    <a:lnTo>
                      <a:pt x="11112" y="22225"/>
                    </a:lnTo>
                    <a:lnTo>
                      <a:pt x="33337" y="0"/>
                    </a:lnTo>
                  </a:path>
                </a:pathLst>
              </a:custGeom>
              <a:noFill/>
              <a:ln w="11112">
                <a:solidFill>
                  <a:srgbClr val="E04C2E"/>
                </a:solidFill>
              </a:ln>
            </p:spPr>
          </p:sp>
        </p:grpSp>
        <p:sp>
          <p:nvSpPr>
            <p:cNvPr id="225" name="TextBox 225"/>
            <p:cNvSpPr txBox="1"/>
            <p:nvPr/>
          </p:nvSpPr>
          <p:spPr>
            <a:xfrm>
              <a:off x="9139238" y="5003959"/>
              <a:ext cx="650316"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高层重视与推动</a:t>
              </a:r>
            </a:p>
          </p:txBody>
        </p:sp>
        <p:grpSp>
          <p:nvGrpSpPr>
            <p:cNvPr id="228" name="Group 228"/>
            <p:cNvGrpSpPr/>
            <p:nvPr/>
          </p:nvGrpSpPr>
          <p:grpSpPr>
            <a:xfrm>
              <a:off x="10437019" y="4988719"/>
              <a:ext cx="100012" cy="100012"/>
              <a:chOff x="10437019" y="4988719"/>
              <a:chExt cx="100012" cy="100012"/>
            </a:xfrm>
          </p:grpSpPr>
          <p:sp>
            <p:nvSpPr>
              <p:cNvPr id="226" name="Freeform 226"/>
              <p:cNvSpPr/>
              <p:nvPr/>
            </p:nvSpPr>
            <p:spPr>
              <a:xfrm>
                <a:off x="10437019" y="49887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E04C2E"/>
                </a:solidFill>
              </a:ln>
            </p:spPr>
          </p:sp>
          <p:sp>
            <p:nvSpPr>
              <p:cNvPr id="227" name="Freeform 227"/>
              <p:cNvSpPr/>
              <p:nvPr/>
            </p:nvSpPr>
            <p:spPr>
              <a:xfrm>
                <a:off x="10470356" y="5027612"/>
                <a:ext cx="33337" cy="22225"/>
              </a:xfrm>
              <a:custGeom>
                <a:avLst/>
                <a:gdLst/>
                <a:ahLst/>
                <a:cxnLst/>
                <a:rect l="l" t="t" r="r" b="b"/>
                <a:pathLst>
                  <a:path w="33337" h="22225">
                    <a:moveTo>
                      <a:pt x="0" y="11112"/>
                    </a:moveTo>
                    <a:lnTo>
                      <a:pt x="11112" y="22225"/>
                    </a:lnTo>
                    <a:lnTo>
                      <a:pt x="33337" y="0"/>
                    </a:lnTo>
                  </a:path>
                </a:pathLst>
              </a:custGeom>
              <a:noFill/>
              <a:ln w="11112">
                <a:solidFill>
                  <a:srgbClr val="E04C2E"/>
                </a:solidFill>
              </a:ln>
            </p:spPr>
          </p:sp>
        </p:grpSp>
        <p:sp>
          <p:nvSpPr>
            <p:cNvPr id="229" name="TextBox 229"/>
            <p:cNvSpPr txBox="1"/>
            <p:nvPr/>
          </p:nvSpPr>
          <p:spPr>
            <a:xfrm>
              <a:off x="10606088" y="5003959"/>
              <a:ext cx="558775"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工具好用会用</a:t>
              </a:r>
            </a:p>
          </p:txBody>
        </p:sp>
        <p:grpSp>
          <p:nvGrpSpPr>
            <p:cNvPr id="232" name="Group 232"/>
            <p:cNvGrpSpPr/>
            <p:nvPr/>
          </p:nvGrpSpPr>
          <p:grpSpPr>
            <a:xfrm>
              <a:off x="8970169" y="5312569"/>
              <a:ext cx="100012" cy="100012"/>
              <a:chOff x="8970169" y="5312569"/>
              <a:chExt cx="100012" cy="100012"/>
            </a:xfrm>
          </p:grpSpPr>
          <p:sp>
            <p:nvSpPr>
              <p:cNvPr id="230" name="Freeform 230"/>
              <p:cNvSpPr/>
              <p:nvPr/>
            </p:nvSpPr>
            <p:spPr>
              <a:xfrm>
                <a:off x="8970169" y="53125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E04C2E"/>
                </a:solidFill>
              </a:ln>
            </p:spPr>
          </p:sp>
          <p:sp>
            <p:nvSpPr>
              <p:cNvPr id="231" name="Freeform 231"/>
              <p:cNvSpPr/>
              <p:nvPr/>
            </p:nvSpPr>
            <p:spPr>
              <a:xfrm>
                <a:off x="9003506" y="5351462"/>
                <a:ext cx="33337" cy="22225"/>
              </a:xfrm>
              <a:custGeom>
                <a:avLst/>
                <a:gdLst/>
                <a:ahLst/>
                <a:cxnLst/>
                <a:rect l="l" t="t" r="r" b="b"/>
                <a:pathLst>
                  <a:path w="33337" h="22225">
                    <a:moveTo>
                      <a:pt x="0" y="11112"/>
                    </a:moveTo>
                    <a:lnTo>
                      <a:pt x="11112" y="22225"/>
                    </a:lnTo>
                    <a:lnTo>
                      <a:pt x="33337" y="0"/>
                    </a:lnTo>
                  </a:path>
                </a:pathLst>
              </a:custGeom>
              <a:noFill/>
              <a:ln w="11112">
                <a:solidFill>
                  <a:srgbClr val="E04C2E"/>
                </a:solidFill>
              </a:ln>
            </p:spPr>
          </p:sp>
        </p:grpSp>
        <p:sp>
          <p:nvSpPr>
            <p:cNvPr id="233" name="TextBox 233"/>
            <p:cNvSpPr txBox="1"/>
            <p:nvPr/>
          </p:nvSpPr>
          <p:spPr>
            <a:xfrm>
              <a:off x="9139238" y="5327809"/>
              <a:ext cx="792206"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网点分层·精准辅导</a:t>
              </a:r>
            </a:p>
          </p:txBody>
        </p:sp>
        <p:grpSp>
          <p:nvGrpSpPr>
            <p:cNvPr id="236" name="Group 236"/>
            <p:cNvGrpSpPr/>
            <p:nvPr/>
          </p:nvGrpSpPr>
          <p:grpSpPr>
            <a:xfrm>
              <a:off x="10437019" y="5312569"/>
              <a:ext cx="100012" cy="100012"/>
              <a:chOff x="10437019" y="5312569"/>
              <a:chExt cx="100012" cy="100012"/>
            </a:xfrm>
          </p:grpSpPr>
          <p:sp>
            <p:nvSpPr>
              <p:cNvPr id="234" name="Freeform 234"/>
              <p:cNvSpPr/>
              <p:nvPr/>
            </p:nvSpPr>
            <p:spPr>
              <a:xfrm>
                <a:off x="10437019" y="53125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E04C2E"/>
                </a:solidFill>
              </a:ln>
            </p:spPr>
          </p:sp>
          <p:sp>
            <p:nvSpPr>
              <p:cNvPr id="235" name="Freeform 235"/>
              <p:cNvSpPr/>
              <p:nvPr/>
            </p:nvSpPr>
            <p:spPr>
              <a:xfrm>
                <a:off x="10470356" y="5351462"/>
                <a:ext cx="33337" cy="22225"/>
              </a:xfrm>
              <a:custGeom>
                <a:avLst/>
                <a:gdLst/>
                <a:ahLst/>
                <a:cxnLst/>
                <a:rect l="l" t="t" r="r" b="b"/>
                <a:pathLst>
                  <a:path w="33337" h="22225">
                    <a:moveTo>
                      <a:pt x="0" y="11112"/>
                    </a:moveTo>
                    <a:lnTo>
                      <a:pt x="11112" y="22225"/>
                    </a:lnTo>
                    <a:lnTo>
                      <a:pt x="33337" y="0"/>
                    </a:lnTo>
                  </a:path>
                </a:pathLst>
              </a:custGeom>
              <a:noFill/>
              <a:ln w="11112">
                <a:solidFill>
                  <a:srgbClr val="E04C2E"/>
                </a:solidFill>
              </a:ln>
            </p:spPr>
          </p:sp>
        </p:grpSp>
        <p:sp>
          <p:nvSpPr>
            <p:cNvPr id="237" name="TextBox 237"/>
            <p:cNvSpPr txBox="1"/>
            <p:nvPr/>
          </p:nvSpPr>
          <p:spPr>
            <a:xfrm>
              <a:off x="10606088" y="5327809"/>
              <a:ext cx="792206" cy="133350"/>
            </a:xfrm>
            <a:prstGeom prst="rect">
              <a:avLst/>
            </a:prstGeom>
            <a:noFill/>
            <a:ln>
              <a:noFill/>
            </a:ln>
          </p:spPr>
          <p:txBody>
            <a:bodyPr wrap="none" lIns="0" tIns="0" rIns="0" bIns="0" anchor="t" anchorCtr="0">
              <a:spAutoFit/>
            </a:bodyPr>
            <a:lstStyle/>
            <a:p>
              <a:pPr algn="l"/>
              <a:r>
                <a:rPr lang="zh-CN" sz="680" dirty="0">
                  <a:solidFill>
                    <a:srgbClr val="5F3A33"/>
                  </a:solidFill>
                  <a:latin typeface="+mn-lt"/>
                  <a:ea typeface="+mn-ea"/>
                  <a:cs typeface="+mn-cs"/>
                </a:rPr>
                <a:t>绩效联动·持续激励</a:t>
              </a:r>
            </a:p>
          </p:txBody>
        </p:sp>
      </p:grpSp>
      <p:grpSp>
        <p:nvGrpSpPr>
          <p:cNvPr id="245" name="banner"/>
          <p:cNvGrpSpPr/>
          <p:nvPr/>
        </p:nvGrpSpPr>
        <p:grpSpPr>
          <a:xfrm>
            <a:off x="228600" y="5810250"/>
            <a:ext cx="11734800" cy="457200"/>
            <a:chOff x="228600" y="5810250"/>
            <a:chExt cx="11734800" cy="457200"/>
          </a:xfrm>
        </p:grpSpPr>
        <p:sp>
          <p:nvSpPr>
            <p:cNvPr id="239" name="Rectangle 239"/>
            <p:cNvSpPr/>
            <p:nvPr/>
          </p:nvSpPr>
          <p:spPr>
            <a:xfrm>
              <a:off x="228600" y="5810250"/>
              <a:ext cx="11734800" cy="457200"/>
            </a:xfrm>
            <a:prstGeom prst="roundRect">
              <a:avLst>
                <a:gd name="adj" fmla="val 12500"/>
              </a:avLst>
            </a:prstGeom>
            <a:solidFill>
              <a:srgbClr val="69281B"/>
            </a:solidFill>
            <a:ln>
              <a:noFill/>
            </a:ln>
          </p:spPr>
        </p:sp>
        <p:grpSp>
          <p:nvGrpSpPr>
            <p:cNvPr id="243" name="Group 243"/>
            <p:cNvGrpSpPr/>
            <p:nvPr/>
          </p:nvGrpSpPr>
          <p:grpSpPr>
            <a:xfrm>
              <a:off x="410704" y="5960269"/>
              <a:ext cx="150125" cy="156202"/>
              <a:chOff x="410704" y="5960269"/>
              <a:chExt cx="150125" cy="156202"/>
            </a:xfrm>
          </p:grpSpPr>
          <p:sp>
            <p:nvSpPr>
              <p:cNvPr id="240" name="Freeform 240"/>
              <p:cNvSpPr/>
              <p:nvPr/>
            </p:nvSpPr>
            <p:spPr>
              <a:xfrm>
                <a:off x="433388" y="5960269"/>
                <a:ext cx="104775" cy="104775"/>
              </a:xfrm>
              <a:custGeom>
                <a:avLst/>
                <a:gdLst/>
                <a:ahLst/>
                <a:cxnLst/>
                <a:rect l="l" t="t" r="r" b="b"/>
                <a:pathLst>
                  <a:path w="104775" h="104775">
                    <a:moveTo>
                      <a:pt x="0" y="52388"/>
                    </a:moveTo>
                    <a:cubicBezTo>
                      <a:pt x="0" y="81320"/>
                      <a:pt x="23455" y="104775"/>
                      <a:pt x="52388" y="104775"/>
                    </a:cubicBezTo>
                    <a:cubicBezTo>
                      <a:pt x="81320" y="104775"/>
                      <a:pt x="104775" y="81320"/>
                      <a:pt x="104775" y="52388"/>
                    </a:cubicBezTo>
                    <a:cubicBezTo>
                      <a:pt x="104775" y="23455"/>
                      <a:pt x="81320" y="0"/>
                      <a:pt x="52388" y="0"/>
                    </a:cubicBezTo>
                    <a:cubicBezTo>
                      <a:pt x="23455" y="0"/>
                      <a:pt x="0" y="23455"/>
                      <a:pt x="0" y="52388"/>
                    </a:cubicBezTo>
                  </a:path>
                </a:pathLst>
              </a:custGeom>
              <a:noFill/>
              <a:ln w="17463">
                <a:solidFill>
                  <a:srgbClr val="F25337"/>
                </a:solidFill>
              </a:ln>
            </p:spPr>
          </p:sp>
          <p:sp>
            <p:nvSpPr>
              <p:cNvPr id="241" name="Freeform 241"/>
              <p:cNvSpPr/>
              <p:nvPr/>
            </p:nvSpPr>
            <p:spPr>
              <a:xfrm>
                <a:off x="485775" y="6038850"/>
                <a:ext cx="75054" cy="77621"/>
              </a:xfrm>
              <a:custGeom>
                <a:avLst/>
                <a:gdLst/>
                <a:ahLst/>
                <a:cxnLst/>
                <a:rect l="l" t="t" r="r" b="b"/>
                <a:pathLst>
                  <a:path w="75054" h="77621">
                    <a:moveTo>
                      <a:pt x="0" y="26194"/>
                    </a:moveTo>
                    <a:lnTo>
                      <a:pt x="29686" y="77621"/>
                    </a:lnTo>
                    <a:lnTo>
                      <a:pt x="43639" y="49393"/>
                    </a:lnTo>
                    <a:lnTo>
                      <a:pt x="75054" y="51418"/>
                    </a:lnTo>
                    <a:lnTo>
                      <a:pt x="45368" y="0"/>
                    </a:lnTo>
                  </a:path>
                </a:pathLst>
              </a:custGeom>
              <a:noFill/>
              <a:ln w="17463">
                <a:solidFill>
                  <a:srgbClr val="F25337"/>
                </a:solidFill>
              </a:ln>
            </p:spPr>
          </p:sp>
          <p:sp>
            <p:nvSpPr>
              <p:cNvPr id="242" name="Freeform 242"/>
              <p:cNvSpPr/>
              <p:nvPr/>
            </p:nvSpPr>
            <p:spPr>
              <a:xfrm>
                <a:off x="410704" y="6038850"/>
                <a:ext cx="75054" cy="77612"/>
              </a:xfrm>
              <a:custGeom>
                <a:avLst/>
                <a:gdLst/>
                <a:ahLst/>
                <a:cxnLst/>
                <a:rect l="l" t="t" r="r" b="b"/>
                <a:pathLst>
                  <a:path w="75054" h="77612">
                    <a:moveTo>
                      <a:pt x="29686" y="0"/>
                    </a:moveTo>
                    <a:lnTo>
                      <a:pt x="0" y="51427"/>
                    </a:lnTo>
                    <a:lnTo>
                      <a:pt x="31415" y="49393"/>
                    </a:lnTo>
                    <a:lnTo>
                      <a:pt x="45368" y="77612"/>
                    </a:lnTo>
                    <a:lnTo>
                      <a:pt x="75054" y="26194"/>
                    </a:lnTo>
                  </a:path>
                </a:pathLst>
              </a:custGeom>
              <a:noFill/>
              <a:ln w="17463">
                <a:solidFill>
                  <a:srgbClr val="F25337"/>
                </a:solidFill>
              </a:ln>
            </p:spPr>
          </p:sp>
        </p:grpSp>
        <p:sp>
          <p:nvSpPr>
            <p:cNvPr id="244" name="TextBox 244"/>
            <p:cNvSpPr txBox="1"/>
            <p:nvPr/>
          </p:nvSpPr>
          <p:spPr>
            <a:xfrm>
              <a:off x="681038" y="6001464"/>
              <a:ext cx="8356419"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全年协同目标：企业网银活跃率≥85%​ ｜ 线上结算占比≥80%​ ｜ 线上融资申请≥2,600笔 ｜ CRM关键字段完整率≥85%​ ｜ 对公客户增量≥2,500户 ｜ 核心产品增量≥3,500户​</a:t>
              </a:r>
            </a:p>
          </p:txBody>
        </p:sp>
      </p:grpSp>
      <p:sp>
        <p:nvSpPr>
          <p:cNvPr id="246"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17 / 18 页​</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header"/>
          <p:cNvGrpSpPr/>
          <p:nvPr/>
        </p:nvGrpSpPr>
        <p:grpSpPr>
          <a:xfrm>
            <a:off x="0" y="0"/>
            <a:ext cx="12192000" cy="590550"/>
            <a:chOff x="0" y="0"/>
            <a:chExt cx="12192000" cy="590550"/>
          </a:xfrm>
        </p:grpSpPr>
        <p:sp>
          <p:nvSpPr>
            <p:cNvPr id="2" name="Polygon 2"/>
            <p:cNvSpPr/>
            <p:nvPr/>
          </p:nvSpPr>
          <p:spPr>
            <a:xfrm>
              <a:off x="0" y="0"/>
              <a:ext cx="876300" cy="495300"/>
            </a:xfrm>
            <a:custGeom>
              <a:avLst/>
              <a:gdLst/>
              <a:ahLst/>
              <a:cxnLst/>
              <a:rect l="l" t="t" r="r" b="b"/>
              <a:pathLst>
                <a:path w="876300" h="495300">
                  <a:moveTo>
                    <a:pt x="0" y="0"/>
                  </a:moveTo>
                  <a:lnTo>
                    <a:pt x="876300" y="0"/>
                  </a:lnTo>
                  <a:lnTo>
                    <a:pt x="704850" y="495300"/>
                  </a:lnTo>
                  <a:lnTo>
                    <a:pt x="0" y="495300"/>
                  </a:lnTo>
                  <a:close/>
                </a:path>
              </a:pathLst>
            </a:custGeom>
            <a:solidFill>
              <a:srgbClr val="69281B"/>
            </a:solidFill>
            <a:ln>
              <a:noFill/>
            </a:ln>
          </p:spPr>
        </p:sp>
        <p:sp>
          <p:nvSpPr>
            <p:cNvPr id="3" name="TextBox 3"/>
            <p:cNvSpPr txBox="1"/>
            <p:nvPr/>
          </p:nvSpPr>
          <p:spPr>
            <a:xfrm>
              <a:off x="218313" y="1338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18​</a:t>
              </a:r>
            </a:p>
          </p:txBody>
        </p:sp>
        <p:sp>
          <p:nvSpPr>
            <p:cNvPr id="4" name="TextBox 4"/>
            <p:cNvSpPr txBox="1"/>
            <p:nvPr/>
          </p:nvSpPr>
          <p:spPr>
            <a:xfrm>
              <a:off x="1019175" y="169069"/>
              <a:ext cx="7583146" cy="366712"/>
            </a:xfrm>
            <a:prstGeom prst="rect">
              <a:avLst/>
            </a:prstGeom>
            <a:noFill/>
            <a:ln>
              <a:noFill/>
            </a:ln>
          </p:spPr>
          <p:txBody>
            <a:bodyPr wrap="none" lIns="0" tIns="0" rIns="0" bIns="0" anchor="t" anchorCtr="0">
              <a:spAutoFit/>
            </a:bodyPr>
            <a:lstStyle/>
            <a:p>
              <a:pPr algn="l"/>
              <a:r>
                <a:rPr lang="zh-CN" sz="1880" b="1" dirty="0">
                  <a:solidFill>
                    <a:srgbClr val="69281B"/>
                  </a:solidFill>
                  <a:latin typeface="+mn-lt"/>
                  <a:ea typeface="+mn-ea"/>
                  <a:cs typeface="+mn-cs"/>
                </a:rPr>
                <a:t>总结与行动部署：聚焦六项重点任务，确保2026年度经营目标达成​</a:t>
              </a:r>
            </a:p>
          </p:txBody>
        </p:sp>
        <p:sp>
          <p:nvSpPr>
            <p:cNvPr id="5" name="TextBox 5"/>
            <p:cNvSpPr txBox="1"/>
            <p:nvPr/>
          </p:nvSpPr>
          <p:spPr>
            <a:xfrm>
              <a:off x="10528173" y="147638"/>
              <a:ext cx="1554290"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数据口径：2026年6月末（示例）​</a:t>
              </a:r>
            </a:p>
          </p:txBody>
        </p:sp>
        <p:sp>
          <p:nvSpPr>
            <p:cNvPr id="6" name="TextBox 6"/>
            <p:cNvSpPr txBox="1"/>
            <p:nvPr/>
          </p:nvSpPr>
          <p:spPr>
            <a:xfrm>
              <a:off x="10684669" y="300038"/>
              <a:ext cx="1397794"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公司业务2026年工作述职报告​</a:t>
              </a:r>
            </a:p>
          </p:txBody>
        </p:sp>
        <p:sp>
          <p:nvSpPr>
            <p:cNvPr id="7" name="Line 7"/>
            <p:cNvSpPr/>
            <p:nvPr/>
          </p:nvSpPr>
          <p:spPr>
            <a:xfrm>
              <a:off x="0" y="581025"/>
              <a:ext cx="12192000" cy="9525"/>
            </a:xfrm>
            <a:custGeom>
              <a:avLst/>
              <a:gdLst/>
              <a:ahLst/>
              <a:cxnLst/>
              <a:rect l="l" t="t" r="r" b="b"/>
              <a:pathLst>
                <a:path w="12192000" h="9525">
                  <a:moveTo>
                    <a:pt x="0" y="0"/>
                  </a:moveTo>
                  <a:lnTo>
                    <a:pt x="12192000" y="0"/>
                  </a:lnTo>
                </a:path>
              </a:pathLst>
            </a:custGeom>
            <a:noFill/>
            <a:ln w="19050">
              <a:solidFill>
                <a:srgbClr val="69281B"/>
              </a:solidFill>
            </a:ln>
          </p:spPr>
        </p:sp>
      </p:grpSp>
      <p:grpSp>
        <p:nvGrpSpPr>
          <p:cNvPr id="27" name="conclusion-scale"/>
          <p:cNvGrpSpPr/>
          <p:nvPr/>
        </p:nvGrpSpPr>
        <p:grpSpPr>
          <a:xfrm>
            <a:off x="228600" y="685800"/>
            <a:ext cx="3810000" cy="1257300"/>
            <a:chOff x="228600" y="685800"/>
            <a:chExt cx="3810000" cy="1257300"/>
          </a:xfrm>
        </p:grpSpPr>
        <p:sp>
          <p:nvSpPr>
            <p:cNvPr id="9" name="Rectangle 9"/>
            <p:cNvSpPr/>
            <p:nvPr/>
          </p:nvSpPr>
          <p:spPr>
            <a:xfrm>
              <a:off x="228600" y="685800"/>
              <a:ext cx="3810000" cy="1257300"/>
            </a:xfrm>
            <a:prstGeom prst="roundRect">
              <a:avLst>
                <a:gd name="adj" fmla="val 4545"/>
              </a:avLst>
            </a:prstGeom>
            <a:solidFill>
              <a:srgbClr val="FFFFFF"/>
            </a:solidFill>
            <a:ln w="9525">
              <a:solidFill>
                <a:srgbClr val="C9D6E9"/>
              </a:solidFill>
            </a:ln>
          </p:spPr>
        </p:sp>
        <p:sp>
          <p:nvSpPr>
            <p:cNvPr id="10" name="Freeform 10"/>
            <p:cNvSpPr/>
            <p:nvPr/>
          </p:nvSpPr>
          <p:spPr>
            <a:xfrm>
              <a:off x="228600" y="685800"/>
              <a:ext cx="3810000" cy="209550"/>
            </a:xfrm>
            <a:custGeom>
              <a:avLst/>
              <a:gdLst/>
              <a:ahLst/>
              <a:cxnLst/>
              <a:rect l="l" t="t" r="r" b="b"/>
              <a:pathLst>
                <a:path w="3810000" h="209550">
                  <a:moveTo>
                    <a:pt x="0" y="57150"/>
                  </a:moveTo>
                  <a:cubicBezTo>
                    <a:pt x="0" y="25587"/>
                    <a:pt x="25587" y="0"/>
                    <a:pt x="57150" y="0"/>
                  </a:cubicBezTo>
                  <a:lnTo>
                    <a:pt x="3810000" y="0"/>
                  </a:lnTo>
                  <a:lnTo>
                    <a:pt x="3619500" y="209550"/>
                  </a:lnTo>
                  <a:lnTo>
                    <a:pt x="0" y="209550"/>
                  </a:lnTo>
                  <a:close/>
                </a:path>
              </a:pathLst>
            </a:custGeom>
            <a:solidFill>
              <a:srgbClr val="69281B"/>
            </a:solidFill>
            <a:ln>
              <a:noFill/>
            </a:ln>
          </p:spPr>
        </p:sp>
        <p:sp>
          <p:nvSpPr>
            <p:cNvPr id="11" name="TextBox 11"/>
            <p:cNvSpPr txBox="1"/>
            <p:nvPr/>
          </p:nvSpPr>
          <p:spPr>
            <a:xfrm>
              <a:off x="357188" y="731520"/>
              <a:ext cx="85763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规模增长基础稳</a:t>
              </a:r>
            </a:p>
          </p:txBody>
        </p:sp>
        <p:grpSp>
          <p:nvGrpSpPr>
            <p:cNvPr id="16" name="Group 16"/>
            <p:cNvGrpSpPr/>
            <p:nvPr/>
          </p:nvGrpSpPr>
          <p:grpSpPr>
            <a:xfrm>
              <a:off x="416719" y="1057275"/>
              <a:ext cx="214313" cy="200025"/>
              <a:chOff x="416719" y="1057275"/>
              <a:chExt cx="214313" cy="200025"/>
            </a:xfrm>
          </p:grpSpPr>
          <p:sp>
            <p:nvSpPr>
              <p:cNvPr id="12" name="Freeform 12"/>
              <p:cNvSpPr/>
              <p:nvPr/>
            </p:nvSpPr>
            <p:spPr>
              <a:xfrm>
                <a:off x="416719" y="1152525"/>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E04C2E"/>
                </a:solidFill>
              </a:ln>
            </p:spPr>
          </p:sp>
          <p:sp>
            <p:nvSpPr>
              <p:cNvPr id="13" name="Freeform 13"/>
              <p:cNvSpPr/>
              <p:nvPr/>
            </p:nvSpPr>
            <p:spPr>
              <a:xfrm>
                <a:off x="559594" y="1104900"/>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E04C2E"/>
                </a:solidFill>
              </a:ln>
            </p:spPr>
          </p:sp>
          <p:sp>
            <p:nvSpPr>
              <p:cNvPr id="14" name="Freeform 14"/>
              <p:cNvSpPr/>
              <p:nvPr/>
            </p:nvSpPr>
            <p:spPr>
              <a:xfrm>
                <a:off x="488156" y="1057275"/>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E04C2E"/>
                </a:solidFill>
              </a:ln>
            </p:spPr>
          </p:sp>
          <p:sp>
            <p:nvSpPr>
              <p:cNvPr id="15" name="Freeform 15"/>
              <p:cNvSpPr/>
              <p:nvPr/>
            </p:nvSpPr>
            <p:spPr>
              <a:xfrm>
                <a:off x="428625" y="1247775"/>
                <a:ext cx="166688" cy="9525"/>
              </a:xfrm>
              <a:custGeom>
                <a:avLst/>
                <a:gdLst/>
                <a:ahLst/>
                <a:cxnLst/>
                <a:rect l="l" t="t" r="r" b="b"/>
                <a:pathLst>
                  <a:path w="166688" h="9525">
                    <a:moveTo>
                      <a:pt x="0" y="0"/>
                    </a:moveTo>
                    <a:lnTo>
                      <a:pt x="166688" y="0"/>
                    </a:lnTo>
                  </a:path>
                </a:pathLst>
              </a:custGeom>
              <a:noFill/>
              <a:ln w="23812">
                <a:solidFill>
                  <a:srgbClr val="E04C2E"/>
                </a:solidFill>
              </a:ln>
            </p:spPr>
          </p:sp>
        </p:grpSp>
        <p:sp>
          <p:nvSpPr>
            <p:cNvPr id="17" name="Ellipse 17"/>
            <p:cNvSpPr/>
            <p:nvPr/>
          </p:nvSpPr>
          <p:spPr>
            <a:xfrm>
              <a:off x="840105" y="1087755"/>
              <a:ext cx="34290" cy="34290"/>
            </a:xfrm>
            <a:prstGeom prst="ellipse">
              <a:avLst/>
            </a:prstGeom>
            <a:solidFill>
              <a:srgbClr val="E04C2E"/>
            </a:solidFill>
            <a:ln>
              <a:noFill/>
            </a:ln>
          </p:spPr>
        </p:sp>
        <p:sp>
          <p:nvSpPr>
            <p:cNvPr id="18" name="TextBox 18"/>
            <p:cNvSpPr txBox="1"/>
            <p:nvPr/>
          </p:nvSpPr>
          <p:spPr>
            <a:xfrm>
              <a:off x="928688" y="1066086"/>
              <a:ext cx="1634388"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存款规模稳步增长，市场地位持续巩固</a:t>
              </a:r>
            </a:p>
          </p:txBody>
        </p:sp>
        <p:sp>
          <p:nvSpPr>
            <p:cNvPr id="19" name="Ellipse 19"/>
            <p:cNvSpPr/>
            <p:nvPr/>
          </p:nvSpPr>
          <p:spPr>
            <a:xfrm>
              <a:off x="840105" y="1316355"/>
              <a:ext cx="34290" cy="34290"/>
            </a:xfrm>
            <a:prstGeom prst="ellipse">
              <a:avLst/>
            </a:prstGeom>
            <a:solidFill>
              <a:srgbClr val="E04C2E"/>
            </a:solidFill>
            <a:ln>
              <a:noFill/>
            </a:ln>
          </p:spPr>
        </p:sp>
        <p:sp>
          <p:nvSpPr>
            <p:cNvPr id="20" name="TextBox 20"/>
            <p:cNvSpPr txBox="1"/>
            <p:nvPr/>
          </p:nvSpPr>
          <p:spPr>
            <a:xfrm>
              <a:off x="928688" y="1294686"/>
              <a:ext cx="1634388"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客户基础稳中有升，重点项目储备充足</a:t>
              </a:r>
            </a:p>
          </p:txBody>
        </p:sp>
        <p:sp>
          <p:nvSpPr>
            <p:cNvPr id="21" name="TextBox 21"/>
            <p:cNvSpPr txBox="1"/>
            <p:nvPr/>
          </p:nvSpPr>
          <p:spPr>
            <a:xfrm>
              <a:off x="376238" y="1656636"/>
              <a:ext cx="391846" cy="140494"/>
            </a:xfrm>
            <a:prstGeom prst="rect">
              <a:avLst/>
            </a:prstGeom>
            <a:noFill/>
            <a:ln>
              <a:noFill/>
            </a:ln>
          </p:spPr>
          <p:txBody>
            <a:bodyPr wrap="none" lIns="0" tIns="0" rIns="0" bIns="0" anchor="t" anchorCtr="0">
              <a:spAutoFit/>
            </a:bodyPr>
            <a:lstStyle/>
            <a:p>
              <a:pPr algn="l"/>
              <a:r>
                <a:rPr lang="zh-CN" sz="710" dirty="0">
                  <a:solidFill>
                    <a:srgbClr val="987F7A"/>
                  </a:solidFill>
                  <a:latin typeface="+mn-lt"/>
                  <a:ea typeface="+mn-ea"/>
                  <a:cs typeface="+mn-cs"/>
                </a:rPr>
                <a:t>存款余额</a:t>
              </a:r>
            </a:p>
          </p:txBody>
        </p:sp>
        <p:sp>
          <p:nvSpPr>
            <p:cNvPr id="22" name="TextBox 22"/>
            <p:cNvSpPr txBox="1"/>
            <p:nvPr/>
          </p:nvSpPr>
          <p:spPr>
            <a:xfrm>
              <a:off x="908304" y="1623060"/>
              <a:ext cx="568442" cy="234696"/>
            </a:xfrm>
            <a:prstGeom prst="rect">
              <a:avLst/>
            </a:prstGeom>
            <a:noFill/>
            <a:ln>
              <a:noFill/>
            </a:ln>
          </p:spPr>
          <p:txBody>
            <a:bodyPr wrap="none" lIns="0" tIns="0" rIns="0" bIns="0" anchor="t" anchorCtr="0">
              <a:spAutoFit/>
            </a:bodyPr>
            <a:lstStyle/>
            <a:p>
              <a:pPr algn="l"/>
              <a:r>
                <a:rPr lang="zh-CN" sz="1200" b="1" dirty="0">
                  <a:solidFill>
                    <a:srgbClr val="69281B"/>
                  </a:solidFill>
                  <a:latin typeface="+mn-lt"/>
                  <a:ea typeface="+mn-ea"/>
                  <a:cs typeface="+mn-cs"/>
                </a:rPr>
                <a:t>327</a:t>
              </a:r>
              <a:r>
                <a:rPr lang="zh-CN" sz="680" dirty="0">
                  <a:solidFill>
                    <a:srgbClr val="69281B"/>
                  </a:solidFill>
                  <a:latin typeface="+mn-lt"/>
                  <a:ea typeface="+mn-ea"/>
                  <a:cs typeface="+mn-cs"/>
                </a:rPr>
                <a:t>亿元</a:t>
              </a:r>
              <a:r>
                <a:rPr lang="zh-CN" sz="1200" b="1" dirty="0">
                  <a:solidFill>
                    <a:srgbClr val="69281B"/>
                  </a:solidFill>
                  <a:latin typeface="+mn-lt"/>
                  <a:ea typeface="+mn-ea"/>
                  <a:cs typeface="+mn-cs"/>
                </a:rPr>
                <a:t>​</a:t>
              </a:r>
            </a:p>
          </p:txBody>
        </p:sp>
        <p:sp>
          <p:nvSpPr>
            <p:cNvPr id="23" name="TextBox 23"/>
            <p:cNvSpPr txBox="1"/>
            <p:nvPr/>
          </p:nvSpPr>
          <p:spPr>
            <a:xfrm>
              <a:off x="1614488" y="1664732"/>
              <a:ext cx="569544" cy="126206"/>
            </a:xfrm>
            <a:prstGeom prst="rect">
              <a:avLst/>
            </a:prstGeom>
            <a:noFill/>
            <a:ln>
              <a:noFill/>
            </a:ln>
          </p:spPr>
          <p:txBody>
            <a:bodyPr wrap="none" lIns="0" tIns="0" rIns="0" bIns="0" anchor="t" anchorCtr="0">
              <a:spAutoFit/>
            </a:bodyPr>
            <a:lstStyle/>
            <a:p>
              <a:pPr algn="l"/>
              <a:r>
                <a:rPr lang="zh-CN" sz="640" dirty="0">
                  <a:solidFill>
                    <a:srgbClr val="E04C2E"/>
                  </a:solidFill>
                  <a:latin typeface="+mn-lt"/>
                  <a:ea typeface="+mn-ea"/>
                  <a:cs typeface="+mn-cs"/>
                </a:rPr>
                <a:t>较年初+8.2%​</a:t>
              </a:r>
            </a:p>
          </p:txBody>
        </p:sp>
        <p:sp>
          <p:nvSpPr>
            <p:cNvPr id="24" name="TextBox 24"/>
            <p:cNvSpPr txBox="1"/>
            <p:nvPr/>
          </p:nvSpPr>
          <p:spPr>
            <a:xfrm>
              <a:off x="2281238" y="1656636"/>
              <a:ext cx="391846" cy="140494"/>
            </a:xfrm>
            <a:prstGeom prst="rect">
              <a:avLst/>
            </a:prstGeom>
            <a:noFill/>
            <a:ln>
              <a:noFill/>
            </a:ln>
          </p:spPr>
          <p:txBody>
            <a:bodyPr wrap="none" lIns="0" tIns="0" rIns="0" bIns="0" anchor="t" anchorCtr="0">
              <a:spAutoFit/>
            </a:bodyPr>
            <a:lstStyle/>
            <a:p>
              <a:pPr algn="l"/>
              <a:r>
                <a:rPr lang="zh-CN" sz="710" dirty="0">
                  <a:solidFill>
                    <a:srgbClr val="987F7A"/>
                  </a:solidFill>
                  <a:latin typeface="+mn-lt"/>
                  <a:ea typeface="+mn-ea"/>
                  <a:cs typeface="+mn-cs"/>
                </a:rPr>
                <a:t>贷款余额</a:t>
              </a:r>
            </a:p>
          </p:txBody>
        </p:sp>
        <p:sp>
          <p:nvSpPr>
            <p:cNvPr id="25" name="TextBox 25"/>
            <p:cNvSpPr txBox="1"/>
            <p:nvPr/>
          </p:nvSpPr>
          <p:spPr>
            <a:xfrm>
              <a:off x="2813304" y="1623060"/>
              <a:ext cx="568442" cy="234696"/>
            </a:xfrm>
            <a:prstGeom prst="rect">
              <a:avLst/>
            </a:prstGeom>
            <a:noFill/>
            <a:ln>
              <a:noFill/>
            </a:ln>
          </p:spPr>
          <p:txBody>
            <a:bodyPr wrap="none" lIns="0" tIns="0" rIns="0" bIns="0" anchor="t" anchorCtr="0">
              <a:spAutoFit/>
            </a:bodyPr>
            <a:lstStyle/>
            <a:p>
              <a:pPr algn="l"/>
              <a:r>
                <a:rPr lang="zh-CN" sz="1200" b="1" dirty="0">
                  <a:solidFill>
                    <a:srgbClr val="69281B"/>
                  </a:solidFill>
                  <a:latin typeface="+mn-lt"/>
                  <a:ea typeface="+mn-ea"/>
                  <a:cs typeface="+mn-cs"/>
                </a:rPr>
                <a:t>283</a:t>
              </a:r>
              <a:r>
                <a:rPr lang="zh-CN" sz="680" dirty="0">
                  <a:solidFill>
                    <a:srgbClr val="69281B"/>
                  </a:solidFill>
                  <a:latin typeface="+mn-lt"/>
                  <a:ea typeface="+mn-ea"/>
                  <a:cs typeface="+mn-cs"/>
                </a:rPr>
                <a:t>亿元</a:t>
              </a:r>
              <a:r>
                <a:rPr lang="zh-CN" sz="1200" b="1" dirty="0">
                  <a:solidFill>
                    <a:srgbClr val="69281B"/>
                  </a:solidFill>
                  <a:latin typeface="+mn-lt"/>
                  <a:ea typeface="+mn-ea"/>
                  <a:cs typeface="+mn-cs"/>
                </a:rPr>
                <a:t>​</a:t>
              </a:r>
            </a:p>
          </p:txBody>
        </p:sp>
        <p:sp>
          <p:nvSpPr>
            <p:cNvPr id="26" name="TextBox 26"/>
            <p:cNvSpPr txBox="1"/>
            <p:nvPr/>
          </p:nvSpPr>
          <p:spPr>
            <a:xfrm>
              <a:off x="3405188" y="1664732"/>
              <a:ext cx="569544" cy="126206"/>
            </a:xfrm>
            <a:prstGeom prst="rect">
              <a:avLst/>
            </a:prstGeom>
            <a:noFill/>
            <a:ln>
              <a:noFill/>
            </a:ln>
          </p:spPr>
          <p:txBody>
            <a:bodyPr wrap="none" lIns="0" tIns="0" rIns="0" bIns="0" anchor="t" anchorCtr="0">
              <a:spAutoFit/>
            </a:bodyPr>
            <a:lstStyle/>
            <a:p>
              <a:pPr algn="l"/>
              <a:r>
                <a:rPr lang="zh-CN" sz="640" dirty="0">
                  <a:solidFill>
                    <a:srgbClr val="E04C2E"/>
                  </a:solidFill>
                  <a:latin typeface="+mn-lt"/>
                  <a:ea typeface="+mn-ea"/>
                  <a:cs typeface="+mn-cs"/>
                </a:rPr>
                <a:t>较年初+9.1%​</a:t>
              </a:r>
            </a:p>
          </p:txBody>
        </p:sp>
      </p:grpSp>
      <p:grpSp>
        <p:nvGrpSpPr>
          <p:cNvPr id="42" name="conclusion-weakness"/>
          <p:cNvGrpSpPr/>
          <p:nvPr/>
        </p:nvGrpSpPr>
        <p:grpSpPr>
          <a:xfrm>
            <a:off x="4191000" y="685800"/>
            <a:ext cx="3810000" cy="1257300"/>
            <a:chOff x="4191000" y="685800"/>
            <a:chExt cx="3810000" cy="1257300"/>
          </a:xfrm>
        </p:grpSpPr>
        <p:sp>
          <p:nvSpPr>
            <p:cNvPr id="28" name="Rectangle 28"/>
            <p:cNvSpPr/>
            <p:nvPr/>
          </p:nvSpPr>
          <p:spPr>
            <a:xfrm>
              <a:off x="4191000" y="685800"/>
              <a:ext cx="3810000" cy="1257300"/>
            </a:xfrm>
            <a:prstGeom prst="roundRect">
              <a:avLst>
                <a:gd name="adj" fmla="val 4545"/>
              </a:avLst>
            </a:prstGeom>
            <a:solidFill>
              <a:srgbClr val="FFFFFF"/>
            </a:solidFill>
            <a:ln w="11430">
              <a:solidFill>
                <a:srgbClr val="E8BBB3"/>
              </a:solidFill>
            </a:ln>
          </p:spPr>
        </p:sp>
        <p:sp>
          <p:nvSpPr>
            <p:cNvPr id="29" name="Freeform 29"/>
            <p:cNvSpPr/>
            <p:nvPr/>
          </p:nvSpPr>
          <p:spPr>
            <a:xfrm>
              <a:off x="4191000" y="685800"/>
              <a:ext cx="3810000" cy="209550"/>
            </a:xfrm>
            <a:custGeom>
              <a:avLst/>
              <a:gdLst/>
              <a:ahLst/>
              <a:cxnLst/>
              <a:rect l="l" t="t" r="r" b="b"/>
              <a:pathLst>
                <a:path w="3810000" h="209550">
                  <a:moveTo>
                    <a:pt x="0" y="57150"/>
                  </a:moveTo>
                  <a:cubicBezTo>
                    <a:pt x="0" y="25587"/>
                    <a:pt x="25587" y="0"/>
                    <a:pt x="57150" y="0"/>
                  </a:cubicBezTo>
                  <a:lnTo>
                    <a:pt x="3810000" y="0"/>
                  </a:lnTo>
                  <a:lnTo>
                    <a:pt x="3619500" y="209550"/>
                  </a:lnTo>
                  <a:lnTo>
                    <a:pt x="0" y="209550"/>
                  </a:lnTo>
                  <a:close/>
                </a:path>
              </a:pathLst>
            </a:custGeom>
            <a:solidFill>
              <a:srgbClr val="C4402A"/>
            </a:solidFill>
            <a:ln>
              <a:noFill/>
            </a:ln>
          </p:spPr>
        </p:sp>
        <p:sp>
          <p:nvSpPr>
            <p:cNvPr id="30" name="TextBox 30"/>
            <p:cNvSpPr txBox="1"/>
            <p:nvPr/>
          </p:nvSpPr>
          <p:spPr>
            <a:xfrm>
              <a:off x="4319588" y="731520"/>
              <a:ext cx="85763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结构短板仍突出</a:t>
              </a:r>
            </a:p>
          </p:txBody>
        </p:sp>
        <p:grpSp>
          <p:nvGrpSpPr>
            <p:cNvPr id="33" name="Group 33"/>
            <p:cNvGrpSpPr/>
            <p:nvPr/>
          </p:nvGrpSpPr>
          <p:grpSpPr>
            <a:xfrm>
              <a:off x="4375800" y="1028366"/>
              <a:ext cx="215250" cy="215584"/>
              <a:chOff x="4375800" y="1028366"/>
              <a:chExt cx="215250" cy="215584"/>
            </a:xfrm>
          </p:grpSpPr>
          <p:sp>
            <p:nvSpPr>
              <p:cNvPr id="31" name="Freeform 31"/>
              <p:cNvSpPr/>
              <p:nvPr/>
            </p:nvSpPr>
            <p:spPr>
              <a:xfrm>
                <a:off x="4375800" y="1028366"/>
                <a:ext cx="215250" cy="215584"/>
              </a:xfrm>
              <a:custGeom>
                <a:avLst/>
                <a:gdLst/>
                <a:ahLst/>
                <a:cxnLst/>
                <a:rect l="l" t="t" r="r" b="b"/>
                <a:pathLst>
                  <a:path w="215250" h="215584">
                    <a:moveTo>
                      <a:pt x="86663" y="334"/>
                    </a:moveTo>
                    <a:cubicBezTo>
                      <a:pt x="35109" y="12285"/>
                      <a:pt x="0" y="60082"/>
                      <a:pt x="4015" y="112851"/>
                    </a:cubicBezTo>
                    <a:cubicBezTo>
                      <a:pt x="8029" y="165619"/>
                      <a:pt x="49965" y="207555"/>
                      <a:pt x="102733" y="211569"/>
                    </a:cubicBezTo>
                    <a:cubicBezTo>
                      <a:pt x="155502" y="215584"/>
                      <a:pt x="203299" y="180475"/>
                      <a:pt x="215250" y="128921"/>
                    </a:cubicBezTo>
                    <a:cubicBezTo>
                      <a:pt x="215250" y="122346"/>
                      <a:pt x="209919" y="117015"/>
                      <a:pt x="203344" y="117015"/>
                    </a:cubicBezTo>
                    <a:lnTo>
                      <a:pt x="122381" y="117015"/>
                    </a:lnTo>
                    <a:cubicBezTo>
                      <a:pt x="109230" y="117015"/>
                      <a:pt x="98569" y="106354"/>
                      <a:pt x="98569" y="93203"/>
                    </a:cubicBezTo>
                    <a:lnTo>
                      <a:pt x="98569" y="9859"/>
                    </a:lnTo>
                    <a:cubicBezTo>
                      <a:pt x="98270" y="7010"/>
                      <a:pt x="96843" y="4399"/>
                      <a:pt x="94606" y="2609"/>
                    </a:cubicBezTo>
                    <a:cubicBezTo>
                      <a:pt x="92368" y="819"/>
                      <a:pt x="89508" y="0"/>
                      <a:pt x="86663" y="334"/>
                    </a:cubicBezTo>
                  </a:path>
                </a:pathLst>
              </a:custGeom>
              <a:noFill/>
              <a:ln w="23812">
                <a:solidFill>
                  <a:srgbClr val="D0442C"/>
                </a:solidFill>
              </a:ln>
            </p:spPr>
          </p:sp>
          <p:sp>
            <p:nvSpPr>
              <p:cNvPr id="32" name="Freeform 32"/>
              <p:cNvSpPr/>
              <p:nvPr/>
            </p:nvSpPr>
            <p:spPr>
              <a:xfrm>
                <a:off x="4521994" y="1032272"/>
                <a:ext cx="65484" cy="65484"/>
              </a:xfrm>
              <a:custGeom>
                <a:avLst/>
                <a:gdLst/>
                <a:ahLst/>
                <a:cxnLst/>
                <a:rect l="l" t="t" r="r" b="b"/>
                <a:pathLst>
                  <a:path w="65484" h="65484">
                    <a:moveTo>
                      <a:pt x="0" y="0"/>
                    </a:moveTo>
                    <a:cubicBezTo>
                      <a:pt x="30621" y="10782"/>
                      <a:pt x="54703" y="34864"/>
                      <a:pt x="65484" y="65484"/>
                    </a:cubicBezTo>
                    <a:lnTo>
                      <a:pt x="11906" y="65484"/>
                    </a:lnTo>
                    <a:cubicBezTo>
                      <a:pt x="5331" y="65484"/>
                      <a:pt x="0" y="60154"/>
                      <a:pt x="0" y="53578"/>
                    </a:cubicBezTo>
                    <a:lnTo>
                      <a:pt x="0" y="0"/>
                    </a:lnTo>
                  </a:path>
                </a:pathLst>
              </a:custGeom>
              <a:noFill/>
              <a:ln w="23812">
                <a:solidFill>
                  <a:srgbClr val="D0442C"/>
                </a:solidFill>
              </a:ln>
            </p:spPr>
          </p:sp>
        </p:grpSp>
        <p:sp>
          <p:nvSpPr>
            <p:cNvPr id="34" name="Ellipse 34"/>
            <p:cNvSpPr/>
            <p:nvPr/>
          </p:nvSpPr>
          <p:spPr>
            <a:xfrm>
              <a:off x="4802505" y="1049655"/>
              <a:ext cx="34290" cy="34290"/>
            </a:xfrm>
            <a:prstGeom prst="ellipse">
              <a:avLst/>
            </a:prstGeom>
            <a:solidFill>
              <a:srgbClr val="D0442C"/>
            </a:solidFill>
            <a:ln>
              <a:noFill/>
            </a:ln>
          </p:spPr>
        </p:sp>
        <p:sp>
          <p:nvSpPr>
            <p:cNvPr id="35" name="TextBox 35"/>
            <p:cNvSpPr txBox="1"/>
            <p:nvPr/>
          </p:nvSpPr>
          <p:spPr>
            <a:xfrm>
              <a:off x="4891088" y="1027986"/>
              <a:ext cx="1820531"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存款结构：对公活期占比仅 </a:t>
              </a:r>
              <a:r>
                <a:rPr lang="zh-CN" sz="710" b="1" dirty="0">
                  <a:solidFill>
                    <a:srgbClr val="D0442C"/>
                  </a:solidFill>
                  <a:latin typeface="+mn-lt"/>
                  <a:ea typeface="+mn-ea"/>
                  <a:cs typeface="+mn-cs"/>
                </a:rPr>
                <a:t>28.6%</a:t>
              </a:r>
              <a:r>
                <a:rPr lang="zh-CN" sz="710" dirty="0">
                  <a:solidFill>
                    <a:srgbClr val="70504A"/>
                  </a:solidFill>
                  <a:latin typeface="+mn-lt"/>
                  <a:ea typeface="+mn-ea"/>
                  <a:cs typeface="+mn-cs"/>
                </a:rPr>
                <a:t>，偏低​</a:t>
              </a:r>
            </a:p>
          </p:txBody>
        </p:sp>
        <p:sp>
          <p:nvSpPr>
            <p:cNvPr id="36" name="Ellipse 36"/>
            <p:cNvSpPr/>
            <p:nvPr/>
          </p:nvSpPr>
          <p:spPr>
            <a:xfrm>
              <a:off x="4802505" y="1278255"/>
              <a:ext cx="34290" cy="34290"/>
            </a:xfrm>
            <a:prstGeom prst="ellipse">
              <a:avLst/>
            </a:prstGeom>
            <a:solidFill>
              <a:srgbClr val="D0442C"/>
            </a:solidFill>
            <a:ln>
              <a:noFill/>
            </a:ln>
          </p:spPr>
        </p:sp>
        <p:sp>
          <p:nvSpPr>
            <p:cNvPr id="37" name="TextBox 37"/>
            <p:cNvSpPr txBox="1"/>
            <p:nvPr/>
          </p:nvSpPr>
          <p:spPr>
            <a:xfrm>
              <a:off x="4891088" y="1256586"/>
              <a:ext cx="1820531"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信贷结构：中长期占比 </a:t>
              </a:r>
              <a:r>
                <a:rPr lang="zh-CN" sz="710" b="1" dirty="0">
                  <a:solidFill>
                    <a:srgbClr val="D0442C"/>
                  </a:solidFill>
                  <a:latin typeface="+mn-lt"/>
                  <a:ea typeface="+mn-ea"/>
                  <a:cs typeface="+mn-cs"/>
                </a:rPr>
                <a:t>58.3%</a:t>
              </a:r>
              <a:r>
                <a:rPr lang="zh-CN" sz="710" dirty="0">
                  <a:solidFill>
                    <a:srgbClr val="70504A"/>
                  </a:solidFill>
                  <a:latin typeface="+mn-lt"/>
                  <a:ea typeface="+mn-ea"/>
                  <a:cs typeface="+mn-cs"/>
                </a:rPr>
                <a:t>，仍需优化​</a:t>
              </a:r>
            </a:p>
          </p:txBody>
        </p:sp>
        <p:sp>
          <p:nvSpPr>
            <p:cNvPr id="38" name="Ellipse 38"/>
            <p:cNvSpPr/>
            <p:nvPr/>
          </p:nvSpPr>
          <p:spPr>
            <a:xfrm>
              <a:off x="4802505" y="1506855"/>
              <a:ext cx="34290" cy="34290"/>
            </a:xfrm>
            <a:prstGeom prst="ellipse">
              <a:avLst/>
            </a:prstGeom>
            <a:solidFill>
              <a:srgbClr val="D0442C"/>
            </a:solidFill>
            <a:ln>
              <a:noFill/>
            </a:ln>
          </p:spPr>
        </p:sp>
        <p:sp>
          <p:nvSpPr>
            <p:cNvPr id="39" name="TextBox 39"/>
            <p:cNvSpPr txBox="1"/>
            <p:nvPr/>
          </p:nvSpPr>
          <p:spPr>
            <a:xfrm>
              <a:off x="4891088" y="1485186"/>
              <a:ext cx="1629370"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 xml:space="preserve">中收占比：仅 </a:t>
              </a:r>
              <a:r>
                <a:rPr lang="zh-CN" sz="710" b="1" dirty="0">
                  <a:solidFill>
                    <a:srgbClr val="D0442C"/>
                  </a:solidFill>
                  <a:latin typeface="+mn-lt"/>
                  <a:ea typeface="+mn-ea"/>
                  <a:cs typeface="+mn-cs"/>
                </a:rPr>
                <a:t>1.05%</a:t>
              </a:r>
              <a:r>
                <a:rPr lang="zh-CN" sz="710" dirty="0">
                  <a:solidFill>
                    <a:srgbClr val="70504A"/>
                  </a:solidFill>
                  <a:latin typeface="+mn-lt"/>
                  <a:ea typeface="+mn-ea"/>
                  <a:cs typeface="+mn-cs"/>
                </a:rPr>
                <a:t>，增收空间较大​</a:t>
              </a:r>
            </a:p>
          </p:txBody>
        </p:sp>
        <p:sp>
          <p:nvSpPr>
            <p:cNvPr id="40" name="Ellipse 40"/>
            <p:cNvSpPr/>
            <p:nvPr/>
          </p:nvSpPr>
          <p:spPr>
            <a:xfrm>
              <a:off x="4802505" y="1735455"/>
              <a:ext cx="34290" cy="34290"/>
            </a:xfrm>
            <a:prstGeom prst="ellipse">
              <a:avLst/>
            </a:prstGeom>
            <a:solidFill>
              <a:srgbClr val="D0442C"/>
            </a:solidFill>
            <a:ln>
              <a:noFill/>
            </a:ln>
          </p:spPr>
        </p:sp>
        <p:sp>
          <p:nvSpPr>
            <p:cNvPr id="41" name="TextBox 41"/>
            <p:cNvSpPr txBox="1"/>
            <p:nvPr/>
          </p:nvSpPr>
          <p:spPr>
            <a:xfrm>
              <a:off x="4891088" y="1713786"/>
              <a:ext cx="1634388"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重点客户：客户集中偏高，分散度不足</a:t>
              </a:r>
            </a:p>
          </p:txBody>
        </p:sp>
      </p:grpSp>
      <p:grpSp>
        <p:nvGrpSpPr>
          <p:cNvPr id="64" name="conclusion-window"/>
          <p:cNvGrpSpPr/>
          <p:nvPr/>
        </p:nvGrpSpPr>
        <p:grpSpPr>
          <a:xfrm>
            <a:off x="8153400" y="685800"/>
            <a:ext cx="3810000" cy="1257300"/>
            <a:chOff x="8153400" y="685800"/>
            <a:chExt cx="3810000" cy="1257300"/>
          </a:xfrm>
        </p:grpSpPr>
        <p:sp>
          <p:nvSpPr>
            <p:cNvPr id="43" name="Rectangle 43"/>
            <p:cNvSpPr/>
            <p:nvPr/>
          </p:nvSpPr>
          <p:spPr>
            <a:xfrm>
              <a:off x="8153400" y="685800"/>
              <a:ext cx="3810000" cy="1257300"/>
            </a:xfrm>
            <a:prstGeom prst="roundRect">
              <a:avLst>
                <a:gd name="adj" fmla="val 4545"/>
              </a:avLst>
            </a:prstGeom>
            <a:solidFill>
              <a:srgbClr val="FFFFFF"/>
            </a:solidFill>
            <a:ln w="9525">
              <a:solidFill>
                <a:srgbClr val="C9D6E9"/>
              </a:solidFill>
            </a:ln>
          </p:spPr>
        </p:sp>
        <p:sp>
          <p:nvSpPr>
            <p:cNvPr id="44" name="Freeform 44"/>
            <p:cNvSpPr/>
            <p:nvPr/>
          </p:nvSpPr>
          <p:spPr>
            <a:xfrm>
              <a:off x="8153400" y="685800"/>
              <a:ext cx="3810000" cy="209550"/>
            </a:xfrm>
            <a:custGeom>
              <a:avLst/>
              <a:gdLst/>
              <a:ahLst/>
              <a:cxnLst/>
              <a:rect l="l" t="t" r="r" b="b"/>
              <a:pathLst>
                <a:path w="3810000" h="209550">
                  <a:moveTo>
                    <a:pt x="0" y="57150"/>
                  </a:moveTo>
                  <a:cubicBezTo>
                    <a:pt x="0" y="25587"/>
                    <a:pt x="25587" y="0"/>
                    <a:pt x="57150" y="0"/>
                  </a:cubicBezTo>
                  <a:lnTo>
                    <a:pt x="3810000" y="0"/>
                  </a:lnTo>
                  <a:lnTo>
                    <a:pt x="3619500" y="209550"/>
                  </a:lnTo>
                  <a:lnTo>
                    <a:pt x="0" y="209550"/>
                  </a:lnTo>
                  <a:close/>
                </a:path>
              </a:pathLst>
            </a:custGeom>
            <a:solidFill>
              <a:srgbClr val="69281B"/>
            </a:solidFill>
            <a:ln>
              <a:noFill/>
            </a:ln>
          </p:spPr>
        </p:sp>
        <p:sp>
          <p:nvSpPr>
            <p:cNvPr id="45" name="TextBox 45"/>
            <p:cNvSpPr txBox="1"/>
            <p:nvPr/>
          </p:nvSpPr>
          <p:spPr>
            <a:xfrm>
              <a:off x="8281988" y="731520"/>
              <a:ext cx="109994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转型攻坚窗口已开启</a:t>
              </a:r>
            </a:p>
          </p:txBody>
        </p:sp>
        <p:grpSp>
          <p:nvGrpSpPr>
            <p:cNvPr id="49" name="Group 49"/>
            <p:cNvGrpSpPr/>
            <p:nvPr/>
          </p:nvGrpSpPr>
          <p:grpSpPr>
            <a:xfrm>
              <a:off x="8349664" y="1057275"/>
              <a:ext cx="194261" cy="194261"/>
              <a:chOff x="8349664" y="1057275"/>
              <a:chExt cx="194261" cy="194261"/>
            </a:xfrm>
          </p:grpSpPr>
          <p:sp>
            <p:nvSpPr>
              <p:cNvPr id="46" name="Freeform 46"/>
              <p:cNvSpPr/>
              <p:nvPr/>
            </p:nvSpPr>
            <p:spPr>
              <a:xfrm>
                <a:off x="8353425" y="1057275"/>
                <a:ext cx="190500" cy="190500"/>
              </a:xfrm>
              <a:custGeom>
                <a:avLst/>
                <a:gdLst/>
                <a:ahLst/>
                <a:cxnLst/>
                <a:rect l="l" t="t" r="r" b="b"/>
                <a:pathLst>
                  <a:path w="190500" h="190500">
                    <a:moveTo>
                      <a:pt x="0" y="107156"/>
                    </a:moveTo>
                    <a:cubicBezTo>
                      <a:pt x="43698" y="112349"/>
                      <a:pt x="78151" y="146802"/>
                      <a:pt x="83344" y="190500"/>
                    </a:cubicBezTo>
                    <a:cubicBezTo>
                      <a:pt x="104740" y="178165"/>
                      <a:pt x="118247" y="155653"/>
                      <a:pt x="119062" y="130969"/>
                    </a:cubicBezTo>
                    <a:cubicBezTo>
                      <a:pt x="159946" y="116587"/>
                      <a:pt x="188140" y="78994"/>
                      <a:pt x="190500" y="35719"/>
                    </a:cubicBezTo>
                    <a:cubicBezTo>
                      <a:pt x="190500" y="15992"/>
                      <a:pt x="174508" y="0"/>
                      <a:pt x="154781" y="0"/>
                    </a:cubicBezTo>
                    <a:cubicBezTo>
                      <a:pt x="111506" y="2360"/>
                      <a:pt x="73913" y="30554"/>
                      <a:pt x="59531" y="71438"/>
                    </a:cubicBezTo>
                    <a:cubicBezTo>
                      <a:pt x="34847" y="72253"/>
                      <a:pt x="12335" y="85760"/>
                      <a:pt x="0" y="107156"/>
                    </a:cubicBezTo>
                  </a:path>
                </a:pathLst>
              </a:custGeom>
              <a:noFill/>
              <a:ln w="23812">
                <a:solidFill>
                  <a:srgbClr val="E04C2E"/>
                </a:solidFill>
              </a:ln>
            </p:spPr>
          </p:sp>
          <p:sp>
            <p:nvSpPr>
              <p:cNvPr id="47" name="Freeform 47"/>
              <p:cNvSpPr/>
              <p:nvPr/>
            </p:nvSpPr>
            <p:spPr>
              <a:xfrm>
                <a:off x="8349664" y="1176338"/>
                <a:ext cx="75198" cy="75198"/>
              </a:xfrm>
              <a:custGeom>
                <a:avLst/>
                <a:gdLst/>
                <a:ahLst/>
                <a:cxnLst/>
                <a:rect l="l" t="t" r="r" b="b"/>
                <a:pathLst>
                  <a:path w="75198" h="75198">
                    <a:moveTo>
                      <a:pt x="39479" y="0"/>
                    </a:moveTo>
                    <a:cubicBezTo>
                      <a:pt x="14130" y="14311"/>
                      <a:pt x="0" y="42572"/>
                      <a:pt x="3761" y="71438"/>
                    </a:cubicBezTo>
                    <a:cubicBezTo>
                      <a:pt x="32627" y="75198"/>
                      <a:pt x="60887" y="61068"/>
                      <a:pt x="75198" y="35719"/>
                    </a:cubicBezTo>
                  </a:path>
                </a:pathLst>
              </a:custGeom>
              <a:noFill/>
              <a:ln w="23812">
                <a:solidFill>
                  <a:srgbClr val="E04C2E"/>
                </a:solidFill>
              </a:ln>
            </p:spPr>
          </p:sp>
          <p:sp>
            <p:nvSpPr>
              <p:cNvPr id="48" name="Freeform 48"/>
              <p:cNvSpPr/>
              <p:nvPr/>
            </p:nvSpPr>
            <p:spPr>
              <a:xfrm>
                <a:off x="8472488" y="1104900"/>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E04C2E"/>
                </a:solidFill>
              </a:ln>
            </p:spPr>
          </p:sp>
        </p:grpSp>
        <p:sp>
          <p:nvSpPr>
            <p:cNvPr id="50" name="Ellipse 50"/>
            <p:cNvSpPr/>
            <p:nvPr/>
          </p:nvSpPr>
          <p:spPr>
            <a:xfrm>
              <a:off x="8764905" y="1049655"/>
              <a:ext cx="34290" cy="34290"/>
            </a:xfrm>
            <a:prstGeom prst="ellipse">
              <a:avLst/>
            </a:prstGeom>
            <a:solidFill>
              <a:srgbClr val="E04C2E"/>
            </a:solidFill>
            <a:ln>
              <a:noFill/>
            </a:ln>
          </p:spPr>
        </p:sp>
        <p:sp>
          <p:nvSpPr>
            <p:cNvPr id="51" name="TextBox 51"/>
            <p:cNvSpPr txBox="1"/>
            <p:nvPr/>
          </p:nvSpPr>
          <p:spPr>
            <a:xfrm>
              <a:off x="8853488" y="1027986"/>
              <a:ext cx="1634388"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政策与市场窗口向好，机遇与挑战并存</a:t>
              </a:r>
            </a:p>
          </p:txBody>
        </p:sp>
        <p:sp>
          <p:nvSpPr>
            <p:cNvPr id="52" name="Ellipse 52"/>
            <p:cNvSpPr/>
            <p:nvPr/>
          </p:nvSpPr>
          <p:spPr>
            <a:xfrm>
              <a:off x="8764905" y="1278255"/>
              <a:ext cx="34290" cy="34290"/>
            </a:xfrm>
            <a:prstGeom prst="ellipse">
              <a:avLst/>
            </a:prstGeom>
            <a:solidFill>
              <a:srgbClr val="E04C2E"/>
            </a:solidFill>
            <a:ln>
              <a:noFill/>
            </a:ln>
          </p:spPr>
        </p:sp>
        <p:sp>
          <p:nvSpPr>
            <p:cNvPr id="53" name="TextBox 53"/>
            <p:cNvSpPr txBox="1"/>
            <p:nvPr/>
          </p:nvSpPr>
          <p:spPr>
            <a:xfrm>
              <a:off x="8853488" y="1256586"/>
              <a:ext cx="1252068"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对公业务转型进入关键攻坚期</a:t>
              </a:r>
            </a:p>
          </p:txBody>
        </p:sp>
        <p:sp>
          <p:nvSpPr>
            <p:cNvPr id="54" name="Ellipse 54"/>
            <p:cNvSpPr/>
            <p:nvPr/>
          </p:nvSpPr>
          <p:spPr>
            <a:xfrm>
              <a:off x="8764905" y="1506855"/>
              <a:ext cx="34290" cy="34290"/>
            </a:xfrm>
            <a:prstGeom prst="ellipse">
              <a:avLst/>
            </a:prstGeom>
            <a:solidFill>
              <a:srgbClr val="E04C2E"/>
            </a:solidFill>
            <a:ln>
              <a:noFill/>
            </a:ln>
          </p:spPr>
        </p:sp>
        <p:sp>
          <p:nvSpPr>
            <p:cNvPr id="55" name="TextBox 55"/>
            <p:cNvSpPr txBox="1"/>
            <p:nvPr/>
          </p:nvSpPr>
          <p:spPr>
            <a:xfrm>
              <a:off x="8853488" y="1485186"/>
              <a:ext cx="1347648"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数字化与综合化是破局关键路径</a:t>
              </a:r>
            </a:p>
          </p:txBody>
        </p:sp>
        <p:sp>
          <p:nvSpPr>
            <p:cNvPr id="56" name="Ellipse 56"/>
            <p:cNvSpPr/>
            <p:nvPr/>
          </p:nvSpPr>
          <p:spPr>
            <a:xfrm>
              <a:off x="8764905" y="1735455"/>
              <a:ext cx="34290" cy="34290"/>
            </a:xfrm>
            <a:prstGeom prst="ellipse">
              <a:avLst/>
            </a:prstGeom>
            <a:solidFill>
              <a:srgbClr val="E04C2E"/>
            </a:solidFill>
            <a:ln>
              <a:noFill/>
            </a:ln>
          </p:spPr>
        </p:sp>
        <p:sp>
          <p:nvSpPr>
            <p:cNvPr id="57" name="TextBox 57"/>
            <p:cNvSpPr txBox="1"/>
            <p:nvPr/>
          </p:nvSpPr>
          <p:spPr>
            <a:xfrm>
              <a:off x="8853488" y="1713786"/>
              <a:ext cx="1252068" cy="140494"/>
            </a:xfrm>
            <a:prstGeom prst="rect">
              <a:avLst/>
            </a:prstGeom>
            <a:noFill/>
            <a:ln>
              <a:noFill/>
            </a:ln>
          </p:spPr>
          <p:txBody>
            <a:bodyPr wrap="none" lIns="0" tIns="0" rIns="0" bIns="0" anchor="t" anchorCtr="0">
              <a:spAutoFit/>
            </a:bodyPr>
            <a:lstStyle/>
            <a:p>
              <a:pPr algn="l"/>
              <a:r>
                <a:rPr lang="zh-CN" sz="710" dirty="0">
                  <a:solidFill>
                    <a:srgbClr val="70504A"/>
                  </a:solidFill>
                  <a:latin typeface="+mn-lt"/>
                  <a:ea typeface="+mn-ea"/>
                  <a:cs typeface="+mn-cs"/>
                </a:rPr>
                <a:t>全行协同发力，动能加快释放</a:t>
              </a:r>
            </a:p>
          </p:txBody>
        </p:sp>
        <p:sp>
          <p:nvSpPr>
            <p:cNvPr id="58" name="TextBox 58"/>
            <p:cNvSpPr txBox="1"/>
            <p:nvPr/>
          </p:nvSpPr>
          <p:spPr>
            <a:xfrm>
              <a:off x="10510838" y="1146334"/>
              <a:ext cx="467233" cy="133350"/>
            </a:xfrm>
            <a:prstGeom prst="rect">
              <a:avLst/>
            </a:prstGeom>
            <a:noFill/>
            <a:ln>
              <a:noFill/>
            </a:ln>
          </p:spPr>
          <p:txBody>
            <a:bodyPr wrap="none" lIns="0" tIns="0" rIns="0" bIns="0" anchor="t" anchorCtr="0">
              <a:spAutoFit/>
            </a:bodyPr>
            <a:lstStyle/>
            <a:p>
              <a:pPr algn="l"/>
              <a:r>
                <a:rPr lang="zh-CN" sz="680" dirty="0">
                  <a:solidFill>
                    <a:srgbClr val="987F7A"/>
                  </a:solidFill>
                  <a:latin typeface="+mn-lt"/>
                  <a:ea typeface="+mn-ea"/>
                  <a:cs typeface="+mn-cs"/>
                </a:rPr>
                <a:t>核心客户数</a:t>
              </a:r>
            </a:p>
          </p:txBody>
        </p:sp>
        <p:sp>
          <p:nvSpPr>
            <p:cNvPr id="59" name="TextBox 59"/>
            <p:cNvSpPr txBox="1"/>
            <p:nvPr/>
          </p:nvSpPr>
          <p:spPr>
            <a:xfrm>
              <a:off x="10509885" y="1288256"/>
              <a:ext cx="614635"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2,980</a:t>
              </a:r>
              <a:r>
                <a:rPr lang="zh-CN" sz="600" dirty="0">
                  <a:solidFill>
                    <a:srgbClr val="69281B"/>
                  </a:solidFill>
                  <a:latin typeface="+mn-lt"/>
                  <a:ea typeface="+mn-ea"/>
                  <a:cs typeface="+mn-cs"/>
                </a:rPr>
                <a:t>户</a:t>
              </a:r>
              <a:r>
                <a:rPr lang="zh-CN" sz="1120" b="1" dirty="0">
                  <a:solidFill>
                    <a:srgbClr val="69281B"/>
                  </a:solidFill>
                  <a:latin typeface="+mn-lt"/>
                  <a:ea typeface="+mn-ea"/>
                  <a:cs typeface="+mn-cs"/>
                </a:rPr>
                <a:t>​</a:t>
              </a:r>
            </a:p>
          </p:txBody>
        </p:sp>
        <p:sp>
          <p:nvSpPr>
            <p:cNvPr id="60" name="TextBox 60"/>
            <p:cNvSpPr txBox="1"/>
            <p:nvPr/>
          </p:nvSpPr>
          <p:spPr>
            <a:xfrm>
              <a:off x="10510838" y="1474232"/>
              <a:ext cx="616930" cy="126206"/>
            </a:xfrm>
            <a:prstGeom prst="rect">
              <a:avLst/>
            </a:prstGeom>
            <a:noFill/>
            <a:ln>
              <a:noFill/>
            </a:ln>
          </p:spPr>
          <p:txBody>
            <a:bodyPr wrap="none" lIns="0" tIns="0" rIns="0" bIns="0" anchor="t" anchorCtr="0">
              <a:spAutoFit/>
            </a:bodyPr>
            <a:lstStyle/>
            <a:p>
              <a:pPr algn="l"/>
              <a:r>
                <a:rPr lang="zh-CN" sz="640" dirty="0">
                  <a:solidFill>
                    <a:srgbClr val="E04C2E"/>
                  </a:solidFill>
                  <a:latin typeface="+mn-lt"/>
                  <a:ea typeface="+mn-ea"/>
                  <a:cs typeface="+mn-cs"/>
                </a:rPr>
                <a:t>较年初+12.4%​</a:t>
              </a:r>
            </a:p>
          </p:txBody>
        </p:sp>
        <p:sp>
          <p:nvSpPr>
            <p:cNvPr id="61" name="TextBox 61"/>
            <p:cNvSpPr txBox="1"/>
            <p:nvPr/>
          </p:nvSpPr>
          <p:spPr>
            <a:xfrm>
              <a:off x="11234738" y="1146334"/>
              <a:ext cx="467233" cy="133350"/>
            </a:xfrm>
            <a:prstGeom prst="rect">
              <a:avLst/>
            </a:prstGeom>
            <a:noFill/>
            <a:ln>
              <a:noFill/>
            </a:ln>
          </p:spPr>
          <p:txBody>
            <a:bodyPr wrap="none" lIns="0" tIns="0" rIns="0" bIns="0" anchor="t" anchorCtr="0">
              <a:spAutoFit/>
            </a:bodyPr>
            <a:lstStyle/>
            <a:p>
              <a:pPr algn="l"/>
              <a:r>
                <a:rPr lang="zh-CN" sz="680" dirty="0">
                  <a:solidFill>
                    <a:srgbClr val="987F7A"/>
                  </a:solidFill>
                  <a:latin typeface="+mn-lt"/>
                  <a:ea typeface="+mn-ea"/>
                  <a:cs typeface="+mn-cs"/>
                </a:rPr>
                <a:t>中收贡献度</a:t>
              </a:r>
            </a:p>
          </p:txBody>
        </p:sp>
        <p:sp>
          <p:nvSpPr>
            <p:cNvPr id="62" name="TextBox 62"/>
            <p:cNvSpPr txBox="1"/>
            <p:nvPr/>
          </p:nvSpPr>
          <p:spPr>
            <a:xfrm>
              <a:off x="11233785" y="1288256"/>
              <a:ext cx="507370" cy="220028"/>
            </a:xfrm>
            <a:prstGeom prst="rect">
              <a:avLst/>
            </a:prstGeom>
            <a:noFill/>
            <a:ln>
              <a:noFill/>
            </a:ln>
          </p:spPr>
          <p:txBody>
            <a:bodyPr wrap="none" lIns="0" tIns="0" rIns="0" bIns="0" anchor="t" anchorCtr="0">
              <a:spAutoFit/>
            </a:bodyPr>
            <a:lstStyle/>
            <a:p>
              <a:pPr algn="l"/>
              <a:r>
                <a:rPr lang="zh-CN" sz="1120" b="1" dirty="0">
                  <a:solidFill>
                    <a:srgbClr val="69281B"/>
                  </a:solidFill>
                  <a:latin typeface="+mn-lt"/>
                  <a:ea typeface="+mn-ea"/>
                  <a:cs typeface="+mn-cs"/>
                </a:rPr>
                <a:t>1.05</a:t>
              </a:r>
              <a:r>
                <a:rPr lang="zh-CN" sz="600" dirty="0">
                  <a:solidFill>
                    <a:srgbClr val="69281B"/>
                  </a:solidFill>
                  <a:latin typeface="+mn-lt"/>
                  <a:ea typeface="+mn-ea"/>
                  <a:cs typeface="+mn-cs"/>
                </a:rPr>
                <a:t>%</a:t>
              </a:r>
              <a:r>
                <a:rPr lang="zh-CN" sz="1120" b="1" dirty="0">
                  <a:solidFill>
                    <a:srgbClr val="69281B"/>
                  </a:solidFill>
                  <a:latin typeface="+mn-lt"/>
                  <a:ea typeface="+mn-ea"/>
                  <a:cs typeface="+mn-cs"/>
                </a:rPr>
                <a:t>​</a:t>
              </a:r>
            </a:p>
          </p:txBody>
        </p:sp>
        <p:sp>
          <p:nvSpPr>
            <p:cNvPr id="63" name="TextBox 63"/>
            <p:cNvSpPr txBox="1"/>
            <p:nvPr/>
          </p:nvSpPr>
          <p:spPr>
            <a:xfrm>
              <a:off x="11234738" y="1474232"/>
              <a:ext cx="694472" cy="126206"/>
            </a:xfrm>
            <a:prstGeom prst="rect">
              <a:avLst/>
            </a:prstGeom>
            <a:noFill/>
            <a:ln>
              <a:noFill/>
            </a:ln>
          </p:spPr>
          <p:txBody>
            <a:bodyPr wrap="none" lIns="0" tIns="0" rIns="0" bIns="0" anchor="t" anchorCtr="0">
              <a:spAutoFit/>
            </a:bodyPr>
            <a:lstStyle/>
            <a:p>
              <a:pPr algn="l"/>
              <a:r>
                <a:rPr lang="zh-CN" sz="640" dirty="0">
                  <a:solidFill>
                    <a:srgbClr val="E04C2E"/>
                  </a:solidFill>
                  <a:latin typeface="+mn-lt"/>
                  <a:ea typeface="+mn-ea"/>
                  <a:cs typeface="+mn-cs"/>
                </a:rPr>
                <a:t>较年初+0.18pct​</a:t>
              </a:r>
            </a:p>
          </p:txBody>
        </p:sp>
      </p:grpSp>
      <p:grpSp>
        <p:nvGrpSpPr>
          <p:cNvPr id="132" name="action-table"/>
          <p:cNvGrpSpPr/>
          <p:nvPr/>
        </p:nvGrpSpPr>
        <p:grpSpPr>
          <a:xfrm>
            <a:off x="228600" y="2019300"/>
            <a:ext cx="7124700" cy="2476500"/>
            <a:chOff x="228600" y="2019300"/>
            <a:chExt cx="7124700" cy="2476500"/>
          </a:xfrm>
        </p:grpSpPr>
        <p:sp>
          <p:nvSpPr>
            <p:cNvPr id="65" name="Rectangle 65"/>
            <p:cNvSpPr/>
            <p:nvPr/>
          </p:nvSpPr>
          <p:spPr>
            <a:xfrm>
              <a:off x="228600" y="2019300"/>
              <a:ext cx="7124700" cy="2476500"/>
            </a:xfrm>
            <a:prstGeom prst="roundRect">
              <a:avLst>
                <a:gd name="adj" fmla="val 2308"/>
              </a:avLst>
            </a:prstGeom>
            <a:solidFill>
              <a:srgbClr val="FFFFFF"/>
            </a:solidFill>
            <a:ln w="9525">
              <a:solidFill>
                <a:srgbClr val="C9D6E9"/>
              </a:solidFill>
            </a:ln>
          </p:spPr>
        </p:sp>
        <p:sp>
          <p:nvSpPr>
            <p:cNvPr id="66" name="Rectangle 66"/>
            <p:cNvSpPr/>
            <p:nvPr/>
          </p:nvSpPr>
          <p:spPr>
            <a:xfrm>
              <a:off x="228600" y="2019300"/>
              <a:ext cx="7124700" cy="228600"/>
            </a:xfrm>
            <a:prstGeom prst="roundRect">
              <a:avLst>
                <a:gd name="adj" fmla="val 25000"/>
              </a:avLst>
            </a:prstGeom>
            <a:solidFill>
              <a:srgbClr val="69281B"/>
            </a:solidFill>
            <a:ln>
              <a:noFill/>
            </a:ln>
          </p:spPr>
        </p:sp>
        <p:sp>
          <p:nvSpPr>
            <p:cNvPr id="67" name="Rectangle 67"/>
            <p:cNvSpPr/>
            <p:nvPr/>
          </p:nvSpPr>
          <p:spPr>
            <a:xfrm>
              <a:off x="228600" y="2152650"/>
              <a:ext cx="7124700" cy="95250"/>
            </a:xfrm>
            <a:prstGeom prst="rect">
              <a:avLst/>
            </a:prstGeom>
            <a:solidFill>
              <a:srgbClr val="69281B"/>
            </a:solidFill>
            <a:ln>
              <a:noFill/>
            </a:ln>
          </p:spPr>
        </p:sp>
        <p:sp>
          <p:nvSpPr>
            <p:cNvPr id="68" name="TextBox 68"/>
            <p:cNvSpPr txBox="1"/>
            <p:nvPr/>
          </p:nvSpPr>
          <p:spPr>
            <a:xfrm>
              <a:off x="2546438" y="2084070"/>
              <a:ext cx="248902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90天行动计划（7-9月）：六项重点任务清单​</a:t>
              </a:r>
            </a:p>
          </p:txBody>
        </p:sp>
        <p:sp>
          <p:nvSpPr>
            <p:cNvPr id="69" name="Rectangle 69"/>
            <p:cNvSpPr/>
            <p:nvPr/>
          </p:nvSpPr>
          <p:spPr>
            <a:xfrm>
              <a:off x="304800" y="2247900"/>
              <a:ext cx="6972300" cy="209550"/>
            </a:xfrm>
            <a:prstGeom prst="rect">
              <a:avLst/>
            </a:prstGeom>
            <a:solidFill>
              <a:srgbClr val="EAF1FB"/>
            </a:solidFill>
            <a:ln>
              <a:noFill/>
            </a:ln>
          </p:spPr>
        </p:sp>
        <p:sp>
          <p:nvSpPr>
            <p:cNvPr id="70" name="TextBox 70"/>
            <p:cNvSpPr txBox="1"/>
            <p:nvPr/>
          </p:nvSpPr>
          <p:spPr>
            <a:xfrm>
              <a:off x="328181" y="2321957"/>
              <a:ext cx="181839"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序号</a:t>
              </a:r>
            </a:p>
          </p:txBody>
        </p:sp>
        <p:sp>
          <p:nvSpPr>
            <p:cNvPr id="71" name="TextBox 71"/>
            <p:cNvSpPr txBox="1"/>
            <p:nvPr/>
          </p:nvSpPr>
          <p:spPr>
            <a:xfrm>
              <a:off x="756374" y="23219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重点任务</a:t>
              </a:r>
            </a:p>
          </p:txBody>
        </p:sp>
        <p:sp>
          <p:nvSpPr>
            <p:cNvPr id="72" name="TextBox 72"/>
            <p:cNvSpPr txBox="1"/>
            <p:nvPr/>
          </p:nvSpPr>
          <p:spPr>
            <a:xfrm>
              <a:off x="1466202" y="2321957"/>
              <a:ext cx="267995"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优先级</a:t>
              </a:r>
            </a:p>
          </p:txBody>
        </p:sp>
        <p:sp>
          <p:nvSpPr>
            <p:cNvPr id="73" name="TextBox 73"/>
            <p:cNvSpPr txBox="1"/>
            <p:nvPr/>
          </p:nvSpPr>
          <p:spPr>
            <a:xfrm>
              <a:off x="2728049" y="23219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关键动作</a:t>
              </a:r>
            </a:p>
          </p:txBody>
        </p:sp>
        <p:sp>
          <p:nvSpPr>
            <p:cNvPr id="74" name="TextBox 74"/>
            <p:cNvSpPr txBox="1"/>
            <p:nvPr/>
          </p:nvSpPr>
          <p:spPr>
            <a:xfrm>
              <a:off x="4524430" y="2321957"/>
              <a:ext cx="761889"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量化目标（90天）​</a:t>
              </a:r>
            </a:p>
          </p:txBody>
        </p:sp>
        <p:sp>
          <p:nvSpPr>
            <p:cNvPr id="75" name="TextBox 75"/>
            <p:cNvSpPr txBox="1"/>
            <p:nvPr/>
          </p:nvSpPr>
          <p:spPr>
            <a:xfrm>
              <a:off x="6014174" y="23219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完成时限</a:t>
              </a:r>
            </a:p>
          </p:txBody>
        </p:sp>
        <p:sp>
          <p:nvSpPr>
            <p:cNvPr id="76" name="TextBox 76"/>
            <p:cNvSpPr txBox="1"/>
            <p:nvPr/>
          </p:nvSpPr>
          <p:spPr>
            <a:xfrm>
              <a:off x="6747599" y="2321957"/>
              <a:ext cx="354152" cy="126206"/>
            </a:xfrm>
            <a:prstGeom prst="rect">
              <a:avLst/>
            </a:prstGeom>
            <a:noFill/>
            <a:ln>
              <a:noFill/>
            </a:ln>
          </p:spPr>
          <p:txBody>
            <a:bodyPr wrap="none" lIns="0" tIns="0" rIns="0" bIns="0" anchor="t" anchorCtr="0">
              <a:spAutoFit/>
            </a:bodyPr>
            <a:lstStyle/>
            <a:p>
              <a:pPr algn="ctr"/>
              <a:r>
                <a:rPr lang="zh-CN" sz="640" b="1" dirty="0">
                  <a:solidFill>
                    <a:srgbClr val="69281B"/>
                  </a:solidFill>
                  <a:latin typeface="+mn-lt"/>
                  <a:ea typeface="+mn-ea"/>
                  <a:cs typeface="+mn-cs"/>
                </a:rPr>
                <a:t>牵头部门</a:t>
              </a:r>
            </a:p>
          </p:txBody>
        </p:sp>
        <p:sp>
          <p:nvSpPr>
            <p:cNvPr id="77" name="TextBox 77"/>
            <p:cNvSpPr txBox="1"/>
            <p:nvPr/>
          </p:nvSpPr>
          <p:spPr>
            <a:xfrm>
              <a:off x="366951" y="25315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1​</a:t>
              </a:r>
            </a:p>
          </p:txBody>
        </p:sp>
        <p:sp>
          <p:nvSpPr>
            <p:cNvPr id="78" name="TextBox 78"/>
            <p:cNvSpPr txBox="1"/>
            <p:nvPr/>
          </p:nvSpPr>
          <p:spPr>
            <a:xfrm>
              <a:off x="670217" y="2531507"/>
              <a:ext cx="526466"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重大项目攻坚</a:t>
              </a:r>
            </a:p>
          </p:txBody>
        </p:sp>
        <p:sp>
          <p:nvSpPr>
            <p:cNvPr id="79" name="Rectangle 79"/>
            <p:cNvSpPr/>
            <p:nvPr/>
          </p:nvSpPr>
          <p:spPr>
            <a:xfrm>
              <a:off x="1447800" y="2476500"/>
              <a:ext cx="304800" cy="152400"/>
            </a:xfrm>
            <a:prstGeom prst="roundRect">
              <a:avLst>
                <a:gd name="adj" fmla="val 12500"/>
              </a:avLst>
            </a:prstGeom>
            <a:solidFill>
              <a:srgbClr val="D0442C"/>
            </a:solidFill>
            <a:ln>
              <a:noFill/>
            </a:ln>
          </p:spPr>
        </p:sp>
        <p:sp>
          <p:nvSpPr>
            <p:cNvPr id="80" name="TextBox 80"/>
            <p:cNvSpPr txBox="1"/>
            <p:nvPr/>
          </p:nvSpPr>
          <p:spPr>
            <a:xfrm>
              <a:off x="1511651" y="2517934"/>
              <a:ext cx="177098"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P0​</a:t>
              </a:r>
            </a:p>
          </p:txBody>
        </p:sp>
        <p:sp>
          <p:nvSpPr>
            <p:cNvPr id="81" name="TextBox 81"/>
            <p:cNvSpPr txBox="1"/>
            <p:nvPr/>
          </p:nvSpPr>
          <p:spPr>
            <a:xfrm>
              <a:off x="1862138" y="2508599"/>
              <a:ext cx="1188085" cy="211455"/>
            </a:xfrm>
            <a:prstGeom prst="rect">
              <a:avLst/>
            </a:prstGeom>
            <a:noFill/>
            <a:ln>
              <a:noFill/>
            </a:ln>
          </p:spPr>
          <p:txBody>
            <a:bodyPr wrap="none" lIns="0" tIns="0" rIns="0" bIns="0" anchor="t" anchorCtr="0">
              <a:spAutoFit/>
            </a:bodyPr>
            <a:lstStyle/>
            <a:p>
              <a:pPr algn="l">
                <a:lnSpc>
                  <a:spcPts val="750"/>
                </a:lnSpc>
              </a:pPr>
              <a:r>
                <a:rPr lang="zh-CN" sz="580" dirty="0">
                  <a:solidFill>
                    <a:srgbClr val="70504A"/>
                  </a:solidFill>
                  <a:latin typeface="+mn-lt"/>
                  <a:ea typeface="+mn-ea"/>
                  <a:cs typeface="+mn-cs"/>
                </a:rPr>
                <a:t>锁定重点项目清单，推进签约落地；</a:t>
              </a:r>
              <a:br/>
              <a:r>
                <a:rPr lang="zh-CN" sz="580" dirty="0">
                  <a:solidFill>
                    <a:srgbClr val="70504A"/>
                  </a:solidFill>
                  <a:latin typeface="+mn-lt"/>
                  <a:ea typeface="+mn-ea"/>
                  <a:cs typeface="+mn-cs"/>
                </a:rPr>
                <a:t>强化审批联动与审批绿色通道</a:t>
              </a:r>
            </a:p>
          </p:txBody>
        </p:sp>
        <p:sp>
          <p:nvSpPr>
            <p:cNvPr id="82" name="TextBox 82"/>
            <p:cNvSpPr txBox="1"/>
            <p:nvPr/>
          </p:nvSpPr>
          <p:spPr>
            <a:xfrm>
              <a:off x="4071938" y="2505361"/>
              <a:ext cx="754012" cy="226695"/>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 xml:space="preserve">投放贷款 </a:t>
              </a:r>
              <a:r>
                <a:rPr lang="zh-CN" sz="620" b="1" dirty="0">
                  <a:solidFill>
                    <a:srgbClr val="D0442C"/>
                  </a:solidFill>
                  <a:latin typeface="+mn-lt"/>
                  <a:ea typeface="+mn-ea"/>
                  <a:cs typeface="+mn-cs"/>
                </a:rPr>
                <a:t>16亿元</a:t>
              </a:r>
              <a:r>
                <a:rPr lang="zh-CN" sz="620" dirty="0">
                  <a:solidFill>
                    <a:srgbClr val="70504A"/>
                  </a:solidFill>
                  <a:latin typeface="+mn-lt"/>
                  <a:ea typeface="+mn-ea"/>
                  <a:cs typeface="+mn-cs"/>
                </a:rPr>
                <a:t>​</a:t>
              </a:r>
              <a:br/>
              <a:r>
                <a:rPr lang="zh-CN" sz="620" dirty="0">
                  <a:solidFill>
                    <a:srgbClr val="70504A"/>
                  </a:solidFill>
                  <a:latin typeface="+mn-lt"/>
                  <a:ea typeface="+mn-ea"/>
                  <a:cs typeface="+mn-cs"/>
                </a:rPr>
                <a:t xml:space="preserve">落地项目不少于 </a:t>
              </a:r>
              <a:r>
                <a:rPr lang="zh-CN" sz="620" b="1" dirty="0">
                  <a:solidFill>
                    <a:srgbClr val="D0442C"/>
                  </a:solidFill>
                  <a:latin typeface="+mn-lt"/>
                  <a:ea typeface="+mn-ea"/>
                  <a:cs typeface="+mn-cs"/>
                </a:rPr>
                <a:t>8个​</a:t>
              </a:r>
            </a:p>
          </p:txBody>
        </p:sp>
        <p:sp>
          <p:nvSpPr>
            <p:cNvPr id="83" name="TextBox 83"/>
            <p:cNvSpPr txBox="1"/>
            <p:nvPr/>
          </p:nvSpPr>
          <p:spPr>
            <a:xfrm>
              <a:off x="5934008" y="2552986"/>
              <a:ext cx="514485"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2026/09/30​</a:t>
              </a:r>
            </a:p>
          </p:txBody>
        </p:sp>
        <p:sp>
          <p:nvSpPr>
            <p:cNvPr id="84" name="TextBox 84"/>
            <p:cNvSpPr txBox="1"/>
            <p:nvPr/>
          </p:nvSpPr>
          <p:spPr>
            <a:xfrm>
              <a:off x="6717982" y="2554605"/>
              <a:ext cx="413385" cy="119062"/>
            </a:xfrm>
            <a:prstGeom prst="rect">
              <a:avLst/>
            </a:prstGeom>
            <a:noFill/>
            <a:ln>
              <a:noFill/>
            </a:ln>
          </p:spPr>
          <p:txBody>
            <a:bodyPr wrap="none" lIns="0" tIns="0" rIns="0" bIns="0" anchor="t" anchorCtr="0">
              <a:spAutoFit/>
            </a:bodyPr>
            <a:lstStyle/>
            <a:p>
              <a:pPr algn="ctr"/>
              <a:r>
                <a:rPr lang="zh-CN" sz="600" dirty="0">
                  <a:solidFill>
                    <a:srgbClr val="5F3A33"/>
                  </a:solidFill>
                  <a:latin typeface="+mn-lt"/>
                  <a:ea typeface="+mn-ea"/>
                  <a:cs typeface="+mn-cs"/>
                </a:rPr>
                <a:t>公司金融部</a:t>
              </a:r>
            </a:p>
          </p:txBody>
        </p:sp>
        <p:sp>
          <p:nvSpPr>
            <p:cNvPr id="85" name="Line 85"/>
            <p:cNvSpPr/>
            <p:nvPr/>
          </p:nvSpPr>
          <p:spPr>
            <a:xfrm>
              <a:off x="304800" y="2705100"/>
              <a:ext cx="6972300" cy="9525"/>
            </a:xfrm>
            <a:custGeom>
              <a:avLst/>
              <a:gdLst/>
              <a:ahLst/>
              <a:cxnLst/>
              <a:rect l="l" t="t" r="r" b="b"/>
              <a:pathLst>
                <a:path w="6972300" h="9525">
                  <a:moveTo>
                    <a:pt x="0" y="0"/>
                  </a:moveTo>
                  <a:lnTo>
                    <a:pt x="6972300" y="0"/>
                  </a:lnTo>
                </a:path>
              </a:pathLst>
            </a:custGeom>
            <a:noFill/>
            <a:ln w="9525">
              <a:solidFill>
                <a:srgbClr val="EDF2FA"/>
              </a:solidFill>
            </a:ln>
          </p:spPr>
        </p:sp>
        <p:sp>
          <p:nvSpPr>
            <p:cNvPr id="86" name="TextBox 86"/>
            <p:cNvSpPr txBox="1"/>
            <p:nvPr/>
          </p:nvSpPr>
          <p:spPr>
            <a:xfrm>
              <a:off x="366951" y="27982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2​</a:t>
              </a:r>
            </a:p>
          </p:txBody>
        </p:sp>
        <p:sp>
          <p:nvSpPr>
            <p:cNvPr id="87" name="TextBox 87"/>
            <p:cNvSpPr txBox="1"/>
            <p:nvPr/>
          </p:nvSpPr>
          <p:spPr>
            <a:xfrm>
              <a:off x="670217" y="2798207"/>
              <a:ext cx="526466"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存款份额提升</a:t>
              </a:r>
            </a:p>
          </p:txBody>
        </p:sp>
        <p:sp>
          <p:nvSpPr>
            <p:cNvPr id="88" name="Rectangle 88"/>
            <p:cNvSpPr/>
            <p:nvPr/>
          </p:nvSpPr>
          <p:spPr>
            <a:xfrm>
              <a:off x="1447800" y="2743200"/>
              <a:ext cx="304800" cy="152400"/>
            </a:xfrm>
            <a:prstGeom prst="roundRect">
              <a:avLst>
                <a:gd name="adj" fmla="val 12500"/>
              </a:avLst>
            </a:prstGeom>
            <a:solidFill>
              <a:srgbClr val="D0442C"/>
            </a:solidFill>
            <a:ln>
              <a:noFill/>
            </a:ln>
          </p:spPr>
        </p:sp>
        <p:sp>
          <p:nvSpPr>
            <p:cNvPr id="89" name="TextBox 89"/>
            <p:cNvSpPr txBox="1"/>
            <p:nvPr/>
          </p:nvSpPr>
          <p:spPr>
            <a:xfrm>
              <a:off x="1511651" y="2784634"/>
              <a:ext cx="177098"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P0​</a:t>
              </a:r>
            </a:p>
          </p:txBody>
        </p:sp>
        <p:sp>
          <p:nvSpPr>
            <p:cNvPr id="90" name="TextBox 90"/>
            <p:cNvSpPr txBox="1"/>
            <p:nvPr/>
          </p:nvSpPr>
          <p:spPr>
            <a:xfrm>
              <a:off x="1862138" y="2775299"/>
              <a:ext cx="1335405" cy="211455"/>
            </a:xfrm>
            <a:prstGeom prst="rect">
              <a:avLst/>
            </a:prstGeom>
            <a:noFill/>
            <a:ln>
              <a:noFill/>
            </a:ln>
          </p:spPr>
          <p:txBody>
            <a:bodyPr wrap="none" lIns="0" tIns="0" rIns="0" bIns="0" anchor="t" anchorCtr="0">
              <a:spAutoFit/>
            </a:bodyPr>
            <a:lstStyle/>
            <a:p>
              <a:pPr algn="l">
                <a:lnSpc>
                  <a:spcPts val="750"/>
                </a:lnSpc>
              </a:pPr>
              <a:r>
                <a:rPr lang="zh-CN" sz="580" dirty="0">
                  <a:solidFill>
                    <a:srgbClr val="70504A"/>
                  </a:solidFill>
                  <a:latin typeface="+mn-lt"/>
                  <a:ea typeface="+mn-ea"/>
                  <a:cs typeface="+mn-cs"/>
                </a:rPr>
                <a:t>制定存款专项活动方案，深耕核心行业；</a:t>
              </a:r>
              <a:br/>
              <a:r>
                <a:rPr lang="zh-CN" sz="580" dirty="0">
                  <a:solidFill>
                    <a:srgbClr val="70504A"/>
                  </a:solidFill>
                  <a:latin typeface="+mn-lt"/>
                  <a:ea typeface="+mn-ea"/>
                  <a:cs typeface="+mn-cs"/>
                </a:rPr>
                <a:t>开展存款竞赛与增量激励</a:t>
              </a:r>
            </a:p>
          </p:txBody>
        </p:sp>
        <p:sp>
          <p:nvSpPr>
            <p:cNvPr id="91" name="TextBox 91"/>
            <p:cNvSpPr txBox="1"/>
            <p:nvPr/>
          </p:nvSpPr>
          <p:spPr>
            <a:xfrm>
              <a:off x="4071938" y="2772061"/>
              <a:ext cx="940232" cy="226695"/>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 xml:space="preserve">新增存款 </a:t>
              </a:r>
              <a:r>
                <a:rPr lang="zh-CN" sz="620" b="1" dirty="0">
                  <a:solidFill>
                    <a:srgbClr val="D0442C"/>
                  </a:solidFill>
                  <a:latin typeface="+mn-lt"/>
                  <a:ea typeface="+mn-ea"/>
                  <a:cs typeface="+mn-cs"/>
                </a:rPr>
                <a:t>15亿元</a:t>
              </a:r>
              <a:r>
                <a:rPr lang="zh-CN" sz="620" dirty="0">
                  <a:solidFill>
                    <a:srgbClr val="70504A"/>
                  </a:solidFill>
                  <a:latin typeface="+mn-lt"/>
                  <a:ea typeface="+mn-ea"/>
                  <a:cs typeface="+mn-cs"/>
                </a:rPr>
                <a:t>​</a:t>
              </a:r>
              <a:br/>
              <a:r>
                <a:rPr lang="zh-CN" sz="620" dirty="0">
                  <a:solidFill>
                    <a:srgbClr val="70504A"/>
                  </a:solidFill>
                  <a:latin typeface="+mn-lt"/>
                  <a:ea typeface="+mn-ea"/>
                  <a:cs typeface="+mn-cs"/>
                </a:rPr>
                <a:t xml:space="preserve">对公活期占比提升至 </a:t>
              </a:r>
              <a:r>
                <a:rPr lang="zh-CN" sz="620" b="1" dirty="0">
                  <a:solidFill>
                    <a:srgbClr val="D0442C"/>
                  </a:solidFill>
                  <a:latin typeface="+mn-lt"/>
                  <a:ea typeface="+mn-ea"/>
                  <a:cs typeface="+mn-cs"/>
                </a:rPr>
                <a:t>30%​</a:t>
              </a:r>
            </a:p>
          </p:txBody>
        </p:sp>
        <p:sp>
          <p:nvSpPr>
            <p:cNvPr id="92" name="TextBox 92"/>
            <p:cNvSpPr txBox="1"/>
            <p:nvPr/>
          </p:nvSpPr>
          <p:spPr>
            <a:xfrm>
              <a:off x="5934008" y="2819686"/>
              <a:ext cx="514485"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2026/09/30​</a:t>
              </a:r>
            </a:p>
          </p:txBody>
        </p:sp>
        <p:sp>
          <p:nvSpPr>
            <p:cNvPr id="93" name="TextBox 93"/>
            <p:cNvSpPr txBox="1"/>
            <p:nvPr/>
          </p:nvSpPr>
          <p:spPr>
            <a:xfrm>
              <a:off x="6729412" y="2821305"/>
              <a:ext cx="390525" cy="214312"/>
            </a:xfrm>
            <a:prstGeom prst="rect">
              <a:avLst/>
            </a:prstGeom>
            <a:noFill/>
            <a:ln>
              <a:noFill/>
            </a:ln>
          </p:spPr>
          <p:txBody>
            <a:bodyPr wrap="none" lIns="0" tIns="0" rIns="0" bIns="0" anchor="t" anchorCtr="0">
              <a:spAutoFit/>
            </a:bodyPr>
            <a:lstStyle/>
            <a:p>
              <a:pPr algn="ctr">
                <a:lnSpc>
                  <a:spcPts val="750"/>
                </a:lnSpc>
              </a:pPr>
              <a:r>
                <a:rPr lang="zh-CN" sz="600" dirty="0">
                  <a:solidFill>
                    <a:srgbClr val="5F3A33"/>
                  </a:solidFill>
                  <a:latin typeface="+mn-lt"/>
                  <a:ea typeface="+mn-ea"/>
                  <a:cs typeface="+mn-cs"/>
                </a:rPr>
                <a:t>公司金融部</a:t>
              </a:r>
              <a:br/>
              <a:r>
                <a:rPr lang="zh-CN" sz="600" dirty="0">
                  <a:solidFill>
                    <a:srgbClr val="5F3A33"/>
                  </a:solidFill>
                  <a:latin typeface="+mn-lt"/>
                  <a:ea typeface="+mn-ea"/>
                  <a:cs typeface="+mn-cs"/>
                </a:rPr>
                <a:t>+营业部</a:t>
              </a:r>
            </a:p>
          </p:txBody>
        </p:sp>
        <p:sp>
          <p:nvSpPr>
            <p:cNvPr id="94" name="Line 94"/>
            <p:cNvSpPr/>
            <p:nvPr/>
          </p:nvSpPr>
          <p:spPr>
            <a:xfrm>
              <a:off x="304800" y="2971800"/>
              <a:ext cx="6972300" cy="9525"/>
            </a:xfrm>
            <a:custGeom>
              <a:avLst/>
              <a:gdLst/>
              <a:ahLst/>
              <a:cxnLst/>
              <a:rect l="l" t="t" r="r" b="b"/>
              <a:pathLst>
                <a:path w="6972300" h="9525">
                  <a:moveTo>
                    <a:pt x="0" y="0"/>
                  </a:moveTo>
                  <a:lnTo>
                    <a:pt x="6972300" y="0"/>
                  </a:lnTo>
                </a:path>
              </a:pathLst>
            </a:custGeom>
            <a:noFill/>
            <a:ln w="9525">
              <a:solidFill>
                <a:srgbClr val="EDF2FA"/>
              </a:solidFill>
            </a:ln>
          </p:spPr>
        </p:sp>
        <p:sp>
          <p:nvSpPr>
            <p:cNvPr id="95" name="TextBox 95"/>
            <p:cNvSpPr txBox="1"/>
            <p:nvPr/>
          </p:nvSpPr>
          <p:spPr>
            <a:xfrm>
              <a:off x="366951" y="30649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3​</a:t>
              </a:r>
            </a:p>
          </p:txBody>
        </p:sp>
        <p:sp>
          <p:nvSpPr>
            <p:cNvPr id="96" name="TextBox 96"/>
            <p:cNvSpPr txBox="1"/>
            <p:nvPr/>
          </p:nvSpPr>
          <p:spPr>
            <a:xfrm>
              <a:off x="670217" y="3064907"/>
              <a:ext cx="526466"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信贷储备扩容</a:t>
              </a:r>
            </a:p>
          </p:txBody>
        </p:sp>
        <p:sp>
          <p:nvSpPr>
            <p:cNvPr id="97" name="Rectangle 97"/>
            <p:cNvSpPr/>
            <p:nvPr/>
          </p:nvSpPr>
          <p:spPr>
            <a:xfrm>
              <a:off x="1447800" y="3009900"/>
              <a:ext cx="304800" cy="152400"/>
            </a:xfrm>
            <a:prstGeom prst="roundRect">
              <a:avLst>
                <a:gd name="adj" fmla="val 12500"/>
              </a:avLst>
            </a:prstGeom>
            <a:solidFill>
              <a:srgbClr val="E82D0C"/>
            </a:solidFill>
            <a:ln>
              <a:noFill/>
            </a:ln>
          </p:spPr>
        </p:sp>
        <p:sp>
          <p:nvSpPr>
            <p:cNvPr id="98" name="TextBox 98"/>
            <p:cNvSpPr txBox="1"/>
            <p:nvPr/>
          </p:nvSpPr>
          <p:spPr>
            <a:xfrm>
              <a:off x="1511651" y="3051334"/>
              <a:ext cx="177098"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P1​</a:t>
              </a:r>
            </a:p>
          </p:txBody>
        </p:sp>
        <p:sp>
          <p:nvSpPr>
            <p:cNvPr id="99" name="TextBox 99"/>
            <p:cNvSpPr txBox="1"/>
            <p:nvPr/>
          </p:nvSpPr>
          <p:spPr>
            <a:xfrm>
              <a:off x="1862138" y="3041999"/>
              <a:ext cx="1261745" cy="211455"/>
            </a:xfrm>
            <a:prstGeom prst="rect">
              <a:avLst/>
            </a:prstGeom>
            <a:noFill/>
            <a:ln>
              <a:noFill/>
            </a:ln>
          </p:spPr>
          <p:txBody>
            <a:bodyPr wrap="none" lIns="0" tIns="0" rIns="0" bIns="0" anchor="t" anchorCtr="0">
              <a:spAutoFit/>
            </a:bodyPr>
            <a:lstStyle/>
            <a:p>
              <a:pPr algn="l">
                <a:lnSpc>
                  <a:spcPts val="750"/>
                </a:lnSpc>
              </a:pPr>
              <a:r>
                <a:rPr lang="zh-CN" sz="580" dirty="0">
                  <a:solidFill>
                    <a:srgbClr val="70504A"/>
                  </a:solidFill>
                  <a:latin typeface="+mn-lt"/>
                  <a:ea typeface="+mn-ea"/>
                  <a:cs typeface="+mn-cs"/>
                </a:rPr>
                <a:t>扩充项目储备库，动态更新项目台账；</a:t>
              </a:r>
              <a:br/>
              <a:r>
                <a:rPr lang="zh-CN" sz="580" dirty="0">
                  <a:solidFill>
                    <a:srgbClr val="70504A"/>
                  </a:solidFill>
                  <a:latin typeface="+mn-lt"/>
                  <a:ea typeface="+mn-ea"/>
                  <a:cs typeface="+mn-cs"/>
                </a:rPr>
                <a:t>强化银企对接，拓展供应链项目来源</a:t>
              </a:r>
            </a:p>
          </p:txBody>
        </p:sp>
        <p:sp>
          <p:nvSpPr>
            <p:cNvPr id="100" name="TextBox 100"/>
            <p:cNvSpPr txBox="1"/>
            <p:nvPr/>
          </p:nvSpPr>
          <p:spPr>
            <a:xfrm>
              <a:off x="4071938" y="3038761"/>
              <a:ext cx="998106" cy="226695"/>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 xml:space="preserve">新增授信/储备项目 </a:t>
              </a:r>
              <a:r>
                <a:rPr lang="zh-CN" sz="620" b="1" dirty="0">
                  <a:solidFill>
                    <a:srgbClr val="69281B"/>
                  </a:solidFill>
                  <a:latin typeface="+mn-lt"/>
                  <a:ea typeface="+mn-ea"/>
                  <a:cs typeface="+mn-cs"/>
                </a:rPr>
                <a:t>25亿元</a:t>
              </a:r>
              <a:r>
                <a:rPr lang="zh-CN" sz="620" dirty="0">
                  <a:solidFill>
                    <a:srgbClr val="70504A"/>
                  </a:solidFill>
                  <a:latin typeface="+mn-lt"/>
                  <a:ea typeface="+mn-ea"/>
                  <a:cs typeface="+mn-cs"/>
                </a:rPr>
                <a:t>​</a:t>
              </a:r>
              <a:br/>
              <a:r>
                <a:rPr lang="zh-CN" sz="620" dirty="0">
                  <a:solidFill>
                    <a:srgbClr val="70504A"/>
                  </a:solidFill>
                  <a:latin typeface="+mn-lt"/>
                  <a:ea typeface="+mn-ea"/>
                  <a:cs typeface="+mn-cs"/>
                </a:rPr>
                <a:t xml:space="preserve">储备项目不少于 </a:t>
              </a:r>
              <a:r>
                <a:rPr lang="zh-CN" sz="620" b="1" dirty="0">
                  <a:solidFill>
                    <a:srgbClr val="69281B"/>
                  </a:solidFill>
                  <a:latin typeface="+mn-lt"/>
                  <a:ea typeface="+mn-ea"/>
                  <a:cs typeface="+mn-cs"/>
                </a:rPr>
                <a:t>15个​</a:t>
              </a:r>
            </a:p>
          </p:txBody>
        </p:sp>
        <p:sp>
          <p:nvSpPr>
            <p:cNvPr id="101" name="TextBox 101"/>
            <p:cNvSpPr txBox="1"/>
            <p:nvPr/>
          </p:nvSpPr>
          <p:spPr>
            <a:xfrm>
              <a:off x="5934008" y="3086386"/>
              <a:ext cx="514485"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2026/09/30​</a:t>
              </a:r>
            </a:p>
          </p:txBody>
        </p:sp>
        <p:sp>
          <p:nvSpPr>
            <p:cNvPr id="102" name="TextBox 102"/>
            <p:cNvSpPr txBox="1"/>
            <p:nvPr/>
          </p:nvSpPr>
          <p:spPr>
            <a:xfrm>
              <a:off x="6708458" y="3088005"/>
              <a:ext cx="432435" cy="214312"/>
            </a:xfrm>
            <a:prstGeom prst="rect">
              <a:avLst/>
            </a:prstGeom>
            <a:noFill/>
            <a:ln>
              <a:noFill/>
            </a:ln>
          </p:spPr>
          <p:txBody>
            <a:bodyPr wrap="none" lIns="0" tIns="0" rIns="0" bIns="0" anchor="t" anchorCtr="0">
              <a:spAutoFit/>
            </a:bodyPr>
            <a:lstStyle/>
            <a:p>
              <a:pPr algn="ctr">
                <a:lnSpc>
                  <a:spcPts val="750"/>
                </a:lnSpc>
              </a:pPr>
              <a:r>
                <a:rPr lang="zh-CN" sz="600" dirty="0">
                  <a:solidFill>
                    <a:srgbClr val="5F3A33"/>
                  </a:solidFill>
                  <a:latin typeface="+mn-lt"/>
                  <a:ea typeface="+mn-ea"/>
                  <a:cs typeface="+mn-cs"/>
                </a:rPr>
                <a:t>公司金融部</a:t>
              </a:r>
              <a:br/>
              <a:r>
                <a:rPr lang="zh-CN" sz="600" dirty="0">
                  <a:solidFill>
                    <a:srgbClr val="5F3A33"/>
                  </a:solidFill>
                  <a:latin typeface="+mn-lt"/>
                  <a:ea typeface="+mn-ea"/>
                  <a:cs typeface="+mn-cs"/>
                </a:rPr>
                <a:t>+授信审批部</a:t>
              </a:r>
            </a:p>
          </p:txBody>
        </p:sp>
        <p:sp>
          <p:nvSpPr>
            <p:cNvPr id="103" name="Line 103"/>
            <p:cNvSpPr/>
            <p:nvPr/>
          </p:nvSpPr>
          <p:spPr>
            <a:xfrm>
              <a:off x="304800" y="3238500"/>
              <a:ext cx="6972300" cy="9525"/>
            </a:xfrm>
            <a:custGeom>
              <a:avLst/>
              <a:gdLst/>
              <a:ahLst/>
              <a:cxnLst/>
              <a:rect l="l" t="t" r="r" b="b"/>
              <a:pathLst>
                <a:path w="6972300" h="9525">
                  <a:moveTo>
                    <a:pt x="0" y="0"/>
                  </a:moveTo>
                  <a:lnTo>
                    <a:pt x="6972300" y="0"/>
                  </a:lnTo>
                </a:path>
              </a:pathLst>
            </a:custGeom>
            <a:noFill/>
            <a:ln w="9525">
              <a:solidFill>
                <a:srgbClr val="EDF2FA"/>
              </a:solidFill>
            </a:ln>
          </p:spPr>
        </p:sp>
        <p:sp>
          <p:nvSpPr>
            <p:cNvPr id="104" name="TextBox 104"/>
            <p:cNvSpPr txBox="1"/>
            <p:nvPr/>
          </p:nvSpPr>
          <p:spPr>
            <a:xfrm>
              <a:off x="366951" y="33316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4​</a:t>
              </a:r>
            </a:p>
          </p:txBody>
        </p:sp>
        <p:sp>
          <p:nvSpPr>
            <p:cNvPr id="105" name="TextBox 105"/>
            <p:cNvSpPr txBox="1"/>
            <p:nvPr/>
          </p:nvSpPr>
          <p:spPr>
            <a:xfrm>
              <a:off x="670217" y="3331607"/>
              <a:ext cx="526466"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综合金融增收</a:t>
              </a:r>
            </a:p>
          </p:txBody>
        </p:sp>
        <p:sp>
          <p:nvSpPr>
            <p:cNvPr id="106" name="Rectangle 106"/>
            <p:cNvSpPr/>
            <p:nvPr/>
          </p:nvSpPr>
          <p:spPr>
            <a:xfrm>
              <a:off x="1447800" y="3276600"/>
              <a:ext cx="304800" cy="152400"/>
            </a:xfrm>
            <a:prstGeom prst="roundRect">
              <a:avLst>
                <a:gd name="adj" fmla="val 12500"/>
              </a:avLst>
            </a:prstGeom>
            <a:solidFill>
              <a:srgbClr val="E82D0C"/>
            </a:solidFill>
            <a:ln>
              <a:noFill/>
            </a:ln>
          </p:spPr>
        </p:sp>
        <p:sp>
          <p:nvSpPr>
            <p:cNvPr id="107" name="TextBox 107"/>
            <p:cNvSpPr txBox="1"/>
            <p:nvPr/>
          </p:nvSpPr>
          <p:spPr>
            <a:xfrm>
              <a:off x="1511651" y="3318034"/>
              <a:ext cx="177098"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P1​</a:t>
              </a:r>
            </a:p>
          </p:txBody>
        </p:sp>
        <p:sp>
          <p:nvSpPr>
            <p:cNvPr id="108" name="TextBox 108"/>
            <p:cNvSpPr txBox="1"/>
            <p:nvPr/>
          </p:nvSpPr>
          <p:spPr>
            <a:xfrm>
              <a:off x="1862138" y="3308699"/>
              <a:ext cx="1556385" cy="211455"/>
            </a:xfrm>
            <a:prstGeom prst="rect">
              <a:avLst/>
            </a:prstGeom>
            <a:noFill/>
            <a:ln>
              <a:noFill/>
            </a:ln>
          </p:spPr>
          <p:txBody>
            <a:bodyPr wrap="none" lIns="0" tIns="0" rIns="0" bIns="0" anchor="t" anchorCtr="0">
              <a:spAutoFit/>
            </a:bodyPr>
            <a:lstStyle/>
            <a:p>
              <a:pPr algn="l">
                <a:lnSpc>
                  <a:spcPts val="750"/>
                </a:lnSpc>
              </a:pPr>
              <a:r>
                <a:rPr lang="zh-CN" sz="580" dirty="0">
                  <a:solidFill>
                    <a:srgbClr val="70504A"/>
                  </a:solidFill>
                  <a:latin typeface="+mn-lt"/>
                  <a:ea typeface="+mn-ea"/>
                  <a:cs typeface="+mn-cs"/>
                </a:rPr>
                <a:t>深化核心客户综合服务方案；</a:t>
              </a:r>
              <a:br/>
              <a:r>
                <a:rPr lang="zh-CN" sz="580" dirty="0">
                  <a:solidFill>
                    <a:srgbClr val="70504A"/>
                  </a:solidFill>
                  <a:latin typeface="+mn-lt"/>
                  <a:ea typeface="+mn-ea"/>
                  <a:cs typeface="+mn-cs"/>
                </a:rPr>
                <a:t>提升结算、票据、供应链、代发与投行等渗透率</a:t>
              </a:r>
            </a:p>
          </p:txBody>
        </p:sp>
        <p:sp>
          <p:nvSpPr>
            <p:cNvPr id="109" name="TextBox 109"/>
            <p:cNvSpPr txBox="1"/>
            <p:nvPr/>
          </p:nvSpPr>
          <p:spPr>
            <a:xfrm>
              <a:off x="4071938" y="3305461"/>
              <a:ext cx="952437" cy="226695"/>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 xml:space="preserve">中收 </a:t>
              </a:r>
              <a:r>
                <a:rPr lang="zh-CN" sz="620" b="1" dirty="0">
                  <a:solidFill>
                    <a:srgbClr val="69281B"/>
                  </a:solidFill>
                  <a:latin typeface="+mn-lt"/>
                  <a:ea typeface="+mn-ea"/>
                  <a:cs typeface="+mn-cs"/>
                </a:rPr>
                <a:t>1.05亿元</a:t>
              </a:r>
              <a:r>
                <a:rPr lang="zh-CN" sz="620" dirty="0">
                  <a:solidFill>
                    <a:srgbClr val="70504A"/>
                  </a:solidFill>
                  <a:latin typeface="+mn-lt"/>
                  <a:ea typeface="+mn-ea"/>
                  <a:cs typeface="+mn-cs"/>
                </a:rPr>
                <a:t>​</a:t>
              </a:r>
              <a:br/>
              <a:r>
                <a:rPr lang="zh-CN" sz="620" dirty="0">
                  <a:solidFill>
                    <a:srgbClr val="70504A"/>
                  </a:solidFill>
                  <a:latin typeface="+mn-lt"/>
                  <a:ea typeface="+mn-ea"/>
                  <a:cs typeface="+mn-cs"/>
                </a:rPr>
                <a:t xml:space="preserve">中收贡献度提升至 </a:t>
              </a:r>
              <a:r>
                <a:rPr lang="zh-CN" sz="620" b="1" dirty="0">
                  <a:solidFill>
                    <a:srgbClr val="69281B"/>
                  </a:solidFill>
                  <a:latin typeface="+mn-lt"/>
                  <a:ea typeface="+mn-ea"/>
                  <a:cs typeface="+mn-cs"/>
                </a:rPr>
                <a:t>1.20%​</a:t>
              </a:r>
            </a:p>
          </p:txBody>
        </p:sp>
        <p:sp>
          <p:nvSpPr>
            <p:cNvPr id="110" name="TextBox 110"/>
            <p:cNvSpPr txBox="1"/>
            <p:nvPr/>
          </p:nvSpPr>
          <p:spPr>
            <a:xfrm>
              <a:off x="5934008" y="3353086"/>
              <a:ext cx="514485"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2026/09/30​</a:t>
              </a:r>
            </a:p>
          </p:txBody>
        </p:sp>
        <p:sp>
          <p:nvSpPr>
            <p:cNvPr id="111" name="TextBox 111"/>
            <p:cNvSpPr txBox="1"/>
            <p:nvPr/>
          </p:nvSpPr>
          <p:spPr>
            <a:xfrm>
              <a:off x="6708458" y="3354705"/>
              <a:ext cx="432435" cy="214312"/>
            </a:xfrm>
            <a:prstGeom prst="rect">
              <a:avLst/>
            </a:prstGeom>
            <a:noFill/>
            <a:ln>
              <a:noFill/>
            </a:ln>
          </p:spPr>
          <p:txBody>
            <a:bodyPr wrap="none" lIns="0" tIns="0" rIns="0" bIns="0" anchor="t" anchorCtr="0">
              <a:spAutoFit/>
            </a:bodyPr>
            <a:lstStyle/>
            <a:p>
              <a:pPr algn="ctr">
                <a:lnSpc>
                  <a:spcPts val="750"/>
                </a:lnSpc>
              </a:pPr>
              <a:r>
                <a:rPr lang="zh-CN" sz="600" dirty="0">
                  <a:solidFill>
                    <a:srgbClr val="5F3A33"/>
                  </a:solidFill>
                  <a:latin typeface="+mn-lt"/>
                  <a:ea typeface="+mn-ea"/>
                  <a:cs typeface="+mn-cs"/>
                </a:rPr>
                <a:t>公司金融部</a:t>
              </a:r>
              <a:br/>
              <a:r>
                <a:rPr lang="zh-CN" sz="600" dirty="0">
                  <a:solidFill>
                    <a:srgbClr val="5F3A33"/>
                  </a:solidFill>
                  <a:latin typeface="+mn-lt"/>
                  <a:ea typeface="+mn-ea"/>
                  <a:cs typeface="+mn-cs"/>
                </a:rPr>
                <a:t>+交易银行部</a:t>
              </a:r>
            </a:p>
          </p:txBody>
        </p:sp>
        <p:sp>
          <p:nvSpPr>
            <p:cNvPr id="112" name="Line 112"/>
            <p:cNvSpPr/>
            <p:nvPr/>
          </p:nvSpPr>
          <p:spPr>
            <a:xfrm>
              <a:off x="304800" y="3505200"/>
              <a:ext cx="6972300" cy="9525"/>
            </a:xfrm>
            <a:custGeom>
              <a:avLst/>
              <a:gdLst/>
              <a:ahLst/>
              <a:cxnLst/>
              <a:rect l="l" t="t" r="r" b="b"/>
              <a:pathLst>
                <a:path w="6972300" h="9525">
                  <a:moveTo>
                    <a:pt x="0" y="0"/>
                  </a:moveTo>
                  <a:lnTo>
                    <a:pt x="6972300" y="0"/>
                  </a:lnTo>
                </a:path>
              </a:pathLst>
            </a:custGeom>
            <a:noFill/>
            <a:ln w="9525">
              <a:solidFill>
                <a:srgbClr val="EDF2FA"/>
              </a:solidFill>
            </a:ln>
          </p:spPr>
        </p:sp>
        <p:sp>
          <p:nvSpPr>
            <p:cNvPr id="113" name="TextBox 113"/>
            <p:cNvSpPr txBox="1"/>
            <p:nvPr/>
          </p:nvSpPr>
          <p:spPr>
            <a:xfrm>
              <a:off x="366951" y="35983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5​</a:t>
              </a:r>
            </a:p>
          </p:txBody>
        </p:sp>
        <p:sp>
          <p:nvSpPr>
            <p:cNvPr id="114" name="TextBox 114"/>
            <p:cNvSpPr txBox="1"/>
            <p:nvPr/>
          </p:nvSpPr>
          <p:spPr>
            <a:xfrm>
              <a:off x="670217" y="3598307"/>
              <a:ext cx="526466"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风险前置管理</a:t>
              </a:r>
            </a:p>
          </p:txBody>
        </p:sp>
        <p:sp>
          <p:nvSpPr>
            <p:cNvPr id="115" name="Rectangle 115"/>
            <p:cNvSpPr/>
            <p:nvPr/>
          </p:nvSpPr>
          <p:spPr>
            <a:xfrm>
              <a:off x="1447800" y="3543300"/>
              <a:ext cx="304800" cy="152400"/>
            </a:xfrm>
            <a:prstGeom prst="roundRect">
              <a:avLst>
                <a:gd name="adj" fmla="val 12500"/>
              </a:avLst>
            </a:prstGeom>
            <a:solidFill>
              <a:srgbClr val="D0442C"/>
            </a:solidFill>
            <a:ln>
              <a:noFill/>
            </a:ln>
          </p:spPr>
        </p:sp>
        <p:sp>
          <p:nvSpPr>
            <p:cNvPr id="116" name="TextBox 116"/>
            <p:cNvSpPr txBox="1"/>
            <p:nvPr/>
          </p:nvSpPr>
          <p:spPr>
            <a:xfrm>
              <a:off x="1511651" y="3584734"/>
              <a:ext cx="177098"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P0​</a:t>
              </a:r>
            </a:p>
          </p:txBody>
        </p:sp>
        <p:sp>
          <p:nvSpPr>
            <p:cNvPr id="117" name="TextBox 117"/>
            <p:cNvSpPr txBox="1"/>
            <p:nvPr/>
          </p:nvSpPr>
          <p:spPr>
            <a:xfrm>
              <a:off x="1862138" y="3575399"/>
              <a:ext cx="1188085" cy="211455"/>
            </a:xfrm>
            <a:prstGeom prst="rect">
              <a:avLst/>
            </a:prstGeom>
            <a:noFill/>
            <a:ln>
              <a:noFill/>
            </a:ln>
          </p:spPr>
          <p:txBody>
            <a:bodyPr wrap="none" lIns="0" tIns="0" rIns="0" bIns="0" anchor="t" anchorCtr="0">
              <a:spAutoFit/>
            </a:bodyPr>
            <a:lstStyle/>
            <a:p>
              <a:pPr algn="l">
                <a:lnSpc>
                  <a:spcPts val="750"/>
                </a:lnSpc>
              </a:pPr>
              <a:r>
                <a:rPr lang="zh-CN" sz="580" dirty="0">
                  <a:solidFill>
                    <a:srgbClr val="70504A"/>
                  </a:solidFill>
                  <a:latin typeface="+mn-lt"/>
                  <a:ea typeface="+mn-ea"/>
                  <a:cs typeface="+mn-cs"/>
                </a:rPr>
                <a:t>完善行业客户风险画像与预警模型；</a:t>
              </a:r>
              <a:br/>
              <a:r>
                <a:rPr lang="zh-CN" sz="580" dirty="0">
                  <a:solidFill>
                    <a:srgbClr val="70504A"/>
                  </a:solidFill>
                  <a:latin typeface="+mn-lt"/>
                  <a:ea typeface="+mn-ea"/>
                  <a:cs typeface="+mn-cs"/>
                </a:rPr>
                <a:t>加强授信管理与迁移排查</a:t>
              </a:r>
            </a:p>
          </p:txBody>
        </p:sp>
        <p:sp>
          <p:nvSpPr>
            <p:cNvPr id="118" name="TextBox 118"/>
            <p:cNvSpPr txBox="1"/>
            <p:nvPr/>
          </p:nvSpPr>
          <p:spPr>
            <a:xfrm>
              <a:off x="4071938" y="3572161"/>
              <a:ext cx="906964" cy="226695"/>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 xml:space="preserve">风险名单覆盖 </a:t>
              </a:r>
              <a:r>
                <a:rPr lang="zh-CN" sz="620" b="1" dirty="0">
                  <a:solidFill>
                    <a:srgbClr val="D0442C"/>
                  </a:solidFill>
                  <a:latin typeface="+mn-lt"/>
                  <a:ea typeface="+mn-ea"/>
                  <a:cs typeface="+mn-cs"/>
                </a:rPr>
                <a:t>100%</a:t>
              </a:r>
              <a:r>
                <a:rPr lang="zh-CN" sz="620" dirty="0">
                  <a:solidFill>
                    <a:srgbClr val="70504A"/>
                  </a:solidFill>
                  <a:latin typeface="+mn-lt"/>
                  <a:ea typeface="+mn-ea"/>
                  <a:cs typeface="+mn-cs"/>
                </a:rPr>
                <a:t>​</a:t>
              </a:r>
              <a:br/>
              <a:r>
                <a:rPr lang="zh-CN" sz="620" dirty="0">
                  <a:solidFill>
                    <a:srgbClr val="70504A"/>
                  </a:solidFill>
                  <a:latin typeface="+mn-lt"/>
                  <a:ea typeface="+mn-ea"/>
                  <a:cs typeface="+mn-cs"/>
                </a:rPr>
                <a:t xml:space="preserve">高风险贷款清降率 </a:t>
              </a:r>
              <a:r>
                <a:rPr lang="zh-CN" sz="620" b="1" dirty="0">
                  <a:solidFill>
                    <a:srgbClr val="D0442C"/>
                  </a:solidFill>
                  <a:latin typeface="+mn-lt"/>
                  <a:ea typeface="+mn-ea"/>
                  <a:cs typeface="+mn-cs"/>
                </a:rPr>
                <a:t>100%​</a:t>
              </a:r>
            </a:p>
          </p:txBody>
        </p:sp>
        <p:sp>
          <p:nvSpPr>
            <p:cNvPr id="119" name="TextBox 119"/>
            <p:cNvSpPr txBox="1"/>
            <p:nvPr/>
          </p:nvSpPr>
          <p:spPr>
            <a:xfrm>
              <a:off x="5934008" y="3619786"/>
              <a:ext cx="514485"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2026/09/30​</a:t>
              </a:r>
            </a:p>
          </p:txBody>
        </p:sp>
        <p:sp>
          <p:nvSpPr>
            <p:cNvPr id="120" name="TextBox 120"/>
            <p:cNvSpPr txBox="1"/>
            <p:nvPr/>
          </p:nvSpPr>
          <p:spPr>
            <a:xfrm>
              <a:off x="6717982" y="3621405"/>
              <a:ext cx="413385" cy="119062"/>
            </a:xfrm>
            <a:prstGeom prst="rect">
              <a:avLst/>
            </a:prstGeom>
            <a:noFill/>
            <a:ln>
              <a:noFill/>
            </a:ln>
          </p:spPr>
          <p:txBody>
            <a:bodyPr wrap="none" lIns="0" tIns="0" rIns="0" bIns="0" anchor="t" anchorCtr="0">
              <a:spAutoFit/>
            </a:bodyPr>
            <a:lstStyle/>
            <a:p>
              <a:pPr algn="ctr"/>
              <a:r>
                <a:rPr lang="zh-CN" sz="600" dirty="0">
                  <a:solidFill>
                    <a:srgbClr val="5F3A33"/>
                  </a:solidFill>
                  <a:latin typeface="+mn-lt"/>
                  <a:ea typeface="+mn-ea"/>
                  <a:cs typeface="+mn-cs"/>
                </a:rPr>
                <a:t>风险管理部</a:t>
              </a:r>
            </a:p>
          </p:txBody>
        </p:sp>
        <p:sp>
          <p:nvSpPr>
            <p:cNvPr id="121" name="Line 121"/>
            <p:cNvSpPr/>
            <p:nvPr/>
          </p:nvSpPr>
          <p:spPr>
            <a:xfrm>
              <a:off x="304800" y="3771900"/>
              <a:ext cx="6972300" cy="9525"/>
            </a:xfrm>
            <a:custGeom>
              <a:avLst/>
              <a:gdLst/>
              <a:ahLst/>
              <a:cxnLst/>
              <a:rect l="l" t="t" r="r" b="b"/>
              <a:pathLst>
                <a:path w="6972300" h="9525">
                  <a:moveTo>
                    <a:pt x="0" y="0"/>
                  </a:moveTo>
                  <a:lnTo>
                    <a:pt x="6972300" y="0"/>
                  </a:lnTo>
                </a:path>
              </a:pathLst>
            </a:custGeom>
            <a:noFill/>
            <a:ln w="9525">
              <a:solidFill>
                <a:srgbClr val="EDF2FA"/>
              </a:solidFill>
            </a:ln>
          </p:spPr>
        </p:sp>
        <p:sp>
          <p:nvSpPr>
            <p:cNvPr id="122" name="TextBox 122"/>
            <p:cNvSpPr txBox="1"/>
            <p:nvPr/>
          </p:nvSpPr>
          <p:spPr>
            <a:xfrm>
              <a:off x="366951" y="3865007"/>
              <a:ext cx="104297" cy="126206"/>
            </a:xfrm>
            <a:prstGeom prst="rect">
              <a:avLst/>
            </a:prstGeom>
            <a:noFill/>
            <a:ln>
              <a:noFill/>
            </a:ln>
          </p:spPr>
          <p:txBody>
            <a:bodyPr wrap="none" lIns="0" tIns="0" rIns="0" bIns="0" anchor="t" anchorCtr="0">
              <a:spAutoFit/>
            </a:bodyPr>
            <a:lstStyle/>
            <a:p>
              <a:pPr algn="ctr"/>
              <a:r>
                <a:rPr lang="zh-CN" sz="640" dirty="0">
                  <a:solidFill>
                    <a:srgbClr val="987F7A"/>
                  </a:solidFill>
                  <a:latin typeface="+mn-lt"/>
                  <a:ea typeface="+mn-ea"/>
                  <a:cs typeface="+mn-cs"/>
                </a:rPr>
                <a:t>6​</a:t>
              </a:r>
            </a:p>
          </p:txBody>
        </p:sp>
        <p:sp>
          <p:nvSpPr>
            <p:cNvPr id="123" name="TextBox 123"/>
            <p:cNvSpPr txBox="1"/>
            <p:nvPr/>
          </p:nvSpPr>
          <p:spPr>
            <a:xfrm>
              <a:off x="584060" y="3865007"/>
              <a:ext cx="698779" cy="126206"/>
            </a:xfrm>
            <a:prstGeom prst="rect">
              <a:avLst/>
            </a:prstGeom>
            <a:noFill/>
            <a:ln>
              <a:noFill/>
            </a:ln>
          </p:spPr>
          <p:txBody>
            <a:bodyPr wrap="none" lIns="0" tIns="0" rIns="0" bIns="0" anchor="t" anchorCtr="0">
              <a:spAutoFit/>
            </a:bodyPr>
            <a:lstStyle/>
            <a:p>
              <a:pPr algn="ctr"/>
              <a:r>
                <a:rPr lang="zh-CN" sz="640" b="1" dirty="0">
                  <a:solidFill>
                    <a:srgbClr val="5F3A33"/>
                  </a:solidFill>
                  <a:latin typeface="+mn-lt"/>
                  <a:ea typeface="+mn-ea"/>
                  <a:cs typeface="+mn-cs"/>
                </a:rPr>
                <a:t>数字化与队伍建设</a:t>
              </a:r>
            </a:p>
          </p:txBody>
        </p:sp>
        <p:sp>
          <p:nvSpPr>
            <p:cNvPr id="124" name="Rectangle 124"/>
            <p:cNvSpPr/>
            <p:nvPr/>
          </p:nvSpPr>
          <p:spPr>
            <a:xfrm>
              <a:off x="1447800" y="3810000"/>
              <a:ext cx="304800" cy="152400"/>
            </a:xfrm>
            <a:prstGeom prst="roundRect">
              <a:avLst>
                <a:gd name="adj" fmla="val 12500"/>
              </a:avLst>
            </a:prstGeom>
            <a:solidFill>
              <a:srgbClr val="F25337"/>
            </a:solidFill>
            <a:ln>
              <a:noFill/>
            </a:ln>
          </p:spPr>
        </p:sp>
        <p:sp>
          <p:nvSpPr>
            <p:cNvPr id="125" name="TextBox 125"/>
            <p:cNvSpPr txBox="1"/>
            <p:nvPr/>
          </p:nvSpPr>
          <p:spPr>
            <a:xfrm>
              <a:off x="1511651" y="3851434"/>
              <a:ext cx="177098" cy="133350"/>
            </a:xfrm>
            <a:prstGeom prst="rect">
              <a:avLst/>
            </a:prstGeom>
            <a:noFill/>
            <a:ln>
              <a:noFill/>
            </a:ln>
          </p:spPr>
          <p:txBody>
            <a:bodyPr wrap="none" lIns="0" tIns="0" rIns="0" bIns="0" anchor="t" anchorCtr="0">
              <a:spAutoFit/>
            </a:bodyPr>
            <a:lstStyle/>
            <a:p>
              <a:pPr algn="ctr"/>
              <a:r>
                <a:rPr lang="en-US" sz="680" b="1" dirty="0">
                  <a:solidFill>
                    <a:srgbClr val="5F3A33"/>
                  </a:solidFill>
                  <a:latin typeface="+mn-lt"/>
                  <a:ea typeface="+mn-ea"/>
                  <a:cs typeface="+mn-cs"/>
                </a:rPr>
                <a:t>P2​</a:t>
              </a:r>
            </a:p>
          </p:txBody>
        </p:sp>
        <p:sp>
          <p:nvSpPr>
            <p:cNvPr id="126" name="TextBox 126"/>
            <p:cNvSpPr txBox="1"/>
            <p:nvPr/>
          </p:nvSpPr>
          <p:spPr>
            <a:xfrm>
              <a:off x="1862138" y="3842099"/>
              <a:ext cx="1217549" cy="211455"/>
            </a:xfrm>
            <a:prstGeom prst="rect">
              <a:avLst/>
            </a:prstGeom>
            <a:noFill/>
            <a:ln>
              <a:noFill/>
            </a:ln>
          </p:spPr>
          <p:txBody>
            <a:bodyPr wrap="none" lIns="0" tIns="0" rIns="0" bIns="0" anchor="t" anchorCtr="0">
              <a:spAutoFit/>
            </a:bodyPr>
            <a:lstStyle/>
            <a:p>
              <a:pPr algn="l">
                <a:lnSpc>
                  <a:spcPts val="750"/>
                </a:lnSpc>
              </a:pPr>
              <a:r>
                <a:rPr lang="zh-CN" sz="580" dirty="0">
                  <a:solidFill>
                    <a:srgbClr val="70504A"/>
                  </a:solidFill>
                  <a:latin typeface="+mn-lt"/>
                  <a:ea typeface="+mn-ea"/>
                  <a:cs typeface="+mn-cs"/>
                </a:rPr>
                <a:t>提升CRM系统应用深度与数据质量；​</a:t>
              </a:r>
              <a:br/>
              <a:r>
                <a:rPr lang="zh-CN" sz="580" dirty="0">
                  <a:solidFill>
                    <a:srgbClr val="70504A"/>
                  </a:solidFill>
                  <a:latin typeface="+mn-lt"/>
                  <a:ea typeface="+mn-ea"/>
                  <a:cs typeface="+mn-cs"/>
                </a:rPr>
                <a:t>强化队伍培训与专业能力提升</a:t>
              </a:r>
            </a:p>
          </p:txBody>
        </p:sp>
        <p:sp>
          <p:nvSpPr>
            <p:cNvPr id="127" name="TextBox 127"/>
            <p:cNvSpPr txBox="1"/>
            <p:nvPr/>
          </p:nvSpPr>
          <p:spPr>
            <a:xfrm>
              <a:off x="4071938" y="3838861"/>
              <a:ext cx="754012" cy="226695"/>
            </a:xfrm>
            <a:prstGeom prst="rect">
              <a:avLst/>
            </a:prstGeom>
            <a:noFill/>
            <a:ln>
              <a:noFill/>
            </a:ln>
          </p:spPr>
          <p:txBody>
            <a:bodyPr wrap="none" lIns="0" tIns="0" rIns="0" bIns="0" anchor="t" anchorCtr="0">
              <a:spAutoFit/>
            </a:bodyPr>
            <a:lstStyle/>
            <a:p>
              <a:pPr algn="l">
                <a:lnSpc>
                  <a:spcPts val="825"/>
                </a:lnSpc>
              </a:pPr>
              <a:r>
                <a:rPr lang="zh-CN" sz="620" dirty="0">
                  <a:solidFill>
                    <a:srgbClr val="70504A"/>
                  </a:solidFill>
                  <a:latin typeface="+mn-lt"/>
                  <a:ea typeface="+mn-ea"/>
                  <a:cs typeface="+mn-cs"/>
                </a:rPr>
                <a:t xml:space="preserve">CRM完整率 </a:t>
              </a:r>
              <a:r>
                <a:rPr lang="zh-CN" sz="620" b="1" dirty="0">
                  <a:solidFill>
                    <a:srgbClr val="69281B"/>
                  </a:solidFill>
                  <a:latin typeface="+mn-lt"/>
                  <a:ea typeface="+mn-ea"/>
                  <a:cs typeface="+mn-cs"/>
                </a:rPr>
                <a:t>≥80%</a:t>
              </a:r>
              <a:r>
                <a:rPr lang="zh-CN" sz="620" dirty="0">
                  <a:solidFill>
                    <a:srgbClr val="70504A"/>
                  </a:solidFill>
                  <a:latin typeface="+mn-lt"/>
                  <a:ea typeface="+mn-ea"/>
                  <a:cs typeface="+mn-cs"/>
                </a:rPr>
                <a:t>​</a:t>
              </a:r>
              <a:br/>
              <a:r>
                <a:rPr lang="zh-CN" sz="620" dirty="0">
                  <a:solidFill>
                    <a:srgbClr val="70504A"/>
                  </a:solidFill>
                  <a:latin typeface="+mn-lt"/>
                  <a:ea typeface="+mn-ea"/>
                  <a:cs typeface="+mn-cs"/>
                </a:rPr>
                <a:t xml:space="preserve">完成培训不少于 </a:t>
              </a:r>
              <a:r>
                <a:rPr lang="zh-CN" sz="620" b="1" dirty="0">
                  <a:solidFill>
                    <a:srgbClr val="69281B"/>
                  </a:solidFill>
                  <a:latin typeface="+mn-lt"/>
                  <a:ea typeface="+mn-ea"/>
                  <a:cs typeface="+mn-cs"/>
                </a:rPr>
                <a:t>6场​</a:t>
              </a:r>
            </a:p>
          </p:txBody>
        </p:sp>
        <p:sp>
          <p:nvSpPr>
            <p:cNvPr id="128" name="TextBox 128"/>
            <p:cNvSpPr txBox="1"/>
            <p:nvPr/>
          </p:nvSpPr>
          <p:spPr>
            <a:xfrm>
              <a:off x="5934008" y="3886486"/>
              <a:ext cx="514485" cy="121920"/>
            </a:xfrm>
            <a:prstGeom prst="rect">
              <a:avLst/>
            </a:prstGeom>
            <a:noFill/>
            <a:ln>
              <a:noFill/>
            </a:ln>
          </p:spPr>
          <p:txBody>
            <a:bodyPr wrap="none" lIns="0" tIns="0" rIns="0" bIns="0" anchor="t" anchorCtr="0">
              <a:spAutoFit/>
            </a:bodyPr>
            <a:lstStyle/>
            <a:p>
              <a:pPr algn="ctr"/>
              <a:r>
                <a:rPr lang="zh-CN" sz="620" dirty="0">
                  <a:solidFill>
                    <a:srgbClr val="5F3A33"/>
                  </a:solidFill>
                  <a:latin typeface="+mn-lt"/>
                  <a:ea typeface="+mn-ea"/>
                  <a:cs typeface="+mn-cs"/>
                </a:rPr>
                <a:t>2026/09/30​</a:t>
              </a:r>
            </a:p>
          </p:txBody>
        </p:sp>
        <p:sp>
          <p:nvSpPr>
            <p:cNvPr id="129" name="TextBox 129"/>
            <p:cNvSpPr txBox="1"/>
            <p:nvPr/>
          </p:nvSpPr>
          <p:spPr>
            <a:xfrm>
              <a:off x="6708458" y="3888105"/>
              <a:ext cx="432435" cy="214312"/>
            </a:xfrm>
            <a:prstGeom prst="rect">
              <a:avLst/>
            </a:prstGeom>
            <a:noFill/>
            <a:ln>
              <a:noFill/>
            </a:ln>
          </p:spPr>
          <p:txBody>
            <a:bodyPr wrap="none" lIns="0" tIns="0" rIns="0" bIns="0" anchor="t" anchorCtr="0">
              <a:spAutoFit/>
            </a:bodyPr>
            <a:lstStyle/>
            <a:p>
              <a:pPr algn="ctr">
                <a:lnSpc>
                  <a:spcPts val="750"/>
                </a:lnSpc>
              </a:pPr>
              <a:r>
                <a:rPr lang="zh-CN" sz="600" dirty="0">
                  <a:solidFill>
                    <a:srgbClr val="5F3A33"/>
                  </a:solidFill>
                  <a:latin typeface="+mn-lt"/>
                  <a:ea typeface="+mn-ea"/>
                  <a:cs typeface="+mn-cs"/>
                </a:rPr>
                <a:t>科技信息部</a:t>
              </a:r>
              <a:br/>
              <a:r>
                <a:rPr lang="zh-CN" sz="600" dirty="0">
                  <a:solidFill>
                    <a:srgbClr val="5F3A33"/>
                  </a:solidFill>
                  <a:latin typeface="+mn-lt"/>
                  <a:ea typeface="+mn-ea"/>
                  <a:cs typeface="+mn-cs"/>
                </a:rPr>
                <a:t>+人力资源部</a:t>
              </a:r>
            </a:p>
          </p:txBody>
        </p:sp>
        <p:sp>
          <p:nvSpPr>
            <p:cNvPr id="130" name="Line 130"/>
            <p:cNvSpPr/>
            <p:nvPr/>
          </p:nvSpPr>
          <p:spPr>
            <a:xfrm>
              <a:off x="304800" y="4038600"/>
              <a:ext cx="6972300" cy="9525"/>
            </a:xfrm>
            <a:custGeom>
              <a:avLst/>
              <a:gdLst/>
              <a:ahLst/>
              <a:cxnLst/>
              <a:rect l="l" t="t" r="r" b="b"/>
              <a:pathLst>
                <a:path w="6972300" h="9525">
                  <a:moveTo>
                    <a:pt x="0" y="0"/>
                  </a:moveTo>
                  <a:lnTo>
                    <a:pt x="6972300" y="0"/>
                  </a:lnTo>
                </a:path>
              </a:pathLst>
            </a:custGeom>
            <a:noFill/>
            <a:ln w="9525">
              <a:solidFill>
                <a:srgbClr val="C9D6E9"/>
              </a:solidFill>
            </a:ln>
          </p:spPr>
        </p:sp>
        <p:sp>
          <p:nvSpPr>
            <p:cNvPr id="131" name="TextBox 131"/>
            <p:cNvSpPr txBox="1"/>
            <p:nvPr/>
          </p:nvSpPr>
          <p:spPr>
            <a:xfrm>
              <a:off x="300038" y="4202430"/>
              <a:ext cx="1952092" cy="119062"/>
            </a:xfrm>
            <a:prstGeom prst="rect">
              <a:avLst/>
            </a:prstGeom>
            <a:noFill/>
            <a:ln>
              <a:noFill/>
            </a:ln>
          </p:spPr>
          <p:txBody>
            <a:bodyPr wrap="none" lIns="0" tIns="0" rIns="0" bIns="0" anchor="t" anchorCtr="0">
              <a:spAutoFit/>
            </a:bodyPr>
            <a:lstStyle/>
            <a:p>
              <a:pPr algn="l"/>
              <a:r>
                <a:rPr lang="zh-CN" sz="600" dirty="0">
                  <a:solidFill>
                    <a:srgbClr val="BEA09A"/>
                  </a:solidFill>
                  <a:latin typeface="+mn-lt"/>
                  <a:ea typeface="+mn-ea"/>
                  <a:cs typeface="+mn-cs"/>
                </a:rPr>
                <a:t>注：任务与目标为示例内容，时限均为2026/09/30。​</a:t>
              </a:r>
            </a:p>
          </p:txBody>
        </p:sp>
      </p:grpSp>
      <p:grpSp>
        <p:nvGrpSpPr>
          <p:cNvPr id="172" name="mgmt-loop"/>
          <p:cNvGrpSpPr/>
          <p:nvPr/>
        </p:nvGrpSpPr>
        <p:grpSpPr>
          <a:xfrm>
            <a:off x="7467600" y="2019300"/>
            <a:ext cx="4495800" cy="2476500"/>
            <a:chOff x="7467600" y="2019300"/>
            <a:chExt cx="4495800" cy="2476500"/>
          </a:xfrm>
        </p:grpSpPr>
        <p:sp>
          <p:nvSpPr>
            <p:cNvPr id="133" name="Rectangle 133"/>
            <p:cNvSpPr/>
            <p:nvPr/>
          </p:nvSpPr>
          <p:spPr>
            <a:xfrm>
              <a:off x="7467600" y="2019300"/>
              <a:ext cx="4495800" cy="2476500"/>
            </a:xfrm>
            <a:prstGeom prst="roundRect">
              <a:avLst>
                <a:gd name="adj" fmla="val 2308"/>
              </a:avLst>
            </a:prstGeom>
            <a:solidFill>
              <a:srgbClr val="FFFFFF"/>
            </a:solidFill>
            <a:ln w="9525">
              <a:solidFill>
                <a:srgbClr val="C9D6E9"/>
              </a:solidFill>
            </a:ln>
          </p:spPr>
        </p:sp>
        <p:sp>
          <p:nvSpPr>
            <p:cNvPr id="134" name="Rectangle 134"/>
            <p:cNvSpPr/>
            <p:nvPr/>
          </p:nvSpPr>
          <p:spPr>
            <a:xfrm>
              <a:off x="7467600" y="2019300"/>
              <a:ext cx="4495800" cy="228600"/>
            </a:xfrm>
            <a:prstGeom prst="roundRect">
              <a:avLst>
                <a:gd name="adj" fmla="val 25000"/>
              </a:avLst>
            </a:prstGeom>
            <a:solidFill>
              <a:srgbClr val="69281B"/>
            </a:solidFill>
            <a:ln>
              <a:noFill/>
            </a:ln>
          </p:spPr>
        </p:sp>
        <p:sp>
          <p:nvSpPr>
            <p:cNvPr id="135" name="Rectangle 135"/>
            <p:cNvSpPr/>
            <p:nvPr/>
          </p:nvSpPr>
          <p:spPr>
            <a:xfrm>
              <a:off x="7467600" y="2152650"/>
              <a:ext cx="4495800" cy="95250"/>
            </a:xfrm>
            <a:prstGeom prst="rect">
              <a:avLst/>
            </a:prstGeom>
            <a:solidFill>
              <a:srgbClr val="69281B"/>
            </a:solidFill>
            <a:ln>
              <a:noFill/>
            </a:ln>
          </p:spPr>
        </p:sp>
        <p:sp>
          <p:nvSpPr>
            <p:cNvPr id="136" name="TextBox 136"/>
            <p:cNvSpPr txBox="1"/>
            <p:nvPr/>
          </p:nvSpPr>
          <p:spPr>
            <a:xfrm>
              <a:off x="8741474" y="2084070"/>
              <a:ext cx="194805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管理闭环：四步联动，确保任务落地</a:t>
              </a:r>
            </a:p>
          </p:txBody>
        </p:sp>
        <p:sp>
          <p:nvSpPr>
            <p:cNvPr id="137" name="Ellipse 137"/>
            <p:cNvSpPr/>
            <p:nvPr/>
          </p:nvSpPr>
          <p:spPr>
            <a:xfrm>
              <a:off x="9239250" y="2914650"/>
              <a:ext cx="952500" cy="952500"/>
            </a:xfrm>
            <a:prstGeom prst="ellipse">
              <a:avLst/>
            </a:prstGeom>
            <a:solidFill>
              <a:srgbClr val="69281B"/>
            </a:solidFill>
            <a:ln>
              <a:noFill/>
            </a:ln>
          </p:spPr>
        </p:sp>
        <p:sp>
          <p:nvSpPr>
            <p:cNvPr id="138" name="Ellipse 138"/>
            <p:cNvSpPr/>
            <p:nvPr/>
          </p:nvSpPr>
          <p:spPr>
            <a:xfrm>
              <a:off x="9182100" y="2857500"/>
              <a:ext cx="1066800" cy="1066800"/>
            </a:xfrm>
            <a:prstGeom prst="ellipse">
              <a:avLst/>
            </a:prstGeom>
            <a:noFill/>
            <a:ln w="9525">
              <a:solidFill>
                <a:srgbClr val="EBC1B8"/>
              </a:solidFill>
              <a:custDash>
                <a:ds d="400000" sp="300000"/>
              </a:custDash>
            </a:ln>
          </p:spPr>
        </p:sp>
        <p:sp>
          <p:nvSpPr>
            <p:cNvPr id="139" name="TextBox 139"/>
            <p:cNvSpPr txBox="1"/>
            <p:nvPr/>
          </p:nvSpPr>
          <p:spPr>
            <a:xfrm>
              <a:off x="9578619" y="32475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管理</a:t>
              </a:r>
            </a:p>
          </p:txBody>
        </p:sp>
        <p:sp>
          <p:nvSpPr>
            <p:cNvPr id="140" name="TextBox 140"/>
            <p:cNvSpPr txBox="1"/>
            <p:nvPr/>
          </p:nvSpPr>
          <p:spPr>
            <a:xfrm>
              <a:off x="9578619" y="34189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闭环</a:t>
              </a:r>
            </a:p>
          </p:txBody>
        </p:sp>
        <p:sp>
          <p:nvSpPr>
            <p:cNvPr id="141" name="Freeform 141"/>
            <p:cNvSpPr/>
            <p:nvPr/>
          </p:nvSpPr>
          <p:spPr>
            <a:xfrm>
              <a:off x="8953500" y="2628900"/>
              <a:ext cx="762000" cy="762000"/>
            </a:xfrm>
            <a:custGeom>
              <a:avLst/>
              <a:gdLst/>
              <a:ahLst/>
              <a:cxnLst/>
              <a:rect l="l" t="t" r="r" b="b"/>
              <a:pathLst>
                <a:path w="762000" h="762000">
                  <a:moveTo>
                    <a:pt x="0" y="762000"/>
                  </a:moveTo>
                  <a:cubicBezTo>
                    <a:pt x="0" y="341159"/>
                    <a:pt x="341159" y="0"/>
                    <a:pt x="762000" y="0"/>
                  </a:cubicBezTo>
                </a:path>
              </a:pathLst>
            </a:custGeom>
            <a:noFill/>
            <a:ln w="23812">
              <a:solidFill>
                <a:srgbClr val="E8735B"/>
              </a:solidFill>
              <a:tailEnd type="triangle" w="lg" len="lg"/>
            </a:ln>
          </p:spPr>
        </p:sp>
        <p:sp>
          <p:nvSpPr>
            <p:cNvPr id="142" name="Freeform 142"/>
            <p:cNvSpPr/>
            <p:nvPr/>
          </p:nvSpPr>
          <p:spPr>
            <a:xfrm>
              <a:off x="9715500" y="3390900"/>
              <a:ext cx="762000" cy="762000"/>
            </a:xfrm>
            <a:custGeom>
              <a:avLst/>
              <a:gdLst/>
              <a:ahLst/>
              <a:cxnLst/>
              <a:rect l="l" t="t" r="r" b="b"/>
              <a:pathLst>
                <a:path w="762000" h="762000">
                  <a:moveTo>
                    <a:pt x="762000" y="0"/>
                  </a:moveTo>
                  <a:cubicBezTo>
                    <a:pt x="762000" y="420841"/>
                    <a:pt x="420841" y="762000"/>
                    <a:pt x="0" y="762000"/>
                  </a:cubicBezTo>
                </a:path>
              </a:pathLst>
            </a:custGeom>
            <a:noFill/>
            <a:ln w="23812">
              <a:solidFill>
                <a:srgbClr val="E8735B"/>
              </a:solidFill>
              <a:tailEnd type="triangle" w="lg" len="lg"/>
            </a:ln>
          </p:spPr>
        </p:sp>
        <p:sp>
          <p:nvSpPr>
            <p:cNvPr id="143" name="Rectangle 143"/>
            <p:cNvSpPr/>
            <p:nvPr/>
          </p:nvSpPr>
          <p:spPr>
            <a:xfrm>
              <a:off x="7620000" y="2438400"/>
              <a:ext cx="1257300" cy="495300"/>
            </a:xfrm>
            <a:prstGeom prst="roundRect">
              <a:avLst>
                <a:gd name="adj" fmla="val 7692"/>
              </a:avLst>
            </a:prstGeom>
            <a:solidFill>
              <a:srgbClr val="EAF1FB"/>
            </a:solidFill>
            <a:ln w="9525">
              <a:solidFill>
                <a:srgbClr val="EBC1B8"/>
              </a:solidFill>
            </a:ln>
          </p:spPr>
        </p:sp>
        <p:grpSp>
          <p:nvGrpSpPr>
            <p:cNvPr id="146" name="Group 146"/>
            <p:cNvGrpSpPr/>
            <p:nvPr/>
          </p:nvGrpSpPr>
          <p:grpSpPr>
            <a:xfrm>
              <a:off x="7712869" y="2550319"/>
              <a:ext cx="100012" cy="100012"/>
              <a:chOff x="7712869" y="2550319"/>
              <a:chExt cx="100012" cy="100012"/>
            </a:xfrm>
          </p:grpSpPr>
          <p:sp>
            <p:nvSpPr>
              <p:cNvPr id="144" name="Freeform 144"/>
              <p:cNvSpPr/>
              <p:nvPr/>
            </p:nvSpPr>
            <p:spPr>
              <a:xfrm>
                <a:off x="7712869" y="2550319"/>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69281B"/>
                </a:solidFill>
              </a:ln>
            </p:spPr>
          </p:sp>
          <p:sp>
            <p:nvSpPr>
              <p:cNvPr id="145" name="Freeform 145"/>
              <p:cNvSpPr/>
              <p:nvPr/>
            </p:nvSpPr>
            <p:spPr>
              <a:xfrm>
                <a:off x="7779544" y="2616994"/>
                <a:ext cx="33337" cy="33337"/>
              </a:xfrm>
              <a:custGeom>
                <a:avLst/>
                <a:gdLst/>
                <a:ahLst/>
                <a:cxnLst/>
                <a:rect l="l" t="t" r="r" b="b"/>
                <a:pathLst>
                  <a:path w="33337" h="33337">
                    <a:moveTo>
                      <a:pt x="33337" y="33337"/>
                    </a:moveTo>
                    <a:lnTo>
                      <a:pt x="0" y="0"/>
                    </a:lnTo>
                  </a:path>
                </a:pathLst>
              </a:custGeom>
              <a:noFill/>
              <a:ln w="11112">
                <a:solidFill>
                  <a:srgbClr val="69281B"/>
                </a:solidFill>
              </a:ln>
            </p:spPr>
          </p:sp>
        </p:grpSp>
        <p:sp>
          <p:nvSpPr>
            <p:cNvPr id="147" name="TextBox 147"/>
            <p:cNvSpPr txBox="1"/>
            <p:nvPr/>
          </p:nvSpPr>
          <p:spPr>
            <a:xfrm>
              <a:off x="7881938" y="2557462"/>
              <a:ext cx="312420"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周监测</a:t>
              </a:r>
            </a:p>
          </p:txBody>
        </p:sp>
        <p:sp>
          <p:nvSpPr>
            <p:cNvPr id="148" name="TextBox 148"/>
            <p:cNvSpPr txBox="1"/>
            <p:nvPr/>
          </p:nvSpPr>
          <p:spPr>
            <a:xfrm>
              <a:off x="7710488" y="2775299"/>
              <a:ext cx="1024560" cy="116205"/>
            </a:xfrm>
            <a:prstGeom prst="rect">
              <a:avLst/>
            </a:prstGeom>
            <a:noFill/>
            <a:ln>
              <a:noFill/>
            </a:ln>
          </p:spPr>
          <p:txBody>
            <a:bodyPr wrap="none" lIns="0" tIns="0" rIns="0" bIns="0" anchor="t" anchorCtr="0">
              <a:spAutoFit/>
            </a:bodyPr>
            <a:lstStyle/>
            <a:p>
              <a:pPr algn="l"/>
              <a:r>
                <a:rPr lang="zh-CN" sz="580" dirty="0">
                  <a:solidFill>
                    <a:srgbClr val="70504A"/>
                  </a:solidFill>
                  <a:latin typeface="+mn-lt"/>
                  <a:ea typeface="+mn-ea"/>
                  <a:cs typeface="+mn-cs"/>
                </a:rPr>
                <a:t>周度跟踪进度，问题日清日结</a:t>
              </a:r>
            </a:p>
          </p:txBody>
        </p:sp>
        <p:sp>
          <p:nvSpPr>
            <p:cNvPr id="149" name="Rectangle 149"/>
            <p:cNvSpPr/>
            <p:nvPr/>
          </p:nvSpPr>
          <p:spPr>
            <a:xfrm>
              <a:off x="10553700" y="2438400"/>
              <a:ext cx="1333500" cy="495300"/>
            </a:xfrm>
            <a:prstGeom prst="roundRect">
              <a:avLst>
                <a:gd name="adj" fmla="val 7692"/>
              </a:avLst>
            </a:prstGeom>
            <a:solidFill>
              <a:srgbClr val="EAF1FB"/>
            </a:solidFill>
            <a:ln w="9525">
              <a:solidFill>
                <a:srgbClr val="EBC1B8"/>
              </a:solidFill>
            </a:ln>
          </p:spPr>
        </p:sp>
        <p:grpSp>
          <p:nvGrpSpPr>
            <p:cNvPr id="155" name="Group 155"/>
            <p:cNvGrpSpPr/>
            <p:nvPr/>
          </p:nvGrpSpPr>
          <p:grpSpPr>
            <a:xfrm>
              <a:off x="10657681" y="2550319"/>
              <a:ext cx="77787" cy="100012"/>
              <a:chOff x="10657681" y="2550319"/>
              <a:chExt cx="77787" cy="100012"/>
            </a:xfrm>
          </p:grpSpPr>
          <p:sp>
            <p:nvSpPr>
              <p:cNvPr id="150" name="Freeform 150"/>
              <p:cNvSpPr/>
              <p:nvPr/>
            </p:nvSpPr>
            <p:spPr>
              <a:xfrm>
                <a:off x="10707687" y="255031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69281B"/>
                </a:solidFill>
              </a:ln>
            </p:spPr>
          </p:sp>
          <p:sp>
            <p:nvSpPr>
              <p:cNvPr id="151" name="Freeform 151"/>
              <p:cNvSpPr/>
              <p:nvPr/>
            </p:nvSpPr>
            <p:spPr>
              <a:xfrm>
                <a:off x="10657681" y="255031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69281B"/>
                </a:solidFill>
              </a:ln>
            </p:spPr>
          </p:sp>
          <p:sp>
            <p:nvSpPr>
              <p:cNvPr id="152" name="Freeform 152"/>
              <p:cNvSpPr/>
              <p:nvPr/>
            </p:nvSpPr>
            <p:spPr>
              <a:xfrm>
                <a:off x="10679906" y="2583656"/>
                <a:ext cx="9525" cy="9525"/>
              </a:xfrm>
              <a:custGeom>
                <a:avLst/>
                <a:gdLst/>
                <a:ahLst/>
                <a:cxnLst/>
                <a:rect l="l" t="t" r="r" b="b"/>
                <a:pathLst>
                  <a:path w="9525" h="9525">
                    <a:moveTo>
                      <a:pt x="0" y="0"/>
                    </a:moveTo>
                    <a:lnTo>
                      <a:pt x="5556" y="0"/>
                    </a:lnTo>
                  </a:path>
                </a:pathLst>
              </a:custGeom>
              <a:noFill/>
              <a:ln w="11112">
                <a:solidFill>
                  <a:srgbClr val="69281B"/>
                </a:solidFill>
              </a:ln>
            </p:spPr>
          </p:sp>
          <p:sp>
            <p:nvSpPr>
              <p:cNvPr id="153" name="Freeform 153"/>
              <p:cNvSpPr/>
              <p:nvPr/>
            </p:nvSpPr>
            <p:spPr>
              <a:xfrm>
                <a:off x="10679906" y="2605881"/>
                <a:ext cx="33337" cy="9525"/>
              </a:xfrm>
              <a:custGeom>
                <a:avLst/>
                <a:gdLst/>
                <a:ahLst/>
                <a:cxnLst/>
                <a:rect l="l" t="t" r="r" b="b"/>
                <a:pathLst>
                  <a:path w="33337" h="9525">
                    <a:moveTo>
                      <a:pt x="0" y="0"/>
                    </a:moveTo>
                    <a:lnTo>
                      <a:pt x="33337" y="0"/>
                    </a:lnTo>
                  </a:path>
                </a:pathLst>
              </a:custGeom>
              <a:noFill/>
              <a:ln w="11112">
                <a:solidFill>
                  <a:srgbClr val="69281B"/>
                </a:solidFill>
              </a:ln>
            </p:spPr>
          </p:sp>
          <p:sp>
            <p:nvSpPr>
              <p:cNvPr id="154" name="Freeform 154"/>
              <p:cNvSpPr/>
              <p:nvPr/>
            </p:nvSpPr>
            <p:spPr>
              <a:xfrm>
                <a:off x="10679906" y="2628106"/>
                <a:ext cx="33337" cy="9525"/>
              </a:xfrm>
              <a:custGeom>
                <a:avLst/>
                <a:gdLst/>
                <a:ahLst/>
                <a:cxnLst/>
                <a:rect l="l" t="t" r="r" b="b"/>
                <a:pathLst>
                  <a:path w="33337" h="9525">
                    <a:moveTo>
                      <a:pt x="0" y="0"/>
                    </a:moveTo>
                    <a:lnTo>
                      <a:pt x="33337" y="0"/>
                    </a:lnTo>
                  </a:path>
                </a:pathLst>
              </a:custGeom>
              <a:noFill/>
              <a:ln w="11112">
                <a:solidFill>
                  <a:srgbClr val="69281B"/>
                </a:solidFill>
              </a:ln>
            </p:spPr>
          </p:sp>
        </p:grpSp>
        <p:sp>
          <p:nvSpPr>
            <p:cNvPr id="156" name="TextBox 156"/>
            <p:cNvSpPr txBox="1"/>
            <p:nvPr/>
          </p:nvSpPr>
          <p:spPr>
            <a:xfrm>
              <a:off x="10815638" y="2557462"/>
              <a:ext cx="312420"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月通报</a:t>
              </a:r>
            </a:p>
          </p:txBody>
        </p:sp>
        <p:sp>
          <p:nvSpPr>
            <p:cNvPr id="157" name="TextBox 157"/>
            <p:cNvSpPr txBox="1"/>
            <p:nvPr/>
          </p:nvSpPr>
          <p:spPr>
            <a:xfrm>
              <a:off x="10644188" y="2775299"/>
              <a:ext cx="1024560" cy="116205"/>
            </a:xfrm>
            <a:prstGeom prst="rect">
              <a:avLst/>
            </a:prstGeom>
            <a:noFill/>
            <a:ln>
              <a:noFill/>
            </a:ln>
          </p:spPr>
          <p:txBody>
            <a:bodyPr wrap="none" lIns="0" tIns="0" rIns="0" bIns="0" anchor="t" anchorCtr="0">
              <a:spAutoFit/>
            </a:bodyPr>
            <a:lstStyle/>
            <a:p>
              <a:pPr algn="l"/>
              <a:r>
                <a:rPr lang="zh-CN" sz="580" dirty="0">
                  <a:solidFill>
                    <a:srgbClr val="70504A"/>
                  </a:solidFill>
                  <a:latin typeface="+mn-lt"/>
                  <a:ea typeface="+mn-ea"/>
                  <a:cs typeface="+mn-cs"/>
                </a:rPr>
                <a:t>月度业绩通报，排名公示激励</a:t>
              </a:r>
            </a:p>
          </p:txBody>
        </p:sp>
        <p:sp>
          <p:nvSpPr>
            <p:cNvPr id="158" name="Rectangle 158"/>
            <p:cNvSpPr/>
            <p:nvPr/>
          </p:nvSpPr>
          <p:spPr>
            <a:xfrm>
              <a:off x="7620000" y="3848100"/>
              <a:ext cx="1257300" cy="495300"/>
            </a:xfrm>
            <a:prstGeom prst="roundRect">
              <a:avLst>
                <a:gd name="adj" fmla="val 7692"/>
              </a:avLst>
            </a:prstGeom>
            <a:solidFill>
              <a:srgbClr val="EAF1FB"/>
            </a:solidFill>
            <a:ln w="9525">
              <a:solidFill>
                <a:srgbClr val="EBC1B8"/>
              </a:solidFill>
            </a:ln>
          </p:spPr>
        </p:sp>
        <p:grpSp>
          <p:nvGrpSpPr>
            <p:cNvPr id="161" name="Group 161"/>
            <p:cNvGrpSpPr/>
            <p:nvPr/>
          </p:nvGrpSpPr>
          <p:grpSpPr>
            <a:xfrm>
              <a:off x="7718425" y="3963431"/>
              <a:ext cx="88900" cy="93187"/>
              <a:chOff x="7718425" y="3963431"/>
              <a:chExt cx="88900" cy="93187"/>
            </a:xfrm>
          </p:grpSpPr>
          <p:sp>
            <p:nvSpPr>
              <p:cNvPr id="159" name="Freeform 159"/>
              <p:cNvSpPr/>
              <p:nvPr/>
            </p:nvSpPr>
            <p:spPr>
              <a:xfrm>
                <a:off x="7718425" y="3963431"/>
                <a:ext cx="88900" cy="41037"/>
              </a:xfrm>
              <a:custGeom>
                <a:avLst/>
                <a:gdLst/>
                <a:ahLst/>
                <a:cxnLst/>
                <a:rect l="l" t="t" r="r" b="b"/>
                <a:pathLst>
                  <a:path w="88900" h="41037">
                    <a:moveTo>
                      <a:pt x="88900" y="41037"/>
                    </a:moveTo>
                    <a:cubicBezTo>
                      <a:pt x="86107" y="20938"/>
                      <a:pt x="70208" y="5194"/>
                      <a:pt x="50082" y="2597"/>
                    </a:cubicBezTo>
                    <a:cubicBezTo>
                      <a:pt x="29956" y="0"/>
                      <a:pt x="10582" y="11193"/>
                      <a:pt x="2778" y="29925"/>
                    </a:cubicBezTo>
                    <a:moveTo>
                      <a:pt x="0" y="7700"/>
                    </a:moveTo>
                    <a:lnTo>
                      <a:pt x="0" y="29925"/>
                    </a:lnTo>
                    <a:lnTo>
                      <a:pt x="22225" y="29925"/>
                    </a:lnTo>
                  </a:path>
                </a:pathLst>
              </a:custGeom>
              <a:noFill/>
              <a:ln w="11112">
                <a:solidFill>
                  <a:srgbClr val="69281B"/>
                </a:solidFill>
              </a:ln>
            </p:spPr>
          </p:sp>
          <p:sp>
            <p:nvSpPr>
              <p:cNvPr id="160" name="Freeform 160"/>
              <p:cNvSpPr/>
              <p:nvPr/>
            </p:nvSpPr>
            <p:spPr>
              <a:xfrm>
                <a:off x="7718425" y="4015581"/>
                <a:ext cx="88900" cy="41037"/>
              </a:xfrm>
              <a:custGeom>
                <a:avLst/>
                <a:gdLst/>
                <a:ahLst/>
                <a:cxnLst/>
                <a:rect l="l" t="t" r="r" b="b"/>
                <a:pathLst>
                  <a:path w="88900" h="41037">
                    <a:moveTo>
                      <a:pt x="0" y="0"/>
                    </a:moveTo>
                    <a:cubicBezTo>
                      <a:pt x="2793" y="20100"/>
                      <a:pt x="18692" y="35844"/>
                      <a:pt x="38818" y="38441"/>
                    </a:cubicBezTo>
                    <a:cubicBezTo>
                      <a:pt x="58944" y="41037"/>
                      <a:pt x="78318" y="29845"/>
                      <a:pt x="86122" y="11112"/>
                    </a:cubicBezTo>
                    <a:moveTo>
                      <a:pt x="88900" y="33337"/>
                    </a:moveTo>
                    <a:lnTo>
                      <a:pt x="88900" y="11112"/>
                    </a:lnTo>
                    <a:lnTo>
                      <a:pt x="66675" y="11112"/>
                    </a:lnTo>
                  </a:path>
                </a:pathLst>
              </a:custGeom>
              <a:noFill/>
              <a:ln w="11112">
                <a:solidFill>
                  <a:srgbClr val="69281B"/>
                </a:solidFill>
              </a:ln>
            </p:spPr>
          </p:sp>
        </p:grpSp>
        <p:sp>
          <p:nvSpPr>
            <p:cNvPr id="162" name="TextBox 162"/>
            <p:cNvSpPr txBox="1"/>
            <p:nvPr/>
          </p:nvSpPr>
          <p:spPr>
            <a:xfrm>
              <a:off x="7881938" y="3967162"/>
              <a:ext cx="312420"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季复盘</a:t>
              </a:r>
            </a:p>
          </p:txBody>
        </p:sp>
        <p:sp>
          <p:nvSpPr>
            <p:cNvPr id="163" name="TextBox 163"/>
            <p:cNvSpPr txBox="1"/>
            <p:nvPr/>
          </p:nvSpPr>
          <p:spPr>
            <a:xfrm>
              <a:off x="7710488" y="4184999"/>
              <a:ext cx="1024560" cy="116205"/>
            </a:xfrm>
            <a:prstGeom prst="rect">
              <a:avLst/>
            </a:prstGeom>
            <a:noFill/>
            <a:ln>
              <a:noFill/>
            </a:ln>
          </p:spPr>
          <p:txBody>
            <a:bodyPr wrap="none" lIns="0" tIns="0" rIns="0" bIns="0" anchor="t" anchorCtr="0">
              <a:spAutoFit/>
            </a:bodyPr>
            <a:lstStyle/>
            <a:p>
              <a:pPr algn="l"/>
              <a:r>
                <a:rPr lang="zh-CN" sz="580" dirty="0">
                  <a:solidFill>
                    <a:srgbClr val="70504A"/>
                  </a:solidFill>
                  <a:latin typeface="+mn-lt"/>
                  <a:ea typeface="+mn-ea"/>
                  <a:cs typeface="+mn-cs"/>
                </a:rPr>
                <a:t>季度复盘分析，调整策略举措</a:t>
              </a:r>
            </a:p>
          </p:txBody>
        </p:sp>
        <p:sp>
          <p:nvSpPr>
            <p:cNvPr id="164" name="Rectangle 164"/>
            <p:cNvSpPr/>
            <p:nvPr/>
          </p:nvSpPr>
          <p:spPr>
            <a:xfrm>
              <a:off x="10553700" y="3848100"/>
              <a:ext cx="1333500" cy="495300"/>
            </a:xfrm>
            <a:prstGeom prst="roundRect">
              <a:avLst>
                <a:gd name="adj" fmla="val 7692"/>
              </a:avLst>
            </a:prstGeom>
            <a:solidFill>
              <a:srgbClr val="EAF1FB"/>
            </a:solidFill>
            <a:ln w="9525">
              <a:solidFill>
                <a:srgbClr val="EBC1B8"/>
              </a:solidFill>
            </a:ln>
          </p:spPr>
        </p:sp>
        <p:grpSp>
          <p:nvGrpSpPr>
            <p:cNvPr id="168" name="Group 168"/>
            <p:cNvGrpSpPr/>
            <p:nvPr/>
          </p:nvGrpSpPr>
          <p:grpSpPr>
            <a:xfrm>
              <a:off x="10648802" y="3960019"/>
              <a:ext cx="95534" cy="99401"/>
              <a:chOff x="10648802" y="3960019"/>
              <a:chExt cx="95534" cy="99401"/>
            </a:xfrm>
          </p:grpSpPr>
          <p:sp>
            <p:nvSpPr>
              <p:cNvPr id="165" name="Freeform 165"/>
              <p:cNvSpPr/>
              <p:nvPr/>
            </p:nvSpPr>
            <p:spPr>
              <a:xfrm>
                <a:off x="10663237" y="3960019"/>
                <a:ext cx="66675" cy="66675"/>
              </a:xfrm>
              <a:custGeom>
                <a:avLst/>
                <a:gdLst/>
                <a:ahLst/>
                <a:cxnLst/>
                <a:rect l="l" t="t" r="r" b="b"/>
                <a:pathLst>
                  <a:path w="66675" h="66675">
                    <a:moveTo>
                      <a:pt x="0" y="33337"/>
                    </a:moveTo>
                    <a:cubicBezTo>
                      <a:pt x="0" y="51749"/>
                      <a:pt x="14926" y="66675"/>
                      <a:pt x="33337" y="66675"/>
                    </a:cubicBezTo>
                    <a:cubicBezTo>
                      <a:pt x="51749" y="66675"/>
                      <a:pt x="66675" y="51749"/>
                      <a:pt x="66675" y="33337"/>
                    </a:cubicBezTo>
                    <a:cubicBezTo>
                      <a:pt x="66675" y="14926"/>
                      <a:pt x="51749" y="0"/>
                      <a:pt x="33337" y="0"/>
                    </a:cubicBezTo>
                    <a:cubicBezTo>
                      <a:pt x="14926" y="0"/>
                      <a:pt x="0" y="14926"/>
                      <a:pt x="0" y="33337"/>
                    </a:cubicBezTo>
                  </a:path>
                </a:pathLst>
              </a:custGeom>
              <a:noFill/>
              <a:ln w="11112">
                <a:solidFill>
                  <a:srgbClr val="69281B"/>
                </a:solidFill>
              </a:ln>
            </p:spPr>
          </p:sp>
          <p:sp>
            <p:nvSpPr>
              <p:cNvPr id="166" name="Freeform 166"/>
              <p:cNvSpPr/>
              <p:nvPr/>
            </p:nvSpPr>
            <p:spPr>
              <a:xfrm>
                <a:off x="10696575" y="4010025"/>
                <a:ext cx="47761" cy="49395"/>
              </a:xfrm>
              <a:custGeom>
                <a:avLst/>
                <a:gdLst/>
                <a:ahLst/>
                <a:cxnLst/>
                <a:rect l="l" t="t" r="r" b="b"/>
                <a:pathLst>
                  <a:path w="47761" h="49395">
                    <a:moveTo>
                      <a:pt x="0" y="16669"/>
                    </a:moveTo>
                    <a:lnTo>
                      <a:pt x="18891" y="49395"/>
                    </a:lnTo>
                    <a:lnTo>
                      <a:pt x="27770" y="31432"/>
                    </a:lnTo>
                    <a:lnTo>
                      <a:pt x="47761" y="32721"/>
                    </a:lnTo>
                    <a:lnTo>
                      <a:pt x="28870" y="0"/>
                    </a:lnTo>
                  </a:path>
                </a:pathLst>
              </a:custGeom>
              <a:noFill/>
              <a:ln w="11112">
                <a:solidFill>
                  <a:srgbClr val="69281B"/>
                </a:solidFill>
              </a:ln>
            </p:spPr>
          </p:sp>
          <p:sp>
            <p:nvSpPr>
              <p:cNvPr id="167" name="Freeform 167"/>
              <p:cNvSpPr/>
              <p:nvPr/>
            </p:nvSpPr>
            <p:spPr>
              <a:xfrm>
                <a:off x="10648802" y="4010025"/>
                <a:ext cx="47761" cy="49389"/>
              </a:xfrm>
              <a:custGeom>
                <a:avLst/>
                <a:gdLst/>
                <a:ahLst/>
                <a:cxnLst/>
                <a:rect l="l" t="t" r="r" b="b"/>
                <a:pathLst>
                  <a:path w="47761" h="49389">
                    <a:moveTo>
                      <a:pt x="18891" y="0"/>
                    </a:moveTo>
                    <a:lnTo>
                      <a:pt x="0" y="32726"/>
                    </a:lnTo>
                    <a:lnTo>
                      <a:pt x="19991" y="31432"/>
                    </a:lnTo>
                    <a:lnTo>
                      <a:pt x="28870" y="49389"/>
                    </a:lnTo>
                    <a:lnTo>
                      <a:pt x="47761" y="16669"/>
                    </a:lnTo>
                  </a:path>
                </a:pathLst>
              </a:custGeom>
              <a:noFill/>
              <a:ln w="11112">
                <a:solidFill>
                  <a:srgbClr val="69281B"/>
                </a:solidFill>
              </a:ln>
            </p:spPr>
          </p:sp>
        </p:grpSp>
        <p:sp>
          <p:nvSpPr>
            <p:cNvPr id="169" name="TextBox 169"/>
            <p:cNvSpPr txBox="1"/>
            <p:nvPr/>
          </p:nvSpPr>
          <p:spPr>
            <a:xfrm>
              <a:off x="10815638" y="3967162"/>
              <a:ext cx="312420" cy="147638"/>
            </a:xfrm>
            <a:prstGeom prst="rect">
              <a:avLst/>
            </a:prstGeom>
            <a:noFill/>
            <a:ln>
              <a:noFill/>
            </a:ln>
          </p:spPr>
          <p:txBody>
            <a:bodyPr wrap="none" lIns="0" tIns="0" rIns="0" bIns="0" anchor="t" anchorCtr="0">
              <a:spAutoFit/>
            </a:bodyPr>
            <a:lstStyle/>
            <a:p>
              <a:pPr algn="l"/>
              <a:r>
                <a:rPr lang="zh-CN" sz="750" b="1" dirty="0">
                  <a:solidFill>
                    <a:srgbClr val="69281B"/>
                  </a:solidFill>
                  <a:latin typeface="+mn-lt"/>
                  <a:ea typeface="+mn-ea"/>
                  <a:cs typeface="+mn-cs"/>
                </a:rPr>
                <a:t>硬考核</a:t>
              </a:r>
            </a:p>
          </p:txBody>
        </p:sp>
        <p:sp>
          <p:nvSpPr>
            <p:cNvPr id="170" name="TextBox 170"/>
            <p:cNvSpPr txBox="1"/>
            <p:nvPr/>
          </p:nvSpPr>
          <p:spPr>
            <a:xfrm>
              <a:off x="10644188" y="4184999"/>
              <a:ext cx="1024560" cy="116205"/>
            </a:xfrm>
            <a:prstGeom prst="rect">
              <a:avLst/>
            </a:prstGeom>
            <a:noFill/>
            <a:ln>
              <a:noFill/>
            </a:ln>
          </p:spPr>
          <p:txBody>
            <a:bodyPr wrap="none" lIns="0" tIns="0" rIns="0" bIns="0" anchor="t" anchorCtr="0">
              <a:spAutoFit/>
            </a:bodyPr>
            <a:lstStyle/>
            <a:p>
              <a:pPr algn="l"/>
              <a:r>
                <a:rPr lang="zh-CN" sz="580" dirty="0">
                  <a:solidFill>
                    <a:srgbClr val="70504A"/>
                  </a:solidFill>
                  <a:latin typeface="+mn-lt"/>
                  <a:ea typeface="+mn-ea"/>
                  <a:cs typeface="+mn-cs"/>
                </a:rPr>
                <a:t>强化刚性考核，奖惩刚性兑现</a:t>
              </a:r>
            </a:p>
          </p:txBody>
        </p:sp>
        <p:sp>
          <p:nvSpPr>
            <p:cNvPr id="171" name="TextBox 171"/>
            <p:cNvSpPr txBox="1"/>
            <p:nvPr/>
          </p:nvSpPr>
          <p:spPr>
            <a:xfrm>
              <a:off x="7672388" y="3379232"/>
              <a:ext cx="871093" cy="126206"/>
            </a:xfrm>
            <a:prstGeom prst="rect">
              <a:avLst/>
            </a:prstGeom>
            <a:noFill/>
            <a:ln>
              <a:noFill/>
            </a:ln>
          </p:spPr>
          <p:txBody>
            <a:bodyPr wrap="none" lIns="0" tIns="0" rIns="0" bIns="0" anchor="t" anchorCtr="0">
              <a:spAutoFit/>
            </a:bodyPr>
            <a:lstStyle/>
            <a:p>
              <a:pPr algn="l"/>
              <a:r>
                <a:rPr lang="zh-CN" sz="640" dirty="0">
                  <a:solidFill>
                    <a:srgbClr val="BEA09A"/>
                  </a:solidFill>
                  <a:latin typeface="+mn-lt"/>
                  <a:ea typeface="+mn-ea"/>
                  <a:cs typeface="+mn-cs"/>
                </a:rPr>
                <a:t>注：闭环为示例表述。</a:t>
              </a:r>
            </a:p>
          </p:txBody>
        </p:sp>
      </p:grpSp>
      <p:grpSp>
        <p:nvGrpSpPr>
          <p:cNvPr id="176" name="year-label"/>
          <p:cNvGrpSpPr/>
          <p:nvPr/>
        </p:nvGrpSpPr>
        <p:grpSpPr>
          <a:xfrm>
            <a:off x="228600" y="4572000"/>
            <a:ext cx="1143000" cy="1143000"/>
            <a:chOff x="228600" y="4572000"/>
            <a:chExt cx="1143000" cy="1143000"/>
          </a:xfrm>
        </p:grpSpPr>
        <p:sp>
          <p:nvSpPr>
            <p:cNvPr id="173" name="Rectangle 173"/>
            <p:cNvSpPr/>
            <p:nvPr/>
          </p:nvSpPr>
          <p:spPr>
            <a:xfrm>
              <a:off x="228600" y="4572000"/>
              <a:ext cx="1143000" cy="1143000"/>
            </a:xfrm>
            <a:prstGeom prst="roundRect">
              <a:avLst>
                <a:gd name="adj" fmla="val 5000"/>
              </a:avLst>
            </a:prstGeom>
            <a:solidFill>
              <a:srgbClr val="69281B"/>
            </a:solidFill>
            <a:ln>
              <a:noFill/>
            </a:ln>
          </p:spPr>
        </p:sp>
        <p:sp>
          <p:nvSpPr>
            <p:cNvPr id="174" name="TextBox 174"/>
            <p:cNvSpPr txBox="1"/>
            <p:nvPr/>
          </p:nvSpPr>
          <p:spPr>
            <a:xfrm>
              <a:off x="472749" y="4923949"/>
              <a:ext cx="65470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2026年度​</a:t>
              </a:r>
            </a:p>
          </p:txBody>
        </p:sp>
        <p:sp>
          <p:nvSpPr>
            <p:cNvPr id="175" name="TextBox 175"/>
            <p:cNvSpPr txBox="1"/>
            <p:nvPr/>
          </p:nvSpPr>
          <p:spPr>
            <a:xfrm>
              <a:off x="531292" y="51334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目标总览</a:t>
              </a:r>
            </a:p>
          </p:txBody>
        </p:sp>
      </p:grpSp>
      <p:grpSp>
        <p:nvGrpSpPr>
          <p:cNvPr id="185" name="kpi-y-deposit"/>
          <p:cNvGrpSpPr/>
          <p:nvPr/>
        </p:nvGrpSpPr>
        <p:grpSpPr>
          <a:xfrm>
            <a:off x="1447800" y="4572000"/>
            <a:ext cx="1257300" cy="1143000"/>
            <a:chOff x="1447800" y="4572000"/>
            <a:chExt cx="1257300" cy="1143000"/>
          </a:xfrm>
        </p:grpSpPr>
        <p:sp>
          <p:nvSpPr>
            <p:cNvPr id="177" name="Rectangle 177"/>
            <p:cNvSpPr/>
            <p:nvPr/>
          </p:nvSpPr>
          <p:spPr>
            <a:xfrm>
              <a:off x="1447800" y="4572000"/>
              <a:ext cx="1257300" cy="1143000"/>
            </a:xfrm>
            <a:prstGeom prst="roundRect">
              <a:avLst>
                <a:gd name="adj" fmla="val 5000"/>
              </a:avLst>
            </a:prstGeom>
            <a:solidFill>
              <a:srgbClr val="FFFFFF"/>
            </a:solidFill>
            <a:ln w="9525">
              <a:solidFill>
                <a:srgbClr val="C9D6E9"/>
              </a:solidFill>
            </a:ln>
          </p:spPr>
        </p:sp>
        <p:sp>
          <p:nvSpPr>
            <p:cNvPr id="178" name="TextBox 178"/>
            <p:cNvSpPr txBox="1"/>
            <p:nvPr/>
          </p:nvSpPr>
          <p:spPr>
            <a:xfrm>
              <a:off x="1880527" y="4704636"/>
              <a:ext cx="391846"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存款余额</a:t>
              </a:r>
            </a:p>
          </p:txBody>
        </p:sp>
        <p:grpSp>
          <p:nvGrpSpPr>
            <p:cNvPr id="182" name="Group 182"/>
            <p:cNvGrpSpPr/>
            <p:nvPr/>
          </p:nvGrpSpPr>
          <p:grpSpPr>
            <a:xfrm>
              <a:off x="1981200" y="4912519"/>
              <a:ext cx="190500" cy="214312"/>
              <a:chOff x="1981200" y="4912519"/>
              <a:chExt cx="190500" cy="214312"/>
            </a:xfrm>
          </p:grpSpPr>
          <p:sp>
            <p:nvSpPr>
              <p:cNvPr id="179" name="Freeform 179"/>
              <p:cNvSpPr/>
              <p:nvPr/>
            </p:nvSpPr>
            <p:spPr>
              <a:xfrm>
                <a:off x="1981200" y="4912519"/>
                <a:ext cx="190500" cy="71438"/>
              </a:xfrm>
              <a:custGeom>
                <a:avLst/>
                <a:gdLst/>
                <a:ahLst/>
                <a:cxnLst/>
                <a:rect l="l" t="t" r="r" b="b"/>
                <a:pathLst>
                  <a:path w="190500" h="71438">
                    <a:moveTo>
                      <a:pt x="0" y="35719"/>
                    </a:moveTo>
                    <a:cubicBezTo>
                      <a:pt x="0" y="55446"/>
                      <a:pt x="42645" y="71438"/>
                      <a:pt x="95250" y="71438"/>
                    </a:cubicBezTo>
                    <a:cubicBezTo>
                      <a:pt x="147855" y="71438"/>
                      <a:pt x="190500" y="55446"/>
                      <a:pt x="190500" y="35719"/>
                    </a:cubicBezTo>
                    <a:cubicBezTo>
                      <a:pt x="190500" y="15992"/>
                      <a:pt x="147855" y="0"/>
                      <a:pt x="95250" y="0"/>
                    </a:cubicBezTo>
                    <a:cubicBezTo>
                      <a:pt x="42645" y="0"/>
                      <a:pt x="0" y="15992"/>
                      <a:pt x="0" y="35719"/>
                    </a:cubicBezTo>
                  </a:path>
                </a:pathLst>
              </a:custGeom>
              <a:noFill/>
              <a:ln w="23812">
                <a:solidFill>
                  <a:srgbClr val="E04C2E"/>
                </a:solidFill>
              </a:ln>
            </p:spPr>
          </p:sp>
          <p:sp>
            <p:nvSpPr>
              <p:cNvPr id="180" name="Freeform 180"/>
              <p:cNvSpPr/>
              <p:nvPr/>
            </p:nvSpPr>
            <p:spPr>
              <a:xfrm>
                <a:off x="1981200" y="4948238"/>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23812">
                <a:solidFill>
                  <a:srgbClr val="E04C2E"/>
                </a:solidFill>
              </a:ln>
            </p:spPr>
          </p:sp>
          <p:sp>
            <p:nvSpPr>
              <p:cNvPr id="181" name="Freeform 181"/>
              <p:cNvSpPr/>
              <p:nvPr/>
            </p:nvSpPr>
            <p:spPr>
              <a:xfrm>
                <a:off x="1981200" y="5019675"/>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23812">
                <a:solidFill>
                  <a:srgbClr val="E04C2E"/>
                </a:solidFill>
              </a:ln>
            </p:spPr>
          </p:sp>
        </p:grpSp>
        <p:sp>
          <p:nvSpPr>
            <p:cNvPr id="183" name="TextBox 183"/>
            <p:cNvSpPr txBox="1"/>
            <p:nvPr/>
          </p:nvSpPr>
          <p:spPr>
            <a:xfrm>
              <a:off x="1768144" y="5264468"/>
              <a:ext cx="616612" cy="264033"/>
            </a:xfrm>
            <a:prstGeom prst="rect">
              <a:avLst/>
            </a:prstGeom>
            <a:noFill/>
            <a:ln>
              <a:noFill/>
            </a:ln>
          </p:spPr>
          <p:txBody>
            <a:bodyPr wrap="none" lIns="0" tIns="0" rIns="0" bIns="0" anchor="t" anchorCtr="0">
              <a:spAutoFit/>
            </a:bodyPr>
            <a:lstStyle/>
            <a:p>
              <a:pPr algn="ctr"/>
              <a:r>
                <a:rPr lang="zh-CN" sz="1350" b="1" dirty="0">
                  <a:solidFill>
                    <a:srgbClr val="69281B"/>
                  </a:solidFill>
                  <a:latin typeface="+mn-lt"/>
                  <a:ea typeface="+mn-ea"/>
                  <a:cs typeface="+mn-cs"/>
                </a:rPr>
                <a:t>358</a:t>
              </a:r>
              <a:r>
                <a:rPr lang="zh-CN" sz="680" dirty="0">
                  <a:solidFill>
                    <a:srgbClr val="69281B"/>
                  </a:solidFill>
                  <a:latin typeface="+mn-lt"/>
                  <a:ea typeface="+mn-ea"/>
                  <a:cs typeface="+mn-cs"/>
                </a:rPr>
                <a:t>亿元</a:t>
              </a:r>
              <a:r>
                <a:rPr lang="zh-CN" sz="1350" b="1" dirty="0">
                  <a:solidFill>
                    <a:srgbClr val="69281B"/>
                  </a:solidFill>
                  <a:latin typeface="+mn-lt"/>
                  <a:ea typeface="+mn-ea"/>
                  <a:cs typeface="+mn-cs"/>
                </a:rPr>
                <a:t>​</a:t>
              </a:r>
            </a:p>
          </p:txBody>
        </p:sp>
        <p:sp>
          <p:nvSpPr>
            <p:cNvPr id="184" name="TextBox 184"/>
            <p:cNvSpPr txBox="1"/>
            <p:nvPr/>
          </p:nvSpPr>
          <p:spPr>
            <a:xfrm>
              <a:off x="1767985" y="5531882"/>
              <a:ext cx="616930"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较年初+10.0%​</a:t>
              </a:r>
            </a:p>
          </p:txBody>
        </p:sp>
      </p:grpSp>
      <p:grpSp>
        <p:nvGrpSpPr>
          <p:cNvPr id="193" name="kpi-y-loan"/>
          <p:cNvGrpSpPr/>
          <p:nvPr/>
        </p:nvGrpSpPr>
        <p:grpSpPr>
          <a:xfrm>
            <a:off x="2781300" y="4572000"/>
            <a:ext cx="1257300" cy="1143000"/>
            <a:chOff x="2781300" y="4572000"/>
            <a:chExt cx="1257300" cy="1143000"/>
          </a:xfrm>
        </p:grpSpPr>
        <p:sp>
          <p:nvSpPr>
            <p:cNvPr id="186" name="Rectangle 186"/>
            <p:cNvSpPr/>
            <p:nvPr/>
          </p:nvSpPr>
          <p:spPr>
            <a:xfrm>
              <a:off x="2781300" y="4572000"/>
              <a:ext cx="1257300" cy="1143000"/>
            </a:xfrm>
            <a:prstGeom prst="roundRect">
              <a:avLst>
                <a:gd name="adj" fmla="val 5000"/>
              </a:avLst>
            </a:prstGeom>
            <a:solidFill>
              <a:srgbClr val="FFFFFF"/>
            </a:solidFill>
            <a:ln w="9525">
              <a:solidFill>
                <a:srgbClr val="C9D6E9"/>
              </a:solidFill>
            </a:ln>
          </p:spPr>
        </p:sp>
        <p:sp>
          <p:nvSpPr>
            <p:cNvPr id="187" name="TextBox 187"/>
            <p:cNvSpPr txBox="1"/>
            <p:nvPr/>
          </p:nvSpPr>
          <p:spPr>
            <a:xfrm>
              <a:off x="3214027" y="4704636"/>
              <a:ext cx="391846"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贷款余额</a:t>
              </a:r>
            </a:p>
          </p:txBody>
        </p:sp>
        <p:grpSp>
          <p:nvGrpSpPr>
            <p:cNvPr id="190" name="Group 190"/>
            <p:cNvGrpSpPr/>
            <p:nvPr/>
          </p:nvGrpSpPr>
          <p:grpSpPr>
            <a:xfrm>
              <a:off x="3314700" y="4924425"/>
              <a:ext cx="190500" cy="190500"/>
              <a:chOff x="3314700" y="4924425"/>
              <a:chExt cx="190500" cy="190500"/>
            </a:xfrm>
          </p:grpSpPr>
          <p:sp>
            <p:nvSpPr>
              <p:cNvPr id="188" name="Freeform 188"/>
              <p:cNvSpPr/>
              <p:nvPr/>
            </p:nvSpPr>
            <p:spPr>
              <a:xfrm>
                <a:off x="3314700" y="4924425"/>
                <a:ext cx="178594" cy="190500"/>
              </a:xfrm>
              <a:custGeom>
                <a:avLst/>
                <a:gdLst/>
                <a:ahLst/>
                <a:cxnLst/>
                <a:rect l="l" t="t" r="r" b="b"/>
                <a:pathLst>
                  <a:path w="178594" h="190500">
                    <a:moveTo>
                      <a:pt x="154781" y="47625"/>
                    </a:moveTo>
                    <a:lnTo>
                      <a:pt x="154781" y="11906"/>
                    </a:lnTo>
                    <a:cubicBezTo>
                      <a:pt x="154781" y="5331"/>
                      <a:pt x="149451" y="0"/>
                      <a:pt x="142875" y="0"/>
                    </a:cubicBezTo>
                    <a:lnTo>
                      <a:pt x="23812" y="0"/>
                    </a:lnTo>
                    <a:cubicBezTo>
                      <a:pt x="10661" y="0"/>
                      <a:pt x="0" y="10661"/>
                      <a:pt x="0" y="23812"/>
                    </a:cubicBezTo>
                    <a:cubicBezTo>
                      <a:pt x="0" y="36964"/>
                      <a:pt x="10661" y="47625"/>
                      <a:pt x="23812" y="47625"/>
                    </a:cubicBezTo>
                    <a:lnTo>
                      <a:pt x="166688" y="47625"/>
                    </a:lnTo>
                    <a:cubicBezTo>
                      <a:pt x="173263" y="47625"/>
                      <a:pt x="178594" y="52956"/>
                      <a:pt x="178594" y="59531"/>
                    </a:cubicBezTo>
                    <a:lnTo>
                      <a:pt x="178594" y="95250"/>
                    </a:lnTo>
                    <a:moveTo>
                      <a:pt x="178594" y="142875"/>
                    </a:moveTo>
                    <a:lnTo>
                      <a:pt x="178594" y="178594"/>
                    </a:lnTo>
                    <a:cubicBezTo>
                      <a:pt x="178594" y="185169"/>
                      <a:pt x="173263" y="190500"/>
                      <a:pt x="166688" y="190500"/>
                    </a:cubicBezTo>
                    <a:lnTo>
                      <a:pt x="23812" y="190500"/>
                    </a:lnTo>
                    <a:cubicBezTo>
                      <a:pt x="10661" y="190500"/>
                      <a:pt x="0" y="179839"/>
                      <a:pt x="0" y="166688"/>
                    </a:cubicBezTo>
                    <a:lnTo>
                      <a:pt x="0" y="23812"/>
                    </a:lnTo>
                  </a:path>
                </a:pathLst>
              </a:custGeom>
              <a:noFill/>
              <a:ln w="23812">
                <a:solidFill>
                  <a:srgbClr val="E04C2E"/>
                </a:solidFill>
              </a:ln>
            </p:spPr>
          </p:sp>
          <p:sp>
            <p:nvSpPr>
              <p:cNvPr id="189" name="Freeform 189"/>
              <p:cNvSpPr/>
              <p:nvPr/>
            </p:nvSpPr>
            <p:spPr>
              <a:xfrm>
                <a:off x="3433762" y="5019675"/>
                <a:ext cx="71438" cy="47625"/>
              </a:xfrm>
              <a:custGeom>
                <a:avLst/>
                <a:gdLst/>
                <a:ahLst/>
                <a:cxnLst/>
                <a:rect l="l" t="t" r="r" b="b"/>
                <a:pathLst>
                  <a:path w="71438" h="47625">
                    <a:moveTo>
                      <a:pt x="71438" y="0"/>
                    </a:moveTo>
                    <a:lnTo>
                      <a:pt x="71438" y="47625"/>
                    </a:lnTo>
                    <a:lnTo>
                      <a:pt x="23812" y="47625"/>
                    </a:lnTo>
                    <a:cubicBezTo>
                      <a:pt x="10661" y="47625"/>
                      <a:pt x="0" y="36964"/>
                      <a:pt x="0" y="23812"/>
                    </a:cubicBezTo>
                    <a:cubicBezTo>
                      <a:pt x="0" y="10661"/>
                      <a:pt x="10661" y="0"/>
                      <a:pt x="23812" y="0"/>
                    </a:cubicBezTo>
                    <a:lnTo>
                      <a:pt x="71438" y="0"/>
                    </a:lnTo>
                  </a:path>
                </a:pathLst>
              </a:custGeom>
              <a:noFill/>
              <a:ln w="23812">
                <a:solidFill>
                  <a:srgbClr val="E04C2E"/>
                </a:solidFill>
              </a:ln>
            </p:spPr>
          </p:sp>
        </p:grpSp>
        <p:sp>
          <p:nvSpPr>
            <p:cNvPr id="191" name="TextBox 191"/>
            <p:cNvSpPr txBox="1"/>
            <p:nvPr/>
          </p:nvSpPr>
          <p:spPr>
            <a:xfrm>
              <a:off x="3101644" y="5264468"/>
              <a:ext cx="616612" cy="264033"/>
            </a:xfrm>
            <a:prstGeom prst="rect">
              <a:avLst/>
            </a:prstGeom>
            <a:noFill/>
            <a:ln>
              <a:noFill/>
            </a:ln>
          </p:spPr>
          <p:txBody>
            <a:bodyPr wrap="none" lIns="0" tIns="0" rIns="0" bIns="0" anchor="t" anchorCtr="0">
              <a:spAutoFit/>
            </a:bodyPr>
            <a:lstStyle/>
            <a:p>
              <a:pPr algn="ctr"/>
              <a:r>
                <a:rPr lang="zh-CN" sz="1350" b="1" dirty="0">
                  <a:solidFill>
                    <a:srgbClr val="69281B"/>
                  </a:solidFill>
                  <a:latin typeface="+mn-lt"/>
                  <a:ea typeface="+mn-ea"/>
                  <a:cs typeface="+mn-cs"/>
                </a:rPr>
                <a:t>315</a:t>
              </a:r>
              <a:r>
                <a:rPr lang="zh-CN" sz="680" dirty="0">
                  <a:solidFill>
                    <a:srgbClr val="69281B"/>
                  </a:solidFill>
                  <a:latin typeface="+mn-lt"/>
                  <a:ea typeface="+mn-ea"/>
                  <a:cs typeface="+mn-cs"/>
                </a:rPr>
                <a:t>亿元</a:t>
              </a:r>
              <a:r>
                <a:rPr lang="zh-CN" sz="1350" b="1" dirty="0">
                  <a:solidFill>
                    <a:srgbClr val="69281B"/>
                  </a:solidFill>
                  <a:latin typeface="+mn-lt"/>
                  <a:ea typeface="+mn-ea"/>
                  <a:cs typeface="+mn-cs"/>
                </a:rPr>
                <a:t>​</a:t>
              </a:r>
            </a:p>
          </p:txBody>
        </p:sp>
        <p:sp>
          <p:nvSpPr>
            <p:cNvPr id="192" name="TextBox 192"/>
            <p:cNvSpPr txBox="1"/>
            <p:nvPr/>
          </p:nvSpPr>
          <p:spPr>
            <a:xfrm>
              <a:off x="3101485" y="5531882"/>
              <a:ext cx="616930"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较年初+10.2%​</a:t>
              </a:r>
            </a:p>
          </p:txBody>
        </p:sp>
      </p:grpSp>
      <p:grpSp>
        <p:nvGrpSpPr>
          <p:cNvPr id="201" name="kpi-y-fee"/>
          <p:cNvGrpSpPr/>
          <p:nvPr/>
        </p:nvGrpSpPr>
        <p:grpSpPr>
          <a:xfrm>
            <a:off x="4114800" y="4572000"/>
            <a:ext cx="1257300" cy="1143000"/>
            <a:chOff x="4114800" y="4572000"/>
            <a:chExt cx="1257300" cy="1143000"/>
          </a:xfrm>
        </p:grpSpPr>
        <p:sp>
          <p:nvSpPr>
            <p:cNvPr id="194" name="Rectangle 194"/>
            <p:cNvSpPr/>
            <p:nvPr/>
          </p:nvSpPr>
          <p:spPr>
            <a:xfrm>
              <a:off x="4114800" y="4572000"/>
              <a:ext cx="1257300" cy="1143000"/>
            </a:xfrm>
            <a:prstGeom prst="roundRect">
              <a:avLst>
                <a:gd name="adj" fmla="val 5000"/>
              </a:avLst>
            </a:prstGeom>
            <a:solidFill>
              <a:srgbClr val="FFFFFF"/>
            </a:solidFill>
            <a:ln w="9525">
              <a:solidFill>
                <a:srgbClr val="C9D6E9"/>
              </a:solidFill>
            </a:ln>
          </p:spPr>
        </p:sp>
        <p:sp>
          <p:nvSpPr>
            <p:cNvPr id="195" name="TextBox 195"/>
            <p:cNvSpPr txBox="1"/>
            <p:nvPr/>
          </p:nvSpPr>
          <p:spPr>
            <a:xfrm>
              <a:off x="4547527" y="4704636"/>
              <a:ext cx="391846"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中收收入</a:t>
              </a:r>
            </a:p>
          </p:txBody>
        </p:sp>
        <p:grpSp>
          <p:nvGrpSpPr>
            <p:cNvPr id="198" name="Group 198"/>
            <p:cNvGrpSpPr/>
            <p:nvPr/>
          </p:nvGrpSpPr>
          <p:grpSpPr>
            <a:xfrm>
              <a:off x="4636294" y="4960144"/>
              <a:ext cx="214312" cy="119062"/>
              <a:chOff x="4636294" y="4960144"/>
              <a:chExt cx="214312" cy="119062"/>
            </a:xfrm>
          </p:grpSpPr>
          <p:sp>
            <p:nvSpPr>
              <p:cNvPr id="196" name="Freeform 196"/>
              <p:cNvSpPr/>
              <p:nvPr/>
            </p:nvSpPr>
            <p:spPr>
              <a:xfrm>
                <a:off x="4636294" y="4960144"/>
                <a:ext cx="214312" cy="119062"/>
              </a:xfrm>
              <a:custGeom>
                <a:avLst/>
                <a:gdLst/>
                <a:ahLst/>
                <a:cxnLst/>
                <a:rect l="l" t="t" r="r" b="b"/>
                <a:pathLst>
                  <a:path w="214312" h="119062">
                    <a:moveTo>
                      <a:pt x="0" y="119062"/>
                    </a:moveTo>
                    <a:lnTo>
                      <a:pt x="71438" y="47625"/>
                    </a:lnTo>
                    <a:lnTo>
                      <a:pt x="119062" y="95250"/>
                    </a:lnTo>
                    <a:lnTo>
                      <a:pt x="214312" y="0"/>
                    </a:lnTo>
                  </a:path>
                </a:pathLst>
              </a:custGeom>
              <a:noFill/>
              <a:ln w="23812">
                <a:solidFill>
                  <a:srgbClr val="E04C2E"/>
                </a:solidFill>
              </a:ln>
            </p:spPr>
          </p:sp>
          <p:sp>
            <p:nvSpPr>
              <p:cNvPr id="197" name="Freeform 197"/>
              <p:cNvSpPr/>
              <p:nvPr/>
            </p:nvSpPr>
            <p:spPr>
              <a:xfrm>
                <a:off x="4767262" y="4960144"/>
                <a:ext cx="83344" cy="83344"/>
              </a:xfrm>
              <a:custGeom>
                <a:avLst/>
                <a:gdLst/>
                <a:ahLst/>
                <a:cxnLst/>
                <a:rect l="l" t="t" r="r" b="b"/>
                <a:pathLst>
                  <a:path w="83344" h="83344">
                    <a:moveTo>
                      <a:pt x="0" y="0"/>
                    </a:moveTo>
                    <a:lnTo>
                      <a:pt x="83344" y="0"/>
                    </a:lnTo>
                    <a:lnTo>
                      <a:pt x="83344" y="83344"/>
                    </a:lnTo>
                  </a:path>
                </a:pathLst>
              </a:custGeom>
              <a:noFill/>
              <a:ln w="23812">
                <a:solidFill>
                  <a:srgbClr val="E04C2E"/>
                </a:solidFill>
              </a:ln>
            </p:spPr>
          </p:sp>
        </p:grpSp>
        <p:sp>
          <p:nvSpPr>
            <p:cNvPr id="199" name="TextBox 199"/>
            <p:cNvSpPr txBox="1"/>
            <p:nvPr/>
          </p:nvSpPr>
          <p:spPr>
            <a:xfrm>
              <a:off x="4382668" y="5264468"/>
              <a:ext cx="721565" cy="264033"/>
            </a:xfrm>
            <a:prstGeom prst="rect">
              <a:avLst/>
            </a:prstGeom>
            <a:noFill/>
            <a:ln>
              <a:noFill/>
            </a:ln>
          </p:spPr>
          <p:txBody>
            <a:bodyPr wrap="none" lIns="0" tIns="0" rIns="0" bIns="0" anchor="t" anchorCtr="0">
              <a:spAutoFit/>
            </a:bodyPr>
            <a:lstStyle/>
            <a:p>
              <a:pPr algn="ctr"/>
              <a:r>
                <a:rPr lang="zh-CN" sz="1350" b="1" dirty="0">
                  <a:solidFill>
                    <a:srgbClr val="69281B"/>
                  </a:solidFill>
                  <a:latin typeface="+mn-lt"/>
                  <a:ea typeface="+mn-ea"/>
                  <a:cs typeface="+mn-cs"/>
                </a:rPr>
                <a:t>4.01</a:t>
              </a:r>
              <a:r>
                <a:rPr lang="zh-CN" sz="680" dirty="0">
                  <a:solidFill>
                    <a:srgbClr val="69281B"/>
                  </a:solidFill>
                  <a:latin typeface="+mn-lt"/>
                  <a:ea typeface="+mn-ea"/>
                  <a:cs typeface="+mn-cs"/>
                </a:rPr>
                <a:t>亿元</a:t>
              </a:r>
              <a:r>
                <a:rPr lang="zh-CN" sz="1350" b="1" dirty="0">
                  <a:solidFill>
                    <a:srgbClr val="69281B"/>
                  </a:solidFill>
                  <a:latin typeface="+mn-lt"/>
                  <a:ea typeface="+mn-ea"/>
                  <a:cs typeface="+mn-cs"/>
                </a:rPr>
                <a:t>​</a:t>
              </a:r>
            </a:p>
          </p:txBody>
        </p:sp>
        <p:sp>
          <p:nvSpPr>
            <p:cNvPr id="200" name="TextBox 200"/>
            <p:cNvSpPr txBox="1"/>
            <p:nvPr/>
          </p:nvSpPr>
          <p:spPr>
            <a:xfrm>
              <a:off x="4434985" y="5531882"/>
              <a:ext cx="616930"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较年初+12.0%​</a:t>
              </a:r>
            </a:p>
          </p:txBody>
        </p:sp>
      </p:grpSp>
      <p:grpSp>
        <p:nvGrpSpPr>
          <p:cNvPr id="211" name="kpi-y-clients"/>
          <p:cNvGrpSpPr/>
          <p:nvPr/>
        </p:nvGrpSpPr>
        <p:grpSpPr>
          <a:xfrm>
            <a:off x="5448300" y="4572000"/>
            <a:ext cx="1257300" cy="1143000"/>
            <a:chOff x="5448300" y="4572000"/>
            <a:chExt cx="1257300" cy="1143000"/>
          </a:xfrm>
        </p:grpSpPr>
        <p:sp>
          <p:nvSpPr>
            <p:cNvPr id="202" name="Rectangle 202"/>
            <p:cNvSpPr/>
            <p:nvPr/>
          </p:nvSpPr>
          <p:spPr>
            <a:xfrm>
              <a:off x="5448300" y="4572000"/>
              <a:ext cx="1257300" cy="1143000"/>
            </a:xfrm>
            <a:prstGeom prst="roundRect">
              <a:avLst>
                <a:gd name="adj" fmla="val 5000"/>
              </a:avLst>
            </a:prstGeom>
            <a:solidFill>
              <a:srgbClr val="FFFFFF"/>
            </a:solidFill>
            <a:ln w="9525">
              <a:solidFill>
                <a:srgbClr val="C9D6E9"/>
              </a:solidFill>
            </a:ln>
          </p:spPr>
        </p:sp>
        <p:sp>
          <p:nvSpPr>
            <p:cNvPr id="203" name="TextBox 203"/>
            <p:cNvSpPr txBox="1"/>
            <p:nvPr/>
          </p:nvSpPr>
          <p:spPr>
            <a:xfrm>
              <a:off x="5881027" y="4704636"/>
              <a:ext cx="391846"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客户数量</a:t>
              </a:r>
            </a:p>
          </p:txBody>
        </p:sp>
        <p:grpSp>
          <p:nvGrpSpPr>
            <p:cNvPr id="208" name="Group 208"/>
            <p:cNvGrpSpPr/>
            <p:nvPr/>
          </p:nvGrpSpPr>
          <p:grpSpPr>
            <a:xfrm>
              <a:off x="5969794" y="4912519"/>
              <a:ext cx="214313" cy="214313"/>
              <a:chOff x="5969794" y="4912519"/>
              <a:chExt cx="214313" cy="214313"/>
            </a:xfrm>
          </p:grpSpPr>
          <p:sp>
            <p:nvSpPr>
              <p:cNvPr id="204" name="Freeform 204"/>
              <p:cNvSpPr/>
              <p:nvPr/>
            </p:nvSpPr>
            <p:spPr>
              <a:xfrm>
                <a:off x="5993606" y="491251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E04C2E"/>
                </a:solidFill>
              </a:ln>
            </p:spPr>
          </p:sp>
          <p:sp>
            <p:nvSpPr>
              <p:cNvPr id="205" name="Freeform 205"/>
              <p:cNvSpPr/>
              <p:nvPr/>
            </p:nvSpPr>
            <p:spPr>
              <a:xfrm>
                <a:off x="5969794" y="5055394"/>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23812">
                <a:solidFill>
                  <a:srgbClr val="E04C2E"/>
                </a:solidFill>
              </a:ln>
            </p:spPr>
          </p:sp>
          <p:sp>
            <p:nvSpPr>
              <p:cNvPr id="206" name="Freeform 206"/>
              <p:cNvSpPr/>
              <p:nvPr/>
            </p:nvSpPr>
            <p:spPr>
              <a:xfrm>
                <a:off x="6124575" y="4914067"/>
                <a:ext cx="35812" cy="92273"/>
              </a:xfrm>
              <a:custGeom>
                <a:avLst/>
                <a:gdLst/>
                <a:ahLst/>
                <a:cxnLst/>
                <a:rect l="l" t="t" r="r" b="b"/>
                <a:pathLst>
                  <a:path w="35812" h="92273">
                    <a:moveTo>
                      <a:pt x="0" y="0"/>
                    </a:moveTo>
                    <a:cubicBezTo>
                      <a:pt x="21073" y="5396"/>
                      <a:pt x="35812" y="24384"/>
                      <a:pt x="35812" y="46137"/>
                    </a:cubicBezTo>
                    <a:cubicBezTo>
                      <a:pt x="35812" y="67890"/>
                      <a:pt x="21073" y="86878"/>
                      <a:pt x="0" y="92273"/>
                    </a:cubicBezTo>
                  </a:path>
                </a:pathLst>
              </a:custGeom>
              <a:noFill/>
              <a:ln w="23812">
                <a:solidFill>
                  <a:srgbClr val="E04C2E"/>
                </a:solidFill>
              </a:ln>
            </p:spPr>
          </p:sp>
          <p:sp>
            <p:nvSpPr>
              <p:cNvPr id="207" name="Freeform 207"/>
              <p:cNvSpPr/>
              <p:nvPr/>
            </p:nvSpPr>
            <p:spPr>
              <a:xfrm>
                <a:off x="6148388" y="5057180"/>
                <a:ext cx="35719" cy="69652"/>
              </a:xfrm>
              <a:custGeom>
                <a:avLst/>
                <a:gdLst/>
                <a:ahLst/>
                <a:cxnLst/>
                <a:rect l="l" t="t" r="r" b="b"/>
                <a:pathLst>
                  <a:path w="35719" h="69652">
                    <a:moveTo>
                      <a:pt x="35719" y="69652"/>
                    </a:moveTo>
                    <a:lnTo>
                      <a:pt x="35719" y="45839"/>
                    </a:lnTo>
                    <a:cubicBezTo>
                      <a:pt x="35594" y="24224"/>
                      <a:pt x="20929" y="5403"/>
                      <a:pt x="0" y="0"/>
                    </a:cubicBezTo>
                  </a:path>
                </a:pathLst>
              </a:custGeom>
              <a:noFill/>
              <a:ln w="23812">
                <a:solidFill>
                  <a:srgbClr val="E04C2E"/>
                </a:solidFill>
              </a:ln>
            </p:spPr>
          </p:sp>
        </p:grpSp>
        <p:sp>
          <p:nvSpPr>
            <p:cNvPr id="209" name="TextBox 209"/>
            <p:cNvSpPr txBox="1"/>
            <p:nvPr/>
          </p:nvSpPr>
          <p:spPr>
            <a:xfrm>
              <a:off x="5656985" y="5264468"/>
              <a:ext cx="839929" cy="264033"/>
            </a:xfrm>
            <a:prstGeom prst="rect">
              <a:avLst/>
            </a:prstGeom>
            <a:noFill/>
            <a:ln>
              <a:noFill/>
            </a:ln>
          </p:spPr>
          <p:txBody>
            <a:bodyPr wrap="none" lIns="0" tIns="0" rIns="0" bIns="0" anchor="t" anchorCtr="0">
              <a:spAutoFit/>
            </a:bodyPr>
            <a:lstStyle/>
            <a:p>
              <a:pPr algn="ctr"/>
              <a:r>
                <a:rPr lang="zh-CN" sz="1350" b="1" dirty="0">
                  <a:solidFill>
                    <a:srgbClr val="69281B"/>
                  </a:solidFill>
                  <a:latin typeface="+mn-lt"/>
                  <a:ea typeface="+mn-ea"/>
                  <a:cs typeface="+mn-cs"/>
                </a:rPr>
                <a:t>13,800</a:t>
              </a:r>
              <a:r>
                <a:rPr lang="zh-CN" sz="680" dirty="0">
                  <a:solidFill>
                    <a:srgbClr val="69281B"/>
                  </a:solidFill>
                  <a:latin typeface="+mn-lt"/>
                  <a:ea typeface="+mn-ea"/>
                  <a:cs typeface="+mn-cs"/>
                </a:rPr>
                <a:t>户</a:t>
              </a:r>
              <a:r>
                <a:rPr lang="zh-CN" sz="1350" b="1" dirty="0">
                  <a:solidFill>
                    <a:srgbClr val="69281B"/>
                  </a:solidFill>
                  <a:latin typeface="+mn-lt"/>
                  <a:ea typeface="+mn-ea"/>
                  <a:cs typeface="+mn-cs"/>
                </a:rPr>
                <a:t>​</a:t>
              </a:r>
            </a:p>
          </p:txBody>
        </p:sp>
        <p:sp>
          <p:nvSpPr>
            <p:cNvPr id="210" name="TextBox 210"/>
            <p:cNvSpPr txBox="1"/>
            <p:nvPr/>
          </p:nvSpPr>
          <p:spPr>
            <a:xfrm>
              <a:off x="5768485" y="5531882"/>
              <a:ext cx="616930"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较年初+15.0%​</a:t>
              </a:r>
            </a:p>
          </p:txBody>
        </p:sp>
      </p:grpSp>
      <p:grpSp>
        <p:nvGrpSpPr>
          <p:cNvPr id="219" name="kpi-y-npl"/>
          <p:cNvGrpSpPr/>
          <p:nvPr/>
        </p:nvGrpSpPr>
        <p:grpSpPr>
          <a:xfrm>
            <a:off x="6781800" y="4572000"/>
            <a:ext cx="1257300" cy="1143000"/>
            <a:chOff x="6781800" y="4572000"/>
            <a:chExt cx="1257300" cy="1143000"/>
          </a:xfrm>
        </p:grpSpPr>
        <p:sp>
          <p:nvSpPr>
            <p:cNvPr id="212" name="Rectangle 212"/>
            <p:cNvSpPr/>
            <p:nvPr/>
          </p:nvSpPr>
          <p:spPr>
            <a:xfrm>
              <a:off x="6781800" y="4572000"/>
              <a:ext cx="1257300" cy="1143000"/>
            </a:xfrm>
            <a:prstGeom prst="roundRect">
              <a:avLst>
                <a:gd name="adj" fmla="val 5000"/>
              </a:avLst>
            </a:prstGeom>
            <a:solidFill>
              <a:srgbClr val="FFFFFF"/>
            </a:solidFill>
            <a:ln w="9525">
              <a:solidFill>
                <a:srgbClr val="C9D6E9"/>
              </a:solidFill>
            </a:ln>
          </p:spPr>
        </p:sp>
        <p:sp>
          <p:nvSpPr>
            <p:cNvPr id="213" name="TextBox 213"/>
            <p:cNvSpPr txBox="1"/>
            <p:nvPr/>
          </p:nvSpPr>
          <p:spPr>
            <a:xfrm>
              <a:off x="7166737" y="4704636"/>
              <a:ext cx="487426" cy="140494"/>
            </a:xfrm>
            <a:prstGeom prst="rect">
              <a:avLst/>
            </a:prstGeom>
            <a:noFill/>
            <a:ln>
              <a:noFill/>
            </a:ln>
          </p:spPr>
          <p:txBody>
            <a:bodyPr wrap="none" lIns="0" tIns="0" rIns="0" bIns="0" anchor="t" anchorCtr="0">
              <a:spAutoFit/>
            </a:bodyPr>
            <a:lstStyle/>
            <a:p>
              <a:pPr algn="ctr"/>
              <a:r>
                <a:rPr lang="zh-CN" sz="710" dirty="0">
                  <a:solidFill>
                    <a:srgbClr val="987F7A"/>
                  </a:solidFill>
                  <a:latin typeface="+mn-lt"/>
                  <a:ea typeface="+mn-ea"/>
                  <a:cs typeface="+mn-cs"/>
                </a:rPr>
                <a:t>不良贷款率</a:t>
              </a:r>
            </a:p>
          </p:txBody>
        </p:sp>
        <p:grpSp>
          <p:nvGrpSpPr>
            <p:cNvPr id="216" name="Group 216"/>
            <p:cNvGrpSpPr/>
            <p:nvPr/>
          </p:nvGrpSpPr>
          <p:grpSpPr>
            <a:xfrm>
              <a:off x="7287226" y="4912519"/>
              <a:ext cx="232508" cy="214312"/>
              <a:chOff x="7287226" y="4912519"/>
              <a:chExt cx="232508" cy="214312"/>
            </a:xfrm>
          </p:grpSpPr>
          <p:sp>
            <p:nvSpPr>
              <p:cNvPr id="214" name="Freeform 214"/>
              <p:cNvSpPr/>
              <p:nvPr/>
            </p:nvSpPr>
            <p:spPr>
              <a:xfrm>
                <a:off x="7287226" y="491251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E04C2E"/>
                </a:solidFill>
              </a:ln>
            </p:spPr>
          </p:sp>
          <p:sp>
            <p:nvSpPr>
              <p:cNvPr id="215" name="Freeform 215"/>
              <p:cNvSpPr/>
              <p:nvPr/>
            </p:nvSpPr>
            <p:spPr>
              <a:xfrm>
                <a:off x="7446169" y="5079206"/>
                <a:ext cx="71438" cy="47625"/>
              </a:xfrm>
              <a:custGeom>
                <a:avLst/>
                <a:gdLst/>
                <a:ahLst/>
                <a:cxnLst/>
                <a:rect l="l" t="t" r="r" b="b"/>
                <a:pathLst>
                  <a:path w="71438" h="47625">
                    <a:moveTo>
                      <a:pt x="0" y="23812"/>
                    </a:moveTo>
                    <a:lnTo>
                      <a:pt x="23812" y="47625"/>
                    </a:lnTo>
                    <a:lnTo>
                      <a:pt x="71438" y="0"/>
                    </a:lnTo>
                  </a:path>
                </a:pathLst>
              </a:custGeom>
              <a:noFill/>
              <a:ln w="23812">
                <a:solidFill>
                  <a:srgbClr val="E04C2E"/>
                </a:solidFill>
              </a:ln>
            </p:spPr>
          </p:sp>
        </p:grpSp>
        <p:sp>
          <p:nvSpPr>
            <p:cNvPr id="217" name="TextBox 217"/>
            <p:cNvSpPr txBox="1"/>
            <p:nvPr/>
          </p:nvSpPr>
          <p:spPr>
            <a:xfrm>
              <a:off x="7106881" y="5264468"/>
              <a:ext cx="607138" cy="264033"/>
            </a:xfrm>
            <a:prstGeom prst="rect">
              <a:avLst/>
            </a:prstGeom>
            <a:noFill/>
            <a:ln>
              <a:noFill/>
            </a:ln>
          </p:spPr>
          <p:txBody>
            <a:bodyPr wrap="none" lIns="0" tIns="0" rIns="0" bIns="0" anchor="t" anchorCtr="0">
              <a:spAutoFit/>
            </a:bodyPr>
            <a:lstStyle/>
            <a:p>
              <a:pPr algn="ctr"/>
              <a:r>
                <a:rPr lang="zh-CN" sz="1350" b="1" dirty="0">
                  <a:solidFill>
                    <a:srgbClr val="69281B"/>
                  </a:solidFill>
                  <a:latin typeface="+mn-lt"/>
                  <a:ea typeface="+mn-ea"/>
                  <a:cs typeface="+mn-cs"/>
                </a:rPr>
                <a:t>≤1.0</a:t>
              </a:r>
              <a:r>
                <a:rPr lang="zh-CN" sz="680" dirty="0">
                  <a:solidFill>
                    <a:srgbClr val="69281B"/>
                  </a:solidFill>
                  <a:latin typeface="+mn-lt"/>
                  <a:ea typeface="+mn-ea"/>
                  <a:cs typeface="+mn-cs"/>
                </a:rPr>
                <a:t>%</a:t>
              </a:r>
              <a:r>
                <a:rPr lang="zh-CN" sz="1350" b="1" dirty="0">
                  <a:solidFill>
                    <a:srgbClr val="69281B"/>
                  </a:solidFill>
                  <a:latin typeface="+mn-lt"/>
                  <a:ea typeface="+mn-ea"/>
                  <a:cs typeface="+mn-cs"/>
                </a:rPr>
                <a:t>​</a:t>
              </a:r>
            </a:p>
          </p:txBody>
        </p:sp>
        <p:sp>
          <p:nvSpPr>
            <p:cNvPr id="218" name="TextBox 218"/>
            <p:cNvSpPr txBox="1"/>
            <p:nvPr/>
          </p:nvSpPr>
          <p:spPr>
            <a:xfrm>
              <a:off x="7017982" y="5531882"/>
              <a:ext cx="784936" cy="126206"/>
            </a:xfrm>
            <a:prstGeom prst="rect">
              <a:avLst/>
            </a:prstGeom>
            <a:noFill/>
            <a:ln>
              <a:noFill/>
            </a:ln>
          </p:spPr>
          <p:txBody>
            <a:bodyPr wrap="none" lIns="0" tIns="0" rIns="0" bIns="0" anchor="t" anchorCtr="0">
              <a:spAutoFit/>
            </a:bodyPr>
            <a:lstStyle/>
            <a:p>
              <a:pPr algn="ctr"/>
              <a:r>
                <a:rPr lang="zh-CN" sz="640" dirty="0">
                  <a:solidFill>
                    <a:srgbClr val="E04C2E"/>
                  </a:solidFill>
                  <a:latin typeface="+mn-lt"/>
                  <a:ea typeface="+mn-ea"/>
                  <a:cs typeface="+mn-cs"/>
                </a:rPr>
                <a:t>控制在年度目标以内</a:t>
              </a:r>
            </a:p>
          </p:txBody>
        </p:sp>
      </p:grpSp>
      <p:grpSp>
        <p:nvGrpSpPr>
          <p:cNvPr id="232" name="risk-focus"/>
          <p:cNvGrpSpPr/>
          <p:nvPr/>
        </p:nvGrpSpPr>
        <p:grpSpPr>
          <a:xfrm>
            <a:off x="8153400" y="4572000"/>
            <a:ext cx="3810000" cy="1143000"/>
            <a:chOff x="8153400" y="4572000"/>
            <a:chExt cx="3810000" cy="1143000"/>
          </a:xfrm>
        </p:grpSpPr>
        <p:sp>
          <p:nvSpPr>
            <p:cNvPr id="220" name="Rectangle 220"/>
            <p:cNvSpPr/>
            <p:nvPr/>
          </p:nvSpPr>
          <p:spPr>
            <a:xfrm>
              <a:off x="8153400" y="4572000"/>
              <a:ext cx="3810000" cy="1143000"/>
            </a:xfrm>
            <a:prstGeom prst="roundRect">
              <a:avLst>
                <a:gd name="adj" fmla="val 5000"/>
              </a:avLst>
            </a:prstGeom>
            <a:solidFill>
              <a:srgbClr val="FFF7F6"/>
            </a:solidFill>
            <a:ln w="11430">
              <a:solidFill>
                <a:srgbClr val="D0442C"/>
              </a:solidFill>
            </a:ln>
          </p:spPr>
        </p:sp>
        <p:grpSp>
          <p:nvGrpSpPr>
            <p:cNvPr id="224" name="Group 224"/>
            <p:cNvGrpSpPr/>
            <p:nvPr/>
          </p:nvGrpSpPr>
          <p:grpSpPr>
            <a:xfrm>
              <a:off x="8281379" y="4686308"/>
              <a:ext cx="144086" cy="123788"/>
              <a:chOff x="8281379" y="4686308"/>
              <a:chExt cx="144086" cy="123788"/>
            </a:xfrm>
          </p:grpSpPr>
          <p:sp>
            <p:nvSpPr>
              <p:cNvPr id="221" name="Freeform 221"/>
              <p:cNvSpPr/>
              <p:nvPr/>
            </p:nvSpPr>
            <p:spPr>
              <a:xfrm>
                <a:off x="8353425" y="4731544"/>
                <a:ext cx="9525" cy="28575"/>
              </a:xfrm>
              <a:custGeom>
                <a:avLst/>
                <a:gdLst/>
                <a:ahLst/>
                <a:cxnLst/>
                <a:rect l="l" t="t" r="r" b="b"/>
                <a:pathLst>
                  <a:path w="9525" h="28575">
                    <a:moveTo>
                      <a:pt x="0" y="0"/>
                    </a:moveTo>
                    <a:lnTo>
                      <a:pt x="0" y="28575"/>
                    </a:lnTo>
                  </a:path>
                </a:pathLst>
              </a:custGeom>
              <a:noFill/>
              <a:ln w="14288">
                <a:solidFill>
                  <a:srgbClr val="D0442C"/>
                </a:solidFill>
              </a:ln>
            </p:spPr>
          </p:sp>
          <p:sp>
            <p:nvSpPr>
              <p:cNvPr id="222" name="Freeform 222"/>
              <p:cNvSpPr/>
              <p:nvPr/>
            </p:nvSpPr>
            <p:spPr>
              <a:xfrm>
                <a:off x="8281379" y="4686308"/>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D0442C"/>
                </a:solidFill>
              </a:ln>
            </p:spPr>
          </p:sp>
          <p:sp>
            <p:nvSpPr>
              <p:cNvPr id="223" name="Freeform 223"/>
              <p:cNvSpPr/>
              <p:nvPr/>
            </p:nvSpPr>
            <p:spPr>
              <a:xfrm>
                <a:off x="8353425" y="4781550"/>
                <a:ext cx="9525" cy="9525"/>
              </a:xfrm>
              <a:custGeom>
                <a:avLst/>
                <a:gdLst/>
                <a:ahLst/>
                <a:cxnLst/>
                <a:rect l="l" t="t" r="r" b="b"/>
                <a:pathLst>
                  <a:path w="9525" h="9525">
                    <a:moveTo>
                      <a:pt x="0" y="0"/>
                    </a:moveTo>
                    <a:lnTo>
                      <a:pt x="71" y="0"/>
                    </a:lnTo>
                  </a:path>
                </a:pathLst>
              </a:custGeom>
              <a:noFill/>
              <a:ln w="14288">
                <a:solidFill>
                  <a:srgbClr val="D0442C"/>
                </a:solidFill>
              </a:ln>
            </p:spPr>
          </p:sp>
        </p:grpSp>
        <p:sp>
          <p:nvSpPr>
            <p:cNvPr id="225" name="TextBox 225"/>
            <p:cNvSpPr txBox="1"/>
            <p:nvPr/>
          </p:nvSpPr>
          <p:spPr>
            <a:xfrm>
              <a:off x="8491538" y="4711541"/>
              <a:ext cx="1362934" cy="161925"/>
            </a:xfrm>
            <a:prstGeom prst="rect">
              <a:avLst/>
            </a:prstGeom>
            <a:noFill/>
            <a:ln>
              <a:noFill/>
            </a:ln>
          </p:spPr>
          <p:txBody>
            <a:bodyPr wrap="none" lIns="0" tIns="0" rIns="0" bIns="0" anchor="t" anchorCtr="0">
              <a:spAutoFit/>
            </a:bodyPr>
            <a:lstStyle/>
            <a:p>
              <a:pPr algn="l"/>
              <a:r>
                <a:rPr lang="zh-CN" sz="820" b="1" dirty="0">
                  <a:solidFill>
                    <a:srgbClr val="D0442C"/>
                  </a:solidFill>
                  <a:latin typeface="+mn-lt"/>
                  <a:ea typeface="+mn-ea"/>
                  <a:cs typeface="+mn-cs"/>
                </a:rPr>
                <a:t>风险与差距提示</a:t>
              </a:r>
              <a:r>
                <a:rPr lang="zh-CN" sz="640" dirty="0">
                  <a:solidFill>
                    <a:srgbClr val="D0442C"/>
                  </a:solidFill>
                  <a:latin typeface="+mn-lt"/>
                  <a:ea typeface="+mn-ea"/>
                  <a:cs typeface="+mn-cs"/>
                </a:rPr>
                <a:t>（重点关注）</a:t>
              </a:r>
              <a:r>
                <a:rPr lang="zh-CN" sz="820" b="1" dirty="0">
                  <a:solidFill>
                    <a:srgbClr val="D0442C"/>
                  </a:solidFill>
                  <a:latin typeface="+mn-lt"/>
                  <a:ea typeface="+mn-ea"/>
                  <a:cs typeface="+mn-cs"/>
                </a:rPr>
                <a:t>​</a:t>
              </a:r>
            </a:p>
          </p:txBody>
        </p:sp>
        <p:sp>
          <p:nvSpPr>
            <p:cNvPr id="226" name="Ellipse 226"/>
            <p:cNvSpPr/>
            <p:nvPr/>
          </p:nvSpPr>
          <p:spPr>
            <a:xfrm>
              <a:off x="8307705" y="4973955"/>
              <a:ext cx="34290" cy="34290"/>
            </a:xfrm>
            <a:prstGeom prst="ellipse">
              <a:avLst/>
            </a:prstGeom>
            <a:solidFill>
              <a:srgbClr val="D0442C"/>
            </a:solidFill>
            <a:ln>
              <a:noFill/>
            </a:ln>
          </p:spPr>
        </p:sp>
        <p:sp>
          <p:nvSpPr>
            <p:cNvPr id="227" name="TextBox 227"/>
            <p:cNvSpPr txBox="1"/>
            <p:nvPr/>
          </p:nvSpPr>
          <p:spPr>
            <a:xfrm>
              <a:off x="8396288" y="4956334"/>
              <a:ext cx="1657274"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存款结构仍待优化，低成本负债占比偏低</a:t>
              </a:r>
            </a:p>
          </p:txBody>
        </p:sp>
        <p:sp>
          <p:nvSpPr>
            <p:cNvPr id="228" name="Ellipse 228"/>
            <p:cNvSpPr/>
            <p:nvPr/>
          </p:nvSpPr>
          <p:spPr>
            <a:xfrm>
              <a:off x="8307705" y="5202555"/>
              <a:ext cx="34290" cy="34290"/>
            </a:xfrm>
            <a:prstGeom prst="ellipse">
              <a:avLst/>
            </a:prstGeom>
            <a:solidFill>
              <a:srgbClr val="D0442C"/>
            </a:solidFill>
            <a:ln>
              <a:noFill/>
            </a:ln>
          </p:spPr>
        </p:sp>
        <p:sp>
          <p:nvSpPr>
            <p:cNvPr id="229" name="TextBox 229"/>
            <p:cNvSpPr txBox="1"/>
            <p:nvPr/>
          </p:nvSpPr>
          <p:spPr>
            <a:xfrm>
              <a:off x="8396288" y="5184934"/>
              <a:ext cx="1565732"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中收占比仍偏低，综合经营能力需提升</a:t>
              </a:r>
            </a:p>
          </p:txBody>
        </p:sp>
        <p:sp>
          <p:nvSpPr>
            <p:cNvPr id="230" name="Ellipse 230"/>
            <p:cNvSpPr/>
            <p:nvPr/>
          </p:nvSpPr>
          <p:spPr>
            <a:xfrm>
              <a:off x="8307705" y="5431155"/>
              <a:ext cx="34290" cy="34290"/>
            </a:xfrm>
            <a:prstGeom prst="ellipse">
              <a:avLst/>
            </a:prstGeom>
            <a:solidFill>
              <a:srgbClr val="D0442C"/>
            </a:solidFill>
            <a:ln>
              <a:noFill/>
            </a:ln>
          </p:spPr>
        </p:sp>
        <p:sp>
          <p:nvSpPr>
            <p:cNvPr id="231" name="TextBox 231"/>
            <p:cNvSpPr txBox="1"/>
            <p:nvPr/>
          </p:nvSpPr>
          <p:spPr>
            <a:xfrm>
              <a:off x="8396288" y="5413534"/>
              <a:ext cx="1657274" cy="133350"/>
            </a:xfrm>
            <a:prstGeom prst="rect">
              <a:avLst/>
            </a:prstGeom>
            <a:noFill/>
            <a:ln>
              <a:noFill/>
            </a:ln>
          </p:spPr>
          <p:txBody>
            <a:bodyPr wrap="none" lIns="0" tIns="0" rIns="0" bIns="0" anchor="t" anchorCtr="0">
              <a:spAutoFit/>
            </a:bodyPr>
            <a:lstStyle/>
            <a:p>
              <a:pPr algn="l"/>
              <a:r>
                <a:rPr lang="zh-CN" sz="680" dirty="0">
                  <a:solidFill>
                    <a:srgbClr val="70504A"/>
                  </a:solidFill>
                  <a:latin typeface="+mn-lt"/>
                  <a:ea typeface="+mn-ea"/>
                  <a:cs typeface="+mn-cs"/>
                </a:rPr>
                <a:t>行业与客户集中度偏高，风险分散度不足</a:t>
              </a:r>
            </a:p>
          </p:txBody>
        </p:sp>
      </p:grpSp>
      <p:grpSp>
        <p:nvGrpSpPr>
          <p:cNvPr id="238" name="slogan"/>
          <p:cNvGrpSpPr/>
          <p:nvPr/>
        </p:nvGrpSpPr>
        <p:grpSpPr>
          <a:xfrm>
            <a:off x="228600" y="5829300"/>
            <a:ext cx="11734800" cy="495300"/>
            <a:chOff x="228600" y="5829300"/>
            <a:chExt cx="11734800" cy="495300"/>
          </a:xfrm>
        </p:grpSpPr>
        <p:sp>
          <p:nvSpPr>
            <p:cNvPr id="233" name="Rectangle 233"/>
            <p:cNvSpPr/>
            <p:nvPr/>
          </p:nvSpPr>
          <p:spPr>
            <a:xfrm>
              <a:off x="228600" y="5829300"/>
              <a:ext cx="11734800" cy="495300"/>
            </a:xfrm>
            <a:prstGeom prst="roundRect">
              <a:avLst>
                <a:gd name="adj" fmla="val 11538"/>
              </a:avLst>
            </a:prstGeom>
            <a:solidFill>
              <a:srgbClr val="69281B"/>
            </a:solidFill>
            <a:ln>
              <a:noFill/>
            </a:ln>
          </p:spPr>
        </p:sp>
        <p:grpSp>
          <p:nvGrpSpPr>
            <p:cNvPr id="236" name="Group 236"/>
            <p:cNvGrpSpPr/>
            <p:nvPr/>
          </p:nvGrpSpPr>
          <p:grpSpPr>
            <a:xfrm>
              <a:off x="3190875" y="5991225"/>
              <a:ext cx="171450" cy="171450"/>
              <a:chOff x="3190875" y="5991225"/>
              <a:chExt cx="171450" cy="171450"/>
            </a:xfrm>
          </p:grpSpPr>
          <p:sp>
            <p:nvSpPr>
              <p:cNvPr id="234" name="Freeform 234"/>
              <p:cNvSpPr/>
              <p:nvPr/>
            </p:nvSpPr>
            <p:spPr>
              <a:xfrm>
                <a:off x="3190875" y="5991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25337"/>
                </a:solidFill>
              </a:ln>
            </p:spPr>
          </p:sp>
          <p:sp>
            <p:nvSpPr>
              <p:cNvPr id="235" name="Freeform 235"/>
              <p:cNvSpPr/>
              <p:nvPr/>
            </p:nvSpPr>
            <p:spPr>
              <a:xfrm>
                <a:off x="3248025" y="6057900"/>
                <a:ext cx="57150" cy="38100"/>
              </a:xfrm>
              <a:custGeom>
                <a:avLst/>
                <a:gdLst/>
                <a:ahLst/>
                <a:cxnLst/>
                <a:rect l="l" t="t" r="r" b="b"/>
                <a:pathLst>
                  <a:path w="57150" h="38100">
                    <a:moveTo>
                      <a:pt x="0" y="19050"/>
                    </a:moveTo>
                    <a:lnTo>
                      <a:pt x="19050" y="38100"/>
                    </a:lnTo>
                    <a:lnTo>
                      <a:pt x="57150" y="0"/>
                    </a:lnTo>
                  </a:path>
                </a:pathLst>
              </a:custGeom>
              <a:noFill/>
              <a:ln w="19050">
                <a:solidFill>
                  <a:srgbClr val="F25337"/>
                </a:solidFill>
              </a:ln>
            </p:spPr>
          </p:sp>
        </p:grpSp>
        <p:sp>
          <p:nvSpPr>
            <p:cNvPr id="237" name="TextBox 237"/>
            <p:cNvSpPr txBox="1"/>
            <p:nvPr/>
          </p:nvSpPr>
          <p:spPr>
            <a:xfrm>
              <a:off x="3518916" y="6020752"/>
              <a:ext cx="368579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以清单化推进、节点化管控、责任化落实推动年度目标兑现</a:t>
              </a:r>
            </a:p>
          </p:txBody>
        </p:sp>
      </p:grpSp>
      <p:sp>
        <p:nvSpPr>
          <p:cNvPr id="239" name="pageno"/>
          <p:cNvSpPr txBox="1"/>
          <p:nvPr/>
        </p:nvSpPr>
        <p:spPr>
          <a:xfrm>
            <a:off x="11321415" y="6700838"/>
            <a:ext cx="665798" cy="147638"/>
          </a:xfrm>
          <a:prstGeom prst="rect">
            <a:avLst/>
          </a:prstGeom>
          <a:noFill/>
          <a:ln>
            <a:noFill/>
          </a:ln>
        </p:spPr>
        <p:txBody>
          <a:bodyPr wrap="none" lIns="0" tIns="0" rIns="0" bIns="0" anchor="t" anchorCtr="0">
            <a:spAutoFit/>
          </a:bodyPr>
          <a:lstStyle/>
          <a:p>
            <a:pPr algn="r"/>
            <a:r>
              <a:rPr lang="zh-CN" sz="750" dirty="0">
                <a:solidFill>
                  <a:srgbClr val="987F7A"/>
                </a:solidFill>
                <a:latin typeface="+mn-lt"/>
                <a:ea typeface="+mn-ea"/>
                <a:cs typeface="+mn-cs"/>
              </a:rPr>
              <a:t>第 18 / 18 页​</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swoosh-1"/>
          <p:cNvSpPr/>
          <p:nvPr/>
        </p:nvSpPr>
        <p:spPr>
          <a:xfrm>
            <a:off x="5715000" y="4572000"/>
            <a:ext cx="6477000" cy="1714500"/>
          </a:xfrm>
          <a:custGeom>
            <a:avLst/>
            <a:gdLst/>
            <a:ahLst/>
            <a:cxnLst/>
            <a:rect l="l" t="t" r="r" b="b"/>
            <a:pathLst>
              <a:path w="6477000" h="1714500">
                <a:moveTo>
                  <a:pt x="0" y="1714500"/>
                </a:moveTo>
                <a:cubicBezTo>
                  <a:pt x="2095500" y="952500"/>
                  <a:pt x="4000500" y="1333500"/>
                  <a:pt x="6477000" y="0"/>
                </a:cubicBezTo>
              </a:path>
            </a:pathLst>
          </a:custGeom>
          <a:noFill/>
          <a:ln w="152400" cap="rnd">
            <a:gradFill>
              <a:gsLst>
                <a:gs pos="0">
                  <a:srgbClr val="D64A2E">
                    <a:alpha val="0"/>
                  </a:srgbClr>
                </a:gs>
                <a:gs pos="50000">
                  <a:srgbClr val="D64A2E">
                    <a:alpha val="55000"/>
                  </a:srgbClr>
                </a:gs>
                <a:gs pos="100000">
                  <a:srgbClr val="E5907F">
                    <a:alpha val="15000"/>
                  </a:srgbClr>
                </a:gs>
              </a:gsLst>
              <a:lin ang="0" scaled="1"/>
            </a:gradFill>
          </a:ln>
        </p:spPr>
      </p:sp>
      <p:sp>
        <p:nvSpPr>
          <p:cNvPr id="3" name="deco-swoosh-2"/>
          <p:cNvSpPr/>
          <p:nvPr/>
        </p:nvSpPr>
        <p:spPr>
          <a:xfrm>
            <a:off x="5905500" y="5048250"/>
            <a:ext cx="6286500" cy="1524000"/>
          </a:xfrm>
          <a:custGeom>
            <a:avLst/>
            <a:gdLst/>
            <a:ahLst/>
            <a:cxnLst/>
            <a:rect l="l" t="t" r="r" b="b"/>
            <a:pathLst>
              <a:path w="6286500" h="1524000">
                <a:moveTo>
                  <a:pt x="0" y="1524000"/>
                </a:moveTo>
                <a:cubicBezTo>
                  <a:pt x="2286000" y="857250"/>
                  <a:pt x="4191000" y="1190625"/>
                  <a:pt x="6286500" y="0"/>
                </a:cubicBezTo>
              </a:path>
            </a:pathLst>
          </a:custGeom>
          <a:noFill/>
          <a:ln w="76200" cap="rnd">
            <a:gradFill>
              <a:gsLst>
                <a:gs pos="0">
                  <a:srgbClr val="A5280F">
                    <a:alpha val="0"/>
                  </a:srgbClr>
                </a:gs>
                <a:gs pos="60000">
                  <a:srgbClr val="A5280F">
                    <a:alpha val="45000"/>
                  </a:srgbClr>
                </a:gs>
                <a:gs pos="100000">
                  <a:srgbClr val="A5280F">
                    <a:alpha val="10000"/>
                  </a:srgbClr>
                </a:gs>
              </a:gsLst>
              <a:lin ang="0" scaled="1"/>
            </a:gradFill>
          </a:ln>
        </p:spPr>
      </p:sp>
      <p:sp>
        <p:nvSpPr>
          <p:cNvPr id="4" name="deco-swoosh-3"/>
          <p:cNvSpPr/>
          <p:nvPr/>
        </p:nvSpPr>
        <p:spPr>
          <a:xfrm>
            <a:off x="6096000" y="5476875"/>
            <a:ext cx="6096000" cy="1238250"/>
          </a:xfrm>
          <a:custGeom>
            <a:avLst/>
            <a:gdLst/>
            <a:ahLst/>
            <a:cxnLst/>
            <a:rect l="l" t="t" r="r" b="b"/>
            <a:pathLst>
              <a:path w="6096000" h="1238250">
                <a:moveTo>
                  <a:pt x="0" y="1238250"/>
                </a:moveTo>
                <a:cubicBezTo>
                  <a:pt x="2286000" y="714375"/>
                  <a:pt x="4191000" y="1000125"/>
                  <a:pt x="6096000" y="0"/>
                </a:cubicBezTo>
              </a:path>
            </a:pathLst>
          </a:custGeom>
          <a:noFill/>
          <a:ln w="47625" cap="rnd">
            <a:gradFill>
              <a:gsLst>
                <a:gs pos="0">
                  <a:srgbClr val="C9462F">
                    <a:alpha val="0"/>
                  </a:srgbClr>
                </a:gs>
                <a:gs pos="55000">
                  <a:srgbClr val="E58878">
                    <a:alpha val="60000"/>
                  </a:srgbClr>
                </a:gs>
                <a:gs pos="100000">
                  <a:srgbClr val="C9462F">
                    <a:alpha val="15000"/>
                  </a:srgbClr>
                </a:gs>
              </a:gsLst>
              <a:lin ang="0" scaled="1"/>
            </a:gradFill>
          </a:ln>
        </p:spPr>
      </p:sp>
      <p:grpSp>
        <p:nvGrpSpPr>
          <p:cNvPr id="8" name="cover-title"/>
          <p:cNvGrpSpPr/>
          <p:nvPr/>
        </p:nvGrpSpPr>
        <p:grpSpPr>
          <a:xfrm>
            <a:off x="649224" y="1608772"/>
            <a:ext cx="4416552" cy="1286828"/>
            <a:chOff x="649224" y="1608772"/>
            <a:chExt cx="4416552" cy="1286828"/>
          </a:xfrm>
        </p:grpSpPr>
        <p:sp>
          <p:nvSpPr>
            <p:cNvPr id="5" name="TextBox 5"/>
            <p:cNvSpPr txBox="1"/>
            <p:nvPr/>
          </p:nvSpPr>
          <p:spPr>
            <a:xfrm>
              <a:off x="649224" y="1608772"/>
              <a:ext cx="4416552" cy="1284351"/>
            </a:xfrm>
            <a:prstGeom prst="rect">
              <a:avLst/>
            </a:prstGeom>
            <a:noFill/>
            <a:ln>
              <a:noFill/>
            </a:ln>
          </p:spPr>
          <p:txBody>
            <a:bodyPr wrap="none" lIns="0" tIns="0" rIns="0" bIns="0" anchor="t" anchorCtr="0">
              <a:spAutoFit/>
            </a:bodyPr>
            <a:lstStyle/>
            <a:p>
              <a:pPr algn="l">
                <a:lnSpc>
                  <a:spcPts val="4800"/>
                </a:lnSpc>
              </a:pPr>
              <a:r>
                <a:rPr lang="zh-CN" sz="3450" b="1" dirty="0">
                  <a:solidFill>
                    <a:srgbClr val="67281B"/>
                  </a:solidFill>
                  <a:latin typeface="+mn-lt"/>
                  <a:ea typeface="+mn-ea"/>
                  <a:cs typeface="+mn-cs"/>
                </a:rPr>
                <a:t>国有行银行业公私联动</a:t>
              </a:r>
              <a:br/>
              <a:r>
                <a:rPr lang="zh-CN" sz="3450" b="1" dirty="0">
                  <a:solidFill>
                    <a:srgbClr val="67281B"/>
                  </a:solidFill>
                  <a:latin typeface="+mn-lt"/>
                  <a:ea typeface="+mn-ea"/>
                  <a:cs typeface="+mn-cs"/>
                </a:rPr>
                <a:t>营销管理方案</a:t>
              </a:r>
            </a:p>
          </p:txBody>
        </p:sp>
        <p:sp>
          <p:nvSpPr>
            <p:cNvPr id="6" name="Rectangle 6"/>
            <p:cNvSpPr/>
            <p:nvPr/>
          </p:nvSpPr>
          <p:spPr>
            <a:xfrm>
              <a:off x="666750" y="2838450"/>
              <a:ext cx="609600" cy="57150"/>
            </a:xfrm>
            <a:prstGeom prst="rect">
              <a:avLst/>
            </a:prstGeom>
            <a:solidFill>
              <a:srgbClr val="C9462F"/>
            </a:solidFill>
            <a:ln>
              <a:noFill/>
            </a:ln>
          </p:spPr>
        </p:sp>
        <p:sp>
          <p:nvSpPr>
            <p:cNvPr id="7" name="Rectangle 7"/>
            <p:cNvSpPr/>
            <p:nvPr/>
          </p:nvSpPr>
          <p:spPr>
            <a:xfrm>
              <a:off x="1352550" y="2857500"/>
              <a:ext cx="2857500" cy="19050"/>
            </a:xfrm>
            <a:prstGeom prst="rect">
              <a:avLst/>
            </a:prstGeom>
            <a:solidFill>
              <a:srgbClr val="D64A2E"/>
            </a:solidFill>
            <a:ln>
              <a:noFill/>
            </a:ln>
          </p:spPr>
        </p:sp>
      </p:grpSp>
      <p:grpSp>
        <p:nvGrpSpPr>
          <p:cNvPr id="11" name="cover-subtitle"/>
          <p:cNvGrpSpPr/>
          <p:nvPr/>
        </p:nvGrpSpPr>
        <p:grpSpPr>
          <a:xfrm>
            <a:off x="666750" y="3429000"/>
            <a:ext cx="2903220" cy="741045"/>
            <a:chOff x="666750" y="3429000"/>
            <a:chExt cx="2903220" cy="741045"/>
          </a:xfrm>
        </p:grpSpPr>
        <p:sp>
          <p:nvSpPr>
            <p:cNvPr id="9" name="Rectangle 9"/>
            <p:cNvSpPr/>
            <p:nvPr/>
          </p:nvSpPr>
          <p:spPr>
            <a:xfrm>
              <a:off x="666750" y="3429000"/>
              <a:ext cx="57150" cy="723900"/>
            </a:xfrm>
            <a:prstGeom prst="rect">
              <a:avLst/>
            </a:prstGeom>
            <a:gradFill>
              <a:gsLst>
                <a:gs pos="0">
                  <a:srgbClr val="D64A2E"/>
                </a:gs>
                <a:gs pos="100000">
                  <a:srgbClr val="A5280F"/>
                </a:gs>
              </a:gsLst>
              <a:lin ang="5400000" scaled="1"/>
            </a:gradFill>
            <a:ln>
              <a:noFill/>
            </a:ln>
          </p:spPr>
        </p:sp>
        <p:sp>
          <p:nvSpPr>
            <p:cNvPr id="10" name="TextBox 10"/>
            <p:cNvSpPr txBox="1"/>
            <p:nvPr/>
          </p:nvSpPr>
          <p:spPr>
            <a:xfrm>
              <a:off x="887730" y="3533775"/>
              <a:ext cx="2682240" cy="636270"/>
            </a:xfrm>
            <a:prstGeom prst="rect">
              <a:avLst/>
            </a:prstGeom>
            <a:noFill/>
            <a:ln>
              <a:noFill/>
            </a:ln>
          </p:spPr>
          <p:txBody>
            <a:bodyPr wrap="none" lIns="0" tIns="0" rIns="0" bIns="0" anchor="t" anchorCtr="0">
              <a:spAutoFit/>
            </a:bodyPr>
            <a:lstStyle/>
            <a:p>
              <a:pPr algn="l">
                <a:lnSpc>
                  <a:spcPts val="2700"/>
                </a:lnSpc>
              </a:pPr>
              <a:r>
                <a:rPr lang="zh-CN" sz="1500" dirty="0">
                  <a:solidFill>
                    <a:srgbClr val="A8351D"/>
                  </a:solidFill>
                  <a:latin typeface="+mn-lt"/>
                  <a:ea typeface="+mn-ea"/>
                  <a:cs typeface="+mn-cs"/>
                </a:rPr>
                <a:t>打通企业、员工与家庭金融需求</a:t>
              </a:r>
              <a:br/>
              <a:r>
                <a:rPr lang="zh-CN" sz="1500" dirty="0">
                  <a:solidFill>
                    <a:srgbClr val="A8351D"/>
                  </a:solidFill>
                  <a:latin typeface="+mn-lt"/>
                  <a:ea typeface="+mn-ea"/>
                  <a:cs typeface="+mn-cs"/>
                </a:rPr>
                <a:t>构建全量客户价值增长体系</a:t>
              </a:r>
            </a:p>
          </p:txBody>
        </p:sp>
      </p:grpSp>
      <p:grpSp>
        <p:nvGrpSpPr>
          <p:cNvPr id="14" name="cover-byline"/>
          <p:cNvGrpSpPr/>
          <p:nvPr/>
        </p:nvGrpSpPr>
        <p:grpSpPr>
          <a:xfrm>
            <a:off x="666750" y="4629150"/>
            <a:ext cx="1579367" cy="279559"/>
            <a:chOff x="666750" y="4629150"/>
            <a:chExt cx="1579367" cy="279559"/>
          </a:xfrm>
        </p:grpSpPr>
        <p:sp>
          <p:nvSpPr>
            <p:cNvPr id="12" name="Rectangle 12"/>
            <p:cNvSpPr/>
            <p:nvPr/>
          </p:nvSpPr>
          <p:spPr>
            <a:xfrm>
              <a:off x="666750" y="4629150"/>
              <a:ext cx="47625" cy="228600"/>
            </a:xfrm>
            <a:prstGeom prst="rect">
              <a:avLst/>
            </a:prstGeom>
            <a:solidFill>
              <a:srgbClr val="C9462F"/>
            </a:solidFill>
            <a:ln>
              <a:noFill/>
            </a:ln>
          </p:spPr>
        </p:sp>
        <p:sp>
          <p:nvSpPr>
            <p:cNvPr id="13" name="TextBox 13"/>
            <p:cNvSpPr txBox="1"/>
            <p:nvPr/>
          </p:nvSpPr>
          <p:spPr>
            <a:xfrm>
              <a:off x="832485" y="4688681"/>
              <a:ext cx="1413632" cy="220028"/>
            </a:xfrm>
            <a:prstGeom prst="rect">
              <a:avLst/>
            </a:prstGeom>
            <a:noFill/>
            <a:ln>
              <a:noFill/>
            </a:ln>
          </p:spPr>
          <p:txBody>
            <a:bodyPr wrap="none" lIns="0" tIns="0" rIns="0" bIns="0" anchor="t" anchorCtr="0">
              <a:spAutoFit/>
            </a:bodyPr>
            <a:lstStyle/>
            <a:p>
              <a:pPr algn="l"/>
              <a:r>
                <a:rPr lang="zh-CN" sz="1120" dirty="0">
                  <a:solidFill>
                    <a:srgbClr val="5A443F"/>
                  </a:solidFill>
                  <a:latin typeface="+mn-lt"/>
                  <a:ea typeface="+mn-ea"/>
                  <a:cs typeface="+mn-cs"/>
                </a:rPr>
                <a:t>汇报单位｜2026年​​</a:t>
              </a:r>
            </a:p>
          </p:txBody>
        </p:sp>
      </p:grpSp>
      <p:grpSp>
        <p:nvGrpSpPr>
          <p:cNvPr id="64" name="cover-art"/>
          <p:cNvGrpSpPr/>
          <p:nvPr/>
        </p:nvGrpSpPr>
        <p:grpSpPr>
          <a:xfrm>
            <a:off x="6715125" y="914400"/>
            <a:ext cx="4371975" cy="4371975"/>
            <a:chOff x="6715125" y="914400"/>
            <a:chExt cx="4371975" cy="4371975"/>
          </a:xfrm>
        </p:grpSpPr>
        <p:sp>
          <p:nvSpPr>
            <p:cNvPr id="15" name="Ellipse 15"/>
            <p:cNvSpPr/>
            <p:nvPr/>
          </p:nvSpPr>
          <p:spPr>
            <a:xfrm>
              <a:off x="7096125" y="1381125"/>
              <a:ext cx="3524250" cy="3524250"/>
            </a:xfrm>
            <a:prstGeom prst="ellipse">
              <a:avLst/>
            </a:prstGeom>
            <a:noFill/>
            <a:ln w="14288">
              <a:solidFill>
                <a:srgbClr val="ECB4A9"/>
              </a:solidFill>
              <a:custDash>
                <a:ds d="333333" sp="333333"/>
              </a:custDash>
            </a:ln>
          </p:spPr>
        </p:sp>
        <p:sp>
          <p:nvSpPr>
            <p:cNvPr id="16" name="Ellipse 16"/>
            <p:cNvSpPr/>
            <p:nvPr/>
          </p:nvSpPr>
          <p:spPr>
            <a:xfrm>
              <a:off x="7524750" y="1809750"/>
              <a:ext cx="2667000" cy="2667000"/>
            </a:xfrm>
            <a:prstGeom prst="ellipse">
              <a:avLst/>
            </a:prstGeom>
            <a:noFill/>
            <a:ln w="11430">
              <a:solidFill>
                <a:srgbClr val="F2CCC4"/>
              </a:solidFill>
              <a:custDash>
                <a:ds d="250000" sp="416667"/>
              </a:custDash>
            </a:ln>
          </p:spPr>
        </p:sp>
        <p:sp>
          <p:nvSpPr>
            <p:cNvPr id="17" name="Polygon 17"/>
            <p:cNvSpPr/>
            <p:nvPr/>
          </p:nvSpPr>
          <p:spPr>
            <a:xfrm>
              <a:off x="8810625" y="914400"/>
              <a:ext cx="2095500" cy="514350"/>
            </a:xfrm>
            <a:custGeom>
              <a:avLst/>
              <a:gdLst/>
              <a:ahLst/>
              <a:cxnLst/>
              <a:rect l="l" t="t" r="r" b="b"/>
              <a:pathLst>
                <a:path w="2095500" h="514350">
                  <a:moveTo>
                    <a:pt x="0" y="514350"/>
                  </a:moveTo>
                  <a:lnTo>
                    <a:pt x="2095500" y="514350"/>
                  </a:lnTo>
                  <a:lnTo>
                    <a:pt x="1047750" y="0"/>
                  </a:lnTo>
                  <a:close/>
                </a:path>
              </a:pathLst>
            </a:custGeom>
            <a:solidFill>
              <a:srgbClr val="F4C8BF"/>
            </a:solidFill>
            <a:ln>
              <a:noFill/>
            </a:ln>
          </p:spPr>
        </p:sp>
        <p:sp>
          <p:nvSpPr>
            <p:cNvPr id="18" name="Polygon 18"/>
            <p:cNvSpPr/>
            <p:nvPr/>
          </p:nvSpPr>
          <p:spPr>
            <a:xfrm>
              <a:off x="8810625" y="1352550"/>
              <a:ext cx="2095500" cy="76200"/>
            </a:xfrm>
            <a:custGeom>
              <a:avLst/>
              <a:gdLst/>
              <a:ahLst/>
              <a:cxnLst/>
              <a:rect l="l" t="t" r="r" b="b"/>
              <a:pathLst>
                <a:path w="2095500" h="76200">
                  <a:moveTo>
                    <a:pt x="0" y="76200"/>
                  </a:moveTo>
                  <a:lnTo>
                    <a:pt x="2095500" y="76200"/>
                  </a:lnTo>
                  <a:lnTo>
                    <a:pt x="2047875" y="0"/>
                  </a:lnTo>
                  <a:lnTo>
                    <a:pt x="47625" y="0"/>
                  </a:lnTo>
                  <a:close/>
                </a:path>
              </a:pathLst>
            </a:custGeom>
            <a:solidFill>
              <a:srgbClr val="D64A2E"/>
            </a:solidFill>
            <a:ln>
              <a:noFill/>
            </a:ln>
          </p:spPr>
        </p:sp>
        <p:sp>
          <p:nvSpPr>
            <p:cNvPr id="19" name="Rectangle 19"/>
            <p:cNvSpPr/>
            <p:nvPr/>
          </p:nvSpPr>
          <p:spPr>
            <a:xfrm>
              <a:off x="8782050" y="1428750"/>
              <a:ext cx="2152650" cy="152400"/>
            </a:xfrm>
            <a:prstGeom prst="rect">
              <a:avLst/>
            </a:prstGeom>
            <a:solidFill>
              <a:srgbClr val="ECB3A8"/>
            </a:solidFill>
            <a:ln>
              <a:noFill/>
            </a:ln>
          </p:spPr>
        </p:sp>
        <p:sp>
          <p:nvSpPr>
            <p:cNvPr id="20" name="Rectangle 20"/>
            <p:cNvSpPr/>
            <p:nvPr/>
          </p:nvSpPr>
          <p:spPr>
            <a:xfrm>
              <a:off x="8934450" y="1657350"/>
              <a:ext cx="190500" cy="1314450"/>
            </a:xfrm>
            <a:prstGeom prst="rect">
              <a:avLst/>
            </a:prstGeom>
            <a:solidFill>
              <a:srgbClr val="D9E8F9"/>
            </a:solidFill>
            <a:ln>
              <a:noFill/>
            </a:ln>
          </p:spPr>
        </p:sp>
        <p:sp>
          <p:nvSpPr>
            <p:cNvPr id="21" name="Rectangle 21"/>
            <p:cNvSpPr/>
            <p:nvPr/>
          </p:nvSpPr>
          <p:spPr>
            <a:xfrm>
              <a:off x="9372600" y="1657350"/>
              <a:ext cx="190500" cy="1314450"/>
            </a:xfrm>
            <a:prstGeom prst="rect">
              <a:avLst/>
            </a:prstGeom>
            <a:solidFill>
              <a:srgbClr val="D9E8F9"/>
            </a:solidFill>
            <a:ln>
              <a:noFill/>
            </a:ln>
          </p:spPr>
        </p:sp>
        <p:sp>
          <p:nvSpPr>
            <p:cNvPr id="22" name="Rectangle 22"/>
            <p:cNvSpPr/>
            <p:nvPr/>
          </p:nvSpPr>
          <p:spPr>
            <a:xfrm>
              <a:off x="9810750" y="1657350"/>
              <a:ext cx="190500" cy="1314450"/>
            </a:xfrm>
            <a:prstGeom prst="rect">
              <a:avLst/>
            </a:prstGeom>
            <a:solidFill>
              <a:srgbClr val="D9E8F9"/>
            </a:solidFill>
            <a:ln>
              <a:noFill/>
            </a:ln>
          </p:spPr>
        </p:sp>
        <p:sp>
          <p:nvSpPr>
            <p:cNvPr id="23" name="Rectangle 23"/>
            <p:cNvSpPr/>
            <p:nvPr/>
          </p:nvSpPr>
          <p:spPr>
            <a:xfrm>
              <a:off x="10248900" y="1657350"/>
              <a:ext cx="190500" cy="1314450"/>
            </a:xfrm>
            <a:prstGeom prst="rect">
              <a:avLst/>
            </a:prstGeom>
            <a:solidFill>
              <a:srgbClr val="D9E8F9"/>
            </a:solidFill>
            <a:ln>
              <a:noFill/>
            </a:ln>
          </p:spPr>
        </p:sp>
        <p:sp>
          <p:nvSpPr>
            <p:cNvPr id="24" name="Rectangle 24"/>
            <p:cNvSpPr/>
            <p:nvPr/>
          </p:nvSpPr>
          <p:spPr>
            <a:xfrm>
              <a:off x="10687050" y="1657350"/>
              <a:ext cx="190500" cy="1314450"/>
            </a:xfrm>
            <a:prstGeom prst="rect">
              <a:avLst/>
            </a:prstGeom>
            <a:solidFill>
              <a:srgbClr val="D9E8F9"/>
            </a:solidFill>
            <a:ln>
              <a:noFill/>
            </a:ln>
          </p:spPr>
        </p:sp>
        <p:sp>
          <p:nvSpPr>
            <p:cNvPr id="25" name="Rectangle 25"/>
            <p:cNvSpPr/>
            <p:nvPr/>
          </p:nvSpPr>
          <p:spPr>
            <a:xfrm>
              <a:off x="8839200" y="3048000"/>
              <a:ext cx="2133600" cy="114300"/>
            </a:xfrm>
            <a:prstGeom prst="rect">
              <a:avLst/>
            </a:prstGeom>
            <a:solidFill>
              <a:srgbClr val="ECB3A8"/>
            </a:solidFill>
            <a:ln>
              <a:noFill/>
            </a:ln>
          </p:spPr>
        </p:sp>
        <p:sp>
          <p:nvSpPr>
            <p:cNvPr id="26" name="Rectangle 26"/>
            <p:cNvSpPr/>
            <p:nvPr/>
          </p:nvSpPr>
          <p:spPr>
            <a:xfrm>
              <a:off x="8724900" y="3200400"/>
              <a:ext cx="2362200" cy="114300"/>
            </a:xfrm>
            <a:prstGeom prst="rect">
              <a:avLst/>
            </a:prstGeom>
            <a:solidFill>
              <a:srgbClr val="F4C8BF"/>
            </a:solidFill>
            <a:ln>
              <a:noFill/>
            </a:ln>
          </p:spPr>
        </p:sp>
        <p:sp>
          <p:nvSpPr>
            <p:cNvPr id="27" name="Ellipse 27"/>
            <p:cNvSpPr/>
            <p:nvPr/>
          </p:nvSpPr>
          <p:spPr>
            <a:xfrm>
              <a:off x="8210550" y="1771650"/>
              <a:ext cx="114300" cy="114300"/>
            </a:xfrm>
            <a:prstGeom prst="ellipse">
              <a:avLst/>
            </a:prstGeom>
            <a:solidFill>
              <a:srgbClr val="E58878"/>
            </a:solidFill>
            <a:ln>
              <a:noFill/>
            </a:ln>
          </p:spPr>
        </p:sp>
        <p:sp>
          <p:nvSpPr>
            <p:cNvPr id="28" name="Ellipse 28"/>
            <p:cNvSpPr/>
            <p:nvPr/>
          </p:nvSpPr>
          <p:spPr>
            <a:xfrm>
              <a:off x="9410700" y="1333500"/>
              <a:ext cx="114300" cy="114300"/>
            </a:xfrm>
            <a:prstGeom prst="ellipse">
              <a:avLst/>
            </a:prstGeom>
            <a:solidFill>
              <a:srgbClr val="E58878"/>
            </a:solidFill>
            <a:ln>
              <a:noFill/>
            </a:ln>
          </p:spPr>
        </p:sp>
        <p:sp>
          <p:nvSpPr>
            <p:cNvPr id="29" name="Ellipse 29"/>
            <p:cNvSpPr/>
            <p:nvPr/>
          </p:nvSpPr>
          <p:spPr>
            <a:xfrm>
              <a:off x="10077450" y="4857750"/>
              <a:ext cx="114300" cy="114300"/>
            </a:xfrm>
            <a:prstGeom prst="ellipse">
              <a:avLst/>
            </a:prstGeom>
            <a:solidFill>
              <a:srgbClr val="E58878"/>
            </a:solidFill>
            <a:ln>
              <a:noFill/>
            </a:ln>
          </p:spPr>
        </p:sp>
        <p:sp>
          <p:nvSpPr>
            <p:cNvPr id="30" name="Ellipse 30"/>
            <p:cNvSpPr/>
            <p:nvPr/>
          </p:nvSpPr>
          <p:spPr>
            <a:xfrm>
              <a:off x="7448550" y="4019550"/>
              <a:ext cx="114300" cy="114300"/>
            </a:xfrm>
            <a:prstGeom prst="ellipse">
              <a:avLst/>
            </a:prstGeom>
            <a:solidFill>
              <a:srgbClr val="E58878"/>
            </a:solidFill>
            <a:ln>
              <a:noFill/>
            </a:ln>
          </p:spPr>
        </p:sp>
        <p:sp>
          <p:nvSpPr>
            <p:cNvPr id="31" name="Ellipse 31"/>
            <p:cNvSpPr/>
            <p:nvPr/>
          </p:nvSpPr>
          <p:spPr>
            <a:xfrm>
              <a:off x="8077200" y="2362200"/>
              <a:ext cx="1562100" cy="1562100"/>
            </a:xfrm>
            <a:prstGeom prst="ellipse">
              <a:avLst/>
            </a:prstGeom>
            <a:solidFill>
              <a:srgbClr val="FFFFFF"/>
            </a:solidFill>
            <a:ln w="19050">
              <a:solidFill>
                <a:srgbClr val="D7E6F8"/>
              </a:solidFill>
            </a:ln>
          </p:spPr>
        </p:sp>
        <p:sp>
          <p:nvSpPr>
            <p:cNvPr id="32" name="Ellipse 32"/>
            <p:cNvSpPr/>
            <p:nvPr/>
          </p:nvSpPr>
          <p:spPr>
            <a:xfrm>
              <a:off x="8191500" y="2476500"/>
              <a:ext cx="1333500" cy="1333500"/>
            </a:xfrm>
            <a:prstGeom prst="ellipse">
              <a:avLst/>
            </a:prstGeom>
            <a:gradFill>
              <a:gsLst>
                <a:gs pos="0">
                  <a:srgbClr val="D64A2E"/>
                </a:gs>
                <a:gs pos="100000">
                  <a:srgbClr val="9E311B"/>
                </a:gs>
              </a:gsLst>
              <a:lin ang="2700000" scaled="1"/>
            </a:gradFill>
            <a:ln>
              <a:noFill/>
            </a:ln>
          </p:spPr>
        </p:sp>
        <p:grpSp>
          <p:nvGrpSpPr>
            <p:cNvPr id="41" name="Group 41"/>
            <p:cNvGrpSpPr/>
            <p:nvPr/>
          </p:nvGrpSpPr>
          <p:grpSpPr>
            <a:xfrm>
              <a:off x="8686800" y="2876550"/>
              <a:ext cx="342900" cy="352425"/>
              <a:chOff x="8686800" y="2876550"/>
              <a:chExt cx="342900" cy="352425"/>
            </a:xfrm>
          </p:grpSpPr>
          <p:sp>
            <p:nvSpPr>
              <p:cNvPr id="33" name="Freeform 33"/>
              <p:cNvSpPr/>
              <p:nvPr/>
            </p:nvSpPr>
            <p:spPr>
              <a:xfrm>
                <a:off x="8686800" y="3219450"/>
                <a:ext cx="342900" cy="9525"/>
              </a:xfrm>
              <a:custGeom>
                <a:avLst/>
                <a:gdLst/>
                <a:ahLst/>
                <a:cxnLst/>
                <a:rect l="l" t="t" r="r" b="b"/>
                <a:pathLst>
                  <a:path w="342900" h="9525">
                    <a:moveTo>
                      <a:pt x="0" y="0"/>
                    </a:moveTo>
                    <a:lnTo>
                      <a:pt x="342900" y="0"/>
                    </a:lnTo>
                  </a:path>
                </a:pathLst>
              </a:custGeom>
              <a:noFill/>
              <a:ln w="38100">
                <a:solidFill>
                  <a:srgbClr val="FFFFFF"/>
                </a:solidFill>
              </a:ln>
            </p:spPr>
          </p:sp>
          <p:sp>
            <p:nvSpPr>
              <p:cNvPr id="34" name="Freeform 34"/>
              <p:cNvSpPr/>
              <p:nvPr/>
            </p:nvSpPr>
            <p:spPr>
              <a:xfrm>
                <a:off x="8686800" y="3009900"/>
                <a:ext cx="342900" cy="9525"/>
              </a:xfrm>
              <a:custGeom>
                <a:avLst/>
                <a:gdLst/>
                <a:ahLst/>
                <a:cxnLst/>
                <a:rect l="l" t="t" r="r" b="b"/>
                <a:pathLst>
                  <a:path w="342900" h="9525">
                    <a:moveTo>
                      <a:pt x="0" y="0"/>
                    </a:moveTo>
                    <a:lnTo>
                      <a:pt x="342900" y="0"/>
                    </a:lnTo>
                  </a:path>
                </a:pathLst>
              </a:custGeom>
              <a:noFill/>
              <a:ln w="38100">
                <a:solidFill>
                  <a:srgbClr val="FFFFFF"/>
                </a:solidFill>
              </a:ln>
            </p:spPr>
          </p:sp>
          <p:sp>
            <p:nvSpPr>
              <p:cNvPr id="35" name="Freeform 35"/>
              <p:cNvSpPr/>
              <p:nvPr/>
            </p:nvSpPr>
            <p:spPr>
              <a:xfrm>
                <a:off x="8724900" y="2876550"/>
                <a:ext cx="266700" cy="57150"/>
              </a:xfrm>
              <a:custGeom>
                <a:avLst/>
                <a:gdLst/>
                <a:ahLst/>
                <a:cxnLst/>
                <a:rect l="l" t="t" r="r" b="b"/>
                <a:pathLst>
                  <a:path w="266700" h="57150">
                    <a:moveTo>
                      <a:pt x="0" y="57150"/>
                    </a:moveTo>
                    <a:lnTo>
                      <a:pt x="133350" y="0"/>
                    </a:lnTo>
                    <a:lnTo>
                      <a:pt x="266700" y="57150"/>
                    </a:lnTo>
                  </a:path>
                </a:pathLst>
              </a:custGeom>
              <a:noFill/>
              <a:ln w="38100">
                <a:solidFill>
                  <a:srgbClr val="FFFFFF"/>
                </a:solidFill>
              </a:ln>
            </p:spPr>
          </p:sp>
          <p:sp>
            <p:nvSpPr>
              <p:cNvPr id="36" name="Freeform 36"/>
              <p:cNvSpPr/>
              <p:nvPr/>
            </p:nvSpPr>
            <p:spPr>
              <a:xfrm>
                <a:off x="8705850" y="3009900"/>
                <a:ext cx="9525" cy="209550"/>
              </a:xfrm>
              <a:custGeom>
                <a:avLst/>
                <a:gdLst/>
                <a:ahLst/>
                <a:cxnLst/>
                <a:rect l="l" t="t" r="r" b="b"/>
                <a:pathLst>
                  <a:path w="9525" h="209550">
                    <a:moveTo>
                      <a:pt x="0" y="0"/>
                    </a:moveTo>
                    <a:lnTo>
                      <a:pt x="0" y="209550"/>
                    </a:lnTo>
                  </a:path>
                </a:pathLst>
              </a:custGeom>
              <a:noFill/>
              <a:ln w="38100">
                <a:solidFill>
                  <a:srgbClr val="FFFFFF"/>
                </a:solidFill>
              </a:ln>
            </p:spPr>
          </p:sp>
          <p:sp>
            <p:nvSpPr>
              <p:cNvPr id="37" name="Freeform 37"/>
              <p:cNvSpPr/>
              <p:nvPr/>
            </p:nvSpPr>
            <p:spPr>
              <a:xfrm>
                <a:off x="9010650" y="3009900"/>
                <a:ext cx="9525" cy="209550"/>
              </a:xfrm>
              <a:custGeom>
                <a:avLst/>
                <a:gdLst/>
                <a:ahLst/>
                <a:cxnLst/>
                <a:rect l="l" t="t" r="r" b="b"/>
                <a:pathLst>
                  <a:path w="9525" h="209550">
                    <a:moveTo>
                      <a:pt x="0" y="0"/>
                    </a:moveTo>
                    <a:lnTo>
                      <a:pt x="0" y="209550"/>
                    </a:lnTo>
                  </a:path>
                </a:pathLst>
              </a:custGeom>
              <a:noFill/>
              <a:ln w="38100">
                <a:solidFill>
                  <a:srgbClr val="FFFFFF"/>
                </a:solidFill>
              </a:ln>
            </p:spPr>
          </p:sp>
          <p:sp>
            <p:nvSpPr>
              <p:cNvPr id="38" name="Freeform 38"/>
              <p:cNvSpPr/>
              <p:nvPr/>
            </p:nvSpPr>
            <p:spPr>
              <a:xfrm>
                <a:off x="8782050" y="3086100"/>
                <a:ext cx="9525" cy="57150"/>
              </a:xfrm>
              <a:custGeom>
                <a:avLst/>
                <a:gdLst/>
                <a:ahLst/>
                <a:cxnLst/>
                <a:rect l="l" t="t" r="r" b="b"/>
                <a:pathLst>
                  <a:path w="9525" h="57150">
                    <a:moveTo>
                      <a:pt x="0" y="0"/>
                    </a:moveTo>
                    <a:lnTo>
                      <a:pt x="0" y="57150"/>
                    </a:lnTo>
                  </a:path>
                </a:pathLst>
              </a:custGeom>
              <a:noFill/>
              <a:ln w="38100">
                <a:solidFill>
                  <a:srgbClr val="FFFFFF"/>
                </a:solidFill>
              </a:ln>
            </p:spPr>
          </p:sp>
          <p:sp>
            <p:nvSpPr>
              <p:cNvPr id="39" name="Freeform 39"/>
              <p:cNvSpPr/>
              <p:nvPr/>
            </p:nvSpPr>
            <p:spPr>
              <a:xfrm>
                <a:off x="8858250" y="3086100"/>
                <a:ext cx="9525" cy="57150"/>
              </a:xfrm>
              <a:custGeom>
                <a:avLst/>
                <a:gdLst/>
                <a:ahLst/>
                <a:cxnLst/>
                <a:rect l="l" t="t" r="r" b="b"/>
                <a:pathLst>
                  <a:path w="9525" h="57150">
                    <a:moveTo>
                      <a:pt x="0" y="0"/>
                    </a:moveTo>
                    <a:lnTo>
                      <a:pt x="0" y="57150"/>
                    </a:lnTo>
                  </a:path>
                </a:pathLst>
              </a:custGeom>
              <a:noFill/>
              <a:ln w="38100">
                <a:solidFill>
                  <a:srgbClr val="FFFFFF"/>
                </a:solidFill>
              </a:ln>
            </p:spPr>
          </p:sp>
          <p:sp>
            <p:nvSpPr>
              <p:cNvPr id="40" name="Freeform 40"/>
              <p:cNvSpPr/>
              <p:nvPr/>
            </p:nvSpPr>
            <p:spPr>
              <a:xfrm>
                <a:off x="8934450" y="3086100"/>
                <a:ext cx="9525" cy="57150"/>
              </a:xfrm>
              <a:custGeom>
                <a:avLst/>
                <a:gdLst/>
                <a:ahLst/>
                <a:cxnLst/>
                <a:rect l="l" t="t" r="r" b="b"/>
                <a:pathLst>
                  <a:path w="9525" h="57150">
                    <a:moveTo>
                      <a:pt x="0" y="0"/>
                    </a:moveTo>
                    <a:lnTo>
                      <a:pt x="0" y="57150"/>
                    </a:lnTo>
                  </a:path>
                </a:pathLst>
              </a:custGeom>
              <a:noFill/>
              <a:ln w="38100">
                <a:solidFill>
                  <a:srgbClr val="FFFFFF"/>
                </a:solidFill>
              </a:ln>
            </p:spPr>
          </p:sp>
        </p:grpSp>
        <p:sp>
          <p:nvSpPr>
            <p:cNvPr id="42" name="Ellipse 42"/>
            <p:cNvSpPr/>
            <p:nvPr/>
          </p:nvSpPr>
          <p:spPr>
            <a:xfrm>
              <a:off x="8477250" y="1000125"/>
              <a:ext cx="762000" cy="762000"/>
            </a:xfrm>
            <a:prstGeom prst="ellipse">
              <a:avLst/>
            </a:prstGeom>
            <a:gradFill>
              <a:gsLst>
                <a:gs pos="0">
                  <a:srgbClr val="B83116"/>
                </a:gs>
                <a:gs pos="100000">
                  <a:srgbClr val="92210B"/>
                </a:gs>
              </a:gsLst>
              <a:lin ang="2700000" scaled="1"/>
            </a:gradFill>
            <a:ln>
              <a:noFill/>
            </a:ln>
          </p:spPr>
        </p:sp>
        <p:grpSp>
          <p:nvGrpSpPr>
            <p:cNvPr id="46" name="Group 46"/>
            <p:cNvGrpSpPr/>
            <p:nvPr/>
          </p:nvGrpSpPr>
          <p:grpSpPr>
            <a:xfrm>
              <a:off x="8772525" y="1252538"/>
              <a:ext cx="214312" cy="257175"/>
              <a:chOff x="8772525" y="1252538"/>
              <a:chExt cx="214312" cy="257175"/>
            </a:xfrm>
          </p:grpSpPr>
          <p:sp>
            <p:nvSpPr>
              <p:cNvPr id="43" name="Freeform 43"/>
              <p:cNvSpPr/>
              <p:nvPr/>
            </p:nvSpPr>
            <p:spPr>
              <a:xfrm>
                <a:off x="8801100" y="1252538"/>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FFFFFF"/>
                </a:solidFill>
              </a:ln>
            </p:spPr>
          </p:sp>
          <p:sp>
            <p:nvSpPr>
              <p:cNvPr id="44" name="Freeform 44"/>
              <p:cNvSpPr/>
              <p:nvPr/>
            </p:nvSpPr>
            <p:spPr>
              <a:xfrm>
                <a:off x="8772525" y="1423988"/>
                <a:ext cx="114300" cy="85725"/>
              </a:xfrm>
              <a:custGeom>
                <a:avLst/>
                <a:gdLst/>
                <a:ahLst/>
                <a:cxnLst/>
                <a:rect l="l" t="t" r="r" b="b"/>
                <a:pathLst>
                  <a:path w="114300" h="85725">
                    <a:moveTo>
                      <a:pt x="0" y="85725"/>
                    </a:moveTo>
                    <a:lnTo>
                      <a:pt x="0" y="57150"/>
                    </a:lnTo>
                    <a:cubicBezTo>
                      <a:pt x="0" y="25587"/>
                      <a:pt x="25587" y="0"/>
                      <a:pt x="57150" y="0"/>
                    </a:cubicBezTo>
                    <a:lnTo>
                      <a:pt x="114300" y="0"/>
                    </a:lnTo>
                  </a:path>
                </a:pathLst>
              </a:custGeom>
              <a:noFill/>
              <a:ln w="28575">
                <a:solidFill>
                  <a:srgbClr val="FFFFFF"/>
                </a:solidFill>
              </a:ln>
            </p:spPr>
          </p:sp>
          <p:sp>
            <p:nvSpPr>
              <p:cNvPr id="45" name="Freeform 45"/>
              <p:cNvSpPr/>
              <p:nvPr/>
            </p:nvSpPr>
            <p:spPr>
              <a:xfrm>
                <a:off x="8901112" y="1452562"/>
                <a:ext cx="85725" cy="57150"/>
              </a:xfrm>
              <a:custGeom>
                <a:avLst/>
                <a:gdLst/>
                <a:ahLst/>
                <a:cxnLst/>
                <a:rect l="l" t="t" r="r" b="b"/>
                <a:pathLst>
                  <a:path w="85725" h="57150">
                    <a:moveTo>
                      <a:pt x="0" y="28575"/>
                    </a:moveTo>
                    <a:lnTo>
                      <a:pt x="28575" y="57150"/>
                    </a:lnTo>
                    <a:lnTo>
                      <a:pt x="85725" y="0"/>
                    </a:lnTo>
                  </a:path>
                </a:pathLst>
              </a:custGeom>
              <a:noFill/>
              <a:ln w="28575">
                <a:solidFill>
                  <a:srgbClr val="FFFFFF"/>
                </a:solidFill>
              </a:ln>
            </p:spPr>
          </p:sp>
        </p:grpSp>
        <p:sp>
          <p:nvSpPr>
            <p:cNvPr id="47" name="Ellipse 47"/>
            <p:cNvSpPr/>
            <p:nvPr/>
          </p:nvSpPr>
          <p:spPr>
            <a:xfrm>
              <a:off x="6715125" y="2762250"/>
              <a:ext cx="762000" cy="762000"/>
            </a:xfrm>
            <a:prstGeom prst="ellipse">
              <a:avLst/>
            </a:prstGeom>
            <a:gradFill>
              <a:gsLst>
                <a:gs pos="0">
                  <a:srgbClr val="D64A2E"/>
                </a:gs>
                <a:gs pos="100000">
                  <a:srgbClr val="9E311B"/>
                </a:gs>
              </a:gsLst>
              <a:lin ang="2700000" scaled="1"/>
            </a:gradFill>
            <a:ln>
              <a:noFill/>
            </a:ln>
          </p:spPr>
        </p:sp>
        <p:grpSp>
          <p:nvGrpSpPr>
            <p:cNvPr id="52" name="Group 52"/>
            <p:cNvGrpSpPr/>
            <p:nvPr/>
          </p:nvGrpSpPr>
          <p:grpSpPr>
            <a:xfrm>
              <a:off x="6967538" y="3014662"/>
              <a:ext cx="257174" cy="257176"/>
              <a:chOff x="6967538" y="3014662"/>
              <a:chExt cx="257174" cy="257176"/>
            </a:xfrm>
          </p:grpSpPr>
          <p:sp>
            <p:nvSpPr>
              <p:cNvPr id="48" name="Freeform 48"/>
              <p:cNvSpPr/>
              <p:nvPr/>
            </p:nvSpPr>
            <p:spPr>
              <a:xfrm>
                <a:off x="6996112" y="30146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FFFFFF"/>
                </a:solidFill>
              </a:ln>
            </p:spPr>
          </p:sp>
          <p:sp>
            <p:nvSpPr>
              <p:cNvPr id="49" name="Freeform 49"/>
              <p:cNvSpPr/>
              <p:nvPr/>
            </p:nvSpPr>
            <p:spPr>
              <a:xfrm>
                <a:off x="6967538" y="318611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FFFFFF"/>
                </a:solidFill>
              </a:ln>
            </p:spPr>
          </p:sp>
          <p:sp>
            <p:nvSpPr>
              <p:cNvPr id="50" name="Freeform 50"/>
              <p:cNvSpPr/>
              <p:nvPr/>
            </p:nvSpPr>
            <p:spPr>
              <a:xfrm>
                <a:off x="7153275" y="301652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FFFFFF"/>
                </a:solidFill>
              </a:ln>
            </p:spPr>
          </p:sp>
          <p:sp>
            <p:nvSpPr>
              <p:cNvPr id="51" name="Freeform 51"/>
              <p:cNvSpPr/>
              <p:nvPr/>
            </p:nvSpPr>
            <p:spPr>
              <a:xfrm>
                <a:off x="7181850" y="318825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FFFFFF"/>
                </a:solidFill>
              </a:ln>
            </p:spPr>
          </p:sp>
        </p:grpSp>
        <p:sp>
          <p:nvSpPr>
            <p:cNvPr id="53" name="Ellipse 53"/>
            <p:cNvSpPr/>
            <p:nvPr/>
          </p:nvSpPr>
          <p:spPr>
            <a:xfrm>
              <a:off x="8477250" y="4524375"/>
              <a:ext cx="762000" cy="762000"/>
            </a:xfrm>
            <a:prstGeom prst="ellipse">
              <a:avLst/>
            </a:prstGeom>
            <a:gradFill>
              <a:gsLst>
                <a:gs pos="0">
                  <a:srgbClr val="D64A2E"/>
                </a:gs>
                <a:gs pos="100000">
                  <a:srgbClr val="9E311B"/>
                </a:gs>
              </a:gsLst>
              <a:lin ang="2700000" scaled="1"/>
            </a:gradFill>
            <a:ln>
              <a:noFill/>
            </a:ln>
          </p:spPr>
        </p:sp>
        <p:grpSp>
          <p:nvGrpSpPr>
            <p:cNvPr id="58" name="Group 58"/>
            <p:cNvGrpSpPr/>
            <p:nvPr/>
          </p:nvGrpSpPr>
          <p:grpSpPr>
            <a:xfrm>
              <a:off x="8724715" y="4787410"/>
              <a:ext cx="266811" cy="232265"/>
              <a:chOff x="8724715" y="4787410"/>
              <a:chExt cx="266811" cy="232265"/>
            </a:xfrm>
          </p:grpSpPr>
          <p:sp>
            <p:nvSpPr>
              <p:cNvPr id="54" name="Freeform 54"/>
              <p:cNvSpPr/>
              <p:nvPr/>
            </p:nvSpPr>
            <p:spPr>
              <a:xfrm>
                <a:off x="8724715" y="4787410"/>
                <a:ext cx="266811" cy="232265"/>
              </a:xfrm>
              <a:custGeom>
                <a:avLst/>
                <a:gdLst/>
                <a:ahLst/>
                <a:cxnLst/>
                <a:rect l="l" t="t" r="r" b="b"/>
                <a:pathLst>
                  <a:path w="266811" h="232265">
                    <a:moveTo>
                      <a:pt x="240691" y="126138"/>
                    </a:moveTo>
                    <a:lnTo>
                      <a:pt x="133535" y="232265"/>
                    </a:lnTo>
                    <a:lnTo>
                      <a:pt x="26379" y="126138"/>
                    </a:lnTo>
                    <a:cubicBezTo>
                      <a:pt x="7109" y="107387"/>
                      <a:pt x="0" y="79404"/>
                      <a:pt x="7983" y="53729"/>
                    </a:cubicBezTo>
                    <a:cubicBezTo>
                      <a:pt x="15966" y="28055"/>
                      <a:pt x="37689" y="9037"/>
                      <a:pt x="64194" y="4518"/>
                    </a:cubicBezTo>
                    <a:cubicBezTo>
                      <a:pt x="90699" y="0"/>
                      <a:pt x="117496" y="10746"/>
                      <a:pt x="133535" y="32326"/>
                    </a:cubicBezTo>
                    <a:cubicBezTo>
                      <a:pt x="149641" y="10906"/>
                      <a:pt x="176381" y="302"/>
                      <a:pt x="202789" y="4863"/>
                    </a:cubicBezTo>
                    <a:cubicBezTo>
                      <a:pt x="229198" y="9424"/>
                      <a:pt x="250833" y="28381"/>
                      <a:pt x="258822" y="53962"/>
                    </a:cubicBezTo>
                    <a:cubicBezTo>
                      <a:pt x="266811" y="79543"/>
                      <a:pt x="259811" y="107444"/>
                      <a:pt x="240691" y="126224"/>
                    </a:cubicBezTo>
                  </a:path>
                </a:pathLst>
              </a:custGeom>
              <a:noFill/>
              <a:ln w="28575">
                <a:solidFill>
                  <a:srgbClr val="FFFFFF"/>
                </a:solidFill>
              </a:ln>
            </p:spPr>
          </p:sp>
          <p:sp>
            <p:nvSpPr>
              <p:cNvPr id="55" name="Freeform 55"/>
              <p:cNvSpPr/>
              <p:nvPr/>
            </p:nvSpPr>
            <p:spPr>
              <a:xfrm>
                <a:off x="8805624" y="4819650"/>
                <a:ext cx="159783" cy="92869"/>
              </a:xfrm>
              <a:custGeom>
                <a:avLst/>
                <a:gdLst/>
                <a:ahLst/>
                <a:cxnLst/>
                <a:rect l="l" t="t" r="r" b="b"/>
                <a:pathLst>
                  <a:path w="159783" h="92869">
                    <a:moveTo>
                      <a:pt x="52626" y="0"/>
                    </a:moveTo>
                    <a:lnTo>
                      <a:pt x="5578" y="47049"/>
                    </a:lnTo>
                    <a:cubicBezTo>
                      <a:pt x="0" y="52628"/>
                      <a:pt x="0" y="61672"/>
                      <a:pt x="5578" y="67251"/>
                    </a:cubicBezTo>
                    <a:lnTo>
                      <a:pt x="13336" y="75009"/>
                    </a:lnTo>
                    <a:cubicBezTo>
                      <a:pt x="23194" y="84868"/>
                      <a:pt x="39196" y="84868"/>
                      <a:pt x="49054" y="75009"/>
                    </a:cubicBezTo>
                    <a:lnTo>
                      <a:pt x="63342" y="60722"/>
                    </a:lnTo>
                    <a:cubicBezTo>
                      <a:pt x="81096" y="42968"/>
                      <a:pt x="109881" y="42968"/>
                      <a:pt x="127636" y="60722"/>
                    </a:cubicBezTo>
                    <a:lnTo>
                      <a:pt x="159783" y="92869"/>
                    </a:lnTo>
                  </a:path>
                </a:pathLst>
              </a:custGeom>
              <a:noFill/>
              <a:ln w="28575">
                <a:solidFill>
                  <a:srgbClr val="FFFFFF"/>
                </a:solidFill>
              </a:ln>
            </p:spPr>
          </p:sp>
          <p:sp>
            <p:nvSpPr>
              <p:cNvPr id="56" name="Freeform 56"/>
              <p:cNvSpPr/>
              <p:nvPr/>
            </p:nvSpPr>
            <p:spPr>
              <a:xfrm>
                <a:off x="8865394" y="4955381"/>
                <a:ext cx="28575" cy="28575"/>
              </a:xfrm>
              <a:custGeom>
                <a:avLst/>
                <a:gdLst/>
                <a:ahLst/>
                <a:cxnLst/>
                <a:rect l="l" t="t" r="r" b="b"/>
                <a:pathLst>
                  <a:path w="28575" h="28575">
                    <a:moveTo>
                      <a:pt x="0" y="0"/>
                    </a:moveTo>
                    <a:lnTo>
                      <a:pt x="28575" y="28575"/>
                    </a:lnTo>
                  </a:path>
                </a:pathLst>
              </a:custGeom>
              <a:noFill/>
              <a:ln w="28575">
                <a:solidFill>
                  <a:srgbClr val="FFFFFF"/>
                </a:solidFill>
              </a:ln>
            </p:spPr>
          </p:sp>
          <p:sp>
            <p:nvSpPr>
              <p:cNvPr id="57" name="Freeform 57"/>
              <p:cNvSpPr/>
              <p:nvPr/>
            </p:nvSpPr>
            <p:spPr>
              <a:xfrm>
                <a:off x="8901112" y="4919662"/>
                <a:ext cx="28575" cy="28575"/>
              </a:xfrm>
              <a:custGeom>
                <a:avLst/>
                <a:gdLst/>
                <a:ahLst/>
                <a:cxnLst/>
                <a:rect l="l" t="t" r="r" b="b"/>
                <a:pathLst>
                  <a:path w="28575" h="28575">
                    <a:moveTo>
                      <a:pt x="0" y="0"/>
                    </a:moveTo>
                    <a:lnTo>
                      <a:pt x="28575" y="28575"/>
                    </a:lnTo>
                  </a:path>
                </a:pathLst>
              </a:custGeom>
              <a:noFill/>
              <a:ln w="28575">
                <a:solidFill>
                  <a:srgbClr val="FFFFFF"/>
                </a:solidFill>
              </a:ln>
            </p:spPr>
          </p:sp>
        </p:grpSp>
        <p:sp>
          <p:nvSpPr>
            <p:cNvPr id="59" name="Ellipse 59"/>
            <p:cNvSpPr/>
            <p:nvPr/>
          </p:nvSpPr>
          <p:spPr>
            <a:xfrm>
              <a:off x="10239375" y="2762250"/>
              <a:ext cx="762000" cy="762000"/>
            </a:xfrm>
            <a:prstGeom prst="ellipse">
              <a:avLst/>
            </a:prstGeom>
            <a:gradFill>
              <a:gsLst>
                <a:gs pos="0">
                  <a:srgbClr val="B83116"/>
                </a:gs>
                <a:gs pos="100000">
                  <a:srgbClr val="92210B"/>
                </a:gs>
              </a:gsLst>
              <a:lin ang="2700000" scaled="1"/>
            </a:gradFill>
            <a:ln>
              <a:noFill/>
            </a:ln>
          </p:spPr>
        </p:sp>
        <p:grpSp>
          <p:nvGrpSpPr>
            <p:cNvPr id="63" name="Group 63"/>
            <p:cNvGrpSpPr/>
            <p:nvPr/>
          </p:nvGrpSpPr>
          <p:grpSpPr>
            <a:xfrm>
              <a:off x="10491788" y="3014662"/>
              <a:ext cx="257175" cy="257176"/>
              <a:chOff x="10491788" y="3014662"/>
              <a:chExt cx="257175" cy="257176"/>
            </a:xfrm>
          </p:grpSpPr>
          <p:sp>
            <p:nvSpPr>
              <p:cNvPr id="60" name="Freeform 60"/>
              <p:cNvSpPr/>
              <p:nvPr/>
            </p:nvSpPr>
            <p:spPr>
              <a:xfrm>
                <a:off x="10491788" y="3014662"/>
                <a:ext cx="257175" cy="128588"/>
              </a:xfrm>
              <a:custGeom>
                <a:avLst/>
                <a:gdLst/>
                <a:ahLst/>
                <a:cxnLst/>
                <a:rect l="l" t="t" r="r" b="b"/>
                <a:pathLst>
                  <a:path w="257175" h="128588">
                    <a:moveTo>
                      <a:pt x="28575" y="128588"/>
                    </a:moveTo>
                    <a:lnTo>
                      <a:pt x="0" y="128588"/>
                    </a:lnTo>
                    <a:lnTo>
                      <a:pt x="128588" y="0"/>
                    </a:lnTo>
                    <a:lnTo>
                      <a:pt x="257175" y="128588"/>
                    </a:lnTo>
                    <a:lnTo>
                      <a:pt x="228600" y="128588"/>
                    </a:lnTo>
                  </a:path>
                </a:pathLst>
              </a:custGeom>
              <a:noFill/>
              <a:ln w="28575">
                <a:solidFill>
                  <a:srgbClr val="FFFFFF"/>
                </a:solidFill>
              </a:ln>
            </p:spPr>
          </p:sp>
          <p:sp>
            <p:nvSpPr>
              <p:cNvPr id="61" name="Freeform 61"/>
              <p:cNvSpPr/>
              <p:nvPr/>
            </p:nvSpPr>
            <p:spPr>
              <a:xfrm>
                <a:off x="10520362" y="3143250"/>
                <a:ext cx="200025" cy="128588"/>
              </a:xfrm>
              <a:custGeom>
                <a:avLst/>
                <a:gdLst/>
                <a:ahLst/>
                <a:cxnLst/>
                <a:rect l="l" t="t" r="r" b="b"/>
                <a:pathLst>
                  <a:path w="200025" h="128588">
                    <a:moveTo>
                      <a:pt x="0" y="0"/>
                    </a:moveTo>
                    <a:lnTo>
                      <a:pt x="0" y="100012"/>
                    </a:lnTo>
                    <a:cubicBezTo>
                      <a:pt x="0" y="115794"/>
                      <a:pt x="12793" y="128588"/>
                      <a:pt x="28575" y="128588"/>
                    </a:cubicBezTo>
                    <a:lnTo>
                      <a:pt x="171450" y="128588"/>
                    </a:lnTo>
                    <a:cubicBezTo>
                      <a:pt x="187232" y="128588"/>
                      <a:pt x="200025" y="115794"/>
                      <a:pt x="200025" y="100012"/>
                    </a:cubicBezTo>
                    <a:lnTo>
                      <a:pt x="200025" y="0"/>
                    </a:lnTo>
                  </a:path>
                </a:pathLst>
              </a:custGeom>
              <a:noFill/>
              <a:ln w="28575">
                <a:solidFill>
                  <a:srgbClr val="FFFFFF"/>
                </a:solidFill>
              </a:ln>
            </p:spPr>
          </p:sp>
          <p:sp>
            <p:nvSpPr>
              <p:cNvPr id="62" name="Freeform 62"/>
              <p:cNvSpPr/>
              <p:nvPr/>
            </p:nvSpPr>
            <p:spPr>
              <a:xfrm>
                <a:off x="10577512" y="3157538"/>
                <a:ext cx="85725" cy="114300"/>
              </a:xfrm>
              <a:custGeom>
                <a:avLst/>
                <a:gdLst/>
                <a:ahLst/>
                <a:cxnLst/>
                <a:rect l="l" t="t" r="r" b="b"/>
                <a:pathLst>
                  <a:path w="85725" h="114300">
                    <a:moveTo>
                      <a:pt x="0" y="114300"/>
                    </a:moveTo>
                    <a:lnTo>
                      <a:pt x="0" y="28575"/>
                    </a:lnTo>
                    <a:cubicBezTo>
                      <a:pt x="0" y="12793"/>
                      <a:pt x="12793" y="0"/>
                      <a:pt x="28575" y="0"/>
                    </a:cubicBezTo>
                    <a:lnTo>
                      <a:pt x="57150" y="0"/>
                    </a:lnTo>
                    <a:cubicBezTo>
                      <a:pt x="72932" y="0"/>
                      <a:pt x="85725" y="12793"/>
                      <a:pt x="85725" y="28575"/>
                    </a:cubicBezTo>
                    <a:lnTo>
                      <a:pt x="85725" y="114300"/>
                    </a:lnTo>
                  </a:path>
                </a:pathLst>
              </a:custGeom>
              <a:noFill/>
              <a:ln w="28575">
                <a:solidFill>
                  <a:srgbClr val="FFFFFF"/>
                </a:solidFill>
              </a:ln>
            </p:spPr>
          </p:sp>
        </p:grpSp>
      </p:gr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01</a:t>
              </a:r>
            </a:p>
          </p:txBody>
        </p:sp>
        <p:sp>
          <p:nvSpPr>
            <p:cNvPr id="4" name="TextBox 4"/>
            <p:cNvSpPr txBox="1"/>
            <p:nvPr/>
          </p:nvSpPr>
          <p:spPr>
            <a:xfrm>
              <a:off x="904494" y="170498"/>
              <a:ext cx="7231380"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战略判断｜公私联动正在成为存量竞争时代的第二增长曲线</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50" name="col-env"/>
          <p:cNvGrpSpPr/>
          <p:nvPr/>
        </p:nvGrpSpPr>
        <p:grpSpPr>
          <a:xfrm>
            <a:off x="381000" y="704850"/>
            <a:ext cx="3143250" cy="4762500"/>
            <a:chOff x="381000" y="704850"/>
            <a:chExt cx="3143250" cy="4762500"/>
          </a:xfrm>
        </p:grpSpPr>
        <p:sp>
          <p:nvSpPr>
            <p:cNvPr id="7" name="Rectangle 7"/>
            <p:cNvSpPr/>
            <p:nvPr/>
          </p:nvSpPr>
          <p:spPr>
            <a:xfrm>
              <a:off x="381000" y="704850"/>
              <a:ext cx="3143250" cy="304800"/>
            </a:xfrm>
            <a:prstGeom prst="roundRect">
              <a:avLst>
                <a:gd name="adj" fmla="val 12500"/>
              </a:avLst>
            </a:prstGeom>
            <a:gradFill>
              <a:gsLst>
                <a:gs pos="0">
                  <a:srgbClr val="AD3921"/>
                </a:gs>
                <a:gs pos="100000">
                  <a:srgbClr val="962C16"/>
                </a:gs>
              </a:gsLst>
              <a:lin ang="5400000" scaled="1"/>
            </a:gradFill>
            <a:ln>
              <a:noFill/>
            </a:ln>
          </p:spPr>
        </p:sp>
        <p:sp>
          <p:nvSpPr>
            <p:cNvPr id="8" name="TextBox 8"/>
            <p:cNvSpPr txBox="1"/>
            <p:nvPr/>
          </p:nvSpPr>
          <p:spPr>
            <a:xfrm>
              <a:off x="1268425" y="792956"/>
              <a:ext cx="136840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经营环境的四项变化</a:t>
              </a:r>
            </a:p>
          </p:txBody>
        </p:sp>
        <p:sp>
          <p:nvSpPr>
            <p:cNvPr id="9" name="Rectangle 9"/>
            <p:cNvSpPr/>
            <p:nvPr/>
          </p:nvSpPr>
          <p:spPr>
            <a:xfrm>
              <a:off x="381000" y="1085850"/>
              <a:ext cx="3143250" cy="1009650"/>
            </a:xfrm>
            <a:prstGeom prst="roundRect">
              <a:avLst>
                <a:gd name="adj" fmla="val 7547"/>
              </a:avLst>
            </a:prstGeom>
            <a:solidFill>
              <a:srgbClr val="F7FAFE"/>
            </a:solidFill>
            <a:ln w="9525">
              <a:solidFill>
                <a:srgbClr val="C9D8EF"/>
              </a:solidFill>
            </a:ln>
          </p:spPr>
        </p:sp>
        <p:sp>
          <p:nvSpPr>
            <p:cNvPr id="10" name="Ellipse 10"/>
            <p:cNvSpPr/>
            <p:nvPr/>
          </p:nvSpPr>
          <p:spPr>
            <a:xfrm>
              <a:off x="523875" y="1447800"/>
              <a:ext cx="285750" cy="285750"/>
            </a:xfrm>
            <a:prstGeom prst="ellipse">
              <a:avLst/>
            </a:prstGeom>
            <a:solidFill>
              <a:srgbClr val="A8351D"/>
            </a:solidFill>
            <a:ln>
              <a:noFill/>
            </a:ln>
          </p:spPr>
        </p:sp>
        <p:sp>
          <p:nvSpPr>
            <p:cNvPr id="11" name="TextBox 11"/>
            <p:cNvSpPr txBox="1"/>
            <p:nvPr/>
          </p:nvSpPr>
          <p:spPr>
            <a:xfrm>
              <a:off x="522050" y="1541145"/>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01​​</a:t>
              </a:r>
            </a:p>
          </p:txBody>
        </p:sp>
        <p:grpSp>
          <p:nvGrpSpPr>
            <p:cNvPr id="17" name="Group 17"/>
            <p:cNvGrpSpPr/>
            <p:nvPr/>
          </p:nvGrpSpPr>
          <p:grpSpPr>
            <a:xfrm>
              <a:off x="957262" y="1460173"/>
              <a:ext cx="257176" cy="259089"/>
              <a:chOff x="957262" y="1460173"/>
              <a:chExt cx="257176" cy="259089"/>
            </a:xfrm>
          </p:grpSpPr>
          <p:sp>
            <p:nvSpPr>
              <p:cNvPr id="12" name="Freeform 12"/>
              <p:cNvSpPr/>
              <p:nvPr/>
            </p:nvSpPr>
            <p:spPr>
              <a:xfrm>
                <a:off x="1042988" y="1576388"/>
                <a:ext cx="171450" cy="85725"/>
              </a:xfrm>
              <a:custGeom>
                <a:avLst/>
                <a:gdLst/>
                <a:ahLst/>
                <a:cxnLst/>
                <a:rect l="l" t="t" r="r" b="b"/>
                <a:pathLst>
                  <a:path w="171450" h="85725">
                    <a:moveTo>
                      <a:pt x="0" y="42862"/>
                    </a:moveTo>
                    <a:cubicBezTo>
                      <a:pt x="0" y="66537"/>
                      <a:pt x="38376" y="85725"/>
                      <a:pt x="85725" y="85725"/>
                    </a:cubicBezTo>
                    <a:cubicBezTo>
                      <a:pt x="133074" y="85725"/>
                      <a:pt x="171450" y="66537"/>
                      <a:pt x="171450" y="42862"/>
                    </a:cubicBezTo>
                    <a:cubicBezTo>
                      <a:pt x="171450" y="19188"/>
                      <a:pt x="133074" y="0"/>
                      <a:pt x="85725" y="0"/>
                    </a:cubicBezTo>
                    <a:cubicBezTo>
                      <a:pt x="38376" y="0"/>
                      <a:pt x="0" y="19188"/>
                      <a:pt x="0" y="42862"/>
                    </a:cubicBezTo>
                  </a:path>
                </a:pathLst>
              </a:custGeom>
              <a:noFill/>
              <a:ln w="28575">
                <a:solidFill>
                  <a:srgbClr val="A8351D"/>
                </a:solidFill>
              </a:ln>
            </p:spPr>
          </p:sp>
          <p:sp>
            <p:nvSpPr>
              <p:cNvPr id="13" name="Freeform 13"/>
              <p:cNvSpPr/>
              <p:nvPr/>
            </p:nvSpPr>
            <p:spPr>
              <a:xfrm>
                <a:off x="1042988" y="1619250"/>
                <a:ext cx="171450" cy="100012"/>
              </a:xfrm>
              <a:custGeom>
                <a:avLst/>
                <a:gdLst/>
                <a:ahLst/>
                <a:cxnLst/>
                <a:rect l="l" t="t" r="r" b="b"/>
                <a:pathLst>
                  <a:path w="171450" h="100012">
                    <a:moveTo>
                      <a:pt x="0" y="0"/>
                    </a:moveTo>
                    <a:lnTo>
                      <a:pt x="0" y="57150"/>
                    </a:lnTo>
                    <a:cubicBezTo>
                      <a:pt x="0" y="80810"/>
                      <a:pt x="38376" y="100012"/>
                      <a:pt x="85725" y="100012"/>
                    </a:cubicBezTo>
                    <a:cubicBezTo>
                      <a:pt x="133074" y="100012"/>
                      <a:pt x="171450" y="80810"/>
                      <a:pt x="171450" y="57150"/>
                    </a:cubicBezTo>
                    <a:lnTo>
                      <a:pt x="171450" y="0"/>
                    </a:lnTo>
                  </a:path>
                </a:pathLst>
              </a:custGeom>
              <a:noFill/>
              <a:ln w="28575">
                <a:solidFill>
                  <a:srgbClr val="A8351D"/>
                </a:solidFill>
              </a:ln>
            </p:spPr>
          </p:sp>
          <p:sp>
            <p:nvSpPr>
              <p:cNvPr id="14" name="Freeform 14"/>
              <p:cNvSpPr/>
              <p:nvPr/>
            </p:nvSpPr>
            <p:spPr>
              <a:xfrm>
                <a:off x="957262" y="1460173"/>
                <a:ext cx="171450" cy="89554"/>
              </a:xfrm>
              <a:custGeom>
                <a:avLst/>
                <a:gdLst/>
                <a:ahLst/>
                <a:cxnLst/>
                <a:rect l="l" t="t" r="r" b="b"/>
                <a:pathLst>
                  <a:path w="171450" h="89554">
                    <a:moveTo>
                      <a:pt x="0" y="44777"/>
                    </a:moveTo>
                    <a:cubicBezTo>
                      <a:pt x="0" y="60093"/>
                      <a:pt x="16345" y="74238"/>
                      <a:pt x="42862" y="81896"/>
                    </a:cubicBezTo>
                    <a:cubicBezTo>
                      <a:pt x="69380" y="89554"/>
                      <a:pt x="102070" y="89554"/>
                      <a:pt x="128588" y="81896"/>
                    </a:cubicBezTo>
                    <a:cubicBezTo>
                      <a:pt x="155105" y="74238"/>
                      <a:pt x="171450" y="60093"/>
                      <a:pt x="171450" y="44777"/>
                    </a:cubicBezTo>
                    <a:cubicBezTo>
                      <a:pt x="171450" y="29461"/>
                      <a:pt x="155105" y="15316"/>
                      <a:pt x="128588" y="7658"/>
                    </a:cubicBezTo>
                    <a:cubicBezTo>
                      <a:pt x="102070" y="0"/>
                      <a:pt x="69380" y="0"/>
                      <a:pt x="42862" y="7658"/>
                    </a:cubicBezTo>
                    <a:cubicBezTo>
                      <a:pt x="16345" y="15316"/>
                      <a:pt x="0" y="29461"/>
                      <a:pt x="0" y="44777"/>
                    </a:cubicBezTo>
                  </a:path>
                </a:pathLst>
              </a:custGeom>
              <a:noFill/>
              <a:ln w="28575">
                <a:solidFill>
                  <a:srgbClr val="A8351D"/>
                </a:solidFill>
              </a:ln>
            </p:spPr>
          </p:sp>
          <p:sp>
            <p:nvSpPr>
              <p:cNvPr id="15" name="Freeform 15"/>
              <p:cNvSpPr/>
              <p:nvPr/>
            </p:nvSpPr>
            <p:spPr>
              <a:xfrm>
                <a:off x="957262" y="1504950"/>
                <a:ext cx="28575" cy="171450"/>
              </a:xfrm>
              <a:custGeom>
                <a:avLst/>
                <a:gdLst/>
                <a:ahLst/>
                <a:cxnLst/>
                <a:rect l="l" t="t" r="r" b="b"/>
                <a:pathLst>
                  <a:path w="28575" h="171450">
                    <a:moveTo>
                      <a:pt x="0" y="0"/>
                    </a:moveTo>
                    <a:lnTo>
                      <a:pt x="0" y="142875"/>
                    </a:lnTo>
                    <a:cubicBezTo>
                      <a:pt x="0" y="155562"/>
                      <a:pt x="11030" y="163592"/>
                      <a:pt x="28575" y="171450"/>
                    </a:cubicBezTo>
                  </a:path>
                </a:pathLst>
              </a:custGeom>
              <a:noFill/>
              <a:ln w="28575">
                <a:solidFill>
                  <a:srgbClr val="A8351D"/>
                </a:solidFill>
              </a:ln>
            </p:spPr>
          </p:sp>
          <p:sp>
            <p:nvSpPr>
              <p:cNvPr id="16" name="Freeform 16"/>
              <p:cNvSpPr/>
              <p:nvPr/>
            </p:nvSpPr>
            <p:spPr>
              <a:xfrm>
                <a:off x="957262" y="1576388"/>
                <a:ext cx="28575" cy="28575"/>
              </a:xfrm>
              <a:custGeom>
                <a:avLst/>
                <a:gdLst/>
                <a:ahLst/>
                <a:cxnLst/>
                <a:rect l="l" t="t" r="r" b="b"/>
                <a:pathLst>
                  <a:path w="28575" h="28575">
                    <a:moveTo>
                      <a:pt x="0" y="0"/>
                    </a:moveTo>
                    <a:cubicBezTo>
                      <a:pt x="0" y="12687"/>
                      <a:pt x="11030" y="20717"/>
                      <a:pt x="28575" y="28575"/>
                    </a:cubicBezTo>
                  </a:path>
                </a:pathLst>
              </a:custGeom>
              <a:noFill/>
              <a:ln w="28575">
                <a:solidFill>
                  <a:srgbClr val="A8351D"/>
                </a:solidFill>
              </a:ln>
            </p:spPr>
          </p:sp>
        </p:grpSp>
        <p:sp>
          <p:nvSpPr>
            <p:cNvPr id="18" name="TextBox 18"/>
            <p:cNvSpPr txBox="1"/>
            <p:nvPr/>
          </p:nvSpPr>
          <p:spPr>
            <a:xfrm>
              <a:off x="1385697" y="1533049"/>
              <a:ext cx="669544"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净息差承压</a:t>
              </a:r>
            </a:p>
          </p:txBody>
        </p:sp>
        <p:sp>
          <p:nvSpPr>
            <p:cNvPr id="19" name="Rectangle 19"/>
            <p:cNvSpPr/>
            <p:nvPr/>
          </p:nvSpPr>
          <p:spPr>
            <a:xfrm>
              <a:off x="381000" y="2209800"/>
              <a:ext cx="3143250" cy="1009650"/>
            </a:xfrm>
            <a:prstGeom prst="roundRect">
              <a:avLst>
                <a:gd name="adj" fmla="val 7547"/>
              </a:avLst>
            </a:prstGeom>
            <a:solidFill>
              <a:srgbClr val="F7FAFE"/>
            </a:solidFill>
            <a:ln w="9525">
              <a:solidFill>
                <a:srgbClr val="C9D8EF"/>
              </a:solidFill>
            </a:ln>
          </p:spPr>
        </p:sp>
        <p:sp>
          <p:nvSpPr>
            <p:cNvPr id="20" name="Ellipse 20"/>
            <p:cNvSpPr/>
            <p:nvPr/>
          </p:nvSpPr>
          <p:spPr>
            <a:xfrm>
              <a:off x="523875" y="2571750"/>
              <a:ext cx="285750" cy="285750"/>
            </a:xfrm>
            <a:prstGeom prst="ellipse">
              <a:avLst/>
            </a:prstGeom>
            <a:solidFill>
              <a:srgbClr val="D64A2E"/>
            </a:solidFill>
            <a:ln>
              <a:noFill/>
            </a:ln>
          </p:spPr>
        </p:sp>
        <p:sp>
          <p:nvSpPr>
            <p:cNvPr id="21" name="TextBox 21"/>
            <p:cNvSpPr txBox="1"/>
            <p:nvPr/>
          </p:nvSpPr>
          <p:spPr>
            <a:xfrm>
              <a:off x="522050" y="2665095"/>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02​​</a:t>
              </a:r>
            </a:p>
          </p:txBody>
        </p:sp>
        <p:grpSp>
          <p:nvGrpSpPr>
            <p:cNvPr id="24" name="Group 24"/>
            <p:cNvGrpSpPr/>
            <p:nvPr/>
          </p:nvGrpSpPr>
          <p:grpSpPr>
            <a:xfrm>
              <a:off x="957262" y="2643188"/>
              <a:ext cx="257175" cy="142875"/>
              <a:chOff x="957262" y="2643188"/>
              <a:chExt cx="257175" cy="142875"/>
            </a:xfrm>
          </p:grpSpPr>
          <p:sp>
            <p:nvSpPr>
              <p:cNvPr id="22" name="Freeform 22"/>
              <p:cNvSpPr/>
              <p:nvPr/>
            </p:nvSpPr>
            <p:spPr>
              <a:xfrm>
                <a:off x="957262" y="2643188"/>
                <a:ext cx="257175" cy="142875"/>
              </a:xfrm>
              <a:custGeom>
                <a:avLst/>
                <a:gdLst/>
                <a:ahLst/>
                <a:cxnLst/>
                <a:rect l="l" t="t" r="r" b="b"/>
                <a:pathLst>
                  <a:path w="257175" h="142875">
                    <a:moveTo>
                      <a:pt x="0" y="142875"/>
                    </a:moveTo>
                    <a:lnTo>
                      <a:pt x="85725" y="57150"/>
                    </a:lnTo>
                    <a:lnTo>
                      <a:pt x="142875" y="114300"/>
                    </a:lnTo>
                    <a:lnTo>
                      <a:pt x="257175" y="0"/>
                    </a:lnTo>
                  </a:path>
                </a:pathLst>
              </a:custGeom>
              <a:noFill/>
              <a:ln w="28575">
                <a:solidFill>
                  <a:srgbClr val="D64A2E"/>
                </a:solidFill>
              </a:ln>
            </p:spPr>
          </p:sp>
          <p:sp>
            <p:nvSpPr>
              <p:cNvPr id="23" name="Freeform 23"/>
              <p:cNvSpPr/>
              <p:nvPr/>
            </p:nvSpPr>
            <p:spPr>
              <a:xfrm>
                <a:off x="1114425" y="2643188"/>
                <a:ext cx="100012" cy="100012"/>
              </a:xfrm>
              <a:custGeom>
                <a:avLst/>
                <a:gdLst/>
                <a:ahLst/>
                <a:cxnLst/>
                <a:rect l="l" t="t" r="r" b="b"/>
                <a:pathLst>
                  <a:path w="100012" h="100012">
                    <a:moveTo>
                      <a:pt x="0" y="0"/>
                    </a:moveTo>
                    <a:lnTo>
                      <a:pt x="100012" y="0"/>
                    </a:lnTo>
                    <a:lnTo>
                      <a:pt x="100012" y="100012"/>
                    </a:lnTo>
                  </a:path>
                </a:pathLst>
              </a:custGeom>
              <a:noFill/>
              <a:ln w="28575">
                <a:solidFill>
                  <a:srgbClr val="D64A2E"/>
                </a:solidFill>
              </a:ln>
            </p:spPr>
          </p:sp>
        </p:grpSp>
        <p:sp>
          <p:nvSpPr>
            <p:cNvPr id="25" name="TextBox 25"/>
            <p:cNvSpPr txBox="1"/>
            <p:nvPr/>
          </p:nvSpPr>
          <p:spPr>
            <a:xfrm>
              <a:off x="1385697" y="2656999"/>
              <a:ext cx="1329182"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单一信贷增长空间收窄</a:t>
              </a:r>
            </a:p>
          </p:txBody>
        </p:sp>
        <p:sp>
          <p:nvSpPr>
            <p:cNvPr id="26" name="Rectangle 26"/>
            <p:cNvSpPr/>
            <p:nvPr/>
          </p:nvSpPr>
          <p:spPr>
            <a:xfrm>
              <a:off x="381000" y="3333750"/>
              <a:ext cx="3143250" cy="1009650"/>
            </a:xfrm>
            <a:prstGeom prst="roundRect">
              <a:avLst>
                <a:gd name="adj" fmla="val 7547"/>
              </a:avLst>
            </a:prstGeom>
            <a:solidFill>
              <a:srgbClr val="F7FAFE"/>
            </a:solidFill>
            <a:ln w="9525">
              <a:solidFill>
                <a:srgbClr val="C9D8EF"/>
              </a:solidFill>
            </a:ln>
          </p:spPr>
        </p:sp>
        <p:sp>
          <p:nvSpPr>
            <p:cNvPr id="27" name="Ellipse 27"/>
            <p:cNvSpPr/>
            <p:nvPr/>
          </p:nvSpPr>
          <p:spPr>
            <a:xfrm>
              <a:off x="523875" y="3695700"/>
              <a:ext cx="285750" cy="285750"/>
            </a:xfrm>
            <a:prstGeom prst="ellipse">
              <a:avLst/>
            </a:prstGeom>
            <a:solidFill>
              <a:srgbClr val="9E2912"/>
            </a:solidFill>
            <a:ln>
              <a:noFill/>
            </a:ln>
          </p:spPr>
        </p:sp>
        <p:sp>
          <p:nvSpPr>
            <p:cNvPr id="28" name="TextBox 28"/>
            <p:cNvSpPr txBox="1"/>
            <p:nvPr/>
          </p:nvSpPr>
          <p:spPr>
            <a:xfrm>
              <a:off x="522050" y="3789045"/>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03​​</a:t>
              </a:r>
            </a:p>
          </p:txBody>
        </p:sp>
        <p:grpSp>
          <p:nvGrpSpPr>
            <p:cNvPr id="37" name="Group 37"/>
            <p:cNvGrpSpPr/>
            <p:nvPr/>
          </p:nvGrpSpPr>
          <p:grpSpPr>
            <a:xfrm>
              <a:off x="957262" y="3709988"/>
              <a:ext cx="257175" cy="266699"/>
              <a:chOff x="957262" y="3709988"/>
              <a:chExt cx="257175" cy="266699"/>
            </a:xfrm>
          </p:grpSpPr>
          <p:sp>
            <p:nvSpPr>
              <p:cNvPr id="29" name="Freeform 29"/>
              <p:cNvSpPr/>
              <p:nvPr/>
            </p:nvSpPr>
            <p:spPr>
              <a:xfrm>
                <a:off x="957262" y="3967162"/>
                <a:ext cx="257175" cy="9525"/>
              </a:xfrm>
              <a:custGeom>
                <a:avLst/>
                <a:gdLst/>
                <a:ahLst/>
                <a:cxnLst/>
                <a:rect l="l" t="t" r="r" b="b"/>
                <a:pathLst>
                  <a:path w="257175" h="9525">
                    <a:moveTo>
                      <a:pt x="0" y="0"/>
                    </a:moveTo>
                    <a:lnTo>
                      <a:pt x="257175" y="0"/>
                    </a:lnTo>
                  </a:path>
                </a:pathLst>
              </a:custGeom>
              <a:noFill/>
              <a:ln w="28575">
                <a:solidFill>
                  <a:srgbClr val="9E2912"/>
                </a:solidFill>
              </a:ln>
            </p:spPr>
          </p:sp>
          <p:sp>
            <p:nvSpPr>
              <p:cNvPr id="30" name="Freeform 30"/>
              <p:cNvSpPr/>
              <p:nvPr/>
            </p:nvSpPr>
            <p:spPr>
              <a:xfrm>
                <a:off x="957262" y="3810000"/>
                <a:ext cx="257175" cy="9525"/>
              </a:xfrm>
              <a:custGeom>
                <a:avLst/>
                <a:gdLst/>
                <a:ahLst/>
                <a:cxnLst/>
                <a:rect l="l" t="t" r="r" b="b"/>
                <a:pathLst>
                  <a:path w="257175" h="9525">
                    <a:moveTo>
                      <a:pt x="0" y="0"/>
                    </a:moveTo>
                    <a:lnTo>
                      <a:pt x="257175" y="0"/>
                    </a:lnTo>
                  </a:path>
                </a:pathLst>
              </a:custGeom>
              <a:noFill/>
              <a:ln w="28575">
                <a:solidFill>
                  <a:srgbClr val="9E2912"/>
                </a:solidFill>
              </a:ln>
            </p:spPr>
          </p:sp>
          <p:sp>
            <p:nvSpPr>
              <p:cNvPr id="31" name="Freeform 31"/>
              <p:cNvSpPr/>
              <p:nvPr/>
            </p:nvSpPr>
            <p:spPr>
              <a:xfrm>
                <a:off x="985838" y="3709988"/>
                <a:ext cx="200025" cy="42862"/>
              </a:xfrm>
              <a:custGeom>
                <a:avLst/>
                <a:gdLst/>
                <a:ahLst/>
                <a:cxnLst/>
                <a:rect l="l" t="t" r="r" b="b"/>
                <a:pathLst>
                  <a:path w="200025" h="42862">
                    <a:moveTo>
                      <a:pt x="0" y="42862"/>
                    </a:moveTo>
                    <a:lnTo>
                      <a:pt x="100012" y="0"/>
                    </a:lnTo>
                    <a:lnTo>
                      <a:pt x="200025" y="42862"/>
                    </a:lnTo>
                  </a:path>
                </a:pathLst>
              </a:custGeom>
              <a:noFill/>
              <a:ln w="28575">
                <a:solidFill>
                  <a:srgbClr val="9E2912"/>
                </a:solidFill>
              </a:ln>
            </p:spPr>
          </p:sp>
          <p:sp>
            <p:nvSpPr>
              <p:cNvPr id="32" name="Freeform 32"/>
              <p:cNvSpPr/>
              <p:nvPr/>
            </p:nvSpPr>
            <p:spPr>
              <a:xfrm>
                <a:off x="971550" y="3810000"/>
                <a:ext cx="9525" cy="157162"/>
              </a:xfrm>
              <a:custGeom>
                <a:avLst/>
                <a:gdLst/>
                <a:ahLst/>
                <a:cxnLst/>
                <a:rect l="l" t="t" r="r" b="b"/>
                <a:pathLst>
                  <a:path w="9525" h="157162">
                    <a:moveTo>
                      <a:pt x="0" y="0"/>
                    </a:moveTo>
                    <a:lnTo>
                      <a:pt x="0" y="157162"/>
                    </a:lnTo>
                  </a:path>
                </a:pathLst>
              </a:custGeom>
              <a:noFill/>
              <a:ln w="28575">
                <a:solidFill>
                  <a:srgbClr val="9E2912"/>
                </a:solidFill>
              </a:ln>
            </p:spPr>
          </p:sp>
          <p:sp>
            <p:nvSpPr>
              <p:cNvPr id="33" name="Freeform 33"/>
              <p:cNvSpPr/>
              <p:nvPr/>
            </p:nvSpPr>
            <p:spPr>
              <a:xfrm>
                <a:off x="1200150" y="3810000"/>
                <a:ext cx="9525" cy="157162"/>
              </a:xfrm>
              <a:custGeom>
                <a:avLst/>
                <a:gdLst/>
                <a:ahLst/>
                <a:cxnLst/>
                <a:rect l="l" t="t" r="r" b="b"/>
                <a:pathLst>
                  <a:path w="9525" h="157162">
                    <a:moveTo>
                      <a:pt x="0" y="0"/>
                    </a:moveTo>
                    <a:lnTo>
                      <a:pt x="0" y="157162"/>
                    </a:lnTo>
                  </a:path>
                </a:pathLst>
              </a:custGeom>
              <a:noFill/>
              <a:ln w="28575">
                <a:solidFill>
                  <a:srgbClr val="9E2912"/>
                </a:solidFill>
              </a:ln>
            </p:spPr>
          </p:sp>
          <p:sp>
            <p:nvSpPr>
              <p:cNvPr id="34" name="Freeform 34"/>
              <p:cNvSpPr/>
              <p:nvPr/>
            </p:nvSpPr>
            <p:spPr>
              <a:xfrm>
                <a:off x="1028700" y="3867150"/>
                <a:ext cx="9525" cy="42862"/>
              </a:xfrm>
              <a:custGeom>
                <a:avLst/>
                <a:gdLst/>
                <a:ahLst/>
                <a:cxnLst/>
                <a:rect l="l" t="t" r="r" b="b"/>
                <a:pathLst>
                  <a:path w="9525" h="42862">
                    <a:moveTo>
                      <a:pt x="0" y="0"/>
                    </a:moveTo>
                    <a:lnTo>
                      <a:pt x="0" y="42862"/>
                    </a:lnTo>
                  </a:path>
                </a:pathLst>
              </a:custGeom>
              <a:noFill/>
              <a:ln w="28575">
                <a:solidFill>
                  <a:srgbClr val="9E2912"/>
                </a:solidFill>
              </a:ln>
            </p:spPr>
          </p:sp>
          <p:sp>
            <p:nvSpPr>
              <p:cNvPr id="35" name="Freeform 35"/>
              <p:cNvSpPr/>
              <p:nvPr/>
            </p:nvSpPr>
            <p:spPr>
              <a:xfrm>
                <a:off x="1085850" y="3867150"/>
                <a:ext cx="9525" cy="42862"/>
              </a:xfrm>
              <a:custGeom>
                <a:avLst/>
                <a:gdLst/>
                <a:ahLst/>
                <a:cxnLst/>
                <a:rect l="l" t="t" r="r" b="b"/>
                <a:pathLst>
                  <a:path w="9525" h="42862">
                    <a:moveTo>
                      <a:pt x="0" y="0"/>
                    </a:moveTo>
                    <a:lnTo>
                      <a:pt x="0" y="42862"/>
                    </a:lnTo>
                  </a:path>
                </a:pathLst>
              </a:custGeom>
              <a:noFill/>
              <a:ln w="28575">
                <a:solidFill>
                  <a:srgbClr val="9E2912"/>
                </a:solidFill>
              </a:ln>
            </p:spPr>
          </p:sp>
          <p:sp>
            <p:nvSpPr>
              <p:cNvPr id="36" name="Freeform 36"/>
              <p:cNvSpPr/>
              <p:nvPr/>
            </p:nvSpPr>
            <p:spPr>
              <a:xfrm>
                <a:off x="1143000" y="3867150"/>
                <a:ext cx="9525" cy="42862"/>
              </a:xfrm>
              <a:custGeom>
                <a:avLst/>
                <a:gdLst/>
                <a:ahLst/>
                <a:cxnLst/>
                <a:rect l="l" t="t" r="r" b="b"/>
                <a:pathLst>
                  <a:path w="9525" h="42862">
                    <a:moveTo>
                      <a:pt x="0" y="0"/>
                    </a:moveTo>
                    <a:lnTo>
                      <a:pt x="0" y="42862"/>
                    </a:lnTo>
                  </a:path>
                </a:pathLst>
              </a:custGeom>
              <a:noFill/>
              <a:ln w="28575">
                <a:solidFill>
                  <a:srgbClr val="9E2912"/>
                </a:solidFill>
              </a:ln>
            </p:spPr>
          </p:sp>
        </p:grpSp>
        <p:sp>
          <p:nvSpPr>
            <p:cNvPr id="38" name="TextBox 38"/>
            <p:cNvSpPr txBox="1"/>
            <p:nvPr/>
          </p:nvSpPr>
          <p:spPr>
            <a:xfrm>
              <a:off x="1385697" y="3780949"/>
              <a:ext cx="1461110"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对公入口价值未充分释放</a:t>
              </a:r>
            </a:p>
          </p:txBody>
        </p:sp>
        <p:sp>
          <p:nvSpPr>
            <p:cNvPr id="39" name="Rectangle 39"/>
            <p:cNvSpPr/>
            <p:nvPr/>
          </p:nvSpPr>
          <p:spPr>
            <a:xfrm>
              <a:off x="381000" y="4457700"/>
              <a:ext cx="3143250" cy="1009650"/>
            </a:xfrm>
            <a:prstGeom prst="roundRect">
              <a:avLst>
                <a:gd name="adj" fmla="val 7547"/>
              </a:avLst>
            </a:prstGeom>
            <a:solidFill>
              <a:srgbClr val="F7FAFE"/>
            </a:solidFill>
            <a:ln w="9525">
              <a:solidFill>
                <a:srgbClr val="C9D8EF"/>
              </a:solidFill>
            </a:ln>
          </p:spPr>
        </p:sp>
        <p:sp>
          <p:nvSpPr>
            <p:cNvPr id="40" name="Ellipse 40"/>
            <p:cNvSpPr/>
            <p:nvPr/>
          </p:nvSpPr>
          <p:spPr>
            <a:xfrm>
              <a:off x="523875" y="4819650"/>
              <a:ext cx="285750" cy="285750"/>
            </a:xfrm>
            <a:prstGeom prst="ellipse">
              <a:avLst/>
            </a:prstGeom>
            <a:solidFill>
              <a:srgbClr val="A5280F"/>
            </a:solidFill>
            <a:ln>
              <a:noFill/>
            </a:ln>
          </p:spPr>
        </p:sp>
        <p:sp>
          <p:nvSpPr>
            <p:cNvPr id="41" name="TextBox 41"/>
            <p:cNvSpPr txBox="1"/>
            <p:nvPr/>
          </p:nvSpPr>
          <p:spPr>
            <a:xfrm>
              <a:off x="522050" y="4912995"/>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04​​</a:t>
              </a:r>
            </a:p>
          </p:txBody>
        </p:sp>
        <p:grpSp>
          <p:nvGrpSpPr>
            <p:cNvPr id="48" name="Group 48"/>
            <p:cNvGrpSpPr/>
            <p:nvPr/>
          </p:nvGrpSpPr>
          <p:grpSpPr>
            <a:xfrm>
              <a:off x="957262" y="4833938"/>
              <a:ext cx="257176" cy="257174"/>
              <a:chOff x="957262" y="4833938"/>
              <a:chExt cx="257176" cy="257174"/>
            </a:xfrm>
          </p:grpSpPr>
          <p:sp>
            <p:nvSpPr>
              <p:cNvPr id="42" name="Freeform 42"/>
              <p:cNvSpPr/>
              <p:nvPr/>
            </p:nvSpPr>
            <p:spPr>
              <a:xfrm>
                <a:off x="1057275" y="4948238"/>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A5280F"/>
                </a:solidFill>
              </a:ln>
            </p:spPr>
          </p:sp>
          <p:sp>
            <p:nvSpPr>
              <p:cNvPr id="43" name="Freeform 43"/>
              <p:cNvSpPr/>
              <p:nvPr/>
            </p:nvSpPr>
            <p:spPr>
              <a:xfrm>
                <a:off x="1028700" y="5048250"/>
                <a:ext cx="114300" cy="42862"/>
              </a:xfrm>
              <a:custGeom>
                <a:avLst/>
                <a:gdLst/>
                <a:ahLst/>
                <a:cxnLst/>
                <a:rect l="l" t="t" r="r" b="b"/>
                <a:pathLst>
                  <a:path w="114300" h="42862">
                    <a:moveTo>
                      <a:pt x="0" y="42862"/>
                    </a:moveTo>
                    <a:lnTo>
                      <a:pt x="0" y="28575"/>
                    </a:lnTo>
                    <a:cubicBezTo>
                      <a:pt x="0" y="12793"/>
                      <a:pt x="12793" y="0"/>
                      <a:pt x="28575" y="0"/>
                    </a:cubicBezTo>
                    <a:lnTo>
                      <a:pt x="85725" y="0"/>
                    </a:lnTo>
                    <a:cubicBezTo>
                      <a:pt x="101507" y="0"/>
                      <a:pt x="114300" y="12793"/>
                      <a:pt x="114300" y="28575"/>
                    </a:cubicBezTo>
                    <a:lnTo>
                      <a:pt x="114300" y="42862"/>
                    </a:lnTo>
                  </a:path>
                </a:pathLst>
              </a:custGeom>
              <a:noFill/>
              <a:ln w="28575">
                <a:solidFill>
                  <a:srgbClr val="A5280F"/>
                </a:solidFill>
              </a:ln>
            </p:spPr>
          </p:sp>
          <p:sp>
            <p:nvSpPr>
              <p:cNvPr id="44" name="Freeform 44"/>
              <p:cNvSpPr/>
              <p:nvPr/>
            </p:nvSpPr>
            <p:spPr>
              <a:xfrm>
                <a:off x="1128712" y="4833938"/>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A5280F"/>
                </a:solidFill>
              </a:ln>
            </p:spPr>
          </p:sp>
          <p:sp>
            <p:nvSpPr>
              <p:cNvPr id="45" name="Freeform 45"/>
              <p:cNvSpPr/>
              <p:nvPr/>
            </p:nvSpPr>
            <p:spPr>
              <a:xfrm>
                <a:off x="1157288" y="4933950"/>
                <a:ext cx="57150" cy="42862"/>
              </a:xfrm>
              <a:custGeom>
                <a:avLst/>
                <a:gdLst/>
                <a:ahLst/>
                <a:cxnLst/>
                <a:rect l="l" t="t" r="r" b="b"/>
                <a:pathLst>
                  <a:path w="57150" h="42862">
                    <a:moveTo>
                      <a:pt x="0" y="0"/>
                    </a:moveTo>
                    <a:lnTo>
                      <a:pt x="28575" y="0"/>
                    </a:lnTo>
                    <a:cubicBezTo>
                      <a:pt x="44357" y="0"/>
                      <a:pt x="57150" y="12793"/>
                      <a:pt x="57150" y="28575"/>
                    </a:cubicBezTo>
                    <a:lnTo>
                      <a:pt x="57150" y="42862"/>
                    </a:lnTo>
                  </a:path>
                </a:pathLst>
              </a:custGeom>
              <a:noFill/>
              <a:ln w="28575">
                <a:solidFill>
                  <a:srgbClr val="A5280F"/>
                </a:solidFill>
              </a:ln>
            </p:spPr>
          </p:sp>
          <p:sp>
            <p:nvSpPr>
              <p:cNvPr id="46" name="Freeform 46"/>
              <p:cNvSpPr/>
              <p:nvPr/>
            </p:nvSpPr>
            <p:spPr>
              <a:xfrm>
                <a:off x="985838" y="4833938"/>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A5280F"/>
                </a:solidFill>
              </a:ln>
            </p:spPr>
          </p:sp>
          <p:sp>
            <p:nvSpPr>
              <p:cNvPr id="47" name="Freeform 47"/>
              <p:cNvSpPr/>
              <p:nvPr/>
            </p:nvSpPr>
            <p:spPr>
              <a:xfrm>
                <a:off x="957262" y="4933950"/>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28575">
                <a:solidFill>
                  <a:srgbClr val="A5280F"/>
                </a:solidFill>
              </a:ln>
            </p:spPr>
          </p:sp>
        </p:grpSp>
        <p:sp>
          <p:nvSpPr>
            <p:cNvPr id="49" name="TextBox 49"/>
            <p:cNvSpPr txBox="1"/>
            <p:nvPr/>
          </p:nvSpPr>
          <p:spPr>
            <a:xfrm>
              <a:off x="1385697" y="4809649"/>
              <a:ext cx="1130046" cy="381191"/>
            </a:xfrm>
            <a:prstGeom prst="rect">
              <a:avLst/>
            </a:prstGeom>
            <a:noFill/>
            <a:ln>
              <a:noFill/>
            </a:ln>
          </p:spPr>
          <p:txBody>
            <a:bodyPr wrap="none" lIns="0" tIns="0" rIns="0" bIns="0" anchor="t" anchorCtr="0">
              <a:spAutoFit/>
            </a:bodyPr>
            <a:lstStyle/>
            <a:p>
              <a:pPr algn="l">
                <a:lnSpc>
                  <a:spcPts val="1500"/>
                </a:lnSpc>
              </a:pPr>
              <a:r>
                <a:rPr lang="zh-CN" sz="980" b="1" dirty="0">
                  <a:solidFill>
                    <a:srgbClr val="67281B"/>
                  </a:solidFill>
                  <a:latin typeface="+mn-lt"/>
                  <a:ea typeface="+mn-ea"/>
                  <a:cs typeface="+mn-cs"/>
                </a:rPr>
                <a:t>居民财富、养老、</a:t>
              </a:r>
              <a:br/>
              <a:r>
                <a:rPr lang="zh-CN" sz="980" b="1" dirty="0">
                  <a:solidFill>
                    <a:srgbClr val="67281B"/>
                  </a:solidFill>
                  <a:latin typeface="+mn-lt"/>
                  <a:ea typeface="+mn-ea"/>
                  <a:cs typeface="+mn-cs"/>
                </a:rPr>
                <a:t>消费、跨境需求升级</a:t>
              </a:r>
            </a:p>
          </p:txBody>
        </p:sp>
      </p:grpSp>
      <p:grpSp>
        <p:nvGrpSpPr>
          <p:cNvPr id="69" name="flywheel"/>
          <p:cNvGrpSpPr/>
          <p:nvPr/>
        </p:nvGrpSpPr>
        <p:grpSpPr>
          <a:xfrm>
            <a:off x="4781550" y="704850"/>
            <a:ext cx="2667000" cy="3486150"/>
            <a:chOff x="4781550" y="704850"/>
            <a:chExt cx="2667000" cy="3486150"/>
          </a:xfrm>
        </p:grpSpPr>
        <p:sp>
          <p:nvSpPr>
            <p:cNvPr id="51" name="Rectangle 51"/>
            <p:cNvSpPr/>
            <p:nvPr/>
          </p:nvSpPr>
          <p:spPr>
            <a:xfrm>
              <a:off x="4781550" y="704850"/>
              <a:ext cx="2667000" cy="304800"/>
            </a:xfrm>
            <a:prstGeom prst="roundRect">
              <a:avLst>
                <a:gd name="adj" fmla="val 12500"/>
              </a:avLst>
            </a:prstGeom>
            <a:gradFill>
              <a:gsLst>
                <a:gs pos="0">
                  <a:srgbClr val="AD3921"/>
                </a:gs>
                <a:gs pos="100000">
                  <a:srgbClr val="962C16"/>
                </a:gs>
              </a:gsLst>
              <a:lin ang="5400000" scaled="1"/>
            </a:gradFill>
            <a:ln>
              <a:noFill/>
            </a:ln>
          </p:spPr>
        </p:sp>
        <p:sp>
          <p:nvSpPr>
            <p:cNvPr id="52" name="TextBox 52"/>
            <p:cNvSpPr txBox="1"/>
            <p:nvPr/>
          </p:nvSpPr>
          <p:spPr>
            <a:xfrm>
              <a:off x="5807786" y="7929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增长飞轮</a:t>
              </a:r>
            </a:p>
          </p:txBody>
        </p:sp>
        <p:sp>
          <p:nvSpPr>
            <p:cNvPr id="53" name="Freeform 53"/>
            <p:cNvSpPr/>
            <p:nvPr/>
          </p:nvSpPr>
          <p:spPr>
            <a:xfrm>
              <a:off x="5210175" y="2381250"/>
              <a:ext cx="1809750" cy="1809750"/>
            </a:xfrm>
            <a:prstGeom prst="blockArc">
              <a:avLst>
                <a:gd name="adj1" fmla="val 16200000"/>
                <a:gd name="adj2" fmla="val 21000000"/>
                <a:gd name="adj3" fmla="val 52000"/>
              </a:avLst>
            </a:prstGeom>
            <a:solidFill>
              <a:srgbClr val="A8351D"/>
            </a:solidFill>
            <a:ln>
              <a:noFill/>
            </a:ln>
          </p:spPr>
        </p:sp>
        <p:sp>
          <p:nvSpPr>
            <p:cNvPr id="54" name="Freeform 54"/>
            <p:cNvSpPr/>
            <p:nvPr/>
          </p:nvSpPr>
          <p:spPr>
            <a:xfrm>
              <a:off x="5210175" y="2381250"/>
              <a:ext cx="1809750" cy="1809750"/>
            </a:xfrm>
            <a:prstGeom prst="blockArc">
              <a:avLst>
                <a:gd name="adj1" fmla="val 0"/>
                <a:gd name="adj2" fmla="val 4800000"/>
                <a:gd name="adj3" fmla="val 52000"/>
              </a:avLst>
            </a:prstGeom>
            <a:solidFill>
              <a:srgbClr val="A5280F"/>
            </a:solidFill>
            <a:ln>
              <a:noFill/>
            </a:ln>
          </p:spPr>
        </p:sp>
        <p:sp>
          <p:nvSpPr>
            <p:cNvPr id="55" name="Freeform 55"/>
            <p:cNvSpPr/>
            <p:nvPr/>
          </p:nvSpPr>
          <p:spPr>
            <a:xfrm>
              <a:off x="5210175" y="2381250"/>
              <a:ext cx="1809750" cy="1809750"/>
            </a:xfrm>
            <a:prstGeom prst="blockArc">
              <a:avLst>
                <a:gd name="adj1" fmla="val 5400000"/>
                <a:gd name="adj2" fmla="val 10200000"/>
                <a:gd name="adj3" fmla="val 52000"/>
              </a:avLst>
            </a:prstGeom>
            <a:solidFill>
              <a:srgbClr val="D64A2E"/>
            </a:solidFill>
            <a:ln>
              <a:noFill/>
            </a:ln>
          </p:spPr>
        </p:sp>
        <p:sp>
          <p:nvSpPr>
            <p:cNvPr id="56" name="Freeform 56"/>
            <p:cNvSpPr/>
            <p:nvPr/>
          </p:nvSpPr>
          <p:spPr>
            <a:xfrm>
              <a:off x="5210175" y="2381250"/>
              <a:ext cx="1809750" cy="1809750"/>
            </a:xfrm>
            <a:prstGeom prst="blockArc">
              <a:avLst>
                <a:gd name="adj1" fmla="val 10800000"/>
                <a:gd name="adj2" fmla="val 15600000"/>
                <a:gd name="adj3" fmla="val 52000"/>
              </a:avLst>
            </a:prstGeom>
            <a:solidFill>
              <a:srgbClr val="9E2912"/>
            </a:solidFill>
            <a:ln>
              <a:noFill/>
            </a:ln>
          </p:spPr>
        </p:sp>
        <p:sp>
          <p:nvSpPr>
            <p:cNvPr id="57" name="Freeform 57"/>
            <p:cNvSpPr/>
            <p:nvPr/>
          </p:nvSpPr>
          <p:spPr>
            <a:xfrm rot="4800000">
              <a:off x="6714172" y="3100388"/>
              <a:ext cx="152400" cy="133350"/>
            </a:xfrm>
            <a:prstGeom prst="triangle">
              <a:avLst/>
            </a:prstGeom>
            <a:solidFill>
              <a:srgbClr val="A8351D"/>
            </a:solidFill>
            <a:ln>
              <a:noFill/>
            </a:ln>
          </p:spPr>
        </p:sp>
        <p:sp>
          <p:nvSpPr>
            <p:cNvPr id="58" name="Freeform 58"/>
            <p:cNvSpPr/>
            <p:nvPr/>
          </p:nvSpPr>
          <p:spPr>
            <a:xfrm rot="10200000">
              <a:off x="6157912" y="3894772"/>
              <a:ext cx="152400" cy="133350"/>
            </a:xfrm>
            <a:prstGeom prst="triangle">
              <a:avLst/>
            </a:prstGeom>
            <a:solidFill>
              <a:srgbClr val="A5280F"/>
            </a:solidFill>
            <a:ln>
              <a:noFill/>
            </a:ln>
          </p:spPr>
        </p:sp>
        <p:sp>
          <p:nvSpPr>
            <p:cNvPr id="59" name="Freeform 59"/>
            <p:cNvSpPr/>
            <p:nvPr/>
          </p:nvSpPr>
          <p:spPr>
            <a:xfrm rot="-6000000">
              <a:off x="5363528" y="3338512"/>
              <a:ext cx="152400" cy="133350"/>
            </a:xfrm>
            <a:prstGeom prst="triangle">
              <a:avLst/>
            </a:prstGeom>
            <a:solidFill>
              <a:srgbClr val="D64A2E"/>
            </a:solidFill>
            <a:ln>
              <a:noFill/>
            </a:ln>
          </p:spPr>
        </p:sp>
        <p:sp>
          <p:nvSpPr>
            <p:cNvPr id="60" name="Freeform 60"/>
            <p:cNvSpPr/>
            <p:nvPr/>
          </p:nvSpPr>
          <p:spPr>
            <a:xfrm rot="-600000">
              <a:off x="5919788" y="2544128"/>
              <a:ext cx="152400" cy="133350"/>
            </a:xfrm>
            <a:prstGeom prst="triangle">
              <a:avLst/>
            </a:prstGeom>
            <a:solidFill>
              <a:srgbClr val="9E2912"/>
            </a:solidFill>
            <a:ln>
              <a:noFill/>
            </a:ln>
          </p:spPr>
        </p:sp>
        <p:sp>
          <p:nvSpPr>
            <p:cNvPr id="61" name="Ellipse 61"/>
            <p:cNvSpPr/>
            <p:nvPr/>
          </p:nvSpPr>
          <p:spPr>
            <a:xfrm>
              <a:off x="5695950" y="2867025"/>
              <a:ext cx="838200" cy="838200"/>
            </a:xfrm>
            <a:prstGeom prst="ellipse">
              <a:avLst/>
            </a:prstGeom>
            <a:solidFill>
              <a:srgbClr val="FFFFFF"/>
            </a:solidFill>
            <a:ln w="14288">
              <a:solidFill>
                <a:srgbClr val="C9462F"/>
              </a:solidFill>
            </a:ln>
          </p:spPr>
        </p:sp>
        <p:sp>
          <p:nvSpPr>
            <p:cNvPr id="62" name="TextBox 62"/>
            <p:cNvSpPr txBox="1"/>
            <p:nvPr/>
          </p:nvSpPr>
          <p:spPr>
            <a:xfrm>
              <a:off x="5702008" y="3157776"/>
              <a:ext cx="826084" cy="198025"/>
            </a:xfrm>
            <a:prstGeom prst="rect">
              <a:avLst/>
            </a:prstGeom>
            <a:noFill/>
            <a:ln>
              <a:noFill/>
            </a:ln>
          </p:spPr>
          <p:txBody>
            <a:bodyPr wrap="none" lIns="0" tIns="0" rIns="0" bIns="0" anchor="t" anchorCtr="0">
              <a:spAutoFit/>
            </a:bodyPr>
            <a:lstStyle/>
            <a:p>
              <a:pPr algn="ctr"/>
              <a:r>
                <a:rPr lang="zh-CN" sz="1010" b="1" dirty="0">
                  <a:solidFill>
                    <a:srgbClr val="C9462F"/>
                  </a:solidFill>
                  <a:latin typeface="+mn-lt"/>
                  <a:ea typeface="+mn-ea"/>
                  <a:cs typeface="+mn-cs"/>
                </a:rPr>
                <a:t>全量客户价值</a:t>
              </a:r>
            </a:p>
          </p:txBody>
        </p:sp>
        <p:sp>
          <p:nvSpPr>
            <p:cNvPr id="63" name="TextBox 63"/>
            <p:cNvSpPr txBox="1"/>
            <p:nvPr/>
          </p:nvSpPr>
          <p:spPr>
            <a:xfrm>
              <a:off x="5851682" y="3346609"/>
              <a:ext cx="526735" cy="133350"/>
            </a:xfrm>
            <a:prstGeom prst="rect">
              <a:avLst/>
            </a:prstGeom>
            <a:noFill/>
            <a:ln>
              <a:noFill/>
            </a:ln>
          </p:spPr>
          <p:txBody>
            <a:bodyPr wrap="none" lIns="0" tIns="0" rIns="0" bIns="0" anchor="t" anchorCtr="0">
              <a:spAutoFit/>
            </a:bodyPr>
            <a:lstStyle/>
            <a:p>
              <a:pPr algn="ctr"/>
              <a:r>
                <a:rPr lang="zh-CN" sz="680" dirty="0">
                  <a:solidFill>
                    <a:srgbClr val="785F5A"/>
                  </a:solidFill>
                  <a:latin typeface="+mn-lt"/>
                  <a:ea typeface="+mn-ea"/>
                  <a:cs typeface="+mn-cs"/>
                </a:rPr>
                <a:t>企业×个人​​</a:t>
              </a:r>
            </a:p>
          </p:txBody>
        </p:sp>
        <p:sp>
          <p:nvSpPr>
            <p:cNvPr id="64" name="TextBox 64"/>
            <p:cNvSpPr txBox="1"/>
            <p:nvPr/>
          </p:nvSpPr>
          <p:spPr>
            <a:xfrm>
              <a:off x="5851682" y="3460909"/>
              <a:ext cx="526735" cy="133350"/>
            </a:xfrm>
            <a:prstGeom prst="rect">
              <a:avLst/>
            </a:prstGeom>
            <a:noFill/>
            <a:ln>
              <a:noFill/>
            </a:ln>
          </p:spPr>
          <p:txBody>
            <a:bodyPr wrap="none" lIns="0" tIns="0" rIns="0" bIns="0" anchor="t" anchorCtr="0">
              <a:spAutoFit/>
            </a:bodyPr>
            <a:lstStyle/>
            <a:p>
              <a:pPr algn="ctr"/>
              <a:r>
                <a:rPr lang="zh-CN" sz="680" dirty="0">
                  <a:solidFill>
                    <a:srgbClr val="785F5A"/>
                  </a:solidFill>
                  <a:latin typeface="+mn-lt"/>
                  <a:ea typeface="+mn-ea"/>
                  <a:cs typeface="+mn-cs"/>
                </a:rPr>
                <a:t>家庭×生态​​</a:t>
              </a:r>
            </a:p>
          </p:txBody>
        </p:sp>
        <p:sp>
          <p:nvSpPr>
            <p:cNvPr id="65" name="TextBox 65"/>
            <p:cNvSpPr txBox="1"/>
            <p:nvPr/>
          </p:nvSpPr>
          <p:spPr>
            <a:xfrm>
              <a:off x="6330518" y="270938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零售扩面</a:t>
              </a:r>
            </a:p>
          </p:txBody>
        </p:sp>
        <p:sp>
          <p:nvSpPr>
            <p:cNvPr id="66" name="TextBox 66"/>
            <p:cNvSpPr txBox="1"/>
            <p:nvPr/>
          </p:nvSpPr>
          <p:spPr>
            <a:xfrm>
              <a:off x="6415291" y="3676174"/>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财富提升</a:t>
              </a:r>
            </a:p>
          </p:txBody>
        </p:sp>
        <p:sp>
          <p:nvSpPr>
            <p:cNvPr id="67" name="TextBox 67"/>
            <p:cNvSpPr txBox="1"/>
            <p:nvPr/>
          </p:nvSpPr>
          <p:spPr>
            <a:xfrm>
              <a:off x="5448503" y="376094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中收增长</a:t>
              </a:r>
            </a:p>
          </p:txBody>
        </p:sp>
        <p:sp>
          <p:nvSpPr>
            <p:cNvPr id="68" name="TextBox 68"/>
            <p:cNvSpPr txBox="1"/>
            <p:nvPr/>
          </p:nvSpPr>
          <p:spPr>
            <a:xfrm>
              <a:off x="5363731" y="2794159"/>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对公入口</a:t>
              </a:r>
            </a:p>
          </p:txBody>
        </p:sp>
      </p:grpSp>
      <p:grpSp>
        <p:nvGrpSpPr>
          <p:cNvPr id="117" name="col-base"/>
          <p:cNvGrpSpPr/>
          <p:nvPr/>
        </p:nvGrpSpPr>
        <p:grpSpPr>
          <a:xfrm>
            <a:off x="8705850" y="704850"/>
            <a:ext cx="3105150" cy="4648200"/>
            <a:chOff x="8705850" y="704850"/>
            <a:chExt cx="3105150" cy="4648200"/>
          </a:xfrm>
        </p:grpSpPr>
        <p:sp>
          <p:nvSpPr>
            <p:cNvPr id="70" name="Rectangle 70"/>
            <p:cNvSpPr/>
            <p:nvPr/>
          </p:nvSpPr>
          <p:spPr>
            <a:xfrm>
              <a:off x="8705850" y="704850"/>
              <a:ext cx="3105150" cy="304800"/>
            </a:xfrm>
            <a:prstGeom prst="roundRect">
              <a:avLst>
                <a:gd name="adj" fmla="val 12500"/>
              </a:avLst>
            </a:prstGeom>
            <a:gradFill>
              <a:gsLst>
                <a:gs pos="0">
                  <a:srgbClr val="AD3921"/>
                </a:gs>
                <a:gs pos="100000">
                  <a:srgbClr val="962C16"/>
                </a:gs>
              </a:gsLst>
              <a:lin ang="5400000" scaled="1"/>
            </a:gradFill>
            <a:ln>
              <a:noFill/>
            </a:ln>
          </p:spPr>
        </p:sp>
        <p:sp>
          <p:nvSpPr>
            <p:cNvPr id="71" name="TextBox 71"/>
            <p:cNvSpPr txBox="1"/>
            <p:nvPr/>
          </p:nvSpPr>
          <p:spPr>
            <a:xfrm>
              <a:off x="9800387" y="792956"/>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五项经营基线</a:t>
              </a:r>
            </a:p>
          </p:txBody>
        </p:sp>
        <p:sp>
          <p:nvSpPr>
            <p:cNvPr id="72" name="Rectangle 72"/>
            <p:cNvSpPr/>
            <p:nvPr/>
          </p:nvSpPr>
          <p:spPr>
            <a:xfrm>
              <a:off x="8705850" y="1085850"/>
              <a:ext cx="3105150" cy="762000"/>
            </a:xfrm>
            <a:prstGeom prst="roundRect">
              <a:avLst>
                <a:gd name="adj" fmla="val 10000"/>
              </a:avLst>
            </a:prstGeom>
            <a:solidFill>
              <a:srgbClr val="F7FAFE"/>
            </a:solidFill>
            <a:ln w="9525">
              <a:solidFill>
                <a:srgbClr val="C9D8EF"/>
              </a:solidFill>
            </a:ln>
          </p:spPr>
        </p:sp>
        <p:sp>
          <p:nvSpPr>
            <p:cNvPr id="73" name="Ellipse 73"/>
            <p:cNvSpPr/>
            <p:nvPr/>
          </p:nvSpPr>
          <p:spPr>
            <a:xfrm>
              <a:off x="8858250" y="1257300"/>
              <a:ext cx="419100" cy="419100"/>
            </a:xfrm>
            <a:prstGeom prst="ellipse">
              <a:avLst/>
            </a:prstGeom>
            <a:solidFill>
              <a:srgbClr val="EAF2FC"/>
            </a:solidFill>
            <a:ln>
              <a:noFill/>
            </a:ln>
          </p:spPr>
        </p:sp>
        <p:grpSp>
          <p:nvGrpSpPr>
            <p:cNvPr id="82" name="Group 82"/>
            <p:cNvGrpSpPr/>
            <p:nvPr/>
          </p:nvGrpSpPr>
          <p:grpSpPr>
            <a:xfrm>
              <a:off x="8953500" y="1352550"/>
              <a:ext cx="228599" cy="238124"/>
              <a:chOff x="8953500" y="1352550"/>
              <a:chExt cx="228599" cy="238124"/>
            </a:xfrm>
          </p:grpSpPr>
          <p:sp>
            <p:nvSpPr>
              <p:cNvPr id="74" name="Freeform 74"/>
              <p:cNvSpPr/>
              <p:nvPr/>
            </p:nvSpPr>
            <p:spPr>
              <a:xfrm>
                <a:off x="8953500" y="1581149"/>
                <a:ext cx="228599" cy="9525"/>
              </a:xfrm>
              <a:custGeom>
                <a:avLst/>
                <a:gdLst/>
                <a:ahLst/>
                <a:cxnLst/>
                <a:rect l="l" t="t" r="r" b="b"/>
                <a:pathLst>
                  <a:path w="228599" h="9525">
                    <a:moveTo>
                      <a:pt x="0" y="0"/>
                    </a:moveTo>
                    <a:lnTo>
                      <a:pt x="228599" y="0"/>
                    </a:lnTo>
                  </a:path>
                </a:pathLst>
              </a:custGeom>
              <a:noFill/>
              <a:ln w="25400">
                <a:solidFill>
                  <a:srgbClr val="A8351D"/>
                </a:solidFill>
              </a:ln>
            </p:spPr>
          </p:sp>
          <p:sp>
            <p:nvSpPr>
              <p:cNvPr id="75" name="Freeform 75"/>
              <p:cNvSpPr/>
              <p:nvPr/>
            </p:nvSpPr>
            <p:spPr>
              <a:xfrm>
                <a:off x="9029700" y="1416050"/>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76" name="Freeform 76"/>
              <p:cNvSpPr/>
              <p:nvPr/>
            </p:nvSpPr>
            <p:spPr>
              <a:xfrm>
                <a:off x="9029700" y="1466850"/>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77" name="Freeform 77"/>
              <p:cNvSpPr/>
              <p:nvPr/>
            </p:nvSpPr>
            <p:spPr>
              <a:xfrm>
                <a:off x="9029700" y="1517649"/>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78" name="Freeform 78"/>
              <p:cNvSpPr/>
              <p:nvPr/>
            </p:nvSpPr>
            <p:spPr>
              <a:xfrm>
                <a:off x="9093200" y="1416050"/>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79" name="Freeform 79"/>
              <p:cNvSpPr/>
              <p:nvPr/>
            </p:nvSpPr>
            <p:spPr>
              <a:xfrm>
                <a:off x="9093200" y="1466850"/>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80" name="Freeform 80"/>
              <p:cNvSpPr/>
              <p:nvPr/>
            </p:nvSpPr>
            <p:spPr>
              <a:xfrm>
                <a:off x="9093200" y="1517649"/>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81" name="Freeform 81"/>
              <p:cNvSpPr/>
              <p:nvPr/>
            </p:nvSpPr>
            <p:spPr>
              <a:xfrm>
                <a:off x="8978900" y="1352550"/>
                <a:ext cx="177800" cy="228599"/>
              </a:xfrm>
              <a:custGeom>
                <a:avLst/>
                <a:gdLst/>
                <a:ahLst/>
                <a:cxnLst/>
                <a:rect l="l" t="t" r="r" b="b"/>
                <a:pathLst>
                  <a:path w="177800" h="228599">
                    <a:moveTo>
                      <a:pt x="0" y="228599"/>
                    </a:moveTo>
                    <a:lnTo>
                      <a:pt x="0" y="25400"/>
                    </a:lnTo>
                    <a:cubicBezTo>
                      <a:pt x="0" y="11372"/>
                      <a:pt x="11372" y="0"/>
                      <a:pt x="25400" y="0"/>
                    </a:cubicBezTo>
                    <a:lnTo>
                      <a:pt x="152400" y="0"/>
                    </a:lnTo>
                    <a:cubicBezTo>
                      <a:pt x="166428" y="0"/>
                      <a:pt x="177800" y="11372"/>
                      <a:pt x="177800" y="25400"/>
                    </a:cubicBezTo>
                    <a:lnTo>
                      <a:pt x="177800" y="228599"/>
                    </a:lnTo>
                  </a:path>
                </a:pathLst>
              </a:custGeom>
              <a:noFill/>
              <a:ln w="25400">
                <a:solidFill>
                  <a:srgbClr val="A8351D"/>
                </a:solidFill>
              </a:ln>
            </p:spPr>
          </p:sp>
        </p:grpSp>
        <p:sp>
          <p:nvSpPr>
            <p:cNvPr id="83" name="TextBox 83"/>
            <p:cNvSpPr txBox="1"/>
            <p:nvPr/>
          </p:nvSpPr>
          <p:spPr>
            <a:xfrm>
              <a:off x="9424606" y="1405176"/>
              <a:ext cx="690118" cy="198025"/>
            </a:xfrm>
            <a:prstGeom prst="rect">
              <a:avLst/>
            </a:prstGeom>
            <a:noFill/>
            <a:ln>
              <a:noFill/>
            </a:ln>
          </p:spPr>
          <p:txBody>
            <a:bodyPr wrap="none" lIns="0" tIns="0" rIns="0" bIns="0" anchor="t" anchorCtr="0">
              <a:spAutoFit/>
            </a:bodyPr>
            <a:lstStyle/>
            <a:p>
              <a:pPr algn="l"/>
              <a:r>
                <a:rPr lang="zh-CN" sz="1010" b="1" dirty="0">
                  <a:solidFill>
                    <a:srgbClr val="67281B"/>
                  </a:solidFill>
                  <a:latin typeface="+mn-lt"/>
                  <a:ea typeface="+mn-ea"/>
                  <a:cs typeface="+mn-cs"/>
                </a:rPr>
                <a:t>公司客户数</a:t>
              </a:r>
            </a:p>
          </p:txBody>
        </p:sp>
        <p:sp>
          <p:nvSpPr>
            <p:cNvPr id="84" name="Rectangle 84"/>
            <p:cNvSpPr/>
            <p:nvPr/>
          </p:nvSpPr>
          <p:spPr>
            <a:xfrm>
              <a:off x="8705850" y="1962150"/>
              <a:ext cx="3105150" cy="762000"/>
            </a:xfrm>
            <a:prstGeom prst="roundRect">
              <a:avLst>
                <a:gd name="adj" fmla="val 10000"/>
              </a:avLst>
            </a:prstGeom>
            <a:solidFill>
              <a:srgbClr val="F7FAFE"/>
            </a:solidFill>
            <a:ln w="9525">
              <a:solidFill>
                <a:srgbClr val="C9D8EF"/>
              </a:solidFill>
            </a:ln>
          </p:spPr>
        </p:sp>
        <p:sp>
          <p:nvSpPr>
            <p:cNvPr id="85" name="Ellipse 85"/>
            <p:cNvSpPr/>
            <p:nvPr/>
          </p:nvSpPr>
          <p:spPr>
            <a:xfrm>
              <a:off x="8858250" y="2133600"/>
              <a:ext cx="419100" cy="419100"/>
            </a:xfrm>
            <a:prstGeom prst="ellipse">
              <a:avLst/>
            </a:prstGeom>
            <a:solidFill>
              <a:srgbClr val="EAF2FC"/>
            </a:solidFill>
            <a:ln>
              <a:noFill/>
            </a:ln>
          </p:spPr>
        </p:sp>
        <p:grpSp>
          <p:nvGrpSpPr>
            <p:cNvPr id="90" name="Group 90"/>
            <p:cNvGrpSpPr/>
            <p:nvPr/>
          </p:nvGrpSpPr>
          <p:grpSpPr>
            <a:xfrm>
              <a:off x="8953500" y="2228850"/>
              <a:ext cx="228599" cy="215900"/>
              <a:chOff x="8953500" y="2228850"/>
              <a:chExt cx="228599" cy="215900"/>
            </a:xfrm>
          </p:grpSpPr>
          <p:sp>
            <p:nvSpPr>
              <p:cNvPr id="86" name="Freeform 86"/>
              <p:cNvSpPr/>
              <p:nvPr/>
            </p:nvSpPr>
            <p:spPr>
              <a:xfrm>
                <a:off x="8953500" y="2279650"/>
                <a:ext cx="228599" cy="165100"/>
              </a:xfrm>
              <a:custGeom>
                <a:avLst/>
                <a:gdLst/>
                <a:ahLst/>
                <a:cxnLst/>
                <a:rect l="l" t="t" r="r" b="b"/>
                <a:pathLst>
                  <a:path w="228599" h="165100">
                    <a:moveTo>
                      <a:pt x="0" y="25400"/>
                    </a:moveTo>
                    <a:cubicBezTo>
                      <a:pt x="0" y="11372"/>
                      <a:pt x="11372" y="0"/>
                      <a:pt x="25400" y="0"/>
                    </a:cubicBezTo>
                    <a:lnTo>
                      <a:pt x="203199" y="0"/>
                    </a:lnTo>
                    <a:cubicBezTo>
                      <a:pt x="217227" y="0"/>
                      <a:pt x="228599" y="11372"/>
                      <a:pt x="228599" y="25400"/>
                    </a:cubicBezTo>
                    <a:lnTo>
                      <a:pt x="228599" y="139700"/>
                    </a:lnTo>
                    <a:cubicBezTo>
                      <a:pt x="228599" y="153728"/>
                      <a:pt x="217227" y="165100"/>
                      <a:pt x="203199" y="165100"/>
                    </a:cubicBezTo>
                    <a:lnTo>
                      <a:pt x="25400" y="165100"/>
                    </a:lnTo>
                    <a:cubicBezTo>
                      <a:pt x="11372" y="165100"/>
                      <a:pt x="0" y="153728"/>
                      <a:pt x="0" y="139700"/>
                    </a:cubicBezTo>
                    <a:lnTo>
                      <a:pt x="0" y="25400"/>
                    </a:lnTo>
                  </a:path>
                </a:pathLst>
              </a:custGeom>
              <a:noFill/>
              <a:ln w="25400">
                <a:solidFill>
                  <a:srgbClr val="D64A2E"/>
                </a:solidFill>
              </a:ln>
            </p:spPr>
          </p:sp>
          <p:sp>
            <p:nvSpPr>
              <p:cNvPr id="87" name="Freeform 87"/>
              <p:cNvSpPr/>
              <p:nvPr/>
            </p:nvSpPr>
            <p:spPr>
              <a:xfrm>
                <a:off x="9017000" y="2228850"/>
                <a:ext cx="101600" cy="50800"/>
              </a:xfrm>
              <a:custGeom>
                <a:avLst/>
                <a:gdLst/>
                <a:ahLst/>
                <a:cxnLst/>
                <a:rect l="l" t="t" r="r" b="b"/>
                <a:pathLst>
                  <a:path w="101600" h="50800">
                    <a:moveTo>
                      <a:pt x="0" y="50800"/>
                    </a:moveTo>
                    <a:lnTo>
                      <a:pt x="0" y="25400"/>
                    </a:lnTo>
                    <a:cubicBezTo>
                      <a:pt x="0" y="11372"/>
                      <a:pt x="11372" y="0"/>
                      <a:pt x="25400" y="0"/>
                    </a:cubicBezTo>
                    <a:lnTo>
                      <a:pt x="76200" y="0"/>
                    </a:lnTo>
                    <a:cubicBezTo>
                      <a:pt x="90228" y="0"/>
                      <a:pt x="101600" y="11372"/>
                      <a:pt x="101600" y="25400"/>
                    </a:cubicBezTo>
                    <a:lnTo>
                      <a:pt x="101600" y="50800"/>
                    </a:lnTo>
                  </a:path>
                </a:pathLst>
              </a:custGeom>
              <a:noFill/>
              <a:ln w="25400">
                <a:solidFill>
                  <a:srgbClr val="D64A2E"/>
                </a:solidFill>
              </a:ln>
            </p:spPr>
          </p:sp>
          <p:sp>
            <p:nvSpPr>
              <p:cNvPr id="88" name="Freeform 88"/>
              <p:cNvSpPr/>
              <p:nvPr/>
            </p:nvSpPr>
            <p:spPr>
              <a:xfrm>
                <a:off x="9067800" y="2343150"/>
                <a:ext cx="9525" cy="9525"/>
              </a:xfrm>
              <a:custGeom>
                <a:avLst/>
                <a:gdLst/>
                <a:ahLst/>
                <a:cxnLst/>
                <a:rect l="l" t="t" r="r" b="b"/>
                <a:pathLst>
                  <a:path w="9525" h="9525">
                    <a:moveTo>
                      <a:pt x="0" y="0"/>
                    </a:moveTo>
                    <a:lnTo>
                      <a:pt x="0" y="127"/>
                    </a:lnTo>
                  </a:path>
                </a:pathLst>
              </a:custGeom>
              <a:noFill/>
              <a:ln w="25400">
                <a:solidFill>
                  <a:srgbClr val="D64A2E"/>
                </a:solidFill>
              </a:ln>
            </p:spPr>
          </p:sp>
          <p:sp>
            <p:nvSpPr>
              <p:cNvPr id="89" name="Freeform 89"/>
              <p:cNvSpPr/>
              <p:nvPr/>
            </p:nvSpPr>
            <p:spPr>
              <a:xfrm>
                <a:off x="8953500" y="2355850"/>
                <a:ext cx="228599" cy="36228"/>
              </a:xfrm>
              <a:custGeom>
                <a:avLst/>
                <a:gdLst/>
                <a:ahLst/>
                <a:cxnLst/>
                <a:rect l="l" t="t" r="r" b="b"/>
                <a:pathLst>
                  <a:path w="228599" h="36228">
                    <a:moveTo>
                      <a:pt x="0" y="0"/>
                    </a:moveTo>
                    <a:cubicBezTo>
                      <a:pt x="71894" y="36228"/>
                      <a:pt x="156706" y="36228"/>
                      <a:pt x="228599" y="0"/>
                    </a:cubicBezTo>
                  </a:path>
                </a:pathLst>
              </a:custGeom>
              <a:noFill/>
              <a:ln w="25400">
                <a:solidFill>
                  <a:srgbClr val="D64A2E"/>
                </a:solidFill>
              </a:ln>
            </p:spPr>
          </p:sp>
        </p:grpSp>
        <p:sp>
          <p:nvSpPr>
            <p:cNvPr id="91" name="TextBox 91"/>
            <p:cNvSpPr txBox="1"/>
            <p:nvPr/>
          </p:nvSpPr>
          <p:spPr>
            <a:xfrm>
              <a:off x="9424606" y="2281476"/>
              <a:ext cx="962050" cy="198025"/>
            </a:xfrm>
            <a:prstGeom prst="rect">
              <a:avLst/>
            </a:prstGeom>
            <a:noFill/>
            <a:ln>
              <a:noFill/>
            </a:ln>
          </p:spPr>
          <p:txBody>
            <a:bodyPr wrap="none" lIns="0" tIns="0" rIns="0" bIns="0" anchor="t" anchorCtr="0">
              <a:spAutoFit/>
            </a:bodyPr>
            <a:lstStyle/>
            <a:p>
              <a:pPr algn="l"/>
              <a:r>
                <a:rPr lang="zh-CN" sz="1010" b="1" dirty="0">
                  <a:solidFill>
                    <a:srgbClr val="67281B"/>
                  </a:solidFill>
                  <a:latin typeface="+mn-lt"/>
                  <a:ea typeface="+mn-ea"/>
                  <a:cs typeface="+mn-cs"/>
                </a:rPr>
                <a:t>有效代发单位数</a:t>
              </a:r>
            </a:p>
          </p:txBody>
        </p:sp>
        <p:sp>
          <p:nvSpPr>
            <p:cNvPr id="92" name="Rectangle 92"/>
            <p:cNvSpPr/>
            <p:nvPr/>
          </p:nvSpPr>
          <p:spPr>
            <a:xfrm>
              <a:off x="8705850" y="2838450"/>
              <a:ext cx="3105150" cy="762000"/>
            </a:xfrm>
            <a:prstGeom prst="roundRect">
              <a:avLst>
                <a:gd name="adj" fmla="val 10000"/>
              </a:avLst>
            </a:prstGeom>
            <a:solidFill>
              <a:srgbClr val="F7FAFE"/>
            </a:solidFill>
            <a:ln w="9525">
              <a:solidFill>
                <a:srgbClr val="C9D8EF"/>
              </a:solidFill>
            </a:ln>
          </p:spPr>
        </p:sp>
        <p:sp>
          <p:nvSpPr>
            <p:cNvPr id="93" name="Ellipse 93"/>
            <p:cNvSpPr/>
            <p:nvPr/>
          </p:nvSpPr>
          <p:spPr>
            <a:xfrm>
              <a:off x="8858250" y="3009900"/>
              <a:ext cx="419100" cy="419100"/>
            </a:xfrm>
            <a:prstGeom prst="ellipse">
              <a:avLst/>
            </a:prstGeom>
            <a:solidFill>
              <a:srgbClr val="EAF2FC"/>
            </a:solidFill>
            <a:ln>
              <a:noFill/>
            </a:ln>
          </p:spPr>
        </p:sp>
        <p:grpSp>
          <p:nvGrpSpPr>
            <p:cNvPr id="98" name="Group 98"/>
            <p:cNvGrpSpPr/>
            <p:nvPr/>
          </p:nvGrpSpPr>
          <p:grpSpPr>
            <a:xfrm>
              <a:off x="8953500" y="3105150"/>
              <a:ext cx="228599" cy="228600"/>
              <a:chOff x="8953500" y="3105150"/>
              <a:chExt cx="228599" cy="228600"/>
            </a:xfrm>
          </p:grpSpPr>
          <p:sp>
            <p:nvSpPr>
              <p:cNvPr id="94" name="Freeform 94"/>
              <p:cNvSpPr/>
              <p:nvPr/>
            </p:nvSpPr>
            <p:spPr>
              <a:xfrm>
                <a:off x="8978900" y="310515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rgbClr val="9E2912"/>
                </a:solidFill>
              </a:ln>
            </p:spPr>
          </p:sp>
          <p:sp>
            <p:nvSpPr>
              <p:cNvPr id="95" name="Freeform 95"/>
              <p:cNvSpPr/>
              <p:nvPr/>
            </p:nvSpPr>
            <p:spPr>
              <a:xfrm>
                <a:off x="8953500" y="3257550"/>
                <a:ext cx="152400" cy="76200"/>
              </a:xfrm>
              <a:custGeom>
                <a:avLst/>
                <a:gdLst/>
                <a:ahLst/>
                <a:cxnLst/>
                <a:rect l="l" t="t" r="r" b="b"/>
                <a:pathLst>
                  <a:path w="152400" h="76200">
                    <a:moveTo>
                      <a:pt x="0" y="76200"/>
                    </a:moveTo>
                    <a:lnTo>
                      <a:pt x="0" y="50800"/>
                    </a:lnTo>
                    <a:cubicBezTo>
                      <a:pt x="0" y="22744"/>
                      <a:pt x="22744" y="0"/>
                      <a:pt x="50800" y="0"/>
                    </a:cubicBezTo>
                    <a:lnTo>
                      <a:pt x="101600" y="0"/>
                    </a:lnTo>
                    <a:cubicBezTo>
                      <a:pt x="129656" y="0"/>
                      <a:pt x="152400" y="22744"/>
                      <a:pt x="152400" y="50800"/>
                    </a:cubicBezTo>
                    <a:lnTo>
                      <a:pt x="152400" y="76200"/>
                    </a:lnTo>
                  </a:path>
                </a:pathLst>
              </a:custGeom>
              <a:noFill/>
              <a:ln w="25400">
                <a:solidFill>
                  <a:srgbClr val="9E2912"/>
                </a:solidFill>
              </a:ln>
            </p:spPr>
          </p:sp>
          <p:sp>
            <p:nvSpPr>
              <p:cNvPr id="96" name="Freeform 96"/>
              <p:cNvSpPr/>
              <p:nvPr/>
            </p:nvSpPr>
            <p:spPr>
              <a:xfrm>
                <a:off x="9118599" y="3106801"/>
                <a:ext cx="38200" cy="98425"/>
              </a:xfrm>
              <a:custGeom>
                <a:avLst/>
                <a:gdLst/>
                <a:ahLst/>
                <a:cxnLst/>
                <a:rect l="l" t="t" r="r" b="b"/>
                <a:pathLst>
                  <a:path w="38200" h="98425">
                    <a:moveTo>
                      <a:pt x="0" y="0"/>
                    </a:moveTo>
                    <a:cubicBezTo>
                      <a:pt x="22478" y="5755"/>
                      <a:pt x="38200" y="26009"/>
                      <a:pt x="38200" y="49212"/>
                    </a:cubicBezTo>
                    <a:cubicBezTo>
                      <a:pt x="38200" y="72415"/>
                      <a:pt x="22478" y="92670"/>
                      <a:pt x="0" y="98425"/>
                    </a:cubicBezTo>
                  </a:path>
                </a:pathLst>
              </a:custGeom>
              <a:noFill/>
              <a:ln w="25400">
                <a:solidFill>
                  <a:srgbClr val="9E2912"/>
                </a:solidFill>
              </a:ln>
            </p:spPr>
          </p:sp>
          <p:sp>
            <p:nvSpPr>
              <p:cNvPr id="97" name="Freeform 97"/>
              <p:cNvSpPr/>
              <p:nvPr/>
            </p:nvSpPr>
            <p:spPr>
              <a:xfrm>
                <a:off x="9143999" y="3259455"/>
                <a:ext cx="38100" cy="74295"/>
              </a:xfrm>
              <a:custGeom>
                <a:avLst/>
                <a:gdLst/>
                <a:ahLst/>
                <a:cxnLst/>
                <a:rect l="l" t="t" r="r" b="b"/>
                <a:pathLst>
                  <a:path w="38100" h="74295">
                    <a:moveTo>
                      <a:pt x="38100" y="74295"/>
                    </a:moveTo>
                    <a:lnTo>
                      <a:pt x="38100" y="48895"/>
                    </a:lnTo>
                    <a:cubicBezTo>
                      <a:pt x="37967" y="25839"/>
                      <a:pt x="22324" y="5764"/>
                      <a:pt x="0" y="0"/>
                    </a:cubicBezTo>
                  </a:path>
                </a:pathLst>
              </a:custGeom>
              <a:noFill/>
              <a:ln w="25400">
                <a:solidFill>
                  <a:srgbClr val="9E2912"/>
                </a:solidFill>
              </a:ln>
            </p:spPr>
          </p:sp>
        </p:grpSp>
        <p:sp>
          <p:nvSpPr>
            <p:cNvPr id="99" name="TextBox 99"/>
            <p:cNvSpPr txBox="1"/>
            <p:nvPr/>
          </p:nvSpPr>
          <p:spPr>
            <a:xfrm>
              <a:off x="9424606" y="3157776"/>
              <a:ext cx="690118" cy="198025"/>
            </a:xfrm>
            <a:prstGeom prst="rect">
              <a:avLst/>
            </a:prstGeom>
            <a:noFill/>
            <a:ln>
              <a:noFill/>
            </a:ln>
          </p:spPr>
          <p:txBody>
            <a:bodyPr wrap="none" lIns="0" tIns="0" rIns="0" bIns="0" anchor="t" anchorCtr="0">
              <a:spAutoFit/>
            </a:bodyPr>
            <a:lstStyle/>
            <a:p>
              <a:pPr algn="l"/>
              <a:r>
                <a:rPr lang="zh-CN" sz="1010" b="1" dirty="0">
                  <a:solidFill>
                    <a:srgbClr val="67281B"/>
                  </a:solidFill>
                  <a:latin typeface="+mn-lt"/>
                  <a:ea typeface="+mn-ea"/>
                  <a:cs typeface="+mn-cs"/>
                </a:rPr>
                <a:t>代发个人数</a:t>
              </a:r>
            </a:p>
          </p:txBody>
        </p:sp>
        <p:sp>
          <p:nvSpPr>
            <p:cNvPr id="100" name="Rectangle 100"/>
            <p:cNvSpPr/>
            <p:nvPr/>
          </p:nvSpPr>
          <p:spPr>
            <a:xfrm>
              <a:off x="8705850" y="3714750"/>
              <a:ext cx="3105150" cy="762000"/>
            </a:xfrm>
            <a:prstGeom prst="roundRect">
              <a:avLst>
                <a:gd name="adj" fmla="val 10000"/>
              </a:avLst>
            </a:prstGeom>
            <a:solidFill>
              <a:srgbClr val="F7FAFE"/>
            </a:solidFill>
            <a:ln w="9525">
              <a:solidFill>
                <a:srgbClr val="C9D8EF"/>
              </a:solidFill>
            </a:ln>
          </p:spPr>
        </p:sp>
        <p:sp>
          <p:nvSpPr>
            <p:cNvPr id="101" name="Ellipse 101"/>
            <p:cNvSpPr/>
            <p:nvPr/>
          </p:nvSpPr>
          <p:spPr>
            <a:xfrm>
              <a:off x="8858250" y="3886200"/>
              <a:ext cx="419100" cy="419100"/>
            </a:xfrm>
            <a:prstGeom prst="ellipse">
              <a:avLst/>
            </a:prstGeom>
            <a:solidFill>
              <a:srgbClr val="EAF2FC"/>
            </a:solidFill>
            <a:ln>
              <a:noFill/>
            </a:ln>
          </p:spPr>
        </p:sp>
        <p:grpSp>
          <p:nvGrpSpPr>
            <p:cNvPr id="107" name="Group 107"/>
            <p:cNvGrpSpPr/>
            <p:nvPr/>
          </p:nvGrpSpPr>
          <p:grpSpPr>
            <a:xfrm>
              <a:off x="8953500" y="3979748"/>
              <a:ext cx="228600" cy="230302"/>
              <a:chOff x="8953500" y="3979748"/>
              <a:chExt cx="228600" cy="230302"/>
            </a:xfrm>
          </p:grpSpPr>
          <p:sp>
            <p:nvSpPr>
              <p:cNvPr id="102" name="Freeform 102"/>
              <p:cNvSpPr/>
              <p:nvPr/>
            </p:nvSpPr>
            <p:spPr>
              <a:xfrm>
                <a:off x="9029700" y="4083050"/>
                <a:ext cx="152400" cy="76200"/>
              </a:xfrm>
              <a:custGeom>
                <a:avLst/>
                <a:gdLst/>
                <a:ahLst/>
                <a:cxnLst/>
                <a:rect l="l" t="t" r="r" b="b"/>
                <a:pathLst>
                  <a:path w="152400" h="76200">
                    <a:moveTo>
                      <a:pt x="0" y="38100"/>
                    </a:moveTo>
                    <a:cubicBezTo>
                      <a:pt x="0" y="59144"/>
                      <a:pt x="34112" y="76200"/>
                      <a:pt x="76200" y="76200"/>
                    </a:cubicBezTo>
                    <a:cubicBezTo>
                      <a:pt x="118288" y="76200"/>
                      <a:pt x="152400" y="59144"/>
                      <a:pt x="152400" y="38100"/>
                    </a:cubicBezTo>
                    <a:cubicBezTo>
                      <a:pt x="152400" y="17056"/>
                      <a:pt x="118288" y="0"/>
                      <a:pt x="76200" y="0"/>
                    </a:cubicBezTo>
                    <a:cubicBezTo>
                      <a:pt x="34112" y="0"/>
                      <a:pt x="0" y="17056"/>
                      <a:pt x="0" y="38100"/>
                    </a:cubicBezTo>
                  </a:path>
                </a:pathLst>
              </a:custGeom>
              <a:noFill/>
              <a:ln w="25400">
                <a:solidFill>
                  <a:srgbClr val="C9462F"/>
                </a:solidFill>
              </a:ln>
            </p:spPr>
          </p:sp>
          <p:sp>
            <p:nvSpPr>
              <p:cNvPr id="103" name="Freeform 103"/>
              <p:cNvSpPr/>
              <p:nvPr/>
            </p:nvSpPr>
            <p:spPr>
              <a:xfrm>
                <a:off x="9029700" y="4121150"/>
                <a:ext cx="152400" cy="88900"/>
              </a:xfrm>
              <a:custGeom>
                <a:avLst/>
                <a:gdLst/>
                <a:ahLst/>
                <a:cxnLst/>
                <a:rect l="l" t="t" r="r" b="b"/>
                <a:pathLst>
                  <a:path w="152400" h="88900">
                    <a:moveTo>
                      <a:pt x="0" y="0"/>
                    </a:moveTo>
                    <a:lnTo>
                      <a:pt x="0" y="50800"/>
                    </a:lnTo>
                    <a:cubicBezTo>
                      <a:pt x="0" y="71831"/>
                      <a:pt x="34112" y="88900"/>
                      <a:pt x="76200" y="88900"/>
                    </a:cubicBezTo>
                    <a:cubicBezTo>
                      <a:pt x="118288" y="88900"/>
                      <a:pt x="152400" y="71831"/>
                      <a:pt x="152400" y="50800"/>
                    </a:cubicBezTo>
                    <a:lnTo>
                      <a:pt x="152400" y="0"/>
                    </a:lnTo>
                  </a:path>
                </a:pathLst>
              </a:custGeom>
              <a:noFill/>
              <a:ln w="25400">
                <a:solidFill>
                  <a:srgbClr val="C9462F"/>
                </a:solidFill>
              </a:ln>
            </p:spPr>
          </p:sp>
          <p:sp>
            <p:nvSpPr>
              <p:cNvPr id="104" name="Freeform 104"/>
              <p:cNvSpPr/>
              <p:nvPr/>
            </p:nvSpPr>
            <p:spPr>
              <a:xfrm>
                <a:off x="8953500" y="3979748"/>
                <a:ext cx="152400" cy="79603"/>
              </a:xfrm>
              <a:custGeom>
                <a:avLst/>
                <a:gdLst/>
                <a:ahLst/>
                <a:cxnLst/>
                <a:rect l="l" t="t" r="r" b="b"/>
                <a:pathLst>
                  <a:path w="152400" h="79603">
                    <a:moveTo>
                      <a:pt x="0" y="39802"/>
                    </a:moveTo>
                    <a:cubicBezTo>
                      <a:pt x="0" y="53416"/>
                      <a:pt x="14529" y="65989"/>
                      <a:pt x="38100" y="72796"/>
                    </a:cubicBezTo>
                    <a:cubicBezTo>
                      <a:pt x="61671" y="79603"/>
                      <a:pt x="90729" y="79603"/>
                      <a:pt x="114300" y="72796"/>
                    </a:cubicBezTo>
                    <a:cubicBezTo>
                      <a:pt x="137871" y="65989"/>
                      <a:pt x="152400" y="53416"/>
                      <a:pt x="152400" y="39802"/>
                    </a:cubicBezTo>
                    <a:cubicBezTo>
                      <a:pt x="152400" y="26187"/>
                      <a:pt x="137871" y="13614"/>
                      <a:pt x="114300" y="6807"/>
                    </a:cubicBezTo>
                    <a:cubicBezTo>
                      <a:pt x="90729" y="0"/>
                      <a:pt x="61671" y="0"/>
                      <a:pt x="38100" y="6807"/>
                    </a:cubicBezTo>
                    <a:cubicBezTo>
                      <a:pt x="14529" y="13614"/>
                      <a:pt x="0" y="26187"/>
                      <a:pt x="0" y="39802"/>
                    </a:cubicBezTo>
                  </a:path>
                </a:pathLst>
              </a:custGeom>
              <a:noFill/>
              <a:ln w="25400">
                <a:solidFill>
                  <a:srgbClr val="C9462F"/>
                </a:solidFill>
              </a:ln>
            </p:spPr>
          </p:sp>
          <p:sp>
            <p:nvSpPr>
              <p:cNvPr id="105" name="Freeform 105"/>
              <p:cNvSpPr/>
              <p:nvPr/>
            </p:nvSpPr>
            <p:spPr>
              <a:xfrm>
                <a:off x="8953500" y="4019550"/>
                <a:ext cx="25400" cy="152400"/>
              </a:xfrm>
              <a:custGeom>
                <a:avLst/>
                <a:gdLst/>
                <a:ahLst/>
                <a:cxnLst/>
                <a:rect l="l" t="t" r="r" b="b"/>
                <a:pathLst>
                  <a:path w="25400" h="152400">
                    <a:moveTo>
                      <a:pt x="0" y="0"/>
                    </a:moveTo>
                    <a:lnTo>
                      <a:pt x="0" y="127000"/>
                    </a:lnTo>
                    <a:cubicBezTo>
                      <a:pt x="0" y="138277"/>
                      <a:pt x="9804" y="145415"/>
                      <a:pt x="25400" y="152400"/>
                    </a:cubicBezTo>
                  </a:path>
                </a:pathLst>
              </a:custGeom>
              <a:noFill/>
              <a:ln w="25400">
                <a:solidFill>
                  <a:srgbClr val="C9462F"/>
                </a:solidFill>
              </a:ln>
            </p:spPr>
          </p:sp>
          <p:sp>
            <p:nvSpPr>
              <p:cNvPr id="106" name="Freeform 106"/>
              <p:cNvSpPr/>
              <p:nvPr/>
            </p:nvSpPr>
            <p:spPr>
              <a:xfrm>
                <a:off x="8953500" y="4083050"/>
                <a:ext cx="25400" cy="25400"/>
              </a:xfrm>
              <a:custGeom>
                <a:avLst/>
                <a:gdLst/>
                <a:ahLst/>
                <a:cxnLst/>
                <a:rect l="l" t="t" r="r" b="b"/>
                <a:pathLst>
                  <a:path w="25400" h="25400">
                    <a:moveTo>
                      <a:pt x="0" y="0"/>
                    </a:moveTo>
                    <a:cubicBezTo>
                      <a:pt x="0" y="11278"/>
                      <a:pt x="9804" y="18415"/>
                      <a:pt x="25400" y="25400"/>
                    </a:cubicBezTo>
                  </a:path>
                </a:pathLst>
              </a:custGeom>
              <a:noFill/>
              <a:ln w="25400">
                <a:solidFill>
                  <a:srgbClr val="C9462F"/>
                </a:solidFill>
              </a:ln>
            </p:spPr>
          </p:sp>
        </p:grpSp>
        <p:sp>
          <p:nvSpPr>
            <p:cNvPr id="108" name="TextBox 108"/>
            <p:cNvSpPr txBox="1"/>
            <p:nvPr/>
          </p:nvSpPr>
          <p:spPr>
            <a:xfrm>
              <a:off x="9424606" y="4034076"/>
              <a:ext cx="727214" cy="198025"/>
            </a:xfrm>
            <a:prstGeom prst="rect">
              <a:avLst/>
            </a:prstGeom>
            <a:noFill/>
            <a:ln>
              <a:noFill/>
            </a:ln>
          </p:spPr>
          <p:txBody>
            <a:bodyPr wrap="none" lIns="0" tIns="0" rIns="0" bIns="0" anchor="t" anchorCtr="0">
              <a:spAutoFit/>
            </a:bodyPr>
            <a:lstStyle/>
            <a:p>
              <a:pPr algn="l"/>
              <a:r>
                <a:rPr lang="zh-CN" sz="1010" b="1" dirty="0">
                  <a:solidFill>
                    <a:srgbClr val="67281B"/>
                  </a:solidFill>
                  <a:latin typeface="+mn-lt"/>
                  <a:ea typeface="+mn-ea"/>
                  <a:cs typeface="+mn-cs"/>
                </a:rPr>
                <a:t>联动AUM​​</a:t>
              </a:r>
            </a:p>
          </p:txBody>
        </p:sp>
        <p:sp>
          <p:nvSpPr>
            <p:cNvPr id="109" name="Rectangle 109"/>
            <p:cNvSpPr/>
            <p:nvPr/>
          </p:nvSpPr>
          <p:spPr>
            <a:xfrm>
              <a:off x="8705850" y="4591050"/>
              <a:ext cx="3105150" cy="762000"/>
            </a:xfrm>
            <a:prstGeom prst="roundRect">
              <a:avLst>
                <a:gd name="adj" fmla="val 10000"/>
              </a:avLst>
            </a:prstGeom>
            <a:solidFill>
              <a:srgbClr val="F7FAFE"/>
            </a:solidFill>
            <a:ln w="9525">
              <a:solidFill>
                <a:srgbClr val="C9D8EF"/>
              </a:solidFill>
            </a:ln>
          </p:spPr>
        </p:sp>
        <p:sp>
          <p:nvSpPr>
            <p:cNvPr id="110" name="Ellipse 110"/>
            <p:cNvSpPr/>
            <p:nvPr/>
          </p:nvSpPr>
          <p:spPr>
            <a:xfrm>
              <a:off x="8858250" y="4762500"/>
              <a:ext cx="419100" cy="419100"/>
            </a:xfrm>
            <a:prstGeom prst="ellipse">
              <a:avLst/>
            </a:prstGeom>
            <a:solidFill>
              <a:srgbClr val="EAF2FC"/>
            </a:solidFill>
            <a:ln>
              <a:noFill/>
            </a:ln>
          </p:spPr>
        </p:sp>
        <p:grpSp>
          <p:nvGrpSpPr>
            <p:cNvPr id="115" name="Group 115"/>
            <p:cNvGrpSpPr/>
            <p:nvPr/>
          </p:nvGrpSpPr>
          <p:grpSpPr>
            <a:xfrm>
              <a:off x="8978900" y="4857750"/>
              <a:ext cx="177800" cy="228599"/>
              <a:chOff x="8978900" y="4857750"/>
              <a:chExt cx="177800" cy="228599"/>
            </a:xfrm>
          </p:grpSpPr>
          <p:sp>
            <p:nvSpPr>
              <p:cNvPr id="111" name="Freeform 111"/>
              <p:cNvSpPr/>
              <p:nvPr/>
            </p:nvSpPr>
            <p:spPr>
              <a:xfrm>
                <a:off x="8978900" y="4883150"/>
                <a:ext cx="177800" cy="203199"/>
              </a:xfrm>
              <a:custGeom>
                <a:avLst/>
                <a:gdLst/>
                <a:ahLst/>
                <a:cxnLst/>
                <a:rect l="l" t="t" r="r" b="b"/>
                <a:pathLst>
                  <a:path w="177800" h="203199">
                    <a:moveTo>
                      <a:pt x="50800" y="0"/>
                    </a:moveTo>
                    <a:lnTo>
                      <a:pt x="25400" y="0"/>
                    </a:lnTo>
                    <a:cubicBezTo>
                      <a:pt x="11372" y="0"/>
                      <a:pt x="0" y="11372"/>
                      <a:pt x="0" y="25400"/>
                    </a:cubicBezTo>
                    <a:lnTo>
                      <a:pt x="0" y="177800"/>
                    </a:lnTo>
                    <a:cubicBezTo>
                      <a:pt x="0" y="191828"/>
                      <a:pt x="11372" y="203199"/>
                      <a:pt x="25400" y="203199"/>
                    </a:cubicBezTo>
                    <a:lnTo>
                      <a:pt x="152400" y="203199"/>
                    </a:lnTo>
                    <a:cubicBezTo>
                      <a:pt x="166428" y="203199"/>
                      <a:pt x="177800" y="191828"/>
                      <a:pt x="177800" y="177800"/>
                    </a:cubicBezTo>
                    <a:lnTo>
                      <a:pt x="177800" y="25400"/>
                    </a:lnTo>
                    <a:cubicBezTo>
                      <a:pt x="177800" y="11372"/>
                      <a:pt x="166428" y="0"/>
                      <a:pt x="152400" y="0"/>
                    </a:cubicBezTo>
                    <a:lnTo>
                      <a:pt x="127000" y="0"/>
                    </a:lnTo>
                  </a:path>
                </a:pathLst>
              </a:custGeom>
              <a:noFill/>
              <a:ln w="25400">
                <a:solidFill>
                  <a:srgbClr val="A5280F"/>
                </a:solidFill>
              </a:ln>
            </p:spPr>
          </p:sp>
          <p:sp>
            <p:nvSpPr>
              <p:cNvPr id="112" name="Freeform 112"/>
              <p:cNvSpPr/>
              <p:nvPr/>
            </p:nvSpPr>
            <p:spPr>
              <a:xfrm>
                <a:off x="9029700" y="4857750"/>
                <a:ext cx="76200" cy="50800"/>
              </a:xfrm>
              <a:custGeom>
                <a:avLst/>
                <a:gdLst/>
                <a:ahLst/>
                <a:cxnLst/>
                <a:rect l="l" t="t" r="r" b="b"/>
                <a:pathLst>
                  <a:path w="76200" h="50800">
                    <a:moveTo>
                      <a:pt x="0" y="25400"/>
                    </a:moveTo>
                    <a:cubicBezTo>
                      <a:pt x="0" y="11372"/>
                      <a:pt x="11372" y="0"/>
                      <a:pt x="25400" y="0"/>
                    </a:cubicBezTo>
                    <a:lnTo>
                      <a:pt x="50800" y="0"/>
                    </a:lnTo>
                    <a:cubicBezTo>
                      <a:pt x="64828" y="0"/>
                      <a:pt x="76200" y="11372"/>
                      <a:pt x="76200" y="25400"/>
                    </a:cubicBezTo>
                    <a:cubicBezTo>
                      <a:pt x="76200" y="39428"/>
                      <a:pt x="64828" y="50800"/>
                      <a:pt x="50800" y="50800"/>
                    </a:cubicBezTo>
                    <a:lnTo>
                      <a:pt x="25400" y="50800"/>
                    </a:lnTo>
                    <a:cubicBezTo>
                      <a:pt x="11372" y="50800"/>
                      <a:pt x="0" y="39428"/>
                      <a:pt x="0" y="25400"/>
                    </a:cubicBezTo>
                  </a:path>
                </a:pathLst>
              </a:custGeom>
              <a:noFill/>
              <a:ln w="25400">
                <a:solidFill>
                  <a:srgbClr val="A5280F"/>
                </a:solidFill>
              </a:ln>
            </p:spPr>
          </p:sp>
          <p:sp>
            <p:nvSpPr>
              <p:cNvPr id="113" name="Freeform 113"/>
              <p:cNvSpPr/>
              <p:nvPr/>
            </p:nvSpPr>
            <p:spPr>
              <a:xfrm>
                <a:off x="9042400" y="4959350"/>
                <a:ext cx="50800" cy="76200"/>
              </a:xfrm>
              <a:custGeom>
                <a:avLst/>
                <a:gdLst/>
                <a:ahLst/>
                <a:cxnLst/>
                <a:rect l="l" t="t" r="r" b="b"/>
                <a:pathLst>
                  <a:path w="50800" h="76200">
                    <a:moveTo>
                      <a:pt x="50800" y="0"/>
                    </a:moveTo>
                    <a:lnTo>
                      <a:pt x="19050" y="0"/>
                    </a:lnTo>
                    <a:cubicBezTo>
                      <a:pt x="8529" y="0"/>
                      <a:pt x="0" y="8529"/>
                      <a:pt x="0" y="19050"/>
                    </a:cubicBezTo>
                    <a:cubicBezTo>
                      <a:pt x="0" y="29571"/>
                      <a:pt x="8529" y="38100"/>
                      <a:pt x="19050" y="38100"/>
                    </a:cubicBezTo>
                    <a:lnTo>
                      <a:pt x="31750" y="38100"/>
                    </a:lnTo>
                    <a:cubicBezTo>
                      <a:pt x="42271" y="38100"/>
                      <a:pt x="50800" y="46629"/>
                      <a:pt x="50800" y="57150"/>
                    </a:cubicBezTo>
                    <a:cubicBezTo>
                      <a:pt x="50800" y="67671"/>
                      <a:pt x="42271" y="76200"/>
                      <a:pt x="31750" y="76200"/>
                    </a:cubicBezTo>
                    <a:lnTo>
                      <a:pt x="0" y="76200"/>
                    </a:lnTo>
                  </a:path>
                </a:pathLst>
              </a:custGeom>
              <a:noFill/>
              <a:ln w="25400">
                <a:solidFill>
                  <a:srgbClr val="A5280F"/>
                </a:solidFill>
              </a:ln>
            </p:spPr>
          </p:sp>
          <p:sp>
            <p:nvSpPr>
              <p:cNvPr id="114" name="Freeform 114"/>
              <p:cNvSpPr/>
              <p:nvPr/>
            </p:nvSpPr>
            <p:spPr>
              <a:xfrm>
                <a:off x="9067800" y="4946650"/>
                <a:ext cx="9525" cy="101600"/>
              </a:xfrm>
              <a:custGeom>
                <a:avLst/>
                <a:gdLst/>
                <a:ahLst/>
                <a:cxnLst/>
                <a:rect l="l" t="t" r="r" b="b"/>
                <a:pathLst>
                  <a:path w="9525" h="101600">
                    <a:moveTo>
                      <a:pt x="0" y="88900"/>
                    </a:moveTo>
                    <a:lnTo>
                      <a:pt x="0" y="101600"/>
                    </a:lnTo>
                    <a:moveTo>
                      <a:pt x="0" y="0"/>
                    </a:moveTo>
                    <a:lnTo>
                      <a:pt x="0" y="12700"/>
                    </a:lnTo>
                  </a:path>
                </a:pathLst>
              </a:custGeom>
              <a:noFill/>
              <a:ln w="25400">
                <a:solidFill>
                  <a:srgbClr val="A5280F"/>
                </a:solidFill>
              </a:ln>
            </p:spPr>
          </p:sp>
        </p:grpSp>
        <p:sp>
          <p:nvSpPr>
            <p:cNvPr id="116" name="TextBox 116"/>
            <p:cNvSpPr txBox="1"/>
            <p:nvPr/>
          </p:nvSpPr>
          <p:spPr>
            <a:xfrm>
              <a:off x="9424606" y="4910376"/>
              <a:ext cx="826084" cy="198025"/>
            </a:xfrm>
            <a:prstGeom prst="rect">
              <a:avLst/>
            </a:prstGeom>
            <a:noFill/>
            <a:ln>
              <a:noFill/>
            </a:ln>
          </p:spPr>
          <p:txBody>
            <a:bodyPr wrap="none" lIns="0" tIns="0" rIns="0" bIns="0" anchor="t" anchorCtr="0">
              <a:spAutoFit/>
            </a:bodyPr>
            <a:lstStyle/>
            <a:p>
              <a:pPr algn="l"/>
              <a:r>
                <a:rPr lang="zh-CN" sz="1010" b="1" dirty="0">
                  <a:solidFill>
                    <a:srgbClr val="67281B"/>
                  </a:solidFill>
                  <a:latin typeface="+mn-lt"/>
                  <a:ea typeface="+mn-ea"/>
                  <a:cs typeface="+mn-cs"/>
                </a:rPr>
                <a:t>公私联动中收</a:t>
              </a:r>
            </a:p>
          </p:txBody>
        </p:sp>
      </p:grpSp>
      <p:grpSp>
        <p:nvGrpSpPr>
          <p:cNvPr id="156" name="flow-path"/>
          <p:cNvGrpSpPr/>
          <p:nvPr/>
        </p:nvGrpSpPr>
        <p:grpSpPr>
          <a:xfrm>
            <a:off x="381000" y="5593556"/>
            <a:ext cx="11430000" cy="997744"/>
            <a:chOff x="381000" y="5593556"/>
            <a:chExt cx="11430000" cy="997744"/>
          </a:xfrm>
        </p:grpSpPr>
        <p:sp>
          <p:nvSpPr>
            <p:cNvPr id="118" name="TextBox 118"/>
            <p:cNvSpPr txBox="1"/>
            <p:nvPr/>
          </p:nvSpPr>
          <p:spPr>
            <a:xfrm>
              <a:off x="5637962" y="5593556"/>
              <a:ext cx="916076" cy="220028"/>
            </a:xfrm>
            <a:prstGeom prst="rect">
              <a:avLst/>
            </a:prstGeom>
            <a:noFill/>
            <a:ln>
              <a:noFill/>
            </a:ln>
          </p:spPr>
          <p:txBody>
            <a:bodyPr wrap="none" lIns="0" tIns="0" rIns="0" bIns="0" anchor="t" anchorCtr="0">
              <a:spAutoFit/>
            </a:bodyPr>
            <a:lstStyle/>
            <a:p>
              <a:pPr algn="ctr"/>
              <a:r>
                <a:rPr lang="zh-CN" sz="1120" b="1" dirty="0">
                  <a:solidFill>
                    <a:srgbClr val="A8351D"/>
                  </a:solidFill>
                  <a:latin typeface="+mn-lt"/>
                  <a:ea typeface="+mn-ea"/>
                  <a:cs typeface="+mn-cs"/>
                </a:rPr>
                <a:t>价值释放路径</a:t>
              </a:r>
            </a:p>
          </p:txBody>
        </p:sp>
        <p:sp>
          <p:nvSpPr>
            <p:cNvPr id="119" name="Rectangle 119"/>
            <p:cNvSpPr/>
            <p:nvPr/>
          </p:nvSpPr>
          <p:spPr>
            <a:xfrm>
              <a:off x="381000" y="5810250"/>
              <a:ext cx="1905000" cy="781050"/>
            </a:xfrm>
            <a:prstGeom prst="roundRect">
              <a:avLst>
                <a:gd name="adj" fmla="val 9756"/>
              </a:avLst>
            </a:prstGeom>
            <a:solidFill>
              <a:srgbClr val="FFFFFF"/>
            </a:solidFill>
            <a:ln w="14288">
              <a:solidFill>
                <a:srgbClr val="D64A2E"/>
              </a:solidFill>
            </a:ln>
          </p:spPr>
        </p:sp>
        <p:grpSp>
          <p:nvGrpSpPr>
            <p:cNvPr id="124" name="Group 124"/>
            <p:cNvGrpSpPr/>
            <p:nvPr/>
          </p:nvGrpSpPr>
          <p:grpSpPr>
            <a:xfrm>
              <a:off x="1240631" y="5917406"/>
              <a:ext cx="185737" cy="185738"/>
              <a:chOff x="1240631" y="5917406"/>
              <a:chExt cx="185737" cy="185738"/>
            </a:xfrm>
          </p:grpSpPr>
          <p:sp>
            <p:nvSpPr>
              <p:cNvPr id="120" name="Freeform 120"/>
              <p:cNvSpPr/>
              <p:nvPr/>
            </p:nvSpPr>
            <p:spPr>
              <a:xfrm>
                <a:off x="1261269" y="59174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A8351D"/>
                </a:solidFill>
              </a:ln>
            </p:spPr>
          </p:sp>
          <p:sp>
            <p:nvSpPr>
              <p:cNvPr id="121" name="Freeform 121"/>
              <p:cNvSpPr/>
              <p:nvPr/>
            </p:nvSpPr>
            <p:spPr>
              <a:xfrm>
                <a:off x="1240631" y="604123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A8351D"/>
                </a:solidFill>
              </a:ln>
            </p:spPr>
          </p:sp>
          <p:sp>
            <p:nvSpPr>
              <p:cNvPr id="122" name="Freeform 122"/>
              <p:cNvSpPr/>
              <p:nvPr/>
            </p:nvSpPr>
            <p:spPr>
              <a:xfrm>
                <a:off x="1374774" y="591874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A8351D"/>
                </a:solidFill>
              </a:ln>
            </p:spPr>
          </p:sp>
          <p:sp>
            <p:nvSpPr>
              <p:cNvPr id="123" name="Freeform 123"/>
              <p:cNvSpPr/>
              <p:nvPr/>
            </p:nvSpPr>
            <p:spPr>
              <a:xfrm>
                <a:off x="1395412" y="604277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A8351D"/>
                </a:solidFill>
              </a:ln>
            </p:spPr>
          </p:sp>
        </p:grpSp>
        <p:sp>
          <p:nvSpPr>
            <p:cNvPr id="125" name="TextBox 125"/>
            <p:cNvSpPr txBox="1"/>
            <p:nvPr/>
          </p:nvSpPr>
          <p:spPr>
            <a:xfrm>
              <a:off x="1012380" y="6299597"/>
              <a:ext cx="642239"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企业客户池</a:t>
              </a:r>
            </a:p>
          </p:txBody>
        </p:sp>
        <p:sp>
          <p:nvSpPr>
            <p:cNvPr id="126" name="Line 126"/>
            <p:cNvSpPr/>
            <p:nvPr/>
          </p:nvSpPr>
          <p:spPr>
            <a:xfrm>
              <a:off x="2343150" y="6200775"/>
              <a:ext cx="342900" cy="1"/>
            </a:xfrm>
            <a:prstGeom prst="line">
              <a:avLst/>
            </a:prstGeom>
            <a:noFill/>
            <a:ln w="19050">
              <a:solidFill>
                <a:srgbClr val="D64A2E"/>
              </a:solidFill>
              <a:tailEnd type="triangle" w="lg" len="lg"/>
            </a:ln>
          </p:spPr>
        </p:sp>
        <p:sp>
          <p:nvSpPr>
            <p:cNvPr id="127" name="Rectangle 127"/>
            <p:cNvSpPr/>
            <p:nvPr/>
          </p:nvSpPr>
          <p:spPr>
            <a:xfrm>
              <a:off x="2762250" y="5810250"/>
              <a:ext cx="1905000" cy="781050"/>
            </a:xfrm>
            <a:prstGeom prst="roundRect">
              <a:avLst>
                <a:gd name="adj" fmla="val 9756"/>
              </a:avLst>
            </a:prstGeom>
            <a:solidFill>
              <a:srgbClr val="FFFFFF"/>
            </a:solidFill>
            <a:ln w="14288">
              <a:solidFill>
                <a:srgbClr val="D64A2E"/>
              </a:solidFill>
            </a:ln>
          </p:spPr>
        </p:sp>
        <p:grpSp>
          <p:nvGrpSpPr>
            <p:cNvPr id="131" name="Group 131"/>
            <p:cNvGrpSpPr/>
            <p:nvPr/>
          </p:nvGrpSpPr>
          <p:grpSpPr>
            <a:xfrm>
              <a:off x="3652837" y="5917406"/>
              <a:ext cx="154781" cy="185737"/>
              <a:chOff x="3652837" y="5917406"/>
              <a:chExt cx="154781" cy="185737"/>
            </a:xfrm>
          </p:grpSpPr>
          <p:sp>
            <p:nvSpPr>
              <p:cNvPr id="128" name="Freeform 128"/>
              <p:cNvSpPr/>
              <p:nvPr/>
            </p:nvSpPr>
            <p:spPr>
              <a:xfrm>
                <a:off x="3673475" y="59174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A8351D"/>
                </a:solidFill>
              </a:ln>
            </p:spPr>
          </p:sp>
          <p:sp>
            <p:nvSpPr>
              <p:cNvPr id="129" name="Freeform 129"/>
              <p:cNvSpPr/>
              <p:nvPr/>
            </p:nvSpPr>
            <p:spPr>
              <a:xfrm>
                <a:off x="3652837" y="6041231"/>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A8351D"/>
                </a:solidFill>
              </a:ln>
            </p:spPr>
          </p:sp>
          <p:sp>
            <p:nvSpPr>
              <p:cNvPr id="130" name="Freeform 130"/>
              <p:cNvSpPr/>
              <p:nvPr/>
            </p:nvSpPr>
            <p:spPr>
              <a:xfrm>
                <a:off x="3745706" y="6061868"/>
                <a:ext cx="61912" cy="41275"/>
              </a:xfrm>
              <a:custGeom>
                <a:avLst/>
                <a:gdLst/>
                <a:ahLst/>
                <a:cxnLst/>
                <a:rect l="l" t="t" r="r" b="b"/>
                <a:pathLst>
                  <a:path w="61912" h="41275">
                    <a:moveTo>
                      <a:pt x="0" y="20637"/>
                    </a:moveTo>
                    <a:lnTo>
                      <a:pt x="20637" y="41275"/>
                    </a:lnTo>
                    <a:lnTo>
                      <a:pt x="61912" y="0"/>
                    </a:lnTo>
                  </a:path>
                </a:pathLst>
              </a:custGeom>
              <a:noFill/>
              <a:ln w="20637">
                <a:solidFill>
                  <a:srgbClr val="A8351D"/>
                </a:solidFill>
              </a:ln>
            </p:spPr>
          </p:sp>
        </p:grpSp>
        <p:sp>
          <p:nvSpPr>
            <p:cNvPr id="132" name="TextBox 132"/>
            <p:cNvSpPr txBox="1"/>
            <p:nvPr/>
          </p:nvSpPr>
          <p:spPr>
            <a:xfrm>
              <a:off x="3203816" y="6299597"/>
              <a:ext cx="1021867"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关键人与员工识别</a:t>
              </a:r>
            </a:p>
          </p:txBody>
        </p:sp>
        <p:sp>
          <p:nvSpPr>
            <p:cNvPr id="133" name="Line 133"/>
            <p:cNvSpPr/>
            <p:nvPr/>
          </p:nvSpPr>
          <p:spPr>
            <a:xfrm>
              <a:off x="4724400" y="6200775"/>
              <a:ext cx="342900" cy="1"/>
            </a:xfrm>
            <a:prstGeom prst="line">
              <a:avLst/>
            </a:prstGeom>
            <a:noFill/>
            <a:ln w="19050">
              <a:solidFill>
                <a:srgbClr val="D64A2E"/>
              </a:solidFill>
              <a:tailEnd type="triangle" w="lg" len="lg"/>
            </a:ln>
          </p:spPr>
        </p:sp>
        <p:sp>
          <p:nvSpPr>
            <p:cNvPr id="134" name="Rectangle 134"/>
            <p:cNvSpPr/>
            <p:nvPr/>
          </p:nvSpPr>
          <p:spPr>
            <a:xfrm>
              <a:off x="5143500" y="5810250"/>
              <a:ext cx="1905000" cy="781050"/>
            </a:xfrm>
            <a:prstGeom prst="roundRect">
              <a:avLst>
                <a:gd name="adj" fmla="val 9756"/>
              </a:avLst>
            </a:prstGeom>
            <a:solidFill>
              <a:srgbClr val="FFFFFF"/>
            </a:solidFill>
            <a:ln w="14288">
              <a:solidFill>
                <a:srgbClr val="D64A2E"/>
              </a:solidFill>
            </a:ln>
          </p:spPr>
        </p:sp>
        <p:grpSp>
          <p:nvGrpSpPr>
            <p:cNvPr id="139" name="Group 139"/>
            <p:cNvGrpSpPr/>
            <p:nvPr/>
          </p:nvGrpSpPr>
          <p:grpSpPr>
            <a:xfrm>
              <a:off x="6013450" y="5927725"/>
              <a:ext cx="165099" cy="165099"/>
              <a:chOff x="6013450" y="5927725"/>
              <a:chExt cx="165099" cy="165099"/>
            </a:xfrm>
          </p:grpSpPr>
          <p:sp>
            <p:nvSpPr>
              <p:cNvPr id="135" name="Freeform 135"/>
              <p:cNvSpPr/>
              <p:nvPr/>
            </p:nvSpPr>
            <p:spPr>
              <a:xfrm>
                <a:off x="6013450" y="5927725"/>
                <a:ext cx="61912" cy="61912"/>
              </a:xfrm>
              <a:custGeom>
                <a:avLst/>
                <a:gdLst/>
                <a:ahLst/>
                <a:cxnLst/>
                <a:rect l="l" t="t" r="r" b="b"/>
                <a:pathLst>
                  <a:path w="61912" h="61912">
                    <a:moveTo>
                      <a:pt x="0" y="10319"/>
                    </a:moveTo>
                    <a:cubicBezTo>
                      <a:pt x="0" y="4620"/>
                      <a:pt x="4620" y="0"/>
                      <a:pt x="10319" y="0"/>
                    </a:cubicBezTo>
                    <a:lnTo>
                      <a:pt x="51594" y="0"/>
                    </a:lnTo>
                    <a:cubicBezTo>
                      <a:pt x="57292" y="0"/>
                      <a:pt x="61912" y="4620"/>
                      <a:pt x="61912" y="10319"/>
                    </a:cubicBezTo>
                    <a:lnTo>
                      <a:pt x="61912" y="51594"/>
                    </a:lnTo>
                    <a:cubicBezTo>
                      <a:pt x="61912" y="57292"/>
                      <a:pt x="57292" y="61912"/>
                      <a:pt x="51594" y="61912"/>
                    </a:cubicBezTo>
                    <a:lnTo>
                      <a:pt x="10319" y="61912"/>
                    </a:lnTo>
                    <a:cubicBezTo>
                      <a:pt x="4620" y="61912"/>
                      <a:pt x="0" y="57292"/>
                      <a:pt x="0" y="51594"/>
                    </a:cubicBezTo>
                    <a:lnTo>
                      <a:pt x="0" y="10319"/>
                    </a:lnTo>
                  </a:path>
                </a:pathLst>
              </a:custGeom>
              <a:noFill/>
              <a:ln w="20637">
                <a:solidFill>
                  <a:srgbClr val="A8351D"/>
                </a:solidFill>
              </a:ln>
            </p:spPr>
          </p:sp>
          <p:sp>
            <p:nvSpPr>
              <p:cNvPr id="136" name="Freeform 136"/>
              <p:cNvSpPr/>
              <p:nvPr/>
            </p:nvSpPr>
            <p:spPr>
              <a:xfrm>
                <a:off x="6116637" y="5927725"/>
                <a:ext cx="61912" cy="61912"/>
              </a:xfrm>
              <a:custGeom>
                <a:avLst/>
                <a:gdLst/>
                <a:ahLst/>
                <a:cxnLst/>
                <a:rect l="l" t="t" r="r" b="b"/>
                <a:pathLst>
                  <a:path w="61912" h="61912">
                    <a:moveTo>
                      <a:pt x="0" y="10319"/>
                    </a:moveTo>
                    <a:cubicBezTo>
                      <a:pt x="0" y="4620"/>
                      <a:pt x="4620" y="0"/>
                      <a:pt x="10319" y="0"/>
                    </a:cubicBezTo>
                    <a:lnTo>
                      <a:pt x="51594" y="0"/>
                    </a:lnTo>
                    <a:cubicBezTo>
                      <a:pt x="57292" y="0"/>
                      <a:pt x="61912" y="4620"/>
                      <a:pt x="61912" y="10319"/>
                    </a:cubicBezTo>
                    <a:lnTo>
                      <a:pt x="61912" y="51594"/>
                    </a:lnTo>
                    <a:cubicBezTo>
                      <a:pt x="61912" y="57292"/>
                      <a:pt x="57292" y="61912"/>
                      <a:pt x="51594" y="61912"/>
                    </a:cubicBezTo>
                    <a:lnTo>
                      <a:pt x="10319" y="61912"/>
                    </a:lnTo>
                    <a:cubicBezTo>
                      <a:pt x="4620" y="61912"/>
                      <a:pt x="0" y="57292"/>
                      <a:pt x="0" y="51594"/>
                    </a:cubicBezTo>
                    <a:lnTo>
                      <a:pt x="0" y="10319"/>
                    </a:lnTo>
                  </a:path>
                </a:pathLst>
              </a:custGeom>
              <a:noFill/>
              <a:ln w="20637">
                <a:solidFill>
                  <a:srgbClr val="A8351D"/>
                </a:solidFill>
              </a:ln>
            </p:spPr>
          </p:sp>
          <p:sp>
            <p:nvSpPr>
              <p:cNvPr id="137" name="Freeform 137"/>
              <p:cNvSpPr/>
              <p:nvPr/>
            </p:nvSpPr>
            <p:spPr>
              <a:xfrm>
                <a:off x="6013450" y="6030912"/>
                <a:ext cx="61912" cy="61912"/>
              </a:xfrm>
              <a:custGeom>
                <a:avLst/>
                <a:gdLst/>
                <a:ahLst/>
                <a:cxnLst/>
                <a:rect l="l" t="t" r="r" b="b"/>
                <a:pathLst>
                  <a:path w="61912" h="61912">
                    <a:moveTo>
                      <a:pt x="0" y="10319"/>
                    </a:moveTo>
                    <a:cubicBezTo>
                      <a:pt x="0" y="4620"/>
                      <a:pt x="4620" y="0"/>
                      <a:pt x="10319" y="0"/>
                    </a:cubicBezTo>
                    <a:lnTo>
                      <a:pt x="51594" y="0"/>
                    </a:lnTo>
                    <a:cubicBezTo>
                      <a:pt x="57292" y="0"/>
                      <a:pt x="61912" y="4620"/>
                      <a:pt x="61912" y="10319"/>
                    </a:cubicBezTo>
                    <a:lnTo>
                      <a:pt x="61912" y="51594"/>
                    </a:lnTo>
                    <a:cubicBezTo>
                      <a:pt x="61912" y="57292"/>
                      <a:pt x="57292" y="61912"/>
                      <a:pt x="51594" y="61912"/>
                    </a:cubicBezTo>
                    <a:lnTo>
                      <a:pt x="10319" y="61912"/>
                    </a:lnTo>
                    <a:cubicBezTo>
                      <a:pt x="4620" y="61912"/>
                      <a:pt x="0" y="57292"/>
                      <a:pt x="0" y="51594"/>
                    </a:cubicBezTo>
                    <a:lnTo>
                      <a:pt x="0" y="10319"/>
                    </a:lnTo>
                  </a:path>
                </a:pathLst>
              </a:custGeom>
              <a:noFill/>
              <a:ln w="20637">
                <a:solidFill>
                  <a:srgbClr val="A8351D"/>
                </a:solidFill>
              </a:ln>
            </p:spPr>
          </p:sp>
          <p:sp>
            <p:nvSpPr>
              <p:cNvPr id="138" name="Freeform 138"/>
              <p:cNvSpPr/>
              <p:nvPr/>
            </p:nvSpPr>
            <p:spPr>
              <a:xfrm>
                <a:off x="6116637" y="6030912"/>
                <a:ext cx="61912" cy="61912"/>
              </a:xfrm>
              <a:custGeom>
                <a:avLst/>
                <a:gdLst/>
                <a:ahLst/>
                <a:cxnLst/>
                <a:rect l="l" t="t" r="r" b="b"/>
                <a:pathLst>
                  <a:path w="61912" h="61912">
                    <a:moveTo>
                      <a:pt x="0" y="10319"/>
                    </a:moveTo>
                    <a:cubicBezTo>
                      <a:pt x="0" y="4620"/>
                      <a:pt x="4620" y="0"/>
                      <a:pt x="10319" y="0"/>
                    </a:cubicBezTo>
                    <a:lnTo>
                      <a:pt x="51594" y="0"/>
                    </a:lnTo>
                    <a:cubicBezTo>
                      <a:pt x="57292" y="0"/>
                      <a:pt x="61912" y="4620"/>
                      <a:pt x="61912" y="10319"/>
                    </a:cubicBezTo>
                    <a:lnTo>
                      <a:pt x="61912" y="51594"/>
                    </a:lnTo>
                    <a:cubicBezTo>
                      <a:pt x="61912" y="57292"/>
                      <a:pt x="57292" y="61912"/>
                      <a:pt x="51594" y="61912"/>
                    </a:cubicBezTo>
                    <a:lnTo>
                      <a:pt x="10319" y="61912"/>
                    </a:lnTo>
                    <a:cubicBezTo>
                      <a:pt x="4620" y="61912"/>
                      <a:pt x="0" y="57292"/>
                      <a:pt x="0" y="51594"/>
                    </a:cubicBezTo>
                    <a:lnTo>
                      <a:pt x="0" y="10319"/>
                    </a:lnTo>
                  </a:path>
                </a:pathLst>
              </a:custGeom>
              <a:noFill/>
              <a:ln w="20637">
                <a:solidFill>
                  <a:srgbClr val="A8351D"/>
                </a:solidFill>
              </a:ln>
            </p:spPr>
          </p:sp>
        </p:grpSp>
        <p:sp>
          <p:nvSpPr>
            <p:cNvPr id="140" name="TextBox 140"/>
            <p:cNvSpPr txBox="1"/>
            <p:nvPr/>
          </p:nvSpPr>
          <p:spPr>
            <a:xfrm>
              <a:off x="5774880" y="6299597"/>
              <a:ext cx="642239"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场景化经营</a:t>
              </a:r>
            </a:p>
          </p:txBody>
        </p:sp>
        <p:sp>
          <p:nvSpPr>
            <p:cNvPr id="141" name="Line 141"/>
            <p:cNvSpPr/>
            <p:nvPr/>
          </p:nvSpPr>
          <p:spPr>
            <a:xfrm>
              <a:off x="7105650" y="6200775"/>
              <a:ext cx="342900" cy="1"/>
            </a:xfrm>
            <a:prstGeom prst="line">
              <a:avLst/>
            </a:prstGeom>
            <a:noFill/>
            <a:ln w="19050">
              <a:solidFill>
                <a:srgbClr val="D64A2E"/>
              </a:solidFill>
              <a:tailEnd type="triangle" w="lg" len="lg"/>
            </a:ln>
          </p:spPr>
        </p:sp>
        <p:sp>
          <p:nvSpPr>
            <p:cNvPr id="142" name="Rectangle 142"/>
            <p:cNvSpPr/>
            <p:nvPr/>
          </p:nvSpPr>
          <p:spPr>
            <a:xfrm>
              <a:off x="7524750" y="5810250"/>
              <a:ext cx="1905000" cy="781050"/>
            </a:xfrm>
            <a:prstGeom prst="roundRect">
              <a:avLst>
                <a:gd name="adj" fmla="val 9756"/>
              </a:avLst>
            </a:prstGeom>
            <a:solidFill>
              <a:srgbClr val="FFFFFF"/>
            </a:solidFill>
            <a:ln w="14288">
              <a:solidFill>
                <a:srgbClr val="D64A2E"/>
              </a:solidFill>
            </a:ln>
          </p:spPr>
        </p:sp>
        <p:grpSp>
          <p:nvGrpSpPr>
            <p:cNvPr id="148" name="Group 148"/>
            <p:cNvGrpSpPr/>
            <p:nvPr/>
          </p:nvGrpSpPr>
          <p:grpSpPr>
            <a:xfrm>
              <a:off x="8384381" y="5916023"/>
              <a:ext cx="185737" cy="187120"/>
              <a:chOff x="8384381" y="5916023"/>
              <a:chExt cx="185737" cy="187120"/>
            </a:xfrm>
          </p:grpSpPr>
          <p:sp>
            <p:nvSpPr>
              <p:cNvPr id="143" name="Freeform 143"/>
              <p:cNvSpPr/>
              <p:nvPr/>
            </p:nvSpPr>
            <p:spPr>
              <a:xfrm>
                <a:off x="8446293" y="5999956"/>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A8351D"/>
                </a:solidFill>
              </a:ln>
            </p:spPr>
          </p:sp>
          <p:sp>
            <p:nvSpPr>
              <p:cNvPr id="144" name="Freeform 144"/>
              <p:cNvSpPr/>
              <p:nvPr/>
            </p:nvSpPr>
            <p:spPr>
              <a:xfrm>
                <a:off x="8446293" y="6030912"/>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A8351D"/>
                </a:solidFill>
              </a:ln>
            </p:spPr>
          </p:sp>
          <p:sp>
            <p:nvSpPr>
              <p:cNvPr id="145" name="Freeform 145"/>
              <p:cNvSpPr/>
              <p:nvPr/>
            </p:nvSpPr>
            <p:spPr>
              <a:xfrm>
                <a:off x="8384381" y="5916023"/>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A8351D"/>
                </a:solidFill>
              </a:ln>
            </p:spPr>
          </p:sp>
          <p:sp>
            <p:nvSpPr>
              <p:cNvPr id="146" name="Freeform 146"/>
              <p:cNvSpPr/>
              <p:nvPr/>
            </p:nvSpPr>
            <p:spPr>
              <a:xfrm>
                <a:off x="8384381" y="5948362"/>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A8351D"/>
                </a:solidFill>
              </a:ln>
            </p:spPr>
          </p:sp>
          <p:sp>
            <p:nvSpPr>
              <p:cNvPr id="147" name="Freeform 147"/>
              <p:cNvSpPr/>
              <p:nvPr/>
            </p:nvSpPr>
            <p:spPr>
              <a:xfrm>
                <a:off x="8384381" y="5999956"/>
                <a:ext cx="20637" cy="20637"/>
              </a:xfrm>
              <a:custGeom>
                <a:avLst/>
                <a:gdLst/>
                <a:ahLst/>
                <a:cxnLst/>
                <a:rect l="l" t="t" r="r" b="b"/>
                <a:pathLst>
                  <a:path w="20637" h="20637">
                    <a:moveTo>
                      <a:pt x="0" y="0"/>
                    </a:moveTo>
                    <a:cubicBezTo>
                      <a:pt x="0" y="9163"/>
                      <a:pt x="7966" y="14962"/>
                      <a:pt x="20637" y="20637"/>
                    </a:cubicBezTo>
                  </a:path>
                </a:pathLst>
              </a:custGeom>
              <a:noFill/>
              <a:ln w="20637">
                <a:solidFill>
                  <a:srgbClr val="A8351D"/>
                </a:solidFill>
              </a:ln>
            </p:spPr>
          </p:sp>
        </p:grpSp>
        <p:sp>
          <p:nvSpPr>
            <p:cNvPr id="149" name="TextBox 149"/>
            <p:cNvSpPr txBox="1"/>
            <p:nvPr/>
          </p:nvSpPr>
          <p:spPr>
            <a:xfrm>
              <a:off x="8029588" y="6299597"/>
              <a:ext cx="895325"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财富与消费转化</a:t>
              </a:r>
            </a:p>
          </p:txBody>
        </p:sp>
        <p:sp>
          <p:nvSpPr>
            <p:cNvPr id="150" name="Line 150"/>
            <p:cNvSpPr/>
            <p:nvPr/>
          </p:nvSpPr>
          <p:spPr>
            <a:xfrm>
              <a:off x="9486900" y="6200775"/>
              <a:ext cx="342900" cy="1"/>
            </a:xfrm>
            <a:prstGeom prst="line">
              <a:avLst/>
            </a:prstGeom>
            <a:noFill/>
            <a:ln w="19050">
              <a:solidFill>
                <a:srgbClr val="D64A2E"/>
              </a:solidFill>
              <a:tailEnd type="triangle" w="lg" len="lg"/>
            </a:ln>
          </p:spPr>
        </p:sp>
        <p:sp>
          <p:nvSpPr>
            <p:cNvPr id="151" name="Rectangle 151"/>
            <p:cNvSpPr/>
            <p:nvPr/>
          </p:nvSpPr>
          <p:spPr>
            <a:xfrm>
              <a:off x="9906000" y="5810250"/>
              <a:ext cx="1905000" cy="781050"/>
            </a:xfrm>
            <a:prstGeom prst="roundRect">
              <a:avLst>
                <a:gd name="adj" fmla="val 9756"/>
              </a:avLst>
            </a:prstGeom>
            <a:solidFill>
              <a:srgbClr val="FFFFFF"/>
            </a:solidFill>
            <a:ln w="14288">
              <a:solidFill>
                <a:srgbClr val="D64A2E"/>
              </a:solidFill>
            </a:ln>
          </p:spPr>
        </p:sp>
        <p:grpSp>
          <p:nvGrpSpPr>
            <p:cNvPr id="154" name="Group 154"/>
            <p:cNvGrpSpPr/>
            <p:nvPr/>
          </p:nvGrpSpPr>
          <p:grpSpPr>
            <a:xfrm>
              <a:off x="10765631" y="5958681"/>
              <a:ext cx="185737" cy="103187"/>
              <a:chOff x="10765631" y="5958681"/>
              <a:chExt cx="185737" cy="103187"/>
            </a:xfrm>
          </p:grpSpPr>
          <p:sp>
            <p:nvSpPr>
              <p:cNvPr id="152" name="Freeform 152"/>
              <p:cNvSpPr/>
              <p:nvPr/>
            </p:nvSpPr>
            <p:spPr>
              <a:xfrm>
                <a:off x="10765631" y="5958681"/>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A8351D"/>
                </a:solidFill>
              </a:ln>
            </p:spPr>
          </p:sp>
          <p:sp>
            <p:nvSpPr>
              <p:cNvPr id="153" name="Freeform 153"/>
              <p:cNvSpPr/>
              <p:nvPr/>
            </p:nvSpPr>
            <p:spPr>
              <a:xfrm>
                <a:off x="10879137" y="5958681"/>
                <a:ext cx="72231" cy="72231"/>
              </a:xfrm>
              <a:custGeom>
                <a:avLst/>
                <a:gdLst/>
                <a:ahLst/>
                <a:cxnLst/>
                <a:rect l="l" t="t" r="r" b="b"/>
                <a:pathLst>
                  <a:path w="72231" h="72231">
                    <a:moveTo>
                      <a:pt x="0" y="0"/>
                    </a:moveTo>
                    <a:lnTo>
                      <a:pt x="72231" y="0"/>
                    </a:lnTo>
                    <a:lnTo>
                      <a:pt x="72231" y="72231"/>
                    </a:lnTo>
                  </a:path>
                </a:pathLst>
              </a:custGeom>
              <a:noFill/>
              <a:ln w="20637">
                <a:solidFill>
                  <a:srgbClr val="A8351D"/>
                </a:solidFill>
              </a:ln>
            </p:spPr>
          </p:sp>
        </p:grpSp>
        <p:sp>
          <p:nvSpPr>
            <p:cNvPr id="155" name="TextBox 155"/>
            <p:cNvSpPr txBox="1"/>
            <p:nvPr/>
          </p:nvSpPr>
          <p:spPr>
            <a:xfrm>
              <a:off x="10474109" y="6299597"/>
              <a:ext cx="768782"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综合收入提升</a:t>
              </a:r>
            </a:p>
          </p:txBody>
        </p:sp>
      </p:gr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02</a:t>
              </a:r>
            </a:p>
          </p:txBody>
        </p:sp>
        <p:sp>
          <p:nvSpPr>
            <p:cNvPr id="4" name="TextBox 4"/>
            <p:cNvSpPr txBox="1"/>
            <p:nvPr/>
          </p:nvSpPr>
          <p:spPr>
            <a:xfrm>
              <a:off x="904494" y="170498"/>
              <a:ext cx="7786116"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现状诊断｜公私联动难点不在产品，而在客户、数据与机制割裂</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48" name="panel-radar"/>
          <p:cNvGrpSpPr/>
          <p:nvPr/>
        </p:nvGrpSpPr>
        <p:grpSpPr>
          <a:xfrm>
            <a:off x="381000" y="704850"/>
            <a:ext cx="4857750" cy="3619500"/>
            <a:chOff x="381000" y="704850"/>
            <a:chExt cx="4857750" cy="3619500"/>
          </a:xfrm>
        </p:grpSpPr>
        <p:sp>
          <p:nvSpPr>
            <p:cNvPr id="7" name="Rectangle 7"/>
            <p:cNvSpPr/>
            <p:nvPr/>
          </p:nvSpPr>
          <p:spPr>
            <a:xfrm>
              <a:off x="381000" y="704850"/>
              <a:ext cx="4857750" cy="3619500"/>
            </a:xfrm>
            <a:prstGeom prst="roundRect">
              <a:avLst>
                <a:gd name="adj" fmla="val 2632"/>
              </a:avLst>
            </a:prstGeom>
            <a:solidFill>
              <a:srgbClr val="F9FBFE"/>
            </a:solidFill>
            <a:ln w="9525">
              <a:solidFill>
                <a:srgbClr val="C9D8EF"/>
              </a:solidFill>
            </a:ln>
          </p:spPr>
        </p:sp>
        <p:sp>
          <p:nvSpPr>
            <p:cNvPr id="8" name="Rectangle 8"/>
            <p:cNvSpPr/>
            <p:nvPr/>
          </p:nvSpPr>
          <p:spPr>
            <a:xfrm>
              <a:off x="1714500" y="819150"/>
              <a:ext cx="2190750" cy="285750"/>
            </a:xfrm>
            <a:prstGeom prst="roundRect">
              <a:avLst>
                <a:gd name="adj" fmla="val 13333"/>
              </a:avLst>
            </a:prstGeom>
            <a:gradFill>
              <a:gsLst>
                <a:gs pos="0">
                  <a:srgbClr val="AD3921"/>
                </a:gs>
                <a:gs pos="100000">
                  <a:srgbClr val="962C16"/>
                </a:gs>
              </a:gsLst>
              <a:lin ang="5400000" scaled="1"/>
            </a:gradFill>
            <a:ln>
              <a:noFill/>
            </a:ln>
          </p:spPr>
        </p:sp>
        <p:sp>
          <p:nvSpPr>
            <p:cNvPr id="9" name="TextBox 9"/>
            <p:cNvSpPr txBox="1"/>
            <p:nvPr/>
          </p:nvSpPr>
          <p:spPr>
            <a:xfrm>
              <a:off x="2290775" y="901779"/>
              <a:ext cx="1038200"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六维协同成熟度</a:t>
              </a:r>
            </a:p>
          </p:txBody>
        </p:sp>
        <p:sp>
          <p:nvSpPr>
            <p:cNvPr id="10" name="Line 10"/>
            <p:cNvSpPr/>
            <p:nvPr/>
          </p:nvSpPr>
          <p:spPr>
            <a:xfrm>
              <a:off x="2333625" y="1476375"/>
              <a:ext cx="9525" cy="1190625"/>
            </a:xfrm>
            <a:custGeom>
              <a:avLst/>
              <a:gdLst/>
              <a:ahLst/>
              <a:cxnLst/>
              <a:rect l="l" t="t" r="r" b="b"/>
              <a:pathLst>
                <a:path w="9525" h="1190625">
                  <a:moveTo>
                    <a:pt x="0" y="1190625"/>
                  </a:moveTo>
                  <a:lnTo>
                    <a:pt x="0" y="0"/>
                  </a:lnTo>
                </a:path>
              </a:pathLst>
            </a:custGeom>
            <a:noFill/>
            <a:ln w="9525">
              <a:solidFill>
                <a:srgbClr val="D9E4F2"/>
              </a:solidFill>
            </a:ln>
          </p:spPr>
        </p:sp>
        <p:sp>
          <p:nvSpPr>
            <p:cNvPr id="11" name="Line 11"/>
            <p:cNvSpPr/>
            <p:nvPr/>
          </p:nvSpPr>
          <p:spPr>
            <a:xfrm>
              <a:off x="2333625" y="2071688"/>
              <a:ext cx="1031081" cy="595312"/>
            </a:xfrm>
            <a:custGeom>
              <a:avLst/>
              <a:gdLst/>
              <a:ahLst/>
              <a:cxnLst/>
              <a:rect l="l" t="t" r="r" b="b"/>
              <a:pathLst>
                <a:path w="1031081" h="595312">
                  <a:moveTo>
                    <a:pt x="0" y="595312"/>
                  </a:moveTo>
                  <a:lnTo>
                    <a:pt x="1031081" y="0"/>
                  </a:lnTo>
                </a:path>
              </a:pathLst>
            </a:custGeom>
            <a:noFill/>
            <a:ln w="9525">
              <a:solidFill>
                <a:srgbClr val="D9E4F2"/>
              </a:solidFill>
            </a:ln>
          </p:spPr>
        </p:sp>
        <p:sp>
          <p:nvSpPr>
            <p:cNvPr id="12" name="Line 12"/>
            <p:cNvSpPr/>
            <p:nvPr/>
          </p:nvSpPr>
          <p:spPr>
            <a:xfrm>
              <a:off x="2333625" y="2667000"/>
              <a:ext cx="1031081" cy="595312"/>
            </a:xfrm>
            <a:custGeom>
              <a:avLst/>
              <a:gdLst/>
              <a:ahLst/>
              <a:cxnLst/>
              <a:rect l="l" t="t" r="r" b="b"/>
              <a:pathLst>
                <a:path w="1031081" h="595312">
                  <a:moveTo>
                    <a:pt x="0" y="0"/>
                  </a:moveTo>
                  <a:lnTo>
                    <a:pt x="1031081" y="595312"/>
                  </a:lnTo>
                </a:path>
              </a:pathLst>
            </a:custGeom>
            <a:noFill/>
            <a:ln w="9525">
              <a:solidFill>
                <a:srgbClr val="D9E4F2"/>
              </a:solidFill>
            </a:ln>
          </p:spPr>
        </p:sp>
        <p:sp>
          <p:nvSpPr>
            <p:cNvPr id="13" name="Line 13"/>
            <p:cNvSpPr/>
            <p:nvPr/>
          </p:nvSpPr>
          <p:spPr>
            <a:xfrm>
              <a:off x="2333625" y="2667000"/>
              <a:ext cx="9525" cy="1190625"/>
            </a:xfrm>
            <a:custGeom>
              <a:avLst/>
              <a:gdLst/>
              <a:ahLst/>
              <a:cxnLst/>
              <a:rect l="l" t="t" r="r" b="b"/>
              <a:pathLst>
                <a:path w="9525" h="1190625">
                  <a:moveTo>
                    <a:pt x="0" y="0"/>
                  </a:moveTo>
                  <a:lnTo>
                    <a:pt x="0" y="1190625"/>
                  </a:lnTo>
                </a:path>
              </a:pathLst>
            </a:custGeom>
            <a:noFill/>
            <a:ln w="9525">
              <a:solidFill>
                <a:srgbClr val="D9E4F2"/>
              </a:solidFill>
            </a:ln>
          </p:spPr>
        </p:sp>
        <p:sp>
          <p:nvSpPr>
            <p:cNvPr id="14" name="Line 14"/>
            <p:cNvSpPr/>
            <p:nvPr/>
          </p:nvSpPr>
          <p:spPr>
            <a:xfrm>
              <a:off x="1302544" y="2667000"/>
              <a:ext cx="1031081" cy="595312"/>
            </a:xfrm>
            <a:custGeom>
              <a:avLst/>
              <a:gdLst/>
              <a:ahLst/>
              <a:cxnLst/>
              <a:rect l="l" t="t" r="r" b="b"/>
              <a:pathLst>
                <a:path w="1031081" h="595312">
                  <a:moveTo>
                    <a:pt x="1031081" y="0"/>
                  </a:moveTo>
                  <a:lnTo>
                    <a:pt x="0" y="595312"/>
                  </a:lnTo>
                </a:path>
              </a:pathLst>
            </a:custGeom>
            <a:noFill/>
            <a:ln w="9525">
              <a:solidFill>
                <a:srgbClr val="D9E4F2"/>
              </a:solidFill>
            </a:ln>
          </p:spPr>
        </p:sp>
        <p:sp>
          <p:nvSpPr>
            <p:cNvPr id="15" name="Line 15"/>
            <p:cNvSpPr/>
            <p:nvPr/>
          </p:nvSpPr>
          <p:spPr>
            <a:xfrm>
              <a:off x="1302544" y="2071688"/>
              <a:ext cx="1031081" cy="595312"/>
            </a:xfrm>
            <a:custGeom>
              <a:avLst/>
              <a:gdLst/>
              <a:ahLst/>
              <a:cxnLst/>
              <a:rect l="l" t="t" r="r" b="b"/>
              <a:pathLst>
                <a:path w="1031081" h="595312">
                  <a:moveTo>
                    <a:pt x="1031081" y="595312"/>
                  </a:moveTo>
                  <a:lnTo>
                    <a:pt x="0" y="0"/>
                  </a:lnTo>
                </a:path>
              </a:pathLst>
            </a:custGeom>
            <a:noFill/>
            <a:ln w="9525">
              <a:solidFill>
                <a:srgbClr val="D9E4F2"/>
              </a:solidFill>
            </a:ln>
          </p:spPr>
        </p:sp>
        <p:sp>
          <p:nvSpPr>
            <p:cNvPr id="16" name="Polygon 16"/>
            <p:cNvSpPr/>
            <p:nvPr/>
          </p:nvSpPr>
          <p:spPr>
            <a:xfrm>
              <a:off x="1302544" y="1476375"/>
              <a:ext cx="2062162" cy="2381250"/>
            </a:xfrm>
            <a:custGeom>
              <a:avLst/>
              <a:gdLst/>
              <a:ahLst/>
              <a:cxnLst/>
              <a:rect l="l" t="t" r="r" b="b"/>
              <a:pathLst>
                <a:path w="2062162" h="2381250">
                  <a:moveTo>
                    <a:pt x="1031081" y="0"/>
                  </a:moveTo>
                  <a:lnTo>
                    <a:pt x="2062162" y="595312"/>
                  </a:lnTo>
                  <a:lnTo>
                    <a:pt x="2062162" y="1785938"/>
                  </a:lnTo>
                  <a:lnTo>
                    <a:pt x="1031081" y="2381250"/>
                  </a:lnTo>
                  <a:lnTo>
                    <a:pt x="0" y="1785938"/>
                  </a:lnTo>
                  <a:lnTo>
                    <a:pt x="0" y="595312"/>
                  </a:lnTo>
                  <a:close/>
                </a:path>
              </a:pathLst>
            </a:custGeom>
            <a:noFill/>
            <a:ln w="11430">
              <a:solidFill>
                <a:srgbClr val="C9D8EF"/>
              </a:solidFill>
            </a:ln>
          </p:spPr>
        </p:sp>
        <p:sp>
          <p:nvSpPr>
            <p:cNvPr id="17" name="Polygon 17"/>
            <p:cNvSpPr/>
            <p:nvPr/>
          </p:nvSpPr>
          <p:spPr>
            <a:xfrm>
              <a:off x="1560195" y="1774031"/>
              <a:ext cx="1546860" cy="1785938"/>
            </a:xfrm>
            <a:custGeom>
              <a:avLst/>
              <a:gdLst/>
              <a:ahLst/>
              <a:cxnLst/>
              <a:rect l="l" t="t" r="r" b="b"/>
              <a:pathLst>
                <a:path w="1546860" h="1785938">
                  <a:moveTo>
                    <a:pt x="773430" y="0"/>
                  </a:moveTo>
                  <a:lnTo>
                    <a:pt x="1546860" y="446246"/>
                  </a:lnTo>
                  <a:lnTo>
                    <a:pt x="1546860" y="1339691"/>
                  </a:lnTo>
                  <a:lnTo>
                    <a:pt x="773430" y="1785938"/>
                  </a:lnTo>
                  <a:lnTo>
                    <a:pt x="0" y="1339691"/>
                  </a:lnTo>
                  <a:lnTo>
                    <a:pt x="0" y="446246"/>
                  </a:lnTo>
                  <a:close/>
                </a:path>
              </a:pathLst>
            </a:custGeom>
            <a:noFill/>
            <a:ln w="9525">
              <a:solidFill>
                <a:srgbClr val="D9E4F2"/>
              </a:solidFill>
            </a:ln>
          </p:spPr>
        </p:sp>
        <p:sp>
          <p:nvSpPr>
            <p:cNvPr id="18" name="Polygon 18"/>
            <p:cNvSpPr/>
            <p:nvPr/>
          </p:nvSpPr>
          <p:spPr>
            <a:xfrm>
              <a:off x="1818322" y="2071688"/>
              <a:ext cx="1030605" cy="1190625"/>
            </a:xfrm>
            <a:custGeom>
              <a:avLst/>
              <a:gdLst/>
              <a:ahLst/>
              <a:cxnLst/>
              <a:rect l="l" t="t" r="r" b="b"/>
              <a:pathLst>
                <a:path w="1030605" h="1190625">
                  <a:moveTo>
                    <a:pt x="515302" y="0"/>
                  </a:moveTo>
                  <a:lnTo>
                    <a:pt x="1030605" y="297656"/>
                  </a:lnTo>
                  <a:lnTo>
                    <a:pt x="1030605" y="892969"/>
                  </a:lnTo>
                  <a:lnTo>
                    <a:pt x="515302" y="1190625"/>
                  </a:lnTo>
                  <a:lnTo>
                    <a:pt x="0" y="892969"/>
                  </a:lnTo>
                  <a:lnTo>
                    <a:pt x="0" y="297656"/>
                  </a:lnTo>
                  <a:close/>
                </a:path>
              </a:pathLst>
            </a:custGeom>
            <a:noFill/>
            <a:ln w="9525">
              <a:solidFill>
                <a:srgbClr val="D9E4F2"/>
              </a:solidFill>
            </a:ln>
          </p:spPr>
        </p:sp>
        <p:sp>
          <p:nvSpPr>
            <p:cNvPr id="19" name="Polygon 19"/>
            <p:cNvSpPr/>
            <p:nvPr/>
          </p:nvSpPr>
          <p:spPr>
            <a:xfrm>
              <a:off x="2075498" y="2369344"/>
              <a:ext cx="516255" cy="595312"/>
            </a:xfrm>
            <a:custGeom>
              <a:avLst/>
              <a:gdLst/>
              <a:ahLst/>
              <a:cxnLst/>
              <a:rect l="l" t="t" r="r" b="b"/>
              <a:pathLst>
                <a:path w="516255" h="595312">
                  <a:moveTo>
                    <a:pt x="258127" y="0"/>
                  </a:moveTo>
                  <a:lnTo>
                    <a:pt x="516255" y="149066"/>
                  </a:lnTo>
                  <a:lnTo>
                    <a:pt x="516255" y="446246"/>
                  </a:lnTo>
                  <a:lnTo>
                    <a:pt x="258127" y="595312"/>
                  </a:lnTo>
                  <a:lnTo>
                    <a:pt x="0" y="446246"/>
                  </a:lnTo>
                  <a:lnTo>
                    <a:pt x="0" y="149066"/>
                  </a:lnTo>
                  <a:close/>
                </a:path>
              </a:pathLst>
            </a:custGeom>
            <a:noFill/>
            <a:ln w="9525">
              <a:solidFill>
                <a:srgbClr val="E4EDF7"/>
              </a:solidFill>
            </a:ln>
          </p:spPr>
        </p:sp>
        <p:sp>
          <p:nvSpPr>
            <p:cNvPr id="20" name="TextBox 20"/>
            <p:cNvSpPr txBox="1"/>
            <p:nvPr/>
          </p:nvSpPr>
          <p:spPr>
            <a:xfrm>
              <a:off x="2395538" y="1437561"/>
              <a:ext cx="272371" cy="140494"/>
            </a:xfrm>
            <a:prstGeom prst="rect">
              <a:avLst/>
            </a:prstGeom>
            <a:noFill/>
            <a:ln>
              <a:noFill/>
            </a:ln>
          </p:spPr>
          <p:txBody>
            <a:bodyPr wrap="none" lIns="0" tIns="0" rIns="0" bIns="0" anchor="t" anchorCtr="0">
              <a:spAutoFit/>
            </a:bodyPr>
            <a:lstStyle/>
            <a:p>
              <a:pPr algn="l"/>
              <a:r>
                <a:rPr lang="zh-CN" sz="710" dirty="0">
                  <a:solidFill>
                    <a:srgbClr val="8A94A8"/>
                  </a:solidFill>
                  <a:latin typeface="+mn-lt"/>
                  <a:ea typeface="+mn-ea"/>
                  <a:cs typeface="+mn-cs"/>
                </a:rPr>
                <a:t>100​​</a:t>
              </a:r>
            </a:p>
          </p:txBody>
        </p:sp>
        <p:sp>
          <p:nvSpPr>
            <p:cNvPr id="21" name="TextBox 21"/>
            <p:cNvSpPr txBox="1"/>
            <p:nvPr/>
          </p:nvSpPr>
          <p:spPr>
            <a:xfrm>
              <a:off x="2395538" y="1732836"/>
              <a:ext cx="219801" cy="140494"/>
            </a:xfrm>
            <a:prstGeom prst="rect">
              <a:avLst/>
            </a:prstGeom>
            <a:noFill/>
            <a:ln>
              <a:noFill/>
            </a:ln>
          </p:spPr>
          <p:txBody>
            <a:bodyPr wrap="none" lIns="0" tIns="0" rIns="0" bIns="0" anchor="t" anchorCtr="0">
              <a:spAutoFit/>
            </a:bodyPr>
            <a:lstStyle/>
            <a:p>
              <a:pPr algn="l"/>
              <a:r>
                <a:rPr lang="zh-CN" sz="710" dirty="0">
                  <a:solidFill>
                    <a:srgbClr val="8A94A8"/>
                  </a:solidFill>
                  <a:latin typeface="+mn-lt"/>
                  <a:ea typeface="+mn-ea"/>
                  <a:cs typeface="+mn-cs"/>
                </a:rPr>
                <a:t>75​​</a:t>
              </a:r>
            </a:p>
          </p:txBody>
        </p:sp>
        <p:sp>
          <p:nvSpPr>
            <p:cNvPr id="22" name="TextBox 22"/>
            <p:cNvSpPr txBox="1"/>
            <p:nvPr/>
          </p:nvSpPr>
          <p:spPr>
            <a:xfrm>
              <a:off x="2395538" y="2028111"/>
              <a:ext cx="219801" cy="140494"/>
            </a:xfrm>
            <a:prstGeom prst="rect">
              <a:avLst/>
            </a:prstGeom>
            <a:noFill/>
            <a:ln>
              <a:noFill/>
            </a:ln>
          </p:spPr>
          <p:txBody>
            <a:bodyPr wrap="none" lIns="0" tIns="0" rIns="0" bIns="0" anchor="t" anchorCtr="0">
              <a:spAutoFit/>
            </a:bodyPr>
            <a:lstStyle/>
            <a:p>
              <a:pPr algn="l"/>
              <a:r>
                <a:rPr lang="zh-CN" sz="710" dirty="0">
                  <a:solidFill>
                    <a:srgbClr val="8A94A8"/>
                  </a:solidFill>
                  <a:latin typeface="+mn-lt"/>
                  <a:ea typeface="+mn-ea"/>
                  <a:cs typeface="+mn-cs"/>
                </a:rPr>
                <a:t>50​​</a:t>
              </a:r>
            </a:p>
          </p:txBody>
        </p:sp>
        <p:sp>
          <p:nvSpPr>
            <p:cNvPr id="23" name="TextBox 23"/>
            <p:cNvSpPr txBox="1"/>
            <p:nvPr/>
          </p:nvSpPr>
          <p:spPr>
            <a:xfrm>
              <a:off x="2395538" y="2323386"/>
              <a:ext cx="219801" cy="140494"/>
            </a:xfrm>
            <a:prstGeom prst="rect">
              <a:avLst/>
            </a:prstGeom>
            <a:noFill/>
            <a:ln>
              <a:noFill/>
            </a:ln>
          </p:spPr>
          <p:txBody>
            <a:bodyPr wrap="none" lIns="0" tIns="0" rIns="0" bIns="0" anchor="t" anchorCtr="0">
              <a:spAutoFit/>
            </a:bodyPr>
            <a:lstStyle/>
            <a:p>
              <a:pPr algn="l"/>
              <a:r>
                <a:rPr lang="zh-CN" sz="710" dirty="0">
                  <a:solidFill>
                    <a:srgbClr val="8A94A8"/>
                  </a:solidFill>
                  <a:latin typeface="+mn-lt"/>
                  <a:ea typeface="+mn-ea"/>
                  <a:cs typeface="+mn-cs"/>
                </a:rPr>
                <a:t>25​​</a:t>
              </a:r>
            </a:p>
          </p:txBody>
        </p:sp>
        <p:sp>
          <p:nvSpPr>
            <p:cNvPr id="24" name="Polygon 24"/>
            <p:cNvSpPr/>
            <p:nvPr/>
          </p:nvSpPr>
          <p:spPr>
            <a:xfrm>
              <a:off x="1487805" y="1654969"/>
              <a:ext cx="1670685" cy="2024062"/>
            </a:xfrm>
            <a:custGeom>
              <a:avLst/>
              <a:gdLst/>
              <a:ahLst/>
              <a:cxnLst/>
              <a:rect l="l" t="t" r="r" b="b"/>
              <a:pathLst>
                <a:path w="1670685" h="2024062">
                  <a:moveTo>
                    <a:pt x="845820" y="0"/>
                  </a:moveTo>
                  <a:lnTo>
                    <a:pt x="1670685" y="535781"/>
                  </a:lnTo>
                  <a:lnTo>
                    <a:pt x="1649730" y="1476375"/>
                  </a:lnTo>
                  <a:lnTo>
                    <a:pt x="845820" y="2024062"/>
                  </a:lnTo>
                  <a:lnTo>
                    <a:pt x="0" y="1500188"/>
                  </a:lnTo>
                  <a:lnTo>
                    <a:pt x="20955" y="535781"/>
                  </a:lnTo>
                  <a:close/>
                </a:path>
              </a:pathLst>
            </a:custGeom>
            <a:noFill/>
            <a:ln w="23812">
              <a:solidFill>
                <a:srgbClr val="A5280F"/>
              </a:solidFill>
            </a:ln>
          </p:spPr>
        </p:sp>
        <p:sp>
          <p:nvSpPr>
            <p:cNvPr id="25" name="Polygon 25"/>
            <p:cNvSpPr/>
            <p:nvPr/>
          </p:nvSpPr>
          <p:spPr>
            <a:xfrm>
              <a:off x="1797463" y="2012156"/>
              <a:ext cx="1030986" cy="1345406"/>
            </a:xfrm>
            <a:custGeom>
              <a:avLst/>
              <a:gdLst/>
              <a:ahLst/>
              <a:cxnLst/>
              <a:rect l="l" t="t" r="r" b="b"/>
              <a:pathLst>
                <a:path w="1030986" h="1345406">
                  <a:moveTo>
                    <a:pt x="536162" y="0"/>
                  </a:moveTo>
                  <a:lnTo>
                    <a:pt x="1030986" y="369094"/>
                  </a:lnTo>
                  <a:lnTo>
                    <a:pt x="969264" y="904875"/>
                  </a:lnTo>
                  <a:lnTo>
                    <a:pt x="536162" y="1345406"/>
                  </a:lnTo>
                  <a:lnTo>
                    <a:pt x="0" y="964406"/>
                  </a:lnTo>
                  <a:lnTo>
                    <a:pt x="72104" y="387001"/>
                  </a:lnTo>
                  <a:close/>
                </a:path>
              </a:pathLst>
            </a:custGeom>
            <a:solidFill>
              <a:srgbClr val="A8351D">
                <a:alpha val="22000"/>
              </a:srgbClr>
            </a:solidFill>
            <a:ln w="19050">
              <a:solidFill>
                <a:srgbClr val="A8351D"/>
              </a:solidFill>
            </a:ln>
          </p:spPr>
        </p:sp>
        <p:sp>
          <p:nvSpPr>
            <p:cNvPr id="26" name="Ellipse 26"/>
            <p:cNvSpPr/>
            <p:nvPr/>
          </p:nvSpPr>
          <p:spPr>
            <a:xfrm>
              <a:off x="2305050" y="1983581"/>
              <a:ext cx="57150" cy="57150"/>
            </a:xfrm>
            <a:prstGeom prst="ellipse">
              <a:avLst/>
            </a:prstGeom>
            <a:solidFill>
              <a:srgbClr val="A8351D"/>
            </a:solidFill>
            <a:ln>
              <a:noFill/>
            </a:ln>
          </p:spPr>
        </p:sp>
        <p:sp>
          <p:nvSpPr>
            <p:cNvPr id="27" name="Ellipse 27"/>
            <p:cNvSpPr/>
            <p:nvPr/>
          </p:nvSpPr>
          <p:spPr>
            <a:xfrm>
              <a:off x="2799874" y="2352675"/>
              <a:ext cx="57150" cy="57150"/>
            </a:xfrm>
            <a:prstGeom prst="ellipse">
              <a:avLst/>
            </a:prstGeom>
            <a:solidFill>
              <a:srgbClr val="A8351D"/>
            </a:solidFill>
            <a:ln>
              <a:noFill/>
            </a:ln>
          </p:spPr>
        </p:sp>
        <p:sp>
          <p:nvSpPr>
            <p:cNvPr id="28" name="Ellipse 28"/>
            <p:cNvSpPr/>
            <p:nvPr/>
          </p:nvSpPr>
          <p:spPr>
            <a:xfrm>
              <a:off x="2738152" y="2888456"/>
              <a:ext cx="57150" cy="57150"/>
            </a:xfrm>
            <a:prstGeom prst="ellipse">
              <a:avLst/>
            </a:prstGeom>
            <a:solidFill>
              <a:srgbClr val="A8351D"/>
            </a:solidFill>
            <a:ln>
              <a:noFill/>
            </a:ln>
          </p:spPr>
        </p:sp>
        <p:sp>
          <p:nvSpPr>
            <p:cNvPr id="29" name="Ellipse 29"/>
            <p:cNvSpPr/>
            <p:nvPr/>
          </p:nvSpPr>
          <p:spPr>
            <a:xfrm>
              <a:off x="2305050" y="3328988"/>
              <a:ext cx="57150" cy="57150"/>
            </a:xfrm>
            <a:prstGeom prst="ellipse">
              <a:avLst/>
            </a:prstGeom>
            <a:solidFill>
              <a:srgbClr val="A8351D"/>
            </a:solidFill>
            <a:ln>
              <a:noFill/>
            </a:ln>
          </p:spPr>
        </p:sp>
        <p:sp>
          <p:nvSpPr>
            <p:cNvPr id="30" name="Ellipse 30"/>
            <p:cNvSpPr/>
            <p:nvPr/>
          </p:nvSpPr>
          <p:spPr>
            <a:xfrm>
              <a:off x="1768888" y="2947988"/>
              <a:ext cx="57150" cy="57150"/>
            </a:xfrm>
            <a:prstGeom prst="ellipse">
              <a:avLst/>
            </a:prstGeom>
            <a:solidFill>
              <a:srgbClr val="A8351D"/>
            </a:solidFill>
            <a:ln>
              <a:noFill/>
            </a:ln>
          </p:spPr>
        </p:sp>
        <p:sp>
          <p:nvSpPr>
            <p:cNvPr id="31" name="Ellipse 31"/>
            <p:cNvSpPr/>
            <p:nvPr/>
          </p:nvSpPr>
          <p:spPr>
            <a:xfrm>
              <a:off x="1840992" y="2370582"/>
              <a:ext cx="57150" cy="57150"/>
            </a:xfrm>
            <a:prstGeom prst="ellipse">
              <a:avLst/>
            </a:prstGeom>
            <a:solidFill>
              <a:srgbClr val="A8351D"/>
            </a:solidFill>
            <a:ln>
              <a:noFill/>
            </a:ln>
          </p:spPr>
        </p:sp>
        <p:sp>
          <p:nvSpPr>
            <p:cNvPr id="32" name="Ellipse 32"/>
            <p:cNvSpPr/>
            <p:nvPr/>
          </p:nvSpPr>
          <p:spPr>
            <a:xfrm>
              <a:off x="2305050" y="1626394"/>
              <a:ext cx="57150" cy="57150"/>
            </a:xfrm>
            <a:prstGeom prst="ellipse">
              <a:avLst/>
            </a:prstGeom>
            <a:solidFill>
              <a:srgbClr val="A5280F"/>
            </a:solidFill>
            <a:ln>
              <a:noFill/>
            </a:ln>
          </p:spPr>
        </p:sp>
        <p:sp>
          <p:nvSpPr>
            <p:cNvPr id="33" name="Ellipse 33"/>
            <p:cNvSpPr/>
            <p:nvPr/>
          </p:nvSpPr>
          <p:spPr>
            <a:xfrm>
              <a:off x="3129915" y="2162175"/>
              <a:ext cx="57150" cy="57150"/>
            </a:xfrm>
            <a:prstGeom prst="ellipse">
              <a:avLst/>
            </a:prstGeom>
            <a:solidFill>
              <a:srgbClr val="A5280F"/>
            </a:solidFill>
            <a:ln>
              <a:noFill/>
            </a:ln>
          </p:spPr>
        </p:sp>
        <p:sp>
          <p:nvSpPr>
            <p:cNvPr id="34" name="Ellipse 34"/>
            <p:cNvSpPr/>
            <p:nvPr/>
          </p:nvSpPr>
          <p:spPr>
            <a:xfrm>
              <a:off x="3108960" y="3102769"/>
              <a:ext cx="57150" cy="57150"/>
            </a:xfrm>
            <a:prstGeom prst="ellipse">
              <a:avLst/>
            </a:prstGeom>
            <a:solidFill>
              <a:srgbClr val="A5280F"/>
            </a:solidFill>
            <a:ln>
              <a:noFill/>
            </a:ln>
          </p:spPr>
        </p:sp>
        <p:sp>
          <p:nvSpPr>
            <p:cNvPr id="35" name="Ellipse 35"/>
            <p:cNvSpPr/>
            <p:nvPr/>
          </p:nvSpPr>
          <p:spPr>
            <a:xfrm>
              <a:off x="2305050" y="3650456"/>
              <a:ext cx="57150" cy="57150"/>
            </a:xfrm>
            <a:prstGeom prst="ellipse">
              <a:avLst/>
            </a:prstGeom>
            <a:solidFill>
              <a:srgbClr val="A5280F"/>
            </a:solidFill>
            <a:ln>
              <a:noFill/>
            </a:ln>
          </p:spPr>
        </p:sp>
        <p:sp>
          <p:nvSpPr>
            <p:cNvPr id="36" name="Ellipse 36"/>
            <p:cNvSpPr/>
            <p:nvPr/>
          </p:nvSpPr>
          <p:spPr>
            <a:xfrm>
              <a:off x="1459230" y="3126581"/>
              <a:ext cx="57150" cy="57150"/>
            </a:xfrm>
            <a:prstGeom prst="ellipse">
              <a:avLst/>
            </a:prstGeom>
            <a:solidFill>
              <a:srgbClr val="A5280F"/>
            </a:solidFill>
            <a:ln>
              <a:noFill/>
            </a:ln>
          </p:spPr>
        </p:sp>
        <p:sp>
          <p:nvSpPr>
            <p:cNvPr id="37" name="Ellipse 37"/>
            <p:cNvSpPr/>
            <p:nvPr/>
          </p:nvSpPr>
          <p:spPr>
            <a:xfrm>
              <a:off x="1480185" y="2162175"/>
              <a:ext cx="57150" cy="57150"/>
            </a:xfrm>
            <a:prstGeom prst="ellipse">
              <a:avLst/>
            </a:prstGeom>
            <a:solidFill>
              <a:srgbClr val="A5280F"/>
            </a:solidFill>
            <a:ln>
              <a:noFill/>
            </a:ln>
          </p:spPr>
        </p:sp>
        <p:sp>
          <p:nvSpPr>
            <p:cNvPr id="38" name="TextBox 38"/>
            <p:cNvSpPr txBox="1"/>
            <p:nvPr/>
          </p:nvSpPr>
          <p:spPr>
            <a:xfrm>
              <a:off x="2097316" y="1259443"/>
              <a:ext cx="472618"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组织协同</a:t>
              </a:r>
            </a:p>
          </p:txBody>
        </p:sp>
        <p:sp>
          <p:nvSpPr>
            <p:cNvPr id="39" name="TextBox 39"/>
            <p:cNvSpPr txBox="1"/>
            <p:nvPr/>
          </p:nvSpPr>
          <p:spPr>
            <a:xfrm>
              <a:off x="3443288" y="1945243"/>
              <a:ext cx="472618" cy="169069"/>
            </a:xfrm>
            <a:prstGeom prst="rect">
              <a:avLst/>
            </a:prstGeom>
            <a:noFill/>
            <a:ln>
              <a:noFill/>
            </a:ln>
          </p:spPr>
          <p:txBody>
            <a:bodyPr wrap="none" lIns="0" tIns="0" rIns="0" bIns="0" anchor="t" anchorCtr="0">
              <a:spAutoFit/>
            </a:bodyPr>
            <a:lstStyle/>
            <a:p>
              <a:pPr algn="l"/>
              <a:r>
                <a:rPr lang="zh-CN" sz="860" b="1" dirty="0">
                  <a:solidFill>
                    <a:srgbClr val="67281B"/>
                  </a:solidFill>
                  <a:latin typeface="+mn-lt"/>
                  <a:ea typeface="+mn-ea"/>
                  <a:cs typeface="+mn-cs"/>
                </a:rPr>
                <a:t>客户经营</a:t>
              </a:r>
            </a:p>
          </p:txBody>
        </p:sp>
        <p:sp>
          <p:nvSpPr>
            <p:cNvPr id="40" name="TextBox 40"/>
            <p:cNvSpPr txBox="1"/>
            <p:nvPr/>
          </p:nvSpPr>
          <p:spPr>
            <a:xfrm>
              <a:off x="3443288" y="3259693"/>
              <a:ext cx="472618" cy="169069"/>
            </a:xfrm>
            <a:prstGeom prst="rect">
              <a:avLst/>
            </a:prstGeom>
            <a:noFill/>
            <a:ln>
              <a:noFill/>
            </a:ln>
          </p:spPr>
          <p:txBody>
            <a:bodyPr wrap="none" lIns="0" tIns="0" rIns="0" bIns="0" anchor="t" anchorCtr="0">
              <a:spAutoFit/>
            </a:bodyPr>
            <a:lstStyle/>
            <a:p>
              <a:pPr algn="l"/>
              <a:r>
                <a:rPr lang="zh-CN" sz="860" b="1" dirty="0">
                  <a:solidFill>
                    <a:srgbClr val="67281B"/>
                  </a:solidFill>
                  <a:latin typeface="+mn-lt"/>
                  <a:ea typeface="+mn-ea"/>
                  <a:cs typeface="+mn-cs"/>
                </a:rPr>
                <a:t>数据贯通</a:t>
              </a:r>
            </a:p>
          </p:txBody>
        </p:sp>
        <p:sp>
          <p:nvSpPr>
            <p:cNvPr id="41" name="TextBox 41"/>
            <p:cNvSpPr txBox="1"/>
            <p:nvPr/>
          </p:nvSpPr>
          <p:spPr>
            <a:xfrm>
              <a:off x="2097316" y="3955018"/>
              <a:ext cx="472618"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产品组合</a:t>
              </a:r>
            </a:p>
          </p:txBody>
        </p:sp>
        <p:sp>
          <p:nvSpPr>
            <p:cNvPr id="42" name="TextBox 42"/>
            <p:cNvSpPr txBox="1"/>
            <p:nvPr/>
          </p:nvSpPr>
          <p:spPr>
            <a:xfrm>
              <a:off x="751345" y="3259693"/>
              <a:ext cx="472618" cy="169069"/>
            </a:xfrm>
            <a:prstGeom prst="rect">
              <a:avLst/>
            </a:prstGeom>
            <a:noFill/>
            <a:ln>
              <a:noFill/>
            </a:ln>
          </p:spPr>
          <p:txBody>
            <a:bodyPr wrap="none" lIns="0" tIns="0" rIns="0" bIns="0" anchor="t" anchorCtr="0">
              <a:spAutoFit/>
            </a:bodyPr>
            <a:lstStyle/>
            <a:p>
              <a:pPr algn="r"/>
              <a:r>
                <a:rPr lang="zh-CN" sz="860" b="1" dirty="0">
                  <a:solidFill>
                    <a:srgbClr val="67281B"/>
                  </a:solidFill>
                  <a:latin typeface="+mn-lt"/>
                  <a:ea typeface="+mn-ea"/>
                  <a:cs typeface="+mn-cs"/>
                </a:rPr>
                <a:t>流程效率</a:t>
              </a:r>
            </a:p>
          </p:txBody>
        </p:sp>
        <p:sp>
          <p:nvSpPr>
            <p:cNvPr id="43" name="TextBox 43"/>
            <p:cNvSpPr txBox="1"/>
            <p:nvPr/>
          </p:nvSpPr>
          <p:spPr>
            <a:xfrm>
              <a:off x="751345" y="1945243"/>
              <a:ext cx="472618" cy="169069"/>
            </a:xfrm>
            <a:prstGeom prst="rect">
              <a:avLst/>
            </a:prstGeom>
            <a:noFill/>
            <a:ln>
              <a:noFill/>
            </a:ln>
          </p:spPr>
          <p:txBody>
            <a:bodyPr wrap="none" lIns="0" tIns="0" rIns="0" bIns="0" anchor="t" anchorCtr="0">
              <a:spAutoFit/>
            </a:bodyPr>
            <a:lstStyle/>
            <a:p>
              <a:pPr algn="r"/>
              <a:r>
                <a:rPr lang="zh-CN" sz="860" b="1" dirty="0">
                  <a:solidFill>
                    <a:srgbClr val="67281B"/>
                  </a:solidFill>
                  <a:latin typeface="+mn-lt"/>
                  <a:ea typeface="+mn-ea"/>
                  <a:cs typeface="+mn-cs"/>
                </a:rPr>
                <a:t>激励机制</a:t>
              </a:r>
            </a:p>
          </p:txBody>
        </p:sp>
        <p:sp>
          <p:nvSpPr>
            <p:cNvPr id="44" name="Line 44"/>
            <p:cNvSpPr/>
            <p:nvPr/>
          </p:nvSpPr>
          <p:spPr>
            <a:xfrm>
              <a:off x="4000500" y="2838450"/>
              <a:ext cx="285750" cy="9525"/>
            </a:xfrm>
            <a:custGeom>
              <a:avLst/>
              <a:gdLst/>
              <a:ahLst/>
              <a:cxnLst/>
              <a:rect l="l" t="t" r="r" b="b"/>
              <a:pathLst>
                <a:path w="285750" h="9525">
                  <a:moveTo>
                    <a:pt x="0" y="0"/>
                  </a:moveTo>
                  <a:lnTo>
                    <a:pt x="285750" y="0"/>
                  </a:lnTo>
                </a:path>
              </a:pathLst>
            </a:custGeom>
            <a:noFill/>
            <a:ln w="23812">
              <a:solidFill>
                <a:srgbClr val="A8351D"/>
              </a:solidFill>
            </a:ln>
          </p:spPr>
        </p:sp>
        <p:sp>
          <p:nvSpPr>
            <p:cNvPr id="45" name="TextBox 45"/>
            <p:cNvSpPr txBox="1"/>
            <p:nvPr/>
          </p:nvSpPr>
          <p:spPr>
            <a:xfrm>
              <a:off x="4357688" y="2791539"/>
              <a:ext cx="222225" cy="154781"/>
            </a:xfrm>
            <a:prstGeom prst="rect">
              <a:avLst/>
            </a:prstGeom>
            <a:noFill/>
            <a:ln>
              <a:noFill/>
            </a:ln>
          </p:spPr>
          <p:txBody>
            <a:bodyPr wrap="none" lIns="0" tIns="0" rIns="0" bIns="0" anchor="t" anchorCtr="0">
              <a:spAutoFit/>
            </a:bodyPr>
            <a:lstStyle/>
            <a:p>
              <a:pPr algn="l"/>
              <a:r>
                <a:rPr lang="zh-CN" sz="790" dirty="0">
                  <a:solidFill>
                    <a:srgbClr val="5A443F"/>
                  </a:solidFill>
                  <a:latin typeface="+mn-lt"/>
                  <a:ea typeface="+mn-ea"/>
                  <a:cs typeface="+mn-cs"/>
                </a:rPr>
                <a:t>当前</a:t>
              </a:r>
            </a:p>
          </p:txBody>
        </p:sp>
        <p:sp>
          <p:nvSpPr>
            <p:cNvPr id="46" name="Line 46"/>
            <p:cNvSpPr/>
            <p:nvPr/>
          </p:nvSpPr>
          <p:spPr>
            <a:xfrm>
              <a:off x="4000500" y="3067050"/>
              <a:ext cx="285750" cy="9525"/>
            </a:xfrm>
            <a:custGeom>
              <a:avLst/>
              <a:gdLst/>
              <a:ahLst/>
              <a:cxnLst/>
              <a:rect l="l" t="t" r="r" b="b"/>
              <a:pathLst>
                <a:path w="285750" h="9525">
                  <a:moveTo>
                    <a:pt x="0" y="0"/>
                  </a:moveTo>
                  <a:lnTo>
                    <a:pt x="285750" y="0"/>
                  </a:lnTo>
                </a:path>
              </a:pathLst>
            </a:custGeom>
            <a:noFill/>
            <a:ln w="23812">
              <a:solidFill>
                <a:srgbClr val="A5280F"/>
              </a:solidFill>
            </a:ln>
          </p:spPr>
        </p:sp>
        <p:sp>
          <p:nvSpPr>
            <p:cNvPr id="47" name="TextBox 47"/>
            <p:cNvSpPr txBox="1"/>
            <p:nvPr/>
          </p:nvSpPr>
          <p:spPr>
            <a:xfrm>
              <a:off x="4357688" y="3020139"/>
              <a:ext cx="222225" cy="154781"/>
            </a:xfrm>
            <a:prstGeom prst="rect">
              <a:avLst/>
            </a:prstGeom>
            <a:noFill/>
            <a:ln>
              <a:noFill/>
            </a:ln>
          </p:spPr>
          <p:txBody>
            <a:bodyPr wrap="none" lIns="0" tIns="0" rIns="0" bIns="0" anchor="t" anchorCtr="0">
              <a:spAutoFit/>
            </a:bodyPr>
            <a:lstStyle/>
            <a:p>
              <a:pPr algn="l"/>
              <a:r>
                <a:rPr lang="zh-CN" sz="790" dirty="0">
                  <a:solidFill>
                    <a:srgbClr val="5A443F"/>
                  </a:solidFill>
                  <a:latin typeface="+mn-lt"/>
                  <a:ea typeface="+mn-ea"/>
                  <a:cs typeface="+mn-cs"/>
                </a:rPr>
                <a:t>目标</a:t>
              </a:r>
            </a:p>
          </p:txBody>
        </p:sp>
      </p:grpSp>
      <p:grpSp>
        <p:nvGrpSpPr>
          <p:cNvPr id="105" name="panel-org"/>
          <p:cNvGrpSpPr/>
          <p:nvPr/>
        </p:nvGrpSpPr>
        <p:grpSpPr>
          <a:xfrm>
            <a:off x="5391150" y="704850"/>
            <a:ext cx="6419850" cy="3619500"/>
            <a:chOff x="5391150" y="704850"/>
            <a:chExt cx="6419850" cy="3619500"/>
          </a:xfrm>
        </p:grpSpPr>
        <p:sp>
          <p:nvSpPr>
            <p:cNvPr id="49" name="Rectangle 49"/>
            <p:cNvSpPr/>
            <p:nvPr/>
          </p:nvSpPr>
          <p:spPr>
            <a:xfrm>
              <a:off x="5391150" y="704850"/>
              <a:ext cx="6419850" cy="3619500"/>
            </a:xfrm>
            <a:prstGeom prst="roundRect">
              <a:avLst>
                <a:gd name="adj" fmla="val 2632"/>
              </a:avLst>
            </a:prstGeom>
            <a:solidFill>
              <a:srgbClr val="F9FBFE"/>
            </a:solidFill>
            <a:ln w="9525">
              <a:solidFill>
                <a:srgbClr val="C9D8EF"/>
              </a:solidFill>
            </a:ln>
          </p:spPr>
        </p:sp>
        <p:sp>
          <p:nvSpPr>
            <p:cNvPr id="50" name="Rectangle 50"/>
            <p:cNvSpPr/>
            <p:nvPr/>
          </p:nvSpPr>
          <p:spPr>
            <a:xfrm>
              <a:off x="7505700" y="819150"/>
              <a:ext cx="2190750" cy="285750"/>
            </a:xfrm>
            <a:prstGeom prst="roundRect">
              <a:avLst>
                <a:gd name="adj" fmla="val 13333"/>
              </a:avLst>
            </a:prstGeom>
            <a:gradFill>
              <a:gsLst>
                <a:gs pos="0">
                  <a:srgbClr val="AD3921"/>
                </a:gs>
                <a:gs pos="100000">
                  <a:srgbClr val="962C16"/>
                </a:gs>
              </a:gsLst>
              <a:lin ang="5400000" scaled="1"/>
            </a:gradFill>
            <a:ln>
              <a:noFill/>
            </a:ln>
          </p:spPr>
        </p:sp>
        <p:sp>
          <p:nvSpPr>
            <p:cNvPr id="51" name="TextBox 51"/>
            <p:cNvSpPr txBox="1"/>
            <p:nvPr/>
          </p:nvSpPr>
          <p:spPr>
            <a:xfrm>
              <a:off x="8008607" y="901779"/>
              <a:ext cx="1184935"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四级机构问题穿透</a:t>
              </a:r>
            </a:p>
          </p:txBody>
        </p:sp>
        <p:sp>
          <p:nvSpPr>
            <p:cNvPr id="52" name="Rectangle 52"/>
            <p:cNvSpPr/>
            <p:nvPr/>
          </p:nvSpPr>
          <p:spPr>
            <a:xfrm>
              <a:off x="5581650" y="1219200"/>
              <a:ext cx="6038850" cy="704850"/>
            </a:xfrm>
            <a:prstGeom prst="roundRect">
              <a:avLst>
                <a:gd name="adj" fmla="val 10811"/>
              </a:avLst>
            </a:prstGeom>
            <a:solidFill>
              <a:srgbClr val="FFFFFF"/>
            </a:solidFill>
            <a:ln w="9525">
              <a:solidFill>
                <a:srgbClr val="C9D8EF"/>
              </a:solidFill>
            </a:ln>
          </p:spPr>
        </p:sp>
        <p:sp>
          <p:nvSpPr>
            <p:cNvPr id="53" name="Rectangle 53"/>
            <p:cNvSpPr/>
            <p:nvPr/>
          </p:nvSpPr>
          <p:spPr>
            <a:xfrm>
              <a:off x="5734050" y="1362075"/>
              <a:ext cx="419100" cy="419100"/>
            </a:xfrm>
            <a:prstGeom prst="roundRect">
              <a:avLst>
                <a:gd name="adj" fmla="val 18182"/>
              </a:avLst>
            </a:prstGeom>
            <a:gradFill>
              <a:gsLst>
                <a:gs pos="0">
                  <a:srgbClr val="AD3921"/>
                </a:gs>
                <a:gs pos="100000">
                  <a:srgbClr val="9E311B"/>
                </a:gs>
              </a:gsLst>
              <a:lin ang="5400000" scaled="1"/>
            </a:gradFill>
            <a:ln>
              <a:noFill/>
            </a:ln>
          </p:spPr>
        </p:sp>
        <p:grpSp>
          <p:nvGrpSpPr>
            <p:cNvPr id="62" name="Group 62"/>
            <p:cNvGrpSpPr/>
            <p:nvPr/>
          </p:nvGrpSpPr>
          <p:grpSpPr>
            <a:xfrm>
              <a:off x="5850731" y="1478756"/>
              <a:ext cx="185737" cy="195262"/>
              <a:chOff x="5850731" y="1478756"/>
              <a:chExt cx="185737" cy="195262"/>
            </a:xfrm>
          </p:grpSpPr>
          <p:sp>
            <p:nvSpPr>
              <p:cNvPr id="54" name="Freeform 54"/>
              <p:cNvSpPr/>
              <p:nvPr/>
            </p:nvSpPr>
            <p:spPr>
              <a:xfrm>
                <a:off x="5850731" y="1664493"/>
                <a:ext cx="185737" cy="9525"/>
              </a:xfrm>
              <a:custGeom>
                <a:avLst/>
                <a:gdLst/>
                <a:ahLst/>
                <a:cxnLst/>
                <a:rect l="l" t="t" r="r" b="b"/>
                <a:pathLst>
                  <a:path w="185737" h="9525">
                    <a:moveTo>
                      <a:pt x="0" y="0"/>
                    </a:moveTo>
                    <a:lnTo>
                      <a:pt x="185737" y="0"/>
                    </a:lnTo>
                  </a:path>
                </a:pathLst>
              </a:custGeom>
              <a:noFill/>
              <a:ln w="20637">
                <a:solidFill>
                  <a:srgbClr val="FFFFFF"/>
                </a:solidFill>
              </a:ln>
            </p:spPr>
          </p:sp>
          <p:sp>
            <p:nvSpPr>
              <p:cNvPr id="55" name="Freeform 55"/>
              <p:cNvSpPr/>
              <p:nvPr/>
            </p:nvSpPr>
            <p:spPr>
              <a:xfrm>
                <a:off x="5850731" y="1550987"/>
                <a:ext cx="185737" cy="9525"/>
              </a:xfrm>
              <a:custGeom>
                <a:avLst/>
                <a:gdLst/>
                <a:ahLst/>
                <a:cxnLst/>
                <a:rect l="l" t="t" r="r" b="b"/>
                <a:pathLst>
                  <a:path w="185737" h="9525">
                    <a:moveTo>
                      <a:pt x="0" y="0"/>
                    </a:moveTo>
                    <a:lnTo>
                      <a:pt x="185737" y="0"/>
                    </a:lnTo>
                  </a:path>
                </a:pathLst>
              </a:custGeom>
              <a:noFill/>
              <a:ln w="20637">
                <a:solidFill>
                  <a:srgbClr val="FFFFFF"/>
                </a:solidFill>
              </a:ln>
            </p:spPr>
          </p:sp>
          <p:sp>
            <p:nvSpPr>
              <p:cNvPr id="56" name="Freeform 56"/>
              <p:cNvSpPr/>
              <p:nvPr/>
            </p:nvSpPr>
            <p:spPr>
              <a:xfrm>
                <a:off x="5871369" y="1478756"/>
                <a:ext cx="144462" cy="30956"/>
              </a:xfrm>
              <a:custGeom>
                <a:avLst/>
                <a:gdLst/>
                <a:ahLst/>
                <a:cxnLst/>
                <a:rect l="l" t="t" r="r" b="b"/>
                <a:pathLst>
                  <a:path w="144462" h="30956">
                    <a:moveTo>
                      <a:pt x="0" y="30956"/>
                    </a:moveTo>
                    <a:lnTo>
                      <a:pt x="72231" y="0"/>
                    </a:lnTo>
                    <a:lnTo>
                      <a:pt x="144462" y="30956"/>
                    </a:lnTo>
                  </a:path>
                </a:pathLst>
              </a:custGeom>
              <a:noFill/>
              <a:ln w="20637">
                <a:solidFill>
                  <a:srgbClr val="FFFFFF"/>
                </a:solidFill>
              </a:ln>
            </p:spPr>
          </p:sp>
          <p:sp>
            <p:nvSpPr>
              <p:cNvPr id="57" name="Freeform 57"/>
              <p:cNvSpPr/>
              <p:nvPr/>
            </p:nvSpPr>
            <p:spPr>
              <a:xfrm>
                <a:off x="5861050" y="1550987"/>
                <a:ext cx="9525" cy="113506"/>
              </a:xfrm>
              <a:custGeom>
                <a:avLst/>
                <a:gdLst/>
                <a:ahLst/>
                <a:cxnLst/>
                <a:rect l="l" t="t" r="r" b="b"/>
                <a:pathLst>
                  <a:path w="9525" h="113506">
                    <a:moveTo>
                      <a:pt x="0" y="0"/>
                    </a:moveTo>
                    <a:lnTo>
                      <a:pt x="0" y="113506"/>
                    </a:lnTo>
                  </a:path>
                </a:pathLst>
              </a:custGeom>
              <a:noFill/>
              <a:ln w="20637">
                <a:solidFill>
                  <a:srgbClr val="FFFFFF"/>
                </a:solidFill>
              </a:ln>
            </p:spPr>
          </p:sp>
          <p:sp>
            <p:nvSpPr>
              <p:cNvPr id="58" name="Freeform 58"/>
              <p:cNvSpPr/>
              <p:nvPr/>
            </p:nvSpPr>
            <p:spPr>
              <a:xfrm>
                <a:off x="6026149" y="1550987"/>
                <a:ext cx="9525" cy="113506"/>
              </a:xfrm>
              <a:custGeom>
                <a:avLst/>
                <a:gdLst/>
                <a:ahLst/>
                <a:cxnLst/>
                <a:rect l="l" t="t" r="r" b="b"/>
                <a:pathLst>
                  <a:path w="9525" h="113506">
                    <a:moveTo>
                      <a:pt x="0" y="0"/>
                    </a:moveTo>
                    <a:lnTo>
                      <a:pt x="0" y="113506"/>
                    </a:lnTo>
                  </a:path>
                </a:pathLst>
              </a:custGeom>
              <a:noFill/>
              <a:ln w="20637">
                <a:solidFill>
                  <a:srgbClr val="FFFFFF"/>
                </a:solidFill>
              </a:ln>
            </p:spPr>
          </p:sp>
          <p:sp>
            <p:nvSpPr>
              <p:cNvPr id="59" name="Freeform 59"/>
              <p:cNvSpPr/>
              <p:nvPr/>
            </p:nvSpPr>
            <p:spPr>
              <a:xfrm>
                <a:off x="5902325" y="1592262"/>
                <a:ext cx="9525" cy="30956"/>
              </a:xfrm>
              <a:custGeom>
                <a:avLst/>
                <a:gdLst/>
                <a:ahLst/>
                <a:cxnLst/>
                <a:rect l="l" t="t" r="r" b="b"/>
                <a:pathLst>
                  <a:path w="9525" h="30956">
                    <a:moveTo>
                      <a:pt x="0" y="0"/>
                    </a:moveTo>
                    <a:lnTo>
                      <a:pt x="0" y="30956"/>
                    </a:lnTo>
                  </a:path>
                </a:pathLst>
              </a:custGeom>
              <a:noFill/>
              <a:ln w="20637">
                <a:solidFill>
                  <a:srgbClr val="FFFFFF"/>
                </a:solidFill>
              </a:ln>
            </p:spPr>
          </p:sp>
          <p:sp>
            <p:nvSpPr>
              <p:cNvPr id="60" name="Freeform 60"/>
              <p:cNvSpPr/>
              <p:nvPr/>
            </p:nvSpPr>
            <p:spPr>
              <a:xfrm>
                <a:off x="5943600" y="1592262"/>
                <a:ext cx="9525" cy="30956"/>
              </a:xfrm>
              <a:custGeom>
                <a:avLst/>
                <a:gdLst/>
                <a:ahLst/>
                <a:cxnLst/>
                <a:rect l="l" t="t" r="r" b="b"/>
                <a:pathLst>
                  <a:path w="9525" h="30956">
                    <a:moveTo>
                      <a:pt x="0" y="0"/>
                    </a:moveTo>
                    <a:lnTo>
                      <a:pt x="0" y="30956"/>
                    </a:lnTo>
                  </a:path>
                </a:pathLst>
              </a:custGeom>
              <a:noFill/>
              <a:ln w="20637">
                <a:solidFill>
                  <a:srgbClr val="FFFFFF"/>
                </a:solidFill>
              </a:ln>
            </p:spPr>
          </p:sp>
          <p:sp>
            <p:nvSpPr>
              <p:cNvPr id="61" name="Freeform 61"/>
              <p:cNvSpPr/>
              <p:nvPr/>
            </p:nvSpPr>
            <p:spPr>
              <a:xfrm>
                <a:off x="5984874" y="1592262"/>
                <a:ext cx="9525" cy="30956"/>
              </a:xfrm>
              <a:custGeom>
                <a:avLst/>
                <a:gdLst/>
                <a:ahLst/>
                <a:cxnLst/>
                <a:rect l="l" t="t" r="r" b="b"/>
                <a:pathLst>
                  <a:path w="9525" h="30956">
                    <a:moveTo>
                      <a:pt x="0" y="0"/>
                    </a:moveTo>
                    <a:lnTo>
                      <a:pt x="0" y="30956"/>
                    </a:lnTo>
                  </a:path>
                </a:pathLst>
              </a:custGeom>
              <a:noFill/>
              <a:ln w="20637">
                <a:solidFill>
                  <a:srgbClr val="FFFFFF"/>
                </a:solidFill>
              </a:ln>
            </p:spPr>
          </p:sp>
        </p:grpSp>
        <p:sp>
          <p:nvSpPr>
            <p:cNvPr id="63" name="TextBox 63"/>
            <p:cNvSpPr txBox="1"/>
            <p:nvPr/>
          </p:nvSpPr>
          <p:spPr>
            <a:xfrm>
              <a:off x="6337935" y="1516856"/>
              <a:ext cx="916076" cy="220028"/>
            </a:xfrm>
            <a:prstGeom prst="rect">
              <a:avLst/>
            </a:prstGeom>
            <a:noFill/>
            <a:ln>
              <a:noFill/>
            </a:ln>
          </p:spPr>
          <p:txBody>
            <a:bodyPr wrap="none" lIns="0" tIns="0" rIns="0" bIns="0" anchor="t" anchorCtr="0">
              <a:spAutoFit/>
            </a:bodyPr>
            <a:lstStyle/>
            <a:p>
              <a:pPr algn="l"/>
              <a:r>
                <a:rPr lang="zh-CN" sz="1120" b="1" dirty="0">
                  <a:solidFill>
                    <a:srgbClr val="A8351D"/>
                  </a:solidFill>
                  <a:latin typeface="+mn-lt"/>
                  <a:ea typeface="+mn-ea"/>
                  <a:cs typeface="+mn-cs"/>
                </a:rPr>
                <a:t>总行｜缺规则</a:t>
              </a:r>
            </a:p>
          </p:txBody>
        </p:sp>
        <p:sp>
          <p:nvSpPr>
            <p:cNvPr id="64" name="Line 64"/>
            <p:cNvSpPr/>
            <p:nvPr/>
          </p:nvSpPr>
          <p:spPr>
            <a:xfrm>
              <a:off x="7810500" y="1352550"/>
              <a:ext cx="9525" cy="438150"/>
            </a:xfrm>
            <a:custGeom>
              <a:avLst/>
              <a:gdLst/>
              <a:ahLst/>
              <a:cxnLst/>
              <a:rect l="l" t="t" r="r" b="b"/>
              <a:pathLst>
                <a:path w="9525" h="438150">
                  <a:moveTo>
                    <a:pt x="0" y="0"/>
                  </a:moveTo>
                  <a:lnTo>
                    <a:pt x="0" y="438150"/>
                  </a:lnTo>
                </a:path>
              </a:pathLst>
            </a:custGeom>
            <a:noFill/>
            <a:ln w="14288">
              <a:solidFill>
                <a:srgbClr val="D9E4F2"/>
              </a:solidFill>
            </a:ln>
          </p:spPr>
        </p:sp>
        <p:sp>
          <p:nvSpPr>
            <p:cNvPr id="65" name="TextBox 65"/>
            <p:cNvSpPr txBox="1"/>
            <p:nvPr/>
          </p:nvSpPr>
          <p:spPr>
            <a:xfrm>
              <a:off x="8034338" y="1537097"/>
              <a:ext cx="1274953" cy="183356"/>
            </a:xfrm>
            <a:prstGeom prst="rect">
              <a:avLst/>
            </a:prstGeom>
            <a:noFill/>
            <a:ln>
              <a:noFill/>
            </a:ln>
          </p:spPr>
          <p:txBody>
            <a:bodyPr wrap="none" lIns="0" tIns="0" rIns="0" bIns="0" anchor="t" anchorCtr="0">
              <a:spAutoFit/>
            </a:bodyPr>
            <a:lstStyle/>
            <a:p>
              <a:pPr algn="l"/>
              <a:r>
                <a:rPr lang="zh-CN" sz="940" dirty="0">
                  <a:solidFill>
                    <a:srgbClr val="5A443F"/>
                  </a:solidFill>
                  <a:latin typeface="+mn-lt"/>
                  <a:ea typeface="+mn-ea"/>
                  <a:cs typeface="+mn-cs"/>
                </a:rPr>
                <a:t>标准不一、战略难落地</a:t>
              </a:r>
            </a:p>
          </p:txBody>
        </p:sp>
        <p:sp>
          <p:nvSpPr>
            <p:cNvPr id="66" name="Rectangle 66"/>
            <p:cNvSpPr/>
            <p:nvPr/>
          </p:nvSpPr>
          <p:spPr>
            <a:xfrm>
              <a:off x="5581650" y="2000250"/>
              <a:ext cx="6038850" cy="704850"/>
            </a:xfrm>
            <a:prstGeom prst="roundRect">
              <a:avLst>
                <a:gd name="adj" fmla="val 10811"/>
              </a:avLst>
            </a:prstGeom>
            <a:solidFill>
              <a:srgbClr val="FFFFFF"/>
            </a:solidFill>
            <a:ln w="9525">
              <a:solidFill>
                <a:srgbClr val="C9D8EF"/>
              </a:solidFill>
            </a:ln>
          </p:spPr>
        </p:sp>
        <p:sp>
          <p:nvSpPr>
            <p:cNvPr id="67" name="Rectangle 67"/>
            <p:cNvSpPr/>
            <p:nvPr/>
          </p:nvSpPr>
          <p:spPr>
            <a:xfrm>
              <a:off x="5734050" y="2143125"/>
              <a:ext cx="419100" cy="419100"/>
            </a:xfrm>
            <a:prstGeom prst="roundRect">
              <a:avLst>
                <a:gd name="adj" fmla="val 18182"/>
              </a:avLst>
            </a:prstGeom>
            <a:gradFill>
              <a:gsLst>
                <a:gs pos="0">
                  <a:srgbClr val="AD3921"/>
                </a:gs>
                <a:gs pos="100000">
                  <a:srgbClr val="9E311B"/>
                </a:gs>
              </a:gsLst>
              <a:lin ang="5400000" scaled="1"/>
            </a:gradFill>
            <a:ln>
              <a:noFill/>
            </a:ln>
          </p:spPr>
        </p:sp>
        <p:grpSp>
          <p:nvGrpSpPr>
            <p:cNvPr id="75" name="Group 75"/>
            <p:cNvGrpSpPr/>
            <p:nvPr/>
          </p:nvGrpSpPr>
          <p:grpSpPr>
            <a:xfrm>
              <a:off x="5850731" y="2259806"/>
              <a:ext cx="185737" cy="195262"/>
              <a:chOff x="5850731" y="2259806"/>
              <a:chExt cx="185737" cy="195262"/>
            </a:xfrm>
          </p:grpSpPr>
          <p:sp>
            <p:nvSpPr>
              <p:cNvPr id="68" name="Freeform 68"/>
              <p:cNvSpPr/>
              <p:nvPr/>
            </p:nvSpPr>
            <p:spPr>
              <a:xfrm>
                <a:off x="5850731" y="2445543"/>
                <a:ext cx="185737" cy="9525"/>
              </a:xfrm>
              <a:custGeom>
                <a:avLst/>
                <a:gdLst/>
                <a:ahLst/>
                <a:cxnLst/>
                <a:rect l="l" t="t" r="r" b="b"/>
                <a:pathLst>
                  <a:path w="185737" h="9525">
                    <a:moveTo>
                      <a:pt x="0" y="0"/>
                    </a:moveTo>
                    <a:lnTo>
                      <a:pt x="185737" y="0"/>
                    </a:lnTo>
                  </a:path>
                </a:pathLst>
              </a:custGeom>
              <a:noFill/>
              <a:ln w="20637">
                <a:solidFill>
                  <a:srgbClr val="FFFFFF"/>
                </a:solidFill>
              </a:ln>
            </p:spPr>
          </p:sp>
          <p:sp>
            <p:nvSpPr>
              <p:cNvPr id="69" name="Freeform 69"/>
              <p:cNvSpPr/>
              <p:nvPr/>
            </p:nvSpPr>
            <p:spPr>
              <a:xfrm>
                <a:off x="5871369" y="2259806"/>
                <a:ext cx="82550" cy="185737"/>
              </a:xfrm>
              <a:custGeom>
                <a:avLst/>
                <a:gdLst/>
                <a:ahLst/>
                <a:cxnLst/>
                <a:rect l="l" t="t" r="r" b="b"/>
                <a:pathLst>
                  <a:path w="82550" h="185737">
                    <a:moveTo>
                      <a:pt x="0" y="185737"/>
                    </a:moveTo>
                    <a:lnTo>
                      <a:pt x="0" y="41275"/>
                    </a:lnTo>
                    <a:lnTo>
                      <a:pt x="82550" y="0"/>
                    </a:lnTo>
                    <a:lnTo>
                      <a:pt x="82550" y="185737"/>
                    </a:lnTo>
                  </a:path>
                </a:pathLst>
              </a:custGeom>
              <a:noFill/>
              <a:ln w="20637">
                <a:solidFill>
                  <a:srgbClr val="FFFFFF"/>
                </a:solidFill>
              </a:ln>
            </p:spPr>
          </p:sp>
          <p:sp>
            <p:nvSpPr>
              <p:cNvPr id="70" name="Freeform 70"/>
              <p:cNvSpPr/>
              <p:nvPr/>
            </p:nvSpPr>
            <p:spPr>
              <a:xfrm>
                <a:off x="5953918" y="2301081"/>
                <a:ext cx="61912" cy="144462"/>
              </a:xfrm>
              <a:custGeom>
                <a:avLst/>
                <a:gdLst/>
                <a:ahLst/>
                <a:cxnLst/>
                <a:rect l="l" t="t" r="r" b="b"/>
                <a:pathLst>
                  <a:path w="61912" h="144462">
                    <a:moveTo>
                      <a:pt x="61912" y="144462"/>
                    </a:moveTo>
                    <a:lnTo>
                      <a:pt x="61912" y="41275"/>
                    </a:lnTo>
                    <a:lnTo>
                      <a:pt x="0" y="0"/>
                    </a:lnTo>
                  </a:path>
                </a:pathLst>
              </a:custGeom>
              <a:noFill/>
              <a:ln w="20637">
                <a:solidFill>
                  <a:srgbClr val="FFFFFF"/>
                </a:solidFill>
              </a:ln>
            </p:spPr>
          </p:sp>
          <p:sp>
            <p:nvSpPr>
              <p:cNvPr id="71" name="Freeform 71"/>
              <p:cNvSpPr/>
              <p:nvPr/>
            </p:nvSpPr>
            <p:spPr>
              <a:xfrm>
                <a:off x="5912643" y="2321718"/>
                <a:ext cx="9525" cy="9525"/>
              </a:xfrm>
              <a:custGeom>
                <a:avLst/>
                <a:gdLst/>
                <a:ahLst/>
                <a:cxnLst/>
                <a:rect l="l" t="t" r="r" b="b"/>
                <a:pathLst>
                  <a:path w="9525" h="9525">
                    <a:moveTo>
                      <a:pt x="0" y="0"/>
                    </a:moveTo>
                    <a:lnTo>
                      <a:pt x="0" y="103"/>
                    </a:lnTo>
                  </a:path>
                </a:pathLst>
              </a:custGeom>
              <a:noFill/>
              <a:ln w="20637">
                <a:solidFill>
                  <a:srgbClr val="FFFFFF"/>
                </a:solidFill>
              </a:ln>
            </p:spPr>
          </p:sp>
          <p:sp>
            <p:nvSpPr>
              <p:cNvPr id="72" name="Freeform 72"/>
              <p:cNvSpPr/>
              <p:nvPr/>
            </p:nvSpPr>
            <p:spPr>
              <a:xfrm>
                <a:off x="5912643" y="2352675"/>
                <a:ext cx="9525" cy="9525"/>
              </a:xfrm>
              <a:custGeom>
                <a:avLst/>
                <a:gdLst/>
                <a:ahLst/>
                <a:cxnLst/>
                <a:rect l="l" t="t" r="r" b="b"/>
                <a:pathLst>
                  <a:path w="9525" h="9525">
                    <a:moveTo>
                      <a:pt x="0" y="0"/>
                    </a:moveTo>
                    <a:lnTo>
                      <a:pt x="0" y="103"/>
                    </a:lnTo>
                  </a:path>
                </a:pathLst>
              </a:custGeom>
              <a:noFill/>
              <a:ln w="20637">
                <a:solidFill>
                  <a:srgbClr val="FFFFFF"/>
                </a:solidFill>
              </a:ln>
            </p:spPr>
          </p:sp>
          <p:sp>
            <p:nvSpPr>
              <p:cNvPr id="73" name="Freeform 73"/>
              <p:cNvSpPr/>
              <p:nvPr/>
            </p:nvSpPr>
            <p:spPr>
              <a:xfrm>
                <a:off x="5912643" y="2383631"/>
                <a:ext cx="9525" cy="9525"/>
              </a:xfrm>
              <a:custGeom>
                <a:avLst/>
                <a:gdLst/>
                <a:ahLst/>
                <a:cxnLst/>
                <a:rect l="l" t="t" r="r" b="b"/>
                <a:pathLst>
                  <a:path w="9525" h="9525">
                    <a:moveTo>
                      <a:pt x="0" y="0"/>
                    </a:moveTo>
                    <a:lnTo>
                      <a:pt x="0" y="103"/>
                    </a:lnTo>
                  </a:path>
                </a:pathLst>
              </a:custGeom>
              <a:noFill/>
              <a:ln w="20637">
                <a:solidFill>
                  <a:srgbClr val="FFFFFF"/>
                </a:solidFill>
              </a:ln>
            </p:spPr>
          </p:sp>
          <p:sp>
            <p:nvSpPr>
              <p:cNvPr id="74" name="Freeform 74"/>
              <p:cNvSpPr/>
              <p:nvPr/>
            </p:nvSpPr>
            <p:spPr>
              <a:xfrm>
                <a:off x="5912643" y="2414587"/>
                <a:ext cx="9525" cy="9525"/>
              </a:xfrm>
              <a:custGeom>
                <a:avLst/>
                <a:gdLst/>
                <a:ahLst/>
                <a:cxnLst/>
                <a:rect l="l" t="t" r="r" b="b"/>
                <a:pathLst>
                  <a:path w="9525" h="9525">
                    <a:moveTo>
                      <a:pt x="0" y="0"/>
                    </a:moveTo>
                    <a:lnTo>
                      <a:pt x="0" y="103"/>
                    </a:lnTo>
                  </a:path>
                </a:pathLst>
              </a:custGeom>
              <a:noFill/>
              <a:ln w="20637">
                <a:solidFill>
                  <a:srgbClr val="FFFFFF"/>
                </a:solidFill>
              </a:ln>
            </p:spPr>
          </p:sp>
        </p:grpSp>
        <p:sp>
          <p:nvSpPr>
            <p:cNvPr id="76" name="TextBox 76"/>
            <p:cNvSpPr txBox="1"/>
            <p:nvPr/>
          </p:nvSpPr>
          <p:spPr>
            <a:xfrm>
              <a:off x="6337935" y="2297906"/>
              <a:ext cx="916076" cy="220028"/>
            </a:xfrm>
            <a:prstGeom prst="rect">
              <a:avLst/>
            </a:prstGeom>
            <a:noFill/>
            <a:ln>
              <a:noFill/>
            </a:ln>
          </p:spPr>
          <p:txBody>
            <a:bodyPr wrap="none" lIns="0" tIns="0" rIns="0" bIns="0" anchor="t" anchorCtr="0">
              <a:spAutoFit/>
            </a:bodyPr>
            <a:lstStyle/>
            <a:p>
              <a:pPr algn="l"/>
              <a:r>
                <a:rPr lang="zh-CN" sz="1120" b="1" dirty="0">
                  <a:solidFill>
                    <a:srgbClr val="A8351D"/>
                  </a:solidFill>
                  <a:latin typeface="+mn-lt"/>
                  <a:ea typeface="+mn-ea"/>
                  <a:cs typeface="+mn-cs"/>
                </a:rPr>
                <a:t>分行｜缺统筹</a:t>
              </a:r>
            </a:p>
          </p:txBody>
        </p:sp>
        <p:sp>
          <p:nvSpPr>
            <p:cNvPr id="77" name="Line 77"/>
            <p:cNvSpPr/>
            <p:nvPr/>
          </p:nvSpPr>
          <p:spPr>
            <a:xfrm>
              <a:off x="7810500" y="2133600"/>
              <a:ext cx="9525" cy="438150"/>
            </a:xfrm>
            <a:custGeom>
              <a:avLst/>
              <a:gdLst/>
              <a:ahLst/>
              <a:cxnLst/>
              <a:rect l="l" t="t" r="r" b="b"/>
              <a:pathLst>
                <a:path w="9525" h="438150">
                  <a:moveTo>
                    <a:pt x="0" y="0"/>
                  </a:moveTo>
                  <a:lnTo>
                    <a:pt x="0" y="438150"/>
                  </a:lnTo>
                </a:path>
              </a:pathLst>
            </a:custGeom>
            <a:noFill/>
            <a:ln w="14288">
              <a:solidFill>
                <a:srgbClr val="D9E4F2"/>
              </a:solidFill>
            </a:ln>
          </p:spPr>
        </p:sp>
        <p:sp>
          <p:nvSpPr>
            <p:cNvPr id="78" name="TextBox 78"/>
            <p:cNvSpPr txBox="1"/>
            <p:nvPr/>
          </p:nvSpPr>
          <p:spPr>
            <a:xfrm>
              <a:off x="8034338" y="2318147"/>
              <a:ext cx="1274953" cy="183356"/>
            </a:xfrm>
            <a:prstGeom prst="rect">
              <a:avLst/>
            </a:prstGeom>
            <a:noFill/>
            <a:ln>
              <a:noFill/>
            </a:ln>
          </p:spPr>
          <p:txBody>
            <a:bodyPr wrap="none" lIns="0" tIns="0" rIns="0" bIns="0" anchor="t" anchorCtr="0">
              <a:spAutoFit/>
            </a:bodyPr>
            <a:lstStyle/>
            <a:p>
              <a:pPr algn="l"/>
              <a:r>
                <a:rPr lang="zh-CN" sz="940" dirty="0">
                  <a:solidFill>
                    <a:srgbClr val="5A443F"/>
                  </a:solidFill>
                  <a:latin typeface="+mn-lt"/>
                  <a:ea typeface="+mn-ea"/>
                  <a:cs typeface="+mn-cs"/>
                </a:rPr>
                <a:t>条线割裂、资源难统筹</a:t>
              </a:r>
            </a:p>
          </p:txBody>
        </p:sp>
        <p:sp>
          <p:nvSpPr>
            <p:cNvPr id="79" name="Rectangle 79"/>
            <p:cNvSpPr/>
            <p:nvPr/>
          </p:nvSpPr>
          <p:spPr>
            <a:xfrm>
              <a:off x="5581650" y="2781300"/>
              <a:ext cx="6038850" cy="704850"/>
            </a:xfrm>
            <a:prstGeom prst="roundRect">
              <a:avLst>
                <a:gd name="adj" fmla="val 10811"/>
              </a:avLst>
            </a:prstGeom>
            <a:solidFill>
              <a:srgbClr val="FFFFFF"/>
            </a:solidFill>
            <a:ln w="9525">
              <a:solidFill>
                <a:srgbClr val="C9D8EF"/>
              </a:solidFill>
            </a:ln>
          </p:spPr>
        </p:sp>
        <p:sp>
          <p:nvSpPr>
            <p:cNvPr id="80" name="Rectangle 80"/>
            <p:cNvSpPr/>
            <p:nvPr/>
          </p:nvSpPr>
          <p:spPr>
            <a:xfrm>
              <a:off x="5734050" y="2924175"/>
              <a:ext cx="419100" cy="419100"/>
            </a:xfrm>
            <a:prstGeom prst="roundRect">
              <a:avLst>
                <a:gd name="adj" fmla="val 18182"/>
              </a:avLst>
            </a:prstGeom>
            <a:gradFill>
              <a:gsLst>
                <a:gs pos="0">
                  <a:srgbClr val="AD3921"/>
                </a:gs>
                <a:gs pos="100000">
                  <a:srgbClr val="9E311B"/>
                </a:gs>
              </a:gsLst>
              <a:lin ang="5400000" scaled="1"/>
            </a:gradFill>
            <a:ln>
              <a:noFill/>
            </a:ln>
          </p:spPr>
        </p:sp>
        <p:grpSp>
          <p:nvGrpSpPr>
            <p:cNvPr id="86" name="Group 86"/>
            <p:cNvGrpSpPr/>
            <p:nvPr/>
          </p:nvGrpSpPr>
          <p:grpSpPr>
            <a:xfrm>
              <a:off x="5850731" y="3040856"/>
              <a:ext cx="185737" cy="185737"/>
              <a:chOff x="5850731" y="3040856"/>
              <a:chExt cx="185737" cy="185737"/>
            </a:xfrm>
          </p:grpSpPr>
          <p:sp>
            <p:nvSpPr>
              <p:cNvPr id="81" name="Freeform 81"/>
              <p:cNvSpPr/>
              <p:nvPr/>
            </p:nvSpPr>
            <p:spPr>
              <a:xfrm>
                <a:off x="5850731" y="3040856"/>
                <a:ext cx="185737" cy="185737"/>
              </a:xfrm>
              <a:custGeom>
                <a:avLst/>
                <a:gdLst/>
                <a:ahLst/>
                <a:cxnLst/>
                <a:rect l="l" t="t" r="r" b="b"/>
                <a:pathLst>
                  <a:path w="185737" h="185737">
                    <a:moveTo>
                      <a:pt x="51594" y="61912"/>
                    </a:moveTo>
                    <a:lnTo>
                      <a:pt x="103187" y="113506"/>
                    </a:lnTo>
                    <a:lnTo>
                      <a:pt x="103187" y="185737"/>
                    </a:lnTo>
                    <a:lnTo>
                      <a:pt x="51594" y="185737"/>
                    </a:lnTo>
                    <a:lnTo>
                      <a:pt x="51594" y="144462"/>
                    </a:lnTo>
                    <a:moveTo>
                      <a:pt x="51594" y="185737"/>
                    </a:moveTo>
                    <a:lnTo>
                      <a:pt x="0" y="185737"/>
                    </a:lnTo>
                    <a:lnTo>
                      <a:pt x="0" y="113506"/>
                    </a:lnTo>
                    <a:lnTo>
                      <a:pt x="51594" y="61912"/>
                    </a:lnTo>
                    <a:moveTo>
                      <a:pt x="61912" y="72231"/>
                    </a:moveTo>
                    <a:lnTo>
                      <a:pt x="61912" y="10319"/>
                    </a:lnTo>
                    <a:cubicBezTo>
                      <a:pt x="61912" y="4620"/>
                      <a:pt x="66532" y="0"/>
                      <a:pt x="72231" y="0"/>
                    </a:cubicBezTo>
                    <a:lnTo>
                      <a:pt x="175418" y="0"/>
                    </a:lnTo>
                    <a:cubicBezTo>
                      <a:pt x="181117" y="0"/>
                      <a:pt x="185737" y="4620"/>
                      <a:pt x="185737" y="10319"/>
                    </a:cubicBezTo>
                    <a:lnTo>
                      <a:pt x="185737" y="185737"/>
                    </a:lnTo>
                    <a:lnTo>
                      <a:pt x="103187" y="185737"/>
                    </a:lnTo>
                  </a:path>
                </a:pathLst>
              </a:custGeom>
              <a:noFill/>
              <a:ln w="20637">
                <a:solidFill>
                  <a:srgbClr val="FFFFFF"/>
                </a:solidFill>
              </a:ln>
            </p:spPr>
          </p:sp>
          <p:sp>
            <p:nvSpPr>
              <p:cNvPr id="82" name="Freeform 82"/>
              <p:cNvSpPr/>
              <p:nvPr/>
            </p:nvSpPr>
            <p:spPr>
              <a:xfrm>
                <a:off x="5953918" y="3082131"/>
                <a:ext cx="9525" cy="9525"/>
              </a:xfrm>
              <a:custGeom>
                <a:avLst/>
                <a:gdLst/>
                <a:ahLst/>
                <a:cxnLst/>
                <a:rect l="l" t="t" r="r" b="b"/>
                <a:pathLst>
                  <a:path w="9525" h="9525">
                    <a:moveTo>
                      <a:pt x="0" y="0"/>
                    </a:moveTo>
                    <a:lnTo>
                      <a:pt x="0" y="103"/>
                    </a:lnTo>
                  </a:path>
                </a:pathLst>
              </a:custGeom>
              <a:noFill/>
              <a:ln w="20637">
                <a:solidFill>
                  <a:srgbClr val="FFFFFF"/>
                </a:solidFill>
              </a:ln>
            </p:spPr>
          </p:sp>
          <p:sp>
            <p:nvSpPr>
              <p:cNvPr id="83" name="Freeform 83"/>
              <p:cNvSpPr/>
              <p:nvPr/>
            </p:nvSpPr>
            <p:spPr>
              <a:xfrm>
                <a:off x="5995193" y="3082131"/>
                <a:ext cx="9525" cy="9525"/>
              </a:xfrm>
              <a:custGeom>
                <a:avLst/>
                <a:gdLst/>
                <a:ahLst/>
                <a:cxnLst/>
                <a:rect l="l" t="t" r="r" b="b"/>
                <a:pathLst>
                  <a:path w="9525" h="9525">
                    <a:moveTo>
                      <a:pt x="0" y="0"/>
                    </a:moveTo>
                    <a:lnTo>
                      <a:pt x="0" y="103"/>
                    </a:lnTo>
                  </a:path>
                </a:pathLst>
              </a:custGeom>
              <a:noFill/>
              <a:ln w="20637">
                <a:solidFill>
                  <a:srgbClr val="FFFFFF"/>
                </a:solidFill>
              </a:ln>
            </p:spPr>
          </p:sp>
          <p:sp>
            <p:nvSpPr>
              <p:cNvPr id="84" name="Freeform 84"/>
              <p:cNvSpPr/>
              <p:nvPr/>
            </p:nvSpPr>
            <p:spPr>
              <a:xfrm>
                <a:off x="5995193" y="3123406"/>
                <a:ext cx="9525" cy="9525"/>
              </a:xfrm>
              <a:custGeom>
                <a:avLst/>
                <a:gdLst/>
                <a:ahLst/>
                <a:cxnLst/>
                <a:rect l="l" t="t" r="r" b="b"/>
                <a:pathLst>
                  <a:path w="9525" h="9525">
                    <a:moveTo>
                      <a:pt x="0" y="0"/>
                    </a:moveTo>
                    <a:lnTo>
                      <a:pt x="0" y="103"/>
                    </a:lnTo>
                  </a:path>
                </a:pathLst>
              </a:custGeom>
              <a:noFill/>
              <a:ln w="20637">
                <a:solidFill>
                  <a:srgbClr val="FFFFFF"/>
                </a:solidFill>
              </a:ln>
            </p:spPr>
          </p:sp>
          <p:sp>
            <p:nvSpPr>
              <p:cNvPr id="85" name="Freeform 85"/>
              <p:cNvSpPr/>
              <p:nvPr/>
            </p:nvSpPr>
            <p:spPr>
              <a:xfrm>
                <a:off x="5995193" y="3164681"/>
                <a:ext cx="9525" cy="9525"/>
              </a:xfrm>
              <a:custGeom>
                <a:avLst/>
                <a:gdLst/>
                <a:ahLst/>
                <a:cxnLst/>
                <a:rect l="l" t="t" r="r" b="b"/>
                <a:pathLst>
                  <a:path w="9525" h="9525">
                    <a:moveTo>
                      <a:pt x="0" y="0"/>
                    </a:moveTo>
                    <a:lnTo>
                      <a:pt x="0" y="103"/>
                    </a:lnTo>
                  </a:path>
                </a:pathLst>
              </a:custGeom>
              <a:noFill/>
              <a:ln w="20637">
                <a:solidFill>
                  <a:srgbClr val="FFFFFF"/>
                </a:solidFill>
              </a:ln>
            </p:spPr>
          </p:sp>
        </p:grpSp>
        <p:sp>
          <p:nvSpPr>
            <p:cNvPr id="87" name="TextBox 87"/>
            <p:cNvSpPr txBox="1"/>
            <p:nvPr/>
          </p:nvSpPr>
          <p:spPr>
            <a:xfrm>
              <a:off x="6337935" y="3078956"/>
              <a:ext cx="916076" cy="220028"/>
            </a:xfrm>
            <a:prstGeom prst="rect">
              <a:avLst/>
            </a:prstGeom>
            <a:noFill/>
            <a:ln>
              <a:noFill/>
            </a:ln>
          </p:spPr>
          <p:txBody>
            <a:bodyPr wrap="none" lIns="0" tIns="0" rIns="0" bIns="0" anchor="t" anchorCtr="0">
              <a:spAutoFit/>
            </a:bodyPr>
            <a:lstStyle/>
            <a:p>
              <a:pPr algn="l"/>
              <a:r>
                <a:rPr lang="zh-CN" sz="1120" b="1" dirty="0">
                  <a:solidFill>
                    <a:srgbClr val="A8351D"/>
                  </a:solidFill>
                  <a:latin typeface="+mn-lt"/>
                  <a:ea typeface="+mn-ea"/>
                  <a:cs typeface="+mn-cs"/>
                </a:rPr>
                <a:t>支行｜缺资源</a:t>
              </a:r>
            </a:p>
          </p:txBody>
        </p:sp>
        <p:sp>
          <p:nvSpPr>
            <p:cNvPr id="88" name="Line 88"/>
            <p:cNvSpPr/>
            <p:nvPr/>
          </p:nvSpPr>
          <p:spPr>
            <a:xfrm>
              <a:off x="7810500" y="2914650"/>
              <a:ext cx="9525" cy="438150"/>
            </a:xfrm>
            <a:custGeom>
              <a:avLst/>
              <a:gdLst/>
              <a:ahLst/>
              <a:cxnLst/>
              <a:rect l="l" t="t" r="r" b="b"/>
              <a:pathLst>
                <a:path w="9525" h="438150">
                  <a:moveTo>
                    <a:pt x="0" y="0"/>
                  </a:moveTo>
                  <a:lnTo>
                    <a:pt x="0" y="438150"/>
                  </a:lnTo>
                </a:path>
              </a:pathLst>
            </a:custGeom>
            <a:noFill/>
            <a:ln w="14288">
              <a:solidFill>
                <a:srgbClr val="D9E4F2"/>
              </a:solidFill>
            </a:ln>
          </p:spPr>
        </p:sp>
        <p:sp>
          <p:nvSpPr>
            <p:cNvPr id="89" name="TextBox 89"/>
            <p:cNvSpPr txBox="1"/>
            <p:nvPr/>
          </p:nvSpPr>
          <p:spPr>
            <a:xfrm>
              <a:off x="8034338" y="3099197"/>
              <a:ext cx="1274953" cy="183356"/>
            </a:xfrm>
            <a:prstGeom prst="rect">
              <a:avLst/>
            </a:prstGeom>
            <a:noFill/>
            <a:ln>
              <a:noFill/>
            </a:ln>
          </p:spPr>
          <p:txBody>
            <a:bodyPr wrap="none" lIns="0" tIns="0" rIns="0" bIns="0" anchor="t" anchorCtr="0">
              <a:spAutoFit/>
            </a:bodyPr>
            <a:lstStyle/>
            <a:p>
              <a:pPr algn="l"/>
              <a:r>
                <a:rPr lang="zh-CN" sz="940" dirty="0">
                  <a:solidFill>
                    <a:srgbClr val="5A443F"/>
                  </a:solidFill>
                  <a:latin typeface="+mn-lt"/>
                  <a:ea typeface="+mn-ea"/>
                  <a:cs typeface="+mn-cs"/>
                </a:rPr>
                <a:t>场景不足、触达难转化</a:t>
              </a:r>
            </a:p>
          </p:txBody>
        </p:sp>
        <p:sp>
          <p:nvSpPr>
            <p:cNvPr id="90" name="Rectangle 90"/>
            <p:cNvSpPr/>
            <p:nvPr/>
          </p:nvSpPr>
          <p:spPr>
            <a:xfrm>
              <a:off x="5581650" y="3562350"/>
              <a:ext cx="6038850" cy="704850"/>
            </a:xfrm>
            <a:prstGeom prst="roundRect">
              <a:avLst>
                <a:gd name="adj" fmla="val 10811"/>
              </a:avLst>
            </a:prstGeom>
            <a:solidFill>
              <a:srgbClr val="FFFFFF"/>
            </a:solidFill>
            <a:ln w="9525">
              <a:solidFill>
                <a:srgbClr val="C9D8EF"/>
              </a:solidFill>
            </a:ln>
          </p:spPr>
        </p:sp>
        <p:sp>
          <p:nvSpPr>
            <p:cNvPr id="91" name="Rectangle 91"/>
            <p:cNvSpPr/>
            <p:nvPr/>
          </p:nvSpPr>
          <p:spPr>
            <a:xfrm>
              <a:off x="5734050" y="3705225"/>
              <a:ext cx="419100" cy="419100"/>
            </a:xfrm>
            <a:prstGeom prst="roundRect">
              <a:avLst>
                <a:gd name="adj" fmla="val 18182"/>
              </a:avLst>
            </a:prstGeom>
            <a:gradFill>
              <a:gsLst>
                <a:gs pos="0">
                  <a:srgbClr val="AD3921"/>
                </a:gs>
                <a:gs pos="100000">
                  <a:srgbClr val="9E311B"/>
                </a:gs>
              </a:gsLst>
              <a:lin ang="5400000" scaled="1"/>
            </a:gradFill>
            <a:ln>
              <a:noFill/>
            </a:ln>
          </p:spPr>
        </p:sp>
        <p:grpSp>
          <p:nvGrpSpPr>
            <p:cNvPr id="101" name="Group 101"/>
            <p:cNvGrpSpPr/>
            <p:nvPr/>
          </p:nvGrpSpPr>
          <p:grpSpPr>
            <a:xfrm>
              <a:off x="5881687" y="3821906"/>
              <a:ext cx="165440" cy="201215"/>
              <a:chOff x="5881687" y="3821906"/>
              <a:chExt cx="165440" cy="201215"/>
            </a:xfrm>
          </p:grpSpPr>
          <p:sp>
            <p:nvSpPr>
              <p:cNvPr id="92" name="Freeform 92"/>
              <p:cNvSpPr/>
              <p:nvPr/>
            </p:nvSpPr>
            <p:spPr>
              <a:xfrm>
                <a:off x="5902325" y="38219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93" name="Freeform 93"/>
              <p:cNvSpPr/>
              <p:nvPr/>
            </p:nvSpPr>
            <p:spPr>
              <a:xfrm>
                <a:off x="5881687" y="3945731"/>
                <a:ext cx="67072" cy="61912"/>
              </a:xfrm>
              <a:custGeom>
                <a:avLst/>
                <a:gdLst/>
                <a:ahLst/>
                <a:cxnLst/>
                <a:rect l="l" t="t" r="r" b="b"/>
                <a:pathLst>
                  <a:path w="67072" h="61912">
                    <a:moveTo>
                      <a:pt x="0" y="61912"/>
                    </a:moveTo>
                    <a:lnTo>
                      <a:pt x="0" y="41275"/>
                    </a:lnTo>
                    <a:cubicBezTo>
                      <a:pt x="0" y="18479"/>
                      <a:pt x="18479" y="0"/>
                      <a:pt x="41275" y="0"/>
                    </a:cubicBezTo>
                    <a:lnTo>
                      <a:pt x="67072" y="0"/>
                    </a:lnTo>
                  </a:path>
                </a:pathLst>
              </a:custGeom>
              <a:noFill/>
              <a:ln w="20637">
                <a:solidFill>
                  <a:srgbClr val="FFFFFF"/>
                </a:solidFill>
              </a:ln>
            </p:spPr>
          </p:sp>
          <p:sp>
            <p:nvSpPr>
              <p:cNvPr id="94" name="Freeform 94"/>
              <p:cNvSpPr/>
              <p:nvPr/>
            </p:nvSpPr>
            <p:spPr>
              <a:xfrm>
                <a:off x="5995204" y="3966368"/>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95" name="Freeform 95"/>
              <p:cNvSpPr/>
              <p:nvPr/>
            </p:nvSpPr>
            <p:spPr>
              <a:xfrm>
                <a:off x="6015841" y="3950890"/>
                <a:ext cx="9525" cy="15478"/>
              </a:xfrm>
              <a:custGeom>
                <a:avLst/>
                <a:gdLst/>
                <a:ahLst/>
                <a:cxnLst/>
                <a:rect l="l" t="t" r="r" b="b"/>
                <a:pathLst>
                  <a:path w="9525" h="15478">
                    <a:moveTo>
                      <a:pt x="0" y="0"/>
                    </a:moveTo>
                    <a:lnTo>
                      <a:pt x="0" y="15478"/>
                    </a:lnTo>
                  </a:path>
                </a:pathLst>
              </a:custGeom>
              <a:noFill/>
              <a:ln w="20637">
                <a:solidFill>
                  <a:srgbClr val="FFFFFF"/>
                </a:solidFill>
              </a:ln>
            </p:spPr>
          </p:sp>
          <p:sp>
            <p:nvSpPr>
              <p:cNvPr id="96" name="Freeform 96"/>
              <p:cNvSpPr/>
              <p:nvPr/>
            </p:nvSpPr>
            <p:spPr>
              <a:xfrm>
                <a:off x="6015841" y="4007643"/>
                <a:ext cx="9525" cy="15478"/>
              </a:xfrm>
              <a:custGeom>
                <a:avLst/>
                <a:gdLst/>
                <a:ahLst/>
                <a:cxnLst/>
                <a:rect l="l" t="t" r="r" b="b"/>
                <a:pathLst>
                  <a:path w="9525" h="15478">
                    <a:moveTo>
                      <a:pt x="0" y="0"/>
                    </a:moveTo>
                    <a:lnTo>
                      <a:pt x="0" y="15478"/>
                    </a:lnTo>
                  </a:path>
                </a:pathLst>
              </a:custGeom>
              <a:noFill/>
              <a:ln w="20637">
                <a:solidFill>
                  <a:srgbClr val="FFFFFF"/>
                </a:solidFill>
              </a:ln>
            </p:spPr>
          </p:sp>
          <p:sp>
            <p:nvSpPr>
              <p:cNvPr id="97" name="Freeform 97"/>
              <p:cNvSpPr/>
              <p:nvPr/>
            </p:nvSpPr>
            <p:spPr>
              <a:xfrm>
                <a:off x="6033713" y="3968948"/>
                <a:ext cx="13404" cy="9525"/>
              </a:xfrm>
              <a:custGeom>
                <a:avLst/>
                <a:gdLst/>
                <a:ahLst/>
                <a:cxnLst/>
                <a:rect l="l" t="t" r="r" b="b"/>
                <a:pathLst>
                  <a:path w="13404" h="9525">
                    <a:moveTo>
                      <a:pt x="13404" y="0"/>
                    </a:moveTo>
                    <a:lnTo>
                      <a:pt x="0" y="7739"/>
                    </a:lnTo>
                  </a:path>
                </a:pathLst>
              </a:custGeom>
              <a:noFill/>
              <a:ln w="20637">
                <a:solidFill>
                  <a:srgbClr val="FFFFFF"/>
                </a:solidFill>
              </a:ln>
            </p:spPr>
          </p:sp>
          <p:sp>
            <p:nvSpPr>
              <p:cNvPr id="98" name="Freeform 98"/>
              <p:cNvSpPr/>
              <p:nvPr/>
            </p:nvSpPr>
            <p:spPr>
              <a:xfrm>
                <a:off x="5984565" y="3997324"/>
                <a:ext cx="13414" cy="9525"/>
              </a:xfrm>
              <a:custGeom>
                <a:avLst/>
                <a:gdLst/>
                <a:ahLst/>
                <a:cxnLst/>
                <a:rect l="l" t="t" r="r" b="b"/>
                <a:pathLst>
                  <a:path w="13414" h="9525">
                    <a:moveTo>
                      <a:pt x="13414" y="0"/>
                    </a:moveTo>
                    <a:lnTo>
                      <a:pt x="0" y="7739"/>
                    </a:lnTo>
                  </a:path>
                </a:pathLst>
              </a:custGeom>
              <a:noFill/>
              <a:ln w="20637">
                <a:solidFill>
                  <a:srgbClr val="FFFFFF"/>
                </a:solidFill>
              </a:ln>
            </p:spPr>
          </p:sp>
          <p:sp>
            <p:nvSpPr>
              <p:cNvPr id="99" name="Freeform 99"/>
              <p:cNvSpPr/>
              <p:nvPr/>
            </p:nvSpPr>
            <p:spPr>
              <a:xfrm>
                <a:off x="5984565" y="3968948"/>
                <a:ext cx="13414" cy="9525"/>
              </a:xfrm>
              <a:custGeom>
                <a:avLst/>
                <a:gdLst/>
                <a:ahLst/>
                <a:cxnLst/>
                <a:rect l="l" t="t" r="r" b="b"/>
                <a:pathLst>
                  <a:path w="13414" h="9525">
                    <a:moveTo>
                      <a:pt x="0" y="0"/>
                    </a:moveTo>
                    <a:lnTo>
                      <a:pt x="13414" y="7739"/>
                    </a:lnTo>
                  </a:path>
                </a:pathLst>
              </a:custGeom>
              <a:noFill/>
              <a:ln w="20637">
                <a:solidFill>
                  <a:srgbClr val="FFFFFF"/>
                </a:solidFill>
              </a:ln>
            </p:spPr>
          </p:sp>
          <p:sp>
            <p:nvSpPr>
              <p:cNvPr id="100" name="Freeform 100"/>
              <p:cNvSpPr/>
              <p:nvPr/>
            </p:nvSpPr>
            <p:spPr>
              <a:xfrm>
                <a:off x="6033713" y="3997324"/>
                <a:ext cx="13414" cy="9525"/>
              </a:xfrm>
              <a:custGeom>
                <a:avLst/>
                <a:gdLst/>
                <a:ahLst/>
                <a:cxnLst/>
                <a:rect l="l" t="t" r="r" b="b"/>
                <a:pathLst>
                  <a:path w="13414" h="9525">
                    <a:moveTo>
                      <a:pt x="0" y="0"/>
                    </a:moveTo>
                    <a:lnTo>
                      <a:pt x="13414" y="7739"/>
                    </a:lnTo>
                  </a:path>
                </a:pathLst>
              </a:custGeom>
              <a:noFill/>
              <a:ln w="20637">
                <a:solidFill>
                  <a:srgbClr val="FFFFFF"/>
                </a:solidFill>
              </a:ln>
            </p:spPr>
          </p:sp>
        </p:grpSp>
        <p:sp>
          <p:nvSpPr>
            <p:cNvPr id="102" name="TextBox 102"/>
            <p:cNvSpPr txBox="1"/>
            <p:nvPr/>
          </p:nvSpPr>
          <p:spPr>
            <a:xfrm>
              <a:off x="6337935" y="3860006"/>
              <a:ext cx="1217625" cy="220028"/>
            </a:xfrm>
            <a:prstGeom prst="rect">
              <a:avLst/>
            </a:prstGeom>
            <a:noFill/>
            <a:ln>
              <a:noFill/>
            </a:ln>
          </p:spPr>
          <p:txBody>
            <a:bodyPr wrap="none" lIns="0" tIns="0" rIns="0" bIns="0" anchor="t" anchorCtr="0">
              <a:spAutoFit/>
            </a:bodyPr>
            <a:lstStyle/>
            <a:p>
              <a:pPr algn="l"/>
              <a:r>
                <a:rPr lang="zh-CN" sz="1120" b="1" dirty="0">
                  <a:solidFill>
                    <a:srgbClr val="A8351D"/>
                  </a:solidFill>
                  <a:latin typeface="+mn-lt"/>
                  <a:ea typeface="+mn-ea"/>
                  <a:cs typeface="+mn-cs"/>
                </a:rPr>
                <a:t>客户经理｜缺动力</a:t>
              </a:r>
            </a:p>
          </p:txBody>
        </p:sp>
        <p:sp>
          <p:nvSpPr>
            <p:cNvPr id="103" name="Line 103"/>
            <p:cNvSpPr/>
            <p:nvPr/>
          </p:nvSpPr>
          <p:spPr>
            <a:xfrm>
              <a:off x="7810500" y="3695700"/>
              <a:ext cx="9525" cy="438150"/>
            </a:xfrm>
            <a:custGeom>
              <a:avLst/>
              <a:gdLst/>
              <a:ahLst/>
              <a:cxnLst/>
              <a:rect l="l" t="t" r="r" b="b"/>
              <a:pathLst>
                <a:path w="9525" h="438150">
                  <a:moveTo>
                    <a:pt x="0" y="0"/>
                  </a:moveTo>
                  <a:lnTo>
                    <a:pt x="0" y="438150"/>
                  </a:lnTo>
                </a:path>
              </a:pathLst>
            </a:custGeom>
            <a:noFill/>
            <a:ln w="14288">
              <a:solidFill>
                <a:srgbClr val="D9E4F2"/>
              </a:solidFill>
            </a:ln>
          </p:spPr>
        </p:sp>
        <p:sp>
          <p:nvSpPr>
            <p:cNvPr id="104" name="TextBox 104"/>
            <p:cNvSpPr txBox="1"/>
            <p:nvPr/>
          </p:nvSpPr>
          <p:spPr>
            <a:xfrm>
              <a:off x="8034338" y="3880247"/>
              <a:ext cx="1274953" cy="183356"/>
            </a:xfrm>
            <a:prstGeom prst="rect">
              <a:avLst/>
            </a:prstGeom>
            <a:noFill/>
            <a:ln>
              <a:noFill/>
            </a:ln>
          </p:spPr>
          <p:txBody>
            <a:bodyPr wrap="none" lIns="0" tIns="0" rIns="0" bIns="0" anchor="t" anchorCtr="0">
              <a:spAutoFit/>
            </a:bodyPr>
            <a:lstStyle/>
            <a:p>
              <a:pPr algn="l"/>
              <a:r>
                <a:rPr lang="zh-CN" sz="940" dirty="0">
                  <a:solidFill>
                    <a:srgbClr val="5A443F"/>
                  </a:solidFill>
                  <a:latin typeface="+mn-lt"/>
                  <a:ea typeface="+mn-ea"/>
                  <a:cs typeface="+mn-cs"/>
                </a:rPr>
                <a:t>归属不清、协同意愿低</a:t>
              </a:r>
            </a:p>
          </p:txBody>
        </p:sp>
      </p:grpSp>
      <p:grpSp>
        <p:nvGrpSpPr>
          <p:cNvPr id="175" name="causal-chain"/>
          <p:cNvGrpSpPr/>
          <p:nvPr/>
        </p:nvGrpSpPr>
        <p:grpSpPr>
          <a:xfrm>
            <a:off x="381000" y="4476750"/>
            <a:ext cx="11430000" cy="2133600"/>
            <a:chOff x="381000" y="4476750"/>
            <a:chExt cx="11430000" cy="2133600"/>
          </a:xfrm>
        </p:grpSpPr>
        <p:sp>
          <p:nvSpPr>
            <p:cNvPr id="106" name="Rectangle 106"/>
            <p:cNvSpPr/>
            <p:nvPr/>
          </p:nvSpPr>
          <p:spPr>
            <a:xfrm>
              <a:off x="4667250" y="4476750"/>
              <a:ext cx="2857500" cy="285750"/>
            </a:xfrm>
            <a:prstGeom prst="roundRect">
              <a:avLst>
                <a:gd name="adj" fmla="val 13333"/>
              </a:avLst>
            </a:prstGeom>
            <a:gradFill>
              <a:gsLst>
                <a:gs pos="0">
                  <a:srgbClr val="AD3921"/>
                </a:gs>
                <a:gs pos="100000">
                  <a:srgbClr val="962C16"/>
                </a:gs>
              </a:gsLst>
              <a:lin ang="5400000" scaled="1"/>
            </a:gradFill>
            <a:ln>
              <a:noFill/>
            </a:ln>
          </p:spPr>
        </p:sp>
        <p:sp>
          <p:nvSpPr>
            <p:cNvPr id="107" name="TextBox 107"/>
            <p:cNvSpPr txBox="1"/>
            <p:nvPr/>
          </p:nvSpPr>
          <p:spPr>
            <a:xfrm>
              <a:off x="5414941" y="4559379"/>
              <a:ext cx="1362119"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六类断点 → 经营损失</a:t>
              </a:r>
            </a:p>
          </p:txBody>
        </p:sp>
        <p:sp>
          <p:nvSpPr>
            <p:cNvPr id="108" name="Rectangle 108"/>
            <p:cNvSpPr/>
            <p:nvPr/>
          </p:nvSpPr>
          <p:spPr>
            <a:xfrm>
              <a:off x="381000" y="4857750"/>
              <a:ext cx="1695450" cy="723900"/>
            </a:xfrm>
            <a:prstGeom prst="roundRect">
              <a:avLst>
                <a:gd name="adj" fmla="val 10526"/>
              </a:avLst>
            </a:prstGeom>
            <a:solidFill>
              <a:srgbClr val="FFFFFF"/>
            </a:solidFill>
            <a:ln w="9525">
              <a:solidFill>
                <a:srgbClr val="C9D8EF"/>
              </a:solidFill>
            </a:ln>
          </p:spPr>
        </p:sp>
        <p:grpSp>
          <p:nvGrpSpPr>
            <p:cNvPr id="113" name="Group 113"/>
            <p:cNvGrpSpPr/>
            <p:nvPr/>
          </p:nvGrpSpPr>
          <p:grpSpPr>
            <a:xfrm>
              <a:off x="1116806" y="4945856"/>
              <a:ext cx="185737" cy="185738"/>
              <a:chOff x="1116806" y="4945856"/>
              <a:chExt cx="185737" cy="185738"/>
            </a:xfrm>
          </p:grpSpPr>
          <p:sp>
            <p:nvSpPr>
              <p:cNvPr id="109" name="Freeform 109"/>
              <p:cNvSpPr/>
              <p:nvPr/>
            </p:nvSpPr>
            <p:spPr>
              <a:xfrm>
                <a:off x="1137444" y="49458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A8351D"/>
                </a:solidFill>
              </a:ln>
            </p:spPr>
          </p:sp>
          <p:sp>
            <p:nvSpPr>
              <p:cNvPr id="110" name="Freeform 110"/>
              <p:cNvSpPr/>
              <p:nvPr/>
            </p:nvSpPr>
            <p:spPr>
              <a:xfrm>
                <a:off x="1116806" y="50696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A8351D"/>
                </a:solidFill>
              </a:ln>
            </p:spPr>
          </p:sp>
          <p:sp>
            <p:nvSpPr>
              <p:cNvPr id="111" name="Freeform 111"/>
              <p:cNvSpPr/>
              <p:nvPr/>
            </p:nvSpPr>
            <p:spPr>
              <a:xfrm>
                <a:off x="1250949" y="49471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A8351D"/>
                </a:solidFill>
              </a:ln>
            </p:spPr>
          </p:sp>
          <p:sp>
            <p:nvSpPr>
              <p:cNvPr id="112" name="Freeform 112"/>
              <p:cNvSpPr/>
              <p:nvPr/>
            </p:nvSpPr>
            <p:spPr>
              <a:xfrm>
                <a:off x="1271587" y="50712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A8351D"/>
                </a:solidFill>
              </a:ln>
            </p:spPr>
          </p:sp>
        </p:grpSp>
        <p:sp>
          <p:nvSpPr>
            <p:cNvPr id="114" name="TextBox 114"/>
            <p:cNvSpPr txBox="1"/>
            <p:nvPr/>
          </p:nvSpPr>
          <p:spPr>
            <a:xfrm>
              <a:off x="876643" y="533614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客户归属分割</a:t>
              </a:r>
            </a:p>
          </p:txBody>
        </p:sp>
        <p:sp>
          <p:nvSpPr>
            <p:cNvPr id="115" name="Line 115"/>
            <p:cNvSpPr/>
            <p:nvPr/>
          </p:nvSpPr>
          <p:spPr>
            <a:xfrm>
              <a:off x="2114550" y="5219700"/>
              <a:ext cx="152400" cy="1"/>
            </a:xfrm>
            <a:prstGeom prst="line">
              <a:avLst/>
            </a:prstGeom>
            <a:noFill/>
            <a:ln w="19050">
              <a:solidFill>
                <a:srgbClr val="D64A2E"/>
              </a:solidFill>
              <a:tailEnd type="triangle" w="lg" len="lg"/>
            </a:ln>
          </p:spPr>
        </p:sp>
        <p:sp>
          <p:nvSpPr>
            <p:cNvPr id="116" name="Rectangle 116"/>
            <p:cNvSpPr/>
            <p:nvPr/>
          </p:nvSpPr>
          <p:spPr>
            <a:xfrm>
              <a:off x="2327910" y="4857750"/>
              <a:ext cx="1695450" cy="723900"/>
            </a:xfrm>
            <a:prstGeom prst="roundRect">
              <a:avLst>
                <a:gd name="adj" fmla="val 10526"/>
              </a:avLst>
            </a:prstGeom>
            <a:solidFill>
              <a:srgbClr val="FFFFFF"/>
            </a:solidFill>
            <a:ln w="9525">
              <a:solidFill>
                <a:srgbClr val="C9D8EF"/>
              </a:solidFill>
            </a:ln>
          </p:spPr>
        </p:sp>
        <p:grpSp>
          <p:nvGrpSpPr>
            <p:cNvPr id="120" name="Group 120"/>
            <p:cNvGrpSpPr/>
            <p:nvPr/>
          </p:nvGrpSpPr>
          <p:grpSpPr>
            <a:xfrm>
              <a:off x="3074035" y="4945856"/>
              <a:ext cx="165099" cy="185737"/>
              <a:chOff x="3074035" y="4945856"/>
              <a:chExt cx="165099" cy="185737"/>
            </a:xfrm>
          </p:grpSpPr>
          <p:sp>
            <p:nvSpPr>
              <p:cNvPr id="117" name="Freeform 117"/>
              <p:cNvSpPr/>
              <p:nvPr/>
            </p:nvSpPr>
            <p:spPr>
              <a:xfrm>
                <a:off x="3074035" y="494585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A8351D"/>
                </a:solidFill>
              </a:ln>
            </p:spPr>
          </p:sp>
          <p:sp>
            <p:nvSpPr>
              <p:cNvPr id="118" name="Freeform 118"/>
              <p:cNvSpPr/>
              <p:nvPr/>
            </p:nvSpPr>
            <p:spPr>
              <a:xfrm>
                <a:off x="3074035" y="497681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A8351D"/>
                </a:solidFill>
              </a:ln>
            </p:spPr>
          </p:sp>
          <p:sp>
            <p:nvSpPr>
              <p:cNvPr id="119" name="Freeform 119"/>
              <p:cNvSpPr/>
              <p:nvPr/>
            </p:nvSpPr>
            <p:spPr>
              <a:xfrm>
                <a:off x="3074035" y="503872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A8351D"/>
                </a:solidFill>
              </a:ln>
            </p:spPr>
          </p:sp>
        </p:grpSp>
        <p:sp>
          <p:nvSpPr>
            <p:cNvPr id="121" name="TextBox 121"/>
            <p:cNvSpPr txBox="1"/>
            <p:nvPr/>
          </p:nvSpPr>
          <p:spPr>
            <a:xfrm>
              <a:off x="2823553" y="533614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数据系统分散</a:t>
              </a:r>
            </a:p>
          </p:txBody>
        </p:sp>
        <p:sp>
          <p:nvSpPr>
            <p:cNvPr id="122" name="Line 122"/>
            <p:cNvSpPr/>
            <p:nvPr/>
          </p:nvSpPr>
          <p:spPr>
            <a:xfrm>
              <a:off x="4061460" y="5219700"/>
              <a:ext cx="152400" cy="1"/>
            </a:xfrm>
            <a:prstGeom prst="line">
              <a:avLst/>
            </a:prstGeom>
            <a:noFill/>
            <a:ln w="19050">
              <a:solidFill>
                <a:srgbClr val="D64A2E"/>
              </a:solidFill>
              <a:tailEnd type="triangle" w="lg" len="lg"/>
            </a:ln>
          </p:spPr>
        </p:sp>
        <p:sp>
          <p:nvSpPr>
            <p:cNvPr id="123" name="Rectangle 123"/>
            <p:cNvSpPr/>
            <p:nvPr/>
          </p:nvSpPr>
          <p:spPr>
            <a:xfrm>
              <a:off x="4274820" y="4857750"/>
              <a:ext cx="1695450" cy="723900"/>
            </a:xfrm>
            <a:prstGeom prst="roundRect">
              <a:avLst>
                <a:gd name="adj" fmla="val 10526"/>
              </a:avLst>
            </a:prstGeom>
            <a:solidFill>
              <a:srgbClr val="FFFFFF"/>
            </a:solidFill>
            <a:ln w="9525">
              <a:solidFill>
                <a:srgbClr val="C9D8EF"/>
              </a:solidFill>
            </a:ln>
          </p:spPr>
        </p:sp>
        <p:grpSp>
          <p:nvGrpSpPr>
            <p:cNvPr id="126" name="Group 126"/>
            <p:cNvGrpSpPr/>
            <p:nvPr/>
          </p:nvGrpSpPr>
          <p:grpSpPr>
            <a:xfrm>
              <a:off x="5020945" y="4952194"/>
              <a:ext cx="165099" cy="173061"/>
              <a:chOff x="5020945" y="4952194"/>
              <a:chExt cx="165099" cy="173061"/>
            </a:xfrm>
          </p:grpSpPr>
          <p:sp>
            <p:nvSpPr>
              <p:cNvPr id="124" name="Freeform 124"/>
              <p:cNvSpPr/>
              <p:nvPr/>
            </p:nvSpPr>
            <p:spPr>
              <a:xfrm>
                <a:off x="5020945" y="4952194"/>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A8351D"/>
                </a:solidFill>
              </a:ln>
            </p:spPr>
          </p:sp>
          <p:sp>
            <p:nvSpPr>
              <p:cNvPr id="125" name="Freeform 125"/>
              <p:cNvSpPr/>
              <p:nvPr/>
            </p:nvSpPr>
            <p:spPr>
              <a:xfrm>
                <a:off x="5020945" y="5049043"/>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A8351D"/>
                </a:solidFill>
              </a:ln>
            </p:spPr>
          </p:sp>
        </p:grpSp>
        <p:sp>
          <p:nvSpPr>
            <p:cNvPr id="127" name="TextBox 127"/>
            <p:cNvSpPr txBox="1"/>
            <p:nvPr/>
          </p:nvSpPr>
          <p:spPr>
            <a:xfrm>
              <a:off x="4770463" y="533614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线索流转低效</a:t>
              </a:r>
            </a:p>
          </p:txBody>
        </p:sp>
        <p:sp>
          <p:nvSpPr>
            <p:cNvPr id="128" name="Line 128"/>
            <p:cNvSpPr/>
            <p:nvPr/>
          </p:nvSpPr>
          <p:spPr>
            <a:xfrm>
              <a:off x="6008370" y="5219700"/>
              <a:ext cx="152400" cy="1"/>
            </a:xfrm>
            <a:prstGeom prst="line">
              <a:avLst/>
            </a:prstGeom>
            <a:noFill/>
            <a:ln w="19050">
              <a:solidFill>
                <a:srgbClr val="D64A2E"/>
              </a:solidFill>
              <a:tailEnd type="triangle" w="lg" len="lg"/>
            </a:ln>
          </p:spPr>
        </p:sp>
        <p:sp>
          <p:nvSpPr>
            <p:cNvPr id="129" name="Rectangle 129"/>
            <p:cNvSpPr/>
            <p:nvPr/>
          </p:nvSpPr>
          <p:spPr>
            <a:xfrm>
              <a:off x="6221730" y="4857750"/>
              <a:ext cx="1695450" cy="723900"/>
            </a:xfrm>
            <a:prstGeom prst="roundRect">
              <a:avLst>
                <a:gd name="adj" fmla="val 10526"/>
              </a:avLst>
            </a:prstGeom>
            <a:solidFill>
              <a:srgbClr val="FFFFFF"/>
            </a:solidFill>
            <a:ln w="9525">
              <a:solidFill>
                <a:srgbClr val="C9D8EF"/>
              </a:solidFill>
            </a:ln>
          </p:spPr>
        </p:sp>
        <p:grpSp>
          <p:nvGrpSpPr>
            <p:cNvPr id="135" name="Group 135"/>
            <p:cNvGrpSpPr/>
            <p:nvPr/>
          </p:nvGrpSpPr>
          <p:grpSpPr>
            <a:xfrm>
              <a:off x="6957536" y="4945856"/>
              <a:ext cx="185737" cy="184943"/>
              <a:chOff x="6957536" y="4945856"/>
              <a:chExt cx="185737" cy="184943"/>
            </a:xfrm>
          </p:grpSpPr>
          <p:sp>
            <p:nvSpPr>
              <p:cNvPr id="130" name="Freeform 130"/>
              <p:cNvSpPr/>
              <p:nvPr/>
            </p:nvSpPr>
            <p:spPr>
              <a:xfrm>
                <a:off x="6998811" y="5121274"/>
                <a:ext cx="103187" cy="9525"/>
              </a:xfrm>
              <a:custGeom>
                <a:avLst/>
                <a:gdLst/>
                <a:ahLst/>
                <a:cxnLst/>
                <a:rect l="l" t="t" r="r" b="b"/>
                <a:pathLst>
                  <a:path w="103187" h="9525">
                    <a:moveTo>
                      <a:pt x="0" y="0"/>
                    </a:moveTo>
                    <a:lnTo>
                      <a:pt x="103187" y="0"/>
                    </a:lnTo>
                  </a:path>
                </a:pathLst>
              </a:custGeom>
              <a:noFill/>
              <a:ln w="20637">
                <a:solidFill>
                  <a:srgbClr val="A8351D"/>
                </a:solidFill>
              </a:ln>
            </p:spPr>
          </p:sp>
          <p:sp>
            <p:nvSpPr>
              <p:cNvPr id="131" name="Freeform 131"/>
              <p:cNvSpPr/>
              <p:nvPr/>
            </p:nvSpPr>
            <p:spPr>
              <a:xfrm>
                <a:off x="6988492" y="4966494"/>
                <a:ext cx="123825" cy="10319"/>
              </a:xfrm>
              <a:custGeom>
                <a:avLst/>
                <a:gdLst/>
                <a:ahLst/>
                <a:cxnLst/>
                <a:rect l="l" t="t" r="r" b="b"/>
                <a:pathLst>
                  <a:path w="123825" h="10319">
                    <a:moveTo>
                      <a:pt x="0" y="10319"/>
                    </a:moveTo>
                    <a:lnTo>
                      <a:pt x="61912" y="0"/>
                    </a:lnTo>
                    <a:lnTo>
                      <a:pt x="123825" y="10319"/>
                    </a:lnTo>
                  </a:path>
                </a:pathLst>
              </a:custGeom>
              <a:noFill/>
              <a:ln w="20637">
                <a:solidFill>
                  <a:srgbClr val="A8351D"/>
                </a:solidFill>
              </a:ln>
            </p:spPr>
          </p:sp>
          <p:sp>
            <p:nvSpPr>
              <p:cNvPr id="132" name="Freeform 132"/>
              <p:cNvSpPr/>
              <p:nvPr/>
            </p:nvSpPr>
            <p:spPr>
              <a:xfrm>
                <a:off x="7050405" y="4945856"/>
                <a:ext cx="9525" cy="175418"/>
              </a:xfrm>
              <a:custGeom>
                <a:avLst/>
                <a:gdLst/>
                <a:ahLst/>
                <a:cxnLst/>
                <a:rect l="l" t="t" r="r" b="b"/>
                <a:pathLst>
                  <a:path w="9525" h="175418">
                    <a:moveTo>
                      <a:pt x="0" y="0"/>
                    </a:moveTo>
                    <a:lnTo>
                      <a:pt x="0" y="175418"/>
                    </a:lnTo>
                  </a:path>
                </a:pathLst>
              </a:custGeom>
              <a:noFill/>
              <a:ln w="20637">
                <a:solidFill>
                  <a:srgbClr val="A8351D"/>
                </a:solidFill>
              </a:ln>
            </p:spPr>
          </p:sp>
          <p:sp>
            <p:nvSpPr>
              <p:cNvPr id="133" name="Freeform 133"/>
              <p:cNvSpPr/>
              <p:nvPr/>
            </p:nvSpPr>
            <p:spPr>
              <a:xfrm>
                <a:off x="6957536" y="4976812"/>
                <a:ext cx="61912" cy="92868"/>
              </a:xfrm>
              <a:custGeom>
                <a:avLst/>
                <a:gdLst/>
                <a:ahLst/>
                <a:cxnLst/>
                <a:rect l="l" t="t" r="r" b="b"/>
                <a:pathLst>
                  <a:path w="61912" h="92868">
                    <a:moveTo>
                      <a:pt x="61912" y="61912"/>
                    </a:moveTo>
                    <a:lnTo>
                      <a:pt x="30956" y="0"/>
                    </a:lnTo>
                    <a:lnTo>
                      <a:pt x="0" y="61912"/>
                    </a:lnTo>
                    <a:cubicBezTo>
                      <a:pt x="0" y="79009"/>
                      <a:pt x="13860" y="92868"/>
                      <a:pt x="30956" y="92868"/>
                    </a:cubicBezTo>
                    <a:cubicBezTo>
                      <a:pt x="48053" y="92868"/>
                      <a:pt x="61912" y="79009"/>
                      <a:pt x="61912" y="61912"/>
                    </a:cubicBezTo>
                  </a:path>
                </a:pathLst>
              </a:custGeom>
              <a:noFill/>
              <a:ln w="20637">
                <a:solidFill>
                  <a:srgbClr val="A8351D"/>
                </a:solidFill>
              </a:ln>
            </p:spPr>
          </p:sp>
          <p:sp>
            <p:nvSpPr>
              <p:cNvPr id="134" name="Freeform 134"/>
              <p:cNvSpPr/>
              <p:nvPr/>
            </p:nvSpPr>
            <p:spPr>
              <a:xfrm>
                <a:off x="7081361" y="4976812"/>
                <a:ext cx="61912" cy="92868"/>
              </a:xfrm>
              <a:custGeom>
                <a:avLst/>
                <a:gdLst/>
                <a:ahLst/>
                <a:cxnLst/>
                <a:rect l="l" t="t" r="r" b="b"/>
                <a:pathLst>
                  <a:path w="61912" h="92868">
                    <a:moveTo>
                      <a:pt x="61912" y="61912"/>
                    </a:moveTo>
                    <a:lnTo>
                      <a:pt x="30956" y="0"/>
                    </a:lnTo>
                    <a:lnTo>
                      <a:pt x="0" y="61912"/>
                    </a:lnTo>
                    <a:cubicBezTo>
                      <a:pt x="0" y="79009"/>
                      <a:pt x="13860" y="92868"/>
                      <a:pt x="30956" y="92868"/>
                    </a:cubicBezTo>
                    <a:cubicBezTo>
                      <a:pt x="48053" y="92868"/>
                      <a:pt x="61912" y="79009"/>
                      <a:pt x="61912" y="61912"/>
                    </a:cubicBezTo>
                  </a:path>
                </a:pathLst>
              </a:custGeom>
              <a:noFill/>
              <a:ln w="20637">
                <a:solidFill>
                  <a:srgbClr val="A8351D"/>
                </a:solidFill>
              </a:ln>
            </p:spPr>
          </p:sp>
        </p:grpSp>
        <p:sp>
          <p:nvSpPr>
            <p:cNvPr id="136" name="TextBox 136"/>
            <p:cNvSpPr txBox="1"/>
            <p:nvPr/>
          </p:nvSpPr>
          <p:spPr>
            <a:xfrm>
              <a:off x="6717373" y="533614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利益分配不清</a:t>
              </a:r>
            </a:p>
          </p:txBody>
        </p:sp>
        <p:sp>
          <p:nvSpPr>
            <p:cNvPr id="137" name="Line 137"/>
            <p:cNvSpPr/>
            <p:nvPr/>
          </p:nvSpPr>
          <p:spPr>
            <a:xfrm>
              <a:off x="7955280" y="5219700"/>
              <a:ext cx="152400" cy="1"/>
            </a:xfrm>
            <a:prstGeom prst="line">
              <a:avLst/>
            </a:prstGeom>
            <a:noFill/>
            <a:ln w="19050">
              <a:solidFill>
                <a:srgbClr val="D64A2E"/>
              </a:solidFill>
              <a:tailEnd type="triangle" w="lg" len="lg"/>
            </a:ln>
          </p:spPr>
        </p:sp>
        <p:sp>
          <p:nvSpPr>
            <p:cNvPr id="138" name="Rectangle 138"/>
            <p:cNvSpPr/>
            <p:nvPr/>
          </p:nvSpPr>
          <p:spPr>
            <a:xfrm>
              <a:off x="8168640" y="4857750"/>
              <a:ext cx="1695450" cy="723900"/>
            </a:xfrm>
            <a:prstGeom prst="roundRect">
              <a:avLst>
                <a:gd name="adj" fmla="val 10526"/>
              </a:avLst>
            </a:prstGeom>
            <a:solidFill>
              <a:srgbClr val="FFFFFF"/>
            </a:solidFill>
            <a:ln w="9525">
              <a:solidFill>
                <a:srgbClr val="C9D8EF"/>
              </a:solidFill>
            </a:ln>
          </p:spPr>
        </p:sp>
        <p:sp>
          <p:nvSpPr>
            <p:cNvPr id="139" name="Freeform 139"/>
            <p:cNvSpPr/>
            <p:nvPr/>
          </p:nvSpPr>
          <p:spPr>
            <a:xfrm>
              <a:off x="8893880" y="4948178"/>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A8351D"/>
              </a:solidFill>
            </a:ln>
          </p:spPr>
        </p:sp>
        <p:sp>
          <p:nvSpPr>
            <p:cNvPr id="140" name="TextBox 140"/>
            <p:cNvSpPr txBox="1"/>
            <p:nvPr/>
          </p:nvSpPr>
          <p:spPr>
            <a:xfrm>
              <a:off x="8664283" y="533614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营销动作同质</a:t>
              </a:r>
            </a:p>
          </p:txBody>
        </p:sp>
        <p:sp>
          <p:nvSpPr>
            <p:cNvPr id="141" name="Line 141"/>
            <p:cNvSpPr/>
            <p:nvPr/>
          </p:nvSpPr>
          <p:spPr>
            <a:xfrm>
              <a:off x="9902190" y="5219700"/>
              <a:ext cx="152400" cy="1"/>
            </a:xfrm>
            <a:prstGeom prst="line">
              <a:avLst/>
            </a:prstGeom>
            <a:noFill/>
            <a:ln w="19050">
              <a:solidFill>
                <a:srgbClr val="D64A2E"/>
              </a:solidFill>
              <a:tailEnd type="triangle" w="lg" len="lg"/>
            </a:ln>
          </p:spPr>
        </p:sp>
        <p:sp>
          <p:nvSpPr>
            <p:cNvPr id="142" name="Rectangle 142"/>
            <p:cNvSpPr/>
            <p:nvPr/>
          </p:nvSpPr>
          <p:spPr>
            <a:xfrm>
              <a:off x="10115550" y="4857750"/>
              <a:ext cx="1695450" cy="723900"/>
            </a:xfrm>
            <a:prstGeom prst="roundRect">
              <a:avLst>
                <a:gd name="adj" fmla="val 10526"/>
              </a:avLst>
            </a:prstGeom>
            <a:solidFill>
              <a:srgbClr val="FFFFFF"/>
            </a:solidFill>
            <a:ln w="9525">
              <a:solidFill>
                <a:srgbClr val="C9D8EF"/>
              </a:solidFill>
            </a:ln>
          </p:spPr>
        </p:sp>
        <p:grpSp>
          <p:nvGrpSpPr>
            <p:cNvPr id="148" name="Group 148"/>
            <p:cNvGrpSpPr/>
            <p:nvPr/>
          </p:nvGrpSpPr>
          <p:grpSpPr>
            <a:xfrm>
              <a:off x="10849464" y="4943964"/>
              <a:ext cx="189755" cy="197154"/>
              <a:chOff x="10849464" y="4943964"/>
              <a:chExt cx="189755" cy="197154"/>
            </a:xfrm>
          </p:grpSpPr>
          <p:sp>
            <p:nvSpPr>
              <p:cNvPr id="143" name="Freeform 143"/>
              <p:cNvSpPr/>
              <p:nvPr/>
            </p:nvSpPr>
            <p:spPr>
              <a:xfrm>
                <a:off x="10923587" y="5018087"/>
                <a:ext cx="115632" cy="115608"/>
              </a:xfrm>
              <a:custGeom>
                <a:avLst/>
                <a:gdLst/>
                <a:ahLst/>
                <a:cxnLst/>
                <a:rect l="l" t="t" r="r" b="b"/>
                <a:pathLst>
                  <a:path w="115632" h="115608">
                    <a:moveTo>
                      <a:pt x="30956" y="0"/>
                    </a:moveTo>
                    <a:lnTo>
                      <a:pt x="107139" y="76544"/>
                    </a:lnTo>
                    <a:cubicBezTo>
                      <a:pt x="115632" y="85006"/>
                      <a:pt x="115632" y="98709"/>
                      <a:pt x="107139" y="107160"/>
                    </a:cubicBezTo>
                    <a:cubicBezTo>
                      <a:pt x="98646" y="115608"/>
                      <a:pt x="84924" y="115608"/>
                      <a:pt x="76431" y="107160"/>
                    </a:cubicBezTo>
                    <a:lnTo>
                      <a:pt x="0" y="30956"/>
                    </a:lnTo>
                  </a:path>
                </a:pathLst>
              </a:custGeom>
              <a:noFill/>
              <a:ln w="20637">
                <a:solidFill>
                  <a:srgbClr val="A8351D"/>
                </a:solidFill>
              </a:ln>
            </p:spPr>
          </p:sp>
          <p:sp>
            <p:nvSpPr>
              <p:cNvPr id="144" name="Freeform 144"/>
              <p:cNvSpPr/>
              <p:nvPr/>
            </p:nvSpPr>
            <p:spPr>
              <a:xfrm>
                <a:off x="10882312" y="5007768"/>
                <a:ext cx="41275" cy="41275"/>
              </a:xfrm>
              <a:custGeom>
                <a:avLst/>
                <a:gdLst/>
                <a:ahLst/>
                <a:cxnLst/>
                <a:rect l="l" t="t" r="r" b="b"/>
                <a:pathLst>
                  <a:path w="41275" h="41275">
                    <a:moveTo>
                      <a:pt x="0" y="0"/>
                    </a:moveTo>
                    <a:lnTo>
                      <a:pt x="41275" y="41275"/>
                    </a:lnTo>
                  </a:path>
                </a:pathLst>
              </a:custGeom>
              <a:noFill/>
              <a:ln w="20637">
                <a:solidFill>
                  <a:srgbClr val="A8351D"/>
                </a:solidFill>
              </a:ln>
            </p:spPr>
          </p:sp>
          <p:sp>
            <p:nvSpPr>
              <p:cNvPr id="145" name="Freeform 145"/>
              <p:cNvSpPr/>
              <p:nvPr/>
            </p:nvSpPr>
            <p:spPr>
              <a:xfrm>
                <a:off x="10913268" y="4976812"/>
                <a:ext cx="41275" cy="41275"/>
              </a:xfrm>
              <a:custGeom>
                <a:avLst/>
                <a:gdLst/>
                <a:ahLst/>
                <a:cxnLst/>
                <a:rect l="l" t="t" r="r" b="b"/>
                <a:pathLst>
                  <a:path w="41275" h="41275">
                    <a:moveTo>
                      <a:pt x="41275" y="41275"/>
                    </a:moveTo>
                    <a:lnTo>
                      <a:pt x="0" y="0"/>
                    </a:lnTo>
                  </a:path>
                </a:pathLst>
              </a:custGeom>
              <a:noFill/>
              <a:ln w="20637">
                <a:solidFill>
                  <a:srgbClr val="A8351D"/>
                </a:solidFill>
              </a:ln>
            </p:spPr>
          </p:sp>
          <p:sp>
            <p:nvSpPr>
              <p:cNvPr id="146" name="Freeform 146"/>
              <p:cNvSpPr/>
              <p:nvPr/>
            </p:nvSpPr>
            <p:spPr>
              <a:xfrm>
                <a:off x="10851356" y="5131593"/>
                <a:ext cx="72231" cy="9525"/>
              </a:xfrm>
              <a:custGeom>
                <a:avLst/>
                <a:gdLst/>
                <a:ahLst/>
                <a:cxnLst/>
                <a:rect l="l" t="t" r="r" b="b"/>
                <a:pathLst>
                  <a:path w="72231" h="9525">
                    <a:moveTo>
                      <a:pt x="0" y="0"/>
                    </a:moveTo>
                    <a:lnTo>
                      <a:pt x="72231" y="0"/>
                    </a:lnTo>
                  </a:path>
                </a:pathLst>
              </a:custGeom>
              <a:noFill/>
              <a:ln w="20637">
                <a:solidFill>
                  <a:srgbClr val="A8351D"/>
                </a:solidFill>
              </a:ln>
            </p:spPr>
          </p:sp>
          <p:sp>
            <p:nvSpPr>
              <p:cNvPr id="147" name="Freeform 147"/>
              <p:cNvSpPr/>
              <p:nvPr/>
            </p:nvSpPr>
            <p:spPr>
              <a:xfrm>
                <a:off x="10849464" y="4943964"/>
                <a:ext cx="137928" cy="137928"/>
              </a:xfrm>
              <a:custGeom>
                <a:avLst/>
                <a:gdLst/>
                <a:ahLst/>
                <a:cxnLst/>
                <a:rect l="l" t="t" r="r" b="b"/>
                <a:pathLst>
                  <a:path w="137928" h="137928">
                    <a:moveTo>
                      <a:pt x="41031" y="133900"/>
                    </a:moveTo>
                    <a:lnTo>
                      <a:pt x="4028" y="96897"/>
                    </a:lnTo>
                    <a:cubicBezTo>
                      <a:pt x="0" y="92867"/>
                      <a:pt x="0" y="86335"/>
                      <a:pt x="4028" y="82306"/>
                    </a:cubicBezTo>
                    <a:lnTo>
                      <a:pt x="27689" y="58645"/>
                    </a:lnTo>
                    <a:lnTo>
                      <a:pt x="32848" y="63805"/>
                    </a:lnTo>
                    <a:lnTo>
                      <a:pt x="63805" y="32848"/>
                    </a:lnTo>
                    <a:lnTo>
                      <a:pt x="58645" y="27689"/>
                    </a:lnTo>
                    <a:lnTo>
                      <a:pt x="82306" y="4028"/>
                    </a:lnTo>
                    <a:cubicBezTo>
                      <a:pt x="86335" y="0"/>
                      <a:pt x="92867" y="0"/>
                      <a:pt x="96897" y="4028"/>
                    </a:cubicBezTo>
                    <a:lnTo>
                      <a:pt x="133900" y="41031"/>
                    </a:lnTo>
                    <a:cubicBezTo>
                      <a:pt x="137928" y="45061"/>
                      <a:pt x="137928" y="51592"/>
                      <a:pt x="133900" y="55622"/>
                    </a:cubicBezTo>
                    <a:lnTo>
                      <a:pt x="110239" y="79283"/>
                    </a:lnTo>
                    <a:lnTo>
                      <a:pt x="105079" y="74123"/>
                    </a:lnTo>
                    <a:lnTo>
                      <a:pt x="74123" y="105079"/>
                    </a:lnTo>
                    <a:lnTo>
                      <a:pt x="79283" y="110239"/>
                    </a:lnTo>
                    <a:lnTo>
                      <a:pt x="55622" y="133900"/>
                    </a:lnTo>
                    <a:cubicBezTo>
                      <a:pt x="51592" y="137928"/>
                      <a:pt x="45061" y="137928"/>
                      <a:pt x="41031" y="133900"/>
                    </a:cubicBezTo>
                  </a:path>
                </a:pathLst>
              </a:custGeom>
              <a:noFill/>
              <a:ln w="20637">
                <a:solidFill>
                  <a:srgbClr val="A8351D"/>
                </a:solidFill>
              </a:ln>
            </p:spPr>
          </p:sp>
        </p:grpSp>
        <p:sp>
          <p:nvSpPr>
            <p:cNvPr id="149" name="TextBox 149"/>
            <p:cNvSpPr txBox="1"/>
            <p:nvPr/>
          </p:nvSpPr>
          <p:spPr>
            <a:xfrm>
              <a:off x="10611193" y="533614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合规边界模糊</a:t>
              </a:r>
            </a:p>
          </p:txBody>
        </p:sp>
        <p:sp>
          <p:nvSpPr>
            <p:cNvPr id="150" name="Line 150"/>
            <p:cNvSpPr/>
            <p:nvPr/>
          </p:nvSpPr>
          <p:spPr>
            <a:xfrm>
              <a:off x="1228725" y="5581650"/>
              <a:ext cx="9525" cy="171450"/>
            </a:xfrm>
            <a:custGeom>
              <a:avLst/>
              <a:gdLst/>
              <a:ahLst/>
              <a:cxnLst/>
              <a:rect l="l" t="t" r="r" b="b"/>
              <a:pathLst>
                <a:path w="9525" h="171450">
                  <a:moveTo>
                    <a:pt x="0" y="0"/>
                  </a:moveTo>
                  <a:lnTo>
                    <a:pt x="0" y="171450"/>
                  </a:lnTo>
                </a:path>
              </a:pathLst>
            </a:custGeom>
            <a:noFill/>
            <a:ln w="14288">
              <a:solidFill>
                <a:srgbClr val="C9462F"/>
              </a:solidFill>
            </a:ln>
          </p:spPr>
        </p:sp>
        <p:sp>
          <p:nvSpPr>
            <p:cNvPr id="151" name="Line 151"/>
            <p:cNvSpPr/>
            <p:nvPr/>
          </p:nvSpPr>
          <p:spPr>
            <a:xfrm>
              <a:off x="3175635" y="5581650"/>
              <a:ext cx="9525" cy="171450"/>
            </a:xfrm>
            <a:custGeom>
              <a:avLst/>
              <a:gdLst/>
              <a:ahLst/>
              <a:cxnLst/>
              <a:rect l="l" t="t" r="r" b="b"/>
              <a:pathLst>
                <a:path w="9525" h="171450">
                  <a:moveTo>
                    <a:pt x="0" y="0"/>
                  </a:moveTo>
                  <a:lnTo>
                    <a:pt x="0" y="171450"/>
                  </a:lnTo>
                </a:path>
              </a:pathLst>
            </a:custGeom>
            <a:noFill/>
            <a:ln w="14288">
              <a:solidFill>
                <a:srgbClr val="C9462F"/>
              </a:solidFill>
            </a:ln>
          </p:spPr>
        </p:sp>
        <p:sp>
          <p:nvSpPr>
            <p:cNvPr id="152" name="Line 152"/>
            <p:cNvSpPr/>
            <p:nvPr/>
          </p:nvSpPr>
          <p:spPr>
            <a:xfrm>
              <a:off x="5122545" y="5581650"/>
              <a:ext cx="9525" cy="171450"/>
            </a:xfrm>
            <a:custGeom>
              <a:avLst/>
              <a:gdLst/>
              <a:ahLst/>
              <a:cxnLst/>
              <a:rect l="l" t="t" r="r" b="b"/>
              <a:pathLst>
                <a:path w="9525" h="171450">
                  <a:moveTo>
                    <a:pt x="0" y="0"/>
                  </a:moveTo>
                  <a:lnTo>
                    <a:pt x="0" y="171450"/>
                  </a:lnTo>
                </a:path>
              </a:pathLst>
            </a:custGeom>
            <a:noFill/>
            <a:ln w="14288">
              <a:solidFill>
                <a:srgbClr val="C9462F"/>
              </a:solidFill>
            </a:ln>
          </p:spPr>
        </p:sp>
        <p:sp>
          <p:nvSpPr>
            <p:cNvPr id="153" name="Line 153"/>
            <p:cNvSpPr/>
            <p:nvPr/>
          </p:nvSpPr>
          <p:spPr>
            <a:xfrm>
              <a:off x="7069455" y="5581650"/>
              <a:ext cx="9525" cy="171450"/>
            </a:xfrm>
            <a:custGeom>
              <a:avLst/>
              <a:gdLst/>
              <a:ahLst/>
              <a:cxnLst/>
              <a:rect l="l" t="t" r="r" b="b"/>
              <a:pathLst>
                <a:path w="9525" h="171450">
                  <a:moveTo>
                    <a:pt x="0" y="0"/>
                  </a:moveTo>
                  <a:lnTo>
                    <a:pt x="0" y="171450"/>
                  </a:lnTo>
                </a:path>
              </a:pathLst>
            </a:custGeom>
            <a:noFill/>
            <a:ln w="14288">
              <a:solidFill>
                <a:srgbClr val="C9462F"/>
              </a:solidFill>
            </a:ln>
          </p:spPr>
        </p:sp>
        <p:sp>
          <p:nvSpPr>
            <p:cNvPr id="154" name="Line 154"/>
            <p:cNvSpPr/>
            <p:nvPr/>
          </p:nvSpPr>
          <p:spPr>
            <a:xfrm>
              <a:off x="9016365" y="5581650"/>
              <a:ext cx="9525" cy="171450"/>
            </a:xfrm>
            <a:custGeom>
              <a:avLst/>
              <a:gdLst/>
              <a:ahLst/>
              <a:cxnLst/>
              <a:rect l="l" t="t" r="r" b="b"/>
              <a:pathLst>
                <a:path w="9525" h="171450">
                  <a:moveTo>
                    <a:pt x="0" y="0"/>
                  </a:moveTo>
                  <a:lnTo>
                    <a:pt x="0" y="171450"/>
                  </a:lnTo>
                </a:path>
              </a:pathLst>
            </a:custGeom>
            <a:noFill/>
            <a:ln w="14288">
              <a:solidFill>
                <a:srgbClr val="C9462F"/>
              </a:solidFill>
            </a:ln>
          </p:spPr>
        </p:sp>
        <p:sp>
          <p:nvSpPr>
            <p:cNvPr id="155" name="Line 155"/>
            <p:cNvSpPr/>
            <p:nvPr/>
          </p:nvSpPr>
          <p:spPr>
            <a:xfrm>
              <a:off x="10963275" y="5581650"/>
              <a:ext cx="9525" cy="171450"/>
            </a:xfrm>
            <a:custGeom>
              <a:avLst/>
              <a:gdLst/>
              <a:ahLst/>
              <a:cxnLst/>
              <a:rect l="l" t="t" r="r" b="b"/>
              <a:pathLst>
                <a:path w="9525" h="171450">
                  <a:moveTo>
                    <a:pt x="0" y="0"/>
                  </a:moveTo>
                  <a:lnTo>
                    <a:pt x="0" y="171450"/>
                  </a:lnTo>
                </a:path>
              </a:pathLst>
            </a:custGeom>
            <a:noFill/>
            <a:ln w="14288">
              <a:solidFill>
                <a:srgbClr val="C9462F"/>
              </a:solidFill>
            </a:ln>
          </p:spPr>
        </p:sp>
        <p:sp>
          <p:nvSpPr>
            <p:cNvPr id="156" name="Line 156"/>
            <p:cNvSpPr/>
            <p:nvPr/>
          </p:nvSpPr>
          <p:spPr>
            <a:xfrm>
              <a:off x="1228725" y="5753100"/>
              <a:ext cx="9734550" cy="9525"/>
            </a:xfrm>
            <a:custGeom>
              <a:avLst/>
              <a:gdLst/>
              <a:ahLst/>
              <a:cxnLst/>
              <a:rect l="l" t="t" r="r" b="b"/>
              <a:pathLst>
                <a:path w="9734550" h="9525">
                  <a:moveTo>
                    <a:pt x="0" y="0"/>
                  </a:moveTo>
                  <a:lnTo>
                    <a:pt x="9734550" y="0"/>
                  </a:lnTo>
                </a:path>
              </a:pathLst>
            </a:custGeom>
            <a:noFill/>
            <a:ln w="14288">
              <a:solidFill>
                <a:srgbClr val="C9462F"/>
              </a:solidFill>
            </a:ln>
          </p:spPr>
        </p:sp>
        <p:sp>
          <p:nvSpPr>
            <p:cNvPr id="157" name="Line 157"/>
            <p:cNvSpPr/>
            <p:nvPr/>
          </p:nvSpPr>
          <p:spPr>
            <a:xfrm>
              <a:off x="2190750" y="5753100"/>
              <a:ext cx="9525" cy="133350"/>
            </a:xfrm>
            <a:custGeom>
              <a:avLst/>
              <a:gdLst/>
              <a:ahLst/>
              <a:cxnLst/>
              <a:rect l="l" t="t" r="r" b="b"/>
              <a:pathLst>
                <a:path w="9525" h="133350">
                  <a:moveTo>
                    <a:pt x="0" y="0"/>
                  </a:moveTo>
                  <a:lnTo>
                    <a:pt x="0" y="133350"/>
                  </a:lnTo>
                </a:path>
              </a:pathLst>
            </a:custGeom>
            <a:noFill/>
            <a:ln w="14288">
              <a:solidFill>
                <a:srgbClr val="C9462F"/>
              </a:solidFill>
            </a:ln>
          </p:spPr>
        </p:sp>
        <p:sp>
          <p:nvSpPr>
            <p:cNvPr id="158" name="Line 158"/>
            <p:cNvSpPr/>
            <p:nvPr/>
          </p:nvSpPr>
          <p:spPr>
            <a:xfrm>
              <a:off x="6096000" y="5753100"/>
              <a:ext cx="9525" cy="133350"/>
            </a:xfrm>
            <a:custGeom>
              <a:avLst/>
              <a:gdLst/>
              <a:ahLst/>
              <a:cxnLst/>
              <a:rect l="l" t="t" r="r" b="b"/>
              <a:pathLst>
                <a:path w="9525" h="133350">
                  <a:moveTo>
                    <a:pt x="0" y="0"/>
                  </a:moveTo>
                  <a:lnTo>
                    <a:pt x="0" y="133350"/>
                  </a:lnTo>
                </a:path>
              </a:pathLst>
            </a:custGeom>
            <a:noFill/>
            <a:ln w="14288">
              <a:solidFill>
                <a:srgbClr val="C9462F"/>
              </a:solidFill>
            </a:ln>
          </p:spPr>
        </p:sp>
        <p:sp>
          <p:nvSpPr>
            <p:cNvPr id="159" name="Line 159"/>
            <p:cNvSpPr/>
            <p:nvPr/>
          </p:nvSpPr>
          <p:spPr>
            <a:xfrm>
              <a:off x="10001250" y="5753100"/>
              <a:ext cx="9525" cy="133350"/>
            </a:xfrm>
            <a:custGeom>
              <a:avLst/>
              <a:gdLst/>
              <a:ahLst/>
              <a:cxnLst/>
              <a:rect l="l" t="t" r="r" b="b"/>
              <a:pathLst>
                <a:path w="9525" h="133350">
                  <a:moveTo>
                    <a:pt x="0" y="0"/>
                  </a:moveTo>
                  <a:lnTo>
                    <a:pt x="0" y="133350"/>
                  </a:lnTo>
                </a:path>
              </a:pathLst>
            </a:custGeom>
            <a:noFill/>
            <a:ln w="14288">
              <a:solidFill>
                <a:srgbClr val="C9462F"/>
              </a:solidFill>
            </a:ln>
          </p:spPr>
        </p:sp>
        <p:sp>
          <p:nvSpPr>
            <p:cNvPr id="160" name="Rectangle 160"/>
            <p:cNvSpPr/>
            <p:nvPr/>
          </p:nvSpPr>
          <p:spPr>
            <a:xfrm>
              <a:off x="381000" y="5905500"/>
              <a:ext cx="3619500" cy="704850"/>
            </a:xfrm>
            <a:prstGeom prst="roundRect">
              <a:avLst>
                <a:gd name="adj" fmla="val 10811"/>
              </a:avLst>
            </a:prstGeom>
            <a:solidFill>
              <a:srgbClr val="FDF6E7"/>
            </a:solidFill>
            <a:ln w="14288">
              <a:solidFill>
                <a:srgbClr val="C9462F"/>
              </a:solidFill>
            </a:ln>
          </p:spPr>
        </p:sp>
        <p:grpSp>
          <p:nvGrpSpPr>
            <p:cNvPr id="163" name="Group 163"/>
            <p:cNvGrpSpPr/>
            <p:nvPr/>
          </p:nvGrpSpPr>
          <p:grpSpPr>
            <a:xfrm>
              <a:off x="759619" y="6174581"/>
              <a:ext cx="214312" cy="175142"/>
              <a:chOff x="759619" y="6174581"/>
              <a:chExt cx="214312" cy="175142"/>
            </a:xfrm>
          </p:grpSpPr>
          <p:sp>
            <p:nvSpPr>
              <p:cNvPr id="161" name="Freeform 161"/>
              <p:cNvSpPr/>
              <p:nvPr/>
            </p:nvSpPr>
            <p:spPr>
              <a:xfrm>
                <a:off x="759619" y="6174581"/>
                <a:ext cx="214312" cy="175142"/>
              </a:xfrm>
              <a:custGeom>
                <a:avLst/>
                <a:gdLst/>
                <a:ahLst/>
                <a:cxnLst/>
                <a:rect l="l" t="t" r="r" b="b"/>
                <a:pathLst>
                  <a:path w="214312" h="175142">
                    <a:moveTo>
                      <a:pt x="35719" y="0"/>
                    </a:moveTo>
                    <a:lnTo>
                      <a:pt x="178594" y="0"/>
                    </a:lnTo>
                    <a:lnTo>
                      <a:pt x="214312" y="59531"/>
                    </a:lnTo>
                    <a:lnTo>
                      <a:pt x="113109" y="172641"/>
                    </a:lnTo>
                    <a:cubicBezTo>
                      <a:pt x="111542" y="174241"/>
                      <a:pt x="109396" y="175142"/>
                      <a:pt x="107156" y="175142"/>
                    </a:cubicBezTo>
                    <a:cubicBezTo>
                      <a:pt x="104916" y="175142"/>
                      <a:pt x="102771" y="174241"/>
                      <a:pt x="101203" y="172641"/>
                    </a:cubicBezTo>
                    <a:lnTo>
                      <a:pt x="0" y="59531"/>
                    </a:lnTo>
                    <a:lnTo>
                      <a:pt x="35719" y="0"/>
                    </a:lnTo>
                  </a:path>
                </a:pathLst>
              </a:custGeom>
              <a:noFill/>
              <a:ln w="23812">
                <a:solidFill>
                  <a:srgbClr val="C9462F"/>
                </a:solidFill>
              </a:ln>
            </p:spPr>
          </p:sp>
          <p:sp>
            <p:nvSpPr>
              <p:cNvPr id="162" name="Freeform 162"/>
              <p:cNvSpPr/>
              <p:nvPr/>
            </p:nvSpPr>
            <p:spPr>
              <a:xfrm>
                <a:off x="819150" y="6219825"/>
                <a:ext cx="23812" cy="38100"/>
              </a:xfrm>
              <a:custGeom>
                <a:avLst/>
                <a:gdLst/>
                <a:ahLst/>
                <a:cxnLst/>
                <a:rect l="l" t="t" r="r" b="b"/>
                <a:pathLst>
                  <a:path w="23812" h="38100">
                    <a:moveTo>
                      <a:pt x="23812" y="38100"/>
                    </a:moveTo>
                    <a:lnTo>
                      <a:pt x="0" y="11906"/>
                    </a:lnTo>
                    <a:lnTo>
                      <a:pt x="7144" y="0"/>
                    </a:lnTo>
                  </a:path>
                </a:pathLst>
              </a:custGeom>
              <a:noFill/>
              <a:ln w="23812">
                <a:solidFill>
                  <a:srgbClr val="C9462F"/>
                </a:solidFill>
              </a:ln>
            </p:spPr>
          </p:sp>
        </p:grpSp>
        <p:sp>
          <p:nvSpPr>
            <p:cNvPr id="164" name="TextBox 164"/>
            <p:cNvSpPr txBox="1"/>
            <p:nvPr/>
          </p:nvSpPr>
          <p:spPr>
            <a:xfrm>
              <a:off x="1232535" y="6203156"/>
              <a:ext cx="1066851" cy="220028"/>
            </a:xfrm>
            <a:prstGeom prst="rect">
              <a:avLst/>
            </a:prstGeom>
            <a:noFill/>
            <a:ln>
              <a:noFill/>
            </a:ln>
          </p:spPr>
          <p:txBody>
            <a:bodyPr wrap="none" lIns="0" tIns="0" rIns="0" bIns="0" anchor="t" anchorCtr="0">
              <a:spAutoFit/>
            </a:bodyPr>
            <a:lstStyle/>
            <a:p>
              <a:pPr algn="l"/>
              <a:r>
                <a:rPr lang="zh-CN" sz="1120" b="1" dirty="0">
                  <a:solidFill>
                    <a:srgbClr val="B0351F"/>
                  </a:solidFill>
                  <a:latin typeface="+mn-lt"/>
                  <a:ea typeface="+mn-ea"/>
                  <a:cs typeface="+mn-cs"/>
                </a:rPr>
                <a:t>客户价值未释放</a:t>
              </a:r>
            </a:p>
          </p:txBody>
        </p:sp>
        <p:sp>
          <p:nvSpPr>
            <p:cNvPr id="165" name="Rectangle 165"/>
            <p:cNvSpPr/>
            <p:nvPr/>
          </p:nvSpPr>
          <p:spPr>
            <a:xfrm>
              <a:off x="4095750" y="5905500"/>
              <a:ext cx="3619500" cy="704850"/>
            </a:xfrm>
            <a:prstGeom prst="roundRect">
              <a:avLst>
                <a:gd name="adj" fmla="val 10811"/>
              </a:avLst>
            </a:prstGeom>
            <a:solidFill>
              <a:srgbClr val="FDF6E7"/>
            </a:solidFill>
            <a:ln w="14288">
              <a:solidFill>
                <a:srgbClr val="C9462F"/>
              </a:solidFill>
            </a:ln>
          </p:spPr>
        </p:sp>
        <p:grpSp>
          <p:nvGrpSpPr>
            <p:cNvPr id="168" name="Group 168"/>
            <p:cNvGrpSpPr/>
            <p:nvPr/>
          </p:nvGrpSpPr>
          <p:grpSpPr>
            <a:xfrm>
              <a:off x="4486275" y="6186488"/>
              <a:ext cx="190500" cy="164306"/>
              <a:chOff x="4486275" y="6186488"/>
              <a:chExt cx="190500" cy="164306"/>
            </a:xfrm>
          </p:grpSpPr>
          <p:sp>
            <p:nvSpPr>
              <p:cNvPr id="166" name="Freeform 166"/>
              <p:cNvSpPr/>
              <p:nvPr/>
            </p:nvSpPr>
            <p:spPr>
              <a:xfrm>
                <a:off x="4486275" y="6341269"/>
                <a:ext cx="190500" cy="9525"/>
              </a:xfrm>
              <a:custGeom>
                <a:avLst/>
                <a:gdLst/>
                <a:ahLst/>
                <a:cxnLst/>
                <a:rect l="l" t="t" r="r" b="b"/>
                <a:pathLst>
                  <a:path w="190500" h="9525">
                    <a:moveTo>
                      <a:pt x="0" y="0"/>
                    </a:moveTo>
                    <a:lnTo>
                      <a:pt x="190500" y="0"/>
                    </a:lnTo>
                  </a:path>
                </a:pathLst>
              </a:custGeom>
              <a:noFill/>
              <a:ln w="23812">
                <a:solidFill>
                  <a:srgbClr val="C9462F"/>
                </a:solidFill>
              </a:ln>
            </p:spPr>
          </p:sp>
          <p:sp>
            <p:nvSpPr>
              <p:cNvPr id="167" name="Freeform 167"/>
              <p:cNvSpPr/>
              <p:nvPr/>
            </p:nvSpPr>
            <p:spPr>
              <a:xfrm>
                <a:off x="4486275" y="6186488"/>
                <a:ext cx="190500" cy="107156"/>
              </a:xfrm>
              <a:custGeom>
                <a:avLst/>
                <a:gdLst/>
                <a:ahLst/>
                <a:cxnLst/>
                <a:rect l="l" t="t" r="r" b="b"/>
                <a:pathLst>
                  <a:path w="190500" h="107156">
                    <a:moveTo>
                      <a:pt x="0" y="107156"/>
                    </a:moveTo>
                    <a:lnTo>
                      <a:pt x="47625" y="35719"/>
                    </a:lnTo>
                    <a:lnTo>
                      <a:pt x="95250" y="59531"/>
                    </a:lnTo>
                    <a:lnTo>
                      <a:pt x="142875" y="0"/>
                    </a:lnTo>
                    <a:lnTo>
                      <a:pt x="190500" y="47625"/>
                    </a:lnTo>
                  </a:path>
                </a:pathLst>
              </a:custGeom>
              <a:noFill/>
              <a:ln w="23812">
                <a:solidFill>
                  <a:srgbClr val="C9462F"/>
                </a:solidFill>
              </a:ln>
            </p:spPr>
          </p:sp>
        </p:grpSp>
        <p:sp>
          <p:nvSpPr>
            <p:cNvPr id="169" name="TextBox 169"/>
            <p:cNvSpPr txBox="1"/>
            <p:nvPr/>
          </p:nvSpPr>
          <p:spPr>
            <a:xfrm>
              <a:off x="4947285" y="6203156"/>
              <a:ext cx="1066851" cy="220028"/>
            </a:xfrm>
            <a:prstGeom prst="rect">
              <a:avLst/>
            </a:prstGeom>
            <a:noFill/>
            <a:ln>
              <a:noFill/>
            </a:ln>
          </p:spPr>
          <p:txBody>
            <a:bodyPr wrap="none" lIns="0" tIns="0" rIns="0" bIns="0" anchor="t" anchorCtr="0">
              <a:spAutoFit/>
            </a:bodyPr>
            <a:lstStyle/>
            <a:p>
              <a:pPr algn="l"/>
              <a:r>
                <a:rPr lang="zh-CN" sz="1120" b="1" dirty="0">
                  <a:solidFill>
                    <a:srgbClr val="B0351F"/>
                  </a:solidFill>
                  <a:latin typeface="+mn-lt"/>
                  <a:ea typeface="+mn-ea"/>
                  <a:cs typeface="+mn-cs"/>
                </a:rPr>
                <a:t>交叉转化率偏低</a:t>
              </a:r>
            </a:p>
          </p:txBody>
        </p:sp>
        <p:sp>
          <p:nvSpPr>
            <p:cNvPr id="170" name="Rectangle 170"/>
            <p:cNvSpPr/>
            <p:nvPr/>
          </p:nvSpPr>
          <p:spPr>
            <a:xfrm>
              <a:off x="7810500" y="5905500"/>
              <a:ext cx="3619500" cy="704850"/>
            </a:xfrm>
            <a:prstGeom prst="roundRect">
              <a:avLst>
                <a:gd name="adj" fmla="val 10811"/>
              </a:avLst>
            </a:prstGeom>
            <a:solidFill>
              <a:srgbClr val="FDF6E7"/>
            </a:solidFill>
            <a:ln w="14288">
              <a:solidFill>
                <a:srgbClr val="C9462F"/>
              </a:solidFill>
            </a:ln>
          </p:spPr>
        </p:sp>
        <p:grpSp>
          <p:nvGrpSpPr>
            <p:cNvPr id="173" name="Group 173"/>
            <p:cNvGrpSpPr/>
            <p:nvPr/>
          </p:nvGrpSpPr>
          <p:grpSpPr>
            <a:xfrm>
              <a:off x="8173051" y="6150769"/>
              <a:ext cx="232508" cy="214312"/>
              <a:chOff x="8173051" y="6150769"/>
              <a:chExt cx="232508" cy="214312"/>
            </a:xfrm>
          </p:grpSpPr>
          <p:sp>
            <p:nvSpPr>
              <p:cNvPr id="171" name="Freeform 171"/>
              <p:cNvSpPr/>
              <p:nvPr/>
            </p:nvSpPr>
            <p:spPr>
              <a:xfrm>
                <a:off x="8173051" y="61507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C9462F"/>
                </a:solidFill>
              </a:ln>
            </p:spPr>
          </p:sp>
          <p:sp>
            <p:nvSpPr>
              <p:cNvPr id="172" name="Freeform 172"/>
              <p:cNvSpPr/>
              <p:nvPr/>
            </p:nvSpPr>
            <p:spPr>
              <a:xfrm>
                <a:off x="8331994" y="6317456"/>
                <a:ext cx="71438" cy="47625"/>
              </a:xfrm>
              <a:custGeom>
                <a:avLst/>
                <a:gdLst/>
                <a:ahLst/>
                <a:cxnLst/>
                <a:rect l="l" t="t" r="r" b="b"/>
                <a:pathLst>
                  <a:path w="71438" h="47625">
                    <a:moveTo>
                      <a:pt x="0" y="23812"/>
                    </a:moveTo>
                    <a:lnTo>
                      <a:pt x="23812" y="47625"/>
                    </a:lnTo>
                    <a:lnTo>
                      <a:pt x="71438" y="0"/>
                    </a:lnTo>
                  </a:path>
                </a:pathLst>
              </a:custGeom>
              <a:noFill/>
              <a:ln w="23812">
                <a:solidFill>
                  <a:srgbClr val="C9462F"/>
                </a:solidFill>
              </a:ln>
            </p:spPr>
          </p:sp>
        </p:grpSp>
        <p:sp>
          <p:nvSpPr>
            <p:cNvPr id="174" name="TextBox 174"/>
            <p:cNvSpPr txBox="1"/>
            <p:nvPr/>
          </p:nvSpPr>
          <p:spPr>
            <a:xfrm>
              <a:off x="8662035" y="6203156"/>
              <a:ext cx="1368400" cy="220028"/>
            </a:xfrm>
            <a:prstGeom prst="rect">
              <a:avLst/>
            </a:prstGeom>
            <a:noFill/>
            <a:ln>
              <a:noFill/>
            </a:ln>
          </p:spPr>
          <p:txBody>
            <a:bodyPr wrap="none" lIns="0" tIns="0" rIns="0" bIns="0" anchor="t" anchorCtr="0">
              <a:spAutoFit/>
            </a:bodyPr>
            <a:lstStyle/>
            <a:p>
              <a:pPr algn="l"/>
              <a:r>
                <a:rPr lang="zh-CN" sz="1120" b="1" dirty="0">
                  <a:solidFill>
                    <a:srgbClr val="B0351F"/>
                  </a:solidFill>
                  <a:latin typeface="+mn-lt"/>
                  <a:ea typeface="+mn-ea"/>
                  <a:cs typeface="+mn-cs"/>
                </a:rPr>
                <a:t>重复触达与合规风险</a:t>
              </a:r>
            </a:p>
          </p:txBody>
        </p:sp>
      </p:gr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03</a:t>
              </a:r>
            </a:p>
          </p:txBody>
        </p:sp>
        <p:sp>
          <p:nvSpPr>
            <p:cNvPr id="4" name="TextBox 4"/>
            <p:cNvSpPr txBox="1"/>
            <p:nvPr/>
          </p:nvSpPr>
          <p:spPr>
            <a:xfrm>
              <a:off x="904494" y="170498"/>
              <a:ext cx="5012436"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总体蓝图｜建设一体化全量客户经营体系</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9" name="arrow-descend"/>
          <p:cNvGrpSpPr/>
          <p:nvPr/>
        </p:nvGrpSpPr>
        <p:grpSpPr>
          <a:xfrm>
            <a:off x="419100" y="838200"/>
            <a:ext cx="419100" cy="3638550"/>
            <a:chOff x="419100" y="838200"/>
            <a:chExt cx="419100" cy="3638550"/>
          </a:xfrm>
        </p:grpSpPr>
        <p:sp>
          <p:nvSpPr>
            <p:cNvPr id="7" name="Freeform 7"/>
            <p:cNvSpPr/>
            <p:nvPr/>
          </p:nvSpPr>
          <p:spPr>
            <a:xfrm>
              <a:off x="419100" y="838200"/>
              <a:ext cx="419100" cy="3638550"/>
            </a:xfrm>
            <a:prstGeom prst="downArrow">
              <a:avLst/>
            </a:prstGeom>
            <a:solidFill>
              <a:srgbClr val="EFC2B9"/>
            </a:solidFill>
            <a:ln>
              <a:noFill/>
            </a:ln>
          </p:spPr>
        </p:sp>
        <p:sp>
          <p:nvSpPr>
            <p:cNvPr id="8" name="TextBox 8"/>
            <p:cNvSpPr txBox="1"/>
            <p:nvPr/>
          </p:nvSpPr>
          <p:spPr>
            <a:xfrm>
              <a:off x="551815" y="1307306"/>
              <a:ext cx="153670" cy="1839278"/>
            </a:xfrm>
            <a:prstGeom prst="rect">
              <a:avLst/>
            </a:prstGeom>
            <a:noFill/>
            <a:ln>
              <a:noFill/>
            </a:ln>
          </p:spPr>
          <p:txBody>
            <a:bodyPr wrap="none" lIns="0" tIns="0" rIns="0" bIns="0" anchor="t" anchorCtr="0">
              <a:spAutoFit/>
            </a:bodyPr>
            <a:lstStyle/>
            <a:p>
              <a:pPr algn="ctr">
                <a:lnSpc>
                  <a:spcPts val="2550"/>
                </a:lnSpc>
              </a:pPr>
              <a:r>
                <a:rPr lang="zh-CN" sz="1120" b="1" dirty="0">
                  <a:solidFill>
                    <a:srgbClr val="9E311B"/>
                  </a:solidFill>
                  <a:latin typeface="+mn-lt"/>
                  <a:ea typeface="+mn-ea"/>
                  <a:cs typeface="+mn-cs"/>
                </a:rPr>
                <a:t>经</a:t>
              </a:r>
              <a:br/>
              <a:r>
                <a:rPr lang="zh-CN" sz="1120" b="1" dirty="0">
                  <a:solidFill>
                    <a:srgbClr val="9E311B"/>
                  </a:solidFill>
                  <a:latin typeface="+mn-lt"/>
                  <a:ea typeface="+mn-ea"/>
                  <a:cs typeface="+mn-cs"/>
                </a:rPr>
                <a:t>营</a:t>
              </a:r>
              <a:br/>
              <a:r>
                <a:rPr lang="zh-CN" sz="1120" b="1" dirty="0">
                  <a:solidFill>
                    <a:srgbClr val="9E311B"/>
                  </a:solidFill>
                  <a:latin typeface="+mn-lt"/>
                  <a:ea typeface="+mn-ea"/>
                  <a:cs typeface="+mn-cs"/>
                </a:rPr>
                <a:t>策</a:t>
              </a:r>
              <a:br/>
              <a:r>
                <a:rPr lang="zh-CN" sz="1120" b="1" dirty="0">
                  <a:solidFill>
                    <a:srgbClr val="9E311B"/>
                  </a:solidFill>
                  <a:latin typeface="+mn-lt"/>
                  <a:ea typeface="+mn-ea"/>
                  <a:cs typeface="+mn-cs"/>
                </a:rPr>
                <a:t>略</a:t>
              </a:r>
              <a:br/>
              <a:r>
                <a:rPr lang="zh-CN" sz="1120" b="1" dirty="0">
                  <a:solidFill>
                    <a:srgbClr val="9E311B"/>
                  </a:solidFill>
                  <a:latin typeface="+mn-lt"/>
                  <a:ea typeface="+mn-ea"/>
                  <a:cs typeface="+mn-cs"/>
                </a:rPr>
                <a:t>下</a:t>
              </a:r>
              <a:br/>
              <a:r>
                <a:rPr lang="zh-CN" sz="1120" b="1" dirty="0">
                  <a:solidFill>
                    <a:srgbClr val="9E311B"/>
                  </a:solidFill>
                  <a:latin typeface="+mn-lt"/>
                  <a:ea typeface="+mn-ea"/>
                  <a:cs typeface="+mn-cs"/>
                </a:rPr>
                <a:t>沉</a:t>
              </a:r>
            </a:p>
          </p:txBody>
        </p:sp>
      </p:grpSp>
      <p:grpSp>
        <p:nvGrpSpPr>
          <p:cNvPr id="12" name="arrow-ascend"/>
          <p:cNvGrpSpPr/>
          <p:nvPr/>
        </p:nvGrpSpPr>
        <p:grpSpPr>
          <a:xfrm>
            <a:off x="10953750" y="838200"/>
            <a:ext cx="419100" cy="3638550"/>
            <a:chOff x="10953750" y="838200"/>
            <a:chExt cx="419100" cy="3638550"/>
          </a:xfrm>
        </p:grpSpPr>
        <p:sp>
          <p:nvSpPr>
            <p:cNvPr id="10" name="Freeform 10"/>
            <p:cNvSpPr/>
            <p:nvPr/>
          </p:nvSpPr>
          <p:spPr>
            <a:xfrm>
              <a:off x="10953750" y="838200"/>
              <a:ext cx="419100" cy="3638550"/>
            </a:xfrm>
            <a:prstGeom prst="upArrow">
              <a:avLst/>
            </a:prstGeom>
            <a:solidFill>
              <a:srgbClr val="DCB1A9"/>
            </a:solidFill>
            <a:ln>
              <a:noFill/>
            </a:ln>
          </p:spPr>
        </p:sp>
        <p:sp>
          <p:nvSpPr>
            <p:cNvPr id="11" name="TextBox 11"/>
            <p:cNvSpPr txBox="1"/>
            <p:nvPr/>
          </p:nvSpPr>
          <p:spPr>
            <a:xfrm>
              <a:off x="11086465" y="1307306"/>
              <a:ext cx="153670" cy="1839278"/>
            </a:xfrm>
            <a:prstGeom prst="rect">
              <a:avLst/>
            </a:prstGeom>
            <a:noFill/>
            <a:ln>
              <a:noFill/>
            </a:ln>
          </p:spPr>
          <p:txBody>
            <a:bodyPr wrap="none" lIns="0" tIns="0" rIns="0" bIns="0" anchor="t" anchorCtr="0">
              <a:spAutoFit/>
            </a:bodyPr>
            <a:lstStyle/>
            <a:p>
              <a:pPr algn="ctr">
                <a:lnSpc>
                  <a:spcPts val="2550"/>
                </a:lnSpc>
              </a:pPr>
              <a:r>
                <a:rPr lang="zh-CN" sz="1120" b="1" dirty="0">
                  <a:solidFill>
                    <a:srgbClr val="821F0B"/>
                  </a:solidFill>
                  <a:latin typeface="+mn-lt"/>
                  <a:ea typeface="+mn-ea"/>
                  <a:cs typeface="+mn-cs"/>
                </a:rPr>
                <a:t>客</a:t>
              </a:r>
              <a:br/>
              <a:r>
                <a:rPr lang="zh-CN" sz="1120" b="1" dirty="0">
                  <a:solidFill>
                    <a:srgbClr val="821F0B"/>
                  </a:solidFill>
                  <a:latin typeface="+mn-lt"/>
                  <a:ea typeface="+mn-ea"/>
                  <a:cs typeface="+mn-cs"/>
                </a:rPr>
                <a:t>户</a:t>
              </a:r>
              <a:br/>
              <a:r>
                <a:rPr lang="zh-CN" sz="1120" b="1" dirty="0">
                  <a:solidFill>
                    <a:srgbClr val="821F0B"/>
                  </a:solidFill>
                  <a:latin typeface="+mn-lt"/>
                  <a:ea typeface="+mn-ea"/>
                  <a:cs typeface="+mn-cs"/>
                </a:rPr>
                <a:t>价</a:t>
              </a:r>
              <a:br/>
              <a:r>
                <a:rPr lang="zh-CN" sz="1120" b="1" dirty="0">
                  <a:solidFill>
                    <a:srgbClr val="821F0B"/>
                  </a:solidFill>
                  <a:latin typeface="+mn-lt"/>
                  <a:ea typeface="+mn-ea"/>
                  <a:cs typeface="+mn-cs"/>
                </a:rPr>
                <a:t>值</a:t>
              </a:r>
              <a:br/>
              <a:r>
                <a:rPr lang="zh-CN" sz="1120" b="1" dirty="0">
                  <a:solidFill>
                    <a:srgbClr val="821F0B"/>
                  </a:solidFill>
                  <a:latin typeface="+mn-lt"/>
                  <a:ea typeface="+mn-ea"/>
                  <a:cs typeface="+mn-cs"/>
                </a:rPr>
                <a:t>提</a:t>
              </a:r>
              <a:br/>
              <a:r>
                <a:rPr lang="zh-CN" sz="1120" b="1" dirty="0">
                  <a:solidFill>
                    <a:srgbClr val="821F0B"/>
                  </a:solidFill>
                  <a:latin typeface="+mn-lt"/>
                  <a:ea typeface="+mn-ea"/>
                  <a:cs typeface="+mn-cs"/>
                </a:rPr>
                <a:t>升</a:t>
              </a:r>
            </a:p>
          </p:txBody>
        </p:sp>
      </p:grpSp>
      <p:grpSp>
        <p:nvGrpSpPr>
          <p:cNvPr id="219" name="arch-stack"/>
          <p:cNvGrpSpPr/>
          <p:nvPr/>
        </p:nvGrpSpPr>
        <p:grpSpPr>
          <a:xfrm>
            <a:off x="990600" y="838200"/>
            <a:ext cx="9829800" cy="3638550"/>
            <a:chOff x="990600" y="838200"/>
            <a:chExt cx="9829800" cy="3638550"/>
          </a:xfrm>
        </p:grpSpPr>
        <p:sp>
          <p:nvSpPr>
            <p:cNvPr id="13" name="Rectangle 13"/>
            <p:cNvSpPr/>
            <p:nvPr/>
          </p:nvSpPr>
          <p:spPr>
            <a:xfrm>
              <a:off x="990600" y="838200"/>
              <a:ext cx="9829800" cy="666750"/>
            </a:xfrm>
            <a:prstGeom prst="roundRect">
              <a:avLst>
                <a:gd name="adj" fmla="val 8571"/>
              </a:avLst>
            </a:prstGeom>
            <a:solidFill>
              <a:srgbClr val="FFFFFF"/>
            </a:solidFill>
            <a:ln w="9525">
              <a:solidFill>
                <a:srgbClr val="C9D8EF"/>
              </a:solidFill>
            </a:ln>
          </p:spPr>
        </p:sp>
        <p:sp>
          <p:nvSpPr>
            <p:cNvPr id="14" name="Rectangle 14"/>
            <p:cNvSpPr/>
            <p:nvPr/>
          </p:nvSpPr>
          <p:spPr>
            <a:xfrm>
              <a:off x="990600" y="838200"/>
              <a:ext cx="1143000" cy="666750"/>
            </a:xfrm>
            <a:prstGeom prst="roundRect">
              <a:avLst>
                <a:gd name="adj" fmla="val 8571"/>
              </a:avLst>
            </a:prstGeom>
            <a:gradFill>
              <a:gsLst>
                <a:gs pos="0">
                  <a:srgbClr val="67281B"/>
                </a:gs>
                <a:gs pos="100000">
                  <a:srgbClr val="A8351D"/>
                </a:gs>
              </a:gsLst>
              <a:lin ang="0" scaled="1"/>
            </a:gradFill>
            <a:ln>
              <a:noFill/>
            </a:ln>
          </p:spPr>
        </p:sp>
        <p:grpSp>
          <p:nvGrpSpPr>
            <p:cNvPr id="19" name="Group 19"/>
            <p:cNvGrpSpPr/>
            <p:nvPr/>
          </p:nvGrpSpPr>
          <p:grpSpPr>
            <a:xfrm>
              <a:off x="1150144" y="1092994"/>
              <a:ext cx="157163" cy="157163"/>
              <a:chOff x="1150144" y="1092994"/>
              <a:chExt cx="157163" cy="157163"/>
            </a:xfrm>
          </p:grpSpPr>
          <p:sp>
            <p:nvSpPr>
              <p:cNvPr id="15" name="Freeform 15"/>
              <p:cNvSpPr/>
              <p:nvPr/>
            </p:nvSpPr>
            <p:spPr>
              <a:xfrm>
                <a:off x="1167606" y="10929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6" name="Freeform 16"/>
              <p:cNvSpPr/>
              <p:nvPr/>
            </p:nvSpPr>
            <p:spPr>
              <a:xfrm>
                <a:off x="1150144" y="119776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17" name="Freeform 17"/>
              <p:cNvSpPr/>
              <p:nvPr/>
            </p:nvSpPr>
            <p:spPr>
              <a:xfrm>
                <a:off x="1263650" y="109412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18" name="Freeform 18"/>
              <p:cNvSpPr/>
              <p:nvPr/>
            </p:nvSpPr>
            <p:spPr>
              <a:xfrm>
                <a:off x="1281113" y="119907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20" name="TextBox 20"/>
            <p:cNvSpPr txBox="1"/>
            <p:nvPr/>
          </p:nvSpPr>
          <p:spPr>
            <a:xfrm>
              <a:off x="1403985" y="1116806"/>
              <a:ext cx="46375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客户层</a:t>
              </a:r>
            </a:p>
          </p:txBody>
        </p:sp>
        <p:grpSp>
          <p:nvGrpSpPr>
            <p:cNvPr id="29" name="Group 29"/>
            <p:cNvGrpSpPr/>
            <p:nvPr/>
          </p:nvGrpSpPr>
          <p:grpSpPr>
            <a:xfrm>
              <a:off x="2328862" y="1109662"/>
              <a:ext cx="142875" cy="152400"/>
              <a:chOff x="2328862" y="1109662"/>
              <a:chExt cx="142875" cy="152400"/>
            </a:xfrm>
          </p:grpSpPr>
          <p:sp>
            <p:nvSpPr>
              <p:cNvPr id="21" name="Freeform 21"/>
              <p:cNvSpPr/>
              <p:nvPr/>
            </p:nvSpPr>
            <p:spPr>
              <a:xfrm>
                <a:off x="2328862" y="1252537"/>
                <a:ext cx="142875" cy="9525"/>
              </a:xfrm>
              <a:custGeom>
                <a:avLst/>
                <a:gdLst/>
                <a:ahLst/>
                <a:cxnLst/>
                <a:rect l="l" t="t" r="r" b="b"/>
                <a:pathLst>
                  <a:path w="142875" h="9525">
                    <a:moveTo>
                      <a:pt x="0" y="0"/>
                    </a:moveTo>
                    <a:lnTo>
                      <a:pt x="142875" y="0"/>
                    </a:lnTo>
                  </a:path>
                </a:pathLst>
              </a:custGeom>
              <a:noFill/>
              <a:ln w="15875">
                <a:solidFill>
                  <a:srgbClr val="A8351D"/>
                </a:solidFill>
              </a:ln>
            </p:spPr>
          </p:sp>
          <p:sp>
            <p:nvSpPr>
              <p:cNvPr id="22" name="Freeform 22"/>
              <p:cNvSpPr/>
              <p:nvPr/>
            </p:nvSpPr>
            <p:spPr>
              <a:xfrm>
                <a:off x="2376487" y="1149350"/>
                <a:ext cx="9525" cy="9525"/>
              </a:xfrm>
              <a:custGeom>
                <a:avLst/>
                <a:gdLst/>
                <a:ahLst/>
                <a:cxnLst/>
                <a:rect l="l" t="t" r="r" b="b"/>
                <a:pathLst>
                  <a:path w="9525" h="9525">
                    <a:moveTo>
                      <a:pt x="0" y="0"/>
                    </a:moveTo>
                    <a:lnTo>
                      <a:pt x="7937" y="0"/>
                    </a:lnTo>
                  </a:path>
                </a:pathLst>
              </a:custGeom>
              <a:noFill/>
              <a:ln w="15875">
                <a:solidFill>
                  <a:srgbClr val="A8351D"/>
                </a:solidFill>
              </a:ln>
            </p:spPr>
          </p:sp>
          <p:sp>
            <p:nvSpPr>
              <p:cNvPr id="23" name="Freeform 23"/>
              <p:cNvSpPr/>
              <p:nvPr/>
            </p:nvSpPr>
            <p:spPr>
              <a:xfrm>
                <a:off x="2376487" y="1181100"/>
                <a:ext cx="9525" cy="9525"/>
              </a:xfrm>
              <a:custGeom>
                <a:avLst/>
                <a:gdLst/>
                <a:ahLst/>
                <a:cxnLst/>
                <a:rect l="l" t="t" r="r" b="b"/>
                <a:pathLst>
                  <a:path w="9525" h="9525">
                    <a:moveTo>
                      <a:pt x="0" y="0"/>
                    </a:moveTo>
                    <a:lnTo>
                      <a:pt x="7937" y="0"/>
                    </a:lnTo>
                  </a:path>
                </a:pathLst>
              </a:custGeom>
              <a:noFill/>
              <a:ln w="15875">
                <a:solidFill>
                  <a:srgbClr val="A8351D"/>
                </a:solidFill>
              </a:ln>
            </p:spPr>
          </p:sp>
          <p:sp>
            <p:nvSpPr>
              <p:cNvPr id="24" name="Freeform 24"/>
              <p:cNvSpPr/>
              <p:nvPr/>
            </p:nvSpPr>
            <p:spPr>
              <a:xfrm>
                <a:off x="2376487" y="1212850"/>
                <a:ext cx="9525" cy="9525"/>
              </a:xfrm>
              <a:custGeom>
                <a:avLst/>
                <a:gdLst/>
                <a:ahLst/>
                <a:cxnLst/>
                <a:rect l="l" t="t" r="r" b="b"/>
                <a:pathLst>
                  <a:path w="9525" h="9525">
                    <a:moveTo>
                      <a:pt x="0" y="0"/>
                    </a:moveTo>
                    <a:lnTo>
                      <a:pt x="7937" y="0"/>
                    </a:lnTo>
                  </a:path>
                </a:pathLst>
              </a:custGeom>
              <a:noFill/>
              <a:ln w="15875">
                <a:solidFill>
                  <a:srgbClr val="A8351D"/>
                </a:solidFill>
              </a:ln>
            </p:spPr>
          </p:sp>
          <p:sp>
            <p:nvSpPr>
              <p:cNvPr id="25" name="Freeform 25"/>
              <p:cNvSpPr/>
              <p:nvPr/>
            </p:nvSpPr>
            <p:spPr>
              <a:xfrm>
                <a:off x="2416175" y="1149350"/>
                <a:ext cx="9525" cy="9525"/>
              </a:xfrm>
              <a:custGeom>
                <a:avLst/>
                <a:gdLst/>
                <a:ahLst/>
                <a:cxnLst/>
                <a:rect l="l" t="t" r="r" b="b"/>
                <a:pathLst>
                  <a:path w="9525" h="9525">
                    <a:moveTo>
                      <a:pt x="0" y="0"/>
                    </a:moveTo>
                    <a:lnTo>
                      <a:pt x="7937" y="0"/>
                    </a:lnTo>
                  </a:path>
                </a:pathLst>
              </a:custGeom>
              <a:noFill/>
              <a:ln w="15875">
                <a:solidFill>
                  <a:srgbClr val="A8351D"/>
                </a:solidFill>
              </a:ln>
            </p:spPr>
          </p:sp>
          <p:sp>
            <p:nvSpPr>
              <p:cNvPr id="26" name="Freeform 26"/>
              <p:cNvSpPr/>
              <p:nvPr/>
            </p:nvSpPr>
            <p:spPr>
              <a:xfrm>
                <a:off x="2416175" y="1181100"/>
                <a:ext cx="9525" cy="9525"/>
              </a:xfrm>
              <a:custGeom>
                <a:avLst/>
                <a:gdLst/>
                <a:ahLst/>
                <a:cxnLst/>
                <a:rect l="l" t="t" r="r" b="b"/>
                <a:pathLst>
                  <a:path w="9525" h="9525">
                    <a:moveTo>
                      <a:pt x="0" y="0"/>
                    </a:moveTo>
                    <a:lnTo>
                      <a:pt x="7937" y="0"/>
                    </a:lnTo>
                  </a:path>
                </a:pathLst>
              </a:custGeom>
              <a:noFill/>
              <a:ln w="15875">
                <a:solidFill>
                  <a:srgbClr val="A8351D"/>
                </a:solidFill>
              </a:ln>
            </p:spPr>
          </p:sp>
          <p:sp>
            <p:nvSpPr>
              <p:cNvPr id="27" name="Freeform 27"/>
              <p:cNvSpPr/>
              <p:nvPr/>
            </p:nvSpPr>
            <p:spPr>
              <a:xfrm>
                <a:off x="2416175" y="1212850"/>
                <a:ext cx="9525" cy="9525"/>
              </a:xfrm>
              <a:custGeom>
                <a:avLst/>
                <a:gdLst/>
                <a:ahLst/>
                <a:cxnLst/>
                <a:rect l="l" t="t" r="r" b="b"/>
                <a:pathLst>
                  <a:path w="9525" h="9525">
                    <a:moveTo>
                      <a:pt x="0" y="0"/>
                    </a:moveTo>
                    <a:lnTo>
                      <a:pt x="7937" y="0"/>
                    </a:lnTo>
                  </a:path>
                </a:pathLst>
              </a:custGeom>
              <a:noFill/>
              <a:ln w="15875">
                <a:solidFill>
                  <a:srgbClr val="A8351D"/>
                </a:solidFill>
              </a:ln>
            </p:spPr>
          </p:sp>
          <p:sp>
            <p:nvSpPr>
              <p:cNvPr id="28" name="Freeform 28"/>
              <p:cNvSpPr/>
              <p:nvPr/>
            </p:nvSpPr>
            <p:spPr>
              <a:xfrm>
                <a:off x="2344737" y="1109662"/>
                <a:ext cx="111125" cy="142875"/>
              </a:xfrm>
              <a:custGeom>
                <a:avLst/>
                <a:gdLst/>
                <a:ahLst/>
                <a:cxnLst/>
                <a:rect l="l" t="t" r="r" b="b"/>
                <a:pathLst>
                  <a:path w="111125" h="142875">
                    <a:moveTo>
                      <a:pt x="0" y="142875"/>
                    </a:moveTo>
                    <a:lnTo>
                      <a:pt x="0" y="15875"/>
                    </a:lnTo>
                    <a:cubicBezTo>
                      <a:pt x="0" y="7107"/>
                      <a:pt x="7107" y="0"/>
                      <a:pt x="15875" y="0"/>
                    </a:cubicBezTo>
                    <a:lnTo>
                      <a:pt x="95250" y="0"/>
                    </a:lnTo>
                    <a:cubicBezTo>
                      <a:pt x="104017" y="0"/>
                      <a:pt x="111125" y="7107"/>
                      <a:pt x="111125" y="15875"/>
                    </a:cubicBezTo>
                    <a:lnTo>
                      <a:pt x="111125" y="142875"/>
                    </a:lnTo>
                  </a:path>
                </a:pathLst>
              </a:custGeom>
              <a:noFill/>
              <a:ln w="15875">
                <a:solidFill>
                  <a:srgbClr val="A8351D"/>
                </a:solidFill>
              </a:ln>
            </p:spPr>
          </p:sp>
        </p:grpSp>
        <p:sp>
          <p:nvSpPr>
            <p:cNvPr id="30" name="TextBox 30"/>
            <p:cNvSpPr txBox="1"/>
            <p:nvPr/>
          </p:nvSpPr>
          <p:spPr>
            <a:xfrm>
              <a:off x="2547938" y="1137047"/>
              <a:ext cx="262611"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企业</a:t>
              </a:r>
            </a:p>
          </p:txBody>
        </p:sp>
        <p:sp>
          <p:nvSpPr>
            <p:cNvPr id="31" name="Freeform 31"/>
            <p:cNvSpPr/>
            <p:nvPr/>
          </p:nvSpPr>
          <p:spPr>
            <a:xfrm>
              <a:off x="3414712" y="1133475"/>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A8351D"/>
              </a:solidFill>
            </a:ln>
          </p:spPr>
        </p:sp>
        <p:sp>
          <p:nvSpPr>
            <p:cNvPr id="32" name="TextBox 32"/>
            <p:cNvSpPr txBox="1"/>
            <p:nvPr/>
          </p:nvSpPr>
          <p:spPr>
            <a:xfrm>
              <a:off x="3633788" y="1137047"/>
              <a:ext cx="389153"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企业主</a:t>
              </a:r>
            </a:p>
          </p:txBody>
        </p:sp>
        <p:grpSp>
          <p:nvGrpSpPr>
            <p:cNvPr id="36" name="Group 36"/>
            <p:cNvGrpSpPr/>
            <p:nvPr/>
          </p:nvGrpSpPr>
          <p:grpSpPr>
            <a:xfrm>
              <a:off x="4676775" y="1109662"/>
              <a:ext cx="127209" cy="151009"/>
              <a:chOff x="4676775" y="1109662"/>
              <a:chExt cx="127209" cy="151009"/>
            </a:xfrm>
          </p:grpSpPr>
          <p:sp>
            <p:nvSpPr>
              <p:cNvPr id="33" name="Freeform 33"/>
              <p:cNvSpPr/>
              <p:nvPr/>
            </p:nvSpPr>
            <p:spPr>
              <a:xfrm>
                <a:off x="4692650" y="11096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A8351D"/>
                </a:solidFill>
              </a:ln>
            </p:spPr>
          </p:sp>
          <p:sp>
            <p:nvSpPr>
              <p:cNvPr id="34" name="Freeform 34"/>
              <p:cNvSpPr/>
              <p:nvPr/>
            </p:nvSpPr>
            <p:spPr>
              <a:xfrm>
                <a:off x="4676775" y="1204912"/>
                <a:ext cx="35719" cy="47625"/>
              </a:xfrm>
              <a:custGeom>
                <a:avLst/>
                <a:gdLst/>
                <a:ahLst/>
                <a:cxnLst/>
                <a:rect l="l" t="t" r="r" b="b"/>
                <a:pathLst>
                  <a:path w="35719" h="47625">
                    <a:moveTo>
                      <a:pt x="0" y="47625"/>
                    </a:moveTo>
                    <a:lnTo>
                      <a:pt x="0" y="31750"/>
                    </a:lnTo>
                    <a:cubicBezTo>
                      <a:pt x="0" y="14215"/>
                      <a:pt x="14215" y="0"/>
                      <a:pt x="31750" y="0"/>
                    </a:cubicBezTo>
                    <a:lnTo>
                      <a:pt x="35719" y="0"/>
                    </a:lnTo>
                  </a:path>
                </a:pathLst>
              </a:custGeom>
              <a:noFill/>
              <a:ln w="15875">
                <a:solidFill>
                  <a:srgbClr val="A8351D"/>
                </a:solidFill>
              </a:ln>
            </p:spPr>
          </p:sp>
          <p:sp>
            <p:nvSpPr>
              <p:cNvPr id="35" name="Freeform 35"/>
              <p:cNvSpPr/>
              <p:nvPr/>
            </p:nvSpPr>
            <p:spPr>
              <a:xfrm>
                <a:off x="4736881" y="1196971"/>
                <a:ext cx="67103" cy="63700"/>
              </a:xfrm>
              <a:custGeom>
                <a:avLst/>
                <a:gdLst/>
                <a:ahLst/>
                <a:cxnLst/>
                <a:rect l="l" t="t" r="r" b="b"/>
                <a:pathLst>
                  <a:path w="67103" h="63700">
                    <a:moveTo>
                      <a:pt x="33557" y="54114"/>
                    </a:moveTo>
                    <a:lnTo>
                      <a:pt x="16316" y="63146"/>
                    </a:lnTo>
                    <a:cubicBezTo>
                      <a:pt x="15273" y="63690"/>
                      <a:pt x="14013" y="63598"/>
                      <a:pt x="13059" y="62909"/>
                    </a:cubicBezTo>
                    <a:cubicBezTo>
                      <a:pt x="12105" y="62221"/>
                      <a:pt x="11621" y="61053"/>
                      <a:pt x="11808" y="59892"/>
                    </a:cubicBezTo>
                    <a:lnTo>
                      <a:pt x="15102" y="40755"/>
                    </a:lnTo>
                    <a:lnTo>
                      <a:pt x="1156" y="27205"/>
                    </a:lnTo>
                    <a:cubicBezTo>
                      <a:pt x="306" y="26384"/>
                      <a:pt x="0" y="25151"/>
                      <a:pt x="366" y="24028"/>
                    </a:cubicBezTo>
                    <a:cubicBezTo>
                      <a:pt x="733" y="22905"/>
                      <a:pt x="1708" y="22089"/>
                      <a:pt x="2878" y="21927"/>
                    </a:cubicBezTo>
                    <a:lnTo>
                      <a:pt x="22150" y="19133"/>
                    </a:lnTo>
                    <a:lnTo>
                      <a:pt x="30771" y="1726"/>
                    </a:lnTo>
                    <a:cubicBezTo>
                      <a:pt x="31296" y="669"/>
                      <a:pt x="32376" y="0"/>
                      <a:pt x="33557" y="0"/>
                    </a:cubicBezTo>
                    <a:cubicBezTo>
                      <a:pt x="34738" y="0"/>
                      <a:pt x="35817" y="669"/>
                      <a:pt x="36343" y="1726"/>
                    </a:cubicBezTo>
                    <a:lnTo>
                      <a:pt x="44963" y="19133"/>
                    </a:lnTo>
                    <a:lnTo>
                      <a:pt x="64235" y="21927"/>
                    </a:lnTo>
                    <a:cubicBezTo>
                      <a:pt x="65402" y="22095"/>
                      <a:pt x="66372" y="22910"/>
                      <a:pt x="66737" y="24031"/>
                    </a:cubicBezTo>
                    <a:cubicBezTo>
                      <a:pt x="67103" y="25151"/>
                      <a:pt x="66800" y="26382"/>
                      <a:pt x="65957" y="27205"/>
                    </a:cubicBezTo>
                    <a:lnTo>
                      <a:pt x="52011" y="40755"/>
                    </a:lnTo>
                    <a:lnTo>
                      <a:pt x="55297" y="59884"/>
                    </a:lnTo>
                    <a:cubicBezTo>
                      <a:pt x="55499" y="61048"/>
                      <a:pt x="55020" y="62225"/>
                      <a:pt x="54064" y="62918"/>
                    </a:cubicBezTo>
                    <a:cubicBezTo>
                      <a:pt x="53108" y="63611"/>
                      <a:pt x="51840" y="63700"/>
                      <a:pt x="50797" y="63146"/>
                    </a:cubicBezTo>
                    <a:lnTo>
                      <a:pt x="33557" y="54114"/>
                    </a:lnTo>
                  </a:path>
                </a:pathLst>
              </a:custGeom>
              <a:noFill/>
              <a:ln w="15875">
                <a:solidFill>
                  <a:srgbClr val="A8351D"/>
                </a:solidFill>
              </a:ln>
            </p:spPr>
          </p:sp>
        </p:grpSp>
        <p:sp>
          <p:nvSpPr>
            <p:cNvPr id="37" name="TextBox 37"/>
            <p:cNvSpPr txBox="1"/>
            <p:nvPr/>
          </p:nvSpPr>
          <p:spPr>
            <a:xfrm>
              <a:off x="4872038" y="1137047"/>
              <a:ext cx="389153"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管理层</a:t>
              </a:r>
            </a:p>
          </p:txBody>
        </p:sp>
        <p:grpSp>
          <p:nvGrpSpPr>
            <p:cNvPr id="42" name="Group 42"/>
            <p:cNvGrpSpPr/>
            <p:nvPr/>
          </p:nvGrpSpPr>
          <p:grpSpPr>
            <a:xfrm>
              <a:off x="5891212" y="1109662"/>
              <a:ext cx="142875" cy="134937"/>
              <a:chOff x="5891212" y="1109662"/>
              <a:chExt cx="142875" cy="134937"/>
            </a:xfrm>
          </p:grpSpPr>
          <p:sp>
            <p:nvSpPr>
              <p:cNvPr id="38" name="Freeform 38"/>
              <p:cNvSpPr/>
              <p:nvPr/>
            </p:nvSpPr>
            <p:spPr>
              <a:xfrm>
                <a:off x="5891212" y="1141412"/>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A8351D"/>
                </a:solidFill>
              </a:ln>
            </p:spPr>
          </p:sp>
          <p:sp>
            <p:nvSpPr>
              <p:cNvPr id="39" name="Freeform 39"/>
              <p:cNvSpPr/>
              <p:nvPr/>
            </p:nvSpPr>
            <p:spPr>
              <a:xfrm>
                <a:off x="5930900" y="1109662"/>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A8351D"/>
                </a:solidFill>
              </a:ln>
            </p:spPr>
          </p:sp>
          <p:sp>
            <p:nvSpPr>
              <p:cNvPr id="40" name="Freeform 40"/>
              <p:cNvSpPr/>
              <p:nvPr/>
            </p:nvSpPr>
            <p:spPr>
              <a:xfrm>
                <a:off x="5962650" y="1181100"/>
                <a:ext cx="9525" cy="9525"/>
              </a:xfrm>
              <a:custGeom>
                <a:avLst/>
                <a:gdLst/>
                <a:ahLst/>
                <a:cxnLst/>
                <a:rect l="l" t="t" r="r" b="b"/>
                <a:pathLst>
                  <a:path w="9525" h="9525">
                    <a:moveTo>
                      <a:pt x="0" y="0"/>
                    </a:moveTo>
                    <a:lnTo>
                      <a:pt x="0" y="79"/>
                    </a:lnTo>
                  </a:path>
                </a:pathLst>
              </a:custGeom>
              <a:noFill/>
              <a:ln w="15875">
                <a:solidFill>
                  <a:srgbClr val="A8351D"/>
                </a:solidFill>
              </a:ln>
            </p:spPr>
          </p:sp>
          <p:sp>
            <p:nvSpPr>
              <p:cNvPr id="41" name="Freeform 41"/>
              <p:cNvSpPr/>
              <p:nvPr/>
            </p:nvSpPr>
            <p:spPr>
              <a:xfrm>
                <a:off x="5891212" y="1189037"/>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A8351D"/>
                </a:solidFill>
              </a:ln>
            </p:spPr>
          </p:sp>
        </p:grpSp>
        <p:sp>
          <p:nvSpPr>
            <p:cNvPr id="43" name="TextBox 43"/>
            <p:cNvSpPr txBox="1"/>
            <p:nvPr/>
          </p:nvSpPr>
          <p:spPr>
            <a:xfrm>
              <a:off x="6110288" y="1137047"/>
              <a:ext cx="262611"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员工</a:t>
              </a:r>
            </a:p>
          </p:txBody>
        </p:sp>
        <p:grpSp>
          <p:nvGrpSpPr>
            <p:cNvPr id="47" name="Group 47"/>
            <p:cNvGrpSpPr/>
            <p:nvPr/>
          </p:nvGrpSpPr>
          <p:grpSpPr>
            <a:xfrm>
              <a:off x="7129462" y="1109662"/>
              <a:ext cx="142875" cy="142875"/>
              <a:chOff x="7129462" y="1109662"/>
              <a:chExt cx="142875" cy="142875"/>
            </a:xfrm>
          </p:grpSpPr>
          <p:sp>
            <p:nvSpPr>
              <p:cNvPr id="44" name="Freeform 44"/>
              <p:cNvSpPr/>
              <p:nvPr/>
            </p:nvSpPr>
            <p:spPr>
              <a:xfrm>
                <a:off x="7129462" y="110966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A8351D"/>
                </a:solidFill>
              </a:ln>
            </p:spPr>
          </p:sp>
          <p:sp>
            <p:nvSpPr>
              <p:cNvPr id="45" name="Freeform 45"/>
              <p:cNvSpPr/>
              <p:nvPr/>
            </p:nvSpPr>
            <p:spPr>
              <a:xfrm>
                <a:off x="7145337" y="118110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A8351D"/>
                </a:solidFill>
              </a:ln>
            </p:spPr>
          </p:sp>
          <p:sp>
            <p:nvSpPr>
              <p:cNvPr id="46" name="Freeform 46"/>
              <p:cNvSpPr/>
              <p:nvPr/>
            </p:nvSpPr>
            <p:spPr>
              <a:xfrm>
                <a:off x="7177087" y="118903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A8351D"/>
                </a:solidFill>
              </a:ln>
            </p:spPr>
          </p:sp>
        </p:grpSp>
        <p:sp>
          <p:nvSpPr>
            <p:cNvPr id="48" name="TextBox 48"/>
            <p:cNvSpPr txBox="1"/>
            <p:nvPr/>
          </p:nvSpPr>
          <p:spPr>
            <a:xfrm>
              <a:off x="7348538" y="1137047"/>
              <a:ext cx="262611"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家庭</a:t>
              </a:r>
            </a:p>
          </p:txBody>
        </p:sp>
        <p:grpSp>
          <p:nvGrpSpPr>
            <p:cNvPr id="55" name="Group 55"/>
            <p:cNvGrpSpPr/>
            <p:nvPr/>
          </p:nvGrpSpPr>
          <p:grpSpPr>
            <a:xfrm>
              <a:off x="8375650" y="1117600"/>
              <a:ext cx="126999" cy="126999"/>
              <a:chOff x="8375650" y="1117600"/>
              <a:chExt cx="126999" cy="126999"/>
            </a:xfrm>
          </p:grpSpPr>
          <p:sp>
            <p:nvSpPr>
              <p:cNvPr id="49" name="Freeform 49"/>
              <p:cNvSpPr/>
              <p:nvPr/>
            </p:nvSpPr>
            <p:spPr>
              <a:xfrm>
                <a:off x="8390977" y="1140904"/>
                <a:ext cx="88368" cy="88368"/>
              </a:xfrm>
              <a:custGeom>
                <a:avLst/>
                <a:gdLst/>
                <a:ahLst/>
                <a:cxnLst/>
                <a:rect l="l" t="t" r="r" b="b"/>
                <a:pathLst>
                  <a:path w="88368" h="88368">
                    <a:moveTo>
                      <a:pt x="0" y="0"/>
                    </a:moveTo>
                    <a:lnTo>
                      <a:pt x="10120" y="33726"/>
                    </a:lnTo>
                    <a:moveTo>
                      <a:pt x="54626" y="78248"/>
                    </a:moveTo>
                    <a:lnTo>
                      <a:pt x="88368" y="88368"/>
                    </a:lnTo>
                  </a:path>
                </a:pathLst>
              </a:custGeom>
              <a:noFill/>
              <a:ln w="15875">
                <a:solidFill>
                  <a:srgbClr val="A8351D"/>
                </a:solidFill>
              </a:ln>
            </p:spPr>
          </p:sp>
          <p:sp>
            <p:nvSpPr>
              <p:cNvPr id="50" name="Freeform 50"/>
              <p:cNvSpPr/>
              <p:nvPr/>
            </p:nvSpPr>
            <p:spPr>
              <a:xfrm>
                <a:off x="8436634" y="1137904"/>
                <a:ext cx="45712" cy="45712"/>
              </a:xfrm>
              <a:custGeom>
                <a:avLst/>
                <a:gdLst/>
                <a:ahLst/>
                <a:cxnLst/>
                <a:rect l="l" t="t" r="r" b="b"/>
                <a:pathLst>
                  <a:path w="45712" h="45712">
                    <a:moveTo>
                      <a:pt x="0" y="45712"/>
                    </a:moveTo>
                    <a:lnTo>
                      <a:pt x="45712" y="0"/>
                    </a:lnTo>
                  </a:path>
                </a:pathLst>
              </a:custGeom>
              <a:noFill/>
              <a:ln w="15875">
                <a:solidFill>
                  <a:srgbClr val="A8351D"/>
                </a:solidFill>
              </a:ln>
            </p:spPr>
          </p:sp>
          <p:sp>
            <p:nvSpPr>
              <p:cNvPr id="51" name="Freeform 51"/>
              <p:cNvSpPr/>
              <p:nvPr/>
            </p:nvSpPr>
            <p:spPr>
              <a:xfrm>
                <a:off x="8375650" y="1117600"/>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5875">
                <a:solidFill>
                  <a:srgbClr val="A8351D"/>
                </a:solidFill>
              </a:ln>
            </p:spPr>
          </p:sp>
          <p:sp>
            <p:nvSpPr>
              <p:cNvPr id="52" name="Freeform 52"/>
              <p:cNvSpPr/>
              <p:nvPr/>
            </p:nvSpPr>
            <p:spPr>
              <a:xfrm>
                <a:off x="8478837" y="1117600"/>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5875">
                <a:solidFill>
                  <a:srgbClr val="A8351D"/>
                </a:solidFill>
              </a:ln>
            </p:spPr>
          </p:sp>
          <p:sp>
            <p:nvSpPr>
              <p:cNvPr id="53" name="Freeform 53"/>
              <p:cNvSpPr/>
              <p:nvPr/>
            </p:nvSpPr>
            <p:spPr>
              <a:xfrm>
                <a:off x="8478837" y="1220787"/>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5875">
                <a:solidFill>
                  <a:srgbClr val="A8351D"/>
                </a:solidFill>
              </a:ln>
            </p:spPr>
          </p:sp>
          <p:sp>
            <p:nvSpPr>
              <p:cNvPr id="54" name="Freeform 54"/>
              <p:cNvSpPr/>
              <p:nvPr/>
            </p:nvSpPr>
            <p:spPr>
              <a:xfrm>
                <a:off x="8375650" y="1173162"/>
                <a:ext cx="71437" cy="71437"/>
              </a:xfrm>
              <a:custGeom>
                <a:avLst/>
                <a:gdLst/>
                <a:ahLst/>
                <a:cxnLst/>
                <a:rect l="l" t="t" r="r" b="b"/>
                <a:pathLst>
                  <a:path w="71437" h="71437">
                    <a:moveTo>
                      <a:pt x="0" y="35719"/>
                    </a:moveTo>
                    <a:cubicBezTo>
                      <a:pt x="0" y="55446"/>
                      <a:pt x="15992" y="71437"/>
                      <a:pt x="35719" y="71437"/>
                    </a:cubicBezTo>
                    <a:cubicBezTo>
                      <a:pt x="55446" y="71437"/>
                      <a:pt x="71437" y="55446"/>
                      <a:pt x="71437" y="35719"/>
                    </a:cubicBezTo>
                    <a:cubicBezTo>
                      <a:pt x="71437" y="15992"/>
                      <a:pt x="55446" y="0"/>
                      <a:pt x="35719" y="0"/>
                    </a:cubicBezTo>
                    <a:cubicBezTo>
                      <a:pt x="15992" y="0"/>
                      <a:pt x="0" y="15992"/>
                      <a:pt x="0" y="35719"/>
                    </a:cubicBezTo>
                  </a:path>
                </a:pathLst>
              </a:custGeom>
              <a:noFill/>
              <a:ln w="15875">
                <a:solidFill>
                  <a:srgbClr val="A8351D"/>
                </a:solidFill>
              </a:ln>
            </p:spPr>
          </p:sp>
        </p:grpSp>
        <p:sp>
          <p:nvSpPr>
            <p:cNvPr id="56" name="TextBox 56"/>
            <p:cNvSpPr txBox="1"/>
            <p:nvPr/>
          </p:nvSpPr>
          <p:spPr>
            <a:xfrm>
              <a:off x="8586788" y="1137047"/>
              <a:ext cx="389153"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上下游</a:t>
              </a:r>
            </a:p>
          </p:txBody>
        </p:sp>
        <p:sp>
          <p:nvSpPr>
            <p:cNvPr id="57" name="Rectangle 57"/>
            <p:cNvSpPr/>
            <p:nvPr/>
          </p:nvSpPr>
          <p:spPr>
            <a:xfrm>
              <a:off x="990600" y="1581150"/>
              <a:ext cx="9829800" cy="666750"/>
            </a:xfrm>
            <a:prstGeom prst="roundRect">
              <a:avLst>
                <a:gd name="adj" fmla="val 8571"/>
              </a:avLst>
            </a:prstGeom>
            <a:solidFill>
              <a:srgbClr val="FFFFFF"/>
            </a:solidFill>
            <a:ln w="9525">
              <a:solidFill>
                <a:srgbClr val="C9D8EF"/>
              </a:solidFill>
            </a:ln>
          </p:spPr>
        </p:sp>
        <p:sp>
          <p:nvSpPr>
            <p:cNvPr id="58" name="Rectangle 58"/>
            <p:cNvSpPr/>
            <p:nvPr/>
          </p:nvSpPr>
          <p:spPr>
            <a:xfrm>
              <a:off x="990600" y="1581150"/>
              <a:ext cx="1143000" cy="666750"/>
            </a:xfrm>
            <a:prstGeom prst="roundRect">
              <a:avLst>
                <a:gd name="adj" fmla="val 8571"/>
              </a:avLst>
            </a:prstGeom>
            <a:gradFill>
              <a:gsLst>
                <a:gs pos="0">
                  <a:srgbClr val="67281B"/>
                </a:gs>
                <a:gs pos="100000">
                  <a:srgbClr val="A8351D"/>
                </a:gs>
              </a:gsLst>
              <a:lin ang="0" scaled="1"/>
            </a:gradFill>
            <a:ln>
              <a:noFill/>
            </a:ln>
          </p:spPr>
        </p:sp>
        <p:grpSp>
          <p:nvGrpSpPr>
            <p:cNvPr id="64" name="Group 64"/>
            <p:cNvGrpSpPr/>
            <p:nvPr/>
          </p:nvGrpSpPr>
          <p:grpSpPr>
            <a:xfrm>
              <a:off x="1158875" y="1844675"/>
              <a:ext cx="139701" cy="139701"/>
              <a:chOff x="1158875" y="1844675"/>
              <a:chExt cx="139701" cy="139701"/>
            </a:xfrm>
          </p:grpSpPr>
          <p:sp>
            <p:nvSpPr>
              <p:cNvPr id="59" name="Freeform 59"/>
              <p:cNvSpPr/>
              <p:nvPr/>
            </p:nvSpPr>
            <p:spPr>
              <a:xfrm>
                <a:off x="1158875" y="1844675"/>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FFFFFF"/>
                </a:solidFill>
              </a:ln>
            </p:spPr>
          </p:sp>
          <p:sp>
            <p:nvSpPr>
              <p:cNvPr id="60" name="Freeform 60"/>
              <p:cNvSpPr/>
              <p:nvPr/>
            </p:nvSpPr>
            <p:spPr>
              <a:xfrm>
                <a:off x="1158875" y="1931988"/>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FFFFFF"/>
                </a:solidFill>
              </a:ln>
            </p:spPr>
          </p:sp>
          <p:sp>
            <p:nvSpPr>
              <p:cNvPr id="61" name="Freeform 61"/>
              <p:cNvSpPr/>
              <p:nvPr/>
            </p:nvSpPr>
            <p:spPr>
              <a:xfrm>
                <a:off x="1246188" y="1931988"/>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FFFFFF"/>
                </a:solidFill>
              </a:ln>
            </p:spPr>
          </p:sp>
          <p:sp>
            <p:nvSpPr>
              <p:cNvPr id="62" name="Freeform 62"/>
              <p:cNvSpPr/>
              <p:nvPr/>
            </p:nvSpPr>
            <p:spPr>
              <a:xfrm>
                <a:off x="1246188" y="1870869"/>
                <a:ext cx="52388" cy="9525"/>
              </a:xfrm>
              <a:custGeom>
                <a:avLst/>
                <a:gdLst/>
                <a:ahLst/>
                <a:cxnLst/>
                <a:rect l="l" t="t" r="r" b="b"/>
                <a:pathLst>
                  <a:path w="52388" h="9525">
                    <a:moveTo>
                      <a:pt x="0" y="0"/>
                    </a:moveTo>
                    <a:lnTo>
                      <a:pt x="52388" y="0"/>
                    </a:lnTo>
                  </a:path>
                </a:pathLst>
              </a:custGeom>
              <a:noFill/>
              <a:ln w="17463">
                <a:solidFill>
                  <a:srgbClr val="FFFFFF"/>
                </a:solidFill>
              </a:ln>
            </p:spPr>
          </p:sp>
          <p:sp>
            <p:nvSpPr>
              <p:cNvPr id="63" name="Freeform 63"/>
              <p:cNvSpPr/>
              <p:nvPr/>
            </p:nvSpPr>
            <p:spPr>
              <a:xfrm>
                <a:off x="1272381" y="1844675"/>
                <a:ext cx="9525" cy="52388"/>
              </a:xfrm>
              <a:custGeom>
                <a:avLst/>
                <a:gdLst/>
                <a:ahLst/>
                <a:cxnLst/>
                <a:rect l="l" t="t" r="r" b="b"/>
                <a:pathLst>
                  <a:path w="9525" h="52388">
                    <a:moveTo>
                      <a:pt x="0" y="0"/>
                    </a:moveTo>
                    <a:lnTo>
                      <a:pt x="0" y="52388"/>
                    </a:lnTo>
                  </a:path>
                </a:pathLst>
              </a:custGeom>
              <a:noFill/>
              <a:ln w="17463">
                <a:solidFill>
                  <a:srgbClr val="FFFFFF"/>
                </a:solidFill>
              </a:ln>
            </p:spPr>
          </p:sp>
        </p:grpSp>
        <p:sp>
          <p:nvSpPr>
            <p:cNvPr id="65" name="TextBox 65"/>
            <p:cNvSpPr txBox="1"/>
            <p:nvPr/>
          </p:nvSpPr>
          <p:spPr>
            <a:xfrm>
              <a:off x="1403985" y="1859756"/>
              <a:ext cx="46375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场景层</a:t>
              </a:r>
            </a:p>
          </p:txBody>
        </p:sp>
        <p:grpSp>
          <p:nvGrpSpPr>
            <p:cNvPr id="74" name="Group 74"/>
            <p:cNvGrpSpPr/>
            <p:nvPr/>
          </p:nvGrpSpPr>
          <p:grpSpPr>
            <a:xfrm>
              <a:off x="2269331" y="1850231"/>
              <a:ext cx="130969" cy="138113"/>
              <a:chOff x="2269331" y="1850231"/>
              <a:chExt cx="130969" cy="138113"/>
            </a:xfrm>
          </p:grpSpPr>
          <p:sp>
            <p:nvSpPr>
              <p:cNvPr id="66" name="Freeform 66"/>
              <p:cNvSpPr/>
              <p:nvPr/>
            </p:nvSpPr>
            <p:spPr>
              <a:xfrm>
                <a:off x="2269331" y="1978819"/>
                <a:ext cx="128588" cy="9525"/>
              </a:xfrm>
              <a:custGeom>
                <a:avLst/>
                <a:gdLst/>
                <a:ahLst/>
                <a:cxnLst/>
                <a:rect l="l" t="t" r="r" b="b"/>
                <a:pathLst>
                  <a:path w="128588" h="9525">
                    <a:moveTo>
                      <a:pt x="0" y="0"/>
                    </a:moveTo>
                    <a:lnTo>
                      <a:pt x="128588" y="0"/>
                    </a:lnTo>
                  </a:path>
                </a:pathLst>
              </a:custGeom>
              <a:noFill/>
              <a:ln w="14288">
                <a:solidFill>
                  <a:srgbClr val="A8351D"/>
                </a:solidFill>
              </a:ln>
            </p:spPr>
          </p:sp>
          <p:sp>
            <p:nvSpPr>
              <p:cNvPr id="67" name="Freeform 67"/>
              <p:cNvSpPr/>
              <p:nvPr/>
            </p:nvSpPr>
            <p:spPr>
              <a:xfrm>
                <a:off x="2269331" y="1900238"/>
                <a:ext cx="128588" cy="9525"/>
              </a:xfrm>
              <a:custGeom>
                <a:avLst/>
                <a:gdLst/>
                <a:ahLst/>
                <a:cxnLst/>
                <a:rect l="l" t="t" r="r" b="b"/>
                <a:pathLst>
                  <a:path w="128588" h="9525">
                    <a:moveTo>
                      <a:pt x="0" y="0"/>
                    </a:moveTo>
                    <a:lnTo>
                      <a:pt x="128588" y="0"/>
                    </a:lnTo>
                  </a:path>
                </a:pathLst>
              </a:custGeom>
              <a:noFill/>
              <a:ln w="14288">
                <a:solidFill>
                  <a:srgbClr val="A8351D"/>
                </a:solidFill>
              </a:ln>
            </p:spPr>
          </p:sp>
          <p:sp>
            <p:nvSpPr>
              <p:cNvPr id="68" name="Freeform 68"/>
              <p:cNvSpPr/>
              <p:nvPr/>
            </p:nvSpPr>
            <p:spPr>
              <a:xfrm>
                <a:off x="2283619" y="1850231"/>
                <a:ext cx="100012" cy="21431"/>
              </a:xfrm>
              <a:custGeom>
                <a:avLst/>
                <a:gdLst/>
                <a:ahLst/>
                <a:cxnLst/>
                <a:rect l="l" t="t" r="r" b="b"/>
                <a:pathLst>
                  <a:path w="100012" h="21431">
                    <a:moveTo>
                      <a:pt x="0" y="21431"/>
                    </a:moveTo>
                    <a:lnTo>
                      <a:pt x="50006" y="0"/>
                    </a:lnTo>
                    <a:lnTo>
                      <a:pt x="100012" y="21431"/>
                    </a:lnTo>
                  </a:path>
                </a:pathLst>
              </a:custGeom>
              <a:noFill/>
              <a:ln w="14288">
                <a:solidFill>
                  <a:srgbClr val="A8351D"/>
                </a:solidFill>
              </a:ln>
            </p:spPr>
          </p:sp>
          <p:sp>
            <p:nvSpPr>
              <p:cNvPr id="69" name="Freeform 69"/>
              <p:cNvSpPr/>
              <p:nvPr/>
            </p:nvSpPr>
            <p:spPr>
              <a:xfrm>
                <a:off x="2276475" y="1900238"/>
                <a:ext cx="9525" cy="78581"/>
              </a:xfrm>
              <a:custGeom>
                <a:avLst/>
                <a:gdLst/>
                <a:ahLst/>
                <a:cxnLst/>
                <a:rect l="l" t="t" r="r" b="b"/>
                <a:pathLst>
                  <a:path w="9525" h="78581">
                    <a:moveTo>
                      <a:pt x="0" y="0"/>
                    </a:moveTo>
                    <a:lnTo>
                      <a:pt x="0" y="78581"/>
                    </a:lnTo>
                  </a:path>
                </a:pathLst>
              </a:custGeom>
              <a:noFill/>
              <a:ln w="14288">
                <a:solidFill>
                  <a:srgbClr val="A8351D"/>
                </a:solidFill>
              </a:ln>
            </p:spPr>
          </p:sp>
          <p:sp>
            <p:nvSpPr>
              <p:cNvPr id="70" name="Freeform 70"/>
              <p:cNvSpPr/>
              <p:nvPr/>
            </p:nvSpPr>
            <p:spPr>
              <a:xfrm>
                <a:off x="2390775" y="1900238"/>
                <a:ext cx="9525" cy="78581"/>
              </a:xfrm>
              <a:custGeom>
                <a:avLst/>
                <a:gdLst/>
                <a:ahLst/>
                <a:cxnLst/>
                <a:rect l="l" t="t" r="r" b="b"/>
                <a:pathLst>
                  <a:path w="9525" h="78581">
                    <a:moveTo>
                      <a:pt x="0" y="0"/>
                    </a:moveTo>
                    <a:lnTo>
                      <a:pt x="0" y="78581"/>
                    </a:lnTo>
                  </a:path>
                </a:pathLst>
              </a:custGeom>
              <a:noFill/>
              <a:ln w="14288">
                <a:solidFill>
                  <a:srgbClr val="A8351D"/>
                </a:solidFill>
              </a:ln>
            </p:spPr>
          </p:sp>
          <p:sp>
            <p:nvSpPr>
              <p:cNvPr id="71" name="Freeform 71"/>
              <p:cNvSpPr/>
              <p:nvPr/>
            </p:nvSpPr>
            <p:spPr>
              <a:xfrm>
                <a:off x="2305050" y="1928812"/>
                <a:ext cx="9525" cy="21431"/>
              </a:xfrm>
              <a:custGeom>
                <a:avLst/>
                <a:gdLst/>
                <a:ahLst/>
                <a:cxnLst/>
                <a:rect l="l" t="t" r="r" b="b"/>
                <a:pathLst>
                  <a:path w="9525" h="21431">
                    <a:moveTo>
                      <a:pt x="0" y="0"/>
                    </a:moveTo>
                    <a:lnTo>
                      <a:pt x="0" y="21431"/>
                    </a:lnTo>
                  </a:path>
                </a:pathLst>
              </a:custGeom>
              <a:noFill/>
              <a:ln w="14288">
                <a:solidFill>
                  <a:srgbClr val="A8351D"/>
                </a:solidFill>
              </a:ln>
            </p:spPr>
          </p:sp>
          <p:sp>
            <p:nvSpPr>
              <p:cNvPr id="72" name="Freeform 72"/>
              <p:cNvSpPr/>
              <p:nvPr/>
            </p:nvSpPr>
            <p:spPr>
              <a:xfrm>
                <a:off x="2333625" y="1928812"/>
                <a:ext cx="9525" cy="21431"/>
              </a:xfrm>
              <a:custGeom>
                <a:avLst/>
                <a:gdLst/>
                <a:ahLst/>
                <a:cxnLst/>
                <a:rect l="l" t="t" r="r" b="b"/>
                <a:pathLst>
                  <a:path w="9525" h="21431">
                    <a:moveTo>
                      <a:pt x="0" y="0"/>
                    </a:moveTo>
                    <a:lnTo>
                      <a:pt x="0" y="21431"/>
                    </a:lnTo>
                  </a:path>
                </a:pathLst>
              </a:custGeom>
              <a:noFill/>
              <a:ln w="14288">
                <a:solidFill>
                  <a:srgbClr val="A8351D"/>
                </a:solidFill>
              </a:ln>
            </p:spPr>
          </p:sp>
          <p:sp>
            <p:nvSpPr>
              <p:cNvPr id="73" name="Freeform 73"/>
              <p:cNvSpPr/>
              <p:nvPr/>
            </p:nvSpPr>
            <p:spPr>
              <a:xfrm>
                <a:off x="2362200" y="1928812"/>
                <a:ext cx="9525" cy="21431"/>
              </a:xfrm>
              <a:custGeom>
                <a:avLst/>
                <a:gdLst/>
                <a:ahLst/>
                <a:cxnLst/>
                <a:rect l="l" t="t" r="r" b="b"/>
                <a:pathLst>
                  <a:path w="9525" h="21431">
                    <a:moveTo>
                      <a:pt x="0" y="0"/>
                    </a:moveTo>
                    <a:lnTo>
                      <a:pt x="0" y="21431"/>
                    </a:lnTo>
                  </a:path>
                </a:pathLst>
              </a:custGeom>
              <a:noFill/>
              <a:ln w="14288">
                <a:solidFill>
                  <a:srgbClr val="A8351D"/>
                </a:solidFill>
              </a:ln>
            </p:spPr>
          </p:sp>
        </p:grpSp>
        <p:sp>
          <p:nvSpPr>
            <p:cNvPr id="75" name="TextBox 75"/>
            <p:cNvSpPr txBox="1"/>
            <p:nvPr/>
          </p:nvSpPr>
          <p:spPr>
            <a:xfrm>
              <a:off x="2462212" y="1874520"/>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开户</a:t>
              </a:r>
            </a:p>
          </p:txBody>
        </p:sp>
        <p:grpSp>
          <p:nvGrpSpPr>
            <p:cNvPr id="79" name="Group 79"/>
            <p:cNvGrpSpPr/>
            <p:nvPr/>
          </p:nvGrpSpPr>
          <p:grpSpPr>
            <a:xfrm>
              <a:off x="3250406" y="1864519"/>
              <a:ext cx="71438" cy="100012"/>
              <a:chOff x="3250406" y="1864519"/>
              <a:chExt cx="71438" cy="100012"/>
            </a:xfrm>
          </p:grpSpPr>
          <p:sp>
            <p:nvSpPr>
              <p:cNvPr id="76" name="Freeform 76"/>
              <p:cNvSpPr/>
              <p:nvPr/>
            </p:nvSpPr>
            <p:spPr>
              <a:xfrm>
                <a:off x="3250406" y="1864519"/>
                <a:ext cx="35719" cy="100012"/>
              </a:xfrm>
              <a:custGeom>
                <a:avLst/>
                <a:gdLst/>
                <a:ahLst/>
                <a:cxnLst/>
                <a:rect l="l" t="t" r="r" b="b"/>
                <a:pathLst>
                  <a:path w="35719" h="100012">
                    <a:moveTo>
                      <a:pt x="35719" y="100012"/>
                    </a:moveTo>
                    <a:lnTo>
                      <a:pt x="35719" y="50006"/>
                    </a:lnTo>
                    <a:lnTo>
                      <a:pt x="0" y="0"/>
                    </a:lnTo>
                  </a:path>
                </a:pathLst>
              </a:custGeom>
              <a:noFill/>
              <a:ln w="14288">
                <a:solidFill>
                  <a:srgbClr val="A8351D"/>
                </a:solidFill>
              </a:ln>
            </p:spPr>
          </p:sp>
          <p:sp>
            <p:nvSpPr>
              <p:cNvPr id="77" name="Freeform 77"/>
              <p:cNvSpPr/>
              <p:nvPr/>
            </p:nvSpPr>
            <p:spPr>
              <a:xfrm>
                <a:off x="3286125" y="1864519"/>
                <a:ext cx="35719" cy="50006"/>
              </a:xfrm>
              <a:custGeom>
                <a:avLst/>
                <a:gdLst/>
                <a:ahLst/>
                <a:cxnLst/>
                <a:rect l="l" t="t" r="r" b="b"/>
                <a:pathLst>
                  <a:path w="35719" h="50006">
                    <a:moveTo>
                      <a:pt x="35719" y="0"/>
                    </a:moveTo>
                    <a:lnTo>
                      <a:pt x="0" y="50006"/>
                    </a:lnTo>
                  </a:path>
                </a:pathLst>
              </a:custGeom>
              <a:noFill/>
              <a:ln w="14288">
                <a:solidFill>
                  <a:srgbClr val="A8351D"/>
                </a:solidFill>
              </a:ln>
            </p:spPr>
          </p:sp>
          <p:sp>
            <p:nvSpPr>
              <p:cNvPr id="78" name="Freeform 78"/>
              <p:cNvSpPr/>
              <p:nvPr/>
            </p:nvSpPr>
            <p:spPr>
              <a:xfrm>
                <a:off x="3257550" y="1921669"/>
                <a:ext cx="57150" cy="9525"/>
              </a:xfrm>
              <a:custGeom>
                <a:avLst/>
                <a:gdLst/>
                <a:ahLst/>
                <a:cxnLst/>
                <a:rect l="l" t="t" r="r" b="b"/>
                <a:pathLst>
                  <a:path w="57150" h="9525">
                    <a:moveTo>
                      <a:pt x="0" y="0"/>
                    </a:moveTo>
                    <a:lnTo>
                      <a:pt x="57150" y="0"/>
                    </a:lnTo>
                  </a:path>
                </a:pathLst>
              </a:custGeom>
              <a:noFill/>
              <a:ln w="14288">
                <a:solidFill>
                  <a:srgbClr val="A8351D"/>
                </a:solidFill>
              </a:ln>
            </p:spPr>
          </p:sp>
        </p:grpSp>
        <p:sp>
          <p:nvSpPr>
            <p:cNvPr id="80" name="TextBox 80"/>
            <p:cNvSpPr txBox="1"/>
            <p:nvPr/>
          </p:nvSpPr>
          <p:spPr>
            <a:xfrm>
              <a:off x="3414712" y="1874520"/>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结算</a:t>
              </a:r>
            </a:p>
          </p:txBody>
        </p:sp>
        <p:grpSp>
          <p:nvGrpSpPr>
            <p:cNvPr id="86" name="Group 86"/>
            <p:cNvGrpSpPr/>
            <p:nvPr/>
          </p:nvGrpSpPr>
          <p:grpSpPr>
            <a:xfrm>
              <a:off x="4174331" y="1849274"/>
              <a:ext cx="128588" cy="129544"/>
              <a:chOff x="4174331" y="1849274"/>
              <a:chExt cx="128588" cy="129544"/>
            </a:xfrm>
          </p:grpSpPr>
          <p:sp>
            <p:nvSpPr>
              <p:cNvPr id="81" name="Freeform 81"/>
              <p:cNvSpPr/>
              <p:nvPr/>
            </p:nvSpPr>
            <p:spPr>
              <a:xfrm>
                <a:off x="4217194" y="190738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A8351D"/>
                </a:solidFill>
              </a:ln>
            </p:spPr>
          </p:sp>
          <p:sp>
            <p:nvSpPr>
              <p:cNvPr id="82" name="Freeform 82"/>
              <p:cNvSpPr/>
              <p:nvPr/>
            </p:nvSpPr>
            <p:spPr>
              <a:xfrm>
                <a:off x="4217194" y="192881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A8351D"/>
                </a:solidFill>
              </a:ln>
            </p:spPr>
          </p:sp>
          <p:sp>
            <p:nvSpPr>
              <p:cNvPr id="83" name="Freeform 83"/>
              <p:cNvSpPr/>
              <p:nvPr/>
            </p:nvSpPr>
            <p:spPr>
              <a:xfrm>
                <a:off x="4174331" y="184927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A8351D"/>
                </a:solidFill>
              </a:ln>
            </p:spPr>
          </p:sp>
          <p:sp>
            <p:nvSpPr>
              <p:cNvPr id="84" name="Freeform 84"/>
              <p:cNvSpPr/>
              <p:nvPr/>
            </p:nvSpPr>
            <p:spPr>
              <a:xfrm>
                <a:off x="4174331" y="187166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A8351D"/>
                </a:solidFill>
              </a:ln>
            </p:spPr>
          </p:sp>
          <p:sp>
            <p:nvSpPr>
              <p:cNvPr id="85" name="Freeform 85"/>
              <p:cNvSpPr/>
              <p:nvPr/>
            </p:nvSpPr>
            <p:spPr>
              <a:xfrm>
                <a:off x="4174331" y="190738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A8351D"/>
                </a:solidFill>
              </a:ln>
            </p:spPr>
          </p:sp>
        </p:grpSp>
        <p:sp>
          <p:nvSpPr>
            <p:cNvPr id="87" name="TextBox 87"/>
            <p:cNvSpPr txBox="1"/>
            <p:nvPr/>
          </p:nvSpPr>
          <p:spPr>
            <a:xfrm>
              <a:off x="4367212" y="1874520"/>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融资</a:t>
              </a:r>
            </a:p>
          </p:txBody>
        </p:sp>
        <p:grpSp>
          <p:nvGrpSpPr>
            <p:cNvPr id="91" name="Group 91"/>
            <p:cNvGrpSpPr/>
            <p:nvPr/>
          </p:nvGrpSpPr>
          <p:grpSpPr>
            <a:xfrm>
              <a:off x="7031831" y="1864519"/>
              <a:ext cx="128587" cy="100013"/>
              <a:chOff x="7031831" y="1864519"/>
              <a:chExt cx="128587" cy="100013"/>
            </a:xfrm>
          </p:grpSpPr>
          <p:sp>
            <p:nvSpPr>
              <p:cNvPr id="88" name="Freeform 88"/>
              <p:cNvSpPr/>
              <p:nvPr/>
            </p:nvSpPr>
            <p:spPr>
              <a:xfrm>
                <a:off x="7031831" y="1864519"/>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A8351D"/>
                </a:solidFill>
              </a:ln>
            </p:spPr>
          </p:sp>
          <p:sp>
            <p:nvSpPr>
              <p:cNvPr id="89" name="Freeform 89"/>
              <p:cNvSpPr/>
              <p:nvPr/>
            </p:nvSpPr>
            <p:spPr>
              <a:xfrm>
                <a:off x="7060406" y="1893094"/>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A8351D"/>
                </a:solidFill>
              </a:ln>
            </p:spPr>
          </p:sp>
          <p:sp>
            <p:nvSpPr>
              <p:cNvPr id="90" name="Freeform 90"/>
              <p:cNvSpPr/>
              <p:nvPr/>
            </p:nvSpPr>
            <p:spPr>
              <a:xfrm>
                <a:off x="7096125" y="191452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8351D"/>
                </a:solidFill>
              </a:ln>
            </p:spPr>
          </p:sp>
        </p:grpSp>
        <p:sp>
          <p:nvSpPr>
            <p:cNvPr id="92" name="TextBox 92"/>
            <p:cNvSpPr txBox="1"/>
            <p:nvPr/>
          </p:nvSpPr>
          <p:spPr>
            <a:xfrm>
              <a:off x="7224712" y="1874520"/>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代发</a:t>
              </a:r>
            </a:p>
          </p:txBody>
        </p:sp>
        <p:grpSp>
          <p:nvGrpSpPr>
            <p:cNvPr id="97" name="Group 97"/>
            <p:cNvGrpSpPr/>
            <p:nvPr/>
          </p:nvGrpSpPr>
          <p:grpSpPr>
            <a:xfrm>
              <a:off x="7991475" y="1850231"/>
              <a:ext cx="114299" cy="128588"/>
              <a:chOff x="7991475" y="1850231"/>
              <a:chExt cx="114299" cy="128588"/>
            </a:xfrm>
          </p:grpSpPr>
          <p:sp>
            <p:nvSpPr>
              <p:cNvPr id="93" name="Freeform 93"/>
              <p:cNvSpPr/>
              <p:nvPr/>
            </p:nvSpPr>
            <p:spPr>
              <a:xfrm>
                <a:off x="7991475" y="195024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8351D"/>
                </a:solidFill>
              </a:ln>
            </p:spPr>
          </p:sp>
          <p:sp>
            <p:nvSpPr>
              <p:cNvPr id="94" name="Freeform 94"/>
              <p:cNvSpPr/>
              <p:nvPr/>
            </p:nvSpPr>
            <p:spPr>
              <a:xfrm>
                <a:off x="8070056" y="195024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8351D"/>
                </a:solidFill>
              </a:ln>
            </p:spPr>
          </p:sp>
          <p:sp>
            <p:nvSpPr>
              <p:cNvPr id="95" name="Freeform 95"/>
              <p:cNvSpPr/>
              <p:nvPr/>
            </p:nvSpPr>
            <p:spPr>
              <a:xfrm>
                <a:off x="7991475" y="1850231"/>
                <a:ext cx="92869" cy="100012"/>
              </a:xfrm>
              <a:custGeom>
                <a:avLst/>
                <a:gdLst/>
                <a:ahLst/>
                <a:cxnLst/>
                <a:rect l="l" t="t" r="r" b="b"/>
                <a:pathLst>
                  <a:path w="92869" h="100012">
                    <a:moveTo>
                      <a:pt x="92869" y="100012"/>
                    </a:moveTo>
                    <a:lnTo>
                      <a:pt x="14288" y="100012"/>
                    </a:lnTo>
                    <a:lnTo>
                      <a:pt x="14288" y="0"/>
                    </a:lnTo>
                    <a:lnTo>
                      <a:pt x="0" y="0"/>
                    </a:lnTo>
                  </a:path>
                </a:pathLst>
              </a:custGeom>
              <a:noFill/>
              <a:ln w="14288">
                <a:solidFill>
                  <a:srgbClr val="A8351D"/>
                </a:solidFill>
              </a:ln>
            </p:spPr>
          </p:sp>
          <p:sp>
            <p:nvSpPr>
              <p:cNvPr id="96" name="Freeform 96"/>
              <p:cNvSpPr/>
              <p:nvPr/>
            </p:nvSpPr>
            <p:spPr>
              <a:xfrm>
                <a:off x="8005762" y="1864519"/>
                <a:ext cx="100012" cy="57150"/>
              </a:xfrm>
              <a:custGeom>
                <a:avLst/>
                <a:gdLst/>
                <a:ahLst/>
                <a:cxnLst/>
                <a:rect l="l" t="t" r="r" b="b"/>
                <a:pathLst>
                  <a:path w="100012" h="57150">
                    <a:moveTo>
                      <a:pt x="0" y="0"/>
                    </a:moveTo>
                    <a:lnTo>
                      <a:pt x="100012" y="7144"/>
                    </a:lnTo>
                    <a:lnTo>
                      <a:pt x="92869" y="57150"/>
                    </a:lnTo>
                    <a:lnTo>
                      <a:pt x="0" y="57150"/>
                    </a:lnTo>
                  </a:path>
                </a:pathLst>
              </a:custGeom>
              <a:noFill/>
              <a:ln w="14288">
                <a:solidFill>
                  <a:srgbClr val="A8351D"/>
                </a:solidFill>
              </a:ln>
            </p:spPr>
          </p:sp>
        </p:grpSp>
        <p:sp>
          <p:nvSpPr>
            <p:cNvPr id="98" name="TextBox 98"/>
            <p:cNvSpPr txBox="1"/>
            <p:nvPr/>
          </p:nvSpPr>
          <p:spPr>
            <a:xfrm>
              <a:off x="8177212" y="1874520"/>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消费</a:t>
              </a:r>
            </a:p>
          </p:txBody>
        </p:sp>
        <p:grpSp>
          <p:nvGrpSpPr>
            <p:cNvPr id="101" name="Group 101"/>
            <p:cNvGrpSpPr/>
            <p:nvPr/>
          </p:nvGrpSpPr>
          <p:grpSpPr>
            <a:xfrm>
              <a:off x="8943975" y="1871662"/>
              <a:ext cx="114300" cy="102394"/>
              <a:chOff x="8943975" y="1871662"/>
              <a:chExt cx="114300" cy="102394"/>
            </a:xfrm>
          </p:grpSpPr>
          <p:sp>
            <p:nvSpPr>
              <p:cNvPr id="99" name="Freeform 99"/>
              <p:cNvSpPr/>
              <p:nvPr/>
            </p:nvSpPr>
            <p:spPr>
              <a:xfrm>
                <a:off x="8943975" y="1964531"/>
                <a:ext cx="114300" cy="9525"/>
              </a:xfrm>
              <a:custGeom>
                <a:avLst/>
                <a:gdLst/>
                <a:ahLst/>
                <a:cxnLst/>
                <a:rect l="l" t="t" r="r" b="b"/>
                <a:pathLst>
                  <a:path w="114300" h="9525">
                    <a:moveTo>
                      <a:pt x="0" y="0"/>
                    </a:moveTo>
                    <a:lnTo>
                      <a:pt x="114300" y="0"/>
                    </a:lnTo>
                  </a:path>
                </a:pathLst>
              </a:custGeom>
              <a:noFill/>
              <a:ln w="14288">
                <a:solidFill>
                  <a:srgbClr val="A8351D"/>
                </a:solidFill>
              </a:ln>
            </p:spPr>
          </p:sp>
          <p:sp>
            <p:nvSpPr>
              <p:cNvPr id="100" name="Freeform 100"/>
              <p:cNvSpPr/>
              <p:nvPr/>
            </p:nvSpPr>
            <p:spPr>
              <a:xfrm>
                <a:off x="8943975" y="1871662"/>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A8351D"/>
                </a:solidFill>
              </a:ln>
            </p:spPr>
          </p:sp>
        </p:grpSp>
        <p:sp>
          <p:nvSpPr>
            <p:cNvPr id="102" name="TextBox 102"/>
            <p:cNvSpPr txBox="1"/>
            <p:nvPr/>
          </p:nvSpPr>
          <p:spPr>
            <a:xfrm>
              <a:off x="9129712" y="1874520"/>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财富</a:t>
              </a:r>
            </a:p>
          </p:txBody>
        </p:sp>
        <p:grpSp>
          <p:nvGrpSpPr>
            <p:cNvPr id="107" name="Group 107"/>
            <p:cNvGrpSpPr/>
            <p:nvPr/>
          </p:nvGrpSpPr>
          <p:grpSpPr>
            <a:xfrm>
              <a:off x="9886858" y="1855542"/>
              <a:ext cx="133405" cy="116133"/>
              <a:chOff x="9886858" y="1855542"/>
              <a:chExt cx="133405" cy="116133"/>
            </a:xfrm>
          </p:grpSpPr>
          <p:sp>
            <p:nvSpPr>
              <p:cNvPr id="103" name="Freeform 103"/>
              <p:cNvSpPr/>
              <p:nvPr/>
            </p:nvSpPr>
            <p:spPr>
              <a:xfrm>
                <a:off x="9886858" y="1855542"/>
                <a:ext cx="133405" cy="116133"/>
              </a:xfrm>
              <a:custGeom>
                <a:avLst/>
                <a:gdLst/>
                <a:ahLst/>
                <a:cxnLst/>
                <a:rect l="l" t="t" r="r" b="b"/>
                <a:pathLst>
                  <a:path w="133405" h="116133">
                    <a:moveTo>
                      <a:pt x="120346" y="63069"/>
                    </a:moveTo>
                    <a:lnTo>
                      <a:pt x="66767" y="116133"/>
                    </a:lnTo>
                    <a:lnTo>
                      <a:pt x="13189" y="63069"/>
                    </a:lnTo>
                    <a:cubicBezTo>
                      <a:pt x="3555" y="53693"/>
                      <a:pt x="0" y="39702"/>
                      <a:pt x="3992" y="26865"/>
                    </a:cubicBezTo>
                    <a:cubicBezTo>
                      <a:pt x="7983" y="14027"/>
                      <a:pt x="18845" y="4518"/>
                      <a:pt x="32097" y="2259"/>
                    </a:cubicBezTo>
                    <a:cubicBezTo>
                      <a:pt x="45350" y="0"/>
                      <a:pt x="58748" y="5373"/>
                      <a:pt x="66767" y="16163"/>
                    </a:cubicBezTo>
                    <a:cubicBezTo>
                      <a:pt x="74820" y="5453"/>
                      <a:pt x="88190" y="151"/>
                      <a:pt x="101395" y="2431"/>
                    </a:cubicBezTo>
                    <a:cubicBezTo>
                      <a:pt x="114599" y="4712"/>
                      <a:pt x="125416" y="14191"/>
                      <a:pt x="129411" y="26981"/>
                    </a:cubicBezTo>
                    <a:cubicBezTo>
                      <a:pt x="133405" y="39772"/>
                      <a:pt x="129905" y="53722"/>
                      <a:pt x="120346" y="63112"/>
                    </a:cubicBezTo>
                  </a:path>
                </a:pathLst>
              </a:custGeom>
              <a:noFill/>
              <a:ln w="14288">
                <a:solidFill>
                  <a:srgbClr val="A8351D"/>
                </a:solidFill>
              </a:ln>
            </p:spPr>
          </p:sp>
          <p:sp>
            <p:nvSpPr>
              <p:cNvPr id="104" name="Freeform 104"/>
              <p:cNvSpPr/>
              <p:nvPr/>
            </p:nvSpPr>
            <p:spPr>
              <a:xfrm>
                <a:off x="9927312" y="1871662"/>
                <a:ext cx="79891" cy="46434"/>
              </a:xfrm>
              <a:custGeom>
                <a:avLst/>
                <a:gdLst/>
                <a:ahLst/>
                <a:cxnLst/>
                <a:rect l="l" t="t" r="r" b="b"/>
                <a:pathLst>
                  <a:path w="79891" h="46434">
                    <a:moveTo>
                      <a:pt x="26313" y="0"/>
                    </a:moveTo>
                    <a:lnTo>
                      <a:pt x="2789" y="23524"/>
                    </a:lnTo>
                    <a:cubicBezTo>
                      <a:pt x="0" y="26314"/>
                      <a:pt x="0" y="30836"/>
                      <a:pt x="2789" y="33626"/>
                    </a:cubicBezTo>
                    <a:lnTo>
                      <a:pt x="6668" y="37505"/>
                    </a:lnTo>
                    <a:cubicBezTo>
                      <a:pt x="11597" y="42434"/>
                      <a:pt x="19598" y="42434"/>
                      <a:pt x="24527" y="37505"/>
                    </a:cubicBezTo>
                    <a:lnTo>
                      <a:pt x="31671" y="30361"/>
                    </a:lnTo>
                    <a:cubicBezTo>
                      <a:pt x="40548" y="21484"/>
                      <a:pt x="54941" y="21484"/>
                      <a:pt x="63818" y="30361"/>
                    </a:cubicBezTo>
                    <a:lnTo>
                      <a:pt x="79891" y="46434"/>
                    </a:lnTo>
                  </a:path>
                </a:pathLst>
              </a:custGeom>
              <a:noFill/>
              <a:ln w="14288">
                <a:solidFill>
                  <a:srgbClr val="A8351D"/>
                </a:solidFill>
              </a:ln>
            </p:spPr>
          </p:sp>
          <p:sp>
            <p:nvSpPr>
              <p:cNvPr id="105" name="Freeform 105"/>
              <p:cNvSpPr/>
              <p:nvPr/>
            </p:nvSpPr>
            <p:spPr>
              <a:xfrm>
                <a:off x="9957197" y="1939528"/>
                <a:ext cx="14288" cy="14288"/>
              </a:xfrm>
              <a:custGeom>
                <a:avLst/>
                <a:gdLst/>
                <a:ahLst/>
                <a:cxnLst/>
                <a:rect l="l" t="t" r="r" b="b"/>
                <a:pathLst>
                  <a:path w="14288" h="14288">
                    <a:moveTo>
                      <a:pt x="0" y="0"/>
                    </a:moveTo>
                    <a:lnTo>
                      <a:pt x="14288" y="14288"/>
                    </a:lnTo>
                  </a:path>
                </a:pathLst>
              </a:custGeom>
              <a:noFill/>
              <a:ln w="14288">
                <a:solidFill>
                  <a:srgbClr val="A8351D"/>
                </a:solidFill>
              </a:ln>
            </p:spPr>
          </p:sp>
          <p:sp>
            <p:nvSpPr>
              <p:cNvPr id="106" name="Freeform 106"/>
              <p:cNvSpPr/>
              <p:nvPr/>
            </p:nvSpPr>
            <p:spPr>
              <a:xfrm>
                <a:off x="9975056" y="1921669"/>
                <a:ext cx="14288" cy="14288"/>
              </a:xfrm>
              <a:custGeom>
                <a:avLst/>
                <a:gdLst/>
                <a:ahLst/>
                <a:cxnLst/>
                <a:rect l="l" t="t" r="r" b="b"/>
                <a:pathLst>
                  <a:path w="14288" h="14288">
                    <a:moveTo>
                      <a:pt x="0" y="0"/>
                    </a:moveTo>
                    <a:lnTo>
                      <a:pt x="14288" y="14288"/>
                    </a:lnTo>
                  </a:path>
                </a:pathLst>
              </a:custGeom>
              <a:noFill/>
              <a:ln w="14288">
                <a:solidFill>
                  <a:srgbClr val="A8351D"/>
                </a:solidFill>
              </a:ln>
            </p:spPr>
          </p:sp>
        </p:grpSp>
        <p:sp>
          <p:nvSpPr>
            <p:cNvPr id="108" name="TextBox 108"/>
            <p:cNvSpPr txBox="1"/>
            <p:nvPr/>
          </p:nvSpPr>
          <p:spPr>
            <a:xfrm>
              <a:off x="10082212" y="1874520"/>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养老</a:t>
              </a:r>
            </a:p>
          </p:txBody>
        </p:sp>
        <p:sp>
          <p:nvSpPr>
            <p:cNvPr id="109" name="Rectangle 109"/>
            <p:cNvSpPr/>
            <p:nvPr/>
          </p:nvSpPr>
          <p:spPr>
            <a:xfrm>
              <a:off x="990600" y="2324100"/>
              <a:ext cx="9829800" cy="666750"/>
            </a:xfrm>
            <a:prstGeom prst="roundRect">
              <a:avLst>
                <a:gd name="adj" fmla="val 8571"/>
              </a:avLst>
            </a:prstGeom>
            <a:solidFill>
              <a:srgbClr val="FFFFFF"/>
            </a:solidFill>
            <a:ln w="9525">
              <a:solidFill>
                <a:srgbClr val="C9D8EF"/>
              </a:solidFill>
            </a:ln>
          </p:spPr>
        </p:sp>
        <p:sp>
          <p:nvSpPr>
            <p:cNvPr id="110" name="Rectangle 110"/>
            <p:cNvSpPr/>
            <p:nvPr/>
          </p:nvSpPr>
          <p:spPr>
            <a:xfrm>
              <a:off x="990600" y="2324100"/>
              <a:ext cx="1143000" cy="666750"/>
            </a:xfrm>
            <a:prstGeom prst="roundRect">
              <a:avLst>
                <a:gd name="adj" fmla="val 8571"/>
              </a:avLst>
            </a:prstGeom>
            <a:gradFill>
              <a:gsLst>
                <a:gs pos="0">
                  <a:srgbClr val="67281B"/>
                </a:gs>
                <a:gs pos="100000">
                  <a:srgbClr val="A8351D"/>
                </a:gs>
              </a:gsLst>
              <a:lin ang="0" scaled="1"/>
            </a:gradFill>
            <a:ln>
              <a:noFill/>
            </a:ln>
          </p:spPr>
        </p:sp>
        <p:grpSp>
          <p:nvGrpSpPr>
            <p:cNvPr id="115" name="Group 115"/>
            <p:cNvGrpSpPr/>
            <p:nvPr/>
          </p:nvGrpSpPr>
          <p:grpSpPr>
            <a:xfrm>
              <a:off x="1150144" y="2578894"/>
              <a:ext cx="157163" cy="157163"/>
              <a:chOff x="1150144" y="2578894"/>
              <a:chExt cx="157163" cy="157163"/>
            </a:xfrm>
          </p:grpSpPr>
          <p:sp>
            <p:nvSpPr>
              <p:cNvPr id="111" name="Freeform 111"/>
              <p:cNvSpPr/>
              <p:nvPr/>
            </p:nvSpPr>
            <p:spPr>
              <a:xfrm>
                <a:off x="1150144" y="2631281"/>
                <a:ext cx="52388" cy="52388"/>
              </a:xfrm>
              <a:custGeom>
                <a:avLst/>
                <a:gdLst/>
                <a:ahLst/>
                <a:cxnLst/>
                <a:rect l="l" t="t" r="r" b="b"/>
                <a:pathLst>
                  <a:path w="52388" h="52388">
                    <a:moveTo>
                      <a:pt x="0" y="26194"/>
                    </a:moveTo>
                    <a:lnTo>
                      <a:pt x="26194" y="52388"/>
                    </a:lnTo>
                    <a:lnTo>
                      <a:pt x="52388" y="26194"/>
                    </a:lnTo>
                    <a:lnTo>
                      <a:pt x="26194" y="0"/>
                    </a:lnTo>
                    <a:lnTo>
                      <a:pt x="0" y="26194"/>
                    </a:lnTo>
                  </a:path>
                </a:pathLst>
              </a:custGeom>
              <a:noFill/>
              <a:ln w="17463">
                <a:solidFill>
                  <a:srgbClr val="FFFFFF"/>
                </a:solidFill>
              </a:ln>
            </p:spPr>
          </p:sp>
          <p:sp>
            <p:nvSpPr>
              <p:cNvPr id="112" name="Freeform 112"/>
              <p:cNvSpPr/>
              <p:nvPr/>
            </p:nvSpPr>
            <p:spPr>
              <a:xfrm>
                <a:off x="1254919" y="2631281"/>
                <a:ext cx="52388" cy="52388"/>
              </a:xfrm>
              <a:custGeom>
                <a:avLst/>
                <a:gdLst/>
                <a:ahLst/>
                <a:cxnLst/>
                <a:rect l="l" t="t" r="r" b="b"/>
                <a:pathLst>
                  <a:path w="52388" h="52388">
                    <a:moveTo>
                      <a:pt x="0" y="26194"/>
                    </a:moveTo>
                    <a:lnTo>
                      <a:pt x="26194" y="52388"/>
                    </a:lnTo>
                    <a:lnTo>
                      <a:pt x="52388" y="26194"/>
                    </a:lnTo>
                    <a:lnTo>
                      <a:pt x="26194" y="0"/>
                    </a:lnTo>
                    <a:lnTo>
                      <a:pt x="0" y="26194"/>
                    </a:lnTo>
                  </a:path>
                </a:pathLst>
              </a:custGeom>
              <a:noFill/>
              <a:ln w="17463">
                <a:solidFill>
                  <a:srgbClr val="FFFFFF"/>
                </a:solidFill>
              </a:ln>
            </p:spPr>
          </p:sp>
          <p:sp>
            <p:nvSpPr>
              <p:cNvPr id="113" name="Freeform 113"/>
              <p:cNvSpPr/>
              <p:nvPr/>
            </p:nvSpPr>
            <p:spPr>
              <a:xfrm>
                <a:off x="1202531" y="2578894"/>
                <a:ext cx="52388" cy="52388"/>
              </a:xfrm>
              <a:custGeom>
                <a:avLst/>
                <a:gdLst/>
                <a:ahLst/>
                <a:cxnLst/>
                <a:rect l="l" t="t" r="r" b="b"/>
                <a:pathLst>
                  <a:path w="52388" h="52388">
                    <a:moveTo>
                      <a:pt x="0" y="26194"/>
                    </a:moveTo>
                    <a:lnTo>
                      <a:pt x="26194" y="52388"/>
                    </a:lnTo>
                    <a:lnTo>
                      <a:pt x="52388" y="26194"/>
                    </a:lnTo>
                    <a:lnTo>
                      <a:pt x="26194" y="0"/>
                    </a:lnTo>
                    <a:lnTo>
                      <a:pt x="0" y="26194"/>
                    </a:lnTo>
                  </a:path>
                </a:pathLst>
              </a:custGeom>
              <a:noFill/>
              <a:ln w="17463">
                <a:solidFill>
                  <a:srgbClr val="FFFFFF"/>
                </a:solidFill>
              </a:ln>
            </p:spPr>
          </p:sp>
          <p:sp>
            <p:nvSpPr>
              <p:cNvPr id="114" name="Freeform 114"/>
              <p:cNvSpPr/>
              <p:nvPr/>
            </p:nvSpPr>
            <p:spPr>
              <a:xfrm>
                <a:off x="1202531" y="2683669"/>
                <a:ext cx="52388" cy="52388"/>
              </a:xfrm>
              <a:custGeom>
                <a:avLst/>
                <a:gdLst/>
                <a:ahLst/>
                <a:cxnLst/>
                <a:rect l="l" t="t" r="r" b="b"/>
                <a:pathLst>
                  <a:path w="52388" h="52388">
                    <a:moveTo>
                      <a:pt x="0" y="26194"/>
                    </a:moveTo>
                    <a:lnTo>
                      <a:pt x="26194" y="52388"/>
                    </a:lnTo>
                    <a:lnTo>
                      <a:pt x="52388" y="26194"/>
                    </a:lnTo>
                    <a:lnTo>
                      <a:pt x="26194" y="0"/>
                    </a:lnTo>
                    <a:lnTo>
                      <a:pt x="0" y="26194"/>
                    </a:lnTo>
                  </a:path>
                </a:pathLst>
              </a:custGeom>
              <a:noFill/>
              <a:ln w="17463">
                <a:solidFill>
                  <a:srgbClr val="FFFFFF"/>
                </a:solidFill>
              </a:ln>
            </p:spPr>
          </p:sp>
        </p:grpSp>
        <p:sp>
          <p:nvSpPr>
            <p:cNvPr id="116" name="TextBox 116"/>
            <p:cNvSpPr txBox="1"/>
            <p:nvPr/>
          </p:nvSpPr>
          <p:spPr>
            <a:xfrm>
              <a:off x="1403985" y="2602706"/>
              <a:ext cx="46375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能力层</a:t>
              </a:r>
            </a:p>
          </p:txBody>
        </p:sp>
        <p:grpSp>
          <p:nvGrpSpPr>
            <p:cNvPr id="122" name="Group 122"/>
            <p:cNvGrpSpPr/>
            <p:nvPr/>
          </p:nvGrpSpPr>
          <p:grpSpPr>
            <a:xfrm>
              <a:off x="2328862" y="2603500"/>
              <a:ext cx="142875" cy="127000"/>
              <a:chOff x="2328862" y="2603500"/>
              <a:chExt cx="142875" cy="127000"/>
            </a:xfrm>
          </p:grpSpPr>
          <p:sp>
            <p:nvSpPr>
              <p:cNvPr id="117" name="Freeform 117"/>
              <p:cNvSpPr/>
              <p:nvPr/>
            </p:nvSpPr>
            <p:spPr>
              <a:xfrm>
                <a:off x="2328862" y="2603500"/>
                <a:ext cx="142875" cy="127000"/>
              </a:xfrm>
              <a:custGeom>
                <a:avLst/>
                <a:gdLst/>
                <a:ahLst/>
                <a:cxnLst/>
                <a:rect l="l" t="t" r="r" b="b"/>
                <a:pathLst>
                  <a:path w="142875" h="127000">
                    <a:moveTo>
                      <a:pt x="0" y="23812"/>
                    </a:moveTo>
                    <a:cubicBezTo>
                      <a:pt x="0" y="10661"/>
                      <a:pt x="10661" y="0"/>
                      <a:pt x="23812" y="0"/>
                    </a:cubicBezTo>
                    <a:lnTo>
                      <a:pt x="119062" y="0"/>
                    </a:lnTo>
                    <a:cubicBezTo>
                      <a:pt x="132214" y="0"/>
                      <a:pt x="142875" y="10661"/>
                      <a:pt x="142875" y="23812"/>
                    </a:cubicBezTo>
                    <a:lnTo>
                      <a:pt x="142875" y="103187"/>
                    </a:lnTo>
                    <a:cubicBezTo>
                      <a:pt x="142875" y="116339"/>
                      <a:pt x="132214" y="127000"/>
                      <a:pt x="119062" y="127000"/>
                    </a:cubicBezTo>
                    <a:lnTo>
                      <a:pt x="23812" y="127000"/>
                    </a:lnTo>
                    <a:cubicBezTo>
                      <a:pt x="10661" y="127000"/>
                      <a:pt x="0" y="116339"/>
                      <a:pt x="0" y="103187"/>
                    </a:cubicBezTo>
                    <a:lnTo>
                      <a:pt x="0" y="23812"/>
                    </a:lnTo>
                  </a:path>
                </a:pathLst>
              </a:custGeom>
              <a:noFill/>
              <a:ln w="15875">
                <a:solidFill>
                  <a:srgbClr val="A8351D"/>
                </a:solidFill>
              </a:ln>
            </p:spPr>
          </p:sp>
          <p:sp>
            <p:nvSpPr>
              <p:cNvPr id="118" name="Freeform 118"/>
              <p:cNvSpPr/>
              <p:nvPr/>
            </p:nvSpPr>
            <p:spPr>
              <a:xfrm>
                <a:off x="2360612" y="263525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119" name="Freeform 119"/>
              <p:cNvSpPr/>
              <p:nvPr/>
            </p:nvSpPr>
            <p:spPr>
              <a:xfrm>
                <a:off x="2424112" y="2635250"/>
                <a:ext cx="15875" cy="9525"/>
              </a:xfrm>
              <a:custGeom>
                <a:avLst/>
                <a:gdLst/>
                <a:ahLst/>
                <a:cxnLst/>
                <a:rect l="l" t="t" r="r" b="b"/>
                <a:pathLst>
                  <a:path w="15875" h="9525">
                    <a:moveTo>
                      <a:pt x="0" y="0"/>
                    </a:moveTo>
                    <a:lnTo>
                      <a:pt x="15875" y="0"/>
                    </a:lnTo>
                  </a:path>
                </a:pathLst>
              </a:custGeom>
              <a:noFill/>
              <a:ln w="15875">
                <a:solidFill>
                  <a:srgbClr val="A8351D"/>
                </a:solidFill>
              </a:ln>
            </p:spPr>
          </p:sp>
          <p:sp>
            <p:nvSpPr>
              <p:cNvPr id="120" name="Freeform 120"/>
              <p:cNvSpPr/>
              <p:nvPr/>
            </p:nvSpPr>
            <p:spPr>
              <a:xfrm>
                <a:off x="2424112" y="2667000"/>
                <a:ext cx="15875" cy="9525"/>
              </a:xfrm>
              <a:custGeom>
                <a:avLst/>
                <a:gdLst/>
                <a:ahLst/>
                <a:cxnLst/>
                <a:rect l="l" t="t" r="r" b="b"/>
                <a:pathLst>
                  <a:path w="15875" h="9525">
                    <a:moveTo>
                      <a:pt x="0" y="0"/>
                    </a:moveTo>
                    <a:lnTo>
                      <a:pt x="15875" y="0"/>
                    </a:lnTo>
                  </a:path>
                </a:pathLst>
              </a:custGeom>
              <a:noFill/>
              <a:ln w="15875">
                <a:solidFill>
                  <a:srgbClr val="A8351D"/>
                </a:solidFill>
              </a:ln>
            </p:spPr>
          </p:sp>
          <p:sp>
            <p:nvSpPr>
              <p:cNvPr id="121" name="Freeform 121"/>
              <p:cNvSpPr/>
              <p:nvPr/>
            </p:nvSpPr>
            <p:spPr>
              <a:xfrm>
                <a:off x="2360612" y="2698750"/>
                <a:ext cx="79375" cy="9525"/>
              </a:xfrm>
              <a:custGeom>
                <a:avLst/>
                <a:gdLst/>
                <a:ahLst/>
                <a:cxnLst/>
                <a:rect l="l" t="t" r="r" b="b"/>
                <a:pathLst>
                  <a:path w="79375" h="9525">
                    <a:moveTo>
                      <a:pt x="0" y="0"/>
                    </a:moveTo>
                    <a:lnTo>
                      <a:pt x="79375" y="0"/>
                    </a:lnTo>
                  </a:path>
                </a:pathLst>
              </a:custGeom>
              <a:noFill/>
              <a:ln w="15875">
                <a:solidFill>
                  <a:srgbClr val="A8351D"/>
                </a:solidFill>
              </a:ln>
            </p:spPr>
          </p:sp>
        </p:grpSp>
        <p:sp>
          <p:nvSpPr>
            <p:cNvPr id="123" name="TextBox 123"/>
            <p:cNvSpPr txBox="1"/>
            <p:nvPr/>
          </p:nvSpPr>
          <p:spPr>
            <a:xfrm>
              <a:off x="2547938" y="2622947"/>
              <a:ext cx="642239"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客户主视图</a:t>
              </a:r>
            </a:p>
          </p:txBody>
        </p:sp>
        <p:grpSp>
          <p:nvGrpSpPr>
            <p:cNvPr id="127" name="Group 127"/>
            <p:cNvGrpSpPr/>
            <p:nvPr/>
          </p:nvGrpSpPr>
          <p:grpSpPr>
            <a:xfrm>
              <a:off x="3833812" y="2595562"/>
              <a:ext cx="142875" cy="142875"/>
              <a:chOff x="3833812" y="2595562"/>
              <a:chExt cx="142875" cy="142875"/>
            </a:xfrm>
          </p:grpSpPr>
          <p:sp>
            <p:nvSpPr>
              <p:cNvPr id="124" name="Freeform 124"/>
              <p:cNvSpPr/>
              <p:nvPr/>
            </p:nvSpPr>
            <p:spPr>
              <a:xfrm>
                <a:off x="3833812" y="2595562"/>
                <a:ext cx="142875" cy="142875"/>
              </a:xfrm>
              <a:custGeom>
                <a:avLst/>
                <a:gdLst/>
                <a:ahLst/>
                <a:cxnLst/>
                <a:rect l="l" t="t" r="r" b="b"/>
                <a:pathLst>
                  <a:path w="142875" h="142875">
                    <a:moveTo>
                      <a:pt x="95250" y="142875"/>
                    </a:moveTo>
                    <a:lnTo>
                      <a:pt x="23812" y="142875"/>
                    </a:lnTo>
                    <a:cubicBezTo>
                      <a:pt x="10661" y="142875"/>
                      <a:pt x="0" y="132214"/>
                      <a:pt x="0" y="119062"/>
                    </a:cubicBezTo>
                    <a:lnTo>
                      <a:pt x="0" y="111125"/>
                    </a:lnTo>
                    <a:lnTo>
                      <a:pt x="79375" y="111125"/>
                    </a:lnTo>
                    <a:lnTo>
                      <a:pt x="79375" y="127000"/>
                    </a:lnTo>
                    <a:cubicBezTo>
                      <a:pt x="79375" y="135767"/>
                      <a:pt x="86482" y="142875"/>
                      <a:pt x="95250" y="142875"/>
                    </a:cubicBezTo>
                    <a:cubicBezTo>
                      <a:pt x="104017" y="142875"/>
                      <a:pt x="111125" y="135767"/>
                      <a:pt x="111125" y="127000"/>
                    </a:cubicBezTo>
                    <a:lnTo>
                      <a:pt x="111125" y="15875"/>
                    </a:lnTo>
                    <a:cubicBezTo>
                      <a:pt x="111125" y="7107"/>
                      <a:pt x="118232" y="0"/>
                      <a:pt x="127000" y="0"/>
                    </a:cubicBezTo>
                    <a:cubicBezTo>
                      <a:pt x="135767" y="0"/>
                      <a:pt x="142875" y="7107"/>
                      <a:pt x="142875" y="15875"/>
                    </a:cubicBezTo>
                    <a:cubicBezTo>
                      <a:pt x="142875" y="24643"/>
                      <a:pt x="135767" y="31750"/>
                      <a:pt x="127000" y="31750"/>
                    </a:cubicBezTo>
                    <a:lnTo>
                      <a:pt x="111125" y="31750"/>
                    </a:lnTo>
                    <a:moveTo>
                      <a:pt x="127000" y="0"/>
                    </a:moveTo>
                    <a:lnTo>
                      <a:pt x="39687" y="0"/>
                    </a:lnTo>
                    <a:cubicBezTo>
                      <a:pt x="26536" y="0"/>
                      <a:pt x="15875" y="10661"/>
                      <a:pt x="15875" y="23812"/>
                    </a:cubicBezTo>
                    <a:lnTo>
                      <a:pt x="15875" y="111125"/>
                    </a:lnTo>
                  </a:path>
                </a:pathLst>
              </a:custGeom>
              <a:noFill/>
              <a:ln w="15875">
                <a:solidFill>
                  <a:srgbClr val="A8351D"/>
                </a:solidFill>
              </a:ln>
            </p:spPr>
          </p:sp>
          <p:sp>
            <p:nvSpPr>
              <p:cNvPr id="125" name="Freeform 125"/>
              <p:cNvSpPr/>
              <p:nvPr/>
            </p:nvSpPr>
            <p:spPr>
              <a:xfrm>
                <a:off x="3881437" y="2627312"/>
                <a:ext cx="31750" cy="9525"/>
              </a:xfrm>
              <a:custGeom>
                <a:avLst/>
                <a:gdLst/>
                <a:ahLst/>
                <a:cxnLst/>
                <a:rect l="l" t="t" r="r" b="b"/>
                <a:pathLst>
                  <a:path w="31750" h="9525">
                    <a:moveTo>
                      <a:pt x="0" y="0"/>
                    </a:moveTo>
                    <a:lnTo>
                      <a:pt x="31750" y="0"/>
                    </a:lnTo>
                  </a:path>
                </a:pathLst>
              </a:custGeom>
              <a:noFill/>
              <a:ln w="15875">
                <a:solidFill>
                  <a:srgbClr val="A8351D"/>
                </a:solidFill>
              </a:ln>
            </p:spPr>
          </p:sp>
          <p:sp>
            <p:nvSpPr>
              <p:cNvPr id="126" name="Freeform 126"/>
              <p:cNvSpPr/>
              <p:nvPr/>
            </p:nvSpPr>
            <p:spPr>
              <a:xfrm>
                <a:off x="3881437" y="2659062"/>
                <a:ext cx="31750" cy="9525"/>
              </a:xfrm>
              <a:custGeom>
                <a:avLst/>
                <a:gdLst/>
                <a:ahLst/>
                <a:cxnLst/>
                <a:rect l="l" t="t" r="r" b="b"/>
                <a:pathLst>
                  <a:path w="31750" h="9525">
                    <a:moveTo>
                      <a:pt x="0" y="0"/>
                    </a:moveTo>
                    <a:lnTo>
                      <a:pt x="31750" y="0"/>
                    </a:lnTo>
                  </a:path>
                </a:pathLst>
              </a:custGeom>
              <a:noFill/>
              <a:ln w="15875">
                <a:solidFill>
                  <a:srgbClr val="A8351D"/>
                </a:solidFill>
              </a:ln>
            </p:spPr>
          </p:sp>
        </p:grpSp>
        <p:sp>
          <p:nvSpPr>
            <p:cNvPr id="128" name="TextBox 128"/>
            <p:cNvSpPr txBox="1"/>
            <p:nvPr/>
          </p:nvSpPr>
          <p:spPr>
            <a:xfrm>
              <a:off x="4052888" y="262294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智能标签</a:t>
              </a:r>
            </a:p>
          </p:txBody>
        </p:sp>
        <p:grpSp>
          <p:nvGrpSpPr>
            <p:cNvPr id="132" name="Group 132"/>
            <p:cNvGrpSpPr/>
            <p:nvPr/>
          </p:nvGrpSpPr>
          <p:grpSpPr>
            <a:xfrm>
              <a:off x="7072312" y="2595562"/>
              <a:ext cx="142875" cy="142875"/>
              <a:chOff x="7072312" y="2595562"/>
              <a:chExt cx="142875" cy="142875"/>
            </a:xfrm>
          </p:grpSpPr>
          <p:sp>
            <p:nvSpPr>
              <p:cNvPr id="129" name="Freeform 129"/>
              <p:cNvSpPr/>
              <p:nvPr/>
            </p:nvSpPr>
            <p:spPr>
              <a:xfrm>
                <a:off x="7072312" y="2595562"/>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A8351D"/>
                </a:solidFill>
              </a:ln>
            </p:spPr>
          </p:sp>
          <p:sp>
            <p:nvSpPr>
              <p:cNvPr id="130" name="Freeform 130"/>
              <p:cNvSpPr/>
              <p:nvPr/>
            </p:nvSpPr>
            <p:spPr>
              <a:xfrm>
                <a:off x="7100697" y="2627312"/>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A8351D"/>
                </a:solidFill>
              </a:ln>
            </p:spPr>
          </p:sp>
          <p:sp>
            <p:nvSpPr>
              <p:cNvPr id="131" name="Freeform 131"/>
              <p:cNvSpPr/>
              <p:nvPr/>
            </p:nvSpPr>
            <p:spPr>
              <a:xfrm>
                <a:off x="7125494" y="2706687"/>
                <a:ext cx="36512" cy="9525"/>
              </a:xfrm>
              <a:custGeom>
                <a:avLst/>
                <a:gdLst/>
                <a:ahLst/>
                <a:cxnLst/>
                <a:rect l="l" t="t" r="r" b="b"/>
                <a:pathLst>
                  <a:path w="36512" h="9525">
                    <a:moveTo>
                      <a:pt x="0" y="0"/>
                    </a:moveTo>
                    <a:lnTo>
                      <a:pt x="36512" y="0"/>
                    </a:lnTo>
                  </a:path>
                </a:pathLst>
              </a:custGeom>
              <a:noFill/>
              <a:ln w="15875">
                <a:solidFill>
                  <a:srgbClr val="A8351D"/>
                </a:solidFill>
              </a:ln>
            </p:spPr>
          </p:sp>
        </p:grpSp>
        <p:sp>
          <p:nvSpPr>
            <p:cNvPr id="133" name="TextBox 133"/>
            <p:cNvSpPr txBox="1"/>
            <p:nvPr/>
          </p:nvSpPr>
          <p:spPr>
            <a:xfrm>
              <a:off x="7291388" y="262294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商机引擎</a:t>
              </a:r>
            </a:p>
          </p:txBody>
        </p:sp>
        <p:grpSp>
          <p:nvGrpSpPr>
            <p:cNvPr id="137" name="Group 137"/>
            <p:cNvGrpSpPr/>
            <p:nvPr/>
          </p:nvGrpSpPr>
          <p:grpSpPr>
            <a:xfrm>
              <a:off x="8596312" y="2595562"/>
              <a:ext cx="142875" cy="142875"/>
              <a:chOff x="8596312" y="2595562"/>
              <a:chExt cx="142875" cy="142875"/>
            </a:xfrm>
          </p:grpSpPr>
          <p:sp>
            <p:nvSpPr>
              <p:cNvPr id="134" name="Freeform 134"/>
              <p:cNvSpPr/>
              <p:nvPr/>
            </p:nvSpPr>
            <p:spPr>
              <a:xfrm>
                <a:off x="8596312" y="27066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135" name="Freeform 135"/>
              <p:cNvSpPr/>
              <p:nvPr/>
            </p:nvSpPr>
            <p:spPr>
              <a:xfrm>
                <a:off x="8707437" y="2595562"/>
                <a:ext cx="31750" cy="31750"/>
              </a:xfrm>
              <a:custGeom>
                <a:avLst/>
                <a:gdLst/>
                <a:ahLst/>
                <a:cxnLst/>
                <a:rect l="l" t="t" r="r" b="b"/>
                <a:pathLst>
                  <a:path w="31750" h="31750">
                    <a:moveTo>
                      <a:pt x="15875" y="31750"/>
                    </a:moveTo>
                    <a:cubicBezTo>
                      <a:pt x="24643" y="31750"/>
                      <a:pt x="31750" y="24643"/>
                      <a:pt x="31750" y="15875"/>
                    </a:cubicBezTo>
                    <a:cubicBezTo>
                      <a:pt x="31750" y="7107"/>
                      <a:pt x="24643" y="0"/>
                      <a:pt x="15875" y="0"/>
                    </a:cubicBezTo>
                    <a:cubicBezTo>
                      <a:pt x="7107" y="0"/>
                      <a:pt x="0" y="7107"/>
                      <a:pt x="0" y="15875"/>
                    </a:cubicBezTo>
                    <a:cubicBezTo>
                      <a:pt x="0" y="24643"/>
                      <a:pt x="7107" y="31750"/>
                      <a:pt x="15875" y="31750"/>
                    </a:cubicBezTo>
                  </a:path>
                </a:pathLst>
              </a:custGeom>
              <a:noFill/>
              <a:ln w="15875">
                <a:solidFill>
                  <a:srgbClr val="A8351D"/>
                </a:solidFill>
              </a:ln>
            </p:spPr>
          </p:sp>
          <p:sp>
            <p:nvSpPr>
              <p:cNvPr id="136" name="Freeform 136"/>
              <p:cNvSpPr/>
              <p:nvPr/>
            </p:nvSpPr>
            <p:spPr>
              <a:xfrm>
                <a:off x="8612187" y="2611437"/>
                <a:ext cx="119062" cy="111125"/>
              </a:xfrm>
              <a:custGeom>
                <a:avLst/>
                <a:gdLst/>
                <a:ahLst/>
                <a:cxnLst/>
                <a:rect l="l" t="t" r="r" b="b"/>
                <a:pathLst>
                  <a:path w="119062" h="111125">
                    <a:moveTo>
                      <a:pt x="47625" y="111125"/>
                    </a:moveTo>
                    <a:lnTo>
                      <a:pt x="91281" y="111125"/>
                    </a:lnTo>
                    <a:cubicBezTo>
                      <a:pt x="106624" y="111125"/>
                      <a:pt x="119062" y="98687"/>
                      <a:pt x="119062" y="83344"/>
                    </a:cubicBezTo>
                    <a:cubicBezTo>
                      <a:pt x="119062" y="68001"/>
                      <a:pt x="106624" y="55562"/>
                      <a:pt x="91281" y="55562"/>
                    </a:cubicBezTo>
                    <a:lnTo>
                      <a:pt x="27781" y="55562"/>
                    </a:lnTo>
                    <a:cubicBezTo>
                      <a:pt x="12438" y="55562"/>
                      <a:pt x="0" y="43124"/>
                      <a:pt x="0" y="27781"/>
                    </a:cubicBezTo>
                    <a:cubicBezTo>
                      <a:pt x="0" y="12438"/>
                      <a:pt x="12438" y="0"/>
                      <a:pt x="27781" y="0"/>
                    </a:cubicBezTo>
                    <a:lnTo>
                      <a:pt x="63500" y="0"/>
                    </a:lnTo>
                  </a:path>
                </a:pathLst>
              </a:custGeom>
              <a:noFill/>
              <a:ln w="15875">
                <a:solidFill>
                  <a:srgbClr val="A8351D"/>
                </a:solidFill>
              </a:ln>
            </p:spPr>
          </p:sp>
        </p:grpSp>
        <p:sp>
          <p:nvSpPr>
            <p:cNvPr id="138" name="TextBox 138"/>
            <p:cNvSpPr txBox="1"/>
            <p:nvPr/>
          </p:nvSpPr>
          <p:spPr>
            <a:xfrm>
              <a:off x="8815388" y="262294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客户旅程</a:t>
              </a:r>
            </a:p>
          </p:txBody>
        </p:sp>
        <p:grpSp>
          <p:nvGrpSpPr>
            <p:cNvPr id="142" name="Group 142"/>
            <p:cNvGrpSpPr/>
            <p:nvPr/>
          </p:nvGrpSpPr>
          <p:grpSpPr>
            <a:xfrm>
              <a:off x="9933003" y="2595562"/>
              <a:ext cx="136478" cy="142002"/>
              <a:chOff x="9933003" y="2595562"/>
              <a:chExt cx="136478" cy="142002"/>
            </a:xfrm>
          </p:grpSpPr>
          <p:sp>
            <p:nvSpPr>
              <p:cNvPr id="139" name="Freeform 139"/>
              <p:cNvSpPr/>
              <p:nvPr/>
            </p:nvSpPr>
            <p:spPr>
              <a:xfrm>
                <a:off x="9953625" y="2595562"/>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A8351D"/>
                </a:solidFill>
              </a:ln>
            </p:spPr>
          </p:sp>
          <p:sp>
            <p:nvSpPr>
              <p:cNvPr id="140" name="Freeform 140"/>
              <p:cNvSpPr/>
              <p:nvPr/>
            </p:nvSpPr>
            <p:spPr>
              <a:xfrm>
                <a:off x="10001250" y="2667000"/>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A8351D"/>
                </a:solidFill>
              </a:ln>
            </p:spPr>
          </p:sp>
          <p:sp>
            <p:nvSpPr>
              <p:cNvPr id="141" name="Freeform 141"/>
              <p:cNvSpPr/>
              <p:nvPr/>
            </p:nvSpPr>
            <p:spPr>
              <a:xfrm>
                <a:off x="9933003" y="2667000"/>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A8351D"/>
                </a:solidFill>
              </a:ln>
            </p:spPr>
          </p:sp>
        </p:grpSp>
        <p:sp>
          <p:nvSpPr>
            <p:cNvPr id="143" name="TextBox 143"/>
            <p:cNvSpPr txBox="1"/>
            <p:nvPr/>
          </p:nvSpPr>
          <p:spPr>
            <a:xfrm>
              <a:off x="10148888" y="262294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权益管理</a:t>
              </a:r>
            </a:p>
          </p:txBody>
        </p:sp>
        <p:sp>
          <p:nvSpPr>
            <p:cNvPr id="144" name="Rectangle 144"/>
            <p:cNvSpPr/>
            <p:nvPr/>
          </p:nvSpPr>
          <p:spPr>
            <a:xfrm>
              <a:off x="990600" y="3067050"/>
              <a:ext cx="9829800" cy="666750"/>
            </a:xfrm>
            <a:prstGeom prst="roundRect">
              <a:avLst>
                <a:gd name="adj" fmla="val 8571"/>
              </a:avLst>
            </a:prstGeom>
            <a:solidFill>
              <a:srgbClr val="FFFFFF"/>
            </a:solidFill>
            <a:ln w="9525">
              <a:solidFill>
                <a:srgbClr val="C9D8EF"/>
              </a:solidFill>
            </a:ln>
          </p:spPr>
        </p:sp>
        <p:sp>
          <p:nvSpPr>
            <p:cNvPr id="145" name="Rectangle 145"/>
            <p:cNvSpPr/>
            <p:nvPr/>
          </p:nvSpPr>
          <p:spPr>
            <a:xfrm>
              <a:off x="990600" y="3067050"/>
              <a:ext cx="1143000" cy="666750"/>
            </a:xfrm>
            <a:prstGeom prst="roundRect">
              <a:avLst>
                <a:gd name="adj" fmla="val 8571"/>
              </a:avLst>
            </a:prstGeom>
            <a:gradFill>
              <a:gsLst>
                <a:gs pos="0">
                  <a:srgbClr val="67281B"/>
                </a:gs>
                <a:gs pos="100000">
                  <a:srgbClr val="A8351D"/>
                </a:gs>
              </a:gsLst>
              <a:lin ang="0" scaled="1"/>
            </a:gradFill>
            <a:ln>
              <a:noFill/>
            </a:ln>
          </p:spPr>
        </p:sp>
        <p:grpSp>
          <p:nvGrpSpPr>
            <p:cNvPr id="148" name="Group 148"/>
            <p:cNvGrpSpPr/>
            <p:nvPr/>
          </p:nvGrpSpPr>
          <p:grpSpPr>
            <a:xfrm>
              <a:off x="1146311" y="3318011"/>
              <a:ext cx="164829" cy="164829"/>
              <a:chOff x="1146311" y="3318011"/>
              <a:chExt cx="164829" cy="164829"/>
            </a:xfrm>
          </p:grpSpPr>
          <p:sp>
            <p:nvSpPr>
              <p:cNvPr id="146" name="Freeform 146"/>
              <p:cNvSpPr/>
              <p:nvPr/>
            </p:nvSpPr>
            <p:spPr>
              <a:xfrm>
                <a:off x="1146311" y="331801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FFFFFF"/>
                </a:solidFill>
              </a:ln>
            </p:spPr>
          </p:sp>
          <p:sp>
            <p:nvSpPr>
              <p:cNvPr id="147" name="Freeform 147"/>
              <p:cNvSpPr/>
              <p:nvPr/>
            </p:nvSpPr>
            <p:spPr>
              <a:xfrm>
                <a:off x="1202531" y="337423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FFFFFF"/>
                </a:solidFill>
              </a:ln>
            </p:spPr>
          </p:sp>
        </p:grpSp>
        <p:sp>
          <p:nvSpPr>
            <p:cNvPr id="149" name="TextBox 149"/>
            <p:cNvSpPr txBox="1"/>
            <p:nvPr/>
          </p:nvSpPr>
          <p:spPr>
            <a:xfrm>
              <a:off x="1403985" y="3345656"/>
              <a:ext cx="46375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运营层</a:t>
              </a:r>
            </a:p>
          </p:txBody>
        </p:sp>
        <p:sp>
          <p:nvSpPr>
            <p:cNvPr id="150" name="Freeform 150"/>
            <p:cNvSpPr/>
            <p:nvPr/>
          </p:nvSpPr>
          <p:spPr>
            <a:xfrm>
              <a:off x="2336800" y="3346450"/>
              <a:ext cx="127000" cy="134937"/>
            </a:xfrm>
            <a:custGeom>
              <a:avLst/>
              <a:gdLst/>
              <a:ahLst/>
              <a:cxnLst/>
              <a:rect l="l" t="t" r="r" b="b"/>
              <a:pathLst>
                <a:path w="127000" h="134937">
                  <a:moveTo>
                    <a:pt x="0" y="0"/>
                  </a:moveTo>
                  <a:lnTo>
                    <a:pt x="127000" y="0"/>
                  </a:lnTo>
                  <a:lnTo>
                    <a:pt x="127000" y="17240"/>
                  </a:lnTo>
                  <a:cubicBezTo>
                    <a:pt x="126999" y="21450"/>
                    <a:pt x="125326" y="25487"/>
                    <a:pt x="122349" y="28464"/>
                  </a:cubicBezTo>
                  <a:lnTo>
                    <a:pt x="87312" y="63500"/>
                  </a:lnTo>
                  <a:lnTo>
                    <a:pt x="87312" y="119062"/>
                  </a:lnTo>
                  <a:lnTo>
                    <a:pt x="39687" y="134937"/>
                  </a:lnTo>
                  <a:lnTo>
                    <a:pt x="39687" y="67469"/>
                  </a:lnTo>
                  <a:lnTo>
                    <a:pt x="4127" y="28353"/>
                  </a:lnTo>
                  <a:cubicBezTo>
                    <a:pt x="1472" y="25431"/>
                    <a:pt x="0" y="21625"/>
                    <a:pt x="0" y="17677"/>
                  </a:cubicBezTo>
                  <a:lnTo>
                    <a:pt x="0" y="0"/>
                  </a:lnTo>
                </a:path>
              </a:pathLst>
            </a:custGeom>
            <a:noFill/>
            <a:ln w="15875">
              <a:solidFill>
                <a:srgbClr val="A8351D"/>
              </a:solidFill>
            </a:ln>
          </p:spPr>
        </p:sp>
        <p:sp>
          <p:nvSpPr>
            <p:cNvPr id="151" name="TextBox 151"/>
            <p:cNvSpPr txBox="1"/>
            <p:nvPr/>
          </p:nvSpPr>
          <p:spPr>
            <a:xfrm>
              <a:off x="2547938" y="336589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名单筛选</a:t>
              </a:r>
            </a:p>
          </p:txBody>
        </p:sp>
        <p:grpSp>
          <p:nvGrpSpPr>
            <p:cNvPr id="155" name="Group 155"/>
            <p:cNvGrpSpPr/>
            <p:nvPr/>
          </p:nvGrpSpPr>
          <p:grpSpPr>
            <a:xfrm>
              <a:off x="3833812" y="3338512"/>
              <a:ext cx="142875" cy="142875"/>
              <a:chOff x="3833812" y="3338512"/>
              <a:chExt cx="142875" cy="142875"/>
            </a:xfrm>
          </p:grpSpPr>
          <p:sp>
            <p:nvSpPr>
              <p:cNvPr id="152" name="Freeform 152"/>
              <p:cNvSpPr/>
              <p:nvPr/>
            </p:nvSpPr>
            <p:spPr>
              <a:xfrm>
                <a:off x="3897312" y="34020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A8351D"/>
                </a:solidFill>
              </a:ln>
            </p:spPr>
          </p:sp>
          <p:sp>
            <p:nvSpPr>
              <p:cNvPr id="153" name="Freeform 153"/>
              <p:cNvSpPr/>
              <p:nvPr/>
            </p:nvSpPr>
            <p:spPr>
              <a:xfrm>
                <a:off x="3865562" y="33702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A8351D"/>
                </a:solidFill>
              </a:ln>
            </p:spPr>
          </p:sp>
          <p:sp>
            <p:nvSpPr>
              <p:cNvPr id="154" name="Freeform 154"/>
              <p:cNvSpPr/>
              <p:nvPr/>
            </p:nvSpPr>
            <p:spPr>
              <a:xfrm>
                <a:off x="3833812" y="33385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A8351D"/>
                </a:solidFill>
              </a:ln>
            </p:spPr>
          </p:sp>
        </p:grpSp>
        <p:sp>
          <p:nvSpPr>
            <p:cNvPr id="156" name="TextBox 156"/>
            <p:cNvSpPr txBox="1"/>
            <p:nvPr/>
          </p:nvSpPr>
          <p:spPr>
            <a:xfrm>
              <a:off x="4052888" y="336589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精准触达</a:t>
              </a:r>
            </a:p>
          </p:txBody>
        </p:sp>
        <p:grpSp>
          <p:nvGrpSpPr>
            <p:cNvPr id="161" name="Group 161"/>
            <p:cNvGrpSpPr/>
            <p:nvPr/>
          </p:nvGrpSpPr>
          <p:grpSpPr>
            <a:xfrm>
              <a:off x="7072312" y="3346450"/>
              <a:ext cx="142875" cy="127000"/>
              <a:chOff x="7072312" y="3346450"/>
              <a:chExt cx="142875" cy="127000"/>
            </a:xfrm>
          </p:grpSpPr>
          <p:sp>
            <p:nvSpPr>
              <p:cNvPr id="157" name="Freeform 157"/>
              <p:cNvSpPr/>
              <p:nvPr/>
            </p:nvSpPr>
            <p:spPr>
              <a:xfrm>
                <a:off x="7072312" y="3370262"/>
                <a:ext cx="142875" cy="9525"/>
              </a:xfrm>
              <a:custGeom>
                <a:avLst/>
                <a:gdLst/>
                <a:ahLst/>
                <a:cxnLst/>
                <a:rect l="l" t="t" r="r" b="b"/>
                <a:pathLst>
                  <a:path w="142875" h="9525">
                    <a:moveTo>
                      <a:pt x="142875" y="0"/>
                    </a:moveTo>
                    <a:lnTo>
                      <a:pt x="0" y="0"/>
                    </a:lnTo>
                  </a:path>
                </a:pathLst>
              </a:custGeom>
              <a:noFill/>
              <a:ln w="15875">
                <a:solidFill>
                  <a:srgbClr val="A8351D"/>
                </a:solidFill>
              </a:ln>
            </p:spPr>
          </p:sp>
          <p:sp>
            <p:nvSpPr>
              <p:cNvPr id="158" name="Freeform 158"/>
              <p:cNvSpPr/>
              <p:nvPr/>
            </p:nvSpPr>
            <p:spPr>
              <a:xfrm>
                <a:off x="7191375" y="3346450"/>
                <a:ext cx="23812" cy="47625"/>
              </a:xfrm>
              <a:custGeom>
                <a:avLst/>
                <a:gdLst/>
                <a:ahLst/>
                <a:cxnLst/>
                <a:rect l="l" t="t" r="r" b="b"/>
                <a:pathLst>
                  <a:path w="23812" h="47625">
                    <a:moveTo>
                      <a:pt x="0" y="47625"/>
                    </a:moveTo>
                    <a:lnTo>
                      <a:pt x="23812" y="23812"/>
                    </a:lnTo>
                    <a:lnTo>
                      <a:pt x="0" y="0"/>
                    </a:lnTo>
                  </a:path>
                </a:pathLst>
              </a:custGeom>
              <a:noFill/>
              <a:ln w="15875">
                <a:solidFill>
                  <a:srgbClr val="A8351D"/>
                </a:solidFill>
              </a:ln>
            </p:spPr>
          </p:sp>
          <p:sp>
            <p:nvSpPr>
              <p:cNvPr id="159" name="Freeform 159"/>
              <p:cNvSpPr/>
              <p:nvPr/>
            </p:nvSpPr>
            <p:spPr>
              <a:xfrm>
                <a:off x="7072312" y="3425825"/>
                <a:ext cx="23812" cy="47625"/>
              </a:xfrm>
              <a:custGeom>
                <a:avLst/>
                <a:gdLst/>
                <a:ahLst/>
                <a:cxnLst/>
                <a:rect l="l" t="t" r="r" b="b"/>
                <a:pathLst>
                  <a:path w="23812" h="47625">
                    <a:moveTo>
                      <a:pt x="23812" y="47625"/>
                    </a:moveTo>
                    <a:lnTo>
                      <a:pt x="0" y="23812"/>
                    </a:lnTo>
                    <a:lnTo>
                      <a:pt x="23812" y="0"/>
                    </a:lnTo>
                  </a:path>
                </a:pathLst>
              </a:custGeom>
              <a:noFill/>
              <a:ln w="15875">
                <a:solidFill>
                  <a:srgbClr val="A8351D"/>
                </a:solidFill>
              </a:ln>
            </p:spPr>
          </p:sp>
          <p:sp>
            <p:nvSpPr>
              <p:cNvPr id="160" name="Freeform 160"/>
              <p:cNvSpPr/>
              <p:nvPr/>
            </p:nvSpPr>
            <p:spPr>
              <a:xfrm>
                <a:off x="7072312" y="3449637"/>
                <a:ext cx="142875" cy="9525"/>
              </a:xfrm>
              <a:custGeom>
                <a:avLst/>
                <a:gdLst/>
                <a:ahLst/>
                <a:cxnLst/>
                <a:rect l="l" t="t" r="r" b="b"/>
                <a:pathLst>
                  <a:path w="142875" h="9525">
                    <a:moveTo>
                      <a:pt x="0" y="0"/>
                    </a:moveTo>
                    <a:lnTo>
                      <a:pt x="142875" y="0"/>
                    </a:lnTo>
                  </a:path>
                </a:pathLst>
              </a:custGeom>
              <a:noFill/>
              <a:ln w="15875">
                <a:solidFill>
                  <a:srgbClr val="A8351D"/>
                </a:solidFill>
              </a:ln>
            </p:spPr>
          </p:sp>
        </p:grpSp>
        <p:sp>
          <p:nvSpPr>
            <p:cNvPr id="162" name="TextBox 162"/>
            <p:cNvSpPr txBox="1"/>
            <p:nvPr/>
          </p:nvSpPr>
          <p:spPr>
            <a:xfrm>
              <a:off x="7291388" y="336589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协同转化</a:t>
              </a:r>
            </a:p>
          </p:txBody>
        </p:sp>
        <p:grpSp>
          <p:nvGrpSpPr>
            <p:cNvPr id="165" name="Group 165"/>
            <p:cNvGrpSpPr/>
            <p:nvPr/>
          </p:nvGrpSpPr>
          <p:grpSpPr>
            <a:xfrm>
              <a:off x="8604250" y="3343387"/>
              <a:ext cx="127000" cy="133125"/>
              <a:chOff x="8604250" y="3343387"/>
              <a:chExt cx="127000" cy="133125"/>
            </a:xfrm>
          </p:grpSpPr>
          <p:sp>
            <p:nvSpPr>
              <p:cNvPr id="163" name="Freeform 163"/>
              <p:cNvSpPr/>
              <p:nvPr/>
            </p:nvSpPr>
            <p:spPr>
              <a:xfrm>
                <a:off x="8604250" y="334338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A8351D"/>
                </a:solidFill>
              </a:ln>
            </p:spPr>
          </p:sp>
          <p:sp>
            <p:nvSpPr>
              <p:cNvPr id="164" name="Freeform 164"/>
              <p:cNvSpPr/>
              <p:nvPr/>
            </p:nvSpPr>
            <p:spPr>
              <a:xfrm>
                <a:off x="8604250" y="341788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A8351D"/>
                </a:solidFill>
              </a:ln>
            </p:spPr>
          </p:sp>
        </p:grpSp>
        <p:sp>
          <p:nvSpPr>
            <p:cNvPr id="166" name="TextBox 166"/>
            <p:cNvSpPr txBox="1"/>
            <p:nvPr/>
          </p:nvSpPr>
          <p:spPr>
            <a:xfrm>
              <a:off x="8815388" y="336589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持续服务</a:t>
              </a:r>
            </a:p>
          </p:txBody>
        </p:sp>
        <p:grpSp>
          <p:nvGrpSpPr>
            <p:cNvPr id="170" name="Group 170"/>
            <p:cNvGrpSpPr/>
            <p:nvPr/>
          </p:nvGrpSpPr>
          <p:grpSpPr>
            <a:xfrm>
              <a:off x="9945687" y="3338512"/>
              <a:ext cx="111125" cy="142875"/>
              <a:chOff x="9945687" y="3338512"/>
              <a:chExt cx="111125" cy="142875"/>
            </a:xfrm>
          </p:grpSpPr>
          <p:sp>
            <p:nvSpPr>
              <p:cNvPr id="167" name="Freeform 167"/>
              <p:cNvSpPr/>
              <p:nvPr/>
            </p:nvSpPr>
            <p:spPr>
              <a:xfrm>
                <a:off x="9945687" y="3354387"/>
                <a:ext cx="111125" cy="127000"/>
              </a:xfrm>
              <a:custGeom>
                <a:avLst/>
                <a:gdLst/>
                <a:ahLst/>
                <a:cxnLst/>
                <a:rect l="l" t="t" r="r" b="b"/>
                <a:pathLst>
                  <a:path w="111125" h="127000">
                    <a:moveTo>
                      <a:pt x="31750" y="0"/>
                    </a:moveTo>
                    <a:lnTo>
                      <a:pt x="15875" y="0"/>
                    </a:lnTo>
                    <a:cubicBezTo>
                      <a:pt x="7107" y="0"/>
                      <a:pt x="0" y="7107"/>
                      <a:pt x="0" y="15875"/>
                    </a:cubicBezTo>
                    <a:lnTo>
                      <a:pt x="0" y="111125"/>
                    </a:lnTo>
                    <a:cubicBezTo>
                      <a:pt x="0" y="119892"/>
                      <a:pt x="7107" y="127000"/>
                      <a:pt x="15875" y="127000"/>
                    </a:cubicBezTo>
                    <a:lnTo>
                      <a:pt x="95250" y="127000"/>
                    </a:lnTo>
                    <a:cubicBezTo>
                      <a:pt x="104017" y="127000"/>
                      <a:pt x="111125" y="119892"/>
                      <a:pt x="111125" y="111125"/>
                    </a:cubicBezTo>
                    <a:lnTo>
                      <a:pt x="111125" y="15875"/>
                    </a:lnTo>
                    <a:cubicBezTo>
                      <a:pt x="111125" y="7107"/>
                      <a:pt x="104017" y="0"/>
                      <a:pt x="95250" y="0"/>
                    </a:cubicBezTo>
                    <a:lnTo>
                      <a:pt x="79375" y="0"/>
                    </a:lnTo>
                  </a:path>
                </a:pathLst>
              </a:custGeom>
              <a:noFill/>
              <a:ln w="15875">
                <a:solidFill>
                  <a:srgbClr val="A8351D"/>
                </a:solidFill>
              </a:ln>
            </p:spPr>
          </p:sp>
          <p:sp>
            <p:nvSpPr>
              <p:cNvPr id="168" name="Freeform 168"/>
              <p:cNvSpPr/>
              <p:nvPr/>
            </p:nvSpPr>
            <p:spPr>
              <a:xfrm>
                <a:off x="9977437" y="3338512"/>
                <a:ext cx="47625" cy="31750"/>
              </a:xfrm>
              <a:custGeom>
                <a:avLst/>
                <a:gdLst/>
                <a:ahLst/>
                <a:cxnLst/>
                <a:rect l="l" t="t" r="r" b="b"/>
                <a:pathLst>
                  <a:path w="47625" h="31750">
                    <a:moveTo>
                      <a:pt x="0" y="15875"/>
                    </a:moveTo>
                    <a:cubicBezTo>
                      <a:pt x="0" y="7107"/>
                      <a:pt x="7107" y="0"/>
                      <a:pt x="15875" y="0"/>
                    </a:cubicBezTo>
                    <a:lnTo>
                      <a:pt x="31750" y="0"/>
                    </a:lnTo>
                    <a:cubicBezTo>
                      <a:pt x="40518" y="0"/>
                      <a:pt x="47625" y="7107"/>
                      <a:pt x="47625" y="15875"/>
                    </a:cubicBezTo>
                    <a:cubicBezTo>
                      <a:pt x="47625" y="24643"/>
                      <a:pt x="40518" y="31750"/>
                      <a:pt x="31750" y="31750"/>
                    </a:cubicBezTo>
                    <a:lnTo>
                      <a:pt x="15875" y="31750"/>
                    </a:lnTo>
                    <a:cubicBezTo>
                      <a:pt x="7107" y="31750"/>
                      <a:pt x="0" y="24643"/>
                      <a:pt x="0" y="15875"/>
                    </a:cubicBezTo>
                  </a:path>
                </a:pathLst>
              </a:custGeom>
              <a:noFill/>
              <a:ln w="15875">
                <a:solidFill>
                  <a:srgbClr val="A8351D"/>
                </a:solidFill>
              </a:ln>
            </p:spPr>
          </p:sp>
          <p:sp>
            <p:nvSpPr>
              <p:cNvPr id="169" name="Freeform 169"/>
              <p:cNvSpPr/>
              <p:nvPr/>
            </p:nvSpPr>
            <p:spPr>
              <a:xfrm>
                <a:off x="9977437" y="3409950"/>
                <a:ext cx="47625" cy="31750"/>
              </a:xfrm>
              <a:custGeom>
                <a:avLst/>
                <a:gdLst/>
                <a:ahLst/>
                <a:cxnLst/>
                <a:rect l="l" t="t" r="r" b="b"/>
                <a:pathLst>
                  <a:path w="47625" h="31750">
                    <a:moveTo>
                      <a:pt x="0" y="15875"/>
                    </a:moveTo>
                    <a:lnTo>
                      <a:pt x="15875" y="31750"/>
                    </a:lnTo>
                    <a:lnTo>
                      <a:pt x="47625" y="0"/>
                    </a:lnTo>
                  </a:path>
                </a:pathLst>
              </a:custGeom>
              <a:noFill/>
              <a:ln w="15875">
                <a:solidFill>
                  <a:srgbClr val="A8351D"/>
                </a:solidFill>
              </a:ln>
            </p:spPr>
          </p:sp>
        </p:grpSp>
        <p:sp>
          <p:nvSpPr>
            <p:cNvPr id="171" name="TextBox 171"/>
            <p:cNvSpPr txBox="1"/>
            <p:nvPr/>
          </p:nvSpPr>
          <p:spPr>
            <a:xfrm>
              <a:off x="10148888" y="336589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经营复盘</a:t>
              </a:r>
            </a:p>
          </p:txBody>
        </p:sp>
        <p:sp>
          <p:nvSpPr>
            <p:cNvPr id="172" name="Rectangle 172"/>
            <p:cNvSpPr/>
            <p:nvPr/>
          </p:nvSpPr>
          <p:spPr>
            <a:xfrm>
              <a:off x="990600" y="3810000"/>
              <a:ext cx="9829800" cy="666750"/>
            </a:xfrm>
            <a:prstGeom prst="roundRect">
              <a:avLst>
                <a:gd name="adj" fmla="val 8571"/>
              </a:avLst>
            </a:prstGeom>
            <a:solidFill>
              <a:srgbClr val="FFFFFF"/>
            </a:solidFill>
            <a:ln w="9525">
              <a:solidFill>
                <a:srgbClr val="C9D8EF"/>
              </a:solidFill>
            </a:ln>
          </p:spPr>
        </p:sp>
        <p:sp>
          <p:nvSpPr>
            <p:cNvPr id="173" name="Rectangle 173"/>
            <p:cNvSpPr/>
            <p:nvPr/>
          </p:nvSpPr>
          <p:spPr>
            <a:xfrm>
              <a:off x="990600" y="3810000"/>
              <a:ext cx="1143000" cy="666750"/>
            </a:xfrm>
            <a:prstGeom prst="roundRect">
              <a:avLst>
                <a:gd name="adj" fmla="val 8571"/>
              </a:avLst>
            </a:prstGeom>
            <a:gradFill>
              <a:gsLst>
                <a:gs pos="0">
                  <a:srgbClr val="67281B"/>
                </a:gs>
                <a:gs pos="100000">
                  <a:srgbClr val="A8351D"/>
                </a:gs>
              </a:gsLst>
              <a:lin ang="0" scaled="1"/>
            </a:gradFill>
            <a:ln>
              <a:noFill/>
            </a:ln>
          </p:spPr>
        </p:sp>
        <p:grpSp>
          <p:nvGrpSpPr>
            <p:cNvPr id="176" name="Group 176"/>
            <p:cNvGrpSpPr/>
            <p:nvPr/>
          </p:nvGrpSpPr>
          <p:grpSpPr>
            <a:xfrm>
              <a:off x="1138360" y="4064794"/>
              <a:ext cx="170506" cy="157162"/>
              <a:chOff x="1138360" y="4064794"/>
              <a:chExt cx="170506" cy="157162"/>
            </a:xfrm>
          </p:grpSpPr>
          <p:sp>
            <p:nvSpPr>
              <p:cNvPr id="174" name="Freeform 174"/>
              <p:cNvSpPr/>
              <p:nvPr/>
            </p:nvSpPr>
            <p:spPr>
              <a:xfrm>
                <a:off x="1138360" y="406479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FFFFFF"/>
                </a:solidFill>
              </a:ln>
            </p:spPr>
          </p:sp>
          <p:sp>
            <p:nvSpPr>
              <p:cNvPr id="175" name="Freeform 175"/>
              <p:cNvSpPr/>
              <p:nvPr/>
            </p:nvSpPr>
            <p:spPr>
              <a:xfrm>
                <a:off x="1254919" y="4187031"/>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177" name="TextBox 177"/>
            <p:cNvSpPr txBox="1"/>
            <p:nvPr/>
          </p:nvSpPr>
          <p:spPr>
            <a:xfrm>
              <a:off x="1403985" y="4088606"/>
              <a:ext cx="46375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保障层</a:t>
              </a:r>
            </a:p>
          </p:txBody>
        </p:sp>
        <p:grpSp>
          <p:nvGrpSpPr>
            <p:cNvPr id="184" name="Group 184"/>
            <p:cNvGrpSpPr/>
            <p:nvPr/>
          </p:nvGrpSpPr>
          <p:grpSpPr>
            <a:xfrm>
              <a:off x="2576512" y="4081462"/>
              <a:ext cx="142875" cy="142875"/>
              <a:chOff x="2576512" y="4081462"/>
              <a:chExt cx="142875" cy="142875"/>
            </a:xfrm>
          </p:grpSpPr>
          <p:sp>
            <p:nvSpPr>
              <p:cNvPr id="178" name="Freeform 178"/>
              <p:cNvSpPr/>
              <p:nvPr/>
            </p:nvSpPr>
            <p:spPr>
              <a:xfrm>
                <a:off x="2632075" y="41449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179" name="Freeform 179"/>
              <p:cNvSpPr/>
              <p:nvPr/>
            </p:nvSpPr>
            <p:spPr>
              <a:xfrm>
                <a:off x="2616200" y="42005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A8351D"/>
                </a:solidFill>
              </a:ln>
            </p:spPr>
          </p:sp>
          <p:sp>
            <p:nvSpPr>
              <p:cNvPr id="180" name="Freeform 180"/>
              <p:cNvSpPr/>
              <p:nvPr/>
            </p:nvSpPr>
            <p:spPr>
              <a:xfrm>
                <a:off x="2671762" y="40814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181" name="Freeform 181"/>
              <p:cNvSpPr/>
              <p:nvPr/>
            </p:nvSpPr>
            <p:spPr>
              <a:xfrm>
                <a:off x="2687637" y="41370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A8351D"/>
                </a:solidFill>
              </a:ln>
            </p:spPr>
          </p:sp>
          <p:sp>
            <p:nvSpPr>
              <p:cNvPr id="182" name="Freeform 182"/>
              <p:cNvSpPr/>
              <p:nvPr/>
            </p:nvSpPr>
            <p:spPr>
              <a:xfrm>
                <a:off x="2592387" y="40814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183" name="Freeform 183"/>
              <p:cNvSpPr/>
              <p:nvPr/>
            </p:nvSpPr>
            <p:spPr>
              <a:xfrm>
                <a:off x="2576512" y="41370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A8351D"/>
                </a:solidFill>
              </a:ln>
            </p:spPr>
          </p:sp>
        </p:grpSp>
        <p:sp>
          <p:nvSpPr>
            <p:cNvPr id="185" name="TextBox 185"/>
            <p:cNvSpPr txBox="1"/>
            <p:nvPr/>
          </p:nvSpPr>
          <p:spPr>
            <a:xfrm>
              <a:off x="2795588" y="410884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组织协同</a:t>
              </a:r>
            </a:p>
          </p:txBody>
        </p:sp>
        <p:grpSp>
          <p:nvGrpSpPr>
            <p:cNvPr id="194" name="Group 194"/>
            <p:cNvGrpSpPr/>
            <p:nvPr/>
          </p:nvGrpSpPr>
          <p:grpSpPr>
            <a:xfrm>
              <a:off x="4679950" y="4081462"/>
              <a:ext cx="127000" cy="142875"/>
              <a:chOff x="4679950" y="4081462"/>
              <a:chExt cx="127000" cy="142875"/>
            </a:xfrm>
          </p:grpSpPr>
          <p:sp>
            <p:nvSpPr>
              <p:cNvPr id="186" name="Freeform 186"/>
              <p:cNvSpPr/>
              <p:nvPr/>
            </p:nvSpPr>
            <p:spPr>
              <a:xfrm>
                <a:off x="4679950" y="4081462"/>
                <a:ext cx="127000" cy="142875"/>
              </a:xfrm>
              <a:custGeom>
                <a:avLst/>
                <a:gdLst/>
                <a:ahLst/>
                <a:cxnLst/>
                <a:rect l="l" t="t" r="r" b="b"/>
                <a:pathLst>
                  <a:path w="127000" h="142875">
                    <a:moveTo>
                      <a:pt x="0" y="15875"/>
                    </a:moveTo>
                    <a:cubicBezTo>
                      <a:pt x="0" y="7107"/>
                      <a:pt x="7107" y="0"/>
                      <a:pt x="15875" y="0"/>
                    </a:cubicBezTo>
                    <a:lnTo>
                      <a:pt x="111125" y="0"/>
                    </a:lnTo>
                    <a:cubicBezTo>
                      <a:pt x="119892" y="0"/>
                      <a:pt x="127000" y="7107"/>
                      <a:pt x="127000" y="15875"/>
                    </a:cubicBezTo>
                    <a:lnTo>
                      <a:pt x="127000" y="127000"/>
                    </a:lnTo>
                    <a:cubicBezTo>
                      <a:pt x="127000" y="135767"/>
                      <a:pt x="119892" y="142875"/>
                      <a:pt x="111125" y="142875"/>
                    </a:cubicBezTo>
                    <a:lnTo>
                      <a:pt x="15875" y="142875"/>
                    </a:lnTo>
                    <a:cubicBezTo>
                      <a:pt x="7107" y="142875"/>
                      <a:pt x="0" y="135767"/>
                      <a:pt x="0" y="127000"/>
                    </a:cubicBezTo>
                    <a:lnTo>
                      <a:pt x="0" y="15875"/>
                    </a:lnTo>
                  </a:path>
                </a:pathLst>
              </a:custGeom>
              <a:noFill/>
              <a:ln w="15875">
                <a:solidFill>
                  <a:srgbClr val="A8351D"/>
                </a:solidFill>
              </a:ln>
            </p:spPr>
          </p:sp>
          <p:sp>
            <p:nvSpPr>
              <p:cNvPr id="187" name="Freeform 187"/>
              <p:cNvSpPr/>
              <p:nvPr/>
            </p:nvSpPr>
            <p:spPr>
              <a:xfrm>
                <a:off x="4711700" y="4113212"/>
                <a:ext cx="63500" cy="23812"/>
              </a:xfrm>
              <a:custGeom>
                <a:avLst/>
                <a:gdLst/>
                <a:ahLst/>
                <a:cxnLst/>
                <a:rect l="l" t="t" r="r" b="b"/>
                <a:pathLst>
                  <a:path w="63500" h="23812">
                    <a:moveTo>
                      <a:pt x="0" y="7937"/>
                    </a:moveTo>
                    <a:cubicBezTo>
                      <a:pt x="0" y="3554"/>
                      <a:pt x="3554" y="0"/>
                      <a:pt x="7937" y="0"/>
                    </a:cubicBezTo>
                    <a:lnTo>
                      <a:pt x="55562" y="0"/>
                    </a:lnTo>
                    <a:cubicBezTo>
                      <a:pt x="59946" y="0"/>
                      <a:pt x="63500" y="3554"/>
                      <a:pt x="63500" y="7937"/>
                    </a:cubicBezTo>
                    <a:lnTo>
                      <a:pt x="63500" y="15875"/>
                    </a:lnTo>
                    <a:cubicBezTo>
                      <a:pt x="63500" y="20259"/>
                      <a:pt x="59946" y="23812"/>
                      <a:pt x="55562" y="23812"/>
                    </a:cubicBezTo>
                    <a:lnTo>
                      <a:pt x="7937" y="23812"/>
                    </a:lnTo>
                    <a:cubicBezTo>
                      <a:pt x="3554" y="23812"/>
                      <a:pt x="0" y="20259"/>
                      <a:pt x="0" y="15875"/>
                    </a:cubicBezTo>
                    <a:lnTo>
                      <a:pt x="0" y="7937"/>
                    </a:lnTo>
                  </a:path>
                </a:pathLst>
              </a:custGeom>
              <a:noFill/>
              <a:ln w="15875">
                <a:solidFill>
                  <a:srgbClr val="A8351D"/>
                </a:solidFill>
              </a:ln>
            </p:spPr>
          </p:sp>
          <p:sp>
            <p:nvSpPr>
              <p:cNvPr id="188" name="Freeform 188"/>
              <p:cNvSpPr/>
              <p:nvPr/>
            </p:nvSpPr>
            <p:spPr>
              <a:xfrm>
                <a:off x="4711700" y="4168775"/>
                <a:ext cx="9525" cy="9525"/>
              </a:xfrm>
              <a:custGeom>
                <a:avLst/>
                <a:gdLst/>
                <a:ahLst/>
                <a:cxnLst/>
                <a:rect l="l" t="t" r="r" b="b"/>
                <a:pathLst>
                  <a:path w="9525" h="9525">
                    <a:moveTo>
                      <a:pt x="0" y="0"/>
                    </a:moveTo>
                    <a:lnTo>
                      <a:pt x="0" y="79"/>
                    </a:lnTo>
                  </a:path>
                </a:pathLst>
              </a:custGeom>
              <a:noFill/>
              <a:ln w="15875">
                <a:solidFill>
                  <a:srgbClr val="A8351D"/>
                </a:solidFill>
              </a:ln>
            </p:spPr>
          </p:sp>
          <p:sp>
            <p:nvSpPr>
              <p:cNvPr id="189" name="Freeform 189"/>
              <p:cNvSpPr/>
              <p:nvPr/>
            </p:nvSpPr>
            <p:spPr>
              <a:xfrm>
                <a:off x="4743450" y="4168775"/>
                <a:ext cx="9525" cy="9525"/>
              </a:xfrm>
              <a:custGeom>
                <a:avLst/>
                <a:gdLst/>
                <a:ahLst/>
                <a:cxnLst/>
                <a:rect l="l" t="t" r="r" b="b"/>
                <a:pathLst>
                  <a:path w="9525" h="9525">
                    <a:moveTo>
                      <a:pt x="0" y="0"/>
                    </a:moveTo>
                    <a:lnTo>
                      <a:pt x="0" y="79"/>
                    </a:lnTo>
                  </a:path>
                </a:pathLst>
              </a:custGeom>
              <a:noFill/>
              <a:ln w="15875">
                <a:solidFill>
                  <a:srgbClr val="A8351D"/>
                </a:solidFill>
              </a:ln>
            </p:spPr>
          </p:sp>
          <p:sp>
            <p:nvSpPr>
              <p:cNvPr id="190" name="Freeform 190"/>
              <p:cNvSpPr/>
              <p:nvPr/>
            </p:nvSpPr>
            <p:spPr>
              <a:xfrm>
                <a:off x="4775200" y="4168775"/>
                <a:ext cx="9525" cy="9525"/>
              </a:xfrm>
              <a:custGeom>
                <a:avLst/>
                <a:gdLst/>
                <a:ahLst/>
                <a:cxnLst/>
                <a:rect l="l" t="t" r="r" b="b"/>
                <a:pathLst>
                  <a:path w="9525" h="9525">
                    <a:moveTo>
                      <a:pt x="0" y="0"/>
                    </a:moveTo>
                    <a:lnTo>
                      <a:pt x="0" y="79"/>
                    </a:lnTo>
                  </a:path>
                </a:pathLst>
              </a:custGeom>
              <a:noFill/>
              <a:ln w="15875">
                <a:solidFill>
                  <a:srgbClr val="A8351D"/>
                </a:solidFill>
              </a:ln>
            </p:spPr>
          </p:sp>
          <p:sp>
            <p:nvSpPr>
              <p:cNvPr id="191" name="Freeform 191"/>
              <p:cNvSpPr/>
              <p:nvPr/>
            </p:nvSpPr>
            <p:spPr>
              <a:xfrm>
                <a:off x="4711700" y="4192587"/>
                <a:ext cx="9525" cy="9525"/>
              </a:xfrm>
              <a:custGeom>
                <a:avLst/>
                <a:gdLst/>
                <a:ahLst/>
                <a:cxnLst/>
                <a:rect l="l" t="t" r="r" b="b"/>
                <a:pathLst>
                  <a:path w="9525" h="9525">
                    <a:moveTo>
                      <a:pt x="0" y="0"/>
                    </a:moveTo>
                    <a:lnTo>
                      <a:pt x="0" y="79"/>
                    </a:lnTo>
                  </a:path>
                </a:pathLst>
              </a:custGeom>
              <a:noFill/>
              <a:ln w="15875">
                <a:solidFill>
                  <a:srgbClr val="A8351D"/>
                </a:solidFill>
              </a:ln>
            </p:spPr>
          </p:sp>
          <p:sp>
            <p:nvSpPr>
              <p:cNvPr id="192" name="Freeform 192"/>
              <p:cNvSpPr/>
              <p:nvPr/>
            </p:nvSpPr>
            <p:spPr>
              <a:xfrm>
                <a:off x="4743450" y="4192587"/>
                <a:ext cx="9525" cy="9525"/>
              </a:xfrm>
              <a:custGeom>
                <a:avLst/>
                <a:gdLst/>
                <a:ahLst/>
                <a:cxnLst/>
                <a:rect l="l" t="t" r="r" b="b"/>
                <a:pathLst>
                  <a:path w="9525" h="9525">
                    <a:moveTo>
                      <a:pt x="0" y="0"/>
                    </a:moveTo>
                    <a:lnTo>
                      <a:pt x="0" y="79"/>
                    </a:lnTo>
                  </a:path>
                </a:pathLst>
              </a:custGeom>
              <a:noFill/>
              <a:ln w="15875">
                <a:solidFill>
                  <a:srgbClr val="A8351D"/>
                </a:solidFill>
              </a:ln>
            </p:spPr>
          </p:sp>
          <p:sp>
            <p:nvSpPr>
              <p:cNvPr id="193" name="Freeform 193"/>
              <p:cNvSpPr/>
              <p:nvPr/>
            </p:nvSpPr>
            <p:spPr>
              <a:xfrm>
                <a:off x="4775200" y="4192587"/>
                <a:ext cx="9525" cy="9525"/>
              </a:xfrm>
              <a:custGeom>
                <a:avLst/>
                <a:gdLst/>
                <a:ahLst/>
                <a:cxnLst/>
                <a:rect l="l" t="t" r="r" b="b"/>
                <a:pathLst>
                  <a:path w="9525" h="9525">
                    <a:moveTo>
                      <a:pt x="0" y="0"/>
                    </a:moveTo>
                    <a:lnTo>
                      <a:pt x="0" y="79"/>
                    </a:lnTo>
                  </a:path>
                </a:pathLst>
              </a:custGeom>
              <a:noFill/>
              <a:ln w="15875">
                <a:solidFill>
                  <a:srgbClr val="A8351D"/>
                </a:solidFill>
              </a:ln>
            </p:spPr>
          </p:sp>
        </p:grpSp>
        <p:sp>
          <p:nvSpPr>
            <p:cNvPr id="195" name="TextBox 195"/>
            <p:cNvSpPr txBox="1"/>
            <p:nvPr/>
          </p:nvSpPr>
          <p:spPr>
            <a:xfrm>
              <a:off x="4891088" y="410884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价值计量</a:t>
              </a:r>
            </a:p>
          </p:txBody>
        </p:sp>
        <p:grpSp>
          <p:nvGrpSpPr>
            <p:cNvPr id="199" name="Group 199"/>
            <p:cNvGrpSpPr/>
            <p:nvPr/>
          </p:nvGrpSpPr>
          <p:grpSpPr>
            <a:xfrm>
              <a:off x="6775450" y="4081462"/>
              <a:ext cx="127000" cy="142875"/>
              <a:chOff x="6775450" y="4081462"/>
              <a:chExt cx="127000" cy="142875"/>
            </a:xfrm>
          </p:grpSpPr>
          <p:sp>
            <p:nvSpPr>
              <p:cNvPr id="196" name="Freeform 196"/>
              <p:cNvSpPr/>
              <p:nvPr/>
            </p:nvSpPr>
            <p:spPr>
              <a:xfrm>
                <a:off x="6775450" y="40814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A8351D"/>
                </a:solidFill>
              </a:ln>
            </p:spPr>
          </p:sp>
          <p:sp>
            <p:nvSpPr>
              <p:cNvPr id="197" name="Freeform 197"/>
              <p:cNvSpPr/>
              <p:nvPr/>
            </p:nvSpPr>
            <p:spPr>
              <a:xfrm>
                <a:off x="6775450" y="41052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A8351D"/>
                </a:solidFill>
              </a:ln>
            </p:spPr>
          </p:sp>
          <p:sp>
            <p:nvSpPr>
              <p:cNvPr id="198" name="Freeform 198"/>
              <p:cNvSpPr/>
              <p:nvPr/>
            </p:nvSpPr>
            <p:spPr>
              <a:xfrm>
                <a:off x="6775450" y="41529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A8351D"/>
                </a:solidFill>
              </a:ln>
            </p:spPr>
          </p:sp>
        </p:grpSp>
        <p:sp>
          <p:nvSpPr>
            <p:cNvPr id="200" name="TextBox 200"/>
            <p:cNvSpPr txBox="1"/>
            <p:nvPr/>
          </p:nvSpPr>
          <p:spPr>
            <a:xfrm>
              <a:off x="6986588" y="410884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数据治理</a:t>
              </a:r>
            </a:p>
          </p:txBody>
        </p:sp>
        <p:grpSp>
          <p:nvGrpSpPr>
            <p:cNvPr id="205" name="Group 205"/>
            <p:cNvGrpSpPr/>
            <p:nvPr/>
          </p:nvGrpSpPr>
          <p:grpSpPr>
            <a:xfrm>
              <a:off x="8878887" y="4089400"/>
              <a:ext cx="119063" cy="134937"/>
              <a:chOff x="8878887" y="4089400"/>
              <a:chExt cx="119063" cy="134937"/>
            </a:xfrm>
          </p:grpSpPr>
          <p:sp>
            <p:nvSpPr>
              <p:cNvPr id="201" name="Freeform 201"/>
              <p:cNvSpPr/>
              <p:nvPr/>
            </p:nvSpPr>
            <p:spPr>
              <a:xfrm>
                <a:off x="8878887" y="4089400"/>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A8351D"/>
                </a:solidFill>
              </a:ln>
            </p:spPr>
          </p:sp>
          <p:sp>
            <p:nvSpPr>
              <p:cNvPr id="202" name="Freeform 202"/>
              <p:cNvSpPr/>
              <p:nvPr/>
            </p:nvSpPr>
            <p:spPr>
              <a:xfrm>
                <a:off x="8950325" y="4192587"/>
                <a:ext cx="47625" cy="31750"/>
              </a:xfrm>
              <a:custGeom>
                <a:avLst/>
                <a:gdLst/>
                <a:ahLst/>
                <a:cxnLst/>
                <a:rect l="l" t="t" r="r" b="b"/>
                <a:pathLst>
                  <a:path w="47625" h="31750">
                    <a:moveTo>
                      <a:pt x="0" y="15875"/>
                    </a:moveTo>
                    <a:lnTo>
                      <a:pt x="15875" y="31750"/>
                    </a:lnTo>
                    <a:lnTo>
                      <a:pt x="47625" y="0"/>
                    </a:lnTo>
                  </a:path>
                </a:pathLst>
              </a:custGeom>
              <a:noFill/>
              <a:ln w="15875">
                <a:solidFill>
                  <a:srgbClr val="A8351D"/>
                </a:solidFill>
              </a:ln>
            </p:spPr>
          </p:sp>
          <p:sp>
            <p:nvSpPr>
              <p:cNvPr id="203" name="Freeform 203"/>
              <p:cNvSpPr/>
              <p:nvPr/>
            </p:nvSpPr>
            <p:spPr>
              <a:xfrm>
                <a:off x="8910637" y="4121150"/>
                <a:ext cx="31750" cy="9525"/>
              </a:xfrm>
              <a:custGeom>
                <a:avLst/>
                <a:gdLst/>
                <a:ahLst/>
                <a:cxnLst/>
                <a:rect l="l" t="t" r="r" b="b"/>
                <a:pathLst>
                  <a:path w="31750" h="9525">
                    <a:moveTo>
                      <a:pt x="0" y="0"/>
                    </a:moveTo>
                    <a:lnTo>
                      <a:pt x="31750" y="0"/>
                    </a:lnTo>
                  </a:path>
                </a:pathLst>
              </a:custGeom>
              <a:noFill/>
              <a:ln w="15875">
                <a:solidFill>
                  <a:srgbClr val="A8351D"/>
                </a:solidFill>
              </a:ln>
            </p:spPr>
          </p:sp>
          <p:sp>
            <p:nvSpPr>
              <p:cNvPr id="204" name="Freeform 204"/>
              <p:cNvSpPr/>
              <p:nvPr/>
            </p:nvSpPr>
            <p:spPr>
              <a:xfrm>
                <a:off x="8910637" y="4152900"/>
                <a:ext cx="15875" cy="9525"/>
              </a:xfrm>
              <a:custGeom>
                <a:avLst/>
                <a:gdLst/>
                <a:ahLst/>
                <a:cxnLst/>
                <a:rect l="l" t="t" r="r" b="b"/>
                <a:pathLst>
                  <a:path w="15875" h="9525">
                    <a:moveTo>
                      <a:pt x="0" y="0"/>
                    </a:moveTo>
                    <a:lnTo>
                      <a:pt x="15875" y="0"/>
                    </a:lnTo>
                  </a:path>
                </a:pathLst>
              </a:custGeom>
              <a:noFill/>
              <a:ln w="15875">
                <a:solidFill>
                  <a:srgbClr val="A8351D"/>
                </a:solidFill>
              </a:ln>
            </p:spPr>
          </p:sp>
        </p:grpSp>
        <p:sp>
          <p:nvSpPr>
            <p:cNvPr id="206" name="TextBox 206"/>
            <p:cNvSpPr txBox="1"/>
            <p:nvPr/>
          </p:nvSpPr>
          <p:spPr>
            <a:xfrm>
              <a:off x="9082088" y="4108847"/>
              <a:ext cx="515696" cy="183356"/>
            </a:xfrm>
            <a:prstGeom prst="rect">
              <a:avLst/>
            </a:prstGeom>
            <a:noFill/>
            <a:ln>
              <a:noFill/>
            </a:ln>
          </p:spPr>
          <p:txBody>
            <a:bodyPr wrap="none" lIns="0" tIns="0" rIns="0" bIns="0" anchor="t" anchorCtr="0">
              <a:spAutoFit/>
            </a:bodyPr>
            <a:lstStyle/>
            <a:p>
              <a:pPr algn="l"/>
              <a:r>
                <a:rPr lang="zh-CN" sz="940" dirty="0">
                  <a:solidFill>
                    <a:srgbClr val="67281B"/>
                  </a:solidFill>
                  <a:latin typeface="+mn-lt"/>
                  <a:ea typeface="+mn-ea"/>
                  <a:cs typeface="+mn-cs"/>
                </a:rPr>
                <a:t>消保合规</a:t>
              </a:r>
            </a:p>
          </p:txBody>
        </p:sp>
        <p:sp>
          <p:nvSpPr>
            <p:cNvPr id="207" name="Freeform 207"/>
            <p:cNvSpPr/>
            <p:nvPr/>
          </p:nvSpPr>
          <p:spPr>
            <a:xfrm>
              <a:off x="5000625" y="1752600"/>
              <a:ext cx="1809750" cy="1809750"/>
            </a:xfrm>
            <a:prstGeom prst="pie">
              <a:avLst>
                <a:gd name="adj1" fmla="val 10800000"/>
                <a:gd name="adj2" fmla="val 16200000"/>
              </a:avLst>
            </a:prstGeom>
            <a:solidFill>
              <a:srgbClr val="67281B"/>
            </a:solidFill>
            <a:ln>
              <a:noFill/>
            </a:ln>
          </p:spPr>
        </p:sp>
        <p:sp>
          <p:nvSpPr>
            <p:cNvPr id="208" name="Freeform 208"/>
            <p:cNvSpPr/>
            <p:nvPr/>
          </p:nvSpPr>
          <p:spPr>
            <a:xfrm>
              <a:off x="5000625" y="1752600"/>
              <a:ext cx="1809750" cy="1809750"/>
            </a:xfrm>
            <a:prstGeom prst="pie">
              <a:avLst>
                <a:gd name="adj1" fmla="val 16200000"/>
                <a:gd name="adj2" fmla="val 21600000"/>
              </a:avLst>
            </a:prstGeom>
            <a:solidFill>
              <a:srgbClr val="A5280F"/>
            </a:solidFill>
            <a:ln>
              <a:noFill/>
            </a:ln>
          </p:spPr>
        </p:sp>
        <p:sp>
          <p:nvSpPr>
            <p:cNvPr id="209" name="Freeform 209"/>
            <p:cNvSpPr/>
            <p:nvPr/>
          </p:nvSpPr>
          <p:spPr>
            <a:xfrm>
              <a:off x="5000625" y="1752600"/>
              <a:ext cx="1809750" cy="1809750"/>
            </a:xfrm>
            <a:prstGeom prst="pie">
              <a:avLst>
                <a:gd name="adj1" fmla="val 5400000"/>
                <a:gd name="adj2" fmla="val 10800000"/>
              </a:avLst>
            </a:prstGeom>
            <a:solidFill>
              <a:srgbClr val="9E2912"/>
            </a:solidFill>
            <a:ln>
              <a:noFill/>
            </a:ln>
          </p:spPr>
        </p:sp>
        <p:sp>
          <p:nvSpPr>
            <p:cNvPr id="210" name="Freeform 210"/>
            <p:cNvSpPr/>
            <p:nvPr/>
          </p:nvSpPr>
          <p:spPr>
            <a:xfrm>
              <a:off x="5000625" y="1752600"/>
              <a:ext cx="1809750" cy="1809750"/>
            </a:xfrm>
            <a:prstGeom prst="pie">
              <a:avLst>
                <a:gd name="adj1" fmla="val 0"/>
                <a:gd name="adj2" fmla="val 5400000"/>
              </a:avLst>
            </a:prstGeom>
            <a:solidFill>
              <a:srgbClr val="D64A2E"/>
            </a:solidFill>
            <a:ln>
              <a:noFill/>
            </a:ln>
          </p:spPr>
        </p:sp>
        <p:sp>
          <p:nvSpPr>
            <p:cNvPr id="211" name="Ellipse 211"/>
            <p:cNvSpPr/>
            <p:nvPr/>
          </p:nvSpPr>
          <p:spPr>
            <a:xfrm>
              <a:off x="5314950" y="2066925"/>
              <a:ext cx="1181100" cy="1181100"/>
            </a:xfrm>
            <a:prstGeom prst="ellipse">
              <a:avLst/>
            </a:prstGeom>
            <a:solidFill>
              <a:srgbClr val="FFFFFF"/>
            </a:solidFill>
            <a:ln>
              <a:noFill/>
            </a:ln>
          </p:spPr>
        </p:sp>
        <p:sp>
          <p:nvSpPr>
            <p:cNvPr id="212" name="TextBox 212"/>
            <p:cNvSpPr txBox="1"/>
            <p:nvPr/>
          </p:nvSpPr>
          <p:spPr>
            <a:xfrm>
              <a:off x="5319382" y="213288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企业</a:t>
              </a:r>
            </a:p>
          </p:txBody>
        </p:sp>
        <p:sp>
          <p:nvSpPr>
            <p:cNvPr id="213" name="TextBox 213"/>
            <p:cNvSpPr txBox="1"/>
            <p:nvPr/>
          </p:nvSpPr>
          <p:spPr>
            <a:xfrm>
              <a:off x="6290932" y="213288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个人</a:t>
              </a:r>
            </a:p>
          </p:txBody>
        </p:sp>
        <p:sp>
          <p:nvSpPr>
            <p:cNvPr id="214" name="TextBox 214"/>
            <p:cNvSpPr txBox="1"/>
            <p:nvPr/>
          </p:nvSpPr>
          <p:spPr>
            <a:xfrm>
              <a:off x="5319382" y="31044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家庭</a:t>
              </a:r>
            </a:p>
          </p:txBody>
        </p:sp>
        <p:sp>
          <p:nvSpPr>
            <p:cNvPr id="215" name="TextBox 215"/>
            <p:cNvSpPr txBox="1"/>
            <p:nvPr/>
          </p:nvSpPr>
          <p:spPr>
            <a:xfrm>
              <a:off x="6290932" y="31044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生态</a:t>
              </a:r>
            </a:p>
          </p:txBody>
        </p:sp>
        <p:sp>
          <p:nvSpPr>
            <p:cNvPr id="216" name="TextBox 216"/>
            <p:cNvSpPr txBox="1"/>
            <p:nvPr/>
          </p:nvSpPr>
          <p:spPr>
            <a:xfrm>
              <a:off x="5598236" y="2507456"/>
              <a:ext cx="614528" cy="220028"/>
            </a:xfrm>
            <a:prstGeom prst="rect">
              <a:avLst/>
            </a:prstGeom>
            <a:noFill/>
            <a:ln>
              <a:noFill/>
            </a:ln>
          </p:spPr>
          <p:txBody>
            <a:bodyPr wrap="none" lIns="0" tIns="0" rIns="0" bIns="0" anchor="t" anchorCtr="0">
              <a:spAutoFit/>
            </a:bodyPr>
            <a:lstStyle/>
            <a:p>
              <a:pPr algn="ctr"/>
              <a:r>
                <a:rPr lang="zh-CN" sz="1120" b="1" dirty="0">
                  <a:solidFill>
                    <a:srgbClr val="67281B"/>
                  </a:solidFill>
                  <a:latin typeface="+mn-lt"/>
                  <a:ea typeface="+mn-ea"/>
                  <a:cs typeface="+mn-cs"/>
                </a:rPr>
                <a:t>全量客户</a:t>
              </a:r>
            </a:p>
          </p:txBody>
        </p:sp>
        <p:sp>
          <p:nvSpPr>
            <p:cNvPr id="217" name="TextBox 217"/>
            <p:cNvSpPr txBox="1"/>
            <p:nvPr/>
          </p:nvSpPr>
          <p:spPr>
            <a:xfrm>
              <a:off x="5598236" y="2707481"/>
              <a:ext cx="614528" cy="220028"/>
            </a:xfrm>
            <a:prstGeom prst="rect">
              <a:avLst/>
            </a:prstGeom>
            <a:noFill/>
            <a:ln>
              <a:noFill/>
            </a:ln>
          </p:spPr>
          <p:txBody>
            <a:bodyPr wrap="none" lIns="0" tIns="0" rIns="0" bIns="0" anchor="t" anchorCtr="0">
              <a:spAutoFit/>
            </a:bodyPr>
            <a:lstStyle/>
            <a:p>
              <a:pPr algn="ctr"/>
              <a:r>
                <a:rPr lang="zh-CN" sz="1120" b="1" dirty="0">
                  <a:solidFill>
                    <a:srgbClr val="67281B"/>
                  </a:solidFill>
                  <a:latin typeface="+mn-lt"/>
                  <a:ea typeface="+mn-ea"/>
                  <a:cs typeface="+mn-cs"/>
                </a:rPr>
                <a:t>价值经营</a:t>
              </a:r>
            </a:p>
          </p:txBody>
        </p:sp>
        <p:sp>
          <p:nvSpPr>
            <p:cNvPr id="218" name="TextBox 218"/>
            <p:cNvSpPr txBox="1"/>
            <p:nvPr/>
          </p:nvSpPr>
          <p:spPr>
            <a:xfrm>
              <a:off x="5376662" y="2937034"/>
              <a:ext cx="1057676" cy="133350"/>
            </a:xfrm>
            <a:prstGeom prst="rect">
              <a:avLst/>
            </a:prstGeom>
            <a:noFill/>
            <a:ln>
              <a:noFill/>
            </a:ln>
          </p:spPr>
          <p:txBody>
            <a:bodyPr wrap="none" lIns="0" tIns="0" rIns="0" bIns="0" anchor="t" anchorCtr="0">
              <a:spAutoFit/>
            </a:bodyPr>
            <a:lstStyle/>
            <a:p>
              <a:pPr algn="ctr"/>
              <a:r>
                <a:rPr lang="zh-CN" sz="680" dirty="0">
                  <a:solidFill>
                    <a:srgbClr val="785F5A"/>
                  </a:solidFill>
                  <a:latin typeface="+mn-lt"/>
                  <a:ea typeface="+mn-ea"/>
                  <a:cs typeface="+mn-cs"/>
                </a:rPr>
                <a:t>企业 · 个人 · 家庭 · 生态</a:t>
              </a:r>
            </a:p>
          </p:txBody>
        </p:sp>
      </p:grpSp>
      <p:grpSp>
        <p:nvGrpSpPr>
          <p:cNvPr id="249" name="upgrade-path"/>
          <p:cNvGrpSpPr/>
          <p:nvPr/>
        </p:nvGrpSpPr>
        <p:grpSpPr>
          <a:xfrm>
            <a:off x="381000" y="4667250"/>
            <a:ext cx="5143500" cy="1276350"/>
            <a:chOff x="381000" y="4667250"/>
            <a:chExt cx="5143500" cy="1276350"/>
          </a:xfrm>
        </p:grpSpPr>
        <p:sp>
          <p:nvSpPr>
            <p:cNvPr id="220" name="Rectangle 220"/>
            <p:cNvSpPr/>
            <p:nvPr/>
          </p:nvSpPr>
          <p:spPr>
            <a:xfrm>
              <a:off x="381000" y="4667250"/>
              <a:ext cx="2381250" cy="285750"/>
            </a:xfrm>
            <a:prstGeom prst="roundRect">
              <a:avLst>
                <a:gd name="adj" fmla="val 13333"/>
              </a:avLst>
            </a:prstGeom>
            <a:gradFill>
              <a:gsLst>
                <a:gs pos="0">
                  <a:srgbClr val="AD3921"/>
                </a:gs>
                <a:gs pos="100000">
                  <a:srgbClr val="962C16"/>
                </a:gs>
              </a:gsLst>
              <a:lin ang="5400000" scaled="1"/>
            </a:gradFill>
            <a:ln>
              <a:noFill/>
            </a:ln>
          </p:spPr>
        </p:sp>
        <p:sp>
          <p:nvSpPr>
            <p:cNvPr id="221" name="TextBox 221"/>
            <p:cNvSpPr txBox="1"/>
            <p:nvPr/>
          </p:nvSpPr>
          <p:spPr>
            <a:xfrm>
              <a:off x="979157" y="4749879"/>
              <a:ext cx="1184935"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经营模式升级路径</a:t>
              </a:r>
            </a:p>
          </p:txBody>
        </p:sp>
        <p:sp>
          <p:nvSpPr>
            <p:cNvPr id="222" name="Line 222"/>
            <p:cNvSpPr/>
            <p:nvPr/>
          </p:nvSpPr>
          <p:spPr>
            <a:xfrm>
              <a:off x="571500" y="4953000"/>
              <a:ext cx="4953000" cy="9525"/>
            </a:xfrm>
            <a:custGeom>
              <a:avLst/>
              <a:gdLst/>
              <a:ahLst/>
              <a:cxnLst/>
              <a:rect l="l" t="t" r="r" b="b"/>
              <a:pathLst>
                <a:path w="4953000" h="9525">
                  <a:moveTo>
                    <a:pt x="0" y="0"/>
                  </a:moveTo>
                  <a:lnTo>
                    <a:pt x="4953000" y="0"/>
                  </a:lnTo>
                </a:path>
              </a:pathLst>
            </a:custGeom>
            <a:noFill/>
            <a:ln w="14288">
              <a:solidFill>
                <a:srgbClr val="D9E4F2"/>
              </a:solidFill>
            </a:ln>
          </p:spPr>
        </p:sp>
        <p:sp>
          <p:nvSpPr>
            <p:cNvPr id="223" name="Rectangle 223"/>
            <p:cNvSpPr/>
            <p:nvPr/>
          </p:nvSpPr>
          <p:spPr>
            <a:xfrm>
              <a:off x="609600" y="5334000"/>
              <a:ext cx="1333500" cy="609600"/>
            </a:xfrm>
            <a:prstGeom prst="roundRect">
              <a:avLst>
                <a:gd name="adj" fmla="val 12500"/>
              </a:avLst>
            </a:prstGeom>
            <a:solidFill>
              <a:srgbClr val="F7FAFE"/>
            </a:solidFill>
            <a:ln w="9525">
              <a:solidFill>
                <a:srgbClr val="C9D8EF"/>
              </a:solidFill>
            </a:ln>
          </p:spPr>
        </p:sp>
        <p:grpSp>
          <p:nvGrpSpPr>
            <p:cNvPr id="229" name="Group 229"/>
            <p:cNvGrpSpPr/>
            <p:nvPr/>
          </p:nvGrpSpPr>
          <p:grpSpPr>
            <a:xfrm>
              <a:off x="923925" y="5476875"/>
              <a:ext cx="171450" cy="171450"/>
              <a:chOff x="923925" y="5476875"/>
              <a:chExt cx="171450" cy="171450"/>
            </a:xfrm>
          </p:grpSpPr>
          <p:sp>
            <p:nvSpPr>
              <p:cNvPr id="224" name="Freeform 224"/>
              <p:cNvSpPr/>
              <p:nvPr/>
            </p:nvSpPr>
            <p:spPr>
              <a:xfrm>
                <a:off x="990600" y="54768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8351D"/>
                </a:solidFill>
              </a:ln>
            </p:spPr>
          </p:sp>
          <p:sp>
            <p:nvSpPr>
              <p:cNvPr id="225" name="Freeform 225"/>
              <p:cNvSpPr/>
              <p:nvPr/>
            </p:nvSpPr>
            <p:spPr>
              <a:xfrm>
                <a:off x="923925" y="56102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8351D"/>
                </a:solidFill>
              </a:ln>
            </p:spPr>
          </p:sp>
          <p:sp>
            <p:nvSpPr>
              <p:cNvPr id="226" name="Freeform 226"/>
              <p:cNvSpPr/>
              <p:nvPr/>
            </p:nvSpPr>
            <p:spPr>
              <a:xfrm>
                <a:off x="1057275" y="56102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8351D"/>
                </a:solidFill>
              </a:ln>
            </p:spPr>
          </p:sp>
          <p:sp>
            <p:nvSpPr>
              <p:cNvPr id="227" name="Freeform 227"/>
              <p:cNvSpPr/>
              <p:nvPr/>
            </p:nvSpPr>
            <p:spPr>
              <a:xfrm>
                <a:off x="957262" y="5572125"/>
                <a:ext cx="104775" cy="42862"/>
              </a:xfrm>
              <a:custGeom>
                <a:avLst/>
                <a:gdLst/>
                <a:ahLst/>
                <a:cxnLst/>
                <a:rect l="l" t="t" r="r" b="b"/>
                <a:pathLst>
                  <a:path w="104775" h="42862">
                    <a:moveTo>
                      <a:pt x="0" y="42862"/>
                    </a:moveTo>
                    <a:lnTo>
                      <a:pt x="52388" y="0"/>
                    </a:lnTo>
                    <a:lnTo>
                      <a:pt x="104775" y="42862"/>
                    </a:lnTo>
                  </a:path>
                </a:pathLst>
              </a:custGeom>
              <a:noFill/>
              <a:ln w="19050">
                <a:solidFill>
                  <a:srgbClr val="A8351D"/>
                </a:solidFill>
              </a:ln>
            </p:spPr>
          </p:sp>
          <p:sp>
            <p:nvSpPr>
              <p:cNvPr id="228" name="Freeform 228"/>
              <p:cNvSpPr/>
              <p:nvPr/>
            </p:nvSpPr>
            <p:spPr>
              <a:xfrm>
                <a:off x="1009650" y="5514975"/>
                <a:ext cx="9525" cy="57150"/>
              </a:xfrm>
              <a:custGeom>
                <a:avLst/>
                <a:gdLst/>
                <a:ahLst/>
                <a:cxnLst/>
                <a:rect l="l" t="t" r="r" b="b"/>
                <a:pathLst>
                  <a:path w="9525" h="57150">
                    <a:moveTo>
                      <a:pt x="0" y="0"/>
                    </a:moveTo>
                    <a:lnTo>
                      <a:pt x="0" y="57150"/>
                    </a:lnTo>
                  </a:path>
                </a:pathLst>
              </a:custGeom>
              <a:noFill/>
              <a:ln w="19050">
                <a:solidFill>
                  <a:srgbClr val="A8351D"/>
                </a:solidFill>
              </a:ln>
            </p:spPr>
          </p:sp>
        </p:grpSp>
        <p:sp>
          <p:nvSpPr>
            <p:cNvPr id="230" name="TextBox 230"/>
            <p:cNvSpPr txBox="1"/>
            <p:nvPr/>
          </p:nvSpPr>
          <p:spPr>
            <a:xfrm>
              <a:off x="1018502" y="5651897"/>
              <a:ext cx="515696"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条线经营</a:t>
              </a:r>
            </a:p>
          </p:txBody>
        </p:sp>
        <p:sp>
          <p:nvSpPr>
            <p:cNvPr id="231" name="Line 231"/>
            <p:cNvSpPr/>
            <p:nvPr/>
          </p:nvSpPr>
          <p:spPr>
            <a:xfrm>
              <a:off x="2000250" y="5638800"/>
              <a:ext cx="323850" cy="1"/>
            </a:xfrm>
            <a:prstGeom prst="line">
              <a:avLst/>
            </a:prstGeom>
            <a:noFill/>
            <a:ln w="23812">
              <a:solidFill>
                <a:srgbClr val="D64A2E"/>
              </a:solidFill>
              <a:tailEnd type="triangle" w="lg" len="lg"/>
            </a:ln>
          </p:spPr>
        </p:sp>
        <p:sp>
          <p:nvSpPr>
            <p:cNvPr id="232" name="Rectangle 232"/>
            <p:cNvSpPr/>
            <p:nvPr/>
          </p:nvSpPr>
          <p:spPr>
            <a:xfrm>
              <a:off x="2381250" y="5334000"/>
              <a:ext cx="1333500" cy="609600"/>
            </a:xfrm>
            <a:prstGeom prst="roundRect">
              <a:avLst>
                <a:gd name="adj" fmla="val 12500"/>
              </a:avLst>
            </a:prstGeom>
            <a:solidFill>
              <a:srgbClr val="F7FAFE"/>
            </a:solidFill>
            <a:ln w="9525">
              <a:solidFill>
                <a:srgbClr val="C9D8EF"/>
              </a:solidFill>
            </a:ln>
          </p:spPr>
        </p:sp>
        <p:grpSp>
          <p:nvGrpSpPr>
            <p:cNvPr id="237" name="Group 237"/>
            <p:cNvGrpSpPr/>
            <p:nvPr/>
          </p:nvGrpSpPr>
          <p:grpSpPr>
            <a:xfrm>
              <a:off x="2705100" y="5486400"/>
              <a:ext cx="152400" cy="152400"/>
              <a:chOff x="2705100" y="5486400"/>
              <a:chExt cx="152400" cy="152400"/>
            </a:xfrm>
          </p:grpSpPr>
          <p:sp>
            <p:nvSpPr>
              <p:cNvPr id="233" name="Freeform 233"/>
              <p:cNvSpPr/>
              <p:nvPr/>
            </p:nvSpPr>
            <p:spPr>
              <a:xfrm>
                <a:off x="2705100" y="5486400"/>
                <a:ext cx="57150" cy="57150"/>
              </a:xfrm>
              <a:custGeom>
                <a:avLst/>
                <a:gdLst/>
                <a:ahLst/>
                <a:cxnLst/>
                <a:rect l="l" t="t" r="r" b="b"/>
                <a:pathLst>
                  <a:path w="57150" h="57150">
                    <a:moveTo>
                      <a:pt x="0" y="9525"/>
                    </a:moveTo>
                    <a:cubicBezTo>
                      <a:pt x="0" y="4264"/>
                      <a:pt x="4264" y="0"/>
                      <a:pt x="9525" y="0"/>
                    </a:cubicBezTo>
                    <a:lnTo>
                      <a:pt x="47625" y="0"/>
                    </a:lnTo>
                    <a:cubicBezTo>
                      <a:pt x="52886" y="0"/>
                      <a:pt x="57150" y="4264"/>
                      <a:pt x="57150" y="9525"/>
                    </a:cubicBezTo>
                    <a:lnTo>
                      <a:pt x="57150" y="47625"/>
                    </a:lnTo>
                    <a:cubicBezTo>
                      <a:pt x="57150" y="52886"/>
                      <a:pt x="52886" y="57150"/>
                      <a:pt x="47625" y="57150"/>
                    </a:cubicBezTo>
                    <a:lnTo>
                      <a:pt x="9525" y="57150"/>
                    </a:lnTo>
                    <a:cubicBezTo>
                      <a:pt x="4264" y="57150"/>
                      <a:pt x="0" y="52886"/>
                      <a:pt x="0" y="47625"/>
                    </a:cubicBezTo>
                    <a:lnTo>
                      <a:pt x="0" y="9525"/>
                    </a:lnTo>
                  </a:path>
                </a:pathLst>
              </a:custGeom>
              <a:noFill/>
              <a:ln w="19050">
                <a:solidFill>
                  <a:srgbClr val="D64A2E"/>
                </a:solidFill>
              </a:ln>
            </p:spPr>
          </p:sp>
          <p:sp>
            <p:nvSpPr>
              <p:cNvPr id="234" name="Freeform 234"/>
              <p:cNvSpPr/>
              <p:nvPr/>
            </p:nvSpPr>
            <p:spPr>
              <a:xfrm>
                <a:off x="2800350" y="5486400"/>
                <a:ext cx="57150" cy="57150"/>
              </a:xfrm>
              <a:custGeom>
                <a:avLst/>
                <a:gdLst/>
                <a:ahLst/>
                <a:cxnLst/>
                <a:rect l="l" t="t" r="r" b="b"/>
                <a:pathLst>
                  <a:path w="57150" h="57150">
                    <a:moveTo>
                      <a:pt x="0" y="9525"/>
                    </a:moveTo>
                    <a:cubicBezTo>
                      <a:pt x="0" y="4264"/>
                      <a:pt x="4264" y="0"/>
                      <a:pt x="9525" y="0"/>
                    </a:cubicBezTo>
                    <a:lnTo>
                      <a:pt x="47625" y="0"/>
                    </a:lnTo>
                    <a:cubicBezTo>
                      <a:pt x="52886" y="0"/>
                      <a:pt x="57150" y="4264"/>
                      <a:pt x="57150" y="9525"/>
                    </a:cubicBezTo>
                    <a:lnTo>
                      <a:pt x="57150" y="47625"/>
                    </a:lnTo>
                    <a:cubicBezTo>
                      <a:pt x="57150" y="52886"/>
                      <a:pt x="52886" y="57150"/>
                      <a:pt x="47625" y="57150"/>
                    </a:cubicBezTo>
                    <a:lnTo>
                      <a:pt x="9525" y="57150"/>
                    </a:lnTo>
                    <a:cubicBezTo>
                      <a:pt x="4264" y="57150"/>
                      <a:pt x="0" y="52886"/>
                      <a:pt x="0" y="47625"/>
                    </a:cubicBezTo>
                    <a:lnTo>
                      <a:pt x="0" y="9525"/>
                    </a:lnTo>
                  </a:path>
                </a:pathLst>
              </a:custGeom>
              <a:noFill/>
              <a:ln w="19050">
                <a:solidFill>
                  <a:srgbClr val="D64A2E"/>
                </a:solidFill>
              </a:ln>
            </p:spPr>
          </p:sp>
          <p:sp>
            <p:nvSpPr>
              <p:cNvPr id="235" name="Freeform 235"/>
              <p:cNvSpPr/>
              <p:nvPr/>
            </p:nvSpPr>
            <p:spPr>
              <a:xfrm>
                <a:off x="2705100" y="5581650"/>
                <a:ext cx="57150" cy="57150"/>
              </a:xfrm>
              <a:custGeom>
                <a:avLst/>
                <a:gdLst/>
                <a:ahLst/>
                <a:cxnLst/>
                <a:rect l="l" t="t" r="r" b="b"/>
                <a:pathLst>
                  <a:path w="57150" h="57150">
                    <a:moveTo>
                      <a:pt x="0" y="9525"/>
                    </a:moveTo>
                    <a:cubicBezTo>
                      <a:pt x="0" y="4264"/>
                      <a:pt x="4264" y="0"/>
                      <a:pt x="9525" y="0"/>
                    </a:cubicBezTo>
                    <a:lnTo>
                      <a:pt x="47625" y="0"/>
                    </a:lnTo>
                    <a:cubicBezTo>
                      <a:pt x="52886" y="0"/>
                      <a:pt x="57150" y="4264"/>
                      <a:pt x="57150" y="9525"/>
                    </a:cubicBezTo>
                    <a:lnTo>
                      <a:pt x="57150" y="47625"/>
                    </a:lnTo>
                    <a:cubicBezTo>
                      <a:pt x="57150" y="52886"/>
                      <a:pt x="52886" y="57150"/>
                      <a:pt x="47625" y="57150"/>
                    </a:cubicBezTo>
                    <a:lnTo>
                      <a:pt x="9525" y="57150"/>
                    </a:lnTo>
                    <a:cubicBezTo>
                      <a:pt x="4264" y="57150"/>
                      <a:pt x="0" y="52886"/>
                      <a:pt x="0" y="47625"/>
                    </a:cubicBezTo>
                    <a:lnTo>
                      <a:pt x="0" y="9525"/>
                    </a:lnTo>
                  </a:path>
                </a:pathLst>
              </a:custGeom>
              <a:noFill/>
              <a:ln w="19050">
                <a:solidFill>
                  <a:srgbClr val="D64A2E"/>
                </a:solidFill>
              </a:ln>
            </p:spPr>
          </p:sp>
          <p:sp>
            <p:nvSpPr>
              <p:cNvPr id="236" name="Freeform 236"/>
              <p:cNvSpPr/>
              <p:nvPr/>
            </p:nvSpPr>
            <p:spPr>
              <a:xfrm>
                <a:off x="2800350" y="5581650"/>
                <a:ext cx="57150" cy="57150"/>
              </a:xfrm>
              <a:custGeom>
                <a:avLst/>
                <a:gdLst/>
                <a:ahLst/>
                <a:cxnLst/>
                <a:rect l="l" t="t" r="r" b="b"/>
                <a:pathLst>
                  <a:path w="57150" h="57150">
                    <a:moveTo>
                      <a:pt x="0" y="9525"/>
                    </a:moveTo>
                    <a:cubicBezTo>
                      <a:pt x="0" y="4264"/>
                      <a:pt x="4264" y="0"/>
                      <a:pt x="9525" y="0"/>
                    </a:cubicBezTo>
                    <a:lnTo>
                      <a:pt x="47625" y="0"/>
                    </a:lnTo>
                    <a:cubicBezTo>
                      <a:pt x="52886" y="0"/>
                      <a:pt x="57150" y="4264"/>
                      <a:pt x="57150" y="9525"/>
                    </a:cubicBezTo>
                    <a:lnTo>
                      <a:pt x="57150" y="47625"/>
                    </a:lnTo>
                    <a:cubicBezTo>
                      <a:pt x="57150" y="52886"/>
                      <a:pt x="52886" y="57150"/>
                      <a:pt x="47625" y="57150"/>
                    </a:cubicBezTo>
                    <a:lnTo>
                      <a:pt x="9525" y="57150"/>
                    </a:lnTo>
                    <a:cubicBezTo>
                      <a:pt x="4264" y="57150"/>
                      <a:pt x="0" y="52886"/>
                      <a:pt x="0" y="47625"/>
                    </a:cubicBezTo>
                    <a:lnTo>
                      <a:pt x="0" y="9525"/>
                    </a:lnTo>
                  </a:path>
                </a:pathLst>
              </a:custGeom>
              <a:noFill/>
              <a:ln w="19050">
                <a:solidFill>
                  <a:srgbClr val="D64A2E"/>
                </a:solidFill>
              </a:ln>
            </p:spPr>
          </p:sp>
        </p:grpSp>
        <p:sp>
          <p:nvSpPr>
            <p:cNvPr id="238" name="TextBox 238"/>
            <p:cNvSpPr txBox="1"/>
            <p:nvPr/>
          </p:nvSpPr>
          <p:spPr>
            <a:xfrm>
              <a:off x="2790152" y="5651897"/>
              <a:ext cx="515696"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场景经营</a:t>
              </a:r>
            </a:p>
          </p:txBody>
        </p:sp>
        <p:sp>
          <p:nvSpPr>
            <p:cNvPr id="239" name="Line 239"/>
            <p:cNvSpPr/>
            <p:nvPr/>
          </p:nvSpPr>
          <p:spPr>
            <a:xfrm>
              <a:off x="3771900" y="5638800"/>
              <a:ext cx="323850" cy="1"/>
            </a:xfrm>
            <a:prstGeom prst="line">
              <a:avLst/>
            </a:prstGeom>
            <a:noFill/>
            <a:ln w="23812">
              <a:solidFill>
                <a:srgbClr val="D64A2E"/>
              </a:solidFill>
              <a:tailEnd type="triangle" w="lg" len="lg"/>
            </a:ln>
          </p:spPr>
        </p:sp>
        <p:sp>
          <p:nvSpPr>
            <p:cNvPr id="240" name="Rectangle 240"/>
            <p:cNvSpPr/>
            <p:nvPr/>
          </p:nvSpPr>
          <p:spPr>
            <a:xfrm>
              <a:off x="4152900" y="5334000"/>
              <a:ext cx="1333500" cy="609600"/>
            </a:xfrm>
            <a:prstGeom prst="roundRect">
              <a:avLst>
                <a:gd name="adj" fmla="val 12500"/>
              </a:avLst>
            </a:prstGeom>
            <a:solidFill>
              <a:srgbClr val="F7FAFE"/>
            </a:solidFill>
            <a:ln w="9525">
              <a:solidFill>
                <a:srgbClr val="C9D8EF"/>
              </a:solidFill>
            </a:ln>
          </p:spPr>
        </p:sp>
        <p:grpSp>
          <p:nvGrpSpPr>
            <p:cNvPr id="247" name="Group 247"/>
            <p:cNvGrpSpPr/>
            <p:nvPr/>
          </p:nvGrpSpPr>
          <p:grpSpPr>
            <a:xfrm>
              <a:off x="4476750" y="5486400"/>
              <a:ext cx="152400" cy="152400"/>
              <a:chOff x="4476750" y="5486400"/>
              <a:chExt cx="152400" cy="152400"/>
            </a:xfrm>
          </p:grpSpPr>
          <p:sp>
            <p:nvSpPr>
              <p:cNvPr id="241" name="Freeform 241"/>
              <p:cNvSpPr/>
              <p:nvPr/>
            </p:nvSpPr>
            <p:spPr>
              <a:xfrm>
                <a:off x="4495143" y="5514365"/>
                <a:ext cx="106042" cy="106042"/>
              </a:xfrm>
              <a:custGeom>
                <a:avLst/>
                <a:gdLst/>
                <a:ahLst/>
                <a:cxnLst/>
                <a:rect l="l" t="t" r="r" b="b"/>
                <a:pathLst>
                  <a:path w="106042" h="106042">
                    <a:moveTo>
                      <a:pt x="0" y="0"/>
                    </a:moveTo>
                    <a:lnTo>
                      <a:pt x="12144" y="40472"/>
                    </a:lnTo>
                    <a:moveTo>
                      <a:pt x="65551" y="93897"/>
                    </a:moveTo>
                    <a:lnTo>
                      <a:pt x="106042" y="106042"/>
                    </a:lnTo>
                  </a:path>
                </a:pathLst>
              </a:custGeom>
              <a:noFill/>
              <a:ln w="19050">
                <a:solidFill>
                  <a:srgbClr val="A5280F"/>
                </a:solidFill>
              </a:ln>
            </p:spPr>
          </p:sp>
          <p:sp>
            <p:nvSpPr>
              <p:cNvPr id="242" name="Freeform 242"/>
              <p:cNvSpPr/>
              <p:nvPr/>
            </p:nvSpPr>
            <p:spPr>
              <a:xfrm>
                <a:off x="4549931" y="5510765"/>
                <a:ext cx="54854" cy="54854"/>
              </a:xfrm>
              <a:custGeom>
                <a:avLst/>
                <a:gdLst/>
                <a:ahLst/>
                <a:cxnLst/>
                <a:rect l="l" t="t" r="r" b="b"/>
                <a:pathLst>
                  <a:path w="54854" h="54854">
                    <a:moveTo>
                      <a:pt x="0" y="54854"/>
                    </a:moveTo>
                    <a:lnTo>
                      <a:pt x="54854" y="0"/>
                    </a:lnTo>
                  </a:path>
                </a:pathLst>
              </a:custGeom>
              <a:noFill/>
              <a:ln w="19050">
                <a:solidFill>
                  <a:srgbClr val="A5280F"/>
                </a:solidFill>
              </a:ln>
            </p:spPr>
          </p:sp>
          <p:sp>
            <p:nvSpPr>
              <p:cNvPr id="243" name="Freeform 243"/>
              <p:cNvSpPr/>
              <p:nvPr/>
            </p:nvSpPr>
            <p:spPr>
              <a:xfrm>
                <a:off x="4476750" y="548640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9050">
                <a:solidFill>
                  <a:srgbClr val="A5280F"/>
                </a:solidFill>
              </a:ln>
            </p:spPr>
          </p:sp>
          <p:sp>
            <p:nvSpPr>
              <p:cNvPr id="244" name="Freeform 244"/>
              <p:cNvSpPr/>
              <p:nvPr/>
            </p:nvSpPr>
            <p:spPr>
              <a:xfrm>
                <a:off x="4600575" y="548640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9050">
                <a:solidFill>
                  <a:srgbClr val="A5280F"/>
                </a:solidFill>
              </a:ln>
            </p:spPr>
          </p:sp>
          <p:sp>
            <p:nvSpPr>
              <p:cNvPr id="245" name="Freeform 245"/>
              <p:cNvSpPr/>
              <p:nvPr/>
            </p:nvSpPr>
            <p:spPr>
              <a:xfrm>
                <a:off x="4600575" y="561022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9050">
                <a:solidFill>
                  <a:srgbClr val="A5280F"/>
                </a:solidFill>
              </a:ln>
            </p:spPr>
          </p:sp>
          <p:sp>
            <p:nvSpPr>
              <p:cNvPr id="246" name="Freeform 246"/>
              <p:cNvSpPr/>
              <p:nvPr/>
            </p:nvSpPr>
            <p:spPr>
              <a:xfrm>
                <a:off x="4476750" y="5553075"/>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9050">
                <a:solidFill>
                  <a:srgbClr val="A5280F"/>
                </a:solidFill>
              </a:ln>
            </p:spPr>
          </p:sp>
        </p:grpSp>
        <p:sp>
          <p:nvSpPr>
            <p:cNvPr id="248" name="TextBox 248"/>
            <p:cNvSpPr txBox="1"/>
            <p:nvPr/>
          </p:nvSpPr>
          <p:spPr>
            <a:xfrm>
              <a:off x="4561802" y="5651897"/>
              <a:ext cx="515696"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生态经营</a:t>
              </a:r>
            </a:p>
          </p:txBody>
        </p:sp>
      </p:grpSp>
      <p:grpSp>
        <p:nvGrpSpPr>
          <p:cNvPr id="282" name="kpi-block"/>
          <p:cNvGrpSpPr/>
          <p:nvPr/>
        </p:nvGrpSpPr>
        <p:grpSpPr>
          <a:xfrm>
            <a:off x="5867400" y="4667250"/>
            <a:ext cx="5810250" cy="1676400"/>
            <a:chOff x="5867400" y="4667250"/>
            <a:chExt cx="5810250" cy="1676400"/>
          </a:xfrm>
        </p:grpSpPr>
        <p:sp>
          <p:nvSpPr>
            <p:cNvPr id="250" name="Rectangle 250"/>
            <p:cNvSpPr/>
            <p:nvPr/>
          </p:nvSpPr>
          <p:spPr>
            <a:xfrm>
              <a:off x="5867400" y="4667250"/>
              <a:ext cx="3048000" cy="285750"/>
            </a:xfrm>
            <a:prstGeom prst="roundRect">
              <a:avLst>
                <a:gd name="adj" fmla="val 13333"/>
              </a:avLst>
            </a:prstGeom>
            <a:gradFill>
              <a:gsLst>
                <a:gs pos="0">
                  <a:srgbClr val="AD3921"/>
                </a:gs>
                <a:gs pos="100000">
                  <a:srgbClr val="962C16"/>
                </a:gs>
              </a:gsLst>
              <a:lin ang="5400000" scaled="1"/>
            </a:gradFill>
            <a:ln>
              <a:noFill/>
            </a:ln>
          </p:spPr>
        </p:sp>
        <p:sp>
          <p:nvSpPr>
            <p:cNvPr id="251" name="TextBox 251"/>
            <p:cNvSpPr txBox="1"/>
            <p:nvPr/>
          </p:nvSpPr>
          <p:spPr>
            <a:xfrm>
              <a:off x="6306765" y="4749879"/>
              <a:ext cx="2169270"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价值经营成效指标（关键KPI）​​</a:t>
              </a:r>
            </a:p>
          </p:txBody>
        </p:sp>
        <p:sp>
          <p:nvSpPr>
            <p:cNvPr id="252" name="Line 252"/>
            <p:cNvSpPr/>
            <p:nvPr/>
          </p:nvSpPr>
          <p:spPr>
            <a:xfrm>
              <a:off x="6057900" y="4953000"/>
              <a:ext cx="5619750" cy="9525"/>
            </a:xfrm>
            <a:custGeom>
              <a:avLst/>
              <a:gdLst/>
              <a:ahLst/>
              <a:cxnLst/>
              <a:rect l="l" t="t" r="r" b="b"/>
              <a:pathLst>
                <a:path w="5619750" h="9525">
                  <a:moveTo>
                    <a:pt x="0" y="0"/>
                  </a:moveTo>
                  <a:lnTo>
                    <a:pt x="5619750" y="0"/>
                  </a:lnTo>
                </a:path>
              </a:pathLst>
            </a:custGeom>
            <a:noFill/>
            <a:ln w="14288">
              <a:solidFill>
                <a:srgbClr val="D9E4F2"/>
              </a:solidFill>
            </a:ln>
          </p:spPr>
        </p:sp>
        <p:sp>
          <p:nvSpPr>
            <p:cNvPr id="253" name="Rectangle 253"/>
            <p:cNvSpPr/>
            <p:nvPr/>
          </p:nvSpPr>
          <p:spPr>
            <a:xfrm>
              <a:off x="6000750" y="5238750"/>
              <a:ext cx="1333500" cy="1104900"/>
            </a:xfrm>
            <a:prstGeom prst="roundRect">
              <a:avLst>
                <a:gd name="adj" fmla="val 6897"/>
              </a:avLst>
            </a:prstGeom>
            <a:solidFill>
              <a:srgbClr val="FFFFFF"/>
            </a:solidFill>
            <a:ln w="9525">
              <a:solidFill>
                <a:srgbClr val="C9D8EF"/>
              </a:solidFill>
            </a:ln>
          </p:spPr>
        </p:sp>
        <p:grpSp>
          <p:nvGrpSpPr>
            <p:cNvPr id="258" name="Group 258"/>
            <p:cNvGrpSpPr/>
            <p:nvPr/>
          </p:nvGrpSpPr>
          <p:grpSpPr>
            <a:xfrm>
              <a:off x="6567488" y="5386388"/>
              <a:ext cx="200026" cy="200025"/>
              <a:chOff x="6567488" y="5386388"/>
              <a:chExt cx="200026" cy="200025"/>
            </a:xfrm>
          </p:grpSpPr>
          <p:sp>
            <p:nvSpPr>
              <p:cNvPr id="254" name="Freeform 254"/>
              <p:cNvSpPr/>
              <p:nvPr/>
            </p:nvSpPr>
            <p:spPr>
              <a:xfrm>
                <a:off x="6589713" y="53863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A8351D"/>
                </a:solidFill>
              </a:ln>
            </p:spPr>
          </p:sp>
          <p:sp>
            <p:nvSpPr>
              <p:cNvPr id="255" name="Freeform 255"/>
              <p:cNvSpPr/>
              <p:nvPr/>
            </p:nvSpPr>
            <p:spPr>
              <a:xfrm>
                <a:off x="6567488" y="55197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A8351D"/>
                </a:solidFill>
              </a:ln>
            </p:spPr>
          </p:sp>
          <p:sp>
            <p:nvSpPr>
              <p:cNvPr id="256" name="Freeform 256"/>
              <p:cNvSpPr/>
              <p:nvPr/>
            </p:nvSpPr>
            <p:spPr>
              <a:xfrm>
                <a:off x="6711951" y="538783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A8351D"/>
                </a:solidFill>
              </a:ln>
            </p:spPr>
          </p:sp>
          <p:sp>
            <p:nvSpPr>
              <p:cNvPr id="257" name="Freeform 257"/>
              <p:cNvSpPr/>
              <p:nvPr/>
            </p:nvSpPr>
            <p:spPr>
              <a:xfrm>
                <a:off x="6734176" y="552140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A8351D"/>
                </a:solidFill>
              </a:ln>
            </p:spPr>
          </p:sp>
        </p:grpSp>
        <p:sp>
          <p:nvSpPr>
            <p:cNvPr id="259" name="TextBox 259"/>
            <p:cNvSpPr txBox="1"/>
            <p:nvPr/>
          </p:nvSpPr>
          <p:spPr>
            <a:xfrm>
              <a:off x="6373304" y="5774293"/>
              <a:ext cx="588391" cy="169069"/>
            </a:xfrm>
            <a:prstGeom prst="rect">
              <a:avLst/>
            </a:prstGeom>
            <a:noFill/>
            <a:ln>
              <a:noFill/>
            </a:ln>
          </p:spPr>
          <p:txBody>
            <a:bodyPr wrap="none" lIns="0" tIns="0" rIns="0" bIns="0" anchor="t" anchorCtr="0">
              <a:spAutoFit/>
            </a:bodyPr>
            <a:lstStyle/>
            <a:p>
              <a:pPr algn="ctr"/>
              <a:r>
                <a:rPr lang="zh-CN" sz="860" dirty="0">
                  <a:solidFill>
                    <a:srgbClr val="5A443F"/>
                  </a:solidFill>
                  <a:latin typeface="+mn-lt"/>
                  <a:ea typeface="+mn-ea"/>
                  <a:cs typeface="+mn-cs"/>
                </a:rPr>
                <a:t>联动覆盖率</a:t>
              </a:r>
            </a:p>
          </p:txBody>
        </p:sp>
        <p:sp>
          <p:nvSpPr>
            <p:cNvPr id="260" name="TextBox 260"/>
            <p:cNvSpPr txBox="1"/>
            <p:nvPr/>
          </p:nvSpPr>
          <p:spPr>
            <a:xfrm>
              <a:off x="6268663" y="6002179"/>
              <a:ext cx="797673" cy="308039"/>
            </a:xfrm>
            <a:prstGeom prst="rect">
              <a:avLst/>
            </a:prstGeom>
            <a:noFill/>
            <a:ln>
              <a:noFill/>
            </a:ln>
          </p:spPr>
          <p:txBody>
            <a:bodyPr wrap="none" lIns="0" tIns="0" rIns="0" bIns="0" anchor="t" anchorCtr="0">
              <a:spAutoFit/>
            </a:bodyPr>
            <a:lstStyle/>
            <a:p>
              <a:pPr algn="ctr"/>
              <a:r>
                <a:rPr lang="zh-CN" sz="1580" b="1" dirty="0">
                  <a:solidFill>
                    <a:srgbClr val="C9462F"/>
                  </a:solidFill>
                  <a:latin typeface="+mn-lt"/>
                  <a:ea typeface="+mn-ea"/>
                  <a:cs typeface="+mn-cs"/>
                </a:rPr>
                <a:t>85%+​​</a:t>
              </a:r>
            </a:p>
          </p:txBody>
        </p:sp>
        <p:sp>
          <p:nvSpPr>
            <p:cNvPr id="261" name="Rectangle 261"/>
            <p:cNvSpPr/>
            <p:nvPr/>
          </p:nvSpPr>
          <p:spPr>
            <a:xfrm>
              <a:off x="7448550" y="5238750"/>
              <a:ext cx="1333500" cy="1104900"/>
            </a:xfrm>
            <a:prstGeom prst="roundRect">
              <a:avLst>
                <a:gd name="adj" fmla="val 6897"/>
              </a:avLst>
            </a:prstGeom>
            <a:solidFill>
              <a:srgbClr val="FFFFFF"/>
            </a:solidFill>
            <a:ln w="9525">
              <a:solidFill>
                <a:srgbClr val="C9D8EF"/>
              </a:solidFill>
            </a:ln>
          </p:spPr>
        </p:sp>
        <p:grpSp>
          <p:nvGrpSpPr>
            <p:cNvPr id="264" name="Group 264"/>
            <p:cNvGrpSpPr/>
            <p:nvPr/>
          </p:nvGrpSpPr>
          <p:grpSpPr>
            <a:xfrm>
              <a:off x="8012190" y="5388298"/>
              <a:ext cx="200901" cy="201212"/>
              <a:chOff x="8012190" y="5388298"/>
              <a:chExt cx="200901" cy="201212"/>
            </a:xfrm>
          </p:grpSpPr>
          <p:sp>
            <p:nvSpPr>
              <p:cNvPr id="262" name="Freeform 262"/>
              <p:cNvSpPr/>
              <p:nvPr/>
            </p:nvSpPr>
            <p:spPr>
              <a:xfrm>
                <a:off x="8012190" y="538829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14223" y="109214"/>
                    </a:lnTo>
                    <a:cubicBezTo>
                      <a:pt x="101948" y="109214"/>
                      <a:pt x="91998" y="99264"/>
                      <a:pt x="91998" y="86989"/>
                    </a:cubicBezTo>
                    <a:lnTo>
                      <a:pt x="91998" y="9202"/>
                    </a:lnTo>
                    <a:cubicBezTo>
                      <a:pt x="91719" y="6542"/>
                      <a:pt x="90387" y="4105"/>
                      <a:pt x="88299" y="2435"/>
                    </a:cubicBezTo>
                    <a:cubicBezTo>
                      <a:pt x="86211" y="765"/>
                      <a:pt x="83541" y="0"/>
                      <a:pt x="80885" y="312"/>
                    </a:cubicBezTo>
                  </a:path>
                </a:pathLst>
              </a:custGeom>
              <a:noFill/>
              <a:ln w="22225">
                <a:solidFill>
                  <a:srgbClr val="A8351D"/>
                </a:solidFill>
              </a:ln>
            </p:spPr>
          </p:sp>
          <p:sp>
            <p:nvSpPr>
              <p:cNvPr id="263" name="Freeform 263"/>
              <p:cNvSpPr/>
              <p:nvPr/>
            </p:nvSpPr>
            <p:spPr>
              <a:xfrm>
                <a:off x="8148638" y="5391944"/>
                <a:ext cx="61119" cy="61119"/>
              </a:xfrm>
              <a:custGeom>
                <a:avLst/>
                <a:gdLst/>
                <a:ahLst/>
                <a:cxnLst/>
                <a:rect l="l" t="t" r="r" b="b"/>
                <a:pathLst>
                  <a:path w="61119" h="61119">
                    <a:moveTo>
                      <a:pt x="0" y="0"/>
                    </a:moveTo>
                    <a:cubicBezTo>
                      <a:pt x="28579" y="10063"/>
                      <a:pt x="51056" y="32540"/>
                      <a:pt x="61119" y="61119"/>
                    </a:cubicBezTo>
                    <a:lnTo>
                      <a:pt x="11113" y="61119"/>
                    </a:lnTo>
                    <a:cubicBezTo>
                      <a:pt x="4975" y="61119"/>
                      <a:pt x="0" y="56144"/>
                      <a:pt x="0" y="50006"/>
                    </a:cubicBezTo>
                    <a:lnTo>
                      <a:pt x="0" y="0"/>
                    </a:lnTo>
                  </a:path>
                </a:pathLst>
              </a:custGeom>
              <a:noFill/>
              <a:ln w="22225">
                <a:solidFill>
                  <a:srgbClr val="A8351D"/>
                </a:solidFill>
              </a:ln>
            </p:spPr>
          </p:sp>
        </p:grpSp>
        <p:sp>
          <p:nvSpPr>
            <p:cNvPr id="265" name="TextBox 265"/>
            <p:cNvSpPr txBox="1"/>
            <p:nvPr/>
          </p:nvSpPr>
          <p:spPr>
            <a:xfrm>
              <a:off x="7821104" y="5774293"/>
              <a:ext cx="588391" cy="169069"/>
            </a:xfrm>
            <a:prstGeom prst="rect">
              <a:avLst/>
            </a:prstGeom>
            <a:noFill/>
            <a:ln>
              <a:noFill/>
            </a:ln>
          </p:spPr>
          <p:txBody>
            <a:bodyPr wrap="none" lIns="0" tIns="0" rIns="0" bIns="0" anchor="t" anchorCtr="0">
              <a:spAutoFit/>
            </a:bodyPr>
            <a:lstStyle/>
            <a:p>
              <a:pPr algn="ctr"/>
              <a:r>
                <a:rPr lang="zh-CN" sz="860" dirty="0">
                  <a:solidFill>
                    <a:srgbClr val="5A443F"/>
                  </a:solidFill>
                  <a:latin typeface="+mn-lt"/>
                  <a:ea typeface="+mn-ea"/>
                  <a:cs typeface="+mn-cs"/>
                </a:rPr>
                <a:t>代发渗透率</a:t>
              </a:r>
            </a:p>
          </p:txBody>
        </p:sp>
        <p:sp>
          <p:nvSpPr>
            <p:cNvPr id="266" name="TextBox 266"/>
            <p:cNvSpPr txBox="1"/>
            <p:nvPr/>
          </p:nvSpPr>
          <p:spPr>
            <a:xfrm>
              <a:off x="7716463" y="6002179"/>
              <a:ext cx="797673" cy="308039"/>
            </a:xfrm>
            <a:prstGeom prst="rect">
              <a:avLst/>
            </a:prstGeom>
            <a:noFill/>
            <a:ln>
              <a:noFill/>
            </a:ln>
          </p:spPr>
          <p:txBody>
            <a:bodyPr wrap="none" lIns="0" tIns="0" rIns="0" bIns="0" anchor="t" anchorCtr="0">
              <a:spAutoFit/>
            </a:bodyPr>
            <a:lstStyle/>
            <a:p>
              <a:pPr algn="ctr"/>
              <a:r>
                <a:rPr lang="zh-CN" sz="1580" b="1" dirty="0">
                  <a:solidFill>
                    <a:srgbClr val="C9462F"/>
                  </a:solidFill>
                  <a:latin typeface="+mn-lt"/>
                  <a:ea typeface="+mn-ea"/>
                  <a:cs typeface="+mn-cs"/>
                </a:rPr>
                <a:t>35%+​​</a:t>
              </a:r>
            </a:p>
          </p:txBody>
        </p:sp>
        <p:sp>
          <p:nvSpPr>
            <p:cNvPr id="267" name="Rectangle 267"/>
            <p:cNvSpPr/>
            <p:nvPr/>
          </p:nvSpPr>
          <p:spPr>
            <a:xfrm>
              <a:off x="8896350" y="5238750"/>
              <a:ext cx="1333500" cy="1104900"/>
            </a:xfrm>
            <a:prstGeom prst="roundRect">
              <a:avLst>
                <a:gd name="adj" fmla="val 6897"/>
              </a:avLst>
            </a:prstGeom>
            <a:solidFill>
              <a:srgbClr val="FFFFFF"/>
            </a:solidFill>
            <a:ln w="9525">
              <a:solidFill>
                <a:srgbClr val="C9D8EF"/>
              </a:solidFill>
            </a:ln>
          </p:spPr>
        </p:sp>
        <p:grpSp>
          <p:nvGrpSpPr>
            <p:cNvPr id="273" name="Group 273"/>
            <p:cNvGrpSpPr/>
            <p:nvPr/>
          </p:nvGrpSpPr>
          <p:grpSpPr>
            <a:xfrm>
              <a:off x="9463088" y="5384899"/>
              <a:ext cx="200025" cy="201514"/>
              <a:chOff x="9463088" y="5384899"/>
              <a:chExt cx="200025" cy="201514"/>
            </a:xfrm>
          </p:grpSpPr>
          <p:sp>
            <p:nvSpPr>
              <p:cNvPr id="268" name="Freeform 268"/>
              <p:cNvSpPr/>
              <p:nvPr/>
            </p:nvSpPr>
            <p:spPr>
              <a:xfrm>
                <a:off x="9529763" y="5475288"/>
                <a:ext cx="133350" cy="66675"/>
              </a:xfrm>
              <a:custGeom>
                <a:avLst/>
                <a:gdLst/>
                <a:ahLst/>
                <a:cxnLst/>
                <a:rect l="l" t="t" r="r" b="b"/>
                <a:pathLst>
                  <a:path w="133350" h="66675">
                    <a:moveTo>
                      <a:pt x="0" y="33338"/>
                    </a:moveTo>
                    <a:cubicBezTo>
                      <a:pt x="0" y="51751"/>
                      <a:pt x="29848" y="66675"/>
                      <a:pt x="66675" y="66675"/>
                    </a:cubicBezTo>
                    <a:cubicBezTo>
                      <a:pt x="103502" y="66675"/>
                      <a:pt x="133350" y="51751"/>
                      <a:pt x="133350" y="33338"/>
                    </a:cubicBezTo>
                    <a:cubicBezTo>
                      <a:pt x="133350" y="14924"/>
                      <a:pt x="103502" y="0"/>
                      <a:pt x="66675" y="0"/>
                    </a:cubicBezTo>
                    <a:cubicBezTo>
                      <a:pt x="29848" y="0"/>
                      <a:pt x="0" y="14924"/>
                      <a:pt x="0" y="33338"/>
                    </a:cubicBezTo>
                  </a:path>
                </a:pathLst>
              </a:custGeom>
              <a:noFill/>
              <a:ln w="22225">
                <a:solidFill>
                  <a:srgbClr val="A8351D"/>
                </a:solidFill>
              </a:ln>
            </p:spPr>
          </p:sp>
          <p:sp>
            <p:nvSpPr>
              <p:cNvPr id="269" name="Freeform 269"/>
              <p:cNvSpPr/>
              <p:nvPr/>
            </p:nvSpPr>
            <p:spPr>
              <a:xfrm>
                <a:off x="9529763" y="5508625"/>
                <a:ext cx="133350" cy="77788"/>
              </a:xfrm>
              <a:custGeom>
                <a:avLst/>
                <a:gdLst/>
                <a:ahLst/>
                <a:cxnLst/>
                <a:rect l="l" t="t" r="r" b="b"/>
                <a:pathLst>
                  <a:path w="133350" h="77788">
                    <a:moveTo>
                      <a:pt x="0" y="0"/>
                    </a:moveTo>
                    <a:lnTo>
                      <a:pt x="0" y="44450"/>
                    </a:lnTo>
                    <a:cubicBezTo>
                      <a:pt x="0" y="62852"/>
                      <a:pt x="29848" y="77788"/>
                      <a:pt x="66675" y="77788"/>
                    </a:cubicBezTo>
                    <a:cubicBezTo>
                      <a:pt x="103502" y="77788"/>
                      <a:pt x="133350" y="62852"/>
                      <a:pt x="133350" y="44450"/>
                    </a:cubicBezTo>
                    <a:lnTo>
                      <a:pt x="133350" y="0"/>
                    </a:lnTo>
                  </a:path>
                </a:pathLst>
              </a:custGeom>
              <a:noFill/>
              <a:ln w="22225">
                <a:solidFill>
                  <a:srgbClr val="A8351D"/>
                </a:solidFill>
              </a:ln>
            </p:spPr>
          </p:sp>
          <p:sp>
            <p:nvSpPr>
              <p:cNvPr id="270" name="Freeform 270"/>
              <p:cNvSpPr/>
              <p:nvPr/>
            </p:nvSpPr>
            <p:spPr>
              <a:xfrm>
                <a:off x="9463088" y="5384899"/>
                <a:ext cx="133350" cy="69653"/>
              </a:xfrm>
              <a:custGeom>
                <a:avLst/>
                <a:gdLst/>
                <a:ahLst/>
                <a:cxnLst/>
                <a:rect l="l" t="t" r="r" b="b"/>
                <a:pathLst>
                  <a:path w="133350" h="69653">
                    <a:moveTo>
                      <a:pt x="0" y="34827"/>
                    </a:moveTo>
                    <a:cubicBezTo>
                      <a:pt x="0" y="46739"/>
                      <a:pt x="12713" y="57741"/>
                      <a:pt x="33338" y="63697"/>
                    </a:cubicBezTo>
                    <a:cubicBezTo>
                      <a:pt x="53962" y="69653"/>
                      <a:pt x="79388" y="69653"/>
                      <a:pt x="100013" y="63697"/>
                    </a:cubicBezTo>
                    <a:cubicBezTo>
                      <a:pt x="120638" y="57741"/>
                      <a:pt x="133350" y="46739"/>
                      <a:pt x="133350" y="34827"/>
                    </a:cubicBezTo>
                    <a:cubicBezTo>
                      <a:pt x="133350" y="22914"/>
                      <a:pt x="120638" y="11913"/>
                      <a:pt x="100013" y="5956"/>
                    </a:cubicBezTo>
                    <a:cubicBezTo>
                      <a:pt x="79388" y="0"/>
                      <a:pt x="53962" y="0"/>
                      <a:pt x="33338" y="5956"/>
                    </a:cubicBezTo>
                    <a:cubicBezTo>
                      <a:pt x="12713" y="11913"/>
                      <a:pt x="0" y="22914"/>
                      <a:pt x="0" y="34827"/>
                    </a:cubicBezTo>
                  </a:path>
                </a:pathLst>
              </a:custGeom>
              <a:noFill/>
              <a:ln w="22225">
                <a:solidFill>
                  <a:srgbClr val="A8351D"/>
                </a:solidFill>
              </a:ln>
            </p:spPr>
          </p:sp>
          <p:sp>
            <p:nvSpPr>
              <p:cNvPr id="271" name="Freeform 271"/>
              <p:cNvSpPr/>
              <p:nvPr/>
            </p:nvSpPr>
            <p:spPr>
              <a:xfrm>
                <a:off x="9463088" y="5419725"/>
                <a:ext cx="22225" cy="133350"/>
              </a:xfrm>
              <a:custGeom>
                <a:avLst/>
                <a:gdLst/>
                <a:ahLst/>
                <a:cxnLst/>
                <a:rect l="l" t="t" r="r" b="b"/>
                <a:pathLst>
                  <a:path w="22225" h="133350">
                    <a:moveTo>
                      <a:pt x="0" y="0"/>
                    </a:moveTo>
                    <a:lnTo>
                      <a:pt x="0" y="111125"/>
                    </a:lnTo>
                    <a:cubicBezTo>
                      <a:pt x="0" y="120993"/>
                      <a:pt x="8579" y="127238"/>
                      <a:pt x="22225" y="133350"/>
                    </a:cubicBezTo>
                  </a:path>
                </a:pathLst>
              </a:custGeom>
              <a:noFill/>
              <a:ln w="22225">
                <a:solidFill>
                  <a:srgbClr val="A8351D"/>
                </a:solidFill>
              </a:ln>
            </p:spPr>
          </p:sp>
          <p:sp>
            <p:nvSpPr>
              <p:cNvPr id="272" name="Freeform 272"/>
              <p:cNvSpPr/>
              <p:nvPr/>
            </p:nvSpPr>
            <p:spPr>
              <a:xfrm>
                <a:off x="9463088" y="5475288"/>
                <a:ext cx="22225" cy="22225"/>
              </a:xfrm>
              <a:custGeom>
                <a:avLst/>
                <a:gdLst/>
                <a:ahLst/>
                <a:cxnLst/>
                <a:rect l="l" t="t" r="r" b="b"/>
                <a:pathLst>
                  <a:path w="22225" h="22225">
                    <a:moveTo>
                      <a:pt x="0" y="0"/>
                    </a:moveTo>
                    <a:cubicBezTo>
                      <a:pt x="0" y="9868"/>
                      <a:pt x="8579" y="16113"/>
                      <a:pt x="22225" y="22225"/>
                    </a:cubicBezTo>
                  </a:path>
                </a:pathLst>
              </a:custGeom>
              <a:noFill/>
              <a:ln w="22225">
                <a:solidFill>
                  <a:srgbClr val="A8351D"/>
                </a:solidFill>
              </a:ln>
            </p:spPr>
          </p:sp>
        </p:grpSp>
        <p:sp>
          <p:nvSpPr>
            <p:cNvPr id="274" name="TextBox 274"/>
            <p:cNvSpPr txBox="1"/>
            <p:nvPr/>
          </p:nvSpPr>
          <p:spPr>
            <a:xfrm>
              <a:off x="9149964" y="5774293"/>
              <a:ext cx="826272" cy="169069"/>
            </a:xfrm>
            <a:prstGeom prst="rect">
              <a:avLst/>
            </a:prstGeom>
            <a:noFill/>
            <a:ln>
              <a:noFill/>
            </a:ln>
          </p:spPr>
          <p:txBody>
            <a:bodyPr wrap="none" lIns="0" tIns="0" rIns="0" bIns="0" anchor="t" anchorCtr="0">
              <a:spAutoFit/>
            </a:bodyPr>
            <a:lstStyle/>
            <a:p>
              <a:pPr algn="ctr"/>
              <a:r>
                <a:rPr lang="zh-CN" sz="860" dirty="0">
                  <a:solidFill>
                    <a:srgbClr val="5A443F"/>
                  </a:solidFill>
                  <a:latin typeface="+mn-lt"/>
                  <a:ea typeface="+mn-ea"/>
                  <a:cs typeface="+mn-cs"/>
                </a:rPr>
                <a:t>个人AUM净增​​</a:t>
              </a:r>
            </a:p>
          </p:txBody>
        </p:sp>
        <p:sp>
          <p:nvSpPr>
            <p:cNvPr id="275" name="TextBox 275"/>
            <p:cNvSpPr txBox="1"/>
            <p:nvPr/>
          </p:nvSpPr>
          <p:spPr>
            <a:xfrm>
              <a:off x="9080247" y="6002179"/>
              <a:ext cx="965706" cy="308039"/>
            </a:xfrm>
            <a:prstGeom prst="rect">
              <a:avLst/>
            </a:prstGeom>
            <a:noFill/>
            <a:ln>
              <a:noFill/>
            </a:ln>
          </p:spPr>
          <p:txBody>
            <a:bodyPr wrap="none" lIns="0" tIns="0" rIns="0" bIns="0" anchor="t" anchorCtr="0">
              <a:spAutoFit/>
            </a:bodyPr>
            <a:lstStyle/>
            <a:p>
              <a:pPr algn="ctr"/>
              <a:r>
                <a:rPr lang="zh-CN" sz="1580" b="1" dirty="0">
                  <a:solidFill>
                    <a:srgbClr val="C9462F"/>
                  </a:solidFill>
                  <a:latin typeface="+mn-lt"/>
                  <a:ea typeface="+mn-ea"/>
                  <a:cs typeface="+mn-cs"/>
                </a:rPr>
                <a:t>120亿+​​</a:t>
              </a:r>
            </a:p>
          </p:txBody>
        </p:sp>
        <p:sp>
          <p:nvSpPr>
            <p:cNvPr id="276" name="Rectangle 276"/>
            <p:cNvSpPr/>
            <p:nvPr/>
          </p:nvSpPr>
          <p:spPr>
            <a:xfrm>
              <a:off x="10344150" y="5238750"/>
              <a:ext cx="1333500" cy="1104900"/>
            </a:xfrm>
            <a:prstGeom prst="roundRect">
              <a:avLst>
                <a:gd name="adj" fmla="val 6897"/>
              </a:avLst>
            </a:prstGeom>
            <a:solidFill>
              <a:srgbClr val="FFFFFF"/>
            </a:solidFill>
            <a:ln w="9525">
              <a:solidFill>
                <a:srgbClr val="C9D8EF"/>
              </a:solidFill>
            </a:ln>
          </p:spPr>
        </p:sp>
        <p:grpSp>
          <p:nvGrpSpPr>
            <p:cNvPr id="279" name="Group 279"/>
            <p:cNvGrpSpPr/>
            <p:nvPr/>
          </p:nvGrpSpPr>
          <p:grpSpPr>
            <a:xfrm>
              <a:off x="10910888" y="5430838"/>
              <a:ext cx="200026" cy="111125"/>
              <a:chOff x="10910888" y="5430838"/>
              <a:chExt cx="200026" cy="111125"/>
            </a:xfrm>
          </p:grpSpPr>
          <p:sp>
            <p:nvSpPr>
              <p:cNvPr id="277" name="Freeform 277"/>
              <p:cNvSpPr/>
              <p:nvPr/>
            </p:nvSpPr>
            <p:spPr>
              <a:xfrm>
                <a:off x="10910888" y="54308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A8351D"/>
                </a:solidFill>
              </a:ln>
            </p:spPr>
          </p:sp>
          <p:sp>
            <p:nvSpPr>
              <p:cNvPr id="278" name="Freeform 278"/>
              <p:cNvSpPr/>
              <p:nvPr/>
            </p:nvSpPr>
            <p:spPr>
              <a:xfrm>
                <a:off x="11033125" y="5430838"/>
                <a:ext cx="77788" cy="77788"/>
              </a:xfrm>
              <a:custGeom>
                <a:avLst/>
                <a:gdLst/>
                <a:ahLst/>
                <a:cxnLst/>
                <a:rect l="l" t="t" r="r" b="b"/>
                <a:pathLst>
                  <a:path w="77788" h="77788">
                    <a:moveTo>
                      <a:pt x="0" y="0"/>
                    </a:moveTo>
                    <a:lnTo>
                      <a:pt x="77788" y="0"/>
                    </a:lnTo>
                    <a:lnTo>
                      <a:pt x="77788" y="77788"/>
                    </a:lnTo>
                  </a:path>
                </a:pathLst>
              </a:custGeom>
              <a:noFill/>
              <a:ln w="22225">
                <a:solidFill>
                  <a:srgbClr val="A8351D"/>
                </a:solidFill>
              </a:ln>
            </p:spPr>
          </p:sp>
        </p:grpSp>
        <p:sp>
          <p:nvSpPr>
            <p:cNvPr id="280" name="TextBox 280"/>
            <p:cNvSpPr txBox="1"/>
            <p:nvPr/>
          </p:nvSpPr>
          <p:spPr>
            <a:xfrm>
              <a:off x="10774591" y="5774293"/>
              <a:ext cx="472618" cy="169069"/>
            </a:xfrm>
            <a:prstGeom prst="rect">
              <a:avLst/>
            </a:prstGeom>
            <a:noFill/>
            <a:ln>
              <a:noFill/>
            </a:ln>
          </p:spPr>
          <p:txBody>
            <a:bodyPr wrap="none" lIns="0" tIns="0" rIns="0" bIns="0" anchor="t" anchorCtr="0">
              <a:spAutoFit/>
            </a:bodyPr>
            <a:lstStyle/>
            <a:p>
              <a:pPr algn="ctr"/>
              <a:r>
                <a:rPr lang="zh-CN" sz="860" dirty="0">
                  <a:solidFill>
                    <a:srgbClr val="5A443F"/>
                  </a:solidFill>
                  <a:latin typeface="+mn-lt"/>
                  <a:ea typeface="+mn-ea"/>
                  <a:cs typeface="+mn-cs"/>
                </a:rPr>
                <a:t>协同收入</a:t>
              </a:r>
            </a:p>
          </p:txBody>
        </p:sp>
        <p:sp>
          <p:nvSpPr>
            <p:cNvPr id="281" name="TextBox 281"/>
            <p:cNvSpPr txBox="1"/>
            <p:nvPr/>
          </p:nvSpPr>
          <p:spPr>
            <a:xfrm>
              <a:off x="10612063" y="6002179"/>
              <a:ext cx="797673" cy="308039"/>
            </a:xfrm>
            <a:prstGeom prst="rect">
              <a:avLst/>
            </a:prstGeom>
            <a:noFill/>
            <a:ln>
              <a:noFill/>
            </a:ln>
          </p:spPr>
          <p:txBody>
            <a:bodyPr wrap="none" lIns="0" tIns="0" rIns="0" bIns="0" anchor="t" anchorCtr="0">
              <a:spAutoFit/>
            </a:bodyPr>
            <a:lstStyle/>
            <a:p>
              <a:pPr algn="ctr"/>
              <a:r>
                <a:rPr lang="zh-CN" sz="1580" b="1" dirty="0">
                  <a:solidFill>
                    <a:srgbClr val="C9462F"/>
                  </a:solidFill>
                  <a:latin typeface="+mn-lt"/>
                  <a:ea typeface="+mn-ea"/>
                  <a:cs typeface="+mn-cs"/>
                </a:rPr>
                <a:t>30%+​​</a:t>
              </a:r>
            </a:p>
          </p:txBody>
        </p:sp>
      </p:gr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04</a:t>
              </a:r>
            </a:p>
          </p:txBody>
        </p:sp>
        <p:sp>
          <p:nvSpPr>
            <p:cNvPr id="4" name="TextBox 4"/>
            <p:cNvSpPr txBox="1"/>
            <p:nvPr/>
          </p:nvSpPr>
          <p:spPr>
            <a:xfrm>
              <a:off x="904494" y="170498"/>
              <a:ext cx="5844540"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客群分层｜建立四类联动客群与差异化经营策略</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10" name="method-line"/>
          <p:cNvGrpSpPr/>
          <p:nvPr/>
        </p:nvGrpSpPr>
        <p:grpSpPr>
          <a:xfrm>
            <a:off x="3143250" y="732949"/>
            <a:ext cx="5905500" cy="190690"/>
            <a:chOff x="3143250" y="732949"/>
            <a:chExt cx="5905500" cy="190690"/>
          </a:xfrm>
        </p:grpSpPr>
        <p:sp>
          <p:nvSpPr>
            <p:cNvPr id="7" name="Line 7"/>
            <p:cNvSpPr/>
            <p:nvPr/>
          </p:nvSpPr>
          <p:spPr>
            <a:xfrm>
              <a:off x="3143250" y="781050"/>
              <a:ext cx="952500" cy="9525"/>
            </a:xfrm>
            <a:custGeom>
              <a:avLst/>
              <a:gdLst/>
              <a:ahLst/>
              <a:cxnLst/>
              <a:rect l="l" t="t" r="r" b="b"/>
              <a:pathLst>
                <a:path w="952500" h="9525">
                  <a:moveTo>
                    <a:pt x="0" y="0"/>
                  </a:moveTo>
                  <a:lnTo>
                    <a:pt x="952500" y="0"/>
                  </a:lnTo>
                </a:path>
              </a:pathLst>
            </a:custGeom>
            <a:noFill/>
            <a:ln w="14288">
              <a:solidFill>
                <a:srgbClr val="D64A2E"/>
              </a:solidFill>
            </a:ln>
          </p:spPr>
        </p:sp>
        <p:sp>
          <p:nvSpPr>
            <p:cNvPr id="8" name="TextBox 8"/>
            <p:cNvSpPr txBox="1"/>
            <p:nvPr/>
          </p:nvSpPr>
          <p:spPr>
            <a:xfrm>
              <a:off x="4362960" y="732949"/>
              <a:ext cx="3466079" cy="190690"/>
            </a:xfrm>
            <a:prstGeom prst="rect">
              <a:avLst/>
            </a:prstGeom>
            <a:noFill/>
            <a:ln>
              <a:noFill/>
            </a:ln>
          </p:spPr>
          <p:txBody>
            <a:bodyPr wrap="none" lIns="0" tIns="0" rIns="0" bIns="0" anchor="t" anchorCtr="0">
              <a:spAutoFit/>
            </a:bodyPr>
            <a:lstStyle/>
            <a:p>
              <a:pPr algn="ctr"/>
              <a:r>
                <a:rPr lang="zh-CN" sz="980" b="1" dirty="0">
                  <a:solidFill>
                    <a:srgbClr val="A8351D"/>
                  </a:solidFill>
                  <a:latin typeface="+mn-lt"/>
                  <a:ea typeface="+mn-ea"/>
                  <a:cs typeface="+mn-cs"/>
                </a:rPr>
                <a:t>分层方法：企业价值×个人价值×生态价值×合作深度​​​​​​</a:t>
              </a:r>
            </a:p>
          </p:txBody>
        </p:sp>
        <p:sp>
          <p:nvSpPr>
            <p:cNvPr id="9" name="Line 9"/>
            <p:cNvSpPr/>
            <p:nvPr/>
          </p:nvSpPr>
          <p:spPr>
            <a:xfrm>
              <a:off x="8096250" y="781050"/>
              <a:ext cx="952500" cy="9525"/>
            </a:xfrm>
            <a:custGeom>
              <a:avLst/>
              <a:gdLst/>
              <a:ahLst/>
              <a:cxnLst/>
              <a:rect l="l" t="t" r="r" b="b"/>
              <a:pathLst>
                <a:path w="952500" h="9525">
                  <a:moveTo>
                    <a:pt x="0" y="0"/>
                  </a:moveTo>
                  <a:lnTo>
                    <a:pt x="952500" y="0"/>
                  </a:lnTo>
                </a:path>
              </a:pathLst>
            </a:custGeom>
            <a:noFill/>
            <a:ln w="14288">
              <a:solidFill>
                <a:srgbClr val="D64A2E"/>
              </a:solidFill>
            </a:ln>
          </p:spPr>
        </p:sp>
      </p:grpSp>
      <p:grpSp>
        <p:nvGrpSpPr>
          <p:cNvPr id="76" name="quadrant-matrix"/>
          <p:cNvGrpSpPr/>
          <p:nvPr/>
        </p:nvGrpSpPr>
        <p:grpSpPr>
          <a:xfrm>
            <a:off x="414338" y="1009650"/>
            <a:ext cx="11369040" cy="2892266"/>
            <a:chOff x="414338" y="1009650"/>
            <a:chExt cx="11369040" cy="2892266"/>
          </a:xfrm>
        </p:grpSpPr>
        <p:sp>
          <p:nvSpPr>
            <p:cNvPr id="11" name="Line 11"/>
            <p:cNvSpPr/>
            <p:nvPr/>
          </p:nvSpPr>
          <p:spPr>
            <a:xfrm flipV="1">
              <a:off x="609600" y="1104900"/>
              <a:ext cx="1" cy="2514600"/>
            </a:xfrm>
            <a:prstGeom prst="line">
              <a:avLst/>
            </a:prstGeom>
            <a:noFill/>
            <a:ln w="14288">
              <a:solidFill>
                <a:srgbClr val="A8351D"/>
              </a:solidFill>
              <a:tailEnd type="triangle" w="lg" len="lg"/>
            </a:ln>
          </p:spPr>
        </p:sp>
        <p:sp>
          <p:nvSpPr>
            <p:cNvPr id="12" name="TextBox 12"/>
            <p:cNvSpPr txBox="1"/>
            <p:nvPr/>
          </p:nvSpPr>
          <p:spPr>
            <a:xfrm>
              <a:off x="427672" y="1138238"/>
              <a:ext cx="110490" cy="147638"/>
            </a:xfrm>
            <a:prstGeom prst="rect">
              <a:avLst/>
            </a:prstGeom>
            <a:noFill/>
            <a:ln>
              <a:noFill/>
            </a:ln>
          </p:spPr>
          <p:txBody>
            <a:bodyPr wrap="none" lIns="0" tIns="0" rIns="0" bIns="0" anchor="t" anchorCtr="0">
              <a:spAutoFit/>
            </a:bodyPr>
            <a:lstStyle/>
            <a:p>
              <a:pPr algn="r"/>
              <a:r>
                <a:rPr lang="zh-CN" sz="750" dirty="0">
                  <a:solidFill>
                    <a:srgbClr val="785F5A"/>
                  </a:solidFill>
                  <a:latin typeface="+mn-lt"/>
                  <a:ea typeface="+mn-ea"/>
                  <a:cs typeface="+mn-cs"/>
                </a:rPr>
                <a:t>高</a:t>
              </a:r>
            </a:p>
          </p:txBody>
        </p:sp>
        <p:sp>
          <p:nvSpPr>
            <p:cNvPr id="13" name="TextBox 13"/>
            <p:cNvSpPr txBox="1"/>
            <p:nvPr/>
          </p:nvSpPr>
          <p:spPr>
            <a:xfrm>
              <a:off x="427672" y="3481388"/>
              <a:ext cx="110490" cy="147638"/>
            </a:xfrm>
            <a:prstGeom prst="rect">
              <a:avLst/>
            </a:prstGeom>
            <a:noFill/>
            <a:ln>
              <a:noFill/>
            </a:ln>
          </p:spPr>
          <p:txBody>
            <a:bodyPr wrap="none" lIns="0" tIns="0" rIns="0" bIns="0" anchor="t" anchorCtr="0">
              <a:spAutoFit/>
            </a:bodyPr>
            <a:lstStyle/>
            <a:p>
              <a:pPr algn="r"/>
              <a:r>
                <a:rPr lang="zh-CN" sz="750" dirty="0">
                  <a:solidFill>
                    <a:srgbClr val="785F5A"/>
                  </a:solidFill>
                  <a:latin typeface="+mn-lt"/>
                  <a:ea typeface="+mn-ea"/>
                  <a:cs typeface="+mn-cs"/>
                </a:rPr>
                <a:t>低</a:t>
              </a:r>
            </a:p>
          </p:txBody>
        </p:sp>
        <p:sp>
          <p:nvSpPr>
            <p:cNvPr id="14" name="TextBox 14"/>
            <p:cNvSpPr txBox="1"/>
            <p:nvPr/>
          </p:nvSpPr>
          <p:spPr>
            <a:xfrm>
              <a:off x="414338" y="1530191"/>
              <a:ext cx="113665" cy="790575"/>
            </a:xfrm>
            <a:prstGeom prst="rect">
              <a:avLst/>
            </a:prstGeom>
            <a:noFill/>
            <a:ln>
              <a:noFill/>
            </a:ln>
          </p:spPr>
          <p:txBody>
            <a:bodyPr wrap="none" lIns="0" tIns="0" rIns="0" bIns="0" anchor="t" anchorCtr="0">
              <a:spAutoFit/>
            </a:bodyPr>
            <a:lstStyle/>
            <a:p>
              <a:pPr algn="l">
                <a:lnSpc>
                  <a:spcPts val="1650"/>
                </a:lnSpc>
              </a:pPr>
              <a:r>
                <a:rPr lang="zh-CN" sz="820" b="1" dirty="0">
                  <a:solidFill>
                    <a:srgbClr val="67281B"/>
                  </a:solidFill>
                  <a:latin typeface="+mn-lt"/>
                  <a:ea typeface="+mn-ea"/>
                  <a:cs typeface="+mn-cs"/>
                </a:rPr>
                <a:t>联</a:t>
              </a:r>
              <a:br/>
              <a:r>
                <a:rPr lang="zh-CN" sz="820" b="1" dirty="0">
                  <a:solidFill>
                    <a:srgbClr val="67281B"/>
                  </a:solidFill>
                  <a:latin typeface="+mn-lt"/>
                  <a:ea typeface="+mn-ea"/>
                  <a:cs typeface="+mn-cs"/>
                </a:rPr>
                <a:t>动</a:t>
              </a:r>
              <a:br/>
              <a:r>
                <a:rPr lang="zh-CN" sz="820" b="1" dirty="0">
                  <a:solidFill>
                    <a:srgbClr val="67281B"/>
                  </a:solidFill>
                  <a:latin typeface="+mn-lt"/>
                  <a:ea typeface="+mn-ea"/>
                  <a:cs typeface="+mn-cs"/>
                </a:rPr>
                <a:t>潜</a:t>
              </a:r>
              <a:br/>
              <a:r>
                <a:rPr lang="zh-CN" sz="820" b="1" dirty="0">
                  <a:solidFill>
                    <a:srgbClr val="67281B"/>
                  </a:solidFill>
                  <a:latin typeface="+mn-lt"/>
                  <a:ea typeface="+mn-ea"/>
                  <a:cs typeface="+mn-cs"/>
                </a:rPr>
                <a:t>力</a:t>
              </a:r>
            </a:p>
          </p:txBody>
        </p:sp>
        <p:sp>
          <p:nvSpPr>
            <p:cNvPr id="15" name="Rectangle 15"/>
            <p:cNvSpPr/>
            <p:nvPr/>
          </p:nvSpPr>
          <p:spPr>
            <a:xfrm>
              <a:off x="723900" y="1009650"/>
              <a:ext cx="5448300" cy="1276350"/>
            </a:xfrm>
            <a:prstGeom prst="rect">
              <a:avLst/>
            </a:prstGeom>
            <a:solidFill>
              <a:srgbClr val="6E2A1C"/>
            </a:solidFill>
            <a:ln>
              <a:noFill/>
            </a:ln>
          </p:spPr>
        </p:sp>
        <p:sp>
          <p:nvSpPr>
            <p:cNvPr id="16" name="Rectangle 16"/>
            <p:cNvSpPr/>
            <p:nvPr/>
          </p:nvSpPr>
          <p:spPr>
            <a:xfrm>
              <a:off x="6229350" y="1009650"/>
              <a:ext cx="5448300" cy="1276350"/>
            </a:xfrm>
            <a:prstGeom prst="rect">
              <a:avLst/>
            </a:prstGeom>
            <a:solidFill>
              <a:srgbClr val="A8351D"/>
            </a:solidFill>
            <a:ln>
              <a:noFill/>
            </a:ln>
          </p:spPr>
        </p:sp>
        <p:sp>
          <p:nvSpPr>
            <p:cNvPr id="17" name="Rectangle 17"/>
            <p:cNvSpPr/>
            <p:nvPr/>
          </p:nvSpPr>
          <p:spPr>
            <a:xfrm>
              <a:off x="723900" y="2343150"/>
              <a:ext cx="5448300" cy="1276350"/>
            </a:xfrm>
            <a:prstGeom prst="rect">
              <a:avLst/>
            </a:prstGeom>
            <a:solidFill>
              <a:srgbClr val="9B260F"/>
            </a:solidFill>
            <a:ln>
              <a:noFill/>
            </a:ln>
          </p:spPr>
        </p:sp>
        <p:sp>
          <p:nvSpPr>
            <p:cNvPr id="18" name="Rectangle 18"/>
            <p:cNvSpPr/>
            <p:nvPr/>
          </p:nvSpPr>
          <p:spPr>
            <a:xfrm>
              <a:off x="6229350" y="2343150"/>
              <a:ext cx="5448300" cy="1276350"/>
            </a:xfrm>
            <a:prstGeom prst="rect">
              <a:avLst/>
            </a:prstGeom>
            <a:solidFill>
              <a:srgbClr val="D5705B"/>
            </a:solidFill>
            <a:ln>
              <a:noFill/>
            </a:ln>
          </p:spPr>
        </p:sp>
        <p:sp>
          <p:nvSpPr>
            <p:cNvPr id="19" name="Ellipse 19"/>
            <p:cNvSpPr/>
            <p:nvPr/>
          </p:nvSpPr>
          <p:spPr>
            <a:xfrm>
              <a:off x="4972050" y="1066800"/>
              <a:ext cx="723900" cy="723900"/>
            </a:xfrm>
            <a:prstGeom prst="ellipse">
              <a:avLst/>
            </a:prstGeom>
            <a:solidFill>
              <a:srgbClr val="FFFFFF">
                <a:alpha val="14000"/>
              </a:srgbClr>
            </a:solidFill>
            <a:ln>
              <a:noFill/>
            </a:ln>
          </p:spPr>
        </p:sp>
        <p:sp>
          <p:nvSpPr>
            <p:cNvPr id="20" name="Ellipse 20"/>
            <p:cNvSpPr/>
            <p:nvPr/>
          </p:nvSpPr>
          <p:spPr>
            <a:xfrm>
              <a:off x="5581650" y="1676400"/>
              <a:ext cx="381000" cy="381000"/>
            </a:xfrm>
            <a:prstGeom prst="ellipse">
              <a:avLst/>
            </a:prstGeom>
            <a:solidFill>
              <a:srgbClr val="FFFFFF">
                <a:alpha val="20000"/>
              </a:srgbClr>
            </a:solidFill>
            <a:ln>
              <a:noFill/>
            </a:ln>
          </p:spPr>
        </p:sp>
        <p:sp>
          <p:nvSpPr>
            <p:cNvPr id="21" name="Ellipse 21"/>
            <p:cNvSpPr/>
            <p:nvPr/>
          </p:nvSpPr>
          <p:spPr>
            <a:xfrm>
              <a:off x="4857750" y="1924050"/>
              <a:ext cx="190500" cy="190500"/>
            </a:xfrm>
            <a:prstGeom prst="ellipse">
              <a:avLst/>
            </a:prstGeom>
            <a:solidFill>
              <a:srgbClr val="FFFFFF">
                <a:alpha val="25000"/>
              </a:srgbClr>
            </a:solidFill>
            <a:ln>
              <a:noFill/>
            </a:ln>
          </p:spPr>
        </p:sp>
        <p:sp>
          <p:nvSpPr>
            <p:cNvPr id="22" name="Ellipse 22"/>
            <p:cNvSpPr/>
            <p:nvPr/>
          </p:nvSpPr>
          <p:spPr>
            <a:xfrm>
              <a:off x="10496550" y="1066800"/>
              <a:ext cx="723900" cy="723900"/>
            </a:xfrm>
            <a:prstGeom prst="ellipse">
              <a:avLst/>
            </a:prstGeom>
            <a:solidFill>
              <a:srgbClr val="FFFFFF">
                <a:alpha val="14000"/>
              </a:srgbClr>
            </a:solidFill>
            <a:ln>
              <a:noFill/>
            </a:ln>
          </p:spPr>
        </p:sp>
        <p:sp>
          <p:nvSpPr>
            <p:cNvPr id="23" name="Ellipse 23"/>
            <p:cNvSpPr/>
            <p:nvPr/>
          </p:nvSpPr>
          <p:spPr>
            <a:xfrm>
              <a:off x="11106150" y="1676400"/>
              <a:ext cx="381000" cy="381000"/>
            </a:xfrm>
            <a:prstGeom prst="ellipse">
              <a:avLst/>
            </a:prstGeom>
            <a:solidFill>
              <a:srgbClr val="FFFFFF">
                <a:alpha val="20000"/>
              </a:srgbClr>
            </a:solidFill>
            <a:ln>
              <a:noFill/>
            </a:ln>
          </p:spPr>
        </p:sp>
        <p:sp>
          <p:nvSpPr>
            <p:cNvPr id="24" name="Ellipse 24"/>
            <p:cNvSpPr/>
            <p:nvPr/>
          </p:nvSpPr>
          <p:spPr>
            <a:xfrm>
              <a:off x="10382250" y="1924050"/>
              <a:ext cx="190500" cy="190500"/>
            </a:xfrm>
            <a:prstGeom prst="ellipse">
              <a:avLst/>
            </a:prstGeom>
            <a:solidFill>
              <a:srgbClr val="FFFFFF">
                <a:alpha val="25000"/>
              </a:srgbClr>
            </a:solidFill>
            <a:ln>
              <a:noFill/>
            </a:ln>
          </p:spPr>
        </p:sp>
        <p:sp>
          <p:nvSpPr>
            <p:cNvPr id="25" name="Ellipse 25"/>
            <p:cNvSpPr/>
            <p:nvPr/>
          </p:nvSpPr>
          <p:spPr>
            <a:xfrm>
              <a:off x="4972050" y="2400300"/>
              <a:ext cx="723900" cy="723900"/>
            </a:xfrm>
            <a:prstGeom prst="ellipse">
              <a:avLst/>
            </a:prstGeom>
            <a:solidFill>
              <a:srgbClr val="FFFFFF">
                <a:alpha val="14000"/>
              </a:srgbClr>
            </a:solidFill>
            <a:ln>
              <a:noFill/>
            </a:ln>
          </p:spPr>
        </p:sp>
        <p:sp>
          <p:nvSpPr>
            <p:cNvPr id="26" name="Ellipse 26"/>
            <p:cNvSpPr/>
            <p:nvPr/>
          </p:nvSpPr>
          <p:spPr>
            <a:xfrm>
              <a:off x="5581650" y="3009900"/>
              <a:ext cx="381000" cy="381000"/>
            </a:xfrm>
            <a:prstGeom prst="ellipse">
              <a:avLst/>
            </a:prstGeom>
            <a:solidFill>
              <a:srgbClr val="FFFFFF">
                <a:alpha val="20000"/>
              </a:srgbClr>
            </a:solidFill>
            <a:ln>
              <a:noFill/>
            </a:ln>
          </p:spPr>
        </p:sp>
        <p:sp>
          <p:nvSpPr>
            <p:cNvPr id="27" name="Ellipse 27"/>
            <p:cNvSpPr/>
            <p:nvPr/>
          </p:nvSpPr>
          <p:spPr>
            <a:xfrm>
              <a:off x="4857750" y="3257550"/>
              <a:ext cx="190500" cy="190500"/>
            </a:xfrm>
            <a:prstGeom prst="ellipse">
              <a:avLst/>
            </a:prstGeom>
            <a:solidFill>
              <a:srgbClr val="FFFFFF">
                <a:alpha val="25000"/>
              </a:srgbClr>
            </a:solidFill>
            <a:ln>
              <a:noFill/>
            </a:ln>
          </p:spPr>
        </p:sp>
        <p:sp>
          <p:nvSpPr>
            <p:cNvPr id="28" name="Ellipse 28"/>
            <p:cNvSpPr/>
            <p:nvPr/>
          </p:nvSpPr>
          <p:spPr>
            <a:xfrm>
              <a:off x="10496550" y="2400300"/>
              <a:ext cx="723900" cy="723900"/>
            </a:xfrm>
            <a:prstGeom prst="ellipse">
              <a:avLst/>
            </a:prstGeom>
            <a:solidFill>
              <a:srgbClr val="FFFFFF">
                <a:alpha val="14000"/>
              </a:srgbClr>
            </a:solidFill>
            <a:ln>
              <a:noFill/>
            </a:ln>
          </p:spPr>
        </p:sp>
        <p:sp>
          <p:nvSpPr>
            <p:cNvPr id="29" name="Ellipse 29"/>
            <p:cNvSpPr/>
            <p:nvPr/>
          </p:nvSpPr>
          <p:spPr>
            <a:xfrm>
              <a:off x="11106150" y="3009900"/>
              <a:ext cx="381000" cy="381000"/>
            </a:xfrm>
            <a:prstGeom prst="ellipse">
              <a:avLst/>
            </a:prstGeom>
            <a:solidFill>
              <a:srgbClr val="FFFFFF">
                <a:alpha val="20000"/>
              </a:srgbClr>
            </a:solidFill>
            <a:ln>
              <a:noFill/>
            </a:ln>
          </p:spPr>
        </p:sp>
        <p:sp>
          <p:nvSpPr>
            <p:cNvPr id="30" name="Ellipse 30"/>
            <p:cNvSpPr/>
            <p:nvPr/>
          </p:nvSpPr>
          <p:spPr>
            <a:xfrm>
              <a:off x="10382250" y="3257550"/>
              <a:ext cx="190500" cy="190500"/>
            </a:xfrm>
            <a:prstGeom prst="ellipse">
              <a:avLst/>
            </a:prstGeom>
            <a:solidFill>
              <a:srgbClr val="FFFFFF">
                <a:alpha val="25000"/>
              </a:srgbClr>
            </a:solidFill>
            <a:ln>
              <a:noFill/>
            </a:ln>
          </p:spPr>
        </p:sp>
        <p:sp>
          <p:nvSpPr>
            <p:cNvPr id="31" name="Ellipse 31"/>
            <p:cNvSpPr/>
            <p:nvPr/>
          </p:nvSpPr>
          <p:spPr>
            <a:xfrm>
              <a:off x="962025" y="1400175"/>
              <a:ext cx="476250" cy="476250"/>
            </a:xfrm>
            <a:prstGeom prst="ellipse">
              <a:avLst/>
            </a:prstGeom>
            <a:solidFill>
              <a:srgbClr val="FFFFFF">
                <a:alpha val="16000"/>
              </a:srgbClr>
            </a:solidFill>
            <a:ln w="11430">
              <a:solidFill>
                <a:srgbClr val="FFFFFF"/>
              </a:solidFill>
            </a:ln>
          </p:spPr>
        </p:sp>
        <p:grpSp>
          <p:nvGrpSpPr>
            <p:cNvPr id="40" name="Group 40"/>
            <p:cNvGrpSpPr/>
            <p:nvPr/>
          </p:nvGrpSpPr>
          <p:grpSpPr>
            <a:xfrm>
              <a:off x="1092994" y="1531144"/>
              <a:ext cx="214312" cy="223837"/>
              <a:chOff x="1092994" y="1531144"/>
              <a:chExt cx="214312" cy="223837"/>
            </a:xfrm>
          </p:grpSpPr>
          <p:sp>
            <p:nvSpPr>
              <p:cNvPr id="32" name="Freeform 32"/>
              <p:cNvSpPr/>
              <p:nvPr/>
            </p:nvSpPr>
            <p:spPr>
              <a:xfrm>
                <a:off x="1092994" y="1745456"/>
                <a:ext cx="214312" cy="9525"/>
              </a:xfrm>
              <a:custGeom>
                <a:avLst/>
                <a:gdLst/>
                <a:ahLst/>
                <a:cxnLst/>
                <a:rect l="l" t="t" r="r" b="b"/>
                <a:pathLst>
                  <a:path w="214312" h="9525">
                    <a:moveTo>
                      <a:pt x="0" y="0"/>
                    </a:moveTo>
                    <a:lnTo>
                      <a:pt x="214312" y="0"/>
                    </a:lnTo>
                  </a:path>
                </a:pathLst>
              </a:custGeom>
              <a:noFill/>
              <a:ln w="23812">
                <a:solidFill>
                  <a:srgbClr val="FFFFFF"/>
                </a:solidFill>
              </a:ln>
            </p:spPr>
          </p:sp>
          <p:sp>
            <p:nvSpPr>
              <p:cNvPr id="33" name="Freeform 33"/>
              <p:cNvSpPr/>
              <p:nvPr/>
            </p:nvSpPr>
            <p:spPr>
              <a:xfrm>
                <a:off x="1092994" y="1614488"/>
                <a:ext cx="214312" cy="9525"/>
              </a:xfrm>
              <a:custGeom>
                <a:avLst/>
                <a:gdLst/>
                <a:ahLst/>
                <a:cxnLst/>
                <a:rect l="l" t="t" r="r" b="b"/>
                <a:pathLst>
                  <a:path w="214312" h="9525">
                    <a:moveTo>
                      <a:pt x="0" y="0"/>
                    </a:moveTo>
                    <a:lnTo>
                      <a:pt x="214312" y="0"/>
                    </a:lnTo>
                  </a:path>
                </a:pathLst>
              </a:custGeom>
              <a:noFill/>
              <a:ln w="23812">
                <a:solidFill>
                  <a:srgbClr val="FFFFFF"/>
                </a:solidFill>
              </a:ln>
            </p:spPr>
          </p:sp>
          <p:sp>
            <p:nvSpPr>
              <p:cNvPr id="34" name="Freeform 34"/>
              <p:cNvSpPr/>
              <p:nvPr/>
            </p:nvSpPr>
            <p:spPr>
              <a:xfrm>
                <a:off x="1116806" y="1531144"/>
                <a:ext cx="166688" cy="35719"/>
              </a:xfrm>
              <a:custGeom>
                <a:avLst/>
                <a:gdLst/>
                <a:ahLst/>
                <a:cxnLst/>
                <a:rect l="l" t="t" r="r" b="b"/>
                <a:pathLst>
                  <a:path w="166688" h="35719">
                    <a:moveTo>
                      <a:pt x="0" y="35719"/>
                    </a:moveTo>
                    <a:lnTo>
                      <a:pt x="83344" y="0"/>
                    </a:lnTo>
                    <a:lnTo>
                      <a:pt x="166688" y="35719"/>
                    </a:lnTo>
                  </a:path>
                </a:pathLst>
              </a:custGeom>
              <a:noFill/>
              <a:ln w="23812">
                <a:solidFill>
                  <a:srgbClr val="FFFFFF"/>
                </a:solidFill>
              </a:ln>
            </p:spPr>
          </p:sp>
          <p:sp>
            <p:nvSpPr>
              <p:cNvPr id="35" name="Freeform 35"/>
              <p:cNvSpPr/>
              <p:nvPr/>
            </p:nvSpPr>
            <p:spPr>
              <a:xfrm>
                <a:off x="1104900" y="1614488"/>
                <a:ext cx="9525" cy="130969"/>
              </a:xfrm>
              <a:custGeom>
                <a:avLst/>
                <a:gdLst/>
                <a:ahLst/>
                <a:cxnLst/>
                <a:rect l="l" t="t" r="r" b="b"/>
                <a:pathLst>
                  <a:path w="9525" h="130969">
                    <a:moveTo>
                      <a:pt x="0" y="0"/>
                    </a:moveTo>
                    <a:lnTo>
                      <a:pt x="0" y="130969"/>
                    </a:lnTo>
                  </a:path>
                </a:pathLst>
              </a:custGeom>
              <a:noFill/>
              <a:ln w="23812">
                <a:solidFill>
                  <a:srgbClr val="FFFFFF"/>
                </a:solidFill>
              </a:ln>
            </p:spPr>
          </p:sp>
          <p:sp>
            <p:nvSpPr>
              <p:cNvPr id="36" name="Freeform 36"/>
              <p:cNvSpPr/>
              <p:nvPr/>
            </p:nvSpPr>
            <p:spPr>
              <a:xfrm>
                <a:off x="1295400" y="1614488"/>
                <a:ext cx="9525" cy="130969"/>
              </a:xfrm>
              <a:custGeom>
                <a:avLst/>
                <a:gdLst/>
                <a:ahLst/>
                <a:cxnLst/>
                <a:rect l="l" t="t" r="r" b="b"/>
                <a:pathLst>
                  <a:path w="9525" h="130969">
                    <a:moveTo>
                      <a:pt x="0" y="0"/>
                    </a:moveTo>
                    <a:lnTo>
                      <a:pt x="0" y="130969"/>
                    </a:lnTo>
                  </a:path>
                </a:pathLst>
              </a:custGeom>
              <a:noFill/>
              <a:ln w="23812">
                <a:solidFill>
                  <a:srgbClr val="FFFFFF"/>
                </a:solidFill>
              </a:ln>
            </p:spPr>
          </p:sp>
          <p:sp>
            <p:nvSpPr>
              <p:cNvPr id="37" name="Freeform 37"/>
              <p:cNvSpPr/>
              <p:nvPr/>
            </p:nvSpPr>
            <p:spPr>
              <a:xfrm>
                <a:off x="1152525" y="1662112"/>
                <a:ext cx="9525" cy="35719"/>
              </a:xfrm>
              <a:custGeom>
                <a:avLst/>
                <a:gdLst/>
                <a:ahLst/>
                <a:cxnLst/>
                <a:rect l="l" t="t" r="r" b="b"/>
                <a:pathLst>
                  <a:path w="9525" h="35719">
                    <a:moveTo>
                      <a:pt x="0" y="0"/>
                    </a:moveTo>
                    <a:lnTo>
                      <a:pt x="0" y="35719"/>
                    </a:lnTo>
                  </a:path>
                </a:pathLst>
              </a:custGeom>
              <a:noFill/>
              <a:ln w="23812">
                <a:solidFill>
                  <a:srgbClr val="FFFFFF"/>
                </a:solidFill>
              </a:ln>
            </p:spPr>
          </p:sp>
          <p:sp>
            <p:nvSpPr>
              <p:cNvPr id="38" name="Freeform 38"/>
              <p:cNvSpPr/>
              <p:nvPr/>
            </p:nvSpPr>
            <p:spPr>
              <a:xfrm>
                <a:off x="1200150" y="1662112"/>
                <a:ext cx="9525" cy="35719"/>
              </a:xfrm>
              <a:custGeom>
                <a:avLst/>
                <a:gdLst/>
                <a:ahLst/>
                <a:cxnLst/>
                <a:rect l="l" t="t" r="r" b="b"/>
                <a:pathLst>
                  <a:path w="9525" h="35719">
                    <a:moveTo>
                      <a:pt x="0" y="0"/>
                    </a:moveTo>
                    <a:lnTo>
                      <a:pt x="0" y="35719"/>
                    </a:lnTo>
                  </a:path>
                </a:pathLst>
              </a:custGeom>
              <a:noFill/>
              <a:ln w="23812">
                <a:solidFill>
                  <a:srgbClr val="FFFFFF"/>
                </a:solidFill>
              </a:ln>
            </p:spPr>
          </p:sp>
          <p:sp>
            <p:nvSpPr>
              <p:cNvPr id="39" name="Freeform 39"/>
              <p:cNvSpPr/>
              <p:nvPr/>
            </p:nvSpPr>
            <p:spPr>
              <a:xfrm>
                <a:off x="1247775" y="1662112"/>
                <a:ext cx="9525" cy="35719"/>
              </a:xfrm>
              <a:custGeom>
                <a:avLst/>
                <a:gdLst/>
                <a:ahLst/>
                <a:cxnLst/>
                <a:rect l="l" t="t" r="r" b="b"/>
                <a:pathLst>
                  <a:path w="9525" h="35719">
                    <a:moveTo>
                      <a:pt x="0" y="0"/>
                    </a:moveTo>
                    <a:lnTo>
                      <a:pt x="0" y="35719"/>
                    </a:lnTo>
                  </a:path>
                </a:pathLst>
              </a:custGeom>
              <a:noFill/>
              <a:ln w="23812">
                <a:solidFill>
                  <a:srgbClr val="FFFFFF"/>
                </a:solidFill>
              </a:ln>
            </p:spPr>
          </p:sp>
        </p:grpSp>
        <p:sp>
          <p:nvSpPr>
            <p:cNvPr id="41" name="TextBox 41"/>
            <p:cNvSpPr txBox="1"/>
            <p:nvPr/>
          </p:nvSpPr>
          <p:spPr>
            <a:xfrm>
              <a:off x="1574292" y="1302068"/>
              <a:ext cx="106146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A战略联动​​</a:t>
              </a:r>
            </a:p>
          </p:txBody>
        </p:sp>
        <p:sp>
          <p:nvSpPr>
            <p:cNvPr id="42" name="TextBox 42"/>
            <p:cNvSpPr txBox="1"/>
            <p:nvPr/>
          </p:nvSpPr>
          <p:spPr>
            <a:xfrm>
              <a:off x="1576388" y="1617345"/>
              <a:ext cx="1788262" cy="176212"/>
            </a:xfrm>
            <a:prstGeom prst="rect">
              <a:avLst/>
            </a:prstGeom>
            <a:noFill/>
            <a:ln>
              <a:noFill/>
            </a:ln>
          </p:spPr>
          <p:txBody>
            <a:bodyPr wrap="none" lIns="0" tIns="0" rIns="0" bIns="0" anchor="t" anchorCtr="0">
              <a:spAutoFit/>
            </a:bodyPr>
            <a:lstStyle/>
            <a:p>
              <a:pPr algn="l"/>
              <a:r>
                <a:rPr lang="zh-CN" sz="900" dirty="0">
                  <a:solidFill>
                    <a:srgbClr val="E8EEF9"/>
                  </a:solidFill>
                  <a:latin typeface="+mn-lt"/>
                  <a:ea typeface="+mn-ea"/>
                  <a:cs typeface="+mn-cs"/>
                </a:rPr>
                <a:t>A央国企、上市公司、大型集团​​</a:t>
              </a:r>
            </a:p>
          </p:txBody>
        </p:sp>
        <p:sp>
          <p:nvSpPr>
            <p:cNvPr id="43" name="TextBox 43"/>
            <p:cNvSpPr txBox="1"/>
            <p:nvPr/>
          </p:nvSpPr>
          <p:spPr>
            <a:xfrm>
              <a:off x="1576388" y="1864995"/>
              <a:ext cx="1705737" cy="176212"/>
            </a:xfrm>
            <a:prstGeom prst="rect">
              <a:avLst/>
            </a:prstGeom>
            <a:noFill/>
            <a:ln>
              <a:noFill/>
            </a:ln>
          </p:spPr>
          <p:txBody>
            <a:bodyPr wrap="none" lIns="0" tIns="0" rIns="0" bIns="0" anchor="t" anchorCtr="0">
              <a:spAutoFit/>
            </a:bodyPr>
            <a:lstStyle/>
            <a:p>
              <a:pPr algn="l"/>
              <a:r>
                <a:rPr lang="zh-CN" sz="900" b="1" dirty="0">
                  <a:solidFill>
                    <a:srgbClr val="E58878"/>
                  </a:solidFill>
                  <a:latin typeface="+mn-lt"/>
                  <a:ea typeface="+mn-ea"/>
                  <a:cs typeface="+mn-cs"/>
                </a:rPr>
                <a:t>高层牵引｜综合授信｜私行服务</a:t>
              </a:r>
            </a:p>
          </p:txBody>
        </p:sp>
        <p:sp>
          <p:nvSpPr>
            <p:cNvPr id="44" name="Ellipse 44"/>
            <p:cNvSpPr/>
            <p:nvPr/>
          </p:nvSpPr>
          <p:spPr>
            <a:xfrm>
              <a:off x="6467475" y="1400175"/>
              <a:ext cx="476250" cy="476250"/>
            </a:xfrm>
            <a:prstGeom prst="ellipse">
              <a:avLst/>
            </a:prstGeom>
            <a:solidFill>
              <a:srgbClr val="FFFFFF">
                <a:alpha val="16000"/>
              </a:srgbClr>
            </a:solidFill>
            <a:ln w="11430">
              <a:solidFill>
                <a:srgbClr val="FFFFFF"/>
              </a:solidFill>
            </a:ln>
          </p:spPr>
        </p:sp>
        <p:grpSp>
          <p:nvGrpSpPr>
            <p:cNvPr id="51" name="Group 51"/>
            <p:cNvGrpSpPr/>
            <p:nvPr/>
          </p:nvGrpSpPr>
          <p:grpSpPr>
            <a:xfrm>
              <a:off x="6598444" y="1531144"/>
              <a:ext cx="214312" cy="214313"/>
              <a:chOff x="6598444" y="1531144"/>
              <a:chExt cx="214312" cy="214313"/>
            </a:xfrm>
          </p:grpSpPr>
          <p:sp>
            <p:nvSpPr>
              <p:cNvPr id="45" name="Freeform 45"/>
              <p:cNvSpPr/>
              <p:nvPr/>
            </p:nvSpPr>
            <p:spPr>
              <a:xfrm>
                <a:off x="6681788" y="162639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FFFFFF"/>
                </a:solidFill>
              </a:ln>
            </p:spPr>
          </p:sp>
          <p:sp>
            <p:nvSpPr>
              <p:cNvPr id="46" name="Freeform 46"/>
              <p:cNvSpPr/>
              <p:nvPr/>
            </p:nvSpPr>
            <p:spPr>
              <a:xfrm>
                <a:off x="6657975" y="1709738"/>
                <a:ext cx="95250" cy="35719"/>
              </a:xfrm>
              <a:custGeom>
                <a:avLst/>
                <a:gdLst/>
                <a:ahLst/>
                <a:cxnLst/>
                <a:rect l="l" t="t" r="r" b="b"/>
                <a:pathLst>
                  <a:path w="95250" h="35719">
                    <a:moveTo>
                      <a:pt x="0" y="35719"/>
                    </a:moveTo>
                    <a:lnTo>
                      <a:pt x="0" y="23812"/>
                    </a:lnTo>
                    <a:cubicBezTo>
                      <a:pt x="0" y="10661"/>
                      <a:pt x="10661" y="0"/>
                      <a:pt x="23812" y="0"/>
                    </a:cubicBezTo>
                    <a:lnTo>
                      <a:pt x="71438" y="0"/>
                    </a:lnTo>
                    <a:cubicBezTo>
                      <a:pt x="84589" y="0"/>
                      <a:pt x="95250" y="10661"/>
                      <a:pt x="95250" y="23812"/>
                    </a:cubicBezTo>
                    <a:lnTo>
                      <a:pt x="95250" y="35719"/>
                    </a:lnTo>
                  </a:path>
                </a:pathLst>
              </a:custGeom>
              <a:noFill/>
              <a:ln w="23812">
                <a:solidFill>
                  <a:srgbClr val="FFFFFF"/>
                </a:solidFill>
              </a:ln>
            </p:spPr>
          </p:sp>
          <p:sp>
            <p:nvSpPr>
              <p:cNvPr id="47" name="Freeform 47"/>
              <p:cNvSpPr/>
              <p:nvPr/>
            </p:nvSpPr>
            <p:spPr>
              <a:xfrm>
                <a:off x="6741319" y="153114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FFFFFF"/>
                </a:solidFill>
              </a:ln>
            </p:spPr>
          </p:sp>
          <p:sp>
            <p:nvSpPr>
              <p:cNvPr id="48" name="Freeform 48"/>
              <p:cNvSpPr/>
              <p:nvPr/>
            </p:nvSpPr>
            <p:spPr>
              <a:xfrm>
                <a:off x="6765131" y="1614488"/>
                <a:ext cx="47625" cy="35719"/>
              </a:xfrm>
              <a:custGeom>
                <a:avLst/>
                <a:gdLst/>
                <a:ahLst/>
                <a:cxnLst/>
                <a:rect l="l" t="t" r="r" b="b"/>
                <a:pathLst>
                  <a:path w="47625" h="35719">
                    <a:moveTo>
                      <a:pt x="0" y="0"/>
                    </a:moveTo>
                    <a:lnTo>
                      <a:pt x="23812" y="0"/>
                    </a:lnTo>
                    <a:cubicBezTo>
                      <a:pt x="36964" y="0"/>
                      <a:pt x="47625" y="10661"/>
                      <a:pt x="47625" y="23812"/>
                    </a:cubicBezTo>
                    <a:lnTo>
                      <a:pt x="47625" y="35719"/>
                    </a:lnTo>
                  </a:path>
                </a:pathLst>
              </a:custGeom>
              <a:noFill/>
              <a:ln w="23812">
                <a:solidFill>
                  <a:srgbClr val="FFFFFF"/>
                </a:solidFill>
              </a:ln>
            </p:spPr>
          </p:sp>
          <p:sp>
            <p:nvSpPr>
              <p:cNvPr id="49" name="Freeform 49"/>
              <p:cNvSpPr/>
              <p:nvPr/>
            </p:nvSpPr>
            <p:spPr>
              <a:xfrm>
                <a:off x="6622256" y="153114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FFFFFF"/>
                </a:solidFill>
              </a:ln>
            </p:spPr>
          </p:sp>
          <p:sp>
            <p:nvSpPr>
              <p:cNvPr id="50" name="Freeform 50"/>
              <p:cNvSpPr/>
              <p:nvPr/>
            </p:nvSpPr>
            <p:spPr>
              <a:xfrm>
                <a:off x="6598444" y="1614488"/>
                <a:ext cx="47625" cy="35719"/>
              </a:xfrm>
              <a:custGeom>
                <a:avLst/>
                <a:gdLst/>
                <a:ahLst/>
                <a:cxnLst/>
                <a:rect l="l" t="t" r="r" b="b"/>
                <a:pathLst>
                  <a:path w="47625" h="35719">
                    <a:moveTo>
                      <a:pt x="0" y="35719"/>
                    </a:moveTo>
                    <a:lnTo>
                      <a:pt x="0" y="23812"/>
                    </a:lnTo>
                    <a:cubicBezTo>
                      <a:pt x="0" y="10661"/>
                      <a:pt x="10661" y="0"/>
                      <a:pt x="23812" y="0"/>
                    </a:cubicBezTo>
                    <a:lnTo>
                      <a:pt x="47625" y="0"/>
                    </a:lnTo>
                  </a:path>
                </a:pathLst>
              </a:custGeom>
              <a:noFill/>
              <a:ln w="23812">
                <a:solidFill>
                  <a:srgbClr val="FFFFFF"/>
                </a:solidFill>
              </a:ln>
            </p:spPr>
          </p:sp>
        </p:grpSp>
        <p:sp>
          <p:nvSpPr>
            <p:cNvPr id="52" name="TextBox 52"/>
            <p:cNvSpPr txBox="1"/>
            <p:nvPr/>
          </p:nvSpPr>
          <p:spPr>
            <a:xfrm>
              <a:off x="7079742" y="1302068"/>
              <a:ext cx="106146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B规模转化​​</a:t>
              </a:r>
            </a:p>
          </p:txBody>
        </p:sp>
        <p:sp>
          <p:nvSpPr>
            <p:cNvPr id="53" name="TextBox 53"/>
            <p:cNvSpPr txBox="1"/>
            <p:nvPr/>
          </p:nvSpPr>
          <p:spPr>
            <a:xfrm>
              <a:off x="7081838" y="1617345"/>
              <a:ext cx="1099947" cy="176212"/>
            </a:xfrm>
            <a:prstGeom prst="rect">
              <a:avLst/>
            </a:prstGeom>
            <a:noFill/>
            <a:ln>
              <a:noFill/>
            </a:ln>
          </p:spPr>
          <p:txBody>
            <a:bodyPr wrap="none" lIns="0" tIns="0" rIns="0" bIns="0" anchor="t" anchorCtr="0">
              <a:spAutoFit/>
            </a:bodyPr>
            <a:lstStyle/>
            <a:p>
              <a:pPr algn="l"/>
              <a:r>
                <a:rPr lang="zh-CN" sz="900" dirty="0">
                  <a:solidFill>
                    <a:srgbClr val="E8EEF9"/>
                  </a:solidFill>
                  <a:latin typeface="+mn-lt"/>
                  <a:ea typeface="+mn-ea"/>
                  <a:cs typeface="+mn-cs"/>
                </a:rPr>
                <a:t>员工多、代发潜力高</a:t>
              </a:r>
            </a:p>
          </p:txBody>
        </p:sp>
        <p:sp>
          <p:nvSpPr>
            <p:cNvPr id="54" name="TextBox 54"/>
            <p:cNvSpPr txBox="1"/>
            <p:nvPr/>
          </p:nvSpPr>
          <p:spPr>
            <a:xfrm>
              <a:off x="7081838" y="1864995"/>
              <a:ext cx="1705737" cy="176212"/>
            </a:xfrm>
            <a:prstGeom prst="rect">
              <a:avLst/>
            </a:prstGeom>
            <a:noFill/>
            <a:ln>
              <a:noFill/>
            </a:ln>
          </p:spPr>
          <p:txBody>
            <a:bodyPr wrap="none" lIns="0" tIns="0" rIns="0" bIns="0" anchor="t" anchorCtr="0">
              <a:spAutoFit/>
            </a:bodyPr>
            <a:lstStyle/>
            <a:p>
              <a:pPr algn="l"/>
              <a:r>
                <a:rPr lang="zh-CN" sz="900" b="1" dirty="0">
                  <a:solidFill>
                    <a:srgbClr val="E58878"/>
                  </a:solidFill>
                  <a:latin typeface="+mn-lt"/>
                  <a:ea typeface="+mn-ea"/>
                  <a:cs typeface="+mn-cs"/>
                </a:rPr>
                <a:t>批量获客｜薪福运营｜员工激活</a:t>
              </a:r>
            </a:p>
          </p:txBody>
        </p:sp>
        <p:sp>
          <p:nvSpPr>
            <p:cNvPr id="55" name="Ellipse 55"/>
            <p:cNvSpPr/>
            <p:nvPr/>
          </p:nvSpPr>
          <p:spPr>
            <a:xfrm>
              <a:off x="962025" y="2733675"/>
              <a:ext cx="476250" cy="476250"/>
            </a:xfrm>
            <a:prstGeom prst="ellipse">
              <a:avLst/>
            </a:prstGeom>
            <a:solidFill>
              <a:srgbClr val="FFFFFF">
                <a:alpha val="16000"/>
              </a:srgbClr>
            </a:solidFill>
            <a:ln w="11430">
              <a:solidFill>
                <a:srgbClr val="FFFFFF"/>
              </a:solidFill>
            </a:ln>
          </p:spPr>
        </p:sp>
        <p:grpSp>
          <p:nvGrpSpPr>
            <p:cNvPr id="58" name="Group 58"/>
            <p:cNvGrpSpPr/>
            <p:nvPr/>
          </p:nvGrpSpPr>
          <p:grpSpPr>
            <a:xfrm>
              <a:off x="1092994" y="2888456"/>
              <a:ext cx="214312" cy="175142"/>
              <a:chOff x="1092994" y="2888456"/>
              <a:chExt cx="214312" cy="175142"/>
            </a:xfrm>
          </p:grpSpPr>
          <p:sp>
            <p:nvSpPr>
              <p:cNvPr id="56" name="Freeform 56"/>
              <p:cNvSpPr/>
              <p:nvPr/>
            </p:nvSpPr>
            <p:spPr>
              <a:xfrm>
                <a:off x="1092994" y="2888456"/>
                <a:ext cx="214312" cy="175142"/>
              </a:xfrm>
              <a:custGeom>
                <a:avLst/>
                <a:gdLst/>
                <a:ahLst/>
                <a:cxnLst/>
                <a:rect l="l" t="t" r="r" b="b"/>
                <a:pathLst>
                  <a:path w="214312" h="175142">
                    <a:moveTo>
                      <a:pt x="35719" y="0"/>
                    </a:moveTo>
                    <a:lnTo>
                      <a:pt x="178594" y="0"/>
                    </a:lnTo>
                    <a:lnTo>
                      <a:pt x="214312" y="59531"/>
                    </a:lnTo>
                    <a:lnTo>
                      <a:pt x="113109" y="172641"/>
                    </a:lnTo>
                    <a:cubicBezTo>
                      <a:pt x="111542" y="174241"/>
                      <a:pt x="109396" y="175142"/>
                      <a:pt x="107156" y="175142"/>
                    </a:cubicBezTo>
                    <a:cubicBezTo>
                      <a:pt x="104916" y="175142"/>
                      <a:pt x="102771" y="174241"/>
                      <a:pt x="101203" y="172641"/>
                    </a:cubicBezTo>
                    <a:lnTo>
                      <a:pt x="0" y="59531"/>
                    </a:lnTo>
                    <a:lnTo>
                      <a:pt x="35719" y="0"/>
                    </a:lnTo>
                  </a:path>
                </a:pathLst>
              </a:custGeom>
              <a:noFill/>
              <a:ln w="23812">
                <a:solidFill>
                  <a:srgbClr val="FFFFFF"/>
                </a:solidFill>
              </a:ln>
            </p:spPr>
          </p:sp>
          <p:sp>
            <p:nvSpPr>
              <p:cNvPr id="57" name="Freeform 57"/>
              <p:cNvSpPr/>
              <p:nvPr/>
            </p:nvSpPr>
            <p:spPr>
              <a:xfrm>
                <a:off x="1152525" y="2933700"/>
                <a:ext cx="23812" cy="38100"/>
              </a:xfrm>
              <a:custGeom>
                <a:avLst/>
                <a:gdLst/>
                <a:ahLst/>
                <a:cxnLst/>
                <a:rect l="l" t="t" r="r" b="b"/>
                <a:pathLst>
                  <a:path w="23812" h="38100">
                    <a:moveTo>
                      <a:pt x="23812" y="38100"/>
                    </a:moveTo>
                    <a:lnTo>
                      <a:pt x="0" y="11906"/>
                    </a:lnTo>
                    <a:lnTo>
                      <a:pt x="7144" y="0"/>
                    </a:lnTo>
                  </a:path>
                </a:pathLst>
              </a:custGeom>
              <a:noFill/>
              <a:ln w="23812">
                <a:solidFill>
                  <a:srgbClr val="FFFFFF"/>
                </a:solidFill>
              </a:ln>
            </p:spPr>
          </p:sp>
        </p:grpSp>
        <p:sp>
          <p:nvSpPr>
            <p:cNvPr id="59" name="TextBox 59"/>
            <p:cNvSpPr txBox="1"/>
            <p:nvPr/>
          </p:nvSpPr>
          <p:spPr>
            <a:xfrm>
              <a:off x="1574292" y="2635568"/>
              <a:ext cx="106146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C财富价值​​</a:t>
              </a:r>
            </a:p>
          </p:txBody>
        </p:sp>
        <p:sp>
          <p:nvSpPr>
            <p:cNvPr id="60" name="TextBox 60"/>
            <p:cNvSpPr txBox="1"/>
            <p:nvPr/>
          </p:nvSpPr>
          <p:spPr>
            <a:xfrm>
              <a:off x="1576388" y="2950845"/>
              <a:ext cx="1463421" cy="176212"/>
            </a:xfrm>
            <a:prstGeom prst="rect">
              <a:avLst/>
            </a:prstGeom>
            <a:noFill/>
            <a:ln>
              <a:noFill/>
            </a:ln>
          </p:spPr>
          <p:txBody>
            <a:bodyPr wrap="none" lIns="0" tIns="0" rIns="0" bIns="0" anchor="t" anchorCtr="0">
              <a:spAutoFit/>
            </a:bodyPr>
            <a:lstStyle/>
            <a:p>
              <a:pPr algn="l"/>
              <a:r>
                <a:rPr lang="zh-CN" sz="900" dirty="0">
                  <a:solidFill>
                    <a:srgbClr val="EAF7F7"/>
                  </a:solidFill>
                  <a:latin typeface="+mn-lt"/>
                  <a:ea typeface="+mn-ea"/>
                  <a:cs typeface="+mn-cs"/>
                </a:rPr>
                <a:t>高管、股东、专业人才密集</a:t>
              </a:r>
            </a:p>
          </p:txBody>
        </p:sp>
        <p:sp>
          <p:nvSpPr>
            <p:cNvPr id="61" name="TextBox 61"/>
            <p:cNvSpPr txBox="1"/>
            <p:nvPr/>
          </p:nvSpPr>
          <p:spPr>
            <a:xfrm>
              <a:off x="1576388" y="3198495"/>
              <a:ext cx="1826895" cy="176212"/>
            </a:xfrm>
            <a:prstGeom prst="rect">
              <a:avLst/>
            </a:prstGeom>
            <a:noFill/>
            <a:ln>
              <a:noFill/>
            </a:ln>
          </p:spPr>
          <p:txBody>
            <a:bodyPr wrap="none" lIns="0" tIns="0" rIns="0" bIns="0" anchor="t" anchorCtr="0">
              <a:spAutoFit/>
            </a:bodyPr>
            <a:lstStyle/>
            <a:p>
              <a:pPr algn="l"/>
              <a:r>
                <a:rPr lang="zh-CN" sz="900" b="1" dirty="0">
                  <a:solidFill>
                    <a:srgbClr val="FCC2B8"/>
                  </a:solidFill>
                  <a:latin typeface="+mn-lt"/>
                  <a:ea typeface="+mn-ea"/>
                  <a:cs typeface="+mn-cs"/>
                </a:rPr>
                <a:t>关键人经营｜财富配置｜家庭服务</a:t>
              </a:r>
            </a:p>
          </p:txBody>
        </p:sp>
        <p:sp>
          <p:nvSpPr>
            <p:cNvPr id="62" name="Ellipse 62"/>
            <p:cNvSpPr/>
            <p:nvPr/>
          </p:nvSpPr>
          <p:spPr>
            <a:xfrm>
              <a:off x="6467475" y="2733675"/>
              <a:ext cx="476250" cy="476250"/>
            </a:xfrm>
            <a:prstGeom prst="ellipse">
              <a:avLst/>
            </a:prstGeom>
            <a:solidFill>
              <a:srgbClr val="FFFFFF">
                <a:alpha val="16000"/>
              </a:srgbClr>
            </a:solidFill>
            <a:ln w="11430">
              <a:solidFill>
                <a:srgbClr val="FFFFFF"/>
              </a:solidFill>
            </a:ln>
          </p:spPr>
        </p:sp>
        <p:grpSp>
          <p:nvGrpSpPr>
            <p:cNvPr id="69" name="Group 69"/>
            <p:cNvGrpSpPr/>
            <p:nvPr/>
          </p:nvGrpSpPr>
          <p:grpSpPr>
            <a:xfrm>
              <a:off x="6610350" y="2876550"/>
              <a:ext cx="190500" cy="190500"/>
              <a:chOff x="6610350" y="2876550"/>
              <a:chExt cx="190500" cy="190500"/>
            </a:xfrm>
          </p:grpSpPr>
          <p:sp>
            <p:nvSpPr>
              <p:cNvPr id="63" name="Freeform 63"/>
              <p:cNvSpPr/>
              <p:nvPr/>
            </p:nvSpPr>
            <p:spPr>
              <a:xfrm>
                <a:off x="6633341" y="2911507"/>
                <a:ext cx="132552" cy="132552"/>
              </a:xfrm>
              <a:custGeom>
                <a:avLst/>
                <a:gdLst/>
                <a:ahLst/>
                <a:cxnLst/>
                <a:rect l="l" t="t" r="r" b="b"/>
                <a:pathLst>
                  <a:path w="132552" h="132552">
                    <a:moveTo>
                      <a:pt x="0" y="0"/>
                    </a:moveTo>
                    <a:lnTo>
                      <a:pt x="15180" y="50590"/>
                    </a:lnTo>
                    <a:moveTo>
                      <a:pt x="81939" y="117372"/>
                    </a:moveTo>
                    <a:lnTo>
                      <a:pt x="132552" y="132552"/>
                    </a:lnTo>
                  </a:path>
                </a:pathLst>
              </a:custGeom>
              <a:noFill/>
              <a:ln w="23812">
                <a:solidFill>
                  <a:srgbClr val="FFFFFF"/>
                </a:solidFill>
              </a:ln>
            </p:spPr>
          </p:sp>
          <p:sp>
            <p:nvSpPr>
              <p:cNvPr id="64" name="Freeform 64"/>
              <p:cNvSpPr/>
              <p:nvPr/>
            </p:nvSpPr>
            <p:spPr>
              <a:xfrm>
                <a:off x="6701826" y="2907006"/>
                <a:ext cx="68568" cy="68568"/>
              </a:xfrm>
              <a:custGeom>
                <a:avLst/>
                <a:gdLst/>
                <a:ahLst/>
                <a:cxnLst/>
                <a:rect l="l" t="t" r="r" b="b"/>
                <a:pathLst>
                  <a:path w="68568" h="68568">
                    <a:moveTo>
                      <a:pt x="0" y="68568"/>
                    </a:moveTo>
                    <a:lnTo>
                      <a:pt x="68568" y="0"/>
                    </a:lnTo>
                  </a:path>
                </a:pathLst>
              </a:custGeom>
              <a:noFill/>
              <a:ln w="23812">
                <a:solidFill>
                  <a:srgbClr val="FFFFFF"/>
                </a:solidFill>
              </a:ln>
            </p:spPr>
          </p:sp>
          <p:sp>
            <p:nvSpPr>
              <p:cNvPr id="65" name="Freeform 65"/>
              <p:cNvSpPr/>
              <p:nvPr/>
            </p:nvSpPr>
            <p:spPr>
              <a:xfrm>
                <a:off x="6610350" y="2876550"/>
                <a:ext cx="35719" cy="35719"/>
              </a:xfrm>
              <a:custGeom>
                <a:avLst/>
                <a:gdLst/>
                <a:ahLst/>
                <a:cxnLst/>
                <a:rect l="l" t="t" r="r" b="b"/>
                <a:pathLst>
                  <a:path w="35719" h="35719">
                    <a:moveTo>
                      <a:pt x="0" y="17859"/>
                    </a:moveTo>
                    <a:cubicBezTo>
                      <a:pt x="0" y="27723"/>
                      <a:pt x="7996" y="35719"/>
                      <a:pt x="17859" y="35719"/>
                    </a:cubicBezTo>
                    <a:cubicBezTo>
                      <a:pt x="27723" y="35719"/>
                      <a:pt x="35719" y="27723"/>
                      <a:pt x="35719" y="17859"/>
                    </a:cubicBezTo>
                    <a:cubicBezTo>
                      <a:pt x="35719" y="7996"/>
                      <a:pt x="27723" y="0"/>
                      <a:pt x="17859" y="0"/>
                    </a:cubicBezTo>
                    <a:cubicBezTo>
                      <a:pt x="7996" y="0"/>
                      <a:pt x="0" y="7996"/>
                      <a:pt x="0" y="17859"/>
                    </a:cubicBezTo>
                  </a:path>
                </a:pathLst>
              </a:custGeom>
              <a:noFill/>
              <a:ln w="23812">
                <a:solidFill>
                  <a:srgbClr val="FFFFFF"/>
                </a:solidFill>
              </a:ln>
            </p:spPr>
          </p:sp>
          <p:sp>
            <p:nvSpPr>
              <p:cNvPr id="66" name="Freeform 66"/>
              <p:cNvSpPr/>
              <p:nvPr/>
            </p:nvSpPr>
            <p:spPr>
              <a:xfrm>
                <a:off x="6765131" y="2876550"/>
                <a:ext cx="35719" cy="35719"/>
              </a:xfrm>
              <a:custGeom>
                <a:avLst/>
                <a:gdLst/>
                <a:ahLst/>
                <a:cxnLst/>
                <a:rect l="l" t="t" r="r" b="b"/>
                <a:pathLst>
                  <a:path w="35719" h="35719">
                    <a:moveTo>
                      <a:pt x="0" y="17859"/>
                    </a:moveTo>
                    <a:cubicBezTo>
                      <a:pt x="0" y="27723"/>
                      <a:pt x="7996" y="35719"/>
                      <a:pt x="17859" y="35719"/>
                    </a:cubicBezTo>
                    <a:cubicBezTo>
                      <a:pt x="27723" y="35719"/>
                      <a:pt x="35719" y="27723"/>
                      <a:pt x="35719" y="17859"/>
                    </a:cubicBezTo>
                    <a:cubicBezTo>
                      <a:pt x="35719" y="7996"/>
                      <a:pt x="27723" y="0"/>
                      <a:pt x="17859" y="0"/>
                    </a:cubicBezTo>
                    <a:cubicBezTo>
                      <a:pt x="7996" y="0"/>
                      <a:pt x="0" y="7996"/>
                      <a:pt x="0" y="17859"/>
                    </a:cubicBezTo>
                  </a:path>
                </a:pathLst>
              </a:custGeom>
              <a:noFill/>
              <a:ln w="23812">
                <a:solidFill>
                  <a:srgbClr val="FFFFFF"/>
                </a:solidFill>
              </a:ln>
            </p:spPr>
          </p:sp>
          <p:sp>
            <p:nvSpPr>
              <p:cNvPr id="67" name="Freeform 67"/>
              <p:cNvSpPr/>
              <p:nvPr/>
            </p:nvSpPr>
            <p:spPr>
              <a:xfrm>
                <a:off x="6765131" y="3031331"/>
                <a:ext cx="35719" cy="35719"/>
              </a:xfrm>
              <a:custGeom>
                <a:avLst/>
                <a:gdLst/>
                <a:ahLst/>
                <a:cxnLst/>
                <a:rect l="l" t="t" r="r" b="b"/>
                <a:pathLst>
                  <a:path w="35719" h="35719">
                    <a:moveTo>
                      <a:pt x="0" y="17859"/>
                    </a:moveTo>
                    <a:cubicBezTo>
                      <a:pt x="0" y="27723"/>
                      <a:pt x="7996" y="35719"/>
                      <a:pt x="17859" y="35719"/>
                    </a:cubicBezTo>
                    <a:cubicBezTo>
                      <a:pt x="27723" y="35719"/>
                      <a:pt x="35719" y="27723"/>
                      <a:pt x="35719" y="17859"/>
                    </a:cubicBezTo>
                    <a:cubicBezTo>
                      <a:pt x="35719" y="7996"/>
                      <a:pt x="27723" y="0"/>
                      <a:pt x="17859" y="0"/>
                    </a:cubicBezTo>
                    <a:cubicBezTo>
                      <a:pt x="7996" y="0"/>
                      <a:pt x="0" y="7996"/>
                      <a:pt x="0" y="17859"/>
                    </a:cubicBezTo>
                  </a:path>
                </a:pathLst>
              </a:custGeom>
              <a:noFill/>
              <a:ln w="23812">
                <a:solidFill>
                  <a:srgbClr val="FFFFFF"/>
                </a:solidFill>
              </a:ln>
            </p:spPr>
          </p:sp>
          <p:sp>
            <p:nvSpPr>
              <p:cNvPr id="68" name="Freeform 68"/>
              <p:cNvSpPr/>
              <p:nvPr/>
            </p:nvSpPr>
            <p:spPr>
              <a:xfrm>
                <a:off x="6610350" y="2959894"/>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23812">
                <a:solidFill>
                  <a:srgbClr val="FFFFFF"/>
                </a:solidFill>
              </a:ln>
            </p:spPr>
          </p:sp>
        </p:grpSp>
        <p:sp>
          <p:nvSpPr>
            <p:cNvPr id="70" name="TextBox 70"/>
            <p:cNvSpPr txBox="1"/>
            <p:nvPr/>
          </p:nvSpPr>
          <p:spPr>
            <a:xfrm>
              <a:off x="7079742" y="2635568"/>
              <a:ext cx="106146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D生态拓展​​</a:t>
              </a:r>
            </a:p>
          </p:txBody>
        </p:sp>
        <p:sp>
          <p:nvSpPr>
            <p:cNvPr id="71" name="TextBox 71"/>
            <p:cNvSpPr txBox="1"/>
            <p:nvPr/>
          </p:nvSpPr>
          <p:spPr>
            <a:xfrm>
              <a:off x="7081838" y="2950845"/>
              <a:ext cx="1705737" cy="176212"/>
            </a:xfrm>
            <a:prstGeom prst="rect">
              <a:avLst/>
            </a:prstGeom>
            <a:noFill/>
            <a:ln>
              <a:noFill/>
            </a:ln>
          </p:spPr>
          <p:txBody>
            <a:bodyPr wrap="none" lIns="0" tIns="0" rIns="0" bIns="0" anchor="t" anchorCtr="0">
              <a:spAutoFit/>
            </a:bodyPr>
            <a:lstStyle/>
            <a:p>
              <a:pPr algn="l"/>
              <a:r>
                <a:rPr lang="zh-CN" sz="900" dirty="0">
                  <a:solidFill>
                    <a:srgbClr val="F0F6FE"/>
                  </a:solidFill>
                  <a:latin typeface="+mn-lt"/>
                  <a:ea typeface="+mn-ea"/>
                  <a:cs typeface="+mn-cs"/>
                </a:rPr>
                <a:t>产业链、园区、商圈、平台企业</a:t>
              </a:r>
            </a:p>
          </p:txBody>
        </p:sp>
        <p:sp>
          <p:nvSpPr>
            <p:cNvPr id="72" name="TextBox 72"/>
            <p:cNvSpPr txBox="1"/>
            <p:nvPr/>
          </p:nvSpPr>
          <p:spPr>
            <a:xfrm>
              <a:off x="7081838" y="3198495"/>
              <a:ext cx="1705737" cy="176212"/>
            </a:xfrm>
            <a:prstGeom prst="rect">
              <a:avLst/>
            </a:prstGeom>
            <a:noFill/>
            <a:ln>
              <a:noFill/>
            </a:ln>
          </p:spPr>
          <p:txBody>
            <a:bodyPr wrap="none" lIns="0" tIns="0" rIns="0" bIns="0" anchor="t" anchorCtr="0">
              <a:spAutoFit/>
            </a:bodyPr>
            <a:lstStyle/>
            <a:p>
              <a:pPr algn="l"/>
              <a:r>
                <a:rPr lang="zh-CN" sz="900" b="1" dirty="0">
                  <a:solidFill>
                    <a:srgbClr val="FDD0C8"/>
                  </a:solidFill>
                  <a:latin typeface="+mn-lt"/>
                  <a:ea typeface="+mn-ea"/>
                  <a:cs typeface="+mn-cs"/>
                </a:rPr>
                <a:t>链式拓客｜场景结算｜普惠金融</a:t>
              </a:r>
            </a:p>
          </p:txBody>
        </p:sp>
        <p:sp>
          <p:nvSpPr>
            <p:cNvPr id="73" name="Line 73"/>
            <p:cNvSpPr/>
            <p:nvPr/>
          </p:nvSpPr>
          <p:spPr>
            <a:xfrm>
              <a:off x="723900" y="3714750"/>
              <a:ext cx="10953750" cy="1"/>
            </a:xfrm>
            <a:prstGeom prst="line">
              <a:avLst/>
            </a:prstGeom>
            <a:noFill/>
            <a:ln w="14288">
              <a:solidFill>
                <a:srgbClr val="A8351D"/>
              </a:solidFill>
              <a:tailEnd type="triangle" w="lg" len="lg"/>
            </a:ln>
          </p:spPr>
        </p:sp>
        <p:sp>
          <p:nvSpPr>
            <p:cNvPr id="74" name="TextBox 74"/>
            <p:cNvSpPr txBox="1"/>
            <p:nvPr/>
          </p:nvSpPr>
          <p:spPr>
            <a:xfrm>
              <a:off x="5975236" y="3739991"/>
              <a:ext cx="451079"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客户价值</a:t>
              </a:r>
            </a:p>
          </p:txBody>
        </p:sp>
        <p:sp>
          <p:nvSpPr>
            <p:cNvPr id="75" name="TextBox 75"/>
            <p:cNvSpPr txBox="1"/>
            <p:nvPr/>
          </p:nvSpPr>
          <p:spPr>
            <a:xfrm>
              <a:off x="11672888" y="3538538"/>
              <a:ext cx="110490"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高</a:t>
              </a:r>
            </a:p>
          </p:txBody>
        </p:sp>
      </p:grpSp>
      <p:grpSp>
        <p:nvGrpSpPr>
          <p:cNvPr id="172" name="compare-table"/>
          <p:cNvGrpSpPr/>
          <p:nvPr/>
        </p:nvGrpSpPr>
        <p:grpSpPr>
          <a:xfrm>
            <a:off x="381000" y="3981450"/>
            <a:ext cx="11410950" cy="2724150"/>
            <a:chOff x="381000" y="3981450"/>
            <a:chExt cx="11410950" cy="2724150"/>
          </a:xfrm>
        </p:grpSpPr>
        <p:sp>
          <p:nvSpPr>
            <p:cNvPr id="77" name="Rectangle 77"/>
            <p:cNvSpPr/>
            <p:nvPr/>
          </p:nvSpPr>
          <p:spPr>
            <a:xfrm>
              <a:off x="381000" y="3981450"/>
              <a:ext cx="1238250" cy="361950"/>
            </a:xfrm>
            <a:prstGeom prst="rect">
              <a:avLst/>
            </a:prstGeom>
            <a:solidFill>
              <a:srgbClr val="EAF2FC"/>
            </a:solidFill>
            <a:ln>
              <a:noFill/>
            </a:ln>
          </p:spPr>
        </p:sp>
        <p:sp>
          <p:nvSpPr>
            <p:cNvPr id="78" name="Rectangle 78"/>
            <p:cNvSpPr/>
            <p:nvPr/>
          </p:nvSpPr>
          <p:spPr>
            <a:xfrm>
              <a:off x="1619250" y="3981450"/>
              <a:ext cx="2543175" cy="361950"/>
            </a:xfrm>
            <a:prstGeom prst="rect">
              <a:avLst/>
            </a:prstGeom>
            <a:solidFill>
              <a:srgbClr val="6E2A1C"/>
            </a:solidFill>
            <a:ln>
              <a:noFill/>
            </a:ln>
          </p:spPr>
        </p:sp>
        <p:grpSp>
          <p:nvGrpSpPr>
            <p:cNvPr id="87" name="Group 87"/>
            <p:cNvGrpSpPr/>
            <p:nvPr/>
          </p:nvGrpSpPr>
          <p:grpSpPr>
            <a:xfrm>
              <a:off x="2231231" y="4098131"/>
              <a:ext cx="130969" cy="138113"/>
              <a:chOff x="2231231" y="4098131"/>
              <a:chExt cx="130969" cy="138113"/>
            </a:xfrm>
          </p:grpSpPr>
          <p:sp>
            <p:nvSpPr>
              <p:cNvPr id="79" name="Freeform 79"/>
              <p:cNvSpPr/>
              <p:nvPr/>
            </p:nvSpPr>
            <p:spPr>
              <a:xfrm>
                <a:off x="2231231" y="4226719"/>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80" name="Freeform 80"/>
              <p:cNvSpPr/>
              <p:nvPr/>
            </p:nvSpPr>
            <p:spPr>
              <a:xfrm>
                <a:off x="2231231" y="4148138"/>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81" name="Freeform 81"/>
              <p:cNvSpPr/>
              <p:nvPr/>
            </p:nvSpPr>
            <p:spPr>
              <a:xfrm>
                <a:off x="2245519" y="4098131"/>
                <a:ext cx="100012" cy="21431"/>
              </a:xfrm>
              <a:custGeom>
                <a:avLst/>
                <a:gdLst/>
                <a:ahLst/>
                <a:cxnLst/>
                <a:rect l="l" t="t" r="r" b="b"/>
                <a:pathLst>
                  <a:path w="100012" h="21431">
                    <a:moveTo>
                      <a:pt x="0" y="21431"/>
                    </a:moveTo>
                    <a:lnTo>
                      <a:pt x="50006" y="0"/>
                    </a:lnTo>
                    <a:lnTo>
                      <a:pt x="100012" y="21431"/>
                    </a:lnTo>
                  </a:path>
                </a:pathLst>
              </a:custGeom>
              <a:noFill/>
              <a:ln w="14288">
                <a:solidFill>
                  <a:srgbClr val="FFFFFF"/>
                </a:solidFill>
              </a:ln>
            </p:spPr>
          </p:sp>
          <p:sp>
            <p:nvSpPr>
              <p:cNvPr id="82" name="Freeform 82"/>
              <p:cNvSpPr/>
              <p:nvPr/>
            </p:nvSpPr>
            <p:spPr>
              <a:xfrm>
                <a:off x="2238375" y="4148138"/>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83" name="Freeform 83"/>
              <p:cNvSpPr/>
              <p:nvPr/>
            </p:nvSpPr>
            <p:spPr>
              <a:xfrm>
                <a:off x="2352675" y="4148138"/>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84" name="Freeform 84"/>
              <p:cNvSpPr/>
              <p:nvPr/>
            </p:nvSpPr>
            <p:spPr>
              <a:xfrm>
                <a:off x="2266950" y="4176712"/>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85" name="Freeform 85"/>
              <p:cNvSpPr/>
              <p:nvPr/>
            </p:nvSpPr>
            <p:spPr>
              <a:xfrm>
                <a:off x="2295525" y="4176712"/>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86" name="Freeform 86"/>
              <p:cNvSpPr/>
              <p:nvPr/>
            </p:nvSpPr>
            <p:spPr>
              <a:xfrm>
                <a:off x="2324100" y="4176712"/>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88" name="TextBox 88"/>
            <p:cNvSpPr txBox="1"/>
            <p:nvPr/>
          </p:nvSpPr>
          <p:spPr>
            <a:xfrm>
              <a:off x="2433447" y="4114324"/>
              <a:ext cx="77049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A战略联动​​</a:t>
              </a:r>
            </a:p>
          </p:txBody>
        </p:sp>
        <p:sp>
          <p:nvSpPr>
            <p:cNvPr id="89" name="Rectangle 89"/>
            <p:cNvSpPr/>
            <p:nvPr/>
          </p:nvSpPr>
          <p:spPr>
            <a:xfrm>
              <a:off x="4162425" y="3981450"/>
              <a:ext cx="2543175" cy="361950"/>
            </a:xfrm>
            <a:prstGeom prst="rect">
              <a:avLst/>
            </a:prstGeom>
            <a:solidFill>
              <a:srgbClr val="A8351D"/>
            </a:solidFill>
            <a:ln>
              <a:noFill/>
            </a:ln>
          </p:spPr>
        </p:sp>
        <p:grpSp>
          <p:nvGrpSpPr>
            <p:cNvPr id="96" name="Group 96"/>
            <p:cNvGrpSpPr/>
            <p:nvPr/>
          </p:nvGrpSpPr>
          <p:grpSpPr>
            <a:xfrm>
              <a:off x="4774406" y="4098131"/>
              <a:ext cx="128588" cy="128588"/>
              <a:chOff x="4774406" y="4098131"/>
              <a:chExt cx="128588" cy="128588"/>
            </a:xfrm>
          </p:grpSpPr>
          <p:sp>
            <p:nvSpPr>
              <p:cNvPr id="90" name="Freeform 90"/>
              <p:cNvSpPr/>
              <p:nvPr/>
            </p:nvSpPr>
            <p:spPr>
              <a:xfrm>
                <a:off x="4824412" y="41552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91" name="Freeform 91"/>
              <p:cNvSpPr/>
              <p:nvPr/>
            </p:nvSpPr>
            <p:spPr>
              <a:xfrm>
                <a:off x="4810125" y="420528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FFFFFF"/>
                </a:solidFill>
              </a:ln>
            </p:spPr>
          </p:sp>
          <p:sp>
            <p:nvSpPr>
              <p:cNvPr id="92" name="Freeform 92"/>
              <p:cNvSpPr/>
              <p:nvPr/>
            </p:nvSpPr>
            <p:spPr>
              <a:xfrm>
                <a:off x="4860131" y="40981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93" name="Freeform 93"/>
              <p:cNvSpPr/>
              <p:nvPr/>
            </p:nvSpPr>
            <p:spPr>
              <a:xfrm>
                <a:off x="4874419" y="414813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FFFFFF"/>
                </a:solidFill>
              </a:ln>
            </p:spPr>
          </p:sp>
          <p:sp>
            <p:nvSpPr>
              <p:cNvPr id="94" name="Freeform 94"/>
              <p:cNvSpPr/>
              <p:nvPr/>
            </p:nvSpPr>
            <p:spPr>
              <a:xfrm>
                <a:off x="4788694" y="40981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95" name="Freeform 95"/>
              <p:cNvSpPr/>
              <p:nvPr/>
            </p:nvSpPr>
            <p:spPr>
              <a:xfrm>
                <a:off x="4774406" y="414813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FFFFFF"/>
                </a:solidFill>
              </a:ln>
            </p:spPr>
          </p:sp>
        </p:grpSp>
        <p:sp>
          <p:nvSpPr>
            <p:cNvPr id="97" name="TextBox 97"/>
            <p:cNvSpPr txBox="1"/>
            <p:nvPr/>
          </p:nvSpPr>
          <p:spPr>
            <a:xfrm>
              <a:off x="4976622" y="4114324"/>
              <a:ext cx="77049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B规模转化​​</a:t>
              </a:r>
            </a:p>
          </p:txBody>
        </p:sp>
        <p:sp>
          <p:nvSpPr>
            <p:cNvPr id="98" name="Rectangle 98"/>
            <p:cNvSpPr/>
            <p:nvPr/>
          </p:nvSpPr>
          <p:spPr>
            <a:xfrm>
              <a:off x="6705600" y="3981450"/>
              <a:ext cx="2543175" cy="361950"/>
            </a:xfrm>
            <a:prstGeom prst="rect">
              <a:avLst/>
            </a:prstGeom>
            <a:solidFill>
              <a:srgbClr val="9B260F"/>
            </a:solidFill>
            <a:ln>
              <a:noFill/>
            </a:ln>
          </p:spPr>
        </p:sp>
        <p:grpSp>
          <p:nvGrpSpPr>
            <p:cNvPr id="101" name="Group 101"/>
            <p:cNvGrpSpPr/>
            <p:nvPr/>
          </p:nvGrpSpPr>
          <p:grpSpPr>
            <a:xfrm>
              <a:off x="7317581" y="4112419"/>
              <a:ext cx="128588" cy="105085"/>
              <a:chOff x="7317581" y="4112419"/>
              <a:chExt cx="128588" cy="105085"/>
            </a:xfrm>
          </p:grpSpPr>
          <p:sp>
            <p:nvSpPr>
              <p:cNvPr id="99" name="Freeform 99"/>
              <p:cNvSpPr/>
              <p:nvPr/>
            </p:nvSpPr>
            <p:spPr>
              <a:xfrm>
                <a:off x="7317581" y="4112419"/>
                <a:ext cx="128588" cy="105085"/>
              </a:xfrm>
              <a:custGeom>
                <a:avLst/>
                <a:gdLst/>
                <a:ahLst/>
                <a:cxnLst/>
                <a:rect l="l" t="t" r="r" b="b"/>
                <a:pathLst>
                  <a:path w="128588" h="105085">
                    <a:moveTo>
                      <a:pt x="21431" y="0"/>
                    </a:moveTo>
                    <a:lnTo>
                      <a:pt x="107156" y="0"/>
                    </a:lnTo>
                    <a:lnTo>
                      <a:pt x="128588" y="35719"/>
                    </a:lnTo>
                    <a:lnTo>
                      <a:pt x="67866" y="103584"/>
                    </a:lnTo>
                    <a:cubicBezTo>
                      <a:pt x="66925" y="104544"/>
                      <a:pt x="65638" y="105085"/>
                      <a:pt x="64294" y="105085"/>
                    </a:cubicBezTo>
                    <a:cubicBezTo>
                      <a:pt x="62950" y="105085"/>
                      <a:pt x="61662" y="104544"/>
                      <a:pt x="60722" y="103584"/>
                    </a:cubicBezTo>
                    <a:lnTo>
                      <a:pt x="0" y="35719"/>
                    </a:lnTo>
                    <a:lnTo>
                      <a:pt x="21431" y="0"/>
                    </a:lnTo>
                  </a:path>
                </a:pathLst>
              </a:custGeom>
              <a:noFill/>
              <a:ln w="14288">
                <a:solidFill>
                  <a:srgbClr val="FFFFFF"/>
                </a:solidFill>
              </a:ln>
            </p:spPr>
          </p:sp>
          <p:sp>
            <p:nvSpPr>
              <p:cNvPr id="100" name="Freeform 100"/>
              <p:cNvSpPr/>
              <p:nvPr/>
            </p:nvSpPr>
            <p:spPr>
              <a:xfrm>
                <a:off x="7353300" y="4139565"/>
                <a:ext cx="14288" cy="22860"/>
              </a:xfrm>
              <a:custGeom>
                <a:avLst/>
                <a:gdLst/>
                <a:ahLst/>
                <a:cxnLst/>
                <a:rect l="l" t="t" r="r" b="b"/>
                <a:pathLst>
                  <a:path w="14288" h="22860">
                    <a:moveTo>
                      <a:pt x="14288" y="22860"/>
                    </a:moveTo>
                    <a:lnTo>
                      <a:pt x="0" y="7144"/>
                    </a:lnTo>
                    <a:lnTo>
                      <a:pt x="4286" y="0"/>
                    </a:lnTo>
                  </a:path>
                </a:pathLst>
              </a:custGeom>
              <a:noFill/>
              <a:ln w="14288">
                <a:solidFill>
                  <a:srgbClr val="FFFFFF"/>
                </a:solidFill>
              </a:ln>
            </p:spPr>
          </p:sp>
        </p:grpSp>
        <p:sp>
          <p:nvSpPr>
            <p:cNvPr id="102" name="TextBox 102"/>
            <p:cNvSpPr txBox="1"/>
            <p:nvPr/>
          </p:nvSpPr>
          <p:spPr>
            <a:xfrm>
              <a:off x="7519797" y="4114324"/>
              <a:ext cx="77049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C财富价值​​</a:t>
              </a:r>
            </a:p>
          </p:txBody>
        </p:sp>
        <p:sp>
          <p:nvSpPr>
            <p:cNvPr id="103" name="Rectangle 103"/>
            <p:cNvSpPr/>
            <p:nvPr/>
          </p:nvSpPr>
          <p:spPr>
            <a:xfrm>
              <a:off x="9248775" y="3981450"/>
              <a:ext cx="2543175" cy="361950"/>
            </a:xfrm>
            <a:prstGeom prst="rect">
              <a:avLst/>
            </a:prstGeom>
            <a:solidFill>
              <a:srgbClr val="D5705B"/>
            </a:solidFill>
            <a:ln>
              <a:noFill/>
            </a:ln>
          </p:spPr>
        </p:sp>
        <p:grpSp>
          <p:nvGrpSpPr>
            <p:cNvPr id="110" name="Group 110"/>
            <p:cNvGrpSpPr/>
            <p:nvPr/>
          </p:nvGrpSpPr>
          <p:grpSpPr>
            <a:xfrm>
              <a:off x="9867900" y="4105275"/>
              <a:ext cx="114300" cy="114300"/>
              <a:chOff x="9867900" y="4105275"/>
              <a:chExt cx="114300" cy="114300"/>
            </a:xfrm>
          </p:grpSpPr>
          <p:sp>
            <p:nvSpPr>
              <p:cNvPr id="104" name="Freeform 104"/>
              <p:cNvSpPr/>
              <p:nvPr/>
            </p:nvSpPr>
            <p:spPr>
              <a:xfrm>
                <a:off x="9881695" y="4126249"/>
                <a:ext cx="79531" cy="79531"/>
              </a:xfrm>
              <a:custGeom>
                <a:avLst/>
                <a:gdLst/>
                <a:ahLst/>
                <a:cxnLst/>
                <a:rect l="l" t="t" r="r" b="b"/>
                <a:pathLst>
                  <a:path w="79531" h="79531">
                    <a:moveTo>
                      <a:pt x="0" y="0"/>
                    </a:moveTo>
                    <a:lnTo>
                      <a:pt x="9108" y="30354"/>
                    </a:lnTo>
                    <a:moveTo>
                      <a:pt x="49163" y="70423"/>
                    </a:moveTo>
                    <a:lnTo>
                      <a:pt x="79531" y="79531"/>
                    </a:lnTo>
                  </a:path>
                </a:pathLst>
              </a:custGeom>
              <a:noFill/>
              <a:ln w="14288">
                <a:solidFill>
                  <a:srgbClr val="FFFFFF"/>
                </a:solidFill>
              </a:ln>
            </p:spPr>
          </p:sp>
          <p:sp>
            <p:nvSpPr>
              <p:cNvPr id="105" name="Freeform 105"/>
              <p:cNvSpPr/>
              <p:nvPr/>
            </p:nvSpPr>
            <p:spPr>
              <a:xfrm>
                <a:off x="9922785" y="4123549"/>
                <a:ext cx="41141" cy="41141"/>
              </a:xfrm>
              <a:custGeom>
                <a:avLst/>
                <a:gdLst/>
                <a:ahLst/>
                <a:cxnLst/>
                <a:rect l="l" t="t" r="r" b="b"/>
                <a:pathLst>
                  <a:path w="41141" h="41141">
                    <a:moveTo>
                      <a:pt x="0" y="41141"/>
                    </a:moveTo>
                    <a:lnTo>
                      <a:pt x="41141" y="0"/>
                    </a:lnTo>
                  </a:path>
                </a:pathLst>
              </a:custGeom>
              <a:noFill/>
              <a:ln w="14288">
                <a:solidFill>
                  <a:srgbClr val="FFFFFF"/>
                </a:solidFill>
              </a:ln>
            </p:spPr>
          </p:sp>
          <p:sp>
            <p:nvSpPr>
              <p:cNvPr id="106" name="Freeform 106"/>
              <p:cNvSpPr/>
              <p:nvPr/>
            </p:nvSpPr>
            <p:spPr>
              <a:xfrm>
                <a:off x="9867900" y="4105275"/>
                <a:ext cx="21431" cy="21431"/>
              </a:xfrm>
              <a:custGeom>
                <a:avLst/>
                <a:gdLst/>
                <a:ahLst/>
                <a:cxnLst/>
                <a:rect l="l" t="t" r="r" b="b"/>
                <a:pathLst>
                  <a:path w="21431" h="21431">
                    <a:moveTo>
                      <a:pt x="0" y="10716"/>
                    </a:moveTo>
                    <a:cubicBezTo>
                      <a:pt x="0" y="16634"/>
                      <a:pt x="4798" y="21431"/>
                      <a:pt x="10716" y="21431"/>
                    </a:cubicBezTo>
                    <a:cubicBezTo>
                      <a:pt x="16634" y="21431"/>
                      <a:pt x="21431" y="16634"/>
                      <a:pt x="21431" y="10716"/>
                    </a:cubicBezTo>
                    <a:cubicBezTo>
                      <a:pt x="21431" y="4798"/>
                      <a:pt x="16634" y="0"/>
                      <a:pt x="10716" y="0"/>
                    </a:cubicBezTo>
                    <a:cubicBezTo>
                      <a:pt x="4798" y="0"/>
                      <a:pt x="0" y="4798"/>
                      <a:pt x="0" y="10716"/>
                    </a:cubicBezTo>
                  </a:path>
                </a:pathLst>
              </a:custGeom>
              <a:noFill/>
              <a:ln w="14288">
                <a:solidFill>
                  <a:srgbClr val="FFFFFF"/>
                </a:solidFill>
              </a:ln>
            </p:spPr>
          </p:sp>
          <p:sp>
            <p:nvSpPr>
              <p:cNvPr id="107" name="Freeform 107"/>
              <p:cNvSpPr/>
              <p:nvPr/>
            </p:nvSpPr>
            <p:spPr>
              <a:xfrm>
                <a:off x="9960769" y="4105275"/>
                <a:ext cx="21431" cy="21431"/>
              </a:xfrm>
              <a:custGeom>
                <a:avLst/>
                <a:gdLst/>
                <a:ahLst/>
                <a:cxnLst/>
                <a:rect l="l" t="t" r="r" b="b"/>
                <a:pathLst>
                  <a:path w="21431" h="21431">
                    <a:moveTo>
                      <a:pt x="0" y="10716"/>
                    </a:moveTo>
                    <a:cubicBezTo>
                      <a:pt x="0" y="16634"/>
                      <a:pt x="4798" y="21431"/>
                      <a:pt x="10716" y="21431"/>
                    </a:cubicBezTo>
                    <a:cubicBezTo>
                      <a:pt x="16634" y="21431"/>
                      <a:pt x="21431" y="16634"/>
                      <a:pt x="21431" y="10716"/>
                    </a:cubicBezTo>
                    <a:cubicBezTo>
                      <a:pt x="21431" y="4798"/>
                      <a:pt x="16634" y="0"/>
                      <a:pt x="10716" y="0"/>
                    </a:cubicBezTo>
                    <a:cubicBezTo>
                      <a:pt x="4798" y="0"/>
                      <a:pt x="0" y="4798"/>
                      <a:pt x="0" y="10716"/>
                    </a:cubicBezTo>
                  </a:path>
                </a:pathLst>
              </a:custGeom>
              <a:noFill/>
              <a:ln w="14288">
                <a:solidFill>
                  <a:srgbClr val="FFFFFF"/>
                </a:solidFill>
              </a:ln>
            </p:spPr>
          </p:sp>
          <p:sp>
            <p:nvSpPr>
              <p:cNvPr id="108" name="Freeform 108"/>
              <p:cNvSpPr/>
              <p:nvPr/>
            </p:nvSpPr>
            <p:spPr>
              <a:xfrm>
                <a:off x="9960769" y="4198144"/>
                <a:ext cx="21431" cy="21431"/>
              </a:xfrm>
              <a:custGeom>
                <a:avLst/>
                <a:gdLst/>
                <a:ahLst/>
                <a:cxnLst/>
                <a:rect l="l" t="t" r="r" b="b"/>
                <a:pathLst>
                  <a:path w="21431" h="21431">
                    <a:moveTo>
                      <a:pt x="0" y="10716"/>
                    </a:moveTo>
                    <a:cubicBezTo>
                      <a:pt x="0" y="16634"/>
                      <a:pt x="4798" y="21431"/>
                      <a:pt x="10716" y="21431"/>
                    </a:cubicBezTo>
                    <a:cubicBezTo>
                      <a:pt x="16634" y="21431"/>
                      <a:pt x="21431" y="16634"/>
                      <a:pt x="21431" y="10716"/>
                    </a:cubicBezTo>
                    <a:cubicBezTo>
                      <a:pt x="21431" y="4798"/>
                      <a:pt x="16634" y="0"/>
                      <a:pt x="10716" y="0"/>
                    </a:cubicBezTo>
                    <a:cubicBezTo>
                      <a:pt x="4798" y="0"/>
                      <a:pt x="0" y="4798"/>
                      <a:pt x="0" y="10716"/>
                    </a:cubicBezTo>
                  </a:path>
                </a:pathLst>
              </a:custGeom>
              <a:noFill/>
              <a:ln w="14288">
                <a:solidFill>
                  <a:srgbClr val="FFFFFF"/>
                </a:solidFill>
              </a:ln>
            </p:spPr>
          </p:sp>
          <p:sp>
            <p:nvSpPr>
              <p:cNvPr id="109" name="Freeform 109"/>
              <p:cNvSpPr/>
              <p:nvPr/>
            </p:nvSpPr>
            <p:spPr>
              <a:xfrm>
                <a:off x="9867900" y="4155281"/>
                <a:ext cx="64294" cy="64294"/>
              </a:xfrm>
              <a:custGeom>
                <a:avLst/>
                <a:gdLst/>
                <a:ahLst/>
                <a:cxnLst/>
                <a:rect l="l" t="t" r="r" b="b"/>
                <a:pathLst>
                  <a:path w="64294" h="64294">
                    <a:moveTo>
                      <a:pt x="0" y="32147"/>
                    </a:moveTo>
                    <a:cubicBezTo>
                      <a:pt x="0" y="49901"/>
                      <a:pt x="14393" y="64294"/>
                      <a:pt x="32147" y="64294"/>
                    </a:cubicBezTo>
                    <a:cubicBezTo>
                      <a:pt x="49901" y="64294"/>
                      <a:pt x="64294" y="49901"/>
                      <a:pt x="64294" y="32147"/>
                    </a:cubicBezTo>
                    <a:cubicBezTo>
                      <a:pt x="64294" y="14393"/>
                      <a:pt x="49901" y="0"/>
                      <a:pt x="32147" y="0"/>
                    </a:cubicBezTo>
                    <a:cubicBezTo>
                      <a:pt x="14393" y="0"/>
                      <a:pt x="0" y="14393"/>
                      <a:pt x="0" y="32147"/>
                    </a:cubicBezTo>
                  </a:path>
                </a:pathLst>
              </a:custGeom>
              <a:noFill/>
              <a:ln w="14288">
                <a:solidFill>
                  <a:srgbClr val="FFFFFF"/>
                </a:solidFill>
              </a:ln>
            </p:spPr>
          </p:sp>
        </p:grpSp>
        <p:sp>
          <p:nvSpPr>
            <p:cNvPr id="111" name="TextBox 111"/>
            <p:cNvSpPr txBox="1"/>
            <p:nvPr/>
          </p:nvSpPr>
          <p:spPr>
            <a:xfrm>
              <a:off x="10062972" y="4114324"/>
              <a:ext cx="77049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D生态拓展​​</a:t>
              </a:r>
            </a:p>
          </p:txBody>
        </p:sp>
        <p:sp>
          <p:nvSpPr>
            <p:cNvPr id="112" name="Rectangle 112"/>
            <p:cNvSpPr/>
            <p:nvPr/>
          </p:nvSpPr>
          <p:spPr>
            <a:xfrm>
              <a:off x="381000" y="4343400"/>
              <a:ext cx="1238250" cy="590550"/>
            </a:xfrm>
            <a:prstGeom prst="rect">
              <a:avLst/>
            </a:prstGeom>
            <a:solidFill>
              <a:srgbClr val="F7FAFE"/>
            </a:solidFill>
            <a:ln w="9525">
              <a:solidFill>
                <a:srgbClr val="E2EAF6"/>
              </a:solidFill>
            </a:ln>
          </p:spPr>
        </p:sp>
        <p:grpSp>
          <p:nvGrpSpPr>
            <p:cNvPr id="116" name="Group 116"/>
            <p:cNvGrpSpPr/>
            <p:nvPr/>
          </p:nvGrpSpPr>
          <p:grpSpPr>
            <a:xfrm>
              <a:off x="585788" y="4560094"/>
              <a:ext cx="130969" cy="157163"/>
              <a:chOff x="585788" y="4560094"/>
              <a:chExt cx="130969" cy="157163"/>
            </a:xfrm>
          </p:grpSpPr>
          <p:sp>
            <p:nvSpPr>
              <p:cNvPr id="113" name="Freeform 113"/>
              <p:cNvSpPr/>
              <p:nvPr/>
            </p:nvSpPr>
            <p:spPr>
              <a:xfrm>
                <a:off x="603250" y="45600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A8351D"/>
                </a:solidFill>
              </a:ln>
            </p:spPr>
          </p:sp>
          <p:sp>
            <p:nvSpPr>
              <p:cNvPr id="114" name="Freeform 114"/>
              <p:cNvSpPr/>
              <p:nvPr/>
            </p:nvSpPr>
            <p:spPr>
              <a:xfrm>
                <a:off x="585788" y="46648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A8351D"/>
                </a:solidFill>
              </a:ln>
            </p:spPr>
          </p:sp>
          <p:sp>
            <p:nvSpPr>
              <p:cNvPr id="115" name="Freeform 115"/>
              <p:cNvSpPr/>
              <p:nvPr/>
            </p:nvSpPr>
            <p:spPr>
              <a:xfrm>
                <a:off x="664369" y="4682331"/>
                <a:ext cx="52388" cy="34925"/>
              </a:xfrm>
              <a:custGeom>
                <a:avLst/>
                <a:gdLst/>
                <a:ahLst/>
                <a:cxnLst/>
                <a:rect l="l" t="t" r="r" b="b"/>
                <a:pathLst>
                  <a:path w="52388" h="34925">
                    <a:moveTo>
                      <a:pt x="0" y="17463"/>
                    </a:moveTo>
                    <a:lnTo>
                      <a:pt x="17463" y="34925"/>
                    </a:lnTo>
                    <a:lnTo>
                      <a:pt x="52388" y="0"/>
                    </a:lnTo>
                  </a:path>
                </a:pathLst>
              </a:custGeom>
              <a:noFill/>
              <a:ln w="17463">
                <a:solidFill>
                  <a:srgbClr val="A8351D"/>
                </a:solidFill>
              </a:ln>
            </p:spPr>
          </p:sp>
        </p:grpSp>
        <p:sp>
          <p:nvSpPr>
            <p:cNvPr id="117" name="TextBox 117"/>
            <p:cNvSpPr txBox="1"/>
            <p:nvPr/>
          </p:nvSpPr>
          <p:spPr>
            <a:xfrm>
              <a:off x="833438" y="4585097"/>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客群特征</a:t>
              </a:r>
            </a:p>
          </p:txBody>
        </p:sp>
        <p:sp>
          <p:nvSpPr>
            <p:cNvPr id="118" name="Rectangle 118"/>
            <p:cNvSpPr/>
            <p:nvPr/>
          </p:nvSpPr>
          <p:spPr>
            <a:xfrm>
              <a:off x="1619250" y="4343400"/>
              <a:ext cx="2543175" cy="590550"/>
            </a:xfrm>
            <a:prstGeom prst="rect">
              <a:avLst/>
            </a:prstGeom>
            <a:solidFill>
              <a:srgbClr val="FFFFFF"/>
            </a:solidFill>
            <a:ln w="9525">
              <a:solidFill>
                <a:srgbClr val="E2EAF6"/>
              </a:solidFill>
            </a:ln>
          </p:spPr>
        </p:sp>
        <p:sp>
          <p:nvSpPr>
            <p:cNvPr id="119" name="TextBox 119"/>
            <p:cNvSpPr txBox="1"/>
            <p:nvPr/>
          </p:nvSpPr>
          <p:spPr>
            <a:xfrm>
              <a:off x="2351733" y="4597241"/>
              <a:ext cx="1078210" cy="161925"/>
            </a:xfrm>
            <a:prstGeom prst="rect">
              <a:avLst/>
            </a:prstGeom>
            <a:noFill/>
            <a:ln>
              <a:noFill/>
            </a:ln>
          </p:spPr>
          <p:txBody>
            <a:bodyPr wrap="none" lIns="0" tIns="0" rIns="0" bIns="0" anchor="t" anchorCtr="0">
              <a:spAutoFit/>
            </a:bodyPr>
            <a:lstStyle/>
            <a:p>
              <a:pPr algn="ctr"/>
              <a:r>
                <a:rPr lang="zh-CN" sz="820" dirty="0">
                  <a:solidFill>
                    <a:srgbClr val="5A443F"/>
                  </a:solidFill>
                  <a:latin typeface="+mn-lt"/>
                  <a:ea typeface="+mn-ea"/>
                  <a:cs typeface="+mn-cs"/>
                </a:rPr>
                <a:t>A央国企、上市集团​​</a:t>
              </a:r>
            </a:p>
          </p:txBody>
        </p:sp>
        <p:sp>
          <p:nvSpPr>
            <p:cNvPr id="120" name="Rectangle 120"/>
            <p:cNvSpPr/>
            <p:nvPr/>
          </p:nvSpPr>
          <p:spPr>
            <a:xfrm>
              <a:off x="4162425" y="4343400"/>
              <a:ext cx="2543175" cy="590550"/>
            </a:xfrm>
            <a:prstGeom prst="rect">
              <a:avLst/>
            </a:prstGeom>
            <a:solidFill>
              <a:srgbClr val="FFFFFF"/>
            </a:solidFill>
            <a:ln w="9525">
              <a:solidFill>
                <a:srgbClr val="E2EAF6"/>
              </a:solidFill>
            </a:ln>
          </p:spPr>
        </p:sp>
        <p:sp>
          <p:nvSpPr>
            <p:cNvPr id="121" name="TextBox 121"/>
            <p:cNvSpPr txBox="1"/>
            <p:nvPr/>
          </p:nvSpPr>
          <p:spPr>
            <a:xfrm>
              <a:off x="4932502" y="4597241"/>
              <a:ext cx="1003021" cy="161925"/>
            </a:xfrm>
            <a:prstGeom prst="rect">
              <a:avLst/>
            </a:prstGeom>
            <a:noFill/>
            <a:ln>
              <a:noFill/>
            </a:ln>
          </p:spPr>
          <p:txBody>
            <a:bodyPr wrap="none" lIns="0" tIns="0" rIns="0" bIns="0" anchor="t" anchorCtr="0">
              <a:spAutoFit/>
            </a:bodyPr>
            <a:lstStyle/>
            <a:p>
              <a:pPr algn="ctr"/>
              <a:r>
                <a:rPr lang="zh-CN" sz="820" dirty="0">
                  <a:solidFill>
                    <a:srgbClr val="5A443F"/>
                  </a:solidFill>
                  <a:latin typeface="+mn-lt"/>
                  <a:ea typeface="+mn-ea"/>
                  <a:cs typeface="+mn-cs"/>
                </a:rPr>
                <a:t>员工多、代发潜力高</a:t>
              </a:r>
            </a:p>
          </p:txBody>
        </p:sp>
        <p:sp>
          <p:nvSpPr>
            <p:cNvPr id="122" name="Rectangle 122"/>
            <p:cNvSpPr/>
            <p:nvPr/>
          </p:nvSpPr>
          <p:spPr>
            <a:xfrm>
              <a:off x="6705600" y="4343400"/>
              <a:ext cx="2543175" cy="590550"/>
            </a:xfrm>
            <a:prstGeom prst="rect">
              <a:avLst/>
            </a:prstGeom>
            <a:solidFill>
              <a:srgbClr val="FFFFFF"/>
            </a:solidFill>
            <a:ln w="9525">
              <a:solidFill>
                <a:srgbClr val="E2EAF6"/>
              </a:solidFill>
            </a:ln>
          </p:spPr>
        </p:sp>
        <p:sp>
          <p:nvSpPr>
            <p:cNvPr id="123" name="TextBox 123"/>
            <p:cNvSpPr txBox="1"/>
            <p:nvPr/>
          </p:nvSpPr>
          <p:spPr>
            <a:xfrm>
              <a:off x="7420483" y="4597241"/>
              <a:ext cx="1113409" cy="161925"/>
            </a:xfrm>
            <a:prstGeom prst="rect">
              <a:avLst/>
            </a:prstGeom>
            <a:noFill/>
            <a:ln>
              <a:noFill/>
            </a:ln>
          </p:spPr>
          <p:txBody>
            <a:bodyPr wrap="none" lIns="0" tIns="0" rIns="0" bIns="0" anchor="t" anchorCtr="0">
              <a:spAutoFit/>
            </a:bodyPr>
            <a:lstStyle/>
            <a:p>
              <a:pPr algn="ctr"/>
              <a:r>
                <a:rPr lang="zh-CN" sz="820" dirty="0">
                  <a:solidFill>
                    <a:srgbClr val="5A443F"/>
                  </a:solidFill>
                  <a:latin typeface="+mn-lt"/>
                  <a:ea typeface="+mn-ea"/>
                  <a:cs typeface="+mn-cs"/>
                </a:rPr>
                <a:t>高管、股东、人才密集</a:t>
              </a:r>
            </a:p>
          </p:txBody>
        </p:sp>
        <p:sp>
          <p:nvSpPr>
            <p:cNvPr id="124" name="Rectangle 124"/>
            <p:cNvSpPr/>
            <p:nvPr/>
          </p:nvSpPr>
          <p:spPr>
            <a:xfrm>
              <a:off x="9248775" y="4343400"/>
              <a:ext cx="2543175" cy="590550"/>
            </a:xfrm>
            <a:prstGeom prst="rect">
              <a:avLst/>
            </a:prstGeom>
            <a:solidFill>
              <a:srgbClr val="FFFFFF"/>
            </a:solidFill>
            <a:ln w="9525">
              <a:solidFill>
                <a:srgbClr val="E2EAF6"/>
              </a:solidFill>
            </a:ln>
          </p:spPr>
        </p:sp>
        <p:sp>
          <p:nvSpPr>
            <p:cNvPr id="125" name="TextBox 125"/>
            <p:cNvSpPr txBox="1"/>
            <p:nvPr/>
          </p:nvSpPr>
          <p:spPr>
            <a:xfrm>
              <a:off x="9853270" y="4597241"/>
              <a:ext cx="1334186" cy="161925"/>
            </a:xfrm>
            <a:prstGeom prst="rect">
              <a:avLst/>
            </a:prstGeom>
            <a:noFill/>
            <a:ln>
              <a:noFill/>
            </a:ln>
          </p:spPr>
          <p:txBody>
            <a:bodyPr wrap="none" lIns="0" tIns="0" rIns="0" bIns="0" anchor="t" anchorCtr="0">
              <a:spAutoFit/>
            </a:bodyPr>
            <a:lstStyle/>
            <a:p>
              <a:pPr algn="ctr"/>
              <a:r>
                <a:rPr lang="zh-CN" sz="820" dirty="0">
                  <a:solidFill>
                    <a:srgbClr val="5A443F"/>
                  </a:solidFill>
                  <a:latin typeface="+mn-lt"/>
                  <a:ea typeface="+mn-ea"/>
                  <a:cs typeface="+mn-cs"/>
                </a:rPr>
                <a:t>产业链、园区、商圈、平台</a:t>
              </a:r>
            </a:p>
          </p:txBody>
        </p:sp>
        <p:sp>
          <p:nvSpPr>
            <p:cNvPr id="126" name="Rectangle 126"/>
            <p:cNvSpPr/>
            <p:nvPr/>
          </p:nvSpPr>
          <p:spPr>
            <a:xfrm>
              <a:off x="381000" y="4933950"/>
              <a:ext cx="1238250" cy="590550"/>
            </a:xfrm>
            <a:prstGeom prst="rect">
              <a:avLst/>
            </a:prstGeom>
            <a:solidFill>
              <a:srgbClr val="F7FAFE"/>
            </a:solidFill>
            <a:ln w="9525">
              <a:solidFill>
                <a:srgbClr val="E2EAF6"/>
              </a:solidFill>
            </a:ln>
          </p:spPr>
        </p:sp>
        <p:grpSp>
          <p:nvGrpSpPr>
            <p:cNvPr id="130" name="Group 130"/>
            <p:cNvGrpSpPr/>
            <p:nvPr/>
          </p:nvGrpSpPr>
          <p:grpSpPr>
            <a:xfrm>
              <a:off x="559594" y="5150644"/>
              <a:ext cx="157163" cy="157163"/>
              <a:chOff x="559594" y="5150644"/>
              <a:chExt cx="157163" cy="157163"/>
            </a:xfrm>
          </p:grpSpPr>
          <p:sp>
            <p:nvSpPr>
              <p:cNvPr id="127" name="Freeform 127"/>
              <p:cNvSpPr/>
              <p:nvPr/>
            </p:nvSpPr>
            <p:spPr>
              <a:xfrm>
                <a:off x="629444" y="522049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A8351D"/>
                </a:solidFill>
              </a:ln>
            </p:spPr>
          </p:sp>
          <p:sp>
            <p:nvSpPr>
              <p:cNvPr id="128" name="Freeform 128"/>
              <p:cNvSpPr/>
              <p:nvPr/>
            </p:nvSpPr>
            <p:spPr>
              <a:xfrm>
                <a:off x="594519" y="518556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A8351D"/>
                </a:solidFill>
              </a:ln>
            </p:spPr>
          </p:sp>
          <p:sp>
            <p:nvSpPr>
              <p:cNvPr id="129" name="Freeform 129"/>
              <p:cNvSpPr/>
              <p:nvPr/>
            </p:nvSpPr>
            <p:spPr>
              <a:xfrm>
                <a:off x="559594" y="5150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A8351D"/>
                </a:solidFill>
              </a:ln>
            </p:spPr>
          </p:sp>
        </p:grpSp>
        <p:sp>
          <p:nvSpPr>
            <p:cNvPr id="131" name="TextBox 131"/>
            <p:cNvSpPr txBox="1"/>
            <p:nvPr/>
          </p:nvSpPr>
          <p:spPr>
            <a:xfrm>
              <a:off x="833438" y="5175647"/>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经营策略</a:t>
              </a:r>
            </a:p>
          </p:txBody>
        </p:sp>
        <p:sp>
          <p:nvSpPr>
            <p:cNvPr id="132" name="Rectangle 132"/>
            <p:cNvSpPr/>
            <p:nvPr/>
          </p:nvSpPr>
          <p:spPr>
            <a:xfrm>
              <a:off x="1619250" y="4933950"/>
              <a:ext cx="2543175" cy="590550"/>
            </a:xfrm>
            <a:prstGeom prst="rect">
              <a:avLst/>
            </a:prstGeom>
            <a:solidFill>
              <a:srgbClr val="FFFFFF"/>
            </a:solidFill>
            <a:ln w="9525">
              <a:solidFill>
                <a:srgbClr val="E2EAF6"/>
              </a:solidFill>
            </a:ln>
          </p:spPr>
        </p:sp>
        <p:sp>
          <p:nvSpPr>
            <p:cNvPr id="133" name="TextBox 133"/>
            <p:cNvSpPr txBox="1"/>
            <p:nvPr/>
          </p:nvSpPr>
          <p:spPr>
            <a:xfrm>
              <a:off x="2113356" y="5187791"/>
              <a:ext cx="1554963" cy="161925"/>
            </a:xfrm>
            <a:prstGeom prst="rect">
              <a:avLst/>
            </a:prstGeom>
            <a:noFill/>
            <a:ln>
              <a:noFill/>
            </a:ln>
          </p:spPr>
          <p:txBody>
            <a:bodyPr wrap="none" lIns="0" tIns="0" rIns="0" bIns="0" anchor="t" anchorCtr="0">
              <a:spAutoFit/>
            </a:bodyPr>
            <a:lstStyle/>
            <a:p>
              <a:pPr algn="ctr"/>
              <a:r>
                <a:rPr lang="zh-CN" sz="820" dirty="0">
                  <a:solidFill>
                    <a:srgbClr val="5A443F"/>
                  </a:solidFill>
                  <a:latin typeface="+mn-lt"/>
                  <a:ea typeface="+mn-ea"/>
                  <a:cs typeface="+mn-cs"/>
                </a:rPr>
                <a:t>高层牵引｜综合授信｜私行服务</a:t>
              </a:r>
            </a:p>
          </p:txBody>
        </p:sp>
        <p:sp>
          <p:nvSpPr>
            <p:cNvPr id="134" name="Rectangle 134"/>
            <p:cNvSpPr/>
            <p:nvPr/>
          </p:nvSpPr>
          <p:spPr>
            <a:xfrm>
              <a:off x="4162425" y="4933950"/>
              <a:ext cx="2543175" cy="590550"/>
            </a:xfrm>
            <a:prstGeom prst="rect">
              <a:avLst/>
            </a:prstGeom>
            <a:solidFill>
              <a:srgbClr val="FFFFFF"/>
            </a:solidFill>
            <a:ln w="9525">
              <a:solidFill>
                <a:srgbClr val="E2EAF6"/>
              </a:solidFill>
            </a:ln>
          </p:spPr>
        </p:sp>
        <p:sp>
          <p:nvSpPr>
            <p:cNvPr id="135" name="TextBox 135"/>
            <p:cNvSpPr txBox="1"/>
            <p:nvPr/>
          </p:nvSpPr>
          <p:spPr>
            <a:xfrm>
              <a:off x="4656531" y="5187791"/>
              <a:ext cx="1554963" cy="161925"/>
            </a:xfrm>
            <a:prstGeom prst="rect">
              <a:avLst/>
            </a:prstGeom>
            <a:noFill/>
            <a:ln>
              <a:noFill/>
            </a:ln>
          </p:spPr>
          <p:txBody>
            <a:bodyPr wrap="none" lIns="0" tIns="0" rIns="0" bIns="0" anchor="t" anchorCtr="0">
              <a:spAutoFit/>
            </a:bodyPr>
            <a:lstStyle/>
            <a:p>
              <a:pPr algn="ctr"/>
              <a:r>
                <a:rPr lang="zh-CN" sz="820" dirty="0">
                  <a:solidFill>
                    <a:srgbClr val="5A443F"/>
                  </a:solidFill>
                  <a:latin typeface="+mn-lt"/>
                  <a:ea typeface="+mn-ea"/>
                  <a:cs typeface="+mn-cs"/>
                </a:rPr>
                <a:t>批量获客｜薪福运营｜员工激活</a:t>
              </a:r>
            </a:p>
          </p:txBody>
        </p:sp>
        <p:sp>
          <p:nvSpPr>
            <p:cNvPr id="136" name="Rectangle 136"/>
            <p:cNvSpPr/>
            <p:nvPr/>
          </p:nvSpPr>
          <p:spPr>
            <a:xfrm>
              <a:off x="6705600" y="4933950"/>
              <a:ext cx="2543175" cy="590550"/>
            </a:xfrm>
            <a:prstGeom prst="rect">
              <a:avLst/>
            </a:prstGeom>
            <a:solidFill>
              <a:srgbClr val="FFFFFF"/>
            </a:solidFill>
            <a:ln w="9525">
              <a:solidFill>
                <a:srgbClr val="E2EAF6"/>
              </a:solidFill>
            </a:ln>
          </p:spPr>
        </p:sp>
        <p:sp>
          <p:nvSpPr>
            <p:cNvPr id="137" name="TextBox 137"/>
            <p:cNvSpPr txBox="1"/>
            <p:nvPr/>
          </p:nvSpPr>
          <p:spPr>
            <a:xfrm>
              <a:off x="7144512" y="5187791"/>
              <a:ext cx="1665351" cy="161925"/>
            </a:xfrm>
            <a:prstGeom prst="rect">
              <a:avLst/>
            </a:prstGeom>
            <a:noFill/>
            <a:ln>
              <a:noFill/>
            </a:ln>
          </p:spPr>
          <p:txBody>
            <a:bodyPr wrap="none" lIns="0" tIns="0" rIns="0" bIns="0" anchor="t" anchorCtr="0">
              <a:spAutoFit/>
            </a:bodyPr>
            <a:lstStyle/>
            <a:p>
              <a:pPr algn="ctr"/>
              <a:r>
                <a:rPr lang="zh-CN" sz="820" dirty="0">
                  <a:solidFill>
                    <a:srgbClr val="5A443F"/>
                  </a:solidFill>
                  <a:latin typeface="+mn-lt"/>
                  <a:ea typeface="+mn-ea"/>
                  <a:cs typeface="+mn-cs"/>
                </a:rPr>
                <a:t>关键人经营｜财富配置｜家庭服务</a:t>
              </a:r>
            </a:p>
          </p:txBody>
        </p:sp>
        <p:sp>
          <p:nvSpPr>
            <p:cNvPr id="138" name="Rectangle 138"/>
            <p:cNvSpPr/>
            <p:nvPr/>
          </p:nvSpPr>
          <p:spPr>
            <a:xfrm>
              <a:off x="9248775" y="4933950"/>
              <a:ext cx="2543175" cy="590550"/>
            </a:xfrm>
            <a:prstGeom prst="rect">
              <a:avLst/>
            </a:prstGeom>
            <a:solidFill>
              <a:srgbClr val="FFFFFF"/>
            </a:solidFill>
            <a:ln w="9525">
              <a:solidFill>
                <a:srgbClr val="E2EAF6"/>
              </a:solidFill>
            </a:ln>
          </p:spPr>
        </p:sp>
        <p:sp>
          <p:nvSpPr>
            <p:cNvPr id="139" name="TextBox 139"/>
            <p:cNvSpPr txBox="1"/>
            <p:nvPr/>
          </p:nvSpPr>
          <p:spPr>
            <a:xfrm>
              <a:off x="9742881" y="5187791"/>
              <a:ext cx="1554963" cy="161925"/>
            </a:xfrm>
            <a:prstGeom prst="rect">
              <a:avLst/>
            </a:prstGeom>
            <a:noFill/>
            <a:ln>
              <a:noFill/>
            </a:ln>
          </p:spPr>
          <p:txBody>
            <a:bodyPr wrap="none" lIns="0" tIns="0" rIns="0" bIns="0" anchor="t" anchorCtr="0">
              <a:spAutoFit/>
            </a:bodyPr>
            <a:lstStyle/>
            <a:p>
              <a:pPr algn="ctr"/>
              <a:r>
                <a:rPr lang="zh-CN" sz="820" dirty="0">
                  <a:solidFill>
                    <a:srgbClr val="5A443F"/>
                  </a:solidFill>
                  <a:latin typeface="+mn-lt"/>
                  <a:ea typeface="+mn-ea"/>
                  <a:cs typeface="+mn-cs"/>
                </a:rPr>
                <a:t>链式拓客｜场景结算｜普惠金融</a:t>
              </a:r>
            </a:p>
          </p:txBody>
        </p:sp>
        <p:sp>
          <p:nvSpPr>
            <p:cNvPr id="140" name="Rectangle 140"/>
            <p:cNvSpPr/>
            <p:nvPr/>
          </p:nvSpPr>
          <p:spPr>
            <a:xfrm>
              <a:off x="381000" y="5524500"/>
              <a:ext cx="1238250" cy="590550"/>
            </a:xfrm>
            <a:prstGeom prst="rect">
              <a:avLst/>
            </a:prstGeom>
            <a:solidFill>
              <a:srgbClr val="F7FAFE"/>
            </a:solidFill>
            <a:ln w="9525">
              <a:solidFill>
                <a:srgbClr val="E2EAF6"/>
              </a:solidFill>
            </a:ln>
          </p:spPr>
        </p:sp>
        <p:grpSp>
          <p:nvGrpSpPr>
            <p:cNvPr id="147" name="Group 147"/>
            <p:cNvGrpSpPr/>
            <p:nvPr/>
          </p:nvGrpSpPr>
          <p:grpSpPr>
            <a:xfrm>
              <a:off x="563959" y="5754291"/>
              <a:ext cx="144066" cy="127397"/>
              <a:chOff x="563959" y="5754291"/>
              <a:chExt cx="144066" cy="127397"/>
            </a:xfrm>
          </p:grpSpPr>
          <p:sp>
            <p:nvSpPr>
              <p:cNvPr id="141" name="Freeform 141"/>
              <p:cNvSpPr/>
              <p:nvPr/>
            </p:nvSpPr>
            <p:spPr>
              <a:xfrm>
                <a:off x="563959" y="5754291"/>
                <a:ext cx="34925" cy="21828"/>
              </a:xfrm>
              <a:custGeom>
                <a:avLst/>
                <a:gdLst/>
                <a:ahLst/>
                <a:cxnLst/>
                <a:rect l="l" t="t" r="r" b="b"/>
                <a:pathLst>
                  <a:path w="34925" h="21828">
                    <a:moveTo>
                      <a:pt x="0" y="8731"/>
                    </a:moveTo>
                    <a:lnTo>
                      <a:pt x="13097" y="21828"/>
                    </a:lnTo>
                    <a:lnTo>
                      <a:pt x="34925" y="0"/>
                    </a:lnTo>
                  </a:path>
                </a:pathLst>
              </a:custGeom>
              <a:noFill/>
              <a:ln w="17463">
                <a:solidFill>
                  <a:srgbClr val="A8351D"/>
                </a:solidFill>
              </a:ln>
            </p:spPr>
          </p:sp>
          <p:sp>
            <p:nvSpPr>
              <p:cNvPr id="142" name="Freeform 142"/>
              <p:cNvSpPr/>
              <p:nvPr/>
            </p:nvSpPr>
            <p:spPr>
              <a:xfrm>
                <a:off x="563959" y="5806678"/>
                <a:ext cx="34925" cy="21828"/>
              </a:xfrm>
              <a:custGeom>
                <a:avLst/>
                <a:gdLst/>
                <a:ahLst/>
                <a:cxnLst/>
                <a:rect l="l" t="t" r="r" b="b"/>
                <a:pathLst>
                  <a:path w="34925" h="21828">
                    <a:moveTo>
                      <a:pt x="0" y="8731"/>
                    </a:moveTo>
                    <a:lnTo>
                      <a:pt x="13097" y="21828"/>
                    </a:lnTo>
                    <a:lnTo>
                      <a:pt x="34925" y="0"/>
                    </a:lnTo>
                  </a:path>
                </a:pathLst>
              </a:custGeom>
              <a:noFill/>
              <a:ln w="17463">
                <a:solidFill>
                  <a:srgbClr val="A8351D"/>
                </a:solidFill>
              </a:ln>
            </p:spPr>
          </p:sp>
          <p:sp>
            <p:nvSpPr>
              <p:cNvPr id="143" name="Freeform 143"/>
              <p:cNvSpPr/>
              <p:nvPr/>
            </p:nvSpPr>
            <p:spPr>
              <a:xfrm>
                <a:off x="563959" y="5859066"/>
                <a:ext cx="34925" cy="21828"/>
              </a:xfrm>
              <a:custGeom>
                <a:avLst/>
                <a:gdLst/>
                <a:ahLst/>
                <a:cxnLst/>
                <a:rect l="l" t="t" r="r" b="b"/>
                <a:pathLst>
                  <a:path w="34925" h="21828">
                    <a:moveTo>
                      <a:pt x="0" y="8731"/>
                    </a:moveTo>
                    <a:lnTo>
                      <a:pt x="13097" y="21828"/>
                    </a:lnTo>
                    <a:lnTo>
                      <a:pt x="34925" y="0"/>
                    </a:lnTo>
                  </a:path>
                </a:pathLst>
              </a:custGeom>
              <a:noFill/>
              <a:ln w="17463">
                <a:solidFill>
                  <a:srgbClr val="A8351D"/>
                </a:solidFill>
              </a:ln>
            </p:spPr>
          </p:sp>
          <p:sp>
            <p:nvSpPr>
              <p:cNvPr id="144" name="Freeform 144"/>
              <p:cNvSpPr/>
              <p:nvPr/>
            </p:nvSpPr>
            <p:spPr>
              <a:xfrm>
                <a:off x="629444" y="5767388"/>
                <a:ext cx="78581" cy="9525"/>
              </a:xfrm>
              <a:custGeom>
                <a:avLst/>
                <a:gdLst/>
                <a:ahLst/>
                <a:cxnLst/>
                <a:rect l="l" t="t" r="r" b="b"/>
                <a:pathLst>
                  <a:path w="78581" h="9525">
                    <a:moveTo>
                      <a:pt x="0" y="0"/>
                    </a:moveTo>
                    <a:lnTo>
                      <a:pt x="78581" y="0"/>
                    </a:lnTo>
                  </a:path>
                </a:pathLst>
              </a:custGeom>
              <a:noFill/>
              <a:ln w="17463">
                <a:solidFill>
                  <a:srgbClr val="A8351D"/>
                </a:solidFill>
              </a:ln>
            </p:spPr>
          </p:sp>
          <p:sp>
            <p:nvSpPr>
              <p:cNvPr id="145" name="Freeform 145"/>
              <p:cNvSpPr/>
              <p:nvPr/>
            </p:nvSpPr>
            <p:spPr>
              <a:xfrm>
                <a:off x="629444" y="5819775"/>
                <a:ext cx="78581" cy="9525"/>
              </a:xfrm>
              <a:custGeom>
                <a:avLst/>
                <a:gdLst/>
                <a:ahLst/>
                <a:cxnLst/>
                <a:rect l="l" t="t" r="r" b="b"/>
                <a:pathLst>
                  <a:path w="78581" h="9525">
                    <a:moveTo>
                      <a:pt x="0" y="0"/>
                    </a:moveTo>
                    <a:lnTo>
                      <a:pt x="78581" y="0"/>
                    </a:lnTo>
                  </a:path>
                </a:pathLst>
              </a:custGeom>
              <a:noFill/>
              <a:ln w="17463">
                <a:solidFill>
                  <a:srgbClr val="A8351D"/>
                </a:solidFill>
              </a:ln>
            </p:spPr>
          </p:sp>
          <p:sp>
            <p:nvSpPr>
              <p:cNvPr id="146" name="Freeform 146"/>
              <p:cNvSpPr/>
              <p:nvPr/>
            </p:nvSpPr>
            <p:spPr>
              <a:xfrm>
                <a:off x="629444" y="5872163"/>
                <a:ext cx="78581" cy="9525"/>
              </a:xfrm>
              <a:custGeom>
                <a:avLst/>
                <a:gdLst/>
                <a:ahLst/>
                <a:cxnLst/>
                <a:rect l="l" t="t" r="r" b="b"/>
                <a:pathLst>
                  <a:path w="78581" h="9525">
                    <a:moveTo>
                      <a:pt x="0" y="0"/>
                    </a:moveTo>
                    <a:lnTo>
                      <a:pt x="78581" y="0"/>
                    </a:lnTo>
                  </a:path>
                </a:pathLst>
              </a:custGeom>
              <a:noFill/>
              <a:ln w="17463">
                <a:solidFill>
                  <a:srgbClr val="A8351D"/>
                </a:solidFill>
              </a:ln>
            </p:spPr>
          </p:sp>
        </p:grpSp>
        <p:sp>
          <p:nvSpPr>
            <p:cNvPr id="148" name="TextBox 148"/>
            <p:cNvSpPr txBox="1"/>
            <p:nvPr/>
          </p:nvSpPr>
          <p:spPr>
            <a:xfrm>
              <a:off x="833438" y="5766197"/>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资源配置</a:t>
              </a:r>
            </a:p>
          </p:txBody>
        </p:sp>
        <p:sp>
          <p:nvSpPr>
            <p:cNvPr id="149" name="Rectangle 149"/>
            <p:cNvSpPr/>
            <p:nvPr/>
          </p:nvSpPr>
          <p:spPr>
            <a:xfrm>
              <a:off x="1619250" y="5524500"/>
              <a:ext cx="2543175" cy="590550"/>
            </a:xfrm>
            <a:prstGeom prst="rect">
              <a:avLst/>
            </a:prstGeom>
            <a:solidFill>
              <a:srgbClr val="FFFFFF"/>
            </a:solidFill>
            <a:ln w="9525">
              <a:solidFill>
                <a:srgbClr val="E2EAF6"/>
              </a:solidFill>
            </a:ln>
          </p:spPr>
        </p:sp>
        <p:sp>
          <p:nvSpPr>
            <p:cNvPr id="150" name="TextBox 150"/>
            <p:cNvSpPr txBox="1"/>
            <p:nvPr/>
          </p:nvSpPr>
          <p:spPr>
            <a:xfrm>
              <a:off x="1928927" y="5782389"/>
              <a:ext cx="1923821"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客户经理团队｜审批授信资源｜私行团队</a:t>
              </a:r>
            </a:p>
          </p:txBody>
        </p:sp>
        <p:sp>
          <p:nvSpPr>
            <p:cNvPr id="151" name="Rectangle 151"/>
            <p:cNvSpPr/>
            <p:nvPr/>
          </p:nvSpPr>
          <p:spPr>
            <a:xfrm>
              <a:off x="4162425" y="5524500"/>
              <a:ext cx="2543175" cy="590550"/>
            </a:xfrm>
            <a:prstGeom prst="rect">
              <a:avLst/>
            </a:prstGeom>
            <a:solidFill>
              <a:srgbClr val="FFFFFF"/>
            </a:solidFill>
            <a:ln w="9525">
              <a:solidFill>
                <a:srgbClr val="E2EAF6"/>
              </a:solidFill>
            </a:ln>
          </p:spPr>
        </p:sp>
        <p:sp>
          <p:nvSpPr>
            <p:cNvPr id="152" name="TextBox 152"/>
            <p:cNvSpPr txBox="1"/>
            <p:nvPr/>
          </p:nvSpPr>
          <p:spPr>
            <a:xfrm>
              <a:off x="4418927" y="5782389"/>
              <a:ext cx="2030171"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批量运营团队｜数字化工具｜薪福权益资源</a:t>
              </a:r>
            </a:p>
          </p:txBody>
        </p:sp>
        <p:sp>
          <p:nvSpPr>
            <p:cNvPr id="153" name="Rectangle 153"/>
            <p:cNvSpPr/>
            <p:nvPr/>
          </p:nvSpPr>
          <p:spPr>
            <a:xfrm>
              <a:off x="6705600" y="5524500"/>
              <a:ext cx="2543175" cy="590550"/>
            </a:xfrm>
            <a:prstGeom prst="rect">
              <a:avLst/>
            </a:prstGeom>
            <a:solidFill>
              <a:srgbClr val="FFFFFF"/>
            </a:solidFill>
            <a:ln w="9525">
              <a:solidFill>
                <a:srgbClr val="E2EAF6"/>
              </a:solidFill>
            </a:ln>
          </p:spPr>
        </p:sp>
        <p:sp>
          <p:nvSpPr>
            <p:cNvPr id="154" name="TextBox 154"/>
            <p:cNvSpPr txBox="1"/>
            <p:nvPr/>
          </p:nvSpPr>
          <p:spPr>
            <a:xfrm>
              <a:off x="6962102" y="5782389"/>
              <a:ext cx="2030171"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私行顾问团队｜财富产品货架｜家族办公室</a:t>
              </a:r>
            </a:p>
          </p:txBody>
        </p:sp>
        <p:sp>
          <p:nvSpPr>
            <p:cNvPr id="155" name="Rectangle 155"/>
            <p:cNvSpPr/>
            <p:nvPr/>
          </p:nvSpPr>
          <p:spPr>
            <a:xfrm>
              <a:off x="9248775" y="5524500"/>
              <a:ext cx="2543175" cy="590550"/>
            </a:xfrm>
            <a:prstGeom prst="rect">
              <a:avLst/>
            </a:prstGeom>
            <a:solidFill>
              <a:srgbClr val="FFFFFF"/>
            </a:solidFill>
            <a:ln w="9525">
              <a:solidFill>
                <a:srgbClr val="E2EAF6"/>
              </a:solidFill>
            </a:ln>
          </p:spPr>
        </p:sp>
        <p:sp>
          <p:nvSpPr>
            <p:cNvPr id="156" name="TextBox 156"/>
            <p:cNvSpPr txBox="1"/>
            <p:nvPr/>
          </p:nvSpPr>
          <p:spPr>
            <a:xfrm>
              <a:off x="9505277" y="5782389"/>
              <a:ext cx="2030171"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行业研究团队｜场景生态资源｜普惠产品包</a:t>
              </a:r>
            </a:p>
          </p:txBody>
        </p:sp>
        <p:sp>
          <p:nvSpPr>
            <p:cNvPr id="157" name="Rectangle 157"/>
            <p:cNvSpPr/>
            <p:nvPr/>
          </p:nvSpPr>
          <p:spPr>
            <a:xfrm>
              <a:off x="381000" y="6115050"/>
              <a:ext cx="1238250" cy="590550"/>
            </a:xfrm>
            <a:prstGeom prst="rect">
              <a:avLst/>
            </a:prstGeom>
            <a:solidFill>
              <a:srgbClr val="F7FAFE"/>
            </a:solidFill>
            <a:ln w="9525">
              <a:solidFill>
                <a:srgbClr val="E2EAF6"/>
              </a:solidFill>
            </a:ln>
          </p:spPr>
        </p:sp>
        <p:grpSp>
          <p:nvGrpSpPr>
            <p:cNvPr id="162" name="Group 162"/>
            <p:cNvGrpSpPr/>
            <p:nvPr/>
          </p:nvGrpSpPr>
          <p:grpSpPr>
            <a:xfrm>
              <a:off x="559594" y="6340475"/>
              <a:ext cx="157163" cy="149225"/>
              <a:chOff x="559594" y="6340475"/>
              <a:chExt cx="157163" cy="149225"/>
            </a:xfrm>
          </p:grpSpPr>
          <p:sp>
            <p:nvSpPr>
              <p:cNvPr id="158" name="Freeform 158"/>
              <p:cNvSpPr/>
              <p:nvPr/>
            </p:nvSpPr>
            <p:spPr>
              <a:xfrm>
                <a:off x="559594" y="641032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A8351D"/>
                </a:solidFill>
              </a:ln>
            </p:spPr>
          </p:sp>
          <p:sp>
            <p:nvSpPr>
              <p:cNvPr id="159" name="Freeform 159"/>
              <p:cNvSpPr/>
              <p:nvPr/>
            </p:nvSpPr>
            <p:spPr>
              <a:xfrm>
                <a:off x="664369" y="637540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A8351D"/>
                </a:solidFill>
              </a:ln>
            </p:spPr>
          </p:sp>
          <p:sp>
            <p:nvSpPr>
              <p:cNvPr id="160" name="Freeform 160"/>
              <p:cNvSpPr/>
              <p:nvPr/>
            </p:nvSpPr>
            <p:spPr>
              <a:xfrm>
                <a:off x="611981" y="634047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A8351D"/>
                </a:solidFill>
              </a:ln>
            </p:spPr>
          </p:sp>
          <p:sp>
            <p:nvSpPr>
              <p:cNvPr id="161" name="Freeform 161"/>
              <p:cNvSpPr/>
              <p:nvPr/>
            </p:nvSpPr>
            <p:spPr>
              <a:xfrm>
                <a:off x="568325" y="6480175"/>
                <a:ext cx="122238" cy="9525"/>
              </a:xfrm>
              <a:custGeom>
                <a:avLst/>
                <a:gdLst/>
                <a:ahLst/>
                <a:cxnLst/>
                <a:rect l="l" t="t" r="r" b="b"/>
                <a:pathLst>
                  <a:path w="122238" h="9525">
                    <a:moveTo>
                      <a:pt x="0" y="0"/>
                    </a:moveTo>
                    <a:lnTo>
                      <a:pt x="122238" y="0"/>
                    </a:lnTo>
                  </a:path>
                </a:pathLst>
              </a:custGeom>
              <a:noFill/>
              <a:ln w="17463">
                <a:solidFill>
                  <a:srgbClr val="A8351D"/>
                </a:solidFill>
              </a:ln>
            </p:spPr>
          </p:sp>
        </p:grpSp>
        <p:sp>
          <p:nvSpPr>
            <p:cNvPr id="163" name="TextBox 163"/>
            <p:cNvSpPr txBox="1"/>
            <p:nvPr/>
          </p:nvSpPr>
          <p:spPr>
            <a:xfrm>
              <a:off x="833438" y="6356747"/>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核心指标</a:t>
              </a:r>
            </a:p>
          </p:txBody>
        </p:sp>
        <p:sp>
          <p:nvSpPr>
            <p:cNvPr id="164" name="Rectangle 164"/>
            <p:cNvSpPr/>
            <p:nvPr/>
          </p:nvSpPr>
          <p:spPr>
            <a:xfrm>
              <a:off x="1619250" y="6115050"/>
              <a:ext cx="2543175" cy="590550"/>
            </a:xfrm>
            <a:prstGeom prst="rect">
              <a:avLst/>
            </a:prstGeom>
            <a:solidFill>
              <a:srgbClr val="FFFFFF"/>
            </a:solidFill>
            <a:ln w="9525">
              <a:solidFill>
                <a:srgbClr val="E2EAF6"/>
              </a:solidFill>
            </a:ln>
          </p:spPr>
        </p:sp>
        <p:sp>
          <p:nvSpPr>
            <p:cNvPr id="165" name="TextBox 165"/>
            <p:cNvSpPr txBox="1"/>
            <p:nvPr/>
          </p:nvSpPr>
          <p:spPr>
            <a:xfrm>
              <a:off x="2642426" y="6356985"/>
              <a:ext cx="496824" cy="234696"/>
            </a:xfrm>
            <a:prstGeom prst="rect">
              <a:avLst/>
            </a:prstGeom>
            <a:noFill/>
            <a:ln>
              <a:noFill/>
            </a:ln>
          </p:spPr>
          <p:txBody>
            <a:bodyPr wrap="none" lIns="0" tIns="0" rIns="0" bIns="0" anchor="t" anchorCtr="0">
              <a:spAutoFit/>
            </a:bodyPr>
            <a:lstStyle/>
            <a:p>
              <a:pPr algn="ctr"/>
              <a:r>
                <a:rPr lang="zh-CN" sz="1200" b="1" dirty="0">
                  <a:solidFill>
                    <a:srgbClr val="C9462F"/>
                  </a:solidFill>
                  <a:latin typeface="+mn-lt"/>
                  <a:ea typeface="+mn-ea"/>
                  <a:cs typeface="+mn-cs"/>
                </a:rPr>
                <a:t>客户数</a:t>
              </a:r>
            </a:p>
          </p:txBody>
        </p:sp>
        <p:sp>
          <p:nvSpPr>
            <p:cNvPr id="166" name="Rectangle 166"/>
            <p:cNvSpPr/>
            <p:nvPr/>
          </p:nvSpPr>
          <p:spPr>
            <a:xfrm>
              <a:off x="4162425" y="6115050"/>
              <a:ext cx="2543175" cy="590550"/>
            </a:xfrm>
            <a:prstGeom prst="rect">
              <a:avLst/>
            </a:prstGeom>
            <a:solidFill>
              <a:srgbClr val="FFFFFF"/>
            </a:solidFill>
            <a:ln w="9525">
              <a:solidFill>
                <a:srgbClr val="E2EAF6"/>
              </a:solidFill>
            </a:ln>
          </p:spPr>
        </p:sp>
        <p:sp>
          <p:nvSpPr>
            <p:cNvPr id="167" name="TextBox 167"/>
            <p:cNvSpPr txBox="1"/>
            <p:nvPr/>
          </p:nvSpPr>
          <p:spPr>
            <a:xfrm>
              <a:off x="5185600" y="6356985"/>
              <a:ext cx="496824" cy="234696"/>
            </a:xfrm>
            <a:prstGeom prst="rect">
              <a:avLst/>
            </a:prstGeom>
            <a:noFill/>
            <a:ln>
              <a:noFill/>
            </a:ln>
          </p:spPr>
          <p:txBody>
            <a:bodyPr wrap="none" lIns="0" tIns="0" rIns="0" bIns="0" anchor="t" anchorCtr="0">
              <a:spAutoFit/>
            </a:bodyPr>
            <a:lstStyle/>
            <a:p>
              <a:pPr algn="ctr"/>
              <a:r>
                <a:rPr lang="zh-CN" sz="1200" b="1" dirty="0">
                  <a:solidFill>
                    <a:srgbClr val="C9462F"/>
                  </a:solidFill>
                  <a:latin typeface="+mn-lt"/>
                  <a:ea typeface="+mn-ea"/>
                  <a:cs typeface="+mn-cs"/>
                </a:rPr>
                <a:t>员工数</a:t>
              </a:r>
            </a:p>
          </p:txBody>
        </p:sp>
        <p:sp>
          <p:nvSpPr>
            <p:cNvPr id="168" name="Rectangle 168"/>
            <p:cNvSpPr/>
            <p:nvPr/>
          </p:nvSpPr>
          <p:spPr>
            <a:xfrm>
              <a:off x="6705600" y="6115050"/>
              <a:ext cx="2543175" cy="590550"/>
            </a:xfrm>
            <a:prstGeom prst="rect">
              <a:avLst/>
            </a:prstGeom>
            <a:solidFill>
              <a:srgbClr val="FFFFFF"/>
            </a:solidFill>
            <a:ln w="9525">
              <a:solidFill>
                <a:srgbClr val="E2EAF6"/>
              </a:solidFill>
            </a:ln>
          </p:spPr>
        </p:sp>
        <p:sp>
          <p:nvSpPr>
            <p:cNvPr id="169" name="TextBox 169"/>
            <p:cNvSpPr txBox="1"/>
            <p:nvPr/>
          </p:nvSpPr>
          <p:spPr>
            <a:xfrm>
              <a:off x="7550475" y="6356985"/>
              <a:ext cx="853425" cy="234696"/>
            </a:xfrm>
            <a:prstGeom prst="rect">
              <a:avLst/>
            </a:prstGeom>
            <a:noFill/>
            <a:ln>
              <a:noFill/>
            </a:ln>
          </p:spPr>
          <p:txBody>
            <a:bodyPr wrap="none" lIns="0" tIns="0" rIns="0" bIns="0" anchor="t" anchorCtr="0">
              <a:spAutoFit/>
            </a:bodyPr>
            <a:lstStyle/>
            <a:p>
              <a:pPr algn="ctr"/>
              <a:r>
                <a:rPr lang="zh-CN" sz="1200" b="1" dirty="0">
                  <a:solidFill>
                    <a:srgbClr val="C9462F"/>
                  </a:solidFill>
                  <a:latin typeface="+mn-lt"/>
                  <a:ea typeface="+mn-ea"/>
                  <a:cs typeface="+mn-cs"/>
                </a:rPr>
                <a:t>AUM潜力​​</a:t>
              </a:r>
            </a:p>
          </p:txBody>
        </p:sp>
        <p:sp>
          <p:nvSpPr>
            <p:cNvPr id="170" name="Rectangle 170"/>
            <p:cNvSpPr/>
            <p:nvPr/>
          </p:nvSpPr>
          <p:spPr>
            <a:xfrm>
              <a:off x="9248775" y="6115050"/>
              <a:ext cx="2543175" cy="590550"/>
            </a:xfrm>
            <a:prstGeom prst="rect">
              <a:avLst/>
            </a:prstGeom>
            <a:solidFill>
              <a:srgbClr val="FFFFFF"/>
            </a:solidFill>
            <a:ln w="9525">
              <a:solidFill>
                <a:srgbClr val="E2EAF6"/>
              </a:solidFill>
            </a:ln>
          </p:spPr>
        </p:sp>
        <p:sp>
          <p:nvSpPr>
            <p:cNvPr id="171" name="TextBox 171"/>
            <p:cNvSpPr txBox="1"/>
            <p:nvPr/>
          </p:nvSpPr>
          <p:spPr>
            <a:xfrm>
              <a:off x="10191178" y="6356985"/>
              <a:ext cx="658368" cy="234696"/>
            </a:xfrm>
            <a:prstGeom prst="rect">
              <a:avLst/>
            </a:prstGeom>
            <a:noFill/>
            <a:ln>
              <a:noFill/>
            </a:ln>
          </p:spPr>
          <p:txBody>
            <a:bodyPr wrap="none" lIns="0" tIns="0" rIns="0" bIns="0" anchor="t" anchorCtr="0">
              <a:spAutoFit/>
            </a:bodyPr>
            <a:lstStyle/>
            <a:p>
              <a:pPr algn="ctr"/>
              <a:r>
                <a:rPr lang="zh-CN" sz="1200" b="1" dirty="0">
                  <a:solidFill>
                    <a:srgbClr val="C9462F"/>
                  </a:solidFill>
                  <a:latin typeface="+mn-lt"/>
                  <a:ea typeface="+mn-ea"/>
                  <a:cs typeface="+mn-cs"/>
                </a:rPr>
                <a:t>联动收入</a:t>
              </a:r>
            </a:p>
          </p:txBody>
        </p:sp>
      </p:gr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05</a:t>
              </a:r>
            </a:p>
          </p:txBody>
        </p:sp>
        <p:sp>
          <p:nvSpPr>
            <p:cNvPr id="4" name="TextBox 4"/>
            <p:cNvSpPr txBox="1"/>
            <p:nvPr/>
          </p:nvSpPr>
          <p:spPr>
            <a:xfrm>
              <a:off x="904494" y="170498"/>
              <a:ext cx="7231380"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客户主视图｜让银行真正看清一个企业背后的完整客户生态</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60" name="col-data"/>
          <p:cNvGrpSpPr/>
          <p:nvPr/>
        </p:nvGrpSpPr>
        <p:grpSpPr>
          <a:xfrm>
            <a:off x="381000" y="704850"/>
            <a:ext cx="2286000" cy="3810000"/>
            <a:chOff x="381000" y="704850"/>
            <a:chExt cx="2286000" cy="3810000"/>
          </a:xfrm>
        </p:grpSpPr>
        <p:sp>
          <p:nvSpPr>
            <p:cNvPr id="7" name="Rectangle 7"/>
            <p:cNvSpPr/>
            <p:nvPr/>
          </p:nvSpPr>
          <p:spPr>
            <a:xfrm>
              <a:off x="381000" y="704850"/>
              <a:ext cx="2286000" cy="285750"/>
            </a:xfrm>
            <a:prstGeom prst="roundRect">
              <a:avLst>
                <a:gd name="adj" fmla="val 13333"/>
              </a:avLst>
            </a:prstGeom>
            <a:gradFill>
              <a:gsLst>
                <a:gs pos="0">
                  <a:srgbClr val="AD3921"/>
                </a:gs>
                <a:gs pos="100000">
                  <a:srgbClr val="962C16"/>
                </a:gs>
              </a:gsLst>
              <a:lin ang="5400000" scaled="1"/>
            </a:gradFill>
            <a:ln>
              <a:noFill/>
            </a:ln>
          </p:spPr>
        </p:sp>
        <p:sp>
          <p:nvSpPr>
            <p:cNvPr id="8" name="TextBox 8"/>
            <p:cNvSpPr txBox="1"/>
            <p:nvPr/>
          </p:nvSpPr>
          <p:spPr>
            <a:xfrm>
              <a:off x="1151636" y="787479"/>
              <a:ext cx="744728"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客户数据域</a:t>
              </a:r>
            </a:p>
          </p:txBody>
        </p:sp>
        <p:sp>
          <p:nvSpPr>
            <p:cNvPr id="9" name="Rectangle 9"/>
            <p:cNvSpPr/>
            <p:nvPr/>
          </p:nvSpPr>
          <p:spPr>
            <a:xfrm>
              <a:off x="381000" y="1066800"/>
              <a:ext cx="2286000" cy="381000"/>
            </a:xfrm>
            <a:prstGeom prst="roundRect">
              <a:avLst>
                <a:gd name="adj" fmla="val 15000"/>
              </a:avLst>
            </a:prstGeom>
            <a:solidFill>
              <a:srgbClr val="FFFFFF"/>
            </a:solidFill>
            <a:ln w="9525">
              <a:solidFill>
                <a:srgbClr val="C9D8EF"/>
              </a:solidFill>
            </a:ln>
          </p:spPr>
        </p:sp>
        <p:grpSp>
          <p:nvGrpSpPr>
            <p:cNvPr id="13" name="Group 13"/>
            <p:cNvGrpSpPr/>
            <p:nvPr/>
          </p:nvGrpSpPr>
          <p:grpSpPr>
            <a:xfrm>
              <a:off x="557212" y="1185862"/>
              <a:ext cx="142875" cy="142875"/>
              <a:chOff x="557212" y="1185862"/>
              <a:chExt cx="142875" cy="142875"/>
            </a:xfrm>
          </p:grpSpPr>
          <p:sp>
            <p:nvSpPr>
              <p:cNvPr id="10" name="Freeform 10"/>
              <p:cNvSpPr/>
              <p:nvPr/>
            </p:nvSpPr>
            <p:spPr>
              <a:xfrm>
                <a:off x="557212" y="1185862"/>
                <a:ext cx="142875" cy="142875"/>
              </a:xfrm>
              <a:custGeom>
                <a:avLst/>
                <a:gdLst/>
                <a:ahLst/>
                <a:cxnLst/>
                <a:rect l="l" t="t" r="r" b="b"/>
                <a:pathLst>
                  <a:path w="142875" h="142875">
                    <a:moveTo>
                      <a:pt x="95250" y="142875"/>
                    </a:moveTo>
                    <a:lnTo>
                      <a:pt x="23812" y="142875"/>
                    </a:lnTo>
                    <a:cubicBezTo>
                      <a:pt x="10661" y="142875"/>
                      <a:pt x="0" y="132214"/>
                      <a:pt x="0" y="119062"/>
                    </a:cubicBezTo>
                    <a:lnTo>
                      <a:pt x="0" y="111125"/>
                    </a:lnTo>
                    <a:lnTo>
                      <a:pt x="79375" y="111125"/>
                    </a:lnTo>
                    <a:lnTo>
                      <a:pt x="79375" y="127000"/>
                    </a:lnTo>
                    <a:cubicBezTo>
                      <a:pt x="79375" y="135767"/>
                      <a:pt x="86482" y="142875"/>
                      <a:pt x="95250" y="142875"/>
                    </a:cubicBezTo>
                    <a:cubicBezTo>
                      <a:pt x="104017" y="142875"/>
                      <a:pt x="111125" y="135767"/>
                      <a:pt x="111125" y="127000"/>
                    </a:cubicBezTo>
                    <a:lnTo>
                      <a:pt x="111125" y="15875"/>
                    </a:lnTo>
                    <a:cubicBezTo>
                      <a:pt x="111125" y="7107"/>
                      <a:pt x="118232" y="0"/>
                      <a:pt x="127000" y="0"/>
                    </a:cubicBezTo>
                    <a:cubicBezTo>
                      <a:pt x="135767" y="0"/>
                      <a:pt x="142875" y="7107"/>
                      <a:pt x="142875" y="15875"/>
                    </a:cubicBezTo>
                    <a:cubicBezTo>
                      <a:pt x="142875" y="24643"/>
                      <a:pt x="135767" y="31750"/>
                      <a:pt x="127000" y="31750"/>
                    </a:cubicBezTo>
                    <a:lnTo>
                      <a:pt x="111125" y="31750"/>
                    </a:lnTo>
                    <a:moveTo>
                      <a:pt x="127000" y="0"/>
                    </a:moveTo>
                    <a:lnTo>
                      <a:pt x="39687" y="0"/>
                    </a:lnTo>
                    <a:cubicBezTo>
                      <a:pt x="26536" y="0"/>
                      <a:pt x="15875" y="10661"/>
                      <a:pt x="15875" y="23812"/>
                    </a:cubicBezTo>
                    <a:lnTo>
                      <a:pt x="15875" y="111125"/>
                    </a:lnTo>
                  </a:path>
                </a:pathLst>
              </a:custGeom>
              <a:noFill/>
              <a:ln w="15875">
                <a:solidFill>
                  <a:srgbClr val="A8351D"/>
                </a:solidFill>
              </a:ln>
            </p:spPr>
          </p:sp>
          <p:sp>
            <p:nvSpPr>
              <p:cNvPr id="11" name="Freeform 11"/>
              <p:cNvSpPr/>
              <p:nvPr/>
            </p:nvSpPr>
            <p:spPr>
              <a:xfrm>
                <a:off x="604837" y="1217612"/>
                <a:ext cx="31750" cy="9525"/>
              </a:xfrm>
              <a:custGeom>
                <a:avLst/>
                <a:gdLst/>
                <a:ahLst/>
                <a:cxnLst/>
                <a:rect l="l" t="t" r="r" b="b"/>
                <a:pathLst>
                  <a:path w="31750" h="9525">
                    <a:moveTo>
                      <a:pt x="0" y="0"/>
                    </a:moveTo>
                    <a:lnTo>
                      <a:pt x="31750" y="0"/>
                    </a:lnTo>
                  </a:path>
                </a:pathLst>
              </a:custGeom>
              <a:noFill/>
              <a:ln w="15875">
                <a:solidFill>
                  <a:srgbClr val="A8351D"/>
                </a:solidFill>
              </a:ln>
            </p:spPr>
          </p:sp>
          <p:sp>
            <p:nvSpPr>
              <p:cNvPr id="12" name="Freeform 12"/>
              <p:cNvSpPr/>
              <p:nvPr/>
            </p:nvSpPr>
            <p:spPr>
              <a:xfrm>
                <a:off x="604837" y="1249362"/>
                <a:ext cx="31750" cy="9525"/>
              </a:xfrm>
              <a:custGeom>
                <a:avLst/>
                <a:gdLst/>
                <a:ahLst/>
                <a:cxnLst/>
                <a:rect l="l" t="t" r="r" b="b"/>
                <a:pathLst>
                  <a:path w="31750" h="9525">
                    <a:moveTo>
                      <a:pt x="0" y="0"/>
                    </a:moveTo>
                    <a:lnTo>
                      <a:pt x="31750" y="0"/>
                    </a:lnTo>
                  </a:path>
                </a:pathLst>
              </a:custGeom>
              <a:noFill/>
              <a:ln w="15875">
                <a:solidFill>
                  <a:srgbClr val="A8351D"/>
                </a:solidFill>
              </a:ln>
            </p:spPr>
          </p:sp>
        </p:grpSp>
        <p:sp>
          <p:nvSpPr>
            <p:cNvPr id="14" name="TextBox 14"/>
            <p:cNvSpPr txBox="1"/>
            <p:nvPr/>
          </p:nvSpPr>
          <p:spPr>
            <a:xfrm>
              <a:off x="852488" y="12037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工商关系</a:t>
              </a:r>
            </a:p>
          </p:txBody>
        </p:sp>
        <p:sp>
          <p:nvSpPr>
            <p:cNvPr id="15" name="Rectangle 15"/>
            <p:cNvSpPr/>
            <p:nvPr/>
          </p:nvSpPr>
          <p:spPr>
            <a:xfrm>
              <a:off x="381000" y="1504950"/>
              <a:ext cx="2286000" cy="381000"/>
            </a:xfrm>
            <a:prstGeom prst="roundRect">
              <a:avLst>
                <a:gd name="adj" fmla="val 15000"/>
              </a:avLst>
            </a:prstGeom>
            <a:solidFill>
              <a:srgbClr val="FFFFFF"/>
            </a:solidFill>
            <a:ln w="9525">
              <a:solidFill>
                <a:srgbClr val="C9D8EF"/>
              </a:solidFill>
            </a:ln>
          </p:spPr>
        </p:sp>
        <p:grpSp>
          <p:nvGrpSpPr>
            <p:cNvPr id="22" name="Group 22"/>
            <p:cNvGrpSpPr/>
            <p:nvPr/>
          </p:nvGrpSpPr>
          <p:grpSpPr>
            <a:xfrm>
              <a:off x="565150" y="1631950"/>
              <a:ext cx="126999" cy="126999"/>
              <a:chOff x="565150" y="1631950"/>
              <a:chExt cx="126999" cy="126999"/>
            </a:xfrm>
          </p:grpSpPr>
          <p:sp>
            <p:nvSpPr>
              <p:cNvPr id="16" name="Freeform 16"/>
              <p:cNvSpPr/>
              <p:nvPr/>
            </p:nvSpPr>
            <p:spPr>
              <a:xfrm>
                <a:off x="580477" y="1655254"/>
                <a:ext cx="88368" cy="88368"/>
              </a:xfrm>
              <a:custGeom>
                <a:avLst/>
                <a:gdLst/>
                <a:ahLst/>
                <a:cxnLst/>
                <a:rect l="l" t="t" r="r" b="b"/>
                <a:pathLst>
                  <a:path w="88368" h="88368">
                    <a:moveTo>
                      <a:pt x="0" y="0"/>
                    </a:moveTo>
                    <a:lnTo>
                      <a:pt x="10120" y="33726"/>
                    </a:lnTo>
                    <a:moveTo>
                      <a:pt x="54626" y="78248"/>
                    </a:moveTo>
                    <a:lnTo>
                      <a:pt x="88368" y="88368"/>
                    </a:lnTo>
                  </a:path>
                </a:pathLst>
              </a:custGeom>
              <a:noFill/>
              <a:ln w="15875">
                <a:solidFill>
                  <a:srgbClr val="A8351D"/>
                </a:solidFill>
              </a:ln>
            </p:spPr>
          </p:sp>
          <p:sp>
            <p:nvSpPr>
              <p:cNvPr id="17" name="Freeform 17"/>
              <p:cNvSpPr/>
              <p:nvPr/>
            </p:nvSpPr>
            <p:spPr>
              <a:xfrm>
                <a:off x="626134" y="1652254"/>
                <a:ext cx="45712" cy="45712"/>
              </a:xfrm>
              <a:custGeom>
                <a:avLst/>
                <a:gdLst/>
                <a:ahLst/>
                <a:cxnLst/>
                <a:rect l="l" t="t" r="r" b="b"/>
                <a:pathLst>
                  <a:path w="45712" h="45712">
                    <a:moveTo>
                      <a:pt x="0" y="45712"/>
                    </a:moveTo>
                    <a:lnTo>
                      <a:pt x="45712" y="0"/>
                    </a:lnTo>
                  </a:path>
                </a:pathLst>
              </a:custGeom>
              <a:noFill/>
              <a:ln w="15875">
                <a:solidFill>
                  <a:srgbClr val="A8351D"/>
                </a:solidFill>
              </a:ln>
            </p:spPr>
          </p:sp>
          <p:sp>
            <p:nvSpPr>
              <p:cNvPr id="18" name="Freeform 18"/>
              <p:cNvSpPr/>
              <p:nvPr/>
            </p:nvSpPr>
            <p:spPr>
              <a:xfrm>
                <a:off x="565150" y="1631950"/>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5875">
                <a:solidFill>
                  <a:srgbClr val="A8351D"/>
                </a:solidFill>
              </a:ln>
            </p:spPr>
          </p:sp>
          <p:sp>
            <p:nvSpPr>
              <p:cNvPr id="19" name="Freeform 19"/>
              <p:cNvSpPr/>
              <p:nvPr/>
            </p:nvSpPr>
            <p:spPr>
              <a:xfrm>
                <a:off x="668337" y="1631950"/>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5875">
                <a:solidFill>
                  <a:srgbClr val="A8351D"/>
                </a:solidFill>
              </a:ln>
            </p:spPr>
          </p:sp>
          <p:sp>
            <p:nvSpPr>
              <p:cNvPr id="20" name="Freeform 20"/>
              <p:cNvSpPr/>
              <p:nvPr/>
            </p:nvSpPr>
            <p:spPr>
              <a:xfrm>
                <a:off x="668337" y="1735137"/>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5875">
                <a:solidFill>
                  <a:srgbClr val="A8351D"/>
                </a:solidFill>
              </a:ln>
            </p:spPr>
          </p:sp>
          <p:sp>
            <p:nvSpPr>
              <p:cNvPr id="21" name="Freeform 21"/>
              <p:cNvSpPr/>
              <p:nvPr/>
            </p:nvSpPr>
            <p:spPr>
              <a:xfrm>
                <a:off x="565150" y="1687512"/>
                <a:ext cx="71437" cy="71437"/>
              </a:xfrm>
              <a:custGeom>
                <a:avLst/>
                <a:gdLst/>
                <a:ahLst/>
                <a:cxnLst/>
                <a:rect l="l" t="t" r="r" b="b"/>
                <a:pathLst>
                  <a:path w="71437" h="71437">
                    <a:moveTo>
                      <a:pt x="0" y="35719"/>
                    </a:moveTo>
                    <a:cubicBezTo>
                      <a:pt x="0" y="55446"/>
                      <a:pt x="15992" y="71437"/>
                      <a:pt x="35719" y="71437"/>
                    </a:cubicBezTo>
                    <a:cubicBezTo>
                      <a:pt x="55446" y="71437"/>
                      <a:pt x="71437" y="55446"/>
                      <a:pt x="71437" y="35719"/>
                    </a:cubicBezTo>
                    <a:cubicBezTo>
                      <a:pt x="71437" y="15992"/>
                      <a:pt x="55446" y="0"/>
                      <a:pt x="35719" y="0"/>
                    </a:cubicBezTo>
                    <a:cubicBezTo>
                      <a:pt x="15992" y="0"/>
                      <a:pt x="0" y="15992"/>
                      <a:pt x="0" y="35719"/>
                    </a:cubicBezTo>
                  </a:path>
                </a:pathLst>
              </a:custGeom>
              <a:noFill/>
              <a:ln w="15875">
                <a:solidFill>
                  <a:srgbClr val="A8351D"/>
                </a:solidFill>
              </a:ln>
            </p:spPr>
          </p:sp>
        </p:grpSp>
        <p:sp>
          <p:nvSpPr>
            <p:cNvPr id="23" name="TextBox 23"/>
            <p:cNvSpPr txBox="1"/>
            <p:nvPr/>
          </p:nvSpPr>
          <p:spPr>
            <a:xfrm>
              <a:off x="852488" y="164187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股权结构</a:t>
              </a:r>
            </a:p>
          </p:txBody>
        </p:sp>
        <p:sp>
          <p:nvSpPr>
            <p:cNvPr id="24" name="Rectangle 24"/>
            <p:cNvSpPr/>
            <p:nvPr/>
          </p:nvSpPr>
          <p:spPr>
            <a:xfrm>
              <a:off x="381000" y="1943100"/>
              <a:ext cx="2286000" cy="381000"/>
            </a:xfrm>
            <a:prstGeom prst="roundRect">
              <a:avLst>
                <a:gd name="adj" fmla="val 15000"/>
              </a:avLst>
            </a:prstGeom>
            <a:solidFill>
              <a:srgbClr val="FFFFFF"/>
            </a:solidFill>
            <a:ln w="9525">
              <a:solidFill>
                <a:srgbClr val="C9D8EF"/>
              </a:solidFill>
            </a:ln>
          </p:spPr>
        </p:sp>
        <p:grpSp>
          <p:nvGrpSpPr>
            <p:cNvPr id="27" name="Group 27"/>
            <p:cNvGrpSpPr/>
            <p:nvPr/>
          </p:nvGrpSpPr>
          <p:grpSpPr>
            <a:xfrm>
              <a:off x="565150" y="2070100"/>
              <a:ext cx="127000" cy="127000"/>
              <a:chOff x="565150" y="2070100"/>
              <a:chExt cx="127000" cy="127000"/>
            </a:xfrm>
          </p:grpSpPr>
          <p:sp>
            <p:nvSpPr>
              <p:cNvPr id="25" name="Freeform 25"/>
              <p:cNvSpPr/>
              <p:nvPr/>
            </p:nvSpPr>
            <p:spPr>
              <a:xfrm>
                <a:off x="565150" y="2070100"/>
                <a:ext cx="119062" cy="127000"/>
              </a:xfrm>
              <a:custGeom>
                <a:avLst/>
                <a:gdLst/>
                <a:ahLst/>
                <a:cxnLst/>
                <a:rect l="l" t="t" r="r" b="b"/>
                <a:pathLst>
                  <a:path w="119062" h="127000">
                    <a:moveTo>
                      <a:pt x="103187" y="31750"/>
                    </a:moveTo>
                    <a:lnTo>
                      <a:pt x="103187" y="7937"/>
                    </a:lnTo>
                    <a:cubicBezTo>
                      <a:pt x="103187" y="3554"/>
                      <a:pt x="99634" y="0"/>
                      <a:pt x="95250" y="0"/>
                    </a:cubicBezTo>
                    <a:lnTo>
                      <a:pt x="15875" y="0"/>
                    </a:lnTo>
                    <a:cubicBezTo>
                      <a:pt x="7107" y="0"/>
                      <a:pt x="0" y="7107"/>
                      <a:pt x="0" y="15875"/>
                    </a:cubicBezTo>
                    <a:cubicBezTo>
                      <a:pt x="0" y="24643"/>
                      <a:pt x="7107" y="31750"/>
                      <a:pt x="15875" y="31750"/>
                    </a:cubicBezTo>
                    <a:lnTo>
                      <a:pt x="111125" y="31750"/>
                    </a:lnTo>
                    <a:cubicBezTo>
                      <a:pt x="115509" y="31750"/>
                      <a:pt x="119062" y="35304"/>
                      <a:pt x="119062" y="39687"/>
                    </a:cubicBezTo>
                    <a:lnTo>
                      <a:pt x="119062" y="63500"/>
                    </a:lnTo>
                    <a:moveTo>
                      <a:pt x="119062" y="95250"/>
                    </a:moveTo>
                    <a:lnTo>
                      <a:pt x="119062" y="119062"/>
                    </a:lnTo>
                    <a:cubicBezTo>
                      <a:pt x="119062" y="123446"/>
                      <a:pt x="115509" y="127000"/>
                      <a:pt x="111125" y="127000"/>
                    </a:cubicBezTo>
                    <a:lnTo>
                      <a:pt x="15875" y="127000"/>
                    </a:lnTo>
                    <a:cubicBezTo>
                      <a:pt x="7107" y="127000"/>
                      <a:pt x="0" y="119892"/>
                      <a:pt x="0" y="111125"/>
                    </a:cubicBezTo>
                    <a:lnTo>
                      <a:pt x="0" y="15875"/>
                    </a:lnTo>
                  </a:path>
                </a:pathLst>
              </a:custGeom>
              <a:noFill/>
              <a:ln w="15875">
                <a:solidFill>
                  <a:srgbClr val="A8351D"/>
                </a:solidFill>
              </a:ln>
            </p:spPr>
          </p:sp>
          <p:sp>
            <p:nvSpPr>
              <p:cNvPr id="26" name="Freeform 26"/>
              <p:cNvSpPr/>
              <p:nvPr/>
            </p:nvSpPr>
            <p:spPr>
              <a:xfrm>
                <a:off x="644525" y="2133600"/>
                <a:ext cx="47625" cy="31750"/>
              </a:xfrm>
              <a:custGeom>
                <a:avLst/>
                <a:gdLst/>
                <a:ahLst/>
                <a:cxnLst/>
                <a:rect l="l" t="t" r="r" b="b"/>
                <a:pathLst>
                  <a:path w="47625" h="31750">
                    <a:moveTo>
                      <a:pt x="47625" y="0"/>
                    </a:moveTo>
                    <a:lnTo>
                      <a:pt x="47625" y="31750"/>
                    </a:lnTo>
                    <a:lnTo>
                      <a:pt x="15875" y="31750"/>
                    </a:lnTo>
                    <a:cubicBezTo>
                      <a:pt x="7107" y="31750"/>
                      <a:pt x="0" y="24643"/>
                      <a:pt x="0" y="15875"/>
                    </a:cubicBezTo>
                    <a:cubicBezTo>
                      <a:pt x="0" y="7107"/>
                      <a:pt x="7107" y="0"/>
                      <a:pt x="15875" y="0"/>
                    </a:cubicBezTo>
                    <a:lnTo>
                      <a:pt x="47625" y="0"/>
                    </a:lnTo>
                  </a:path>
                </a:pathLst>
              </a:custGeom>
              <a:noFill/>
              <a:ln w="15875">
                <a:solidFill>
                  <a:srgbClr val="A8351D"/>
                </a:solidFill>
              </a:ln>
            </p:spPr>
          </p:sp>
        </p:grpSp>
        <p:sp>
          <p:nvSpPr>
            <p:cNvPr id="28" name="TextBox 28"/>
            <p:cNvSpPr txBox="1"/>
            <p:nvPr/>
          </p:nvSpPr>
          <p:spPr>
            <a:xfrm>
              <a:off x="852488" y="20800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账户结算</a:t>
              </a:r>
            </a:p>
          </p:txBody>
        </p:sp>
        <p:sp>
          <p:nvSpPr>
            <p:cNvPr id="29" name="Rectangle 29"/>
            <p:cNvSpPr/>
            <p:nvPr/>
          </p:nvSpPr>
          <p:spPr>
            <a:xfrm>
              <a:off x="381000" y="2381250"/>
              <a:ext cx="2286000" cy="381000"/>
            </a:xfrm>
            <a:prstGeom prst="roundRect">
              <a:avLst>
                <a:gd name="adj" fmla="val 15000"/>
              </a:avLst>
            </a:prstGeom>
            <a:solidFill>
              <a:srgbClr val="FFFFFF"/>
            </a:solidFill>
            <a:ln w="9525">
              <a:solidFill>
                <a:srgbClr val="C9D8EF"/>
              </a:solidFill>
            </a:ln>
          </p:spPr>
        </p:sp>
        <p:grpSp>
          <p:nvGrpSpPr>
            <p:cNvPr id="35" name="Group 35"/>
            <p:cNvGrpSpPr/>
            <p:nvPr/>
          </p:nvGrpSpPr>
          <p:grpSpPr>
            <a:xfrm>
              <a:off x="557212" y="2499249"/>
              <a:ext cx="142875" cy="143938"/>
              <a:chOff x="557212" y="2499249"/>
              <a:chExt cx="142875" cy="143938"/>
            </a:xfrm>
          </p:grpSpPr>
          <p:sp>
            <p:nvSpPr>
              <p:cNvPr id="30" name="Freeform 30"/>
              <p:cNvSpPr/>
              <p:nvPr/>
            </p:nvSpPr>
            <p:spPr>
              <a:xfrm>
                <a:off x="604837" y="256381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A8351D"/>
                </a:solidFill>
              </a:ln>
            </p:spPr>
          </p:sp>
          <p:sp>
            <p:nvSpPr>
              <p:cNvPr id="31" name="Freeform 31"/>
              <p:cNvSpPr/>
              <p:nvPr/>
            </p:nvSpPr>
            <p:spPr>
              <a:xfrm>
                <a:off x="604837" y="258762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A8351D"/>
                </a:solidFill>
              </a:ln>
            </p:spPr>
          </p:sp>
          <p:sp>
            <p:nvSpPr>
              <p:cNvPr id="32" name="Freeform 32"/>
              <p:cNvSpPr/>
              <p:nvPr/>
            </p:nvSpPr>
            <p:spPr>
              <a:xfrm>
                <a:off x="557212" y="249924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A8351D"/>
                </a:solidFill>
              </a:ln>
            </p:spPr>
          </p:sp>
          <p:sp>
            <p:nvSpPr>
              <p:cNvPr id="33" name="Freeform 33"/>
              <p:cNvSpPr/>
              <p:nvPr/>
            </p:nvSpPr>
            <p:spPr>
              <a:xfrm>
                <a:off x="557212" y="252412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A8351D"/>
                </a:solidFill>
              </a:ln>
            </p:spPr>
          </p:sp>
          <p:sp>
            <p:nvSpPr>
              <p:cNvPr id="34" name="Freeform 34"/>
              <p:cNvSpPr/>
              <p:nvPr/>
            </p:nvSpPr>
            <p:spPr>
              <a:xfrm>
                <a:off x="557212" y="256381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A8351D"/>
                </a:solidFill>
              </a:ln>
            </p:spPr>
          </p:sp>
        </p:grpSp>
        <p:sp>
          <p:nvSpPr>
            <p:cNvPr id="36" name="TextBox 36"/>
            <p:cNvSpPr txBox="1"/>
            <p:nvPr/>
          </p:nvSpPr>
          <p:spPr>
            <a:xfrm>
              <a:off x="852488" y="251817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授信融资</a:t>
              </a:r>
            </a:p>
          </p:txBody>
        </p:sp>
        <p:sp>
          <p:nvSpPr>
            <p:cNvPr id="37" name="Rectangle 37"/>
            <p:cNvSpPr/>
            <p:nvPr/>
          </p:nvSpPr>
          <p:spPr>
            <a:xfrm>
              <a:off x="381000" y="2819400"/>
              <a:ext cx="2286000" cy="381000"/>
            </a:xfrm>
            <a:prstGeom prst="roundRect">
              <a:avLst>
                <a:gd name="adj" fmla="val 15000"/>
              </a:avLst>
            </a:prstGeom>
            <a:solidFill>
              <a:srgbClr val="FFFFFF"/>
            </a:solidFill>
            <a:ln w="9525">
              <a:solidFill>
                <a:srgbClr val="C9D8EF"/>
              </a:solidFill>
            </a:ln>
          </p:spPr>
        </p:sp>
        <p:grpSp>
          <p:nvGrpSpPr>
            <p:cNvPr id="41" name="Group 41"/>
            <p:cNvGrpSpPr/>
            <p:nvPr/>
          </p:nvGrpSpPr>
          <p:grpSpPr>
            <a:xfrm>
              <a:off x="557212" y="2954337"/>
              <a:ext cx="142875" cy="111125"/>
              <a:chOff x="557212" y="2954337"/>
              <a:chExt cx="142875" cy="111125"/>
            </a:xfrm>
          </p:grpSpPr>
          <p:sp>
            <p:nvSpPr>
              <p:cNvPr id="38" name="Freeform 38"/>
              <p:cNvSpPr/>
              <p:nvPr/>
            </p:nvSpPr>
            <p:spPr>
              <a:xfrm>
                <a:off x="557212" y="2954337"/>
                <a:ext cx="111125" cy="79375"/>
              </a:xfrm>
              <a:custGeom>
                <a:avLst/>
                <a:gdLst/>
                <a:ahLst/>
                <a:cxnLst/>
                <a:rect l="l" t="t" r="r" b="b"/>
                <a:pathLst>
                  <a:path w="111125" h="79375">
                    <a:moveTo>
                      <a:pt x="31750" y="79375"/>
                    </a:moveTo>
                    <a:lnTo>
                      <a:pt x="7937" y="79375"/>
                    </a:lnTo>
                    <a:cubicBezTo>
                      <a:pt x="3554" y="79375"/>
                      <a:pt x="0" y="75821"/>
                      <a:pt x="0" y="71437"/>
                    </a:cubicBezTo>
                    <a:lnTo>
                      <a:pt x="0" y="7937"/>
                    </a:lnTo>
                    <a:cubicBezTo>
                      <a:pt x="0" y="3554"/>
                      <a:pt x="3554" y="0"/>
                      <a:pt x="7937" y="0"/>
                    </a:cubicBezTo>
                    <a:lnTo>
                      <a:pt x="103187" y="0"/>
                    </a:lnTo>
                    <a:cubicBezTo>
                      <a:pt x="107571" y="0"/>
                      <a:pt x="111125" y="3554"/>
                      <a:pt x="111125" y="7937"/>
                    </a:cubicBezTo>
                    <a:lnTo>
                      <a:pt x="111125" y="31750"/>
                    </a:lnTo>
                  </a:path>
                </a:pathLst>
              </a:custGeom>
              <a:noFill/>
              <a:ln w="15875">
                <a:solidFill>
                  <a:srgbClr val="A8351D"/>
                </a:solidFill>
              </a:ln>
            </p:spPr>
          </p:sp>
          <p:sp>
            <p:nvSpPr>
              <p:cNvPr id="39" name="Freeform 39"/>
              <p:cNvSpPr/>
              <p:nvPr/>
            </p:nvSpPr>
            <p:spPr>
              <a:xfrm>
                <a:off x="588962" y="2986087"/>
                <a:ext cx="111125" cy="79375"/>
              </a:xfrm>
              <a:custGeom>
                <a:avLst/>
                <a:gdLst/>
                <a:ahLst/>
                <a:cxnLst/>
                <a:rect l="l" t="t" r="r" b="b"/>
                <a:pathLst>
                  <a:path w="111125" h="79375">
                    <a:moveTo>
                      <a:pt x="0" y="7937"/>
                    </a:moveTo>
                    <a:cubicBezTo>
                      <a:pt x="0" y="3554"/>
                      <a:pt x="3554" y="0"/>
                      <a:pt x="7937" y="0"/>
                    </a:cubicBezTo>
                    <a:lnTo>
                      <a:pt x="103187" y="0"/>
                    </a:lnTo>
                    <a:cubicBezTo>
                      <a:pt x="107571" y="0"/>
                      <a:pt x="111125" y="3554"/>
                      <a:pt x="111125" y="7937"/>
                    </a:cubicBezTo>
                    <a:lnTo>
                      <a:pt x="111125" y="71437"/>
                    </a:lnTo>
                    <a:cubicBezTo>
                      <a:pt x="111125" y="75821"/>
                      <a:pt x="107571" y="79375"/>
                      <a:pt x="103187" y="79375"/>
                    </a:cubicBezTo>
                    <a:lnTo>
                      <a:pt x="7937" y="79375"/>
                    </a:lnTo>
                    <a:cubicBezTo>
                      <a:pt x="3554" y="79375"/>
                      <a:pt x="0" y="75821"/>
                      <a:pt x="0" y="71437"/>
                    </a:cubicBezTo>
                    <a:lnTo>
                      <a:pt x="0" y="7937"/>
                    </a:lnTo>
                  </a:path>
                </a:pathLst>
              </a:custGeom>
              <a:noFill/>
              <a:ln w="15875">
                <a:solidFill>
                  <a:srgbClr val="A8351D"/>
                </a:solidFill>
              </a:ln>
            </p:spPr>
          </p:sp>
          <p:sp>
            <p:nvSpPr>
              <p:cNvPr id="40" name="Freeform 40"/>
              <p:cNvSpPr/>
              <p:nvPr/>
            </p:nvSpPr>
            <p:spPr>
              <a:xfrm>
                <a:off x="628650" y="30099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grpSp>
        <p:sp>
          <p:nvSpPr>
            <p:cNvPr id="42" name="TextBox 42"/>
            <p:cNvSpPr txBox="1"/>
            <p:nvPr/>
          </p:nvSpPr>
          <p:spPr>
            <a:xfrm>
              <a:off x="852488" y="29563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代发信息</a:t>
              </a:r>
            </a:p>
          </p:txBody>
        </p:sp>
        <p:sp>
          <p:nvSpPr>
            <p:cNvPr id="43" name="Rectangle 43"/>
            <p:cNvSpPr/>
            <p:nvPr/>
          </p:nvSpPr>
          <p:spPr>
            <a:xfrm>
              <a:off x="381000" y="3257550"/>
              <a:ext cx="2286000" cy="381000"/>
            </a:xfrm>
            <a:prstGeom prst="roundRect">
              <a:avLst>
                <a:gd name="adj" fmla="val 15000"/>
              </a:avLst>
            </a:prstGeom>
            <a:solidFill>
              <a:srgbClr val="FFFFFF"/>
            </a:solidFill>
            <a:ln w="9525">
              <a:solidFill>
                <a:srgbClr val="C9D8EF"/>
              </a:solidFill>
            </a:ln>
          </p:spPr>
        </p:sp>
        <p:grpSp>
          <p:nvGrpSpPr>
            <p:cNvPr id="46" name="Group 46"/>
            <p:cNvGrpSpPr/>
            <p:nvPr/>
          </p:nvGrpSpPr>
          <p:grpSpPr>
            <a:xfrm>
              <a:off x="565150" y="3400425"/>
              <a:ext cx="127000" cy="112712"/>
              <a:chOff x="565150" y="3400425"/>
              <a:chExt cx="127000" cy="112712"/>
            </a:xfrm>
          </p:grpSpPr>
          <p:sp>
            <p:nvSpPr>
              <p:cNvPr id="44" name="Freeform 44"/>
              <p:cNvSpPr/>
              <p:nvPr/>
            </p:nvSpPr>
            <p:spPr>
              <a:xfrm>
                <a:off x="565150" y="3503612"/>
                <a:ext cx="127000" cy="9525"/>
              </a:xfrm>
              <a:custGeom>
                <a:avLst/>
                <a:gdLst/>
                <a:ahLst/>
                <a:cxnLst/>
                <a:rect l="l" t="t" r="r" b="b"/>
                <a:pathLst>
                  <a:path w="127000" h="9525">
                    <a:moveTo>
                      <a:pt x="0" y="0"/>
                    </a:moveTo>
                    <a:lnTo>
                      <a:pt x="127000" y="0"/>
                    </a:lnTo>
                  </a:path>
                </a:pathLst>
              </a:custGeom>
              <a:noFill/>
              <a:ln w="15875">
                <a:solidFill>
                  <a:srgbClr val="A8351D"/>
                </a:solidFill>
              </a:ln>
            </p:spPr>
          </p:sp>
          <p:sp>
            <p:nvSpPr>
              <p:cNvPr id="45" name="Freeform 45"/>
              <p:cNvSpPr/>
              <p:nvPr/>
            </p:nvSpPr>
            <p:spPr>
              <a:xfrm>
                <a:off x="565150" y="340042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A8351D"/>
                </a:solidFill>
              </a:ln>
            </p:spPr>
          </p:sp>
        </p:grpSp>
        <p:sp>
          <p:nvSpPr>
            <p:cNvPr id="47" name="TextBox 47"/>
            <p:cNvSpPr txBox="1"/>
            <p:nvPr/>
          </p:nvSpPr>
          <p:spPr>
            <a:xfrm>
              <a:off x="852488" y="339447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财富持仓</a:t>
              </a:r>
            </a:p>
          </p:txBody>
        </p:sp>
        <p:sp>
          <p:nvSpPr>
            <p:cNvPr id="48" name="Rectangle 48"/>
            <p:cNvSpPr/>
            <p:nvPr/>
          </p:nvSpPr>
          <p:spPr>
            <a:xfrm>
              <a:off x="381000" y="3695700"/>
              <a:ext cx="2286000" cy="381000"/>
            </a:xfrm>
            <a:prstGeom prst="roundRect">
              <a:avLst>
                <a:gd name="adj" fmla="val 15000"/>
              </a:avLst>
            </a:prstGeom>
            <a:solidFill>
              <a:srgbClr val="FFFFFF"/>
            </a:solidFill>
            <a:ln w="9525">
              <a:solidFill>
                <a:srgbClr val="C9D8EF"/>
              </a:solidFill>
            </a:ln>
          </p:spPr>
        </p:sp>
        <p:grpSp>
          <p:nvGrpSpPr>
            <p:cNvPr id="52" name="Group 52"/>
            <p:cNvGrpSpPr/>
            <p:nvPr/>
          </p:nvGrpSpPr>
          <p:grpSpPr>
            <a:xfrm>
              <a:off x="581025" y="3814762"/>
              <a:ext cx="95250" cy="142875"/>
              <a:chOff x="581025" y="3814762"/>
              <a:chExt cx="95250" cy="142875"/>
            </a:xfrm>
          </p:grpSpPr>
          <p:sp>
            <p:nvSpPr>
              <p:cNvPr id="49" name="Freeform 49"/>
              <p:cNvSpPr/>
              <p:nvPr/>
            </p:nvSpPr>
            <p:spPr>
              <a:xfrm>
                <a:off x="581025" y="381476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A8351D"/>
                </a:solidFill>
              </a:ln>
            </p:spPr>
          </p:sp>
          <p:sp>
            <p:nvSpPr>
              <p:cNvPr id="50" name="Freeform 50"/>
              <p:cNvSpPr/>
              <p:nvPr/>
            </p:nvSpPr>
            <p:spPr>
              <a:xfrm>
                <a:off x="620712" y="3822700"/>
                <a:ext cx="15875" cy="9525"/>
              </a:xfrm>
              <a:custGeom>
                <a:avLst/>
                <a:gdLst/>
                <a:ahLst/>
                <a:cxnLst/>
                <a:rect l="l" t="t" r="r" b="b"/>
                <a:pathLst>
                  <a:path w="15875" h="9525">
                    <a:moveTo>
                      <a:pt x="0" y="0"/>
                    </a:moveTo>
                    <a:lnTo>
                      <a:pt x="15875" y="0"/>
                    </a:lnTo>
                  </a:path>
                </a:pathLst>
              </a:custGeom>
              <a:noFill/>
              <a:ln w="15875">
                <a:solidFill>
                  <a:srgbClr val="A8351D"/>
                </a:solidFill>
              </a:ln>
            </p:spPr>
          </p:sp>
          <p:sp>
            <p:nvSpPr>
              <p:cNvPr id="51" name="Freeform 51"/>
              <p:cNvSpPr/>
              <p:nvPr/>
            </p:nvSpPr>
            <p:spPr>
              <a:xfrm>
                <a:off x="628650" y="3925887"/>
                <a:ext cx="9525" cy="9525"/>
              </a:xfrm>
              <a:custGeom>
                <a:avLst/>
                <a:gdLst/>
                <a:ahLst/>
                <a:cxnLst/>
                <a:rect l="l" t="t" r="r" b="b"/>
                <a:pathLst>
                  <a:path w="9525" h="9525">
                    <a:moveTo>
                      <a:pt x="0" y="0"/>
                    </a:moveTo>
                    <a:lnTo>
                      <a:pt x="0" y="79"/>
                    </a:lnTo>
                  </a:path>
                </a:pathLst>
              </a:custGeom>
              <a:noFill/>
              <a:ln w="15875">
                <a:solidFill>
                  <a:srgbClr val="A8351D"/>
                </a:solidFill>
              </a:ln>
            </p:spPr>
          </p:sp>
        </p:grpSp>
        <p:sp>
          <p:nvSpPr>
            <p:cNvPr id="53" name="TextBox 53"/>
            <p:cNvSpPr txBox="1"/>
            <p:nvPr/>
          </p:nvSpPr>
          <p:spPr>
            <a:xfrm>
              <a:off x="852488" y="38326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渠道行为</a:t>
              </a:r>
            </a:p>
          </p:txBody>
        </p:sp>
        <p:sp>
          <p:nvSpPr>
            <p:cNvPr id="54" name="Rectangle 54"/>
            <p:cNvSpPr/>
            <p:nvPr/>
          </p:nvSpPr>
          <p:spPr>
            <a:xfrm>
              <a:off x="381000" y="4133850"/>
              <a:ext cx="2286000" cy="381000"/>
            </a:xfrm>
            <a:prstGeom prst="roundRect">
              <a:avLst>
                <a:gd name="adj" fmla="val 15000"/>
              </a:avLst>
            </a:prstGeom>
            <a:solidFill>
              <a:srgbClr val="FFFFFF"/>
            </a:solidFill>
            <a:ln w="9525">
              <a:solidFill>
                <a:srgbClr val="C9D8EF"/>
              </a:solidFill>
            </a:ln>
          </p:spPr>
        </p:sp>
        <p:grpSp>
          <p:nvGrpSpPr>
            <p:cNvPr id="58" name="Group 58"/>
            <p:cNvGrpSpPr/>
            <p:nvPr/>
          </p:nvGrpSpPr>
          <p:grpSpPr>
            <a:xfrm>
              <a:off x="573087" y="4252912"/>
              <a:ext cx="111125" cy="142875"/>
              <a:chOff x="573087" y="4252912"/>
              <a:chExt cx="111125" cy="142875"/>
            </a:xfrm>
          </p:grpSpPr>
          <p:sp>
            <p:nvSpPr>
              <p:cNvPr id="55" name="Freeform 55"/>
              <p:cNvSpPr/>
              <p:nvPr/>
            </p:nvSpPr>
            <p:spPr>
              <a:xfrm>
                <a:off x="573087" y="4316412"/>
                <a:ext cx="111125" cy="79375"/>
              </a:xfrm>
              <a:custGeom>
                <a:avLst/>
                <a:gdLst/>
                <a:ahLst/>
                <a:cxnLst/>
                <a:rect l="l" t="t" r="r" b="b"/>
                <a:pathLst>
                  <a:path w="111125" h="79375">
                    <a:moveTo>
                      <a:pt x="0" y="15875"/>
                    </a:moveTo>
                    <a:cubicBezTo>
                      <a:pt x="0" y="7107"/>
                      <a:pt x="7107" y="0"/>
                      <a:pt x="15875" y="0"/>
                    </a:cubicBezTo>
                    <a:lnTo>
                      <a:pt x="95250" y="0"/>
                    </a:lnTo>
                    <a:cubicBezTo>
                      <a:pt x="104017" y="0"/>
                      <a:pt x="111125" y="7107"/>
                      <a:pt x="111125" y="15875"/>
                    </a:cubicBezTo>
                    <a:lnTo>
                      <a:pt x="111125" y="63500"/>
                    </a:lnTo>
                    <a:cubicBezTo>
                      <a:pt x="111125" y="72267"/>
                      <a:pt x="104017" y="79375"/>
                      <a:pt x="95250" y="79375"/>
                    </a:cubicBezTo>
                    <a:lnTo>
                      <a:pt x="15875" y="79375"/>
                    </a:lnTo>
                    <a:cubicBezTo>
                      <a:pt x="7107" y="79375"/>
                      <a:pt x="0" y="72267"/>
                      <a:pt x="0" y="63500"/>
                    </a:cubicBezTo>
                    <a:lnTo>
                      <a:pt x="0" y="15875"/>
                    </a:lnTo>
                  </a:path>
                </a:pathLst>
              </a:custGeom>
              <a:noFill/>
              <a:ln w="15875">
                <a:solidFill>
                  <a:srgbClr val="A8351D"/>
                </a:solidFill>
              </a:ln>
            </p:spPr>
          </p:sp>
          <p:sp>
            <p:nvSpPr>
              <p:cNvPr id="56" name="Freeform 56"/>
              <p:cNvSpPr/>
              <p:nvPr/>
            </p:nvSpPr>
            <p:spPr>
              <a:xfrm>
                <a:off x="620712" y="43481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A8351D"/>
                </a:solidFill>
              </a:ln>
            </p:spPr>
          </p:sp>
          <p:sp>
            <p:nvSpPr>
              <p:cNvPr id="57" name="Freeform 57"/>
              <p:cNvSpPr/>
              <p:nvPr/>
            </p:nvSpPr>
            <p:spPr>
              <a:xfrm>
                <a:off x="596900" y="4252912"/>
                <a:ext cx="63500" cy="63500"/>
              </a:xfrm>
              <a:custGeom>
                <a:avLst/>
                <a:gdLst/>
                <a:ahLst/>
                <a:cxnLst/>
                <a:rect l="l" t="t" r="r" b="b"/>
                <a:pathLst>
                  <a:path w="63500" h="63500">
                    <a:moveTo>
                      <a:pt x="0" y="63500"/>
                    </a:moveTo>
                    <a:lnTo>
                      <a:pt x="0" y="31750"/>
                    </a:lnTo>
                    <a:cubicBezTo>
                      <a:pt x="0" y="14215"/>
                      <a:pt x="14215" y="0"/>
                      <a:pt x="31750" y="0"/>
                    </a:cubicBezTo>
                    <a:cubicBezTo>
                      <a:pt x="49285" y="0"/>
                      <a:pt x="63500" y="14215"/>
                      <a:pt x="63500" y="31750"/>
                    </a:cubicBezTo>
                    <a:lnTo>
                      <a:pt x="63500" y="63500"/>
                    </a:lnTo>
                  </a:path>
                </a:pathLst>
              </a:custGeom>
              <a:noFill/>
              <a:ln w="15875">
                <a:solidFill>
                  <a:srgbClr val="A8351D"/>
                </a:solidFill>
              </a:ln>
            </p:spPr>
          </p:sp>
        </p:grpSp>
        <p:sp>
          <p:nvSpPr>
            <p:cNvPr id="59" name="TextBox 59"/>
            <p:cNvSpPr txBox="1"/>
            <p:nvPr/>
          </p:nvSpPr>
          <p:spPr>
            <a:xfrm>
              <a:off x="852488" y="427077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客户授权</a:t>
              </a:r>
            </a:p>
          </p:txBody>
        </p:sp>
      </p:grpSp>
      <p:grpSp>
        <p:nvGrpSpPr>
          <p:cNvPr id="142" name="map-graph"/>
          <p:cNvGrpSpPr/>
          <p:nvPr/>
        </p:nvGrpSpPr>
        <p:grpSpPr>
          <a:xfrm>
            <a:off x="4391025" y="704850"/>
            <a:ext cx="3432937" cy="3629025"/>
            <a:chOff x="4391025" y="704850"/>
            <a:chExt cx="3432937" cy="3629025"/>
          </a:xfrm>
        </p:grpSpPr>
        <p:sp>
          <p:nvSpPr>
            <p:cNvPr id="61" name="Rectangle 61"/>
            <p:cNvSpPr/>
            <p:nvPr/>
          </p:nvSpPr>
          <p:spPr>
            <a:xfrm>
              <a:off x="4743450" y="704850"/>
              <a:ext cx="2667000" cy="285750"/>
            </a:xfrm>
            <a:prstGeom prst="roundRect">
              <a:avLst>
                <a:gd name="adj" fmla="val 13333"/>
              </a:avLst>
            </a:prstGeom>
            <a:gradFill>
              <a:gsLst>
                <a:gs pos="0">
                  <a:srgbClr val="AD3921"/>
                </a:gs>
                <a:gs pos="100000">
                  <a:srgbClr val="962C16"/>
                </a:gs>
              </a:gsLst>
              <a:lin ang="5400000" scaled="1"/>
            </a:gradFill>
            <a:ln>
              <a:noFill/>
            </a:ln>
          </p:spPr>
        </p:sp>
        <p:sp>
          <p:nvSpPr>
            <p:cNvPr id="62" name="TextBox 62"/>
            <p:cNvSpPr txBox="1"/>
            <p:nvPr/>
          </p:nvSpPr>
          <p:spPr>
            <a:xfrm>
              <a:off x="5631218" y="787479"/>
              <a:ext cx="891464"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五层客户图谱</a:t>
              </a:r>
            </a:p>
          </p:txBody>
        </p:sp>
        <p:sp>
          <p:nvSpPr>
            <p:cNvPr id="63" name="Line 63"/>
            <p:cNvSpPr/>
            <p:nvPr/>
          </p:nvSpPr>
          <p:spPr>
            <a:xfrm>
              <a:off x="4798695" y="2119312"/>
              <a:ext cx="1278255" cy="738188"/>
            </a:xfrm>
            <a:custGeom>
              <a:avLst/>
              <a:gdLst/>
              <a:ahLst/>
              <a:cxnLst/>
              <a:rect l="l" t="t" r="r" b="b"/>
              <a:pathLst>
                <a:path w="1278255" h="738188">
                  <a:moveTo>
                    <a:pt x="1278255" y="738188"/>
                  </a:moveTo>
                  <a:lnTo>
                    <a:pt x="0" y="0"/>
                  </a:lnTo>
                </a:path>
              </a:pathLst>
            </a:custGeom>
            <a:noFill/>
            <a:ln w="9525">
              <a:solidFill>
                <a:srgbClr val="D9E4F2"/>
              </a:solidFill>
            </a:ln>
          </p:spPr>
        </p:sp>
        <p:sp>
          <p:nvSpPr>
            <p:cNvPr id="64" name="Line 64"/>
            <p:cNvSpPr/>
            <p:nvPr/>
          </p:nvSpPr>
          <p:spPr>
            <a:xfrm>
              <a:off x="4600575" y="2857500"/>
              <a:ext cx="1476375" cy="9525"/>
            </a:xfrm>
            <a:custGeom>
              <a:avLst/>
              <a:gdLst/>
              <a:ahLst/>
              <a:cxnLst/>
              <a:rect l="l" t="t" r="r" b="b"/>
              <a:pathLst>
                <a:path w="1476375" h="9525">
                  <a:moveTo>
                    <a:pt x="1476375" y="0"/>
                  </a:moveTo>
                  <a:lnTo>
                    <a:pt x="0" y="0"/>
                  </a:lnTo>
                </a:path>
              </a:pathLst>
            </a:custGeom>
            <a:noFill/>
            <a:ln w="9525">
              <a:solidFill>
                <a:srgbClr val="D9E4F2"/>
              </a:solidFill>
            </a:ln>
          </p:spPr>
        </p:sp>
        <p:sp>
          <p:nvSpPr>
            <p:cNvPr id="65" name="Line 65"/>
            <p:cNvSpPr/>
            <p:nvPr/>
          </p:nvSpPr>
          <p:spPr>
            <a:xfrm>
              <a:off x="4798695" y="2857500"/>
              <a:ext cx="1278255" cy="738188"/>
            </a:xfrm>
            <a:custGeom>
              <a:avLst/>
              <a:gdLst/>
              <a:ahLst/>
              <a:cxnLst/>
              <a:rect l="l" t="t" r="r" b="b"/>
              <a:pathLst>
                <a:path w="1278255" h="738188">
                  <a:moveTo>
                    <a:pt x="1278255" y="0"/>
                  </a:moveTo>
                  <a:lnTo>
                    <a:pt x="0" y="738188"/>
                  </a:lnTo>
                </a:path>
              </a:pathLst>
            </a:custGeom>
            <a:noFill/>
            <a:ln w="9525">
              <a:solidFill>
                <a:srgbClr val="D9E4F2"/>
              </a:solidFill>
            </a:ln>
          </p:spPr>
        </p:sp>
        <p:sp>
          <p:nvSpPr>
            <p:cNvPr id="66" name="Line 66"/>
            <p:cNvSpPr/>
            <p:nvPr/>
          </p:nvSpPr>
          <p:spPr>
            <a:xfrm>
              <a:off x="6076950" y="2119312"/>
              <a:ext cx="1278255" cy="738188"/>
            </a:xfrm>
            <a:custGeom>
              <a:avLst/>
              <a:gdLst/>
              <a:ahLst/>
              <a:cxnLst/>
              <a:rect l="l" t="t" r="r" b="b"/>
              <a:pathLst>
                <a:path w="1278255" h="738188">
                  <a:moveTo>
                    <a:pt x="0" y="738188"/>
                  </a:moveTo>
                  <a:lnTo>
                    <a:pt x="1278255" y="0"/>
                  </a:lnTo>
                </a:path>
              </a:pathLst>
            </a:custGeom>
            <a:noFill/>
            <a:ln w="9525">
              <a:solidFill>
                <a:srgbClr val="D9E4F2"/>
              </a:solidFill>
            </a:ln>
          </p:spPr>
        </p:sp>
        <p:sp>
          <p:nvSpPr>
            <p:cNvPr id="67" name="Line 67"/>
            <p:cNvSpPr/>
            <p:nvPr/>
          </p:nvSpPr>
          <p:spPr>
            <a:xfrm>
              <a:off x="6076950" y="2857500"/>
              <a:ext cx="1476375" cy="9525"/>
            </a:xfrm>
            <a:custGeom>
              <a:avLst/>
              <a:gdLst/>
              <a:ahLst/>
              <a:cxnLst/>
              <a:rect l="l" t="t" r="r" b="b"/>
              <a:pathLst>
                <a:path w="1476375" h="9525">
                  <a:moveTo>
                    <a:pt x="0" y="0"/>
                  </a:moveTo>
                  <a:lnTo>
                    <a:pt x="1476375" y="0"/>
                  </a:lnTo>
                </a:path>
              </a:pathLst>
            </a:custGeom>
            <a:noFill/>
            <a:ln w="9525">
              <a:solidFill>
                <a:srgbClr val="D9E4F2"/>
              </a:solidFill>
            </a:ln>
          </p:spPr>
        </p:sp>
        <p:sp>
          <p:nvSpPr>
            <p:cNvPr id="68" name="Line 68"/>
            <p:cNvSpPr/>
            <p:nvPr/>
          </p:nvSpPr>
          <p:spPr>
            <a:xfrm>
              <a:off x="6076950" y="2857500"/>
              <a:ext cx="1278255" cy="738188"/>
            </a:xfrm>
            <a:custGeom>
              <a:avLst/>
              <a:gdLst/>
              <a:ahLst/>
              <a:cxnLst/>
              <a:rect l="l" t="t" r="r" b="b"/>
              <a:pathLst>
                <a:path w="1278255" h="738188">
                  <a:moveTo>
                    <a:pt x="0" y="0"/>
                  </a:moveTo>
                  <a:lnTo>
                    <a:pt x="1278255" y="738188"/>
                  </a:lnTo>
                </a:path>
              </a:pathLst>
            </a:custGeom>
            <a:noFill/>
            <a:ln w="9525">
              <a:solidFill>
                <a:srgbClr val="D9E4F2"/>
              </a:solidFill>
            </a:ln>
          </p:spPr>
        </p:sp>
        <p:sp>
          <p:nvSpPr>
            <p:cNvPr id="69" name="Ellipse 69"/>
            <p:cNvSpPr/>
            <p:nvPr/>
          </p:nvSpPr>
          <p:spPr>
            <a:xfrm>
              <a:off x="4600575" y="1381125"/>
              <a:ext cx="2952750" cy="2952750"/>
            </a:xfrm>
            <a:prstGeom prst="ellipse">
              <a:avLst/>
            </a:prstGeom>
            <a:noFill/>
            <a:ln w="12382">
              <a:solidFill>
                <a:srgbClr val="D4A89F"/>
              </a:solidFill>
              <a:custDash>
                <a:ds d="461538" sp="384615"/>
              </a:custDash>
            </a:ln>
          </p:spPr>
        </p:sp>
        <p:sp>
          <p:nvSpPr>
            <p:cNvPr id="70" name="Ellipse 70"/>
            <p:cNvSpPr/>
            <p:nvPr/>
          </p:nvSpPr>
          <p:spPr>
            <a:xfrm>
              <a:off x="5076825" y="1857375"/>
              <a:ext cx="2000250" cy="2000250"/>
            </a:xfrm>
            <a:prstGeom prst="ellipse">
              <a:avLst/>
            </a:prstGeom>
            <a:noFill/>
            <a:ln w="11430">
              <a:solidFill>
                <a:srgbClr val="F2CCC4"/>
              </a:solidFill>
              <a:custDash>
                <a:ds d="333333" sp="416667"/>
              </a:custDash>
            </a:ln>
          </p:spPr>
        </p:sp>
        <p:sp>
          <p:nvSpPr>
            <p:cNvPr id="71" name="Ellipse 71"/>
            <p:cNvSpPr/>
            <p:nvPr/>
          </p:nvSpPr>
          <p:spPr>
            <a:xfrm>
              <a:off x="5600700" y="2381250"/>
              <a:ext cx="952500" cy="952500"/>
            </a:xfrm>
            <a:prstGeom prst="ellipse">
              <a:avLst/>
            </a:prstGeom>
            <a:gradFill>
              <a:gsLst>
                <a:gs pos="0">
                  <a:srgbClr val="A8351D"/>
                </a:gs>
                <a:gs pos="100000">
                  <a:srgbClr val="67281B"/>
                </a:gs>
              </a:gsLst>
              <a:lin ang="5400000" scaled="1"/>
            </a:gradFill>
            <a:ln>
              <a:noFill/>
            </a:ln>
          </p:spPr>
        </p:sp>
        <p:grpSp>
          <p:nvGrpSpPr>
            <p:cNvPr id="80" name="Group 80"/>
            <p:cNvGrpSpPr/>
            <p:nvPr/>
          </p:nvGrpSpPr>
          <p:grpSpPr>
            <a:xfrm>
              <a:off x="5962650" y="2552700"/>
              <a:ext cx="228599" cy="238124"/>
              <a:chOff x="5962650" y="2552700"/>
              <a:chExt cx="228599" cy="238124"/>
            </a:xfrm>
          </p:grpSpPr>
          <p:sp>
            <p:nvSpPr>
              <p:cNvPr id="72" name="Freeform 72"/>
              <p:cNvSpPr/>
              <p:nvPr/>
            </p:nvSpPr>
            <p:spPr>
              <a:xfrm>
                <a:off x="5962650" y="2781299"/>
                <a:ext cx="228599" cy="9525"/>
              </a:xfrm>
              <a:custGeom>
                <a:avLst/>
                <a:gdLst/>
                <a:ahLst/>
                <a:cxnLst/>
                <a:rect l="l" t="t" r="r" b="b"/>
                <a:pathLst>
                  <a:path w="228599" h="9525">
                    <a:moveTo>
                      <a:pt x="0" y="0"/>
                    </a:moveTo>
                    <a:lnTo>
                      <a:pt x="228599" y="0"/>
                    </a:lnTo>
                  </a:path>
                </a:pathLst>
              </a:custGeom>
              <a:noFill/>
              <a:ln w="25400">
                <a:solidFill>
                  <a:srgbClr val="FFFFFF"/>
                </a:solidFill>
              </a:ln>
            </p:spPr>
          </p:sp>
          <p:sp>
            <p:nvSpPr>
              <p:cNvPr id="73" name="Freeform 73"/>
              <p:cNvSpPr/>
              <p:nvPr/>
            </p:nvSpPr>
            <p:spPr>
              <a:xfrm>
                <a:off x="6038850" y="261620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74" name="Freeform 74"/>
              <p:cNvSpPr/>
              <p:nvPr/>
            </p:nvSpPr>
            <p:spPr>
              <a:xfrm>
                <a:off x="6038850" y="266700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75" name="Freeform 75"/>
              <p:cNvSpPr/>
              <p:nvPr/>
            </p:nvSpPr>
            <p:spPr>
              <a:xfrm>
                <a:off x="6038850" y="2717799"/>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76" name="Freeform 76"/>
              <p:cNvSpPr/>
              <p:nvPr/>
            </p:nvSpPr>
            <p:spPr>
              <a:xfrm>
                <a:off x="6102350" y="261620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77" name="Freeform 77"/>
              <p:cNvSpPr/>
              <p:nvPr/>
            </p:nvSpPr>
            <p:spPr>
              <a:xfrm>
                <a:off x="6102350" y="266700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78" name="Freeform 78"/>
              <p:cNvSpPr/>
              <p:nvPr/>
            </p:nvSpPr>
            <p:spPr>
              <a:xfrm>
                <a:off x="6102350" y="2717799"/>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79" name="Freeform 79"/>
              <p:cNvSpPr/>
              <p:nvPr/>
            </p:nvSpPr>
            <p:spPr>
              <a:xfrm>
                <a:off x="5988050" y="2552700"/>
                <a:ext cx="177800" cy="228599"/>
              </a:xfrm>
              <a:custGeom>
                <a:avLst/>
                <a:gdLst/>
                <a:ahLst/>
                <a:cxnLst/>
                <a:rect l="l" t="t" r="r" b="b"/>
                <a:pathLst>
                  <a:path w="177800" h="228599">
                    <a:moveTo>
                      <a:pt x="0" y="228599"/>
                    </a:moveTo>
                    <a:lnTo>
                      <a:pt x="0" y="25400"/>
                    </a:lnTo>
                    <a:cubicBezTo>
                      <a:pt x="0" y="11372"/>
                      <a:pt x="11372" y="0"/>
                      <a:pt x="25400" y="0"/>
                    </a:cubicBezTo>
                    <a:lnTo>
                      <a:pt x="152400" y="0"/>
                    </a:lnTo>
                    <a:cubicBezTo>
                      <a:pt x="166428" y="0"/>
                      <a:pt x="177800" y="11372"/>
                      <a:pt x="177800" y="25400"/>
                    </a:cubicBezTo>
                    <a:lnTo>
                      <a:pt x="177800" y="228599"/>
                    </a:lnTo>
                  </a:path>
                </a:pathLst>
              </a:custGeom>
              <a:noFill/>
              <a:ln w="25400">
                <a:solidFill>
                  <a:srgbClr val="FFFFFF"/>
                </a:solidFill>
              </a:ln>
            </p:spPr>
          </p:sp>
        </p:grpSp>
        <p:sp>
          <p:nvSpPr>
            <p:cNvPr id="81" name="TextBox 81"/>
            <p:cNvSpPr txBox="1"/>
            <p:nvPr/>
          </p:nvSpPr>
          <p:spPr>
            <a:xfrm>
              <a:off x="5808142" y="29617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企业主体</a:t>
              </a:r>
            </a:p>
          </p:txBody>
        </p:sp>
        <p:sp>
          <p:nvSpPr>
            <p:cNvPr id="82" name="Ellipse 82"/>
            <p:cNvSpPr/>
            <p:nvPr/>
          </p:nvSpPr>
          <p:spPr>
            <a:xfrm>
              <a:off x="5848350" y="1628775"/>
              <a:ext cx="457200" cy="457200"/>
            </a:xfrm>
            <a:prstGeom prst="ellipse">
              <a:avLst/>
            </a:prstGeom>
            <a:solidFill>
              <a:srgbClr val="FFFFFF"/>
            </a:solidFill>
            <a:ln w="19050">
              <a:solidFill>
                <a:srgbClr val="A8351D"/>
              </a:solidFill>
            </a:ln>
          </p:spPr>
        </p:sp>
        <p:sp>
          <p:nvSpPr>
            <p:cNvPr id="83" name="Freeform 83"/>
            <p:cNvSpPr/>
            <p:nvPr/>
          </p:nvSpPr>
          <p:spPr>
            <a:xfrm>
              <a:off x="5998369" y="1804988"/>
              <a:ext cx="157163" cy="104775"/>
            </a:xfrm>
            <a:custGeom>
              <a:avLst/>
              <a:gdLst/>
              <a:ahLst/>
              <a:cxnLst/>
              <a:rect l="l" t="t" r="r" b="b"/>
              <a:pathLst>
                <a:path w="157163" h="104775">
                  <a:moveTo>
                    <a:pt x="78581" y="0"/>
                  </a:moveTo>
                  <a:lnTo>
                    <a:pt x="113506" y="52388"/>
                  </a:lnTo>
                  <a:lnTo>
                    <a:pt x="157163" y="17463"/>
                  </a:lnTo>
                  <a:lnTo>
                    <a:pt x="139700" y="104775"/>
                  </a:lnTo>
                  <a:lnTo>
                    <a:pt x="17463" y="104775"/>
                  </a:lnTo>
                  <a:lnTo>
                    <a:pt x="0" y="17463"/>
                  </a:lnTo>
                  <a:lnTo>
                    <a:pt x="43656" y="52388"/>
                  </a:lnTo>
                  <a:lnTo>
                    <a:pt x="78581" y="0"/>
                  </a:lnTo>
                </a:path>
              </a:pathLst>
            </a:custGeom>
            <a:noFill/>
            <a:ln w="17463">
              <a:solidFill>
                <a:srgbClr val="A8351D"/>
              </a:solidFill>
            </a:ln>
          </p:spPr>
        </p:sp>
        <p:sp>
          <p:nvSpPr>
            <p:cNvPr id="84" name="TextBox 84"/>
            <p:cNvSpPr txBox="1"/>
            <p:nvPr/>
          </p:nvSpPr>
          <p:spPr>
            <a:xfrm>
              <a:off x="5912663" y="1477089"/>
              <a:ext cx="32857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企业主</a:t>
              </a:r>
            </a:p>
          </p:txBody>
        </p:sp>
        <p:sp>
          <p:nvSpPr>
            <p:cNvPr id="85" name="Ellipse 85"/>
            <p:cNvSpPr/>
            <p:nvPr/>
          </p:nvSpPr>
          <p:spPr>
            <a:xfrm>
              <a:off x="4848225" y="2105025"/>
              <a:ext cx="457200" cy="457200"/>
            </a:xfrm>
            <a:prstGeom prst="ellipse">
              <a:avLst/>
            </a:prstGeom>
            <a:solidFill>
              <a:srgbClr val="FFFFFF"/>
            </a:solidFill>
            <a:ln w="19050">
              <a:solidFill>
                <a:srgbClr val="A8351D"/>
              </a:solidFill>
            </a:ln>
          </p:spPr>
        </p:sp>
        <p:grpSp>
          <p:nvGrpSpPr>
            <p:cNvPr id="89" name="Group 89"/>
            <p:cNvGrpSpPr/>
            <p:nvPr/>
          </p:nvGrpSpPr>
          <p:grpSpPr>
            <a:xfrm>
              <a:off x="5024438" y="2255044"/>
              <a:ext cx="139929" cy="166109"/>
              <a:chOff x="5024438" y="2255044"/>
              <a:chExt cx="139929" cy="166109"/>
            </a:xfrm>
          </p:grpSpPr>
          <p:sp>
            <p:nvSpPr>
              <p:cNvPr id="86" name="Freeform 86"/>
              <p:cNvSpPr/>
              <p:nvPr/>
            </p:nvSpPr>
            <p:spPr>
              <a:xfrm>
                <a:off x="5041900" y="22550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A8351D"/>
                </a:solidFill>
              </a:ln>
            </p:spPr>
          </p:sp>
          <p:sp>
            <p:nvSpPr>
              <p:cNvPr id="87" name="Freeform 87"/>
              <p:cNvSpPr/>
              <p:nvPr/>
            </p:nvSpPr>
            <p:spPr>
              <a:xfrm>
                <a:off x="5024438" y="2359819"/>
                <a:ext cx="39291" cy="52388"/>
              </a:xfrm>
              <a:custGeom>
                <a:avLst/>
                <a:gdLst/>
                <a:ahLst/>
                <a:cxnLst/>
                <a:rect l="l" t="t" r="r" b="b"/>
                <a:pathLst>
                  <a:path w="39291" h="52388">
                    <a:moveTo>
                      <a:pt x="0" y="52388"/>
                    </a:moveTo>
                    <a:lnTo>
                      <a:pt x="0" y="34925"/>
                    </a:lnTo>
                    <a:cubicBezTo>
                      <a:pt x="0" y="15636"/>
                      <a:pt x="15636" y="0"/>
                      <a:pt x="34925" y="0"/>
                    </a:cubicBezTo>
                    <a:lnTo>
                      <a:pt x="39291" y="0"/>
                    </a:lnTo>
                  </a:path>
                </a:pathLst>
              </a:custGeom>
              <a:noFill/>
              <a:ln w="17463">
                <a:solidFill>
                  <a:srgbClr val="A8351D"/>
                </a:solidFill>
              </a:ln>
            </p:spPr>
          </p:sp>
          <p:sp>
            <p:nvSpPr>
              <p:cNvPr id="88" name="Freeform 88"/>
              <p:cNvSpPr/>
              <p:nvPr/>
            </p:nvSpPr>
            <p:spPr>
              <a:xfrm>
                <a:off x="5090554" y="2351083"/>
                <a:ext cx="73813" cy="70070"/>
              </a:xfrm>
              <a:custGeom>
                <a:avLst/>
                <a:gdLst/>
                <a:ahLst/>
                <a:cxnLst/>
                <a:rect l="l" t="t" r="r" b="b"/>
                <a:pathLst>
                  <a:path w="73813" h="70070">
                    <a:moveTo>
                      <a:pt x="36912" y="59525"/>
                    </a:moveTo>
                    <a:lnTo>
                      <a:pt x="17948" y="69461"/>
                    </a:lnTo>
                    <a:cubicBezTo>
                      <a:pt x="16800" y="70059"/>
                      <a:pt x="15414" y="69958"/>
                      <a:pt x="14365" y="69200"/>
                    </a:cubicBezTo>
                    <a:cubicBezTo>
                      <a:pt x="13315" y="68443"/>
                      <a:pt x="12783" y="67159"/>
                      <a:pt x="12989" y="65881"/>
                    </a:cubicBezTo>
                    <a:lnTo>
                      <a:pt x="16612" y="44830"/>
                    </a:lnTo>
                    <a:lnTo>
                      <a:pt x="1271" y="29926"/>
                    </a:lnTo>
                    <a:cubicBezTo>
                      <a:pt x="337" y="29023"/>
                      <a:pt x="0" y="27666"/>
                      <a:pt x="403" y="26430"/>
                    </a:cubicBezTo>
                    <a:cubicBezTo>
                      <a:pt x="806" y="25195"/>
                      <a:pt x="1879" y="24298"/>
                      <a:pt x="3166" y="24120"/>
                    </a:cubicBezTo>
                    <a:lnTo>
                      <a:pt x="24365" y="21046"/>
                    </a:lnTo>
                    <a:lnTo>
                      <a:pt x="33848" y="1899"/>
                    </a:lnTo>
                    <a:cubicBezTo>
                      <a:pt x="34426" y="735"/>
                      <a:pt x="35613" y="0"/>
                      <a:pt x="36912" y="0"/>
                    </a:cubicBezTo>
                    <a:cubicBezTo>
                      <a:pt x="38211" y="0"/>
                      <a:pt x="39399" y="735"/>
                      <a:pt x="39977" y="1899"/>
                    </a:cubicBezTo>
                    <a:lnTo>
                      <a:pt x="49459" y="21046"/>
                    </a:lnTo>
                    <a:lnTo>
                      <a:pt x="70659" y="24120"/>
                    </a:lnTo>
                    <a:cubicBezTo>
                      <a:pt x="71942" y="24304"/>
                      <a:pt x="73009" y="25202"/>
                      <a:pt x="73411" y="26434"/>
                    </a:cubicBezTo>
                    <a:cubicBezTo>
                      <a:pt x="73813" y="27666"/>
                      <a:pt x="73481" y="29020"/>
                      <a:pt x="72553" y="29926"/>
                    </a:cubicBezTo>
                    <a:lnTo>
                      <a:pt x="57212" y="44830"/>
                    </a:lnTo>
                    <a:lnTo>
                      <a:pt x="60827" y="65873"/>
                    </a:lnTo>
                    <a:cubicBezTo>
                      <a:pt x="61049" y="67153"/>
                      <a:pt x="60522" y="68447"/>
                      <a:pt x="59470" y="69210"/>
                    </a:cubicBezTo>
                    <a:cubicBezTo>
                      <a:pt x="58418" y="69972"/>
                      <a:pt x="57024" y="70070"/>
                      <a:pt x="55877" y="69461"/>
                    </a:cubicBezTo>
                    <a:lnTo>
                      <a:pt x="36912" y="59525"/>
                    </a:lnTo>
                  </a:path>
                </a:pathLst>
              </a:custGeom>
              <a:noFill/>
              <a:ln w="17463">
                <a:solidFill>
                  <a:srgbClr val="A8351D"/>
                </a:solidFill>
              </a:ln>
            </p:spPr>
          </p:sp>
        </p:grpSp>
        <p:sp>
          <p:nvSpPr>
            <p:cNvPr id="90" name="TextBox 90"/>
            <p:cNvSpPr txBox="1"/>
            <p:nvPr/>
          </p:nvSpPr>
          <p:spPr>
            <a:xfrm>
              <a:off x="4806188" y="2629614"/>
              <a:ext cx="54127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关键管理层</a:t>
              </a:r>
            </a:p>
          </p:txBody>
        </p:sp>
        <p:sp>
          <p:nvSpPr>
            <p:cNvPr id="91" name="Ellipse 91"/>
            <p:cNvSpPr/>
            <p:nvPr/>
          </p:nvSpPr>
          <p:spPr>
            <a:xfrm>
              <a:off x="6924675" y="2181225"/>
              <a:ext cx="304800" cy="304800"/>
            </a:xfrm>
            <a:prstGeom prst="ellipse">
              <a:avLst/>
            </a:prstGeom>
            <a:solidFill>
              <a:srgbClr val="EAF2FC"/>
            </a:solidFill>
            <a:ln w="9525">
              <a:solidFill>
                <a:srgbClr val="F2CCC4"/>
              </a:solidFill>
            </a:ln>
          </p:spPr>
        </p:sp>
        <p:grpSp>
          <p:nvGrpSpPr>
            <p:cNvPr id="96" name="Group 96"/>
            <p:cNvGrpSpPr/>
            <p:nvPr/>
          </p:nvGrpSpPr>
          <p:grpSpPr>
            <a:xfrm>
              <a:off x="7019925" y="2276475"/>
              <a:ext cx="114300" cy="114301"/>
              <a:chOff x="7019925" y="2276475"/>
              <a:chExt cx="114300" cy="114301"/>
            </a:xfrm>
          </p:grpSpPr>
          <p:sp>
            <p:nvSpPr>
              <p:cNvPr id="92" name="Freeform 92"/>
              <p:cNvSpPr/>
              <p:nvPr/>
            </p:nvSpPr>
            <p:spPr>
              <a:xfrm>
                <a:off x="7032625" y="22764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E5907F"/>
                </a:solidFill>
              </a:ln>
            </p:spPr>
          </p:sp>
          <p:sp>
            <p:nvSpPr>
              <p:cNvPr id="93" name="Freeform 93"/>
              <p:cNvSpPr/>
              <p:nvPr/>
            </p:nvSpPr>
            <p:spPr>
              <a:xfrm>
                <a:off x="7019925" y="235267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E5907F"/>
                </a:solidFill>
              </a:ln>
            </p:spPr>
          </p:sp>
          <p:sp>
            <p:nvSpPr>
              <p:cNvPr id="94" name="Freeform 94"/>
              <p:cNvSpPr/>
              <p:nvPr/>
            </p:nvSpPr>
            <p:spPr>
              <a:xfrm>
                <a:off x="7102475" y="2277301"/>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E5907F"/>
                </a:solidFill>
              </a:ln>
            </p:spPr>
          </p:sp>
          <p:sp>
            <p:nvSpPr>
              <p:cNvPr id="95" name="Freeform 95"/>
              <p:cNvSpPr/>
              <p:nvPr/>
            </p:nvSpPr>
            <p:spPr>
              <a:xfrm>
                <a:off x="7115175" y="2353628"/>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E5907F"/>
                </a:solidFill>
              </a:ln>
            </p:spPr>
          </p:sp>
        </p:grpSp>
        <p:sp>
          <p:nvSpPr>
            <p:cNvPr id="97" name="Ellipse 97"/>
            <p:cNvSpPr/>
            <p:nvPr/>
          </p:nvSpPr>
          <p:spPr>
            <a:xfrm>
              <a:off x="5848350" y="3629025"/>
              <a:ext cx="457200" cy="457200"/>
            </a:xfrm>
            <a:prstGeom prst="ellipse">
              <a:avLst/>
            </a:prstGeom>
            <a:solidFill>
              <a:srgbClr val="FFFFFF"/>
            </a:solidFill>
            <a:ln w="19050">
              <a:solidFill>
                <a:srgbClr val="A5280F"/>
              </a:solidFill>
            </a:ln>
          </p:spPr>
        </p:sp>
        <p:grpSp>
          <p:nvGrpSpPr>
            <p:cNvPr id="104" name="Group 104"/>
            <p:cNvGrpSpPr/>
            <p:nvPr/>
          </p:nvGrpSpPr>
          <p:grpSpPr>
            <a:xfrm>
              <a:off x="5998369" y="3779044"/>
              <a:ext cx="157162" cy="157163"/>
              <a:chOff x="5998369" y="3779044"/>
              <a:chExt cx="157162" cy="157163"/>
            </a:xfrm>
          </p:grpSpPr>
          <p:sp>
            <p:nvSpPr>
              <p:cNvPr id="98" name="Freeform 98"/>
              <p:cNvSpPr/>
              <p:nvPr/>
            </p:nvSpPr>
            <p:spPr>
              <a:xfrm>
                <a:off x="6059488" y="38488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5280F"/>
                </a:solidFill>
              </a:ln>
            </p:spPr>
          </p:sp>
          <p:sp>
            <p:nvSpPr>
              <p:cNvPr id="99" name="Freeform 99"/>
              <p:cNvSpPr/>
              <p:nvPr/>
            </p:nvSpPr>
            <p:spPr>
              <a:xfrm>
                <a:off x="6042025" y="391001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A5280F"/>
                </a:solidFill>
              </a:ln>
            </p:spPr>
          </p:sp>
          <p:sp>
            <p:nvSpPr>
              <p:cNvPr id="100" name="Freeform 100"/>
              <p:cNvSpPr/>
              <p:nvPr/>
            </p:nvSpPr>
            <p:spPr>
              <a:xfrm>
                <a:off x="6103144" y="37790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5280F"/>
                </a:solidFill>
              </a:ln>
            </p:spPr>
          </p:sp>
          <p:sp>
            <p:nvSpPr>
              <p:cNvPr id="101" name="Freeform 101"/>
              <p:cNvSpPr/>
              <p:nvPr/>
            </p:nvSpPr>
            <p:spPr>
              <a:xfrm>
                <a:off x="6120606" y="384016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A5280F"/>
                </a:solidFill>
              </a:ln>
            </p:spPr>
          </p:sp>
          <p:sp>
            <p:nvSpPr>
              <p:cNvPr id="102" name="Freeform 102"/>
              <p:cNvSpPr/>
              <p:nvPr/>
            </p:nvSpPr>
            <p:spPr>
              <a:xfrm>
                <a:off x="6015831" y="37790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5280F"/>
                </a:solidFill>
              </a:ln>
            </p:spPr>
          </p:sp>
          <p:sp>
            <p:nvSpPr>
              <p:cNvPr id="103" name="Freeform 103"/>
              <p:cNvSpPr/>
              <p:nvPr/>
            </p:nvSpPr>
            <p:spPr>
              <a:xfrm>
                <a:off x="5998369" y="384016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A5280F"/>
                </a:solidFill>
              </a:ln>
            </p:spPr>
          </p:sp>
        </p:grpSp>
        <p:sp>
          <p:nvSpPr>
            <p:cNvPr id="105" name="TextBox 105"/>
            <p:cNvSpPr txBox="1"/>
            <p:nvPr/>
          </p:nvSpPr>
          <p:spPr>
            <a:xfrm>
              <a:off x="5806313" y="4153614"/>
              <a:ext cx="54127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员工与家庭</a:t>
              </a:r>
            </a:p>
          </p:txBody>
        </p:sp>
        <p:sp>
          <p:nvSpPr>
            <p:cNvPr id="106" name="Ellipse 106"/>
            <p:cNvSpPr/>
            <p:nvPr/>
          </p:nvSpPr>
          <p:spPr>
            <a:xfrm>
              <a:off x="4589145" y="1909762"/>
              <a:ext cx="419100" cy="419100"/>
            </a:xfrm>
            <a:prstGeom prst="ellipse">
              <a:avLst/>
            </a:prstGeom>
            <a:solidFill>
              <a:srgbClr val="FFFFFF"/>
            </a:solidFill>
            <a:ln w="17145">
              <a:solidFill>
                <a:srgbClr val="A5280F"/>
              </a:solidFill>
            </a:ln>
          </p:spPr>
        </p:sp>
        <p:grpSp>
          <p:nvGrpSpPr>
            <p:cNvPr id="111" name="Group 111"/>
            <p:cNvGrpSpPr/>
            <p:nvPr/>
          </p:nvGrpSpPr>
          <p:grpSpPr>
            <a:xfrm>
              <a:off x="4729162" y="2052637"/>
              <a:ext cx="142875" cy="134937"/>
              <a:chOff x="4729162" y="2052637"/>
              <a:chExt cx="142875" cy="134937"/>
            </a:xfrm>
          </p:grpSpPr>
          <p:sp>
            <p:nvSpPr>
              <p:cNvPr id="107" name="Freeform 107"/>
              <p:cNvSpPr/>
              <p:nvPr/>
            </p:nvSpPr>
            <p:spPr>
              <a:xfrm>
                <a:off x="4729162" y="2084387"/>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A5280F"/>
                </a:solidFill>
              </a:ln>
            </p:spPr>
          </p:sp>
          <p:sp>
            <p:nvSpPr>
              <p:cNvPr id="108" name="Freeform 108"/>
              <p:cNvSpPr/>
              <p:nvPr/>
            </p:nvSpPr>
            <p:spPr>
              <a:xfrm>
                <a:off x="4768850" y="2052637"/>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A5280F"/>
                </a:solidFill>
              </a:ln>
            </p:spPr>
          </p:sp>
          <p:sp>
            <p:nvSpPr>
              <p:cNvPr id="109" name="Freeform 109"/>
              <p:cNvSpPr/>
              <p:nvPr/>
            </p:nvSpPr>
            <p:spPr>
              <a:xfrm>
                <a:off x="4800600" y="2124075"/>
                <a:ext cx="9525" cy="9525"/>
              </a:xfrm>
              <a:custGeom>
                <a:avLst/>
                <a:gdLst/>
                <a:ahLst/>
                <a:cxnLst/>
                <a:rect l="l" t="t" r="r" b="b"/>
                <a:pathLst>
                  <a:path w="9525" h="9525">
                    <a:moveTo>
                      <a:pt x="0" y="0"/>
                    </a:moveTo>
                    <a:lnTo>
                      <a:pt x="0" y="79"/>
                    </a:lnTo>
                  </a:path>
                </a:pathLst>
              </a:custGeom>
              <a:noFill/>
              <a:ln w="15875">
                <a:solidFill>
                  <a:srgbClr val="A5280F"/>
                </a:solidFill>
              </a:ln>
            </p:spPr>
          </p:sp>
          <p:sp>
            <p:nvSpPr>
              <p:cNvPr id="110" name="Freeform 110"/>
              <p:cNvSpPr/>
              <p:nvPr/>
            </p:nvSpPr>
            <p:spPr>
              <a:xfrm>
                <a:off x="4729162" y="2132012"/>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A5280F"/>
                </a:solidFill>
              </a:ln>
            </p:spPr>
          </p:sp>
        </p:grpSp>
        <p:sp>
          <p:nvSpPr>
            <p:cNvPr id="112" name="TextBox 112"/>
            <p:cNvSpPr txBox="1"/>
            <p:nvPr/>
          </p:nvSpPr>
          <p:spPr>
            <a:xfrm>
              <a:off x="4634408" y="1781889"/>
              <a:ext cx="328574" cy="154781"/>
            </a:xfrm>
            <a:prstGeom prst="rect">
              <a:avLst/>
            </a:prstGeom>
            <a:noFill/>
            <a:ln>
              <a:noFill/>
            </a:ln>
          </p:spPr>
          <p:txBody>
            <a:bodyPr wrap="none" lIns="0" tIns="0" rIns="0" bIns="0" anchor="t" anchorCtr="0">
              <a:spAutoFit/>
            </a:bodyPr>
            <a:lstStyle/>
            <a:p>
              <a:pPr algn="ctr"/>
              <a:r>
                <a:rPr lang="zh-CN" sz="790" dirty="0">
                  <a:solidFill>
                    <a:srgbClr val="67281B"/>
                  </a:solidFill>
                  <a:latin typeface="+mn-lt"/>
                  <a:ea typeface="+mn-ea"/>
                  <a:cs typeface="+mn-cs"/>
                </a:rPr>
                <a:t>供应商</a:t>
              </a:r>
            </a:p>
          </p:txBody>
        </p:sp>
        <p:sp>
          <p:nvSpPr>
            <p:cNvPr id="113" name="Ellipse 113"/>
            <p:cNvSpPr/>
            <p:nvPr/>
          </p:nvSpPr>
          <p:spPr>
            <a:xfrm>
              <a:off x="4391025" y="2647950"/>
              <a:ext cx="419100" cy="419100"/>
            </a:xfrm>
            <a:prstGeom prst="ellipse">
              <a:avLst/>
            </a:prstGeom>
            <a:solidFill>
              <a:srgbClr val="FFFFFF"/>
            </a:solidFill>
            <a:ln w="17145">
              <a:solidFill>
                <a:srgbClr val="A5280F"/>
              </a:solidFill>
            </a:ln>
          </p:spPr>
        </p:sp>
        <p:grpSp>
          <p:nvGrpSpPr>
            <p:cNvPr id="118" name="Group 118"/>
            <p:cNvGrpSpPr/>
            <p:nvPr/>
          </p:nvGrpSpPr>
          <p:grpSpPr>
            <a:xfrm>
              <a:off x="4537075" y="2795587"/>
              <a:ext cx="127000" cy="142875"/>
              <a:chOff x="4537075" y="2795587"/>
              <a:chExt cx="127000" cy="142875"/>
            </a:xfrm>
          </p:grpSpPr>
          <p:sp>
            <p:nvSpPr>
              <p:cNvPr id="114" name="Freeform 114"/>
              <p:cNvSpPr/>
              <p:nvPr/>
            </p:nvSpPr>
            <p:spPr>
              <a:xfrm>
                <a:off x="4537075" y="29067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5280F"/>
                </a:solidFill>
              </a:ln>
            </p:spPr>
          </p:sp>
          <p:sp>
            <p:nvSpPr>
              <p:cNvPr id="115" name="Freeform 115"/>
              <p:cNvSpPr/>
              <p:nvPr/>
            </p:nvSpPr>
            <p:spPr>
              <a:xfrm>
                <a:off x="4624387" y="29067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5280F"/>
                </a:solidFill>
              </a:ln>
            </p:spPr>
          </p:sp>
          <p:sp>
            <p:nvSpPr>
              <p:cNvPr id="116" name="Freeform 116"/>
              <p:cNvSpPr/>
              <p:nvPr/>
            </p:nvSpPr>
            <p:spPr>
              <a:xfrm>
                <a:off x="4537075" y="2795587"/>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A5280F"/>
                </a:solidFill>
              </a:ln>
            </p:spPr>
          </p:sp>
          <p:sp>
            <p:nvSpPr>
              <p:cNvPr id="117" name="Freeform 117"/>
              <p:cNvSpPr/>
              <p:nvPr/>
            </p:nvSpPr>
            <p:spPr>
              <a:xfrm>
                <a:off x="4552950" y="2811462"/>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A5280F"/>
                </a:solidFill>
              </a:ln>
            </p:spPr>
          </p:sp>
        </p:grpSp>
        <p:sp>
          <p:nvSpPr>
            <p:cNvPr id="119" name="TextBox 119"/>
            <p:cNvSpPr txBox="1"/>
            <p:nvPr/>
          </p:nvSpPr>
          <p:spPr>
            <a:xfrm>
              <a:off x="4436288" y="3134439"/>
              <a:ext cx="328574" cy="154781"/>
            </a:xfrm>
            <a:prstGeom prst="rect">
              <a:avLst/>
            </a:prstGeom>
            <a:noFill/>
            <a:ln>
              <a:noFill/>
            </a:ln>
          </p:spPr>
          <p:txBody>
            <a:bodyPr wrap="none" lIns="0" tIns="0" rIns="0" bIns="0" anchor="t" anchorCtr="0">
              <a:spAutoFit/>
            </a:bodyPr>
            <a:lstStyle/>
            <a:p>
              <a:pPr algn="ctr"/>
              <a:r>
                <a:rPr lang="zh-CN" sz="790" dirty="0">
                  <a:solidFill>
                    <a:srgbClr val="67281B"/>
                  </a:solidFill>
                  <a:latin typeface="+mn-lt"/>
                  <a:ea typeface="+mn-ea"/>
                  <a:cs typeface="+mn-cs"/>
                </a:rPr>
                <a:t>经销商</a:t>
              </a:r>
            </a:p>
          </p:txBody>
        </p:sp>
        <p:sp>
          <p:nvSpPr>
            <p:cNvPr id="120" name="Ellipse 120"/>
            <p:cNvSpPr/>
            <p:nvPr/>
          </p:nvSpPr>
          <p:spPr>
            <a:xfrm>
              <a:off x="4589145" y="3386138"/>
              <a:ext cx="419100" cy="419100"/>
            </a:xfrm>
            <a:prstGeom prst="ellipse">
              <a:avLst/>
            </a:prstGeom>
            <a:solidFill>
              <a:srgbClr val="FFFFFF"/>
            </a:solidFill>
            <a:ln w="17145">
              <a:solidFill>
                <a:srgbClr val="A5280F"/>
              </a:solidFill>
            </a:ln>
          </p:spPr>
        </p:sp>
        <p:grpSp>
          <p:nvGrpSpPr>
            <p:cNvPr id="124" name="Group 124"/>
            <p:cNvGrpSpPr/>
            <p:nvPr/>
          </p:nvGrpSpPr>
          <p:grpSpPr>
            <a:xfrm>
              <a:off x="4729162" y="3529012"/>
              <a:ext cx="142875" cy="142875"/>
              <a:chOff x="4729162" y="3529012"/>
              <a:chExt cx="142875" cy="142875"/>
            </a:xfrm>
          </p:grpSpPr>
          <p:sp>
            <p:nvSpPr>
              <p:cNvPr id="121" name="Freeform 121"/>
              <p:cNvSpPr/>
              <p:nvPr/>
            </p:nvSpPr>
            <p:spPr>
              <a:xfrm>
                <a:off x="4729162" y="36401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5280F"/>
                </a:solidFill>
              </a:ln>
            </p:spPr>
          </p:sp>
          <p:sp>
            <p:nvSpPr>
              <p:cNvPr id="122" name="Freeform 122"/>
              <p:cNvSpPr/>
              <p:nvPr/>
            </p:nvSpPr>
            <p:spPr>
              <a:xfrm>
                <a:off x="4840287" y="3529012"/>
                <a:ext cx="31750" cy="31750"/>
              </a:xfrm>
              <a:custGeom>
                <a:avLst/>
                <a:gdLst/>
                <a:ahLst/>
                <a:cxnLst/>
                <a:rect l="l" t="t" r="r" b="b"/>
                <a:pathLst>
                  <a:path w="31750" h="31750">
                    <a:moveTo>
                      <a:pt x="15875" y="31750"/>
                    </a:moveTo>
                    <a:cubicBezTo>
                      <a:pt x="24643" y="31750"/>
                      <a:pt x="31750" y="24643"/>
                      <a:pt x="31750" y="15875"/>
                    </a:cubicBezTo>
                    <a:cubicBezTo>
                      <a:pt x="31750" y="7107"/>
                      <a:pt x="24643" y="0"/>
                      <a:pt x="15875" y="0"/>
                    </a:cubicBezTo>
                    <a:cubicBezTo>
                      <a:pt x="7107" y="0"/>
                      <a:pt x="0" y="7107"/>
                      <a:pt x="0" y="15875"/>
                    </a:cubicBezTo>
                    <a:cubicBezTo>
                      <a:pt x="0" y="24643"/>
                      <a:pt x="7107" y="31750"/>
                      <a:pt x="15875" y="31750"/>
                    </a:cubicBezTo>
                  </a:path>
                </a:pathLst>
              </a:custGeom>
              <a:noFill/>
              <a:ln w="15875">
                <a:solidFill>
                  <a:srgbClr val="A5280F"/>
                </a:solidFill>
              </a:ln>
            </p:spPr>
          </p:sp>
          <p:sp>
            <p:nvSpPr>
              <p:cNvPr id="123" name="Freeform 123"/>
              <p:cNvSpPr/>
              <p:nvPr/>
            </p:nvSpPr>
            <p:spPr>
              <a:xfrm>
                <a:off x="4745037" y="3544887"/>
                <a:ext cx="119062" cy="111125"/>
              </a:xfrm>
              <a:custGeom>
                <a:avLst/>
                <a:gdLst/>
                <a:ahLst/>
                <a:cxnLst/>
                <a:rect l="l" t="t" r="r" b="b"/>
                <a:pathLst>
                  <a:path w="119062" h="111125">
                    <a:moveTo>
                      <a:pt x="47625" y="111125"/>
                    </a:moveTo>
                    <a:lnTo>
                      <a:pt x="91281" y="111125"/>
                    </a:lnTo>
                    <a:cubicBezTo>
                      <a:pt x="106624" y="111125"/>
                      <a:pt x="119062" y="98687"/>
                      <a:pt x="119062" y="83344"/>
                    </a:cubicBezTo>
                    <a:cubicBezTo>
                      <a:pt x="119062" y="68001"/>
                      <a:pt x="106624" y="55562"/>
                      <a:pt x="91281" y="55562"/>
                    </a:cubicBezTo>
                    <a:lnTo>
                      <a:pt x="27781" y="55562"/>
                    </a:lnTo>
                    <a:cubicBezTo>
                      <a:pt x="12438" y="55562"/>
                      <a:pt x="0" y="43124"/>
                      <a:pt x="0" y="27781"/>
                    </a:cubicBezTo>
                    <a:cubicBezTo>
                      <a:pt x="0" y="12438"/>
                      <a:pt x="12438" y="0"/>
                      <a:pt x="27781" y="0"/>
                    </a:cubicBezTo>
                    <a:lnTo>
                      <a:pt x="63500" y="0"/>
                    </a:lnTo>
                  </a:path>
                </a:pathLst>
              </a:custGeom>
              <a:noFill/>
              <a:ln w="15875">
                <a:solidFill>
                  <a:srgbClr val="A5280F"/>
                </a:solidFill>
              </a:ln>
            </p:spPr>
          </p:sp>
        </p:grpSp>
        <p:sp>
          <p:nvSpPr>
            <p:cNvPr id="125" name="TextBox 125"/>
            <p:cNvSpPr txBox="1"/>
            <p:nvPr/>
          </p:nvSpPr>
          <p:spPr>
            <a:xfrm>
              <a:off x="4634408" y="3867864"/>
              <a:ext cx="328574" cy="154781"/>
            </a:xfrm>
            <a:prstGeom prst="rect">
              <a:avLst/>
            </a:prstGeom>
            <a:noFill/>
            <a:ln>
              <a:noFill/>
            </a:ln>
          </p:spPr>
          <p:txBody>
            <a:bodyPr wrap="none" lIns="0" tIns="0" rIns="0" bIns="0" anchor="t" anchorCtr="0">
              <a:spAutoFit/>
            </a:bodyPr>
            <a:lstStyle/>
            <a:p>
              <a:pPr algn="ctr"/>
              <a:r>
                <a:rPr lang="zh-CN" sz="790" dirty="0">
                  <a:solidFill>
                    <a:srgbClr val="67281B"/>
                  </a:solidFill>
                  <a:latin typeface="+mn-lt"/>
                  <a:ea typeface="+mn-ea"/>
                  <a:cs typeface="+mn-cs"/>
                </a:rPr>
                <a:t>物流商</a:t>
              </a:r>
            </a:p>
          </p:txBody>
        </p:sp>
        <p:sp>
          <p:nvSpPr>
            <p:cNvPr id="126" name="Ellipse 126"/>
            <p:cNvSpPr/>
            <p:nvPr/>
          </p:nvSpPr>
          <p:spPr>
            <a:xfrm>
              <a:off x="7145655" y="1909762"/>
              <a:ext cx="419100" cy="419100"/>
            </a:xfrm>
            <a:prstGeom prst="ellipse">
              <a:avLst/>
            </a:prstGeom>
            <a:solidFill>
              <a:srgbClr val="FFFFFF"/>
            </a:solidFill>
            <a:ln w="17145">
              <a:solidFill>
                <a:srgbClr val="A8351D"/>
              </a:solidFill>
            </a:ln>
          </p:spPr>
        </p:sp>
        <p:grpSp>
          <p:nvGrpSpPr>
            <p:cNvPr id="129" name="Group 129"/>
            <p:cNvGrpSpPr/>
            <p:nvPr/>
          </p:nvGrpSpPr>
          <p:grpSpPr>
            <a:xfrm>
              <a:off x="7278378" y="2049153"/>
              <a:ext cx="149844" cy="149844"/>
              <a:chOff x="7278378" y="2049153"/>
              <a:chExt cx="149844" cy="149844"/>
            </a:xfrm>
          </p:grpSpPr>
          <p:sp>
            <p:nvSpPr>
              <p:cNvPr id="127" name="Freeform 127"/>
              <p:cNvSpPr/>
              <p:nvPr/>
            </p:nvSpPr>
            <p:spPr>
              <a:xfrm>
                <a:off x="7278378" y="2049153"/>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A8351D"/>
                </a:solidFill>
              </a:ln>
            </p:spPr>
          </p:sp>
          <p:sp>
            <p:nvSpPr>
              <p:cNvPr id="128" name="Freeform 128"/>
              <p:cNvSpPr/>
              <p:nvPr/>
            </p:nvSpPr>
            <p:spPr>
              <a:xfrm>
                <a:off x="7329487" y="21002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A8351D"/>
                </a:solidFill>
              </a:ln>
            </p:spPr>
          </p:sp>
        </p:grpSp>
        <p:sp>
          <p:nvSpPr>
            <p:cNvPr id="130" name="TextBox 130"/>
            <p:cNvSpPr txBox="1"/>
            <p:nvPr/>
          </p:nvSpPr>
          <p:spPr>
            <a:xfrm>
              <a:off x="7190918" y="1781889"/>
              <a:ext cx="328574" cy="154781"/>
            </a:xfrm>
            <a:prstGeom prst="rect">
              <a:avLst/>
            </a:prstGeom>
            <a:noFill/>
            <a:ln>
              <a:noFill/>
            </a:ln>
          </p:spPr>
          <p:txBody>
            <a:bodyPr wrap="none" lIns="0" tIns="0" rIns="0" bIns="0" anchor="t" anchorCtr="0">
              <a:spAutoFit/>
            </a:bodyPr>
            <a:lstStyle/>
            <a:p>
              <a:pPr algn="ctr"/>
              <a:r>
                <a:rPr lang="zh-CN" sz="790" dirty="0">
                  <a:solidFill>
                    <a:srgbClr val="67281B"/>
                  </a:solidFill>
                  <a:latin typeface="+mn-lt"/>
                  <a:ea typeface="+mn-ea"/>
                  <a:cs typeface="+mn-cs"/>
                </a:rPr>
                <a:t>服务商</a:t>
              </a:r>
            </a:p>
          </p:txBody>
        </p:sp>
        <p:sp>
          <p:nvSpPr>
            <p:cNvPr id="131" name="Ellipse 131"/>
            <p:cNvSpPr/>
            <p:nvPr/>
          </p:nvSpPr>
          <p:spPr>
            <a:xfrm>
              <a:off x="7343775" y="2647950"/>
              <a:ext cx="419100" cy="419100"/>
            </a:xfrm>
            <a:prstGeom prst="ellipse">
              <a:avLst/>
            </a:prstGeom>
            <a:solidFill>
              <a:srgbClr val="FFFFFF"/>
            </a:solidFill>
            <a:ln w="17145">
              <a:solidFill>
                <a:srgbClr val="A8351D"/>
              </a:solidFill>
            </a:ln>
          </p:spPr>
        </p:sp>
        <p:grpSp>
          <p:nvGrpSpPr>
            <p:cNvPr id="135" name="Group 135"/>
            <p:cNvGrpSpPr/>
            <p:nvPr/>
          </p:nvGrpSpPr>
          <p:grpSpPr>
            <a:xfrm>
              <a:off x="7505700" y="2795587"/>
              <a:ext cx="95250" cy="142875"/>
              <a:chOff x="7505700" y="2795587"/>
              <a:chExt cx="95250" cy="142875"/>
            </a:xfrm>
          </p:grpSpPr>
          <p:sp>
            <p:nvSpPr>
              <p:cNvPr id="132" name="Freeform 132"/>
              <p:cNvSpPr/>
              <p:nvPr/>
            </p:nvSpPr>
            <p:spPr>
              <a:xfrm>
                <a:off x="7505700" y="2795587"/>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A8351D"/>
                </a:solidFill>
              </a:ln>
            </p:spPr>
          </p:sp>
          <p:sp>
            <p:nvSpPr>
              <p:cNvPr id="133" name="Freeform 133"/>
              <p:cNvSpPr/>
              <p:nvPr/>
            </p:nvSpPr>
            <p:spPr>
              <a:xfrm>
                <a:off x="7545387" y="2803525"/>
                <a:ext cx="15875" cy="9525"/>
              </a:xfrm>
              <a:custGeom>
                <a:avLst/>
                <a:gdLst/>
                <a:ahLst/>
                <a:cxnLst/>
                <a:rect l="l" t="t" r="r" b="b"/>
                <a:pathLst>
                  <a:path w="15875" h="9525">
                    <a:moveTo>
                      <a:pt x="0" y="0"/>
                    </a:moveTo>
                    <a:lnTo>
                      <a:pt x="15875" y="0"/>
                    </a:lnTo>
                  </a:path>
                </a:pathLst>
              </a:custGeom>
              <a:noFill/>
              <a:ln w="15875">
                <a:solidFill>
                  <a:srgbClr val="A8351D"/>
                </a:solidFill>
              </a:ln>
            </p:spPr>
          </p:sp>
          <p:sp>
            <p:nvSpPr>
              <p:cNvPr id="134" name="Freeform 134"/>
              <p:cNvSpPr/>
              <p:nvPr/>
            </p:nvSpPr>
            <p:spPr>
              <a:xfrm>
                <a:off x="7553325" y="2906712"/>
                <a:ext cx="9525" cy="9525"/>
              </a:xfrm>
              <a:custGeom>
                <a:avLst/>
                <a:gdLst/>
                <a:ahLst/>
                <a:cxnLst/>
                <a:rect l="l" t="t" r="r" b="b"/>
                <a:pathLst>
                  <a:path w="9525" h="9525">
                    <a:moveTo>
                      <a:pt x="0" y="0"/>
                    </a:moveTo>
                    <a:lnTo>
                      <a:pt x="0" y="79"/>
                    </a:lnTo>
                  </a:path>
                </a:pathLst>
              </a:custGeom>
              <a:noFill/>
              <a:ln w="15875">
                <a:solidFill>
                  <a:srgbClr val="A8351D"/>
                </a:solidFill>
              </a:ln>
            </p:spPr>
          </p:sp>
        </p:grpSp>
        <p:sp>
          <p:nvSpPr>
            <p:cNvPr id="136" name="TextBox 136"/>
            <p:cNvSpPr txBox="1"/>
            <p:nvPr/>
          </p:nvSpPr>
          <p:spPr>
            <a:xfrm>
              <a:off x="7282688" y="3134439"/>
              <a:ext cx="541274" cy="154781"/>
            </a:xfrm>
            <a:prstGeom prst="rect">
              <a:avLst/>
            </a:prstGeom>
            <a:noFill/>
            <a:ln>
              <a:noFill/>
            </a:ln>
          </p:spPr>
          <p:txBody>
            <a:bodyPr wrap="none" lIns="0" tIns="0" rIns="0" bIns="0" anchor="t" anchorCtr="0">
              <a:spAutoFit/>
            </a:bodyPr>
            <a:lstStyle/>
            <a:p>
              <a:pPr algn="ctr"/>
              <a:r>
                <a:rPr lang="zh-CN" sz="790" dirty="0">
                  <a:solidFill>
                    <a:srgbClr val="67281B"/>
                  </a:solidFill>
                  <a:latin typeface="+mn-lt"/>
                  <a:ea typeface="+mn-ea"/>
                  <a:cs typeface="+mn-cs"/>
                </a:rPr>
                <a:t>技术服务商</a:t>
              </a:r>
            </a:p>
          </p:txBody>
        </p:sp>
        <p:sp>
          <p:nvSpPr>
            <p:cNvPr id="137" name="Ellipse 137"/>
            <p:cNvSpPr/>
            <p:nvPr/>
          </p:nvSpPr>
          <p:spPr>
            <a:xfrm>
              <a:off x="7145655" y="3386138"/>
              <a:ext cx="419100" cy="419100"/>
            </a:xfrm>
            <a:prstGeom prst="ellipse">
              <a:avLst/>
            </a:prstGeom>
            <a:solidFill>
              <a:srgbClr val="FFFFFF"/>
            </a:solidFill>
            <a:ln w="17145">
              <a:solidFill>
                <a:srgbClr val="A8351D"/>
              </a:solidFill>
            </a:ln>
          </p:spPr>
        </p:sp>
        <p:grpSp>
          <p:nvGrpSpPr>
            <p:cNvPr id="140" name="Group 140"/>
            <p:cNvGrpSpPr/>
            <p:nvPr/>
          </p:nvGrpSpPr>
          <p:grpSpPr>
            <a:xfrm>
              <a:off x="7273925" y="3544887"/>
              <a:ext cx="158750" cy="111125"/>
              <a:chOff x="7273925" y="3544887"/>
              <a:chExt cx="158750" cy="111125"/>
            </a:xfrm>
          </p:grpSpPr>
          <p:sp>
            <p:nvSpPr>
              <p:cNvPr id="138" name="Freeform 138"/>
              <p:cNvSpPr/>
              <p:nvPr/>
            </p:nvSpPr>
            <p:spPr>
              <a:xfrm>
                <a:off x="7273925" y="3544887"/>
                <a:ext cx="158750" cy="79375"/>
              </a:xfrm>
              <a:custGeom>
                <a:avLst/>
                <a:gdLst/>
                <a:ahLst/>
                <a:cxnLst/>
                <a:rect l="l" t="t" r="r" b="b"/>
                <a:pathLst>
                  <a:path w="158750" h="79375">
                    <a:moveTo>
                      <a:pt x="158750" y="31750"/>
                    </a:moveTo>
                    <a:lnTo>
                      <a:pt x="79375" y="0"/>
                    </a:lnTo>
                    <a:lnTo>
                      <a:pt x="0" y="31750"/>
                    </a:lnTo>
                    <a:lnTo>
                      <a:pt x="79375" y="63500"/>
                    </a:lnTo>
                    <a:lnTo>
                      <a:pt x="158750" y="31750"/>
                    </a:lnTo>
                    <a:lnTo>
                      <a:pt x="158750" y="79375"/>
                    </a:lnTo>
                  </a:path>
                </a:pathLst>
              </a:custGeom>
              <a:noFill/>
              <a:ln w="15875">
                <a:solidFill>
                  <a:srgbClr val="A8351D"/>
                </a:solidFill>
              </a:ln>
            </p:spPr>
          </p:sp>
          <p:sp>
            <p:nvSpPr>
              <p:cNvPr id="139" name="Freeform 139"/>
              <p:cNvSpPr/>
              <p:nvPr/>
            </p:nvSpPr>
            <p:spPr>
              <a:xfrm>
                <a:off x="7305675" y="3589337"/>
                <a:ext cx="95250" cy="66675"/>
              </a:xfrm>
              <a:custGeom>
                <a:avLst/>
                <a:gdLst/>
                <a:ahLst/>
                <a:cxnLst/>
                <a:rect l="l" t="t" r="r" b="b"/>
                <a:pathLst>
                  <a:path w="95250" h="66675">
                    <a:moveTo>
                      <a:pt x="0" y="0"/>
                    </a:moveTo>
                    <a:lnTo>
                      <a:pt x="0" y="42862"/>
                    </a:lnTo>
                    <a:cubicBezTo>
                      <a:pt x="0" y="56014"/>
                      <a:pt x="21322" y="66675"/>
                      <a:pt x="47625" y="66675"/>
                    </a:cubicBezTo>
                    <a:cubicBezTo>
                      <a:pt x="73928" y="66675"/>
                      <a:pt x="95250" y="56014"/>
                      <a:pt x="95250" y="42862"/>
                    </a:cubicBezTo>
                    <a:lnTo>
                      <a:pt x="95250" y="0"/>
                    </a:lnTo>
                  </a:path>
                </a:pathLst>
              </a:custGeom>
              <a:noFill/>
              <a:ln w="15875">
                <a:solidFill>
                  <a:srgbClr val="A8351D"/>
                </a:solidFill>
              </a:ln>
            </p:spPr>
          </p:sp>
        </p:grpSp>
        <p:sp>
          <p:nvSpPr>
            <p:cNvPr id="141" name="TextBox 141"/>
            <p:cNvSpPr txBox="1"/>
            <p:nvPr/>
          </p:nvSpPr>
          <p:spPr>
            <a:xfrm>
              <a:off x="7137743" y="3867864"/>
              <a:ext cx="434924" cy="154781"/>
            </a:xfrm>
            <a:prstGeom prst="rect">
              <a:avLst/>
            </a:prstGeom>
            <a:noFill/>
            <a:ln>
              <a:noFill/>
            </a:ln>
          </p:spPr>
          <p:txBody>
            <a:bodyPr wrap="none" lIns="0" tIns="0" rIns="0" bIns="0" anchor="t" anchorCtr="0">
              <a:spAutoFit/>
            </a:bodyPr>
            <a:lstStyle/>
            <a:p>
              <a:pPr algn="ctr"/>
              <a:r>
                <a:rPr lang="zh-CN" sz="790" dirty="0">
                  <a:solidFill>
                    <a:srgbClr val="67281B"/>
                  </a:solidFill>
                  <a:latin typeface="+mn-lt"/>
                  <a:ea typeface="+mn-ea"/>
                  <a:cs typeface="+mn-cs"/>
                </a:rPr>
                <a:t>专业机构</a:t>
              </a:r>
            </a:p>
          </p:txBody>
        </p:sp>
      </p:grpSp>
      <p:grpSp>
        <p:nvGrpSpPr>
          <p:cNvPr id="183" name="col-kpi"/>
          <p:cNvGrpSpPr/>
          <p:nvPr/>
        </p:nvGrpSpPr>
        <p:grpSpPr>
          <a:xfrm>
            <a:off x="9486900" y="704850"/>
            <a:ext cx="2324100" cy="3762375"/>
            <a:chOff x="9486900" y="704850"/>
            <a:chExt cx="2324100" cy="3762375"/>
          </a:xfrm>
        </p:grpSpPr>
        <p:sp>
          <p:nvSpPr>
            <p:cNvPr id="143" name="Rectangle 143"/>
            <p:cNvSpPr/>
            <p:nvPr/>
          </p:nvSpPr>
          <p:spPr>
            <a:xfrm>
              <a:off x="9486900" y="704850"/>
              <a:ext cx="2324100" cy="285750"/>
            </a:xfrm>
            <a:prstGeom prst="roundRect">
              <a:avLst>
                <a:gd name="adj" fmla="val 13333"/>
              </a:avLst>
            </a:prstGeom>
            <a:gradFill>
              <a:gsLst>
                <a:gs pos="0">
                  <a:srgbClr val="AD3921"/>
                </a:gs>
                <a:gs pos="100000">
                  <a:srgbClr val="962C16"/>
                </a:gs>
              </a:gsLst>
              <a:lin ang="5400000" scaled="1"/>
            </a:gradFill>
            <a:ln>
              <a:noFill/>
            </a:ln>
          </p:spPr>
        </p:sp>
        <p:sp>
          <p:nvSpPr>
            <p:cNvPr id="144" name="TextBox 144"/>
            <p:cNvSpPr txBox="1"/>
            <p:nvPr/>
          </p:nvSpPr>
          <p:spPr>
            <a:xfrm>
              <a:off x="10203218" y="787479"/>
              <a:ext cx="891464"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经营识别指标</a:t>
              </a:r>
            </a:p>
          </p:txBody>
        </p:sp>
        <p:sp>
          <p:nvSpPr>
            <p:cNvPr id="145" name="Rectangle 145"/>
            <p:cNvSpPr/>
            <p:nvPr/>
          </p:nvSpPr>
          <p:spPr>
            <a:xfrm>
              <a:off x="9486900" y="1066800"/>
              <a:ext cx="2324100" cy="800100"/>
            </a:xfrm>
            <a:prstGeom prst="roundRect">
              <a:avLst>
                <a:gd name="adj" fmla="val 9524"/>
              </a:avLst>
            </a:prstGeom>
            <a:solidFill>
              <a:srgbClr val="FFFFFF"/>
            </a:solidFill>
            <a:ln w="9525">
              <a:solidFill>
                <a:srgbClr val="C9D8EF"/>
              </a:solidFill>
            </a:ln>
          </p:spPr>
        </p:sp>
        <p:grpSp>
          <p:nvGrpSpPr>
            <p:cNvPr id="152" name="Group 152"/>
            <p:cNvGrpSpPr/>
            <p:nvPr/>
          </p:nvGrpSpPr>
          <p:grpSpPr>
            <a:xfrm>
              <a:off x="9677400" y="1238250"/>
              <a:ext cx="152400" cy="152400"/>
              <a:chOff x="9677400" y="1238250"/>
              <a:chExt cx="152400" cy="152400"/>
            </a:xfrm>
          </p:grpSpPr>
          <p:sp>
            <p:nvSpPr>
              <p:cNvPr id="146" name="Freeform 146"/>
              <p:cNvSpPr/>
              <p:nvPr/>
            </p:nvSpPr>
            <p:spPr>
              <a:xfrm>
                <a:off x="9695793" y="1266215"/>
                <a:ext cx="106042" cy="106042"/>
              </a:xfrm>
              <a:custGeom>
                <a:avLst/>
                <a:gdLst/>
                <a:ahLst/>
                <a:cxnLst/>
                <a:rect l="l" t="t" r="r" b="b"/>
                <a:pathLst>
                  <a:path w="106042" h="106042">
                    <a:moveTo>
                      <a:pt x="0" y="0"/>
                    </a:moveTo>
                    <a:lnTo>
                      <a:pt x="12144" y="40472"/>
                    </a:lnTo>
                    <a:moveTo>
                      <a:pt x="65551" y="93897"/>
                    </a:moveTo>
                    <a:lnTo>
                      <a:pt x="106042" y="106042"/>
                    </a:lnTo>
                  </a:path>
                </a:pathLst>
              </a:custGeom>
              <a:noFill/>
              <a:ln w="19050">
                <a:solidFill>
                  <a:srgbClr val="A8351D"/>
                </a:solidFill>
              </a:ln>
            </p:spPr>
          </p:sp>
          <p:sp>
            <p:nvSpPr>
              <p:cNvPr id="147" name="Freeform 147"/>
              <p:cNvSpPr/>
              <p:nvPr/>
            </p:nvSpPr>
            <p:spPr>
              <a:xfrm>
                <a:off x="9750581" y="1262615"/>
                <a:ext cx="54854" cy="54854"/>
              </a:xfrm>
              <a:custGeom>
                <a:avLst/>
                <a:gdLst/>
                <a:ahLst/>
                <a:cxnLst/>
                <a:rect l="l" t="t" r="r" b="b"/>
                <a:pathLst>
                  <a:path w="54854" h="54854">
                    <a:moveTo>
                      <a:pt x="0" y="54854"/>
                    </a:moveTo>
                    <a:lnTo>
                      <a:pt x="54854" y="0"/>
                    </a:lnTo>
                  </a:path>
                </a:pathLst>
              </a:custGeom>
              <a:noFill/>
              <a:ln w="19050">
                <a:solidFill>
                  <a:srgbClr val="A8351D"/>
                </a:solidFill>
              </a:ln>
            </p:spPr>
          </p:sp>
          <p:sp>
            <p:nvSpPr>
              <p:cNvPr id="148" name="Freeform 148"/>
              <p:cNvSpPr/>
              <p:nvPr/>
            </p:nvSpPr>
            <p:spPr>
              <a:xfrm>
                <a:off x="9677400" y="123825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9050">
                <a:solidFill>
                  <a:srgbClr val="A8351D"/>
                </a:solidFill>
              </a:ln>
            </p:spPr>
          </p:sp>
          <p:sp>
            <p:nvSpPr>
              <p:cNvPr id="149" name="Freeform 149"/>
              <p:cNvSpPr/>
              <p:nvPr/>
            </p:nvSpPr>
            <p:spPr>
              <a:xfrm>
                <a:off x="9801225" y="123825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9050">
                <a:solidFill>
                  <a:srgbClr val="A8351D"/>
                </a:solidFill>
              </a:ln>
            </p:spPr>
          </p:sp>
          <p:sp>
            <p:nvSpPr>
              <p:cNvPr id="150" name="Freeform 150"/>
              <p:cNvSpPr/>
              <p:nvPr/>
            </p:nvSpPr>
            <p:spPr>
              <a:xfrm>
                <a:off x="9801225" y="136207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9050">
                <a:solidFill>
                  <a:srgbClr val="A8351D"/>
                </a:solidFill>
              </a:ln>
            </p:spPr>
          </p:sp>
          <p:sp>
            <p:nvSpPr>
              <p:cNvPr id="151" name="Freeform 151"/>
              <p:cNvSpPr/>
              <p:nvPr/>
            </p:nvSpPr>
            <p:spPr>
              <a:xfrm>
                <a:off x="9677400" y="1304925"/>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9050">
                <a:solidFill>
                  <a:srgbClr val="A8351D"/>
                </a:solidFill>
              </a:ln>
            </p:spPr>
          </p:sp>
        </p:grpSp>
        <p:sp>
          <p:nvSpPr>
            <p:cNvPr id="153" name="TextBox 153"/>
            <p:cNvSpPr txBox="1"/>
            <p:nvPr/>
          </p:nvSpPr>
          <p:spPr>
            <a:xfrm>
              <a:off x="9977438" y="1274445"/>
              <a:ext cx="615315"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关系覆盖率</a:t>
              </a:r>
            </a:p>
          </p:txBody>
        </p:sp>
        <p:sp>
          <p:nvSpPr>
            <p:cNvPr id="154" name="Rectangle 154"/>
            <p:cNvSpPr/>
            <p:nvPr/>
          </p:nvSpPr>
          <p:spPr>
            <a:xfrm>
              <a:off x="9639300" y="1619250"/>
              <a:ext cx="2019300" cy="57150"/>
            </a:xfrm>
            <a:prstGeom prst="roundRect">
              <a:avLst>
                <a:gd name="adj" fmla="val 50000"/>
              </a:avLst>
            </a:prstGeom>
            <a:solidFill>
              <a:srgbClr val="E2EAF6"/>
            </a:solidFill>
            <a:ln>
              <a:noFill/>
            </a:ln>
          </p:spPr>
        </p:sp>
        <p:sp>
          <p:nvSpPr>
            <p:cNvPr id="155" name="Rectangle 155"/>
            <p:cNvSpPr/>
            <p:nvPr/>
          </p:nvSpPr>
          <p:spPr>
            <a:xfrm>
              <a:off x="9639300" y="1619250"/>
              <a:ext cx="1571625" cy="57150"/>
            </a:xfrm>
            <a:prstGeom prst="roundRect">
              <a:avLst>
                <a:gd name="adj" fmla="val 50000"/>
              </a:avLst>
            </a:prstGeom>
            <a:solidFill>
              <a:srgbClr val="C9462F"/>
            </a:solidFill>
            <a:ln>
              <a:noFill/>
            </a:ln>
          </p:spPr>
        </p:sp>
        <p:sp>
          <p:nvSpPr>
            <p:cNvPr id="156" name="Rectangle 156"/>
            <p:cNvSpPr/>
            <p:nvPr/>
          </p:nvSpPr>
          <p:spPr>
            <a:xfrm>
              <a:off x="9486900" y="1933575"/>
              <a:ext cx="2324100" cy="800100"/>
            </a:xfrm>
            <a:prstGeom prst="roundRect">
              <a:avLst>
                <a:gd name="adj" fmla="val 9524"/>
              </a:avLst>
            </a:prstGeom>
            <a:solidFill>
              <a:srgbClr val="FFFFFF"/>
            </a:solidFill>
            <a:ln w="9525">
              <a:solidFill>
                <a:srgbClr val="C9D8EF"/>
              </a:solidFill>
            </a:ln>
          </p:spPr>
        </p:sp>
        <p:grpSp>
          <p:nvGrpSpPr>
            <p:cNvPr id="160" name="Group 160"/>
            <p:cNvGrpSpPr/>
            <p:nvPr/>
          </p:nvGrpSpPr>
          <p:grpSpPr>
            <a:xfrm>
              <a:off x="9696450" y="2095500"/>
              <a:ext cx="142875" cy="171450"/>
              <a:chOff x="9696450" y="2095500"/>
              <a:chExt cx="142875" cy="171450"/>
            </a:xfrm>
          </p:grpSpPr>
          <p:sp>
            <p:nvSpPr>
              <p:cNvPr id="157" name="Freeform 157"/>
              <p:cNvSpPr/>
              <p:nvPr/>
            </p:nvSpPr>
            <p:spPr>
              <a:xfrm>
                <a:off x="9715500" y="20955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A8351D"/>
                </a:solidFill>
              </a:ln>
            </p:spPr>
          </p:sp>
          <p:sp>
            <p:nvSpPr>
              <p:cNvPr id="158" name="Freeform 158"/>
              <p:cNvSpPr/>
              <p:nvPr/>
            </p:nvSpPr>
            <p:spPr>
              <a:xfrm>
                <a:off x="9696450" y="2209800"/>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A8351D"/>
                </a:solidFill>
              </a:ln>
            </p:spPr>
          </p:sp>
          <p:sp>
            <p:nvSpPr>
              <p:cNvPr id="159" name="Freeform 159"/>
              <p:cNvSpPr/>
              <p:nvPr/>
            </p:nvSpPr>
            <p:spPr>
              <a:xfrm>
                <a:off x="9782175" y="2228850"/>
                <a:ext cx="57150" cy="38100"/>
              </a:xfrm>
              <a:custGeom>
                <a:avLst/>
                <a:gdLst/>
                <a:ahLst/>
                <a:cxnLst/>
                <a:rect l="l" t="t" r="r" b="b"/>
                <a:pathLst>
                  <a:path w="57150" h="38100">
                    <a:moveTo>
                      <a:pt x="0" y="19050"/>
                    </a:moveTo>
                    <a:lnTo>
                      <a:pt x="19050" y="38100"/>
                    </a:lnTo>
                    <a:lnTo>
                      <a:pt x="57150" y="0"/>
                    </a:lnTo>
                  </a:path>
                </a:pathLst>
              </a:custGeom>
              <a:noFill/>
              <a:ln w="19050">
                <a:solidFill>
                  <a:srgbClr val="A8351D"/>
                </a:solidFill>
              </a:ln>
            </p:spPr>
          </p:sp>
        </p:grpSp>
        <p:sp>
          <p:nvSpPr>
            <p:cNvPr id="161" name="TextBox 161"/>
            <p:cNvSpPr txBox="1"/>
            <p:nvPr/>
          </p:nvSpPr>
          <p:spPr>
            <a:xfrm>
              <a:off x="9977438" y="2141220"/>
              <a:ext cx="736473"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关键人识别率</a:t>
              </a:r>
            </a:p>
          </p:txBody>
        </p:sp>
        <p:sp>
          <p:nvSpPr>
            <p:cNvPr id="162" name="Rectangle 162"/>
            <p:cNvSpPr/>
            <p:nvPr/>
          </p:nvSpPr>
          <p:spPr>
            <a:xfrm>
              <a:off x="9639300" y="2486025"/>
              <a:ext cx="2019300" cy="57150"/>
            </a:xfrm>
            <a:prstGeom prst="roundRect">
              <a:avLst>
                <a:gd name="adj" fmla="val 50000"/>
              </a:avLst>
            </a:prstGeom>
            <a:solidFill>
              <a:srgbClr val="E2EAF6"/>
            </a:solidFill>
            <a:ln>
              <a:noFill/>
            </a:ln>
          </p:spPr>
        </p:sp>
        <p:sp>
          <p:nvSpPr>
            <p:cNvPr id="163" name="Rectangle 163"/>
            <p:cNvSpPr/>
            <p:nvPr/>
          </p:nvSpPr>
          <p:spPr>
            <a:xfrm>
              <a:off x="9639300" y="2486025"/>
              <a:ext cx="1333500" cy="57150"/>
            </a:xfrm>
            <a:prstGeom prst="roundRect">
              <a:avLst>
                <a:gd name="adj" fmla="val 50000"/>
              </a:avLst>
            </a:prstGeom>
            <a:solidFill>
              <a:srgbClr val="C9462F"/>
            </a:solidFill>
            <a:ln>
              <a:noFill/>
            </a:ln>
          </p:spPr>
        </p:sp>
        <p:sp>
          <p:nvSpPr>
            <p:cNvPr id="164" name="Rectangle 164"/>
            <p:cNvSpPr/>
            <p:nvPr/>
          </p:nvSpPr>
          <p:spPr>
            <a:xfrm>
              <a:off x="9486900" y="2800350"/>
              <a:ext cx="2324100" cy="800100"/>
            </a:xfrm>
            <a:prstGeom prst="roundRect">
              <a:avLst>
                <a:gd name="adj" fmla="val 9524"/>
              </a:avLst>
            </a:prstGeom>
            <a:solidFill>
              <a:srgbClr val="FFFFFF"/>
            </a:solidFill>
            <a:ln w="9525">
              <a:solidFill>
                <a:srgbClr val="C9D8EF"/>
              </a:solidFill>
            </a:ln>
          </p:spPr>
        </p:sp>
        <p:grpSp>
          <p:nvGrpSpPr>
            <p:cNvPr id="168" name="Group 168"/>
            <p:cNvGrpSpPr/>
            <p:nvPr/>
          </p:nvGrpSpPr>
          <p:grpSpPr>
            <a:xfrm>
              <a:off x="9705975" y="2981325"/>
              <a:ext cx="95250" cy="133350"/>
              <a:chOff x="9705975" y="2981325"/>
              <a:chExt cx="95250" cy="133350"/>
            </a:xfrm>
          </p:grpSpPr>
          <p:sp>
            <p:nvSpPr>
              <p:cNvPr id="165" name="Freeform 165"/>
              <p:cNvSpPr/>
              <p:nvPr/>
            </p:nvSpPr>
            <p:spPr>
              <a:xfrm>
                <a:off x="9705975" y="2981325"/>
                <a:ext cx="47625" cy="133350"/>
              </a:xfrm>
              <a:custGeom>
                <a:avLst/>
                <a:gdLst/>
                <a:ahLst/>
                <a:cxnLst/>
                <a:rect l="l" t="t" r="r" b="b"/>
                <a:pathLst>
                  <a:path w="47625" h="133350">
                    <a:moveTo>
                      <a:pt x="47625" y="133350"/>
                    </a:moveTo>
                    <a:lnTo>
                      <a:pt x="47625" y="66675"/>
                    </a:lnTo>
                    <a:lnTo>
                      <a:pt x="0" y="0"/>
                    </a:lnTo>
                  </a:path>
                </a:pathLst>
              </a:custGeom>
              <a:noFill/>
              <a:ln w="19050">
                <a:solidFill>
                  <a:srgbClr val="A8351D"/>
                </a:solidFill>
              </a:ln>
            </p:spPr>
          </p:sp>
          <p:sp>
            <p:nvSpPr>
              <p:cNvPr id="166" name="Freeform 166"/>
              <p:cNvSpPr/>
              <p:nvPr/>
            </p:nvSpPr>
            <p:spPr>
              <a:xfrm>
                <a:off x="9753600" y="2981325"/>
                <a:ext cx="47625" cy="66675"/>
              </a:xfrm>
              <a:custGeom>
                <a:avLst/>
                <a:gdLst/>
                <a:ahLst/>
                <a:cxnLst/>
                <a:rect l="l" t="t" r="r" b="b"/>
                <a:pathLst>
                  <a:path w="47625" h="66675">
                    <a:moveTo>
                      <a:pt x="47625" y="0"/>
                    </a:moveTo>
                    <a:lnTo>
                      <a:pt x="0" y="66675"/>
                    </a:lnTo>
                  </a:path>
                </a:pathLst>
              </a:custGeom>
              <a:noFill/>
              <a:ln w="19050">
                <a:solidFill>
                  <a:srgbClr val="A8351D"/>
                </a:solidFill>
              </a:ln>
            </p:spPr>
          </p:sp>
          <p:sp>
            <p:nvSpPr>
              <p:cNvPr id="167" name="Freeform 167"/>
              <p:cNvSpPr/>
              <p:nvPr/>
            </p:nvSpPr>
            <p:spPr>
              <a:xfrm>
                <a:off x="9715500" y="3057525"/>
                <a:ext cx="76200" cy="9525"/>
              </a:xfrm>
              <a:custGeom>
                <a:avLst/>
                <a:gdLst/>
                <a:ahLst/>
                <a:cxnLst/>
                <a:rect l="l" t="t" r="r" b="b"/>
                <a:pathLst>
                  <a:path w="76200" h="9525">
                    <a:moveTo>
                      <a:pt x="0" y="0"/>
                    </a:moveTo>
                    <a:lnTo>
                      <a:pt x="76200" y="0"/>
                    </a:lnTo>
                  </a:path>
                </a:pathLst>
              </a:custGeom>
              <a:noFill/>
              <a:ln w="19050">
                <a:solidFill>
                  <a:srgbClr val="A8351D"/>
                </a:solidFill>
              </a:ln>
            </p:spPr>
          </p:sp>
        </p:grpSp>
        <p:sp>
          <p:nvSpPr>
            <p:cNvPr id="169" name="TextBox 169"/>
            <p:cNvSpPr txBox="1"/>
            <p:nvPr/>
          </p:nvSpPr>
          <p:spPr>
            <a:xfrm>
              <a:off x="9977438" y="3007995"/>
              <a:ext cx="615315"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代发渗透率</a:t>
              </a:r>
            </a:p>
          </p:txBody>
        </p:sp>
        <p:sp>
          <p:nvSpPr>
            <p:cNvPr id="170" name="Rectangle 170"/>
            <p:cNvSpPr/>
            <p:nvPr/>
          </p:nvSpPr>
          <p:spPr>
            <a:xfrm>
              <a:off x="9639300" y="3352800"/>
              <a:ext cx="2019300" cy="57150"/>
            </a:xfrm>
            <a:prstGeom prst="roundRect">
              <a:avLst>
                <a:gd name="adj" fmla="val 50000"/>
              </a:avLst>
            </a:prstGeom>
            <a:solidFill>
              <a:srgbClr val="E2EAF6"/>
            </a:solidFill>
            <a:ln>
              <a:noFill/>
            </a:ln>
          </p:spPr>
        </p:sp>
        <p:sp>
          <p:nvSpPr>
            <p:cNvPr id="171" name="Rectangle 171"/>
            <p:cNvSpPr/>
            <p:nvPr/>
          </p:nvSpPr>
          <p:spPr>
            <a:xfrm>
              <a:off x="9639300" y="3352800"/>
              <a:ext cx="1047750" cy="57150"/>
            </a:xfrm>
            <a:prstGeom prst="roundRect">
              <a:avLst>
                <a:gd name="adj" fmla="val 50000"/>
              </a:avLst>
            </a:prstGeom>
            <a:solidFill>
              <a:srgbClr val="C9462F"/>
            </a:solidFill>
            <a:ln>
              <a:noFill/>
            </a:ln>
          </p:spPr>
        </p:sp>
        <p:sp>
          <p:nvSpPr>
            <p:cNvPr id="172" name="Rectangle 172"/>
            <p:cNvSpPr/>
            <p:nvPr/>
          </p:nvSpPr>
          <p:spPr>
            <a:xfrm>
              <a:off x="9486900" y="3667125"/>
              <a:ext cx="2324100" cy="800100"/>
            </a:xfrm>
            <a:prstGeom prst="roundRect">
              <a:avLst>
                <a:gd name="adj" fmla="val 9524"/>
              </a:avLst>
            </a:prstGeom>
            <a:solidFill>
              <a:srgbClr val="FFFFFF"/>
            </a:solidFill>
            <a:ln w="9525">
              <a:solidFill>
                <a:srgbClr val="C9D8EF"/>
              </a:solidFill>
            </a:ln>
          </p:spPr>
        </p:sp>
        <p:grpSp>
          <p:nvGrpSpPr>
            <p:cNvPr id="179" name="Group 179"/>
            <p:cNvGrpSpPr/>
            <p:nvPr/>
          </p:nvGrpSpPr>
          <p:grpSpPr>
            <a:xfrm>
              <a:off x="9667875" y="3829050"/>
              <a:ext cx="171450" cy="171450"/>
              <a:chOff x="9667875" y="3829050"/>
              <a:chExt cx="171450" cy="171450"/>
            </a:xfrm>
          </p:grpSpPr>
          <p:sp>
            <p:nvSpPr>
              <p:cNvPr id="173" name="Freeform 173"/>
              <p:cNvSpPr/>
              <p:nvPr/>
            </p:nvSpPr>
            <p:spPr>
              <a:xfrm>
                <a:off x="9734550" y="39052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8351D"/>
                </a:solidFill>
              </a:ln>
            </p:spPr>
          </p:sp>
          <p:sp>
            <p:nvSpPr>
              <p:cNvPr id="174" name="Freeform 174"/>
              <p:cNvSpPr/>
              <p:nvPr/>
            </p:nvSpPr>
            <p:spPr>
              <a:xfrm>
                <a:off x="9715500" y="3971925"/>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A8351D"/>
                </a:solidFill>
              </a:ln>
            </p:spPr>
          </p:sp>
          <p:sp>
            <p:nvSpPr>
              <p:cNvPr id="175" name="Freeform 175"/>
              <p:cNvSpPr/>
              <p:nvPr/>
            </p:nvSpPr>
            <p:spPr>
              <a:xfrm>
                <a:off x="9782175" y="38290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8351D"/>
                </a:solidFill>
              </a:ln>
            </p:spPr>
          </p:sp>
          <p:sp>
            <p:nvSpPr>
              <p:cNvPr id="176" name="Freeform 176"/>
              <p:cNvSpPr/>
              <p:nvPr/>
            </p:nvSpPr>
            <p:spPr>
              <a:xfrm>
                <a:off x="9801225" y="3895725"/>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A8351D"/>
                </a:solidFill>
              </a:ln>
            </p:spPr>
          </p:sp>
          <p:sp>
            <p:nvSpPr>
              <p:cNvPr id="177" name="Freeform 177"/>
              <p:cNvSpPr/>
              <p:nvPr/>
            </p:nvSpPr>
            <p:spPr>
              <a:xfrm>
                <a:off x="9686925" y="38290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8351D"/>
                </a:solidFill>
              </a:ln>
            </p:spPr>
          </p:sp>
          <p:sp>
            <p:nvSpPr>
              <p:cNvPr id="178" name="Freeform 178"/>
              <p:cNvSpPr/>
              <p:nvPr/>
            </p:nvSpPr>
            <p:spPr>
              <a:xfrm>
                <a:off x="9667875" y="3895725"/>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A8351D"/>
                </a:solidFill>
              </a:ln>
            </p:spPr>
          </p:sp>
        </p:grpSp>
        <p:sp>
          <p:nvSpPr>
            <p:cNvPr id="180" name="TextBox 180"/>
            <p:cNvSpPr txBox="1"/>
            <p:nvPr/>
          </p:nvSpPr>
          <p:spPr>
            <a:xfrm>
              <a:off x="9977438" y="3874770"/>
              <a:ext cx="615315"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员工有效率</a:t>
              </a:r>
            </a:p>
          </p:txBody>
        </p:sp>
        <p:sp>
          <p:nvSpPr>
            <p:cNvPr id="181" name="Rectangle 181"/>
            <p:cNvSpPr/>
            <p:nvPr/>
          </p:nvSpPr>
          <p:spPr>
            <a:xfrm>
              <a:off x="9639300" y="4219575"/>
              <a:ext cx="2019300" cy="57150"/>
            </a:xfrm>
            <a:prstGeom prst="roundRect">
              <a:avLst>
                <a:gd name="adj" fmla="val 50000"/>
              </a:avLst>
            </a:prstGeom>
            <a:solidFill>
              <a:srgbClr val="E2EAF6"/>
            </a:solidFill>
            <a:ln>
              <a:noFill/>
            </a:ln>
          </p:spPr>
        </p:sp>
        <p:sp>
          <p:nvSpPr>
            <p:cNvPr id="182" name="Rectangle 182"/>
            <p:cNvSpPr/>
            <p:nvPr/>
          </p:nvSpPr>
          <p:spPr>
            <a:xfrm>
              <a:off x="9639300" y="4219575"/>
              <a:ext cx="1409700" cy="57150"/>
            </a:xfrm>
            <a:prstGeom prst="roundRect">
              <a:avLst>
                <a:gd name="adj" fmla="val 50000"/>
              </a:avLst>
            </a:prstGeom>
            <a:solidFill>
              <a:srgbClr val="C9462F"/>
            </a:solidFill>
            <a:ln>
              <a:noFill/>
            </a:ln>
          </p:spPr>
        </p:sp>
      </p:grpSp>
      <p:grpSp>
        <p:nvGrpSpPr>
          <p:cNvPr id="221" name="def-cards"/>
          <p:cNvGrpSpPr/>
          <p:nvPr/>
        </p:nvGrpSpPr>
        <p:grpSpPr>
          <a:xfrm>
            <a:off x="381000" y="4724400"/>
            <a:ext cx="11430000" cy="990600"/>
            <a:chOff x="381000" y="4724400"/>
            <a:chExt cx="11430000" cy="990600"/>
          </a:xfrm>
        </p:grpSpPr>
        <p:sp>
          <p:nvSpPr>
            <p:cNvPr id="184" name="Rectangle 184"/>
            <p:cNvSpPr/>
            <p:nvPr/>
          </p:nvSpPr>
          <p:spPr>
            <a:xfrm>
              <a:off x="381000" y="4724400"/>
              <a:ext cx="2762250" cy="990600"/>
            </a:xfrm>
            <a:prstGeom prst="roundRect">
              <a:avLst>
                <a:gd name="adj" fmla="val 7692"/>
              </a:avLst>
            </a:prstGeom>
            <a:solidFill>
              <a:srgbClr val="FFFFFF"/>
            </a:solidFill>
            <a:ln w="9525">
              <a:solidFill>
                <a:srgbClr val="C9D8EF"/>
              </a:solidFill>
            </a:ln>
          </p:spPr>
        </p:sp>
        <p:grpSp>
          <p:nvGrpSpPr>
            <p:cNvPr id="193" name="Group 193"/>
            <p:cNvGrpSpPr/>
            <p:nvPr/>
          </p:nvGrpSpPr>
          <p:grpSpPr>
            <a:xfrm>
              <a:off x="583406" y="4926806"/>
              <a:ext cx="185737" cy="195262"/>
              <a:chOff x="583406" y="4926806"/>
              <a:chExt cx="185737" cy="195262"/>
            </a:xfrm>
          </p:grpSpPr>
          <p:sp>
            <p:nvSpPr>
              <p:cNvPr id="185" name="Freeform 185"/>
              <p:cNvSpPr/>
              <p:nvPr/>
            </p:nvSpPr>
            <p:spPr>
              <a:xfrm>
                <a:off x="583406" y="5112543"/>
                <a:ext cx="185737" cy="9525"/>
              </a:xfrm>
              <a:custGeom>
                <a:avLst/>
                <a:gdLst/>
                <a:ahLst/>
                <a:cxnLst/>
                <a:rect l="l" t="t" r="r" b="b"/>
                <a:pathLst>
                  <a:path w="185737" h="9525">
                    <a:moveTo>
                      <a:pt x="0" y="0"/>
                    </a:moveTo>
                    <a:lnTo>
                      <a:pt x="185737" y="0"/>
                    </a:lnTo>
                  </a:path>
                </a:pathLst>
              </a:custGeom>
              <a:noFill/>
              <a:ln w="20637">
                <a:solidFill>
                  <a:srgbClr val="A8351D"/>
                </a:solidFill>
              </a:ln>
            </p:spPr>
          </p:sp>
          <p:sp>
            <p:nvSpPr>
              <p:cNvPr id="186" name="Freeform 186"/>
              <p:cNvSpPr/>
              <p:nvPr/>
            </p:nvSpPr>
            <p:spPr>
              <a:xfrm>
                <a:off x="645318" y="4978400"/>
                <a:ext cx="10319" cy="9525"/>
              </a:xfrm>
              <a:custGeom>
                <a:avLst/>
                <a:gdLst/>
                <a:ahLst/>
                <a:cxnLst/>
                <a:rect l="l" t="t" r="r" b="b"/>
                <a:pathLst>
                  <a:path w="10319" h="9525">
                    <a:moveTo>
                      <a:pt x="0" y="0"/>
                    </a:moveTo>
                    <a:lnTo>
                      <a:pt x="10319" y="0"/>
                    </a:lnTo>
                  </a:path>
                </a:pathLst>
              </a:custGeom>
              <a:noFill/>
              <a:ln w="20637">
                <a:solidFill>
                  <a:srgbClr val="A8351D"/>
                </a:solidFill>
              </a:ln>
            </p:spPr>
          </p:sp>
          <p:sp>
            <p:nvSpPr>
              <p:cNvPr id="187" name="Freeform 187"/>
              <p:cNvSpPr/>
              <p:nvPr/>
            </p:nvSpPr>
            <p:spPr>
              <a:xfrm>
                <a:off x="645318" y="5019675"/>
                <a:ext cx="10319" cy="9525"/>
              </a:xfrm>
              <a:custGeom>
                <a:avLst/>
                <a:gdLst/>
                <a:ahLst/>
                <a:cxnLst/>
                <a:rect l="l" t="t" r="r" b="b"/>
                <a:pathLst>
                  <a:path w="10319" h="9525">
                    <a:moveTo>
                      <a:pt x="0" y="0"/>
                    </a:moveTo>
                    <a:lnTo>
                      <a:pt x="10319" y="0"/>
                    </a:lnTo>
                  </a:path>
                </a:pathLst>
              </a:custGeom>
              <a:noFill/>
              <a:ln w="20637">
                <a:solidFill>
                  <a:srgbClr val="A8351D"/>
                </a:solidFill>
              </a:ln>
            </p:spPr>
          </p:sp>
          <p:sp>
            <p:nvSpPr>
              <p:cNvPr id="188" name="Freeform 188"/>
              <p:cNvSpPr/>
              <p:nvPr/>
            </p:nvSpPr>
            <p:spPr>
              <a:xfrm>
                <a:off x="645318" y="5060949"/>
                <a:ext cx="10319" cy="9525"/>
              </a:xfrm>
              <a:custGeom>
                <a:avLst/>
                <a:gdLst/>
                <a:ahLst/>
                <a:cxnLst/>
                <a:rect l="l" t="t" r="r" b="b"/>
                <a:pathLst>
                  <a:path w="10319" h="9525">
                    <a:moveTo>
                      <a:pt x="0" y="0"/>
                    </a:moveTo>
                    <a:lnTo>
                      <a:pt x="10319" y="0"/>
                    </a:lnTo>
                  </a:path>
                </a:pathLst>
              </a:custGeom>
              <a:noFill/>
              <a:ln w="20637">
                <a:solidFill>
                  <a:srgbClr val="A8351D"/>
                </a:solidFill>
              </a:ln>
            </p:spPr>
          </p:sp>
          <p:sp>
            <p:nvSpPr>
              <p:cNvPr id="189" name="Freeform 189"/>
              <p:cNvSpPr/>
              <p:nvPr/>
            </p:nvSpPr>
            <p:spPr>
              <a:xfrm>
                <a:off x="696912" y="4978400"/>
                <a:ext cx="10319" cy="9525"/>
              </a:xfrm>
              <a:custGeom>
                <a:avLst/>
                <a:gdLst/>
                <a:ahLst/>
                <a:cxnLst/>
                <a:rect l="l" t="t" r="r" b="b"/>
                <a:pathLst>
                  <a:path w="10319" h="9525">
                    <a:moveTo>
                      <a:pt x="0" y="0"/>
                    </a:moveTo>
                    <a:lnTo>
                      <a:pt x="10319" y="0"/>
                    </a:lnTo>
                  </a:path>
                </a:pathLst>
              </a:custGeom>
              <a:noFill/>
              <a:ln w="20637">
                <a:solidFill>
                  <a:srgbClr val="A8351D"/>
                </a:solidFill>
              </a:ln>
            </p:spPr>
          </p:sp>
          <p:sp>
            <p:nvSpPr>
              <p:cNvPr id="190" name="Freeform 190"/>
              <p:cNvSpPr/>
              <p:nvPr/>
            </p:nvSpPr>
            <p:spPr>
              <a:xfrm>
                <a:off x="696912" y="5019675"/>
                <a:ext cx="10319" cy="9525"/>
              </a:xfrm>
              <a:custGeom>
                <a:avLst/>
                <a:gdLst/>
                <a:ahLst/>
                <a:cxnLst/>
                <a:rect l="l" t="t" r="r" b="b"/>
                <a:pathLst>
                  <a:path w="10319" h="9525">
                    <a:moveTo>
                      <a:pt x="0" y="0"/>
                    </a:moveTo>
                    <a:lnTo>
                      <a:pt x="10319" y="0"/>
                    </a:lnTo>
                  </a:path>
                </a:pathLst>
              </a:custGeom>
              <a:noFill/>
              <a:ln w="20637">
                <a:solidFill>
                  <a:srgbClr val="A8351D"/>
                </a:solidFill>
              </a:ln>
            </p:spPr>
          </p:sp>
          <p:sp>
            <p:nvSpPr>
              <p:cNvPr id="191" name="Freeform 191"/>
              <p:cNvSpPr/>
              <p:nvPr/>
            </p:nvSpPr>
            <p:spPr>
              <a:xfrm>
                <a:off x="696912" y="5060949"/>
                <a:ext cx="10319" cy="9525"/>
              </a:xfrm>
              <a:custGeom>
                <a:avLst/>
                <a:gdLst/>
                <a:ahLst/>
                <a:cxnLst/>
                <a:rect l="l" t="t" r="r" b="b"/>
                <a:pathLst>
                  <a:path w="10319" h="9525">
                    <a:moveTo>
                      <a:pt x="0" y="0"/>
                    </a:moveTo>
                    <a:lnTo>
                      <a:pt x="10319" y="0"/>
                    </a:lnTo>
                  </a:path>
                </a:pathLst>
              </a:custGeom>
              <a:noFill/>
              <a:ln w="20637">
                <a:solidFill>
                  <a:srgbClr val="A8351D"/>
                </a:solidFill>
              </a:ln>
            </p:spPr>
          </p:sp>
          <p:sp>
            <p:nvSpPr>
              <p:cNvPr id="192" name="Freeform 192"/>
              <p:cNvSpPr/>
              <p:nvPr/>
            </p:nvSpPr>
            <p:spPr>
              <a:xfrm>
                <a:off x="604044" y="4926806"/>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path>
                </a:pathLst>
              </a:custGeom>
              <a:noFill/>
              <a:ln w="20637">
                <a:solidFill>
                  <a:srgbClr val="A8351D"/>
                </a:solidFill>
              </a:ln>
            </p:spPr>
          </p:sp>
        </p:grpSp>
        <p:sp>
          <p:nvSpPr>
            <p:cNvPr id="194" name="TextBox 194"/>
            <p:cNvSpPr txBox="1"/>
            <p:nvPr/>
          </p:nvSpPr>
          <p:spPr>
            <a:xfrm>
              <a:off x="909638" y="4966097"/>
              <a:ext cx="515696" cy="183356"/>
            </a:xfrm>
            <a:prstGeom prst="rect">
              <a:avLst/>
            </a:prstGeom>
            <a:noFill/>
            <a:ln>
              <a:noFill/>
            </a:ln>
          </p:spPr>
          <p:txBody>
            <a:bodyPr wrap="none" lIns="0" tIns="0" rIns="0" bIns="0" anchor="t" anchorCtr="0">
              <a:spAutoFit/>
            </a:bodyPr>
            <a:lstStyle/>
            <a:p>
              <a:pPr algn="l"/>
              <a:r>
                <a:rPr lang="zh-CN" sz="940" b="1" dirty="0">
                  <a:solidFill>
                    <a:srgbClr val="A8351D"/>
                  </a:solidFill>
                  <a:latin typeface="+mn-lt"/>
                  <a:ea typeface="+mn-ea"/>
                  <a:cs typeface="+mn-cs"/>
                </a:rPr>
                <a:t>企业主体</a:t>
              </a:r>
            </a:p>
          </p:txBody>
        </p:sp>
        <p:sp>
          <p:nvSpPr>
            <p:cNvPr id="195" name="TextBox 195"/>
            <p:cNvSpPr txBox="1"/>
            <p:nvPr/>
          </p:nvSpPr>
          <p:spPr>
            <a:xfrm>
              <a:off x="547688" y="5325189"/>
              <a:ext cx="91249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5A443F"/>
                  </a:solidFill>
                  <a:latin typeface="+mn-lt"/>
                  <a:ea typeface="+mn-ea"/>
                  <a:cs typeface="+mn-cs"/>
                </a:rPr>
                <a:t>工商、股权、账户、</a:t>
              </a:r>
              <a:br/>
              <a:r>
                <a:rPr lang="zh-CN" sz="790" dirty="0">
                  <a:solidFill>
                    <a:srgbClr val="5A443F"/>
                  </a:solidFill>
                  <a:latin typeface="+mn-lt"/>
                  <a:ea typeface="+mn-ea"/>
                  <a:cs typeface="+mn-cs"/>
                </a:rPr>
                <a:t>授信、结算</a:t>
              </a:r>
            </a:p>
          </p:txBody>
        </p:sp>
        <p:sp>
          <p:nvSpPr>
            <p:cNvPr id="196" name="Rectangle 196"/>
            <p:cNvSpPr/>
            <p:nvPr/>
          </p:nvSpPr>
          <p:spPr>
            <a:xfrm>
              <a:off x="3269932" y="4724400"/>
              <a:ext cx="2762250" cy="990600"/>
            </a:xfrm>
            <a:prstGeom prst="roundRect">
              <a:avLst>
                <a:gd name="adj" fmla="val 7692"/>
              </a:avLst>
            </a:prstGeom>
            <a:solidFill>
              <a:srgbClr val="FFFFFF"/>
            </a:solidFill>
            <a:ln w="9525">
              <a:solidFill>
                <a:srgbClr val="C9D8EF"/>
              </a:solidFill>
            </a:ln>
          </p:spPr>
        </p:sp>
        <p:grpSp>
          <p:nvGrpSpPr>
            <p:cNvPr id="200" name="Group 200"/>
            <p:cNvGrpSpPr/>
            <p:nvPr/>
          </p:nvGrpSpPr>
          <p:grpSpPr>
            <a:xfrm>
              <a:off x="3503295" y="4926806"/>
              <a:ext cx="154780" cy="185737"/>
              <a:chOff x="3503295" y="4926806"/>
              <a:chExt cx="154780" cy="185737"/>
            </a:xfrm>
          </p:grpSpPr>
          <p:sp>
            <p:nvSpPr>
              <p:cNvPr id="197" name="Freeform 197"/>
              <p:cNvSpPr/>
              <p:nvPr/>
            </p:nvSpPr>
            <p:spPr>
              <a:xfrm>
                <a:off x="3523932" y="49268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A8351D"/>
                </a:solidFill>
              </a:ln>
            </p:spPr>
          </p:sp>
          <p:sp>
            <p:nvSpPr>
              <p:cNvPr id="198" name="Freeform 198"/>
              <p:cNvSpPr/>
              <p:nvPr/>
            </p:nvSpPr>
            <p:spPr>
              <a:xfrm>
                <a:off x="3503295" y="5050631"/>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A8351D"/>
                </a:solidFill>
              </a:ln>
            </p:spPr>
          </p:sp>
          <p:sp>
            <p:nvSpPr>
              <p:cNvPr id="199" name="Freeform 199"/>
              <p:cNvSpPr/>
              <p:nvPr/>
            </p:nvSpPr>
            <p:spPr>
              <a:xfrm>
                <a:off x="3596163" y="5071268"/>
                <a:ext cx="61912" cy="41275"/>
              </a:xfrm>
              <a:custGeom>
                <a:avLst/>
                <a:gdLst/>
                <a:ahLst/>
                <a:cxnLst/>
                <a:rect l="l" t="t" r="r" b="b"/>
                <a:pathLst>
                  <a:path w="61912" h="41275">
                    <a:moveTo>
                      <a:pt x="0" y="20637"/>
                    </a:moveTo>
                    <a:lnTo>
                      <a:pt x="20637" y="41275"/>
                    </a:lnTo>
                    <a:lnTo>
                      <a:pt x="61912" y="0"/>
                    </a:lnTo>
                  </a:path>
                </a:pathLst>
              </a:custGeom>
              <a:noFill/>
              <a:ln w="20637">
                <a:solidFill>
                  <a:srgbClr val="A8351D"/>
                </a:solidFill>
              </a:ln>
            </p:spPr>
          </p:sp>
        </p:grpSp>
        <p:sp>
          <p:nvSpPr>
            <p:cNvPr id="201" name="TextBox 201"/>
            <p:cNvSpPr txBox="1"/>
            <p:nvPr/>
          </p:nvSpPr>
          <p:spPr>
            <a:xfrm>
              <a:off x="3798570" y="4966097"/>
              <a:ext cx="389153" cy="183356"/>
            </a:xfrm>
            <a:prstGeom prst="rect">
              <a:avLst/>
            </a:prstGeom>
            <a:noFill/>
            <a:ln>
              <a:noFill/>
            </a:ln>
          </p:spPr>
          <p:txBody>
            <a:bodyPr wrap="none" lIns="0" tIns="0" rIns="0" bIns="0" anchor="t" anchorCtr="0">
              <a:spAutoFit/>
            </a:bodyPr>
            <a:lstStyle/>
            <a:p>
              <a:pPr algn="l"/>
              <a:r>
                <a:rPr lang="zh-CN" sz="940" b="1" dirty="0">
                  <a:solidFill>
                    <a:srgbClr val="A8351D"/>
                  </a:solidFill>
                  <a:latin typeface="+mn-lt"/>
                  <a:ea typeface="+mn-ea"/>
                  <a:cs typeface="+mn-cs"/>
                </a:rPr>
                <a:t>关键人</a:t>
              </a:r>
            </a:p>
          </p:txBody>
        </p:sp>
        <p:sp>
          <p:nvSpPr>
            <p:cNvPr id="202" name="TextBox 202"/>
            <p:cNvSpPr txBox="1"/>
            <p:nvPr/>
          </p:nvSpPr>
          <p:spPr>
            <a:xfrm>
              <a:off x="3436620" y="5325189"/>
              <a:ext cx="131381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5A443F"/>
                  </a:solidFill>
                  <a:latin typeface="+mn-lt"/>
                  <a:ea typeface="+mn-ea"/>
                  <a:cs typeface="+mn-cs"/>
                </a:rPr>
                <a:t>企业主、高管、财务负责人、</a:t>
              </a:r>
              <a:br/>
              <a:r>
                <a:rPr lang="zh-CN" sz="790" dirty="0">
                  <a:solidFill>
                    <a:srgbClr val="5A443F"/>
                  </a:solidFill>
                  <a:latin typeface="+mn-lt"/>
                  <a:ea typeface="+mn-ea"/>
                  <a:cs typeface="+mn-cs"/>
                </a:rPr>
                <a:t>技术骨干</a:t>
              </a:r>
            </a:p>
          </p:txBody>
        </p:sp>
        <p:sp>
          <p:nvSpPr>
            <p:cNvPr id="203" name="Rectangle 203"/>
            <p:cNvSpPr/>
            <p:nvPr/>
          </p:nvSpPr>
          <p:spPr>
            <a:xfrm>
              <a:off x="6159818" y="4724400"/>
              <a:ext cx="2762250" cy="990600"/>
            </a:xfrm>
            <a:prstGeom prst="roundRect">
              <a:avLst>
                <a:gd name="adj" fmla="val 7692"/>
              </a:avLst>
            </a:prstGeom>
            <a:solidFill>
              <a:srgbClr val="FFFFFF"/>
            </a:solidFill>
            <a:ln w="9525">
              <a:solidFill>
                <a:srgbClr val="C9D8EF"/>
              </a:solidFill>
            </a:ln>
          </p:spPr>
        </p:sp>
        <p:grpSp>
          <p:nvGrpSpPr>
            <p:cNvPr id="210" name="Group 210"/>
            <p:cNvGrpSpPr/>
            <p:nvPr/>
          </p:nvGrpSpPr>
          <p:grpSpPr>
            <a:xfrm>
              <a:off x="6362224" y="4926806"/>
              <a:ext cx="185737" cy="185737"/>
              <a:chOff x="6362224" y="4926806"/>
              <a:chExt cx="185737" cy="185737"/>
            </a:xfrm>
          </p:grpSpPr>
          <p:sp>
            <p:nvSpPr>
              <p:cNvPr id="204" name="Freeform 204"/>
              <p:cNvSpPr/>
              <p:nvPr/>
            </p:nvSpPr>
            <p:spPr>
              <a:xfrm>
                <a:off x="6434455" y="50093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A5280F"/>
                </a:solidFill>
              </a:ln>
            </p:spPr>
          </p:sp>
          <p:sp>
            <p:nvSpPr>
              <p:cNvPr id="205" name="Freeform 205"/>
              <p:cNvSpPr/>
              <p:nvPr/>
            </p:nvSpPr>
            <p:spPr>
              <a:xfrm>
                <a:off x="6413817" y="508158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A5280F"/>
                </a:solidFill>
              </a:ln>
            </p:spPr>
          </p:sp>
          <p:sp>
            <p:nvSpPr>
              <p:cNvPr id="206" name="Freeform 206"/>
              <p:cNvSpPr/>
              <p:nvPr/>
            </p:nvSpPr>
            <p:spPr>
              <a:xfrm>
                <a:off x="6486048" y="49268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A5280F"/>
                </a:solidFill>
              </a:ln>
            </p:spPr>
          </p:sp>
          <p:sp>
            <p:nvSpPr>
              <p:cNvPr id="207" name="Freeform 207"/>
              <p:cNvSpPr/>
              <p:nvPr/>
            </p:nvSpPr>
            <p:spPr>
              <a:xfrm>
                <a:off x="6506686" y="499903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A5280F"/>
                </a:solidFill>
              </a:ln>
            </p:spPr>
          </p:sp>
          <p:sp>
            <p:nvSpPr>
              <p:cNvPr id="208" name="Freeform 208"/>
              <p:cNvSpPr/>
              <p:nvPr/>
            </p:nvSpPr>
            <p:spPr>
              <a:xfrm>
                <a:off x="6382861" y="49268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A5280F"/>
                </a:solidFill>
              </a:ln>
            </p:spPr>
          </p:sp>
          <p:sp>
            <p:nvSpPr>
              <p:cNvPr id="209" name="Freeform 209"/>
              <p:cNvSpPr/>
              <p:nvPr/>
            </p:nvSpPr>
            <p:spPr>
              <a:xfrm>
                <a:off x="6362224" y="499903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A5280F"/>
                </a:solidFill>
              </a:ln>
            </p:spPr>
          </p:sp>
        </p:grpSp>
        <p:sp>
          <p:nvSpPr>
            <p:cNvPr id="211" name="TextBox 211"/>
            <p:cNvSpPr txBox="1"/>
            <p:nvPr/>
          </p:nvSpPr>
          <p:spPr>
            <a:xfrm>
              <a:off x="6688455" y="4966097"/>
              <a:ext cx="642239" cy="183356"/>
            </a:xfrm>
            <a:prstGeom prst="rect">
              <a:avLst/>
            </a:prstGeom>
            <a:noFill/>
            <a:ln>
              <a:noFill/>
            </a:ln>
          </p:spPr>
          <p:txBody>
            <a:bodyPr wrap="none" lIns="0" tIns="0" rIns="0" bIns="0" anchor="t" anchorCtr="0">
              <a:spAutoFit/>
            </a:bodyPr>
            <a:lstStyle/>
            <a:p>
              <a:pPr algn="l"/>
              <a:r>
                <a:rPr lang="zh-CN" sz="940" b="1" dirty="0">
                  <a:solidFill>
                    <a:srgbClr val="92210B"/>
                  </a:solidFill>
                  <a:latin typeface="+mn-lt"/>
                  <a:ea typeface="+mn-ea"/>
                  <a:cs typeface="+mn-cs"/>
                </a:rPr>
                <a:t>员工与家庭</a:t>
              </a:r>
            </a:p>
          </p:txBody>
        </p:sp>
        <p:sp>
          <p:nvSpPr>
            <p:cNvPr id="212" name="TextBox 212"/>
            <p:cNvSpPr txBox="1"/>
            <p:nvPr/>
          </p:nvSpPr>
          <p:spPr>
            <a:xfrm>
              <a:off x="6326505" y="5325189"/>
              <a:ext cx="91249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5A443F"/>
                  </a:solidFill>
                  <a:latin typeface="+mn-lt"/>
                  <a:ea typeface="+mn-ea"/>
                  <a:cs typeface="+mn-cs"/>
                </a:rPr>
                <a:t>代发、支付、财富、</a:t>
              </a:r>
              <a:br/>
              <a:r>
                <a:rPr lang="zh-CN" sz="790" dirty="0">
                  <a:solidFill>
                    <a:srgbClr val="5A443F"/>
                  </a:solidFill>
                  <a:latin typeface="+mn-lt"/>
                  <a:ea typeface="+mn-ea"/>
                  <a:cs typeface="+mn-cs"/>
                </a:rPr>
                <a:t>养老、保障</a:t>
              </a:r>
            </a:p>
          </p:txBody>
        </p:sp>
        <p:sp>
          <p:nvSpPr>
            <p:cNvPr id="213" name="Rectangle 213"/>
            <p:cNvSpPr/>
            <p:nvPr/>
          </p:nvSpPr>
          <p:spPr>
            <a:xfrm>
              <a:off x="9048750" y="4724400"/>
              <a:ext cx="2762250" cy="990600"/>
            </a:xfrm>
            <a:prstGeom prst="roundRect">
              <a:avLst>
                <a:gd name="adj" fmla="val 7692"/>
              </a:avLst>
            </a:prstGeom>
            <a:solidFill>
              <a:srgbClr val="FFFFFF"/>
            </a:solidFill>
            <a:ln w="9525">
              <a:solidFill>
                <a:srgbClr val="C9D8EF"/>
              </a:solidFill>
            </a:ln>
          </p:spPr>
        </p:sp>
        <p:grpSp>
          <p:nvGrpSpPr>
            <p:cNvPr id="218" name="Group 218"/>
            <p:cNvGrpSpPr/>
            <p:nvPr/>
          </p:nvGrpSpPr>
          <p:grpSpPr>
            <a:xfrm>
              <a:off x="9247583" y="4934478"/>
              <a:ext cx="192696" cy="167747"/>
              <a:chOff x="9247583" y="4934478"/>
              <a:chExt cx="192696" cy="167747"/>
            </a:xfrm>
          </p:grpSpPr>
          <p:sp>
            <p:nvSpPr>
              <p:cNvPr id="214" name="Freeform 214"/>
              <p:cNvSpPr/>
              <p:nvPr/>
            </p:nvSpPr>
            <p:spPr>
              <a:xfrm>
                <a:off x="9247583" y="4934478"/>
                <a:ext cx="192696" cy="167747"/>
              </a:xfrm>
              <a:custGeom>
                <a:avLst/>
                <a:gdLst/>
                <a:ahLst/>
                <a:cxnLst/>
                <a:rect l="l" t="t" r="r" b="b"/>
                <a:pathLst>
                  <a:path w="192696" h="167747">
                    <a:moveTo>
                      <a:pt x="173832" y="91099"/>
                    </a:moveTo>
                    <a:lnTo>
                      <a:pt x="96442" y="167747"/>
                    </a:lnTo>
                    <a:lnTo>
                      <a:pt x="19051" y="91099"/>
                    </a:lnTo>
                    <a:cubicBezTo>
                      <a:pt x="5134" y="77557"/>
                      <a:pt x="0" y="57347"/>
                      <a:pt x="5766" y="38804"/>
                    </a:cubicBezTo>
                    <a:cubicBezTo>
                      <a:pt x="11531" y="20262"/>
                      <a:pt x="27220" y="6526"/>
                      <a:pt x="46362" y="3263"/>
                    </a:cubicBezTo>
                    <a:cubicBezTo>
                      <a:pt x="65505" y="0"/>
                      <a:pt x="84858" y="7761"/>
                      <a:pt x="96442" y="23347"/>
                    </a:cubicBezTo>
                    <a:cubicBezTo>
                      <a:pt x="108074" y="7877"/>
                      <a:pt x="127386" y="218"/>
                      <a:pt x="146458" y="3512"/>
                    </a:cubicBezTo>
                    <a:cubicBezTo>
                      <a:pt x="165531" y="6806"/>
                      <a:pt x="181156" y="20498"/>
                      <a:pt x="186926" y="38973"/>
                    </a:cubicBezTo>
                    <a:cubicBezTo>
                      <a:pt x="192696" y="57448"/>
                      <a:pt x="187640" y="77598"/>
                      <a:pt x="173832" y="91161"/>
                    </a:cubicBezTo>
                  </a:path>
                </a:pathLst>
              </a:custGeom>
              <a:noFill/>
              <a:ln w="20637">
                <a:solidFill>
                  <a:srgbClr val="A5280F"/>
                </a:solidFill>
              </a:ln>
            </p:spPr>
          </p:sp>
          <p:sp>
            <p:nvSpPr>
              <p:cNvPr id="215" name="Freeform 215"/>
              <p:cNvSpPr/>
              <p:nvPr/>
            </p:nvSpPr>
            <p:spPr>
              <a:xfrm>
                <a:off x="9306017" y="4957762"/>
                <a:ext cx="115398" cy="67072"/>
              </a:xfrm>
              <a:custGeom>
                <a:avLst/>
                <a:gdLst/>
                <a:ahLst/>
                <a:cxnLst/>
                <a:rect l="l" t="t" r="r" b="b"/>
                <a:pathLst>
                  <a:path w="115398" h="67072">
                    <a:moveTo>
                      <a:pt x="38008" y="0"/>
                    </a:moveTo>
                    <a:lnTo>
                      <a:pt x="4028" y="33980"/>
                    </a:lnTo>
                    <a:cubicBezTo>
                      <a:pt x="0" y="38009"/>
                      <a:pt x="0" y="44541"/>
                      <a:pt x="4028" y="48570"/>
                    </a:cubicBezTo>
                    <a:lnTo>
                      <a:pt x="9631" y="54173"/>
                    </a:lnTo>
                    <a:cubicBezTo>
                      <a:pt x="16751" y="61293"/>
                      <a:pt x="28308" y="61293"/>
                      <a:pt x="35428" y="54173"/>
                    </a:cubicBezTo>
                    <a:lnTo>
                      <a:pt x="45747" y="43855"/>
                    </a:lnTo>
                    <a:cubicBezTo>
                      <a:pt x="58569" y="31032"/>
                      <a:pt x="79359" y="31032"/>
                      <a:pt x="92181" y="43855"/>
                    </a:cubicBezTo>
                    <a:lnTo>
                      <a:pt x="115398" y="67072"/>
                    </a:lnTo>
                  </a:path>
                </a:pathLst>
              </a:custGeom>
              <a:noFill/>
              <a:ln w="20637">
                <a:solidFill>
                  <a:srgbClr val="A5280F"/>
                </a:solidFill>
              </a:ln>
            </p:spPr>
          </p:sp>
          <p:sp>
            <p:nvSpPr>
              <p:cNvPr id="216" name="Freeform 216"/>
              <p:cNvSpPr/>
              <p:nvPr/>
            </p:nvSpPr>
            <p:spPr>
              <a:xfrm>
                <a:off x="9349184" y="5055790"/>
                <a:ext cx="20637" cy="20637"/>
              </a:xfrm>
              <a:custGeom>
                <a:avLst/>
                <a:gdLst/>
                <a:ahLst/>
                <a:cxnLst/>
                <a:rect l="l" t="t" r="r" b="b"/>
                <a:pathLst>
                  <a:path w="20637" h="20637">
                    <a:moveTo>
                      <a:pt x="0" y="0"/>
                    </a:moveTo>
                    <a:lnTo>
                      <a:pt x="20637" y="20637"/>
                    </a:lnTo>
                  </a:path>
                </a:pathLst>
              </a:custGeom>
              <a:noFill/>
              <a:ln w="20637">
                <a:solidFill>
                  <a:srgbClr val="A5280F"/>
                </a:solidFill>
              </a:ln>
            </p:spPr>
          </p:sp>
          <p:sp>
            <p:nvSpPr>
              <p:cNvPr id="217" name="Freeform 217"/>
              <p:cNvSpPr/>
              <p:nvPr/>
            </p:nvSpPr>
            <p:spPr>
              <a:xfrm>
                <a:off x="9374981" y="5029993"/>
                <a:ext cx="20637" cy="20637"/>
              </a:xfrm>
              <a:custGeom>
                <a:avLst/>
                <a:gdLst/>
                <a:ahLst/>
                <a:cxnLst/>
                <a:rect l="l" t="t" r="r" b="b"/>
                <a:pathLst>
                  <a:path w="20637" h="20637">
                    <a:moveTo>
                      <a:pt x="0" y="0"/>
                    </a:moveTo>
                    <a:lnTo>
                      <a:pt x="20637" y="20637"/>
                    </a:lnTo>
                  </a:path>
                </a:pathLst>
              </a:custGeom>
              <a:noFill/>
              <a:ln w="20637">
                <a:solidFill>
                  <a:srgbClr val="A5280F"/>
                </a:solidFill>
              </a:ln>
            </p:spPr>
          </p:sp>
        </p:grpSp>
        <p:sp>
          <p:nvSpPr>
            <p:cNvPr id="219" name="TextBox 219"/>
            <p:cNvSpPr txBox="1"/>
            <p:nvPr/>
          </p:nvSpPr>
          <p:spPr>
            <a:xfrm>
              <a:off x="9577388" y="4966097"/>
              <a:ext cx="515696" cy="183356"/>
            </a:xfrm>
            <a:prstGeom prst="rect">
              <a:avLst/>
            </a:prstGeom>
            <a:noFill/>
            <a:ln>
              <a:noFill/>
            </a:ln>
          </p:spPr>
          <p:txBody>
            <a:bodyPr wrap="none" lIns="0" tIns="0" rIns="0" bIns="0" anchor="t" anchorCtr="0">
              <a:spAutoFit/>
            </a:bodyPr>
            <a:lstStyle/>
            <a:p>
              <a:pPr algn="l"/>
              <a:r>
                <a:rPr lang="zh-CN" sz="940" b="1" dirty="0">
                  <a:solidFill>
                    <a:srgbClr val="92210B"/>
                  </a:solidFill>
                  <a:latin typeface="+mn-lt"/>
                  <a:ea typeface="+mn-ea"/>
                  <a:cs typeface="+mn-cs"/>
                </a:rPr>
                <a:t>生态伙伴</a:t>
              </a:r>
            </a:p>
          </p:txBody>
        </p:sp>
        <p:sp>
          <p:nvSpPr>
            <p:cNvPr id="220" name="TextBox 220"/>
            <p:cNvSpPr txBox="1"/>
            <p:nvPr/>
          </p:nvSpPr>
          <p:spPr>
            <a:xfrm>
              <a:off x="9215438" y="5325189"/>
              <a:ext cx="81216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5A443F"/>
                  </a:solidFill>
                  <a:latin typeface="+mn-lt"/>
                  <a:ea typeface="+mn-ea"/>
                  <a:cs typeface="+mn-cs"/>
                </a:rPr>
                <a:t>供应商、经销商、</a:t>
              </a:r>
              <a:br/>
              <a:r>
                <a:rPr lang="zh-CN" sz="790" dirty="0">
                  <a:solidFill>
                    <a:srgbClr val="5A443F"/>
                  </a:solidFill>
                  <a:latin typeface="+mn-lt"/>
                  <a:ea typeface="+mn-ea"/>
                  <a:cs typeface="+mn-cs"/>
                </a:rPr>
                <a:t>物流商、服务商</a:t>
              </a:r>
            </a:p>
          </p:txBody>
        </p:sp>
      </p:grpSp>
      <p:grpSp>
        <p:nvGrpSpPr>
          <p:cNvPr id="227" name="strip-authorization"/>
          <p:cNvGrpSpPr/>
          <p:nvPr/>
        </p:nvGrpSpPr>
        <p:grpSpPr>
          <a:xfrm>
            <a:off x="381000" y="5905500"/>
            <a:ext cx="11430000" cy="723900"/>
            <a:chOff x="381000" y="5905500"/>
            <a:chExt cx="11430000" cy="723900"/>
          </a:xfrm>
        </p:grpSpPr>
        <p:sp>
          <p:nvSpPr>
            <p:cNvPr id="222" name="Rectangle 222"/>
            <p:cNvSpPr/>
            <p:nvPr/>
          </p:nvSpPr>
          <p:spPr>
            <a:xfrm>
              <a:off x="381000" y="5905500"/>
              <a:ext cx="11430000" cy="723900"/>
            </a:xfrm>
            <a:prstGeom prst="roundRect">
              <a:avLst>
                <a:gd name="adj" fmla="val 10526"/>
              </a:avLst>
            </a:prstGeom>
            <a:solidFill>
              <a:srgbClr val="EFF5FC"/>
            </a:solidFill>
            <a:ln w="9525">
              <a:solidFill>
                <a:srgbClr val="C9D8EF"/>
              </a:solidFill>
            </a:ln>
          </p:spPr>
        </p:sp>
        <p:grpSp>
          <p:nvGrpSpPr>
            <p:cNvPr id="225" name="Group 225"/>
            <p:cNvGrpSpPr/>
            <p:nvPr/>
          </p:nvGrpSpPr>
          <p:grpSpPr>
            <a:xfrm>
              <a:off x="3160281" y="6184106"/>
              <a:ext cx="201506" cy="185737"/>
              <a:chOff x="3160281" y="6184106"/>
              <a:chExt cx="201506" cy="185737"/>
            </a:xfrm>
          </p:grpSpPr>
          <p:sp>
            <p:nvSpPr>
              <p:cNvPr id="223" name="Freeform 223"/>
              <p:cNvSpPr/>
              <p:nvPr/>
            </p:nvSpPr>
            <p:spPr>
              <a:xfrm>
                <a:off x="3160281" y="618410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A8351D"/>
                </a:solidFill>
              </a:ln>
            </p:spPr>
          </p:sp>
          <p:sp>
            <p:nvSpPr>
              <p:cNvPr id="224" name="Freeform 224"/>
              <p:cNvSpPr/>
              <p:nvPr/>
            </p:nvSpPr>
            <p:spPr>
              <a:xfrm>
                <a:off x="3298031" y="6328568"/>
                <a:ext cx="61912" cy="41275"/>
              </a:xfrm>
              <a:custGeom>
                <a:avLst/>
                <a:gdLst/>
                <a:ahLst/>
                <a:cxnLst/>
                <a:rect l="l" t="t" r="r" b="b"/>
                <a:pathLst>
                  <a:path w="61912" h="41275">
                    <a:moveTo>
                      <a:pt x="0" y="20637"/>
                    </a:moveTo>
                    <a:lnTo>
                      <a:pt x="20637" y="41275"/>
                    </a:lnTo>
                    <a:lnTo>
                      <a:pt x="61912" y="0"/>
                    </a:lnTo>
                  </a:path>
                </a:pathLst>
              </a:custGeom>
              <a:noFill/>
              <a:ln w="20637">
                <a:solidFill>
                  <a:srgbClr val="A8351D"/>
                </a:solidFill>
              </a:ln>
            </p:spPr>
          </p:sp>
        </p:grpSp>
        <p:sp>
          <p:nvSpPr>
            <p:cNvPr id="226" name="TextBox 226"/>
            <p:cNvSpPr txBox="1"/>
            <p:nvPr/>
          </p:nvSpPr>
          <p:spPr>
            <a:xfrm>
              <a:off x="3537966" y="6220778"/>
              <a:ext cx="5344195" cy="205359"/>
            </a:xfrm>
            <a:prstGeom prst="rect">
              <a:avLst/>
            </a:prstGeom>
            <a:noFill/>
            <a:ln>
              <a:noFill/>
            </a:ln>
          </p:spPr>
          <p:txBody>
            <a:bodyPr wrap="none" lIns="0" tIns="0" rIns="0" bIns="0" anchor="t" anchorCtr="0">
              <a:spAutoFit/>
            </a:bodyPr>
            <a:lstStyle/>
            <a:p>
              <a:pPr algn="l"/>
              <a:r>
                <a:rPr lang="zh-CN" sz="1050" b="1" dirty="0">
                  <a:solidFill>
                    <a:srgbClr val="67281B"/>
                  </a:solidFill>
                  <a:latin typeface="+mn-lt"/>
                  <a:ea typeface="+mn-ea"/>
                  <a:cs typeface="+mn-cs"/>
                </a:rPr>
                <a:t>在合法授权、最小必要和分级分类前提下，形成企业—个人—家庭—生态的统一客户视图</a:t>
              </a:r>
            </a:p>
          </p:txBody>
        </p:sp>
      </p:gr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06</a:t>
              </a:r>
            </a:p>
          </p:txBody>
        </p:sp>
        <p:sp>
          <p:nvSpPr>
            <p:cNvPr id="4" name="TextBox 4"/>
            <p:cNvSpPr txBox="1"/>
            <p:nvPr/>
          </p:nvSpPr>
          <p:spPr>
            <a:xfrm>
              <a:off x="904494" y="170498"/>
              <a:ext cx="5844540"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机会识别｜从企业经营事件中发现个人金融需求</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65" name="event-radar"/>
          <p:cNvGrpSpPr/>
          <p:nvPr/>
        </p:nvGrpSpPr>
        <p:grpSpPr>
          <a:xfrm>
            <a:off x="381000" y="704850"/>
            <a:ext cx="3855403" cy="3079670"/>
            <a:chOff x="381000" y="704850"/>
            <a:chExt cx="3855403" cy="3079670"/>
          </a:xfrm>
        </p:grpSpPr>
        <p:sp>
          <p:nvSpPr>
            <p:cNvPr id="7" name="Rectangle 7"/>
            <p:cNvSpPr/>
            <p:nvPr/>
          </p:nvSpPr>
          <p:spPr>
            <a:xfrm>
              <a:off x="381000" y="704850"/>
              <a:ext cx="1905000" cy="285750"/>
            </a:xfrm>
            <a:prstGeom prst="roundRect">
              <a:avLst>
                <a:gd name="adj" fmla="val 13333"/>
              </a:avLst>
            </a:prstGeom>
            <a:gradFill>
              <a:gsLst>
                <a:gs pos="0">
                  <a:srgbClr val="AD3921"/>
                </a:gs>
                <a:gs pos="100000">
                  <a:srgbClr val="962C16"/>
                </a:gs>
              </a:gsLst>
              <a:lin ang="5400000" scaled="1"/>
            </a:gradFill>
            <a:ln>
              <a:noFill/>
            </a:ln>
          </p:spPr>
        </p:sp>
        <p:sp>
          <p:nvSpPr>
            <p:cNvPr id="8" name="TextBox 8"/>
            <p:cNvSpPr txBox="1"/>
            <p:nvPr/>
          </p:nvSpPr>
          <p:spPr>
            <a:xfrm>
              <a:off x="762762" y="791528"/>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六类经营事件雷达</a:t>
              </a:r>
            </a:p>
          </p:txBody>
        </p:sp>
        <p:sp>
          <p:nvSpPr>
            <p:cNvPr id="9" name="Polygon 9"/>
            <p:cNvSpPr/>
            <p:nvPr/>
          </p:nvSpPr>
          <p:spPr>
            <a:xfrm>
              <a:off x="1597342" y="1428750"/>
              <a:ext cx="1567815" cy="1809750"/>
            </a:xfrm>
            <a:custGeom>
              <a:avLst/>
              <a:gdLst/>
              <a:ahLst/>
              <a:cxnLst/>
              <a:rect l="l" t="t" r="r" b="b"/>
              <a:pathLst>
                <a:path w="1567815" h="1809750">
                  <a:moveTo>
                    <a:pt x="783908" y="0"/>
                  </a:moveTo>
                  <a:lnTo>
                    <a:pt x="1567815" y="452438"/>
                  </a:lnTo>
                  <a:lnTo>
                    <a:pt x="1567815" y="1357312"/>
                  </a:lnTo>
                  <a:lnTo>
                    <a:pt x="783908" y="1809750"/>
                  </a:lnTo>
                  <a:lnTo>
                    <a:pt x="0" y="1357312"/>
                  </a:lnTo>
                  <a:lnTo>
                    <a:pt x="0" y="452438"/>
                  </a:lnTo>
                  <a:close/>
                </a:path>
              </a:pathLst>
            </a:custGeom>
            <a:noFill/>
            <a:ln w="14288">
              <a:solidFill>
                <a:srgbClr val="E5907F"/>
              </a:solidFill>
              <a:custDash>
                <a:ds d="333333" sp="266667"/>
              </a:custDash>
            </a:ln>
          </p:spPr>
        </p:sp>
        <p:sp>
          <p:nvSpPr>
            <p:cNvPr id="10" name="Line 10"/>
            <p:cNvSpPr/>
            <p:nvPr/>
          </p:nvSpPr>
          <p:spPr>
            <a:xfrm>
              <a:off x="2381250" y="1428750"/>
              <a:ext cx="9525" cy="904875"/>
            </a:xfrm>
            <a:custGeom>
              <a:avLst/>
              <a:gdLst/>
              <a:ahLst/>
              <a:cxnLst/>
              <a:rect l="l" t="t" r="r" b="b"/>
              <a:pathLst>
                <a:path w="9525" h="904875">
                  <a:moveTo>
                    <a:pt x="0" y="904875"/>
                  </a:moveTo>
                  <a:lnTo>
                    <a:pt x="0" y="0"/>
                  </a:lnTo>
                </a:path>
              </a:pathLst>
            </a:custGeom>
            <a:noFill/>
            <a:ln w="9525">
              <a:solidFill>
                <a:srgbClr val="D9E4F2"/>
              </a:solidFill>
            </a:ln>
          </p:spPr>
        </p:sp>
        <p:sp>
          <p:nvSpPr>
            <p:cNvPr id="11" name="Line 11"/>
            <p:cNvSpPr/>
            <p:nvPr/>
          </p:nvSpPr>
          <p:spPr>
            <a:xfrm>
              <a:off x="2381250" y="1881188"/>
              <a:ext cx="783908" cy="452438"/>
            </a:xfrm>
            <a:custGeom>
              <a:avLst/>
              <a:gdLst/>
              <a:ahLst/>
              <a:cxnLst/>
              <a:rect l="l" t="t" r="r" b="b"/>
              <a:pathLst>
                <a:path w="783908" h="452438">
                  <a:moveTo>
                    <a:pt x="0" y="452438"/>
                  </a:moveTo>
                  <a:lnTo>
                    <a:pt x="783908" y="0"/>
                  </a:lnTo>
                </a:path>
              </a:pathLst>
            </a:custGeom>
            <a:noFill/>
            <a:ln w="9525">
              <a:solidFill>
                <a:srgbClr val="D9E4F2"/>
              </a:solidFill>
            </a:ln>
          </p:spPr>
        </p:sp>
        <p:sp>
          <p:nvSpPr>
            <p:cNvPr id="12" name="Line 12"/>
            <p:cNvSpPr/>
            <p:nvPr/>
          </p:nvSpPr>
          <p:spPr>
            <a:xfrm>
              <a:off x="2381250" y="2333625"/>
              <a:ext cx="783908" cy="452438"/>
            </a:xfrm>
            <a:custGeom>
              <a:avLst/>
              <a:gdLst/>
              <a:ahLst/>
              <a:cxnLst/>
              <a:rect l="l" t="t" r="r" b="b"/>
              <a:pathLst>
                <a:path w="783908" h="452438">
                  <a:moveTo>
                    <a:pt x="0" y="0"/>
                  </a:moveTo>
                  <a:lnTo>
                    <a:pt x="783908" y="452438"/>
                  </a:lnTo>
                </a:path>
              </a:pathLst>
            </a:custGeom>
            <a:noFill/>
            <a:ln w="9525">
              <a:solidFill>
                <a:srgbClr val="D9E4F2"/>
              </a:solidFill>
            </a:ln>
          </p:spPr>
        </p:sp>
        <p:sp>
          <p:nvSpPr>
            <p:cNvPr id="13" name="Line 13"/>
            <p:cNvSpPr/>
            <p:nvPr/>
          </p:nvSpPr>
          <p:spPr>
            <a:xfrm>
              <a:off x="2381250" y="2333625"/>
              <a:ext cx="9525" cy="904875"/>
            </a:xfrm>
            <a:custGeom>
              <a:avLst/>
              <a:gdLst/>
              <a:ahLst/>
              <a:cxnLst/>
              <a:rect l="l" t="t" r="r" b="b"/>
              <a:pathLst>
                <a:path w="9525" h="904875">
                  <a:moveTo>
                    <a:pt x="0" y="0"/>
                  </a:moveTo>
                  <a:lnTo>
                    <a:pt x="0" y="904875"/>
                  </a:lnTo>
                </a:path>
              </a:pathLst>
            </a:custGeom>
            <a:noFill/>
            <a:ln w="9525">
              <a:solidFill>
                <a:srgbClr val="D9E4F2"/>
              </a:solidFill>
            </a:ln>
          </p:spPr>
        </p:sp>
        <p:sp>
          <p:nvSpPr>
            <p:cNvPr id="14" name="Line 14"/>
            <p:cNvSpPr/>
            <p:nvPr/>
          </p:nvSpPr>
          <p:spPr>
            <a:xfrm>
              <a:off x="1597342" y="2333625"/>
              <a:ext cx="783908" cy="452438"/>
            </a:xfrm>
            <a:custGeom>
              <a:avLst/>
              <a:gdLst/>
              <a:ahLst/>
              <a:cxnLst/>
              <a:rect l="l" t="t" r="r" b="b"/>
              <a:pathLst>
                <a:path w="783908" h="452438">
                  <a:moveTo>
                    <a:pt x="783908" y="0"/>
                  </a:moveTo>
                  <a:lnTo>
                    <a:pt x="0" y="452438"/>
                  </a:lnTo>
                </a:path>
              </a:pathLst>
            </a:custGeom>
            <a:noFill/>
            <a:ln w="9525">
              <a:solidFill>
                <a:srgbClr val="D9E4F2"/>
              </a:solidFill>
            </a:ln>
          </p:spPr>
        </p:sp>
        <p:sp>
          <p:nvSpPr>
            <p:cNvPr id="15" name="Line 15"/>
            <p:cNvSpPr/>
            <p:nvPr/>
          </p:nvSpPr>
          <p:spPr>
            <a:xfrm>
              <a:off x="1597342" y="1881188"/>
              <a:ext cx="783908" cy="452438"/>
            </a:xfrm>
            <a:custGeom>
              <a:avLst/>
              <a:gdLst/>
              <a:ahLst/>
              <a:cxnLst/>
              <a:rect l="l" t="t" r="r" b="b"/>
              <a:pathLst>
                <a:path w="783908" h="452438">
                  <a:moveTo>
                    <a:pt x="783908" y="452438"/>
                  </a:moveTo>
                  <a:lnTo>
                    <a:pt x="0" y="0"/>
                  </a:lnTo>
                </a:path>
              </a:pathLst>
            </a:custGeom>
            <a:noFill/>
            <a:ln w="9525">
              <a:solidFill>
                <a:srgbClr val="D9E4F2"/>
              </a:solidFill>
            </a:ln>
          </p:spPr>
        </p:sp>
        <p:sp>
          <p:nvSpPr>
            <p:cNvPr id="16" name="Ellipse 16"/>
            <p:cNvSpPr/>
            <p:nvPr/>
          </p:nvSpPr>
          <p:spPr>
            <a:xfrm>
              <a:off x="1885950" y="1838325"/>
              <a:ext cx="990600" cy="990600"/>
            </a:xfrm>
            <a:prstGeom prst="ellipse">
              <a:avLst/>
            </a:prstGeom>
            <a:noFill/>
            <a:ln w="9525">
              <a:solidFill>
                <a:srgbClr val="E5907F"/>
              </a:solidFill>
              <a:custDash>
                <a:ds d="300000" sp="300000"/>
              </a:custDash>
            </a:ln>
          </p:spPr>
        </p:sp>
        <p:sp>
          <p:nvSpPr>
            <p:cNvPr id="17" name="Ellipse 17"/>
            <p:cNvSpPr/>
            <p:nvPr/>
          </p:nvSpPr>
          <p:spPr>
            <a:xfrm>
              <a:off x="1962150" y="1914525"/>
              <a:ext cx="838200" cy="838200"/>
            </a:xfrm>
            <a:prstGeom prst="ellipse">
              <a:avLst/>
            </a:prstGeom>
            <a:gradFill>
              <a:gsLst>
                <a:gs pos="0">
                  <a:srgbClr val="A8351D"/>
                </a:gs>
                <a:gs pos="100000">
                  <a:srgbClr val="67281B"/>
                </a:gs>
              </a:gsLst>
              <a:lin ang="5400000" scaled="1"/>
            </a:gradFill>
            <a:ln>
              <a:noFill/>
            </a:ln>
          </p:spPr>
        </p:sp>
        <p:sp>
          <p:nvSpPr>
            <p:cNvPr id="18" name="TextBox 18"/>
            <p:cNvSpPr txBox="1"/>
            <p:nvPr/>
          </p:nvSpPr>
          <p:spPr>
            <a:xfrm>
              <a:off x="2112442" y="21997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事件驱动</a:t>
              </a:r>
            </a:p>
          </p:txBody>
        </p:sp>
        <p:sp>
          <p:nvSpPr>
            <p:cNvPr id="19" name="TextBox 19"/>
            <p:cNvSpPr txBox="1"/>
            <p:nvPr/>
          </p:nvSpPr>
          <p:spPr>
            <a:xfrm>
              <a:off x="2244369" y="23712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商机</a:t>
              </a:r>
            </a:p>
          </p:txBody>
        </p:sp>
        <p:sp>
          <p:nvSpPr>
            <p:cNvPr id="20" name="Ellipse 20"/>
            <p:cNvSpPr/>
            <p:nvPr/>
          </p:nvSpPr>
          <p:spPr>
            <a:xfrm>
              <a:off x="2190750" y="1238250"/>
              <a:ext cx="381000" cy="381000"/>
            </a:xfrm>
            <a:prstGeom prst="ellipse">
              <a:avLst/>
            </a:prstGeom>
            <a:solidFill>
              <a:srgbClr val="FFFFFF"/>
            </a:solidFill>
            <a:ln w="19050">
              <a:solidFill>
                <a:srgbClr val="A8351D"/>
              </a:solidFill>
            </a:ln>
          </p:spPr>
        </p:sp>
        <p:grpSp>
          <p:nvGrpSpPr>
            <p:cNvPr id="29" name="Group 29"/>
            <p:cNvGrpSpPr/>
            <p:nvPr/>
          </p:nvGrpSpPr>
          <p:grpSpPr>
            <a:xfrm>
              <a:off x="2316956" y="1364456"/>
              <a:ext cx="130969" cy="138113"/>
              <a:chOff x="2316956" y="1364456"/>
              <a:chExt cx="130969" cy="138113"/>
            </a:xfrm>
          </p:grpSpPr>
          <p:sp>
            <p:nvSpPr>
              <p:cNvPr id="21" name="Freeform 21"/>
              <p:cNvSpPr/>
              <p:nvPr/>
            </p:nvSpPr>
            <p:spPr>
              <a:xfrm>
                <a:off x="2316956" y="1493044"/>
                <a:ext cx="128588" cy="9525"/>
              </a:xfrm>
              <a:custGeom>
                <a:avLst/>
                <a:gdLst/>
                <a:ahLst/>
                <a:cxnLst/>
                <a:rect l="l" t="t" r="r" b="b"/>
                <a:pathLst>
                  <a:path w="128588" h="9525">
                    <a:moveTo>
                      <a:pt x="0" y="0"/>
                    </a:moveTo>
                    <a:lnTo>
                      <a:pt x="128588" y="0"/>
                    </a:lnTo>
                  </a:path>
                </a:pathLst>
              </a:custGeom>
              <a:noFill/>
              <a:ln w="14288">
                <a:solidFill>
                  <a:srgbClr val="A8351D"/>
                </a:solidFill>
              </a:ln>
            </p:spPr>
          </p:sp>
          <p:sp>
            <p:nvSpPr>
              <p:cNvPr id="22" name="Freeform 22"/>
              <p:cNvSpPr/>
              <p:nvPr/>
            </p:nvSpPr>
            <p:spPr>
              <a:xfrm>
                <a:off x="2316956" y="1414462"/>
                <a:ext cx="128588" cy="9525"/>
              </a:xfrm>
              <a:custGeom>
                <a:avLst/>
                <a:gdLst/>
                <a:ahLst/>
                <a:cxnLst/>
                <a:rect l="l" t="t" r="r" b="b"/>
                <a:pathLst>
                  <a:path w="128588" h="9525">
                    <a:moveTo>
                      <a:pt x="0" y="0"/>
                    </a:moveTo>
                    <a:lnTo>
                      <a:pt x="128588" y="0"/>
                    </a:lnTo>
                  </a:path>
                </a:pathLst>
              </a:custGeom>
              <a:noFill/>
              <a:ln w="14288">
                <a:solidFill>
                  <a:srgbClr val="A8351D"/>
                </a:solidFill>
              </a:ln>
            </p:spPr>
          </p:sp>
          <p:sp>
            <p:nvSpPr>
              <p:cNvPr id="23" name="Freeform 23"/>
              <p:cNvSpPr/>
              <p:nvPr/>
            </p:nvSpPr>
            <p:spPr>
              <a:xfrm>
                <a:off x="2331244" y="1364456"/>
                <a:ext cx="100012" cy="21431"/>
              </a:xfrm>
              <a:custGeom>
                <a:avLst/>
                <a:gdLst/>
                <a:ahLst/>
                <a:cxnLst/>
                <a:rect l="l" t="t" r="r" b="b"/>
                <a:pathLst>
                  <a:path w="100012" h="21431">
                    <a:moveTo>
                      <a:pt x="0" y="21431"/>
                    </a:moveTo>
                    <a:lnTo>
                      <a:pt x="50006" y="0"/>
                    </a:lnTo>
                    <a:lnTo>
                      <a:pt x="100012" y="21431"/>
                    </a:lnTo>
                  </a:path>
                </a:pathLst>
              </a:custGeom>
              <a:noFill/>
              <a:ln w="14288">
                <a:solidFill>
                  <a:srgbClr val="A8351D"/>
                </a:solidFill>
              </a:ln>
            </p:spPr>
          </p:sp>
          <p:sp>
            <p:nvSpPr>
              <p:cNvPr id="24" name="Freeform 24"/>
              <p:cNvSpPr/>
              <p:nvPr/>
            </p:nvSpPr>
            <p:spPr>
              <a:xfrm>
                <a:off x="2324100" y="1414462"/>
                <a:ext cx="9525" cy="78581"/>
              </a:xfrm>
              <a:custGeom>
                <a:avLst/>
                <a:gdLst/>
                <a:ahLst/>
                <a:cxnLst/>
                <a:rect l="l" t="t" r="r" b="b"/>
                <a:pathLst>
                  <a:path w="9525" h="78581">
                    <a:moveTo>
                      <a:pt x="0" y="0"/>
                    </a:moveTo>
                    <a:lnTo>
                      <a:pt x="0" y="78581"/>
                    </a:lnTo>
                  </a:path>
                </a:pathLst>
              </a:custGeom>
              <a:noFill/>
              <a:ln w="14288">
                <a:solidFill>
                  <a:srgbClr val="A8351D"/>
                </a:solidFill>
              </a:ln>
            </p:spPr>
          </p:sp>
          <p:sp>
            <p:nvSpPr>
              <p:cNvPr id="25" name="Freeform 25"/>
              <p:cNvSpPr/>
              <p:nvPr/>
            </p:nvSpPr>
            <p:spPr>
              <a:xfrm>
                <a:off x="2438400" y="1414462"/>
                <a:ext cx="9525" cy="78581"/>
              </a:xfrm>
              <a:custGeom>
                <a:avLst/>
                <a:gdLst/>
                <a:ahLst/>
                <a:cxnLst/>
                <a:rect l="l" t="t" r="r" b="b"/>
                <a:pathLst>
                  <a:path w="9525" h="78581">
                    <a:moveTo>
                      <a:pt x="0" y="0"/>
                    </a:moveTo>
                    <a:lnTo>
                      <a:pt x="0" y="78581"/>
                    </a:lnTo>
                  </a:path>
                </a:pathLst>
              </a:custGeom>
              <a:noFill/>
              <a:ln w="14288">
                <a:solidFill>
                  <a:srgbClr val="A8351D"/>
                </a:solidFill>
              </a:ln>
            </p:spPr>
          </p:sp>
          <p:sp>
            <p:nvSpPr>
              <p:cNvPr id="26" name="Freeform 26"/>
              <p:cNvSpPr/>
              <p:nvPr/>
            </p:nvSpPr>
            <p:spPr>
              <a:xfrm>
                <a:off x="2352675" y="1443038"/>
                <a:ext cx="9525" cy="21431"/>
              </a:xfrm>
              <a:custGeom>
                <a:avLst/>
                <a:gdLst/>
                <a:ahLst/>
                <a:cxnLst/>
                <a:rect l="l" t="t" r="r" b="b"/>
                <a:pathLst>
                  <a:path w="9525" h="21431">
                    <a:moveTo>
                      <a:pt x="0" y="0"/>
                    </a:moveTo>
                    <a:lnTo>
                      <a:pt x="0" y="21431"/>
                    </a:lnTo>
                  </a:path>
                </a:pathLst>
              </a:custGeom>
              <a:noFill/>
              <a:ln w="14288">
                <a:solidFill>
                  <a:srgbClr val="A8351D"/>
                </a:solidFill>
              </a:ln>
            </p:spPr>
          </p:sp>
          <p:sp>
            <p:nvSpPr>
              <p:cNvPr id="27" name="Freeform 27"/>
              <p:cNvSpPr/>
              <p:nvPr/>
            </p:nvSpPr>
            <p:spPr>
              <a:xfrm>
                <a:off x="2381250" y="1443038"/>
                <a:ext cx="9525" cy="21431"/>
              </a:xfrm>
              <a:custGeom>
                <a:avLst/>
                <a:gdLst/>
                <a:ahLst/>
                <a:cxnLst/>
                <a:rect l="l" t="t" r="r" b="b"/>
                <a:pathLst>
                  <a:path w="9525" h="21431">
                    <a:moveTo>
                      <a:pt x="0" y="0"/>
                    </a:moveTo>
                    <a:lnTo>
                      <a:pt x="0" y="21431"/>
                    </a:lnTo>
                  </a:path>
                </a:pathLst>
              </a:custGeom>
              <a:noFill/>
              <a:ln w="14288">
                <a:solidFill>
                  <a:srgbClr val="A8351D"/>
                </a:solidFill>
              </a:ln>
            </p:spPr>
          </p:sp>
          <p:sp>
            <p:nvSpPr>
              <p:cNvPr id="28" name="Freeform 28"/>
              <p:cNvSpPr/>
              <p:nvPr/>
            </p:nvSpPr>
            <p:spPr>
              <a:xfrm>
                <a:off x="2409825" y="1443038"/>
                <a:ext cx="9525" cy="21431"/>
              </a:xfrm>
              <a:custGeom>
                <a:avLst/>
                <a:gdLst/>
                <a:ahLst/>
                <a:cxnLst/>
                <a:rect l="l" t="t" r="r" b="b"/>
                <a:pathLst>
                  <a:path w="9525" h="21431">
                    <a:moveTo>
                      <a:pt x="0" y="0"/>
                    </a:moveTo>
                    <a:lnTo>
                      <a:pt x="0" y="21431"/>
                    </a:lnTo>
                  </a:path>
                </a:pathLst>
              </a:custGeom>
              <a:noFill/>
              <a:ln w="14288">
                <a:solidFill>
                  <a:srgbClr val="A8351D"/>
                </a:solidFill>
              </a:ln>
            </p:spPr>
          </p:sp>
        </p:grpSp>
        <p:sp>
          <p:nvSpPr>
            <p:cNvPr id="30" name="TextBox 30"/>
            <p:cNvSpPr txBox="1"/>
            <p:nvPr/>
          </p:nvSpPr>
          <p:spPr>
            <a:xfrm>
              <a:off x="2643188" y="1305639"/>
              <a:ext cx="711835" cy="288131"/>
            </a:xfrm>
            <a:prstGeom prst="rect">
              <a:avLst/>
            </a:prstGeom>
            <a:noFill/>
            <a:ln>
              <a:noFill/>
            </a:ln>
          </p:spPr>
          <p:txBody>
            <a:bodyPr wrap="none" lIns="0" tIns="0" rIns="0" bIns="0" anchor="t" anchorCtr="0">
              <a:spAutoFit/>
            </a:bodyPr>
            <a:lstStyle/>
            <a:p>
              <a:pPr algn="l">
                <a:lnSpc>
                  <a:spcPts val="1050"/>
                </a:lnSpc>
              </a:pPr>
              <a:r>
                <a:rPr lang="zh-CN" sz="790" b="1" dirty="0">
                  <a:solidFill>
                    <a:srgbClr val="67281B"/>
                  </a:solidFill>
                  <a:latin typeface="+mn-lt"/>
                  <a:ea typeface="+mn-ea"/>
                  <a:cs typeface="+mn-cs"/>
                </a:rPr>
                <a:t>企业开户→</a:t>
              </a:r>
              <a:br/>
              <a:r>
                <a:rPr lang="zh-CN" sz="790" b="1" dirty="0">
                  <a:solidFill>
                    <a:srgbClr val="67281B"/>
                  </a:solidFill>
                  <a:latin typeface="+mn-lt"/>
                  <a:ea typeface="+mn-ea"/>
                  <a:cs typeface="+mn-cs"/>
                </a:rPr>
                <a:t>代发与员工开卡</a:t>
              </a:r>
            </a:p>
          </p:txBody>
        </p:sp>
        <p:sp>
          <p:nvSpPr>
            <p:cNvPr id="31" name="Ellipse 31"/>
            <p:cNvSpPr/>
            <p:nvPr/>
          </p:nvSpPr>
          <p:spPr>
            <a:xfrm>
              <a:off x="2974658" y="1690688"/>
              <a:ext cx="381000" cy="381000"/>
            </a:xfrm>
            <a:prstGeom prst="ellipse">
              <a:avLst/>
            </a:prstGeom>
            <a:solidFill>
              <a:srgbClr val="FFFFFF"/>
            </a:solidFill>
            <a:ln w="19050">
              <a:solidFill>
                <a:srgbClr val="A8351D"/>
              </a:solidFill>
            </a:ln>
          </p:spPr>
        </p:sp>
        <p:grpSp>
          <p:nvGrpSpPr>
            <p:cNvPr id="37" name="Group 37"/>
            <p:cNvGrpSpPr/>
            <p:nvPr/>
          </p:nvGrpSpPr>
          <p:grpSpPr>
            <a:xfrm>
              <a:off x="3100864" y="1815936"/>
              <a:ext cx="128587" cy="129545"/>
              <a:chOff x="3100864" y="1815936"/>
              <a:chExt cx="128587" cy="129545"/>
            </a:xfrm>
          </p:grpSpPr>
          <p:sp>
            <p:nvSpPr>
              <p:cNvPr id="32" name="Freeform 32"/>
              <p:cNvSpPr/>
              <p:nvPr/>
            </p:nvSpPr>
            <p:spPr>
              <a:xfrm>
                <a:off x="3143726" y="1874044"/>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A8351D"/>
                </a:solidFill>
              </a:ln>
            </p:spPr>
          </p:sp>
          <p:sp>
            <p:nvSpPr>
              <p:cNvPr id="33" name="Freeform 33"/>
              <p:cNvSpPr/>
              <p:nvPr/>
            </p:nvSpPr>
            <p:spPr>
              <a:xfrm>
                <a:off x="3143726" y="1895475"/>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A8351D"/>
                </a:solidFill>
              </a:ln>
            </p:spPr>
          </p:sp>
          <p:sp>
            <p:nvSpPr>
              <p:cNvPr id="34" name="Freeform 34"/>
              <p:cNvSpPr/>
              <p:nvPr/>
            </p:nvSpPr>
            <p:spPr>
              <a:xfrm>
                <a:off x="3100864" y="1815936"/>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A8351D"/>
                </a:solidFill>
              </a:ln>
            </p:spPr>
          </p:sp>
          <p:sp>
            <p:nvSpPr>
              <p:cNvPr id="35" name="Freeform 35"/>
              <p:cNvSpPr/>
              <p:nvPr/>
            </p:nvSpPr>
            <p:spPr>
              <a:xfrm>
                <a:off x="3100864" y="1838325"/>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A8351D"/>
                </a:solidFill>
              </a:ln>
            </p:spPr>
          </p:sp>
          <p:sp>
            <p:nvSpPr>
              <p:cNvPr id="36" name="Freeform 36"/>
              <p:cNvSpPr/>
              <p:nvPr/>
            </p:nvSpPr>
            <p:spPr>
              <a:xfrm>
                <a:off x="3100864" y="1874044"/>
                <a:ext cx="14288" cy="14288"/>
              </a:xfrm>
              <a:custGeom>
                <a:avLst/>
                <a:gdLst/>
                <a:ahLst/>
                <a:cxnLst/>
                <a:rect l="l" t="t" r="r" b="b"/>
                <a:pathLst>
                  <a:path w="14288" h="14288">
                    <a:moveTo>
                      <a:pt x="0" y="0"/>
                    </a:moveTo>
                    <a:cubicBezTo>
                      <a:pt x="0" y="6344"/>
                      <a:pt x="5515" y="10358"/>
                      <a:pt x="14288" y="14288"/>
                    </a:cubicBezTo>
                  </a:path>
                </a:pathLst>
              </a:custGeom>
              <a:noFill/>
              <a:ln w="14288">
                <a:solidFill>
                  <a:srgbClr val="A8351D"/>
                </a:solidFill>
              </a:ln>
            </p:spPr>
          </p:sp>
        </p:grpSp>
        <p:sp>
          <p:nvSpPr>
            <p:cNvPr id="38" name="TextBox 38"/>
            <p:cNvSpPr txBox="1"/>
            <p:nvPr/>
          </p:nvSpPr>
          <p:spPr>
            <a:xfrm>
              <a:off x="3424238" y="1753314"/>
              <a:ext cx="812165" cy="288131"/>
            </a:xfrm>
            <a:prstGeom prst="rect">
              <a:avLst/>
            </a:prstGeom>
            <a:noFill/>
            <a:ln>
              <a:noFill/>
            </a:ln>
          </p:spPr>
          <p:txBody>
            <a:bodyPr wrap="none" lIns="0" tIns="0" rIns="0" bIns="0" anchor="t" anchorCtr="0">
              <a:spAutoFit/>
            </a:bodyPr>
            <a:lstStyle/>
            <a:p>
              <a:pPr algn="l">
                <a:lnSpc>
                  <a:spcPts val="1050"/>
                </a:lnSpc>
              </a:pPr>
              <a:r>
                <a:rPr lang="zh-CN" sz="790" b="1" dirty="0">
                  <a:solidFill>
                    <a:srgbClr val="67281B"/>
                  </a:solidFill>
                  <a:latin typeface="+mn-lt"/>
                  <a:ea typeface="+mn-ea"/>
                  <a:cs typeface="+mn-cs"/>
                </a:rPr>
                <a:t>授信投放→</a:t>
              </a:r>
              <a:br/>
              <a:r>
                <a:rPr lang="zh-CN" sz="790" b="1" dirty="0">
                  <a:solidFill>
                    <a:srgbClr val="67281B"/>
                  </a:solidFill>
                  <a:latin typeface="+mn-lt"/>
                  <a:ea typeface="+mn-ea"/>
                  <a:cs typeface="+mn-cs"/>
                </a:rPr>
                <a:t>企业主财富与保障</a:t>
              </a:r>
            </a:p>
          </p:txBody>
        </p:sp>
        <p:sp>
          <p:nvSpPr>
            <p:cNvPr id="39" name="Ellipse 39"/>
            <p:cNvSpPr/>
            <p:nvPr/>
          </p:nvSpPr>
          <p:spPr>
            <a:xfrm>
              <a:off x="2974658" y="2595562"/>
              <a:ext cx="381000" cy="381000"/>
            </a:xfrm>
            <a:prstGeom prst="ellipse">
              <a:avLst/>
            </a:prstGeom>
            <a:solidFill>
              <a:srgbClr val="FFFFFF"/>
            </a:solidFill>
            <a:ln w="19050">
              <a:solidFill>
                <a:srgbClr val="A8351D"/>
              </a:solidFill>
            </a:ln>
          </p:spPr>
        </p:sp>
        <p:grpSp>
          <p:nvGrpSpPr>
            <p:cNvPr id="43" name="Group 43"/>
            <p:cNvGrpSpPr/>
            <p:nvPr/>
          </p:nvGrpSpPr>
          <p:grpSpPr>
            <a:xfrm>
              <a:off x="3122295" y="2721769"/>
              <a:ext cx="114487" cy="135908"/>
              <a:chOff x="3122295" y="2721769"/>
              <a:chExt cx="114487" cy="135908"/>
            </a:xfrm>
          </p:grpSpPr>
          <p:sp>
            <p:nvSpPr>
              <p:cNvPr id="40" name="Freeform 40"/>
              <p:cNvSpPr/>
              <p:nvPr/>
            </p:nvSpPr>
            <p:spPr>
              <a:xfrm>
                <a:off x="3136582" y="2721769"/>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A8351D"/>
                </a:solidFill>
              </a:ln>
            </p:spPr>
          </p:sp>
          <p:sp>
            <p:nvSpPr>
              <p:cNvPr id="41" name="Freeform 41"/>
              <p:cNvSpPr/>
              <p:nvPr/>
            </p:nvSpPr>
            <p:spPr>
              <a:xfrm>
                <a:off x="3122295" y="2807494"/>
                <a:ext cx="32147" cy="42862"/>
              </a:xfrm>
              <a:custGeom>
                <a:avLst/>
                <a:gdLst/>
                <a:ahLst/>
                <a:cxnLst/>
                <a:rect l="l" t="t" r="r" b="b"/>
                <a:pathLst>
                  <a:path w="32147" h="42862">
                    <a:moveTo>
                      <a:pt x="0" y="42862"/>
                    </a:moveTo>
                    <a:lnTo>
                      <a:pt x="0" y="28575"/>
                    </a:lnTo>
                    <a:cubicBezTo>
                      <a:pt x="0" y="12793"/>
                      <a:pt x="12793" y="0"/>
                      <a:pt x="28575" y="0"/>
                    </a:cubicBezTo>
                    <a:lnTo>
                      <a:pt x="32147" y="0"/>
                    </a:lnTo>
                  </a:path>
                </a:pathLst>
              </a:custGeom>
              <a:noFill/>
              <a:ln w="14288">
                <a:solidFill>
                  <a:srgbClr val="A8351D"/>
                </a:solidFill>
              </a:ln>
            </p:spPr>
          </p:sp>
          <p:sp>
            <p:nvSpPr>
              <p:cNvPr id="42" name="Freeform 42"/>
              <p:cNvSpPr/>
              <p:nvPr/>
            </p:nvSpPr>
            <p:spPr>
              <a:xfrm>
                <a:off x="3176390" y="2800347"/>
                <a:ext cx="60392" cy="57330"/>
              </a:xfrm>
              <a:custGeom>
                <a:avLst/>
                <a:gdLst/>
                <a:ahLst/>
                <a:cxnLst/>
                <a:rect l="l" t="t" r="r" b="b"/>
                <a:pathLst>
                  <a:path w="60392" h="57330">
                    <a:moveTo>
                      <a:pt x="30201" y="48702"/>
                    </a:moveTo>
                    <a:lnTo>
                      <a:pt x="14685" y="56832"/>
                    </a:lnTo>
                    <a:cubicBezTo>
                      <a:pt x="13746" y="57321"/>
                      <a:pt x="12611" y="57238"/>
                      <a:pt x="11753" y="56618"/>
                    </a:cubicBezTo>
                    <a:cubicBezTo>
                      <a:pt x="10894" y="55999"/>
                      <a:pt x="10459" y="54948"/>
                      <a:pt x="10627" y="53903"/>
                    </a:cubicBezTo>
                    <a:lnTo>
                      <a:pt x="13592" y="36679"/>
                    </a:lnTo>
                    <a:lnTo>
                      <a:pt x="1040" y="24485"/>
                    </a:lnTo>
                    <a:cubicBezTo>
                      <a:pt x="276" y="23746"/>
                      <a:pt x="0" y="22636"/>
                      <a:pt x="330" y="21625"/>
                    </a:cubicBezTo>
                    <a:cubicBezTo>
                      <a:pt x="660" y="20614"/>
                      <a:pt x="1537" y="19880"/>
                      <a:pt x="2590" y="19734"/>
                    </a:cubicBezTo>
                    <a:lnTo>
                      <a:pt x="19935" y="17220"/>
                    </a:lnTo>
                    <a:lnTo>
                      <a:pt x="27694" y="1554"/>
                    </a:lnTo>
                    <a:cubicBezTo>
                      <a:pt x="28167" y="602"/>
                      <a:pt x="29138" y="0"/>
                      <a:pt x="30201" y="0"/>
                    </a:cubicBezTo>
                    <a:cubicBezTo>
                      <a:pt x="31264" y="0"/>
                      <a:pt x="32235" y="602"/>
                      <a:pt x="32708" y="1554"/>
                    </a:cubicBezTo>
                    <a:lnTo>
                      <a:pt x="40467" y="17220"/>
                    </a:lnTo>
                    <a:lnTo>
                      <a:pt x="57812" y="19734"/>
                    </a:lnTo>
                    <a:cubicBezTo>
                      <a:pt x="58861" y="19885"/>
                      <a:pt x="59734" y="20619"/>
                      <a:pt x="60063" y="21628"/>
                    </a:cubicBezTo>
                    <a:cubicBezTo>
                      <a:pt x="60392" y="22636"/>
                      <a:pt x="60120" y="23744"/>
                      <a:pt x="59362" y="24485"/>
                    </a:cubicBezTo>
                    <a:lnTo>
                      <a:pt x="46810" y="36679"/>
                    </a:lnTo>
                    <a:lnTo>
                      <a:pt x="49768" y="53896"/>
                    </a:lnTo>
                    <a:cubicBezTo>
                      <a:pt x="49949" y="54943"/>
                      <a:pt x="49518" y="56002"/>
                      <a:pt x="48657" y="56626"/>
                    </a:cubicBezTo>
                    <a:cubicBezTo>
                      <a:pt x="47797" y="57250"/>
                      <a:pt x="46656" y="57330"/>
                      <a:pt x="45717" y="56832"/>
                    </a:cubicBezTo>
                    <a:lnTo>
                      <a:pt x="30201" y="48702"/>
                    </a:lnTo>
                  </a:path>
                </a:pathLst>
              </a:custGeom>
              <a:noFill/>
              <a:ln w="14288">
                <a:solidFill>
                  <a:srgbClr val="A8351D"/>
                </a:solidFill>
              </a:ln>
            </p:spPr>
          </p:sp>
        </p:grpSp>
        <p:sp>
          <p:nvSpPr>
            <p:cNvPr id="44" name="TextBox 44"/>
            <p:cNvSpPr txBox="1"/>
            <p:nvPr/>
          </p:nvSpPr>
          <p:spPr>
            <a:xfrm>
              <a:off x="3424238" y="2677239"/>
              <a:ext cx="611505" cy="288131"/>
            </a:xfrm>
            <a:prstGeom prst="rect">
              <a:avLst/>
            </a:prstGeom>
            <a:noFill/>
            <a:ln>
              <a:noFill/>
            </a:ln>
          </p:spPr>
          <p:txBody>
            <a:bodyPr wrap="none" lIns="0" tIns="0" rIns="0" bIns="0" anchor="t" anchorCtr="0">
              <a:spAutoFit/>
            </a:bodyPr>
            <a:lstStyle/>
            <a:p>
              <a:pPr algn="l">
                <a:lnSpc>
                  <a:spcPts val="1050"/>
                </a:lnSpc>
              </a:pPr>
              <a:r>
                <a:rPr lang="zh-CN" sz="790" b="1" dirty="0">
                  <a:solidFill>
                    <a:srgbClr val="67281B"/>
                  </a:solidFill>
                  <a:latin typeface="+mn-lt"/>
                  <a:ea typeface="+mn-ea"/>
                  <a:cs typeface="+mn-cs"/>
                </a:rPr>
                <a:t>股权激励→</a:t>
              </a:r>
              <a:br/>
              <a:r>
                <a:rPr lang="zh-CN" sz="790" b="1" dirty="0">
                  <a:solidFill>
                    <a:srgbClr val="67281B"/>
                  </a:solidFill>
                  <a:latin typeface="+mn-lt"/>
                  <a:ea typeface="+mn-ea"/>
                  <a:cs typeface="+mn-cs"/>
                </a:rPr>
                <a:t>高管财富管理</a:t>
              </a:r>
            </a:p>
          </p:txBody>
        </p:sp>
        <p:sp>
          <p:nvSpPr>
            <p:cNvPr id="45" name="Ellipse 45"/>
            <p:cNvSpPr/>
            <p:nvPr/>
          </p:nvSpPr>
          <p:spPr>
            <a:xfrm>
              <a:off x="2190750" y="3048000"/>
              <a:ext cx="381000" cy="381000"/>
            </a:xfrm>
            <a:prstGeom prst="ellipse">
              <a:avLst/>
            </a:prstGeom>
            <a:solidFill>
              <a:srgbClr val="FFFFFF"/>
            </a:solidFill>
            <a:ln w="19050">
              <a:solidFill>
                <a:srgbClr val="A5280F"/>
              </a:solidFill>
            </a:ln>
          </p:spPr>
        </p:sp>
        <p:grpSp>
          <p:nvGrpSpPr>
            <p:cNvPr id="51" name="Group 51"/>
            <p:cNvGrpSpPr/>
            <p:nvPr/>
          </p:nvGrpSpPr>
          <p:grpSpPr>
            <a:xfrm>
              <a:off x="2316956" y="3174206"/>
              <a:ext cx="128588" cy="128588"/>
              <a:chOff x="2316956" y="3174206"/>
              <a:chExt cx="128588" cy="128588"/>
            </a:xfrm>
          </p:grpSpPr>
          <p:sp>
            <p:nvSpPr>
              <p:cNvPr id="46" name="Freeform 46"/>
              <p:cNvSpPr/>
              <p:nvPr/>
            </p:nvSpPr>
            <p:spPr>
              <a:xfrm>
                <a:off x="2316956" y="31742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A5280F"/>
                </a:solidFill>
              </a:ln>
            </p:spPr>
          </p:sp>
          <p:sp>
            <p:nvSpPr>
              <p:cNvPr id="47" name="Freeform 47"/>
              <p:cNvSpPr/>
              <p:nvPr/>
            </p:nvSpPr>
            <p:spPr>
              <a:xfrm>
                <a:off x="2321242" y="3217069"/>
                <a:ext cx="120015" cy="9525"/>
              </a:xfrm>
              <a:custGeom>
                <a:avLst/>
                <a:gdLst/>
                <a:ahLst/>
                <a:cxnLst/>
                <a:rect l="l" t="t" r="r" b="b"/>
                <a:pathLst>
                  <a:path w="120015" h="9525">
                    <a:moveTo>
                      <a:pt x="0" y="0"/>
                    </a:moveTo>
                    <a:lnTo>
                      <a:pt x="120015" y="0"/>
                    </a:lnTo>
                  </a:path>
                </a:pathLst>
              </a:custGeom>
              <a:noFill/>
              <a:ln w="14288">
                <a:solidFill>
                  <a:srgbClr val="A5280F"/>
                </a:solidFill>
              </a:ln>
            </p:spPr>
          </p:sp>
          <p:sp>
            <p:nvSpPr>
              <p:cNvPr id="48" name="Freeform 48"/>
              <p:cNvSpPr/>
              <p:nvPr/>
            </p:nvSpPr>
            <p:spPr>
              <a:xfrm>
                <a:off x="2321242" y="3259931"/>
                <a:ext cx="120015" cy="9525"/>
              </a:xfrm>
              <a:custGeom>
                <a:avLst/>
                <a:gdLst/>
                <a:ahLst/>
                <a:cxnLst/>
                <a:rect l="l" t="t" r="r" b="b"/>
                <a:pathLst>
                  <a:path w="120015" h="9525">
                    <a:moveTo>
                      <a:pt x="0" y="0"/>
                    </a:moveTo>
                    <a:lnTo>
                      <a:pt x="120015" y="0"/>
                    </a:lnTo>
                  </a:path>
                </a:pathLst>
              </a:custGeom>
              <a:noFill/>
              <a:ln w="14288">
                <a:solidFill>
                  <a:srgbClr val="A5280F"/>
                </a:solidFill>
              </a:ln>
            </p:spPr>
          </p:sp>
          <p:sp>
            <p:nvSpPr>
              <p:cNvPr id="49" name="Freeform 49"/>
              <p:cNvSpPr/>
              <p:nvPr/>
            </p:nvSpPr>
            <p:spPr>
              <a:xfrm>
                <a:off x="2353125" y="3174206"/>
                <a:ext cx="24553" cy="128588"/>
              </a:xfrm>
              <a:custGeom>
                <a:avLst/>
                <a:gdLst/>
                <a:ahLst/>
                <a:cxnLst/>
                <a:rect l="l" t="t" r="r" b="b"/>
                <a:pathLst>
                  <a:path w="24553" h="128588">
                    <a:moveTo>
                      <a:pt x="24553" y="0"/>
                    </a:moveTo>
                    <a:cubicBezTo>
                      <a:pt x="0" y="39346"/>
                      <a:pt x="0" y="89241"/>
                      <a:pt x="24553" y="128588"/>
                    </a:cubicBezTo>
                  </a:path>
                </a:pathLst>
              </a:custGeom>
              <a:noFill/>
              <a:ln w="14288">
                <a:solidFill>
                  <a:srgbClr val="A5280F"/>
                </a:solidFill>
              </a:ln>
            </p:spPr>
          </p:sp>
          <p:sp>
            <p:nvSpPr>
              <p:cNvPr id="50" name="Freeform 50"/>
              <p:cNvSpPr/>
              <p:nvPr/>
            </p:nvSpPr>
            <p:spPr>
              <a:xfrm>
                <a:off x="2384822" y="3174206"/>
                <a:ext cx="24553" cy="128588"/>
              </a:xfrm>
              <a:custGeom>
                <a:avLst/>
                <a:gdLst/>
                <a:ahLst/>
                <a:cxnLst/>
                <a:rect l="l" t="t" r="r" b="b"/>
                <a:pathLst>
                  <a:path w="24553" h="128588">
                    <a:moveTo>
                      <a:pt x="0" y="0"/>
                    </a:moveTo>
                    <a:cubicBezTo>
                      <a:pt x="24553" y="39346"/>
                      <a:pt x="24553" y="89241"/>
                      <a:pt x="0" y="128588"/>
                    </a:cubicBezTo>
                  </a:path>
                </a:pathLst>
              </a:custGeom>
              <a:noFill/>
              <a:ln w="14288">
                <a:solidFill>
                  <a:srgbClr val="A5280F"/>
                </a:solidFill>
              </a:ln>
            </p:spPr>
          </p:sp>
        </p:grpSp>
        <p:sp>
          <p:nvSpPr>
            <p:cNvPr id="52" name="TextBox 52"/>
            <p:cNvSpPr txBox="1"/>
            <p:nvPr/>
          </p:nvSpPr>
          <p:spPr>
            <a:xfrm>
              <a:off x="2088917" y="3496389"/>
              <a:ext cx="584667"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67281B"/>
                  </a:solidFill>
                  <a:latin typeface="+mn-lt"/>
                  <a:ea typeface="+mn-ea"/>
                  <a:cs typeface="+mn-cs"/>
                </a:rPr>
                <a:t>企业出海</a:t>
              </a:r>
              <a:br/>
              <a:r>
                <a:rPr lang="zh-CN" sz="790" b="1" dirty="0">
                  <a:solidFill>
                    <a:srgbClr val="67281B"/>
                  </a:solidFill>
                  <a:latin typeface="+mn-lt"/>
                  <a:ea typeface="+mn-ea"/>
                  <a:cs typeface="+mn-cs"/>
                </a:rPr>
                <a:t>→跨境发薪​​</a:t>
              </a:r>
            </a:p>
          </p:txBody>
        </p:sp>
        <p:sp>
          <p:nvSpPr>
            <p:cNvPr id="53" name="Ellipse 53"/>
            <p:cNvSpPr/>
            <p:nvPr/>
          </p:nvSpPr>
          <p:spPr>
            <a:xfrm>
              <a:off x="1406842" y="2595562"/>
              <a:ext cx="381000" cy="381000"/>
            </a:xfrm>
            <a:prstGeom prst="ellipse">
              <a:avLst/>
            </a:prstGeom>
            <a:solidFill>
              <a:srgbClr val="FFFFFF"/>
            </a:solidFill>
            <a:ln w="19050">
              <a:solidFill>
                <a:srgbClr val="A5280F"/>
              </a:solidFill>
            </a:ln>
          </p:spPr>
        </p:sp>
        <p:grpSp>
          <p:nvGrpSpPr>
            <p:cNvPr id="60" name="Group 60"/>
            <p:cNvGrpSpPr/>
            <p:nvPr/>
          </p:nvGrpSpPr>
          <p:grpSpPr>
            <a:xfrm>
              <a:off x="1540192" y="2721769"/>
              <a:ext cx="114300" cy="128587"/>
              <a:chOff x="1540192" y="2721769"/>
              <a:chExt cx="114300" cy="128587"/>
            </a:xfrm>
          </p:grpSpPr>
          <p:sp>
            <p:nvSpPr>
              <p:cNvPr id="54" name="Freeform 54"/>
              <p:cNvSpPr/>
              <p:nvPr/>
            </p:nvSpPr>
            <p:spPr>
              <a:xfrm>
                <a:off x="1540192" y="2736056"/>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A5280F"/>
                </a:solidFill>
              </a:ln>
            </p:spPr>
          </p:sp>
          <p:sp>
            <p:nvSpPr>
              <p:cNvPr id="55" name="Freeform 55"/>
              <p:cNvSpPr/>
              <p:nvPr/>
            </p:nvSpPr>
            <p:spPr>
              <a:xfrm>
                <a:off x="1625918" y="2721769"/>
                <a:ext cx="9525" cy="28575"/>
              </a:xfrm>
              <a:custGeom>
                <a:avLst/>
                <a:gdLst/>
                <a:ahLst/>
                <a:cxnLst/>
                <a:rect l="l" t="t" r="r" b="b"/>
                <a:pathLst>
                  <a:path w="9525" h="28575">
                    <a:moveTo>
                      <a:pt x="0" y="0"/>
                    </a:moveTo>
                    <a:lnTo>
                      <a:pt x="0" y="28575"/>
                    </a:lnTo>
                  </a:path>
                </a:pathLst>
              </a:custGeom>
              <a:noFill/>
              <a:ln w="14288">
                <a:solidFill>
                  <a:srgbClr val="A5280F"/>
                </a:solidFill>
              </a:ln>
            </p:spPr>
          </p:sp>
          <p:sp>
            <p:nvSpPr>
              <p:cNvPr id="56" name="Freeform 56"/>
              <p:cNvSpPr/>
              <p:nvPr/>
            </p:nvSpPr>
            <p:spPr>
              <a:xfrm>
                <a:off x="1568768" y="2721769"/>
                <a:ext cx="9525" cy="28575"/>
              </a:xfrm>
              <a:custGeom>
                <a:avLst/>
                <a:gdLst/>
                <a:ahLst/>
                <a:cxnLst/>
                <a:rect l="l" t="t" r="r" b="b"/>
                <a:pathLst>
                  <a:path w="9525" h="28575">
                    <a:moveTo>
                      <a:pt x="0" y="0"/>
                    </a:moveTo>
                    <a:lnTo>
                      <a:pt x="0" y="28575"/>
                    </a:lnTo>
                  </a:path>
                </a:pathLst>
              </a:custGeom>
              <a:noFill/>
              <a:ln w="14288">
                <a:solidFill>
                  <a:srgbClr val="A5280F"/>
                </a:solidFill>
              </a:ln>
            </p:spPr>
          </p:sp>
          <p:sp>
            <p:nvSpPr>
              <p:cNvPr id="57" name="Freeform 57"/>
              <p:cNvSpPr/>
              <p:nvPr/>
            </p:nvSpPr>
            <p:spPr>
              <a:xfrm>
                <a:off x="1540192" y="2778919"/>
                <a:ext cx="114300" cy="9525"/>
              </a:xfrm>
              <a:custGeom>
                <a:avLst/>
                <a:gdLst/>
                <a:ahLst/>
                <a:cxnLst/>
                <a:rect l="l" t="t" r="r" b="b"/>
                <a:pathLst>
                  <a:path w="114300" h="9525">
                    <a:moveTo>
                      <a:pt x="0" y="0"/>
                    </a:moveTo>
                    <a:lnTo>
                      <a:pt x="114300" y="0"/>
                    </a:lnTo>
                  </a:path>
                </a:pathLst>
              </a:custGeom>
              <a:noFill/>
              <a:ln w="14288">
                <a:solidFill>
                  <a:srgbClr val="A5280F"/>
                </a:solidFill>
              </a:ln>
            </p:spPr>
          </p:sp>
          <p:sp>
            <p:nvSpPr>
              <p:cNvPr id="58" name="Freeform 58"/>
              <p:cNvSpPr/>
              <p:nvPr/>
            </p:nvSpPr>
            <p:spPr>
              <a:xfrm>
                <a:off x="1590199" y="2807494"/>
                <a:ext cx="9525" cy="9525"/>
              </a:xfrm>
              <a:custGeom>
                <a:avLst/>
                <a:gdLst/>
                <a:ahLst/>
                <a:cxnLst/>
                <a:rect l="l" t="t" r="r" b="b"/>
                <a:pathLst>
                  <a:path w="9525" h="9525">
                    <a:moveTo>
                      <a:pt x="0" y="0"/>
                    </a:moveTo>
                    <a:lnTo>
                      <a:pt x="7144" y="0"/>
                    </a:lnTo>
                  </a:path>
                </a:pathLst>
              </a:custGeom>
              <a:noFill/>
              <a:ln w="14288">
                <a:solidFill>
                  <a:srgbClr val="A5280F"/>
                </a:solidFill>
              </a:ln>
            </p:spPr>
          </p:sp>
          <p:sp>
            <p:nvSpPr>
              <p:cNvPr id="59" name="Freeform 59"/>
              <p:cNvSpPr/>
              <p:nvPr/>
            </p:nvSpPr>
            <p:spPr>
              <a:xfrm>
                <a:off x="1597342" y="2807494"/>
                <a:ext cx="9525" cy="21431"/>
              </a:xfrm>
              <a:custGeom>
                <a:avLst/>
                <a:gdLst/>
                <a:ahLst/>
                <a:cxnLst/>
                <a:rect l="l" t="t" r="r" b="b"/>
                <a:pathLst>
                  <a:path w="9525" h="21431">
                    <a:moveTo>
                      <a:pt x="0" y="0"/>
                    </a:moveTo>
                    <a:lnTo>
                      <a:pt x="0" y="21431"/>
                    </a:lnTo>
                  </a:path>
                </a:pathLst>
              </a:custGeom>
              <a:noFill/>
              <a:ln w="14288">
                <a:solidFill>
                  <a:srgbClr val="A5280F"/>
                </a:solidFill>
              </a:ln>
            </p:spPr>
          </p:sp>
        </p:grpSp>
        <p:sp>
          <p:nvSpPr>
            <p:cNvPr id="61" name="TextBox 61"/>
            <p:cNvSpPr txBox="1"/>
            <p:nvPr/>
          </p:nvSpPr>
          <p:spPr>
            <a:xfrm>
              <a:off x="753596" y="2677239"/>
              <a:ext cx="584667" cy="288131"/>
            </a:xfrm>
            <a:prstGeom prst="rect">
              <a:avLst/>
            </a:prstGeom>
            <a:noFill/>
            <a:ln>
              <a:noFill/>
            </a:ln>
          </p:spPr>
          <p:txBody>
            <a:bodyPr wrap="none" lIns="0" tIns="0" rIns="0" bIns="0" anchor="t" anchorCtr="0">
              <a:spAutoFit/>
            </a:bodyPr>
            <a:lstStyle/>
            <a:p>
              <a:pPr algn="r">
                <a:lnSpc>
                  <a:spcPts val="1050"/>
                </a:lnSpc>
              </a:pPr>
              <a:r>
                <a:rPr lang="zh-CN" sz="790" b="1" dirty="0">
                  <a:solidFill>
                    <a:srgbClr val="67281B"/>
                  </a:solidFill>
                  <a:latin typeface="+mn-lt"/>
                  <a:ea typeface="+mn-ea"/>
                  <a:cs typeface="+mn-cs"/>
                </a:rPr>
                <a:t>员工退休</a:t>
              </a:r>
              <a:br/>
              <a:r>
                <a:rPr lang="zh-CN" sz="790" b="1" dirty="0">
                  <a:solidFill>
                    <a:srgbClr val="67281B"/>
                  </a:solidFill>
                  <a:latin typeface="+mn-lt"/>
                  <a:ea typeface="+mn-ea"/>
                  <a:cs typeface="+mn-cs"/>
                </a:rPr>
                <a:t>→养老金融​​</a:t>
              </a:r>
            </a:p>
          </p:txBody>
        </p:sp>
        <p:sp>
          <p:nvSpPr>
            <p:cNvPr id="62" name="Ellipse 62"/>
            <p:cNvSpPr/>
            <p:nvPr/>
          </p:nvSpPr>
          <p:spPr>
            <a:xfrm>
              <a:off x="1406842" y="1690688"/>
              <a:ext cx="381000" cy="381000"/>
            </a:xfrm>
            <a:prstGeom prst="ellipse">
              <a:avLst/>
            </a:prstGeom>
            <a:solidFill>
              <a:srgbClr val="FFFFFF"/>
            </a:solidFill>
            <a:ln w="19050">
              <a:solidFill>
                <a:srgbClr val="A5280F"/>
              </a:solidFill>
            </a:ln>
          </p:spPr>
        </p:sp>
        <p:sp>
          <p:nvSpPr>
            <p:cNvPr id="63" name="Freeform 63"/>
            <p:cNvSpPr/>
            <p:nvPr/>
          </p:nvSpPr>
          <p:spPr>
            <a:xfrm>
              <a:off x="1533049" y="1816894"/>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A5280F"/>
              </a:solidFill>
            </a:ln>
          </p:spPr>
        </p:sp>
        <p:sp>
          <p:nvSpPr>
            <p:cNvPr id="64" name="TextBox 64"/>
            <p:cNvSpPr txBox="1"/>
            <p:nvPr/>
          </p:nvSpPr>
          <p:spPr>
            <a:xfrm>
              <a:off x="552936" y="1753314"/>
              <a:ext cx="785327" cy="288131"/>
            </a:xfrm>
            <a:prstGeom prst="rect">
              <a:avLst/>
            </a:prstGeom>
            <a:noFill/>
            <a:ln>
              <a:noFill/>
            </a:ln>
          </p:spPr>
          <p:txBody>
            <a:bodyPr wrap="none" lIns="0" tIns="0" rIns="0" bIns="0" anchor="t" anchorCtr="0">
              <a:spAutoFit/>
            </a:bodyPr>
            <a:lstStyle/>
            <a:p>
              <a:pPr algn="r">
                <a:lnSpc>
                  <a:spcPts val="1050"/>
                </a:lnSpc>
              </a:pPr>
              <a:r>
                <a:rPr lang="zh-CN" sz="790" b="1" dirty="0">
                  <a:solidFill>
                    <a:srgbClr val="67281B"/>
                  </a:solidFill>
                  <a:latin typeface="+mn-lt"/>
                  <a:ea typeface="+mn-ea"/>
                  <a:cs typeface="+mn-cs"/>
                </a:rPr>
                <a:t>并购重组</a:t>
              </a:r>
              <a:br/>
              <a:r>
                <a:rPr lang="zh-CN" sz="790" b="1" dirty="0">
                  <a:solidFill>
                    <a:srgbClr val="67281B"/>
                  </a:solidFill>
                  <a:latin typeface="+mn-lt"/>
                  <a:ea typeface="+mn-ea"/>
                  <a:cs typeface="+mn-cs"/>
                </a:rPr>
                <a:t>→股东资产配置​​</a:t>
              </a:r>
            </a:p>
          </p:txBody>
        </p:sp>
      </p:grpSp>
      <p:grpSp>
        <p:nvGrpSpPr>
          <p:cNvPr id="137" name="mapping-table"/>
          <p:cNvGrpSpPr/>
          <p:nvPr/>
        </p:nvGrpSpPr>
        <p:grpSpPr>
          <a:xfrm>
            <a:off x="4533900" y="704850"/>
            <a:ext cx="7277100" cy="3086100"/>
            <a:chOff x="4533900" y="704850"/>
            <a:chExt cx="7277100" cy="3086100"/>
          </a:xfrm>
        </p:grpSpPr>
        <p:sp>
          <p:nvSpPr>
            <p:cNvPr id="66" name="Rectangle 66"/>
            <p:cNvSpPr/>
            <p:nvPr/>
          </p:nvSpPr>
          <p:spPr>
            <a:xfrm>
              <a:off x="4533900" y="704850"/>
              <a:ext cx="1905000" cy="285750"/>
            </a:xfrm>
            <a:prstGeom prst="rect">
              <a:avLst/>
            </a:prstGeom>
            <a:solidFill>
              <a:srgbClr val="A8351D"/>
            </a:solidFill>
            <a:ln>
              <a:noFill/>
            </a:ln>
          </p:spPr>
        </p:sp>
        <p:sp>
          <p:nvSpPr>
            <p:cNvPr id="67" name="TextBox 67"/>
            <p:cNvSpPr txBox="1"/>
            <p:nvPr/>
          </p:nvSpPr>
          <p:spPr>
            <a:xfrm>
              <a:off x="5239321" y="7981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经营事件</a:t>
              </a:r>
            </a:p>
          </p:txBody>
        </p:sp>
        <p:sp>
          <p:nvSpPr>
            <p:cNvPr id="68" name="Rectangle 68"/>
            <p:cNvSpPr/>
            <p:nvPr/>
          </p:nvSpPr>
          <p:spPr>
            <a:xfrm>
              <a:off x="6438900" y="704850"/>
              <a:ext cx="1238250" cy="285750"/>
            </a:xfrm>
            <a:prstGeom prst="rect">
              <a:avLst/>
            </a:prstGeom>
            <a:solidFill>
              <a:srgbClr val="A8351D"/>
            </a:solidFill>
            <a:ln>
              <a:noFill/>
            </a:ln>
          </p:spPr>
        </p:sp>
        <p:sp>
          <p:nvSpPr>
            <p:cNvPr id="69" name="TextBox 69"/>
            <p:cNvSpPr txBox="1"/>
            <p:nvPr/>
          </p:nvSpPr>
          <p:spPr>
            <a:xfrm>
              <a:off x="6810946" y="7981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目标客群</a:t>
              </a:r>
            </a:p>
          </p:txBody>
        </p:sp>
        <p:sp>
          <p:nvSpPr>
            <p:cNvPr id="70" name="Rectangle 70"/>
            <p:cNvSpPr/>
            <p:nvPr/>
          </p:nvSpPr>
          <p:spPr>
            <a:xfrm>
              <a:off x="7677150" y="704850"/>
              <a:ext cx="2571750" cy="285750"/>
            </a:xfrm>
            <a:prstGeom prst="rect">
              <a:avLst/>
            </a:prstGeom>
            <a:solidFill>
              <a:srgbClr val="A8351D"/>
            </a:solidFill>
            <a:ln>
              <a:noFill/>
            </a:ln>
          </p:spPr>
        </p:sp>
        <p:sp>
          <p:nvSpPr>
            <p:cNvPr id="71" name="TextBox 71"/>
            <p:cNvSpPr txBox="1"/>
            <p:nvPr/>
          </p:nvSpPr>
          <p:spPr>
            <a:xfrm>
              <a:off x="8715946" y="7981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金融产品</a:t>
              </a:r>
            </a:p>
          </p:txBody>
        </p:sp>
        <p:sp>
          <p:nvSpPr>
            <p:cNvPr id="72" name="Rectangle 72"/>
            <p:cNvSpPr/>
            <p:nvPr/>
          </p:nvSpPr>
          <p:spPr>
            <a:xfrm>
              <a:off x="10248900" y="704850"/>
              <a:ext cx="1562100" cy="285750"/>
            </a:xfrm>
            <a:prstGeom prst="rect">
              <a:avLst/>
            </a:prstGeom>
            <a:solidFill>
              <a:srgbClr val="A8351D"/>
            </a:solidFill>
            <a:ln>
              <a:noFill/>
            </a:ln>
          </p:spPr>
        </p:sp>
        <p:sp>
          <p:nvSpPr>
            <p:cNvPr id="73" name="TextBox 73"/>
            <p:cNvSpPr txBox="1"/>
            <p:nvPr/>
          </p:nvSpPr>
          <p:spPr>
            <a:xfrm>
              <a:off x="10843450" y="798195"/>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责任人</a:t>
              </a:r>
            </a:p>
          </p:txBody>
        </p:sp>
        <p:sp>
          <p:nvSpPr>
            <p:cNvPr id="74" name="Rectangle 74"/>
            <p:cNvSpPr/>
            <p:nvPr/>
          </p:nvSpPr>
          <p:spPr>
            <a:xfrm>
              <a:off x="4533900" y="990600"/>
              <a:ext cx="7277100" cy="466725"/>
            </a:xfrm>
            <a:prstGeom prst="rect">
              <a:avLst/>
            </a:prstGeom>
            <a:solidFill>
              <a:srgbClr val="FFFFFF"/>
            </a:solidFill>
            <a:ln w="9525">
              <a:solidFill>
                <a:srgbClr val="E2EAF6"/>
              </a:solidFill>
            </a:ln>
          </p:spPr>
        </p:sp>
        <p:grpSp>
          <p:nvGrpSpPr>
            <p:cNvPr id="83" name="Group 83"/>
            <p:cNvGrpSpPr/>
            <p:nvPr/>
          </p:nvGrpSpPr>
          <p:grpSpPr>
            <a:xfrm>
              <a:off x="4650581" y="1164431"/>
              <a:ext cx="130969" cy="138113"/>
              <a:chOff x="4650581" y="1164431"/>
              <a:chExt cx="130969" cy="138113"/>
            </a:xfrm>
          </p:grpSpPr>
          <p:sp>
            <p:nvSpPr>
              <p:cNvPr id="75" name="Freeform 75"/>
              <p:cNvSpPr/>
              <p:nvPr/>
            </p:nvSpPr>
            <p:spPr>
              <a:xfrm>
                <a:off x="4650581" y="1293019"/>
                <a:ext cx="128588" cy="9525"/>
              </a:xfrm>
              <a:custGeom>
                <a:avLst/>
                <a:gdLst/>
                <a:ahLst/>
                <a:cxnLst/>
                <a:rect l="l" t="t" r="r" b="b"/>
                <a:pathLst>
                  <a:path w="128588" h="9525">
                    <a:moveTo>
                      <a:pt x="0" y="0"/>
                    </a:moveTo>
                    <a:lnTo>
                      <a:pt x="128588" y="0"/>
                    </a:lnTo>
                  </a:path>
                </a:pathLst>
              </a:custGeom>
              <a:noFill/>
              <a:ln w="14288">
                <a:solidFill>
                  <a:srgbClr val="A8351D"/>
                </a:solidFill>
              </a:ln>
            </p:spPr>
          </p:sp>
          <p:sp>
            <p:nvSpPr>
              <p:cNvPr id="76" name="Freeform 76"/>
              <p:cNvSpPr/>
              <p:nvPr/>
            </p:nvSpPr>
            <p:spPr>
              <a:xfrm>
                <a:off x="4650581" y="1214438"/>
                <a:ext cx="128588" cy="9525"/>
              </a:xfrm>
              <a:custGeom>
                <a:avLst/>
                <a:gdLst/>
                <a:ahLst/>
                <a:cxnLst/>
                <a:rect l="l" t="t" r="r" b="b"/>
                <a:pathLst>
                  <a:path w="128588" h="9525">
                    <a:moveTo>
                      <a:pt x="0" y="0"/>
                    </a:moveTo>
                    <a:lnTo>
                      <a:pt x="128588" y="0"/>
                    </a:lnTo>
                  </a:path>
                </a:pathLst>
              </a:custGeom>
              <a:noFill/>
              <a:ln w="14288">
                <a:solidFill>
                  <a:srgbClr val="A8351D"/>
                </a:solidFill>
              </a:ln>
            </p:spPr>
          </p:sp>
          <p:sp>
            <p:nvSpPr>
              <p:cNvPr id="77" name="Freeform 77"/>
              <p:cNvSpPr/>
              <p:nvPr/>
            </p:nvSpPr>
            <p:spPr>
              <a:xfrm>
                <a:off x="4664869" y="1164431"/>
                <a:ext cx="100012" cy="21431"/>
              </a:xfrm>
              <a:custGeom>
                <a:avLst/>
                <a:gdLst/>
                <a:ahLst/>
                <a:cxnLst/>
                <a:rect l="l" t="t" r="r" b="b"/>
                <a:pathLst>
                  <a:path w="100012" h="21431">
                    <a:moveTo>
                      <a:pt x="0" y="21431"/>
                    </a:moveTo>
                    <a:lnTo>
                      <a:pt x="50006" y="0"/>
                    </a:lnTo>
                    <a:lnTo>
                      <a:pt x="100012" y="21431"/>
                    </a:lnTo>
                  </a:path>
                </a:pathLst>
              </a:custGeom>
              <a:noFill/>
              <a:ln w="14288">
                <a:solidFill>
                  <a:srgbClr val="A8351D"/>
                </a:solidFill>
              </a:ln>
            </p:spPr>
          </p:sp>
          <p:sp>
            <p:nvSpPr>
              <p:cNvPr id="78" name="Freeform 78"/>
              <p:cNvSpPr/>
              <p:nvPr/>
            </p:nvSpPr>
            <p:spPr>
              <a:xfrm>
                <a:off x="4657725" y="1214438"/>
                <a:ext cx="9525" cy="78581"/>
              </a:xfrm>
              <a:custGeom>
                <a:avLst/>
                <a:gdLst/>
                <a:ahLst/>
                <a:cxnLst/>
                <a:rect l="l" t="t" r="r" b="b"/>
                <a:pathLst>
                  <a:path w="9525" h="78581">
                    <a:moveTo>
                      <a:pt x="0" y="0"/>
                    </a:moveTo>
                    <a:lnTo>
                      <a:pt x="0" y="78581"/>
                    </a:lnTo>
                  </a:path>
                </a:pathLst>
              </a:custGeom>
              <a:noFill/>
              <a:ln w="14288">
                <a:solidFill>
                  <a:srgbClr val="A8351D"/>
                </a:solidFill>
              </a:ln>
            </p:spPr>
          </p:sp>
          <p:sp>
            <p:nvSpPr>
              <p:cNvPr id="79" name="Freeform 79"/>
              <p:cNvSpPr/>
              <p:nvPr/>
            </p:nvSpPr>
            <p:spPr>
              <a:xfrm>
                <a:off x="4772025" y="1214438"/>
                <a:ext cx="9525" cy="78581"/>
              </a:xfrm>
              <a:custGeom>
                <a:avLst/>
                <a:gdLst/>
                <a:ahLst/>
                <a:cxnLst/>
                <a:rect l="l" t="t" r="r" b="b"/>
                <a:pathLst>
                  <a:path w="9525" h="78581">
                    <a:moveTo>
                      <a:pt x="0" y="0"/>
                    </a:moveTo>
                    <a:lnTo>
                      <a:pt x="0" y="78581"/>
                    </a:lnTo>
                  </a:path>
                </a:pathLst>
              </a:custGeom>
              <a:noFill/>
              <a:ln w="14288">
                <a:solidFill>
                  <a:srgbClr val="A8351D"/>
                </a:solidFill>
              </a:ln>
            </p:spPr>
          </p:sp>
          <p:sp>
            <p:nvSpPr>
              <p:cNvPr id="80" name="Freeform 80"/>
              <p:cNvSpPr/>
              <p:nvPr/>
            </p:nvSpPr>
            <p:spPr>
              <a:xfrm>
                <a:off x="4686300" y="1243012"/>
                <a:ext cx="9525" cy="21431"/>
              </a:xfrm>
              <a:custGeom>
                <a:avLst/>
                <a:gdLst/>
                <a:ahLst/>
                <a:cxnLst/>
                <a:rect l="l" t="t" r="r" b="b"/>
                <a:pathLst>
                  <a:path w="9525" h="21431">
                    <a:moveTo>
                      <a:pt x="0" y="0"/>
                    </a:moveTo>
                    <a:lnTo>
                      <a:pt x="0" y="21431"/>
                    </a:lnTo>
                  </a:path>
                </a:pathLst>
              </a:custGeom>
              <a:noFill/>
              <a:ln w="14288">
                <a:solidFill>
                  <a:srgbClr val="A8351D"/>
                </a:solidFill>
              </a:ln>
            </p:spPr>
          </p:sp>
          <p:sp>
            <p:nvSpPr>
              <p:cNvPr id="81" name="Freeform 81"/>
              <p:cNvSpPr/>
              <p:nvPr/>
            </p:nvSpPr>
            <p:spPr>
              <a:xfrm>
                <a:off x="4714875" y="1243012"/>
                <a:ext cx="9525" cy="21431"/>
              </a:xfrm>
              <a:custGeom>
                <a:avLst/>
                <a:gdLst/>
                <a:ahLst/>
                <a:cxnLst/>
                <a:rect l="l" t="t" r="r" b="b"/>
                <a:pathLst>
                  <a:path w="9525" h="21431">
                    <a:moveTo>
                      <a:pt x="0" y="0"/>
                    </a:moveTo>
                    <a:lnTo>
                      <a:pt x="0" y="21431"/>
                    </a:lnTo>
                  </a:path>
                </a:pathLst>
              </a:custGeom>
              <a:noFill/>
              <a:ln w="14288">
                <a:solidFill>
                  <a:srgbClr val="A8351D"/>
                </a:solidFill>
              </a:ln>
            </p:spPr>
          </p:sp>
          <p:sp>
            <p:nvSpPr>
              <p:cNvPr id="82" name="Freeform 82"/>
              <p:cNvSpPr/>
              <p:nvPr/>
            </p:nvSpPr>
            <p:spPr>
              <a:xfrm>
                <a:off x="4743450" y="1243012"/>
                <a:ext cx="9525" cy="21431"/>
              </a:xfrm>
              <a:custGeom>
                <a:avLst/>
                <a:gdLst/>
                <a:ahLst/>
                <a:cxnLst/>
                <a:rect l="l" t="t" r="r" b="b"/>
                <a:pathLst>
                  <a:path w="9525" h="21431">
                    <a:moveTo>
                      <a:pt x="0" y="0"/>
                    </a:moveTo>
                    <a:lnTo>
                      <a:pt x="0" y="21431"/>
                    </a:lnTo>
                  </a:path>
                </a:pathLst>
              </a:custGeom>
              <a:noFill/>
              <a:ln w="14288">
                <a:solidFill>
                  <a:srgbClr val="A8351D"/>
                </a:solidFill>
              </a:ln>
            </p:spPr>
          </p:sp>
        </p:grpSp>
        <p:sp>
          <p:nvSpPr>
            <p:cNvPr id="84" name="TextBox 84"/>
            <p:cNvSpPr txBox="1"/>
            <p:nvPr/>
          </p:nvSpPr>
          <p:spPr>
            <a:xfrm>
              <a:off x="4852988" y="1181814"/>
              <a:ext cx="1237865"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企业开户→代发与员工开卡</a:t>
              </a:r>
            </a:p>
          </p:txBody>
        </p:sp>
        <p:sp>
          <p:nvSpPr>
            <p:cNvPr id="85" name="TextBox 85"/>
            <p:cNvSpPr txBox="1"/>
            <p:nvPr/>
          </p:nvSpPr>
          <p:spPr>
            <a:xfrm>
              <a:off x="6840563" y="1181814"/>
              <a:ext cx="434924"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企业员工</a:t>
              </a:r>
            </a:p>
          </p:txBody>
        </p:sp>
        <p:sp>
          <p:nvSpPr>
            <p:cNvPr id="86" name="TextBox 86"/>
            <p:cNvSpPr txBox="1"/>
            <p:nvPr/>
          </p:nvSpPr>
          <p:spPr>
            <a:xfrm>
              <a:off x="8001114" y="1181814"/>
              <a:ext cx="1923821"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工资代发、借记卡、信用卡、电子工资单</a:t>
              </a:r>
            </a:p>
          </p:txBody>
        </p:sp>
        <p:sp>
          <p:nvSpPr>
            <p:cNvPr id="87" name="TextBox 87"/>
            <p:cNvSpPr txBox="1"/>
            <p:nvPr/>
          </p:nvSpPr>
          <p:spPr>
            <a:xfrm>
              <a:off x="10739438" y="1119188"/>
              <a:ext cx="581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A443F"/>
                  </a:solidFill>
                  <a:latin typeface="+mn-lt"/>
                  <a:ea typeface="+mn-ea"/>
                  <a:cs typeface="+mn-cs"/>
                </a:rPr>
                <a:t>对公客户经理</a:t>
              </a:r>
              <a:br/>
              <a:r>
                <a:rPr lang="zh-CN" sz="750" dirty="0">
                  <a:solidFill>
                    <a:srgbClr val="5A443F"/>
                  </a:solidFill>
                  <a:latin typeface="+mn-lt"/>
                  <a:ea typeface="+mn-ea"/>
                  <a:cs typeface="+mn-cs"/>
                </a:rPr>
                <a:t>零售客户经理</a:t>
              </a:r>
            </a:p>
          </p:txBody>
        </p:sp>
        <p:sp>
          <p:nvSpPr>
            <p:cNvPr id="88" name="Rectangle 88"/>
            <p:cNvSpPr/>
            <p:nvPr/>
          </p:nvSpPr>
          <p:spPr>
            <a:xfrm>
              <a:off x="4533900" y="1457325"/>
              <a:ext cx="7277100" cy="466725"/>
            </a:xfrm>
            <a:prstGeom prst="rect">
              <a:avLst/>
            </a:prstGeom>
            <a:solidFill>
              <a:srgbClr val="F7FAFE"/>
            </a:solidFill>
            <a:ln w="9525">
              <a:solidFill>
                <a:srgbClr val="E2EAF6"/>
              </a:solidFill>
            </a:ln>
          </p:spPr>
        </p:sp>
        <p:grpSp>
          <p:nvGrpSpPr>
            <p:cNvPr id="94" name="Group 94"/>
            <p:cNvGrpSpPr/>
            <p:nvPr/>
          </p:nvGrpSpPr>
          <p:grpSpPr>
            <a:xfrm>
              <a:off x="4650581" y="1630199"/>
              <a:ext cx="128588" cy="129545"/>
              <a:chOff x="4650581" y="1630199"/>
              <a:chExt cx="128588" cy="129545"/>
            </a:xfrm>
          </p:grpSpPr>
          <p:sp>
            <p:nvSpPr>
              <p:cNvPr id="89" name="Freeform 89"/>
              <p:cNvSpPr/>
              <p:nvPr/>
            </p:nvSpPr>
            <p:spPr>
              <a:xfrm>
                <a:off x="4693444" y="168830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A8351D"/>
                </a:solidFill>
              </a:ln>
            </p:spPr>
          </p:sp>
          <p:sp>
            <p:nvSpPr>
              <p:cNvPr id="90" name="Freeform 90"/>
              <p:cNvSpPr/>
              <p:nvPr/>
            </p:nvSpPr>
            <p:spPr>
              <a:xfrm>
                <a:off x="4693444" y="170973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A8351D"/>
                </a:solidFill>
              </a:ln>
            </p:spPr>
          </p:sp>
          <p:sp>
            <p:nvSpPr>
              <p:cNvPr id="91" name="Freeform 91"/>
              <p:cNvSpPr/>
              <p:nvPr/>
            </p:nvSpPr>
            <p:spPr>
              <a:xfrm>
                <a:off x="4650581" y="163019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A8351D"/>
                </a:solidFill>
              </a:ln>
            </p:spPr>
          </p:sp>
          <p:sp>
            <p:nvSpPr>
              <p:cNvPr id="92" name="Freeform 92"/>
              <p:cNvSpPr/>
              <p:nvPr/>
            </p:nvSpPr>
            <p:spPr>
              <a:xfrm>
                <a:off x="4650581" y="165258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A8351D"/>
                </a:solidFill>
              </a:ln>
            </p:spPr>
          </p:sp>
          <p:sp>
            <p:nvSpPr>
              <p:cNvPr id="93" name="Freeform 93"/>
              <p:cNvSpPr/>
              <p:nvPr/>
            </p:nvSpPr>
            <p:spPr>
              <a:xfrm>
                <a:off x="4650581" y="168830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A8351D"/>
                </a:solidFill>
              </a:ln>
            </p:spPr>
          </p:sp>
        </p:grpSp>
        <p:sp>
          <p:nvSpPr>
            <p:cNvPr id="95" name="TextBox 95"/>
            <p:cNvSpPr txBox="1"/>
            <p:nvPr/>
          </p:nvSpPr>
          <p:spPr>
            <a:xfrm>
              <a:off x="4852988" y="1648539"/>
              <a:ext cx="1344215"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授信投放→企业主财富与保障</a:t>
              </a:r>
            </a:p>
          </p:txBody>
        </p:sp>
        <p:sp>
          <p:nvSpPr>
            <p:cNvPr id="96" name="TextBox 96"/>
            <p:cNvSpPr txBox="1"/>
            <p:nvPr/>
          </p:nvSpPr>
          <p:spPr>
            <a:xfrm>
              <a:off x="6704967" y="1648539"/>
              <a:ext cx="706116"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企业主/实控人</a:t>
              </a:r>
            </a:p>
          </p:txBody>
        </p:sp>
        <p:sp>
          <p:nvSpPr>
            <p:cNvPr id="97" name="TextBox 97"/>
            <p:cNvSpPr txBox="1"/>
            <p:nvPr/>
          </p:nvSpPr>
          <p:spPr>
            <a:xfrm>
              <a:off x="8160639" y="1648539"/>
              <a:ext cx="1604772"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理财、保险、家族信托、高端账户</a:t>
              </a:r>
            </a:p>
          </p:txBody>
        </p:sp>
        <p:sp>
          <p:nvSpPr>
            <p:cNvPr id="98" name="TextBox 98"/>
            <p:cNvSpPr txBox="1"/>
            <p:nvPr/>
          </p:nvSpPr>
          <p:spPr>
            <a:xfrm>
              <a:off x="10739438" y="1585912"/>
              <a:ext cx="581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A443F"/>
                  </a:solidFill>
                  <a:latin typeface="+mn-lt"/>
                  <a:ea typeface="+mn-ea"/>
                  <a:cs typeface="+mn-cs"/>
                </a:rPr>
                <a:t>对公客户经理</a:t>
              </a:r>
              <a:br/>
              <a:r>
                <a:rPr lang="zh-CN" sz="750" dirty="0">
                  <a:solidFill>
                    <a:srgbClr val="5A443F"/>
                  </a:solidFill>
                  <a:latin typeface="+mn-lt"/>
                  <a:ea typeface="+mn-ea"/>
                  <a:cs typeface="+mn-cs"/>
                </a:rPr>
                <a:t>财富顾问</a:t>
              </a:r>
            </a:p>
          </p:txBody>
        </p:sp>
        <p:sp>
          <p:nvSpPr>
            <p:cNvPr id="99" name="Rectangle 99"/>
            <p:cNvSpPr/>
            <p:nvPr/>
          </p:nvSpPr>
          <p:spPr>
            <a:xfrm>
              <a:off x="4533900" y="1924050"/>
              <a:ext cx="7277100" cy="466725"/>
            </a:xfrm>
            <a:prstGeom prst="rect">
              <a:avLst/>
            </a:prstGeom>
            <a:solidFill>
              <a:srgbClr val="FFFFFF"/>
            </a:solidFill>
            <a:ln w="9525">
              <a:solidFill>
                <a:srgbClr val="E2EAF6"/>
              </a:solidFill>
            </a:ln>
          </p:spPr>
        </p:sp>
        <p:grpSp>
          <p:nvGrpSpPr>
            <p:cNvPr id="103" name="Group 103"/>
            <p:cNvGrpSpPr/>
            <p:nvPr/>
          </p:nvGrpSpPr>
          <p:grpSpPr>
            <a:xfrm>
              <a:off x="4672012" y="2097881"/>
              <a:ext cx="114488" cy="135908"/>
              <a:chOff x="4672012" y="2097881"/>
              <a:chExt cx="114488" cy="135908"/>
            </a:xfrm>
          </p:grpSpPr>
          <p:sp>
            <p:nvSpPr>
              <p:cNvPr id="100" name="Freeform 100"/>
              <p:cNvSpPr/>
              <p:nvPr/>
            </p:nvSpPr>
            <p:spPr>
              <a:xfrm>
                <a:off x="4686300" y="20978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A8351D"/>
                </a:solidFill>
              </a:ln>
            </p:spPr>
          </p:sp>
          <p:sp>
            <p:nvSpPr>
              <p:cNvPr id="101" name="Freeform 101"/>
              <p:cNvSpPr/>
              <p:nvPr/>
            </p:nvSpPr>
            <p:spPr>
              <a:xfrm>
                <a:off x="4672012" y="2183606"/>
                <a:ext cx="32147" cy="42862"/>
              </a:xfrm>
              <a:custGeom>
                <a:avLst/>
                <a:gdLst/>
                <a:ahLst/>
                <a:cxnLst/>
                <a:rect l="l" t="t" r="r" b="b"/>
                <a:pathLst>
                  <a:path w="32147" h="42862">
                    <a:moveTo>
                      <a:pt x="0" y="42862"/>
                    </a:moveTo>
                    <a:lnTo>
                      <a:pt x="0" y="28575"/>
                    </a:lnTo>
                    <a:cubicBezTo>
                      <a:pt x="0" y="12793"/>
                      <a:pt x="12793" y="0"/>
                      <a:pt x="28575" y="0"/>
                    </a:cubicBezTo>
                    <a:lnTo>
                      <a:pt x="32147" y="0"/>
                    </a:lnTo>
                  </a:path>
                </a:pathLst>
              </a:custGeom>
              <a:noFill/>
              <a:ln w="14288">
                <a:solidFill>
                  <a:srgbClr val="A8351D"/>
                </a:solidFill>
              </a:ln>
            </p:spPr>
          </p:sp>
          <p:sp>
            <p:nvSpPr>
              <p:cNvPr id="102" name="Freeform 102"/>
              <p:cNvSpPr/>
              <p:nvPr/>
            </p:nvSpPr>
            <p:spPr>
              <a:xfrm>
                <a:off x="4726108" y="2176459"/>
                <a:ext cx="60392" cy="57330"/>
              </a:xfrm>
              <a:custGeom>
                <a:avLst/>
                <a:gdLst/>
                <a:ahLst/>
                <a:cxnLst/>
                <a:rect l="l" t="t" r="r" b="b"/>
                <a:pathLst>
                  <a:path w="60392" h="57330">
                    <a:moveTo>
                      <a:pt x="30201" y="48702"/>
                    </a:moveTo>
                    <a:lnTo>
                      <a:pt x="14685" y="56832"/>
                    </a:lnTo>
                    <a:cubicBezTo>
                      <a:pt x="13746" y="57321"/>
                      <a:pt x="12611" y="57238"/>
                      <a:pt x="11753" y="56618"/>
                    </a:cubicBezTo>
                    <a:cubicBezTo>
                      <a:pt x="10894" y="55999"/>
                      <a:pt x="10459" y="54948"/>
                      <a:pt x="10627" y="53903"/>
                    </a:cubicBezTo>
                    <a:lnTo>
                      <a:pt x="13592" y="36679"/>
                    </a:lnTo>
                    <a:lnTo>
                      <a:pt x="1040" y="24485"/>
                    </a:lnTo>
                    <a:cubicBezTo>
                      <a:pt x="276" y="23746"/>
                      <a:pt x="0" y="22636"/>
                      <a:pt x="330" y="21625"/>
                    </a:cubicBezTo>
                    <a:cubicBezTo>
                      <a:pt x="660" y="20614"/>
                      <a:pt x="1537" y="19880"/>
                      <a:pt x="2590" y="19734"/>
                    </a:cubicBezTo>
                    <a:lnTo>
                      <a:pt x="19935" y="17220"/>
                    </a:lnTo>
                    <a:lnTo>
                      <a:pt x="27694" y="1554"/>
                    </a:lnTo>
                    <a:cubicBezTo>
                      <a:pt x="28167" y="602"/>
                      <a:pt x="29138" y="0"/>
                      <a:pt x="30201" y="0"/>
                    </a:cubicBezTo>
                    <a:cubicBezTo>
                      <a:pt x="31264" y="0"/>
                      <a:pt x="32235" y="602"/>
                      <a:pt x="32708" y="1554"/>
                    </a:cubicBezTo>
                    <a:lnTo>
                      <a:pt x="40467" y="17220"/>
                    </a:lnTo>
                    <a:lnTo>
                      <a:pt x="57812" y="19734"/>
                    </a:lnTo>
                    <a:cubicBezTo>
                      <a:pt x="58861" y="19885"/>
                      <a:pt x="59734" y="20619"/>
                      <a:pt x="60063" y="21628"/>
                    </a:cubicBezTo>
                    <a:cubicBezTo>
                      <a:pt x="60392" y="22636"/>
                      <a:pt x="60120" y="23744"/>
                      <a:pt x="59362" y="24485"/>
                    </a:cubicBezTo>
                    <a:lnTo>
                      <a:pt x="46810" y="36679"/>
                    </a:lnTo>
                    <a:lnTo>
                      <a:pt x="49768" y="53896"/>
                    </a:lnTo>
                    <a:cubicBezTo>
                      <a:pt x="49949" y="54943"/>
                      <a:pt x="49518" y="56002"/>
                      <a:pt x="48657" y="56626"/>
                    </a:cubicBezTo>
                    <a:cubicBezTo>
                      <a:pt x="47797" y="57250"/>
                      <a:pt x="46656" y="57330"/>
                      <a:pt x="45717" y="56832"/>
                    </a:cubicBezTo>
                    <a:lnTo>
                      <a:pt x="30201" y="48702"/>
                    </a:lnTo>
                  </a:path>
                </a:pathLst>
              </a:custGeom>
              <a:noFill/>
              <a:ln w="14288">
                <a:solidFill>
                  <a:srgbClr val="A8351D"/>
                </a:solidFill>
              </a:ln>
            </p:spPr>
          </p:sp>
        </p:grpSp>
        <p:sp>
          <p:nvSpPr>
            <p:cNvPr id="104" name="TextBox 104"/>
            <p:cNvSpPr txBox="1"/>
            <p:nvPr/>
          </p:nvSpPr>
          <p:spPr>
            <a:xfrm>
              <a:off x="4852988" y="2115264"/>
              <a:ext cx="1131515"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股权激励→高管财富管理</a:t>
              </a:r>
            </a:p>
          </p:txBody>
        </p:sp>
        <p:sp>
          <p:nvSpPr>
            <p:cNvPr id="105" name="TextBox 105"/>
            <p:cNvSpPr txBox="1"/>
            <p:nvPr/>
          </p:nvSpPr>
          <p:spPr>
            <a:xfrm>
              <a:off x="6704967" y="2115264"/>
              <a:ext cx="706116"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高管/核心骨干</a:t>
              </a:r>
            </a:p>
          </p:txBody>
        </p:sp>
        <p:sp>
          <p:nvSpPr>
            <p:cNvPr id="106" name="TextBox 106"/>
            <p:cNvSpPr txBox="1"/>
            <p:nvPr/>
          </p:nvSpPr>
          <p:spPr>
            <a:xfrm>
              <a:off x="7947939" y="2115264"/>
              <a:ext cx="2030171"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股票期权账户、信托、私行服务、税务筹划</a:t>
              </a:r>
            </a:p>
          </p:txBody>
        </p:sp>
        <p:sp>
          <p:nvSpPr>
            <p:cNvPr id="107" name="TextBox 107"/>
            <p:cNvSpPr txBox="1"/>
            <p:nvPr/>
          </p:nvSpPr>
          <p:spPr>
            <a:xfrm>
              <a:off x="10739438" y="2052638"/>
              <a:ext cx="581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A443F"/>
                  </a:solidFill>
                  <a:latin typeface="+mn-lt"/>
                  <a:ea typeface="+mn-ea"/>
                  <a:cs typeface="+mn-cs"/>
                </a:rPr>
                <a:t>对公客户经理</a:t>
              </a:r>
              <a:br/>
              <a:r>
                <a:rPr lang="zh-CN" sz="750" dirty="0">
                  <a:solidFill>
                    <a:srgbClr val="5A443F"/>
                  </a:solidFill>
                  <a:latin typeface="+mn-lt"/>
                  <a:ea typeface="+mn-ea"/>
                  <a:cs typeface="+mn-cs"/>
                </a:rPr>
                <a:t>私行客户经理</a:t>
              </a:r>
            </a:p>
          </p:txBody>
        </p:sp>
        <p:sp>
          <p:nvSpPr>
            <p:cNvPr id="108" name="Rectangle 108"/>
            <p:cNvSpPr/>
            <p:nvPr/>
          </p:nvSpPr>
          <p:spPr>
            <a:xfrm>
              <a:off x="4533900" y="2390775"/>
              <a:ext cx="7277100" cy="466725"/>
            </a:xfrm>
            <a:prstGeom prst="rect">
              <a:avLst/>
            </a:prstGeom>
            <a:solidFill>
              <a:srgbClr val="F7FAFE"/>
            </a:solidFill>
            <a:ln w="9525">
              <a:solidFill>
                <a:srgbClr val="E2EAF6"/>
              </a:solidFill>
            </a:ln>
          </p:spPr>
        </p:sp>
        <p:grpSp>
          <p:nvGrpSpPr>
            <p:cNvPr id="114" name="Group 114"/>
            <p:cNvGrpSpPr/>
            <p:nvPr/>
          </p:nvGrpSpPr>
          <p:grpSpPr>
            <a:xfrm>
              <a:off x="4650581" y="2564606"/>
              <a:ext cx="128588" cy="128588"/>
              <a:chOff x="4650581" y="2564606"/>
              <a:chExt cx="128588" cy="128588"/>
            </a:xfrm>
          </p:grpSpPr>
          <p:sp>
            <p:nvSpPr>
              <p:cNvPr id="109" name="Freeform 109"/>
              <p:cNvSpPr/>
              <p:nvPr/>
            </p:nvSpPr>
            <p:spPr>
              <a:xfrm>
                <a:off x="4650581" y="25646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A8351D"/>
                </a:solidFill>
              </a:ln>
            </p:spPr>
          </p:sp>
          <p:sp>
            <p:nvSpPr>
              <p:cNvPr id="110" name="Freeform 110"/>
              <p:cNvSpPr/>
              <p:nvPr/>
            </p:nvSpPr>
            <p:spPr>
              <a:xfrm>
                <a:off x="4654868" y="2607469"/>
                <a:ext cx="120015" cy="9525"/>
              </a:xfrm>
              <a:custGeom>
                <a:avLst/>
                <a:gdLst/>
                <a:ahLst/>
                <a:cxnLst/>
                <a:rect l="l" t="t" r="r" b="b"/>
                <a:pathLst>
                  <a:path w="120015" h="9525">
                    <a:moveTo>
                      <a:pt x="0" y="0"/>
                    </a:moveTo>
                    <a:lnTo>
                      <a:pt x="120015" y="0"/>
                    </a:lnTo>
                  </a:path>
                </a:pathLst>
              </a:custGeom>
              <a:noFill/>
              <a:ln w="14288">
                <a:solidFill>
                  <a:srgbClr val="A8351D"/>
                </a:solidFill>
              </a:ln>
            </p:spPr>
          </p:sp>
          <p:sp>
            <p:nvSpPr>
              <p:cNvPr id="111" name="Freeform 111"/>
              <p:cNvSpPr/>
              <p:nvPr/>
            </p:nvSpPr>
            <p:spPr>
              <a:xfrm>
                <a:off x="4654868" y="2650331"/>
                <a:ext cx="120015" cy="9525"/>
              </a:xfrm>
              <a:custGeom>
                <a:avLst/>
                <a:gdLst/>
                <a:ahLst/>
                <a:cxnLst/>
                <a:rect l="l" t="t" r="r" b="b"/>
                <a:pathLst>
                  <a:path w="120015" h="9525">
                    <a:moveTo>
                      <a:pt x="0" y="0"/>
                    </a:moveTo>
                    <a:lnTo>
                      <a:pt x="120015" y="0"/>
                    </a:lnTo>
                  </a:path>
                </a:pathLst>
              </a:custGeom>
              <a:noFill/>
              <a:ln w="14288">
                <a:solidFill>
                  <a:srgbClr val="A8351D"/>
                </a:solidFill>
              </a:ln>
            </p:spPr>
          </p:sp>
          <p:sp>
            <p:nvSpPr>
              <p:cNvPr id="112" name="Freeform 112"/>
              <p:cNvSpPr/>
              <p:nvPr/>
            </p:nvSpPr>
            <p:spPr>
              <a:xfrm>
                <a:off x="4686750" y="2564606"/>
                <a:ext cx="24553" cy="128588"/>
              </a:xfrm>
              <a:custGeom>
                <a:avLst/>
                <a:gdLst/>
                <a:ahLst/>
                <a:cxnLst/>
                <a:rect l="l" t="t" r="r" b="b"/>
                <a:pathLst>
                  <a:path w="24553" h="128588">
                    <a:moveTo>
                      <a:pt x="24553" y="0"/>
                    </a:moveTo>
                    <a:cubicBezTo>
                      <a:pt x="0" y="39346"/>
                      <a:pt x="0" y="89241"/>
                      <a:pt x="24553" y="128588"/>
                    </a:cubicBezTo>
                  </a:path>
                </a:pathLst>
              </a:custGeom>
              <a:noFill/>
              <a:ln w="14288">
                <a:solidFill>
                  <a:srgbClr val="A8351D"/>
                </a:solidFill>
              </a:ln>
            </p:spPr>
          </p:sp>
          <p:sp>
            <p:nvSpPr>
              <p:cNvPr id="113" name="Freeform 113"/>
              <p:cNvSpPr/>
              <p:nvPr/>
            </p:nvSpPr>
            <p:spPr>
              <a:xfrm>
                <a:off x="4718447" y="2564606"/>
                <a:ext cx="24553" cy="128588"/>
              </a:xfrm>
              <a:custGeom>
                <a:avLst/>
                <a:gdLst/>
                <a:ahLst/>
                <a:cxnLst/>
                <a:rect l="l" t="t" r="r" b="b"/>
                <a:pathLst>
                  <a:path w="24553" h="128588">
                    <a:moveTo>
                      <a:pt x="0" y="0"/>
                    </a:moveTo>
                    <a:cubicBezTo>
                      <a:pt x="24553" y="39346"/>
                      <a:pt x="24553" y="89241"/>
                      <a:pt x="0" y="128588"/>
                    </a:cubicBezTo>
                  </a:path>
                </a:pathLst>
              </a:custGeom>
              <a:noFill/>
              <a:ln w="14288">
                <a:solidFill>
                  <a:srgbClr val="A8351D"/>
                </a:solidFill>
              </a:ln>
            </p:spPr>
          </p:sp>
        </p:grpSp>
        <p:sp>
          <p:nvSpPr>
            <p:cNvPr id="115" name="TextBox 115"/>
            <p:cNvSpPr txBox="1"/>
            <p:nvPr/>
          </p:nvSpPr>
          <p:spPr>
            <a:xfrm>
              <a:off x="4852988" y="2581989"/>
              <a:ext cx="918816"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企业出海→跨境发薪</a:t>
              </a:r>
            </a:p>
          </p:txBody>
        </p:sp>
        <p:sp>
          <p:nvSpPr>
            <p:cNvPr id="116" name="TextBox 116"/>
            <p:cNvSpPr txBox="1"/>
            <p:nvPr/>
          </p:nvSpPr>
          <p:spPr>
            <a:xfrm>
              <a:off x="6840563" y="2581989"/>
              <a:ext cx="434924"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海外员工</a:t>
              </a:r>
            </a:p>
          </p:txBody>
        </p:sp>
        <p:sp>
          <p:nvSpPr>
            <p:cNvPr id="117" name="TextBox 117"/>
            <p:cNvSpPr txBox="1"/>
            <p:nvPr/>
          </p:nvSpPr>
          <p:spPr>
            <a:xfrm>
              <a:off x="8107464" y="2581989"/>
              <a:ext cx="1711122"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跨境代发、外币账户、汇款、境外卡</a:t>
              </a:r>
            </a:p>
          </p:txBody>
        </p:sp>
        <p:sp>
          <p:nvSpPr>
            <p:cNvPr id="118" name="TextBox 118"/>
            <p:cNvSpPr txBox="1"/>
            <p:nvPr/>
          </p:nvSpPr>
          <p:spPr>
            <a:xfrm>
              <a:off x="10739438" y="2519362"/>
              <a:ext cx="581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A443F"/>
                  </a:solidFill>
                  <a:latin typeface="+mn-lt"/>
                  <a:ea typeface="+mn-ea"/>
                  <a:cs typeface="+mn-cs"/>
                </a:rPr>
                <a:t>对公客户经理</a:t>
              </a:r>
              <a:br/>
              <a:r>
                <a:rPr lang="zh-CN" sz="750" dirty="0">
                  <a:solidFill>
                    <a:srgbClr val="5A443F"/>
                  </a:solidFill>
                  <a:latin typeface="+mn-lt"/>
                  <a:ea typeface="+mn-ea"/>
                  <a:cs typeface="+mn-cs"/>
                </a:rPr>
                <a:t>国际业务专员</a:t>
              </a:r>
            </a:p>
          </p:txBody>
        </p:sp>
        <p:sp>
          <p:nvSpPr>
            <p:cNvPr id="119" name="Rectangle 119"/>
            <p:cNvSpPr/>
            <p:nvPr/>
          </p:nvSpPr>
          <p:spPr>
            <a:xfrm>
              <a:off x="4533900" y="2857500"/>
              <a:ext cx="7277100" cy="466725"/>
            </a:xfrm>
            <a:prstGeom prst="rect">
              <a:avLst/>
            </a:prstGeom>
            <a:solidFill>
              <a:srgbClr val="FFFFFF"/>
            </a:solidFill>
            <a:ln w="9525">
              <a:solidFill>
                <a:srgbClr val="E2EAF6"/>
              </a:solidFill>
            </a:ln>
          </p:spPr>
        </p:sp>
        <p:grpSp>
          <p:nvGrpSpPr>
            <p:cNvPr id="126" name="Group 126"/>
            <p:cNvGrpSpPr/>
            <p:nvPr/>
          </p:nvGrpSpPr>
          <p:grpSpPr>
            <a:xfrm>
              <a:off x="4657725" y="3031331"/>
              <a:ext cx="114300" cy="128588"/>
              <a:chOff x="4657725" y="3031331"/>
              <a:chExt cx="114300" cy="128588"/>
            </a:xfrm>
          </p:grpSpPr>
          <p:sp>
            <p:nvSpPr>
              <p:cNvPr id="120" name="Freeform 120"/>
              <p:cNvSpPr/>
              <p:nvPr/>
            </p:nvSpPr>
            <p:spPr>
              <a:xfrm>
                <a:off x="4657725" y="3045619"/>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A8351D"/>
                </a:solidFill>
              </a:ln>
            </p:spPr>
          </p:sp>
          <p:sp>
            <p:nvSpPr>
              <p:cNvPr id="121" name="Freeform 121"/>
              <p:cNvSpPr/>
              <p:nvPr/>
            </p:nvSpPr>
            <p:spPr>
              <a:xfrm>
                <a:off x="4743450" y="3031331"/>
                <a:ext cx="9525" cy="28575"/>
              </a:xfrm>
              <a:custGeom>
                <a:avLst/>
                <a:gdLst/>
                <a:ahLst/>
                <a:cxnLst/>
                <a:rect l="l" t="t" r="r" b="b"/>
                <a:pathLst>
                  <a:path w="9525" h="28575">
                    <a:moveTo>
                      <a:pt x="0" y="0"/>
                    </a:moveTo>
                    <a:lnTo>
                      <a:pt x="0" y="28575"/>
                    </a:lnTo>
                  </a:path>
                </a:pathLst>
              </a:custGeom>
              <a:noFill/>
              <a:ln w="14288">
                <a:solidFill>
                  <a:srgbClr val="A8351D"/>
                </a:solidFill>
              </a:ln>
            </p:spPr>
          </p:sp>
          <p:sp>
            <p:nvSpPr>
              <p:cNvPr id="122" name="Freeform 122"/>
              <p:cNvSpPr/>
              <p:nvPr/>
            </p:nvSpPr>
            <p:spPr>
              <a:xfrm>
                <a:off x="4686300" y="3031331"/>
                <a:ext cx="9525" cy="28575"/>
              </a:xfrm>
              <a:custGeom>
                <a:avLst/>
                <a:gdLst/>
                <a:ahLst/>
                <a:cxnLst/>
                <a:rect l="l" t="t" r="r" b="b"/>
                <a:pathLst>
                  <a:path w="9525" h="28575">
                    <a:moveTo>
                      <a:pt x="0" y="0"/>
                    </a:moveTo>
                    <a:lnTo>
                      <a:pt x="0" y="28575"/>
                    </a:lnTo>
                  </a:path>
                </a:pathLst>
              </a:custGeom>
              <a:noFill/>
              <a:ln w="14288">
                <a:solidFill>
                  <a:srgbClr val="A8351D"/>
                </a:solidFill>
              </a:ln>
            </p:spPr>
          </p:sp>
          <p:sp>
            <p:nvSpPr>
              <p:cNvPr id="123" name="Freeform 123"/>
              <p:cNvSpPr/>
              <p:nvPr/>
            </p:nvSpPr>
            <p:spPr>
              <a:xfrm>
                <a:off x="4657725" y="3088481"/>
                <a:ext cx="114300" cy="9525"/>
              </a:xfrm>
              <a:custGeom>
                <a:avLst/>
                <a:gdLst/>
                <a:ahLst/>
                <a:cxnLst/>
                <a:rect l="l" t="t" r="r" b="b"/>
                <a:pathLst>
                  <a:path w="114300" h="9525">
                    <a:moveTo>
                      <a:pt x="0" y="0"/>
                    </a:moveTo>
                    <a:lnTo>
                      <a:pt x="114300" y="0"/>
                    </a:lnTo>
                  </a:path>
                </a:pathLst>
              </a:custGeom>
              <a:noFill/>
              <a:ln w="14288">
                <a:solidFill>
                  <a:srgbClr val="A8351D"/>
                </a:solidFill>
              </a:ln>
            </p:spPr>
          </p:sp>
          <p:sp>
            <p:nvSpPr>
              <p:cNvPr id="124" name="Freeform 124"/>
              <p:cNvSpPr/>
              <p:nvPr/>
            </p:nvSpPr>
            <p:spPr>
              <a:xfrm>
                <a:off x="4707731" y="3117056"/>
                <a:ext cx="9525" cy="9525"/>
              </a:xfrm>
              <a:custGeom>
                <a:avLst/>
                <a:gdLst/>
                <a:ahLst/>
                <a:cxnLst/>
                <a:rect l="l" t="t" r="r" b="b"/>
                <a:pathLst>
                  <a:path w="9525" h="9525">
                    <a:moveTo>
                      <a:pt x="0" y="0"/>
                    </a:moveTo>
                    <a:lnTo>
                      <a:pt x="7144" y="0"/>
                    </a:lnTo>
                  </a:path>
                </a:pathLst>
              </a:custGeom>
              <a:noFill/>
              <a:ln w="14288">
                <a:solidFill>
                  <a:srgbClr val="A8351D"/>
                </a:solidFill>
              </a:ln>
            </p:spPr>
          </p:sp>
          <p:sp>
            <p:nvSpPr>
              <p:cNvPr id="125" name="Freeform 125"/>
              <p:cNvSpPr/>
              <p:nvPr/>
            </p:nvSpPr>
            <p:spPr>
              <a:xfrm>
                <a:off x="4714875" y="3117056"/>
                <a:ext cx="9525" cy="21431"/>
              </a:xfrm>
              <a:custGeom>
                <a:avLst/>
                <a:gdLst/>
                <a:ahLst/>
                <a:cxnLst/>
                <a:rect l="l" t="t" r="r" b="b"/>
                <a:pathLst>
                  <a:path w="9525" h="21431">
                    <a:moveTo>
                      <a:pt x="0" y="0"/>
                    </a:moveTo>
                    <a:lnTo>
                      <a:pt x="0" y="21431"/>
                    </a:lnTo>
                  </a:path>
                </a:pathLst>
              </a:custGeom>
              <a:noFill/>
              <a:ln w="14288">
                <a:solidFill>
                  <a:srgbClr val="A8351D"/>
                </a:solidFill>
              </a:ln>
            </p:spPr>
          </p:sp>
        </p:grpSp>
        <p:sp>
          <p:nvSpPr>
            <p:cNvPr id="127" name="TextBox 127"/>
            <p:cNvSpPr txBox="1"/>
            <p:nvPr/>
          </p:nvSpPr>
          <p:spPr>
            <a:xfrm>
              <a:off x="4852988" y="3048714"/>
              <a:ext cx="918816"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员工退休→养老金融</a:t>
              </a:r>
            </a:p>
          </p:txBody>
        </p:sp>
        <p:sp>
          <p:nvSpPr>
            <p:cNvPr id="128" name="TextBox 128"/>
            <p:cNvSpPr txBox="1"/>
            <p:nvPr/>
          </p:nvSpPr>
          <p:spPr>
            <a:xfrm>
              <a:off x="6734213" y="3048714"/>
              <a:ext cx="647624"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即将退休员工</a:t>
              </a:r>
            </a:p>
          </p:txBody>
        </p:sp>
        <p:sp>
          <p:nvSpPr>
            <p:cNvPr id="129" name="TextBox 129"/>
            <p:cNvSpPr txBox="1"/>
            <p:nvPr/>
          </p:nvSpPr>
          <p:spPr>
            <a:xfrm>
              <a:off x="7894764" y="3048714"/>
              <a:ext cx="2136521"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个人养老金、养老理财、年金保险、健康管理</a:t>
              </a:r>
            </a:p>
          </p:txBody>
        </p:sp>
        <p:sp>
          <p:nvSpPr>
            <p:cNvPr id="130" name="TextBox 130"/>
            <p:cNvSpPr txBox="1"/>
            <p:nvPr/>
          </p:nvSpPr>
          <p:spPr>
            <a:xfrm>
              <a:off x="10739438" y="2986088"/>
              <a:ext cx="581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A443F"/>
                  </a:solidFill>
                  <a:latin typeface="+mn-lt"/>
                  <a:ea typeface="+mn-ea"/>
                  <a:cs typeface="+mn-cs"/>
                </a:rPr>
                <a:t>零售客户经理</a:t>
              </a:r>
              <a:br/>
              <a:r>
                <a:rPr lang="zh-CN" sz="750" dirty="0">
                  <a:solidFill>
                    <a:srgbClr val="5A443F"/>
                  </a:solidFill>
                  <a:latin typeface="+mn-lt"/>
                  <a:ea typeface="+mn-ea"/>
                  <a:cs typeface="+mn-cs"/>
                </a:rPr>
                <a:t>养老金专员</a:t>
              </a:r>
            </a:p>
          </p:txBody>
        </p:sp>
        <p:sp>
          <p:nvSpPr>
            <p:cNvPr id="131" name="Rectangle 131"/>
            <p:cNvSpPr/>
            <p:nvPr/>
          </p:nvSpPr>
          <p:spPr>
            <a:xfrm>
              <a:off x="4533900" y="3324225"/>
              <a:ext cx="7277100" cy="466725"/>
            </a:xfrm>
            <a:prstGeom prst="rect">
              <a:avLst/>
            </a:prstGeom>
            <a:solidFill>
              <a:srgbClr val="F7FAFE"/>
            </a:solidFill>
            <a:ln w="9525">
              <a:solidFill>
                <a:srgbClr val="E2EAF6"/>
              </a:solidFill>
            </a:ln>
          </p:spPr>
        </p:sp>
        <p:sp>
          <p:nvSpPr>
            <p:cNvPr id="132" name="Freeform 132"/>
            <p:cNvSpPr/>
            <p:nvPr/>
          </p:nvSpPr>
          <p:spPr>
            <a:xfrm>
              <a:off x="4650581" y="3498056"/>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A8351D"/>
              </a:solidFill>
            </a:ln>
          </p:spPr>
        </p:sp>
        <p:sp>
          <p:nvSpPr>
            <p:cNvPr id="133" name="TextBox 133"/>
            <p:cNvSpPr txBox="1"/>
            <p:nvPr/>
          </p:nvSpPr>
          <p:spPr>
            <a:xfrm>
              <a:off x="4852988" y="3515439"/>
              <a:ext cx="1131515"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并购重组→股东资产配置</a:t>
              </a:r>
            </a:p>
          </p:txBody>
        </p:sp>
        <p:sp>
          <p:nvSpPr>
            <p:cNvPr id="134" name="TextBox 134"/>
            <p:cNvSpPr txBox="1"/>
            <p:nvPr/>
          </p:nvSpPr>
          <p:spPr>
            <a:xfrm>
              <a:off x="6758142" y="3515439"/>
              <a:ext cx="599766"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股东/投资人</a:t>
              </a:r>
            </a:p>
          </p:txBody>
        </p:sp>
        <p:sp>
          <p:nvSpPr>
            <p:cNvPr id="135" name="TextBox 135"/>
            <p:cNvSpPr txBox="1"/>
            <p:nvPr/>
          </p:nvSpPr>
          <p:spPr>
            <a:xfrm>
              <a:off x="7894764" y="3515439"/>
              <a:ext cx="2136521" cy="154781"/>
            </a:xfrm>
            <a:prstGeom prst="rect">
              <a:avLst/>
            </a:prstGeom>
            <a:noFill/>
            <a:ln>
              <a:noFill/>
            </a:ln>
          </p:spPr>
          <p:txBody>
            <a:bodyPr wrap="none" lIns="0" tIns="0" rIns="0" bIns="0" anchor="t" anchorCtr="0">
              <a:spAutoFit/>
            </a:bodyPr>
            <a:lstStyle/>
            <a:p>
              <a:pPr algn="ctr"/>
              <a:r>
                <a:rPr lang="zh-CN" sz="790" dirty="0">
                  <a:solidFill>
                    <a:srgbClr val="5A443F"/>
                  </a:solidFill>
                  <a:latin typeface="+mn-lt"/>
                  <a:ea typeface="+mn-ea"/>
                  <a:cs typeface="+mn-cs"/>
                </a:rPr>
                <a:t>资产配置、家族信托、保险金信托、税务筹划</a:t>
              </a:r>
            </a:p>
          </p:txBody>
        </p:sp>
        <p:sp>
          <p:nvSpPr>
            <p:cNvPr id="136" name="TextBox 136"/>
            <p:cNvSpPr txBox="1"/>
            <p:nvPr/>
          </p:nvSpPr>
          <p:spPr>
            <a:xfrm>
              <a:off x="10739438" y="3452812"/>
              <a:ext cx="581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A443F"/>
                  </a:solidFill>
                  <a:latin typeface="+mn-lt"/>
                  <a:ea typeface="+mn-ea"/>
                  <a:cs typeface="+mn-cs"/>
                </a:rPr>
                <a:t>对公客户经理</a:t>
              </a:r>
              <a:br/>
              <a:r>
                <a:rPr lang="zh-CN" sz="750" dirty="0">
                  <a:solidFill>
                    <a:srgbClr val="5A443F"/>
                  </a:solidFill>
                  <a:latin typeface="+mn-lt"/>
                  <a:ea typeface="+mn-ea"/>
                  <a:cs typeface="+mn-cs"/>
                </a:rPr>
                <a:t>财富顾问</a:t>
              </a:r>
            </a:p>
          </p:txBody>
        </p:sp>
      </p:grpSp>
      <p:grpSp>
        <p:nvGrpSpPr>
          <p:cNvPr id="181" name="loop-flow"/>
          <p:cNvGrpSpPr/>
          <p:nvPr/>
        </p:nvGrpSpPr>
        <p:grpSpPr>
          <a:xfrm>
            <a:off x="381000" y="3924300"/>
            <a:ext cx="6096000" cy="2781300"/>
            <a:chOff x="381000" y="3924300"/>
            <a:chExt cx="6096000" cy="2781300"/>
          </a:xfrm>
        </p:grpSpPr>
        <p:sp>
          <p:nvSpPr>
            <p:cNvPr id="138" name="Rectangle 138"/>
            <p:cNvSpPr/>
            <p:nvPr/>
          </p:nvSpPr>
          <p:spPr>
            <a:xfrm>
              <a:off x="381000" y="3924300"/>
              <a:ext cx="6096000" cy="2781300"/>
            </a:xfrm>
            <a:prstGeom prst="roundRect">
              <a:avLst>
                <a:gd name="adj" fmla="val 3425"/>
              </a:avLst>
            </a:prstGeom>
            <a:solidFill>
              <a:srgbClr val="F9FBFE"/>
            </a:solidFill>
            <a:ln w="9525">
              <a:solidFill>
                <a:srgbClr val="C9D8EF"/>
              </a:solidFill>
            </a:ln>
          </p:spPr>
        </p:sp>
        <p:sp>
          <p:nvSpPr>
            <p:cNvPr id="139" name="Rectangle 139"/>
            <p:cNvSpPr/>
            <p:nvPr/>
          </p:nvSpPr>
          <p:spPr>
            <a:xfrm>
              <a:off x="381000" y="3981450"/>
              <a:ext cx="2095500" cy="285750"/>
            </a:xfrm>
            <a:prstGeom prst="roundRect">
              <a:avLst>
                <a:gd name="adj" fmla="val 13333"/>
              </a:avLst>
            </a:prstGeom>
            <a:gradFill>
              <a:gsLst>
                <a:gs pos="0">
                  <a:srgbClr val="AD3921"/>
                </a:gs>
                <a:gs pos="100000">
                  <a:srgbClr val="962C16"/>
                </a:gs>
              </a:gsLst>
              <a:lin ang="5400000" scaled="1"/>
            </a:gradFill>
            <a:ln>
              <a:noFill/>
            </a:ln>
          </p:spPr>
        </p:sp>
        <p:sp>
          <p:nvSpPr>
            <p:cNvPr id="140" name="TextBox 140"/>
            <p:cNvSpPr txBox="1"/>
            <p:nvPr/>
          </p:nvSpPr>
          <p:spPr>
            <a:xfrm>
              <a:off x="743775" y="4072176"/>
              <a:ext cx="1369949"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事件驱动商机闭环流程</a:t>
              </a:r>
            </a:p>
          </p:txBody>
        </p:sp>
        <p:sp>
          <p:nvSpPr>
            <p:cNvPr id="141" name="Freeform 141"/>
            <p:cNvSpPr/>
            <p:nvPr/>
          </p:nvSpPr>
          <p:spPr>
            <a:xfrm>
              <a:off x="495300" y="4438650"/>
              <a:ext cx="1428750" cy="381000"/>
            </a:xfrm>
            <a:prstGeom prst="chevron">
              <a:avLst>
                <a:gd name="adj" fmla="val 35000"/>
              </a:avLst>
            </a:prstGeom>
            <a:solidFill>
              <a:srgbClr val="67281B"/>
            </a:solidFill>
            <a:ln>
              <a:noFill/>
            </a:ln>
          </p:spPr>
        </p:sp>
        <p:sp>
          <p:nvSpPr>
            <p:cNvPr id="142" name="Freeform 142"/>
            <p:cNvSpPr/>
            <p:nvPr/>
          </p:nvSpPr>
          <p:spPr>
            <a:xfrm>
              <a:off x="1981200" y="4438650"/>
              <a:ext cx="1428750" cy="381000"/>
            </a:xfrm>
            <a:prstGeom prst="chevron">
              <a:avLst>
                <a:gd name="adj" fmla="val 35000"/>
              </a:avLst>
            </a:prstGeom>
            <a:solidFill>
              <a:srgbClr val="A8351D"/>
            </a:solidFill>
            <a:ln>
              <a:noFill/>
            </a:ln>
          </p:spPr>
        </p:sp>
        <p:sp>
          <p:nvSpPr>
            <p:cNvPr id="143" name="Freeform 143"/>
            <p:cNvSpPr/>
            <p:nvPr/>
          </p:nvSpPr>
          <p:spPr>
            <a:xfrm>
              <a:off x="3467100" y="4438650"/>
              <a:ext cx="1428750" cy="381000"/>
            </a:xfrm>
            <a:prstGeom prst="chevron">
              <a:avLst>
                <a:gd name="adj" fmla="val 35000"/>
              </a:avLst>
            </a:prstGeom>
            <a:solidFill>
              <a:srgbClr val="D64A2E"/>
            </a:solidFill>
            <a:ln>
              <a:noFill/>
            </a:ln>
          </p:spPr>
        </p:sp>
        <p:sp>
          <p:nvSpPr>
            <p:cNvPr id="144" name="Freeform 144"/>
            <p:cNvSpPr/>
            <p:nvPr/>
          </p:nvSpPr>
          <p:spPr>
            <a:xfrm>
              <a:off x="4953000" y="4438650"/>
              <a:ext cx="1428750" cy="381000"/>
            </a:xfrm>
            <a:prstGeom prst="chevron">
              <a:avLst>
                <a:gd name="adj" fmla="val 35000"/>
              </a:avLst>
            </a:prstGeom>
            <a:solidFill>
              <a:srgbClr val="A5280F"/>
            </a:solidFill>
            <a:ln>
              <a:noFill/>
            </a:ln>
          </p:spPr>
        </p:sp>
        <p:sp>
          <p:nvSpPr>
            <p:cNvPr id="145" name="Ellipse 145"/>
            <p:cNvSpPr/>
            <p:nvPr/>
          </p:nvSpPr>
          <p:spPr>
            <a:xfrm>
              <a:off x="485775" y="4352925"/>
              <a:ext cx="171450" cy="171450"/>
            </a:xfrm>
            <a:prstGeom prst="ellipse">
              <a:avLst/>
            </a:prstGeom>
            <a:solidFill>
              <a:srgbClr val="C9462F"/>
            </a:solidFill>
            <a:ln>
              <a:noFill/>
            </a:ln>
          </p:spPr>
        </p:sp>
        <p:sp>
          <p:nvSpPr>
            <p:cNvPr id="146" name="TextBox 146"/>
            <p:cNvSpPr txBox="1"/>
            <p:nvPr/>
          </p:nvSpPr>
          <p:spPr>
            <a:xfrm>
              <a:off x="537584" y="43957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147" name="Ellipse 147"/>
            <p:cNvSpPr/>
            <p:nvPr/>
          </p:nvSpPr>
          <p:spPr>
            <a:xfrm>
              <a:off x="1971675" y="4352925"/>
              <a:ext cx="171450" cy="171450"/>
            </a:xfrm>
            <a:prstGeom prst="ellipse">
              <a:avLst/>
            </a:prstGeom>
            <a:solidFill>
              <a:srgbClr val="C9462F"/>
            </a:solidFill>
            <a:ln>
              <a:noFill/>
            </a:ln>
          </p:spPr>
        </p:sp>
        <p:sp>
          <p:nvSpPr>
            <p:cNvPr id="148" name="TextBox 148"/>
            <p:cNvSpPr txBox="1"/>
            <p:nvPr/>
          </p:nvSpPr>
          <p:spPr>
            <a:xfrm>
              <a:off x="2023484" y="43957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149" name="Ellipse 149"/>
            <p:cNvSpPr/>
            <p:nvPr/>
          </p:nvSpPr>
          <p:spPr>
            <a:xfrm>
              <a:off x="3457575" y="4352925"/>
              <a:ext cx="171450" cy="171450"/>
            </a:xfrm>
            <a:prstGeom prst="ellipse">
              <a:avLst/>
            </a:prstGeom>
            <a:solidFill>
              <a:srgbClr val="C9462F"/>
            </a:solidFill>
            <a:ln>
              <a:noFill/>
            </a:ln>
          </p:spPr>
        </p:sp>
        <p:sp>
          <p:nvSpPr>
            <p:cNvPr id="150" name="TextBox 150"/>
            <p:cNvSpPr txBox="1"/>
            <p:nvPr/>
          </p:nvSpPr>
          <p:spPr>
            <a:xfrm>
              <a:off x="3509384" y="43957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151" name="Ellipse 151"/>
            <p:cNvSpPr/>
            <p:nvPr/>
          </p:nvSpPr>
          <p:spPr>
            <a:xfrm>
              <a:off x="4943475" y="4352925"/>
              <a:ext cx="171450" cy="171450"/>
            </a:xfrm>
            <a:prstGeom prst="ellipse">
              <a:avLst/>
            </a:prstGeom>
            <a:solidFill>
              <a:srgbClr val="C9462F"/>
            </a:solidFill>
            <a:ln>
              <a:noFill/>
            </a:ln>
          </p:spPr>
        </p:sp>
        <p:sp>
          <p:nvSpPr>
            <p:cNvPr id="152" name="TextBox 152"/>
            <p:cNvSpPr txBox="1"/>
            <p:nvPr/>
          </p:nvSpPr>
          <p:spPr>
            <a:xfrm>
              <a:off x="4995284" y="43957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53" name="TextBox 153"/>
            <p:cNvSpPr txBox="1"/>
            <p:nvPr/>
          </p:nvSpPr>
          <p:spPr>
            <a:xfrm>
              <a:off x="1018502" y="45755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事件识别</a:t>
              </a:r>
            </a:p>
          </p:txBody>
        </p:sp>
        <p:sp>
          <p:nvSpPr>
            <p:cNvPr id="154" name="TextBox 154"/>
            <p:cNvSpPr txBox="1"/>
            <p:nvPr/>
          </p:nvSpPr>
          <p:spPr>
            <a:xfrm>
              <a:off x="2504402" y="45755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商机领取</a:t>
              </a:r>
            </a:p>
          </p:txBody>
        </p:sp>
        <p:sp>
          <p:nvSpPr>
            <p:cNvPr id="155" name="TextBox 155"/>
            <p:cNvSpPr txBox="1"/>
            <p:nvPr/>
          </p:nvSpPr>
          <p:spPr>
            <a:xfrm>
              <a:off x="3990302" y="45755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协同跟进</a:t>
              </a:r>
            </a:p>
          </p:txBody>
        </p:sp>
        <p:sp>
          <p:nvSpPr>
            <p:cNvPr id="156" name="TextBox 156"/>
            <p:cNvSpPr txBox="1"/>
            <p:nvPr/>
          </p:nvSpPr>
          <p:spPr>
            <a:xfrm>
              <a:off x="5476202" y="45755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价值转化</a:t>
              </a:r>
            </a:p>
          </p:txBody>
        </p:sp>
        <p:sp>
          <p:nvSpPr>
            <p:cNvPr id="157" name="TextBox 157"/>
            <p:cNvSpPr txBox="1"/>
            <p:nvPr/>
          </p:nvSpPr>
          <p:spPr>
            <a:xfrm>
              <a:off x="823912" y="4967288"/>
              <a:ext cx="77152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5A443F"/>
                  </a:solidFill>
                  <a:latin typeface="+mn-lt"/>
                  <a:ea typeface="+mn-ea"/>
                  <a:cs typeface="+mn-cs"/>
                </a:rPr>
                <a:t>多源数据感知</a:t>
              </a:r>
              <a:br/>
              <a:r>
                <a:rPr lang="zh-CN" sz="750" dirty="0">
                  <a:solidFill>
                    <a:srgbClr val="5A443F"/>
                  </a:solidFill>
                  <a:latin typeface="+mn-lt"/>
                  <a:ea typeface="+mn-ea"/>
                  <a:cs typeface="+mn-cs"/>
                </a:rPr>
                <a:t>智能判别生成线索</a:t>
              </a:r>
            </a:p>
          </p:txBody>
        </p:sp>
        <p:sp>
          <p:nvSpPr>
            <p:cNvPr id="158" name="TextBox 158"/>
            <p:cNvSpPr txBox="1"/>
            <p:nvPr/>
          </p:nvSpPr>
          <p:spPr>
            <a:xfrm>
              <a:off x="2405062" y="4967288"/>
              <a:ext cx="58102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5A443F"/>
                  </a:solidFill>
                  <a:latin typeface="+mn-lt"/>
                  <a:ea typeface="+mn-ea"/>
                  <a:cs typeface="+mn-cs"/>
                </a:rPr>
                <a:t>一单至责任人</a:t>
              </a:r>
              <a:br/>
              <a:r>
                <a:rPr lang="zh-CN" sz="750" dirty="0">
                  <a:solidFill>
                    <a:srgbClr val="5A443F"/>
                  </a:solidFill>
                  <a:latin typeface="+mn-lt"/>
                  <a:ea typeface="+mn-ea"/>
                  <a:cs typeface="+mn-cs"/>
                </a:rPr>
                <a:t>限时承接</a:t>
              </a:r>
            </a:p>
          </p:txBody>
        </p:sp>
        <p:sp>
          <p:nvSpPr>
            <p:cNvPr id="159" name="TextBox 159"/>
            <p:cNvSpPr txBox="1"/>
            <p:nvPr/>
          </p:nvSpPr>
          <p:spPr>
            <a:xfrm>
              <a:off x="3986212" y="4967288"/>
              <a:ext cx="39052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5A443F"/>
                  </a:solidFill>
                  <a:latin typeface="+mn-lt"/>
                  <a:ea typeface="+mn-ea"/>
                  <a:cs typeface="+mn-cs"/>
                </a:rPr>
                <a:t>过程记录</a:t>
              </a:r>
              <a:br/>
              <a:r>
                <a:rPr lang="zh-CN" sz="750" dirty="0">
                  <a:solidFill>
                    <a:srgbClr val="5A443F"/>
                  </a:solidFill>
                  <a:latin typeface="+mn-lt"/>
                  <a:ea typeface="+mn-ea"/>
                  <a:cs typeface="+mn-cs"/>
                </a:rPr>
                <a:t>动态更新</a:t>
              </a:r>
            </a:p>
          </p:txBody>
        </p:sp>
        <p:sp>
          <p:nvSpPr>
            <p:cNvPr id="160" name="TextBox 160"/>
            <p:cNvSpPr txBox="1"/>
            <p:nvPr/>
          </p:nvSpPr>
          <p:spPr>
            <a:xfrm>
              <a:off x="5472112" y="4967288"/>
              <a:ext cx="39052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5A443F"/>
                  </a:solidFill>
                  <a:latin typeface="+mn-lt"/>
                  <a:ea typeface="+mn-ea"/>
                  <a:cs typeface="+mn-cs"/>
                </a:rPr>
                <a:t>产品签约</a:t>
              </a:r>
              <a:br/>
              <a:r>
                <a:rPr lang="zh-CN" sz="750" dirty="0">
                  <a:solidFill>
                    <a:srgbClr val="5A443F"/>
                  </a:solidFill>
                  <a:latin typeface="+mn-lt"/>
                  <a:ea typeface="+mn-ea"/>
                  <a:cs typeface="+mn-cs"/>
                </a:rPr>
                <a:t>沉淀价值</a:t>
              </a:r>
            </a:p>
          </p:txBody>
        </p:sp>
        <p:sp>
          <p:nvSpPr>
            <p:cNvPr id="161" name="Line 161"/>
            <p:cNvSpPr/>
            <p:nvPr/>
          </p:nvSpPr>
          <p:spPr>
            <a:xfrm>
              <a:off x="571500" y="5505450"/>
              <a:ext cx="5715000" cy="9525"/>
            </a:xfrm>
            <a:custGeom>
              <a:avLst/>
              <a:gdLst/>
              <a:ahLst/>
              <a:cxnLst/>
              <a:rect l="l" t="t" r="r" b="b"/>
              <a:pathLst>
                <a:path w="5715000" h="9525">
                  <a:moveTo>
                    <a:pt x="0" y="0"/>
                  </a:moveTo>
                  <a:lnTo>
                    <a:pt x="5715000" y="0"/>
                  </a:lnTo>
                </a:path>
              </a:pathLst>
            </a:custGeom>
            <a:noFill/>
            <a:ln w="9525">
              <a:solidFill>
                <a:srgbClr val="C9D8EF"/>
              </a:solidFill>
              <a:prstDash val="dash"/>
            </a:ln>
          </p:spPr>
        </p:sp>
        <p:sp>
          <p:nvSpPr>
            <p:cNvPr id="162" name="Line 162"/>
            <p:cNvSpPr/>
            <p:nvPr/>
          </p:nvSpPr>
          <p:spPr>
            <a:xfrm>
              <a:off x="571500" y="6096000"/>
              <a:ext cx="190500" cy="9525"/>
            </a:xfrm>
            <a:custGeom>
              <a:avLst/>
              <a:gdLst/>
              <a:ahLst/>
              <a:cxnLst/>
              <a:rect l="l" t="t" r="r" b="b"/>
              <a:pathLst>
                <a:path w="190500" h="9525">
                  <a:moveTo>
                    <a:pt x="0" y="0"/>
                  </a:moveTo>
                  <a:lnTo>
                    <a:pt x="190500" y="0"/>
                  </a:lnTo>
                </a:path>
              </a:pathLst>
            </a:custGeom>
            <a:noFill/>
            <a:ln w="14288">
              <a:solidFill>
                <a:srgbClr val="D64A2E"/>
              </a:solidFill>
              <a:custDash>
                <a:ds d="200000" sp="200000"/>
              </a:custDash>
            </a:ln>
          </p:spPr>
        </p:sp>
        <p:grpSp>
          <p:nvGrpSpPr>
            <p:cNvPr id="166" name="Group 166"/>
            <p:cNvGrpSpPr/>
            <p:nvPr/>
          </p:nvGrpSpPr>
          <p:grpSpPr>
            <a:xfrm>
              <a:off x="938212" y="6005512"/>
              <a:ext cx="142875" cy="142875"/>
              <a:chOff x="938212" y="6005512"/>
              <a:chExt cx="142875" cy="142875"/>
            </a:xfrm>
          </p:grpSpPr>
          <p:sp>
            <p:nvSpPr>
              <p:cNvPr id="163" name="Freeform 163"/>
              <p:cNvSpPr/>
              <p:nvPr/>
            </p:nvSpPr>
            <p:spPr>
              <a:xfrm>
                <a:off x="1001712" y="60690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A8351D"/>
                </a:solidFill>
              </a:ln>
            </p:spPr>
          </p:sp>
          <p:sp>
            <p:nvSpPr>
              <p:cNvPr id="164" name="Freeform 164"/>
              <p:cNvSpPr/>
              <p:nvPr/>
            </p:nvSpPr>
            <p:spPr>
              <a:xfrm>
                <a:off x="969962" y="60372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A8351D"/>
                </a:solidFill>
              </a:ln>
            </p:spPr>
          </p:sp>
          <p:sp>
            <p:nvSpPr>
              <p:cNvPr id="165" name="Freeform 165"/>
              <p:cNvSpPr/>
              <p:nvPr/>
            </p:nvSpPr>
            <p:spPr>
              <a:xfrm>
                <a:off x="938212" y="60055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A8351D"/>
                </a:solidFill>
              </a:ln>
            </p:spPr>
          </p:sp>
        </p:grpSp>
        <p:sp>
          <p:nvSpPr>
            <p:cNvPr id="167" name="TextBox 167"/>
            <p:cNvSpPr txBox="1"/>
            <p:nvPr/>
          </p:nvSpPr>
          <p:spPr>
            <a:xfrm>
              <a:off x="1157288" y="6031468"/>
              <a:ext cx="472618" cy="169069"/>
            </a:xfrm>
            <a:prstGeom prst="rect">
              <a:avLst/>
            </a:prstGeom>
            <a:noFill/>
            <a:ln>
              <a:noFill/>
            </a:ln>
          </p:spPr>
          <p:txBody>
            <a:bodyPr wrap="none" lIns="0" tIns="0" rIns="0" bIns="0" anchor="t" anchorCtr="0">
              <a:spAutoFit/>
            </a:bodyPr>
            <a:lstStyle/>
            <a:p>
              <a:pPr algn="l"/>
              <a:r>
                <a:rPr lang="zh-CN" sz="860" b="1" dirty="0">
                  <a:solidFill>
                    <a:srgbClr val="67281B"/>
                  </a:solidFill>
                  <a:latin typeface="+mn-lt"/>
                  <a:ea typeface="+mn-ea"/>
                  <a:cs typeface="+mn-cs"/>
                </a:rPr>
                <a:t>自动触发</a:t>
              </a:r>
            </a:p>
          </p:txBody>
        </p:sp>
        <p:grpSp>
          <p:nvGrpSpPr>
            <p:cNvPr id="171" name="Group 171"/>
            <p:cNvGrpSpPr/>
            <p:nvPr/>
          </p:nvGrpSpPr>
          <p:grpSpPr>
            <a:xfrm>
              <a:off x="2382837" y="6005512"/>
              <a:ext cx="111125" cy="142875"/>
              <a:chOff x="2382837" y="6005512"/>
              <a:chExt cx="111125" cy="142875"/>
            </a:xfrm>
          </p:grpSpPr>
          <p:sp>
            <p:nvSpPr>
              <p:cNvPr id="168" name="Freeform 168"/>
              <p:cNvSpPr/>
              <p:nvPr/>
            </p:nvSpPr>
            <p:spPr>
              <a:xfrm>
                <a:off x="2382837" y="605313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A8351D"/>
                </a:solidFill>
              </a:ln>
            </p:spPr>
          </p:sp>
          <p:sp>
            <p:nvSpPr>
              <p:cNvPr id="169" name="Freeform 169"/>
              <p:cNvSpPr/>
              <p:nvPr/>
            </p:nvSpPr>
            <p:spPr>
              <a:xfrm>
                <a:off x="2438400" y="6005512"/>
                <a:ext cx="9525" cy="87312"/>
              </a:xfrm>
              <a:custGeom>
                <a:avLst/>
                <a:gdLst/>
                <a:ahLst/>
                <a:cxnLst/>
                <a:rect l="l" t="t" r="r" b="b"/>
                <a:pathLst>
                  <a:path w="9525" h="87312">
                    <a:moveTo>
                      <a:pt x="0" y="87312"/>
                    </a:moveTo>
                    <a:lnTo>
                      <a:pt x="0" y="0"/>
                    </a:lnTo>
                  </a:path>
                </a:pathLst>
              </a:custGeom>
              <a:noFill/>
              <a:ln w="15875">
                <a:solidFill>
                  <a:srgbClr val="A8351D"/>
                </a:solidFill>
              </a:ln>
            </p:spPr>
          </p:sp>
          <p:sp>
            <p:nvSpPr>
              <p:cNvPr id="170" name="Freeform 170"/>
              <p:cNvSpPr/>
              <p:nvPr/>
            </p:nvSpPr>
            <p:spPr>
              <a:xfrm>
                <a:off x="2414587" y="6005512"/>
                <a:ext cx="47625" cy="23812"/>
              </a:xfrm>
              <a:custGeom>
                <a:avLst/>
                <a:gdLst/>
                <a:ahLst/>
                <a:cxnLst/>
                <a:rect l="l" t="t" r="r" b="b"/>
                <a:pathLst>
                  <a:path w="47625" h="23812">
                    <a:moveTo>
                      <a:pt x="0" y="23812"/>
                    </a:moveTo>
                    <a:lnTo>
                      <a:pt x="23812" y="0"/>
                    </a:lnTo>
                    <a:lnTo>
                      <a:pt x="47625" y="23812"/>
                    </a:lnTo>
                  </a:path>
                </a:pathLst>
              </a:custGeom>
              <a:noFill/>
              <a:ln w="15875">
                <a:solidFill>
                  <a:srgbClr val="A8351D"/>
                </a:solidFill>
              </a:ln>
            </p:spPr>
          </p:sp>
        </p:grpSp>
        <p:sp>
          <p:nvSpPr>
            <p:cNvPr id="172" name="TextBox 172"/>
            <p:cNvSpPr txBox="1"/>
            <p:nvPr/>
          </p:nvSpPr>
          <p:spPr>
            <a:xfrm>
              <a:off x="2586038" y="6031468"/>
              <a:ext cx="472618" cy="169069"/>
            </a:xfrm>
            <a:prstGeom prst="rect">
              <a:avLst/>
            </a:prstGeom>
            <a:noFill/>
            <a:ln>
              <a:noFill/>
            </a:ln>
          </p:spPr>
          <p:txBody>
            <a:bodyPr wrap="none" lIns="0" tIns="0" rIns="0" bIns="0" anchor="t" anchorCtr="0">
              <a:spAutoFit/>
            </a:bodyPr>
            <a:lstStyle/>
            <a:p>
              <a:pPr algn="l"/>
              <a:r>
                <a:rPr lang="zh-CN" sz="860" b="1" dirty="0">
                  <a:solidFill>
                    <a:srgbClr val="67281B"/>
                  </a:solidFill>
                  <a:latin typeface="+mn-lt"/>
                  <a:ea typeface="+mn-ea"/>
                  <a:cs typeface="+mn-cs"/>
                </a:rPr>
                <a:t>统一派单</a:t>
              </a:r>
            </a:p>
          </p:txBody>
        </p:sp>
        <p:grpSp>
          <p:nvGrpSpPr>
            <p:cNvPr id="175" name="Group 175"/>
            <p:cNvGrpSpPr/>
            <p:nvPr/>
          </p:nvGrpSpPr>
          <p:grpSpPr>
            <a:xfrm>
              <a:off x="3795712" y="6005512"/>
              <a:ext cx="142875" cy="142875"/>
              <a:chOff x="3795712" y="6005512"/>
              <a:chExt cx="142875" cy="142875"/>
            </a:xfrm>
          </p:grpSpPr>
          <p:sp>
            <p:nvSpPr>
              <p:cNvPr id="173" name="Freeform 173"/>
              <p:cNvSpPr/>
              <p:nvPr/>
            </p:nvSpPr>
            <p:spPr>
              <a:xfrm>
                <a:off x="3795712" y="60055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A8351D"/>
                </a:solidFill>
              </a:ln>
            </p:spPr>
          </p:sp>
          <p:sp>
            <p:nvSpPr>
              <p:cNvPr id="174" name="Freeform 174"/>
              <p:cNvSpPr/>
              <p:nvPr/>
            </p:nvSpPr>
            <p:spPr>
              <a:xfrm>
                <a:off x="3867150" y="6037262"/>
                <a:ext cx="23812" cy="63500"/>
              </a:xfrm>
              <a:custGeom>
                <a:avLst/>
                <a:gdLst/>
                <a:ahLst/>
                <a:cxnLst/>
                <a:rect l="l" t="t" r="r" b="b"/>
                <a:pathLst>
                  <a:path w="23812" h="63500">
                    <a:moveTo>
                      <a:pt x="0" y="0"/>
                    </a:moveTo>
                    <a:lnTo>
                      <a:pt x="0" y="39687"/>
                    </a:lnTo>
                    <a:lnTo>
                      <a:pt x="23812" y="63500"/>
                    </a:lnTo>
                  </a:path>
                </a:pathLst>
              </a:custGeom>
              <a:noFill/>
              <a:ln w="15875">
                <a:solidFill>
                  <a:srgbClr val="A8351D"/>
                </a:solidFill>
              </a:ln>
            </p:spPr>
          </p:sp>
        </p:grpSp>
        <p:sp>
          <p:nvSpPr>
            <p:cNvPr id="176" name="TextBox 176"/>
            <p:cNvSpPr txBox="1"/>
            <p:nvPr/>
          </p:nvSpPr>
          <p:spPr>
            <a:xfrm>
              <a:off x="4014788" y="6031468"/>
              <a:ext cx="472618" cy="169069"/>
            </a:xfrm>
            <a:prstGeom prst="rect">
              <a:avLst/>
            </a:prstGeom>
            <a:noFill/>
            <a:ln>
              <a:noFill/>
            </a:ln>
          </p:spPr>
          <p:txBody>
            <a:bodyPr wrap="none" lIns="0" tIns="0" rIns="0" bIns="0" anchor="t" anchorCtr="0">
              <a:spAutoFit/>
            </a:bodyPr>
            <a:lstStyle/>
            <a:p>
              <a:pPr algn="l"/>
              <a:r>
                <a:rPr lang="zh-CN" sz="860" b="1" dirty="0">
                  <a:solidFill>
                    <a:srgbClr val="67281B"/>
                  </a:solidFill>
                  <a:latin typeface="+mn-lt"/>
                  <a:ea typeface="+mn-ea"/>
                  <a:cs typeface="+mn-cs"/>
                </a:rPr>
                <a:t>限时承接</a:t>
              </a:r>
            </a:p>
          </p:txBody>
        </p:sp>
        <p:grpSp>
          <p:nvGrpSpPr>
            <p:cNvPr id="179" name="Group 179"/>
            <p:cNvGrpSpPr/>
            <p:nvPr/>
          </p:nvGrpSpPr>
          <p:grpSpPr>
            <a:xfrm>
              <a:off x="5232400" y="6010387"/>
              <a:ext cx="127000" cy="133125"/>
              <a:chOff x="5232400" y="6010387"/>
              <a:chExt cx="127000" cy="133125"/>
            </a:xfrm>
          </p:grpSpPr>
          <p:sp>
            <p:nvSpPr>
              <p:cNvPr id="177" name="Freeform 177"/>
              <p:cNvSpPr/>
              <p:nvPr/>
            </p:nvSpPr>
            <p:spPr>
              <a:xfrm>
                <a:off x="5232400" y="601038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A8351D"/>
                </a:solidFill>
              </a:ln>
            </p:spPr>
          </p:sp>
          <p:sp>
            <p:nvSpPr>
              <p:cNvPr id="178" name="Freeform 178"/>
              <p:cNvSpPr/>
              <p:nvPr/>
            </p:nvSpPr>
            <p:spPr>
              <a:xfrm>
                <a:off x="5232400" y="608488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A8351D"/>
                </a:solidFill>
              </a:ln>
            </p:spPr>
          </p:sp>
        </p:grpSp>
        <p:sp>
          <p:nvSpPr>
            <p:cNvPr id="180" name="TextBox 180"/>
            <p:cNvSpPr txBox="1"/>
            <p:nvPr/>
          </p:nvSpPr>
          <p:spPr>
            <a:xfrm>
              <a:off x="5443538" y="6031468"/>
              <a:ext cx="472618" cy="169069"/>
            </a:xfrm>
            <a:prstGeom prst="rect">
              <a:avLst/>
            </a:prstGeom>
            <a:noFill/>
            <a:ln>
              <a:noFill/>
            </a:ln>
          </p:spPr>
          <p:txBody>
            <a:bodyPr wrap="none" lIns="0" tIns="0" rIns="0" bIns="0" anchor="t" anchorCtr="0">
              <a:spAutoFit/>
            </a:bodyPr>
            <a:lstStyle/>
            <a:p>
              <a:pPr algn="l"/>
              <a:r>
                <a:rPr lang="zh-CN" sz="860" b="1" dirty="0">
                  <a:solidFill>
                    <a:srgbClr val="67281B"/>
                  </a:solidFill>
                  <a:latin typeface="+mn-lt"/>
                  <a:ea typeface="+mn-ea"/>
                  <a:cs typeface="+mn-cs"/>
                </a:rPr>
                <a:t>闭环复盘</a:t>
              </a:r>
            </a:p>
          </p:txBody>
        </p:sp>
      </p:grpSp>
      <p:grpSp>
        <p:nvGrpSpPr>
          <p:cNvPr id="216" name="kpi-row"/>
          <p:cNvGrpSpPr/>
          <p:nvPr/>
        </p:nvGrpSpPr>
        <p:grpSpPr>
          <a:xfrm>
            <a:off x="6591300" y="3924300"/>
            <a:ext cx="5219700" cy="2781300"/>
            <a:chOff x="6591300" y="3924300"/>
            <a:chExt cx="5219700" cy="2781300"/>
          </a:xfrm>
        </p:grpSpPr>
        <p:sp>
          <p:nvSpPr>
            <p:cNvPr id="182" name="Rectangle 182"/>
            <p:cNvSpPr/>
            <p:nvPr/>
          </p:nvSpPr>
          <p:spPr>
            <a:xfrm>
              <a:off x="6591300" y="3924300"/>
              <a:ext cx="1219200" cy="2781300"/>
            </a:xfrm>
            <a:prstGeom prst="roundRect">
              <a:avLst>
                <a:gd name="adj" fmla="val 7812"/>
              </a:avLst>
            </a:prstGeom>
            <a:solidFill>
              <a:srgbClr val="F9FBFE"/>
            </a:solidFill>
            <a:ln w="9525">
              <a:solidFill>
                <a:srgbClr val="C9D8EF"/>
              </a:solidFill>
            </a:ln>
          </p:spPr>
        </p:sp>
        <p:sp>
          <p:nvSpPr>
            <p:cNvPr id="183" name="Ellipse 183"/>
            <p:cNvSpPr/>
            <p:nvPr/>
          </p:nvSpPr>
          <p:spPr>
            <a:xfrm>
              <a:off x="6934200" y="4210050"/>
              <a:ext cx="533400" cy="533400"/>
            </a:xfrm>
            <a:prstGeom prst="ellipse">
              <a:avLst/>
            </a:prstGeom>
            <a:solidFill>
              <a:srgbClr val="A8351D"/>
            </a:solidFill>
            <a:ln>
              <a:noFill/>
            </a:ln>
          </p:spPr>
        </p:sp>
        <p:grpSp>
          <p:nvGrpSpPr>
            <p:cNvPr id="186" name="Group 186"/>
            <p:cNvGrpSpPr/>
            <p:nvPr/>
          </p:nvGrpSpPr>
          <p:grpSpPr>
            <a:xfrm>
              <a:off x="7112000" y="4376738"/>
              <a:ext cx="177801" cy="200025"/>
              <a:chOff x="7112000" y="4376738"/>
              <a:chExt cx="177801" cy="200025"/>
            </a:xfrm>
          </p:grpSpPr>
          <p:sp>
            <p:nvSpPr>
              <p:cNvPr id="184" name="Freeform 184"/>
              <p:cNvSpPr/>
              <p:nvPr/>
            </p:nvSpPr>
            <p:spPr>
              <a:xfrm>
                <a:off x="7112000" y="4376738"/>
                <a:ext cx="177801" cy="155575"/>
              </a:xfrm>
              <a:custGeom>
                <a:avLst/>
                <a:gdLst/>
                <a:ahLst/>
                <a:cxnLst/>
                <a:rect l="l" t="t" r="r" b="b"/>
                <a:pathLst>
                  <a:path w="177801" h="155575">
                    <a:moveTo>
                      <a:pt x="66675" y="22225"/>
                    </a:moveTo>
                    <a:cubicBezTo>
                      <a:pt x="66675" y="9950"/>
                      <a:pt x="76626" y="0"/>
                      <a:pt x="88900" y="0"/>
                    </a:cubicBezTo>
                    <a:cubicBezTo>
                      <a:pt x="101175" y="0"/>
                      <a:pt x="111125" y="9950"/>
                      <a:pt x="111125" y="22225"/>
                    </a:cubicBezTo>
                    <a:cubicBezTo>
                      <a:pt x="137131" y="34522"/>
                      <a:pt x="154227" y="60166"/>
                      <a:pt x="155575" y="88900"/>
                    </a:cubicBezTo>
                    <a:lnTo>
                      <a:pt x="155575" y="122238"/>
                    </a:lnTo>
                    <a:cubicBezTo>
                      <a:pt x="157271" y="136248"/>
                      <a:pt x="165520" y="148621"/>
                      <a:pt x="177801" y="155575"/>
                    </a:cubicBezTo>
                    <a:lnTo>
                      <a:pt x="0" y="155575"/>
                    </a:lnTo>
                    <a:cubicBezTo>
                      <a:pt x="12281" y="148621"/>
                      <a:pt x="20529" y="136248"/>
                      <a:pt x="22225" y="122238"/>
                    </a:cubicBezTo>
                    <a:lnTo>
                      <a:pt x="22225" y="88900"/>
                    </a:lnTo>
                    <a:cubicBezTo>
                      <a:pt x="23574" y="60166"/>
                      <a:pt x="40670" y="34522"/>
                      <a:pt x="66675" y="22225"/>
                    </a:cubicBezTo>
                  </a:path>
                </a:pathLst>
              </a:custGeom>
              <a:noFill/>
              <a:ln w="22225">
                <a:solidFill>
                  <a:srgbClr val="FFFFFF"/>
                </a:solidFill>
              </a:ln>
            </p:spPr>
          </p:sp>
          <p:sp>
            <p:nvSpPr>
              <p:cNvPr id="185" name="Freeform 185"/>
              <p:cNvSpPr/>
              <p:nvPr/>
            </p:nvSpPr>
            <p:spPr>
              <a:xfrm>
                <a:off x="7167563" y="4532313"/>
                <a:ext cx="66675" cy="44450"/>
              </a:xfrm>
              <a:custGeom>
                <a:avLst/>
                <a:gdLst/>
                <a:ahLst/>
                <a:cxnLst/>
                <a:rect l="l" t="t" r="r" b="b"/>
                <a:pathLst>
                  <a:path w="66675" h="44450">
                    <a:moveTo>
                      <a:pt x="0" y="0"/>
                    </a:moveTo>
                    <a:lnTo>
                      <a:pt x="0" y="11113"/>
                    </a:lnTo>
                    <a:cubicBezTo>
                      <a:pt x="0" y="29524"/>
                      <a:pt x="14926" y="44450"/>
                      <a:pt x="33338" y="44450"/>
                    </a:cubicBezTo>
                    <a:cubicBezTo>
                      <a:pt x="51749" y="44450"/>
                      <a:pt x="66675" y="29524"/>
                      <a:pt x="66675" y="11113"/>
                    </a:cubicBezTo>
                    <a:lnTo>
                      <a:pt x="66675" y="0"/>
                    </a:lnTo>
                  </a:path>
                </a:pathLst>
              </a:custGeom>
              <a:noFill/>
              <a:ln w="22225">
                <a:solidFill>
                  <a:srgbClr val="FFFFFF"/>
                </a:solidFill>
              </a:ln>
            </p:spPr>
          </p:sp>
        </p:grpSp>
        <p:sp>
          <p:nvSpPr>
            <p:cNvPr id="187" name="TextBox 187"/>
            <p:cNvSpPr txBox="1"/>
            <p:nvPr/>
          </p:nvSpPr>
          <p:spPr>
            <a:xfrm>
              <a:off x="6879780" y="5099447"/>
              <a:ext cx="642239"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商机触发量</a:t>
              </a:r>
            </a:p>
          </p:txBody>
        </p:sp>
        <p:sp>
          <p:nvSpPr>
            <p:cNvPr id="188" name="TextBox 188"/>
            <p:cNvSpPr txBox="1"/>
            <p:nvPr/>
          </p:nvSpPr>
          <p:spPr>
            <a:xfrm>
              <a:off x="6641396" y="5520690"/>
              <a:ext cx="1119008" cy="352044"/>
            </a:xfrm>
            <a:prstGeom prst="rect">
              <a:avLst/>
            </a:prstGeom>
            <a:noFill/>
            <a:ln>
              <a:noFill/>
            </a:ln>
          </p:spPr>
          <p:txBody>
            <a:bodyPr wrap="none" lIns="0" tIns="0" rIns="0" bIns="0" anchor="t" anchorCtr="0">
              <a:spAutoFit/>
            </a:bodyPr>
            <a:lstStyle/>
            <a:p>
              <a:pPr algn="ctr"/>
              <a:r>
                <a:rPr lang="zh-CN" sz="1800" b="1" dirty="0">
                  <a:solidFill>
                    <a:srgbClr val="C9462F"/>
                  </a:solidFill>
                  <a:latin typeface="+mn-lt"/>
                  <a:ea typeface="+mn-ea"/>
                  <a:cs typeface="+mn-cs"/>
                </a:rPr>
                <a:t>1,280</a:t>
              </a:r>
              <a:r>
                <a:rPr lang="zh-CN" sz="900" b="1" dirty="0">
                  <a:solidFill>
                    <a:srgbClr val="C9462F"/>
                  </a:solidFill>
                  <a:latin typeface="+mn-lt"/>
                  <a:ea typeface="+mn-ea"/>
                  <a:cs typeface="+mn-cs"/>
                </a:rPr>
                <a:t>笔</a:t>
              </a:r>
              <a:r>
                <a:rPr lang="zh-CN" sz="1800" b="1" dirty="0">
                  <a:solidFill>
                    <a:srgbClr val="C9462F"/>
                  </a:solidFill>
                  <a:latin typeface="+mn-lt"/>
                  <a:ea typeface="+mn-ea"/>
                  <a:cs typeface="+mn-cs"/>
                </a:rPr>
                <a:t>​​</a:t>
              </a:r>
            </a:p>
          </p:txBody>
        </p:sp>
        <p:sp>
          <p:nvSpPr>
            <p:cNvPr id="189" name="Rectangle 189"/>
            <p:cNvSpPr/>
            <p:nvPr/>
          </p:nvSpPr>
          <p:spPr>
            <a:xfrm>
              <a:off x="6972300" y="6096000"/>
              <a:ext cx="457200" cy="28575"/>
            </a:xfrm>
            <a:prstGeom prst="rect">
              <a:avLst/>
            </a:prstGeom>
            <a:solidFill>
              <a:srgbClr val="C9462F"/>
            </a:solidFill>
            <a:ln>
              <a:noFill/>
            </a:ln>
          </p:spPr>
        </p:sp>
        <p:sp>
          <p:nvSpPr>
            <p:cNvPr id="190" name="Rectangle 190"/>
            <p:cNvSpPr/>
            <p:nvPr/>
          </p:nvSpPr>
          <p:spPr>
            <a:xfrm>
              <a:off x="7924800" y="3924300"/>
              <a:ext cx="1219200" cy="2781300"/>
            </a:xfrm>
            <a:prstGeom prst="roundRect">
              <a:avLst>
                <a:gd name="adj" fmla="val 7812"/>
              </a:avLst>
            </a:prstGeom>
            <a:solidFill>
              <a:srgbClr val="F9FBFE"/>
            </a:solidFill>
            <a:ln w="9525">
              <a:solidFill>
                <a:srgbClr val="C9D8EF"/>
              </a:solidFill>
            </a:ln>
          </p:spPr>
        </p:sp>
        <p:sp>
          <p:nvSpPr>
            <p:cNvPr id="191" name="Ellipse 191"/>
            <p:cNvSpPr/>
            <p:nvPr/>
          </p:nvSpPr>
          <p:spPr>
            <a:xfrm>
              <a:off x="8267700" y="4210050"/>
              <a:ext cx="533400" cy="533400"/>
            </a:xfrm>
            <a:prstGeom prst="ellipse">
              <a:avLst/>
            </a:prstGeom>
            <a:solidFill>
              <a:srgbClr val="A8351D"/>
            </a:solidFill>
            <a:ln>
              <a:noFill/>
            </a:ln>
          </p:spPr>
        </p:sp>
        <p:grpSp>
          <p:nvGrpSpPr>
            <p:cNvPr id="195" name="Group 195"/>
            <p:cNvGrpSpPr/>
            <p:nvPr/>
          </p:nvGrpSpPr>
          <p:grpSpPr>
            <a:xfrm>
              <a:off x="8467725" y="4376738"/>
              <a:ext cx="166688" cy="200025"/>
              <a:chOff x="8467725" y="4376738"/>
              <a:chExt cx="166688" cy="200025"/>
            </a:xfrm>
          </p:grpSpPr>
          <p:sp>
            <p:nvSpPr>
              <p:cNvPr id="192" name="Freeform 192"/>
              <p:cNvSpPr/>
              <p:nvPr/>
            </p:nvSpPr>
            <p:spPr>
              <a:xfrm>
                <a:off x="8489950" y="43767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193" name="Freeform 193"/>
              <p:cNvSpPr/>
              <p:nvPr/>
            </p:nvSpPr>
            <p:spPr>
              <a:xfrm>
                <a:off x="8467725" y="451008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FFFFFF"/>
                </a:solidFill>
              </a:ln>
            </p:spPr>
          </p:sp>
          <p:sp>
            <p:nvSpPr>
              <p:cNvPr id="194" name="Freeform 194"/>
              <p:cNvSpPr/>
              <p:nvPr/>
            </p:nvSpPr>
            <p:spPr>
              <a:xfrm>
                <a:off x="8567738" y="4532313"/>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196" name="TextBox 196"/>
            <p:cNvSpPr txBox="1"/>
            <p:nvPr/>
          </p:nvSpPr>
          <p:spPr>
            <a:xfrm>
              <a:off x="8339823" y="5099447"/>
              <a:ext cx="389153"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领取率</a:t>
              </a:r>
            </a:p>
          </p:txBody>
        </p:sp>
        <p:sp>
          <p:nvSpPr>
            <p:cNvPr id="197" name="TextBox 197"/>
            <p:cNvSpPr txBox="1"/>
            <p:nvPr/>
          </p:nvSpPr>
          <p:spPr>
            <a:xfrm>
              <a:off x="8197675" y="5520690"/>
              <a:ext cx="673450" cy="352044"/>
            </a:xfrm>
            <a:prstGeom prst="rect">
              <a:avLst/>
            </a:prstGeom>
            <a:noFill/>
            <a:ln>
              <a:noFill/>
            </a:ln>
          </p:spPr>
          <p:txBody>
            <a:bodyPr wrap="none" lIns="0" tIns="0" rIns="0" bIns="0" anchor="t" anchorCtr="0">
              <a:spAutoFit/>
            </a:bodyPr>
            <a:lstStyle/>
            <a:p>
              <a:pPr algn="ctr"/>
              <a:r>
                <a:rPr lang="zh-CN" sz="1800" b="1" dirty="0">
                  <a:solidFill>
                    <a:srgbClr val="C9462F"/>
                  </a:solidFill>
                  <a:latin typeface="+mn-lt"/>
                  <a:ea typeface="+mn-ea"/>
                  <a:cs typeface="+mn-cs"/>
                </a:rPr>
                <a:t>92</a:t>
              </a:r>
              <a:r>
                <a:rPr lang="zh-CN" sz="900" b="1" dirty="0">
                  <a:solidFill>
                    <a:srgbClr val="C9462F"/>
                  </a:solidFill>
                  <a:latin typeface="+mn-lt"/>
                  <a:ea typeface="+mn-ea"/>
                  <a:cs typeface="+mn-cs"/>
                </a:rPr>
                <a:t>%</a:t>
              </a:r>
              <a:r>
                <a:rPr lang="zh-CN" sz="1800" b="1" dirty="0">
                  <a:solidFill>
                    <a:srgbClr val="C9462F"/>
                  </a:solidFill>
                  <a:latin typeface="+mn-lt"/>
                  <a:ea typeface="+mn-ea"/>
                  <a:cs typeface="+mn-cs"/>
                </a:rPr>
                <a:t>​​</a:t>
              </a:r>
            </a:p>
          </p:txBody>
        </p:sp>
        <p:sp>
          <p:nvSpPr>
            <p:cNvPr id="198" name="Rectangle 198"/>
            <p:cNvSpPr/>
            <p:nvPr/>
          </p:nvSpPr>
          <p:spPr>
            <a:xfrm>
              <a:off x="8305800" y="6096000"/>
              <a:ext cx="457200" cy="28575"/>
            </a:xfrm>
            <a:prstGeom prst="rect">
              <a:avLst/>
            </a:prstGeom>
            <a:solidFill>
              <a:srgbClr val="C9462F"/>
            </a:solidFill>
            <a:ln>
              <a:noFill/>
            </a:ln>
          </p:spPr>
        </p:sp>
        <p:sp>
          <p:nvSpPr>
            <p:cNvPr id="199" name="Rectangle 199"/>
            <p:cNvSpPr/>
            <p:nvPr/>
          </p:nvSpPr>
          <p:spPr>
            <a:xfrm>
              <a:off x="9258300" y="3924300"/>
              <a:ext cx="1219200" cy="2781300"/>
            </a:xfrm>
            <a:prstGeom prst="roundRect">
              <a:avLst>
                <a:gd name="adj" fmla="val 7812"/>
              </a:avLst>
            </a:prstGeom>
            <a:solidFill>
              <a:srgbClr val="F9FBFE"/>
            </a:solidFill>
            <a:ln w="9525">
              <a:solidFill>
                <a:srgbClr val="C9D8EF"/>
              </a:solidFill>
            </a:ln>
          </p:spPr>
        </p:sp>
        <p:sp>
          <p:nvSpPr>
            <p:cNvPr id="200" name="Ellipse 200"/>
            <p:cNvSpPr/>
            <p:nvPr/>
          </p:nvSpPr>
          <p:spPr>
            <a:xfrm>
              <a:off x="9601200" y="4210050"/>
              <a:ext cx="533400" cy="533400"/>
            </a:xfrm>
            <a:prstGeom prst="ellipse">
              <a:avLst/>
            </a:prstGeom>
            <a:solidFill>
              <a:srgbClr val="A8351D"/>
            </a:solidFill>
            <a:ln>
              <a:noFill/>
            </a:ln>
          </p:spPr>
        </p:sp>
        <p:sp>
          <p:nvSpPr>
            <p:cNvPr id="201" name="Freeform 201"/>
            <p:cNvSpPr/>
            <p:nvPr/>
          </p:nvSpPr>
          <p:spPr>
            <a:xfrm>
              <a:off x="9779000" y="4387850"/>
              <a:ext cx="177801" cy="188913"/>
            </a:xfrm>
            <a:custGeom>
              <a:avLst/>
              <a:gdLst/>
              <a:ahLst/>
              <a:cxnLst/>
              <a:rect l="l" t="t" r="r" b="b"/>
              <a:pathLst>
                <a:path w="177801" h="188913">
                  <a:moveTo>
                    <a:pt x="0" y="0"/>
                  </a:moveTo>
                  <a:lnTo>
                    <a:pt x="177801" y="0"/>
                  </a:lnTo>
                  <a:lnTo>
                    <a:pt x="177801" y="24136"/>
                  </a:lnTo>
                  <a:cubicBezTo>
                    <a:pt x="177799" y="30030"/>
                    <a:pt x="175457" y="35683"/>
                    <a:pt x="171289" y="39850"/>
                  </a:cubicBezTo>
                  <a:lnTo>
                    <a:pt x="122238" y="88900"/>
                  </a:lnTo>
                  <a:lnTo>
                    <a:pt x="122238" y="166688"/>
                  </a:lnTo>
                  <a:lnTo>
                    <a:pt x="55563" y="188913"/>
                  </a:lnTo>
                  <a:lnTo>
                    <a:pt x="55563" y="94457"/>
                  </a:lnTo>
                  <a:lnTo>
                    <a:pt x="5779" y="39694"/>
                  </a:lnTo>
                  <a:cubicBezTo>
                    <a:pt x="2061" y="35604"/>
                    <a:pt x="1" y="30275"/>
                    <a:pt x="0" y="24748"/>
                  </a:cubicBezTo>
                  <a:lnTo>
                    <a:pt x="0" y="0"/>
                  </a:lnTo>
                </a:path>
              </a:pathLst>
            </a:custGeom>
            <a:noFill/>
            <a:ln w="22225">
              <a:solidFill>
                <a:srgbClr val="FFFFFF"/>
              </a:solidFill>
            </a:ln>
          </p:spPr>
        </p:sp>
        <p:sp>
          <p:nvSpPr>
            <p:cNvPr id="202" name="TextBox 202"/>
            <p:cNvSpPr txBox="1"/>
            <p:nvPr/>
          </p:nvSpPr>
          <p:spPr>
            <a:xfrm>
              <a:off x="9673323" y="5099447"/>
              <a:ext cx="389153"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转化率</a:t>
              </a:r>
            </a:p>
          </p:txBody>
        </p:sp>
        <p:sp>
          <p:nvSpPr>
            <p:cNvPr id="203" name="TextBox 203"/>
            <p:cNvSpPr txBox="1"/>
            <p:nvPr/>
          </p:nvSpPr>
          <p:spPr>
            <a:xfrm>
              <a:off x="9531175" y="5520690"/>
              <a:ext cx="673450" cy="352044"/>
            </a:xfrm>
            <a:prstGeom prst="rect">
              <a:avLst/>
            </a:prstGeom>
            <a:noFill/>
            <a:ln>
              <a:noFill/>
            </a:ln>
          </p:spPr>
          <p:txBody>
            <a:bodyPr wrap="none" lIns="0" tIns="0" rIns="0" bIns="0" anchor="t" anchorCtr="0">
              <a:spAutoFit/>
            </a:bodyPr>
            <a:lstStyle/>
            <a:p>
              <a:pPr algn="ctr"/>
              <a:r>
                <a:rPr lang="zh-CN" sz="1800" b="1" dirty="0">
                  <a:solidFill>
                    <a:srgbClr val="C9462F"/>
                  </a:solidFill>
                  <a:latin typeface="+mn-lt"/>
                  <a:ea typeface="+mn-ea"/>
                  <a:cs typeface="+mn-cs"/>
                </a:rPr>
                <a:t>38</a:t>
              </a:r>
              <a:r>
                <a:rPr lang="zh-CN" sz="900" b="1" dirty="0">
                  <a:solidFill>
                    <a:srgbClr val="C9462F"/>
                  </a:solidFill>
                  <a:latin typeface="+mn-lt"/>
                  <a:ea typeface="+mn-ea"/>
                  <a:cs typeface="+mn-cs"/>
                </a:rPr>
                <a:t>%</a:t>
              </a:r>
              <a:r>
                <a:rPr lang="zh-CN" sz="1800" b="1" dirty="0">
                  <a:solidFill>
                    <a:srgbClr val="C9462F"/>
                  </a:solidFill>
                  <a:latin typeface="+mn-lt"/>
                  <a:ea typeface="+mn-ea"/>
                  <a:cs typeface="+mn-cs"/>
                </a:rPr>
                <a:t>​​</a:t>
              </a:r>
            </a:p>
          </p:txBody>
        </p:sp>
        <p:sp>
          <p:nvSpPr>
            <p:cNvPr id="204" name="Rectangle 204"/>
            <p:cNvSpPr/>
            <p:nvPr/>
          </p:nvSpPr>
          <p:spPr>
            <a:xfrm>
              <a:off x="9639300" y="6096000"/>
              <a:ext cx="457200" cy="28575"/>
            </a:xfrm>
            <a:prstGeom prst="rect">
              <a:avLst/>
            </a:prstGeom>
            <a:solidFill>
              <a:srgbClr val="C9462F"/>
            </a:solidFill>
            <a:ln>
              <a:noFill/>
            </a:ln>
          </p:spPr>
        </p:sp>
        <p:sp>
          <p:nvSpPr>
            <p:cNvPr id="205" name="Rectangle 205"/>
            <p:cNvSpPr/>
            <p:nvPr/>
          </p:nvSpPr>
          <p:spPr>
            <a:xfrm>
              <a:off x="10591800" y="3924300"/>
              <a:ext cx="1219200" cy="2781300"/>
            </a:xfrm>
            <a:prstGeom prst="roundRect">
              <a:avLst>
                <a:gd name="adj" fmla="val 7812"/>
              </a:avLst>
            </a:prstGeom>
            <a:solidFill>
              <a:srgbClr val="F9FBFE"/>
            </a:solidFill>
            <a:ln w="9525">
              <a:solidFill>
                <a:srgbClr val="C9D8EF"/>
              </a:solidFill>
            </a:ln>
          </p:spPr>
        </p:sp>
        <p:sp>
          <p:nvSpPr>
            <p:cNvPr id="206" name="Ellipse 206"/>
            <p:cNvSpPr/>
            <p:nvPr/>
          </p:nvSpPr>
          <p:spPr>
            <a:xfrm>
              <a:off x="10934700" y="4210050"/>
              <a:ext cx="533400" cy="533400"/>
            </a:xfrm>
            <a:prstGeom prst="ellipse">
              <a:avLst/>
            </a:prstGeom>
            <a:solidFill>
              <a:srgbClr val="A8351D"/>
            </a:solidFill>
            <a:ln>
              <a:noFill/>
            </a:ln>
          </p:spPr>
        </p:sp>
        <p:grpSp>
          <p:nvGrpSpPr>
            <p:cNvPr id="212" name="Group 212"/>
            <p:cNvGrpSpPr/>
            <p:nvPr/>
          </p:nvGrpSpPr>
          <p:grpSpPr>
            <a:xfrm>
              <a:off x="11101388" y="4375249"/>
              <a:ext cx="200025" cy="201514"/>
              <a:chOff x="11101388" y="4375249"/>
              <a:chExt cx="200025" cy="201514"/>
            </a:xfrm>
          </p:grpSpPr>
          <p:sp>
            <p:nvSpPr>
              <p:cNvPr id="207" name="Freeform 207"/>
              <p:cNvSpPr/>
              <p:nvPr/>
            </p:nvSpPr>
            <p:spPr>
              <a:xfrm>
                <a:off x="11168063" y="4465638"/>
                <a:ext cx="133350" cy="66675"/>
              </a:xfrm>
              <a:custGeom>
                <a:avLst/>
                <a:gdLst/>
                <a:ahLst/>
                <a:cxnLst/>
                <a:rect l="l" t="t" r="r" b="b"/>
                <a:pathLst>
                  <a:path w="133350" h="66675">
                    <a:moveTo>
                      <a:pt x="0" y="33338"/>
                    </a:moveTo>
                    <a:cubicBezTo>
                      <a:pt x="0" y="51751"/>
                      <a:pt x="29848" y="66675"/>
                      <a:pt x="66675" y="66675"/>
                    </a:cubicBezTo>
                    <a:cubicBezTo>
                      <a:pt x="103502" y="66675"/>
                      <a:pt x="133350" y="51751"/>
                      <a:pt x="133350" y="33338"/>
                    </a:cubicBezTo>
                    <a:cubicBezTo>
                      <a:pt x="133350" y="14924"/>
                      <a:pt x="103502" y="0"/>
                      <a:pt x="66675" y="0"/>
                    </a:cubicBezTo>
                    <a:cubicBezTo>
                      <a:pt x="29848" y="0"/>
                      <a:pt x="0" y="14924"/>
                      <a:pt x="0" y="33338"/>
                    </a:cubicBezTo>
                  </a:path>
                </a:pathLst>
              </a:custGeom>
              <a:noFill/>
              <a:ln w="22225">
                <a:solidFill>
                  <a:srgbClr val="FFFFFF"/>
                </a:solidFill>
              </a:ln>
            </p:spPr>
          </p:sp>
          <p:sp>
            <p:nvSpPr>
              <p:cNvPr id="208" name="Freeform 208"/>
              <p:cNvSpPr/>
              <p:nvPr/>
            </p:nvSpPr>
            <p:spPr>
              <a:xfrm>
                <a:off x="11168063" y="4498975"/>
                <a:ext cx="133350" cy="77788"/>
              </a:xfrm>
              <a:custGeom>
                <a:avLst/>
                <a:gdLst/>
                <a:ahLst/>
                <a:cxnLst/>
                <a:rect l="l" t="t" r="r" b="b"/>
                <a:pathLst>
                  <a:path w="133350" h="77788">
                    <a:moveTo>
                      <a:pt x="0" y="0"/>
                    </a:moveTo>
                    <a:lnTo>
                      <a:pt x="0" y="44450"/>
                    </a:lnTo>
                    <a:cubicBezTo>
                      <a:pt x="0" y="62852"/>
                      <a:pt x="29848" y="77788"/>
                      <a:pt x="66675" y="77788"/>
                    </a:cubicBezTo>
                    <a:cubicBezTo>
                      <a:pt x="103502" y="77788"/>
                      <a:pt x="133350" y="62852"/>
                      <a:pt x="133350" y="44450"/>
                    </a:cubicBezTo>
                    <a:lnTo>
                      <a:pt x="133350" y="0"/>
                    </a:lnTo>
                  </a:path>
                </a:pathLst>
              </a:custGeom>
              <a:noFill/>
              <a:ln w="22225">
                <a:solidFill>
                  <a:srgbClr val="FFFFFF"/>
                </a:solidFill>
              </a:ln>
            </p:spPr>
          </p:sp>
          <p:sp>
            <p:nvSpPr>
              <p:cNvPr id="209" name="Freeform 209"/>
              <p:cNvSpPr/>
              <p:nvPr/>
            </p:nvSpPr>
            <p:spPr>
              <a:xfrm>
                <a:off x="11101388" y="4375249"/>
                <a:ext cx="133350" cy="69653"/>
              </a:xfrm>
              <a:custGeom>
                <a:avLst/>
                <a:gdLst/>
                <a:ahLst/>
                <a:cxnLst/>
                <a:rect l="l" t="t" r="r" b="b"/>
                <a:pathLst>
                  <a:path w="133350" h="69653">
                    <a:moveTo>
                      <a:pt x="0" y="34827"/>
                    </a:moveTo>
                    <a:cubicBezTo>
                      <a:pt x="0" y="46739"/>
                      <a:pt x="12713" y="57741"/>
                      <a:pt x="33338" y="63697"/>
                    </a:cubicBezTo>
                    <a:cubicBezTo>
                      <a:pt x="53962" y="69653"/>
                      <a:pt x="79388" y="69653"/>
                      <a:pt x="100013" y="63697"/>
                    </a:cubicBezTo>
                    <a:cubicBezTo>
                      <a:pt x="120638" y="57741"/>
                      <a:pt x="133350" y="46739"/>
                      <a:pt x="133350" y="34827"/>
                    </a:cubicBezTo>
                    <a:cubicBezTo>
                      <a:pt x="133350" y="22914"/>
                      <a:pt x="120638" y="11913"/>
                      <a:pt x="100013" y="5956"/>
                    </a:cubicBezTo>
                    <a:cubicBezTo>
                      <a:pt x="79388" y="0"/>
                      <a:pt x="53962" y="0"/>
                      <a:pt x="33338" y="5956"/>
                    </a:cubicBezTo>
                    <a:cubicBezTo>
                      <a:pt x="12713" y="11913"/>
                      <a:pt x="0" y="22914"/>
                      <a:pt x="0" y="34827"/>
                    </a:cubicBezTo>
                  </a:path>
                </a:pathLst>
              </a:custGeom>
              <a:noFill/>
              <a:ln w="22225">
                <a:solidFill>
                  <a:srgbClr val="FFFFFF"/>
                </a:solidFill>
              </a:ln>
            </p:spPr>
          </p:sp>
          <p:sp>
            <p:nvSpPr>
              <p:cNvPr id="210" name="Freeform 210"/>
              <p:cNvSpPr/>
              <p:nvPr/>
            </p:nvSpPr>
            <p:spPr>
              <a:xfrm>
                <a:off x="11101388" y="4410075"/>
                <a:ext cx="22225" cy="133350"/>
              </a:xfrm>
              <a:custGeom>
                <a:avLst/>
                <a:gdLst/>
                <a:ahLst/>
                <a:cxnLst/>
                <a:rect l="l" t="t" r="r" b="b"/>
                <a:pathLst>
                  <a:path w="22225" h="133350">
                    <a:moveTo>
                      <a:pt x="0" y="0"/>
                    </a:moveTo>
                    <a:lnTo>
                      <a:pt x="0" y="111125"/>
                    </a:lnTo>
                    <a:cubicBezTo>
                      <a:pt x="0" y="120993"/>
                      <a:pt x="8579" y="127238"/>
                      <a:pt x="22225" y="133350"/>
                    </a:cubicBezTo>
                  </a:path>
                </a:pathLst>
              </a:custGeom>
              <a:noFill/>
              <a:ln w="22225">
                <a:solidFill>
                  <a:srgbClr val="FFFFFF"/>
                </a:solidFill>
              </a:ln>
            </p:spPr>
          </p:sp>
          <p:sp>
            <p:nvSpPr>
              <p:cNvPr id="211" name="Freeform 211"/>
              <p:cNvSpPr/>
              <p:nvPr/>
            </p:nvSpPr>
            <p:spPr>
              <a:xfrm>
                <a:off x="11101388" y="4465638"/>
                <a:ext cx="22225" cy="22225"/>
              </a:xfrm>
              <a:custGeom>
                <a:avLst/>
                <a:gdLst/>
                <a:ahLst/>
                <a:cxnLst/>
                <a:rect l="l" t="t" r="r" b="b"/>
                <a:pathLst>
                  <a:path w="22225" h="22225">
                    <a:moveTo>
                      <a:pt x="0" y="0"/>
                    </a:moveTo>
                    <a:cubicBezTo>
                      <a:pt x="0" y="9868"/>
                      <a:pt x="8579" y="16113"/>
                      <a:pt x="22225" y="22225"/>
                    </a:cubicBezTo>
                  </a:path>
                </a:pathLst>
              </a:custGeom>
              <a:noFill/>
              <a:ln w="22225">
                <a:solidFill>
                  <a:srgbClr val="FFFFFF"/>
                </a:solidFill>
              </a:ln>
            </p:spPr>
          </p:sp>
        </p:grpSp>
        <p:sp>
          <p:nvSpPr>
            <p:cNvPr id="213" name="TextBox 213"/>
            <p:cNvSpPr txBox="1"/>
            <p:nvPr/>
          </p:nvSpPr>
          <p:spPr>
            <a:xfrm>
              <a:off x="10943552" y="5099447"/>
              <a:ext cx="515696" cy="183356"/>
            </a:xfrm>
            <a:prstGeom prst="rect">
              <a:avLst/>
            </a:prstGeom>
            <a:noFill/>
            <a:ln>
              <a:noFill/>
            </a:ln>
          </p:spPr>
          <p:txBody>
            <a:bodyPr wrap="none" lIns="0" tIns="0" rIns="0" bIns="0" anchor="t" anchorCtr="0">
              <a:spAutoFit/>
            </a:bodyPr>
            <a:lstStyle/>
            <a:p>
              <a:pPr algn="ctr"/>
              <a:r>
                <a:rPr lang="zh-CN" sz="940" b="1" dirty="0">
                  <a:solidFill>
                    <a:srgbClr val="67281B"/>
                  </a:solidFill>
                  <a:latin typeface="+mn-lt"/>
                  <a:ea typeface="+mn-ea"/>
                  <a:cs typeface="+mn-cs"/>
                </a:rPr>
                <a:t>价值贡献</a:t>
              </a:r>
            </a:p>
          </p:txBody>
        </p:sp>
        <p:sp>
          <p:nvSpPr>
            <p:cNvPr id="214" name="TextBox 214"/>
            <p:cNvSpPr txBox="1"/>
            <p:nvPr/>
          </p:nvSpPr>
          <p:spPr>
            <a:xfrm>
              <a:off x="10721254" y="5520690"/>
              <a:ext cx="960291" cy="352044"/>
            </a:xfrm>
            <a:prstGeom prst="rect">
              <a:avLst/>
            </a:prstGeom>
            <a:noFill/>
            <a:ln>
              <a:noFill/>
            </a:ln>
          </p:spPr>
          <p:txBody>
            <a:bodyPr wrap="none" lIns="0" tIns="0" rIns="0" bIns="0" anchor="t" anchorCtr="0">
              <a:spAutoFit/>
            </a:bodyPr>
            <a:lstStyle/>
            <a:p>
              <a:pPr algn="ctr"/>
              <a:r>
                <a:rPr lang="zh-CN" sz="1800" b="1" dirty="0">
                  <a:solidFill>
                    <a:srgbClr val="C9462F"/>
                  </a:solidFill>
                  <a:latin typeface="+mn-lt"/>
                  <a:ea typeface="+mn-ea"/>
                  <a:cs typeface="+mn-cs"/>
                </a:rPr>
                <a:t>3.6</a:t>
              </a:r>
              <a:r>
                <a:rPr lang="zh-CN" sz="900" b="1" dirty="0">
                  <a:solidFill>
                    <a:srgbClr val="C9462F"/>
                  </a:solidFill>
                  <a:latin typeface="+mn-lt"/>
                  <a:ea typeface="+mn-ea"/>
                  <a:cs typeface="+mn-cs"/>
                </a:rPr>
                <a:t>亿元</a:t>
              </a:r>
              <a:r>
                <a:rPr lang="zh-CN" sz="1800" b="1" dirty="0">
                  <a:solidFill>
                    <a:srgbClr val="C9462F"/>
                  </a:solidFill>
                  <a:latin typeface="+mn-lt"/>
                  <a:ea typeface="+mn-ea"/>
                  <a:cs typeface="+mn-cs"/>
                </a:rPr>
                <a:t>​​</a:t>
              </a:r>
            </a:p>
          </p:txBody>
        </p:sp>
        <p:sp>
          <p:nvSpPr>
            <p:cNvPr id="215" name="Rectangle 215"/>
            <p:cNvSpPr/>
            <p:nvPr/>
          </p:nvSpPr>
          <p:spPr>
            <a:xfrm>
              <a:off x="10972800" y="6096000"/>
              <a:ext cx="457200" cy="28575"/>
            </a:xfrm>
            <a:prstGeom prst="rect">
              <a:avLst/>
            </a:prstGeom>
            <a:solidFill>
              <a:srgbClr val="C9462F"/>
            </a:solidFill>
            <a:ln>
              <a:noFill/>
            </a:ln>
          </p:spPr>
        </p:sp>
      </p:gr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07</a:t>
              </a:r>
            </a:p>
          </p:txBody>
        </p:sp>
        <p:sp>
          <p:nvSpPr>
            <p:cNvPr id="4" name="TextBox 4"/>
            <p:cNvSpPr txBox="1"/>
            <p:nvPr/>
          </p:nvSpPr>
          <p:spPr>
            <a:xfrm>
              <a:off x="904494" y="170498"/>
              <a:ext cx="6676644"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代发经营｜把代发工资从结算产品升级为员工金融入口</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123" name="journey"/>
          <p:cNvGrpSpPr/>
          <p:nvPr/>
        </p:nvGrpSpPr>
        <p:grpSpPr>
          <a:xfrm>
            <a:off x="381000" y="704850"/>
            <a:ext cx="11430000" cy="2019300"/>
            <a:chOff x="381000" y="704850"/>
            <a:chExt cx="11430000" cy="2019300"/>
          </a:xfrm>
        </p:grpSpPr>
        <p:sp>
          <p:nvSpPr>
            <p:cNvPr id="7" name="Freeform 7"/>
            <p:cNvSpPr/>
            <p:nvPr/>
          </p:nvSpPr>
          <p:spPr>
            <a:xfrm>
              <a:off x="381000" y="704850"/>
              <a:ext cx="2190750" cy="419100"/>
            </a:xfrm>
            <a:prstGeom prst="homePlate">
              <a:avLst>
                <a:gd name="adj" fmla="val 35000"/>
              </a:avLst>
            </a:prstGeom>
            <a:solidFill>
              <a:srgbClr val="67281B"/>
            </a:solidFill>
            <a:ln>
              <a:noFill/>
            </a:ln>
          </p:spPr>
        </p:sp>
        <p:sp>
          <p:nvSpPr>
            <p:cNvPr id="8" name="Freeform 8"/>
            <p:cNvSpPr/>
            <p:nvPr/>
          </p:nvSpPr>
          <p:spPr>
            <a:xfrm>
              <a:off x="2690812" y="704850"/>
              <a:ext cx="2190750" cy="419100"/>
            </a:xfrm>
            <a:prstGeom prst="homePlate">
              <a:avLst>
                <a:gd name="adj" fmla="val 35000"/>
              </a:avLst>
            </a:prstGeom>
            <a:solidFill>
              <a:srgbClr val="A8351D"/>
            </a:solidFill>
            <a:ln>
              <a:noFill/>
            </a:ln>
          </p:spPr>
        </p:sp>
        <p:sp>
          <p:nvSpPr>
            <p:cNvPr id="9" name="Freeform 9"/>
            <p:cNvSpPr/>
            <p:nvPr/>
          </p:nvSpPr>
          <p:spPr>
            <a:xfrm>
              <a:off x="5000625" y="704850"/>
              <a:ext cx="2190750" cy="419100"/>
            </a:xfrm>
            <a:prstGeom prst="homePlate">
              <a:avLst>
                <a:gd name="adj" fmla="val 35000"/>
              </a:avLst>
            </a:prstGeom>
            <a:solidFill>
              <a:srgbClr val="D64A2E"/>
            </a:solidFill>
            <a:ln>
              <a:noFill/>
            </a:ln>
          </p:spPr>
        </p:sp>
        <p:sp>
          <p:nvSpPr>
            <p:cNvPr id="10" name="Freeform 10"/>
            <p:cNvSpPr/>
            <p:nvPr/>
          </p:nvSpPr>
          <p:spPr>
            <a:xfrm>
              <a:off x="7310438" y="704850"/>
              <a:ext cx="2190750" cy="419100"/>
            </a:xfrm>
            <a:prstGeom prst="homePlate">
              <a:avLst>
                <a:gd name="adj" fmla="val 35000"/>
              </a:avLst>
            </a:prstGeom>
            <a:solidFill>
              <a:srgbClr val="A8321B"/>
            </a:solidFill>
            <a:ln>
              <a:noFill/>
            </a:ln>
          </p:spPr>
        </p:sp>
        <p:sp>
          <p:nvSpPr>
            <p:cNvPr id="11" name="Freeform 11"/>
            <p:cNvSpPr/>
            <p:nvPr/>
          </p:nvSpPr>
          <p:spPr>
            <a:xfrm>
              <a:off x="9620250" y="704850"/>
              <a:ext cx="2190750" cy="419100"/>
            </a:xfrm>
            <a:prstGeom prst="homePlate">
              <a:avLst>
                <a:gd name="adj" fmla="val 35000"/>
              </a:avLst>
            </a:prstGeom>
            <a:solidFill>
              <a:srgbClr val="A5280F"/>
            </a:solidFill>
            <a:ln>
              <a:noFill/>
            </a:ln>
          </p:spPr>
        </p:sp>
        <p:sp>
          <p:nvSpPr>
            <p:cNvPr id="12" name="Ellipse 12"/>
            <p:cNvSpPr/>
            <p:nvPr/>
          </p:nvSpPr>
          <p:spPr>
            <a:xfrm>
              <a:off x="457200" y="762000"/>
              <a:ext cx="304800" cy="304800"/>
            </a:xfrm>
            <a:prstGeom prst="ellipse">
              <a:avLst/>
            </a:prstGeom>
            <a:solidFill>
              <a:srgbClr val="FFFFFF"/>
            </a:solidFill>
            <a:ln>
              <a:noFill/>
            </a:ln>
          </p:spPr>
        </p:sp>
        <p:grpSp>
          <p:nvGrpSpPr>
            <p:cNvPr id="18" name="Group 18"/>
            <p:cNvGrpSpPr/>
            <p:nvPr/>
          </p:nvGrpSpPr>
          <p:grpSpPr>
            <a:xfrm>
              <a:off x="554037" y="842962"/>
              <a:ext cx="111125" cy="142875"/>
              <a:chOff x="554037" y="842962"/>
              <a:chExt cx="111125" cy="142875"/>
            </a:xfrm>
          </p:grpSpPr>
          <p:sp>
            <p:nvSpPr>
              <p:cNvPr id="13" name="Freeform 13"/>
              <p:cNvSpPr/>
              <p:nvPr/>
            </p:nvSpPr>
            <p:spPr>
              <a:xfrm>
                <a:off x="625475" y="8429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67281B"/>
                </a:solidFill>
              </a:ln>
            </p:spPr>
          </p:sp>
          <p:sp>
            <p:nvSpPr>
              <p:cNvPr id="14" name="Freeform 14"/>
              <p:cNvSpPr/>
              <p:nvPr/>
            </p:nvSpPr>
            <p:spPr>
              <a:xfrm>
                <a:off x="554037" y="8429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67281B"/>
                </a:solidFill>
              </a:ln>
            </p:spPr>
          </p:sp>
          <p:sp>
            <p:nvSpPr>
              <p:cNvPr id="15" name="Freeform 15"/>
              <p:cNvSpPr/>
              <p:nvPr/>
            </p:nvSpPr>
            <p:spPr>
              <a:xfrm>
                <a:off x="585787" y="890587"/>
                <a:ext cx="9525" cy="9525"/>
              </a:xfrm>
              <a:custGeom>
                <a:avLst/>
                <a:gdLst/>
                <a:ahLst/>
                <a:cxnLst/>
                <a:rect l="l" t="t" r="r" b="b"/>
                <a:pathLst>
                  <a:path w="9525" h="9525">
                    <a:moveTo>
                      <a:pt x="0" y="0"/>
                    </a:moveTo>
                    <a:lnTo>
                      <a:pt x="7937" y="0"/>
                    </a:lnTo>
                  </a:path>
                </a:pathLst>
              </a:custGeom>
              <a:noFill/>
              <a:ln w="15875">
                <a:solidFill>
                  <a:srgbClr val="67281B"/>
                </a:solidFill>
              </a:ln>
            </p:spPr>
          </p:sp>
          <p:sp>
            <p:nvSpPr>
              <p:cNvPr id="16" name="Freeform 16"/>
              <p:cNvSpPr/>
              <p:nvPr/>
            </p:nvSpPr>
            <p:spPr>
              <a:xfrm>
                <a:off x="585787" y="922337"/>
                <a:ext cx="47625" cy="9525"/>
              </a:xfrm>
              <a:custGeom>
                <a:avLst/>
                <a:gdLst/>
                <a:ahLst/>
                <a:cxnLst/>
                <a:rect l="l" t="t" r="r" b="b"/>
                <a:pathLst>
                  <a:path w="47625" h="9525">
                    <a:moveTo>
                      <a:pt x="0" y="0"/>
                    </a:moveTo>
                    <a:lnTo>
                      <a:pt x="47625" y="0"/>
                    </a:lnTo>
                  </a:path>
                </a:pathLst>
              </a:custGeom>
              <a:noFill/>
              <a:ln w="15875">
                <a:solidFill>
                  <a:srgbClr val="67281B"/>
                </a:solidFill>
              </a:ln>
            </p:spPr>
          </p:sp>
          <p:sp>
            <p:nvSpPr>
              <p:cNvPr id="17" name="Freeform 17"/>
              <p:cNvSpPr/>
              <p:nvPr/>
            </p:nvSpPr>
            <p:spPr>
              <a:xfrm>
                <a:off x="585787" y="954087"/>
                <a:ext cx="47625" cy="9525"/>
              </a:xfrm>
              <a:custGeom>
                <a:avLst/>
                <a:gdLst/>
                <a:ahLst/>
                <a:cxnLst/>
                <a:rect l="l" t="t" r="r" b="b"/>
                <a:pathLst>
                  <a:path w="47625" h="9525">
                    <a:moveTo>
                      <a:pt x="0" y="0"/>
                    </a:moveTo>
                    <a:lnTo>
                      <a:pt x="47625" y="0"/>
                    </a:lnTo>
                  </a:path>
                </a:pathLst>
              </a:custGeom>
              <a:noFill/>
              <a:ln w="15875">
                <a:solidFill>
                  <a:srgbClr val="67281B"/>
                </a:solidFill>
              </a:ln>
            </p:spPr>
          </p:sp>
        </p:grpSp>
        <p:sp>
          <p:nvSpPr>
            <p:cNvPr id="19" name="TextBox 19"/>
            <p:cNvSpPr txBox="1"/>
            <p:nvPr/>
          </p:nvSpPr>
          <p:spPr>
            <a:xfrm>
              <a:off x="852488" y="779145"/>
              <a:ext cx="1038225" cy="328612"/>
            </a:xfrm>
            <a:prstGeom prst="rect">
              <a:avLst/>
            </a:prstGeom>
            <a:noFill/>
            <a:ln>
              <a:noFill/>
            </a:ln>
          </p:spPr>
          <p:txBody>
            <a:bodyPr wrap="none" lIns="0" tIns="0" rIns="0" bIns="0" anchor="t" anchorCtr="0">
              <a:spAutoFit/>
            </a:bodyPr>
            <a:lstStyle/>
            <a:p>
              <a:pPr algn="l">
                <a:lnSpc>
                  <a:spcPts val="1200"/>
                </a:lnSpc>
              </a:pPr>
              <a:r>
                <a:rPr lang="zh-CN" sz="900" b="1" dirty="0">
                  <a:solidFill>
                    <a:srgbClr val="FFFFFF"/>
                  </a:solidFill>
                  <a:latin typeface="+mn-lt"/>
                  <a:ea typeface="+mn-ea"/>
                  <a:cs typeface="+mn-cs"/>
                </a:rPr>
                <a:t>签约前期</a:t>
              </a:r>
              <a:br/>
              <a:r>
                <a:rPr lang="zh-CN" sz="900" b="1" dirty="0">
                  <a:solidFill>
                    <a:srgbClr val="FFFFFF"/>
                  </a:solidFill>
                  <a:latin typeface="+mn-lt"/>
                  <a:ea typeface="+mn-ea"/>
                  <a:cs typeface="+mn-cs"/>
                </a:rPr>
                <a:t>价值测算与方案设计</a:t>
              </a:r>
            </a:p>
          </p:txBody>
        </p:sp>
        <p:sp>
          <p:nvSpPr>
            <p:cNvPr id="20" name="Ellipse 20"/>
            <p:cNvSpPr/>
            <p:nvPr/>
          </p:nvSpPr>
          <p:spPr>
            <a:xfrm>
              <a:off x="2767012" y="762000"/>
              <a:ext cx="304800" cy="304800"/>
            </a:xfrm>
            <a:prstGeom prst="ellipse">
              <a:avLst/>
            </a:prstGeom>
            <a:solidFill>
              <a:srgbClr val="FFFFFF"/>
            </a:solidFill>
            <a:ln>
              <a:noFill/>
            </a:ln>
          </p:spPr>
        </p:sp>
        <p:grpSp>
          <p:nvGrpSpPr>
            <p:cNvPr id="25" name="Group 25"/>
            <p:cNvGrpSpPr/>
            <p:nvPr/>
          </p:nvGrpSpPr>
          <p:grpSpPr>
            <a:xfrm>
              <a:off x="2847975" y="858837"/>
              <a:ext cx="142875" cy="111125"/>
              <a:chOff x="2847975" y="858837"/>
              <a:chExt cx="142875" cy="111125"/>
            </a:xfrm>
          </p:grpSpPr>
          <p:sp>
            <p:nvSpPr>
              <p:cNvPr id="21" name="Freeform 21"/>
              <p:cNvSpPr/>
              <p:nvPr/>
            </p:nvSpPr>
            <p:spPr>
              <a:xfrm>
                <a:off x="2847975" y="85883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A8351D"/>
                </a:solidFill>
              </a:ln>
            </p:spPr>
          </p:sp>
          <p:sp>
            <p:nvSpPr>
              <p:cNvPr id="22" name="Freeform 22"/>
              <p:cNvSpPr/>
              <p:nvPr/>
            </p:nvSpPr>
            <p:spPr>
              <a:xfrm>
                <a:off x="2847975" y="898525"/>
                <a:ext cx="142875" cy="9525"/>
              </a:xfrm>
              <a:custGeom>
                <a:avLst/>
                <a:gdLst/>
                <a:ahLst/>
                <a:cxnLst/>
                <a:rect l="l" t="t" r="r" b="b"/>
                <a:pathLst>
                  <a:path w="142875" h="9525">
                    <a:moveTo>
                      <a:pt x="0" y="0"/>
                    </a:moveTo>
                    <a:lnTo>
                      <a:pt x="142875" y="0"/>
                    </a:lnTo>
                  </a:path>
                </a:pathLst>
              </a:custGeom>
              <a:noFill/>
              <a:ln w="15875">
                <a:solidFill>
                  <a:srgbClr val="A8351D"/>
                </a:solidFill>
              </a:ln>
            </p:spPr>
          </p:sp>
          <p:sp>
            <p:nvSpPr>
              <p:cNvPr id="23" name="Freeform 23"/>
              <p:cNvSpPr/>
              <p:nvPr/>
            </p:nvSpPr>
            <p:spPr>
              <a:xfrm>
                <a:off x="2879725" y="938212"/>
                <a:ext cx="9525" cy="9525"/>
              </a:xfrm>
              <a:custGeom>
                <a:avLst/>
                <a:gdLst/>
                <a:ahLst/>
                <a:cxnLst/>
                <a:rect l="l" t="t" r="r" b="b"/>
                <a:pathLst>
                  <a:path w="9525" h="9525">
                    <a:moveTo>
                      <a:pt x="0" y="0"/>
                    </a:moveTo>
                    <a:lnTo>
                      <a:pt x="79" y="0"/>
                    </a:lnTo>
                  </a:path>
                </a:pathLst>
              </a:custGeom>
              <a:noFill/>
              <a:ln w="15875">
                <a:solidFill>
                  <a:srgbClr val="A8351D"/>
                </a:solidFill>
              </a:ln>
            </p:spPr>
          </p:sp>
          <p:sp>
            <p:nvSpPr>
              <p:cNvPr id="24" name="Freeform 24"/>
              <p:cNvSpPr/>
              <p:nvPr/>
            </p:nvSpPr>
            <p:spPr>
              <a:xfrm>
                <a:off x="2911475" y="938212"/>
                <a:ext cx="15875" cy="9525"/>
              </a:xfrm>
              <a:custGeom>
                <a:avLst/>
                <a:gdLst/>
                <a:ahLst/>
                <a:cxnLst/>
                <a:rect l="l" t="t" r="r" b="b"/>
                <a:pathLst>
                  <a:path w="15875" h="9525">
                    <a:moveTo>
                      <a:pt x="0" y="0"/>
                    </a:moveTo>
                    <a:lnTo>
                      <a:pt x="15875" y="0"/>
                    </a:lnTo>
                  </a:path>
                </a:pathLst>
              </a:custGeom>
              <a:noFill/>
              <a:ln w="15875">
                <a:solidFill>
                  <a:srgbClr val="A8351D"/>
                </a:solidFill>
              </a:ln>
            </p:spPr>
          </p:sp>
        </p:grpSp>
        <p:sp>
          <p:nvSpPr>
            <p:cNvPr id="26" name="TextBox 26"/>
            <p:cNvSpPr txBox="1"/>
            <p:nvPr/>
          </p:nvSpPr>
          <p:spPr>
            <a:xfrm>
              <a:off x="3162300" y="779145"/>
              <a:ext cx="1038225" cy="328612"/>
            </a:xfrm>
            <a:prstGeom prst="rect">
              <a:avLst/>
            </a:prstGeom>
            <a:noFill/>
            <a:ln>
              <a:noFill/>
            </a:ln>
          </p:spPr>
          <p:txBody>
            <a:bodyPr wrap="none" lIns="0" tIns="0" rIns="0" bIns="0" anchor="t" anchorCtr="0">
              <a:spAutoFit/>
            </a:bodyPr>
            <a:lstStyle/>
            <a:p>
              <a:pPr algn="l">
                <a:lnSpc>
                  <a:spcPts val="1200"/>
                </a:lnSpc>
              </a:pPr>
              <a:r>
                <a:rPr lang="zh-CN" sz="900" b="1" dirty="0">
                  <a:solidFill>
                    <a:srgbClr val="FFFFFF"/>
                  </a:solidFill>
                  <a:latin typeface="+mn-lt"/>
                  <a:ea typeface="+mn-ea"/>
                  <a:cs typeface="+mn-cs"/>
                </a:rPr>
                <a:t>上线期</a:t>
              </a:r>
              <a:br/>
              <a:r>
                <a:rPr lang="zh-CN" sz="900" b="1" dirty="0">
                  <a:solidFill>
                    <a:srgbClr val="FFFFFF"/>
                  </a:solidFill>
                  <a:latin typeface="+mn-lt"/>
                  <a:ea typeface="+mn-ea"/>
                  <a:cs typeface="+mn-cs"/>
                </a:rPr>
                <a:t>批量开卡与数字激活</a:t>
              </a:r>
            </a:p>
          </p:txBody>
        </p:sp>
        <p:sp>
          <p:nvSpPr>
            <p:cNvPr id="27" name="Ellipse 27"/>
            <p:cNvSpPr/>
            <p:nvPr/>
          </p:nvSpPr>
          <p:spPr>
            <a:xfrm>
              <a:off x="5076825" y="762000"/>
              <a:ext cx="304800" cy="304800"/>
            </a:xfrm>
            <a:prstGeom prst="ellipse">
              <a:avLst/>
            </a:prstGeom>
            <a:solidFill>
              <a:srgbClr val="FFFFFF"/>
            </a:solidFill>
            <a:ln>
              <a:noFill/>
            </a:ln>
          </p:spPr>
        </p:sp>
        <p:grpSp>
          <p:nvGrpSpPr>
            <p:cNvPr id="31" name="Group 31"/>
            <p:cNvGrpSpPr/>
            <p:nvPr/>
          </p:nvGrpSpPr>
          <p:grpSpPr>
            <a:xfrm>
              <a:off x="5181600" y="842962"/>
              <a:ext cx="95250" cy="142875"/>
              <a:chOff x="5181600" y="842962"/>
              <a:chExt cx="95250" cy="142875"/>
            </a:xfrm>
          </p:grpSpPr>
          <p:sp>
            <p:nvSpPr>
              <p:cNvPr id="28" name="Freeform 28"/>
              <p:cNvSpPr/>
              <p:nvPr/>
            </p:nvSpPr>
            <p:spPr>
              <a:xfrm>
                <a:off x="5181600" y="84296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D64A2E"/>
                </a:solidFill>
              </a:ln>
            </p:spPr>
          </p:sp>
          <p:sp>
            <p:nvSpPr>
              <p:cNvPr id="29" name="Freeform 29"/>
              <p:cNvSpPr/>
              <p:nvPr/>
            </p:nvSpPr>
            <p:spPr>
              <a:xfrm>
                <a:off x="5221287" y="850900"/>
                <a:ext cx="15875" cy="9525"/>
              </a:xfrm>
              <a:custGeom>
                <a:avLst/>
                <a:gdLst/>
                <a:ahLst/>
                <a:cxnLst/>
                <a:rect l="l" t="t" r="r" b="b"/>
                <a:pathLst>
                  <a:path w="15875" h="9525">
                    <a:moveTo>
                      <a:pt x="0" y="0"/>
                    </a:moveTo>
                    <a:lnTo>
                      <a:pt x="15875" y="0"/>
                    </a:lnTo>
                  </a:path>
                </a:pathLst>
              </a:custGeom>
              <a:noFill/>
              <a:ln w="15875">
                <a:solidFill>
                  <a:srgbClr val="D64A2E"/>
                </a:solidFill>
              </a:ln>
            </p:spPr>
          </p:sp>
          <p:sp>
            <p:nvSpPr>
              <p:cNvPr id="30" name="Freeform 30"/>
              <p:cNvSpPr/>
              <p:nvPr/>
            </p:nvSpPr>
            <p:spPr>
              <a:xfrm>
                <a:off x="5229225" y="954087"/>
                <a:ext cx="9525" cy="9525"/>
              </a:xfrm>
              <a:custGeom>
                <a:avLst/>
                <a:gdLst/>
                <a:ahLst/>
                <a:cxnLst/>
                <a:rect l="l" t="t" r="r" b="b"/>
                <a:pathLst>
                  <a:path w="9525" h="9525">
                    <a:moveTo>
                      <a:pt x="0" y="0"/>
                    </a:moveTo>
                    <a:lnTo>
                      <a:pt x="0" y="79"/>
                    </a:lnTo>
                  </a:path>
                </a:pathLst>
              </a:custGeom>
              <a:noFill/>
              <a:ln w="15875">
                <a:solidFill>
                  <a:srgbClr val="D64A2E"/>
                </a:solidFill>
              </a:ln>
            </p:spPr>
          </p:sp>
        </p:grpSp>
        <p:sp>
          <p:nvSpPr>
            <p:cNvPr id="32" name="TextBox 32"/>
            <p:cNvSpPr txBox="1"/>
            <p:nvPr/>
          </p:nvSpPr>
          <p:spPr>
            <a:xfrm>
              <a:off x="5472112" y="779145"/>
              <a:ext cx="1038225" cy="328612"/>
            </a:xfrm>
            <a:prstGeom prst="rect">
              <a:avLst/>
            </a:prstGeom>
            <a:noFill/>
            <a:ln>
              <a:noFill/>
            </a:ln>
          </p:spPr>
          <p:txBody>
            <a:bodyPr wrap="none" lIns="0" tIns="0" rIns="0" bIns="0" anchor="t" anchorCtr="0">
              <a:spAutoFit/>
            </a:bodyPr>
            <a:lstStyle/>
            <a:p>
              <a:pPr algn="l">
                <a:lnSpc>
                  <a:spcPts val="1200"/>
                </a:lnSpc>
              </a:pPr>
              <a:r>
                <a:rPr lang="zh-CN" sz="900" b="1" dirty="0">
                  <a:solidFill>
                    <a:srgbClr val="FFFFFF"/>
                  </a:solidFill>
                  <a:latin typeface="+mn-lt"/>
                  <a:ea typeface="+mn-ea"/>
                  <a:cs typeface="+mn-cs"/>
                </a:rPr>
                <a:t>活跃期</a:t>
              </a:r>
              <a:br/>
              <a:r>
                <a:rPr lang="zh-CN" sz="900" b="1" dirty="0">
                  <a:solidFill>
                    <a:srgbClr val="FFFFFF"/>
                  </a:solidFill>
                  <a:latin typeface="+mn-lt"/>
                  <a:ea typeface="+mn-ea"/>
                  <a:cs typeface="+mn-cs"/>
                </a:rPr>
                <a:t>支付、信用卡、消费</a:t>
              </a:r>
            </a:p>
          </p:txBody>
        </p:sp>
        <p:sp>
          <p:nvSpPr>
            <p:cNvPr id="33" name="Ellipse 33"/>
            <p:cNvSpPr/>
            <p:nvPr/>
          </p:nvSpPr>
          <p:spPr>
            <a:xfrm>
              <a:off x="7386638" y="762000"/>
              <a:ext cx="304800" cy="304800"/>
            </a:xfrm>
            <a:prstGeom prst="ellipse">
              <a:avLst/>
            </a:prstGeom>
            <a:solidFill>
              <a:srgbClr val="FFFFFF"/>
            </a:solidFill>
            <a:ln>
              <a:noFill/>
            </a:ln>
          </p:spPr>
        </p:sp>
        <p:grpSp>
          <p:nvGrpSpPr>
            <p:cNvPr id="36" name="Group 36"/>
            <p:cNvGrpSpPr/>
            <p:nvPr/>
          </p:nvGrpSpPr>
          <p:grpSpPr>
            <a:xfrm>
              <a:off x="7475537" y="866775"/>
              <a:ext cx="127000" cy="112712"/>
              <a:chOff x="7475537" y="866775"/>
              <a:chExt cx="127000" cy="112712"/>
            </a:xfrm>
          </p:grpSpPr>
          <p:sp>
            <p:nvSpPr>
              <p:cNvPr id="34" name="Freeform 34"/>
              <p:cNvSpPr/>
              <p:nvPr/>
            </p:nvSpPr>
            <p:spPr>
              <a:xfrm>
                <a:off x="7475537" y="969962"/>
                <a:ext cx="127000" cy="9525"/>
              </a:xfrm>
              <a:custGeom>
                <a:avLst/>
                <a:gdLst/>
                <a:ahLst/>
                <a:cxnLst/>
                <a:rect l="l" t="t" r="r" b="b"/>
                <a:pathLst>
                  <a:path w="127000" h="9525">
                    <a:moveTo>
                      <a:pt x="0" y="0"/>
                    </a:moveTo>
                    <a:lnTo>
                      <a:pt x="127000" y="0"/>
                    </a:lnTo>
                  </a:path>
                </a:pathLst>
              </a:custGeom>
              <a:noFill/>
              <a:ln w="15875">
                <a:solidFill>
                  <a:srgbClr val="A8321B"/>
                </a:solidFill>
              </a:ln>
            </p:spPr>
          </p:sp>
          <p:sp>
            <p:nvSpPr>
              <p:cNvPr id="35" name="Freeform 35"/>
              <p:cNvSpPr/>
              <p:nvPr/>
            </p:nvSpPr>
            <p:spPr>
              <a:xfrm>
                <a:off x="7475537" y="86677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A8321B"/>
                </a:solidFill>
              </a:ln>
            </p:spPr>
          </p:sp>
        </p:grpSp>
        <p:sp>
          <p:nvSpPr>
            <p:cNvPr id="37" name="TextBox 37"/>
            <p:cNvSpPr txBox="1"/>
            <p:nvPr/>
          </p:nvSpPr>
          <p:spPr>
            <a:xfrm>
              <a:off x="7781925" y="779145"/>
              <a:ext cx="1038225" cy="328612"/>
            </a:xfrm>
            <a:prstGeom prst="rect">
              <a:avLst/>
            </a:prstGeom>
            <a:noFill/>
            <a:ln>
              <a:noFill/>
            </a:ln>
          </p:spPr>
          <p:txBody>
            <a:bodyPr wrap="none" lIns="0" tIns="0" rIns="0" bIns="0" anchor="t" anchorCtr="0">
              <a:spAutoFit/>
            </a:bodyPr>
            <a:lstStyle/>
            <a:p>
              <a:pPr algn="l">
                <a:lnSpc>
                  <a:spcPts val="1200"/>
                </a:lnSpc>
              </a:pPr>
              <a:r>
                <a:rPr lang="zh-CN" sz="900" b="1" dirty="0">
                  <a:solidFill>
                    <a:srgbClr val="FFFFFF"/>
                  </a:solidFill>
                  <a:latin typeface="+mn-lt"/>
                  <a:ea typeface="+mn-ea"/>
                  <a:cs typeface="+mn-cs"/>
                </a:rPr>
                <a:t>价值期</a:t>
              </a:r>
              <a:br/>
              <a:r>
                <a:rPr lang="zh-CN" sz="900" b="1" dirty="0">
                  <a:solidFill>
                    <a:srgbClr val="FFFFFF"/>
                  </a:solidFill>
                  <a:latin typeface="+mn-lt"/>
                  <a:ea typeface="+mn-ea"/>
                  <a:cs typeface="+mn-cs"/>
                </a:rPr>
                <a:t>理财、保险、养老金</a:t>
              </a:r>
            </a:p>
          </p:txBody>
        </p:sp>
        <p:sp>
          <p:nvSpPr>
            <p:cNvPr id="38" name="Ellipse 38"/>
            <p:cNvSpPr/>
            <p:nvPr/>
          </p:nvSpPr>
          <p:spPr>
            <a:xfrm>
              <a:off x="9696450" y="762000"/>
              <a:ext cx="304800" cy="304800"/>
            </a:xfrm>
            <a:prstGeom prst="ellipse">
              <a:avLst/>
            </a:prstGeom>
            <a:solidFill>
              <a:srgbClr val="FFFFFF"/>
            </a:solidFill>
            <a:ln>
              <a:noFill/>
            </a:ln>
          </p:spPr>
        </p:sp>
        <p:grpSp>
          <p:nvGrpSpPr>
            <p:cNvPr id="41" name="Group 41"/>
            <p:cNvGrpSpPr/>
            <p:nvPr/>
          </p:nvGrpSpPr>
          <p:grpSpPr>
            <a:xfrm>
              <a:off x="9785350" y="842962"/>
              <a:ext cx="127000" cy="142875"/>
              <a:chOff x="9785350" y="842962"/>
              <a:chExt cx="127000" cy="142875"/>
            </a:xfrm>
          </p:grpSpPr>
          <p:sp>
            <p:nvSpPr>
              <p:cNvPr id="39" name="Freeform 39"/>
              <p:cNvSpPr/>
              <p:nvPr/>
            </p:nvSpPr>
            <p:spPr>
              <a:xfrm>
                <a:off x="9785350" y="842962"/>
                <a:ext cx="127000" cy="111125"/>
              </a:xfrm>
              <a:custGeom>
                <a:avLst/>
                <a:gdLst/>
                <a:ahLst/>
                <a:cxnLst/>
                <a:rect l="l" t="t" r="r" b="b"/>
                <a:pathLst>
                  <a:path w="127000" h="111125">
                    <a:moveTo>
                      <a:pt x="47625" y="15875"/>
                    </a:moveTo>
                    <a:cubicBezTo>
                      <a:pt x="47625" y="7107"/>
                      <a:pt x="54732" y="0"/>
                      <a:pt x="63500" y="0"/>
                    </a:cubicBezTo>
                    <a:cubicBezTo>
                      <a:pt x="72267" y="0"/>
                      <a:pt x="79375" y="7107"/>
                      <a:pt x="79375" y="15875"/>
                    </a:cubicBezTo>
                    <a:cubicBezTo>
                      <a:pt x="97950" y="24658"/>
                      <a:pt x="110162" y="42976"/>
                      <a:pt x="111125" y="63500"/>
                    </a:cubicBezTo>
                    <a:lnTo>
                      <a:pt x="111125" y="87312"/>
                    </a:lnTo>
                    <a:cubicBezTo>
                      <a:pt x="112336" y="97320"/>
                      <a:pt x="118228" y="106158"/>
                      <a:pt x="127000" y="111125"/>
                    </a:cubicBezTo>
                    <a:lnTo>
                      <a:pt x="0" y="111125"/>
                    </a:lnTo>
                    <a:cubicBezTo>
                      <a:pt x="8772" y="106158"/>
                      <a:pt x="14664" y="97320"/>
                      <a:pt x="15875" y="87312"/>
                    </a:cubicBezTo>
                    <a:lnTo>
                      <a:pt x="15875" y="63500"/>
                    </a:lnTo>
                    <a:cubicBezTo>
                      <a:pt x="16838" y="42976"/>
                      <a:pt x="29050" y="24658"/>
                      <a:pt x="47625" y="15875"/>
                    </a:cubicBezTo>
                  </a:path>
                </a:pathLst>
              </a:custGeom>
              <a:noFill/>
              <a:ln w="15875">
                <a:solidFill>
                  <a:srgbClr val="A5280F"/>
                </a:solidFill>
              </a:ln>
            </p:spPr>
          </p:sp>
          <p:sp>
            <p:nvSpPr>
              <p:cNvPr id="40" name="Freeform 40"/>
              <p:cNvSpPr/>
              <p:nvPr/>
            </p:nvSpPr>
            <p:spPr>
              <a:xfrm>
                <a:off x="9825037" y="954087"/>
                <a:ext cx="47625" cy="31750"/>
              </a:xfrm>
              <a:custGeom>
                <a:avLst/>
                <a:gdLst/>
                <a:ahLst/>
                <a:cxnLst/>
                <a:rect l="l" t="t" r="r" b="b"/>
                <a:pathLst>
                  <a:path w="47625" h="31750">
                    <a:moveTo>
                      <a:pt x="0" y="0"/>
                    </a:moveTo>
                    <a:lnTo>
                      <a:pt x="0" y="7937"/>
                    </a:lnTo>
                    <a:cubicBezTo>
                      <a:pt x="0" y="21089"/>
                      <a:pt x="10661" y="31750"/>
                      <a:pt x="23812" y="31750"/>
                    </a:cubicBezTo>
                    <a:cubicBezTo>
                      <a:pt x="36964" y="31750"/>
                      <a:pt x="47625" y="21089"/>
                      <a:pt x="47625" y="7937"/>
                    </a:cubicBezTo>
                    <a:lnTo>
                      <a:pt x="47625" y="0"/>
                    </a:lnTo>
                  </a:path>
                </a:pathLst>
              </a:custGeom>
              <a:noFill/>
              <a:ln w="15875">
                <a:solidFill>
                  <a:srgbClr val="A5280F"/>
                </a:solidFill>
              </a:ln>
            </p:spPr>
          </p:sp>
        </p:grpSp>
        <p:sp>
          <p:nvSpPr>
            <p:cNvPr id="42" name="TextBox 42"/>
            <p:cNvSpPr txBox="1"/>
            <p:nvPr/>
          </p:nvSpPr>
          <p:spPr>
            <a:xfrm>
              <a:off x="10091738" y="779145"/>
              <a:ext cx="1038225" cy="328612"/>
            </a:xfrm>
            <a:prstGeom prst="rect">
              <a:avLst/>
            </a:prstGeom>
            <a:noFill/>
            <a:ln>
              <a:noFill/>
            </a:ln>
          </p:spPr>
          <p:txBody>
            <a:bodyPr wrap="none" lIns="0" tIns="0" rIns="0" bIns="0" anchor="t" anchorCtr="0">
              <a:spAutoFit/>
            </a:bodyPr>
            <a:lstStyle/>
            <a:p>
              <a:pPr algn="l">
                <a:lnSpc>
                  <a:spcPts val="1200"/>
                </a:lnSpc>
              </a:pPr>
              <a:r>
                <a:rPr lang="zh-CN" sz="900" b="1" dirty="0">
                  <a:solidFill>
                    <a:srgbClr val="FFFFFF"/>
                  </a:solidFill>
                  <a:latin typeface="+mn-lt"/>
                  <a:ea typeface="+mn-ea"/>
                  <a:cs typeface="+mn-cs"/>
                </a:rPr>
                <a:t>留存期</a:t>
              </a:r>
              <a:br/>
              <a:r>
                <a:rPr lang="zh-CN" sz="900" b="1" dirty="0">
                  <a:solidFill>
                    <a:srgbClr val="FFFFFF"/>
                  </a:solidFill>
                  <a:latin typeface="+mn-lt"/>
                  <a:ea typeface="+mn-ea"/>
                  <a:cs typeface="+mn-cs"/>
                </a:rPr>
                <a:t>权益运营与流失预警</a:t>
              </a:r>
            </a:p>
          </p:txBody>
        </p:sp>
        <p:sp>
          <p:nvSpPr>
            <p:cNvPr id="43" name="Rectangle 43"/>
            <p:cNvSpPr/>
            <p:nvPr/>
          </p:nvSpPr>
          <p:spPr>
            <a:xfrm>
              <a:off x="381000" y="1200150"/>
              <a:ext cx="2190750" cy="1524000"/>
            </a:xfrm>
            <a:prstGeom prst="roundRect">
              <a:avLst>
                <a:gd name="adj" fmla="val 5000"/>
              </a:avLst>
            </a:prstGeom>
            <a:solidFill>
              <a:srgbClr val="F7FAFE"/>
            </a:solidFill>
            <a:ln w="9525">
              <a:solidFill>
                <a:srgbClr val="C9D8EF"/>
              </a:solidFill>
            </a:ln>
          </p:spPr>
        </p:sp>
        <p:grpSp>
          <p:nvGrpSpPr>
            <p:cNvPr id="48" name="Group 48"/>
            <p:cNvGrpSpPr/>
            <p:nvPr/>
          </p:nvGrpSpPr>
          <p:grpSpPr>
            <a:xfrm>
              <a:off x="554831" y="1412081"/>
              <a:ext cx="128588" cy="128588"/>
              <a:chOff x="554831" y="1412081"/>
              <a:chExt cx="128588" cy="128588"/>
            </a:xfrm>
          </p:grpSpPr>
          <p:sp>
            <p:nvSpPr>
              <p:cNvPr id="44" name="Freeform 44"/>
              <p:cNvSpPr/>
              <p:nvPr/>
            </p:nvSpPr>
            <p:spPr>
              <a:xfrm>
                <a:off x="569119" y="14120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A8351D"/>
                </a:solidFill>
              </a:ln>
            </p:spPr>
          </p:sp>
          <p:sp>
            <p:nvSpPr>
              <p:cNvPr id="45" name="Freeform 45"/>
              <p:cNvSpPr/>
              <p:nvPr/>
            </p:nvSpPr>
            <p:spPr>
              <a:xfrm>
                <a:off x="554831" y="14978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A8351D"/>
                </a:solidFill>
              </a:ln>
            </p:spPr>
          </p:sp>
          <p:sp>
            <p:nvSpPr>
              <p:cNvPr id="46" name="Freeform 46"/>
              <p:cNvSpPr/>
              <p:nvPr/>
            </p:nvSpPr>
            <p:spPr>
              <a:xfrm>
                <a:off x="647700" y="14130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A8351D"/>
                </a:solidFill>
              </a:ln>
            </p:spPr>
          </p:sp>
          <p:sp>
            <p:nvSpPr>
              <p:cNvPr id="47" name="Freeform 47"/>
              <p:cNvSpPr/>
              <p:nvPr/>
            </p:nvSpPr>
            <p:spPr>
              <a:xfrm>
                <a:off x="661988" y="149887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A8351D"/>
                </a:solidFill>
              </a:ln>
            </p:spPr>
          </p:sp>
        </p:grpSp>
        <p:sp>
          <p:nvSpPr>
            <p:cNvPr id="49" name="TextBox 49"/>
            <p:cNvSpPr txBox="1"/>
            <p:nvPr/>
          </p:nvSpPr>
          <p:spPr>
            <a:xfrm>
              <a:off x="776288" y="1430893"/>
              <a:ext cx="70416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员工规模测算</a:t>
              </a:r>
            </a:p>
          </p:txBody>
        </p:sp>
        <p:grpSp>
          <p:nvGrpSpPr>
            <p:cNvPr id="53" name="Group 53"/>
            <p:cNvGrpSpPr/>
            <p:nvPr/>
          </p:nvGrpSpPr>
          <p:grpSpPr>
            <a:xfrm>
              <a:off x="583406" y="1864519"/>
              <a:ext cx="71438" cy="100012"/>
              <a:chOff x="583406" y="1864519"/>
              <a:chExt cx="71438" cy="100012"/>
            </a:xfrm>
          </p:grpSpPr>
          <p:sp>
            <p:nvSpPr>
              <p:cNvPr id="50" name="Freeform 50"/>
              <p:cNvSpPr/>
              <p:nvPr/>
            </p:nvSpPr>
            <p:spPr>
              <a:xfrm>
                <a:off x="583406" y="1864519"/>
                <a:ext cx="35719" cy="100012"/>
              </a:xfrm>
              <a:custGeom>
                <a:avLst/>
                <a:gdLst/>
                <a:ahLst/>
                <a:cxnLst/>
                <a:rect l="l" t="t" r="r" b="b"/>
                <a:pathLst>
                  <a:path w="35719" h="100012">
                    <a:moveTo>
                      <a:pt x="35719" y="100012"/>
                    </a:moveTo>
                    <a:lnTo>
                      <a:pt x="35719" y="50006"/>
                    </a:lnTo>
                    <a:lnTo>
                      <a:pt x="0" y="0"/>
                    </a:lnTo>
                  </a:path>
                </a:pathLst>
              </a:custGeom>
              <a:noFill/>
              <a:ln w="14288">
                <a:solidFill>
                  <a:srgbClr val="A8351D"/>
                </a:solidFill>
              </a:ln>
            </p:spPr>
          </p:sp>
          <p:sp>
            <p:nvSpPr>
              <p:cNvPr id="51" name="Freeform 51"/>
              <p:cNvSpPr/>
              <p:nvPr/>
            </p:nvSpPr>
            <p:spPr>
              <a:xfrm>
                <a:off x="619125" y="1864519"/>
                <a:ext cx="35719" cy="50006"/>
              </a:xfrm>
              <a:custGeom>
                <a:avLst/>
                <a:gdLst/>
                <a:ahLst/>
                <a:cxnLst/>
                <a:rect l="l" t="t" r="r" b="b"/>
                <a:pathLst>
                  <a:path w="35719" h="50006">
                    <a:moveTo>
                      <a:pt x="35719" y="0"/>
                    </a:moveTo>
                    <a:lnTo>
                      <a:pt x="0" y="50006"/>
                    </a:lnTo>
                  </a:path>
                </a:pathLst>
              </a:custGeom>
              <a:noFill/>
              <a:ln w="14288">
                <a:solidFill>
                  <a:srgbClr val="A8351D"/>
                </a:solidFill>
              </a:ln>
            </p:spPr>
          </p:sp>
          <p:sp>
            <p:nvSpPr>
              <p:cNvPr id="52" name="Freeform 52"/>
              <p:cNvSpPr/>
              <p:nvPr/>
            </p:nvSpPr>
            <p:spPr>
              <a:xfrm>
                <a:off x="590550" y="1921669"/>
                <a:ext cx="57150" cy="9525"/>
              </a:xfrm>
              <a:custGeom>
                <a:avLst/>
                <a:gdLst/>
                <a:ahLst/>
                <a:cxnLst/>
                <a:rect l="l" t="t" r="r" b="b"/>
                <a:pathLst>
                  <a:path w="57150" h="9525">
                    <a:moveTo>
                      <a:pt x="0" y="0"/>
                    </a:moveTo>
                    <a:lnTo>
                      <a:pt x="57150" y="0"/>
                    </a:lnTo>
                  </a:path>
                </a:pathLst>
              </a:custGeom>
              <a:noFill/>
              <a:ln w="14288">
                <a:solidFill>
                  <a:srgbClr val="A8351D"/>
                </a:solidFill>
              </a:ln>
            </p:spPr>
          </p:sp>
        </p:grpSp>
        <p:sp>
          <p:nvSpPr>
            <p:cNvPr id="54" name="TextBox 54"/>
            <p:cNvSpPr txBox="1"/>
            <p:nvPr/>
          </p:nvSpPr>
          <p:spPr>
            <a:xfrm>
              <a:off x="776288" y="1869043"/>
              <a:ext cx="70416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代发金额测算</a:t>
              </a:r>
            </a:p>
          </p:txBody>
        </p:sp>
        <p:grpSp>
          <p:nvGrpSpPr>
            <p:cNvPr id="59" name="Group 59"/>
            <p:cNvGrpSpPr/>
            <p:nvPr/>
          </p:nvGrpSpPr>
          <p:grpSpPr>
            <a:xfrm>
              <a:off x="554831" y="2295525"/>
              <a:ext cx="128587" cy="123825"/>
              <a:chOff x="554831" y="2295525"/>
              <a:chExt cx="128587" cy="123825"/>
            </a:xfrm>
          </p:grpSpPr>
          <p:sp>
            <p:nvSpPr>
              <p:cNvPr id="55" name="Freeform 55"/>
              <p:cNvSpPr/>
              <p:nvPr/>
            </p:nvSpPr>
            <p:spPr>
              <a:xfrm>
                <a:off x="554831" y="235267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A8351D"/>
                </a:solidFill>
              </a:ln>
            </p:spPr>
          </p:sp>
          <p:sp>
            <p:nvSpPr>
              <p:cNvPr id="56" name="Freeform 56"/>
              <p:cNvSpPr/>
              <p:nvPr/>
            </p:nvSpPr>
            <p:spPr>
              <a:xfrm>
                <a:off x="640556" y="232410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A8351D"/>
                </a:solidFill>
              </a:ln>
            </p:spPr>
          </p:sp>
          <p:sp>
            <p:nvSpPr>
              <p:cNvPr id="57" name="Freeform 57"/>
              <p:cNvSpPr/>
              <p:nvPr/>
            </p:nvSpPr>
            <p:spPr>
              <a:xfrm>
                <a:off x="597694" y="229552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A8351D"/>
                </a:solidFill>
              </a:ln>
            </p:spPr>
          </p:sp>
          <p:sp>
            <p:nvSpPr>
              <p:cNvPr id="58" name="Freeform 58"/>
              <p:cNvSpPr/>
              <p:nvPr/>
            </p:nvSpPr>
            <p:spPr>
              <a:xfrm>
                <a:off x="561975" y="2409825"/>
                <a:ext cx="100012" cy="9525"/>
              </a:xfrm>
              <a:custGeom>
                <a:avLst/>
                <a:gdLst/>
                <a:ahLst/>
                <a:cxnLst/>
                <a:rect l="l" t="t" r="r" b="b"/>
                <a:pathLst>
                  <a:path w="100012" h="9525">
                    <a:moveTo>
                      <a:pt x="0" y="0"/>
                    </a:moveTo>
                    <a:lnTo>
                      <a:pt x="100012" y="0"/>
                    </a:lnTo>
                  </a:path>
                </a:pathLst>
              </a:custGeom>
              <a:noFill/>
              <a:ln w="14288">
                <a:solidFill>
                  <a:srgbClr val="A8351D"/>
                </a:solidFill>
              </a:ln>
            </p:spPr>
          </p:sp>
        </p:grpSp>
        <p:sp>
          <p:nvSpPr>
            <p:cNvPr id="60" name="TextBox 60"/>
            <p:cNvSpPr txBox="1"/>
            <p:nvPr/>
          </p:nvSpPr>
          <p:spPr>
            <a:xfrm>
              <a:off x="776288" y="2307193"/>
              <a:ext cx="826272"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潜在AUM测算​​</a:t>
              </a:r>
            </a:p>
          </p:txBody>
        </p:sp>
        <p:sp>
          <p:nvSpPr>
            <p:cNvPr id="61" name="Rectangle 61"/>
            <p:cNvSpPr/>
            <p:nvPr/>
          </p:nvSpPr>
          <p:spPr>
            <a:xfrm>
              <a:off x="2690812" y="1200150"/>
              <a:ext cx="2190750" cy="1524000"/>
            </a:xfrm>
            <a:prstGeom prst="roundRect">
              <a:avLst>
                <a:gd name="adj" fmla="val 5000"/>
              </a:avLst>
            </a:prstGeom>
            <a:solidFill>
              <a:srgbClr val="F7FAFE"/>
            </a:solidFill>
            <a:ln w="9525">
              <a:solidFill>
                <a:srgbClr val="C9D8EF"/>
              </a:solidFill>
            </a:ln>
          </p:spPr>
        </p:sp>
        <p:grpSp>
          <p:nvGrpSpPr>
            <p:cNvPr id="67" name="Group 67"/>
            <p:cNvGrpSpPr/>
            <p:nvPr/>
          </p:nvGrpSpPr>
          <p:grpSpPr>
            <a:xfrm>
              <a:off x="2864644" y="1412081"/>
              <a:ext cx="135730" cy="135731"/>
              <a:chOff x="2864644" y="1412081"/>
              <a:chExt cx="135730" cy="135731"/>
            </a:xfrm>
          </p:grpSpPr>
          <p:sp>
            <p:nvSpPr>
              <p:cNvPr id="62" name="Freeform 62"/>
              <p:cNvSpPr/>
              <p:nvPr/>
            </p:nvSpPr>
            <p:spPr>
              <a:xfrm>
                <a:off x="2878931" y="14120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A8351D"/>
                </a:solidFill>
              </a:ln>
            </p:spPr>
          </p:sp>
          <p:sp>
            <p:nvSpPr>
              <p:cNvPr id="63" name="Freeform 63"/>
              <p:cNvSpPr/>
              <p:nvPr/>
            </p:nvSpPr>
            <p:spPr>
              <a:xfrm>
                <a:off x="2864644" y="1497806"/>
                <a:ext cx="75224" cy="42862"/>
              </a:xfrm>
              <a:custGeom>
                <a:avLst/>
                <a:gdLst/>
                <a:ahLst/>
                <a:cxnLst/>
                <a:rect l="l" t="t" r="r" b="b"/>
                <a:pathLst>
                  <a:path w="75224" h="42862">
                    <a:moveTo>
                      <a:pt x="0" y="42862"/>
                    </a:moveTo>
                    <a:lnTo>
                      <a:pt x="0" y="28575"/>
                    </a:lnTo>
                    <a:cubicBezTo>
                      <a:pt x="0" y="12793"/>
                      <a:pt x="12793" y="0"/>
                      <a:pt x="28575" y="0"/>
                    </a:cubicBezTo>
                    <a:lnTo>
                      <a:pt x="57150" y="0"/>
                    </a:lnTo>
                    <a:cubicBezTo>
                      <a:pt x="64008" y="0"/>
                      <a:pt x="70294" y="2415"/>
                      <a:pt x="75224" y="6437"/>
                    </a:cubicBezTo>
                  </a:path>
                </a:pathLst>
              </a:custGeom>
              <a:noFill/>
              <a:ln w="14288">
                <a:solidFill>
                  <a:srgbClr val="A8351D"/>
                </a:solidFill>
              </a:ln>
            </p:spPr>
          </p:sp>
          <p:sp>
            <p:nvSpPr>
              <p:cNvPr id="64" name="Freeform 64"/>
              <p:cNvSpPr/>
              <p:nvPr/>
            </p:nvSpPr>
            <p:spPr>
              <a:xfrm>
                <a:off x="2957512" y="14130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A8351D"/>
                </a:solidFill>
              </a:ln>
            </p:spPr>
          </p:sp>
          <p:sp>
            <p:nvSpPr>
              <p:cNvPr id="65" name="Freeform 65"/>
              <p:cNvSpPr/>
              <p:nvPr/>
            </p:nvSpPr>
            <p:spPr>
              <a:xfrm>
                <a:off x="2957512" y="1526381"/>
                <a:ext cx="42862" cy="9525"/>
              </a:xfrm>
              <a:custGeom>
                <a:avLst/>
                <a:gdLst/>
                <a:ahLst/>
                <a:cxnLst/>
                <a:rect l="l" t="t" r="r" b="b"/>
                <a:pathLst>
                  <a:path w="42862" h="9525">
                    <a:moveTo>
                      <a:pt x="0" y="0"/>
                    </a:moveTo>
                    <a:lnTo>
                      <a:pt x="42862" y="0"/>
                    </a:lnTo>
                  </a:path>
                </a:pathLst>
              </a:custGeom>
              <a:noFill/>
              <a:ln w="14288">
                <a:solidFill>
                  <a:srgbClr val="A8351D"/>
                </a:solidFill>
              </a:ln>
            </p:spPr>
          </p:sp>
          <p:sp>
            <p:nvSpPr>
              <p:cNvPr id="66" name="Freeform 66"/>
              <p:cNvSpPr/>
              <p:nvPr/>
            </p:nvSpPr>
            <p:spPr>
              <a:xfrm>
                <a:off x="2978944" y="1504950"/>
                <a:ext cx="9525" cy="42862"/>
              </a:xfrm>
              <a:custGeom>
                <a:avLst/>
                <a:gdLst/>
                <a:ahLst/>
                <a:cxnLst/>
                <a:rect l="l" t="t" r="r" b="b"/>
                <a:pathLst>
                  <a:path w="9525" h="42862">
                    <a:moveTo>
                      <a:pt x="0" y="0"/>
                    </a:moveTo>
                    <a:lnTo>
                      <a:pt x="0" y="42862"/>
                    </a:lnTo>
                  </a:path>
                </a:pathLst>
              </a:custGeom>
              <a:noFill/>
              <a:ln w="14288">
                <a:solidFill>
                  <a:srgbClr val="A8351D"/>
                </a:solidFill>
              </a:ln>
            </p:spPr>
          </p:sp>
        </p:grpSp>
        <p:sp>
          <p:nvSpPr>
            <p:cNvPr id="68" name="TextBox 68"/>
            <p:cNvSpPr txBox="1"/>
            <p:nvPr/>
          </p:nvSpPr>
          <p:spPr>
            <a:xfrm>
              <a:off x="3086100" y="1430893"/>
              <a:ext cx="472618"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批量开卡</a:t>
              </a:r>
            </a:p>
          </p:txBody>
        </p:sp>
        <p:grpSp>
          <p:nvGrpSpPr>
            <p:cNvPr id="72" name="Group 72"/>
            <p:cNvGrpSpPr/>
            <p:nvPr/>
          </p:nvGrpSpPr>
          <p:grpSpPr>
            <a:xfrm>
              <a:off x="2886075" y="1850231"/>
              <a:ext cx="85725" cy="128588"/>
              <a:chOff x="2886075" y="1850231"/>
              <a:chExt cx="85725" cy="128588"/>
            </a:xfrm>
          </p:grpSpPr>
          <p:sp>
            <p:nvSpPr>
              <p:cNvPr id="69" name="Freeform 69"/>
              <p:cNvSpPr/>
              <p:nvPr/>
            </p:nvSpPr>
            <p:spPr>
              <a:xfrm>
                <a:off x="2886075" y="1850231"/>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A8351D"/>
                </a:solidFill>
              </a:ln>
            </p:spPr>
          </p:sp>
          <p:sp>
            <p:nvSpPr>
              <p:cNvPr id="70" name="Freeform 70"/>
              <p:cNvSpPr/>
              <p:nvPr/>
            </p:nvSpPr>
            <p:spPr>
              <a:xfrm>
                <a:off x="2921794" y="1857375"/>
                <a:ext cx="14288" cy="9525"/>
              </a:xfrm>
              <a:custGeom>
                <a:avLst/>
                <a:gdLst/>
                <a:ahLst/>
                <a:cxnLst/>
                <a:rect l="l" t="t" r="r" b="b"/>
                <a:pathLst>
                  <a:path w="14288" h="9525">
                    <a:moveTo>
                      <a:pt x="0" y="0"/>
                    </a:moveTo>
                    <a:lnTo>
                      <a:pt x="14288" y="0"/>
                    </a:lnTo>
                  </a:path>
                </a:pathLst>
              </a:custGeom>
              <a:noFill/>
              <a:ln w="14288">
                <a:solidFill>
                  <a:srgbClr val="A8351D"/>
                </a:solidFill>
              </a:ln>
            </p:spPr>
          </p:sp>
          <p:sp>
            <p:nvSpPr>
              <p:cNvPr id="71" name="Freeform 71"/>
              <p:cNvSpPr/>
              <p:nvPr/>
            </p:nvSpPr>
            <p:spPr>
              <a:xfrm>
                <a:off x="2928938" y="1950244"/>
                <a:ext cx="9525" cy="9525"/>
              </a:xfrm>
              <a:custGeom>
                <a:avLst/>
                <a:gdLst/>
                <a:ahLst/>
                <a:cxnLst/>
                <a:rect l="l" t="t" r="r" b="b"/>
                <a:pathLst>
                  <a:path w="9525" h="9525">
                    <a:moveTo>
                      <a:pt x="0" y="0"/>
                    </a:moveTo>
                    <a:lnTo>
                      <a:pt x="0" y="71"/>
                    </a:lnTo>
                  </a:path>
                </a:pathLst>
              </a:custGeom>
              <a:noFill/>
              <a:ln w="14288">
                <a:solidFill>
                  <a:srgbClr val="A8351D"/>
                </a:solidFill>
              </a:ln>
            </p:spPr>
          </p:sp>
        </p:grpSp>
        <p:sp>
          <p:nvSpPr>
            <p:cNvPr id="73" name="TextBox 73"/>
            <p:cNvSpPr txBox="1"/>
            <p:nvPr/>
          </p:nvSpPr>
          <p:spPr>
            <a:xfrm>
              <a:off x="3086100" y="1869043"/>
              <a:ext cx="935711"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手机银行首次登录</a:t>
              </a:r>
            </a:p>
          </p:txBody>
        </p:sp>
        <p:grpSp>
          <p:nvGrpSpPr>
            <p:cNvPr id="79" name="Group 79"/>
            <p:cNvGrpSpPr/>
            <p:nvPr/>
          </p:nvGrpSpPr>
          <p:grpSpPr>
            <a:xfrm>
              <a:off x="2878931" y="2288381"/>
              <a:ext cx="100013" cy="128588"/>
              <a:chOff x="2878931" y="2288381"/>
              <a:chExt cx="100013" cy="128588"/>
            </a:xfrm>
          </p:grpSpPr>
          <p:sp>
            <p:nvSpPr>
              <p:cNvPr id="74" name="Freeform 74"/>
              <p:cNvSpPr/>
              <p:nvPr/>
            </p:nvSpPr>
            <p:spPr>
              <a:xfrm>
                <a:off x="2943225" y="22883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A8351D"/>
                </a:solidFill>
              </a:ln>
            </p:spPr>
          </p:sp>
          <p:sp>
            <p:nvSpPr>
              <p:cNvPr id="75" name="Freeform 75"/>
              <p:cNvSpPr/>
              <p:nvPr/>
            </p:nvSpPr>
            <p:spPr>
              <a:xfrm>
                <a:off x="2878931" y="22883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A8351D"/>
                </a:solidFill>
              </a:ln>
            </p:spPr>
          </p:sp>
          <p:sp>
            <p:nvSpPr>
              <p:cNvPr id="76" name="Freeform 76"/>
              <p:cNvSpPr/>
              <p:nvPr/>
            </p:nvSpPr>
            <p:spPr>
              <a:xfrm>
                <a:off x="2907506" y="2331244"/>
                <a:ext cx="9525" cy="9525"/>
              </a:xfrm>
              <a:custGeom>
                <a:avLst/>
                <a:gdLst/>
                <a:ahLst/>
                <a:cxnLst/>
                <a:rect l="l" t="t" r="r" b="b"/>
                <a:pathLst>
                  <a:path w="9525" h="9525">
                    <a:moveTo>
                      <a:pt x="0" y="0"/>
                    </a:moveTo>
                    <a:lnTo>
                      <a:pt x="7144" y="0"/>
                    </a:lnTo>
                  </a:path>
                </a:pathLst>
              </a:custGeom>
              <a:noFill/>
              <a:ln w="14288">
                <a:solidFill>
                  <a:srgbClr val="A8351D"/>
                </a:solidFill>
              </a:ln>
            </p:spPr>
          </p:sp>
          <p:sp>
            <p:nvSpPr>
              <p:cNvPr id="77" name="Freeform 77"/>
              <p:cNvSpPr/>
              <p:nvPr/>
            </p:nvSpPr>
            <p:spPr>
              <a:xfrm>
                <a:off x="2907506" y="2359819"/>
                <a:ext cx="42862" cy="9525"/>
              </a:xfrm>
              <a:custGeom>
                <a:avLst/>
                <a:gdLst/>
                <a:ahLst/>
                <a:cxnLst/>
                <a:rect l="l" t="t" r="r" b="b"/>
                <a:pathLst>
                  <a:path w="42862" h="9525">
                    <a:moveTo>
                      <a:pt x="0" y="0"/>
                    </a:moveTo>
                    <a:lnTo>
                      <a:pt x="42862" y="0"/>
                    </a:lnTo>
                  </a:path>
                </a:pathLst>
              </a:custGeom>
              <a:noFill/>
              <a:ln w="14288">
                <a:solidFill>
                  <a:srgbClr val="A8351D"/>
                </a:solidFill>
              </a:ln>
            </p:spPr>
          </p:sp>
          <p:sp>
            <p:nvSpPr>
              <p:cNvPr id="78" name="Freeform 78"/>
              <p:cNvSpPr/>
              <p:nvPr/>
            </p:nvSpPr>
            <p:spPr>
              <a:xfrm>
                <a:off x="2907506" y="2388394"/>
                <a:ext cx="42862" cy="9525"/>
              </a:xfrm>
              <a:custGeom>
                <a:avLst/>
                <a:gdLst/>
                <a:ahLst/>
                <a:cxnLst/>
                <a:rect l="l" t="t" r="r" b="b"/>
                <a:pathLst>
                  <a:path w="42862" h="9525">
                    <a:moveTo>
                      <a:pt x="0" y="0"/>
                    </a:moveTo>
                    <a:lnTo>
                      <a:pt x="42862" y="0"/>
                    </a:lnTo>
                  </a:path>
                </a:pathLst>
              </a:custGeom>
              <a:noFill/>
              <a:ln w="14288">
                <a:solidFill>
                  <a:srgbClr val="A8351D"/>
                </a:solidFill>
              </a:ln>
            </p:spPr>
          </p:sp>
        </p:grpSp>
        <p:sp>
          <p:nvSpPr>
            <p:cNvPr id="80" name="TextBox 80"/>
            <p:cNvSpPr txBox="1"/>
            <p:nvPr/>
          </p:nvSpPr>
          <p:spPr>
            <a:xfrm>
              <a:off x="3086100" y="2307193"/>
              <a:ext cx="819937"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电子工资单推送</a:t>
              </a:r>
            </a:p>
          </p:txBody>
        </p:sp>
        <p:sp>
          <p:nvSpPr>
            <p:cNvPr id="81" name="Rectangle 81"/>
            <p:cNvSpPr/>
            <p:nvPr/>
          </p:nvSpPr>
          <p:spPr>
            <a:xfrm>
              <a:off x="5000625" y="1200150"/>
              <a:ext cx="2190750" cy="1524000"/>
            </a:xfrm>
            <a:prstGeom prst="roundRect">
              <a:avLst>
                <a:gd name="adj" fmla="val 5000"/>
              </a:avLst>
            </a:prstGeom>
            <a:solidFill>
              <a:srgbClr val="F7FAFE"/>
            </a:solidFill>
            <a:ln w="9525">
              <a:solidFill>
                <a:srgbClr val="C9D8EF"/>
              </a:solidFill>
            </a:ln>
          </p:spPr>
        </p:sp>
        <p:grpSp>
          <p:nvGrpSpPr>
            <p:cNvPr id="84" name="Group 84"/>
            <p:cNvGrpSpPr/>
            <p:nvPr/>
          </p:nvGrpSpPr>
          <p:grpSpPr>
            <a:xfrm>
              <a:off x="5181600" y="1419225"/>
              <a:ext cx="114300" cy="114300"/>
              <a:chOff x="5181600" y="1419225"/>
              <a:chExt cx="114300" cy="114300"/>
            </a:xfrm>
          </p:grpSpPr>
          <p:sp>
            <p:nvSpPr>
              <p:cNvPr id="82" name="Freeform 82"/>
              <p:cNvSpPr/>
              <p:nvPr/>
            </p:nvSpPr>
            <p:spPr>
              <a:xfrm>
                <a:off x="5181600" y="1419225"/>
                <a:ext cx="107156" cy="114300"/>
              </a:xfrm>
              <a:custGeom>
                <a:avLst/>
                <a:gdLst/>
                <a:ahLst/>
                <a:cxnLst/>
                <a:rect l="l" t="t" r="r" b="b"/>
                <a:pathLst>
                  <a:path w="107156" h="114300">
                    <a:moveTo>
                      <a:pt x="92869" y="28575"/>
                    </a:moveTo>
                    <a:lnTo>
                      <a:pt x="92869" y="7144"/>
                    </a:lnTo>
                    <a:cubicBezTo>
                      <a:pt x="92869" y="3198"/>
                      <a:pt x="89670" y="0"/>
                      <a:pt x="85725" y="0"/>
                    </a:cubicBezTo>
                    <a:lnTo>
                      <a:pt x="14288" y="0"/>
                    </a:lnTo>
                    <a:cubicBezTo>
                      <a:pt x="6397" y="0"/>
                      <a:pt x="0" y="6397"/>
                      <a:pt x="0" y="14288"/>
                    </a:cubicBezTo>
                    <a:cubicBezTo>
                      <a:pt x="0" y="22178"/>
                      <a:pt x="6397" y="28575"/>
                      <a:pt x="14288" y="28575"/>
                    </a:cubicBezTo>
                    <a:lnTo>
                      <a:pt x="100012" y="28575"/>
                    </a:lnTo>
                    <a:cubicBezTo>
                      <a:pt x="103958" y="28575"/>
                      <a:pt x="107156" y="31773"/>
                      <a:pt x="107156" y="35719"/>
                    </a:cubicBezTo>
                    <a:lnTo>
                      <a:pt x="107156" y="57150"/>
                    </a:lnTo>
                    <a:moveTo>
                      <a:pt x="107156" y="85725"/>
                    </a:moveTo>
                    <a:lnTo>
                      <a:pt x="107156" y="107156"/>
                    </a:lnTo>
                    <a:cubicBezTo>
                      <a:pt x="107156" y="111102"/>
                      <a:pt x="103958" y="114300"/>
                      <a:pt x="100012" y="114300"/>
                    </a:cubicBezTo>
                    <a:lnTo>
                      <a:pt x="14288" y="114300"/>
                    </a:lnTo>
                    <a:cubicBezTo>
                      <a:pt x="6397" y="114300"/>
                      <a:pt x="0" y="107903"/>
                      <a:pt x="0" y="100012"/>
                    </a:cubicBezTo>
                    <a:lnTo>
                      <a:pt x="0" y="14288"/>
                    </a:lnTo>
                  </a:path>
                </a:pathLst>
              </a:custGeom>
              <a:noFill/>
              <a:ln w="14288">
                <a:solidFill>
                  <a:srgbClr val="A8351D"/>
                </a:solidFill>
              </a:ln>
            </p:spPr>
          </p:sp>
          <p:sp>
            <p:nvSpPr>
              <p:cNvPr id="83" name="Freeform 83"/>
              <p:cNvSpPr/>
              <p:nvPr/>
            </p:nvSpPr>
            <p:spPr>
              <a:xfrm>
                <a:off x="5253038" y="1476375"/>
                <a:ext cx="42862" cy="28575"/>
              </a:xfrm>
              <a:custGeom>
                <a:avLst/>
                <a:gdLst/>
                <a:ahLst/>
                <a:cxnLst/>
                <a:rect l="l" t="t" r="r" b="b"/>
                <a:pathLst>
                  <a:path w="42862" h="28575">
                    <a:moveTo>
                      <a:pt x="42862" y="0"/>
                    </a:moveTo>
                    <a:lnTo>
                      <a:pt x="42862" y="28575"/>
                    </a:lnTo>
                    <a:lnTo>
                      <a:pt x="14288" y="28575"/>
                    </a:lnTo>
                    <a:cubicBezTo>
                      <a:pt x="6397" y="28575"/>
                      <a:pt x="0" y="22178"/>
                      <a:pt x="0" y="14288"/>
                    </a:cubicBezTo>
                    <a:cubicBezTo>
                      <a:pt x="0" y="6397"/>
                      <a:pt x="6397" y="0"/>
                      <a:pt x="14288" y="0"/>
                    </a:cubicBezTo>
                    <a:lnTo>
                      <a:pt x="42862" y="0"/>
                    </a:lnTo>
                  </a:path>
                </a:pathLst>
              </a:custGeom>
              <a:noFill/>
              <a:ln w="14288">
                <a:solidFill>
                  <a:srgbClr val="A8351D"/>
                </a:solidFill>
              </a:ln>
            </p:spPr>
          </p:sp>
        </p:grpSp>
        <p:sp>
          <p:nvSpPr>
            <p:cNvPr id="85" name="TextBox 85"/>
            <p:cNvSpPr txBox="1"/>
            <p:nvPr/>
          </p:nvSpPr>
          <p:spPr>
            <a:xfrm>
              <a:off x="5395912" y="1430893"/>
              <a:ext cx="472618"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工资留存</a:t>
              </a:r>
            </a:p>
          </p:txBody>
        </p:sp>
        <p:grpSp>
          <p:nvGrpSpPr>
            <p:cNvPr id="88" name="Group 88"/>
            <p:cNvGrpSpPr/>
            <p:nvPr/>
          </p:nvGrpSpPr>
          <p:grpSpPr>
            <a:xfrm>
              <a:off x="5181600" y="1854619"/>
              <a:ext cx="114300" cy="119813"/>
              <a:chOff x="5181600" y="1854619"/>
              <a:chExt cx="114300" cy="119813"/>
            </a:xfrm>
          </p:grpSpPr>
          <p:sp>
            <p:nvSpPr>
              <p:cNvPr id="86" name="Freeform 86"/>
              <p:cNvSpPr/>
              <p:nvPr/>
            </p:nvSpPr>
            <p:spPr>
              <a:xfrm>
                <a:off x="5181600" y="1854619"/>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A8351D"/>
                </a:solidFill>
              </a:ln>
            </p:spPr>
          </p:sp>
          <p:sp>
            <p:nvSpPr>
              <p:cNvPr id="87" name="Freeform 87"/>
              <p:cNvSpPr/>
              <p:nvPr/>
            </p:nvSpPr>
            <p:spPr>
              <a:xfrm>
                <a:off x="5181600" y="1921669"/>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A8351D"/>
                </a:solidFill>
              </a:ln>
            </p:spPr>
          </p:sp>
        </p:grpSp>
        <p:sp>
          <p:nvSpPr>
            <p:cNvPr id="89" name="TextBox 89"/>
            <p:cNvSpPr txBox="1"/>
            <p:nvPr/>
          </p:nvSpPr>
          <p:spPr>
            <a:xfrm>
              <a:off x="5395912" y="1869043"/>
              <a:ext cx="70416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支付频率提升</a:t>
              </a:r>
            </a:p>
          </p:txBody>
        </p:sp>
        <p:grpSp>
          <p:nvGrpSpPr>
            <p:cNvPr id="94" name="Group 94"/>
            <p:cNvGrpSpPr/>
            <p:nvPr/>
          </p:nvGrpSpPr>
          <p:grpSpPr>
            <a:xfrm>
              <a:off x="5174456" y="2302669"/>
              <a:ext cx="128588" cy="100012"/>
              <a:chOff x="5174456" y="2302669"/>
              <a:chExt cx="128588" cy="100012"/>
            </a:xfrm>
          </p:grpSpPr>
          <p:sp>
            <p:nvSpPr>
              <p:cNvPr id="90" name="Freeform 90"/>
              <p:cNvSpPr/>
              <p:nvPr/>
            </p:nvSpPr>
            <p:spPr>
              <a:xfrm>
                <a:off x="5174456" y="2302669"/>
                <a:ext cx="128588" cy="100012"/>
              </a:xfrm>
              <a:custGeom>
                <a:avLst/>
                <a:gdLst/>
                <a:ahLst/>
                <a:cxnLst/>
                <a:rect l="l" t="t" r="r" b="b"/>
                <a:pathLst>
                  <a:path w="128588" h="100012">
                    <a:moveTo>
                      <a:pt x="0" y="21431"/>
                    </a:moveTo>
                    <a:cubicBezTo>
                      <a:pt x="0" y="9595"/>
                      <a:pt x="9595" y="0"/>
                      <a:pt x="21431" y="0"/>
                    </a:cubicBezTo>
                    <a:lnTo>
                      <a:pt x="107156" y="0"/>
                    </a:lnTo>
                    <a:cubicBezTo>
                      <a:pt x="118992" y="0"/>
                      <a:pt x="128588" y="9595"/>
                      <a:pt x="128588" y="21431"/>
                    </a:cubicBezTo>
                    <a:lnTo>
                      <a:pt x="128588" y="78581"/>
                    </a:lnTo>
                    <a:cubicBezTo>
                      <a:pt x="128588" y="90417"/>
                      <a:pt x="118992" y="100012"/>
                      <a:pt x="107156" y="100012"/>
                    </a:cubicBezTo>
                    <a:lnTo>
                      <a:pt x="21431" y="100012"/>
                    </a:lnTo>
                    <a:cubicBezTo>
                      <a:pt x="9595" y="100012"/>
                      <a:pt x="0" y="90417"/>
                      <a:pt x="0" y="78581"/>
                    </a:cubicBezTo>
                    <a:lnTo>
                      <a:pt x="0" y="21431"/>
                    </a:lnTo>
                  </a:path>
                </a:pathLst>
              </a:custGeom>
              <a:noFill/>
              <a:ln w="14288">
                <a:solidFill>
                  <a:srgbClr val="A8351D"/>
                </a:solidFill>
              </a:ln>
            </p:spPr>
          </p:sp>
          <p:sp>
            <p:nvSpPr>
              <p:cNvPr id="91" name="Freeform 91"/>
              <p:cNvSpPr/>
              <p:nvPr/>
            </p:nvSpPr>
            <p:spPr>
              <a:xfrm>
                <a:off x="5174456" y="2338388"/>
                <a:ext cx="128588" cy="9525"/>
              </a:xfrm>
              <a:custGeom>
                <a:avLst/>
                <a:gdLst/>
                <a:ahLst/>
                <a:cxnLst/>
                <a:rect l="l" t="t" r="r" b="b"/>
                <a:pathLst>
                  <a:path w="128588" h="9525">
                    <a:moveTo>
                      <a:pt x="0" y="0"/>
                    </a:moveTo>
                    <a:lnTo>
                      <a:pt x="128588" y="0"/>
                    </a:lnTo>
                  </a:path>
                </a:pathLst>
              </a:custGeom>
              <a:noFill/>
              <a:ln w="14288">
                <a:solidFill>
                  <a:srgbClr val="A8351D"/>
                </a:solidFill>
              </a:ln>
            </p:spPr>
          </p:sp>
          <p:sp>
            <p:nvSpPr>
              <p:cNvPr id="92" name="Freeform 92"/>
              <p:cNvSpPr/>
              <p:nvPr/>
            </p:nvSpPr>
            <p:spPr>
              <a:xfrm>
                <a:off x="5203031" y="2374106"/>
                <a:ext cx="9525" cy="9525"/>
              </a:xfrm>
              <a:custGeom>
                <a:avLst/>
                <a:gdLst/>
                <a:ahLst/>
                <a:cxnLst/>
                <a:rect l="l" t="t" r="r" b="b"/>
                <a:pathLst>
                  <a:path w="9525" h="9525">
                    <a:moveTo>
                      <a:pt x="0" y="0"/>
                    </a:moveTo>
                    <a:lnTo>
                      <a:pt x="71" y="0"/>
                    </a:lnTo>
                  </a:path>
                </a:pathLst>
              </a:custGeom>
              <a:noFill/>
              <a:ln w="14288">
                <a:solidFill>
                  <a:srgbClr val="A8351D"/>
                </a:solidFill>
              </a:ln>
            </p:spPr>
          </p:sp>
          <p:sp>
            <p:nvSpPr>
              <p:cNvPr id="93" name="Freeform 93"/>
              <p:cNvSpPr/>
              <p:nvPr/>
            </p:nvSpPr>
            <p:spPr>
              <a:xfrm>
                <a:off x="5231606" y="2374106"/>
                <a:ext cx="14288" cy="9525"/>
              </a:xfrm>
              <a:custGeom>
                <a:avLst/>
                <a:gdLst/>
                <a:ahLst/>
                <a:cxnLst/>
                <a:rect l="l" t="t" r="r" b="b"/>
                <a:pathLst>
                  <a:path w="14288" h="9525">
                    <a:moveTo>
                      <a:pt x="0" y="0"/>
                    </a:moveTo>
                    <a:lnTo>
                      <a:pt x="14288" y="0"/>
                    </a:lnTo>
                  </a:path>
                </a:pathLst>
              </a:custGeom>
              <a:noFill/>
              <a:ln w="14288">
                <a:solidFill>
                  <a:srgbClr val="A8351D"/>
                </a:solidFill>
              </a:ln>
            </p:spPr>
          </p:sp>
        </p:grpSp>
        <p:sp>
          <p:nvSpPr>
            <p:cNvPr id="95" name="TextBox 95"/>
            <p:cNvSpPr txBox="1"/>
            <p:nvPr/>
          </p:nvSpPr>
          <p:spPr>
            <a:xfrm>
              <a:off x="5395912" y="2307193"/>
              <a:ext cx="935711"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信用卡激活和使用</a:t>
              </a:r>
            </a:p>
          </p:txBody>
        </p:sp>
        <p:sp>
          <p:nvSpPr>
            <p:cNvPr id="96" name="Rectangle 96"/>
            <p:cNvSpPr/>
            <p:nvPr/>
          </p:nvSpPr>
          <p:spPr>
            <a:xfrm>
              <a:off x="7310438" y="1200150"/>
              <a:ext cx="2190750" cy="1524000"/>
            </a:xfrm>
            <a:prstGeom prst="roundRect">
              <a:avLst>
                <a:gd name="adj" fmla="val 5000"/>
              </a:avLst>
            </a:prstGeom>
            <a:solidFill>
              <a:srgbClr val="F7FAFE"/>
            </a:solidFill>
            <a:ln w="9525">
              <a:solidFill>
                <a:srgbClr val="C9D8EF"/>
              </a:solidFill>
            </a:ln>
          </p:spPr>
        </p:sp>
        <p:grpSp>
          <p:nvGrpSpPr>
            <p:cNvPr id="99" name="Group 99"/>
            <p:cNvGrpSpPr/>
            <p:nvPr/>
          </p:nvGrpSpPr>
          <p:grpSpPr>
            <a:xfrm>
              <a:off x="7482277" y="1413310"/>
              <a:ext cx="129150" cy="129350"/>
              <a:chOff x="7482277" y="1413310"/>
              <a:chExt cx="129150" cy="129350"/>
            </a:xfrm>
          </p:grpSpPr>
          <p:sp>
            <p:nvSpPr>
              <p:cNvPr id="97" name="Freeform 97"/>
              <p:cNvSpPr/>
              <p:nvPr/>
            </p:nvSpPr>
            <p:spPr>
              <a:xfrm>
                <a:off x="7482277" y="1413310"/>
                <a:ext cx="129150" cy="129350"/>
              </a:xfrm>
              <a:custGeom>
                <a:avLst/>
                <a:gdLst/>
                <a:ahLst/>
                <a:cxnLst/>
                <a:rect l="l" t="t" r="r" b="b"/>
                <a:pathLst>
                  <a:path w="129150" h="129350">
                    <a:moveTo>
                      <a:pt x="51998" y="200"/>
                    </a:moveTo>
                    <a:cubicBezTo>
                      <a:pt x="21065" y="7371"/>
                      <a:pt x="0" y="36049"/>
                      <a:pt x="2409" y="67710"/>
                    </a:cubicBezTo>
                    <a:cubicBezTo>
                      <a:pt x="4818" y="99372"/>
                      <a:pt x="29979" y="124533"/>
                      <a:pt x="61640" y="126942"/>
                    </a:cubicBezTo>
                    <a:cubicBezTo>
                      <a:pt x="93301" y="129350"/>
                      <a:pt x="121979" y="108285"/>
                      <a:pt x="129150" y="77353"/>
                    </a:cubicBezTo>
                    <a:cubicBezTo>
                      <a:pt x="129150" y="73407"/>
                      <a:pt x="125952" y="70209"/>
                      <a:pt x="122006" y="70209"/>
                    </a:cubicBezTo>
                    <a:lnTo>
                      <a:pt x="73429" y="70209"/>
                    </a:lnTo>
                    <a:cubicBezTo>
                      <a:pt x="65538" y="70209"/>
                      <a:pt x="59141" y="63812"/>
                      <a:pt x="59141" y="55922"/>
                    </a:cubicBezTo>
                    <a:lnTo>
                      <a:pt x="59141" y="5915"/>
                    </a:lnTo>
                    <a:cubicBezTo>
                      <a:pt x="58962" y="4206"/>
                      <a:pt x="58106" y="2639"/>
                      <a:pt x="56763" y="1565"/>
                    </a:cubicBezTo>
                    <a:cubicBezTo>
                      <a:pt x="55421" y="492"/>
                      <a:pt x="53705" y="0"/>
                      <a:pt x="51998" y="200"/>
                    </a:cubicBezTo>
                  </a:path>
                </a:pathLst>
              </a:custGeom>
              <a:noFill/>
              <a:ln w="14288">
                <a:solidFill>
                  <a:srgbClr val="A8351D"/>
                </a:solidFill>
              </a:ln>
            </p:spPr>
          </p:sp>
          <p:sp>
            <p:nvSpPr>
              <p:cNvPr id="98" name="Freeform 98"/>
              <p:cNvSpPr/>
              <p:nvPr/>
            </p:nvSpPr>
            <p:spPr>
              <a:xfrm>
                <a:off x="7569994" y="1415653"/>
                <a:ext cx="39291" cy="39291"/>
              </a:xfrm>
              <a:custGeom>
                <a:avLst/>
                <a:gdLst/>
                <a:ahLst/>
                <a:cxnLst/>
                <a:rect l="l" t="t" r="r" b="b"/>
                <a:pathLst>
                  <a:path w="39291" h="39291">
                    <a:moveTo>
                      <a:pt x="0" y="0"/>
                    </a:moveTo>
                    <a:cubicBezTo>
                      <a:pt x="18372" y="6469"/>
                      <a:pt x="32822" y="20918"/>
                      <a:pt x="39291" y="39291"/>
                    </a:cubicBezTo>
                    <a:lnTo>
                      <a:pt x="7144" y="39291"/>
                    </a:lnTo>
                    <a:cubicBezTo>
                      <a:pt x="3198" y="39291"/>
                      <a:pt x="0" y="36092"/>
                      <a:pt x="0" y="32147"/>
                    </a:cubicBezTo>
                    <a:lnTo>
                      <a:pt x="0" y="0"/>
                    </a:lnTo>
                  </a:path>
                </a:pathLst>
              </a:custGeom>
              <a:noFill/>
              <a:ln w="14288">
                <a:solidFill>
                  <a:srgbClr val="A8351D"/>
                </a:solidFill>
              </a:ln>
            </p:spPr>
          </p:sp>
        </p:grpSp>
        <p:sp>
          <p:nvSpPr>
            <p:cNvPr id="100" name="TextBox 100"/>
            <p:cNvSpPr txBox="1"/>
            <p:nvPr/>
          </p:nvSpPr>
          <p:spPr>
            <a:xfrm>
              <a:off x="7705725" y="1430893"/>
              <a:ext cx="70416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资产配置提升</a:t>
              </a:r>
            </a:p>
          </p:txBody>
        </p:sp>
        <p:grpSp>
          <p:nvGrpSpPr>
            <p:cNvPr id="103" name="Group 103"/>
            <p:cNvGrpSpPr/>
            <p:nvPr/>
          </p:nvGrpSpPr>
          <p:grpSpPr>
            <a:xfrm>
              <a:off x="7474628" y="1850231"/>
              <a:ext cx="139505" cy="128588"/>
              <a:chOff x="7474628" y="1850231"/>
              <a:chExt cx="139505" cy="128588"/>
            </a:xfrm>
          </p:grpSpPr>
          <p:sp>
            <p:nvSpPr>
              <p:cNvPr id="101" name="Freeform 101"/>
              <p:cNvSpPr/>
              <p:nvPr/>
            </p:nvSpPr>
            <p:spPr>
              <a:xfrm>
                <a:off x="7474628" y="185023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A8351D"/>
                </a:solidFill>
              </a:ln>
            </p:spPr>
          </p:sp>
          <p:sp>
            <p:nvSpPr>
              <p:cNvPr id="102" name="Freeform 102"/>
              <p:cNvSpPr/>
              <p:nvPr/>
            </p:nvSpPr>
            <p:spPr>
              <a:xfrm>
                <a:off x="7569994" y="1950244"/>
                <a:ext cx="42862" cy="28575"/>
              </a:xfrm>
              <a:custGeom>
                <a:avLst/>
                <a:gdLst/>
                <a:ahLst/>
                <a:cxnLst/>
                <a:rect l="l" t="t" r="r" b="b"/>
                <a:pathLst>
                  <a:path w="42862" h="28575">
                    <a:moveTo>
                      <a:pt x="0" y="14288"/>
                    </a:moveTo>
                    <a:lnTo>
                      <a:pt x="14288" y="28575"/>
                    </a:lnTo>
                    <a:lnTo>
                      <a:pt x="42862" y="0"/>
                    </a:lnTo>
                  </a:path>
                </a:pathLst>
              </a:custGeom>
              <a:noFill/>
              <a:ln w="14288">
                <a:solidFill>
                  <a:srgbClr val="A8351D"/>
                </a:solidFill>
              </a:ln>
            </p:spPr>
          </p:sp>
        </p:grpSp>
        <p:sp>
          <p:nvSpPr>
            <p:cNvPr id="104" name="TextBox 104"/>
            <p:cNvSpPr txBox="1"/>
            <p:nvPr/>
          </p:nvSpPr>
          <p:spPr>
            <a:xfrm>
              <a:off x="7705725" y="1869043"/>
              <a:ext cx="70416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保险保障配置</a:t>
              </a:r>
            </a:p>
          </p:txBody>
        </p:sp>
        <p:grpSp>
          <p:nvGrpSpPr>
            <p:cNvPr id="108" name="Group 108"/>
            <p:cNvGrpSpPr/>
            <p:nvPr/>
          </p:nvGrpSpPr>
          <p:grpSpPr>
            <a:xfrm>
              <a:off x="7505700" y="2288381"/>
              <a:ext cx="107156" cy="128588"/>
              <a:chOff x="7505700" y="2288381"/>
              <a:chExt cx="107156" cy="128588"/>
            </a:xfrm>
          </p:grpSpPr>
          <p:sp>
            <p:nvSpPr>
              <p:cNvPr id="105" name="Freeform 105"/>
              <p:cNvSpPr/>
              <p:nvPr/>
            </p:nvSpPr>
            <p:spPr>
              <a:xfrm>
                <a:off x="7519988" y="22883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A8351D"/>
                </a:solidFill>
              </a:ln>
            </p:spPr>
          </p:sp>
          <p:sp>
            <p:nvSpPr>
              <p:cNvPr id="106" name="Freeform 106"/>
              <p:cNvSpPr/>
              <p:nvPr/>
            </p:nvSpPr>
            <p:spPr>
              <a:xfrm>
                <a:off x="7505700" y="237410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A8351D"/>
                </a:solidFill>
              </a:ln>
            </p:spPr>
          </p:sp>
          <p:sp>
            <p:nvSpPr>
              <p:cNvPr id="107" name="Freeform 107"/>
              <p:cNvSpPr/>
              <p:nvPr/>
            </p:nvSpPr>
            <p:spPr>
              <a:xfrm>
                <a:off x="7569994" y="2388394"/>
                <a:ext cx="42862" cy="28575"/>
              </a:xfrm>
              <a:custGeom>
                <a:avLst/>
                <a:gdLst/>
                <a:ahLst/>
                <a:cxnLst/>
                <a:rect l="l" t="t" r="r" b="b"/>
                <a:pathLst>
                  <a:path w="42862" h="28575">
                    <a:moveTo>
                      <a:pt x="0" y="14288"/>
                    </a:moveTo>
                    <a:lnTo>
                      <a:pt x="14288" y="28575"/>
                    </a:lnTo>
                    <a:lnTo>
                      <a:pt x="42862" y="0"/>
                    </a:lnTo>
                  </a:path>
                </a:pathLst>
              </a:custGeom>
              <a:noFill/>
              <a:ln w="14288">
                <a:solidFill>
                  <a:srgbClr val="A8351D"/>
                </a:solidFill>
              </a:ln>
            </p:spPr>
          </p:sp>
        </p:grpSp>
        <p:sp>
          <p:nvSpPr>
            <p:cNvPr id="109" name="TextBox 109"/>
            <p:cNvSpPr txBox="1"/>
            <p:nvPr/>
          </p:nvSpPr>
          <p:spPr>
            <a:xfrm>
              <a:off x="7705725" y="2307193"/>
              <a:ext cx="819937"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养老金账户建设</a:t>
              </a:r>
            </a:p>
          </p:txBody>
        </p:sp>
        <p:sp>
          <p:nvSpPr>
            <p:cNvPr id="110" name="Rectangle 110"/>
            <p:cNvSpPr/>
            <p:nvPr/>
          </p:nvSpPr>
          <p:spPr>
            <a:xfrm>
              <a:off x="9620250" y="1200150"/>
              <a:ext cx="2190750" cy="1524000"/>
            </a:xfrm>
            <a:prstGeom prst="roundRect">
              <a:avLst>
                <a:gd name="adj" fmla="val 5000"/>
              </a:avLst>
            </a:prstGeom>
            <a:solidFill>
              <a:srgbClr val="F7FAFE"/>
            </a:solidFill>
            <a:ln w="9525">
              <a:solidFill>
                <a:srgbClr val="C9D8EF"/>
              </a:solidFill>
            </a:ln>
          </p:spPr>
        </p:sp>
        <p:grpSp>
          <p:nvGrpSpPr>
            <p:cNvPr id="114" name="Group 114"/>
            <p:cNvGrpSpPr/>
            <p:nvPr/>
          </p:nvGrpSpPr>
          <p:grpSpPr>
            <a:xfrm>
              <a:off x="9796953" y="1412081"/>
              <a:ext cx="122830" cy="127802"/>
              <a:chOff x="9796953" y="1412081"/>
              <a:chExt cx="122830" cy="127802"/>
            </a:xfrm>
          </p:grpSpPr>
          <p:sp>
            <p:nvSpPr>
              <p:cNvPr id="111" name="Freeform 111"/>
              <p:cNvSpPr/>
              <p:nvPr/>
            </p:nvSpPr>
            <p:spPr>
              <a:xfrm>
                <a:off x="9815512" y="1412081"/>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A8351D"/>
                </a:solidFill>
              </a:ln>
            </p:spPr>
          </p:sp>
          <p:sp>
            <p:nvSpPr>
              <p:cNvPr id="112" name="Freeform 112"/>
              <p:cNvSpPr/>
              <p:nvPr/>
            </p:nvSpPr>
            <p:spPr>
              <a:xfrm>
                <a:off x="9858375" y="1476375"/>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A8351D"/>
                </a:solidFill>
              </a:ln>
            </p:spPr>
          </p:sp>
          <p:sp>
            <p:nvSpPr>
              <p:cNvPr id="113" name="Freeform 113"/>
              <p:cNvSpPr/>
              <p:nvPr/>
            </p:nvSpPr>
            <p:spPr>
              <a:xfrm>
                <a:off x="9796953" y="1476375"/>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A8351D"/>
                </a:solidFill>
              </a:ln>
            </p:spPr>
          </p:sp>
        </p:grpSp>
        <p:sp>
          <p:nvSpPr>
            <p:cNvPr id="115" name="TextBox 115"/>
            <p:cNvSpPr txBox="1"/>
            <p:nvPr/>
          </p:nvSpPr>
          <p:spPr>
            <a:xfrm>
              <a:off x="10015538" y="1430893"/>
              <a:ext cx="819937"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差异化权益运营</a:t>
              </a:r>
            </a:p>
          </p:txBody>
        </p:sp>
        <p:grpSp>
          <p:nvGrpSpPr>
            <p:cNvPr id="119" name="Group 119"/>
            <p:cNvGrpSpPr/>
            <p:nvPr/>
          </p:nvGrpSpPr>
          <p:grpSpPr>
            <a:xfrm>
              <a:off x="9786329" y="1847858"/>
              <a:ext cx="144086" cy="123788"/>
              <a:chOff x="9786329" y="1847858"/>
              <a:chExt cx="144086" cy="123788"/>
            </a:xfrm>
          </p:grpSpPr>
          <p:sp>
            <p:nvSpPr>
              <p:cNvPr id="116" name="Freeform 116"/>
              <p:cNvSpPr/>
              <p:nvPr/>
            </p:nvSpPr>
            <p:spPr>
              <a:xfrm>
                <a:off x="9858375" y="1893094"/>
                <a:ext cx="9525" cy="28575"/>
              </a:xfrm>
              <a:custGeom>
                <a:avLst/>
                <a:gdLst/>
                <a:ahLst/>
                <a:cxnLst/>
                <a:rect l="l" t="t" r="r" b="b"/>
                <a:pathLst>
                  <a:path w="9525" h="28575">
                    <a:moveTo>
                      <a:pt x="0" y="0"/>
                    </a:moveTo>
                    <a:lnTo>
                      <a:pt x="0" y="28575"/>
                    </a:lnTo>
                  </a:path>
                </a:pathLst>
              </a:custGeom>
              <a:noFill/>
              <a:ln w="14288">
                <a:solidFill>
                  <a:srgbClr val="A8351D"/>
                </a:solidFill>
              </a:ln>
            </p:spPr>
          </p:sp>
          <p:sp>
            <p:nvSpPr>
              <p:cNvPr id="117" name="Freeform 117"/>
              <p:cNvSpPr/>
              <p:nvPr/>
            </p:nvSpPr>
            <p:spPr>
              <a:xfrm>
                <a:off x="9786329" y="1847858"/>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A8351D"/>
                </a:solidFill>
              </a:ln>
            </p:spPr>
          </p:sp>
          <p:sp>
            <p:nvSpPr>
              <p:cNvPr id="118" name="Freeform 118"/>
              <p:cNvSpPr/>
              <p:nvPr/>
            </p:nvSpPr>
            <p:spPr>
              <a:xfrm>
                <a:off x="9858375" y="1943100"/>
                <a:ext cx="9525" cy="9525"/>
              </a:xfrm>
              <a:custGeom>
                <a:avLst/>
                <a:gdLst/>
                <a:ahLst/>
                <a:cxnLst/>
                <a:rect l="l" t="t" r="r" b="b"/>
                <a:pathLst>
                  <a:path w="9525" h="9525">
                    <a:moveTo>
                      <a:pt x="0" y="0"/>
                    </a:moveTo>
                    <a:lnTo>
                      <a:pt x="71" y="0"/>
                    </a:lnTo>
                  </a:path>
                </a:pathLst>
              </a:custGeom>
              <a:noFill/>
              <a:ln w="14288">
                <a:solidFill>
                  <a:srgbClr val="A8351D"/>
                </a:solidFill>
              </a:ln>
            </p:spPr>
          </p:sp>
        </p:grpSp>
        <p:sp>
          <p:nvSpPr>
            <p:cNvPr id="120" name="TextBox 120"/>
            <p:cNvSpPr txBox="1"/>
            <p:nvPr/>
          </p:nvSpPr>
          <p:spPr>
            <a:xfrm>
              <a:off x="10015538" y="1869043"/>
              <a:ext cx="935711"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流失预警信号识别</a:t>
              </a:r>
            </a:p>
          </p:txBody>
        </p:sp>
        <p:sp>
          <p:nvSpPr>
            <p:cNvPr id="121" name="Freeform 121"/>
            <p:cNvSpPr/>
            <p:nvPr/>
          </p:nvSpPr>
          <p:spPr>
            <a:xfrm>
              <a:off x="9786766" y="2289989"/>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A8351D"/>
              </a:solidFill>
            </a:ln>
          </p:spPr>
        </p:sp>
        <p:sp>
          <p:nvSpPr>
            <p:cNvPr id="122" name="TextBox 122"/>
            <p:cNvSpPr txBox="1"/>
            <p:nvPr/>
          </p:nvSpPr>
          <p:spPr>
            <a:xfrm>
              <a:off x="10015538" y="2307193"/>
              <a:ext cx="819937"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服务触达与挽回</a:t>
              </a:r>
            </a:p>
          </p:txBody>
        </p:sp>
      </p:grpSp>
      <p:grpSp>
        <p:nvGrpSpPr>
          <p:cNvPr id="145" name="funnel"/>
          <p:cNvGrpSpPr/>
          <p:nvPr/>
        </p:nvGrpSpPr>
        <p:grpSpPr>
          <a:xfrm>
            <a:off x="381000" y="2952750"/>
            <a:ext cx="2857500" cy="3752850"/>
            <a:chOff x="381000" y="2952750"/>
            <a:chExt cx="2857500" cy="3752850"/>
          </a:xfrm>
        </p:grpSpPr>
        <p:sp>
          <p:nvSpPr>
            <p:cNvPr id="124" name="Rectangle 124"/>
            <p:cNvSpPr/>
            <p:nvPr/>
          </p:nvSpPr>
          <p:spPr>
            <a:xfrm>
              <a:off x="381000" y="2952750"/>
              <a:ext cx="2857500" cy="3752850"/>
            </a:xfrm>
            <a:prstGeom prst="roundRect">
              <a:avLst>
                <a:gd name="adj" fmla="val 3333"/>
              </a:avLst>
            </a:prstGeom>
            <a:solidFill>
              <a:srgbClr val="F9FBFE"/>
            </a:solidFill>
            <a:ln w="9525">
              <a:solidFill>
                <a:srgbClr val="C9D8EF"/>
              </a:solidFill>
            </a:ln>
          </p:spPr>
        </p:sp>
        <p:sp>
          <p:nvSpPr>
            <p:cNvPr id="125" name="Rectangle 125"/>
            <p:cNvSpPr/>
            <p:nvPr/>
          </p:nvSpPr>
          <p:spPr>
            <a:xfrm>
              <a:off x="571500" y="3028950"/>
              <a:ext cx="2476500" cy="285750"/>
            </a:xfrm>
            <a:prstGeom prst="roundRect">
              <a:avLst>
                <a:gd name="adj" fmla="val 13333"/>
              </a:avLst>
            </a:prstGeom>
            <a:gradFill>
              <a:gsLst>
                <a:gs pos="0">
                  <a:srgbClr val="AD3921"/>
                </a:gs>
                <a:gs pos="100000">
                  <a:srgbClr val="962C16"/>
                </a:gs>
              </a:gsLst>
              <a:lin ang="5400000" scaled="1"/>
            </a:gradFill>
            <a:ln>
              <a:noFill/>
            </a:ln>
          </p:spPr>
        </p:sp>
        <p:sp>
          <p:nvSpPr>
            <p:cNvPr id="126" name="TextBox 126"/>
            <p:cNvSpPr txBox="1"/>
            <p:nvPr/>
          </p:nvSpPr>
          <p:spPr>
            <a:xfrm>
              <a:off x="1239012" y="3115628"/>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代发客户转化漏斗</a:t>
              </a:r>
            </a:p>
          </p:txBody>
        </p:sp>
        <p:sp>
          <p:nvSpPr>
            <p:cNvPr id="127" name="Freeform 127"/>
            <p:cNvSpPr/>
            <p:nvPr/>
          </p:nvSpPr>
          <p:spPr>
            <a:xfrm rot="10800000">
              <a:off x="428625" y="3390900"/>
              <a:ext cx="2381250" cy="381000"/>
            </a:xfrm>
            <a:prstGeom prst="trapezoid">
              <a:avLst>
                <a:gd name="adj" fmla="val 12000"/>
              </a:avLst>
            </a:prstGeom>
            <a:solidFill>
              <a:srgbClr val="67281B"/>
            </a:solidFill>
            <a:ln>
              <a:noFill/>
            </a:ln>
          </p:spPr>
        </p:sp>
        <p:sp>
          <p:nvSpPr>
            <p:cNvPr id="128" name="Freeform 128"/>
            <p:cNvSpPr/>
            <p:nvPr/>
          </p:nvSpPr>
          <p:spPr>
            <a:xfrm rot="10800000">
              <a:off x="542925" y="3800475"/>
              <a:ext cx="2152650" cy="381000"/>
            </a:xfrm>
            <a:prstGeom prst="trapezoid">
              <a:avLst>
                <a:gd name="adj" fmla="val 12000"/>
              </a:avLst>
            </a:prstGeom>
            <a:solidFill>
              <a:srgbClr val="A8351D"/>
            </a:solidFill>
            <a:ln>
              <a:noFill/>
            </a:ln>
          </p:spPr>
        </p:sp>
        <p:sp>
          <p:nvSpPr>
            <p:cNvPr id="129" name="Freeform 129"/>
            <p:cNvSpPr/>
            <p:nvPr/>
          </p:nvSpPr>
          <p:spPr>
            <a:xfrm rot="10800000">
              <a:off x="657225" y="4210050"/>
              <a:ext cx="1924050" cy="381000"/>
            </a:xfrm>
            <a:prstGeom prst="trapezoid">
              <a:avLst>
                <a:gd name="adj" fmla="val 12000"/>
              </a:avLst>
            </a:prstGeom>
            <a:solidFill>
              <a:srgbClr val="D64A2E"/>
            </a:solidFill>
            <a:ln>
              <a:noFill/>
            </a:ln>
          </p:spPr>
        </p:sp>
        <p:sp>
          <p:nvSpPr>
            <p:cNvPr id="130" name="Freeform 130"/>
            <p:cNvSpPr/>
            <p:nvPr/>
          </p:nvSpPr>
          <p:spPr>
            <a:xfrm rot="10800000">
              <a:off x="771525" y="4619625"/>
              <a:ext cx="1695450" cy="381000"/>
            </a:xfrm>
            <a:prstGeom prst="trapezoid">
              <a:avLst>
                <a:gd name="adj" fmla="val 12000"/>
              </a:avLst>
            </a:prstGeom>
            <a:solidFill>
              <a:srgbClr val="DE674F"/>
            </a:solidFill>
            <a:ln>
              <a:noFill/>
            </a:ln>
          </p:spPr>
        </p:sp>
        <p:sp>
          <p:nvSpPr>
            <p:cNvPr id="131" name="Freeform 131"/>
            <p:cNvSpPr/>
            <p:nvPr/>
          </p:nvSpPr>
          <p:spPr>
            <a:xfrm rot="10800000">
              <a:off x="885825" y="5029200"/>
              <a:ext cx="1466850" cy="381000"/>
            </a:xfrm>
            <a:prstGeom prst="trapezoid">
              <a:avLst>
                <a:gd name="adj" fmla="val 12000"/>
              </a:avLst>
            </a:prstGeom>
            <a:solidFill>
              <a:srgbClr val="E5907F"/>
            </a:solidFill>
            <a:ln>
              <a:noFill/>
            </a:ln>
          </p:spPr>
        </p:sp>
        <p:sp>
          <p:nvSpPr>
            <p:cNvPr id="132" name="Freeform 132"/>
            <p:cNvSpPr/>
            <p:nvPr/>
          </p:nvSpPr>
          <p:spPr>
            <a:xfrm rot="10800000">
              <a:off x="1000125" y="5438775"/>
              <a:ext cx="1238250" cy="381000"/>
            </a:xfrm>
            <a:prstGeom prst="trapezoid">
              <a:avLst>
                <a:gd name="adj" fmla="val 12000"/>
              </a:avLst>
            </a:prstGeom>
            <a:solidFill>
              <a:srgbClr val="ECB4A9"/>
            </a:solidFill>
            <a:ln>
              <a:noFill/>
            </a:ln>
          </p:spPr>
        </p:sp>
        <p:sp>
          <p:nvSpPr>
            <p:cNvPr id="133" name="TextBox 133"/>
            <p:cNvSpPr txBox="1"/>
            <p:nvPr/>
          </p:nvSpPr>
          <p:spPr>
            <a:xfrm>
              <a:off x="1338516" y="3530441"/>
              <a:ext cx="56146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单位签约率</a:t>
              </a:r>
            </a:p>
          </p:txBody>
        </p:sp>
        <p:sp>
          <p:nvSpPr>
            <p:cNvPr id="134" name="TextBox 134"/>
            <p:cNvSpPr txBox="1"/>
            <p:nvPr/>
          </p:nvSpPr>
          <p:spPr>
            <a:xfrm>
              <a:off x="1448905" y="3940016"/>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开卡率</a:t>
              </a:r>
            </a:p>
          </p:txBody>
        </p:sp>
        <p:sp>
          <p:nvSpPr>
            <p:cNvPr id="135" name="TextBox 135"/>
            <p:cNvSpPr txBox="1"/>
            <p:nvPr/>
          </p:nvSpPr>
          <p:spPr>
            <a:xfrm>
              <a:off x="1448905" y="434959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首登率</a:t>
              </a:r>
            </a:p>
          </p:txBody>
        </p:sp>
        <p:sp>
          <p:nvSpPr>
            <p:cNvPr id="136" name="TextBox 136"/>
            <p:cNvSpPr txBox="1"/>
            <p:nvPr/>
          </p:nvSpPr>
          <p:spPr>
            <a:xfrm>
              <a:off x="1448905" y="4759166"/>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月活率</a:t>
              </a:r>
            </a:p>
          </p:txBody>
        </p:sp>
        <p:sp>
          <p:nvSpPr>
            <p:cNvPr id="137" name="TextBox 137"/>
            <p:cNvSpPr txBox="1"/>
            <p:nvPr/>
          </p:nvSpPr>
          <p:spPr>
            <a:xfrm>
              <a:off x="1271872" y="5168741"/>
              <a:ext cx="69475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AUM转化率​​</a:t>
              </a:r>
            </a:p>
          </p:txBody>
        </p:sp>
        <p:sp>
          <p:nvSpPr>
            <p:cNvPr id="138" name="TextBox 138"/>
            <p:cNvSpPr txBox="1"/>
            <p:nvPr/>
          </p:nvSpPr>
          <p:spPr>
            <a:xfrm>
              <a:off x="1211018" y="5578316"/>
              <a:ext cx="816464"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12个月留存率​​</a:t>
              </a:r>
            </a:p>
          </p:txBody>
        </p:sp>
        <p:sp>
          <p:nvSpPr>
            <p:cNvPr id="139" name="TextBox 139"/>
            <p:cNvSpPr txBox="1"/>
            <p:nvPr/>
          </p:nvSpPr>
          <p:spPr>
            <a:xfrm>
              <a:off x="2675601" y="3515678"/>
              <a:ext cx="530133" cy="205359"/>
            </a:xfrm>
            <a:prstGeom prst="rect">
              <a:avLst/>
            </a:prstGeom>
            <a:noFill/>
            <a:ln>
              <a:noFill/>
            </a:ln>
          </p:spPr>
          <p:txBody>
            <a:bodyPr wrap="none" lIns="0" tIns="0" rIns="0" bIns="0" anchor="t" anchorCtr="0">
              <a:spAutoFit/>
            </a:bodyPr>
            <a:lstStyle/>
            <a:p>
              <a:pPr algn="r"/>
              <a:r>
                <a:rPr lang="zh-CN" sz="1050" b="1" dirty="0">
                  <a:solidFill>
                    <a:srgbClr val="C9462F"/>
                  </a:solidFill>
                  <a:latin typeface="+mn-lt"/>
                  <a:ea typeface="+mn-ea"/>
                  <a:cs typeface="+mn-cs"/>
                </a:rPr>
                <a:t>100%​​</a:t>
              </a:r>
            </a:p>
          </p:txBody>
        </p:sp>
        <p:sp>
          <p:nvSpPr>
            <p:cNvPr id="140" name="TextBox 140"/>
            <p:cNvSpPr txBox="1"/>
            <p:nvPr/>
          </p:nvSpPr>
          <p:spPr>
            <a:xfrm>
              <a:off x="2757231" y="3925252"/>
              <a:ext cx="448503" cy="205359"/>
            </a:xfrm>
            <a:prstGeom prst="rect">
              <a:avLst/>
            </a:prstGeom>
            <a:noFill/>
            <a:ln>
              <a:noFill/>
            </a:ln>
          </p:spPr>
          <p:txBody>
            <a:bodyPr wrap="none" lIns="0" tIns="0" rIns="0" bIns="0" anchor="t" anchorCtr="0">
              <a:spAutoFit/>
            </a:bodyPr>
            <a:lstStyle/>
            <a:p>
              <a:pPr algn="r"/>
              <a:r>
                <a:rPr lang="zh-CN" sz="1050" b="1" dirty="0">
                  <a:solidFill>
                    <a:srgbClr val="C9462F"/>
                  </a:solidFill>
                  <a:latin typeface="+mn-lt"/>
                  <a:ea typeface="+mn-ea"/>
                  <a:cs typeface="+mn-cs"/>
                </a:rPr>
                <a:t>92%​​</a:t>
              </a:r>
            </a:p>
          </p:txBody>
        </p:sp>
        <p:sp>
          <p:nvSpPr>
            <p:cNvPr id="141" name="TextBox 141"/>
            <p:cNvSpPr txBox="1"/>
            <p:nvPr/>
          </p:nvSpPr>
          <p:spPr>
            <a:xfrm>
              <a:off x="2757231" y="4334828"/>
              <a:ext cx="448503" cy="205359"/>
            </a:xfrm>
            <a:prstGeom prst="rect">
              <a:avLst/>
            </a:prstGeom>
            <a:noFill/>
            <a:ln>
              <a:noFill/>
            </a:ln>
          </p:spPr>
          <p:txBody>
            <a:bodyPr wrap="none" lIns="0" tIns="0" rIns="0" bIns="0" anchor="t" anchorCtr="0">
              <a:spAutoFit/>
            </a:bodyPr>
            <a:lstStyle/>
            <a:p>
              <a:pPr algn="r"/>
              <a:r>
                <a:rPr lang="zh-CN" sz="1050" b="1" dirty="0">
                  <a:solidFill>
                    <a:srgbClr val="C9462F"/>
                  </a:solidFill>
                  <a:latin typeface="+mn-lt"/>
                  <a:ea typeface="+mn-ea"/>
                  <a:cs typeface="+mn-cs"/>
                </a:rPr>
                <a:t>78%​​</a:t>
              </a:r>
            </a:p>
          </p:txBody>
        </p:sp>
        <p:sp>
          <p:nvSpPr>
            <p:cNvPr id="142" name="TextBox 142"/>
            <p:cNvSpPr txBox="1"/>
            <p:nvPr/>
          </p:nvSpPr>
          <p:spPr>
            <a:xfrm>
              <a:off x="2757231" y="4744402"/>
              <a:ext cx="448503" cy="205359"/>
            </a:xfrm>
            <a:prstGeom prst="rect">
              <a:avLst/>
            </a:prstGeom>
            <a:noFill/>
            <a:ln>
              <a:noFill/>
            </a:ln>
          </p:spPr>
          <p:txBody>
            <a:bodyPr wrap="none" lIns="0" tIns="0" rIns="0" bIns="0" anchor="t" anchorCtr="0">
              <a:spAutoFit/>
            </a:bodyPr>
            <a:lstStyle/>
            <a:p>
              <a:pPr algn="r"/>
              <a:r>
                <a:rPr lang="zh-CN" sz="1050" b="1" dirty="0">
                  <a:solidFill>
                    <a:srgbClr val="C9462F"/>
                  </a:solidFill>
                  <a:latin typeface="+mn-lt"/>
                  <a:ea typeface="+mn-ea"/>
                  <a:cs typeface="+mn-cs"/>
                </a:rPr>
                <a:t>65%​​</a:t>
              </a:r>
            </a:p>
          </p:txBody>
        </p:sp>
        <p:sp>
          <p:nvSpPr>
            <p:cNvPr id="143" name="TextBox 143"/>
            <p:cNvSpPr txBox="1"/>
            <p:nvPr/>
          </p:nvSpPr>
          <p:spPr>
            <a:xfrm>
              <a:off x="2757231" y="5153978"/>
              <a:ext cx="448503" cy="205359"/>
            </a:xfrm>
            <a:prstGeom prst="rect">
              <a:avLst/>
            </a:prstGeom>
            <a:noFill/>
            <a:ln>
              <a:noFill/>
            </a:ln>
          </p:spPr>
          <p:txBody>
            <a:bodyPr wrap="none" lIns="0" tIns="0" rIns="0" bIns="0" anchor="t" anchorCtr="0">
              <a:spAutoFit/>
            </a:bodyPr>
            <a:lstStyle/>
            <a:p>
              <a:pPr algn="r"/>
              <a:r>
                <a:rPr lang="zh-CN" sz="1050" b="1" dirty="0">
                  <a:solidFill>
                    <a:srgbClr val="C9462F"/>
                  </a:solidFill>
                  <a:latin typeface="+mn-lt"/>
                  <a:ea typeface="+mn-ea"/>
                  <a:cs typeface="+mn-cs"/>
                </a:rPr>
                <a:t>32%​​</a:t>
              </a:r>
            </a:p>
          </p:txBody>
        </p:sp>
        <p:sp>
          <p:nvSpPr>
            <p:cNvPr id="144" name="TextBox 144"/>
            <p:cNvSpPr txBox="1"/>
            <p:nvPr/>
          </p:nvSpPr>
          <p:spPr>
            <a:xfrm>
              <a:off x="2757231" y="5563552"/>
              <a:ext cx="448503" cy="205359"/>
            </a:xfrm>
            <a:prstGeom prst="rect">
              <a:avLst/>
            </a:prstGeom>
            <a:noFill/>
            <a:ln>
              <a:noFill/>
            </a:ln>
          </p:spPr>
          <p:txBody>
            <a:bodyPr wrap="none" lIns="0" tIns="0" rIns="0" bIns="0" anchor="t" anchorCtr="0">
              <a:spAutoFit/>
            </a:bodyPr>
            <a:lstStyle/>
            <a:p>
              <a:pPr algn="r"/>
              <a:r>
                <a:rPr lang="zh-CN" sz="1050" b="1" dirty="0">
                  <a:solidFill>
                    <a:srgbClr val="C9462F"/>
                  </a:solidFill>
                  <a:latin typeface="+mn-lt"/>
                  <a:ea typeface="+mn-ea"/>
                  <a:cs typeface="+mn-cs"/>
                </a:rPr>
                <a:t>88%​​</a:t>
              </a:r>
            </a:p>
          </p:txBody>
        </p:sp>
      </p:grpSp>
      <p:grpSp>
        <p:nvGrpSpPr>
          <p:cNvPr id="208" name="platform"/>
          <p:cNvGrpSpPr/>
          <p:nvPr/>
        </p:nvGrpSpPr>
        <p:grpSpPr>
          <a:xfrm>
            <a:off x="3390900" y="2952750"/>
            <a:ext cx="4953000" cy="3752850"/>
            <a:chOff x="3390900" y="2952750"/>
            <a:chExt cx="4953000" cy="3752850"/>
          </a:xfrm>
        </p:grpSpPr>
        <p:sp>
          <p:nvSpPr>
            <p:cNvPr id="146" name="Rectangle 146"/>
            <p:cNvSpPr/>
            <p:nvPr/>
          </p:nvSpPr>
          <p:spPr>
            <a:xfrm>
              <a:off x="3390900" y="2952750"/>
              <a:ext cx="4953000" cy="3752850"/>
            </a:xfrm>
            <a:prstGeom prst="roundRect">
              <a:avLst>
                <a:gd name="adj" fmla="val 2538"/>
              </a:avLst>
            </a:prstGeom>
            <a:solidFill>
              <a:srgbClr val="F9FBFE"/>
            </a:solidFill>
            <a:ln w="9525">
              <a:solidFill>
                <a:srgbClr val="C9D8EF"/>
              </a:solidFill>
            </a:ln>
          </p:spPr>
        </p:sp>
        <p:sp>
          <p:nvSpPr>
            <p:cNvPr id="147" name="Rectangle 147"/>
            <p:cNvSpPr/>
            <p:nvPr/>
          </p:nvSpPr>
          <p:spPr>
            <a:xfrm>
              <a:off x="3581400" y="3028950"/>
              <a:ext cx="4572000" cy="285750"/>
            </a:xfrm>
            <a:prstGeom prst="roundRect">
              <a:avLst>
                <a:gd name="adj" fmla="val 13333"/>
              </a:avLst>
            </a:prstGeom>
            <a:gradFill>
              <a:gsLst>
                <a:gs pos="0">
                  <a:srgbClr val="AD3921"/>
                </a:gs>
                <a:gs pos="100000">
                  <a:srgbClr val="962C16"/>
                </a:gs>
              </a:gsLst>
              <a:lin ang="5400000" scaled="1"/>
            </a:gradFill>
            <a:ln>
              <a:noFill/>
            </a:ln>
          </p:spPr>
        </p:sp>
        <p:sp>
          <p:nvSpPr>
            <p:cNvPr id="148" name="TextBox 148"/>
            <p:cNvSpPr txBox="1"/>
            <p:nvPr/>
          </p:nvSpPr>
          <p:spPr>
            <a:xfrm>
              <a:off x="4761648" y="3115628"/>
              <a:ext cx="221150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企业服务 + 员工经营 + 数字权益​​</a:t>
              </a:r>
            </a:p>
          </p:txBody>
        </p:sp>
        <p:sp>
          <p:nvSpPr>
            <p:cNvPr id="149" name="Line 149"/>
            <p:cNvSpPr/>
            <p:nvPr/>
          </p:nvSpPr>
          <p:spPr>
            <a:xfrm>
              <a:off x="3810000" y="3543300"/>
              <a:ext cx="952500" cy="9525"/>
            </a:xfrm>
            <a:custGeom>
              <a:avLst/>
              <a:gdLst/>
              <a:ahLst/>
              <a:cxnLst/>
              <a:rect l="l" t="t" r="r" b="b"/>
              <a:pathLst>
                <a:path w="952500" h="9525">
                  <a:moveTo>
                    <a:pt x="0" y="0"/>
                  </a:moveTo>
                  <a:lnTo>
                    <a:pt x="952500" y="0"/>
                  </a:lnTo>
                </a:path>
              </a:pathLst>
            </a:custGeom>
            <a:noFill/>
            <a:ln w="9525">
              <a:solidFill>
                <a:srgbClr val="C9D8EF"/>
              </a:solidFill>
            </a:ln>
          </p:spPr>
        </p:sp>
        <p:grpSp>
          <p:nvGrpSpPr>
            <p:cNvPr id="158" name="Group 158"/>
            <p:cNvGrpSpPr/>
            <p:nvPr/>
          </p:nvGrpSpPr>
          <p:grpSpPr>
            <a:xfrm>
              <a:off x="4945856" y="3440906"/>
              <a:ext cx="185737" cy="195262"/>
              <a:chOff x="4945856" y="3440906"/>
              <a:chExt cx="185737" cy="195262"/>
            </a:xfrm>
          </p:grpSpPr>
          <p:sp>
            <p:nvSpPr>
              <p:cNvPr id="150" name="Freeform 150"/>
              <p:cNvSpPr/>
              <p:nvPr/>
            </p:nvSpPr>
            <p:spPr>
              <a:xfrm>
                <a:off x="4945856" y="3626643"/>
                <a:ext cx="185737" cy="9525"/>
              </a:xfrm>
              <a:custGeom>
                <a:avLst/>
                <a:gdLst/>
                <a:ahLst/>
                <a:cxnLst/>
                <a:rect l="l" t="t" r="r" b="b"/>
                <a:pathLst>
                  <a:path w="185737" h="9525">
                    <a:moveTo>
                      <a:pt x="0" y="0"/>
                    </a:moveTo>
                    <a:lnTo>
                      <a:pt x="185737" y="0"/>
                    </a:lnTo>
                  </a:path>
                </a:pathLst>
              </a:custGeom>
              <a:noFill/>
              <a:ln w="20637">
                <a:solidFill>
                  <a:srgbClr val="A8351D"/>
                </a:solidFill>
              </a:ln>
            </p:spPr>
          </p:sp>
          <p:sp>
            <p:nvSpPr>
              <p:cNvPr id="151" name="Freeform 151"/>
              <p:cNvSpPr/>
              <p:nvPr/>
            </p:nvSpPr>
            <p:spPr>
              <a:xfrm>
                <a:off x="4945856" y="3513137"/>
                <a:ext cx="185737" cy="9525"/>
              </a:xfrm>
              <a:custGeom>
                <a:avLst/>
                <a:gdLst/>
                <a:ahLst/>
                <a:cxnLst/>
                <a:rect l="l" t="t" r="r" b="b"/>
                <a:pathLst>
                  <a:path w="185737" h="9525">
                    <a:moveTo>
                      <a:pt x="0" y="0"/>
                    </a:moveTo>
                    <a:lnTo>
                      <a:pt x="185737" y="0"/>
                    </a:lnTo>
                  </a:path>
                </a:pathLst>
              </a:custGeom>
              <a:noFill/>
              <a:ln w="20637">
                <a:solidFill>
                  <a:srgbClr val="A8351D"/>
                </a:solidFill>
              </a:ln>
            </p:spPr>
          </p:sp>
          <p:sp>
            <p:nvSpPr>
              <p:cNvPr id="152" name="Freeform 152"/>
              <p:cNvSpPr/>
              <p:nvPr/>
            </p:nvSpPr>
            <p:spPr>
              <a:xfrm>
                <a:off x="4966494" y="3440906"/>
                <a:ext cx="144462" cy="30956"/>
              </a:xfrm>
              <a:custGeom>
                <a:avLst/>
                <a:gdLst/>
                <a:ahLst/>
                <a:cxnLst/>
                <a:rect l="l" t="t" r="r" b="b"/>
                <a:pathLst>
                  <a:path w="144462" h="30956">
                    <a:moveTo>
                      <a:pt x="0" y="30956"/>
                    </a:moveTo>
                    <a:lnTo>
                      <a:pt x="72231" y="0"/>
                    </a:lnTo>
                    <a:lnTo>
                      <a:pt x="144462" y="30956"/>
                    </a:lnTo>
                  </a:path>
                </a:pathLst>
              </a:custGeom>
              <a:noFill/>
              <a:ln w="20637">
                <a:solidFill>
                  <a:srgbClr val="A8351D"/>
                </a:solidFill>
              </a:ln>
            </p:spPr>
          </p:sp>
          <p:sp>
            <p:nvSpPr>
              <p:cNvPr id="153" name="Freeform 153"/>
              <p:cNvSpPr/>
              <p:nvPr/>
            </p:nvSpPr>
            <p:spPr>
              <a:xfrm>
                <a:off x="4956175" y="3513137"/>
                <a:ext cx="9525" cy="113506"/>
              </a:xfrm>
              <a:custGeom>
                <a:avLst/>
                <a:gdLst/>
                <a:ahLst/>
                <a:cxnLst/>
                <a:rect l="l" t="t" r="r" b="b"/>
                <a:pathLst>
                  <a:path w="9525" h="113506">
                    <a:moveTo>
                      <a:pt x="0" y="0"/>
                    </a:moveTo>
                    <a:lnTo>
                      <a:pt x="0" y="113506"/>
                    </a:lnTo>
                  </a:path>
                </a:pathLst>
              </a:custGeom>
              <a:noFill/>
              <a:ln w="20637">
                <a:solidFill>
                  <a:srgbClr val="A8351D"/>
                </a:solidFill>
              </a:ln>
            </p:spPr>
          </p:sp>
          <p:sp>
            <p:nvSpPr>
              <p:cNvPr id="154" name="Freeform 154"/>
              <p:cNvSpPr/>
              <p:nvPr/>
            </p:nvSpPr>
            <p:spPr>
              <a:xfrm>
                <a:off x="5121274" y="3513137"/>
                <a:ext cx="9525" cy="113506"/>
              </a:xfrm>
              <a:custGeom>
                <a:avLst/>
                <a:gdLst/>
                <a:ahLst/>
                <a:cxnLst/>
                <a:rect l="l" t="t" r="r" b="b"/>
                <a:pathLst>
                  <a:path w="9525" h="113506">
                    <a:moveTo>
                      <a:pt x="0" y="0"/>
                    </a:moveTo>
                    <a:lnTo>
                      <a:pt x="0" y="113506"/>
                    </a:lnTo>
                  </a:path>
                </a:pathLst>
              </a:custGeom>
              <a:noFill/>
              <a:ln w="20637">
                <a:solidFill>
                  <a:srgbClr val="A8351D"/>
                </a:solidFill>
              </a:ln>
            </p:spPr>
          </p:sp>
          <p:sp>
            <p:nvSpPr>
              <p:cNvPr id="155" name="Freeform 155"/>
              <p:cNvSpPr/>
              <p:nvPr/>
            </p:nvSpPr>
            <p:spPr>
              <a:xfrm>
                <a:off x="4997450" y="3554412"/>
                <a:ext cx="9525" cy="30956"/>
              </a:xfrm>
              <a:custGeom>
                <a:avLst/>
                <a:gdLst/>
                <a:ahLst/>
                <a:cxnLst/>
                <a:rect l="l" t="t" r="r" b="b"/>
                <a:pathLst>
                  <a:path w="9525" h="30956">
                    <a:moveTo>
                      <a:pt x="0" y="0"/>
                    </a:moveTo>
                    <a:lnTo>
                      <a:pt x="0" y="30956"/>
                    </a:lnTo>
                  </a:path>
                </a:pathLst>
              </a:custGeom>
              <a:noFill/>
              <a:ln w="20637">
                <a:solidFill>
                  <a:srgbClr val="A8351D"/>
                </a:solidFill>
              </a:ln>
            </p:spPr>
          </p:sp>
          <p:sp>
            <p:nvSpPr>
              <p:cNvPr id="156" name="Freeform 156"/>
              <p:cNvSpPr/>
              <p:nvPr/>
            </p:nvSpPr>
            <p:spPr>
              <a:xfrm>
                <a:off x="5038725" y="3554412"/>
                <a:ext cx="9525" cy="30956"/>
              </a:xfrm>
              <a:custGeom>
                <a:avLst/>
                <a:gdLst/>
                <a:ahLst/>
                <a:cxnLst/>
                <a:rect l="l" t="t" r="r" b="b"/>
                <a:pathLst>
                  <a:path w="9525" h="30956">
                    <a:moveTo>
                      <a:pt x="0" y="0"/>
                    </a:moveTo>
                    <a:lnTo>
                      <a:pt x="0" y="30956"/>
                    </a:lnTo>
                  </a:path>
                </a:pathLst>
              </a:custGeom>
              <a:noFill/>
              <a:ln w="20637">
                <a:solidFill>
                  <a:srgbClr val="A8351D"/>
                </a:solidFill>
              </a:ln>
            </p:spPr>
          </p:sp>
          <p:sp>
            <p:nvSpPr>
              <p:cNvPr id="157" name="Freeform 157"/>
              <p:cNvSpPr/>
              <p:nvPr/>
            </p:nvSpPr>
            <p:spPr>
              <a:xfrm>
                <a:off x="5079999" y="3554412"/>
                <a:ext cx="9525" cy="30956"/>
              </a:xfrm>
              <a:custGeom>
                <a:avLst/>
                <a:gdLst/>
                <a:ahLst/>
                <a:cxnLst/>
                <a:rect l="l" t="t" r="r" b="b"/>
                <a:pathLst>
                  <a:path w="9525" h="30956">
                    <a:moveTo>
                      <a:pt x="0" y="0"/>
                    </a:moveTo>
                    <a:lnTo>
                      <a:pt x="0" y="30956"/>
                    </a:lnTo>
                  </a:path>
                </a:pathLst>
              </a:custGeom>
              <a:noFill/>
              <a:ln w="20637">
                <a:solidFill>
                  <a:srgbClr val="A8351D"/>
                </a:solidFill>
              </a:ln>
            </p:spPr>
          </p:sp>
        </p:grpSp>
        <p:sp>
          <p:nvSpPr>
            <p:cNvPr id="159" name="TextBox 159"/>
            <p:cNvSpPr txBox="1"/>
            <p:nvPr/>
          </p:nvSpPr>
          <p:spPr>
            <a:xfrm>
              <a:off x="5376672" y="3470910"/>
              <a:ext cx="981456" cy="234696"/>
            </a:xfrm>
            <a:prstGeom prst="rect">
              <a:avLst/>
            </a:prstGeom>
            <a:noFill/>
            <a:ln>
              <a:noFill/>
            </a:ln>
          </p:spPr>
          <p:txBody>
            <a:bodyPr wrap="none" lIns="0" tIns="0" rIns="0" bIns="0" anchor="t" anchorCtr="0">
              <a:spAutoFit/>
            </a:bodyPr>
            <a:lstStyle/>
            <a:p>
              <a:pPr algn="ctr"/>
              <a:r>
                <a:rPr lang="zh-CN" sz="1200" b="1" dirty="0">
                  <a:solidFill>
                    <a:srgbClr val="67281B"/>
                  </a:solidFill>
                  <a:latin typeface="+mn-lt"/>
                  <a:ea typeface="+mn-ea"/>
                  <a:cs typeface="+mn-cs"/>
                </a:rPr>
                <a:t>企业薪福平台</a:t>
              </a:r>
            </a:p>
          </p:txBody>
        </p:sp>
        <p:sp>
          <p:nvSpPr>
            <p:cNvPr id="160" name="Line 160"/>
            <p:cNvSpPr/>
            <p:nvPr/>
          </p:nvSpPr>
          <p:spPr>
            <a:xfrm>
              <a:off x="6972300" y="3543300"/>
              <a:ext cx="952500" cy="9525"/>
            </a:xfrm>
            <a:custGeom>
              <a:avLst/>
              <a:gdLst/>
              <a:ahLst/>
              <a:cxnLst/>
              <a:rect l="l" t="t" r="r" b="b"/>
              <a:pathLst>
                <a:path w="952500" h="9525">
                  <a:moveTo>
                    <a:pt x="0" y="0"/>
                  </a:moveTo>
                  <a:lnTo>
                    <a:pt x="952500" y="0"/>
                  </a:lnTo>
                </a:path>
              </a:pathLst>
            </a:custGeom>
            <a:noFill/>
            <a:ln w="9525">
              <a:solidFill>
                <a:srgbClr val="C9D8EF"/>
              </a:solidFill>
            </a:ln>
          </p:spPr>
        </p:sp>
        <p:sp>
          <p:nvSpPr>
            <p:cNvPr id="161" name="Rectangle 161"/>
            <p:cNvSpPr/>
            <p:nvPr/>
          </p:nvSpPr>
          <p:spPr>
            <a:xfrm>
              <a:off x="3486150" y="3771900"/>
              <a:ext cx="1524000" cy="1333500"/>
            </a:xfrm>
            <a:prstGeom prst="roundRect">
              <a:avLst>
                <a:gd name="adj" fmla="val 5714"/>
              </a:avLst>
            </a:prstGeom>
            <a:solidFill>
              <a:srgbClr val="FFFFFF"/>
            </a:solidFill>
            <a:ln w="9525">
              <a:solidFill>
                <a:srgbClr val="C9D8EF"/>
              </a:solidFill>
            </a:ln>
          </p:spPr>
        </p:sp>
        <p:grpSp>
          <p:nvGrpSpPr>
            <p:cNvPr id="165" name="Group 165"/>
            <p:cNvGrpSpPr/>
            <p:nvPr/>
          </p:nvGrpSpPr>
          <p:grpSpPr>
            <a:xfrm>
              <a:off x="4119562" y="4148138"/>
              <a:ext cx="257175" cy="200025"/>
              <a:chOff x="4119562" y="4148138"/>
              <a:chExt cx="257175" cy="200025"/>
            </a:xfrm>
          </p:grpSpPr>
          <p:sp>
            <p:nvSpPr>
              <p:cNvPr id="162" name="Freeform 162"/>
              <p:cNvSpPr/>
              <p:nvPr/>
            </p:nvSpPr>
            <p:spPr>
              <a:xfrm>
                <a:off x="4119562" y="4148138"/>
                <a:ext cx="200025" cy="142875"/>
              </a:xfrm>
              <a:custGeom>
                <a:avLst/>
                <a:gdLst/>
                <a:ahLst/>
                <a:cxnLst/>
                <a:rect l="l" t="t" r="r" b="b"/>
                <a:pathLst>
                  <a:path w="200025" h="142875">
                    <a:moveTo>
                      <a:pt x="57150" y="142875"/>
                    </a:moveTo>
                    <a:lnTo>
                      <a:pt x="14288" y="142875"/>
                    </a:lnTo>
                    <a:cubicBezTo>
                      <a:pt x="6397" y="142875"/>
                      <a:pt x="0" y="136478"/>
                      <a:pt x="0" y="128588"/>
                    </a:cubicBezTo>
                    <a:lnTo>
                      <a:pt x="0" y="14288"/>
                    </a:lnTo>
                    <a:cubicBezTo>
                      <a:pt x="0" y="6397"/>
                      <a:pt x="6397" y="0"/>
                      <a:pt x="14288" y="0"/>
                    </a:cubicBezTo>
                    <a:lnTo>
                      <a:pt x="185738" y="0"/>
                    </a:lnTo>
                    <a:cubicBezTo>
                      <a:pt x="193628" y="0"/>
                      <a:pt x="200025" y="6397"/>
                      <a:pt x="200025" y="14288"/>
                    </a:cubicBezTo>
                    <a:lnTo>
                      <a:pt x="200025" y="57150"/>
                    </a:lnTo>
                  </a:path>
                </a:pathLst>
              </a:custGeom>
              <a:noFill/>
              <a:ln w="28575">
                <a:solidFill>
                  <a:srgbClr val="A8351D"/>
                </a:solidFill>
              </a:ln>
            </p:spPr>
          </p:sp>
          <p:sp>
            <p:nvSpPr>
              <p:cNvPr id="163" name="Freeform 163"/>
              <p:cNvSpPr/>
              <p:nvPr/>
            </p:nvSpPr>
            <p:spPr>
              <a:xfrm>
                <a:off x="4176712" y="4205288"/>
                <a:ext cx="200025" cy="142875"/>
              </a:xfrm>
              <a:custGeom>
                <a:avLst/>
                <a:gdLst/>
                <a:ahLst/>
                <a:cxnLst/>
                <a:rect l="l" t="t" r="r" b="b"/>
                <a:pathLst>
                  <a:path w="200025" h="142875">
                    <a:moveTo>
                      <a:pt x="0" y="14288"/>
                    </a:moveTo>
                    <a:cubicBezTo>
                      <a:pt x="0" y="6397"/>
                      <a:pt x="6397" y="0"/>
                      <a:pt x="14288" y="0"/>
                    </a:cubicBezTo>
                    <a:lnTo>
                      <a:pt x="185738" y="0"/>
                    </a:lnTo>
                    <a:cubicBezTo>
                      <a:pt x="193628" y="0"/>
                      <a:pt x="200025" y="6397"/>
                      <a:pt x="200025" y="14288"/>
                    </a:cubicBezTo>
                    <a:lnTo>
                      <a:pt x="200025" y="128588"/>
                    </a:lnTo>
                    <a:cubicBezTo>
                      <a:pt x="200025" y="136478"/>
                      <a:pt x="193628" y="142875"/>
                      <a:pt x="185738" y="142875"/>
                    </a:cubicBezTo>
                    <a:lnTo>
                      <a:pt x="14288" y="142875"/>
                    </a:lnTo>
                    <a:cubicBezTo>
                      <a:pt x="6397" y="142875"/>
                      <a:pt x="0" y="136478"/>
                      <a:pt x="0" y="128588"/>
                    </a:cubicBezTo>
                    <a:lnTo>
                      <a:pt x="0" y="14288"/>
                    </a:lnTo>
                  </a:path>
                </a:pathLst>
              </a:custGeom>
              <a:noFill/>
              <a:ln w="28575">
                <a:solidFill>
                  <a:srgbClr val="A8351D"/>
                </a:solidFill>
              </a:ln>
            </p:spPr>
          </p:sp>
          <p:sp>
            <p:nvSpPr>
              <p:cNvPr id="164" name="Freeform 164"/>
              <p:cNvSpPr/>
              <p:nvPr/>
            </p:nvSpPr>
            <p:spPr>
              <a:xfrm>
                <a:off x="4248150" y="4248150"/>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A8351D"/>
                </a:solidFill>
              </a:ln>
            </p:spPr>
          </p:sp>
        </p:grpSp>
        <p:sp>
          <p:nvSpPr>
            <p:cNvPr id="166" name="TextBox 166"/>
            <p:cNvSpPr txBox="1"/>
            <p:nvPr/>
          </p:nvSpPr>
          <p:spPr>
            <a:xfrm>
              <a:off x="3979342" y="4695349"/>
              <a:ext cx="537616"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代发工资</a:t>
              </a:r>
            </a:p>
          </p:txBody>
        </p:sp>
        <p:sp>
          <p:nvSpPr>
            <p:cNvPr id="167" name="Rectangle 167"/>
            <p:cNvSpPr/>
            <p:nvPr/>
          </p:nvSpPr>
          <p:spPr>
            <a:xfrm>
              <a:off x="5124450" y="3771900"/>
              <a:ext cx="1524000" cy="1333500"/>
            </a:xfrm>
            <a:prstGeom prst="roundRect">
              <a:avLst>
                <a:gd name="adj" fmla="val 5714"/>
              </a:avLst>
            </a:prstGeom>
            <a:solidFill>
              <a:srgbClr val="FFFFFF"/>
            </a:solidFill>
            <a:ln w="9525">
              <a:solidFill>
                <a:srgbClr val="C9D8EF"/>
              </a:solidFill>
            </a:ln>
          </p:spPr>
        </p:sp>
        <p:grpSp>
          <p:nvGrpSpPr>
            <p:cNvPr id="173" name="Group 173"/>
            <p:cNvGrpSpPr/>
            <p:nvPr/>
          </p:nvGrpSpPr>
          <p:grpSpPr>
            <a:xfrm>
              <a:off x="5786438" y="4119562"/>
              <a:ext cx="200025" cy="257175"/>
              <a:chOff x="5786438" y="4119562"/>
              <a:chExt cx="200025" cy="257175"/>
            </a:xfrm>
          </p:grpSpPr>
          <p:sp>
            <p:nvSpPr>
              <p:cNvPr id="168" name="Freeform 168"/>
              <p:cNvSpPr/>
              <p:nvPr/>
            </p:nvSpPr>
            <p:spPr>
              <a:xfrm>
                <a:off x="5915025" y="4119562"/>
                <a:ext cx="71438" cy="71438"/>
              </a:xfrm>
              <a:custGeom>
                <a:avLst/>
                <a:gdLst/>
                <a:ahLst/>
                <a:cxnLst/>
                <a:rect l="l" t="t" r="r" b="b"/>
                <a:pathLst>
                  <a:path w="71438" h="71438">
                    <a:moveTo>
                      <a:pt x="0" y="0"/>
                    </a:moveTo>
                    <a:lnTo>
                      <a:pt x="0" y="57150"/>
                    </a:lnTo>
                    <a:cubicBezTo>
                      <a:pt x="0" y="65041"/>
                      <a:pt x="6397" y="71438"/>
                      <a:pt x="14288" y="71438"/>
                    </a:cubicBezTo>
                    <a:lnTo>
                      <a:pt x="71438" y="71438"/>
                    </a:lnTo>
                  </a:path>
                </a:pathLst>
              </a:custGeom>
              <a:noFill/>
              <a:ln w="28575">
                <a:solidFill>
                  <a:srgbClr val="A8351D"/>
                </a:solidFill>
              </a:ln>
            </p:spPr>
          </p:sp>
          <p:sp>
            <p:nvSpPr>
              <p:cNvPr id="169" name="Freeform 169"/>
              <p:cNvSpPr/>
              <p:nvPr/>
            </p:nvSpPr>
            <p:spPr>
              <a:xfrm>
                <a:off x="5786438" y="4119562"/>
                <a:ext cx="200025" cy="257175"/>
              </a:xfrm>
              <a:custGeom>
                <a:avLst/>
                <a:gdLst/>
                <a:ahLst/>
                <a:cxnLst/>
                <a:rect l="l" t="t" r="r" b="b"/>
                <a:pathLst>
                  <a:path w="200025" h="257175">
                    <a:moveTo>
                      <a:pt x="171450" y="257175"/>
                    </a:moveTo>
                    <a:lnTo>
                      <a:pt x="28575" y="257175"/>
                    </a:lnTo>
                    <a:cubicBezTo>
                      <a:pt x="12793" y="257175"/>
                      <a:pt x="0" y="244382"/>
                      <a:pt x="0" y="228600"/>
                    </a:cubicBezTo>
                    <a:lnTo>
                      <a:pt x="0" y="28575"/>
                    </a:lnTo>
                    <a:cubicBezTo>
                      <a:pt x="0" y="12793"/>
                      <a:pt x="12793" y="0"/>
                      <a:pt x="28575" y="0"/>
                    </a:cubicBezTo>
                    <a:lnTo>
                      <a:pt x="128588" y="0"/>
                    </a:lnTo>
                    <a:lnTo>
                      <a:pt x="200025" y="71438"/>
                    </a:lnTo>
                    <a:lnTo>
                      <a:pt x="200025" y="228600"/>
                    </a:lnTo>
                    <a:cubicBezTo>
                      <a:pt x="200025" y="244382"/>
                      <a:pt x="187232" y="257175"/>
                      <a:pt x="171450" y="257175"/>
                    </a:cubicBezTo>
                  </a:path>
                </a:pathLst>
              </a:custGeom>
              <a:noFill/>
              <a:ln w="28575">
                <a:solidFill>
                  <a:srgbClr val="A8351D"/>
                </a:solidFill>
              </a:ln>
            </p:spPr>
          </p:sp>
          <p:sp>
            <p:nvSpPr>
              <p:cNvPr id="170" name="Freeform 170"/>
              <p:cNvSpPr/>
              <p:nvPr/>
            </p:nvSpPr>
            <p:spPr>
              <a:xfrm>
                <a:off x="5843588" y="4205288"/>
                <a:ext cx="14288" cy="9525"/>
              </a:xfrm>
              <a:custGeom>
                <a:avLst/>
                <a:gdLst/>
                <a:ahLst/>
                <a:cxnLst/>
                <a:rect l="l" t="t" r="r" b="b"/>
                <a:pathLst>
                  <a:path w="14288" h="9525">
                    <a:moveTo>
                      <a:pt x="0" y="0"/>
                    </a:moveTo>
                    <a:lnTo>
                      <a:pt x="14288" y="0"/>
                    </a:lnTo>
                  </a:path>
                </a:pathLst>
              </a:custGeom>
              <a:noFill/>
              <a:ln w="28575">
                <a:solidFill>
                  <a:srgbClr val="A8351D"/>
                </a:solidFill>
              </a:ln>
            </p:spPr>
          </p:sp>
          <p:sp>
            <p:nvSpPr>
              <p:cNvPr id="171" name="Freeform 171"/>
              <p:cNvSpPr/>
              <p:nvPr/>
            </p:nvSpPr>
            <p:spPr>
              <a:xfrm>
                <a:off x="5843588" y="4262438"/>
                <a:ext cx="85725" cy="9525"/>
              </a:xfrm>
              <a:custGeom>
                <a:avLst/>
                <a:gdLst/>
                <a:ahLst/>
                <a:cxnLst/>
                <a:rect l="l" t="t" r="r" b="b"/>
                <a:pathLst>
                  <a:path w="85725" h="9525">
                    <a:moveTo>
                      <a:pt x="0" y="0"/>
                    </a:moveTo>
                    <a:lnTo>
                      <a:pt x="85725" y="0"/>
                    </a:lnTo>
                  </a:path>
                </a:pathLst>
              </a:custGeom>
              <a:noFill/>
              <a:ln w="28575">
                <a:solidFill>
                  <a:srgbClr val="A8351D"/>
                </a:solidFill>
              </a:ln>
            </p:spPr>
          </p:sp>
          <p:sp>
            <p:nvSpPr>
              <p:cNvPr id="172" name="Freeform 172"/>
              <p:cNvSpPr/>
              <p:nvPr/>
            </p:nvSpPr>
            <p:spPr>
              <a:xfrm>
                <a:off x="5843588" y="4319588"/>
                <a:ext cx="85725" cy="9525"/>
              </a:xfrm>
              <a:custGeom>
                <a:avLst/>
                <a:gdLst/>
                <a:ahLst/>
                <a:cxnLst/>
                <a:rect l="l" t="t" r="r" b="b"/>
                <a:pathLst>
                  <a:path w="85725" h="9525">
                    <a:moveTo>
                      <a:pt x="0" y="0"/>
                    </a:moveTo>
                    <a:lnTo>
                      <a:pt x="85725" y="0"/>
                    </a:lnTo>
                  </a:path>
                </a:pathLst>
              </a:custGeom>
              <a:noFill/>
              <a:ln w="28575">
                <a:solidFill>
                  <a:srgbClr val="A8351D"/>
                </a:solidFill>
              </a:ln>
            </p:spPr>
          </p:sp>
        </p:grpSp>
        <p:sp>
          <p:nvSpPr>
            <p:cNvPr id="174" name="TextBox 174"/>
            <p:cNvSpPr txBox="1"/>
            <p:nvPr/>
          </p:nvSpPr>
          <p:spPr>
            <a:xfrm>
              <a:off x="5551678" y="4695349"/>
              <a:ext cx="669544"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电子工资单</a:t>
              </a:r>
            </a:p>
          </p:txBody>
        </p:sp>
        <p:sp>
          <p:nvSpPr>
            <p:cNvPr id="175" name="Rectangle 175"/>
            <p:cNvSpPr/>
            <p:nvPr/>
          </p:nvSpPr>
          <p:spPr>
            <a:xfrm>
              <a:off x="6762750" y="3771900"/>
              <a:ext cx="1524000" cy="1333500"/>
            </a:xfrm>
            <a:prstGeom prst="roundRect">
              <a:avLst>
                <a:gd name="adj" fmla="val 5714"/>
              </a:avLst>
            </a:prstGeom>
            <a:solidFill>
              <a:srgbClr val="FFFFFF"/>
            </a:solidFill>
            <a:ln w="9525">
              <a:solidFill>
                <a:srgbClr val="C9D8EF"/>
              </a:solidFill>
            </a:ln>
          </p:spPr>
        </p:sp>
        <p:grpSp>
          <p:nvGrpSpPr>
            <p:cNvPr id="179" name="Group 179"/>
            <p:cNvGrpSpPr/>
            <p:nvPr/>
          </p:nvGrpSpPr>
          <p:grpSpPr>
            <a:xfrm>
              <a:off x="7401906" y="4119562"/>
              <a:ext cx="245659" cy="255604"/>
              <a:chOff x="7401906" y="4119562"/>
              <a:chExt cx="245659" cy="255604"/>
            </a:xfrm>
          </p:grpSpPr>
          <p:sp>
            <p:nvSpPr>
              <p:cNvPr id="176" name="Freeform 176"/>
              <p:cNvSpPr/>
              <p:nvPr/>
            </p:nvSpPr>
            <p:spPr>
              <a:xfrm>
                <a:off x="7439025" y="4119562"/>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28575">
                <a:solidFill>
                  <a:srgbClr val="A8351D"/>
                </a:solidFill>
              </a:ln>
            </p:spPr>
          </p:sp>
          <p:sp>
            <p:nvSpPr>
              <p:cNvPr id="177" name="Freeform 177"/>
              <p:cNvSpPr/>
              <p:nvPr/>
            </p:nvSpPr>
            <p:spPr>
              <a:xfrm>
                <a:off x="7524750" y="4248150"/>
                <a:ext cx="122815" cy="127016"/>
              </a:xfrm>
              <a:custGeom>
                <a:avLst/>
                <a:gdLst/>
                <a:ahLst/>
                <a:cxnLst/>
                <a:rect l="l" t="t" r="r" b="b"/>
                <a:pathLst>
                  <a:path w="122815" h="127016">
                    <a:moveTo>
                      <a:pt x="0" y="42862"/>
                    </a:moveTo>
                    <a:lnTo>
                      <a:pt x="48578" y="127016"/>
                    </a:lnTo>
                    <a:lnTo>
                      <a:pt x="71409" y="80824"/>
                    </a:lnTo>
                    <a:lnTo>
                      <a:pt x="122815" y="84139"/>
                    </a:lnTo>
                    <a:lnTo>
                      <a:pt x="74238" y="0"/>
                    </a:lnTo>
                  </a:path>
                </a:pathLst>
              </a:custGeom>
              <a:noFill/>
              <a:ln w="28575">
                <a:solidFill>
                  <a:srgbClr val="A8351D"/>
                </a:solidFill>
              </a:ln>
            </p:spPr>
          </p:sp>
          <p:sp>
            <p:nvSpPr>
              <p:cNvPr id="178" name="Freeform 178"/>
              <p:cNvSpPr/>
              <p:nvPr/>
            </p:nvSpPr>
            <p:spPr>
              <a:xfrm>
                <a:off x="7401906" y="4248150"/>
                <a:ext cx="122815" cy="127002"/>
              </a:xfrm>
              <a:custGeom>
                <a:avLst/>
                <a:gdLst/>
                <a:ahLst/>
                <a:cxnLst/>
                <a:rect l="l" t="t" r="r" b="b"/>
                <a:pathLst>
                  <a:path w="122815" h="127002">
                    <a:moveTo>
                      <a:pt x="48578" y="0"/>
                    </a:moveTo>
                    <a:lnTo>
                      <a:pt x="0" y="84153"/>
                    </a:lnTo>
                    <a:lnTo>
                      <a:pt x="51406" y="80824"/>
                    </a:lnTo>
                    <a:lnTo>
                      <a:pt x="74238" y="127002"/>
                    </a:lnTo>
                    <a:lnTo>
                      <a:pt x="122815" y="42862"/>
                    </a:lnTo>
                  </a:path>
                </a:pathLst>
              </a:custGeom>
              <a:noFill/>
              <a:ln w="28575">
                <a:solidFill>
                  <a:srgbClr val="A8351D"/>
                </a:solidFill>
              </a:ln>
            </p:spPr>
          </p:sp>
        </p:grpSp>
        <p:sp>
          <p:nvSpPr>
            <p:cNvPr id="180" name="TextBox 180"/>
            <p:cNvSpPr txBox="1"/>
            <p:nvPr/>
          </p:nvSpPr>
          <p:spPr>
            <a:xfrm>
              <a:off x="7255942" y="4695349"/>
              <a:ext cx="537616"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员工福利</a:t>
              </a:r>
            </a:p>
          </p:txBody>
        </p:sp>
        <p:sp>
          <p:nvSpPr>
            <p:cNvPr id="181" name="Rectangle 181"/>
            <p:cNvSpPr/>
            <p:nvPr/>
          </p:nvSpPr>
          <p:spPr>
            <a:xfrm>
              <a:off x="3486150" y="5219700"/>
              <a:ext cx="1524000" cy="1333500"/>
            </a:xfrm>
            <a:prstGeom prst="roundRect">
              <a:avLst>
                <a:gd name="adj" fmla="val 5714"/>
              </a:avLst>
            </a:prstGeom>
            <a:solidFill>
              <a:srgbClr val="FFFFFF"/>
            </a:solidFill>
            <a:ln w="9525">
              <a:solidFill>
                <a:srgbClr val="C9D8EF"/>
              </a:solidFill>
            </a:ln>
          </p:spPr>
        </p:sp>
        <p:grpSp>
          <p:nvGrpSpPr>
            <p:cNvPr id="188" name="Group 188"/>
            <p:cNvGrpSpPr/>
            <p:nvPr/>
          </p:nvGrpSpPr>
          <p:grpSpPr>
            <a:xfrm>
              <a:off x="4148138" y="5567362"/>
              <a:ext cx="200025" cy="257176"/>
              <a:chOff x="4148138" y="5567362"/>
              <a:chExt cx="200025" cy="257176"/>
            </a:xfrm>
          </p:grpSpPr>
          <p:sp>
            <p:nvSpPr>
              <p:cNvPr id="182" name="Freeform 182"/>
              <p:cNvSpPr/>
              <p:nvPr/>
            </p:nvSpPr>
            <p:spPr>
              <a:xfrm>
                <a:off x="4148138" y="5595938"/>
                <a:ext cx="200025" cy="228600"/>
              </a:xfrm>
              <a:custGeom>
                <a:avLst/>
                <a:gdLst/>
                <a:ahLst/>
                <a:cxnLst/>
                <a:rect l="l" t="t" r="r" b="b"/>
                <a:pathLst>
                  <a:path w="200025" h="228600">
                    <a:moveTo>
                      <a:pt x="57150" y="0"/>
                    </a:moveTo>
                    <a:lnTo>
                      <a:pt x="28575" y="0"/>
                    </a:lnTo>
                    <a:cubicBezTo>
                      <a:pt x="12793" y="0"/>
                      <a:pt x="0" y="12793"/>
                      <a:pt x="0" y="28575"/>
                    </a:cubicBezTo>
                    <a:lnTo>
                      <a:pt x="0" y="200025"/>
                    </a:lnTo>
                    <a:cubicBezTo>
                      <a:pt x="0" y="215807"/>
                      <a:pt x="12793" y="228600"/>
                      <a:pt x="28575" y="228600"/>
                    </a:cubicBezTo>
                    <a:lnTo>
                      <a:pt x="171450" y="228600"/>
                    </a:lnTo>
                    <a:cubicBezTo>
                      <a:pt x="187232" y="228600"/>
                      <a:pt x="200025" y="215807"/>
                      <a:pt x="200025" y="200025"/>
                    </a:cubicBezTo>
                    <a:lnTo>
                      <a:pt x="200025" y="28575"/>
                    </a:lnTo>
                    <a:cubicBezTo>
                      <a:pt x="200025" y="12793"/>
                      <a:pt x="187232" y="0"/>
                      <a:pt x="171450" y="0"/>
                    </a:cubicBezTo>
                    <a:lnTo>
                      <a:pt x="142875" y="0"/>
                    </a:lnTo>
                  </a:path>
                </a:pathLst>
              </a:custGeom>
              <a:noFill/>
              <a:ln w="28575">
                <a:solidFill>
                  <a:srgbClr val="A8351D"/>
                </a:solidFill>
              </a:ln>
            </p:spPr>
          </p:sp>
          <p:sp>
            <p:nvSpPr>
              <p:cNvPr id="183" name="Freeform 183"/>
              <p:cNvSpPr/>
              <p:nvPr/>
            </p:nvSpPr>
            <p:spPr>
              <a:xfrm>
                <a:off x="4205288" y="5567362"/>
                <a:ext cx="85725" cy="57150"/>
              </a:xfrm>
              <a:custGeom>
                <a:avLst/>
                <a:gdLst/>
                <a:ahLst/>
                <a:cxnLst/>
                <a:rect l="l" t="t" r="r" b="b"/>
                <a:pathLst>
                  <a:path w="85725" h="57150">
                    <a:moveTo>
                      <a:pt x="0" y="28575"/>
                    </a:moveTo>
                    <a:cubicBezTo>
                      <a:pt x="0" y="12793"/>
                      <a:pt x="12793" y="0"/>
                      <a:pt x="28575" y="0"/>
                    </a:cubicBezTo>
                    <a:lnTo>
                      <a:pt x="57150" y="0"/>
                    </a:lnTo>
                    <a:cubicBezTo>
                      <a:pt x="72932" y="0"/>
                      <a:pt x="85725" y="12793"/>
                      <a:pt x="85725" y="28575"/>
                    </a:cubicBezTo>
                    <a:cubicBezTo>
                      <a:pt x="85725" y="44357"/>
                      <a:pt x="72932" y="57150"/>
                      <a:pt x="57150" y="57150"/>
                    </a:cubicBezTo>
                    <a:lnTo>
                      <a:pt x="28575" y="57150"/>
                    </a:lnTo>
                    <a:cubicBezTo>
                      <a:pt x="12793" y="57150"/>
                      <a:pt x="0" y="44357"/>
                      <a:pt x="0" y="28575"/>
                    </a:cubicBezTo>
                  </a:path>
                </a:pathLst>
              </a:custGeom>
              <a:noFill/>
              <a:ln w="28575">
                <a:solidFill>
                  <a:srgbClr val="A8351D"/>
                </a:solidFill>
              </a:ln>
            </p:spPr>
          </p:sp>
          <p:sp>
            <p:nvSpPr>
              <p:cNvPr id="184" name="Freeform 184"/>
              <p:cNvSpPr/>
              <p:nvPr/>
            </p:nvSpPr>
            <p:spPr>
              <a:xfrm>
                <a:off x="4205288" y="5695950"/>
                <a:ext cx="9525" cy="9525"/>
              </a:xfrm>
              <a:custGeom>
                <a:avLst/>
                <a:gdLst/>
                <a:ahLst/>
                <a:cxnLst/>
                <a:rect l="l" t="t" r="r" b="b"/>
                <a:pathLst>
                  <a:path w="9525" h="9525">
                    <a:moveTo>
                      <a:pt x="0" y="0"/>
                    </a:moveTo>
                    <a:lnTo>
                      <a:pt x="143" y="0"/>
                    </a:lnTo>
                  </a:path>
                </a:pathLst>
              </a:custGeom>
              <a:noFill/>
              <a:ln w="28575">
                <a:solidFill>
                  <a:srgbClr val="A8351D"/>
                </a:solidFill>
              </a:ln>
            </p:spPr>
          </p:sp>
          <p:sp>
            <p:nvSpPr>
              <p:cNvPr id="185" name="Freeform 185"/>
              <p:cNvSpPr/>
              <p:nvPr/>
            </p:nvSpPr>
            <p:spPr>
              <a:xfrm>
                <a:off x="4262438" y="5695950"/>
                <a:ext cx="28575" cy="9525"/>
              </a:xfrm>
              <a:custGeom>
                <a:avLst/>
                <a:gdLst/>
                <a:ahLst/>
                <a:cxnLst/>
                <a:rect l="l" t="t" r="r" b="b"/>
                <a:pathLst>
                  <a:path w="28575" h="9525">
                    <a:moveTo>
                      <a:pt x="0" y="0"/>
                    </a:moveTo>
                    <a:lnTo>
                      <a:pt x="28575" y="0"/>
                    </a:lnTo>
                  </a:path>
                </a:pathLst>
              </a:custGeom>
              <a:noFill/>
              <a:ln w="28575">
                <a:solidFill>
                  <a:srgbClr val="A8351D"/>
                </a:solidFill>
              </a:ln>
            </p:spPr>
          </p:sp>
          <p:sp>
            <p:nvSpPr>
              <p:cNvPr id="186" name="Freeform 186"/>
              <p:cNvSpPr/>
              <p:nvPr/>
            </p:nvSpPr>
            <p:spPr>
              <a:xfrm>
                <a:off x="4205288" y="5753100"/>
                <a:ext cx="9525" cy="9525"/>
              </a:xfrm>
              <a:custGeom>
                <a:avLst/>
                <a:gdLst/>
                <a:ahLst/>
                <a:cxnLst/>
                <a:rect l="l" t="t" r="r" b="b"/>
                <a:pathLst>
                  <a:path w="9525" h="9525">
                    <a:moveTo>
                      <a:pt x="0" y="0"/>
                    </a:moveTo>
                    <a:lnTo>
                      <a:pt x="143" y="0"/>
                    </a:lnTo>
                  </a:path>
                </a:pathLst>
              </a:custGeom>
              <a:noFill/>
              <a:ln w="28575">
                <a:solidFill>
                  <a:srgbClr val="A8351D"/>
                </a:solidFill>
              </a:ln>
            </p:spPr>
          </p:sp>
          <p:sp>
            <p:nvSpPr>
              <p:cNvPr id="187" name="Freeform 187"/>
              <p:cNvSpPr/>
              <p:nvPr/>
            </p:nvSpPr>
            <p:spPr>
              <a:xfrm>
                <a:off x="4262438" y="5753100"/>
                <a:ext cx="28575" cy="9525"/>
              </a:xfrm>
              <a:custGeom>
                <a:avLst/>
                <a:gdLst/>
                <a:ahLst/>
                <a:cxnLst/>
                <a:rect l="l" t="t" r="r" b="b"/>
                <a:pathLst>
                  <a:path w="28575" h="9525">
                    <a:moveTo>
                      <a:pt x="0" y="0"/>
                    </a:moveTo>
                    <a:lnTo>
                      <a:pt x="28575" y="0"/>
                    </a:lnTo>
                  </a:path>
                </a:pathLst>
              </a:custGeom>
              <a:noFill/>
              <a:ln w="28575">
                <a:solidFill>
                  <a:srgbClr val="A8351D"/>
                </a:solidFill>
              </a:ln>
            </p:spPr>
          </p:sp>
        </p:grpSp>
        <p:sp>
          <p:nvSpPr>
            <p:cNvPr id="189" name="TextBox 189"/>
            <p:cNvSpPr txBox="1"/>
            <p:nvPr/>
          </p:nvSpPr>
          <p:spPr>
            <a:xfrm>
              <a:off x="3979342" y="6143149"/>
              <a:ext cx="537616"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报销服务</a:t>
              </a:r>
            </a:p>
          </p:txBody>
        </p:sp>
        <p:sp>
          <p:nvSpPr>
            <p:cNvPr id="190" name="Rectangle 190"/>
            <p:cNvSpPr/>
            <p:nvPr/>
          </p:nvSpPr>
          <p:spPr>
            <a:xfrm>
              <a:off x="5124450" y="5219700"/>
              <a:ext cx="1524000" cy="1333500"/>
            </a:xfrm>
            <a:prstGeom prst="roundRect">
              <a:avLst>
                <a:gd name="adj" fmla="val 5714"/>
              </a:avLst>
            </a:prstGeom>
            <a:solidFill>
              <a:srgbClr val="FFFFFF"/>
            </a:solidFill>
            <a:ln w="9525">
              <a:solidFill>
                <a:srgbClr val="C9D8EF"/>
              </a:solidFill>
            </a:ln>
          </p:spPr>
        </p:sp>
        <p:grpSp>
          <p:nvGrpSpPr>
            <p:cNvPr id="199" name="Group 199"/>
            <p:cNvGrpSpPr/>
            <p:nvPr/>
          </p:nvGrpSpPr>
          <p:grpSpPr>
            <a:xfrm>
              <a:off x="5772150" y="5567362"/>
              <a:ext cx="228600" cy="257175"/>
              <a:chOff x="5772150" y="5567362"/>
              <a:chExt cx="228600" cy="257175"/>
            </a:xfrm>
          </p:grpSpPr>
          <p:sp>
            <p:nvSpPr>
              <p:cNvPr id="191" name="Freeform 191"/>
              <p:cNvSpPr/>
              <p:nvPr/>
            </p:nvSpPr>
            <p:spPr>
              <a:xfrm>
                <a:off x="5772150" y="5567362"/>
                <a:ext cx="228600" cy="257175"/>
              </a:xfrm>
              <a:custGeom>
                <a:avLst/>
                <a:gdLst/>
                <a:ahLst/>
                <a:cxnLst/>
                <a:rect l="l" t="t" r="r" b="b"/>
                <a:pathLst>
                  <a:path w="228600" h="257175">
                    <a:moveTo>
                      <a:pt x="0" y="28575"/>
                    </a:moveTo>
                    <a:cubicBezTo>
                      <a:pt x="0" y="12793"/>
                      <a:pt x="12793" y="0"/>
                      <a:pt x="28575" y="0"/>
                    </a:cubicBezTo>
                    <a:lnTo>
                      <a:pt x="200025" y="0"/>
                    </a:lnTo>
                    <a:cubicBezTo>
                      <a:pt x="215807" y="0"/>
                      <a:pt x="228600" y="12793"/>
                      <a:pt x="228600" y="28575"/>
                    </a:cubicBezTo>
                    <a:lnTo>
                      <a:pt x="228600" y="228600"/>
                    </a:lnTo>
                    <a:cubicBezTo>
                      <a:pt x="228600" y="244382"/>
                      <a:pt x="215807" y="257175"/>
                      <a:pt x="200025" y="257175"/>
                    </a:cubicBezTo>
                    <a:lnTo>
                      <a:pt x="28575" y="257175"/>
                    </a:lnTo>
                    <a:cubicBezTo>
                      <a:pt x="12793" y="257175"/>
                      <a:pt x="0" y="244382"/>
                      <a:pt x="0" y="228600"/>
                    </a:cubicBezTo>
                    <a:lnTo>
                      <a:pt x="0" y="28575"/>
                    </a:lnTo>
                  </a:path>
                </a:pathLst>
              </a:custGeom>
              <a:noFill/>
              <a:ln w="28575">
                <a:solidFill>
                  <a:srgbClr val="A8351D"/>
                </a:solidFill>
              </a:ln>
            </p:spPr>
          </p:sp>
          <p:sp>
            <p:nvSpPr>
              <p:cNvPr id="192" name="Freeform 192"/>
              <p:cNvSpPr/>
              <p:nvPr/>
            </p:nvSpPr>
            <p:spPr>
              <a:xfrm>
                <a:off x="5829300" y="5624512"/>
                <a:ext cx="114300" cy="42862"/>
              </a:xfrm>
              <a:custGeom>
                <a:avLst/>
                <a:gdLst/>
                <a:ahLst/>
                <a:cxnLst/>
                <a:rect l="l" t="t" r="r" b="b"/>
                <a:pathLst>
                  <a:path w="114300" h="42862">
                    <a:moveTo>
                      <a:pt x="0" y="14288"/>
                    </a:moveTo>
                    <a:cubicBezTo>
                      <a:pt x="0" y="6397"/>
                      <a:pt x="6397" y="0"/>
                      <a:pt x="14288" y="0"/>
                    </a:cubicBezTo>
                    <a:lnTo>
                      <a:pt x="100012" y="0"/>
                    </a:lnTo>
                    <a:cubicBezTo>
                      <a:pt x="107903" y="0"/>
                      <a:pt x="114300" y="6397"/>
                      <a:pt x="114300" y="14288"/>
                    </a:cubicBezTo>
                    <a:lnTo>
                      <a:pt x="114300" y="28575"/>
                    </a:lnTo>
                    <a:cubicBezTo>
                      <a:pt x="114300" y="36466"/>
                      <a:pt x="107903" y="42862"/>
                      <a:pt x="100012" y="42862"/>
                    </a:cubicBezTo>
                    <a:lnTo>
                      <a:pt x="14288" y="42862"/>
                    </a:lnTo>
                    <a:cubicBezTo>
                      <a:pt x="6397" y="42862"/>
                      <a:pt x="0" y="36466"/>
                      <a:pt x="0" y="28575"/>
                    </a:cubicBezTo>
                    <a:lnTo>
                      <a:pt x="0" y="14288"/>
                    </a:lnTo>
                  </a:path>
                </a:pathLst>
              </a:custGeom>
              <a:noFill/>
              <a:ln w="28575">
                <a:solidFill>
                  <a:srgbClr val="A8351D"/>
                </a:solidFill>
              </a:ln>
            </p:spPr>
          </p:sp>
          <p:sp>
            <p:nvSpPr>
              <p:cNvPr id="193" name="Freeform 193"/>
              <p:cNvSpPr/>
              <p:nvPr/>
            </p:nvSpPr>
            <p:spPr>
              <a:xfrm>
                <a:off x="5829300" y="5724525"/>
                <a:ext cx="9525" cy="9525"/>
              </a:xfrm>
              <a:custGeom>
                <a:avLst/>
                <a:gdLst/>
                <a:ahLst/>
                <a:cxnLst/>
                <a:rect l="l" t="t" r="r" b="b"/>
                <a:pathLst>
                  <a:path w="9525" h="9525">
                    <a:moveTo>
                      <a:pt x="0" y="0"/>
                    </a:moveTo>
                    <a:lnTo>
                      <a:pt x="0" y="143"/>
                    </a:lnTo>
                  </a:path>
                </a:pathLst>
              </a:custGeom>
              <a:noFill/>
              <a:ln w="28575">
                <a:solidFill>
                  <a:srgbClr val="A8351D"/>
                </a:solidFill>
              </a:ln>
            </p:spPr>
          </p:sp>
          <p:sp>
            <p:nvSpPr>
              <p:cNvPr id="194" name="Freeform 194"/>
              <p:cNvSpPr/>
              <p:nvPr/>
            </p:nvSpPr>
            <p:spPr>
              <a:xfrm>
                <a:off x="5886450" y="5724525"/>
                <a:ext cx="9525" cy="9525"/>
              </a:xfrm>
              <a:custGeom>
                <a:avLst/>
                <a:gdLst/>
                <a:ahLst/>
                <a:cxnLst/>
                <a:rect l="l" t="t" r="r" b="b"/>
                <a:pathLst>
                  <a:path w="9525" h="9525">
                    <a:moveTo>
                      <a:pt x="0" y="0"/>
                    </a:moveTo>
                    <a:lnTo>
                      <a:pt x="0" y="143"/>
                    </a:lnTo>
                  </a:path>
                </a:pathLst>
              </a:custGeom>
              <a:noFill/>
              <a:ln w="28575">
                <a:solidFill>
                  <a:srgbClr val="A8351D"/>
                </a:solidFill>
              </a:ln>
            </p:spPr>
          </p:sp>
          <p:sp>
            <p:nvSpPr>
              <p:cNvPr id="195" name="Freeform 195"/>
              <p:cNvSpPr/>
              <p:nvPr/>
            </p:nvSpPr>
            <p:spPr>
              <a:xfrm>
                <a:off x="5943600" y="5724525"/>
                <a:ext cx="9525" cy="9525"/>
              </a:xfrm>
              <a:custGeom>
                <a:avLst/>
                <a:gdLst/>
                <a:ahLst/>
                <a:cxnLst/>
                <a:rect l="l" t="t" r="r" b="b"/>
                <a:pathLst>
                  <a:path w="9525" h="9525">
                    <a:moveTo>
                      <a:pt x="0" y="0"/>
                    </a:moveTo>
                    <a:lnTo>
                      <a:pt x="0" y="143"/>
                    </a:lnTo>
                  </a:path>
                </a:pathLst>
              </a:custGeom>
              <a:noFill/>
              <a:ln w="28575">
                <a:solidFill>
                  <a:srgbClr val="A8351D"/>
                </a:solidFill>
              </a:ln>
            </p:spPr>
          </p:sp>
          <p:sp>
            <p:nvSpPr>
              <p:cNvPr id="196" name="Freeform 196"/>
              <p:cNvSpPr/>
              <p:nvPr/>
            </p:nvSpPr>
            <p:spPr>
              <a:xfrm>
                <a:off x="5829300" y="5767388"/>
                <a:ext cx="9525" cy="9525"/>
              </a:xfrm>
              <a:custGeom>
                <a:avLst/>
                <a:gdLst/>
                <a:ahLst/>
                <a:cxnLst/>
                <a:rect l="l" t="t" r="r" b="b"/>
                <a:pathLst>
                  <a:path w="9525" h="9525">
                    <a:moveTo>
                      <a:pt x="0" y="0"/>
                    </a:moveTo>
                    <a:lnTo>
                      <a:pt x="0" y="143"/>
                    </a:lnTo>
                  </a:path>
                </a:pathLst>
              </a:custGeom>
              <a:noFill/>
              <a:ln w="28575">
                <a:solidFill>
                  <a:srgbClr val="A8351D"/>
                </a:solidFill>
              </a:ln>
            </p:spPr>
          </p:sp>
          <p:sp>
            <p:nvSpPr>
              <p:cNvPr id="197" name="Freeform 197"/>
              <p:cNvSpPr/>
              <p:nvPr/>
            </p:nvSpPr>
            <p:spPr>
              <a:xfrm>
                <a:off x="5886450" y="5767388"/>
                <a:ext cx="9525" cy="9525"/>
              </a:xfrm>
              <a:custGeom>
                <a:avLst/>
                <a:gdLst/>
                <a:ahLst/>
                <a:cxnLst/>
                <a:rect l="l" t="t" r="r" b="b"/>
                <a:pathLst>
                  <a:path w="9525" h="9525">
                    <a:moveTo>
                      <a:pt x="0" y="0"/>
                    </a:moveTo>
                    <a:lnTo>
                      <a:pt x="0" y="143"/>
                    </a:lnTo>
                  </a:path>
                </a:pathLst>
              </a:custGeom>
              <a:noFill/>
              <a:ln w="28575">
                <a:solidFill>
                  <a:srgbClr val="A8351D"/>
                </a:solidFill>
              </a:ln>
            </p:spPr>
          </p:sp>
          <p:sp>
            <p:nvSpPr>
              <p:cNvPr id="198" name="Freeform 198"/>
              <p:cNvSpPr/>
              <p:nvPr/>
            </p:nvSpPr>
            <p:spPr>
              <a:xfrm>
                <a:off x="5943600" y="5767388"/>
                <a:ext cx="9525" cy="9525"/>
              </a:xfrm>
              <a:custGeom>
                <a:avLst/>
                <a:gdLst/>
                <a:ahLst/>
                <a:cxnLst/>
                <a:rect l="l" t="t" r="r" b="b"/>
                <a:pathLst>
                  <a:path w="9525" h="9525">
                    <a:moveTo>
                      <a:pt x="0" y="0"/>
                    </a:moveTo>
                    <a:lnTo>
                      <a:pt x="0" y="143"/>
                    </a:lnTo>
                  </a:path>
                </a:pathLst>
              </a:custGeom>
              <a:noFill/>
              <a:ln w="28575">
                <a:solidFill>
                  <a:srgbClr val="A8351D"/>
                </a:solidFill>
              </a:ln>
            </p:spPr>
          </p:sp>
        </p:grpSp>
        <p:sp>
          <p:nvSpPr>
            <p:cNvPr id="200" name="TextBox 200"/>
            <p:cNvSpPr txBox="1"/>
            <p:nvPr/>
          </p:nvSpPr>
          <p:spPr>
            <a:xfrm>
              <a:off x="5617642" y="6143149"/>
              <a:ext cx="537616"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个税服务</a:t>
              </a:r>
            </a:p>
          </p:txBody>
        </p:sp>
        <p:sp>
          <p:nvSpPr>
            <p:cNvPr id="201" name="Rectangle 201"/>
            <p:cNvSpPr/>
            <p:nvPr/>
          </p:nvSpPr>
          <p:spPr>
            <a:xfrm>
              <a:off x="6762750" y="5219700"/>
              <a:ext cx="1524000" cy="1333500"/>
            </a:xfrm>
            <a:prstGeom prst="roundRect">
              <a:avLst>
                <a:gd name="adj" fmla="val 5714"/>
              </a:avLst>
            </a:prstGeom>
            <a:solidFill>
              <a:srgbClr val="FFFFFF"/>
            </a:solidFill>
            <a:ln w="9525">
              <a:solidFill>
                <a:srgbClr val="C9D8EF"/>
              </a:solidFill>
            </a:ln>
          </p:spPr>
        </p:sp>
        <p:grpSp>
          <p:nvGrpSpPr>
            <p:cNvPr id="206" name="Group 206"/>
            <p:cNvGrpSpPr/>
            <p:nvPr/>
          </p:nvGrpSpPr>
          <p:grpSpPr>
            <a:xfrm>
              <a:off x="7391215" y="5577985"/>
              <a:ext cx="266811" cy="232265"/>
              <a:chOff x="7391215" y="5577985"/>
              <a:chExt cx="266811" cy="232265"/>
            </a:xfrm>
          </p:grpSpPr>
          <p:sp>
            <p:nvSpPr>
              <p:cNvPr id="202" name="Freeform 202"/>
              <p:cNvSpPr/>
              <p:nvPr/>
            </p:nvSpPr>
            <p:spPr>
              <a:xfrm>
                <a:off x="7391215" y="5577985"/>
                <a:ext cx="266811" cy="232265"/>
              </a:xfrm>
              <a:custGeom>
                <a:avLst/>
                <a:gdLst/>
                <a:ahLst/>
                <a:cxnLst/>
                <a:rect l="l" t="t" r="r" b="b"/>
                <a:pathLst>
                  <a:path w="266811" h="232265">
                    <a:moveTo>
                      <a:pt x="240691" y="126138"/>
                    </a:moveTo>
                    <a:lnTo>
                      <a:pt x="133535" y="232265"/>
                    </a:lnTo>
                    <a:lnTo>
                      <a:pt x="26379" y="126138"/>
                    </a:lnTo>
                    <a:cubicBezTo>
                      <a:pt x="7109" y="107387"/>
                      <a:pt x="0" y="79404"/>
                      <a:pt x="7983" y="53729"/>
                    </a:cubicBezTo>
                    <a:cubicBezTo>
                      <a:pt x="15966" y="28055"/>
                      <a:pt x="37689" y="9037"/>
                      <a:pt x="64194" y="4518"/>
                    </a:cubicBezTo>
                    <a:cubicBezTo>
                      <a:pt x="90699" y="0"/>
                      <a:pt x="117496" y="10746"/>
                      <a:pt x="133535" y="32326"/>
                    </a:cubicBezTo>
                    <a:cubicBezTo>
                      <a:pt x="149641" y="10906"/>
                      <a:pt x="176381" y="302"/>
                      <a:pt x="202789" y="4863"/>
                    </a:cubicBezTo>
                    <a:cubicBezTo>
                      <a:pt x="229198" y="9424"/>
                      <a:pt x="250833" y="28381"/>
                      <a:pt x="258822" y="53962"/>
                    </a:cubicBezTo>
                    <a:cubicBezTo>
                      <a:pt x="266811" y="79543"/>
                      <a:pt x="259811" y="107444"/>
                      <a:pt x="240691" y="126224"/>
                    </a:cubicBezTo>
                  </a:path>
                </a:pathLst>
              </a:custGeom>
              <a:noFill/>
              <a:ln w="28575">
                <a:solidFill>
                  <a:srgbClr val="A8351D"/>
                </a:solidFill>
              </a:ln>
            </p:spPr>
          </p:sp>
          <p:sp>
            <p:nvSpPr>
              <p:cNvPr id="203" name="Freeform 203"/>
              <p:cNvSpPr/>
              <p:nvPr/>
            </p:nvSpPr>
            <p:spPr>
              <a:xfrm>
                <a:off x="7472124" y="5610225"/>
                <a:ext cx="159783" cy="92869"/>
              </a:xfrm>
              <a:custGeom>
                <a:avLst/>
                <a:gdLst/>
                <a:ahLst/>
                <a:cxnLst/>
                <a:rect l="l" t="t" r="r" b="b"/>
                <a:pathLst>
                  <a:path w="159783" h="92869">
                    <a:moveTo>
                      <a:pt x="52626" y="0"/>
                    </a:moveTo>
                    <a:lnTo>
                      <a:pt x="5578" y="47049"/>
                    </a:lnTo>
                    <a:cubicBezTo>
                      <a:pt x="0" y="52628"/>
                      <a:pt x="0" y="61672"/>
                      <a:pt x="5578" y="67251"/>
                    </a:cubicBezTo>
                    <a:lnTo>
                      <a:pt x="13336" y="75009"/>
                    </a:lnTo>
                    <a:cubicBezTo>
                      <a:pt x="23194" y="84868"/>
                      <a:pt x="39196" y="84868"/>
                      <a:pt x="49054" y="75009"/>
                    </a:cubicBezTo>
                    <a:lnTo>
                      <a:pt x="63342" y="60722"/>
                    </a:lnTo>
                    <a:cubicBezTo>
                      <a:pt x="81096" y="42968"/>
                      <a:pt x="109881" y="42968"/>
                      <a:pt x="127636" y="60722"/>
                    </a:cubicBezTo>
                    <a:lnTo>
                      <a:pt x="159783" y="92869"/>
                    </a:lnTo>
                  </a:path>
                </a:pathLst>
              </a:custGeom>
              <a:noFill/>
              <a:ln w="28575">
                <a:solidFill>
                  <a:srgbClr val="A8351D"/>
                </a:solidFill>
              </a:ln>
            </p:spPr>
          </p:sp>
          <p:sp>
            <p:nvSpPr>
              <p:cNvPr id="204" name="Freeform 204"/>
              <p:cNvSpPr/>
              <p:nvPr/>
            </p:nvSpPr>
            <p:spPr>
              <a:xfrm>
                <a:off x="7531894" y="5745956"/>
                <a:ext cx="28575" cy="28575"/>
              </a:xfrm>
              <a:custGeom>
                <a:avLst/>
                <a:gdLst/>
                <a:ahLst/>
                <a:cxnLst/>
                <a:rect l="l" t="t" r="r" b="b"/>
                <a:pathLst>
                  <a:path w="28575" h="28575">
                    <a:moveTo>
                      <a:pt x="0" y="0"/>
                    </a:moveTo>
                    <a:lnTo>
                      <a:pt x="28575" y="28575"/>
                    </a:lnTo>
                  </a:path>
                </a:pathLst>
              </a:custGeom>
              <a:noFill/>
              <a:ln w="28575">
                <a:solidFill>
                  <a:srgbClr val="A8351D"/>
                </a:solidFill>
              </a:ln>
            </p:spPr>
          </p:sp>
          <p:sp>
            <p:nvSpPr>
              <p:cNvPr id="205" name="Freeform 205"/>
              <p:cNvSpPr/>
              <p:nvPr/>
            </p:nvSpPr>
            <p:spPr>
              <a:xfrm>
                <a:off x="7567612" y="5710238"/>
                <a:ext cx="28575" cy="28575"/>
              </a:xfrm>
              <a:custGeom>
                <a:avLst/>
                <a:gdLst/>
                <a:ahLst/>
                <a:cxnLst/>
                <a:rect l="l" t="t" r="r" b="b"/>
                <a:pathLst>
                  <a:path w="28575" h="28575">
                    <a:moveTo>
                      <a:pt x="0" y="0"/>
                    </a:moveTo>
                    <a:lnTo>
                      <a:pt x="28575" y="28575"/>
                    </a:lnTo>
                  </a:path>
                </a:pathLst>
              </a:custGeom>
              <a:noFill/>
              <a:ln w="28575">
                <a:solidFill>
                  <a:srgbClr val="A8351D"/>
                </a:solidFill>
              </a:ln>
            </p:spPr>
          </p:sp>
        </p:grpSp>
        <p:sp>
          <p:nvSpPr>
            <p:cNvPr id="207" name="TextBox 207"/>
            <p:cNvSpPr txBox="1"/>
            <p:nvPr/>
          </p:nvSpPr>
          <p:spPr>
            <a:xfrm>
              <a:off x="7189978" y="6143149"/>
              <a:ext cx="669544"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养老金服务</a:t>
              </a:r>
            </a:p>
          </p:txBody>
        </p:sp>
      </p:grpSp>
      <p:grpSp>
        <p:nvGrpSpPr>
          <p:cNvPr id="235" name="focus"/>
          <p:cNvGrpSpPr/>
          <p:nvPr/>
        </p:nvGrpSpPr>
        <p:grpSpPr>
          <a:xfrm>
            <a:off x="8496300" y="2952750"/>
            <a:ext cx="3314700" cy="3752850"/>
            <a:chOff x="8496300" y="2952750"/>
            <a:chExt cx="3314700" cy="3752850"/>
          </a:xfrm>
        </p:grpSpPr>
        <p:sp>
          <p:nvSpPr>
            <p:cNvPr id="209" name="Rectangle 209"/>
            <p:cNvSpPr/>
            <p:nvPr/>
          </p:nvSpPr>
          <p:spPr>
            <a:xfrm>
              <a:off x="8496300" y="2952750"/>
              <a:ext cx="3314700" cy="3752850"/>
            </a:xfrm>
            <a:prstGeom prst="roundRect">
              <a:avLst>
                <a:gd name="adj" fmla="val 2874"/>
              </a:avLst>
            </a:prstGeom>
            <a:solidFill>
              <a:srgbClr val="F9FBFE"/>
            </a:solidFill>
            <a:ln w="9525">
              <a:solidFill>
                <a:srgbClr val="C9D8EF"/>
              </a:solidFill>
            </a:ln>
          </p:spPr>
        </p:sp>
        <p:sp>
          <p:nvSpPr>
            <p:cNvPr id="210" name="Rectangle 210"/>
            <p:cNvSpPr/>
            <p:nvPr/>
          </p:nvSpPr>
          <p:spPr>
            <a:xfrm>
              <a:off x="8686800" y="3028950"/>
              <a:ext cx="2933700" cy="285750"/>
            </a:xfrm>
            <a:prstGeom prst="roundRect">
              <a:avLst>
                <a:gd name="adj" fmla="val 13333"/>
              </a:avLst>
            </a:prstGeom>
            <a:gradFill>
              <a:gsLst>
                <a:gs pos="0">
                  <a:srgbClr val="AD3921"/>
                </a:gs>
                <a:gs pos="100000">
                  <a:srgbClr val="962C16"/>
                </a:gs>
              </a:gsLst>
              <a:lin ang="5400000" scaled="1"/>
            </a:gradFill>
            <a:ln>
              <a:noFill/>
            </a:ln>
          </p:spPr>
        </p:sp>
        <p:sp>
          <p:nvSpPr>
            <p:cNvPr id="211" name="TextBox 211"/>
            <p:cNvSpPr txBox="1"/>
            <p:nvPr/>
          </p:nvSpPr>
          <p:spPr>
            <a:xfrm>
              <a:off x="9865614" y="31156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经营关注</a:t>
              </a:r>
            </a:p>
          </p:txBody>
        </p:sp>
        <p:sp>
          <p:nvSpPr>
            <p:cNvPr id="212" name="Rectangle 212"/>
            <p:cNvSpPr/>
            <p:nvPr/>
          </p:nvSpPr>
          <p:spPr>
            <a:xfrm>
              <a:off x="8648700" y="3543300"/>
              <a:ext cx="3009900" cy="914400"/>
            </a:xfrm>
            <a:prstGeom prst="roundRect">
              <a:avLst>
                <a:gd name="adj" fmla="val 8333"/>
              </a:avLst>
            </a:prstGeom>
            <a:solidFill>
              <a:srgbClr val="FFFFFF"/>
            </a:solidFill>
            <a:ln w="9525">
              <a:solidFill>
                <a:srgbClr val="C9D8EF"/>
              </a:solidFill>
            </a:ln>
          </p:spPr>
        </p:sp>
        <p:sp>
          <p:nvSpPr>
            <p:cNvPr id="213" name="Ellipse 213"/>
            <p:cNvSpPr/>
            <p:nvPr/>
          </p:nvSpPr>
          <p:spPr>
            <a:xfrm>
              <a:off x="8839200" y="3771900"/>
              <a:ext cx="457200" cy="457200"/>
            </a:xfrm>
            <a:prstGeom prst="ellipse">
              <a:avLst/>
            </a:prstGeom>
            <a:solidFill>
              <a:srgbClr val="A8351D"/>
            </a:solidFill>
            <a:ln>
              <a:noFill/>
            </a:ln>
          </p:spPr>
        </p:sp>
        <p:grpSp>
          <p:nvGrpSpPr>
            <p:cNvPr id="218" name="Group 218"/>
            <p:cNvGrpSpPr/>
            <p:nvPr/>
          </p:nvGrpSpPr>
          <p:grpSpPr>
            <a:xfrm>
              <a:off x="9001125" y="3900488"/>
              <a:ext cx="177801" cy="211138"/>
              <a:chOff x="9001125" y="3900488"/>
              <a:chExt cx="177801" cy="211138"/>
            </a:xfrm>
          </p:grpSpPr>
          <p:sp>
            <p:nvSpPr>
              <p:cNvPr id="214" name="Freeform 214"/>
              <p:cNvSpPr/>
              <p:nvPr/>
            </p:nvSpPr>
            <p:spPr>
              <a:xfrm>
                <a:off x="9023350" y="39004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215" name="Freeform 215"/>
              <p:cNvSpPr/>
              <p:nvPr/>
            </p:nvSpPr>
            <p:spPr>
              <a:xfrm>
                <a:off x="9112251" y="4078288"/>
                <a:ext cx="66675" cy="9525"/>
              </a:xfrm>
              <a:custGeom>
                <a:avLst/>
                <a:gdLst/>
                <a:ahLst/>
                <a:cxnLst/>
                <a:rect l="l" t="t" r="r" b="b"/>
                <a:pathLst>
                  <a:path w="66675" h="9525">
                    <a:moveTo>
                      <a:pt x="0" y="0"/>
                    </a:moveTo>
                    <a:lnTo>
                      <a:pt x="66675" y="0"/>
                    </a:lnTo>
                  </a:path>
                </a:pathLst>
              </a:custGeom>
              <a:noFill/>
              <a:ln w="22225">
                <a:solidFill>
                  <a:srgbClr val="FFFFFF"/>
                </a:solidFill>
              </a:ln>
            </p:spPr>
          </p:sp>
          <p:sp>
            <p:nvSpPr>
              <p:cNvPr id="216" name="Freeform 216"/>
              <p:cNvSpPr/>
              <p:nvPr/>
            </p:nvSpPr>
            <p:spPr>
              <a:xfrm>
                <a:off x="9145588" y="4044951"/>
                <a:ext cx="9525" cy="66675"/>
              </a:xfrm>
              <a:custGeom>
                <a:avLst/>
                <a:gdLst/>
                <a:ahLst/>
                <a:cxnLst/>
                <a:rect l="l" t="t" r="r" b="b"/>
                <a:pathLst>
                  <a:path w="9525" h="66675">
                    <a:moveTo>
                      <a:pt x="0" y="0"/>
                    </a:moveTo>
                    <a:lnTo>
                      <a:pt x="0" y="66675"/>
                    </a:lnTo>
                  </a:path>
                </a:pathLst>
              </a:custGeom>
              <a:noFill/>
              <a:ln w="22225">
                <a:solidFill>
                  <a:srgbClr val="FFFFFF"/>
                </a:solidFill>
              </a:ln>
            </p:spPr>
          </p:sp>
          <p:sp>
            <p:nvSpPr>
              <p:cNvPr id="217" name="Freeform 217"/>
              <p:cNvSpPr/>
              <p:nvPr/>
            </p:nvSpPr>
            <p:spPr>
              <a:xfrm>
                <a:off x="9001125" y="403383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FFFFFF"/>
                </a:solidFill>
              </a:ln>
            </p:spPr>
          </p:sp>
        </p:grpSp>
        <p:sp>
          <p:nvSpPr>
            <p:cNvPr id="219" name="Line 219"/>
            <p:cNvSpPr/>
            <p:nvPr/>
          </p:nvSpPr>
          <p:spPr>
            <a:xfrm>
              <a:off x="9448800" y="3848100"/>
              <a:ext cx="9525" cy="304800"/>
            </a:xfrm>
            <a:custGeom>
              <a:avLst/>
              <a:gdLst/>
              <a:ahLst/>
              <a:cxnLst/>
              <a:rect l="l" t="t" r="r" b="b"/>
              <a:pathLst>
                <a:path w="9525" h="304800">
                  <a:moveTo>
                    <a:pt x="0" y="0"/>
                  </a:moveTo>
                  <a:lnTo>
                    <a:pt x="0" y="304800"/>
                  </a:lnTo>
                </a:path>
              </a:pathLst>
            </a:custGeom>
            <a:noFill/>
            <a:ln w="14288">
              <a:solidFill>
                <a:srgbClr val="D9E4F2"/>
              </a:solidFill>
            </a:ln>
          </p:spPr>
        </p:sp>
        <p:sp>
          <p:nvSpPr>
            <p:cNvPr id="220" name="TextBox 220"/>
            <p:cNvSpPr txBox="1"/>
            <p:nvPr/>
          </p:nvSpPr>
          <p:spPr>
            <a:xfrm>
              <a:off x="9576816" y="3934778"/>
              <a:ext cx="1000125" cy="205359"/>
            </a:xfrm>
            <a:prstGeom prst="rect">
              <a:avLst/>
            </a:prstGeom>
            <a:noFill/>
            <a:ln>
              <a:noFill/>
            </a:ln>
          </p:spPr>
          <p:txBody>
            <a:bodyPr wrap="none" lIns="0" tIns="0" rIns="0" bIns="0" anchor="t" anchorCtr="0">
              <a:spAutoFit/>
            </a:bodyPr>
            <a:lstStyle/>
            <a:p>
              <a:pPr algn="l"/>
              <a:r>
                <a:rPr lang="zh-CN" sz="1050" dirty="0">
                  <a:solidFill>
                    <a:srgbClr val="67281B"/>
                  </a:solidFill>
                  <a:latin typeface="+mn-lt"/>
                  <a:ea typeface="+mn-ea"/>
                  <a:cs typeface="+mn-cs"/>
                </a:rPr>
                <a:t>从开户转向</a:t>
              </a:r>
              <a:r>
                <a:rPr lang="zh-CN" sz="1050" b="1" dirty="0">
                  <a:solidFill>
                    <a:srgbClr val="C9462F"/>
                  </a:solidFill>
                  <a:latin typeface="+mn-lt"/>
                  <a:ea typeface="+mn-ea"/>
                  <a:cs typeface="+mn-cs"/>
                </a:rPr>
                <a:t>活跃</a:t>
              </a:r>
            </a:p>
          </p:txBody>
        </p:sp>
        <p:sp>
          <p:nvSpPr>
            <p:cNvPr id="221" name="Rectangle 221"/>
            <p:cNvSpPr/>
            <p:nvPr/>
          </p:nvSpPr>
          <p:spPr>
            <a:xfrm>
              <a:off x="8648700" y="4572000"/>
              <a:ext cx="3009900" cy="914400"/>
            </a:xfrm>
            <a:prstGeom prst="roundRect">
              <a:avLst>
                <a:gd name="adj" fmla="val 8333"/>
              </a:avLst>
            </a:prstGeom>
            <a:solidFill>
              <a:srgbClr val="FFFFFF"/>
            </a:solidFill>
            <a:ln w="9525">
              <a:solidFill>
                <a:srgbClr val="C9D8EF"/>
              </a:solidFill>
            </a:ln>
          </p:spPr>
        </p:sp>
        <p:sp>
          <p:nvSpPr>
            <p:cNvPr id="222" name="Ellipse 222"/>
            <p:cNvSpPr/>
            <p:nvPr/>
          </p:nvSpPr>
          <p:spPr>
            <a:xfrm>
              <a:off x="8839200" y="4800600"/>
              <a:ext cx="457200" cy="457200"/>
            </a:xfrm>
            <a:prstGeom prst="ellipse">
              <a:avLst/>
            </a:prstGeom>
            <a:solidFill>
              <a:srgbClr val="A8351D"/>
            </a:solidFill>
            <a:ln>
              <a:noFill/>
            </a:ln>
          </p:spPr>
        </p:sp>
        <p:grpSp>
          <p:nvGrpSpPr>
            <p:cNvPr id="225" name="Group 225"/>
            <p:cNvGrpSpPr/>
            <p:nvPr/>
          </p:nvGrpSpPr>
          <p:grpSpPr>
            <a:xfrm>
              <a:off x="8978900" y="4962525"/>
              <a:ext cx="177801" cy="153988"/>
              <a:chOff x="8978900" y="4962525"/>
              <a:chExt cx="177801" cy="153988"/>
            </a:xfrm>
          </p:grpSpPr>
          <p:sp>
            <p:nvSpPr>
              <p:cNvPr id="223" name="Freeform 223"/>
              <p:cNvSpPr/>
              <p:nvPr/>
            </p:nvSpPr>
            <p:spPr>
              <a:xfrm>
                <a:off x="8978900" y="5106988"/>
                <a:ext cx="177801" cy="9525"/>
              </a:xfrm>
              <a:custGeom>
                <a:avLst/>
                <a:gdLst/>
                <a:ahLst/>
                <a:cxnLst/>
                <a:rect l="l" t="t" r="r" b="b"/>
                <a:pathLst>
                  <a:path w="177801" h="9525">
                    <a:moveTo>
                      <a:pt x="0" y="0"/>
                    </a:moveTo>
                    <a:lnTo>
                      <a:pt x="177801" y="0"/>
                    </a:lnTo>
                  </a:path>
                </a:pathLst>
              </a:custGeom>
              <a:noFill/>
              <a:ln w="22225">
                <a:solidFill>
                  <a:srgbClr val="FFFFFF"/>
                </a:solidFill>
              </a:ln>
            </p:spPr>
          </p:sp>
          <p:sp>
            <p:nvSpPr>
              <p:cNvPr id="224" name="Freeform 224"/>
              <p:cNvSpPr/>
              <p:nvPr/>
            </p:nvSpPr>
            <p:spPr>
              <a:xfrm>
                <a:off x="8978900" y="4962525"/>
                <a:ext cx="177801" cy="100013"/>
              </a:xfrm>
              <a:custGeom>
                <a:avLst/>
                <a:gdLst/>
                <a:ahLst/>
                <a:cxnLst/>
                <a:rect l="l" t="t" r="r" b="b"/>
                <a:pathLst>
                  <a:path w="177801" h="100013">
                    <a:moveTo>
                      <a:pt x="0" y="100013"/>
                    </a:moveTo>
                    <a:lnTo>
                      <a:pt x="44450" y="33338"/>
                    </a:lnTo>
                    <a:lnTo>
                      <a:pt x="88900" y="55563"/>
                    </a:lnTo>
                    <a:lnTo>
                      <a:pt x="133350" y="0"/>
                    </a:lnTo>
                    <a:lnTo>
                      <a:pt x="177801" y="44450"/>
                    </a:lnTo>
                  </a:path>
                </a:pathLst>
              </a:custGeom>
              <a:noFill/>
              <a:ln w="22225">
                <a:solidFill>
                  <a:srgbClr val="FFFFFF"/>
                </a:solidFill>
              </a:ln>
            </p:spPr>
          </p:sp>
        </p:grpSp>
        <p:sp>
          <p:nvSpPr>
            <p:cNvPr id="226" name="Line 226"/>
            <p:cNvSpPr/>
            <p:nvPr/>
          </p:nvSpPr>
          <p:spPr>
            <a:xfrm>
              <a:off x="9448800" y="4876800"/>
              <a:ext cx="9525" cy="304800"/>
            </a:xfrm>
            <a:custGeom>
              <a:avLst/>
              <a:gdLst/>
              <a:ahLst/>
              <a:cxnLst/>
              <a:rect l="l" t="t" r="r" b="b"/>
              <a:pathLst>
                <a:path w="9525" h="304800">
                  <a:moveTo>
                    <a:pt x="0" y="0"/>
                  </a:moveTo>
                  <a:lnTo>
                    <a:pt x="0" y="304800"/>
                  </a:lnTo>
                </a:path>
              </a:pathLst>
            </a:custGeom>
            <a:noFill/>
            <a:ln w="14288">
              <a:solidFill>
                <a:srgbClr val="D9E4F2"/>
              </a:solidFill>
            </a:ln>
          </p:spPr>
        </p:sp>
        <p:sp>
          <p:nvSpPr>
            <p:cNvPr id="227" name="TextBox 227"/>
            <p:cNvSpPr txBox="1"/>
            <p:nvPr/>
          </p:nvSpPr>
          <p:spPr>
            <a:xfrm>
              <a:off x="9576816" y="4963478"/>
              <a:ext cx="1000125" cy="205359"/>
            </a:xfrm>
            <a:prstGeom prst="rect">
              <a:avLst/>
            </a:prstGeom>
            <a:noFill/>
            <a:ln>
              <a:noFill/>
            </a:ln>
          </p:spPr>
          <p:txBody>
            <a:bodyPr wrap="none" lIns="0" tIns="0" rIns="0" bIns="0" anchor="t" anchorCtr="0">
              <a:spAutoFit/>
            </a:bodyPr>
            <a:lstStyle/>
            <a:p>
              <a:pPr algn="l"/>
              <a:r>
                <a:rPr lang="zh-CN" sz="1050" dirty="0">
                  <a:solidFill>
                    <a:srgbClr val="67281B"/>
                  </a:solidFill>
                  <a:latin typeface="+mn-lt"/>
                  <a:ea typeface="+mn-ea"/>
                  <a:cs typeface="+mn-cs"/>
                </a:rPr>
                <a:t>从活跃转向</a:t>
              </a:r>
              <a:r>
                <a:rPr lang="zh-CN" sz="1050" b="1" dirty="0">
                  <a:solidFill>
                    <a:srgbClr val="C9462F"/>
                  </a:solidFill>
                  <a:latin typeface="+mn-lt"/>
                  <a:ea typeface="+mn-ea"/>
                  <a:cs typeface="+mn-cs"/>
                </a:rPr>
                <a:t>价值</a:t>
              </a:r>
            </a:p>
          </p:txBody>
        </p:sp>
        <p:sp>
          <p:nvSpPr>
            <p:cNvPr id="228" name="Rectangle 228"/>
            <p:cNvSpPr/>
            <p:nvPr/>
          </p:nvSpPr>
          <p:spPr>
            <a:xfrm>
              <a:off x="8648700" y="5600700"/>
              <a:ext cx="3009900" cy="914400"/>
            </a:xfrm>
            <a:prstGeom prst="roundRect">
              <a:avLst>
                <a:gd name="adj" fmla="val 8333"/>
              </a:avLst>
            </a:prstGeom>
            <a:solidFill>
              <a:srgbClr val="FFFFFF"/>
            </a:solidFill>
            <a:ln w="9525">
              <a:solidFill>
                <a:srgbClr val="C9D8EF"/>
              </a:solidFill>
            </a:ln>
          </p:spPr>
        </p:sp>
        <p:sp>
          <p:nvSpPr>
            <p:cNvPr id="229" name="Ellipse 229"/>
            <p:cNvSpPr/>
            <p:nvPr/>
          </p:nvSpPr>
          <p:spPr>
            <a:xfrm>
              <a:off x="8839200" y="5829300"/>
              <a:ext cx="457200" cy="457200"/>
            </a:xfrm>
            <a:prstGeom prst="ellipse">
              <a:avLst/>
            </a:prstGeom>
            <a:solidFill>
              <a:srgbClr val="A8351D"/>
            </a:solidFill>
            <a:ln>
              <a:noFill/>
            </a:ln>
          </p:spPr>
        </p:sp>
        <p:grpSp>
          <p:nvGrpSpPr>
            <p:cNvPr id="232" name="Group 232"/>
            <p:cNvGrpSpPr/>
            <p:nvPr/>
          </p:nvGrpSpPr>
          <p:grpSpPr>
            <a:xfrm>
              <a:off x="8952791" y="5957888"/>
              <a:ext cx="217008" cy="200025"/>
              <a:chOff x="8952791" y="5957888"/>
              <a:chExt cx="217008" cy="200025"/>
            </a:xfrm>
          </p:grpSpPr>
          <p:sp>
            <p:nvSpPr>
              <p:cNvPr id="230" name="Freeform 230"/>
              <p:cNvSpPr/>
              <p:nvPr/>
            </p:nvSpPr>
            <p:spPr>
              <a:xfrm>
                <a:off x="8952791" y="595788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FFFFFF"/>
                </a:solidFill>
              </a:ln>
            </p:spPr>
          </p:sp>
          <p:sp>
            <p:nvSpPr>
              <p:cNvPr id="231" name="Freeform 231"/>
              <p:cNvSpPr/>
              <p:nvPr/>
            </p:nvSpPr>
            <p:spPr>
              <a:xfrm>
                <a:off x="9101138" y="6113463"/>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233" name="Line 233"/>
            <p:cNvSpPr/>
            <p:nvPr/>
          </p:nvSpPr>
          <p:spPr>
            <a:xfrm>
              <a:off x="9448800" y="5905500"/>
              <a:ext cx="9525" cy="304800"/>
            </a:xfrm>
            <a:custGeom>
              <a:avLst/>
              <a:gdLst/>
              <a:ahLst/>
              <a:cxnLst/>
              <a:rect l="l" t="t" r="r" b="b"/>
              <a:pathLst>
                <a:path w="9525" h="304800">
                  <a:moveTo>
                    <a:pt x="0" y="0"/>
                  </a:moveTo>
                  <a:lnTo>
                    <a:pt x="0" y="304800"/>
                  </a:lnTo>
                </a:path>
              </a:pathLst>
            </a:custGeom>
            <a:noFill/>
            <a:ln w="14288">
              <a:solidFill>
                <a:srgbClr val="D9E4F2"/>
              </a:solidFill>
            </a:ln>
          </p:spPr>
        </p:sp>
        <p:sp>
          <p:nvSpPr>
            <p:cNvPr id="234" name="TextBox 234"/>
            <p:cNvSpPr txBox="1"/>
            <p:nvPr/>
          </p:nvSpPr>
          <p:spPr>
            <a:xfrm>
              <a:off x="9576816" y="5992178"/>
              <a:ext cx="1282827" cy="205359"/>
            </a:xfrm>
            <a:prstGeom prst="rect">
              <a:avLst/>
            </a:prstGeom>
            <a:noFill/>
            <a:ln>
              <a:noFill/>
            </a:ln>
          </p:spPr>
          <p:txBody>
            <a:bodyPr wrap="none" lIns="0" tIns="0" rIns="0" bIns="0" anchor="t" anchorCtr="0">
              <a:spAutoFit/>
            </a:bodyPr>
            <a:lstStyle/>
            <a:p>
              <a:pPr algn="l"/>
              <a:r>
                <a:rPr lang="zh-CN" sz="1050" dirty="0">
                  <a:solidFill>
                    <a:srgbClr val="67281B"/>
                  </a:solidFill>
                  <a:latin typeface="+mn-lt"/>
                  <a:ea typeface="+mn-ea"/>
                  <a:cs typeface="+mn-cs"/>
                </a:rPr>
                <a:t>从价值转向</a:t>
              </a:r>
              <a:r>
                <a:rPr lang="zh-CN" sz="1050" b="1" dirty="0">
                  <a:solidFill>
                    <a:srgbClr val="C9462F"/>
                  </a:solidFill>
                  <a:latin typeface="+mn-lt"/>
                  <a:ea typeface="+mn-ea"/>
                  <a:cs typeface="+mn-cs"/>
                </a:rPr>
                <a:t>长期留存</a:t>
              </a:r>
            </a:p>
          </p:txBody>
        </p:sp>
      </p:gr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08</a:t>
              </a:r>
            </a:p>
          </p:txBody>
        </p:sp>
        <p:sp>
          <p:nvSpPr>
            <p:cNvPr id="4" name="TextBox 4"/>
            <p:cNvSpPr txBox="1"/>
            <p:nvPr/>
          </p:nvSpPr>
          <p:spPr>
            <a:xfrm>
              <a:off x="904494" y="170498"/>
              <a:ext cx="6954012"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关键人经营｜围绕企业家和核心管理层构建综合服务体系</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66" name="panel-power"/>
          <p:cNvGrpSpPr/>
          <p:nvPr/>
        </p:nvGrpSpPr>
        <p:grpSpPr>
          <a:xfrm>
            <a:off x="381000" y="704850"/>
            <a:ext cx="3619500" cy="3486150"/>
            <a:chOff x="381000" y="704850"/>
            <a:chExt cx="3619500" cy="3486150"/>
          </a:xfrm>
        </p:grpSpPr>
        <p:sp>
          <p:nvSpPr>
            <p:cNvPr id="7" name="Rectangle 7"/>
            <p:cNvSpPr/>
            <p:nvPr/>
          </p:nvSpPr>
          <p:spPr>
            <a:xfrm>
              <a:off x="381000" y="704850"/>
              <a:ext cx="3619500" cy="3486150"/>
            </a:xfrm>
            <a:prstGeom prst="roundRect">
              <a:avLst>
                <a:gd name="adj" fmla="val 2732"/>
              </a:avLst>
            </a:prstGeom>
            <a:solidFill>
              <a:srgbClr val="F9FBFE"/>
            </a:solidFill>
            <a:ln w="9525">
              <a:solidFill>
                <a:srgbClr val="C9D8EF"/>
              </a:solidFill>
            </a:ln>
          </p:spPr>
        </p:sp>
        <p:sp>
          <p:nvSpPr>
            <p:cNvPr id="8" name="Rectangle 8"/>
            <p:cNvSpPr/>
            <p:nvPr/>
          </p:nvSpPr>
          <p:spPr>
            <a:xfrm>
              <a:off x="381000" y="704850"/>
              <a:ext cx="3619500" cy="285750"/>
            </a:xfrm>
            <a:prstGeom prst="roundRect">
              <a:avLst>
                <a:gd name="adj" fmla="val 13333"/>
              </a:avLst>
            </a:prstGeom>
            <a:gradFill>
              <a:gsLst>
                <a:gs pos="0">
                  <a:srgbClr val="AD3921"/>
                </a:gs>
                <a:gs pos="100000">
                  <a:srgbClr val="962C16"/>
                </a:gs>
              </a:gsLst>
              <a:lin ang="5400000" scaled="1"/>
            </a:gradFill>
            <a:ln>
              <a:noFill/>
            </a:ln>
          </p:spPr>
        </p:sp>
        <p:sp>
          <p:nvSpPr>
            <p:cNvPr id="9" name="TextBox 9"/>
            <p:cNvSpPr txBox="1"/>
            <p:nvPr/>
          </p:nvSpPr>
          <p:spPr>
            <a:xfrm>
              <a:off x="1393320" y="791528"/>
              <a:ext cx="15948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关键人权力 × 影响力地图</a:t>
              </a:r>
            </a:p>
          </p:txBody>
        </p:sp>
        <p:sp>
          <p:nvSpPr>
            <p:cNvPr id="10" name="Line 10"/>
            <p:cNvSpPr/>
            <p:nvPr/>
          </p:nvSpPr>
          <p:spPr>
            <a:xfrm flipV="1">
              <a:off x="762000" y="1219200"/>
              <a:ext cx="1" cy="2457450"/>
            </a:xfrm>
            <a:prstGeom prst="line">
              <a:avLst/>
            </a:prstGeom>
            <a:noFill/>
            <a:ln w="14288">
              <a:solidFill>
                <a:srgbClr val="A8351D"/>
              </a:solidFill>
              <a:tailEnd type="triangle" w="lg" len="lg"/>
            </a:ln>
          </p:spPr>
        </p:sp>
        <p:sp>
          <p:nvSpPr>
            <p:cNvPr id="11" name="Line 11"/>
            <p:cNvSpPr/>
            <p:nvPr/>
          </p:nvSpPr>
          <p:spPr>
            <a:xfrm>
              <a:off x="762000" y="3676650"/>
              <a:ext cx="3009900" cy="1"/>
            </a:xfrm>
            <a:prstGeom prst="line">
              <a:avLst/>
            </a:prstGeom>
            <a:noFill/>
            <a:ln w="14288">
              <a:solidFill>
                <a:srgbClr val="A8351D"/>
              </a:solidFill>
              <a:tailEnd type="triangle" w="lg" len="lg"/>
            </a:ln>
          </p:spPr>
        </p:sp>
        <p:sp>
          <p:nvSpPr>
            <p:cNvPr id="12" name="TextBox 12"/>
            <p:cNvSpPr txBox="1"/>
            <p:nvPr/>
          </p:nvSpPr>
          <p:spPr>
            <a:xfrm>
              <a:off x="795338" y="1100138"/>
              <a:ext cx="312420" cy="147638"/>
            </a:xfrm>
            <a:prstGeom prst="rect">
              <a:avLst/>
            </a:prstGeom>
            <a:noFill/>
            <a:ln>
              <a:noFill/>
            </a:ln>
          </p:spPr>
          <p:txBody>
            <a:bodyPr wrap="none" lIns="0" tIns="0" rIns="0" bIns="0" anchor="t" anchorCtr="0">
              <a:spAutoFit/>
            </a:bodyPr>
            <a:lstStyle/>
            <a:p>
              <a:pPr algn="l"/>
              <a:r>
                <a:rPr lang="zh-CN" sz="750" b="1" dirty="0">
                  <a:solidFill>
                    <a:srgbClr val="67281B"/>
                  </a:solidFill>
                  <a:latin typeface="+mn-lt"/>
                  <a:ea typeface="+mn-ea"/>
                  <a:cs typeface="+mn-cs"/>
                </a:rPr>
                <a:t>决策权</a:t>
              </a:r>
            </a:p>
          </p:txBody>
        </p:sp>
        <p:sp>
          <p:nvSpPr>
            <p:cNvPr id="13" name="TextBox 13"/>
            <p:cNvSpPr txBox="1"/>
            <p:nvPr/>
          </p:nvSpPr>
          <p:spPr>
            <a:xfrm>
              <a:off x="3502342" y="3767138"/>
              <a:ext cx="312420" cy="147638"/>
            </a:xfrm>
            <a:prstGeom prst="rect">
              <a:avLst/>
            </a:prstGeom>
            <a:noFill/>
            <a:ln>
              <a:noFill/>
            </a:ln>
          </p:spPr>
          <p:txBody>
            <a:bodyPr wrap="none" lIns="0" tIns="0" rIns="0" bIns="0" anchor="t" anchorCtr="0">
              <a:spAutoFit/>
            </a:bodyPr>
            <a:lstStyle/>
            <a:p>
              <a:pPr algn="r"/>
              <a:r>
                <a:rPr lang="zh-CN" sz="750" b="1" dirty="0">
                  <a:solidFill>
                    <a:srgbClr val="67281B"/>
                  </a:solidFill>
                  <a:latin typeface="+mn-lt"/>
                  <a:ea typeface="+mn-ea"/>
                  <a:cs typeface="+mn-cs"/>
                </a:rPr>
                <a:t>影响力</a:t>
              </a:r>
            </a:p>
          </p:txBody>
        </p:sp>
        <p:sp>
          <p:nvSpPr>
            <p:cNvPr id="14" name="TextBox 14"/>
            <p:cNvSpPr txBox="1"/>
            <p:nvPr/>
          </p:nvSpPr>
          <p:spPr>
            <a:xfrm>
              <a:off x="604507" y="1447086"/>
              <a:ext cx="105105" cy="140494"/>
            </a:xfrm>
            <a:prstGeom prst="rect">
              <a:avLst/>
            </a:prstGeom>
            <a:noFill/>
            <a:ln>
              <a:noFill/>
            </a:ln>
          </p:spPr>
          <p:txBody>
            <a:bodyPr wrap="none" lIns="0" tIns="0" rIns="0" bIns="0" anchor="t" anchorCtr="0">
              <a:spAutoFit/>
            </a:bodyPr>
            <a:lstStyle/>
            <a:p>
              <a:pPr algn="r"/>
              <a:r>
                <a:rPr lang="zh-CN" sz="710" dirty="0">
                  <a:solidFill>
                    <a:srgbClr val="785F5A"/>
                  </a:solidFill>
                  <a:latin typeface="+mn-lt"/>
                  <a:ea typeface="+mn-ea"/>
                  <a:cs typeface="+mn-cs"/>
                </a:rPr>
                <a:t>高</a:t>
              </a:r>
            </a:p>
          </p:txBody>
        </p:sp>
        <p:sp>
          <p:nvSpPr>
            <p:cNvPr id="15" name="TextBox 15"/>
            <p:cNvSpPr txBox="1"/>
            <p:nvPr/>
          </p:nvSpPr>
          <p:spPr>
            <a:xfrm>
              <a:off x="604507" y="2418636"/>
              <a:ext cx="105105" cy="140494"/>
            </a:xfrm>
            <a:prstGeom prst="rect">
              <a:avLst/>
            </a:prstGeom>
            <a:noFill/>
            <a:ln>
              <a:noFill/>
            </a:ln>
          </p:spPr>
          <p:txBody>
            <a:bodyPr wrap="none" lIns="0" tIns="0" rIns="0" bIns="0" anchor="t" anchorCtr="0">
              <a:spAutoFit/>
            </a:bodyPr>
            <a:lstStyle/>
            <a:p>
              <a:pPr algn="r"/>
              <a:r>
                <a:rPr lang="zh-CN" sz="710" dirty="0">
                  <a:solidFill>
                    <a:srgbClr val="785F5A"/>
                  </a:solidFill>
                  <a:latin typeface="+mn-lt"/>
                  <a:ea typeface="+mn-ea"/>
                  <a:cs typeface="+mn-cs"/>
                </a:rPr>
                <a:t>中</a:t>
              </a:r>
            </a:p>
          </p:txBody>
        </p:sp>
        <p:sp>
          <p:nvSpPr>
            <p:cNvPr id="16" name="TextBox 16"/>
            <p:cNvSpPr txBox="1"/>
            <p:nvPr/>
          </p:nvSpPr>
          <p:spPr>
            <a:xfrm>
              <a:off x="604507" y="3371136"/>
              <a:ext cx="105105" cy="140494"/>
            </a:xfrm>
            <a:prstGeom prst="rect">
              <a:avLst/>
            </a:prstGeom>
            <a:noFill/>
            <a:ln>
              <a:noFill/>
            </a:ln>
          </p:spPr>
          <p:txBody>
            <a:bodyPr wrap="none" lIns="0" tIns="0" rIns="0" bIns="0" anchor="t" anchorCtr="0">
              <a:spAutoFit/>
            </a:bodyPr>
            <a:lstStyle/>
            <a:p>
              <a:pPr algn="r"/>
              <a:r>
                <a:rPr lang="zh-CN" sz="710" dirty="0">
                  <a:solidFill>
                    <a:srgbClr val="785F5A"/>
                  </a:solidFill>
                  <a:latin typeface="+mn-lt"/>
                  <a:ea typeface="+mn-ea"/>
                  <a:cs typeface="+mn-cs"/>
                </a:rPr>
                <a:t>低</a:t>
              </a:r>
            </a:p>
          </p:txBody>
        </p:sp>
        <p:sp>
          <p:nvSpPr>
            <p:cNvPr id="17" name="TextBox 17"/>
            <p:cNvSpPr txBox="1"/>
            <p:nvPr/>
          </p:nvSpPr>
          <p:spPr>
            <a:xfrm>
              <a:off x="1090447" y="3733086"/>
              <a:ext cx="105105"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低</a:t>
              </a:r>
            </a:p>
          </p:txBody>
        </p:sp>
        <p:sp>
          <p:nvSpPr>
            <p:cNvPr id="18" name="TextBox 18"/>
            <p:cNvSpPr txBox="1"/>
            <p:nvPr/>
          </p:nvSpPr>
          <p:spPr>
            <a:xfrm>
              <a:off x="2185822" y="3733086"/>
              <a:ext cx="105105"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中</a:t>
              </a:r>
            </a:p>
          </p:txBody>
        </p:sp>
        <p:sp>
          <p:nvSpPr>
            <p:cNvPr id="19" name="TextBox 19"/>
            <p:cNvSpPr txBox="1"/>
            <p:nvPr/>
          </p:nvSpPr>
          <p:spPr>
            <a:xfrm>
              <a:off x="3281197" y="3733086"/>
              <a:ext cx="105105"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高</a:t>
              </a:r>
            </a:p>
          </p:txBody>
        </p:sp>
        <p:sp>
          <p:nvSpPr>
            <p:cNvPr id="20" name="Line 20"/>
            <p:cNvSpPr/>
            <p:nvPr/>
          </p:nvSpPr>
          <p:spPr>
            <a:xfrm>
              <a:off x="2238375" y="1295400"/>
              <a:ext cx="9525" cy="2324100"/>
            </a:xfrm>
            <a:custGeom>
              <a:avLst/>
              <a:gdLst/>
              <a:ahLst/>
              <a:cxnLst/>
              <a:rect l="l" t="t" r="r" b="b"/>
              <a:pathLst>
                <a:path w="9525" h="2324100">
                  <a:moveTo>
                    <a:pt x="0" y="0"/>
                  </a:moveTo>
                  <a:lnTo>
                    <a:pt x="0" y="2324100"/>
                  </a:lnTo>
                </a:path>
              </a:pathLst>
            </a:custGeom>
            <a:noFill/>
            <a:ln w="9525">
              <a:solidFill>
                <a:srgbClr val="C9D8EF"/>
              </a:solidFill>
              <a:custDash>
                <a:ds d="400000" sp="300000"/>
              </a:custDash>
            </a:ln>
          </p:spPr>
        </p:sp>
        <p:sp>
          <p:nvSpPr>
            <p:cNvPr id="21" name="Line 21"/>
            <p:cNvSpPr/>
            <p:nvPr/>
          </p:nvSpPr>
          <p:spPr>
            <a:xfrm>
              <a:off x="819150" y="2457450"/>
              <a:ext cx="2914650" cy="9525"/>
            </a:xfrm>
            <a:custGeom>
              <a:avLst/>
              <a:gdLst/>
              <a:ahLst/>
              <a:cxnLst/>
              <a:rect l="l" t="t" r="r" b="b"/>
              <a:pathLst>
                <a:path w="2914650" h="9525">
                  <a:moveTo>
                    <a:pt x="0" y="0"/>
                  </a:moveTo>
                  <a:lnTo>
                    <a:pt x="2914650" y="0"/>
                  </a:lnTo>
                </a:path>
              </a:pathLst>
            </a:custGeom>
            <a:noFill/>
            <a:ln w="9525">
              <a:solidFill>
                <a:srgbClr val="C9D8EF"/>
              </a:solidFill>
              <a:custDash>
                <a:ds d="400000" sp="300000"/>
              </a:custDash>
            </a:ln>
          </p:spPr>
        </p:sp>
        <p:sp>
          <p:nvSpPr>
            <p:cNvPr id="22" name="Ellipse 22"/>
            <p:cNvSpPr/>
            <p:nvPr/>
          </p:nvSpPr>
          <p:spPr>
            <a:xfrm>
              <a:off x="2895600" y="1295400"/>
              <a:ext cx="609600" cy="609600"/>
            </a:xfrm>
            <a:prstGeom prst="ellipse">
              <a:avLst/>
            </a:prstGeom>
            <a:solidFill>
              <a:srgbClr val="A8351D"/>
            </a:solidFill>
            <a:ln w="19050">
              <a:solidFill>
                <a:srgbClr val="C9462F"/>
              </a:solidFill>
            </a:ln>
          </p:spPr>
        </p:sp>
        <p:sp>
          <p:nvSpPr>
            <p:cNvPr id="23" name="Freeform 23"/>
            <p:cNvSpPr/>
            <p:nvPr/>
          </p:nvSpPr>
          <p:spPr>
            <a:xfrm>
              <a:off x="3128962" y="1476375"/>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FFFFFF"/>
              </a:solidFill>
            </a:ln>
          </p:spPr>
        </p:sp>
        <p:sp>
          <p:nvSpPr>
            <p:cNvPr id="24" name="TextBox 24"/>
            <p:cNvSpPr txBox="1"/>
            <p:nvPr/>
          </p:nvSpPr>
          <p:spPr>
            <a:xfrm>
              <a:off x="3036113" y="1705689"/>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企业主</a:t>
              </a:r>
            </a:p>
          </p:txBody>
        </p:sp>
        <p:sp>
          <p:nvSpPr>
            <p:cNvPr id="25" name="Ellipse 25"/>
            <p:cNvSpPr/>
            <p:nvPr/>
          </p:nvSpPr>
          <p:spPr>
            <a:xfrm>
              <a:off x="1924050" y="1619250"/>
              <a:ext cx="495300" cy="495300"/>
            </a:xfrm>
            <a:prstGeom prst="ellipse">
              <a:avLst/>
            </a:prstGeom>
            <a:solidFill>
              <a:srgbClr val="D64A2E"/>
            </a:solidFill>
            <a:ln>
              <a:noFill/>
            </a:ln>
          </p:spPr>
        </p:sp>
        <p:grpSp>
          <p:nvGrpSpPr>
            <p:cNvPr id="30" name="Group 30"/>
            <p:cNvGrpSpPr/>
            <p:nvPr/>
          </p:nvGrpSpPr>
          <p:grpSpPr>
            <a:xfrm>
              <a:off x="2114550" y="1733550"/>
              <a:ext cx="114300" cy="114301"/>
              <a:chOff x="2114550" y="1733550"/>
              <a:chExt cx="114300" cy="114301"/>
            </a:xfrm>
          </p:grpSpPr>
          <p:sp>
            <p:nvSpPr>
              <p:cNvPr id="26" name="Freeform 26"/>
              <p:cNvSpPr/>
              <p:nvPr/>
            </p:nvSpPr>
            <p:spPr>
              <a:xfrm>
                <a:off x="2127250" y="17335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27" name="Freeform 27"/>
              <p:cNvSpPr/>
              <p:nvPr/>
            </p:nvSpPr>
            <p:spPr>
              <a:xfrm>
                <a:off x="2114550" y="18097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28" name="Freeform 28"/>
              <p:cNvSpPr/>
              <p:nvPr/>
            </p:nvSpPr>
            <p:spPr>
              <a:xfrm>
                <a:off x="2197100" y="17343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29" name="Freeform 29"/>
              <p:cNvSpPr/>
              <p:nvPr/>
            </p:nvSpPr>
            <p:spPr>
              <a:xfrm>
                <a:off x="2209800" y="18107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31" name="TextBox 31"/>
            <p:cNvSpPr txBox="1"/>
            <p:nvPr/>
          </p:nvSpPr>
          <p:spPr>
            <a:xfrm>
              <a:off x="2023567" y="1942386"/>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董监高</a:t>
              </a:r>
            </a:p>
          </p:txBody>
        </p:sp>
        <p:sp>
          <p:nvSpPr>
            <p:cNvPr id="32" name="Ellipse 32"/>
            <p:cNvSpPr/>
            <p:nvPr/>
          </p:nvSpPr>
          <p:spPr>
            <a:xfrm>
              <a:off x="1104900" y="2152650"/>
              <a:ext cx="457200" cy="457200"/>
            </a:xfrm>
            <a:prstGeom prst="ellipse">
              <a:avLst/>
            </a:prstGeom>
            <a:solidFill>
              <a:srgbClr val="A5280F"/>
            </a:solidFill>
            <a:ln>
              <a:noFill/>
            </a:ln>
          </p:spPr>
        </p:sp>
        <p:grpSp>
          <p:nvGrpSpPr>
            <p:cNvPr id="41" name="Group 41"/>
            <p:cNvGrpSpPr/>
            <p:nvPr/>
          </p:nvGrpSpPr>
          <p:grpSpPr>
            <a:xfrm>
              <a:off x="1282700" y="2286000"/>
              <a:ext cx="101600" cy="114300"/>
              <a:chOff x="1282700" y="2286000"/>
              <a:chExt cx="101600" cy="114300"/>
            </a:xfrm>
          </p:grpSpPr>
          <p:sp>
            <p:nvSpPr>
              <p:cNvPr id="33" name="Freeform 33"/>
              <p:cNvSpPr/>
              <p:nvPr/>
            </p:nvSpPr>
            <p:spPr>
              <a:xfrm>
                <a:off x="1282700" y="2286000"/>
                <a:ext cx="101600" cy="114300"/>
              </a:xfrm>
              <a:custGeom>
                <a:avLst/>
                <a:gdLst/>
                <a:ahLst/>
                <a:cxnLst/>
                <a:rect l="l" t="t" r="r" b="b"/>
                <a:pathLst>
                  <a:path w="101600" h="114300">
                    <a:moveTo>
                      <a:pt x="0" y="12700"/>
                    </a:moveTo>
                    <a:cubicBezTo>
                      <a:pt x="0" y="5686"/>
                      <a:pt x="5686" y="0"/>
                      <a:pt x="12700" y="0"/>
                    </a:cubicBezTo>
                    <a:lnTo>
                      <a:pt x="88900" y="0"/>
                    </a:lnTo>
                    <a:cubicBezTo>
                      <a:pt x="95914" y="0"/>
                      <a:pt x="101600" y="5686"/>
                      <a:pt x="101600" y="12700"/>
                    </a:cubicBezTo>
                    <a:lnTo>
                      <a:pt x="101600" y="101600"/>
                    </a:lnTo>
                    <a:cubicBezTo>
                      <a:pt x="101600" y="108614"/>
                      <a:pt x="95914" y="114300"/>
                      <a:pt x="88900" y="114300"/>
                    </a:cubicBezTo>
                    <a:lnTo>
                      <a:pt x="12700" y="114300"/>
                    </a:lnTo>
                    <a:cubicBezTo>
                      <a:pt x="5686" y="114300"/>
                      <a:pt x="0" y="108614"/>
                      <a:pt x="0" y="101600"/>
                    </a:cubicBezTo>
                    <a:lnTo>
                      <a:pt x="0" y="12700"/>
                    </a:lnTo>
                  </a:path>
                </a:pathLst>
              </a:custGeom>
              <a:noFill/>
              <a:ln w="12700">
                <a:solidFill>
                  <a:srgbClr val="FFFFFF"/>
                </a:solidFill>
              </a:ln>
            </p:spPr>
          </p:sp>
          <p:sp>
            <p:nvSpPr>
              <p:cNvPr id="34" name="Freeform 34"/>
              <p:cNvSpPr/>
              <p:nvPr/>
            </p:nvSpPr>
            <p:spPr>
              <a:xfrm>
                <a:off x="1308100" y="2311400"/>
                <a:ext cx="50800" cy="19050"/>
              </a:xfrm>
              <a:custGeom>
                <a:avLst/>
                <a:gdLst/>
                <a:ahLst/>
                <a:cxnLst/>
                <a:rect l="l" t="t" r="r" b="b"/>
                <a:pathLst>
                  <a:path w="50800" h="19050">
                    <a:moveTo>
                      <a:pt x="0" y="6350"/>
                    </a:moveTo>
                    <a:cubicBezTo>
                      <a:pt x="0" y="2843"/>
                      <a:pt x="2843" y="0"/>
                      <a:pt x="6350" y="0"/>
                    </a:cubicBezTo>
                    <a:lnTo>
                      <a:pt x="44450" y="0"/>
                    </a:lnTo>
                    <a:cubicBezTo>
                      <a:pt x="47957" y="0"/>
                      <a:pt x="50800" y="2843"/>
                      <a:pt x="50800" y="6350"/>
                    </a:cubicBezTo>
                    <a:lnTo>
                      <a:pt x="50800" y="12700"/>
                    </a:lnTo>
                    <a:cubicBezTo>
                      <a:pt x="50800" y="16207"/>
                      <a:pt x="47957" y="19050"/>
                      <a:pt x="44450" y="19050"/>
                    </a:cubicBezTo>
                    <a:lnTo>
                      <a:pt x="6350" y="19050"/>
                    </a:lnTo>
                    <a:cubicBezTo>
                      <a:pt x="2843" y="19050"/>
                      <a:pt x="0" y="16207"/>
                      <a:pt x="0" y="12700"/>
                    </a:cubicBezTo>
                    <a:lnTo>
                      <a:pt x="0" y="6350"/>
                    </a:lnTo>
                  </a:path>
                </a:pathLst>
              </a:custGeom>
              <a:noFill/>
              <a:ln w="12700">
                <a:solidFill>
                  <a:srgbClr val="FFFFFF"/>
                </a:solidFill>
              </a:ln>
            </p:spPr>
          </p:sp>
          <p:sp>
            <p:nvSpPr>
              <p:cNvPr id="35" name="Freeform 35"/>
              <p:cNvSpPr/>
              <p:nvPr/>
            </p:nvSpPr>
            <p:spPr>
              <a:xfrm>
                <a:off x="1308100" y="235585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36" name="Freeform 36"/>
              <p:cNvSpPr/>
              <p:nvPr/>
            </p:nvSpPr>
            <p:spPr>
              <a:xfrm>
                <a:off x="1333500" y="235585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37" name="Freeform 37"/>
              <p:cNvSpPr/>
              <p:nvPr/>
            </p:nvSpPr>
            <p:spPr>
              <a:xfrm>
                <a:off x="1358900" y="235585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38" name="Freeform 38"/>
              <p:cNvSpPr/>
              <p:nvPr/>
            </p:nvSpPr>
            <p:spPr>
              <a:xfrm>
                <a:off x="1308100" y="237490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39" name="Freeform 39"/>
              <p:cNvSpPr/>
              <p:nvPr/>
            </p:nvSpPr>
            <p:spPr>
              <a:xfrm>
                <a:off x="1333500" y="237490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40" name="Freeform 40"/>
              <p:cNvSpPr/>
              <p:nvPr/>
            </p:nvSpPr>
            <p:spPr>
              <a:xfrm>
                <a:off x="1358900" y="2374900"/>
                <a:ext cx="9525" cy="9525"/>
              </a:xfrm>
              <a:custGeom>
                <a:avLst/>
                <a:gdLst/>
                <a:ahLst/>
                <a:cxnLst/>
                <a:rect l="l" t="t" r="r" b="b"/>
                <a:pathLst>
                  <a:path w="9525" h="9525">
                    <a:moveTo>
                      <a:pt x="0" y="0"/>
                    </a:moveTo>
                    <a:lnTo>
                      <a:pt x="0" y="64"/>
                    </a:lnTo>
                  </a:path>
                </a:pathLst>
              </a:custGeom>
              <a:noFill/>
              <a:ln w="12700">
                <a:solidFill>
                  <a:srgbClr val="FFFFFF"/>
                </a:solidFill>
              </a:ln>
            </p:spPr>
          </p:sp>
        </p:grpSp>
        <p:sp>
          <p:nvSpPr>
            <p:cNvPr id="42" name="TextBox 42"/>
            <p:cNvSpPr txBox="1"/>
            <p:nvPr/>
          </p:nvSpPr>
          <p:spPr>
            <a:xfrm>
              <a:off x="1089787" y="2666286"/>
              <a:ext cx="487426" cy="140494"/>
            </a:xfrm>
            <a:prstGeom prst="rect">
              <a:avLst/>
            </a:prstGeom>
            <a:noFill/>
            <a:ln>
              <a:noFill/>
            </a:ln>
          </p:spPr>
          <p:txBody>
            <a:bodyPr wrap="none" lIns="0" tIns="0" rIns="0" bIns="0" anchor="t" anchorCtr="0">
              <a:spAutoFit/>
            </a:bodyPr>
            <a:lstStyle/>
            <a:p>
              <a:pPr algn="ctr"/>
              <a:r>
                <a:rPr lang="zh-CN" sz="710" b="1" dirty="0">
                  <a:solidFill>
                    <a:srgbClr val="67281B"/>
                  </a:solidFill>
                  <a:latin typeface="+mn-lt"/>
                  <a:ea typeface="+mn-ea"/>
                  <a:cs typeface="+mn-cs"/>
                </a:rPr>
                <a:t>财务负责人</a:t>
              </a:r>
            </a:p>
          </p:txBody>
        </p:sp>
        <p:sp>
          <p:nvSpPr>
            <p:cNvPr id="43" name="Ellipse 43"/>
            <p:cNvSpPr/>
            <p:nvPr/>
          </p:nvSpPr>
          <p:spPr>
            <a:xfrm>
              <a:off x="2286000" y="2457450"/>
              <a:ext cx="457200" cy="457200"/>
            </a:xfrm>
            <a:prstGeom prst="ellipse">
              <a:avLst/>
            </a:prstGeom>
            <a:solidFill>
              <a:srgbClr val="DE674F"/>
            </a:solidFill>
            <a:ln>
              <a:noFill/>
            </a:ln>
          </p:spPr>
        </p:sp>
        <p:grpSp>
          <p:nvGrpSpPr>
            <p:cNvPr id="46" name="Group 46"/>
            <p:cNvGrpSpPr/>
            <p:nvPr/>
          </p:nvGrpSpPr>
          <p:grpSpPr>
            <a:xfrm>
              <a:off x="2454662" y="2588012"/>
              <a:ext cx="119875" cy="119875"/>
              <a:chOff x="2454662" y="2588012"/>
              <a:chExt cx="119875" cy="119875"/>
            </a:xfrm>
          </p:grpSpPr>
          <p:sp>
            <p:nvSpPr>
              <p:cNvPr id="44" name="Freeform 44"/>
              <p:cNvSpPr/>
              <p:nvPr/>
            </p:nvSpPr>
            <p:spPr>
              <a:xfrm>
                <a:off x="2454662" y="258801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FFFFFF"/>
                </a:solidFill>
              </a:ln>
            </p:spPr>
          </p:sp>
          <p:sp>
            <p:nvSpPr>
              <p:cNvPr id="45" name="Freeform 45"/>
              <p:cNvSpPr/>
              <p:nvPr/>
            </p:nvSpPr>
            <p:spPr>
              <a:xfrm>
                <a:off x="2495550" y="26289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FFFFFF"/>
                </a:solidFill>
              </a:ln>
            </p:spPr>
          </p:sp>
        </p:grpSp>
        <p:sp>
          <p:nvSpPr>
            <p:cNvPr id="47" name="TextBox 47"/>
            <p:cNvSpPr txBox="1"/>
            <p:nvPr/>
          </p:nvSpPr>
          <p:spPr>
            <a:xfrm>
              <a:off x="2318677" y="2971086"/>
              <a:ext cx="391846" cy="140494"/>
            </a:xfrm>
            <a:prstGeom prst="rect">
              <a:avLst/>
            </a:prstGeom>
            <a:noFill/>
            <a:ln>
              <a:noFill/>
            </a:ln>
          </p:spPr>
          <p:txBody>
            <a:bodyPr wrap="none" lIns="0" tIns="0" rIns="0" bIns="0" anchor="t" anchorCtr="0">
              <a:spAutoFit/>
            </a:bodyPr>
            <a:lstStyle/>
            <a:p>
              <a:pPr algn="ctr"/>
              <a:r>
                <a:rPr lang="zh-CN" sz="710" b="1" dirty="0">
                  <a:solidFill>
                    <a:srgbClr val="67281B"/>
                  </a:solidFill>
                  <a:latin typeface="+mn-lt"/>
                  <a:ea typeface="+mn-ea"/>
                  <a:cs typeface="+mn-cs"/>
                </a:rPr>
                <a:t>技术骨干</a:t>
              </a:r>
            </a:p>
          </p:txBody>
        </p:sp>
        <p:sp>
          <p:nvSpPr>
            <p:cNvPr id="48" name="Ellipse 48"/>
            <p:cNvSpPr/>
            <p:nvPr/>
          </p:nvSpPr>
          <p:spPr>
            <a:xfrm>
              <a:off x="2819400" y="3028950"/>
              <a:ext cx="381000" cy="381000"/>
            </a:xfrm>
            <a:prstGeom prst="ellipse">
              <a:avLst/>
            </a:prstGeom>
            <a:solidFill>
              <a:srgbClr val="E5907F"/>
            </a:solidFill>
            <a:ln>
              <a:noFill/>
            </a:ln>
          </p:spPr>
        </p:sp>
        <p:grpSp>
          <p:nvGrpSpPr>
            <p:cNvPr id="54" name="Group 54"/>
            <p:cNvGrpSpPr/>
            <p:nvPr/>
          </p:nvGrpSpPr>
          <p:grpSpPr>
            <a:xfrm>
              <a:off x="2959894" y="3150394"/>
              <a:ext cx="100012" cy="100012"/>
              <a:chOff x="2959894" y="3150394"/>
              <a:chExt cx="100012" cy="100012"/>
            </a:xfrm>
          </p:grpSpPr>
          <p:sp>
            <p:nvSpPr>
              <p:cNvPr id="49" name="Freeform 49"/>
              <p:cNvSpPr/>
              <p:nvPr/>
            </p:nvSpPr>
            <p:spPr>
              <a:xfrm>
                <a:off x="2959894" y="31503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sp>
            <p:nvSpPr>
              <p:cNvPr id="50" name="Freeform 50"/>
              <p:cNvSpPr/>
              <p:nvPr/>
            </p:nvSpPr>
            <p:spPr>
              <a:xfrm>
                <a:off x="2963227" y="3183731"/>
                <a:ext cx="93345" cy="9525"/>
              </a:xfrm>
              <a:custGeom>
                <a:avLst/>
                <a:gdLst/>
                <a:ahLst/>
                <a:cxnLst/>
                <a:rect l="l" t="t" r="r" b="b"/>
                <a:pathLst>
                  <a:path w="93345" h="9525">
                    <a:moveTo>
                      <a:pt x="0" y="0"/>
                    </a:moveTo>
                    <a:lnTo>
                      <a:pt x="93345" y="0"/>
                    </a:lnTo>
                  </a:path>
                </a:pathLst>
              </a:custGeom>
              <a:noFill/>
              <a:ln w="11112">
                <a:solidFill>
                  <a:srgbClr val="FFFFFF"/>
                </a:solidFill>
              </a:ln>
            </p:spPr>
          </p:sp>
          <p:sp>
            <p:nvSpPr>
              <p:cNvPr id="51" name="Freeform 51"/>
              <p:cNvSpPr/>
              <p:nvPr/>
            </p:nvSpPr>
            <p:spPr>
              <a:xfrm>
                <a:off x="2963227" y="3217069"/>
                <a:ext cx="93345" cy="9525"/>
              </a:xfrm>
              <a:custGeom>
                <a:avLst/>
                <a:gdLst/>
                <a:ahLst/>
                <a:cxnLst/>
                <a:rect l="l" t="t" r="r" b="b"/>
                <a:pathLst>
                  <a:path w="93345" h="9525">
                    <a:moveTo>
                      <a:pt x="0" y="0"/>
                    </a:moveTo>
                    <a:lnTo>
                      <a:pt x="93345" y="0"/>
                    </a:lnTo>
                  </a:path>
                </a:pathLst>
              </a:custGeom>
              <a:noFill/>
              <a:ln w="11112">
                <a:solidFill>
                  <a:srgbClr val="FFFFFF"/>
                </a:solidFill>
              </a:ln>
            </p:spPr>
          </p:sp>
          <p:sp>
            <p:nvSpPr>
              <p:cNvPr id="52" name="Freeform 52"/>
              <p:cNvSpPr/>
              <p:nvPr/>
            </p:nvSpPr>
            <p:spPr>
              <a:xfrm>
                <a:off x="2988025" y="3150394"/>
                <a:ext cx="19097" cy="100012"/>
              </a:xfrm>
              <a:custGeom>
                <a:avLst/>
                <a:gdLst/>
                <a:ahLst/>
                <a:cxnLst/>
                <a:rect l="l" t="t" r="r" b="b"/>
                <a:pathLst>
                  <a:path w="19097" h="100012">
                    <a:moveTo>
                      <a:pt x="19097" y="0"/>
                    </a:moveTo>
                    <a:cubicBezTo>
                      <a:pt x="0" y="30603"/>
                      <a:pt x="0" y="69410"/>
                      <a:pt x="19097" y="100012"/>
                    </a:cubicBezTo>
                  </a:path>
                </a:pathLst>
              </a:custGeom>
              <a:noFill/>
              <a:ln w="11112">
                <a:solidFill>
                  <a:srgbClr val="FFFFFF"/>
                </a:solidFill>
              </a:ln>
            </p:spPr>
          </p:sp>
          <p:sp>
            <p:nvSpPr>
              <p:cNvPr id="53" name="Freeform 53"/>
              <p:cNvSpPr/>
              <p:nvPr/>
            </p:nvSpPr>
            <p:spPr>
              <a:xfrm>
                <a:off x="3012678" y="3150394"/>
                <a:ext cx="19097" cy="100012"/>
              </a:xfrm>
              <a:custGeom>
                <a:avLst/>
                <a:gdLst/>
                <a:ahLst/>
                <a:cxnLst/>
                <a:rect l="l" t="t" r="r" b="b"/>
                <a:pathLst>
                  <a:path w="19097" h="100012">
                    <a:moveTo>
                      <a:pt x="0" y="0"/>
                    </a:moveTo>
                    <a:cubicBezTo>
                      <a:pt x="19097" y="30603"/>
                      <a:pt x="19097" y="69410"/>
                      <a:pt x="0" y="100012"/>
                    </a:cubicBezTo>
                  </a:path>
                </a:pathLst>
              </a:custGeom>
              <a:noFill/>
              <a:ln w="11112">
                <a:solidFill>
                  <a:srgbClr val="FFFFFF"/>
                </a:solidFill>
              </a:ln>
            </p:spPr>
          </p:sp>
        </p:grpSp>
        <p:sp>
          <p:nvSpPr>
            <p:cNvPr id="55" name="TextBox 55"/>
            <p:cNvSpPr txBox="1"/>
            <p:nvPr/>
          </p:nvSpPr>
          <p:spPr>
            <a:xfrm>
              <a:off x="2813977" y="3466386"/>
              <a:ext cx="391846" cy="140494"/>
            </a:xfrm>
            <a:prstGeom prst="rect">
              <a:avLst/>
            </a:prstGeom>
            <a:noFill/>
            <a:ln>
              <a:noFill/>
            </a:ln>
          </p:spPr>
          <p:txBody>
            <a:bodyPr wrap="none" lIns="0" tIns="0" rIns="0" bIns="0" anchor="t" anchorCtr="0">
              <a:spAutoFit/>
            </a:bodyPr>
            <a:lstStyle/>
            <a:p>
              <a:pPr algn="ctr"/>
              <a:r>
                <a:rPr lang="zh-CN" sz="710" b="1" dirty="0">
                  <a:solidFill>
                    <a:srgbClr val="67281B"/>
                  </a:solidFill>
                  <a:latin typeface="+mn-lt"/>
                  <a:ea typeface="+mn-ea"/>
                  <a:cs typeface="+mn-cs"/>
                </a:rPr>
                <a:t>海外派驻</a:t>
              </a:r>
            </a:p>
          </p:txBody>
        </p:sp>
        <p:sp>
          <p:nvSpPr>
            <p:cNvPr id="56" name="Ellipse 56"/>
            <p:cNvSpPr/>
            <p:nvPr/>
          </p:nvSpPr>
          <p:spPr>
            <a:xfrm>
              <a:off x="523875" y="3990975"/>
              <a:ext cx="95250" cy="95250"/>
            </a:xfrm>
            <a:prstGeom prst="ellipse">
              <a:avLst/>
            </a:prstGeom>
            <a:solidFill>
              <a:srgbClr val="A8351D"/>
            </a:solidFill>
            <a:ln>
              <a:noFill/>
            </a:ln>
          </p:spPr>
        </p:sp>
        <p:sp>
          <p:nvSpPr>
            <p:cNvPr id="57" name="TextBox 57"/>
            <p:cNvSpPr txBox="1"/>
            <p:nvPr/>
          </p:nvSpPr>
          <p:spPr>
            <a:xfrm>
              <a:off x="661988" y="3999786"/>
              <a:ext cx="29626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企业主</a:t>
              </a:r>
            </a:p>
          </p:txBody>
        </p:sp>
        <p:sp>
          <p:nvSpPr>
            <p:cNvPr id="58" name="Ellipse 58"/>
            <p:cNvSpPr/>
            <p:nvPr/>
          </p:nvSpPr>
          <p:spPr>
            <a:xfrm>
              <a:off x="1133475" y="3990975"/>
              <a:ext cx="95250" cy="95250"/>
            </a:xfrm>
            <a:prstGeom prst="ellipse">
              <a:avLst/>
            </a:prstGeom>
            <a:solidFill>
              <a:srgbClr val="D64A2E"/>
            </a:solidFill>
            <a:ln>
              <a:noFill/>
            </a:ln>
          </p:spPr>
        </p:sp>
        <p:sp>
          <p:nvSpPr>
            <p:cNvPr id="59" name="TextBox 59"/>
            <p:cNvSpPr txBox="1"/>
            <p:nvPr/>
          </p:nvSpPr>
          <p:spPr>
            <a:xfrm>
              <a:off x="1271588" y="3999786"/>
              <a:ext cx="29626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董监高</a:t>
              </a:r>
            </a:p>
          </p:txBody>
        </p:sp>
        <p:sp>
          <p:nvSpPr>
            <p:cNvPr id="60" name="Ellipse 60"/>
            <p:cNvSpPr/>
            <p:nvPr/>
          </p:nvSpPr>
          <p:spPr>
            <a:xfrm>
              <a:off x="1743075" y="3990975"/>
              <a:ext cx="95250" cy="95250"/>
            </a:xfrm>
            <a:prstGeom prst="ellipse">
              <a:avLst/>
            </a:prstGeom>
            <a:solidFill>
              <a:srgbClr val="A5280F"/>
            </a:solidFill>
            <a:ln>
              <a:noFill/>
            </a:ln>
          </p:spPr>
        </p:sp>
        <p:sp>
          <p:nvSpPr>
            <p:cNvPr id="61" name="TextBox 61"/>
            <p:cNvSpPr txBox="1"/>
            <p:nvPr/>
          </p:nvSpPr>
          <p:spPr>
            <a:xfrm>
              <a:off x="1881188" y="3999786"/>
              <a:ext cx="48742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财务负责人</a:t>
              </a:r>
            </a:p>
          </p:txBody>
        </p:sp>
        <p:sp>
          <p:nvSpPr>
            <p:cNvPr id="62" name="Ellipse 62"/>
            <p:cNvSpPr/>
            <p:nvPr/>
          </p:nvSpPr>
          <p:spPr>
            <a:xfrm>
              <a:off x="2524125" y="3990975"/>
              <a:ext cx="95250" cy="95250"/>
            </a:xfrm>
            <a:prstGeom prst="ellipse">
              <a:avLst/>
            </a:prstGeom>
            <a:solidFill>
              <a:srgbClr val="DE674F"/>
            </a:solidFill>
            <a:ln>
              <a:noFill/>
            </a:ln>
          </p:spPr>
        </p:sp>
        <p:sp>
          <p:nvSpPr>
            <p:cNvPr id="63" name="TextBox 63"/>
            <p:cNvSpPr txBox="1"/>
            <p:nvPr/>
          </p:nvSpPr>
          <p:spPr>
            <a:xfrm>
              <a:off x="2662238" y="3999786"/>
              <a:ext cx="39184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技术骨干</a:t>
              </a:r>
            </a:p>
          </p:txBody>
        </p:sp>
        <p:sp>
          <p:nvSpPr>
            <p:cNvPr id="64" name="Ellipse 64"/>
            <p:cNvSpPr/>
            <p:nvPr/>
          </p:nvSpPr>
          <p:spPr>
            <a:xfrm>
              <a:off x="3209925" y="3990975"/>
              <a:ext cx="95250" cy="95250"/>
            </a:xfrm>
            <a:prstGeom prst="ellipse">
              <a:avLst/>
            </a:prstGeom>
            <a:solidFill>
              <a:srgbClr val="E5907F"/>
            </a:solidFill>
            <a:ln>
              <a:noFill/>
            </a:ln>
          </p:spPr>
        </p:sp>
        <p:sp>
          <p:nvSpPr>
            <p:cNvPr id="65" name="TextBox 65"/>
            <p:cNvSpPr txBox="1"/>
            <p:nvPr/>
          </p:nvSpPr>
          <p:spPr>
            <a:xfrm>
              <a:off x="3348038" y="3999786"/>
              <a:ext cx="39184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海外派驻</a:t>
              </a:r>
            </a:p>
          </p:txBody>
        </p:sp>
      </p:grpSp>
      <p:grpSp>
        <p:nvGrpSpPr>
          <p:cNvPr id="173" name="panel-matrix"/>
          <p:cNvGrpSpPr/>
          <p:nvPr/>
        </p:nvGrpSpPr>
        <p:grpSpPr>
          <a:xfrm>
            <a:off x="4114800" y="704850"/>
            <a:ext cx="4000500" cy="3486150"/>
            <a:chOff x="4114800" y="704850"/>
            <a:chExt cx="4000500" cy="3486150"/>
          </a:xfrm>
        </p:grpSpPr>
        <p:sp>
          <p:nvSpPr>
            <p:cNvPr id="67" name="Rectangle 67"/>
            <p:cNvSpPr/>
            <p:nvPr/>
          </p:nvSpPr>
          <p:spPr>
            <a:xfrm>
              <a:off x="4114800" y="704850"/>
              <a:ext cx="4000500" cy="3486150"/>
            </a:xfrm>
            <a:prstGeom prst="roundRect">
              <a:avLst>
                <a:gd name="adj" fmla="val 2732"/>
              </a:avLst>
            </a:prstGeom>
            <a:solidFill>
              <a:srgbClr val="F9FBFE"/>
            </a:solidFill>
            <a:ln w="9525">
              <a:solidFill>
                <a:srgbClr val="C9D8EF"/>
              </a:solidFill>
            </a:ln>
          </p:spPr>
        </p:sp>
        <p:sp>
          <p:nvSpPr>
            <p:cNvPr id="68" name="Rectangle 68"/>
            <p:cNvSpPr/>
            <p:nvPr/>
          </p:nvSpPr>
          <p:spPr>
            <a:xfrm>
              <a:off x="4114800" y="704850"/>
              <a:ext cx="4000500" cy="285750"/>
            </a:xfrm>
            <a:prstGeom prst="roundRect">
              <a:avLst>
                <a:gd name="adj" fmla="val 13333"/>
              </a:avLst>
            </a:prstGeom>
            <a:gradFill>
              <a:gsLst>
                <a:gs pos="0">
                  <a:srgbClr val="AD3921"/>
                </a:gs>
                <a:gs pos="100000">
                  <a:srgbClr val="962C16"/>
                </a:gs>
              </a:gsLst>
              <a:lin ang="5400000" scaled="1"/>
            </a:gradFill>
            <a:ln>
              <a:noFill/>
            </a:ln>
          </p:spPr>
        </p:sp>
        <p:sp>
          <p:nvSpPr>
            <p:cNvPr id="69" name="TextBox 69"/>
            <p:cNvSpPr txBox="1"/>
            <p:nvPr/>
          </p:nvSpPr>
          <p:spPr>
            <a:xfrm>
              <a:off x="5614988" y="791528"/>
              <a:ext cx="1000125"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关键人需求矩阵</a:t>
              </a:r>
            </a:p>
          </p:txBody>
        </p:sp>
        <p:sp>
          <p:nvSpPr>
            <p:cNvPr id="70" name="Rectangle 70"/>
            <p:cNvSpPr/>
            <p:nvPr/>
          </p:nvSpPr>
          <p:spPr>
            <a:xfrm>
              <a:off x="5105400" y="1104900"/>
              <a:ext cx="2971800" cy="342900"/>
            </a:xfrm>
            <a:prstGeom prst="rect">
              <a:avLst/>
            </a:prstGeom>
            <a:solidFill>
              <a:srgbClr val="A8351D"/>
            </a:solidFill>
            <a:ln>
              <a:noFill/>
            </a:ln>
          </p:spPr>
        </p:sp>
        <p:grpSp>
          <p:nvGrpSpPr>
            <p:cNvPr id="76" name="Group 76"/>
            <p:cNvGrpSpPr/>
            <p:nvPr/>
          </p:nvGrpSpPr>
          <p:grpSpPr>
            <a:xfrm>
              <a:off x="5293519" y="1158924"/>
              <a:ext cx="100012" cy="100757"/>
              <a:chOff x="5293519" y="1158924"/>
              <a:chExt cx="100012" cy="100757"/>
            </a:xfrm>
          </p:grpSpPr>
          <p:sp>
            <p:nvSpPr>
              <p:cNvPr id="71" name="Freeform 71"/>
              <p:cNvSpPr/>
              <p:nvPr/>
            </p:nvSpPr>
            <p:spPr>
              <a:xfrm>
                <a:off x="5326856" y="1204119"/>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FFFFFF"/>
                </a:solidFill>
              </a:ln>
            </p:spPr>
          </p:sp>
          <p:sp>
            <p:nvSpPr>
              <p:cNvPr id="72" name="Freeform 72"/>
              <p:cNvSpPr/>
              <p:nvPr/>
            </p:nvSpPr>
            <p:spPr>
              <a:xfrm>
                <a:off x="5326856" y="1220787"/>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FFFFFF"/>
                </a:solidFill>
              </a:ln>
            </p:spPr>
          </p:sp>
          <p:sp>
            <p:nvSpPr>
              <p:cNvPr id="73" name="Freeform 73"/>
              <p:cNvSpPr/>
              <p:nvPr/>
            </p:nvSpPr>
            <p:spPr>
              <a:xfrm>
                <a:off x="5293519" y="1158924"/>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FFFFFF"/>
                </a:solidFill>
              </a:ln>
            </p:spPr>
          </p:sp>
          <p:sp>
            <p:nvSpPr>
              <p:cNvPr id="74" name="Freeform 74"/>
              <p:cNvSpPr/>
              <p:nvPr/>
            </p:nvSpPr>
            <p:spPr>
              <a:xfrm>
                <a:off x="5293519" y="1176337"/>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FFFFFF"/>
                </a:solidFill>
              </a:ln>
            </p:spPr>
          </p:sp>
          <p:sp>
            <p:nvSpPr>
              <p:cNvPr id="75" name="Freeform 75"/>
              <p:cNvSpPr/>
              <p:nvPr/>
            </p:nvSpPr>
            <p:spPr>
              <a:xfrm>
                <a:off x="5293519" y="1204119"/>
                <a:ext cx="11112" cy="11112"/>
              </a:xfrm>
              <a:custGeom>
                <a:avLst/>
                <a:gdLst/>
                <a:ahLst/>
                <a:cxnLst/>
                <a:rect l="l" t="t" r="r" b="b"/>
                <a:pathLst>
                  <a:path w="11112" h="11112">
                    <a:moveTo>
                      <a:pt x="0" y="0"/>
                    </a:moveTo>
                    <a:cubicBezTo>
                      <a:pt x="0" y="4934"/>
                      <a:pt x="4289" y="8057"/>
                      <a:pt x="11112" y="11112"/>
                    </a:cubicBezTo>
                  </a:path>
                </a:pathLst>
              </a:custGeom>
              <a:noFill/>
              <a:ln w="11112">
                <a:solidFill>
                  <a:srgbClr val="FFFFFF"/>
                </a:solidFill>
              </a:ln>
            </p:spPr>
          </p:sp>
        </p:grpSp>
        <p:sp>
          <p:nvSpPr>
            <p:cNvPr id="77" name="TextBox 77"/>
            <p:cNvSpPr txBox="1"/>
            <p:nvPr/>
          </p:nvSpPr>
          <p:spPr>
            <a:xfrm>
              <a:off x="5252707" y="132326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财富</a:t>
              </a:r>
            </a:p>
          </p:txBody>
        </p:sp>
        <p:grpSp>
          <p:nvGrpSpPr>
            <p:cNvPr id="80" name="Group 80"/>
            <p:cNvGrpSpPr/>
            <p:nvPr/>
          </p:nvGrpSpPr>
          <p:grpSpPr>
            <a:xfrm>
              <a:off x="5781320" y="1159669"/>
              <a:ext cx="108504" cy="100012"/>
              <a:chOff x="5781320" y="1159669"/>
              <a:chExt cx="108504" cy="100012"/>
            </a:xfrm>
          </p:grpSpPr>
          <p:sp>
            <p:nvSpPr>
              <p:cNvPr id="78" name="Freeform 78"/>
              <p:cNvSpPr/>
              <p:nvPr/>
            </p:nvSpPr>
            <p:spPr>
              <a:xfrm>
                <a:off x="5781320" y="115966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FFFFFF"/>
                </a:solidFill>
              </a:ln>
            </p:spPr>
          </p:sp>
          <p:sp>
            <p:nvSpPr>
              <p:cNvPr id="79" name="Freeform 79"/>
              <p:cNvSpPr/>
              <p:nvPr/>
            </p:nvSpPr>
            <p:spPr>
              <a:xfrm>
                <a:off x="5855494" y="1237456"/>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81" name="TextBox 81"/>
            <p:cNvSpPr txBox="1"/>
            <p:nvPr/>
          </p:nvSpPr>
          <p:spPr>
            <a:xfrm>
              <a:off x="5748007" y="132326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保障</a:t>
              </a:r>
            </a:p>
          </p:txBody>
        </p:sp>
        <p:grpSp>
          <p:nvGrpSpPr>
            <p:cNvPr id="84" name="Group 84"/>
            <p:cNvGrpSpPr/>
            <p:nvPr/>
          </p:nvGrpSpPr>
          <p:grpSpPr>
            <a:xfrm>
              <a:off x="6282570" y="1160624"/>
              <a:ext cx="100450" cy="100606"/>
              <a:chOff x="6282570" y="1160624"/>
              <a:chExt cx="100450" cy="100606"/>
            </a:xfrm>
          </p:grpSpPr>
          <p:sp>
            <p:nvSpPr>
              <p:cNvPr id="82" name="Freeform 82"/>
              <p:cNvSpPr/>
              <p:nvPr/>
            </p:nvSpPr>
            <p:spPr>
              <a:xfrm>
                <a:off x="6282570" y="1160624"/>
                <a:ext cx="100450" cy="100606"/>
              </a:xfrm>
              <a:custGeom>
                <a:avLst/>
                <a:gdLst/>
                <a:ahLst/>
                <a:cxnLst/>
                <a:rect l="l" t="t" r="r" b="b"/>
                <a:pathLst>
                  <a:path w="100450" h="100606">
                    <a:moveTo>
                      <a:pt x="40442" y="156"/>
                    </a:moveTo>
                    <a:cubicBezTo>
                      <a:pt x="16384" y="5733"/>
                      <a:pt x="0" y="28038"/>
                      <a:pt x="1873" y="52664"/>
                    </a:cubicBezTo>
                    <a:cubicBezTo>
                      <a:pt x="3747" y="77289"/>
                      <a:pt x="23317" y="96859"/>
                      <a:pt x="47942" y="98732"/>
                    </a:cubicBezTo>
                    <a:cubicBezTo>
                      <a:pt x="72567" y="100606"/>
                      <a:pt x="94873" y="84222"/>
                      <a:pt x="100450" y="60163"/>
                    </a:cubicBezTo>
                    <a:cubicBezTo>
                      <a:pt x="100450" y="57095"/>
                      <a:pt x="97962" y="54607"/>
                      <a:pt x="94894" y="54607"/>
                    </a:cubicBezTo>
                    <a:lnTo>
                      <a:pt x="57111" y="54607"/>
                    </a:lnTo>
                    <a:cubicBezTo>
                      <a:pt x="50974" y="54607"/>
                      <a:pt x="45999" y="49632"/>
                      <a:pt x="45999" y="43495"/>
                    </a:cubicBezTo>
                    <a:lnTo>
                      <a:pt x="45999" y="4601"/>
                    </a:lnTo>
                    <a:cubicBezTo>
                      <a:pt x="45859" y="3271"/>
                      <a:pt x="45193" y="2053"/>
                      <a:pt x="44149" y="1218"/>
                    </a:cubicBezTo>
                    <a:cubicBezTo>
                      <a:pt x="43105" y="382"/>
                      <a:pt x="41770" y="0"/>
                      <a:pt x="40442" y="156"/>
                    </a:cubicBezTo>
                  </a:path>
                </a:pathLst>
              </a:custGeom>
              <a:noFill/>
              <a:ln w="11112">
                <a:solidFill>
                  <a:srgbClr val="FFFFFF"/>
                </a:solidFill>
              </a:ln>
            </p:spPr>
          </p:sp>
          <p:sp>
            <p:nvSpPr>
              <p:cNvPr id="83" name="Freeform 83"/>
              <p:cNvSpPr/>
              <p:nvPr/>
            </p:nvSpPr>
            <p:spPr>
              <a:xfrm>
                <a:off x="6350794" y="1162447"/>
                <a:ext cx="30559" cy="30559"/>
              </a:xfrm>
              <a:custGeom>
                <a:avLst/>
                <a:gdLst/>
                <a:ahLst/>
                <a:cxnLst/>
                <a:rect l="l" t="t" r="r" b="b"/>
                <a:pathLst>
                  <a:path w="30559" h="30559">
                    <a:moveTo>
                      <a:pt x="0" y="0"/>
                    </a:moveTo>
                    <a:cubicBezTo>
                      <a:pt x="14290" y="5032"/>
                      <a:pt x="25528" y="16270"/>
                      <a:pt x="30559" y="30559"/>
                    </a:cubicBezTo>
                    <a:lnTo>
                      <a:pt x="5556" y="30559"/>
                    </a:lnTo>
                    <a:cubicBezTo>
                      <a:pt x="2488" y="30559"/>
                      <a:pt x="0" y="28072"/>
                      <a:pt x="0" y="25003"/>
                    </a:cubicBezTo>
                    <a:lnTo>
                      <a:pt x="0" y="0"/>
                    </a:lnTo>
                  </a:path>
                </a:pathLst>
              </a:custGeom>
              <a:noFill/>
              <a:ln w="11112">
                <a:solidFill>
                  <a:srgbClr val="FFFFFF"/>
                </a:solidFill>
              </a:ln>
            </p:spPr>
          </p:sp>
        </p:grpSp>
        <p:sp>
          <p:nvSpPr>
            <p:cNvPr id="85" name="TextBox 85"/>
            <p:cNvSpPr txBox="1"/>
            <p:nvPr/>
          </p:nvSpPr>
          <p:spPr>
            <a:xfrm>
              <a:off x="6243307" y="132326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股权</a:t>
              </a:r>
            </a:p>
          </p:txBody>
        </p:sp>
        <p:grpSp>
          <p:nvGrpSpPr>
            <p:cNvPr id="91" name="Group 91"/>
            <p:cNvGrpSpPr/>
            <p:nvPr/>
          </p:nvGrpSpPr>
          <p:grpSpPr>
            <a:xfrm>
              <a:off x="6779419" y="1159669"/>
              <a:ext cx="100012" cy="100012"/>
              <a:chOff x="6779419" y="1159669"/>
              <a:chExt cx="100012" cy="100012"/>
            </a:xfrm>
          </p:grpSpPr>
          <p:sp>
            <p:nvSpPr>
              <p:cNvPr id="86" name="Freeform 86"/>
              <p:cNvSpPr/>
              <p:nvPr/>
            </p:nvSpPr>
            <p:spPr>
              <a:xfrm>
                <a:off x="6779419" y="1159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sp>
            <p:nvSpPr>
              <p:cNvPr id="87" name="Freeform 87"/>
              <p:cNvSpPr/>
              <p:nvPr/>
            </p:nvSpPr>
            <p:spPr>
              <a:xfrm>
                <a:off x="6782752" y="1193006"/>
                <a:ext cx="93345" cy="9525"/>
              </a:xfrm>
              <a:custGeom>
                <a:avLst/>
                <a:gdLst/>
                <a:ahLst/>
                <a:cxnLst/>
                <a:rect l="l" t="t" r="r" b="b"/>
                <a:pathLst>
                  <a:path w="93345" h="9525">
                    <a:moveTo>
                      <a:pt x="0" y="0"/>
                    </a:moveTo>
                    <a:lnTo>
                      <a:pt x="93345" y="0"/>
                    </a:lnTo>
                  </a:path>
                </a:pathLst>
              </a:custGeom>
              <a:noFill/>
              <a:ln w="11112">
                <a:solidFill>
                  <a:srgbClr val="FFFFFF"/>
                </a:solidFill>
              </a:ln>
            </p:spPr>
          </p:sp>
          <p:sp>
            <p:nvSpPr>
              <p:cNvPr id="88" name="Freeform 88"/>
              <p:cNvSpPr/>
              <p:nvPr/>
            </p:nvSpPr>
            <p:spPr>
              <a:xfrm>
                <a:off x="6782752" y="1226344"/>
                <a:ext cx="93345" cy="9525"/>
              </a:xfrm>
              <a:custGeom>
                <a:avLst/>
                <a:gdLst/>
                <a:ahLst/>
                <a:cxnLst/>
                <a:rect l="l" t="t" r="r" b="b"/>
                <a:pathLst>
                  <a:path w="93345" h="9525">
                    <a:moveTo>
                      <a:pt x="0" y="0"/>
                    </a:moveTo>
                    <a:lnTo>
                      <a:pt x="93345" y="0"/>
                    </a:lnTo>
                  </a:path>
                </a:pathLst>
              </a:custGeom>
              <a:noFill/>
              <a:ln w="11112">
                <a:solidFill>
                  <a:srgbClr val="FFFFFF"/>
                </a:solidFill>
              </a:ln>
            </p:spPr>
          </p:sp>
          <p:sp>
            <p:nvSpPr>
              <p:cNvPr id="89" name="Freeform 89"/>
              <p:cNvSpPr/>
              <p:nvPr/>
            </p:nvSpPr>
            <p:spPr>
              <a:xfrm>
                <a:off x="6807550" y="1159669"/>
                <a:ext cx="19097" cy="100012"/>
              </a:xfrm>
              <a:custGeom>
                <a:avLst/>
                <a:gdLst/>
                <a:ahLst/>
                <a:cxnLst/>
                <a:rect l="l" t="t" r="r" b="b"/>
                <a:pathLst>
                  <a:path w="19097" h="100012">
                    <a:moveTo>
                      <a:pt x="19097" y="0"/>
                    </a:moveTo>
                    <a:cubicBezTo>
                      <a:pt x="0" y="30603"/>
                      <a:pt x="0" y="69410"/>
                      <a:pt x="19097" y="100012"/>
                    </a:cubicBezTo>
                  </a:path>
                </a:pathLst>
              </a:custGeom>
              <a:noFill/>
              <a:ln w="11112">
                <a:solidFill>
                  <a:srgbClr val="FFFFFF"/>
                </a:solidFill>
              </a:ln>
            </p:spPr>
          </p:sp>
          <p:sp>
            <p:nvSpPr>
              <p:cNvPr id="90" name="Freeform 90"/>
              <p:cNvSpPr/>
              <p:nvPr/>
            </p:nvSpPr>
            <p:spPr>
              <a:xfrm>
                <a:off x="6832203" y="1159669"/>
                <a:ext cx="19097" cy="100012"/>
              </a:xfrm>
              <a:custGeom>
                <a:avLst/>
                <a:gdLst/>
                <a:ahLst/>
                <a:cxnLst/>
                <a:rect l="l" t="t" r="r" b="b"/>
                <a:pathLst>
                  <a:path w="19097" h="100012">
                    <a:moveTo>
                      <a:pt x="0" y="0"/>
                    </a:moveTo>
                    <a:cubicBezTo>
                      <a:pt x="19097" y="30603"/>
                      <a:pt x="19097" y="69410"/>
                      <a:pt x="0" y="100012"/>
                    </a:cubicBezTo>
                  </a:path>
                </a:pathLst>
              </a:custGeom>
              <a:noFill/>
              <a:ln w="11112">
                <a:solidFill>
                  <a:srgbClr val="FFFFFF"/>
                </a:solidFill>
              </a:ln>
            </p:spPr>
          </p:sp>
        </p:grpSp>
        <p:sp>
          <p:nvSpPr>
            <p:cNvPr id="92" name="TextBox 92"/>
            <p:cNvSpPr txBox="1"/>
            <p:nvPr/>
          </p:nvSpPr>
          <p:spPr>
            <a:xfrm>
              <a:off x="6738607" y="132326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跨境</a:t>
              </a:r>
            </a:p>
          </p:txBody>
        </p:sp>
        <p:grpSp>
          <p:nvGrpSpPr>
            <p:cNvPr id="96" name="Group 96"/>
            <p:cNvGrpSpPr/>
            <p:nvPr/>
          </p:nvGrpSpPr>
          <p:grpSpPr>
            <a:xfrm>
              <a:off x="7274719" y="1159669"/>
              <a:ext cx="100012" cy="100012"/>
              <a:chOff x="7274719" y="1159669"/>
              <a:chExt cx="100012" cy="100012"/>
            </a:xfrm>
          </p:grpSpPr>
          <p:sp>
            <p:nvSpPr>
              <p:cNvPr id="93" name="Freeform 93"/>
              <p:cNvSpPr/>
              <p:nvPr/>
            </p:nvSpPr>
            <p:spPr>
              <a:xfrm>
                <a:off x="7274719" y="1159669"/>
                <a:ext cx="100012" cy="50006"/>
              </a:xfrm>
              <a:custGeom>
                <a:avLst/>
                <a:gdLst/>
                <a:ahLst/>
                <a:cxnLst/>
                <a:rect l="l" t="t" r="r" b="b"/>
                <a:pathLst>
                  <a:path w="100012" h="50006">
                    <a:moveTo>
                      <a:pt x="11112" y="50006"/>
                    </a:moveTo>
                    <a:lnTo>
                      <a:pt x="0" y="50006"/>
                    </a:lnTo>
                    <a:lnTo>
                      <a:pt x="50006" y="0"/>
                    </a:lnTo>
                    <a:lnTo>
                      <a:pt x="100012" y="50006"/>
                    </a:lnTo>
                    <a:lnTo>
                      <a:pt x="88900" y="50006"/>
                    </a:lnTo>
                  </a:path>
                </a:pathLst>
              </a:custGeom>
              <a:noFill/>
              <a:ln w="11112">
                <a:solidFill>
                  <a:srgbClr val="FFFFFF"/>
                </a:solidFill>
              </a:ln>
            </p:spPr>
          </p:sp>
          <p:sp>
            <p:nvSpPr>
              <p:cNvPr id="94" name="Freeform 94"/>
              <p:cNvSpPr/>
              <p:nvPr/>
            </p:nvSpPr>
            <p:spPr>
              <a:xfrm>
                <a:off x="7285831" y="1209675"/>
                <a:ext cx="77787" cy="50006"/>
              </a:xfrm>
              <a:custGeom>
                <a:avLst/>
                <a:gdLst/>
                <a:ahLst/>
                <a:cxnLst/>
                <a:rect l="l" t="t" r="r" b="b"/>
                <a:pathLst>
                  <a:path w="77787" h="50006">
                    <a:moveTo>
                      <a:pt x="0" y="0"/>
                    </a:moveTo>
                    <a:lnTo>
                      <a:pt x="0" y="38894"/>
                    </a:lnTo>
                    <a:cubicBezTo>
                      <a:pt x="0" y="45031"/>
                      <a:pt x="4975" y="50006"/>
                      <a:pt x="11112" y="50006"/>
                    </a:cubicBezTo>
                    <a:lnTo>
                      <a:pt x="66675" y="50006"/>
                    </a:lnTo>
                    <a:cubicBezTo>
                      <a:pt x="72812" y="50006"/>
                      <a:pt x="77787" y="45031"/>
                      <a:pt x="77787" y="38894"/>
                    </a:cubicBezTo>
                    <a:lnTo>
                      <a:pt x="77787" y="0"/>
                    </a:lnTo>
                  </a:path>
                </a:pathLst>
              </a:custGeom>
              <a:noFill/>
              <a:ln w="11112">
                <a:solidFill>
                  <a:srgbClr val="FFFFFF"/>
                </a:solidFill>
              </a:ln>
            </p:spPr>
          </p:sp>
          <p:sp>
            <p:nvSpPr>
              <p:cNvPr id="95" name="Freeform 95"/>
              <p:cNvSpPr/>
              <p:nvPr/>
            </p:nvSpPr>
            <p:spPr>
              <a:xfrm>
                <a:off x="7308056" y="1215231"/>
                <a:ext cx="33337" cy="44450"/>
              </a:xfrm>
              <a:custGeom>
                <a:avLst/>
                <a:gdLst/>
                <a:ahLst/>
                <a:cxnLst/>
                <a:rect l="l" t="t" r="r" b="b"/>
                <a:pathLst>
                  <a:path w="33337" h="44450">
                    <a:moveTo>
                      <a:pt x="0" y="44450"/>
                    </a:moveTo>
                    <a:lnTo>
                      <a:pt x="0" y="11112"/>
                    </a:lnTo>
                    <a:cubicBezTo>
                      <a:pt x="0" y="4975"/>
                      <a:pt x="4975" y="0"/>
                      <a:pt x="11112" y="0"/>
                    </a:cubicBezTo>
                    <a:lnTo>
                      <a:pt x="22225" y="0"/>
                    </a:lnTo>
                    <a:cubicBezTo>
                      <a:pt x="28362" y="0"/>
                      <a:pt x="33337" y="4975"/>
                      <a:pt x="33337" y="11112"/>
                    </a:cubicBezTo>
                    <a:lnTo>
                      <a:pt x="33337" y="44450"/>
                    </a:lnTo>
                  </a:path>
                </a:pathLst>
              </a:custGeom>
              <a:noFill/>
              <a:ln w="11112">
                <a:solidFill>
                  <a:srgbClr val="FFFFFF"/>
                </a:solidFill>
              </a:ln>
            </p:spPr>
          </p:sp>
        </p:grpSp>
        <p:sp>
          <p:nvSpPr>
            <p:cNvPr id="97" name="TextBox 97"/>
            <p:cNvSpPr txBox="1"/>
            <p:nvPr/>
          </p:nvSpPr>
          <p:spPr>
            <a:xfrm>
              <a:off x="7138327" y="13232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家族传承</a:t>
              </a:r>
            </a:p>
          </p:txBody>
        </p:sp>
        <p:grpSp>
          <p:nvGrpSpPr>
            <p:cNvPr id="101" name="Group 101"/>
            <p:cNvGrpSpPr/>
            <p:nvPr/>
          </p:nvGrpSpPr>
          <p:grpSpPr>
            <a:xfrm>
              <a:off x="7792244" y="1170781"/>
              <a:ext cx="55562" cy="77787"/>
              <a:chOff x="7792244" y="1170781"/>
              <a:chExt cx="55562" cy="77787"/>
            </a:xfrm>
          </p:grpSpPr>
          <p:sp>
            <p:nvSpPr>
              <p:cNvPr id="98" name="Freeform 98"/>
              <p:cNvSpPr/>
              <p:nvPr/>
            </p:nvSpPr>
            <p:spPr>
              <a:xfrm>
                <a:off x="7792244" y="1170781"/>
                <a:ext cx="27781" cy="77787"/>
              </a:xfrm>
              <a:custGeom>
                <a:avLst/>
                <a:gdLst/>
                <a:ahLst/>
                <a:cxnLst/>
                <a:rect l="l" t="t" r="r" b="b"/>
                <a:pathLst>
                  <a:path w="27781" h="77787">
                    <a:moveTo>
                      <a:pt x="27781" y="77787"/>
                    </a:moveTo>
                    <a:lnTo>
                      <a:pt x="27781" y="38894"/>
                    </a:lnTo>
                    <a:lnTo>
                      <a:pt x="0" y="0"/>
                    </a:lnTo>
                  </a:path>
                </a:pathLst>
              </a:custGeom>
              <a:noFill/>
              <a:ln w="11112">
                <a:solidFill>
                  <a:srgbClr val="FFFFFF"/>
                </a:solidFill>
              </a:ln>
            </p:spPr>
          </p:sp>
          <p:sp>
            <p:nvSpPr>
              <p:cNvPr id="99" name="Freeform 99"/>
              <p:cNvSpPr/>
              <p:nvPr/>
            </p:nvSpPr>
            <p:spPr>
              <a:xfrm>
                <a:off x="7820025" y="1170781"/>
                <a:ext cx="27781" cy="38894"/>
              </a:xfrm>
              <a:custGeom>
                <a:avLst/>
                <a:gdLst/>
                <a:ahLst/>
                <a:cxnLst/>
                <a:rect l="l" t="t" r="r" b="b"/>
                <a:pathLst>
                  <a:path w="27781" h="38894">
                    <a:moveTo>
                      <a:pt x="27781" y="0"/>
                    </a:moveTo>
                    <a:lnTo>
                      <a:pt x="0" y="38894"/>
                    </a:lnTo>
                  </a:path>
                </a:pathLst>
              </a:custGeom>
              <a:noFill/>
              <a:ln w="11112">
                <a:solidFill>
                  <a:srgbClr val="FFFFFF"/>
                </a:solidFill>
              </a:ln>
            </p:spPr>
          </p:sp>
          <p:sp>
            <p:nvSpPr>
              <p:cNvPr id="100" name="Freeform 100"/>
              <p:cNvSpPr/>
              <p:nvPr/>
            </p:nvSpPr>
            <p:spPr>
              <a:xfrm>
                <a:off x="7797800" y="1215231"/>
                <a:ext cx="44450" cy="9525"/>
              </a:xfrm>
              <a:custGeom>
                <a:avLst/>
                <a:gdLst/>
                <a:ahLst/>
                <a:cxnLst/>
                <a:rect l="l" t="t" r="r" b="b"/>
                <a:pathLst>
                  <a:path w="44450" h="9525">
                    <a:moveTo>
                      <a:pt x="0" y="0"/>
                    </a:moveTo>
                    <a:lnTo>
                      <a:pt x="44450" y="0"/>
                    </a:lnTo>
                  </a:path>
                </a:pathLst>
              </a:custGeom>
              <a:noFill/>
              <a:ln w="11112">
                <a:solidFill>
                  <a:srgbClr val="FFFFFF"/>
                </a:solidFill>
              </a:ln>
            </p:spPr>
          </p:sp>
        </p:grpSp>
        <p:sp>
          <p:nvSpPr>
            <p:cNvPr id="102" name="TextBox 102"/>
            <p:cNvSpPr txBox="1"/>
            <p:nvPr/>
          </p:nvSpPr>
          <p:spPr>
            <a:xfrm>
              <a:off x="7595934" y="1327309"/>
              <a:ext cx="46723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企业流动性</a:t>
              </a:r>
            </a:p>
          </p:txBody>
        </p:sp>
        <p:sp>
          <p:nvSpPr>
            <p:cNvPr id="103" name="Rectangle 103"/>
            <p:cNvSpPr/>
            <p:nvPr/>
          </p:nvSpPr>
          <p:spPr>
            <a:xfrm>
              <a:off x="4248150" y="1485900"/>
              <a:ext cx="3829050" cy="495300"/>
            </a:xfrm>
            <a:prstGeom prst="rect">
              <a:avLst/>
            </a:prstGeom>
            <a:solidFill>
              <a:srgbClr val="FFFFFF"/>
            </a:solidFill>
            <a:ln w="9525">
              <a:solidFill>
                <a:srgbClr val="E2EAF6"/>
              </a:solidFill>
            </a:ln>
          </p:spPr>
        </p:sp>
        <p:sp>
          <p:nvSpPr>
            <p:cNvPr id="104" name="Freeform 104"/>
            <p:cNvSpPr/>
            <p:nvPr/>
          </p:nvSpPr>
          <p:spPr>
            <a:xfrm>
              <a:off x="4345781" y="1690688"/>
              <a:ext cx="128588" cy="85725"/>
            </a:xfrm>
            <a:custGeom>
              <a:avLst/>
              <a:gdLst/>
              <a:ahLst/>
              <a:cxnLst/>
              <a:rect l="l" t="t" r="r" b="b"/>
              <a:pathLst>
                <a:path w="128588" h="85725">
                  <a:moveTo>
                    <a:pt x="64294" y="0"/>
                  </a:moveTo>
                  <a:lnTo>
                    <a:pt x="92869" y="42862"/>
                  </a:lnTo>
                  <a:lnTo>
                    <a:pt x="128588" y="14288"/>
                  </a:lnTo>
                  <a:lnTo>
                    <a:pt x="114300" y="85725"/>
                  </a:lnTo>
                  <a:lnTo>
                    <a:pt x="14288" y="85725"/>
                  </a:lnTo>
                  <a:lnTo>
                    <a:pt x="0" y="14288"/>
                  </a:lnTo>
                  <a:lnTo>
                    <a:pt x="35719" y="42862"/>
                  </a:lnTo>
                  <a:lnTo>
                    <a:pt x="64294" y="0"/>
                  </a:lnTo>
                </a:path>
              </a:pathLst>
            </a:custGeom>
            <a:noFill/>
            <a:ln w="14288">
              <a:solidFill>
                <a:srgbClr val="A8351D"/>
              </a:solidFill>
            </a:ln>
          </p:spPr>
        </p:sp>
        <p:sp>
          <p:nvSpPr>
            <p:cNvPr id="105" name="TextBox 105"/>
            <p:cNvSpPr txBox="1"/>
            <p:nvPr/>
          </p:nvSpPr>
          <p:spPr>
            <a:xfrm>
              <a:off x="4548188" y="1686639"/>
              <a:ext cx="32857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企业主</a:t>
              </a:r>
            </a:p>
          </p:txBody>
        </p:sp>
        <p:sp>
          <p:nvSpPr>
            <p:cNvPr id="106" name="Ellipse 106"/>
            <p:cNvSpPr/>
            <p:nvPr/>
          </p:nvSpPr>
          <p:spPr>
            <a:xfrm>
              <a:off x="5276850" y="1657350"/>
              <a:ext cx="152400" cy="152400"/>
            </a:xfrm>
            <a:prstGeom prst="ellipse">
              <a:avLst/>
            </a:prstGeom>
            <a:solidFill>
              <a:srgbClr val="67281B"/>
            </a:solidFill>
            <a:ln>
              <a:noFill/>
            </a:ln>
          </p:spPr>
        </p:sp>
        <p:sp>
          <p:nvSpPr>
            <p:cNvPr id="107" name="Ellipse 107"/>
            <p:cNvSpPr/>
            <p:nvPr/>
          </p:nvSpPr>
          <p:spPr>
            <a:xfrm>
              <a:off x="5772150" y="1657350"/>
              <a:ext cx="152400" cy="152400"/>
            </a:xfrm>
            <a:prstGeom prst="ellipse">
              <a:avLst/>
            </a:prstGeom>
            <a:solidFill>
              <a:srgbClr val="67281B"/>
            </a:solidFill>
            <a:ln>
              <a:noFill/>
            </a:ln>
          </p:spPr>
        </p:sp>
        <p:sp>
          <p:nvSpPr>
            <p:cNvPr id="108" name="Ellipse 108"/>
            <p:cNvSpPr/>
            <p:nvPr/>
          </p:nvSpPr>
          <p:spPr>
            <a:xfrm>
              <a:off x="6267450" y="1657350"/>
              <a:ext cx="152400" cy="152400"/>
            </a:xfrm>
            <a:prstGeom prst="ellipse">
              <a:avLst/>
            </a:prstGeom>
            <a:solidFill>
              <a:srgbClr val="67281B"/>
            </a:solidFill>
            <a:ln>
              <a:noFill/>
            </a:ln>
          </p:spPr>
        </p:sp>
        <p:sp>
          <p:nvSpPr>
            <p:cNvPr id="109" name="Ellipse 109"/>
            <p:cNvSpPr/>
            <p:nvPr/>
          </p:nvSpPr>
          <p:spPr>
            <a:xfrm>
              <a:off x="6772275" y="1666875"/>
              <a:ext cx="133350" cy="133350"/>
            </a:xfrm>
            <a:prstGeom prst="ellipse">
              <a:avLst/>
            </a:prstGeom>
            <a:solidFill>
              <a:srgbClr val="DE674F"/>
            </a:solidFill>
            <a:ln>
              <a:noFill/>
            </a:ln>
          </p:spPr>
        </p:sp>
        <p:sp>
          <p:nvSpPr>
            <p:cNvPr id="110" name="Ellipse 110"/>
            <p:cNvSpPr/>
            <p:nvPr/>
          </p:nvSpPr>
          <p:spPr>
            <a:xfrm>
              <a:off x="7267575" y="1666875"/>
              <a:ext cx="133350" cy="133350"/>
            </a:xfrm>
            <a:prstGeom prst="ellipse">
              <a:avLst/>
            </a:prstGeom>
            <a:solidFill>
              <a:srgbClr val="DE674F"/>
            </a:solidFill>
            <a:ln>
              <a:noFill/>
            </a:ln>
          </p:spPr>
        </p:sp>
        <p:sp>
          <p:nvSpPr>
            <p:cNvPr id="111" name="Ellipse 111"/>
            <p:cNvSpPr/>
            <p:nvPr/>
          </p:nvSpPr>
          <p:spPr>
            <a:xfrm>
              <a:off x="7753350" y="1657350"/>
              <a:ext cx="152400" cy="152400"/>
            </a:xfrm>
            <a:prstGeom prst="ellipse">
              <a:avLst/>
            </a:prstGeom>
            <a:solidFill>
              <a:srgbClr val="67281B"/>
            </a:solidFill>
            <a:ln>
              <a:noFill/>
            </a:ln>
          </p:spPr>
        </p:sp>
        <p:sp>
          <p:nvSpPr>
            <p:cNvPr id="112" name="Rectangle 112"/>
            <p:cNvSpPr/>
            <p:nvPr/>
          </p:nvSpPr>
          <p:spPr>
            <a:xfrm>
              <a:off x="4248150" y="1981200"/>
              <a:ext cx="3829050" cy="495300"/>
            </a:xfrm>
            <a:prstGeom prst="rect">
              <a:avLst/>
            </a:prstGeom>
            <a:solidFill>
              <a:srgbClr val="F7FAFE"/>
            </a:solidFill>
            <a:ln w="9525">
              <a:solidFill>
                <a:srgbClr val="E2EAF6"/>
              </a:solidFill>
            </a:ln>
          </p:spPr>
        </p:sp>
        <p:grpSp>
          <p:nvGrpSpPr>
            <p:cNvPr id="117" name="Group 117"/>
            <p:cNvGrpSpPr/>
            <p:nvPr/>
          </p:nvGrpSpPr>
          <p:grpSpPr>
            <a:xfrm>
              <a:off x="4345781" y="2164556"/>
              <a:ext cx="128588" cy="128588"/>
              <a:chOff x="4345781" y="2164556"/>
              <a:chExt cx="128588" cy="128588"/>
            </a:xfrm>
          </p:grpSpPr>
          <p:sp>
            <p:nvSpPr>
              <p:cNvPr id="113" name="Freeform 113"/>
              <p:cNvSpPr/>
              <p:nvPr/>
            </p:nvSpPr>
            <p:spPr>
              <a:xfrm>
                <a:off x="4360069" y="21645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A8351D"/>
                </a:solidFill>
              </a:ln>
            </p:spPr>
          </p:sp>
          <p:sp>
            <p:nvSpPr>
              <p:cNvPr id="114" name="Freeform 114"/>
              <p:cNvSpPr/>
              <p:nvPr/>
            </p:nvSpPr>
            <p:spPr>
              <a:xfrm>
                <a:off x="4345781" y="225028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A8351D"/>
                </a:solidFill>
              </a:ln>
            </p:spPr>
          </p:sp>
          <p:sp>
            <p:nvSpPr>
              <p:cNvPr id="115" name="Freeform 115"/>
              <p:cNvSpPr/>
              <p:nvPr/>
            </p:nvSpPr>
            <p:spPr>
              <a:xfrm>
                <a:off x="4438650" y="216548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A8351D"/>
                </a:solidFill>
              </a:ln>
            </p:spPr>
          </p:sp>
          <p:sp>
            <p:nvSpPr>
              <p:cNvPr id="116" name="Freeform 116"/>
              <p:cNvSpPr/>
              <p:nvPr/>
            </p:nvSpPr>
            <p:spPr>
              <a:xfrm>
                <a:off x="4452938" y="225135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A8351D"/>
                </a:solidFill>
              </a:ln>
            </p:spPr>
          </p:sp>
        </p:grpSp>
        <p:sp>
          <p:nvSpPr>
            <p:cNvPr id="118" name="TextBox 118"/>
            <p:cNvSpPr txBox="1"/>
            <p:nvPr/>
          </p:nvSpPr>
          <p:spPr>
            <a:xfrm>
              <a:off x="4548188" y="2181939"/>
              <a:ext cx="32857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董监高</a:t>
              </a:r>
            </a:p>
          </p:txBody>
        </p:sp>
        <p:sp>
          <p:nvSpPr>
            <p:cNvPr id="119" name="Ellipse 119"/>
            <p:cNvSpPr/>
            <p:nvPr/>
          </p:nvSpPr>
          <p:spPr>
            <a:xfrm>
              <a:off x="5276850" y="2152650"/>
              <a:ext cx="152400" cy="152400"/>
            </a:xfrm>
            <a:prstGeom prst="ellipse">
              <a:avLst/>
            </a:prstGeom>
            <a:solidFill>
              <a:srgbClr val="67281B"/>
            </a:solidFill>
            <a:ln>
              <a:noFill/>
            </a:ln>
          </p:spPr>
        </p:sp>
        <p:sp>
          <p:nvSpPr>
            <p:cNvPr id="120" name="Ellipse 120"/>
            <p:cNvSpPr/>
            <p:nvPr/>
          </p:nvSpPr>
          <p:spPr>
            <a:xfrm>
              <a:off x="5781675" y="2162175"/>
              <a:ext cx="133350" cy="133350"/>
            </a:xfrm>
            <a:prstGeom prst="ellipse">
              <a:avLst/>
            </a:prstGeom>
            <a:solidFill>
              <a:srgbClr val="DE674F"/>
            </a:solidFill>
            <a:ln>
              <a:noFill/>
            </a:ln>
          </p:spPr>
        </p:sp>
        <p:sp>
          <p:nvSpPr>
            <p:cNvPr id="121" name="Ellipse 121"/>
            <p:cNvSpPr/>
            <p:nvPr/>
          </p:nvSpPr>
          <p:spPr>
            <a:xfrm>
              <a:off x="6276975" y="2162175"/>
              <a:ext cx="133350" cy="133350"/>
            </a:xfrm>
            <a:prstGeom prst="ellipse">
              <a:avLst/>
            </a:prstGeom>
            <a:solidFill>
              <a:srgbClr val="DE674F"/>
            </a:solidFill>
            <a:ln>
              <a:noFill/>
            </a:ln>
          </p:spPr>
        </p:sp>
        <p:sp>
          <p:nvSpPr>
            <p:cNvPr id="122" name="Ellipse 122"/>
            <p:cNvSpPr/>
            <p:nvPr/>
          </p:nvSpPr>
          <p:spPr>
            <a:xfrm>
              <a:off x="6772275" y="2162175"/>
              <a:ext cx="133350" cy="133350"/>
            </a:xfrm>
            <a:prstGeom prst="ellipse">
              <a:avLst/>
            </a:prstGeom>
            <a:solidFill>
              <a:srgbClr val="DE674F"/>
            </a:solidFill>
            <a:ln>
              <a:noFill/>
            </a:ln>
          </p:spPr>
        </p:sp>
        <p:sp>
          <p:nvSpPr>
            <p:cNvPr id="123" name="Ellipse 123"/>
            <p:cNvSpPr/>
            <p:nvPr/>
          </p:nvSpPr>
          <p:spPr>
            <a:xfrm>
              <a:off x="7258050" y="2152650"/>
              <a:ext cx="152400" cy="152400"/>
            </a:xfrm>
            <a:prstGeom prst="ellipse">
              <a:avLst/>
            </a:prstGeom>
            <a:solidFill>
              <a:srgbClr val="67281B"/>
            </a:solidFill>
            <a:ln>
              <a:noFill/>
            </a:ln>
          </p:spPr>
        </p:sp>
        <p:sp>
          <p:nvSpPr>
            <p:cNvPr id="124" name="Ellipse 124"/>
            <p:cNvSpPr/>
            <p:nvPr/>
          </p:nvSpPr>
          <p:spPr>
            <a:xfrm>
              <a:off x="7762875" y="2162175"/>
              <a:ext cx="133350" cy="133350"/>
            </a:xfrm>
            <a:prstGeom prst="ellipse">
              <a:avLst/>
            </a:prstGeom>
            <a:solidFill>
              <a:srgbClr val="DE674F"/>
            </a:solidFill>
            <a:ln>
              <a:noFill/>
            </a:ln>
          </p:spPr>
        </p:sp>
        <p:sp>
          <p:nvSpPr>
            <p:cNvPr id="125" name="Rectangle 125"/>
            <p:cNvSpPr/>
            <p:nvPr/>
          </p:nvSpPr>
          <p:spPr>
            <a:xfrm>
              <a:off x="4248150" y="2476500"/>
              <a:ext cx="3829050" cy="495300"/>
            </a:xfrm>
            <a:prstGeom prst="rect">
              <a:avLst/>
            </a:prstGeom>
            <a:solidFill>
              <a:srgbClr val="FFFFFF"/>
            </a:solidFill>
            <a:ln w="9525">
              <a:solidFill>
                <a:srgbClr val="E2EAF6"/>
              </a:solidFill>
            </a:ln>
          </p:spPr>
        </p:sp>
        <p:grpSp>
          <p:nvGrpSpPr>
            <p:cNvPr id="134" name="Group 134"/>
            <p:cNvGrpSpPr/>
            <p:nvPr/>
          </p:nvGrpSpPr>
          <p:grpSpPr>
            <a:xfrm>
              <a:off x="4352925" y="2659856"/>
              <a:ext cx="114300" cy="128588"/>
              <a:chOff x="4352925" y="2659856"/>
              <a:chExt cx="114300" cy="128588"/>
            </a:xfrm>
          </p:grpSpPr>
          <p:sp>
            <p:nvSpPr>
              <p:cNvPr id="126" name="Freeform 126"/>
              <p:cNvSpPr/>
              <p:nvPr/>
            </p:nvSpPr>
            <p:spPr>
              <a:xfrm>
                <a:off x="4352925" y="2659856"/>
                <a:ext cx="114300" cy="128588"/>
              </a:xfrm>
              <a:custGeom>
                <a:avLst/>
                <a:gdLst/>
                <a:ahLst/>
                <a:cxnLst/>
                <a:rect l="l" t="t" r="r" b="b"/>
                <a:pathLst>
                  <a:path w="114300" h="128588">
                    <a:moveTo>
                      <a:pt x="0" y="14288"/>
                    </a:moveTo>
                    <a:cubicBezTo>
                      <a:pt x="0" y="6397"/>
                      <a:pt x="6397" y="0"/>
                      <a:pt x="14288" y="0"/>
                    </a:cubicBezTo>
                    <a:lnTo>
                      <a:pt x="100012" y="0"/>
                    </a:lnTo>
                    <a:cubicBezTo>
                      <a:pt x="107903" y="0"/>
                      <a:pt x="114300" y="6397"/>
                      <a:pt x="114300" y="14288"/>
                    </a:cubicBezTo>
                    <a:lnTo>
                      <a:pt x="114300" y="114300"/>
                    </a:lnTo>
                    <a:cubicBezTo>
                      <a:pt x="114300" y="122191"/>
                      <a:pt x="107903" y="128588"/>
                      <a:pt x="100012" y="128588"/>
                    </a:cubicBezTo>
                    <a:lnTo>
                      <a:pt x="14288" y="128588"/>
                    </a:lnTo>
                    <a:cubicBezTo>
                      <a:pt x="6397" y="128588"/>
                      <a:pt x="0" y="122191"/>
                      <a:pt x="0" y="114300"/>
                    </a:cubicBezTo>
                    <a:lnTo>
                      <a:pt x="0" y="14288"/>
                    </a:lnTo>
                  </a:path>
                </a:pathLst>
              </a:custGeom>
              <a:noFill/>
              <a:ln w="14288">
                <a:solidFill>
                  <a:srgbClr val="A8351D"/>
                </a:solidFill>
              </a:ln>
            </p:spPr>
          </p:sp>
          <p:sp>
            <p:nvSpPr>
              <p:cNvPr id="127" name="Freeform 127"/>
              <p:cNvSpPr/>
              <p:nvPr/>
            </p:nvSpPr>
            <p:spPr>
              <a:xfrm>
                <a:off x="4381500" y="2688431"/>
                <a:ext cx="57150" cy="21431"/>
              </a:xfrm>
              <a:custGeom>
                <a:avLst/>
                <a:gdLst/>
                <a:ahLst/>
                <a:cxnLst/>
                <a:rect l="l" t="t" r="r" b="b"/>
                <a:pathLst>
                  <a:path w="57150" h="21431">
                    <a:moveTo>
                      <a:pt x="0" y="7144"/>
                    </a:moveTo>
                    <a:cubicBezTo>
                      <a:pt x="0" y="3198"/>
                      <a:pt x="3198" y="0"/>
                      <a:pt x="7144" y="0"/>
                    </a:cubicBezTo>
                    <a:lnTo>
                      <a:pt x="50006" y="0"/>
                    </a:lnTo>
                    <a:cubicBezTo>
                      <a:pt x="53952" y="0"/>
                      <a:pt x="57150" y="3198"/>
                      <a:pt x="57150" y="7144"/>
                    </a:cubicBezTo>
                    <a:lnTo>
                      <a:pt x="57150" y="14288"/>
                    </a:lnTo>
                    <a:cubicBezTo>
                      <a:pt x="57150" y="18233"/>
                      <a:pt x="53952" y="21431"/>
                      <a:pt x="50006" y="21431"/>
                    </a:cubicBezTo>
                    <a:lnTo>
                      <a:pt x="7144" y="21431"/>
                    </a:lnTo>
                    <a:cubicBezTo>
                      <a:pt x="3198" y="21431"/>
                      <a:pt x="0" y="18233"/>
                      <a:pt x="0" y="14288"/>
                    </a:cubicBezTo>
                    <a:lnTo>
                      <a:pt x="0" y="7144"/>
                    </a:lnTo>
                  </a:path>
                </a:pathLst>
              </a:custGeom>
              <a:noFill/>
              <a:ln w="14288">
                <a:solidFill>
                  <a:srgbClr val="A8351D"/>
                </a:solidFill>
              </a:ln>
            </p:spPr>
          </p:sp>
          <p:sp>
            <p:nvSpPr>
              <p:cNvPr id="128" name="Freeform 128"/>
              <p:cNvSpPr/>
              <p:nvPr/>
            </p:nvSpPr>
            <p:spPr>
              <a:xfrm>
                <a:off x="4381500" y="2738438"/>
                <a:ext cx="9525" cy="9525"/>
              </a:xfrm>
              <a:custGeom>
                <a:avLst/>
                <a:gdLst/>
                <a:ahLst/>
                <a:cxnLst/>
                <a:rect l="l" t="t" r="r" b="b"/>
                <a:pathLst>
                  <a:path w="9525" h="9525">
                    <a:moveTo>
                      <a:pt x="0" y="0"/>
                    </a:moveTo>
                    <a:lnTo>
                      <a:pt x="0" y="71"/>
                    </a:lnTo>
                  </a:path>
                </a:pathLst>
              </a:custGeom>
              <a:noFill/>
              <a:ln w="14288">
                <a:solidFill>
                  <a:srgbClr val="A8351D"/>
                </a:solidFill>
              </a:ln>
            </p:spPr>
          </p:sp>
          <p:sp>
            <p:nvSpPr>
              <p:cNvPr id="129" name="Freeform 129"/>
              <p:cNvSpPr/>
              <p:nvPr/>
            </p:nvSpPr>
            <p:spPr>
              <a:xfrm>
                <a:off x="4410075" y="2738438"/>
                <a:ext cx="9525" cy="9525"/>
              </a:xfrm>
              <a:custGeom>
                <a:avLst/>
                <a:gdLst/>
                <a:ahLst/>
                <a:cxnLst/>
                <a:rect l="l" t="t" r="r" b="b"/>
                <a:pathLst>
                  <a:path w="9525" h="9525">
                    <a:moveTo>
                      <a:pt x="0" y="0"/>
                    </a:moveTo>
                    <a:lnTo>
                      <a:pt x="0" y="71"/>
                    </a:lnTo>
                  </a:path>
                </a:pathLst>
              </a:custGeom>
              <a:noFill/>
              <a:ln w="14288">
                <a:solidFill>
                  <a:srgbClr val="A8351D"/>
                </a:solidFill>
              </a:ln>
            </p:spPr>
          </p:sp>
          <p:sp>
            <p:nvSpPr>
              <p:cNvPr id="130" name="Freeform 130"/>
              <p:cNvSpPr/>
              <p:nvPr/>
            </p:nvSpPr>
            <p:spPr>
              <a:xfrm>
                <a:off x="4438650" y="2738438"/>
                <a:ext cx="9525" cy="9525"/>
              </a:xfrm>
              <a:custGeom>
                <a:avLst/>
                <a:gdLst/>
                <a:ahLst/>
                <a:cxnLst/>
                <a:rect l="l" t="t" r="r" b="b"/>
                <a:pathLst>
                  <a:path w="9525" h="9525">
                    <a:moveTo>
                      <a:pt x="0" y="0"/>
                    </a:moveTo>
                    <a:lnTo>
                      <a:pt x="0" y="71"/>
                    </a:lnTo>
                  </a:path>
                </a:pathLst>
              </a:custGeom>
              <a:noFill/>
              <a:ln w="14288">
                <a:solidFill>
                  <a:srgbClr val="A8351D"/>
                </a:solidFill>
              </a:ln>
            </p:spPr>
          </p:sp>
          <p:sp>
            <p:nvSpPr>
              <p:cNvPr id="131" name="Freeform 131"/>
              <p:cNvSpPr/>
              <p:nvPr/>
            </p:nvSpPr>
            <p:spPr>
              <a:xfrm>
                <a:off x="4381500" y="2759869"/>
                <a:ext cx="9525" cy="9525"/>
              </a:xfrm>
              <a:custGeom>
                <a:avLst/>
                <a:gdLst/>
                <a:ahLst/>
                <a:cxnLst/>
                <a:rect l="l" t="t" r="r" b="b"/>
                <a:pathLst>
                  <a:path w="9525" h="9525">
                    <a:moveTo>
                      <a:pt x="0" y="0"/>
                    </a:moveTo>
                    <a:lnTo>
                      <a:pt x="0" y="71"/>
                    </a:lnTo>
                  </a:path>
                </a:pathLst>
              </a:custGeom>
              <a:noFill/>
              <a:ln w="14288">
                <a:solidFill>
                  <a:srgbClr val="A8351D"/>
                </a:solidFill>
              </a:ln>
            </p:spPr>
          </p:sp>
          <p:sp>
            <p:nvSpPr>
              <p:cNvPr id="132" name="Freeform 132"/>
              <p:cNvSpPr/>
              <p:nvPr/>
            </p:nvSpPr>
            <p:spPr>
              <a:xfrm>
                <a:off x="4410075" y="2759869"/>
                <a:ext cx="9525" cy="9525"/>
              </a:xfrm>
              <a:custGeom>
                <a:avLst/>
                <a:gdLst/>
                <a:ahLst/>
                <a:cxnLst/>
                <a:rect l="l" t="t" r="r" b="b"/>
                <a:pathLst>
                  <a:path w="9525" h="9525">
                    <a:moveTo>
                      <a:pt x="0" y="0"/>
                    </a:moveTo>
                    <a:lnTo>
                      <a:pt x="0" y="71"/>
                    </a:lnTo>
                  </a:path>
                </a:pathLst>
              </a:custGeom>
              <a:noFill/>
              <a:ln w="14288">
                <a:solidFill>
                  <a:srgbClr val="A8351D"/>
                </a:solidFill>
              </a:ln>
            </p:spPr>
          </p:sp>
          <p:sp>
            <p:nvSpPr>
              <p:cNvPr id="133" name="Freeform 133"/>
              <p:cNvSpPr/>
              <p:nvPr/>
            </p:nvSpPr>
            <p:spPr>
              <a:xfrm>
                <a:off x="4438650" y="2759869"/>
                <a:ext cx="9525" cy="9525"/>
              </a:xfrm>
              <a:custGeom>
                <a:avLst/>
                <a:gdLst/>
                <a:ahLst/>
                <a:cxnLst/>
                <a:rect l="l" t="t" r="r" b="b"/>
                <a:pathLst>
                  <a:path w="9525" h="9525">
                    <a:moveTo>
                      <a:pt x="0" y="0"/>
                    </a:moveTo>
                    <a:lnTo>
                      <a:pt x="0" y="71"/>
                    </a:lnTo>
                  </a:path>
                </a:pathLst>
              </a:custGeom>
              <a:noFill/>
              <a:ln w="14288">
                <a:solidFill>
                  <a:srgbClr val="A8351D"/>
                </a:solidFill>
              </a:ln>
            </p:spPr>
          </p:sp>
        </p:grpSp>
        <p:sp>
          <p:nvSpPr>
            <p:cNvPr id="135" name="TextBox 135"/>
            <p:cNvSpPr txBox="1"/>
            <p:nvPr/>
          </p:nvSpPr>
          <p:spPr>
            <a:xfrm>
              <a:off x="4548188" y="2677239"/>
              <a:ext cx="54127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财务负责人</a:t>
              </a:r>
            </a:p>
          </p:txBody>
        </p:sp>
        <p:sp>
          <p:nvSpPr>
            <p:cNvPr id="136" name="Ellipse 136"/>
            <p:cNvSpPr/>
            <p:nvPr/>
          </p:nvSpPr>
          <p:spPr>
            <a:xfrm>
              <a:off x="5286375" y="2657475"/>
              <a:ext cx="133350" cy="133350"/>
            </a:xfrm>
            <a:prstGeom prst="ellipse">
              <a:avLst/>
            </a:prstGeom>
            <a:solidFill>
              <a:srgbClr val="DE674F"/>
            </a:solidFill>
            <a:ln>
              <a:noFill/>
            </a:ln>
          </p:spPr>
        </p:sp>
        <p:sp>
          <p:nvSpPr>
            <p:cNvPr id="137" name="Ellipse 137"/>
            <p:cNvSpPr/>
            <p:nvPr/>
          </p:nvSpPr>
          <p:spPr>
            <a:xfrm>
              <a:off x="5772150" y="2647950"/>
              <a:ext cx="152400" cy="152400"/>
            </a:xfrm>
            <a:prstGeom prst="ellipse">
              <a:avLst/>
            </a:prstGeom>
            <a:solidFill>
              <a:srgbClr val="67281B"/>
            </a:solidFill>
            <a:ln>
              <a:noFill/>
            </a:ln>
          </p:spPr>
        </p:sp>
        <p:sp>
          <p:nvSpPr>
            <p:cNvPr id="138" name="Ellipse 138"/>
            <p:cNvSpPr/>
            <p:nvPr/>
          </p:nvSpPr>
          <p:spPr>
            <a:xfrm>
              <a:off x="6286500" y="2667000"/>
              <a:ext cx="114300" cy="114300"/>
            </a:xfrm>
            <a:prstGeom prst="ellipse">
              <a:avLst/>
            </a:prstGeom>
            <a:solidFill>
              <a:srgbClr val="F2CCC4"/>
            </a:solidFill>
            <a:ln>
              <a:noFill/>
            </a:ln>
          </p:spPr>
        </p:sp>
        <p:sp>
          <p:nvSpPr>
            <p:cNvPr id="139" name="Ellipse 139"/>
            <p:cNvSpPr/>
            <p:nvPr/>
          </p:nvSpPr>
          <p:spPr>
            <a:xfrm>
              <a:off x="6772275" y="2657475"/>
              <a:ext cx="133350" cy="133350"/>
            </a:xfrm>
            <a:prstGeom prst="ellipse">
              <a:avLst/>
            </a:prstGeom>
            <a:solidFill>
              <a:srgbClr val="DE674F"/>
            </a:solidFill>
            <a:ln>
              <a:noFill/>
            </a:ln>
          </p:spPr>
        </p:sp>
        <p:sp>
          <p:nvSpPr>
            <p:cNvPr id="140" name="Ellipse 140"/>
            <p:cNvSpPr/>
            <p:nvPr/>
          </p:nvSpPr>
          <p:spPr>
            <a:xfrm>
              <a:off x="7277100" y="2667000"/>
              <a:ext cx="114300" cy="114300"/>
            </a:xfrm>
            <a:prstGeom prst="ellipse">
              <a:avLst/>
            </a:prstGeom>
            <a:solidFill>
              <a:srgbClr val="F2CCC4"/>
            </a:solidFill>
            <a:ln>
              <a:noFill/>
            </a:ln>
          </p:spPr>
        </p:sp>
        <p:sp>
          <p:nvSpPr>
            <p:cNvPr id="141" name="Ellipse 141"/>
            <p:cNvSpPr/>
            <p:nvPr/>
          </p:nvSpPr>
          <p:spPr>
            <a:xfrm>
              <a:off x="7753350" y="2647950"/>
              <a:ext cx="152400" cy="152400"/>
            </a:xfrm>
            <a:prstGeom prst="ellipse">
              <a:avLst/>
            </a:prstGeom>
            <a:solidFill>
              <a:srgbClr val="67281B"/>
            </a:solidFill>
            <a:ln>
              <a:noFill/>
            </a:ln>
          </p:spPr>
        </p:sp>
        <p:sp>
          <p:nvSpPr>
            <p:cNvPr id="142" name="Rectangle 142"/>
            <p:cNvSpPr/>
            <p:nvPr/>
          </p:nvSpPr>
          <p:spPr>
            <a:xfrm>
              <a:off x="4248150" y="2971800"/>
              <a:ext cx="3829050" cy="495300"/>
            </a:xfrm>
            <a:prstGeom prst="rect">
              <a:avLst/>
            </a:prstGeom>
            <a:solidFill>
              <a:srgbClr val="F7FAFE"/>
            </a:solidFill>
            <a:ln w="9525">
              <a:solidFill>
                <a:srgbClr val="E2EAF6"/>
              </a:solidFill>
            </a:ln>
          </p:spPr>
        </p:sp>
        <p:grpSp>
          <p:nvGrpSpPr>
            <p:cNvPr id="145" name="Group 145"/>
            <p:cNvGrpSpPr/>
            <p:nvPr/>
          </p:nvGrpSpPr>
          <p:grpSpPr>
            <a:xfrm>
              <a:off x="4342645" y="3152020"/>
              <a:ext cx="134860" cy="134860"/>
              <a:chOff x="4342645" y="3152020"/>
              <a:chExt cx="134860" cy="134860"/>
            </a:xfrm>
          </p:grpSpPr>
          <p:sp>
            <p:nvSpPr>
              <p:cNvPr id="143" name="Freeform 143"/>
              <p:cNvSpPr/>
              <p:nvPr/>
            </p:nvSpPr>
            <p:spPr>
              <a:xfrm>
                <a:off x="4342645" y="3152020"/>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A8351D"/>
                </a:solidFill>
              </a:ln>
            </p:spPr>
          </p:sp>
          <p:sp>
            <p:nvSpPr>
              <p:cNvPr id="144" name="Freeform 144"/>
              <p:cNvSpPr/>
              <p:nvPr/>
            </p:nvSpPr>
            <p:spPr>
              <a:xfrm>
                <a:off x="4388644" y="3198019"/>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A8351D"/>
                </a:solidFill>
              </a:ln>
            </p:spPr>
          </p:sp>
        </p:grpSp>
        <p:sp>
          <p:nvSpPr>
            <p:cNvPr id="146" name="TextBox 146"/>
            <p:cNvSpPr txBox="1"/>
            <p:nvPr/>
          </p:nvSpPr>
          <p:spPr>
            <a:xfrm>
              <a:off x="4548188" y="3172539"/>
              <a:ext cx="43492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技术骨干</a:t>
              </a:r>
            </a:p>
          </p:txBody>
        </p:sp>
        <p:sp>
          <p:nvSpPr>
            <p:cNvPr id="147" name="Ellipse 147"/>
            <p:cNvSpPr/>
            <p:nvPr/>
          </p:nvSpPr>
          <p:spPr>
            <a:xfrm>
              <a:off x="5286375" y="3152775"/>
              <a:ext cx="133350" cy="133350"/>
            </a:xfrm>
            <a:prstGeom prst="ellipse">
              <a:avLst/>
            </a:prstGeom>
            <a:solidFill>
              <a:srgbClr val="DE674F"/>
            </a:solidFill>
            <a:ln>
              <a:noFill/>
            </a:ln>
          </p:spPr>
        </p:sp>
        <p:sp>
          <p:nvSpPr>
            <p:cNvPr id="148" name="Ellipse 148"/>
            <p:cNvSpPr/>
            <p:nvPr/>
          </p:nvSpPr>
          <p:spPr>
            <a:xfrm>
              <a:off x="5781675" y="3152775"/>
              <a:ext cx="133350" cy="133350"/>
            </a:xfrm>
            <a:prstGeom prst="ellipse">
              <a:avLst/>
            </a:prstGeom>
            <a:solidFill>
              <a:srgbClr val="DE674F"/>
            </a:solidFill>
            <a:ln>
              <a:noFill/>
            </a:ln>
          </p:spPr>
        </p:sp>
        <p:sp>
          <p:nvSpPr>
            <p:cNvPr id="149" name="Ellipse 149"/>
            <p:cNvSpPr/>
            <p:nvPr/>
          </p:nvSpPr>
          <p:spPr>
            <a:xfrm>
              <a:off x="6286500" y="3162300"/>
              <a:ext cx="114300" cy="114300"/>
            </a:xfrm>
            <a:prstGeom prst="ellipse">
              <a:avLst/>
            </a:prstGeom>
            <a:solidFill>
              <a:srgbClr val="F2CCC4"/>
            </a:solidFill>
            <a:ln>
              <a:noFill/>
            </a:ln>
          </p:spPr>
        </p:sp>
        <p:sp>
          <p:nvSpPr>
            <p:cNvPr id="150" name="Ellipse 150"/>
            <p:cNvSpPr/>
            <p:nvPr/>
          </p:nvSpPr>
          <p:spPr>
            <a:xfrm>
              <a:off x="6781800" y="3162300"/>
              <a:ext cx="114300" cy="114300"/>
            </a:xfrm>
            <a:prstGeom prst="ellipse">
              <a:avLst/>
            </a:prstGeom>
            <a:solidFill>
              <a:srgbClr val="F2CCC4"/>
            </a:solidFill>
            <a:ln>
              <a:noFill/>
            </a:ln>
          </p:spPr>
        </p:sp>
        <p:sp>
          <p:nvSpPr>
            <p:cNvPr id="151" name="Ellipse 151"/>
            <p:cNvSpPr/>
            <p:nvPr/>
          </p:nvSpPr>
          <p:spPr>
            <a:xfrm>
              <a:off x="7277100" y="3162300"/>
              <a:ext cx="114300" cy="114300"/>
            </a:xfrm>
            <a:prstGeom prst="ellipse">
              <a:avLst/>
            </a:prstGeom>
            <a:solidFill>
              <a:srgbClr val="F2CCC4"/>
            </a:solidFill>
            <a:ln>
              <a:noFill/>
            </a:ln>
          </p:spPr>
        </p:sp>
        <p:sp>
          <p:nvSpPr>
            <p:cNvPr id="152" name="Ellipse 152"/>
            <p:cNvSpPr/>
            <p:nvPr/>
          </p:nvSpPr>
          <p:spPr>
            <a:xfrm>
              <a:off x="7762875" y="3152775"/>
              <a:ext cx="133350" cy="133350"/>
            </a:xfrm>
            <a:prstGeom prst="ellipse">
              <a:avLst/>
            </a:prstGeom>
            <a:solidFill>
              <a:srgbClr val="DE674F"/>
            </a:solidFill>
            <a:ln>
              <a:noFill/>
            </a:ln>
          </p:spPr>
        </p:sp>
        <p:sp>
          <p:nvSpPr>
            <p:cNvPr id="153" name="Rectangle 153"/>
            <p:cNvSpPr/>
            <p:nvPr/>
          </p:nvSpPr>
          <p:spPr>
            <a:xfrm>
              <a:off x="4248150" y="3467100"/>
              <a:ext cx="3829050" cy="495300"/>
            </a:xfrm>
            <a:prstGeom prst="rect">
              <a:avLst/>
            </a:prstGeom>
            <a:solidFill>
              <a:srgbClr val="FFFFFF"/>
            </a:solidFill>
            <a:ln w="9525">
              <a:solidFill>
                <a:srgbClr val="E2EAF6"/>
              </a:solidFill>
            </a:ln>
          </p:spPr>
        </p:sp>
        <p:grpSp>
          <p:nvGrpSpPr>
            <p:cNvPr id="159" name="Group 159"/>
            <p:cNvGrpSpPr/>
            <p:nvPr/>
          </p:nvGrpSpPr>
          <p:grpSpPr>
            <a:xfrm>
              <a:off x="4345781" y="3650456"/>
              <a:ext cx="128588" cy="128588"/>
              <a:chOff x="4345781" y="3650456"/>
              <a:chExt cx="128588" cy="128588"/>
            </a:xfrm>
          </p:grpSpPr>
          <p:sp>
            <p:nvSpPr>
              <p:cNvPr id="154" name="Freeform 154"/>
              <p:cNvSpPr/>
              <p:nvPr/>
            </p:nvSpPr>
            <p:spPr>
              <a:xfrm>
                <a:off x="4345781" y="36504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A8351D"/>
                </a:solidFill>
              </a:ln>
            </p:spPr>
          </p:sp>
          <p:sp>
            <p:nvSpPr>
              <p:cNvPr id="155" name="Freeform 155"/>
              <p:cNvSpPr/>
              <p:nvPr/>
            </p:nvSpPr>
            <p:spPr>
              <a:xfrm>
                <a:off x="4350068" y="3693319"/>
                <a:ext cx="120015" cy="9525"/>
              </a:xfrm>
              <a:custGeom>
                <a:avLst/>
                <a:gdLst/>
                <a:ahLst/>
                <a:cxnLst/>
                <a:rect l="l" t="t" r="r" b="b"/>
                <a:pathLst>
                  <a:path w="120015" h="9525">
                    <a:moveTo>
                      <a:pt x="0" y="0"/>
                    </a:moveTo>
                    <a:lnTo>
                      <a:pt x="120015" y="0"/>
                    </a:lnTo>
                  </a:path>
                </a:pathLst>
              </a:custGeom>
              <a:noFill/>
              <a:ln w="14288">
                <a:solidFill>
                  <a:srgbClr val="A8351D"/>
                </a:solidFill>
              </a:ln>
            </p:spPr>
          </p:sp>
          <p:sp>
            <p:nvSpPr>
              <p:cNvPr id="156" name="Freeform 156"/>
              <p:cNvSpPr/>
              <p:nvPr/>
            </p:nvSpPr>
            <p:spPr>
              <a:xfrm>
                <a:off x="4350068" y="3736181"/>
                <a:ext cx="120015" cy="9525"/>
              </a:xfrm>
              <a:custGeom>
                <a:avLst/>
                <a:gdLst/>
                <a:ahLst/>
                <a:cxnLst/>
                <a:rect l="l" t="t" r="r" b="b"/>
                <a:pathLst>
                  <a:path w="120015" h="9525">
                    <a:moveTo>
                      <a:pt x="0" y="0"/>
                    </a:moveTo>
                    <a:lnTo>
                      <a:pt x="120015" y="0"/>
                    </a:lnTo>
                  </a:path>
                </a:pathLst>
              </a:custGeom>
              <a:noFill/>
              <a:ln w="14288">
                <a:solidFill>
                  <a:srgbClr val="A8351D"/>
                </a:solidFill>
              </a:ln>
            </p:spPr>
          </p:sp>
          <p:sp>
            <p:nvSpPr>
              <p:cNvPr id="157" name="Freeform 157"/>
              <p:cNvSpPr/>
              <p:nvPr/>
            </p:nvSpPr>
            <p:spPr>
              <a:xfrm>
                <a:off x="4381950" y="3650456"/>
                <a:ext cx="24553" cy="128588"/>
              </a:xfrm>
              <a:custGeom>
                <a:avLst/>
                <a:gdLst/>
                <a:ahLst/>
                <a:cxnLst/>
                <a:rect l="l" t="t" r="r" b="b"/>
                <a:pathLst>
                  <a:path w="24553" h="128588">
                    <a:moveTo>
                      <a:pt x="24553" y="0"/>
                    </a:moveTo>
                    <a:cubicBezTo>
                      <a:pt x="0" y="39346"/>
                      <a:pt x="0" y="89241"/>
                      <a:pt x="24553" y="128588"/>
                    </a:cubicBezTo>
                  </a:path>
                </a:pathLst>
              </a:custGeom>
              <a:noFill/>
              <a:ln w="14288">
                <a:solidFill>
                  <a:srgbClr val="A8351D"/>
                </a:solidFill>
              </a:ln>
            </p:spPr>
          </p:sp>
          <p:sp>
            <p:nvSpPr>
              <p:cNvPr id="158" name="Freeform 158"/>
              <p:cNvSpPr/>
              <p:nvPr/>
            </p:nvSpPr>
            <p:spPr>
              <a:xfrm>
                <a:off x="4413647" y="3650456"/>
                <a:ext cx="24553" cy="128588"/>
              </a:xfrm>
              <a:custGeom>
                <a:avLst/>
                <a:gdLst/>
                <a:ahLst/>
                <a:cxnLst/>
                <a:rect l="l" t="t" r="r" b="b"/>
                <a:pathLst>
                  <a:path w="24553" h="128588">
                    <a:moveTo>
                      <a:pt x="0" y="0"/>
                    </a:moveTo>
                    <a:cubicBezTo>
                      <a:pt x="24553" y="39346"/>
                      <a:pt x="24553" y="89241"/>
                      <a:pt x="0" y="128588"/>
                    </a:cubicBezTo>
                  </a:path>
                </a:pathLst>
              </a:custGeom>
              <a:noFill/>
              <a:ln w="14288">
                <a:solidFill>
                  <a:srgbClr val="A8351D"/>
                </a:solidFill>
              </a:ln>
            </p:spPr>
          </p:sp>
        </p:grpSp>
        <p:sp>
          <p:nvSpPr>
            <p:cNvPr id="160" name="TextBox 160"/>
            <p:cNvSpPr txBox="1"/>
            <p:nvPr/>
          </p:nvSpPr>
          <p:spPr>
            <a:xfrm>
              <a:off x="4548188" y="3667839"/>
              <a:ext cx="43492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海外派驻</a:t>
              </a:r>
            </a:p>
          </p:txBody>
        </p:sp>
        <p:sp>
          <p:nvSpPr>
            <p:cNvPr id="161" name="Ellipse 161"/>
            <p:cNvSpPr/>
            <p:nvPr/>
          </p:nvSpPr>
          <p:spPr>
            <a:xfrm>
              <a:off x="5286375" y="3648075"/>
              <a:ext cx="133350" cy="133350"/>
            </a:xfrm>
            <a:prstGeom prst="ellipse">
              <a:avLst/>
            </a:prstGeom>
            <a:solidFill>
              <a:srgbClr val="DE674F"/>
            </a:solidFill>
            <a:ln>
              <a:noFill/>
            </a:ln>
          </p:spPr>
        </p:sp>
        <p:sp>
          <p:nvSpPr>
            <p:cNvPr id="162" name="Ellipse 162"/>
            <p:cNvSpPr/>
            <p:nvPr/>
          </p:nvSpPr>
          <p:spPr>
            <a:xfrm>
              <a:off x="5791200" y="3657600"/>
              <a:ext cx="114300" cy="114300"/>
            </a:xfrm>
            <a:prstGeom prst="ellipse">
              <a:avLst/>
            </a:prstGeom>
            <a:solidFill>
              <a:srgbClr val="F2CCC4"/>
            </a:solidFill>
            <a:ln>
              <a:noFill/>
            </a:ln>
          </p:spPr>
        </p:sp>
        <p:sp>
          <p:nvSpPr>
            <p:cNvPr id="163" name="Ellipse 163"/>
            <p:cNvSpPr/>
            <p:nvPr/>
          </p:nvSpPr>
          <p:spPr>
            <a:xfrm>
              <a:off x="6286500" y="3657600"/>
              <a:ext cx="114300" cy="114300"/>
            </a:xfrm>
            <a:prstGeom prst="ellipse">
              <a:avLst/>
            </a:prstGeom>
            <a:solidFill>
              <a:srgbClr val="F2CCC4"/>
            </a:solidFill>
            <a:ln>
              <a:noFill/>
            </a:ln>
          </p:spPr>
        </p:sp>
        <p:sp>
          <p:nvSpPr>
            <p:cNvPr id="164" name="Ellipse 164"/>
            <p:cNvSpPr/>
            <p:nvPr/>
          </p:nvSpPr>
          <p:spPr>
            <a:xfrm>
              <a:off x="6762750" y="3638550"/>
              <a:ext cx="152400" cy="152400"/>
            </a:xfrm>
            <a:prstGeom prst="ellipse">
              <a:avLst/>
            </a:prstGeom>
            <a:solidFill>
              <a:srgbClr val="67281B"/>
            </a:solidFill>
            <a:ln>
              <a:noFill/>
            </a:ln>
          </p:spPr>
        </p:sp>
        <p:sp>
          <p:nvSpPr>
            <p:cNvPr id="165" name="Ellipse 165"/>
            <p:cNvSpPr/>
            <p:nvPr/>
          </p:nvSpPr>
          <p:spPr>
            <a:xfrm>
              <a:off x="7277100" y="3657600"/>
              <a:ext cx="114300" cy="114300"/>
            </a:xfrm>
            <a:prstGeom prst="ellipse">
              <a:avLst/>
            </a:prstGeom>
            <a:solidFill>
              <a:srgbClr val="F2CCC4"/>
            </a:solidFill>
            <a:ln>
              <a:noFill/>
            </a:ln>
          </p:spPr>
        </p:sp>
        <p:sp>
          <p:nvSpPr>
            <p:cNvPr id="166" name="Ellipse 166"/>
            <p:cNvSpPr/>
            <p:nvPr/>
          </p:nvSpPr>
          <p:spPr>
            <a:xfrm>
              <a:off x="7762875" y="3648075"/>
              <a:ext cx="133350" cy="133350"/>
            </a:xfrm>
            <a:prstGeom prst="ellipse">
              <a:avLst/>
            </a:prstGeom>
            <a:solidFill>
              <a:srgbClr val="DE674F"/>
            </a:solidFill>
            <a:ln>
              <a:noFill/>
            </a:ln>
          </p:spPr>
        </p:sp>
        <p:sp>
          <p:nvSpPr>
            <p:cNvPr id="167" name="Ellipse 167"/>
            <p:cNvSpPr/>
            <p:nvPr/>
          </p:nvSpPr>
          <p:spPr>
            <a:xfrm>
              <a:off x="5276850" y="4019550"/>
              <a:ext cx="114300" cy="114300"/>
            </a:xfrm>
            <a:prstGeom prst="ellipse">
              <a:avLst/>
            </a:prstGeom>
            <a:solidFill>
              <a:srgbClr val="67281B"/>
            </a:solidFill>
            <a:ln>
              <a:noFill/>
            </a:ln>
          </p:spPr>
        </p:sp>
        <p:sp>
          <p:nvSpPr>
            <p:cNvPr id="168" name="TextBox 168"/>
            <p:cNvSpPr txBox="1"/>
            <p:nvPr/>
          </p:nvSpPr>
          <p:spPr>
            <a:xfrm>
              <a:off x="5434012" y="4037886"/>
              <a:ext cx="29626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需求强</a:t>
              </a:r>
            </a:p>
          </p:txBody>
        </p:sp>
        <p:sp>
          <p:nvSpPr>
            <p:cNvPr id="169" name="Ellipse 169"/>
            <p:cNvSpPr/>
            <p:nvPr/>
          </p:nvSpPr>
          <p:spPr>
            <a:xfrm>
              <a:off x="6038850" y="4019550"/>
              <a:ext cx="114300" cy="114300"/>
            </a:xfrm>
            <a:prstGeom prst="ellipse">
              <a:avLst/>
            </a:prstGeom>
            <a:solidFill>
              <a:srgbClr val="DE674F"/>
            </a:solidFill>
            <a:ln>
              <a:noFill/>
            </a:ln>
          </p:spPr>
        </p:sp>
        <p:sp>
          <p:nvSpPr>
            <p:cNvPr id="170" name="TextBox 170"/>
            <p:cNvSpPr txBox="1"/>
            <p:nvPr/>
          </p:nvSpPr>
          <p:spPr>
            <a:xfrm>
              <a:off x="6196012" y="4037886"/>
              <a:ext cx="29626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需求中</a:t>
              </a:r>
            </a:p>
          </p:txBody>
        </p:sp>
        <p:sp>
          <p:nvSpPr>
            <p:cNvPr id="171" name="Ellipse 171"/>
            <p:cNvSpPr/>
            <p:nvPr/>
          </p:nvSpPr>
          <p:spPr>
            <a:xfrm>
              <a:off x="6800850" y="4019550"/>
              <a:ext cx="114300" cy="114300"/>
            </a:xfrm>
            <a:prstGeom prst="ellipse">
              <a:avLst/>
            </a:prstGeom>
            <a:solidFill>
              <a:srgbClr val="F2CCC4"/>
            </a:solidFill>
            <a:ln>
              <a:noFill/>
            </a:ln>
          </p:spPr>
        </p:sp>
        <p:sp>
          <p:nvSpPr>
            <p:cNvPr id="172" name="TextBox 172"/>
            <p:cNvSpPr txBox="1"/>
            <p:nvPr/>
          </p:nvSpPr>
          <p:spPr>
            <a:xfrm>
              <a:off x="6958012" y="4037886"/>
              <a:ext cx="29626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需求弱</a:t>
              </a:r>
            </a:p>
          </p:txBody>
        </p:sp>
      </p:grpSp>
      <p:grpSp>
        <p:nvGrpSpPr>
          <p:cNvPr id="212" name="panel-team"/>
          <p:cNvGrpSpPr/>
          <p:nvPr/>
        </p:nvGrpSpPr>
        <p:grpSpPr>
          <a:xfrm>
            <a:off x="8229600" y="704850"/>
            <a:ext cx="3581400" cy="3486150"/>
            <a:chOff x="8229600" y="704850"/>
            <a:chExt cx="3581400" cy="3486150"/>
          </a:xfrm>
        </p:grpSpPr>
        <p:sp>
          <p:nvSpPr>
            <p:cNvPr id="174" name="Rectangle 174"/>
            <p:cNvSpPr/>
            <p:nvPr/>
          </p:nvSpPr>
          <p:spPr>
            <a:xfrm>
              <a:off x="8229600" y="704850"/>
              <a:ext cx="3581400" cy="3486150"/>
            </a:xfrm>
            <a:prstGeom prst="roundRect">
              <a:avLst>
                <a:gd name="adj" fmla="val 2732"/>
              </a:avLst>
            </a:prstGeom>
            <a:solidFill>
              <a:srgbClr val="F9FBFE"/>
            </a:solidFill>
            <a:ln w="9525">
              <a:solidFill>
                <a:srgbClr val="C9D8EF"/>
              </a:solidFill>
            </a:ln>
          </p:spPr>
        </p:sp>
        <p:sp>
          <p:nvSpPr>
            <p:cNvPr id="175" name="Rectangle 175"/>
            <p:cNvSpPr/>
            <p:nvPr/>
          </p:nvSpPr>
          <p:spPr>
            <a:xfrm>
              <a:off x="8229600" y="704850"/>
              <a:ext cx="3581400" cy="285750"/>
            </a:xfrm>
            <a:prstGeom prst="roundRect">
              <a:avLst>
                <a:gd name="adj" fmla="val 13333"/>
              </a:avLst>
            </a:prstGeom>
            <a:gradFill>
              <a:gsLst>
                <a:gs pos="0">
                  <a:srgbClr val="AD3921"/>
                </a:gs>
                <a:gs pos="100000">
                  <a:srgbClr val="962C16"/>
                </a:gs>
              </a:gsLst>
              <a:lin ang="5400000" scaled="1"/>
            </a:gradFill>
            <a:ln>
              <a:noFill/>
            </a:ln>
          </p:spPr>
        </p:sp>
        <p:sp>
          <p:nvSpPr>
            <p:cNvPr id="176" name="TextBox 176"/>
            <p:cNvSpPr txBox="1"/>
            <p:nvPr/>
          </p:nvSpPr>
          <p:spPr>
            <a:xfrm>
              <a:off x="9449562" y="791528"/>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四方联合服务团队</a:t>
              </a:r>
            </a:p>
          </p:txBody>
        </p:sp>
        <p:sp>
          <p:nvSpPr>
            <p:cNvPr id="177" name="Ellipse 177"/>
            <p:cNvSpPr/>
            <p:nvPr/>
          </p:nvSpPr>
          <p:spPr>
            <a:xfrm>
              <a:off x="8953500" y="1428750"/>
              <a:ext cx="2133600" cy="2133600"/>
            </a:xfrm>
            <a:prstGeom prst="ellipse">
              <a:avLst/>
            </a:prstGeom>
            <a:noFill/>
            <a:ln w="14288">
              <a:solidFill>
                <a:srgbClr val="E5907F"/>
              </a:solidFill>
              <a:custDash>
                <a:ds d="400000" sp="333333"/>
              </a:custDash>
            </a:ln>
          </p:spPr>
        </p:sp>
        <p:sp>
          <p:nvSpPr>
            <p:cNvPr id="178" name="Ellipse 178"/>
            <p:cNvSpPr/>
            <p:nvPr/>
          </p:nvSpPr>
          <p:spPr>
            <a:xfrm>
              <a:off x="9353550" y="1828800"/>
              <a:ext cx="1333500" cy="1333500"/>
            </a:xfrm>
            <a:prstGeom prst="ellipse">
              <a:avLst/>
            </a:prstGeom>
            <a:noFill/>
            <a:ln w="9525">
              <a:solidFill>
                <a:srgbClr val="F2CCC4"/>
              </a:solidFill>
              <a:custDash>
                <a:ds d="300000" sp="400000"/>
              </a:custDash>
            </a:ln>
          </p:spPr>
        </p:sp>
        <p:sp>
          <p:nvSpPr>
            <p:cNvPr id="179" name="Ellipse 179"/>
            <p:cNvSpPr/>
            <p:nvPr/>
          </p:nvSpPr>
          <p:spPr>
            <a:xfrm>
              <a:off x="9620250" y="2095500"/>
              <a:ext cx="800100" cy="800100"/>
            </a:xfrm>
            <a:prstGeom prst="ellipse">
              <a:avLst/>
            </a:prstGeom>
            <a:gradFill>
              <a:gsLst>
                <a:gs pos="0">
                  <a:srgbClr val="E58878"/>
                </a:gs>
                <a:gs pos="100000">
                  <a:srgbClr val="C9462F"/>
                </a:gs>
              </a:gsLst>
              <a:lin ang="5400000" scaled="1"/>
            </a:gradFill>
            <a:ln>
              <a:noFill/>
            </a:ln>
          </p:spPr>
        </p:sp>
        <p:grpSp>
          <p:nvGrpSpPr>
            <p:cNvPr id="186" name="Group 186"/>
            <p:cNvGrpSpPr/>
            <p:nvPr/>
          </p:nvGrpSpPr>
          <p:grpSpPr>
            <a:xfrm>
              <a:off x="9891712" y="2309812"/>
              <a:ext cx="257176" cy="257175"/>
              <a:chOff x="9891712" y="2309812"/>
              <a:chExt cx="257176" cy="257175"/>
            </a:xfrm>
          </p:grpSpPr>
          <p:sp>
            <p:nvSpPr>
              <p:cNvPr id="180" name="Freeform 180"/>
              <p:cNvSpPr/>
              <p:nvPr/>
            </p:nvSpPr>
            <p:spPr>
              <a:xfrm>
                <a:off x="9991725" y="24241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FFFFFF"/>
                </a:solidFill>
              </a:ln>
            </p:spPr>
          </p:sp>
          <p:sp>
            <p:nvSpPr>
              <p:cNvPr id="181" name="Freeform 181"/>
              <p:cNvSpPr/>
              <p:nvPr/>
            </p:nvSpPr>
            <p:spPr>
              <a:xfrm>
                <a:off x="9963150" y="2524125"/>
                <a:ext cx="114300" cy="42862"/>
              </a:xfrm>
              <a:custGeom>
                <a:avLst/>
                <a:gdLst/>
                <a:ahLst/>
                <a:cxnLst/>
                <a:rect l="l" t="t" r="r" b="b"/>
                <a:pathLst>
                  <a:path w="114300" h="42862">
                    <a:moveTo>
                      <a:pt x="0" y="42862"/>
                    </a:moveTo>
                    <a:lnTo>
                      <a:pt x="0" y="28575"/>
                    </a:lnTo>
                    <a:cubicBezTo>
                      <a:pt x="0" y="12793"/>
                      <a:pt x="12793" y="0"/>
                      <a:pt x="28575" y="0"/>
                    </a:cubicBezTo>
                    <a:lnTo>
                      <a:pt x="85725" y="0"/>
                    </a:lnTo>
                    <a:cubicBezTo>
                      <a:pt x="101507" y="0"/>
                      <a:pt x="114300" y="12793"/>
                      <a:pt x="114300" y="28575"/>
                    </a:cubicBezTo>
                    <a:lnTo>
                      <a:pt x="114300" y="42862"/>
                    </a:lnTo>
                  </a:path>
                </a:pathLst>
              </a:custGeom>
              <a:noFill/>
              <a:ln w="28575">
                <a:solidFill>
                  <a:srgbClr val="FFFFFF"/>
                </a:solidFill>
              </a:ln>
            </p:spPr>
          </p:sp>
          <p:sp>
            <p:nvSpPr>
              <p:cNvPr id="182" name="Freeform 182"/>
              <p:cNvSpPr/>
              <p:nvPr/>
            </p:nvSpPr>
            <p:spPr>
              <a:xfrm>
                <a:off x="10063162" y="23098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FFFFFF"/>
                </a:solidFill>
              </a:ln>
            </p:spPr>
          </p:sp>
          <p:sp>
            <p:nvSpPr>
              <p:cNvPr id="183" name="Freeform 183"/>
              <p:cNvSpPr/>
              <p:nvPr/>
            </p:nvSpPr>
            <p:spPr>
              <a:xfrm>
                <a:off x="10091738" y="2409825"/>
                <a:ext cx="57150" cy="42862"/>
              </a:xfrm>
              <a:custGeom>
                <a:avLst/>
                <a:gdLst/>
                <a:ahLst/>
                <a:cxnLst/>
                <a:rect l="l" t="t" r="r" b="b"/>
                <a:pathLst>
                  <a:path w="57150" h="42862">
                    <a:moveTo>
                      <a:pt x="0" y="0"/>
                    </a:moveTo>
                    <a:lnTo>
                      <a:pt x="28575" y="0"/>
                    </a:lnTo>
                    <a:cubicBezTo>
                      <a:pt x="44357" y="0"/>
                      <a:pt x="57150" y="12793"/>
                      <a:pt x="57150" y="28575"/>
                    </a:cubicBezTo>
                    <a:lnTo>
                      <a:pt x="57150" y="42862"/>
                    </a:lnTo>
                  </a:path>
                </a:pathLst>
              </a:custGeom>
              <a:noFill/>
              <a:ln w="28575">
                <a:solidFill>
                  <a:srgbClr val="FFFFFF"/>
                </a:solidFill>
              </a:ln>
            </p:spPr>
          </p:sp>
          <p:sp>
            <p:nvSpPr>
              <p:cNvPr id="184" name="Freeform 184"/>
              <p:cNvSpPr/>
              <p:nvPr/>
            </p:nvSpPr>
            <p:spPr>
              <a:xfrm>
                <a:off x="9920288" y="23098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FFFFFF"/>
                </a:solidFill>
              </a:ln>
            </p:spPr>
          </p:sp>
          <p:sp>
            <p:nvSpPr>
              <p:cNvPr id="185" name="Freeform 185"/>
              <p:cNvSpPr/>
              <p:nvPr/>
            </p:nvSpPr>
            <p:spPr>
              <a:xfrm>
                <a:off x="9891712" y="2409825"/>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28575">
                <a:solidFill>
                  <a:srgbClr val="FFFFFF"/>
                </a:solidFill>
              </a:ln>
            </p:spPr>
          </p:sp>
        </p:grpSp>
        <p:sp>
          <p:nvSpPr>
            <p:cNvPr id="187" name="TextBox 187"/>
            <p:cNvSpPr txBox="1"/>
            <p:nvPr/>
          </p:nvSpPr>
          <p:spPr>
            <a:xfrm>
              <a:off x="9864090" y="2681288"/>
              <a:ext cx="31242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关键人</a:t>
              </a:r>
            </a:p>
          </p:txBody>
        </p:sp>
        <p:sp>
          <p:nvSpPr>
            <p:cNvPr id="188" name="Ellipse 188"/>
            <p:cNvSpPr/>
            <p:nvPr/>
          </p:nvSpPr>
          <p:spPr>
            <a:xfrm>
              <a:off x="9020175" y="1495425"/>
              <a:ext cx="495300" cy="495300"/>
            </a:xfrm>
            <a:prstGeom prst="ellipse">
              <a:avLst/>
            </a:prstGeom>
            <a:solidFill>
              <a:srgbClr val="A5280F"/>
            </a:solidFill>
            <a:ln>
              <a:noFill/>
            </a:ln>
          </p:spPr>
        </p:sp>
        <p:grpSp>
          <p:nvGrpSpPr>
            <p:cNvPr id="191" name="Group 191"/>
            <p:cNvGrpSpPr/>
            <p:nvPr/>
          </p:nvGrpSpPr>
          <p:grpSpPr>
            <a:xfrm>
              <a:off x="9182100" y="1676400"/>
              <a:ext cx="171450" cy="140114"/>
              <a:chOff x="9182100" y="1676400"/>
              <a:chExt cx="171450" cy="140114"/>
            </a:xfrm>
          </p:grpSpPr>
          <p:sp>
            <p:nvSpPr>
              <p:cNvPr id="189" name="Freeform 189"/>
              <p:cNvSpPr/>
              <p:nvPr/>
            </p:nvSpPr>
            <p:spPr>
              <a:xfrm>
                <a:off x="9182100" y="1676400"/>
                <a:ext cx="171450" cy="140114"/>
              </a:xfrm>
              <a:custGeom>
                <a:avLst/>
                <a:gdLst/>
                <a:ahLst/>
                <a:cxnLst/>
                <a:rect l="l" t="t" r="r" b="b"/>
                <a:pathLst>
                  <a:path w="171450" h="140114">
                    <a:moveTo>
                      <a:pt x="28575" y="0"/>
                    </a:moveTo>
                    <a:lnTo>
                      <a:pt x="142875" y="0"/>
                    </a:lnTo>
                    <a:lnTo>
                      <a:pt x="171450" y="47625"/>
                    </a:lnTo>
                    <a:lnTo>
                      <a:pt x="90488" y="138112"/>
                    </a:lnTo>
                    <a:cubicBezTo>
                      <a:pt x="89233" y="139392"/>
                      <a:pt x="87517" y="140114"/>
                      <a:pt x="85725" y="140114"/>
                    </a:cubicBezTo>
                    <a:cubicBezTo>
                      <a:pt x="83933" y="140114"/>
                      <a:pt x="82217" y="139392"/>
                      <a:pt x="80962" y="138112"/>
                    </a:cubicBezTo>
                    <a:lnTo>
                      <a:pt x="0" y="47625"/>
                    </a:lnTo>
                    <a:lnTo>
                      <a:pt x="28575" y="0"/>
                    </a:lnTo>
                  </a:path>
                </a:pathLst>
              </a:custGeom>
              <a:noFill/>
              <a:ln w="19050">
                <a:solidFill>
                  <a:srgbClr val="FFFFFF"/>
                </a:solidFill>
              </a:ln>
            </p:spPr>
          </p:sp>
          <p:sp>
            <p:nvSpPr>
              <p:cNvPr id="190" name="Freeform 190"/>
              <p:cNvSpPr/>
              <p:nvPr/>
            </p:nvSpPr>
            <p:spPr>
              <a:xfrm>
                <a:off x="9229725" y="1712595"/>
                <a:ext cx="19050" cy="30480"/>
              </a:xfrm>
              <a:custGeom>
                <a:avLst/>
                <a:gdLst/>
                <a:ahLst/>
                <a:cxnLst/>
                <a:rect l="l" t="t" r="r" b="b"/>
                <a:pathLst>
                  <a:path w="19050" h="30480">
                    <a:moveTo>
                      <a:pt x="19050" y="30480"/>
                    </a:moveTo>
                    <a:lnTo>
                      <a:pt x="0" y="9525"/>
                    </a:lnTo>
                    <a:lnTo>
                      <a:pt x="5715" y="0"/>
                    </a:lnTo>
                  </a:path>
                </a:pathLst>
              </a:custGeom>
              <a:noFill/>
              <a:ln w="19050">
                <a:solidFill>
                  <a:srgbClr val="FFFFFF"/>
                </a:solidFill>
              </a:ln>
            </p:spPr>
          </p:sp>
        </p:grpSp>
        <p:sp>
          <p:nvSpPr>
            <p:cNvPr id="192" name="TextBox 192"/>
            <p:cNvSpPr txBox="1"/>
            <p:nvPr/>
          </p:nvSpPr>
          <p:spPr>
            <a:xfrm>
              <a:off x="9042286" y="1301591"/>
              <a:ext cx="451079"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私行顾问</a:t>
              </a:r>
            </a:p>
          </p:txBody>
        </p:sp>
        <p:sp>
          <p:nvSpPr>
            <p:cNvPr id="193" name="Ellipse 193"/>
            <p:cNvSpPr/>
            <p:nvPr/>
          </p:nvSpPr>
          <p:spPr>
            <a:xfrm>
              <a:off x="10525125" y="1495425"/>
              <a:ext cx="495300" cy="495300"/>
            </a:xfrm>
            <a:prstGeom prst="ellipse">
              <a:avLst/>
            </a:prstGeom>
            <a:solidFill>
              <a:srgbClr val="A8351D"/>
            </a:solidFill>
            <a:ln>
              <a:noFill/>
            </a:ln>
          </p:spPr>
        </p:sp>
        <p:grpSp>
          <p:nvGrpSpPr>
            <p:cNvPr id="197" name="Group 197"/>
            <p:cNvGrpSpPr/>
            <p:nvPr/>
          </p:nvGrpSpPr>
          <p:grpSpPr>
            <a:xfrm>
              <a:off x="10715625" y="1657350"/>
              <a:ext cx="142875" cy="171450"/>
              <a:chOff x="10715625" y="1657350"/>
              <a:chExt cx="142875" cy="171450"/>
            </a:xfrm>
          </p:grpSpPr>
          <p:sp>
            <p:nvSpPr>
              <p:cNvPr id="194" name="Freeform 194"/>
              <p:cNvSpPr/>
              <p:nvPr/>
            </p:nvSpPr>
            <p:spPr>
              <a:xfrm>
                <a:off x="10734675" y="16573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95" name="Freeform 195"/>
              <p:cNvSpPr/>
              <p:nvPr/>
            </p:nvSpPr>
            <p:spPr>
              <a:xfrm>
                <a:off x="10715625" y="1771650"/>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FFFFFF"/>
                </a:solidFill>
              </a:ln>
            </p:spPr>
          </p:sp>
          <p:sp>
            <p:nvSpPr>
              <p:cNvPr id="196" name="Freeform 196"/>
              <p:cNvSpPr/>
              <p:nvPr/>
            </p:nvSpPr>
            <p:spPr>
              <a:xfrm>
                <a:off x="10801350" y="1790700"/>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198" name="TextBox 198"/>
            <p:cNvSpPr txBox="1"/>
            <p:nvPr/>
          </p:nvSpPr>
          <p:spPr>
            <a:xfrm>
              <a:off x="10436847" y="1301591"/>
              <a:ext cx="671855"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公司客户经理</a:t>
              </a:r>
            </a:p>
          </p:txBody>
        </p:sp>
        <p:sp>
          <p:nvSpPr>
            <p:cNvPr id="199" name="Ellipse 199"/>
            <p:cNvSpPr/>
            <p:nvPr/>
          </p:nvSpPr>
          <p:spPr>
            <a:xfrm>
              <a:off x="9020175" y="3000375"/>
              <a:ext cx="495300" cy="495300"/>
            </a:xfrm>
            <a:prstGeom prst="ellipse">
              <a:avLst/>
            </a:prstGeom>
            <a:solidFill>
              <a:srgbClr val="C9462F"/>
            </a:solidFill>
            <a:ln>
              <a:noFill/>
            </a:ln>
          </p:spPr>
        </p:sp>
        <p:grpSp>
          <p:nvGrpSpPr>
            <p:cNvPr id="205" name="Group 205"/>
            <p:cNvGrpSpPr/>
            <p:nvPr/>
          </p:nvGrpSpPr>
          <p:grpSpPr>
            <a:xfrm>
              <a:off x="9182100" y="3162300"/>
              <a:ext cx="171450" cy="171450"/>
              <a:chOff x="9182100" y="3162300"/>
              <a:chExt cx="171450" cy="171450"/>
            </a:xfrm>
          </p:grpSpPr>
          <p:sp>
            <p:nvSpPr>
              <p:cNvPr id="200" name="Freeform 200"/>
              <p:cNvSpPr/>
              <p:nvPr/>
            </p:nvSpPr>
            <p:spPr>
              <a:xfrm>
                <a:off x="9220200" y="3324225"/>
                <a:ext cx="95250" cy="9525"/>
              </a:xfrm>
              <a:custGeom>
                <a:avLst/>
                <a:gdLst/>
                <a:ahLst/>
                <a:cxnLst/>
                <a:rect l="l" t="t" r="r" b="b"/>
                <a:pathLst>
                  <a:path w="95250" h="9525">
                    <a:moveTo>
                      <a:pt x="0" y="0"/>
                    </a:moveTo>
                    <a:lnTo>
                      <a:pt x="95250" y="0"/>
                    </a:lnTo>
                  </a:path>
                </a:pathLst>
              </a:custGeom>
              <a:noFill/>
              <a:ln w="19050">
                <a:solidFill>
                  <a:srgbClr val="FFFFFF"/>
                </a:solidFill>
              </a:ln>
            </p:spPr>
          </p:sp>
          <p:sp>
            <p:nvSpPr>
              <p:cNvPr id="201" name="Freeform 201"/>
              <p:cNvSpPr/>
              <p:nvPr/>
            </p:nvSpPr>
            <p:spPr>
              <a:xfrm>
                <a:off x="9210675" y="3181350"/>
                <a:ext cx="114300" cy="9525"/>
              </a:xfrm>
              <a:custGeom>
                <a:avLst/>
                <a:gdLst/>
                <a:ahLst/>
                <a:cxnLst/>
                <a:rect l="l" t="t" r="r" b="b"/>
                <a:pathLst>
                  <a:path w="114300" h="9525">
                    <a:moveTo>
                      <a:pt x="0" y="9525"/>
                    </a:moveTo>
                    <a:lnTo>
                      <a:pt x="57150" y="0"/>
                    </a:lnTo>
                    <a:lnTo>
                      <a:pt x="114300" y="9525"/>
                    </a:lnTo>
                  </a:path>
                </a:pathLst>
              </a:custGeom>
              <a:noFill/>
              <a:ln w="19050">
                <a:solidFill>
                  <a:srgbClr val="FFFFFF"/>
                </a:solidFill>
              </a:ln>
            </p:spPr>
          </p:sp>
          <p:sp>
            <p:nvSpPr>
              <p:cNvPr id="202" name="Freeform 202"/>
              <p:cNvSpPr/>
              <p:nvPr/>
            </p:nvSpPr>
            <p:spPr>
              <a:xfrm>
                <a:off x="9267825" y="3162300"/>
                <a:ext cx="9525" cy="161925"/>
              </a:xfrm>
              <a:custGeom>
                <a:avLst/>
                <a:gdLst/>
                <a:ahLst/>
                <a:cxnLst/>
                <a:rect l="l" t="t" r="r" b="b"/>
                <a:pathLst>
                  <a:path w="9525" h="161925">
                    <a:moveTo>
                      <a:pt x="0" y="0"/>
                    </a:moveTo>
                    <a:lnTo>
                      <a:pt x="0" y="161925"/>
                    </a:lnTo>
                  </a:path>
                </a:pathLst>
              </a:custGeom>
              <a:noFill/>
              <a:ln w="19050">
                <a:solidFill>
                  <a:srgbClr val="FFFFFF"/>
                </a:solidFill>
              </a:ln>
            </p:spPr>
          </p:sp>
          <p:sp>
            <p:nvSpPr>
              <p:cNvPr id="203" name="Freeform 203"/>
              <p:cNvSpPr/>
              <p:nvPr/>
            </p:nvSpPr>
            <p:spPr>
              <a:xfrm>
                <a:off x="9182100" y="3190875"/>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FFFFFF"/>
                </a:solidFill>
              </a:ln>
            </p:spPr>
          </p:sp>
          <p:sp>
            <p:nvSpPr>
              <p:cNvPr id="204" name="Freeform 204"/>
              <p:cNvSpPr/>
              <p:nvPr/>
            </p:nvSpPr>
            <p:spPr>
              <a:xfrm>
                <a:off x="9296400" y="3190875"/>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FFFFFF"/>
                </a:solidFill>
              </a:ln>
            </p:spPr>
          </p:sp>
        </p:grpSp>
        <p:sp>
          <p:nvSpPr>
            <p:cNvPr id="206" name="TextBox 206"/>
            <p:cNvSpPr txBox="1"/>
            <p:nvPr/>
          </p:nvSpPr>
          <p:spPr>
            <a:xfrm>
              <a:off x="8931897" y="3606641"/>
              <a:ext cx="671855"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法律税务顾问</a:t>
              </a:r>
            </a:p>
          </p:txBody>
        </p:sp>
        <p:sp>
          <p:nvSpPr>
            <p:cNvPr id="207" name="Ellipse 207"/>
            <p:cNvSpPr/>
            <p:nvPr/>
          </p:nvSpPr>
          <p:spPr>
            <a:xfrm>
              <a:off x="10525125" y="3000375"/>
              <a:ext cx="495300" cy="495300"/>
            </a:xfrm>
            <a:prstGeom prst="ellipse">
              <a:avLst/>
            </a:prstGeom>
            <a:solidFill>
              <a:srgbClr val="D64A2E"/>
            </a:solidFill>
            <a:ln>
              <a:noFill/>
            </a:ln>
          </p:spPr>
        </p:sp>
        <p:grpSp>
          <p:nvGrpSpPr>
            <p:cNvPr id="210" name="Group 210"/>
            <p:cNvGrpSpPr/>
            <p:nvPr/>
          </p:nvGrpSpPr>
          <p:grpSpPr>
            <a:xfrm>
              <a:off x="10696575" y="3190875"/>
              <a:ext cx="152400" cy="133350"/>
              <a:chOff x="10696575" y="3190875"/>
              <a:chExt cx="152400" cy="133350"/>
            </a:xfrm>
          </p:grpSpPr>
          <p:sp>
            <p:nvSpPr>
              <p:cNvPr id="208" name="Freeform 208"/>
              <p:cNvSpPr/>
              <p:nvPr/>
            </p:nvSpPr>
            <p:spPr>
              <a:xfrm>
                <a:off x="10696575" y="331470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09" name="Freeform 209"/>
              <p:cNvSpPr/>
              <p:nvPr/>
            </p:nvSpPr>
            <p:spPr>
              <a:xfrm>
                <a:off x="10696575" y="3190875"/>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FFFF"/>
                </a:solidFill>
              </a:ln>
            </p:spPr>
          </p:sp>
        </p:grpSp>
        <p:sp>
          <p:nvSpPr>
            <p:cNvPr id="211" name="TextBox 211"/>
            <p:cNvSpPr txBox="1"/>
            <p:nvPr/>
          </p:nvSpPr>
          <p:spPr>
            <a:xfrm>
              <a:off x="10547236" y="3606641"/>
              <a:ext cx="451079"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投行专家</a:t>
              </a:r>
            </a:p>
          </p:txBody>
        </p:sp>
      </p:grpSp>
      <p:grpSp>
        <p:nvGrpSpPr>
          <p:cNvPr id="239" name="mechanism"/>
          <p:cNvGrpSpPr/>
          <p:nvPr/>
        </p:nvGrpSpPr>
        <p:grpSpPr>
          <a:xfrm>
            <a:off x="381000" y="4343400"/>
            <a:ext cx="5334000" cy="2324100"/>
            <a:chOff x="381000" y="4343400"/>
            <a:chExt cx="5334000" cy="2324100"/>
          </a:xfrm>
        </p:grpSpPr>
        <p:sp>
          <p:nvSpPr>
            <p:cNvPr id="213" name="Rectangle 213"/>
            <p:cNvSpPr/>
            <p:nvPr/>
          </p:nvSpPr>
          <p:spPr>
            <a:xfrm>
              <a:off x="381000" y="4343400"/>
              <a:ext cx="5334000" cy="2324100"/>
            </a:xfrm>
            <a:prstGeom prst="roundRect">
              <a:avLst>
                <a:gd name="adj" fmla="val 4098"/>
              </a:avLst>
            </a:prstGeom>
            <a:solidFill>
              <a:srgbClr val="F9FBFE"/>
            </a:solidFill>
            <a:ln w="9525">
              <a:solidFill>
                <a:srgbClr val="C9D8EF"/>
              </a:solidFill>
            </a:ln>
          </p:spPr>
        </p:sp>
        <p:sp>
          <p:nvSpPr>
            <p:cNvPr id="214" name="Rectangle 214"/>
            <p:cNvSpPr/>
            <p:nvPr/>
          </p:nvSpPr>
          <p:spPr>
            <a:xfrm>
              <a:off x="381000" y="4343400"/>
              <a:ext cx="571500" cy="2324100"/>
            </a:xfrm>
            <a:prstGeom prst="roundRect">
              <a:avLst>
                <a:gd name="adj" fmla="val 16667"/>
              </a:avLst>
            </a:prstGeom>
            <a:solidFill>
              <a:srgbClr val="A8351D"/>
            </a:solidFill>
            <a:ln>
              <a:noFill/>
            </a:ln>
          </p:spPr>
        </p:sp>
        <p:sp>
          <p:nvSpPr>
            <p:cNvPr id="215" name="TextBox 215"/>
            <p:cNvSpPr txBox="1"/>
            <p:nvPr/>
          </p:nvSpPr>
          <p:spPr>
            <a:xfrm>
              <a:off x="589915" y="5212556"/>
              <a:ext cx="153670" cy="848678"/>
            </a:xfrm>
            <a:prstGeom prst="rect">
              <a:avLst/>
            </a:prstGeom>
            <a:noFill/>
            <a:ln>
              <a:noFill/>
            </a:ln>
          </p:spPr>
          <p:txBody>
            <a:bodyPr wrap="none" lIns="0" tIns="0" rIns="0" bIns="0" anchor="t" anchorCtr="0">
              <a:spAutoFit/>
            </a:bodyPr>
            <a:lstStyle/>
            <a:p>
              <a:pPr algn="ctr">
                <a:lnSpc>
                  <a:spcPts val="1650"/>
                </a:lnSpc>
              </a:pPr>
              <a:r>
                <a:rPr lang="zh-CN" sz="1120" b="1" dirty="0">
                  <a:solidFill>
                    <a:srgbClr val="FFFFFF"/>
                  </a:solidFill>
                  <a:latin typeface="+mn-lt"/>
                  <a:ea typeface="+mn-ea"/>
                  <a:cs typeface="+mn-cs"/>
                </a:rPr>
                <a:t>经</a:t>
              </a:r>
              <a:br/>
              <a:r>
                <a:rPr lang="zh-CN" sz="1120" b="1" dirty="0">
                  <a:solidFill>
                    <a:srgbClr val="FFFFFF"/>
                  </a:solidFill>
                  <a:latin typeface="+mn-lt"/>
                  <a:ea typeface="+mn-ea"/>
                  <a:cs typeface="+mn-cs"/>
                </a:rPr>
                <a:t>营</a:t>
              </a:r>
              <a:br/>
              <a:r>
                <a:rPr lang="zh-CN" sz="1120" b="1" dirty="0">
                  <a:solidFill>
                    <a:srgbClr val="FFFFFF"/>
                  </a:solidFill>
                  <a:latin typeface="+mn-lt"/>
                  <a:ea typeface="+mn-ea"/>
                  <a:cs typeface="+mn-cs"/>
                </a:rPr>
                <a:t>机</a:t>
              </a:r>
              <a:br/>
              <a:r>
                <a:rPr lang="zh-CN" sz="1120" b="1" dirty="0">
                  <a:solidFill>
                    <a:srgbClr val="FFFFFF"/>
                  </a:solidFill>
                  <a:latin typeface="+mn-lt"/>
                  <a:ea typeface="+mn-ea"/>
                  <a:cs typeface="+mn-cs"/>
                </a:rPr>
                <a:t>制</a:t>
              </a:r>
            </a:p>
          </p:txBody>
        </p:sp>
        <p:sp>
          <p:nvSpPr>
            <p:cNvPr id="216" name="Rectangle 216"/>
            <p:cNvSpPr/>
            <p:nvPr/>
          </p:nvSpPr>
          <p:spPr>
            <a:xfrm>
              <a:off x="1143000" y="4953000"/>
              <a:ext cx="1333500" cy="685800"/>
            </a:xfrm>
            <a:prstGeom prst="roundRect">
              <a:avLst>
                <a:gd name="adj" fmla="val 11111"/>
              </a:avLst>
            </a:prstGeom>
            <a:solidFill>
              <a:srgbClr val="FFFFFF"/>
            </a:solidFill>
            <a:ln w="9525">
              <a:solidFill>
                <a:srgbClr val="C9D8EF"/>
              </a:solidFill>
            </a:ln>
          </p:spPr>
        </p:sp>
        <p:grpSp>
          <p:nvGrpSpPr>
            <p:cNvPr id="220" name="Group 220"/>
            <p:cNvGrpSpPr/>
            <p:nvPr/>
          </p:nvGrpSpPr>
          <p:grpSpPr>
            <a:xfrm>
              <a:off x="1319212" y="5167312"/>
              <a:ext cx="257175" cy="257175"/>
              <a:chOff x="1319212" y="5167312"/>
              <a:chExt cx="257175" cy="257175"/>
            </a:xfrm>
          </p:grpSpPr>
          <p:sp>
            <p:nvSpPr>
              <p:cNvPr id="217" name="Freeform 217"/>
              <p:cNvSpPr/>
              <p:nvPr/>
            </p:nvSpPr>
            <p:spPr>
              <a:xfrm>
                <a:off x="1433512" y="52816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A8351D"/>
                </a:solidFill>
              </a:ln>
            </p:spPr>
          </p:sp>
          <p:sp>
            <p:nvSpPr>
              <p:cNvPr id="218" name="Freeform 218"/>
              <p:cNvSpPr/>
              <p:nvPr/>
            </p:nvSpPr>
            <p:spPr>
              <a:xfrm>
                <a:off x="1376362" y="5224462"/>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8575">
                <a:solidFill>
                  <a:srgbClr val="A8351D"/>
                </a:solidFill>
              </a:ln>
            </p:spPr>
          </p:sp>
          <p:sp>
            <p:nvSpPr>
              <p:cNvPr id="219" name="Freeform 219"/>
              <p:cNvSpPr/>
              <p:nvPr/>
            </p:nvSpPr>
            <p:spPr>
              <a:xfrm>
                <a:off x="1319212" y="516731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8575">
                <a:solidFill>
                  <a:srgbClr val="A8351D"/>
                </a:solidFill>
              </a:ln>
            </p:spPr>
          </p:sp>
        </p:grpSp>
        <p:sp>
          <p:nvSpPr>
            <p:cNvPr id="221" name="TextBox 221"/>
            <p:cNvSpPr txBox="1"/>
            <p:nvPr/>
          </p:nvSpPr>
          <p:spPr>
            <a:xfrm>
              <a:off x="1708785" y="5231606"/>
              <a:ext cx="614528" cy="220028"/>
            </a:xfrm>
            <a:prstGeom prst="rect">
              <a:avLst/>
            </a:prstGeom>
            <a:noFill/>
            <a:ln>
              <a:noFill/>
            </a:ln>
          </p:spPr>
          <p:txBody>
            <a:bodyPr wrap="none" lIns="0" tIns="0" rIns="0" bIns="0" anchor="t" anchorCtr="0">
              <a:spAutoFit/>
            </a:bodyPr>
            <a:lstStyle/>
            <a:p>
              <a:pPr algn="l"/>
              <a:r>
                <a:rPr lang="zh-CN" sz="1120" b="1" dirty="0">
                  <a:solidFill>
                    <a:srgbClr val="67281B"/>
                  </a:solidFill>
                  <a:latin typeface="+mn-lt"/>
                  <a:ea typeface="+mn-ea"/>
                  <a:cs typeface="+mn-cs"/>
                </a:rPr>
                <a:t>一企一策</a:t>
              </a:r>
            </a:p>
          </p:txBody>
        </p:sp>
        <p:sp>
          <p:nvSpPr>
            <p:cNvPr id="222" name="Rectangle 222"/>
            <p:cNvSpPr/>
            <p:nvPr/>
          </p:nvSpPr>
          <p:spPr>
            <a:xfrm>
              <a:off x="2667000" y="4953000"/>
              <a:ext cx="1333500" cy="685800"/>
            </a:xfrm>
            <a:prstGeom prst="roundRect">
              <a:avLst>
                <a:gd name="adj" fmla="val 11111"/>
              </a:avLst>
            </a:prstGeom>
            <a:solidFill>
              <a:srgbClr val="FFFFFF"/>
            </a:solidFill>
            <a:ln w="9525">
              <a:solidFill>
                <a:srgbClr val="C9D8EF"/>
              </a:solidFill>
            </a:ln>
          </p:spPr>
        </p:sp>
        <p:grpSp>
          <p:nvGrpSpPr>
            <p:cNvPr id="228" name="Group 228"/>
            <p:cNvGrpSpPr/>
            <p:nvPr/>
          </p:nvGrpSpPr>
          <p:grpSpPr>
            <a:xfrm>
              <a:off x="2843212" y="5181600"/>
              <a:ext cx="257175" cy="228600"/>
              <a:chOff x="2843212" y="5181600"/>
              <a:chExt cx="257175" cy="228600"/>
            </a:xfrm>
          </p:grpSpPr>
          <p:sp>
            <p:nvSpPr>
              <p:cNvPr id="223" name="Freeform 223"/>
              <p:cNvSpPr/>
              <p:nvPr/>
            </p:nvSpPr>
            <p:spPr>
              <a:xfrm>
                <a:off x="2843212" y="5181600"/>
                <a:ext cx="257175" cy="228600"/>
              </a:xfrm>
              <a:custGeom>
                <a:avLst/>
                <a:gdLst/>
                <a:ahLst/>
                <a:cxnLst/>
                <a:rect l="l" t="t" r="r" b="b"/>
                <a:pathLst>
                  <a:path w="257175" h="228600">
                    <a:moveTo>
                      <a:pt x="0" y="42862"/>
                    </a:moveTo>
                    <a:cubicBezTo>
                      <a:pt x="0" y="19190"/>
                      <a:pt x="19190" y="0"/>
                      <a:pt x="42862" y="0"/>
                    </a:cubicBezTo>
                    <a:lnTo>
                      <a:pt x="214312" y="0"/>
                    </a:lnTo>
                    <a:cubicBezTo>
                      <a:pt x="237985" y="0"/>
                      <a:pt x="257175" y="19190"/>
                      <a:pt x="257175" y="42862"/>
                    </a:cubicBezTo>
                    <a:lnTo>
                      <a:pt x="257175" y="185738"/>
                    </a:lnTo>
                    <a:cubicBezTo>
                      <a:pt x="257175" y="209410"/>
                      <a:pt x="237985" y="228600"/>
                      <a:pt x="214312" y="228600"/>
                    </a:cubicBezTo>
                    <a:lnTo>
                      <a:pt x="42862" y="228600"/>
                    </a:lnTo>
                    <a:cubicBezTo>
                      <a:pt x="19190" y="228600"/>
                      <a:pt x="0" y="209410"/>
                      <a:pt x="0" y="185738"/>
                    </a:cubicBezTo>
                    <a:lnTo>
                      <a:pt x="0" y="42862"/>
                    </a:lnTo>
                  </a:path>
                </a:pathLst>
              </a:custGeom>
              <a:noFill/>
              <a:ln w="28575">
                <a:solidFill>
                  <a:srgbClr val="A8351D"/>
                </a:solidFill>
              </a:ln>
            </p:spPr>
          </p:sp>
          <p:sp>
            <p:nvSpPr>
              <p:cNvPr id="224" name="Freeform 224"/>
              <p:cNvSpPr/>
              <p:nvPr/>
            </p:nvSpPr>
            <p:spPr>
              <a:xfrm>
                <a:off x="2900362" y="5238750"/>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A8351D"/>
                </a:solidFill>
              </a:ln>
            </p:spPr>
          </p:sp>
          <p:sp>
            <p:nvSpPr>
              <p:cNvPr id="225" name="Freeform 225"/>
              <p:cNvSpPr/>
              <p:nvPr/>
            </p:nvSpPr>
            <p:spPr>
              <a:xfrm>
                <a:off x="3014662" y="5238750"/>
                <a:ext cx="28575" cy="9525"/>
              </a:xfrm>
              <a:custGeom>
                <a:avLst/>
                <a:gdLst/>
                <a:ahLst/>
                <a:cxnLst/>
                <a:rect l="l" t="t" r="r" b="b"/>
                <a:pathLst>
                  <a:path w="28575" h="9525">
                    <a:moveTo>
                      <a:pt x="0" y="0"/>
                    </a:moveTo>
                    <a:lnTo>
                      <a:pt x="28575" y="0"/>
                    </a:lnTo>
                  </a:path>
                </a:pathLst>
              </a:custGeom>
              <a:noFill/>
              <a:ln w="28575">
                <a:solidFill>
                  <a:srgbClr val="A8351D"/>
                </a:solidFill>
              </a:ln>
            </p:spPr>
          </p:sp>
          <p:sp>
            <p:nvSpPr>
              <p:cNvPr id="226" name="Freeform 226"/>
              <p:cNvSpPr/>
              <p:nvPr/>
            </p:nvSpPr>
            <p:spPr>
              <a:xfrm>
                <a:off x="3014662" y="5295900"/>
                <a:ext cx="28575" cy="9525"/>
              </a:xfrm>
              <a:custGeom>
                <a:avLst/>
                <a:gdLst/>
                <a:ahLst/>
                <a:cxnLst/>
                <a:rect l="l" t="t" r="r" b="b"/>
                <a:pathLst>
                  <a:path w="28575" h="9525">
                    <a:moveTo>
                      <a:pt x="0" y="0"/>
                    </a:moveTo>
                    <a:lnTo>
                      <a:pt x="28575" y="0"/>
                    </a:lnTo>
                  </a:path>
                </a:pathLst>
              </a:custGeom>
              <a:noFill/>
              <a:ln w="28575">
                <a:solidFill>
                  <a:srgbClr val="A8351D"/>
                </a:solidFill>
              </a:ln>
            </p:spPr>
          </p:sp>
          <p:sp>
            <p:nvSpPr>
              <p:cNvPr id="227" name="Freeform 227"/>
              <p:cNvSpPr/>
              <p:nvPr/>
            </p:nvSpPr>
            <p:spPr>
              <a:xfrm>
                <a:off x="2900362" y="5353050"/>
                <a:ext cx="142875" cy="9525"/>
              </a:xfrm>
              <a:custGeom>
                <a:avLst/>
                <a:gdLst/>
                <a:ahLst/>
                <a:cxnLst/>
                <a:rect l="l" t="t" r="r" b="b"/>
                <a:pathLst>
                  <a:path w="142875" h="9525">
                    <a:moveTo>
                      <a:pt x="0" y="0"/>
                    </a:moveTo>
                    <a:lnTo>
                      <a:pt x="142875" y="0"/>
                    </a:lnTo>
                  </a:path>
                </a:pathLst>
              </a:custGeom>
              <a:noFill/>
              <a:ln w="28575">
                <a:solidFill>
                  <a:srgbClr val="A8351D"/>
                </a:solidFill>
              </a:ln>
            </p:spPr>
          </p:sp>
        </p:grpSp>
        <p:sp>
          <p:nvSpPr>
            <p:cNvPr id="229" name="TextBox 229"/>
            <p:cNvSpPr txBox="1"/>
            <p:nvPr/>
          </p:nvSpPr>
          <p:spPr>
            <a:xfrm>
              <a:off x="3232785" y="5231606"/>
              <a:ext cx="614528" cy="220028"/>
            </a:xfrm>
            <a:prstGeom prst="rect">
              <a:avLst/>
            </a:prstGeom>
            <a:noFill/>
            <a:ln>
              <a:noFill/>
            </a:ln>
          </p:spPr>
          <p:txBody>
            <a:bodyPr wrap="none" lIns="0" tIns="0" rIns="0" bIns="0" anchor="t" anchorCtr="0">
              <a:spAutoFit/>
            </a:bodyPr>
            <a:lstStyle/>
            <a:p>
              <a:pPr algn="l"/>
              <a:r>
                <a:rPr lang="zh-CN" sz="1120" b="1" dirty="0">
                  <a:solidFill>
                    <a:srgbClr val="67281B"/>
                  </a:solidFill>
                  <a:latin typeface="+mn-lt"/>
                  <a:ea typeface="+mn-ea"/>
                  <a:cs typeface="+mn-cs"/>
                </a:rPr>
                <a:t>一人一档</a:t>
              </a:r>
            </a:p>
          </p:txBody>
        </p:sp>
        <p:sp>
          <p:nvSpPr>
            <p:cNvPr id="230" name="Rectangle 230"/>
            <p:cNvSpPr/>
            <p:nvPr/>
          </p:nvSpPr>
          <p:spPr>
            <a:xfrm>
              <a:off x="4191000" y="4953000"/>
              <a:ext cx="1333500" cy="685800"/>
            </a:xfrm>
            <a:prstGeom prst="roundRect">
              <a:avLst>
                <a:gd name="adj" fmla="val 11111"/>
              </a:avLst>
            </a:prstGeom>
            <a:solidFill>
              <a:srgbClr val="FFFFFF"/>
            </a:solidFill>
            <a:ln w="9525">
              <a:solidFill>
                <a:srgbClr val="C9D8EF"/>
              </a:solidFill>
            </a:ln>
          </p:spPr>
        </p:sp>
        <p:grpSp>
          <p:nvGrpSpPr>
            <p:cNvPr id="237" name="Group 237"/>
            <p:cNvGrpSpPr/>
            <p:nvPr/>
          </p:nvGrpSpPr>
          <p:grpSpPr>
            <a:xfrm>
              <a:off x="4367212" y="5167312"/>
              <a:ext cx="257176" cy="257175"/>
              <a:chOff x="4367212" y="5167312"/>
              <a:chExt cx="257176" cy="257175"/>
            </a:xfrm>
          </p:grpSpPr>
          <p:sp>
            <p:nvSpPr>
              <p:cNvPr id="231" name="Freeform 231"/>
              <p:cNvSpPr/>
              <p:nvPr/>
            </p:nvSpPr>
            <p:spPr>
              <a:xfrm>
                <a:off x="4467225" y="52816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A8351D"/>
                </a:solidFill>
              </a:ln>
            </p:spPr>
          </p:sp>
          <p:sp>
            <p:nvSpPr>
              <p:cNvPr id="232" name="Freeform 232"/>
              <p:cNvSpPr/>
              <p:nvPr/>
            </p:nvSpPr>
            <p:spPr>
              <a:xfrm>
                <a:off x="4438650" y="5381625"/>
                <a:ext cx="114300" cy="42862"/>
              </a:xfrm>
              <a:custGeom>
                <a:avLst/>
                <a:gdLst/>
                <a:ahLst/>
                <a:cxnLst/>
                <a:rect l="l" t="t" r="r" b="b"/>
                <a:pathLst>
                  <a:path w="114300" h="42862">
                    <a:moveTo>
                      <a:pt x="0" y="42862"/>
                    </a:moveTo>
                    <a:lnTo>
                      <a:pt x="0" y="28575"/>
                    </a:lnTo>
                    <a:cubicBezTo>
                      <a:pt x="0" y="12793"/>
                      <a:pt x="12793" y="0"/>
                      <a:pt x="28575" y="0"/>
                    </a:cubicBezTo>
                    <a:lnTo>
                      <a:pt x="85725" y="0"/>
                    </a:lnTo>
                    <a:cubicBezTo>
                      <a:pt x="101507" y="0"/>
                      <a:pt x="114300" y="12793"/>
                      <a:pt x="114300" y="28575"/>
                    </a:cubicBezTo>
                    <a:lnTo>
                      <a:pt x="114300" y="42862"/>
                    </a:lnTo>
                  </a:path>
                </a:pathLst>
              </a:custGeom>
              <a:noFill/>
              <a:ln w="28575">
                <a:solidFill>
                  <a:srgbClr val="A8351D"/>
                </a:solidFill>
              </a:ln>
            </p:spPr>
          </p:sp>
          <p:sp>
            <p:nvSpPr>
              <p:cNvPr id="233" name="Freeform 233"/>
              <p:cNvSpPr/>
              <p:nvPr/>
            </p:nvSpPr>
            <p:spPr>
              <a:xfrm>
                <a:off x="4538662" y="51673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A8351D"/>
                </a:solidFill>
              </a:ln>
            </p:spPr>
          </p:sp>
          <p:sp>
            <p:nvSpPr>
              <p:cNvPr id="234" name="Freeform 234"/>
              <p:cNvSpPr/>
              <p:nvPr/>
            </p:nvSpPr>
            <p:spPr>
              <a:xfrm>
                <a:off x="4567238" y="5267325"/>
                <a:ext cx="57150" cy="42862"/>
              </a:xfrm>
              <a:custGeom>
                <a:avLst/>
                <a:gdLst/>
                <a:ahLst/>
                <a:cxnLst/>
                <a:rect l="l" t="t" r="r" b="b"/>
                <a:pathLst>
                  <a:path w="57150" h="42862">
                    <a:moveTo>
                      <a:pt x="0" y="0"/>
                    </a:moveTo>
                    <a:lnTo>
                      <a:pt x="28575" y="0"/>
                    </a:lnTo>
                    <a:cubicBezTo>
                      <a:pt x="44357" y="0"/>
                      <a:pt x="57150" y="12793"/>
                      <a:pt x="57150" y="28575"/>
                    </a:cubicBezTo>
                    <a:lnTo>
                      <a:pt x="57150" y="42862"/>
                    </a:lnTo>
                  </a:path>
                </a:pathLst>
              </a:custGeom>
              <a:noFill/>
              <a:ln w="28575">
                <a:solidFill>
                  <a:srgbClr val="A8351D"/>
                </a:solidFill>
              </a:ln>
            </p:spPr>
          </p:sp>
          <p:sp>
            <p:nvSpPr>
              <p:cNvPr id="235" name="Freeform 235"/>
              <p:cNvSpPr/>
              <p:nvPr/>
            </p:nvSpPr>
            <p:spPr>
              <a:xfrm>
                <a:off x="4395788" y="516731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A8351D"/>
                </a:solidFill>
              </a:ln>
            </p:spPr>
          </p:sp>
          <p:sp>
            <p:nvSpPr>
              <p:cNvPr id="236" name="Freeform 236"/>
              <p:cNvSpPr/>
              <p:nvPr/>
            </p:nvSpPr>
            <p:spPr>
              <a:xfrm>
                <a:off x="4367212" y="5267325"/>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28575">
                <a:solidFill>
                  <a:srgbClr val="A8351D"/>
                </a:solidFill>
              </a:ln>
            </p:spPr>
          </p:sp>
        </p:grpSp>
        <p:sp>
          <p:nvSpPr>
            <p:cNvPr id="238" name="TextBox 238"/>
            <p:cNvSpPr txBox="1"/>
            <p:nvPr/>
          </p:nvSpPr>
          <p:spPr>
            <a:xfrm>
              <a:off x="4756785" y="5231606"/>
              <a:ext cx="765302" cy="220028"/>
            </a:xfrm>
            <a:prstGeom prst="rect">
              <a:avLst/>
            </a:prstGeom>
            <a:noFill/>
            <a:ln>
              <a:noFill/>
            </a:ln>
          </p:spPr>
          <p:txBody>
            <a:bodyPr wrap="none" lIns="0" tIns="0" rIns="0" bIns="0" anchor="t" anchorCtr="0">
              <a:spAutoFit/>
            </a:bodyPr>
            <a:lstStyle/>
            <a:p>
              <a:pPr algn="l"/>
              <a:r>
                <a:rPr lang="zh-CN" sz="1120" b="1" dirty="0">
                  <a:solidFill>
                    <a:srgbClr val="67281B"/>
                  </a:solidFill>
                  <a:latin typeface="+mn-lt"/>
                  <a:ea typeface="+mn-ea"/>
                  <a:cs typeface="+mn-cs"/>
                </a:rPr>
                <a:t>一户一团队</a:t>
              </a:r>
            </a:p>
          </p:txBody>
        </p:sp>
      </p:grpSp>
      <p:grpSp>
        <p:nvGrpSpPr>
          <p:cNvPr id="258" name="kpi5"/>
          <p:cNvGrpSpPr/>
          <p:nvPr/>
        </p:nvGrpSpPr>
        <p:grpSpPr>
          <a:xfrm>
            <a:off x="5829300" y="4343400"/>
            <a:ext cx="5981700" cy="2324100"/>
            <a:chOff x="5829300" y="4343400"/>
            <a:chExt cx="5981700" cy="2324100"/>
          </a:xfrm>
        </p:grpSpPr>
        <p:sp>
          <p:nvSpPr>
            <p:cNvPr id="240" name="Rectangle 240"/>
            <p:cNvSpPr/>
            <p:nvPr/>
          </p:nvSpPr>
          <p:spPr>
            <a:xfrm>
              <a:off x="5829300" y="4343400"/>
              <a:ext cx="5981700" cy="2324100"/>
            </a:xfrm>
            <a:prstGeom prst="roundRect">
              <a:avLst>
                <a:gd name="adj" fmla="val 4098"/>
              </a:avLst>
            </a:prstGeom>
            <a:solidFill>
              <a:srgbClr val="F9FBFE"/>
            </a:solidFill>
            <a:ln w="9525">
              <a:solidFill>
                <a:srgbClr val="C9D8EF"/>
              </a:solidFill>
            </a:ln>
          </p:spPr>
        </p:sp>
        <p:sp>
          <p:nvSpPr>
            <p:cNvPr id="241" name="Rectangle 241"/>
            <p:cNvSpPr/>
            <p:nvPr/>
          </p:nvSpPr>
          <p:spPr>
            <a:xfrm>
              <a:off x="5829300" y="4343400"/>
              <a:ext cx="762000" cy="2324100"/>
            </a:xfrm>
            <a:prstGeom prst="roundRect">
              <a:avLst>
                <a:gd name="adj" fmla="val 12500"/>
              </a:avLst>
            </a:prstGeom>
            <a:solidFill>
              <a:srgbClr val="A8351D"/>
            </a:solidFill>
            <a:ln>
              <a:noFill/>
            </a:ln>
          </p:spPr>
        </p:sp>
        <p:sp>
          <p:nvSpPr>
            <p:cNvPr id="242" name="TextBox 242"/>
            <p:cNvSpPr txBox="1"/>
            <p:nvPr/>
          </p:nvSpPr>
          <p:spPr>
            <a:xfrm>
              <a:off x="5983495" y="5318760"/>
              <a:ext cx="453611"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5项​​</a:t>
              </a:r>
            </a:p>
          </p:txBody>
        </p:sp>
        <p:sp>
          <p:nvSpPr>
            <p:cNvPr id="243" name="TextBox 243"/>
            <p:cNvSpPr txBox="1"/>
            <p:nvPr/>
          </p:nvSpPr>
          <p:spPr>
            <a:xfrm>
              <a:off x="5980176" y="5566410"/>
              <a:ext cx="460248"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KPI​​</a:t>
              </a:r>
            </a:p>
          </p:txBody>
        </p:sp>
        <p:sp>
          <p:nvSpPr>
            <p:cNvPr id="244" name="TextBox 244"/>
            <p:cNvSpPr txBox="1"/>
            <p:nvPr/>
          </p:nvSpPr>
          <p:spPr>
            <a:xfrm>
              <a:off x="6867868" y="505039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关键人覆盖率</a:t>
              </a:r>
            </a:p>
          </p:txBody>
        </p:sp>
        <p:sp>
          <p:nvSpPr>
            <p:cNvPr id="245" name="TextBox 245"/>
            <p:cNvSpPr txBox="1"/>
            <p:nvPr/>
          </p:nvSpPr>
          <p:spPr>
            <a:xfrm>
              <a:off x="6883225" y="5520690"/>
              <a:ext cx="673450" cy="352044"/>
            </a:xfrm>
            <a:prstGeom prst="rect">
              <a:avLst/>
            </a:prstGeom>
            <a:noFill/>
            <a:ln>
              <a:noFill/>
            </a:ln>
          </p:spPr>
          <p:txBody>
            <a:bodyPr wrap="none" lIns="0" tIns="0" rIns="0" bIns="0" anchor="t" anchorCtr="0">
              <a:spAutoFit/>
            </a:bodyPr>
            <a:lstStyle/>
            <a:p>
              <a:pPr algn="ctr"/>
              <a:r>
                <a:rPr lang="zh-CN" sz="1800" b="1" dirty="0">
                  <a:solidFill>
                    <a:srgbClr val="C9462F"/>
                  </a:solidFill>
                  <a:latin typeface="+mn-lt"/>
                  <a:ea typeface="+mn-ea"/>
                  <a:cs typeface="+mn-cs"/>
                </a:rPr>
                <a:t>85</a:t>
              </a:r>
              <a:r>
                <a:rPr lang="zh-CN" sz="900" b="1" dirty="0">
                  <a:solidFill>
                    <a:srgbClr val="C9462F"/>
                  </a:solidFill>
                  <a:latin typeface="+mn-lt"/>
                  <a:ea typeface="+mn-ea"/>
                  <a:cs typeface="+mn-cs"/>
                </a:rPr>
                <a:t>%</a:t>
              </a:r>
              <a:r>
                <a:rPr lang="zh-CN" sz="1800" b="1" dirty="0">
                  <a:solidFill>
                    <a:srgbClr val="C9462F"/>
                  </a:solidFill>
                  <a:latin typeface="+mn-lt"/>
                  <a:ea typeface="+mn-ea"/>
                  <a:cs typeface="+mn-cs"/>
                </a:rPr>
                <a:t>​​</a:t>
              </a:r>
            </a:p>
          </p:txBody>
        </p:sp>
        <p:sp>
          <p:nvSpPr>
            <p:cNvPr id="246" name="Line 246"/>
            <p:cNvSpPr/>
            <p:nvPr/>
          </p:nvSpPr>
          <p:spPr>
            <a:xfrm>
              <a:off x="7715250" y="4953000"/>
              <a:ext cx="9525" cy="1143000"/>
            </a:xfrm>
            <a:custGeom>
              <a:avLst/>
              <a:gdLst/>
              <a:ahLst/>
              <a:cxnLst/>
              <a:rect l="l" t="t" r="r" b="b"/>
              <a:pathLst>
                <a:path w="9525" h="1143000">
                  <a:moveTo>
                    <a:pt x="0" y="0"/>
                  </a:moveTo>
                  <a:lnTo>
                    <a:pt x="0" y="1143000"/>
                  </a:lnTo>
                </a:path>
              </a:pathLst>
            </a:custGeom>
            <a:noFill/>
            <a:ln w="9525">
              <a:solidFill>
                <a:srgbClr val="D9E4F2"/>
              </a:solidFill>
            </a:ln>
          </p:spPr>
        </p:sp>
        <p:sp>
          <p:nvSpPr>
            <p:cNvPr id="247" name="TextBox 247"/>
            <p:cNvSpPr txBox="1"/>
            <p:nvPr/>
          </p:nvSpPr>
          <p:spPr>
            <a:xfrm>
              <a:off x="7877518" y="505039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高端客户新增</a:t>
              </a:r>
            </a:p>
          </p:txBody>
        </p:sp>
        <p:sp>
          <p:nvSpPr>
            <p:cNvPr id="248" name="TextBox 248"/>
            <p:cNvSpPr txBox="1"/>
            <p:nvPr/>
          </p:nvSpPr>
          <p:spPr>
            <a:xfrm>
              <a:off x="7810033" y="5520690"/>
              <a:ext cx="839133" cy="352044"/>
            </a:xfrm>
            <a:prstGeom prst="rect">
              <a:avLst/>
            </a:prstGeom>
            <a:noFill/>
            <a:ln>
              <a:noFill/>
            </a:ln>
          </p:spPr>
          <p:txBody>
            <a:bodyPr wrap="none" lIns="0" tIns="0" rIns="0" bIns="0" anchor="t" anchorCtr="0">
              <a:spAutoFit/>
            </a:bodyPr>
            <a:lstStyle/>
            <a:p>
              <a:pPr algn="ctr"/>
              <a:r>
                <a:rPr lang="zh-CN" sz="1800" b="1" dirty="0">
                  <a:solidFill>
                    <a:srgbClr val="C9462F"/>
                  </a:solidFill>
                  <a:latin typeface="+mn-lt"/>
                  <a:ea typeface="+mn-ea"/>
                  <a:cs typeface="+mn-cs"/>
                </a:rPr>
                <a:t>260</a:t>
              </a:r>
              <a:r>
                <a:rPr lang="zh-CN" sz="900" b="1" dirty="0">
                  <a:solidFill>
                    <a:srgbClr val="C9462F"/>
                  </a:solidFill>
                  <a:latin typeface="+mn-lt"/>
                  <a:ea typeface="+mn-ea"/>
                  <a:cs typeface="+mn-cs"/>
                </a:rPr>
                <a:t>户</a:t>
              </a:r>
              <a:r>
                <a:rPr lang="zh-CN" sz="1800" b="1" dirty="0">
                  <a:solidFill>
                    <a:srgbClr val="C9462F"/>
                  </a:solidFill>
                  <a:latin typeface="+mn-lt"/>
                  <a:ea typeface="+mn-ea"/>
                  <a:cs typeface="+mn-cs"/>
                </a:rPr>
                <a:t>​​</a:t>
              </a:r>
            </a:p>
          </p:txBody>
        </p:sp>
        <p:sp>
          <p:nvSpPr>
            <p:cNvPr id="249" name="Line 249"/>
            <p:cNvSpPr/>
            <p:nvPr/>
          </p:nvSpPr>
          <p:spPr>
            <a:xfrm>
              <a:off x="8743950" y="4953000"/>
              <a:ext cx="9525" cy="1143000"/>
            </a:xfrm>
            <a:custGeom>
              <a:avLst/>
              <a:gdLst/>
              <a:ahLst/>
              <a:cxnLst/>
              <a:rect l="l" t="t" r="r" b="b"/>
              <a:pathLst>
                <a:path w="9525" h="1143000">
                  <a:moveTo>
                    <a:pt x="0" y="0"/>
                  </a:moveTo>
                  <a:lnTo>
                    <a:pt x="0" y="1143000"/>
                  </a:lnTo>
                </a:path>
              </a:pathLst>
            </a:custGeom>
            <a:noFill/>
            <a:ln w="9525">
              <a:solidFill>
                <a:srgbClr val="D9E4F2"/>
              </a:solidFill>
            </a:ln>
          </p:spPr>
        </p:sp>
        <p:sp>
          <p:nvSpPr>
            <p:cNvPr id="250" name="TextBox 250"/>
            <p:cNvSpPr txBox="1"/>
            <p:nvPr/>
          </p:nvSpPr>
          <p:spPr>
            <a:xfrm>
              <a:off x="8948311" y="5050393"/>
              <a:ext cx="619977"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个人AUM​​</a:t>
              </a:r>
            </a:p>
          </p:txBody>
        </p:sp>
        <p:sp>
          <p:nvSpPr>
            <p:cNvPr id="251" name="TextBox 251"/>
            <p:cNvSpPr txBox="1"/>
            <p:nvPr/>
          </p:nvSpPr>
          <p:spPr>
            <a:xfrm>
              <a:off x="8848123" y="5520690"/>
              <a:ext cx="820354" cy="352044"/>
            </a:xfrm>
            <a:prstGeom prst="rect">
              <a:avLst/>
            </a:prstGeom>
            <a:noFill/>
            <a:ln>
              <a:noFill/>
            </a:ln>
          </p:spPr>
          <p:txBody>
            <a:bodyPr wrap="none" lIns="0" tIns="0" rIns="0" bIns="0" anchor="t" anchorCtr="0">
              <a:spAutoFit/>
            </a:bodyPr>
            <a:lstStyle/>
            <a:p>
              <a:pPr algn="ctr"/>
              <a:r>
                <a:rPr lang="zh-CN" sz="1800" b="1" dirty="0">
                  <a:solidFill>
                    <a:srgbClr val="C9462F"/>
                  </a:solidFill>
                  <a:latin typeface="+mn-lt"/>
                  <a:ea typeface="+mn-ea"/>
                  <a:cs typeface="+mn-cs"/>
                </a:rPr>
                <a:t>36</a:t>
              </a:r>
              <a:r>
                <a:rPr lang="zh-CN" sz="900" b="1" dirty="0">
                  <a:solidFill>
                    <a:srgbClr val="C9462F"/>
                  </a:solidFill>
                  <a:latin typeface="+mn-lt"/>
                  <a:ea typeface="+mn-ea"/>
                  <a:cs typeface="+mn-cs"/>
                </a:rPr>
                <a:t>亿元</a:t>
              </a:r>
              <a:r>
                <a:rPr lang="zh-CN" sz="1800" b="1" dirty="0">
                  <a:solidFill>
                    <a:srgbClr val="C9462F"/>
                  </a:solidFill>
                  <a:latin typeface="+mn-lt"/>
                  <a:ea typeface="+mn-ea"/>
                  <a:cs typeface="+mn-cs"/>
                </a:rPr>
                <a:t>​​</a:t>
              </a:r>
            </a:p>
          </p:txBody>
        </p:sp>
        <p:sp>
          <p:nvSpPr>
            <p:cNvPr id="252" name="Line 252"/>
            <p:cNvSpPr/>
            <p:nvPr/>
          </p:nvSpPr>
          <p:spPr>
            <a:xfrm>
              <a:off x="9772650" y="4953000"/>
              <a:ext cx="9525" cy="1143000"/>
            </a:xfrm>
            <a:custGeom>
              <a:avLst/>
              <a:gdLst/>
              <a:ahLst/>
              <a:cxnLst/>
              <a:rect l="l" t="t" r="r" b="b"/>
              <a:pathLst>
                <a:path w="9525" h="1143000">
                  <a:moveTo>
                    <a:pt x="0" y="0"/>
                  </a:moveTo>
                  <a:lnTo>
                    <a:pt x="0" y="1143000"/>
                  </a:lnTo>
                </a:path>
              </a:pathLst>
            </a:custGeom>
            <a:noFill/>
            <a:ln w="9525">
              <a:solidFill>
                <a:srgbClr val="D9E4F2"/>
              </a:solidFill>
            </a:ln>
          </p:spPr>
        </p:sp>
        <p:sp>
          <p:nvSpPr>
            <p:cNvPr id="253" name="TextBox 253"/>
            <p:cNvSpPr txBox="1"/>
            <p:nvPr/>
          </p:nvSpPr>
          <p:spPr>
            <a:xfrm>
              <a:off x="9992804" y="5050393"/>
              <a:ext cx="588391"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私行转化率</a:t>
              </a:r>
            </a:p>
          </p:txBody>
        </p:sp>
        <p:sp>
          <p:nvSpPr>
            <p:cNvPr id="254" name="TextBox 254"/>
            <p:cNvSpPr txBox="1"/>
            <p:nvPr/>
          </p:nvSpPr>
          <p:spPr>
            <a:xfrm>
              <a:off x="9950275" y="5520690"/>
              <a:ext cx="673450" cy="352044"/>
            </a:xfrm>
            <a:prstGeom prst="rect">
              <a:avLst/>
            </a:prstGeom>
            <a:noFill/>
            <a:ln>
              <a:noFill/>
            </a:ln>
          </p:spPr>
          <p:txBody>
            <a:bodyPr wrap="none" lIns="0" tIns="0" rIns="0" bIns="0" anchor="t" anchorCtr="0">
              <a:spAutoFit/>
            </a:bodyPr>
            <a:lstStyle/>
            <a:p>
              <a:pPr algn="ctr"/>
              <a:r>
                <a:rPr lang="zh-CN" sz="1800" b="1" dirty="0">
                  <a:solidFill>
                    <a:srgbClr val="C9462F"/>
                  </a:solidFill>
                  <a:latin typeface="+mn-lt"/>
                  <a:ea typeface="+mn-ea"/>
                  <a:cs typeface="+mn-cs"/>
                </a:rPr>
                <a:t>42</a:t>
              </a:r>
              <a:r>
                <a:rPr lang="zh-CN" sz="900" b="1" dirty="0">
                  <a:solidFill>
                    <a:srgbClr val="C9462F"/>
                  </a:solidFill>
                  <a:latin typeface="+mn-lt"/>
                  <a:ea typeface="+mn-ea"/>
                  <a:cs typeface="+mn-cs"/>
                </a:rPr>
                <a:t>%</a:t>
              </a:r>
              <a:r>
                <a:rPr lang="zh-CN" sz="1800" b="1" dirty="0">
                  <a:solidFill>
                    <a:srgbClr val="C9462F"/>
                  </a:solidFill>
                  <a:latin typeface="+mn-lt"/>
                  <a:ea typeface="+mn-ea"/>
                  <a:cs typeface="+mn-cs"/>
                </a:rPr>
                <a:t>​​</a:t>
              </a:r>
            </a:p>
          </p:txBody>
        </p:sp>
        <p:sp>
          <p:nvSpPr>
            <p:cNvPr id="255" name="Line 255"/>
            <p:cNvSpPr/>
            <p:nvPr/>
          </p:nvSpPr>
          <p:spPr>
            <a:xfrm>
              <a:off x="10801350" y="4953000"/>
              <a:ext cx="9525" cy="1143000"/>
            </a:xfrm>
            <a:custGeom>
              <a:avLst/>
              <a:gdLst/>
              <a:ahLst/>
              <a:cxnLst/>
              <a:rect l="l" t="t" r="r" b="b"/>
              <a:pathLst>
                <a:path w="9525" h="1143000">
                  <a:moveTo>
                    <a:pt x="0" y="0"/>
                  </a:moveTo>
                  <a:lnTo>
                    <a:pt x="0" y="1143000"/>
                  </a:lnTo>
                </a:path>
              </a:pathLst>
            </a:custGeom>
            <a:noFill/>
            <a:ln w="9525">
              <a:solidFill>
                <a:srgbClr val="D9E4F2"/>
              </a:solidFill>
            </a:ln>
          </p:spPr>
        </p:sp>
        <p:sp>
          <p:nvSpPr>
            <p:cNvPr id="256" name="TextBox 256"/>
            <p:cNvSpPr txBox="1"/>
            <p:nvPr/>
          </p:nvSpPr>
          <p:spPr>
            <a:xfrm>
              <a:off x="11079391" y="5050393"/>
              <a:ext cx="472618"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综合收入</a:t>
              </a:r>
            </a:p>
          </p:txBody>
        </p:sp>
        <p:sp>
          <p:nvSpPr>
            <p:cNvPr id="257" name="TextBox 257"/>
            <p:cNvSpPr txBox="1"/>
            <p:nvPr/>
          </p:nvSpPr>
          <p:spPr>
            <a:xfrm>
              <a:off x="10835554" y="5520690"/>
              <a:ext cx="960291" cy="352044"/>
            </a:xfrm>
            <a:prstGeom prst="rect">
              <a:avLst/>
            </a:prstGeom>
            <a:noFill/>
            <a:ln>
              <a:noFill/>
            </a:ln>
          </p:spPr>
          <p:txBody>
            <a:bodyPr wrap="none" lIns="0" tIns="0" rIns="0" bIns="0" anchor="t" anchorCtr="0">
              <a:spAutoFit/>
            </a:bodyPr>
            <a:lstStyle/>
            <a:p>
              <a:pPr algn="ctr"/>
              <a:r>
                <a:rPr lang="zh-CN" sz="1800" b="1" dirty="0">
                  <a:solidFill>
                    <a:srgbClr val="C9462F"/>
                  </a:solidFill>
                  <a:latin typeface="+mn-lt"/>
                  <a:ea typeface="+mn-ea"/>
                  <a:cs typeface="+mn-cs"/>
                </a:rPr>
                <a:t>1.8</a:t>
              </a:r>
              <a:r>
                <a:rPr lang="zh-CN" sz="900" b="1" dirty="0">
                  <a:solidFill>
                    <a:srgbClr val="C9462F"/>
                  </a:solidFill>
                  <a:latin typeface="+mn-lt"/>
                  <a:ea typeface="+mn-ea"/>
                  <a:cs typeface="+mn-cs"/>
                </a:rPr>
                <a:t>亿元</a:t>
              </a:r>
              <a:r>
                <a:rPr lang="zh-CN" sz="1800" b="1" dirty="0">
                  <a:solidFill>
                    <a:srgbClr val="C9462F"/>
                  </a:solidFill>
                  <a:latin typeface="+mn-lt"/>
                  <a:ea typeface="+mn-ea"/>
                  <a:cs typeface="+mn-cs"/>
                </a:rPr>
                <a:t>​​</a:t>
              </a:r>
            </a:p>
          </p:txBody>
        </p:sp>
      </p:gr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09</a:t>
              </a:r>
            </a:p>
          </p:txBody>
        </p:sp>
        <p:sp>
          <p:nvSpPr>
            <p:cNvPr id="4" name="TextBox 4"/>
            <p:cNvSpPr txBox="1"/>
            <p:nvPr/>
          </p:nvSpPr>
          <p:spPr>
            <a:xfrm>
              <a:off x="904494" y="170498"/>
              <a:ext cx="6121908"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员工经营｜形成普通员工、骨干和高管的分层服务</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45" name="pyramid-panel"/>
          <p:cNvGrpSpPr/>
          <p:nvPr/>
        </p:nvGrpSpPr>
        <p:grpSpPr>
          <a:xfrm>
            <a:off x="381000" y="704850"/>
            <a:ext cx="2857500" cy="3390900"/>
            <a:chOff x="381000" y="704850"/>
            <a:chExt cx="2857500" cy="3390900"/>
          </a:xfrm>
        </p:grpSpPr>
        <p:sp>
          <p:nvSpPr>
            <p:cNvPr id="7" name="Rectangle 7"/>
            <p:cNvSpPr/>
            <p:nvPr/>
          </p:nvSpPr>
          <p:spPr>
            <a:xfrm>
              <a:off x="381000" y="704850"/>
              <a:ext cx="2857500" cy="3390900"/>
            </a:xfrm>
            <a:prstGeom prst="roundRect">
              <a:avLst>
                <a:gd name="adj" fmla="val 3333"/>
              </a:avLst>
            </a:prstGeom>
            <a:solidFill>
              <a:srgbClr val="F9FBFE"/>
            </a:solidFill>
            <a:ln w="9525">
              <a:solidFill>
                <a:srgbClr val="C9D8EF"/>
              </a:solidFill>
            </a:ln>
          </p:spPr>
        </p:sp>
        <p:sp>
          <p:nvSpPr>
            <p:cNvPr id="8" name="Rectangle 8"/>
            <p:cNvSpPr/>
            <p:nvPr/>
          </p:nvSpPr>
          <p:spPr>
            <a:xfrm>
              <a:off x="381000" y="704850"/>
              <a:ext cx="2857500" cy="285750"/>
            </a:xfrm>
            <a:prstGeom prst="roundRect">
              <a:avLst>
                <a:gd name="adj" fmla="val 13333"/>
              </a:avLst>
            </a:prstGeom>
            <a:gradFill>
              <a:gsLst>
                <a:gs pos="0">
                  <a:srgbClr val="AD3921"/>
                </a:gs>
                <a:gs pos="100000">
                  <a:srgbClr val="962C16"/>
                </a:gs>
              </a:gsLst>
              <a:lin ang="5400000" scaled="1"/>
            </a:gradFill>
            <a:ln>
              <a:noFill/>
            </a:ln>
          </p:spPr>
        </p:sp>
        <p:sp>
          <p:nvSpPr>
            <p:cNvPr id="9" name="TextBox 9"/>
            <p:cNvSpPr txBox="1"/>
            <p:nvPr/>
          </p:nvSpPr>
          <p:spPr>
            <a:xfrm>
              <a:off x="1168336" y="791528"/>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三层员工客户金字塔</a:t>
              </a:r>
            </a:p>
          </p:txBody>
        </p:sp>
        <p:sp>
          <p:nvSpPr>
            <p:cNvPr id="10" name="Freeform 10"/>
            <p:cNvSpPr/>
            <p:nvPr/>
          </p:nvSpPr>
          <p:spPr>
            <a:xfrm>
              <a:off x="1504950" y="1123950"/>
              <a:ext cx="609600" cy="552450"/>
            </a:xfrm>
            <a:prstGeom prst="triangle">
              <a:avLst/>
            </a:prstGeom>
            <a:solidFill>
              <a:srgbClr val="67281B"/>
            </a:solidFill>
            <a:ln>
              <a:noFill/>
            </a:ln>
          </p:spPr>
        </p:sp>
        <p:sp>
          <p:nvSpPr>
            <p:cNvPr id="11" name="Freeform 11"/>
            <p:cNvSpPr/>
            <p:nvPr/>
          </p:nvSpPr>
          <p:spPr>
            <a:xfrm>
              <a:off x="1333500" y="1714500"/>
              <a:ext cx="952500" cy="533400"/>
            </a:xfrm>
            <a:prstGeom prst="trapezoid">
              <a:avLst>
                <a:gd name="adj" fmla="val 32000"/>
              </a:avLst>
            </a:prstGeom>
            <a:solidFill>
              <a:srgbClr val="A5280F"/>
            </a:solidFill>
            <a:ln>
              <a:noFill/>
            </a:ln>
          </p:spPr>
        </p:sp>
        <p:sp>
          <p:nvSpPr>
            <p:cNvPr id="12" name="Freeform 12"/>
            <p:cNvSpPr/>
            <p:nvPr/>
          </p:nvSpPr>
          <p:spPr>
            <a:xfrm>
              <a:off x="1143000" y="2286000"/>
              <a:ext cx="1333500" cy="533400"/>
            </a:xfrm>
            <a:prstGeom prst="trapezoid">
              <a:avLst>
                <a:gd name="adj" fmla="val 36000"/>
              </a:avLst>
            </a:prstGeom>
            <a:solidFill>
              <a:srgbClr val="D64A2E"/>
            </a:solidFill>
            <a:ln>
              <a:noFill/>
            </a:ln>
          </p:spPr>
        </p:sp>
        <p:sp>
          <p:nvSpPr>
            <p:cNvPr id="13" name="TextBox 13"/>
            <p:cNvSpPr txBox="1"/>
            <p:nvPr/>
          </p:nvSpPr>
          <p:spPr>
            <a:xfrm>
              <a:off x="1694599" y="14920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高管</a:t>
              </a:r>
            </a:p>
          </p:txBody>
        </p:sp>
        <p:sp>
          <p:nvSpPr>
            <p:cNvPr id="14" name="TextBox 14"/>
            <p:cNvSpPr txBox="1"/>
            <p:nvPr/>
          </p:nvSpPr>
          <p:spPr>
            <a:xfrm>
              <a:off x="1584211" y="19492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骨干员工</a:t>
              </a:r>
            </a:p>
          </p:txBody>
        </p:sp>
        <p:sp>
          <p:nvSpPr>
            <p:cNvPr id="15" name="TextBox 15"/>
            <p:cNvSpPr txBox="1"/>
            <p:nvPr/>
          </p:nvSpPr>
          <p:spPr>
            <a:xfrm>
              <a:off x="1562672" y="25031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普通员工</a:t>
              </a:r>
            </a:p>
          </p:txBody>
        </p:sp>
        <p:sp>
          <p:nvSpPr>
            <p:cNvPr id="16" name="TextBox 16"/>
            <p:cNvSpPr txBox="1"/>
            <p:nvPr/>
          </p:nvSpPr>
          <p:spPr>
            <a:xfrm>
              <a:off x="2205038" y="127563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7281B"/>
                  </a:solidFill>
                  <a:latin typeface="+mn-lt"/>
                  <a:ea typeface="+mn-ea"/>
                  <a:cs typeface="+mn-cs"/>
                </a:rPr>
                <a:t>财富配置、跨境</a:t>
              </a:r>
              <a:br/>
              <a:r>
                <a:rPr lang="zh-CN" sz="710" dirty="0">
                  <a:solidFill>
                    <a:srgbClr val="67281B"/>
                  </a:solidFill>
                  <a:latin typeface="+mn-lt"/>
                  <a:ea typeface="+mn-ea"/>
                  <a:cs typeface="+mn-cs"/>
                </a:rPr>
                <a:t>股权激励、家族服务</a:t>
              </a:r>
            </a:p>
          </p:txBody>
        </p:sp>
        <p:sp>
          <p:nvSpPr>
            <p:cNvPr id="17" name="TextBox 17"/>
            <p:cNvSpPr txBox="1"/>
            <p:nvPr/>
          </p:nvSpPr>
          <p:spPr>
            <a:xfrm>
              <a:off x="2376488" y="1866186"/>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7281B"/>
                  </a:solidFill>
                  <a:latin typeface="+mn-lt"/>
                  <a:ea typeface="+mn-ea"/>
                  <a:cs typeface="+mn-cs"/>
                </a:rPr>
                <a:t>理财基金、养老金</a:t>
              </a:r>
              <a:br/>
              <a:r>
                <a:rPr lang="zh-CN" sz="710" dirty="0">
                  <a:solidFill>
                    <a:srgbClr val="67281B"/>
                  </a:solidFill>
                  <a:latin typeface="+mn-lt"/>
                  <a:ea typeface="+mn-ea"/>
                  <a:cs typeface="+mn-cs"/>
                </a:rPr>
                <a:t>住房教育投资</a:t>
              </a:r>
            </a:p>
          </p:txBody>
        </p:sp>
        <p:sp>
          <p:nvSpPr>
            <p:cNvPr id="18" name="TextBox 18"/>
            <p:cNvSpPr txBox="1"/>
            <p:nvPr/>
          </p:nvSpPr>
          <p:spPr>
            <a:xfrm>
              <a:off x="2566988" y="2380536"/>
              <a:ext cx="460375" cy="388144"/>
            </a:xfrm>
            <a:prstGeom prst="rect">
              <a:avLst/>
            </a:prstGeom>
            <a:noFill/>
            <a:ln>
              <a:noFill/>
            </a:ln>
          </p:spPr>
          <p:txBody>
            <a:bodyPr wrap="none" lIns="0" tIns="0" rIns="0" bIns="0" anchor="t" anchorCtr="0">
              <a:spAutoFit/>
            </a:bodyPr>
            <a:lstStyle/>
            <a:p>
              <a:pPr algn="l">
                <a:lnSpc>
                  <a:spcPts val="975"/>
                </a:lnSpc>
              </a:pPr>
              <a:r>
                <a:rPr lang="zh-CN" sz="710" dirty="0">
                  <a:solidFill>
                    <a:srgbClr val="67281B"/>
                  </a:solidFill>
                  <a:latin typeface="+mn-lt"/>
                  <a:ea typeface="+mn-ea"/>
                  <a:cs typeface="+mn-cs"/>
                </a:rPr>
                <a:t>账户支付</a:t>
              </a:r>
              <a:br/>
              <a:r>
                <a:rPr lang="zh-CN" sz="710" dirty="0">
                  <a:solidFill>
                    <a:srgbClr val="67281B"/>
                  </a:solidFill>
                  <a:latin typeface="+mn-lt"/>
                  <a:ea typeface="+mn-ea"/>
                  <a:cs typeface="+mn-cs"/>
                </a:rPr>
                <a:t>信用卡消费</a:t>
              </a:r>
              <a:br/>
              <a:r>
                <a:rPr lang="zh-CN" sz="710" dirty="0">
                  <a:solidFill>
                    <a:srgbClr val="67281B"/>
                  </a:solidFill>
                  <a:latin typeface="+mn-lt"/>
                  <a:ea typeface="+mn-ea"/>
                  <a:cs typeface="+mn-cs"/>
                </a:rPr>
                <a:t>基础保障</a:t>
              </a:r>
            </a:p>
          </p:txBody>
        </p:sp>
        <p:sp>
          <p:nvSpPr>
            <p:cNvPr id="19" name="Rectangle 19"/>
            <p:cNvSpPr/>
            <p:nvPr/>
          </p:nvSpPr>
          <p:spPr>
            <a:xfrm>
              <a:off x="495300" y="3028950"/>
              <a:ext cx="1314450" cy="304800"/>
            </a:xfrm>
            <a:prstGeom prst="roundRect">
              <a:avLst>
                <a:gd name="adj" fmla="val 18750"/>
              </a:avLst>
            </a:prstGeom>
            <a:solidFill>
              <a:srgbClr val="FFFFFF"/>
            </a:solidFill>
            <a:ln w="9525">
              <a:solidFill>
                <a:srgbClr val="C9D8EF"/>
              </a:solidFill>
            </a:ln>
          </p:spPr>
        </p:sp>
        <p:grpSp>
          <p:nvGrpSpPr>
            <p:cNvPr id="25" name="Group 25"/>
            <p:cNvGrpSpPr/>
            <p:nvPr/>
          </p:nvGrpSpPr>
          <p:grpSpPr>
            <a:xfrm>
              <a:off x="609600" y="3123349"/>
              <a:ext cx="114300" cy="115151"/>
              <a:chOff x="609600" y="3123349"/>
              <a:chExt cx="114300" cy="115151"/>
            </a:xfrm>
          </p:grpSpPr>
          <p:sp>
            <p:nvSpPr>
              <p:cNvPr id="20" name="Freeform 20"/>
              <p:cNvSpPr/>
              <p:nvPr/>
            </p:nvSpPr>
            <p:spPr>
              <a:xfrm>
                <a:off x="647700" y="31750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A8351D"/>
                </a:solidFill>
              </a:ln>
            </p:spPr>
          </p:sp>
          <p:sp>
            <p:nvSpPr>
              <p:cNvPr id="21" name="Freeform 21"/>
              <p:cNvSpPr/>
              <p:nvPr/>
            </p:nvSpPr>
            <p:spPr>
              <a:xfrm>
                <a:off x="647700" y="31940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A8351D"/>
                </a:solidFill>
              </a:ln>
            </p:spPr>
          </p:sp>
          <p:sp>
            <p:nvSpPr>
              <p:cNvPr id="22" name="Freeform 22"/>
              <p:cNvSpPr/>
              <p:nvPr/>
            </p:nvSpPr>
            <p:spPr>
              <a:xfrm>
                <a:off x="609600" y="31233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A8351D"/>
                </a:solidFill>
              </a:ln>
            </p:spPr>
          </p:sp>
          <p:sp>
            <p:nvSpPr>
              <p:cNvPr id="23" name="Freeform 23"/>
              <p:cNvSpPr/>
              <p:nvPr/>
            </p:nvSpPr>
            <p:spPr>
              <a:xfrm>
                <a:off x="609600" y="31432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A8351D"/>
                </a:solidFill>
              </a:ln>
            </p:spPr>
          </p:sp>
          <p:sp>
            <p:nvSpPr>
              <p:cNvPr id="24" name="Freeform 24"/>
              <p:cNvSpPr/>
              <p:nvPr/>
            </p:nvSpPr>
            <p:spPr>
              <a:xfrm>
                <a:off x="609600" y="31750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A8351D"/>
                </a:solidFill>
              </a:ln>
            </p:spPr>
          </p:sp>
        </p:grpSp>
        <p:sp>
          <p:nvSpPr>
            <p:cNvPr id="26" name="TextBox 26"/>
            <p:cNvSpPr txBox="1"/>
            <p:nvPr/>
          </p:nvSpPr>
          <p:spPr>
            <a:xfrm>
              <a:off x="814388" y="3143964"/>
              <a:ext cx="43492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收入水平</a:t>
              </a:r>
            </a:p>
          </p:txBody>
        </p:sp>
        <p:sp>
          <p:nvSpPr>
            <p:cNvPr id="27" name="Rectangle 27"/>
            <p:cNvSpPr/>
            <p:nvPr/>
          </p:nvSpPr>
          <p:spPr>
            <a:xfrm>
              <a:off x="1885950" y="3028950"/>
              <a:ext cx="1314450" cy="304800"/>
            </a:xfrm>
            <a:prstGeom prst="roundRect">
              <a:avLst>
                <a:gd name="adj" fmla="val 18750"/>
              </a:avLst>
            </a:prstGeom>
            <a:solidFill>
              <a:srgbClr val="FFFFFF"/>
            </a:solidFill>
            <a:ln w="9525">
              <a:solidFill>
                <a:srgbClr val="C9D8EF"/>
              </a:solidFill>
            </a:ln>
          </p:spPr>
        </p:sp>
        <p:grpSp>
          <p:nvGrpSpPr>
            <p:cNvPr id="32" name="Group 32"/>
            <p:cNvGrpSpPr/>
            <p:nvPr/>
          </p:nvGrpSpPr>
          <p:grpSpPr>
            <a:xfrm>
              <a:off x="2000250" y="3124200"/>
              <a:ext cx="114300" cy="107950"/>
              <a:chOff x="2000250" y="3124200"/>
              <a:chExt cx="114300" cy="107950"/>
            </a:xfrm>
          </p:grpSpPr>
          <p:sp>
            <p:nvSpPr>
              <p:cNvPr id="28" name="Freeform 28"/>
              <p:cNvSpPr/>
              <p:nvPr/>
            </p:nvSpPr>
            <p:spPr>
              <a:xfrm>
                <a:off x="2000250" y="3149600"/>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A8351D"/>
                </a:solidFill>
              </a:ln>
            </p:spPr>
          </p:sp>
          <p:sp>
            <p:nvSpPr>
              <p:cNvPr id="29" name="Freeform 29"/>
              <p:cNvSpPr/>
              <p:nvPr/>
            </p:nvSpPr>
            <p:spPr>
              <a:xfrm>
                <a:off x="2032000" y="3124200"/>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A8351D"/>
                </a:solidFill>
              </a:ln>
            </p:spPr>
          </p:sp>
          <p:sp>
            <p:nvSpPr>
              <p:cNvPr id="30" name="Freeform 30"/>
              <p:cNvSpPr/>
              <p:nvPr/>
            </p:nvSpPr>
            <p:spPr>
              <a:xfrm>
                <a:off x="2057400" y="3181350"/>
                <a:ext cx="9525" cy="9525"/>
              </a:xfrm>
              <a:custGeom>
                <a:avLst/>
                <a:gdLst/>
                <a:ahLst/>
                <a:cxnLst/>
                <a:rect l="l" t="t" r="r" b="b"/>
                <a:pathLst>
                  <a:path w="9525" h="9525">
                    <a:moveTo>
                      <a:pt x="0" y="0"/>
                    </a:moveTo>
                    <a:lnTo>
                      <a:pt x="0" y="64"/>
                    </a:lnTo>
                  </a:path>
                </a:pathLst>
              </a:custGeom>
              <a:noFill/>
              <a:ln w="12700">
                <a:solidFill>
                  <a:srgbClr val="A8351D"/>
                </a:solidFill>
              </a:ln>
            </p:spPr>
          </p:sp>
          <p:sp>
            <p:nvSpPr>
              <p:cNvPr id="31" name="Freeform 31"/>
              <p:cNvSpPr/>
              <p:nvPr/>
            </p:nvSpPr>
            <p:spPr>
              <a:xfrm>
                <a:off x="2000250" y="3187700"/>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A8351D"/>
                </a:solidFill>
              </a:ln>
            </p:spPr>
          </p:sp>
        </p:grpSp>
        <p:sp>
          <p:nvSpPr>
            <p:cNvPr id="33" name="TextBox 33"/>
            <p:cNvSpPr txBox="1"/>
            <p:nvPr/>
          </p:nvSpPr>
          <p:spPr>
            <a:xfrm>
              <a:off x="2205038" y="3143964"/>
              <a:ext cx="43492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职业阶段</a:t>
              </a:r>
            </a:p>
          </p:txBody>
        </p:sp>
        <p:sp>
          <p:nvSpPr>
            <p:cNvPr id="34" name="Rectangle 34"/>
            <p:cNvSpPr/>
            <p:nvPr/>
          </p:nvSpPr>
          <p:spPr>
            <a:xfrm>
              <a:off x="495300" y="3429000"/>
              <a:ext cx="1314450" cy="304800"/>
            </a:xfrm>
            <a:prstGeom prst="roundRect">
              <a:avLst>
                <a:gd name="adj" fmla="val 18750"/>
              </a:avLst>
            </a:prstGeom>
            <a:solidFill>
              <a:srgbClr val="FFFFFF"/>
            </a:solidFill>
            <a:ln w="9525">
              <a:solidFill>
                <a:srgbClr val="C9D8EF"/>
              </a:solidFill>
            </a:ln>
          </p:spPr>
        </p:sp>
        <p:grpSp>
          <p:nvGrpSpPr>
            <p:cNvPr id="38" name="Group 38"/>
            <p:cNvGrpSpPr/>
            <p:nvPr/>
          </p:nvGrpSpPr>
          <p:grpSpPr>
            <a:xfrm>
              <a:off x="609600" y="3524250"/>
              <a:ext cx="114300" cy="114300"/>
              <a:chOff x="609600" y="3524250"/>
              <a:chExt cx="114300" cy="114300"/>
            </a:xfrm>
          </p:grpSpPr>
          <p:sp>
            <p:nvSpPr>
              <p:cNvPr id="35" name="Freeform 35"/>
              <p:cNvSpPr/>
              <p:nvPr/>
            </p:nvSpPr>
            <p:spPr>
              <a:xfrm>
                <a:off x="609600" y="3524250"/>
                <a:ext cx="114300" cy="57150"/>
              </a:xfrm>
              <a:custGeom>
                <a:avLst/>
                <a:gdLst/>
                <a:ahLst/>
                <a:cxnLst/>
                <a:rect l="l" t="t" r="r" b="b"/>
                <a:pathLst>
                  <a:path w="114300" h="57150">
                    <a:moveTo>
                      <a:pt x="12700" y="57150"/>
                    </a:moveTo>
                    <a:lnTo>
                      <a:pt x="0" y="57150"/>
                    </a:lnTo>
                    <a:lnTo>
                      <a:pt x="57150" y="0"/>
                    </a:lnTo>
                    <a:lnTo>
                      <a:pt x="114300" y="57150"/>
                    </a:lnTo>
                    <a:lnTo>
                      <a:pt x="101600" y="57150"/>
                    </a:lnTo>
                  </a:path>
                </a:pathLst>
              </a:custGeom>
              <a:noFill/>
              <a:ln w="12700">
                <a:solidFill>
                  <a:srgbClr val="A8351D"/>
                </a:solidFill>
              </a:ln>
            </p:spPr>
          </p:sp>
          <p:sp>
            <p:nvSpPr>
              <p:cNvPr id="36" name="Freeform 36"/>
              <p:cNvSpPr/>
              <p:nvPr/>
            </p:nvSpPr>
            <p:spPr>
              <a:xfrm>
                <a:off x="622300" y="3581400"/>
                <a:ext cx="88900" cy="57150"/>
              </a:xfrm>
              <a:custGeom>
                <a:avLst/>
                <a:gdLst/>
                <a:ahLst/>
                <a:cxnLst/>
                <a:rect l="l" t="t" r="r" b="b"/>
                <a:pathLst>
                  <a:path w="88900" h="57150">
                    <a:moveTo>
                      <a:pt x="0" y="0"/>
                    </a:moveTo>
                    <a:lnTo>
                      <a:pt x="0" y="44450"/>
                    </a:lnTo>
                    <a:cubicBezTo>
                      <a:pt x="0" y="51464"/>
                      <a:pt x="5686" y="57150"/>
                      <a:pt x="12700" y="57150"/>
                    </a:cubicBezTo>
                    <a:lnTo>
                      <a:pt x="76200" y="57150"/>
                    </a:lnTo>
                    <a:cubicBezTo>
                      <a:pt x="83214" y="57150"/>
                      <a:pt x="88900" y="51464"/>
                      <a:pt x="88900" y="44450"/>
                    </a:cubicBezTo>
                    <a:lnTo>
                      <a:pt x="88900" y="0"/>
                    </a:lnTo>
                  </a:path>
                </a:pathLst>
              </a:custGeom>
              <a:noFill/>
              <a:ln w="12700">
                <a:solidFill>
                  <a:srgbClr val="A8351D"/>
                </a:solidFill>
              </a:ln>
            </p:spPr>
          </p:sp>
          <p:sp>
            <p:nvSpPr>
              <p:cNvPr id="37" name="Freeform 37"/>
              <p:cNvSpPr/>
              <p:nvPr/>
            </p:nvSpPr>
            <p:spPr>
              <a:xfrm>
                <a:off x="647700" y="3587750"/>
                <a:ext cx="38100" cy="50800"/>
              </a:xfrm>
              <a:custGeom>
                <a:avLst/>
                <a:gdLst/>
                <a:ahLst/>
                <a:cxnLst/>
                <a:rect l="l" t="t" r="r" b="b"/>
                <a:pathLst>
                  <a:path w="38100" h="50800">
                    <a:moveTo>
                      <a:pt x="0" y="50800"/>
                    </a:moveTo>
                    <a:lnTo>
                      <a:pt x="0" y="12700"/>
                    </a:lnTo>
                    <a:cubicBezTo>
                      <a:pt x="0" y="5686"/>
                      <a:pt x="5686" y="0"/>
                      <a:pt x="12700" y="0"/>
                    </a:cubicBezTo>
                    <a:lnTo>
                      <a:pt x="25400" y="0"/>
                    </a:lnTo>
                    <a:cubicBezTo>
                      <a:pt x="32414" y="0"/>
                      <a:pt x="38100" y="5686"/>
                      <a:pt x="38100" y="12700"/>
                    </a:cubicBezTo>
                    <a:lnTo>
                      <a:pt x="38100" y="50800"/>
                    </a:lnTo>
                  </a:path>
                </a:pathLst>
              </a:custGeom>
              <a:noFill/>
              <a:ln w="12700">
                <a:solidFill>
                  <a:srgbClr val="A8351D"/>
                </a:solidFill>
              </a:ln>
            </p:spPr>
          </p:sp>
        </p:grpSp>
        <p:sp>
          <p:nvSpPr>
            <p:cNvPr id="39" name="TextBox 39"/>
            <p:cNvSpPr txBox="1"/>
            <p:nvPr/>
          </p:nvSpPr>
          <p:spPr>
            <a:xfrm>
              <a:off x="814388" y="3544014"/>
              <a:ext cx="43492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家庭责任</a:t>
              </a:r>
            </a:p>
          </p:txBody>
        </p:sp>
        <p:sp>
          <p:nvSpPr>
            <p:cNvPr id="40" name="Rectangle 40"/>
            <p:cNvSpPr/>
            <p:nvPr/>
          </p:nvSpPr>
          <p:spPr>
            <a:xfrm>
              <a:off x="1885950" y="3429000"/>
              <a:ext cx="1314450" cy="304800"/>
            </a:xfrm>
            <a:prstGeom prst="roundRect">
              <a:avLst>
                <a:gd name="adj" fmla="val 18750"/>
              </a:avLst>
            </a:prstGeom>
            <a:solidFill>
              <a:srgbClr val="FFFFFF"/>
            </a:solidFill>
            <a:ln w="9525">
              <a:solidFill>
                <a:srgbClr val="C9D8EF"/>
              </a:solidFill>
            </a:ln>
          </p:spPr>
        </p:sp>
        <p:grpSp>
          <p:nvGrpSpPr>
            <p:cNvPr id="43" name="Group 43"/>
            <p:cNvGrpSpPr/>
            <p:nvPr/>
          </p:nvGrpSpPr>
          <p:grpSpPr>
            <a:xfrm>
              <a:off x="1991680" y="3524250"/>
              <a:ext cx="124004" cy="114300"/>
              <a:chOff x="1991680" y="3524250"/>
              <a:chExt cx="124004" cy="114300"/>
            </a:xfrm>
          </p:grpSpPr>
          <p:sp>
            <p:nvSpPr>
              <p:cNvPr id="41" name="Freeform 41"/>
              <p:cNvSpPr/>
              <p:nvPr/>
            </p:nvSpPr>
            <p:spPr>
              <a:xfrm>
                <a:off x="1991680" y="35242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A8351D"/>
                </a:solidFill>
              </a:ln>
            </p:spPr>
          </p:sp>
          <p:sp>
            <p:nvSpPr>
              <p:cNvPr id="42" name="Freeform 42"/>
              <p:cNvSpPr/>
              <p:nvPr/>
            </p:nvSpPr>
            <p:spPr>
              <a:xfrm>
                <a:off x="2076450" y="3613150"/>
                <a:ext cx="38100" cy="25400"/>
              </a:xfrm>
              <a:custGeom>
                <a:avLst/>
                <a:gdLst/>
                <a:ahLst/>
                <a:cxnLst/>
                <a:rect l="l" t="t" r="r" b="b"/>
                <a:pathLst>
                  <a:path w="38100" h="25400">
                    <a:moveTo>
                      <a:pt x="0" y="12700"/>
                    </a:moveTo>
                    <a:lnTo>
                      <a:pt x="12700" y="25400"/>
                    </a:lnTo>
                    <a:lnTo>
                      <a:pt x="38100" y="0"/>
                    </a:lnTo>
                  </a:path>
                </a:pathLst>
              </a:custGeom>
              <a:noFill/>
              <a:ln w="12700">
                <a:solidFill>
                  <a:srgbClr val="A8351D"/>
                </a:solidFill>
              </a:ln>
            </p:spPr>
          </p:sp>
        </p:grpSp>
        <p:sp>
          <p:nvSpPr>
            <p:cNvPr id="44" name="TextBox 44"/>
            <p:cNvSpPr txBox="1"/>
            <p:nvPr/>
          </p:nvSpPr>
          <p:spPr>
            <a:xfrm>
              <a:off x="2205038" y="3544014"/>
              <a:ext cx="64762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风险承受能力</a:t>
              </a:r>
            </a:p>
          </p:txBody>
        </p:sp>
      </p:grpSp>
      <p:grpSp>
        <p:nvGrpSpPr>
          <p:cNvPr id="176" name="journey-panel"/>
          <p:cNvGrpSpPr/>
          <p:nvPr/>
        </p:nvGrpSpPr>
        <p:grpSpPr>
          <a:xfrm>
            <a:off x="3352800" y="704850"/>
            <a:ext cx="5334000" cy="3390900"/>
            <a:chOff x="3352800" y="704850"/>
            <a:chExt cx="5334000" cy="3390900"/>
          </a:xfrm>
        </p:grpSpPr>
        <p:sp>
          <p:nvSpPr>
            <p:cNvPr id="46" name="Rectangle 46"/>
            <p:cNvSpPr/>
            <p:nvPr/>
          </p:nvSpPr>
          <p:spPr>
            <a:xfrm>
              <a:off x="3352800" y="704850"/>
              <a:ext cx="5334000" cy="3390900"/>
            </a:xfrm>
            <a:prstGeom prst="roundRect">
              <a:avLst>
                <a:gd name="adj" fmla="val 2809"/>
              </a:avLst>
            </a:prstGeom>
            <a:solidFill>
              <a:srgbClr val="F9FBFE"/>
            </a:solidFill>
            <a:ln w="9525">
              <a:solidFill>
                <a:srgbClr val="C9D8EF"/>
              </a:solidFill>
            </a:ln>
          </p:spPr>
        </p:sp>
        <p:sp>
          <p:nvSpPr>
            <p:cNvPr id="47" name="Rectangle 47"/>
            <p:cNvSpPr/>
            <p:nvPr/>
          </p:nvSpPr>
          <p:spPr>
            <a:xfrm>
              <a:off x="3352800" y="704850"/>
              <a:ext cx="5334000" cy="285750"/>
            </a:xfrm>
            <a:prstGeom prst="roundRect">
              <a:avLst>
                <a:gd name="adj" fmla="val 13333"/>
              </a:avLst>
            </a:prstGeom>
            <a:gradFill>
              <a:gsLst>
                <a:gs pos="0">
                  <a:srgbClr val="AD3921"/>
                </a:gs>
                <a:gs pos="100000">
                  <a:srgbClr val="962C16"/>
                </a:gs>
              </a:gsLst>
              <a:lin ang="5400000" scaled="1"/>
            </a:gradFill>
            <a:ln>
              <a:noFill/>
            </a:ln>
          </p:spPr>
        </p:sp>
        <p:sp>
          <p:nvSpPr>
            <p:cNvPr id="48" name="TextBox 48"/>
            <p:cNvSpPr txBox="1"/>
            <p:nvPr/>
          </p:nvSpPr>
          <p:spPr>
            <a:xfrm>
              <a:off x="5449062" y="791528"/>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员工生命周期旅程</a:t>
              </a:r>
            </a:p>
          </p:txBody>
        </p:sp>
        <p:sp>
          <p:nvSpPr>
            <p:cNvPr id="49" name="Ellipse 49"/>
            <p:cNvSpPr/>
            <p:nvPr/>
          </p:nvSpPr>
          <p:spPr>
            <a:xfrm>
              <a:off x="3724275" y="1123950"/>
              <a:ext cx="419100" cy="419100"/>
            </a:xfrm>
            <a:prstGeom prst="ellipse">
              <a:avLst/>
            </a:prstGeom>
            <a:solidFill>
              <a:srgbClr val="A8351D"/>
            </a:solidFill>
            <a:ln>
              <a:noFill/>
            </a:ln>
          </p:spPr>
        </p:sp>
        <p:grpSp>
          <p:nvGrpSpPr>
            <p:cNvPr id="55" name="Group 55"/>
            <p:cNvGrpSpPr/>
            <p:nvPr/>
          </p:nvGrpSpPr>
          <p:grpSpPr>
            <a:xfrm>
              <a:off x="3848100" y="1257300"/>
              <a:ext cx="171450" cy="152400"/>
              <a:chOff x="3848100" y="1257300"/>
              <a:chExt cx="171450" cy="152400"/>
            </a:xfrm>
          </p:grpSpPr>
          <p:sp>
            <p:nvSpPr>
              <p:cNvPr id="50" name="Freeform 50"/>
              <p:cNvSpPr/>
              <p:nvPr/>
            </p:nvSpPr>
            <p:spPr>
              <a:xfrm>
                <a:off x="3848100" y="1257300"/>
                <a:ext cx="171450" cy="152400"/>
              </a:xfrm>
              <a:custGeom>
                <a:avLst/>
                <a:gdLst/>
                <a:ahLst/>
                <a:cxnLst/>
                <a:rect l="l" t="t" r="r" b="b"/>
                <a:pathLst>
                  <a:path w="171450" h="152400">
                    <a:moveTo>
                      <a:pt x="0" y="28575"/>
                    </a:moveTo>
                    <a:cubicBezTo>
                      <a:pt x="0" y="12793"/>
                      <a:pt x="12793" y="0"/>
                      <a:pt x="28575" y="0"/>
                    </a:cubicBezTo>
                    <a:lnTo>
                      <a:pt x="142875" y="0"/>
                    </a:lnTo>
                    <a:cubicBezTo>
                      <a:pt x="158657" y="0"/>
                      <a:pt x="171450" y="12793"/>
                      <a:pt x="171450" y="28575"/>
                    </a:cubicBezTo>
                    <a:lnTo>
                      <a:pt x="171450" y="123825"/>
                    </a:lnTo>
                    <a:cubicBezTo>
                      <a:pt x="171450" y="139607"/>
                      <a:pt x="158657" y="152400"/>
                      <a:pt x="142875" y="152400"/>
                    </a:cubicBezTo>
                    <a:lnTo>
                      <a:pt x="28575" y="152400"/>
                    </a:lnTo>
                    <a:cubicBezTo>
                      <a:pt x="12793" y="152400"/>
                      <a:pt x="0" y="139607"/>
                      <a:pt x="0" y="123825"/>
                    </a:cubicBezTo>
                    <a:lnTo>
                      <a:pt x="0" y="28575"/>
                    </a:lnTo>
                  </a:path>
                </a:pathLst>
              </a:custGeom>
              <a:noFill/>
              <a:ln w="19050">
                <a:solidFill>
                  <a:srgbClr val="FFFFFF"/>
                </a:solidFill>
              </a:ln>
            </p:spPr>
          </p:sp>
          <p:sp>
            <p:nvSpPr>
              <p:cNvPr id="51" name="Freeform 51"/>
              <p:cNvSpPr/>
              <p:nvPr/>
            </p:nvSpPr>
            <p:spPr>
              <a:xfrm>
                <a:off x="3886200" y="12954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52" name="Freeform 52"/>
              <p:cNvSpPr/>
              <p:nvPr/>
            </p:nvSpPr>
            <p:spPr>
              <a:xfrm>
                <a:off x="3962400" y="1295400"/>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53" name="Freeform 53"/>
              <p:cNvSpPr/>
              <p:nvPr/>
            </p:nvSpPr>
            <p:spPr>
              <a:xfrm>
                <a:off x="3962400" y="1333500"/>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54" name="Freeform 54"/>
              <p:cNvSpPr/>
              <p:nvPr/>
            </p:nvSpPr>
            <p:spPr>
              <a:xfrm>
                <a:off x="3886200" y="1371600"/>
                <a:ext cx="95250" cy="9525"/>
              </a:xfrm>
              <a:custGeom>
                <a:avLst/>
                <a:gdLst/>
                <a:ahLst/>
                <a:cxnLst/>
                <a:rect l="l" t="t" r="r" b="b"/>
                <a:pathLst>
                  <a:path w="95250" h="9525">
                    <a:moveTo>
                      <a:pt x="0" y="0"/>
                    </a:moveTo>
                    <a:lnTo>
                      <a:pt x="95250" y="0"/>
                    </a:lnTo>
                  </a:path>
                </a:pathLst>
              </a:custGeom>
              <a:noFill/>
              <a:ln w="19050">
                <a:solidFill>
                  <a:srgbClr val="FFFFFF"/>
                </a:solidFill>
              </a:ln>
            </p:spPr>
          </p:sp>
        </p:grpSp>
        <p:sp>
          <p:nvSpPr>
            <p:cNvPr id="56" name="Line 56"/>
            <p:cNvSpPr/>
            <p:nvPr/>
          </p:nvSpPr>
          <p:spPr>
            <a:xfrm>
              <a:off x="4191000" y="1333500"/>
              <a:ext cx="514350" cy="1"/>
            </a:xfrm>
            <a:prstGeom prst="line">
              <a:avLst/>
            </a:prstGeom>
            <a:noFill/>
            <a:ln w="19050">
              <a:solidFill>
                <a:srgbClr val="D64A2E"/>
              </a:solidFill>
              <a:tailEnd type="triangle" w="lg" len="lg"/>
            </a:ln>
          </p:spPr>
        </p:sp>
        <p:sp>
          <p:nvSpPr>
            <p:cNvPr id="57" name="Ellipse 57"/>
            <p:cNvSpPr/>
            <p:nvPr/>
          </p:nvSpPr>
          <p:spPr>
            <a:xfrm>
              <a:off x="4791075" y="1123950"/>
              <a:ext cx="419100" cy="419100"/>
            </a:xfrm>
            <a:prstGeom prst="ellipse">
              <a:avLst/>
            </a:prstGeom>
            <a:solidFill>
              <a:srgbClr val="A8351D"/>
            </a:solidFill>
            <a:ln>
              <a:noFill/>
            </a:ln>
          </p:spPr>
        </p:sp>
        <p:grpSp>
          <p:nvGrpSpPr>
            <p:cNvPr id="61" name="Group 61"/>
            <p:cNvGrpSpPr/>
            <p:nvPr/>
          </p:nvGrpSpPr>
          <p:grpSpPr>
            <a:xfrm>
              <a:off x="4914900" y="1266825"/>
              <a:ext cx="171450" cy="133350"/>
              <a:chOff x="4914900" y="1266825"/>
              <a:chExt cx="171450" cy="133350"/>
            </a:xfrm>
          </p:grpSpPr>
          <p:sp>
            <p:nvSpPr>
              <p:cNvPr id="58" name="Freeform 58"/>
              <p:cNvSpPr/>
              <p:nvPr/>
            </p:nvSpPr>
            <p:spPr>
              <a:xfrm>
                <a:off x="4914900" y="1266825"/>
                <a:ext cx="133350" cy="95250"/>
              </a:xfrm>
              <a:custGeom>
                <a:avLst/>
                <a:gdLst/>
                <a:ahLst/>
                <a:cxnLst/>
                <a:rect l="l" t="t" r="r" b="b"/>
                <a:pathLst>
                  <a:path w="133350" h="95250">
                    <a:moveTo>
                      <a:pt x="38100" y="95250"/>
                    </a:moveTo>
                    <a:lnTo>
                      <a:pt x="9525" y="95250"/>
                    </a:lnTo>
                    <a:cubicBezTo>
                      <a:pt x="4264" y="95250"/>
                      <a:pt x="0" y="90986"/>
                      <a:pt x="0" y="85725"/>
                    </a:cubicBezTo>
                    <a:lnTo>
                      <a:pt x="0" y="9525"/>
                    </a:lnTo>
                    <a:cubicBezTo>
                      <a:pt x="0" y="4264"/>
                      <a:pt x="4264" y="0"/>
                      <a:pt x="9525" y="0"/>
                    </a:cubicBezTo>
                    <a:lnTo>
                      <a:pt x="123825" y="0"/>
                    </a:lnTo>
                    <a:cubicBezTo>
                      <a:pt x="129086" y="0"/>
                      <a:pt x="133350" y="4264"/>
                      <a:pt x="133350" y="9525"/>
                    </a:cubicBezTo>
                    <a:lnTo>
                      <a:pt x="133350" y="38100"/>
                    </a:lnTo>
                  </a:path>
                </a:pathLst>
              </a:custGeom>
              <a:noFill/>
              <a:ln w="19050">
                <a:solidFill>
                  <a:srgbClr val="FFFFFF"/>
                </a:solidFill>
              </a:ln>
            </p:spPr>
          </p:sp>
          <p:sp>
            <p:nvSpPr>
              <p:cNvPr id="59" name="Freeform 59"/>
              <p:cNvSpPr/>
              <p:nvPr/>
            </p:nvSpPr>
            <p:spPr>
              <a:xfrm>
                <a:off x="4953000" y="1304925"/>
                <a:ext cx="133350" cy="95250"/>
              </a:xfrm>
              <a:custGeom>
                <a:avLst/>
                <a:gdLst/>
                <a:ahLst/>
                <a:cxnLst/>
                <a:rect l="l" t="t" r="r" b="b"/>
                <a:pathLst>
                  <a:path w="133350" h="95250">
                    <a:moveTo>
                      <a:pt x="0" y="9525"/>
                    </a:moveTo>
                    <a:cubicBezTo>
                      <a:pt x="0" y="4264"/>
                      <a:pt x="4264" y="0"/>
                      <a:pt x="9525" y="0"/>
                    </a:cubicBezTo>
                    <a:lnTo>
                      <a:pt x="123825" y="0"/>
                    </a:lnTo>
                    <a:cubicBezTo>
                      <a:pt x="129086" y="0"/>
                      <a:pt x="133350" y="4264"/>
                      <a:pt x="133350" y="9525"/>
                    </a:cubicBezTo>
                    <a:lnTo>
                      <a:pt x="133350" y="85725"/>
                    </a:lnTo>
                    <a:cubicBezTo>
                      <a:pt x="133350" y="90986"/>
                      <a:pt x="129086" y="95250"/>
                      <a:pt x="123825" y="95250"/>
                    </a:cubicBezTo>
                    <a:lnTo>
                      <a:pt x="9525" y="95250"/>
                    </a:lnTo>
                    <a:cubicBezTo>
                      <a:pt x="4264" y="95250"/>
                      <a:pt x="0" y="90986"/>
                      <a:pt x="0" y="85725"/>
                    </a:cubicBezTo>
                    <a:lnTo>
                      <a:pt x="0" y="9525"/>
                    </a:lnTo>
                  </a:path>
                </a:pathLst>
              </a:custGeom>
              <a:noFill/>
              <a:ln w="19050">
                <a:solidFill>
                  <a:srgbClr val="FFFFFF"/>
                </a:solidFill>
              </a:ln>
            </p:spPr>
          </p:sp>
          <p:sp>
            <p:nvSpPr>
              <p:cNvPr id="60" name="Freeform 60"/>
              <p:cNvSpPr/>
              <p:nvPr/>
            </p:nvSpPr>
            <p:spPr>
              <a:xfrm>
                <a:off x="5000625" y="13335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grpSp>
        <p:sp>
          <p:nvSpPr>
            <p:cNvPr id="62" name="Line 62"/>
            <p:cNvSpPr/>
            <p:nvPr/>
          </p:nvSpPr>
          <p:spPr>
            <a:xfrm>
              <a:off x="5257800" y="1333500"/>
              <a:ext cx="514350" cy="1"/>
            </a:xfrm>
            <a:prstGeom prst="line">
              <a:avLst/>
            </a:prstGeom>
            <a:noFill/>
            <a:ln w="19050">
              <a:solidFill>
                <a:srgbClr val="D64A2E"/>
              </a:solidFill>
              <a:tailEnd type="triangle" w="lg" len="lg"/>
            </a:ln>
          </p:spPr>
        </p:sp>
        <p:sp>
          <p:nvSpPr>
            <p:cNvPr id="63" name="Ellipse 63"/>
            <p:cNvSpPr/>
            <p:nvPr/>
          </p:nvSpPr>
          <p:spPr>
            <a:xfrm>
              <a:off x="5857875" y="1123950"/>
              <a:ext cx="419100" cy="419100"/>
            </a:xfrm>
            <a:prstGeom prst="ellipse">
              <a:avLst/>
            </a:prstGeom>
            <a:solidFill>
              <a:srgbClr val="A8351D"/>
            </a:solidFill>
            <a:ln>
              <a:noFill/>
            </a:ln>
          </p:spPr>
        </p:sp>
        <p:grpSp>
          <p:nvGrpSpPr>
            <p:cNvPr id="68" name="Group 68"/>
            <p:cNvGrpSpPr/>
            <p:nvPr/>
          </p:nvGrpSpPr>
          <p:grpSpPr>
            <a:xfrm>
              <a:off x="5991225" y="1247775"/>
              <a:ext cx="152400" cy="171450"/>
              <a:chOff x="5991225" y="1247775"/>
              <a:chExt cx="152400" cy="171450"/>
            </a:xfrm>
          </p:grpSpPr>
          <p:sp>
            <p:nvSpPr>
              <p:cNvPr id="64" name="Freeform 64"/>
              <p:cNvSpPr/>
              <p:nvPr/>
            </p:nvSpPr>
            <p:spPr>
              <a:xfrm>
                <a:off x="5991225" y="13811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65" name="Freeform 65"/>
              <p:cNvSpPr/>
              <p:nvPr/>
            </p:nvSpPr>
            <p:spPr>
              <a:xfrm>
                <a:off x="6096000" y="13811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66" name="Freeform 66"/>
              <p:cNvSpPr/>
              <p:nvPr/>
            </p:nvSpPr>
            <p:spPr>
              <a:xfrm>
                <a:off x="5991225" y="1247775"/>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FFFFFF"/>
                </a:solidFill>
              </a:ln>
            </p:spPr>
          </p:sp>
          <p:sp>
            <p:nvSpPr>
              <p:cNvPr id="67" name="Freeform 67"/>
              <p:cNvSpPr/>
              <p:nvPr/>
            </p:nvSpPr>
            <p:spPr>
              <a:xfrm>
                <a:off x="6010275" y="1266825"/>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FFFFFF"/>
                </a:solidFill>
              </a:ln>
            </p:spPr>
          </p:sp>
        </p:grpSp>
        <p:sp>
          <p:nvSpPr>
            <p:cNvPr id="69" name="Line 69"/>
            <p:cNvSpPr/>
            <p:nvPr/>
          </p:nvSpPr>
          <p:spPr>
            <a:xfrm>
              <a:off x="6324600" y="1333500"/>
              <a:ext cx="514350" cy="1"/>
            </a:xfrm>
            <a:prstGeom prst="line">
              <a:avLst/>
            </a:prstGeom>
            <a:noFill/>
            <a:ln w="19050">
              <a:solidFill>
                <a:srgbClr val="D64A2E"/>
              </a:solidFill>
              <a:tailEnd type="triangle" w="lg" len="lg"/>
            </a:ln>
          </p:spPr>
        </p:sp>
        <p:sp>
          <p:nvSpPr>
            <p:cNvPr id="70" name="Ellipse 70"/>
            <p:cNvSpPr/>
            <p:nvPr/>
          </p:nvSpPr>
          <p:spPr>
            <a:xfrm>
              <a:off x="6924675" y="1123950"/>
              <a:ext cx="419100" cy="419100"/>
            </a:xfrm>
            <a:prstGeom prst="ellipse">
              <a:avLst/>
            </a:prstGeom>
            <a:solidFill>
              <a:srgbClr val="A8351D"/>
            </a:solidFill>
            <a:ln>
              <a:noFill/>
            </a:ln>
          </p:spPr>
        </p:sp>
        <p:grpSp>
          <p:nvGrpSpPr>
            <p:cNvPr id="73" name="Group 73"/>
            <p:cNvGrpSpPr/>
            <p:nvPr/>
          </p:nvGrpSpPr>
          <p:grpSpPr>
            <a:xfrm>
              <a:off x="7058025" y="1276350"/>
              <a:ext cx="152400" cy="133350"/>
              <a:chOff x="7058025" y="1276350"/>
              <a:chExt cx="152400" cy="133350"/>
            </a:xfrm>
          </p:grpSpPr>
          <p:sp>
            <p:nvSpPr>
              <p:cNvPr id="71" name="Freeform 71"/>
              <p:cNvSpPr/>
              <p:nvPr/>
            </p:nvSpPr>
            <p:spPr>
              <a:xfrm>
                <a:off x="7058025" y="1400175"/>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72" name="Freeform 72"/>
              <p:cNvSpPr/>
              <p:nvPr/>
            </p:nvSpPr>
            <p:spPr>
              <a:xfrm>
                <a:off x="7058025" y="12763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FFFF"/>
                </a:solidFill>
              </a:ln>
            </p:spPr>
          </p:sp>
        </p:grpSp>
        <p:sp>
          <p:nvSpPr>
            <p:cNvPr id="74" name="Line 74"/>
            <p:cNvSpPr/>
            <p:nvPr/>
          </p:nvSpPr>
          <p:spPr>
            <a:xfrm>
              <a:off x="7391400" y="1333500"/>
              <a:ext cx="514350" cy="1"/>
            </a:xfrm>
            <a:prstGeom prst="line">
              <a:avLst/>
            </a:prstGeom>
            <a:noFill/>
            <a:ln w="19050">
              <a:solidFill>
                <a:srgbClr val="D64A2E"/>
              </a:solidFill>
              <a:tailEnd type="triangle" w="lg" len="lg"/>
            </a:ln>
          </p:spPr>
        </p:sp>
        <p:sp>
          <p:nvSpPr>
            <p:cNvPr id="75" name="Ellipse 75"/>
            <p:cNvSpPr/>
            <p:nvPr/>
          </p:nvSpPr>
          <p:spPr>
            <a:xfrm>
              <a:off x="7991475" y="1123950"/>
              <a:ext cx="419100" cy="419100"/>
            </a:xfrm>
            <a:prstGeom prst="ellipse">
              <a:avLst/>
            </a:prstGeom>
            <a:solidFill>
              <a:srgbClr val="A8351D"/>
            </a:solidFill>
            <a:ln>
              <a:noFill/>
            </a:ln>
          </p:spPr>
        </p:sp>
        <p:grpSp>
          <p:nvGrpSpPr>
            <p:cNvPr id="80" name="Group 80"/>
            <p:cNvGrpSpPr/>
            <p:nvPr/>
          </p:nvGrpSpPr>
          <p:grpSpPr>
            <a:xfrm>
              <a:off x="8112002" y="1254856"/>
              <a:ext cx="177874" cy="154844"/>
              <a:chOff x="8112002" y="1254856"/>
              <a:chExt cx="177874" cy="154844"/>
            </a:xfrm>
          </p:grpSpPr>
          <p:sp>
            <p:nvSpPr>
              <p:cNvPr id="76" name="Freeform 76"/>
              <p:cNvSpPr/>
              <p:nvPr/>
            </p:nvSpPr>
            <p:spPr>
              <a:xfrm>
                <a:off x="8112002" y="1254856"/>
                <a:ext cx="177874" cy="154844"/>
              </a:xfrm>
              <a:custGeom>
                <a:avLst/>
                <a:gdLst/>
                <a:ahLst/>
                <a:cxnLst/>
                <a:rect l="l" t="t" r="r" b="b"/>
                <a:pathLst>
                  <a:path w="177874" h="154844">
                    <a:moveTo>
                      <a:pt x="160461" y="84092"/>
                    </a:moveTo>
                    <a:lnTo>
                      <a:pt x="89023" y="154844"/>
                    </a:lnTo>
                    <a:lnTo>
                      <a:pt x="17586" y="84092"/>
                    </a:lnTo>
                    <a:cubicBezTo>
                      <a:pt x="4739" y="71591"/>
                      <a:pt x="0" y="52936"/>
                      <a:pt x="5322" y="35820"/>
                    </a:cubicBezTo>
                    <a:cubicBezTo>
                      <a:pt x="10644" y="18703"/>
                      <a:pt x="25126" y="6024"/>
                      <a:pt x="42796" y="3012"/>
                    </a:cubicBezTo>
                    <a:cubicBezTo>
                      <a:pt x="60466" y="0"/>
                      <a:pt x="78331" y="7164"/>
                      <a:pt x="89023" y="21551"/>
                    </a:cubicBezTo>
                    <a:cubicBezTo>
                      <a:pt x="99761" y="7271"/>
                      <a:pt x="117587" y="202"/>
                      <a:pt x="135193" y="3242"/>
                    </a:cubicBezTo>
                    <a:cubicBezTo>
                      <a:pt x="152799" y="6282"/>
                      <a:pt x="167222" y="18921"/>
                      <a:pt x="172548" y="35975"/>
                    </a:cubicBezTo>
                    <a:cubicBezTo>
                      <a:pt x="177874" y="53029"/>
                      <a:pt x="173207" y="71629"/>
                      <a:pt x="160461" y="84149"/>
                    </a:cubicBezTo>
                  </a:path>
                </a:pathLst>
              </a:custGeom>
              <a:noFill/>
              <a:ln w="19050">
                <a:solidFill>
                  <a:srgbClr val="FFFFFF"/>
                </a:solidFill>
              </a:ln>
            </p:spPr>
          </p:sp>
          <p:sp>
            <p:nvSpPr>
              <p:cNvPr id="77" name="Freeform 77"/>
              <p:cNvSpPr/>
              <p:nvPr/>
            </p:nvSpPr>
            <p:spPr>
              <a:xfrm>
                <a:off x="8165941" y="1276350"/>
                <a:ext cx="106522" cy="61912"/>
              </a:xfrm>
              <a:custGeom>
                <a:avLst/>
                <a:gdLst/>
                <a:ahLst/>
                <a:cxnLst/>
                <a:rect l="l" t="t" r="r" b="b"/>
                <a:pathLst>
                  <a:path w="106522" h="61912">
                    <a:moveTo>
                      <a:pt x="35084" y="0"/>
                    </a:moveTo>
                    <a:lnTo>
                      <a:pt x="3718" y="31366"/>
                    </a:lnTo>
                    <a:cubicBezTo>
                      <a:pt x="0" y="35085"/>
                      <a:pt x="0" y="41115"/>
                      <a:pt x="3718" y="44834"/>
                    </a:cubicBezTo>
                    <a:lnTo>
                      <a:pt x="8890" y="50006"/>
                    </a:lnTo>
                    <a:cubicBezTo>
                      <a:pt x="15463" y="56578"/>
                      <a:pt x="26131" y="56578"/>
                      <a:pt x="32703" y="50006"/>
                    </a:cubicBezTo>
                    <a:lnTo>
                      <a:pt x="42228" y="40481"/>
                    </a:lnTo>
                    <a:cubicBezTo>
                      <a:pt x="54064" y="28645"/>
                      <a:pt x="73254" y="28645"/>
                      <a:pt x="85090" y="40481"/>
                    </a:cubicBezTo>
                    <a:lnTo>
                      <a:pt x="106522" y="61912"/>
                    </a:lnTo>
                  </a:path>
                </a:pathLst>
              </a:custGeom>
              <a:noFill/>
              <a:ln w="19050">
                <a:solidFill>
                  <a:srgbClr val="FFFFFF"/>
                </a:solidFill>
              </a:ln>
            </p:spPr>
          </p:sp>
          <p:sp>
            <p:nvSpPr>
              <p:cNvPr id="78" name="Freeform 78"/>
              <p:cNvSpPr/>
              <p:nvPr/>
            </p:nvSpPr>
            <p:spPr>
              <a:xfrm>
                <a:off x="8205788" y="1366838"/>
                <a:ext cx="19050" cy="19050"/>
              </a:xfrm>
              <a:custGeom>
                <a:avLst/>
                <a:gdLst/>
                <a:ahLst/>
                <a:cxnLst/>
                <a:rect l="l" t="t" r="r" b="b"/>
                <a:pathLst>
                  <a:path w="19050" h="19050">
                    <a:moveTo>
                      <a:pt x="0" y="0"/>
                    </a:moveTo>
                    <a:lnTo>
                      <a:pt x="19050" y="19050"/>
                    </a:lnTo>
                  </a:path>
                </a:pathLst>
              </a:custGeom>
              <a:noFill/>
              <a:ln w="19050">
                <a:solidFill>
                  <a:srgbClr val="FFFFFF"/>
                </a:solidFill>
              </a:ln>
            </p:spPr>
          </p:sp>
          <p:sp>
            <p:nvSpPr>
              <p:cNvPr id="79" name="Freeform 79"/>
              <p:cNvSpPr/>
              <p:nvPr/>
            </p:nvSpPr>
            <p:spPr>
              <a:xfrm>
                <a:off x="8229600" y="1343025"/>
                <a:ext cx="19050" cy="19050"/>
              </a:xfrm>
              <a:custGeom>
                <a:avLst/>
                <a:gdLst/>
                <a:ahLst/>
                <a:cxnLst/>
                <a:rect l="l" t="t" r="r" b="b"/>
                <a:pathLst>
                  <a:path w="19050" h="19050">
                    <a:moveTo>
                      <a:pt x="0" y="0"/>
                    </a:moveTo>
                    <a:lnTo>
                      <a:pt x="19050" y="19050"/>
                    </a:lnTo>
                  </a:path>
                </a:pathLst>
              </a:custGeom>
              <a:noFill/>
              <a:ln w="19050">
                <a:solidFill>
                  <a:srgbClr val="FFFFFF"/>
                </a:solidFill>
              </a:ln>
            </p:spPr>
          </p:sp>
        </p:grpSp>
        <p:sp>
          <p:nvSpPr>
            <p:cNvPr id="81" name="TextBox 81"/>
            <p:cNvSpPr txBox="1"/>
            <p:nvPr/>
          </p:nvSpPr>
          <p:spPr>
            <a:xfrm>
              <a:off x="3686746" y="16363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入职开卡</a:t>
              </a:r>
            </a:p>
          </p:txBody>
        </p:sp>
        <p:sp>
          <p:nvSpPr>
            <p:cNvPr id="82" name="TextBox 82"/>
            <p:cNvSpPr txBox="1"/>
            <p:nvPr/>
          </p:nvSpPr>
          <p:spPr>
            <a:xfrm>
              <a:off x="3682943" y="1809036"/>
              <a:ext cx="501763"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开卡 · 首登</a:t>
              </a:r>
            </a:p>
          </p:txBody>
        </p:sp>
        <p:sp>
          <p:nvSpPr>
            <p:cNvPr id="83" name="TextBox 83"/>
            <p:cNvSpPr txBox="1"/>
            <p:nvPr/>
          </p:nvSpPr>
          <p:spPr>
            <a:xfrm>
              <a:off x="4753546" y="16363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薪资沉淀</a:t>
              </a:r>
            </a:p>
          </p:txBody>
        </p:sp>
        <p:sp>
          <p:nvSpPr>
            <p:cNvPr id="84" name="TextBox 84"/>
            <p:cNvSpPr txBox="1"/>
            <p:nvPr/>
          </p:nvSpPr>
          <p:spPr>
            <a:xfrm>
              <a:off x="4749743" y="1809036"/>
              <a:ext cx="501763"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代发 · 支付</a:t>
              </a:r>
            </a:p>
          </p:txBody>
        </p:sp>
        <p:sp>
          <p:nvSpPr>
            <p:cNvPr id="85" name="TextBox 85"/>
            <p:cNvSpPr txBox="1"/>
            <p:nvPr/>
          </p:nvSpPr>
          <p:spPr>
            <a:xfrm>
              <a:off x="5820346" y="16363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活跃消费</a:t>
              </a:r>
            </a:p>
          </p:txBody>
        </p:sp>
        <p:sp>
          <p:nvSpPr>
            <p:cNvPr id="86" name="TextBox 86"/>
            <p:cNvSpPr txBox="1"/>
            <p:nvPr/>
          </p:nvSpPr>
          <p:spPr>
            <a:xfrm>
              <a:off x="5720963" y="1809036"/>
              <a:ext cx="692923"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信用卡 · 消费贷</a:t>
              </a:r>
            </a:p>
          </p:txBody>
        </p:sp>
        <p:sp>
          <p:nvSpPr>
            <p:cNvPr id="87" name="TextBox 87"/>
            <p:cNvSpPr txBox="1"/>
            <p:nvPr/>
          </p:nvSpPr>
          <p:spPr>
            <a:xfrm>
              <a:off x="6887146" y="16363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资产积累</a:t>
              </a:r>
            </a:p>
          </p:txBody>
        </p:sp>
        <p:sp>
          <p:nvSpPr>
            <p:cNvPr id="88" name="TextBox 88"/>
            <p:cNvSpPr txBox="1"/>
            <p:nvPr/>
          </p:nvSpPr>
          <p:spPr>
            <a:xfrm>
              <a:off x="6732805" y="1809036"/>
              <a:ext cx="802841"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理财 · 基金 · 保险</a:t>
              </a:r>
            </a:p>
          </p:txBody>
        </p:sp>
        <p:sp>
          <p:nvSpPr>
            <p:cNvPr id="89" name="TextBox 89"/>
            <p:cNvSpPr txBox="1"/>
            <p:nvPr/>
          </p:nvSpPr>
          <p:spPr>
            <a:xfrm>
              <a:off x="7953946" y="16363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养老规划</a:t>
              </a:r>
            </a:p>
          </p:txBody>
        </p:sp>
        <p:sp>
          <p:nvSpPr>
            <p:cNvPr id="90" name="TextBox 90"/>
            <p:cNvSpPr txBox="1"/>
            <p:nvPr/>
          </p:nvSpPr>
          <p:spPr>
            <a:xfrm>
              <a:off x="7806773" y="1809036"/>
              <a:ext cx="788504"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个人养老金 · 传承</a:t>
              </a:r>
            </a:p>
          </p:txBody>
        </p:sp>
        <p:sp>
          <p:nvSpPr>
            <p:cNvPr id="91" name="Rectangle 91"/>
            <p:cNvSpPr/>
            <p:nvPr/>
          </p:nvSpPr>
          <p:spPr>
            <a:xfrm>
              <a:off x="3448050" y="2019300"/>
              <a:ext cx="971550" cy="1905000"/>
            </a:xfrm>
            <a:prstGeom prst="roundRect">
              <a:avLst>
                <a:gd name="adj" fmla="val 5882"/>
              </a:avLst>
            </a:prstGeom>
            <a:solidFill>
              <a:srgbClr val="FFFFFF"/>
            </a:solidFill>
            <a:ln w="9525">
              <a:solidFill>
                <a:srgbClr val="C9D8EF"/>
              </a:solidFill>
            </a:ln>
          </p:spPr>
        </p:sp>
        <p:grpSp>
          <p:nvGrpSpPr>
            <p:cNvPr id="94" name="Group 94"/>
            <p:cNvGrpSpPr/>
            <p:nvPr/>
          </p:nvGrpSpPr>
          <p:grpSpPr>
            <a:xfrm>
              <a:off x="3540919" y="2302669"/>
              <a:ext cx="100012" cy="100012"/>
              <a:chOff x="3540919" y="2302669"/>
              <a:chExt cx="100012" cy="100012"/>
            </a:xfrm>
          </p:grpSpPr>
          <p:sp>
            <p:nvSpPr>
              <p:cNvPr id="92" name="Freeform 92"/>
              <p:cNvSpPr/>
              <p:nvPr/>
            </p:nvSpPr>
            <p:spPr>
              <a:xfrm>
                <a:off x="3540919" y="2302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93" name="Freeform 93"/>
              <p:cNvSpPr/>
              <p:nvPr/>
            </p:nvSpPr>
            <p:spPr>
              <a:xfrm>
                <a:off x="3574256" y="2341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95" name="TextBox 95"/>
            <p:cNvSpPr txBox="1"/>
            <p:nvPr/>
          </p:nvSpPr>
          <p:spPr>
            <a:xfrm>
              <a:off x="3709988" y="2323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开卡激活</a:t>
              </a:r>
            </a:p>
          </p:txBody>
        </p:sp>
        <p:grpSp>
          <p:nvGrpSpPr>
            <p:cNvPr id="98" name="Group 98"/>
            <p:cNvGrpSpPr/>
            <p:nvPr/>
          </p:nvGrpSpPr>
          <p:grpSpPr>
            <a:xfrm>
              <a:off x="3540919" y="2683669"/>
              <a:ext cx="100012" cy="100012"/>
              <a:chOff x="3540919" y="2683669"/>
              <a:chExt cx="100012" cy="100012"/>
            </a:xfrm>
          </p:grpSpPr>
          <p:sp>
            <p:nvSpPr>
              <p:cNvPr id="96" name="Freeform 96"/>
              <p:cNvSpPr/>
              <p:nvPr/>
            </p:nvSpPr>
            <p:spPr>
              <a:xfrm>
                <a:off x="3540919" y="2683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97" name="Freeform 97"/>
              <p:cNvSpPr/>
              <p:nvPr/>
            </p:nvSpPr>
            <p:spPr>
              <a:xfrm>
                <a:off x="3574256" y="2722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99" name="TextBox 99"/>
            <p:cNvSpPr txBox="1"/>
            <p:nvPr/>
          </p:nvSpPr>
          <p:spPr>
            <a:xfrm>
              <a:off x="3709988" y="2704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身份认领</a:t>
              </a:r>
            </a:p>
          </p:txBody>
        </p:sp>
        <p:grpSp>
          <p:nvGrpSpPr>
            <p:cNvPr id="102" name="Group 102"/>
            <p:cNvGrpSpPr/>
            <p:nvPr/>
          </p:nvGrpSpPr>
          <p:grpSpPr>
            <a:xfrm>
              <a:off x="3540919" y="3064669"/>
              <a:ext cx="100012" cy="100012"/>
              <a:chOff x="3540919" y="3064669"/>
              <a:chExt cx="100012" cy="100012"/>
            </a:xfrm>
          </p:grpSpPr>
          <p:sp>
            <p:nvSpPr>
              <p:cNvPr id="100" name="Freeform 100"/>
              <p:cNvSpPr/>
              <p:nvPr/>
            </p:nvSpPr>
            <p:spPr>
              <a:xfrm>
                <a:off x="3540919" y="3064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01" name="Freeform 101"/>
              <p:cNvSpPr/>
              <p:nvPr/>
            </p:nvSpPr>
            <p:spPr>
              <a:xfrm>
                <a:off x="3574256" y="3103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03" name="TextBox 103"/>
            <p:cNvSpPr txBox="1"/>
            <p:nvPr/>
          </p:nvSpPr>
          <p:spPr>
            <a:xfrm>
              <a:off x="3709988" y="3085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新人指引</a:t>
              </a:r>
            </a:p>
          </p:txBody>
        </p:sp>
        <p:grpSp>
          <p:nvGrpSpPr>
            <p:cNvPr id="106" name="Group 106"/>
            <p:cNvGrpSpPr/>
            <p:nvPr/>
          </p:nvGrpSpPr>
          <p:grpSpPr>
            <a:xfrm>
              <a:off x="3540919" y="3445669"/>
              <a:ext cx="100012" cy="100012"/>
              <a:chOff x="3540919" y="3445669"/>
              <a:chExt cx="100012" cy="100012"/>
            </a:xfrm>
          </p:grpSpPr>
          <p:sp>
            <p:nvSpPr>
              <p:cNvPr id="104" name="Freeform 104"/>
              <p:cNvSpPr/>
              <p:nvPr/>
            </p:nvSpPr>
            <p:spPr>
              <a:xfrm>
                <a:off x="3540919" y="3445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05" name="Freeform 105"/>
              <p:cNvSpPr/>
              <p:nvPr/>
            </p:nvSpPr>
            <p:spPr>
              <a:xfrm>
                <a:off x="3574256" y="3484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07" name="TextBox 107"/>
            <p:cNvSpPr txBox="1"/>
            <p:nvPr/>
          </p:nvSpPr>
          <p:spPr>
            <a:xfrm>
              <a:off x="3709988" y="3466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专属权益</a:t>
              </a:r>
            </a:p>
          </p:txBody>
        </p:sp>
        <p:sp>
          <p:nvSpPr>
            <p:cNvPr id="108" name="Rectangle 108"/>
            <p:cNvSpPr/>
            <p:nvPr/>
          </p:nvSpPr>
          <p:spPr>
            <a:xfrm>
              <a:off x="4514850" y="2019300"/>
              <a:ext cx="971550" cy="1905000"/>
            </a:xfrm>
            <a:prstGeom prst="roundRect">
              <a:avLst>
                <a:gd name="adj" fmla="val 5882"/>
              </a:avLst>
            </a:prstGeom>
            <a:solidFill>
              <a:srgbClr val="FFFFFF"/>
            </a:solidFill>
            <a:ln w="9525">
              <a:solidFill>
                <a:srgbClr val="C9D8EF"/>
              </a:solidFill>
            </a:ln>
          </p:spPr>
        </p:sp>
        <p:grpSp>
          <p:nvGrpSpPr>
            <p:cNvPr id="111" name="Group 111"/>
            <p:cNvGrpSpPr/>
            <p:nvPr/>
          </p:nvGrpSpPr>
          <p:grpSpPr>
            <a:xfrm>
              <a:off x="4607719" y="2302669"/>
              <a:ext cx="100012" cy="100012"/>
              <a:chOff x="4607719" y="2302669"/>
              <a:chExt cx="100012" cy="100012"/>
            </a:xfrm>
          </p:grpSpPr>
          <p:sp>
            <p:nvSpPr>
              <p:cNvPr id="109" name="Freeform 109"/>
              <p:cNvSpPr/>
              <p:nvPr/>
            </p:nvSpPr>
            <p:spPr>
              <a:xfrm>
                <a:off x="4607719" y="2302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10" name="Freeform 110"/>
              <p:cNvSpPr/>
              <p:nvPr/>
            </p:nvSpPr>
            <p:spPr>
              <a:xfrm>
                <a:off x="4641056" y="2341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12" name="TextBox 112"/>
            <p:cNvSpPr txBox="1"/>
            <p:nvPr/>
          </p:nvSpPr>
          <p:spPr>
            <a:xfrm>
              <a:off x="4776788" y="2323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代发工资</a:t>
              </a:r>
            </a:p>
          </p:txBody>
        </p:sp>
        <p:grpSp>
          <p:nvGrpSpPr>
            <p:cNvPr id="115" name="Group 115"/>
            <p:cNvGrpSpPr/>
            <p:nvPr/>
          </p:nvGrpSpPr>
          <p:grpSpPr>
            <a:xfrm>
              <a:off x="4607719" y="2683669"/>
              <a:ext cx="100012" cy="100012"/>
              <a:chOff x="4607719" y="2683669"/>
              <a:chExt cx="100012" cy="100012"/>
            </a:xfrm>
          </p:grpSpPr>
          <p:sp>
            <p:nvSpPr>
              <p:cNvPr id="113" name="Freeform 113"/>
              <p:cNvSpPr/>
              <p:nvPr/>
            </p:nvSpPr>
            <p:spPr>
              <a:xfrm>
                <a:off x="4607719" y="2683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14" name="Freeform 114"/>
              <p:cNvSpPr/>
              <p:nvPr/>
            </p:nvSpPr>
            <p:spPr>
              <a:xfrm>
                <a:off x="4641056" y="2722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16" name="TextBox 116"/>
            <p:cNvSpPr txBox="1"/>
            <p:nvPr/>
          </p:nvSpPr>
          <p:spPr>
            <a:xfrm>
              <a:off x="4776788" y="2704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账户管理</a:t>
              </a:r>
            </a:p>
          </p:txBody>
        </p:sp>
        <p:grpSp>
          <p:nvGrpSpPr>
            <p:cNvPr id="119" name="Group 119"/>
            <p:cNvGrpSpPr/>
            <p:nvPr/>
          </p:nvGrpSpPr>
          <p:grpSpPr>
            <a:xfrm>
              <a:off x="4607719" y="3064669"/>
              <a:ext cx="100012" cy="100012"/>
              <a:chOff x="4607719" y="3064669"/>
              <a:chExt cx="100012" cy="100012"/>
            </a:xfrm>
          </p:grpSpPr>
          <p:sp>
            <p:nvSpPr>
              <p:cNvPr id="117" name="Freeform 117"/>
              <p:cNvSpPr/>
              <p:nvPr/>
            </p:nvSpPr>
            <p:spPr>
              <a:xfrm>
                <a:off x="4607719" y="3064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18" name="Freeform 118"/>
              <p:cNvSpPr/>
              <p:nvPr/>
            </p:nvSpPr>
            <p:spPr>
              <a:xfrm>
                <a:off x="4641056" y="3103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20" name="TextBox 120"/>
            <p:cNvSpPr txBox="1"/>
            <p:nvPr/>
          </p:nvSpPr>
          <p:spPr>
            <a:xfrm>
              <a:off x="4776788" y="3085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扫码支付</a:t>
              </a:r>
            </a:p>
          </p:txBody>
        </p:sp>
        <p:grpSp>
          <p:nvGrpSpPr>
            <p:cNvPr id="123" name="Group 123"/>
            <p:cNvGrpSpPr/>
            <p:nvPr/>
          </p:nvGrpSpPr>
          <p:grpSpPr>
            <a:xfrm>
              <a:off x="4607719" y="3445669"/>
              <a:ext cx="100012" cy="100012"/>
              <a:chOff x="4607719" y="3445669"/>
              <a:chExt cx="100012" cy="100012"/>
            </a:xfrm>
          </p:grpSpPr>
          <p:sp>
            <p:nvSpPr>
              <p:cNvPr id="121" name="Freeform 121"/>
              <p:cNvSpPr/>
              <p:nvPr/>
            </p:nvSpPr>
            <p:spPr>
              <a:xfrm>
                <a:off x="4607719" y="3445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22" name="Freeform 122"/>
              <p:cNvSpPr/>
              <p:nvPr/>
            </p:nvSpPr>
            <p:spPr>
              <a:xfrm>
                <a:off x="4641056" y="3484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24" name="TextBox 124"/>
            <p:cNvSpPr txBox="1"/>
            <p:nvPr/>
          </p:nvSpPr>
          <p:spPr>
            <a:xfrm>
              <a:off x="4776788" y="3466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生活缴费</a:t>
              </a:r>
            </a:p>
          </p:txBody>
        </p:sp>
        <p:sp>
          <p:nvSpPr>
            <p:cNvPr id="125" name="Rectangle 125"/>
            <p:cNvSpPr/>
            <p:nvPr/>
          </p:nvSpPr>
          <p:spPr>
            <a:xfrm>
              <a:off x="5581650" y="2019300"/>
              <a:ext cx="971550" cy="1905000"/>
            </a:xfrm>
            <a:prstGeom prst="roundRect">
              <a:avLst>
                <a:gd name="adj" fmla="val 5882"/>
              </a:avLst>
            </a:prstGeom>
            <a:solidFill>
              <a:srgbClr val="FFFFFF"/>
            </a:solidFill>
            <a:ln w="9525">
              <a:solidFill>
                <a:srgbClr val="C9D8EF"/>
              </a:solidFill>
            </a:ln>
          </p:spPr>
        </p:sp>
        <p:grpSp>
          <p:nvGrpSpPr>
            <p:cNvPr id="128" name="Group 128"/>
            <p:cNvGrpSpPr/>
            <p:nvPr/>
          </p:nvGrpSpPr>
          <p:grpSpPr>
            <a:xfrm>
              <a:off x="5674519" y="2302669"/>
              <a:ext cx="100012" cy="100012"/>
              <a:chOff x="5674519" y="2302669"/>
              <a:chExt cx="100012" cy="100012"/>
            </a:xfrm>
          </p:grpSpPr>
          <p:sp>
            <p:nvSpPr>
              <p:cNvPr id="126" name="Freeform 126"/>
              <p:cNvSpPr/>
              <p:nvPr/>
            </p:nvSpPr>
            <p:spPr>
              <a:xfrm>
                <a:off x="5674519" y="2302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27" name="Freeform 127"/>
              <p:cNvSpPr/>
              <p:nvPr/>
            </p:nvSpPr>
            <p:spPr>
              <a:xfrm>
                <a:off x="5707856" y="2341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29" name="TextBox 129"/>
            <p:cNvSpPr txBox="1"/>
            <p:nvPr/>
          </p:nvSpPr>
          <p:spPr>
            <a:xfrm>
              <a:off x="5843588" y="2323386"/>
              <a:ext cx="48742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信用卡申请</a:t>
              </a:r>
            </a:p>
          </p:txBody>
        </p:sp>
        <p:grpSp>
          <p:nvGrpSpPr>
            <p:cNvPr id="132" name="Group 132"/>
            <p:cNvGrpSpPr/>
            <p:nvPr/>
          </p:nvGrpSpPr>
          <p:grpSpPr>
            <a:xfrm>
              <a:off x="5674519" y="2683669"/>
              <a:ext cx="100012" cy="100012"/>
              <a:chOff x="5674519" y="2683669"/>
              <a:chExt cx="100012" cy="100012"/>
            </a:xfrm>
          </p:grpSpPr>
          <p:sp>
            <p:nvSpPr>
              <p:cNvPr id="130" name="Freeform 130"/>
              <p:cNvSpPr/>
              <p:nvPr/>
            </p:nvSpPr>
            <p:spPr>
              <a:xfrm>
                <a:off x="5674519" y="2683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31" name="Freeform 131"/>
              <p:cNvSpPr/>
              <p:nvPr/>
            </p:nvSpPr>
            <p:spPr>
              <a:xfrm>
                <a:off x="5707856" y="2722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33" name="TextBox 133"/>
            <p:cNvSpPr txBox="1"/>
            <p:nvPr/>
          </p:nvSpPr>
          <p:spPr>
            <a:xfrm>
              <a:off x="5843588" y="2704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消费贷款</a:t>
              </a:r>
            </a:p>
          </p:txBody>
        </p:sp>
        <p:grpSp>
          <p:nvGrpSpPr>
            <p:cNvPr id="136" name="Group 136"/>
            <p:cNvGrpSpPr/>
            <p:nvPr/>
          </p:nvGrpSpPr>
          <p:grpSpPr>
            <a:xfrm>
              <a:off x="5674519" y="3064669"/>
              <a:ext cx="100012" cy="100012"/>
              <a:chOff x="5674519" y="3064669"/>
              <a:chExt cx="100012" cy="100012"/>
            </a:xfrm>
          </p:grpSpPr>
          <p:sp>
            <p:nvSpPr>
              <p:cNvPr id="134" name="Freeform 134"/>
              <p:cNvSpPr/>
              <p:nvPr/>
            </p:nvSpPr>
            <p:spPr>
              <a:xfrm>
                <a:off x="5674519" y="3064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35" name="Freeform 135"/>
              <p:cNvSpPr/>
              <p:nvPr/>
            </p:nvSpPr>
            <p:spPr>
              <a:xfrm>
                <a:off x="5707856" y="3103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37" name="TextBox 137"/>
            <p:cNvSpPr txBox="1"/>
            <p:nvPr/>
          </p:nvSpPr>
          <p:spPr>
            <a:xfrm>
              <a:off x="5843588" y="3085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积分权益</a:t>
              </a:r>
            </a:p>
          </p:txBody>
        </p:sp>
        <p:grpSp>
          <p:nvGrpSpPr>
            <p:cNvPr id="140" name="Group 140"/>
            <p:cNvGrpSpPr/>
            <p:nvPr/>
          </p:nvGrpSpPr>
          <p:grpSpPr>
            <a:xfrm>
              <a:off x="5674519" y="3445669"/>
              <a:ext cx="100012" cy="100012"/>
              <a:chOff x="5674519" y="3445669"/>
              <a:chExt cx="100012" cy="100012"/>
            </a:xfrm>
          </p:grpSpPr>
          <p:sp>
            <p:nvSpPr>
              <p:cNvPr id="138" name="Freeform 138"/>
              <p:cNvSpPr/>
              <p:nvPr/>
            </p:nvSpPr>
            <p:spPr>
              <a:xfrm>
                <a:off x="5674519" y="3445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39" name="Freeform 139"/>
              <p:cNvSpPr/>
              <p:nvPr/>
            </p:nvSpPr>
            <p:spPr>
              <a:xfrm>
                <a:off x="5707856" y="3484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41" name="TextBox 141"/>
            <p:cNvSpPr txBox="1"/>
            <p:nvPr/>
          </p:nvSpPr>
          <p:spPr>
            <a:xfrm>
              <a:off x="5843588" y="3466386"/>
              <a:ext cx="29626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优惠券</a:t>
              </a:r>
            </a:p>
          </p:txBody>
        </p:sp>
        <p:sp>
          <p:nvSpPr>
            <p:cNvPr id="142" name="Rectangle 142"/>
            <p:cNvSpPr/>
            <p:nvPr/>
          </p:nvSpPr>
          <p:spPr>
            <a:xfrm>
              <a:off x="6648450" y="2019300"/>
              <a:ext cx="971550" cy="1905000"/>
            </a:xfrm>
            <a:prstGeom prst="roundRect">
              <a:avLst>
                <a:gd name="adj" fmla="val 5882"/>
              </a:avLst>
            </a:prstGeom>
            <a:solidFill>
              <a:srgbClr val="FFFFFF"/>
            </a:solidFill>
            <a:ln w="9525">
              <a:solidFill>
                <a:srgbClr val="C9D8EF"/>
              </a:solidFill>
            </a:ln>
          </p:spPr>
        </p:sp>
        <p:grpSp>
          <p:nvGrpSpPr>
            <p:cNvPr id="145" name="Group 145"/>
            <p:cNvGrpSpPr/>
            <p:nvPr/>
          </p:nvGrpSpPr>
          <p:grpSpPr>
            <a:xfrm>
              <a:off x="6741319" y="2302669"/>
              <a:ext cx="100012" cy="100012"/>
              <a:chOff x="6741319" y="2302669"/>
              <a:chExt cx="100012" cy="100012"/>
            </a:xfrm>
          </p:grpSpPr>
          <p:sp>
            <p:nvSpPr>
              <p:cNvPr id="143" name="Freeform 143"/>
              <p:cNvSpPr/>
              <p:nvPr/>
            </p:nvSpPr>
            <p:spPr>
              <a:xfrm>
                <a:off x="6741319" y="2302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44" name="Freeform 144"/>
              <p:cNvSpPr/>
              <p:nvPr/>
            </p:nvSpPr>
            <p:spPr>
              <a:xfrm>
                <a:off x="6774656" y="2341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46" name="TextBox 146"/>
            <p:cNvSpPr txBox="1"/>
            <p:nvPr/>
          </p:nvSpPr>
          <p:spPr>
            <a:xfrm>
              <a:off x="6910388" y="2323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理财投资</a:t>
              </a:r>
            </a:p>
          </p:txBody>
        </p:sp>
        <p:grpSp>
          <p:nvGrpSpPr>
            <p:cNvPr id="149" name="Group 149"/>
            <p:cNvGrpSpPr/>
            <p:nvPr/>
          </p:nvGrpSpPr>
          <p:grpSpPr>
            <a:xfrm>
              <a:off x="6741319" y="2683669"/>
              <a:ext cx="100012" cy="100012"/>
              <a:chOff x="6741319" y="2683669"/>
              <a:chExt cx="100012" cy="100012"/>
            </a:xfrm>
          </p:grpSpPr>
          <p:sp>
            <p:nvSpPr>
              <p:cNvPr id="147" name="Freeform 147"/>
              <p:cNvSpPr/>
              <p:nvPr/>
            </p:nvSpPr>
            <p:spPr>
              <a:xfrm>
                <a:off x="6741319" y="2683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48" name="Freeform 148"/>
              <p:cNvSpPr/>
              <p:nvPr/>
            </p:nvSpPr>
            <p:spPr>
              <a:xfrm>
                <a:off x="6774656" y="2722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50" name="TextBox 150"/>
            <p:cNvSpPr txBox="1"/>
            <p:nvPr/>
          </p:nvSpPr>
          <p:spPr>
            <a:xfrm>
              <a:off x="6910388" y="2704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基金定投</a:t>
              </a:r>
            </a:p>
          </p:txBody>
        </p:sp>
        <p:grpSp>
          <p:nvGrpSpPr>
            <p:cNvPr id="153" name="Group 153"/>
            <p:cNvGrpSpPr/>
            <p:nvPr/>
          </p:nvGrpSpPr>
          <p:grpSpPr>
            <a:xfrm>
              <a:off x="6741319" y="3064669"/>
              <a:ext cx="100012" cy="100012"/>
              <a:chOff x="6741319" y="3064669"/>
              <a:chExt cx="100012" cy="100012"/>
            </a:xfrm>
          </p:grpSpPr>
          <p:sp>
            <p:nvSpPr>
              <p:cNvPr id="151" name="Freeform 151"/>
              <p:cNvSpPr/>
              <p:nvPr/>
            </p:nvSpPr>
            <p:spPr>
              <a:xfrm>
                <a:off x="6741319" y="3064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52" name="Freeform 152"/>
              <p:cNvSpPr/>
              <p:nvPr/>
            </p:nvSpPr>
            <p:spPr>
              <a:xfrm>
                <a:off x="6774656" y="3103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54" name="TextBox 154"/>
            <p:cNvSpPr txBox="1"/>
            <p:nvPr/>
          </p:nvSpPr>
          <p:spPr>
            <a:xfrm>
              <a:off x="6910388" y="3085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保障配置</a:t>
              </a:r>
            </a:p>
          </p:txBody>
        </p:sp>
        <p:grpSp>
          <p:nvGrpSpPr>
            <p:cNvPr id="157" name="Group 157"/>
            <p:cNvGrpSpPr/>
            <p:nvPr/>
          </p:nvGrpSpPr>
          <p:grpSpPr>
            <a:xfrm>
              <a:off x="6741319" y="3445669"/>
              <a:ext cx="100012" cy="100012"/>
              <a:chOff x="6741319" y="3445669"/>
              <a:chExt cx="100012" cy="100012"/>
            </a:xfrm>
          </p:grpSpPr>
          <p:sp>
            <p:nvSpPr>
              <p:cNvPr id="155" name="Freeform 155"/>
              <p:cNvSpPr/>
              <p:nvPr/>
            </p:nvSpPr>
            <p:spPr>
              <a:xfrm>
                <a:off x="6741319" y="3445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56" name="Freeform 156"/>
              <p:cNvSpPr/>
              <p:nvPr/>
            </p:nvSpPr>
            <p:spPr>
              <a:xfrm>
                <a:off x="6774656" y="3484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58" name="TextBox 158"/>
            <p:cNvSpPr txBox="1"/>
            <p:nvPr/>
          </p:nvSpPr>
          <p:spPr>
            <a:xfrm>
              <a:off x="6910388" y="3466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资产配置</a:t>
              </a:r>
            </a:p>
          </p:txBody>
        </p:sp>
        <p:sp>
          <p:nvSpPr>
            <p:cNvPr id="159" name="Rectangle 159"/>
            <p:cNvSpPr/>
            <p:nvPr/>
          </p:nvSpPr>
          <p:spPr>
            <a:xfrm>
              <a:off x="7715250" y="2019300"/>
              <a:ext cx="971550" cy="1905000"/>
            </a:xfrm>
            <a:prstGeom prst="roundRect">
              <a:avLst>
                <a:gd name="adj" fmla="val 5882"/>
              </a:avLst>
            </a:prstGeom>
            <a:solidFill>
              <a:srgbClr val="FFFFFF"/>
            </a:solidFill>
            <a:ln w="9525">
              <a:solidFill>
                <a:srgbClr val="C9D8EF"/>
              </a:solidFill>
            </a:ln>
          </p:spPr>
        </p:sp>
        <p:grpSp>
          <p:nvGrpSpPr>
            <p:cNvPr id="162" name="Group 162"/>
            <p:cNvGrpSpPr/>
            <p:nvPr/>
          </p:nvGrpSpPr>
          <p:grpSpPr>
            <a:xfrm>
              <a:off x="7808119" y="2302669"/>
              <a:ext cx="100012" cy="100012"/>
              <a:chOff x="7808119" y="2302669"/>
              <a:chExt cx="100012" cy="100012"/>
            </a:xfrm>
          </p:grpSpPr>
          <p:sp>
            <p:nvSpPr>
              <p:cNvPr id="160" name="Freeform 160"/>
              <p:cNvSpPr/>
              <p:nvPr/>
            </p:nvSpPr>
            <p:spPr>
              <a:xfrm>
                <a:off x="7808119" y="2302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61" name="Freeform 161"/>
              <p:cNvSpPr/>
              <p:nvPr/>
            </p:nvSpPr>
            <p:spPr>
              <a:xfrm>
                <a:off x="7841456" y="2341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63" name="TextBox 163"/>
            <p:cNvSpPr txBox="1"/>
            <p:nvPr/>
          </p:nvSpPr>
          <p:spPr>
            <a:xfrm>
              <a:off x="7977188" y="2323386"/>
              <a:ext cx="48742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个人养老金</a:t>
              </a:r>
            </a:p>
          </p:txBody>
        </p:sp>
        <p:grpSp>
          <p:nvGrpSpPr>
            <p:cNvPr id="166" name="Group 166"/>
            <p:cNvGrpSpPr/>
            <p:nvPr/>
          </p:nvGrpSpPr>
          <p:grpSpPr>
            <a:xfrm>
              <a:off x="7808119" y="2683669"/>
              <a:ext cx="100012" cy="100012"/>
              <a:chOff x="7808119" y="2683669"/>
              <a:chExt cx="100012" cy="100012"/>
            </a:xfrm>
          </p:grpSpPr>
          <p:sp>
            <p:nvSpPr>
              <p:cNvPr id="164" name="Freeform 164"/>
              <p:cNvSpPr/>
              <p:nvPr/>
            </p:nvSpPr>
            <p:spPr>
              <a:xfrm>
                <a:off x="7808119" y="2683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65" name="Freeform 165"/>
              <p:cNvSpPr/>
              <p:nvPr/>
            </p:nvSpPr>
            <p:spPr>
              <a:xfrm>
                <a:off x="7841456" y="2722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67" name="TextBox 167"/>
            <p:cNvSpPr txBox="1"/>
            <p:nvPr/>
          </p:nvSpPr>
          <p:spPr>
            <a:xfrm>
              <a:off x="7977188" y="2704386"/>
              <a:ext cx="48742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养老金规划</a:t>
              </a:r>
            </a:p>
          </p:txBody>
        </p:sp>
        <p:grpSp>
          <p:nvGrpSpPr>
            <p:cNvPr id="170" name="Group 170"/>
            <p:cNvGrpSpPr/>
            <p:nvPr/>
          </p:nvGrpSpPr>
          <p:grpSpPr>
            <a:xfrm>
              <a:off x="7808119" y="3064669"/>
              <a:ext cx="100012" cy="100012"/>
              <a:chOff x="7808119" y="3064669"/>
              <a:chExt cx="100012" cy="100012"/>
            </a:xfrm>
          </p:grpSpPr>
          <p:sp>
            <p:nvSpPr>
              <p:cNvPr id="168" name="Freeform 168"/>
              <p:cNvSpPr/>
              <p:nvPr/>
            </p:nvSpPr>
            <p:spPr>
              <a:xfrm>
                <a:off x="7808119" y="3064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69" name="Freeform 169"/>
              <p:cNvSpPr/>
              <p:nvPr/>
            </p:nvSpPr>
            <p:spPr>
              <a:xfrm>
                <a:off x="7841456" y="3103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71" name="TextBox 171"/>
            <p:cNvSpPr txBox="1"/>
            <p:nvPr/>
          </p:nvSpPr>
          <p:spPr>
            <a:xfrm>
              <a:off x="7977188" y="3085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财富传承</a:t>
              </a:r>
            </a:p>
          </p:txBody>
        </p:sp>
        <p:grpSp>
          <p:nvGrpSpPr>
            <p:cNvPr id="174" name="Group 174"/>
            <p:cNvGrpSpPr/>
            <p:nvPr/>
          </p:nvGrpSpPr>
          <p:grpSpPr>
            <a:xfrm>
              <a:off x="7808119" y="3445669"/>
              <a:ext cx="100012" cy="100012"/>
              <a:chOff x="7808119" y="3445669"/>
              <a:chExt cx="100012" cy="100012"/>
            </a:xfrm>
          </p:grpSpPr>
          <p:sp>
            <p:nvSpPr>
              <p:cNvPr id="172" name="Freeform 172"/>
              <p:cNvSpPr/>
              <p:nvPr/>
            </p:nvSpPr>
            <p:spPr>
              <a:xfrm>
                <a:off x="7808119" y="3445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D64A2E"/>
                </a:solidFill>
              </a:ln>
            </p:spPr>
          </p:sp>
          <p:sp>
            <p:nvSpPr>
              <p:cNvPr id="173" name="Freeform 173"/>
              <p:cNvSpPr/>
              <p:nvPr/>
            </p:nvSpPr>
            <p:spPr>
              <a:xfrm>
                <a:off x="7841456" y="3484562"/>
                <a:ext cx="33337" cy="22225"/>
              </a:xfrm>
              <a:custGeom>
                <a:avLst/>
                <a:gdLst/>
                <a:ahLst/>
                <a:cxnLst/>
                <a:rect l="l" t="t" r="r" b="b"/>
                <a:pathLst>
                  <a:path w="33337" h="22225">
                    <a:moveTo>
                      <a:pt x="0" y="11112"/>
                    </a:moveTo>
                    <a:lnTo>
                      <a:pt x="11112" y="22225"/>
                    </a:lnTo>
                    <a:lnTo>
                      <a:pt x="33337" y="0"/>
                    </a:lnTo>
                  </a:path>
                </a:pathLst>
              </a:custGeom>
              <a:noFill/>
              <a:ln w="11112">
                <a:solidFill>
                  <a:srgbClr val="D64A2E"/>
                </a:solidFill>
              </a:ln>
            </p:spPr>
          </p:sp>
        </p:grpSp>
        <p:sp>
          <p:nvSpPr>
            <p:cNvPr id="175" name="TextBox 175"/>
            <p:cNvSpPr txBox="1"/>
            <p:nvPr/>
          </p:nvSpPr>
          <p:spPr>
            <a:xfrm>
              <a:off x="7977188" y="3466386"/>
              <a:ext cx="391846"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家族信托</a:t>
              </a:r>
            </a:p>
          </p:txBody>
        </p:sp>
      </p:grpSp>
      <p:grpSp>
        <p:nvGrpSpPr>
          <p:cNvPr id="217" name="b2b2c-panel"/>
          <p:cNvGrpSpPr/>
          <p:nvPr/>
        </p:nvGrpSpPr>
        <p:grpSpPr>
          <a:xfrm>
            <a:off x="8801100" y="704850"/>
            <a:ext cx="3009900" cy="3390900"/>
            <a:chOff x="8801100" y="704850"/>
            <a:chExt cx="3009900" cy="3390900"/>
          </a:xfrm>
        </p:grpSpPr>
        <p:sp>
          <p:nvSpPr>
            <p:cNvPr id="177" name="Rectangle 177"/>
            <p:cNvSpPr/>
            <p:nvPr/>
          </p:nvSpPr>
          <p:spPr>
            <a:xfrm>
              <a:off x="8801100" y="704850"/>
              <a:ext cx="3009900" cy="3390900"/>
            </a:xfrm>
            <a:prstGeom prst="roundRect">
              <a:avLst>
                <a:gd name="adj" fmla="val 3165"/>
              </a:avLst>
            </a:prstGeom>
            <a:solidFill>
              <a:srgbClr val="F9FBFE"/>
            </a:solidFill>
            <a:ln w="9525">
              <a:solidFill>
                <a:srgbClr val="C9D8EF"/>
              </a:solidFill>
            </a:ln>
          </p:spPr>
        </p:sp>
        <p:sp>
          <p:nvSpPr>
            <p:cNvPr id="178" name="Rectangle 178"/>
            <p:cNvSpPr/>
            <p:nvPr/>
          </p:nvSpPr>
          <p:spPr>
            <a:xfrm>
              <a:off x="8801100" y="704850"/>
              <a:ext cx="3009900" cy="285750"/>
            </a:xfrm>
            <a:prstGeom prst="roundRect">
              <a:avLst>
                <a:gd name="adj" fmla="val 13333"/>
              </a:avLst>
            </a:prstGeom>
            <a:gradFill>
              <a:gsLst>
                <a:gs pos="0">
                  <a:srgbClr val="AD3921"/>
                </a:gs>
                <a:gs pos="100000">
                  <a:srgbClr val="962C16"/>
                </a:gs>
              </a:gsLst>
              <a:lin ang="5400000" scaled="1"/>
            </a:gradFill>
            <a:ln>
              <a:noFill/>
            </a:ln>
          </p:spPr>
        </p:sp>
        <p:sp>
          <p:nvSpPr>
            <p:cNvPr id="179" name="TextBox 179"/>
            <p:cNvSpPr txBox="1"/>
            <p:nvPr/>
          </p:nvSpPr>
          <p:spPr>
            <a:xfrm>
              <a:off x="9735312" y="791528"/>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员工金融福利账户</a:t>
              </a:r>
            </a:p>
          </p:txBody>
        </p:sp>
        <p:sp>
          <p:nvSpPr>
            <p:cNvPr id="180" name="Line 180"/>
            <p:cNvSpPr/>
            <p:nvPr/>
          </p:nvSpPr>
          <p:spPr>
            <a:xfrm>
              <a:off x="8991600" y="1162050"/>
              <a:ext cx="628650" cy="9525"/>
            </a:xfrm>
            <a:custGeom>
              <a:avLst/>
              <a:gdLst/>
              <a:ahLst/>
              <a:cxnLst/>
              <a:rect l="l" t="t" r="r" b="b"/>
              <a:pathLst>
                <a:path w="628650" h="9525">
                  <a:moveTo>
                    <a:pt x="0" y="0"/>
                  </a:moveTo>
                  <a:lnTo>
                    <a:pt x="628650" y="0"/>
                  </a:lnTo>
                </a:path>
              </a:pathLst>
            </a:custGeom>
            <a:noFill/>
            <a:ln w="9525">
              <a:solidFill>
                <a:srgbClr val="D64A2E"/>
              </a:solidFill>
              <a:prstDash val="sysDot"/>
            </a:ln>
          </p:spPr>
        </p:sp>
        <p:sp>
          <p:nvSpPr>
            <p:cNvPr id="181" name="TextBox 181"/>
            <p:cNvSpPr txBox="1"/>
            <p:nvPr/>
          </p:nvSpPr>
          <p:spPr>
            <a:xfrm>
              <a:off x="9804180" y="1102995"/>
              <a:ext cx="1003741" cy="176212"/>
            </a:xfrm>
            <a:prstGeom prst="rect">
              <a:avLst/>
            </a:prstGeom>
            <a:noFill/>
            <a:ln>
              <a:noFill/>
            </a:ln>
          </p:spPr>
          <p:txBody>
            <a:bodyPr wrap="none" lIns="0" tIns="0" rIns="0" bIns="0" anchor="t" anchorCtr="0">
              <a:spAutoFit/>
            </a:bodyPr>
            <a:lstStyle/>
            <a:p>
              <a:pPr algn="ctr"/>
              <a:r>
                <a:rPr lang="zh-CN" sz="900" b="1" dirty="0">
                  <a:solidFill>
                    <a:srgbClr val="A8351D"/>
                  </a:solidFill>
                  <a:latin typeface="+mn-lt"/>
                  <a:ea typeface="+mn-ea"/>
                  <a:cs typeface="+mn-cs"/>
                </a:rPr>
                <a:t>B2B2C协同经营​​</a:t>
              </a:r>
            </a:p>
          </p:txBody>
        </p:sp>
        <p:sp>
          <p:nvSpPr>
            <p:cNvPr id="182" name="Line 182"/>
            <p:cNvSpPr/>
            <p:nvPr/>
          </p:nvSpPr>
          <p:spPr>
            <a:xfrm>
              <a:off x="10991850" y="1162050"/>
              <a:ext cx="628650" cy="9525"/>
            </a:xfrm>
            <a:custGeom>
              <a:avLst/>
              <a:gdLst/>
              <a:ahLst/>
              <a:cxnLst/>
              <a:rect l="l" t="t" r="r" b="b"/>
              <a:pathLst>
                <a:path w="628650" h="9525">
                  <a:moveTo>
                    <a:pt x="0" y="0"/>
                  </a:moveTo>
                  <a:lnTo>
                    <a:pt x="628650" y="0"/>
                  </a:lnTo>
                </a:path>
              </a:pathLst>
            </a:custGeom>
            <a:noFill/>
            <a:ln w="9525">
              <a:solidFill>
                <a:srgbClr val="D64A2E"/>
              </a:solidFill>
              <a:prstDash val="sysDot"/>
            </a:ln>
          </p:spPr>
        </p:sp>
        <p:sp>
          <p:nvSpPr>
            <p:cNvPr id="183" name="Rectangle 183"/>
            <p:cNvSpPr/>
            <p:nvPr/>
          </p:nvSpPr>
          <p:spPr>
            <a:xfrm>
              <a:off x="8896350" y="1333500"/>
              <a:ext cx="2819400" cy="819150"/>
            </a:xfrm>
            <a:prstGeom prst="roundRect">
              <a:avLst>
                <a:gd name="adj" fmla="val 9302"/>
              </a:avLst>
            </a:prstGeom>
            <a:solidFill>
              <a:srgbClr val="FFFFFF"/>
            </a:solidFill>
            <a:ln w="9525">
              <a:solidFill>
                <a:srgbClr val="C9D8EF"/>
              </a:solidFill>
            </a:ln>
          </p:spPr>
        </p:sp>
        <p:sp>
          <p:nvSpPr>
            <p:cNvPr id="184" name="Ellipse 184"/>
            <p:cNvSpPr/>
            <p:nvPr/>
          </p:nvSpPr>
          <p:spPr>
            <a:xfrm>
              <a:off x="9010650" y="1552575"/>
              <a:ext cx="381000" cy="381000"/>
            </a:xfrm>
            <a:prstGeom prst="ellipse">
              <a:avLst/>
            </a:prstGeom>
            <a:solidFill>
              <a:srgbClr val="A8351D"/>
            </a:solidFill>
            <a:ln>
              <a:noFill/>
            </a:ln>
          </p:spPr>
        </p:sp>
        <p:grpSp>
          <p:nvGrpSpPr>
            <p:cNvPr id="193" name="Group 193"/>
            <p:cNvGrpSpPr/>
            <p:nvPr/>
          </p:nvGrpSpPr>
          <p:grpSpPr>
            <a:xfrm>
              <a:off x="9122569" y="1664494"/>
              <a:ext cx="157163" cy="166687"/>
              <a:chOff x="9122569" y="1664494"/>
              <a:chExt cx="157163" cy="166687"/>
            </a:xfrm>
          </p:grpSpPr>
          <p:sp>
            <p:nvSpPr>
              <p:cNvPr id="185" name="Freeform 185"/>
              <p:cNvSpPr/>
              <p:nvPr/>
            </p:nvSpPr>
            <p:spPr>
              <a:xfrm>
                <a:off x="9122569" y="1821656"/>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186" name="Freeform 186"/>
              <p:cNvSpPr/>
              <p:nvPr/>
            </p:nvSpPr>
            <p:spPr>
              <a:xfrm>
                <a:off x="9174956" y="170815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87" name="Freeform 187"/>
              <p:cNvSpPr/>
              <p:nvPr/>
            </p:nvSpPr>
            <p:spPr>
              <a:xfrm>
                <a:off x="9174956" y="1743075"/>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88" name="Freeform 188"/>
              <p:cNvSpPr/>
              <p:nvPr/>
            </p:nvSpPr>
            <p:spPr>
              <a:xfrm>
                <a:off x="9174956" y="177800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89" name="Freeform 189"/>
              <p:cNvSpPr/>
              <p:nvPr/>
            </p:nvSpPr>
            <p:spPr>
              <a:xfrm>
                <a:off x="9218613" y="170815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90" name="Freeform 190"/>
              <p:cNvSpPr/>
              <p:nvPr/>
            </p:nvSpPr>
            <p:spPr>
              <a:xfrm>
                <a:off x="9218613" y="1743075"/>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91" name="Freeform 191"/>
              <p:cNvSpPr/>
              <p:nvPr/>
            </p:nvSpPr>
            <p:spPr>
              <a:xfrm>
                <a:off x="9218613" y="1778000"/>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192" name="Freeform 192"/>
              <p:cNvSpPr/>
              <p:nvPr/>
            </p:nvSpPr>
            <p:spPr>
              <a:xfrm>
                <a:off x="9140031" y="1664494"/>
                <a:ext cx="122238" cy="157163"/>
              </a:xfrm>
              <a:custGeom>
                <a:avLst/>
                <a:gdLst/>
                <a:ahLst/>
                <a:cxnLst/>
                <a:rect l="l" t="t" r="r" b="b"/>
                <a:pathLst>
                  <a:path w="122238" h="157163">
                    <a:moveTo>
                      <a:pt x="0" y="157163"/>
                    </a:moveTo>
                    <a:lnTo>
                      <a:pt x="0" y="17463"/>
                    </a:lnTo>
                    <a:cubicBezTo>
                      <a:pt x="0" y="7818"/>
                      <a:pt x="7818" y="0"/>
                      <a:pt x="17463" y="0"/>
                    </a:cubicBezTo>
                    <a:lnTo>
                      <a:pt x="104775" y="0"/>
                    </a:lnTo>
                    <a:cubicBezTo>
                      <a:pt x="114419" y="0"/>
                      <a:pt x="122238" y="7818"/>
                      <a:pt x="122238" y="17463"/>
                    </a:cubicBezTo>
                    <a:lnTo>
                      <a:pt x="122238" y="157163"/>
                    </a:lnTo>
                  </a:path>
                </a:pathLst>
              </a:custGeom>
              <a:noFill/>
              <a:ln w="17463">
                <a:solidFill>
                  <a:srgbClr val="FFFFFF"/>
                </a:solidFill>
              </a:ln>
            </p:spPr>
          </p:sp>
        </p:grpSp>
        <p:sp>
          <p:nvSpPr>
            <p:cNvPr id="194" name="TextBox 194"/>
            <p:cNvSpPr txBox="1"/>
            <p:nvPr/>
          </p:nvSpPr>
          <p:spPr>
            <a:xfrm>
              <a:off x="9500997" y="1571149"/>
              <a:ext cx="537616" cy="190690"/>
            </a:xfrm>
            <a:prstGeom prst="rect">
              <a:avLst/>
            </a:prstGeom>
            <a:noFill/>
            <a:ln>
              <a:noFill/>
            </a:ln>
          </p:spPr>
          <p:txBody>
            <a:bodyPr wrap="none" lIns="0" tIns="0" rIns="0" bIns="0" anchor="t" anchorCtr="0">
              <a:spAutoFit/>
            </a:bodyPr>
            <a:lstStyle/>
            <a:p>
              <a:pPr algn="l"/>
              <a:r>
                <a:rPr lang="zh-CN" sz="980" b="1" dirty="0">
                  <a:solidFill>
                    <a:srgbClr val="A8351D"/>
                  </a:solidFill>
                  <a:latin typeface="+mn-lt"/>
                  <a:ea typeface="+mn-ea"/>
                  <a:cs typeface="+mn-cs"/>
                </a:rPr>
                <a:t>企业端：</a:t>
              </a:r>
            </a:p>
          </p:txBody>
        </p:sp>
        <p:sp>
          <p:nvSpPr>
            <p:cNvPr id="195" name="TextBox 195"/>
            <p:cNvSpPr txBox="1"/>
            <p:nvPr/>
          </p:nvSpPr>
          <p:spPr>
            <a:xfrm>
              <a:off x="9501188" y="1819989"/>
              <a:ext cx="1498422" cy="154781"/>
            </a:xfrm>
            <a:prstGeom prst="rect">
              <a:avLst/>
            </a:prstGeom>
            <a:noFill/>
            <a:ln>
              <a:noFill/>
            </a:ln>
          </p:spPr>
          <p:txBody>
            <a:bodyPr wrap="none" lIns="0" tIns="0" rIns="0" bIns="0" anchor="t" anchorCtr="0">
              <a:spAutoFit/>
            </a:bodyPr>
            <a:lstStyle/>
            <a:p>
              <a:pPr algn="l"/>
              <a:r>
                <a:rPr lang="zh-CN" sz="790" dirty="0">
                  <a:solidFill>
                    <a:srgbClr val="5A443F"/>
                  </a:solidFill>
                  <a:latin typeface="+mn-lt"/>
                  <a:ea typeface="+mn-ea"/>
                  <a:cs typeface="+mn-cs"/>
                </a:rPr>
                <a:t>代发、福利、报销、电子工资单</a:t>
              </a:r>
            </a:p>
          </p:txBody>
        </p:sp>
        <p:sp>
          <p:nvSpPr>
            <p:cNvPr id="196" name="Rectangle 196"/>
            <p:cNvSpPr/>
            <p:nvPr/>
          </p:nvSpPr>
          <p:spPr>
            <a:xfrm>
              <a:off x="8896350" y="2247900"/>
              <a:ext cx="2819400" cy="819150"/>
            </a:xfrm>
            <a:prstGeom prst="roundRect">
              <a:avLst>
                <a:gd name="adj" fmla="val 9302"/>
              </a:avLst>
            </a:prstGeom>
            <a:solidFill>
              <a:srgbClr val="FFFFFF"/>
            </a:solidFill>
            <a:ln w="9525">
              <a:solidFill>
                <a:srgbClr val="C9D8EF"/>
              </a:solidFill>
            </a:ln>
          </p:spPr>
        </p:sp>
        <p:sp>
          <p:nvSpPr>
            <p:cNvPr id="197" name="Ellipse 197"/>
            <p:cNvSpPr/>
            <p:nvPr/>
          </p:nvSpPr>
          <p:spPr>
            <a:xfrm>
              <a:off x="9010650" y="2466975"/>
              <a:ext cx="381000" cy="381000"/>
            </a:xfrm>
            <a:prstGeom prst="ellipse">
              <a:avLst/>
            </a:prstGeom>
            <a:solidFill>
              <a:srgbClr val="D64A2E"/>
            </a:solidFill>
            <a:ln>
              <a:noFill/>
            </a:ln>
          </p:spPr>
        </p:sp>
        <p:grpSp>
          <p:nvGrpSpPr>
            <p:cNvPr id="201" name="Group 201"/>
            <p:cNvGrpSpPr/>
            <p:nvPr/>
          </p:nvGrpSpPr>
          <p:grpSpPr>
            <a:xfrm>
              <a:off x="9148763" y="2578894"/>
              <a:ext cx="130969" cy="157163"/>
              <a:chOff x="9148763" y="2578894"/>
              <a:chExt cx="130969" cy="157163"/>
            </a:xfrm>
          </p:grpSpPr>
          <p:sp>
            <p:nvSpPr>
              <p:cNvPr id="198" name="Freeform 198"/>
              <p:cNvSpPr/>
              <p:nvPr/>
            </p:nvSpPr>
            <p:spPr>
              <a:xfrm>
                <a:off x="9166225" y="25788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99" name="Freeform 199"/>
              <p:cNvSpPr/>
              <p:nvPr/>
            </p:nvSpPr>
            <p:spPr>
              <a:xfrm>
                <a:off x="9148763" y="26836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FFFFFF"/>
                </a:solidFill>
              </a:ln>
            </p:spPr>
          </p:sp>
          <p:sp>
            <p:nvSpPr>
              <p:cNvPr id="200" name="Freeform 200"/>
              <p:cNvSpPr/>
              <p:nvPr/>
            </p:nvSpPr>
            <p:spPr>
              <a:xfrm>
                <a:off x="9227344" y="2701131"/>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202" name="TextBox 202"/>
            <p:cNvSpPr txBox="1"/>
            <p:nvPr/>
          </p:nvSpPr>
          <p:spPr>
            <a:xfrm>
              <a:off x="9500997" y="2485549"/>
              <a:ext cx="537616" cy="190690"/>
            </a:xfrm>
            <a:prstGeom prst="rect">
              <a:avLst/>
            </a:prstGeom>
            <a:noFill/>
            <a:ln>
              <a:noFill/>
            </a:ln>
          </p:spPr>
          <p:txBody>
            <a:bodyPr wrap="none" lIns="0" tIns="0" rIns="0" bIns="0" anchor="t" anchorCtr="0">
              <a:spAutoFit/>
            </a:bodyPr>
            <a:lstStyle/>
            <a:p>
              <a:pPr algn="l"/>
              <a:r>
                <a:rPr lang="zh-CN" sz="980" b="1" dirty="0">
                  <a:solidFill>
                    <a:srgbClr val="D64A2E"/>
                  </a:solidFill>
                  <a:latin typeface="+mn-lt"/>
                  <a:ea typeface="+mn-ea"/>
                  <a:cs typeface="+mn-cs"/>
                </a:rPr>
                <a:t>员工端：</a:t>
              </a:r>
            </a:p>
          </p:txBody>
        </p:sp>
        <p:sp>
          <p:nvSpPr>
            <p:cNvPr id="203" name="TextBox 203"/>
            <p:cNvSpPr txBox="1"/>
            <p:nvPr/>
          </p:nvSpPr>
          <p:spPr>
            <a:xfrm>
              <a:off x="9501188" y="2734389"/>
              <a:ext cx="1392072" cy="154781"/>
            </a:xfrm>
            <a:prstGeom prst="rect">
              <a:avLst/>
            </a:prstGeom>
            <a:noFill/>
            <a:ln>
              <a:noFill/>
            </a:ln>
          </p:spPr>
          <p:txBody>
            <a:bodyPr wrap="none" lIns="0" tIns="0" rIns="0" bIns="0" anchor="t" anchorCtr="0">
              <a:spAutoFit/>
            </a:bodyPr>
            <a:lstStyle/>
            <a:p>
              <a:pPr algn="l"/>
              <a:r>
                <a:rPr lang="zh-CN" sz="790" dirty="0">
                  <a:solidFill>
                    <a:srgbClr val="5A443F"/>
                  </a:solidFill>
                  <a:latin typeface="+mn-lt"/>
                  <a:ea typeface="+mn-ea"/>
                  <a:cs typeface="+mn-cs"/>
                </a:rPr>
                <a:t>账户、权益、财富、养老服务</a:t>
              </a:r>
            </a:p>
          </p:txBody>
        </p:sp>
        <p:sp>
          <p:nvSpPr>
            <p:cNvPr id="204" name="Rectangle 204"/>
            <p:cNvSpPr/>
            <p:nvPr/>
          </p:nvSpPr>
          <p:spPr>
            <a:xfrm>
              <a:off x="8896350" y="3162300"/>
              <a:ext cx="2819400" cy="819150"/>
            </a:xfrm>
            <a:prstGeom prst="roundRect">
              <a:avLst>
                <a:gd name="adj" fmla="val 9302"/>
              </a:avLst>
            </a:prstGeom>
            <a:solidFill>
              <a:srgbClr val="FFFFFF"/>
            </a:solidFill>
            <a:ln w="9525">
              <a:solidFill>
                <a:srgbClr val="C9D8EF"/>
              </a:solidFill>
            </a:ln>
          </p:spPr>
        </p:sp>
        <p:sp>
          <p:nvSpPr>
            <p:cNvPr id="205" name="Ellipse 205"/>
            <p:cNvSpPr/>
            <p:nvPr/>
          </p:nvSpPr>
          <p:spPr>
            <a:xfrm>
              <a:off x="9010650" y="3381375"/>
              <a:ext cx="381000" cy="381000"/>
            </a:xfrm>
            <a:prstGeom prst="ellipse">
              <a:avLst/>
            </a:prstGeom>
            <a:solidFill>
              <a:srgbClr val="A5280F"/>
            </a:solidFill>
            <a:ln>
              <a:noFill/>
            </a:ln>
          </p:spPr>
        </p:sp>
        <p:grpSp>
          <p:nvGrpSpPr>
            <p:cNvPr id="214" name="Group 214"/>
            <p:cNvGrpSpPr/>
            <p:nvPr/>
          </p:nvGrpSpPr>
          <p:grpSpPr>
            <a:xfrm>
              <a:off x="9122569" y="3493294"/>
              <a:ext cx="157956" cy="166687"/>
              <a:chOff x="9122569" y="3493294"/>
              <a:chExt cx="157956" cy="166687"/>
            </a:xfrm>
          </p:grpSpPr>
          <p:sp>
            <p:nvSpPr>
              <p:cNvPr id="206" name="Freeform 206"/>
              <p:cNvSpPr/>
              <p:nvPr/>
            </p:nvSpPr>
            <p:spPr>
              <a:xfrm>
                <a:off x="9122569" y="3650456"/>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207" name="Freeform 207"/>
              <p:cNvSpPr/>
              <p:nvPr/>
            </p:nvSpPr>
            <p:spPr>
              <a:xfrm>
                <a:off x="9122569" y="3554413"/>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208" name="Freeform 208"/>
              <p:cNvSpPr/>
              <p:nvPr/>
            </p:nvSpPr>
            <p:spPr>
              <a:xfrm>
                <a:off x="9140031" y="3493294"/>
                <a:ext cx="122238" cy="26194"/>
              </a:xfrm>
              <a:custGeom>
                <a:avLst/>
                <a:gdLst/>
                <a:ahLst/>
                <a:cxnLst/>
                <a:rect l="l" t="t" r="r" b="b"/>
                <a:pathLst>
                  <a:path w="122238" h="26194">
                    <a:moveTo>
                      <a:pt x="0" y="26194"/>
                    </a:moveTo>
                    <a:lnTo>
                      <a:pt x="61119" y="0"/>
                    </a:lnTo>
                    <a:lnTo>
                      <a:pt x="122238" y="26194"/>
                    </a:lnTo>
                  </a:path>
                </a:pathLst>
              </a:custGeom>
              <a:noFill/>
              <a:ln w="17463">
                <a:solidFill>
                  <a:srgbClr val="FFFFFF"/>
                </a:solidFill>
              </a:ln>
            </p:spPr>
          </p:sp>
          <p:sp>
            <p:nvSpPr>
              <p:cNvPr id="209" name="Freeform 209"/>
              <p:cNvSpPr/>
              <p:nvPr/>
            </p:nvSpPr>
            <p:spPr>
              <a:xfrm>
                <a:off x="9131300" y="3554413"/>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210" name="Freeform 210"/>
              <p:cNvSpPr/>
              <p:nvPr/>
            </p:nvSpPr>
            <p:spPr>
              <a:xfrm>
                <a:off x="9271000" y="3554413"/>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211" name="Freeform 211"/>
              <p:cNvSpPr/>
              <p:nvPr/>
            </p:nvSpPr>
            <p:spPr>
              <a:xfrm>
                <a:off x="9166225" y="3589338"/>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212" name="Freeform 212"/>
              <p:cNvSpPr/>
              <p:nvPr/>
            </p:nvSpPr>
            <p:spPr>
              <a:xfrm>
                <a:off x="9201150" y="3589338"/>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213" name="Freeform 213"/>
              <p:cNvSpPr/>
              <p:nvPr/>
            </p:nvSpPr>
            <p:spPr>
              <a:xfrm>
                <a:off x="9236075" y="3589338"/>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215" name="TextBox 215"/>
            <p:cNvSpPr txBox="1"/>
            <p:nvPr/>
          </p:nvSpPr>
          <p:spPr>
            <a:xfrm>
              <a:off x="9500997" y="3399949"/>
              <a:ext cx="537616" cy="190690"/>
            </a:xfrm>
            <a:prstGeom prst="rect">
              <a:avLst/>
            </a:prstGeom>
            <a:noFill/>
            <a:ln>
              <a:noFill/>
            </a:ln>
          </p:spPr>
          <p:txBody>
            <a:bodyPr wrap="none" lIns="0" tIns="0" rIns="0" bIns="0" anchor="t" anchorCtr="0">
              <a:spAutoFit/>
            </a:bodyPr>
            <a:lstStyle/>
            <a:p>
              <a:pPr algn="l"/>
              <a:r>
                <a:rPr lang="zh-CN" sz="980" b="1" dirty="0">
                  <a:solidFill>
                    <a:srgbClr val="92210B"/>
                  </a:solidFill>
                  <a:latin typeface="+mn-lt"/>
                  <a:ea typeface="+mn-ea"/>
                  <a:cs typeface="+mn-cs"/>
                </a:rPr>
                <a:t>银行端：</a:t>
              </a:r>
            </a:p>
          </p:txBody>
        </p:sp>
        <p:sp>
          <p:nvSpPr>
            <p:cNvPr id="216" name="TextBox 216"/>
            <p:cNvSpPr txBox="1"/>
            <p:nvPr/>
          </p:nvSpPr>
          <p:spPr>
            <a:xfrm>
              <a:off x="9501188" y="3648789"/>
              <a:ext cx="1392072" cy="154781"/>
            </a:xfrm>
            <a:prstGeom prst="rect">
              <a:avLst/>
            </a:prstGeom>
            <a:noFill/>
            <a:ln>
              <a:noFill/>
            </a:ln>
          </p:spPr>
          <p:txBody>
            <a:bodyPr wrap="none" lIns="0" tIns="0" rIns="0" bIns="0" anchor="t" anchorCtr="0">
              <a:spAutoFit/>
            </a:bodyPr>
            <a:lstStyle/>
            <a:p>
              <a:pPr algn="l"/>
              <a:r>
                <a:rPr lang="zh-CN" sz="790" dirty="0">
                  <a:solidFill>
                    <a:srgbClr val="5A443F"/>
                  </a:solidFill>
                  <a:latin typeface="+mn-lt"/>
                  <a:ea typeface="+mn-ea"/>
                  <a:cs typeface="+mn-cs"/>
                </a:rPr>
                <a:t>标签、旅程、触达、价值评估</a:t>
              </a:r>
            </a:p>
          </p:txBody>
        </p:sp>
      </p:grpSp>
      <p:grpSp>
        <p:nvGrpSpPr>
          <p:cNvPr id="263" name="rights-matrix"/>
          <p:cNvGrpSpPr/>
          <p:nvPr/>
        </p:nvGrpSpPr>
        <p:grpSpPr>
          <a:xfrm>
            <a:off x="381000" y="4248150"/>
            <a:ext cx="7010400" cy="2457450"/>
            <a:chOff x="381000" y="4248150"/>
            <a:chExt cx="7010400" cy="2457450"/>
          </a:xfrm>
        </p:grpSpPr>
        <p:sp>
          <p:nvSpPr>
            <p:cNvPr id="218" name="Rectangle 218"/>
            <p:cNvSpPr/>
            <p:nvPr/>
          </p:nvSpPr>
          <p:spPr>
            <a:xfrm>
              <a:off x="381000" y="4248150"/>
              <a:ext cx="7010400" cy="2457450"/>
            </a:xfrm>
            <a:prstGeom prst="roundRect">
              <a:avLst>
                <a:gd name="adj" fmla="val 3876"/>
              </a:avLst>
            </a:prstGeom>
            <a:solidFill>
              <a:srgbClr val="F9FBFE"/>
            </a:solidFill>
            <a:ln w="9525">
              <a:solidFill>
                <a:srgbClr val="C9D8EF"/>
              </a:solidFill>
            </a:ln>
          </p:spPr>
        </p:sp>
        <p:sp>
          <p:nvSpPr>
            <p:cNvPr id="219" name="Rectangle 219"/>
            <p:cNvSpPr/>
            <p:nvPr/>
          </p:nvSpPr>
          <p:spPr>
            <a:xfrm>
              <a:off x="381000" y="4248150"/>
              <a:ext cx="7010400" cy="285750"/>
            </a:xfrm>
            <a:prstGeom prst="roundRect">
              <a:avLst>
                <a:gd name="adj" fmla="val 13333"/>
              </a:avLst>
            </a:prstGeom>
            <a:gradFill>
              <a:gsLst>
                <a:gs pos="0">
                  <a:srgbClr val="AD3921"/>
                </a:gs>
                <a:gs pos="100000">
                  <a:srgbClr val="962C16"/>
                </a:gs>
              </a:gsLst>
              <a:lin ang="5400000" scaled="1"/>
            </a:gradFill>
            <a:ln>
              <a:noFill/>
            </a:ln>
          </p:spPr>
        </p:sp>
        <p:sp>
          <p:nvSpPr>
            <p:cNvPr id="220" name="TextBox 220"/>
            <p:cNvSpPr txBox="1"/>
            <p:nvPr/>
          </p:nvSpPr>
          <p:spPr>
            <a:xfrm>
              <a:off x="3456813" y="433482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产品权益矩阵</a:t>
              </a:r>
            </a:p>
          </p:txBody>
        </p:sp>
        <p:sp>
          <p:nvSpPr>
            <p:cNvPr id="221" name="Rectangle 221"/>
            <p:cNvSpPr/>
            <p:nvPr/>
          </p:nvSpPr>
          <p:spPr>
            <a:xfrm>
              <a:off x="457200" y="4629150"/>
              <a:ext cx="1047750" cy="285750"/>
            </a:xfrm>
            <a:prstGeom prst="rect">
              <a:avLst/>
            </a:prstGeom>
            <a:solidFill>
              <a:srgbClr val="A8351D"/>
            </a:solidFill>
            <a:ln>
              <a:noFill/>
            </a:ln>
          </p:spPr>
        </p:sp>
        <p:sp>
          <p:nvSpPr>
            <p:cNvPr id="222" name="TextBox 222"/>
            <p:cNvSpPr txBox="1"/>
            <p:nvPr/>
          </p:nvSpPr>
          <p:spPr>
            <a:xfrm>
              <a:off x="865924" y="47305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客群</a:t>
              </a:r>
            </a:p>
          </p:txBody>
        </p:sp>
        <p:sp>
          <p:nvSpPr>
            <p:cNvPr id="223" name="Rectangle 223"/>
            <p:cNvSpPr/>
            <p:nvPr/>
          </p:nvSpPr>
          <p:spPr>
            <a:xfrm>
              <a:off x="1504950" y="4629150"/>
              <a:ext cx="1905000" cy="285750"/>
            </a:xfrm>
            <a:prstGeom prst="rect">
              <a:avLst/>
            </a:prstGeom>
            <a:solidFill>
              <a:srgbClr val="D64A2E"/>
            </a:solidFill>
            <a:ln>
              <a:noFill/>
            </a:ln>
          </p:spPr>
        </p:sp>
        <p:sp>
          <p:nvSpPr>
            <p:cNvPr id="224" name="TextBox 224"/>
            <p:cNvSpPr txBox="1"/>
            <p:nvPr/>
          </p:nvSpPr>
          <p:spPr>
            <a:xfrm>
              <a:off x="2231911" y="47305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基础服务</a:t>
              </a:r>
            </a:p>
          </p:txBody>
        </p:sp>
        <p:sp>
          <p:nvSpPr>
            <p:cNvPr id="225" name="Rectangle 225"/>
            <p:cNvSpPr/>
            <p:nvPr/>
          </p:nvSpPr>
          <p:spPr>
            <a:xfrm>
              <a:off x="3409950" y="4629150"/>
              <a:ext cx="1905000" cy="285750"/>
            </a:xfrm>
            <a:prstGeom prst="rect">
              <a:avLst/>
            </a:prstGeom>
            <a:solidFill>
              <a:srgbClr val="A8351D"/>
            </a:solidFill>
            <a:ln>
              <a:noFill/>
            </a:ln>
          </p:spPr>
        </p:sp>
        <p:sp>
          <p:nvSpPr>
            <p:cNvPr id="226" name="TextBox 226"/>
            <p:cNvSpPr txBox="1"/>
            <p:nvPr/>
          </p:nvSpPr>
          <p:spPr>
            <a:xfrm>
              <a:off x="4136911" y="47305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成长服务</a:t>
              </a:r>
            </a:p>
          </p:txBody>
        </p:sp>
        <p:sp>
          <p:nvSpPr>
            <p:cNvPr id="227" name="Rectangle 227"/>
            <p:cNvSpPr/>
            <p:nvPr/>
          </p:nvSpPr>
          <p:spPr>
            <a:xfrm>
              <a:off x="5314950" y="4629150"/>
              <a:ext cx="1905000" cy="285750"/>
            </a:xfrm>
            <a:prstGeom prst="rect">
              <a:avLst/>
            </a:prstGeom>
            <a:solidFill>
              <a:srgbClr val="67281B"/>
            </a:solidFill>
            <a:ln>
              <a:noFill/>
            </a:ln>
          </p:spPr>
        </p:sp>
        <p:sp>
          <p:nvSpPr>
            <p:cNvPr id="228" name="TextBox 228"/>
            <p:cNvSpPr txBox="1"/>
            <p:nvPr/>
          </p:nvSpPr>
          <p:spPr>
            <a:xfrm>
              <a:off x="6041911" y="47305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高阶服务</a:t>
              </a:r>
            </a:p>
          </p:txBody>
        </p:sp>
        <p:sp>
          <p:nvSpPr>
            <p:cNvPr id="229" name="Rectangle 229"/>
            <p:cNvSpPr/>
            <p:nvPr/>
          </p:nvSpPr>
          <p:spPr>
            <a:xfrm>
              <a:off x="457200" y="4914900"/>
              <a:ext cx="1047750" cy="571500"/>
            </a:xfrm>
            <a:prstGeom prst="rect">
              <a:avLst/>
            </a:prstGeom>
            <a:solidFill>
              <a:srgbClr val="EAF2FC"/>
            </a:solidFill>
            <a:ln w="9525">
              <a:solidFill>
                <a:srgbClr val="E2EAF6"/>
              </a:solidFill>
            </a:ln>
          </p:spPr>
        </p:sp>
        <p:grpSp>
          <p:nvGrpSpPr>
            <p:cNvPr id="234" name="Group 234"/>
            <p:cNvGrpSpPr/>
            <p:nvPr/>
          </p:nvGrpSpPr>
          <p:grpSpPr>
            <a:xfrm>
              <a:off x="595312" y="5129212"/>
              <a:ext cx="142875" cy="142875"/>
              <a:chOff x="595312" y="5129212"/>
              <a:chExt cx="142875" cy="142875"/>
            </a:xfrm>
          </p:grpSpPr>
          <p:sp>
            <p:nvSpPr>
              <p:cNvPr id="230" name="Freeform 230"/>
              <p:cNvSpPr/>
              <p:nvPr/>
            </p:nvSpPr>
            <p:spPr>
              <a:xfrm>
                <a:off x="611187" y="51292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A8351D"/>
                </a:solidFill>
              </a:ln>
            </p:spPr>
          </p:sp>
          <p:sp>
            <p:nvSpPr>
              <p:cNvPr id="231" name="Freeform 231"/>
              <p:cNvSpPr/>
              <p:nvPr/>
            </p:nvSpPr>
            <p:spPr>
              <a:xfrm>
                <a:off x="595312" y="52244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A8351D"/>
                </a:solidFill>
              </a:ln>
            </p:spPr>
          </p:sp>
          <p:sp>
            <p:nvSpPr>
              <p:cNvPr id="232" name="Freeform 232"/>
              <p:cNvSpPr/>
              <p:nvPr/>
            </p:nvSpPr>
            <p:spPr>
              <a:xfrm>
                <a:off x="698500" y="51302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A8351D"/>
                </a:solidFill>
              </a:ln>
            </p:spPr>
          </p:sp>
          <p:sp>
            <p:nvSpPr>
              <p:cNvPr id="233" name="Freeform 233"/>
              <p:cNvSpPr/>
              <p:nvPr/>
            </p:nvSpPr>
            <p:spPr>
              <a:xfrm>
                <a:off x="714375" y="52256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A8351D"/>
                </a:solidFill>
              </a:ln>
            </p:spPr>
          </p:sp>
        </p:grpSp>
        <p:sp>
          <p:nvSpPr>
            <p:cNvPr id="235" name="TextBox 235"/>
            <p:cNvSpPr txBox="1"/>
            <p:nvPr/>
          </p:nvSpPr>
          <p:spPr>
            <a:xfrm>
              <a:off x="833438" y="5159216"/>
              <a:ext cx="451079"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普通员工</a:t>
              </a:r>
            </a:p>
          </p:txBody>
        </p:sp>
        <p:sp>
          <p:nvSpPr>
            <p:cNvPr id="236" name="Rectangle 236"/>
            <p:cNvSpPr/>
            <p:nvPr/>
          </p:nvSpPr>
          <p:spPr>
            <a:xfrm>
              <a:off x="1504950" y="4914900"/>
              <a:ext cx="1905000" cy="571500"/>
            </a:xfrm>
            <a:prstGeom prst="rect">
              <a:avLst/>
            </a:prstGeom>
            <a:solidFill>
              <a:srgbClr val="FFFFFF"/>
            </a:solidFill>
            <a:ln w="9525">
              <a:solidFill>
                <a:srgbClr val="E2EAF6"/>
              </a:solidFill>
            </a:ln>
          </p:spPr>
        </p:sp>
        <p:sp>
          <p:nvSpPr>
            <p:cNvPr id="237" name="TextBox 237"/>
            <p:cNvSpPr txBox="1"/>
            <p:nvPr/>
          </p:nvSpPr>
          <p:spPr>
            <a:xfrm>
              <a:off x="1521285" y="5157788"/>
              <a:ext cx="187232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账户管理 · 支付服务 · 信用卡 · 基础保障</a:t>
              </a:r>
            </a:p>
          </p:txBody>
        </p:sp>
        <p:sp>
          <p:nvSpPr>
            <p:cNvPr id="238" name="Rectangle 238"/>
            <p:cNvSpPr/>
            <p:nvPr/>
          </p:nvSpPr>
          <p:spPr>
            <a:xfrm>
              <a:off x="3409950" y="4914900"/>
              <a:ext cx="1905000" cy="571500"/>
            </a:xfrm>
            <a:prstGeom prst="rect">
              <a:avLst/>
            </a:prstGeom>
            <a:solidFill>
              <a:srgbClr val="FFFFFF"/>
            </a:solidFill>
            <a:ln w="9525">
              <a:solidFill>
                <a:srgbClr val="E2EAF6"/>
              </a:solidFill>
            </a:ln>
          </p:spPr>
        </p:sp>
        <p:sp>
          <p:nvSpPr>
            <p:cNvPr id="239" name="TextBox 239"/>
            <p:cNvSpPr txBox="1"/>
            <p:nvPr/>
          </p:nvSpPr>
          <p:spPr>
            <a:xfrm>
              <a:off x="3635788" y="5157788"/>
              <a:ext cx="1453325"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消费权益 · 积分权益 · 分层优惠</a:t>
              </a:r>
            </a:p>
          </p:txBody>
        </p:sp>
        <p:sp>
          <p:nvSpPr>
            <p:cNvPr id="240" name="Rectangle 240"/>
            <p:cNvSpPr/>
            <p:nvPr/>
          </p:nvSpPr>
          <p:spPr>
            <a:xfrm>
              <a:off x="5314950" y="4914900"/>
              <a:ext cx="1905000" cy="571500"/>
            </a:xfrm>
            <a:prstGeom prst="rect">
              <a:avLst/>
            </a:prstGeom>
            <a:solidFill>
              <a:srgbClr val="FFFFFF"/>
            </a:solidFill>
            <a:ln w="9525">
              <a:solidFill>
                <a:srgbClr val="E2EAF6"/>
              </a:solidFill>
            </a:ln>
          </p:spPr>
        </p:sp>
        <p:sp>
          <p:nvSpPr>
            <p:cNvPr id="241" name="TextBox 241"/>
            <p:cNvSpPr txBox="1"/>
            <p:nvPr/>
          </p:nvSpPr>
          <p:spPr>
            <a:xfrm>
              <a:off x="5540788" y="5157788"/>
              <a:ext cx="1453325"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理财启蒙 · 保险保障 · 养老规划</a:t>
              </a:r>
            </a:p>
          </p:txBody>
        </p:sp>
        <p:sp>
          <p:nvSpPr>
            <p:cNvPr id="242" name="Rectangle 242"/>
            <p:cNvSpPr/>
            <p:nvPr/>
          </p:nvSpPr>
          <p:spPr>
            <a:xfrm>
              <a:off x="457200" y="5486400"/>
              <a:ext cx="1047750" cy="571500"/>
            </a:xfrm>
            <a:prstGeom prst="rect">
              <a:avLst/>
            </a:prstGeom>
            <a:solidFill>
              <a:srgbClr val="EAF2FC"/>
            </a:solidFill>
            <a:ln w="9525">
              <a:solidFill>
                <a:srgbClr val="E2EAF6"/>
              </a:solidFill>
            </a:ln>
          </p:spPr>
        </p:sp>
        <p:grpSp>
          <p:nvGrpSpPr>
            <p:cNvPr id="246" name="Group 246"/>
            <p:cNvGrpSpPr/>
            <p:nvPr/>
          </p:nvGrpSpPr>
          <p:grpSpPr>
            <a:xfrm>
              <a:off x="619125" y="5700712"/>
              <a:ext cx="127209" cy="151009"/>
              <a:chOff x="619125" y="5700712"/>
              <a:chExt cx="127209" cy="151009"/>
            </a:xfrm>
          </p:grpSpPr>
          <p:sp>
            <p:nvSpPr>
              <p:cNvPr id="243" name="Freeform 243"/>
              <p:cNvSpPr/>
              <p:nvPr/>
            </p:nvSpPr>
            <p:spPr>
              <a:xfrm>
                <a:off x="635000" y="57007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A8351D"/>
                </a:solidFill>
              </a:ln>
            </p:spPr>
          </p:sp>
          <p:sp>
            <p:nvSpPr>
              <p:cNvPr id="244" name="Freeform 244"/>
              <p:cNvSpPr/>
              <p:nvPr/>
            </p:nvSpPr>
            <p:spPr>
              <a:xfrm>
                <a:off x="619125" y="5795962"/>
                <a:ext cx="35719" cy="47625"/>
              </a:xfrm>
              <a:custGeom>
                <a:avLst/>
                <a:gdLst/>
                <a:ahLst/>
                <a:cxnLst/>
                <a:rect l="l" t="t" r="r" b="b"/>
                <a:pathLst>
                  <a:path w="35719" h="47625">
                    <a:moveTo>
                      <a:pt x="0" y="47625"/>
                    </a:moveTo>
                    <a:lnTo>
                      <a:pt x="0" y="31750"/>
                    </a:lnTo>
                    <a:cubicBezTo>
                      <a:pt x="0" y="14215"/>
                      <a:pt x="14215" y="0"/>
                      <a:pt x="31750" y="0"/>
                    </a:cubicBezTo>
                    <a:lnTo>
                      <a:pt x="35719" y="0"/>
                    </a:lnTo>
                  </a:path>
                </a:pathLst>
              </a:custGeom>
              <a:noFill/>
              <a:ln w="15875">
                <a:solidFill>
                  <a:srgbClr val="A8351D"/>
                </a:solidFill>
              </a:ln>
            </p:spPr>
          </p:sp>
          <p:sp>
            <p:nvSpPr>
              <p:cNvPr id="245" name="Freeform 245"/>
              <p:cNvSpPr/>
              <p:nvPr/>
            </p:nvSpPr>
            <p:spPr>
              <a:xfrm>
                <a:off x="679231" y="5788021"/>
                <a:ext cx="67103" cy="63700"/>
              </a:xfrm>
              <a:custGeom>
                <a:avLst/>
                <a:gdLst/>
                <a:ahLst/>
                <a:cxnLst/>
                <a:rect l="l" t="t" r="r" b="b"/>
                <a:pathLst>
                  <a:path w="67103" h="63700">
                    <a:moveTo>
                      <a:pt x="33557" y="54114"/>
                    </a:moveTo>
                    <a:lnTo>
                      <a:pt x="16316" y="63146"/>
                    </a:lnTo>
                    <a:cubicBezTo>
                      <a:pt x="15273" y="63690"/>
                      <a:pt x="14013" y="63598"/>
                      <a:pt x="13059" y="62909"/>
                    </a:cubicBezTo>
                    <a:cubicBezTo>
                      <a:pt x="12105" y="62221"/>
                      <a:pt x="11621" y="61053"/>
                      <a:pt x="11808" y="59892"/>
                    </a:cubicBezTo>
                    <a:lnTo>
                      <a:pt x="15102" y="40755"/>
                    </a:lnTo>
                    <a:lnTo>
                      <a:pt x="1156" y="27205"/>
                    </a:lnTo>
                    <a:cubicBezTo>
                      <a:pt x="306" y="26384"/>
                      <a:pt x="0" y="25151"/>
                      <a:pt x="366" y="24028"/>
                    </a:cubicBezTo>
                    <a:cubicBezTo>
                      <a:pt x="733" y="22905"/>
                      <a:pt x="1708" y="22089"/>
                      <a:pt x="2878" y="21927"/>
                    </a:cubicBezTo>
                    <a:lnTo>
                      <a:pt x="22150" y="19133"/>
                    </a:lnTo>
                    <a:lnTo>
                      <a:pt x="30771" y="1726"/>
                    </a:lnTo>
                    <a:cubicBezTo>
                      <a:pt x="31296" y="669"/>
                      <a:pt x="32376" y="0"/>
                      <a:pt x="33557" y="0"/>
                    </a:cubicBezTo>
                    <a:cubicBezTo>
                      <a:pt x="34738" y="0"/>
                      <a:pt x="35817" y="669"/>
                      <a:pt x="36343" y="1726"/>
                    </a:cubicBezTo>
                    <a:lnTo>
                      <a:pt x="44963" y="19133"/>
                    </a:lnTo>
                    <a:lnTo>
                      <a:pt x="64235" y="21927"/>
                    </a:lnTo>
                    <a:cubicBezTo>
                      <a:pt x="65402" y="22095"/>
                      <a:pt x="66372" y="22910"/>
                      <a:pt x="66737" y="24031"/>
                    </a:cubicBezTo>
                    <a:cubicBezTo>
                      <a:pt x="67103" y="25151"/>
                      <a:pt x="66800" y="26382"/>
                      <a:pt x="65957" y="27205"/>
                    </a:cubicBezTo>
                    <a:lnTo>
                      <a:pt x="52011" y="40755"/>
                    </a:lnTo>
                    <a:lnTo>
                      <a:pt x="55297" y="59884"/>
                    </a:lnTo>
                    <a:cubicBezTo>
                      <a:pt x="55499" y="61048"/>
                      <a:pt x="55020" y="62225"/>
                      <a:pt x="54064" y="62918"/>
                    </a:cubicBezTo>
                    <a:cubicBezTo>
                      <a:pt x="53108" y="63611"/>
                      <a:pt x="51840" y="63700"/>
                      <a:pt x="50797" y="63146"/>
                    </a:cubicBezTo>
                    <a:lnTo>
                      <a:pt x="33557" y="54114"/>
                    </a:lnTo>
                  </a:path>
                </a:pathLst>
              </a:custGeom>
              <a:noFill/>
              <a:ln w="15875">
                <a:solidFill>
                  <a:srgbClr val="A8351D"/>
                </a:solidFill>
              </a:ln>
            </p:spPr>
          </p:sp>
        </p:grpSp>
        <p:sp>
          <p:nvSpPr>
            <p:cNvPr id="247" name="TextBox 247"/>
            <p:cNvSpPr txBox="1"/>
            <p:nvPr/>
          </p:nvSpPr>
          <p:spPr>
            <a:xfrm>
              <a:off x="833438" y="5730716"/>
              <a:ext cx="451079"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骨干员工</a:t>
              </a:r>
            </a:p>
          </p:txBody>
        </p:sp>
        <p:sp>
          <p:nvSpPr>
            <p:cNvPr id="248" name="Rectangle 248"/>
            <p:cNvSpPr/>
            <p:nvPr/>
          </p:nvSpPr>
          <p:spPr>
            <a:xfrm>
              <a:off x="1504950" y="5486400"/>
              <a:ext cx="1905000" cy="571500"/>
            </a:xfrm>
            <a:prstGeom prst="rect">
              <a:avLst/>
            </a:prstGeom>
            <a:solidFill>
              <a:srgbClr val="F7FAFE"/>
            </a:solidFill>
            <a:ln w="9525">
              <a:solidFill>
                <a:srgbClr val="E2EAF6"/>
              </a:solidFill>
            </a:ln>
          </p:spPr>
        </p:sp>
        <p:sp>
          <p:nvSpPr>
            <p:cNvPr id="249" name="TextBox 249"/>
            <p:cNvSpPr txBox="1"/>
            <p:nvPr/>
          </p:nvSpPr>
          <p:spPr>
            <a:xfrm>
              <a:off x="1521285" y="5729288"/>
              <a:ext cx="187232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工资管理 · 信用卡 · 信贷服务 · 保障升级</a:t>
              </a:r>
            </a:p>
          </p:txBody>
        </p:sp>
        <p:sp>
          <p:nvSpPr>
            <p:cNvPr id="250" name="Rectangle 250"/>
            <p:cNvSpPr/>
            <p:nvPr/>
          </p:nvSpPr>
          <p:spPr>
            <a:xfrm>
              <a:off x="3409950" y="5486400"/>
              <a:ext cx="1905000" cy="571500"/>
            </a:xfrm>
            <a:prstGeom prst="rect">
              <a:avLst/>
            </a:prstGeom>
            <a:solidFill>
              <a:srgbClr val="F7FAFE"/>
            </a:solidFill>
            <a:ln w="9525">
              <a:solidFill>
                <a:srgbClr val="E2EAF6"/>
              </a:solidFill>
            </a:ln>
          </p:spPr>
        </p:sp>
        <p:sp>
          <p:nvSpPr>
            <p:cNvPr id="251" name="TextBox 251"/>
            <p:cNvSpPr txBox="1"/>
            <p:nvPr/>
          </p:nvSpPr>
          <p:spPr>
            <a:xfrm>
              <a:off x="3635788" y="5729288"/>
              <a:ext cx="1453325"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基金定投 · 理财配置 · 教育服务</a:t>
              </a:r>
            </a:p>
          </p:txBody>
        </p:sp>
        <p:sp>
          <p:nvSpPr>
            <p:cNvPr id="252" name="Rectangle 252"/>
            <p:cNvSpPr/>
            <p:nvPr/>
          </p:nvSpPr>
          <p:spPr>
            <a:xfrm>
              <a:off x="5314950" y="5486400"/>
              <a:ext cx="1905000" cy="571500"/>
            </a:xfrm>
            <a:prstGeom prst="rect">
              <a:avLst/>
            </a:prstGeom>
            <a:solidFill>
              <a:srgbClr val="F7FAFE"/>
            </a:solidFill>
            <a:ln w="9525">
              <a:solidFill>
                <a:srgbClr val="E2EAF6"/>
              </a:solidFill>
            </a:ln>
          </p:spPr>
        </p:sp>
        <p:sp>
          <p:nvSpPr>
            <p:cNvPr id="253" name="TextBox 253"/>
            <p:cNvSpPr txBox="1"/>
            <p:nvPr/>
          </p:nvSpPr>
          <p:spPr>
            <a:xfrm>
              <a:off x="5540788" y="5729288"/>
              <a:ext cx="1453325"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资产配置 · 私行专享 · 税务规划</a:t>
              </a:r>
            </a:p>
          </p:txBody>
        </p:sp>
        <p:sp>
          <p:nvSpPr>
            <p:cNvPr id="254" name="Rectangle 254"/>
            <p:cNvSpPr/>
            <p:nvPr/>
          </p:nvSpPr>
          <p:spPr>
            <a:xfrm>
              <a:off x="457200" y="6057900"/>
              <a:ext cx="1047750" cy="571500"/>
            </a:xfrm>
            <a:prstGeom prst="rect">
              <a:avLst/>
            </a:prstGeom>
            <a:solidFill>
              <a:srgbClr val="EAF2FC"/>
            </a:solidFill>
            <a:ln w="9525">
              <a:solidFill>
                <a:srgbClr val="E2EAF6"/>
              </a:solidFill>
            </a:ln>
          </p:spPr>
        </p:sp>
        <p:sp>
          <p:nvSpPr>
            <p:cNvPr id="255" name="Freeform 255"/>
            <p:cNvSpPr/>
            <p:nvPr/>
          </p:nvSpPr>
          <p:spPr>
            <a:xfrm>
              <a:off x="595312" y="6296025"/>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A8351D"/>
              </a:solidFill>
            </a:ln>
          </p:spPr>
        </p:sp>
        <p:sp>
          <p:nvSpPr>
            <p:cNvPr id="256" name="TextBox 256"/>
            <p:cNvSpPr txBox="1"/>
            <p:nvPr/>
          </p:nvSpPr>
          <p:spPr>
            <a:xfrm>
              <a:off x="833438" y="6302216"/>
              <a:ext cx="230302"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高管</a:t>
              </a:r>
            </a:p>
          </p:txBody>
        </p:sp>
        <p:sp>
          <p:nvSpPr>
            <p:cNvPr id="257" name="Rectangle 257"/>
            <p:cNvSpPr/>
            <p:nvPr/>
          </p:nvSpPr>
          <p:spPr>
            <a:xfrm>
              <a:off x="1504950" y="6057900"/>
              <a:ext cx="1905000" cy="571500"/>
            </a:xfrm>
            <a:prstGeom prst="rect">
              <a:avLst/>
            </a:prstGeom>
            <a:solidFill>
              <a:srgbClr val="FFFFFF"/>
            </a:solidFill>
            <a:ln w="9525">
              <a:solidFill>
                <a:srgbClr val="E2EAF6"/>
              </a:solidFill>
            </a:ln>
          </p:spPr>
        </p:sp>
        <p:sp>
          <p:nvSpPr>
            <p:cNvPr id="258" name="TextBox 258"/>
            <p:cNvSpPr txBox="1"/>
            <p:nvPr/>
          </p:nvSpPr>
          <p:spPr>
            <a:xfrm>
              <a:off x="1730788" y="6300788"/>
              <a:ext cx="1453325"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专属账户 · 全球支付 · 税务咨询</a:t>
              </a:r>
            </a:p>
          </p:txBody>
        </p:sp>
        <p:sp>
          <p:nvSpPr>
            <p:cNvPr id="259" name="Rectangle 259"/>
            <p:cNvSpPr/>
            <p:nvPr/>
          </p:nvSpPr>
          <p:spPr>
            <a:xfrm>
              <a:off x="3409950" y="6057900"/>
              <a:ext cx="1905000" cy="571500"/>
            </a:xfrm>
            <a:prstGeom prst="rect">
              <a:avLst/>
            </a:prstGeom>
            <a:solidFill>
              <a:srgbClr val="FFFFFF"/>
            </a:solidFill>
            <a:ln w="9525">
              <a:solidFill>
                <a:srgbClr val="E2EAF6"/>
              </a:solidFill>
            </a:ln>
          </p:spPr>
        </p:sp>
        <p:sp>
          <p:nvSpPr>
            <p:cNvPr id="260" name="TextBox 260"/>
            <p:cNvSpPr txBox="1"/>
            <p:nvPr/>
          </p:nvSpPr>
          <p:spPr>
            <a:xfrm>
              <a:off x="3585305" y="6300788"/>
              <a:ext cx="1554290"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股权激励 · 境内外投资 · 家庭服务</a:t>
              </a:r>
            </a:p>
          </p:txBody>
        </p:sp>
        <p:sp>
          <p:nvSpPr>
            <p:cNvPr id="261" name="Rectangle 261"/>
            <p:cNvSpPr/>
            <p:nvPr/>
          </p:nvSpPr>
          <p:spPr>
            <a:xfrm>
              <a:off x="5314950" y="6057900"/>
              <a:ext cx="1905000" cy="571500"/>
            </a:xfrm>
            <a:prstGeom prst="rect">
              <a:avLst/>
            </a:prstGeom>
            <a:solidFill>
              <a:srgbClr val="FFFFFF"/>
            </a:solidFill>
            <a:ln w="9525">
              <a:solidFill>
                <a:srgbClr val="E2EAF6"/>
              </a:solidFill>
            </a:ln>
          </p:spPr>
        </p:sp>
        <p:sp>
          <p:nvSpPr>
            <p:cNvPr id="262" name="TextBox 262"/>
            <p:cNvSpPr txBox="1"/>
            <p:nvPr/>
          </p:nvSpPr>
          <p:spPr>
            <a:xfrm>
              <a:off x="5540788" y="6300788"/>
              <a:ext cx="1453325"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家族信托 · 财富传承 · 跨境服务</a:t>
              </a:r>
            </a:p>
          </p:txBody>
        </p:sp>
      </p:grpSp>
      <p:grpSp>
        <p:nvGrpSpPr>
          <p:cNvPr id="299" name="kpi-panel"/>
          <p:cNvGrpSpPr/>
          <p:nvPr/>
        </p:nvGrpSpPr>
        <p:grpSpPr>
          <a:xfrm>
            <a:off x="7505700" y="4248150"/>
            <a:ext cx="4305300" cy="2457450"/>
            <a:chOff x="7505700" y="4248150"/>
            <a:chExt cx="4305300" cy="2457450"/>
          </a:xfrm>
        </p:grpSpPr>
        <p:sp>
          <p:nvSpPr>
            <p:cNvPr id="264" name="Rectangle 264"/>
            <p:cNvSpPr/>
            <p:nvPr/>
          </p:nvSpPr>
          <p:spPr>
            <a:xfrm>
              <a:off x="7505700" y="4248150"/>
              <a:ext cx="4305300" cy="2457450"/>
            </a:xfrm>
            <a:prstGeom prst="roundRect">
              <a:avLst>
                <a:gd name="adj" fmla="val 3876"/>
              </a:avLst>
            </a:prstGeom>
            <a:solidFill>
              <a:srgbClr val="F9FBFE"/>
            </a:solidFill>
            <a:ln w="9525">
              <a:solidFill>
                <a:srgbClr val="C9D8EF"/>
              </a:solidFill>
            </a:ln>
          </p:spPr>
        </p:sp>
        <p:sp>
          <p:nvSpPr>
            <p:cNvPr id="265" name="Rectangle 265"/>
            <p:cNvSpPr/>
            <p:nvPr/>
          </p:nvSpPr>
          <p:spPr>
            <a:xfrm>
              <a:off x="7505700" y="4248150"/>
              <a:ext cx="4305300" cy="285750"/>
            </a:xfrm>
            <a:prstGeom prst="roundRect">
              <a:avLst>
                <a:gd name="adj" fmla="val 13333"/>
              </a:avLst>
            </a:prstGeom>
            <a:gradFill>
              <a:gsLst>
                <a:gs pos="0">
                  <a:srgbClr val="AD3921"/>
                </a:gs>
                <a:gs pos="100000">
                  <a:srgbClr val="962C16"/>
                </a:gs>
              </a:gsLst>
              <a:lin ang="5400000" scaled="1"/>
            </a:gradFill>
            <a:ln>
              <a:noFill/>
            </a:ln>
          </p:spPr>
        </p:sp>
        <p:sp>
          <p:nvSpPr>
            <p:cNvPr id="266" name="TextBox 266"/>
            <p:cNvSpPr txBox="1"/>
            <p:nvPr/>
          </p:nvSpPr>
          <p:spPr>
            <a:xfrm>
              <a:off x="9370314" y="43348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经营指标</a:t>
              </a:r>
            </a:p>
          </p:txBody>
        </p:sp>
        <p:sp>
          <p:nvSpPr>
            <p:cNvPr id="267" name="Rectangle 267"/>
            <p:cNvSpPr/>
            <p:nvPr/>
          </p:nvSpPr>
          <p:spPr>
            <a:xfrm>
              <a:off x="7600950" y="4667250"/>
              <a:ext cx="952500" cy="1905000"/>
            </a:xfrm>
            <a:prstGeom prst="roundRect">
              <a:avLst>
                <a:gd name="adj" fmla="val 8000"/>
              </a:avLst>
            </a:prstGeom>
            <a:solidFill>
              <a:srgbClr val="FFFFFF"/>
            </a:solidFill>
            <a:ln w="9525">
              <a:solidFill>
                <a:srgbClr val="C9D8EF"/>
              </a:solidFill>
            </a:ln>
          </p:spPr>
        </p:sp>
        <p:sp>
          <p:nvSpPr>
            <p:cNvPr id="268" name="Ellipse 268"/>
            <p:cNvSpPr/>
            <p:nvPr/>
          </p:nvSpPr>
          <p:spPr>
            <a:xfrm>
              <a:off x="7848600" y="4914900"/>
              <a:ext cx="457200" cy="457200"/>
            </a:xfrm>
            <a:prstGeom prst="ellipse">
              <a:avLst/>
            </a:prstGeom>
            <a:solidFill>
              <a:srgbClr val="A8351D"/>
            </a:solidFill>
            <a:ln>
              <a:noFill/>
            </a:ln>
          </p:spPr>
        </p:sp>
        <p:grpSp>
          <p:nvGrpSpPr>
            <p:cNvPr id="272" name="Group 272"/>
            <p:cNvGrpSpPr/>
            <p:nvPr/>
          </p:nvGrpSpPr>
          <p:grpSpPr>
            <a:xfrm>
              <a:off x="8010525" y="5043488"/>
              <a:ext cx="133350" cy="200026"/>
              <a:chOff x="8010525" y="5043488"/>
              <a:chExt cx="133350" cy="200026"/>
            </a:xfrm>
          </p:grpSpPr>
          <p:sp>
            <p:nvSpPr>
              <p:cNvPr id="269" name="Freeform 269"/>
              <p:cNvSpPr/>
              <p:nvPr/>
            </p:nvSpPr>
            <p:spPr>
              <a:xfrm>
                <a:off x="8010525" y="5043488"/>
                <a:ext cx="133350" cy="200026"/>
              </a:xfrm>
              <a:custGeom>
                <a:avLst/>
                <a:gdLst/>
                <a:ahLst/>
                <a:cxnLst/>
                <a:rect l="l" t="t" r="r" b="b"/>
                <a:pathLst>
                  <a:path w="133350" h="200026">
                    <a:moveTo>
                      <a:pt x="0" y="22225"/>
                    </a:moveTo>
                    <a:cubicBezTo>
                      <a:pt x="0" y="9950"/>
                      <a:pt x="9950" y="0"/>
                      <a:pt x="22225" y="0"/>
                    </a:cubicBezTo>
                    <a:lnTo>
                      <a:pt x="111125" y="0"/>
                    </a:lnTo>
                    <a:cubicBezTo>
                      <a:pt x="123400" y="0"/>
                      <a:pt x="133350" y="9950"/>
                      <a:pt x="133350" y="22225"/>
                    </a:cubicBezTo>
                    <a:lnTo>
                      <a:pt x="133350" y="177801"/>
                    </a:lnTo>
                    <a:cubicBezTo>
                      <a:pt x="133350" y="190075"/>
                      <a:pt x="123400" y="200026"/>
                      <a:pt x="111125" y="200026"/>
                    </a:cubicBezTo>
                    <a:lnTo>
                      <a:pt x="22225" y="200026"/>
                    </a:lnTo>
                    <a:cubicBezTo>
                      <a:pt x="9950" y="200026"/>
                      <a:pt x="0" y="190075"/>
                      <a:pt x="0" y="177801"/>
                    </a:cubicBezTo>
                    <a:lnTo>
                      <a:pt x="0" y="22225"/>
                    </a:lnTo>
                  </a:path>
                </a:pathLst>
              </a:custGeom>
              <a:noFill/>
              <a:ln w="22225">
                <a:solidFill>
                  <a:srgbClr val="FFFFFF"/>
                </a:solidFill>
              </a:ln>
            </p:spPr>
          </p:sp>
          <p:sp>
            <p:nvSpPr>
              <p:cNvPr id="270" name="Freeform 270"/>
              <p:cNvSpPr/>
              <p:nvPr/>
            </p:nvSpPr>
            <p:spPr>
              <a:xfrm>
                <a:off x="8066088" y="5054600"/>
                <a:ext cx="22225" cy="9525"/>
              </a:xfrm>
              <a:custGeom>
                <a:avLst/>
                <a:gdLst/>
                <a:ahLst/>
                <a:cxnLst/>
                <a:rect l="l" t="t" r="r" b="b"/>
                <a:pathLst>
                  <a:path w="22225" h="9525">
                    <a:moveTo>
                      <a:pt x="0" y="0"/>
                    </a:moveTo>
                    <a:lnTo>
                      <a:pt x="22225" y="0"/>
                    </a:lnTo>
                  </a:path>
                </a:pathLst>
              </a:custGeom>
              <a:noFill/>
              <a:ln w="22225">
                <a:solidFill>
                  <a:srgbClr val="FFFFFF"/>
                </a:solidFill>
              </a:ln>
            </p:spPr>
          </p:sp>
          <p:sp>
            <p:nvSpPr>
              <p:cNvPr id="271" name="Freeform 271"/>
              <p:cNvSpPr/>
              <p:nvPr/>
            </p:nvSpPr>
            <p:spPr>
              <a:xfrm>
                <a:off x="8077200" y="5199063"/>
                <a:ext cx="9525" cy="9525"/>
              </a:xfrm>
              <a:custGeom>
                <a:avLst/>
                <a:gdLst/>
                <a:ahLst/>
                <a:cxnLst/>
                <a:rect l="l" t="t" r="r" b="b"/>
                <a:pathLst>
                  <a:path w="9525" h="9525">
                    <a:moveTo>
                      <a:pt x="0" y="0"/>
                    </a:moveTo>
                    <a:lnTo>
                      <a:pt x="0" y="111"/>
                    </a:lnTo>
                  </a:path>
                </a:pathLst>
              </a:custGeom>
              <a:noFill/>
              <a:ln w="22225">
                <a:solidFill>
                  <a:srgbClr val="FFFFFF"/>
                </a:solidFill>
              </a:ln>
            </p:spPr>
          </p:sp>
        </p:grpSp>
        <p:sp>
          <p:nvSpPr>
            <p:cNvPr id="273" name="TextBox 273"/>
            <p:cNvSpPr txBox="1"/>
            <p:nvPr/>
          </p:nvSpPr>
          <p:spPr>
            <a:xfrm>
              <a:off x="7864158" y="5625941"/>
              <a:ext cx="426085" cy="314325"/>
            </a:xfrm>
            <a:prstGeom prst="rect">
              <a:avLst/>
            </a:prstGeom>
            <a:noFill/>
            <a:ln>
              <a:noFill/>
            </a:ln>
          </p:spPr>
          <p:txBody>
            <a:bodyPr wrap="none" lIns="0" tIns="0" rIns="0" bIns="0" anchor="t" anchorCtr="0">
              <a:spAutoFit/>
            </a:bodyPr>
            <a:lstStyle/>
            <a:p>
              <a:pPr algn="ctr">
                <a:lnSpc>
                  <a:spcPts val="1200"/>
                </a:lnSpc>
              </a:pPr>
              <a:r>
                <a:rPr lang="zh-CN" sz="820" b="1" dirty="0">
                  <a:solidFill>
                    <a:srgbClr val="67281B"/>
                  </a:solidFill>
                  <a:latin typeface="+mn-lt"/>
                  <a:ea typeface="+mn-ea"/>
                  <a:cs typeface="+mn-cs"/>
                </a:rPr>
                <a:t>手机银行</a:t>
              </a:r>
              <a:br/>
              <a:r>
                <a:rPr lang="zh-CN" sz="820" b="1" dirty="0">
                  <a:solidFill>
                    <a:srgbClr val="67281B"/>
                  </a:solidFill>
                  <a:latin typeface="+mn-lt"/>
                  <a:ea typeface="+mn-ea"/>
                  <a:cs typeface="+mn-cs"/>
                </a:rPr>
                <a:t>月活率</a:t>
              </a:r>
            </a:p>
          </p:txBody>
        </p:sp>
        <p:sp>
          <p:nvSpPr>
            <p:cNvPr id="274" name="Rectangle 274"/>
            <p:cNvSpPr/>
            <p:nvPr/>
          </p:nvSpPr>
          <p:spPr>
            <a:xfrm>
              <a:off x="7934325" y="6172200"/>
              <a:ext cx="285750" cy="28575"/>
            </a:xfrm>
            <a:prstGeom prst="rect">
              <a:avLst/>
            </a:prstGeom>
            <a:solidFill>
              <a:srgbClr val="C9462F"/>
            </a:solidFill>
            <a:ln>
              <a:noFill/>
            </a:ln>
          </p:spPr>
        </p:sp>
        <p:sp>
          <p:nvSpPr>
            <p:cNvPr id="275" name="Rectangle 275"/>
            <p:cNvSpPr/>
            <p:nvPr/>
          </p:nvSpPr>
          <p:spPr>
            <a:xfrm>
              <a:off x="8629650" y="4667250"/>
              <a:ext cx="952500" cy="1905000"/>
            </a:xfrm>
            <a:prstGeom prst="roundRect">
              <a:avLst>
                <a:gd name="adj" fmla="val 8000"/>
              </a:avLst>
            </a:prstGeom>
            <a:solidFill>
              <a:srgbClr val="FFFFFF"/>
            </a:solidFill>
            <a:ln w="9525">
              <a:solidFill>
                <a:srgbClr val="C9D8EF"/>
              </a:solidFill>
            </a:ln>
          </p:spPr>
        </p:sp>
        <p:sp>
          <p:nvSpPr>
            <p:cNvPr id="276" name="Ellipse 276"/>
            <p:cNvSpPr/>
            <p:nvPr/>
          </p:nvSpPr>
          <p:spPr>
            <a:xfrm>
              <a:off x="8877300" y="4914900"/>
              <a:ext cx="457200" cy="457200"/>
            </a:xfrm>
            <a:prstGeom prst="ellipse">
              <a:avLst/>
            </a:prstGeom>
            <a:solidFill>
              <a:srgbClr val="A8351D"/>
            </a:solidFill>
            <a:ln>
              <a:noFill/>
            </a:ln>
          </p:spPr>
        </p:sp>
        <p:grpSp>
          <p:nvGrpSpPr>
            <p:cNvPr id="281" name="Group 281"/>
            <p:cNvGrpSpPr/>
            <p:nvPr/>
          </p:nvGrpSpPr>
          <p:grpSpPr>
            <a:xfrm>
              <a:off x="9005888" y="5065713"/>
              <a:ext cx="200026" cy="155575"/>
              <a:chOff x="9005888" y="5065713"/>
              <a:chExt cx="200026" cy="155575"/>
            </a:xfrm>
          </p:grpSpPr>
          <p:sp>
            <p:nvSpPr>
              <p:cNvPr id="277" name="Freeform 277"/>
              <p:cNvSpPr/>
              <p:nvPr/>
            </p:nvSpPr>
            <p:spPr>
              <a:xfrm>
                <a:off x="9005888" y="5065713"/>
                <a:ext cx="200026" cy="155575"/>
              </a:xfrm>
              <a:custGeom>
                <a:avLst/>
                <a:gdLst/>
                <a:ahLst/>
                <a:cxnLst/>
                <a:rect l="l" t="t" r="r" b="b"/>
                <a:pathLst>
                  <a:path w="200026" h="155575">
                    <a:moveTo>
                      <a:pt x="0" y="33338"/>
                    </a:moveTo>
                    <a:cubicBezTo>
                      <a:pt x="0" y="14926"/>
                      <a:pt x="14926" y="0"/>
                      <a:pt x="33338" y="0"/>
                    </a:cubicBezTo>
                    <a:lnTo>
                      <a:pt x="166688" y="0"/>
                    </a:lnTo>
                    <a:cubicBezTo>
                      <a:pt x="185100" y="0"/>
                      <a:pt x="200026" y="14926"/>
                      <a:pt x="200026" y="33338"/>
                    </a:cubicBezTo>
                    <a:lnTo>
                      <a:pt x="200026" y="122238"/>
                    </a:lnTo>
                    <a:cubicBezTo>
                      <a:pt x="200026" y="140650"/>
                      <a:pt x="185100" y="155575"/>
                      <a:pt x="166688" y="155575"/>
                    </a:cubicBezTo>
                    <a:lnTo>
                      <a:pt x="33338" y="155575"/>
                    </a:lnTo>
                    <a:cubicBezTo>
                      <a:pt x="14926" y="155575"/>
                      <a:pt x="0" y="140650"/>
                      <a:pt x="0" y="122238"/>
                    </a:cubicBezTo>
                    <a:lnTo>
                      <a:pt x="0" y="33338"/>
                    </a:lnTo>
                  </a:path>
                </a:pathLst>
              </a:custGeom>
              <a:noFill/>
              <a:ln w="22225">
                <a:solidFill>
                  <a:srgbClr val="FFFFFF"/>
                </a:solidFill>
              </a:ln>
            </p:spPr>
          </p:sp>
          <p:sp>
            <p:nvSpPr>
              <p:cNvPr id="278" name="Freeform 278"/>
              <p:cNvSpPr/>
              <p:nvPr/>
            </p:nvSpPr>
            <p:spPr>
              <a:xfrm>
                <a:off x="9005888" y="5121275"/>
                <a:ext cx="200026" cy="9525"/>
              </a:xfrm>
              <a:custGeom>
                <a:avLst/>
                <a:gdLst/>
                <a:ahLst/>
                <a:cxnLst/>
                <a:rect l="l" t="t" r="r" b="b"/>
                <a:pathLst>
                  <a:path w="200026" h="9525">
                    <a:moveTo>
                      <a:pt x="0" y="0"/>
                    </a:moveTo>
                    <a:lnTo>
                      <a:pt x="200026" y="0"/>
                    </a:lnTo>
                  </a:path>
                </a:pathLst>
              </a:custGeom>
              <a:noFill/>
              <a:ln w="22225">
                <a:solidFill>
                  <a:srgbClr val="FFFFFF"/>
                </a:solidFill>
              </a:ln>
            </p:spPr>
          </p:sp>
          <p:sp>
            <p:nvSpPr>
              <p:cNvPr id="279" name="Freeform 279"/>
              <p:cNvSpPr/>
              <p:nvPr/>
            </p:nvSpPr>
            <p:spPr>
              <a:xfrm>
                <a:off x="9050338" y="5176838"/>
                <a:ext cx="9525" cy="9525"/>
              </a:xfrm>
              <a:custGeom>
                <a:avLst/>
                <a:gdLst/>
                <a:ahLst/>
                <a:cxnLst/>
                <a:rect l="l" t="t" r="r" b="b"/>
                <a:pathLst>
                  <a:path w="9525" h="9525">
                    <a:moveTo>
                      <a:pt x="0" y="0"/>
                    </a:moveTo>
                    <a:lnTo>
                      <a:pt x="111" y="0"/>
                    </a:lnTo>
                  </a:path>
                </a:pathLst>
              </a:custGeom>
              <a:noFill/>
              <a:ln w="22225">
                <a:solidFill>
                  <a:srgbClr val="FFFFFF"/>
                </a:solidFill>
              </a:ln>
            </p:spPr>
          </p:sp>
          <p:sp>
            <p:nvSpPr>
              <p:cNvPr id="280" name="Freeform 280"/>
              <p:cNvSpPr/>
              <p:nvPr/>
            </p:nvSpPr>
            <p:spPr>
              <a:xfrm>
                <a:off x="9094788" y="5176838"/>
                <a:ext cx="22225" cy="9525"/>
              </a:xfrm>
              <a:custGeom>
                <a:avLst/>
                <a:gdLst/>
                <a:ahLst/>
                <a:cxnLst/>
                <a:rect l="l" t="t" r="r" b="b"/>
                <a:pathLst>
                  <a:path w="22225" h="9525">
                    <a:moveTo>
                      <a:pt x="0" y="0"/>
                    </a:moveTo>
                    <a:lnTo>
                      <a:pt x="22225" y="0"/>
                    </a:lnTo>
                  </a:path>
                </a:pathLst>
              </a:custGeom>
              <a:noFill/>
              <a:ln w="22225">
                <a:solidFill>
                  <a:srgbClr val="FFFFFF"/>
                </a:solidFill>
              </a:ln>
            </p:spPr>
          </p:sp>
        </p:grpSp>
        <p:sp>
          <p:nvSpPr>
            <p:cNvPr id="282" name="TextBox 282"/>
            <p:cNvSpPr txBox="1"/>
            <p:nvPr/>
          </p:nvSpPr>
          <p:spPr>
            <a:xfrm>
              <a:off x="8944928" y="5625941"/>
              <a:ext cx="321945" cy="314325"/>
            </a:xfrm>
            <a:prstGeom prst="rect">
              <a:avLst/>
            </a:prstGeom>
            <a:noFill/>
            <a:ln>
              <a:noFill/>
            </a:ln>
          </p:spPr>
          <p:txBody>
            <a:bodyPr wrap="none" lIns="0" tIns="0" rIns="0" bIns="0" anchor="t" anchorCtr="0">
              <a:spAutoFit/>
            </a:bodyPr>
            <a:lstStyle/>
            <a:p>
              <a:pPr algn="ctr">
                <a:lnSpc>
                  <a:spcPts val="1200"/>
                </a:lnSpc>
              </a:pPr>
              <a:r>
                <a:rPr lang="zh-CN" sz="820" b="1" dirty="0">
                  <a:solidFill>
                    <a:srgbClr val="67281B"/>
                  </a:solidFill>
                  <a:latin typeface="+mn-lt"/>
                  <a:ea typeface="+mn-ea"/>
                  <a:cs typeface="+mn-cs"/>
                </a:rPr>
                <a:t>信用卡</a:t>
              </a:r>
              <a:br/>
              <a:r>
                <a:rPr lang="zh-CN" sz="820" b="1" dirty="0">
                  <a:solidFill>
                    <a:srgbClr val="67281B"/>
                  </a:solidFill>
                  <a:latin typeface="+mn-lt"/>
                  <a:ea typeface="+mn-ea"/>
                  <a:cs typeface="+mn-cs"/>
                </a:rPr>
                <a:t>渗透率</a:t>
              </a:r>
            </a:p>
          </p:txBody>
        </p:sp>
        <p:sp>
          <p:nvSpPr>
            <p:cNvPr id="283" name="Rectangle 283"/>
            <p:cNvSpPr/>
            <p:nvPr/>
          </p:nvSpPr>
          <p:spPr>
            <a:xfrm>
              <a:off x="8963025" y="6172200"/>
              <a:ext cx="285750" cy="28575"/>
            </a:xfrm>
            <a:prstGeom prst="rect">
              <a:avLst/>
            </a:prstGeom>
            <a:solidFill>
              <a:srgbClr val="C9462F"/>
            </a:solidFill>
            <a:ln>
              <a:noFill/>
            </a:ln>
          </p:spPr>
        </p:sp>
        <p:sp>
          <p:nvSpPr>
            <p:cNvPr id="284" name="Rectangle 284"/>
            <p:cNvSpPr/>
            <p:nvPr/>
          </p:nvSpPr>
          <p:spPr>
            <a:xfrm>
              <a:off x="9658350" y="4667250"/>
              <a:ext cx="952500" cy="1905000"/>
            </a:xfrm>
            <a:prstGeom prst="roundRect">
              <a:avLst>
                <a:gd name="adj" fmla="val 8000"/>
              </a:avLst>
            </a:prstGeom>
            <a:solidFill>
              <a:srgbClr val="FFFFFF"/>
            </a:solidFill>
            <a:ln w="9525">
              <a:solidFill>
                <a:srgbClr val="C9D8EF"/>
              </a:solidFill>
            </a:ln>
          </p:spPr>
        </p:sp>
        <p:sp>
          <p:nvSpPr>
            <p:cNvPr id="285" name="Ellipse 285"/>
            <p:cNvSpPr/>
            <p:nvPr/>
          </p:nvSpPr>
          <p:spPr>
            <a:xfrm>
              <a:off x="9906000" y="4914900"/>
              <a:ext cx="457200" cy="457200"/>
            </a:xfrm>
            <a:prstGeom prst="ellipse">
              <a:avLst/>
            </a:prstGeom>
            <a:solidFill>
              <a:srgbClr val="C9462F"/>
            </a:solidFill>
            <a:ln>
              <a:noFill/>
            </a:ln>
          </p:spPr>
        </p:sp>
        <p:grpSp>
          <p:nvGrpSpPr>
            <p:cNvPr id="291" name="Group 291"/>
            <p:cNvGrpSpPr/>
            <p:nvPr/>
          </p:nvGrpSpPr>
          <p:grpSpPr>
            <a:xfrm>
              <a:off x="10034588" y="5041999"/>
              <a:ext cx="200025" cy="201514"/>
              <a:chOff x="10034588" y="5041999"/>
              <a:chExt cx="200025" cy="201514"/>
            </a:xfrm>
          </p:grpSpPr>
          <p:sp>
            <p:nvSpPr>
              <p:cNvPr id="286" name="Freeform 286"/>
              <p:cNvSpPr/>
              <p:nvPr/>
            </p:nvSpPr>
            <p:spPr>
              <a:xfrm>
                <a:off x="10101263" y="5132388"/>
                <a:ext cx="133350" cy="66675"/>
              </a:xfrm>
              <a:custGeom>
                <a:avLst/>
                <a:gdLst/>
                <a:ahLst/>
                <a:cxnLst/>
                <a:rect l="l" t="t" r="r" b="b"/>
                <a:pathLst>
                  <a:path w="133350" h="66675">
                    <a:moveTo>
                      <a:pt x="0" y="33338"/>
                    </a:moveTo>
                    <a:cubicBezTo>
                      <a:pt x="0" y="51751"/>
                      <a:pt x="29848" y="66675"/>
                      <a:pt x="66675" y="66675"/>
                    </a:cubicBezTo>
                    <a:cubicBezTo>
                      <a:pt x="103502" y="66675"/>
                      <a:pt x="133350" y="51751"/>
                      <a:pt x="133350" y="33338"/>
                    </a:cubicBezTo>
                    <a:cubicBezTo>
                      <a:pt x="133350" y="14924"/>
                      <a:pt x="103502" y="0"/>
                      <a:pt x="66675" y="0"/>
                    </a:cubicBezTo>
                    <a:cubicBezTo>
                      <a:pt x="29848" y="0"/>
                      <a:pt x="0" y="14924"/>
                      <a:pt x="0" y="33338"/>
                    </a:cubicBezTo>
                  </a:path>
                </a:pathLst>
              </a:custGeom>
              <a:noFill/>
              <a:ln w="22225">
                <a:solidFill>
                  <a:srgbClr val="FFFFFF"/>
                </a:solidFill>
              </a:ln>
            </p:spPr>
          </p:sp>
          <p:sp>
            <p:nvSpPr>
              <p:cNvPr id="287" name="Freeform 287"/>
              <p:cNvSpPr/>
              <p:nvPr/>
            </p:nvSpPr>
            <p:spPr>
              <a:xfrm>
                <a:off x="10101263" y="5165725"/>
                <a:ext cx="133350" cy="77788"/>
              </a:xfrm>
              <a:custGeom>
                <a:avLst/>
                <a:gdLst/>
                <a:ahLst/>
                <a:cxnLst/>
                <a:rect l="l" t="t" r="r" b="b"/>
                <a:pathLst>
                  <a:path w="133350" h="77788">
                    <a:moveTo>
                      <a:pt x="0" y="0"/>
                    </a:moveTo>
                    <a:lnTo>
                      <a:pt x="0" y="44450"/>
                    </a:lnTo>
                    <a:cubicBezTo>
                      <a:pt x="0" y="62852"/>
                      <a:pt x="29848" y="77788"/>
                      <a:pt x="66675" y="77788"/>
                    </a:cubicBezTo>
                    <a:cubicBezTo>
                      <a:pt x="103502" y="77788"/>
                      <a:pt x="133350" y="62852"/>
                      <a:pt x="133350" y="44450"/>
                    </a:cubicBezTo>
                    <a:lnTo>
                      <a:pt x="133350" y="0"/>
                    </a:lnTo>
                  </a:path>
                </a:pathLst>
              </a:custGeom>
              <a:noFill/>
              <a:ln w="22225">
                <a:solidFill>
                  <a:srgbClr val="FFFFFF"/>
                </a:solidFill>
              </a:ln>
            </p:spPr>
          </p:sp>
          <p:sp>
            <p:nvSpPr>
              <p:cNvPr id="288" name="Freeform 288"/>
              <p:cNvSpPr/>
              <p:nvPr/>
            </p:nvSpPr>
            <p:spPr>
              <a:xfrm>
                <a:off x="10034588" y="5041999"/>
                <a:ext cx="133350" cy="69653"/>
              </a:xfrm>
              <a:custGeom>
                <a:avLst/>
                <a:gdLst/>
                <a:ahLst/>
                <a:cxnLst/>
                <a:rect l="l" t="t" r="r" b="b"/>
                <a:pathLst>
                  <a:path w="133350" h="69653">
                    <a:moveTo>
                      <a:pt x="0" y="34827"/>
                    </a:moveTo>
                    <a:cubicBezTo>
                      <a:pt x="0" y="46739"/>
                      <a:pt x="12713" y="57741"/>
                      <a:pt x="33338" y="63697"/>
                    </a:cubicBezTo>
                    <a:cubicBezTo>
                      <a:pt x="53962" y="69653"/>
                      <a:pt x="79388" y="69653"/>
                      <a:pt x="100013" y="63697"/>
                    </a:cubicBezTo>
                    <a:cubicBezTo>
                      <a:pt x="120638" y="57741"/>
                      <a:pt x="133350" y="46739"/>
                      <a:pt x="133350" y="34827"/>
                    </a:cubicBezTo>
                    <a:cubicBezTo>
                      <a:pt x="133350" y="22914"/>
                      <a:pt x="120638" y="11913"/>
                      <a:pt x="100013" y="5956"/>
                    </a:cubicBezTo>
                    <a:cubicBezTo>
                      <a:pt x="79388" y="0"/>
                      <a:pt x="53962" y="0"/>
                      <a:pt x="33338" y="5956"/>
                    </a:cubicBezTo>
                    <a:cubicBezTo>
                      <a:pt x="12713" y="11913"/>
                      <a:pt x="0" y="22914"/>
                      <a:pt x="0" y="34827"/>
                    </a:cubicBezTo>
                  </a:path>
                </a:pathLst>
              </a:custGeom>
              <a:noFill/>
              <a:ln w="22225">
                <a:solidFill>
                  <a:srgbClr val="FFFFFF"/>
                </a:solidFill>
              </a:ln>
            </p:spPr>
          </p:sp>
          <p:sp>
            <p:nvSpPr>
              <p:cNvPr id="289" name="Freeform 289"/>
              <p:cNvSpPr/>
              <p:nvPr/>
            </p:nvSpPr>
            <p:spPr>
              <a:xfrm>
                <a:off x="10034588" y="5076825"/>
                <a:ext cx="22225" cy="133350"/>
              </a:xfrm>
              <a:custGeom>
                <a:avLst/>
                <a:gdLst/>
                <a:ahLst/>
                <a:cxnLst/>
                <a:rect l="l" t="t" r="r" b="b"/>
                <a:pathLst>
                  <a:path w="22225" h="133350">
                    <a:moveTo>
                      <a:pt x="0" y="0"/>
                    </a:moveTo>
                    <a:lnTo>
                      <a:pt x="0" y="111125"/>
                    </a:lnTo>
                    <a:cubicBezTo>
                      <a:pt x="0" y="120993"/>
                      <a:pt x="8579" y="127238"/>
                      <a:pt x="22225" y="133350"/>
                    </a:cubicBezTo>
                  </a:path>
                </a:pathLst>
              </a:custGeom>
              <a:noFill/>
              <a:ln w="22225">
                <a:solidFill>
                  <a:srgbClr val="FFFFFF"/>
                </a:solidFill>
              </a:ln>
            </p:spPr>
          </p:sp>
          <p:sp>
            <p:nvSpPr>
              <p:cNvPr id="290" name="Freeform 290"/>
              <p:cNvSpPr/>
              <p:nvPr/>
            </p:nvSpPr>
            <p:spPr>
              <a:xfrm>
                <a:off x="10034588" y="5132388"/>
                <a:ext cx="22225" cy="22225"/>
              </a:xfrm>
              <a:custGeom>
                <a:avLst/>
                <a:gdLst/>
                <a:ahLst/>
                <a:cxnLst/>
                <a:rect l="l" t="t" r="r" b="b"/>
                <a:pathLst>
                  <a:path w="22225" h="22225">
                    <a:moveTo>
                      <a:pt x="0" y="0"/>
                    </a:moveTo>
                    <a:cubicBezTo>
                      <a:pt x="0" y="9868"/>
                      <a:pt x="8579" y="16113"/>
                      <a:pt x="22225" y="22225"/>
                    </a:cubicBezTo>
                  </a:path>
                </a:pathLst>
              </a:custGeom>
              <a:noFill/>
              <a:ln w="22225">
                <a:solidFill>
                  <a:srgbClr val="FFFFFF"/>
                </a:solidFill>
              </a:ln>
            </p:spPr>
          </p:sp>
        </p:grpSp>
        <p:sp>
          <p:nvSpPr>
            <p:cNvPr id="292" name="TextBox 292"/>
            <p:cNvSpPr txBox="1"/>
            <p:nvPr/>
          </p:nvSpPr>
          <p:spPr>
            <a:xfrm>
              <a:off x="9838808" y="5625941"/>
              <a:ext cx="591584"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户均AUM​​</a:t>
              </a:r>
            </a:p>
          </p:txBody>
        </p:sp>
        <p:sp>
          <p:nvSpPr>
            <p:cNvPr id="293" name="Rectangle 293"/>
            <p:cNvSpPr/>
            <p:nvPr/>
          </p:nvSpPr>
          <p:spPr>
            <a:xfrm>
              <a:off x="9991725" y="6172200"/>
              <a:ext cx="285750" cy="28575"/>
            </a:xfrm>
            <a:prstGeom prst="rect">
              <a:avLst/>
            </a:prstGeom>
            <a:solidFill>
              <a:srgbClr val="C9462F"/>
            </a:solidFill>
            <a:ln>
              <a:noFill/>
            </a:ln>
          </p:spPr>
        </p:sp>
        <p:sp>
          <p:nvSpPr>
            <p:cNvPr id="294" name="Rectangle 294"/>
            <p:cNvSpPr/>
            <p:nvPr/>
          </p:nvSpPr>
          <p:spPr>
            <a:xfrm>
              <a:off x="10687050" y="4667250"/>
              <a:ext cx="952500" cy="1905000"/>
            </a:xfrm>
            <a:prstGeom prst="roundRect">
              <a:avLst>
                <a:gd name="adj" fmla="val 8000"/>
              </a:avLst>
            </a:prstGeom>
            <a:solidFill>
              <a:srgbClr val="FFFFFF"/>
            </a:solidFill>
            <a:ln w="9525">
              <a:solidFill>
                <a:srgbClr val="C9D8EF"/>
              </a:solidFill>
            </a:ln>
          </p:spPr>
        </p:sp>
        <p:sp>
          <p:nvSpPr>
            <p:cNvPr id="295" name="Ellipse 295"/>
            <p:cNvSpPr/>
            <p:nvPr/>
          </p:nvSpPr>
          <p:spPr>
            <a:xfrm>
              <a:off x="10934700" y="4914900"/>
              <a:ext cx="457200" cy="457200"/>
            </a:xfrm>
            <a:prstGeom prst="ellipse">
              <a:avLst/>
            </a:prstGeom>
            <a:solidFill>
              <a:srgbClr val="A8351D"/>
            </a:solidFill>
            <a:ln>
              <a:noFill/>
            </a:ln>
          </p:spPr>
        </p:sp>
        <p:sp>
          <p:nvSpPr>
            <p:cNvPr id="296" name="Freeform 296"/>
            <p:cNvSpPr/>
            <p:nvPr/>
          </p:nvSpPr>
          <p:spPr>
            <a:xfrm>
              <a:off x="11051908" y="5045988"/>
              <a:ext cx="221851" cy="196658"/>
            </a:xfrm>
            <a:custGeom>
              <a:avLst/>
              <a:gdLst/>
              <a:ahLst/>
              <a:cxnLst/>
              <a:rect l="l" t="t" r="r" b="b"/>
              <a:pathLst>
                <a:path w="221851" h="196658">
                  <a:moveTo>
                    <a:pt x="11379" y="186413"/>
                  </a:moveTo>
                  <a:lnTo>
                    <a:pt x="25826" y="143074"/>
                  </a:lnTo>
                  <a:cubicBezTo>
                    <a:pt x="0" y="104880"/>
                    <a:pt x="9979" y="55596"/>
                    <a:pt x="49162" y="27792"/>
                  </a:cubicBezTo>
                  <a:cubicBezTo>
                    <a:pt x="88345" y="0"/>
                    <a:pt x="144618" y="2278"/>
                    <a:pt x="180790" y="33126"/>
                  </a:cubicBezTo>
                  <a:cubicBezTo>
                    <a:pt x="216961" y="63986"/>
                    <a:pt x="221851" y="113870"/>
                    <a:pt x="192225" y="149819"/>
                  </a:cubicBezTo>
                  <a:cubicBezTo>
                    <a:pt x="162599" y="185768"/>
                    <a:pt x="107603" y="196658"/>
                    <a:pt x="63608" y="175300"/>
                  </a:cubicBezTo>
                  <a:lnTo>
                    <a:pt x="11379" y="186413"/>
                  </a:lnTo>
                </a:path>
              </a:pathLst>
            </a:custGeom>
            <a:noFill/>
            <a:ln w="22225">
              <a:solidFill>
                <a:srgbClr val="FFFFFF"/>
              </a:solidFill>
            </a:ln>
          </p:spPr>
        </p:sp>
        <p:sp>
          <p:nvSpPr>
            <p:cNvPr id="297" name="TextBox 297"/>
            <p:cNvSpPr txBox="1"/>
            <p:nvPr/>
          </p:nvSpPr>
          <p:spPr>
            <a:xfrm>
              <a:off x="10882566" y="5625941"/>
              <a:ext cx="561467"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客户投诉率</a:t>
              </a:r>
            </a:p>
          </p:txBody>
        </p:sp>
        <p:sp>
          <p:nvSpPr>
            <p:cNvPr id="298" name="Rectangle 298"/>
            <p:cNvSpPr/>
            <p:nvPr/>
          </p:nvSpPr>
          <p:spPr>
            <a:xfrm>
              <a:off x="11020425" y="6172200"/>
              <a:ext cx="285750" cy="28575"/>
            </a:xfrm>
            <a:prstGeom prst="rect">
              <a:avLst/>
            </a:prstGeom>
            <a:solidFill>
              <a:srgbClr val="C9462F"/>
            </a:solidFill>
            <a:ln>
              <a:noFill/>
            </a:ln>
          </p:spPr>
        </p:sp>
      </p:gr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10</a:t>
              </a:r>
            </a:p>
          </p:txBody>
        </p:sp>
        <p:sp>
          <p:nvSpPr>
            <p:cNvPr id="4" name="TextBox 4"/>
            <p:cNvSpPr txBox="1"/>
            <p:nvPr/>
          </p:nvSpPr>
          <p:spPr>
            <a:xfrm>
              <a:off x="904494" y="170498"/>
              <a:ext cx="6676644"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产业链联动｜由一家核心企业拓展一条产业链客户生态</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18" name="top-note"/>
          <p:cNvGrpSpPr/>
          <p:nvPr/>
        </p:nvGrpSpPr>
        <p:grpSpPr>
          <a:xfrm>
            <a:off x="3905250" y="666750"/>
            <a:ext cx="4381500" cy="285750"/>
            <a:chOff x="3905250" y="666750"/>
            <a:chExt cx="4381500" cy="285750"/>
          </a:xfrm>
        </p:grpSpPr>
        <p:sp>
          <p:nvSpPr>
            <p:cNvPr id="7" name="Rectangle 7"/>
            <p:cNvSpPr/>
            <p:nvPr/>
          </p:nvSpPr>
          <p:spPr>
            <a:xfrm>
              <a:off x="3905250" y="666750"/>
              <a:ext cx="4381500" cy="285750"/>
            </a:xfrm>
            <a:prstGeom prst="roundRect">
              <a:avLst>
                <a:gd name="adj" fmla="val 20000"/>
              </a:avLst>
            </a:prstGeom>
            <a:solidFill>
              <a:srgbClr val="F7FAFE"/>
            </a:solidFill>
            <a:ln w="9525">
              <a:solidFill>
                <a:srgbClr val="E5907F"/>
              </a:solidFill>
            </a:ln>
          </p:spPr>
        </p:sp>
        <p:grpSp>
          <p:nvGrpSpPr>
            <p:cNvPr id="16" name="Group 16"/>
            <p:cNvGrpSpPr/>
            <p:nvPr/>
          </p:nvGrpSpPr>
          <p:grpSpPr>
            <a:xfrm>
              <a:off x="4060031" y="745331"/>
              <a:ext cx="128588" cy="138113"/>
              <a:chOff x="4060031" y="745331"/>
              <a:chExt cx="128588" cy="138113"/>
            </a:xfrm>
          </p:grpSpPr>
          <p:sp>
            <p:nvSpPr>
              <p:cNvPr id="8" name="Freeform 8"/>
              <p:cNvSpPr/>
              <p:nvPr/>
            </p:nvSpPr>
            <p:spPr>
              <a:xfrm>
                <a:off x="4060031" y="873919"/>
                <a:ext cx="128588" cy="9525"/>
              </a:xfrm>
              <a:custGeom>
                <a:avLst/>
                <a:gdLst/>
                <a:ahLst/>
                <a:cxnLst/>
                <a:rect l="l" t="t" r="r" b="b"/>
                <a:pathLst>
                  <a:path w="128588" h="9525">
                    <a:moveTo>
                      <a:pt x="0" y="0"/>
                    </a:moveTo>
                    <a:lnTo>
                      <a:pt x="128588" y="0"/>
                    </a:lnTo>
                  </a:path>
                </a:pathLst>
              </a:custGeom>
              <a:noFill/>
              <a:ln w="14288">
                <a:solidFill>
                  <a:srgbClr val="A8351D"/>
                </a:solidFill>
              </a:ln>
            </p:spPr>
          </p:sp>
          <p:sp>
            <p:nvSpPr>
              <p:cNvPr id="9" name="Freeform 9"/>
              <p:cNvSpPr/>
              <p:nvPr/>
            </p:nvSpPr>
            <p:spPr>
              <a:xfrm>
                <a:off x="4102894" y="781050"/>
                <a:ext cx="9525" cy="9525"/>
              </a:xfrm>
              <a:custGeom>
                <a:avLst/>
                <a:gdLst/>
                <a:ahLst/>
                <a:cxnLst/>
                <a:rect l="l" t="t" r="r" b="b"/>
                <a:pathLst>
                  <a:path w="9525" h="9525">
                    <a:moveTo>
                      <a:pt x="0" y="0"/>
                    </a:moveTo>
                    <a:lnTo>
                      <a:pt x="7144" y="0"/>
                    </a:lnTo>
                  </a:path>
                </a:pathLst>
              </a:custGeom>
              <a:noFill/>
              <a:ln w="14288">
                <a:solidFill>
                  <a:srgbClr val="A8351D"/>
                </a:solidFill>
              </a:ln>
            </p:spPr>
          </p:sp>
          <p:sp>
            <p:nvSpPr>
              <p:cNvPr id="10" name="Freeform 10"/>
              <p:cNvSpPr/>
              <p:nvPr/>
            </p:nvSpPr>
            <p:spPr>
              <a:xfrm>
                <a:off x="4102894" y="809625"/>
                <a:ext cx="9525" cy="9525"/>
              </a:xfrm>
              <a:custGeom>
                <a:avLst/>
                <a:gdLst/>
                <a:ahLst/>
                <a:cxnLst/>
                <a:rect l="l" t="t" r="r" b="b"/>
                <a:pathLst>
                  <a:path w="9525" h="9525">
                    <a:moveTo>
                      <a:pt x="0" y="0"/>
                    </a:moveTo>
                    <a:lnTo>
                      <a:pt x="7144" y="0"/>
                    </a:lnTo>
                  </a:path>
                </a:pathLst>
              </a:custGeom>
              <a:noFill/>
              <a:ln w="14288">
                <a:solidFill>
                  <a:srgbClr val="A8351D"/>
                </a:solidFill>
              </a:ln>
            </p:spPr>
          </p:sp>
          <p:sp>
            <p:nvSpPr>
              <p:cNvPr id="11" name="Freeform 11"/>
              <p:cNvSpPr/>
              <p:nvPr/>
            </p:nvSpPr>
            <p:spPr>
              <a:xfrm>
                <a:off x="4102894" y="838200"/>
                <a:ext cx="9525" cy="9525"/>
              </a:xfrm>
              <a:custGeom>
                <a:avLst/>
                <a:gdLst/>
                <a:ahLst/>
                <a:cxnLst/>
                <a:rect l="l" t="t" r="r" b="b"/>
                <a:pathLst>
                  <a:path w="9525" h="9525">
                    <a:moveTo>
                      <a:pt x="0" y="0"/>
                    </a:moveTo>
                    <a:lnTo>
                      <a:pt x="7144" y="0"/>
                    </a:lnTo>
                  </a:path>
                </a:pathLst>
              </a:custGeom>
              <a:noFill/>
              <a:ln w="14288">
                <a:solidFill>
                  <a:srgbClr val="A8351D"/>
                </a:solidFill>
              </a:ln>
            </p:spPr>
          </p:sp>
          <p:sp>
            <p:nvSpPr>
              <p:cNvPr id="12" name="Freeform 12"/>
              <p:cNvSpPr/>
              <p:nvPr/>
            </p:nvSpPr>
            <p:spPr>
              <a:xfrm>
                <a:off x="4138612" y="781050"/>
                <a:ext cx="9525" cy="9525"/>
              </a:xfrm>
              <a:custGeom>
                <a:avLst/>
                <a:gdLst/>
                <a:ahLst/>
                <a:cxnLst/>
                <a:rect l="l" t="t" r="r" b="b"/>
                <a:pathLst>
                  <a:path w="9525" h="9525">
                    <a:moveTo>
                      <a:pt x="0" y="0"/>
                    </a:moveTo>
                    <a:lnTo>
                      <a:pt x="7144" y="0"/>
                    </a:lnTo>
                  </a:path>
                </a:pathLst>
              </a:custGeom>
              <a:noFill/>
              <a:ln w="14288">
                <a:solidFill>
                  <a:srgbClr val="A8351D"/>
                </a:solidFill>
              </a:ln>
            </p:spPr>
          </p:sp>
          <p:sp>
            <p:nvSpPr>
              <p:cNvPr id="13" name="Freeform 13"/>
              <p:cNvSpPr/>
              <p:nvPr/>
            </p:nvSpPr>
            <p:spPr>
              <a:xfrm>
                <a:off x="4138612" y="809625"/>
                <a:ext cx="9525" cy="9525"/>
              </a:xfrm>
              <a:custGeom>
                <a:avLst/>
                <a:gdLst/>
                <a:ahLst/>
                <a:cxnLst/>
                <a:rect l="l" t="t" r="r" b="b"/>
                <a:pathLst>
                  <a:path w="9525" h="9525">
                    <a:moveTo>
                      <a:pt x="0" y="0"/>
                    </a:moveTo>
                    <a:lnTo>
                      <a:pt x="7144" y="0"/>
                    </a:lnTo>
                  </a:path>
                </a:pathLst>
              </a:custGeom>
              <a:noFill/>
              <a:ln w="14288">
                <a:solidFill>
                  <a:srgbClr val="A8351D"/>
                </a:solidFill>
              </a:ln>
            </p:spPr>
          </p:sp>
          <p:sp>
            <p:nvSpPr>
              <p:cNvPr id="14" name="Freeform 14"/>
              <p:cNvSpPr/>
              <p:nvPr/>
            </p:nvSpPr>
            <p:spPr>
              <a:xfrm>
                <a:off x="4138612" y="838200"/>
                <a:ext cx="9525" cy="9525"/>
              </a:xfrm>
              <a:custGeom>
                <a:avLst/>
                <a:gdLst/>
                <a:ahLst/>
                <a:cxnLst/>
                <a:rect l="l" t="t" r="r" b="b"/>
                <a:pathLst>
                  <a:path w="9525" h="9525">
                    <a:moveTo>
                      <a:pt x="0" y="0"/>
                    </a:moveTo>
                    <a:lnTo>
                      <a:pt x="7144" y="0"/>
                    </a:lnTo>
                  </a:path>
                </a:pathLst>
              </a:custGeom>
              <a:noFill/>
              <a:ln w="14288">
                <a:solidFill>
                  <a:srgbClr val="A8351D"/>
                </a:solidFill>
              </a:ln>
            </p:spPr>
          </p:sp>
          <p:sp>
            <p:nvSpPr>
              <p:cNvPr id="15" name="Freeform 15"/>
              <p:cNvSpPr/>
              <p:nvPr/>
            </p:nvSpPr>
            <p:spPr>
              <a:xfrm>
                <a:off x="4074319" y="745331"/>
                <a:ext cx="100012" cy="128588"/>
              </a:xfrm>
              <a:custGeom>
                <a:avLst/>
                <a:gdLst/>
                <a:ahLst/>
                <a:cxnLst/>
                <a:rect l="l" t="t" r="r" b="b"/>
                <a:pathLst>
                  <a:path w="100012" h="128588">
                    <a:moveTo>
                      <a:pt x="0" y="128588"/>
                    </a:moveTo>
                    <a:lnTo>
                      <a:pt x="0" y="14288"/>
                    </a:lnTo>
                    <a:cubicBezTo>
                      <a:pt x="0" y="6397"/>
                      <a:pt x="6397" y="0"/>
                      <a:pt x="14288" y="0"/>
                    </a:cubicBezTo>
                    <a:lnTo>
                      <a:pt x="85725" y="0"/>
                    </a:lnTo>
                    <a:cubicBezTo>
                      <a:pt x="93616" y="0"/>
                      <a:pt x="100012" y="6397"/>
                      <a:pt x="100012" y="14288"/>
                    </a:cubicBezTo>
                    <a:lnTo>
                      <a:pt x="100012" y="128588"/>
                    </a:lnTo>
                  </a:path>
                </a:pathLst>
              </a:custGeom>
              <a:noFill/>
              <a:ln w="14288">
                <a:solidFill>
                  <a:srgbClr val="A8351D"/>
                </a:solidFill>
              </a:ln>
            </p:spPr>
          </p:sp>
        </p:grpSp>
        <p:sp>
          <p:nvSpPr>
            <p:cNvPr id="17" name="TextBox 17"/>
            <p:cNvSpPr txBox="1"/>
            <p:nvPr/>
          </p:nvSpPr>
          <p:spPr>
            <a:xfrm>
              <a:off x="4281297" y="751999"/>
              <a:ext cx="2780386"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核心企业连接供应商、经销商、物流商、服务商</a:t>
              </a:r>
            </a:p>
          </p:txBody>
        </p:sp>
      </p:grpSp>
      <p:grpSp>
        <p:nvGrpSpPr>
          <p:cNvPr id="198" name="chain-diagram"/>
          <p:cNvGrpSpPr/>
          <p:nvPr/>
        </p:nvGrpSpPr>
        <p:grpSpPr>
          <a:xfrm>
            <a:off x="381000" y="1104900"/>
            <a:ext cx="11430000" cy="2724150"/>
            <a:chOff x="381000" y="1104900"/>
            <a:chExt cx="11430000" cy="2724150"/>
          </a:xfrm>
        </p:grpSpPr>
        <p:sp>
          <p:nvSpPr>
            <p:cNvPr id="19" name="Line 19"/>
            <p:cNvSpPr/>
            <p:nvPr/>
          </p:nvSpPr>
          <p:spPr>
            <a:xfrm>
              <a:off x="5334000" y="1257300"/>
              <a:ext cx="285750" cy="9525"/>
            </a:xfrm>
            <a:custGeom>
              <a:avLst/>
              <a:gdLst/>
              <a:ahLst/>
              <a:cxnLst/>
              <a:rect l="l" t="t" r="r" b="b"/>
              <a:pathLst>
                <a:path w="285750" h="9525">
                  <a:moveTo>
                    <a:pt x="0" y="0"/>
                  </a:moveTo>
                  <a:lnTo>
                    <a:pt x="285750" y="0"/>
                  </a:lnTo>
                </a:path>
              </a:pathLst>
            </a:custGeom>
            <a:noFill/>
            <a:ln w="19050">
              <a:solidFill>
                <a:srgbClr val="D64A2E"/>
              </a:solidFill>
            </a:ln>
          </p:spPr>
        </p:sp>
        <p:sp>
          <p:nvSpPr>
            <p:cNvPr id="20" name="TextBox 20"/>
            <p:cNvSpPr txBox="1"/>
            <p:nvPr/>
          </p:nvSpPr>
          <p:spPr>
            <a:xfrm>
              <a:off x="5672138" y="1214438"/>
              <a:ext cx="312420" cy="147638"/>
            </a:xfrm>
            <a:prstGeom prst="rect">
              <a:avLst/>
            </a:prstGeom>
            <a:noFill/>
            <a:ln>
              <a:noFill/>
            </a:ln>
          </p:spPr>
          <p:txBody>
            <a:bodyPr wrap="none" lIns="0" tIns="0" rIns="0" bIns="0" anchor="t" anchorCtr="0">
              <a:spAutoFit/>
            </a:bodyPr>
            <a:lstStyle/>
            <a:p>
              <a:pPr algn="l"/>
              <a:r>
                <a:rPr lang="zh-CN" sz="750" dirty="0">
                  <a:solidFill>
                    <a:srgbClr val="5A443F"/>
                  </a:solidFill>
                  <a:latin typeface="+mn-lt"/>
                  <a:ea typeface="+mn-ea"/>
                  <a:cs typeface="+mn-cs"/>
                </a:rPr>
                <a:t>交易流</a:t>
              </a:r>
            </a:p>
          </p:txBody>
        </p:sp>
        <p:sp>
          <p:nvSpPr>
            <p:cNvPr id="21" name="Line 21"/>
            <p:cNvSpPr/>
            <p:nvPr/>
          </p:nvSpPr>
          <p:spPr>
            <a:xfrm>
              <a:off x="6191250" y="1257300"/>
              <a:ext cx="285750" cy="9525"/>
            </a:xfrm>
            <a:custGeom>
              <a:avLst/>
              <a:gdLst/>
              <a:ahLst/>
              <a:cxnLst/>
              <a:rect l="l" t="t" r="r" b="b"/>
              <a:pathLst>
                <a:path w="285750" h="9525">
                  <a:moveTo>
                    <a:pt x="0" y="0"/>
                  </a:moveTo>
                  <a:lnTo>
                    <a:pt x="285750" y="0"/>
                  </a:lnTo>
                </a:path>
              </a:pathLst>
            </a:custGeom>
            <a:noFill/>
            <a:ln w="19050">
              <a:solidFill>
                <a:srgbClr val="A5280F"/>
              </a:solidFill>
              <a:custDash>
                <a:ds d="250000" sp="150000"/>
              </a:custDash>
            </a:ln>
          </p:spPr>
        </p:sp>
        <p:sp>
          <p:nvSpPr>
            <p:cNvPr id="22" name="TextBox 22"/>
            <p:cNvSpPr txBox="1"/>
            <p:nvPr/>
          </p:nvSpPr>
          <p:spPr>
            <a:xfrm>
              <a:off x="6529388" y="1214438"/>
              <a:ext cx="312420" cy="147638"/>
            </a:xfrm>
            <a:prstGeom prst="rect">
              <a:avLst/>
            </a:prstGeom>
            <a:noFill/>
            <a:ln>
              <a:noFill/>
            </a:ln>
          </p:spPr>
          <p:txBody>
            <a:bodyPr wrap="none" lIns="0" tIns="0" rIns="0" bIns="0" anchor="t" anchorCtr="0">
              <a:spAutoFit/>
            </a:bodyPr>
            <a:lstStyle/>
            <a:p>
              <a:pPr algn="l"/>
              <a:r>
                <a:rPr lang="zh-CN" sz="750" dirty="0">
                  <a:solidFill>
                    <a:srgbClr val="5A443F"/>
                  </a:solidFill>
                  <a:latin typeface="+mn-lt"/>
                  <a:ea typeface="+mn-ea"/>
                  <a:cs typeface="+mn-cs"/>
                </a:rPr>
                <a:t>资金流</a:t>
              </a:r>
            </a:p>
          </p:txBody>
        </p:sp>
        <p:sp>
          <p:nvSpPr>
            <p:cNvPr id="23" name="Line 23"/>
            <p:cNvSpPr/>
            <p:nvPr/>
          </p:nvSpPr>
          <p:spPr>
            <a:xfrm>
              <a:off x="7048500" y="1257300"/>
              <a:ext cx="285750" cy="9525"/>
            </a:xfrm>
            <a:custGeom>
              <a:avLst/>
              <a:gdLst/>
              <a:ahLst/>
              <a:cxnLst/>
              <a:rect l="l" t="t" r="r" b="b"/>
              <a:pathLst>
                <a:path w="285750" h="9525">
                  <a:moveTo>
                    <a:pt x="0" y="0"/>
                  </a:moveTo>
                  <a:lnTo>
                    <a:pt x="285750" y="0"/>
                  </a:lnTo>
                </a:path>
              </a:pathLst>
            </a:custGeom>
            <a:noFill/>
            <a:ln w="19050">
              <a:solidFill>
                <a:srgbClr val="E8492E"/>
              </a:solidFill>
              <a:custDash>
                <a:ds d="150000" sp="150000"/>
              </a:custDash>
            </a:ln>
          </p:spPr>
        </p:sp>
        <p:sp>
          <p:nvSpPr>
            <p:cNvPr id="24" name="TextBox 24"/>
            <p:cNvSpPr txBox="1"/>
            <p:nvPr/>
          </p:nvSpPr>
          <p:spPr>
            <a:xfrm>
              <a:off x="7386638" y="1214438"/>
              <a:ext cx="514350" cy="147638"/>
            </a:xfrm>
            <a:prstGeom prst="rect">
              <a:avLst/>
            </a:prstGeom>
            <a:noFill/>
            <a:ln>
              <a:noFill/>
            </a:ln>
          </p:spPr>
          <p:txBody>
            <a:bodyPr wrap="none" lIns="0" tIns="0" rIns="0" bIns="0" anchor="t" anchorCtr="0">
              <a:spAutoFit/>
            </a:bodyPr>
            <a:lstStyle/>
            <a:p>
              <a:pPr algn="l"/>
              <a:r>
                <a:rPr lang="zh-CN" sz="750" dirty="0">
                  <a:solidFill>
                    <a:srgbClr val="5A443F"/>
                  </a:solidFill>
                  <a:latin typeface="+mn-lt"/>
                  <a:ea typeface="+mn-ea"/>
                  <a:cs typeface="+mn-cs"/>
                </a:rPr>
                <a:t>员工关系流</a:t>
              </a:r>
            </a:p>
          </p:txBody>
        </p:sp>
        <p:sp>
          <p:nvSpPr>
            <p:cNvPr id="25" name="Rectangle 25"/>
            <p:cNvSpPr/>
            <p:nvPr/>
          </p:nvSpPr>
          <p:spPr>
            <a:xfrm>
              <a:off x="381000" y="1104900"/>
              <a:ext cx="1238250" cy="266700"/>
            </a:xfrm>
            <a:prstGeom prst="roundRect">
              <a:avLst>
                <a:gd name="adj" fmla="val 17857"/>
              </a:avLst>
            </a:prstGeom>
            <a:solidFill>
              <a:srgbClr val="F7FAFE"/>
            </a:solidFill>
            <a:ln w="9525">
              <a:solidFill>
                <a:srgbClr val="C9D8EF"/>
              </a:solidFill>
            </a:ln>
          </p:spPr>
        </p:sp>
        <p:grpSp>
          <p:nvGrpSpPr>
            <p:cNvPr id="29" name="Group 29"/>
            <p:cNvGrpSpPr/>
            <p:nvPr/>
          </p:nvGrpSpPr>
          <p:grpSpPr>
            <a:xfrm>
              <a:off x="490537" y="1188244"/>
              <a:ext cx="89047" cy="105706"/>
              <a:chOff x="490537" y="1188244"/>
              <a:chExt cx="89047" cy="105706"/>
            </a:xfrm>
          </p:grpSpPr>
          <p:sp>
            <p:nvSpPr>
              <p:cNvPr id="26" name="Freeform 26"/>
              <p:cNvSpPr/>
              <p:nvPr/>
            </p:nvSpPr>
            <p:spPr>
              <a:xfrm>
                <a:off x="501650" y="118824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A8351D"/>
                </a:solidFill>
              </a:ln>
            </p:spPr>
          </p:sp>
          <p:sp>
            <p:nvSpPr>
              <p:cNvPr id="27" name="Freeform 27"/>
              <p:cNvSpPr/>
              <p:nvPr/>
            </p:nvSpPr>
            <p:spPr>
              <a:xfrm>
                <a:off x="490537" y="1254919"/>
                <a:ext cx="25003" cy="33337"/>
              </a:xfrm>
              <a:custGeom>
                <a:avLst/>
                <a:gdLst/>
                <a:ahLst/>
                <a:cxnLst/>
                <a:rect l="l" t="t" r="r" b="b"/>
                <a:pathLst>
                  <a:path w="25003" h="33337">
                    <a:moveTo>
                      <a:pt x="0" y="33337"/>
                    </a:moveTo>
                    <a:lnTo>
                      <a:pt x="0" y="22225"/>
                    </a:lnTo>
                    <a:cubicBezTo>
                      <a:pt x="0" y="9950"/>
                      <a:pt x="9950" y="0"/>
                      <a:pt x="22225" y="0"/>
                    </a:cubicBezTo>
                    <a:lnTo>
                      <a:pt x="25003" y="0"/>
                    </a:lnTo>
                  </a:path>
                </a:pathLst>
              </a:custGeom>
              <a:noFill/>
              <a:ln w="11112">
                <a:solidFill>
                  <a:srgbClr val="A8351D"/>
                </a:solidFill>
              </a:ln>
            </p:spPr>
          </p:sp>
          <p:sp>
            <p:nvSpPr>
              <p:cNvPr id="28" name="Freeform 28"/>
              <p:cNvSpPr/>
              <p:nvPr/>
            </p:nvSpPr>
            <p:spPr>
              <a:xfrm>
                <a:off x="532612" y="1249360"/>
                <a:ext cx="46972" cy="44590"/>
              </a:xfrm>
              <a:custGeom>
                <a:avLst/>
                <a:gdLst/>
                <a:ahLst/>
                <a:cxnLst/>
                <a:rect l="l" t="t" r="r" b="b"/>
                <a:pathLst>
                  <a:path w="46972" h="44590">
                    <a:moveTo>
                      <a:pt x="23490" y="37880"/>
                    </a:moveTo>
                    <a:lnTo>
                      <a:pt x="11421" y="44203"/>
                    </a:lnTo>
                    <a:cubicBezTo>
                      <a:pt x="10691" y="44583"/>
                      <a:pt x="9809" y="44518"/>
                      <a:pt x="9141" y="44037"/>
                    </a:cubicBezTo>
                    <a:cubicBezTo>
                      <a:pt x="8473" y="43555"/>
                      <a:pt x="8135" y="42737"/>
                      <a:pt x="8266" y="41924"/>
                    </a:cubicBezTo>
                    <a:lnTo>
                      <a:pt x="10571" y="28528"/>
                    </a:lnTo>
                    <a:lnTo>
                      <a:pt x="809" y="19044"/>
                    </a:lnTo>
                    <a:cubicBezTo>
                      <a:pt x="214" y="18469"/>
                      <a:pt x="0" y="17605"/>
                      <a:pt x="257" y="16819"/>
                    </a:cubicBezTo>
                    <a:cubicBezTo>
                      <a:pt x="513" y="16033"/>
                      <a:pt x="1196" y="15462"/>
                      <a:pt x="2015" y="15349"/>
                    </a:cubicBezTo>
                    <a:lnTo>
                      <a:pt x="15505" y="13393"/>
                    </a:lnTo>
                    <a:lnTo>
                      <a:pt x="21539" y="1208"/>
                    </a:lnTo>
                    <a:cubicBezTo>
                      <a:pt x="21907" y="468"/>
                      <a:pt x="22663" y="0"/>
                      <a:pt x="23490" y="0"/>
                    </a:cubicBezTo>
                    <a:cubicBezTo>
                      <a:pt x="24316" y="0"/>
                      <a:pt x="25072" y="468"/>
                      <a:pt x="25440" y="1208"/>
                    </a:cubicBezTo>
                    <a:lnTo>
                      <a:pt x="31474" y="13393"/>
                    </a:lnTo>
                    <a:lnTo>
                      <a:pt x="44965" y="15349"/>
                    </a:lnTo>
                    <a:cubicBezTo>
                      <a:pt x="45781" y="15466"/>
                      <a:pt x="46460" y="16037"/>
                      <a:pt x="46716" y="16822"/>
                    </a:cubicBezTo>
                    <a:cubicBezTo>
                      <a:pt x="46972" y="17606"/>
                      <a:pt x="46760" y="18467"/>
                      <a:pt x="46170" y="19044"/>
                    </a:cubicBezTo>
                    <a:lnTo>
                      <a:pt x="36408" y="28528"/>
                    </a:lnTo>
                    <a:lnTo>
                      <a:pt x="38708" y="41919"/>
                    </a:lnTo>
                    <a:cubicBezTo>
                      <a:pt x="38849" y="42734"/>
                      <a:pt x="38514" y="43557"/>
                      <a:pt x="37845" y="44043"/>
                    </a:cubicBezTo>
                    <a:cubicBezTo>
                      <a:pt x="37175" y="44528"/>
                      <a:pt x="36288" y="44590"/>
                      <a:pt x="35558" y="44203"/>
                    </a:cubicBezTo>
                    <a:lnTo>
                      <a:pt x="23490" y="37880"/>
                    </a:lnTo>
                  </a:path>
                </a:pathLst>
              </a:custGeom>
              <a:noFill/>
              <a:ln w="11112">
                <a:solidFill>
                  <a:srgbClr val="A8351D"/>
                </a:solidFill>
              </a:ln>
            </p:spPr>
          </p:sp>
        </p:grpSp>
        <p:sp>
          <p:nvSpPr>
            <p:cNvPr id="30" name="TextBox 30"/>
            <p:cNvSpPr txBox="1"/>
            <p:nvPr/>
          </p:nvSpPr>
          <p:spPr>
            <a:xfrm>
              <a:off x="642938" y="1191339"/>
              <a:ext cx="5412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小微企业主</a:t>
              </a:r>
            </a:p>
          </p:txBody>
        </p:sp>
        <p:sp>
          <p:nvSpPr>
            <p:cNvPr id="31" name="Rectangle 31"/>
            <p:cNvSpPr/>
            <p:nvPr/>
          </p:nvSpPr>
          <p:spPr>
            <a:xfrm>
              <a:off x="381000" y="1428750"/>
              <a:ext cx="1238250" cy="266700"/>
            </a:xfrm>
            <a:prstGeom prst="roundRect">
              <a:avLst>
                <a:gd name="adj" fmla="val 17857"/>
              </a:avLst>
            </a:prstGeom>
            <a:solidFill>
              <a:srgbClr val="F7FAFE"/>
            </a:solidFill>
            <a:ln w="9525">
              <a:solidFill>
                <a:srgbClr val="C9D8EF"/>
              </a:solidFill>
            </a:ln>
          </p:spPr>
        </p:sp>
        <p:grpSp>
          <p:nvGrpSpPr>
            <p:cNvPr id="36" name="Group 36"/>
            <p:cNvGrpSpPr/>
            <p:nvPr/>
          </p:nvGrpSpPr>
          <p:grpSpPr>
            <a:xfrm>
              <a:off x="479425" y="1512094"/>
              <a:ext cx="88899" cy="100012"/>
              <a:chOff x="479425" y="1512094"/>
              <a:chExt cx="88899" cy="100012"/>
            </a:xfrm>
          </p:grpSpPr>
          <p:sp>
            <p:nvSpPr>
              <p:cNvPr id="32" name="Freeform 32"/>
              <p:cNvSpPr/>
              <p:nvPr/>
            </p:nvSpPr>
            <p:spPr>
              <a:xfrm>
                <a:off x="479425" y="158988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A8351D"/>
                </a:solidFill>
              </a:ln>
            </p:spPr>
          </p:sp>
          <p:sp>
            <p:nvSpPr>
              <p:cNvPr id="33" name="Freeform 33"/>
              <p:cNvSpPr/>
              <p:nvPr/>
            </p:nvSpPr>
            <p:spPr>
              <a:xfrm>
                <a:off x="540544" y="158988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A8351D"/>
                </a:solidFill>
              </a:ln>
            </p:spPr>
          </p:sp>
          <p:sp>
            <p:nvSpPr>
              <p:cNvPr id="34" name="Freeform 34"/>
              <p:cNvSpPr/>
              <p:nvPr/>
            </p:nvSpPr>
            <p:spPr>
              <a:xfrm>
                <a:off x="479425" y="1512094"/>
                <a:ext cx="72231" cy="77787"/>
              </a:xfrm>
              <a:custGeom>
                <a:avLst/>
                <a:gdLst/>
                <a:ahLst/>
                <a:cxnLst/>
                <a:rect l="l" t="t" r="r" b="b"/>
                <a:pathLst>
                  <a:path w="72231" h="77787">
                    <a:moveTo>
                      <a:pt x="72231" y="77787"/>
                    </a:moveTo>
                    <a:lnTo>
                      <a:pt x="11112" y="77787"/>
                    </a:lnTo>
                    <a:lnTo>
                      <a:pt x="11112" y="0"/>
                    </a:lnTo>
                    <a:lnTo>
                      <a:pt x="0" y="0"/>
                    </a:lnTo>
                  </a:path>
                </a:pathLst>
              </a:custGeom>
              <a:noFill/>
              <a:ln w="11112">
                <a:solidFill>
                  <a:srgbClr val="A8351D"/>
                </a:solidFill>
              </a:ln>
            </p:spPr>
          </p:sp>
          <p:sp>
            <p:nvSpPr>
              <p:cNvPr id="35" name="Freeform 35"/>
              <p:cNvSpPr/>
              <p:nvPr/>
            </p:nvSpPr>
            <p:spPr>
              <a:xfrm>
                <a:off x="490537" y="1523206"/>
                <a:ext cx="77787" cy="44450"/>
              </a:xfrm>
              <a:custGeom>
                <a:avLst/>
                <a:gdLst/>
                <a:ahLst/>
                <a:cxnLst/>
                <a:rect l="l" t="t" r="r" b="b"/>
                <a:pathLst>
                  <a:path w="77787" h="44450">
                    <a:moveTo>
                      <a:pt x="0" y="0"/>
                    </a:moveTo>
                    <a:lnTo>
                      <a:pt x="77787" y="5556"/>
                    </a:lnTo>
                    <a:lnTo>
                      <a:pt x="72231" y="44450"/>
                    </a:lnTo>
                    <a:lnTo>
                      <a:pt x="0" y="44450"/>
                    </a:lnTo>
                  </a:path>
                </a:pathLst>
              </a:custGeom>
              <a:noFill/>
              <a:ln w="11112">
                <a:solidFill>
                  <a:srgbClr val="A8351D"/>
                </a:solidFill>
              </a:ln>
            </p:spPr>
          </p:sp>
        </p:grpSp>
        <p:sp>
          <p:nvSpPr>
            <p:cNvPr id="37" name="TextBox 37"/>
            <p:cNvSpPr txBox="1"/>
            <p:nvPr/>
          </p:nvSpPr>
          <p:spPr>
            <a:xfrm>
              <a:off x="642938" y="1515189"/>
              <a:ext cx="5412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个体经营者</a:t>
              </a:r>
            </a:p>
          </p:txBody>
        </p:sp>
        <p:sp>
          <p:nvSpPr>
            <p:cNvPr id="38" name="Rectangle 38"/>
            <p:cNvSpPr/>
            <p:nvPr/>
          </p:nvSpPr>
          <p:spPr>
            <a:xfrm>
              <a:off x="381000" y="1752600"/>
              <a:ext cx="1238250" cy="266700"/>
            </a:xfrm>
            <a:prstGeom prst="roundRect">
              <a:avLst>
                <a:gd name="adj" fmla="val 17857"/>
              </a:avLst>
            </a:prstGeom>
            <a:solidFill>
              <a:srgbClr val="F7FAFE"/>
            </a:solidFill>
            <a:ln w="9525">
              <a:solidFill>
                <a:srgbClr val="C9D8EF"/>
              </a:solidFill>
            </a:ln>
          </p:spPr>
        </p:sp>
        <p:grpSp>
          <p:nvGrpSpPr>
            <p:cNvPr id="43" name="Group 43"/>
            <p:cNvGrpSpPr/>
            <p:nvPr/>
          </p:nvGrpSpPr>
          <p:grpSpPr>
            <a:xfrm>
              <a:off x="473869" y="1835944"/>
              <a:ext cx="100012" cy="100012"/>
              <a:chOff x="473869" y="1835944"/>
              <a:chExt cx="100012" cy="100012"/>
            </a:xfrm>
          </p:grpSpPr>
          <p:sp>
            <p:nvSpPr>
              <p:cNvPr id="39" name="Freeform 39"/>
              <p:cNvSpPr/>
              <p:nvPr/>
            </p:nvSpPr>
            <p:spPr>
              <a:xfrm>
                <a:off x="484981" y="183594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A8351D"/>
                </a:solidFill>
              </a:ln>
            </p:spPr>
          </p:sp>
          <p:sp>
            <p:nvSpPr>
              <p:cNvPr id="40" name="Freeform 40"/>
              <p:cNvSpPr/>
              <p:nvPr/>
            </p:nvSpPr>
            <p:spPr>
              <a:xfrm>
                <a:off x="473869" y="190261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A8351D"/>
                </a:solidFill>
              </a:ln>
            </p:spPr>
          </p:sp>
          <p:sp>
            <p:nvSpPr>
              <p:cNvPr id="41" name="Freeform 41"/>
              <p:cNvSpPr/>
              <p:nvPr/>
            </p:nvSpPr>
            <p:spPr>
              <a:xfrm>
                <a:off x="546100" y="183666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A8351D"/>
                </a:solidFill>
              </a:ln>
            </p:spPr>
          </p:sp>
          <p:sp>
            <p:nvSpPr>
              <p:cNvPr id="42" name="Freeform 42"/>
              <p:cNvSpPr/>
              <p:nvPr/>
            </p:nvSpPr>
            <p:spPr>
              <a:xfrm>
                <a:off x="557212" y="190345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A8351D"/>
                </a:solidFill>
              </a:ln>
            </p:spPr>
          </p:sp>
        </p:grpSp>
        <p:sp>
          <p:nvSpPr>
            <p:cNvPr id="44" name="TextBox 44"/>
            <p:cNvSpPr txBox="1"/>
            <p:nvPr/>
          </p:nvSpPr>
          <p:spPr>
            <a:xfrm>
              <a:off x="642938" y="1839039"/>
              <a:ext cx="3285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管理层</a:t>
              </a:r>
            </a:p>
          </p:txBody>
        </p:sp>
        <p:sp>
          <p:nvSpPr>
            <p:cNvPr id="45" name="Rectangle 45"/>
            <p:cNvSpPr/>
            <p:nvPr/>
          </p:nvSpPr>
          <p:spPr>
            <a:xfrm>
              <a:off x="381000" y="2076450"/>
              <a:ext cx="1238250" cy="266700"/>
            </a:xfrm>
            <a:prstGeom prst="roundRect">
              <a:avLst>
                <a:gd name="adj" fmla="val 17857"/>
              </a:avLst>
            </a:prstGeom>
            <a:solidFill>
              <a:srgbClr val="F7FAFE"/>
            </a:solidFill>
            <a:ln w="9525">
              <a:solidFill>
                <a:srgbClr val="C9D8EF"/>
              </a:solidFill>
            </a:ln>
          </p:spPr>
        </p:sp>
        <p:grpSp>
          <p:nvGrpSpPr>
            <p:cNvPr id="50" name="Group 50"/>
            <p:cNvGrpSpPr/>
            <p:nvPr/>
          </p:nvGrpSpPr>
          <p:grpSpPr>
            <a:xfrm>
              <a:off x="473869" y="2159794"/>
              <a:ext cx="100012" cy="94456"/>
              <a:chOff x="473869" y="2159794"/>
              <a:chExt cx="100012" cy="94456"/>
            </a:xfrm>
          </p:grpSpPr>
          <p:sp>
            <p:nvSpPr>
              <p:cNvPr id="46" name="Freeform 46"/>
              <p:cNvSpPr/>
              <p:nvPr/>
            </p:nvSpPr>
            <p:spPr>
              <a:xfrm>
                <a:off x="473869" y="2182019"/>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A8351D"/>
                </a:solidFill>
              </a:ln>
            </p:spPr>
          </p:sp>
          <p:sp>
            <p:nvSpPr>
              <p:cNvPr id="47" name="Freeform 47"/>
              <p:cNvSpPr/>
              <p:nvPr/>
            </p:nvSpPr>
            <p:spPr>
              <a:xfrm>
                <a:off x="501650" y="2159794"/>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A8351D"/>
                </a:solidFill>
              </a:ln>
            </p:spPr>
          </p:sp>
          <p:sp>
            <p:nvSpPr>
              <p:cNvPr id="48" name="Freeform 48"/>
              <p:cNvSpPr/>
              <p:nvPr/>
            </p:nvSpPr>
            <p:spPr>
              <a:xfrm>
                <a:off x="523875" y="2209800"/>
                <a:ext cx="9525" cy="9525"/>
              </a:xfrm>
              <a:custGeom>
                <a:avLst/>
                <a:gdLst/>
                <a:ahLst/>
                <a:cxnLst/>
                <a:rect l="l" t="t" r="r" b="b"/>
                <a:pathLst>
                  <a:path w="9525" h="9525">
                    <a:moveTo>
                      <a:pt x="0" y="0"/>
                    </a:moveTo>
                    <a:lnTo>
                      <a:pt x="0" y="56"/>
                    </a:lnTo>
                  </a:path>
                </a:pathLst>
              </a:custGeom>
              <a:noFill/>
              <a:ln w="11112">
                <a:solidFill>
                  <a:srgbClr val="A8351D"/>
                </a:solidFill>
              </a:ln>
            </p:spPr>
          </p:sp>
          <p:sp>
            <p:nvSpPr>
              <p:cNvPr id="49" name="Freeform 49"/>
              <p:cNvSpPr/>
              <p:nvPr/>
            </p:nvSpPr>
            <p:spPr>
              <a:xfrm>
                <a:off x="473869" y="2215356"/>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A8351D"/>
                </a:solidFill>
              </a:ln>
            </p:spPr>
          </p:sp>
        </p:grpSp>
        <p:sp>
          <p:nvSpPr>
            <p:cNvPr id="51" name="TextBox 51"/>
            <p:cNvSpPr txBox="1"/>
            <p:nvPr/>
          </p:nvSpPr>
          <p:spPr>
            <a:xfrm>
              <a:off x="642938" y="2162889"/>
              <a:ext cx="222225"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员工</a:t>
              </a:r>
            </a:p>
          </p:txBody>
        </p:sp>
        <p:sp>
          <p:nvSpPr>
            <p:cNvPr id="52" name="Rectangle 52"/>
            <p:cNvSpPr/>
            <p:nvPr/>
          </p:nvSpPr>
          <p:spPr>
            <a:xfrm>
              <a:off x="381000" y="2495550"/>
              <a:ext cx="1238250" cy="266700"/>
            </a:xfrm>
            <a:prstGeom prst="roundRect">
              <a:avLst>
                <a:gd name="adj" fmla="val 17857"/>
              </a:avLst>
            </a:prstGeom>
            <a:solidFill>
              <a:srgbClr val="F7FAFE"/>
            </a:solidFill>
            <a:ln w="9525">
              <a:solidFill>
                <a:srgbClr val="C9D8EF"/>
              </a:solidFill>
            </a:ln>
          </p:spPr>
        </p:sp>
        <p:grpSp>
          <p:nvGrpSpPr>
            <p:cNvPr id="56" name="Group 56"/>
            <p:cNvGrpSpPr/>
            <p:nvPr/>
          </p:nvGrpSpPr>
          <p:grpSpPr>
            <a:xfrm>
              <a:off x="490537" y="2578894"/>
              <a:ext cx="89047" cy="105706"/>
              <a:chOff x="490537" y="2578894"/>
              <a:chExt cx="89047" cy="105706"/>
            </a:xfrm>
          </p:grpSpPr>
          <p:sp>
            <p:nvSpPr>
              <p:cNvPr id="53" name="Freeform 53"/>
              <p:cNvSpPr/>
              <p:nvPr/>
            </p:nvSpPr>
            <p:spPr>
              <a:xfrm>
                <a:off x="501650" y="257889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A8351D"/>
                </a:solidFill>
              </a:ln>
            </p:spPr>
          </p:sp>
          <p:sp>
            <p:nvSpPr>
              <p:cNvPr id="54" name="Freeform 54"/>
              <p:cNvSpPr/>
              <p:nvPr/>
            </p:nvSpPr>
            <p:spPr>
              <a:xfrm>
                <a:off x="490537" y="2645569"/>
                <a:ext cx="25003" cy="33337"/>
              </a:xfrm>
              <a:custGeom>
                <a:avLst/>
                <a:gdLst/>
                <a:ahLst/>
                <a:cxnLst/>
                <a:rect l="l" t="t" r="r" b="b"/>
                <a:pathLst>
                  <a:path w="25003" h="33337">
                    <a:moveTo>
                      <a:pt x="0" y="33337"/>
                    </a:moveTo>
                    <a:lnTo>
                      <a:pt x="0" y="22225"/>
                    </a:lnTo>
                    <a:cubicBezTo>
                      <a:pt x="0" y="9950"/>
                      <a:pt x="9950" y="0"/>
                      <a:pt x="22225" y="0"/>
                    </a:cubicBezTo>
                    <a:lnTo>
                      <a:pt x="25003" y="0"/>
                    </a:lnTo>
                  </a:path>
                </a:pathLst>
              </a:custGeom>
              <a:noFill/>
              <a:ln w="11112">
                <a:solidFill>
                  <a:srgbClr val="A8351D"/>
                </a:solidFill>
              </a:ln>
            </p:spPr>
          </p:sp>
          <p:sp>
            <p:nvSpPr>
              <p:cNvPr id="55" name="Freeform 55"/>
              <p:cNvSpPr/>
              <p:nvPr/>
            </p:nvSpPr>
            <p:spPr>
              <a:xfrm>
                <a:off x="532612" y="2640010"/>
                <a:ext cx="46972" cy="44590"/>
              </a:xfrm>
              <a:custGeom>
                <a:avLst/>
                <a:gdLst/>
                <a:ahLst/>
                <a:cxnLst/>
                <a:rect l="l" t="t" r="r" b="b"/>
                <a:pathLst>
                  <a:path w="46972" h="44590">
                    <a:moveTo>
                      <a:pt x="23490" y="37880"/>
                    </a:moveTo>
                    <a:lnTo>
                      <a:pt x="11421" y="44203"/>
                    </a:lnTo>
                    <a:cubicBezTo>
                      <a:pt x="10691" y="44583"/>
                      <a:pt x="9809" y="44518"/>
                      <a:pt x="9141" y="44037"/>
                    </a:cubicBezTo>
                    <a:cubicBezTo>
                      <a:pt x="8473" y="43555"/>
                      <a:pt x="8135" y="42737"/>
                      <a:pt x="8266" y="41924"/>
                    </a:cubicBezTo>
                    <a:lnTo>
                      <a:pt x="10571" y="28528"/>
                    </a:lnTo>
                    <a:lnTo>
                      <a:pt x="809" y="19044"/>
                    </a:lnTo>
                    <a:cubicBezTo>
                      <a:pt x="214" y="18469"/>
                      <a:pt x="0" y="17605"/>
                      <a:pt x="257" y="16819"/>
                    </a:cubicBezTo>
                    <a:cubicBezTo>
                      <a:pt x="513" y="16033"/>
                      <a:pt x="1196" y="15462"/>
                      <a:pt x="2015" y="15349"/>
                    </a:cubicBezTo>
                    <a:lnTo>
                      <a:pt x="15505" y="13393"/>
                    </a:lnTo>
                    <a:lnTo>
                      <a:pt x="21539" y="1208"/>
                    </a:lnTo>
                    <a:cubicBezTo>
                      <a:pt x="21907" y="468"/>
                      <a:pt x="22663" y="0"/>
                      <a:pt x="23490" y="0"/>
                    </a:cubicBezTo>
                    <a:cubicBezTo>
                      <a:pt x="24316" y="0"/>
                      <a:pt x="25072" y="468"/>
                      <a:pt x="25440" y="1208"/>
                    </a:cubicBezTo>
                    <a:lnTo>
                      <a:pt x="31474" y="13393"/>
                    </a:lnTo>
                    <a:lnTo>
                      <a:pt x="44965" y="15349"/>
                    </a:lnTo>
                    <a:cubicBezTo>
                      <a:pt x="45781" y="15466"/>
                      <a:pt x="46460" y="16037"/>
                      <a:pt x="46716" y="16822"/>
                    </a:cubicBezTo>
                    <a:cubicBezTo>
                      <a:pt x="46972" y="17606"/>
                      <a:pt x="46760" y="18467"/>
                      <a:pt x="46170" y="19044"/>
                    </a:cubicBezTo>
                    <a:lnTo>
                      <a:pt x="36408" y="28528"/>
                    </a:lnTo>
                    <a:lnTo>
                      <a:pt x="38708" y="41919"/>
                    </a:lnTo>
                    <a:cubicBezTo>
                      <a:pt x="38849" y="42734"/>
                      <a:pt x="38514" y="43557"/>
                      <a:pt x="37845" y="44043"/>
                    </a:cubicBezTo>
                    <a:cubicBezTo>
                      <a:pt x="37175" y="44528"/>
                      <a:pt x="36288" y="44590"/>
                      <a:pt x="35558" y="44203"/>
                    </a:cubicBezTo>
                    <a:lnTo>
                      <a:pt x="23490" y="37880"/>
                    </a:lnTo>
                  </a:path>
                </a:pathLst>
              </a:custGeom>
              <a:noFill/>
              <a:ln w="11112">
                <a:solidFill>
                  <a:srgbClr val="A8351D"/>
                </a:solidFill>
              </a:ln>
            </p:spPr>
          </p:sp>
        </p:grpSp>
        <p:sp>
          <p:nvSpPr>
            <p:cNvPr id="57" name="TextBox 57"/>
            <p:cNvSpPr txBox="1"/>
            <p:nvPr/>
          </p:nvSpPr>
          <p:spPr>
            <a:xfrm>
              <a:off x="642938" y="2581989"/>
              <a:ext cx="5412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小微企业主</a:t>
              </a:r>
            </a:p>
          </p:txBody>
        </p:sp>
        <p:sp>
          <p:nvSpPr>
            <p:cNvPr id="58" name="Rectangle 58"/>
            <p:cNvSpPr/>
            <p:nvPr/>
          </p:nvSpPr>
          <p:spPr>
            <a:xfrm>
              <a:off x="381000" y="2819400"/>
              <a:ext cx="1238250" cy="266700"/>
            </a:xfrm>
            <a:prstGeom prst="roundRect">
              <a:avLst>
                <a:gd name="adj" fmla="val 17857"/>
              </a:avLst>
            </a:prstGeom>
            <a:solidFill>
              <a:srgbClr val="F7FAFE"/>
            </a:solidFill>
            <a:ln w="9525">
              <a:solidFill>
                <a:srgbClr val="C9D8EF"/>
              </a:solidFill>
            </a:ln>
          </p:spPr>
        </p:sp>
        <p:grpSp>
          <p:nvGrpSpPr>
            <p:cNvPr id="63" name="Group 63"/>
            <p:cNvGrpSpPr/>
            <p:nvPr/>
          </p:nvGrpSpPr>
          <p:grpSpPr>
            <a:xfrm>
              <a:off x="479425" y="2902744"/>
              <a:ext cx="88899" cy="100012"/>
              <a:chOff x="479425" y="2902744"/>
              <a:chExt cx="88899" cy="100012"/>
            </a:xfrm>
          </p:grpSpPr>
          <p:sp>
            <p:nvSpPr>
              <p:cNvPr id="59" name="Freeform 59"/>
              <p:cNvSpPr/>
              <p:nvPr/>
            </p:nvSpPr>
            <p:spPr>
              <a:xfrm>
                <a:off x="479425" y="298053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A8351D"/>
                </a:solidFill>
              </a:ln>
            </p:spPr>
          </p:sp>
          <p:sp>
            <p:nvSpPr>
              <p:cNvPr id="60" name="Freeform 60"/>
              <p:cNvSpPr/>
              <p:nvPr/>
            </p:nvSpPr>
            <p:spPr>
              <a:xfrm>
                <a:off x="540544" y="298053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A8351D"/>
                </a:solidFill>
              </a:ln>
            </p:spPr>
          </p:sp>
          <p:sp>
            <p:nvSpPr>
              <p:cNvPr id="61" name="Freeform 61"/>
              <p:cNvSpPr/>
              <p:nvPr/>
            </p:nvSpPr>
            <p:spPr>
              <a:xfrm>
                <a:off x="479425" y="2902744"/>
                <a:ext cx="72231" cy="77787"/>
              </a:xfrm>
              <a:custGeom>
                <a:avLst/>
                <a:gdLst/>
                <a:ahLst/>
                <a:cxnLst/>
                <a:rect l="l" t="t" r="r" b="b"/>
                <a:pathLst>
                  <a:path w="72231" h="77787">
                    <a:moveTo>
                      <a:pt x="72231" y="77787"/>
                    </a:moveTo>
                    <a:lnTo>
                      <a:pt x="11112" y="77787"/>
                    </a:lnTo>
                    <a:lnTo>
                      <a:pt x="11112" y="0"/>
                    </a:lnTo>
                    <a:lnTo>
                      <a:pt x="0" y="0"/>
                    </a:lnTo>
                  </a:path>
                </a:pathLst>
              </a:custGeom>
              <a:noFill/>
              <a:ln w="11112">
                <a:solidFill>
                  <a:srgbClr val="A8351D"/>
                </a:solidFill>
              </a:ln>
            </p:spPr>
          </p:sp>
          <p:sp>
            <p:nvSpPr>
              <p:cNvPr id="62" name="Freeform 62"/>
              <p:cNvSpPr/>
              <p:nvPr/>
            </p:nvSpPr>
            <p:spPr>
              <a:xfrm>
                <a:off x="490537" y="2913856"/>
                <a:ext cx="77787" cy="44450"/>
              </a:xfrm>
              <a:custGeom>
                <a:avLst/>
                <a:gdLst/>
                <a:ahLst/>
                <a:cxnLst/>
                <a:rect l="l" t="t" r="r" b="b"/>
                <a:pathLst>
                  <a:path w="77787" h="44450">
                    <a:moveTo>
                      <a:pt x="0" y="0"/>
                    </a:moveTo>
                    <a:lnTo>
                      <a:pt x="77787" y="5556"/>
                    </a:lnTo>
                    <a:lnTo>
                      <a:pt x="72231" y="44450"/>
                    </a:lnTo>
                    <a:lnTo>
                      <a:pt x="0" y="44450"/>
                    </a:lnTo>
                  </a:path>
                </a:pathLst>
              </a:custGeom>
              <a:noFill/>
              <a:ln w="11112">
                <a:solidFill>
                  <a:srgbClr val="A8351D"/>
                </a:solidFill>
              </a:ln>
            </p:spPr>
          </p:sp>
        </p:grpSp>
        <p:sp>
          <p:nvSpPr>
            <p:cNvPr id="64" name="TextBox 64"/>
            <p:cNvSpPr txBox="1"/>
            <p:nvPr/>
          </p:nvSpPr>
          <p:spPr>
            <a:xfrm>
              <a:off x="642938" y="2905839"/>
              <a:ext cx="5412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个体经营者</a:t>
              </a:r>
            </a:p>
          </p:txBody>
        </p:sp>
        <p:sp>
          <p:nvSpPr>
            <p:cNvPr id="65" name="Rectangle 65"/>
            <p:cNvSpPr/>
            <p:nvPr/>
          </p:nvSpPr>
          <p:spPr>
            <a:xfrm>
              <a:off x="381000" y="3143250"/>
              <a:ext cx="1238250" cy="266700"/>
            </a:xfrm>
            <a:prstGeom prst="roundRect">
              <a:avLst>
                <a:gd name="adj" fmla="val 17857"/>
              </a:avLst>
            </a:prstGeom>
            <a:solidFill>
              <a:srgbClr val="F7FAFE"/>
            </a:solidFill>
            <a:ln w="9525">
              <a:solidFill>
                <a:srgbClr val="C9D8EF"/>
              </a:solidFill>
            </a:ln>
          </p:spPr>
        </p:sp>
        <p:grpSp>
          <p:nvGrpSpPr>
            <p:cNvPr id="70" name="Group 70"/>
            <p:cNvGrpSpPr/>
            <p:nvPr/>
          </p:nvGrpSpPr>
          <p:grpSpPr>
            <a:xfrm>
              <a:off x="473869" y="3226594"/>
              <a:ext cx="100012" cy="100012"/>
              <a:chOff x="473869" y="3226594"/>
              <a:chExt cx="100012" cy="100012"/>
            </a:xfrm>
          </p:grpSpPr>
          <p:sp>
            <p:nvSpPr>
              <p:cNvPr id="66" name="Freeform 66"/>
              <p:cNvSpPr/>
              <p:nvPr/>
            </p:nvSpPr>
            <p:spPr>
              <a:xfrm>
                <a:off x="484981" y="322659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A8351D"/>
                </a:solidFill>
              </a:ln>
            </p:spPr>
          </p:sp>
          <p:sp>
            <p:nvSpPr>
              <p:cNvPr id="67" name="Freeform 67"/>
              <p:cNvSpPr/>
              <p:nvPr/>
            </p:nvSpPr>
            <p:spPr>
              <a:xfrm>
                <a:off x="473869" y="329326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A8351D"/>
                </a:solidFill>
              </a:ln>
            </p:spPr>
          </p:sp>
          <p:sp>
            <p:nvSpPr>
              <p:cNvPr id="68" name="Freeform 68"/>
              <p:cNvSpPr/>
              <p:nvPr/>
            </p:nvSpPr>
            <p:spPr>
              <a:xfrm>
                <a:off x="546100" y="322731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A8351D"/>
                </a:solidFill>
              </a:ln>
            </p:spPr>
          </p:sp>
          <p:sp>
            <p:nvSpPr>
              <p:cNvPr id="69" name="Freeform 69"/>
              <p:cNvSpPr/>
              <p:nvPr/>
            </p:nvSpPr>
            <p:spPr>
              <a:xfrm>
                <a:off x="557212" y="329410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A8351D"/>
                </a:solidFill>
              </a:ln>
            </p:spPr>
          </p:sp>
        </p:grpSp>
        <p:sp>
          <p:nvSpPr>
            <p:cNvPr id="71" name="TextBox 71"/>
            <p:cNvSpPr txBox="1"/>
            <p:nvPr/>
          </p:nvSpPr>
          <p:spPr>
            <a:xfrm>
              <a:off x="642938" y="3229689"/>
              <a:ext cx="3285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管理层</a:t>
              </a:r>
            </a:p>
          </p:txBody>
        </p:sp>
        <p:sp>
          <p:nvSpPr>
            <p:cNvPr id="72" name="Rectangle 72"/>
            <p:cNvSpPr/>
            <p:nvPr/>
          </p:nvSpPr>
          <p:spPr>
            <a:xfrm>
              <a:off x="381000" y="3467100"/>
              <a:ext cx="1238250" cy="266700"/>
            </a:xfrm>
            <a:prstGeom prst="roundRect">
              <a:avLst>
                <a:gd name="adj" fmla="val 17857"/>
              </a:avLst>
            </a:prstGeom>
            <a:solidFill>
              <a:srgbClr val="F7FAFE"/>
            </a:solidFill>
            <a:ln w="9525">
              <a:solidFill>
                <a:srgbClr val="C9D8EF"/>
              </a:solidFill>
            </a:ln>
          </p:spPr>
        </p:sp>
        <p:grpSp>
          <p:nvGrpSpPr>
            <p:cNvPr id="77" name="Group 77"/>
            <p:cNvGrpSpPr/>
            <p:nvPr/>
          </p:nvGrpSpPr>
          <p:grpSpPr>
            <a:xfrm>
              <a:off x="473869" y="3550444"/>
              <a:ext cx="100012" cy="94456"/>
              <a:chOff x="473869" y="3550444"/>
              <a:chExt cx="100012" cy="94456"/>
            </a:xfrm>
          </p:grpSpPr>
          <p:sp>
            <p:nvSpPr>
              <p:cNvPr id="73" name="Freeform 73"/>
              <p:cNvSpPr/>
              <p:nvPr/>
            </p:nvSpPr>
            <p:spPr>
              <a:xfrm>
                <a:off x="473869" y="3572669"/>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A8351D"/>
                </a:solidFill>
              </a:ln>
            </p:spPr>
          </p:sp>
          <p:sp>
            <p:nvSpPr>
              <p:cNvPr id="74" name="Freeform 74"/>
              <p:cNvSpPr/>
              <p:nvPr/>
            </p:nvSpPr>
            <p:spPr>
              <a:xfrm>
                <a:off x="501650" y="3550444"/>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A8351D"/>
                </a:solidFill>
              </a:ln>
            </p:spPr>
          </p:sp>
          <p:sp>
            <p:nvSpPr>
              <p:cNvPr id="75" name="Freeform 75"/>
              <p:cNvSpPr/>
              <p:nvPr/>
            </p:nvSpPr>
            <p:spPr>
              <a:xfrm>
                <a:off x="523875" y="3600450"/>
                <a:ext cx="9525" cy="9525"/>
              </a:xfrm>
              <a:custGeom>
                <a:avLst/>
                <a:gdLst/>
                <a:ahLst/>
                <a:cxnLst/>
                <a:rect l="l" t="t" r="r" b="b"/>
                <a:pathLst>
                  <a:path w="9525" h="9525">
                    <a:moveTo>
                      <a:pt x="0" y="0"/>
                    </a:moveTo>
                    <a:lnTo>
                      <a:pt x="0" y="56"/>
                    </a:lnTo>
                  </a:path>
                </a:pathLst>
              </a:custGeom>
              <a:noFill/>
              <a:ln w="11112">
                <a:solidFill>
                  <a:srgbClr val="A8351D"/>
                </a:solidFill>
              </a:ln>
            </p:spPr>
          </p:sp>
          <p:sp>
            <p:nvSpPr>
              <p:cNvPr id="76" name="Freeform 76"/>
              <p:cNvSpPr/>
              <p:nvPr/>
            </p:nvSpPr>
            <p:spPr>
              <a:xfrm>
                <a:off x="473869" y="3606006"/>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A8351D"/>
                </a:solidFill>
              </a:ln>
            </p:spPr>
          </p:sp>
        </p:grpSp>
        <p:sp>
          <p:nvSpPr>
            <p:cNvPr id="78" name="TextBox 78"/>
            <p:cNvSpPr txBox="1"/>
            <p:nvPr/>
          </p:nvSpPr>
          <p:spPr>
            <a:xfrm>
              <a:off x="642938" y="3553539"/>
              <a:ext cx="222225"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员工</a:t>
              </a:r>
            </a:p>
          </p:txBody>
        </p:sp>
        <p:sp>
          <p:nvSpPr>
            <p:cNvPr id="79" name="Rectangle 79"/>
            <p:cNvSpPr/>
            <p:nvPr/>
          </p:nvSpPr>
          <p:spPr>
            <a:xfrm>
              <a:off x="10572750" y="1104900"/>
              <a:ext cx="1238250" cy="266700"/>
            </a:xfrm>
            <a:prstGeom prst="roundRect">
              <a:avLst>
                <a:gd name="adj" fmla="val 17857"/>
              </a:avLst>
            </a:prstGeom>
            <a:solidFill>
              <a:srgbClr val="F7FAFE"/>
            </a:solidFill>
            <a:ln w="9525">
              <a:solidFill>
                <a:srgbClr val="C9D8EF"/>
              </a:solidFill>
            </a:ln>
          </p:spPr>
        </p:sp>
        <p:grpSp>
          <p:nvGrpSpPr>
            <p:cNvPr id="83" name="Group 83"/>
            <p:cNvGrpSpPr/>
            <p:nvPr/>
          </p:nvGrpSpPr>
          <p:grpSpPr>
            <a:xfrm>
              <a:off x="10682287" y="1188244"/>
              <a:ext cx="89047" cy="105706"/>
              <a:chOff x="10682287" y="1188244"/>
              <a:chExt cx="89047" cy="105706"/>
            </a:xfrm>
          </p:grpSpPr>
          <p:sp>
            <p:nvSpPr>
              <p:cNvPr id="80" name="Freeform 80"/>
              <p:cNvSpPr/>
              <p:nvPr/>
            </p:nvSpPr>
            <p:spPr>
              <a:xfrm>
                <a:off x="10693400" y="118824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A8351D"/>
                </a:solidFill>
              </a:ln>
            </p:spPr>
          </p:sp>
          <p:sp>
            <p:nvSpPr>
              <p:cNvPr id="81" name="Freeform 81"/>
              <p:cNvSpPr/>
              <p:nvPr/>
            </p:nvSpPr>
            <p:spPr>
              <a:xfrm>
                <a:off x="10682287" y="1254919"/>
                <a:ext cx="25003" cy="33337"/>
              </a:xfrm>
              <a:custGeom>
                <a:avLst/>
                <a:gdLst/>
                <a:ahLst/>
                <a:cxnLst/>
                <a:rect l="l" t="t" r="r" b="b"/>
                <a:pathLst>
                  <a:path w="25003" h="33337">
                    <a:moveTo>
                      <a:pt x="0" y="33337"/>
                    </a:moveTo>
                    <a:lnTo>
                      <a:pt x="0" y="22225"/>
                    </a:lnTo>
                    <a:cubicBezTo>
                      <a:pt x="0" y="9950"/>
                      <a:pt x="9950" y="0"/>
                      <a:pt x="22225" y="0"/>
                    </a:cubicBezTo>
                    <a:lnTo>
                      <a:pt x="25003" y="0"/>
                    </a:lnTo>
                  </a:path>
                </a:pathLst>
              </a:custGeom>
              <a:noFill/>
              <a:ln w="11112">
                <a:solidFill>
                  <a:srgbClr val="A8351D"/>
                </a:solidFill>
              </a:ln>
            </p:spPr>
          </p:sp>
          <p:sp>
            <p:nvSpPr>
              <p:cNvPr id="82" name="Freeform 82"/>
              <p:cNvSpPr/>
              <p:nvPr/>
            </p:nvSpPr>
            <p:spPr>
              <a:xfrm>
                <a:off x="10724362" y="1249360"/>
                <a:ext cx="46972" cy="44590"/>
              </a:xfrm>
              <a:custGeom>
                <a:avLst/>
                <a:gdLst/>
                <a:ahLst/>
                <a:cxnLst/>
                <a:rect l="l" t="t" r="r" b="b"/>
                <a:pathLst>
                  <a:path w="46972" h="44590">
                    <a:moveTo>
                      <a:pt x="23490" y="37880"/>
                    </a:moveTo>
                    <a:lnTo>
                      <a:pt x="11421" y="44203"/>
                    </a:lnTo>
                    <a:cubicBezTo>
                      <a:pt x="10691" y="44583"/>
                      <a:pt x="9809" y="44518"/>
                      <a:pt x="9141" y="44037"/>
                    </a:cubicBezTo>
                    <a:cubicBezTo>
                      <a:pt x="8473" y="43555"/>
                      <a:pt x="8135" y="42737"/>
                      <a:pt x="8266" y="41924"/>
                    </a:cubicBezTo>
                    <a:lnTo>
                      <a:pt x="10571" y="28528"/>
                    </a:lnTo>
                    <a:lnTo>
                      <a:pt x="809" y="19044"/>
                    </a:lnTo>
                    <a:cubicBezTo>
                      <a:pt x="214" y="18469"/>
                      <a:pt x="0" y="17605"/>
                      <a:pt x="257" y="16819"/>
                    </a:cubicBezTo>
                    <a:cubicBezTo>
                      <a:pt x="513" y="16033"/>
                      <a:pt x="1196" y="15462"/>
                      <a:pt x="2015" y="15349"/>
                    </a:cubicBezTo>
                    <a:lnTo>
                      <a:pt x="15505" y="13393"/>
                    </a:lnTo>
                    <a:lnTo>
                      <a:pt x="21539" y="1208"/>
                    </a:lnTo>
                    <a:cubicBezTo>
                      <a:pt x="21907" y="468"/>
                      <a:pt x="22663" y="0"/>
                      <a:pt x="23490" y="0"/>
                    </a:cubicBezTo>
                    <a:cubicBezTo>
                      <a:pt x="24316" y="0"/>
                      <a:pt x="25072" y="468"/>
                      <a:pt x="25440" y="1208"/>
                    </a:cubicBezTo>
                    <a:lnTo>
                      <a:pt x="31474" y="13393"/>
                    </a:lnTo>
                    <a:lnTo>
                      <a:pt x="44965" y="15349"/>
                    </a:lnTo>
                    <a:cubicBezTo>
                      <a:pt x="45781" y="15466"/>
                      <a:pt x="46460" y="16037"/>
                      <a:pt x="46716" y="16822"/>
                    </a:cubicBezTo>
                    <a:cubicBezTo>
                      <a:pt x="46972" y="17606"/>
                      <a:pt x="46760" y="18467"/>
                      <a:pt x="46170" y="19044"/>
                    </a:cubicBezTo>
                    <a:lnTo>
                      <a:pt x="36408" y="28528"/>
                    </a:lnTo>
                    <a:lnTo>
                      <a:pt x="38708" y="41919"/>
                    </a:lnTo>
                    <a:cubicBezTo>
                      <a:pt x="38849" y="42734"/>
                      <a:pt x="38514" y="43557"/>
                      <a:pt x="37845" y="44043"/>
                    </a:cubicBezTo>
                    <a:cubicBezTo>
                      <a:pt x="37175" y="44528"/>
                      <a:pt x="36288" y="44590"/>
                      <a:pt x="35558" y="44203"/>
                    </a:cubicBezTo>
                    <a:lnTo>
                      <a:pt x="23490" y="37880"/>
                    </a:lnTo>
                  </a:path>
                </a:pathLst>
              </a:custGeom>
              <a:noFill/>
              <a:ln w="11112">
                <a:solidFill>
                  <a:srgbClr val="A8351D"/>
                </a:solidFill>
              </a:ln>
            </p:spPr>
          </p:sp>
        </p:grpSp>
        <p:sp>
          <p:nvSpPr>
            <p:cNvPr id="84" name="TextBox 84"/>
            <p:cNvSpPr txBox="1"/>
            <p:nvPr/>
          </p:nvSpPr>
          <p:spPr>
            <a:xfrm>
              <a:off x="10834688" y="1191339"/>
              <a:ext cx="5412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小微企业主</a:t>
              </a:r>
            </a:p>
          </p:txBody>
        </p:sp>
        <p:sp>
          <p:nvSpPr>
            <p:cNvPr id="85" name="Rectangle 85"/>
            <p:cNvSpPr/>
            <p:nvPr/>
          </p:nvSpPr>
          <p:spPr>
            <a:xfrm>
              <a:off x="10572750" y="1428750"/>
              <a:ext cx="1238250" cy="266700"/>
            </a:xfrm>
            <a:prstGeom prst="roundRect">
              <a:avLst>
                <a:gd name="adj" fmla="val 17857"/>
              </a:avLst>
            </a:prstGeom>
            <a:solidFill>
              <a:srgbClr val="F7FAFE"/>
            </a:solidFill>
            <a:ln w="9525">
              <a:solidFill>
                <a:srgbClr val="C9D8EF"/>
              </a:solidFill>
            </a:ln>
          </p:spPr>
        </p:sp>
        <p:grpSp>
          <p:nvGrpSpPr>
            <p:cNvPr id="90" name="Group 90"/>
            <p:cNvGrpSpPr/>
            <p:nvPr/>
          </p:nvGrpSpPr>
          <p:grpSpPr>
            <a:xfrm>
              <a:off x="10671175" y="1512094"/>
              <a:ext cx="88899" cy="100012"/>
              <a:chOff x="10671175" y="1512094"/>
              <a:chExt cx="88899" cy="100012"/>
            </a:xfrm>
          </p:grpSpPr>
          <p:sp>
            <p:nvSpPr>
              <p:cNvPr id="86" name="Freeform 86"/>
              <p:cNvSpPr/>
              <p:nvPr/>
            </p:nvSpPr>
            <p:spPr>
              <a:xfrm>
                <a:off x="10671175" y="158988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A8351D"/>
                </a:solidFill>
              </a:ln>
            </p:spPr>
          </p:sp>
          <p:sp>
            <p:nvSpPr>
              <p:cNvPr id="87" name="Freeform 87"/>
              <p:cNvSpPr/>
              <p:nvPr/>
            </p:nvSpPr>
            <p:spPr>
              <a:xfrm>
                <a:off x="10732294" y="158988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A8351D"/>
                </a:solidFill>
              </a:ln>
            </p:spPr>
          </p:sp>
          <p:sp>
            <p:nvSpPr>
              <p:cNvPr id="88" name="Freeform 88"/>
              <p:cNvSpPr/>
              <p:nvPr/>
            </p:nvSpPr>
            <p:spPr>
              <a:xfrm>
                <a:off x="10671175" y="1512094"/>
                <a:ext cx="72231" cy="77787"/>
              </a:xfrm>
              <a:custGeom>
                <a:avLst/>
                <a:gdLst/>
                <a:ahLst/>
                <a:cxnLst/>
                <a:rect l="l" t="t" r="r" b="b"/>
                <a:pathLst>
                  <a:path w="72231" h="77787">
                    <a:moveTo>
                      <a:pt x="72231" y="77787"/>
                    </a:moveTo>
                    <a:lnTo>
                      <a:pt x="11112" y="77787"/>
                    </a:lnTo>
                    <a:lnTo>
                      <a:pt x="11112" y="0"/>
                    </a:lnTo>
                    <a:lnTo>
                      <a:pt x="0" y="0"/>
                    </a:lnTo>
                  </a:path>
                </a:pathLst>
              </a:custGeom>
              <a:noFill/>
              <a:ln w="11112">
                <a:solidFill>
                  <a:srgbClr val="A8351D"/>
                </a:solidFill>
              </a:ln>
            </p:spPr>
          </p:sp>
          <p:sp>
            <p:nvSpPr>
              <p:cNvPr id="89" name="Freeform 89"/>
              <p:cNvSpPr/>
              <p:nvPr/>
            </p:nvSpPr>
            <p:spPr>
              <a:xfrm>
                <a:off x="10682287" y="1523206"/>
                <a:ext cx="77787" cy="44450"/>
              </a:xfrm>
              <a:custGeom>
                <a:avLst/>
                <a:gdLst/>
                <a:ahLst/>
                <a:cxnLst/>
                <a:rect l="l" t="t" r="r" b="b"/>
                <a:pathLst>
                  <a:path w="77787" h="44450">
                    <a:moveTo>
                      <a:pt x="0" y="0"/>
                    </a:moveTo>
                    <a:lnTo>
                      <a:pt x="77787" y="5556"/>
                    </a:lnTo>
                    <a:lnTo>
                      <a:pt x="72231" y="44450"/>
                    </a:lnTo>
                    <a:lnTo>
                      <a:pt x="0" y="44450"/>
                    </a:lnTo>
                  </a:path>
                </a:pathLst>
              </a:custGeom>
              <a:noFill/>
              <a:ln w="11112">
                <a:solidFill>
                  <a:srgbClr val="A8351D"/>
                </a:solidFill>
              </a:ln>
            </p:spPr>
          </p:sp>
        </p:grpSp>
        <p:sp>
          <p:nvSpPr>
            <p:cNvPr id="91" name="TextBox 91"/>
            <p:cNvSpPr txBox="1"/>
            <p:nvPr/>
          </p:nvSpPr>
          <p:spPr>
            <a:xfrm>
              <a:off x="10834688" y="1515189"/>
              <a:ext cx="5412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个体经营者</a:t>
              </a:r>
            </a:p>
          </p:txBody>
        </p:sp>
        <p:sp>
          <p:nvSpPr>
            <p:cNvPr id="92" name="Rectangle 92"/>
            <p:cNvSpPr/>
            <p:nvPr/>
          </p:nvSpPr>
          <p:spPr>
            <a:xfrm>
              <a:off x="10572750" y="1752600"/>
              <a:ext cx="1238250" cy="266700"/>
            </a:xfrm>
            <a:prstGeom prst="roundRect">
              <a:avLst>
                <a:gd name="adj" fmla="val 17857"/>
              </a:avLst>
            </a:prstGeom>
            <a:solidFill>
              <a:srgbClr val="F7FAFE"/>
            </a:solidFill>
            <a:ln w="9525">
              <a:solidFill>
                <a:srgbClr val="C9D8EF"/>
              </a:solidFill>
            </a:ln>
          </p:spPr>
        </p:sp>
        <p:grpSp>
          <p:nvGrpSpPr>
            <p:cNvPr id="97" name="Group 97"/>
            <p:cNvGrpSpPr/>
            <p:nvPr/>
          </p:nvGrpSpPr>
          <p:grpSpPr>
            <a:xfrm>
              <a:off x="10665619" y="1835944"/>
              <a:ext cx="100012" cy="100012"/>
              <a:chOff x="10665619" y="1835944"/>
              <a:chExt cx="100012" cy="100012"/>
            </a:xfrm>
          </p:grpSpPr>
          <p:sp>
            <p:nvSpPr>
              <p:cNvPr id="93" name="Freeform 93"/>
              <p:cNvSpPr/>
              <p:nvPr/>
            </p:nvSpPr>
            <p:spPr>
              <a:xfrm>
                <a:off x="10676731" y="183594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A8351D"/>
                </a:solidFill>
              </a:ln>
            </p:spPr>
          </p:sp>
          <p:sp>
            <p:nvSpPr>
              <p:cNvPr id="94" name="Freeform 94"/>
              <p:cNvSpPr/>
              <p:nvPr/>
            </p:nvSpPr>
            <p:spPr>
              <a:xfrm>
                <a:off x="10665619" y="190261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A8351D"/>
                </a:solidFill>
              </a:ln>
            </p:spPr>
          </p:sp>
          <p:sp>
            <p:nvSpPr>
              <p:cNvPr id="95" name="Freeform 95"/>
              <p:cNvSpPr/>
              <p:nvPr/>
            </p:nvSpPr>
            <p:spPr>
              <a:xfrm>
                <a:off x="10737850" y="183666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A8351D"/>
                </a:solidFill>
              </a:ln>
            </p:spPr>
          </p:sp>
          <p:sp>
            <p:nvSpPr>
              <p:cNvPr id="96" name="Freeform 96"/>
              <p:cNvSpPr/>
              <p:nvPr/>
            </p:nvSpPr>
            <p:spPr>
              <a:xfrm>
                <a:off x="10748962" y="190345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A8351D"/>
                </a:solidFill>
              </a:ln>
            </p:spPr>
          </p:sp>
        </p:grpSp>
        <p:sp>
          <p:nvSpPr>
            <p:cNvPr id="98" name="TextBox 98"/>
            <p:cNvSpPr txBox="1"/>
            <p:nvPr/>
          </p:nvSpPr>
          <p:spPr>
            <a:xfrm>
              <a:off x="10834688" y="1839039"/>
              <a:ext cx="3285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管理层</a:t>
              </a:r>
            </a:p>
          </p:txBody>
        </p:sp>
        <p:sp>
          <p:nvSpPr>
            <p:cNvPr id="99" name="Rectangle 99"/>
            <p:cNvSpPr/>
            <p:nvPr/>
          </p:nvSpPr>
          <p:spPr>
            <a:xfrm>
              <a:off x="10572750" y="2076450"/>
              <a:ext cx="1238250" cy="266700"/>
            </a:xfrm>
            <a:prstGeom prst="roundRect">
              <a:avLst>
                <a:gd name="adj" fmla="val 17857"/>
              </a:avLst>
            </a:prstGeom>
            <a:solidFill>
              <a:srgbClr val="F7FAFE"/>
            </a:solidFill>
            <a:ln w="9525">
              <a:solidFill>
                <a:srgbClr val="C9D8EF"/>
              </a:solidFill>
            </a:ln>
          </p:spPr>
        </p:sp>
        <p:grpSp>
          <p:nvGrpSpPr>
            <p:cNvPr id="104" name="Group 104"/>
            <p:cNvGrpSpPr/>
            <p:nvPr/>
          </p:nvGrpSpPr>
          <p:grpSpPr>
            <a:xfrm>
              <a:off x="10665619" y="2159794"/>
              <a:ext cx="100012" cy="94456"/>
              <a:chOff x="10665619" y="2159794"/>
              <a:chExt cx="100012" cy="94456"/>
            </a:xfrm>
          </p:grpSpPr>
          <p:sp>
            <p:nvSpPr>
              <p:cNvPr id="100" name="Freeform 100"/>
              <p:cNvSpPr/>
              <p:nvPr/>
            </p:nvSpPr>
            <p:spPr>
              <a:xfrm>
                <a:off x="10665619" y="2182019"/>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A8351D"/>
                </a:solidFill>
              </a:ln>
            </p:spPr>
          </p:sp>
          <p:sp>
            <p:nvSpPr>
              <p:cNvPr id="101" name="Freeform 101"/>
              <p:cNvSpPr/>
              <p:nvPr/>
            </p:nvSpPr>
            <p:spPr>
              <a:xfrm>
                <a:off x="10693400" y="2159794"/>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A8351D"/>
                </a:solidFill>
              </a:ln>
            </p:spPr>
          </p:sp>
          <p:sp>
            <p:nvSpPr>
              <p:cNvPr id="102" name="Freeform 102"/>
              <p:cNvSpPr/>
              <p:nvPr/>
            </p:nvSpPr>
            <p:spPr>
              <a:xfrm>
                <a:off x="10715625" y="2209800"/>
                <a:ext cx="9525" cy="9525"/>
              </a:xfrm>
              <a:custGeom>
                <a:avLst/>
                <a:gdLst/>
                <a:ahLst/>
                <a:cxnLst/>
                <a:rect l="l" t="t" r="r" b="b"/>
                <a:pathLst>
                  <a:path w="9525" h="9525">
                    <a:moveTo>
                      <a:pt x="0" y="0"/>
                    </a:moveTo>
                    <a:lnTo>
                      <a:pt x="0" y="56"/>
                    </a:lnTo>
                  </a:path>
                </a:pathLst>
              </a:custGeom>
              <a:noFill/>
              <a:ln w="11112">
                <a:solidFill>
                  <a:srgbClr val="A8351D"/>
                </a:solidFill>
              </a:ln>
            </p:spPr>
          </p:sp>
          <p:sp>
            <p:nvSpPr>
              <p:cNvPr id="103" name="Freeform 103"/>
              <p:cNvSpPr/>
              <p:nvPr/>
            </p:nvSpPr>
            <p:spPr>
              <a:xfrm>
                <a:off x="10665619" y="2215356"/>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A8351D"/>
                </a:solidFill>
              </a:ln>
            </p:spPr>
          </p:sp>
        </p:grpSp>
        <p:sp>
          <p:nvSpPr>
            <p:cNvPr id="105" name="TextBox 105"/>
            <p:cNvSpPr txBox="1"/>
            <p:nvPr/>
          </p:nvSpPr>
          <p:spPr>
            <a:xfrm>
              <a:off x="10834688" y="2162889"/>
              <a:ext cx="222225"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员工</a:t>
              </a:r>
            </a:p>
          </p:txBody>
        </p:sp>
        <p:sp>
          <p:nvSpPr>
            <p:cNvPr id="106" name="Rectangle 106"/>
            <p:cNvSpPr/>
            <p:nvPr/>
          </p:nvSpPr>
          <p:spPr>
            <a:xfrm>
              <a:off x="10572750" y="2495550"/>
              <a:ext cx="1238250" cy="266700"/>
            </a:xfrm>
            <a:prstGeom prst="roundRect">
              <a:avLst>
                <a:gd name="adj" fmla="val 17857"/>
              </a:avLst>
            </a:prstGeom>
            <a:solidFill>
              <a:srgbClr val="F7FAFE"/>
            </a:solidFill>
            <a:ln w="9525">
              <a:solidFill>
                <a:srgbClr val="C9D8EF"/>
              </a:solidFill>
            </a:ln>
          </p:spPr>
        </p:sp>
        <p:grpSp>
          <p:nvGrpSpPr>
            <p:cNvPr id="110" name="Group 110"/>
            <p:cNvGrpSpPr/>
            <p:nvPr/>
          </p:nvGrpSpPr>
          <p:grpSpPr>
            <a:xfrm>
              <a:off x="10682287" y="2578894"/>
              <a:ext cx="89047" cy="105706"/>
              <a:chOff x="10682287" y="2578894"/>
              <a:chExt cx="89047" cy="105706"/>
            </a:xfrm>
          </p:grpSpPr>
          <p:sp>
            <p:nvSpPr>
              <p:cNvPr id="107" name="Freeform 107"/>
              <p:cNvSpPr/>
              <p:nvPr/>
            </p:nvSpPr>
            <p:spPr>
              <a:xfrm>
                <a:off x="10693400" y="257889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A8351D"/>
                </a:solidFill>
              </a:ln>
            </p:spPr>
          </p:sp>
          <p:sp>
            <p:nvSpPr>
              <p:cNvPr id="108" name="Freeform 108"/>
              <p:cNvSpPr/>
              <p:nvPr/>
            </p:nvSpPr>
            <p:spPr>
              <a:xfrm>
                <a:off x="10682287" y="2645569"/>
                <a:ext cx="25003" cy="33337"/>
              </a:xfrm>
              <a:custGeom>
                <a:avLst/>
                <a:gdLst/>
                <a:ahLst/>
                <a:cxnLst/>
                <a:rect l="l" t="t" r="r" b="b"/>
                <a:pathLst>
                  <a:path w="25003" h="33337">
                    <a:moveTo>
                      <a:pt x="0" y="33337"/>
                    </a:moveTo>
                    <a:lnTo>
                      <a:pt x="0" y="22225"/>
                    </a:lnTo>
                    <a:cubicBezTo>
                      <a:pt x="0" y="9950"/>
                      <a:pt x="9950" y="0"/>
                      <a:pt x="22225" y="0"/>
                    </a:cubicBezTo>
                    <a:lnTo>
                      <a:pt x="25003" y="0"/>
                    </a:lnTo>
                  </a:path>
                </a:pathLst>
              </a:custGeom>
              <a:noFill/>
              <a:ln w="11112">
                <a:solidFill>
                  <a:srgbClr val="A8351D"/>
                </a:solidFill>
              </a:ln>
            </p:spPr>
          </p:sp>
          <p:sp>
            <p:nvSpPr>
              <p:cNvPr id="109" name="Freeform 109"/>
              <p:cNvSpPr/>
              <p:nvPr/>
            </p:nvSpPr>
            <p:spPr>
              <a:xfrm>
                <a:off x="10724362" y="2640010"/>
                <a:ext cx="46972" cy="44590"/>
              </a:xfrm>
              <a:custGeom>
                <a:avLst/>
                <a:gdLst/>
                <a:ahLst/>
                <a:cxnLst/>
                <a:rect l="l" t="t" r="r" b="b"/>
                <a:pathLst>
                  <a:path w="46972" h="44590">
                    <a:moveTo>
                      <a:pt x="23490" y="37880"/>
                    </a:moveTo>
                    <a:lnTo>
                      <a:pt x="11421" y="44203"/>
                    </a:lnTo>
                    <a:cubicBezTo>
                      <a:pt x="10691" y="44583"/>
                      <a:pt x="9809" y="44518"/>
                      <a:pt x="9141" y="44037"/>
                    </a:cubicBezTo>
                    <a:cubicBezTo>
                      <a:pt x="8473" y="43555"/>
                      <a:pt x="8135" y="42737"/>
                      <a:pt x="8266" y="41924"/>
                    </a:cubicBezTo>
                    <a:lnTo>
                      <a:pt x="10571" y="28528"/>
                    </a:lnTo>
                    <a:lnTo>
                      <a:pt x="809" y="19044"/>
                    </a:lnTo>
                    <a:cubicBezTo>
                      <a:pt x="214" y="18469"/>
                      <a:pt x="0" y="17605"/>
                      <a:pt x="257" y="16819"/>
                    </a:cubicBezTo>
                    <a:cubicBezTo>
                      <a:pt x="513" y="16033"/>
                      <a:pt x="1196" y="15462"/>
                      <a:pt x="2015" y="15349"/>
                    </a:cubicBezTo>
                    <a:lnTo>
                      <a:pt x="15505" y="13393"/>
                    </a:lnTo>
                    <a:lnTo>
                      <a:pt x="21539" y="1208"/>
                    </a:lnTo>
                    <a:cubicBezTo>
                      <a:pt x="21907" y="468"/>
                      <a:pt x="22663" y="0"/>
                      <a:pt x="23490" y="0"/>
                    </a:cubicBezTo>
                    <a:cubicBezTo>
                      <a:pt x="24316" y="0"/>
                      <a:pt x="25072" y="468"/>
                      <a:pt x="25440" y="1208"/>
                    </a:cubicBezTo>
                    <a:lnTo>
                      <a:pt x="31474" y="13393"/>
                    </a:lnTo>
                    <a:lnTo>
                      <a:pt x="44965" y="15349"/>
                    </a:lnTo>
                    <a:cubicBezTo>
                      <a:pt x="45781" y="15466"/>
                      <a:pt x="46460" y="16037"/>
                      <a:pt x="46716" y="16822"/>
                    </a:cubicBezTo>
                    <a:cubicBezTo>
                      <a:pt x="46972" y="17606"/>
                      <a:pt x="46760" y="18467"/>
                      <a:pt x="46170" y="19044"/>
                    </a:cubicBezTo>
                    <a:lnTo>
                      <a:pt x="36408" y="28528"/>
                    </a:lnTo>
                    <a:lnTo>
                      <a:pt x="38708" y="41919"/>
                    </a:lnTo>
                    <a:cubicBezTo>
                      <a:pt x="38849" y="42734"/>
                      <a:pt x="38514" y="43557"/>
                      <a:pt x="37845" y="44043"/>
                    </a:cubicBezTo>
                    <a:cubicBezTo>
                      <a:pt x="37175" y="44528"/>
                      <a:pt x="36288" y="44590"/>
                      <a:pt x="35558" y="44203"/>
                    </a:cubicBezTo>
                    <a:lnTo>
                      <a:pt x="23490" y="37880"/>
                    </a:lnTo>
                  </a:path>
                </a:pathLst>
              </a:custGeom>
              <a:noFill/>
              <a:ln w="11112">
                <a:solidFill>
                  <a:srgbClr val="A8351D"/>
                </a:solidFill>
              </a:ln>
            </p:spPr>
          </p:sp>
        </p:grpSp>
        <p:sp>
          <p:nvSpPr>
            <p:cNvPr id="111" name="TextBox 111"/>
            <p:cNvSpPr txBox="1"/>
            <p:nvPr/>
          </p:nvSpPr>
          <p:spPr>
            <a:xfrm>
              <a:off x="10834688" y="2581989"/>
              <a:ext cx="5412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小微企业主</a:t>
              </a:r>
            </a:p>
          </p:txBody>
        </p:sp>
        <p:sp>
          <p:nvSpPr>
            <p:cNvPr id="112" name="Rectangle 112"/>
            <p:cNvSpPr/>
            <p:nvPr/>
          </p:nvSpPr>
          <p:spPr>
            <a:xfrm>
              <a:off x="10572750" y="2819400"/>
              <a:ext cx="1238250" cy="266700"/>
            </a:xfrm>
            <a:prstGeom prst="roundRect">
              <a:avLst>
                <a:gd name="adj" fmla="val 17857"/>
              </a:avLst>
            </a:prstGeom>
            <a:solidFill>
              <a:srgbClr val="F7FAFE"/>
            </a:solidFill>
            <a:ln w="9525">
              <a:solidFill>
                <a:srgbClr val="C9D8EF"/>
              </a:solidFill>
            </a:ln>
          </p:spPr>
        </p:sp>
        <p:grpSp>
          <p:nvGrpSpPr>
            <p:cNvPr id="117" name="Group 117"/>
            <p:cNvGrpSpPr/>
            <p:nvPr/>
          </p:nvGrpSpPr>
          <p:grpSpPr>
            <a:xfrm>
              <a:off x="10671175" y="2902744"/>
              <a:ext cx="88899" cy="100012"/>
              <a:chOff x="10671175" y="2902744"/>
              <a:chExt cx="88899" cy="100012"/>
            </a:xfrm>
          </p:grpSpPr>
          <p:sp>
            <p:nvSpPr>
              <p:cNvPr id="113" name="Freeform 113"/>
              <p:cNvSpPr/>
              <p:nvPr/>
            </p:nvSpPr>
            <p:spPr>
              <a:xfrm>
                <a:off x="10671175" y="298053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A8351D"/>
                </a:solidFill>
              </a:ln>
            </p:spPr>
          </p:sp>
          <p:sp>
            <p:nvSpPr>
              <p:cNvPr id="114" name="Freeform 114"/>
              <p:cNvSpPr/>
              <p:nvPr/>
            </p:nvSpPr>
            <p:spPr>
              <a:xfrm>
                <a:off x="10732294" y="298053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A8351D"/>
                </a:solidFill>
              </a:ln>
            </p:spPr>
          </p:sp>
          <p:sp>
            <p:nvSpPr>
              <p:cNvPr id="115" name="Freeform 115"/>
              <p:cNvSpPr/>
              <p:nvPr/>
            </p:nvSpPr>
            <p:spPr>
              <a:xfrm>
                <a:off x="10671175" y="2902744"/>
                <a:ext cx="72231" cy="77787"/>
              </a:xfrm>
              <a:custGeom>
                <a:avLst/>
                <a:gdLst/>
                <a:ahLst/>
                <a:cxnLst/>
                <a:rect l="l" t="t" r="r" b="b"/>
                <a:pathLst>
                  <a:path w="72231" h="77787">
                    <a:moveTo>
                      <a:pt x="72231" y="77787"/>
                    </a:moveTo>
                    <a:lnTo>
                      <a:pt x="11112" y="77787"/>
                    </a:lnTo>
                    <a:lnTo>
                      <a:pt x="11112" y="0"/>
                    </a:lnTo>
                    <a:lnTo>
                      <a:pt x="0" y="0"/>
                    </a:lnTo>
                  </a:path>
                </a:pathLst>
              </a:custGeom>
              <a:noFill/>
              <a:ln w="11112">
                <a:solidFill>
                  <a:srgbClr val="A8351D"/>
                </a:solidFill>
              </a:ln>
            </p:spPr>
          </p:sp>
          <p:sp>
            <p:nvSpPr>
              <p:cNvPr id="116" name="Freeform 116"/>
              <p:cNvSpPr/>
              <p:nvPr/>
            </p:nvSpPr>
            <p:spPr>
              <a:xfrm>
                <a:off x="10682287" y="2913856"/>
                <a:ext cx="77787" cy="44450"/>
              </a:xfrm>
              <a:custGeom>
                <a:avLst/>
                <a:gdLst/>
                <a:ahLst/>
                <a:cxnLst/>
                <a:rect l="l" t="t" r="r" b="b"/>
                <a:pathLst>
                  <a:path w="77787" h="44450">
                    <a:moveTo>
                      <a:pt x="0" y="0"/>
                    </a:moveTo>
                    <a:lnTo>
                      <a:pt x="77787" y="5556"/>
                    </a:lnTo>
                    <a:lnTo>
                      <a:pt x="72231" y="44450"/>
                    </a:lnTo>
                    <a:lnTo>
                      <a:pt x="0" y="44450"/>
                    </a:lnTo>
                  </a:path>
                </a:pathLst>
              </a:custGeom>
              <a:noFill/>
              <a:ln w="11112">
                <a:solidFill>
                  <a:srgbClr val="A8351D"/>
                </a:solidFill>
              </a:ln>
            </p:spPr>
          </p:sp>
        </p:grpSp>
        <p:sp>
          <p:nvSpPr>
            <p:cNvPr id="118" name="TextBox 118"/>
            <p:cNvSpPr txBox="1"/>
            <p:nvPr/>
          </p:nvSpPr>
          <p:spPr>
            <a:xfrm>
              <a:off x="10834688" y="2905839"/>
              <a:ext cx="5412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个体经营者</a:t>
              </a:r>
            </a:p>
          </p:txBody>
        </p:sp>
        <p:sp>
          <p:nvSpPr>
            <p:cNvPr id="119" name="Rectangle 119"/>
            <p:cNvSpPr/>
            <p:nvPr/>
          </p:nvSpPr>
          <p:spPr>
            <a:xfrm>
              <a:off x="10572750" y="3143250"/>
              <a:ext cx="1238250" cy="266700"/>
            </a:xfrm>
            <a:prstGeom prst="roundRect">
              <a:avLst>
                <a:gd name="adj" fmla="val 17857"/>
              </a:avLst>
            </a:prstGeom>
            <a:solidFill>
              <a:srgbClr val="F7FAFE"/>
            </a:solidFill>
            <a:ln w="9525">
              <a:solidFill>
                <a:srgbClr val="C9D8EF"/>
              </a:solidFill>
            </a:ln>
          </p:spPr>
        </p:sp>
        <p:grpSp>
          <p:nvGrpSpPr>
            <p:cNvPr id="124" name="Group 124"/>
            <p:cNvGrpSpPr/>
            <p:nvPr/>
          </p:nvGrpSpPr>
          <p:grpSpPr>
            <a:xfrm>
              <a:off x="10665619" y="3226594"/>
              <a:ext cx="100012" cy="100012"/>
              <a:chOff x="10665619" y="3226594"/>
              <a:chExt cx="100012" cy="100012"/>
            </a:xfrm>
          </p:grpSpPr>
          <p:sp>
            <p:nvSpPr>
              <p:cNvPr id="120" name="Freeform 120"/>
              <p:cNvSpPr/>
              <p:nvPr/>
            </p:nvSpPr>
            <p:spPr>
              <a:xfrm>
                <a:off x="10676731" y="322659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A8351D"/>
                </a:solidFill>
              </a:ln>
            </p:spPr>
          </p:sp>
          <p:sp>
            <p:nvSpPr>
              <p:cNvPr id="121" name="Freeform 121"/>
              <p:cNvSpPr/>
              <p:nvPr/>
            </p:nvSpPr>
            <p:spPr>
              <a:xfrm>
                <a:off x="10665619" y="329326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A8351D"/>
                </a:solidFill>
              </a:ln>
            </p:spPr>
          </p:sp>
          <p:sp>
            <p:nvSpPr>
              <p:cNvPr id="122" name="Freeform 122"/>
              <p:cNvSpPr/>
              <p:nvPr/>
            </p:nvSpPr>
            <p:spPr>
              <a:xfrm>
                <a:off x="10737850" y="322731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A8351D"/>
                </a:solidFill>
              </a:ln>
            </p:spPr>
          </p:sp>
          <p:sp>
            <p:nvSpPr>
              <p:cNvPr id="123" name="Freeform 123"/>
              <p:cNvSpPr/>
              <p:nvPr/>
            </p:nvSpPr>
            <p:spPr>
              <a:xfrm>
                <a:off x="10748962" y="329410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A8351D"/>
                </a:solidFill>
              </a:ln>
            </p:spPr>
          </p:sp>
        </p:grpSp>
        <p:sp>
          <p:nvSpPr>
            <p:cNvPr id="125" name="TextBox 125"/>
            <p:cNvSpPr txBox="1"/>
            <p:nvPr/>
          </p:nvSpPr>
          <p:spPr>
            <a:xfrm>
              <a:off x="10834688" y="3229689"/>
              <a:ext cx="328574"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管理层</a:t>
              </a:r>
            </a:p>
          </p:txBody>
        </p:sp>
        <p:sp>
          <p:nvSpPr>
            <p:cNvPr id="126" name="Rectangle 126"/>
            <p:cNvSpPr/>
            <p:nvPr/>
          </p:nvSpPr>
          <p:spPr>
            <a:xfrm>
              <a:off x="10572750" y="3467100"/>
              <a:ext cx="1238250" cy="266700"/>
            </a:xfrm>
            <a:prstGeom prst="roundRect">
              <a:avLst>
                <a:gd name="adj" fmla="val 17857"/>
              </a:avLst>
            </a:prstGeom>
            <a:solidFill>
              <a:srgbClr val="F7FAFE"/>
            </a:solidFill>
            <a:ln w="9525">
              <a:solidFill>
                <a:srgbClr val="C9D8EF"/>
              </a:solidFill>
            </a:ln>
          </p:spPr>
        </p:sp>
        <p:grpSp>
          <p:nvGrpSpPr>
            <p:cNvPr id="131" name="Group 131"/>
            <p:cNvGrpSpPr/>
            <p:nvPr/>
          </p:nvGrpSpPr>
          <p:grpSpPr>
            <a:xfrm>
              <a:off x="10665619" y="3550444"/>
              <a:ext cx="100012" cy="94456"/>
              <a:chOff x="10665619" y="3550444"/>
              <a:chExt cx="100012" cy="94456"/>
            </a:xfrm>
          </p:grpSpPr>
          <p:sp>
            <p:nvSpPr>
              <p:cNvPr id="127" name="Freeform 127"/>
              <p:cNvSpPr/>
              <p:nvPr/>
            </p:nvSpPr>
            <p:spPr>
              <a:xfrm>
                <a:off x="10665619" y="3572669"/>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A8351D"/>
                </a:solidFill>
              </a:ln>
            </p:spPr>
          </p:sp>
          <p:sp>
            <p:nvSpPr>
              <p:cNvPr id="128" name="Freeform 128"/>
              <p:cNvSpPr/>
              <p:nvPr/>
            </p:nvSpPr>
            <p:spPr>
              <a:xfrm>
                <a:off x="10693400" y="3550444"/>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A8351D"/>
                </a:solidFill>
              </a:ln>
            </p:spPr>
          </p:sp>
          <p:sp>
            <p:nvSpPr>
              <p:cNvPr id="129" name="Freeform 129"/>
              <p:cNvSpPr/>
              <p:nvPr/>
            </p:nvSpPr>
            <p:spPr>
              <a:xfrm>
                <a:off x="10715625" y="3600450"/>
                <a:ext cx="9525" cy="9525"/>
              </a:xfrm>
              <a:custGeom>
                <a:avLst/>
                <a:gdLst/>
                <a:ahLst/>
                <a:cxnLst/>
                <a:rect l="l" t="t" r="r" b="b"/>
                <a:pathLst>
                  <a:path w="9525" h="9525">
                    <a:moveTo>
                      <a:pt x="0" y="0"/>
                    </a:moveTo>
                    <a:lnTo>
                      <a:pt x="0" y="56"/>
                    </a:lnTo>
                  </a:path>
                </a:pathLst>
              </a:custGeom>
              <a:noFill/>
              <a:ln w="11112">
                <a:solidFill>
                  <a:srgbClr val="A8351D"/>
                </a:solidFill>
              </a:ln>
            </p:spPr>
          </p:sp>
          <p:sp>
            <p:nvSpPr>
              <p:cNvPr id="130" name="Freeform 130"/>
              <p:cNvSpPr/>
              <p:nvPr/>
            </p:nvSpPr>
            <p:spPr>
              <a:xfrm>
                <a:off x="10665619" y="3606006"/>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A8351D"/>
                </a:solidFill>
              </a:ln>
            </p:spPr>
          </p:sp>
        </p:grpSp>
        <p:sp>
          <p:nvSpPr>
            <p:cNvPr id="132" name="TextBox 132"/>
            <p:cNvSpPr txBox="1"/>
            <p:nvPr/>
          </p:nvSpPr>
          <p:spPr>
            <a:xfrm>
              <a:off x="10834688" y="3553539"/>
              <a:ext cx="222225" cy="154781"/>
            </a:xfrm>
            <a:prstGeom prst="rect">
              <a:avLst/>
            </a:prstGeom>
            <a:noFill/>
            <a:ln>
              <a:noFill/>
            </a:ln>
          </p:spPr>
          <p:txBody>
            <a:bodyPr wrap="none" lIns="0" tIns="0" rIns="0" bIns="0" anchor="t" anchorCtr="0">
              <a:spAutoFit/>
            </a:bodyPr>
            <a:lstStyle/>
            <a:p>
              <a:pPr algn="l"/>
              <a:r>
                <a:rPr lang="zh-CN" sz="790" dirty="0">
                  <a:solidFill>
                    <a:srgbClr val="67281B"/>
                  </a:solidFill>
                  <a:latin typeface="+mn-lt"/>
                  <a:ea typeface="+mn-ea"/>
                  <a:cs typeface="+mn-cs"/>
                </a:rPr>
                <a:t>员工</a:t>
              </a:r>
            </a:p>
          </p:txBody>
        </p:sp>
        <p:sp>
          <p:nvSpPr>
            <p:cNvPr id="133" name="Line 133"/>
            <p:cNvSpPr/>
            <p:nvPr/>
          </p:nvSpPr>
          <p:spPr>
            <a:xfrm>
              <a:off x="1676400" y="1238250"/>
              <a:ext cx="9525" cy="971550"/>
            </a:xfrm>
            <a:custGeom>
              <a:avLst/>
              <a:gdLst/>
              <a:ahLst/>
              <a:cxnLst/>
              <a:rect l="l" t="t" r="r" b="b"/>
              <a:pathLst>
                <a:path w="9525" h="971550">
                  <a:moveTo>
                    <a:pt x="0" y="0"/>
                  </a:moveTo>
                  <a:lnTo>
                    <a:pt x="0" y="971550"/>
                  </a:lnTo>
                </a:path>
              </a:pathLst>
            </a:custGeom>
            <a:noFill/>
            <a:ln w="14288">
              <a:solidFill>
                <a:srgbClr val="E8492E"/>
              </a:solidFill>
              <a:custDash>
                <a:ds d="200000" sp="200000"/>
              </a:custDash>
            </a:ln>
          </p:spPr>
        </p:sp>
        <p:sp>
          <p:nvSpPr>
            <p:cNvPr id="134" name="Line 134"/>
            <p:cNvSpPr/>
            <p:nvPr/>
          </p:nvSpPr>
          <p:spPr>
            <a:xfrm>
              <a:off x="1676400" y="1600200"/>
              <a:ext cx="514350" cy="9525"/>
            </a:xfrm>
            <a:custGeom>
              <a:avLst/>
              <a:gdLst/>
              <a:ahLst/>
              <a:cxnLst/>
              <a:rect l="l" t="t" r="r" b="b"/>
              <a:pathLst>
                <a:path w="514350" h="9525">
                  <a:moveTo>
                    <a:pt x="0" y="0"/>
                  </a:moveTo>
                  <a:lnTo>
                    <a:pt x="514350" y="0"/>
                  </a:lnTo>
                </a:path>
              </a:pathLst>
            </a:custGeom>
            <a:noFill/>
            <a:ln w="14288">
              <a:solidFill>
                <a:srgbClr val="E8492E"/>
              </a:solidFill>
              <a:custDash>
                <a:ds d="200000" sp="200000"/>
              </a:custDash>
            </a:ln>
          </p:spPr>
        </p:sp>
        <p:sp>
          <p:nvSpPr>
            <p:cNvPr id="135" name="Line 135"/>
            <p:cNvSpPr/>
            <p:nvPr/>
          </p:nvSpPr>
          <p:spPr>
            <a:xfrm>
              <a:off x="1676400" y="2628900"/>
              <a:ext cx="9525" cy="971550"/>
            </a:xfrm>
            <a:custGeom>
              <a:avLst/>
              <a:gdLst/>
              <a:ahLst/>
              <a:cxnLst/>
              <a:rect l="l" t="t" r="r" b="b"/>
              <a:pathLst>
                <a:path w="9525" h="971550">
                  <a:moveTo>
                    <a:pt x="0" y="0"/>
                  </a:moveTo>
                  <a:lnTo>
                    <a:pt x="0" y="971550"/>
                  </a:lnTo>
                </a:path>
              </a:pathLst>
            </a:custGeom>
            <a:noFill/>
            <a:ln w="14288">
              <a:solidFill>
                <a:srgbClr val="E8492E"/>
              </a:solidFill>
              <a:custDash>
                <a:ds d="200000" sp="200000"/>
              </a:custDash>
            </a:ln>
          </p:spPr>
        </p:sp>
        <p:sp>
          <p:nvSpPr>
            <p:cNvPr id="136" name="Line 136"/>
            <p:cNvSpPr/>
            <p:nvPr/>
          </p:nvSpPr>
          <p:spPr>
            <a:xfrm>
              <a:off x="1676400" y="3448050"/>
              <a:ext cx="514350" cy="9525"/>
            </a:xfrm>
            <a:custGeom>
              <a:avLst/>
              <a:gdLst/>
              <a:ahLst/>
              <a:cxnLst/>
              <a:rect l="l" t="t" r="r" b="b"/>
              <a:pathLst>
                <a:path w="514350" h="9525">
                  <a:moveTo>
                    <a:pt x="0" y="0"/>
                  </a:moveTo>
                  <a:lnTo>
                    <a:pt x="514350" y="0"/>
                  </a:lnTo>
                </a:path>
              </a:pathLst>
            </a:custGeom>
            <a:noFill/>
            <a:ln w="14288">
              <a:solidFill>
                <a:srgbClr val="E8492E"/>
              </a:solidFill>
              <a:custDash>
                <a:ds d="200000" sp="200000"/>
              </a:custDash>
            </a:ln>
          </p:spPr>
        </p:sp>
        <p:sp>
          <p:nvSpPr>
            <p:cNvPr id="137" name="Line 137"/>
            <p:cNvSpPr/>
            <p:nvPr/>
          </p:nvSpPr>
          <p:spPr>
            <a:xfrm>
              <a:off x="10515600" y="1238250"/>
              <a:ext cx="9525" cy="971550"/>
            </a:xfrm>
            <a:custGeom>
              <a:avLst/>
              <a:gdLst/>
              <a:ahLst/>
              <a:cxnLst/>
              <a:rect l="l" t="t" r="r" b="b"/>
              <a:pathLst>
                <a:path w="9525" h="971550">
                  <a:moveTo>
                    <a:pt x="0" y="0"/>
                  </a:moveTo>
                  <a:lnTo>
                    <a:pt x="0" y="971550"/>
                  </a:lnTo>
                </a:path>
              </a:pathLst>
            </a:custGeom>
            <a:noFill/>
            <a:ln w="14288">
              <a:solidFill>
                <a:srgbClr val="E8492E"/>
              </a:solidFill>
              <a:custDash>
                <a:ds d="200000" sp="200000"/>
              </a:custDash>
            </a:ln>
          </p:spPr>
        </p:sp>
        <p:sp>
          <p:nvSpPr>
            <p:cNvPr id="138" name="Line 138"/>
            <p:cNvSpPr/>
            <p:nvPr/>
          </p:nvSpPr>
          <p:spPr>
            <a:xfrm>
              <a:off x="10001250" y="1600200"/>
              <a:ext cx="514350" cy="9525"/>
            </a:xfrm>
            <a:custGeom>
              <a:avLst/>
              <a:gdLst/>
              <a:ahLst/>
              <a:cxnLst/>
              <a:rect l="l" t="t" r="r" b="b"/>
              <a:pathLst>
                <a:path w="514350" h="9525">
                  <a:moveTo>
                    <a:pt x="0" y="0"/>
                  </a:moveTo>
                  <a:lnTo>
                    <a:pt x="514350" y="0"/>
                  </a:lnTo>
                </a:path>
              </a:pathLst>
            </a:custGeom>
            <a:noFill/>
            <a:ln w="14288">
              <a:solidFill>
                <a:srgbClr val="E8492E"/>
              </a:solidFill>
              <a:custDash>
                <a:ds d="200000" sp="200000"/>
              </a:custDash>
            </a:ln>
          </p:spPr>
        </p:sp>
        <p:sp>
          <p:nvSpPr>
            <p:cNvPr id="139" name="Line 139"/>
            <p:cNvSpPr/>
            <p:nvPr/>
          </p:nvSpPr>
          <p:spPr>
            <a:xfrm>
              <a:off x="10515600" y="2628900"/>
              <a:ext cx="9525" cy="971550"/>
            </a:xfrm>
            <a:custGeom>
              <a:avLst/>
              <a:gdLst/>
              <a:ahLst/>
              <a:cxnLst/>
              <a:rect l="l" t="t" r="r" b="b"/>
              <a:pathLst>
                <a:path w="9525" h="971550">
                  <a:moveTo>
                    <a:pt x="0" y="0"/>
                  </a:moveTo>
                  <a:lnTo>
                    <a:pt x="0" y="971550"/>
                  </a:lnTo>
                </a:path>
              </a:pathLst>
            </a:custGeom>
            <a:noFill/>
            <a:ln w="14288">
              <a:solidFill>
                <a:srgbClr val="E8492E"/>
              </a:solidFill>
              <a:custDash>
                <a:ds d="200000" sp="200000"/>
              </a:custDash>
            </a:ln>
          </p:spPr>
        </p:sp>
        <p:sp>
          <p:nvSpPr>
            <p:cNvPr id="140" name="Line 140"/>
            <p:cNvSpPr/>
            <p:nvPr/>
          </p:nvSpPr>
          <p:spPr>
            <a:xfrm>
              <a:off x="10001250" y="3448050"/>
              <a:ext cx="514350" cy="9525"/>
            </a:xfrm>
            <a:custGeom>
              <a:avLst/>
              <a:gdLst/>
              <a:ahLst/>
              <a:cxnLst/>
              <a:rect l="l" t="t" r="r" b="b"/>
              <a:pathLst>
                <a:path w="514350" h="9525">
                  <a:moveTo>
                    <a:pt x="0" y="0"/>
                  </a:moveTo>
                  <a:lnTo>
                    <a:pt x="514350" y="0"/>
                  </a:lnTo>
                </a:path>
              </a:pathLst>
            </a:custGeom>
            <a:noFill/>
            <a:ln w="14288">
              <a:solidFill>
                <a:srgbClr val="E8492E"/>
              </a:solidFill>
              <a:custDash>
                <a:ds d="200000" sp="200000"/>
              </a:custDash>
            </a:ln>
          </p:spPr>
        </p:sp>
        <p:sp>
          <p:nvSpPr>
            <p:cNvPr id="141" name="Line 141"/>
            <p:cNvSpPr/>
            <p:nvPr/>
          </p:nvSpPr>
          <p:spPr>
            <a:xfrm flipH="1" flipV="1">
              <a:off x="2990850" y="1676400"/>
              <a:ext cx="2305050" cy="438150"/>
            </a:xfrm>
            <a:prstGeom prst="line">
              <a:avLst/>
            </a:prstGeom>
            <a:noFill/>
            <a:ln w="19050">
              <a:solidFill>
                <a:srgbClr val="D64A2E"/>
              </a:solidFill>
              <a:tailEnd type="triangle" w="lg" len="lg"/>
            </a:ln>
          </p:spPr>
        </p:sp>
        <p:sp>
          <p:nvSpPr>
            <p:cNvPr id="142" name="TextBox 142"/>
            <p:cNvSpPr txBox="1"/>
            <p:nvPr/>
          </p:nvSpPr>
          <p:spPr>
            <a:xfrm>
              <a:off x="3936682" y="172878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采购订单</a:t>
              </a:r>
            </a:p>
          </p:txBody>
        </p:sp>
        <p:sp>
          <p:nvSpPr>
            <p:cNvPr id="143" name="Line 143"/>
            <p:cNvSpPr/>
            <p:nvPr/>
          </p:nvSpPr>
          <p:spPr>
            <a:xfrm>
              <a:off x="2990850" y="1905000"/>
              <a:ext cx="2305050" cy="457200"/>
            </a:xfrm>
            <a:prstGeom prst="line">
              <a:avLst/>
            </a:prstGeom>
            <a:noFill/>
            <a:ln w="19050">
              <a:solidFill>
                <a:srgbClr val="A5280F"/>
              </a:solidFill>
              <a:custDash>
                <a:ds d="250000" sp="150000"/>
              </a:custDash>
              <a:tailEnd type="triangle" w="lg" len="lg"/>
            </a:ln>
          </p:spPr>
        </p:sp>
        <p:sp>
          <p:nvSpPr>
            <p:cNvPr id="144" name="TextBox 144"/>
            <p:cNvSpPr txBox="1"/>
            <p:nvPr/>
          </p:nvSpPr>
          <p:spPr>
            <a:xfrm>
              <a:off x="3936682" y="226218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销售回款</a:t>
              </a:r>
            </a:p>
          </p:txBody>
        </p:sp>
        <p:sp>
          <p:nvSpPr>
            <p:cNvPr id="145" name="Line 145"/>
            <p:cNvSpPr/>
            <p:nvPr/>
          </p:nvSpPr>
          <p:spPr>
            <a:xfrm flipH="1">
              <a:off x="2990850" y="2952750"/>
              <a:ext cx="2305050" cy="400050"/>
            </a:xfrm>
            <a:prstGeom prst="line">
              <a:avLst/>
            </a:prstGeom>
            <a:noFill/>
            <a:ln w="19050">
              <a:solidFill>
                <a:srgbClr val="D64A2E"/>
              </a:solidFill>
              <a:tailEnd type="triangle" w="lg" len="lg"/>
            </a:ln>
          </p:spPr>
        </p:sp>
        <p:sp>
          <p:nvSpPr>
            <p:cNvPr id="146" name="TextBox 146"/>
            <p:cNvSpPr txBox="1"/>
            <p:nvPr/>
          </p:nvSpPr>
          <p:spPr>
            <a:xfrm>
              <a:off x="3936682" y="294798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采购订单</a:t>
              </a:r>
            </a:p>
          </p:txBody>
        </p:sp>
        <p:sp>
          <p:nvSpPr>
            <p:cNvPr id="147" name="Line 147"/>
            <p:cNvSpPr/>
            <p:nvPr/>
          </p:nvSpPr>
          <p:spPr>
            <a:xfrm flipV="1">
              <a:off x="2990850" y="3181350"/>
              <a:ext cx="2305050" cy="400050"/>
            </a:xfrm>
            <a:prstGeom prst="line">
              <a:avLst/>
            </a:prstGeom>
            <a:noFill/>
            <a:ln w="19050">
              <a:solidFill>
                <a:srgbClr val="A5280F"/>
              </a:solidFill>
              <a:custDash>
                <a:ds d="250000" sp="150000"/>
              </a:custDash>
              <a:tailEnd type="triangle" w="lg" len="lg"/>
            </a:ln>
          </p:spPr>
        </p:sp>
        <p:sp>
          <p:nvSpPr>
            <p:cNvPr id="148" name="TextBox 148"/>
            <p:cNvSpPr txBox="1"/>
            <p:nvPr/>
          </p:nvSpPr>
          <p:spPr>
            <a:xfrm>
              <a:off x="3936682" y="346233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销售回款</a:t>
              </a:r>
            </a:p>
          </p:txBody>
        </p:sp>
        <p:sp>
          <p:nvSpPr>
            <p:cNvPr id="149" name="Line 149"/>
            <p:cNvSpPr/>
            <p:nvPr/>
          </p:nvSpPr>
          <p:spPr>
            <a:xfrm flipV="1">
              <a:off x="6896100" y="1676400"/>
              <a:ext cx="2305050" cy="438150"/>
            </a:xfrm>
            <a:prstGeom prst="line">
              <a:avLst/>
            </a:prstGeom>
            <a:noFill/>
            <a:ln w="19050">
              <a:solidFill>
                <a:srgbClr val="D64A2E"/>
              </a:solidFill>
              <a:tailEnd type="triangle" w="lg" len="lg"/>
            </a:ln>
          </p:spPr>
        </p:sp>
        <p:sp>
          <p:nvSpPr>
            <p:cNvPr id="150" name="TextBox 150"/>
            <p:cNvSpPr txBox="1"/>
            <p:nvPr/>
          </p:nvSpPr>
          <p:spPr>
            <a:xfrm>
              <a:off x="7841932" y="172878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物流信息</a:t>
              </a:r>
            </a:p>
          </p:txBody>
        </p:sp>
        <p:sp>
          <p:nvSpPr>
            <p:cNvPr id="151" name="Line 151"/>
            <p:cNvSpPr/>
            <p:nvPr/>
          </p:nvSpPr>
          <p:spPr>
            <a:xfrm flipH="1">
              <a:off x="6896100" y="1905000"/>
              <a:ext cx="2305050" cy="457200"/>
            </a:xfrm>
            <a:prstGeom prst="line">
              <a:avLst/>
            </a:prstGeom>
            <a:noFill/>
            <a:ln w="19050">
              <a:solidFill>
                <a:srgbClr val="A5280F"/>
              </a:solidFill>
              <a:custDash>
                <a:ds d="250000" sp="150000"/>
              </a:custDash>
              <a:tailEnd type="triangle" w="lg" len="lg"/>
            </a:ln>
          </p:spPr>
        </p:sp>
        <p:sp>
          <p:nvSpPr>
            <p:cNvPr id="152" name="TextBox 152"/>
            <p:cNvSpPr txBox="1"/>
            <p:nvPr/>
          </p:nvSpPr>
          <p:spPr>
            <a:xfrm>
              <a:off x="7841932" y="226218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销售回款</a:t>
              </a:r>
            </a:p>
          </p:txBody>
        </p:sp>
        <p:sp>
          <p:nvSpPr>
            <p:cNvPr id="153" name="Line 153"/>
            <p:cNvSpPr/>
            <p:nvPr/>
          </p:nvSpPr>
          <p:spPr>
            <a:xfrm>
              <a:off x="6896100" y="2952750"/>
              <a:ext cx="2305050" cy="400050"/>
            </a:xfrm>
            <a:prstGeom prst="line">
              <a:avLst/>
            </a:prstGeom>
            <a:noFill/>
            <a:ln w="19050">
              <a:solidFill>
                <a:srgbClr val="D64A2E"/>
              </a:solidFill>
              <a:tailEnd type="triangle" w="lg" len="lg"/>
            </a:ln>
          </p:spPr>
        </p:sp>
        <p:sp>
          <p:nvSpPr>
            <p:cNvPr id="154" name="TextBox 154"/>
            <p:cNvSpPr txBox="1"/>
            <p:nvPr/>
          </p:nvSpPr>
          <p:spPr>
            <a:xfrm>
              <a:off x="7841932" y="294798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服务合同</a:t>
              </a:r>
            </a:p>
          </p:txBody>
        </p:sp>
        <p:sp>
          <p:nvSpPr>
            <p:cNvPr id="155" name="Line 155"/>
            <p:cNvSpPr/>
            <p:nvPr/>
          </p:nvSpPr>
          <p:spPr>
            <a:xfrm flipH="1" flipV="1">
              <a:off x="6896100" y="3181350"/>
              <a:ext cx="2305050" cy="400050"/>
            </a:xfrm>
            <a:prstGeom prst="line">
              <a:avLst/>
            </a:prstGeom>
            <a:noFill/>
            <a:ln w="19050">
              <a:solidFill>
                <a:srgbClr val="A5280F"/>
              </a:solidFill>
              <a:custDash>
                <a:ds d="250000" sp="150000"/>
              </a:custDash>
              <a:tailEnd type="triangle" w="lg" len="lg"/>
            </a:ln>
          </p:spPr>
        </p:sp>
        <p:sp>
          <p:nvSpPr>
            <p:cNvPr id="156" name="TextBox 156"/>
            <p:cNvSpPr txBox="1"/>
            <p:nvPr/>
          </p:nvSpPr>
          <p:spPr>
            <a:xfrm>
              <a:off x="7841932" y="346233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销售回款</a:t>
              </a:r>
            </a:p>
          </p:txBody>
        </p:sp>
        <p:sp>
          <p:nvSpPr>
            <p:cNvPr id="157" name="Ellipse 157"/>
            <p:cNvSpPr/>
            <p:nvPr/>
          </p:nvSpPr>
          <p:spPr>
            <a:xfrm>
              <a:off x="2190750" y="1219200"/>
              <a:ext cx="762000" cy="762000"/>
            </a:xfrm>
            <a:prstGeom prst="ellipse">
              <a:avLst/>
            </a:prstGeom>
            <a:solidFill>
              <a:srgbClr val="A8351D"/>
            </a:solidFill>
            <a:ln>
              <a:noFill/>
            </a:ln>
          </p:spPr>
        </p:sp>
        <p:grpSp>
          <p:nvGrpSpPr>
            <p:cNvPr id="166" name="Group 166"/>
            <p:cNvGrpSpPr/>
            <p:nvPr/>
          </p:nvGrpSpPr>
          <p:grpSpPr>
            <a:xfrm>
              <a:off x="2457450" y="1428750"/>
              <a:ext cx="228599" cy="238124"/>
              <a:chOff x="2457450" y="1428750"/>
              <a:chExt cx="228599" cy="238124"/>
            </a:xfrm>
          </p:grpSpPr>
          <p:sp>
            <p:nvSpPr>
              <p:cNvPr id="158" name="Freeform 158"/>
              <p:cNvSpPr/>
              <p:nvPr/>
            </p:nvSpPr>
            <p:spPr>
              <a:xfrm>
                <a:off x="2457450" y="1657349"/>
                <a:ext cx="228599" cy="9525"/>
              </a:xfrm>
              <a:custGeom>
                <a:avLst/>
                <a:gdLst/>
                <a:ahLst/>
                <a:cxnLst/>
                <a:rect l="l" t="t" r="r" b="b"/>
                <a:pathLst>
                  <a:path w="228599" h="9525">
                    <a:moveTo>
                      <a:pt x="0" y="0"/>
                    </a:moveTo>
                    <a:lnTo>
                      <a:pt x="228599" y="0"/>
                    </a:lnTo>
                  </a:path>
                </a:pathLst>
              </a:custGeom>
              <a:noFill/>
              <a:ln w="25400">
                <a:solidFill>
                  <a:srgbClr val="FFFFFF"/>
                </a:solidFill>
              </a:ln>
            </p:spPr>
          </p:sp>
          <p:sp>
            <p:nvSpPr>
              <p:cNvPr id="159" name="Freeform 159"/>
              <p:cNvSpPr/>
              <p:nvPr/>
            </p:nvSpPr>
            <p:spPr>
              <a:xfrm>
                <a:off x="2533650" y="149225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160" name="Freeform 160"/>
              <p:cNvSpPr/>
              <p:nvPr/>
            </p:nvSpPr>
            <p:spPr>
              <a:xfrm>
                <a:off x="2533650" y="154305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161" name="Freeform 161"/>
              <p:cNvSpPr/>
              <p:nvPr/>
            </p:nvSpPr>
            <p:spPr>
              <a:xfrm>
                <a:off x="2533650" y="1593849"/>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162" name="Freeform 162"/>
              <p:cNvSpPr/>
              <p:nvPr/>
            </p:nvSpPr>
            <p:spPr>
              <a:xfrm>
                <a:off x="2597150" y="149225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163" name="Freeform 163"/>
              <p:cNvSpPr/>
              <p:nvPr/>
            </p:nvSpPr>
            <p:spPr>
              <a:xfrm>
                <a:off x="2597150" y="154305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164" name="Freeform 164"/>
              <p:cNvSpPr/>
              <p:nvPr/>
            </p:nvSpPr>
            <p:spPr>
              <a:xfrm>
                <a:off x="2597150" y="1593849"/>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165" name="Freeform 165"/>
              <p:cNvSpPr/>
              <p:nvPr/>
            </p:nvSpPr>
            <p:spPr>
              <a:xfrm>
                <a:off x="2482850" y="1428750"/>
                <a:ext cx="177800" cy="228599"/>
              </a:xfrm>
              <a:custGeom>
                <a:avLst/>
                <a:gdLst/>
                <a:ahLst/>
                <a:cxnLst/>
                <a:rect l="l" t="t" r="r" b="b"/>
                <a:pathLst>
                  <a:path w="177800" h="228599">
                    <a:moveTo>
                      <a:pt x="0" y="228599"/>
                    </a:moveTo>
                    <a:lnTo>
                      <a:pt x="0" y="25400"/>
                    </a:lnTo>
                    <a:cubicBezTo>
                      <a:pt x="0" y="11372"/>
                      <a:pt x="11372" y="0"/>
                      <a:pt x="25400" y="0"/>
                    </a:cubicBezTo>
                    <a:lnTo>
                      <a:pt x="152400" y="0"/>
                    </a:lnTo>
                    <a:cubicBezTo>
                      <a:pt x="166428" y="0"/>
                      <a:pt x="177800" y="11372"/>
                      <a:pt x="177800" y="25400"/>
                    </a:cubicBezTo>
                    <a:lnTo>
                      <a:pt x="177800" y="228599"/>
                    </a:lnTo>
                  </a:path>
                </a:pathLst>
              </a:custGeom>
              <a:noFill/>
              <a:ln w="25400">
                <a:solidFill>
                  <a:srgbClr val="FFFFFF"/>
                </a:solidFill>
              </a:ln>
            </p:spPr>
          </p:sp>
        </p:grpSp>
        <p:sp>
          <p:nvSpPr>
            <p:cNvPr id="167" name="TextBox 167"/>
            <p:cNvSpPr txBox="1"/>
            <p:nvPr/>
          </p:nvSpPr>
          <p:spPr>
            <a:xfrm>
              <a:off x="2401405" y="177784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供应商</a:t>
              </a:r>
            </a:p>
          </p:txBody>
        </p:sp>
        <p:sp>
          <p:nvSpPr>
            <p:cNvPr id="168" name="Ellipse 168"/>
            <p:cNvSpPr/>
            <p:nvPr/>
          </p:nvSpPr>
          <p:spPr>
            <a:xfrm>
              <a:off x="2190750" y="3067050"/>
              <a:ext cx="762000" cy="762000"/>
            </a:xfrm>
            <a:prstGeom prst="ellipse">
              <a:avLst/>
            </a:prstGeom>
            <a:solidFill>
              <a:srgbClr val="A8351D"/>
            </a:solidFill>
            <a:ln>
              <a:noFill/>
            </a:ln>
          </p:spPr>
        </p:sp>
        <p:grpSp>
          <p:nvGrpSpPr>
            <p:cNvPr id="173" name="Group 173"/>
            <p:cNvGrpSpPr/>
            <p:nvPr/>
          </p:nvGrpSpPr>
          <p:grpSpPr>
            <a:xfrm>
              <a:off x="2470150" y="3276600"/>
              <a:ext cx="203200" cy="228599"/>
              <a:chOff x="2470150" y="3276600"/>
              <a:chExt cx="203200" cy="228599"/>
            </a:xfrm>
          </p:grpSpPr>
          <p:sp>
            <p:nvSpPr>
              <p:cNvPr id="169" name="Freeform 169"/>
              <p:cNvSpPr/>
              <p:nvPr/>
            </p:nvSpPr>
            <p:spPr>
              <a:xfrm>
                <a:off x="2470150" y="345439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170" name="Freeform 170"/>
              <p:cNvSpPr/>
              <p:nvPr/>
            </p:nvSpPr>
            <p:spPr>
              <a:xfrm>
                <a:off x="2609850" y="345439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171" name="Freeform 171"/>
              <p:cNvSpPr/>
              <p:nvPr/>
            </p:nvSpPr>
            <p:spPr>
              <a:xfrm>
                <a:off x="2470150" y="3276600"/>
                <a:ext cx="165100" cy="177800"/>
              </a:xfrm>
              <a:custGeom>
                <a:avLst/>
                <a:gdLst/>
                <a:ahLst/>
                <a:cxnLst/>
                <a:rect l="l" t="t" r="r" b="b"/>
                <a:pathLst>
                  <a:path w="165100" h="177800">
                    <a:moveTo>
                      <a:pt x="165100" y="177800"/>
                    </a:moveTo>
                    <a:lnTo>
                      <a:pt x="25400" y="177800"/>
                    </a:lnTo>
                    <a:lnTo>
                      <a:pt x="25400" y="0"/>
                    </a:lnTo>
                    <a:lnTo>
                      <a:pt x="0" y="0"/>
                    </a:lnTo>
                  </a:path>
                </a:pathLst>
              </a:custGeom>
              <a:noFill/>
              <a:ln w="25400">
                <a:solidFill>
                  <a:srgbClr val="FFFFFF"/>
                </a:solidFill>
              </a:ln>
            </p:spPr>
          </p:sp>
          <p:sp>
            <p:nvSpPr>
              <p:cNvPr id="172" name="Freeform 172"/>
              <p:cNvSpPr/>
              <p:nvPr/>
            </p:nvSpPr>
            <p:spPr>
              <a:xfrm>
                <a:off x="2495550" y="3302000"/>
                <a:ext cx="177800" cy="101600"/>
              </a:xfrm>
              <a:custGeom>
                <a:avLst/>
                <a:gdLst/>
                <a:ahLst/>
                <a:cxnLst/>
                <a:rect l="l" t="t" r="r" b="b"/>
                <a:pathLst>
                  <a:path w="177800" h="101600">
                    <a:moveTo>
                      <a:pt x="0" y="0"/>
                    </a:moveTo>
                    <a:lnTo>
                      <a:pt x="177800" y="12700"/>
                    </a:lnTo>
                    <a:lnTo>
                      <a:pt x="165100" y="101600"/>
                    </a:lnTo>
                    <a:lnTo>
                      <a:pt x="0" y="101600"/>
                    </a:lnTo>
                  </a:path>
                </a:pathLst>
              </a:custGeom>
              <a:noFill/>
              <a:ln w="25400">
                <a:solidFill>
                  <a:srgbClr val="FFFFFF"/>
                </a:solidFill>
              </a:ln>
            </p:spPr>
          </p:sp>
        </p:grpSp>
        <p:sp>
          <p:nvSpPr>
            <p:cNvPr id="174" name="TextBox 174"/>
            <p:cNvSpPr txBox="1"/>
            <p:nvPr/>
          </p:nvSpPr>
          <p:spPr>
            <a:xfrm>
              <a:off x="2401405" y="362569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经销商</a:t>
              </a:r>
            </a:p>
          </p:txBody>
        </p:sp>
        <p:sp>
          <p:nvSpPr>
            <p:cNvPr id="175" name="Ellipse 175"/>
            <p:cNvSpPr/>
            <p:nvPr/>
          </p:nvSpPr>
          <p:spPr>
            <a:xfrm>
              <a:off x="9239250" y="1219200"/>
              <a:ext cx="762000" cy="762000"/>
            </a:xfrm>
            <a:prstGeom prst="ellipse">
              <a:avLst/>
            </a:prstGeom>
            <a:solidFill>
              <a:srgbClr val="A5280F"/>
            </a:solidFill>
            <a:ln>
              <a:noFill/>
            </a:ln>
          </p:spPr>
        </p:sp>
        <p:grpSp>
          <p:nvGrpSpPr>
            <p:cNvPr id="179" name="Group 179"/>
            <p:cNvGrpSpPr/>
            <p:nvPr/>
          </p:nvGrpSpPr>
          <p:grpSpPr>
            <a:xfrm>
              <a:off x="9505950" y="1428750"/>
              <a:ext cx="228599" cy="228599"/>
              <a:chOff x="9505950" y="1428750"/>
              <a:chExt cx="228599" cy="228599"/>
            </a:xfrm>
          </p:grpSpPr>
          <p:sp>
            <p:nvSpPr>
              <p:cNvPr id="176" name="Freeform 176"/>
              <p:cNvSpPr/>
              <p:nvPr/>
            </p:nvSpPr>
            <p:spPr>
              <a:xfrm>
                <a:off x="9505950" y="160654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177" name="Freeform 177"/>
              <p:cNvSpPr/>
              <p:nvPr/>
            </p:nvSpPr>
            <p:spPr>
              <a:xfrm>
                <a:off x="9683749" y="1428750"/>
                <a:ext cx="50800" cy="50800"/>
              </a:xfrm>
              <a:custGeom>
                <a:avLst/>
                <a:gdLst/>
                <a:ahLst/>
                <a:cxnLst/>
                <a:rect l="l" t="t" r="r" b="b"/>
                <a:pathLst>
                  <a:path w="50800" h="50800">
                    <a:moveTo>
                      <a:pt x="25400" y="50800"/>
                    </a:moveTo>
                    <a:cubicBezTo>
                      <a:pt x="39428" y="50800"/>
                      <a:pt x="50800" y="39428"/>
                      <a:pt x="50800" y="25400"/>
                    </a:cubicBezTo>
                    <a:cubicBezTo>
                      <a:pt x="50800" y="11372"/>
                      <a:pt x="39428" y="0"/>
                      <a:pt x="25400" y="0"/>
                    </a:cubicBezTo>
                    <a:cubicBezTo>
                      <a:pt x="11372" y="0"/>
                      <a:pt x="0" y="11372"/>
                      <a:pt x="0" y="25400"/>
                    </a:cubicBezTo>
                    <a:cubicBezTo>
                      <a:pt x="0" y="39428"/>
                      <a:pt x="11372" y="50800"/>
                      <a:pt x="25400" y="50800"/>
                    </a:cubicBezTo>
                  </a:path>
                </a:pathLst>
              </a:custGeom>
              <a:noFill/>
              <a:ln w="25400">
                <a:solidFill>
                  <a:srgbClr val="FFFFFF"/>
                </a:solidFill>
              </a:ln>
            </p:spPr>
          </p:sp>
          <p:sp>
            <p:nvSpPr>
              <p:cNvPr id="178" name="Freeform 178"/>
              <p:cNvSpPr/>
              <p:nvPr/>
            </p:nvSpPr>
            <p:spPr>
              <a:xfrm>
                <a:off x="9531350" y="1454150"/>
                <a:ext cx="190500" cy="177800"/>
              </a:xfrm>
              <a:custGeom>
                <a:avLst/>
                <a:gdLst/>
                <a:ahLst/>
                <a:cxnLst/>
                <a:rect l="l" t="t" r="r" b="b"/>
                <a:pathLst>
                  <a:path w="190500" h="177800">
                    <a:moveTo>
                      <a:pt x="76200" y="177800"/>
                    </a:moveTo>
                    <a:lnTo>
                      <a:pt x="146050" y="177800"/>
                    </a:lnTo>
                    <a:cubicBezTo>
                      <a:pt x="170599" y="177800"/>
                      <a:pt x="190500" y="157899"/>
                      <a:pt x="190500" y="133350"/>
                    </a:cubicBezTo>
                    <a:cubicBezTo>
                      <a:pt x="190500" y="108801"/>
                      <a:pt x="170599" y="88900"/>
                      <a:pt x="146050" y="88900"/>
                    </a:cubicBezTo>
                    <a:lnTo>
                      <a:pt x="44450" y="88900"/>
                    </a:lnTo>
                    <a:cubicBezTo>
                      <a:pt x="19901" y="88900"/>
                      <a:pt x="0" y="68999"/>
                      <a:pt x="0" y="44450"/>
                    </a:cubicBezTo>
                    <a:cubicBezTo>
                      <a:pt x="0" y="19901"/>
                      <a:pt x="19901" y="0"/>
                      <a:pt x="44450" y="0"/>
                    </a:cubicBezTo>
                    <a:lnTo>
                      <a:pt x="101600" y="0"/>
                    </a:lnTo>
                  </a:path>
                </a:pathLst>
              </a:custGeom>
              <a:noFill/>
              <a:ln w="25400">
                <a:solidFill>
                  <a:srgbClr val="FFFFFF"/>
                </a:solidFill>
              </a:ln>
            </p:spPr>
          </p:sp>
        </p:grpSp>
        <p:sp>
          <p:nvSpPr>
            <p:cNvPr id="180" name="TextBox 180"/>
            <p:cNvSpPr txBox="1"/>
            <p:nvPr/>
          </p:nvSpPr>
          <p:spPr>
            <a:xfrm>
              <a:off x="9449905" y="177784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物流商</a:t>
              </a:r>
            </a:p>
          </p:txBody>
        </p:sp>
        <p:sp>
          <p:nvSpPr>
            <p:cNvPr id="181" name="Ellipse 181"/>
            <p:cNvSpPr/>
            <p:nvPr/>
          </p:nvSpPr>
          <p:spPr>
            <a:xfrm>
              <a:off x="9239250" y="3067050"/>
              <a:ext cx="762000" cy="762000"/>
            </a:xfrm>
            <a:prstGeom prst="ellipse">
              <a:avLst/>
            </a:prstGeom>
            <a:solidFill>
              <a:srgbClr val="A5280F"/>
            </a:solidFill>
            <a:ln>
              <a:noFill/>
            </a:ln>
          </p:spPr>
        </p:sp>
        <p:grpSp>
          <p:nvGrpSpPr>
            <p:cNvPr id="184" name="Group 184"/>
            <p:cNvGrpSpPr/>
            <p:nvPr/>
          </p:nvGrpSpPr>
          <p:grpSpPr>
            <a:xfrm>
              <a:off x="9500375" y="3271025"/>
              <a:ext cx="239750" cy="239750"/>
              <a:chOff x="9500375" y="3271025"/>
              <a:chExt cx="239750" cy="239750"/>
            </a:xfrm>
          </p:grpSpPr>
          <p:sp>
            <p:nvSpPr>
              <p:cNvPr id="182" name="Freeform 182"/>
              <p:cNvSpPr/>
              <p:nvPr/>
            </p:nvSpPr>
            <p:spPr>
              <a:xfrm>
                <a:off x="9500375" y="3271025"/>
                <a:ext cx="239750" cy="239750"/>
              </a:xfrm>
              <a:custGeom>
                <a:avLst/>
                <a:gdLst/>
                <a:ahLst/>
                <a:cxnLst/>
                <a:rect l="l" t="t" r="r" b="b"/>
                <a:pathLst>
                  <a:path w="239750" h="239750">
                    <a:moveTo>
                      <a:pt x="98603" y="22301"/>
                    </a:moveTo>
                    <a:cubicBezTo>
                      <a:pt x="104013" y="0"/>
                      <a:pt x="135737" y="0"/>
                      <a:pt x="141147" y="22301"/>
                    </a:cubicBezTo>
                    <a:cubicBezTo>
                      <a:pt x="142794" y="29096"/>
                      <a:pt x="147587" y="34697"/>
                      <a:pt x="154046" y="37373"/>
                    </a:cubicBezTo>
                    <a:cubicBezTo>
                      <a:pt x="160506" y="40049"/>
                      <a:pt x="167855" y="39479"/>
                      <a:pt x="173824" y="35839"/>
                    </a:cubicBezTo>
                    <a:cubicBezTo>
                      <a:pt x="193421" y="23901"/>
                      <a:pt x="215861" y="46329"/>
                      <a:pt x="203923" y="65938"/>
                    </a:cubicBezTo>
                    <a:cubicBezTo>
                      <a:pt x="200289" y="71905"/>
                      <a:pt x="199720" y="79249"/>
                      <a:pt x="202393" y="85704"/>
                    </a:cubicBezTo>
                    <a:cubicBezTo>
                      <a:pt x="205066" y="92160"/>
                      <a:pt x="210660" y="96952"/>
                      <a:pt x="217449" y="98603"/>
                    </a:cubicBezTo>
                    <a:cubicBezTo>
                      <a:pt x="239750" y="104013"/>
                      <a:pt x="239750" y="135737"/>
                      <a:pt x="217449" y="141147"/>
                    </a:cubicBezTo>
                    <a:cubicBezTo>
                      <a:pt x="210654" y="142794"/>
                      <a:pt x="205053" y="147587"/>
                      <a:pt x="202377" y="154046"/>
                    </a:cubicBezTo>
                    <a:cubicBezTo>
                      <a:pt x="199701" y="160506"/>
                      <a:pt x="200271" y="167855"/>
                      <a:pt x="203911" y="173824"/>
                    </a:cubicBezTo>
                    <a:cubicBezTo>
                      <a:pt x="215849" y="193421"/>
                      <a:pt x="193421" y="215861"/>
                      <a:pt x="173812" y="203923"/>
                    </a:cubicBezTo>
                    <a:cubicBezTo>
                      <a:pt x="167845" y="200289"/>
                      <a:pt x="160501" y="199720"/>
                      <a:pt x="154046" y="202393"/>
                    </a:cubicBezTo>
                    <a:cubicBezTo>
                      <a:pt x="147590" y="205066"/>
                      <a:pt x="142798" y="210660"/>
                      <a:pt x="141147" y="217449"/>
                    </a:cubicBezTo>
                    <a:cubicBezTo>
                      <a:pt x="135737" y="239750"/>
                      <a:pt x="104013" y="239750"/>
                      <a:pt x="98603" y="217449"/>
                    </a:cubicBezTo>
                    <a:cubicBezTo>
                      <a:pt x="96956" y="210654"/>
                      <a:pt x="92163" y="205053"/>
                      <a:pt x="85704" y="202377"/>
                    </a:cubicBezTo>
                    <a:cubicBezTo>
                      <a:pt x="79244" y="199701"/>
                      <a:pt x="71895" y="200271"/>
                      <a:pt x="65926" y="203911"/>
                    </a:cubicBezTo>
                    <a:cubicBezTo>
                      <a:pt x="46329" y="215849"/>
                      <a:pt x="23889" y="193421"/>
                      <a:pt x="35827" y="173812"/>
                    </a:cubicBezTo>
                    <a:cubicBezTo>
                      <a:pt x="39461" y="167845"/>
                      <a:pt x="40030" y="160501"/>
                      <a:pt x="37357" y="154046"/>
                    </a:cubicBezTo>
                    <a:cubicBezTo>
                      <a:pt x="34684" y="147590"/>
                      <a:pt x="29090" y="142798"/>
                      <a:pt x="22301" y="141147"/>
                    </a:cubicBezTo>
                    <a:cubicBezTo>
                      <a:pt x="0" y="135737"/>
                      <a:pt x="0" y="104013"/>
                      <a:pt x="22301" y="98603"/>
                    </a:cubicBezTo>
                    <a:cubicBezTo>
                      <a:pt x="29096" y="96956"/>
                      <a:pt x="34697" y="92163"/>
                      <a:pt x="37373" y="85704"/>
                    </a:cubicBezTo>
                    <a:cubicBezTo>
                      <a:pt x="40049" y="79244"/>
                      <a:pt x="39479" y="71895"/>
                      <a:pt x="35839" y="65926"/>
                    </a:cubicBezTo>
                    <a:cubicBezTo>
                      <a:pt x="23901" y="46329"/>
                      <a:pt x="46329" y="23889"/>
                      <a:pt x="65938" y="35827"/>
                    </a:cubicBezTo>
                    <a:cubicBezTo>
                      <a:pt x="78638" y="43548"/>
                      <a:pt x="95097" y="36716"/>
                      <a:pt x="98603" y="22301"/>
                    </a:cubicBezTo>
                  </a:path>
                </a:pathLst>
              </a:custGeom>
              <a:noFill/>
              <a:ln w="25400">
                <a:solidFill>
                  <a:srgbClr val="FFFFFF"/>
                </a:solidFill>
              </a:ln>
            </p:spPr>
          </p:sp>
          <p:sp>
            <p:nvSpPr>
              <p:cNvPr id="183" name="Freeform 183"/>
              <p:cNvSpPr/>
              <p:nvPr/>
            </p:nvSpPr>
            <p:spPr>
              <a:xfrm>
                <a:off x="9582150" y="33528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5400">
                <a:solidFill>
                  <a:srgbClr val="FFFFFF"/>
                </a:solidFill>
              </a:ln>
            </p:spPr>
          </p:sp>
        </p:grpSp>
        <p:sp>
          <p:nvSpPr>
            <p:cNvPr id="185" name="TextBox 185"/>
            <p:cNvSpPr txBox="1"/>
            <p:nvPr/>
          </p:nvSpPr>
          <p:spPr>
            <a:xfrm>
              <a:off x="9449905" y="362569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服务商</a:t>
              </a:r>
            </a:p>
          </p:txBody>
        </p:sp>
        <p:sp>
          <p:nvSpPr>
            <p:cNvPr id="186" name="Ellipse 186"/>
            <p:cNvSpPr/>
            <p:nvPr/>
          </p:nvSpPr>
          <p:spPr>
            <a:xfrm>
              <a:off x="5295900" y="1733550"/>
              <a:ext cx="1600200" cy="1600200"/>
            </a:xfrm>
            <a:prstGeom prst="ellipse">
              <a:avLst/>
            </a:prstGeom>
            <a:solidFill>
              <a:srgbClr val="FFFFFF"/>
            </a:solidFill>
            <a:ln w="19050">
              <a:solidFill>
                <a:srgbClr val="F2CCC4"/>
              </a:solidFill>
            </a:ln>
          </p:spPr>
        </p:sp>
        <p:sp>
          <p:nvSpPr>
            <p:cNvPr id="187" name="Ellipse 187"/>
            <p:cNvSpPr/>
            <p:nvPr/>
          </p:nvSpPr>
          <p:spPr>
            <a:xfrm>
              <a:off x="5391150" y="1828800"/>
              <a:ext cx="1409700" cy="1409700"/>
            </a:xfrm>
            <a:prstGeom prst="ellipse">
              <a:avLst/>
            </a:prstGeom>
            <a:gradFill>
              <a:gsLst>
                <a:gs pos="0">
                  <a:srgbClr val="A8351D"/>
                </a:gs>
                <a:gs pos="100000">
                  <a:srgbClr val="67281B"/>
                </a:gs>
              </a:gsLst>
              <a:lin ang="5400000" scaled="1"/>
            </a:gradFill>
            <a:ln>
              <a:noFill/>
            </a:ln>
          </p:spPr>
        </p:sp>
        <p:grpSp>
          <p:nvGrpSpPr>
            <p:cNvPr id="195" name="Group 195"/>
            <p:cNvGrpSpPr/>
            <p:nvPr/>
          </p:nvGrpSpPr>
          <p:grpSpPr>
            <a:xfrm>
              <a:off x="5953125" y="2105025"/>
              <a:ext cx="285751" cy="295276"/>
              <a:chOff x="5953125" y="2105025"/>
              <a:chExt cx="285751" cy="295276"/>
            </a:xfrm>
          </p:grpSpPr>
          <p:sp>
            <p:nvSpPr>
              <p:cNvPr id="188" name="Freeform 188"/>
              <p:cNvSpPr/>
              <p:nvPr/>
            </p:nvSpPr>
            <p:spPr>
              <a:xfrm>
                <a:off x="5953125" y="2390776"/>
                <a:ext cx="285751" cy="9525"/>
              </a:xfrm>
              <a:custGeom>
                <a:avLst/>
                <a:gdLst/>
                <a:ahLst/>
                <a:cxnLst/>
                <a:rect l="l" t="t" r="r" b="b"/>
                <a:pathLst>
                  <a:path w="285751" h="9525">
                    <a:moveTo>
                      <a:pt x="0" y="0"/>
                    </a:moveTo>
                    <a:lnTo>
                      <a:pt x="285751" y="0"/>
                    </a:lnTo>
                  </a:path>
                </a:pathLst>
              </a:custGeom>
              <a:noFill/>
              <a:ln w="31750">
                <a:solidFill>
                  <a:srgbClr val="FFFFFF"/>
                </a:solidFill>
              </a:ln>
            </p:spPr>
          </p:sp>
          <p:sp>
            <p:nvSpPr>
              <p:cNvPr id="189" name="Freeform 189"/>
              <p:cNvSpPr/>
              <p:nvPr/>
            </p:nvSpPr>
            <p:spPr>
              <a:xfrm>
                <a:off x="5984875" y="2105025"/>
                <a:ext cx="127000" cy="285751"/>
              </a:xfrm>
              <a:custGeom>
                <a:avLst/>
                <a:gdLst/>
                <a:ahLst/>
                <a:cxnLst/>
                <a:rect l="l" t="t" r="r" b="b"/>
                <a:pathLst>
                  <a:path w="127000" h="285751">
                    <a:moveTo>
                      <a:pt x="0" y="285751"/>
                    </a:moveTo>
                    <a:lnTo>
                      <a:pt x="0" y="63500"/>
                    </a:lnTo>
                    <a:lnTo>
                      <a:pt x="127000" y="0"/>
                    </a:lnTo>
                    <a:lnTo>
                      <a:pt x="127000" y="285751"/>
                    </a:lnTo>
                  </a:path>
                </a:pathLst>
              </a:custGeom>
              <a:noFill/>
              <a:ln w="31750">
                <a:solidFill>
                  <a:srgbClr val="FFFFFF"/>
                </a:solidFill>
              </a:ln>
            </p:spPr>
          </p:sp>
          <p:sp>
            <p:nvSpPr>
              <p:cNvPr id="190" name="Freeform 190"/>
              <p:cNvSpPr/>
              <p:nvPr/>
            </p:nvSpPr>
            <p:spPr>
              <a:xfrm>
                <a:off x="6111875" y="2168525"/>
                <a:ext cx="95250" cy="222250"/>
              </a:xfrm>
              <a:custGeom>
                <a:avLst/>
                <a:gdLst/>
                <a:ahLst/>
                <a:cxnLst/>
                <a:rect l="l" t="t" r="r" b="b"/>
                <a:pathLst>
                  <a:path w="95250" h="222250">
                    <a:moveTo>
                      <a:pt x="95250" y="222250"/>
                    </a:moveTo>
                    <a:lnTo>
                      <a:pt x="95250" y="63500"/>
                    </a:lnTo>
                    <a:lnTo>
                      <a:pt x="0" y="0"/>
                    </a:lnTo>
                  </a:path>
                </a:pathLst>
              </a:custGeom>
              <a:noFill/>
              <a:ln w="31750">
                <a:solidFill>
                  <a:srgbClr val="FFFFFF"/>
                </a:solidFill>
              </a:ln>
            </p:spPr>
          </p:sp>
          <p:sp>
            <p:nvSpPr>
              <p:cNvPr id="191" name="Freeform 191"/>
              <p:cNvSpPr/>
              <p:nvPr/>
            </p:nvSpPr>
            <p:spPr>
              <a:xfrm>
                <a:off x="6048375" y="2200275"/>
                <a:ext cx="9525" cy="9525"/>
              </a:xfrm>
              <a:custGeom>
                <a:avLst/>
                <a:gdLst/>
                <a:ahLst/>
                <a:cxnLst/>
                <a:rect l="l" t="t" r="r" b="b"/>
                <a:pathLst>
                  <a:path w="9525" h="9525">
                    <a:moveTo>
                      <a:pt x="0" y="0"/>
                    </a:moveTo>
                    <a:lnTo>
                      <a:pt x="0" y="159"/>
                    </a:lnTo>
                  </a:path>
                </a:pathLst>
              </a:custGeom>
              <a:noFill/>
              <a:ln w="31750">
                <a:solidFill>
                  <a:srgbClr val="FFFFFF"/>
                </a:solidFill>
              </a:ln>
            </p:spPr>
          </p:sp>
          <p:sp>
            <p:nvSpPr>
              <p:cNvPr id="192" name="Freeform 192"/>
              <p:cNvSpPr/>
              <p:nvPr/>
            </p:nvSpPr>
            <p:spPr>
              <a:xfrm>
                <a:off x="6048375" y="2247900"/>
                <a:ext cx="9525" cy="9525"/>
              </a:xfrm>
              <a:custGeom>
                <a:avLst/>
                <a:gdLst/>
                <a:ahLst/>
                <a:cxnLst/>
                <a:rect l="l" t="t" r="r" b="b"/>
                <a:pathLst>
                  <a:path w="9525" h="9525">
                    <a:moveTo>
                      <a:pt x="0" y="0"/>
                    </a:moveTo>
                    <a:lnTo>
                      <a:pt x="0" y="159"/>
                    </a:lnTo>
                  </a:path>
                </a:pathLst>
              </a:custGeom>
              <a:noFill/>
              <a:ln w="31750">
                <a:solidFill>
                  <a:srgbClr val="FFFFFF"/>
                </a:solidFill>
              </a:ln>
            </p:spPr>
          </p:sp>
          <p:sp>
            <p:nvSpPr>
              <p:cNvPr id="193" name="Freeform 193"/>
              <p:cNvSpPr/>
              <p:nvPr/>
            </p:nvSpPr>
            <p:spPr>
              <a:xfrm>
                <a:off x="6048375" y="2295525"/>
                <a:ext cx="9525" cy="9525"/>
              </a:xfrm>
              <a:custGeom>
                <a:avLst/>
                <a:gdLst/>
                <a:ahLst/>
                <a:cxnLst/>
                <a:rect l="l" t="t" r="r" b="b"/>
                <a:pathLst>
                  <a:path w="9525" h="9525">
                    <a:moveTo>
                      <a:pt x="0" y="0"/>
                    </a:moveTo>
                    <a:lnTo>
                      <a:pt x="0" y="159"/>
                    </a:lnTo>
                  </a:path>
                </a:pathLst>
              </a:custGeom>
              <a:noFill/>
              <a:ln w="31750">
                <a:solidFill>
                  <a:srgbClr val="FFFFFF"/>
                </a:solidFill>
              </a:ln>
            </p:spPr>
          </p:sp>
          <p:sp>
            <p:nvSpPr>
              <p:cNvPr id="194" name="Freeform 194"/>
              <p:cNvSpPr/>
              <p:nvPr/>
            </p:nvSpPr>
            <p:spPr>
              <a:xfrm>
                <a:off x="6048375" y="2343151"/>
                <a:ext cx="9525" cy="9525"/>
              </a:xfrm>
              <a:custGeom>
                <a:avLst/>
                <a:gdLst/>
                <a:ahLst/>
                <a:cxnLst/>
                <a:rect l="l" t="t" r="r" b="b"/>
                <a:pathLst>
                  <a:path w="9525" h="9525">
                    <a:moveTo>
                      <a:pt x="0" y="0"/>
                    </a:moveTo>
                    <a:lnTo>
                      <a:pt x="0" y="159"/>
                    </a:lnTo>
                  </a:path>
                </a:pathLst>
              </a:custGeom>
              <a:noFill/>
              <a:ln w="31750">
                <a:solidFill>
                  <a:srgbClr val="FFFFFF"/>
                </a:solidFill>
              </a:ln>
            </p:spPr>
          </p:sp>
        </p:grpSp>
        <p:sp>
          <p:nvSpPr>
            <p:cNvPr id="196" name="TextBox 196"/>
            <p:cNvSpPr txBox="1"/>
            <p:nvPr/>
          </p:nvSpPr>
          <p:spPr>
            <a:xfrm>
              <a:off x="5766816" y="253746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核心企业</a:t>
              </a:r>
            </a:p>
          </p:txBody>
        </p:sp>
        <p:sp>
          <p:nvSpPr>
            <p:cNvPr id="197" name="TextBox 197"/>
            <p:cNvSpPr txBox="1"/>
            <p:nvPr/>
          </p:nvSpPr>
          <p:spPr>
            <a:xfrm>
              <a:off x="5807964" y="27632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链主企业</a:t>
              </a:r>
            </a:p>
          </p:txBody>
        </p:sp>
      </p:grpSp>
      <p:grpSp>
        <p:nvGrpSpPr>
          <p:cNvPr id="224" name="dual-loop"/>
          <p:cNvGrpSpPr/>
          <p:nvPr/>
        </p:nvGrpSpPr>
        <p:grpSpPr>
          <a:xfrm>
            <a:off x="381000" y="4248150"/>
            <a:ext cx="5524500" cy="2438400"/>
            <a:chOff x="381000" y="4248150"/>
            <a:chExt cx="5524500" cy="2438400"/>
          </a:xfrm>
        </p:grpSpPr>
        <p:sp>
          <p:nvSpPr>
            <p:cNvPr id="199" name="Rectangle 199"/>
            <p:cNvSpPr/>
            <p:nvPr/>
          </p:nvSpPr>
          <p:spPr>
            <a:xfrm>
              <a:off x="381000" y="4248150"/>
              <a:ext cx="5524500" cy="2438400"/>
            </a:xfrm>
            <a:prstGeom prst="roundRect">
              <a:avLst>
                <a:gd name="adj" fmla="val 3906"/>
              </a:avLst>
            </a:prstGeom>
            <a:solidFill>
              <a:srgbClr val="F9FBFE"/>
            </a:solidFill>
            <a:ln w="9525">
              <a:solidFill>
                <a:srgbClr val="C9D8EF"/>
              </a:solidFill>
            </a:ln>
          </p:spPr>
        </p:sp>
        <p:sp>
          <p:nvSpPr>
            <p:cNvPr id="200" name="Rectangle 200"/>
            <p:cNvSpPr/>
            <p:nvPr/>
          </p:nvSpPr>
          <p:spPr>
            <a:xfrm>
              <a:off x="2190750" y="4248150"/>
              <a:ext cx="1905000" cy="285750"/>
            </a:xfrm>
            <a:prstGeom prst="roundRect">
              <a:avLst>
                <a:gd name="adj" fmla="val 13333"/>
              </a:avLst>
            </a:prstGeom>
            <a:gradFill>
              <a:gsLst>
                <a:gs pos="0">
                  <a:srgbClr val="AD3921"/>
                </a:gs>
                <a:gs pos="100000">
                  <a:srgbClr val="962C16"/>
                </a:gs>
              </a:gsLst>
              <a:lin ang="5400000" scaled="1"/>
            </a:gradFill>
            <a:ln>
              <a:noFill/>
            </a:ln>
          </p:spPr>
        </p:sp>
        <p:sp>
          <p:nvSpPr>
            <p:cNvPr id="201" name="TextBox 201"/>
            <p:cNvSpPr txBox="1"/>
            <p:nvPr/>
          </p:nvSpPr>
          <p:spPr>
            <a:xfrm>
              <a:off x="2713863" y="433482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双轮产品闭环</a:t>
              </a:r>
            </a:p>
          </p:txBody>
        </p:sp>
        <p:sp>
          <p:nvSpPr>
            <p:cNvPr id="202" name="Ellipse 202"/>
            <p:cNvSpPr/>
            <p:nvPr/>
          </p:nvSpPr>
          <p:spPr>
            <a:xfrm>
              <a:off x="838200" y="4953000"/>
              <a:ext cx="1371600" cy="1371600"/>
            </a:xfrm>
            <a:prstGeom prst="ellipse">
              <a:avLst/>
            </a:prstGeom>
            <a:solidFill>
              <a:srgbClr val="FFFFFF"/>
            </a:solidFill>
            <a:ln w="28575">
              <a:solidFill>
                <a:srgbClr val="A8351D"/>
              </a:solidFill>
            </a:ln>
          </p:spPr>
        </p:sp>
        <p:sp>
          <p:nvSpPr>
            <p:cNvPr id="203" name="Line 203"/>
            <p:cNvSpPr/>
            <p:nvPr/>
          </p:nvSpPr>
          <p:spPr>
            <a:xfrm>
              <a:off x="838200" y="5638800"/>
              <a:ext cx="1371600" cy="9525"/>
            </a:xfrm>
            <a:custGeom>
              <a:avLst/>
              <a:gdLst/>
              <a:ahLst/>
              <a:cxnLst/>
              <a:rect l="l" t="t" r="r" b="b"/>
              <a:pathLst>
                <a:path w="1371600" h="9525">
                  <a:moveTo>
                    <a:pt x="0" y="0"/>
                  </a:moveTo>
                  <a:lnTo>
                    <a:pt x="1371600" y="0"/>
                  </a:lnTo>
                </a:path>
              </a:pathLst>
            </a:custGeom>
            <a:noFill/>
            <a:ln w="9525">
              <a:solidFill>
                <a:srgbClr val="C9D8EF"/>
              </a:solidFill>
            </a:ln>
          </p:spPr>
        </p:sp>
        <p:sp>
          <p:nvSpPr>
            <p:cNvPr id="204" name="Line 204"/>
            <p:cNvSpPr/>
            <p:nvPr/>
          </p:nvSpPr>
          <p:spPr>
            <a:xfrm>
              <a:off x="1524000" y="4953000"/>
              <a:ext cx="9525" cy="1371600"/>
            </a:xfrm>
            <a:custGeom>
              <a:avLst/>
              <a:gdLst/>
              <a:ahLst/>
              <a:cxnLst/>
              <a:rect l="l" t="t" r="r" b="b"/>
              <a:pathLst>
                <a:path w="9525" h="1371600">
                  <a:moveTo>
                    <a:pt x="0" y="0"/>
                  </a:moveTo>
                  <a:lnTo>
                    <a:pt x="0" y="1371600"/>
                  </a:lnTo>
                </a:path>
              </a:pathLst>
            </a:custGeom>
            <a:noFill/>
            <a:ln w="9525">
              <a:solidFill>
                <a:srgbClr val="C9D8EF"/>
              </a:solidFill>
            </a:ln>
          </p:spPr>
        </p:sp>
        <p:sp>
          <p:nvSpPr>
            <p:cNvPr id="205" name="TextBox 205"/>
            <p:cNvSpPr txBox="1"/>
            <p:nvPr/>
          </p:nvSpPr>
          <p:spPr>
            <a:xfrm>
              <a:off x="956437" y="5276136"/>
              <a:ext cx="487426"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供应链融资</a:t>
              </a:r>
            </a:p>
          </p:txBody>
        </p:sp>
        <p:sp>
          <p:nvSpPr>
            <p:cNvPr id="206" name="TextBox 206"/>
            <p:cNvSpPr txBox="1"/>
            <p:nvPr/>
          </p:nvSpPr>
          <p:spPr>
            <a:xfrm>
              <a:off x="1766557" y="5276136"/>
              <a:ext cx="200685"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结算</a:t>
              </a:r>
            </a:p>
          </p:txBody>
        </p:sp>
        <p:sp>
          <p:nvSpPr>
            <p:cNvPr id="207" name="TextBox 207"/>
            <p:cNvSpPr txBox="1"/>
            <p:nvPr/>
          </p:nvSpPr>
          <p:spPr>
            <a:xfrm>
              <a:off x="1099807" y="5961936"/>
              <a:ext cx="200685"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票据</a:t>
              </a:r>
            </a:p>
          </p:txBody>
        </p:sp>
        <p:sp>
          <p:nvSpPr>
            <p:cNvPr id="208" name="TextBox 208"/>
            <p:cNvSpPr txBox="1"/>
            <p:nvPr/>
          </p:nvSpPr>
          <p:spPr>
            <a:xfrm>
              <a:off x="1670977" y="5961936"/>
              <a:ext cx="391846"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现金管理</a:t>
              </a:r>
            </a:p>
          </p:txBody>
        </p:sp>
        <p:sp>
          <p:nvSpPr>
            <p:cNvPr id="209" name="Ellipse 209"/>
            <p:cNvSpPr/>
            <p:nvPr/>
          </p:nvSpPr>
          <p:spPr>
            <a:xfrm>
              <a:off x="1257300" y="5372100"/>
              <a:ext cx="533400" cy="533400"/>
            </a:xfrm>
            <a:prstGeom prst="ellipse">
              <a:avLst/>
            </a:prstGeom>
            <a:solidFill>
              <a:srgbClr val="A8351D"/>
            </a:solidFill>
            <a:ln>
              <a:noFill/>
            </a:ln>
          </p:spPr>
        </p:sp>
        <p:sp>
          <p:nvSpPr>
            <p:cNvPr id="210" name="TextBox 210"/>
            <p:cNvSpPr txBox="1"/>
            <p:nvPr/>
          </p:nvSpPr>
          <p:spPr>
            <a:xfrm>
              <a:off x="1298461" y="558784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对公金融</a:t>
              </a:r>
            </a:p>
          </p:txBody>
        </p:sp>
        <p:sp>
          <p:nvSpPr>
            <p:cNvPr id="211" name="Freeform 211"/>
            <p:cNvSpPr/>
            <p:nvPr/>
          </p:nvSpPr>
          <p:spPr>
            <a:xfrm>
              <a:off x="2247900" y="5562600"/>
              <a:ext cx="228600" cy="152400"/>
            </a:xfrm>
            <a:prstGeom prst="leftRightArrow">
              <a:avLst/>
            </a:prstGeom>
            <a:solidFill>
              <a:srgbClr val="D64A2E"/>
            </a:solidFill>
            <a:ln>
              <a:noFill/>
            </a:ln>
          </p:spPr>
        </p:sp>
        <p:sp>
          <p:nvSpPr>
            <p:cNvPr id="212" name="Rectangle 212"/>
            <p:cNvSpPr/>
            <p:nvPr/>
          </p:nvSpPr>
          <p:spPr>
            <a:xfrm>
              <a:off x="2495550" y="5486400"/>
              <a:ext cx="1295400" cy="304800"/>
            </a:xfrm>
            <a:prstGeom prst="roundRect">
              <a:avLst>
                <a:gd name="adj" fmla="val 50000"/>
              </a:avLst>
            </a:prstGeom>
            <a:solidFill>
              <a:srgbClr val="A8351D"/>
            </a:solidFill>
            <a:ln>
              <a:noFill/>
            </a:ln>
          </p:spPr>
        </p:sp>
        <p:sp>
          <p:nvSpPr>
            <p:cNvPr id="213" name="TextBox 213"/>
            <p:cNvSpPr txBox="1"/>
            <p:nvPr/>
          </p:nvSpPr>
          <p:spPr>
            <a:xfrm>
              <a:off x="2586546" y="5597366"/>
              <a:ext cx="111340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链主企业联合运营计划</a:t>
              </a:r>
            </a:p>
          </p:txBody>
        </p:sp>
        <p:sp>
          <p:nvSpPr>
            <p:cNvPr id="214" name="Freeform 214"/>
            <p:cNvSpPr/>
            <p:nvPr/>
          </p:nvSpPr>
          <p:spPr>
            <a:xfrm>
              <a:off x="3810000" y="5562600"/>
              <a:ext cx="228600" cy="152400"/>
            </a:xfrm>
            <a:prstGeom prst="leftRightArrow">
              <a:avLst/>
            </a:prstGeom>
            <a:solidFill>
              <a:srgbClr val="D64A2E"/>
            </a:solidFill>
            <a:ln>
              <a:noFill/>
            </a:ln>
          </p:spPr>
        </p:sp>
        <p:sp>
          <p:nvSpPr>
            <p:cNvPr id="215" name="Ellipse 215"/>
            <p:cNvSpPr/>
            <p:nvPr/>
          </p:nvSpPr>
          <p:spPr>
            <a:xfrm>
              <a:off x="4076700" y="4953000"/>
              <a:ext cx="1371600" cy="1371600"/>
            </a:xfrm>
            <a:prstGeom prst="ellipse">
              <a:avLst/>
            </a:prstGeom>
            <a:solidFill>
              <a:srgbClr val="FFFFFF"/>
            </a:solidFill>
            <a:ln w="28575">
              <a:solidFill>
                <a:srgbClr val="A5280F"/>
              </a:solidFill>
            </a:ln>
          </p:spPr>
        </p:sp>
        <p:sp>
          <p:nvSpPr>
            <p:cNvPr id="216" name="Line 216"/>
            <p:cNvSpPr/>
            <p:nvPr/>
          </p:nvSpPr>
          <p:spPr>
            <a:xfrm>
              <a:off x="4076700" y="5638800"/>
              <a:ext cx="1371600" cy="9525"/>
            </a:xfrm>
            <a:custGeom>
              <a:avLst/>
              <a:gdLst/>
              <a:ahLst/>
              <a:cxnLst/>
              <a:rect l="l" t="t" r="r" b="b"/>
              <a:pathLst>
                <a:path w="1371600" h="9525">
                  <a:moveTo>
                    <a:pt x="0" y="0"/>
                  </a:moveTo>
                  <a:lnTo>
                    <a:pt x="1371600" y="0"/>
                  </a:lnTo>
                </a:path>
              </a:pathLst>
            </a:custGeom>
            <a:noFill/>
            <a:ln w="9525">
              <a:solidFill>
                <a:srgbClr val="C9D8EF"/>
              </a:solidFill>
            </a:ln>
          </p:spPr>
        </p:sp>
        <p:sp>
          <p:nvSpPr>
            <p:cNvPr id="217" name="Line 217"/>
            <p:cNvSpPr/>
            <p:nvPr/>
          </p:nvSpPr>
          <p:spPr>
            <a:xfrm>
              <a:off x="4762500" y="4953000"/>
              <a:ext cx="9525" cy="1371600"/>
            </a:xfrm>
            <a:custGeom>
              <a:avLst/>
              <a:gdLst/>
              <a:ahLst/>
              <a:cxnLst/>
              <a:rect l="l" t="t" r="r" b="b"/>
              <a:pathLst>
                <a:path w="9525" h="1371600">
                  <a:moveTo>
                    <a:pt x="0" y="0"/>
                  </a:moveTo>
                  <a:lnTo>
                    <a:pt x="0" y="1371600"/>
                  </a:lnTo>
                </a:path>
              </a:pathLst>
            </a:custGeom>
            <a:noFill/>
            <a:ln w="9525">
              <a:solidFill>
                <a:srgbClr val="C9D8EF"/>
              </a:solidFill>
            </a:ln>
          </p:spPr>
        </p:sp>
        <p:sp>
          <p:nvSpPr>
            <p:cNvPr id="218" name="TextBox 218"/>
            <p:cNvSpPr txBox="1"/>
            <p:nvPr/>
          </p:nvSpPr>
          <p:spPr>
            <a:xfrm>
              <a:off x="4290517" y="5276136"/>
              <a:ext cx="296266"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经营贷</a:t>
              </a:r>
            </a:p>
          </p:txBody>
        </p:sp>
        <p:sp>
          <p:nvSpPr>
            <p:cNvPr id="219" name="TextBox 219"/>
            <p:cNvSpPr txBox="1"/>
            <p:nvPr/>
          </p:nvSpPr>
          <p:spPr>
            <a:xfrm>
              <a:off x="4909477" y="5276136"/>
              <a:ext cx="391846"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代发工资</a:t>
              </a:r>
            </a:p>
          </p:txBody>
        </p:sp>
        <p:sp>
          <p:nvSpPr>
            <p:cNvPr id="220" name="TextBox 220"/>
            <p:cNvSpPr txBox="1"/>
            <p:nvPr/>
          </p:nvSpPr>
          <p:spPr>
            <a:xfrm>
              <a:off x="4242727" y="5961936"/>
              <a:ext cx="391846"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财富管理</a:t>
              </a:r>
            </a:p>
          </p:txBody>
        </p:sp>
        <p:sp>
          <p:nvSpPr>
            <p:cNvPr id="221" name="TextBox 221"/>
            <p:cNvSpPr txBox="1"/>
            <p:nvPr/>
          </p:nvSpPr>
          <p:spPr>
            <a:xfrm>
              <a:off x="4861687" y="5961936"/>
              <a:ext cx="487426"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消费与保障</a:t>
              </a:r>
            </a:p>
          </p:txBody>
        </p:sp>
        <p:sp>
          <p:nvSpPr>
            <p:cNvPr id="222" name="Ellipse 222"/>
            <p:cNvSpPr/>
            <p:nvPr/>
          </p:nvSpPr>
          <p:spPr>
            <a:xfrm>
              <a:off x="4495800" y="5372100"/>
              <a:ext cx="533400" cy="533400"/>
            </a:xfrm>
            <a:prstGeom prst="ellipse">
              <a:avLst/>
            </a:prstGeom>
            <a:solidFill>
              <a:srgbClr val="A5280F"/>
            </a:solidFill>
            <a:ln>
              <a:noFill/>
            </a:ln>
          </p:spPr>
        </p:sp>
        <p:sp>
          <p:nvSpPr>
            <p:cNvPr id="223" name="TextBox 223"/>
            <p:cNvSpPr txBox="1"/>
            <p:nvPr/>
          </p:nvSpPr>
          <p:spPr>
            <a:xfrm>
              <a:off x="4536961" y="558784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个人金融</a:t>
              </a:r>
            </a:p>
          </p:txBody>
        </p:sp>
      </p:grpSp>
      <p:grpSp>
        <p:nvGrpSpPr>
          <p:cNvPr id="267" name="eco-kpi"/>
          <p:cNvGrpSpPr/>
          <p:nvPr/>
        </p:nvGrpSpPr>
        <p:grpSpPr>
          <a:xfrm>
            <a:off x="6019800" y="4248150"/>
            <a:ext cx="5791200" cy="2438400"/>
            <a:chOff x="6019800" y="4248150"/>
            <a:chExt cx="5791200" cy="2438400"/>
          </a:xfrm>
        </p:grpSpPr>
        <p:sp>
          <p:nvSpPr>
            <p:cNvPr id="225" name="Rectangle 225"/>
            <p:cNvSpPr/>
            <p:nvPr/>
          </p:nvSpPr>
          <p:spPr>
            <a:xfrm>
              <a:off x="6019800" y="4248150"/>
              <a:ext cx="5791200" cy="2438400"/>
            </a:xfrm>
            <a:prstGeom prst="roundRect">
              <a:avLst>
                <a:gd name="adj" fmla="val 3906"/>
              </a:avLst>
            </a:prstGeom>
            <a:solidFill>
              <a:srgbClr val="F9FBFE"/>
            </a:solidFill>
            <a:ln w="9525">
              <a:solidFill>
                <a:srgbClr val="C9D8EF"/>
              </a:solidFill>
            </a:ln>
          </p:spPr>
        </p:sp>
        <p:sp>
          <p:nvSpPr>
            <p:cNvPr id="226" name="Rectangle 226"/>
            <p:cNvSpPr/>
            <p:nvPr/>
          </p:nvSpPr>
          <p:spPr>
            <a:xfrm>
              <a:off x="7962900" y="4248150"/>
              <a:ext cx="1905000" cy="285750"/>
            </a:xfrm>
            <a:prstGeom prst="roundRect">
              <a:avLst>
                <a:gd name="adj" fmla="val 13333"/>
              </a:avLst>
            </a:prstGeom>
            <a:gradFill>
              <a:gsLst>
                <a:gs pos="0">
                  <a:srgbClr val="AD3921"/>
                </a:gs>
                <a:gs pos="100000">
                  <a:srgbClr val="962C16"/>
                </a:gs>
              </a:gsLst>
              <a:lin ang="5400000" scaled="1"/>
            </a:gradFill>
            <a:ln>
              <a:noFill/>
            </a:ln>
          </p:spPr>
        </p:sp>
        <p:sp>
          <p:nvSpPr>
            <p:cNvPr id="227" name="TextBox 227"/>
            <p:cNvSpPr txBox="1"/>
            <p:nvPr/>
          </p:nvSpPr>
          <p:spPr>
            <a:xfrm>
              <a:off x="8486013" y="433482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生态拓展指标</a:t>
              </a:r>
            </a:p>
          </p:txBody>
        </p:sp>
        <p:sp>
          <p:nvSpPr>
            <p:cNvPr id="228" name="Rectangle 228"/>
            <p:cNvSpPr/>
            <p:nvPr/>
          </p:nvSpPr>
          <p:spPr>
            <a:xfrm>
              <a:off x="6096000" y="4667250"/>
              <a:ext cx="1314450" cy="1905000"/>
            </a:xfrm>
            <a:prstGeom prst="roundRect">
              <a:avLst>
                <a:gd name="adj" fmla="val 5797"/>
              </a:avLst>
            </a:prstGeom>
            <a:solidFill>
              <a:srgbClr val="FFFFFF"/>
            </a:solidFill>
            <a:ln w="9525">
              <a:solidFill>
                <a:srgbClr val="C9D8EF"/>
              </a:solidFill>
            </a:ln>
          </p:spPr>
        </p:sp>
        <p:sp>
          <p:nvSpPr>
            <p:cNvPr id="229" name="Ellipse 229"/>
            <p:cNvSpPr/>
            <p:nvPr/>
          </p:nvSpPr>
          <p:spPr>
            <a:xfrm>
              <a:off x="6524625" y="4914900"/>
              <a:ext cx="457200" cy="457200"/>
            </a:xfrm>
            <a:prstGeom prst="ellipse">
              <a:avLst/>
            </a:prstGeom>
            <a:solidFill>
              <a:srgbClr val="A8351D"/>
            </a:solidFill>
            <a:ln>
              <a:noFill/>
            </a:ln>
          </p:spPr>
        </p:sp>
        <p:grpSp>
          <p:nvGrpSpPr>
            <p:cNvPr id="238" name="Group 238"/>
            <p:cNvGrpSpPr/>
            <p:nvPr/>
          </p:nvGrpSpPr>
          <p:grpSpPr>
            <a:xfrm>
              <a:off x="6653213" y="5043488"/>
              <a:ext cx="200026" cy="209550"/>
              <a:chOff x="6653213" y="5043488"/>
              <a:chExt cx="200026" cy="209550"/>
            </a:xfrm>
          </p:grpSpPr>
          <p:sp>
            <p:nvSpPr>
              <p:cNvPr id="230" name="Freeform 230"/>
              <p:cNvSpPr/>
              <p:nvPr/>
            </p:nvSpPr>
            <p:spPr>
              <a:xfrm>
                <a:off x="6653213" y="5243513"/>
                <a:ext cx="200026" cy="9525"/>
              </a:xfrm>
              <a:custGeom>
                <a:avLst/>
                <a:gdLst/>
                <a:ahLst/>
                <a:cxnLst/>
                <a:rect l="l" t="t" r="r" b="b"/>
                <a:pathLst>
                  <a:path w="200026" h="9525">
                    <a:moveTo>
                      <a:pt x="0" y="0"/>
                    </a:moveTo>
                    <a:lnTo>
                      <a:pt x="200026" y="0"/>
                    </a:lnTo>
                  </a:path>
                </a:pathLst>
              </a:custGeom>
              <a:noFill/>
              <a:ln w="22225">
                <a:solidFill>
                  <a:srgbClr val="FFFFFF"/>
                </a:solidFill>
              </a:ln>
            </p:spPr>
          </p:sp>
          <p:sp>
            <p:nvSpPr>
              <p:cNvPr id="231" name="Freeform 231"/>
              <p:cNvSpPr/>
              <p:nvPr/>
            </p:nvSpPr>
            <p:spPr>
              <a:xfrm>
                <a:off x="6719888" y="5099050"/>
                <a:ext cx="11113" cy="9525"/>
              </a:xfrm>
              <a:custGeom>
                <a:avLst/>
                <a:gdLst/>
                <a:ahLst/>
                <a:cxnLst/>
                <a:rect l="l" t="t" r="r" b="b"/>
                <a:pathLst>
                  <a:path w="11113" h="9525">
                    <a:moveTo>
                      <a:pt x="0" y="0"/>
                    </a:moveTo>
                    <a:lnTo>
                      <a:pt x="11113" y="0"/>
                    </a:lnTo>
                  </a:path>
                </a:pathLst>
              </a:custGeom>
              <a:noFill/>
              <a:ln w="22225">
                <a:solidFill>
                  <a:srgbClr val="FFFFFF"/>
                </a:solidFill>
              </a:ln>
            </p:spPr>
          </p:sp>
          <p:sp>
            <p:nvSpPr>
              <p:cNvPr id="232" name="Freeform 232"/>
              <p:cNvSpPr/>
              <p:nvPr/>
            </p:nvSpPr>
            <p:spPr>
              <a:xfrm>
                <a:off x="6719888" y="5143500"/>
                <a:ext cx="11113" cy="9525"/>
              </a:xfrm>
              <a:custGeom>
                <a:avLst/>
                <a:gdLst/>
                <a:ahLst/>
                <a:cxnLst/>
                <a:rect l="l" t="t" r="r" b="b"/>
                <a:pathLst>
                  <a:path w="11113" h="9525">
                    <a:moveTo>
                      <a:pt x="0" y="0"/>
                    </a:moveTo>
                    <a:lnTo>
                      <a:pt x="11113" y="0"/>
                    </a:lnTo>
                  </a:path>
                </a:pathLst>
              </a:custGeom>
              <a:noFill/>
              <a:ln w="22225">
                <a:solidFill>
                  <a:srgbClr val="FFFFFF"/>
                </a:solidFill>
              </a:ln>
            </p:spPr>
          </p:sp>
          <p:sp>
            <p:nvSpPr>
              <p:cNvPr id="233" name="Freeform 233"/>
              <p:cNvSpPr/>
              <p:nvPr/>
            </p:nvSpPr>
            <p:spPr>
              <a:xfrm>
                <a:off x="6719888" y="5187951"/>
                <a:ext cx="11113" cy="9525"/>
              </a:xfrm>
              <a:custGeom>
                <a:avLst/>
                <a:gdLst/>
                <a:ahLst/>
                <a:cxnLst/>
                <a:rect l="l" t="t" r="r" b="b"/>
                <a:pathLst>
                  <a:path w="11113" h="9525">
                    <a:moveTo>
                      <a:pt x="0" y="0"/>
                    </a:moveTo>
                    <a:lnTo>
                      <a:pt x="11113" y="0"/>
                    </a:lnTo>
                  </a:path>
                </a:pathLst>
              </a:custGeom>
              <a:noFill/>
              <a:ln w="22225">
                <a:solidFill>
                  <a:srgbClr val="FFFFFF"/>
                </a:solidFill>
              </a:ln>
            </p:spPr>
          </p:sp>
          <p:sp>
            <p:nvSpPr>
              <p:cNvPr id="234" name="Freeform 234"/>
              <p:cNvSpPr/>
              <p:nvPr/>
            </p:nvSpPr>
            <p:spPr>
              <a:xfrm>
                <a:off x="6775450" y="5099050"/>
                <a:ext cx="11113" cy="9525"/>
              </a:xfrm>
              <a:custGeom>
                <a:avLst/>
                <a:gdLst/>
                <a:ahLst/>
                <a:cxnLst/>
                <a:rect l="l" t="t" r="r" b="b"/>
                <a:pathLst>
                  <a:path w="11113" h="9525">
                    <a:moveTo>
                      <a:pt x="0" y="0"/>
                    </a:moveTo>
                    <a:lnTo>
                      <a:pt x="11113" y="0"/>
                    </a:lnTo>
                  </a:path>
                </a:pathLst>
              </a:custGeom>
              <a:noFill/>
              <a:ln w="22225">
                <a:solidFill>
                  <a:srgbClr val="FFFFFF"/>
                </a:solidFill>
              </a:ln>
            </p:spPr>
          </p:sp>
          <p:sp>
            <p:nvSpPr>
              <p:cNvPr id="235" name="Freeform 235"/>
              <p:cNvSpPr/>
              <p:nvPr/>
            </p:nvSpPr>
            <p:spPr>
              <a:xfrm>
                <a:off x="6775450" y="5143500"/>
                <a:ext cx="11113" cy="9525"/>
              </a:xfrm>
              <a:custGeom>
                <a:avLst/>
                <a:gdLst/>
                <a:ahLst/>
                <a:cxnLst/>
                <a:rect l="l" t="t" r="r" b="b"/>
                <a:pathLst>
                  <a:path w="11113" h="9525">
                    <a:moveTo>
                      <a:pt x="0" y="0"/>
                    </a:moveTo>
                    <a:lnTo>
                      <a:pt x="11113" y="0"/>
                    </a:lnTo>
                  </a:path>
                </a:pathLst>
              </a:custGeom>
              <a:noFill/>
              <a:ln w="22225">
                <a:solidFill>
                  <a:srgbClr val="FFFFFF"/>
                </a:solidFill>
              </a:ln>
            </p:spPr>
          </p:sp>
          <p:sp>
            <p:nvSpPr>
              <p:cNvPr id="236" name="Freeform 236"/>
              <p:cNvSpPr/>
              <p:nvPr/>
            </p:nvSpPr>
            <p:spPr>
              <a:xfrm>
                <a:off x="6775450" y="5187951"/>
                <a:ext cx="11113" cy="9525"/>
              </a:xfrm>
              <a:custGeom>
                <a:avLst/>
                <a:gdLst/>
                <a:ahLst/>
                <a:cxnLst/>
                <a:rect l="l" t="t" r="r" b="b"/>
                <a:pathLst>
                  <a:path w="11113" h="9525">
                    <a:moveTo>
                      <a:pt x="0" y="0"/>
                    </a:moveTo>
                    <a:lnTo>
                      <a:pt x="11113" y="0"/>
                    </a:lnTo>
                  </a:path>
                </a:pathLst>
              </a:custGeom>
              <a:noFill/>
              <a:ln w="22225">
                <a:solidFill>
                  <a:srgbClr val="FFFFFF"/>
                </a:solidFill>
              </a:ln>
            </p:spPr>
          </p:sp>
          <p:sp>
            <p:nvSpPr>
              <p:cNvPr id="237" name="Freeform 237"/>
              <p:cNvSpPr/>
              <p:nvPr/>
            </p:nvSpPr>
            <p:spPr>
              <a:xfrm>
                <a:off x="6675438" y="5043488"/>
                <a:ext cx="155575" cy="200026"/>
              </a:xfrm>
              <a:custGeom>
                <a:avLst/>
                <a:gdLst/>
                <a:ahLst/>
                <a:cxnLst/>
                <a:rect l="l" t="t" r="r" b="b"/>
                <a:pathLst>
                  <a:path w="155575" h="200026">
                    <a:moveTo>
                      <a:pt x="0" y="200026"/>
                    </a:moveTo>
                    <a:lnTo>
                      <a:pt x="0" y="22225"/>
                    </a:lnTo>
                    <a:cubicBezTo>
                      <a:pt x="0" y="9950"/>
                      <a:pt x="9950" y="0"/>
                      <a:pt x="22225" y="0"/>
                    </a:cubicBezTo>
                    <a:lnTo>
                      <a:pt x="133350" y="0"/>
                    </a:lnTo>
                    <a:cubicBezTo>
                      <a:pt x="145625" y="0"/>
                      <a:pt x="155575" y="9950"/>
                      <a:pt x="155575" y="22225"/>
                    </a:cubicBezTo>
                    <a:lnTo>
                      <a:pt x="155575" y="200026"/>
                    </a:lnTo>
                  </a:path>
                </a:pathLst>
              </a:custGeom>
              <a:noFill/>
              <a:ln w="22225">
                <a:solidFill>
                  <a:srgbClr val="FFFFFF"/>
                </a:solidFill>
              </a:ln>
            </p:spPr>
          </p:sp>
        </p:grpSp>
        <p:sp>
          <p:nvSpPr>
            <p:cNvPr id="239" name="TextBox 239"/>
            <p:cNvSpPr txBox="1"/>
            <p:nvPr/>
          </p:nvSpPr>
          <p:spPr>
            <a:xfrm>
              <a:off x="6343256" y="5621893"/>
              <a:ext cx="819937"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链上企业覆盖率</a:t>
              </a:r>
            </a:p>
          </p:txBody>
        </p:sp>
        <p:sp>
          <p:nvSpPr>
            <p:cNvPr id="240" name="TextBox 240"/>
            <p:cNvSpPr txBox="1"/>
            <p:nvPr/>
          </p:nvSpPr>
          <p:spPr>
            <a:xfrm>
              <a:off x="6318995" y="5966936"/>
              <a:ext cx="868459" cy="337376"/>
            </a:xfrm>
            <a:prstGeom prst="rect">
              <a:avLst/>
            </a:prstGeom>
            <a:noFill/>
            <a:ln>
              <a:noFill/>
            </a:ln>
          </p:spPr>
          <p:txBody>
            <a:bodyPr wrap="none" lIns="0" tIns="0" rIns="0" bIns="0" anchor="t" anchorCtr="0">
              <a:spAutoFit/>
            </a:bodyPr>
            <a:lstStyle/>
            <a:p>
              <a:pPr algn="ctr"/>
              <a:r>
                <a:rPr lang="zh-CN" sz="1720" b="1" dirty="0">
                  <a:solidFill>
                    <a:srgbClr val="C9462F"/>
                  </a:solidFill>
                  <a:latin typeface="+mn-lt"/>
                  <a:ea typeface="+mn-ea"/>
                  <a:cs typeface="+mn-cs"/>
                </a:rPr>
                <a:t>≥70%​​</a:t>
              </a:r>
            </a:p>
          </p:txBody>
        </p:sp>
        <p:sp>
          <p:nvSpPr>
            <p:cNvPr id="241" name="Rectangle 241"/>
            <p:cNvSpPr/>
            <p:nvPr/>
          </p:nvSpPr>
          <p:spPr>
            <a:xfrm>
              <a:off x="7524750" y="4667250"/>
              <a:ext cx="1314450" cy="1905000"/>
            </a:xfrm>
            <a:prstGeom prst="roundRect">
              <a:avLst>
                <a:gd name="adj" fmla="val 5797"/>
              </a:avLst>
            </a:prstGeom>
            <a:solidFill>
              <a:srgbClr val="FFFFFF"/>
            </a:solidFill>
            <a:ln w="9525">
              <a:solidFill>
                <a:srgbClr val="C9D8EF"/>
              </a:solidFill>
            </a:ln>
          </p:spPr>
        </p:sp>
        <p:sp>
          <p:nvSpPr>
            <p:cNvPr id="242" name="Ellipse 242"/>
            <p:cNvSpPr/>
            <p:nvPr/>
          </p:nvSpPr>
          <p:spPr>
            <a:xfrm>
              <a:off x="7953375" y="4914900"/>
              <a:ext cx="457200" cy="457200"/>
            </a:xfrm>
            <a:prstGeom prst="ellipse">
              <a:avLst/>
            </a:prstGeom>
            <a:solidFill>
              <a:srgbClr val="A5280F"/>
            </a:solidFill>
            <a:ln>
              <a:noFill/>
            </a:ln>
          </p:spPr>
        </p:sp>
        <p:grpSp>
          <p:nvGrpSpPr>
            <p:cNvPr id="245" name="Group 245"/>
            <p:cNvGrpSpPr/>
            <p:nvPr/>
          </p:nvGrpSpPr>
          <p:grpSpPr>
            <a:xfrm>
              <a:off x="8078865" y="5045398"/>
              <a:ext cx="200901" cy="201212"/>
              <a:chOff x="8078865" y="5045398"/>
              <a:chExt cx="200901" cy="201212"/>
            </a:xfrm>
          </p:grpSpPr>
          <p:sp>
            <p:nvSpPr>
              <p:cNvPr id="243" name="Freeform 243"/>
              <p:cNvSpPr/>
              <p:nvPr/>
            </p:nvSpPr>
            <p:spPr>
              <a:xfrm>
                <a:off x="8078865" y="504539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14223" y="109214"/>
                    </a:lnTo>
                    <a:cubicBezTo>
                      <a:pt x="101948" y="109214"/>
                      <a:pt x="91998" y="99264"/>
                      <a:pt x="91998" y="86989"/>
                    </a:cubicBezTo>
                    <a:lnTo>
                      <a:pt x="91998" y="9202"/>
                    </a:lnTo>
                    <a:cubicBezTo>
                      <a:pt x="91719" y="6542"/>
                      <a:pt x="90387" y="4105"/>
                      <a:pt x="88299" y="2435"/>
                    </a:cubicBezTo>
                    <a:cubicBezTo>
                      <a:pt x="86211" y="765"/>
                      <a:pt x="83541" y="0"/>
                      <a:pt x="80885" y="312"/>
                    </a:cubicBezTo>
                  </a:path>
                </a:pathLst>
              </a:custGeom>
              <a:noFill/>
              <a:ln w="22225">
                <a:solidFill>
                  <a:srgbClr val="FFFFFF"/>
                </a:solidFill>
              </a:ln>
            </p:spPr>
          </p:sp>
          <p:sp>
            <p:nvSpPr>
              <p:cNvPr id="244" name="Freeform 244"/>
              <p:cNvSpPr/>
              <p:nvPr/>
            </p:nvSpPr>
            <p:spPr>
              <a:xfrm>
                <a:off x="8215313" y="5049044"/>
                <a:ext cx="61119" cy="61119"/>
              </a:xfrm>
              <a:custGeom>
                <a:avLst/>
                <a:gdLst/>
                <a:ahLst/>
                <a:cxnLst/>
                <a:rect l="l" t="t" r="r" b="b"/>
                <a:pathLst>
                  <a:path w="61119" h="61119">
                    <a:moveTo>
                      <a:pt x="0" y="0"/>
                    </a:moveTo>
                    <a:cubicBezTo>
                      <a:pt x="28579" y="10063"/>
                      <a:pt x="51056" y="32540"/>
                      <a:pt x="61119" y="61119"/>
                    </a:cubicBezTo>
                    <a:lnTo>
                      <a:pt x="11113" y="61119"/>
                    </a:lnTo>
                    <a:cubicBezTo>
                      <a:pt x="4975" y="61119"/>
                      <a:pt x="0" y="56144"/>
                      <a:pt x="0" y="50006"/>
                    </a:cubicBezTo>
                    <a:lnTo>
                      <a:pt x="0" y="0"/>
                    </a:lnTo>
                  </a:path>
                </a:pathLst>
              </a:custGeom>
              <a:noFill/>
              <a:ln w="22225">
                <a:solidFill>
                  <a:srgbClr val="FFFFFF"/>
                </a:solidFill>
              </a:ln>
            </p:spPr>
          </p:sp>
        </p:grpSp>
        <p:sp>
          <p:nvSpPr>
            <p:cNvPr id="246" name="TextBox 246"/>
            <p:cNvSpPr txBox="1"/>
            <p:nvPr/>
          </p:nvSpPr>
          <p:spPr>
            <a:xfrm>
              <a:off x="7887780" y="5621893"/>
              <a:ext cx="588391"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结算留存率</a:t>
              </a:r>
            </a:p>
          </p:txBody>
        </p:sp>
        <p:sp>
          <p:nvSpPr>
            <p:cNvPr id="247" name="TextBox 247"/>
            <p:cNvSpPr txBox="1"/>
            <p:nvPr/>
          </p:nvSpPr>
          <p:spPr>
            <a:xfrm>
              <a:off x="7747745" y="5966936"/>
              <a:ext cx="868459" cy="337376"/>
            </a:xfrm>
            <a:prstGeom prst="rect">
              <a:avLst/>
            </a:prstGeom>
            <a:noFill/>
            <a:ln>
              <a:noFill/>
            </a:ln>
          </p:spPr>
          <p:txBody>
            <a:bodyPr wrap="none" lIns="0" tIns="0" rIns="0" bIns="0" anchor="t" anchorCtr="0">
              <a:spAutoFit/>
            </a:bodyPr>
            <a:lstStyle/>
            <a:p>
              <a:pPr algn="ctr"/>
              <a:r>
                <a:rPr lang="zh-CN" sz="1720" b="1" dirty="0">
                  <a:solidFill>
                    <a:srgbClr val="C9462F"/>
                  </a:solidFill>
                  <a:latin typeface="+mn-lt"/>
                  <a:ea typeface="+mn-ea"/>
                  <a:cs typeface="+mn-cs"/>
                </a:rPr>
                <a:t>≥85%​​</a:t>
              </a:r>
            </a:p>
          </p:txBody>
        </p:sp>
        <p:sp>
          <p:nvSpPr>
            <p:cNvPr id="248" name="Rectangle 248"/>
            <p:cNvSpPr/>
            <p:nvPr/>
          </p:nvSpPr>
          <p:spPr>
            <a:xfrm>
              <a:off x="8953500" y="4667250"/>
              <a:ext cx="1314450" cy="1905000"/>
            </a:xfrm>
            <a:prstGeom prst="roundRect">
              <a:avLst>
                <a:gd name="adj" fmla="val 5797"/>
              </a:avLst>
            </a:prstGeom>
            <a:solidFill>
              <a:srgbClr val="FFFFFF"/>
            </a:solidFill>
            <a:ln w="9525">
              <a:solidFill>
                <a:srgbClr val="C9D8EF"/>
              </a:solidFill>
            </a:ln>
          </p:spPr>
        </p:sp>
        <p:sp>
          <p:nvSpPr>
            <p:cNvPr id="249" name="Ellipse 249"/>
            <p:cNvSpPr/>
            <p:nvPr/>
          </p:nvSpPr>
          <p:spPr>
            <a:xfrm>
              <a:off x="9382125" y="4914900"/>
              <a:ext cx="457200" cy="457200"/>
            </a:xfrm>
            <a:prstGeom prst="ellipse">
              <a:avLst/>
            </a:prstGeom>
            <a:solidFill>
              <a:srgbClr val="C9462F"/>
            </a:solidFill>
            <a:ln>
              <a:noFill/>
            </a:ln>
          </p:spPr>
        </p:sp>
        <p:grpSp>
          <p:nvGrpSpPr>
            <p:cNvPr id="253" name="Group 253"/>
            <p:cNvGrpSpPr/>
            <p:nvPr/>
          </p:nvGrpSpPr>
          <p:grpSpPr>
            <a:xfrm>
              <a:off x="9555163" y="5065713"/>
              <a:ext cx="111125" cy="155575"/>
              <a:chOff x="9555163" y="5065713"/>
              <a:chExt cx="111125" cy="155575"/>
            </a:xfrm>
          </p:grpSpPr>
          <p:sp>
            <p:nvSpPr>
              <p:cNvPr id="250" name="Freeform 250"/>
              <p:cNvSpPr/>
              <p:nvPr/>
            </p:nvSpPr>
            <p:spPr>
              <a:xfrm>
                <a:off x="9555163" y="5065713"/>
                <a:ext cx="55563" cy="155575"/>
              </a:xfrm>
              <a:custGeom>
                <a:avLst/>
                <a:gdLst/>
                <a:ahLst/>
                <a:cxnLst/>
                <a:rect l="l" t="t" r="r" b="b"/>
                <a:pathLst>
                  <a:path w="55563" h="155575">
                    <a:moveTo>
                      <a:pt x="55563" y="155575"/>
                    </a:moveTo>
                    <a:lnTo>
                      <a:pt x="55563" y="77788"/>
                    </a:lnTo>
                    <a:lnTo>
                      <a:pt x="0" y="0"/>
                    </a:lnTo>
                  </a:path>
                </a:pathLst>
              </a:custGeom>
              <a:noFill/>
              <a:ln w="22225">
                <a:solidFill>
                  <a:srgbClr val="FFFFFF"/>
                </a:solidFill>
              </a:ln>
            </p:spPr>
          </p:sp>
          <p:sp>
            <p:nvSpPr>
              <p:cNvPr id="251" name="Freeform 251"/>
              <p:cNvSpPr/>
              <p:nvPr/>
            </p:nvSpPr>
            <p:spPr>
              <a:xfrm>
                <a:off x="9610725" y="5065713"/>
                <a:ext cx="55563" cy="77788"/>
              </a:xfrm>
              <a:custGeom>
                <a:avLst/>
                <a:gdLst/>
                <a:ahLst/>
                <a:cxnLst/>
                <a:rect l="l" t="t" r="r" b="b"/>
                <a:pathLst>
                  <a:path w="55563" h="77788">
                    <a:moveTo>
                      <a:pt x="55563" y="0"/>
                    </a:moveTo>
                    <a:lnTo>
                      <a:pt x="0" y="77788"/>
                    </a:lnTo>
                  </a:path>
                </a:pathLst>
              </a:custGeom>
              <a:noFill/>
              <a:ln w="22225">
                <a:solidFill>
                  <a:srgbClr val="FFFFFF"/>
                </a:solidFill>
              </a:ln>
            </p:spPr>
          </p:sp>
          <p:sp>
            <p:nvSpPr>
              <p:cNvPr id="252" name="Freeform 252"/>
              <p:cNvSpPr/>
              <p:nvPr/>
            </p:nvSpPr>
            <p:spPr>
              <a:xfrm>
                <a:off x="9566275" y="5154613"/>
                <a:ext cx="88900" cy="9525"/>
              </a:xfrm>
              <a:custGeom>
                <a:avLst/>
                <a:gdLst/>
                <a:ahLst/>
                <a:cxnLst/>
                <a:rect l="l" t="t" r="r" b="b"/>
                <a:pathLst>
                  <a:path w="88900" h="9525">
                    <a:moveTo>
                      <a:pt x="0" y="0"/>
                    </a:moveTo>
                    <a:lnTo>
                      <a:pt x="88900" y="0"/>
                    </a:lnTo>
                  </a:path>
                </a:pathLst>
              </a:custGeom>
              <a:noFill/>
              <a:ln w="22225">
                <a:solidFill>
                  <a:srgbClr val="FFFFFF"/>
                </a:solidFill>
              </a:ln>
            </p:spPr>
          </p:sp>
        </p:grpSp>
        <p:sp>
          <p:nvSpPr>
            <p:cNvPr id="254" name="TextBox 254"/>
            <p:cNvSpPr txBox="1"/>
            <p:nvPr/>
          </p:nvSpPr>
          <p:spPr>
            <a:xfrm>
              <a:off x="9258643" y="562189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普惠贷款新增</a:t>
              </a:r>
            </a:p>
          </p:txBody>
        </p:sp>
        <p:sp>
          <p:nvSpPr>
            <p:cNvPr id="255" name="TextBox 255"/>
            <p:cNvSpPr txBox="1"/>
            <p:nvPr/>
          </p:nvSpPr>
          <p:spPr>
            <a:xfrm>
              <a:off x="9146509" y="5966936"/>
              <a:ext cx="928432" cy="337376"/>
            </a:xfrm>
            <a:prstGeom prst="rect">
              <a:avLst/>
            </a:prstGeom>
            <a:noFill/>
            <a:ln>
              <a:noFill/>
            </a:ln>
          </p:spPr>
          <p:txBody>
            <a:bodyPr wrap="none" lIns="0" tIns="0" rIns="0" bIns="0" anchor="t" anchorCtr="0">
              <a:spAutoFit/>
            </a:bodyPr>
            <a:lstStyle/>
            <a:p>
              <a:pPr algn="ctr"/>
              <a:r>
                <a:rPr lang="zh-CN" sz="1720" b="1" dirty="0">
                  <a:solidFill>
                    <a:srgbClr val="C9462F"/>
                  </a:solidFill>
                  <a:latin typeface="+mn-lt"/>
                  <a:ea typeface="+mn-ea"/>
                  <a:cs typeface="+mn-cs"/>
                </a:rPr>
                <a:t>+30</a:t>
              </a:r>
              <a:r>
                <a:rPr lang="zh-CN" sz="900" b="1" dirty="0">
                  <a:solidFill>
                    <a:srgbClr val="C9462F"/>
                  </a:solidFill>
                  <a:latin typeface="+mn-lt"/>
                  <a:ea typeface="+mn-ea"/>
                  <a:cs typeface="+mn-cs"/>
                </a:rPr>
                <a:t>亿元</a:t>
              </a:r>
              <a:r>
                <a:rPr lang="zh-CN" sz="1720" b="1" dirty="0">
                  <a:solidFill>
                    <a:srgbClr val="C9462F"/>
                  </a:solidFill>
                  <a:latin typeface="+mn-lt"/>
                  <a:ea typeface="+mn-ea"/>
                  <a:cs typeface="+mn-cs"/>
                </a:rPr>
                <a:t>​​</a:t>
              </a:r>
            </a:p>
          </p:txBody>
        </p:sp>
        <p:sp>
          <p:nvSpPr>
            <p:cNvPr id="256" name="Rectangle 256"/>
            <p:cNvSpPr/>
            <p:nvPr/>
          </p:nvSpPr>
          <p:spPr>
            <a:xfrm>
              <a:off x="10382250" y="4667250"/>
              <a:ext cx="1314450" cy="1905000"/>
            </a:xfrm>
            <a:prstGeom prst="roundRect">
              <a:avLst>
                <a:gd name="adj" fmla="val 5797"/>
              </a:avLst>
            </a:prstGeom>
            <a:solidFill>
              <a:srgbClr val="FFFFFF"/>
            </a:solidFill>
            <a:ln w="9525">
              <a:solidFill>
                <a:srgbClr val="C9D8EF"/>
              </a:solidFill>
            </a:ln>
          </p:spPr>
        </p:sp>
        <p:sp>
          <p:nvSpPr>
            <p:cNvPr id="257" name="Ellipse 257"/>
            <p:cNvSpPr/>
            <p:nvPr/>
          </p:nvSpPr>
          <p:spPr>
            <a:xfrm>
              <a:off x="10810875" y="4914900"/>
              <a:ext cx="457200" cy="457200"/>
            </a:xfrm>
            <a:prstGeom prst="ellipse">
              <a:avLst/>
            </a:prstGeom>
            <a:solidFill>
              <a:srgbClr val="A8351D"/>
            </a:solidFill>
            <a:ln>
              <a:noFill/>
            </a:ln>
          </p:spPr>
        </p:sp>
        <p:grpSp>
          <p:nvGrpSpPr>
            <p:cNvPr id="264" name="Group 264"/>
            <p:cNvGrpSpPr/>
            <p:nvPr/>
          </p:nvGrpSpPr>
          <p:grpSpPr>
            <a:xfrm>
              <a:off x="10939463" y="5043488"/>
              <a:ext cx="200025" cy="200026"/>
              <a:chOff x="10939463" y="5043488"/>
              <a:chExt cx="200025" cy="200026"/>
            </a:xfrm>
          </p:grpSpPr>
          <p:sp>
            <p:nvSpPr>
              <p:cNvPr id="258" name="Freeform 258"/>
              <p:cNvSpPr/>
              <p:nvPr/>
            </p:nvSpPr>
            <p:spPr>
              <a:xfrm>
                <a:off x="11017250" y="51323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259" name="Freeform 259"/>
              <p:cNvSpPr/>
              <p:nvPr/>
            </p:nvSpPr>
            <p:spPr>
              <a:xfrm>
                <a:off x="10995025" y="521017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FFFFFF"/>
                </a:solidFill>
              </a:ln>
            </p:spPr>
          </p:sp>
          <p:sp>
            <p:nvSpPr>
              <p:cNvPr id="260" name="Freeform 260"/>
              <p:cNvSpPr/>
              <p:nvPr/>
            </p:nvSpPr>
            <p:spPr>
              <a:xfrm>
                <a:off x="11072813" y="50434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261" name="Freeform 261"/>
              <p:cNvSpPr/>
              <p:nvPr/>
            </p:nvSpPr>
            <p:spPr>
              <a:xfrm>
                <a:off x="11095038" y="512127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FFFFFF"/>
                </a:solidFill>
              </a:ln>
            </p:spPr>
          </p:sp>
          <p:sp>
            <p:nvSpPr>
              <p:cNvPr id="262" name="Freeform 262"/>
              <p:cNvSpPr/>
              <p:nvPr/>
            </p:nvSpPr>
            <p:spPr>
              <a:xfrm>
                <a:off x="10961688" y="50434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263" name="Freeform 263"/>
              <p:cNvSpPr/>
              <p:nvPr/>
            </p:nvSpPr>
            <p:spPr>
              <a:xfrm>
                <a:off x="10939463" y="512127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FFFFFF"/>
                </a:solidFill>
              </a:ln>
            </p:spPr>
          </p:sp>
        </p:grpSp>
        <p:sp>
          <p:nvSpPr>
            <p:cNvPr id="265" name="TextBox 265"/>
            <p:cNvSpPr txBox="1"/>
            <p:nvPr/>
          </p:nvSpPr>
          <p:spPr>
            <a:xfrm>
              <a:off x="10687393" y="5621893"/>
              <a:ext cx="704164"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代发员工新增</a:t>
              </a:r>
            </a:p>
          </p:txBody>
        </p:sp>
        <p:sp>
          <p:nvSpPr>
            <p:cNvPr id="266" name="TextBox 266"/>
            <p:cNvSpPr txBox="1"/>
            <p:nvPr/>
          </p:nvSpPr>
          <p:spPr>
            <a:xfrm>
              <a:off x="10642118" y="5966936"/>
              <a:ext cx="794714" cy="337376"/>
            </a:xfrm>
            <a:prstGeom prst="rect">
              <a:avLst/>
            </a:prstGeom>
            <a:noFill/>
            <a:ln>
              <a:noFill/>
            </a:ln>
          </p:spPr>
          <p:txBody>
            <a:bodyPr wrap="none" lIns="0" tIns="0" rIns="0" bIns="0" anchor="t" anchorCtr="0">
              <a:spAutoFit/>
            </a:bodyPr>
            <a:lstStyle/>
            <a:p>
              <a:pPr algn="ctr"/>
              <a:r>
                <a:rPr lang="zh-CN" sz="1720" b="1" dirty="0">
                  <a:solidFill>
                    <a:srgbClr val="C9462F"/>
                  </a:solidFill>
                  <a:latin typeface="+mn-lt"/>
                  <a:ea typeface="+mn-ea"/>
                  <a:cs typeface="+mn-cs"/>
                </a:rPr>
                <a:t>+5</a:t>
              </a:r>
              <a:r>
                <a:rPr lang="zh-CN" sz="900" b="1" dirty="0">
                  <a:solidFill>
                    <a:srgbClr val="C9462F"/>
                  </a:solidFill>
                  <a:latin typeface="+mn-lt"/>
                  <a:ea typeface="+mn-ea"/>
                  <a:cs typeface="+mn-cs"/>
                </a:rPr>
                <a:t>万人</a:t>
              </a:r>
              <a:r>
                <a:rPr lang="zh-CN" sz="1720" b="1" dirty="0">
                  <a:solidFill>
                    <a:srgbClr val="C9462F"/>
                  </a:solidFill>
                  <a:latin typeface="+mn-lt"/>
                  <a:ea typeface="+mn-ea"/>
                  <a:cs typeface="+mn-cs"/>
                </a:rPr>
                <a:t>​​</a:t>
              </a:r>
            </a:p>
          </p:txBody>
        </p:sp>
      </p:gr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11</a:t>
              </a:r>
            </a:p>
          </p:txBody>
        </p:sp>
        <p:sp>
          <p:nvSpPr>
            <p:cNvPr id="4" name="TextBox 4"/>
            <p:cNvSpPr txBox="1"/>
            <p:nvPr/>
          </p:nvSpPr>
          <p:spPr>
            <a:xfrm>
              <a:off x="904494" y="170498"/>
              <a:ext cx="6399276"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六大营销战役｜以标准化场景推动全国分支机构复制</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142" name="cards-left"/>
          <p:cNvGrpSpPr/>
          <p:nvPr/>
        </p:nvGrpSpPr>
        <p:grpSpPr>
          <a:xfrm>
            <a:off x="381000" y="742950"/>
            <a:ext cx="2857500" cy="3314700"/>
            <a:chOff x="381000" y="742950"/>
            <a:chExt cx="2857500" cy="3314700"/>
          </a:xfrm>
        </p:grpSpPr>
        <p:sp>
          <p:nvSpPr>
            <p:cNvPr id="7" name="Rectangle 7"/>
            <p:cNvSpPr/>
            <p:nvPr/>
          </p:nvSpPr>
          <p:spPr>
            <a:xfrm>
              <a:off x="381000" y="742950"/>
              <a:ext cx="2857500" cy="1047750"/>
            </a:xfrm>
            <a:prstGeom prst="roundRect">
              <a:avLst>
                <a:gd name="adj" fmla="val 7273"/>
              </a:avLst>
            </a:prstGeom>
            <a:solidFill>
              <a:srgbClr val="FFFFFF"/>
            </a:solidFill>
            <a:ln w="9525">
              <a:solidFill>
                <a:srgbClr val="C9D8EF"/>
              </a:solidFill>
            </a:ln>
          </p:spPr>
        </p:sp>
        <p:sp>
          <p:nvSpPr>
            <p:cNvPr id="8" name="Rectangle 8"/>
            <p:cNvSpPr/>
            <p:nvPr/>
          </p:nvSpPr>
          <p:spPr>
            <a:xfrm>
              <a:off x="381000" y="742950"/>
              <a:ext cx="2857500" cy="285750"/>
            </a:xfrm>
            <a:prstGeom prst="roundRect">
              <a:avLst>
                <a:gd name="adj" fmla="val 26667"/>
              </a:avLst>
            </a:prstGeom>
            <a:solidFill>
              <a:srgbClr val="EAF2FC"/>
            </a:solidFill>
            <a:ln>
              <a:noFill/>
            </a:ln>
          </p:spPr>
        </p:sp>
        <p:sp>
          <p:nvSpPr>
            <p:cNvPr id="9" name="TextBox 9"/>
            <p:cNvSpPr txBox="1"/>
            <p:nvPr/>
          </p:nvSpPr>
          <p:spPr>
            <a:xfrm>
              <a:off x="488442" y="806768"/>
              <a:ext cx="433528" cy="264033"/>
            </a:xfrm>
            <a:prstGeom prst="rect">
              <a:avLst/>
            </a:prstGeom>
            <a:noFill/>
            <a:ln>
              <a:noFill/>
            </a:ln>
          </p:spPr>
          <p:txBody>
            <a:bodyPr wrap="none" lIns="0" tIns="0" rIns="0" bIns="0" anchor="t" anchorCtr="0">
              <a:spAutoFit/>
            </a:bodyPr>
            <a:lstStyle/>
            <a:p>
              <a:pPr algn="l"/>
              <a:r>
                <a:rPr lang="zh-CN" sz="1350" b="1" dirty="0">
                  <a:solidFill>
                    <a:srgbClr val="C9462F"/>
                  </a:solidFill>
                  <a:latin typeface="+mn-lt"/>
                  <a:ea typeface="+mn-ea"/>
                  <a:cs typeface="+mn-cs"/>
                </a:rPr>
                <a:t>01​​</a:t>
              </a:r>
            </a:p>
          </p:txBody>
        </p:sp>
        <p:sp>
          <p:nvSpPr>
            <p:cNvPr id="10" name="TextBox 10"/>
            <p:cNvSpPr txBox="1"/>
            <p:nvPr/>
          </p:nvSpPr>
          <p:spPr>
            <a:xfrm>
              <a:off x="813816" y="829628"/>
              <a:ext cx="858774" cy="205359"/>
            </a:xfrm>
            <a:prstGeom prst="rect">
              <a:avLst/>
            </a:prstGeom>
            <a:noFill/>
            <a:ln>
              <a:noFill/>
            </a:ln>
          </p:spPr>
          <p:txBody>
            <a:bodyPr wrap="none" lIns="0" tIns="0" rIns="0" bIns="0" anchor="t" anchorCtr="0">
              <a:spAutoFit/>
            </a:bodyPr>
            <a:lstStyle/>
            <a:p>
              <a:pPr algn="l"/>
              <a:r>
                <a:rPr lang="zh-CN" sz="1050" b="1" dirty="0">
                  <a:solidFill>
                    <a:srgbClr val="67281B"/>
                  </a:solidFill>
                  <a:latin typeface="+mn-lt"/>
                  <a:ea typeface="+mn-ea"/>
                  <a:cs typeface="+mn-cs"/>
                </a:rPr>
                <a:t>代发客户激活</a:t>
              </a:r>
            </a:p>
          </p:txBody>
        </p:sp>
        <p:grpSp>
          <p:nvGrpSpPr>
            <p:cNvPr id="15" name="Group 15"/>
            <p:cNvGrpSpPr/>
            <p:nvPr/>
          </p:nvGrpSpPr>
          <p:grpSpPr>
            <a:xfrm>
              <a:off x="490538" y="1100138"/>
              <a:ext cx="85724" cy="85725"/>
              <a:chOff x="490538" y="1100138"/>
              <a:chExt cx="85724" cy="85725"/>
            </a:xfrm>
          </p:grpSpPr>
          <p:sp>
            <p:nvSpPr>
              <p:cNvPr id="11" name="Freeform 11"/>
              <p:cNvSpPr/>
              <p:nvPr/>
            </p:nvSpPr>
            <p:spPr>
              <a:xfrm>
                <a:off x="500062" y="11001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5907F"/>
                </a:solidFill>
              </a:ln>
            </p:spPr>
          </p:sp>
          <p:sp>
            <p:nvSpPr>
              <p:cNvPr id="12" name="Freeform 12"/>
              <p:cNvSpPr/>
              <p:nvPr/>
            </p:nvSpPr>
            <p:spPr>
              <a:xfrm>
                <a:off x="490538" y="115728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E5907F"/>
                </a:solidFill>
              </a:ln>
            </p:spPr>
          </p:sp>
          <p:sp>
            <p:nvSpPr>
              <p:cNvPr id="13" name="Freeform 13"/>
              <p:cNvSpPr/>
              <p:nvPr/>
            </p:nvSpPr>
            <p:spPr>
              <a:xfrm>
                <a:off x="552450" y="110075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E5907F"/>
                </a:solidFill>
              </a:ln>
            </p:spPr>
          </p:sp>
          <p:sp>
            <p:nvSpPr>
              <p:cNvPr id="14" name="Freeform 14"/>
              <p:cNvSpPr/>
              <p:nvPr/>
            </p:nvSpPr>
            <p:spPr>
              <a:xfrm>
                <a:off x="561975" y="1158002"/>
                <a:ext cx="14287" cy="27861"/>
              </a:xfrm>
              <a:custGeom>
                <a:avLst/>
                <a:gdLst/>
                <a:ahLst/>
                <a:cxnLst/>
                <a:rect l="l" t="t" r="r" b="b"/>
                <a:pathLst>
                  <a:path w="14287" h="27861">
                    <a:moveTo>
                      <a:pt x="14287" y="27861"/>
                    </a:moveTo>
                    <a:lnTo>
                      <a:pt x="14287" y="18336"/>
                    </a:lnTo>
                    <a:cubicBezTo>
                      <a:pt x="14238" y="9690"/>
                      <a:pt x="8372" y="2161"/>
                      <a:pt x="0" y="0"/>
                    </a:cubicBezTo>
                  </a:path>
                </a:pathLst>
              </a:custGeom>
              <a:noFill/>
              <a:ln w="9525">
                <a:solidFill>
                  <a:srgbClr val="E5907F"/>
                </a:solidFill>
              </a:ln>
            </p:spPr>
          </p:sp>
        </p:grpSp>
        <p:sp>
          <p:nvSpPr>
            <p:cNvPr id="16" name="TextBox 16"/>
            <p:cNvSpPr txBox="1"/>
            <p:nvPr/>
          </p:nvSpPr>
          <p:spPr>
            <a:xfrm>
              <a:off x="642938" y="1090612"/>
              <a:ext cx="312420"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客户池</a:t>
              </a:r>
            </a:p>
          </p:txBody>
        </p:sp>
        <p:sp>
          <p:nvSpPr>
            <p:cNvPr id="17" name="TextBox 17"/>
            <p:cNvSpPr txBox="1"/>
            <p:nvPr/>
          </p:nvSpPr>
          <p:spPr>
            <a:xfrm>
              <a:off x="1481138" y="1090612"/>
              <a:ext cx="80210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客户池2,000户​​</a:t>
              </a:r>
            </a:p>
          </p:txBody>
        </p:sp>
        <p:grpSp>
          <p:nvGrpSpPr>
            <p:cNvPr id="26" name="Group 26"/>
            <p:cNvGrpSpPr/>
            <p:nvPr/>
          </p:nvGrpSpPr>
          <p:grpSpPr>
            <a:xfrm>
              <a:off x="490538" y="1243012"/>
              <a:ext cx="90487" cy="95251"/>
              <a:chOff x="490538" y="1243012"/>
              <a:chExt cx="90487" cy="95251"/>
            </a:xfrm>
          </p:grpSpPr>
          <p:sp>
            <p:nvSpPr>
              <p:cNvPr id="18" name="Freeform 18"/>
              <p:cNvSpPr/>
              <p:nvPr/>
            </p:nvSpPr>
            <p:spPr>
              <a:xfrm>
                <a:off x="490538" y="1328738"/>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19" name="Freeform 19"/>
              <p:cNvSpPr/>
              <p:nvPr/>
            </p:nvSpPr>
            <p:spPr>
              <a:xfrm>
                <a:off x="490538" y="1276350"/>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20" name="Freeform 20"/>
              <p:cNvSpPr/>
              <p:nvPr/>
            </p:nvSpPr>
            <p:spPr>
              <a:xfrm>
                <a:off x="500062" y="1243012"/>
                <a:ext cx="66675" cy="14288"/>
              </a:xfrm>
              <a:custGeom>
                <a:avLst/>
                <a:gdLst/>
                <a:ahLst/>
                <a:cxnLst/>
                <a:rect l="l" t="t" r="r" b="b"/>
                <a:pathLst>
                  <a:path w="66675" h="14288">
                    <a:moveTo>
                      <a:pt x="0" y="14288"/>
                    </a:moveTo>
                    <a:lnTo>
                      <a:pt x="33338" y="0"/>
                    </a:lnTo>
                    <a:lnTo>
                      <a:pt x="66675" y="14288"/>
                    </a:lnTo>
                  </a:path>
                </a:pathLst>
              </a:custGeom>
              <a:noFill/>
              <a:ln w="9525">
                <a:solidFill>
                  <a:srgbClr val="E5907F"/>
                </a:solidFill>
              </a:ln>
            </p:spPr>
          </p:sp>
          <p:sp>
            <p:nvSpPr>
              <p:cNvPr id="21" name="Freeform 21"/>
              <p:cNvSpPr/>
              <p:nvPr/>
            </p:nvSpPr>
            <p:spPr>
              <a:xfrm>
                <a:off x="495300" y="127635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22" name="Freeform 22"/>
              <p:cNvSpPr/>
              <p:nvPr/>
            </p:nvSpPr>
            <p:spPr>
              <a:xfrm>
                <a:off x="571500" y="127635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23" name="Freeform 23"/>
              <p:cNvSpPr/>
              <p:nvPr/>
            </p:nvSpPr>
            <p:spPr>
              <a:xfrm>
                <a:off x="514350" y="129540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24" name="Freeform 24"/>
              <p:cNvSpPr/>
              <p:nvPr/>
            </p:nvSpPr>
            <p:spPr>
              <a:xfrm>
                <a:off x="533400" y="129540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25" name="Freeform 25"/>
              <p:cNvSpPr/>
              <p:nvPr/>
            </p:nvSpPr>
            <p:spPr>
              <a:xfrm>
                <a:off x="552450" y="1295400"/>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27" name="TextBox 27"/>
            <p:cNvSpPr txBox="1"/>
            <p:nvPr/>
          </p:nvSpPr>
          <p:spPr>
            <a:xfrm>
              <a:off x="642938" y="1233488"/>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牵头部门</a:t>
              </a:r>
            </a:p>
          </p:txBody>
        </p:sp>
        <p:sp>
          <p:nvSpPr>
            <p:cNvPr id="28" name="TextBox 28"/>
            <p:cNvSpPr txBox="1"/>
            <p:nvPr/>
          </p:nvSpPr>
          <p:spPr>
            <a:xfrm>
              <a:off x="1481138" y="1233488"/>
              <a:ext cx="51435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公司金融部</a:t>
              </a:r>
            </a:p>
          </p:txBody>
        </p:sp>
        <p:grpSp>
          <p:nvGrpSpPr>
            <p:cNvPr id="34" name="Group 34"/>
            <p:cNvGrpSpPr/>
            <p:nvPr/>
          </p:nvGrpSpPr>
          <p:grpSpPr>
            <a:xfrm>
              <a:off x="495300" y="1390650"/>
              <a:ext cx="76200" cy="76200"/>
              <a:chOff x="495300" y="1390650"/>
              <a:chExt cx="76200" cy="76200"/>
            </a:xfrm>
          </p:grpSpPr>
          <p:sp>
            <p:nvSpPr>
              <p:cNvPr id="29" name="Freeform 29"/>
              <p:cNvSpPr/>
              <p:nvPr/>
            </p:nvSpPr>
            <p:spPr>
              <a:xfrm>
                <a:off x="495300" y="1390650"/>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30" name="Freeform 30"/>
              <p:cNvSpPr/>
              <p:nvPr/>
            </p:nvSpPr>
            <p:spPr>
              <a:xfrm>
                <a:off x="495300" y="143827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31" name="Freeform 31"/>
              <p:cNvSpPr/>
              <p:nvPr/>
            </p:nvSpPr>
            <p:spPr>
              <a:xfrm>
                <a:off x="542925" y="143827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32" name="Freeform 32"/>
              <p:cNvSpPr/>
              <p:nvPr/>
            </p:nvSpPr>
            <p:spPr>
              <a:xfrm>
                <a:off x="542925" y="1404938"/>
                <a:ext cx="28575" cy="9525"/>
              </a:xfrm>
              <a:custGeom>
                <a:avLst/>
                <a:gdLst/>
                <a:ahLst/>
                <a:cxnLst/>
                <a:rect l="l" t="t" r="r" b="b"/>
                <a:pathLst>
                  <a:path w="28575" h="9525">
                    <a:moveTo>
                      <a:pt x="0" y="0"/>
                    </a:moveTo>
                    <a:lnTo>
                      <a:pt x="28575" y="0"/>
                    </a:lnTo>
                  </a:path>
                </a:pathLst>
              </a:custGeom>
              <a:noFill/>
              <a:ln w="9525">
                <a:solidFill>
                  <a:srgbClr val="E5907F"/>
                </a:solidFill>
              </a:ln>
            </p:spPr>
          </p:sp>
          <p:sp>
            <p:nvSpPr>
              <p:cNvPr id="33" name="Freeform 33"/>
              <p:cNvSpPr/>
              <p:nvPr/>
            </p:nvSpPr>
            <p:spPr>
              <a:xfrm>
                <a:off x="557212" y="1390650"/>
                <a:ext cx="9525" cy="28575"/>
              </a:xfrm>
              <a:custGeom>
                <a:avLst/>
                <a:gdLst/>
                <a:ahLst/>
                <a:cxnLst/>
                <a:rect l="l" t="t" r="r" b="b"/>
                <a:pathLst>
                  <a:path w="9525" h="28575">
                    <a:moveTo>
                      <a:pt x="0" y="0"/>
                    </a:moveTo>
                    <a:lnTo>
                      <a:pt x="0" y="28575"/>
                    </a:lnTo>
                  </a:path>
                </a:pathLst>
              </a:custGeom>
              <a:noFill/>
              <a:ln w="9525">
                <a:solidFill>
                  <a:srgbClr val="E5907F"/>
                </a:solidFill>
              </a:ln>
            </p:spPr>
          </p:sp>
        </p:grpSp>
        <p:sp>
          <p:nvSpPr>
            <p:cNvPr id="35" name="TextBox 35"/>
            <p:cNvSpPr txBox="1"/>
            <p:nvPr/>
          </p:nvSpPr>
          <p:spPr>
            <a:xfrm>
              <a:off x="642938" y="1376362"/>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产品组合</a:t>
              </a:r>
            </a:p>
          </p:txBody>
        </p:sp>
        <p:sp>
          <p:nvSpPr>
            <p:cNvPr id="36" name="TextBox 36"/>
            <p:cNvSpPr txBox="1"/>
            <p:nvPr/>
          </p:nvSpPr>
          <p:spPr>
            <a:xfrm>
              <a:off x="1481138" y="1380411"/>
              <a:ext cx="1443228"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代发薪专卡＋信用卡＋理财＋贷款</a:t>
              </a:r>
            </a:p>
          </p:txBody>
        </p:sp>
        <p:grpSp>
          <p:nvGrpSpPr>
            <p:cNvPr id="43" name="Group 43"/>
            <p:cNvGrpSpPr/>
            <p:nvPr/>
          </p:nvGrpSpPr>
          <p:grpSpPr>
            <a:xfrm>
              <a:off x="495300" y="1528762"/>
              <a:ext cx="76200" cy="85726"/>
              <a:chOff x="495300" y="1528762"/>
              <a:chExt cx="76200" cy="85726"/>
            </a:xfrm>
          </p:grpSpPr>
          <p:sp>
            <p:nvSpPr>
              <p:cNvPr id="37" name="Freeform 37"/>
              <p:cNvSpPr/>
              <p:nvPr/>
            </p:nvSpPr>
            <p:spPr>
              <a:xfrm>
                <a:off x="495300" y="1538288"/>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E5907F"/>
                </a:solidFill>
              </a:ln>
            </p:spPr>
          </p:sp>
          <p:sp>
            <p:nvSpPr>
              <p:cNvPr id="38" name="Freeform 38"/>
              <p:cNvSpPr/>
              <p:nvPr/>
            </p:nvSpPr>
            <p:spPr>
              <a:xfrm>
                <a:off x="552450" y="152876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39" name="Freeform 39"/>
              <p:cNvSpPr/>
              <p:nvPr/>
            </p:nvSpPr>
            <p:spPr>
              <a:xfrm>
                <a:off x="514350" y="152876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40" name="Freeform 40"/>
              <p:cNvSpPr/>
              <p:nvPr/>
            </p:nvSpPr>
            <p:spPr>
              <a:xfrm>
                <a:off x="495300" y="1566862"/>
                <a:ext cx="76200" cy="9525"/>
              </a:xfrm>
              <a:custGeom>
                <a:avLst/>
                <a:gdLst/>
                <a:ahLst/>
                <a:cxnLst/>
                <a:rect l="l" t="t" r="r" b="b"/>
                <a:pathLst>
                  <a:path w="76200" h="9525">
                    <a:moveTo>
                      <a:pt x="0" y="0"/>
                    </a:moveTo>
                    <a:lnTo>
                      <a:pt x="76200" y="0"/>
                    </a:lnTo>
                  </a:path>
                </a:pathLst>
              </a:custGeom>
              <a:noFill/>
              <a:ln w="9525">
                <a:solidFill>
                  <a:srgbClr val="E5907F"/>
                </a:solidFill>
              </a:ln>
            </p:spPr>
          </p:sp>
          <p:sp>
            <p:nvSpPr>
              <p:cNvPr id="41" name="Freeform 41"/>
              <p:cNvSpPr/>
              <p:nvPr/>
            </p:nvSpPr>
            <p:spPr>
              <a:xfrm>
                <a:off x="528638" y="1585912"/>
                <a:ext cx="9525" cy="9525"/>
              </a:xfrm>
              <a:custGeom>
                <a:avLst/>
                <a:gdLst/>
                <a:ahLst/>
                <a:cxnLst/>
                <a:rect l="l" t="t" r="r" b="b"/>
                <a:pathLst>
                  <a:path w="9525" h="9525">
                    <a:moveTo>
                      <a:pt x="0" y="0"/>
                    </a:moveTo>
                    <a:lnTo>
                      <a:pt x="4762" y="0"/>
                    </a:lnTo>
                  </a:path>
                </a:pathLst>
              </a:custGeom>
              <a:noFill/>
              <a:ln w="9525">
                <a:solidFill>
                  <a:srgbClr val="E5907F"/>
                </a:solidFill>
              </a:ln>
            </p:spPr>
          </p:sp>
          <p:sp>
            <p:nvSpPr>
              <p:cNvPr id="42" name="Freeform 42"/>
              <p:cNvSpPr/>
              <p:nvPr/>
            </p:nvSpPr>
            <p:spPr>
              <a:xfrm>
                <a:off x="533400" y="1585912"/>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44" name="TextBox 44"/>
            <p:cNvSpPr txBox="1"/>
            <p:nvPr/>
          </p:nvSpPr>
          <p:spPr>
            <a:xfrm>
              <a:off x="642938" y="1519238"/>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周期</a:t>
              </a:r>
            </a:p>
          </p:txBody>
        </p:sp>
        <p:sp>
          <p:nvSpPr>
            <p:cNvPr id="45" name="TextBox 45"/>
            <p:cNvSpPr txBox="1"/>
            <p:nvPr/>
          </p:nvSpPr>
          <p:spPr>
            <a:xfrm>
              <a:off x="1481138" y="1519238"/>
              <a:ext cx="332613"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30天​​</a:t>
              </a:r>
            </a:p>
          </p:txBody>
        </p:sp>
        <p:grpSp>
          <p:nvGrpSpPr>
            <p:cNvPr id="49" name="Group 49"/>
            <p:cNvGrpSpPr/>
            <p:nvPr/>
          </p:nvGrpSpPr>
          <p:grpSpPr>
            <a:xfrm>
              <a:off x="490538" y="1671638"/>
              <a:ext cx="85725" cy="85725"/>
              <a:chOff x="490538" y="1671638"/>
              <a:chExt cx="85725" cy="85725"/>
            </a:xfrm>
          </p:grpSpPr>
          <p:sp>
            <p:nvSpPr>
              <p:cNvPr id="46" name="Freeform 46"/>
              <p:cNvSpPr/>
              <p:nvPr/>
            </p:nvSpPr>
            <p:spPr>
              <a:xfrm>
                <a:off x="528638" y="170973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5907F"/>
                </a:solidFill>
              </a:ln>
            </p:spPr>
          </p:sp>
          <p:sp>
            <p:nvSpPr>
              <p:cNvPr id="47" name="Freeform 47"/>
              <p:cNvSpPr/>
              <p:nvPr/>
            </p:nvSpPr>
            <p:spPr>
              <a:xfrm>
                <a:off x="509588" y="169068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5907F"/>
                </a:solidFill>
              </a:ln>
            </p:spPr>
          </p:sp>
          <p:sp>
            <p:nvSpPr>
              <p:cNvPr id="48" name="Freeform 48"/>
              <p:cNvSpPr/>
              <p:nvPr/>
            </p:nvSpPr>
            <p:spPr>
              <a:xfrm>
                <a:off x="490538" y="16716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5907F"/>
                </a:solidFill>
              </a:ln>
            </p:spPr>
          </p:sp>
        </p:grpSp>
        <p:sp>
          <p:nvSpPr>
            <p:cNvPr id="50" name="TextBox 50"/>
            <p:cNvSpPr txBox="1"/>
            <p:nvPr/>
          </p:nvSpPr>
          <p:spPr>
            <a:xfrm>
              <a:off x="642938" y="1662112"/>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目标</a:t>
              </a:r>
            </a:p>
          </p:txBody>
        </p:sp>
        <p:sp>
          <p:nvSpPr>
            <p:cNvPr id="51" name="TextBox 51"/>
            <p:cNvSpPr txBox="1"/>
            <p:nvPr/>
          </p:nvSpPr>
          <p:spPr>
            <a:xfrm>
              <a:off x="1481138" y="1662112"/>
              <a:ext cx="726124" cy="147638"/>
            </a:xfrm>
            <a:prstGeom prst="rect">
              <a:avLst/>
            </a:prstGeom>
            <a:noFill/>
            <a:ln>
              <a:noFill/>
            </a:ln>
          </p:spPr>
          <p:txBody>
            <a:bodyPr wrap="none" lIns="0" tIns="0" rIns="0" bIns="0" anchor="t" anchorCtr="0">
              <a:spAutoFit/>
            </a:bodyPr>
            <a:lstStyle/>
            <a:p>
              <a:pPr algn="l"/>
              <a:r>
                <a:rPr lang="zh-CN" sz="750" b="1" dirty="0">
                  <a:solidFill>
                    <a:srgbClr val="C9462F"/>
                  </a:solidFill>
                  <a:latin typeface="+mn-lt"/>
                  <a:ea typeface="+mn-ea"/>
                  <a:cs typeface="+mn-cs"/>
                </a:rPr>
                <a:t>目标转化35%​​</a:t>
              </a:r>
            </a:p>
          </p:txBody>
        </p:sp>
        <p:sp>
          <p:nvSpPr>
            <p:cNvPr id="52" name="Rectangle 52"/>
            <p:cNvSpPr/>
            <p:nvPr/>
          </p:nvSpPr>
          <p:spPr>
            <a:xfrm>
              <a:off x="381000" y="1866900"/>
              <a:ext cx="2857500" cy="1047750"/>
            </a:xfrm>
            <a:prstGeom prst="roundRect">
              <a:avLst>
                <a:gd name="adj" fmla="val 7273"/>
              </a:avLst>
            </a:prstGeom>
            <a:solidFill>
              <a:srgbClr val="FFFFFF"/>
            </a:solidFill>
            <a:ln w="9525">
              <a:solidFill>
                <a:srgbClr val="C9D8EF"/>
              </a:solidFill>
            </a:ln>
          </p:spPr>
        </p:sp>
        <p:sp>
          <p:nvSpPr>
            <p:cNvPr id="53" name="Rectangle 53"/>
            <p:cNvSpPr/>
            <p:nvPr/>
          </p:nvSpPr>
          <p:spPr>
            <a:xfrm>
              <a:off x="381000" y="1866900"/>
              <a:ext cx="2857500" cy="285750"/>
            </a:xfrm>
            <a:prstGeom prst="roundRect">
              <a:avLst>
                <a:gd name="adj" fmla="val 26667"/>
              </a:avLst>
            </a:prstGeom>
            <a:solidFill>
              <a:srgbClr val="EAF2FC"/>
            </a:solidFill>
            <a:ln>
              <a:noFill/>
            </a:ln>
          </p:spPr>
        </p:sp>
        <p:sp>
          <p:nvSpPr>
            <p:cNvPr id="54" name="TextBox 54"/>
            <p:cNvSpPr txBox="1"/>
            <p:nvPr/>
          </p:nvSpPr>
          <p:spPr>
            <a:xfrm>
              <a:off x="488442" y="1930718"/>
              <a:ext cx="433528" cy="264033"/>
            </a:xfrm>
            <a:prstGeom prst="rect">
              <a:avLst/>
            </a:prstGeom>
            <a:noFill/>
            <a:ln>
              <a:noFill/>
            </a:ln>
          </p:spPr>
          <p:txBody>
            <a:bodyPr wrap="none" lIns="0" tIns="0" rIns="0" bIns="0" anchor="t" anchorCtr="0">
              <a:spAutoFit/>
            </a:bodyPr>
            <a:lstStyle/>
            <a:p>
              <a:pPr algn="l"/>
              <a:r>
                <a:rPr lang="zh-CN" sz="1350" b="1" dirty="0">
                  <a:solidFill>
                    <a:srgbClr val="C9462F"/>
                  </a:solidFill>
                  <a:latin typeface="+mn-lt"/>
                  <a:ea typeface="+mn-ea"/>
                  <a:cs typeface="+mn-cs"/>
                </a:rPr>
                <a:t>02​​</a:t>
              </a:r>
            </a:p>
          </p:txBody>
        </p:sp>
        <p:sp>
          <p:nvSpPr>
            <p:cNvPr id="55" name="TextBox 55"/>
            <p:cNvSpPr txBox="1"/>
            <p:nvPr/>
          </p:nvSpPr>
          <p:spPr>
            <a:xfrm>
              <a:off x="813816" y="1953578"/>
              <a:ext cx="1141476" cy="205359"/>
            </a:xfrm>
            <a:prstGeom prst="rect">
              <a:avLst/>
            </a:prstGeom>
            <a:noFill/>
            <a:ln>
              <a:noFill/>
            </a:ln>
          </p:spPr>
          <p:txBody>
            <a:bodyPr wrap="none" lIns="0" tIns="0" rIns="0" bIns="0" anchor="t" anchorCtr="0">
              <a:spAutoFit/>
            </a:bodyPr>
            <a:lstStyle/>
            <a:p>
              <a:pPr algn="l"/>
              <a:r>
                <a:rPr lang="zh-CN" sz="1050" b="1" dirty="0">
                  <a:solidFill>
                    <a:srgbClr val="67281B"/>
                  </a:solidFill>
                  <a:latin typeface="+mn-lt"/>
                  <a:ea typeface="+mn-ea"/>
                  <a:cs typeface="+mn-cs"/>
                </a:rPr>
                <a:t>企业高管财富提升</a:t>
              </a:r>
            </a:p>
          </p:txBody>
        </p:sp>
        <p:grpSp>
          <p:nvGrpSpPr>
            <p:cNvPr id="60" name="Group 60"/>
            <p:cNvGrpSpPr/>
            <p:nvPr/>
          </p:nvGrpSpPr>
          <p:grpSpPr>
            <a:xfrm>
              <a:off x="490538" y="2224088"/>
              <a:ext cx="85724" cy="85725"/>
              <a:chOff x="490538" y="2224088"/>
              <a:chExt cx="85724" cy="85725"/>
            </a:xfrm>
          </p:grpSpPr>
          <p:sp>
            <p:nvSpPr>
              <p:cNvPr id="56" name="Freeform 56"/>
              <p:cNvSpPr/>
              <p:nvPr/>
            </p:nvSpPr>
            <p:spPr>
              <a:xfrm>
                <a:off x="500062" y="22240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5907F"/>
                </a:solidFill>
              </a:ln>
            </p:spPr>
          </p:sp>
          <p:sp>
            <p:nvSpPr>
              <p:cNvPr id="57" name="Freeform 57"/>
              <p:cNvSpPr/>
              <p:nvPr/>
            </p:nvSpPr>
            <p:spPr>
              <a:xfrm>
                <a:off x="490538" y="228123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E5907F"/>
                </a:solidFill>
              </a:ln>
            </p:spPr>
          </p:sp>
          <p:sp>
            <p:nvSpPr>
              <p:cNvPr id="58" name="Freeform 58"/>
              <p:cNvSpPr/>
              <p:nvPr/>
            </p:nvSpPr>
            <p:spPr>
              <a:xfrm>
                <a:off x="552450" y="222470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E5907F"/>
                </a:solidFill>
              </a:ln>
            </p:spPr>
          </p:sp>
          <p:sp>
            <p:nvSpPr>
              <p:cNvPr id="59" name="Freeform 59"/>
              <p:cNvSpPr/>
              <p:nvPr/>
            </p:nvSpPr>
            <p:spPr>
              <a:xfrm>
                <a:off x="561975" y="2281952"/>
                <a:ext cx="14287" cy="27861"/>
              </a:xfrm>
              <a:custGeom>
                <a:avLst/>
                <a:gdLst/>
                <a:ahLst/>
                <a:cxnLst/>
                <a:rect l="l" t="t" r="r" b="b"/>
                <a:pathLst>
                  <a:path w="14287" h="27861">
                    <a:moveTo>
                      <a:pt x="14287" y="27861"/>
                    </a:moveTo>
                    <a:lnTo>
                      <a:pt x="14287" y="18336"/>
                    </a:lnTo>
                    <a:cubicBezTo>
                      <a:pt x="14238" y="9690"/>
                      <a:pt x="8372" y="2161"/>
                      <a:pt x="0" y="0"/>
                    </a:cubicBezTo>
                  </a:path>
                </a:pathLst>
              </a:custGeom>
              <a:noFill/>
              <a:ln w="9525">
                <a:solidFill>
                  <a:srgbClr val="E5907F"/>
                </a:solidFill>
              </a:ln>
            </p:spPr>
          </p:sp>
        </p:grpSp>
        <p:sp>
          <p:nvSpPr>
            <p:cNvPr id="61" name="TextBox 61"/>
            <p:cNvSpPr txBox="1"/>
            <p:nvPr/>
          </p:nvSpPr>
          <p:spPr>
            <a:xfrm>
              <a:off x="642938" y="2214562"/>
              <a:ext cx="312420"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客户池</a:t>
              </a:r>
            </a:p>
          </p:txBody>
        </p:sp>
        <p:sp>
          <p:nvSpPr>
            <p:cNvPr id="62" name="TextBox 62"/>
            <p:cNvSpPr txBox="1"/>
            <p:nvPr/>
          </p:nvSpPr>
          <p:spPr>
            <a:xfrm>
              <a:off x="1481138" y="2214562"/>
              <a:ext cx="80210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客户池2,000户​​</a:t>
              </a:r>
            </a:p>
          </p:txBody>
        </p:sp>
        <p:grpSp>
          <p:nvGrpSpPr>
            <p:cNvPr id="71" name="Group 71"/>
            <p:cNvGrpSpPr/>
            <p:nvPr/>
          </p:nvGrpSpPr>
          <p:grpSpPr>
            <a:xfrm>
              <a:off x="490538" y="2366962"/>
              <a:ext cx="90487" cy="95251"/>
              <a:chOff x="490538" y="2366962"/>
              <a:chExt cx="90487" cy="95251"/>
            </a:xfrm>
          </p:grpSpPr>
          <p:sp>
            <p:nvSpPr>
              <p:cNvPr id="63" name="Freeform 63"/>
              <p:cNvSpPr/>
              <p:nvPr/>
            </p:nvSpPr>
            <p:spPr>
              <a:xfrm>
                <a:off x="490538" y="2452688"/>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64" name="Freeform 64"/>
              <p:cNvSpPr/>
              <p:nvPr/>
            </p:nvSpPr>
            <p:spPr>
              <a:xfrm>
                <a:off x="490538" y="2400300"/>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65" name="Freeform 65"/>
              <p:cNvSpPr/>
              <p:nvPr/>
            </p:nvSpPr>
            <p:spPr>
              <a:xfrm>
                <a:off x="500062" y="2366962"/>
                <a:ext cx="66675" cy="14288"/>
              </a:xfrm>
              <a:custGeom>
                <a:avLst/>
                <a:gdLst/>
                <a:ahLst/>
                <a:cxnLst/>
                <a:rect l="l" t="t" r="r" b="b"/>
                <a:pathLst>
                  <a:path w="66675" h="14288">
                    <a:moveTo>
                      <a:pt x="0" y="14288"/>
                    </a:moveTo>
                    <a:lnTo>
                      <a:pt x="33338" y="0"/>
                    </a:lnTo>
                    <a:lnTo>
                      <a:pt x="66675" y="14288"/>
                    </a:lnTo>
                  </a:path>
                </a:pathLst>
              </a:custGeom>
              <a:noFill/>
              <a:ln w="9525">
                <a:solidFill>
                  <a:srgbClr val="E5907F"/>
                </a:solidFill>
              </a:ln>
            </p:spPr>
          </p:sp>
          <p:sp>
            <p:nvSpPr>
              <p:cNvPr id="66" name="Freeform 66"/>
              <p:cNvSpPr/>
              <p:nvPr/>
            </p:nvSpPr>
            <p:spPr>
              <a:xfrm>
                <a:off x="495300" y="240030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67" name="Freeform 67"/>
              <p:cNvSpPr/>
              <p:nvPr/>
            </p:nvSpPr>
            <p:spPr>
              <a:xfrm>
                <a:off x="571500" y="240030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68" name="Freeform 68"/>
              <p:cNvSpPr/>
              <p:nvPr/>
            </p:nvSpPr>
            <p:spPr>
              <a:xfrm>
                <a:off x="514350" y="241935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69" name="Freeform 69"/>
              <p:cNvSpPr/>
              <p:nvPr/>
            </p:nvSpPr>
            <p:spPr>
              <a:xfrm>
                <a:off x="533400" y="241935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70" name="Freeform 70"/>
              <p:cNvSpPr/>
              <p:nvPr/>
            </p:nvSpPr>
            <p:spPr>
              <a:xfrm>
                <a:off x="552450" y="2419350"/>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72" name="TextBox 72"/>
            <p:cNvSpPr txBox="1"/>
            <p:nvPr/>
          </p:nvSpPr>
          <p:spPr>
            <a:xfrm>
              <a:off x="642938" y="2357438"/>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牵头部门</a:t>
              </a:r>
            </a:p>
          </p:txBody>
        </p:sp>
        <p:sp>
          <p:nvSpPr>
            <p:cNvPr id="73" name="TextBox 73"/>
            <p:cNvSpPr txBox="1"/>
            <p:nvPr/>
          </p:nvSpPr>
          <p:spPr>
            <a:xfrm>
              <a:off x="1481138" y="2357438"/>
              <a:ext cx="51435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私行财富部</a:t>
              </a:r>
            </a:p>
          </p:txBody>
        </p:sp>
        <p:grpSp>
          <p:nvGrpSpPr>
            <p:cNvPr id="79" name="Group 79"/>
            <p:cNvGrpSpPr/>
            <p:nvPr/>
          </p:nvGrpSpPr>
          <p:grpSpPr>
            <a:xfrm>
              <a:off x="495300" y="2514600"/>
              <a:ext cx="76200" cy="76200"/>
              <a:chOff x="495300" y="2514600"/>
              <a:chExt cx="76200" cy="76200"/>
            </a:xfrm>
          </p:grpSpPr>
          <p:sp>
            <p:nvSpPr>
              <p:cNvPr id="74" name="Freeform 74"/>
              <p:cNvSpPr/>
              <p:nvPr/>
            </p:nvSpPr>
            <p:spPr>
              <a:xfrm>
                <a:off x="495300" y="2514600"/>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75" name="Freeform 75"/>
              <p:cNvSpPr/>
              <p:nvPr/>
            </p:nvSpPr>
            <p:spPr>
              <a:xfrm>
                <a:off x="495300" y="256222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76" name="Freeform 76"/>
              <p:cNvSpPr/>
              <p:nvPr/>
            </p:nvSpPr>
            <p:spPr>
              <a:xfrm>
                <a:off x="542925" y="256222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77" name="Freeform 77"/>
              <p:cNvSpPr/>
              <p:nvPr/>
            </p:nvSpPr>
            <p:spPr>
              <a:xfrm>
                <a:off x="542925" y="2528888"/>
                <a:ext cx="28575" cy="9525"/>
              </a:xfrm>
              <a:custGeom>
                <a:avLst/>
                <a:gdLst/>
                <a:ahLst/>
                <a:cxnLst/>
                <a:rect l="l" t="t" r="r" b="b"/>
                <a:pathLst>
                  <a:path w="28575" h="9525">
                    <a:moveTo>
                      <a:pt x="0" y="0"/>
                    </a:moveTo>
                    <a:lnTo>
                      <a:pt x="28575" y="0"/>
                    </a:lnTo>
                  </a:path>
                </a:pathLst>
              </a:custGeom>
              <a:noFill/>
              <a:ln w="9525">
                <a:solidFill>
                  <a:srgbClr val="E5907F"/>
                </a:solidFill>
              </a:ln>
            </p:spPr>
          </p:sp>
          <p:sp>
            <p:nvSpPr>
              <p:cNvPr id="78" name="Freeform 78"/>
              <p:cNvSpPr/>
              <p:nvPr/>
            </p:nvSpPr>
            <p:spPr>
              <a:xfrm>
                <a:off x="557212" y="2514600"/>
                <a:ext cx="9525" cy="28575"/>
              </a:xfrm>
              <a:custGeom>
                <a:avLst/>
                <a:gdLst/>
                <a:ahLst/>
                <a:cxnLst/>
                <a:rect l="l" t="t" r="r" b="b"/>
                <a:pathLst>
                  <a:path w="9525" h="28575">
                    <a:moveTo>
                      <a:pt x="0" y="0"/>
                    </a:moveTo>
                    <a:lnTo>
                      <a:pt x="0" y="28575"/>
                    </a:lnTo>
                  </a:path>
                </a:pathLst>
              </a:custGeom>
              <a:noFill/>
              <a:ln w="9525">
                <a:solidFill>
                  <a:srgbClr val="E5907F"/>
                </a:solidFill>
              </a:ln>
            </p:spPr>
          </p:sp>
        </p:grpSp>
        <p:sp>
          <p:nvSpPr>
            <p:cNvPr id="80" name="TextBox 80"/>
            <p:cNvSpPr txBox="1"/>
            <p:nvPr/>
          </p:nvSpPr>
          <p:spPr>
            <a:xfrm>
              <a:off x="642938" y="2500312"/>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产品组合</a:t>
              </a:r>
            </a:p>
          </p:txBody>
        </p:sp>
        <p:sp>
          <p:nvSpPr>
            <p:cNvPr id="81" name="TextBox 81"/>
            <p:cNvSpPr txBox="1"/>
            <p:nvPr/>
          </p:nvSpPr>
          <p:spPr>
            <a:xfrm>
              <a:off x="1481138" y="2504361"/>
              <a:ext cx="1634388"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私行理财＋家族信托＋保险＋跨境配置</a:t>
              </a:r>
            </a:p>
          </p:txBody>
        </p:sp>
        <p:grpSp>
          <p:nvGrpSpPr>
            <p:cNvPr id="88" name="Group 88"/>
            <p:cNvGrpSpPr/>
            <p:nvPr/>
          </p:nvGrpSpPr>
          <p:grpSpPr>
            <a:xfrm>
              <a:off x="495300" y="2652712"/>
              <a:ext cx="76200" cy="85726"/>
              <a:chOff x="495300" y="2652712"/>
              <a:chExt cx="76200" cy="85726"/>
            </a:xfrm>
          </p:grpSpPr>
          <p:sp>
            <p:nvSpPr>
              <p:cNvPr id="82" name="Freeform 82"/>
              <p:cNvSpPr/>
              <p:nvPr/>
            </p:nvSpPr>
            <p:spPr>
              <a:xfrm>
                <a:off x="495300" y="2662238"/>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E5907F"/>
                </a:solidFill>
              </a:ln>
            </p:spPr>
          </p:sp>
          <p:sp>
            <p:nvSpPr>
              <p:cNvPr id="83" name="Freeform 83"/>
              <p:cNvSpPr/>
              <p:nvPr/>
            </p:nvSpPr>
            <p:spPr>
              <a:xfrm>
                <a:off x="552450" y="265271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84" name="Freeform 84"/>
              <p:cNvSpPr/>
              <p:nvPr/>
            </p:nvSpPr>
            <p:spPr>
              <a:xfrm>
                <a:off x="514350" y="265271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85" name="Freeform 85"/>
              <p:cNvSpPr/>
              <p:nvPr/>
            </p:nvSpPr>
            <p:spPr>
              <a:xfrm>
                <a:off x="495300" y="2690812"/>
                <a:ext cx="76200" cy="9525"/>
              </a:xfrm>
              <a:custGeom>
                <a:avLst/>
                <a:gdLst/>
                <a:ahLst/>
                <a:cxnLst/>
                <a:rect l="l" t="t" r="r" b="b"/>
                <a:pathLst>
                  <a:path w="76200" h="9525">
                    <a:moveTo>
                      <a:pt x="0" y="0"/>
                    </a:moveTo>
                    <a:lnTo>
                      <a:pt x="76200" y="0"/>
                    </a:lnTo>
                  </a:path>
                </a:pathLst>
              </a:custGeom>
              <a:noFill/>
              <a:ln w="9525">
                <a:solidFill>
                  <a:srgbClr val="E5907F"/>
                </a:solidFill>
              </a:ln>
            </p:spPr>
          </p:sp>
          <p:sp>
            <p:nvSpPr>
              <p:cNvPr id="86" name="Freeform 86"/>
              <p:cNvSpPr/>
              <p:nvPr/>
            </p:nvSpPr>
            <p:spPr>
              <a:xfrm>
                <a:off x="528638" y="2709862"/>
                <a:ext cx="9525" cy="9525"/>
              </a:xfrm>
              <a:custGeom>
                <a:avLst/>
                <a:gdLst/>
                <a:ahLst/>
                <a:cxnLst/>
                <a:rect l="l" t="t" r="r" b="b"/>
                <a:pathLst>
                  <a:path w="9525" h="9525">
                    <a:moveTo>
                      <a:pt x="0" y="0"/>
                    </a:moveTo>
                    <a:lnTo>
                      <a:pt x="4762" y="0"/>
                    </a:lnTo>
                  </a:path>
                </a:pathLst>
              </a:custGeom>
              <a:noFill/>
              <a:ln w="9525">
                <a:solidFill>
                  <a:srgbClr val="E5907F"/>
                </a:solidFill>
              </a:ln>
            </p:spPr>
          </p:sp>
          <p:sp>
            <p:nvSpPr>
              <p:cNvPr id="87" name="Freeform 87"/>
              <p:cNvSpPr/>
              <p:nvPr/>
            </p:nvSpPr>
            <p:spPr>
              <a:xfrm>
                <a:off x="533400" y="2709862"/>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89" name="TextBox 89"/>
            <p:cNvSpPr txBox="1"/>
            <p:nvPr/>
          </p:nvSpPr>
          <p:spPr>
            <a:xfrm>
              <a:off x="642938" y="2643188"/>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周期</a:t>
              </a:r>
            </a:p>
          </p:txBody>
        </p:sp>
        <p:sp>
          <p:nvSpPr>
            <p:cNvPr id="90" name="TextBox 90"/>
            <p:cNvSpPr txBox="1"/>
            <p:nvPr/>
          </p:nvSpPr>
          <p:spPr>
            <a:xfrm>
              <a:off x="1481138" y="2643188"/>
              <a:ext cx="332613"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60天​​</a:t>
              </a:r>
            </a:p>
          </p:txBody>
        </p:sp>
        <p:grpSp>
          <p:nvGrpSpPr>
            <p:cNvPr id="94" name="Group 94"/>
            <p:cNvGrpSpPr/>
            <p:nvPr/>
          </p:nvGrpSpPr>
          <p:grpSpPr>
            <a:xfrm>
              <a:off x="490538" y="2795588"/>
              <a:ext cx="85725" cy="85725"/>
              <a:chOff x="490538" y="2795588"/>
              <a:chExt cx="85725" cy="85725"/>
            </a:xfrm>
          </p:grpSpPr>
          <p:sp>
            <p:nvSpPr>
              <p:cNvPr id="91" name="Freeform 91"/>
              <p:cNvSpPr/>
              <p:nvPr/>
            </p:nvSpPr>
            <p:spPr>
              <a:xfrm>
                <a:off x="528638" y="283368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5907F"/>
                </a:solidFill>
              </a:ln>
            </p:spPr>
          </p:sp>
          <p:sp>
            <p:nvSpPr>
              <p:cNvPr id="92" name="Freeform 92"/>
              <p:cNvSpPr/>
              <p:nvPr/>
            </p:nvSpPr>
            <p:spPr>
              <a:xfrm>
                <a:off x="509588" y="281463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5907F"/>
                </a:solidFill>
              </a:ln>
            </p:spPr>
          </p:sp>
          <p:sp>
            <p:nvSpPr>
              <p:cNvPr id="93" name="Freeform 93"/>
              <p:cNvSpPr/>
              <p:nvPr/>
            </p:nvSpPr>
            <p:spPr>
              <a:xfrm>
                <a:off x="490538" y="2795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5907F"/>
                </a:solidFill>
              </a:ln>
            </p:spPr>
          </p:sp>
        </p:grpSp>
        <p:sp>
          <p:nvSpPr>
            <p:cNvPr id="95" name="TextBox 95"/>
            <p:cNvSpPr txBox="1"/>
            <p:nvPr/>
          </p:nvSpPr>
          <p:spPr>
            <a:xfrm>
              <a:off x="642938" y="2786062"/>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目标</a:t>
              </a:r>
            </a:p>
          </p:txBody>
        </p:sp>
        <p:sp>
          <p:nvSpPr>
            <p:cNvPr id="96" name="TextBox 96"/>
            <p:cNvSpPr txBox="1"/>
            <p:nvPr/>
          </p:nvSpPr>
          <p:spPr>
            <a:xfrm>
              <a:off x="1481138" y="2786062"/>
              <a:ext cx="726124" cy="147638"/>
            </a:xfrm>
            <a:prstGeom prst="rect">
              <a:avLst/>
            </a:prstGeom>
            <a:noFill/>
            <a:ln>
              <a:noFill/>
            </a:ln>
          </p:spPr>
          <p:txBody>
            <a:bodyPr wrap="none" lIns="0" tIns="0" rIns="0" bIns="0" anchor="t" anchorCtr="0">
              <a:spAutoFit/>
            </a:bodyPr>
            <a:lstStyle/>
            <a:p>
              <a:pPr algn="l"/>
              <a:r>
                <a:rPr lang="zh-CN" sz="750" b="1" dirty="0">
                  <a:solidFill>
                    <a:srgbClr val="C9462F"/>
                  </a:solidFill>
                  <a:latin typeface="+mn-lt"/>
                  <a:ea typeface="+mn-ea"/>
                  <a:cs typeface="+mn-cs"/>
                </a:rPr>
                <a:t>目标转化35%​​</a:t>
              </a:r>
            </a:p>
          </p:txBody>
        </p:sp>
        <p:sp>
          <p:nvSpPr>
            <p:cNvPr id="97" name="Rectangle 97"/>
            <p:cNvSpPr/>
            <p:nvPr/>
          </p:nvSpPr>
          <p:spPr>
            <a:xfrm>
              <a:off x="381000" y="2990850"/>
              <a:ext cx="2857500" cy="1047750"/>
            </a:xfrm>
            <a:prstGeom prst="roundRect">
              <a:avLst>
                <a:gd name="adj" fmla="val 7273"/>
              </a:avLst>
            </a:prstGeom>
            <a:solidFill>
              <a:srgbClr val="FFFFFF"/>
            </a:solidFill>
            <a:ln w="9525">
              <a:solidFill>
                <a:srgbClr val="C9D8EF"/>
              </a:solidFill>
            </a:ln>
          </p:spPr>
        </p:sp>
        <p:sp>
          <p:nvSpPr>
            <p:cNvPr id="98" name="Rectangle 98"/>
            <p:cNvSpPr/>
            <p:nvPr/>
          </p:nvSpPr>
          <p:spPr>
            <a:xfrm>
              <a:off x="381000" y="2990850"/>
              <a:ext cx="2857500" cy="285750"/>
            </a:xfrm>
            <a:prstGeom prst="roundRect">
              <a:avLst>
                <a:gd name="adj" fmla="val 26667"/>
              </a:avLst>
            </a:prstGeom>
            <a:solidFill>
              <a:srgbClr val="EAF2FC"/>
            </a:solidFill>
            <a:ln>
              <a:noFill/>
            </a:ln>
          </p:spPr>
        </p:sp>
        <p:sp>
          <p:nvSpPr>
            <p:cNvPr id="99" name="TextBox 99"/>
            <p:cNvSpPr txBox="1"/>
            <p:nvPr/>
          </p:nvSpPr>
          <p:spPr>
            <a:xfrm>
              <a:off x="488442" y="3054668"/>
              <a:ext cx="433528" cy="264033"/>
            </a:xfrm>
            <a:prstGeom prst="rect">
              <a:avLst/>
            </a:prstGeom>
            <a:noFill/>
            <a:ln>
              <a:noFill/>
            </a:ln>
          </p:spPr>
          <p:txBody>
            <a:bodyPr wrap="none" lIns="0" tIns="0" rIns="0" bIns="0" anchor="t" anchorCtr="0">
              <a:spAutoFit/>
            </a:bodyPr>
            <a:lstStyle/>
            <a:p>
              <a:pPr algn="l"/>
              <a:r>
                <a:rPr lang="zh-CN" sz="1350" b="1" dirty="0">
                  <a:solidFill>
                    <a:srgbClr val="C9462F"/>
                  </a:solidFill>
                  <a:latin typeface="+mn-lt"/>
                  <a:ea typeface="+mn-ea"/>
                  <a:cs typeface="+mn-cs"/>
                </a:rPr>
                <a:t>03​​</a:t>
              </a:r>
            </a:p>
          </p:txBody>
        </p:sp>
        <p:sp>
          <p:nvSpPr>
            <p:cNvPr id="100" name="TextBox 100"/>
            <p:cNvSpPr txBox="1"/>
            <p:nvPr/>
          </p:nvSpPr>
          <p:spPr>
            <a:xfrm>
              <a:off x="813816" y="3077528"/>
              <a:ext cx="1000125" cy="205359"/>
            </a:xfrm>
            <a:prstGeom prst="rect">
              <a:avLst/>
            </a:prstGeom>
            <a:noFill/>
            <a:ln>
              <a:noFill/>
            </a:ln>
          </p:spPr>
          <p:txBody>
            <a:bodyPr wrap="none" lIns="0" tIns="0" rIns="0" bIns="0" anchor="t" anchorCtr="0">
              <a:spAutoFit/>
            </a:bodyPr>
            <a:lstStyle/>
            <a:p>
              <a:pPr algn="l"/>
              <a:r>
                <a:rPr lang="zh-CN" sz="1050" b="1" dirty="0">
                  <a:solidFill>
                    <a:srgbClr val="67281B"/>
                  </a:solidFill>
                  <a:latin typeface="+mn-lt"/>
                  <a:ea typeface="+mn-ea"/>
                  <a:cs typeface="+mn-cs"/>
                </a:rPr>
                <a:t>产业链商户拓展</a:t>
              </a:r>
            </a:p>
          </p:txBody>
        </p:sp>
        <p:grpSp>
          <p:nvGrpSpPr>
            <p:cNvPr id="105" name="Group 105"/>
            <p:cNvGrpSpPr/>
            <p:nvPr/>
          </p:nvGrpSpPr>
          <p:grpSpPr>
            <a:xfrm>
              <a:off x="490538" y="3348038"/>
              <a:ext cx="85724" cy="85725"/>
              <a:chOff x="490538" y="3348038"/>
              <a:chExt cx="85724" cy="85725"/>
            </a:xfrm>
          </p:grpSpPr>
          <p:sp>
            <p:nvSpPr>
              <p:cNvPr id="101" name="Freeform 101"/>
              <p:cNvSpPr/>
              <p:nvPr/>
            </p:nvSpPr>
            <p:spPr>
              <a:xfrm>
                <a:off x="500062" y="33480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5907F"/>
                </a:solidFill>
              </a:ln>
            </p:spPr>
          </p:sp>
          <p:sp>
            <p:nvSpPr>
              <p:cNvPr id="102" name="Freeform 102"/>
              <p:cNvSpPr/>
              <p:nvPr/>
            </p:nvSpPr>
            <p:spPr>
              <a:xfrm>
                <a:off x="490538" y="340518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E5907F"/>
                </a:solidFill>
              </a:ln>
            </p:spPr>
          </p:sp>
          <p:sp>
            <p:nvSpPr>
              <p:cNvPr id="103" name="Freeform 103"/>
              <p:cNvSpPr/>
              <p:nvPr/>
            </p:nvSpPr>
            <p:spPr>
              <a:xfrm>
                <a:off x="552450" y="334865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E5907F"/>
                </a:solidFill>
              </a:ln>
            </p:spPr>
          </p:sp>
          <p:sp>
            <p:nvSpPr>
              <p:cNvPr id="104" name="Freeform 104"/>
              <p:cNvSpPr/>
              <p:nvPr/>
            </p:nvSpPr>
            <p:spPr>
              <a:xfrm>
                <a:off x="561975" y="3405902"/>
                <a:ext cx="14287" cy="27861"/>
              </a:xfrm>
              <a:custGeom>
                <a:avLst/>
                <a:gdLst/>
                <a:ahLst/>
                <a:cxnLst/>
                <a:rect l="l" t="t" r="r" b="b"/>
                <a:pathLst>
                  <a:path w="14287" h="27861">
                    <a:moveTo>
                      <a:pt x="14287" y="27861"/>
                    </a:moveTo>
                    <a:lnTo>
                      <a:pt x="14287" y="18336"/>
                    </a:lnTo>
                    <a:cubicBezTo>
                      <a:pt x="14238" y="9690"/>
                      <a:pt x="8372" y="2161"/>
                      <a:pt x="0" y="0"/>
                    </a:cubicBezTo>
                  </a:path>
                </a:pathLst>
              </a:custGeom>
              <a:noFill/>
              <a:ln w="9525">
                <a:solidFill>
                  <a:srgbClr val="E5907F"/>
                </a:solidFill>
              </a:ln>
            </p:spPr>
          </p:sp>
        </p:grpSp>
        <p:sp>
          <p:nvSpPr>
            <p:cNvPr id="106" name="TextBox 106"/>
            <p:cNvSpPr txBox="1"/>
            <p:nvPr/>
          </p:nvSpPr>
          <p:spPr>
            <a:xfrm>
              <a:off x="642938" y="3338512"/>
              <a:ext cx="312420"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客户池</a:t>
              </a:r>
            </a:p>
          </p:txBody>
        </p:sp>
        <p:sp>
          <p:nvSpPr>
            <p:cNvPr id="107" name="TextBox 107"/>
            <p:cNvSpPr txBox="1"/>
            <p:nvPr/>
          </p:nvSpPr>
          <p:spPr>
            <a:xfrm>
              <a:off x="1481138" y="3338512"/>
              <a:ext cx="80210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客户池2,000户​​</a:t>
              </a:r>
            </a:p>
          </p:txBody>
        </p:sp>
        <p:grpSp>
          <p:nvGrpSpPr>
            <p:cNvPr id="116" name="Group 116"/>
            <p:cNvGrpSpPr/>
            <p:nvPr/>
          </p:nvGrpSpPr>
          <p:grpSpPr>
            <a:xfrm>
              <a:off x="490538" y="3490912"/>
              <a:ext cx="90487" cy="95251"/>
              <a:chOff x="490538" y="3490912"/>
              <a:chExt cx="90487" cy="95251"/>
            </a:xfrm>
          </p:grpSpPr>
          <p:sp>
            <p:nvSpPr>
              <p:cNvPr id="108" name="Freeform 108"/>
              <p:cNvSpPr/>
              <p:nvPr/>
            </p:nvSpPr>
            <p:spPr>
              <a:xfrm>
                <a:off x="490538" y="3576638"/>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109" name="Freeform 109"/>
              <p:cNvSpPr/>
              <p:nvPr/>
            </p:nvSpPr>
            <p:spPr>
              <a:xfrm>
                <a:off x="490538" y="3524250"/>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110" name="Freeform 110"/>
              <p:cNvSpPr/>
              <p:nvPr/>
            </p:nvSpPr>
            <p:spPr>
              <a:xfrm>
                <a:off x="500062" y="3490912"/>
                <a:ext cx="66675" cy="14288"/>
              </a:xfrm>
              <a:custGeom>
                <a:avLst/>
                <a:gdLst/>
                <a:ahLst/>
                <a:cxnLst/>
                <a:rect l="l" t="t" r="r" b="b"/>
                <a:pathLst>
                  <a:path w="66675" h="14288">
                    <a:moveTo>
                      <a:pt x="0" y="14288"/>
                    </a:moveTo>
                    <a:lnTo>
                      <a:pt x="33338" y="0"/>
                    </a:lnTo>
                    <a:lnTo>
                      <a:pt x="66675" y="14288"/>
                    </a:lnTo>
                  </a:path>
                </a:pathLst>
              </a:custGeom>
              <a:noFill/>
              <a:ln w="9525">
                <a:solidFill>
                  <a:srgbClr val="E5907F"/>
                </a:solidFill>
              </a:ln>
            </p:spPr>
          </p:sp>
          <p:sp>
            <p:nvSpPr>
              <p:cNvPr id="111" name="Freeform 111"/>
              <p:cNvSpPr/>
              <p:nvPr/>
            </p:nvSpPr>
            <p:spPr>
              <a:xfrm>
                <a:off x="495300" y="352425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112" name="Freeform 112"/>
              <p:cNvSpPr/>
              <p:nvPr/>
            </p:nvSpPr>
            <p:spPr>
              <a:xfrm>
                <a:off x="571500" y="352425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113" name="Freeform 113"/>
              <p:cNvSpPr/>
              <p:nvPr/>
            </p:nvSpPr>
            <p:spPr>
              <a:xfrm>
                <a:off x="514350" y="354330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114" name="Freeform 114"/>
              <p:cNvSpPr/>
              <p:nvPr/>
            </p:nvSpPr>
            <p:spPr>
              <a:xfrm>
                <a:off x="533400" y="354330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115" name="Freeform 115"/>
              <p:cNvSpPr/>
              <p:nvPr/>
            </p:nvSpPr>
            <p:spPr>
              <a:xfrm>
                <a:off x="552450" y="3543300"/>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117" name="TextBox 117"/>
            <p:cNvSpPr txBox="1"/>
            <p:nvPr/>
          </p:nvSpPr>
          <p:spPr>
            <a:xfrm>
              <a:off x="642938" y="3481388"/>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牵头部门</a:t>
              </a:r>
            </a:p>
          </p:txBody>
        </p:sp>
        <p:sp>
          <p:nvSpPr>
            <p:cNvPr id="118" name="TextBox 118"/>
            <p:cNvSpPr txBox="1"/>
            <p:nvPr/>
          </p:nvSpPr>
          <p:spPr>
            <a:xfrm>
              <a:off x="1481138" y="3481388"/>
              <a:ext cx="51435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公司金融部</a:t>
              </a:r>
            </a:p>
          </p:txBody>
        </p:sp>
        <p:grpSp>
          <p:nvGrpSpPr>
            <p:cNvPr id="124" name="Group 124"/>
            <p:cNvGrpSpPr/>
            <p:nvPr/>
          </p:nvGrpSpPr>
          <p:grpSpPr>
            <a:xfrm>
              <a:off x="495300" y="3638550"/>
              <a:ext cx="76200" cy="76200"/>
              <a:chOff x="495300" y="3638550"/>
              <a:chExt cx="76200" cy="76200"/>
            </a:xfrm>
          </p:grpSpPr>
          <p:sp>
            <p:nvSpPr>
              <p:cNvPr id="119" name="Freeform 119"/>
              <p:cNvSpPr/>
              <p:nvPr/>
            </p:nvSpPr>
            <p:spPr>
              <a:xfrm>
                <a:off x="495300" y="3638550"/>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120" name="Freeform 120"/>
              <p:cNvSpPr/>
              <p:nvPr/>
            </p:nvSpPr>
            <p:spPr>
              <a:xfrm>
                <a:off x="495300" y="368617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121" name="Freeform 121"/>
              <p:cNvSpPr/>
              <p:nvPr/>
            </p:nvSpPr>
            <p:spPr>
              <a:xfrm>
                <a:off x="542925" y="368617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122" name="Freeform 122"/>
              <p:cNvSpPr/>
              <p:nvPr/>
            </p:nvSpPr>
            <p:spPr>
              <a:xfrm>
                <a:off x="542925" y="3652838"/>
                <a:ext cx="28575" cy="9525"/>
              </a:xfrm>
              <a:custGeom>
                <a:avLst/>
                <a:gdLst/>
                <a:ahLst/>
                <a:cxnLst/>
                <a:rect l="l" t="t" r="r" b="b"/>
                <a:pathLst>
                  <a:path w="28575" h="9525">
                    <a:moveTo>
                      <a:pt x="0" y="0"/>
                    </a:moveTo>
                    <a:lnTo>
                      <a:pt x="28575" y="0"/>
                    </a:lnTo>
                  </a:path>
                </a:pathLst>
              </a:custGeom>
              <a:noFill/>
              <a:ln w="9525">
                <a:solidFill>
                  <a:srgbClr val="E5907F"/>
                </a:solidFill>
              </a:ln>
            </p:spPr>
          </p:sp>
          <p:sp>
            <p:nvSpPr>
              <p:cNvPr id="123" name="Freeform 123"/>
              <p:cNvSpPr/>
              <p:nvPr/>
            </p:nvSpPr>
            <p:spPr>
              <a:xfrm>
                <a:off x="557212" y="3638550"/>
                <a:ext cx="9525" cy="28575"/>
              </a:xfrm>
              <a:custGeom>
                <a:avLst/>
                <a:gdLst/>
                <a:ahLst/>
                <a:cxnLst/>
                <a:rect l="l" t="t" r="r" b="b"/>
                <a:pathLst>
                  <a:path w="9525" h="28575">
                    <a:moveTo>
                      <a:pt x="0" y="0"/>
                    </a:moveTo>
                    <a:lnTo>
                      <a:pt x="0" y="28575"/>
                    </a:lnTo>
                  </a:path>
                </a:pathLst>
              </a:custGeom>
              <a:noFill/>
              <a:ln w="9525">
                <a:solidFill>
                  <a:srgbClr val="E5907F"/>
                </a:solidFill>
              </a:ln>
            </p:spPr>
          </p:sp>
        </p:grpSp>
        <p:sp>
          <p:nvSpPr>
            <p:cNvPr id="125" name="TextBox 125"/>
            <p:cNvSpPr txBox="1"/>
            <p:nvPr/>
          </p:nvSpPr>
          <p:spPr>
            <a:xfrm>
              <a:off x="642938" y="3624262"/>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产品组合</a:t>
              </a:r>
            </a:p>
          </p:txBody>
        </p:sp>
        <p:sp>
          <p:nvSpPr>
            <p:cNvPr id="126" name="TextBox 126"/>
            <p:cNvSpPr txBox="1"/>
            <p:nvPr/>
          </p:nvSpPr>
          <p:spPr>
            <a:xfrm>
              <a:off x="1481138" y="3628311"/>
              <a:ext cx="1634388"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商户贷＋供应链融资＋账户结算＋理财</a:t>
              </a:r>
            </a:p>
          </p:txBody>
        </p:sp>
        <p:grpSp>
          <p:nvGrpSpPr>
            <p:cNvPr id="133" name="Group 133"/>
            <p:cNvGrpSpPr/>
            <p:nvPr/>
          </p:nvGrpSpPr>
          <p:grpSpPr>
            <a:xfrm>
              <a:off x="495300" y="3776662"/>
              <a:ext cx="76200" cy="85726"/>
              <a:chOff x="495300" y="3776662"/>
              <a:chExt cx="76200" cy="85726"/>
            </a:xfrm>
          </p:grpSpPr>
          <p:sp>
            <p:nvSpPr>
              <p:cNvPr id="127" name="Freeform 127"/>
              <p:cNvSpPr/>
              <p:nvPr/>
            </p:nvSpPr>
            <p:spPr>
              <a:xfrm>
                <a:off x="495300" y="3786188"/>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E5907F"/>
                </a:solidFill>
              </a:ln>
            </p:spPr>
          </p:sp>
          <p:sp>
            <p:nvSpPr>
              <p:cNvPr id="128" name="Freeform 128"/>
              <p:cNvSpPr/>
              <p:nvPr/>
            </p:nvSpPr>
            <p:spPr>
              <a:xfrm>
                <a:off x="552450" y="377666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129" name="Freeform 129"/>
              <p:cNvSpPr/>
              <p:nvPr/>
            </p:nvSpPr>
            <p:spPr>
              <a:xfrm>
                <a:off x="514350" y="377666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130" name="Freeform 130"/>
              <p:cNvSpPr/>
              <p:nvPr/>
            </p:nvSpPr>
            <p:spPr>
              <a:xfrm>
                <a:off x="495300" y="3814762"/>
                <a:ext cx="76200" cy="9525"/>
              </a:xfrm>
              <a:custGeom>
                <a:avLst/>
                <a:gdLst/>
                <a:ahLst/>
                <a:cxnLst/>
                <a:rect l="l" t="t" r="r" b="b"/>
                <a:pathLst>
                  <a:path w="76200" h="9525">
                    <a:moveTo>
                      <a:pt x="0" y="0"/>
                    </a:moveTo>
                    <a:lnTo>
                      <a:pt x="76200" y="0"/>
                    </a:lnTo>
                  </a:path>
                </a:pathLst>
              </a:custGeom>
              <a:noFill/>
              <a:ln w="9525">
                <a:solidFill>
                  <a:srgbClr val="E5907F"/>
                </a:solidFill>
              </a:ln>
            </p:spPr>
          </p:sp>
          <p:sp>
            <p:nvSpPr>
              <p:cNvPr id="131" name="Freeform 131"/>
              <p:cNvSpPr/>
              <p:nvPr/>
            </p:nvSpPr>
            <p:spPr>
              <a:xfrm>
                <a:off x="528638" y="3833812"/>
                <a:ext cx="9525" cy="9525"/>
              </a:xfrm>
              <a:custGeom>
                <a:avLst/>
                <a:gdLst/>
                <a:ahLst/>
                <a:cxnLst/>
                <a:rect l="l" t="t" r="r" b="b"/>
                <a:pathLst>
                  <a:path w="9525" h="9525">
                    <a:moveTo>
                      <a:pt x="0" y="0"/>
                    </a:moveTo>
                    <a:lnTo>
                      <a:pt x="4762" y="0"/>
                    </a:lnTo>
                  </a:path>
                </a:pathLst>
              </a:custGeom>
              <a:noFill/>
              <a:ln w="9525">
                <a:solidFill>
                  <a:srgbClr val="E5907F"/>
                </a:solidFill>
              </a:ln>
            </p:spPr>
          </p:sp>
          <p:sp>
            <p:nvSpPr>
              <p:cNvPr id="132" name="Freeform 132"/>
              <p:cNvSpPr/>
              <p:nvPr/>
            </p:nvSpPr>
            <p:spPr>
              <a:xfrm>
                <a:off x="533400" y="3833812"/>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134" name="TextBox 134"/>
            <p:cNvSpPr txBox="1"/>
            <p:nvPr/>
          </p:nvSpPr>
          <p:spPr>
            <a:xfrm>
              <a:off x="642938" y="3767138"/>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周期</a:t>
              </a:r>
            </a:p>
          </p:txBody>
        </p:sp>
        <p:sp>
          <p:nvSpPr>
            <p:cNvPr id="135" name="TextBox 135"/>
            <p:cNvSpPr txBox="1"/>
            <p:nvPr/>
          </p:nvSpPr>
          <p:spPr>
            <a:xfrm>
              <a:off x="1481138" y="3767138"/>
              <a:ext cx="332613"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30天​​</a:t>
              </a:r>
            </a:p>
          </p:txBody>
        </p:sp>
        <p:grpSp>
          <p:nvGrpSpPr>
            <p:cNvPr id="139" name="Group 139"/>
            <p:cNvGrpSpPr/>
            <p:nvPr/>
          </p:nvGrpSpPr>
          <p:grpSpPr>
            <a:xfrm>
              <a:off x="490538" y="3919538"/>
              <a:ext cx="85725" cy="85725"/>
              <a:chOff x="490538" y="3919538"/>
              <a:chExt cx="85725" cy="85725"/>
            </a:xfrm>
          </p:grpSpPr>
          <p:sp>
            <p:nvSpPr>
              <p:cNvPr id="136" name="Freeform 136"/>
              <p:cNvSpPr/>
              <p:nvPr/>
            </p:nvSpPr>
            <p:spPr>
              <a:xfrm>
                <a:off x="528638" y="395763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5907F"/>
                </a:solidFill>
              </a:ln>
            </p:spPr>
          </p:sp>
          <p:sp>
            <p:nvSpPr>
              <p:cNvPr id="137" name="Freeform 137"/>
              <p:cNvSpPr/>
              <p:nvPr/>
            </p:nvSpPr>
            <p:spPr>
              <a:xfrm>
                <a:off x="509588" y="393858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5907F"/>
                </a:solidFill>
              </a:ln>
            </p:spPr>
          </p:sp>
          <p:sp>
            <p:nvSpPr>
              <p:cNvPr id="138" name="Freeform 138"/>
              <p:cNvSpPr/>
              <p:nvPr/>
            </p:nvSpPr>
            <p:spPr>
              <a:xfrm>
                <a:off x="490538" y="39195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5907F"/>
                </a:solidFill>
              </a:ln>
            </p:spPr>
          </p:sp>
        </p:grpSp>
        <p:sp>
          <p:nvSpPr>
            <p:cNvPr id="140" name="TextBox 140"/>
            <p:cNvSpPr txBox="1"/>
            <p:nvPr/>
          </p:nvSpPr>
          <p:spPr>
            <a:xfrm>
              <a:off x="642938" y="3910012"/>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目标</a:t>
              </a:r>
            </a:p>
          </p:txBody>
        </p:sp>
        <p:sp>
          <p:nvSpPr>
            <p:cNvPr id="141" name="TextBox 141"/>
            <p:cNvSpPr txBox="1"/>
            <p:nvPr/>
          </p:nvSpPr>
          <p:spPr>
            <a:xfrm>
              <a:off x="1481138" y="3910012"/>
              <a:ext cx="726124" cy="147638"/>
            </a:xfrm>
            <a:prstGeom prst="rect">
              <a:avLst/>
            </a:prstGeom>
            <a:noFill/>
            <a:ln>
              <a:noFill/>
            </a:ln>
          </p:spPr>
          <p:txBody>
            <a:bodyPr wrap="none" lIns="0" tIns="0" rIns="0" bIns="0" anchor="t" anchorCtr="0">
              <a:spAutoFit/>
            </a:bodyPr>
            <a:lstStyle/>
            <a:p>
              <a:pPr algn="l"/>
              <a:r>
                <a:rPr lang="zh-CN" sz="750" b="1" dirty="0">
                  <a:solidFill>
                    <a:srgbClr val="C9462F"/>
                  </a:solidFill>
                  <a:latin typeface="+mn-lt"/>
                  <a:ea typeface="+mn-ea"/>
                  <a:cs typeface="+mn-cs"/>
                </a:rPr>
                <a:t>目标转化35%​​</a:t>
              </a:r>
            </a:p>
          </p:txBody>
        </p:sp>
      </p:grpSp>
      <p:grpSp>
        <p:nvGrpSpPr>
          <p:cNvPr id="183" name="network-center"/>
          <p:cNvGrpSpPr/>
          <p:nvPr/>
        </p:nvGrpSpPr>
        <p:grpSpPr>
          <a:xfrm>
            <a:off x="3762375" y="952500"/>
            <a:ext cx="4467225" cy="2819400"/>
            <a:chOff x="3762375" y="952500"/>
            <a:chExt cx="4467225" cy="2819400"/>
          </a:xfrm>
        </p:grpSpPr>
        <p:sp>
          <p:nvSpPr>
            <p:cNvPr id="143" name="Ellipse 143"/>
            <p:cNvSpPr/>
            <p:nvPr/>
          </p:nvSpPr>
          <p:spPr>
            <a:xfrm>
              <a:off x="4429125" y="1190625"/>
              <a:ext cx="95250" cy="95250"/>
            </a:xfrm>
            <a:prstGeom prst="ellipse">
              <a:avLst/>
            </a:prstGeom>
            <a:solidFill>
              <a:srgbClr val="ECB4A9"/>
            </a:solidFill>
            <a:ln>
              <a:noFill/>
            </a:ln>
          </p:spPr>
        </p:sp>
        <p:sp>
          <p:nvSpPr>
            <p:cNvPr id="144" name="Ellipse 144"/>
            <p:cNvSpPr/>
            <p:nvPr/>
          </p:nvSpPr>
          <p:spPr>
            <a:xfrm>
              <a:off x="5105400" y="1009650"/>
              <a:ext cx="76200" cy="76200"/>
            </a:xfrm>
            <a:prstGeom prst="ellipse">
              <a:avLst/>
            </a:prstGeom>
            <a:solidFill>
              <a:srgbClr val="F2CCC4"/>
            </a:solidFill>
            <a:ln>
              <a:noFill/>
            </a:ln>
          </p:spPr>
        </p:sp>
        <p:sp>
          <p:nvSpPr>
            <p:cNvPr id="145" name="Ellipse 145"/>
            <p:cNvSpPr/>
            <p:nvPr/>
          </p:nvSpPr>
          <p:spPr>
            <a:xfrm>
              <a:off x="5848350" y="1066800"/>
              <a:ext cx="114300" cy="114300"/>
            </a:xfrm>
            <a:prstGeom prst="ellipse">
              <a:avLst/>
            </a:prstGeom>
            <a:solidFill>
              <a:srgbClr val="E5907F"/>
            </a:solidFill>
            <a:ln>
              <a:noFill/>
            </a:ln>
          </p:spPr>
        </p:sp>
        <p:sp>
          <p:nvSpPr>
            <p:cNvPr id="146" name="Ellipse 146"/>
            <p:cNvSpPr/>
            <p:nvPr/>
          </p:nvSpPr>
          <p:spPr>
            <a:xfrm>
              <a:off x="6629400" y="952500"/>
              <a:ext cx="76200" cy="76200"/>
            </a:xfrm>
            <a:prstGeom prst="ellipse">
              <a:avLst/>
            </a:prstGeom>
            <a:solidFill>
              <a:srgbClr val="F2CCC4"/>
            </a:solidFill>
            <a:ln>
              <a:noFill/>
            </a:ln>
          </p:spPr>
        </p:sp>
        <p:sp>
          <p:nvSpPr>
            <p:cNvPr id="147" name="Ellipse 147"/>
            <p:cNvSpPr/>
            <p:nvPr/>
          </p:nvSpPr>
          <p:spPr>
            <a:xfrm>
              <a:off x="7477125" y="1152525"/>
              <a:ext cx="95250" cy="95250"/>
            </a:xfrm>
            <a:prstGeom prst="ellipse">
              <a:avLst/>
            </a:prstGeom>
            <a:solidFill>
              <a:srgbClr val="ECB4A9"/>
            </a:solidFill>
            <a:ln>
              <a:noFill/>
            </a:ln>
          </p:spPr>
        </p:sp>
        <p:sp>
          <p:nvSpPr>
            <p:cNvPr id="148" name="Ellipse 148"/>
            <p:cNvSpPr/>
            <p:nvPr/>
          </p:nvSpPr>
          <p:spPr>
            <a:xfrm>
              <a:off x="7962900" y="1638300"/>
              <a:ext cx="76200" cy="76200"/>
            </a:xfrm>
            <a:prstGeom prst="ellipse">
              <a:avLst/>
            </a:prstGeom>
            <a:solidFill>
              <a:srgbClr val="F2CCC4"/>
            </a:solidFill>
            <a:ln>
              <a:noFill/>
            </a:ln>
          </p:spPr>
        </p:sp>
        <p:sp>
          <p:nvSpPr>
            <p:cNvPr id="149" name="Ellipse 149"/>
            <p:cNvSpPr/>
            <p:nvPr/>
          </p:nvSpPr>
          <p:spPr>
            <a:xfrm>
              <a:off x="3962400" y="1866900"/>
              <a:ext cx="76200" cy="76200"/>
            </a:xfrm>
            <a:prstGeom prst="ellipse">
              <a:avLst/>
            </a:prstGeom>
            <a:solidFill>
              <a:srgbClr val="F2CCC4"/>
            </a:solidFill>
            <a:ln>
              <a:noFill/>
            </a:ln>
          </p:spPr>
        </p:sp>
        <p:sp>
          <p:nvSpPr>
            <p:cNvPr id="150" name="Ellipse 150"/>
            <p:cNvSpPr/>
            <p:nvPr/>
          </p:nvSpPr>
          <p:spPr>
            <a:xfrm>
              <a:off x="4229100" y="2800350"/>
              <a:ext cx="114300" cy="114300"/>
            </a:xfrm>
            <a:prstGeom prst="ellipse">
              <a:avLst/>
            </a:prstGeom>
            <a:solidFill>
              <a:srgbClr val="E5907F"/>
            </a:solidFill>
            <a:ln>
              <a:noFill/>
            </a:ln>
          </p:spPr>
        </p:sp>
        <p:sp>
          <p:nvSpPr>
            <p:cNvPr id="151" name="Ellipse 151"/>
            <p:cNvSpPr/>
            <p:nvPr/>
          </p:nvSpPr>
          <p:spPr>
            <a:xfrm>
              <a:off x="4905375" y="3381375"/>
              <a:ext cx="95250" cy="95250"/>
            </a:xfrm>
            <a:prstGeom prst="ellipse">
              <a:avLst/>
            </a:prstGeom>
            <a:solidFill>
              <a:srgbClr val="ECB4A9"/>
            </a:solidFill>
            <a:ln>
              <a:noFill/>
            </a:ln>
          </p:spPr>
        </p:sp>
        <p:sp>
          <p:nvSpPr>
            <p:cNvPr id="152" name="Ellipse 152"/>
            <p:cNvSpPr/>
            <p:nvPr/>
          </p:nvSpPr>
          <p:spPr>
            <a:xfrm>
              <a:off x="5867400" y="3695700"/>
              <a:ext cx="76200" cy="76200"/>
            </a:xfrm>
            <a:prstGeom prst="ellipse">
              <a:avLst/>
            </a:prstGeom>
            <a:solidFill>
              <a:srgbClr val="F2CCC4"/>
            </a:solidFill>
            <a:ln>
              <a:noFill/>
            </a:ln>
          </p:spPr>
        </p:sp>
        <p:sp>
          <p:nvSpPr>
            <p:cNvPr id="153" name="Ellipse 153"/>
            <p:cNvSpPr/>
            <p:nvPr/>
          </p:nvSpPr>
          <p:spPr>
            <a:xfrm>
              <a:off x="6800850" y="3562350"/>
              <a:ext cx="114300" cy="114300"/>
            </a:xfrm>
            <a:prstGeom prst="ellipse">
              <a:avLst/>
            </a:prstGeom>
            <a:solidFill>
              <a:srgbClr val="E5907F"/>
            </a:solidFill>
            <a:ln>
              <a:noFill/>
            </a:ln>
          </p:spPr>
        </p:sp>
        <p:sp>
          <p:nvSpPr>
            <p:cNvPr id="154" name="Ellipse 154"/>
            <p:cNvSpPr/>
            <p:nvPr/>
          </p:nvSpPr>
          <p:spPr>
            <a:xfrm>
              <a:off x="7762875" y="3095625"/>
              <a:ext cx="95250" cy="95250"/>
            </a:xfrm>
            <a:prstGeom prst="ellipse">
              <a:avLst/>
            </a:prstGeom>
            <a:solidFill>
              <a:srgbClr val="ECB4A9"/>
            </a:solidFill>
            <a:ln>
              <a:noFill/>
            </a:ln>
          </p:spPr>
        </p:sp>
        <p:sp>
          <p:nvSpPr>
            <p:cNvPr id="155" name="Ellipse 155"/>
            <p:cNvSpPr/>
            <p:nvPr/>
          </p:nvSpPr>
          <p:spPr>
            <a:xfrm>
              <a:off x="8153400" y="2343150"/>
              <a:ext cx="76200" cy="76200"/>
            </a:xfrm>
            <a:prstGeom prst="ellipse">
              <a:avLst/>
            </a:prstGeom>
            <a:solidFill>
              <a:srgbClr val="F2CCC4"/>
            </a:solidFill>
            <a:ln>
              <a:noFill/>
            </a:ln>
          </p:spPr>
        </p:sp>
        <p:sp>
          <p:nvSpPr>
            <p:cNvPr id="156" name="Ellipse 156"/>
            <p:cNvSpPr/>
            <p:nvPr/>
          </p:nvSpPr>
          <p:spPr>
            <a:xfrm>
              <a:off x="3762375" y="2333625"/>
              <a:ext cx="95250" cy="95250"/>
            </a:xfrm>
            <a:prstGeom prst="ellipse">
              <a:avLst/>
            </a:prstGeom>
            <a:solidFill>
              <a:srgbClr val="ECB4A9"/>
            </a:solidFill>
            <a:ln>
              <a:noFill/>
            </a:ln>
          </p:spPr>
        </p:sp>
        <p:sp>
          <p:nvSpPr>
            <p:cNvPr id="157" name="Line 157"/>
            <p:cNvSpPr/>
            <p:nvPr/>
          </p:nvSpPr>
          <p:spPr>
            <a:xfrm>
              <a:off x="4476750" y="1238250"/>
              <a:ext cx="1619250" cy="1152525"/>
            </a:xfrm>
            <a:custGeom>
              <a:avLst/>
              <a:gdLst/>
              <a:ahLst/>
              <a:cxnLst/>
              <a:rect l="l" t="t" r="r" b="b"/>
              <a:pathLst>
                <a:path w="1619250" h="1152525">
                  <a:moveTo>
                    <a:pt x="0" y="0"/>
                  </a:moveTo>
                  <a:lnTo>
                    <a:pt x="1619250" y="1152525"/>
                  </a:lnTo>
                </a:path>
              </a:pathLst>
            </a:custGeom>
            <a:noFill/>
            <a:ln w="9525">
              <a:solidFill>
                <a:srgbClr val="D9E4F2"/>
              </a:solidFill>
            </a:ln>
          </p:spPr>
        </p:sp>
        <p:sp>
          <p:nvSpPr>
            <p:cNvPr id="158" name="Line 158"/>
            <p:cNvSpPr/>
            <p:nvPr/>
          </p:nvSpPr>
          <p:spPr>
            <a:xfrm>
              <a:off x="5905500" y="1123950"/>
              <a:ext cx="190500" cy="1266825"/>
            </a:xfrm>
            <a:custGeom>
              <a:avLst/>
              <a:gdLst/>
              <a:ahLst/>
              <a:cxnLst/>
              <a:rect l="l" t="t" r="r" b="b"/>
              <a:pathLst>
                <a:path w="190500" h="1266825">
                  <a:moveTo>
                    <a:pt x="0" y="0"/>
                  </a:moveTo>
                  <a:lnTo>
                    <a:pt x="190500" y="1266825"/>
                  </a:lnTo>
                </a:path>
              </a:pathLst>
            </a:custGeom>
            <a:noFill/>
            <a:ln w="9525">
              <a:solidFill>
                <a:srgbClr val="D9E4F2"/>
              </a:solidFill>
            </a:ln>
          </p:spPr>
        </p:sp>
        <p:sp>
          <p:nvSpPr>
            <p:cNvPr id="159" name="Line 159"/>
            <p:cNvSpPr/>
            <p:nvPr/>
          </p:nvSpPr>
          <p:spPr>
            <a:xfrm>
              <a:off x="6096000" y="1200150"/>
              <a:ext cx="1428750" cy="1190625"/>
            </a:xfrm>
            <a:custGeom>
              <a:avLst/>
              <a:gdLst/>
              <a:ahLst/>
              <a:cxnLst/>
              <a:rect l="l" t="t" r="r" b="b"/>
              <a:pathLst>
                <a:path w="1428750" h="1190625">
                  <a:moveTo>
                    <a:pt x="1428750" y="0"/>
                  </a:moveTo>
                  <a:lnTo>
                    <a:pt x="0" y="1190625"/>
                  </a:lnTo>
                </a:path>
              </a:pathLst>
            </a:custGeom>
            <a:noFill/>
            <a:ln w="9525">
              <a:solidFill>
                <a:srgbClr val="D9E4F2"/>
              </a:solidFill>
            </a:ln>
          </p:spPr>
        </p:sp>
        <p:sp>
          <p:nvSpPr>
            <p:cNvPr id="160" name="Line 160"/>
            <p:cNvSpPr/>
            <p:nvPr/>
          </p:nvSpPr>
          <p:spPr>
            <a:xfrm>
              <a:off x="4286250" y="2390775"/>
              <a:ext cx="1809750" cy="466725"/>
            </a:xfrm>
            <a:custGeom>
              <a:avLst/>
              <a:gdLst/>
              <a:ahLst/>
              <a:cxnLst/>
              <a:rect l="l" t="t" r="r" b="b"/>
              <a:pathLst>
                <a:path w="1809750" h="466725">
                  <a:moveTo>
                    <a:pt x="0" y="466725"/>
                  </a:moveTo>
                  <a:lnTo>
                    <a:pt x="1809750" y="0"/>
                  </a:lnTo>
                </a:path>
              </a:pathLst>
            </a:custGeom>
            <a:noFill/>
            <a:ln w="9525">
              <a:solidFill>
                <a:srgbClr val="D9E4F2"/>
              </a:solidFill>
            </a:ln>
          </p:spPr>
        </p:sp>
        <p:sp>
          <p:nvSpPr>
            <p:cNvPr id="161" name="Line 161"/>
            <p:cNvSpPr/>
            <p:nvPr/>
          </p:nvSpPr>
          <p:spPr>
            <a:xfrm>
              <a:off x="6096000" y="2390775"/>
              <a:ext cx="762000" cy="1228725"/>
            </a:xfrm>
            <a:custGeom>
              <a:avLst/>
              <a:gdLst/>
              <a:ahLst/>
              <a:cxnLst/>
              <a:rect l="l" t="t" r="r" b="b"/>
              <a:pathLst>
                <a:path w="762000" h="1228725">
                  <a:moveTo>
                    <a:pt x="762000" y="1228725"/>
                  </a:moveTo>
                  <a:lnTo>
                    <a:pt x="0" y="0"/>
                  </a:lnTo>
                </a:path>
              </a:pathLst>
            </a:custGeom>
            <a:noFill/>
            <a:ln w="9525">
              <a:solidFill>
                <a:srgbClr val="D9E4F2"/>
              </a:solidFill>
            </a:ln>
          </p:spPr>
        </p:sp>
        <p:sp>
          <p:nvSpPr>
            <p:cNvPr id="162" name="Line 162"/>
            <p:cNvSpPr/>
            <p:nvPr/>
          </p:nvSpPr>
          <p:spPr>
            <a:xfrm>
              <a:off x="6096000" y="2390775"/>
              <a:ext cx="1714500" cy="752475"/>
            </a:xfrm>
            <a:custGeom>
              <a:avLst/>
              <a:gdLst/>
              <a:ahLst/>
              <a:cxnLst/>
              <a:rect l="l" t="t" r="r" b="b"/>
              <a:pathLst>
                <a:path w="1714500" h="752475">
                  <a:moveTo>
                    <a:pt x="1714500" y="752475"/>
                  </a:moveTo>
                  <a:lnTo>
                    <a:pt x="0" y="0"/>
                  </a:lnTo>
                </a:path>
              </a:pathLst>
            </a:custGeom>
            <a:noFill/>
            <a:ln w="9525">
              <a:solidFill>
                <a:srgbClr val="D9E4F2"/>
              </a:solidFill>
            </a:ln>
          </p:spPr>
        </p:sp>
        <p:sp>
          <p:nvSpPr>
            <p:cNvPr id="163" name="Line 163"/>
            <p:cNvSpPr/>
            <p:nvPr/>
          </p:nvSpPr>
          <p:spPr>
            <a:xfrm>
              <a:off x="3810000" y="2381250"/>
              <a:ext cx="2286000" cy="9525"/>
            </a:xfrm>
            <a:custGeom>
              <a:avLst/>
              <a:gdLst/>
              <a:ahLst/>
              <a:cxnLst/>
              <a:rect l="l" t="t" r="r" b="b"/>
              <a:pathLst>
                <a:path w="2286000" h="9525">
                  <a:moveTo>
                    <a:pt x="0" y="0"/>
                  </a:moveTo>
                  <a:lnTo>
                    <a:pt x="2286000" y="9525"/>
                  </a:lnTo>
                </a:path>
              </a:pathLst>
            </a:custGeom>
            <a:noFill/>
            <a:ln w="9525">
              <a:solidFill>
                <a:srgbClr val="D9E4F2"/>
              </a:solidFill>
            </a:ln>
          </p:spPr>
        </p:sp>
        <p:sp>
          <p:nvSpPr>
            <p:cNvPr id="164" name="Line 164"/>
            <p:cNvSpPr/>
            <p:nvPr/>
          </p:nvSpPr>
          <p:spPr>
            <a:xfrm>
              <a:off x="6096000" y="2381250"/>
              <a:ext cx="2095500" cy="9525"/>
            </a:xfrm>
            <a:custGeom>
              <a:avLst/>
              <a:gdLst/>
              <a:ahLst/>
              <a:cxnLst/>
              <a:rect l="l" t="t" r="r" b="b"/>
              <a:pathLst>
                <a:path w="2095500" h="9525">
                  <a:moveTo>
                    <a:pt x="2095500" y="0"/>
                  </a:moveTo>
                  <a:lnTo>
                    <a:pt x="0" y="9525"/>
                  </a:lnTo>
                </a:path>
              </a:pathLst>
            </a:custGeom>
            <a:noFill/>
            <a:ln w="9525">
              <a:solidFill>
                <a:srgbClr val="D9E4F2"/>
              </a:solidFill>
            </a:ln>
          </p:spPr>
        </p:sp>
        <p:sp>
          <p:nvSpPr>
            <p:cNvPr id="165" name="Line 165"/>
            <p:cNvSpPr/>
            <p:nvPr/>
          </p:nvSpPr>
          <p:spPr>
            <a:xfrm>
              <a:off x="4953000" y="2390775"/>
              <a:ext cx="1143000" cy="1038225"/>
            </a:xfrm>
            <a:custGeom>
              <a:avLst/>
              <a:gdLst/>
              <a:ahLst/>
              <a:cxnLst/>
              <a:rect l="l" t="t" r="r" b="b"/>
              <a:pathLst>
                <a:path w="1143000" h="1038225">
                  <a:moveTo>
                    <a:pt x="0" y="1038225"/>
                  </a:moveTo>
                  <a:lnTo>
                    <a:pt x="1143000" y="0"/>
                  </a:lnTo>
                </a:path>
              </a:pathLst>
            </a:custGeom>
            <a:noFill/>
            <a:ln w="9525">
              <a:solidFill>
                <a:srgbClr val="D9E4F2"/>
              </a:solidFill>
            </a:ln>
          </p:spPr>
        </p:sp>
        <p:sp>
          <p:nvSpPr>
            <p:cNvPr id="166" name="Line 166"/>
            <p:cNvSpPr/>
            <p:nvPr/>
          </p:nvSpPr>
          <p:spPr>
            <a:xfrm>
              <a:off x="4476750" y="1047750"/>
              <a:ext cx="666750" cy="190500"/>
            </a:xfrm>
            <a:custGeom>
              <a:avLst/>
              <a:gdLst/>
              <a:ahLst/>
              <a:cxnLst/>
              <a:rect l="l" t="t" r="r" b="b"/>
              <a:pathLst>
                <a:path w="666750" h="190500">
                  <a:moveTo>
                    <a:pt x="666750" y="0"/>
                  </a:moveTo>
                  <a:lnTo>
                    <a:pt x="0" y="190500"/>
                  </a:lnTo>
                </a:path>
              </a:pathLst>
            </a:custGeom>
            <a:noFill/>
            <a:ln w="9525">
              <a:solidFill>
                <a:srgbClr val="D9E4F2"/>
              </a:solidFill>
            </a:ln>
          </p:spPr>
        </p:sp>
        <p:sp>
          <p:nvSpPr>
            <p:cNvPr id="167" name="Line 167"/>
            <p:cNvSpPr/>
            <p:nvPr/>
          </p:nvSpPr>
          <p:spPr>
            <a:xfrm>
              <a:off x="6667500" y="990600"/>
              <a:ext cx="857250" cy="209550"/>
            </a:xfrm>
            <a:custGeom>
              <a:avLst/>
              <a:gdLst/>
              <a:ahLst/>
              <a:cxnLst/>
              <a:rect l="l" t="t" r="r" b="b"/>
              <a:pathLst>
                <a:path w="857250" h="209550">
                  <a:moveTo>
                    <a:pt x="0" y="0"/>
                  </a:moveTo>
                  <a:lnTo>
                    <a:pt x="857250" y="209550"/>
                  </a:lnTo>
                </a:path>
              </a:pathLst>
            </a:custGeom>
            <a:noFill/>
            <a:ln w="9525">
              <a:solidFill>
                <a:srgbClr val="D9E4F2"/>
              </a:solidFill>
            </a:ln>
          </p:spPr>
        </p:sp>
        <p:sp>
          <p:nvSpPr>
            <p:cNvPr id="168" name="Line 168"/>
            <p:cNvSpPr/>
            <p:nvPr/>
          </p:nvSpPr>
          <p:spPr>
            <a:xfrm>
              <a:off x="7524750" y="1200150"/>
              <a:ext cx="476250" cy="476250"/>
            </a:xfrm>
            <a:custGeom>
              <a:avLst/>
              <a:gdLst/>
              <a:ahLst/>
              <a:cxnLst/>
              <a:rect l="l" t="t" r="r" b="b"/>
              <a:pathLst>
                <a:path w="476250" h="476250">
                  <a:moveTo>
                    <a:pt x="476250" y="476250"/>
                  </a:moveTo>
                  <a:lnTo>
                    <a:pt x="0" y="0"/>
                  </a:lnTo>
                </a:path>
              </a:pathLst>
            </a:custGeom>
            <a:noFill/>
            <a:ln w="9525">
              <a:solidFill>
                <a:srgbClr val="D9E4F2"/>
              </a:solidFill>
            </a:ln>
          </p:spPr>
        </p:sp>
        <p:sp>
          <p:nvSpPr>
            <p:cNvPr id="169" name="Line 169"/>
            <p:cNvSpPr/>
            <p:nvPr/>
          </p:nvSpPr>
          <p:spPr>
            <a:xfrm>
              <a:off x="3810000" y="1905000"/>
              <a:ext cx="190500" cy="476250"/>
            </a:xfrm>
            <a:custGeom>
              <a:avLst/>
              <a:gdLst/>
              <a:ahLst/>
              <a:cxnLst/>
              <a:rect l="l" t="t" r="r" b="b"/>
              <a:pathLst>
                <a:path w="190500" h="476250">
                  <a:moveTo>
                    <a:pt x="190500" y="0"/>
                  </a:moveTo>
                  <a:lnTo>
                    <a:pt x="0" y="476250"/>
                  </a:lnTo>
                </a:path>
              </a:pathLst>
            </a:custGeom>
            <a:noFill/>
            <a:ln w="9525">
              <a:solidFill>
                <a:srgbClr val="D9E4F2"/>
              </a:solidFill>
            </a:ln>
          </p:spPr>
        </p:sp>
        <p:sp>
          <p:nvSpPr>
            <p:cNvPr id="170" name="Line 170"/>
            <p:cNvSpPr/>
            <p:nvPr/>
          </p:nvSpPr>
          <p:spPr>
            <a:xfrm>
              <a:off x="5905500" y="3619500"/>
              <a:ext cx="952500" cy="114300"/>
            </a:xfrm>
            <a:custGeom>
              <a:avLst/>
              <a:gdLst/>
              <a:ahLst/>
              <a:cxnLst/>
              <a:rect l="l" t="t" r="r" b="b"/>
              <a:pathLst>
                <a:path w="952500" h="114300">
                  <a:moveTo>
                    <a:pt x="0" y="114300"/>
                  </a:moveTo>
                  <a:lnTo>
                    <a:pt x="952500" y="0"/>
                  </a:lnTo>
                </a:path>
              </a:pathLst>
            </a:custGeom>
            <a:noFill/>
            <a:ln w="9525">
              <a:solidFill>
                <a:srgbClr val="D9E4F2"/>
              </a:solidFill>
            </a:ln>
          </p:spPr>
        </p:sp>
        <p:sp>
          <p:nvSpPr>
            <p:cNvPr id="171" name="Ellipse 171"/>
            <p:cNvSpPr/>
            <p:nvPr/>
          </p:nvSpPr>
          <p:spPr>
            <a:xfrm>
              <a:off x="5238750" y="1533525"/>
              <a:ext cx="1714500" cy="1714500"/>
            </a:xfrm>
            <a:prstGeom prst="ellipse">
              <a:avLst/>
            </a:prstGeom>
            <a:solidFill>
              <a:srgbClr val="EAF2FC">
                <a:alpha val="60000"/>
              </a:srgbClr>
            </a:solidFill>
            <a:ln>
              <a:noFill/>
            </a:ln>
          </p:spPr>
        </p:sp>
        <p:sp>
          <p:nvSpPr>
            <p:cNvPr id="172" name="Ellipse 172"/>
            <p:cNvSpPr/>
            <p:nvPr/>
          </p:nvSpPr>
          <p:spPr>
            <a:xfrm>
              <a:off x="5467350" y="1762125"/>
              <a:ext cx="1257300" cy="1257300"/>
            </a:xfrm>
            <a:prstGeom prst="ellipse">
              <a:avLst/>
            </a:prstGeom>
            <a:solidFill>
              <a:srgbClr val="FFFFFF"/>
            </a:solidFill>
            <a:ln w="19050">
              <a:solidFill>
                <a:srgbClr val="A8351D"/>
              </a:solidFill>
            </a:ln>
          </p:spPr>
        </p:sp>
        <p:grpSp>
          <p:nvGrpSpPr>
            <p:cNvPr id="180" name="Group 180"/>
            <p:cNvGrpSpPr/>
            <p:nvPr/>
          </p:nvGrpSpPr>
          <p:grpSpPr>
            <a:xfrm>
              <a:off x="5967412" y="1985962"/>
              <a:ext cx="257175" cy="266701"/>
              <a:chOff x="5967412" y="1985962"/>
              <a:chExt cx="257175" cy="266701"/>
            </a:xfrm>
          </p:grpSpPr>
          <p:sp>
            <p:nvSpPr>
              <p:cNvPr id="173" name="Freeform 173"/>
              <p:cNvSpPr/>
              <p:nvPr/>
            </p:nvSpPr>
            <p:spPr>
              <a:xfrm>
                <a:off x="5967412" y="2243138"/>
                <a:ext cx="257175" cy="9525"/>
              </a:xfrm>
              <a:custGeom>
                <a:avLst/>
                <a:gdLst/>
                <a:ahLst/>
                <a:cxnLst/>
                <a:rect l="l" t="t" r="r" b="b"/>
                <a:pathLst>
                  <a:path w="257175" h="9525">
                    <a:moveTo>
                      <a:pt x="0" y="0"/>
                    </a:moveTo>
                    <a:lnTo>
                      <a:pt x="257175" y="0"/>
                    </a:lnTo>
                  </a:path>
                </a:pathLst>
              </a:custGeom>
              <a:noFill/>
              <a:ln w="28575">
                <a:solidFill>
                  <a:srgbClr val="A8351D"/>
                </a:solidFill>
              </a:ln>
            </p:spPr>
          </p:sp>
          <p:sp>
            <p:nvSpPr>
              <p:cNvPr id="174" name="Freeform 174"/>
              <p:cNvSpPr/>
              <p:nvPr/>
            </p:nvSpPr>
            <p:spPr>
              <a:xfrm>
                <a:off x="5995988" y="1985962"/>
                <a:ext cx="114300" cy="257175"/>
              </a:xfrm>
              <a:custGeom>
                <a:avLst/>
                <a:gdLst/>
                <a:ahLst/>
                <a:cxnLst/>
                <a:rect l="l" t="t" r="r" b="b"/>
                <a:pathLst>
                  <a:path w="114300" h="257175">
                    <a:moveTo>
                      <a:pt x="0" y="257175"/>
                    </a:moveTo>
                    <a:lnTo>
                      <a:pt x="0" y="57150"/>
                    </a:lnTo>
                    <a:lnTo>
                      <a:pt x="114300" y="0"/>
                    </a:lnTo>
                    <a:lnTo>
                      <a:pt x="114300" y="257175"/>
                    </a:lnTo>
                  </a:path>
                </a:pathLst>
              </a:custGeom>
              <a:noFill/>
              <a:ln w="28575">
                <a:solidFill>
                  <a:srgbClr val="A8351D"/>
                </a:solidFill>
              </a:ln>
            </p:spPr>
          </p:sp>
          <p:sp>
            <p:nvSpPr>
              <p:cNvPr id="175" name="Freeform 175"/>
              <p:cNvSpPr/>
              <p:nvPr/>
            </p:nvSpPr>
            <p:spPr>
              <a:xfrm>
                <a:off x="6110288" y="2043112"/>
                <a:ext cx="85725" cy="200025"/>
              </a:xfrm>
              <a:custGeom>
                <a:avLst/>
                <a:gdLst/>
                <a:ahLst/>
                <a:cxnLst/>
                <a:rect l="l" t="t" r="r" b="b"/>
                <a:pathLst>
                  <a:path w="85725" h="200025">
                    <a:moveTo>
                      <a:pt x="85725" y="200025"/>
                    </a:moveTo>
                    <a:lnTo>
                      <a:pt x="85725" y="57150"/>
                    </a:lnTo>
                    <a:lnTo>
                      <a:pt x="0" y="0"/>
                    </a:lnTo>
                  </a:path>
                </a:pathLst>
              </a:custGeom>
              <a:noFill/>
              <a:ln w="28575">
                <a:solidFill>
                  <a:srgbClr val="A8351D"/>
                </a:solidFill>
              </a:ln>
            </p:spPr>
          </p:sp>
          <p:sp>
            <p:nvSpPr>
              <p:cNvPr id="176" name="Freeform 176"/>
              <p:cNvSpPr/>
              <p:nvPr/>
            </p:nvSpPr>
            <p:spPr>
              <a:xfrm>
                <a:off x="6053138" y="2071688"/>
                <a:ext cx="9525" cy="9525"/>
              </a:xfrm>
              <a:custGeom>
                <a:avLst/>
                <a:gdLst/>
                <a:ahLst/>
                <a:cxnLst/>
                <a:rect l="l" t="t" r="r" b="b"/>
                <a:pathLst>
                  <a:path w="9525" h="9525">
                    <a:moveTo>
                      <a:pt x="0" y="0"/>
                    </a:moveTo>
                    <a:lnTo>
                      <a:pt x="0" y="143"/>
                    </a:lnTo>
                  </a:path>
                </a:pathLst>
              </a:custGeom>
              <a:noFill/>
              <a:ln w="28575">
                <a:solidFill>
                  <a:srgbClr val="A8351D"/>
                </a:solidFill>
              </a:ln>
            </p:spPr>
          </p:sp>
          <p:sp>
            <p:nvSpPr>
              <p:cNvPr id="177" name="Freeform 177"/>
              <p:cNvSpPr/>
              <p:nvPr/>
            </p:nvSpPr>
            <p:spPr>
              <a:xfrm>
                <a:off x="6053138" y="2114550"/>
                <a:ext cx="9525" cy="9525"/>
              </a:xfrm>
              <a:custGeom>
                <a:avLst/>
                <a:gdLst/>
                <a:ahLst/>
                <a:cxnLst/>
                <a:rect l="l" t="t" r="r" b="b"/>
                <a:pathLst>
                  <a:path w="9525" h="9525">
                    <a:moveTo>
                      <a:pt x="0" y="0"/>
                    </a:moveTo>
                    <a:lnTo>
                      <a:pt x="0" y="143"/>
                    </a:lnTo>
                  </a:path>
                </a:pathLst>
              </a:custGeom>
              <a:noFill/>
              <a:ln w="28575">
                <a:solidFill>
                  <a:srgbClr val="A8351D"/>
                </a:solidFill>
              </a:ln>
            </p:spPr>
          </p:sp>
          <p:sp>
            <p:nvSpPr>
              <p:cNvPr id="178" name="Freeform 178"/>
              <p:cNvSpPr/>
              <p:nvPr/>
            </p:nvSpPr>
            <p:spPr>
              <a:xfrm>
                <a:off x="6053138" y="2157412"/>
                <a:ext cx="9525" cy="9525"/>
              </a:xfrm>
              <a:custGeom>
                <a:avLst/>
                <a:gdLst/>
                <a:ahLst/>
                <a:cxnLst/>
                <a:rect l="l" t="t" r="r" b="b"/>
                <a:pathLst>
                  <a:path w="9525" h="9525">
                    <a:moveTo>
                      <a:pt x="0" y="0"/>
                    </a:moveTo>
                    <a:lnTo>
                      <a:pt x="0" y="143"/>
                    </a:lnTo>
                  </a:path>
                </a:pathLst>
              </a:custGeom>
              <a:noFill/>
              <a:ln w="28575">
                <a:solidFill>
                  <a:srgbClr val="A8351D"/>
                </a:solidFill>
              </a:ln>
            </p:spPr>
          </p:sp>
          <p:sp>
            <p:nvSpPr>
              <p:cNvPr id="179" name="Freeform 179"/>
              <p:cNvSpPr/>
              <p:nvPr/>
            </p:nvSpPr>
            <p:spPr>
              <a:xfrm>
                <a:off x="6053138" y="2200275"/>
                <a:ext cx="9525" cy="9525"/>
              </a:xfrm>
              <a:custGeom>
                <a:avLst/>
                <a:gdLst/>
                <a:ahLst/>
                <a:cxnLst/>
                <a:rect l="l" t="t" r="r" b="b"/>
                <a:pathLst>
                  <a:path w="9525" h="9525">
                    <a:moveTo>
                      <a:pt x="0" y="0"/>
                    </a:moveTo>
                    <a:lnTo>
                      <a:pt x="0" y="143"/>
                    </a:lnTo>
                  </a:path>
                </a:pathLst>
              </a:custGeom>
              <a:noFill/>
              <a:ln w="28575">
                <a:solidFill>
                  <a:srgbClr val="A8351D"/>
                </a:solidFill>
              </a:ln>
            </p:spPr>
          </p:sp>
        </p:grpSp>
        <p:sp>
          <p:nvSpPr>
            <p:cNvPr id="181" name="TextBox 181"/>
            <p:cNvSpPr txBox="1"/>
            <p:nvPr/>
          </p:nvSpPr>
          <p:spPr>
            <a:xfrm>
              <a:off x="5628145" y="2402443"/>
              <a:ext cx="935711"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全国分支机构网络</a:t>
              </a:r>
            </a:p>
          </p:txBody>
        </p:sp>
        <p:sp>
          <p:nvSpPr>
            <p:cNvPr id="182" name="TextBox 182"/>
            <p:cNvSpPr txBox="1"/>
            <p:nvPr/>
          </p:nvSpPr>
          <p:spPr>
            <a:xfrm>
              <a:off x="5609910" y="2573893"/>
              <a:ext cx="972179" cy="169069"/>
            </a:xfrm>
            <a:prstGeom prst="rect">
              <a:avLst/>
            </a:prstGeom>
            <a:noFill/>
            <a:ln>
              <a:noFill/>
            </a:ln>
          </p:spPr>
          <p:txBody>
            <a:bodyPr wrap="none" lIns="0" tIns="0" rIns="0" bIns="0" anchor="t" anchorCtr="0">
              <a:spAutoFit/>
            </a:bodyPr>
            <a:lstStyle/>
            <a:p>
              <a:pPr algn="ctr"/>
              <a:r>
                <a:rPr lang="zh-CN" sz="860" b="1" dirty="0">
                  <a:solidFill>
                    <a:srgbClr val="C9462F"/>
                  </a:solidFill>
                  <a:latin typeface="+mn-lt"/>
                  <a:ea typeface="+mn-ea"/>
                  <a:cs typeface="+mn-cs"/>
                </a:rPr>
                <a:t>协同作战 规模复制</a:t>
              </a:r>
            </a:p>
          </p:txBody>
        </p:sp>
      </p:grpSp>
      <p:grpSp>
        <p:nvGrpSpPr>
          <p:cNvPr id="319" name="cards-right"/>
          <p:cNvGrpSpPr/>
          <p:nvPr/>
        </p:nvGrpSpPr>
        <p:grpSpPr>
          <a:xfrm>
            <a:off x="8953500" y="742950"/>
            <a:ext cx="2857500" cy="3314700"/>
            <a:chOff x="8953500" y="742950"/>
            <a:chExt cx="2857500" cy="3314700"/>
          </a:xfrm>
        </p:grpSpPr>
        <p:sp>
          <p:nvSpPr>
            <p:cNvPr id="184" name="Rectangle 184"/>
            <p:cNvSpPr/>
            <p:nvPr/>
          </p:nvSpPr>
          <p:spPr>
            <a:xfrm>
              <a:off x="8953500" y="742950"/>
              <a:ext cx="2857500" cy="1047750"/>
            </a:xfrm>
            <a:prstGeom prst="roundRect">
              <a:avLst>
                <a:gd name="adj" fmla="val 7273"/>
              </a:avLst>
            </a:prstGeom>
            <a:solidFill>
              <a:srgbClr val="FFFFFF"/>
            </a:solidFill>
            <a:ln w="9525">
              <a:solidFill>
                <a:srgbClr val="C9D8EF"/>
              </a:solidFill>
            </a:ln>
          </p:spPr>
        </p:sp>
        <p:sp>
          <p:nvSpPr>
            <p:cNvPr id="185" name="Rectangle 185"/>
            <p:cNvSpPr/>
            <p:nvPr/>
          </p:nvSpPr>
          <p:spPr>
            <a:xfrm>
              <a:off x="8953500" y="742950"/>
              <a:ext cx="2857500" cy="285750"/>
            </a:xfrm>
            <a:prstGeom prst="roundRect">
              <a:avLst>
                <a:gd name="adj" fmla="val 26667"/>
              </a:avLst>
            </a:prstGeom>
            <a:solidFill>
              <a:srgbClr val="EAF2FC"/>
            </a:solidFill>
            <a:ln>
              <a:noFill/>
            </a:ln>
          </p:spPr>
        </p:sp>
        <p:sp>
          <p:nvSpPr>
            <p:cNvPr id="186" name="TextBox 186"/>
            <p:cNvSpPr txBox="1"/>
            <p:nvPr/>
          </p:nvSpPr>
          <p:spPr>
            <a:xfrm>
              <a:off x="9060942" y="806768"/>
              <a:ext cx="433528" cy="264033"/>
            </a:xfrm>
            <a:prstGeom prst="rect">
              <a:avLst/>
            </a:prstGeom>
            <a:noFill/>
            <a:ln>
              <a:noFill/>
            </a:ln>
          </p:spPr>
          <p:txBody>
            <a:bodyPr wrap="none" lIns="0" tIns="0" rIns="0" bIns="0" anchor="t" anchorCtr="0">
              <a:spAutoFit/>
            </a:bodyPr>
            <a:lstStyle/>
            <a:p>
              <a:pPr algn="l"/>
              <a:r>
                <a:rPr lang="zh-CN" sz="1350" b="1" dirty="0">
                  <a:solidFill>
                    <a:srgbClr val="C9462F"/>
                  </a:solidFill>
                  <a:latin typeface="+mn-lt"/>
                  <a:ea typeface="+mn-ea"/>
                  <a:cs typeface="+mn-cs"/>
                </a:rPr>
                <a:t>04​​</a:t>
              </a:r>
            </a:p>
          </p:txBody>
        </p:sp>
        <p:sp>
          <p:nvSpPr>
            <p:cNvPr id="187" name="TextBox 187"/>
            <p:cNvSpPr txBox="1"/>
            <p:nvPr/>
          </p:nvSpPr>
          <p:spPr>
            <a:xfrm>
              <a:off x="9386316" y="829628"/>
              <a:ext cx="858774" cy="205359"/>
            </a:xfrm>
            <a:prstGeom prst="rect">
              <a:avLst/>
            </a:prstGeom>
            <a:noFill/>
            <a:ln>
              <a:noFill/>
            </a:ln>
          </p:spPr>
          <p:txBody>
            <a:bodyPr wrap="none" lIns="0" tIns="0" rIns="0" bIns="0" anchor="t" anchorCtr="0">
              <a:spAutoFit/>
            </a:bodyPr>
            <a:lstStyle/>
            <a:p>
              <a:pPr algn="l"/>
              <a:r>
                <a:rPr lang="zh-CN" sz="1050" b="1" dirty="0">
                  <a:solidFill>
                    <a:srgbClr val="67281B"/>
                  </a:solidFill>
                  <a:latin typeface="+mn-lt"/>
                  <a:ea typeface="+mn-ea"/>
                  <a:cs typeface="+mn-cs"/>
                </a:rPr>
                <a:t>园区批量获客</a:t>
              </a:r>
            </a:p>
          </p:txBody>
        </p:sp>
        <p:grpSp>
          <p:nvGrpSpPr>
            <p:cNvPr id="192" name="Group 192"/>
            <p:cNvGrpSpPr/>
            <p:nvPr/>
          </p:nvGrpSpPr>
          <p:grpSpPr>
            <a:xfrm>
              <a:off x="9063038" y="1100138"/>
              <a:ext cx="85725" cy="85725"/>
              <a:chOff x="9063038" y="1100138"/>
              <a:chExt cx="85725" cy="85725"/>
            </a:xfrm>
          </p:grpSpPr>
          <p:sp>
            <p:nvSpPr>
              <p:cNvPr id="188" name="Freeform 188"/>
              <p:cNvSpPr/>
              <p:nvPr/>
            </p:nvSpPr>
            <p:spPr>
              <a:xfrm>
                <a:off x="9072562" y="11001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5907F"/>
                </a:solidFill>
              </a:ln>
            </p:spPr>
          </p:sp>
          <p:sp>
            <p:nvSpPr>
              <p:cNvPr id="189" name="Freeform 189"/>
              <p:cNvSpPr/>
              <p:nvPr/>
            </p:nvSpPr>
            <p:spPr>
              <a:xfrm>
                <a:off x="9063038" y="115728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E5907F"/>
                </a:solidFill>
              </a:ln>
            </p:spPr>
          </p:sp>
          <p:sp>
            <p:nvSpPr>
              <p:cNvPr id="190" name="Freeform 190"/>
              <p:cNvSpPr/>
              <p:nvPr/>
            </p:nvSpPr>
            <p:spPr>
              <a:xfrm>
                <a:off x="9124950" y="110075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E5907F"/>
                </a:solidFill>
              </a:ln>
            </p:spPr>
          </p:sp>
          <p:sp>
            <p:nvSpPr>
              <p:cNvPr id="191" name="Freeform 191"/>
              <p:cNvSpPr/>
              <p:nvPr/>
            </p:nvSpPr>
            <p:spPr>
              <a:xfrm>
                <a:off x="9134475" y="1158002"/>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E5907F"/>
                </a:solidFill>
              </a:ln>
            </p:spPr>
          </p:sp>
        </p:grpSp>
        <p:sp>
          <p:nvSpPr>
            <p:cNvPr id="193" name="TextBox 193"/>
            <p:cNvSpPr txBox="1"/>
            <p:nvPr/>
          </p:nvSpPr>
          <p:spPr>
            <a:xfrm>
              <a:off x="9215438" y="1090612"/>
              <a:ext cx="312420"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客户池</a:t>
              </a:r>
            </a:p>
          </p:txBody>
        </p:sp>
        <p:sp>
          <p:nvSpPr>
            <p:cNvPr id="194" name="TextBox 194"/>
            <p:cNvSpPr txBox="1"/>
            <p:nvPr/>
          </p:nvSpPr>
          <p:spPr>
            <a:xfrm>
              <a:off x="10053638" y="1090612"/>
              <a:ext cx="80210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客户池2,000户​​</a:t>
              </a:r>
            </a:p>
          </p:txBody>
        </p:sp>
        <p:grpSp>
          <p:nvGrpSpPr>
            <p:cNvPr id="203" name="Group 203"/>
            <p:cNvGrpSpPr/>
            <p:nvPr/>
          </p:nvGrpSpPr>
          <p:grpSpPr>
            <a:xfrm>
              <a:off x="9063038" y="1243012"/>
              <a:ext cx="90487" cy="95251"/>
              <a:chOff x="9063038" y="1243012"/>
              <a:chExt cx="90487" cy="95251"/>
            </a:xfrm>
          </p:grpSpPr>
          <p:sp>
            <p:nvSpPr>
              <p:cNvPr id="195" name="Freeform 195"/>
              <p:cNvSpPr/>
              <p:nvPr/>
            </p:nvSpPr>
            <p:spPr>
              <a:xfrm>
                <a:off x="9063038" y="1328738"/>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196" name="Freeform 196"/>
              <p:cNvSpPr/>
              <p:nvPr/>
            </p:nvSpPr>
            <p:spPr>
              <a:xfrm>
                <a:off x="9063038" y="1276350"/>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197" name="Freeform 197"/>
              <p:cNvSpPr/>
              <p:nvPr/>
            </p:nvSpPr>
            <p:spPr>
              <a:xfrm>
                <a:off x="9072562" y="1243012"/>
                <a:ext cx="66675" cy="14288"/>
              </a:xfrm>
              <a:custGeom>
                <a:avLst/>
                <a:gdLst/>
                <a:ahLst/>
                <a:cxnLst/>
                <a:rect l="l" t="t" r="r" b="b"/>
                <a:pathLst>
                  <a:path w="66675" h="14288">
                    <a:moveTo>
                      <a:pt x="0" y="14288"/>
                    </a:moveTo>
                    <a:lnTo>
                      <a:pt x="33338" y="0"/>
                    </a:lnTo>
                    <a:lnTo>
                      <a:pt x="66675" y="14288"/>
                    </a:lnTo>
                  </a:path>
                </a:pathLst>
              </a:custGeom>
              <a:noFill/>
              <a:ln w="9525">
                <a:solidFill>
                  <a:srgbClr val="E5907F"/>
                </a:solidFill>
              </a:ln>
            </p:spPr>
          </p:sp>
          <p:sp>
            <p:nvSpPr>
              <p:cNvPr id="198" name="Freeform 198"/>
              <p:cNvSpPr/>
              <p:nvPr/>
            </p:nvSpPr>
            <p:spPr>
              <a:xfrm>
                <a:off x="9067800" y="127635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199" name="Freeform 199"/>
              <p:cNvSpPr/>
              <p:nvPr/>
            </p:nvSpPr>
            <p:spPr>
              <a:xfrm>
                <a:off x="9144000" y="127635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200" name="Freeform 200"/>
              <p:cNvSpPr/>
              <p:nvPr/>
            </p:nvSpPr>
            <p:spPr>
              <a:xfrm>
                <a:off x="9086850" y="129540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201" name="Freeform 201"/>
              <p:cNvSpPr/>
              <p:nvPr/>
            </p:nvSpPr>
            <p:spPr>
              <a:xfrm>
                <a:off x="9105900" y="129540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202" name="Freeform 202"/>
              <p:cNvSpPr/>
              <p:nvPr/>
            </p:nvSpPr>
            <p:spPr>
              <a:xfrm>
                <a:off x="9124950" y="1295400"/>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204" name="TextBox 204"/>
            <p:cNvSpPr txBox="1"/>
            <p:nvPr/>
          </p:nvSpPr>
          <p:spPr>
            <a:xfrm>
              <a:off x="9215438" y="1233488"/>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牵头部门</a:t>
              </a:r>
            </a:p>
          </p:txBody>
        </p:sp>
        <p:sp>
          <p:nvSpPr>
            <p:cNvPr id="205" name="TextBox 205"/>
            <p:cNvSpPr txBox="1"/>
            <p:nvPr/>
          </p:nvSpPr>
          <p:spPr>
            <a:xfrm>
              <a:off x="10053638" y="1233488"/>
              <a:ext cx="51435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公司金融部</a:t>
              </a:r>
            </a:p>
          </p:txBody>
        </p:sp>
        <p:grpSp>
          <p:nvGrpSpPr>
            <p:cNvPr id="211" name="Group 211"/>
            <p:cNvGrpSpPr/>
            <p:nvPr/>
          </p:nvGrpSpPr>
          <p:grpSpPr>
            <a:xfrm>
              <a:off x="9067800" y="1390650"/>
              <a:ext cx="76200" cy="76200"/>
              <a:chOff x="9067800" y="1390650"/>
              <a:chExt cx="76200" cy="76200"/>
            </a:xfrm>
          </p:grpSpPr>
          <p:sp>
            <p:nvSpPr>
              <p:cNvPr id="206" name="Freeform 206"/>
              <p:cNvSpPr/>
              <p:nvPr/>
            </p:nvSpPr>
            <p:spPr>
              <a:xfrm>
                <a:off x="9067800" y="1390650"/>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207" name="Freeform 207"/>
              <p:cNvSpPr/>
              <p:nvPr/>
            </p:nvSpPr>
            <p:spPr>
              <a:xfrm>
                <a:off x="9067800" y="143827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208" name="Freeform 208"/>
              <p:cNvSpPr/>
              <p:nvPr/>
            </p:nvSpPr>
            <p:spPr>
              <a:xfrm>
                <a:off x="9115425" y="143827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209" name="Freeform 209"/>
              <p:cNvSpPr/>
              <p:nvPr/>
            </p:nvSpPr>
            <p:spPr>
              <a:xfrm>
                <a:off x="9115425" y="1404938"/>
                <a:ext cx="28575" cy="9525"/>
              </a:xfrm>
              <a:custGeom>
                <a:avLst/>
                <a:gdLst/>
                <a:ahLst/>
                <a:cxnLst/>
                <a:rect l="l" t="t" r="r" b="b"/>
                <a:pathLst>
                  <a:path w="28575" h="9525">
                    <a:moveTo>
                      <a:pt x="0" y="0"/>
                    </a:moveTo>
                    <a:lnTo>
                      <a:pt x="28575" y="0"/>
                    </a:lnTo>
                  </a:path>
                </a:pathLst>
              </a:custGeom>
              <a:noFill/>
              <a:ln w="9525">
                <a:solidFill>
                  <a:srgbClr val="E5907F"/>
                </a:solidFill>
              </a:ln>
            </p:spPr>
          </p:sp>
          <p:sp>
            <p:nvSpPr>
              <p:cNvPr id="210" name="Freeform 210"/>
              <p:cNvSpPr/>
              <p:nvPr/>
            </p:nvSpPr>
            <p:spPr>
              <a:xfrm>
                <a:off x="9129712" y="1390650"/>
                <a:ext cx="9525" cy="28575"/>
              </a:xfrm>
              <a:custGeom>
                <a:avLst/>
                <a:gdLst/>
                <a:ahLst/>
                <a:cxnLst/>
                <a:rect l="l" t="t" r="r" b="b"/>
                <a:pathLst>
                  <a:path w="9525" h="28575">
                    <a:moveTo>
                      <a:pt x="0" y="0"/>
                    </a:moveTo>
                    <a:lnTo>
                      <a:pt x="0" y="28575"/>
                    </a:lnTo>
                  </a:path>
                </a:pathLst>
              </a:custGeom>
              <a:noFill/>
              <a:ln w="9525">
                <a:solidFill>
                  <a:srgbClr val="E5907F"/>
                </a:solidFill>
              </a:ln>
            </p:spPr>
          </p:sp>
        </p:grpSp>
        <p:sp>
          <p:nvSpPr>
            <p:cNvPr id="212" name="TextBox 212"/>
            <p:cNvSpPr txBox="1"/>
            <p:nvPr/>
          </p:nvSpPr>
          <p:spPr>
            <a:xfrm>
              <a:off x="9215438" y="1376362"/>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产品组合</a:t>
              </a:r>
            </a:p>
          </p:txBody>
        </p:sp>
        <p:sp>
          <p:nvSpPr>
            <p:cNvPr id="213" name="TextBox 213"/>
            <p:cNvSpPr txBox="1"/>
            <p:nvPr/>
          </p:nvSpPr>
          <p:spPr>
            <a:xfrm>
              <a:off x="9977438" y="1380411"/>
              <a:ext cx="1825549"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园区综合授信＋账户结算＋现金管理＋理财</a:t>
              </a:r>
            </a:p>
          </p:txBody>
        </p:sp>
        <p:grpSp>
          <p:nvGrpSpPr>
            <p:cNvPr id="220" name="Group 220"/>
            <p:cNvGrpSpPr/>
            <p:nvPr/>
          </p:nvGrpSpPr>
          <p:grpSpPr>
            <a:xfrm>
              <a:off x="9067800" y="1528762"/>
              <a:ext cx="76200" cy="85726"/>
              <a:chOff x="9067800" y="1528762"/>
              <a:chExt cx="76200" cy="85726"/>
            </a:xfrm>
          </p:grpSpPr>
          <p:sp>
            <p:nvSpPr>
              <p:cNvPr id="214" name="Freeform 214"/>
              <p:cNvSpPr/>
              <p:nvPr/>
            </p:nvSpPr>
            <p:spPr>
              <a:xfrm>
                <a:off x="9067800" y="1538288"/>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E5907F"/>
                </a:solidFill>
              </a:ln>
            </p:spPr>
          </p:sp>
          <p:sp>
            <p:nvSpPr>
              <p:cNvPr id="215" name="Freeform 215"/>
              <p:cNvSpPr/>
              <p:nvPr/>
            </p:nvSpPr>
            <p:spPr>
              <a:xfrm>
                <a:off x="9124950" y="152876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216" name="Freeform 216"/>
              <p:cNvSpPr/>
              <p:nvPr/>
            </p:nvSpPr>
            <p:spPr>
              <a:xfrm>
                <a:off x="9086850" y="152876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217" name="Freeform 217"/>
              <p:cNvSpPr/>
              <p:nvPr/>
            </p:nvSpPr>
            <p:spPr>
              <a:xfrm>
                <a:off x="9067800" y="1566862"/>
                <a:ext cx="76200" cy="9525"/>
              </a:xfrm>
              <a:custGeom>
                <a:avLst/>
                <a:gdLst/>
                <a:ahLst/>
                <a:cxnLst/>
                <a:rect l="l" t="t" r="r" b="b"/>
                <a:pathLst>
                  <a:path w="76200" h="9525">
                    <a:moveTo>
                      <a:pt x="0" y="0"/>
                    </a:moveTo>
                    <a:lnTo>
                      <a:pt x="76200" y="0"/>
                    </a:lnTo>
                  </a:path>
                </a:pathLst>
              </a:custGeom>
              <a:noFill/>
              <a:ln w="9525">
                <a:solidFill>
                  <a:srgbClr val="E5907F"/>
                </a:solidFill>
              </a:ln>
            </p:spPr>
          </p:sp>
          <p:sp>
            <p:nvSpPr>
              <p:cNvPr id="218" name="Freeform 218"/>
              <p:cNvSpPr/>
              <p:nvPr/>
            </p:nvSpPr>
            <p:spPr>
              <a:xfrm>
                <a:off x="9101138" y="1585912"/>
                <a:ext cx="9525" cy="9525"/>
              </a:xfrm>
              <a:custGeom>
                <a:avLst/>
                <a:gdLst/>
                <a:ahLst/>
                <a:cxnLst/>
                <a:rect l="l" t="t" r="r" b="b"/>
                <a:pathLst>
                  <a:path w="9525" h="9525">
                    <a:moveTo>
                      <a:pt x="0" y="0"/>
                    </a:moveTo>
                    <a:lnTo>
                      <a:pt x="4762" y="0"/>
                    </a:lnTo>
                  </a:path>
                </a:pathLst>
              </a:custGeom>
              <a:noFill/>
              <a:ln w="9525">
                <a:solidFill>
                  <a:srgbClr val="E5907F"/>
                </a:solidFill>
              </a:ln>
            </p:spPr>
          </p:sp>
          <p:sp>
            <p:nvSpPr>
              <p:cNvPr id="219" name="Freeform 219"/>
              <p:cNvSpPr/>
              <p:nvPr/>
            </p:nvSpPr>
            <p:spPr>
              <a:xfrm>
                <a:off x="9105900" y="1585912"/>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221" name="TextBox 221"/>
            <p:cNvSpPr txBox="1"/>
            <p:nvPr/>
          </p:nvSpPr>
          <p:spPr>
            <a:xfrm>
              <a:off x="9215438" y="1519238"/>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周期</a:t>
              </a:r>
            </a:p>
          </p:txBody>
        </p:sp>
        <p:sp>
          <p:nvSpPr>
            <p:cNvPr id="222" name="TextBox 222"/>
            <p:cNvSpPr txBox="1"/>
            <p:nvPr/>
          </p:nvSpPr>
          <p:spPr>
            <a:xfrm>
              <a:off x="10053638" y="1519238"/>
              <a:ext cx="332613"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60天​​</a:t>
              </a:r>
            </a:p>
          </p:txBody>
        </p:sp>
        <p:grpSp>
          <p:nvGrpSpPr>
            <p:cNvPr id="226" name="Group 226"/>
            <p:cNvGrpSpPr/>
            <p:nvPr/>
          </p:nvGrpSpPr>
          <p:grpSpPr>
            <a:xfrm>
              <a:off x="9063038" y="1671638"/>
              <a:ext cx="85725" cy="85725"/>
              <a:chOff x="9063038" y="1671638"/>
              <a:chExt cx="85725" cy="85725"/>
            </a:xfrm>
          </p:grpSpPr>
          <p:sp>
            <p:nvSpPr>
              <p:cNvPr id="223" name="Freeform 223"/>
              <p:cNvSpPr/>
              <p:nvPr/>
            </p:nvSpPr>
            <p:spPr>
              <a:xfrm>
                <a:off x="9101138" y="170973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5907F"/>
                </a:solidFill>
              </a:ln>
            </p:spPr>
          </p:sp>
          <p:sp>
            <p:nvSpPr>
              <p:cNvPr id="224" name="Freeform 224"/>
              <p:cNvSpPr/>
              <p:nvPr/>
            </p:nvSpPr>
            <p:spPr>
              <a:xfrm>
                <a:off x="9082088" y="169068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5907F"/>
                </a:solidFill>
              </a:ln>
            </p:spPr>
          </p:sp>
          <p:sp>
            <p:nvSpPr>
              <p:cNvPr id="225" name="Freeform 225"/>
              <p:cNvSpPr/>
              <p:nvPr/>
            </p:nvSpPr>
            <p:spPr>
              <a:xfrm>
                <a:off x="9063038" y="16716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5907F"/>
                </a:solidFill>
              </a:ln>
            </p:spPr>
          </p:sp>
        </p:grpSp>
        <p:sp>
          <p:nvSpPr>
            <p:cNvPr id="227" name="TextBox 227"/>
            <p:cNvSpPr txBox="1"/>
            <p:nvPr/>
          </p:nvSpPr>
          <p:spPr>
            <a:xfrm>
              <a:off x="9215438" y="1662112"/>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目标</a:t>
              </a:r>
            </a:p>
          </p:txBody>
        </p:sp>
        <p:sp>
          <p:nvSpPr>
            <p:cNvPr id="228" name="TextBox 228"/>
            <p:cNvSpPr txBox="1"/>
            <p:nvPr/>
          </p:nvSpPr>
          <p:spPr>
            <a:xfrm>
              <a:off x="10053638" y="1662112"/>
              <a:ext cx="726124" cy="147638"/>
            </a:xfrm>
            <a:prstGeom prst="rect">
              <a:avLst/>
            </a:prstGeom>
            <a:noFill/>
            <a:ln>
              <a:noFill/>
            </a:ln>
          </p:spPr>
          <p:txBody>
            <a:bodyPr wrap="none" lIns="0" tIns="0" rIns="0" bIns="0" anchor="t" anchorCtr="0">
              <a:spAutoFit/>
            </a:bodyPr>
            <a:lstStyle/>
            <a:p>
              <a:pPr algn="l"/>
              <a:r>
                <a:rPr lang="zh-CN" sz="750" b="1" dirty="0">
                  <a:solidFill>
                    <a:srgbClr val="C9462F"/>
                  </a:solidFill>
                  <a:latin typeface="+mn-lt"/>
                  <a:ea typeface="+mn-ea"/>
                  <a:cs typeface="+mn-cs"/>
                </a:rPr>
                <a:t>目标转化35%​​</a:t>
              </a:r>
            </a:p>
          </p:txBody>
        </p:sp>
        <p:sp>
          <p:nvSpPr>
            <p:cNvPr id="229" name="Rectangle 229"/>
            <p:cNvSpPr/>
            <p:nvPr/>
          </p:nvSpPr>
          <p:spPr>
            <a:xfrm>
              <a:off x="8953500" y="1866900"/>
              <a:ext cx="2857500" cy="1047750"/>
            </a:xfrm>
            <a:prstGeom prst="roundRect">
              <a:avLst>
                <a:gd name="adj" fmla="val 7273"/>
              </a:avLst>
            </a:prstGeom>
            <a:solidFill>
              <a:srgbClr val="FFFFFF"/>
            </a:solidFill>
            <a:ln w="9525">
              <a:solidFill>
                <a:srgbClr val="C9D8EF"/>
              </a:solidFill>
            </a:ln>
          </p:spPr>
        </p:sp>
        <p:sp>
          <p:nvSpPr>
            <p:cNvPr id="230" name="Rectangle 230"/>
            <p:cNvSpPr/>
            <p:nvPr/>
          </p:nvSpPr>
          <p:spPr>
            <a:xfrm>
              <a:off x="8953500" y="1866900"/>
              <a:ext cx="2857500" cy="285750"/>
            </a:xfrm>
            <a:prstGeom prst="roundRect">
              <a:avLst>
                <a:gd name="adj" fmla="val 26667"/>
              </a:avLst>
            </a:prstGeom>
            <a:solidFill>
              <a:srgbClr val="EAF2FC"/>
            </a:solidFill>
            <a:ln>
              <a:noFill/>
            </a:ln>
          </p:spPr>
        </p:sp>
        <p:sp>
          <p:nvSpPr>
            <p:cNvPr id="231" name="TextBox 231"/>
            <p:cNvSpPr txBox="1"/>
            <p:nvPr/>
          </p:nvSpPr>
          <p:spPr>
            <a:xfrm>
              <a:off x="9060942" y="1930718"/>
              <a:ext cx="433528" cy="264033"/>
            </a:xfrm>
            <a:prstGeom prst="rect">
              <a:avLst/>
            </a:prstGeom>
            <a:noFill/>
            <a:ln>
              <a:noFill/>
            </a:ln>
          </p:spPr>
          <p:txBody>
            <a:bodyPr wrap="none" lIns="0" tIns="0" rIns="0" bIns="0" anchor="t" anchorCtr="0">
              <a:spAutoFit/>
            </a:bodyPr>
            <a:lstStyle/>
            <a:p>
              <a:pPr algn="l"/>
              <a:r>
                <a:rPr lang="zh-CN" sz="1350" b="1" dirty="0">
                  <a:solidFill>
                    <a:srgbClr val="C9462F"/>
                  </a:solidFill>
                  <a:latin typeface="+mn-lt"/>
                  <a:ea typeface="+mn-ea"/>
                  <a:cs typeface="+mn-cs"/>
                </a:rPr>
                <a:t>05​​</a:t>
              </a:r>
            </a:p>
          </p:txBody>
        </p:sp>
        <p:sp>
          <p:nvSpPr>
            <p:cNvPr id="232" name="TextBox 232"/>
            <p:cNvSpPr txBox="1"/>
            <p:nvPr/>
          </p:nvSpPr>
          <p:spPr>
            <a:xfrm>
              <a:off x="9386316" y="1953578"/>
              <a:ext cx="1282827" cy="205359"/>
            </a:xfrm>
            <a:prstGeom prst="rect">
              <a:avLst/>
            </a:prstGeom>
            <a:noFill/>
            <a:ln>
              <a:noFill/>
            </a:ln>
          </p:spPr>
          <p:txBody>
            <a:bodyPr wrap="none" lIns="0" tIns="0" rIns="0" bIns="0" anchor="t" anchorCtr="0">
              <a:spAutoFit/>
            </a:bodyPr>
            <a:lstStyle/>
            <a:p>
              <a:pPr algn="l"/>
              <a:r>
                <a:rPr lang="zh-CN" sz="1050" b="1" dirty="0">
                  <a:solidFill>
                    <a:srgbClr val="67281B"/>
                  </a:solidFill>
                  <a:latin typeface="+mn-lt"/>
                  <a:ea typeface="+mn-ea"/>
                  <a:cs typeface="+mn-cs"/>
                </a:rPr>
                <a:t>企业年金与养老金融</a:t>
              </a:r>
            </a:p>
          </p:txBody>
        </p:sp>
        <p:grpSp>
          <p:nvGrpSpPr>
            <p:cNvPr id="237" name="Group 237"/>
            <p:cNvGrpSpPr/>
            <p:nvPr/>
          </p:nvGrpSpPr>
          <p:grpSpPr>
            <a:xfrm>
              <a:off x="9063038" y="2224088"/>
              <a:ext cx="85725" cy="85725"/>
              <a:chOff x="9063038" y="2224088"/>
              <a:chExt cx="85725" cy="85725"/>
            </a:xfrm>
          </p:grpSpPr>
          <p:sp>
            <p:nvSpPr>
              <p:cNvPr id="233" name="Freeform 233"/>
              <p:cNvSpPr/>
              <p:nvPr/>
            </p:nvSpPr>
            <p:spPr>
              <a:xfrm>
                <a:off x="9072562" y="22240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5907F"/>
                </a:solidFill>
              </a:ln>
            </p:spPr>
          </p:sp>
          <p:sp>
            <p:nvSpPr>
              <p:cNvPr id="234" name="Freeform 234"/>
              <p:cNvSpPr/>
              <p:nvPr/>
            </p:nvSpPr>
            <p:spPr>
              <a:xfrm>
                <a:off x="9063038" y="228123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E5907F"/>
                </a:solidFill>
              </a:ln>
            </p:spPr>
          </p:sp>
          <p:sp>
            <p:nvSpPr>
              <p:cNvPr id="235" name="Freeform 235"/>
              <p:cNvSpPr/>
              <p:nvPr/>
            </p:nvSpPr>
            <p:spPr>
              <a:xfrm>
                <a:off x="9124950" y="222470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E5907F"/>
                </a:solidFill>
              </a:ln>
            </p:spPr>
          </p:sp>
          <p:sp>
            <p:nvSpPr>
              <p:cNvPr id="236" name="Freeform 236"/>
              <p:cNvSpPr/>
              <p:nvPr/>
            </p:nvSpPr>
            <p:spPr>
              <a:xfrm>
                <a:off x="9134475" y="2281952"/>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E5907F"/>
                </a:solidFill>
              </a:ln>
            </p:spPr>
          </p:sp>
        </p:grpSp>
        <p:sp>
          <p:nvSpPr>
            <p:cNvPr id="238" name="TextBox 238"/>
            <p:cNvSpPr txBox="1"/>
            <p:nvPr/>
          </p:nvSpPr>
          <p:spPr>
            <a:xfrm>
              <a:off x="9215438" y="2214562"/>
              <a:ext cx="312420"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客户池</a:t>
              </a:r>
            </a:p>
          </p:txBody>
        </p:sp>
        <p:sp>
          <p:nvSpPr>
            <p:cNvPr id="239" name="TextBox 239"/>
            <p:cNvSpPr txBox="1"/>
            <p:nvPr/>
          </p:nvSpPr>
          <p:spPr>
            <a:xfrm>
              <a:off x="10053638" y="2214562"/>
              <a:ext cx="80210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客户池2,000户​​</a:t>
              </a:r>
            </a:p>
          </p:txBody>
        </p:sp>
        <p:grpSp>
          <p:nvGrpSpPr>
            <p:cNvPr id="248" name="Group 248"/>
            <p:cNvGrpSpPr/>
            <p:nvPr/>
          </p:nvGrpSpPr>
          <p:grpSpPr>
            <a:xfrm>
              <a:off x="9063038" y="2366962"/>
              <a:ext cx="90487" cy="95251"/>
              <a:chOff x="9063038" y="2366962"/>
              <a:chExt cx="90487" cy="95251"/>
            </a:xfrm>
          </p:grpSpPr>
          <p:sp>
            <p:nvSpPr>
              <p:cNvPr id="240" name="Freeform 240"/>
              <p:cNvSpPr/>
              <p:nvPr/>
            </p:nvSpPr>
            <p:spPr>
              <a:xfrm>
                <a:off x="9063038" y="2452688"/>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241" name="Freeform 241"/>
              <p:cNvSpPr/>
              <p:nvPr/>
            </p:nvSpPr>
            <p:spPr>
              <a:xfrm>
                <a:off x="9063038" y="2400300"/>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242" name="Freeform 242"/>
              <p:cNvSpPr/>
              <p:nvPr/>
            </p:nvSpPr>
            <p:spPr>
              <a:xfrm>
                <a:off x="9072562" y="2366962"/>
                <a:ext cx="66675" cy="14288"/>
              </a:xfrm>
              <a:custGeom>
                <a:avLst/>
                <a:gdLst/>
                <a:ahLst/>
                <a:cxnLst/>
                <a:rect l="l" t="t" r="r" b="b"/>
                <a:pathLst>
                  <a:path w="66675" h="14288">
                    <a:moveTo>
                      <a:pt x="0" y="14288"/>
                    </a:moveTo>
                    <a:lnTo>
                      <a:pt x="33338" y="0"/>
                    </a:lnTo>
                    <a:lnTo>
                      <a:pt x="66675" y="14288"/>
                    </a:lnTo>
                  </a:path>
                </a:pathLst>
              </a:custGeom>
              <a:noFill/>
              <a:ln w="9525">
                <a:solidFill>
                  <a:srgbClr val="E5907F"/>
                </a:solidFill>
              </a:ln>
            </p:spPr>
          </p:sp>
          <p:sp>
            <p:nvSpPr>
              <p:cNvPr id="243" name="Freeform 243"/>
              <p:cNvSpPr/>
              <p:nvPr/>
            </p:nvSpPr>
            <p:spPr>
              <a:xfrm>
                <a:off x="9067800" y="240030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244" name="Freeform 244"/>
              <p:cNvSpPr/>
              <p:nvPr/>
            </p:nvSpPr>
            <p:spPr>
              <a:xfrm>
                <a:off x="9144000" y="240030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245" name="Freeform 245"/>
              <p:cNvSpPr/>
              <p:nvPr/>
            </p:nvSpPr>
            <p:spPr>
              <a:xfrm>
                <a:off x="9086850" y="241935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246" name="Freeform 246"/>
              <p:cNvSpPr/>
              <p:nvPr/>
            </p:nvSpPr>
            <p:spPr>
              <a:xfrm>
                <a:off x="9105900" y="241935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247" name="Freeform 247"/>
              <p:cNvSpPr/>
              <p:nvPr/>
            </p:nvSpPr>
            <p:spPr>
              <a:xfrm>
                <a:off x="9124950" y="2419350"/>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249" name="TextBox 249"/>
            <p:cNvSpPr txBox="1"/>
            <p:nvPr/>
          </p:nvSpPr>
          <p:spPr>
            <a:xfrm>
              <a:off x="9215438" y="2357438"/>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牵头部门</a:t>
              </a:r>
            </a:p>
          </p:txBody>
        </p:sp>
        <p:sp>
          <p:nvSpPr>
            <p:cNvPr id="250" name="TextBox 250"/>
            <p:cNvSpPr txBox="1"/>
            <p:nvPr/>
          </p:nvSpPr>
          <p:spPr>
            <a:xfrm>
              <a:off x="10053638" y="2357438"/>
              <a:ext cx="51435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金融市场部</a:t>
              </a:r>
            </a:p>
          </p:txBody>
        </p:sp>
        <p:grpSp>
          <p:nvGrpSpPr>
            <p:cNvPr id="256" name="Group 256"/>
            <p:cNvGrpSpPr/>
            <p:nvPr/>
          </p:nvGrpSpPr>
          <p:grpSpPr>
            <a:xfrm>
              <a:off x="9067800" y="2514600"/>
              <a:ext cx="76200" cy="76200"/>
              <a:chOff x="9067800" y="2514600"/>
              <a:chExt cx="76200" cy="76200"/>
            </a:xfrm>
          </p:grpSpPr>
          <p:sp>
            <p:nvSpPr>
              <p:cNvPr id="251" name="Freeform 251"/>
              <p:cNvSpPr/>
              <p:nvPr/>
            </p:nvSpPr>
            <p:spPr>
              <a:xfrm>
                <a:off x="9067800" y="2514600"/>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252" name="Freeform 252"/>
              <p:cNvSpPr/>
              <p:nvPr/>
            </p:nvSpPr>
            <p:spPr>
              <a:xfrm>
                <a:off x="9067800" y="256222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253" name="Freeform 253"/>
              <p:cNvSpPr/>
              <p:nvPr/>
            </p:nvSpPr>
            <p:spPr>
              <a:xfrm>
                <a:off x="9115425" y="256222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254" name="Freeform 254"/>
              <p:cNvSpPr/>
              <p:nvPr/>
            </p:nvSpPr>
            <p:spPr>
              <a:xfrm>
                <a:off x="9115425" y="2528888"/>
                <a:ext cx="28575" cy="9525"/>
              </a:xfrm>
              <a:custGeom>
                <a:avLst/>
                <a:gdLst/>
                <a:ahLst/>
                <a:cxnLst/>
                <a:rect l="l" t="t" r="r" b="b"/>
                <a:pathLst>
                  <a:path w="28575" h="9525">
                    <a:moveTo>
                      <a:pt x="0" y="0"/>
                    </a:moveTo>
                    <a:lnTo>
                      <a:pt x="28575" y="0"/>
                    </a:lnTo>
                  </a:path>
                </a:pathLst>
              </a:custGeom>
              <a:noFill/>
              <a:ln w="9525">
                <a:solidFill>
                  <a:srgbClr val="E5907F"/>
                </a:solidFill>
              </a:ln>
            </p:spPr>
          </p:sp>
          <p:sp>
            <p:nvSpPr>
              <p:cNvPr id="255" name="Freeform 255"/>
              <p:cNvSpPr/>
              <p:nvPr/>
            </p:nvSpPr>
            <p:spPr>
              <a:xfrm>
                <a:off x="9129712" y="2514600"/>
                <a:ext cx="9525" cy="28575"/>
              </a:xfrm>
              <a:custGeom>
                <a:avLst/>
                <a:gdLst/>
                <a:ahLst/>
                <a:cxnLst/>
                <a:rect l="l" t="t" r="r" b="b"/>
                <a:pathLst>
                  <a:path w="9525" h="28575">
                    <a:moveTo>
                      <a:pt x="0" y="0"/>
                    </a:moveTo>
                    <a:lnTo>
                      <a:pt x="0" y="28575"/>
                    </a:lnTo>
                  </a:path>
                </a:pathLst>
              </a:custGeom>
              <a:noFill/>
              <a:ln w="9525">
                <a:solidFill>
                  <a:srgbClr val="E5907F"/>
                </a:solidFill>
              </a:ln>
            </p:spPr>
          </p:sp>
        </p:grpSp>
        <p:sp>
          <p:nvSpPr>
            <p:cNvPr id="257" name="TextBox 257"/>
            <p:cNvSpPr txBox="1"/>
            <p:nvPr/>
          </p:nvSpPr>
          <p:spPr>
            <a:xfrm>
              <a:off x="9215438" y="2500312"/>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产品组合</a:t>
              </a:r>
            </a:p>
          </p:txBody>
        </p:sp>
        <p:sp>
          <p:nvSpPr>
            <p:cNvPr id="258" name="TextBox 258"/>
            <p:cNvSpPr txBox="1"/>
            <p:nvPr/>
          </p:nvSpPr>
          <p:spPr>
            <a:xfrm>
              <a:off x="9977438" y="2504361"/>
              <a:ext cx="1634388"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企业年金＋养老理财＋保险＋税优方案</a:t>
              </a:r>
            </a:p>
          </p:txBody>
        </p:sp>
        <p:grpSp>
          <p:nvGrpSpPr>
            <p:cNvPr id="265" name="Group 265"/>
            <p:cNvGrpSpPr/>
            <p:nvPr/>
          </p:nvGrpSpPr>
          <p:grpSpPr>
            <a:xfrm>
              <a:off x="9067800" y="2652712"/>
              <a:ext cx="76200" cy="85726"/>
              <a:chOff x="9067800" y="2652712"/>
              <a:chExt cx="76200" cy="85726"/>
            </a:xfrm>
          </p:grpSpPr>
          <p:sp>
            <p:nvSpPr>
              <p:cNvPr id="259" name="Freeform 259"/>
              <p:cNvSpPr/>
              <p:nvPr/>
            </p:nvSpPr>
            <p:spPr>
              <a:xfrm>
                <a:off x="9067800" y="2662238"/>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E5907F"/>
                </a:solidFill>
              </a:ln>
            </p:spPr>
          </p:sp>
          <p:sp>
            <p:nvSpPr>
              <p:cNvPr id="260" name="Freeform 260"/>
              <p:cNvSpPr/>
              <p:nvPr/>
            </p:nvSpPr>
            <p:spPr>
              <a:xfrm>
                <a:off x="9124950" y="265271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261" name="Freeform 261"/>
              <p:cNvSpPr/>
              <p:nvPr/>
            </p:nvSpPr>
            <p:spPr>
              <a:xfrm>
                <a:off x="9086850" y="265271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262" name="Freeform 262"/>
              <p:cNvSpPr/>
              <p:nvPr/>
            </p:nvSpPr>
            <p:spPr>
              <a:xfrm>
                <a:off x="9067800" y="2690812"/>
                <a:ext cx="76200" cy="9525"/>
              </a:xfrm>
              <a:custGeom>
                <a:avLst/>
                <a:gdLst/>
                <a:ahLst/>
                <a:cxnLst/>
                <a:rect l="l" t="t" r="r" b="b"/>
                <a:pathLst>
                  <a:path w="76200" h="9525">
                    <a:moveTo>
                      <a:pt x="0" y="0"/>
                    </a:moveTo>
                    <a:lnTo>
                      <a:pt x="76200" y="0"/>
                    </a:lnTo>
                  </a:path>
                </a:pathLst>
              </a:custGeom>
              <a:noFill/>
              <a:ln w="9525">
                <a:solidFill>
                  <a:srgbClr val="E5907F"/>
                </a:solidFill>
              </a:ln>
            </p:spPr>
          </p:sp>
          <p:sp>
            <p:nvSpPr>
              <p:cNvPr id="263" name="Freeform 263"/>
              <p:cNvSpPr/>
              <p:nvPr/>
            </p:nvSpPr>
            <p:spPr>
              <a:xfrm>
                <a:off x="9101138" y="2709862"/>
                <a:ext cx="9525" cy="9525"/>
              </a:xfrm>
              <a:custGeom>
                <a:avLst/>
                <a:gdLst/>
                <a:ahLst/>
                <a:cxnLst/>
                <a:rect l="l" t="t" r="r" b="b"/>
                <a:pathLst>
                  <a:path w="9525" h="9525">
                    <a:moveTo>
                      <a:pt x="0" y="0"/>
                    </a:moveTo>
                    <a:lnTo>
                      <a:pt x="4762" y="0"/>
                    </a:lnTo>
                  </a:path>
                </a:pathLst>
              </a:custGeom>
              <a:noFill/>
              <a:ln w="9525">
                <a:solidFill>
                  <a:srgbClr val="E5907F"/>
                </a:solidFill>
              </a:ln>
            </p:spPr>
          </p:sp>
          <p:sp>
            <p:nvSpPr>
              <p:cNvPr id="264" name="Freeform 264"/>
              <p:cNvSpPr/>
              <p:nvPr/>
            </p:nvSpPr>
            <p:spPr>
              <a:xfrm>
                <a:off x="9105900" y="2709862"/>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266" name="TextBox 266"/>
            <p:cNvSpPr txBox="1"/>
            <p:nvPr/>
          </p:nvSpPr>
          <p:spPr>
            <a:xfrm>
              <a:off x="9215438" y="2643188"/>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周期</a:t>
              </a:r>
            </a:p>
          </p:txBody>
        </p:sp>
        <p:sp>
          <p:nvSpPr>
            <p:cNvPr id="267" name="TextBox 267"/>
            <p:cNvSpPr txBox="1"/>
            <p:nvPr/>
          </p:nvSpPr>
          <p:spPr>
            <a:xfrm>
              <a:off x="10053638" y="2643188"/>
              <a:ext cx="332613"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90天​​</a:t>
              </a:r>
            </a:p>
          </p:txBody>
        </p:sp>
        <p:grpSp>
          <p:nvGrpSpPr>
            <p:cNvPr id="271" name="Group 271"/>
            <p:cNvGrpSpPr/>
            <p:nvPr/>
          </p:nvGrpSpPr>
          <p:grpSpPr>
            <a:xfrm>
              <a:off x="9063038" y="2795588"/>
              <a:ext cx="85725" cy="85725"/>
              <a:chOff x="9063038" y="2795588"/>
              <a:chExt cx="85725" cy="85725"/>
            </a:xfrm>
          </p:grpSpPr>
          <p:sp>
            <p:nvSpPr>
              <p:cNvPr id="268" name="Freeform 268"/>
              <p:cNvSpPr/>
              <p:nvPr/>
            </p:nvSpPr>
            <p:spPr>
              <a:xfrm>
                <a:off x="9101138" y="283368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5907F"/>
                </a:solidFill>
              </a:ln>
            </p:spPr>
          </p:sp>
          <p:sp>
            <p:nvSpPr>
              <p:cNvPr id="269" name="Freeform 269"/>
              <p:cNvSpPr/>
              <p:nvPr/>
            </p:nvSpPr>
            <p:spPr>
              <a:xfrm>
                <a:off x="9082088" y="281463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5907F"/>
                </a:solidFill>
              </a:ln>
            </p:spPr>
          </p:sp>
          <p:sp>
            <p:nvSpPr>
              <p:cNvPr id="270" name="Freeform 270"/>
              <p:cNvSpPr/>
              <p:nvPr/>
            </p:nvSpPr>
            <p:spPr>
              <a:xfrm>
                <a:off x="9063038" y="2795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5907F"/>
                </a:solidFill>
              </a:ln>
            </p:spPr>
          </p:sp>
        </p:grpSp>
        <p:sp>
          <p:nvSpPr>
            <p:cNvPr id="272" name="TextBox 272"/>
            <p:cNvSpPr txBox="1"/>
            <p:nvPr/>
          </p:nvSpPr>
          <p:spPr>
            <a:xfrm>
              <a:off x="9215438" y="2786062"/>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目标</a:t>
              </a:r>
            </a:p>
          </p:txBody>
        </p:sp>
        <p:sp>
          <p:nvSpPr>
            <p:cNvPr id="273" name="TextBox 273"/>
            <p:cNvSpPr txBox="1"/>
            <p:nvPr/>
          </p:nvSpPr>
          <p:spPr>
            <a:xfrm>
              <a:off x="10053638" y="2786062"/>
              <a:ext cx="726124" cy="147638"/>
            </a:xfrm>
            <a:prstGeom prst="rect">
              <a:avLst/>
            </a:prstGeom>
            <a:noFill/>
            <a:ln>
              <a:noFill/>
            </a:ln>
          </p:spPr>
          <p:txBody>
            <a:bodyPr wrap="none" lIns="0" tIns="0" rIns="0" bIns="0" anchor="t" anchorCtr="0">
              <a:spAutoFit/>
            </a:bodyPr>
            <a:lstStyle/>
            <a:p>
              <a:pPr algn="l"/>
              <a:r>
                <a:rPr lang="zh-CN" sz="750" b="1" dirty="0">
                  <a:solidFill>
                    <a:srgbClr val="C9462F"/>
                  </a:solidFill>
                  <a:latin typeface="+mn-lt"/>
                  <a:ea typeface="+mn-ea"/>
                  <a:cs typeface="+mn-cs"/>
                </a:rPr>
                <a:t>目标转化35%​​</a:t>
              </a:r>
            </a:p>
          </p:txBody>
        </p:sp>
        <p:sp>
          <p:nvSpPr>
            <p:cNvPr id="274" name="Rectangle 274"/>
            <p:cNvSpPr/>
            <p:nvPr/>
          </p:nvSpPr>
          <p:spPr>
            <a:xfrm>
              <a:off x="8953500" y="2990850"/>
              <a:ext cx="2857500" cy="1047750"/>
            </a:xfrm>
            <a:prstGeom prst="roundRect">
              <a:avLst>
                <a:gd name="adj" fmla="val 7273"/>
              </a:avLst>
            </a:prstGeom>
            <a:solidFill>
              <a:srgbClr val="FFFFFF"/>
            </a:solidFill>
            <a:ln w="9525">
              <a:solidFill>
                <a:srgbClr val="C9D8EF"/>
              </a:solidFill>
            </a:ln>
          </p:spPr>
        </p:sp>
        <p:sp>
          <p:nvSpPr>
            <p:cNvPr id="275" name="Rectangle 275"/>
            <p:cNvSpPr/>
            <p:nvPr/>
          </p:nvSpPr>
          <p:spPr>
            <a:xfrm>
              <a:off x="8953500" y="2990850"/>
              <a:ext cx="2857500" cy="285750"/>
            </a:xfrm>
            <a:prstGeom prst="roundRect">
              <a:avLst>
                <a:gd name="adj" fmla="val 26667"/>
              </a:avLst>
            </a:prstGeom>
            <a:solidFill>
              <a:srgbClr val="EAF2FC"/>
            </a:solidFill>
            <a:ln>
              <a:noFill/>
            </a:ln>
          </p:spPr>
        </p:sp>
        <p:sp>
          <p:nvSpPr>
            <p:cNvPr id="276" name="TextBox 276"/>
            <p:cNvSpPr txBox="1"/>
            <p:nvPr/>
          </p:nvSpPr>
          <p:spPr>
            <a:xfrm>
              <a:off x="9060942" y="3054668"/>
              <a:ext cx="433528" cy="264033"/>
            </a:xfrm>
            <a:prstGeom prst="rect">
              <a:avLst/>
            </a:prstGeom>
            <a:noFill/>
            <a:ln>
              <a:noFill/>
            </a:ln>
          </p:spPr>
          <p:txBody>
            <a:bodyPr wrap="none" lIns="0" tIns="0" rIns="0" bIns="0" anchor="t" anchorCtr="0">
              <a:spAutoFit/>
            </a:bodyPr>
            <a:lstStyle/>
            <a:p>
              <a:pPr algn="l"/>
              <a:r>
                <a:rPr lang="zh-CN" sz="1350" b="1" dirty="0">
                  <a:solidFill>
                    <a:srgbClr val="C9462F"/>
                  </a:solidFill>
                  <a:latin typeface="+mn-lt"/>
                  <a:ea typeface="+mn-ea"/>
                  <a:cs typeface="+mn-cs"/>
                </a:rPr>
                <a:t>06​​</a:t>
              </a:r>
            </a:p>
          </p:txBody>
        </p:sp>
        <p:sp>
          <p:nvSpPr>
            <p:cNvPr id="277" name="TextBox 277"/>
            <p:cNvSpPr txBox="1"/>
            <p:nvPr/>
          </p:nvSpPr>
          <p:spPr>
            <a:xfrm>
              <a:off x="9386316" y="3077528"/>
              <a:ext cx="858774" cy="205359"/>
            </a:xfrm>
            <a:prstGeom prst="rect">
              <a:avLst/>
            </a:prstGeom>
            <a:noFill/>
            <a:ln>
              <a:noFill/>
            </a:ln>
          </p:spPr>
          <p:txBody>
            <a:bodyPr wrap="none" lIns="0" tIns="0" rIns="0" bIns="0" anchor="t" anchorCtr="0">
              <a:spAutoFit/>
            </a:bodyPr>
            <a:lstStyle/>
            <a:p>
              <a:pPr algn="l"/>
              <a:r>
                <a:rPr lang="zh-CN" sz="1050" b="1" dirty="0">
                  <a:solidFill>
                    <a:srgbClr val="67281B"/>
                  </a:solidFill>
                  <a:latin typeface="+mn-lt"/>
                  <a:ea typeface="+mn-ea"/>
                  <a:cs typeface="+mn-cs"/>
                </a:rPr>
                <a:t>跨境金融服务</a:t>
              </a:r>
            </a:p>
          </p:txBody>
        </p:sp>
        <p:grpSp>
          <p:nvGrpSpPr>
            <p:cNvPr id="282" name="Group 282"/>
            <p:cNvGrpSpPr/>
            <p:nvPr/>
          </p:nvGrpSpPr>
          <p:grpSpPr>
            <a:xfrm>
              <a:off x="9063038" y="3348038"/>
              <a:ext cx="85725" cy="85725"/>
              <a:chOff x="9063038" y="3348038"/>
              <a:chExt cx="85725" cy="85725"/>
            </a:xfrm>
          </p:grpSpPr>
          <p:sp>
            <p:nvSpPr>
              <p:cNvPr id="278" name="Freeform 278"/>
              <p:cNvSpPr/>
              <p:nvPr/>
            </p:nvSpPr>
            <p:spPr>
              <a:xfrm>
                <a:off x="9072562" y="33480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5907F"/>
                </a:solidFill>
              </a:ln>
            </p:spPr>
          </p:sp>
          <p:sp>
            <p:nvSpPr>
              <p:cNvPr id="279" name="Freeform 279"/>
              <p:cNvSpPr/>
              <p:nvPr/>
            </p:nvSpPr>
            <p:spPr>
              <a:xfrm>
                <a:off x="9063038" y="340518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E5907F"/>
                </a:solidFill>
              </a:ln>
            </p:spPr>
          </p:sp>
          <p:sp>
            <p:nvSpPr>
              <p:cNvPr id="280" name="Freeform 280"/>
              <p:cNvSpPr/>
              <p:nvPr/>
            </p:nvSpPr>
            <p:spPr>
              <a:xfrm>
                <a:off x="9124950" y="334865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E5907F"/>
                </a:solidFill>
              </a:ln>
            </p:spPr>
          </p:sp>
          <p:sp>
            <p:nvSpPr>
              <p:cNvPr id="281" name="Freeform 281"/>
              <p:cNvSpPr/>
              <p:nvPr/>
            </p:nvSpPr>
            <p:spPr>
              <a:xfrm>
                <a:off x="9134475" y="3405902"/>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E5907F"/>
                </a:solidFill>
              </a:ln>
            </p:spPr>
          </p:sp>
        </p:grpSp>
        <p:sp>
          <p:nvSpPr>
            <p:cNvPr id="283" name="TextBox 283"/>
            <p:cNvSpPr txBox="1"/>
            <p:nvPr/>
          </p:nvSpPr>
          <p:spPr>
            <a:xfrm>
              <a:off x="9215438" y="3338512"/>
              <a:ext cx="312420"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客户池</a:t>
              </a:r>
            </a:p>
          </p:txBody>
        </p:sp>
        <p:sp>
          <p:nvSpPr>
            <p:cNvPr id="284" name="TextBox 284"/>
            <p:cNvSpPr txBox="1"/>
            <p:nvPr/>
          </p:nvSpPr>
          <p:spPr>
            <a:xfrm>
              <a:off x="10053638" y="3338512"/>
              <a:ext cx="80210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客户池2,000户​​</a:t>
              </a:r>
            </a:p>
          </p:txBody>
        </p:sp>
        <p:grpSp>
          <p:nvGrpSpPr>
            <p:cNvPr id="293" name="Group 293"/>
            <p:cNvGrpSpPr/>
            <p:nvPr/>
          </p:nvGrpSpPr>
          <p:grpSpPr>
            <a:xfrm>
              <a:off x="9063038" y="3490912"/>
              <a:ext cx="90487" cy="95251"/>
              <a:chOff x="9063038" y="3490912"/>
              <a:chExt cx="90487" cy="95251"/>
            </a:xfrm>
          </p:grpSpPr>
          <p:sp>
            <p:nvSpPr>
              <p:cNvPr id="285" name="Freeform 285"/>
              <p:cNvSpPr/>
              <p:nvPr/>
            </p:nvSpPr>
            <p:spPr>
              <a:xfrm>
                <a:off x="9063038" y="3576638"/>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286" name="Freeform 286"/>
              <p:cNvSpPr/>
              <p:nvPr/>
            </p:nvSpPr>
            <p:spPr>
              <a:xfrm>
                <a:off x="9063038" y="3524250"/>
                <a:ext cx="85725" cy="9525"/>
              </a:xfrm>
              <a:custGeom>
                <a:avLst/>
                <a:gdLst/>
                <a:ahLst/>
                <a:cxnLst/>
                <a:rect l="l" t="t" r="r" b="b"/>
                <a:pathLst>
                  <a:path w="85725" h="9525">
                    <a:moveTo>
                      <a:pt x="0" y="0"/>
                    </a:moveTo>
                    <a:lnTo>
                      <a:pt x="85725" y="0"/>
                    </a:lnTo>
                  </a:path>
                </a:pathLst>
              </a:custGeom>
              <a:noFill/>
              <a:ln w="9525">
                <a:solidFill>
                  <a:srgbClr val="E5907F"/>
                </a:solidFill>
              </a:ln>
            </p:spPr>
          </p:sp>
          <p:sp>
            <p:nvSpPr>
              <p:cNvPr id="287" name="Freeform 287"/>
              <p:cNvSpPr/>
              <p:nvPr/>
            </p:nvSpPr>
            <p:spPr>
              <a:xfrm>
                <a:off x="9072562" y="3490912"/>
                <a:ext cx="66675" cy="14288"/>
              </a:xfrm>
              <a:custGeom>
                <a:avLst/>
                <a:gdLst/>
                <a:ahLst/>
                <a:cxnLst/>
                <a:rect l="l" t="t" r="r" b="b"/>
                <a:pathLst>
                  <a:path w="66675" h="14288">
                    <a:moveTo>
                      <a:pt x="0" y="14288"/>
                    </a:moveTo>
                    <a:lnTo>
                      <a:pt x="33338" y="0"/>
                    </a:lnTo>
                    <a:lnTo>
                      <a:pt x="66675" y="14288"/>
                    </a:lnTo>
                  </a:path>
                </a:pathLst>
              </a:custGeom>
              <a:noFill/>
              <a:ln w="9525">
                <a:solidFill>
                  <a:srgbClr val="E5907F"/>
                </a:solidFill>
              </a:ln>
            </p:spPr>
          </p:sp>
          <p:sp>
            <p:nvSpPr>
              <p:cNvPr id="288" name="Freeform 288"/>
              <p:cNvSpPr/>
              <p:nvPr/>
            </p:nvSpPr>
            <p:spPr>
              <a:xfrm>
                <a:off x="9067800" y="352425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289" name="Freeform 289"/>
              <p:cNvSpPr/>
              <p:nvPr/>
            </p:nvSpPr>
            <p:spPr>
              <a:xfrm>
                <a:off x="9144000" y="3524250"/>
                <a:ext cx="9525" cy="52388"/>
              </a:xfrm>
              <a:custGeom>
                <a:avLst/>
                <a:gdLst/>
                <a:ahLst/>
                <a:cxnLst/>
                <a:rect l="l" t="t" r="r" b="b"/>
                <a:pathLst>
                  <a:path w="9525" h="52388">
                    <a:moveTo>
                      <a:pt x="0" y="0"/>
                    </a:moveTo>
                    <a:lnTo>
                      <a:pt x="0" y="52388"/>
                    </a:lnTo>
                  </a:path>
                </a:pathLst>
              </a:custGeom>
              <a:noFill/>
              <a:ln w="9525">
                <a:solidFill>
                  <a:srgbClr val="E5907F"/>
                </a:solidFill>
              </a:ln>
            </p:spPr>
          </p:sp>
          <p:sp>
            <p:nvSpPr>
              <p:cNvPr id="290" name="Freeform 290"/>
              <p:cNvSpPr/>
              <p:nvPr/>
            </p:nvSpPr>
            <p:spPr>
              <a:xfrm>
                <a:off x="9086850" y="354330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291" name="Freeform 291"/>
              <p:cNvSpPr/>
              <p:nvPr/>
            </p:nvSpPr>
            <p:spPr>
              <a:xfrm>
                <a:off x="9105900" y="3543300"/>
                <a:ext cx="9525" cy="14288"/>
              </a:xfrm>
              <a:custGeom>
                <a:avLst/>
                <a:gdLst/>
                <a:ahLst/>
                <a:cxnLst/>
                <a:rect l="l" t="t" r="r" b="b"/>
                <a:pathLst>
                  <a:path w="9525" h="14288">
                    <a:moveTo>
                      <a:pt x="0" y="0"/>
                    </a:moveTo>
                    <a:lnTo>
                      <a:pt x="0" y="14288"/>
                    </a:lnTo>
                  </a:path>
                </a:pathLst>
              </a:custGeom>
              <a:noFill/>
              <a:ln w="9525">
                <a:solidFill>
                  <a:srgbClr val="E5907F"/>
                </a:solidFill>
              </a:ln>
            </p:spPr>
          </p:sp>
          <p:sp>
            <p:nvSpPr>
              <p:cNvPr id="292" name="Freeform 292"/>
              <p:cNvSpPr/>
              <p:nvPr/>
            </p:nvSpPr>
            <p:spPr>
              <a:xfrm>
                <a:off x="9124950" y="3543300"/>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294" name="TextBox 294"/>
            <p:cNvSpPr txBox="1"/>
            <p:nvPr/>
          </p:nvSpPr>
          <p:spPr>
            <a:xfrm>
              <a:off x="9215438" y="3481388"/>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牵头部门</a:t>
              </a:r>
            </a:p>
          </p:txBody>
        </p:sp>
        <p:sp>
          <p:nvSpPr>
            <p:cNvPr id="295" name="TextBox 295"/>
            <p:cNvSpPr txBox="1"/>
            <p:nvPr/>
          </p:nvSpPr>
          <p:spPr>
            <a:xfrm>
              <a:off x="10053638" y="3481388"/>
              <a:ext cx="514350"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国际业务部</a:t>
              </a:r>
            </a:p>
          </p:txBody>
        </p:sp>
        <p:grpSp>
          <p:nvGrpSpPr>
            <p:cNvPr id="301" name="Group 301"/>
            <p:cNvGrpSpPr/>
            <p:nvPr/>
          </p:nvGrpSpPr>
          <p:grpSpPr>
            <a:xfrm>
              <a:off x="9067800" y="3638550"/>
              <a:ext cx="76200" cy="76200"/>
              <a:chOff x="9067800" y="3638550"/>
              <a:chExt cx="76200" cy="76200"/>
            </a:xfrm>
          </p:grpSpPr>
          <p:sp>
            <p:nvSpPr>
              <p:cNvPr id="296" name="Freeform 296"/>
              <p:cNvSpPr/>
              <p:nvPr/>
            </p:nvSpPr>
            <p:spPr>
              <a:xfrm>
                <a:off x="9067800" y="3638550"/>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297" name="Freeform 297"/>
              <p:cNvSpPr/>
              <p:nvPr/>
            </p:nvSpPr>
            <p:spPr>
              <a:xfrm>
                <a:off x="9067800" y="368617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298" name="Freeform 298"/>
              <p:cNvSpPr/>
              <p:nvPr/>
            </p:nvSpPr>
            <p:spPr>
              <a:xfrm>
                <a:off x="9115425" y="3686175"/>
                <a:ext cx="28575" cy="28575"/>
              </a:xfrm>
              <a:custGeom>
                <a:avLst/>
                <a:gdLst/>
                <a:ahLst/>
                <a:cxnLst/>
                <a:rect l="l" t="t" r="r" b="b"/>
                <a:pathLst>
                  <a:path w="28575" h="28575">
                    <a:moveTo>
                      <a:pt x="0" y="4762"/>
                    </a:moveTo>
                    <a:cubicBezTo>
                      <a:pt x="0" y="2132"/>
                      <a:pt x="2132" y="0"/>
                      <a:pt x="4762" y="0"/>
                    </a:cubicBezTo>
                    <a:lnTo>
                      <a:pt x="23812" y="0"/>
                    </a:lnTo>
                    <a:cubicBezTo>
                      <a:pt x="26443" y="0"/>
                      <a:pt x="28575" y="2132"/>
                      <a:pt x="28575" y="4762"/>
                    </a:cubicBezTo>
                    <a:lnTo>
                      <a:pt x="28575" y="23812"/>
                    </a:lnTo>
                    <a:cubicBezTo>
                      <a:pt x="28575" y="26443"/>
                      <a:pt x="26443" y="28575"/>
                      <a:pt x="23812" y="28575"/>
                    </a:cubicBezTo>
                    <a:lnTo>
                      <a:pt x="4762" y="28575"/>
                    </a:lnTo>
                    <a:cubicBezTo>
                      <a:pt x="2132" y="28575"/>
                      <a:pt x="0" y="26443"/>
                      <a:pt x="0" y="23812"/>
                    </a:cubicBezTo>
                    <a:lnTo>
                      <a:pt x="0" y="4762"/>
                    </a:lnTo>
                  </a:path>
                </a:pathLst>
              </a:custGeom>
              <a:noFill/>
              <a:ln w="9525">
                <a:solidFill>
                  <a:srgbClr val="E5907F"/>
                </a:solidFill>
              </a:ln>
            </p:spPr>
          </p:sp>
          <p:sp>
            <p:nvSpPr>
              <p:cNvPr id="299" name="Freeform 299"/>
              <p:cNvSpPr/>
              <p:nvPr/>
            </p:nvSpPr>
            <p:spPr>
              <a:xfrm>
                <a:off x="9115425" y="3652838"/>
                <a:ext cx="28575" cy="9525"/>
              </a:xfrm>
              <a:custGeom>
                <a:avLst/>
                <a:gdLst/>
                <a:ahLst/>
                <a:cxnLst/>
                <a:rect l="l" t="t" r="r" b="b"/>
                <a:pathLst>
                  <a:path w="28575" h="9525">
                    <a:moveTo>
                      <a:pt x="0" y="0"/>
                    </a:moveTo>
                    <a:lnTo>
                      <a:pt x="28575" y="0"/>
                    </a:lnTo>
                  </a:path>
                </a:pathLst>
              </a:custGeom>
              <a:noFill/>
              <a:ln w="9525">
                <a:solidFill>
                  <a:srgbClr val="E5907F"/>
                </a:solidFill>
              </a:ln>
            </p:spPr>
          </p:sp>
          <p:sp>
            <p:nvSpPr>
              <p:cNvPr id="300" name="Freeform 300"/>
              <p:cNvSpPr/>
              <p:nvPr/>
            </p:nvSpPr>
            <p:spPr>
              <a:xfrm>
                <a:off x="9129712" y="3638550"/>
                <a:ext cx="9525" cy="28575"/>
              </a:xfrm>
              <a:custGeom>
                <a:avLst/>
                <a:gdLst/>
                <a:ahLst/>
                <a:cxnLst/>
                <a:rect l="l" t="t" r="r" b="b"/>
                <a:pathLst>
                  <a:path w="9525" h="28575">
                    <a:moveTo>
                      <a:pt x="0" y="0"/>
                    </a:moveTo>
                    <a:lnTo>
                      <a:pt x="0" y="28575"/>
                    </a:lnTo>
                  </a:path>
                </a:pathLst>
              </a:custGeom>
              <a:noFill/>
              <a:ln w="9525">
                <a:solidFill>
                  <a:srgbClr val="E5907F"/>
                </a:solidFill>
              </a:ln>
            </p:spPr>
          </p:sp>
        </p:grpSp>
        <p:sp>
          <p:nvSpPr>
            <p:cNvPr id="302" name="TextBox 302"/>
            <p:cNvSpPr txBox="1"/>
            <p:nvPr/>
          </p:nvSpPr>
          <p:spPr>
            <a:xfrm>
              <a:off x="9215438" y="3624262"/>
              <a:ext cx="41338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产品组合</a:t>
              </a:r>
            </a:p>
          </p:txBody>
        </p:sp>
        <p:sp>
          <p:nvSpPr>
            <p:cNvPr id="303" name="TextBox 303"/>
            <p:cNvSpPr txBox="1"/>
            <p:nvPr/>
          </p:nvSpPr>
          <p:spPr>
            <a:xfrm>
              <a:off x="9977438" y="3628311"/>
              <a:ext cx="1825549"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跨境薪酬＋外币账户＋汇率结算＋境外保障</a:t>
              </a:r>
            </a:p>
          </p:txBody>
        </p:sp>
        <p:grpSp>
          <p:nvGrpSpPr>
            <p:cNvPr id="310" name="Group 310"/>
            <p:cNvGrpSpPr/>
            <p:nvPr/>
          </p:nvGrpSpPr>
          <p:grpSpPr>
            <a:xfrm>
              <a:off x="9067800" y="3776662"/>
              <a:ext cx="76200" cy="85726"/>
              <a:chOff x="9067800" y="3776662"/>
              <a:chExt cx="76200" cy="85726"/>
            </a:xfrm>
          </p:grpSpPr>
          <p:sp>
            <p:nvSpPr>
              <p:cNvPr id="304" name="Freeform 304"/>
              <p:cNvSpPr/>
              <p:nvPr/>
            </p:nvSpPr>
            <p:spPr>
              <a:xfrm>
                <a:off x="9067800" y="3786188"/>
                <a:ext cx="76200" cy="76200"/>
              </a:xfrm>
              <a:custGeom>
                <a:avLst/>
                <a:gdLst/>
                <a:ahLst/>
                <a:cxnLst/>
                <a:rect l="l" t="t" r="r" b="b"/>
                <a:pathLst>
                  <a:path w="76200" h="76200">
                    <a:moveTo>
                      <a:pt x="0" y="9525"/>
                    </a:moveTo>
                    <a:cubicBezTo>
                      <a:pt x="0" y="4264"/>
                      <a:pt x="4264" y="0"/>
                      <a:pt x="9525" y="0"/>
                    </a:cubicBezTo>
                    <a:lnTo>
                      <a:pt x="66675" y="0"/>
                    </a:lnTo>
                    <a:cubicBezTo>
                      <a:pt x="71936" y="0"/>
                      <a:pt x="76200" y="4264"/>
                      <a:pt x="76200" y="9525"/>
                    </a:cubicBezTo>
                    <a:lnTo>
                      <a:pt x="76200" y="66675"/>
                    </a:lnTo>
                    <a:cubicBezTo>
                      <a:pt x="76200" y="71936"/>
                      <a:pt x="71936" y="76200"/>
                      <a:pt x="66675" y="76200"/>
                    </a:cubicBezTo>
                    <a:lnTo>
                      <a:pt x="9525" y="76200"/>
                    </a:lnTo>
                    <a:cubicBezTo>
                      <a:pt x="4264" y="76200"/>
                      <a:pt x="0" y="71936"/>
                      <a:pt x="0" y="66675"/>
                    </a:cubicBezTo>
                    <a:lnTo>
                      <a:pt x="0" y="9525"/>
                    </a:lnTo>
                  </a:path>
                </a:pathLst>
              </a:custGeom>
              <a:noFill/>
              <a:ln w="9525">
                <a:solidFill>
                  <a:srgbClr val="E5907F"/>
                </a:solidFill>
              </a:ln>
            </p:spPr>
          </p:sp>
          <p:sp>
            <p:nvSpPr>
              <p:cNvPr id="305" name="Freeform 305"/>
              <p:cNvSpPr/>
              <p:nvPr/>
            </p:nvSpPr>
            <p:spPr>
              <a:xfrm>
                <a:off x="9124950" y="377666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306" name="Freeform 306"/>
              <p:cNvSpPr/>
              <p:nvPr/>
            </p:nvSpPr>
            <p:spPr>
              <a:xfrm>
                <a:off x="9086850" y="3776662"/>
                <a:ext cx="9525" cy="19050"/>
              </a:xfrm>
              <a:custGeom>
                <a:avLst/>
                <a:gdLst/>
                <a:ahLst/>
                <a:cxnLst/>
                <a:rect l="l" t="t" r="r" b="b"/>
                <a:pathLst>
                  <a:path w="9525" h="19050">
                    <a:moveTo>
                      <a:pt x="0" y="0"/>
                    </a:moveTo>
                    <a:lnTo>
                      <a:pt x="0" y="19050"/>
                    </a:lnTo>
                  </a:path>
                </a:pathLst>
              </a:custGeom>
              <a:noFill/>
              <a:ln w="9525">
                <a:solidFill>
                  <a:srgbClr val="E5907F"/>
                </a:solidFill>
              </a:ln>
            </p:spPr>
          </p:sp>
          <p:sp>
            <p:nvSpPr>
              <p:cNvPr id="307" name="Freeform 307"/>
              <p:cNvSpPr/>
              <p:nvPr/>
            </p:nvSpPr>
            <p:spPr>
              <a:xfrm>
                <a:off x="9067800" y="3814762"/>
                <a:ext cx="76200" cy="9525"/>
              </a:xfrm>
              <a:custGeom>
                <a:avLst/>
                <a:gdLst/>
                <a:ahLst/>
                <a:cxnLst/>
                <a:rect l="l" t="t" r="r" b="b"/>
                <a:pathLst>
                  <a:path w="76200" h="9525">
                    <a:moveTo>
                      <a:pt x="0" y="0"/>
                    </a:moveTo>
                    <a:lnTo>
                      <a:pt x="76200" y="0"/>
                    </a:lnTo>
                  </a:path>
                </a:pathLst>
              </a:custGeom>
              <a:noFill/>
              <a:ln w="9525">
                <a:solidFill>
                  <a:srgbClr val="E5907F"/>
                </a:solidFill>
              </a:ln>
            </p:spPr>
          </p:sp>
          <p:sp>
            <p:nvSpPr>
              <p:cNvPr id="308" name="Freeform 308"/>
              <p:cNvSpPr/>
              <p:nvPr/>
            </p:nvSpPr>
            <p:spPr>
              <a:xfrm>
                <a:off x="9101138" y="3833812"/>
                <a:ext cx="9525" cy="9525"/>
              </a:xfrm>
              <a:custGeom>
                <a:avLst/>
                <a:gdLst/>
                <a:ahLst/>
                <a:cxnLst/>
                <a:rect l="l" t="t" r="r" b="b"/>
                <a:pathLst>
                  <a:path w="9525" h="9525">
                    <a:moveTo>
                      <a:pt x="0" y="0"/>
                    </a:moveTo>
                    <a:lnTo>
                      <a:pt x="4762" y="0"/>
                    </a:lnTo>
                  </a:path>
                </a:pathLst>
              </a:custGeom>
              <a:noFill/>
              <a:ln w="9525">
                <a:solidFill>
                  <a:srgbClr val="E5907F"/>
                </a:solidFill>
              </a:ln>
            </p:spPr>
          </p:sp>
          <p:sp>
            <p:nvSpPr>
              <p:cNvPr id="309" name="Freeform 309"/>
              <p:cNvSpPr/>
              <p:nvPr/>
            </p:nvSpPr>
            <p:spPr>
              <a:xfrm>
                <a:off x="9105900" y="3833812"/>
                <a:ext cx="9525" cy="14288"/>
              </a:xfrm>
              <a:custGeom>
                <a:avLst/>
                <a:gdLst/>
                <a:ahLst/>
                <a:cxnLst/>
                <a:rect l="l" t="t" r="r" b="b"/>
                <a:pathLst>
                  <a:path w="9525" h="14288">
                    <a:moveTo>
                      <a:pt x="0" y="0"/>
                    </a:moveTo>
                    <a:lnTo>
                      <a:pt x="0" y="14288"/>
                    </a:lnTo>
                  </a:path>
                </a:pathLst>
              </a:custGeom>
              <a:noFill/>
              <a:ln w="9525">
                <a:solidFill>
                  <a:srgbClr val="E5907F"/>
                </a:solidFill>
              </a:ln>
            </p:spPr>
          </p:sp>
        </p:grpSp>
        <p:sp>
          <p:nvSpPr>
            <p:cNvPr id="311" name="TextBox 311"/>
            <p:cNvSpPr txBox="1"/>
            <p:nvPr/>
          </p:nvSpPr>
          <p:spPr>
            <a:xfrm>
              <a:off x="9215438" y="3767138"/>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周期</a:t>
              </a:r>
            </a:p>
          </p:txBody>
        </p:sp>
        <p:sp>
          <p:nvSpPr>
            <p:cNvPr id="312" name="TextBox 312"/>
            <p:cNvSpPr txBox="1"/>
            <p:nvPr/>
          </p:nvSpPr>
          <p:spPr>
            <a:xfrm>
              <a:off x="10053638" y="3767138"/>
              <a:ext cx="332613" cy="147638"/>
            </a:xfrm>
            <a:prstGeom prst="rect">
              <a:avLst/>
            </a:prstGeom>
            <a:noFill/>
            <a:ln>
              <a:noFill/>
            </a:ln>
          </p:spPr>
          <p:txBody>
            <a:bodyPr wrap="none" lIns="0" tIns="0" rIns="0" bIns="0" anchor="t" anchorCtr="0">
              <a:spAutoFit/>
            </a:bodyPr>
            <a:lstStyle/>
            <a:p>
              <a:pPr algn="l"/>
              <a:r>
                <a:rPr lang="zh-CN" sz="750" dirty="0">
                  <a:solidFill>
                    <a:srgbClr val="67281B"/>
                  </a:solidFill>
                  <a:latin typeface="+mn-lt"/>
                  <a:ea typeface="+mn-ea"/>
                  <a:cs typeface="+mn-cs"/>
                </a:rPr>
                <a:t>60天​​</a:t>
              </a:r>
            </a:p>
          </p:txBody>
        </p:sp>
        <p:grpSp>
          <p:nvGrpSpPr>
            <p:cNvPr id="316" name="Group 316"/>
            <p:cNvGrpSpPr/>
            <p:nvPr/>
          </p:nvGrpSpPr>
          <p:grpSpPr>
            <a:xfrm>
              <a:off x="9063038" y="3919538"/>
              <a:ext cx="85725" cy="85725"/>
              <a:chOff x="9063038" y="3919538"/>
              <a:chExt cx="85725" cy="85725"/>
            </a:xfrm>
          </p:grpSpPr>
          <p:sp>
            <p:nvSpPr>
              <p:cNvPr id="313" name="Freeform 313"/>
              <p:cNvSpPr/>
              <p:nvPr/>
            </p:nvSpPr>
            <p:spPr>
              <a:xfrm>
                <a:off x="9101138" y="3957638"/>
                <a:ext cx="9525" cy="9525"/>
              </a:xfrm>
              <a:custGeom>
                <a:avLst/>
                <a:gdLst/>
                <a:ahLst/>
                <a:cxnLst/>
                <a:rect l="l" t="t" r="r" b="b"/>
                <a:pathLst>
                  <a:path w="9525" h="9525">
                    <a:moveTo>
                      <a:pt x="0" y="4762"/>
                    </a:moveTo>
                    <a:cubicBezTo>
                      <a:pt x="0" y="7393"/>
                      <a:pt x="2132" y="9525"/>
                      <a:pt x="4762" y="9525"/>
                    </a:cubicBezTo>
                    <a:cubicBezTo>
                      <a:pt x="7393" y="9525"/>
                      <a:pt x="9525" y="7393"/>
                      <a:pt x="9525" y="4762"/>
                    </a:cubicBezTo>
                    <a:cubicBezTo>
                      <a:pt x="9525" y="2132"/>
                      <a:pt x="7393" y="0"/>
                      <a:pt x="4762" y="0"/>
                    </a:cubicBezTo>
                    <a:cubicBezTo>
                      <a:pt x="2132" y="0"/>
                      <a:pt x="0" y="2132"/>
                      <a:pt x="0" y="4762"/>
                    </a:cubicBezTo>
                  </a:path>
                </a:pathLst>
              </a:custGeom>
              <a:noFill/>
              <a:ln w="9525">
                <a:solidFill>
                  <a:srgbClr val="E5907F"/>
                </a:solidFill>
              </a:ln>
            </p:spPr>
          </p:sp>
          <p:sp>
            <p:nvSpPr>
              <p:cNvPr id="314" name="Freeform 314"/>
              <p:cNvSpPr/>
              <p:nvPr/>
            </p:nvSpPr>
            <p:spPr>
              <a:xfrm>
                <a:off x="9082088" y="393858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9525">
                <a:solidFill>
                  <a:srgbClr val="E5907F"/>
                </a:solidFill>
              </a:ln>
            </p:spPr>
          </p:sp>
          <p:sp>
            <p:nvSpPr>
              <p:cNvPr id="315" name="Freeform 315"/>
              <p:cNvSpPr/>
              <p:nvPr/>
            </p:nvSpPr>
            <p:spPr>
              <a:xfrm>
                <a:off x="9063038" y="39195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5907F"/>
                </a:solidFill>
              </a:ln>
            </p:spPr>
          </p:sp>
        </p:grpSp>
        <p:sp>
          <p:nvSpPr>
            <p:cNvPr id="317" name="TextBox 317"/>
            <p:cNvSpPr txBox="1"/>
            <p:nvPr/>
          </p:nvSpPr>
          <p:spPr>
            <a:xfrm>
              <a:off x="9215438" y="3910012"/>
              <a:ext cx="211455" cy="147638"/>
            </a:xfrm>
            <a:prstGeom prst="rect">
              <a:avLst/>
            </a:prstGeom>
            <a:noFill/>
            <a:ln>
              <a:noFill/>
            </a:ln>
          </p:spPr>
          <p:txBody>
            <a:bodyPr wrap="none" lIns="0" tIns="0" rIns="0" bIns="0" anchor="t" anchorCtr="0">
              <a:spAutoFit/>
            </a:bodyPr>
            <a:lstStyle/>
            <a:p>
              <a:pPr algn="l"/>
              <a:r>
                <a:rPr lang="zh-CN" sz="750" dirty="0">
                  <a:solidFill>
                    <a:srgbClr val="785F5A"/>
                  </a:solidFill>
                  <a:latin typeface="+mn-lt"/>
                  <a:ea typeface="+mn-ea"/>
                  <a:cs typeface="+mn-cs"/>
                </a:rPr>
                <a:t>目标</a:t>
              </a:r>
            </a:p>
          </p:txBody>
        </p:sp>
        <p:sp>
          <p:nvSpPr>
            <p:cNvPr id="318" name="TextBox 318"/>
            <p:cNvSpPr txBox="1"/>
            <p:nvPr/>
          </p:nvSpPr>
          <p:spPr>
            <a:xfrm>
              <a:off x="10053638" y="3910012"/>
              <a:ext cx="726124" cy="147638"/>
            </a:xfrm>
            <a:prstGeom prst="rect">
              <a:avLst/>
            </a:prstGeom>
            <a:noFill/>
            <a:ln>
              <a:noFill/>
            </a:ln>
          </p:spPr>
          <p:txBody>
            <a:bodyPr wrap="none" lIns="0" tIns="0" rIns="0" bIns="0" anchor="t" anchorCtr="0">
              <a:spAutoFit/>
            </a:bodyPr>
            <a:lstStyle/>
            <a:p>
              <a:pPr algn="l"/>
              <a:r>
                <a:rPr lang="zh-CN" sz="750" b="1" dirty="0">
                  <a:solidFill>
                    <a:srgbClr val="C9462F"/>
                  </a:solidFill>
                  <a:latin typeface="+mn-lt"/>
                  <a:ea typeface="+mn-ea"/>
                  <a:cs typeface="+mn-cs"/>
                </a:rPr>
                <a:t>目标转化35%​​</a:t>
              </a:r>
            </a:p>
          </p:txBody>
        </p:sp>
      </p:grpSp>
      <p:grpSp>
        <p:nvGrpSpPr>
          <p:cNvPr id="460" name="battle-system"/>
          <p:cNvGrpSpPr/>
          <p:nvPr/>
        </p:nvGrpSpPr>
        <p:grpSpPr>
          <a:xfrm>
            <a:off x="381000" y="4191000"/>
            <a:ext cx="11315700" cy="2514600"/>
            <a:chOff x="381000" y="4191000"/>
            <a:chExt cx="11315700" cy="2514600"/>
          </a:xfrm>
        </p:grpSpPr>
        <p:sp>
          <p:nvSpPr>
            <p:cNvPr id="320" name="Freeform 320"/>
            <p:cNvSpPr/>
            <p:nvPr/>
          </p:nvSpPr>
          <p:spPr>
            <a:xfrm>
              <a:off x="381000" y="4191000"/>
              <a:ext cx="2686050" cy="323850"/>
            </a:xfrm>
            <a:prstGeom prst="homePlate">
              <a:avLst>
                <a:gd name="adj" fmla="val 40000"/>
              </a:avLst>
            </a:prstGeom>
            <a:solidFill>
              <a:srgbClr val="67281B"/>
            </a:solidFill>
            <a:ln>
              <a:noFill/>
            </a:ln>
          </p:spPr>
        </p:sp>
        <p:grpSp>
          <p:nvGrpSpPr>
            <p:cNvPr id="329" name="Group 329"/>
            <p:cNvGrpSpPr/>
            <p:nvPr/>
          </p:nvGrpSpPr>
          <p:grpSpPr>
            <a:xfrm>
              <a:off x="535781" y="4288631"/>
              <a:ext cx="130969" cy="138113"/>
              <a:chOff x="535781" y="4288631"/>
              <a:chExt cx="130969" cy="138113"/>
            </a:xfrm>
          </p:grpSpPr>
          <p:sp>
            <p:nvSpPr>
              <p:cNvPr id="321" name="Freeform 321"/>
              <p:cNvSpPr/>
              <p:nvPr/>
            </p:nvSpPr>
            <p:spPr>
              <a:xfrm>
                <a:off x="535781" y="4417219"/>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322" name="Freeform 322"/>
              <p:cNvSpPr/>
              <p:nvPr/>
            </p:nvSpPr>
            <p:spPr>
              <a:xfrm>
                <a:off x="535781" y="4338638"/>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323" name="Freeform 323"/>
              <p:cNvSpPr/>
              <p:nvPr/>
            </p:nvSpPr>
            <p:spPr>
              <a:xfrm>
                <a:off x="550069" y="4288631"/>
                <a:ext cx="100012" cy="21431"/>
              </a:xfrm>
              <a:custGeom>
                <a:avLst/>
                <a:gdLst/>
                <a:ahLst/>
                <a:cxnLst/>
                <a:rect l="l" t="t" r="r" b="b"/>
                <a:pathLst>
                  <a:path w="100012" h="21431">
                    <a:moveTo>
                      <a:pt x="0" y="21431"/>
                    </a:moveTo>
                    <a:lnTo>
                      <a:pt x="50006" y="0"/>
                    </a:lnTo>
                    <a:lnTo>
                      <a:pt x="100012" y="21431"/>
                    </a:lnTo>
                  </a:path>
                </a:pathLst>
              </a:custGeom>
              <a:noFill/>
              <a:ln w="14288">
                <a:solidFill>
                  <a:srgbClr val="FFFFFF"/>
                </a:solidFill>
              </a:ln>
            </p:spPr>
          </p:sp>
          <p:sp>
            <p:nvSpPr>
              <p:cNvPr id="324" name="Freeform 324"/>
              <p:cNvSpPr/>
              <p:nvPr/>
            </p:nvSpPr>
            <p:spPr>
              <a:xfrm>
                <a:off x="542925" y="4338638"/>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325" name="Freeform 325"/>
              <p:cNvSpPr/>
              <p:nvPr/>
            </p:nvSpPr>
            <p:spPr>
              <a:xfrm>
                <a:off x="657225" y="4338638"/>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326" name="Freeform 326"/>
              <p:cNvSpPr/>
              <p:nvPr/>
            </p:nvSpPr>
            <p:spPr>
              <a:xfrm>
                <a:off x="571500" y="4367212"/>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327" name="Freeform 327"/>
              <p:cNvSpPr/>
              <p:nvPr/>
            </p:nvSpPr>
            <p:spPr>
              <a:xfrm>
                <a:off x="600075" y="4367212"/>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328" name="Freeform 328"/>
              <p:cNvSpPr/>
              <p:nvPr/>
            </p:nvSpPr>
            <p:spPr>
              <a:xfrm>
                <a:off x="628650" y="4367212"/>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330" name="TextBox 330"/>
            <p:cNvSpPr txBox="1"/>
            <p:nvPr/>
          </p:nvSpPr>
          <p:spPr>
            <a:xfrm>
              <a:off x="776097" y="4295299"/>
              <a:ext cx="66954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总行出战法</a:t>
              </a:r>
            </a:p>
          </p:txBody>
        </p:sp>
        <p:sp>
          <p:nvSpPr>
            <p:cNvPr id="331" name="Rectangle 331"/>
            <p:cNvSpPr/>
            <p:nvPr/>
          </p:nvSpPr>
          <p:spPr>
            <a:xfrm>
              <a:off x="381000" y="4591050"/>
              <a:ext cx="2686050" cy="2114550"/>
            </a:xfrm>
            <a:prstGeom prst="roundRect">
              <a:avLst>
                <a:gd name="adj" fmla="val 3604"/>
              </a:avLst>
            </a:prstGeom>
            <a:solidFill>
              <a:srgbClr val="F9FBFE"/>
            </a:solidFill>
            <a:ln w="9525">
              <a:solidFill>
                <a:srgbClr val="C9D8EF"/>
              </a:solidFill>
            </a:ln>
          </p:spPr>
        </p:sp>
        <p:grpSp>
          <p:nvGrpSpPr>
            <p:cNvPr id="335" name="Group 335"/>
            <p:cNvGrpSpPr/>
            <p:nvPr/>
          </p:nvGrpSpPr>
          <p:grpSpPr>
            <a:xfrm>
              <a:off x="554831" y="4822031"/>
              <a:ext cx="128588" cy="128588"/>
              <a:chOff x="554831" y="4822031"/>
              <a:chExt cx="128588" cy="128588"/>
            </a:xfrm>
          </p:grpSpPr>
          <p:sp>
            <p:nvSpPr>
              <p:cNvPr id="332" name="Freeform 332"/>
              <p:cNvSpPr/>
              <p:nvPr/>
            </p:nvSpPr>
            <p:spPr>
              <a:xfrm>
                <a:off x="611981" y="48791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A8351D"/>
                </a:solidFill>
              </a:ln>
            </p:spPr>
          </p:sp>
          <p:sp>
            <p:nvSpPr>
              <p:cNvPr id="333" name="Freeform 333"/>
              <p:cNvSpPr/>
              <p:nvPr/>
            </p:nvSpPr>
            <p:spPr>
              <a:xfrm>
                <a:off x="583406" y="48506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A8351D"/>
                </a:solidFill>
              </a:ln>
            </p:spPr>
          </p:sp>
          <p:sp>
            <p:nvSpPr>
              <p:cNvPr id="334" name="Freeform 334"/>
              <p:cNvSpPr/>
              <p:nvPr/>
            </p:nvSpPr>
            <p:spPr>
              <a:xfrm>
                <a:off x="554831" y="48220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A8351D"/>
                </a:solidFill>
              </a:ln>
            </p:spPr>
          </p:sp>
        </p:grpSp>
        <p:sp>
          <p:nvSpPr>
            <p:cNvPr id="336" name="TextBox 336"/>
            <p:cNvSpPr txBox="1"/>
            <p:nvPr/>
          </p:nvSpPr>
          <p:spPr>
            <a:xfrm>
              <a:off x="795338" y="4840843"/>
              <a:ext cx="105148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统一作战策略与目标</a:t>
              </a:r>
            </a:p>
          </p:txBody>
        </p:sp>
        <p:sp>
          <p:nvSpPr>
            <p:cNvPr id="337" name="Freeform 337"/>
            <p:cNvSpPr/>
            <p:nvPr/>
          </p:nvSpPr>
          <p:spPr>
            <a:xfrm>
              <a:off x="554831" y="5260181"/>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A8351D"/>
              </a:solidFill>
            </a:ln>
          </p:spPr>
        </p:sp>
        <p:sp>
          <p:nvSpPr>
            <p:cNvPr id="338" name="TextBox 338"/>
            <p:cNvSpPr txBox="1"/>
            <p:nvPr/>
          </p:nvSpPr>
          <p:spPr>
            <a:xfrm>
              <a:off x="795338" y="5278993"/>
              <a:ext cx="105148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标准化战役包与工具</a:t>
              </a:r>
            </a:p>
          </p:txBody>
        </p:sp>
        <p:grpSp>
          <p:nvGrpSpPr>
            <p:cNvPr id="342" name="Group 342"/>
            <p:cNvGrpSpPr/>
            <p:nvPr/>
          </p:nvGrpSpPr>
          <p:grpSpPr>
            <a:xfrm>
              <a:off x="561975" y="5698331"/>
              <a:ext cx="114300" cy="128588"/>
              <a:chOff x="561975" y="5698331"/>
              <a:chExt cx="114300" cy="128588"/>
            </a:xfrm>
          </p:grpSpPr>
          <p:sp>
            <p:nvSpPr>
              <p:cNvPr id="339" name="Freeform 339"/>
              <p:cNvSpPr/>
              <p:nvPr/>
            </p:nvSpPr>
            <p:spPr>
              <a:xfrm>
                <a:off x="561975" y="569833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A8351D"/>
                </a:solidFill>
              </a:ln>
            </p:spPr>
          </p:sp>
          <p:sp>
            <p:nvSpPr>
              <p:cNvPr id="340" name="Freeform 340"/>
              <p:cNvSpPr/>
              <p:nvPr/>
            </p:nvSpPr>
            <p:spPr>
              <a:xfrm>
                <a:off x="561975" y="571976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A8351D"/>
                </a:solidFill>
              </a:ln>
            </p:spPr>
          </p:sp>
          <p:sp>
            <p:nvSpPr>
              <p:cNvPr id="341" name="Freeform 341"/>
              <p:cNvSpPr/>
              <p:nvPr/>
            </p:nvSpPr>
            <p:spPr>
              <a:xfrm>
                <a:off x="561975" y="576262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A8351D"/>
                </a:solidFill>
              </a:ln>
            </p:spPr>
          </p:sp>
        </p:grpSp>
        <p:sp>
          <p:nvSpPr>
            <p:cNvPr id="343" name="TextBox 343"/>
            <p:cNvSpPr txBox="1"/>
            <p:nvPr/>
          </p:nvSpPr>
          <p:spPr>
            <a:xfrm>
              <a:off x="795338" y="5717143"/>
              <a:ext cx="105148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数据模型与名单规则</a:t>
              </a:r>
            </a:p>
          </p:txBody>
        </p:sp>
        <p:grpSp>
          <p:nvGrpSpPr>
            <p:cNvPr id="349" name="Group 349"/>
            <p:cNvGrpSpPr/>
            <p:nvPr/>
          </p:nvGrpSpPr>
          <p:grpSpPr>
            <a:xfrm>
              <a:off x="554831" y="6135524"/>
              <a:ext cx="128588" cy="129544"/>
              <a:chOff x="554831" y="6135524"/>
              <a:chExt cx="128588" cy="129544"/>
            </a:xfrm>
          </p:grpSpPr>
          <p:sp>
            <p:nvSpPr>
              <p:cNvPr id="344" name="Freeform 344"/>
              <p:cNvSpPr/>
              <p:nvPr/>
            </p:nvSpPr>
            <p:spPr>
              <a:xfrm>
                <a:off x="597694" y="619363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A8351D"/>
                </a:solidFill>
              </a:ln>
            </p:spPr>
          </p:sp>
          <p:sp>
            <p:nvSpPr>
              <p:cNvPr id="345" name="Freeform 345"/>
              <p:cNvSpPr/>
              <p:nvPr/>
            </p:nvSpPr>
            <p:spPr>
              <a:xfrm>
                <a:off x="597694" y="621506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A8351D"/>
                </a:solidFill>
              </a:ln>
            </p:spPr>
          </p:sp>
          <p:sp>
            <p:nvSpPr>
              <p:cNvPr id="346" name="Freeform 346"/>
              <p:cNvSpPr/>
              <p:nvPr/>
            </p:nvSpPr>
            <p:spPr>
              <a:xfrm>
                <a:off x="554831" y="613552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A8351D"/>
                </a:solidFill>
              </a:ln>
            </p:spPr>
          </p:sp>
          <p:sp>
            <p:nvSpPr>
              <p:cNvPr id="347" name="Freeform 347"/>
              <p:cNvSpPr/>
              <p:nvPr/>
            </p:nvSpPr>
            <p:spPr>
              <a:xfrm>
                <a:off x="554831" y="615791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A8351D"/>
                </a:solidFill>
              </a:ln>
            </p:spPr>
          </p:sp>
          <p:sp>
            <p:nvSpPr>
              <p:cNvPr id="348" name="Freeform 348"/>
              <p:cNvSpPr/>
              <p:nvPr/>
            </p:nvSpPr>
            <p:spPr>
              <a:xfrm>
                <a:off x="554831" y="619363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A8351D"/>
                </a:solidFill>
              </a:ln>
            </p:spPr>
          </p:sp>
        </p:grpSp>
        <p:sp>
          <p:nvSpPr>
            <p:cNvPr id="350" name="TextBox 350"/>
            <p:cNvSpPr txBox="1"/>
            <p:nvPr/>
          </p:nvSpPr>
          <p:spPr>
            <a:xfrm>
              <a:off x="795338" y="6155293"/>
              <a:ext cx="105148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资源配置与政策支持</a:t>
              </a:r>
            </a:p>
          </p:txBody>
        </p:sp>
        <p:sp>
          <p:nvSpPr>
            <p:cNvPr id="351" name="Freeform 351"/>
            <p:cNvSpPr/>
            <p:nvPr/>
          </p:nvSpPr>
          <p:spPr>
            <a:xfrm>
              <a:off x="3076575" y="5353050"/>
              <a:ext cx="171450" cy="152400"/>
            </a:xfrm>
            <a:prstGeom prst="rightArrow">
              <a:avLst/>
            </a:prstGeom>
            <a:solidFill>
              <a:srgbClr val="E5907F"/>
            </a:solidFill>
            <a:ln>
              <a:noFill/>
            </a:ln>
          </p:spPr>
        </p:sp>
        <p:sp>
          <p:nvSpPr>
            <p:cNvPr id="352" name="Freeform 352"/>
            <p:cNvSpPr/>
            <p:nvPr/>
          </p:nvSpPr>
          <p:spPr>
            <a:xfrm>
              <a:off x="3257550" y="4191000"/>
              <a:ext cx="2686050" cy="323850"/>
            </a:xfrm>
            <a:prstGeom prst="homePlate">
              <a:avLst>
                <a:gd name="adj" fmla="val 40000"/>
              </a:avLst>
            </a:prstGeom>
            <a:solidFill>
              <a:srgbClr val="A8351D"/>
            </a:solidFill>
            <a:ln>
              <a:noFill/>
            </a:ln>
          </p:spPr>
        </p:sp>
        <p:grpSp>
          <p:nvGrpSpPr>
            <p:cNvPr id="360" name="Group 360"/>
            <p:cNvGrpSpPr/>
            <p:nvPr/>
          </p:nvGrpSpPr>
          <p:grpSpPr>
            <a:xfrm>
              <a:off x="3412331" y="4288631"/>
              <a:ext cx="128588" cy="138113"/>
              <a:chOff x="3412331" y="4288631"/>
              <a:chExt cx="128588" cy="138113"/>
            </a:xfrm>
          </p:grpSpPr>
          <p:sp>
            <p:nvSpPr>
              <p:cNvPr id="353" name="Freeform 353"/>
              <p:cNvSpPr/>
              <p:nvPr/>
            </p:nvSpPr>
            <p:spPr>
              <a:xfrm>
                <a:off x="3412331" y="4417219"/>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354" name="Freeform 354"/>
              <p:cNvSpPr/>
              <p:nvPr/>
            </p:nvSpPr>
            <p:spPr>
              <a:xfrm>
                <a:off x="3426619" y="4288631"/>
                <a:ext cx="57150" cy="128588"/>
              </a:xfrm>
              <a:custGeom>
                <a:avLst/>
                <a:gdLst/>
                <a:ahLst/>
                <a:cxnLst/>
                <a:rect l="l" t="t" r="r" b="b"/>
                <a:pathLst>
                  <a:path w="57150" h="128588">
                    <a:moveTo>
                      <a:pt x="0" y="128588"/>
                    </a:moveTo>
                    <a:lnTo>
                      <a:pt x="0" y="28575"/>
                    </a:lnTo>
                    <a:lnTo>
                      <a:pt x="57150" y="0"/>
                    </a:lnTo>
                    <a:lnTo>
                      <a:pt x="57150" y="128588"/>
                    </a:lnTo>
                  </a:path>
                </a:pathLst>
              </a:custGeom>
              <a:noFill/>
              <a:ln w="14288">
                <a:solidFill>
                  <a:srgbClr val="FFFFFF"/>
                </a:solidFill>
              </a:ln>
            </p:spPr>
          </p:sp>
          <p:sp>
            <p:nvSpPr>
              <p:cNvPr id="355" name="Freeform 355"/>
              <p:cNvSpPr/>
              <p:nvPr/>
            </p:nvSpPr>
            <p:spPr>
              <a:xfrm>
                <a:off x="3483769" y="4317206"/>
                <a:ext cx="42862" cy="100012"/>
              </a:xfrm>
              <a:custGeom>
                <a:avLst/>
                <a:gdLst/>
                <a:ahLst/>
                <a:cxnLst/>
                <a:rect l="l" t="t" r="r" b="b"/>
                <a:pathLst>
                  <a:path w="42862" h="100012">
                    <a:moveTo>
                      <a:pt x="42862" y="100012"/>
                    </a:moveTo>
                    <a:lnTo>
                      <a:pt x="42862" y="28575"/>
                    </a:lnTo>
                    <a:lnTo>
                      <a:pt x="0" y="0"/>
                    </a:lnTo>
                  </a:path>
                </a:pathLst>
              </a:custGeom>
              <a:noFill/>
              <a:ln w="14288">
                <a:solidFill>
                  <a:srgbClr val="FFFFFF"/>
                </a:solidFill>
              </a:ln>
            </p:spPr>
          </p:sp>
          <p:sp>
            <p:nvSpPr>
              <p:cNvPr id="356" name="Freeform 356"/>
              <p:cNvSpPr/>
              <p:nvPr/>
            </p:nvSpPr>
            <p:spPr>
              <a:xfrm>
                <a:off x="3455194" y="4331494"/>
                <a:ext cx="9525" cy="9525"/>
              </a:xfrm>
              <a:custGeom>
                <a:avLst/>
                <a:gdLst/>
                <a:ahLst/>
                <a:cxnLst/>
                <a:rect l="l" t="t" r="r" b="b"/>
                <a:pathLst>
                  <a:path w="9525" h="9525">
                    <a:moveTo>
                      <a:pt x="0" y="0"/>
                    </a:moveTo>
                    <a:lnTo>
                      <a:pt x="0" y="71"/>
                    </a:lnTo>
                  </a:path>
                </a:pathLst>
              </a:custGeom>
              <a:noFill/>
              <a:ln w="14288">
                <a:solidFill>
                  <a:srgbClr val="FFFFFF"/>
                </a:solidFill>
              </a:ln>
            </p:spPr>
          </p:sp>
          <p:sp>
            <p:nvSpPr>
              <p:cNvPr id="357" name="Freeform 357"/>
              <p:cNvSpPr/>
              <p:nvPr/>
            </p:nvSpPr>
            <p:spPr>
              <a:xfrm>
                <a:off x="3455194" y="4352925"/>
                <a:ext cx="9525" cy="9525"/>
              </a:xfrm>
              <a:custGeom>
                <a:avLst/>
                <a:gdLst/>
                <a:ahLst/>
                <a:cxnLst/>
                <a:rect l="l" t="t" r="r" b="b"/>
                <a:pathLst>
                  <a:path w="9525" h="9525">
                    <a:moveTo>
                      <a:pt x="0" y="0"/>
                    </a:moveTo>
                    <a:lnTo>
                      <a:pt x="0" y="71"/>
                    </a:lnTo>
                  </a:path>
                </a:pathLst>
              </a:custGeom>
              <a:noFill/>
              <a:ln w="14288">
                <a:solidFill>
                  <a:srgbClr val="FFFFFF"/>
                </a:solidFill>
              </a:ln>
            </p:spPr>
          </p:sp>
          <p:sp>
            <p:nvSpPr>
              <p:cNvPr id="358" name="Freeform 358"/>
              <p:cNvSpPr/>
              <p:nvPr/>
            </p:nvSpPr>
            <p:spPr>
              <a:xfrm>
                <a:off x="3455194" y="4374356"/>
                <a:ext cx="9525" cy="9525"/>
              </a:xfrm>
              <a:custGeom>
                <a:avLst/>
                <a:gdLst/>
                <a:ahLst/>
                <a:cxnLst/>
                <a:rect l="l" t="t" r="r" b="b"/>
                <a:pathLst>
                  <a:path w="9525" h="9525">
                    <a:moveTo>
                      <a:pt x="0" y="0"/>
                    </a:moveTo>
                    <a:lnTo>
                      <a:pt x="0" y="71"/>
                    </a:lnTo>
                  </a:path>
                </a:pathLst>
              </a:custGeom>
              <a:noFill/>
              <a:ln w="14288">
                <a:solidFill>
                  <a:srgbClr val="FFFFFF"/>
                </a:solidFill>
              </a:ln>
            </p:spPr>
          </p:sp>
          <p:sp>
            <p:nvSpPr>
              <p:cNvPr id="359" name="Freeform 359"/>
              <p:cNvSpPr/>
              <p:nvPr/>
            </p:nvSpPr>
            <p:spPr>
              <a:xfrm>
                <a:off x="3455194" y="4395788"/>
                <a:ext cx="9525" cy="9525"/>
              </a:xfrm>
              <a:custGeom>
                <a:avLst/>
                <a:gdLst/>
                <a:ahLst/>
                <a:cxnLst/>
                <a:rect l="l" t="t" r="r" b="b"/>
                <a:pathLst>
                  <a:path w="9525" h="9525">
                    <a:moveTo>
                      <a:pt x="0" y="0"/>
                    </a:moveTo>
                    <a:lnTo>
                      <a:pt x="0" y="71"/>
                    </a:lnTo>
                  </a:path>
                </a:pathLst>
              </a:custGeom>
              <a:noFill/>
              <a:ln w="14288">
                <a:solidFill>
                  <a:srgbClr val="FFFFFF"/>
                </a:solidFill>
              </a:ln>
            </p:spPr>
          </p:sp>
        </p:grpSp>
        <p:sp>
          <p:nvSpPr>
            <p:cNvPr id="361" name="TextBox 361"/>
            <p:cNvSpPr txBox="1"/>
            <p:nvPr/>
          </p:nvSpPr>
          <p:spPr>
            <a:xfrm>
              <a:off x="3652647" y="4295299"/>
              <a:ext cx="66954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分行选战场</a:t>
              </a:r>
            </a:p>
          </p:txBody>
        </p:sp>
        <p:sp>
          <p:nvSpPr>
            <p:cNvPr id="362" name="Rectangle 362"/>
            <p:cNvSpPr/>
            <p:nvPr/>
          </p:nvSpPr>
          <p:spPr>
            <a:xfrm>
              <a:off x="3257550" y="4591050"/>
              <a:ext cx="2686050" cy="2114550"/>
            </a:xfrm>
            <a:prstGeom prst="roundRect">
              <a:avLst>
                <a:gd name="adj" fmla="val 3604"/>
              </a:avLst>
            </a:prstGeom>
            <a:solidFill>
              <a:srgbClr val="F9FBFE"/>
            </a:solidFill>
            <a:ln w="9525">
              <a:solidFill>
                <a:srgbClr val="C9D8EF"/>
              </a:solidFill>
            </a:ln>
          </p:spPr>
        </p:sp>
        <p:grpSp>
          <p:nvGrpSpPr>
            <p:cNvPr id="365" name="Group 365"/>
            <p:cNvGrpSpPr/>
            <p:nvPr/>
          </p:nvGrpSpPr>
          <p:grpSpPr>
            <a:xfrm>
              <a:off x="3432945" y="4816454"/>
              <a:ext cx="125460" cy="139023"/>
              <a:chOff x="3432945" y="4816454"/>
              <a:chExt cx="125460" cy="139023"/>
            </a:xfrm>
          </p:grpSpPr>
          <p:sp>
            <p:nvSpPr>
              <p:cNvPr id="363" name="Freeform 363"/>
              <p:cNvSpPr/>
              <p:nvPr/>
            </p:nvSpPr>
            <p:spPr>
              <a:xfrm>
                <a:off x="3474244" y="4857750"/>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A8351D"/>
                </a:solidFill>
              </a:ln>
            </p:spPr>
          </p:sp>
          <p:sp>
            <p:nvSpPr>
              <p:cNvPr id="364" name="Freeform 364"/>
              <p:cNvSpPr/>
              <p:nvPr/>
            </p:nvSpPr>
            <p:spPr>
              <a:xfrm>
                <a:off x="3432945" y="4816454"/>
                <a:ext cx="125460" cy="139023"/>
              </a:xfrm>
              <a:custGeom>
                <a:avLst/>
                <a:gdLst/>
                <a:ahLst/>
                <a:cxnLst/>
                <a:rect l="l" t="t" r="r" b="b"/>
                <a:pathLst>
                  <a:path w="125460" h="139023">
                    <a:moveTo>
                      <a:pt x="103142" y="103140"/>
                    </a:moveTo>
                    <a:lnTo>
                      <a:pt x="72831" y="133451"/>
                    </a:lnTo>
                    <a:cubicBezTo>
                      <a:pt x="67253" y="139023"/>
                      <a:pt x="58214" y="139023"/>
                      <a:pt x="52636" y="133451"/>
                    </a:cubicBezTo>
                    <a:lnTo>
                      <a:pt x="22318" y="103140"/>
                    </a:lnTo>
                    <a:cubicBezTo>
                      <a:pt x="0" y="80821"/>
                      <a:pt x="1" y="44636"/>
                      <a:pt x="22319" y="22318"/>
                    </a:cubicBezTo>
                    <a:cubicBezTo>
                      <a:pt x="44637" y="0"/>
                      <a:pt x="80822" y="0"/>
                      <a:pt x="103141" y="22318"/>
                    </a:cubicBezTo>
                    <a:cubicBezTo>
                      <a:pt x="125459" y="44636"/>
                      <a:pt x="125460" y="80821"/>
                      <a:pt x="103142" y="103140"/>
                    </a:cubicBezTo>
                  </a:path>
                </a:pathLst>
              </a:custGeom>
              <a:noFill/>
              <a:ln w="14288">
                <a:solidFill>
                  <a:srgbClr val="A8351D"/>
                </a:solidFill>
              </a:ln>
            </p:spPr>
          </p:sp>
        </p:grpSp>
        <p:sp>
          <p:nvSpPr>
            <p:cNvPr id="366" name="TextBox 366"/>
            <p:cNvSpPr txBox="1"/>
            <p:nvPr/>
          </p:nvSpPr>
          <p:spPr>
            <a:xfrm>
              <a:off x="3671888" y="4840843"/>
              <a:ext cx="1283030"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结合区域客群与产业特征</a:t>
              </a:r>
            </a:p>
          </p:txBody>
        </p:sp>
        <p:sp>
          <p:nvSpPr>
            <p:cNvPr id="367" name="Freeform 367"/>
            <p:cNvSpPr/>
            <p:nvPr/>
          </p:nvSpPr>
          <p:spPr>
            <a:xfrm>
              <a:off x="3438525" y="5267325"/>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A8351D"/>
              </a:solidFill>
            </a:ln>
          </p:spPr>
        </p:sp>
        <p:sp>
          <p:nvSpPr>
            <p:cNvPr id="368" name="TextBox 368"/>
            <p:cNvSpPr txBox="1"/>
            <p:nvPr/>
          </p:nvSpPr>
          <p:spPr>
            <a:xfrm>
              <a:off x="3671888" y="5278993"/>
              <a:ext cx="1283030"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选择优先战役与目标客群</a:t>
              </a:r>
            </a:p>
          </p:txBody>
        </p:sp>
        <p:grpSp>
          <p:nvGrpSpPr>
            <p:cNvPr id="375" name="Group 375"/>
            <p:cNvGrpSpPr/>
            <p:nvPr/>
          </p:nvGrpSpPr>
          <p:grpSpPr>
            <a:xfrm>
              <a:off x="3438525" y="5698331"/>
              <a:ext cx="114300" cy="128588"/>
              <a:chOff x="3438525" y="5698331"/>
              <a:chExt cx="114300" cy="128588"/>
            </a:xfrm>
          </p:grpSpPr>
          <p:sp>
            <p:nvSpPr>
              <p:cNvPr id="369" name="Freeform 369"/>
              <p:cNvSpPr/>
              <p:nvPr/>
            </p:nvSpPr>
            <p:spPr>
              <a:xfrm>
                <a:off x="3438525" y="5712619"/>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A8351D"/>
                </a:solidFill>
              </a:ln>
            </p:spPr>
          </p:sp>
          <p:sp>
            <p:nvSpPr>
              <p:cNvPr id="370" name="Freeform 370"/>
              <p:cNvSpPr/>
              <p:nvPr/>
            </p:nvSpPr>
            <p:spPr>
              <a:xfrm>
                <a:off x="3524250" y="5698331"/>
                <a:ext cx="9525" cy="28575"/>
              </a:xfrm>
              <a:custGeom>
                <a:avLst/>
                <a:gdLst/>
                <a:ahLst/>
                <a:cxnLst/>
                <a:rect l="l" t="t" r="r" b="b"/>
                <a:pathLst>
                  <a:path w="9525" h="28575">
                    <a:moveTo>
                      <a:pt x="0" y="0"/>
                    </a:moveTo>
                    <a:lnTo>
                      <a:pt x="0" y="28575"/>
                    </a:lnTo>
                  </a:path>
                </a:pathLst>
              </a:custGeom>
              <a:noFill/>
              <a:ln w="14288">
                <a:solidFill>
                  <a:srgbClr val="A8351D"/>
                </a:solidFill>
              </a:ln>
            </p:spPr>
          </p:sp>
          <p:sp>
            <p:nvSpPr>
              <p:cNvPr id="371" name="Freeform 371"/>
              <p:cNvSpPr/>
              <p:nvPr/>
            </p:nvSpPr>
            <p:spPr>
              <a:xfrm>
                <a:off x="3467100" y="5698331"/>
                <a:ext cx="9525" cy="28575"/>
              </a:xfrm>
              <a:custGeom>
                <a:avLst/>
                <a:gdLst/>
                <a:ahLst/>
                <a:cxnLst/>
                <a:rect l="l" t="t" r="r" b="b"/>
                <a:pathLst>
                  <a:path w="9525" h="28575">
                    <a:moveTo>
                      <a:pt x="0" y="0"/>
                    </a:moveTo>
                    <a:lnTo>
                      <a:pt x="0" y="28575"/>
                    </a:lnTo>
                  </a:path>
                </a:pathLst>
              </a:custGeom>
              <a:noFill/>
              <a:ln w="14288">
                <a:solidFill>
                  <a:srgbClr val="A8351D"/>
                </a:solidFill>
              </a:ln>
            </p:spPr>
          </p:sp>
          <p:sp>
            <p:nvSpPr>
              <p:cNvPr id="372" name="Freeform 372"/>
              <p:cNvSpPr/>
              <p:nvPr/>
            </p:nvSpPr>
            <p:spPr>
              <a:xfrm>
                <a:off x="3438525" y="5755481"/>
                <a:ext cx="114300" cy="9525"/>
              </a:xfrm>
              <a:custGeom>
                <a:avLst/>
                <a:gdLst/>
                <a:ahLst/>
                <a:cxnLst/>
                <a:rect l="l" t="t" r="r" b="b"/>
                <a:pathLst>
                  <a:path w="114300" h="9525">
                    <a:moveTo>
                      <a:pt x="0" y="0"/>
                    </a:moveTo>
                    <a:lnTo>
                      <a:pt x="114300" y="0"/>
                    </a:lnTo>
                  </a:path>
                </a:pathLst>
              </a:custGeom>
              <a:noFill/>
              <a:ln w="14288">
                <a:solidFill>
                  <a:srgbClr val="A8351D"/>
                </a:solidFill>
              </a:ln>
            </p:spPr>
          </p:sp>
          <p:sp>
            <p:nvSpPr>
              <p:cNvPr id="373" name="Freeform 373"/>
              <p:cNvSpPr/>
              <p:nvPr/>
            </p:nvSpPr>
            <p:spPr>
              <a:xfrm>
                <a:off x="3488531" y="5784056"/>
                <a:ext cx="9525" cy="9525"/>
              </a:xfrm>
              <a:custGeom>
                <a:avLst/>
                <a:gdLst/>
                <a:ahLst/>
                <a:cxnLst/>
                <a:rect l="l" t="t" r="r" b="b"/>
                <a:pathLst>
                  <a:path w="9525" h="9525">
                    <a:moveTo>
                      <a:pt x="0" y="0"/>
                    </a:moveTo>
                    <a:lnTo>
                      <a:pt x="7144" y="0"/>
                    </a:lnTo>
                  </a:path>
                </a:pathLst>
              </a:custGeom>
              <a:noFill/>
              <a:ln w="14288">
                <a:solidFill>
                  <a:srgbClr val="A8351D"/>
                </a:solidFill>
              </a:ln>
            </p:spPr>
          </p:sp>
          <p:sp>
            <p:nvSpPr>
              <p:cNvPr id="374" name="Freeform 374"/>
              <p:cNvSpPr/>
              <p:nvPr/>
            </p:nvSpPr>
            <p:spPr>
              <a:xfrm>
                <a:off x="3495675" y="5784056"/>
                <a:ext cx="9525" cy="21431"/>
              </a:xfrm>
              <a:custGeom>
                <a:avLst/>
                <a:gdLst/>
                <a:ahLst/>
                <a:cxnLst/>
                <a:rect l="l" t="t" r="r" b="b"/>
                <a:pathLst>
                  <a:path w="9525" h="21431">
                    <a:moveTo>
                      <a:pt x="0" y="0"/>
                    </a:moveTo>
                    <a:lnTo>
                      <a:pt x="0" y="21431"/>
                    </a:lnTo>
                  </a:path>
                </a:pathLst>
              </a:custGeom>
              <a:noFill/>
              <a:ln w="14288">
                <a:solidFill>
                  <a:srgbClr val="A8351D"/>
                </a:solidFill>
              </a:ln>
            </p:spPr>
          </p:sp>
        </p:grpSp>
        <p:sp>
          <p:nvSpPr>
            <p:cNvPr id="376" name="TextBox 376"/>
            <p:cNvSpPr txBox="1"/>
            <p:nvPr/>
          </p:nvSpPr>
          <p:spPr>
            <a:xfrm>
              <a:off x="3671888" y="5717143"/>
              <a:ext cx="1283030"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制定区域作战计划与目标</a:t>
              </a:r>
            </a:p>
          </p:txBody>
        </p:sp>
        <p:grpSp>
          <p:nvGrpSpPr>
            <p:cNvPr id="383" name="Group 383"/>
            <p:cNvGrpSpPr/>
            <p:nvPr/>
          </p:nvGrpSpPr>
          <p:grpSpPr>
            <a:xfrm>
              <a:off x="3431381" y="6136481"/>
              <a:ext cx="128588" cy="128588"/>
              <a:chOff x="3431381" y="6136481"/>
              <a:chExt cx="128588" cy="128588"/>
            </a:xfrm>
          </p:grpSpPr>
          <p:sp>
            <p:nvSpPr>
              <p:cNvPr id="377" name="Freeform 377"/>
              <p:cNvSpPr/>
              <p:nvPr/>
            </p:nvSpPr>
            <p:spPr>
              <a:xfrm>
                <a:off x="3481388" y="61936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8351D"/>
                </a:solidFill>
              </a:ln>
            </p:spPr>
          </p:sp>
          <p:sp>
            <p:nvSpPr>
              <p:cNvPr id="378" name="Freeform 378"/>
              <p:cNvSpPr/>
              <p:nvPr/>
            </p:nvSpPr>
            <p:spPr>
              <a:xfrm>
                <a:off x="3467100" y="624363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A8351D"/>
                </a:solidFill>
              </a:ln>
            </p:spPr>
          </p:sp>
          <p:sp>
            <p:nvSpPr>
              <p:cNvPr id="379" name="Freeform 379"/>
              <p:cNvSpPr/>
              <p:nvPr/>
            </p:nvSpPr>
            <p:spPr>
              <a:xfrm>
                <a:off x="3517106" y="61364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8351D"/>
                </a:solidFill>
              </a:ln>
            </p:spPr>
          </p:sp>
          <p:sp>
            <p:nvSpPr>
              <p:cNvPr id="380" name="Freeform 380"/>
              <p:cNvSpPr/>
              <p:nvPr/>
            </p:nvSpPr>
            <p:spPr>
              <a:xfrm>
                <a:off x="3531394" y="618648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A8351D"/>
                </a:solidFill>
              </a:ln>
            </p:spPr>
          </p:sp>
          <p:sp>
            <p:nvSpPr>
              <p:cNvPr id="381" name="Freeform 381"/>
              <p:cNvSpPr/>
              <p:nvPr/>
            </p:nvSpPr>
            <p:spPr>
              <a:xfrm>
                <a:off x="3445669" y="61364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8351D"/>
                </a:solidFill>
              </a:ln>
            </p:spPr>
          </p:sp>
          <p:sp>
            <p:nvSpPr>
              <p:cNvPr id="382" name="Freeform 382"/>
              <p:cNvSpPr/>
              <p:nvPr/>
            </p:nvSpPr>
            <p:spPr>
              <a:xfrm>
                <a:off x="3431381" y="618648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A8351D"/>
                </a:solidFill>
              </a:ln>
            </p:spPr>
          </p:sp>
        </p:grpSp>
        <p:sp>
          <p:nvSpPr>
            <p:cNvPr id="384" name="TextBox 384"/>
            <p:cNvSpPr txBox="1"/>
            <p:nvPr/>
          </p:nvSpPr>
          <p:spPr>
            <a:xfrm>
              <a:off x="3671888" y="6155293"/>
              <a:ext cx="105148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配置团队与资源保障</a:t>
              </a:r>
            </a:p>
          </p:txBody>
        </p:sp>
        <p:sp>
          <p:nvSpPr>
            <p:cNvPr id="385" name="Freeform 385"/>
            <p:cNvSpPr/>
            <p:nvPr/>
          </p:nvSpPr>
          <p:spPr>
            <a:xfrm>
              <a:off x="5953125" y="5353050"/>
              <a:ext cx="171450" cy="152400"/>
            </a:xfrm>
            <a:prstGeom prst="rightArrow">
              <a:avLst/>
            </a:prstGeom>
            <a:solidFill>
              <a:srgbClr val="E5907F"/>
            </a:solidFill>
            <a:ln>
              <a:noFill/>
            </a:ln>
          </p:spPr>
        </p:sp>
        <p:sp>
          <p:nvSpPr>
            <p:cNvPr id="386" name="Freeform 386"/>
            <p:cNvSpPr/>
            <p:nvPr/>
          </p:nvSpPr>
          <p:spPr>
            <a:xfrm>
              <a:off x="6134100" y="4191000"/>
              <a:ext cx="2686050" cy="323850"/>
            </a:xfrm>
            <a:prstGeom prst="homePlate">
              <a:avLst>
                <a:gd name="adj" fmla="val 40000"/>
              </a:avLst>
            </a:prstGeom>
            <a:solidFill>
              <a:srgbClr val="D64A2E"/>
            </a:solidFill>
            <a:ln>
              <a:noFill/>
            </a:ln>
          </p:spPr>
        </p:sp>
        <p:grpSp>
          <p:nvGrpSpPr>
            <p:cNvPr id="392" name="Group 392"/>
            <p:cNvGrpSpPr/>
            <p:nvPr/>
          </p:nvGrpSpPr>
          <p:grpSpPr>
            <a:xfrm>
              <a:off x="6288881" y="4288631"/>
              <a:ext cx="128588" cy="128588"/>
              <a:chOff x="6288881" y="4288631"/>
              <a:chExt cx="128588" cy="128588"/>
            </a:xfrm>
          </p:grpSpPr>
          <p:sp>
            <p:nvSpPr>
              <p:cNvPr id="387" name="Freeform 387"/>
              <p:cNvSpPr/>
              <p:nvPr/>
            </p:nvSpPr>
            <p:spPr>
              <a:xfrm>
                <a:off x="6288881" y="4288631"/>
                <a:ext cx="128588" cy="128588"/>
              </a:xfrm>
              <a:custGeom>
                <a:avLst/>
                <a:gdLst/>
                <a:ahLst/>
                <a:cxnLst/>
                <a:rect l="l" t="t" r="r" b="b"/>
                <a:pathLst>
                  <a:path w="128588" h="128588">
                    <a:moveTo>
                      <a:pt x="35719" y="42862"/>
                    </a:moveTo>
                    <a:lnTo>
                      <a:pt x="71438" y="78581"/>
                    </a:lnTo>
                    <a:lnTo>
                      <a:pt x="71438" y="128588"/>
                    </a:lnTo>
                    <a:lnTo>
                      <a:pt x="35719" y="128588"/>
                    </a:lnTo>
                    <a:lnTo>
                      <a:pt x="35719" y="100012"/>
                    </a:lnTo>
                    <a:moveTo>
                      <a:pt x="35719" y="128588"/>
                    </a:moveTo>
                    <a:lnTo>
                      <a:pt x="0" y="128588"/>
                    </a:lnTo>
                    <a:lnTo>
                      <a:pt x="0" y="78581"/>
                    </a:lnTo>
                    <a:lnTo>
                      <a:pt x="35719" y="42862"/>
                    </a:lnTo>
                    <a:moveTo>
                      <a:pt x="42862" y="50006"/>
                    </a:moveTo>
                    <a:lnTo>
                      <a:pt x="42862" y="7144"/>
                    </a:lnTo>
                    <a:cubicBezTo>
                      <a:pt x="42862" y="3198"/>
                      <a:pt x="46061" y="0"/>
                      <a:pt x="50006" y="0"/>
                    </a:cubicBezTo>
                    <a:lnTo>
                      <a:pt x="121444" y="0"/>
                    </a:lnTo>
                    <a:cubicBezTo>
                      <a:pt x="125389" y="0"/>
                      <a:pt x="128588" y="3198"/>
                      <a:pt x="128588" y="7144"/>
                    </a:cubicBezTo>
                    <a:lnTo>
                      <a:pt x="128588" y="128588"/>
                    </a:lnTo>
                    <a:lnTo>
                      <a:pt x="71438" y="128588"/>
                    </a:lnTo>
                  </a:path>
                </a:pathLst>
              </a:custGeom>
              <a:noFill/>
              <a:ln w="14288">
                <a:solidFill>
                  <a:srgbClr val="FFFFFF"/>
                </a:solidFill>
              </a:ln>
            </p:spPr>
          </p:sp>
          <p:sp>
            <p:nvSpPr>
              <p:cNvPr id="388" name="Freeform 388"/>
              <p:cNvSpPr/>
              <p:nvPr/>
            </p:nvSpPr>
            <p:spPr>
              <a:xfrm>
                <a:off x="6360319" y="4317206"/>
                <a:ext cx="9525" cy="9525"/>
              </a:xfrm>
              <a:custGeom>
                <a:avLst/>
                <a:gdLst/>
                <a:ahLst/>
                <a:cxnLst/>
                <a:rect l="l" t="t" r="r" b="b"/>
                <a:pathLst>
                  <a:path w="9525" h="9525">
                    <a:moveTo>
                      <a:pt x="0" y="0"/>
                    </a:moveTo>
                    <a:lnTo>
                      <a:pt x="0" y="71"/>
                    </a:lnTo>
                  </a:path>
                </a:pathLst>
              </a:custGeom>
              <a:noFill/>
              <a:ln w="14288">
                <a:solidFill>
                  <a:srgbClr val="FFFFFF"/>
                </a:solidFill>
              </a:ln>
            </p:spPr>
          </p:sp>
          <p:sp>
            <p:nvSpPr>
              <p:cNvPr id="389" name="Freeform 389"/>
              <p:cNvSpPr/>
              <p:nvPr/>
            </p:nvSpPr>
            <p:spPr>
              <a:xfrm>
                <a:off x="6388894" y="4317206"/>
                <a:ext cx="9525" cy="9525"/>
              </a:xfrm>
              <a:custGeom>
                <a:avLst/>
                <a:gdLst/>
                <a:ahLst/>
                <a:cxnLst/>
                <a:rect l="l" t="t" r="r" b="b"/>
                <a:pathLst>
                  <a:path w="9525" h="9525">
                    <a:moveTo>
                      <a:pt x="0" y="0"/>
                    </a:moveTo>
                    <a:lnTo>
                      <a:pt x="0" y="71"/>
                    </a:lnTo>
                  </a:path>
                </a:pathLst>
              </a:custGeom>
              <a:noFill/>
              <a:ln w="14288">
                <a:solidFill>
                  <a:srgbClr val="FFFFFF"/>
                </a:solidFill>
              </a:ln>
            </p:spPr>
          </p:sp>
          <p:sp>
            <p:nvSpPr>
              <p:cNvPr id="390" name="Freeform 390"/>
              <p:cNvSpPr/>
              <p:nvPr/>
            </p:nvSpPr>
            <p:spPr>
              <a:xfrm>
                <a:off x="6388894" y="4345781"/>
                <a:ext cx="9525" cy="9525"/>
              </a:xfrm>
              <a:custGeom>
                <a:avLst/>
                <a:gdLst/>
                <a:ahLst/>
                <a:cxnLst/>
                <a:rect l="l" t="t" r="r" b="b"/>
                <a:pathLst>
                  <a:path w="9525" h="9525">
                    <a:moveTo>
                      <a:pt x="0" y="0"/>
                    </a:moveTo>
                    <a:lnTo>
                      <a:pt x="0" y="71"/>
                    </a:lnTo>
                  </a:path>
                </a:pathLst>
              </a:custGeom>
              <a:noFill/>
              <a:ln w="14288">
                <a:solidFill>
                  <a:srgbClr val="FFFFFF"/>
                </a:solidFill>
              </a:ln>
            </p:spPr>
          </p:sp>
          <p:sp>
            <p:nvSpPr>
              <p:cNvPr id="391" name="Freeform 391"/>
              <p:cNvSpPr/>
              <p:nvPr/>
            </p:nvSpPr>
            <p:spPr>
              <a:xfrm>
                <a:off x="6388894" y="4374356"/>
                <a:ext cx="9525" cy="9525"/>
              </a:xfrm>
              <a:custGeom>
                <a:avLst/>
                <a:gdLst/>
                <a:ahLst/>
                <a:cxnLst/>
                <a:rect l="l" t="t" r="r" b="b"/>
                <a:pathLst>
                  <a:path w="9525" h="9525">
                    <a:moveTo>
                      <a:pt x="0" y="0"/>
                    </a:moveTo>
                    <a:lnTo>
                      <a:pt x="0" y="71"/>
                    </a:lnTo>
                  </a:path>
                </a:pathLst>
              </a:custGeom>
              <a:noFill/>
              <a:ln w="14288">
                <a:solidFill>
                  <a:srgbClr val="FFFFFF"/>
                </a:solidFill>
              </a:ln>
            </p:spPr>
          </p:sp>
        </p:grpSp>
        <p:sp>
          <p:nvSpPr>
            <p:cNvPr id="393" name="TextBox 393"/>
            <p:cNvSpPr txBox="1"/>
            <p:nvPr/>
          </p:nvSpPr>
          <p:spPr>
            <a:xfrm>
              <a:off x="6529197" y="4295299"/>
              <a:ext cx="66954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支行打战役</a:t>
              </a:r>
            </a:p>
          </p:txBody>
        </p:sp>
        <p:sp>
          <p:nvSpPr>
            <p:cNvPr id="394" name="Rectangle 394"/>
            <p:cNvSpPr/>
            <p:nvPr/>
          </p:nvSpPr>
          <p:spPr>
            <a:xfrm>
              <a:off x="6134100" y="4591050"/>
              <a:ext cx="2686050" cy="2114550"/>
            </a:xfrm>
            <a:prstGeom prst="roundRect">
              <a:avLst>
                <a:gd name="adj" fmla="val 3604"/>
              </a:avLst>
            </a:prstGeom>
            <a:solidFill>
              <a:srgbClr val="F9FBFE"/>
            </a:solidFill>
            <a:ln w="9525">
              <a:solidFill>
                <a:srgbClr val="C9D8EF"/>
              </a:solidFill>
            </a:ln>
          </p:spPr>
        </p:sp>
        <p:grpSp>
          <p:nvGrpSpPr>
            <p:cNvPr id="401" name="Group 401"/>
            <p:cNvGrpSpPr/>
            <p:nvPr/>
          </p:nvGrpSpPr>
          <p:grpSpPr>
            <a:xfrm>
              <a:off x="6311503" y="4832747"/>
              <a:ext cx="117872" cy="105966"/>
              <a:chOff x="6311503" y="4832747"/>
              <a:chExt cx="117872" cy="105966"/>
            </a:xfrm>
          </p:grpSpPr>
          <p:sp>
            <p:nvSpPr>
              <p:cNvPr id="395" name="Freeform 395"/>
              <p:cNvSpPr/>
              <p:nvPr/>
            </p:nvSpPr>
            <p:spPr>
              <a:xfrm>
                <a:off x="6311503" y="4832747"/>
                <a:ext cx="28575" cy="17859"/>
              </a:xfrm>
              <a:custGeom>
                <a:avLst/>
                <a:gdLst/>
                <a:ahLst/>
                <a:cxnLst/>
                <a:rect l="l" t="t" r="r" b="b"/>
                <a:pathLst>
                  <a:path w="28575" h="17859">
                    <a:moveTo>
                      <a:pt x="0" y="7144"/>
                    </a:moveTo>
                    <a:lnTo>
                      <a:pt x="10716" y="17859"/>
                    </a:lnTo>
                    <a:lnTo>
                      <a:pt x="28575" y="0"/>
                    </a:lnTo>
                  </a:path>
                </a:pathLst>
              </a:custGeom>
              <a:noFill/>
              <a:ln w="14288">
                <a:solidFill>
                  <a:srgbClr val="A8351D"/>
                </a:solidFill>
              </a:ln>
            </p:spPr>
          </p:sp>
          <p:sp>
            <p:nvSpPr>
              <p:cNvPr id="396" name="Freeform 396"/>
              <p:cNvSpPr/>
              <p:nvPr/>
            </p:nvSpPr>
            <p:spPr>
              <a:xfrm>
                <a:off x="6311503" y="4875609"/>
                <a:ext cx="28575" cy="17859"/>
              </a:xfrm>
              <a:custGeom>
                <a:avLst/>
                <a:gdLst/>
                <a:ahLst/>
                <a:cxnLst/>
                <a:rect l="l" t="t" r="r" b="b"/>
                <a:pathLst>
                  <a:path w="28575" h="17859">
                    <a:moveTo>
                      <a:pt x="0" y="7144"/>
                    </a:moveTo>
                    <a:lnTo>
                      <a:pt x="10716" y="17859"/>
                    </a:lnTo>
                    <a:lnTo>
                      <a:pt x="28575" y="0"/>
                    </a:lnTo>
                  </a:path>
                </a:pathLst>
              </a:custGeom>
              <a:noFill/>
              <a:ln w="14288">
                <a:solidFill>
                  <a:srgbClr val="A8351D"/>
                </a:solidFill>
              </a:ln>
            </p:spPr>
          </p:sp>
          <p:sp>
            <p:nvSpPr>
              <p:cNvPr id="397" name="Freeform 397"/>
              <p:cNvSpPr/>
              <p:nvPr/>
            </p:nvSpPr>
            <p:spPr>
              <a:xfrm>
                <a:off x="6311503" y="4918472"/>
                <a:ext cx="28575" cy="17859"/>
              </a:xfrm>
              <a:custGeom>
                <a:avLst/>
                <a:gdLst/>
                <a:ahLst/>
                <a:cxnLst/>
                <a:rect l="l" t="t" r="r" b="b"/>
                <a:pathLst>
                  <a:path w="28575" h="17859">
                    <a:moveTo>
                      <a:pt x="0" y="7144"/>
                    </a:moveTo>
                    <a:lnTo>
                      <a:pt x="10716" y="17859"/>
                    </a:lnTo>
                    <a:lnTo>
                      <a:pt x="28575" y="0"/>
                    </a:lnTo>
                  </a:path>
                </a:pathLst>
              </a:custGeom>
              <a:noFill/>
              <a:ln w="14288">
                <a:solidFill>
                  <a:srgbClr val="A8351D"/>
                </a:solidFill>
              </a:ln>
            </p:spPr>
          </p:sp>
          <p:sp>
            <p:nvSpPr>
              <p:cNvPr id="398" name="Freeform 398"/>
              <p:cNvSpPr/>
              <p:nvPr/>
            </p:nvSpPr>
            <p:spPr>
              <a:xfrm>
                <a:off x="6365081" y="4843462"/>
                <a:ext cx="64294" cy="9525"/>
              </a:xfrm>
              <a:custGeom>
                <a:avLst/>
                <a:gdLst/>
                <a:ahLst/>
                <a:cxnLst/>
                <a:rect l="l" t="t" r="r" b="b"/>
                <a:pathLst>
                  <a:path w="64294" h="9525">
                    <a:moveTo>
                      <a:pt x="0" y="0"/>
                    </a:moveTo>
                    <a:lnTo>
                      <a:pt x="64294" y="0"/>
                    </a:lnTo>
                  </a:path>
                </a:pathLst>
              </a:custGeom>
              <a:noFill/>
              <a:ln w="14288">
                <a:solidFill>
                  <a:srgbClr val="A8351D"/>
                </a:solidFill>
              </a:ln>
            </p:spPr>
          </p:sp>
          <p:sp>
            <p:nvSpPr>
              <p:cNvPr id="399" name="Freeform 399"/>
              <p:cNvSpPr/>
              <p:nvPr/>
            </p:nvSpPr>
            <p:spPr>
              <a:xfrm>
                <a:off x="6365081" y="4886325"/>
                <a:ext cx="64294" cy="9525"/>
              </a:xfrm>
              <a:custGeom>
                <a:avLst/>
                <a:gdLst/>
                <a:ahLst/>
                <a:cxnLst/>
                <a:rect l="l" t="t" r="r" b="b"/>
                <a:pathLst>
                  <a:path w="64294" h="9525">
                    <a:moveTo>
                      <a:pt x="0" y="0"/>
                    </a:moveTo>
                    <a:lnTo>
                      <a:pt x="64294" y="0"/>
                    </a:lnTo>
                  </a:path>
                </a:pathLst>
              </a:custGeom>
              <a:noFill/>
              <a:ln w="14288">
                <a:solidFill>
                  <a:srgbClr val="A8351D"/>
                </a:solidFill>
              </a:ln>
            </p:spPr>
          </p:sp>
          <p:sp>
            <p:nvSpPr>
              <p:cNvPr id="400" name="Freeform 400"/>
              <p:cNvSpPr/>
              <p:nvPr/>
            </p:nvSpPr>
            <p:spPr>
              <a:xfrm>
                <a:off x="6365081" y="4929188"/>
                <a:ext cx="64294" cy="9525"/>
              </a:xfrm>
              <a:custGeom>
                <a:avLst/>
                <a:gdLst/>
                <a:ahLst/>
                <a:cxnLst/>
                <a:rect l="l" t="t" r="r" b="b"/>
                <a:pathLst>
                  <a:path w="64294" h="9525">
                    <a:moveTo>
                      <a:pt x="0" y="0"/>
                    </a:moveTo>
                    <a:lnTo>
                      <a:pt x="64294" y="0"/>
                    </a:lnTo>
                  </a:path>
                </a:pathLst>
              </a:custGeom>
              <a:noFill/>
              <a:ln w="14288">
                <a:solidFill>
                  <a:srgbClr val="A8351D"/>
                </a:solidFill>
              </a:ln>
            </p:spPr>
          </p:sp>
        </p:grpSp>
        <p:sp>
          <p:nvSpPr>
            <p:cNvPr id="402" name="TextBox 402"/>
            <p:cNvSpPr txBox="1"/>
            <p:nvPr/>
          </p:nvSpPr>
          <p:spPr>
            <a:xfrm>
              <a:off x="6548438" y="4840843"/>
              <a:ext cx="105148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名单筛选与客户分层</a:t>
              </a:r>
            </a:p>
          </p:txBody>
        </p:sp>
        <p:grpSp>
          <p:nvGrpSpPr>
            <p:cNvPr id="405" name="Group 405"/>
            <p:cNvGrpSpPr/>
            <p:nvPr/>
          </p:nvGrpSpPr>
          <p:grpSpPr>
            <a:xfrm>
              <a:off x="6307931" y="5260181"/>
              <a:ext cx="128587" cy="128587"/>
              <a:chOff x="6307931" y="5260181"/>
              <a:chExt cx="128587" cy="128587"/>
            </a:xfrm>
          </p:grpSpPr>
          <p:sp>
            <p:nvSpPr>
              <p:cNvPr id="403" name="Freeform 403"/>
              <p:cNvSpPr/>
              <p:nvPr/>
            </p:nvSpPr>
            <p:spPr>
              <a:xfrm>
                <a:off x="6307931" y="5260181"/>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A8351D"/>
                </a:solidFill>
              </a:ln>
            </p:spPr>
          </p:sp>
          <p:sp>
            <p:nvSpPr>
              <p:cNvPr id="404" name="Freeform 404"/>
              <p:cNvSpPr/>
              <p:nvPr/>
            </p:nvSpPr>
            <p:spPr>
              <a:xfrm>
                <a:off x="6393656" y="5345906"/>
                <a:ext cx="42862" cy="42862"/>
              </a:xfrm>
              <a:custGeom>
                <a:avLst/>
                <a:gdLst/>
                <a:ahLst/>
                <a:cxnLst/>
                <a:rect l="l" t="t" r="r" b="b"/>
                <a:pathLst>
                  <a:path w="42862" h="42862">
                    <a:moveTo>
                      <a:pt x="42862" y="42862"/>
                    </a:moveTo>
                    <a:lnTo>
                      <a:pt x="0" y="0"/>
                    </a:lnTo>
                  </a:path>
                </a:pathLst>
              </a:custGeom>
              <a:noFill/>
              <a:ln w="14288">
                <a:solidFill>
                  <a:srgbClr val="A8351D"/>
                </a:solidFill>
              </a:ln>
            </p:spPr>
          </p:sp>
        </p:grpSp>
        <p:sp>
          <p:nvSpPr>
            <p:cNvPr id="406" name="TextBox 406"/>
            <p:cNvSpPr txBox="1"/>
            <p:nvPr/>
          </p:nvSpPr>
          <p:spPr>
            <a:xfrm>
              <a:off x="6548438" y="5278993"/>
              <a:ext cx="105148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触达执行与需求挖掘</a:t>
              </a:r>
            </a:p>
          </p:txBody>
        </p:sp>
        <p:grpSp>
          <p:nvGrpSpPr>
            <p:cNvPr id="411" name="Group 411"/>
            <p:cNvGrpSpPr/>
            <p:nvPr/>
          </p:nvGrpSpPr>
          <p:grpSpPr>
            <a:xfrm>
              <a:off x="6315075" y="5705475"/>
              <a:ext cx="114299" cy="114299"/>
              <a:chOff x="6315075" y="5705475"/>
              <a:chExt cx="114299" cy="114299"/>
            </a:xfrm>
          </p:grpSpPr>
          <p:sp>
            <p:nvSpPr>
              <p:cNvPr id="407" name="Freeform 407"/>
              <p:cNvSpPr/>
              <p:nvPr/>
            </p:nvSpPr>
            <p:spPr>
              <a:xfrm>
                <a:off x="6315075" y="5705475"/>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A8351D"/>
                </a:solidFill>
              </a:ln>
            </p:spPr>
          </p:sp>
          <p:sp>
            <p:nvSpPr>
              <p:cNvPr id="408" name="Freeform 408"/>
              <p:cNvSpPr/>
              <p:nvPr/>
            </p:nvSpPr>
            <p:spPr>
              <a:xfrm>
                <a:off x="6386512" y="5705475"/>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A8351D"/>
                </a:solidFill>
              </a:ln>
            </p:spPr>
          </p:sp>
          <p:sp>
            <p:nvSpPr>
              <p:cNvPr id="409" name="Freeform 409"/>
              <p:cNvSpPr/>
              <p:nvPr/>
            </p:nvSpPr>
            <p:spPr>
              <a:xfrm>
                <a:off x="6315075" y="5776912"/>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A8351D"/>
                </a:solidFill>
              </a:ln>
            </p:spPr>
          </p:sp>
          <p:sp>
            <p:nvSpPr>
              <p:cNvPr id="410" name="Freeform 410"/>
              <p:cNvSpPr/>
              <p:nvPr/>
            </p:nvSpPr>
            <p:spPr>
              <a:xfrm>
                <a:off x="6386512" y="5776912"/>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A8351D"/>
                </a:solidFill>
              </a:ln>
            </p:spPr>
          </p:sp>
        </p:grpSp>
        <p:sp>
          <p:nvSpPr>
            <p:cNvPr id="412" name="TextBox 412"/>
            <p:cNvSpPr txBox="1"/>
            <p:nvPr/>
          </p:nvSpPr>
          <p:spPr>
            <a:xfrm>
              <a:off x="6548438" y="5717143"/>
              <a:ext cx="105148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方案匹配与产品组合</a:t>
              </a:r>
            </a:p>
          </p:txBody>
        </p:sp>
        <p:grpSp>
          <p:nvGrpSpPr>
            <p:cNvPr id="415" name="Group 415"/>
            <p:cNvGrpSpPr/>
            <p:nvPr/>
          </p:nvGrpSpPr>
          <p:grpSpPr>
            <a:xfrm>
              <a:off x="6307931" y="6165056"/>
              <a:ext cx="128588" cy="71438"/>
              <a:chOff x="6307931" y="6165056"/>
              <a:chExt cx="128588" cy="71438"/>
            </a:xfrm>
          </p:grpSpPr>
          <p:sp>
            <p:nvSpPr>
              <p:cNvPr id="413" name="Freeform 413"/>
              <p:cNvSpPr/>
              <p:nvPr/>
            </p:nvSpPr>
            <p:spPr>
              <a:xfrm>
                <a:off x="6307931" y="61650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A8351D"/>
                </a:solidFill>
              </a:ln>
            </p:spPr>
          </p:sp>
          <p:sp>
            <p:nvSpPr>
              <p:cNvPr id="414" name="Freeform 414"/>
              <p:cNvSpPr/>
              <p:nvPr/>
            </p:nvSpPr>
            <p:spPr>
              <a:xfrm>
                <a:off x="6386512" y="6165056"/>
                <a:ext cx="50006" cy="50006"/>
              </a:xfrm>
              <a:custGeom>
                <a:avLst/>
                <a:gdLst/>
                <a:ahLst/>
                <a:cxnLst/>
                <a:rect l="l" t="t" r="r" b="b"/>
                <a:pathLst>
                  <a:path w="50006" h="50006">
                    <a:moveTo>
                      <a:pt x="0" y="0"/>
                    </a:moveTo>
                    <a:lnTo>
                      <a:pt x="50006" y="0"/>
                    </a:lnTo>
                    <a:lnTo>
                      <a:pt x="50006" y="50006"/>
                    </a:lnTo>
                  </a:path>
                </a:pathLst>
              </a:custGeom>
              <a:noFill/>
              <a:ln w="14288">
                <a:solidFill>
                  <a:srgbClr val="A8351D"/>
                </a:solidFill>
              </a:ln>
            </p:spPr>
          </p:sp>
        </p:grpSp>
        <p:sp>
          <p:nvSpPr>
            <p:cNvPr id="416" name="TextBox 416"/>
            <p:cNvSpPr txBox="1"/>
            <p:nvPr/>
          </p:nvSpPr>
          <p:spPr>
            <a:xfrm>
              <a:off x="6548438" y="6155293"/>
              <a:ext cx="1051484"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跟进转化与目标达成</a:t>
              </a:r>
            </a:p>
          </p:txBody>
        </p:sp>
        <p:sp>
          <p:nvSpPr>
            <p:cNvPr id="417" name="Freeform 417"/>
            <p:cNvSpPr/>
            <p:nvPr/>
          </p:nvSpPr>
          <p:spPr>
            <a:xfrm>
              <a:off x="8829675" y="5353050"/>
              <a:ext cx="171450" cy="152400"/>
            </a:xfrm>
            <a:prstGeom prst="rightArrow">
              <a:avLst/>
            </a:prstGeom>
            <a:solidFill>
              <a:srgbClr val="E5907F"/>
            </a:solidFill>
            <a:ln>
              <a:noFill/>
            </a:ln>
          </p:spPr>
        </p:sp>
        <p:sp>
          <p:nvSpPr>
            <p:cNvPr id="418" name="Rectangle 418"/>
            <p:cNvSpPr/>
            <p:nvPr/>
          </p:nvSpPr>
          <p:spPr>
            <a:xfrm>
              <a:off x="9010650" y="4191000"/>
              <a:ext cx="2686050" cy="323850"/>
            </a:xfrm>
            <a:prstGeom prst="roundRect">
              <a:avLst>
                <a:gd name="adj" fmla="val 11765"/>
              </a:avLst>
            </a:prstGeom>
            <a:solidFill>
              <a:srgbClr val="A5280F"/>
            </a:solidFill>
            <a:ln>
              <a:noFill/>
            </a:ln>
          </p:spPr>
        </p:sp>
        <p:sp>
          <p:nvSpPr>
            <p:cNvPr id="419" name="TextBox 419"/>
            <p:cNvSpPr txBox="1"/>
            <p:nvPr/>
          </p:nvSpPr>
          <p:spPr>
            <a:xfrm>
              <a:off x="10018903" y="429529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标准战役包</a:t>
              </a:r>
            </a:p>
          </p:txBody>
        </p:sp>
        <p:sp>
          <p:nvSpPr>
            <p:cNvPr id="420" name="Rectangle 420"/>
            <p:cNvSpPr/>
            <p:nvPr/>
          </p:nvSpPr>
          <p:spPr>
            <a:xfrm>
              <a:off x="9010650" y="4591050"/>
              <a:ext cx="2686050" cy="2114550"/>
            </a:xfrm>
            <a:prstGeom prst="roundRect">
              <a:avLst>
                <a:gd name="adj" fmla="val 3604"/>
              </a:avLst>
            </a:prstGeom>
            <a:solidFill>
              <a:srgbClr val="F9FBFE"/>
            </a:solidFill>
            <a:ln w="9525">
              <a:solidFill>
                <a:srgbClr val="C9D8EF"/>
              </a:solidFill>
            </a:ln>
          </p:spPr>
        </p:sp>
        <p:sp>
          <p:nvSpPr>
            <p:cNvPr id="421" name="Rectangle 421"/>
            <p:cNvSpPr/>
            <p:nvPr/>
          </p:nvSpPr>
          <p:spPr>
            <a:xfrm>
              <a:off x="9086850" y="4686300"/>
              <a:ext cx="819150" cy="933450"/>
            </a:xfrm>
            <a:prstGeom prst="roundRect">
              <a:avLst>
                <a:gd name="adj" fmla="val 6977"/>
              </a:avLst>
            </a:prstGeom>
            <a:solidFill>
              <a:srgbClr val="FFFFFF"/>
            </a:solidFill>
            <a:ln w="9525">
              <a:solidFill>
                <a:srgbClr val="C9D8EF"/>
              </a:solidFill>
            </a:ln>
          </p:spPr>
        </p:sp>
        <p:grpSp>
          <p:nvGrpSpPr>
            <p:cNvPr id="428" name="Group 428"/>
            <p:cNvGrpSpPr/>
            <p:nvPr/>
          </p:nvGrpSpPr>
          <p:grpSpPr>
            <a:xfrm>
              <a:off x="9415462" y="4881562"/>
              <a:ext cx="157163" cy="138113"/>
              <a:chOff x="9415462" y="4881562"/>
              <a:chExt cx="157163" cy="138113"/>
            </a:xfrm>
          </p:grpSpPr>
          <p:sp>
            <p:nvSpPr>
              <p:cNvPr id="422" name="Freeform 422"/>
              <p:cNvSpPr/>
              <p:nvPr/>
            </p:nvSpPr>
            <p:spPr>
              <a:xfrm>
                <a:off x="9415462" y="4881562"/>
                <a:ext cx="38100" cy="23812"/>
              </a:xfrm>
              <a:custGeom>
                <a:avLst/>
                <a:gdLst/>
                <a:ahLst/>
                <a:cxnLst/>
                <a:rect l="l" t="t" r="r" b="b"/>
                <a:pathLst>
                  <a:path w="38100" h="23812">
                    <a:moveTo>
                      <a:pt x="0" y="9525"/>
                    </a:moveTo>
                    <a:lnTo>
                      <a:pt x="14288" y="23812"/>
                    </a:lnTo>
                    <a:lnTo>
                      <a:pt x="38100" y="0"/>
                    </a:lnTo>
                  </a:path>
                </a:pathLst>
              </a:custGeom>
              <a:noFill/>
              <a:ln w="19050">
                <a:solidFill>
                  <a:srgbClr val="A8351D"/>
                </a:solidFill>
              </a:ln>
            </p:spPr>
          </p:sp>
          <p:sp>
            <p:nvSpPr>
              <p:cNvPr id="423" name="Freeform 423"/>
              <p:cNvSpPr/>
              <p:nvPr/>
            </p:nvSpPr>
            <p:spPr>
              <a:xfrm>
                <a:off x="9415462" y="4938712"/>
                <a:ext cx="38100" cy="23812"/>
              </a:xfrm>
              <a:custGeom>
                <a:avLst/>
                <a:gdLst/>
                <a:ahLst/>
                <a:cxnLst/>
                <a:rect l="l" t="t" r="r" b="b"/>
                <a:pathLst>
                  <a:path w="38100" h="23812">
                    <a:moveTo>
                      <a:pt x="0" y="9525"/>
                    </a:moveTo>
                    <a:lnTo>
                      <a:pt x="14288" y="23812"/>
                    </a:lnTo>
                    <a:lnTo>
                      <a:pt x="38100" y="0"/>
                    </a:lnTo>
                  </a:path>
                </a:pathLst>
              </a:custGeom>
              <a:noFill/>
              <a:ln w="19050">
                <a:solidFill>
                  <a:srgbClr val="A8351D"/>
                </a:solidFill>
              </a:ln>
            </p:spPr>
          </p:sp>
          <p:sp>
            <p:nvSpPr>
              <p:cNvPr id="424" name="Freeform 424"/>
              <p:cNvSpPr/>
              <p:nvPr/>
            </p:nvSpPr>
            <p:spPr>
              <a:xfrm>
                <a:off x="9415462" y="4995862"/>
                <a:ext cx="38100" cy="23812"/>
              </a:xfrm>
              <a:custGeom>
                <a:avLst/>
                <a:gdLst/>
                <a:ahLst/>
                <a:cxnLst/>
                <a:rect l="l" t="t" r="r" b="b"/>
                <a:pathLst>
                  <a:path w="38100" h="23812">
                    <a:moveTo>
                      <a:pt x="0" y="9525"/>
                    </a:moveTo>
                    <a:lnTo>
                      <a:pt x="14288" y="23812"/>
                    </a:lnTo>
                    <a:lnTo>
                      <a:pt x="38100" y="0"/>
                    </a:lnTo>
                  </a:path>
                </a:pathLst>
              </a:custGeom>
              <a:noFill/>
              <a:ln w="19050">
                <a:solidFill>
                  <a:srgbClr val="A8351D"/>
                </a:solidFill>
              </a:ln>
            </p:spPr>
          </p:sp>
          <p:sp>
            <p:nvSpPr>
              <p:cNvPr id="425" name="Freeform 425"/>
              <p:cNvSpPr/>
              <p:nvPr/>
            </p:nvSpPr>
            <p:spPr>
              <a:xfrm>
                <a:off x="9486900" y="4895850"/>
                <a:ext cx="85725" cy="9525"/>
              </a:xfrm>
              <a:custGeom>
                <a:avLst/>
                <a:gdLst/>
                <a:ahLst/>
                <a:cxnLst/>
                <a:rect l="l" t="t" r="r" b="b"/>
                <a:pathLst>
                  <a:path w="85725" h="9525">
                    <a:moveTo>
                      <a:pt x="0" y="0"/>
                    </a:moveTo>
                    <a:lnTo>
                      <a:pt x="85725" y="0"/>
                    </a:lnTo>
                  </a:path>
                </a:pathLst>
              </a:custGeom>
              <a:noFill/>
              <a:ln w="19050">
                <a:solidFill>
                  <a:srgbClr val="A8351D"/>
                </a:solidFill>
              </a:ln>
            </p:spPr>
          </p:sp>
          <p:sp>
            <p:nvSpPr>
              <p:cNvPr id="426" name="Freeform 426"/>
              <p:cNvSpPr/>
              <p:nvPr/>
            </p:nvSpPr>
            <p:spPr>
              <a:xfrm>
                <a:off x="9486900" y="4953000"/>
                <a:ext cx="85725" cy="9525"/>
              </a:xfrm>
              <a:custGeom>
                <a:avLst/>
                <a:gdLst/>
                <a:ahLst/>
                <a:cxnLst/>
                <a:rect l="l" t="t" r="r" b="b"/>
                <a:pathLst>
                  <a:path w="85725" h="9525">
                    <a:moveTo>
                      <a:pt x="0" y="0"/>
                    </a:moveTo>
                    <a:lnTo>
                      <a:pt x="85725" y="0"/>
                    </a:lnTo>
                  </a:path>
                </a:pathLst>
              </a:custGeom>
              <a:noFill/>
              <a:ln w="19050">
                <a:solidFill>
                  <a:srgbClr val="A8351D"/>
                </a:solidFill>
              </a:ln>
            </p:spPr>
          </p:sp>
          <p:sp>
            <p:nvSpPr>
              <p:cNvPr id="427" name="Freeform 427"/>
              <p:cNvSpPr/>
              <p:nvPr/>
            </p:nvSpPr>
            <p:spPr>
              <a:xfrm>
                <a:off x="9486900" y="5010150"/>
                <a:ext cx="85725" cy="9525"/>
              </a:xfrm>
              <a:custGeom>
                <a:avLst/>
                <a:gdLst/>
                <a:ahLst/>
                <a:cxnLst/>
                <a:rect l="l" t="t" r="r" b="b"/>
                <a:pathLst>
                  <a:path w="85725" h="9525">
                    <a:moveTo>
                      <a:pt x="0" y="0"/>
                    </a:moveTo>
                    <a:lnTo>
                      <a:pt x="85725" y="0"/>
                    </a:lnTo>
                  </a:path>
                </a:pathLst>
              </a:custGeom>
              <a:noFill/>
              <a:ln w="19050">
                <a:solidFill>
                  <a:srgbClr val="A8351D"/>
                </a:solidFill>
              </a:ln>
            </p:spPr>
          </p:sp>
        </p:grpSp>
        <p:sp>
          <p:nvSpPr>
            <p:cNvPr id="429" name="TextBox 429"/>
            <p:cNvSpPr txBox="1"/>
            <p:nvPr/>
          </p:nvSpPr>
          <p:spPr>
            <a:xfrm>
              <a:off x="9278963" y="53061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目标名单</a:t>
              </a:r>
            </a:p>
          </p:txBody>
        </p:sp>
        <p:sp>
          <p:nvSpPr>
            <p:cNvPr id="430" name="Rectangle 430"/>
            <p:cNvSpPr/>
            <p:nvPr/>
          </p:nvSpPr>
          <p:spPr>
            <a:xfrm>
              <a:off x="9944100" y="4686300"/>
              <a:ext cx="819150" cy="933450"/>
            </a:xfrm>
            <a:prstGeom prst="roundRect">
              <a:avLst>
                <a:gd name="adj" fmla="val 6977"/>
              </a:avLst>
            </a:prstGeom>
            <a:solidFill>
              <a:srgbClr val="FFFFFF"/>
            </a:solidFill>
            <a:ln w="9525">
              <a:solidFill>
                <a:srgbClr val="C9D8EF"/>
              </a:solidFill>
            </a:ln>
          </p:spPr>
        </p:sp>
        <p:sp>
          <p:nvSpPr>
            <p:cNvPr id="431" name="Freeform 431"/>
            <p:cNvSpPr/>
            <p:nvPr/>
          </p:nvSpPr>
          <p:spPr>
            <a:xfrm>
              <a:off x="10258196" y="4869418"/>
              <a:ext cx="190157" cy="168564"/>
            </a:xfrm>
            <a:custGeom>
              <a:avLst/>
              <a:gdLst/>
              <a:ahLst/>
              <a:cxnLst/>
              <a:rect l="l" t="t" r="r" b="b"/>
              <a:pathLst>
                <a:path w="190157" h="168564">
                  <a:moveTo>
                    <a:pt x="9754" y="159782"/>
                  </a:moveTo>
                  <a:lnTo>
                    <a:pt x="22136" y="122634"/>
                  </a:lnTo>
                  <a:cubicBezTo>
                    <a:pt x="0" y="89897"/>
                    <a:pt x="8553" y="47654"/>
                    <a:pt x="42139" y="23822"/>
                  </a:cubicBezTo>
                  <a:cubicBezTo>
                    <a:pt x="75724" y="0"/>
                    <a:pt x="123958" y="1953"/>
                    <a:pt x="154962" y="28394"/>
                  </a:cubicBezTo>
                  <a:cubicBezTo>
                    <a:pt x="185966" y="54845"/>
                    <a:pt x="190157" y="97603"/>
                    <a:pt x="164763" y="128416"/>
                  </a:cubicBezTo>
                  <a:cubicBezTo>
                    <a:pt x="139370" y="159229"/>
                    <a:pt x="92231" y="168564"/>
                    <a:pt x="54521" y="150257"/>
                  </a:cubicBezTo>
                  <a:lnTo>
                    <a:pt x="9754" y="159782"/>
                  </a:lnTo>
                </a:path>
              </a:pathLst>
            </a:custGeom>
            <a:noFill/>
            <a:ln w="19050">
              <a:solidFill>
                <a:srgbClr val="A8351D"/>
              </a:solidFill>
            </a:ln>
          </p:spPr>
        </p:sp>
        <p:sp>
          <p:nvSpPr>
            <p:cNvPr id="432" name="TextBox 432"/>
            <p:cNvSpPr txBox="1"/>
            <p:nvPr/>
          </p:nvSpPr>
          <p:spPr>
            <a:xfrm>
              <a:off x="10136213" y="53061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触达脚本</a:t>
              </a:r>
            </a:p>
          </p:txBody>
        </p:sp>
        <p:sp>
          <p:nvSpPr>
            <p:cNvPr id="433" name="Rectangle 433"/>
            <p:cNvSpPr/>
            <p:nvPr/>
          </p:nvSpPr>
          <p:spPr>
            <a:xfrm>
              <a:off x="10801350" y="4686300"/>
              <a:ext cx="819150" cy="933450"/>
            </a:xfrm>
            <a:prstGeom prst="roundRect">
              <a:avLst>
                <a:gd name="adj" fmla="val 6977"/>
              </a:avLst>
            </a:prstGeom>
            <a:solidFill>
              <a:srgbClr val="FFFFFF"/>
            </a:solidFill>
            <a:ln w="9525">
              <a:solidFill>
                <a:srgbClr val="C9D8EF"/>
              </a:solidFill>
            </a:ln>
          </p:spPr>
        </p:sp>
        <p:grpSp>
          <p:nvGrpSpPr>
            <p:cNvPr id="439" name="Group 439"/>
            <p:cNvGrpSpPr/>
            <p:nvPr/>
          </p:nvGrpSpPr>
          <p:grpSpPr>
            <a:xfrm>
              <a:off x="11144250" y="4867275"/>
              <a:ext cx="133350" cy="171450"/>
              <a:chOff x="11144250" y="4867275"/>
              <a:chExt cx="133350" cy="171450"/>
            </a:xfrm>
          </p:grpSpPr>
          <p:sp>
            <p:nvSpPr>
              <p:cNvPr id="434" name="Freeform 434"/>
              <p:cNvSpPr/>
              <p:nvPr/>
            </p:nvSpPr>
            <p:spPr>
              <a:xfrm>
                <a:off x="11229975" y="48672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A8351D"/>
                </a:solidFill>
              </a:ln>
            </p:spPr>
          </p:sp>
          <p:sp>
            <p:nvSpPr>
              <p:cNvPr id="435" name="Freeform 435"/>
              <p:cNvSpPr/>
              <p:nvPr/>
            </p:nvSpPr>
            <p:spPr>
              <a:xfrm>
                <a:off x="11144250" y="48672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A8351D"/>
                </a:solidFill>
              </a:ln>
            </p:spPr>
          </p:sp>
          <p:sp>
            <p:nvSpPr>
              <p:cNvPr id="436" name="Freeform 436"/>
              <p:cNvSpPr/>
              <p:nvPr/>
            </p:nvSpPr>
            <p:spPr>
              <a:xfrm>
                <a:off x="11182350" y="4924425"/>
                <a:ext cx="9525" cy="9525"/>
              </a:xfrm>
              <a:custGeom>
                <a:avLst/>
                <a:gdLst/>
                <a:ahLst/>
                <a:cxnLst/>
                <a:rect l="l" t="t" r="r" b="b"/>
                <a:pathLst>
                  <a:path w="9525" h="9525">
                    <a:moveTo>
                      <a:pt x="0" y="0"/>
                    </a:moveTo>
                    <a:lnTo>
                      <a:pt x="9525" y="0"/>
                    </a:lnTo>
                  </a:path>
                </a:pathLst>
              </a:custGeom>
              <a:noFill/>
              <a:ln w="19050">
                <a:solidFill>
                  <a:srgbClr val="A8351D"/>
                </a:solidFill>
              </a:ln>
            </p:spPr>
          </p:sp>
          <p:sp>
            <p:nvSpPr>
              <p:cNvPr id="437" name="Freeform 437"/>
              <p:cNvSpPr/>
              <p:nvPr/>
            </p:nvSpPr>
            <p:spPr>
              <a:xfrm>
                <a:off x="11182350" y="4962525"/>
                <a:ext cx="57150" cy="9525"/>
              </a:xfrm>
              <a:custGeom>
                <a:avLst/>
                <a:gdLst/>
                <a:ahLst/>
                <a:cxnLst/>
                <a:rect l="l" t="t" r="r" b="b"/>
                <a:pathLst>
                  <a:path w="57150" h="9525">
                    <a:moveTo>
                      <a:pt x="0" y="0"/>
                    </a:moveTo>
                    <a:lnTo>
                      <a:pt x="57150" y="0"/>
                    </a:lnTo>
                  </a:path>
                </a:pathLst>
              </a:custGeom>
              <a:noFill/>
              <a:ln w="19050">
                <a:solidFill>
                  <a:srgbClr val="A8351D"/>
                </a:solidFill>
              </a:ln>
            </p:spPr>
          </p:sp>
          <p:sp>
            <p:nvSpPr>
              <p:cNvPr id="438" name="Freeform 438"/>
              <p:cNvSpPr/>
              <p:nvPr/>
            </p:nvSpPr>
            <p:spPr>
              <a:xfrm>
                <a:off x="11182350" y="5000625"/>
                <a:ext cx="57150" cy="9525"/>
              </a:xfrm>
              <a:custGeom>
                <a:avLst/>
                <a:gdLst/>
                <a:ahLst/>
                <a:cxnLst/>
                <a:rect l="l" t="t" r="r" b="b"/>
                <a:pathLst>
                  <a:path w="57150" h="9525">
                    <a:moveTo>
                      <a:pt x="0" y="0"/>
                    </a:moveTo>
                    <a:lnTo>
                      <a:pt x="57150" y="0"/>
                    </a:lnTo>
                  </a:path>
                </a:pathLst>
              </a:custGeom>
              <a:noFill/>
              <a:ln w="19050">
                <a:solidFill>
                  <a:srgbClr val="A8351D"/>
                </a:solidFill>
              </a:ln>
            </p:spPr>
          </p:sp>
        </p:grpSp>
        <p:sp>
          <p:nvSpPr>
            <p:cNvPr id="440" name="TextBox 440"/>
            <p:cNvSpPr txBox="1"/>
            <p:nvPr/>
          </p:nvSpPr>
          <p:spPr>
            <a:xfrm>
              <a:off x="10993463" y="53061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产品清单</a:t>
              </a:r>
            </a:p>
          </p:txBody>
        </p:sp>
        <p:sp>
          <p:nvSpPr>
            <p:cNvPr id="441" name="Rectangle 441"/>
            <p:cNvSpPr/>
            <p:nvPr/>
          </p:nvSpPr>
          <p:spPr>
            <a:xfrm>
              <a:off x="9086850" y="5695950"/>
              <a:ext cx="819150" cy="933450"/>
            </a:xfrm>
            <a:prstGeom prst="roundRect">
              <a:avLst>
                <a:gd name="adj" fmla="val 6977"/>
              </a:avLst>
            </a:prstGeom>
            <a:solidFill>
              <a:srgbClr val="FFFFFF"/>
            </a:solidFill>
            <a:ln w="9525">
              <a:solidFill>
                <a:srgbClr val="C9D8EF"/>
              </a:solidFill>
            </a:ln>
          </p:spPr>
        </p:sp>
        <p:grpSp>
          <p:nvGrpSpPr>
            <p:cNvPr id="445" name="Group 445"/>
            <p:cNvGrpSpPr/>
            <p:nvPr/>
          </p:nvGrpSpPr>
          <p:grpSpPr>
            <a:xfrm>
              <a:off x="9414529" y="5876925"/>
              <a:ext cx="163773" cy="170402"/>
              <a:chOff x="9414529" y="5876925"/>
              <a:chExt cx="163773" cy="170402"/>
            </a:xfrm>
          </p:grpSpPr>
          <p:sp>
            <p:nvSpPr>
              <p:cNvPr id="442" name="Freeform 442"/>
              <p:cNvSpPr/>
              <p:nvPr/>
            </p:nvSpPr>
            <p:spPr>
              <a:xfrm>
                <a:off x="9439275" y="58769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A8351D"/>
                </a:solidFill>
              </a:ln>
            </p:spPr>
          </p:sp>
          <p:sp>
            <p:nvSpPr>
              <p:cNvPr id="443" name="Freeform 443"/>
              <p:cNvSpPr/>
              <p:nvPr/>
            </p:nvSpPr>
            <p:spPr>
              <a:xfrm>
                <a:off x="9496425" y="596265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A8351D"/>
                </a:solidFill>
              </a:ln>
            </p:spPr>
          </p:sp>
          <p:sp>
            <p:nvSpPr>
              <p:cNvPr id="444" name="Freeform 444"/>
              <p:cNvSpPr/>
              <p:nvPr/>
            </p:nvSpPr>
            <p:spPr>
              <a:xfrm>
                <a:off x="9414529" y="596265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A8351D"/>
                </a:solidFill>
              </a:ln>
            </p:spPr>
          </p:sp>
        </p:grpSp>
        <p:sp>
          <p:nvSpPr>
            <p:cNvPr id="446" name="TextBox 446"/>
            <p:cNvSpPr txBox="1"/>
            <p:nvPr/>
          </p:nvSpPr>
          <p:spPr>
            <a:xfrm>
              <a:off x="9278963" y="631578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权益配置</a:t>
              </a:r>
            </a:p>
          </p:txBody>
        </p:sp>
        <p:sp>
          <p:nvSpPr>
            <p:cNvPr id="447" name="Rectangle 447"/>
            <p:cNvSpPr/>
            <p:nvPr/>
          </p:nvSpPr>
          <p:spPr>
            <a:xfrm>
              <a:off x="9944100" y="5695950"/>
              <a:ext cx="819150" cy="933450"/>
            </a:xfrm>
            <a:prstGeom prst="roundRect">
              <a:avLst>
                <a:gd name="adj" fmla="val 6977"/>
              </a:avLst>
            </a:prstGeom>
            <a:solidFill>
              <a:srgbClr val="FFFFFF"/>
            </a:solidFill>
            <a:ln w="9525">
              <a:solidFill>
                <a:srgbClr val="C9D8EF"/>
              </a:solidFill>
            </a:ln>
          </p:spPr>
        </p:sp>
        <p:grpSp>
          <p:nvGrpSpPr>
            <p:cNvPr id="452" name="Group 452"/>
            <p:cNvGrpSpPr/>
            <p:nvPr/>
          </p:nvGrpSpPr>
          <p:grpSpPr>
            <a:xfrm>
              <a:off x="10267950" y="5886450"/>
              <a:ext cx="171450" cy="161925"/>
              <a:chOff x="10267950" y="5886450"/>
              <a:chExt cx="171450" cy="161925"/>
            </a:xfrm>
          </p:grpSpPr>
          <p:sp>
            <p:nvSpPr>
              <p:cNvPr id="448" name="Freeform 448"/>
              <p:cNvSpPr/>
              <p:nvPr/>
            </p:nvSpPr>
            <p:spPr>
              <a:xfrm>
                <a:off x="10267950" y="59626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A8351D"/>
                </a:solidFill>
              </a:ln>
            </p:spPr>
          </p:sp>
          <p:sp>
            <p:nvSpPr>
              <p:cNvPr id="449" name="Freeform 449"/>
              <p:cNvSpPr/>
              <p:nvPr/>
            </p:nvSpPr>
            <p:spPr>
              <a:xfrm>
                <a:off x="10382250" y="59245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A8351D"/>
                </a:solidFill>
              </a:ln>
            </p:spPr>
          </p:sp>
          <p:sp>
            <p:nvSpPr>
              <p:cNvPr id="450" name="Freeform 450"/>
              <p:cNvSpPr/>
              <p:nvPr/>
            </p:nvSpPr>
            <p:spPr>
              <a:xfrm>
                <a:off x="10325100" y="58864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A8351D"/>
                </a:solidFill>
              </a:ln>
            </p:spPr>
          </p:sp>
          <p:sp>
            <p:nvSpPr>
              <p:cNvPr id="451" name="Freeform 451"/>
              <p:cNvSpPr/>
              <p:nvPr/>
            </p:nvSpPr>
            <p:spPr>
              <a:xfrm>
                <a:off x="10277475" y="6038850"/>
                <a:ext cx="133350" cy="9525"/>
              </a:xfrm>
              <a:custGeom>
                <a:avLst/>
                <a:gdLst/>
                <a:ahLst/>
                <a:cxnLst/>
                <a:rect l="l" t="t" r="r" b="b"/>
                <a:pathLst>
                  <a:path w="133350" h="9525">
                    <a:moveTo>
                      <a:pt x="0" y="0"/>
                    </a:moveTo>
                    <a:lnTo>
                      <a:pt x="133350" y="0"/>
                    </a:lnTo>
                  </a:path>
                </a:pathLst>
              </a:custGeom>
              <a:noFill/>
              <a:ln w="19050">
                <a:solidFill>
                  <a:srgbClr val="A8351D"/>
                </a:solidFill>
              </a:ln>
            </p:spPr>
          </p:sp>
        </p:grpSp>
        <p:sp>
          <p:nvSpPr>
            <p:cNvPr id="453" name="TextBox 453"/>
            <p:cNvSpPr txBox="1"/>
            <p:nvPr/>
          </p:nvSpPr>
          <p:spPr>
            <a:xfrm>
              <a:off x="10136213" y="631578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转化指标</a:t>
              </a:r>
            </a:p>
          </p:txBody>
        </p:sp>
        <p:sp>
          <p:nvSpPr>
            <p:cNvPr id="454" name="Rectangle 454"/>
            <p:cNvSpPr/>
            <p:nvPr/>
          </p:nvSpPr>
          <p:spPr>
            <a:xfrm>
              <a:off x="10801350" y="5695950"/>
              <a:ext cx="819150" cy="933450"/>
            </a:xfrm>
            <a:prstGeom prst="roundRect">
              <a:avLst>
                <a:gd name="adj" fmla="val 6977"/>
              </a:avLst>
            </a:prstGeom>
            <a:solidFill>
              <a:srgbClr val="FFFFFF"/>
            </a:solidFill>
            <a:ln w="9525">
              <a:solidFill>
                <a:srgbClr val="C9D8EF"/>
              </a:solidFill>
            </a:ln>
          </p:spPr>
        </p:sp>
        <p:grpSp>
          <p:nvGrpSpPr>
            <p:cNvPr id="458" name="Group 458"/>
            <p:cNvGrpSpPr/>
            <p:nvPr/>
          </p:nvGrpSpPr>
          <p:grpSpPr>
            <a:xfrm>
              <a:off x="11144250" y="5876925"/>
              <a:ext cx="133350" cy="171450"/>
              <a:chOff x="11144250" y="5876925"/>
              <a:chExt cx="133350" cy="171450"/>
            </a:xfrm>
          </p:grpSpPr>
          <p:sp>
            <p:nvSpPr>
              <p:cNvPr id="455" name="Freeform 455"/>
              <p:cNvSpPr/>
              <p:nvPr/>
            </p:nvSpPr>
            <p:spPr>
              <a:xfrm>
                <a:off x="11144250" y="5895975"/>
                <a:ext cx="133350" cy="152400"/>
              </a:xfrm>
              <a:custGeom>
                <a:avLst/>
                <a:gdLst/>
                <a:ahLst/>
                <a:cxnLst/>
                <a:rect l="l" t="t" r="r" b="b"/>
                <a:pathLst>
                  <a:path w="133350" h="152400">
                    <a:moveTo>
                      <a:pt x="38100" y="0"/>
                    </a:moveTo>
                    <a:lnTo>
                      <a:pt x="19050" y="0"/>
                    </a:lnTo>
                    <a:cubicBezTo>
                      <a:pt x="8529" y="0"/>
                      <a:pt x="0" y="8529"/>
                      <a:pt x="0" y="19050"/>
                    </a:cubicBezTo>
                    <a:lnTo>
                      <a:pt x="0" y="133350"/>
                    </a:lnTo>
                    <a:cubicBezTo>
                      <a:pt x="0" y="143871"/>
                      <a:pt x="8529" y="152400"/>
                      <a:pt x="19050" y="152400"/>
                    </a:cubicBezTo>
                    <a:lnTo>
                      <a:pt x="114300" y="152400"/>
                    </a:lnTo>
                    <a:cubicBezTo>
                      <a:pt x="124821" y="152400"/>
                      <a:pt x="133350" y="143871"/>
                      <a:pt x="133350" y="133350"/>
                    </a:cubicBezTo>
                    <a:lnTo>
                      <a:pt x="133350" y="19050"/>
                    </a:lnTo>
                    <a:cubicBezTo>
                      <a:pt x="133350" y="8529"/>
                      <a:pt x="124821" y="0"/>
                      <a:pt x="114300" y="0"/>
                    </a:cubicBezTo>
                    <a:lnTo>
                      <a:pt x="95250" y="0"/>
                    </a:lnTo>
                  </a:path>
                </a:pathLst>
              </a:custGeom>
              <a:noFill/>
              <a:ln w="19050">
                <a:solidFill>
                  <a:srgbClr val="A8351D"/>
                </a:solidFill>
              </a:ln>
            </p:spPr>
          </p:sp>
          <p:sp>
            <p:nvSpPr>
              <p:cNvPr id="456" name="Freeform 456"/>
              <p:cNvSpPr/>
              <p:nvPr/>
            </p:nvSpPr>
            <p:spPr>
              <a:xfrm>
                <a:off x="11182350" y="5876925"/>
                <a:ext cx="57150" cy="38100"/>
              </a:xfrm>
              <a:custGeom>
                <a:avLst/>
                <a:gdLst/>
                <a:ahLst/>
                <a:cxnLst/>
                <a:rect l="l" t="t" r="r" b="b"/>
                <a:pathLst>
                  <a:path w="57150" h="38100">
                    <a:moveTo>
                      <a:pt x="0" y="19050"/>
                    </a:moveTo>
                    <a:cubicBezTo>
                      <a:pt x="0" y="8529"/>
                      <a:pt x="8529" y="0"/>
                      <a:pt x="19050" y="0"/>
                    </a:cubicBezTo>
                    <a:lnTo>
                      <a:pt x="38100" y="0"/>
                    </a:lnTo>
                    <a:cubicBezTo>
                      <a:pt x="48621" y="0"/>
                      <a:pt x="57150" y="8529"/>
                      <a:pt x="57150" y="19050"/>
                    </a:cubicBezTo>
                    <a:cubicBezTo>
                      <a:pt x="57150" y="29571"/>
                      <a:pt x="48621" y="38100"/>
                      <a:pt x="38100" y="38100"/>
                    </a:cubicBezTo>
                    <a:lnTo>
                      <a:pt x="19050" y="38100"/>
                    </a:lnTo>
                    <a:cubicBezTo>
                      <a:pt x="8529" y="38100"/>
                      <a:pt x="0" y="29571"/>
                      <a:pt x="0" y="19050"/>
                    </a:cubicBezTo>
                  </a:path>
                </a:pathLst>
              </a:custGeom>
              <a:noFill/>
              <a:ln w="19050">
                <a:solidFill>
                  <a:srgbClr val="A8351D"/>
                </a:solidFill>
              </a:ln>
            </p:spPr>
          </p:sp>
          <p:sp>
            <p:nvSpPr>
              <p:cNvPr id="457" name="Freeform 457"/>
              <p:cNvSpPr/>
              <p:nvPr/>
            </p:nvSpPr>
            <p:spPr>
              <a:xfrm>
                <a:off x="11182350" y="5962650"/>
                <a:ext cx="57150" cy="38100"/>
              </a:xfrm>
              <a:custGeom>
                <a:avLst/>
                <a:gdLst/>
                <a:ahLst/>
                <a:cxnLst/>
                <a:rect l="l" t="t" r="r" b="b"/>
                <a:pathLst>
                  <a:path w="57150" h="38100">
                    <a:moveTo>
                      <a:pt x="0" y="19050"/>
                    </a:moveTo>
                    <a:lnTo>
                      <a:pt x="19050" y="38100"/>
                    </a:lnTo>
                    <a:lnTo>
                      <a:pt x="57150" y="0"/>
                    </a:lnTo>
                  </a:path>
                </a:pathLst>
              </a:custGeom>
              <a:noFill/>
              <a:ln w="19050">
                <a:solidFill>
                  <a:srgbClr val="A8351D"/>
                </a:solidFill>
              </a:ln>
            </p:spPr>
          </p:sp>
        </p:grpSp>
        <p:sp>
          <p:nvSpPr>
            <p:cNvPr id="459" name="TextBox 459"/>
            <p:cNvSpPr txBox="1"/>
            <p:nvPr/>
          </p:nvSpPr>
          <p:spPr>
            <a:xfrm>
              <a:off x="10993463" y="631578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复盘模板</a:t>
              </a:r>
            </a:p>
          </p:txBody>
        </p:sp>
      </p:gr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12</a:t>
              </a:r>
            </a:p>
          </p:txBody>
        </p:sp>
        <p:sp>
          <p:nvSpPr>
            <p:cNvPr id="4" name="TextBox 4"/>
            <p:cNvSpPr txBox="1"/>
            <p:nvPr/>
          </p:nvSpPr>
          <p:spPr>
            <a:xfrm>
              <a:off x="904494" y="170498"/>
              <a:ext cx="6399276"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产品组合｜从单品销售转向企业与个人协同解决方案</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32" name="evolution"/>
          <p:cNvGrpSpPr/>
          <p:nvPr/>
        </p:nvGrpSpPr>
        <p:grpSpPr>
          <a:xfrm>
            <a:off x="1333500" y="685800"/>
            <a:ext cx="9525000" cy="361950"/>
            <a:chOff x="1333500" y="685800"/>
            <a:chExt cx="9525000" cy="361950"/>
          </a:xfrm>
        </p:grpSpPr>
        <p:sp>
          <p:nvSpPr>
            <p:cNvPr id="7" name="Rectangle 7"/>
            <p:cNvSpPr/>
            <p:nvPr/>
          </p:nvSpPr>
          <p:spPr>
            <a:xfrm>
              <a:off x="1333500" y="685800"/>
              <a:ext cx="1905000" cy="361950"/>
            </a:xfrm>
            <a:prstGeom prst="roundRect">
              <a:avLst>
                <a:gd name="adj" fmla="val 21053"/>
              </a:avLst>
            </a:prstGeom>
            <a:solidFill>
              <a:srgbClr val="F7FAFE"/>
            </a:solidFill>
            <a:ln w="9525">
              <a:solidFill>
                <a:srgbClr val="C9D8EF"/>
              </a:solidFill>
            </a:ln>
          </p:spPr>
        </p:sp>
        <p:grpSp>
          <p:nvGrpSpPr>
            <p:cNvPr id="12" name="Group 12"/>
            <p:cNvGrpSpPr/>
            <p:nvPr/>
          </p:nvGrpSpPr>
          <p:grpSpPr>
            <a:xfrm>
              <a:off x="1555750" y="795337"/>
              <a:ext cx="127000" cy="142875"/>
              <a:chOff x="1555750" y="795337"/>
              <a:chExt cx="127000" cy="142875"/>
            </a:xfrm>
          </p:grpSpPr>
          <p:sp>
            <p:nvSpPr>
              <p:cNvPr id="8" name="Freeform 8"/>
              <p:cNvSpPr/>
              <p:nvPr/>
            </p:nvSpPr>
            <p:spPr>
              <a:xfrm>
                <a:off x="1555750" y="9064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9" name="Freeform 9"/>
              <p:cNvSpPr/>
              <p:nvPr/>
            </p:nvSpPr>
            <p:spPr>
              <a:xfrm>
                <a:off x="1643062" y="9064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10" name="Freeform 10"/>
              <p:cNvSpPr/>
              <p:nvPr/>
            </p:nvSpPr>
            <p:spPr>
              <a:xfrm>
                <a:off x="1555750" y="795337"/>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A8351D"/>
                </a:solidFill>
              </a:ln>
            </p:spPr>
          </p:sp>
          <p:sp>
            <p:nvSpPr>
              <p:cNvPr id="11" name="Freeform 11"/>
              <p:cNvSpPr/>
              <p:nvPr/>
            </p:nvSpPr>
            <p:spPr>
              <a:xfrm>
                <a:off x="1571625" y="811212"/>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A8351D"/>
                </a:solidFill>
              </a:ln>
            </p:spPr>
          </p:sp>
        </p:grpSp>
        <p:sp>
          <p:nvSpPr>
            <p:cNvPr id="13" name="TextBox 13"/>
            <p:cNvSpPr txBox="1"/>
            <p:nvPr/>
          </p:nvSpPr>
          <p:spPr>
            <a:xfrm>
              <a:off x="1861566" y="810578"/>
              <a:ext cx="576072" cy="205359"/>
            </a:xfrm>
            <a:prstGeom prst="rect">
              <a:avLst/>
            </a:prstGeom>
            <a:noFill/>
            <a:ln>
              <a:noFill/>
            </a:ln>
          </p:spPr>
          <p:txBody>
            <a:bodyPr wrap="none" lIns="0" tIns="0" rIns="0" bIns="0" anchor="t" anchorCtr="0">
              <a:spAutoFit/>
            </a:bodyPr>
            <a:lstStyle/>
            <a:p>
              <a:pPr algn="l"/>
              <a:r>
                <a:rPr lang="zh-CN" sz="1050" b="1" dirty="0">
                  <a:solidFill>
                    <a:srgbClr val="67281B"/>
                  </a:solidFill>
                  <a:latin typeface="+mn-lt"/>
                  <a:ea typeface="+mn-ea"/>
                  <a:cs typeface="+mn-cs"/>
                </a:rPr>
                <a:t>单品销售</a:t>
              </a:r>
            </a:p>
          </p:txBody>
        </p:sp>
        <p:sp>
          <p:nvSpPr>
            <p:cNvPr id="14" name="Freeform 14"/>
            <p:cNvSpPr/>
            <p:nvPr/>
          </p:nvSpPr>
          <p:spPr>
            <a:xfrm>
              <a:off x="3390900" y="762000"/>
              <a:ext cx="609600" cy="209550"/>
            </a:xfrm>
            <a:prstGeom prst="rightArrow">
              <a:avLst/>
            </a:prstGeom>
            <a:solidFill>
              <a:srgbClr val="D64A2E"/>
            </a:solidFill>
            <a:ln>
              <a:noFill/>
            </a:ln>
          </p:spPr>
        </p:sp>
        <p:sp>
          <p:nvSpPr>
            <p:cNvPr id="15" name="Rectangle 15"/>
            <p:cNvSpPr/>
            <p:nvPr/>
          </p:nvSpPr>
          <p:spPr>
            <a:xfrm>
              <a:off x="4191000" y="685800"/>
              <a:ext cx="2286000" cy="361950"/>
            </a:xfrm>
            <a:prstGeom prst="roundRect">
              <a:avLst>
                <a:gd name="adj" fmla="val 21053"/>
              </a:avLst>
            </a:prstGeom>
            <a:solidFill>
              <a:srgbClr val="F7FAFE"/>
            </a:solidFill>
            <a:ln w="9525">
              <a:solidFill>
                <a:srgbClr val="C9D8EF"/>
              </a:solidFill>
            </a:ln>
          </p:spPr>
        </p:sp>
        <p:grpSp>
          <p:nvGrpSpPr>
            <p:cNvPr id="20" name="Group 20"/>
            <p:cNvGrpSpPr/>
            <p:nvPr/>
          </p:nvGrpSpPr>
          <p:grpSpPr>
            <a:xfrm>
              <a:off x="4508500" y="803275"/>
              <a:ext cx="127000" cy="127000"/>
              <a:chOff x="4508500" y="803275"/>
              <a:chExt cx="127000" cy="127000"/>
            </a:xfrm>
          </p:grpSpPr>
          <p:sp>
            <p:nvSpPr>
              <p:cNvPr id="16" name="Freeform 16"/>
              <p:cNvSpPr/>
              <p:nvPr/>
            </p:nvSpPr>
            <p:spPr>
              <a:xfrm>
                <a:off x="4508500" y="803275"/>
                <a:ext cx="47625" cy="47625"/>
              </a:xfrm>
              <a:custGeom>
                <a:avLst/>
                <a:gdLst/>
                <a:ahLst/>
                <a:cxnLst/>
                <a:rect l="l" t="t" r="r" b="b"/>
                <a:pathLst>
                  <a:path w="47625" h="47625">
                    <a:moveTo>
                      <a:pt x="0" y="7937"/>
                    </a:moveTo>
                    <a:cubicBezTo>
                      <a:pt x="0" y="3554"/>
                      <a:pt x="3554" y="0"/>
                      <a:pt x="7937" y="0"/>
                    </a:cubicBezTo>
                    <a:lnTo>
                      <a:pt x="39687" y="0"/>
                    </a:lnTo>
                    <a:cubicBezTo>
                      <a:pt x="44071" y="0"/>
                      <a:pt x="47625" y="3554"/>
                      <a:pt x="47625" y="7937"/>
                    </a:cubicBezTo>
                    <a:lnTo>
                      <a:pt x="47625" y="39687"/>
                    </a:lnTo>
                    <a:cubicBezTo>
                      <a:pt x="47625" y="44071"/>
                      <a:pt x="44071" y="47625"/>
                      <a:pt x="39687" y="47625"/>
                    </a:cubicBezTo>
                    <a:lnTo>
                      <a:pt x="7937" y="47625"/>
                    </a:lnTo>
                    <a:cubicBezTo>
                      <a:pt x="3554" y="47625"/>
                      <a:pt x="0" y="44071"/>
                      <a:pt x="0" y="39687"/>
                    </a:cubicBezTo>
                    <a:lnTo>
                      <a:pt x="0" y="7937"/>
                    </a:lnTo>
                  </a:path>
                </a:pathLst>
              </a:custGeom>
              <a:noFill/>
              <a:ln w="15875">
                <a:solidFill>
                  <a:srgbClr val="A8351D"/>
                </a:solidFill>
              </a:ln>
            </p:spPr>
          </p:sp>
          <p:sp>
            <p:nvSpPr>
              <p:cNvPr id="17" name="Freeform 17"/>
              <p:cNvSpPr/>
              <p:nvPr/>
            </p:nvSpPr>
            <p:spPr>
              <a:xfrm>
                <a:off x="4587875" y="803275"/>
                <a:ext cx="47625" cy="47625"/>
              </a:xfrm>
              <a:custGeom>
                <a:avLst/>
                <a:gdLst/>
                <a:ahLst/>
                <a:cxnLst/>
                <a:rect l="l" t="t" r="r" b="b"/>
                <a:pathLst>
                  <a:path w="47625" h="47625">
                    <a:moveTo>
                      <a:pt x="0" y="7937"/>
                    </a:moveTo>
                    <a:cubicBezTo>
                      <a:pt x="0" y="3554"/>
                      <a:pt x="3554" y="0"/>
                      <a:pt x="7937" y="0"/>
                    </a:cubicBezTo>
                    <a:lnTo>
                      <a:pt x="39687" y="0"/>
                    </a:lnTo>
                    <a:cubicBezTo>
                      <a:pt x="44071" y="0"/>
                      <a:pt x="47625" y="3554"/>
                      <a:pt x="47625" y="7937"/>
                    </a:cubicBezTo>
                    <a:lnTo>
                      <a:pt x="47625" y="39687"/>
                    </a:lnTo>
                    <a:cubicBezTo>
                      <a:pt x="47625" y="44071"/>
                      <a:pt x="44071" y="47625"/>
                      <a:pt x="39687" y="47625"/>
                    </a:cubicBezTo>
                    <a:lnTo>
                      <a:pt x="7937" y="47625"/>
                    </a:lnTo>
                    <a:cubicBezTo>
                      <a:pt x="3554" y="47625"/>
                      <a:pt x="0" y="44071"/>
                      <a:pt x="0" y="39687"/>
                    </a:cubicBezTo>
                    <a:lnTo>
                      <a:pt x="0" y="7937"/>
                    </a:lnTo>
                  </a:path>
                </a:pathLst>
              </a:custGeom>
              <a:noFill/>
              <a:ln w="15875">
                <a:solidFill>
                  <a:srgbClr val="A8351D"/>
                </a:solidFill>
              </a:ln>
            </p:spPr>
          </p:sp>
          <p:sp>
            <p:nvSpPr>
              <p:cNvPr id="18" name="Freeform 18"/>
              <p:cNvSpPr/>
              <p:nvPr/>
            </p:nvSpPr>
            <p:spPr>
              <a:xfrm>
                <a:off x="4508500" y="882650"/>
                <a:ext cx="47625" cy="47625"/>
              </a:xfrm>
              <a:custGeom>
                <a:avLst/>
                <a:gdLst/>
                <a:ahLst/>
                <a:cxnLst/>
                <a:rect l="l" t="t" r="r" b="b"/>
                <a:pathLst>
                  <a:path w="47625" h="47625">
                    <a:moveTo>
                      <a:pt x="0" y="7937"/>
                    </a:moveTo>
                    <a:cubicBezTo>
                      <a:pt x="0" y="3554"/>
                      <a:pt x="3554" y="0"/>
                      <a:pt x="7937" y="0"/>
                    </a:cubicBezTo>
                    <a:lnTo>
                      <a:pt x="39687" y="0"/>
                    </a:lnTo>
                    <a:cubicBezTo>
                      <a:pt x="44071" y="0"/>
                      <a:pt x="47625" y="3554"/>
                      <a:pt x="47625" y="7937"/>
                    </a:cubicBezTo>
                    <a:lnTo>
                      <a:pt x="47625" y="39687"/>
                    </a:lnTo>
                    <a:cubicBezTo>
                      <a:pt x="47625" y="44071"/>
                      <a:pt x="44071" y="47625"/>
                      <a:pt x="39687" y="47625"/>
                    </a:cubicBezTo>
                    <a:lnTo>
                      <a:pt x="7937" y="47625"/>
                    </a:lnTo>
                    <a:cubicBezTo>
                      <a:pt x="3554" y="47625"/>
                      <a:pt x="0" y="44071"/>
                      <a:pt x="0" y="39687"/>
                    </a:cubicBezTo>
                    <a:lnTo>
                      <a:pt x="0" y="7937"/>
                    </a:lnTo>
                  </a:path>
                </a:pathLst>
              </a:custGeom>
              <a:noFill/>
              <a:ln w="15875">
                <a:solidFill>
                  <a:srgbClr val="A8351D"/>
                </a:solidFill>
              </a:ln>
            </p:spPr>
          </p:sp>
          <p:sp>
            <p:nvSpPr>
              <p:cNvPr id="19" name="Freeform 19"/>
              <p:cNvSpPr/>
              <p:nvPr/>
            </p:nvSpPr>
            <p:spPr>
              <a:xfrm>
                <a:off x="4587875" y="882650"/>
                <a:ext cx="47625" cy="47625"/>
              </a:xfrm>
              <a:custGeom>
                <a:avLst/>
                <a:gdLst/>
                <a:ahLst/>
                <a:cxnLst/>
                <a:rect l="l" t="t" r="r" b="b"/>
                <a:pathLst>
                  <a:path w="47625" h="47625">
                    <a:moveTo>
                      <a:pt x="0" y="7937"/>
                    </a:moveTo>
                    <a:cubicBezTo>
                      <a:pt x="0" y="3554"/>
                      <a:pt x="3554" y="0"/>
                      <a:pt x="7937" y="0"/>
                    </a:cubicBezTo>
                    <a:lnTo>
                      <a:pt x="39687" y="0"/>
                    </a:lnTo>
                    <a:cubicBezTo>
                      <a:pt x="44071" y="0"/>
                      <a:pt x="47625" y="3554"/>
                      <a:pt x="47625" y="7937"/>
                    </a:cubicBezTo>
                    <a:lnTo>
                      <a:pt x="47625" y="39687"/>
                    </a:lnTo>
                    <a:cubicBezTo>
                      <a:pt x="47625" y="44071"/>
                      <a:pt x="44071" y="47625"/>
                      <a:pt x="39687" y="47625"/>
                    </a:cubicBezTo>
                    <a:lnTo>
                      <a:pt x="7937" y="47625"/>
                    </a:lnTo>
                    <a:cubicBezTo>
                      <a:pt x="3554" y="47625"/>
                      <a:pt x="0" y="44071"/>
                      <a:pt x="0" y="39687"/>
                    </a:cubicBezTo>
                    <a:lnTo>
                      <a:pt x="0" y="7937"/>
                    </a:lnTo>
                  </a:path>
                </a:pathLst>
              </a:custGeom>
              <a:noFill/>
              <a:ln w="15875">
                <a:solidFill>
                  <a:srgbClr val="A8351D"/>
                </a:solidFill>
              </a:ln>
            </p:spPr>
          </p:sp>
        </p:grpSp>
        <p:sp>
          <p:nvSpPr>
            <p:cNvPr id="21" name="TextBox 21"/>
            <p:cNvSpPr txBox="1"/>
            <p:nvPr/>
          </p:nvSpPr>
          <p:spPr>
            <a:xfrm>
              <a:off x="4814316" y="810578"/>
              <a:ext cx="858774" cy="205359"/>
            </a:xfrm>
            <a:prstGeom prst="rect">
              <a:avLst/>
            </a:prstGeom>
            <a:noFill/>
            <a:ln>
              <a:noFill/>
            </a:ln>
          </p:spPr>
          <p:txBody>
            <a:bodyPr wrap="none" lIns="0" tIns="0" rIns="0" bIns="0" anchor="t" anchorCtr="0">
              <a:spAutoFit/>
            </a:bodyPr>
            <a:lstStyle/>
            <a:p>
              <a:pPr algn="l"/>
              <a:r>
                <a:rPr lang="zh-CN" sz="1050" b="1" dirty="0">
                  <a:solidFill>
                    <a:srgbClr val="67281B"/>
                  </a:solidFill>
                  <a:latin typeface="+mn-lt"/>
                  <a:ea typeface="+mn-ea"/>
                  <a:cs typeface="+mn-cs"/>
                </a:rPr>
                <a:t>场景化产品包</a:t>
              </a:r>
            </a:p>
          </p:txBody>
        </p:sp>
        <p:sp>
          <p:nvSpPr>
            <p:cNvPr id="22" name="Freeform 22"/>
            <p:cNvSpPr/>
            <p:nvPr/>
          </p:nvSpPr>
          <p:spPr>
            <a:xfrm>
              <a:off x="6629400" y="762000"/>
              <a:ext cx="609600" cy="209550"/>
            </a:xfrm>
            <a:prstGeom prst="rightArrow">
              <a:avLst/>
            </a:prstGeom>
            <a:solidFill>
              <a:srgbClr val="D64A2E"/>
            </a:solidFill>
            <a:ln>
              <a:noFill/>
            </a:ln>
          </p:spPr>
        </p:sp>
        <p:sp>
          <p:nvSpPr>
            <p:cNvPr id="23" name="Rectangle 23"/>
            <p:cNvSpPr/>
            <p:nvPr/>
          </p:nvSpPr>
          <p:spPr>
            <a:xfrm>
              <a:off x="7429500" y="685800"/>
              <a:ext cx="3429000" cy="361950"/>
            </a:xfrm>
            <a:prstGeom prst="roundRect">
              <a:avLst>
                <a:gd name="adj" fmla="val 21053"/>
              </a:avLst>
            </a:prstGeom>
            <a:solidFill>
              <a:srgbClr val="EAF2FC"/>
            </a:solidFill>
            <a:ln w="9525">
              <a:solidFill>
                <a:srgbClr val="E5907F"/>
              </a:solidFill>
            </a:ln>
          </p:spPr>
        </p:sp>
        <p:grpSp>
          <p:nvGrpSpPr>
            <p:cNvPr id="30" name="Group 30"/>
            <p:cNvGrpSpPr/>
            <p:nvPr/>
          </p:nvGrpSpPr>
          <p:grpSpPr>
            <a:xfrm>
              <a:off x="7720012" y="795337"/>
              <a:ext cx="142875" cy="142875"/>
              <a:chOff x="7720012" y="795337"/>
              <a:chExt cx="142875" cy="142875"/>
            </a:xfrm>
          </p:grpSpPr>
          <p:sp>
            <p:nvSpPr>
              <p:cNvPr id="24" name="Freeform 24"/>
              <p:cNvSpPr/>
              <p:nvPr/>
            </p:nvSpPr>
            <p:spPr>
              <a:xfrm>
                <a:off x="7775575" y="8588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25" name="Freeform 25"/>
              <p:cNvSpPr/>
              <p:nvPr/>
            </p:nvSpPr>
            <p:spPr>
              <a:xfrm>
                <a:off x="7759700" y="914400"/>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A8351D"/>
                </a:solidFill>
              </a:ln>
            </p:spPr>
          </p:sp>
          <p:sp>
            <p:nvSpPr>
              <p:cNvPr id="26" name="Freeform 26"/>
              <p:cNvSpPr/>
              <p:nvPr/>
            </p:nvSpPr>
            <p:spPr>
              <a:xfrm>
                <a:off x="7815262" y="7953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27" name="Freeform 27"/>
              <p:cNvSpPr/>
              <p:nvPr/>
            </p:nvSpPr>
            <p:spPr>
              <a:xfrm>
                <a:off x="7831137" y="850900"/>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A8351D"/>
                </a:solidFill>
              </a:ln>
            </p:spPr>
          </p:sp>
          <p:sp>
            <p:nvSpPr>
              <p:cNvPr id="28" name="Freeform 28"/>
              <p:cNvSpPr/>
              <p:nvPr/>
            </p:nvSpPr>
            <p:spPr>
              <a:xfrm>
                <a:off x="7735887" y="7953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29" name="Freeform 29"/>
              <p:cNvSpPr/>
              <p:nvPr/>
            </p:nvSpPr>
            <p:spPr>
              <a:xfrm>
                <a:off x="7720012" y="850900"/>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A8351D"/>
                </a:solidFill>
              </a:ln>
            </p:spPr>
          </p:sp>
        </p:grpSp>
        <p:sp>
          <p:nvSpPr>
            <p:cNvPr id="31" name="TextBox 31"/>
            <p:cNvSpPr txBox="1"/>
            <p:nvPr/>
          </p:nvSpPr>
          <p:spPr>
            <a:xfrm>
              <a:off x="8033766" y="810578"/>
              <a:ext cx="1565529" cy="205359"/>
            </a:xfrm>
            <a:prstGeom prst="rect">
              <a:avLst/>
            </a:prstGeom>
            <a:noFill/>
            <a:ln>
              <a:noFill/>
            </a:ln>
          </p:spPr>
          <p:txBody>
            <a:bodyPr wrap="none" lIns="0" tIns="0" rIns="0" bIns="0" anchor="t" anchorCtr="0">
              <a:spAutoFit/>
            </a:bodyPr>
            <a:lstStyle/>
            <a:p>
              <a:pPr algn="l"/>
              <a:r>
                <a:rPr lang="zh-CN" sz="1050" b="1" dirty="0">
                  <a:solidFill>
                    <a:srgbClr val="A8351D"/>
                  </a:solidFill>
                  <a:latin typeface="+mn-lt"/>
                  <a:ea typeface="+mn-ea"/>
                  <a:cs typeface="+mn-cs"/>
                </a:rPr>
                <a:t>企业与个人协同解决方案</a:t>
              </a:r>
            </a:p>
          </p:txBody>
        </p:sp>
      </p:grpSp>
      <p:grpSp>
        <p:nvGrpSpPr>
          <p:cNvPr id="199" name="matrix-section"/>
          <p:cNvGrpSpPr/>
          <p:nvPr/>
        </p:nvGrpSpPr>
        <p:grpSpPr>
          <a:xfrm>
            <a:off x="381000" y="1203960"/>
            <a:ext cx="11430000" cy="3139440"/>
            <a:chOff x="381000" y="1203960"/>
            <a:chExt cx="11430000" cy="3139440"/>
          </a:xfrm>
        </p:grpSpPr>
        <p:sp>
          <p:nvSpPr>
            <p:cNvPr id="33" name="Line 33"/>
            <p:cNvSpPr/>
            <p:nvPr/>
          </p:nvSpPr>
          <p:spPr>
            <a:xfrm>
              <a:off x="4191000" y="1276350"/>
              <a:ext cx="762000" cy="9525"/>
            </a:xfrm>
            <a:custGeom>
              <a:avLst/>
              <a:gdLst/>
              <a:ahLst/>
              <a:cxnLst/>
              <a:rect l="l" t="t" r="r" b="b"/>
              <a:pathLst>
                <a:path w="762000" h="9525">
                  <a:moveTo>
                    <a:pt x="0" y="0"/>
                  </a:moveTo>
                  <a:lnTo>
                    <a:pt x="762000" y="0"/>
                  </a:lnTo>
                </a:path>
              </a:pathLst>
            </a:custGeom>
            <a:noFill/>
            <a:ln w="14288">
              <a:solidFill>
                <a:srgbClr val="A8351D"/>
              </a:solidFill>
            </a:ln>
          </p:spPr>
        </p:sp>
        <p:sp>
          <p:nvSpPr>
            <p:cNvPr id="34" name="Ellipse 34"/>
            <p:cNvSpPr/>
            <p:nvPr/>
          </p:nvSpPr>
          <p:spPr>
            <a:xfrm>
              <a:off x="4924425" y="1247775"/>
              <a:ext cx="57150" cy="57150"/>
            </a:xfrm>
            <a:prstGeom prst="ellipse">
              <a:avLst/>
            </a:prstGeom>
            <a:solidFill>
              <a:srgbClr val="A8351D"/>
            </a:solidFill>
            <a:ln>
              <a:noFill/>
            </a:ln>
          </p:spPr>
        </p:sp>
        <p:sp>
          <p:nvSpPr>
            <p:cNvPr id="35" name="TextBox 35"/>
            <p:cNvSpPr txBox="1"/>
            <p:nvPr/>
          </p:nvSpPr>
          <p:spPr>
            <a:xfrm>
              <a:off x="5103880" y="1203960"/>
              <a:ext cx="1984240" cy="234696"/>
            </a:xfrm>
            <a:prstGeom prst="rect">
              <a:avLst/>
            </a:prstGeom>
            <a:noFill/>
            <a:ln>
              <a:noFill/>
            </a:ln>
          </p:spPr>
          <p:txBody>
            <a:bodyPr wrap="none" lIns="0" tIns="0" rIns="0" bIns="0" anchor="t" anchorCtr="0">
              <a:spAutoFit/>
            </a:bodyPr>
            <a:lstStyle/>
            <a:p>
              <a:pPr algn="ctr"/>
              <a:r>
                <a:rPr lang="zh-CN" sz="1200" b="1" dirty="0">
                  <a:solidFill>
                    <a:srgbClr val="67281B"/>
                  </a:solidFill>
                  <a:latin typeface="+mn-lt"/>
                  <a:ea typeface="+mn-ea"/>
                  <a:cs typeface="+mn-cs"/>
                </a:rPr>
                <a:t>五类产品包 × 三级版本配置</a:t>
              </a:r>
            </a:p>
          </p:txBody>
        </p:sp>
        <p:sp>
          <p:nvSpPr>
            <p:cNvPr id="36" name="Ellipse 36"/>
            <p:cNvSpPr/>
            <p:nvPr/>
          </p:nvSpPr>
          <p:spPr>
            <a:xfrm>
              <a:off x="7210425" y="1247775"/>
              <a:ext cx="57150" cy="57150"/>
            </a:xfrm>
            <a:prstGeom prst="ellipse">
              <a:avLst/>
            </a:prstGeom>
            <a:solidFill>
              <a:srgbClr val="A8351D"/>
            </a:solidFill>
            <a:ln>
              <a:noFill/>
            </a:ln>
          </p:spPr>
        </p:sp>
        <p:sp>
          <p:nvSpPr>
            <p:cNvPr id="37" name="Line 37"/>
            <p:cNvSpPr/>
            <p:nvPr/>
          </p:nvSpPr>
          <p:spPr>
            <a:xfrm>
              <a:off x="7239000" y="1276350"/>
              <a:ext cx="762000" cy="9525"/>
            </a:xfrm>
            <a:custGeom>
              <a:avLst/>
              <a:gdLst/>
              <a:ahLst/>
              <a:cxnLst/>
              <a:rect l="l" t="t" r="r" b="b"/>
              <a:pathLst>
                <a:path w="762000" h="9525">
                  <a:moveTo>
                    <a:pt x="0" y="0"/>
                  </a:moveTo>
                  <a:lnTo>
                    <a:pt x="762000" y="0"/>
                  </a:lnTo>
                </a:path>
              </a:pathLst>
            </a:custGeom>
            <a:noFill/>
            <a:ln w="14288">
              <a:solidFill>
                <a:srgbClr val="A8351D"/>
              </a:solidFill>
            </a:ln>
          </p:spPr>
        </p:sp>
        <p:sp>
          <p:nvSpPr>
            <p:cNvPr id="38" name="Rectangle 38"/>
            <p:cNvSpPr/>
            <p:nvPr/>
          </p:nvSpPr>
          <p:spPr>
            <a:xfrm>
              <a:off x="381000" y="1428750"/>
              <a:ext cx="1428750" cy="285750"/>
            </a:xfrm>
            <a:prstGeom prst="roundRect">
              <a:avLst>
                <a:gd name="adj" fmla="val 13333"/>
              </a:avLst>
            </a:prstGeom>
            <a:gradFill>
              <a:gsLst>
                <a:gs pos="0">
                  <a:srgbClr val="AD3921"/>
                </a:gs>
                <a:gs pos="100000">
                  <a:srgbClr val="962C16"/>
                </a:gs>
              </a:gsLst>
              <a:lin ang="5400000" scaled="1"/>
            </a:gradFill>
            <a:ln>
              <a:noFill/>
            </a:ln>
          </p:spPr>
        </p:sp>
        <p:sp>
          <p:nvSpPr>
            <p:cNvPr id="39" name="TextBox 39"/>
            <p:cNvSpPr txBox="1"/>
            <p:nvPr/>
          </p:nvSpPr>
          <p:spPr>
            <a:xfrm>
              <a:off x="666559" y="1522095"/>
              <a:ext cx="85763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企业端产品货架</a:t>
              </a:r>
            </a:p>
          </p:txBody>
        </p:sp>
        <p:sp>
          <p:nvSpPr>
            <p:cNvPr id="40" name="Rectangle 40"/>
            <p:cNvSpPr/>
            <p:nvPr/>
          </p:nvSpPr>
          <p:spPr>
            <a:xfrm>
              <a:off x="381000" y="1828800"/>
              <a:ext cx="1428750" cy="419100"/>
            </a:xfrm>
            <a:prstGeom prst="roundRect">
              <a:avLst>
                <a:gd name="adj" fmla="val 13636"/>
              </a:avLst>
            </a:prstGeom>
            <a:solidFill>
              <a:srgbClr val="F7FAFE"/>
            </a:solidFill>
            <a:ln w="9525">
              <a:solidFill>
                <a:srgbClr val="C9D8EF"/>
              </a:solidFill>
            </a:ln>
          </p:spPr>
        </p:sp>
        <p:grpSp>
          <p:nvGrpSpPr>
            <p:cNvPr id="49" name="Group 49"/>
            <p:cNvGrpSpPr/>
            <p:nvPr/>
          </p:nvGrpSpPr>
          <p:grpSpPr>
            <a:xfrm>
              <a:off x="519112" y="1966912"/>
              <a:ext cx="144463" cy="152400"/>
              <a:chOff x="519112" y="1966912"/>
              <a:chExt cx="144463" cy="152400"/>
            </a:xfrm>
          </p:grpSpPr>
          <p:sp>
            <p:nvSpPr>
              <p:cNvPr id="41" name="Freeform 41"/>
              <p:cNvSpPr/>
              <p:nvPr/>
            </p:nvSpPr>
            <p:spPr>
              <a:xfrm>
                <a:off x="519112" y="2109787"/>
                <a:ext cx="142875" cy="9525"/>
              </a:xfrm>
              <a:custGeom>
                <a:avLst/>
                <a:gdLst/>
                <a:ahLst/>
                <a:cxnLst/>
                <a:rect l="l" t="t" r="r" b="b"/>
                <a:pathLst>
                  <a:path w="142875" h="9525">
                    <a:moveTo>
                      <a:pt x="0" y="0"/>
                    </a:moveTo>
                    <a:lnTo>
                      <a:pt x="142875" y="0"/>
                    </a:lnTo>
                  </a:path>
                </a:pathLst>
              </a:custGeom>
              <a:noFill/>
              <a:ln w="15875">
                <a:solidFill>
                  <a:srgbClr val="A8351D"/>
                </a:solidFill>
              </a:ln>
            </p:spPr>
          </p:sp>
          <p:sp>
            <p:nvSpPr>
              <p:cNvPr id="42" name="Freeform 42"/>
              <p:cNvSpPr/>
              <p:nvPr/>
            </p:nvSpPr>
            <p:spPr>
              <a:xfrm>
                <a:off x="519112" y="2022475"/>
                <a:ext cx="142875" cy="9525"/>
              </a:xfrm>
              <a:custGeom>
                <a:avLst/>
                <a:gdLst/>
                <a:ahLst/>
                <a:cxnLst/>
                <a:rect l="l" t="t" r="r" b="b"/>
                <a:pathLst>
                  <a:path w="142875" h="9525">
                    <a:moveTo>
                      <a:pt x="0" y="0"/>
                    </a:moveTo>
                    <a:lnTo>
                      <a:pt x="142875" y="0"/>
                    </a:lnTo>
                  </a:path>
                </a:pathLst>
              </a:custGeom>
              <a:noFill/>
              <a:ln w="15875">
                <a:solidFill>
                  <a:srgbClr val="A8351D"/>
                </a:solidFill>
              </a:ln>
            </p:spPr>
          </p:sp>
          <p:sp>
            <p:nvSpPr>
              <p:cNvPr id="43" name="Freeform 43"/>
              <p:cNvSpPr/>
              <p:nvPr/>
            </p:nvSpPr>
            <p:spPr>
              <a:xfrm>
                <a:off x="534987" y="1966912"/>
                <a:ext cx="111125" cy="23812"/>
              </a:xfrm>
              <a:custGeom>
                <a:avLst/>
                <a:gdLst/>
                <a:ahLst/>
                <a:cxnLst/>
                <a:rect l="l" t="t" r="r" b="b"/>
                <a:pathLst>
                  <a:path w="111125" h="23812">
                    <a:moveTo>
                      <a:pt x="0" y="23812"/>
                    </a:moveTo>
                    <a:lnTo>
                      <a:pt x="55562" y="0"/>
                    </a:lnTo>
                    <a:lnTo>
                      <a:pt x="111125" y="23812"/>
                    </a:lnTo>
                  </a:path>
                </a:pathLst>
              </a:custGeom>
              <a:noFill/>
              <a:ln w="15875">
                <a:solidFill>
                  <a:srgbClr val="A8351D"/>
                </a:solidFill>
              </a:ln>
            </p:spPr>
          </p:sp>
          <p:sp>
            <p:nvSpPr>
              <p:cNvPr id="44" name="Freeform 44"/>
              <p:cNvSpPr/>
              <p:nvPr/>
            </p:nvSpPr>
            <p:spPr>
              <a:xfrm>
                <a:off x="527050" y="2022475"/>
                <a:ext cx="9525" cy="87312"/>
              </a:xfrm>
              <a:custGeom>
                <a:avLst/>
                <a:gdLst/>
                <a:ahLst/>
                <a:cxnLst/>
                <a:rect l="l" t="t" r="r" b="b"/>
                <a:pathLst>
                  <a:path w="9525" h="87312">
                    <a:moveTo>
                      <a:pt x="0" y="0"/>
                    </a:moveTo>
                    <a:lnTo>
                      <a:pt x="0" y="87312"/>
                    </a:lnTo>
                  </a:path>
                </a:pathLst>
              </a:custGeom>
              <a:noFill/>
              <a:ln w="15875">
                <a:solidFill>
                  <a:srgbClr val="A8351D"/>
                </a:solidFill>
              </a:ln>
            </p:spPr>
          </p:sp>
          <p:sp>
            <p:nvSpPr>
              <p:cNvPr id="45" name="Freeform 45"/>
              <p:cNvSpPr/>
              <p:nvPr/>
            </p:nvSpPr>
            <p:spPr>
              <a:xfrm>
                <a:off x="654050" y="2022475"/>
                <a:ext cx="9525" cy="87312"/>
              </a:xfrm>
              <a:custGeom>
                <a:avLst/>
                <a:gdLst/>
                <a:ahLst/>
                <a:cxnLst/>
                <a:rect l="l" t="t" r="r" b="b"/>
                <a:pathLst>
                  <a:path w="9525" h="87312">
                    <a:moveTo>
                      <a:pt x="0" y="0"/>
                    </a:moveTo>
                    <a:lnTo>
                      <a:pt x="0" y="87312"/>
                    </a:lnTo>
                  </a:path>
                </a:pathLst>
              </a:custGeom>
              <a:noFill/>
              <a:ln w="15875">
                <a:solidFill>
                  <a:srgbClr val="A8351D"/>
                </a:solidFill>
              </a:ln>
            </p:spPr>
          </p:sp>
          <p:sp>
            <p:nvSpPr>
              <p:cNvPr id="46" name="Freeform 46"/>
              <p:cNvSpPr/>
              <p:nvPr/>
            </p:nvSpPr>
            <p:spPr>
              <a:xfrm>
                <a:off x="558800" y="2054225"/>
                <a:ext cx="9525" cy="23812"/>
              </a:xfrm>
              <a:custGeom>
                <a:avLst/>
                <a:gdLst/>
                <a:ahLst/>
                <a:cxnLst/>
                <a:rect l="l" t="t" r="r" b="b"/>
                <a:pathLst>
                  <a:path w="9525" h="23812">
                    <a:moveTo>
                      <a:pt x="0" y="0"/>
                    </a:moveTo>
                    <a:lnTo>
                      <a:pt x="0" y="23812"/>
                    </a:lnTo>
                  </a:path>
                </a:pathLst>
              </a:custGeom>
              <a:noFill/>
              <a:ln w="15875">
                <a:solidFill>
                  <a:srgbClr val="A8351D"/>
                </a:solidFill>
              </a:ln>
            </p:spPr>
          </p:sp>
          <p:sp>
            <p:nvSpPr>
              <p:cNvPr id="47" name="Freeform 47"/>
              <p:cNvSpPr/>
              <p:nvPr/>
            </p:nvSpPr>
            <p:spPr>
              <a:xfrm>
                <a:off x="590550" y="2054225"/>
                <a:ext cx="9525" cy="23812"/>
              </a:xfrm>
              <a:custGeom>
                <a:avLst/>
                <a:gdLst/>
                <a:ahLst/>
                <a:cxnLst/>
                <a:rect l="l" t="t" r="r" b="b"/>
                <a:pathLst>
                  <a:path w="9525" h="23812">
                    <a:moveTo>
                      <a:pt x="0" y="0"/>
                    </a:moveTo>
                    <a:lnTo>
                      <a:pt x="0" y="23812"/>
                    </a:lnTo>
                  </a:path>
                </a:pathLst>
              </a:custGeom>
              <a:noFill/>
              <a:ln w="15875">
                <a:solidFill>
                  <a:srgbClr val="A8351D"/>
                </a:solidFill>
              </a:ln>
            </p:spPr>
          </p:sp>
          <p:sp>
            <p:nvSpPr>
              <p:cNvPr id="48" name="Freeform 48"/>
              <p:cNvSpPr/>
              <p:nvPr/>
            </p:nvSpPr>
            <p:spPr>
              <a:xfrm>
                <a:off x="622300" y="2054225"/>
                <a:ext cx="9525" cy="23812"/>
              </a:xfrm>
              <a:custGeom>
                <a:avLst/>
                <a:gdLst/>
                <a:ahLst/>
                <a:cxnLst/>
                <a:rect l="l" t="t" r="r" b="b"/>
                <a:pathLst>
                  <a:path w="9525" h="23812">
                    <a:moveTo>
                      <a:pt x="0" y="0"/>
                    </a:moveTo>
                    <a:lnTo>
                      <a:pt x="0" y="23812"/>
                    </a:lnTo>
                  </a:path>
                </a:pathLst>
              </a:custGeom>
              <a:noFill/>
              <a:ln w="15875">
                <a:solidFill>
                  <a:srgbClr val="A8351D"/>
                </a:solidFill>
              </a:ln>
            </p:spPr>
          </p:sp>
        </p:grpSp>
        <p:sp>
          <p:nvSpPr>
            <p:cNvPr id="50" name="TextBox 50"/>
            <p:cNvSpPr txBox="1"/>
            <p:nvPr/>
          </p:nvSpPr>
          <p:spPr>
            <a:xfrm>
              <a:off x="776288" y="1988820"/>
              <a:ext cx="494157"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账户结算</a:t>
              </a:r>
            </a:p>
          </p:txBody>
        </p:sp>
        <p:sp>
          <p:nvSpPr>
            <p:cNvPr id="51" name="Rectangle 51"/>
            <p:cNvSpPr/>
            <p:nvPr/>
          </p:nvSpPr>
          <p:spPr>
            <a:xfrm>
              <a:off x="381000" y="2324100"/>
              <a:ext cx="1428750" cy="419100"/>
            </a:xfrm>
            <a:prstGeom prst="roundRect">
              <a:avLst>
                <a:gd name="adj" fmla="val 13636"/>
              </a:avLst>
            </a:prstGeom>
            <a:solidFill>
              <a:srgbClr val="F7FAFE"/>
            </a:solidFill>
            <a:ln w="9525">
              <a:solidFill>
                <a:srgbClr val="C9D8EF"/>
              </a:solidFill>
            </a:ln>
          </p:spPr>
        </p:sp>
        <p:grpSp>
          <p:nvGrpSpPr>
            <p:cNvPr id="57" name="Group 57"/>
            <p:cNvGrpSpPr/>
            <p:nvPr/>
          </p:nvGrpSpPr>
          <p:grpSpPr>
            <a:xfrm>
              <a:off x="519112" y="2461149"/>
              <a:ext cx="142875" cy="143938"/>
              <a:chOff x="519112" y="2461149"/>
              <a:chExt cx="142875" cy="143938"/>
            </a:xfrm>
          </p:grpSpPr>
          <p:sp>
            <p:nvSpPr>
              <p:cNvPr id="52" name="Freeform 52"/>
              <p:cNvSpPr/>
              <p:nvPr/>
            </p:nvSpPr>
            <p:spPr>
              <a:xfrm>
                <a:off x="566737" y="252571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A8351D"/>
                </a:solidFill>
              </a:ln>
            </p:spPr>
          </p:sp>
          <p:sp>
            <p:nvSpPr>
              <p:cNvPr id="53" name="Freeform 53"/>
              <p:cNvSpPr/>
              <p:nvPr/>
            </p:nvSpPr>
            <p:spPr>
              <a:xfrm>
                <a:off x="566737" y="254952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A8351D"/>
                </a:solidFill>
              </a:ln>
            </p:spPr>
          </p:sp>
          <p:sp>
            <p:nvSpPr>
              <p:cNvPr id="54" name="Freeform 54"/>
              <p:cNvSpPr/>
              <p:nvPr/>
            </p:nvSpPr>
            <p:spPr>
              <a:xfrm>
                <a:off x="519112" y="246114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A8351D"/>
                </a:solidFill>
              </a:ln>
            </p:spPr>
          </p:sp>
          <p:sp>
            <p:nvSpPr>
              <p:cNvPr id="55" name="Freeform 55"/>
              <p:cNvSpPr/>
              <p:nvPr/>
            </p:nvSpPr>
            <p:spPr>
              <a:xfrm>
                <a:off x="519112" y="248602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A8351D"/>
                </a:solidFill>
              </a:ln>
            </p:spPr>
          </p:sp>
          <p:sp>
            <p:nvSpPr>
              <p:cNvPr id="56" name="Freeform 56"/>
              <p:cNvSpPr/>
              <p:nvPr/>
            </p:nvSpPr>
            <p:spPr>
              <a:xfrm>
                <a:off x="519112" y="252571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A8351D"/>
                </a:solidFill>
              </a:ln>
            </p:spPr>
          </p:sp>
        </p:grpSp>
        <p:sp>
          <p:nvSpPr>
            <p:cNvPr id="58" name="TextBox 58"/>
            <p:cNvSpPr txBox="1"/>
            <p:nvPr/>
          </p:nvSpPr>
          <p:spPr>
            <a:xfrm>
              <a:off x="776288" y="2484120"/>
              <a:ext cx="494157"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授信融资</a:t>
              </a:r>
            </a:p>
          </p:txBody>
        </p:sp>
        <p:sp>
          <p:nvSpPr>
            <p:cNvPr id="59" name="Rectangle 59"/>
            <p:cNvSpPr/>
            <p:nvPr/>
          </p:nvSpPr>
          <p:spPr>
            <a:xfrm>
              <a:off x="381000" y="2819400"/>
              <a:ext cx="1428750" cy="419100"/>
            </a:xfrm>
            <a:prstGeom prst="roundRect">
              <a:avLst>
                <a:gd name="adj" fmla="val 13636"/>
              </a:avLst>
            </a:prstGeom>
            <a:solidFill>
              <a:srgbClr val="F7FAFE"/>
            </a:solidFill>
            <a:ln w="9525">
              <a:solidFill>
                <a:srgbClr val="C9D8EF"/>
              </a:solidFill>
            </a:ln>
          </p:spPr>
        </p:sp>
        <p:grpSp>
          <p:nvGrpSpPr>
            <p:cNvPr id="62" name="Group 62"/>
            <p:cNvGrpSpPr/>
            <p:nvPr/>
          </p:nvGrpSpPr>
          <p:grpSpPr>
            <a:xfrm>
              <a:off x="527050" y="2981325"/>
              <a:ext cx="127000" cy="112712"/>
              <a:chOff x="527050" y="2981325"/>
              <a:chExt cx="127000" cy="112712"/>
            </a:xfrm>
          </p:grpSpPr>
          <p:sp>
            <p:nvSpPr>
              <p:cNvPr id="60" name="Freeform 60"/>
              <p:cNvSpPr/>
              <p:nvPr/>
            </p:nvSpPr>
            <p:spPr>
              <a:xfrm>
                <a:off x="527050" y="3084512"/>
                <a:ext cx="127000" cy="9525"/>
              </a:xfrm>
              <a:custGeom>
                <a:avLst/>
                <a:gdLst/>
                <a:ahLst/>
                <a:cxnLst/>
                <a:rect l="l" t="t" r="r" b="b"/>
                <a:pathLst>
                  <a:path w="127000" h="9525">
                    <a:moveTo>
                      <a:pt x="0" y="0"/>
                    </a:moveTo>
                    <a:lnTo>
                      <a:pt x="127000" y="0"/>
                    </a:lnTo>
                  </a:path>
                </a:pathLst>
              </a:custGeom>
              <a:noFill/>
              <a:ln w="15875">
                <a:solidFill>
                  <a:srgbClr val="A8351D"/>
                </a:solidFill>
              </a:ln>
            </p:spPr>
          </p:sp>
          <p:sp>
            <p:nvSpPr>
              <p:cNvPr id="61" name="Freeform 61"/>
              <p:cNvSpPr/>
              <p:nvPr/>
            </p:nvSpPr>
            <p:spPr>
              <a:xfrm>
                <a:off x="527050" y="298132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A8351D"/>
                </a:solidFill>
              </a:ln>
            </p:spPr>
          </p:sp>
        </p:grpSp>
        <p:sp>
          <p:nvSpPr>
            <p:cNvPr id="63" name="TextBox 63"/>
            <p:cNvSpPr txBox="1"/>
            <p:nvPr/>
          </p:nvSpPr>
          <p:spPr>
            <a:xfrm>
              <a:off x="776288" y="2979420"/>
              <a:ext cx="494157"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现金管理</a:t>
              </a:r>
            </a:p>
          </p:txBody>
        </p:sp>
        <p:sp>
          <p:nvSpPr>
            <p:cNvPr id="64" name="Rectangle 64"/>
            <p:cNvSpPr/>
            <p:nvPr/>
          </p:nvSpPr>
          <p:spPr>
            <a:xfrm>
              <a:off x="381000" y="3314700"/>
              <a:ext cx="1428750" cy="419100"/>
            </a:xfrm>
            <a:prstGeom prst="roundRect">
              <a:avLst>
                <a:gd name="adj" fmla="val 13636"/>
              </a:avLst>
            </a:prstGeom>
            <a:solidFill>
              <a:srgbClr val="F7FAFE"/>
            </a:solidFill>
            <a:ln w="9525">
              <a:solidFill>
                <a:srgbClr val="C9D8EF"/>
              </a:solidFill>
            </a:ln>
          </p:spPr>
        </p:sp>
        <p:grpSp>
          <p:nvGrpSpPr>
            <p:cNvPr id="71" name="Group 71"/>
            <p:cNvGrpSpPr/>
            <p:nvPr/>
          </p:nvGrpSpPr>
          <p:grpSpPr>
            <a:xfrm>
              <a:off x="527050" y="3460750"/>
              <a:ext cx="126999" cy="126999"/>
              <a:chOff x="527050" y="3460750"/>
              <a:chExt cx="126999" cy="126999"/>
            </a:xfrm>
          </p:grpSpPr>
          <p:sp>
            <p:nvSpPr>
              <p:cNvPr id="65" name="Freeform 65"/>
              <p:cNvSpPr/>
              <p:nvPr/>
            </p:nvSpPr>
            <p:spPr>
              <a:xfrm>
                <a:off x="542377" y="3484054"/>
                <a:ext cx="88368" cy="88368"/>
              </a:xfrm>
              <a:custGeom>
                <a:avLst/>
                <a:gdLst/>
                <a:ahLst/>
                <a:cxnLst/>
                <a:rect l="l" t="t" r="r" b="b"/>
                <a:pathLst>
                  <a:path w="88368" h="88368">
                    <a:moveTo>
                      <a:pt x="0" y="0"/>
                    </a:moveTo>
                    <a:lnTo>
                      <a:pt x="10120" y="33726"/>
                    </a:lnTo>
                    <a:moveTo>
                      <a:pt x="54626" y="78248"/>
                    </a:moveTo>
                    <a:lnTo>
                      <a:pt x="88368" y="88368"/>
                    </a:lnTo>
                  </a:path>
                </a:pathLst>
              </a:custGeom>
              <a:noFill/>
              <a:ln w="15875">
                <a:solidFill>
                  <a:srgbClr val="A8351D"/>
                </a:solidFill>
              </a:ln>
            </p:spPr>
          </p:sp>
          <p:sp>
            <p:nvSpPr>
              <p:cNvPr id="66" name="Freeform 66"/>
              <p:cNvSpPr/>
              <p:nvPr/>
            </p:nvSpPr>
            <p:spPr>
              <a:xfrm>
                <a:off x="588034" y="3481054"/>
                <a:ext cx="45712" cy="45712"/>
              </a:xfrm>
              <a:custGeom>
                <a:avLst/>
                <a:gdLst/>
                <a:ahLst/>
                <a:cxnLst/>
                <a:rect l="l" t="t" r="r" b="b"/>
                <a:pathLst>
                  <a:path w="45712" h="45712">
                    <a:moveTo>
                      <a:pt x="0" y="45712"/>
                    </a:moveTo>
                    <a:lnTo>
                      <a:pt x="45712" y="0"/>
                    </a:lnTo>
                  </a:path>
                </a:pathLst>
              </a:custGeom>
              <a:noFill/>
              <a:ln w="15875">
                <a:solidFill>
                  <a:srgbClr val="A8351D"/>
                </a:solidFill>
              </a:ln>
            </p:spPr>
          </p:sp>
          <p:sp>
            <p:nvSpPr>
              <p:cNvPr id="67" name="Freeform 67"/>
              <p:cNvSpPr/>
              <p:nvPr/>
            </p:nvSpPr>
            <p:spPr>
              <a:xfrm>
                <a:off x="527050" y="3460750"/>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5875">
                <a:solidFill>
                  <a:srgbClr val="A8351D"/>
                </a:solidFill>
              </a:ln>
            </p:spPr>
          </p:sp>
          <p:sp>
            <p:nvSpPr>
              <p:cNvPr id="68" name="Freeform 68"/>
              <p:cNvSpPr/>
              <p:nvPr/>
            </p:nvSpPr>
            <p:spPr>
              <a:xfrm>
                <a:off x="630237" y="3460750"/>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5875">
                <a:solidFill>
                  <a:srgbClr val="A8351D"/>
                </a:solidFill>
              </a:ln>
            </p:spPr>
          </p:sp>
          <p:sp>
            <p:nvSpPr>
              <p:cNvPr id="69" name="Freeform 69"/>
              <p:cNvSpPr/>
              <p:nvPr/>
            </p:nvSpPr>
            <p:spPr>
              <a:xfrm>
                <a:off x="630237" y="3563937"/>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5875">
                <a:solidFill>
                  <a:srgbClr val="A8351D"/>
                </a:solidFill>
              </a:ln>
            </p:spPr>
          </p:sp>
          <p:sp>
            <p:nvSpPr>
              <p:cNvPr id="70" name="Freeform 70"/>
              <p:cNvSpPr/>
              <p:nvPr/>
            </p:nvSpPr>
            <p:spPr>
              <a:xfrm>
                <a:off x="527050" y="3516312"/>
                <a:ext cx="71437" cy="71437"/>
              </a:xfrm>
              <a:custGeom>
                <a:avLst/>
                <a:gdLst/>
                <a:ahLst/>
                <a:cxnLst/>
                <a:rect l="l" t="t" r="r" b="b"/>
                <a:pathLst>
                  <a:path w="71437" h="71437">
                    <a:moveTo>
                      <a:pt x="0" y="35719"/>
                    </a:moveTo>
                    <a:cubicBezTo>
                      <a:pt x="0" y="55446"/>
                      <a:pt x="15992" y="71437"/>
                      <a:pt x="35719" y="71437"/>
                    </a:cubicBezTo>
                    <a:cubicBezTo>
                      <a:pt x="55446" y="71437"/>
                      <a:pt x="71437" y="55446"/>
                      <a:pt x="71437" y="35719"/>
                    </a:cubicBezTo>
                    <a:cubicBezTo>
                      <a:pt x="71437" y="15992"/>
                      <a:pt x="55446" y="0"/>
                      <a:pt x="35719" y="0"/>
                    </a:cubicBezTo>
                    <a:cubicBezTo>
                      <a:pt x="15992" y="0"/>
                      <a:pt x="0" y="15992"/>
                      <a:pt x="0" y="35719"/>
                    </a:cubicBezTo>
                  </a:path>
                </a:pathLst>
              </a:custGeom>
              <a:noFill/>
              <a:ln w="15875">
                <a:solidFill>
                  <a:srgbClr val="A8351D"/>
                </a:solidFill>
              </a:ln>
            </p:spPr>
          </p:sp>
        </p:grpSp>
        <p:sp>
          <p:nvSpPr>
            <p:cNvPr id="72" name="TextBox 72"/>
            <p:cNvSpPr txBox="1"/>
            <p:nvPr/>
          </p:nvSpPr>
          <p:spPr>
            <a:xfrm>
              <a:off x="776288" y="3474720"/>
              <a:ext cx="615315"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供应链金融</a:t>
              </a:r>
            </a:p>
          </p:txBody>
        </p:sp>
        <p:sp>
          <p:nvSpPr>
            <p:cNvPr id="73" name="Rectangle 73"/>
            <p:cNvSpPr/>
            <p:nvPr/>
          </p:nvSpPr>
          <p:spPr>
            <a:xfrm>
              <a:off x="381000" y="3810000"/>
              <a:ext cx="1428750" cy="419100"/>
            </a:xfrm>
            <a:prstGeom prst="roundRect">
              <a:avLst>
                <a:gd name="adj" fmla="val 13636"/>
              </a:avLst>
            </a:prstGeom>
            <a:solidFill>
              <a:srgbClr val="F7FAFE"/>
            </a:solidFill>
            <a:ln w="9525">
              <a:solidFill>
                <a:srgbClr val="C9D8EF"/>
              </a:solidFill>
            </a:ln>
          </p:spPr>
        </p:sp>
        <p:grpSp>
          <p:nvGrpSpPr>
            <p:cNvPr id="78" name="Group 78"/>
            <p:cNvGrpSpPr/>
            <p:nvPr/>
          </p:nvGrpSpPr>
          <p:grpSpPr>
            <a:xfrm>
              <a:off x="516364" y="3954014"/>
              <a:ext cx="148228" cy="129036"/>
              <a:chOff x="516364" y="3954014"/>
              <a:chExt cx="148228" cy="129036"/>
            </a:xfrm>
          </p:grpSpPr>
          <p:sp>
            <p:nvSpPr>
              <p:cNvPr id="74" name="Freeform 74"/>
              <p:cNvSpPr/>
              <p:nvPr/>
            </p:nvSpPr>
            <p:spPr>
              <a:xfrm>
                <a:off x="516364" y="3954014"/>
                <a:ext cx="148228" cy="129036"/>
              </a:xfrm>
              <a:custGeom>
                <a:avLst/>
                <a:gdLst/>
                <a:ahLst/>
                <a:cxnLst/>
                <a:rect l="l" t="t" r="r" b="b"/>
                <a:pathLst>
                  <a:path w="148228" h="129036">
                    <a:moveTo>
                      <a:pt x="133717" y="70077"/>
                    </a:moveTo>
                    <a:lnTo>
                      <a:pt x="74186" y="129036"/>
                    </a:lnTo>
                    <a:lnTo>
                      <a:pt x="14655" y="70077"/>
                    </a:lnTo>
                    <a:cubicBezTo>
                      <a:pt x="3949" y="59659"/>
                      <a:pt x="0" y="44113"/>
                      <a:pt x="4435" y="29850"/>
                    </a:cubicBezTo>
                    <a:cubicBezTo>
                      <a:pt x="8870" y="15586"/>
                      <a:pt x="20939" y="5020"/>
                      <a:pt x="35663" y="2510"/>
                    </a:cubicBezTo>
                    <a:cubicBezTo>
                      <a:pt x="50388" y="0"/>
                      <a:pt x="65276" y="5970"/>
                      <a:pt x="74186" y="17959"/>
                    </a:cubicBezTo>
                    <a:cubicBezTo>
                      <a:pt x="83134" y="6059"/>
                      <a:pt x="97989" y="168"/>
                      <a:pt x="112661" y="2702"/>
                    </a:cubicBezTo>
                    <a:cubicBezTo>
                      <a:pt x="127332" y="5235"/>
                      <a:pt x="139351" y="15767"/>
                      <a:pt x="143790" y="29979"/>
                    </a:cubicBezTo>
                    <a:cubicBezTo>
                      <a:pt x="148228" y="44191"/>
                      <a:pt x="144339" y="59691"/>
                      <a:pt x="133717" y="70124"/>
                    </a:cubicBezTo>
                  </a:path>
                </a:pathLst>
              </a:custGeom>
              <a:noFill/>
              <a:ln w="15875">
                <a:solidFill>
                  <a:srgbClr val="A8351D"/>
                </a:solidFill>
              </a:ln>
            </p:spPr>
          </p:sp>
          <p:sp>
            <p:nvSpPr>
              <p:cNvPr id="75" name="Freeform 75"/>
              <p:cNvSpPr/>
              <p:nvPr/>
            </p:nvSpPr>
            <p:spPr>
              <a:xfrm>
                <a:off x="561313" y="3971925"/>
                <a:ext cx="88768" cy="51594"/>
              </a:xfrm>
              <a:custGeom>
                <a:avLst/>
                <a:gdLst/>
                <a:ahLst/>
                <a:cxnLst/>
                <a:rect l="l" t="t" r="r" b="b"/>
                <a:pathLst>
                  <a:path w="88768" h="51594">
                    <a:moveTo>
                      <a:pt x="29237" y="0"/>
                    </a:moveTo>
                    <a:lnTo>
                      <a:pt x="3099" y="26138"/>
                    </a:lnTo>
                    <a:cubicBezTo>
                      <a:pt x="0" y="29238"/>
                      <a:pt x="0" y="34262"/>
                      <a:pt x="3099" y="37362"/>
                    </a:cubicBezTo>
                    <a:lnTo>
                      <a:pt x="7409" y="41672"/>
                    </a:lnTo>
                    <a:cubicBezTo>
                      <a:pt x="12886" y="47149"/>
                      <a:pt x="21776" y="47149"/>
                      <a:pt x="27252" y="41672"/>
                    </a:cubicBezTo>
                    <a:lnTo>
                      <a:pt x="35190" y="33734"/>
                    </a:lnTo>
                    <a:cubicBezTo>
                      <a:pt x="45053" y="23871"/>
                      <a:pt x="61045" y="23871"/>
                      <a:pt x="70909" y="33734"/>
                    </a:cubicBezTo>
                    <a:lnTo>
                      <a:pt x="88768" y="51594"/>
                    </a:lnTo>
                  </a:path>
                </a:pathLst>
              </a:custGeom>
              <a:noFill/>
              <a:ln w="15875">
                <a:solidFill>
                  <a:srgbClr val="A8351D"/>
                </a:solidFill>
              </a:ln>
            </p:spPr>
          </p:sp>
          <p:sp>
            <p:nvSpPr>
              <p:cNvPr id="76" name="Freeform 76"/>
              <p:cNvSpPr/>
              <p:nvPr/>
            </p:nvSpPr>
            <p:spPr>
              <a:xfrm>
                <a:off x="594519" y="4047331"/>
                <a:ext cx="15875" cy="15875"/>
              </a:xfrm>
              <a:custGeom>
                <a:avLst/>
                <a:gdLst/>
                <a:ahLst/>
                <a:cxnLst/>
                <a:rect l="l" t="t" r="r" b="b"/>
                <a:pathLst>
                  <a:path w="15875" h="15875">
                    <a:moveTo>
                      <a:pt x="0" y="0"/>
                    </a:moveTo>
                    <a:lnTo>
                      <a:pt x="15875" y="15875"/>
                    </a:lnTo>
                  </a:path>
                </a:pathLst>
              </a:custGeom>
              <a:noFill/>
              <a:ln w="15875">
                <a:solidFill>
                  <a:srgbClr val="A8351D"/>
                </a:solidFill>
              </a:ln>
            </p:spPr>
          </p:sp>
          <p:sp>
            <p:nvSpPr>
              <p:cNvPr id="77" name="Freeform 77"/>
              <p:cNvSpPr/>
              <p:nvPr/>
            </p:nvSpPr>
            <p:spPr>
              <a:xfrm>
                <a:off x="614362" y="4027487"/>
                <a:ext cx="15875" cy="15875"/>
              </a:xfrm>
              <a:custGeom>
                <a:avLst/>
                <a:gdLst/>
                <a:ahLst/>
                <a:cxnLst/>
                <a:rect l="l" t="t" r="r" b="b"/>
                <a:pathLst>
                  <a:path w="15875" h="15875">
                    <a:moveTo>
                      <a:pt x="0" y="0"/>
                    </a:moveTo>
                    <a:lnTo>
                      <a:pt x="15875" y="15875"/>
                    </a:lnTo>
                  </a:path>
                </a:pathLst>
              </a:custGeom>
              <a:noFill/>
              <a:ln w="15875">
                <a:solidFill>
                  <a:srgbClr val="A8351D"/>
                </a:solidFill>
              </a:ln>
            </p:spPr>
          </p:sp>
        </p:grpSp>
        <p:sp>
          <p:nvSpPr>
            <p:cNvPr id="79" name="TextBox 79"/>
            <p:cNvSpPr txBox="1"/>
            <p:nvPr/>
          </p:nvSpPr>
          <p:spPr>
            <a:xfrm>
              <a:off x="776288" y="3970020"/>
              <a:ext cx="494157"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企业年金</a:t>
              </a:r>
            </a:p>
          </p:txBody>
        </p:sp>
        <p:sp>
          <p:nvSpPr>
            <p:cNvPr id="80" name="Freeform 80"/>
            <p:cNvSpPr/>
            <p:nvPr/>
          </p:nvSpPr>
          <p:spPr>
            <a:xfrm>
              <a:off x="1847850" y="3028950"/>
              <a:ext cx="190500" cy="190500"/>
            </a:xfrm>
            <a:prstGeom prst="rightArrow">
              <a:avLst/>
            </a:prstGeom>
            <a:solidFill>
              <a:srgbClr val="E5907F"/>
            </a:solidFill>
            <a:ln>
              <a:noFill/>
            </a:ln>
          </p:spPr>
        </p:sp>
        <p:sp>
          <p:nvSpPr>
            <p:cNvPr id="81" name="Rectangle 81"/>
            <p:cNvSpPr/>
            <p:nvPr/>
          </p:nvSpPr>
          <p:spPr>
            <a:xfrm>
              <a:off x="10382250" y="1428750"/>
              <a:ext cx="1428750" cy="285750"/>
            </a:xfrm>
            <a:prstGeom prst="roundRect">
              <a:avLst>
                <a:gd name="adj" fmla="val 13333"/>
              </a:avLst>
            </a:prstGeom>
            <a:gradFill>
              <a:gsLst>
                <a:gs pos="0">
                  <a:srgbClr val="AD3921"/>
                </a:gs>
                <a:gs pos="100000">
                  <a:srgbClr val="962C16"/>
                </a:gs>
              </a:gsLst>
              <a:lin ang="5400000" scaled="1"/>
            </a:gradFill>
            <a:ln>
              <a:noFill/>
            </a:ln>
          </p:spPr>
        </p:sp>
        <p:sp>
          <p:nvSpPr>
            <p:cNvPr id="82" name="TextBox 82"/>
            <p:cNvSpPr txBox="1"/>
            <p:nvPr/>
          </p:nvSpPr>
          <p:spPr>
            <a:xfrm>
              <a:off x="10667810" y="1522095"/>
              <a:ext cx="85763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个人端产品货架</a:t>
              </a:r>
            </a:p>
          </p:txBody>
        </p:sp>
        <p:sp>
          <p:nvSpPr>
            <p:cNvPr id="83" name="Rectangle 83"/>
            <p:cNvSpPr/>
            <p:nvPr/>
          </p:nvSpPr>
          <p:spPr>
            <a:xfrm>
              <a:off x="10382250" y="1828800"/>
              <a:ext cx="1428750" cy="419100"/>
            </a:xfrm>
            <a:prstGeom prst="roundRect">
              <a:avLst>
                <a:gd name="adj" fmla="val 13636"/>
              </a:avLst>
            </a:prstGeom>
            <a:solidFill>
              <a:srgbClr val="F7FAFE"/>
            </a:solidFill>
            <a:ln w="9525">
              <a:solidFill>
                <a:srgbClr val="C9D8EF"/>
              </a:solidFill>
            </a:ln>
          </p:spPr>
        </p:sp>
        <p:grpSp>
          <p:nvGrpSpPr>
            <p:cNvPr id="87" name="Group 87"/>
            <p:cNvGrpSpPr/>
            <p:nvPr/>
          </p:nvGrpSpPr>
          <p:grpSpPr>
            <a:xfrm>
              <a:off x="10544175" y="1966912"/>
              <a:ext cx="95250" cy="142875"/>
              <a:chOff x="10544175" y="1966912"/>
              <a:chExt cx="95250" cy="142875"/>
            </a:xfrm>
          </p:grpSpPr>
          <p:sp>
            <p:nvSpPr>
              <p:cNvPr id="84" name="Freeform 84"/>
              <p:cNvSpPr/>
              <p:nvPr/>
            </p:nvSpPr>
            <p:spPr>
              <a:xfrm>
                <a:off x="10544175" y="196691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A8351D"/>
                </a:solidFill>
              </a:ln>
            </p:spPr>
          </p:sp>
          <p:sp>
            <p:nvSpPr>
              <p:cNvPr id="85" name="Freeform 85"/>
              <p:cNvSpPr/>
              <p:nvPr/>
            </p:nvSpPr>
            <p:spPr>
              <a:xfrm>
                <a:off x="10583862" y="1974850"/>
                <a:ext cx="15875" cy="9525"/>
              </a:xfrm>
              <a:custGeom>
                <a:avLst/>
                <a:gdLst/>
                <a:ahLst/>
                <a:cxnLst/>
                <a:rect l="l" t="t" r="r" b="b"/>
                <a:pathLst>
                  <a:path w="15875" h="9525">
                    <a:moveTo>
                      <a:pt x="0" y="0"/>
                    </a:moveTo>
                    <a:lnTo>
                      <a:pt x="15875" y="0"/>
                    </a:lnTo>
                  </a:path>
                </a:pathLst>
              </a:custGeom>
              <a:noFill/>
              <a:ln w="15875">
                <a:solidFill>
                  <a:srgbClr val="A8351D"/>
                </a:solidFill>
              </a:ln>
            </p:spPr>
          </p:sp>
          <p:sp>
            <p:nvSpPr>
              <p:cNvPr id="86" name="Freeform 86"/>
              <p:cNvSpPr/>
              <p:nvPr/>
            </p:nvSpPr>
            <p:spPr>
              <a:xfrm>
                <a:off x="10591800" y="2078037"/>
                <a:ext cx="9525" cy="9525"/>
              </a:xfrm>
              <a:custGeom>
                <a:avLst/>
                <a:gdLst/>
                <a:ahLst/>
                <a:cxnLst/>
                <a:rect l="l" t="t" r="r" b="b"/>
                <a:pathLst>
                  <a:path w="9525" h="9525">
                    <a:moveTo>
                      <a:pt x="0" y="0"/>
                    </a:moveTo>
                    <a:lnTo>
                      <a:pt x="0" y="79"/>
                    </a:lnTo>
                  </a:path>
                </a:pathLst>
              </a:custGeom>
              <a:noFill/>
              <a:ln w="15875">
                <a:solidFill>
                  <a:srgbClr val="A8351D"/>
                </a:solidFill>
              </a:ln>
            </p:spPr>
          </p:sp>
        </p:grpSp>
        <p:sp>
          <p:nvSpPr>
            <p:cNvPr id="88" name="TextBox 88"/>
            <p:cNvSpPr txBox="1"/>
            <p:nvPr/>
          </p:nvSpPr>
          <p:spPr>
            <a:xfrm>
              <a:off x="10777538" y="1988820"/>
              <a:ext cx="494157"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支付消费</a:t>
              </a:r>
            </a:p>
          </p:txBody>
        </p:sp>
        <p:sp>
          <p:nvSpPr>
            <p:cNvPr id="89" name="Rectangle 89"/>
            <p:cNvSpPr/>
            <p:nvPr/>
          </p:nvSpPr>
          <p:spPr>
            <a:xfrm>
              <a:off x="10382250" y="2324100"/>
              <a:ext cx="1428750" cy="419100"/>
            </a:xfrm>
            <a:prstGeom prst="roundRect">
              <a:avLst>
                <a:gd name="adj" fmla="val 13636"/>
              </a:avLst>
            </a:prstGeom>
            <a:solidFill>
              <a:srgbClr val="F7FAFE"/>
            </a:solidFill>
            <a:ln w="9525">
              <a:solidFill>
                <a:srgbClr val="C9D8EF"/>
              </a:solidFill>
            </a:ln>
          </p:spPr>
        </p:sp>
        <p:grpSp>
          <p:nvGrpSpPr>
            <p:cNvPr id="94" name="Group 94"/>
            <p:cNvGrpSpPr/>
            <p:nvPr/>
          </p:nvGrpSpPr>
          <p:grpSpPr>
            <a:xfrm>
              <a:off x="10520362" y="2478087"/>
              <a:ext cx="142875" cy="111125"/>
              <a:chOff x="10520362" y="2478087"/>
              <a:chExt cx="142875" cy="111125"/>
            </a:xfrm>
          </p:grpSpPr>
          <p:sp>
            <p:nvSpPr>
              <p:cNvPr id="90" name="Freeform 90"/>
              <p:cNvSpPr/>
              <p:nvPr/>
            </p:nvSpPr>
            <p:spPr>
              <a:xfrm>
                <a:off x="10520362" y="247808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A8351D"/>
                </a:solidFill>
              </a:ln>
            </p:spPr>
          </p:sp>
          <p:sp>
            <p:nvSpPr>
              <p:cNvPr id="91" name="Freeform 91"/>
              <p:cNvSpPr/>
              <p:nvPr/>
            </p:nvSpPr>
            <p:spPr>
              <a:xfrm>
                <a:off x="10520362" y="2517775"/>
                <a:ext cx="142875" cy="9525"/>
              </a:xfrm>
              <a:custGeom>
                <a:avLst/>
                <a:gdLst/>
                <a:ahLst/>
                <a:cxnLst/>
                <a:rect l="l" t="t" r="r" b="b"/>
                <a:pathLst>
                  <a:path w="142875" h="9525">
                    <a:moveTo>
                      <a:pt x="0" y="0"/>
                    </a:moveTo>
                    <a:lnTo>
                      <a:pt x="142875" y="0"/>
                    </a:lnTo>
                  </a:path>
                </a:pathLst>
              </a:custGeom>
              <a:noFill/>
              <a:ln w="15875">
                <a:solidFill>
                  <a:srgbClr val="A8351D"/>
                </a:solidFill>
              </a:ln>
            </p:spPr>
          </p:sp>
          <p:sp>
            <p:nvSpPr>
              <p:cNvPr id="92" name="Freeform 92"/>
              <p:cNvSpPr/>
              <p:nvPr/>
            </p:nvSpPr>
            <p:spPr>
              <a:xfrm>
                <a:off x="10552112" y="2557462"/>
                <a:ext cx="9525" cy="9525"/>
              </a:xfrm>
              <a:custGeom>
                <a:avLst/>
                <a:gdLst/>
                <a:ahLst/>
                <a:cxnLst/>
                <a:rect l="l" t="t" r="r" b="b"/>
                <a:pathLst>
                  <a:path w="9525" h="9525">
                    <a:moveTo>
                      <a:pt x="0" y="0"/>
                    </a:moveTo>
                    <a:lnTo>
                      <a:pt x="79" y="0"/>
                    </a:lnTo>
                  </a:path>
                </a:pathLst>
              </a:custGeom>
              <a:noFill/>
              <a:ln w="15875">
                <a:solidFill>
                  <a:srgbClr val="A8351D"/>
                </a:solidFill>
              </a:ln>
            </p:spPr>
          </p:sp>
          <p:sp>
            <p:nvSpPr>
              <p:cNvPr id="93" name="Freeform 93"/>
              <p:cNvSpPr/>
              <p:nvPr/>
            </p:nvSpPr>
            <p:spPr>
              <a:xfrm>
                <a:off x="10583862" y="2557462"/>
                <a:ext cx="15875" cy="9525"/>
              </a:xfrm>
              <a:custGeom>
                <a:avLst/>
                <a:gdLst/>
                <a:ahLst/>
                <a:cxnLst/>
                <a:rect l="l" t="t" r="r" b="b"/>
                <a:pathLst>
                  <a:path w="15875" h="9525">
                    <a:moveTo>
                      <a:pt x="0" y="0"/>
                    </a:moveTo>
                    <a:lnTo>
                      <a:pt x="15875" y="0"/>
                    </a:lnTo>
                  </a:path>
                </a:pathLst>
              </a:custGeom>
              <a:noFill/>
              <a:ln w="15875">
                <a:solidFill>
                  <a:srgbClr val="A8351D"/>
                </a:solidFill>
              </a:ln>
            </p:spPr>
          </p:sp>
        </p:grpSp>
        <p:sp>
          <p:nvSpPr>
            <p:cNvPr id="95" name="TextBox 95"/>
            <p:cNvSpPr txBox="1"/>
            <p:nvPr/>
          </p:nvSpPr>
          <p:spPr>
            <a:xfrm>
              <a:off x="10777538" y="2484120"/>
              <a:ext cx="372999"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信用卡</a:t>
              </a:r>
            </a:p>
          </p:txBody>
        </p:sp>
        <p:sp>
          <p:nvSpPr>
            <p:cNvPr id="96" name="Rectangle 96"/>
            <p:cNvSpPr/>
            <p:nvPr/>
          </p:nvSpPr>
          <p:spPr>
            <a:xfrm>
              <a:off x="10382250" y="2819400"/>
              <a:ext cx="1428750" cy="419100"/>
            </a:xfrm>
            <a:prstGeom prst="roundRect">
              <a:avLst>
                <a:gd name="adj" fmla="val 13636"/>
              </a:avLst>
            </a:prstGeom>
            <a:solidFill>
              <a:srgbClr val="F7FAFE"/>
            </a:solidFill>
            <a:ln w="9525">
              <a:solidFill>
                <a:srgbClr val="C9D8EF"/>
              </a:solidFill>
            </a:ln>
          </p:spPr>
        </p:sp>
        <p:grpSp>
          <p:nvGrpSpPr>
            <p:cNvPr id="99" name="Group 99"/>
            <p:cNvGrpSpPr/>
            <p:nvPr/>
          </p:nvGrpSpPr>
          <p:grpSpPr>
            <a:xfrm>
              <a:off x="10520362" y="2989262"/>
              <a:ext cx="142875" cy="79375"/>
              <a:chOff x="10520362" y="2989262"/>
              <a:chExt cx="142875" cy="79375"/>
            </a:xfrm>
          </p:grpSpPr>
          <p:sp>
            <p:nvSpPr>
              <p:cNvPr id="97" name="Freeform 97"/>
              <p:cNvSpPr/>
              <p:nvPr/>
            </p:nvSpPr>
            <p:spPr>
              <a:xfrm>
                <a:off x="10520362" y="298926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A8351D"/>
                </a:solidFill>
              </a:ln>
            </p:spPr>
          </p:sp>
          <p:sp>
            <p:nvSpPr>
              <p:cNvPr id="98" name="Freeform 98"/>
              <p:cNvSpPr/>
              <p:nvPr/>
            </p:nvSpPr>
            <p:spPr>
              <a:xfrm>
                <a:off x="10607675" y="2989262"/>
                <a:ext cx="55562" cy="55562"/>
              </a:xfrm>
              <a:custGeom>
                <a:avLst/>
                <a:gdLst/>
                <a:ahLst/>
                <a:cxnLst/>
                <a:rect l="l" t="t" r="r" b="b"/>
                <a:pathLst>
                  <a:path w="55562" h="55562">
                    <a:moveTo>
                      <a:pt x="0" y="0"/>
                    </a:moveTo>
                    <a:lnTo>
                      <a:pt x="55562" y="0"/>
                    </a:lnTo>
                    <a:lnTo>
                      <a:pt x="55562" y="55562"/>
                    </a:lnTo>
                  </a:path>
                </a:pathLst>
              </a:custGeom>
              <a:noFill/>
              <a:ln w="15875">
                <a:solidFill>
                  <a:srgbClr val="A8351D"/>
                </a:solidFill>
              </a:ln>
            </p:spPr>
          </p:sp>
        </p:grpSp>
        <p:sp>
          <p:nvSpPr>
            <p:cNvPr id="100" name="TextBox 100"/>
            <p:cNvSpPr txBox="1"/>
            <p:nvPr/>
          </p:nvSpPr>
          <p:spPr>
            <a:xfrm>
              <a:off x="10777538" y="2979420"/>
              <a:ext cx="494157"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财富管理</a:t>
              </a:r>
            </a:p>
          </p:txBody>
        </p:sp>
        <p:sp>
          <p:nvSpPr>
            <p:cNvPr id="101" name="Rectangle 101"/>
            <p:cNvSpPr/>
            <p:nvPr/>
          </p:nvSpPr>
          <p:spPr>
            <a:xfrm>
              <a:off x="10382250" y="3314700"/>
              <a:ext cx="1428750" cy="419100"/>
            </a:xfrm>
            <a:prstGeom prst="roundRect">
              <a:avLst>
                <a:gd name="adj" fmla="val 13636"/>
              </a:avLst>
            </a:prstGeom>
            <a:solidFill>
              <a:srgbClr val="F7FAFE"/>
            </a:solidFill>
            <a:ln w="9525">
              <a:solidFill>
                <a:srgbClr val="C9D8EF"/>
              </a:solidFill>
            </a:ln>
          </p:spPr>
        </p:sp>
        <p:grpSp>
          <p:nvGrpSpPr>
            <p:cNvPr id="104" name="Group 104"/>
            <p:cNvGrpSpPr/>
            <p:nvPr/>
          </p:nvGrpSpPr>
          <p:grpSpPr>
            <a:xfrm>
              <a:off x="10509650" y="3452812"/>
              <a:ext cx="155005" cy="142875"/>
              <a:chOff x="10509650" y="3452812"/>
              <a:chExt cx="155005" cy="142875"/>
            </a:xfrm>
          </p:grpSpPr>
          <p:sp>
            <p:nvSpPr>
              <p:cNvPr id="102" name="Freeform 102"/>
              <p:cNvSpPr/>
              <p:nvPr/>
            </p:nvSpPr>
            <p:spPr>
              <a:xfrm>
                <a:off x="10509650" y="34528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A8351D"/>
                </a:solidFill>
              </a:ln>
            </p:spPr>
          </p:sp>
          <p:sp>
            <p:nvSpPr>
              <p:cNvPr id="103" name="Freeform 103"/>
              <p:cNvSpPr/>
              <p:nvPr/>
            </p:nvSpPr>
            <p:spPr>
              <a:xfrm>
                <a:off x="10615612" y="3563937"/>
                <a:ext cx="47625" cy="31750"/>
              </a:xfrm>
              <a:custGeom>
                <a:avLst/>
                <a:gdLst/>
                <a:ahLst/>
                <a:cxnLst/>
                <a:rect l="l" t="t" r="r" b="b"/>
                <a:pathLst>
                  <a:path w="47625" h="31750">
                    <a:moveTo>
                      <a:pt x="0" y="15875"/>
                    </a:moveTo>
                    <a:lnTo>
                      <a:pt x="15875" y="31750"/>
                    </a:lnTo>
                    <a:lnTo>
                      <a:pt x="47625" y="0"/>
                    </a:lnTo>
                  </a:path>
                </a:pathLst>
              </a:custGeom>
              <a:noFill/>
              <a:ln w="15875">
                <a:solidFill>
                  <a:srgbClr val="A8351D"/>
                </a:solidFill>
              </a:ln>
            </p:spPr>
          </p:sp>
        </p:grpSp>
        <p:sp>
          <p:nvSpPr>
            <p:cNvPr id="105" name="TextBox 105"/>
            <p:cNvSpPr txBox="1"/>
            <p:nvPr/>
          </p:nvSpPr>
          <p:spPr>
            <a:xfrm>
              <a:off x="10777538" y="3474720"/>
              <a:ext cx="494157"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养老保障</a:t>
              </a:r>
            </a:p>
          </p:txBody>
        </p:sp>
        <p:sp>
          <p:nvSpPr>
            <p:cNvPr id="106" name="Rectangle 106"/>
            <p:cNvSpPr/>
            <p:nvPr/>
          </p:nvSpPr>
          <p:spPr>
            <a:xfrm>
              <a:off x="10382250" y="3810000"/>
              <a:ext cx="1428750" cy="419100"/>
            </a:xfrm>
            <a:prstGeom prst="roundRect">
              <a:avLst>
                <a:gd name="adj" fmla="val 13636"/>
              </a:avLst>
            </a:prstGeom>
            <a:solidFill>
              <a:srgbClr val="F7FAFE"/>
            </a:solidFill>
            <a:ln w="9525">
              <a:solidFill>
                <a:srgbClr val="C9D8EF"/>
              </a:solidFill>
            </a:ln>
          </p:spPr>
        </p:sp>
        <p:grpSp>
          <p:nvGrpSpPr>
            <p:cNvPr id="112" name="Group 112"/>
            <p:cNvGrpSpPr/>
            <p:nvPr/>
          </p:nvGrpSpPr>
          <p:grpSpPr>
            <a:xfrm>
              <a:off x="10520362" y="3948112"/>
              <a:ext cx="142875" cy="142875"/>
              <a:chOff x="10520362" y="3948112"/>
              <a:chExt cx="142875" cy="142875"/>
            </a:xfrm>
          </p:grpSpPr>
          <p:sp>
            <p:nvSpPr>
              <p:cNvPr id="107" name="Freeform 107"/>
              <p:cNvSpPr/>
              <p:nvPr/>
            </p:nvSpPr>
            <p:spPr>
              <a:xfrm>
                <a:off x="10520362" y="39481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A8351D"/>
                </a:solidFill>
              </a:ln>
            </p:spPr>
          </p:sp>
          <p:sp>
            <p:nvSpPr>
              <p:cNvPr id="108" name="Freeform 108"/>
              <p:cNvSpPr/>
              <p:nvPr/>
            </p:nvSpPr>
            <p:spPr>
              <a:xfrm>
                <a:off x="10525125" y="3995737"/>
                <a:ext cx="133350" cy="9525"/>
              </a:xfrm>
              <a:custGeom>
                <a:avLst/>
                <a:gdLst/>
                <a:ahLst/>
                <a:cxnLst/>
                <a:rect l="l" t="t" r="r" b="b"/>
                <a:pathLst>
                  <a:path w="133350" h="9525">
                    <a:moveTo>
                      <a:pt x="0" y="0"/>
                    </a:moveTo>
                    <a:lnTo>
                      <a:pt x="133350" y="0"/>
                    </a:lnTo>
                  </a:path>
                </a:pathLst>
              </a:custGeom>
              <a:noFill/>
              <a:ln w="15875">
                <a:solidFill>
                  <a:srgbClr val="A8351D"/>
                </a:solidFill>
              </a:ln>
            </p:spPr>
          </p:sp>
          <p:sp>
            <p:nvSpPr>
              <p:cNvPr id="109" name="Freeform 109"/>
              <p:cNvSpPr/>
              <p:nvPr/>
            </p:nvSpPr>
            <p:spPr>
              <a:xfrm>
                <a:off x="10525125" y="4043362"/>
                <a:ext cx="133350" cy="9525"/>
              </a:xfrm>
              <a:custGeom>
                <a:avLst/>
                <a:gdLst/>
                <a:ahLst/>
                <a:cxnLst/>
                <a:rect l="l" t="t" r="r" b="b"/>
                <a:pathLst>
                  <a:path w="133350" h="9525">
                    <a:moveTo>
                      <a:pt x="0" y="0"/>
                    </a:moveTo>
                    <a:lnTo>
                      <a:pt x="133350" y="0"/>
                    </a:lnTo>
                  </a:path>
                </a:pathLst>
              </a:custGeom>
              <a:noFill/>
              <a:ln w="15875">
                <a:solidFill>
                  <a:srgbClr val="A8351D"/>
                </a:solidFill>
              </a:ln>
            </p:spPr>
          </p:sp>
          <p:sp>
            <p:nvSpPr>
              <p:cNvPr id="110" name="Freeform 110"/>
              <p:cNvSpPr/>
              <p:nvPr/>
            </p:nvSpPr>
            <p:spPr>
              <a:xfrm>
                <a:off x="10560550" y="3948112"/>
                <a:ext cx="27282" cy="142875"/>
              </a:xfrm>
              <a:custGeom>
                <a:avLst/>
                <a:gdLst/>
                <a:ahLst/>
                <a:cxnLst/>
                <a:rect l="l" t="t" r="r" b="b"/>
                <a:pathLst>
                  <a:path w="27282" h="142875">
                    <a:moveTo>
                      <a:pt x="27282" y="0"/>
                    </a:moveTo>
                    <a:cubicBezTo>
                      <a:pt x="0" y="43718"/>
                      <a:pt x="0" y="99157"/>
                      <a:pt x="27282" y="142875"/>
                    </a:cubicBezTo>
                  </a:path>
                </a:pathLst>
              </a:custGeom>
              <a:noFill/>
              <a:ln w="15875">
                <a:solidFill>
                  <a:srgbClr val="A8351D"/>
                </a:solidFill>
              </a:ln>
            </p:spPr>
          </p:sp>
          <p:sp>
            <p:nvSpPr>
              <p:cNvPr id="111" name="Freeform 111"/>
              <p:cNvSpPr/>
              <p:nvPr/>
            </p:nvSpPr>
            <p:spPr>
              <a:xfrm>
                <a:off x="10595769" y="3948112"/>
                <a:ext cx="27282" cy="142875"/>
              </a:xfrm>
              <a:custGeom>
                <a:avLst/>
                <a:gdLst/>
                <a:ahLst/>
                <a:cxnLst/>
                <a:rect l="l" t="t" r="r" b="b"/>
                <a:pathLst>
                  <a:path w="27282" h="142875">
                    <a:moveTo>
                      <a:pt x="0" y="0"/>
                    </a:moveTo>
                    <a:cubicBezTo>
                      <a:pt x="27282" y="43718"/>
                      <a:pt x="27282" y="99157"/>
                      <a:pt x="0" y="142875"/>
                    </a:cubicBezTo>
                  </a:path>
                </a:pathLst>
              </a:custGeom>
              <a:noFill/>
              <a:ln w="15875">
                <a:solidFill>
                  <a:srgbClr val="A8351D"/>
                </a:solidFill>
              </a:ln>
            </p:spPr>
          </p:sp>
        </p:grpSp>
        <p:sp>
          <p:nvSpPr>
            <p:cNvPr id="113" name="TextBox 113"/>
            <p:cNvSpPr txBox="1"/>
            <p:nvPr/>
          </p:nvSpPr>
          <p:spPr>
            <a:xfrm>
              <a:off x="10777538" y="3970020"/>
              <a:ext cx="494157"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跨境服务</a:t>
              </a:r>
            </a:p>
          </p:txBody>
        </p:sp>
        <p:sp>
          <p:nvSpPr>
            <p:cNvPr id="114" name="Freeform 114"/>
            <p:cNvSpPr/>
            <p:nvPr/>
          </p:nvSpPr>
          <p:spPr>
            <a:xfrm>
              <a:off x="10325100" y="3028950"/>
              <a:ext cx="190500" cy="190500"/>
            </a:xfrm>
            <a:prstGeom prst="leftArrow">
              <a:avLst/>
            </a:prstGeom>
            <a:solidFill>
              <a:srgbClr val="E5907F"/>
            </a:solidFill>
            <a:ln>
              <a:noFill/>
            </a:ln>
          </p:spPr>
        </p:sp>
        <p:sp>
          <p:nvSpPr>
            <p:cNvPr id="115" name="Rectangle 115"/>
            <p:cNvSpPr/>
            <p:nvPr/>
          </p:nvSpPr>
          <p:spPr>
            <a:xfrm>
              <a:off x="2647950" y="1428750"/>
              <a:ext cx="1447800" cy="285750"/>
            </a:xfrm>
            <a:prstGeom prst="roundRect">
              <a:avLst>
                <a:gd name="adj" fmla="val 13333"/>
              </a:avLst>
            </a:prstGeom>
            <a:solidFill>
              <a:srgbClr val="67281B"/>
            </a:solidFill>
            <a:ln>
              <a:noFill/>
            </a:ln>
          </p:spPr>
        </p:sp>
        <p:grpSp>
          <p:nvGrpSpPr>
            <p:cNvPr id="119" name="Group 119"/>
            <p:cNvGrpSpPr/>
            <p:nvPr/>
          </p:nvGrpSpPr>
          <p:grpSpPr>
            <a:xfrm>
              <a:off x="2840831" y="1521619"/>
              <a:ext cx="128587" cy="100013"/>
              <a:chOff x="2840831" y="1521619"/>
              <a:chExt cx="128587" cy="100013"/>
            </a:xfrm>
          </p:grpSpPr>
          <p:sp>
            <p:nvSpPr>
              <p:cNvPr id="116" name="Freeform 116"/>
              <p:cNvSpPr/>
              <p:nvPr/>
            </p:nvSpPr>
            <p:spPr>
              <a:xfrm>
                <a:off x="2840831" y="1521619"/>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FFFFFF"/>
                </a:solidFill>
              </a:ln>
            </p:spPr>
          </p:sp>
          <p:sp>
            <p:nvSpPr>
              <p:cNvPr id="117" name="Freeform 117"/>
              <p:cNvSpPr/>
              <p:nvPr/>
            </p:nvSpPr>
            <p:spPr>
              <a:xfrm>
                <a:off x="2869406" y="1550194"/>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FFFFFF"/>
                </a:solidFill>
              </a:ln>
            </p:spPr>
          </p:sp>
          <p:sp>
            <p:nvSpPr>
              <p:cNvPr id="118" name="Freeform 118"/>
              <p:cNvSpPr/>
              <p:nvPr/>
            </p:nvSpPr>
            <p:spPr>
              <a:xfrm>
                <a:off x="2905125" y="157162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grpSp>
        <p:sp>
          <p:nvSpPr>
            <p:cNvPr id="120" name="TextBox 120"/>
            <p:cNvSpPr txBox="1"/>
            <p:nvPr/>
          </p:nvSpPr>
          <p:spPr>
            <a:xfrm>
              <a:off x="3062288" y="1518047"/>
              <a:ext cx="389153"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薪福通</a:t>
              </a:r>
            </a:p>
          </p:txBody>
        </p:sp>
        <p:sp>
          <p:nvSpPr>
            <p:cNvPr id="121" name="Rectangle 121"/>
            <p:cNvSpPr/>
            <p:nvPr/>
          </p:nvSpPr>
          <p:spPr>
            <a:xfrm>
              <a:off x="2647950" y="1714500"/>
              <a:ext cx="1447800" cy="438150"/>
            </a:xfrm>
            <a:prstGeom prst="rect">
              <a:avLst/>
            </a:prstGeom>
            <a:solidFill>
              <a:srgbClr val="F7FAFE"/>
            </a:solidFill>
            <a:ln w="9525">
              <a:solidFill>
                <a:srgbClr val="E2EAF6"/>
              </a:solidFill>
            </a:ln>
          </p:spPr>
        </p:sp>
        <p:sp>
          <p:nvSpPr>
            <p:cNvPr id="122" name="TextBox 122"/>
            <p:cNvSpPr txBox="1"/>
            <p:nvPr/>
          </p:nvSpPr>
          <p:spPr>
            <a:xfrm>
              <a:off x="2961322" y="1818561"/>
              <a:ext cx="82105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7281B"/>
                  </a:solidFill>
                  <a:latin typeface="+mn-lt"/>
                  <a:ea typeface="+mn-ea"/>
                  <a:cs typeface="+mn-cs"/>
                </a:rPr>
                <a:t>代发｜工资单｜</a:t>
              </a:r>
              <a:br/>
              <a:r>
                <a:rPr lang="zh-CN" sz="710" dirty="0">
                  <a:solidFill>
                    <a:srgbClr val="67281B"/>
                  </a:solidFill>
                  <a:latin typeface="+mn-lt"/>
                  <a:ea typeface="+mn-ea"/>
                  <a:cs typeface="+mn-cs"/>
                </a:rPr>
                <a:t>员工权益｜财富服务</a:t>
              </a:r>
            </a:p>
          </p:txBody>
        </p:sp>
        <p:sp>
          <p:nvSpPr>
            <p:cNvPr id="123" name="Rectangle 123"/>
            <p:cNvSpPr/>
            <p:nvPr/>
          </p:nvSpPr>
          <p:spPr>
            <a:xfrm>
              <a:off x="4191000" y="1428750"/>
              <a:ext cx="1447800" cy="285750"/>
            </a:xfrm>
            <a:prstGeom prst="roundRect">
              <a:avLst>
                <a:gd name="adj" fmla="val 13333"/>
              </a:avLst>
            </a:prstGeom>
            <a:solidFill>
              <a:srgbClr val="67281B"/>
            </a:solidFill>
            <a:ln>
              <a:noFill/>
            </a:ln>
          </p:spPr>
        </p:sp>
        <p:sp>
          <p:nvSpPr>
            <p:cNvPr id="124" name="Freeform 124"/>
            <p:cNvSpPr/>
            <p:nvPr/>
          </p:nvSpPr>
          <p:spPr>
            <a:xfrm>
              <a:off x="4383881" y="1528762"/>
              <a:ext cx="128588" cy="85725"/>
            </a:xfrm>
            <a:custGeom>
              <a:avLst/>
              <a:gdLst/>
              <a:ahLst/>
              <a:cxnLst/>
              <a:rect l="l" t="t" r="r" b="b"/>
              <a:pathLst>
                <a:path w="128588" h="85725">
                  <a:moveTo>
                    <a:pt x="64294" y="0"/>
                  </a:moveTo>
                  <a:lnTo>
                    <a:pt x="92869" y="42862"/>
                  </a:lnTo>
                  <a:lnTo>
                    <a:pt x="128588" y="14288"/>
                  </a:lnTo>
                  <a:lnTo>
                    <a:pt x="114300" y="85725"/>
                  </a:lnTo>
                  <a:lnTo>
                    <a:pt x="14288" y="85725"/>
                  </a:lnTo>
                  <a:lnTo>
                    <a:pt x="0" y="14288"/>
                  </a:lnTo>
                  <a:lnTo>
                    <a:pt x="35719" y="42862"/>
                  </a:lnTo>
                  <a:lnTo>
                    <a:pt x="64294" y="0"/>
                  </a:lnTo>
                </a:path>
              </a:pathLst>
            </a:custGeom>
            <a:noFill/>
            <a:ln w="14288">
              <a:solidFill>
                <a:srgbClr val="FFFFFF"/>
              </a:solidFill>
            </a:ln>
          </p:spPr>
        </p:sp>
        <p:sp>
          <p:nvSpPr>
            <p:cNvPr id="125" name="TextBox 125"/>
            <p:cNvSpPr txBox="1"/>
            <p:nvPr/>
          </p:nvSpPr>
          <p:spPr>
            <a:xfrm>
              <a:off x="4605338" y="1518047"/>
              <a:ext cx="6422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企业家金融</a:t>
              </a:r>
            </a:p>
          </p:txBody>
        </p:sp>
        <p:sp>
          <p:nvSpPr>
            <p:cNvPr id="126" name="Rectangle 126"/>
            <p:cNvSpPr/>
            <p:nvPr/>
          </p:nvSpPr>
          <p:spPr>
            <a:xfrm>
              <a:off x="4191000" y="1714500"/>
              <a:ext cx="1447800" cy="438150"/>
            </a:xfrm>
            <a:prstGeom prst="rect">
              <a:avLst/>
            </a:prstGeom>
            <a:solidFill>
              <a:srgbClr val="F7FAFE"/>
            </a:solidFill>
            <a:ln w="9525">
              <a:solidFill>
                <a:srgbClr val="E2EAF6"/>
              </a:solidFill>
            </a:ln>
          </p:spPr>
        </p:sp>
        <p:sp>
          <p:nvSpPr>
            <p:cNvPr id="127" name="TextBox 127"/>
            <p:cNvSpPr txBox="1"/>
            <p:nvPr/>
          </p:nvSpPr>
          <p:spPr>
            <a:xfrm>
              <a:off x="4459288" y="1818561"/>
              <a:ext cx="91122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7281B"/>
                  </a:solidFill>
                  <a:latin typeface="+mn-lt"/>
                  <a:ea typeface="+mn-ea"/>
                  <a:cs typeface="+mn-cs"/>
                </a:rPr>
                <a:t>企业融资｜个人财富｜</a:t>
              </a:r>
              <a:br/>
              <a:r>
                <a:rPr lang="zh-CN" sz="710" dirty="0">
                  <a:solidFill>
                    <a:srgbClr val="67281B"/>
                  </a:solidFill>
                  <a:latin typeface="+mn-lt"/>
                  <a:ea typeface="+mn-ea"/>
                  <a:cs typeface="+mn-cs"/>
                </a:rPr>
                <a:t>保障｜传承</a:t>
              </a:r>
            </a:p>
          </p:txBody>
        </p:sp>
        <p:sp>
          <p:nvSpPr>
            <p:cNvPr id="128" name="Rectangle 128"/>
            <p:cNvSpPr/>
            <p:nvPr/>
          </p:nvSpPr>
          <p:spPr>
            <a:xfrm>
              <a:off x="5734050" y="1428750"/>
              <a:ext cx="1447800" cy="285750"/>
            </a:xfrm>
            <a:prstGeom prst="roundRect">
              <a:avLst>
                <a:gd name="adj" fmla="val 13333"/>
              </a:avLst>
            </a:prstGeom>
            <a:solidFill>
              <a:srgbClr val="67281B"/>
            </a:solidFill>
            <a:ln>
              <a:noFill/>
            </a:ln>
          </p:spPr>
        </p:sp>
        <p:grpSp>
          <p:nvGrpSpPr>
            <p:cNvPr id="135" name="Group 135"/>
            <p:cNvGrpSpPr/>
            <p:nvPr/>
          </p:nvGrpSpPr>
          <p:grpSpPr>
            <a:xfrm>
              <a:off x="5934075" y="1514475"/>
              <a:ext cx="114300" cy="114300"/>
              <a:chOff x="5934075" y="1514475"/>
              <a:chExt cx="114300" cy="114300"/>
            </a:xfrm>
          </p:grpSpPr>
          <p:sp>
            <p:nvSpPr>
              <p:cNvPr id="129" name="Freeform 129"/>
              <p:cNvSpPr/>
              <p:nvPr/>
            </p:nvSpPr>
            <p:spPr>
              <a:xfrm>
                <a:off x="5947870" y="1535449"/>
                <a:ext cx="79531" cy="79531"/>
              </a:xfrm>
              <a:custGeom>
                <a:avLst/>
                <a:gdLst/>
                <a:ahLst/>
                <a:cxnLst/>
                <a:rect l="l" t="t" r="r" b="b"/>
                <a:pathLst>
                  <a:path w="79531" h="79531">
                    <a:moveTo>
                      <a:pt x="0" y="0"/>
                    </a:moveTo>
                    <a:lnTo>
                      <a:pt x="9108" y="30354"/>
                    </a:lnTo>
                    <a:moveTo>
                      <a:pt x="49163" y="70423"/>
                    </a:moveTo>
                    <a:lnTo>
                      <a:pt x="79531" y="79531"/>
                    </a:lnTo>
                  </a:path>
                </a:pathLst>
              </a:custGeom>
              <a:noFill/>
              <a:ln w="14288">
                <a:solidFill>
                  <a:srgbClr val="FFFFFF"/>
                </a:solidFill>
              </a:ln>
            </p:spPr>
          </p:sp>
          <p:sp>
            <p:nvSpPr>
              <p:cNvPr id="130" name="Freeform 130"/>
              <p:cNvSpPr/>
              <p:nvPr/>
            </p:nvSpPr>
            <p:spPr>
              <a:xfrm>
                <a:off x="5988960" y="1532749"/>
                <a:ext cx="41141" cy="41141"/>
              </a:xfrm>
              <a:custGeom>
                <a:avLst/>
                <a:gdLst/>
                <a:ahLst/>
                <a:cxnLst/>
                <a:rect l="l" t="t" r="r" b="b"/>
                <a:pathLst>
                  <a:path w="41141" h="41141">
                    <a:moveTo>
                      <a:pt x="0" y="41141"/>
                    </a:moveTo>
                    <a:lnTo>
                      <a:pt x="41141" y="0"/>
                    </a:lnTo>
                  </a:path>
                </a:pathLst>
              </a:custGeom>
              <a:noFill/>
              <a:ln w="14288">
                <a:solidFill>
                  <a:srgbClr val="FFFFFF"/>
                </a:solidFill>
              </a:ln>
            </p:spPr>
          </p:sp>
          <p:sp>
            <p:nvSpPr>
              <p:cNvPr id="131" name="Freeform 131"/>
              <p:cNvSpPr/>
              <p:nvPr/>
            </p:nvSpPr>
            <p:spPr>
              <a:xfrm>
                <a:off x="5934075" y="1514475"/>
                <a:ext cx="21431" cy="21431"/>
              </a:xfrm>
              <a:custGeom>
                <a:avLst/>
                <a:gdLst/>
                <a:ahLst/>
                <a:cxnLst/>
                <a:rect l="l" t="t" r="r" b="b"/>
                <a:pathLst>
                  <a:path w="21431" h="21431">
                    <a:moveTo>
                      <a:pt x="0" y="10716"/>
                    </a:moveTo>
                    <a:cubicBezTo>
                      <a:pt x="0" y="16634"/>
                      <a:pt x="4798" y="21431"/>
                      <a:pt x="10716" y="21431"/>
                    </a:cubicBezTo>
                    <a:cubicBezTo>
                      <a:pt x="16634" y="21431"/>
                      <a:pt x="21431" y="16634"/>
                      <a:pt x="21431" y="10716"/>
                    </a:cubicBezTo>
                    <a:cubicBezTo>
                      <a:pt x="21431" y="4798"/>
                      <a:pt x="16634" y="0"/>
                      <a:pt x="10716" y="0"/>
                    </a:cubicBezTo>
                    <a:cubicBezTo>
                      <a:pt x="4798" y="0"/>
                      <a:pt x="0" y="4798"/>
                      <a:pt x="0" y="10716"/>
                    </a:cubicBezTo>
                  </a:path>
                </a:pathLst>
              </a:custGeom>
              <a:noFill/>
              <a:ln w="14288">
                <a:solidFill>
                  <a:srgbClr val="FFFFFF"/>
                </a:solidFill>
              </a:ln>
            </p:spPr>
          </p:sp>
          <p:sp>
            <p:nvSpPr>
              <p:cNvPr id="132" name="Freeform 132"/>
              <p:cNvSpPr/>
              <p:nvPr/>
            </p:nvSpPr>
            <p:spPr>
              <a:xfrm>
                <a:off x="6026944" y="1514475"/>
                <a:ext cx="21431" cy="21431"/>
              </a:xfrm>
              <a:custGeom>
                <a:avLst/>
                <a:gdLst/>
                <a:ahLst/>
                <a:cxnLst/>
                <a:rect l="l" t="t" r="r" b="b"/>
                <a:pathLst>
                  <a:path w="21431" h="21431">
                    <a:moveTo>
                      <a:pt x="0" y="10716"/>
                    </a:moveTo>
                    <a:cubicBezTo>
                      <a:pt x="0" y="16634"/>
                      <a:pt x="4798" y="21431"/>
                      <a:pt x="10716" y="21431"/>
                    </a:cubicBezTo>
                    <a:cubicBezTo>
                      <a:pt x="16634" y="21431"/>
                      <a:pt x="21431" y="16634"/>
                      <a:pt x="21431" y="10716"/>
                    </a:cubicBezTo>
                    <a:cubicBezTo>
                      <a:pt x="21431" y="4798"/>
                      <a:pt x="16634" y="0"/>
                      <a:pt x="10716" y="0"/>
                    </a:cubicBezTo>
                    <a:cubicBezTo>
                      <a:pt x="4798" y="0"/>
                      <a:pt x="0" y="4798"/>
                      <a:pt x="0" y="10716"/>
                    </a:cubicBezTo>
                  </a:path>
                </a:pathLst>
              </a:custGeom>
              <a:noFill/>
              <a:ln w="14288">
                <a:solidFill>
                  <a:srgbClr val="FFFFFF"/>
                </a:solidFill>
              </a:ln>
            </p:spPr>
          </p:sp>
          <p:sp>
            <p:nvSpPr>
              <p:cNvPr id="133" name="Freeform 133"/>
              <p:cNvSpPr/>
              <p:nvPr/>
            </p:nvSpPr>
            <p:spPr>
              <a:xfrm>
                <a:off x="6026944" y="1607344"/>
                <a:ext cx="21431" cy="21431"/>
              </a:xfrm>
              <a:custGeom>
                <a:avLst/>
                <a:gdLst/>
                <a:ahLst/>
                <a:cxnLst/>
                <a:rect l="l" t="t" r="r" b="b"/>
                <a:pathLst>
                  <a:path w="21431" h="21431">
                    <a:moveTo>
                      <a:pt x="0" y="10716"/>
                    </a:moveTo>
                    <a:cubicBezTo>
                      <a:pt x="0" y="16634"/>
                      <a:pt x="4798" y="21431"/>
                      <a:pt x="10716" y="21431"/>
                    </a:cubicBezTo>
                    <a:cubicBezTo>
                      <a:pt x="16634" y="21431"/>
                      <a:pt x="21431" y="16634"/>
                      <a:pt x="21431" y="10716"/>
                    </a:cubicBezTo>
                    <a:cubicBezTo>
                      <a:pt x="21431" y="4798"/>
                      <a:pt x="16634" y="0"/>
                      <a:pt x="10716" y="0"/>
                    </a:cubicBezTo>
                    <a:cubicBezTo>
                      <a:pt x="4798" y="0"/>
                      <a:pt x="0" y="4798"/>
                      <a:pt x="0" y="10716"/>
                    </a:cubicBezTo>
                  </a:path>
                </a:pathLst>
              </a:custGeom>
              <a:noFill/>
              <a:ln w="14288">
                <a:solidFill>
                  <a:srgbClr val="FFFFFF"/>
                </a:solidFill>
              </a:ln>
            </p:spPr>
          </p:sp>
          <p:sp>
            <p:nvSpPr>
              <p:cNvPr id="134" name="Freeform 134"/>
              <p:cNvSpPr/>
              <p:nvPr/>
            </p:nvSpPr>
            <p:spPr>
              <a:xfrm>
                <a:off x="5934075" y="1564481"/>
                <a:ext cx="64294" cy="64294"/>
              </a:xfrm>
              <a:custGeom>
                <a:avLst/>
                <a:gdLst/>
                <a:ahLst/>
                <a:cxnLst/>
                <a:rect l="l" t="t" r="r" b="b"/>
                <a:pathLst>
                  <a:path w="64294" h="64294">
                    <a:moveTo>
                      <a:pt x="0" y="32147"/>
                    </a:moveTo>
                    <a:cubicBezTo>
                      <a:pt x="0" y="49901"/>
                      <a:pt x="14393" y="64294"/>
                      <a:pt x="32147" y="64294"/>
                    </a:cubicBezTo>
                    <a:cubicBezTo>
                      <a:pt x="49901" y="64294"/>
                      <a:pt x="64294" y="49901"/>
                      <a:pt x="64294" y="32147"/>
                    </a:cubicBezTo>
                    <a:cubicBezTo>
                      <a:pt x="64294" y="14393"/>
                      <a:pt x="49901" y="0"/>
                      <a:pt x="32147" y="0"/>
                    </a:cubicBezTo>
                    <a:cubicBezTo>
                      <a:pt x="14393" y="0"/>
                      <a:pt x="0" y="14393"/>
                      <a:pt x="0" y="32147"/>
                    </a:cubicBezTo>
                  </a:path>
                </a:pathLst>
              </a:custGeom>
              <a:noFill/>
              <a:ln w="14288">
                <a:solidFill>
                  <a:srgbClr val="FFFFFF"/>
                </a:solidFill>
              </a:ln>
            </p:spPr>
          </p:sp>
        </p:grpSp>
        <p:sp>
          <p:nvSpPr>
            <p:cNvPr id="136" name="TextBox 136"/>
            <p:cNvSpPr txBox="1"/>
            <p:nvPr/>
          </p:nvSpPr>
          <p:spPr>
            <a:xfrm>
              <a:off x="6148388" y="1518047"/>
              <a:ext cx="6422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产业链普惠</a:t>
              </a:r>
            </a:p>
          </p:txBody>
        </p:sp>
        <p:sp>
          <p:nvSpPr>
            <p:cNvPr id="137" name="Rectangle 137"/>
            <p:cNvSpPr/>
            <p:nvPr/>
          </p:nvSpPr>
          <p:spPr>
            <a:xfrm>
              <a:off x="5734050" y="1714500"/>
              <a:ext cx="1447800" cy="438150"/>
            </a:xfrm>
            <a:prstGeom prst="rect">
              <a:avLst/>
            </a:prstGeom>
            <a:solidFill>
              <a:srgbClr val="F7FAFE"/>
            </a:solidFill>
            <a:ln w="9525">
              <a:solidFill>
                <a:srgbClr val="E2EAF6"/>
              </a:solidFill>
            </a:ln>
          </p:spPr>
        </p:sp>
        <p:sp>
          <p:nvSpPr>
            <p:cNvPr id="138" name="TextBox 138"/>
            <p:cNvSpPr txBox="1"/>
            <p:nvPr/>
          </p:nvSpPr>
          <p:spPr>
            <a:xfrm>
              <a:off x="6047422" y="1818561"/>
              <a:ext cx="82105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7281B"/>
                  </a:solidFill>
                  <a:latin typeface="+mn-lt"/>
                  <a:ea typeface="+mn-ea"/>
                  <a:cs typeface="+mn-cs"/>
                </a:rPr>
                <a:t>结算｜供应链融资｜</a:t>
              </a:r>
              <a:br/>
              <a:r>
                <a:rPr lang="zh-CN" sz="710" dirty="0">
                  <a:solidFill>
                    <a:srgbClr val="67281B"/>
                  </a:solidFill>
                  <a:latin typeface="+mn-lt"/>
                  <a:ea typeface="+mn-ea"/>
                  <a:cs typeface="+mn-cs"/>
                </a:rPr>
                <a:t>经营贷｜代发</a:t>
              </a:r>
            </a:p>
          </p:txBody>
        </p:sp>
        <p:sp>
          <p:nvSpPr>
            <p:cNvPr id="139" name="Rectangle 139"/>
            <p:cNvSpPr/>
            <p:nvPr/>
          </p:nvSpPr>
          <p:spPr>
            <a:xfrm>
              <a:off x="7277100" y="1428750"/>
              <a:ext cx="1447800" cy="285750"/>
            </a:xfrm>
            <a:prstGeom prst="roundRect">
              <a:avLst>
                <a:gd name="adj" fmla="val 13333"/>
              </a:avLst>
            </a:prstGeom>
            <a:solidFill>
              <a:srgbClr val="67281B"/>
            </a:solidFill>
            <a:ln>
              <a:noFill/>
            </a:ln>
          </p:spPr>
        </p:sp>
        <p:grpSp>
          <p:nvGrpSpPr>
            <p:cNvPr id="144" name="Group 144"/>
            <p:cNvGrpSpPr/>
            <p:nvPr/>
          </p:nvGrpSpPr>
          <p:grpSpPr>
            <a:xfrm>
              <a:off x="7467508" y="1512642"/>
              <a:ext cx="133405" cy="116133"/>
              <a:chOff x="7467508" y="1512642"/>
              <a:chExt cx="133405" cy="116133"/>
            </a:xfrm>
          </p:grpSpPr>
          <p:sp>
            <p:nvSpPr>
              <p:cNvPr id="140" name="Freeform 140"/>
              <p:cNvSpPr/>
              <p:nvPr/>
            </p:nvSpPr>
            <p:spPr>
              <a:xfrm>
                <a:off x="7467508" y="1512642"/>
                <a:ext cx="133405" cy="116133"/>
              </a:xfrm>
              <a:custGeom>
                <a:avLst/>
                <a:gdLst/>
                <a:ahLst/>
                <a:cxnLst/>
                <a:rect l="l" t="t" r="r" b="b"/>
                <a:pathLst>
                  <a:path w="133405" h="116133">
                    <a:moveTo>
                      <a:pt x="120346" y="63069"/>
                    </a:moveTo>
                    <a:lnTo>
                      <a:pt x="66767" y="116133"/>
                    </a:lnTo>
                    <a:lnTo>
                      <a:pt x="13189" y="63069"/>
                    </a:lnTo>
                    <a:cubicBezTo>
                      <a:pt x="3555" y="53693"/>
                      <a:pt x="0" y="39702"/>
                      <a:pt x="3992" y="26865"/>
                    </a:cubicBezTo>
                    <a:cubicBezTo>
                      <a:pt x="7983" y="14027"/>
                      <a:pt x="18845" y="4518"/>
                      <a:pt x="32097" y="2259"/>
                    </a:cubicBezTo>
                    <a:cubicBezTo>
                      <a:pt x="45350" y="0"/>
                      <a:pt x="58748" y="5373"/>
                      <a:pt x="66767" y="16163"/>
                    </a:cubicBezTo>
                    <a:cubicBezTo>
                      <a:pt x="74820" y="5453"/>
                      <a:pt x="88190" y="151"/>
                      <a:pt x="101395" y="2431"/>
                    </a:cubicBezTo>
                    <a:cubicBezTo>
                      <a:pt x="114599" y="4712"/>
                      <a:pt x="125416" y="14191"/>
                      <a:pt x="129411" y="26981"/>
                    </a:cubicBezTo>
                    <a:cubicBezTo>
                      <a:pt x="133405" y="39772"/>
                      <a:pt x="129905" y="53722"/>
                      <a:pt x="120346" y="63112"/>
                    </a:cubicBezTo>
                  </a:path>
                </a:pathLst>
              </a:custGeom>
              <a:noFill/>
              <a:ln w="14288">
                <a:solidFill>
                  <a:srgbClr val="FFFFFF"/>
                </a:solidFill>
              </a:ln>
            </p:spPr>
          </p:sp>
          <p:sp>
            <p:nvSpPr>
              <p:cNvPr id="141" name="Freeform 141"/>
              <p:cNvSpPr/>
              <p:nvPr/>
            </p:nvSpPr>
            <p:spPr>
              <a:xfrm>
                <a:off x="7507962" y="1528762"/>
                <a:ext cx="79891" cy="46434"/>
              </a:xfrm>
              <a:custGeom>
                <a:avLst/>
                <a:gdLst/>
                <a:ahLst/>
                <a:cxnLst/>
                <a:rect l="l" t="t" r="r" b="b"/>
                <a:pathLst>
                  <a:path w="79891" h="46434">
                    <a:moveTo>
                      <a:pt x="26313" y="0"/>
                    </a:moveTo>
                    <a:lnTo>
                      <a:pt x="2789" y="23524"/>
                    </a:lnTo>
                    <a:cubicBezTo>
                      <a:pt x="0" y="26314"/>
                      <a:pt x="0" y="30836"/>
                      <a:pt x="2789" y="33626"/>
                    </a:cubicBezTo>
                    <a:lnTo>
                      <a:pt x="6668" y="37505"/>
                    </a:lnTo>
                    <a:cubicBezTo>
                      <a:pt x="11597" y="42434"/>
                      <a:pt x="19598" y="42434"/>
                      <a:pt x="24527" y="37505"/>
                    </a:cubicBezTo>
                    <a:lnTo>
                      <a:pt x="31671" y="30361"/>
                    </a:lnTo>
                    <a:cubicBezTo>
                      <a:pt x="40548" y="21484"/>
                      <a:pt x="54941" y="21484"/>
                      <a:pt x="63818" y="30361"/>
                    </a:cubicBezTo>
                    <a:lnTo>
                      <a:pt x="79891" y="46434"/>
                    </a:lnTo>
                  </a:path>
                </a:pathLst>
              </a:custGeom>
              <a:noFill/>
              <a:ln w="14288">
                <a:solidFill>
                  <a:srgbClr val="FFFFFF"/>
                </a:solidFill>
              </a:ln>
            </p:spPr>
          </p:sp>
          <p:sp>
            <p:nvSpPr>
              <p:cNvPr id="142" name="Freeform 142"/>
              <p:cNvSpPr/>
              <p:nvPr/>
            </p:nvSpPr>
            <p:spPr>
              <a:xfrm>
                <a:off x="7537847" y="1596628"/>
                <a:ext cx="14288" cy="14288"/>
              </a:xfrm>
              <a:custGeom>
                <a:avLst/>
                <a:gdLst/>
                <a:ahLst/>
                <a:cxnLst/>
                <a:rect l="l" t="t" r="r" b="b"/>
                <a:pathLst>
                  <a:path w="14288" h="14288">
                    <a:moveTo>
                      <a:pt x="0" y="0"/>
                    </a:moveTo>
                    <a:lnTo>
                      <a:pt x="14288" y="14288"/>
                    </a:lnTo>
                  </a:path>
                </a:pathLst>
              </a:custGeom>
              <a:noFill/>
              <a:ln w="14288">
                <a:solidFill>
                  <a:srgbClr val="FFFFFF"/>
                </a:solidFill>
              </a:ln>
            </p:spPr>
          </p:sp>
          <p:sp>
            <p:nvSpPr>
              <p:cNvPr id="143" name="Freeform 143"/>
              <p:cNvSpPr/>
              <p:nvPr/>
            </p:nvSpPr>
            <p:spPr>
              <a:xfrm>
                <a:off x="7555706" y="1578769"/>
                <a:ext cx="14288" cy="14288"/>
              </a:xfrm>
              <a:custGeom>
                <a:avLst/>
                <a:gdLst/>
                <a:ahLst/>
                <a:cxnLst/>
                <a:rect l="l" t="t" r="r" b="b"/>
                <a:pathLst>
                  <a:path w="14288" h="14288">
                    <a:moveTo>
                      <a:pt x="0" y="0"/>
                    </a:moveTo>
                    <a:lnTo>
                      <a:pt x="14288" y="14288"/>
                    </a:lnTo>
                  </a:path>
                </a:pathLst>
              </a:custGeom>
              <a:noFill/>
              <a:ln w="14288">
                <a:solidFill>
                  <a:srgbClr val="FFFFFF"/>
                </a:solidFill>
              </a:ln>
            </p:spPr>
          </p:sp>
        </p:grpSp>
        <p:sp>
          <p:nvSpPr>
            <p:cNvPr id="145" name="TextBox 145"/>
            <p:cNvSpPr txBox="1"/>
            <p:nvPr/>
          </p:nvSpPr>
          <p:spPr>
            <a:xfrm>
              <a:off x="7691438" y="151804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企业养老</a:t>
              </a:r>
            </a:p>
          </p:txBody>
        </p:sp>
        <p:sp>
          <p:nvSpPr>
            <p:cNvPr id="146" name="Rectangle 146"/>
            <p:cNvSpPr/>
            <p:nvPr/>
          </p:nvSpPr>
          <p:spPr>
            <a:xfrm>
              <a:off x="7277100" y="1714500"/>
              <a:ext cx="1447800" cy="438150"/>
            </a:xfrm>
            <a:prstGeom prst="rect">
              <a:avLst/>
            </a:prstGeom>
            <a:solidFill>
              <a:srgbClr val="F7FAFE"/>
            </a:solidFill>
            <a:ln w="9525">
              <a:solidFill>
                <a:srgbClr val="E2EAF6"/>
              </a:solidFill>
            </a:ln>
          </p:spPr>
        </p:sp>
        <p:sp>
          <p:nvSpPr>
            <p:cNvPr id="147" name="TextBox 147"/>
            <p:cNvSpPr txBox="1"/>
            <p:nvPr/>
          </p:nvSpPr>
          <p:spPr>
            <a:xfrm>
              <a:off x="7500302" y="1818561"/>
              <a:ext cx="100139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7281B"/>
                  </a:solidFill>
                  <a:latin typeface="+mn-lt"/>
                  <a:ea typeface="+mn-ea"/>
                  <a:cs typeface="+mn-cs"/>
                </a:rPr>
                <a:t>企业年金｜个人养老金｜</a:t>
              </a:r>
              <a:br/>
              <a:r>
                <a:rPr lang="zh-CN" sz="710" dirty="0">
                  <a:solidFill>
                    <a:srgbClr val="67281B"/>
                  </a:solidFill>
                  <a:latin typeface="+mn-lt"/>
                  <a:ea typeface="+mn-ea"/>
                  <a:cs typeface="+mn-cs"/>
                </a:rPr>
                <a:t>养老财富</a:t>
              </a:r>
            </a:p>
          </p:txBody>
        </p:sp>
        <p:sp>
          <p:nvSpPr>
            <p:cNvPr id="148" name="Rectangle 148"/>
            <p:cNvSpPr/>
            <p:nvPr/>
          </p:nvSpPr>
          <p:spPr>
            <a:xfrm>
              <a:off x="8820150" y="1428750"/>
              <a:ext cx="1447800" cy="285750"/>
            </a:xfrm>
            <a:prstGeom prst="roundRect">
              <a:avLst>
                <a:gd name="adj" fmla="val 13333"/>
              </a:avLst>
            </a:prstGeom>
            <a:solidFill>
              <a:srgbClr val="67281B"/>
            </a:solidFill>
            <a:ln>
              <a:noFill/>
            </a:ln>
          </p:spPr>
        </p:sp>
        <p:grpSp>
          <p:nvGrpSpPr>
            <p:cNvPr id="154" name="Group 154"/>
            <p:cNvGrpSpPr/>
            <p:nvPr/>
          </p:nvGrpSpPr>
          <p:grpSpPr>
            <a:xfrm>
              <a:off x="9013031" y="1507331"/>
              <a:ext cx="128588" cy="128588"/>
              <a:chOff x="9013031" y="1507331"/>
              <a:chExt cx="128588" cy="128588"/>
            </a:xfrm>
          </p:grpSpPr>
          <p:sp>
            <p:nvSpPr>
              <p:cNvPr id="149" name="Freeform 149"/>
              <p:cNvSpPr/>
              <p:nvPr/>
            </p:nvSpPr>
            <p:spPr>
              <a:xfrm>
                <a:off x="9013031" y="15073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sp>
            <p:nvSpPr>
              <p:cNvPr id="150" name="Freeform 150"/>
              <p:cNvSpPr/>
              <p:nvPr/>
            </p:nvSpPr>
            <p:spPr>
              <a:xfrm>
                <a:off x="9017318" y="1550194"/>
                <a:ext cx="120015" cy="9525"/>
              </a:xfrm>
              <a:custGeom>
                <a:avLst/>
                <a:gdLst/>
                <a:ahLst/>
                <a:cxnLst/>
                <a:rect l="l" t="t" r="r" b="b"/>
                <a:pathLst>
                  <a:path w="120015" h="9525">
                    <a:moveTo>
                      <a:pt x="0" y="0"/>
                    </a:moveTo>
                    <a:lnTo>
                      <a:pt x="120015" y="0"/>
                    </a:lnTo>
                  </a:path>
                </a:pathLst>
              </a:custGeom>
              <a:noFill/>
              <a:ln w="14288">
                <a:solidFill>
                  <a:srgbClr val="FFFFFF"/>
                </a:solidFill>
              </a:ln>
            </p:spPr>
          </p:sp>
          <p:sp>
            <p:nvSpPr>
              <p:cNvPr id="151" name="Freeform 151"/>
              <p:cNvSpPr/>
              <p:nvPr/>
            </p:nvSpPr>
            <p:spPr>
              <a:xfrm>
                <a:off x="9017318" y="1593056"/>
                <a:ext cx="120015" cy="9525"/>
              </a:xfrm>
              <a:custGeom>
                <a:avLst/>
                <a:gdLst/>
                <a:ahLst/>
                <a:cxnLst/>
                <a:rect l="l" t="t" r="r" b="b"/>
                <a:pathLst>
                  <a:path w="120015" h="9525">
                    <a:moveTo>
                      <a:pt x="0" y="0"/>
                    </a:moveTo>
                    <a:lnTo>
                      <a:pt x="120015" y="0"/>
                    </a:lnTo>
                  </a:path>
                </a:pathLst>
              </a:custGeom>
              <a:noFill/>
              <a:ln w="14288">
                <a:solidFill>
                  <a:srgbClr val="FFFFFF"/>
                </a:solidFill>
              </a:ln>
            </p:spPr>
          </p:sp>
          <p:sp>
            <p:nvSpPr>
              <p:cNvPr id="152" name="Freeform 152"/>
              <p:cNvSpPr/>
              <p:nvPr/>
            </p:nvSpPr>
            <p:spPr>
              <a:xfrm>
                <a:off x="9049200" y="1507331"/>
                <a:ext cx="24553" cy="128588"/>
              </a:xfrm>
              <a:custGeom>
                <a:avLst/>
                <a:gdLst/>
                <a:ahLst/>
                <a:cxnLst/>
                <a:rect l="l" t="t" r="r" b="b"/>
                <a:pathLst>
                  <a:path w="24553" h="128588">
                    <a:moveTo>
                      <a:pt x="24553" y="0"/>
                    </a:moveTo>
                    <a:cubicBezTo>
                      <a:pt x="0" y="39346"/>
                      <a:pt x="0" y="89241"/>
                      <a:pt x="24553" y="128588"/>
                    </a:cubicBezTo>
                  </a:path>
                </a:pathLst>
              </a:custGeom>
              <a:noFill/>
              <a:ln w="14288">
                <a:solidFill>
                  <a:srgbClr val="FFFFFF"/>
                </a:solidFill>
              </a:ln>
            </p:spPr>
          </p:sp>
          <p:sp>
            <p:nvSpPr>
              <p:cNvPr id="153" name="Freeform 153"/>
              <p:cNvSpPr/>
              <p:nvPr/>
            </p:nvSpPr>
            <p:spPr>
              <a:xfrm>
                <a:off x="9080897" y="1507331"/>
                <a:ext cx="24553" cy="128588"/>
              </a:xfrm>
              <a:custGeom>
                <a:avLst/>
                <a:gdLst/>
                <a:ahLst/>
                <a:cxnLst/>
                <a:rect l="l" t="t" r="r" b="b"/>
                <a:pathLst>
                  <a:path w="24553" h="128588">
                    <a:moveTo>
                      <a:pt x="0" y="0"/>
                    </a:moveTo>
                    <a:cubicBezTo>
                      <a:pt x="24553" y="39346"/>
                      <a:pt x="24553" y="89241"/>
                      <a:pt x="0" y="128588"/>
                    </a:cubicBezTo>
                  </a:path>
                </a:pathLst>
              </a:custGeom>
              <a:noFill/>
              <a:ln w="14288">
                <a:solidFill>
                  <a:srgbClr val="FFFFFF"/>
                </a:solidFill>
              </a:ln>
            </p:spPr>
          </p:sp>
        </p:grpSp>
        <p:sp>
          <p:nvSpPr>
            <p:cNvPr id="155" name="TextBox 155"/>
            <p:cNvSpPr txBox="1"/>
            <p:nvPr/>
          </p:nvSpPr>
          <p:spPr>
            <a:xfrm>
              <a:off x="9234488" y="1518047"/>
              <a:ext cx="768782"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跨境员工服务</a:t>
              </a:r>
            </a:p>
          </p:txBody>
        </p:sp>
        <p:sp>
          <p:nvSpPr>
            <p:cNvPr id="156" name="Rectangle 156"/>
            <p:cNvSpPr/>
            <p:nvPr/>
          </p:nvSpPr>
          <p:spPr>
            <a:xfrm>
              <a:off x="8820150" y="1714500"/>
              <a:ext cx="1447800" cy="438150"/>
            </a:xfrm>
            <a:prstGeom prst="rect">
              <a:avLst/>
            </a:prstGeom>
            <a:solidFill>
              <a:srgbClr val="F7FAFE"/>
            </a:solidFill>
            <a:ln w="9525">
              <a:solidFill>
                <a:srgbClr val="E2EAF6"/>
              </a:solidFill>
            </a:ln>
          </p:spPr>
        </p:sp>
        <p:sp>
          <p:nvSpPr>
            <p:cNvPr id="157" name="TextBox 157"/>
            <p:cNvSpPr txBox="1"/>
            <p:nvPr/>
          </p:nvSpPr>
          <p:spPr>
            <a:xfrm>
              <a:off x="9178608" y="1818561"/>
              <a:ext cx="73088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7281B"/>
                  </a:solidFill>
                  <a:latin typeface="+mn-lt"/>
                  <a:ea typeface="+mn-ea"/>
                  <a:cs typeface="+mn-cs"/>
                </a:rPr>
                <a:t>跨境发薪｜账户｜</a:t>
              </a:r>
              <a:br/>
              <a:r>
                <a:rPr lang="zh-CN" sz="710" dirty="0">
                  <a:solidFill>
                    <a:srgbClr val="67281B"/>
                  </a:solidFill>
                  <a:latin typeface="+mn-lt"/>
                  <a:ea typeface="+mn-ea"/>
                  <a:cs typeface="+mn-cs"/>
                </a:rPr>
                <a:t>汇兑｜全球权益</a:t>
              </a:r>
            </a:p>
          </p:txBody>
        </p:sp>
        <p:sp>
          <p:nvSpPr>
            <p:cNvPr id="158" name="Rectangle 158"/>
            <p:cNvSpPr/>
            <p:nvPr/>
          </p:nvSpPr>
          <p:spPr>
            <a:xfrm>
              <a:off x="2000250" y="2247900"/>
              <a:ext cx="571500" cy="647700"/>
            </a:xfrm>
            <a:prstGeom prst="roundRect">
              <a:avLst>
                <a:gd name="adj" fmla="val 6667"/>
              </a:avLst>
            </a:prstGeom>
            <a:solidFill>
              <a:srgbClr val="F2CCC4"/>
            </a:solidFill>
            <a:ln>
              <a:noFill/>
            </a:ln>
          </p:spPr>
        </p:sp>
        <p:sp>
          <p:nvSpPr>
            <p:cNvPr id="159" name="Freeform 159"/>
            <p:cNvSpPr/>
            <p:nvPr/>
          </p:nvSpPr>
          <p:spPr>
            <a:xfrm>
              <a:off x="2246312" y="2393950"/>
              <a:ext cx="79375" cy="127000"/>
            </a:xfrm>
            <a:custGeom>
              <a:avLst/>
              <a:gdLst/>
              <a:ahLst/>
              <a:cxnLst/>
              <a:rect l="l" t="t" r="r" b="b"/>
              <a:pathLst>
                <a:path w="79375" h="127000">
                  <a:moveTo>
                    <a:pt x="79375" y="103187"/>
                  </a:moveTo>
                  <a:lnTo>
                    <a:pt x="79375" y="0"/>
                  </a:lnTo>
                  <a:lnTo>
                    <a:pt x="39687" y="23812"/>
                  </a:lnTo>
                  <a:lnTo>
                    <a:pt x="0" y="0"/>
                  </a:lnTo>
                  <a:lnTo>
                    <a:pt x="0" y="103187"/>
                  </a:lnTo>
                  <a:lnTo>
                    <a:pt x="39687" y="127000"/>
                  </a:lnTo>
                  <a:lnTo>
                    <a:pt x="79375" y="103187"/>
                  </a:lnTo>
                </a:path>
              </a:pathLst>
            </a:custGeom>
            <a:noFill/>
            <a:ln w="15875">
              <a:solidFill>
                <a:srgbClr val="67281B"/>
              </a:solidFill>
            </a:ln>
          </p:spPr>
        </p:sp>
        <p:sp>
          <p:nvSpPr>
            <p:cNvPr id="160" name="TextBox 160"/>
            <p:cNvSpPr txBox="1"/>
            <p:nvPr/>
          </p:nvSpPr>
          <p:spPr>
            <a:xfrm>
              <a:off x="2115655" y="2673191"/>
              <a:ext cx="340690"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基础版</a:t>
              </a:r>
            </a:p>
          </p:txBody>
        </p:sp>
        <p:sp>
          <p:nvSpPr>
            <p:cNvPr id="161" name="Rectangle 161"/>
            <p:cNvSpPr/>
            <p:nvPr/>
          </p:nvSpPr>
          <p:spPr>
            <a:xfrm>
              <a:off x="2000250" y="2971800"/>
              <a:ext cx="571500" cy="647700"/>
            </a:xfrm>
            <a:prstGeom prst="roundRect">
              <a:avLst>
                <a:gd name="adj" fmla="val 6667"/>
              </a:avLst>
            </a:prstGeom>
            <a:solidFill>
              <a:srgbClr val="DE674F"/>
            </a:solidFill>
            <a:ln>
              <a:noFill/>
            </a:ln>
          </p:spPr>
        </p:sp>
        <p:grpSp>
          <p:nvGrpSpPr>
            <p:cNvPr id="164" name="Group 164"/>
            <p:cNvGrpSpPr/>
            <p:nvPr/>
          </p:nvGrpSpPr>
          <p:grpSpPr>
            <a:xfrm>
              <a:off x="2214562" y="3141662"/>
              <a:ext cx="142875" cy="79375"/>
              <a:chOff x="2214562" y="3141662"/>
              <a:chExt cx="142875" cy="79375"/>
            </a:xfrm>
          </p:grpSpPr>
          <p:sp>
            <p:nvSpPr>
              <p:cNvPr id="162" name="Freeform 162"/>
              <p:cNvSpPr/>
              <p:nvPr/>
            </p:nvSpPr>
            <p:spPr>
              <a:xfrm>
                <a:off x="2214562" y="314166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163" name="Freeform 163"/>
              <p:cNvSpPr/>
              <p:nvPr/>
            </p:nvSpPr>
            <p:spPr>
              <a:xfrm>
                <a:off x="2301875" y="3141662"/>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165" name="TextBox 165"/>
            <p:cNvSpPr txBox="1"/>
            <p:nvPr/>
          </p:nvSpPr>
          <p:spPr>
            <a:xfrm>
              <a:off x="2115655" y="339709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成长版</a:t>
              </a:r>
            </a:p>
          </p:txBody>
        </p:sp>
        <p:sp>
          <p:nvSpPr>
            <p:cNvPr id="166" name="Rectangle 166"/>
            <p:cNvSpPr/>
            <p:nvPr/>
          </p:nvSpPr>
          <p:spPr>
            <a:xfrm>
              <a:off x="2000250" y="3695700"/>
              <a:ext cx="571500" cy="647700"/>
            </a:xfrm>
            <a:prstGeom prst="roundRect">
              <a:avLst>
                <a:gd name="adj" fmla="val 6667"/>
              </a:avLst>
            </a:prstGeom>
            <a:solidFill>
              <a:srgbClr val="67281B"/>
            </a:solidFill>
            <a:ln>
              <a:noFill/>
            </a:ln>
          </p:spPr>
        </p:sp>
        <p:sp>
          <p:nvSpPr>
            <p:cNvPr id="167" name="Freeform 167"/>
            <p:cNvSpPr/>
            <p:nvPr/>
          </p:nvSpPr>
          <p:spPr>
            <a:xfrm>
              <a:off x="2214562" y="3857625"/>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FFFFFF"/>
              </a:solidFill>
            </a:ln>
          </p:spPr>
        </p:sp>
        <p:sp>
          <p:nvSpPr>
            <p:cNvPr id="168" name="TextBox 168"/>
            <p:cNvSpPr txBox="1"/>
            <p:nvPr/>
          </p:nvSpPr>
          <p:spPr>
            <a:xfrm>
              <a:off x="2115655" y="412099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战略版</a:t>
              </a:r>
            </a:p>
          </p:txBody>
        </p:sp>
        <p:sp>
          <p:nvSpPr>
            <p:cNvPr id="169" name="Rectangle 169"/>
            <p:cNvSpPr/>
            <p:nvPr/>
          </p:nvSpPr>
          <p:spPr>
            <a:xfrm>
              <a:off x="2647950" y="2247900"/>
              <a:ext cx="1447800" cy="647700"/>
            </a:xfrm>
            <a:prstGeom prst="rect">
              <a:avLst/>
            </a:prstGeom>
            <a:solidFill>
              <a:srgbClr val="EAF2FC"/>
            </a:solidFill>
            <a:ln w="9525">
              <a:solidFill>
                <a:srgbClr val="FFFFFF"/>
              </a:solidFill>
            </a:ln>
          </p:spPr>
        </p:sp>
        <p:sp>
          <p:nvSpPr>
            <p:cNvPr id="170" name="TextBox 170"/>
            <p:cNvSpPr txBox="1"/>
            <p:nvPr/>
          </p:nvSpPr>
          <p:spPr>
            <a:xfrm>
              <a:off x="3081338" y="2452688"/>
              <a:ext cx="58102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67281B"/>
                  </a:solidFill>
                  <a:latin typeface="+mn-lt"/>
                  <a:ea typeface="+mn-ea"/>
                  <a:cs typeface="+mn-cs"/>
                </a:rPr>
                <a:t>代发工资服务</a:t>
              </a:r>
              <a:br/>
              <a:r>
                <a:rPr lang="zh-CN" sz="750" dirty="0">
                  <a:solidFill>
                    <a:srgbClr val="67281B"/>
                  </a:solidFill>
                  <a:latin typeface="+mn-lt"/>
                  <a:ea typeface="+mn-ea"/>
                  <a:cs typeface="+mn-cs"/>
                </a:rPr>
                <a:t>电子工资单</a:t>
              </a:r>
            </a:p>
          </p:txBody>
        </p:sp>
        <p:sp>
          <p:nvSpPr>
            <p:cNvPr id="171" name="Rectangle 171"/>
            <p:cNvSpPr/>
            <p:nvPr/>
          </p:nvSpPr>
          <p:spPr>
            <a:xfrm>
              <a:off x="4191000" y="2247900"/>
              <a:ext cx="1447800" cy="647700"/>
            </a:xfrm>
            <a:prstGeom prst="rect">
              <a:avLst/>
            </a:prstGeom>
            <a:solidFill>
              <a:srgbClr val="EAF2FC"/>
            </a:solidFill>
            <a:ln w="9525">
              <a:solidFill>
                <a:srgbClr val="FFFFFF"/>
              </a:solidFill>
            </a:ln>
          </p:spPr>
        </p:sp>
        <p:sp>
          <p:nvSpPr>
            <p:cNvPr id="172" name="TextBox 172"/>
            <p:cNvSpPr txBox="1"/>
            <p:nvPr/>
          </p:nvSpPr>
          <p:spPr>
            <a:xfrm>
              <a:off x="4767262" y="2452688"/>
              <a:ext cx="2952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67281B"/>
                  </a:solidFill>
                  <a:latin typeface="+mn-lt"/>
                  <a:ea typeface="+mn-ea"/>
                  <a:cs typeface="+mn-cs"/>
                </a:rPr>
                <a:t>经营贷</a:t>
              </a:r>
              <a:br/>
              <a:r>
                <a:rPr lang="zh-CN" sz="750" dirty="0">
                  <a:solidFill>
                    <a:srgbClr val="67281B"/>
                  </a:solidFill>
                  <a:latin typeface="+mn-lt"/>
                  <a:ea typeface="+mn-ea"/>
                  <a:cs typeface="+mn-cs"/>
                </a:rPr>
                <a:t>信用贷</a:t>
              </a:r>
            </a:p>
          </p:txBody>
        </p:sp>
        <p:sp>
          <p:nvSpPr>
            <p:cNvPr id="173" name="Rectangle 173"/>
            <p:cNvSpPr/>
            <p:nvPr/>
          </p:nvSpPr>
          <p:spPr>
            <a:xfrm>
              <a:off x="5734050" y="2247900"/>
              <a:ext cx="1447800" cy="647700"/>
            </a:xfrm>
            <a:prstGeom prst="rect">
              <a:avLst/>
            </a:prstGeom>
            <a:solidFill>
              <a:srgbClr val="EAF2FC"/>
            </a:solidFill>
            <a:ln w="9525">
              <a:solidFill>
                <a:srgbClr val="FFFFFF"/>
              </a:solidFill>
            </a:ln>
          </p:spPr>
        </p:sp>
        <p:sp>
          <p:nvSpPr>
            <p:cNvPr id="174" name="TextBox 174"/>
            <p:cNvSpPr txBox="1"/>
            <p:nvPr/>
          </p:nvSpPr>
          <p:spPr>
            <a:xfrm>
              <a:off x="6251258" y="252888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结算服务</a:t>
              </a:r>
            </a:p>
          </p:txBody>
        </p:sp>
        <p:sp>
          <p:nvSpPr>
            <p:cNvPr id="175" name="Rectangle 175"/>
            <p:cNvSpPr/>
            <p:nvPr/>
          </p:nvSpPr>
          <p:spPr>
            <a:xfrm>
              <a:off x="7277100" y="2247900"/>
              <a:ext cx="1447800" cy="647700"/>
            </a:xfrm>
            <a:prstGeom prst="rect">
              <a:avLst/>
            </a:prstGeom>
            <a:solidFill>
              <a:srgbClr val="EAF2FC"/>
            </a:solidFill>
            <a:ln w="9525">
              <a:solidFill>
                <a:srgbClr val="FFFFFF"/>
              </a:solidFill>
            </a:ln>
          </p:spPr>
        </p:sp>
        <p:sp>
          <p:nvSpPr>
            <p:cNvPr id="176" name="TextBox 176"/>
            <p:cNvSpPr txBox="1"/>
            <p:nvPr/>
          </p:nvSpPr>
          <p:spPr>
            <a:xfrm>
              <a:off x="7794308" y="252888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年金开户</a:t>
              </a:r>
            </a:p>
          </p:txBody>
        </p:sp>
        <p:sp>
          <p:nvSpPr>
            <p:cNvPr id="177" name="Rectangle 177"/>
            <p:cNvSpPr/>
            <p:nvPr/>
          </p:nvSpPr>
          <p:spPr>
            <a:xfrm>
              <a:off x="8820150" y="2247900"/>
              <a:ext cx="1447800" cy="647700"/>
            </a:xfrm>
            <a:prstGeom prst="rect">
              <a:avLst/>
            </a:prstGeom>
            <a:solidFill>
              <a:srgbClr val="EAF2FC"/>
            </a:solidFill>
            <a:ln w="9525">
              <a:solidFill>
                <a:srgbClr val="FFFFFF"/>
              </a:solidFill>
            </a:ln>
          </p:spPr>
        </p:sp>
        <p:sp>
          <p:nvSpPr>
            <p:cNvPr id="178" name="TextBox 178"/>
            <p:cNvSpPr txBox="1"/>
            <p:nvPr/>
          </p:nvSpPr>
          <p:spPr>
            <a:xfrm>
              <a:off x="9301162" y="2452688"/>
              <a:ext cx="4857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67281B"/>
                  </a:solidFill>
                  <a:latin typeface="+mn-lt"/>
                  <a:ea typeface="+mn-ea"/>
                  <a:cs typeface="+mn-cs"/>
                </a:rPr>
                <a:t>跨境发薪</a:t>
              </a:r>
              <a:br/>
              <a:r>
                <a:rPr lang="zh-CN" sz="750" dirty="0">
                  <a:solidFill>
                    <a:srgbClr val="67281B"/>
                  </a:solidFill>
                  <a:latin typeface="+mn-lt"/>
                  <a:ea typeface="+mn-ea"/>
                  <a:cs typeface="+mn-cs"/>
                </a:rPr>
                <a:t>多币种账户</a:t>
              </a:r>
            </a:p>
          </p:txBody>
        </p:sp>
        <p:sp>
          <p:nvSpPr>
            <p:cNvPr id="179" name="Rectangle 179"/>
            <p:cNvSpPr/>
            <p:nvPr/>
          </p:nvSpPr>
          <p:spPr>
            <a:xfrm>
              <a:off x="2647950" y="2971800"/>
              <a:ext cx="1447800" cy="647700"/>
            </a:xfrm>
            <a:prstGeom prst="rect">
              <a:avLst/>
            </a:prstGeom>
            <a:solidFill>
              <a:srgbClr val="E5907F"/>
            </a:solidFill>
            <a:ln w="9525">
              <a:solidFill>
                <a:srgbClr val="FFFFFF"/>
              </a:solidFill>
            </a:ln>
          </p:spPr>
        </p:sp>
        <p:sp>
          <p:nvSpPr>
            <p:cNvPr id="180" name="TextBox 180"/>
            <p:cNvSpPr txBox="1"/>
            <p:nvPr/>
          </p:nvSpPr>
          <p:spPr>
            <a:xfrm>
              <a:off x="3064192" y="3252788"/>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员工权益专区</a:t>
              </a:r>
            </a:p>
          </p:txBody>
        </p:sp>
        <p:sp>
          <p:nvSpPr>
            <p:cNvPr id="181" name="Rectangle 181"/>
            <p:cNvSpPr/>
            <p:nvPr/>
          </p:nvSpPr>
          <p:spPr>
            <a:xfrm>
              <a:off x="4191000" y="2971800"/>
              <a:ext cx="1447800" cy="647700"/>
            </a:xfrm>
            <a:prstGeom prst="rect">
              <a:avLst/>
            </a:prstGeom>
            <a:solidFill>
              <a:srgbClr val="E5907F"/>
            </a:solidFill>
            <a:ln w="9525">
              <a:solidFill>
                <a:srgbClr val="FFFFFF"/>
              </a:solidFill>
            </a:ln>
          </p:spPr>
        </p:sp>
        <p:sp>
          <p:nvSpPr>
            <p:cNvPr id="182" name="TextBox 182"/>
            <p:cNvSpPr txBox="1"/>
            <p:nvPr/>
          </p:nvSpPr>
          <p:spPr>
            <a:xfrm>
              <a:off x="4455795" y="3252788"/>
              <a:ext cx="918210"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综合授信与资产配置</a:t>
              </a:r>
            </a:p>
          </p:txBody>
        </p:sp>
        <p:sp>
          <p:nvSpPr>
            <p:cNvPr id="183" name="Rectangle 183"/>
            <p:cNvSpPr/>
            <p:nvPr/>
          </p:nvSpPr>
          <p:spPr>
            <a:xfrm>
              <a:off x="5734050" y="2971800"/>
              <a:ext cx="1447800" cy="647700"/>
            </a:xfrm>
            <a:prstGeom prst="rect">
              <a:avLst/>
            </a:prstGeom>
            <a:solidFill>
              <a:srgbClr val="E5907F"/>
            </a:solidFill>
            <a:ln w="9525">
              <a:solidFill>
                <a:srgbClr val="FFFFFF"/>
              </a:solidFill>
            </a:ln>
          </p:spPr>
        </p:sp>
        <p:sp>
          <p:nvSpPr>
            <p:cNvPr id="184" name="TextBox 184"/>
            <p:cNvSpPr txBox="1"/>
            <p:nvPr/>
          </p:nvSpPr>
          <p:spPr>
            <a:xfrm>
              <a:off x="6200775" y="3252788"/>
              <a:ext cx="514350"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供应链融资</a:t>
              </a:r>
            </a:p>
          </p:txBody>
        </p:sp>
        <p:sp>
          <p:nvSpPr>
            <p:cNvPr id="185" name="Rectangle 185"/>
            <p:cNvSpPr/>
            <p:nvPr/>
          </p:nvSpPr>
          <p:spPr>
            <a:xfrm>
              <a:off x="7277100" y="2971800"/>
              <a:ext cx="1447800" cy="647700"/>
            </a:xfrm>
            <a:prstGeom prst="rect">
              <a:avLst/>
            </a:prstGeom>
            <a:solidFill>
              <a:srgbClr val="E5907F"/>
            </a:solidFill>
            <a:ln w="9525">
              <a:solidFill>
                <a:srgbClr val="FFFFFF"/>
              </a:solidFill>
            </a:ln>
          </p:spPr>
        </p:sp>
        <p:sp>
          <p:nvSpPr>
            <p:cNvPr id="186" name="TextBox 186"/>
            <p:cNvSpPr txBox="1"/>
            <p:nvPr/>
          </p:nvSpPr>
          <p:spPr>
            <a:xfrm>
              <a:off x="7642860" y="3252788"/>
              <a:ext cx="716280"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养老退役与陪伴</a:t>
              </a:r>
            </a:p>
          </p:txBody>
        </p:sp>
        <p:sp>
          <p:nvSpPr>
            <p:cNvPr id="187" name="Rectangle 187"/>
            <p:cNvSpPr/>
            <p:nvPr/>
          </p:nvSpPr>
          <p:spPr>
            <a:xfrm>
              <a:off x="8820150" y="2971800"/>
              <a:ext cx="1447800" cy="647700"/>
            </a:xfrm>
            <a:prstGeom prst="rect">
              <a:avLst/>
            </a:prstGeom>
            <a:solidFill>
              <a:srgbClr val="E5907F"/>
            </a:solidFill>
            <a:ln w="9525">
              <a:solidFill>
                <a:srgbClr val="FFFFFF"/>
              </a:solidFill>
            </a:ln>
          </p:spPr>
        </p:sp>
        <p:sp>
          <p:nvSpPr>
            <p:cNvPr id="188" name="TextBox 188"/>
            <p:cNvSpPr txBox="1"/>
            <p:nvPr/>
          </p:nvSpPr>
          <p:spPr>
            <a:xfrm>
              <a:off x="9185910" y="3252788"/>
              <a:ext cx="716280"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汇兑与境外支付</a:t>
              </a:r>
            </a:p>
          </p:txBody>
        </p:sp>
        <p:sp>
          <p:nvSpPr>
            <p:cNvPr id="189" name="Rectangle 189"/>
            <p:cNvSpPr/>
            <p:nvPr/>
          </p:nvSpPr>
          <p:spPr>
            <a:xfrm>
              <a:off x="2647950" y="3695700"/>
              <a:ext cx="1447800" cy="647700"/>
            </a:xfrm>
            <a:prstGeom prst="rect">
              <a:avLst/>
            </a:prstGeom>
            <a:solidFill>
              <a:srgbClr val="A8351D"/>
            </a:solidFill>
            <a:ln w="9525">
              <a:solidFill>
                <a:srgbClr val="FFFFFF"/>
              </a:solidFill>
            </a:ln>
          </p:spPr>
        </p:sp>
        <p:sp>
          <p:nvSpPr>
            <p:cNvPr id="190" name="TextBox 190"/>
            <p:cNvSpPr txBox="1"/>
            <p:nvPr/>
          </p:nvSpPr>
          <p:spPr>
            <a:xfrm>
              <a:off x="3033712" y="3900488"/>
              <a:ext cx="6762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FFFFFF"/>
                  </a:solidFill>
                  <a:latin typeface="+mn-lt"/>
                  <a:ea typeface="+mn-ea"/>
                  <a:cs typeface="+mn-cs"/>
                </a:rPr>
                <a:t>全员财富服务与</a:t>
              </a:r>
              <a:br/>
              <a:r>
                <a:rPr lang="zh-CN" sz="750" dirty="0">
                  <a:solidFill>
                    <a:srgbClr val="FFFFFF"/>
                  </a:solidFill>
                  <a:latin typeface="+mn-lt"/>
                  <a:ea typeface="+mn-ea"/>
                  <a:cs typeface="+mn-cs"/>
                </a:rPr>
                <a:t>员工激励关怀</a:t>
              </a:r>
            </a:p>
          </p:txBody>
        </p:sp>
        <p:sp>
          <p:nvSpPr>
            <p:cNvPr id="191" name="Rectangle 191"/>
            <p:cNvSpPr/>
            <p:nvPr/>
          </p:nvSpPr>
          <p:spPr>
            <a:xfrm>
              <a:off x="4191000" y="3695700"/>
              <a:ext cx="1447800" cy="647700"/>
            </a:xfrm>
            <a:prstGeom prst="rect">
              <a:avLst/>
            </a:prstGeom>
            <a:solidFill>
              <a:srgbClr val="A8351D"/>
            </a:solidFill>
            <a:ln w="9525">
              <a:solidFill>
                <a:srgbClr val="FFFFFF"/>
              </a:solidFill>
            </a:ln>
          </p:spPr>
        </p:sp>
        <p:sp>
          <p:nvSpPr>
            <p:cNvPr id="192" name="TextBox 192"/>
            <p:cNvSpPr txBox="1"/>
            <p:nvPr/>
          </p:nvSpPr>
          <p:spPr>
            <a:xfrm>
              <a:off x="4576762" y="3900488"/>
              <a:ext cx="6762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FFFFFF"/>
                  </a:solidFill>
                  <a:latin typeface="+mn-lt"/>
                  <a:ea typeface="+mn-ea"/>
                  <a:cs typeface="+mn-cs"/>
                </a:rPr>
                <a:t>股权融资协同与</a:t>
              </a:r>
              <a:br/>
              <a:r>
                <a:rPr lang="zh-CN" sz="750" dirty="0">
                  <a:solidFill>
                    <a:srgbClr val="FFFFFF"/>
                  </a:solidFill>
                  <a:latin typeface="+mn-lt"/>
                  <a:ea typeface="+mn-ea"/>
                  <a:cs typeface="+mn-cs"/>
                </a:rPr>
                <a:t>家族传承</a:t>
              </a:r>
            </a:p>
          </p:txBody>
        </p:sp>
        <p:sp>
          <p:nvSpPr>
            <p:cNvPr id="193" name="Rectangle 193"/>
            <p:cNvSpPr/>
            <p:nvPr/>
          </p:nvSpPr>
          <p:spPr>
            <a:xfrm>
              <a:off x="5734050" y="3695700"/>
              <a:ext cx="1447800" cy="647700"/>
            </a:xfrm>
            <a:prstGeom prst="rect">
              <a:avLst/>
            </a:prstGeom>
            <a:solidFill>
              <a:srgbClr val="A8351D"/>
            </a:solidFill>
            <a:ln w="9525">
              <a:solidFill>
                <a:srgbClr val="FFFFFF"/>
              </a:solidFill>
            </a:ln>
          </p:spPr>
        </p:sp>
        <p:sp>
          <p:nvSpPr>
            <p:cNvPr id="194" name="TextBox 194"/>
            <p:cNvSpPr txBox="1"/>
            <p:nvPr/>
          </p:nvSpPr>
          <p:spPr>
            <a:xfrm>
              <a:off x="6072188" y="3900488"/>
              <a:ext cx="77152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FFFFFF"/>
                  </a:solidFill>
                  <a:latin typeface="+mn-lt"/>
                  <a:ea typeface="+mn-ea"/>
                  <a:cs typeface="+mn-cs"/>
                </a:rPr>
                <a:t>产业链综合金融与</a:t>
              </a:r>
              <a:br/>
              <a:r>
                <a:rPr lang="zh-CN" sz="750" dirty="0">
                  <a:solidFill>
                    <a:srgbClr val="FFFFFF"/>
                  </a:solidFill>
                  <a:latin typeface="+mn-lt"/>
                  <a:ea typeface="+mn-ea"/>
                  <a:cs typeface="+mn-cs"/>
                </a:rPr>
                <a:t>定制化授信</a:t>
              </a:r>
            </a:p>
          </p:txBody>
        </p:sp>
        <p:sp>
          <p:nvSpPr>
            <p:cNvPr id="195" name="Rectangle 195"/>
            <p:cNvSpPr/>
            <p:nvPr/>
          </p:nvSpPr>
          <p:spPr>
            <a:xfrm>
              <a:off x="7277100" y="3695700"/>
              <a:ext cx="1447800" cy="647700"/>
            </a:xfrm>
            <a:prstGeom prst="rect">
              <a:avLst/>
            </a:prstGeom>
            <a:solidFill>
              <a:srgbClr val="A8351D"/>
            </a:solidFill>
            <a:ln w="9525">
              <a:solidFill>
                <a:srgbClr val="FFFFFF"/>
              </a:solidFill>
            </a:ln>
          </p:spPr>
        </p:sp>
        <p:sp>
          <p:nvSpPr>
            <p:cNvPr id="196" name="TextBox 196"/>
            <p:cNvSpPr txBox="1"/>
            <p:nvPr/>
          </p:nvSpPr>
          <p:spPr>
            <a:xfrm>
              <a:off x="7564612" y="3976688"/>
              <a:ext cx="87277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企业/个人养老规划</a:t>
              </a:r>
            </a:p>
          </p:txBody>
        </p:sp>
        <p:sp>
          <p:nvSpPr>
            <p:cNvPr id="197" name="Rectangle 197"/>
            <p:cNvSpPr/>
            <p:nvPr/>
          </p:nvSpPr>
          <p:spPr>
            <a:xfrm>
              <a:off x="8820150" y="3695700"/>
              <a:ext cx="1447800" cy="647700"/>
            </a:xfrm>
            <a:prstGeom prst="rect">
              <a:avLst/>
            </a:prstGeom>
            <a:solidFill>
              <a:srgbClr val="A8351D"/>
            </a:solidFill>
            <a:ln w="9525">
              <a:solidFill>
                <a:srgbClr val="FFFFFF"/>
              </a:solidFill>
            </a:ln>
          </p:spPr>
        </p:sp>
        <p:sp>
          <p:nvSpPr>
            <p:cNvPr id="198" name="TextBox 198"/>
            <p:cNvSpPr txBox="1"/>
            <p:nvPr/>
          </p:nvSpPr>
          <p:spPr>
            <a:xfrm>
              <a:off x="9253538" y="3900488"/>
              <a:ext cx="58102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FFFFFF"/>
                  </a:solidFill>
                  <a:latin typeface="+mn-lt"/>
                  <a:ea typeface="+mn-ea"/>
                  <a:cs typeface="+mn-cs"/>
                </a:rPr>
                <a:t>全球权益与</a:t>
              </a:r>
              <a:br/>
              <a:r>
                <a:rPr lang="zh-CN" sz="750" dirty="0">
                  <a:solidFill>
                    <a:srgbClr val="FFFFFF"/>
                  </a:solidFill>
                  <a:latin typeface="+mn-lt"/>
                  <a:ea typeface="+mn-ea"/>
                  <a:cs typeface="+mn-cs"/>
                </a:rPr>
                <a:t>跨境税务合规</a:t>
              </a:r>
            </a:p>
          </p:txBody>
        </p:sp>
      </p:grpSp>
      <p:grpSp>
        <p:nvGrpSpPr>
          <p:cNvPr id="241" name="config-elements"/>
          <p:cNvGrpSpPr/>
          <p:nvPr/>
        </p:nvGrpSpPr>
        <p:grpSpPr>
          <a:xfrm>
            <a:off x="381000" y="4667250"/>
            <a:ext cx="5334000" cy="2000250"/>
            <a:chOff x="381000" y="4667250"/>
            <a:chExt cx="5334000" cy="2000250"/>
          </a:xfrm>
        </p:grpSpPr>
        <p:sp>
          <p:nvSpPr>
            <p:cNvPr id="200" name="Rectangle 200"/>
            <p:cNvSpPr/>
            <p:nvPr/>
          </p:nvSpPr>
          <p:spPr>
            <a:xfrm>
              <a:off x="381000" y="4667250"/>
              <a:ext cx="5334000" cy="2000250"/>
            </a:xfrm>
            <a:prstGeom prst="roundRect">
              <a:avLst>
                <a:gd name="adj" fmla="val 4762"/>
              </a:avLst>
            </a:prstGeom>
            <a:solidFill>
              <a:srgbClr val="F9FBFE"/>
            </a:solidFill>
            <a:ln w="9525">
              <a:solidFill>
                <a:srgbClr val="C9D8EF"/>
              </a:solidFill>
            </a:ln>
          </p:spPr>
        </p:sp>
        <p:sp>
          <p:nvSpPr>
            <p:cNvPr id="201" name="Rectangle 201"/>
            <p:cNvSpPr/>
            <p:nvPr/>
          </p:nvSpPr>
          <p:spPr>
            <a:xfrm>
              <a:off x="2095500" y="4667250"/>
              <a:ext cx="1905000" cy="285750"/>
            </a:xfrm>
            <a:prstGeom prst="roundRect">
              <a:avLst>
                <a:gd name="adj" fmla="val 13333"/>
              </a:avLst>
            </a:prstGeom>
            <a:gradFill>
              <a:gsLst>
                <a:gs pos="0">
                  <a:srgbClr val="AD3921"/>
                </a:gs>
                <a:gs pos="100000">
                  <a:srgbClr val="962C16"/>
                </a:gs>
              </a:gsLst>
              <a:lin ang="5400000" scaled="1"/>
            </a:gradFill>
            <a:ln>
              <a:noFill/>
            </a:ln>
          </p:spPr>
        </p:sp>
        <p:sp>
          <p:nvSpPr>
            <p:cNvPr id="202" name="TextBox 202"/>
            <p:cNvSpPr txBox="1"/>
            <p:nvPr/>
          </p:nvSpPr>
          <p:spPr>
            <a:xfrm>
              <a:off x="2759964" y="47539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配置要素</a:t>
              </a:r>
            </a:p>
          </p:txBody>
        </p:sp>
        <p:sp>
          <p:nvSpPr>
            <p:cNvPr id="203" name="Rectangle 203"/>
            <p:cNvSpPr/>
            <p:nvPr/>
          </p:nvSpPr>
          <p:spPr>
            <a:xfrm>
              <a:off x="533400" y="5219700"/>
              <a:ext cx="914400" cy="1066800"/>
            </a:xfrm>
            <a:prstGeom prst="roundRect">
              <a:avLst>
                <a:gd name="adj" fmla="val 8333"/>
              </a:avLst>
            </a:prstGeom>
            <a:solidFill>
              <a:srgbClr val="FFFFFF"/>
            </a:solidFill>
            <a:ln w="9525">
              <a:solidFill>
                <a:srgbClr val="C9D8EF"/>
              </a:solidFill>
            </a:ln>
          </p:spPr>
        </p:sp>
        <p:grpSp>
          <p:nvGrpSpPr>
            <p:cNvPr id="208" name="Group 208"/>
            <p:cNvGrpSpPr/>
            <p:nvPr/>
          </p:nvGrpSpPr>
          <p:grpSpPr>
            <a:xfrm>
              <a:off x="876300" y="5448300"/>
              <a:ext cx="228599" cy="228600"/>
              <a:chOff x="876300" y="5448300"/>
              <a:chExt cx="228599" cy="228600"/>
            </a:xfrm>
          </p:grpSpPr>
          <p:sp>
            <p:nvSpPr>
              <p:cNvPr id="204" name="Freeform 204"/>
              <p:cNvSpPr/>
              <p:nvPr/>
            </p:nvSpPr>
            <p:spPr>
              <a:xfrm>
                <a:off x="901700" y="544830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rgbClr val="A8351D"/>
                </a:solidFill>
              </a:ln>
            </p:spPr>
          </p:sp>
          <p:sp>
            <p:nvSpPr>
              <p:cNvPr id="205" name="Freeform 205"/>
              <p:cNvSpPr/>
              <p:nvPr/>
            </p:nvSpPr>
            <p:spPr>
              <a:xfrm>
                <a:off x="876300" y="5600700"/>
                <a:ext cx="152400" cy="76200"/>
              </a:xfrm>
              <a:custGeom>
                <a:avLst/>
                <a:gdLst/>
                <a:ahLst/>
                <a:cxnLst/>
                <a:rect l="l" t="t" r="r" b="b"/>
                <a:pathLst>
                  <a:path w="152400" h="76200">
                    <a:moveTo>
                      <a:pt x="0" y="76200"/>
                    </a:moveTo>
                    <a:lnTo>
                      <a:pt x="0" y="50800"/>
                    </a:lnTo>
                    <a:cubicBezTo>
                      <a:pt x="0" y="22744"/>
                      <a:pt x="22744" y="0"/>
                      <a:pt x="50800" y="0"/>
                    </a:cubicBezTo>
                    <a:lnTo>
                      <a:pt x="101600" y="0"/>
                    </a:lnTo>
                    <a:cubicBezTo>
                      <a:pt x="129656" y="0"/>
                      <a:pt x="152400" y="22744"/>
                      <a:pt x="152400" y="50800"/>
                    </a:cubicBezTo>
                    <a:lnTo>
                      <a:pt x="152400" y="76200"/>
                    </a:lnTo>
                  </a:path>
                </a:pathLst>
              </a:custGeom>
              <a:noFill/>
              <a:ln w="25400">
                <a:solidFill>
                  <a:srgbClr val="A8351D"/>
                </a:solidFill>
              </a:ln>
            </p:spPr>
          </p:sp>
          <p:sp>
            <p:nvSpPr>
              <p:cNvPr id="206" name="Freeform 206"/>
              <p:cNvSpPr/>
              <p:nvPr/>
            </p:nvSpPr>
            <p:spPr>
              <a:xfrm>
                <a:off x="1041399" y="5449951"/>
                <a:ext cx="38200" cy="98425"/>
              </a:xfrm>
              <a:custGeom>
                <a:avLst/>
                <a:gdLst/>
                <a:ahLst/>
                <a:cxnLst/>
                <a:rect l="l" t="t" r="r" b="b"/>
                <a:pathLst>
                  <a:path w="38200" h="98425">
                    <a:moveTo>
                      <a:pt x="0" y="0"/>
                    </a:moveTo>
                    <a:cubicBezTo>
                      <a:pt x="22478" y="5755"/>
                      <a:pt x="38200" y="26009"/>
                      <a:pt x="38200" y="49212"/>
                    </a:cubicBezTo>
                    <a:cubicBezTo>
                      <a:pt x="38200" y="72415"/>
                      <a:pt x="22478" y="92670"/>
                      <a:pt x="0" y="98425"/>
                    </a:cubicBezTo>
                  </a:path>
                </a:pathLst>
              </a:custGeom>
              <a:noFill/>
              <a:ln w="25400">
                <a:solidFill>
                  <a:srgbClr val="A8351D"/>
                </a:solidFill>
              </a:ln>
            </p:spPr>
          </p:sp>
          <p:sp>
            <p:nvSpPr>
              <p:cNvPr id="207" name="Freeform 207"/>
              <p:cNvSpPr/>
              <p:nvPr/>
            </p:nvSpPr>
            <p:spPr>
              <a:xfrm>
                <a:off x="1066799" y="5602605"/>
                <a:ext cx="38100" cy="74295"/>
              </a:xfrm>
              <a:custGeom>
                <a:avLst/>
                <a:gdLst/>
                <a:ahLst/>
                <a:cxnLst/>
                <a:rect l="l" t="t" r="r" b="b"/>
                <a:pathLst>
                  <a:path w="38100" h="74295">
                    <a:moveTo>
                      <a:pt x="38100" y="74295"/>
                    </a:moveTo>
                    <a:lnTo>
                      <a:pt x="38100" y="48895"/>
                    </a:lnTo>
                    <a:cubicBezTo>
                      <a:pt x="37967" y="25839"/>
                      <a:pt x="22324" y="5764"/>
                      <a:pt x="0" y="0"/>
                    </a:cubicBezTo>
                  </a:path>
                </a:pathLst>
              </a:custGeom>
              <a:noFill/>
              <a:ln w="25400">
                <a:solidFill>
                  <a:srgbClr val="A8351D"/>
                </a:solidFill>
              </a:ln>
            </p:spPr>
          </p:sp>
        </p:grpSp>
        <p:sp>
          <p:nvSpPr>
            <p:cNvPr id="209" name="TextBox 209"/>
            <p:cNvSpPr txBox="1"/>
            <p:nvPr/>
          </p:nvSpPr>
          <p:spPr>
            <a:xfrm>
              <a:off x="743522" y="59797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适用客群</a:t>
              </a:r>
            </a:p>
          </p:txBody>
        </p:sp>
        <p:sp>
          <p:nvSpPr>
            <p:cNvPr id="210" name="Rectangle 210"/>
            <p:cNvSpPr/>
            <p:nvPr/>
          </p:nvSpPr>
          <p:spPr>
            <a:xfrm>
              <a:off x="1562100" y="5219700"/>
              <a:ext cx="914400" cy="1066800"/>
            </a:xfrm>
            <a:prstGeom prst="roundRect">
              <a:avLst>
                <a:gd name="adj" fmla="val 8333"/>
              </a:avLst>
            </a:prstGeom>
            <a:solidFill>
              <a:srgbClr val="FFFFFF"/>
            </a:solidFill>
            <a:ln w="9525">
              <a:solidFill>
                <a:srgbClr val="C9D8EF"/>
              </a:solidFill>
            </a:ln>
          </p:spPr>
        </p:sp>
        <p:grpSp>
          <p:nvGrpSpPr>
            <p:cNvPr id="216" name="Group 216"/>
            <p:cNvGrpSpPr/>
            <p:nvPr/>
          </p:nvGrpSpPr>
          <p:grpSpPr>
            <a:xfrm>
              <a:off x="1917700" y="5461000"/>
              <a:ext cx="203200" cy="203200"/>
              <a:chOff x="1917700" y="5461000"/>
              <a:chExt cx="203200" cy="203200"/>
            </a:xfrm>
          </p:grpSpPr>
          <p:sp>
            <p:nvSpPr>
              <p:cNvPr id="211" name="Freeform 211"/>
              <p:cNvSpPr/>
              <p:nvPr/>
            </p:nvSpPr>
            <p:spPr>
              <a:xfrm>
                <a:off x="1917700" y="5461000"/>
                <a:ext cx="76200" cy="76200"/>
              </a:xfrm>
              <a:custGeom>
                <a:avLst/>
                <a:gdLst/>
                <a:ahLst/>
                <a:cxnLst/>
                <a:rect l="l" t="t" r="r" b="b"/>
                <a:pathLst>
                  <a:path w="76200" h="76200">
                    <a:moveTo>
                      <a:pt x="0" y="12700"/>
                    </a:moveTo>
                    <a:cubicBezTo>
                      <a:pt x="0" y="5686"/>
                      <a:pt x="5686" y="0"/>
                      <a:pt x="12700" y="0"/>
                    </a:cubicBezTo>
                    <a:lnTo>
                      <a:pt x="63500" y="0"/>
                    </a:lnTo>
                    <a:cubicBezTo>
                      <a:pt x="70514" y="0"/>
                      <a:pt x="76200" y="5686"/>
                      <a:pt x="76200" y="12700"/>
                    </a:cubicBezTo>
                    <a:lnTo>
                      <a:pt x="76200" y="63500"/>
                    </a:lnTo>
                    <a:cubicBezTo>
                      <a:pt x="76200" y="70514"/>
                      <a:pt x="70514" y="76200"/>
                      <a:pt x="63500" y="76200"/>
                    </a:cubicBezTo>
                    <a:lnTo>
                      <a:pt x="12700" y="76200"/>
                    </a:lnTo>
                    <a:cubicBezTo>
                      <a:pt x="5686" y="76200"/>
                      <a:pt x="0" y="70514"/>
                      <a:pt x="0" y="63500"/>
                    </a:cubicBezTo>
                    <a:lnTo>
                      <a:pt x="0" y="12700"/>
                    </a:lnTo>
                  </a:path>
                </a:pathLst>
              </a:custGeom>
              <a:noFill/>
              <a:ln w="25400">
                <a:solidFill>
                  <a:srgbClr val="A8351D"/>
                </a:solidFill>
              </a:ln>
            </p:spPr>
          </p:sp>
          <p:sp>
            <p:nvSpPr>
              <p:cNvPr id="212" name="Freeform 212"/>
              <p:cNvSpPr/>
              <p:nvPr/>
            </p:nvSpPr>
            <p:spPr>
              <a:xfrm>
                <a:off x="1917700" y="5588000"/>
                <a:ext cx="76200" cy="76200"/>
              </a:xfrm>
              <a:custGeom>
                <a:avLst/>
                <a:gdLst/>
                <a:ahLst/>
                <a:cxnLst/>
                <a:rect l="l" t="t" r="r" b="b"/>
                <a:pathLst>
                  <a:path w="76200" h="76200">
                    <a:moveTo>
                      <a:pt x="0" y="12700"/>
                    </a:moveTo>
                    <a:cubicBezTo>
                      <a:pt x="0" y="5686"/>
                      <a:pt x="5686" y="0"/>
                      <a:pt x="12700" y="0"/>
                    </a:cubicBezTo>
                    <a:lnTo>
                      <a:pt x="63500" y="0"/>
                    </a:lnTo>
                    <a:cubicBezTo>
                      <a:pt x="70514" y="0"/>
                      <a:pt x="76200" y="5686"/>
                      <a:pt x="76200" y="12700"/>
                    </a:cubicBezTo>
                    <a:lnTo>
                      <a:pt x="76200" y="63500"/>
                    </a:lnTo>
                    <a:cubicBezTo>
                      <a:pt x="76200" y="70514"/>
                      <a:pt x="70514" y="76200"/>
                      <a:pt x="63500" y="76200"/>
                    </a:cubicBezTo>
                    <a:lnTo>
                      <a:pt x="12700" y="76200"/>
                    </a:lnTo>
                    <a:cubicBezTo>
                      <a:pt x="5686" y="76200"/>
                      <a:pt x="0" y="70514"/>
                      <a:pt x="0" y="63500"/>
                    </a:cubicBezTo>
                    <a:lnTo>
                      <a:pt x="0" y="12700"/>
                    </a:lnTo>
                  </a:path>
                </a:pathLst>
              </a:custGeom>
              <a:noFill/>
              <a:ln w="25400">
                <a:solidFill>
                  <a:srgbClr val="A8351D"/>
                </a:solidFill>
              </a:ln>
            </p:spPr>
          </p:sp>
          <p:sp>
            <p:nvSpPr>
              <p:cNvPr id="213" name="Freeform 213"/>
              <p:cNvSpPr/>
              <p:nvPr/>
            </p:nvSpPr>
            <p:spPr>
              <a:xfrm>
                <a:off x="2044700" y="5588000"/>
                <a:ext cx="76200" cy="76200"/>
              </a:xfrm>
              <a:custGeom>
                <a:avLst/>
                <a:gdLst/>
                <a:ahLst/>
                <a:cxnLst/>
                <a:rect l="l" t="t" r="r" b="b"/>
                <a:pathLst>
                  <a:path w="76200" h="76200">
                    <a:moveTo>
                      <a:pt x="0" y="12700"/>
                    </a:moveTo>
                    <a:cubicBezTo>
                      <a:pt x="0" y="5686"/>
                      <a:pt x="5686" y="0"/>
                      <a:pt x="12700" y="0"/>
                    </a:cubicBezTo>
                    <a:lnTo>
                      <a:pt x="63500" y="0"/>
                    </a:lnTo>
                    <a:cubicBezTo>
                      <a:pt x="70514" y="0"/>
                      <a:pt x="76200" y="5686"/>
                      <a:pt x="76200" y="12700"/>
                    </a:cubicBezTo>
                    <a:lnTo>
                      <a:pt x="76200" y="63500"/>
                    </a:lnTo>
                    <a:cubicBezTo>
                      <a:pt x="76200" y="70514"/>
                      <a:pt x="70514" y="76200"/>
                      <a:pt x="63500" y="76200"/>
                    </a:cubicBezTo>
                    <a:lnTo>
                      <a:pt x="12700" y="76200"/>
                    </a:lnTo>
                    <a:cubicBezTo>
                      <a:pt x="5686" y="76200"/>
                      <a:pt x="0" y="70514"/>
                      <a:pt x="0" y="63500"/>
                    </a:cubicBezTo>
                    <a:lnTo>
                      <a:pt x="0" y="12700"/>
                    </a:lnTo>
                  </a:path>
                </a:pathLst>
              </a:custGeom>
              <a:noFill/>
              <a:ln w="25400">
                <a:solidFill>
                  <a:srgbClr val="A8351D"/>
                </a:solidFill>
              </a:ln>
            </p:spPr>
          </p:sp>
          <p:sp>
            <p:nvSpPr>
              <p:cNvPr id="214" name="Freeform 214"/>
              <p:cNvSpPr/>
              <p:nvPr/>
            </p:nvSpPr>
            <p:spPr>
              <a:xfrm>
                <a:off x="2044700" y="5499100"/>
                <a:ext cx="76200" cy="9525"/>
              </a:xfrm>
              <a:custGeom>
                <a:avLst/>
                <a:gdLst/>
                <a:ahLst/>
                <a:cxnLst/>
                <a:rect l="l" t="t" r="r" b="b"/>
                <a:pathLst>
                  <a:path w="76200" h="9525">
                    <a:moveTo>
                      <a:pt x="0" y="0"/>
                    </a:moveTo>
                    <a:lnTo>
                      <a:pt x="76200" y="0"/>
                    </a:lnTo>
                  </a:path>
                </a:pathLst>
              </a:custGeom>
              <a:noFill/>
              <a:ln w="25400">
                <a:solidFill>
                  <a:srgbClr val="A8351D"/>
                </a:solidFill>
              </a:ln>
            </p:spPr>
          </p:sp>
          <p:sp>
            <p:nvSpPr>
              <p:cNvPr id="215" name="Freeform 215"/>
              <p:cNvSpPr/>
              <p:nvPr/>
            </p:nvSpPr>
            <p:spPr>
              <a:xfrm>
                <a:off x="2082799" y="5461000"/>
                <a:ext cx="9525" cy="76200"/>
              </a:xfrm>
              <a:custGeom>
                <a:avLst/>
                <a:gdLst/>
                <a:ahLst/>
                <a:cxnLst/>
                <a:rect l="l" t="t" r="r" b="b"/>
                <a:pathLst>
                  <a:path w="9525" h="76200">
                    <a:moveTo>
                      <a:pt x="0" y="0"/>
                    </a:moveTo>
                    <a:lnTo>
                      <a:pt x="0" y="76200"/>
                    </a:lnTo>
                  </a:path>
                </a:pathLst>
              </a:custGeom>
              <a:noFill/>
              <a:ln w="25400">
                <a:solidFill>
                  <a:srgbClr val="A8351D"/>
                </a:solidFill>
              </a:ln>
            </p:spPr>
          </p:sp>
        </p:grpSp>
        <p:sp>
          <p:nvSpPr>
            <p:cNvPr id="217" name="TextBox 217"/>
            <p:cNvSpPr txBox="1"/>
            <p:nvPr/>
          </p:nvSpPr>
          <p:spPr>
            <a:xfrm>
              <a:off x="1772222" y="59797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产品模块</a:t>
              </a:r>
            </a:p>
          </p:txBody>
        </p:sp>
        <p:sp>
          <p:nvSpPr>
            <p:cNvPr id="218" name="Rectangle 218"/>
            <p:cNvSpPr/>
            <p:nvPr/>
          </p:nvSpPr>
          <p:spPr>
            <a:xfrm>
              <a:off x="2590800" y="5219700"/>
              <a:ext cx="914400" cy="1066800"/>
            </a:xfrm>
            <a:prstGeom prst="roundRect">
              <a:avLst>
                <a:gd name="adj" fmla="val 8333"/>
              </a:avLst>
            </a:prstGeom>
            <a:solidFill>
              <a:srgbClr val="FFFFFF"/>
            </a:solidFill>
            <a:ln w="9525">
              <a:solidFill>
                <a:srgbClr val="C9D8EF"/>
              </a:solidFill>
            </a:ln>
          </p:spPr>
        </p:sp>
        <p:grpSp>
          <p:nvGrpSpPr>
            <p:cNvPr id="222" name="Group 222"/>
            <p:cNvGrpSpPr/>
            <p:nvPr/>
          </p:nvGrpSpPr>
          <p:grpSpPr>
            <a:xfrm>
              <a:off x="2938805" y="5448300"/>
              <a:ext cx="218364" cy="227203"/>
              <a:chOff x="2938805" y="5448300"/>
              <a:chExt cx="218364" cy="227203"/>
            </a:xfrm>
          </p:grpSpPr>
          <p:sp>
            <p:nvSpPr>
              <p:cNvPr id="219" name="Freeform 219"/>
              <p:cNvSpPr/>
              <p:nvPr/>
            </p:nvSpPr>
            <p:spPr>
              <a:xfrm>
                <a:off x="2971800" y="5448300"/>
                <a:ext cx="152400" cy="152400"/>
              </a:xfrm>
              <a:custGeom>
                <a:avLst/>
                <a:gdLst/>
                <a:ahLst/>
                <a:cxnLst/>
                <a:rect l="l" t="t" r="r" b="b"/>
                <a:pathLst>
                  <a:path w="152400" h="152400">
                    <a:moveTo>
                      <a:pt x="0" y="76200"/>
                    </a:moveTo>
                    <a:cubicBezTo>
                      <a:pt x="0" y="118284"/>
                      <a:pt x="34116" y="152400"/>
                      <a:pt x="76200" y="152400"/>
                    </a:cubicBezTo>
                    <a:cubicBezTo>
                      <a:pt x="118284" y="152400"/>
                      <a:pt x="152400" y="118284"/>
                      <a:pt x="152400" y="76200"/>
                    </a:cubicBezTo>
                    <a:cubicBezTo>
                      <a:pt x="152400" y="34116"/>
                      <a:pt x="118284" y="0"/>
                      <a:pt x="76200" y="0"/>
                    </a:cubicBezTo>
                    <a:cubicBezTo>
                      <a:pt x="34116" y="0"/>
                      <a:pt x="0" y="34116"/>
                      <a:pt x="0" y="76200"/>
                    </a:cubicBezTo>
                  </a:path>
                </a:pathLst>
              </a:custGeom>
              <a:noFill/>
              <a:ln w="25400">
                <a:solidFill>
                  <a:srgbClr val="A8351D"/>
                </a:solidFill>
              </a:ln>
            </p:spPr>
          </p:sp>
          <p:sp>
            <p:nvSpPr>
              <p:cNvPr id="220" name="Freeform 220"/>
              <p:cNvSpPr/>
              <p:nvPr/>
            </p:nvSpPr>
            <p:spPr>
              <a:xfrm>
                <a:off x="3048000" y="5562600"/>
                <a:ext cx="109169" cy="112903"/>
              </a:xfrm>
              <a:custGeom>
                <a:avLst/>
                <a:gdLst/>
                <a:ahLst/>
                <a:cxnLst/>
                <a:rect l="l" t="t" r="r" b="b"/>
                <a:pathLst>
                  <a:path w="109169" h="112903">
                    <a:moveTo>
                      <a:pt x="0" y="38100"/>
                    </a:moveTo>
                    <a:lnTo>
                      <a:pt x="43180" y="112903"/>
                    </a:lnTo>
                    <a:lnTo>
                      <a:pt x="63474" y="71844"/>
                    </a:lnTo>
                    <a:lnTo>
                      <a:pt x="109169" y="74790"/>
                    </a:lnTo>
                    <a:lnTo>
                      <a:pt x="65989" y="0"/>
                    </a:lnTo>
                  </a:path>
                </a:pathLst>
              </a:custGeom>
              <a:noFill/>
              <a:ln w="25400">
                <a:solidFill>
                  <a:srgbClr val="A8351D"/>
                </a:solidFill>
              </a:ln>
            </p:spPr>
          </p:sp>
          <p:sp>
            <p:nvSpPr>
              <p:cNvPr id="221" name="Freeform 221"/>
              <p:cNvSpPr/>
              <p:nvPr/>
            </p:nvSpPr>
            <p:spPr>
              <a:xfrm>
                <a:off x="2938805" y="5562600"/>
                <a:ext cx="109169" cy="112890"/>
              </a:xfrm>
              <a:custGeom>
                <a:avLst/>
                <a:gdLst/>
                <a:ahLst/>
                <a:cxnLst/>
                <a:rect l="l" t="t" r="r" b="b"/>
                <a:pathLst>
                  <a:path w="109169" h="112890">
                    <a:moveTo>
                      <a:pt x="43180" y="0"/>
                    </a:moveTo>
                    <a:lnTo>
                      <a:pt x="0" y="74803"/>
                    </a:lnTo>
                    <a:lnTo>
                      <a:pt x="45694" y="71844"/>
                    </a:lnTo>
                    <a:lnTo>
                      <a:pt x="65989" y="112890"/>
                    </a:lnTo>
                    <a:lnTo>
                      <a:pt x="109169" y="38100"/>
                    </a:lnTo>
                  </a:path>
                </a:pathLst>
              </a:custGeom>
              <a:noFill/>
              <a:ln w="25400">
                <a:solidFill>
                  <a:srgbClr val="A8351D"/>
                </a:solidFill>
              </a:ln>
            </p:spPr>
          </p:sp>
        </p:grpSp>
        <p:sp>
          <p:nvSpPr>
            <p:cNvPr id="223" name="TextBox 223"/>
            <p:cNvSpPr txBox="1"/>
            <p:nvPr/>
          </p:nvSpPr>
          <p:spPr>
            <a:xfrm>
              <a:off x="2800922" y="59797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服务权益</a:t>
              </a:r>
            </a:p>
          </p:txBody>
        </p:sp>
        <p:sp>
          <p:nvSpPr>
            <p:cNvPr id="224" name="Rectangle 224"/>
            <p:cNvSpPr/>
            <p:nvPr/>
          </p:nvSpPr>
          <p:spPr>
            <a:xfrm>
              <a:off x="3619500" y="5219700"/>
              <a:ext cx="914400" cy="1066800"/>
            </a:xfrm>
            <a:prstGeom prst="roundRect">
              <a:avLst>
                <a:gd name="adj" fmla="val 8333"/>
              </a:avLst>
            </a:prstGeom>
            <a:solidFill>
              <a:srgbClr val="FFFFFF"/>
            </a:solidFill>
            <a:ln w="9525">
              <a:solidFill>
                <a:srgbClr val="C9D8EF"/>
              </a:solidFill>
            </a:ln>
          </p:spPr>
        </p:sp>
        <p:grpSp>
          <p:nvGrpSpPr>
            <p:cNvPr id="230" name="Group 230"/>
            <p:cNvGrpSpPr/>
            <p:nvPr/>
          </p:nvGrpSpPr>
          <p:grpSpPr>
            <a:xfrm>
              <a:off x="3962400" y="5446598"/>
              <a:ext cx="228600" cy="230302"/>
              <a:chOff x="3962400" y="5446598"/>
              <a:chExt cx="228600" cy="230302"/>
            </a:xfrm>
          </p:grpSpPr>
          <p:sp>
            <p:nvSpPr>
              <p:cNvPr id="225" name="Freeform 225"/>
              <p:cNvSpPr/>
              <p:nvPr/>
            </p:nvSpPr>
            <p:spPr>
              <a:xfrm>
                <a:off x="4038600" y="5549900"/>
                <a:ext cx="152400" cy="76200"/>
              </a:xfrm>
              <a:custGeom>
                <a:avLst/>
                <a:gdLst/>
                <a:ahLst/>
                <a:cxnLst/>
                <a:rect l="l" t="t" r="r" b="b"/>
                <a:pathLst>
                  <a:path w="152400" h="76200">
                    <a:moveTo>
                      <a:pt x="0" y="38100"/>
                    </a:moveTo>
                    <a:cubicBezTo>
                      <a:pt x="0" y="59144"/>
                      <a:pt x="34112" y="76200"/>
                      <a:pt x="76200" y="76200"/>
                    </a:cubicBezTo>
                    <a:cubicBezTo>
                      <a:pt x="118288" y="76200"/>
                      <a:pt x="152400" y="59144"/>
                      <a:pt x="152400" y="38100"/>
                    </a:cubicBezTo>
                    <a:cubicBezTo>
                      <a:pt x="152400" y="17056"/>
                      <a:pt x="118288" y="0"/>
                      <a:pt x="76200" y="0"/>
                    </a:cubicBezTo>
                    <a:cubicBezTo>
                      <a:pt x="34112" y="0"/>
                      <a:pt x="0" y="17056"/>
                      <a:pt x="0" y="38100"/>
                    </a:cubicBezTo>
                  </a:path>
                </a:pathLst>
              </a:custGeom>
              <a:noFill/>
              <a:ln w="25400">
                <a:solidFill>
                  <a:srgbClr val="A8351D"/>
                </a:solidFill>
              </a:ln>
            </p:spPr>
          </p:sp>
          <p:sp>
            <p:nvSpPr>
              <p:cNvPr id="226" name="Freeform 226"/>
              <p:cNvSpPr/>
              <p:nvPr/>
            </p:nvSpPr>
            <p:spPr>
              <a:xfrm>
                <a:off x="4038600" y="5588000"/>
                <a:ext cx="152400" cy="88900"/>
              </a:xfrm>
              <a:custGeom>
                <a:avLst/>
                <a:gdLst/>
                <a:ahLst/>
                <a:cxnLst/>
                <a:rect l="l" t="t" r="r" b="b"/>
                <a:pathLst>
                  <a:path w="152400" h="88900">
                    <a:moveTo>
                      <a:pt x="0" y="0"/>
                    </a:moveTo>
                    <a:lnTo>
                      <a:pt x="0" y="50800"/>
                    </a:lnTo>
                    <a:cubicBezTo>
                      <a:pt x="0" y="71831"/>
                      <a:pt x="34112" y="88900"/>
                      <a:pt x="76200" y="88900"/>
                    </a:cubicBezTo>
                    <a:cubicBezTo>
                      <a:pt x="118288" y="88900"/>
                      <a:pt x="152400" y="71831"/>
                      <a:pt x="152400" y="50800"/>
                    </a:cubicBezTo>
                    <a:lnTo>
                      <a:pt x="152400" y="0"/>
                    </a:lnTo>
                  </a:path>
                </a:pathLst>
              </a:custGeom>
              <a:noFill/>
              <a:ln w="25400">
                <a:solidFill>
                  <a:srgbClr val="A8351D"/>
                </a:solidFill>
              </a:ln>
            </p:spPr>
          </p:sp>
          <p:sp>
            <p:nvSpPr>
              <p:cNvPr id="227" name="Freeform 227"/>
              <p:cNvSpPr/>
              <p:nvPr/>
            </p:nvSpPr>
            <p:spPr>
              <a:xfrm>
                <a:off x="3962400" y="5446598"/>
                <a:ext cx="152400" cy="79603"/>
              </a:xfrm>
              <a:custGeom>
                <a:avLst/>
                <a:gdLst/>
                <a:ahLst/>
                <a:cxnLst/>
                <a:rect l="l" t="t" r="r" b="b"/>
                <a:pathLst>
                  <a:path w="152400" h="79603">
                    <a:moveTo>
                      <a:pt x="0" y="39802"/>
                    </a:moveTo>
                    <a:cubicBezTo>
                      <a:pt x="0" y="53416"/>
                      <a:pt x="14529" y="65989"/>
                      <a:pt x="38100" y="72796"/>
                    </a:cubicBezTo>
                    <a:cubicBezTo>
                      <a:pt x="61671" y="79603"/>
                      <a:pt x="90729" y="79603"/>
                      <a:pt x="114300" y="72796"/>
                    </a:cubicBezTo>
                    <a:cubicBezTo>
                      <a:pt x="137871" y="65989"/>
                      <a:pt x="152400" y="53416"/>
                      <a:pt x="152400" y="39802"/>
                    </a:cubicBezTo>
                    <a:cubicBezTo>
                      <a:pt x="152400" y="26187"/>
                      <a:pt x="137871" y="13614"/>
                      <a:pt x="114300" y="6807"/>
                    </a:cubicBezTo>
                    <a:cubicBezTo>
                      <a:pt x="90729" y="0"/>
                      <a:pt x="61671" y="0"/>
                      <a:pt x="38100" y="6807"/>
                    </a:cubicBezTo>
                    <a:cubicBezTo>
                      <a:pt x="14529" y="13614"/>
                      <a:pt x="0" y="26187"/>
                      <a:pt x="0" y="39802"/>
                    </a:cubicBezTo>
                  </a:path>
                </a:pathLst>
              </a:custGeom>
              <a:noFill/>
              <a:ln w="25400">
                <a:solidFill>
                  <a:srgbClr val="A8351D"/>
                </a:solidFill>
              </a:ln>
            </p:spPr>
          </p:sp>
          <p:sp>
            <p:nvSpPr>
              <p:cNvPr id="228" name="Freeform 228"/>
              <p:cNvSpPr/>
              <p:nvPr/>
            </p:nvSpPr>
            <p:spPr>
              <a:xfrm>
                <a:off x="3962400" y="5486400"/>
                <a:ext cx="25400" cy="152400"/>
              </a:xfrm>
              <a:custGeom>
                <a:avLst/>
                <a:gdLst/>
                <a:ahLst/>
                <a:cxnLst/>
                <a:rect l="l" t="t" r="r" b="b"/>
                <a:pathLst>
                  <a:path w="25400" h="152400">
                    <a:moveTo>
                      <a:pt x="0" y="0"/>
                    </a:moveTo>
                    <a:lnTo>
                      <a:pt x="0" y="127000"/>
                    </a:lnTo>
                    <a:cubicBezTo>
                      <a:pt x="0" y="138277"/>
                      <a:pt x="9804" y="145415"/>
                      <a:pt x="25400" y="152400"/>
                    </a:cubicBezTo>
                  </a:path>
                </a:pathLst>
              </a:custGeom>
              <a:noFill/>
              <a:ln w="25400">
                <a:solidFill>
                  <a:srgbClr val="A8351D"/>
                </a:solidFill>
              </a:ln>
            </p:spPr>
          </p:sp>
          <p:sp>
            <p:nvSpPr>
              <p:cNvPr id="229" name="Freeform 229"/>
              <p:cNvSpPr/>
              <p:nvPr/>
            </p:nvSpPr>
            <p:spPr>
              <a:xfrm>
                <a:off x="3962400" y="5549900"/>
                <a:ext cx="25400" cy="25400"/>
              </a:xfrm>
              <a:custGeom>
                <a:avLst/>
                <a:gdLst/>
                <a:ahLst/>
                <a:cxnLst/>
                <a:rect l="l" t="t" r="r" b="b"/>
                <a:pathLst>
                  <a:path w="25400" h="25400">
                    <a:moveTo>
                      <a:pt x="0" y="0"/>
                    </a:moveTo>
                    <a:cubicBezTo>
                      <a:pt x="0" y="11278"/>
                      <a:pt x="9804" y="18415"/>
                      <a:pt x="25400" y="25400"/>
                    </a:cubicBezTo>
                  </a:path>
                </a:pathLst>
              </a:custGeom>
              <a:noFill/>
              <a:ln w="25400">
                <a:solidFill>
                  <a:srgbClr val="A8351D"/>
                </a:solidFill>
              </a:ln>
            </p:spPr>
          </p:sp>
        </p:grpSp>
        <p:sp>
          <p:nvSpPr>
            <p:cNvPr id="231" name="TextBox 231"/>
            <p:cNvSpPr txBox="1"/>
            <p:nvPr/>
          </p:nvSpPr>
          <p:spPr>
            <a:xfrm>
              <a:off x="3829622" y="59797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定价策略</a:t>
              </a:r>
            </a:p>
          </p:txBody>
        </p:sp>
        <p:sp>
          <p:nvSpPr>
            <p:cNvPr id="232" name="Rectangle 232"/>
            <p:cNvSpPr/>
            <p:nvPr/>
          </p:nvSpPr>
          <p:spPr>
            <a:xfrm>
              <a:off x="4648200" y="5219700"/>
              <a:ext cx="914400" cy="1066800"/>
            </a:xfrm>
            <a:prstGeom prst="roundRect">
              <a:avLst>
                <a:gd name="adj" fmla="val 8333"/>
              </a:avLst>
            </a:prstGeom>
            <a:solidFill>
              <a:srgbClr val="FFFFFF"/>
            </a:solidFill>
            <a:ln w="9525">
              <a:solidFill>
                <a:srgbClr val="C9D8EF"/>
              </a:solidFill>
            </a:ln>
          </p:spPr>
        </p:sp>
        <p:grpSp>
          <p:nvGrpSpPr>
            <p:cNvPr id="239" name="Group 239"/>
            <p:cNvGrpSpPr/>
            <p:nvPr/>
          </p:nvGrpSpPr>
          <p:grpSpPr>
            <a:xfrm>
              <a:off x="4991100" y="5448300"/>
              <a:ext cx="228599" cy="228599"/>
              <a:chOff x="4991100" y="5448300"/>
              <a:chExt cx="228599" cy="228599"/>
            </a:xfrm>
          </p:grpSpPr>
          <p:sp>
            <p:nvSpPr>
              <p:cNvPr id="233" name="Freeform 233"/>
              <p:cNvSpPr/>
              <p:nvPr/>
            </p:nvSpPr>
            <p:spPr>
              <a:xfrm>
                <a:off x="5080000" y="55499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A8351D"/>
                </a:solidFill>
              </a:ln>
            </p:spPr>
          </p:sp>
          <p:sp>
            <p:nvSpPr>
              <p:cNvPr id="234" name="Freeform 234"/>
              <p:cNvSpPr/>
              <p:nvPr/>
            </p:nvSpPr>
            <p:spPr>
              <a:xfrm>
                <a:off x="5054600" y="5638799"/>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A8351D"/>
                </a:solidFill>
              </a:ln>
            </p:spPr>
          </p:sp>
          <p:sp>
            <p:nvSpPr>
              <p:cNvPr id="235" name="Freeform 235"/>
              <p:cNvSpPr/>
              <p:nvPr/>
            </p:nvSpPr>
            <p:spPr>
              <a:xfrm>
                <a:off x="5143500" y="54483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A8351D"/>
                </a:solidFill>
              </a:ln>
            </p:spPr>
          </p:sp>
          <p:sp>
            <p:nvSpPr>
              <p:cNvPr id="236" name="Freeform 236"/>
              <p:cNvSpPr/>
              <p:nvPr/>
            </p:nvSpPr>
            <p:spPr>
              <a:xfrm>
                <a:off x="5168899" y="5537200"/>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A8351D"/>
                </a:solidFill>
              </a:ln>
            </p:spPr>
          </p:sp>
          <p:sp>
            <p:nvSpPr>
              <p:cNvPr id="237" name="Freeform 237"/>
              <p:cNvSpPr/>
              <p:nvPr/>
            </p:nvSpPr>
            <p:spPr>
              <a:xfrm>
                <a:off x="5016500" y="54483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A8351D"/>
                </a:solidFill>
              </a:ln>
            </p:spPr>
          </p:sp>
          <p:sp>
            <p:nvSpPr>
              <p:cNvPr id="238" name="Freeform 238"/>
              <p:cNvSpPr/>
              <p:nvPr/>
            </p:nvSpPr>
            <p:spPr>
              <a:xfrm>
                <a:off x="4991100" y="55372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A8351D"/>
                </a:solidFill>
              </a:ln>
            </p:spPr>
          </p:sp>
        </p:grpSp>
        <p:sp>
          <p:nvSpPr>
            <p:cNvPr id="240" name="TextBox 240"/>
            <p:cNvSpPr txBox="1"/>
            <p:nvPr/>
          </p:nvSpPr>
          <p:spPr>
            <a:xfrm>
              <a:off x="4858322" y="59797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交付团队</a:t>
              </a:r>
            </a:p>
          </p:txBody>
        </p:sp>
      </p:grpSp>
      <p:grpSp>
        <p:nvGrpSpPr>
          <p:cNvPr id="266" name="compliance"/>
          <p:cNvGrpSpPr/>
          <p:nvPr/>
        </p:nvGrpSpPr>
        <p:grpSpPr>
          <a:xfrm>
            <a:off x="5867400" y="4667250"/>
            <a:ext cx="5943600" cy="2000250"/>
            <a:chOff x="5867400" y="4667250"/>
            <a:chExt cx="5943600" cy="2000250"/>
          </a:xfrm>
        </p:grpSpPr>
        <p:sp>
          <p:nvSpPr>
            <p:cNvPr id="242" name="Rectangle 242"/>
            <p:cNvSpPr/>
            <p:nvPr/>
          </p:nvSpPr>
          <p:spPr>
            <a:xfrm>
              <a:off x="5867400" y="4667250"/>
              <a:ext cx="5943600" cy="2000250"/>
            </a:xfrm>
            <a:prstGeom prst="roundRect">
              <a:avLst>
                <a:gd name="adj" fmla="val 4762"/>
              </a:avLst>
            </a:prstGeom>
            <a:solidFill>
              <a:srgbClr val="F9FBFE"/>
            </a:solidFill>
            <a:ln w="9525">
              <a:solidFill>
                <a:srgbClr val="C9D8EF"/>
              </a:solidFill>
            </a:ln>
          </p:spPr>
        </p:sp>
        <p:sp>
          <p:nvSpPr>
            <p:cNvPr id="243" name="Rectangle 243"/>
            <p:cNvSpPr/>
            <p:nvPr/>
          </p:nvSpPr>
          <p:spPr>
            <a:xfrm>
              <a:off x="7886700" y="4667250"/>
              <a:ext cx="1905000" cy="285750"/>
            </a:xfrm>
            <a:prstGeom prst="roundRect">
              <a:avLst>
                <a:gd name="adj" fmla="val 13333"/>
              </a:avLst>
            </a:prstGeom>
            <a:gradFill>
              <a:gsLst>
                <a:gs pos="0">
                  <a:srgbClr val="AD3921"/>
                </a:gs>
                <a:gs pos="100000">
                  <a:srgbClr val="962C16"/>
                </a:gs>
              </a:gsLst>
              <a:lin ang="5400000" scaled="1"/>
            </a:gradFill>
            <a:ln>
              <a:noFill/>
            </a:ln>
          </p:spPr>
        </p:sp>
        <p:sp>
          <p:nvSpPr>
            <p:cNvPr id="244" name="TextBox 244"/>
            <p:cNvSpPr txBox="1"/>
            <p:nvPr/>
          </p:nvSpPr>
          <p:spPr>
            <a:xfrm>
              <a:off x="8551164" y="47539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合规边界</a:t>
              </a:r>
            </a:p>
          </p:txBody>
        </p:sp>
        <p:sp>
          <p:nvSpPr>
            <p:cNvPr id="245" name="Rectangle 245"/>
            <p:cNvSpPr/>
            <p:nvPr/>
          </p:nvSpPr>
          <p:spPr>
            <a:xfrm>
              <a:off x="6057900" y="5219700"/>
              <a:ext cx="1809750" cy="1066800"/>
            </a:xfrm>
            <a:prstGeom prst="roundRect">
              <a:avLst>
                <a:gd name="adj" fmla="val 7143"/>
              </a:avLst>
            </a:prstGeom>
            <a:solidFill>
              <a:srgbClr val="FFFFFF"/>
            </a:solidFill>
            <a:ln w="9525">
              <a:solidFill>
                <a:srgbClr val="C9D8EF"/>
              </a:solidFill>
            </a:ln>
          </p:spPr>
        </p:sp>
        <p:grpSp>
          <p:nvGrpSpPr>
            <p:cNvPr id="251" name="Group 251"/>
            <p:cNvGrpSpPr/>
            <p:nvPr/>
          </p:nvGrpSpPr>
          <p:grpSpPr>
            <a:xfrm>
              <a:off x="6248400" y="5638800"/>
              <a:ext cx="228600" cy="225424"/>
              <a:chOff x="6248400" y="5638800"/>
              <a:chExt cx="228600" cy="225424"/>
            </a:xfrm>
          </p:grpSpPr>
          <p:sp>
            <p:nvSpPr>
              <p:cNvPr id="246" name="Freeform 246"/>
              <p:cNvSpPr/>
              <p:nvPr/>
            </p:nvSpPr>
            <p:spPr>
              <a:xfrm>
                <a:off x="6299200" y="5854699"/>
                <a:ext cx="127000" cy="9525"/>
              </a:xfrm>
              <a:custGeom>
                <a:avLst/>
                <a:gdLst/>
                <a:ahLst/>
                <a:cxnLst/>
                <a:rect l="l" t="t" r="r" b="b"/>
                <a:pathLst>
                  <a:path w="127000" h="9525">
                    <a:moveTo>
                      <a:pt x="0" y="0"/>
                    </a:moveTo>
                    <a:lnTo>
                      <a:pt x="127000" y="0"/>
                    </a:lnTo>
                  </a:path>
                </a:pathLst>
              </a:custGeom>
              <a:noFill/>
              <a:ln w="25400">
                <a:solidFill>
                  <a:srgbClr val="A8351D"/>
                </a:solidFill>
              </a:ln>
            </p:spPr>
          </p:sp>
          <p:sp>
            <p:nvSpPr>
              <p:cNvPr id="247" name="Freeform 247"/>
              <p:cNvSpPr/>
              <p:nvPr/>
            </p:nvSpPr>
            <p:spPr>
              <a:xfrm>
                <a:off x="6286500" y="5664200"/>
                <a:ext cx="152400" cy="12700"/>
              </a:xfrm>
              <a:custGeom>
                <a:avLst/>
                <a:gdLst/>
                <a:ahLst/>
                <a:cxnLst/>
                <a:rect l="l" t="t" r="r" b="b"/>
                <a:pathLst>
                  <a:path w="152400" h="12700">
                    <a:moveTo>
                      <a:pt x="0" y="12700"/>
                    </a:moveTo>
                    <a:lnTo>
                      <a:pt x="76200" y="0"/>
                    </a:lnTo>
                    <a:lnTo>
                      <a:pt x="152400" y="12700"/>
                    </a:lnTo>
                  </a:path>
                </a:pathLst>
              </a:custGeom>
              <a:noFill/>
              <a:ln w="25400">
                <a:solidFill>
                  <a:srgbClr val="A8351D"/>
                </a:solidFill>
              </a:ln>
            </p:spPr>
          </p:sp>
          <p:sp>
            <p:nvSpPr>
              <p:cNvPr id="248" name="Freeform 248"/>
              <p:cNvSpPr/>
              <p:nvPr/>
            </p:nvSpPr>
            <p:spPr>
              <a:xfrm>
                <a:off x="6362700" y="5638800"/>
                <a:ext cx="9525" cy="215899"/>
              </a:xfrm>
              <a:custGeom>
                <a:avLst/>
                <a:gdLst/>
                <a:ahLst/>
                <a:cxnLst/>
                <a:rect l="l" t="t" r="r" b="b"/>
                <a:pathLst>
                  <a:path w="9525" h="215899">
                    <a:moveTo>
                      <a:pt x="0" y="0"/>
                    </a:moveTo>
                    <a:lnTo>
                      <a:pt x="0" y="215899"/>
                    </a:lnTo>
                  </a:path>
                </a:pathLst>
              </a:custGeom>
              <a:noFill/>
              <a:ln w="25400">
                <a:solidFill>
                  <a:srgbClr val="A8351D"/>
                </a:solidFill>
              </a:ln>
            </p:spPr>
          </p:sp>
          <p:sp>
            <p:nvSpPr>
              <p:cNvPr id="249" name="Freeform 249"/>
              <p:cNvSpPr/>
              <p:nvPr/>
            </p:nvSpPr>
            <p:spPr>
              <a:xfrm>
                <a:off x="6248400" y="5676900"/>
                <a:ext cx="76200" cy="114300"/>
              </a:xfrm>
              <a:custGeom>
                <a:avLst/>
                <a:gdLst/>
                <a:ahLst/>
                <a:cxnLst/>
                <a:rect l="l" t="t" r="r" b="b"/>
                <a:pathLst>
                  <a:path w="76200" h="114300">
                    <a:moveTo>
                      <a:pt x="76200" y="76200"/>
                    </a:moveTo>
                    <a:lnTo>
                      <a:pt x="38100" y="0"/>
                    </a:lnTo>
                    <a:lnTo>
                      <a:pt x="0" y="76200"/>
                    </a:lnTo>
                    <a:cubicBezTo>
                      <a:pt x="0" y="97242"/>
                      <a:pt x="17058" y="114300"/>
                      <a:pt x="38100" y="114300"/>
                    </a:cubicBezTo>
                    <a:cubicBezTo>
                      <a:pt x="59142" y="114300"/>
                      <a:pt x="76200" y="97242"/>
                      <a:pt x="76200" y="76200"/>
                    </a:cubicBezTo>
                  </a:path>
                </a:pathLst>
              </a:custGeom>
              <a:noFill/>
              <a:ln w="25400">
                <a:solidFill>
                  <a:srgbClr val="A8351D"/>
                </a:solidFill>
              </a:ln>
            </p:spPr>
          </p:sp>
          <p:sp>
            <p:nvSpPr>
              <p:cNvPr id="250" name="Freeform 250"/>
              <p:cNvSpPr/>
              <p:nvPr/>
            </p:nvSpPr>
            <p:spPr>
              <a:xfrm>
                <a:off x="6400800" y="5676900"/>
                <a:ext cx="76200" cy="114300"/>
              </a:xfrm>
              <a:custGeom>
                <a:avLst/>
                <a:gdLst/>
                <a:ahLst/>
                <a:cxnLst/>
                <a:rect l="l" t="t" r="r" b="b"/>
                <a:pathLst>
                  <a:path w="76200" h="114300">
                    <a:moveTo>
                      <a:pt x="76200" y="76200"/>
                    </a:moveTo>
                    <a:lnTo>
                      <a:pt x="38100" y="0"/>
                    </a:lnTo>
                    <a:lnTo>
                      <a:pt x="0" y="76200"/>
                    </a:lnTo>
                    <a:cubicBezTo>
                      <a:pt x="0" y="97242"/>
                      <a:pt x="17058" y="114300"/>
                      <a:pt x="38100" y="114300"/>
                    </a:cubicBezTo>
                    <a:cubicBezTo>
                      <a:pt x="59142" y="114300"/>
                      <a:pt x="76200" y="97242"/>
                      <a:pt x="76200" y="76200"/>
                    </a:cubicBezTo>
                  </a:path>
                </a:pathLst>
              </a:custGeom>
              <a:noFill/>
              <a:ln w="25400">
                <a:solidFill>
                  <a:srgbClr val="A8351D"/>
                </a:solidFill>
              </a:ln>
            </p:spPr>
          </p:sp>
        </p:grpSp>
        <p:sp>
          <p:nvSpPr>
            <p:cNvPr id="252" name="TextBox 252"/>
            <p:cNvSpPr txBox="1"/>
            <p:nvPr/>
          </p:nvSpPr>
          <p:spPr>
            <a:xfrm>
              <a:off x="6662738" y="5598795"/>
              <a:ext cx="695325" cy="347662"/>
            </a:xfrm>
            <a:prstGeom prst="rect">
              <a:avLst/>
            </a:prstGeom>
            <a:noFill/>
            <a:ln>
              <a:noFill/>
            </a:ln>
          </p:spPr>
          <p:txBody>
            <a:bodyPr wrap="none" lIns="0" tIns="0" rIns="0" bIns="0" anchor="t" anchorCtr="0">
              <a:spAutoFit/>
            </a:bodyPr>
            <a:lstStyle/>
            <a:p>
              <a:pPr algn="l">
                <a:lnSpc>
                  <a:spcPts val="1350"/>
                </a:lnSpc>
              </a:pPr>
              <a:r>
                <a:rPr lang="zh-CN" sz="900" b="1" dirty="0">
                  <a:solidFill>
                    <a:srgbClr val="67281B"/>
                  </a:solidFill>
                  <a:latin typeface="+mn-lt"/>
                  <a:ea typeface="+mn-ea"/>
                  <a:cs typeface="+mn-cs"/>
                </a:rPr>
                <a:t>场景组合而非</a:t>
              </a:r>
              <a:br/>
              <a:r>
                <a:rPr lang="zh-CN" sz="900" b="1" dirty="0">
                  <a:solidFill>
                    <a:srgbClr val="67281B"/>
                  </a:solidFill>
                  <a:latin typeface="+mn-lt"/>
                  <a:ea typeface="+mn-ea"/>
                  <a:cs typeface="+mn-cs"/>
                </a:rPr>
                <a:t>强制捆绑</a:t>
              </a:r>
            </a:p>
          </p:txBody>
        </p:sp>
        <p:sp>
          <p:nvSpPr>
            <p:cNvPr id="253" name="Rectangle 253"/>
            <p:cNvSpPr/>
            <p:nvPr/>
          </p:nvSpPr>
          <p:spPr>
            <a:xfrm>
              <a:off x="7962900" y="5219700"/>
              <a:ext cx="1809750" cy="1066800"/>
            </a:xfrm>
            <a:prstGeom prst="roundRect">
              <a:avLst>
                <a:gd name="adj" fmla="val 7143"/>
              </a:avLst>
            </a:prstGeom>
            <a:solidFill>
              <a:srgbClr val="FFFFFF"/>
            </a:solidFill>
            <a:ln w="9525">
              <a:solidFill>
                <a:srgbClr val="C9D8EF"/>
              </a:solidFill>
            </a:ln>
          </p:spPr>
        </p:sp>
        <p:grpSp>
          <p:nvGrpSpPr>
            <p:cNvPr id="256" name="Group 256"/>
            <p:cNvGrpSpPr/>
            <p:nvPr/>
          </p:nvGrpSpPr>
          <p:grpSpPr>
            <a:xfrm>
              <a:off x="8136261" y="5638800"/>
              <a:ext cx="248008" cy="228599"/>
              <a:chOff x="8136261" y="5638800"/>
              <a:chExt cx="248008" cy="228599"/>
            </a:xfrm>
          </p:grpSpPr>
          <p:sp>
            <p:nvSpPr>
              <p:cNvPr id="254" name="Freeform 254"/>
              <p:cNvSpPr/>
              <p:nvPr/>
            </p:nvSpPr>
            <p:spPr>
              <a:xfrm>
                <a:off x="8136261" y="5638800"/>
                <a:ext cx="248008" cy="226644"/>
              </a:xfrm>
              <a:custGeom>
                <a:avLst/>
                <a:gdLst/>
                <a:ahLst/>
                <a:cxnLst/>
                <a:rect l="l" t="t" r="r" b="b"/>
                <a:pathLst>
                  <a:path w="248008" h="226644">
                    <a:moveTo>
                      <a:pt x="124581" y="226644"/>
                    </a:moveTo>
                    <a:cubicBezTo>
                      <a:pt x="45021" y="201982"/>
                      <a:pt x="0" y="118013"/>
                      <a:pt x="23489" y="38100"/>
                    </a:cubicBezTo>
                    <a:cubicBezTo>
                      <a:pt x="63056" y="39910"/>
                      <a:pt x="101774" y="26245"/>
                      <a:pt x="131439" y="0"/>
                    </a:cubicBezTo>
                    <a:cubicBezTo>
                      <a:pt x="161104" y="26245"/>
                      <a:pt x="199822" y="39910"/>
                      <a:pt x="239389" y="38100"/>
                    </a:cubicBezTo>
                    <a:cubicBezTo>
                      <a:pt x="248008" y="67426"/>
                      <a:pt x="247610" y="98665"/>
                      <a:pt x="238246" y="127762"/>
                    </a:cubicBezTo>
                  </a:path>
                </a:pathLst>
              </a:custGeom>
              <a:noFill/>
              <a:ln w="25400">
                <a:solidFill>
                  <a:srgbClr val="A8351D"/>
                </a:solidFill>
              </a:ln>
            </p:spPr>
          </p:sp>
          <p:sp>
            <p:nvSpPr>
              <p:cNvPr id="255" name="Freeform 255"/>
              <p:cNvSpPr/>
              <p:nvPr/>
            </p:nvSpPr>
            <p:spPr>
              <a:xfrm>
                <a:off x="8305800" y="5816599"/>
                <a:ext cx="76200" cy="50800"/>
              </a:xfrm>
              <a:custGeom>
                <a:avLst/>
                <a:gdLst/>
                <a:ahLst/>
                <a:cxnLst/>
                <a:rect l="l" t="t" r="r" b="b"/>
                <a:pathLst>
                  <a:path w="76200" h="50800">
                    <a:moveTo>
                      <a:pt x="0" y="25400"/>
                    </a:moveTo>
                    <a:lnTo>
                      <a:pt x="25400" y="50800"/>
                    </a:lnTo>
                    <a:lnTo>
                      <a:pt x="76200" y="0"/>
                    </a:lnTo>
                  </a:path>
                </a:pathLst>
              </a:custGeom>
              <a:noFill/>
              <a:ln w="25400">
                <a:solidFill>
                  <a:srgbClr val="A8351D"/>
                </a:solidFill>
              </a:ln>
            </p:spPr>
          </p:sp>
        </p:grpSp>
        <p:sp>
          <p:nvSpPr>
            <p:cNvPr id="257" name="TextBox 257"/>
            <p:cNvSpPr txBox="1"/>
            <p:nvPr/>
          </p:nvSpPr>
          <p:spPr>
            <a:xfrm>
              <a:off x="8567738" y="5598795"/>
              <a:ext cx="695325" cy="347662"/>
            </a:xfrm>
            <a:prstGeom prst="rect">
              <a:avLst/>
            </a:prstGeom>
            <a:noFill/>
            <a:ln>
              <a:noFill/>
            </a:ln>
          </p:spPr>
          <p:txBody>
            <a:bodyPr wrap="none" lIns="0" tIns="0" rIns="0" bIns="0" anchor="t" anchorCtr="0">
              <a:spAutoFit/>
            </a:bodyPr>
            <a:lstStyle/>
            <a:p>
              <a:pPr algn="l">
                <a:lnSpc>
                  <a:spcPts val="1350"/>
                </a:lnSpc>
              </a:pPr>
              <a:r>
                <a:rPr lang="zh-CN" sz="900" b="1" dirty="0">
                  <a:solidFill>
                    <a:srgbClr val="67281B"/>
                  </a:solidFill>
                  <a:latin typeface="+mn-lt"/>
                  <a:ea typeface="+mn-ea"/>
                  <a:cs typeface="+mn-cs"/>
                </a:rPr>
                <a:t>个人产品落实</a:t>
              </a:r>
              <a:br/>
              <a:r>
                <a:rPr lang="zh-CN" sz="900" b="1" dirty="0">
                  <a:solidFill>
                    <a:srgbClr val="67281B"/>
                  </a:solidFill>
                  <a:latin typeface="+mn-lt"/>
                  <a:ea typeface="+mn-ea"/>
                  <a:cs typeface="+mn-cs"/>
                </a:rPr>
                <a:t>适当性管理</a:t>
              </a:r>
            </a:p>
          </p:txBody>
        </p:sp>
        <p:sp>
          <p:nvSpPr>
            <p:cNvPr id="258" name="Rectangle 258"/>
            <p:cNvSpPr/>
            <p:nvPr/>
          </p:nvSpPr>
          <p:spPr>
            <a:xfrm>
              <a:off x="9867900" y="5219700"/>
              <a:ext cx="1809750" cy="1066800"/>
            </a:xfrm>
            <a:prstGeom prst="roundRect">
              <a:avLst>
                <a:gd name="adj" fmla="val 7143"/>
              </a:avLst>
            </a:prstGeom>
            <a:solidFill>
              <a:srgbClr val="FFFFFF"/>
            </a:solidFill>
            <a:ln w="9525">
              <a:solidFill>
                <a:srgbClr val="C9D8EF"/>
              </a:solidFill>
            </a:ln>
          </p:spPr>
        </p:sp>
        <p:grpSp>
          <p:nvGrpSpPr>
            <p:cNvPr id="264" name="Group 264"/>
            <p:cNvGrpSpPr/>
            <p:nvPr/>
          </p:nvGrpSpPr>
          <p:grpSpPr>
            <a:xfrm>
              <a:off x="10083800" y="5638800"/>
              <a:ext cx="177800" cy="228599"/>
              <a:chOff x="10083800" y="5638800"/>
              <a:chExt cx="177800" cy="228599"/>
            </a:xfrm>
          </p:grpSpPr>
          <p:sp>
            <p:nvSpPr>
              <p:cNvPr id="259" name="Freeform 259"/>
              <p:cNvSpPr/>
              <p:nvPr/>
            </p:nvSpPr>
            <p:spPr>
              <a:xfrm>
                <a:off x="10198100" y="56388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rgbClr val="A8351D"/>
                </a:solidFill>
              </a:ln>
            </p:spPr>
          </p:sp>
          <p:sp>
            <p:nvSpPr>
              <p:cNvPr id="260" name="Freeform 260"/>
              <p:cNvSpPr/>
              <p:nvPr/>
            </p:nvSpPr>
            <p:spPr>
              <a:xfrm>
                <a:off x="10083800" y="56388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rgbClr val="A8351D"/>
                </a:solidFill>
              </a:ln>
            </p:spPr>
          </p:sp>
          <p:sp>
            <p:nvSpPr>
              <p:cNvPr id="261" name="Freeform 261"/>
              <p:cNvSpPr/>
              <p:nvPr/>
            </p:nvSpPr>
            <p:spPr>
              <a:xfrm>
                <a:off x="10134600" y="5715000"/>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262" name="Freeform 262"/>
              <p:cNvSpPr/>
              <p:nvPr/>
            </p:nvSpPr>
            <p:spPr>
              <a:xfrm>
                <a:off x="10134600" y="5765800"/>
                <a:ext cx="76200" cy="9525"/>
              </a:xfrm>
              <a:custGeom>
                <a:avLst/>
                <a:gdLst/>
                <a:ahLst/>
                <a:cxnLst/>
                <a:rect l="l" t="t" r="r" b="b"/>
                <a:pathLst>
                  <a:path w="76200" h="9525">
                    <a:moveTo>
                      <a:pt x="0" y="0"/>
                    </a:moveTo>
                    <a:lnTo>
                      <a:pt x="76200" y="0"/>
                    </a:lnTo>
                  </a:path>
                </a:pathLst>
              </a:custGeom>
              <a:noFill/>
              <a:ln w="25400">
                <a:solidFill>
                  <a:srgbClr val="A8351D"/>
                </a:solidFill>
              </a:ln>
            </p:spPr>
          </p:sp>
          <p:sp>
            <p:nvSpPr>
              <p:cNvPr id="263" name="Freeform 263"/>
              <p:cNvSpPr/>
              <p:nvPr/>
            </p:nvSpPr>
            <p:spPr>
              <a:xfrm>
                <a:off x="10134600" y="5816599"/>
                <a:ext cx="76200" cy="9525"/>
              </a:xfrm>
              <a:custGeom>
                <a:avLst/>
                <a:gdLst/>
                <a:ahLst/>
                <a:cxnLst/>
                <a:rect l="l" t="t" r="r" b="b"/>
                <a:pathLst>
                  <a:path w="76200" h="9525">
                    <a:moveTo>
                      <a:pt x="0" y="0"/>
                    </a:moveTo>
                    <a:lnTo>
                      <a:pt x="76200" y="0"/>
                    </a:lnTo>
                  </a:path>
                </a:pathLst>
              </a:custGeom>
              <a:noFill/>
              <a:ln w="25400">
                <a:solidFill>
                  <a:srgbClr val="A8351D"/>
                </a:solidFill>
              </a:ln>
            </p:spPr>
          </p:sp>
        </p:grpSp>
        <p:sp>
          <p:nvSpPr>
            <p:cNvPr id="265" name="TextBox 265"/>
            <p:cNvSpPr txBox="1"/>
            <p:nvPr/>
          </p:nvSpPr>
          <p:spPr>
            <a:xfrm>
              <a:off x="10472738" y="5598795"/>
              <a:ext cx="923925" cy="347662"/>
            </a:xfrm>
            <a:prstGeom prst="rect">
              <a:avLst/>
            </a:prstGeom>
            <a:noFill/>
            <a:ln>
              <a:noFill/>
            </a:ln>
          </p:spPr>
          <p:txBody>
            <a:bodyPr wrap="none" lIns="0" tIns="0" rIns="0" bIns="0" anchor="t" anchorCtr="0">
              <a:spAutoFit/>
            </a:bodyPr>
            <a:lstStyle/>
            <a:p>
              <a:pPr algn="l">
                <a:lnSpc>
                  <a:spcPts val="1350"/>
                </a:lnSpc>
              </a:pPr>
              <a:r>
                <a:rPr lang="zh-CN" sz="900" b="1" dirty="0">
                  <a:solidFill>
                    <a:srgbClr val="67281B"/>
                  </a:solidFill>
                  <a:latin typeface="+mn-lt"/>
                  <a:ea typeface="+mn-ea"/>
                  <a:cs typeface="+mn-cs"/>
                </a:rPr>
                <a:t>授权、定价、营销</a:t>
              </a:r>
              <a:br/>
              <a:r>
                <a:rPr lang="zh-CN" sz="900" b="1" dirty="0">
                  <a:solidFill>
                    <a:srgbClr val="67281B"/>
                  </a:solidFill>
                  <a:latin typeface="+mn-lt"/>
                  <a:ea typeface="+mn-ea"/>
                  <a:cs typeface="+mn-cs"/>
                </a:rPr>
                <a:t>过程全程留痕</a:t>
              </a:r>
            </a:p>
          </p:txBody>
        </p:sp>
      </p:gr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13</a:t>
              </a:r>
            </a:p>
          </p:txBody>
        </p:sp>
        <p:sp>
          <p:nvSpPr>
            <p:cNvPr id="4" name="TextBox 4"/>
            <p:cNvSpPr txBox="1"/>
            <p:nvPr/>
          </p:nvSpPr>
          <p:spPr>
            <a:xfrm>
              <a:off x="904494" y="170498"/>
              <a:ext cx="5012436"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数字化平台｜建设公私联动智能营销中枢</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176" name="architecture"/>
          <p:cNvGrpSpPr/>
          <p:nvPr/>
        </p:nvGrpSpPr>
        <p:grpSpPr>
          <a:xfrm>
            <a:off x="381000" y="704850"/>
            <a:ext cx="8382000" cy="4038600"/>
            <a:chOff x="381000" y="704850"/>
            <a:chExt cx="8382000" cy="4038600"/>
          </a:xfrm>
        </p:grpSpPr>
        <p:sp>
          <p:nvSpPr>
            <p:cNvPr id="7" name="Rectangle 7"/>
            <p:cNvSpPr/>
            <p:nvPr/>
          </p:nvSpPr>
          <p:spPr>
            <a:xfrm>
              <a:off x="381000" y="704850"/>
              <a:ext cx="571500" cy="571500"/>
            </a:xfrm>
            <a:prstGeom prst="roundRect">
              <a:avLst>
                <a:gd name="adj" fmla="val 10000"/>
              </a:avLst>
            </a:prstGeom>
            <a:solidFill>
              <a:srgbClr val="A8351D"/>
            </a:solidFill>
            <a:ln>
              <a:noFill/>
            </a:ln>
          </p:spPr>
        </p:sp>
        <p:sp>
          <p:nvSpPr>
            <p:cNvPr id="8" name="TextBox 8"/>
            <p:cNvSpPr txBox="1"/>
            <p:nvPr/>
          </p:nvSpPr>
          <p:spPr>
            <a:xfrm>
              <a:off x="537337" y="837724"/>
              <a:ext cx="258826" cy="362141"/>
            </a:xfrm>
            <a:prstGeom prst="rect">
              <a:avLst/>
            </a:prstGeom>
            <a:noFill/>
            <a:ln>
              <a:noFill/>
            </a:ln>
          </p:spPr>
          <p:txBody>
            <a:bodyPr wrap="none" lIns="0" tIns="0" rIns="0" bIns="0" anchor="t" anchorCtr="0">
              <a:spAutoFit/>
            </a:bodyPr>
            <a:lstStyle/>
            <a:p>
              <a:pPr algn="ctr">
                <a:lnSpc>
                  <a:spcPts val="1350"/>
                </a:lnSpc>
              </a:pPr>
              <a:r>
                <a:rPr lang="zh-CN" sz="980" b="1" dirty="0">
                  <a:solidFill>
                    <a:srgbClr val="FFFFFF"/>
                  </a:solidFill>
                  <a:latin typeface="+mn-lt"/>
                  <a:ea typeface="+mn-ea"/>
                  <a:cs typeface="+mn-cs"/>
                </a:rPr>
                <a:t>经营</a:t>
              </a:r>
              <a:br/>
              <a:r>
                <a:rPr lang="zh-CN" sz="980" b="1" dirty="0">
                  <a:solidFill>
                    <a:srgbClr val="FFFFFF"/>
                  </a:solidFill>
                  <a:latin typeface="+mn-lt"/>
                  <a:ea typeface="+mn-ea"/>
                  <a:cs typeface="+mn-cs"/>
                </a:rPr>
                <a:t>前台</a:t>
              </a:r>
            </a:p>
          </p:txBody>
        </p:sp>
        <p:sp>
          <p:nvSpPr>
            <p:cNvPr id="9" name="Rectangle 9"/>
            <p:cNvSpPr/>
            <p:nvPr/>
          </p:nvSpPr>
          <p:spPr>
            <a:xfrm>
              <a:off x="1047750" y="704850"/>
              <a:ext cx="7715250" cy="571500"/>
            </a:xfrm>
            <a:prstGeom prst="roundRect">
              <a:avLst>
                <a:gd name="adj" fmla="val 13333"/>
              </a:avLst>
            </a:prstGeom>
            <a:solidFill>
              <a:srgbClr val="F9FBFE"/>
            </a:solidFill>
            <a:ln w="9525">
              <a:solidFill>
                <a:srgbClr val="C9D8EF"/>
              </a:solidFill>
            </a:ln>
          </p:spPr>
        </p:sp>
        <p:grpSp>
          <p:nvGrpSpPr>
            <p:cNvPr id="18" name="Group 18"/>
            <p:cNvGrpSpPr/>
            <p:nvPr/>
          </p:nvGrpSpPr>
          <p:grpSpPr>
            <a:xfrm>
              <a:off x="1552575" y="904875"/>
              <a:ext cx="171450" cy="180975"/>
              <a:chOff x="1552575" y="904875"/>
              <a:chExt cx="171450" cy="180975"/>
            </a:xfrm>
          </p:grpSpPr>
          <p:sp>
            <p:nvSpPr>
              <p:cNvPr id="10" name="Freeform 10"/>
              <p:cNvSpPr/>
              <p:nvPr/>
            </p:nvSpPr>
            <p:spPr>
              <a:xfrm>
                <a:off x="1552575" y="1076325"/>
                <a:ext cx="171450" cy="9525"/>
              </a:xfrm>
              <a:custGeom>
                <a:avLst/>
                <a:gdLst/>
                <a:ahLst/>
                <a:cxnLst/>
                <a:rect l="l" t="t" r="r" b="b"/>
                <a:pathLst>
                  <a:path w="171450" h="9525">
                    <a:moveTo>
                      <a:pt x="0" y="0"/>
                    </a:moveTo>
                    <a:lnTo>
                      <a:pt x="171450" y="0"/>
                    </a:lnTo>
                  </a:path>
                </a:pathLst>
              </a:custGeom>
              <a:noFill/>
              <a:ln w="19050">
                <a:solidFill>
                  <a:srgbClr val="A8351D"/>
                </a:solidFill>
              </a:ln>
            </p:spPr>
          </p:sp>
          <p:sp>
            <p:nvSpPr>
              <p:cNvPr id="11" name="Freeform 11"/>
              <p:cNvSpPr/>
              <p:nvPr/>
            </p:nvSpPr>
            <p:spPr>
              <a:xfrm>
                <a:off x="1552575" y="971550"/>
                <a:ext cx="171450" cy="9525"/>
              </a:xfrm>
              <a:custGeom>
                <a:avLst/>
                <a:gdLst/>
                <a:ahLst/>
                <a:cxnLst/>
                <a:rect l="l" t="t" r="r" b="b"/>
                <a:pathLst>
                  <a:path w="171450" h="9525">
                    <a:moveTo>
                      <a:pt x="0" y="0"/>
                    </a:moveTo>
                    <a:lnTo>
                      <a:pt x="171450" y="0"/>
                    </a:lnTo>
                  </a:path>
                </a:pathLst>
              </a:custGeom>
              <a:noFill/>
              <a:ln w="19050">
                <a:solidFill>
                  <a:srgbClr val="A8351D"/>
                </a:solidFill>
              </a:ln>
            </p:spPr>
          </p:sp>
          <p:sp>
            <p:nvSpPr>
              <p:cNvPr id="12" name="Freeform 12"/>
              <p:cNvSpPr/>
              <p:nvPr/>
            </p:nvSpPr>
            <p:spPr>
              <a:xfrm>
                <a:off x="1571625" y="904875"/>
                <a:ext cx="133350" cy="28575"/>
              </a:xfrm>
              <a:custGeom>
                <a:avLst/>
                <a:gdLst/>
                <a:ahLst/>
                <a:cxnLst/>
                <a:rect l="l" t="t" r="r" b="b"/>
                <a:pathLst>
                  <a:path w="133350" h="28575">
                    <a:moveTo>
                      <a:pt x="0" y="28575"/>
                    </a:moveTo>
                    <a:lnTo>
                      <a:pt x="66675" y="0"/>
                    </a:lnTo>
                    <a:lnTo>
                      <a:pt x="133350" y="28575"/>
                    </a:lnTo>
                  </a:path>
                </a:pathLst>
              </a:custGeom>
              <a:noFill/>
              <a:ln w="19050">
                <a:solidFill>
                  <a:srgbClr val="A8351D"/>
                </a:solidFill>
              </a:ln>
            </p:spPr>
          </p:sp>
          <p:sp>
            <p:nvSpPr>
              <p:cNvPr id="13" name="Freeform 13"/>
              <p:cNvSpPr/>
              <p:nvPr/>
            </p:nvSpPr>
            <p:spPr>
              <a:xfrm>
                <a:off x="1562100" y="971550"/>
                <a:ext cx="9525" cy="104775"/>
              </a:xfrm>
              <a:custGeom>
                <a:avLst/>
                <a:gdLst/>
                <a:ahLst/>
                <a:cxnLst/>
                <a:rect l="l" t="t" r="r" b="b"/>
                <a:pathLst>
                  <a:path w="9525" h="104775">
                    <a:moveTo>
                      <a:pt x="0" y="0"/>
                    </a:moveTo>
                    <a:lnTo>
                      <a:pt x="0" y="104775"/>
                    </a:lnTo>
                  </a:path>
                </a:pathLst>
              </a:custGeom>
              <a:noFill/>
              <a:ln w="19050">
                <a:solidFill>
                  <a:srgbClr val="A8351D"/>
                </a:solidFill>
              </a:ln>
            </p:spPr>
          </p:sp>
          <p:sp>
            <p:nvSpPr>
              <p:cNvPr id="14" name="Freeform 14"/>
              <p:cNvSpPr/>
              <p:nvPr/>
            </p:nvSpPr>
            <p:spPr>
              <a:xfrm>
                <a:off x="1714500" y="971550"/>
                <a:ext cx="9525" cy="104775"/>
              </a:xfrm>
              <a:custGeom>
                <a:avLst/>
                <a:gdLst/>
                <a:ahLst/>
                <a:cxnLst/>
                <a:rect l="l" t="t" r="r" b="b"/>
                <a:pathLst>
                  <a:path w="9525" h="104775">
                    <a:moveTo>
                      <a:pt x="0" y="0"/>
                    </a:moveTo>
                    <a:lnTo>
                      <a:pt x="0" y="104775"/>
                    </a:lnTo>
                  </a:path>
                </a:pathLst>
              </a:custGeom>
              <a:noFill/>
              <a:ln w="19050">
                <a:solidFill>
                  <a:srgbClr val="A8351D"/>
                </a:solidFill>
              </a:ln>
            </p:spPr>
          </p:sp>
          <p:sp>
            <p:nvSpPr>
              <p:cNvPr id="15" name="Freeform 15"/>
              <p:cNvSpPr/>
              <p:nvPr/>
            </p:nvSpPr>
            <p:spPr>
              <a:xfrm>
                <a:off x="1600200" y="1009650"/>
                <a:ext cx="9525" cy="28575"/>
              </a:xfrm>
              <a:custGeom>
                <a:avLst/>
                <a:gdLst/>
                <a:ahLst/>
                <a:cxnLst/>
                <a:rect l="l" t="t" r="r" b="b"/>
                <a:pathLst>
                  <a:path w="9525" h="28575">
                    <a:moveTo>
                      <a:pt x="0" y="0"/>
                    </a:moveTo>
                    <a:lnTo>
                      <a:pt x="0" y="28575"/>
                    </a:lnTo>
                  </a:path>
                </a:pathLst>
              </a:custGeom>
              <a:noFill/>
              <a:ln w="19050">
                <a:solidFill>
                  <a:srgbClr val="A8351D"/>
                </a:solidFill>
              </a:ln>
            </p:spPr>
          </p:sp>
          <p:sp>
            <p:nvSpPr>
              <p:cNvPr id="16" name="Freeform 16"/>
              <p:cNvSpPr/>
              <p:nvPr/>
            </p:nvSpPr>
            <p:spPr>
              <a:xfrm>
                <a:off x="1638300" y="1009650"/>
                <a:ext cx="9525" cy="28575"/>
              </a:xfrm>
              <a:custGeom>
                <a:avLst/>
                <a:gdLst/>
                <a:ahLst/>
                <a:cxnLst/>
                <a:rect l="l" t="t" r="r" b="b"/>
                <a:pathLst>
                  <a:path w="9525" h="28575">
                    <a:moveTo>
                      <a:pt x="0" y="0"/>
                    </a:moveTo>
                    <a:lnTo>
                      <a:pt x="0" y="28575"/>
                    </a:lnTo>
                  </a:path>
                </a:pathLst>
              </a:custGeom>
              <a:noFill/>
              <a:ln w="19050">
                <a:solidFill>
                  <a:srgbClr val="A8351D"/>
                </a:solidFill>
              </a:ln>
            </p:spPr>
          </p:sp>
          <p:sp>
            <p:nvSpPr>
              <p:cNvPr id="17" name="Freeform 17"/>
              <p:cNvSpPr/>
              <p:nvPr/>
            </p:nvSpPr>
            <p:spPr>
              <a:xfrm>
                <a:off x="1676400" y="1009650"/>
                <a:ext cx="9525" cy="28575"/>
              </a:xfrm>
              <a:custGeom>
                <a:avLst/>
                <a:gdLst/>
                <a:ahLst/>
                <a:cxnLst/>
                <a:rect l="l" t="t" r="r" b="b"/>
                <a:pathLst>
                  <a:path w="9525" h="28575">
                    <a:moveTo>
                      <a:pt x="0" y="0"/>
                    </a:moveTo>
                    <a:lnTo>
                      <a:pt x="0" y="28575"/>
                    </a:lnTo>
                  </a:path>
                </a:pathLst>
              </a:custGeom>
              <a:noFill/>
              <a:ln w="19050">
                <a:solidFill>
                  <a:srgbClr val="A8351D"/>
                </a:solidFill>
              </a:ln>
            </p:spPr>
          </p:sp>
        </p:grpSp>
        <p:sp>
          <p:nvSpPr>
            <p:cNvPr id="19" name="TextBox 19"/>
            <p:cNvSpPr txBox="1"/>
            <p:nvPr/>
          </p:nvSpPr>
          <p:spPr>
            <a:xfrm>
              <a:off x="1843088" y="9370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总行策略</a:t>
              </a:r>
            </a:p>
          </p:txBody>
        </p:sp>
        <p:sp>
          <p:nvSpPr>
            <p:cNvPr id="20" name="Line 20"/>
            <p:cNvSpPr/>
            <p:nvPr/>
          </p:nvSpPr>
          <p:spPr>
            <a:xfrm>
              <a:off x="2857500" y="819150"/>
              <a:ext cx="9525" cy="342900"/>
            </a:xfrm>
            <a:custGeom>
              <a:avLst/>
              <a:gdLst/>
              <a:ahLst/>
              <a:cxnLst/>
              <a:rect l="l" t="t" r="r" b="b"/>
              <a:pathLst>
                <a:path w="9525" h="342900">
                  <a:moveTo>
                    <a:pt x="0" y="0"/>
                  </a:moveTo>
                  <a:lnTo>
                    <a:pt x="0" y="342900"/>
                  </a:lnTo>
                </a:path>
              </a:pathLst>
            </a:custGeom>
            <a:noFill/>
            <a:ln w="9525">
              <a:solidFill>
                <a:srgbClr val="D9E4F2"/>
              </a:solidFill>
            </a:ln>
          </p:spPr>
        </p:sp>
        <p:grpSp>
          <p:nvGrpSpPr>
            <p:cNvPr id="28" name="Group 28"/>
            <p:cNvGrpSpPr/>
            <p:nvPr/>
          </p:nvGrpSpPr>
          <p:grpSpPr>
            <a:xfrm>
              <a:off x="3362325" y="904875"/>
              <a:ext cx="171450" cy="180975"/>
              <a:chOff x="3362325" y="904875"/>
              <a:chExt cx="171450" cy="180975"/>
            </a:xfrm>
          </p:grpSpPr>
          <p:sp>
            <p:nvSpPr>
              <p:cNvPr id="21" name="Freeform 21"/>
              <p:cNvSpPr/>
              <p:nvPr/>
            </p:nvSpPr>
            <p:spPr>
              <a:xfrm>
                <a:off x="3362325" y="1076325"/>
                <a:ext cx="171450" cy="9525"/>
              </a:xfrm>
              <a:custGeom>
                <a:avLst/>
                <a:gdLst/>
                <a:ahLst/>
                <a:cxnLst/>
                <a:rect l="l" t="t" r="r" b="b"/>
                <a:pathLst>
                  <a:path w="171450" h="9525">
                    <a:moveTo>
                      <a:pt x="0" y="0"/>
                    </a:moveTo>
                    <a:lnTo>
                      <a:pt x="171450" y="0"/>
                    </a:lnTo>
                  </a:path>
                </a:pathLst>
              </a:custGeom>
              <a:noFill/>
              <a:ln w="19050">
                <a:solidFill>
                  <a:srgbClr val="A8351D"/>
                </a:solidFill>
              </a:ln>
            </p:spPr>
          </p:sp>
          <p:sp>
            <p:nvSpPr>
              <p:cNvPr id="22" name="Freeform 22"/>
              <p:cNvSpPr/>
              <p:nvPr/>
            </p:nvSpPr>
            <p:spPr>
              <a:xfrm>
                <a:off x="3381375" y="904875"/>
                <a:ext cx="76200" cy="171450"/>
              </a:xfrm>
              <a:custGeom>
                <a:avLst/>
                <a:gdLst/>
                <a:ahLst/>
                <a:cxnLst/>
                <a:rect l="l" t="t" r="r" b="b"/>
                <a:pathLst>
                  <a:path w="76200" h="171450">
                    <a:moveTo>
                      <a:pt x="0" y="171450"/>
                    </a:moveTo>
                    <a:lnTo>
                      <a:pt x="0" y="38100"/>
                    </a:lnTo>
                    <a:lnTo>
                      <a:pt x="76200" y="0"/>
                    </a:lnTo>
                    <a:lnTo>
                      <a:pt x="76200" y="171450"/>
                    </a:lnTo>
                  </a:path>
                </a:pathLst>
              </a:custGeom>
              <a:noFill/>
              <a:ln w="19050">
                <a:solidFill>
                  <a:srgbClr val="A8351D"/>
                </a:solidFill>
              </a:ln>
            </p:spPr>
          </p:sp>
          <p:sp>
            <p:nvSpPr>
              <p:cNvPr id="23" name="Freeform 23"/>
              <p:cNvSpPr/>
              <p:nvPr/>
            </p:nvSpPr>
            <p:spPr>
              <a:xfrm>
                <a:off x="3457575" y="942975"/>
                <a:ext cx="57150" cy="133350"/>
              </a:xfrm>
              <a:custGeom>
                <a:avLst/>
                <a:gdLst/>
                <a:ahLst/>
                <a:cxnLst/>
                <a:rect l="l" t="t" r="r" b="b"/>
                <a:pathLst>
                  <a:path w="57150" h="133350">
                    <a:moveTo>
                      <a:pt x="57150" y="133350"/>
                    </a:moveTo>
                    <a:lnTo>
                      <a:pt x="57150" y="38100"/>
                    </a:lnTo>
                    <a:lnTo>
                      <a:pt x="0" y="0"/>
                    </a:lnTo>
                  </a:path>
                </a:pathLst>
              </a:custGeom>
              <a:noFill/>
              <a:ln w="19050">
                <a:solidFill>
                  <a:srgbClr val="A8351D"/>
                </a:solidFill>
              </a:ln>
            </p:spPr>
          </p:sp>
          <p:sp>
            <p:nvSpPr>
              <p:cNvPr id="24" name="Freeform 24"/>
              <p:cNvSpPr/>
              <p:nvPr/>
            </p:nvSpPr>
            <p:spPr>
              <a:xfrm>
                <a:off x="3419475" y="962025"/>
                <a:ext cx="9525" cy="9525"/>
              </a:xfrm>
              <a:custGeom>
                <a:avLst/>
                <a:gdLst/>
                <a:ahLst/>
                <a:cxnLst/>
                <a:rect l="l" t="t" r="r" b="b"/>
                <a:pathLst>
                  <a:path w="9525" h="9525">
                    <a:moveTo>
                      <a:pt x="0" y="0"/>
                    </a:moveTo>
                    <a:lnTo>
                      <a:pt x="0" y="95"/>
                    </a:lnTo>
                  </a:path>
                </a:pathLst>
              </a:custGeom>
              <a:noFill/>
              <a:ln w="19050">
                <a:solidFill>
                  <a:srgbClr val="A8351D"/>
                </a:solidFill>
              </a:ln>
            </p:spPr>
          </p:sp>
          <p:sp>
            <p:nvSpPr>
              <p:cNvPr id="25" name="Freeform 25"/>
              <p:cNvSpPr/>
              <p:nvPr/>
            </p:nvSpPr>
            <p:spPr>
              <a:xfrm>
                <a:off x="3419475" y="990600"/>
                <a:ext cx="9525" cy="9525"/>
              </a:xfrm>
              <a:custGeom>
                <a:avLst/>
                <a:gdLst/>
                <a:ahLst/>
                <a:cxnLst/>
                <a:rect l="l" t="t" r="r" b="b"/>
                <a:pathLst>
                  <a:path w="9525" h="9525">
                    <a:moveTo>
                      <a:pt x="0" y="0"/>
                    </a:moveTo>
                    <a:lnTo>
                      <a:pt x="0" y="95"/>
                    </a:lnTo>
                  </a:path>
                </a:pathLst>
              </a:custGeom>
              <a:noFill/>
              <a:ln w="19050">
                <a:solidFill>
                  <a:srgbClr val="A8351D"/>
                </a:solidFill>
              </a:ln>
            </p:spPr>
          </p:sp>
          <p:sp>
            <p:nvSpPr>
              <p:cNvPr id="26" name="Freeform 26"/>
              <p:cNvSpPr/>
              <p:nvPr/>
            </p:nvSpPr>
            <p:spPr>
              <a:xfrm>
                <a:off x="3419475" y="1019175"/>
                <a:ext cx="9525" cy="9525"/>
              </a:xfrm>
              <a:custGeom>
                <a:avLst/>
                <a:gdLst/>
                <a:ahLst/>
                <a:cxnLst/>
                <a:rect l="l" t="t" r="r" b="b"/>
                <a:pathLst>
                  <a:path w="9525" h="9525">
                    <a:moveTo>
                      <a:pt x="0" y="0"/>
                    </a:moveTo>
                    <a:lnTo>
                      <a:pt x="0" y="95"/>
                    </a:lnTo>
                  </a:path>
                </a:pathLst>
              </a:custGeom>
              <a:noFill/>
              <a:ln w="19050">
                <a:solidFill>
                  <a:srgbClr val="A8351D"/>
                </a:solidFill>
              </a:ln>
            </p:spPr>
          </p:sp>
          <p:sp>
            <p:nvSpPr>
              <p:cNvPr id="27" name="Freeform 27"/>
              <p:cNvSpPr/>
              <p:nvPr/>
            </p:nvSpPr>
            <p:spPr>
              <a:xfrm>
                <a:off x="3419475" y="1047750"/>
                <a:ext cx="9525" cy="9525"/>
              </a:xfrm>
              <a:custGeom>
                <a:avLst/>
                <a:gdLst/>
                <a:ahLst/>
                <a:cxnLst/>
                <a:rect l="l" t="t" r="r" b="b"/>
                <a:pathLst>
                  <a:path w="9525" h="9525">
                    <a:moveTo>
                      <a:pt x="0" y="0"/>
                    </a:moveTo>
                    <a:lnTo>
                      <a:pt x="0" y="95"/>
                    </a:lnTo>
                  </a:path>
                </a:pathLst>
              </a:custGeom>
              <a:noFill/>
              <a:ln w="19050">
                <a:solidFill>
                  <a:srgbClr val="A8351D"/>
                </a:solidFill>
              </a:ln>
            </p:spPr>
          </p:sp>
        </p:grpSp>
        <p:sp>
          <p:nvSpPr>
            <p:cNvPr id="29" name="TextBox 29"/>
            <p:cNvSpPr txBox="1"/>
            <p:nvPr/>
          </p:nvSpPr>
          <p:spPr>
            <a:xfrm>
              <a:off x="3652838" y="9370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分行运营</a:t>
              </a:r>
            </a:p>
          </p:txBody>
        </p:sp>
        <p:sp>
          <p:nvSpPr>
            <p:cNvPr id="30" name="Line 30"/>
            <p:cNvSpPr/>
            <p:nvPr/>
          </p:nvSpPr>
          <p:spPr>
            <a:xfrm>
              <a:off x="4762500" y="819150"/>
              <a:ext cx="9525" cy="342900"/>
            </a:xfrm>
            <a:custGeom>
              <a:avLst/>
              <a:gdLst/>
              <a:ahLst/>
              <a:cxnLst/>
              <a:rect l="l" t="t" r="r" b="b"/>
              <a:pathLst>
                <a:path w="9525" h="342900">
                  <a:moveTo>
                    <a:pt x="0" y="0"/>
                  </a:moveTo>
                  <a:lnTo>
                    <a:pt x="0" y="342900"/>
                  </a:lnTo>
                </a:path>
              </a:pathLst>
            </a:custGeom>
            <a:noFill/>
            <a:ln w="9525">
              <a:solidFill>
                <a:srgbClr val="D9E4F2"/>
              </a:solidFill>
            </a:ln>
          </p:spPr>
        </p:sp>
        <p:grpSp>
          <p:nvGrpSpPr>
            <p:cNvPr id="36" name="Group 36"/>
            <p:cNvGrpSpPr/>
            <p:nvPr/>
          </p:nvGrpSpPr>
          <p:grpSpPr>
            <a:xfrm>
              <a:off x="5267325" y="904875"/>
              <a:ext cx="171450" cy="171450"/>
              <a:chOff x="5267325" y="904875"/>
              <a:chExt cx="171450" cy="171450"/>
            </a:xfrm>
          </p:grpSpPr>
          <p:sp>
            <p:nvSpPr>
              <p:cNvPr id="31" name="Freeform 31"/>
              <p:cNvSpPr/>
              <p:nvPr/>
            </p:nvSpPr>
            <p:spPr>
              <a:xfrm>
                <a:off x="5267325" y="904875"/>
                <a:ext cx="171450" cy="171450"/>
              </a:xfrm>
              <a:custGeom>
                <a:avLst/>
                <a:gdLst/>
                <a:ahLst/>
                <a:cxnLst/>
                <a:rect l="l" t="t" r="r" b="b"/>
                <a:pathLst>
                  <a:path w="171450" h="171450">
                    <a:moveTo>
                      <a:pt x="47625" y="57150"/>
                    </a:moveTo>
                    <a:lnTo>
                      <a:pt x="95250" y="104775"/>
                    </a:lnTo>
                    <a:lnTo>
                      <a:pt x="95250" y="171450"/>
                    </a:lnTo>
                    <a:lnTo>
                      <a:pt x="47625" y="171450"/>
                    </a:lnTo>
                    <a:lnTo>
                      <a:pt x="47625" y="133350"/>
                    </a:lnTo>
                    <a:moveTo>
                      <a:pt x="47625" y="171450"/>
                    </a:moveTo>
                    <a:lnTo>
                      <a:pt x="0" y="171450"/>
                    </a:lnTo>
                    <a:lnTo>
                      <a:pt x="0" y="104775"/>
                    </a:lnTo>
                    <a:lnTo>
                      <a:pt x="47625" y="57150"/>
                    </a:lnTo>
                    <a:moveTo>
                      <a:pt x="57150" y="66675"/>
                    </a:moveTo>
                    <a:lnTo>
                      <a:pt x="57150" y="9525"/>
                    </a:lnTo>
                    <a:cubicBezTo>
                      <a:pt x="57150" y="4264"/>
                      <a:pt x="61414" y="0"/>
                      <a:pt x="66675" y="0"/>
                    </a:cubicBezTo>
                    <a:lnTo>
                      <a:pt x="161925" y="0"/>
                    </a:lnTo>
                    <a:cubicBezTo>
                      <a:pt x="167186" y="0"/>
                      <a:pt x="171450" y="4264"/>
                      <a:pt x="171450" y="9525"/>
                    </a:cubicBezTo>
                    <a:lnTo>
                      <a:pt x="171450" y="171450"/>
                    </a:lnTo>
                    <a:lnTo>
                      <a:pt x="95250" y="171450"/>
                    </a:lnTo>
                  </a:path>
                </a:pathLst>
              </a:custGeom>
              <a:noFill/>
              <a:ln w="19050">
                <a:solidFill>
                  <a:srgbClr val="A8351D"/>
                </a:solidFill>
              </a:ln>
            </p:spPr>
          </p:sp>
          <p:sp>
            <p:nvSpPr>
              <p:cNvPr id="32" name="Freeform 32"/>
              <p:cNvSpPr/>
              <p:nvPr/>
            </p:nvSpPr>
            <p:spPr>
              <a:xfrm>
                <a:off x="5362575" y="942975"/>
                <a:ext cx="9525" cy="9525"/>
              </a:xfrm>
              <a:custGeom>
                <a:avLst/>
                <a:gdLst/>
                <a:ahLst/>
                <a:cxnLst/>
                <a:rect l="l" t="t" r="r" b="b"/>
                <a:pathLst>
                  <a:path w="9525" h="9525">
                    <a:moveTo>
                      <a:pt x="0" y="0"/>
                    </a:moveTo>
                    <a:lnTo>
                      <a:pt x="0" y="95"/>
                    </a:lnTo>
                  </a:path>
                </a:pathLst>
              </a:custGeom>
              <a:noFill/>
              <a:ln w="19050">
                <a:solidFill>
                  <a:srgbClr val="A8351D"/>
                </a:solidFill>
              </a:ln>
            </p:spPr>
          </p:sp>
          <p:sp>
            <p:nvSpPr>
              <p:cNvPr id="33" name="Freeform 33"/>
              <p:cNvSpPr/>
              <p:nvPr/>
            </p:nvSpPr>
            <p:spPr>
              <a:xfrm>
                <a:off x="5400675" y="942975"/>
                <a:ext cx="9525" cy="9525"/>
              </a:xfrm>
              <a:custGeom>
                <a:avLst/>
                <a:gdLst/>
                <a:ahLst/>
                <a:cxnLst/>
                <a:rect l="l" t="t" r="r" b="b"/>
                <a:pathLst>
                  <a:path w="9525" h="9525">
                    <a:moveTo>
                      <a:pt x="0" y="0"/>
                    </a:moveTo>
                    <a:lnTo>
                      <a:pt x="0" y="95"/>
                    </a:lnTo>
                  </a:path>
                </a:pathLst>
              </a:custGeom>
              <a:noFill/>
              <a:ln w="19050">
                <a:solidFill>
                  <a:srgbClr val="A8351D"/>
                </a:solidFill>
              </a:ln>
            </p:spPr>
          </p:sp>
          <p:sp>
            <p:nvSpPr>
              <p:cNvPr id="34" name="Freeform 34"/>
              <p:cNvSpPr/>
              <p:nvPr/>
            </p:nvSpPr>
            <p:spPr>
              <a:xfrm>
                <a:off x="5400675" y="981075"/>
                <a:ext cx="9525" cy="9525"/>
              </a:xfrm>
              <a:custGeom>
                <a:avLst/>
                <a:gdLst/>
                <a:ahLst/>
                <a:cxnLst/>
                <a:rect l="l" t="t" r="r" b="b"/>
                <a:pathLst>
                  <a:path w="9525" h="9525">
                    <a:moveTo>
                      <a:pt x="0" y="0"/>
                    </a:moveTo>
                    <a:lnTo>
                      <a:pt x="0" y="95"/>
                    </a:lnTo>
                  </a:path>
                </a:pathLst>
              </a:custGeom>
              <a:noFill/>
              <a:ln w="19050">
                <a:solidFill>
                  <a:srgbClr val="A8351D"/>
                </a:solidFill>
              </a:ln>
            </p:spPr>
          </p:sp>
          <p:sp>
            <p:nvSpPr>
              <p:cNvPr id="35" name="Freeform 35"/>
              <p:cNvSpPr/>
              <p:nvPr/>
            </p:nvSpPr>
            <p:spPr>
              <a:xfrm>
                <a:off x="5400675" y="1019175"/>
                <a:ext cx="9525" cy="9525"/>
              </a:xfrm>
              <a:custGeom>
                <a:avLst/>
                <a:gdLst/>
                <a:ahLst/>
                <a:cxnLst/>
                <a:rect l="l" t="t" r="r" b="b"/>
                <a:pathLst>
                  <a:path w="9525" h="9525">
                    <a:moveTo>
                      <a:pt x="0" y="0"/>
                    </a:moveTo>
                    <a:lnTo>
                      <a:pt x="0" y="95"/>
                    </a:lnTo>
                  </a:path>
                </a:pathLst>
              </a:custGeom>
              <a:noFill/>
              <a:ln w="19050">
                <a:solidFill>
                  <a:srgbClr val="A8351D"/>
                </a:solidFill>
              </a:ln>
            </p:spPr>
          </p:sp>
        </p:grpSp>
        <p:sp>
          <p:nvSpPr>
            <p:cNvPr id="37" name="TextBox 37"/>
            <p:cNvSpPr txBox="1"/>
            <p:nvPr/>
          </p:nvSpPr>
          <p:spPr>
            <a:xfrm>
              <a:off x="5557838" y="9370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支行执行</a:t>
              </a:r>
            </a:p>
          </p:txBody>
        </p:sp>
        <p:sp>
          <p:nvSpPr>
            <p:cNvPr id="38" name="Line 38"/>
            <p:cNvSpPr/>
            <p:nvPr/>
          </p:nvSpPr>
          <p:spPr>
            <a:xfrm>
              <a:off x="6667500" y="819150"/>
              <a:ext cx="9525" cy="342900"/>
            </a:xfrm>
            <a:custGeom>
              <a:avLst/>
              <a:gdLst/>
              <a:ahLst/>
              <a:cxnLst/>
              <a:rect l="l" t="t" r="r" b="b"/>
              <a:pathLst>
                <a:path w="9525" h="342900">
                  <a:moveTo>
                    <a:pt x="0" y="0"/>
                  </a:moveTo>
                  <a:lnTo>
                    <a:pt x="0" y="342900"/>
                  </a:lnTo>
                </a:path>
              </a:pathLst>
            </a:custGeom>
            <a:noFill/>
            <a:ln w="9525">
              <a:solidFill>
                <a:srgbClr val="D9E4F2"/>
              </a:solidFill>
            </a:ln>
          </p:spPr>
        </p:sp>
        <p:grpSp>
          <p:nvGrpSpPr>
            <p:cNvPr id="48" name="Group 48"/>
            <p:cNvGrpSpPr/>
            <p:nvPr/>
          </p:nvGrpSpPr>
          <p:grpSpPr>
            <a:xfrm>
              <a:off x="7067550" y="904875"/>
              <a:ext cx="152715" cy="185738"/>
              <a:chOff x="7067550" y="904875"/>
              <a:chExt cx="152715" cy="185738"/>
            </a:xfrm>
          </p:grpSpPr>
          <p:sp>
            <p:nvSpPr>
              <p:cNvPr id="39" name="Freeform 39"/>
              <p:cNvSpPr/>
              <p:nvPr/>
            </p:nvSpPr>
            <p:spPr>
              <a:xfrm>
                <a:off x="7086600" y="9048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A8351D"/>
                </a:solidFill>
              </a:ln>
            </p:spPr>
          </p:sp>
          <p:sp>
            <p:nvSpPr>
              <p:cNvPr id="40" name="Freeform 40"/>
              <p:cNvSpPr/>
              <p:nvPr/>
            </p:nvSpPr>
            <p:spPr>
              <a:xfrm>
                <a:off x="7067550" y="1019175"/>
                <a:ext cx="61912" cy="57150"/>
              </a:xfrm>
              <a:custGeom>
                <a:avLst/>
                <a:gdLst/>
                <a:ahLst/>
                <a:cxnLst/>
                <a:rect l="l" t="t" r="r" b="b"/>
                <a:pathLst>
                  <a:path w="61912" h="57150">
                    <a:moveTo>
                      <a:pt x="0" y="57150"/>
                    </a:moveTo>
                    <a:lnTo>
                      <a:pt x="0" y="38100"/>
                    </a:lnTo>
                    <a:cubicBezTo>
                      <a:pt x="0" y="17058"/>
                      <a:pt x="17058" y="0"/>
                      <a:pt x="38100" y="0"/>
                    </a:cubicBezTo>
                    <a:lnTo>
                      <a:pt x="61912" y="0"/>
                    </a:lnTo>
                  </a:path>
                </a:pathLst>
              </a:custGeom>
              <a:noFill/>
              <a:ln w="19050">
                <a:solidFill>
                  <a:srgbClr val="A8351D"/>
                </a:solidFill>
              </a:ln>
            </p:spPr>
          </p:sp>
          <p:sp>
            <p:nvSpPr>
              <p:cNvPr id="41" name="Freeform 41"/>
              <p:cNvSpPr/>
              <p:nvPr/>
            </p:nvSpPr>
            <p:spPr>
              <a:xfrm>
                <a:off x="7172335" y="10382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8351D"/>
                </a:solidFill>
              </a:ln>
            </p:spPr>
          </p:sp>
          <p:sp>
            <p:nvSpPr>
              <p:cNvPr id="42" name="Freeform 42"/>
              <p:cNvSpPr/>
              <p:nvPr/>
            </p:nvSpPr>
            <p:spPr>
              <a:xfrm>
                <a:off x="7191385" y="1023938"/>
                <a:ext cx="9525" cy="14288"/>
              </a:xfrm>
              <a:custGeom>
                <a:avLst/>
                <a:gdLst/>
                <a:ahLst/>
                <a:cxnLst/>
                <a:rect l="l" t="t" r="r" b="b"/>
                <a:pathLst>
                  <a:path w="9525" h="14288">
                    <a:moveTo>
                      <a:pt x="0" y="0"/>
                    </a:moveTo>
                    <a:lnTo>
                      <a:pt x="0" y="14288"/>
                    </a:lnTo>
                  </a:path>
                </a:pathLst>
              </a:custGeom>
              <a:noFill/>
              <a:ln w="19050">
                <a:solidFill>
                  <a:srgbClr val="A8351D"/>
                </a:solidFill>
              </a:ln>
            </p:spPr>
          </p:sp>
          <p:sp>
            <p:nvSpPr>
              <p:cNvPr id="43" name="Freeform 43"/>
              <p:cNvSpPr/>
              <p:nvPr/>
            </p:nvSpPr>
            <p:spPr>
              <a:xfrm>
                <a:off x="7191385" y="1076325"/>
                <a:ext cx="9525" cy="14288"/>
              </a:xfrm>
              <a:custGeom>
                <a:avLst/>
                <a:gdLst/>
                <a:ahLst/>
                <a:cxnLst/>
                <a:rect l="l" t="t" r="r" b="b"/>
                <a:pathLst>
                  <a:path w="9525" h="14288">
                    <a:moveTo>
                      <a:pt x="0" y="0"/>
                    </a:moveTo>
                    <a:lnTo>
                      <a:pt x="0" y="14288"/>
                    </a:lnTo>
                  </a:path>
                </a:pathLst>
              </a:custGeom>
              <a:noFill/>
              <a:ln w="19050">
                <a:solidFill>
                  <a:srgbClr val="A8351D"/>
                </a:solidFill>
              </a:ln>
            </p:spPr>
          </p:sp>
          <p:sp>
            <p:nvSpPr>
              <p:cNvPr id="44" name="Freeform 44"/>
              <p:cNvSpPr/>
              <p:nvPr/>
            </p:nvSpPr>
            <p:spPr>
              <a:xfrm>
                <a:off x="7207882" y="1040606"/>
                <a:ext cx="12373" cy="9525"/>
              </a:xfrm>
              <a:custGeom>
                <a:avLst/>
                <a:gdLst/>
                <a:ahLst/>
                <a:cxnLst/>
                <a:rect l="l" t="t" r="r" b="b"/>
                <a:pathLst>
                  <a:path w="12373" h="9525">
                    <a:moveTo>
                      <a:pt x="12373" y="0"/>
                    </a:moveTo>
                    <a:lnTo>
                      <a:pt x="0" y="7144"/>
                    </a:lnTo>
                  </a:path>
                </a:pathLst>
              </a:custGeom>
              <a:noFill/>
              <a:ln w="19050">
                <a:solidFill>
                  <a:srgbClr val="A8351D"/>
                </a:solidFill>
              </a:ln>
            </p:spPr>
          </p:sp>
          <p:sp>
            <p:nvSpPr>
              <p:cNvPr id="45" name="Freeform 45"/>
              <p:cNvSpPr/>
              <p:nvPr/>
            </p:nvSpPr>
            <p:spPr>
              <a:xfrm>
                <a:off x="7162514" y="1066800"/>
                <a:ext cx="12382" cy="9525"/>
              </a:xfrm>
              <a:custGeom>
                <a:avLst/>
                <a:gdLst/>
                <a:ahLst/>
                <a:cxnLst/>
                <a:rect l="l" t="t" r="r" b="b"/>
                <a:pathLst>
                  <a:path w="12382" h="9525">
                    <a:moveTo>
                      <a:pt x="12382" y="0"/>
                    </a:moveTo>
                    <a:lnTo>
                      <a:pt x="0" y="7144"/>
                    </a:lnTo>
                  </a:path>
                </a:pathLst>
              </a:custGeom>
              <a:noFill/>
              <a:ln w="19050">
                <a:solidFill>
                  <a:srgbClr val="A8351D"/>
                </a:solidFill>
              </a:ln>
            </p:spPr>
          </p:sp>
          <p:sp>
            <p:nvSpPr>
              <p:cNvPr id="46" name="Freeform 46"/>
              <p:cNvSpPr/>
              <p:nvPr/>
            </p:nvSpPr>
            <p:spPr>
              <a:xfrm>
                <a:off x="7162514" y="1040606"/>
                <a:ext cx="12382" cy="9525"/>
              </a:xfrm>
              <a:custGeom>
                <a:avLst/>
                <a:gdLst/>
                <a:ahLst/>
                <a:cxnLst/>
                <a:rect l="l" t="t" r="r" b="b"/>
                <a:pathLst>
                  <a:path w="12382" h="9525">
                    <a:moveTo>
                      <a:pt x="0" y="0"/>
                    </a:moveTo>
                    <a:lnTo>
                      <a:pt x="12382" y="7144"/>
                    </a:lnTo>
                  </a:path>
                </a:pathLst>
              </a:custGeom>
              <a:noFill/>
              <a:ln w="19050">
                <a:solidFill>
                  <a:srgbClr val="A8351D"/>
                </a:solidFill>
              </a:ln>
            </p:spPr>
          </p:sp>
          <p:sp>
            <p:nvSpPr>
              <p:cNvPr id="47" name="Freeform 47"/>
              <p:cNvSpPr/>
              <p:nvPr/>
            </p:nvSpPr>
            <p:spPr>
              <a:xfrm>
                <a:off x="7207882" y="1066800"/>
                <a:ext cx="12383" cy="9525"/>
              </a:xfrm>
              <a:custGeom>
                <a:avLst/>
                <a:gdLst/>
                <a:ahLst/>
                <a:cxnLst/>
                <a:rect l="l" t="t" r="r" b="b"/>
                <a:pathLst>
                  <a:path w="12383" h="9525">
                    <a:moveTo>
                      <a:pt x="0" y="0"/>
                    </a:moveTo>
                    <a:lnTo>
                      <a:pt x="12383" y="7144"/>
                    </a:lnTo>
                  </a:path>
                </a:pathLst>
              </a:custGeom>
              <a:noFill/>
              <a:ln w="19050">
                <a:solidFill>
                  <a:srgbClr val="A8351D"/>
                </a:solidFill>
              </a:ln>
            </p:spPr>
          </p:sp>
        </p:grpSp>
        <p:sp>
          <p:nvSpPr>
            <p:cNvPr id="49" name="TextBox 49"/>
            <p:cNvSpPr txBox="1"/>
            <p:nvPr/>
          </p:nvSpPr>
          <p:spPr>
            <a:xfrm>
              <a:off x="7329488" y="937022"/>
              <a:ext cx="895325"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客户经理工作台</a:t>
              </a:r>
            </a:p>
          </p:txBody>
        </p:sp>
        <p:sp>
          <p:nvSpPr>
            <p:cNvPr id="50" name="Line 50"/>
            <p:cNvSpPr/>
            <p:nvPr/>
          </p:nvSpPr>
          <p:spPr>
            <a:xfrm flipV="1">
              <a:off x="1643062" y="1333500"/>
              <a:ext cx="1" cy="95250"/>
            </a:xfrm>
            <a:prstGeom prst="line">
              <a:avLst/>
            </a:prstGeom>
            <a:noFill/>
            <a:ln w="19050">
              <a:solidFill>
                <a:srgbClr val="D64A2E"/>
              </a:solidFill>
              <a:tailEnd type="triangle" w="lg" len="lg"/>
            </a:ln>
          </p:spPr>
        </p:sp>
        <p:sp>
          <p:nvSpPr>
            <p:cNvPr id="51" name="Line 51"/>
            <p:cNvSpPr/>
            <p:nvPr/>
          </p:nvSpPr>
          <p:spPr>
            <a:xfrm flipV="1">
              <a:off x="2947988" y="1333500"/>
              <a:ext cx="1" cy="95250"/>
            </a:xfrm>
            <a:prstGeom prst="line">
              <a:avLst/>
            </a:prstGeom>
            <a:noFill/>
            <a:ln w="19050">
              <a:solidFill>
                <a:srgbClr val="D64A2E"/>
              </a:solidFill>
              <a:tailEnd type="triangle" w="lg" len="lg"/>
            </a:ln>
          </p:spPr>
        </p:sp>
        <p:sp>
          <p:nvSpPr>
            <p:cNvPr id="52" name="Line 52"/>
            <p:cNvSpPr/>
            <p:nvPr/>
          </p:nvSpPr>
          <p:spPr>
            <a:xfrm flipV="1">
              <a:off x="4252912" y="1333500"/>
              <a:ext cx="1" cy="95250"/>
            </a:xfrm>
            <a:prstGeom prst="line">
              <a:avLst/>
            </a:prstGeom>
            <a:noFill/>
            <a:ln w="19050">
              <a:solidFill>
                <a:srgbClr val="D64A2E"/>
              </a:solidFill>
              <a:tailEnd type="triangle" w="lg" len="lg"/>
            </a:ln>
          </p:spPr>
        </p:sp>
        <p:sp>
          <p:nvSpPr>
            <p:cNvPr id="53" name="Line 53"/>
            <p:cNvSpPr/>
            <p:nvPr/>
          </p:nvSpPr>
          <p:spPr>
            <a:xfrm flipV="1">
              <a:off x="5557838" y="1333500"/>
              <a:ext cx="1" cy="95250"/>
            </a:xfrm>
            <a:prstGeom prst="line">
              <a:avLst/>
            </a:prstGeom>
            <a:noFill/>
            <a:ln w="19050">
              <a:solidFill>
                <a:srgbClr val="D64A2E"/>
              </a:solidFill>
              <a:tailEnd type="triangle" w="lg" len="lg"/>
            </a:ln>
          </p:spPr>
        </p:sp>
        <p:sp>
          <p:nvSpPr>
            <p:cNvPr id="54" name="Line 54"/>
            <p:cNvSpPr/>
            <p:nvPr/>
          </p:nvSpPr>
          <p:spPr>
            <a:xfrm flipV="1">
              <a:off x="6862762" y="1333500"/>
              <a:ext cx="1" cy="95250"/>
            </a:xfrm>
            <a:prstGeom prst="line">
              <a:avLst/>
            </a:prstGeom>
            <a:noFill/>
            <a:ln w="19050">
              <a:solidFill>
                <a:srgbClr val="D64A2E"/>
              </a:solidFill>
              <a:tailEnd type="triangle" w="lg" len="lg"/>
            </a:ln>
          </p:spPr>
        </p:sp>
        <p:sp>
          <p:nvSpPr>
            <p:cNvPr id="55" name="Line 55"/>
            <p:cNvSpPr/>
            <p:nvPr/>
          </p:nvSpPr>
          <p:spPr>
            <a:xfrm flipV="1">
              <a:off x="8167688" y="1333500"/>
              <a:ext cx="1" cy="95250"/>
            </a:xfrm>
            <a:prstGeom prst="line">
              <a:avLst/>
            </a:prstGeom>
            <a:noFill/>
            <a:ln w="19050">
              <a:solidFill>
                <a:srgbClr val="D64A2E"/>
              </a:solidFill>
              <a:tailEnd type="triangle" w="lg" len="lg"/>
            </a:ln>
          </p:spPr>
        </p:sp>
        <p:sp>
          <p:nvSpPr>
            <p:cNvPr id="56" name="Rectangle 56"/>
            <p:cNvSpPr/>
            <p:nvPr/>
          </p:nvSpPr>
          <p:spPr>
            <a:xfrm>
              <a:off x="381000" y="1447800"/>
              <a:ext cx="571500" cy="1866900"/>
            </a:xfrm>
            <a:prstGeom prst="roundRect">
              <a:avLst>
                <a:gd name="adj" fmla="val 10000"/>
              </a:avLst>
            </a:prstGeom>
            <a:solidFill>
              <a:srgbClr val="67281B"/>
            </a:solidFill>
            <a:ln>
              <a:noFill/>
            </a:ln>
          </p:spPr>
        </p:sp>
        <p:sp>
          <p:nvSpPr>
            <p:cNvPr id="57" name="TextBox 57"/>
            <p:cNvSpPr txBox="1"/>
            <p:nvPr/>
          </p:nvSpPr>
          <p:spPr>
            <a:xfrm>
              <a:off x="537337" y="2085499"/>
              <a:ext cx="258826" cy="571690"/>
            </a:xfrm>
            <a:prstGeom prst="rect">
              <a:avLst/>
            </a:prstGeom>
            <a:noFill/>
            <a:ln>
              <a:noFill/>
            </a:ln>
          </p:spPr>
          <p:txBody>
            <a:bodyPr wrap="none" lIns="0" tIns="0" rIns="0" bIns="0" anchor="t" anchorCtr="0">
              <a:spAutoFit/>
            </a:bodyPr>
            <a:lstStyle/>
            <a:p>
              <a:pPr algn="ctr">
                <a:lnSpc>
                  <a:spcPts val="1500"/>
                </a:lnSpc>
              </a:pPr>
              <a:r>
                <a:rPr lang="zh-CN" sz="980" b="1" dirty="0">
                  <a:solidFill>
                    <a:srgbClr val="FFFFFF"/>
                  </a:solidFill>
                  <a:latin typeface="+mn-lt"/>
                  <a:ea typeface="+mn-ea"/>
                  <a:cs typeface="+mn-cs"/>
                </a:rPr>
                <a:t>六大</a:t>
              </a:r>
              <a:br/>
              <a:r>
                <a:rPr lang="zh-CN" sz="980" b="1" dirty="0">
                  <a:solidFill>
                    <a:srgbClr val="FFFFFF"/>
                  </a:solidFill>
                  <a:latin typeface="+mn-lt"/>
                  <a:ea typeface="+mn-ea"/>
                  <a:cs typeface="+mn-cs"/>
                </a:rPr>
                <a:t>能力</a:t>
              </a:r>
              <a:br/>
              <a:r>
                <a:rPr lang="zh-CN" sz="980" b="1" dirty="0">
                  <a:solidFill>
                    <a:srgbClr val="FFFFFF"/>
                  </a:solidFill>
                  <a:latin typeface="+mn-lt"/>
                  <a:ea typeface="+mn-ea"/>
                  <a:cs typeface="+mn-cs"/>
                </a:rPr>
                <a:t>模块</a:t>
              </a:r>
            </a:p>
          </p:txBody>
        </p:sp>
        <p:sp>
          <p:nvSpPr>
            <p:cNvPr id="58" name="Rectangle 58"/>
            <p:cNvSpPr/>
            <p:nvPr/>
          </p:nvSpPr>
          <p:spPr>
            <a:xfrm>
              <a:off x="1047750" y="1447800"/>
              <a:ext cx="1190625" cy="1866900"/>
            </a:xfrm>
            <a:prstGeom prst="roundRect">
              <a:avLst>
                <a:gd name="adj" fmla="val 4800"/>
              </a:avLst>
            </a:prstGeom>
            <a:solidFill>
              <a:srgbClr val="FFFFFF"/>
            </a:solidFill>
            <a:ln w="9525">
              <a:solidFill>
                <a:srgbClr val="C9D8EF"/>
              </a:solidFill>
            </a:ln>
          </p:spPr>
        </p:sp>
        <p:sp>
          <p:nvSpPr>
            <p:cNvPr id="59" name="Rectangle 59"/>
            <p:cNvSpPr/>
            <p:nvPr/>
          </p:nvSpPr>
          <p:spPr>
            <a:xfrm>
              <a:off x="1047750" y="1447800"/>
              <a:ext cx="1190625" cy="266700"/>
            </a:xfrm>
            <a:prstGeom prst="roundRect">
              <a:avLst>
                <a:gd name="adj" fmla="val 21429"/>
              </a:avLst>
            </a:prstGeom>
            <a:solidFill>
              <a:srgbClr val="A8351D"/>
            </a:solidFill>
            <a:ln>
              <a:noFill/>
            </a:ln>
          </p:spPr>
        </p:sp>
        <p:sp>
          <p:nvSpPr>
            <p:cNvPr id="60" name="TextBox 60"/>
            <p:cNvSpPr txBox="1"/>
            <p:nvPr/>
          </p:nvSpPr>
          <p:spPr>
            <a:xfrm>
              <a:off x="1395984" y="15316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客户图谱</a:t>
              </a:r>
            </a:p>
          </p:txBody>
        </p:sp>
        <p:grpSp>
          <p:nvGrpSpPr>
            <p:cNvPr id="65" name="Group 65"/>
            <p:cNvGrpSpPr/>
            <p:nvPr/>
          </p:nvGrpSpPr>
          <p:grpSpPr>
            <a:xfrm>
              <a:off x="1540669" y="1845469"/>
              <a:ext cx="214313" cy="214313"/>
              <a:chOff x="1540669" y="1845469"/>
              <a:chExt cx="214313" cy="214313"/>
            </a:xfrm>
          </p:grpSpPr>
          <p:sp>
            <p:nvSpPr>
              <p:cNvPr id="61" name="Freeform 61"/>
              <p:cNvSpPr/>
              <p:nvPr/>
            </p:nvSpPr>
            <p:spPr>
              <a:xfrm>
                <a:off x="1564481" y="184546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A8351D"/>
                </a:solidFill>
              </a:ln>
            </p:spPr>
          </p:sp>
          <p:sp>
            <p:nvSpPr>
              <p:cNvPr id="62" name="Freeform 62"/>
              <p:cNvSpPr/>
              <p:nvPr/>
            </p:nvSpPr>
            <p:spPr>
              <a:xfrm>
                <a:off x="1540669" y="1988344"/>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23812">
                <a:solidFill>
                  <a:srgbClr val="A8351D"/>
                </a:solidFill>
              </a:ln>
            </p:spPr>
          </p:sp>
          <p:sp>
            <p:nvSpPr>
              <p:cNvPr id="63" name="Freeform 63"/>
              <p:cNvSpPr/>
              <p:nvPr/>
            </p:nvSpPr>
            <p:spPr>
              <a:xfrm>
                <a:off x="1695450" y="1847017"/>
                <a:ext cx="35812" cy="92273"/>
              </a:xfrm>
              <a:custGeom>
                <a:avLst/>
                <a:gdLst/>
                <a:ahLst/>
                <a:cxnLst/>
                <a:rect l="l" t="t" r="r" b="b"/>
                <a:pathLst>
                  <a:path w="35812" h="92273">
                    <a:moveTo>
                      <a:pt x="0" y="0"/>
                    </a:moveTo>
                    <a:cubicBezTo>
                      <a:pt x="21073" y="5396"/>
                      <a:pt x="35812" y="24384"/>
                      <a:pt x="35812" y="46137"/>
                    </a:cubicBezTo>
                    <a:cubicBezTo>
                      <a:pt x="35812" y="67890"/>
                      <a:pt x="21073" y="86878"/>
                      <a:pt x="0" y="92273"/>
                    </a:cubicBezTo>
                  </a:path>
                </a:pathLst>
              </a:custGeom>
              <a:noFill/>
              <a:ln w="23812">
                <a:solidFill>
                  <a:srgbClr val="A8351D"/>
                </a:solidFill>
              </a:ln>
            </p:spPr>
          </p:sp>
          <p:sp>
            <p:nvSpPr>
              <p:cNvPr id="64" name="Freeform 64"/>
              <p:cNvSpPr/>
              <p:nvPr/>
            </p:nvSpPr>
            <p:spPr>
              <a:xfrm>
                <a:off x="1719263" y="1990130"/>
                <a:ext cx="35719" cy="69652"/>
              </a:xfrm>
              <a:custGeom>
                <a:avLst/>
                <a:gdLst/>
                <a:ahLst/>
                <a:cxnLst/>
                <a:rect l="l" t="t" r="r" b="b"/>
                <a:pathLst>
                  <a:path w="35719" h="69652">
                    <a:moveTo>
                      <a:pt x="35719" y="69652"/>
                    </a:moveTo>
                    <a:lnTo>
                      <a:pt x="35719" y="45839"/>
                    </a:lnTo>
                    <a:cubicBezTo>
                      <a:pt x="35594" y="24224"/>
                      <a:pt x="20929" y="5403"/>
                      <a:pt x="0" y="0"/>
                    </a:cubicBezTo>
                  </a:path>
                </a:pathLst>
              </a:custGeom>
              <a:noFill/>
              <a:ln w="23812">
                <a:solidFill>
                  <a:srgbClr val="A8351D"/>
                </a:solidFill>
              </a:ln>
            </p:spPr>
          </p:sp>
        </p:grpSp>
        <p:sp>
          <p:nvSpPr>
            <p:cNvPr id="66" name="TextBox 66"/>
            <p:cNvSpPr txBox="1"/>
            <p:nvPr/>
          </p:nvSpPr>
          <p:spPr>
            <a:xfrm>
              <a:off x="1138238" y="2304336"/>
              <a:ext cx="627190" cy="483394"/>
            </a:xfrm>
            <a:prstGeom prst="rect">
              <a:avLst/>
            </a:prstGeom>
            <a:noFill/>
            <a:ln>
              <a:noFill/>
            </a:ln>
          </p:spPr>
          <p:txBody>
            <a:bodyPr wrap="none" lIns="0" tIns="0" rIns="0" bIns="0" anchor="t" anchorCtr="0">
              <a:spAutoFit/>
            </a:bodyPr>
            <a:lstStyle/>
            <a:p>
              <a:pPr algn="l" marL="76644" indent="-76644">
                <a:lnSpc>
                  <a:spcPts val="1350"/>
                </a:lnSpc>
                <a:buClr>
                  <a:srgbClr val="67281B"/>
                </a:buClr>
                <a:buSzTx/>
                <a:buFontTx/>
                <a:buChar char="•"/>
              </a:pPr>
              <a:r>
                <a:rPr lang="zh-CN" sz="710" dirty="0">
                  <a:solidFill>
                    <a:srgbClr val="67281B"/>
                  </a:solidFill>
                  <a:latin typeface="+mn-lt"/>
                  <a:ea typeface="+mn-ea"/>
                  <a:cs typeface="+mn-cs"/>
                </a:rPr>
                <a:t>客户全景视图</a:t>
              </a:r>
            </a:p>
            <a:p>
              <a:pPr algn="l" marL="76644" indent="-76644">
                <a:lnSpc>
                  <a:spcPts val="1350"/>
                </a:lnSpc>
                <a:buClr>
                  <a:srgbClr val="67281B"/>
                </a:buClr>
                <a:buSzTx/>
                <a:buFontTx/>
                <a:buChar char="•"/>
              </a:pPr>
              <a:r>
                <a:rPr lang="zh-CN" sz="710" dirty="0">
                  <a:solidFill>
                    <a:srgbClr val="67281B"/>
                  </a:solidFill>
                  <a:latin typeface="+mn-lt"/>
                  <a:ea typeface="+mn-ea"/>
                  <a:cs typeface="+mn-cs"/>
                </a:rPr>
                <a:t>关系网络分析</a:t>
              </a:r>
            </a:p>
            <a:p>
              <a:pPr algn="l" marL="76644" indent="-76644">
                <a:lnSpc>
                  <a:spcPts val="1350"/>
                </a:lnSpc>
                <a:buClr>
                  <a:srgbClr val="67281B"/>
                </a:buClr>
                <a:buSzTx/>
                <a:buFontTx/>
                <a:buChar char="•"/>
              </a:pPr>
              <a:r>
                <a:rPr lang="zh-CN" sz="710" dirty="0">
                  <a:solidFill>
                    <a:srgbClr val="67281B"/>
                  </a:solidFill>
                  <a:latin typeface="+mn-lt"/>
                  <a:ea typeface="+mn-ea"/>
                  <a:cs typeface="+mn-cs"/>
                </a:rPr>
                <a:t>价值分层分组</a:t>
              </a:r>
            </a:p>
          </p:txBody>
        </p:sp>
        <p:sp>
          <p:nvSpPr>
            <p:cNvPr id="67" name="Rectangle 67"/>
            <p:cNvSpPr/>
            <p:nvPr/>
          </p:nvSpPr>
          <p:spPr>
            <a:xfrm>
              <a:off x="2352675" y="1447800"/>
              <a:ext cx="1190625" cy="1866900"/>
            </a:xfrm>
            <a:prstGeom prst="roundRect">
              <a:avLst>
                <a:gd name="adj" fmla="val 4800"/>
              </a:avLst>
            </a:prstGeom>
            <a:solidFill>
              <a:srgbClr val="FFFFFF"/>
            </a:solidFill>
            <a:ln w="9525">
              <a:solidFill>
                <a:srgbClr val="C9D8EF"/>
              </a:solidFill>
            </a:ln>
          </p:spPr>
        </p:sp>
        <p:sp>
          <p:nvSpPr>
            <p:cNvPr id="68" name="Rectangle 68"/>
            <p:cNvSpPr/>
            <p:nvPr/>
          </p:nvSpPr>
          <p:spPr>
            <a:xfrm>
              <a:off x="2352675" y="1447800"/>
              <a:ext cx="1190625" cy="266700"/>
            </a:xfrm>
            <a:prstGeom prst="roundRect">
              <a:avLst>
                <a:gd name="adj" fmla="val 21429"/>
              </a:avLst>
            </a:prstGeom>
            <a:solidFill>
              <a:srgbClr val="A8351D"/>
            </a:solidFill>
            <a:ln>
              <a:noFill/>
            </a:ln>
          </p:spPr>
        </p:sp>
        <p:sp>
          <p:nvSpPr>
            <p:cNvPr id="69" name="TextBox 69"/>
            <p:cNvSpPr txBox="1"/>
            <p:nvPr/>
          </p:nvSpPr>
          <p:spPr>
            <a:xfrm>
              <a:off x="2700909" y="15316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智能标签</a:t>
              </a:r>
            </a:p>
          </p:txBody>
        </p:sp>
        <p:grpSp>
          <p:nvGrpSpPr>
            <p:cNvPr id="73" name="Group 73"/>
            <p:cNvGrpSpPr/>
            <p:nvPr/>
          </p:nvGrpSpPr>
          <p:grpSpPr>
            <a:xfrm>
              <a:off x="2845594" y="1845469"/>
              <a:ext cx="214312" cy="214312"/>
              <a:chOff x="2845594" y="1845469"/>
              <a:chExt cx="214312" cy="214312"/>
            </a:xfrm>
          </p:grpSpPr>
          <p:sp>
            <p:nvSpPr>
              <p:cNvPr id="70" name="Freeform 70"/>
              <p:cNvSpPr/>
              <p:nvPr/>
            </p:nvSpPr>
            <p:spPr>
              <a:xfrm>
                <a:off x="2845594" y="1845469"/>
                <a:ext cx="214312" cy="214312"/>
              </a:xfrm>
              <a:custGeom>
                <a:avLst/>
                <a:gdLst/>
                <a:ahLst/>
                <a:cxnLst/>
                <a:rect l="l" t="t" r="r" b="b"/>
                <a:pathLst>
                  <a:path w="214312" h="214312">
                    <a:moveTo>
                      <a:pt x="142875" y="214312"/>
                    </a:moveTo>
                    <a:lnTo>
                      <a:pt x="35719" y="214312"/>
                    </a:lnTo>
                    <a:cubicBezTo>
                      <a:pt x="15992" y="214312"/>
                      <a:pt x="0" y="198321"/>
                      <a:pt x="0" y="178594"/>
                    </a:cubicBezTo>
                    <a:lnTo>
                      <a:pt x="0" y="166688"/>
                    </a:lnTo>
                    <a:lnTo>
                      <a:pt x="119062" y="166688"/>
                    </a:lnTo>
                    <a:lnTo>
                      <a:pt x="119062" y="190500"/>
                    </a:lnTo>
                    <a:cubicBezTo>
                      <a:pt x="119062" y="203651"/>
                      <a:pt x="129724" y="214312"/>
                      <a:pt x="142875" y="214312"/>
                    </a:cubicBezTo>
                    <a:cubicBezTo>
                      <a:pt x="156026" y="214312"/>
                      <a:pt x="166688" y="203651"/>
                      <a:pt x="166688" y="190500"/>
                    </a:cubicBezTo>
                    <a:lnTo>
                      <a:pt x="166688" y="23812"/>
                    </a:lnTo>
                    <a:cubicBezTo>
                      <a:pt x="166688" y="10661"/>
                      <a:pt x="177349" y="0"/>
                      <a:pt x="190500" y="0"/>
                    </a:cubicBezTo>
                    <a:cubicBezTo>
                      <a:pt x="203651" y="0"/>
                      <a:pt x="214312" y="10661"/>
                      <a:pt x="214312" y="23812"/>
                    </a:cubicBezTo>
                    <a:cubicBezTo>
                      <a:pt x="214312" y="36964"/>
                      <a:pt x="203651" y="47625"/>
                      <a:pt x="190500" y="47625"/>
                    </a:cubicBezTo>
                    <a:lnTo>
                      <a:pt x="166688" y="47625"/>
                    </a:lnTo>
                    <a:moveTo>
                      <a:pt x="190500" y="0"/>
                    </a:moveTo>
                    <a:lnTo>
                      <a:pt x="59531" y="0"/>
                    </a:lnTo>
                    <a:cubicBezTo>
                      <a:pt x="39804" y="0"/>
                      <a:pt x="23812" y="15992"/>
                      <a:pt x="23812" y="35719"/>
                    </a:cubicBezTo>
                    <a:lnTo>
                      <a:pt x="23812" y="166688"/>
                    </a:lnTo>
                  </a:path>
                </a:pathLst>
              </a:custGeom>
              <a:noFill/>
              <a:ln w="23812">
                <a:solidFill>
                  <a:srgbClr val="A8351D"/>
                </a:solidFill>
              </a:ln>
            </p:spPr>
          </p:sp>
          <p:sp>
            <p:nvSpPr>
              <p:cNvPr id="71" name="Freeform 71"/>
              <p:cNvSpPr/>
              <p:nvPr/>
            </p:nvSpPr>
            <p:spPr>
              <a:xfrm>
                <a:off x="2917031" y="1893094"/>
                <a:ext cx="47625" cy="9525"/>
              </a:xfrm>
              <a:custGeom>
                <a:avLst/>
                <a:gdLst/>
                <a:ahLst/>
                <a:cxnLst/>
                <a:rect l="l" t="t" r="r" b="b"/>
                <a:pathLst>
                  <a:path w="47625" h="9525">
                    <a:moveTo>
                      <a:pt x="0" y="0"/>
                    </a:moveTo>
                    <a:lnTo>
                      <a:pt x="47625" y="0"/>
                    </a:lnTo>
                  </a:path>
                </a:pathLst>
              </a:custGeom>
              <a:noFill/>
              <a:ln w="23812">
                <a:solidFill>
                  <a:srgbClr val="A8351D"/>
                </a:solidFill>
              </a:ln>
            </p:spPr>
          </p:sp>
          <p:sp>
            <p:nvSpPr>
              <p:cNvPr id="72" name="Freeform 72"/>
              <p:cNvSpPr/>
              <p:nvPr/>
            </p:nvSpPr>
            <p:spPr>
              <a:xfrm>
                <a:off x="2917031" y="1940719"/>
                <a:ext cx="47625" cy="9525"/>
              </a:xfrm>
              <a:custGeom>
                <a:avLst/>
                <a:gdLst/>
                <a:ahLst/>
                <a:cxnLst/>
                <a:rect l="l" t="t" r="r" b="b"/>
                <a:pathLst>
                  <a:path w="47625" h="9525">
                    <a:moveTo>
                      <a:pt x="0" y="0"/>
                    </a:moveTo>
                    <a:lnTo>
                      <a:pt x="47625" y="0"/>
                    </a:lnTo>
                  </a:path>
                </a:pathLst>
              </a:custGeom>
              <a:noFill/>
              <a:ln w="23812">
                <a:solidFill>
                  <a:srgbClr val="A8351D"/>
                </a:solidFill>
              </a:ln>
            </p:spPr>
          </p:sp>
        </p:grpSp>
        <p:sp>
          <p:nvSpPr>
            <p:cNvPr id="74" name="TextBox 74"/>
            <p:cNvSpPr txBox="1"/>
            <p:nvPr/>
          </p:nvSpPr>
          <p:spPr>
            <a:xfrm>
              <a:off x="2443162" y="2304336"/>
              <a:ext cx="627190" cy="483394"/>
            </a:xfrm>
            <a:prstGeom prst="rect">
              <a:avLst/>
            </a:prstGeom>
            <a:noFill/>
            <a:ln>
              <a:noFill/>
            </a:ln>
          </p:spPr>
          <p:txBody>
            <a:bodyPr wrap="none" lIns="0" tIns="0" rIns="0" bIns="0" anchor="t" anchorCtr="0">
              <a:spAutoFit/>
            </a:bodyPr>
            <a:lstStyle/>
            <a:p>
              <a:pPr algn="l" marL="76644" indent="-76644">
                <a:lnSpc>
                  <a:spcPts val="1350"/>
                </a:lnSpc>
                <a:buClr>
                  <a:srgbClr val="67281B"/>
                </a:buClr>
                <a:buSzTx/>
                <a:buFontTx/>
                <a:buChar char="•"/>
              </a:pPr>
              <a:r>
                <a:rPr lang="zh-CN" sz="710" dirty="0">
                  <a:solidFill>
                    <a:srgbClr val="67281B"/>
                  </a:solidFill>
                  <a:latin typeface="+mn-lt"/>
                  <a:ea typeface="+mn-ea"/>
                  <a:cs typeface="+mn-cs"/>
                </a:rPr>
                <a:t>标签体系管理</a:t>
              </a:r>
            </a:p>
            <a:p>
              <a:pPr algn="l" marL="76644" indent="-76644">
                <a:lnSpc>
                  <a:spcPts val="1350"/>
                </a:lnSpc>
                <a:buClr>
                  <a:srgbClr val="67281B"/>
                </a:buClr>
                <a:buSzTx/>
                <a:buFontTx/>
                <a:buChar char="•"/>
              </a:pPr>
              <a:r>
                <a:rPr lang="zh-CN" sz="710" dirty="0">
                  <a:solidFill>
                    <a:srgbClr val="67281B"/>
                  </a:solidFill>
                  <a:latin typeface="+mn-lt"/>
                  <a:ea typeface="+mn-ea"/>
                  <a:cs typeface="+mn-cs"/>
                </a:rPr>
                <a:t>标签自动生产</a:t>
              </a:r>
            </a:p>
            <a:p>
              <a:pPr algn="l" marL="76644" indent="-76644">
                <a:lnSpc>
                  <a:spcPts val="1350"/>
                </a:lnSpc>
                <a:buClr>
                  <a:srgbClr val="67281B"/>
                </a:buClr>
                <a:buSzTx/>
                <a:buFontTx/>
                <a:buChar char="•"/>
              </a:pPr>
              <a:r>
                <a:rPr lang="zh-CN" sz="710" dirty="0">
                  <a:solidFill>
                    <a:srgbClr val="67281B"/>
                  </a:solidFill>
                  <a:latin typeface="+mn-lt"/>
                  <a:ea typeface="+mn-ea"/>
                  <a:cs typeface="+mn-cs"/>
                </a:rPr>
                <a:t>标签动态更新</a:t>
              </a:r>
            </a:p>
          </p:txBody>
        </p:sp>
        <p:sp>
          <p:nvSpPr>
            <p:cNvPr id="75" name="Rectangle 75"/>
            <p:cNvSpPr/>
            <p:nvPr/>
          </p:nvSpPr>
          <p:spPr>
            <a:xfrm>
              <a:off x="3657600" y="1447800"/>
              <a:ext cx="1190625" cy="1866900"/>
            </a:xfrm>
            <a:prstGeom prst="roundRect">
              <a:avLst>
                <a:gd name="adj" fmla="val 4800"/>
              </a:avLst>
            </a:prstGeom>
            <a:solidFill>
              <a:srgbClr val="FFFFFF"/>
            </a:solidFill>
            <a:ln w="9525">
              <a:solidFill>
                <a:srgbClr val="C9D8EF"/>
              </a:solidFill>
            </a:ln>
          </p:spPr>
        </p:sp>
        <p:sp>
          <p:nvSpPr>
            <p:cNvPr id="76" name="Rectangle 76"/>
            <p:cNvSpPr/>
            <p:nvPr/>
          </p:nvSpPr>
          <p:spPr>
            <a:xfrm>
              <a:off x="3657600" y="1447800"/>
              <a:ext cx="1190625" cy="266700"/>
            </a:xfrm>
            <a:prstGeom prst="roundRect">
              <a:avLst>
                <a:gd name="adj" fmla="val 21429"/>
              </a:avLst>
            </a:prstGeom>
            <a:solidFill>
              <a:srgbClr val="A8351D"/>
            </a:solidFill>
            <a:ln>
              <a:noFill/>
            </a:ln>
          </p:spPr>
        </p:sp>
        <p:sp>
          <p:nvSpPr>
            <p:cNvPr id="77" name="TextBox 77"/>
            <p:cNvSpPr txBox="1"/>
            <p:nvPr/>
          </p:nvSpPr>
          <p:spPr>
            <a:xfrm>
              <a:off x="4005834" y="15316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商机引擎</a:t>
              </a:r>
            </a:p>
          </p:txBody>
        </p:sp>
        <p:grpSp>
          <p:nvGrpSpPr>
            <p:cNvPr id="81" name="Group 81"/>
            <p:cNvGrpSpPr/>
            <p:nvPr/>
          </p:nvGrpSpPr>
          <p:grpSpPr>
            <a:xfrm>
              <a:off x="4150519" y="1845469"/>
              <a:ext cx="214312" cy="214313"/>
              <a:chOff x="4150519" y="1845469"/>
              <a:chExt cx="214312" cy="214313"/>
            </a:xfrm>
          </p:grpSpPr>
          <p:sp>
            <p:nvSpPr>
              <p:cNvPr id="78" name="Freeform 78"/>
              <p:cNvSpPr/>
              <p:nvPr/>
            </p:nvSpPr>
            <p:spPr>
              <a:xfrm>
                <a:off x="4150519" y="1845469"/>
                <a:ext cx="214312" cy="107156"/>
              </a:xfrm>
              <a:custGeom>
                <a:avLst/>
                <a:gdLst/>
                <a:ahLst/>
                <a:cxnLst/>
                <a:rect l="l" t="t" r="r" b="b"/>
                <a:pathLst>
                  <a:path w="214312" h="107156">
                    <a:moveTo>
                      <a:pt x="0" y="107156"/>
                    </a:moveTo>
                    <a:lnTo>
                      <a:pt x="11906" y="107156"/>
                    </a:lnTo>
                    <a:moveTo>
                      <a:pt x="107156" y="0"/>
                    </a:moveTo>
                    <a:lnTo>
                      <a:pt x="107156" y="11906"/>
                    </a:lnTo>
                    <a:moveTo>
                      <a:pt x="202406" y="107156"/>
                    </a:moveTo>
                    <a:lnTo>
                      <a:pt x="214312" y="107156"/>
                    </a:lnTo>
                    <a:moveTo>
                      <a:pt x="30956" y="30956"/>
                    </a:moveTo>
                    <a:lnTo>
                      <a:pt x="39291" y="39291"/>
                    </a:lnTo>
                    <a:moveTo>
                      <a:pt x="183356" y="30956"/>
                    </a:moveTo>
                    <a:lnTo>
                      <a:pt x="175022" y="39291"/>
                    </a:lnTo>
                  </a:path>
                </a:pathLst>
              </a:custGeom>
              <a:noFill/>
              <a:ln w="23812">
                <a:solidFill>
                  <a:srgbClr val="A8351D"/>
                </a:solidFill>
              </a:ln>
            </p:spPr>
          </p:sp>
          <p:sp>
            <p:nvSpPr>
              <p:cNvPr id="79" name="Freeform 79"/>
              <p:cNvSpPr/>
              <p:nvPr/>
            </p:nvSpPr>
            <p:spPr>
              <a:xfrm>
                <a:off x="4193096" y="1893094"/>
                <a:ext cx="129159" cy="166688"/>
              </a:xfrm>
              <a:custGeom>
                <a:avLst/>
                <a:gdLst/>
                <a:ahLst/>
                <a:cxnLst/>
                <a:rect l="l" t="t" r="r" b="b"/>
                <a:pathLst>
                  <a:path w="129159" h="166688">
                    <a:moveTo>
                      <a:pt x="28861" y="107156"/>
                    </a:moveTo>
                    <a:cubicBezTo>
                      <a:pt x="8361" y="91782"/>
                      <a:pt x="0" y="65015"/>
                      <a:pt x="8103" y="40706"/>
                    </a:cubicBezTo>
                    <a:cubicBezTo>
                      <a:pt x="16206" y="16397"/>
                      <a:pt x="38955" y="0"/>
                      <a:pt x="64579" y="0"/>
                    </a:cubicBezTo>
                    <a:cubicBezTo>
                      <a:pt x="90203" y="0"/>
                      <a:pt x="112953" y="16397"/>
                      <a:pt x="121056" y="40706"/>
                    </a:cubicBezTo>
                    <a:cubicBezTo>
                      <a:pt x="129159" y="65015"/>
                      <a:pt x="120797" y="91782"/>
                      <a:pt x="100298" y="107156"/>
                    </a:cubicBezTo>
                    <a:cubicBezTo>
                      <a:pt x="90870" y="116489"/>
                      <a:pt x="86449" y="129752"/>
                      <a:pt x="88392" y="142875"/>
                    </a:cubicBezTo>
                    <a:cubicBezTo>
                      <a:pt x="88392" y="156026"/>
                      <a:pt x="77731" y="166688"/>
                      <a:pt x="64579" y="166688"/>
                    </a:cubicBezTo>
                    <a:cubicBezTo>
                      <a:pt x="51428" y="166688"/>
                      <a:pt x="40767" y="156026"/>
                      <a:pt x="40767" y="142875"/>
                    </a:cubicBezTo>
                    <a:cubicBezTo>
                      <a:pt x="42710" y="129752"/>
                      <a:pt x="38288" y="116489"/>
                      <a:pt x="28861" y="107156"/>
                    </a:cubicBezTo>
                  </a:path>
                </a:pathLst>
              </a:custGeom>
              <a:noFill/>
              <a:ln w="23812">
                <a:solidFill>
                  <a:srgbClr val="A8351D"/>
                </a:solidFill>
              </a:ln>
            </p:spPr>
          </p:sp>
          <p:sp>
            <p:nvSpPr>
              <p:cNvPr id="80" name="Freeform 80"/>
              <p:cNvSpPr/>
              <p:nvPr/>
            </p:nvSpPr>
            <p:spPr>
              <a:xfrm>
                <a:off x="4230291" y="2012156"/>
                <a:ext cx="54769" cy="9525"/>
              </a:xfrm>
              <a:custGeom>
                <a:avLst/>
                <a:gdLst/>
                <a:ahLst/>
                <a:cxnLst/>
                <a:rect l="l" t="t" r="r" b="b"/>
                <a:pathLst>
                  <a:path w="54769" h="9525">
                    <a:moveTo>
                      <a:pt x="0" y="0"/>
                    </a:moveTo>
                    <a:lnTo>
                      <a:pt x="54769" y="0"/>
                    </a:lnTo>
                  </a:path>
                </a:pathLst>
              </a:custGeom>
              <a:noFill/>
              <a:ln w="23812">
                <a:solidFill>
                  <a:srgbClr val="A8351D"/>
                </a:solidFill>
              </a:ln>
            </p:spPr>
          </p:sp>
        </p:grpSp>
        <p:sp>
          <p:nvSpPr>
            <p:cNvPr id="82" name="TextBox 82"/>
            <p:cNvSpPr txBox="1"/>
            <p:nvPr/>
          </p:nvSpPr>
          <p:spPr>
            <a:xfrm>
              <a:off x="3748088" y="2304336"/>
              <a:ext cx="717360" cy="483394"/>
            </a:xfrm>
            <a:prstGeom prst="rect">
              <a:avLst/>
            </a:prstGeom>
            <a:noFill/>
            <a:ln>
              <a:noFill/>
            </a:ln>
          </p:spPr>
          <p:txBody>
            <a:bodyPr wrap="none" lIns="0" tIns="0" rIns="0" bIns="0" anchor="t" anchorCtr="0">
              <a:spAutoFit/>
            </a:bodyPr>
            <a:lstStyle/>
            <a:p>
              <a:pPr algn="l" marL="76644" indent="-76644">
                <a:lnSpc>
                  <a:spcPts val="1350"/>
                </a:lnSpc>
                <a:buClr>
                  <a:srgbClr val="67281B"/>
                </a:buClr>
                <a:buSzTx/>
                <a:buFontTx/>
                <a:buChar char="•"/>
              </a:pPr>
              <a:r>
                <a:rPr lang="zh-CN" sz="710" dirty="0">
                  <a:solidFill>
                    <a:srgbClr val="67281B"/>
                  </a:solidFill>
                  <a:latin typeface="+mn-lt"/>
                  <a:ea typeface="+mn-ea"/>
                  <a:cs typeface="+mn-cs"/>
                </a:rPr>
                <a:t>需求识别</a:t>
              </a:r>
            </a:p>
            <a:p>
              <a:pPr algn="l" marL="76644" indent="-76644">
                <a:lnSpc>
                  <a:spcPts val="1350"/>
                </a:lnSpc>
                <a:buClr>
                  <a:srgbClr val="67281B"/>
                </a:buClr>
                <a:buSzTx/>
                <a:buFontTx/>
                <a:buChar char="•"/>
              </a:pPr>
              <a:r>
                <a:rPr lang="zh-CN" sz="710" dirty="0">
                  <a:solidFill>
                    <a:srgbClr val="67281B"/>
                  </a:solidFill>
                  <a:latin typeface="+mn-lt"/>
                  <a:ea typeface="+mn-ea"/>
                  <a:cs typeface="+mn-cs"/>
                </a:rPr>
                <a:t>商机scoring​</a:t>
              </a:r>
            </a:p>
            <a:p>
              <a:pPr algn="l" marL="76644" indent="-76644">
                <a:lnSpc>
                  <a:spcPts val="1350"/>
                </a:lnSpc>
                <a:buClr>
                  <a:srgbClr val="67281B"/>
                </a:buClr>
                <a:buSzTx/>
                <a:buFontTx/>
                <a:buChar char="•"/>
              </a:pPr>
              <a:r>
                <a:rPr lang="zh-CN" sz="710" dirty="0">
                  <a:solidFill>
                    <a:srgbClr val="67281B"/>
                  </a:solidFill>
                  <a:latin typeface="+mn-lt"/>
                  <a:ea typeface="+mn-ea"/>
                  <a:cs typeface="+mn-cs"/>
                </a:rPr>
                <a:t>商机优先级排序</a:t>
              </a:r>
            </a:p>
          </p:txBody>
        </p:sp>
        <p:sp>
          <p:nvSpPr>
            <p:cNvPr id="83" name="Rectangle 83"/>
            <p:cNvSpPr/>
            <p:nvPr/>
          </p:nvSpPr>
          <p:spPr>
            <a:xfrm>
              <a:off x="4962525" y="1447800"/>
              <a:ext cx="1190625" cy="1866900"/>
            </a:xfrm>
            <a:prstGeom prst="roundRect">
              <a:avLst>
                <a:gd name="adj" fmla="val 4800"/>
              </a:avLst>
            </a:prstGeom>
            <a:solidFill>
              <a:srgbClr val="FFFFFF"/>
            </a:solidFill>
            <a:ln w="9525">
              <a:solidFill>
                <a:srgbClr val="C9D8EF"/>
              </a:solidFill>
            </a:ln>
          </p:spPr>
        </p:sp>
        <p:sp>
          <p:nvSpPr>
            <p:cNvPr id="84" name="Rectangle 84"/>
            <p:cNvSpPr/>
            <p:nvPr/>
          </p:nvSpPr>
          <p:spPr>
            <a:xfrm>
              <a:off x="4962525" y="1447800"/>
              <a:ext cx="1190625" cy="266700"/>
            </a:xfrm>
            <a:prstGeom prst="roundRect">
              <a:avLst>
                <a:gd name="adj" fmla="val 21429"/>
              </a:avLst>
            </a:prstGeom>
            <a:solidFill>
              <a:srgbClr val="A8351D"/>
            </a:solidFill>
            <a:ln>
              <a:noFill/>
            </a:ln>
          </p:spPr>
        </p:sp>
        <p:sp>
          <p:nvSpPr>
            <p:cNvPr id="85" name="TextBox 85"/>
            <p:cNvSpPr txBox="1"/>
            <p:nvPr/>
          </p:nvSpPr>
          <p:spPr>
            <a:xfrm>
              <a:off x="5310759" y="15316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任务中心</a:t>
              </a:r>
            </a:p>
          </p:txBody>
        </p:sp>
        <p:grpSp>
          <p:nvGrpSpPr>
            <p:cNvPr id="89" name="Group 89"/>
            <p:cNvGrpSpPr/>
            <p:nvPr/>
          </p:nvGrpSpPr>
          <p:grpSpPr>
            <a:xfrm>
              <a:off x="5479256" y="1845469"/>
              <a:ext cx="166688" cy="214312"/>
              <a:chOff x="5479256" y="1845469"/>
              <a:chExt cx="166688" cy="214312"/>
            </a:xfrm>
          </p:grpSpPr>
          <p:sp>
            <p:nvSpPr>
              <p:cNvPr id="86" name="Freeform 86"/>
              <p:cNvSpPr/>
              <p:nvPr/>
            </p:nvSpPr>
            <p:spPr>
              <a:xfrm>
                <a:off x="5479256" y="1869281"/>
                <a:ext cx="166688" cy="190500"/>
              </a:xfrm>
              <a:custGeom>
                <a:avLst/>
                <a:gdLst/>
                <a:ahLst/>
                <a:cxnLst/>
                <a:rect l="l" t="t" r="r" b="b"/>
                <a:pathLst>
                  <a:path w="166688" h="190500">
                    <a:moveTo>
                      <a:pt x="47625" y="0"/>
                    </a:moveTo>
                    <a:lnTo>
                      <a:pt x="23812" y="0"/>
                    </a:lnTo>
                    <a:cubicBezTo>
                      <a:pt x="10661" y="0"/>
                      <a:pt x="0" y="10661"/>
                      <a:pt x="0" y="23812"/>
                    </a:cubicBezTo>
                    <a:lnTo>
                      <a:pt x="0" y="166688"/>
                    </a:lnTo>
                    <a:cubicBezTo>
                      <a:pt x="0" y="179839"/>
                      <a:pt x="10661" y="190500"/>
                      <a:pt x="23812" y="190500"/>
                    </a:cubicBezTo>
                    <a:lnTo>
                      <a:pt x="142875" y="190500"/>
                    </a:lnTo>
                    <a:cubicBezTo>
                      <a:pt x="156026" y="190500"/>
                      <a:pt x="166688" y="179839"/>
                      <a:pt x="166688" y="166688"/>
                    </a:cubicBezTo>
                    <a:lnTo>
                      <a:pt x="166688" y="23812"/>
                    </a:lnTo>
                    <a:cubicBezTo>
                      <a:pt x="166688" y="10661"/>
                      <a:pt x="156026" y="0"/>
                      <a:pt x="142875" y="0"/>
                    </a:cubicBezTo>
                    <a:lnTo>
                      <a:pt x="119062" y="0"/>
                    </a:lnTo>
                  </a:path>
                </a:pathLst>
              </a:custGeom>
              <a:noFill/>
              <a:ln w="23812">
                <a:solidFill>
                  <a:srgbClr val="A8351D"/>
                </a:solidFill>
              </a:ln>
            </p:spPr>
          </p:sp>
          <p:sp>
            <p:nvSpPr>
              <p:cNvPr id="87" name="Freeform 87"/>
              <p:cNvSpPr/>
              <p:nvPr/>
            </p:nvSpPr>
            <p:spPr>
              <a:xfrm>
                <a:off x="5526881" y="1845469"/>
                <a:ext cx="71438" cy="47625"/>
              </a:xfrm>
              <a:custGeom>
                <a:avLst/>
                <a:gdLst/>
                <a:ahLst/>
                <a:cxnLst/>
                <a:rect l="l" t="t" r="r" b="b"/>
                <a:pathLst>
                  <a:path w="71438" h="47625">
                    <a:moveTo>
                      <a:pt x="0" y="23812"/>
                    </a:moveTo>
                    <a:cubicBezTo>
                      <a:pt x="0" y="10661"/>
                      <a:pt x="10661" y="0"/>
                      <a:pt x="23812" y="0"/>
                    </a:cubicBezTo>
                    <a:lnTo>
                      <a:pt x="47625" y="0"/>
                    </a:lnTo>
                    <a:cubicBezTo>
                      <a:pt x="60776" y="0"/>
                      <a:pt x="71438" y="10661"/>
                      <a:pt x="71438" y="23812"/>
                    </a:cubicBezTo>
                    <a:cubicBezTo>
                      <a:pt x="71438" y="36964"/>
                      <a:pt x="60776" y="47625"/>
                      <a:pt x="47625" y="47625"/>
                    </a:cubicBezTo>
                    <a:lnTo>
                      <a:pt x="23812" y="47625"/>
                    </a:lnTo>
                    <a:cubicBezTo>
                      <a:pt x="10661" y="47625"/>
                      <a:pt x="0" y="36964"/>
                      <a:pt x="0" y="23812"/>
                    </a:cubicBezTo>
                  </a:path>
                </a:pathLst>
              </a:custGeom>
              <a:noFill/>
              <a:ln w="23812">
                <a:solidFill>
                  <a:srgbClr val="A8351D"/>
                </a:solidFill>
              </a:ln>
            </p:spPr>
          </p:sp>
          <p:sp>
            <p:nvSpPr>
              <p:cNvPr id="88" name="Freeform 88"/>
              <p:cNvSpPr/>
              <p:nvPr/>
            </p:nvSpPr>
            <p:spPr>
              <a:xfrm>
                <a:off x="5526881" y="1952625"/>
                <a:ext cx="71438" cy="47625"/>
              </a:xfrm>
              <a:custGeom>
                <a:avLst/>
                <a:gdLst/>
                <a:ahLst/>
                <a:cxnLst/>
                <a:rect l="l" t="t" r="r" b="b"/>
                <a:pathLst>
                  <a:path w="71438" h="47625">
                    <a:moveTo>
                      <a:pt x="0" y="23812"/>
                    </a:moveTo>
                    <a:lnTo>
                      <a:pt x="23812" y="47625"/>
                    </a:lnTo>
                    <a:lnTo>
                      <a:pt x="71438" y="0"/>
                    </a:lnTo>
                  </a:path>
                </a:pathLst>
              </a:custGeom>
              <a:noFill/>
              <a:ln w="23812">
                <a:solidFill>
                  <a:srgbClr val="A8351D"/>
                </a:solidFill>
              </a:ln>
            </p:spPr>
          </p:sp>
        </p:grpSp>
        <p:sp>
          <p:nvSpPr>
            <p:cNvPr id="90" name="TextBox 90"/>
            <p:cNvSpPr txBox="1"/>
            <p:nvPr/>
          </p:nvSpPr>
          <p:spPr>
            <a:xfrm>
              <a:off x="5053012" y="2304336"/>
              <a:ext cx="627190" cy="483394"/>
            </a:xfrm>
            <a:prstGeom prst="rect">
              <a:avLst/>
            </a:prstGeom>
            <a:noFill/>
            <a:ln>
              <a:noFill/>
            </a:ln>
          </p:spPr>
          <p:txBody>
            <a:bodyPr wrap="none" lIns="0" tIns="0" rIns="0" bIns="0" anchor="t" anchorCtr="0">
              <a:spAutoFit/>
            </a:bodyPr>
            <a:lstStyle/>
            <a:p>
              <a:pPr algn="l" marL="76644" indent="-76644">
                <a:lnSpc>
                  <a:spcPts val="1350"/>
                </a:lnSpc>
                <a:buClr>
                  <a:srgbClr val="67281B"/>
                </a:buClr>
                <a:buSzTx/>
                <a:buFontTx/>
                <a:buChar char="•"/>
              </a:pPr>
              <a:r>
                <a:rPr lang="zh-CN" sz="710" dirty="0">
                  <a:solidFill>
                    <a:srgbClr val="67281B"/>
                  </a:solidFill>
                  <a:latin typeface="+mn-lt"/>
                  <a:ea typeface="+mn-ea"/>
                  <a:cs typeface="+mn-cs"/>
                </a:rPr>
                <a:t>任务智能分发</a:t>
              </a:r>
            </a:p>
            <a:p>
              <a:pPr algn="l" marL="76644" indent="-76644">
                <a:lnSpc>
                  <a:spcPts val="1350"/>
                </a:lnSpc>
                <a:buClr>
                  <a:srgbClr val="67281B"/>
                </a:buClr>
                <a:buSzTx/>
                <a:buFontTx/>
                <a:buChar char="•"/>
              </a:pPr>
              <a:r>
                <a:rPr lang="zh-CN" sz="710" dirty="0">
                  <a:solidFill>
                    <a:srgbClr val="67281B"/>
                  </a:solidFill>
                  <a:latin typeface="+mn-lt"/>
                  <a:ea typeface="+mn-ea"/>
                  <a:cs typeface="+mn-cs"/>
                </a:rPr>
                <a:t>任务协同跟进</a:t>
              </a:r>
            </a:p>
            <a:p>
              <a:pPr algn="l" marL="76644" indent="-76644">
                <a:lnSpc>
                  <a:spcPts val="1350"/>
                </a:lnSpc>
                <a:buClr>
                  <a:srgbClr val="67281B"/>
                </a:buClr>
                <a:buSzTx/>
                <a:buFontTx/>
                <a:buChar char="•"/>
              </a:pPr>
              <a:r>
                <a:rPr lang="zh-CN" sz="710" dirty="0">
                  <a:solidFill>
                    <a:srgbClr val="67281B"/>
                  </a:solidFill>
                  <a:latin typeface="+mn-lt"/>
                  <a:ea typeface="+mn-ea"/>
                  <a:cs typeface="+mn-cs"/>
                </a:rPr>
                <a:t>任务进度管理</a:t>
              </a:r>
            </a:p>
          </p:txBody>
        </p:sp>
        <p:sp>
          <p:nvSpPr>
            <p:cNvPr id="91" name="Rectangle 91"/>
            <p:cNvSpPr/>
            <p:nvPr/>
          </p:nvSpPr>
          <p:spPr>
            <a:xfrm>
              <a:off x="6267450" y="1447800"/>
              <a:ext cx="1190625" cy="1866900"/>
            </a:xfrm>
            <a:prstGeom prst="roundRect">
              <a:avLst>
                <a:gd name="adj" fmla="val 4800"/>
              </a:avLst>
            </a:prstGeom>
            <a:solidFill>
              <a:srgbClr val="FFFFFF"/>
            </a:solidFill>
            <a:ln w="9525">
              <a:solidFill>
                <a:srgbClr val="C9D8EF"/>
              </a:solidFill>
            </a:ln>
          </p:spPr>
        </p:sp>
        <p:sp>
          <p:nvSpPr>
            <p:cNvPr id="92" name="Rectangle 92"/>
            <p:cNvSpPr/>
            <p:nvPr/>
          </p:nvSpPr>
          <p:spPr>
            <a:xfrm>
              <a:off x="6267450" y="1447800"/>
              <a:ext cx="1190625" cy="266700"/>
            </a:xfrm>
            <a:prstGeom prst="roundRect">
              <a:avLst>
                <a:gd name="adj" fmla="val 21429"/>
              </a:avLst>
            </a:prstGeom>
            <a:solidFill>
              <a:srgbClr val="A8351D"/>
            </a:solidFill>
            <a:ln>
              <a:noFill/>
            </a:ln>
          </p:spPr>
        </p:sp>
        <p:sp>
          <p:nvSpPr>
            <p:cNvPr id="93" name="TextBox 93"/>
            <p:cNvSpPr txBox="1"/>
            <p:nvPr/>
          </p:nvSpPr>
          <p:spPr>
            <a:xfrm>
              <a:off x="6615684" y="15316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客户旅程</a:t>
              </a:r>
            </a:p>
          </p:txBody>
        </p:sp>
        <p:grpSp>
          <p:nvGrpSpPr>
            <p:cNvPr id="97" name="Group 97"/>
            <p:cNvGrpSpPr/>
            <p:nvPr/>
          </p:nvGrpSpPr>
          <p:grpSpPr>
            <a:xfrm>
              <a:off x="6760369" y="1845469"/>
              <a:ext cx="214312" cy="214312"/>
              <a:chOff x="6760369" y="1845469"/>
              <a:chExt cx="214312" cy="214312"/>
            </a:xfrm>
          </p:grpSpPr>
          <p:sp>
            <p:nvSpPr>
              <p:cNvPr id="94" name="Freeform 94"/>
              <p:cNvSpPr/>
              <p:nvPr/>
            </p:nvSpPr>
            <p:spPr>
              <a:xfrm>
                <a:off x="6760369" y="201215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A8351D"/>
                </a:solidFill>
              </a:ln>
            </p:spPr>
          </p:sp>
          <p:sp>
            <p:nvSpPr>
              <p:cNvPr id="95" name="Freeform 95"/>
              <p:cNvSpPr/>
              <p:nvPr/>
            </p:nvSpPr>
            <p:spPr>
              <a:xfrm>
                <a:off x="6927056" y="1845469"/>
                <a:ext cx="47625" cy="47625"/>
              </a:xfrm>
              <a:custGeom>
                <a:avLst/>
                <a:gdLst/>
                <a:ahLst/>
                <a:cxnLst/>
                <a:rect l="l" t="t" r="r" b="b"/>
                <a:pathLst>
                  <a:path w="47625" h="47625">
                    <a:moveTo>
                      <a:pt x="23812" y="47625"/>
                    </a:moveTo>
                    <a:cubicBezTo>
                      <a:pt x="36964" y="47625"/>
                      <a:pt x="47625" y="36964"/>
                      <a:pt x="47625" y="23812"/>
                    </a:cubicBezTo>
                    <a:cubicBezTo>
                      <a:pt x="47625" y="10661"/>
                      <a:pt x="36964" y="0"/>
                      <a:pt x="23812" y="0"/>
                    </a:cubicBezTo>
                    <a:cubicBezTo>
                      <a:pt x="10661" y="0"/>
                      <a:pt x="0" y="10661"/>
                      <a:pt x="0" y="23812"/>
                    </a:cubicBezTo>
                    <a:cubicBezTo>
                      <a:pt x="0" y="36964"/>
                      <a:pt x="10661" y="47625"/>
                      <a:pt x="23812" y="47625"/>
                    </a:cubicBezTo>
                  </a:path>
                </a:pathLst>
              </a:custGeom>
              <a:noFill/>
              <a:ln w="23812">
                <a:solidFill>
                  <a:srgbClr val="A8351D"/>
                </a:solidFill>
              </a:ln>
            </p:spPr>
          </p:sp>
          <p:sp>
            <p:nvSpPr>
              <p:cNvPr id="96" name="Freeform 96"/>
              <p:cNvSpPr/>
              <p:nvPr/>
            </p:nvSpPr>
            <p:spPr>
              <a:xfrm>
                <a:off x="6784181" y="1869281"/>
                <a:ext cx="178594" cy="166688"/>
              </a:xfrm>
              <a:custGeom>
                <a:avLst/>
                <a:gdLst/>
                <a:ahLst/>
                <a:cxnLst/>
                <a:rect l="l" t="t" r="r" b="b"/>
                <a:pathLst>
                  <a:path w="178594" h="166688">
                    <a:moveTo>
                      <a:pt x="71438" y="166688"/>
                    </a:moveTo>
                    <a:lnTo>
                      <a:pt x="136922" y="166688"/>
                    </a:lnTo>
                    <a:cubicBezTo>
                      <a:pt x="159937" y="166688"/>
                      <a:pt x="178594" y="148030"/>
                      <a:pt x="178594" y="125016"/>
                    </a:cubicBezTo>
                    <a:cubicBezTo>
                      <a:pt x="178594" y="102001"/>
                      <a:pt x="159937" y="83344"/>
                      <a:pt x="136922" y="83344"/>
                    </a:cubicBezTo>
                    <a:lnTo>
                      <a:pt x="41672" y="83344"/>
                    </a:lnTo>
                    <a:cubicBezTo>
                      <a:pt x="18657" y="83344"/>
                      <a:pt x="0" y="64687"/>
                      <a:pt x="0" y="41672"/>
                    </a:cubicBezTo>
                    <a:cubicBezTo>
                      <a:pt x="0" y="18657"/>
                      <a:pt x="18657" y="0"/>
                      <a:pt x="41672" y="0"/>
                    </a:cubicBezTo>
                    <a:lnTo>
                      <a:pt x="95250" y="0"/>
                    </a:lnTo>
                  </a:path>
                </a:pathLst>
              </a:custGeom>
              <a:noFill/>
              <a:ln w="23812">
                <a:solidFill>
                  <a:srgbClr val="A8351D"/>
                </a:solidFill>
              </a:ln>
            </p:spPr>
          </p:sp>
        </p:grpSp>
        <p:sp>
          <p:nvSpPr>
            <p:cNvPr id="98" name="TextBox 98"/>
            <p:cNvSpPr txBox="1"/>
            <p:nvPr/>
          </p:nvSpPr>
          <p:spPr>
            <a:xfrm>
              <a:off x="6357938" y="2304336"/>
              <a:ext cx="627190" cy="483394"/>
            </a:xfrm>
            <a:prstGeom prst="rect">
              <a:avLst/>
            </a:prstGeom>
            <a:noFill/>
            <a:ln>
              <a:noFill/>
            </a:ln>
          </p:spPr>
          <p:txBody>
            <a:bodyPr wrap="none" lIns="0" tIns="0" rIns="0" bIns="0" anchor="t" anchorCtr="0">
              <a:spAutoFit/>
            </a:bodyPr>
            <a:lstStyle/>
            <a:p>
              <a:pPr algn="l" marL="76644" indent="-76644">
                <a:lnSpc>
                  <a:spcPts val="1350"/>
                </a:lnSpc>
                <a:buClr>
                  <a:srgbClr val="67281B"/>
                </a:buClr>
                <a:buSzTx/>
                <a:buFontTx/>
                <a:buChar char="•"/>
              </a:pPr>
              <a:r>
                <a:rPr lang="zh-CN" sz="710" dirty="0">
                  <a:solidFill>
                    <a:srgbClr val="67281B"/>
                  </a:solidFill>
                  <a:latin typeface="+mn-lt"/>
                  <a:ea typeface="+mn-ea"/>
                  <a:cs typeface="+mn-cs"/>
                </a:rPr>
                <a:t>旅程编排设计</a:t>
              </a:r>
            </a:p>
            <a:p>
              <a:pPr algn="l" marL="76644" indent="-76644">
                <a:lnSpc>
                  <a:spcPts val="1350"/>
                </a:lnSpc>
                <a:buClr>
                  <a:srgbClr val="67281B"/>
                </a:buClr>
                <a:buSzTx/>
                <a:buFontTx/>
                <a:buChar char="•"/>
              </a:pPr>
              <a:r>
                <a:rPr lang="zh-CN" sz="710" dirty="0">
                  <a:solidFill>
                    <a:srgbClr val="67281B"/>
                  </a:solidFill>
                  <a:latin typeface="+mn-lt"/>
                  <a:ea typeface="+mn-ea"/>
                  <a:cs typeface="+mn-cs"/>
                </a:rPr>
                <a:t>旅程自动触发</a:t>
              </a:r>
            </a:p>
            <a:p>
              <a:pPr algn="l" marL="76644" indent="-76644">
                <a:lnSpc>
                  <a:spcPts val="1350"/>
                </a:lnSpc>
                <a:buClr>
                  <a:srgbClr val="67281B"/>
                </a:buClr>
                <a:buSzTx/>
                <a:buFontTx/>
                <a:buChar char="•"/>
              </a:pPr>
              <a:r>
                <a:rPr lang="zh-CN" sz="710" dirty="0">
                  <a:solidFill>
                    <a:srgbClr val="67281B"/>
                  </a:solidFill>
                  <a:latin typeface="+mn-lt"/>
                  <a:ea typeface="+mn-ea"/>
                  <a:cs typeface="+mn-cs"/>
                </a:rPr>
                <a:t>旅程效果评估</a:t>
              </a:r>
            </a:p>
          </p:txBody>
        </p:sp>
        <p:sp>
          <p:nvSpPr>
            <p:cNvPr id="99" name="Rectangle 99"/>
            <p:cNvSpPr/>
            <p:nvPr/>
          </p:nvSpPr>
          <p:spPr>
            <a:xfrm>
              <a:off x="7572375" y="1447800"/>
              <a:ext cx="1190625" cy="1866900"/>
            </a:xfrm>
            <a:prstGeom prst="roundRect">
              <a:avLst>
                <a:gd name="adj" fmla="val 4800"/>
              </a:avLst>
            </a:prstGeom>
            <a:solidFill>
              <a:srgbClr val="FFFFFF"/>
            </a:solidFill>
            <a:ln w="9525">
              <a:solidFill>
                <a:srgbClr val="C9D8EF"/>
              </a:solidFill>
            </a:ln>
          </p:spPr>
        </p:sp>
        <p:sp>
          <p:nvSpPr>
            <p:cNvPr id="100" name="Rectangle 100"/>
            <p:cNvSpPr/>
            <p:nvPr/>
          </p:nvSpPr>
          <p:spPr>
            <a:xfrm>
              <a:off x="7572375" y="1447800"/>
              <a:ext cx="1190625" cy="266700"/>
            </a:xfrm>
            <a:prstGeom prst="roundRect">
              <a:avLst>
                <a:gd name="adj" fmla="val 21429"/>
              </a:avLst>
            </a:prstGeom>
            <a:solidFill>
              <a:srgbClr val="A8351D"/>
            </a:solidFill>
            <a:ln>
              <a:noFill/>
            </a:ln>
          </p:spPr>
        </p:sp>
        <p:sp>
          <p:nvSpPr>
            <p:cNvPr id="101" name="TextBox 101"/>
            <p:cNvSpPr txBox="1"/>
            <p:nvPr/>
          </p:nvSpPr>
          <p:spPr>
            <a:xfrm>
              <a:off x="7920609" y="15316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经营看板</a:t>
              </a:r>
            </a:p>
          </p:txBody>
        </p:sp>
        <p:grpSp>
          <p:nvGrpSpPr>
            <p:cNvPr id="107" name="Group 107"/>
            <p:cNvGrpSpPr/>
            <p:nvPr/>
          </p:nvGrpSpPr>
          <p:grpSpPr>
            <a:xfrm>
              <a:off x="8065294" y="1857375"/>
              <a:ext cx="214312" cy="200025"/>
              <a:chOff x="8065294" y="1857375"/>
              <a:chExt cx="214312" cy="200025"/>
            </a:xfrm>
          </p:grpSpPr>
          <p:sp>
            <p:nvSpPr>
              <p:cNvPr id="102" name="Freeform 102"/>
              <p:cNvSpPr/>
              <p:nvPr/>
            </p:nvSpPr>
            <p:spPr>
              <a:xfrm>
                <a:off x="8065294" y="1857375"/>
                <a:ext cx="214312" cy="9525"/>
              </a:xfrm>
              <a:custGeom>
                <a:avLst/>
                <a:gdLst/>
                <a:ahLst/>
                <a:cxnLst/>
                <a:rect l="l" t="t" r="r" b="b"/>
                <a:pathLst>
                  <a:path w="214312" h="9525">
                    <a:moveTo>
                      <a:pt x="0" y="0"/>
                    </a:moveTo>
                    <a:lnTo>
                      <a:pt x="214312" y="0"/>
                    </a:lnTo>
                  </a:path>
                </a:pathLst>
              </a:custGeom>
              <a:noFill/>
              <a:ln w="23812">
                <a:solidFill>
                  <a:srgbClr val="A8351D"/>
                </a:solidFill>
              </a:ln>
            </p:spPr>
          </p:sp>
          <p:sp>
            <p:nvSpPr>
              <p:cNvPr id="103" name="Freeform 103"/>
              <p:cNvSpPr/>
              <p:nvPr/>
            </p:nvSpPr>
            <p:spPr>
              <a:xfrm>
                <a:off x="8077200" y="1857375"/>
                <a:ext cx="190500" cy="142875"/>
              </a:xfrm>
              <a:custGeom>
                <a:avLst/>
                <a:gdLst/>
                <a:ahLst/>
                <a:cxnLst/>
                <a:rect l="l" t="t" r="r" b="b"/>
                <a:pathLst>
                  <a:path w="190500" h="142875">
                    <a:moveTo>
                      <a:pt x="0" y="0"/>
                    </a:moveTo>
                    <a:lnTo>
                      <a:pt x="0" y="119062"/>
                    </a:lnTo>
                    <a:cubicBezTo>
                      <a:pt x="0" y="132214"/>
                      <a:pt x="10661" y="142875"/>
                      <a:pt x="23812" y="142875"/>
                    </a:cubicBezTo>
                    <a:lnTo>
                      <a:pt x="166688" y="142875"/>
                    </a:lnTo>
                    <a:cubicBezTo>
                      <a:pt x="179839" y="142875"/>
                      <a:pt x="190500" y="132214"/>
                      <a:pt x="190500" y="119062"/>
                    </a:cubicBezTo>
                    <a:lnTo>
                      <a:pt x="190500" y="0"/>
                    </a:lnTo>
                  </a:path>
                </a:pathLst>
              </a:custGeom>
              <a:noFill/>
              <a:ln w="23812">
                <a:solidFill>
                  <a:srgbClr val="A8351D"/>
                </a:solidFill>
              </a:ln>
            </p:spPr>
          </p:sp>
          <p:sp>
            <p:nvSpPr>
              <p:cNvPr id="104" name="Freeform 104"/>
              <p:cNvSpPr/>
              <p:nvPr/>
            </p:nvSpPr>
            <p:spPr>
              <a:xfrm>
                <a:off x="8172450" y="2000250"/>
                <a:ext cx="9525" cy="47625"/>
              </a:xfrm>
              <a:custGeom>
                <a:avLst/>
                <a:gdLst/>
                <a:ahLst/>
                <a:cxnLst/>
                <a:rect l="l" t="t" r="r" b="b"/>
                <a:pathLst>
                  <a:path w="9525" h="47625">
                    <a:moveTo>
                      <a:pt x="0" y="0"/>
                    </a:moveTo>
                    <a:lnTo>
                      <a:pt x="0" y="47625"/>
                    </a:lnTo>
                  </a:path>
                </a:pathLst>
              </a:custGeom>
              <a:noFill/>
              <a:ln w="23812">
                <a:solidFill>
                  <a:srgbClr val="A8351D"/>
                </a:solidFill>
              </a:ln>
            </p:spPr>
          </p:sp>
          <p:sp>
            <p:nvSpPr>
              <p:cNvPr id="105" name="Freeform 105"/>
              <p:cNvSpPr/>
              <p:nvPr/>
            </p:nvSpPr>
            <p:spPr>
              <a:xfrm>
                <a:off x="8136731" y="2047875"/>
                <a:ext cx="71438" cy="9525"/>
              </a:xfrm>
              <a:custGeom>
                <a:avLst/>
                <a:gdLst/>
                <a:ahLst/>
                <a:cxnLst/>
                <a:rect l="l" t="t" r="r" b="b"/>
                <a:pathLst>
                  <a:path w="71438" h="9525">
                    <a:moveTo>
                      <a:pt x="0" y="0"/>
                    </a:moveTo>
                    <a:lnTo>
                      <a:pt x="71438" y="0"/>
                    </a:lnTo>
                  </a:path>
                </a:pathLst>
              </a:custGeom>
              <a:noFill/>
              <a:ln w="23812">
                <a:solidFill>
                  <a:srgbClr val="A8351D"/>
                </a:solidFill>
              </a:ln>
            </p:spPr>
          </p:sp>
          <p:sp>
            <p:nvSpPr>
              <p:cNvPr id="106" name="Freeform 106"/>
              <p:cNvSpPr/>
              <p:nvPr/>
            </p:nvSpPr>
            <p:spPr>
              <a:xfrm>
                <a:off x="8124825" y="1905000"/>
                <a:ext cx="95250" cy="47625"/>
              </a:xfrm>
              <a:custGeom>
                <a:avLst/>
                <a:gdLst/>
                <a:ahLst/>
                <a:cxnLst/>
                <a:rect l="l" t="t" r="r" b="b"/>
                <a:pathLst>
                  <a:path w="95250" h="47625">
                    <a:moveTo>
                      <a:pt x="0" y="47625"/>
                    </a:moveTo>
                    <a:lnTo>
                      <a:pt x="35719" y="11906"/>
                    </a:lnTo>
                    <a:lnTo>
                      <a:pt x="59531" y="35719"/>
                    </a:lnTo>
                    <a:lnTo>
                      <a:pt x="95250" y="0"/>
                    </a:lnTo>
                  </a:path>
                </a:pathLst>
              </a:custGeom>
              <a:noFill/>
              <a:ln w="23812">
                <a:solidFill>
                  <a:srgbClr val="A8351D"/>
                </a:solidFill>
              </a:ln>
            </p:spPr>
          </p:sp>
        </p:grpSp>
        <p:sp>
          <p:nvSpPr>
            <p:cNvPr id="108" name="TextBox 108"/>
            <p:cNvSpPr txBox="1"/>
            <p:nvPr/>
          </p:nvSpPr>
          <p:spPr>
            <a:xfrm>
              <a:off x="7662862" y="2304336"/>
              <a:ext cx="627190" cy="483394"/>
            </a:xfrm>
            <a:prstGeom prst="rect">
              <a:avLst/>
            </a:prstGeom>
            <a:noFill/>
            <a:ln>
              <a:noFill/>
            </a:ln>
          </p:spPr>
          <p:txBody>
            <a:bodyPr wrap="none" lIns="0" tIns="0" rIns="0" bIns="0" anchor="t" anchorCtr="0">
              <a:spAutoFit/>
            </a:bodyPr>
            <a:lstStyle/>
            <a:p>
              <a:pPr algn="l" marL="76644" indent="-76644">
                <a:lnSpc>
                  <a:spcPts val="1350"/>
                </a:lnSpc>
                <a:buClr>
                  <a:srgbClr val="67281B"/>
                </a:buClr>
                <a:buSzTx/>
                <a:buFontTx/>
                <a:buChar char="•"/>
              </a:pPr>
              <a:r>
                <a:rPr lang="zh-CN" sz="710" dirty="0">
                  <a:solidFill>
                    <a:srgbClr val="67281B"/>
                  </a:solidFill>
                  <a:latin typeface="+mn-lt"/>
                  <a:ea typeface="+mn-ea"/>
                  <a:cs typeface="+mn-cs"/>
                </a:rPr>
                <a:t>经营指标监控</a:t>
              </a:r>
            </a:p>
            <a:p>
              <a:pPr algn="l" marL="76644" indent="-76644">
                <a:lnSpc>
                  <a:spcPts val="1350"/>
                </a:lnSpc>
                <a:buClr>
                  <a:srgbClr val="67281B"/>
                </a:buClr>
                <a:buSzTx/>
                <a:buFontTx/>
                <a:buChar char="•"/>
              </a:pPr>
              <a:r>
                <a:rPr lang="zh-CN" sz="710" dirty="0">
                  <a:solidFill>
                    <a:srgbClr val="67281B"/>
                  </a:solidFill>
                  <a:latin typeface="+mn-lt"/>
                  <a:ea typeface="+mn-ea"/>
                  <a:cs typeface="+mn-cs"/>
                </a:rPr>
                <a:t>过程指标洞察</a:t>
              </a:r>
            </a:p>
            <a:p>
              <a:pPr algn="l" marL="76644" indent="-76644">
                <a:lnSpc>
                  <a:spcPts val="1350"/>
                </a:lnSpc>
                <a:buClr>
                  <a:srgbClr val="67281B"/>
                </a:buClr>
                <a:buSzTx/>
                <a:buFontTx/>
                <a:buChar char="•"/>
              </a:pPr>
              <a:r>
                <a:rPr lang="zh-CN" sz="710" dirty="0">
                  <a:solidFill>
                    <a:srgbClr val="67281B"/>
                  </a:solidFill>
                  <a:latin typeface="+mn-lt"/>
                  <a:ea typeface="+mn-ea"/>
                  <a:cs typeface="+mn-cs"/>
                </a:rPr>
                <a:t>结果指标分析</a:t>
              </a:r>
            </a:p>
          </p:txBody>
        </p:sp>
        <p:sp>
          <p:nvSpPr>
            <p:cNvPr id="109" name="Line 109"/>
            <p:cNvSpPr/>
            <p:nvPr/>
          </p:nvSpPr>
          <p:spPr>
            <a:xfrm flipV="1">
              <a:off x="1643062" y="3390900"/>
              <a:ext cx="1" cy="95250"/>
            </a:xfrm>
            <a:prstGeom prst="line">
              <a:avLst/>
            </a:prstGeom>
            <a:noFill/>
            <a:ln w="19050">
              <a:solidFill>
                <a:srgbClr val="D64A2E"/>
              </a:solidFill>
              <a:tailEnd type="triangle" w="lg" len="lg"/>
            </a:ln>
          </p:spPr>
        </p:sp>
        <p:sp>
          <p:nvSpPr>
            <p:cNvPr id="110" name="Line 110"/>
            <p:cNvSpPr/>
            <p:nvPr/>
          </p:nvSpPr>
          <p:spPr>
            <a:xfrm flipV="1">
              <a:off x="2947988" y="3390900"/>
              <a:ext cx="1" cy="95250"/>
            </a:xfrm>
            <a:prstGeom prst="line">
              <a:avLst/>
            </a:prstGeom>
            <a:noFill/>
            <a:ln w="19050">
              <a:solidFill>
                <a:srgbClr val="D64A2E"/>
              </a:solidFill>
              <a:tailEnd type="triangle" w="lg" len="lg"/>
            </a:ln>
          </p:spPr>
        </p:sp>
        <p:sp>
          <p:nvSpPr>
            <p:cNvPr id="111" name="Line 111"/>
            <p:cNvSpPr/>
            <p:nvPr/>
          </p:nvSpPr>
          <p:spPr>
            <a:xfrm flipV="1">
              <a:off x="4252912" y="3390900"/>
              <a:ext cx="1" cy="95250"/>
            </a:xfrm>
            <a:prstGeom prst="line">
              <a:avLst/>
            </a:prstGeom>
            <a:noFill/>
            <a:ln w="19050">
              <a:solidFill>
                <a:srgbClr val="D64A2E"/>
              </a:solidFill>
              <a:tailEnd type="triangle" w="lg" len="lg"/>
            </a:ln>
          </p:spPr>
        </p:sp>
        <p:sp>
          <p:nvSpPr>
            <p:cNvPr id="112" name="Line 112"/>
            <p:cNvSpPr/>
            <p:nvPr/>
          </p:nvSpPr>
          <p:spPr>
            <a:xfrm flipV="1">
              <a:off x="5557838" y="3390900"/>
              <a:ext cx="1" cy="95250"/>
            </a:xfrm>
            <a:prstGeom prst="line">
              <a:avLst/>
            </a:prstGeom>
            <a:noFill/>
            <a:ln w="19050">
              <a:solidFill>
                <a:srgbClr val="D64A2E"/>
              </a:solidFill>
              <a:tailEnd type="triangle" w="lg" len="lg"/>
            </a:ln>
          </p:spPr>
        </p:sp>
        <p:sp>
          <p:nvSpPr>
            <p:cNvPr id="113" name="Line 113"/>
            <p:cNvSpPr/>
            <p:nvPr/>
          </p:nvSpPr>
          <p:spPr>
            <a:xfrm flipV="1">
              <a:off x="6862762" y="3390900"/>
              <a:ext cx="1" cy="95250"/>
            </a:xfrm>
            <a:prstGeom prst="line">
              <a:avLst/>
            </a:prstGeom>
            <a:noFill/>
            <a:ln w="19050">
              <a:solidFill>
                <a:srgbClr val="D64A2E"/>
              </a:solidFill>
              <a:tailEnd type="triangle" w="lg" len="lg"/>
            </a:ln>
          </p:spPr>
        </p:sp>
        <p:sp>
          <p:nvSpPr>
            <p:cNvPr id="114" name="Line 114"/>
            <p:cNvSpPr/>
            <p:nvPr/>
          </p:nvSpPr>
          <p:spPr>
            <a:xfrm flipV="1">
              <a:off x="8167688" y="3390900"/>
              <a:ext cx="1" cy="95250"/>
            </a:xfrm>
            <a:prstGeom prst="line">
              <a:avLst/>
            </a:prstGeom>
            <a:noFill/>
            <a:ln w="19050">
              <a:solidFill>
                <a:srgbClr val="D64A2E"/>
              </a:solidFill>
              <a:tailEnd type="triangle" w="lg" len="lg"/>
            </a:ln>
          </p:spPr>
        </p:sp>
        <p:sp>
          <p:nvSpPr>
            <p:cNvPr id="115" name="Rectangle 115"/>
            <p:cNvSpPr/>
            <p:nvPr/>
          </p:nvSpPr>
          <p:spPr>
            <a:xfrm>
              <a:off x="381000" y="3524250"/>
              <a:ext cx="571500" cy="552450"/>
            </a:xfrm>
            <a:prstGeom prst="roundRect">
              <a:avLst>
                <a:gd name="adj" fmla="val 10345"/>
              </a:avLst>
            </a:prstGeom>
            <a:solidFill>
              <a:srgbClr val="A8351D"/>
            </a:solidFill>
            <a:ln>
              <a:noFill/>
            </a:ln>
          </p:spPr>
        </p:sp>
        <p:sp>
          <p:nvSpPr>
            <p:cNvPr id="116" name="TextBox 116"/>
            <p:cNvSpPr txBox="1"/>
            <p:nvPr/>
          </p:nvSpPr>
          <p:spPr>
            <a:xfrm>
              <a:off x="537337" y="3647599"/>
              <a:ext cx="258826" cy="362141"/>
            </a:xfrm>
            <a:prstGeom prst="rect">
              <a:avLst/>
            </a:prstGeom>
            <a:noFill/>
            <a:ln>
              <a:noFill/>
            </a:ln>
          </p:spPr>
          <p:txBody>
            <a:bodyPr wrap="none" lIns="0" tIns="0" rIns="0" bIns="0" anchor="t" anchorCtr="0">
              <a:spAutoFit/>
            </a:bodyPr>
            <a:lstStyle/>
            <a:p>
              <a:pPr algn="ctr">
                <a:lnSpc>
                  <a:spcPts val="1350"/>
                </a:lnSpc>
              </a:pPr>
              <a:r>
                <a:rPr lang="zh-CN" sz="980" b="1" dirty="0">
                  <a:solidFill>
                    <a:srgbClr val="FFFFFF"/>
                  </a:solidFill>
                  <a:latin typeface="+mn-lt"/>
                  <a:ea typeface="+mn-ea"/>
                  <a:cs typeface="+mn-cs"/>
                </a:rPr>
                <a:t>数据</a:t>
              </a:r>
              <a:br/>
              <a:r>
                <a:rPr lang="zh-CN" sz="980" b="1" dirty="0">
                  <a:solidFill>
                    <a:srgbClr val="FFFFFF"/>
                  </a:solidFill>
                  <a:latin typeface="+mn-lt"/>
                  <a:ea typeface="+mn-ea"/>
                  <a:cs typeface="+mn-cs"/>
                </a:rPr>
                <a:t>底座</a:t>
              </a:r>
            </a:p>
          </p:txBody>
        </p:sp>
        <p:sp>
          <p:nvSpPr>
            <p:cNvPr id="117" name="Rectangle 117"/>
            <p:cNvSpPr/>
            <p:nvPr/>
          </p:nvSpPr>
          <p:spPr>
            <a:xfrm>
              <a:off x="1047750" y="3524250"/>
              <a:ext cx="7715250" cy="552450"/>
            </a:xfrm>
            <a:prstGeom prst="roundRect">
              <a:avLst>
                <a:gd name="adj" fmla="val 13793"/>
              </a:avLst>
            </a:prstGeom>
            <a:solidFill>
              <a:srgbClr val="F9FBFE"/>
            </a:solidFill>
            <a:ln w="9525">
              <a:solidFill>
                <a:srgbClr val="C9D8EF"/>
              </a:solidFill>
            </a:ln>
          </p:spPr>
        </p:sp>
        <p:sp>
          <p:nvSpPr>
            <p:cNvPr id="118" name="TextBox 118"/>
            <p:cNvSpPr txBox="1"/>
            <p:nvPr/>
          </p:nvSpPr>
          <p:spPr>
            <a:xfrm>
              <a:off x="1214438" y="3746897"/>
              <a:ext cx="642239"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数据来源：</a:t>
              </a:r>
            </a:p>
          </p:txBody>
        </p:sp>
        <p:grpSp>
          <p:nvGrpSpPr>
            <p:cNvPr id="122" name="Group 122"/>
            <p:cNvGrpSpPr/>
            <p:nvPr/>
          </p:nvGrpSpPr>
          <p:grpSpPr>
            <a:xfrm>
              <a:off x="2130425" y="3721894"/>
              <a:ext cx="139700" cy="157162"/>
              <a:chOff x="2130425" y="3721894"/>
              <a:chExt cx="139700" cy="157162"/>
            </a:xfrm>
          </p:grpSpPr>
          <p:sp>
            <p:nvSpPr>
              <p:cNvPr id="119" name="Freeform 119"/>
              <p:cNvSpPr/>
              <p:nvPr/>
            </p:nvSpPr>
            <p:spPr>
              <a:xfrm>
                <a:off x="2130425" y="37218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A8351D"/>
                </a:solidFill>
              </a:ln>
            </p:spPr>
          </p:sp>
          <p:sp>
            <p:nvSpPr>
              <p:cNvPr id="120" name="Freeform 120"/>
              <p:cNvSpPr/>
              <p:nvPr/>
            </p:nvSpPr>
            <p:spPr>
              <a:xfrm>
                <a:off x="2130425" y="37480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A8351D"/>
                </a:solidFill>
              </a:ln>
            </p:spPr>
          </p:sp>
          <p:sp>
            <p:nvSpPr>
              <p:cNvPr id="121" name="Freeform 121"/>
              <p:cNvSpPr/>
              <p:nvPr/>
            </p:nvSpPr>
            <p:spPr>
              <a:xfrm>
                <a:off x="2130425" y="38004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A8351D"/>
                </a:solidFill>
              </a:ln>
            </p:spPr>
          </p:sp>
        </p:grpSp>
        <p:sp>
          <p:nvSpPr>
            <p:cNvPr id="123" name="TextBox 123"/>
            <p:cNvSpPr txBox="1"/>
            <p:nvPr/>
          </p:nvSpPr>
          <p:spPr>
            <a:xfrm>
              <a:off x="2357438" y="3750945"/>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核心</a:t>
              </a:r>
            </a:p>
          </p:txBody>
        </p:sp>
        <p:grpSp>
          <p:nvGrpSpPr>
            <p:cNvPr id="128" name="Group 128"/>
            <p:cNvGrpSpPr/>
            <p:nvPr/>
          </p:nvGrpSpPr>
          <p:grpSpPr>
            <a:xfrm>
              <a:off x="3131344" y="3721894"/>
              <a:ext cx="157163" cy="157163"/>
              <a:chOff x="3131344" y="3721894"/>
              <a:chExt cx="157163" cy="157163"/>
            </a:xfrm>
          </p:grpSpPr>
          <p:sp>
            <p:nvSpPr>
              <p:cNvPr id="124" name="Freeform 124"/>
              <p:cNvSpPr/>
              <p:nvPr/>
            </p:nvSpPr>
            <p:spPr>
              <a:xfrm>
                <a:off x="3148806" y="37218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A8351D"/>
                </a:solidFill>
              </a:ln>
            </p:spPr>
          </p:sp>
          <p:sp>
            <p:nvSpPr>
              <p:cNvPr id="125" name="Freeform 125"/>
              <p:cNvSpPr/>
              <p:nvPr/>
            </p:nvSpPr>
            <p:spPr>
              <a:xfrm>
                <a:off x="3131344" y="382666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A8351D"/>
                </a:solidFill>
              </a:ln>
            </p:spPr>
          </p:sp>
          <p:sp>
            <p:nvSpPr>
              <p:cNvPr id="126" name="Freeform 126"/>
              <p:cNvSpPr/>
              <p:nvPr/>
            </p:nvSpPr>
            <p:spPr>
              <a:xfrm>
                <a:off x="3244850" y="372302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A8351D"/>
                </a:solidFill>
              </a:ln>
            </p:spPr>
          </p:sp>
          <p:sp>
            <p:nvSpPr>
              <p:cNvPr id="127" name="Freeform 127"/>
              <p:cNvSpPr/>
              <p:nvPr/>
            </p:nvSpPr>
            <p:spPr>
              <a:xfrm>
                <a:off x="3262313" y="382797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A8351D"/>
                </a:solidFill>
              </a:ln>
            </p:spPr>
          </p:sp>
        </p:grpSp>
        <p:sp>
          <p:nvSpPr>
            <p:cNvPr id="129" name="TextBox 129"/>
            <p:cNvSpPr txBox="1"/>
            <p:nvPr/>
          </p:nvSpPr>
          <p:spPr>
            <a:xfrm>
              <a:off x="3367088" y="3750945"/>
              <a:ext cx="387172" cy="176212"/>
            </a:xfrm>
            <a:prstGeom prst="rect">
              <a:avLst/>
            </a:prstGeom>
            <a:noFill/>
            <a:ln>
              <a:noFill/>
            </a:ln>
          </p:spPr>
          <p:txBody>
            <a:bodyPr wrap="none" lIns="0" tIns="0" rIns="0" bIns="0" anchor="t" anchorCtr="0">
              <a:spAutoFit/>
            </a:bodyPr>
            <a:lstStyle/>
            <a:p>
              <a:pPr algn="l"/>
              <a:r>
                <a:rPr lang="en-US" sz="900" dirty="0">
                  <a:solidFill>
                    <a:srgbClr val="67281B"/>
                  </a:solidFill>
                  <a:latin typeface="+mn-lt"/>
                  <a:ea typeface="+mn-ea"/>
                  <a:cs typeface="+mn-cs"/>
                </a:rPr>
                <a:t>CRM​​</a:t>
              </a:r>
            </a:p>
          </p:txBody>
        </p:sp>
        <p:grpSp>
          <p:nvGrpSpPr>
            <p:cNvPr id="133" name="Group 133"/>
            <p:cNvGrpSpPr/>
            <p:nvPr/>
          </p:nvGrpSpPr>
          <p:grpSpPr>
            <a:xfrm>
              <a:off x="4140994" y="3739356"/>
              <a:ext cx="157163" cy="122238"/>
              <a:chOff x="4140994" y="3739356"/>
              <a:chExt cx="157163" cy="122238"/>
            </a:xfrm>
          </p:grpSpPr>
          <p:sp>
            <p:nvSpPr>
              <p:cNvPr id="130" name="Freeform 130"/>
              <p:cNvSpPr/>
              <p:nvPr/>
            </p:nvSpPr>
            <p:spPr>
              <a:xfrm>
                <a:off x="4140994" y="3739356"/>
                <a:ext cx="122238" cy="87313"/>
              </a:xfrm>
              <a:custGeom>
                <a:avLst/>
                <a:gdLst/>
                <a:ahLst/>
                <a:cxnLst/>
                <a:rect l="l" t="t" r="r" b="b"/>
                <a:pathLst>
                  <a:path w="122238" h="87313">
                    <a:moveTo>
                      <a:pt x="34925" y="87313"/>
                    </a:moveTo>
                    <a:lnTo>
                      <a:pt x="8731" y="87313"/>
                    </a:lnTo>
                    <a:cubicBezTo>
                      <a:pt x="3909" y="87313"/>
                      <a:pt x="0" y="83403"/>
                      <a:pt x="0" y="78581"/>
                    </a:cubicBezTo>
                    <a:lnTo>
                      <a:pt x="0" y="8731"/>
                    </a:lnTo>
                    <a:cubicBezTo>
                      <a:pt x="0" y="3909"/>
                      <a:pt x="3909" y="0"/>
                      <a:pt x="8731" y="0"/>
                    </a:cubicBezTo>
                    <a:lnTo>
                      <a:pt x="113506" y="0"/>
                    </a:lnTo>
                    <a:cubicBezTo>
                      <a:pt x="118328" y="0"/>
                      <a:pt x="122238" y="3909"/>
                      <a:pt x="122238" y="8731"/>
                    </a:cubicBezTo>
                    <a:lnTo>
                      <a:pt x="122238" y="34925"/>
                    </a:lnTo>
                  </a:path>
                </a:pathLst>
              </a:custGeom>
              <a:noFill/>
              <a:ln w="17463">
                <a:solidFill>
                  <a:srgbClr val="A8351D"/>
                </a:solidFill>
              </a:ln>
            </p:spPr>
          </p:sp>
          <p:sp>
            <p:nvSpPr>
              <p:cNvPr id="131" name="Freeform 131"/>
              <p:cNvSpPr/>
              <p:nvPr/>
            </p:nvSpPr>
            <p:spPr>
              <a:xfrm>
                <a:off x="4175919" y="3774281"/>
                <a:ext cx="122238" cy="87313"/>
              </a:xfrm>
              <a:custGeom>
                <a:avLst/>
                <a:gdLst/>
                <a:ahLst/>
                <a:cxnLst/>
                <a:rect l="l" t="t" r="r" b="b"/>
                <a:pathLst>
                  <a:path w="122238" h="87313">
                    <a:moveTo>
                      <a:pt x="0" y="8731"/>
                    </a:moveTo>
                    <a:cubicBezTo>
                      <a:pt x="0" y="3909"/>
                      <a:pt x="3909" y="0"/>
                      <a:pt x="8731" y="0"/>
                    </a:cubicBezTo>
                    <a:lnTo>
                      <a:pt x="113506" y="0"/>
                    </a:lnTo>
                    <a:cubicBezTo>
                      <a:pt x="118328" y="0"/>
                      <a:pt x="122238" y="3909"/>
                      <a:pt x="122238" y="8731"/>
                    </a:cubicBezTo>
                    <a:lnTo>
                      <a:pt x="122238" y="78581"/>
                    </a:lnTo>
                    <a:cubicBezTo>
                      <a:pt x="122238" y="83403"/>
                      <a:pt x="118328" y="87313"/>
                      <a:pt x="113506" y="87313"/>
                    </a:cubicBezTo>
                    <a:lnTo>
                      <a:pt x="8731" y="87313"/>
                    </a:lnTo>
                    <a:cubicBezTo>
                      <a:pt x="3909" y="87313"/>
                      <a:pt x="0" y="83403"/>
                      <a:pt x="0" y="78581"/>
                    </a:cubicBezTo>
                    <a:lnTo>
                      <a:pt x="0" y="8731"/>
                    </a:lnTo>
                  </a:path>
                </a:pathLst>
              </a:custGeom>
              <a:noFill/>
              <a:ln w="17463">
                <a:solidFill>
                  <a:srgbClr val="A8351D"/>
                </a:solidFill>
              </a:ln>
            </p:spPr>
          </p:sp>
          <p:sp>
            <p:nvSpPr>
              <p:cNvPr id="132" name="Freeform 132"/>
              <p:cNvSpPr/>
              <p:nvPr/>
            </p:nvSpPr>
            <p:spPr>
              <a:xfrm>
                <a:off x="4219575" y="3800475"/>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8351D"/>
                </a:solidFill>
              </a:ln>
            </p:spPr>
          </p:sp>
        </p:grpSp>
        <p:sp>
          <p:nvSpPr>
            <p:cNvPr id="134" name="TextBox 134"/>
            <p:cNvSpPr txBox="1"/>
            <p:nvPr/>
          </p:nvSpPr>
          <p:spPr>
            <a:xfrm>
              <a:off x="4376738" y="3750945"/>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代发</a:t>
              </a:r>
            </a:p>
          </p:txBody>
        </p:sp>
        <p:grpSp>
          <p:nvGrpSpPr>
            <p:cNvPr id="139" name="Group 139"/>
            <p:cNvGrpSpPr/>
            <p:nvPr/>
          </p:nvGrpSpPr>
          <p:grpSpPr>
            <a:xfrm>
              <a:off x="5150644" y="3739356"/>
              <a:ext cx="157163" cy="122238"/>
              <a:chOff x="5150644" y="3739356"/>
              <a:chExt cx="157163" cy="122238"/>
            </a:xfrm>
          </p:grpSpPr>
          <p:sp>
            <p:nvSpPr>
              <p:cNvPr id="135" name="Freeform 135"/>
              <p:cNvSpPr/>
              <p:nvPr/>
            </p:nvSpPr>
            <p:spPr>
              <a:xfrm>
                <a:off x="5150644" y="3739356"/>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7463">
                <a:solidFill>
                  <a:srgbClr val="A8351D"/>
                </a:solidFill>
              </a:ln>
            </p:spPr>
          </p:sp>
          <p:sp>
            <p:nvSpPr>
              <p:cNvPr id="136" name="Freeform 136"/>
              <p:cNvSpPr/>
              <p:nvPr/>
            </p:nvSpPr>
            <p:spPr>
              <a:xfrm>
                <a:off x="5150644" y="3783013"/>
                <a:ext cx="157163" cy="9525"/>
              </a:xfrm>
              <a:custGeom>
                <a:avLst/>
                <a:gdLst/>
                <a:ahLst/>
                <a:cxnLst/>
                <a:rect l="l" t="t" r="r" b="b"/>
                <a:pathLst>
                  <a:path w="157163" h="9525">
                    <a:moveTo>
                      <a:pt x="0" y="0"/>
                    </a:moveTo>
                    <a:lnTo>
                      <a:pt x="157163" y="0"/>
                    </a:lnTo>
                  </a:path>
                </a:pathLst>
              </a:custGeom>
              <a:noFill/>
              <a:ln w="17463">
                <a:solidFill>
                  <a:srgbClr val="A8351D"/>
                </a:solidFill>
              </a:ln>
            </p:spPr>
          </p:sp>
          <p:sp>
            <p:nvSpPr>
              <p:cNvPr id="137" name="Freeform 137"/>
              <p:cNvSpPr/>
              <p:nvPr/>
            </p:nvSpPr>
            <p:spPr>
              <a:xfrm>
                <a:off x="5185569" y="3826669"/>
                <a:ext cx="9525" cy="9525"/>
              </a:xfrm>
              <a:custGeom>
                <a:avLst/>
                <a:gdLst/>
                <a:ahLst/>
                <a:cxnLst/>
                <a:rect l="l" t="t" r="r" b="b"/>
                <a:pathLst>
                  <a:path w="9525" h="9525">
                    <a:moveTo>
                      <a:pt x="0" y="0"/>
                    </a:moveTo>
                    <a:lnTo>
                      <a:pt x="87" y="0"/>
                    </a:lnTo>
                  </a:path>
                </a:pathLst>
              </a:custGeom>
              <a:noFill/>
              <a:ln w="17463">
                <a:solidFill>
                  <a:srgbClr val="A8351D"/>
                </a:solidFill>
              </a:ln>
            </p:spPr>
          </p:sp>
          <p:sp>
            <p:nvSpPr>
              <p:cNvPr id="138" name="Freeform 138"/>
              <p:cNvSpPr/>
              <p:nvPr/>
            </p:nvSpPr>
            <p:spPr>
              <a:xfrm>
                <a:off x="5220494" y="3826669"/>
                <a:ext cx="17463" cy="9525"/>
              </a:xfrm>
              <a:custGeom>
                <a:avLst/>
                <a:gdLst/>
                <a:ahLst/>
                <a:cxnLst/>
                <a:rect l="l" t="t" r="r" b="b"/>
                <a:pathLst>
                  <a:path w="17463" h="9525">
                    <a:moveTo>
                      <a:pt x="0" y="0"/>
                    </a:moveTo>
                    <a:lnTo>
                      <a:pt x="17463" y="0"/>
                    </a:lnTo>
                  </a:path>
                </a:pathLst>
              </a:custGeom>
              <a:noFill/>
              <a:ln w="17463">
                <a:solidFill>
                  <a:srgbClr val="A8351D"/>
                </a:solidFill>
              </a:ln>
            </p:spPr>
          </p:sp>
        </p:grpSp>
        <p:sp>
          <p:nvSpPr>
            <p:cNvPr id="140" name="TextBox 140"/>
            <p:cNvSpPr txBox="1"/>
            <p:nvPr/>
          </p:nvSpPr>
          <p:spPr>
            <a:xfrm>
              <a:off x="5386388" y="3750945"/>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支付</a:t>
              </a:r>
            </a:p>
          </p:txBody>
        </p:sp>
        <p:grpSp>
          <p:nvGrpSpPr>
            <p:cNvPr id="144" name="Group 144"/>
            <p:cNvGrpSpPr/>
            <p:nvPr/>
          </p:nvGrpSpPr>
          <p:grpSpPr>
            <a:xfrm>
              <a:off x="6186488" y="3721894"/>
              <a:ext cx="104775" cy="157163"/>
              <a:chOff x="6186488" y="3721894"/>
              <a:chExt cx="104775" cy="157163"/>
            </a:xfrm>
          </p:grpSpPr>
          <p:sp>
            <p:nvSpPr>
              <p:cNvPr id="141" name="Freeform 141"/>
              <p:cNvSpPr/>
              <p:nvPr/>
            </p:nvSpPr>
            <p:spPr>
              <a:xfrm>
                <a:off x="6186488" y="3721894"/>
                <a:ext cx="104775" cy="157163"/>
              </a:xfrm>
              <a:custGeom>
                <a:avLst/>
                <a:gdLst/>
                <a:ahLst/>
                <a:cxnLst/>
                <a:rect l="l" t="t" r="r" b="b"/>
                <a:pathLst>
                  <a:path w="104775" h="157163">
                    <a:moveTo>
                      <a:pt x="0" y="17463"/>
                    </a:moveTo>
                    <a:cubicBezTo>
                      <a:pt x="0" y="7818"/>
                      <a:pt x="7818" y="0"/>
                      <a:pt x="17463" y="0"/>
                    </a:cubicBezTo>
                    <a:lnTo>
                      <a:pt x="87313" y="0"/>
                    </a:lnTo>
                    <a:cubicBezTo>
                      <a:pt x="96957" y="0"/>
                      <a:pt x="104775" y="7818"/>
                      <a:pt x="104775" y="17463"/>
                    </a:cubicBezTo>
                    <a:lnTo>
                      <a:pt x="104775" y="139700"/>
                    </a:lnTo>
                    <a:cubicBezTo>
                      <a:pt x="104775" y="149344"/>
                      <a:pt x="96957" y="157163"/>
                      <a:pt x="87313" y="157163"/>
                    </a:cubicBezTo>
                    <a:lnTo>
                      <a:pt x="17463" y="157163"/>
                    </a:lnTo>
                    <a:cubicBezTo>
                      <a:pt x="7818" y="157163"/>
                      <a:pt x="0" y="149344"/>
                      <a:pt x="0" y="139700"/>
                    </a:cubicBezTo>
                    <a:lnTo>
                      <a:pt x="0" y="17463"/>
                    </a:lnTo>
                  </a:path>
                </a:pathLst>
              </a:custGeom>
              <a:noFill/>
              <a:ln w="17463">
                <a:solidFill>
                  <a:srgbClr val="A8351D"/>
                </a:solidFill>
              </a:ln>
            </p:spPr>
          </p:sp>
          <p:sp>
            <p:nvSpPr>
              <p:cNvPr id="142" name="Freeform 142"/>
              <p:cNvSpPr/>
              <p:nvPr/>
            </p:nvSpPr>
            <p:spPr>
              <a:xfrm>
                <a:off x="6230144" y="3730625"/>
                <a:ext cx="17463" cy="9525"/>
              </a:xfrm>
              <a:custGeom>
                <a:avLst/>
                <a:gdLst/>
                <a:ahLst/>
                <a:cxnLst/>
                <a:rect l="l" t="t" r="r" b="b"/>
                <a:pathLst>
                  <a:path w="17463" h="9525">
                    <a:moveTo>
                      <a:pt x="0" y="0"/>
                    </a:moveTo>
                    <a:lnTo>
                      <a:pt x="17463" y="0"/>
                    </a:lnTo>
                  </a:path>
                </a:pathLst>
              </a:custGeom>
              <a:noFill/>
              <a:ln w="17463">
                <a:solidFill>
                  <a:srgbClr val="A8351D"/>
                </a:solidFill>
              </a:ln>
            </p:spPr>
          </p:sp>
          <p:sp>
            <p:nvSpPr>
              <p:cNvPr id="143" name="Freeform 143"/>
              <p:cNvSpPr/>
              <p:nvPr/>
            </p:nvSpPr>
            <p:spPr>
              <a:xfrm>
                <a:off x="6238875" y="3844131"/>
                <a:ext cx="9525" cy="9525"/>
              </a:xfrm>
              <a:custGeom>
                <a:avLst/>
                <a:gdLst/>
                <a:ahLst/>
                <a:cxnLst/>
                <a:rect l="l" t="t" r="r" b="b"/>
                <a:pathLst>
                  <a:path w="9525" h="9525">
                    <a:moveTo>
                      <a:pt x="0" y="0"/>
                    </a:moveTo>
                    <a:lnTo>
                      <a:pt x="0" y="87"/>
                    </a:lnTo>
                  </a:path>
                </a:pathLst>
              </a:custGeom>
              <a:noFill/>
              <a:ln w="17463">
                <a:solidFill>
                  <a:srgbClr val="A8351D"/>
                </a:solidFill>
              </a:ln>
            </p:spPr>
          </p:sp>
        </p:grpSp>
        <p:sp>
          <p:nvSpPr>
            <p:cNvPr id="145" name="TextBox 145"/>
            <p:cNvSpPr txBox="1"/>
            <p:nvPr/>
          </p:nvSpPr>
          <p:spPr>
            <a:xfrm>
              <a:off x="6396038" y="3750945"/>
              <a:ext cx="494157"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手机银行</a:t>
              </a:r>
            </a:p>
          </p:txBody>
        </p:sp>
        <p:grpSp>
          <p:nvGrpSpPr>
            <p:cNvPr id="148" name="Group 148"/>
            <p:cNvGrpSpPr/>
            <p:nvPr/>
          </p:nvGrpSpPr>
          <p:grpSpPr>
            <a:xfrm>
              <a:off x="7426325" y="3748088"/>
              <a:ext cx="139700" cy="123031"/>
              <a:chOff x="7426325" y="3748088"/>
              <a:chExt cx="139700" cy="123031"/>
            </a:xfrm>
          </p:grpSpPr>
          <p:sp>
            <p:nvSpPr>
              <p:cNvPr id="146" name="Freeform 146"/>
              <p:cNvSpPr/>
              <p:nvPr/>
            </p:nvSpPr>
            <p:spPr>
              <a:xfrm>
                <a:off x="7426325" y="3861594"/>
                <a:ext cx="139700" cy="9525"/>
              </a:xfrm>
              <a:custGeom>
                <a:avLst/>
                <a:gdLst/>
                <a:ahLst/>
                <a:cxnLst/>
                <a:rect l="l" t="t" r="r" b="b"/>
                <a:pathLst>
                  <a:path w="139700" h="9525">
                    <a:moveTo>
                      <a:pt x="0" y="0"/>
                    </a:moveTo>
                    <a:lnTo>
                      <a:pt x="139700" y="0"/>
                    </a:lnTo>
                  </a:path>
                </a:pathLst>
              </a:custGeom>
              <a:noFill/>
              <a:ln w="17463">
                <a:solidFill>
                  <a:srgbClr val="A8351D"/>
                </a:solidFill>
              </a:ln>
            </p:spPr>
          </p:sp>
          <p:sp>
            <p:nvSpPr>
              <p:cNvPr id="147" name="Freeform 147"/>
              <p:cNvSpPr/>
              <p:nvPr/>
            </p:nvSpPr>
            <p:spPr>
              <a:xfrm>
                <a:off x="7426325" y="3748088"/>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7463">
                <a:solidFill>
                  <a:srgbClr val="A8351D"/>
                </a:solidFill>
              </a:ln>
            </p:spPr>
          </p:sp>
        </p:grpSp>
        <p:sp>
          <p:nvSpPr>
            <p:cNvPr id="149" name="TextBox 149"/>
            <p:cNvSpPr txBox="1"/>
            <p:nvPr/>
          </p:nvSpPr>
          <p:spPr>
            <a:xfrm>
              <a:off x="7653338" y="3750945"/>
              <a:ext cx="251841" cy="176212"/>
            </a:xfrm>
            <a:prstGeom prst="rect">
              <a:avLst/>
            </a:prstGeom>
            <a:noFill/>
            <a:ln>
              <a:noFill/>
            </a:ln>
          </p:spPr>
          <p:txBody>
            <a:bodyPr wrap="none" lIns="0" tIns="0" rIns="0" bIns="0" anchor="t" anchorCtr="0">
              <a:spAutoFit/>
            </a:bodyPr>
            <a:lstStyle/>
            <a:p>
              <a:pPr algn="l"/>
              <a:r>
                <a:rPr lang="zh-CN" sz="900" dirty="0">
                  <a:solidFill>
                    <a:srgbClr val="67281B"/>
                  </a:solidFill>
                  <a:latin typeface="+mn-lt"/>
                  <a:ea typeface="+mn-ea"/>
                  <a:cs typeface="+mn-cs"/>
                </a:rPr>
                <a:t>财富</a:t>
              </a:r>
            </a:p>
          </p:txBody>
        </p:sp>
        <p:sp>
          <p:nvSpPr>
            <p:cNvPr id="150" name="Rectangle 150"/>
            <p:cNvSpPr/>
            <p:nvPr/>
          </p:nvSpPr>
          <p:spPr>
            <a:xfrm>
              <a:off x="381000" y="4191000"/>
              <a:ext cx="571500" cy="552450"/>
            </a:xfrm>
            <a:prstGeom prst="roundRect">
              <a:avLst>
                <a:gd name="adj" fmla="val 10345"/>
              </a:avLst>
            </a:prstGeom>
            <a:solidFill>
              <a:srgbClr val="A5280F"/>
            </a:solidFill>
            <a:ln>
              <a:noFill/>
            </a:ln>
          </p:spPr>
        </p:sp>
        <p:sp>
          <p:nvSpPr>
            <p:cNvPr id="151" name="TextBox 151"/>
            <p:cNvSpPr txBox="1"/>
            <p:nvPr/>
          </p:nvSpPr>
          <p:spPr>
            <a:xfrm>
              <a:off x="537337" y="4314349"/>
              <a:ext cx="258826" cy="362141"/>
            </a:xfrm>
            <a:prstGeom prst="rect">
              <a:avLst/>
            </a:prstGeom>
            <a:noFill/>
            <a:ln>
              <a:noFill/>
            </a:ln>
          </p:spPr>
          <p:txBody>
            <a:bodyPr wrap="none" lIns="0" tIns="0" rIns="0" bIns="0" anchor="t" anchorCtr="0">
              <a:spAutoFit/>
            </a:bodyPr>
            <a:lstStyle/>
            <a:p>
              <a:pPr algn="ctr">
                <a:lnSpc>
                  <a:spcPts val="1350"/>
                </a:lnSpc>
              </a:pPr>
              <a:r>
                <a:rPr lang="zh-CN" sz="980" b="1" dirty="0">
                  <a:solidFill>
                    <a:srgbClr val="FFFFFF"/>
                  </a:solidFill>
                  <a:latin typeface="+mn-lt"/>
                  <a:ea typeface="+mn-ea"/>
                  <a:cs typeface="+mn-cs"/>
                </a:rPr>
                <a:t>合规</a:t>
              </a:r>
              <a:br/>
              <a:r>
                <a:rPr lang="zh-CN" sz="980" b="1" dirty="0">
                  <a:solidFill>
                    <a:srgbClr val="FFFFFF"/>
                  </a:solidFill>
                  <a:latin typeface="+mn-lt"/>
                  <a:ea typeface="+mn-ea"/>
                  <a:cs typeface="+mn-cs"/>
                </a:rPr>
                <a:t>护栏</a:t>
              </a:r>
            </a:p>
          </p:txBody>
        </p:sp>
        <p:sp>
          <p:nvSpPr>
            <p:cNvPr id="152" name="Rectangle 152"/>
            <p:cNvSpPr/>
            <p:nvPr/>
          </p:nvSpPr>
          <p:spPr>
            <a:xfrm>
              <a:off x="1047750" y="4191000"/>
              <a:ext cx="7715250" cy="552450"/>
            </a:xfrm>
            <a:prstGeom prst="roundRect">
              <a:avLst>
                <a:gd name="adj" fmla="val 13793"/>
              </a:avLst>
            </a:prstGeom>
            <a:solidFill>
              <a:srgbClr val="EEF8F8"/>
            </a:solidFill>
            <a:ln w="9525">
              <a:solidFill>
                <a:srgbClr val="D4A89F"/>
              </a:solidFill>
            </a:ln>
          </p:spPr>
        </p:sp>
        <p:grpSp>
          <p:nvGrpSpPr>
            <p:cNvPr id="156" name="Group 156"/>
            <p:cNvGrpSpPr/>
            <p:nvPr/>
          </p:nvGrpSpPr>
          <p:grpSpPr>
            <a:xfrm>
              <a:off x="1567656" y="4388644"/>
              <a:ext cx="122238" cy="157163"/>
              <a:chOff x="1567656" y="4388644"/>
              <a:chExt cx="122238" cy="157163"/>
            </a:xfrm>
          </p:grpSpPr>
          <p:sp>
            <p:nvSpPr>
              <p:cNvPr id="153" name="Freeform 153"/>
              <p:cNvSpPr/>
              <p:nvPr/>
            </p:nvSpPr>
            <p:spPr>
              <a:xfrm>
                <a:off x="1567656" y="4458494"/>
                <a:ext cx="122238" cy="87313"/>
              </a:xfrm>
              <a:custGeom>
                <a:avLst/>
                <a:gdLst/>
                <a:ahLst/>
                <a:cxnLst/>
                <a:rect l="l" t="t" r="r" b="b"/>
                <a:pathLst>
                  <a:path w="122238" h="87313">
                    <a:moveTo>
                      <a:pt x="0" y="17463"/>
                    </a:moveTo>
                    <a:cubicBezTo>
                      <a:pt x="0" y="7818"/>
                      <a:pt x="7818" y="0"/>
                      <a:pt x="17463" y="0"/>
                    </a:cubicBezTo>
                    <a:lnTo>
                      <a:pt x="104775" y="0"/>
                    </a:lnTo>
                    <a:cubicBezTo>
                      <a:pt x="114419" y="0"/>
                      <a:pt x="122238" y="7818"/>
                      <a:pt x="122238" y="17463"/>
                    </a:cubicBezTo>
                    <a:lnTo>
                      <a:pt x="122238" y="69850"/>
                    </a:lnTo>
                    <a:cubicBezTo>
                      <a:pt x="122238" y="79494"/>
                      <a:pt x="114419" y="87313"/>
                      <a:pt x="104775" y="87313"/>
                    </a:cubicBezTo>
                    <a:lnTo>
                      <a:pt x="17463" y="87313"/>
                    </a:lnTo>
                    <a:cubicBezTo>
                      <a:pt x="7818" y="87313"/>
                      <a:pt x="0" y="79494"/>
                      <a:pt x="0" y="69850"/>
                    </a:cubicBezTo>
                    <a:lnTo>
                      <a:pt x="0" y="17463"/>
                    </a:lnTo>
                  </a:path>
                </a:pathLst>
              </a:custGeom>
              <a:noFill/>
              <a:ln w="17463">
                <a:solidFill>
                  <a:srgbClr val="92210B"/>
                </a:solidFill>
              </a:ln>
            </p:spPr>
          </p:sp>
          <p:sp>
            <p:nvSpPr>
              <p:cNvPr id="154" name="Freeform 154"/>
              <p:cNvSpPr/>
              <p:nvPr/>
            </p:nvSpPr>
            <p:spPr>
              <a:xfrm>
                <a:off x="1620044" y="449341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92210B"/>
                </a:solidFill>
              </a:ln>
            </p:spPr>
          </p:sp>
          <p:sp>
            <p:nvSpPr>
              <p:cNvPr id="155" name="Freeform 155"/>
              <p:cNvSpPr/>
              <p:nvPr/>
            </p:nvSpPr>
            <p:spPr>
              <a:xfrm>
                <a:off x="1593850" y="4388644"/>
                <a:ext cx="69850" cy="69850"/>
              </a:xfrm>
              <a:custGeom>
                <a:avLst/>
                <a:gdLst/>
                <a:ahLst/>
                <a:cxnLst/>
                <a:rect l="l" t="t" r="r" b="b"/>
                <a:pathLst>
                  <a:path w="69850" h="69850">
                    <a:moveTo>
                      <a:pt x="0" y="69850"/>
                    </a:moveTo>
                    <a:lnTo>
                      <a:pt x="0" y="34925"/>
                    </a:lnTo>
                    <a:cubicBezTo>
                      <a:pt x="0" y="15636"/>
                      <a:pt x="15636" y="0"/>
                      <a:pt x="34925" y="0"/>
                    </a:cubicBezTo>
                    <a:cubicBezTo>
                      <a:pt x="54214" y="0"/>
                      <a:pt x="69850" y="15636"/>
                      <a:pt x="69850" y="34925"/>
                    </a:cubicBezTo>
                    <a:lnTo>
                      <a:pt x="69850" y="69850"/>
                    </a:lnTo>
                  </a:path>
                </a:pathLst>
              </a:custGeom>
              <a:noFill/>
              <a:ln w="17463">
                <a:solidFill>
                  <a:srgbClr val="92210B"/>
                </a:solidFill>
              </a:ln>
            </p:spPr>
          </p:sp>
        </p:grpSp>
        <p:sp>
          <p:nvSpPr>
            <p:cNvPr id="157" name="TextBox 157"/>
            <p:cNvSpPr txBox="1"/>
            <p:nvPr/>
          </p:nvSpPr>
          <p:spPr>
            <a:xfrm>
              <a:off x="1804988" y="4413647"/>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数据权限</a:t>
              </a:r>
            </a:p>
          </p:txBody>
        </p:sp>
        <p:sp>
          <p:nvSpPr>
            <p:cNvPr id="158" name="Line 158"/>
            <p:cNvSpPr/>
            <p:nvPr/>
          </p:nvSpPr>
          <p:spPr>
            <a:xfrm>
              <a:off x="2857500" y="4305300"/>
              <a:ext cx="9525" cy="323850"/>
            </a:xfrm>
            <a:custGeom>
              <a:avLst/>
              <a:gdLst/>
              <a:ahLst/>
              <a:cxnLst/>
              <a:rect l="l" t="t" r="r" b="b"/>
              <a:pathLst>
                <a:path w="9525" h="323850">
                  <a:moveTo>
                    <a:pt x="0" y="0"/>
                  </a:moveTo>
                  <a:lnTo>
                    <a:pt x="0" y="323850"/>
                  </a:lnTo>
                </a:path>
              </a:pathLst>
            </a:custGeom>
            <a:noFill/>
            <a:ln w="9525">
              <a:solidFill>
                <a:srgbClr val="C4E4E4"/>
              </a:solidFill>
            </a:ln>
          </p:spPr>
        </p:sp>
        <p:grpSp>
          <p:nvGrpSpPr>
            <p:cNvPr id="161" name="Group 161"/>
            <p:cNvGrpSpPr/>
            <p:nvPr/>
          </p:nvGrpSpPr>
          <p:grpSpPr>
            <a:xfrm>
              <a:off x="3359944" y="4414838"/>
              <a:ext cx="157163" cy="104775"/>
              <a:chOff x="3359944" y="4414838"/>
              <a:chExt cx="157163" cy="104775"/>
            </a:xfrm>
          </p:grpSpPr>
          <p:sp>
            <p:nvSpPr>
              <p:cNvPr id="159" name="Freeform 159"/>
              <p:cNvSpPr/>
              <p:nvPr/>
            </p:nvSpPr>
            <p:spPr>
              <a:xfrm>
                <a:off x="3421063" y="4449763"/>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92210B"/>
                </a:solidFill>
              </a:ln>
            </p:spPr>
          </p:sp>
          <p:sp>
            <p:nvSpPr>
              <p:cNvPr id="160" name="Freeform 160"/>
              <p:cNvSpPr/>
              <p:nvPr/>
            </p:nvSpPr>
            <p:spPr>
              <a:xfrm>
                <a:off x="3359944" y="4414838"/>
                <a:ext cx="157163" cy="104775"/>
              </a:xfrm>
              <a:custGeom>
                <a:avLst/>
                <a:gdLst/>
                <a:ahLst/>
                <a:cxnLst/>
                <a:rect l="l" t="t" r="r" b="b"/>
                <a:pathLst>
                  <a:path w="157163" h="104775">
                    <a:moveTo>
                      <a:pt x="157163" y="52388"/>
                    </a:moveTo>
                    <a:cubicBezTo>
                      <a:pt x="136208" y="87313"/>
                      <a:pt x="110014" y="104775"/>
                      <a:pt x="78581" y="104775"/>
                    </a:cubicBezTo>
                    <a:cubicBezTo>
                      <a:pt x="47149" y="104775"/>
                      <a:pt x="20955" y="87313"/>
                      <a:pt x="0" y="52388"/>
                    </a:cubicBezTo>
                    <a:cubicBezTo>
                      <a:pt x="20955" y="17463"/>
                      <a:pt x="47149" y="0"/>
                      <a:pt x="78581" y="0"/>
                    </a:cubicBezTo>
                    <a:cubicBezTo>
                      <a:pt x="110014" y="0"/>
                      <a:pt x="136208" y="17463"/>
                      <a:pt x="157163" y="52388"/>
                    </a:cubicBezTo>
                  </a:path>
                </a:pathLst>
              </a:custGeom>
              <a:noFill/>
              <a:ln w="17463">
                <a:solidFill>
                  <a:srgbClr val="92210B"/>
                </a:solidFill>
              </a:ln>
            </p:spPr>
          </p:sp>
        </p:grpSp>
        <p:sp>
          <p:nvSpPr>
            <p:cNvPr id="162" name="TextBox 162"/>
            <p:cNvSpPr txBox="1"/>
            <p:nvPr/>
          </p:nvSpPr>
          <p:spPr>
            <a:xfrm>
              <a:off x="3614738" y="4413647"/>
              <a:ext cx="768782"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敏感信息脱敏</a:t>
              </a:r>
            </a:p>
          </p:txBody>
        </p:sp>
        <p:sp>
          <p:nvSpPr>
            <p:cNvPr id="163" name="Line 163"/>
            <p:cNvSpPr/>
            <p:nvPr/>
          </p:nvSpPr>
          <p:spPr>
            <a:xfrm>
              <a:off x="4762500" y="4305300"/>
              <a:ext cx="9525" cy="323850"/>
            </a:xfrm>
            <a:custGeom>
              <a:avLst/>
              <a:gdLst/>
              <a:ahLst/>
              <a:cxnLst/>
              <a:rect l="l" t="t" r="r" b="b"/>
              <a:pathLst>
                <a:path w="9525" h="323850">
                  <a:moveTo>
                    <a:pt x="0" y="0"/>
                  </a:moveTo>
                  <a:lnTo>
                    <a:pt x="0" y="323850"/>
                  </a:lnTo>
                </a:path>
              </a:pathLst>
            </a:custGeom>
            <a:noFill/>
            <a:ln w="9525">
              <a:solidFill>
                <a:srgbClr val="C4E4E4"/>
              </a:solidFill>
            </a:ln>
          </p:spPr>
        </p:sp>
        <p:grpSp>
          <p:nvGrpSpPr>
            <p:cNvPr id="169" name="Group 169"/>
            <p:cNvGrpSpPr/>
            <p:nvPr/>
          </p:nvGrpSpPr>
          <p:grpSpPr>
            <a:xfrm>
              <a:off x="5282406" y="4388644"/>
              <a:ext cx="122238" cy="157163"/>
              <a:chOff x="5282406" y="4388644"/>
              <a:chExt cx="122238" cy="157163"/>
            </a:xfrm>
          </p:grpSpPr>
          <p:sp>
            <p:nvSpPr>
              <p:cNvPr id="164" name="Freeform 164"/>
              <p:cNvSpPr/>
              <p:nvPr/>
            </p:nvSpPr>
            <p:spPr>
              <a:xfrm>
                <a:off x="5360988" y="4388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92210B"/>
                </a:solidFill>
              </a:ln>
            </p:spPr>
          </p:sp>
          <p:sp>
            <p:nvSpPr>
              <p:cNvPr id="165" name="Freeform 165"/>
              <p:cNvSpPr/>
              <p:nvPr/>
            </p:nvSpPr>
            <p:spPr>
              <a:xfrm>
                <a:off x="5282406" y="4388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92210B"/>
                </a:solidFill>
              </a:ln>
            </p:spPr>
          </p:sp>
          <p:sp>
            <p:nvSpPr>
              <p:cNvPr id="166" name="Freeform 166"/>
              <p:cNvSpPr/>
              <p:nvPr/>
            </p:nvSpPr>
            <p:spPr>
              <a:xfrm>
                <a:off x="5317331" y="4441031"/>
                <a:ext cx="9525" cy="9525"/>
              </a:xfrm>
              <a:custGeom>
                <a:avLst/>
                <a:gdLst/>
                <a:ahLst/>
                <a:cxnLst/>
                <a:rect l="l" t="t" r="r" b="b"/>
                <a:pathLst>
                  <a:path w="9525" h="9525">
                    <a:moveTo>
                      <a:pt x="0" y="0"/>
                    </a:moveTo>
                    <a:lnTo>
                      <a:pt x="8731" y="0"/>
                    </a:lnTo>
                  </a:path>
                </a:pathLst>
              </a:custGeom>
              <a:noFill/>
              <a:ln w="17463">
                <a:solidFill>
                  <a:srgbClr val="92210B"/>
                </a:solidFill>
              </a:ln>
            </p:spPr>
          </p:sp>
          <p:sp>
            <p:nvSpPr>
              <p:cNvPr id="167" name="Freeform 167"/>
              <p:cNvSpPr/>
              <p:nvPr/>
            </p:nvSpPr>
            <p:spPr>
              <a:xfrm>
                <a:off x="5317331" y="4475956"/>
                <a:ext cx="52388" cy="9525"/>
              </a:xfrm>
              <a:custGeom>
                <a:avLst/>
                <a:gdLst/>
                <a:ahLst/>
                <a:cxnLst/>
                <a:rect l="l" t="t" r="r" b="b"/>
                <a:pathLst>
                  <a:path w="52388" h="9525">
                    <a:moveTo>
                      <a:pt x="0" y="0"/>
                    </a:moveTo>
                    <a:lnTo>
                      <a:pt x="52388" y="0"/>
                    </a:lnTo>
                  </a:path>
                </a:pathLst>
              </a:custGeom>
              <a:noFill/>
              <a:ln w="17463">
                <a:solidFill>
                  <a:srgbClr val="92210B"/>
                </a:solidFill>
              </a:ln>
            </p:spPr>
          </p:sp>
          <p:sp>
            <p:nvSpPr>
              <p:cNvPr id="168" name="Freeform 168"/>
              <p:cNvSpPr/>
              <p:nvPr/>
            </p:nvSpPr>
            <p:spPr>
              <a:xfrm>
                <a:off x="5317331" y="4510881"/>
                <a:ext cx="52388" cy="9525"/>
              </a:xfrm>
              <a:custGeom>
                <a:avLst/>
                <a:gdLst/>
                <a:ahLst/>
                <a:cxnLst/>
                <a:rect l="l" t="t" r="r" b="b"/>
                <a:pathLst>
                  <a:path w="52388" h="9525">
                    <a:moveTo>
                      <a:pt x="0" y="0"/>
                    </a:moveTo>
                    <a:lnTo>
                      <a:pt x="52388" y="0"/>
                    </a:lnTo>
                  </a:path>
                </a:pathLst>
              </a:custGeom>
              <a:noFill/>
              <a:ln w="17463">
                <a:solidFill>
                  <a:srgbClr val="92210B"/>
                </a:solidFill>
              </a:ln>
            </p:spPr>
          </p:sp>
        </p:grpSp>
        <p:sp>
          <p:nvSpPr>
            <p:cNvPr id="170" name="TextBox 170"/>
            <p:cNvSpPr txBox="1"/>
            <p:nvPr/>
          </p:nvSpPr>
          <p:spPr>
            <a:xfrm>
              <a:off x="5519738" y="4413647"/>
              <a:ext cx="642239"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全流程留痕</a:t>
              </a:r>
            </a:p>
          </p:txBody>
        </p:sp>
        <p:sp>
          <p:nvSpPr>
            <p:cNvPr id="171" name="Line 171"/>
            <p:cNvSpPr/>
            <p:nvPr/>
          </p:nvSpPr>
          <p:spPr>
            <a:xfrm>
              <a:off x="6667500" y="4305300"/>
              <a:ext cx="9525" cy="323850"/>
            </a:xfrm>
            <a:custGeom>
              <a:avLst/>
              <a:gdLst/>
              <a:ahLst/>
              <a:cxnLst/>
              <a:rect l="l" t="t" r="r" b="b"/>
              <a:pathLst>
                <a:path w="9525" h="323850">
                  <a:moveTo>
                    <a:pt x="0" y="0"/>
                  </a:moveTo>
                  <a:lnTo>
                    <a:pt x="0" y="323850"/>
                  </a:lnTo>
                </a:path>
              </a:pathLst>
            </a:custGeom>
            <a:noFill/>
            <a:ln w="9525">
              <a:solidFill>
                <a:srgbClr val="C4E4E4"/>
              </a:solidFill>
            </a:ln>
          </p:spPr>
        </p:sp>
        <p:grpSp>
          <p:nvGrpSpPr>
            <p:cNvPr id="174" name="Group 174"/>
            <p:cNvGrpSpPr/>
            <p:nvPr/>
          </p:nvGrpSpPr>
          <p:grpSpPr>
            <a:xfrm>
              <a:off x="7062910" y="4388644"/>
              <a:ext cx="170506" cy="157162"/>
              <a:chOff x="7062910" y="4388644"/>
              <a:chExt cx="170506" cy="157162"/>
            </a:xfrm>
          </p:grpSpPr>
          <p:sp>
            <p:nvSpPr>
              <p:cNvPr id="172" name="Freeform 172"/>
              <p:cNvSpPr/>
              <p:nvPr/>
            </p:nvSpPr>
            <p:spPr>
              <a:xfrm>
                <a:off x="7062910" y="438864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92210B"/>
                </a:solidFill>
              </a:ln>
            </p:spPr>
          </p:sp>
          <p:sp>
            <p:nvSpPr>
              <p:cNvPr id="173" name="Freeform 173"/>
              <p:cNvSpPr/>
              <p:nvPr/>
            </p:nvSpPr>
            <p:spPr>
              <a:xfrm>
                <a:off x="7179469" y="4510881"/>
                <a:ext cx="52388" cy="34925"/>
              </a:xfrm>
              <a:custGeom>
                <a:avLst/>
                <a:gdLst/>
                <a:ahLst/>
                <a:cxnLst/>
                <a:rect l="l" t="t" r="r" b="b"/>
                <a:pathLst>
                  <a:path w="52388" h="34925">
                    <a:moveTo>
                      <a:pt x="0" y="17463"/>
                    </a:moveTo>
                    <a:lnTo>
                      <a:pt x="17463" y="34925"/>
                    </a:lnTo>
                    <a:lnTo>
                      <a:pt x="52388" y="0"/>
                    </a:lnTo>
                  </a:path>
                </a:pathLst>
              </a:custGeom>
              <a:noFill/>
              <a:ln w="17463">
                <a:solidFill>
                  <a:srgbClr val="92210B"/>
                </a:solidFill>
              </a:ln>
            </p:spPr>
          </p:sp>
        </p:grpSp>
        <p:sp>
          <p:nvSpPr>
            <p:cNvPr id="175" name="TextBox 175"/>
            <p:cNvSpPr txBox="1"/>
            <p:nvPr/>
          </p:nvSpPr>
          <p:spPr>
            <a:xfrm>
              <a:off x="7329488" y="4413647"/>
              <a:ext cx="768782"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消保与适当性</a:t>
              </a:r>
            </a:p>
          </p:txBody>
        </p:sp>
      </p:grpSp>
      <p:grpSp>
        <p:nvGrpSpPr>
          <p:cNvPr id="216" name="closed-loop"/>
          <p:cNvGrpSpPr/>
          <p:nvPr/>
        </p:nvGrpSpPr>
        <p:grpSpPr>
          <a:xfrm>
            <a:off x="8915400" y="704850"/>
            <a:ext cx="2895600" cy="2171700"/>
            <a:chOff x="8915400" y="704850"/>
            <a:chExt cx="2895600" cy="2171700"/>
          </a:xfrm>
        </p:grpSpPr>
        <p:sp>
          <p:nvSpPr>
            <p:cNvPr id="177" name="Rectangle 177"/>
            <p:cNvSpPr/>
            <p:nvPr/>
          </p:nvSpPr>
          <p:spPr>
            <a:xfrm>
              <a:off x="8915400" y="704850"/>
              <a:ext cx="2895600" cy="2171700"/>
            </a:xfrm>
            <a:prstGeom prst="roundRect">
              <a:avLst>
                <a:gd name="adj" fmla="val 4386"/>
              </a:avLst>
            </a:prstGeom>
            <a:solidFill>
              <a:srgbClr val="F9FBFE"/>
            </a:solidFill>
            <a:ln w="9525">
              <a:solidFill>
                <a:srgbClr val="C9D8EF"/>
              </a:solidFill>
            </a:ln>
          </p:spPr>
        </p:sp>
        <p:sp>
          <p:nvSpPr>
            <p:cNvPr id="178" name="Rectangle 178"/>
            <p:cNvSpPr/>
            <p:nvPr/>
          </p:nvSpPr>
          <p:spPr>
            <a:xfrm>
              <a:off x="9601200" y="704850"/>
              <a:ext cx="1524000" cy="266700"/>
            </a:xfrm>
            <a:prstGeom prst="roundRect">
              <a:avLst>
                <a:gd name="adj" fmla="val 14286"/>
              </a:avLst>
            </a:prstGeom>
            <a:gradFill>
              <a:gsLst>
                <a:gs pos="0">
                  <a:srgbClr val="AD3921"/>
                </a:gs>
                <a:gs pos="100000">
                  <a:srgbClr val="962C16"/>
                </a:gs>
              </a:gsLst>
              <a:lin ang="5400000" scaled="1"/>
            </a:gradFill>
            <a:ln>
              <a:noFill/>
            </a:ln>
          </p:spPr>
        </p:sp>
        <p:sp>
          <p:nvSpPr>
            <p:cNvPr id="179" name="TextBox 179"/>
            <p:cNvSpPr txBox="1"/>
            <p:nvPr/>
          </p:nvSpPr>
          <p:spPr>
            <a:xfrm>
              <a:off x="10094392" y="7805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经营闭环</a:t>
              </a:r>
            </a:p>
          </p:txBody>
        </p:sp>
        <p:sp>
          <p:nvSpPr>
            <p:cNvPr id="180" name="Ellipse 180"/>
            <p:cNvSpPr/>
            <p:nvPr/>
          </p:nvSpPr>
          <p:spPr>
            <a:xfrm>
              <a:off x="9734550" y="1276350"/>
              <a:ext cx="1257300" cy="1257300"/>
            </a:xfrm>
            <a:prstGeom prst="ellipse">
              <a:avLst/>
            </a:prstGeom>
            <a:noFill/>
            <a:ln w="14288">
              <a:solidFill>
                <a:srgbClr val="E5907F"/>
              </a:solidFill>
              <a:custDash>
                <a:ds d="400000" sp="266667"/>
              </a:custDash>
            </a:ln>
          </p:spPr>
        </p:sp>
        <p:sp>
          <p:nvSpPr>
            <p:cNvPr id="181" name="Ellipse 181"/>
            <p:cNvSpPr/>
            <p:nvPr/>
          </p:nvSpPr>
          <p:spPr>
            <a:xfrm>
              <a:off x="10115550" y="1657350"/>
              <a:ext cx="495300" cy="495300"/>
            </a:xfrm>
            <a:prstGeom prst="ellipse">
              <a:avLst/>
            </a:prstGeom>
            <a:solidFill>
              <a:srgbClr val="EAF2FC"/>
            </a:solidFill>
            <a:ln>
              <a:noFill/>
            </a:ln>
          </p:spPr>
        </p:sp>
        <p:grpSp>
          <p:nvGrpSpPr>
            <p:cNvPr id="190" name="Group 190"/>
            <p:cNvGrpSpPr/>
            <p:nvPr/>
          </p:nvGrpSpPr>
          <p:grpSpPr>
            <a:xfrm>
              <a:off x="10263188" y="1804988"/>
              <a:ext cx="200026" cy="209550"/>
              <a:chOff x="10263188" y="1804988"/>
              <a:chExt cx="200026" cy="209550"/>
            </a:xfrm>
          </p:grpSpPr>
          <p:sp>
            <p:nvSpPr>
              <p:cNvPr id="182" name="Freeform 182"/>
              <p:cNvSpPr/>
              <p:nvPr/>
            </p:nvSpPr>
            <p:spPr>
              <a:xfrm>
                <a:off x="10263188" y="2005013"/>
                <a:ext cx="200026" cy="9525"/>
              </a:xfrm>
              <a:custGeom>
                <a:avLst/>
                <a:gdLst/>
                <a:ahLst/>
                <a:cxnLst/>
                <a:rect l="l" t="t" r="r" b="b"/>
                <a:pathLst>
                  <a:path w="200026" h="9525">
                    <a:moveTo>
                      <a:pt x="0" y="0"/>
                    </a:moveTo>
                    <a:lnTo>
                      <a:pt x="200026" y="0"/>
                    </a:lnTo>
                  </a:path>
                </a:pathLst>
              </a:custGeom>
              <a:noFill/>
              <a:ln w="22225">
                <a:solidFill>
                  <a:srgbClr val="A8351D"/>
                </a:solidFill>
              </a:ln>
            </p:spPr>
          </p:sp>
          <p:sp>
            <p:nvSpPr>
              <p:cNvPr id="183" name="Freeform 183"/>
              <p:cNvSpPr/>
              <p:nvPr/>
            </p:nvSpPr>
            <p:spPr>
              <a:xfrm>
                <a:off x="10263188" y="1882775"/>
                <a:ext cx="200026" cy="9525"/>
              </a:xfrm>
              <a:custGeom>
                <a:avLst/>
                <a:gdLst/>
                <a:ahLst/>
                <a:cxnLst/>
                <a:rect l="l" t="t" r="r" b="b"/>
                <a:pathLst>
                  <a:path w="200026" h="9525">
                    <a:moveTo>
                      <a:pt x="0" y="0"/>
                    </a:moveTo>
                    <a:lnTo>
                      <a:pt x="200026" y="0"/>
                    </a:lnTo>
                  </a:path>
                </a:pathLst>
              </a:custGeom>
              <a:noFill/>
              <a:ln w="22225">
                <a:solidFill>
                  <a:srgbClr val="A8351D"/>
                </a:solidFill>
              </a:ln>
            </p:spPr>
          </p:sp>
          <p:sp>
            <p:nvSpPr>
              <p:cNvPr id="184" name="Freeform 184"/>
              <p:cNvSpPr/>
              <p:nvPr/>
            </p:nvSpPr>
            <p:spPr>
              <a:xfrm>
                <a:off x="10285413" y="1804988"/>
                <a:ext cx="155575" cy="33338"/>
              </a:xfrm>
              <a:custGeom>
                <a:avLst/>
                <a:gdLst/>
                <a:ahLst/>
                <a:cxnLst/>
                <a:rect l="l" t="t" r="r" b="b"/>
                <a:pathLst>
                  <a:path w="155575" h="33338">
                    <a:moveTo>
                      <a:pt x="0" y="33338"/>
                    </a:moveTo>
                    <a:lnTo>
                      <a:pt x="77788" y="0"/>
                    </a:lnTo>
                    <a:lnTo>
                      <a:pt x="155575" y="33338"/>
                    </a:lnTo>
                  </a:path>
                </a:pathLst>
              </a:custGeom>
              <a:noFill/>
              <a:ln w="22225">
                <a:solidFill>
                  <a:srgbClr val="A8351D"/>
                </a:solidFill>
              </a:ln>
            </p:spPr>
          </p:sp>
          <p:sp>
            <p:nvSpPr>
              <p:cNvPr id="185" name="Freeform 185"/>
              <p:cNvSpPr/>
              <p:nvPr/>
            </p:nvSpPr>
            <p:spPr>
              <a:xfrm>
                <a:off x="10274300" y="1882775"/>
                <a:ext cx="9525" cy="122238"/>
              </a:xfrm>
              <a:custGeom>
                <a:avLst/>
                <a:gdLst/>
                <a:ahLst/>
                <a:cxnLst/>
                <a:rect l="l" t="t" r="r" b="b"/>
                <a:pathLst>
                  <a:path w="9525" h="122238">
                    <a:moveTo>
                      <a:pt x="0" y="0"/>
                    </a:moveTo>
                    <a:lnTo>
                      <a:pt x="0" y="122238"/>
                    </a:lnTo>
                  </a:path>
                </a:pathLst>
              </a:custGeom>
              <a:noFill/>
              <a:ln w="22225">
                <a:solidFill>
                  <a:srgbClr val="A8351D"/>
                </a:solidFill>
              </a:ln>
            </p:spPr>
          </p:sp>
          <p:sp>
            <p:nvSpPr>
              <p:cNvPr id="186" name="Freeform 186"/>
              <p:cNvSpPr/>
              <p:nvPr/>
            </p:nvSpPr>
            <p:spPr>
              <a:xfrm>
                <a:off x="10452101" y="1882775"/>
                <a:ext cx="9525" cy="122238"/>
              </a:xfrm>
              <a:custGeom>
                <a:avLst/>
                <a:gdLst/>
                <a:ahLst/>
                <a:cxnLst/>
                <a:rect l="l" t="t" r="r" b="b"/>
                <a:pathLst>
                  <a:path w="9525" h="122238">
                    <a:moveTo>
                      <a:pt x="0" y="0"/>
                    </a:moveTo>
                    <a:lnTo>
                      <a:pt x="0" y="122238"/>
                    </a:lnTo>
                  </a:path>
                </a:pathLst>
              </a:custGeom>
              <a:noFill/>
              <a:ln w="22225">
                <a:solidFill>
                  <a:srgbClr val="A8351D"/>
                </a:solidFill>
              </a:ln>
            </p:spPr>
          </p:sp>
          <p:sp>
            <p:nvSpPr>
              <p:cNvPr id="187" name="Freeform 187"/>
              <p:cNvSpPr/>
              <p:nvPr/>
            </p:nvSpPr>
            <p:spPr>
              <a:xfrm>
                <a:off x="10318750" y="1927225"/>
                <a:ext cx="9525" cy="33338"/>
              </a:xfrm>
              <a:custGeom>
                <a:avLst/>
                <a:gdLst/>
                <a:ahLst/>
                <a:cxnLst/>
                <a:rect l="l" t="t" r="r" b="b"/>
                <a:pathLst>
                  <a:path w="9525" h="33338">
                    <a:moveTo>
                      <a:pt x="0" y="0"/>
                    </a:moveTo>
                    <a:lnTo>
                      <a:pt x="0" y="33338"/>
                    </a:lnTo>
                  </a:path>
                </a:pathLst>
              </a:custGeom>
              <a:noFill/>
              <a:ln w="22225">
                <a:solidFill>
                  <a:srgbClr val="A8351D"/>
                </a:solidFill>
              </a:ln>
            </p:spPr>
          </p:sp>
          <p:sp>
            <p:nvSpPr>
              <p:cNvPr id="188" name="Freeform 188"/>
              <p:cNvSpPr/>
              <p:nvPr/>
            </p:nvSpPr>
            <p:spPr>
              <a:xfrm>
                <a:off x="10363200" y="1927225"/>
                <a:ext cx="9525" cy="33338"/>
              </a:xfrm>
              <a:custGeom>
                <a:avLst/>
                <a:gdLst/>
                <a:ahLst/>
                <a:cxnLst/>
                <a:rect l="l" t="t" r="r" b="b"/>
                <a:pathLst>
                  <a:path w="9525" h="33338">
                    <a:moveTo>
                      <a:pt x="0" y="0"/>
                    </a:moveTo>
                    <a:lnTo>
                      <a:pt x="0" y="33338"/>
                    </a:lnTo>
                  </a:path>
                </a:pathLst>
              </a:custGeom>
              <a:noFill/>
              <a:ln w="22225">
                <a:solidFill>
                  <a:srgbClr val="A8351D"/>
                </a:solidFill>
              </a:ln>
            </p:spPr>
          </p:sp>
          <p:sp>
            <p:nvSpPr>
              <p:cNvPr id="189" name="Freeform 189"/>
              <p:cNvSpPr/>
              <p:nvPr/>
            </p:nvSpPr>
            <p:spPr>
              <a:xfrm>
                <a:off x="10407651" y="1927225"/>
                <a:ext cx="9525" cy="33338"/>
              </a:xfrm>
              <a:custGeom>
                <a:avLst/>
                <a:gdLst/>
                <a:ahLst/>
                <a:cxnLst/>
                <a:rect l="l" t="t" r="r" b="b"/>
                <a:pathLst>
                  <a:path w="9525" h="33338">
                    <a:moveTo>
                      <a:pt x="0" y="0"/>
                    </a:moveTo>
                    <a:lnTo>
                      <a:pt x="0" y="33338"/>
                    </a:lnTo>
                  </a:path>
                </a:pathLst>
              </a:custGeom>
              <a:noFill/>
              <a:ln w="22225">
                <a:solidFill>
                  <a:srgbClr val="A8351D"/>
                </a:solidFill>
              </a:ln>
            </p:spPr>
          </p:sp>
        </p:grpSp>
        <p:sp>
          <p:nvSpPr>
            <p:cNvPr id="191" name="Ellipse 191"/>
            <p:cNvSpPr/>
            <p:nvPr/>
          </p:nvSpPr>
          <p:spPr>
            <a:xfrm>
              <a:off x="10191750" y="1104900"/>
              <a:ext cx="342900" cy="342900"/>
            </a:xfrm>
            <a:prstGeom prst="ellipse">
              <a:avLst/>
            </a:prstGeom>
            <a:solidFill>
              <a:srgbClr val="FFFFFF"/>
            </a:solidFill>
            <a:ln w="19050">
              <a:solidFill>
                <a:srgbClr val="A8351D"/>
              </a:solidFill>
            </a:ln>
          </p:spPr>
        </p:sp>
        <p:grpSp>
          <p:nvGrpSpPr>
            <p:cNvPr id="194" name="Group 194"/>
            <p:cNvGrpSpPr/>
            <p:nvPr/>
          </p:nvGrpSpPr>
          <p:grpSpPr>
            <a:xfrm>
              <a:off x="10298906" y="1212056"/>
              <a:ext cx="128587" cy="128587"/>
              <a:chOff x="10298906" y="1212056"/>
              <a:chExt cx="128587" cy="128587"/>
            </a:xfrm>
          </p:grpSpPr>
          <p:sp>
            <p:nvSpPr>
              <p:cNvPr id="192" name="Freeform 192"/>
              <p:cNvSpPr/>
              <p:nvPr/>
            </p:nvSpPr>
            <p:spPr>
              <a:xfrm>
                <a:off x="10298906" y="1212056"/>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A8351D"/>
                </a:solidFill>
              </a:ln>
            </p:spPr>
          </p:sp>
          <p:sp>
            <p:nvSpPr>
              <p:cNvPr id="193" name="Freeform 193"/>
              <p:cNvSpPr/>
              <p:nvPr/>
            </p:nvSpPr>
            <p:spPr>
              <a:xfrm>
                <a:off x="10384631" y="1297781"/>
                <a:ext cx="42862" cy="42862"/>
              </a:xfrm>
              <a:custGeom>
                <a:avLst/>
                <a:gdLst/>
                <a:ahLst/>
                <a:cxnLst/>
                <a:rect l="l" t="t" r="r" b="b"/>
                <a:pathLst>
                  <a:path w="42862" h="42862">
                    <a:moveTo>
                      <a:pt x="42862" y="42862"/>
                    </a:moveTo>
                    <a:lnTo>
                      <a:pt x="0" y="0"/>
                    </a:lnTo>
                  </a:path>
                </a:pathLst>
              </a:custGeom>
              <a:noFill/>
              <a:ln w="14288">
                <a:solidFill>
                  <a:srgbClr val="A8351D"/>
                </a:solidFill>
              </a:ln>
            </p:spPr>
          </p:sp>
        </p:grpSp>
        <p:sp>
          <p:nvSpPr>
            <p:cNvPr id="195" name="TextBox 195"/>
            <p:cNvSpPr txBox="1"/>
            <p:nvPr/>
          </p:nvSpPr>
          <p:spPr>
            <a:xfrm>
              <a:off x="10252088" y="981789"/>
              <a:ext cx="222225"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识别</a:t>
              </a:r>
            </a:p>
          </p:txBody>
        </p:sp>
        <p:sp>
          <p:nvSpPr>
            <p:cNvPr id="196" name="Ellipse 196"/>
            <p:cNvSpPr/>
            <p:nvPr/>
          </p:nvSpPr>
          <p:spPr>
            <a:xfrm>
              <a:off x="10789920" y="1539240"/>
              <a:ext cx="342900" cy="342900"/>
            </a:xfrm>
            <a:prstGeom prst="ellipse">
              <a:avLst/>
            </a:prstGeom>
            <a:solidFill>
              <a:srgbClr val="FFFFFF"/>
            </a:solidFill>
            <a:ln w="19050">
              <a:solidFill>
                <a:srgbClr val="A8351D"/>
              </a:solidFill>
            </a:ln>
          </p:spPr>
        </p:sp>
        <p:grpSp>
          <p:nvGrpSpPr>
            <p:cNvPr id="200" name="Group 200"/>
            <p:cNvGrpSpPr/>
            <p:nvPr/>
          </p:nvGrpSpPr>
          <p:grpSpPr>
            <a:xfrm>
              <a:off x="10897076" y="1646396"/>
              <a:ext cx="128588" cy="128587"/>
              <a:chOff x="10897076" y="1646396"/>
              <a:chExt cx="128588" cy="128587"/>
            </a:xfrm>
          </p:grpSpPr>
          <p:sp>
            <p:nvSpPr>
              <p:cNvPr id="197" name="Freeform 197"/>
              <p:cNvSpPr/>
              <p:nvPr/>
            </p:nvSpPr>
            <p:spPr>
              <a:xfrm>
                <a:off x="10897076" y="1646396"/>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A8351D"/>
                </a:solidFill>
              </a:ln>
            </p:spPr>
          </p:sp>
          <p:sp>
            <p:nvSpPr>
              <p:cNvPr id="198" name="Freeform 198"/>
              <p:cNvSpPr/>
              <p:nvPr/>
            </p:nvSpPr>
            <p:spPr>
              <a:xfrm>
                <a:off x="10922622" y="1674971"/>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A8351D"/>
                </a:solidFill>
              </a:ln>
            </p:spPr>
          </p:sp>
          <p:sp>
            <p:nvSpPr>
              <p:cNvPr id="199" name="Freeform 199"/>
              <p:cNvSpPr/>
              <p:nvPr/>
            </p:nvSpPr>
            <p:spPr>
              <a:xfrm>
                <a:off x="10944939" y="1746409"/>
                <a:ext cx="32861" cy="9525"/>
              </a:xfrm>
              <a:custGeom>
                <a:avLst/>
                <a:gdLst/>
                <a:ahLst/>
                <a:cxnLst/>
                <a:rect l="l" t="t" r="r" b="b"/>
                <a:pathLst>
                  <a:path w="32861" h="9525">
                    <a:moveTo>
                      <a:pt x="0" y="0"/>
                    </a:moveTo>
                    <a:lnTo>
                      <a:pt x="32861" y="0"/>
                    </a:lnTo>
                  </a:path>
                </a:pathLst>
              </a:custGeom>
              <a:noFill/>
              <a:ln w="14288">
                <a:solidFill>
                  <a:srgbClr val="A8351D"/>
                </a:solidFill>
              </a:ln>
            </p:spPr>
          </p:sp>
        </p:grpSp>
        <p:sp>
          <p:nvSpPr>
            <p:cNvPr id="201" name="TextBox 201"/>
            <p:cNvSpPr txBox="1"/>
            <p:nvPr/>
          </p:nvSpPr>
          <p:spPr>
            <a:xfrm>
              <a:off x="11215688" y="1667589"/>
              <a:ext cx="222225"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推荐</a:t>
              </a:r>
            </a:p>
          </p:txBody>
        </p:sp>
        <p:sp>
          <p:nvSpPr>
            <p:cNvPr id="202" name="Ellipse 202"/>
            <p:cNvSpPr/>
            <p:nvPr/>
          </p:nvSpPr>
          <p:spPr>
            <a:xfrm>
              <a:off x="10561320" y="2242185"/>
              <a:ext cx="342900" cy="342900"/>
            </a:xfrm>
            <a:prstGeom prst="ellipse">
              <a:avLst/>
            </a:prstGeom>
            <a:solidFill>
              <a:srgbClr val="FFFFFF"/>
            </a:solidFill>
            <a:ln w="19050">
              <a:solidFill>
                <a:srgbClr val="A8351D"/>
              </a:solidFill>
            </a:ln>
          </p:spPr>
        </p:sp>
        <p:grpSp>
          <p:nvGrpSpPr>
            <p:cNvPr id="206" name="Group 206"/>
            <p:cNvGrpSpPr/>
            <p:nvPr/>
          </p:nvGrpSpPr>
          <p:grpSpPr>
            <a:xfrm>
              <a:off x="10668476" y="2349341"/>
              <a:ext cx="128588" cy="128587"/>
              <a:chOff x="10668476" y="2349341"/>
              <a:chExt cx="128588" cy="128587"/>
            </a:xfrm>
          </p:grpSpPr>
          <p:sp>
            <p:nvSpPr>
              <p:cNvPr id="203" name="Freeform 203"/>
              <p:cNvSpPr/>
              <p:nvPr/>
            </p:nvSpPr>
            <p:spPr>
              <a:xfrm>
                <a:off x="10725626" y="240649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A8351D"/>
                </a:solidFill>
              </a:ln>
            </p:spPr>
          </p:sp>
          <p:sp>
            <p:nvSpPr>
              <p:cNvPr id="204" name="Freeform 204"/>
              <p:cNvSpPr/>
              <p:nvPr/>
            </p:nvSpPr>
            <p:spPr>
              <a:xfrm>
                <a:off x="10697051" y="2377916"/>
                <a:ext cx="71438" cy="71437"/>
              </a:xfrm>
              <a:custGeom>
                <a:avLst/>
                <a:gdLst/>
                <a:ahLst/>
                <a:cxnLst/>
                <a:rect l="l" t="t" r="r" b="b"/>
                <a:pathLst>
                  <a:path w="71438" h="71437">
                    <a:moveTo>
                      <a:pt x="0" y="35719"/>
                    </a:moveTo>
                    <a:cubicBezTo>
                      <a:pt x="0" y="55446"/>
                      <a:pt x="15992" y="71437"/>
                      <a:pt x="35719" y="71437"/>
                    </a:cubicBezTo>
                    <a:cubicBezTo>
                      <a:pt x="55446" y="71437"/>
                      <a:pt x="71438" y="55446"/>
                      <a:pt x="71438" y="35719"/>
                    </a:cubicBezTo>
                    <a:cubicBezTo>
                      <a:pt x="71438" y="15992"/>
                      <a:pt x="55446" y="0"/>
                      <a:pt x="35719" y="0"/>
                    </a:cubicBezTo>
                    <a:cubicBezTo>
                      <a:pt x="15992" y="0"/>
                      <a:pt x="0" y="15992"/>
                      <a:pt x="0" y="35719"/>
                    </a:cubicBezTo>
                  </a:path>
                </a:pathLst>
              </a:custGeom>
              <a:noFill/>
              <a:ln w="14288">
                <a:solidFill>
                  <a:srgbClr val="A8351D"/>
                </a:solidFill>
              </a:ln>
            </p:spPr>
          </p:sp>
          <p:sp>
            <p:nvSpPr>
              <p:cNvPr id="205" name="Freeform 205"/>
              <p:cNvSpPr/>
              <p:nvPr/>
            </p:nvSpPr>
            <p:spPr>
              <a:xfrm>
                <a:off x="10668476" y="2349341"/>
                <a:ext cx="128588" cy="128587"/>
              </a:xfrm>
              <a:custGeom>
                <a:avLst/>
                <a:gdLst/>
                <a:ahLst/>
                <a:cxnLst/>
                <a:rect l="l" t="t" r="r" b="b"/>
                <a:pathLst>
                  <a:path w="128588" h="128587">
                    <a:moveTo>
                      <a:pt x="0" y="64294"/>
                    </a:moveTo>
                    <a:cubicBezTo>
                      <a:pt x="0" y="99802"/>
                      <a:pt x="28785" y="128587"/>
                      <a:pt x="64294" y="128587"/>
                    </a:cubicBezTo>
                    <a:cubicBezTo>
                      <a:pt x="99802" y="128587"/>
                      <a:pt x="128588" y="99802"/>
                      <a:pt x="128588" y="64294"/>
                    </a:cubicBezTo>
                    <a:cubicBezTo>
                      <a:pt x="128588" y="28785"/>
                      <a:pt x="99802" y="0"/>
                      <a:pt x="64294" y="0"/>
                    </a:cubicBezTo>
                    <a:cubicBezTo>
                      <a:pt x="28785" y="0"/>
                      <a:pt x="0" y="28785"/>
                      <a:pt x="0" y="64294"/>
                    </a:cubicBezTo>
                  </a:path>
                </a:pathLst>
              </a:custGeom>
              <a:noFill/>
              <a:ln w="14288">
                <a:solidFill>
                  <a:srgbClr val="A8351D"/>
                </a:solidFill>
              </a:ln>
            </p:spPr>
          </p:sp>
        </p:grpSp>
        <p:sp>
          <p:nvSpPr>
            <p:cNvPr id="207" name="TextBox 207"/>
            <p:cNvSpPr txBox="1"/>
            <p:nvPr/>
          </p:nvSpPr>
          <p:spPr>
            <a:xfrm>
              <a:off x="10968038" y="2543889"/>
              <a:ext cx="222225"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触达</a:t>
              </a:r>
            </a:p>
          </p:txBody>
        </p:sp>
        <p:sp>
          <p:nvSpPr>
            <p:cNvPr id="208" name="Ellipse 208"/>
            <p:cNvSpPr/>
            <p:nvPr/>
          </p:nvSpPr>
          <p:spPr>
            <a:xfrm>
              <a:off x="9822180" y="2242185"/>
              <a:ext cx="342900" cy="342900"/>
            </a:xfrm>
            <a:prstGeom prst="ellipse">
              <a:avLst/>
            </a:prstGeom>
            <a:solidFill>
              <a:srgbClr val="FFFFFF"/>
            </a:solidFill>
            <a:ln w="19050">
              <a:solidFill>
                <a:srgbClr val="A8351D"/>
              </a:solidFill>
            </a:ln>
          </p:spPr>
        </p:sp>
        <p:sp>
          <p:nvSpPr>
            <p:cNvPr id="209" name="Freeform 209"/>
            <p:cNvSpPr/>
            <p:nvPr/>
          </p:nvSpPr>
          <p:spPr>
            <a:xfrm>
              <a:off x="9922021" y="2350949"/>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A8351D"/>
              </a:solidFill>
            </a:ln>
          </p:spPr>
        </p:sp>
        <p:sp>
          <p:nvSpPr>
            <p:cNvPr id="210" name="TextBox 210"/>
            <p:cNvSpPr txBox="1"/>
            <p:nvPr/>
          </p:nvSpPr>
          <p:spPr>
            <a:xfrm>
              <a:off x="9536138" y="2543889"/>
              <a:ext cx="222225" cy="154781"/>
            </a:xfrm>
            <a:prstGeom prst="rect">
              <a:avLst/>
            </a:prstGeom>
            <a:noFill/>
            <a:ln>
              <a:noFill/>
            </a:ln>
          </p:spPr>
          <p:txBody>
            <a:bodyPr wrap="none" lIns="0" tIns="0" rIns="0" bIns="0" anchor="t" anchorCtr="0">
              <a:spAutoFit/>
            </a:bodyPr>
            <a:lstStyle/>
            <a:p>
              <a:pPr algn="r"/>
              <a:r>
                <a:rPr lang="zh-CN" sz="790" b="1" dirty="0">
                  <a:solidFill>
                    <a:srgbClr val="67281B"/>
                  </a:solidFill>
                  <a:latin typeface="+mn-lt"/>
                  <a:ea typeface="+mn-ea"/>
                  <a:cs typeface="+mn-cs"/>
                </a:rPr>
                <a:t>反馈</a:t>
              </a:r>
            </a:p>
          </p:txBody>
        </p:sp>
        <p:sp>
          <p:nvSpPr>
            <p:cNvPr id="211" name="Ellipse 211"/>
            <p:cNvSpPr/>
            <p:nvPr/>
          </p:nvSpPr>
          <p:spPr>
            <a:xfrm>
              <a:off x="9593580" y="1539240"/>
              <a:ext cx="342900" cy="342900"/>
            </a:xfrm>
            <a:prstGeom prst="ellipse">
              <a:avLst/>
            </a:prstGeom>
            <a:solidFill>
              <a:srgbClr val="FFFFFF"/>
            </a:solidFill>
            <a:ln w="19050">
              <a:solidFill>
                <a:srgbClr val="A8351D"/>
              </a:solidFill>
            </a:ln>
          </p:spPr>
        </p:sp>
        <p:grpSp>
          <p:nvGrpSpPr>
            <p:cNvPr id="214" name="Group 214"/>
            <p:cNvGrpSpPr/>
            <p:nvPr/>
          </p:nvGrpSpPr>
          <p:grpSpPr>
            <a:xfrm>
              <a:off x="9707880" y="1650784"/>
              <a:ext cx="114300" cy="119813"/>
              <a:chOff x="9707880" y="1650784"/>
              <a:chExt cx="114300" cy="119813"/>
            </a:xfrm>
          </p:grpSpPr>
          <p:sp>
            <p:nvSpPr>
              <p:cNvPr id="212" name="Freeform 212"/>
              <p:cNvSpPr/>
              <p:nvPr/>
            </p:nvSpPr>
            <p:spPr>
              <a:xfrm>
                <a:off x="9707880" y="1650784"/>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A8351D"/>
                </a:solidFill>
              </a:ln>
            </p:spPr>
          </p:sp>
          <p:sp>
            <p:nvSpPr>
              <p:cNvPr id="213" name="Freeform 213"/>
              <p:cNvSpPr/>
              <p:nvPr/>
            </p:nvSpPr>
            <p:spPr>
              <a:xfrm>
                <a:off x="9707880" y="1717834"/>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A8351D"/>
                </a:solidFill>
              </a:ln>
            </p:spPr>
          </p:sp>
        </p:grpSp>
        <p:sp>
          <p:nvSpPr>
            <p:cNvPr id="215" name="TextBox 215"/>
            <p:cNvSpPr txBox="1"/>
            <p:nvPr/>
          </p:nvSpPr>
          <p:spPr>
            <a:xfrm>
              <a:off x="9288488" y="1667589"/>
              <a:ext cx="222225" cy="154781"/>
            </a:xfrm>
            <a:prstGeom prst="rect">
              <a:avLst/>
            </a:prstGeom>
            <a:noFill/>
            <a:ln>
              <a:noFill/>
            </a:ln>
          </p:spPr>
          <p:txBody>
            <a:bodyPr wrap="none" lIns="0" tIns="0" rIns="0" bIns="0" anchor="t" anchorCtr="0">
              <a:spAutoFit/>
            </a:bodyPr>
            <a:lstStyle/>
            <a:p>
              <a:pPr algn="r"/>
              <a:r>
                <a:rPr lang="zh-CN" sz="790" b="1" dirty="0">
                  <a:solidFill>
                    <a:srgbClr val="67281B"/>
                  </a:solidFill>
                  <a:latin typeface="+mn-lt"/>
                  <a:ea typeface="+mn-ea"/>
                  <a:cs typeface="+mn-cs"/>
                </a:rPr>
                <a:t>优化</a:t>
              </a:r>
            </a:p>
          </p:txBody>
        </p:sp>
      </p:grpSp>
      <p:grpSp>
        <p:nvGrpSpPr>
          <p:cNvPr id="240" name="nba-governance"/>
          <p:cNvGrpSpPr/>
          <p:nvPr/>
        </p:nvGrpSpPr>
        <p:grpSpPr>
          <a:xfrm>
            <a:off x="8915400" y="2971800"/>
            <a:ext cx="2895600" cy="2171700"/>
            <a:chOff x="8915400" y="2971800"/>
            <a:chExt cx="2895600" cy="2171700"/>
          </a:xfrm>
        </p:grpSpPr>
        <p:sp>
          <p:nvSpPr>
            <p:cNvPr id="217" name="Rectangle 217"/>
            <p:cNvSpPr/>
            <p:nvPr/>
          </p:nvSpPr>
          <p:spPr>
            <a:xfrm>
              <a:off x="8915400" y="2971800"/>
              <a:ext cx="2895600" cy="2171700"/>
            </a:xfrm>
            <a:prstGeom prst="roundRect">
              <a:avLst>
                <a:gd name="adj" fmla="val 4386"/>
              </a:avLst>
            </a:prstGeom>
            <a:solidFill>
              <a:srgbClr val="F9FBFE"/>
            </a:solidFill>
            <a:ln w="9525">
              <a:solidFill>
                <a:srgbClr val="C9D8EF"/>
              </a:solidFill>
            </a:ln>
          </p:spPr>
        </p:sp>
        <p:sp>
          <p:nvSpPr>
            <p:cNvPr id="218" name="Rectangle 218"/>
            <p:cNvSpPr/>
            <p:nvPr/>
          </p:nvSpPr>
          <p:spPr>
            <a:xfrm>
              <a:off x="9601200" y="2971800"/>
              <a:ext cx="1524000" cy="266700"/>
            </a:xfrm>
            <a:prstGeom prst="roundRect">
              <a:avLst>
                <a:gd name="adj" fmla="val 14286"/>
              </a:avLst>
            </a:prstGeom>
            <a:gradFill>
              <a:gsLst>
                <a:gs pos="0">
                  <a:srgbClr val="AD3921"/>
                </a:gs>
                <a:gs pos="100000">
                  <a:srgbClr val="962C16"/>
                </a:gs>
              </a:gsLst>
              <a:lin ang="5400000" scaled="1"/>
            </a:gradFill>
            <a:ln>
              <a:noFill/>
            </a:ln>
          </p:spPr>
        </p:sp>
        <p:sp>
          <p:nvSpPr>
            <p:cNvPr id="219" name="TextBox 219"/>
            <p:cNvSpPr txBox="1"/>
            <p:nvPr/>
          </p:nvSpPr>
          <p:spPr>
            <a:xfrm>
              <a:off x="9897453" y="3047524"/>
              <a:ext cx="93149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NBA模型治理​​</a:t>
              </a:r>
            </a:p>
          </p:txBody>
        </p:sp>
        <p:sp>
          <p:nvSpPr>
            <p:cNvPr id="220" name="Rectangle 220"/>
            <p:cNvSpPr/>
            <p:nvPr/>
          </p:nvSpPr>
          <p:spPr>
            <a:xfrm>
              <a:off x="9048750" y="3352800"/>
              <a:ext cx="2628900" cy="381000"/>
            </a:xfrm>
            <a:prstGeom prst="roundRect">
              <a:avLst>
                <a:gd name="adj" fmla="val 15000"/>
              </a:avLst>
            </a:prstGeom>
            <a:solidFill>
              <a:srgbClr val="FFFFFF"/>
            </a:solidFill>
            <a:ln w="9525">
              <a:solidFill>
                <a:srgbClr val="C9D8EF"/>
              </a:solidFill>
            </a:ln>
          </p:spPr>
        </p:sp>
        <p:grpSp>
          <p:nvGrpSpPr>
            <p:cNvPr id="224" name="Group 224"/>
            <p:cNvGrpSpPr/>
            <p:nvPr/>
          </p:nvGrpSpPr>
          <p:grpSpPr>
            <a:xfrm>
              <a:off x="9229725" y="3471862"/>
              <a:ext cx="119062" cy="142875"/>
              <a:chOff x="9229725" y="3471862"/>
              <a:chExt cx="119062" cy="142875"/>
            </a:xfrm>
          </p:grpSpPr>
          <p:sp>
            <p:nvSpPr>
              <p:cNvPr id="221" name="Freeform 221"/>
              <p:cNvSpPr/>
              <p:nvPr/>
            </p:nvSpPr>
            <p:spPr>
              <a:xfrm>
                <a:off x="9245600" y="34718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A8351D"/>
                </a:solidFill>
              </a:ln>
            </p:spPr>
          </p:sp>
          <p:sp>
            <p:nvSpPr>
              <p:cNvPr id="222" name="Freeform 222"/>
              <p:cNvSpPr/>
              <p:nvPr/>
            </p:nvSpPr>
            <p:spPr>
              <a:xfrm>
                <a:off x="9229725" y="356711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A8351D"/>
                </a:solidFill>
              </a:ln>
            </p:spPr>
          </p:sp>
          <p:sp>
            <p:nvSpPr>
              <p:cNvPr id="223" name="Freeform 223"/>
              <p:cNvSpPr/>
              <p:nvPr/>
            </p:nvSpPr>
            <p:spPr>
              <a:xfrm>
                <a:off x="9301162" y="3582987"/>
                <a:ext cx="47625" cy="31750"/>
              </a:xfrm>
              <a:custGeom>
                <a:avLst/>
                <a:gdLst/>
                <a:ahLst/>
                <a:cxnLst/>
                <a:rect l="l" t="t" r="r" b="b"/>
                <a:pathLst>
                  <a:path w="47625" h="31750">
                    <a:moveTo>
                      <a:pt x="0" y="15875"/>
                    </a:moveTo>
                    <a:lnTo>
                      <a:pt x="15875" y="31750"/>
                    </a:lnTo>
                    <a:lnTo>
                      <a:pt x="47625" y="0"/>
                    </a:lnTo>
                  </a:path>
                </a:pathLst>
              </a:custGeom>
              <a:noFill/>
              <a:ln w="15875">
                <a:solidFill>
                  <a:srgbClr val="A8351D"/>
                </a:solidFill>
              </a:ln>
            </p:spPr>
          </p:sp>
        </p:grpSp>
        <p:sp>
          <p:nvSpPr>
            <p:cNvPr id="225" name="TextBox 225"/>
            <p:cNvSpPr txBox="1"/>
            <p:nvPr/>
          </p:nvSpPr>
          <p:spPr>
            <a:xfrm>
              <a:off x="9501188" y="34897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人工审核</a:t>
              </a:r>
            </a:p>
          </p:txBody>
        </p:sp>
        <p:sp>
          <p:nvSpPr>
            <p:cNvPr id="226" name="Rectangle 226"/>
            <p:cNvSpPr/>
            <p:nvPr/>
          </p:nvSpPr>
          <p:spPr>
            <a:xfrm>
              <a:off x="9048750" y="3810000"/>
              <a:ext cx="2628900" cy="381000"/>
            </a:xfrm>
            <a:prstGeom prst="roundRect">
              <a:avLst>
                <a:gd name="adj" fmla="val 15000"/>
              </a:avLst>
            </a:prstGeom>
            <a:solidFill>
              <a:srgbClr val="FFFFFF"/>
            </a:solidFill>
            <a:ln w="9525">
              <a:solidFill>
                <a:srgbClr val="C9D8EF"/>
              </a:solidFill>
            </a:ln>
          </p:spPr>
        </p:sp>
        <p:grpSp>
          <p:nvGrpSpPr>
            <p:cNvPr id="230" name="Group 230"/>
            <p:cNvGrpSpPr/>
            <p:nvPr/>
          </p:nvGrpSpPr>
          <p:grpSpPr>
            <a:xfrm>
              <a:off x="9221787" y="3929062"/>
              <a:ext cx="111125" cy="142875"/>
              <a:chOff x="9221787" y="3929062"/>
              <a:chExt cx="111125" cy="142875"/>
            </a:xfrm>
          </p:grpSpPr>
          <p:sp>
            <p:nvSpPr>
              <p:cNvPr id="227" name="Freeform 227"/>
              <p:cNvSpPr/>
              <p:nvPr/>
            </p:nvSpPr>
            <p:spPr>
              <a:xfrm>
                <a:off x="9221787" y="3992562"/>
                <a:ext cx="111125" cy="79375"/>
              </a:xfrm>
              <a:custGeom>
                <a:avLst/>
                <a:gdLst/>
                <a:ahLst/>
                <a:cxnLst/>
                <a:rect l="l" t="t" r="r" b="b"/>
                <a:pathLst>
                  <a:path w="111125" h="79375">
                    <a:moveTo>
                      <a:pt x="0" y="15875"/>
                    </a:moveTo>
                    <a:cubicBezTo>
                      <a:pt x="0" y="7107"/>
                      <a:pt x="7107" y="0"/>
                      <a:pt x="15875" y="0"/>
                    </a:cubicBezTo>
                    <a:lnTo>
                      <a:pt x="95250" y="0"/>
                    </a:lnTo>
                    <a:cubicBezTo>
                      <a:pt x="104017" y="0"/>
                      <a:pt x="111125" y="7107"/>
                      <a:pt x="111125" y="15875"/>
                    </a:cubicBezTo>
                    <a:lnTo>
                      <a:pt x="111125" y="63500"/>
                    </a:lnTo>
                    <a:cubicBezTo>
                      <a:pt x="111125" y="72267"/>
                      <a:pt x="104017" y="79375"/>
                      <a:pt x="95250" y="79375"/>
                    </a:cubicBezTo>
                    <a:lnTo>
                      <a:pt x="15875" y="79375"/>
                    </a:lnTo>
                    <a:cubicBezTo>
                      <a:pt x="7107" y="79375"/>
                      <a:pt x="0" y="72267"/>
                      <a:pt x="0" y="63500"/>
                    </a:cubicBezTo>
                    <a:lnTo>
                      <a:pt x="0" y="15875"/>
                    </a:lnTo>
                  </a:path>
                </a:pathLst>
              </a:custGeom>
              <a:noFill/>
              <a:ln w="15875">
                <a:solidFill>
                  <a:srgbClr val="A8351D"/>
                </a:solidFill>
              </a:ln>
            </p:spPr>
          </p:sp>
          <p:sp>
            <p:nvSpPr>
              <p:cNvPr id="228" name="Freeform 228"/>
              <p:cNvSpPr/>
              <p:nvPr/>
            </p:nvSpPr>
            <p:spPr>
              <a:xfrm>
                <a:off x="9269412" y="40243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A8351D"/>
                </a:solidFill>
              </a:ln>
            </p:spPr>
          </p:sp>
          <p:sp>
            <p:nvSpPr>
              <p:cNvPr id="229" name="Freeform 229"/>
              <p:cNvSpPr/>
              <p:nvPr/>
            </p:nvSpPr>
            <p:spPr>
              <a:xfrm>
                <a:off x="9245600" y="3929062"/>
                <a:ext cx="63500" cy="63500"/>
              </a:xfrm>
              <a:custGeom>
                <a:avLst/>
                <a:gdLst/>
                <a:ahLst/>
                <a:cxnLst/>
                <a:rect l="l" t="t" r="r" b="b"/>
                <a:pathLst>
                  <a:path w="63500" h="63500">
                    <a:moveTo>
                      <a:pt x="0" y="63500"/>
                    </a:moveTo>
                    <a:lnTo>
                      <a:pt x="0" y="31750"/>
                    </a:lnTo>
                    <a:cubicBezTo>
                      <a:pt x="0" y="14215"/>
                      <a:pt x="14215" y="0"/>
                      <a:pt x="31750" y="0"/>
                    </a:cubicBezTo>
                    <a:cubicBezTo>
                      <a:pt x="49285" y="0"/>
                      <a:pt x="63500" y="14215"/>
                      <a:pt x="63500" y="31750"/>
                    </a:cubicBezTo>
                    <a:lnTo>
                      <a:pt x="63500" y="63500"/>
                    </a:lnTo>
                  </a:path>
                </a:pathLst>
              </a:custGeom>
              <a:noFill/>
              <a:ln w="15875">
                <a:solidFill>
                  <a:srgbClr val="A8351D"/>
                </a:solidFill>
              </a:ln>
            </p:spPr>
          </p:sp>
        </p:grpSp>
        <p:sp>
          <p:nvSpPr>
            <p:cNvPr id="231" name="TextBox 231"/>
            <p:cNvSpPr txBox="1"/>
            <p:nvPr/>
          </p:nvSpPr>
          <p:spPr>
            <a:xfrm>
              <a:off x="9501188" y="39469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客户授权</a:t>
              </a:r>
            </a:p>
          </p:txBody>
        </p:sp>
        <p:sp>
          <p:nvSpPr>
            <p:cNvPr id="232" name="Rectangle 232"/>
            <p:cNvSpPr/>
            <p:nvPr/>
          </p:nvSpPr>
          <p:spPr>
            <a:xfrm>
              <a:off x="9048750" y="4267200"/>
              <a:ext cx="2628900" cy="381000"/>
            </a:xfrm>
            <a:prstGeom prst="roundRect">
              <a:avLst>
                <a:gd name="adj" fmla="val 15000"/>
              </a:avLst>
            </a:prstGeom>
            <a:solidFill>
              <a:srgbClr val="FFFFFF"/>
            </a:solidFill>
            <a:ln w="9525">
              <a:solidFill>
                <a:srgbClr val="C9D8EF"/>
              </a:solidFill>
            </a:ln>
          </p:spPr>
        </p:sp>
        <p:grpSp>
          <p:nvGrpSpPr>
            <p:cNvPr id="235" name="Group 235"/>
            <p:cNvGrpSpPr/>
            <p:nvPr/>
          </p:nvGrpSpPr>
          <p:grpSpPr>
            <a:xfrm>
              <a:off x="9213850" y="4386262"/>
              <a:ext cx="127000" cy="142875"/>
              <a:chOff x="9213850" y="4386262"/>
              <a:chExt cx="127000" cy="142875"/>
            </a:xfrm>
          </p:grpSpPr>
          <p:sp>
            <p:nvSpPr>
              <p:cNvPr id="233" name="Freeform 233"/>
              <p:cNvSpPr/>
              <p:nvPr/>
            </p:nvSpPr>
            <p:spPr>
              <a:xfrm>
                <a:off x="9213850" y="4386262"/>
                <a:ext cx="127000" cy="111125"/>
              </a:xfrm>
              <a:custGeom>
                <a:avLst/>
                <a:gdLst/>
                <a:ahLst/>
                <a:cxnLst/>
                <a:rect l="l" t="t" r="r" b="b"/>
                <a:pathLst>
                  <a:path w="127000" h="111125">
                    <a:moveTo>
                      <a:pt x="47625" y="15875"/>
                    </a:moveTo>
                    <a:cubicBezTo>
                      <a:pt x="47625" y="7107"/>
                      <a:pt x="54732" y="0"/>
                      <a:pt x="63500" y="0"/>
                    </a:cubicBezTo>
                    <a:cubicBezTo>
                      <a:pt x="72267" y="0"/>
                      <a:pt x="79375" y="7107"/>
                      <a:pt x="79375" y="15875"/>
                    </a:cubicBezTo>
                    <a:cubicBezTo>
                      <a:pt x="97950" y="24658"/>
                      <a:pt x="110162" y="42976"/>
                      <a:pt x="111125" y="63500"/>
                    </a:cubicBezTo>
                    <a:lnTo>
                      <a:pt x="111125" y="87312"/>
                    </a:lnTo>
                    <a:cubicBezTo>
                      <a:pt x="112336" y="97320"/>
                      <a:pt x="118228" y="106158"/>
                      <a:pt x="127000" y="111125"/>
                    </a:cubicBezTo>
                    <a:lnTo>
                      <a:pt x="0" y="111125"/>
                    </a:lnTo>
                    <a:cubicBezTo>
                      <a:pt x="8772" y="106158"/>
                      <a:pt x="14664" y="97320"/>
                      <a:pt x="15875" y="87312"/>
                    </a:cubicBezTo>
                    <a:lnTo>
                      <a:pt x="15875" y="63500"/>
                    </a:lnTo>
                    <a:cubicBezTo>
                      <a:pt x="16838" y="42976"/>
                      <a:pt x="29050" y="24658"/>
                      <a:pt x="47625" y="15875"/>
                    </a:cubicBezTo>
                  </a:path>
                </a:pathLst>
              </a:custGeom>
              <a:noFill/>
              <a:ln w="15875">
                <a:solidFill>
                  <a:srgbClr val="A8351D"/>
                </a:solidFill>
              </a:ln>
            </p:spPr>
          </p:sp>
          <p:sp>
            <p:nvSpPr>
              <p:cNvPr id="234" name="Freeform 234"/>
              <p:cNvSpPr/>
              <p:nvPr/>
            </p:nvSpPr>
            <p:spPr>
              <a:xfrm>
                <a:off x="9253537" y="4497387"/>
                <a:ext cx="47625" cy="31750"/>
              </a:xfrm>
              <a:custGeom>
                <a:avLst/>
                <a:gdLst/>
                <a:ahLst/>
                <a:cxnLst/>
                <a:rect l="l" t="t" r="r" b="b"/>
                <a:pathLst>
                  <a:path w="47625" h="31750">
                    <a:moveTo>
                      <a:pt x="0" y="0"/>
                    </a:moveTo>
                    <a:lnTo>
                      <a:pt x="0" y="7937"/>
                    </a:lnTo>
                    <a:cubicBezTo>
                      <a:pt x="0" y="21089"/>
                      <a:pt x="10661" y="31750"/>
                      <a:pt x="23812" y="31750"/>
                    </a:cubicBezTo>
                    <a:cubicBezTo>
                      <a:pt x="36964" y="31750"/>
                      <a:pt x="47625" y="21089"/>
                      <a:pt x="47625" y="7937"/>
                    </a:cubicBezTo>
                    <a:lnTo>
                      <a:pt x="47625" y="0"/>
                    </a:lnTo>
                  </a:path>
                </a:pathLst>
              </a:custGeom>
              <a:noFill/>
              <a:ln w="15875">
                <a:solidFill>
                  <a:srgbClr val="A8351D"/>
                </a:solidFill>
              </a:ln>
            </p:spPr>
          </p:sp>
        </p:grpSp>
        <p:sp>
          <p:nvSpPr>
            <p:cNvPr id="236" name="TextBox 236"/>
            <p:cNvSpPr txBox="1"/>
            <p:nvPr/>
          </p:nvSpPr>
          <p:spPr>
            <a:xfrm>
              <a:off x="9501188" y="4404122"/>
              <a:ext cx="515696"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触达频控</a:t>
              </a:r>
            </a:p>
          </p:txBody>
        </p:sp>
        <p:sp>
          <p:nvSpPr>
            <p:cNvPr id="237" name="Rectangle 237"/>
            <p:cNvSpPr/>
            <p:nvPr/>
          </p:nvSpPr>
          <p:spPr>
            <a:xfrm>
              <a:off x="9048750" y="4724400"/>
              <a:ext cx="2628900" cy="381000"/>
            </a:xfrm>
            <a:prstGeom prst="roundRect">
              <a:avLst>
                <a:gd name="adj" fmla="val 15000"/>
              </a:avLst>
            </a:prstGeom>
            <a:solidFill>
              <a:srgbClr val="FFFFFF"/>
            </a:solidFill>
            <a:ln w="9525">
              <a:solidFill>
                <a:srgbClr val="C9D8EF"/>
              </a:solidFill>
            </a:ln>
          </p:spPr>
        </p:sp>
        <p:sp>
          <p:nvSpPr>
            <p:cNvPr id="238" name="Freeform 238"/>
            <p:cNvSpPr/>
            <p:nvPr/>
          </p:nvSpPr>
          <p:spPr>
            <a:xfrm>
              <a:off x="9197784" y="484524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A8351D"/>
              </a:solidFill>
            </a:ln>
          </p:spPr>
        </p:sp>
        <p:sp>
          <p:nvSpPr>
            <p:cNvPr id="239" name="TextBox 239"/>
            <p:cNvSpPr txBox="1"/>
            <p:nvPr/>
          </p:nvSpPr>
          <p:spPr>
            <a:xfrm>
              <a:off x="9501188" y="4861322"/>
              <a:ext cx="642239" cy="183356"/>
            </a:xfrm>
            <a:prstGeom prst="rect">
              <a:avLst/>
            </a:prstGeom>
            <a:noFill/>
            <a:ln>
              <a:noFill/>
            </a:ln>
          </p:spPr>
          <p:txBody>
            <a:bodyPr wrap="none" lIns="0" tIns="0" rIns="0" bIns="0" anchor="t" anchorCtr="0">
              <a:spAutoFit/>
            </a:bodyPr>
            <a:lstStyle/>
            <a:p>
              <a:pPr algn="l"/>
              <a:r>
                <a:rPr lang="zh-CN" sz="940" b="1" dirty="0">
                  <a:solidFill>
                    <a:srgbClr val="67281B"/>
                  </a:solidFill>
                  <a:latin typeface="+mn-lt"/>
                  <a:ea typeface="+mn-ea"/>
                  <a:cs typeface="+mn-cs"/>
                </a:rPr>
                <a:t>可解释原因</a:t>
              </a:r>
            </a:p>
          </p:txBody>
        </p:sp>
      </p:grpSp>
      <p:grpSp>
        <p:nvGrpSpPr>
          <p:cNvPr id="272" name="kpi-row"/>
          <p:cNvGrpSpPr/>
          <p:nvPr/>
        </p:nvGrpSpPr>
        <p:grpSpPr>
          <a:xfrm>
            <a:off x="381000" y="5334000"/>
            <a:ext cx="11430000" cy="1333500"/>
            <a:chOff x="381000" y="5334000"/>
            <a:chExt cx="11430000" cy="1333500"/>
          </a:xfrm>
        </p:grpSpPr>
        <p:sp>
          <p:nvSpPr>
            <p:cNvPr id="241" name="Rectangle 241"/>
            <p:cNvSpPr/>
            <p:nvPr/>
          </p:nvSpPr>
          <p:spPr>
            <a:xfrm>
              <a:off x="381000" y="5334000"/>
              <a:ext cx="2762250" cy="1333500"/>
            </a:xfrm>
            <a:prstGeom prst="roundRect">
              <a:avLst>
                <a:gd name="adj" fmla="val 7143"/>
              </a:avLst>
            </a:prstGeom>
            <a:solidFill>
              <a:srgbClr val="F9FBFE"/>
            </a:solidFill>
            <a:ln w="9525">
              <a:solidFill>
                <a:srgbClr val="C9D8EF"/>
              </a:solidFill>
            </a:ln>
          </p:spPr>
        </p:sp>
        <p:sp>
          <p:nvSpPr>
            <p:cNvPr id="242" name="Ellipse 242"/>
            <p:cNvSpPr/>
            <p:nvPr/>
          </p:nvSpPr>
          <p:spPr>
            <a:xfrm>
              <a:off x="571500" y="5753100"/>
              <a:ext cx="495300" cy="495300"/>
            </a:xfrm>
            <a:prstGeom prst="ellipse">
              <a:avLst/>
            </a:prstGeom>
            <a:solidFill>
              <a:srgbClr val="A8351D"/>
            </a:solidFill>
            <a:ln>
              <a:noFill/>
            </a:ln>
          </p:spPr>
        </p:sp>
        <p:grpSp>
          <p:nvGrpSpPr>
            <p:cNvPr id="246" name="Group 246"/>
            <p:cNvGrpSpPr/>
            <p:nvPr/>
          </p:nvGrpSpPr>
          <p:grpSpPr>
            <a:xfrm>
              <a:off x="719138" y="5900738"/>
              <a:ext cx="200026" cy="200026"/>
              <a:chOff x="719138" y="5900738"/>
              <a:chExt cx="200026" cy="200026"/>
            </a:xfrm>
          </p:grpSpPr>
          <p:sp>
            <p:nvSpPr>
              <p:cNvPr id="243" name="Freeform 243"/>
              <p:cNvSpPr/>
              <p:nvPr/>
            </p:nvSpPr>
            <p:spPr>
              <a:xfrm>
                <a:off x="719138" y="5900738"/>
                <a:ext cx="200026" cy="200026"/>
              </a:xfrm>
              <a:custGeom>
                <a:avLst/>
                <a:gdLst/>
                <a:ahLst/>
                <a:cxnLst/>
                <a:rect l="l" t="t" r="r" b="b"/>
                <a:pathLst>
                  <a:path w="200026" h="200026">
                    <a:moveTo>
                      <a:pt x="133350" y="200026"/>
                    </a:moveTo>
                    <a:lnTo>
                      <a:pt x="33338" y="200026"/>
                    </a:lnTo>
                    <a:cubicBezTo>
                      <a:pt x="14926" y="200026"/>
                      <a:pt x="0" y="185100"/>
                      <a:pt x="0" y="166688"/>
                    </a:cubicBezTo>
                    <a:lnTo>
                      <a:pt x="0" y="155575"/>
                    </a:lnTo>
                    <a:lnTo>
                      <a:pt x="111125" y="155575"/>
                    </a:lnTo>
                    <a:lnTo>
                      <a:pt x="111125" y="177801"/>
                    </a:lnTo>
                    <a:cubicBezTo>
                      <a:pt x="111125" y="190075"/>
                      <a:pt x="121076" y="200026"/>
                      <a:pt x="133350" y="200026"/>
                    </a:cubicBezTo>
                    <a:cubicBezTo>
                      <a:pt x="145625" y="200026"/>
                      <a:pt x="155575" y="190075"/>
                      <a:pt x="155575" y="177801"/>
                    </a:cubicBezTo>
                    <a:lnTo>
                      <a:pt x="155575" y="22225"/>
                    </a:lnTo>
                    <a:cubicBezTo>
                      <a:pt x="155575" y="9950"/>
                      <a:pt x="165526" y="0"/>
                      <a:pt x="177801" y="0"/>
                    </a:cubicBezTo>
                    <a:cubicBezTo>
                      <a:pt x="190075" y="0"/>
                      <a:pt x="200026" y="9950"/>
                      <a:pt x="200026" y="22225"/>
                    </a:cubicBezTo>
                    <a:cubicBezTo>
                      <a:pt x="200026" y="34500"/>
                      <a:pt x="190075" y="44450"/>
                      <a:pt x="177801" y="44450"/>
                    </a:cubicBezTo>
                    <a:lnTo>
                      <a:pt x="155575" y="44450"/>
                    </a:lnTo>
                    <a:moveTo>
                      <a:pt x="177801" y="0"/>
                    </a:moveTo>
                    <a:lnTo>
                      <a:pt x="55563" y="0"/>
                    </a:lnTo>
                    <a:cubicBezTo>
                      <a:pt x="37151" y="0"/>
                      <a:pt x="22225" y="14926"/>
                      <a:pt x="22225" y="33338"/>
                    </a:cubicBezTo>
                    <a:lnTo>
                      <a:pt x="22225" y="155575"/>
                    </a:lnTo>
                  </a:path>
                </a:pathLst>
              </a:custGeom>
              <a:noFill/>
              <a:ln w="22225">
                <a:solidFill>
                  <a:srgbClr val="FFFFFF"/>
                </a:solidFill>
              </a:ln>
            </p:spPr>
          </p:sp>
          <p:sp>
            <p:nvSpPr>
              <p:cNvPr id="244" name="Freeform 244"/>
              <p:cNvSpPr/>
              <p:nvPr/>
            </p:nvSpPr>
            <p:spPr>
              <a:xfrm>
                <a:off x="785813" y="5945188"/>
                <a:ext cx="44450" cy="9525"/>
              </a:xfrm>
              <a:custGeom>
                <a:avLst/>
                <a:gdLst/>
                <a:ahLst/>
                <a:cxnLst/>
                <a:rect l="l" t="t" r="r" b="b"/>
                <a:pathLst>
                  <a:path w="44450" h="9525">
                    <a:moveTo>
                      <a:pt x="0" y="0"/>
                    </a:moveTo>
                    <a:lnTo>
                      <a:pt x="44450" y="0"/>
                    </a:lnTo>
                  </a:path>
                </a:pathLst>
              </a:custGeom>
              <a:noFill/>
              <a:ln w="22225">
                <a:solidFill>
                  <a:srgbClr val="FFFFFF"/>
                </a:solidFill>
              </a:ln>
            </p:spPr>
          </p:sp>
          <p:sp>
            <p:nvSpPr>
              <p:cNvPr id="245" name="Freeform 245"/>
              <p:cNvSpPr/>
              <p:nvPr/>
            </p:nvSpPr>
            <p:spPr>
              <a:xfrm>
                <a:off x="785813" y="5989638"/>
                <a:ext cx="44450" cy="9525"/>
              </a:xfrm>
              <a:custGeom>
                <a:avLst/>
                <a:gdLst/>
                <a:ahLst/>
                <a:cxnLst/>
                <a:rect l="l" t="t" r="r" b="b"/>
                <a:pathLst>
                  <a:path w="44450" h="9525">
                    <a:moveTo>
                      <a:pt x="0" y="0"/>
                    </a:moveTo>
                    <a:lnTo>
                      <a:pt x="44450" y="0"/>
                    </a:lnTo>
                  </a:path>
                </a:pathLst>
              </a:custGeom>
              <a:noFill/>
              <a:ln w="22225">
                <a:solidFill>
                  <a:srgbClr val="FFFFFF"/>
                </a:solidFill>
              </a:ln>
            </p:spPr>
          </p:sp>
        </p:grpSp>
        <p:sp>
          <p:nvSpPr>
            <p:cNvPr id="247" name="TextBox 247"/>
            <p:cNvSpPr txBox="1"/>
            <p:nvPr/>
          </p:nvSpPr>
          <p:spPr>
            <a:xfrm>
              <a:off x="1195197" y="5952649"/>
              <a:ext cx="669544"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标签命中率</a:t>
              </a:r>
            </a:p>
          </p:txBody>
        </p:sp>
        <p:sp>
          <p:nvSpPr>
            <p:cNvPr id="248" name="TextBox 248"/>
            <p:cNvSpPr txBox="1"/>
            <p:nvPr/>
          </p:nvSpPr>
          <p:spPr>
            <a:xfrm>
              <a:off x="1987296" y="5877878"/>
              <a:ext cx="1089221" cy="498729"/>
            </a:xfrm>
            <a:prstGeom prst="rect">
              <a:avLst/>
            </a:prstGeom>
            <a:noFill/>
            <a:ln>
              <a:noFill/>
            </a:ln>
          </p:spPr>
          <p:txBody>
            <a:bodyPr wrap="none" lIns="0" tIns="0" rIns="0" bIns="0" anchor="t" anchorCtr="0">
              <a:spAutoFit/>
            </a:bodyPr>
            <a:lstStyle/>
            <a:p>
              <a:pPr algn="l"/>
              <a:r>
                <a:rPr lang="zh-CN" sz="2550" b="1" dirty="0">
                  <a:solidFill>
                    <a:srgbClr val="C9462F"/>
                  </a:solidFill>
                  <a:latin typeface="+mn-lt"/>
                  <a:ea typeface="+mn-ea"/>
                  <a:cs typeface="+mn-cs"/>
                </a:rPr>
                <a:t>82%​​</a:t>
              </a:r>
            </a:p>
          </p:txBody>
        </p:sp>
        <p:sp>
          <p:nvSpPr>
            <p:cNvPr id="249" name="Rectangle 249"/>
            <p:cNvSpPr/>
            <p:nvPr/>
          </p:nvSpPr>
          <p:spPr>
            <a:xfrm>
              <a:off x="3269932" y="5334000"/>
              <a:ext cx="2762250" cy="1333500"/>
            </a:xfrm>
            <a:prstGeom prst="roundRect">
              <a:avLst>
                <a:gd name="adj" fmla="val 7143"/>
              </a:avLst>
            </a:prstGeom>
            <a:solidFill>
              <a:srgbClr val="F9FBFE"/>
            </a:solidFill>
            <a:ln w="9525">
              <a:solidFill>
                <a:srgbClr val="C9D8EF"/>
              </a:solidFill>
            </a:ln>
          </p:spPr>
        </p:sp>
        <p:sp>
          <p:nvSpPr>
            <p:cNvPr id="250" name="Ellipse 250"/>
            <p:cNvSpPr/>
            <p:nvPr/>
          </p:nvSpPr>
          <p:spPr>
            <a:xfrm>
              <a:off x="3460432" y="5753100"/>
              <a:ext cx="495300" cy="495300"/>
            </a:xfrm>
            <a:prstGeom prst="ellipse">
              <a:avLst/>
            </a:prstGeom>
            <a:solidFill>
              <a:srgbClr val="A8351D"/>
            </a:solidFill>
            <a:ln>
              <a:noFill/>
            </a:ln>
          </p:spPr>
        </p:sp>
        <p:grpSp>
          <p:nvGrpSpPr>
            <p:cNvPr id="254" name="Group 254"/>
            <p:cNvGrpSpPr/>
            <p:nvPr/>
          </p:nvGrpSpPr>
          <p:grpSpPr>
            <a:xfrm>
              <a:off x="3608070" y="5900738"/>
              <a:ext cx="200026" cy="200026"/>
              <a:chOff x="3608070" y="5900738"/>
              <a:chExt cx="200026" cy="200026"/>
            </a:xfrm>
          </p:grpSpPr>
          <p:sp>
            <p:nvSpPr>
              <p:cNvPr id="251" name="Freeform 251"/>
              <p:cNvSpPr/>
              <p:nvPr/>
            </p:nvSpPr>
            <p:spPr>
              <a:xfrm>
                <a:off x="3696970" y="598963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FFFFFF"/>
                </a:solidFill>
              </a:ln>
            </p:spPr>
          </p:sp>
          <p:sp>
            <p:nvSpPr>
              <p:cNvPr id="252" name="Freeform 252"/>
              <p:cNvSpPr/>
              <p:nvPr/>
            </p:nvSpPr>
            <p:spPr>
              <a:xfrm>
                <a:off x="3652520" y="5945188"/>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22225">
                <a:solidFill>
                  <a:srgbClr val="FFFFFF"/>
                </a:solidFill>
              </a:ln>
            </p:spPr>
          </p:sp>
          <p:sp>
            <p:nvSpPr>
              <p:cNvPr id="253" name="Freeform 253"/>
              <p:cNvSpPr/>
              <p:nvPr/>
            </p:nvSpPr>
            <p:spPr>
              <a:xfrm>
                <a:off x="3608070" y="59007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FFFFFF"/>
                </a:solidFill>
              </a:ln>
            </p:spPr>
          </p:sp>
        </p:grpSp>
        <p:sp>
          <p:nvSpPr>
            <p:cNvPr id="255" name="TextBox 255"/>
            <p:cNvSpPr txBox="1"/>
            <p:nvPr/>
          </p:nvSpPr>
          <p:spPr>
            <a:xfrm>
              <a:off x="4084130" y="5952649"/>
              <a:ext cx="669544"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商机准确率</a:t>
              </a:r>
            </a:p>
          </p:txBody>
        </p:sp>
        <p:sp>
          <p:nvSpPr>
            <p:cNvPr id="256" name="TextBox 256"/>
            <p:cNvSpPr txBox="1"/>
            <p:nvPr/>
          </p:nvSpPr>
          <p:spPr>
            <a:xfrm>
              <a:off x="4876228" y="5877878"/>
              <a:ext cx="1089221" cy="498729"/>
            </a:xfrm>
            <a:prstGeom prst="rect">
              <a:avLst/>
            </a:prstGeom>
            <a:noFill/>
            <a:ln>
              <a:noFill/>
            </a:ln>
          </p:spPr>
          <p:txBody>
            <a:bodyPr wrap="none" lIns="0" tIns="0" rIns="0" bIns="0" anchor="t" anchorCtr="0">
              <a:spAutoFit/>
            </a:bodyPr>
            <a:lstStyle/>
            <a:p>
              <a:pPr algn="l"/>
              <a:r>
                <a:rPr lang="zh-CN" sz="2550" b="1" dirty="0">
                  <a:solidFill>
                    <a:srgbClr val="C9462F"/>
                  </a:solidFill>
                  <a:latin typeface="+mn-lt"/>
                  <a:ea typeface="+mn-ea"/>
                  <a:cs typeface="+mn-cs"/>
                </a:rPr>
                <a:t>76%​​</a:t>
              </a:r>
            </a:p>
          </p:txBody>
        </p:sp>
        <p:sp>
          <p:nvSpPr>
            <p:cNvPr id="257" name="Rectangle 257"/>
            <p:cNvSpPr/>
            <p:nvPr/>
          </p:nvSpPr>
          <p:spPr>
            <a:xfrm>
              <a:off x="6159818" y="5334000"/>
              <a:ext cx="2762250" cy="1333500"/>
            </a:xfrm>
            <a:prstGeom prst="roundRect">
              <a:avLst>
                <a:gd name="adj" fmla="val 7143"/>
              </a:avLst>
            </a:prstGeom>
            <a:solidFill>
              <a:srgbClr val="F9FBFE"/>
            </a:solidFill>
            <a:ln w="9525">
              <a:solidFill>
                <a:srgbClr val="C9D8EF"/>
              </a:solidFill>
            </a:ln>
          </p:spPr>
        </p:sp>
        <p:sp>
          <p:nvSpPr>
            <p:cNvPr id="258" name="Ellipse 258"/>
            <p:cNvSpPr/>
            <p:nvPr/>
          </p:nvSpPr>
          <p:spPr>
            <a:xfrm>
              <a:off x="6350318" y="5753100"/>
              <a:ext cx="495300" cy="495300"/>
            </a:xfrm>
            <a:prstGeom prst="ellipse">
              <a:avLst/>
            </a:prstGeom>
            <a:solidFill>
              <a:srgbClr val="A8351D"/>
            </a:solidFill>
            <a:ln>
              <a:noFill/>
            </a:ln>
          </p:spPr>
        </p:sp>
        <p:grpSp>
          <p:nvGrpSpPr>
            <p:cNvPr id="262" name="Group 262"/>
            <p:cNvGrpSpPr/>
            <p:nvPr/>
          </p:nvGrpSpPr>
          <p:grpSpPr>
            <a:xfrm>
              <a:off x="6520180" y="5900738"/>
              <a:ext cx="155575" cy="200026"/>
              <a:chOff x="6520180" y="5900738"/>
              <a:chExt cx="155575" cy="200026"/>
            </a:xfrm>
          </p:grpSpPr>
          <p:sp>
            <p:nvSpPr>
              <p:cNvPr id="259" name="Freeform 259"/>
              <p:cNvSpPr/>
              <p:nvPr/>
            </p:nvSpPr>
            <p:spPr>
              <a:xfrm>
                <a:off x="6520180" y="5922963"/>
                <a:ext cx="155575" cy="177801"/>
              </a:xfrm>
              <a:custGeom>
                <a:avLst/>
                <a:gdLst/>
                <a:ahLst/>
                <a:cxnLst/>
                <a:rect l="l" t="t" r="r" b="b"/>
                <a:pathLst>
                  <a:path w="155575" h="177801">
                    <a:moveTo>
                      <a:pt x="44450" y="0"/>
                    </a:moveTo>
                    <a:lnTo>
                      <a:pt x="22225" y="0"/>
                    </a:lnTo>
                    <a:cubicBezTo>
                      <a:pt x="9950" y="0"/>
                      <a:pt x="0" y="9950"/>
                      <a:pt x="0" y="22225"/>
                    </a:cubicBezTo>
                    <a:lnTo>
                      <a:pt x="0" y="155575"/>
                    </a:lnTo>
                    <a:cubicBezTo>
                      <a:pt x="0" y="167850"/>
                      <a:pt x="9950" y="177801"/>
                      <a:pt x="22225" y="177801"/>
                    </a:cubicBezTo>
                    <a:lnTo>
                      <a:pt x="133350" y="177801"/>
                    </a:lnTo>
                    <a:cubicBezTo>
                      <a:pt x="145625" y="177801"/>
                      <a:pt x="155575" y="167850"/>
                      <a:pt x="155575" y="155575"/>
                    </a:cubicBezTo>
                    <a:lnTo>
                      <a:pt x="155575" y="22225"/>
                    </a:lnTo>
                    <a:cubicBezTo>
                      <a:pt x="155575" y="9950"/>
                      <a:pt x="145625" y="0"/>
                      <a:pt x="133350" y="0"/>
                    </a:cubicBezTo>
                    <a:lnTo>
                      <a:pt x="111125" y="0"/>
                    </a:lnTo>
                  </a:path>
                </a:pathLst>
              </a:custGeom>
              <a:noFill/>
              <a:ln w="22225">
                <a:solidFill>
                  <a:srgbClr val="FFFFFF"/>
                </a:solidFill>
              </a:ln>
            </p:spPr>
          </p:sp>
          <p:sp>
            <p:nvSpPr>
              <p:cNvPr id="260" name="Freeform 260"/>
              <p:cNvSpPr/>
              <p:nvPr/>
            </p:nvSpPr>
            <p:spPr>
              <a:xfrm>
                <a:off x="6564630" y="5900738"/>
                <a:ext cx="66675" cy="44450"/>
              </a:xfrm>
              <a:custGeom>
                <a:avLst/>
                <a:gdLst/>
                <a:ahLst/>
                <a:cxnLst/>
                <a:rect l="l" t="t" r="r" b="b"/>
                <a:pathLst>
                  <a:path w="66675" h="44450">
                    <a:moveTo>
                      <a:pt x="0" y="22225"/>
                    </a:moveTo>
                    <a:cubicBezTo>
                      <a:pt x="0" y="9950"/>
                      <a:pt x="9950" y="0"/>
                      <a:pt x="22225" y="0"/>
                    </a:cubicBezTo>
                    <a:lnTo>
                      <a:pt x="44450" y="0"/>
                    </a:lnTo>
                    <a:cubicBezTo>
                      <a:pt x="56725" y="0"/>
                      <a:pt x="66675" y="9950"/>
                      <a:pt x="66675" y="22225"/>
                    </a:cubicBezTo>
                    <a:cubicBezTo>
                      <a:pt x="66675" y="34500"/>
                      <a:pt x="56725" y="44450"/>
                      <a:pt x="44450" y="44450"/>
                    </a:cubicBezTo>
                    <a:lnTo>
                      <a:pt x="22225" y="44450"/>
                    </a:lnTo>
                    <a:cubicBezTo>
                      <a:pt x="9950" y="44450"/>
                      <a:pt x="0" y="34500"/>
                      <a:pt x="0" y="22225"/>
                    </a:cubicBezTo>
                  </a:path>
                </a:pathLst>
              </a:custGeom>
              <a:noFill/>
              <a:ln w="22225">
                <a:solidFill>
                  <a:srgbClr val="FFFFFF"/>
                </a:solidFill>
              </a:ln>
            </p:spPr>
          </p:sp>
          <p:sp>
            <p:nvSpPr>
              <p:cNvPr id="261" name="Freeform 261"/>
              <p:cNvSpPr/>
              <p:nvPr/>
            </p:nvSpPr>
            <p:spPr>
              <a:xfrm>
                <a:off x="6564630" y="6000750"/>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263" name="TextBox 263"/>
            <p:cNvSpPr txBox="1"/>
            <p:nvPr/>
          </p:nvSpPr>
          <p:spPr>
            <a:xfrm>
              <a:off x="6974015" y="5952649"/>
              <a:ext cx="669544"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任务完成率</a:t>
              </a:r>
            </a:p>
          </p:txBody>
        </p:sp>
        <p:sp>
          <p:nvSpPr>
            <p:cNvPr id="264" name="TextBox 264"/>
            <p:cNvSpPr txBox="1"/>
            <p:nvPr/>
          </p:nvSpPr>
          <p:spPr>
            <a:xfrm>
              <a:off x="7766114" y="5877878"/>
              <a:ext cx="1089221" cy="498729"/>
            </a:xfrm>
            <a:prstGeom prst="rect">
              <a:avLst/>
            </a:prstGeom>
            <a:noFill/>
            <a:ln>
              <a:noFill/>
            </a:ln>
          </p:spPr>
          <p:txBody>
            <a:bodyPr wrap="none" lIns="0" tIns="0" rIns="0" bIns="0" anchor="t" anchorCtr="0">
              <a:spAutoFit/>
            </a:bodyPr>
            <a:lstStyle/>
            <a:p>
              <a:pPr algn="l"/>
              <a:r>
                <a:rPr lang="zh-CN" sz="2550" b="1" dirty="0">
                  <a:solidFill>
                    <a:srgbClr val="C9462F"/>
                  </a:solidFill>
                  <a:latin typeface="+mn-lt"/>
                  <a:ea typeface="+mn-ea"/>
                  <a:cs typeface="+mn-cs"/>
                </a:rPr>
                <a:t>91%​​</a:t>
              </a:r>
            </a:p>
          </p:txBody>
        </p:sp>
        <p:sp>
          <p:nvSpPr>
            <p:cNvPr id="265" name="Rectangle 265"/>
            <p:cNvSpPr/>
            <p:nvPr/>
          </p:nvSpPr>
          <p:spPr>
            <a:xfrm>
              <a:off x="9048750" y="5334000"/>
              <a:ext cx="2762250" cy="1333500"/>
            </a:xfrm>
            <a:prstGeom prst="roundRect">
              <a:avLst>
                <a:gd name="adj" fmla="val 7143"/>
              </a:avLst>
            </a:prstGeom>
            <a:solidFill>
              <a:srgbClr val="F9FBFE"/>
            </a:solidFill>
            <a:ln w="9525">
              <a:solidFill>
                <a:srgbClr val="C9D8EF"/>
              </a:solidFill>
            </a:ln>
          </p:spPr>
        </p:sp>
        <p:sp>
          <p:nvSpPr>
            <p:cNvPr id="266" name="Ellipse 266"/>
            <p:cNvSpPr/>
            <p:nvPr/>
          </p:nvSpPr>
          <p:spPr>
            <a:xfrm>
              <a:off x="9239250" y="5753100"/>
              <a:ext cx="495300" cy="495300"/>
            </a:xfrm>
            <a:prstGeom prst="ellipse">
              <a:avLst/>
            </a:prstGeom>
            <a:solidFill>
              <a:srgbClr val="A8351D"/>
            </a:solidFill>
            <a:ln>
              <a:noFill/>
            </a:ln>
          </p:spPr>
        </p:sp>
        <p:grpSp>
          <p:nvGrpSpPr>
            <p:cNvPr id="269" name="Group 269"/>
            <p:cNvGrpSpPr/>
            <p:nvPr/>
          </p:nvGrpSpPr>
          <p:grpSpPr>
            <a:xfrm>
              <a:off x="9386888" y="5945188"/>
              <a:ext cx="200026" cy="111125"/>
              <a:chOff x="9386888" y="5945188"/>
              <a:chExt cx="200026" cy="111125"/>
            </a:xfrm>
          </p:grpSpPr>
          <p:sp>
            <p:nvSpPr>
              <p:cNvPr id="267" name="Freeform 267"/>
              <p:cNvSpPr/>
              <p:nvPr/>
            </p:nvSpPr>
            <p:spPr>
              <a:xfrm>
                <a:off x="9386888" y="594518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FFFFFF"/>
                </a:solidFill>
              </a:ln>
            </p:spPr>
          </p:sp>
          <p:sp>
            <p:nvSpPr>
              <p:cNvPr id="268" name="Freeform 268"/>
              <p:cNvSpPr/>
              <p:nvPr/>
            </p:nvSpPr>
            <p:spPr>
              <a:xfrm>
                <a:off x="9509125" y="5945188"/>
                <a:ext cx="77788" cy="77788"/>
              </a:xfrm>
              <a:custGeom>
                <a:avLst/>
                <a:gdLst/>
                <a:ahLst/>
                <a:cxnLst/>
                <a:rect l="l" t="t" r="r" b="b"/>
                <a:pathLst>
                  <a:path w="77788" h="77788">
                    <a:moveTo>
                      <a:pt x="0" y="0"/>
                    </a:moveTo>
                    <a:lnTo>
                      <a:pt x="77788" y="0"/>
                    </a:lnTo>
                    <a:lnTo>
                      <a:pt x="77788" y="77788"/>
                    </a:lnTo>
                  </a:path>
                </a:pathLst>
              </a:custGeom>
              <a:noFill/>
              <a:ln w="22225">
                <a:solidFill>
                  <a:srgbClr val="FFFFFF"/>
                </a:solidFill>
              </a:ln>
            </p:spPr>
          </p:sp>
        </p:grpSp>
        <p:sp>
          <p:nvSpPr>
            <p:cNvPr id="270" name="TextBox 270"/>
            <p:cNvSpPr txBox="1"/>
            <p:nvPr/>
          </p:nvSpPr>
          <p:spPr>
            <a:xfrm>
              <a:off x="9862947" y="5952649"/>
              <a:ext cx="537616"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转化提升</a:t>
              </a:r>
            </a:p>
          </p:txBody>
        </p:sp>
        <p:sp>
          <p:nvSpPr>
            <p:cNvPr id="271" name="TextBox 271"/>
            <p:cNvSpPr txBox="1"/>
            <p:nvPr/>
          </p:nvSpPr>
          <p:spPr>
            <a:xfrm>
              <a:off x="10521696" y="5877878"/>
              <a:ext cx="1089221" cy="498729"/>
            </a:xfrm>
            <a:prstGeom prst="rect">
              <a:avLst/>
            </a:prstGeom>
            <a:noFill/>
            <a:ln>
              <a:noFill/>
            </a:ln>
          </p:spPr>
          <p:txBody>
            <a:bodyPr wrap="none" lIns="0" tIns="0" rIns="0" bIns="0" anchor="t" anchorCtr="0">
              <a:spAutoFit/>
            </a:bodyPr>
            <a:lstStyle/>
            <a:p>
              <a:pPr algn="l"/>
              <a:r>
                <a:rPr lang="zh-CN" sz="2550" b="1" dirty="0">
                  <a:solidFill>
                    <a:srgbClr val="C9462F"/>
                  </a:solidFill>
                  <a:latin typeface="+mn-lt"/>
                  <a:ea typeface="+mn-ea"/>
                  <a:cs typeface="+mn-cs"/>
                </a:rPr>
                <a:t>28%​​</a:t>
              </a:r>
            </a:p>
          </p:txBody>
        </p:sp>
      </p:gr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14</a:t>
              </a:r>
            </a:p>
          </p:txBody>
        </p:sp>
        <p:sp>
          <p:nvSpPr>
            <p:cNvPr id="4" name="TextBox 4"/>
            <p:cNvSpPr txBox="1"/>
            <p:nvPr/>
          </p:nvSpPr>
          <p:spPr>
            <a:xfrm>
              <a:off x="904494" y="170498"/>
              <a:ext cx="6121908"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组织协同｜建立总分支三级联动和双客户经理机制</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73" name="org-tree"/>
          <p:cNvGrpSpPr/>
          <p:nvPr/>
        </p:nvGrpSpPr>
        <p:grpSpPr>
          <a:xfrm>
            <a:off x="381000" y="704850"/>
            <a:ext cx="5334000" cy="2705100"/>
            <a:chOff x="381000" y="704850"/>
            <a:chExt cx="5334000" cy="2705100"/>
          </a:xfrm>
        </p:grpSpPr>
        <p:sp>
          <p:nvSpPr>
            <p:cNvPr id="7" name="Rectangle 7"/>
            <p:cNvSpPr/>
            <p:nvPr/>
          </p:nvSpPr>
          <p:spPr>
            <a:xfrm>
              <a:off x="381000" y="704850"/>
              <a:ext cx="5334000" cy="2705100"/>
            </a:xfrm>
            <a:prstGeom prst="roundRect">
              <a:avLst>
                <a:gd name="adj" fmla="val 3521"/>
              </a:avLst>
            </a:prstGeom>
            <a:solidFill>
              <a:srgbClr val="F9FBFE"/>
            </a:solidFill>
            <a:ln w="9525">
              <a:solidFill>
                <a:srgbClr val="C9D8EF"/>
              </a:solidFill>
            </a:ln>
          </p:spPr>
        </p:sp>
        <p:sp>
          <p:nvSpPr>
            <p:cNvPr id="8" name="Rectangle 8"/>
            <p:cNvSpPr/>
            <p:nvPr/>
          </p:nvSpPr>
          <p:spPr>
            <a:xfrm>
              <a:off x="381000" y="704850"/>
              <a:ext cx="2286000" cy="285750"/>
            </a:xfrm>
            <a:prstGeom prst="roundRect">
              <a:avLst>
                <a:gd name="adj" fmla="val 13333"/>
              </a:avLst>
            </a:prstGeom>
            <a:gradFill>
              <a:gsLst>
                <a:gs pos="0">
                  <a:srgbClr val="AD3921"/>
                </a:gs>
                <a:gs pos="100000">
                  <a:srgbClr val="962C16"/>
                </a:gs>
              </a:gsLst>
              <a:lin ang="5400000" scaled="1"/>
            </a:gradFill>
            <a:ln>
              <a:noFill/>
            </a:ln>
          </p:spPr>
        </p:sp>
        <p:sp>
          <p:nvSpPr>
            <p:cNvPr id="9" name="TextBox 9"/>
            <p:cNvSpPr txBox="1"/>
            <p:nvPr/>
          </p:nvSpPr>
          <p:spPr>
            <a:xfrm>
              <a:off x="771042" y="795576"/>
              <a:ext cx="1505915"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总分支三级联动组织体系</a:t>
              </a:r>
            </a:p>
          </p:txBody>
        </p:sp>
        <p:sp>
          <p:nvSpPr>
            <p:cNvPr id="10" name="Rectangle 10"/>
            <p:cNvSpPr/>
            <p:nvPr/>
          </p:nvSpPr>
          <p:spPr>
            <a:xfrm>
              <a:off x="1047750" y="1066800"/>
              <a:ext cx="2857500" cy="495300"/>
            </a:xfrm>
            <a:prstGeom prst="roundRect">
              <a:avLst>
                <a:gd name="adj" fmla="val 11538"/>
              </a:avLst>
            </a:prstGeom>
            <a:solidFill>
              <a:srgbClr val="A8351D"/>
            </a:solidFill>
            <a:ln>
              <a:noFill/>
            </a:ln>
          </p:spPr>
        </p:sp>
        <p:grpSp>
          <p:nvGrpSpPr>
            <p:cNvPr id="19" name="Group 19"/>
            <p:cNvGrpSpPr/>
            <p:nvPr/>
          </p:nvGrpSpPr>
          <p:grpSpPr>
            <a:xfrm>
              <a:off x="1228725" y="1228725"/>
              <a:ext cx="171450" cy="180975"/>
              <a:chOff x="1228725" y="1228725"/>
              <a:chExt cx="171450" cy="180975"/>
            </a:xfrm>
          </p:grpSpPr>
          <p:sp>
            <p:nvSpPr>
              <p:cNvPr id="11" name="Freeform 11"/>
              <p:cNvSpPr/>
              <p:nvPr/>
            </p:nvSpPr>
            <p:spPr>
              <a:xfrm>
                <a:off x="1228725" y="140017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2" name="Freeform 12"/>
              <p:cNvSpPr/>
              <p:nvPr/>
            </p:nvSpPr>
            <p:spPr>
              <a:xfrm>
                <a:off x="1228725" y="1295400"/>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3" name="Freeform 13"/>
              <p:cNvSpPr/>
              <p:nvPr/>
            </p:nvSpPr>
            <p:spPr>
              <a:xfrm>
                <a:off x="1247775" y="1228725"/>
                <a:ext cx="133350" cy="28575"/>
              </a:xfrm>
              <a:custGeom>
                <a:avLst/>
                <a:gdLst/>
                <a:ahLst/>
                <a:cxnLst/>
                <a:rect l="l" t="t" r="r" b="b"/>
                <a:pathLst>
                  <a:path w="133350" h="28575">
                    <a:moveTo>
                      <a:pt x="0" y="28575"/>
                    </a:moveTo>
                    <a:lnTo>
                      <a:pt x="66675" y="0"/>
                    </a:lnTo>
                    <a:lnTo>
                      <a:pt x="133350" y="28575"/>
                    </a:lnTo>
                  </a:path>
                </a:pathLst>
              </a:custGeom>
              <a:noFill/>
              <a:ln w="19050">
                <a:solidFill>
                  <a:srgbClr val="FFFFFF"/>
                </a:solidFill>
              </a:ln>
            </p:spPr>
          </p:sp>
          <p:sp>
            <p:nvSpPr>
              <p:cNvPr id="14" name="Freeform 14"/>
              <p:cNvSpPr/>
              <p:nvPr/>
            </p:nvSpPr>
            <p:spPr>
              <a:xfrm>
                <a:off x="1238250" y="12954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5" name="Freeform 15"/>
              <p:cNvSpPr/>
              <p:nvPr/>
            </p:nvSpPr>
            <p:spPr>
              <a:xfrm>
                <a:off x="1390650" y="12954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6" name="Freeform 16"/>
              <p:cNvSpPr/>
              <p:nvPr/>
            </p:nvSpPr>
            <p:spPr>
              <a:xfrm>
                <a:off x="1276350" y="13335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7" name="Freeform 17"/>
              <p:cNvSpPr/>
              <p:nvPr/>
            </p:nvSpPr>
            <p:spPr>
              <a:xfrm>
                <a:off x="1314450" y="13335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8" name="Freeform 18"/>
              <p:cNvSpPr/>
              <p:nvPr/>
            </p:nvSpPr>
            <p:spPr>
              <a:xfrm>
                <a:off x="1352550" y="1333500"/>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20" name="TextBox 20"/>
            <p:cNvSpPr txBox="1"/>
            <p:nvPr/>
          </p:nvSpPr>
          <p:spPr>
            <a:xfrm>
              <a:off x="1557147" y="1161574"/>
              <a:ext cx="132918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总行｜策略与能力中枢</a:t>
              </a:r>
            </a:p>
          </p:txBody>
        </p:sp>
        <p:sp>
          <p:nvSpPr>
            <p:cNvPr id="21" name="TextBox 21"/>
            <p:cNvSpPr txBox="1"/>
            <p:nvPr/>
          </p:nvSpPr>
          <p:spPr>
            <a:xfrm>
              <a:off x="1557338" y="1376362"/>
              <a:ext cx="1322070" cy="147638"/>
            </a:xfrm>
            <a:prstGeom prst="rect">
              <a:avLst/>
            </a:prstGeom>
            <a:noFill/>
            <a:ln>
              <a:noFill/>
            </a:ln>
          </p:spPr>
          <p:txBody>
            <a:bodyPr wrap="none" lIns="0" tIns="0" rIns="0" bIns="0" anchor="t" anchorCtr="0">
              <a:spAutoFit/>
            </a:bodyPr>
            <a:lstStyle/>
            <a:p>
              <a:pPr algn="l"/>
              <a:r>
                <a:rPr lang="zh-CN" sz="750" dirty="0">
                  <a:solidFill>
                    <a:srgbClr val="E8EEF9"/>
                  </a:solidFill>
                  <a:latin typeface="+mn-lt"/>
                  <a:ea typeface="+mn-ea"/>
                  <a:cs typeface="+mn-cs"/>
                </a:rPr>
                <a:t>定策略、定产品、定数据标准</a:t>
              </a:r>
            </a:p>
          </p:txBody>
        </p:sp>
        <p:sp>
          <p:nvSpPr>
            <p:cNvPr id="22" name="Line 22"/>
            <p:cNvSpPr/>
            <p:nvPr/>
          </p:nvSpPr>
          <p:spPr>
            <a:xfrm>
              <a:off x="2476500" y="1562100"/>
              <a:ext cx="9525" cy="133350"/>
            </a:xfrm>
            <a:custGeom>
              <a:avLst/>
              <a:gdLst/>
              <a:ahLst/>
              <a:cxnLst/>
              <a:rect l="l" t="t" r="r" b="b"/>
              <a:pathLst>
                <a:path w="9525" h="133350">
                  <a:moveTo>
                    <a:pt x="0" y="0"/>
                  </a:moveTo>
                  <a:lnTo>
                    <a:pt x="0" y="133350"/>
                  </a:lnTo>
                </a:path>
              </a:pathLst>
            </a:custGeom>
            <a:noFill/>
            <a:ln w="14288">
              <a:solidFill>
                <a:srgbClr val="E5907F"/>
              </a:solidFill>
            </a:ln>
          </p:spPr>
        </p:sp>
        <p:sp>
          <p:nvSpPr>
            <p:cNvPr id="23" name="Line 23"/>
            <p:cNvSpPr/>
            <p:nvPr/>
          </p:nvSpPr>
          <p:spPr>
            <a:xfrm>
              <a:off x="1447800" y="1695450"/>
              <a:ext cx="2047875" cy="9525"/>
            </a:xfrm>
            <a:custGeom>
              <a:avLst/>
              <a:gdLst/>
              <a:ahLst/>
              <a:cxnLst/>
              <a:rect l="l" t="t" r="r" b="b"/>
              <a:pathLst>
                <a:path w="2047875" h="9525">
                  <a:moveTo>
                    <a:pt x="0" y="0"/>
                  </a:moveTo>
                  <a:lnTo>
                    <a:pt x="2047875" y="0"/>
                  </a:lnTo>
                </a:path>
              </a:pathLst>
            </a:custGeom>
            <a:noFill/>
            <a:ln w="14288">
              <a:solidFill>
                <a:srgbClr val="E5907F"/>
              </a:solidFill>
            </a:ln>
          </p:spPr>
        </p:sp>
        <p:sp>
          <p:nvSpPr>
            <p:cNvPr id="24" name="Line 24"/>
            <p:cNvSpPr/>
            <p:nvPr/>
          </p:nvSpPr>
          <p:spPr>
            <a:xfrm>
              <a:off x="1447800" y="1695450"/>
              <a:ext cx="9525" cy="114300"/>
            </a:xfrm>
            <a:custGeom>
              <a:avLst/>
              <a:gdLst/>
              <a:ahLst/>
              <a:cxnLst/>
              <a:rect l="l" t="t" r="r" b="b"/>
              <a:pathLst>
                <a:path w="9525" h="114300">
                  <a:moveTo>
                    <a:pt x="0" y="0"/>
                  </a:moveTo>
                  <a:lnTo>
                    <a:pt x="0" y="114300"/>
                  </a:lnTo>
                </a:path>
              </a:pathLst>
            </a:custGeom>
            <a:noFill/>
            <a:ln w="14288">
              <a:solidFill>
                <a:srgbClr val="E5907F"/>
              </a:solidFill>
            </a:ln>
          </p:spPr>
        </p:sp>
        <p:sp>
          <p:nvSpPr>
            <p:cNvPr id="25" name="Line 25"/>
            <p:cNvSpPr/>
            <p:nvPr/>
          </p:nvSpPr>
          <p:spPr>
            <a:xfrm>
              <a:off x="3495675" y="1695450"/>
              <a:ext cx="9525" cy="114300"/>
            </a:xfrm>
            <a:custGeom>
              <a:avLst/>
              <a:gdLst/>
              <a:ahLst/>
              <a:cxnLst/>
              <a:rect l="l" t="t" r="r" b="b"/>
              <a:pathLst>
                <a:path w="9525" h="114300">
                  <a:moveTo>
                    <a:pt x="0" y="0"/>
                  </a:moveTo>
                  <a:lnTo>
                    <a:pt x="0" y="114300"/>
                  </a:lnTo>
                </a:path>
              </a:pathLst>
            </a:custGeom>
            <a:noFill/>
            <a:ln w="14288">
              <a:solidFill>
                <a:srgbClr val="E5907F"/>
              </a:solidFill>
            </a:ln>
          </p:spPr>
        </p:sp>
        <p:sp>
          <p:nvSpPr>
            <p:cNvPr id="26" name="Rectangle 26"/>
            <p:cNvSpPr/>
            <p:nvPr/>
          </p:nvSpPr>
          <p:spPr>
            <a:xfrm>
              <a:off x="476250" y="1809750"/>
              <a:ext cx="1952625" cy="514350"/>
            </a:xfrm>
            <a:prstGeom prst="roundRect">
              <a:avLst>
                <a:gd name="adj" fmla="val 11111"/>
              </a:avLst>
            </a:prstGeom>
            <a:solidFill>
              <a:srgbClr val="D64A2E"/>
            </a:solidFill>
            <a:ln>
              <a:noFill/>
            </a:ln>
          </p:spPr>
        </p:sp>
        <p:sp>
          <p:nvSpPr>
            <p:cNvPr id="27" name="TextBox 27"/>
            <p:cNvSpPr txBox="1"/>
            <p:nvPr/>
          </p:nvSpPr>
          <p:spPr>
            <a:xfrm>
              <a:off x="776668" y="1922145"/>
              <a:ext cx="134226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一级分行｜联动经营专班</a:t>
              </a:r>
            </a:p>
          </p:txBody>
        </p:sp>
        <p:sp>
          <p:nvSpPr>
            <p:cNvPr id="28" name="TextBox 28"/>
            <p:cNvSpPr txBox="1"/>
            <p:nvPr/>
          </p:nvSpPr>
          <p:spPr>
            <a:xfrm>
              <a:off x="773976" y="2132886"/>
              <a:ext cx="1347648" cy="140494"/>
            </a:xfrm>
            <a:prstGeom prst="rect">
              <a:avLst/>
            </a:prstGeom>
            <a:noFill/>
            <a:ln>
              <a:noFill/>
            </a:ln>
          </p:spPr>
          <p:txBody>
            <a:bodyPr wrap="none" lIns="0" tIns="0" rIns="0" bIns="0" anchor="t" anchorCtr="0">
              <a:spAutoFit/>
            </a:bodyPr>
            <a:lstStyle/>
            <a:p>
              <a:pPr algn="ctr"/>
              <a:r>
                <a:rPr lang="zh-CN" sz="710" dirty="0">
                  <a:solidFill>
                    <a:srgbClr val="E8EEF9"/>
                  </a:solidFill>
                  <a:latin typeface="+mn-lt"/>
                  <a:ea typeface="+mn-ea"/>
                  <a:cs typeface="+mn-cs"/>
                </a:rPr>
                <a:t>统筹资源、筛选战役、督导经营</a:t>
              </a:r>
            </a:p>
          </p:txBody>
        </p:sp>
        <p:sp>
          <p:nvSpPr>
            <p:cNvPr id="29" name="Rectangle 29"/>
            <p:cNvSpPr/>
            <p:nvPr/>
          </p:nvSpPr>
          <p:spPr>
            <a:xfrm>
              <a:off x="2524125" y="1809750"/>
              <a:ext cx="1952625" cy="514350"/>
            </a:xfrm>
            <a:prstGeom prst="roundRect">
              <a:avLst>
                <a:gd name="adj" fmla="val 11111"/>
              </a:avLst>
            </a:prstGeom>
            <a:solidFill>
              <a:srgbClr val="D64A2E"/>
            </a:solidFill>
            <a:ln>
              <a:noFill/>
            </a:ln>
          </p:spPr>
        </p:sp>
        <p:sp>
          <p:nvSpPr>
            <p:cNvPr id="30" name="TextBox 30"/>
            <p:cNvSpPr txBox="1"/>
            <p:nvPr/>
          </p:nvSpPr>
          <p:spPr>
            <a:xfrm>
              <a:off x="2824543" y="1922145"/>
              <a:ext cx="134226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二级分行｜区域战役指挥</a:t>
              </a:r>
            </a:p>
          </p:txBody>
        </p:sp>
        <p:sp>
          <p:nvSpPr>
            <p:cNvPr id="31" name="TextBox 31"/>
            <p:cNvSpPr txBox="1"/>
            <p:nvPr/>
          </p:nvSpPr>
          <p:spPr>
            <a:xfrm>
              <a:off x="2821851" y="2132886"/>
              <a:ext cx="1347648" cy="140494"/>
            </a:xfrm>
            <a:prstGeom prst="rect">
              <a:avLst/>
            </a:prstGeom>
            <a:noFill/>
            <a:ln>
              <a:noFill/>
            </a:ln>
          </p:spPr>
          <p:txBody>
            <a:bodyPr wrap="none" lIns="0" tIns="0" rIns="0" bIns="0" anchor="t" anchorCtr="0">
              <a:spAutoFit/>
            </a:bodyPr>
            <a:lstStyle/>
            <a:p>
              <a:pPr algn="ctr"/>
              <a:r>
                <a:rPr lang="zh-CN" sz="710" dirty="0">
                  <a:solidFill>
                    <a:srgbClr val="E8EEF9"/>
                  </a:solidFill>
                  <a:latin typeface="+mn-lt"/>
                  <a:ea typeface="+mn-ea"/>
                  <a:cs typeface="+mn-cs"/>
                </a:rPr>
                <a:t>组建队伍、组织营销、复盘推广</a:t>
              </a:r>
            </a:p>
          </p:txBody>
        </p:sp>
        <p:sp>
          <p:nvSpPr>
            <p:cNvPr id="32" name="Line 32"/>
            <p:cNvSpPr/>
            <p:nvPr/>
          </p:nvSpPr>
          <p:spPr>
            <a:xfrm>
              <a:off x="1447800" y="2324100"/>
              <a:ext cx="9525" cy="228600"/>
            </a:xfrm>
            <a:custGeom>
              <a:avLst/>
              <a:gdLst/>
              <a:ahLst/>
              <a:cxnLst/>
              <a:rect l="l" t="t" r="r" b="b"/>
              <a:pathLst>
                <a:path w="9525" h="228600">
                  <a:moveTo>
                    <a:pt x="0" y="0"/>
                  </a:moveTo>
                  <a:lnTo>
                    <a:pt x="0" y="228600"/>
                  </a:lnTo>
                </a:path>
              </a:pathLst>
            </a:custGeom>
            <a:noFill/>
            <a:ln w="14288">
              <a:solidFill>
                <a:srgbClr val="E5907F"/>
              </a:solidFill>
            </a:ln>
          </p:spPr>
        </p:sp>
        <p:sp>
          <p:nvSpPr>
            <p:cNvPr id="33" name="Line 33"/>
            <p:cNvSpPr/>
            <p:nvPr/>
          </p:nvSpPr>
          <p:spPr>
            <a:xfrm>
              <a:off x="3495675" y="2324100"/>
              <a:ext cx="9525" cy="228600"/>
            </a:xfrm>
            <a:custGeom>
              <a:avLst/>
              <a:gdLst/>
              <a:ahLst/>
              <a:cxnLst/>
              <a:rect l="l" t="t" r="r" b="b"/>
              <a:pathLst>
                <a:path w="9525" h="228600">
                  <a:moveTo>
                    <a:pt x="0" y="0"/>
                  </a:moveTo>
                  <a:lnTo>
                    <a:pt x="0" y="228600"/>
                  </a:lnTo>
                </a:path>
              </a:pathLst>
            </a:custGeom>
            <a:noFill/>
            <a:ln w="14288">
              <a:solidFill>
                <a:srgbClr val="E5907F"/>
              </a:solidFill>
            </a:ln>
          </p:spPr>
        </p:sp>
        <p:sp>
          <p:nvSpPr>
            <p:cNvPr id="34" name="Rectangle 34"/>
            <p:cNvSpPr/>
            <p:nvPr/>
          </p:nvSpPr>
          <p:spPr>
            <a:xfrm>
              <a:off x="476250" y="2552700"/>
              <a:ext cx="4000500" cy="514350"/>
            </a:xfrm>
            <a:prstGeom prst="roundRect">
              <a:avLst>
                <a:gd name="adj" fmla="val 11111"/>
              </a:avLst>
            </a:prstGeom>
            <a:solidFill>
              <a:srgbClr val="A5280F"/>
            </a:solidFill>
            <a:ln>
              <a:noFill/>
            </a:ln>
          </p:spPr>
        </p:sp>
        <p:grpSp>
          <p:nvGrpSpPr>
            <p:cNvPr id="40" name="Group 40"/>
            <p:cNvGrpSpPr/>
            <p:nvPr/>
          </p:nvGrpSpPr>
          <p:grpSpPr>
            <a:xfrm>
              <a:off x="657225" y="2724150"/>
              <a:ext cx="171450" cy="171450"/>
              <a:chOff x="657225" y="2724150"/>
              <a:chExt cx="171450" cy="171450"/>
            </a:xfrm>
          </p:grpSpPr>
          <p:sp>
            <p:nvSpPr>
              <p:cNvPr id="35" name="Freeform 35"/>
              <p:cNvSpPr/>
              <p:nvPr/>
            </p:nvSpPr>
            <p:spPr>
              <a:xfrm>
                <a:off x="657225" y="2724150"/>
                <a:ext cx="171450" cy="171450"/>
              </a:xfrm>
              <a:custGeom>
                <a:avLst/>
                <a:gdLst/>
                <a:ahLst/>
                <a:cxnLst/>
                <a:rect l="l" t="t" r="r" b="b"/>
                <a:pathLst>
                  <a:path w="171450" h="171450">
                    <a:moveTo>
                      <a:pt x="47625" y="57150"/>
                    </a:moveTo>
                    <a:lnTo>
                      <a:pt x="95250" y="104775"/>
                    </a:lnTo>
                    <a:lnTo>
                      <a:pt x="95250" y="171450"/>
                    </a:lnTo>
                    <a:lnTo>
                      <a:pt x="47625" y="171450"/>
                    </a:lnTo>
                    <a:lnTo>
                      <a:pt x="47625" y="133350"/>
                    </a:lnTo>
                    <a:moveTo>
                      <a:pt x="47625" y="171450"/>
                    </a:moveTo>
                    <a:lnTo>
                      <a:pt x="0" y="171450"/>
                    </a:lnTo>
                    <a:lnTo>
                      <a:pt x="0" y="104775"/>
                    </a:lnTo>
                    <a:lnTo>
                      <a:pt x="47625" y="57150"/>
                    </a:lnTo>
                    <a:moveTo>
                      <a:pt x="57150" y="66675"/>
                    </a:moveTo>
                    <a:lnTo>
                      <a:pt x="57150" y="9525"/>
                    </a:lnTo>
                    <a:cubicBezTo>
                      <a:pt x="57150" y="4264"/>
                      <a:pt x="61414" y="0"/>
                      <a:pt x="66675" y="0"/>
                    </a:cubicBezTo>
                    <a:lnTo>
                      <a:pt x="161925" y="0"/>
                    </a:lnTo>
                    <a:cubicBezTo>
                      <a:pt x="167186" y="0"/>
                      <a:pt x="171450" y="4264"/>
                      <a:pt x="171450" y="9525"/>
                    </a:cubicBezTo>
                    <a:lnTo>
                      <a:pt x="171450" y="171450"/>
                    </a:lnTo>
                    <a:lnTo>
                      <a:pt x="95250" y="171450"/>
                    </a:lnTo>
                  </a:path>
                </a:pathLst>
              </a:custGeom>
              <a:noFill/>
              <a:ln w="19050">
                <a:solidFill>
                  <a:srgbClr val="FFFFFF"/>
                </a:solidFill>
              </a:ln>
            </p:spPr>
          </p:sp>
          <p:sp>
            <p:nvSpPr>
              <p:cNvPr id="36" name="Freeform 36"/>
              <p:cNvSpPr/>
              <p:nvPr/>
            </p:nvSpPr>
            <p:spPr>
              <a:xfrm>
                <a:off x="752475" y="2762250"/>
                <a:ext cx="9525" cy="9525"/>
              </a:xfrm>
              <a:custGeom>
                <a:avLst/>
                <a:gdLst/>
                <a:ahLst/>
                <a:cxnLst/>
                <a:rect l="l" t="t" r="r" b="b"/>
                <a:pathLst>
                  <a:path w="9525" h="9525">
                    <a:moveTo>
                      <a:pt x="0" y="0"/>
                    </a:moveTo>
                    <a:lnTo>
                      <a:pt x="0" y="95"/>
                    </a:lnTo>
                  </a:path>
                </a:pathLst>
              </a:custGeom>
              <a:noFill/>
              <a:ln w="19050">
                <a:solidFill>
                  <a:srgbClr val="FFFFFF"/>
                </a:solidFill>
              </a:ln>
            </p:spPr>
          </p:sp>
          <p:sp>
            <p:nvSpPr>
              <p:cNvPr id="37" name="Freeform 37"/>
              <p:cNvSpPr/>
              <p:nvPr/>
            </p:nvSpPr>
            <p:spPr>
              <a:xfrm>
                <a:off x="790575" y="2762250"/>
                <a:ext cx="9525" cy="9525"/>
              </a:xfrm>
              <a:custGeom>
                <a:avLst/>
                <a:gdLst/>
                <a:ahLst/>
                <a:cxnLst/>
                <a:rect l="l" t="t" r="r" b="b"/>
                <a:pathLst>
                  <a:path w="9525" h="9525">
                    <a:moveTo>
                      <a:pt x="0" y="0"/>
                    </a:moveTo>
                    <a:lnTo>
                      <a:pt x="0" y="95"/>
                    </a:lnTo>
                  </a:path>
                </a:pathLst>
              </a:custGeom>
              <a:noFill/>
              <a:ln w="19050">
                <a:solidFill>
                  <a:srgbClr val="FFFFFF"/>
                </a:solidFill>
              </a:ln>
            </p:spPr>
          </p:sp>
          <p:sp>
            <p:nvSpPr>
              <p:cNvPr id="38" name="Freeform 38"/>
              <p:cNvSpPr/>
              <p:nvPr/>
            </p:nvSpPr>
            <p:spPr>
              <a:xfrm>
                <a:off x="790575" y="2800350"/>
                <a:ext cx="9525" cy="9525"/>
              </a:xfrm>
              <a:custGeom>
                <a:avLst/>
                <a:gdLst/>
                <a:ahLst/>
                <a:cxnLst/>
                <a:rect l="l" t="t" r="r" b="b"/>
                <a:pathLst>
                  <a:path w="9525" h="9525">
                    <a:moveTo>
                      <a:pt x="0" y="0"/>
                    </a:moveTo>
                    <a:lnTo>
                      <a:pt x="0" y="95"/>
                    </a:lnTo>
                  </a:path>
                </a:pathLst>
              </a:custGeom>
              <a:noFill/>
              <a:ln w="19050">
                <a:solidFill>
                  <a:srgbClr val="FFFFFF"/>
                </a:solidFill>
              </a:ln>
            </p:spPr>
          </p:sp>
          <p:sp>
            <p:nvSpPr>
              <p:cNvPr id="39" name="Freeform 39"/>
              <p:cNvSpPr/>
              <p:nvPr/>
            </p:nvSpPr>
            <p:spPr>
              <a:xfrm>
                <a:off x="790575" y="2838450"/>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41" name="TextBox 41"/>
            <p:cNvSpPr txBox="1"/>
            <p:nvPr/>
          </p:nvSpPr>
          <p:spPr>
            <a:xfrm>
              <a:off x="1877873" y="2656999"/>
              <a:ext cx="119725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支行｜客户经营前线</a:t>
              </a:r>
            </a:p>
          </p:txBody>
        </p:sp>
        <p:sp>
          <p:nvSpPr>
            <p:cNvPr id="42" name="TextBox 42"/>
            <p:cNvSpPr txBox="1"/>
            <p:nvPr/>
          </p:nvSpPr>
          <p:spPr>
            <a:xfrm>
              <a:off x="1512570" y="2871788"/>
              <a:ext cx="1927860" cy="147638"/>
            </a:xfrm>
            <a:prstGeom prst="rect">
              <a:avLst/>
            </a:prstGeom>
            <a:noFill/>
            <a:ln>
              <a:noFill/>
            </a:ln>
          </p:spPr>
          <p:txBody>
            <a:bodyPr wrap="none" lIns="0" tIns="0" rIns="0" bIns="0" anchor="t" anchorCtr="0">
              <a:spAutoFit/>
            </a:bodyPr>
            <a:lstStyle/>
            <a:p>
              <a:pPr algn="ctr"/>
              <a:r>
                <a:rPr lang="zh-CN" sz="750" dirty="0">
                  <a:solidFill>
                    <a:srgbClr val="EAF7F7"/>
                  </a:solidFill>
                  <a:latin typeface="+mn-lt"/>
                  <a:ea typeface="+mn-ea"/>
                  <a:cs typeface="+mn-cs"/>
                </a:rPr>
                <a:t>客户触达、需求识别、方案落地、持续服务</a:t>
              </a:r>
            </a:p>
          </p:txBody>
        </p:sp>
        <p:sp>
          <p:nvSpPr>
            <p:cNvPr id="43" name="Line 43"/>
            <p:cNvSpPr/>
            <p:nvPr/>
          </p:nvSpPr>
          <p:spPr>
            <a:xfrm>
              <a:off x="3905250" y="1314450"/>
              <a:ext cx="762000" cy="9525"/>
            </a:xfrm>
            <a:custGeom>
              <a:avLst/>
              <a:gdLst/>
              <a:ahLst/>
              <a:cxnLst/>
              <a:rect l="l" t="t" r="r" b="b"/>
              <a:pathLst>
                <a:path w="762000" h="9525">
                  <a:moveTo>
                    <a:pt x="0" y="0"/>
                  </a:moveTo>
                  <a:lnTo>
                    <a:pt x="762000" y="0"/>
                  </a:lnTo>
                </a:path>
              </a:pathLst>
            </a:custGeom>
            <a:noFill/>
            <a:ln w="11430">
              <a:solidFill>
                <a:srgbClr val="E5907F"/>
              </a:solidFill>
              <a:custDash>
                <a:ds d="333333" sp="250000"/>
              </a:custDash>
            </a:ln>
          </p:spPr>
        </p:sp>
        <p:sp>
          <p:nvSpPr>
            <p:cNvPr id="44" name="Line 44"/>
            <p:cNvSpPr/>
            <p:nvPr/>
          </p:nvSpPr>
          <p:spPr>
            <a:xfrm>
              <a:off x="4476750" y="2809875"/>
              <a:ext cx="190500" cy="9525"/>
            </a:xfrm>
            <a:custGeom>
              <a:avLst/>
              <a:gdLst/>
              <a:ahLst/>
              <a:cxnLst/>
              <a:rect l="l" t="t" r="r" b="b"/>
              <a:pathLst>
                <a:path w="190500" h="9525">
                  <a:moveTo>
                    <a:pt x="0" y="0"/>
                  </a:moveTo>
                  <a:lnTo>
                    <a:pt x="190500" y="0"/>
                  </a:lnTo>
                </a:path>
              </a:pathLst>
            </a:custGeom>
            <a:noFill/>
            <a:ln w="11430">
              <a:solidFill>
                <a:srgbClr val="E5907F"/>
              </a:solidFill>
              <a:custDash>
                <a:ds d="333333" sp="250000"/>
              </a:custDash>
            </a:ln>
          </p:spPr>
        </p:sp>
        <p:sp>
          <p:nvSpPr>
            <p:cNvPr id="45" name="Rectangle 45"/>
            <p:cNvSpPr/>
            <p:nvPr/>
          </p:nvSpPr>
          <p:spPr>
            <a:xfrm>
              <a:off x="4667250" y="1066800"/>
              <a:ext cx="952500" cy="2000250"/>
            </a:xfrm>
            <a:prstGeom prst="roundRect">
              <a:avLst>
                <a:gd name="adj" fmla="val 6000"/>
              </a:avLst>
            </a:prstGeom>
            <a:solidFill>
              <a:srgbClr val="FFFFFF"/>
            </a:solidFill>
            <a:ln w="9525">
              <a:solidFill>
                <a:srgbClr val="C9D8EF"/>
              </a:solidFill>
            </a:ln>
          </p:spPr>
        </p:sp>
        <p:sp>
          <p:nvSpPr>
            <p:cNvPr id="46" name="Rectangle 46"/>
            <p:cNvSpPr/>
            <p:nvPr/>
          </p:nvSpPr>
          <p:spPr>
            <a:xfrm>
              <a:off x="4667250" y="1066800"/>
              <a:ext cx="952500" cy="209550"/>
            </a:xfrm>
            <a:prstGeom prst="roundRect">
              <a:avLst>
                <a:gd name="adj" fmla="val 27273"/>
              </a:avLst>
            </a:prstGeom>
            <a:solidFill>
              <a:srgbClr val="EAF2FC"/>
            </a:solidFill>
            <a:ln>
              <a:noFill/>
            </a:ln>
          </p:spPr>
        </p:sp>
        <p:sp>
          <p:nvSpPr>
            <p:cNvPr id="47" name="TextBox 47"/>
            <p:cNvSpPr txBox="1"/>
            <p:nvPr/>
          </p:nvSpPr>
          <p:spPr>
            <a:xfrm>
              <a:off x="4917961" y="1120616"/>
              <a:ext cx="451079"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专家支持</a:t>
              </a:r>
            </a:p>
          </p:txBody>
        </p:sp>
        <p:grpSp>
          <p:nvGrpSpPr>
            <p:cNvPr id="50" name="Group 50"/>
            <p:cNvGrpSpPr/>
            <p:nvPr/>
          </p:nvGrpSpPr>
          <p:grpSpPr>
            <a:xfrm>
              <a:off x="4781550" y="1384300"/>
              <a:ext cx="114300" cy="93409"/>
              <a:chOff x="4781550" y="1384300"/>
              <a:chExt cx="114300" cy="93409"/>
            </a:xfrm>
          </p:grpSpPr>
          <p:sp>
            <p:nvSpPr>
              <p:cNvPr id="48" name="Freeform 48"/>
              <p:cNvSpPr/>
              <p:nvPr/>
            </p:nvSpPr>
            <p:spPr>
              <a:xfrm>
                <a:off x="4781550" y="1384300"/>
                <a:ext cx="114300" cy="93409"/>
              </a:xfrm>
              <a:custGeom>
                <a:avLst/>
                <a:gdLst/>
                <a:ahLst/>
                <a:cxnLst/>
                <a:rect l="l" t="t" r="r" b="b"/>
                <a:pathLst>
                  <a:path w="114300" h="93409">
                    <a:moveTo>
                      <a:pt x="19050" y="0"/>
                    </a:moveTo>
                    <a:lnTo>
                      <a:pt x="95250" y="0"/>
                    </a:lnTo>
                    <a:lnTo>
                      <a:pt x="114300" y="31750"/>
                    </a:lnTo>
                    <a:lnTo>
                      <a:pt x="60325" y="92075"/>
                    </a:lnTo>
                    <a:cubicBezTo>
                      <a:pt x="59489" y="92928"/>
                      <a:pt x="58345" y="93409"/>
                      <a:pt x="57150" y="93409"/>
                    </a:cubicBezTo>
                    <a:cubicBezTo>
                      <a:pt x="55955" y="93409"/>
                      <a:pt x="54811" y="92928"/>
                      <a:pt x="53975" y="92075"/>
                    </a:cubicBezTo>
                    <a:lnTo>
                      <a:pt x="0" y="31750"/>
                    </a:lnTo>
                    <a:lnTo>
                      <a:pt x="19050" y="0"/>
                    </a:lnTo>
                  </a:path>
                </a:pathLst>
              </a:custGeom>
              <a:noFill/>
              <a:ln w="12700">
                <a:solidFill>
                  <a:srgbClr val="A8351D"/>
                </a:solidFill>
              </a:ln>
            </p:spPr>
          </p:sp>
          <p:sp>
            <p:nvSpPr>
              <p:cNvPr id="49" name="Freeform 49"/>
              <p:cNvSpPr/>
              <p:nvPr/>
            </p:nvSpPr>
            <p:spPr>
              <a:xfrm>
                <a:off x="4813300" y="1408430"/>
                <a:ext cx="12700" cy="20320"/>
              </a:xfrm>
              <a:custGeom>
                <a:avLst/>
                <a:gdLst/>
                <a:ahLst/>
                <a:cxnLst/>
                <a:rect l="l" t="t" r="r" b="b"/>
                <a:pathLst>
                  <a:path w="12700" h="20320">
                    <a:moveTo>
                      <a:pt x="12700" y="20320"/>
                    </a:moveTo>
                    <a:lnTo>
                      <a:pt x="0" y="6350"/>
                    </a:lnTo>
                    <a:lnTo>
                      <a:pt x="3810" y="0"/>
                    </a:lnTo>
                  </a:path>
                </a:pathLst>
              </a:custGeom>
              <a:noFill/>
              <a:ln w="12700">
                <a:solidFill>
                  <a:srgbClr val="A8351D"/>
                </a:solidFill>
              </a:ln>
            </p:spPr>
          </p:sp>
        </p:grpSp>
        <p:sp>
          <p:nvSpPr>
            <p:cNvPr id="51" name="TextBox 51"/>
            <p:cNvSpPr txBox="1"/>
            <p:nvPr/>
          </p:nvSpPr>
          <p:spPr>
            <a:xfrm>
              <a:off x="4967288" y="1387316"/>
              <a:ext cx="230302" cy="161925"/>
            </a:xfrm>
            <a:prstGeom prst="rect">
              <a:avLst/>
            </a:prstGeom>
            <a:noFill/>
            <a:ln>
              <a:noFill/>
            </a:ln>
          </p:spPr>
          <p:txBody>
            <a:bodyPr wrap="none" lIns="0" tIns="0" rIns="0" bIns="0" anchor="t" anchorCtr="0">
              <a:spAutoFit/>
            </a:bodyPr>
            <a:lstStyle/>
            <a:p>
              <a:pPr algn="l"/>
              <a:r>
                <a:rPr lang="zh-CN" sz="820" dirty="0">
                  <a:solidFill>
                    <a:srgbClr val="67281B"/>
                  </a:solidFill>
                  <a:latin typeface="+mn-lt"/>
                  <a:ea typeface="+mn-ea"/>
                  <a:cs typeface="+mn-cs"/>
                </a:rPr>
                <a:t>私行</a:t>
              </a:r>
            </a:p>
          </p:txBody>
        </p:sp>
        <p:grpSp>
          <p:nvGrpSpPr>
            <p:cNvPr id="54" name="Group 54"/>
            <p:cNvGrpSpPr/>
            <p:nvPr/>
          </p:nvGrpSpPr>
          <p:grpSpPr>
            <a:xfrm>
              <a:off x="4787900" y="1733550"/>
              <a:ext cx="101600" cy="92075"/>
              <a:chOff x="4787900" y="1733550"/>
              <a:chExt cx="101600" cy="92075"/>
            </a:xfrm>
          </p:grpSpPr>
          <p:sp>
            <p:nvSpPr>
              <p:cNvPr id="52" name="Freeform 52"/>
              <p:cNvSpPr/>
              <p:nvPr/>
            </p:nvSpPr>
            <p:spPr>
              <a:xfrm>
                <a:off x="4787900" y="1816100"/>
                <a:ext cx="101600" cy="9525"/>
              </a:xfrm>
              <a:custGeom>
                <a:avLst/>
                <a:gdLst/>
                <a:ahLst/>
                <a:cxnLst/>
                <a:rect l="l" t="t" r="r" b="b"/>
                <a:pathLst>
                  <a:path w="101600" h="9525">
                    <a:moveTo>
                      <a:pt x="0" y="0"/>
                    </a:moveTo>
                    <a:lnTo>
                      <a:pt x="101600" y="0"/>
                    </a:lnTo>
                  </a:path>
                </a:pathLst>
              </a:custGeom>
              <a:noFill/>
              <a:ln w="12700">
                <a:solidFill>
                  <a:srgbClr val="A8351D"/>
                </a:solidFill>
              </a:ln>
            </p:spPr>
          </p:sp>
          <p:sp>
            <p:nvSpPr>
              <p:cNvPr id="53" name="Freeform 53"/>
              <p:cNvSpPr/>
              <p:nvPr/>
            </p:nvSpPr>
            <p:spPr>
              <a:xfrm>
                <a:off x="4787900" y="173355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A8351D"/>
                </a:solidFill>
              </a:ln>
            </p:spPr>
          </p:sp>
        </p:grpSp>
        <p:sp>
          <p:nvSpPr>
            <p:cNvPr id="55" name="TextBox 55"/>
            <p:cNvSpPr txBox="1"/>
            <p:nvPr/>
          </p:nvSpPr>
          <p:spPr>
            <a:xfrm>
              <a:off x="4967288" y="1730216"/>
              <a:ext cx="230302" cy="161925"/>
            </a:xfrm>
            <a:prstGeom prst="rect">
              <a:avLst/>
            </a:prstGeom>
            <a:noFill/>
            <a:ln>
              <a:noFill/>
            </a:ln>
          </p:spPr>
          <p:txBody>
            <a:bodyPr wrap="none" lIns="0" tIns="0" rIns="0" bIns="0" anchor="t" anchorCtr="0">
              <a:spAutoFit/>
            </a:bodyPr>
            <a:lstStyle/>
            <a:p>
              <a:pPr algn="l"/>
              <a:r>
                <a:rPr lang="zh-CN" sz="820" dirty="0">
                  <a:solidFill>
                    <a:srgbClr val="67281B"/>
                  </a:solidFill>
                  <a:latin typeface="+mn-lt"/>
                  <a:ea typeface="+mn-ea"/>
                  <a:cs typeface="+mn-cs"/>
                </a:rPr>
                <a:t>投行</a:t>
              </a:r>
            </a:p>
          </p:txBody>
        </p:sp>
        <p:grpSp>
          <p:nvGrpSpPr>
            <p:cNvPr id="60" name="Group 60"/>
            <p:cNvGrpSpPr/>
            <p:nvPr/>
          </p:nvGrpSpPr>
          <p:grpSpPr>
            <a:xfrm>
              <a:off x="4781550" y="2070100"/>
              <a:ext cx="114300" cy="88900"/>
              <a:chOff x="4781550" y="2070100"/>
              <a:chExt cx="114300" cy="88900"/>
            </a:xfrm>
          </p:grpSpPr>
          <p:sp>
            <p:nvSpPr>
              <p:cNvPr id="56" name="Freeform 56"/>
              <p:cNvSpPr/>
              <p:nvPr/>
            </p:nvSpPr>
            <p:spPr>
              <a:xfrm>
                <a:off x="4781550" y="2070100"/>
                <a:ext cx="114300" cy="88900"/>
              </a:xfrm>
              <a:custGeom>
                <a:avLst/>
                <a:gdLst/>
                <a:ahLst/>
                <a:cxnLst/>
                <a:rect l="l" t="t" r="r" b="b"/>
                <a:pathLst>
                  <a:path w="114300" h="88900">
                    <a:moveTo>
                      <a:pt x="0" y="19050"/>
                    </a:moveTo>
                    <a:cubicBezTo>
                      <a:pt x="0" y="8529"/>
                      <a:pt x="8529" y="0"/>
                      <a:pt x="19050" y="0"/>
                    </a:cubicBezTo>
                    <a:lnTo>
                      <a:pt x="95250" y="0"/>
                    </a:lnTo>
                    <a:cubicBezTo>
                      <a:pt x="105771" y="0"/>
                      <a:pt x="114300" y="8529"/>
                      <a:pt x="114300" y="19050"/>
                    </a:cubicBezTo>
                    <a:lnTo>
                      <a:pt x="114300" y="69850"/>
                    </a:lnTo>
                    <a:cubicBezTo>
                      <a:pt x="114300" y="80371"/>
                      <a:pt x="105771" y="88900"/>
                      <a:pt x="95250" y="88900"/>
                    </a:cubicBezTo>
                    <a:lnTo>
                      <a:pt x="19050" y="88900"/>
                    </a:lnTo>
                    <a:cubicBezTo>
                      <a:pt x="8529" y="88900"/>
                      <a:pt x="0" y="80371"/>
                      <a:pt x="0" y="69850"/>
                    </a:cubicBezTo>
                    <a:lnTo>
                      <a:pt x="0" y="19050"/>
                    </a:lnTo>
                  </a:path>
                </a:pathLst>
              </a:custGeom>
              <a:noFill/>
              <a:ln w="12700">
                <a:solidFill>
                  <a:srgbClr val="A8351D"/>
                </a:solidFill>
              </a:ln>
            </p:spPr>
          </p:sp>
          <p:sp>
            <p:nvSpPr>
              <p:cNvPr id="57" name="Freeform 57"/>
              <p:cNvSpPr/>
              <p:nvPr/>
            </p:nvSpPr>
            <p:spPr>
              <a:xfrm>
                <a:off x="4781550" y="2101850"/>
                <a:ext cx="114300" cy="9525"/>
              </a:xfrm>
              <a:custGeom>
                <a:avLst/>
                <a:gdLst/>
                <a:ahLst/>
                <a:cxnLst/>
                <a:rect l="l" t="t" r="r" b="b"/>
                <a:pathLst>
                  <a:path w="114300" h="9525">
                    <a:moveTo>
                      <a:pt x="0" y="0"/>
                    </a:moveTo>
                    <a:lnTo>
                      <a:pt x="114300" y="0"/>
                    </a:lnTo>
                  </a:path>
                </a:pathLst>
              </a:custGeom>
              <a:noFill/>
              <a:ln w="12700">
                <a:solidFill>
                  <a:srgbClr val="A8351D"/>
                </a:solidFill>
              </a:ln>
            </p:spPr>
          </p:sp>
          <p:sp>
            <p:nvSpPr>
              <p:cNvPr id="58" name="Freeform 58"/>
              <p:cNvSpPr/>
              <p:nvPr/>
            </p:nvSpPr>
            <p:spPr>
              <a:xfrm>
                <a:off x="4806950" y="2133600"/>
                <a:ext cx="9525" cy="9525"/>
              </a:xfrm>
              <a:custGeom>
                <a:avLst/>
                <a:gdLst/>
                <a:ahLst/>
                <a:cxnLst/>
                <a:rect l="l" t="t" r="r" b="b"/>
                <a:pathLst>
                  <a:path w="9525" h="9525">
                    <a:moveTo>
                      <a:pt x="0" y="0"/>
                    </a:moveTo>
                    <a:lnTo>
                      <a:pt x="64" y="0"/>
                    </a:lnTo>
                  </a:path>
                </a:pathLst>
              </a:custGeom>
              <a:noFill/>
              <a:ln w="12700">
                <a:solidFill>
                  <a:srgbClr val="A8351D"/>
                </a:solidFill>
              </a:ln>
            </p:spPr>
          </p:sp>
          <p:sp>
            <p:nvSpPr>
              <p:cNvPr id="59" name="Freeform 59"/>
              <p:cNvSpPr/>
              <p:nvPr/>
            </p:nvSpPr>
            <p:spPr>
              <a:xfrm>
                <a:off x="4832350" y="2133600"/>
                <a:ext cx="12700" cy="9525"/>
              </a:xfrm>
              <a:custGeom>
                <a:avLst/>
                <a:gdLst/>
                <a:ahLst/>
                <a:cxnLst/>
                <a:rect l="l" t="t" r="r" b="b"/>
                <a:pathLst>
                  <a:path w="12700" h="9525">
                    <a:moveTo>
                      <a:pt x="0" y="0"/>
                    </a:moveTo>
                    <a:lnTo>
                      <a:pt x="12700" y="0"/>
                    </a:lnTo>
                  </a:path>
                </a:pathLst>
              </a:custGeom>
              <a:noFill/>
              <a:ln w="12700">
                <a:solidFill>
                  <a:srgbClr val="A8351D"/>
                </a:solidFill>
              </a:ln>
            </p:spPr>
          </p:sp>
        </p:grpSp>
        <p:sp>
          <p:nvSpPr>
            <p:cNvPr id="61" name="TextBox 61"/>
            <p:cNvSpPr txBox="1"/>
            <p:nvPr/>
          </p:nvSpPr>
          <p:spPr>
            <a:xfrm>
              <a:off x="4967288" y="2073116"/>
              <a:ext cx="340690" cy="161925"/>
            </a:xfrm>
            <a:prstGeom prst="rect">
              <a:avLst/>
            </a:prstGeom>
            <a:noFill/>
            <a:ln>
              <a:noFill/>
            </a:ln>
          </p:spPr>
          <p:txBody>
            <a:bodyPr wrap="none" lIns="0" tIns="0" rIns="0" bIns="0" anchor="t" anchorCtr="0">
              <a:spAutoFit/>
            </a:bodyPr>
            <a:lstStyle/>
            <a:p>
              <a:pPr algn="l"/>
              <a:r>
                <a:rPr lang="zh-CN" sz="820" dirty="0">
                  <a:solidFill>
                    <a:srgbClr val="67281B"/>
                  </a:solidFill>
                  <a:latin typeface="+mn-lt"/>
                  <a:ea typeface="+mn-ea"/>
                  <a:cs typeface="+mn-cs"/>
                </a:rPr>
                <a:t>信用卡</a:t>
              </a:r>
            </a:p>
          </p:txBody>
        </p:sp>
        <p:grpSp>
          <p:nvGrpSpPr>
            <p:cNvPr id="66" name="Group 66"/>
            <p:cNvGrpSpPr/>
            <p:nvPr/>
          </p:nvGrpSpPr>
          <p:grpSpPr>
            <a:xfrm>
              <a:off x="4779351" y="2405021"/>
              <a:ext cx="118583" cy="103229"/>
              <a:chOff x="4779351" y="2405021"/>
              <a:chExt cx="118583" cy="103229"/>
            </a:xfrm>
          </p:grpSpPr>
          <p:sp>
            <p:nvSpPr>
              <p:cNvPr id="62" name="Freeform 62"/>
              <p:cNvSpPr/>
              <p:nvPr/>
            </p:nvSpPr>
            <p:spPr>
              <a:xfrm>
                <a:off x="4779351" y="2405021"/>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A8351D"/>
                </a:solidFill>
              </a:ln>
            </p:spPr>
          </p:sp>
          <p:sp>
            <p:nvSpPr>
              <p:cNvPr id="63" name="Freeform 63"/>
              <p:cNvSpPr/>
              <p:nvPr/>
            </p:nvSpPr>
            <p:spPr>
              <a:xfrm>
                <a:off x="4815311" y="2419350"/>
                <a:ext cx="71015" cy="41275"/>
              </a:xfrm>
              <a:custGeom>
                <a:avLst/>
                <a:gdLst/>
                <a:ahLst/>
                <a:cxnLst/>
                <a:rect l="l" t="t" r="r" b="b"/>
                <a:pathLst>
                  <a:path w="71015" h="41275">
                    <a:moveTo>
                      <a:pt x="23389" y="0"/>
                    </a:moveTo>
                    <a:lnTo>
                      <a:pt x="2479" y="20911"/>
                    </a:lnTo>
                    <a:cubicBezTo>
                      <a:pt x="0" y="23390"/>
                      <a:pt x="0" y="27410"/>
                      <a:pt x="2479" y="29889"/>
                    </a:cubicBezTo>
                    <a:lnTo>
                      <a:pt x="5927" y="33338"/>
                    </a:lnTo>
                    <a:cubicBezTo>
                      <a:pt x="10308" y="37719"/>
                      <a:pt x="17420" y="37719"/>
                      <a:pt x="21802" y="33338"/>
                    </a:cubicBezTo>
                    <a:lnTo>
                      <a:pt x="28152" y="26988"/>
                    </a:lnTo>
                    <a:cubicBezTo>
                      <a:pt x="36043" y="19097"/>
                      <a:pt x="48836" y="19097"/>
                      <a:pt x="56727" y="26988"/>
                    </a:cubicBezTo>
                    <a:lnTo>
                      <a:pt x="71015" y="41275"/>
                    </a:lnTo>
                  </a:path>
                </a:pathLst>
              </a:custGeom>
              <a:noFill/>
              <a:ln w="12700">
                <a:solidFill>
                  <a:srgbClr val="A8351D"/>
                </a:solidFill>
              </a:ln>
            </p:spPr>
          </p:sp>
          <p:sp>
            <p:nvSpPr>
              <p:cNvPr id="64" name="Freeform 64"/>
              <p:cNvSpPr/>
              <p:nvPr/>
            </p:nvSpPr>
            <p:spPr>
              <a:xfrm>
                <a:off x="4841875" y="2479675"/>
                <a:ext cx="12700" cy="12700"/>
              </a:xfrm>
              <a:custGeom>
                <a:avLst/>
                <a:gdLst/>
                <a:ahLst/>
                <a:cxnLst/>
                <a:rect l="l" t="t" r="r" b="b"/>
                <a:pathLst>
                  <a:path w="12700" h="12700">
                    <a:moveTo>
                      <a:pt x="0" y="0"/>
                    </a:moveTo>
                    <a:lnTo>
                      <a:pt x="12700" y="12700"/>
                    </a:lnTo>
                  </a:path>
                </a:pathLst>
              </a:custGeom>
              <a:noFill/>
              <a:ln w="12700">
                <a:solidFill>
                  <a:srgbClr val="A8351D"/>
                </a:solidFill>
              </a:ln>
            </p:spPr>
          </p:sp>
          <p:sp>
            <p:nvSpPr>
              <p:cNvPr id="65" name="Freeform 65"/>
              <p:cNvSpPr/>
              <p:nvPr/>
            </p:nvSpPr>
            <p:spPr>
              <a:xfrm>
                <a:off x="4857750" y="2463800"/>
                <a:ext cx="12700" cy="12700"/>
              </a:xfrm>
              <a:custGeom>
                <a:avLst/>
                <a:gdLst/>
                <a:ahLst/>
                <a:cxnLst/>
                <a:rect l="l" t="t" r="r" b="b"/>
                <a:pathLst>
                  <a:path w="12700" h="12700">
                    <a:moveTo>
                      <a:pt x="0" y="0"/>
                    </a:moveTo>
                    <a:lnTo>
                      <a:pt x="12700" y="12700"/>
                    </a:lnTo>
                  </a:path>
                </a:pathLst>
              </a:custGeom>
              <a:noFill/>
              <a:ln w="12700">
                <a:solidFill>
                  <a:srgbClr val="A8351D"/>
                </a:solidFill>
              </a:ln>
            </p:spPr>
          </p:sp>
        </p:grpSp>
        <p:sp>
          <p:nvSpPr>
            <p:cNvPr id="67" name="TextBox 67"/>
            <p:cNvSpPr txBox="1"/>
            <p:nvPr/>
          </p:nvSpPr>
          <p:spPr>
            <a:xfrm>
              <a:off x="4967288" y="2416016"/>
              <a:ext cx="340690" cy="161925"/>
            </a:xfrm>
            <a:prstGeom prst="rect">
              <a:avLst/>
            </a:prstGeom>
            <a:noFill/>
            <a:ln>
              <a:noFill/>
            </a:ln>
          </p:spPr>
          <p:txBody>
            <a:bodyPr wrap="none" lIns="0" tIns="0" rIns="0" bIns="0" anchor="t" anchorCtr="0">
              <a:spAutoFit/>
            </a:bodyPr>
            <a:lstStyle/>
            <a:p>
              <a:pPr algn="l"/>
              <a:r>
                <a:rPr lang="zh-CN" sz="820" dirty="0">
                  <a:solidFill>
                    <a:srgbClr val="67281B"/>
                  </a:solidFill>
                  <a:latin typeface="+mn-lt"/>
                  <a:ea typeface="+mn-ea"/>
                  <a:cs typeface="+mn-cs"/>
                </a:rPr>
                <a:t>养老金</a:t>
              </a:r>
            </a:p>
          </p:txBody>
        </p:sp>
        <p:grpSp>
          <p:nvGrpSpPr>
            <p:cNvPr id="71" name="Group 71"/>
            <p:cNvGrpSpPr/>
            <p:nvPr/>
          </p:nvGrpSpPr>
          <p:grpSpPr>
            <a:xfrm>
              <a:off x="4800600" y="2743200"/>
              <a:ext cx="76200" cy="114300"/>
              <a:chOff x="4800600" y="2743200"/>
              <a:chExt cx="76200" cy="114300"/>
            </a:xfrm>
          </p:grpSpPr>
          <p:sp>
            <p:nvSpPr>
              <p:cNvPr id="68" name="Freeform 68"/>
              <p:cNvSpPr/>
              <p:nvPr/>
            </p:nvSpPr>
            <p:spPr>
              <a:xfrm>
                <a:off x="4800600" y="274320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A8351D"/>
                </a:solidFill>
              </a:ln>
            </p:spPr>
          </p:sp>
          <p:sp>
            <p:nvSpPr>
              <p:cNvPr id="69" name="Freeform 69"/>
              <p:cNvSpPr/>
              <p:nvPr/>
            </p:nvSpPr>
            <p:spPr>
              <a:xfrm>
                <a:off x="4832350" y="2749550"/>
                <a:ext cx="12700" cy="9525"/>
              </a:xfrm>
              <a:custGeom>
                <a:avLst/>
                <a:gdLst/>
                <a:ahLst/>
                <a:cxnLst/>
                <a:rect l="l" t="t" r="r" b="b"/>
                <a:pathLst>
                  <a:path w="12700" h="9525">
                    <a:moveTo>
                      <a:pt x="0" y="0"/>
                    </a:moveTo>
                    <a:lnTo>
                      <a:pt x="12700" y="0"/>
                    </a:lnTo>
                  </a:path>
                </a:pathLst>
              </a:custGeom>
              <a:noFill/>
              <a:ln w="12700">
                <a:solidFill>
                  <a:srgbClr val="A8351D"/>
                </a:solidFill>
              </a:ln>
            </p:spPr>
          </p:sp>
          <p:sp>
            <p:nvSpPr>
              <p:cNvPr id="70" name="Freeform 70"/>
              <p:cNvSpPr/>
              <p:nvPr/>
            </p:nvSpPr>
            <p:spPr>
              <a:xfrm>
                <a:off x="4838700" y="2832100"/>
                <a:ext cx="9525" cy="9525"/>
              </a:xfrm>
              <a:custGeom>
                <a:avLst/>
                <a:gdLst/>
                <a:ahLst/>
                <a:cxnLst/>
                <a:rect l="l" t="t" r="r" b="b"/>
                <a:pathLst>
                  <a:path w="9525" h="9525">
                    <a:moveTo>
                      <a:pt x="0" y="0"/>
                    </a:moveTo>
                    <a:lnTo>
                      <a:pt x="0" y="64"/>
                    </a:lnTo>
                  </a:path>
                </a:pathLst>
              </a:custGeom>
              <a:noFill/>
              <a:ln w="12700">
                <a:solidFill>
                  <a:srgbClr val="A8351D"/>
                </a:solidFill>
              </a:ln>
            </p:spPr>
          </p:sp>
        </p:grpSp>
        <p:sp>
          <p:nvSpPr>
            <p:cNvPr id="72" name="TextBox 72"/>
            <p:cNvSpPr txBox="1"/>
            <p:nvPr/>
          </p:nvSpPr>
          <p:spPr>
            <a:xfrm>
              <a:off x="4967288" y="2758916"/>
              <a:ext cx="230302" cy="161925"/>
            </a:xfrm>
            <a:prstGeom prst="rect">
              <a:avLst/>
            </a:prstGeom>
            <a:noFill/>
            <a:ln>
              <a:noFill/>
            </a:ln>
          </p:spPr>
          <p:txBody>
            <a:bodyPr wrap="none" lIns="0" tIns="0" rIns="0" bIns="0" anchor="t" anchorCtr="0">
              <a:spAutoFit/>
            </a:bodyPr>
            <a:lstStyle/>
            <a:p>
              <a:pPr algn="l"/>
              <a:r>
                <a:rPr lang="zh-CN" sz="820" dirty="0">
                  <a:solidFill>
                    <a:srgbClr val="67281B"/>
                  </a:solidFill>
                  <a:latin typeface="+mn-lt"/>
                  <a:ea typeface="+mn-ea"/>
                  <a:cs typeface="+mn-cs"/>
                </a:rPr>
                <a:t>科技</a:t>
              </a:r>
            </a:p>
          </p:txBody>
        </p:sp>
      </p:grpSp>
      <p:grpSp>
        <p:nvGrpSpPr>
          <p:cNvPr id="120" name="dual-manager"/>
          <p:cNvGrpSpPr/>
          <p:nvPr/>
        </p:nvGrpSpPr>
        <p:grpSpPr>
          <a:xfrm>
            <a:off x="5867400" y="704850"/>
            <a:ext cx="5943600" cy="2705100"/>
            <a:chOff x="5867400" y="704850"/>
            <a:chExt cx="5943600" cy="2705100"/>
          </a:xfrm>
        </p:grpSpPr>
        <p:sp>
          <p:nvSpPr>
            <p:cNvPr id="74" name="Rectangle 74"/>
            <p:cNvSpPr/>
            <p:nvPr/>
          </p:nvSpPr>
          <p:spPr>
            <a:xfrm>
              <a:off x="5867400" y="704850"/>
              <a:ext cx="5943600" cy="2705100"/>
            </a:xfrm>
            <a:prstGeom prst="roundRect">
              <a:avLst>
                <a:gd name="adj" fmla="val 3521"/>
              </a:avLst>
            </a:prstGeom>
            <a:solidFill>
              <a:srgbClr val="F9FBFE"/>
            </a:solidFill>
            <a:ln w="9525">
              <a:solidFill>
                <a:srgbClr val="C9D8EF"/>
              </a:solidFill>
            </a:ln>
          </p:spPr>
        </p:sp>
        <p:sp>
          <p:nvSpPr>
            <p:cNvPr id="75" name="Rectangle 75"/>
            <p:cNvSpPr/>
            <p:nvPr/>
          </p:nvSpPr>
          <p:spPr>
            <a:xfrm>
              <a:off x="5867400" y="704850"/>
              <a:ext cx="1905000" cy="285750"/>
            </a:xfrm>
            <a:prstGeom prst="roundRect">
              <a:avLst>
                <a:gd name="adj" fmla="val 13333"/>
              </a:avLst>
            </a:prstGeom>
            <a:gradFill>
              <a:gsLst>
                <a:gs pos="0">
                  <a:srgbClr val="AD3921"/>
                </a:gs>
                <a:gs pos="100000">
                  <a:srgbClr val="962C16"/>
                </a:gs>
              </a:gsLst>
              <a:lin ang="5400000" scaled="1"/>
            </a:gradFill>
            <a:ln>
              <a:noFill/>
            </a:ln>
          </p:spPr>
        </p:sp>
        <p:sp>
          <p:nvSpPr>
            <p:cNvPr id="76" name="TextBox 76"/>
            <p:cNvSpPr txBox="1"/>
            <p:nvPr/>
          </p:nvSpPr>
          <p:spPr>
            <a:xfrm>
              <a:off x="6338875" y="795576"/>
              <a:ext cx="962050"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双客户经理机制</a:t>
              </a:r>
            </a:p>
          </p:txBody>
        </p:sp>
        <p:sp>
          <p:nvSpPr>
            <p:cNvPr id="77" name="Rectangle 77"/>
            <p:cNvSpPr/>
            <p:nvPr/>
          </p:nvSpPr>
          <p:spPr>
            <a:xfrm>
              <a:off x="6057900" y="1066800"/>
              <a:ext cx="2000250" cy="1809750"/>
            </a:xfrm>
            <a:prstGeom prst="roundRect">
              <a:avLst>
                <a:gd name="adj" fmla="val 4211"/>
              </a:avLst>
            </a:prstGeom>
            <a:solidFill>
              <a:srgbClr val="FFFFFF"/>
            </a:solidFill>
            <a:ln w="9525">
              <a:solidFill>
                <a:srgbClr val="C9D8EF"/>
              </a:solidFill>
            </a:ln>
          </p:spPr>
        </p:sp>
        <p:sp>
          <p:nvSpPr>
            <p:cNvPr id="78" name="Rectangle 78"/>
            <p:cNvSpPr/>
            <p:nvPr/>
          </p:nvSpPr>
          <p:spPr>
            <a:xfrm>
              <a:off x="6057900" y="1066800"/>
              <a:ext cx="2000250" cy="438150"/>
            </a:xfrm>
            <a:prstGeom prst="roundRect">
              <a:avLst>
                <a:gd name="adj" fmla="val 17391"/>
              </a:avLst>
            </a:prstGeom>
            <a:solidFill>
              <a:srgbClr val="A8351D"/>
            </a:solidFill>
            <a:ln>
              <a:noFill/>
            </a:ln>
          </p:spPr>
        </p:sp>
        <p:grpSp>
          <p:nvGrpSpPr>
            <p:cNvPr id="82" name="Group 82"/>
            <p:cNvGrpSpPr/>
            <p:nvPr/>
          </p:nvGrpSpPr>
          <p:grpSpPr>
            <a:xfrm>
              <a:off x="6248400" y="1200150"/>
              <a:ext cx="142875" cy="171450"/>
              <a:chOff x="6248400" y="1200150"/>
              <a:chExt cx="142875" cy="171450"/>
            </a:xfrm>
          </p:grpSpPr>
          <p:sp>
            <p:nvSpPr>
              <p:cNvPr id="79" name="Freeform 79"/>
              <p:cNvSpPr/>
              <p:nvPr/>
            </p:nvSpPr>
            <p:spPr>
              <a:xfrm>
                <a:off x="6267450" y="12001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80" name="Freeform 80"/>
              <p:cNvSpPr/>
              <p:nvPr/>
            </p:nvSpPr>
            <p:spPr>
              <a:xfrm>
                <a:off x="6248400" y="1314450"/>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FFFFFF"/>
                </a:solidFill>
              </a:ln>
            </p:spPr>
          </p:sp>
          <p:sp>
            <p:nvSpPr>
              <p:cNvPr id="81" name="Freeform 81"/>
              <p:cNvSpPr/>
              <p:nvPr/>
            </p:nvSpPr>
            <p:spPr>
              <a:xfrm>
                <a:off x="6334125" y="1333500"/>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83" name="TextBox 83"/>
            <p:cNvSpPr txBox="1"/>
            <p:nvPr/>
          </p:nvSpPr>
          <p:spPr>
            <a:xfrm>
              <a:off x="6529197" y="1152049"/>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公司客户经理</a:t>
              </a:r>
            </a:p>
          </p:txBody>
        </p:sp>
        <p:sp>
          <p:nvSpPr>
            <p:cNvPr id="84" name="TextBox 84"/>
            <p:cNvSpPr txBox="1"/>
            <p:nvPr/>
          </p:nvSpPr>
          <p:spPr>
            <a:xfrm>
              <a:off x="6529388" y="1343739"/>
              <a:ext cx="328574" cy="154781"/>
            </a:xfrm>
            <a:prstGeom prst="rect">
              <a:avLst/>
            </a:prstGeom>
            <a:noFill/>
            <a:ln>
              <a:noFill/>
            </a:ln>
          </p:spPr>
          <p:txBody>
            <a:bodyPr wrap="none" lIns="0" tIns="0" rIns="0" bIns="0" anchor="t" anchorCtr="0">
              <a:spAutoFit/>
            </a:bodyPr>
            <a:lstStyle/>
            <a:p>
              <a:pPr algn="l"/>
              <a:r>
                <a:rPr lang="zh-CN" sz="790" b="1" dirty="0">
                  <a:solidFill>
                    <a:srgbClr val="E58878"/>
                  </a:solidFill>
                  <a:latin typeface="+mn-lt"/>
                  <a:ea typeface="+mn-ea"/>
                  <a:cs typeface="+mn-cs"/>
                </a:rPr>
                <a:t>双主办</a:t>
              </a:r>
            </a:p>
          </p:txBody>
        </p:sp>
        <p:sp>
          <p:nvSpPr>
            <p:cNvPr id="85" name="Ellipse 85"/>
            <p:cNvSpPr/>
            <p:nvPr/>
          </p:nvSpPr>
          <p:spPr>
            <a:xfrm>
              <a:off x="6219825" y="1704975"/>
              <a:ext cx="57150" cy="57150"/>
            </a:xfrm>
            <a:prstGeom prst="ellipse">
              <a:avLst/>
            </a:prstGeom>
            <a:solidFill>
              <a:srgbClr val="A8351D"/>
            </a:solidFill>
            <a:ln>
              <a:noFill/>
            </a:ln>
          </p:spPr>
        </p:sp>
        <p:sp>
          <p:nvSpPr>
            <p:cNvPr id="86" name="TextBox 86"/>
            <p:cNvSpPr txBox="1"/>
            <p:nvPr/>
          </p:nvSpPr>
          <p:spPr>
            <a:xfrm>
              <a:off x="6357938" y="1678543"/>
              <a:ext cx="472618"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企业关系</a:t>
              </a:r>
            </a:p>
          </p:txBody>
        </p:sp>
        <p:sp>
          <p:nvSpPr>
            <p:cNvPr id="87" name="Ellipse 87"/>
            <p:cNvSpPr/>
            <p:nvPr/>
          </p:nvSpPr>
          <p:spPr>
            <a:xfrm>
              <a:off x="6219825" y="1990725"/>
              <a:ext cx="57150" cy="57150"/>
            </a:xfrm>
            <a:prstGeom prst="ellipse">
              <a:avLst/>
            </a:prstGeom>
            <a:solidFill>
              <a:srgbClr val="A8351D"/>
            </a:solidFill>
            <a:ln>
              <a:noFill/>
            </a:ln>
          </p:spPr>
        </p:sp>
        <p:sp>
          <p:nvSpPr>
            <p:cNvPr id="88" name="TextBox 88"/>
            <p:cNvSpPr txBox="1"/>
            <p:nvPr/>
          </p:nvSpPr>
          <p:spPr>
            <a:xfrm>
              <a:off x="6357938" y="1964293"/>
              <a:ext cx="472618"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对公需求</a:t>
              </a:r>
            </a:p>
          </p:txBody>
        </p:sp>
        <p:sp>
          <p:nvSpPr>
            <p:cNvPr id="89" name="Ellipse 89"/>
            <p:cNvSpPr/>
            <p:nvPr/>
          </p:nvSpPr>
          <p:spPr>
            <a:xfrm>
              <a:off x="6219825" y="2276475"/>
              <a:ext cx="57150" cy="57150"/>
            </a:xfrm>
            <a:prstGeom prst="ellipse">
              <a:avLst/>
            </a:prstGeom>
            <a:solidFill>
              <a:srgbClr val="A8351D"/>
            </a:solidFill>
            <a:ln>
              <a:noFill/>
            </a:ln>
          </p:spPr>
        </p:sp>
        <p:sp>
          <p:nvSpPr>
            <p:cNvPr id="90" name="TextBox 90"/>
            <p:cNvSpPr txBox="1"/>
            <p:nvPr/>
          </p:nvSpPr>
          <p:spPr>
            <a:xfrm>
              <a:off x="6357938" y="2250043"/>
              <a:ext cx="588391"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产业链场景</a:t>
              </a:r>
            </a:p>
          </p:txBody>
        </p:sp>
        <p:sp>
          <p:nvSpPr>
            <p:cNvPr id="91" name="Line 91"/>
            <p:cNvSpPr/>
            <p:nvPr/>
          </p:nvSpPr>
          <p:spPr>
            <a:xfrm>
              <a:off x="8115300" y="1905000"/>
              <a:ext cx="323850" cy="1"/>
            </a:xfrm>
            <a:prstGeom prst="line">
              <a:avLst/>
            </a:prstGeom>
            <a:noFill/>
            <a:ln w="19050">
              <a:solidFill>
                <a:srgbClr val="D64A2E"/>
              </a:solidFill>
              <a:tailEnd type="triangle" w="lg" len="lg"/>
            </a:ln>
          </p:spPr>
        </p:sp>
        <p:sp>
          <p:nvSpPr>
            <p:cNvPr id="92" name="Ellipse 92"/>
            <p:cNvSpPr/>
            <p:nvPr/>
          </p:nvSpPr>
          <p:spPr>
            <a:xfrm>
              <a:off x="8515350" y="1543050"/>
              <a:ext cx="647700" cy="647700"/>
            </a:xfrm>
            <a:prstGeom prst="ellipse">
              <a:avLst/>
            </a:prstGeom>
            <a:solidFill>
              <a:srgbClr val="EAF2FC"/>
            </a:solidFill>
            <a:ln w="14288">
              <a:solidFill>
                <a:srgbClr val="E5907F"/>
              </a:solidFill>
            </a:ln>
          </p:spPr>
        </p:sp>
        <p:grpSp>
          <p:nvGrpSpPr>
            <p:cNvPr id="101" name="Group 101"/>
            <p:cNvGrpSpPr/>
            <p:nvPr/>
          </p:nvGrpSpPr>
          <p:grpSpPr>
            <a:xfrm>
              <a:off x="8724900" y="1752600"/>
              <a:ext cx="228599" cy="238124"/>
              <a:chOff x="8724900" y="1752600"/>
              <a:chExt cx="228599" cy="238124"/>
            </a:xfrm>
          </p:grpSpPr>
          <p:sp>
            <p:nvSpPr>
              <p:cNvPr id="93" name="Freeform 93"/>
              <p:cNvSpPr/>
              <p:nvPr/>
            </p:nvSpPr>
            <p:spPr>
              <a:xfrm>
                <a:off x="8724900" y="1981199"/>
                <a:ext cx="228599" cy="9525"/>
              </a:xfrm>
              <a:custGeom>
                <a:avLst/>
                <a:gdLst/>
                <a:ahLst/>
                <a:cxnLst/>
                <a:rect l="l" t="t" r="r" b="b"/>
                <a:pathLst>
                  <a:path w="228599" h="9525">
                    <a:moveTo>
                      <a:pt x="0" y="0"/>
                    </a:moveTo>
                    <a:lnTo>
                      <a:pt x="228599" y="0"/>
                    </a:lnTo>
                  </a:path>
                </a:pathLst>
              </a:custGeom>
              <a:noFill/>
              <a:ln w="25400">
                <a:solidFill>
                  <a:srgbClr val="A8351D"/>
                </a:solidFill>
              </a:ln>
            </p:spPr>
          </p:sp>
          <p:sp>
            <p:nvSpPr>
              <p:cNvPr id="94" name="Freeform 94"/>
              <p:cNvSpPr/>
              <p:nvPr/>
            </p:nvSpPr>
            <p:spPr>
              <a:xfrm>
                <a:off x="8801100" y="1816100"/>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95" name="Freeform 95"/>
              <p:cNvSpPr/>
              <p:nvPr/>
            </p:nvSpPr>
            <p:spPr>
              <a:xfrm>
                <a:off x="8801100" y="1866900"/>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96" name="Freeform 96"/>
              <p:cNvSpPr/>
              <p:nvPr/>
            </p:nvSpPr>
            <p:spPr>
              <a:xfrm>
                <a:off x="8801100" y="1917699"/>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97" name="Freeform 97"/>
              <p:cNvSpPr/>
              <p:nvPr/>
            </p:nvSpPr>
            <p:spPr>
              <a:xfrm>
                <a:off x="8864600" y="1816100"/>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98" name="Freeform 98"/>
              <p:cNvSpPr/>
              <p:nvPr/>
            </p:nvSpPr>
            <p:spPr>
              <a:xfrm>
                <a:off x="8864600" y="1866900"/>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99" name="Freeform 99"/>
              <p:cNvSpPr/>
              <p:nvPr/>
            </p:nvSpPr>
            <p:spPr>
              <a:xfrm>
                <a:off x="8864600" y="1917699"/>
                <a:ext cx="12700" cy="9525"/>
              </a:xfrm>
              <a:custGeom>
                <a:avLst/>
                <a:gdLst/>
                <a:ahLst/>
                <a:cxnLst/>
                <a:rect l="l" t="t" r="r" b="b"/>
                <a:pathLst>
                  <a:path w="12700" h="9525">
                    <a:moveTo>
                      <a:pt x="0" y="0"/>
                    </a:moveTo>
                    <a:lnTo>
                      <a:pt x="12700" y="0"/>
                    </a:lnTo>
                  </a:path>
                </a:pathLst>
              </a:custGeom>
              <a:noFill/>
              <a:ln w="25400">
                <a:solidFill>
                  <a:srgbClr val="A8351D"/>
                </a:solidFill>
              </a:ln>
            </p:spPr>
          </p:sp>
          <p:sp>
            <p:nvSpPr>
              <p:cNvPr id="100" name="Freeform 100"/>
              <p:cNvSpPr/>
              <p:nvPr/>
            </p:nvSpPr>
            <p:spPr>
              <a:xfrm>
                <a:off x="8750300" y="1752600"/>
                <a:ext cx="177800" cy="228599"/>
              </a:xfrm>
              <a:custGeom>
                <a:avLst/>
                <a:gdLst/>
                <a:ahLst/>
                <a:cxnLst/>
                <a:rect l="l" t="t" r="r" b="b"/>
                <a:pathLst>
                  <a:path w="177800" h="228599">
                    <a:moveTo>
                      <a:pt x="0" y="228599"/>
                    </a:moveTo>
                    <a:lnTo>
                      <a:pt x="0" y="25400"/>
                    </a:lnTo>
                    <a:cubicBezTo>
                      <a:pt x="0" y="11372"/>
                      <a:pt x="11372" y="0"/>
                      <a:pt x="25400" y="0"/>
                    </a:cubicBezTo>
                    <a:lnTo>
                      <a:pt x="152400" y="0"/>
                    </a:lnTo>
                    <a:cubicBezTo>
                      <a:pt x="166428" y="0"/>
                      <a:pt x="177800" y="11372"/>
                      <a:pt x="177800" y="25400"/>
                    </a:cubicBezTo>
                    <a:lnTo>
                      <a:pt x="177800" y="228599"/>
                    </a:lnTo>
                  </a:path>
                </a:pathLst>
              </a:custGeom>
              <a:noFill/>
              <a:ln w="25400">
                <a:solidFill>
                  <a:srgbClr val="A8351D"/>
                </a:solidFill>
              </a:ln>
            </p:spPr>
          </p:sp>
        </p:grpSp>
        <p:sp>
          <p:nvSpPr>
            <p:cNvPr id="102" name="TextBox 102"/>
            <p:cNvSpPr txBox="1"/>
            <p:nvPr/>
          </p:nvSpPr>
          <p:spPr>
            <a:xfrm>
              <a:off x="8470964" y="2303145"/>
              <a:ext cx="736473"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重点企业客户</a:t>
              </a:r>
            </a:p>
          </p:txBody>
        </p:sp>
        <p:sp>
          <p:nvSpPr>
            <p:cNvPr id="103" name="Line 103"/>
            <p:cNvSpPr/>
            <p:nvPr/>
          </p:nvSpPr>
          <p:spPr>
            <a:xfrm flipH="1">
              <a:off x="9239250" y="1905000"/>
              <a:ext cx="323850" cy="1"/>
            </a:xfrm>
            <a:prstGeom prst="line">
              <a:avLst/>
            </a:prstGeom>
            <a:noFill/>
            <a:ln w="19050">
              <a:solidFill>
                <a:srgbClr val="D64A2E"/>
              </a:solidFill>
              <a:tailEnd type="triangle" w="lg" len="lg"/>
            </a:ln>
          </p:spPr>
        </p:sp>
        <p:sp>
          <p:nvSpPr>
            <p:cNvPr id="104" name="Rectangle 104"/>
            <p:cNvSpPr/>
            <p:nvPr/>
          </p:nvSpPr>
          <p:spPr>
            <a:xfrm>
              <a:off x="9620250" y="1066800"/>
              <a:ext cx="2000250" cy="1809750"/>
            </a:xfrm>
            <a:prstGeom prst="roundRect">
              <a:avLst>
                <a:gd name="adj" fmla="val 4211"/>
              </a:avLst>
            </a:prstGeom>
            <a:solidFill>
              <a:srgbClr val="FFFFFF"/>
            </a:solidFill>
            <a:ln w="9525">
              <a:solidFill>
                <a:srgbClr val="C9D8EF"/>
              </a:solidFill>
            </a:ln>
          </p:spPr>
        </p:sp>
        <p:sp>
          <p:nvSpPr>
            <p:cNvPr id="105" name="Rectangle 105"/>
            <p:cNvSpPr/>
            <p:nvPr/>
          </p:nvSpPr>
          <p:spPr>
            <a:xfrm>
              <a:off x="9620250" y="1066800"/>
              <a:ext cx="2000250" cy="438150"/>
            </a:xfrm>
            <a:prstGeom prst="roundRect">
              <a:avLst>
                <a:gd name="adj" fmla="val 17391"/>
              </a:avLst>
            </a:prstGeom>
            <a:solidFill>
              <a:srgbClr val="A5280F"/>
            </a:solidFill>
            <a:ln>
              <a:noFill/>
            </a:ln>
          </p:spPr>
        </p:sp>
        <p:grpSp>
          <p:nvGrpSpPr>
            <p:cNvPr id="109" name="Group 109"/>
            <p:cNvGrpSpPr/>
            <p:nvPr/>
          </p:nvGrpSpPr>
          <p:grpSpPr>
            <a:xfrm>
              <a:off x="9810750" y="1200150"/>
              <a:ext cx="152650" cy="181211"/>
              <a:chOff x="9810750" y="1200150"/>
              <a:chExt cx="152650" cy="181211"/>
            </a:xfrm>
          </p:grpSpPr>
          <p:sp>
            <p:nvSpPr>
              <p:cNvPr id="106" name="Freeform 106"/>
              <p:cNvSpPr/>
              <p:nvPr/>
            </p:nvSpPr>
            <p:spPr>
              <a:xfrm>
                <a:off x="9829800" y="12001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07" name="Freeform 107"/>
              <p:cNvSpPr/>
              <p:nvPr/>
            </p:nvSpPr>
            <p:spPr>
              <a:xfrm>
                <a:off x="9810750" y="1314450"/>
                <a:ext cx="42862" cy="57150"/>
              </a:xfrm>
              <a:custGeom>
                <a:avLst/>
                <a:gdLst/>
                <a:ahLst/>
                <a:cxnLst/>
                <a:rect l="l" t="t" r="r" b="b"/>
                <a:pathLst>
                  <a:path w="42862" h="57150">
                    <a:moveTo>
                      <a:pt x="0" y="57150"/>
                    </a:moveTo>
                    <a:lnTo>
                      <a:pt x="0" y="38100"/>
                    </a:lnTo>
                    <a:cubicBezTo>
                      <a:pt x="0" y="17058"/>
                      <a:pt x="17058" y="0"/>
                      <a:pt x="38100" y="0"/>
                    </a:cubicBezTo>
                    <a:lnTo>
                      <a:pt x="42862" y="0"/>
                    </a:lnTo>
                  </a:path>
                </a:pathLst>
              </a:custGeom>
              <a:noFill/>
              <a:ln w="19050">
                <a:solidFill>
                  <a:srgbClr val="FFFFFF"/>
                </a:solidFill>
              </a:ln>
            </p:spPr>
          </p:sp>
          <p:sp>
            <p:nvSpPr>
              <p:cNvPr id="108" name="Freeform 108"/>
              <p:cNvSpPr/>
              <p:nvPr/>
            </p:nvSpPr>
            <p:spPr>
              <a:xfrm>
                <a:off x="9882877" y="1304921"/>
                <a:ext cx="80523" cy="76440"/>
              </a:xfrm>
              <a:custGeom>
                <a:avLst/>
                <a:gdLst/>
                <a:ahLst/>
                <a:cxnLst/>
                <a:rect l="l" t="t" r="r" b="b"/>
                <a:pathLst>
                  <a:path w="80523" h="76440">
                    <a:moveTo>
                      <a:pt x="40268" y="64936"/>
                    </a:moveTo>
                    <a:lnTo>
                      <a:pt x="19580" y="75776"/>
                    </a:lnTo>
                    <a:cubicBezTo>
                      <a:pt x="18328" y="76427"/>
                      <a:pt x="16815" y="76317"/>
                      <a:pt x="15671" y="75491"/>
                    </a:cubicBezTo>
                    <a:cubicBezTo>
                      <a:pt x="14526" y="74665"/>
                      <a:pt x="13945" y="73264"/>
                      <a:pt x="14169" y="71871"/>
                    </a:cubicBezTo>
                    <a:lnTo>
                      <a:pt x="18122" y="48906"/>
                    </a:lnTo>
                    <a:lnTo>
                      <a:pt x="1387" y="32647"/>
                    </a:lnTo>
                    <a:cubicBezTo>
                      <a:pt x="368" y="31661"/>
                      <a:pt x="0" y="30181"/>
                      <a:pt x="440" y="28833"/>
                    </a:cubicBezTo>
                    <a:cubicBezTo>
                      <a:pt x="880" y="27486"/>
                      <a:pt x="2050" y="26507"/>
                      <a:pt x="3454" y="26312"/>
                    </a:cubicBezTo>
                    <a:lnTo>
                      <a:pt x="26581" y="22960"/>
                    </a:lnTo>
                    <a:lnTo>
                      <a:pt x="36925" y="2071"/>
                    </a:lnTo>
                    <a:cubicBezTo>
                      <a:pt x="37556" y="802"/>
                      <a:pt x="38851" y="0"/>
                      <a:pt x="40268" y="0"/>
                    </a:cubicBezTo>
                    <a:cubicBezTo>
                      <a:pt x="41685" y="0"/>
                      <a:pt x="42980" y="802"/>
                      <a:pt x="43611" y="2071"/>
                    </a:cubicBezTo>
                    <a:lnTo>
                      <a:pt x="53955" y="22960"/>
                    </a:lnTo>
                    <a:lnTo>
                      <a:pt x="77082" y="26312"/>
                    </a:lnTo>
                    <a:cubicBezTo>
                      <a:pt x="78482" y="26514"/>
                      <a:pt x="79646" y="27493"/>
                      <a:pt x="80085" y="28837"/>
                    </a:cubicBezTo>
                    <a:cubicBezTo>
                      <a:pt x="80523" y="30181"/>
                      <a:pt x="80161" y="31658"/>
                      <a:pt x="79149" y="32647"/>
                    </a:cubicBezTo>
                    <a:lnTo>
                      <a:pt x="62414" y="48906"/>
                    </a:lnTo>
                    <a:lnTo>
                      <a:pt x="66357" y="71861"/>
                    </a:lnTo>
                    <a:cubicBezTo>
                      <a:pt x="66598" y="73258"/>
                      <a:pt x="66024" y="74670"/>
                      <a:pt x="64877" y="75502"/>
                    </a:cubicBezTo>
                    <a:cubicBezTo>
                      <a:pt x="63729" y="76333"/>
                      <a:pt x="62208" y="76440"/>
                      <a:pt x="60956" y="75776"/>
                    </a:cubicBezTo>
                    <a:lnTo>
                      <a:pt x="40268" y="64936"/>
                    </a:lnTo>
                  </a:path>
                </a:pathLst>
              </a:custGeom>
              <a:noFill/>
              <a:ln w="19050">
                <a:solidFill>
                  <a:srgbClr val="FFFFFF"/>
                </a:solidFill>
              </a:ln>
            </p:spPr>
          </p:sp>
        </p:grpSp>
        <p:sp>
          <p:nvSpPr>
            <p:cNvPr id="110" name="TextBox 110"/>
            <p:cNvSpPr txBox="1"/>
            <p:nvPr/>
          </p:nvSpPr>
          <p:spPr>
            <a:xfrm>
              <a:off x="10091547" y="1152049"/>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个人客户经理</a:t>
              </a:r>
            </a:p>
          </p:txBody>
        </p:sp>
        <p:sp>
          <p:nvSpPr>
            <p:cNvPr id="111" name="TextBox 111"/>
            <p:cNvSpPr txBox="1"/>
            <p:nvPr/>
          </p:nvSpPr>
          <p:spPr>
            <a:xfrm>
              <a:off x="10091738" y="1343739"/>
              <a:ext cx="328574" cy="154781"/>
            </a:xfrm>
            <a:prstGeom prst="rect">
              <a:avLst/>
            </a:prstGeom>
            <a:noFill/>
            <a:ln>
              <a:noFill/>
            </a:ln>
          </p:spPr>
          <p:txBody>
            <a:bodyPr wrap="none" lIns="0" tIns="0" rIns="0" bIns="0" anchor="t" anchorCtr="0">
              <a:spAutoFit/>
            </a:bodyPr>
            <a:lstStyle/>
            <a:p>
              <a:pPr algn="l"/>
              <a:r>
                <a:rPr lang="zh-CN" sz="790" b="1" dirty="0">
                  <a:solidFill>
                    <a:srgbClr val="E58878"/>
                  </a:solidFill>
                  <a:latin typeface="+mn-lt"/>
                  <a:ea typeface="+mn-ea"/>
                  <a:cs typeface="+mn-cs"/>
                </a:rPr>
                <a:t>双主办</a:t>
              </a:r>
            </a:p>
          </p:txBody>
        </p:sp>
        <p:sp>
          <p:nvSpPr>
            <p:cNvPr id="112" name="Ellipse 112"/>
            <p:cNvSpPr/>
            <p:nvPr/>
          </p:nvSpPr>
          <p:spPr>
            <a:xfrm>
              <a:off x="9782175" y="1704975"/>
              <a:ext cx="57150" cy="57150"/>
            </a:xfrm>
            <a:prstGeom prst="ellipse">
              <a:avLst/>
            </a:prstGeom>
            <a:solidFill>
              <a:srgbClr val="A5280F"/>
            </a:solidFill>
            <a:ln>
              <a:noFill/>
            </a:ln>
          </p:spPr>
        </p:sp>
        <p:sp>
          <p:nvSpPr>
            <p:cNvPr id="113" name="TextBox 113"/>
            <p:cNvSpPr txBox="1"/>
            <p:nvPr/>
          </p:nvSpPr>
          <p:spPr>
            <a:xfrm>
              <a:off x="9920288" y="1678543"/>
              <a:ext cx="356845"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关键人</a:t>
              </a:r>
            </a:p>
          </p:txBody>
        </p:sp>
        <p:sp>
          <p:nvSpPr>
            <p:cNvPr id="114" name="Ellipse 114"/>
            <p:cNvSpPr/>
            <p:nvPr/>
          </p:nvSpPr>
          <p:spPr>
            <a:xfrm>
              <a:off x="9782175" y="1990725"/>
              <a:ext cx="57150" cy="57150"/>
            </a:xfrm>
            <a:prstGeom prst="ellipse">
              <a:avLst/>
            </a:prstGeom>
            <a:solidFill>
              <a:srgbClr val="A5280F"/>
            </a:solidFill>
            <a:ln>
              <a:noFill/>
            </a:ln>
          </p:spPr>
        </p:sp>
        <p:sp>
          <p:nvSpPr>
            <p:cNvPr id="115" name="TextBox 115"/>
            <p:cNvSpPr txBox="1"/>
            <p:nvPr/>
          </p:nvSpPr>
          <p:spPr>
            <a:xfrm>
              <a:off x="9920288" y="1964293"/>
              <a:ext cx="472618"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员工客群</a:t>
              </a:r>
            </a:p>
          </p:txBody>
        </p:sp>
        <p:sp>
          <p:nvSpPr>
            <p:cNvPr id="116" name="Ellipse 116"/>
            <p:cNvSpPr/>
            <p:nvPr/>
          </p:nvSpPr>
          <p:spPr>
            <a:xfrm>
              <a:off x="9782175" y="2276475"/>
              <a:ext cx="57150" cy="57150"/>
            </a:xfrm>
            <a:prstGeom prst="ellipse">
              <a:avLst/>
            </a:prstGeom>
            <a:solidFill>
              <a:srgbClr val="A5280F"/>
            </a:solidFill>
            <a:ln>
              <a:noFill/>
            </a:ln>
          </p:spPr>
        </p:sp>
        <p:sp>
          <p:nvSpPr>
            <p:cNvPr id="117" name="TextBox 117"/>
            <p:cNvSpPr txBox="1"/>
            <p:nvPr/>
          </p:nvSpPr>
          <p:spPr>
            <a:xfrm>
              <a:off x="9920288" y="2250043"/>
              <a:ext cx="472618" cy="169069"/>
            </a:xfrm>
            <a:prstGeom prst="rect">
              <a:avLst/>
            </a:prstGeom>
            <a:noFill/>
            <a:ln>
              <a:noFill/>
            </a:ln>
          </p:spPr>
          <p:txBody>
            <a:bodyPr wrap="none" lIns="0" tIns="0" rIns="0" bIns="0" anchor="t" anchorCtr="0">
              <a:spAutoFit/>
            </a:bodyPr>
            <a:lstStyle/>
            <a:p>
              <a:pPr algn="l"/>
              <a:r>
                <a:rPr lang="zh-CN" sz="860" dirty="0">
                  <a:solidFill>
                    <a:srgbClr val="67281B"/>
                  </a:solidFill>
                  <a:latin typeface="+mn-lt"/>
                  <a:ea typeface="+mn-ea"/>
                  <a:cs typeface="+mn-cs"/>
                </a:rPr>
                <a:t>家庭财富</a:t>
              </a:r>
            </a:p>
          </p:txBody>
        </p:sp>
        <p:sp>
          <p:nvSpPr>
            <p:cNvPr id="118" name="Rectangle 118"/>
            <p:cNvSpPr/>
            <p:nvPr/>
          </p:nvSpPr>
          <p:spPr>
            <a:xfrm>
              <a:off x="7791450" y="3009900"/>
              <a:ext cx="2095500" cy="285750"/>
            </a:xfrm>
            <a:prstGeom prst="roundRect">
              <a:avLst>
                <a:gd name="adj" fmla="val 50000"/>
              </a:avLst>
            </a:prstGeom>
            <a:solidFill>
              <a:srgbClr val="FDF6E7"/>
            </a:solidFill>
            <a:ln w="14288">
              <a:solidFill>
                <a:srgbClr val="C9462F"/>
              </a:solidFill>
            </a:ln>
          </p:spPr>
        </p:sp>
        <p:sp>
          <p:nvSpPr>
            <p:cNvPr id="119" name="TextBox 119"/>
            <p:cNvSpPr txBox="1"/>
            <p:nvPr/>
          </p:nvSpPr>
          <p:spPr>
            <a:xfrm>
              <a:off x="8228648" y="3103245"/>
              <a:ext cx="1221105" cy="176212"/>
            </a:xfrm>
            <a:prstGeom prst="rect">
              <a:avLst/>
            </a:prstGeom>
            <a:noFill/>
            <a:ln>
              <a:noFill/>
            </a:ln>
          </p:spPr>
          <p:txBody>
            <a:bodyPr wrap="none" lIns="0" tIns="0" rIns="0" bIns="0" anchor="t" anchorCtr="0">
              <a:spAutoFit/>
            </a:bodyPr>
            <a:lstStyle/>
            <a:p>
              <a:pPr algn="ctr"/>
              <a:r>
                <a:rPr lang="zh-CN" sz="900" b="1" dirty="0">
                  <a:solidFill>
                    <a:srgbClr val="B0351F"/>
                  </a:solidFill>
                  <a:latin typeface="+mn-lt"/>
                  <a:ea typeface="+mn-ea"/>
                  <a:cs typeface="+mn-cs"/>
                </a:rPr>
                <a:t>一企一策｜一户一团队</a:t>
              </a:r>
            </a:p>
          </p:txBody>
        </p:sp>
      </p:grpSp>
      <p:grpSp>
        <p:nvGrpSpPr>
          <p:cNvPr id="187" name="raci-matrix"/>
          <p:cNvGrpSpPr/>
          <p:nvPr/>
        </p:nvGrpSpPr>
        <p:grpSpPr>
          <a:xfrm>
            <a:off x="381000" y="3581400"/>
            <a:ext cx="11430000" cy="3067050"/>
            <a:chOff x="381000" y="3581400"/>
            <a:chExt cx="11430000" cy="3067050"/>
          </a:xfrm>
        </p:grpSpPr>
        <p:sp>
          <p:nvSpPr>
            <p:cNvPr id="121" name="Rectangle 121"/>
            <p:cNvSpPr/>
            <p:nvPr/>
          </p:nvSpPr>
          <p:spPr>
            <a:xfrm>
              <a:off x="381000" y="3581400"/>
              <a:ext cx="2095500" cy="285750"/>
            </a:xfrm>
            <a:prstGeom prst="roundRect">
              <a:avLst>
                <a:gd name="adj" fmla="val 13333"/>
              </a:avLst>
            </a:prstGeom>
            <a:gradFill>
              <a:gsLst>
                <a:gs pos="0">
                  <a:srgbClr val="AD3921"/>
                </a:gs>
                <a:gs pos="100000">
                  <a:srgbClr val="962C16"/>
                </a:gs>
              </a:gsLst>
              <a:lin ang="5400000" scaled="1"/>
            </a:gradFill>
            <a:ln>
              <a:noFill/>
            </a:ln>
          </p:spPr>
        </p:sp>
        <p:sp>
          <p:nvSpPr>
            <p:cNvPr id="122" name="TextBox 122"/>
            <p:cNvSpPr txBox="1"/>
            <p:nvPr/>
          </p:nvSpPr>
          <p:spPr>
            <a:xfrm>
              <a:off x="790113" y="3672126"/>
              <a:ext cx="127727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重点流程RACI矩阵​​</a:t>
              </a:r>
            </a:p>
          </p:txBody>
        </p:sp>
        <p:sp>
          <p:nvSpPr>
            <p:cNvPr id="123" name="Rectangle 123"/>
            <p:cNvSpPr/>
            <p:nvPr/>
          </p:nvSpPr>
          <p:spPr>
            <a:xfrm>
              <a:off x="4762500" y="3600450"/>
              <a:ext cx="2667000" cy="247650"/>
            </a:xfrm>
            <a:prstGeom prst="roundRect">
              <a:avLst>
                <a:gd name="adj" fmla="val 50000"/>
              </a:avLst>
            </a:prstGeom>
            <a:solidFill>
              <a:srgbClr val="EAF2FC"/>
            </a:solidFill>
            <a:ln w="9525">
              <a:solidFill>
                <a:srgbClr val="E5907F"/>
              </a:solidFill>
            </a:ln>
          </p:spPr>
        </p:sp>
        <p:grpSp>
          <p:nvGrpSpPr>
            <p:cNvPr id="130" name="Group 130"/>
            <p:cNvGrpSpPr/>
            <p:nvPr/>
          </p:nvGrpSpPr>
          <p:grpSpPr>
            <a:xfrm>
              <a:off x="4914900" y="3667125"/>
              <a:ext cx="114300" cy="114300"/>
              <a:chOff x="4914900" y="3667125"/>
              <a:chExt cx="114300" cy="114300"/>
            </a:xfrm>
          </p:grpSpPr>
          <p:sp>
            <p:nvSpPr>
              <p:cNvPr id="124" name="Freeform 124"/>
              <p:cNvSpPr/>
              <p:nvPr/>
            </p:nvSpPr>
            <p:spPr>
              <a:xfrm>
                <a:off x="4959350" y="37179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8351D"/>
                </a:solidFill>
              </a:ln>
            </p:spPr>
          </p:sp>
          <p:sp>
            <p:nvSpPr>
              <p:cNvPr id="125" name="Freeform 125"/>
              <p:cNvSpPr/>
              <p:nvPr/>
            </p:nvSpPr>
            <p:spPr>
              <a:xfrm>
                <a:off x="4946650" y="3762375"/>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A8351D"/>
                </a:solidFill>
              </a:ln>
            </p:spPr>
          </p:sp>
          <p:sp>
            <p:nvSpPr>
              <p:cNvPr id="126" name="Freeform 126"/>
              <p:cNvSpPr/>
              <p:nvPr/>
            </p:nvSpPr>
            <p:spPr>
              <a:xfrm>
                <a:off x="4991100" y="36671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8351D"/>
                </a:solidFill>
              </a:ln>
            </p:spPr>
          </p:sp>
          <p:sp>
            <p:nvSpPr>
              <p:cNvPr id="127" name="Freeform 127"/>
              <p:cNvSpPr/>
              <p:nvPr/>
            </p:nvSpPr>
            <p:spPr>
              <a:xfrm>
                <a:off x="5003800" y="3711575"/>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A8351D"/>
                </a:solidFill>
              </a:ln>
            </p:spPr>
          </p:sp>
          <p:sp>
            <p:nvSpPr>
              <p:cNvPr id="128" name="Freeform 128"/>
              <p:cNvSpPr/>
              <p:nvPr/>
            </p:nvSpPr>
            <p:spPr>
              <a:xfrm>
                <a:off x="4927600" y="36671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8351D"/>
                </a:solidFill>
              </a:ln>
            </p:spPr>
          </p:sp>
          <p:sp>
            <p:nvSpPr>
              <p:cNvPr id="129" name="Freeform 129"/>
              <p:cNvSpPr/>
              <p:nvPr/>
            </p:nvSpPr>
            <p:spPr>
              <a:xfrm>
                <a:off x="4914900" y="3711575"/>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A8351D"/>
                </a:solidFill>
              </a:ln>
            </p:spPr>
          </p:sp>
        </p:grpSp>
        <p:sp>
          <p:nvSpPr>
            <p:cNvPr id="131" name="TextBox 131"/>
            <p:cNvSpPr txBox="1"/>
            <p:nvPr/>
          </p:nvSpPr>
          <p:spPr>
            <a:xfrm>
              <a:off x="5119688" y="3678793"/>
              <a:ext cx="1788091" cy="169069"/>
            </a:xfrm>
            <a:prstGeom prst="rect">
              <a:avLst/>
            </a:prstGeom>
            <a:noFill/>
            <a:ln>
              <a:noFill/>
            </a:ln>
          </p:spPr>
          <p:txBody>
            <a:bodyPr wrap="none" lIns="0" tIns="0" rIns="0" bIns="0" anchor="t" anchorCtr="0">
              <a:spAutoFit/>
            </a:bodyPr>
            <a:lstStyle/>
            <a:p>
              <a:pPr algn="l"/>
              <a:r>
                <a:rPr lang="zh-CN" sz="860" b="1" dirty="0">
                  <a:solidFill>
                    <a:srgbClr val="67281B"/>
                  </a:solidFill>
                  <a:latin typeface="+mn-lt"/>
                  <a:ea typeface="+mn-ea"/>
                  <a:cs typeface="+mn-cs"/>
                </a:rPr>
                <a:t>客户经营委员会 + 敏捷作战小组​​</a:t>
              </a:r>
            </a:p>
          </p:txBody>
        </p:sp>
        <p:sp>
          <p:nvSpPr>
            <p:cNvPr id="132" name="TextBox 132"/>
            <p:cNvSpPr txBox="1"/>
            <p:nvPr/>
          </p:nvSpPr>
          <p:spPr>
            <a:xfrm>
              <a:off x="10187553" y="3692366"/>
              <a:ext cx="1590110" cy="161925"/>
            </a:xfrm>
            <a:prstGeom prst="rect">
              <a:avLst/>
            </a:prstGeom>
            <a:noFill/>
            <a:ln>
              <a:noFill/>
            </a:ln>
          </p:spPr>
          <p:txBody>
            <a:bodyPr wrap="none" lIns="0" tIns="0" rIns="0" bIns="0" anchor="t" anchorCtr="0">
              <a:spAutoFit/>
            </a:bodyPr>
            <a:lstStyle/>
            <a:p>
              <a:pPr algn="r"/>
              <a:r>
                <a:rPr lang="zh-CN" sz="820" b="1" dirty="0">
                  <a:solidFill>
                    <a:srgbClr val="B0351F"/>
                  </a:solidFill>
                  <a:latin typeface="+mn-lt"/>
                  <a:ea typeface="+mn-ea"/>
                  <a:cs typeface="+mn-cs"/>
                </a:rPr>
                <a:t>R负责｜A批准｜C协同｜I知会​​</a:t>
              </a:r>
            </a:p>
          </p:txBody>
        </p:sp>
        <p:sp>
          <p:nvSpPr>
            <p:cNvPr id="133" name="Rectangle 133"/>
            <p:cNvSpPr/>
            <p:nvPr/>
          </p:nvSpPr>
          <p:spPr>
            <a:xfrm>
              <a:off x="381000" y="3962400"/>
              <a:ext cx="2286000" cy="285750"/>
            </a:xfrm>
            <a:prstGeom prst="rect">
              <a:avLst/>
            </a:prstGeom>
            <a:solidFill>
              <a:srgbClr val="A8351D"/>
            </a:solidFill>
            <a:ln>
              <a:noFill/>
            </a:ln>
          </p:spPr>
        </p:sp>
        <p:sp>
          <p:nvSpPr>
            <p:cNvPr id="134" name="TextBox 134"/>
            <p:cNvSpPr txBox="1"/>
            <p:nvPr/>
          </p:nvSpPr>
          <p:spPr>
            <a:xfrm>
              <a:off x="1276922" y="40557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关键事项</a:t>
              </a:r>
            </a:p>
          </p:txBody>
        </p:sp>
        <p:sp>
          <p:nvSpPr>
            <p:cNvPr id="135" name="Rectangle 135"/>
            <p:cNvSpPr/>
            <p:nvPr/>
          </p:nvSpPr>
          <p:spPr>
            <a:xfrm>
              <a:off x="2667000" y="3962400"/>
              <a:ext cx="1828800" cy="285750"/>
            </a:xfrm>
            <a:prstGeom prst="rect">
              <a:avLst/>
            </a:prstGeom>
            <a:solidFill>
              <a:srgbClr val="A8351D"/>
            </a:solidFill>
            <a:ln>
              <a:noFill/>
            </a:ln>
          </p:spPr>
        </p:sp>
        <p:sp>
          <p:nvSpPr>
            <p:cNvPr id="136" name="TextBox 136"/>
            <p:cNvSpPr txBox="1"/>
            <p:nvPr/>
          </p:nvSpPr>
          <p:spPr>
            <a:xfrm>
              <a:off x="3455479" y="40557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总行</a:t>
              </a:r>
            </a:p>
          </p:txBody>
        </p:sp>
        <p:sp>
          <p:nvSpPr>
            <p:cNvPr id="137" name="Rectangle 137"/>
            <p:cNvSpPr/>
            <p:nvPr/>
          </p:nvSpPr>
          <p:spPr>
            <a:xfrm>
              <a:off x="4495800" y="3962400"/>
              <a:ext cx="1828800" cy="285750"/>
            </a:xfrm>
            <a:prstGeom prst="rect">
              <a:avLst/>
            </a:prstGeom>
            <a:solidFill>
              <a:srgbClr val="A8351D"/>
            </a:solidFill>
            <a:ln>
              <a:noFill/>
            </a:ln>
          </p:spPr>
        </p:sp>
        <p:sp>
          <p:nvSpPr>
            <p:cNvPr id="138" name="TextBox 138"/>
            <p:cNvSpPr txBox="1"/>
            <p:nvPr/>
          </p:nvSpPr>
          <p:spPr>
            <a:xfrm>
              <a:off x="5163121" y="40557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分行专班</a:t>
              </a:r>
            </a:p>
          </p:txBody>
        </p:sp>
        <p:sp>
          <p:nvSpPr>
            <p:cNvPr id="139" name="Rectangle 139"/>
            <p:cNvSpPr/>
            <p:nvPr/>
          </p:nvSpPr>
          <p:spPr>
            <a:xfrm>
              <a:off x="6324600" y="3962400"/>
              <a:ext cx="1828800" cy="285750"/>
            </a:xfrm>
            <a:prstGeom prst="rect">
              <a:avLst/>
            </a:prstGeom>
            <a:solidFill>
              <a:srgbClr val="A8351D"/>
            </a:solidFill>
            <a:ln>
              <a:noFill/>
            </a:ln>
          </p:spPr>
        </p:sp>
        <p:sp>
          <p:nvSpPr>
            <p:cNvPr id="140" name="TextBox 140"/>
            <p:cNvSpPr txBox="1"/>
            <p:nvPr/>
          </p:nvSpPr>
          <p:spPr>
            <a:xfrm>
              <a:off x="7113080" y="40557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支行</a:t>
              </a:r>
            </a:p>
          </p:txBody>
        </p:sp>
        <p:sp>
          <p:nvSpPr>
            <p:cNvPr id="141" name="Rectangle 141"/>
            <p:cNvSpPr/>
            <p:nvPr/>
          </p:nvSpPr>
          <p:spPr>
            <a:xfrm>
              <a:off x="8153400" y="3962400"/>
              <a:ext cx="1828800" cy="285750"/>
            </a:xfrm>
            <a:prstGeom prst="rect">
              <a:avLst/>
            </a:prstGeom>
            <a:solidFill>
              <a:srgbClr val="A8351D"/>
            </a:solidFill>
            <a:ln>
              <a:noFill/>
            </a:ln>
          </p:spPr>
        </p:sp>
        <p:sp>
          <p:nvSpPr>
            <p:cNvPr id="142" name="TextBox 142"/>
            <p:cNvSpPr txBox="1"/>
            <p:nvPr/>
          </p:nvSpPr>
          <p:spPr>
            <a:xfrm>
              <a:off x="8760142" y="4055745"/>
              <a:ext cx="61531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双客户经理</a:t>
              </a:r>
            </a:p>
          </p:txBody>
        </p:sp>
        <p:sp>
          <p:nvSpPr>
            <p:cNvPr id="143" name="Rectangle 143"/>
            <p:cNvSpPr/>
            <p:nvPr/>
          </p:nvSpPr>
          <p:spPr>
            <a:xfrm>
              <a:off x="9982200" y="3962400"/>
              <a:ext cx="1828800" cy="285750"/>
            </a:xfrm>
            <a:prstGeom prst="rect">
              <a:avLst/>
            </a:prstGeom>
            <a:solidFill>
              <a:srgbClr val="A8351D"/>
            </a:solidFill>
            <a:ln>
              <a:noFill/>
            </a:ln>
          </p:spPr>
        </p:sp>
        <p:sp>
          <p:nvSpPr>
            <p:cNvPr id="144" name="TextBox 144"/>
            <p:cNvSpPr txBox="1"/>
            <p:nvPr/>
          </p:nvSpPr>
          <p:spPr>
            <a:xfrm>
              <a:off x="10649522" y="40557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专业条线</a:t>
              </a:r>
            </a:p>
          </p:txBody>
        </p:sp>
        <p:sp>
          <p:nvSpPr>
            <p:cNvPr id="145" name="Rectangle 145"/>
            <p:cNvSpPr/>
            <p:nvPr/>
          </p:nvSpPr>
          <p:spPr>
            <a:xfrm>
              <a:off x="381000" y="4248150"/>
              <a:ext cx="11430000" cy="400050"/>
            </a:xfrm>
            <a:prstGeom prst="rect">
              <a:avLst/>
            </a:prstGeom>
            <a:solidFill>
              <a:srgbClr val="FFFFFF"/>
            </a:solidFill>
            <a:ln w="9525">
              <a:solidFill>
                <a:srgbClr val="E2EAF6"/>
              </a:solidFill>
            </a:ln>
          </p:spPr>
        </p:sp>
        <p:sp>
          <p:nvSpPr>
            <p:cNvPr id="146" name="TextBox 146"/>
            <p:cNvSpPr txBox="1"/>
            <p:nvPr/>
          </p:nvSpPr>
          <p:spPr>
            <a:xfrm>
              <a:off x="1276922" y="439864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线索发起</a:t>
              </a:r>
            </a:p>
          </p:txBody>
        </p:sp>
        <p:sp>
          <p:nvSpPr>
            <p:cNvPr id="147" name="TextBox 147"/>
            <p:cNvSpPr txBox="1"/>
            <p:nvPr/>
          </p:nvSpPr>
          <p:spPr>
            <a:xfrm>
              <a:off x="3552543" y="4391978"/>
              <a:ext cx="57714"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I</a:t>
              </a:r>
            </a:p>
          </p:txBody>
        </p:sp>
        <p:sp>
          <p:nvSpPr>
            <p:cNvPr id="148" name="TextBox 148"/>
            <p:cNvSpPr txBox="1"/>
            <p:nvPr/>
          </p:nvSpPr>
          <p:spPr>
            <a:xfrm>
              <a:off x="5361741" y="43919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49" name="TextBox 149"/>
            <p:cNvSpPr txBox="1"/>
            <p:nvPr/>
          </p:nvSpPr>
          <p:spPr>
            <a:xfrm>
              <a:off x="7190541" y="43919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C</a:t>
              </a:r>
            </a:p>
          </p:txBody>
        </p:sp>
        <p:sp>
          <p:nvSpPr>
            <p:cNvPr id="150" name="TextBox 150"/>
            <p:cNvSpPr txBox="1"/>
            <p:nvPr/>
          </p:nvSpPr>
          <p:spPr>
            <a:xfrm>
              <a:off x="9019341" y="43919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51" name="TextBox 151"/>
            <p:cNvSpPr txBox="1"/>
            <p:nvPr/>
          </p:nvSpPr>
          <p:spPr>
            <a:xfrm>
              <a:off x="10867743" y="4391978"/>
              <a:ext cx="57714"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I</a:t>
              </a:r>
            </a:p>
          </p:txBody>
        </p:sp>
        <p:sp>
          <p:nvSpPr>
            <p:cNvPr id="152" name="Rectangle 152"/>
            <p:cNvSpPr/>
            <p:nvPr/>
          </p:nvSpPr>
          <p:spPr>
            <a:xfrm>
              <a:off x="381000" y="4648200"/>
              <a:ext cx="11430000" cy="400050"/>
            </a:xfrm>
            <a:prstGeom prst="rect">
              <a:avLst/>
            </a:prstGeom>
            <a:solidFill>
              <a:srgbClr val="F7FAFE"/>
            </a:solidFill>
            <a:ln w="9525">
              <a:solidFill>
                <a:srgbClr val="E2EAF6"/>
              </a:solidFill>
            </a:ln>
          </p:spPr>
        </p:sp>
        <p:sp>
          <p:nvSpPr>
            <p:cNvPr id="153" name="TextBox 153"/>
            <p:cNvSpPr txBox="1"/>
            <p:nvPr/>
          </p:nvSpPr>
          <p:spPr>
            <a:xfrm>
              <a:off x="1276922" y="47986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客户授权</a:t>
              </a:r>
            </a:p>
          </p:txBody>
        </p:sp>
        <p:sp>
          <p:nvSpPr>
            <p:cNvPr id="154" name="TextBox 154"/>
            <p:cNvSpPr txBox="1"/>
            <p:nvPr/>
          </p:nvSpPr>
          <p:spPr>
            <a:xfrm>
              <a:off x="3532941" y="47920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A</a:t>
              </a:r>
            </a:p>
          </p:txBody>
        </p:sp>
        <p:sp>
          <p:nvSpPr>
            <p:cNvPr id="155" name="TextBox 155"/>
            <p:cNvSpPr txBox="1"/>
            <p:nvPr/>
          </p:nvSpPr>
          <p:spPr>
            <a:xfrm>
              <a:off x="5361741" y="47920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56" name="TextBox 156"/>
            <p:cNvSpPr txBox="1"/>
            <p:nvPr/>
          </p:nvSpPr>
          <p:spPr>
            <a:xfrm>
              <a:off x="7210143" y="4792028"/>
              <a:ext cx="57714"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I</a:t>
              </a:r>
            </a:p>
          </p:txBody>
        </p:sp>
        <p:sp>
          <p:nvSpPr>
            <p:cNvPr id="157" name="TextBox 157"/>
            <p:cNvSpPr txBox="1"/>
            <p:nvPr/>
          </p:nvSpPr>
          <p:spPr>
            <a:xfrm>
              <a:off x="9019341" y="47920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58" name="TextBox 158"/>
            <p:cNvSpPr txBox="1"/>
            <p:nvPr/>
          </p:nvSpPr>
          <p:spPr>
            <a:xfrm>
              <a:off x="10848141" y="47920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C</a:t>
              </a:r>
            </a:p>
          </p:txBody>
        </p:sp>
        <p:sp>
          <p:nvSpPr>
            <p:cNvPr id="159" name="Rectangle 159"/>
            <p:cNvSpPr/>
            <p:nvPr/>
          </p:nvSpPr>
          <p:spPr>
            <a:xfrm>
              <a:off x="381000" y="5048250"/>
              <a:ext cx="11430000" cy="400050"/>
            </a:xfrm>
            <a:prstGeom prst="rect">
              <a:avLst/>
            </a:prstGeom>
            <a:solidFill>
              <a:srgbClr val="FFFFFF"/>
            </a:solidFill>
            <a:ln w="9525">
              <a:solidFill>
                <a:srgbClr val="E2EAF6"/>
              </a:solidFill>
            </a:ln>
          </p:spPr>
        </p:sp>
        <p:sp>
          <p:nvSpPr>
            <p:cNvPr id="160" name="TextBox 160"/>
            <p:cNvSpPr txBox="1"/>
            <p:nvPr/>
          </p:nvSpPr>
          <p:spPr>
            <a:xfrm>
              <a:off x="1276922" y="519874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方案设计</a:t>
              </a:r>
            </a:p>
          </p:txBody>
        </p:sp>
        <p:sp>
          <p:nvSpPr>
            <p:cNvPr id="161" name="TextBox 161"/>
            <p:cNvSpPr txBox="1"/>
            <p:nvPr/>
          </p:nvSpPr>
          <p:spPr>
            <a:xfrm>
              <a:off x="3532941" y="51920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C</a:t>
              </a:r>
            </a:p>
          </p:txBody>
        </p:sp>
        <p:sp>
          <p:nvSpPr>
            <p:cNvPr id="162" name="TextBox 162"/>
            <p:cNvSpPr txBox="1"/>
            <p:nvPr/>
          </p:nvSpPr>
          <p:spPr>
            <a:xfrm>
              <a:off x="5361741" y="51920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A</a:t>
              </a:r>
            </a:p>
          </p:txBody>
        </p:sp>
        <p:sp>
          <p:nvSpPr>
            <p:cNvPr id="163" name="TextBox 163"/>
            <p:cNvSpPr txBox="1"/>
            <p:nvPr/>
          </p:nvSpPr>
          <p:spPr>
            <a:xfrm>
              <a:off x="7190541" y="51920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64" name="TextBox 164"/>
            <p:cNvSpPr txBox="1"/>
            <p:nvPr/>
          </p:nvSpPr>
          <p:spPr>
            <a:xfrm>
              <a:off x="9019341" y="51920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65" name="TextBox 165"/>
            <p:cNvSpPr txBox="1"/>
            <p:nvPr/>
          </p:nvSpPr>
          <p:spPr>
            <a:xfrm>
              <a:off x="10848141" y="51920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C</a:t>
              </a:r>
            </a:p>
          </p:txBody>
        </p:sp>
        <p:sp>
          <p:nvSpPr>
            <p:cNvPr id="166" name="Rectangle 166"/>
            <p:cNvSpPr/>
            <p:nvPr/>
          </p:nvSpPr>
          <p:spPr>
            <a:xfrm>
              <a:off x="381000" y="5448300"/>
              <a:ext cx="11430000" cy="400050"/>
            </a:xfrm>
            <a:prstGeom prst="rect">
              <a:avLst/>
            </a:prstGeom>
            <a:solidFill>
              <a:srgbClr val="F7FAFE"/>
            </a:solidFill>
            <a:ln w="9525">
              <a:solidFill>
                <a:srgbClr val="E2EAF6"/>
              </a:solidFill>
            </a:ln>
          </p:spPr>
        </p:sp>
        <p:sp>
          <p:nvSpPr>
            <p:cNvPr id="167" name="TextBox 167"/>
            <p:cNvSpPr txBox="1"/>
            <p:nvPr/>
          </p:nvSpPr>
          <p:spPr>
            <a:xfrm>
              <a:off x="1276922" y="55987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权益申请</a:t>
              </a:r>
            </a:p>
          </p:txBody>
        </p:sp>
        <p:sp>
          <p:nvSpPr>
            <p:cNvPr id="168" name="TextBox 168"/>
            <p:cNvSpPr txBox="1"/>
            <p:nvPr/>
          </p:nvSpPr>
          <p:spPr>
            <a:xfrm>
              <a:off x="3532941" y="55921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A</a:t>
              </a:r>
            </a:p>
          </p:txBody>
        </p:sp>
        <p:sp>
          <p:nvSpPr>
            <p:cNvPr id="169" name="TextBox 169"/>
            <p:cNvSpPr txBox="1"/>
            <p:nvPr/>
          </p:nvSpPr>
          <p:spPr>
            <a:xfrm>
              <a:off x="5361741" y="55921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70" name="TextBox 170"/>
            <p:cNvSpPr txBox="1"/>
            <p:nvPr/>
          </p:nvSpPr>
          <p:spPr>
            <a:xfrm>
              <a:off x="7190541" y="55921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C</a:t>
              </a:r>
            </a:p>
          </p:txBody>
        </p:sp>
        <p:sp>
          <p:nvSpPr>
            <p:cNvPr id="171" name="TextBox 171"/>
            <p:cNvSpPr txBox="1"/>
            <p:nvPr/>
          </p:nvSpPr>
          <p:spPr>
            <a:xfrm>
              <a:off x="9019341" y="55921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72" name="TextBox 172"/>
            <p:cNvSpPr txBox="1"/>
            <p:nvPr/>
          </p:nvSpPr>
          <p:spPr>
            <a:xfrm>
              <a:off x="10867743" y="5592128"/>
              <a:ext cx="57714"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I</a:t>
              </a:r>
            </a:p>
          </p:txBody>
        </p:sp>
        <p:sp>
          <p:nvSpPr>
            <p:cNvPr id="173" name="Rectangle 173"/>
            <p:cNvSpPr/>
            <p:nvPr/>
          </p:nvSpPr>
          <p:spPr>
            <a:xfrm>
              <a:off x="381000" y="5848350"/>
              <a:ext cx="11430000" cy="400050"/>
            </a:xfrm>
            <a:prstGeom prst="rect">
              <a:avLst/>
            </a:prstGeom>
            <a:solidFill>
              <a:srgbClr val="FFFFFF"/>
            </a:solidFill>
            <a:ln w="9525">
              <a:solidFill>
                <a:srgbClr val="E2EAF6"/>
              </a:solidFill>
            </a:ln>
          </p:spPr>
        </p:sp>
        <p:sp>
          <p:nvSpPr>
            <p:cNvPr id="174" name="TextBox 174"/>
            <p:cNvSpPr txBox="1"/>
            <p:nvPr/>
          </p:nvSpPr>
          <p:spPr>
            <a:xfrm>
              <a:off x="1276922" y="599884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收入认定</a:t>
              </a:r>
            </a:p>
          </p:txBody>
        </p:sp>
        <p:sp>
          <p:nvSpPr>
            <p:cNvPr id="175" name="TextBox 175"/>
            <p:cNvSpPr txBox="1"/>
            <p:nvPr/>
          </p:nvSpPr>
          <p:spPr>
            <a:xfrm>
              <a:off x="3532941" y="59921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A</a:t>
              </a:r>
            </a:p>
          </p:txBody>
        </p:sp>
        <p:sp>
          <p:nvSpPr>
            <p:cNvPr id="176" name="TextBox 176"/>
            <p:cNvSpPr txBox="1"/>
            <p:nvPr/>
          </p:nvSpPr>
          <p:spPr>
            <a:xfrm>
              <a:off x="5361741" y="59921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77" name="TextBox 177"/>
            <p:cNvSpPr txBox="1"/>
            <p:nvPr/>
          </p:nvSpPr>
          <p:spPr>
            <a:xfrm>
              <a:off x="7190541" y="59921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C</a:t>
              </a:r>
            </a:p>
          </p:txBody>
        </p:sp>
        <p:sp>
          <p:nvSpPr>
            <p:cNvPr id="178" name="TextBox 178"/>
            <p:cNvSpPr txBox="1"/>
            <p:nvPr/>
          </p:nvSpPr>
          <p:spPr>
            <a:xfrm>
              <a:off x="9019341" y="59921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C</a:t>
              </a:r>
            </a:p>
          </p:txBody>
        </p:sp>
        <p:sp>
          <p:nvSpPr>
            <p:cNvPr id="179" name="TextBox 179"/>
            <p:cNvSpPr txBox="1"/>
            <p:nvPr/>
          </p:nvSpPr>
          <p:spPr>
            <a:xfrm>
              <a:off x="10848141" y="599217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80" name="Rectangle 180"/>
            <p:cNvSpPr/>
            <p:nvPr/>
          </p:nvSpPr>
          <p:spPr>
            <a:xfrm>
              <a:off x="381000" y="6248400"/>
              <a:ext cx="11430000" cy="400050"/>
            </a:xfrm>
            <a:prstGeom prst="rect">
              <a:avLst/>
            </a:prstGeom>
            <a:solidFill>
              <a:srgbClr val="F7FAFE"/>
            </a:solidFill>
            <a:ln w="9525">
              <a:solidFill>
                <a:srgbClr val="E2EAF6"/>
              </a:solidFill>
            </a:ln>
          </p:spPr>
        </p:sp>
        <p:sp>
          <p:nvSpPr>
            <p:cNvPr id="181" name="TextBox 181"/>
            <p:cNvSpPr txBox="1"/>
            <p:nvPr/>
          </p:nvSpPr>
          <p:spPr>
            <a:xfrm>
              <a:off x="1276922" y="6398895"/>
              <a:ext cx="49415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风险审批</a:t>
              </a:r>
            </a:p>
          </p:txBody>
        </p:sp>
        <p:sp>
          <p:nvSpPr>
            <p:cNvPr id="182" name="TextBox 182"/>
            <p:cNvSpPr txBox="1"/>
            <p:nvPr/>
          </p:nvSpPr>
          <p:spPr>
            <a:xfrm>
              <a:off x="3532941" y="63922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A</a:t>
              </a:r>
            </a:p>
          </p:txBody>
        </p:sp>
        <p:sp>
          <p:nvSpPr>
            <p:cNvPr id="183" name="TextBox 183"/>
            <p:cNvSpPr txBox="1"/>
            <p:nvPr/>
          </p:nvSpPr>
          <p:spPr>
            <a:xfrm>
              <a:off x="5361741" y="63922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sp>
          <p:nvSpPr>
            <p:cNvPr id="184" name="TextBox 184"/>
            <p:cNvSpPr txBox="1"/>
            <p:nvPr/>
          </p:nvSpPr>
          <p:spPr>
            <a:xfrm>
              <a:off x="7210143" y="6392228"/>
              <a:ext cx="57714"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I</a:t>
              </a:r>
            </a:p>
          </p:txBody>
        </p:sp>
        <p:sp>
          <p:nvSpPr>
            <p:cNvPr id="185" name="TextBox 185"/>
            <p:cNvSpPr txBox="1"/>
            <p:nvPr/>
          </p:nvSpPr>
          <p:spPr>
            <a:xfrm>
              <a:off x="9038943" y="6392228"/>
              <a:ext cx="57714"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I</a:t>
              </a:r>
            </a:p>
          </p:txBody>
        </p:sp>
        <p:sp>
          <p:nvSpPr>
            <p:cNvPr id="186" name="TextBox 186"/>
            <p:cNvSpPr txBox="1"/>
            <p:nvPr/>
          </p:nvSpPr>
          <p:spPr>
            <a:xfrm>
              <a:off x="10848141" y="6392228"/>
              <a:ext cx="96919" cy="205359"/>
            </a:xfrm>
            <a:prstGeom prst="rect">
              <a:avLst/>
            </a:prstGeom>
            <a:noFill/>
            <a:ln>
              <a:noFill/>
            </a:ln>
          </p:spPr>
          <p:txBody>
            <a:bodyPr wrap="none" lIns="0" tIns="0" rIns="0" bIns="0" anchor="t" anchorCtr="0">
              <a:spAutoFit/>
            </a:bodyPr>
            <a:lstStyle/>
            <a:p>
              <a:pPr algn="ctr"/>
              <a:r>
                <a:rPr lang="en-US" sz="1050" b="1" dirty="0">
                  <a:solidFill>
                    <a:srgbClr val="E8492E"/>
                  </a:solidFill>
                  <a:latin typeface="+mn-lt"/>
                  <a:ea typeface="+mn-ea"/>
                  <a:cs typeface="+mn-cs"/>
                </a:rPr>
                <a:t>R</a:t>
              </a:r>
            </a:p>
          </p:txBody>
        </p:sp>
      </p:gr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15</a:t>
              </a:r>
            </a:p>
          </p:txBody>
        </p:sp>
        <p:sp>
          <p:nvSpPr>
            <p:cNvPr id="4" name="TextBox 4"/>
            <p:cNvSpPr txBox="1"/>
            <p:nvPr/>
          </p:nvSpPr>
          <p:spPr>
            <a:xfrm>
              <a:off x="904494" y="170498"/>
              <a:ext cx="6399276"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利益分配｜用统一价值计量解决跨条线协同动力不足</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71" name="cvc-formula"/>
          <p:cNvGrpSpPr/>
          <p:nvPr/>
        </p:nvGrpSpPr>
        <p:grpSpPr>
          <a:xfrm>
            <a:off x="381000" y="704850"/>
            <a:ext cx="8191500" cy="2171700"/>
            <a:chOff x="381000" y="704850"/>
            <a:chExt cx="8191500" cy="2171700"/>
          </a:xfrm>
        </p:grpSpPr>
        <p:sp>
          <p:nvSpPr>
            <p:cNvPr id="7" name="Rectangle 7"/>
            <p:cNvSpPr/>
            <p:nvPr/>
          </p:nvSpPr>
          <p:spPr>
            <a:xfrm>
              <a:off x="381000" y="704850"/>
              <a:ext cx="8191500" cy="2171700"/>
            </a:xfrm>
            <a:prstGeom prst="roundRect">
              <a:avLst>
                <a:gd name="adj" fmla="val 4386"/>
              </a:avLst>
            </a:prstGeom>
            <a:solidFill>
              <a:srgbClr val="F9FBFE"/>
            </a:solidFill>
            <a:ln w="9525">
              <a:solidFill>
                <a:srgbClr val="C9D8EF"/>
              </a:solidFill>
            </a:ln>
          </p:spPr>
        </p:sp>
        <p:sp>
          <p:nvSpPr>
            <p:cNvPr id="8" name="Rectangle 8"/>
            <p:cNvSpPr/>
            <p:nvPr/>
          </p:nvSpPr>
          <p:spPr>
            <a:xfrm>
              <a:off x="381000" y="704850"/>
              <a:ext cx="2286000" cy="285750"/>
            </a:xfrm>
            <a:prstGeom prst="roundRect">
              <a:avLst>
                <a:gd name="adj" fmla="val 13333"/>
              </a:avLst>
            </a:prstGeom>
            <a:gradFill>
              <a:gsLst>
                <a:gs pos="0">
                  <a:srgbClr val="AD3921"/>
                </a:gs>
                <a:gs pos="100000">
                  <a:srgbClr val="962C16"/>
                </a:gs>
              </a:gsLst>
              <a:lin ang="5400000" scaled="1"/>
            </a:gradFill>
            <a:ln>
              <a:noFill/>
            </a:ln>
          </p:spPr>
        </p:sp>
        <p:sp>
          <p:nvSpPr>
            <p:cNvPr id="9" name="TextBox 9"/>
            <p:cNvSpPr txBox="1"/>
            <p:nvPr/>
          </p:nvSpPr>
          <p:spPr>
            <a:xfrm>
              <a:off x="880918" y="795576"/>
              <a:ext cx="1286163"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客户综合价值 CVC​​</a:t>
              </a:r>
            </a:p>
          </p:txBody>
        </p:sp>
        <p:sp>
          <p:nvSpPr>
            <p:cNvPr id="10" name="Rectangle 10"/>
            <p:cNvSpPr/>
            <p:nvPr/>
          </p:nvSpPr>
          <p:spPr>
            <a:xfrm>
              <a:off x="571500" y="1085850"/>
              <a:ext cx="6667500" cy="266700"/>
            </a:xfrm>
            <a:prstGeom prst="roundRect">
              <a:avLst>
                <a:gd name="adj" fmla="val 21429"/>
              </a:avLst>
            </a:prstGeom>
            <a:solidFill>
              <a:srgbClr val="EAF2FC"/>
            </a:solidFill>
            <a:ln>
              <a:noFill/>
            </a:ln>
          </p:spPr>
        </p:sp>
        <p:sp>
          <p:nvSpPr>
            <p:cNvPr id="11" name="TextBox 11"/>
            <p:cNvSpPr txBox="1"/>
            <p:nvPr/>
          </p:nvSpPr>
          <p:spPr>
            <a:xfrm>
              <a:off x="1535921" y="1177766"/>
              <a:ext cx="4738658"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CVC ＝ 对公收益＋结算中收＋代发贡献＋个人AUM贡献＋信用卡收入＋财富中收＋长期潜力​​​​</a:t>
              </a:r>
            </a:p>
          </p:txBody>
        </p:sp>
        <p:sp>
          <p:nvSpPr>
            <p:cNvPr id="12" name="Rectangle 12"/>
            <p:cNvSpPr/>
            <p:nvPr/>
          </p:nvSpPr>
          <p:spPr>
            <a:xfrm>
              <a:off x="571500" y="1466850"/>
              <a:ext cx="838200" cy="1009650"/>
            </a:xfrm>
            <a:prstGeom prst="roundRect">
              <a:avLst>
                <a:gd name="adj" fmla="val 6818"/>
              </a:avLst>
            </a:prstGeom>
            <a:solidFill>
              <a:srgbClr val="FFFFFF"/>
            </a:solidFill>
            <a:ln w="9525">
              <a:solidFill>
                <a:srgbClr val="C9D8EF"/>
              </a:solidFill>
            </a:ln>
          </p:spPr>
        </p:sp>
        <p:sp>
          <p:nvSpPr>
            <p:cNvPr id="13" name="TextBox 13"/>
            <p:cNvSpPr txBox="1"/>
            <p:nvPr/>
          </p:nvSpPr>
          <p:spPr>
            <a:xfrm>
              <a:off x="719963" y="1572339"/>
              <a:ext cx="54127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存贷款收益</a:t>
              </a:r>
            </a:p>
          </p:txBody>
        </p:sp>
        <p:grpSp>
          <p:nvGrpSpPr>
            <p:cNvPr id="22" name="Group 22"/>
            <p:cNvGrpSpPr/>
            <p:nvPr/>
          </p:nvGrpSpPr>
          <p:grpSpPr>
            <a:xfrm>
              <a:off x="862012" y="1909762"/>
              <a:ext cx="257175" cy="266701"/>
              <a:chOff x="862012" y="1909762"/>
              <a:chExt cx="257175" cy="266701"/>
            </a:xfrm>
          </p:grpSpPr>
          <p:sp>
            <p:nvSpPr>
              <p:cNvPr id="14" name="Freeform 14"/>
              <p:cNvSpPr/>
              <p:nvPr/>
            </p:nvSpPr>
            <p:spPr>
              <a:xfrm>
                <a:off x="862012" y="2166938"/>
                <a:ext cx="257175" cy="9525"/>
              </a:xfrm>
              <a:custGeom>
                <a:avLst/>
                <a:gdLst/>
                <a:ahLst/>
                <a:cxnLst/>
                <a:rect l="l" t="t" r="r" b="b"/>
                <a:pathLst>
                  <a:path w="257175" h="9525">
                    <a:moveTo>
                      <a:pt x="0" y="0"/>
                    </a:moveTo>
                    <a:lnTo>
                      <a:pt x="257175" y="0"/>
                    </a:lnTo>
                  </a:path>
                </a:pathLst>
              </a:custGeom>
              <a:noFill/>
              <a:ln w="28575">
                <a:solidFill>
                  <a:srgbClr val="A8351D"/>
                </a:solidFill>
              </a:ln>
            </p:spPr>
          </p:sp>
          <p:sp>
            <p:nvSpPr>
              <p:cNvPr id="15" name="Freeform 15"/>
              <p:cNvSpPr/>
              <p:nvPr/>
            </p:nvSpPr>
            <p:spPr>
              <a:xfrm>
                <a:off x="862012" y="2009775"/>
                <a:ext cx="257175" cy="9525"/>
              </a:xfrm>
              <a:custGeom>
                <a:avLst/>
                <a:gdLst/>
                <a:ahLst/>
                <a:cxnLst/>
                <a:rect l="l" t="t" r="r" b="b"/>
                <a:pathLst>
                  <a:path w="257175" h="9525">
                    <a:moveTo>
                      <a:pt x="0" y="0"/>
                    </a:moveTo>
                    <a:lnTo>
                      <a:pt x="257175" y="0"/>
                    </a:lnTo>
                  </a:path>
                </a:pathLst>
              </a:custGeom>
              <a:noFill/>
              <a:ln w="28575">
                <a:solidFill>
                  <a:srgbClr val="A8351D"/>
                </a:solidFill>
              </a:ln>
            </p:spPr>
          </p:sp>
          <p:sp>
            <p:nvSpPr>
              <p:cNvPr id="16" name="Freeform 16"/>
              <p:cNvSpPr/>
              <p:nvPr/>
            </p:nvSpPr>
            <p:spPr>
              <a:xfrm>
                <a:off x="890588" y="1909762"/>
                <a:ext cx="200025" cy="42862"/>
              </a:xfrm>
              <a:custGeom>
                <a:avLst/>
                <a:gdLst/>
                <a:ahLst/>
                <a:cxnLst/>
                <a:rect l="l" t="t" r="r" b="b"/>
                <a:pathLst>
                  <a:path w="200025" h="42862">
                    <a:moveTo>
                      <a:pt x="0" y="42862"/>
                    </a:moveTo>
                    <a:lnTo>
                      <a:pt x="100012" y="0"/>
                    </a:lnTo>
                    <a:lnTo>
                      <a:pt x="200025" y="42862"/>
                    </a:lnTo>
                  </a:path>
                </a:pathLst>
              </a:custGeom>
              <a:noFill/>
              <a:ln w="28575">
                <a:solidFill>
                  <a:srgbClr val="A8351D"/>
                </a:solidFill>
              </a:ln>
            </p:spPr>
          </p:sp>
          <p:sp>
            <p:nvSpPr>
              <p:cNvPr id="17" name="Freeform 17"/>
              <p:cNvSpPr/>
              <p:nvPr/>
            </p:nvSpPr>
            <p:spPr>
              <a:xfrm>
                <a:off x="876300" y="2009775"/>
                <a:ext cx="9525" cy="157162"/>
              </a:xfrm>
              <a:custGeom>
                <a:avLst/>
                <a:gdLst/>
                <a:ahLst/>
                <a:cxnLst/>
                <a:rect l="l" t="t" r="r" b="b"/>
                <a:pathLst>
                  <a:path w="9525" h="157162">
                    <a:moveTo>
                      <a:pt x="0" y="0"/>
                    </a:moveTo>
                    <a:lnTo>
                      <a:pt x="0" y="157162"/>
                    </a:lnTo>
                  </a:path>
                </a:pathLst>
              </a:custGeom>
              <a:noFill/>
              <a:ln w="28575">
                <a:solidFill>
                  <a:srgbClr val="A8351D"/>
                </a:solidFill>
              </a:ln>
            </p:spPr>
          </p:sp>
          <p:sp>
            <p:nvSpPr>
              <p:cNvPr id="18" name="Freeform 18"/>
              <p:cNvSpPr/>
              <p:nvPr/>
            </p:nvSpPr>
            <p:spPr>
              <a:xfrm>
                <a:off x="1104900" y="2009775"/>
                <a:ext cx="9525" cy="157162"/>
              </a:xfrm>
              <a:custGeom>
                <a:avLst/>
                <a:gdLst/>
                <a:ahLst/>
                <a:cxnLst/>
                <a:rect l="l" t="t" r="r" b="b"/>
                <a:pathLst>
                  <a:path w="9525" h="157162">
                    <a:moveTo>
                      <a:pt x="0" y="0"/>
                    </a:moveTo>
                    <a:lnTo>
                      <a:pt x="0" y="157162"/>
                    </a:lnTo>
                  </a:path>
                </a:pathLst>
              </a:custGeom>
              <a:noFill/>
              <a:ln w="28575">
                <a:solidFill>
                  <a:srgbClr val="A8351D"/>
                </a:solidFill>
              </a:ln>
            </p:spPr>
          </p:sp>
          <p:sp>
            <p:nvSpPr>
              <p:cNvPr id="19" name="Freeform 19"/>
              <p:cNvSpPr/>
              <p:nvPr/>
            </p:nvSpPr>
            <p:spPr>
              <a:xfrm>
                <a:off x="933450" y="2066925"/>
                <a:ext cx="9525" cy="42862"/>
              </a:xfrm>
              <a:custGeom>
                <a:avLst/>
                <a:gdLst/>
                <a:ahLst/>
                <a:cxnLst/>
                <a:rect l="l" t="t" r="r" b="b"/>
                <a:pathLst>
                  <a:path w="9525" h="42862">
                    <a:moveTo>
                      <a:pt x="0" y="0"/>
                    </a:moveTo>
                    <a:lnTo>
                      <a:pt x="0" y="42862"/>
                    </a:lnTo>
                  </a:path>
                </a:pathLst>
              </a:custGeom>
              <a:noFill/>
              <a:ln w="28575">
                <a:solidFill>
                  <a:srgbClr val="A8351D"/>
                </a:solidFill>
              </a:ln>
            </p:spPr>
          </p:sp>
          <p:sp>
            <p:nvSpPr>
              <p:cNvPr id="20" name="Freeform 20"/>
              <p:cNvSpPr/>
              <p:nvPr/>
            </p:nvSpPr>
            <p:spPr>
              <a:xfrm>
                <a:off x="990600" y="2066925"/>
                <a:ext cx="9525" cy="42862"/>
              </a:xfrm>
              <a:custGeom>
                <a:avLst/>
                <a:gdLst/>
                <a:ahLst/>
                <a:cxnLst/>
                <a:rect l="l" t="t" r="r" b="b"/>
                <a:pathLst>
                  <a:path w="9525" h="42862">
                    <a:moveTo>
                      <a:pt x="0" y="0"/>
                    </a:moveTo>
                    <a:lnTo>
                      <a:pt x="0" y="42862"/>
                    </a:lnTo>
                  </a:path>
                </a:pathLst>
              </a:custGeom>
              <a:noFill/>
              <a:ln w="28575">
                <a:solidFill>
                  <a:srgbClr val="A8351D"/>
                </a:solidFill>
              </a:ln>
            </p:spPr>
          </p:sp>
          <p:sp>
            <p:nvSpPr>
              <p:cNvPr id="21" name="Freeform 21"/>
              <p:cNvSpPr/>
              <p:nvPr/>
            </p:nvSpPr>
            <p:spPr>
              <a:xfrm>
                <a:off x="1047750" y="2066925"/>
                <a:ext cx="9525" cy="42862"/>
              </a:xfrm>
              <a:custGeom>
                <a:avLst/>
                <a:gdLst/>
                <a:ahLst/>
                <a:cxnLst/>
                <a:rect l="l" t="t" r="r" b="b"/>
                <a:pathLst>
                  <a:path w="9525" h="42862">
                    <a:moveTo>
                      <a:pt x="0" y="0"/>
                    </a:moveTo>
                    <a:lnTo>
                      <a:pt x="0" y="42862"/>
                    </a:lnTo>
                  </a:path>
                </a:pathLst>
              </a:custGeom>
              <a:noFill/>
              <a:ln w="28575">
                <a:solidFill>
                  <a:srgbClr val="A8351D"/>
                </a:solidFill>
              </a:ln>
            </p:spPr>
          </p:sp>
        </p:grpSp>
        <p:sp>
          <p:nvSpPr>
            <p:cNvPr id="23" name="TextBox 23"/>
            <p:cNvSpPr txBox="1"/>
            <p:nvPr/>
          </p:nvSpPr>
          <p:spPr>
            <a:xfrm>
              <a:off x="1436090" y="1892618"/>
              <a:ext cx="118669" cy="264033"/>
            </a:xfrm>
            <a:prstGeom prst="rect">
              <a:avLst/>
            </a:prstGeom>
            <a:noFill/>
            <a:ln>
              <a:noFill/>
            </a:ln>
          </p:spPr>
          <p:txBody>
            <a:bodyPr wrap="none" lIns="0" tIns="0" rIns="0" bIns="0" anchor="t" anchorCtr="0">
              <a:spAutoFit/>
            </a:bodyPr>
            <a:lstStyle/>
            <a:p>
              <a:pPr algn="ctr"/>
              <a:r>
                <a:rPr lang="zh-CN" sz="1350" b="1" dirty="0">
                  <a:solidFill>
                    <a:srgbClr val="D64A2E"/>
                  </a:solidFill>
                  <a:latin typeface="+mn-lt"/>
                  <a:ea typeface="+mn-ea"/>
                  <a:cs typeface="+mn-cs"/>
                </a:rPr>
                <a:t>+</a:t>
              </a:r>
            </a:p>
          </p:txBody>
        </p:sp>
        <p:sp>
          <p:nvSpPr>
            <p:cNvPr id="24" name="Rectangle 24"/>
            <p:cNvSpPr/>
            <p:nvPr/>
          </p:nvSpPr>
          <p:spPr>
            <a:xfrm>
              <a:off x="1581150" y="1466850"/>
              <a:ext cx="838200" cy="1009650"/>
            </a:xfrm>
            <a:prstGeom prst="roundRect">
              <a:avLst>
                <a:gd name="adj" fmla="val 6818"/>
              </a:avLst>
            </a:prstGeom>
            <a:solidFill>
              <a:srgbClr val="FFFFFF"/>
            </a:solidFill>
            <a:ln w="9525">
              <a:solidFill>
                <a:srgbClr val="C9D8EF"/>
              </a:solidFill>
            </a:ln>
          </p:spPr>
        </p:sp>
        <p:sp>
          <p:nvSpPr>
            <p:cNvPr id="25" name="TextBox 25"/>
            <p:cNvSpPr txBox="1"/>
            <p:nvPr/>
          </p:nvSpPr>
          <p:spPr>
            <a:xfrm>
              <a:off x="1782788" y="15723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结算中收</a:t>
              </a:r>
            </a:p>
          </p:txBody>
        </p:sp>
        <p:grpSp>
          <p:nvGrpSpPr>
            <p:cNvPr id="29" name="Group 29"/>
            <p:cNvGrpSpPr/>
            <p:nvPr/>
          </p:nvGrpSpPr>
          <p:grpSpPr>
            <a:xfrm>
              <a:off x="1928812" y="1938338"/>
              <a:ext cx="142876" cy="200025"/>
              <a:chOff x="1928812" y="1938338"/>
              <a:chExt cx="142876" cy="200025"/>
            </a:xfrm>
          </p:grpSpPr>
          <p:sp>
            <p:nvSpPr>
              <p:cNvPr id="26" name="Freeform 26"/>
              <p:cNvSpPr/>
              <p:nvPr/>
            </p:nvSpPr>
            <p:spPr>
              <a:xfrm>
                <a:off x="1928812" y="1938338"/>
                <a:ext cx="71438" cy="200025"/>
              </a:xfrm>
              <a:custGeom>
                <a:avLst/>
                <a:gdLst/>
                <a:ahLst/>
                <a:cxnLst/>
                <a:rect l="l" t="t" r="r" b="b"/>
                <a:pathLst>
                  <a:path w="71438" h="200025">
                    <a:moveTo>
                      <a:pt x="71438" y="200025"/>
                    </a:moveTo>
                    <a:lnTo>
                      <a:pt x="71438" y="100012"/>
                    </a:lnTo>
                    <a:lnTo>
                      <a:pt x="0" y="0"/>
                    </a:lnTo>
                  </a:path>
                </a:pathLst>
              </a:custGeom>
              <a:noFill/>
              <a:ln w="28575">
                <a:solidFill>
                  <a:srgbClr val="A8351D"/>
                </a:solidFill>
              </a:ln>
            </p:spPr>
          </p:sp>
          <p:sp>
            <p:nvSpPr>
              <p:cNvPr id="27" name="Freeform 27"/>
              <p:cNvSpPr/>
              <p:nvPr/>
            </p:nvSpPr>
            <p:spPr>
              <a:xfrm>
                <a:off x="2000250" y="1938338"/>
                <a:ext cx="71438" cy="100012"/>
              </a:xfrm>
              <a:custGeom>
                <a:avLst/>
                <a:gdLst/>
                <a:ahLst/>
                <a:cxnLst/>
                <a:rect l="l" t="t" r="r" b="b"/>
                <a:pathLst>
                  <a:path w="71438" h="100012">
                    <a:moveTo>
                      <a:pt x="71438" y="0"/>
                    </a:moveTo>
                    <a:lnTo>
                      <a:pt x="0" y="100012"/>
                    </a:lnTo>
                  </a:path>
                </a:pathLst>
              </a:custGeom>
              <a:noFill/>
              <a:ln w="28575">
                <a:solidFill>
                  <a:srgbClr val="A8351D"/>
                </a:solidFill>
              </a:ln>
            </p:spPr>
          </p:sp>
          <p:sp>
            <p:nvSpPr>
              <p:cNvPr id="28" name="Freeform 28"/>
              <p:cNvSpPr/>
              <p:nvPr/>
            </p:nvSpPr>
            <p:spPr>
              <a:xfrm>
                <a:off x="1943100" y="2052638"/>
                <a:ext cx="114300" cy="9525"/>
              </a:xfrm>
              <a:custGeom>
                <a:avLst/>
                <a:gdLst/>
                <a:ahLst/>
                <a:cxnLst/>
                <a:rect l="l" t="t" r="r" b="b"/>
                <a:pathLst>
                  <a:path w="114300" h="9525">
                    <a:moveTo>
                      <a:pt x="0" y="0"/>
                    </a:moveTo>
                    <a:lnTo>
                      <a:pt x="114300" y="0"/>
                    </a:lnTo>
                  </a:path>
                </a:pathLst>
              </a:custGeom>
              <a:noFill/>
              <a:ln w="28575">
                <a:solidFill>
                  <a:srgbClr val="A8351D"/>
                </a:solidFill>
              </a:ln>
            </p:spPr>
          </p:sp>
        </p:grpSp>
        <p:sp>
          <p:nvSpPr>
            <p:cNvPr id="30" name="TextBox 30"/>
            <p:cNvSpPr txBox="1"/>
            <p:nvPr/>
          </p:nvSpPr>
          <p:spPr>
            <a:xfrm>
              <a:off x="2445740" y="1892618"/>
              <a:ext cx="118669" cy="264033"/>
            </a:xfrm>
            <a:prstGeom prst="rect">
              <a:avLst/>
            </a:prstGeom>
            <a:noFill/>
            <a:ln>
              <a:noFill/>
            </a:ln>
          </p:spPr>
          <p:txBody>
            <a:bodyPr wrap="none" lIns="0" tIns="0" rIns="0" bIns="0" anchor="t" anchorCtr="0">
              <a:spAutoFit/>
            </a:bodyPr>
            <a:lstStyle/>
            <a:p>
              <a:pPr algn="ctr"/>
              <a:r>
                <a:rPr lang="zh-CN" sz="1350" b="1" dirty="0">
                  <a:solidFill>
                    <a:srgbClr val="D64A2E"/>
                  </a:solidFill>
                  <a:latin typeface="+mn-lt"/>
                  <a:ea typeface="+mn-ea"/>
                  <a:cs typeface="+mn-cs"/>
                </a:rPr>
                <a:t>+</a:t>
              </a:r>
            </a:p>
          </p:txBody>
        </p:sp>
        <p:sp>
          <p:nvSpPr>
            <p:cNvPr id="31" name="Rectangle 31"/>
            <p:cNvSpPr/>
            <p:nvPr/>
          </p:nvSpPr>
          <p:spPr>
            <a:xfrm>
              <a:off x="2590800" y="1466850"/>
              <a:ext cx="838200" cy="1009650"/>
            </a:xfrm>
            <a:prstGeom prst="roundRect">
              <a:avLst>
                <a:gd name="adj" fmla="val 6818"/>
              </a:avLst>
            </a:prstGeom>
            <a:solidFill>
              <a:srgbClr val="FFFFFF"/>
            </a:solidFill>
            <a:ln w="9525">
              <a:solidFill>
                <a:srgbClr val="C9D8EF"/>
              </a:solidFill>
            </a:ln>
          </p:spPr>
        </p:sp>
        <p:sp>
          <p:nvSpPr>
            <p:cNvPr id="32" name="TextBox 32"/>
            <p:cNvSpPr txBox="1"/>
            <p:nvPr/>
          </p:nvSpPr>
          <p:spPr>
            <a:xfrm>
              <a:off x="2792438" y="15723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代发贡献</a:t>
              </a:r>
            </a:p>
          </p:txBody>
        </p:sp>
        <p:grpSp>
          <p:nvGrpSpPr>
            <p:cNvPr id="37" name="Group 37"/>
            <p:cNvGrpSpPr/>
            <p:nvPr/>
          </p:nvGrpSpPr>
          <p:grpSpPr>
            <a:xfrm>
              <a:off x="2881312" y="1909762"/>
              <a:ext cx="257175" cy="257176"/>
              <a:chOff x="2881312" y="1909762"/>
              <a:chExt cx="257175" cy="257176"/>
            </a:xfrm>
          </p:grpSpPr>
          <p:sp>
            <p:nvSpPr>
              <p:cNvPr id="33" name="Freeform 33"/>
              <p:cNvSpPr/>
              <p:nvPr/>
            </p:nvSpPr>
            <p:spPr>
              <a:xfrm>
                <a:off x="2909888" y="19097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A8351D"/>
                </a:solidFill>
              </a:ln>
            </p:spPr>
          </p:sp>
          <p:sp>
            <p:nvSpPr>
              <p:cNvPr id="34" name="Freeform 34"/>
              <p:cNvSpPr/>
              <p:nvPr/>
            </p:nvSpPr>
            <p:spPr>
              <a:xfrm>
                <a:off x="2881312" y="208121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A8351D"/>
                </a:solidFill>
              </a:ln>
            </p:spPr>
          </p:sp>
          <p:sp>
            <p:nvSpPr>
              <p:cNvPr id="35" name="Freeform 35"/>
              <p:cNvSpPr/>
              <p:nvPr/>
            </p:nvSpPr>
            <p:spPr>
              <a:xfrm>
                <a:off x="3067050" y="191162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A8351D"/>
                </a:solidFill>
              </a:ln>
            </p:spPr>
          </p:sp>
          <p:sp>
            <p:nvSpPr>
              <p:cNvPr id="36" name="Freeform 36"/>
              <p:cNvSpPr/>
              <p:nvPr/>
            </p:nvSpPr>
            <p:spPr>
              <a:xfrm>
                <a:off x="3095625" y="208335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A8351D"/>
                </a:solidFill>
              </a:ln>
            </p:spPr>
          </p:sp>
        </p:grpSp>
        <p:sp>
          <p:nvSpPr>
            <p:cNvPr id="38" name="TextBox 38"/>
            <p:cNvSpPr txBox="1"/>
            <p:nvPr/>
          </p:nvSpPr>
          <p:spPr>
            <a:xfrm>
              <a:off x="3455390" y="1892618"/>
              <a:ext cx="118669" cy="264033"/>
            </a:xfrm>
            <a:prstGeom prst="rect">
              <a:avLst/>
            </a:prstGeom>
            <a:noFill/>
            <a:ln>
              <a:noFill/>
            </a:ln>
          </p:spPr>
          <p:txBody>
            <a:bodyPr wrap="none" lIns="0" tIns="0" rIns="0" bIns="0" anchor="t" anchorCtr="0">
              <a:spAutoFit/>
            </a:bodyPr>
            <a:lstStyle/>
            <a:p>
              <a:pPr algn="ctr"/>
              <a:r>
                <a:rPr lang="zh-CN" sz="1350" b="1" dirty="0">
                  <a:solidFill>
                    <a:srgbClr val="D64A2E"/>
                  </a:solidFill>
                  <a:latin typeface="+mn-lt"/>
                  <a:ea typeface="+mn-ea"/>
                  <a:cs typeface="+mn-cs"/>
                </a:rPr>
                <a:t>+</a:t>
              </a:r>
            </a:p>
          </p:txBody>
        </p:sp>
        <p:sp>
          <p:nvSpPr>
            <p:cNvPr id="39" name="Rectangle 39"/>
            <p:cNvSpPr/>
            <p:nvPr/>
          </p:nvSpPr>
          <p:spPr>
            <a:xfrm>
              <a:off x="3600450" y="1466850"/>
              <a:ext cx="838200" cy="1009650"/>
            </a:xfrm>
            <a:prstGeom prst="roundRect">
              <a:avLst>
                <a:gd name="adj" fmla="val 6818"/>
              </a:avLst>
            </a:prstGeom>
            <a:solidFill>
              <a:srgbClr val="FFFFFF"/>
            </a:solidFill>
            <a:ln w="9525">
              <a:solidFill>
                <a:srgbClr val="C9D8EF"/>
              </a:solidFill>
            </a:ln>
          </p:spPr>
        </p:sp>
        <p:sp>
          <p:nvSpPr>
            <p:cNvPr id="40" name="TextBox 40"/>
            <p:cNvSpPr txBox="1"/>
            <p:nvPr/>
          </p:nvSpPr>
          <p:spPr>
            <a:xfrm>
              <a:off x="3734405" y="1572339"/>
              <a:ext cx="570289"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个人AUM​​</a:t>
              </a:r>
            </a:p>
          </p:txBody>
        </p:sp>
        <p:grpSp>
          <p:nvGrpSpPr>
            <p:cNvPr id="43" name="Group 43"/>
            <p:cNvGrpSpPr/>
            <p:nvPr/>
          </p:nvGrpSpPr>
          <p:grpSpPr>
            <a:xfrm>
              <a:off x="3905250" y="1952625"/>
              <a:ext cx="228600" cy="195262"/>
              <a:chOff x="3905250" y="1952625"/>
              <a:chExt cx="228600" cy="195262"/>
            </a:xfrm>
          </p:grpSpPr>
          <p:sp>
            <p:nvSpPr>
              <p:cNvPr id="41" name="Freeform 41"/>
              <p:cNvSpPr/>
              <p:nvPr/>
            </p:nvSpPr>
            <p:spPr>
              <a:xfrm>
                <a:off x="3905250" y="2138362"/>
                <a:ext cx="228600" cy="9525"/>
              </a:xfrm>
              <a:custGeom>
                <a:avLst/>
                <a:gdLst/>
                <a:ahLst/>
                <a:cxnLst/>
                <a:rect l="l" t="t" r="r" b="b"/>
                <a:pathLst>
                  <a:path w="228600" h="9525">
                    <a:moveTo>
                      <a:pt x="0" y="0"/>
                    </a:moveTo>
                    <a:lnTo>
                      <a:pt x="228600" y="0"/>
                    </a:lnTo>
                  </a:path>
                </a:pathLst>
              </a:custGeom>
              <a:noFill/>
              <a:ln w="28575">
                <a:solidFill>
                  <a:srgbClr val="A8351D"/>
                </a:solidFill>
              </a:ln>
            </p:spPr>
          </p:sp>
          <p:sp>
            <p:nvSpPr>
              <p:cNvPr id="42" name="Freeform 42"/>
              <p:cNvSpPr/>
              <p:nvPr/>
            </p:nvSpPr>
            <p:spPr>
              <a:xfrm>
                <a:off x="3905250" y="1952625"/>
                <a:ext cx="228600" cy="128588"/>
              </a:xfrm>
              <a:custGeom>
                <a:avLst/>
                <a:gdLst/>
                <a:ahLst/>
                <a:cxnLst/>
                <a:rect l="l" t="t" r="r" b="b"/>
                <a:pathLst>
                  <a:path w="228600" h="128588">
                    <a:moveTo>
                      <a:pt x="0" y="128588"/>
                    </a:moveTo>
                    <a:lnTo>
                      <a:pt x="57150" y="42862"/>
                    </a:lnTo>
                    <a:lnTo>
                      <a:pt x="114300" y="71438"/>
                    </a:lnTo>
                    <a:lnTo>
                      <a:pt x="171450" y="0"/>
                    </a:lnTo>
                    <a:lnTo>
                      <a:pt x="228600" y="57150"/>
                    </a:lnTo>
                  </a:path>
                </a:pathLst>
              </a:custGeom>
              <a:noFill/>
              <a:ln w="28575">
                <a:solidFill>
                  <a:srgbClr val="A8351D"/>
                </a:solidFill>
              </a:ln>
            </p:spPr>
          </p:sp>
        </p:grpSp>
        <p:sp>
          <p:nvSpPr>
            <p:cNvPr id="44" name="TextBox 44"/>
            <p:cNvSpPr txBox="1"/>
            <p:nvPr/>
          </p:nvSpPr>
          <p:spPr>
            <a:xfrm>
              <a:off x="4465040" y="1892618"/>
              <a:ext cx="118669" cy="264033"/>
            </a:xfrm>
            <a:prstGeom prst="rect">
              <a:avLst/>
            </a:prstGeom>
            <a:noFill/>
            <a:ln>
              <a:noFill/>
            </a:ln>
          </p:spPr>
          <p:txBody>
            <a:bodyPr wrap="none" lIns="0" tIns="0" rIns="0" bIns="0" anchor="t" anchorCtr="0">
              <a:spAutoFit/>
            </a:bodyPr>
            <a:lstStyle/>
            <a:p>
              <a:pPr algn="ctr"/>
              <a:r>
                <a:rPr lang="zh-CN" sz="1350" b="1" dirty="0">
                  <a:solidFill>
                    <a:srgbClr val="D64A2E"/>
                  </a:solidFill>
                  <a:latin typeface="+mn-lt"/>
                  <a:ea typeface="+mn-ea"/>
                  <a:cs typeface="+mn-cs"/>
                </a:rPr>
                <a:t>+</a:t>
              </a:r>
            </a:p>
          </p:txBody>
        </p:sp>
        <p:sp>
          <p:nvSpPr>
            <p:cNvPr id="45" name="Rectangle 45"/>
            <p:cNvSpPr/>
            <p:nvPr/>
          </p:nvSpPr>
          <p:spPr>
            <a:xfrm>
              <a:off x="4610100" y="1466850"/>
              <a:ext cx="838200" cy="1009650"/>
            </a:xfrm>
            <a:prstGeom prst="roundRect">
              <a:avLst>
                <a:gd name="adj" fmla="val 6818"/>
              </a:avLst>
            </a:prstGeom>
            <a:solidFill>
              <a:srgbClr val="FFFFFF"/>
            </a:solidFill>
            <a:ln w="9525">
              <a:solidFill>
                <a:srgbClr val="C9D8EF"/>
              </a:solidFill>
            </a:ln>
          </p:spPr>
        </p:sp>
        <p:sp>
          <p:nvSpPr>
            <p:cNvPr id="46" name="TextBox 46"/>
            <p:cNvSpPr txBox="1"/>
            <p:nvPr/>
          </p:nvSpPr>
          <p:spPr>
            <a:xfrm>
              <a:off x="4758563" y="1572339"/>
              <a:ext cx="54127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信用卡收入</a:t>
              </a:r>
            </a:p>
          </p:txBody>
        </p:sp>
        <p:grpSp>
          <p:nvGrpSpPr>
            <p:cNvPr id="51" name="Group 51"/>
            <p:cNvGrpSpPr/>
            <p:nvPr/>
          </p:nvGrpSpPr>
          <p:grpSpPr>
            <a:xfrm>
              <a:off x="4900612" y="1938338"/>
              <a:ext cx="257175" cy="200025"/>
              <a:chOff x="4900612" y="1938338"/>
              <a:chExt cx="257175" cy="200025"/>
            </a:xfrm>
          </p:grpSpPr>
          <p:sp>
            <p:nvSpPr>
              <p:cNvPr id="47" name="Freeform 47"/>
              <p:cNvSpPr/>
              <p:nvPr/>
            </p:nvSpPr>
            <p:spPr>
              <a:xfrm>
                <a:off x="4900612" y="1938338"/>
                <a:ext cx="257175" cy="200025"/>
              </a:xfrm>
              <a:custGeom>
                <a:avLst/>
                <a:gdLst/>
                <a:ahLst/>
                <a:cxnLst/>
                <a:rect l="l" t="t" r="r" b="b"/>
                <a:pathLst>
                  <a:path w="257175" h="200025">
                    <a:moveTo>
                      <a:pt x="0" y="42862"/>
                    </a:moveTo>
                    <a:cubicBezTo>
                      <a:pt x="0" y="19190"/>
                      <a:pt x="19190" y="0"/>
                      <a:pt x="42862" y="0"/>
                    </a:cubicBezTo>
                    <a:lnTo>
                      <a:pt x="214312" y="0"/>
                    </a:lnTo>
                    <a:cubicBezTo>
                      <a:pt x="237985" y="0"/>
                      <a:pt x="257175" y="19190"/>
                      <a:pt x="257175" y="42862"/>
                    </a:cubicBezTo>
                    <a:lnTo>
                      <a:pt x="257175" y="157162"/>
                    </a:lnTo>
                    <a:cubicBezTo>
                      <a:pt x="257175" y="180835"/>
                      <a:pt x="237985" y="200025"/>
                      <a:pt x="214312" y="200025"/>
                    </a:cubicBezTo>
                    <a:lnTo>
                      <a:pt x="42862" y="200025"/>
                    </a:lnTo>
                    <a:cubicBezTo>
                      <a:pt x="19190" y="200025"/>
                      <a:pt x="0" y="180835"/>
                      <a:pt x="0" y="157162"/>
                    </a:cubicBezTo>
                    <a:lnTo>
                      <a:pt x="0" y="42862"/>
                    </a:lnTo>
                  </a:path>
                </a:pathLst>
              </a:custGeom>
              <a:noFill/>
              <a:ln w="28575">
                <a:solidFill>
                  <a:srgbClr val="A8351D"/>
                </a:solidFill>
              </a:ln>
            </p:spPr>
          </p:sp>
          <p:sp>
            <p:nvSpPr>
              <p:cNvPr id="48" name="Freeform 48"/>
              <p:cNvSpPr/>
              <p:nvPr/>
            </p:nvSpPr>
            <p:spPr>
              <a:xfrm>
                <a:off x="4900612" y="2009775"/>
                <a:ext cx="257175" cy="9525"/>
              </a:xfrm>
              <a:custGeom>
                <a:avLst/>
                <a:gdLst/>
                <a:ahLst/>
                <a:cxnLst/>
                <a:rect l="l" t="t" r="r" b="b"/>
                <a:pathLst>
                  <a:path w="257175" h="9525">
                    <a:moveTo>
                      <a:pt x="0" y="0"/>
                    </a:moveTo>
                    <a:lnTo>
                      <a:pt x="257175" y="0"/>
                    </a:lnTo>
                  </a:path>
                </a:pathLst>
              </a:custGeom>
              <a:noFill/>
              <a:ln w="28575">
                <a:solidFill>
                  <a:srgbClr val="A8351D"/>
                </a:solidFill>
              </a:ln>
            </p:spPr>
          </p:sp>
          <p:sp>
            <p:nvSpPr>
              <p:cNvPr id="49" name="Freeform 49"/>
              <p:cNvSpPr/>
              <p:nvPr/>
            </p:nvSpPr>
            <p:spPr>
              <a:xfrm>
                <a:off x="4957762" y="2081212"/>
                <a:ext cx="9525" cy="9525"/>
              </a:xfrm>
              <a:custGeom>
                <a:avLst/>
                <a:gdLst/>
                <a:ahLst/>
                <a:cxnLst/>
                <a:rect l="l" t="t" r="r" b="b"/>
                <a:pathLst>
                  <a:path w="9525" h="9525">
                    <a:moveTo>
                      <a:pt x="0" y="0"/>
                    </a:moveTo>
                    <a:lnTo>
                      <a:pt x="143" y="0"/>
                    </a:lnTo>
                  </a:path>
                </a:pathLst>
              </a:custGeom>
              <a:noFill/>
              <a:ln w="28575">
                <a:solidFill>
                  <a:srgbClr val="A8351D"/>
                </a:solidFill>
              </a:ln>
            </p:spPr>
          </p:sp>
          <p:sp>
            <p:nvSpPr>
              <p:cNvPr id="50" name="Freeform 50"/>
              <p:cNvSpPr/>
              <p:nvPr/>
            </p:nvSpPr>
            <p:spPr>
              <a:xfrm>
                <a:off x="5014912" y="2081212"/>
                <a:ext cx="28575" cy="9525"/>
              </a:xfrm>
              <a:custGeom>
                <a:avLst/>
                <a:gdLst/>
                <a:ahLst/>
                <a:cxnLst/>
                <a:rect l="l" t="t" r="r" b="b"/>
                <a:pathLst>
                  <a:path w="28575" h="9525">
                    <a:moveTo>
                      <a:pt x="0" y="0"/>
                    </a:moveTo>
                    <a:lnTo>
                      <a:pt x="28575" y="0"/>
                    </a:lnTo>
                  </a:path>
                </a:pathLst>
              </a:custGeom>
              <a:noFill/>
              <a:ln w="28575">
                <a:solidFill>
                  <a:srgbClr val="A8351D"/>
                </a:solidFill>
              </a:ln>
            </p:spPr>
          </p:sp>
        </p:grpSp>
        <p:sp>
          <p:nvSpPr>
            <p:cNvPr id="52" name="TextBox 52"/>
            <p:cNvSpPr txBox="1"/>
            <p:nvPr/>
          </p:nvSpPr>
          <p:spPr>
            <a:xfrm>
              <a:off x="5474690" y="1892618"/>
              <a:ext cx="118669" cy="264033"/>
            </a:xfrm>
            <a:prstGeom prst="rect">
              <a:avLst/>
            </a:prstGeom>
            <a:noFill/>
            <a:ln>
              <a:noFill/>
            </a:ln>
          </p:spPr>
          <p:txBody>
            <a:bodyPr wrap="none" lIns="0" tIns="0" rIns="0" bIns="0" anchor="t" anchorCtr="0">
              <a:spAutoFit/>
            </a:bodyPr>
            <a:lstStyle/>
            <a:p>
              <a:pPr algn="ctr"/>
              <a:r>
                <a:rPr lang="zh-CN" sz="1350" b="1" dirty="0">
                  <a:solidFill>
                    <a:srgbClr val="D64A2E"/>
                  </a:solidFill>
                  <a:latin typeface="+mn-lt"/>
                  <a:ea typeface="+mn-ea"/>
                  <a:cs typeface="+mn-cs"/>
                </a:rPr>
                <a:t>+</a:t>
              </a:r>
            </a:p>
          </p:txBody>
        </p:sp>
        <p:sp>
          <p:nvSpPr>
            <p:cNvPr id="53" name="Rectangle 53"/>
            <p:cNvSpPr/>
            <p:nvPr/>
          </p:nvSpPr>
          <p:spPr>
            <a:xfrm>
              <a:off x="5619750" y="1466850"/>
              <a:ext cx="838200" cy="1009650"/>
            </a:xfrm>
            <a:prstGeom prst="roundRect">
              <a:avLst>
                <a:gd name="adj" fmla="val 6818"/>
              </a:avLst>
            </a:prstGeom>
            <a:solidFill>
              <a:srgbClr val="FFFFFF"/>
            </a:solidFill>
            <a:ln w="9525">
              <a:solidFill>
                <a:srgbClr val="C9D8EF"/>
              </a:solidFill>
            </a:ln>
          </p:spPr>
        </p:sp>
        <p:sp>
          <p:nvSpPr>
            <p:cNvPr id="54" name="TextBox 54"/>
            <p:cNvSpPr txBox="1"/>
            <p:nvPr/>
          </p:nvSpPr>
          <p:spPr>
            <a:xfrm>
              <a:off x="5821388" y="15723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财富中收</a:t>
              </a:r>
            </a:p>
          </p:txBody>
        </p:sp>
        <p:grpSp>
          <p:nvGrpSpPr>
            <p:cNvPr id="59" name="Group 59"/>
            <p:cNvGrpSpPr/>
            <p:nvPr/>
          </p:nvGrpSpPr>
          <p:grpSpPr>
            <a:xfrm>
              <a:off x="5910262" y="1924050"/>
              <a:ext cx="257175" cy="238125"/>
              <a:chOff x="5910262" y="1924050"/>
              <a:chExt cx="257175" cy="238125"/>
            </a:xfrm>
          </p:grpSpPr>
          <p:sp>
            <p:nvSpPr>
              <p:cNvPr id="55" name="Freeform 55"/>
              <p:cNvSpPr/>
              <p:nvPr/>
            </p:nvSpPr>
            <p:spPr>
              <a:xfrm>
                <a:off x="5910262" y="2038350"/>
                <a:ext cx="85725" cy="114300"/>
              </a:xfrm>
              <a:custGeom>
                <a:avLst/>
                <a:gdLst/>
                <a:ahLst/>
                <a:cxnLst/>
                <a:rect l="l" t="t" r="r" b="b"/>
                <a:pathLst>
                  <a:path w="85725" h="114300">
                    <a:moveTo>
                      <a:pt x="0" y="14288"/>
                    </a:moveTo>
                    <a:cubicBezTo>
                      <a:pt x="0" y="6397"/>
                      <a:pt x="6397" y="0"/>
                      <a:pt x="14288" y="0"/>
                    </a:cubicBezTo>
                    <a:lnTo>
                      <a:pt x="71438" y="0"/>
                    </a:lnTo>
                    <a:cubicBezTo>
                      <a:pt x="79328" y="0"/>
                      <a:pt x="85725" y="6397"/>
                      <a:pt x="85725" y="14288"/>
                    </a:cubicBezTo>
                    <a:lnTo>
                      <a:pt x="85725" y="100012"/>
                    </a:lnTo>
                    <a:cubicBezTo>
                      <a:pt x="85725" y="107903"/>
                      <a:pt x="79328" y="114300"/>
                      <a:pt x="71438" y="114300"/>
                    </a:cubicBezTo>
                    <a:lnTo>
                      <a:pt x="14288" y="114300"/>
                    </a:lnTo>
                    <a:cubicBezTo>
                      <a:pt x="6397" y="114300"/>
                      <a:pt x="0" y="107903"/>
                      <a:pt x="0" y="100012"/>
                    </a:cubicBezTo>
                    <a:lnTo>
                      <a:pt x="0" y="14288"/>
                    </a:lnTo>
                  </a:path>
                </a:pathLst>
              </a:custGeom>
              <a:noFill/>
              <a:ln w="28575">
                <a:solidFill>
                  <a:srgbClr val="A8351D"/>
                </a:solidFill>
              </a:ln>
            </p:spPr>
          </p:sp>
          <p:sp>
            <p:nvSpPr>
              <p:cNvPr id="56" name="Freeform 56"/>
              <p:cNvSpPr/>
              <p:nvPr/>
            </p:nvSpPr>
            <p:spPr>
              <a:xfrm>
                <a:off x="6081712" y="1981200"/>
                <a:ext cx="85725" cy="171450"/>
              </a:xfrm>
              <a:custGeom>
                <a:avLst/>
                <a:gdLst/>
                <a:ahLst/>
                <a:cxnLst/>
                <a:rect l="l" t="t" r="r" b="b"/>
                <a:pathLst>
                  <a:path w="85725" h="171450">
                    <a:moveTo>
                      <a:pt x="0" y="14288"/>
                    </a:moveTo>
                    <a:cubicBezTo>
                      <a:pt x="0" y="6397"/>
                      <a:pt x="6397" y="0"/>
                      <a:pt x="14288" y="0"/>
                    </a:cubicBezTo>
                    <a:lnTo>
                      <a:pt x="71438" y="0"/>
                    </a:lnTo>
                    <a:cubicBezTo>
                      <a:pt x="79328" y="0"/>
                      <a:pt x="85725" y="6397"/>
                      <a:pt x="85725" y="14288"/>
                    </a:cubicBezTo>
                    <a:lnTo>
                      <a:pt x="85725" y="157162"/>
                    </a:lnTo>
                    <a:cubicBezTo>
                      <a:pt x="85725" y="165053"/>
                      <a:pt x="79328" y="171450"/>
                      <a:pt x="71438" y="171450"/>
                    </a:cubicBezTo>
                    <a:lnTo>
                      <a:pt x="14288" y="171450"/>
                    </a:lnTo>
                    <a:cubicBezTo>
                      <a:pt x="6397" y="171450"/>
                      <a:pt x="0" y="165053"/>
                      <a:pt x="0" y="157162"/>
                    </a:cubicBezTo>
                    <a:lnTo>
                      <a:pt x="0" y="14288"/>
                    </a:lnTo>
                  </a:path>
                </a:pathLst>
              </a:custGeom>
              <a:noFill/>
              <a:ln w="28575">
                <a:solidFill>
                  <a:srgbClr val="A8351D"/>
                </a:solidFill>
              </a:ln>
            </p:spPr>
          </p:sp>
          <p:sp>
            <p:nvSpPr>
              <p:cNvPr id="57" name="Freeform 57"/>
              <p:cNvSpPr/>
              <p:nvPr/>
            </p:nvSpPr>
            <p:spPr>
              <a:xfrm>
                <a:off x="5995988" y="1924050"/>
                <a:ext cx="85725" cy="228600"/>
              </a:xfrm>
              <a:custGeom>
                <a:avLst/>
                <a:gdLst/>
                <a:ahLst/>
                <a:cxnLst/>
                <a:rect l="l" t="t" r="r" b="b"/>
                <a:pathLst>
                  <a:path w="85725" h="228600">
                    <a:moveTo>
                      <a:pt x="0" y="14288"/>
                    </a:moveTo>
                    <a:cubicBezTo>
                      <a:pt x="0" y="6397"/>
                      <a:pt x="6397" y="0"/>
                      <a:pt x="14288" y="0"/>
                    </a:cubicBezTo>
                    <a:lnTo>
                      <a:pt x="71438" y="0"/>
                    </a:lnTo>
                    <a:cubicBezTo>
                      <a:pt x="79328" y="0"/>
                      <a:pt x="85725" y="6397"/>
                      <a:pt x="85725" y="14288"/>
                    </a:cubicBezTo>
                    <a:lnTo>
                      <a:pt x="85725" y="214312"/>
                    </a:lnTo>
                    <a:cubicBezTo>
                      <a:pt x="85725" y="222203"/>
                      <a:pt x="79328" y="228600"/>
                      <a:pt x="71438" y="228600"/>
                    </a:cubicBezTo>
                    <a:lnTo>
                      <a:pt x="14288" y="228600"/>
                    </a:lnTo>
                    <a:cubicBezTo>
                      <a:pt x="6397" y="228600"/>
                      <a:pt x="0" y="222203"/>
                      <a:pt x="0" y="214312"/>
                    </a:cubicBezTo>
                    <a:lnTo>
                      <a:pt x="0" y="14288"/>
                    </a:lnTo>
                  </a:path>
                </a:pathLst>
              </a:custGeom>
              <a:noFill/>
              <a:ln w="28575">
                <a:solidFill>
                  <a:srgbClr val="A8351D"/>
                </a:solidFill>
              </a:ln>
            </p:spPr>
          </p:sp>
          <p:sp>
            <p:nvSpPr>
              <p:cNvPr id="58" name="Freeform 58"/>
              <p:cNvSpPr/>
              <p:nvPr/>
            </p:nvSpPr>
            <p:spPr>
              <a:xfrm>
                <a:off x="5924550" y="2152650"/>
                <a:ext cx="200025" cy="9525"/>
              </a:xfrm>
              <a:custGeom>
                <a:avLst/>
                <a:gdLst/>
                <a:ahLst/>
                <a:cxnLst/>
                <a:rect l="l" t="t" r="r" b="b"/>
                <a:pathLst>
                  <a:path w="200025" h="9525">
                    <a:moveTo>
                      <a:pt x="0" y="0"/>
                    </a:moveTo>
                    <a:lnTo>
                      <a:pt x="200025" y="0"/>
                    </a:lnTo>
                  </a:path>
                </a:pathLst>
              </a:custGeom>
              <a:noFill/>
              <a:ln w="28575">
                <a:solidFill>
                  <a:srgbClr val="A8351D"/>
                </a:solidFill>
              </a:ln>
            </p:spPr>
          </p:sp>
        </p:grpSp>
        <p:sp>
          <p:nvSpPr>
            <p:cNvPr id="60" name="TextBox 60"/>
            <p:cNvSpPr txBox="1"/>
            <p:nvPr/>
          </p:nvSpPr>
          <p:spPr>
            <a:xfrm>
              <a:off x="6484340" y="1892618"/>
              <a:ext cx="118669" cy="264033"/>
            </a:xfrm>
            <a:prstGeom prst="rect">
              <a:avLst/>
            </a:prstGeom>
            <a:noFill/>
            <a:ln>
              <a:noFill/>
            </a:ln>
          </p:spPr>
          <p:txBody>
            <a:bodyPr wrap="none" lIns="0" tIns="0" rIns="0" bIns="0" anchor="t" anchorCtr="0">
              <a:spAutoFit/>
            </a:bodyPr>
            <a:lstStyle/>
            <a:p>
              <a:pPr algn="ctr"/>
              <a:r>
                <a:rPr lang="zh-CN" sz="1350" b="1" dirty="0">
                  <a:solidFill>
                    <a:srgbClr val="D64A2E"/>
                  </a:solidFill>
                  <a:latin typeface="+mn-lt"/>
                  <a:ea typeface="+mn-ea"/>
                  <a:cs typeface="+mn-cs"/>
                </a:rPr>
                <a:t>+</a:t>
              </a:r>
            </a:p>
          </p:txBody>
        </p:sp>
        <p:sp>
          <p:nvSpPr>
            <p:cNvPr id="61" name="Rectangle 61"/>
            <p:cNvSpPr/>
            <p:nvPr/>
          </p:nvSpPr>
          <p:spPr>
            <a:xfrm>
              <a:off x="6629400" y="1466850"/>
              <a:ext cx="838200" cy="1009650"/>
            </a:xfrm>
            <a:prstGeom prst="roundRect">
              <a:avLst>
                <a:gd name="adj" fmla="val 6818"/>
              </a:avLst>
            </a:prstGeom>
            <a:solidFill>
              <a:srgbClr val="FFFFFF"/>
            </a:solidFill>
            <a:ln w="9525">
              <a:solidFill>
                <a:srgbClr val="C9D8EF"/>
              </a:solidFill>
            </a:ln>
          </p:spPr>
        </p:sp>
        <p:sp>
          <p:nvSpPr>
            <p:cNvPr id="62" name="TextBox 62"/>
            <p:cNvSpPr txBox="1"/>
            <p:nvPr/>
          </p:nvSpPr>
          <p:spPr>
            <a:xfrm>
              <a:off x="6831038" y="15723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长期潜力</a:t>
              </a:r>
            </a:p>
          </p:txBody>
        </p:sp>
        <p:grpSp>
          <p:nvGrpSpPr>
            <p:cNvPr id="66" name="Group 66"/>
            <p:cNvGrpSpPr/>
            <p:nvPr/>
          </p:nvGrpSpPr>
          <p:grpSpPr>
            <a:xfrm>
              <a:off x="6919912" y="1909762"/>
              <a:ext cx="257175" cy="257175"/>
              <a:chOff x="6919912" y="1909762"/>
              <a:chExt cx="257175" cy="257175"/>
            </a:xfrm>
          </p:grpSpPr>
          <p:sp>
            <p:nvSpPr>
              <p:cNvPr id="63" name="Freeform 63"/>
              <p:cNvSpPr/>
              <p:nvPr/>
            </p:nvSpPr>
            <p:spPr>
              <a:xfrm>
                <a:off x="7034212" y="202406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A8351D"/>
                </a:solidFill>
              </a:ln>
            </p:spPr>
          </p:sp>
          <p:sp>
            <p:nvSpPr>
              <p:cNvPr id="64" name="Freeform 64"/>
              <p:cNvSpPr/>
              <p:nvPr/>
            </p:nvSpPr>
            <p:spPr>
              <a:xfrm>
                <a:off x="6977062" y="1966912"/>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8575">
                <a:solidFill>
                  <a:srgbClr val="A8351D"/>
                </a:solidFill>
              </a:ln>
            </p:spPr>
          </p:sp>
          <p:sp>
            <p:nvSpPr>
              <p:cNvPr id="65" name="Freeform 65"/>
              <p:cNvSpPr/>
              <p:nvPr/>
            </p:nvSpPr>
            <p:spPr>
              <a:xfrm>
                <a:off x="6919912" y="190976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8575">
                <a:solidFill>
                  <a:srgbClr val="A8351D"/>
                </a:solidFill>
              </a:ln>
            </p:spPr>
          </p:sp>
        </p:grpSp>
        <p:sp>
          <p:nvSpPr>
            <p:cNvPr id="67" name="TextBox 67"/>
            <p:cNvSpPr txBox="1"/>
            <p:nvPr/>
          </p:nvSpPr>
          <p:spPr>
            <a:xfrm>
              <a:off x="7540887" y="1863090"/>
              <a:ext cx="158225" cy="352044"/>
            </a:xfrm>
            <a:prstGeom prst="rect">
              <a:avLst/>
            </a:prstGeom>
            <a:noFill/>
            <a:ln>
              <a:noFill/>
            </a:ln>
          </p:spPr>
          <p:txBody>
            <a:bodyPr wrap="none" lIns="0" tIns="0" rIns="0" bIns="0" anchor="t" anchorCtr="0">
              <a:spAutoFit/>
            </a:bodyPr>
            <a:lstStyle/>
            <a:p>
              <a:pPr algn="ctr"/>
              <a:r>
                <a:rPr lang="zh-CN" sz="1800" b="1" dirty="0">
                  <a:solidFill>
                    <a:srgbClr val="67281B"/>
                  </a:solidFill>
                  <a:latin typeface="+mn-lt"/>
                  <a:ea typeface="+mn-ea"/>
                  <a:cs typeface="+mn-cs"/>
                </a:rPr>
                <a:t>=</a:t>
              </a:r>
            </a:p>
          </p:txBody>
        </p:sp>
        <p:sp>
          <p:nvSpPr>
            <p:cNvPr id="68" name="Ellipse 68"/>
            <p:cNvSpPr/>
            <p:nvPr/>
          </p:nvSpPr>
          <p:spPr>
            <a:xfrm>
              <a:off x="7677150" y="1533525"/>
              <a:ext cx="876300" cy="876300"/>
            </a:xfrm>
            <a:prstGeom prst="ellipse">
              <a:avLst/>
            </a:prstGeom>
            <a:solidFill>
              <a:srgbClr val="FDF6E7"/>
            </a:solidFill>
            <a:ln w="23812">
              <a:solidFill>
                <a:srgbClr val="C9462F"/>
              </a:solidFill>
            </a:ln>
          </p:spPr>
        </p:sp>
        <p:sp>
          <p:nvSpPr>
            <p:cNvPr id="69" name="TextBox 69"/>
            <p:cNvSpPr txBox="1"/>
            <p:nvPr/>
          </p:nvSpPr>
          <p:spPr>
            <a:xfrm>
              <a:off x="7799642" y="1781175"/>
              <a:ext cx="631317" cy="293370"/>
            </a:xfrm>
            <a:prstGeom prst="rect">
              <a:avLst/>
            </a:prstGeom>
            <a:noFill/>
            <a:ln>
              <a:noFill/>
            </a:ln>
          </p:spPr>
          <p:txBody>
            <a:bodyPr wrap="none" lIns="0" tIns="0" rIns="0" bIns="0" anchor="t" anchorCtr="0">
              <a:spAutoFit/>
            </a:bodyPr>
            <a:lstStyle/>
            <a:p>
              <a:pPr algn="ctr"/>
              <a:r>
                <a:rPr lang="en-US" sz="1500" b="1" dirty="0">
                  <a:solidFill>
                    <a:srgbClr val="C9462F"/>
                  </a:solidFill>
                  <a:latin typeface="+mn-lt"/>
                  <a:ea typeface="+mn-ea"/>
                  <a:cs typeface="+mn-cs"/>
                </a:rPr>
                <a:t>CVC​​</a:t>
              </a:r>
            </a:p>
          </p:txBody>
        </p:sp>
        <p:sp>
          <p:nvSpPr>
            <p:cNvPr id="70" name="TextBox 70"/>
            <p:cNvSpPr txBox="1"/>
            <p:nvPr/>
          </p:nvSpPr>
          <p:spPr>
            <a:xfrm>
              <a:off x="7823797" y="2047161"/>
              <a:ext cx="583006" cy="140494"/>
            </a:xfrm>
            <a:prstGeom prst="rect">
              <a:avLst/>
            </a:prstGeom>
            <a:noFill/>
            <a:ln>
              <a:noFill/>
            </a:ln>
          </p:spPr>
          <p:txBody>
            <a:bodyPr wrap="none" lIns="0" tIns="0" rIns="0" bIns="0" anchor="t" anchorCtr="0">
              <a:spAutoFit/>
            </a:bodyPr>
            <a:lstStyle/>
            <a:p>
              <a:pPr algn="ctr"/>
              <a:r>
                <a:rPr lang="zh-CN" sz="710" b="1" dirty="0">
                  <a:solidFill>
                    <a:srgbClr val="B0351F"/>
                  </a:solidFill>
                  <a:latin typeface="+mn-lt"/>
                  <a:ea typeface="+mn-ea"/>
                  <a:cs typeface="+mn-cs"/>
                </a:rPr>
                <a:t>客户综合价值</a:t>
              </a:r>
            </a:p>
          </p:txBody>
        </p:sp>
      </p:grpSp>
      <p:grpSp>
        <p:nvGrpSpPr>
          <p:cNvPr id="112" name="principles"/>
          <p:cNvGrpSpPr/>
          <p:nvPr/>
        </p:nvGrpSpPr>
        <p:grpSpPr>
          <a:xfrm>
            <a:off x="8724900" y="704850"/>
            <a:ext cx="3086100" cy="2171700"/>
            <a:chOff x="8724900" y="704850"/>
            <a:chExt cx="3086100" cy="2171700"/>
          </a:xfrm>
        </p:grpSpPr>
        <p:sp>
          <p:nvSpPr>
            <p:cNvPr id="72" name="Rectangle 72"/>
            <p:cNvSpPr/>
            <p:nvPr/>
          </p:nvSpPr>
          <p:spPr>
            <a:xfrm>
              <a:off x="8724900" y="704850"/>
              <a:ext cx="3086100" cy="2171700"/>
            </a:xfrm>
            <a:prstGeom prst="roundRect">
              <a:avLst>
                <a:gd name="adj" fmla="val 4386"/>
              </a:avLst>
            </a:prstGeom>
            <a:solidFill>
              <a:srgbClr val="F9FBFE"/>
            </a:solidFill>
            <a:ln w="9525">
              <a:solidFill>
                <a:srgbClr val="C9D8EF"/>
              </a:solidFill>
            </a:ln>
          </p:spPr>
        </p:sp>
        <p:sp>
          <p:nvSpPr>
            <p:cNvPr id="73" name="Rectangle 73"/>
            <p:cNvSpPr/>
            <p:nvPr/>
          </p:nvSpPr>
          <p:spPr>
            <a:xfrm>
              <a:off x="8724900" y="704850"/>
              <a:ext cx="3086100" cy="285750"/>
            </a:xfrm>
            <a:prstGeom prst="roundRect">
              <a:avLst>
                <a:gd name="adj" fmla="val 13333"/>
              </a:avLst>
            </a:prstGeom>
            <a:gradFill>
              <a:gsLst>
                <a:gs pos="0">
                  <a:srgbClr val="AD3921"/>
                </a:gs>
                <a:gs pos="100000">
                  <a:srgbClr val="962C16"/>
                </a:gs>
              </a:gsLst>
              <a:lin ang="5400000" scaled="1"/>
            </a:gradFill>
            <a:ln>
              <a:noFill/>
            </a:ln>
          </p:spPr>
        </p:sp>
        <p:sp>
          <p:nvSpPr>
            <p:cNvPr id="74" name="TextBox 74"/>
            <p:cNvSpPr txBox="1"/>
            <p:nvPr/>
          </p:nvSpPr>
          <p:spPr>
            <a:xfrm>
              <a:off x="9854908" y="795576"/>
              <a:ext cx="82608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统一计量原则</a:t>
              </a:r>
            </a:p>
          </p:txBody>
        </p:sp>
        <p:sp>
          <p:nvSpPr>
            <p:cNvPr id="75" name="Rectangle 75"/>
            <p:cNvSpPr/>
            <p:nvPr/>
          </p:nvSpPr>
          <p:spPr>
            <a:xfrm>
              <a:off x="8839200" y="1085850"/>
              <a:ext cx="2857500" cy="381000"/>
            </a:xfrm>
            <a:prstGeom prst="roundRect">
              <a:avLst>
                <a:gd name="adj" fmla="val 15000"/>
              </a:avLst>
            </a:prstGeom>
            <a:solidFill>
              <a:srgbClr val="FFFFFF"/>
            </a:solidFill>
            <a:ln w="9525">
              <a:solidFill>
                <a:srgbClr val="C9D8EF"/>
              </a:solidFill>
            </a:ln>
          </p:spPr>
        </p:sp>
        <p:grpSp>
          <p:nvGrpSpPr>
            <p:cNvPr id="82" name="Group 82"/>
            <p:cNvGrpSpPr/>
            <p:nvPr/>
          </p:nvGrpSpPr>
          <p:grpSpPr>
            <a:xfrm>
              <a:off x="8977312" y="1204912"/>
              <a:ext cx="142875" cy="142875"/>
              <a:chOff x="8977312" y="1204912"/>
              <a:chExt cx="142875" cy="142875"/>
            </a:xfrm>
          </p:grpSpPr>
          <p:sp>
            <p:nvSpPr>
              <p:cNvPr id="76" name="Freeform 76"/>
              <p:cNvSpPr/>
              <p:nvPr/>
            </p:nvSpPr>
            <p:spPr>
              <a:xfrm>
                <a:off x="9032875" y="12684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77" name="Freeform 77"/>
              <p:cNvSpPr/>
              <p:nvPr/>
            </p:nvSpPr>
            <p:spPr>
              <a:xfrm>
                <a:off x="9017000" y="132397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A8351D"/>
                </a:solidFill>
              </a:ln>
            </p:spPr>
          </p:sp>
          <p:sp>
            <p:nvSpPr>
              <p:cNvPr id="78" name="Freeform 78"/>
              <p:cNvSpPr/>
              <p:nvPr/>
            </p:nvSpPr>
            <p:spPr>
              <a:xfrm>
                <a:off x="9072562" y="12049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79" name="Freeform 79"/>
              <p:cNvSpPr/>
              <p:nvPr/>
            </p:nvSpPr>
            <p:spPr>
              <a:xfrm>
                <a:off x="9088437" y="126047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A8351D"/>
                </a:solidFill>
              </a:ln>
            </p:spPr>
          </p:sp>
          <p:sp>
            <p:nvSpPr>
              <p:cNvPr id="80" name="Freeform 80"/>
              <p:cNvSpPr/>
              <p:nvPr/>
            </p:nvSpPr>
            <p:spPr>
              <a:xfrm>
                <a:off x="8993187" y="12049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8351D"/>
                </a:solidFill>
              </a:ln>
            </p:spPr>
          </p:sp>
          <p:sp>
            <p:nvSpPr>
              <p:cNvPr id="81" name="Freeform 81"/>
              <p:cNvSpPr/>
              <p:nvPr/>
            </p:nvSpPr>
            <p:spPr>
              <a:xfrm>
                <a:off x="8977312" y="126047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A8351D"/>
                </a:solidFill>
              </a:ln>
            </p:spPr>
          </p:sp>
        </p:grpSp>
        <p:sp>
          <p:nvSpPr>
            <p:cNvPr id="83" name="TextBox 83"/>
            <p:cNvSpPr txBox="1"/>
            <p:nvPr/>
          </p:nvSpPr>
          <p:spPr>
            <a:xfrm>
              <a:off x="9253538" y="1226820"/>
              <a:ext cx="736473"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统一客户口径</a:t>
              </a:r>
            </a:p>
          </p:txBody>
        </p:sp>
        <p:sp>
          <p:nvSpPr>
            <p:cNvPr id="84" name="Rectangle 84"/>
            <p:cNvSpPr/>
            <p:nvPr/>
          </p:nvSpPr>
          <p:spPr>
            <a:xfrm>
              <a:off x="8839200" y="1543050"/>
              <a:ext cx="2857500" cy="381000"/>
            </a:xfrm>
            <a:prstGeom prst="roundRect">
              <a:avLst>
                <a:gd name="adj" fmla="val 15000"/>
              </a:avLst>
            </a:prstGeom>
            <a:solidFill>
              <a:srgbClr val="FFFFFF"/>
            </a:solidFill>
            <a:ln w="9525">
              <a:solidFill>
                <a:srgbClr val="C9D8EF"/>
              </a:solidFill>
            </a:ln>
          </p:spPr>
        </p:sp>
        <p:grpSp>
          <p:nvGrpSpPr>
            <p:cNvPr id="90" name="Group 90"/>
            <p:cNvGrpSpPr/>
            <p:nvPr/>
          </p:nvGrpSpPr>
          <p:grpSpPr>
            <a:xfrm>
              <a:off x="8977312" y="1661049"/>
              <a:ext cx="142875" cy="143938"/>
              <a:chOff x="8977312" y="1661049"/>
              <a:chExt cx="142875" cy="143938"/>
            </a:xfrm>
          </p:grpSpPr>
          <p:sp>
            <p:nvSpPr>
              <p:cNvPr id="85" name="Freeform 85"/>
              <p:cNvSpPr/>
              <p:nvPr/>
            </p:nvSpPr>
            <p:spPr>
              <a:xfrm>
                <a:off x="9024937" y="172561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A8351D"/>
                </a:solidFill>
              </a:ln>
            </p:spPr>
          </p:sp>
          <p:sp>
            <p:nvSpPr>
              <p:cNvPr id="86" name="Freeform 86"/>
              <p:cNvSpPr/>
              <p:nvPr/>
            </p:nvSpPr>
            <p:spPr>
              <a:xfrm>
                <a:off x="9024937" y="174942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A8351D"/>
                </a:solidFill>
              </a:ln>
            </p:spPr>
          </p:sp>
          <p:sp>
            <p:nvSpPr>
              <p:cNvPr id="87" name="Freeform 87"/>
              <p:cNvSpPr/>
              <p:nvPr/>
            </p:nvSpPr>
            <p:spPr>
              <a:xfrm>
                <a:off x="8977312" y="166104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A8351D"/>
                </a:solidFill>
              </a:ln>
            </p:spPr>
          </p:sp>
          <p:sp>
            <p:nvSpPr>
              <p:cNvPr id="88" name="Freeform 88"/>
              <p:cNvSpPr/>
              <p:nvPr/>
            </p:nvSpPr>
            <p:spPr>
              <a:xfrm>
                <a:off x="8977312" y="168592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A8351D"/>
                </a:solidFill>
              </a:ln>
            </p:spPr>
          </p:sp>
          <p:sp>
            <p:nvSpPr>
              <p:cNvPr id="89" name="Freeform 89"/>
              <p:cNvSpPr/>
              <p:nvPr/>
            </p:nvSpPr>
            <p:spPr>
              <a:xfrm>
                <a:off x="8977312" y="172561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A8351D"/>
                </a:solidFill>
              </a:ln>
            </p:spPr>
          </p:sp>
        </p:grpSp>
        <p:sp>
          <p:nvSpPr>
            <p:cNvPr id="91" name="TextBox 91"/>
            <p:cNvSpPr txBox="1"/>
            <p:nvPr/>
          </p:nvSpPr>
          <p:spPr>
            <a:xfrm>
              <a:off x="9253538" y="1684020"/>
              <a:ext cx="736473"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统一收益口径</a:t>
              </a:r>
            </a:p>
          </p:txBody>
        </p:sp>
        <p:sp>
          <p:nvSpPr>
            <p:cNvPr id="92" name="Rectangle 92"/>
            <p:cNvSpPr/>
            <p:nvPr/>
          </p:nvSpPr>
          <p:spPr>
            <a:xfrm>
              <a:off x="8839200" y="2000250"/>
              <a:ext cx="2857500" cy="381000"/>
            </a:xfrm>
            <a:prstGeom prst="roundRect">
              <a:avLst>
                <a:gd name="adj" fmla="val 15000"/>
              </a:avLst>
            </a:prstGeom>
            <a:solidFill>
              <a:srgbClr val="FFFFFF"/>
            </a:solidFill>
            <a:ln w="9525">
              <a:solidFill>
                <a:srgbClr val="C9D8EF"/>
              </a:solidFill>
            </a:ln>
          </p:spPr>
        </p:sp>
        <p:grpSp>
          <p:nvGrpSpPr>
            <p:cNvPr id="101" name="Group 101"/>
            <p:cNvGrpSpPr/>
            <p:nvPr/>
          </p:nvGrpSpPr>
          <p:grpSpPr>
            <a:xfrm>
              <a:off x="8985250" y="2119312"/>
              <a:ext cx="127000" cy="142875"/>
              <a:chOff x="8985250" y="2119312"/>
              <a:chExt cx="127000" cy="142875"/>
            </a:xfrm>
          </p:grpSpPr>
          <p:sp>
            <p:nvSpPr>
              <p:cNvPr id="93" name="Freeform 93"/>
              <p:cNvSpPr/>
              <p:nvPr/>
            </p:nvSpPr>
            <p:spPr>
              <a:xfrm>
                <a:off x="8985250" y="2119312"/>
                <a:ext cx="127000" cy="142875"/>
              </a:xfrm>
              <a:custGeom>
                <a:avLst/>
                <a:gdLst/>
                <a:ahLst/>
                <a:cxnLst/>
                <a:rect l="l" t="t" r="r" b="b"/>
                <a:pathLst>
                  <a:path w="127000" h="142875">
                    <a:moveTo>
                      <a:pt x="0" y="15875"/>
                    </a:moveTo>
                    <a:cubicBezTo>
                      <a:pt x="0" y="7107"/>
                      <a:pt x="7107" y="0"/>
                      <a:pt x="15875" y="0"/>
                    </a:cubicBezTo>
                    <a:lnTo>
                      <a:pt x="111125" y="0"/>
                    </a:lnTo>
                    <a:cubicBezTo>
                      <a:pt x="119892" y="0"/>
                      <a:pt x="127000" y="7107"/>
                      <a:pt x="127000" y="15875"/>
                    </a:cubicBezTo>
                    <a:lnTo>
                      <a:pt x="127000" y="127000"/>
                    </a:lnTo>
                    <a:cubicBezTo>
                      <a:pt x="127000" y="135767"/>
                      <a:pt x="119892" y="142875"/>
                      <a:pt x="111125" y="142875"/>
                    </a:cubicBezTo>
                    <a:lnTo>
                      <a:pt x="15875" y="142875"/>
                    </a:lnTo>
                    <a:cubicBezTo>
                      <a:pt x="7107" y="142875"/>
                      <a:pt x="0" y="135767"/>
                      <a:pt x="0" y="127000"/>
                    </a:cubicBezTo>
                    <a:lnTo>
                      <a:pt x="0" y="15875"/>
                    </a:lnTo>
                  </a:path>
                </a:pathLst>
              </a:custGeom>
              <a:noFill/>
              <a:ln w="15875">
                <a:solidFill>
                  <a:srgbClr val="A8351D"/>
                </a:solidFill>
              </a:ln>
            </p:spPr>
          </p:sp>
          <p:sp>
            <p:nvSpPr>
              <p:cNvPr id="94" name="Freeform 94"/>
              <p:cNvSpPr/>
              <p:nvPr/>
            </p:nvSpPr>
            <p:spPr>
              <a:xfrm>
                <a:off x="9017000" y="2151062"/>
                <a:ext cx="63500" cy="23812"/>
              </a:xfrm>
              <a:custGeom>
                <a:avLst/>
                <a:gdLst/>
                <a:ahLst/>
                <a:cxnLst/>
                <a:rect l="l" t="t" r="r" b="b"/>
                <a:pathLst>
                  <a:path w="63500" h="23812">
                    <a:moveTo>
                      <a:pt x="0" y="7937"/>
                    </a:moveTo>
                    <a:cubicBezTo>
                      <a:pt x="0" y="3554"/>
                      <a:pt x="3554" y="0"/>
                      <a:pt x="7937" y="0"/>
                    </a:cubicBezTo>
                    <a:lnTo>
                      <a:pt x="55562" y="0"/>
                    </a:lnTo>
                    <a:cubicBezTo>
                      <a:pt x="59946" y="0"/>
                      <a:pt x="63500" y="3554"/>
                      <a:pt x="63500" y="7937"/>
                    </a:cubicBezTo>
                    <a:lnTo>
                      <a:pt x="63500" y="15875"/>
                    </a:lnTo>
                    <a:cubicBezTo>
                      <a:pt x="63500" y="20259"/>
                      <a:pt x="59946" y="23812"/>
                      <a:pt x="55562" y="23812"/>
                    </a:cubicBezTo>
                    <a:lnTo>
                      <a:pt x="7937" y="23812"/>
                    </a:lnTo>
                    <a:cubicBezTo>
                      <a:pt x="3554" y="23812"/>
                      <a:pt x="0" y="20259"/>
                      <a:pt x="0" y="15875"/>
                    </a:cubicBezTo>
                    <a:lnTo>
                      <a:pt x="0" y="7937"/>
                    </a:lnTo>
                  </a:path>
                </a:pathLst>
              </a:custGeom>
              <a:noFill/>
              <a:ln w="15875">
                <a:solidFill>
                  <a:srgbClr val="A8351D"/>
                </a:solidFill>
              </a:ln>
            </p:spPr>
          </p:sp>
          <p:sp>
            <p:nvSpPr>
              <p:cNvPr id="95" name="Freeform 95"/>
              <p:cNvSpPr/>
              <p:nvPr/>
            </p:nvSpPr>
            <p:spPr>
              <a:xfrm>
                <a:off x="9017000" y="2206625"/>
                <a:ext cx="9525" cy="9525"/>
              </a:xfrm>
              <a:custGeom>
                <a:avLst/>
                <a:gdLst/>
                <a:ahLst/>
                <a:cxnLst/>
                <a:rect l="l" t="t" r="r" b="b"/>
                <a:pathLst>
                  <a:path w="9525" h="9525">
                    <a:moveTo>
                      <a:pt x="0" y="0"/>
                    </a:moveTo>
                    <a:lnTo>
                      <a:pt x="0" y="79"/>
                    </a:lnTo>
                  </a:path>
                </a:pathLst>
              </a:custGeom>
              <a:noFill/>
              <a:ln w="15875">
                <a:solidFill>
                  <a:srgbClr val="A8351D"/>
                </a:solidFill>
              </a:ln>
            </p:spPr>
          </p:sp>
          <p:sp>
            <p:nvSpPr>
              <p:cNvPr id="96" name="Freeform 96"/>
              <p:cNvSpPr/>
              <p:nvPr/>
            </p:nvSpPr>
            <p:spPr>
              <a:xfrm>
                <a:off x="9048750" y="2206625"/>
                <a:ext cx="9525" cy="9525"/>
              </a:xfrm>
              <a:custGeom>
                <a:avLst/>
                <a:gdLst/>
                <a:ahLst/>
                <a:cxnLst/>
                <a:rect l="l" t="t" r="r" b="b"/>
                <a:pathLst>
                  <a:path w="9525" h="9525">
                    <a:moveTo>
                      <a:pt x="0" y="0"/>
                    </a:moveTo>
                    <a:lnTo>
                      <a:pt x="0" y="79"/>
                    </a:lnTo>
                  </a:path>
                </a:pathLst>
              </a:custGeom>
              <a:noFill/>
              <a:ln w="15875">
                <a:solidFill>
                  <a:srgbClr val="A8351D"/>
                </a:solidFill>
              </a:ln>
            </p:spPr>
          </p:sp>
          <p:sp>
            <p:nvSpPr>
              <p:cNvPr id="97" name="Freeform 97"/>
              <p:cNvSpPr/>
              <p:nvPr/>
            </p:nvSpPr>
            <p:spPr>
              <a:xfrm>
                <a:off x="9080500" y="2206625"/>
                <a:ext cx="9525" cy="9525"/>
              </a:xfrm>
              <a:custGeom>
                <a:avLst/>
                <a:gdLst/>
                <a:ahLst/>
                <a:cxnLst/>
                <a:rect l="l" t="t" r="r" b="b"/>
                <a:pathLst>
                  <a:path w="9525" h="9525">
                    <a:moveTo>
                      <a:pt x="0" y="0"/>
                    </a:moveTo>
                    <a:lnTo>
                      <a:pt x="0" y="79"/>
                    </a:lnTo>
                  </a:path>
                </a:pathLst>
              </a:custGeom>
              <a:noFill/>
              <a:ln w="15875">
                <a:solidFill>
                  <a:srgbClr val="A8351D"/>
                </a:solidFill>
              </a:ln>
            </p:spPr>
          </p:sp>
          <p:sp>
            <p:nvSpPr>
              <p:cNvPr id="98" name="Freeform 98"/>
              <p:cNvSpPr/>
              <p:nvPr/>
            </p:nvSpPr>
            <p:spPr>
              <a:xfrm>
                <a:off x="9017000" y="2230437"/>
                <a:ext cx="9525" cy="9525"/>
              </a:xfrm>
              <a:custGeom>
                <a:avLst/>
                <a:gdLst/>
                <a:ahLst/>
                <a:cxnLst/>
                <a:rect l="l" t="t" r="r" b="b"/>
                <a:pathLst>
                  <a:path w="9525" h="9525">
                    <a:moveTo>
                      <a:pt x="0" y="0"/>
                    </a:moveTo>
                    <a:lnTo>
                      <a:pt x="0" y="79"/>
                    </a:lnTo>
                  </a:path>
                </a:pathLst>
              </a:custGeom>
              <a:noFill/>
              <a:ln w="15875">
                <a:solidFill>
                  <a:srgbClr val="A8351D"/>
                </a:solidFill>
              </a:ln>
            </p:spPr>
          </p:sp>
          <p:sp>
            <p:nvSpPr>
              <p:cNvPr id="99" name="Freeform 99"/>
              <p:cNvSpPr/>
              <p:nvPr/>
            </p:nvSpPr>
            <p:spPr>
              <a:xfrm>
                <a:off x="9048750" y="2230437"/>
                <a:ext cx="9525" cy="9525"/>
              </a:xfrm>
              <a:custGeom>
                <a:avLst/>
                <a:gdLst/>
                <a:ahLst/>
                <a:cxnLst/>
                <a:rect l="l" t="t" r="r" b="b"/>
                <a:pathLst>
                  <a:path w="9525" h="9525">
                    <a:moveTo>
                      <a:pt x="0" y="0"/>
                    </a:moveTo>
                    <a:lnTo>
                      <a:pt x="0" y="79"/>
                    </a:lnTo>
                  </a:path>
                </a:pathLst>
              </a:custGeom>
              <a:noFill/>
              <a:ln w="15875">
                <a:solidFill>
                  <a:srgbClr val="A8351D"/>
                </a:solidFill>
              </a:ln>
            </p:spPr>
          </p:sp>
          <p:sp>
            <p:nvSpPr>
              <p:cNvPr id="100" name="Freeform 100"/>
              <p:cNvSpPr/>
              <p:nvPr/>
            </p:nvSpPr>
            <p:spPr>
              <a:xfrm>
                <a:off x="9080500" y="2230437"/>
                <a:ext cx="9525" cy="9525"/>
              </a:xfrm>
              <a:custGeom>
                <a:avLst/>
                <a:gdLst/>
                <a:ahLst/>
                <a:cxnLst/>
                <a:rect l="l" t="t" r="r" b="b"/>
                <a:pathLst>
                  <a:path w="9525" h="9525">
                    <a:moveTo>
                      <a:pt x="0" y="0"/>
                    </a:moveTo>
                    <a:lnTo>
                      <a:pt x="0" y="79"/>
                    </a:lnTo>
                  </a:path>
                </a:pathLst>
              </a:custGeom>
              <a:noFill/>
              <a:ln w="15875">
                <a:solidFill>
                  <a:srgbClr val="A8351D"/>
                </a:solidFill>
              </a:ln>
            </p:spPr>
          </p:sp>
        </p:grpSp>
        <p:sp>
          <p:nvSpPr>
            <p:cNvPr id="102" name="TextBox 102"/>
            <p:cNvSpPr txBox="1"/>
            <p:nvPr/>
          </p:nvSpPr>
          <p:spPr>
            <a:xfrm>
              <a:off x="9253538" y="2141220"/>
              <a:ext cx="736473"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避免重复计算</a:t>
              </a:r>
            </a:p>
          </p:txBody>
        </p:sp>
        <p:sp>
          <p:nvSpPr>
            <p:cNvPr id="103" name="Rectangle 103"/>
            <p:cNvSpPr/>
            <p:nvPr/>
          </p:nvSpPr>
          <p:spPr>
            <a:xfrm>
              <a:off x="8839200" y="2457450"/>
              <a:ext cx="2857500" cy="381000"/>
            </a:xfrm>
            <a:prstGeom prst="roundRect">
              <a:avLst>
                <a:gd name="adj" fmla="val 15000"/>
              </a:avLst>
            </a:prstGeom>
            <a:solidFill>
              <a:srgbClr val="FFFFFF"/>
            </a:solidFill>
            <a:ln w="9525">
              <a:solidFill>
                <a:srgbClr val="C9D8EF"/>
              </a:solidFill>
            </a:ln>
          </p:spPr>
        </p:sp>
        <p:grpSp>
          <p:nvGrpSpPr>
            <p:cNvPr id="110" name="Group 110"/>
            <p:cNvGrpSpPr/>
            <p:nvPr/>
          </p:nvGrpSpPr>
          <p:grpSpPr>
            <a:xfrm>
              <a:off x="8985250" y="2576512"/>
              <a:ext cx="127000" cy="142875"/>
              <a:chOff x="8985250" y="2576512"/>
              <a:chExt cx="127000" cy="142875"/>
            </a:xfrm>
          </p:grpSpPr>
          <p:sp>
            <p:nvSpPr>
              <p:cNvPr id="104" name="Freeform 104"/>
              <p:cNvSpPr/>
              <p:nvPr/>
            </p:nvSpPr>
            <p:spPr>
              <a:xfrm>
                <a:off x="8985250" y="25923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A8351D"/>
                </a:solidFill>
              </a:ln>
            </p:spPr>
          </p:sp>
          <p:sp>
            <p:nvSpPr>
              <p:cNvPr id="105" name="Freeform 105"/>
              <p:cNvSpPr/>
              <p:nvPr/>
            </p:nvSpPr>
            <p:spPr>
              <a:xfrm>
                <a:off x="9080500" y="2576512"/>
                <a:ext cx="9525" cy="31750"/>
              </a:xfrm>
              <a:custGeom>
                <a:avLst/>
                <a:gdLst/>
                <a:ahLst/>
                <a:cxnLst/>
                <a:rect l="l" t="t" r="r" b="b"/>
                <a:pathLst>
                  <a:path w="9525" h="31750">
                    <a:moveTo>
                      <a:pt x="0" y="0"/>
                    </a:moveTo>
                    <a:lnTo>
                      <a:pt x="0" y="31750"/>
                    </a:lnTo>
                  </a:path>
                </a:pathLst>
              </a:custGeom>
              <a:noFill/>
              <a:ln w="15875">
                <a:solidFill>
                  <a:srgbClr val="A8351D"/>
                </a:solidFill>
              </a:ln>
            </p:spPr>
          </p:sp>
          <p:sp>
            <p:nvSpPr>
              <p:cNvPr id="106" name="Freeform 106"/>
              <p:cNvSpPr/>
              <p:nvPr/>
            </p:nvSpPr>
            <p:spPr>
              <a:xfrm>
                <a:off x="9017000" y="2576512"/>
                <a:ext cx="9525" cy="31750"/>
              </a:xfrm>
              <a:custGeom>
                <a:avLst/>
                <a:gdLst/>
                <a:ahLst/>
                <a:cxnLst/>
                <a:rect l="l" t="t" r="r" b="b"/>
                <a:pathLst>
                  <a:path w="9525" h="31750">
                    <a:moveTo>
                      <a:pt x="0" y="0"/>
                    </a:moveTo>
                    <a:lnTo>
                      <a:pt x="0" y="31750"/>
                    </a:lnTo>
                  </a:path>
                </a:pathLst>
              </a:custGeom>
              <a:noFill/>
              <a:ln w="15875">
                <a:solidFill>
                  <a:srgbClr val="A8351D"/>
                </a:solidFill>
              </a:ln>
            </p:spPr>
          </p:sp>
          <p:sp>
            <p:nvSpPr>
              <p:cNvPr id="107" name="Freeform 107"/>
              <p:cNvSpPr/>
              <p:nvPr/>
            </p:nvSpPr>
            <p:spPr>
              <a:xfrm>
                <a:off x="8985250" y="2640012"/>
                <a:ext cx="127000" cy="9525"/>
              </a:xfrm>
              <a:custGeom>
                <a:avLst/>
                <a:gdLst/>
                <a:ahLst/>
                <a:cxnLst/>
                <a:rect l="l" t="t" r="r" b="b"/>
                <a:pathLst>
                  <a:path w="127000" h="9525">
                    <a:moveTo>
                      <a:pt x="0" y="0"/>
                    </a:moveTo>
                    <a:lnTo>
                      <a:pt x="127000" y="0"/>
                    </a:lnTo>
                  </a:path>
                </a:pathLst>
              </a:custGeom>
              <a:noFill/>
              <a:ln w="15875">
                <a:solidFill>
                  <a:srgbClr val="A8351D"/>
                </a:solidFill>
              </a:ln>
            </p:spPr>
          </p:sp>
          <p:sp>
            <p:nvSpPr>
              <p:cNvPr id="108" name="Freeform 108"/>
              <p:cNvSpPr/>
              <p:nvPr/>
            </p:nvSpPr>
            <p:spPr>
              <a:xfrm>
                <a:off x="9040812" y="2671762"/>
                <a:ext cx="9525" cy="9525"/>
              </a:xfrm>
              <a:custGeom>
                <a:avLst/>
                <a:gdLst/>
                <a:ahLst/>
                <a:cxnLst/>
                <a:rect l="l" t="t" r="r" b="b"/>
                <a:pathLst>
                  <a:path w="9525" h="9525">
                    <a:moveTo>
                      <a:pt x="0" y="0"/>
                    </a:moveTo>
                    <a:lnTo>
                      <a:pt x="7937" y="0"/>
                    </a:lnTo>
                  </a:path>
                </a:pathLst>
              </a:custGeom>
              <a:noFill/>
              <a:ln w="15875">
                <a:solidFill>
                  <a:srgbClr val="A8351D"/>
                </a:solidFill>
              </a:ln>
            </p:spPr>
          </p:sp>
          <p:sp>
            <p:nvSpPr>
              <p:cNvPr id="109" name="Freeform 109"/>
              <p:cNvSpPr/>
              <p:nvPr/>
            </p:nvSpPr>
            <p:spPr>
              <a:xfrm>
                <a:off x="9048750" y="2671762"/>
                <a:ext cx="9525" cy="23812"/>
              </a:xfrm>
              <a:custGeom>
                <a:avLst/>
                <a:gdLst/>
                <a:ahLst/>
                <a:cxnLst/>
                <a:rect l="l" t="t" r="r" b="b"/>
                <a:pathLst>
                  <a:path w="9525" h="23812">
                    <a:moveTo>
                      <a:pt x="0" y="0"/>
                    </a:moveTo>
                    <a:lnTo>
                      <a:pt x="0" y="23812"/>
                    </a:lnTo>
                  </a:path>
                </a:pathLst>
              </a:custGeom>
              <a:noFill/>
              <a:ln w="15875">
                <a:solidFill>
                  <a:srgbClr val="A8351D"/>
                </a:solidFill>
              </a:ln>
            </p:spPr>
          </p:sp>
        </p:grpSp>
        <p:sp>
          <p:nvSpPr>
            <p:cNvPr id="111" name="TextBox 111"/>
            <p:cNvSpPr txBox="1"/>
            <p:nvPr/>
          </p:nvSpPr>
          <p:spPr>
            <a:xfrm>
              <a:off x="9253538" y="2598420"/>
              <a:ext cx="857631"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兼顾当期与长期</a:t>
              </a:r>
            </a:p>
          </p:txBody>
        </p:sp>
      </p:grpSp>
      <p:grpSp>
        <p:nvGrpSpPr>
          <p:cNvPr id="140" name="contribution-types"/>
          <p:cNvGrpSpPr/>
          <p:nvPr/>
        </p:nvGrpSpPr>
        <p:grpSpPr>
          <a:xfrm>
            <a:off x="381000" y="3048000"/>
            <a:ext cx="4610100" cy="1219200"/>
            <a:chOff x="381000" y="3048000"/>
            <a:chExt cx="4610100" cy="1219200"/>
          </a:xfrm>
        </p:grpSpPr>
        <p:sp>
          <p:nvSpPr>
            <p:cNvPr id="113" name="Rectangle 113"/>
            <p:cNvSpPr/>
            <p:nvPr/>
          </p:nvSpPr>
          <p:spPr>
            <a:xfrm>
              <a:off x="381000" y="3048000"/>
              <a:ext cx="4610100" cy="1219200"/>
            </a:xfrm>
            <a:prstGeom prst="roundRect">
              <a:avLst>
                <a:gd name="adj" fmla="val 7812"/>
              </a:avLst>
            </a:prstGeom>
            <a:solidFill>
              <a:srgbClr val="F9FBFE"/>
            </a:solidFill>
            <a:ln w="9525">
              <a:solidFill>
                <a:srgbClr val="C9D8EF"/>
              </a:solidFill>
            </a:ln>
          </p:spPr>
        </p:sp>
        <p:sp>
          <p:nvSpPr>
            <p:cNvPr id="114" name="Rectangle 114"/>
            <p:cNvSpPr/>
            <p:nvPr/>
          </p:nvSpPr>
          <p:spPr>
            <a:xfrm>
              <a:off x="1733550" y="3048000"/>
              <a:ext cx="1905000" cy="266700"/>
            </a:xfrm>
            <a:prstGeom prst="roundRect">
              <a:avLst>
                <a:gd name="adj" fmla="val 14286"/>
              </a:avLst>
            </a:prstGeom>
            <a:gradFill>
              <a:gsLst>
                <a:gs pos="0">
                  <a:srgbClr val="AD3921"/>
                </a:gs>
                <a:gs pos="100000">
                  <a:srgbClr val="962C16"/>
                </a:gs>
              </a:gsLst>
              <a:lin ang="5400000" scaled="1"/>
            </a:gradFill>
            <a:ln>
              <a:noFill/>
            </a:ln>
          </p:spPr>
        </p:sp>
        <p:sp>
          <p:nvSpPr>
            <p:cNvPr id="115" name="TextBox 115"/>
            <p:cNvSpPr txBox="1"/>
            <p:nvPr/>
          </p:nvSpPr>
          <p:spPr>
            <a:xfrm>
              <a:off x="2285314" y="31237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三类贡献计分</a:t>
              </a:r>
            </a:p>
          </p:txBody>
        </p:sp>
        <p:sp>
          <p:nvSpPr>
            <p:cNvPr id="116" name="Rectangle 116"/>
            <p:cNvSpPr/>
            <p:nvPr/>
          </p:nvSpPr>
          <p:spPr>
            <a:xfrm>
              <a:off x="476250" y="3429000"/>
              <a:ext cx="1409700" cy="723900"/>
            </a:xfrm>
            <a:prstGeom prst="roundRect">
              <a:avLst>
                <a:gd name="adj" fmla="val 7895"/>
              </a:avLst>
            </a:prstGeom>
            <a:solidFill>
              <a:srgbClr val="FFFFFF"/>
            </a:solidFill>
            <a:ln w="9525">
              <a:solidFill>
                <a:srgbClr val="C9D8EF"/>
              </a:solidFill>
            </a:ln>
          </p:spPr>
        </p:sp>
        <p:grpSp>
          <p:nvGrpSpPr>
            <p:cNvPr id="121" name="Group 121"/>
            <p:cNvGrpSpPr/>
            <p:nvPr/>
          </p:nvGrpSpPr>
          <p:grpSpPr>
            <a:xfrm>
              <a:off x="598883" y="3696228"/>
              <a:ext cx="192696" cy="167747"/>
              <a:chOff x="598883" y="3696228"/>
              <a:chExt cx="192696" cy="167747"/>
            </a:xfrm>
          </p:grpSpPr>
          <p:sp>
            <p:nvSpPr>
              <p:cNvPr id="117" name="Freeform 117"/>
              <p:cNvSpPr/>
              <p:nvPr/>
            </p:nvSpPr>
            <p:spPr>
              <a:xfrm>
                <a:off x="598883" y="3696228"/>
                <a:ext cx="192696" cy="167747"/>
              </a:xfrm>
              <a:custGeom>
                <a:avLst/>
                <a:gdLst/>
                <a:ahLst/>
                <a:cxnLst/>
                <a:rect l="l" t="t" r="r" b="b"/>
                <a:pathLst>
                  <a:path w="192696" h="167747">
                    <a:moveTo>
                      <a:pt x="173832" y="91099"/>
                    </a:moveTo>
                    <a:lnTo>
                      <a:pt x="96442" y="167747"/>
                    </a:lnTo>
                    <a:lnTo>
                      <a:pt x="19051" y="91099"/>
                    </a:lnTo>
                    <a:cubicBezTo>
                      <a:pt x="5134" y="77557"/>
                      <a:pt x="0" y="57347"/>
                      <a:pt x="5766" y="38804"/>
                    </a:cubicBezTo>
                    <a:cubicBezTo>
                      <a:pt x="11531" y="20262"/>
                      <a:pt x="27220" y="6526"/>
                      <a:pt x="46362" y="3263"/>
                    </a:cubicBezTo>
                    <a:cubicBezTo>
                      <a:pt x="65505" y="0"/>
                      <a:pt x="84858" y="7761"/>
                      <a:pt x="96442" y="23347"/>
                    </a:cubicBezTo>
                    <a:cubicBezTo>
                      <a:pt x="108074" y="7877"/>
                      <a:pt x="127386" y="218"/>
                      <a:pt x="146458" y="3512"/>
                    </a:cubicBezTo>
                    <a:cubicBezTo>
                      <a:pt x="165531" y="6806"/>
                      <a:pt x="181156" y="20498"/>
                      <a:pt x="186926" y="38973"/>
                    </a:cubicBezTo>
                    <a:cubicBezTo>
                      <a:pt x="192696" y="57448"/>
                      <a:pt x="187640" y="77598"/>
                      <a:pt x="173832" y="91161"/>
                    </a:cubicBezTo>
                  </a:path>
                </a:pathLst>
              </a:custGeom>
              <a:noFill/>
              <a:ln w="20637">
                <a:solidFill>
                  <a:srgbClr val="A8351D"/>
                </a:solidFill>
              </a:ln>
            </p:spPr>
          </p:sp>
          <p:sp>
            <p:nvSpPr>
              <p:cNvPr id="118" name="Freeform 118"/>
              <p:cNvSpPr/>
              <p:nvPr/>
            </p:nvSpPr>
            <p:spPr>
              <a:xfrm>
                <a:off x="657317" y="3719512"/>
                <a:ext cx="115398" cy="67072"/>
              </a:xfrm>
              <a:custGeom>
                <a:avLst/>
                <a:gdLst/>
                <a:ahLst/>
                <a:cxnLst/>
                <a:rect l="l" t="t" r="r" b="b"/>
                <a:pathLst>
                  <a:path w="115398" h="67072">
                    <a:moveTo>
                      <a:pt x="38008" y="0"/>
                    </a:moveTo>
                    <a:lnTo>
                      <a:pt x="4028" y="33980"/>
                    </a:lnTo>
                    <a:cubicBezTo>
                      <a:pt x="0" y="38009"/>
                      <a:pt x="0" y="44541"/>
                      <a:pt x="4028" y="48570"/>
                    </a:cubicBezTo>
                    <a:lnTo>
                      <a:pt x="9631" y="54173"/>
                    </a:lnTo>
                    <a:cubicBezTo>
                      <a:pt x="16751" y="61293"/>
                      <a:pt x="28308" y="61293"/>
                      <a:pt x="35428" y="54173"/>
                    </a:cubicBezTo>
                    <a:lnTo>
                      <a:pt x="45747" y="43855"/>
                    </a:lnTo>
                    <a:cubicBezTo>
                      <a:pt x="58569" y="31032"/>
                      <a:pt x="79359" y="31032"/>
                      <a:pt x="92181" y="43855"/>
                    </a:cubicBezTo>
                    <a:lnTo>
                      <a:pt x="115398" y="67072"/>
                    </a:lnTo>
                  </a:path>
                </a:pathLst>
              </a:custGeom>
              <a:noFill/>
              <a:ln w="20637">
                <a:solidFill>
                  <a:srgbClr val="A8351D"/>
                </a:solidFill>
              </a:ln>
            </p:spPr>
          </p:sp>
          <p:sp>
            <p:nvSpPr>
              <p:cNvPr id="119" name="Freeform 119"/>
              <p:cNvSpPr/>
              <p:nvPr/>
            </p:nvSpPr>
            <p:spPr>
              <a:xfrm>
                <a:off x="700484" y="3817540"/>
                <a:ext cx="20637" cy="20637"/>
              </a:xfrm>
              <a:custGeom>
                <a:avLst/>
                <a:gdLst/>
                <a:ahLst/>
                <a:cxnLst/>
                <a:rect l="l" t="t" r="r" b="b"/>
                <a:pathLst>
                  <a:path w="20637" h="20637">
                    <a:moveTo>
                      <a:pt x="0" y="0"/>
                    </a:moveTo>
                    <a:lnTo>
                      <a:pt x="20637" y="20637"/>
                    </a:lnTo>
                  </a:path>
                </a:pathLst>
              </a:custGeom>
              <a:noFill/>
              <a:ln w="20637">
                <a:solidFill>
                  <a:srgbClr val="A8351D"/>
                </a:solidFill>
              </a:ln>
            </p:spPr>
          </p:sp>
          <p:sp>
            <p:nvSpPr>
              <p:cNvPr id="120" name="Freeform 120"/>
              <p:cNvSpPr/>
              <p:nvPr/>
            </p:nvSpPr>
            <p:spPr>
              <a:xfrm>
                <a:off x="726281" y="3791743"/>
                <a:ext cx="20637" cy="20637"/>
              </a:xfrm>
              <a:custGeom>
                <a:avLst/>
                <a:gdLst/>
                <a:ahLst/>
                <a:cxnLst/>
                <a:rect l="l" t="t" r="r" b="b"/>
                <a:pathLst>
                  <a:path w="20637" h="20637">
                    <a:moveTo>
                      <a:pt x="0" y="0"/>
                    </a:moveTo>
                    <a:lnTo>
                      <a:pt x="20637" y="20637"/>
                    </a:lnTo>
                  </a:path>
                </a:pathLst>
              </a:custGeom>
              <a:noFill/>
              <a:ln w="20637">
                <a:solidFill>
                  <a:srgbClr val="A8351D"/>
                </a:solidFill>
              </a:ln>
            </p:spPr>
          </p:sp>
        </p:grpSp>
        <p:sp>
          <p:nvSpPr>
            <p:cNvPr id="122" name="TextBox 122"/>
            <p:cNvSpPr txBox="1"/>
            <p:nvPr/>
          </p:nvSpPr>
          <p:spPr>
            <a:xfrm>
              <a:off x="909638" y="3636645"/>
              <a:ext cx="494157"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直接贡献</a:t>
              </a:r>
            </a:p>
          </p:txBody>
        </p:sp>
        <p:sp>
          <p:nvSpPr>
            <p:cNvPr id="123" name="TextBox 123"/>
            <p:cNvSpPr txBox="1"/>
            <p:nvPr/>
          </p:nvSpPr>
          <p:spPr>
            <a:xfrm>
              <a:off x="909638" y="3832384"/>
              <a:ext cx="833399" cy="133350"/>
            </a:xfrm>
            <a:prstGeom prst="rect">
              <a:avLst/>
            </a:prstGeom>
            <a:noFill/>
            <a:ln>
              <a:noFill/>
            </a:ln>
          </p:spPr>
          <p:txBody>
            <a:bodyPr wrap="none" lIns="0" tIns="0" rIns="0" bIns="0" anchor="t" anchorCtr="0">
              <a:spAutoFit/>
            </a:bodyPr>
            <a:lstStyle/>
            <a:p>
              <a:pPr algn="l"/>
              <a:r>
                <a:rPr lang="zh-CN" sz="680" dirty="0">
                  <a:solidFill>
                    <a:srgbClr val="785F5A"/>
                  </a:solidFill>
                  <a:latin typeface="+mn-lt"/>
                  <a:ea typeface="+mn-ea"/>
                  <a:cs typeface="+mn-cs"/>
                </a:rPr>
                <a:t>产品落地与收入实现</a:t>
              </a:r>
            </a:p>
          </p:txBody>
        </p:sp>
        <p:sp>
          <p:nvSpPr>
            <p:cNvPr id="124" name="Rectangle 124"/>
            <p:cNvSpPr/>
            <p:nvPr/>
          </p:nvSpPr>
          <p:spPr>
            <a:xfrm>
              <a:off x="1981200" y="3429000"/>
              <a:ext cx="1409700" cy="723900"/>
            </a:xfrm>
            <a:prstGeom prst="roundRect">
              <a:avLst>
                <a:gd name="adj" fmla="val 7895"/>
              </a:avLst>
            </a:prstGeom>
            <a:solidFill>
              <a:srgbClr val="FFFFFF"/>
            </a:solidFill>
            <a:ln w="9525">
              <a:solidFill>
                <a:srgbClr val="C9D8EF"/>
              </a:solidFill>
            </a:ln>
          </p:spPr>
        </p:sp>
        <p:grpSp>
          <p:nvGrpSpPr>
            <p:cNvPr id="131" name="Group 131"/>
            <p:cNvGrpSpPr/>
            <p:nvPr/>
          </p:nvGrpSpPr>
          <p:grpSpPr>
            <a:xfrm>
              <a:off x="2117725" y="3698875"/>
              <a:ext cx="165099" cy="165099"/>
              <a:chOff x="2117725" y="3698875"/>
              <a:chExt cx="165099" cy="165099"/>
            </a:xfrm>
          </p:grpSpPr>
          <p:sp>
            <p:nvSpPr>
              <p:cNvPr id="125" name="Freeform 125"/>
              <p:cNvSpPr/>
              <p:nvPr/>
            </p:nvSpPr>
            <p:spPr>
              <a:xfrm>
                <a:off x="2137650" y="3729171"/>
                <a:ext cx="114878" cy="114878"/>
              </a:xfrm>
              <a:custGeom>
                <a:avLst/>
                <a:gdLst/>
                <a:ahLst/>
                <a:cxnLst/>
                <a:rect l="l" t="t" r="r" b="b"/>
                <a:pathLst>
                  <a:path w="114878" h="114878">
                    <a:moveTo>
                      <a:pt x="0" y="0"/>
                    </a:moveTo>
                    <a:lnTo>
                      <a:pt x="13156" y="43844"/>
                    </a:lnTo>
                    <a:moveTo>
                      <a:pt x="71013" y="101722"/>
                    </a:moveTo>
                    <a:lnTo>
                      <a:pt x="114878" y="114878"/>
                    </a:lnTo>
                  </a:path>
                </a:pathLst>
              </a:custGeom>
              <a:noFill/>
              <a:ln w="20637">
                <a:solidFill>
                  <a:srgbClr val="A8351D"/>
                </a:solidFill>
              </a:ln>
            </p:spPr>
          </p:sp>
          <p:sp>
            <p:nvSpPr>
              <p:cNvPr id="126" name="Freeform 126"/>
              <p:cNvSpPr/>
              <p:nvPr/>
            </p:nvSpPr>
            <p:spPr>
              <a:xfrm>
                <a:off x="2197004" y="3725270"/>
                <a:ext cx="59425" cy="59425"/>
              </a:xfrm>
              <a:custGeom>
                <a:avLst/>
                <a:gdLst/>
                <a:ahLst/>
                <a:cxnLst/>
                <a:rect l="l" t="t" r="r" b="b"/>
                <a:pathLst>
                  <a:path w="59425" h="59425">
                    <a:moveTo>
                      <a:pt x="0" y="59425"/>
                    </a:moveTo>
                    <a:lnTo>
                      <a:pt x="59425" y="0"/>
                    </a:lnTo>
                  </a:path>
                </a:pathLst>
              </a:custGeom>
              <a:noFill/>
              <a:ln w="20637">
                <a:solidFill>
                  <a:srgbClr val="A8351D"/>
                </a:solidFill>
              </a:ln>
            </p:spPr>
          </p:sp>
          <p:sp>
            <p:nvSpPr>
              <p:cNvPr id="127" name="Freeform 127"/>
              <p:cNvSpPr/>
              <p:nvPr/>
            </p:nvSpPr>
            <p:spPr>
              <a:xfrm>
                <a:off x="2117725" y="3698875"/>
                <a:ext cx="30956" cy="30956"/>
              </a:xfrm>
              <a:custGeom>
                <a:avLst/>
                <a:gdLst/>
                <a:ahLst/>
                <a:cxnLst/>
                <a:rect l="l" t="t" r="r" b="b"/>
                <a:pathLst>
                  <a:path w="30956" h="30956">
                    <a:moveTo>
                      <a:pt x="0" y="15478"/>
                    </a:moveTo>
                    <a:cubicBezTo>
                      <a:pt x="0" y="24026"/>
                      <a:pt x="6930" y="30956"/>
                      <a:pt x="15478" y="30956"/>
                    </a:cubicBezTo>
                    <a:cubicBezTo>
                      <a:pt x="24026" y="30956"/>
                      <a:pt x="30956" y="24026"/>
                      <a:pt x="30956" y="15478"/>
                    </a:cubicBezTo>
                    <a:cubicBezTo>
                      <a:pt x="30956" y="6930"/>
                      <a:pt x="24026" y="0"/>
                      <a:pt x="15478" y="0"/>
                    </a:cubicBezTo>
                    <a:cubicBezTo>
                      <a:pt x="6930" y="0"/>
                      <a:pt x="0" y="6930"/>
                      <a:pt x="0" y="15478"/>
                    </a:cubicBezTo>
                  </a:path>
                </a:pathLst>
              </a:custGeom>
              <a:noFill/>
              <a:ln w="20637">
                <a:solidFill>
                  <a:srgbClr val="A8351D"/>
                </a:solidFill>
              </a:ln>
            </p:spPr>
          </p:sp>
          <p:sp>
            <p:nvSpPr>
              <p:cNvPr id="128" name="Freeform 128"/>
              <p:cNvSpPr/>
              <p:nvPr/>
            </p:nvSpPr>
            <p:spPr>
              <a:xfrm>
                <a:off x="2251868" y="3698875"/>
                <a:ext cx="30956" cy="30956"/>
              </a:xfrm>
              <a:custGeom>
                <a:avLst/>
                <a:gdLst/>
                <a:ahLst/>
                <a:cxnLst/>
                <a:rect l="l" t="t" r="r" b="b"/>
                <a:pathLst>
                  <a:path w="30956" h="30956">
                    <a:moveTo>
                      <a:pt x="0" y="15478"/>
                    </a:moveTo>
                    <a:cubicBezTo>
                      <a:pt x="0" y="24026"/>
                      <a:pt x="6930" y="30956"/>
                      <a:pt x="15478" y="30956"/>
                    </a:cubicBezTo>
                    <a:cubicBezTo>
                      <a:pt x="24026" y="30956"/>
                      <a:pt x="30956" y="24026"/>
                      <a:pt x="30956" y="15478"/>
                    </a:cubicBezTo>
                    <a:cubicBezTo>
                      <a:pt x="30956" y="6930"/>
                      <a:pt x="24026" y="0"/>
                      <a:pt x="15478" y="0"/>
                    </a:cubicBezTo>
                    <a:cubicBezTo>
                      <a:pt x="6930" y="0"/>
                      <a:pt x="0" y="6930"/>
                      <a:pt x="0" y="15478"/>
                    </a:cubicBezTo>
                  </a:path>
                </a:pathLst>
              </a:custGeom>
              <a:noFill/>
              <a:ln w="20637">
                <a:solidFill>
                  <a:srgbClr val="A8351D"/>
                </a:solidFill>
              </a:ln>
            </p:spPr>
          </p:sp>
          <p:sp>
            <p:nvSpPr>
              <p:cNvPr id="129" name="Freeform 129"/>
              <p:cNvSpPr/>
              <p:nvPr/>
            </p:nvSpPr>
            <p:spPr>
              <a:xfrm>
                <a:off x="2251868" y="3833018"/>
                <a:ext cx="30956" cy="30956"/>
              </a:xfrm>
              <a:custGeom>
                <a:avLst/>
                <a:gdLst/>
                <a:ahLst/>
                <a:cxnLst/>
                <a:rect l="l" t="t" r="r" b="b"/>
                <a:pathLst>
                  <a:path w="30956" h="30956">
                    <a:moveTo>
                      <a:pt x="0" y="15478"/>
                    </a:moveTo>
                    <a:cubicBezTo>
                      <a:pt x="0" y="24026"/>
                      <a:pt x="6930" y="30956"/>
                      <a:pt x="15478" y="30956"/>
                    </a:cubicBezTo>
                    <a:cubicBezTo>
                      <a:pt x="24026" y="30956"/>
                      <a:pt x="30956" y="24026"/>
                      <a:pt x="30956" y="15478"/>
                    </a:cubicBezTo>
                    <a:cubicBezTo>
                      <a:pt x="30956" y="6930"/>
                      <a:pt x="24026" y="0"/>
                      <a:pt x="15478" y="0"/>
                    </a:cubicBezTo>
                    <a:cubicBezTo>
                      <a:pt x="6930" y="0"/>
                      <a:pt x="0" y="6930"/>
                      <a:pt x="0" y="15478"/>
                    </a:cubicBezTo>
                  </a:path>
                </a:pathLst>
              </a:custGeom>
              <a:noFill/>
              <a:ln w="20637">
                <a:solidFill>
                  <a:srgbClr val="A8351D"/>
                </a:solidFill>
              </a:ln>
            </p:spPr>
          </p:sp>
          <p:sp>
            <p:nvSpPr>
              <p:cNvPr id="130" name="Freeform 130"/>
              <p:cNvSpPr/>
              <p:nvPr/>
            </p:nvSpPr>
            <p:spPr>
              <a:xfrm>
                <a:off x="2117725" y="3771106"/>
                <a:ext cx="92868" cy="92868"/>
              </a:xfrm>
              <a:custGeom>
                <a:avLst/>
                <a:gdLst/>
                <a:ahLst/>
                <a:cxnLst/>
                <a:rect l="l" t="t" r="r" b="b"/>
                <a:pathLst>
                  <a:path w="92868" h="92868">
                    <a:moveTo>
                      <a:pt x="0" y="46434"/>
                    </a:moveTo>
                    <a:cubicBezTo>
                      <a:pt x="0" y="72079"/>
                      <a:pt x="20789" y="92868"/>
                      <a:pt x="46434" y="92868"/>
                    </a:cubicBezTo>
                    <a:cubicBezTo>
                      <a:pt x="72079" y="92868"/>
                      <a:pt x="92868" y="72079"/>
                      <a:pt x="92868" y="46434"/>
                    </a:cubicBezTo>
                    <a:cubicBezTo>
                      <a:pt x="92868" y="20789"/>
                      <a:pt x="72079" y="0"/>
                      <a:pt x="46434" y="0"/>
                    </a:cubicBezTo>
                    <a:cubicBezTo>
                      <a:pt x="20789" y="0"/>
                      <a:pt x="0" y="20789"/>
                      <a:pt x="0" y="46434"/>
                    </a:cubicBezTo>
                  </a:path>
                </a:pathLst>
              </a:custGeom>
              <a:noFill/>
              <a:ln w="20637">
                <a:solidFill>
                  <a:srgbClr val="A8351D"/>
                </a:solidFill>
              </a:ln>
            </p:spPr>
          </p:sp>
        </p:grpSp>
        <p:sp>
          <p:nvSpPr>
            <p:cNvPr id="132" name="TextBox 132"/>
            <p:cNvSpPr txBox="1"/>
            <p:nvPr/>
          </p:nvSpPr>
          <p:spPr>
            <a:xfrm>
              <a:off x="2414588" y="3636645"/>
              <a:ext cx="494157"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协同贡献</a:t>
              </a:r>
            </a:p>
          </p:txBody>
        </p:sp>
        <p:sp>
          <p:nvSpPr>
            <p:cNvPr id="133" name="TextBox 133"/>
            <p:cNvSpPr txBox="1"/>
            <p:nvPr/>
          </p:nvSpPr>
          <p:spPr>
            <a:xfrm>
              <a:off x="2414588" y="3832384"/>
              <a:ext cx="833399" cy="133350"/>
            </a:xfrm>
            <a:prstGeom prst="rect">
              <a:avLst/>
            </a:prstGeom>
            <a:noFill/>
            <a:ln>
              <a:noFill/>
            </a:ln>
          </p:spPr>
          <p:txBody>
            <a:bodyPr wrap="none" lIns="0" tIns="0" rIns="0" bIns="0" anchor="t" anchorCtr="0">
              <a:spAutoFit/>
            </a:bodyPr>
            <a:lstStyle/>
            <a:p>
              <a:pPr algn="l"/>
              <a:r>
                <a:rPr lang="zh-CN" sz="680" dirty="0">
                  <a:solidFill>
                    <a:srgbClr val="785F5A"/>
                  </a:solidFill>
                  <a:latin typeface="+mn-lt"/>
                  <a:ea typeface="+mn-ea"/>
                  <a:cs typeface="+mn-cs"/>
                </a:rPr>
                <a:t>线索转介与资源协调</a:t>
              </a:r>
            </a:p>
          </p:txBody>
        </p:sp>
        <p:sp>
          <p:nvSpPr>
            <p:cNvPr id="134" name="Rectangle 134"/>
            <p:cNvSpPr/>
            <p:nvPr/>
          </p:nvSpPr>
          <p:spPr>
            <a:xfrm>
              <a:off x="3486150" y="3429000"/>
              <a:ext cx="1409700" cy="723900"/>
            </a:xfrm>
            <a:prstGeom prst="roundRect">
              <a:avLst>
                <a:gd name="adj" fmla="val 7895"/>
              </a:avLst>
            </a:prstGeom>
            <a:solidFill>
              <a:srgbClr val="FFFFFF"/>
            </a:solidFill>
            <a:ln w="9525">
              <a:solidFill>
                <a:srgbClr val="C9D8EF"/>
              </a:solidFill>
            </a:ln>
          </p:spPr>
        </p:sp>
        <p:grpSp>
          <p:nvGrpSpPr>
            <p:cNvPr id="137" name="Group 137"/>
            <p:cNvGrpSpPr/>
            <p:nvPr/>
          </p:nvGrpSpPr>
          <p:grpSpPr>
            <a:xfrm>
              <a:off x="3598431" y="3688556"/>
              <a:ext cx="201506" cy="185737"/>
              <a:chOff x="3598431" y="3688556"/>
              <a:chExt cx="201506" cy="185737"/>
            </a:xfrm>
          </p:grpSpPr>
          <p:sp>
            <p:nvSpPr>
              <p:cNvPr id="135" name="Freeform 135"/>
              <p:cNvSpPr/>
              <p:nvPr/>
            </p:nvSpPr>
            <p:spPr>
              <a:xfrm>
                <a:off x="3598431" y="368855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A8351D"/>
                </a:solidFill>
              </a:ln>
            </p:spPr>
          </p:sp>
          <p:sp>
            <p:nvSpPr>
              <p:cNvPr id="136" name="Freeform 136"/>
              <p:cNvSpPr/>
              <p:nvPr/>
            </p:nvSpPr>
            <p:spPr>
              <a:xfrm>
                <a:off x="3736181" y="3833018"/>
                <a:ext cx="61912" cy="41275"/>
              </a:xfrm>
              <a:custGeom>
                <a:avLst/>
                <a:gdLst/>
                <a:ahLst/>
                <a:cxnLst/>
                <a:rect l="l" t="t" r="r" b="b"/>
                <a:pathLst>
                  <a:path w="61912" h="41275">
                    <a:moveTo>
                      <a:pt x="0" y="20637"/>
                    </a:moveTo>
                    <a:lnTo>
                      <a:pt x="20637" y="41275"/>
                    </a:lnTo>
                    <a:lnTo>
                      <a:pt x="61912" y="0"/>
                    </a:lnTo>
                  </a:path>
                </a:pathLst>
              </a:custGeom>
              <a:noFill/>
              <a:ln w="20637">
                <a:solidFill>
                  <a:srgbClr val="A8351D"/>
                </a:solidFill>
              </a:ln>
            </p:spPr>
          </p:sp>
        </p:grpSp>
        <p:sp>
          <p:nvSpPr>
            <p:cNvPr id="138" name="TextBox 138"/>
            <p:cNvSpPr txBox="1"/>
            <p:nvPr/>
          </p:nvSpPr>
          <p:spPr>
            <a:xfrm>
              <a:off x="3919538" y="3636645"/>
              <a:ext cx="494157" cy="176212"/>
            </a:xfrm>
            <a:prstGeom prst="rect">
              <a:avLst/>
            </a:prstGeom>
            <a:noFill/>
            <a:ln>
              <a:noFill/>
            </a:ln>
          </p:spPr>
          <p:txBody>
            <a:bodyPr wrap="none" lIns="0" tIns="0" rIns="0" bIns="0" anchor="t" anchorCtr="0">
              <a:spAutoFit/>
            </a:bodyPr>
            <a:lstStyle/>
            <a:p>
              <a:pPr algn="l"/>
              <a:r>
                <a:rPr lang="zh-CN" sz="900" b="1" dirty="0">
                  <a:solidFill>
                    <a:srgbClr val="67281B"/>
                  </a:solidFill>
                  <a:latin typeface="+mn-lt"/>
                  <a:ea typeface="+mn-ea"/>
                  <a:cs typeface="+mn-cs"/>
                </a:rPr>
                <a:t>维护贡献</a:t>
              </a:r>
            </a:p>
          </p:txBody>
        </p:sp>
        <p:sp>
          <p:nvSpPr>
            <p:cNvPr id="139" name="TextBox 139"/>
            <p:cNvSpPr txBox="1"/>
            <p:nvPr/>
          </p:nvSpPr>
          <p:spPr>
            <a:xfrm>
              <a:off x="3919538" y="3832384"/>
              <a:ext cx="741858" cy="133350"/>
            </a:xfrm>
            <a:prstGeom prst="rect">
              <a:avLst/>
            </a:prstGeom>
            <a:noFill/>
            <a:ln>
              <a:noFill/>
            </a:ln>
          </p:spPr>
          <p:txBody>
            <a:bodyPr wrap="none" lIns="0" tIns="0" rIns="0" bIns="0" anchor="t" anchorCtr="0">
              <a:spAutoFit/>
            </a:bodyPr>
            <a:lstStyle/>
            <a:p>
              <a:pPr algn="l"/>
              <a:r>
                <a:rPr lang="zh-CN" sz="680" dirty="0">
                  <a:solidFill>
                    <a:srgbClr val="785F5A"/>
                  </a:solidFill>
                  <a:latin typeface="+mn-lt"/>
                  <a:ea typeface="+mn-ea"/>
                  <a:cs typeface="+mn-cs"/>
                </a:rPr>
                <a:t>关系维护与持续性</a:t>
              </a:r>
            </a:p>
          </p:txBody>
        </p:sp>
      </p:grpSp>
      <p:grpSp>
        <p:nvGrpSpPr>
          <p:cNvPr id="173" name="score-split"/>
          <p:cNvGrpSpPr/>
          <p:nvPr/>
        </p:nvGrpSpPr>
        <p:grpSpPr>
          <a:xfrm>
            <a:off x="5124450" y="3048000"/>
            <a:ext cx="6686550" cy="1219200"/>
            <a:chOff x="5124450" y="3048000"/>
            <a:chExt cx="6686550" cy="1219200"/>
          </a:xfrm>
        </p:grpSpPr>
        <p:sp>
          <p:nvSpPr>
            <p:cNvPr id="141" name="Line 141"/>
            <p:cNvSpPr/>
            <p:nvPr/>
          </p:nvSpPr>
          <p:spPr>
            <a:xfrm>
              <a:off x="5124450" y="3733800"/>
              <a:ext cx="171450" cy="1"/>
            </a:xfrm>
            <a:prstGeom prst="line">
              <a:avLst/>
            </a:prstGeom>
            <a:noFill/>
            <a:ln w="23812">
              <a:solidFill>
                <a:srgbClr val="D64A2E"/>
              </a:solidFill>
              <a:tailEnd type="triangle" w="lg" len="lg"/>
            </a:ln>
          </p:spPr>
        </p:sp>
        <p:sp>
          <p:nvSpPr>
            <p:cNvPr id="142" name="Rectangle 142"/>
            <p:cNvSpPr/>
            <p:nvPr/>
          </p:nvSpPr>
          <p:spPr>
            <a:xfrm>
              <a:off x="5391150" y="3048000"/>
              <a:ext cx="6419850" cy="1219200"/>
            </a:xfrm>
            <a:prstGeom prst="roundRect">
              <a:avLst>
                <a:gd name="adj" fmla="val 7812"/>
              </a:avLst>
            </a:prstGeom>
            <a:solidFill>
              <a:srgbClr val="F9FBFE"/>
            </a:solidFill>
            <a:ln w="9525">
              <a:solidFill>
                <a:srgbClr val="C9D8EF"/>
              </a:solidFill>
            </a:ln>
          </p:spPr>
        </p:sp>
        <p:sp>
          <p:nvSpPr>
            <p:cNvPr id="143" name="Rectangle 143"/>
            <p:cNvSpPr/>
            <p:nvPr/>
          </p:nvSpPr>
          <p:spPr>
            <a:xfrm>
              <a:off x="7648575" y="3048000"/>
              <a:ext cx="1905000" cy="266700"/>
            </a:xfrm>
            <a:prstGeom prst="roundRect">
              <a:avLst>
                <a:gd name="adj" fmla="val 14286"/>
              </a:avLst>
            </a:prstGeom>
            <a:gradFill>
              <a:gsLst>
                <a:gs pos="0">
                  <a:srgbClr val="AD3921"/>
                </a:gs>
                <a:gs pos="100000">
                  <a:srgbClr val="962C16"/>
                </a:gs>
              </a:gsLst>
              <a:lin ang="5400000" scaled="1"/>
            </a:gradFill>
            <a:ln>
              <a:noFill/>
            </a:ln>
          </p:spPr>
        </p:sp>
        <p:sp>
          <p:nvSpPr>
            <p:cNvPr id="144" name="TextBox 144"/>
            <p:cNvSpPr txBox="1"/>
            <p:nvPr/>
          </p:nvSpPr>
          <p:spPr>
            <a:xfrm>
              <a:off x="8200339" y="31237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积分分配示例</a:t>
              </a:r>
            </a:p>
          </p:txBody>
        </p:sp>
        <p:sp>
          <p:nvSpPr>
            <p:cNvPr id="145" name="Rectangle 145"/>
            <p:cNvSpPr/>
            <p:nvPr/>
          </p:nvSpPr>
          <p:spPr>
            <a:xfrm>
              <a:off x="5486400" y="3429000"/>
              <a:ext cx="1247775" cy="533400"/>
            </a:xfrm>
            <a:prstGeom prst="roundRect">
              <a:avLst>
                <a:gd name="adj" fmla="val 10714"/>
              </a:avLst>
            </a:prstGeom>
            <a:solidFill>
              <a:srgbClr val="67281B"/>
            </a:solidFill>
            <a:ln>
              <a:noFill/>
            </a:ln>
          </p:spPr>
        </p:sp>
        <p:grpSp>
          <p:nvGrpSpPr>
            <p:cNvPr id="149" name="Group 149"/>
            <p:cNvGrpSpPr/>
            <p:nvPr/>
          </p:nvGrpSpPr>
          <p:grpSpPr>
            <a:xfrm>
              <a:off x="5616741" y="3619500"/>
              <a:ext cx="155409" cy="155409"/>
              <a:chOff x="5616741" y="3619500"/>
              <a:chExt cx="155409" cy="155409"/>
            </a:xfrm>
          </p:grpSpPr>
          <p:sp>
            <p:nvSpPr>
              <p:cNvPr id="146" name="Freeform 146"/>
              <p:cNvSpPr/>
              <p:nvPr/>
            </p:nvSpPr>
            <p:spPr>
              <a:xfrm>
                <a:off x="5619750" y="3619500"/>
                <a:ext cx="152400" cy="152400"/>
              </a:xfrm>
              <a:custGeom>
                <a:avLst/>
                <a:gdLst/>
                <a:ahLst/>
                <a:cxnLst/>
                <a:rect l="l" t="t" r="r" b="b"/>
                <a:pathLst>
                  <a:path w="152400" h="152400">
                    <a:moveTo>
                      <a:pt x="0" y="85725"/>
                    </a:moveTo>
                    <a:cubicBezTo>
                      <a:pt x="34959" y="89880"/>
                      <a:pt x="62520" y="117441"/>
                      <a:pt x="66675" y="152400"/>
                    </a:cubicBezTo>
                    <a:cubicBezTo>
                      <a:pt x="83792" y="142532"/>
                      <a:pt x="94598" y="124522"/>
                      <a:pt x="95250" y="104775"/>
                    </a:cubicBezTo>
                    <a:cubicBezTo>
                      <a:pt x="127957" y="93269"/>
                      <a:pt x="150512" y="63195"/>
                      <a:pt x="152400" y="28575"/>
                    </a:cubicBezTo>
                    <a:cubicBezTo>
                      <a:pt x="152400" y="12793"/>
                      <a:pt x="139607" y="0"/>
                      <a:pt x="123825" y="0"/>
                    </a:cubicBezTo>
                    <a:cubicBezTo>
                      <a:pt x="89205" y="1888"/>
                      <a:pt x="59131" y="24443"/>
                      <a:pt x="47625" y="57150"/>
                    </a:cubicBezTo>
                    <a:cubicBezTo>
                      <a:pt x="27878" y="57802"/>
                      <a:pt x="9868" y="68608"/>
                      <a:pt x="0" y="85725"/>
                    </a:cubicBezTo>
                  </a:path>
                </a:pathLst>
              </a:custGeom>
              <a:noFill/>
              <a:ln w="19050">
                <a:solidFill>
                  <a:srgbClr val="FFFFFF"/>
                </a:solidFill>
              </a:ln>
            </p:spPr>
          </p:sp>
          <p:sp>
            <p:nvSpPr>
              <p:cNvPr id="147" name="Freeform 147"/>
              <p:cNvSpPr/>
              <p:nvPr/>
            </p:nvSpPr>
            <p:spPr>
              <a:xfrm>
                <a:off x="5616741" y="3714750"/>
                <a:ext cx="60159" cy="60159"/>
              </a:xfrm>
              <a:custGeom>
                <a:avLst/>
                <a:gdLst/>
                <a:ahLst/>
                <a:cxnLst/>
                <a:rect l="l" t="t" r="r" b="b"/>
                <a:pathLst>
                  <a:path w="60159" h="60159">
                    <a:moveTo>
                      <a:pt x="31584" y="0"/>
                    </a:moveTo>
                    <a:cubicBezTo>
                      <a:pt x="11304" y="11449"/>
                      <a:pt x="0" y="34057"/>
                      <a:pt x="3009" y="57150"/>
                    </a:cubicBezTo>
                    <a:cubicBezTo>
                      <a:pt x="26101" y="60159"/>
                      <a:pt x="48710" y="48854"/>
                      <a:pt x="60159" y="28575"/>
                    </a:cubicBezTo>
                  </a:path>
                </a:pathLst>
              </a:custGeom>
              <a:noFill/>
              <a:ln w="19050">
                <a:solidFill>
                  <a:srgbClr val="FFFFFF"/>
                </a:solidFill>
              </a:ln>
            </p:spPr>
          </p:sp>
          <p:sp>
            <p:nvSpPr>
              <p:cNvPr id="148" name="Freeform 148"/>
              <p:cNvSpPr/>
              <p:nvPr/>
            </p:nvSpPr>
            <p:spPr>
              <a:xfrm>
                <a:off x="5715000" y="36576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grpSp>
        <p:sp>
          <p:nvSpPr>
            <p:cNvPr id="150" name="TextBox 150"/>
            <p:cNvSpPr txBox="1"/>
            <p:nvPr/>
          </p:nvSpPr>
          <p:spPr>
            <a:xfrm>
              <a:off x="5881688" y="3553539"/>
              <a:ext cx="328574" cy="154781"/>
            </a:xfrm>
            <a:prstGeom prst="rect">
              <a:avLst/>
            </a:prstGeom>
            <a:noFill/>
            <a:ln>
              <a:noFill/>
            </a:ln>
          </p:spPr>
          <p:txBody>
            <a:bodyPr wrap="none" lIns="0" tIns="0" rIns="0" bIns="0" anchor="t" anchorCtr="0">
              <a:spAutoFit/>
            </a:bodyPr>
            <a:lstStyle/>
            <a:p>
              <a:pPr algn="l"/>
              <a:r>
                <a:rPr lang="zh-CN" sz="790" dirty="0">
                  <a:solidFill>
                    <a:srgbClr val="E8EEF9"/>
                  </a:solidFill>
                  <a:latin typeface="+mn-lt"/>
                  <a:ea typeface="+mn-ea"/>
                  <a:cs typeface="+mn-cs"/>
                </a:rPr>
                <a:t>发起人</a:t>
              </a:r>
            </a:p>
          </p:txBody>
        </p:sp>
        <p:sp>
          <p:nvSpPr>
            <p:cNvPr id="151" name="TextBox 151"/>
            <p:cNvSpPr txBox="1"/>
            <p:nvPr/>
          </p:nvSpPr>
          <p:spPr>
            <a:xfrm>
              <a:off x="5880354" y="3718560"/>
              <a:ext cx="512575"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20%​​</a:t>
              </a:r>
            </a:p>
          </p:txBody>
        </p:sp>
        <p:sp>
          <p:nvSpPr>
            <p:cNvPr id="152" name="Rectangle 152"/>
            <p:cNvSpPr/>
            <p:nvPr/>
          </p:nvSpPr>
          <p:spPr>
            <a:xfrm>
              <a:off x="6734175" y="3429000"/>
              <a:ext cx="933450" cy="533400"/>
            </a:xfrm>
            <a:prstGeom prst="rect">
              <a:avLst/>
            </a:prstGeom>
            <a:solidFill>
              <a:srgbClr val="D64A2E"/>
            </a:solidFill>
            <a:ln>
              <a:noFill/>
            </a:ln>
          </p:spPr>
        </p:sp>
        <p:grpSp>
          <p:nvGrpSpPr>
            <p:cNvPr id="156" name="Group 156"/>
            <p:cNvGrpSpPr/>
            <p:nvPr/>
          </p:nvGrpSpPr>
          <p:grpSpPr>
            <a:xfrm>
              <a:off x="6858000" y="3609975"/>
              <a:ext cx="133350" cy="171450"/>
              <a:chOff x="6858000" y="3609975"/>
              <a:chExt cx="133350" cy="171450"/>
            </a:xfrm>
          </p:grpSpPr>
          <p:sp>
            <p:nvSpPr>
              <p:cNvPr id="153" name="Freeform 153"/>
              <p:cNvSpPr/>
              <p:nvPr/>
            </p:nvSpPr>
            <p:spPr>
              <a:xfrm>
                <a:off x="6858000" y="366712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FFFFFF"/>
                </a:solidFill>
              </a:ln>
            </p:spPr>
          </p:sp>
          <p:sp>
            <p:nvSpPr>
              <p:cNvPr id="154" name="Freeform 154"/>
              <p:cNvSpPr/>
              <p:nvPr/>
            </p:nvSpPr>
            <p:spPr>
              <a:xfrm>
                <a:off x="6924675" y="3609975"/>
                <a:ext cx="9525" cy="104775"/>
              </a:xfrm>
              <a:custGeom>
                <a:avLst/>
                <a:gdLst/>
                <a:ahLst/>
                <a:cxnLst/>
                <a:rect l="l" t="t" r="r" b="b"/>
                <a:pathLst>
                  <a:path w="9525" h="104775">
                    <a:moveTo>
                      <a:pt x="0" y="104775"/>
                    </a:moveTo>
                    <a:lnTo>
                      <a:pt x="0" y="0"/>
                    </a:lnTo>
                  </a:path>
                </a:pathLst>
              </a:custGeom>
              <a:noFill/>
              <a:ln w="19050">
                <a:solidFill>
                  <a:srgbClr val="FFFFFF"/>
                </a:solidFill>
              </a:ln>
            </p:spPr>
          </p:sp>
          <p:sp>
            <p:nvSpPr>
              <p:cNvPr id="155" name="Freeform 155"/>
              <p:cNvSpPr/>
              <p:nvPr/>
            </p:nvSpPr>
            <p:spPr>
              <a:xfrm>
                <a:off x="6896100" y="3609975"/>
                <a:ext cx="57150" cy="28575"/>
              </a:xfrm>
              <a:custGeom>
                <a:avLst/>
                <a:gdLst/>
                <a:ahLst/>
                <a:cxnLst/>
                <a:rect l="l" t="t" r="r" b="b"/>
                <a:pathLst>
                  <a:path w="57150" h="28575">
                    <a:moveTo>
                      <a:pt x="0" y="28575"/>
                    </a:moveTo>
                    <a:lnTo>
                      <a:pt x="28575" y="0"/>
                    </a:lnTo>
                    <a:lnTo>
                      <a:pt x="57150" y="28575"/>
                    </a:lnTo>
                  </a:path>
                </a:pathLst>
              </a:custGeom>
              <a:noFill/>
              <a:ln w="19050">
                <a:solidFill>
                  <a:srgbClr val="FFFFFF"/>
                </a:solidFill>
              </a:ln>
            </p:spPr>
          </p:sp>
        </p:grpSp>
        <p:sp>
          <p:nvSpPr>
            <p:cNvPr id="157" name="TextBox 157"/>
            <p:cNvSpPr txBox="1"/>
            <p:nvPr/>
          </p:nvSpPr>
          <p:spPr>
            <a:xfrm>
              <a:off x="7091362" y="3553539"/>
              <a:ext cx="328574" cy="154781"/>
            </a:xfrm>
            <a:prstGeom prst="rect">
              <a:avLst/>
            </a:prstGeom>
            <a:noFill/>
            <a:ln>
              <a:noFill/>
            </a:ln>
          </p:spPr>
          <p:txBody>
            <a:bodyPr wrap="none" lIns="0" tIns="0" rIns="0" bIns="0" anchor="t" anchorCtr="0">
              <a:spAutoFit/>
            </a:bodyPr>
            <a:lstStyle/>
            <a:p>
              <a:pPr algn="l"/>
              <a:r>
                <a:rPr lang="zh-CN" sz="790" dirty="0">
                  <a:solidFill>
                    <a:srgbClr val="E8EEF9"/>
                  </a:solidFill>
                  <a:latin typeface="+mn-lt"/>
                  <a:ea typeface="+mn-ea"/>
                  <a:cs typeface="+mn-cs"/>
                </a:rPr>
                <a:t>转介人</a:t>
              </a:r>
            </a:p>
          </p:txBody>
        </p:sp>
        <p:sp>
          <p:nvSpPr>
            <p:cNvPr id="158" name="TextBox 158"/>
            <p:cNvSpPr txBox="1"/>
            <p:nvPr/>
          </p:nvSpPr>
          <p:spPr>
            <a:xfrm>
              <a:off x="7090029" y="3718560"/>
              <a:ext cx="512575"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15%​​</a:t>
              </a:r>
            </a:p>
          </p:txBody>
        </p:sp>
        <p:sp>
          <p:nvSpPr>
            <p:cNvPr id="159" name="Rectangle 159"/>
            <p:cNvSpPr/>
            <p:nvPr/>
          </p:nvSpPr>
          <p:spPr>
            <a:xfrm>
              <a:off x="7667625" y="3429000"/>
              <a:ext cx="2809875" cy="533400"/>
            </a:xfrm>
            <a:prstGeom prst="rect">
              <a:avLst/>
            </a:prstGeom>
            <a:solidFill>
              <a:srgbClr val="A5280F"/>
            </a:solidFill>
            <a:ln>
              <a:noFill/>
            </a:ln>
          </p:spPr>
        </p:sp>
        <p:grpSp>
          <p:nvGrpSpPr>
            <p:cNvPr id="163" name="Group 163"/>
            <p:cNvGrpSpPr/>
            <p:nvPr/>
          </p:nvGrpSpPr>
          <p:grpSpPr>
            <a:xfrm>
              <a:off x="8629650" y="3609975"/>
              <a:ext cx="142875" cy="171450"/>
              <a:chOff x="8629650" y="3609975"/>
              <a:chExt cx="142875" cy="171450"/>
            </a:xfrm>
          </p:grpSpPr>
          <p:sp>
            <p:nvSpPr>
              <p:cNvPr id="160" name="Freeform 160"/>
              <p:cNvSpPr/>
              <p:nvPr/>
            </p:nvSpPr>
            <p:spPr>
              <a:xfrm>
                <a:off x="8648700" y="36099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61" name="Freeform 161"/>
              <p:cNvSpPr/>
              <p:nvPr/>
            </p:nvSpPr>
            <p:spPr>
              <a:xfrm>
                <a:off x="8629650" y="37242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FFFFFF"/>
                </a:solidFill>
              </a:ln>
            </p:spPr>
          </p:sp>
          <p:sp>
            <p:nvSpPr>
              <p:cNvPr id="162" name="Freeform 162"/>
              <p:cNvSpPr/>
              <p:nvPr/>
            </p:nvSpPr>
            <p:spPr>
              <a:xfrm>
                <a:off x="8715375" y="374332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164" name="TextBox 164"/>
            <p:cNvSpPr txBox="1"/>
            <p:nvPr/>
          </p:nvSpPr>
          <p:spPr>
            <a:xfrm>
              <a:off x="8872538" y="3553539"/>
              <a:ext cx="328574" cy="154781"/>
            </a:xfrm>
            <a:prstGeom prst="rect">
              <a:avLst/>
            </a:prstGeom>
            <a:noFill/>
            <a:ln>
              <a:noFill/>
            </a:ln>
          </p:spPr>
          <p:txBody>
            <a:bodyPr wrap="none" lIns="0" tIns="0" rIns="0" bIns="0" anchor="t" anchorCtr="0">
              <a:spAutoFit/>
            </a:bodyPr>
            <a:lstStyle/>
            <a:p>
              <a:pPr algn="l"/>
              <a:r>
                <a:rPr lang="zh-CN" sz="790" dirty="0">
                  <a:solidFill>
                    <a:srgbClr val="EAF7F7"/>
                  </a:solidFill>
                  <a:latin typeface="+mn-lt"/>
                  <a:ea typeface="+mn-ea"/>
                  <a:cs typeface="+mn-cs"/>
                </a:rPr>
                <a:t>承接人</a:t>
              </a:r>
            </a:p>
          </p:txBody>
        </p:sp>
        <p:sp>
          <p:nvSpPr>
            <p:cNvPr id="165" name="TextBox 165"/>
            <p:cNvSpPr txBox="1"/>
            <p:nvPr/>
          </p:nvSpPr>
          <p:spPr>
            <a:xfrm>
              <a:off x="8871204" y="3718560"/>
              <a:ext cx="512575"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45%​​</a:t>
              </a:r>
            </a:p>
          </p:txBody>
        </p:sp>
        <p:sp>
          <p:nvSpPr>
            <p:cNvPr id="166" name="Rectangle 166"/>
            <p:cNvSpPr/>
            <p:nvPr/>
          </p:nvSpPr>
          <p:spPr>
            <a:xfrm>
              <a:off x="10477500" y="3429000"/>
              <a:ext cx="1238250" cy="533400"/>
            </a:xfrm>
            <a:prstGeom prst="roundRect">
              <a:avLst>
                <a:gd name="adj" fmla="val 10714"/>
              </a:avLst>
            </a:prstGeom>
            <a:solidFill>
              <a:srgbClr val="C9462F"/>
            </a:solidFill>
            <a:ln>
              <a:noFill/>
            </a:ln>
          </p:spPr>
        </p:sp>
        <p:grpSp>
          <p:nvGrpSpPr>
            <p:cNvPr id="169" name="Group 169"/>
            <p:cNvGrpSpPr/>
            <p:nvPr/>
          </p:nvGrpSpPr>
          <p:grpSpPr>
            <a:xfrm>
              <a:off x="10610850" y="3615825"/>
              <a:ext cx="152400" cy="159750"/>
              <a:chOff x="10610850" y="3615825"/>
              <a:chExt cx="152400" cy="159750"/>
            </a:xfrm>
          </p:grpSpPr>
          <p:sp>
            <p:nvSpPr>
              <p:cNvPr id="167" name="Freeform 167"/>
              <p:cNvSpPr/>
              <p:nvPr/>
            </p:nvSpPr>
            <p:spPr>
              <a:xfrm>
                <a:off x="10610850" y="36158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FFFFFF"/>
                </a:solidFill>
              </a:ln>
            </p:spPr>
          </p:sp>
          <p:sp>
            <p:nvSpPr>
              <p:cNvPr id="168" name="Freeform 168"/>
              <p:cNvSpPr/>
              <p:nvPr/>
            </p:nvSpPr>
            <p:spPr>
              <a:xfrm>
                <a:off x="10610850" y="37052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FFFFFF"/>
                </a:solidFill>
              </a:ln>
            </p:spPr>
          </p:sp>
        </p:grpSp>
        <p:sp>
          <p:nvSpPr>
            <p:cNvPr id="170" name="TextBox 170"/>
            <p:cNvSpPr txBox="1"/>
            <p:nvPr/>
          </p:nvSpPr>
          <p:spPr>
            <a:xfrm>
              <a:off x="10872788" y="3553539"/>
              <a:ext cx="328574" cy="154781"/>
            </a:xfrm>
            <a:prstGeom prst="rect">
              <a:avLst/>
            </a:prstGeom>
            <a:noFill/>
            <a:ln>
              <a:noFill/>
            </a:ln>
          </p:spPr>
          <p:txBody>
            <a:bodyPr wrap="none" lIns="0" tIns="0" rIns="0" bIns="0" anchor="t" anchorCtr="0">
              <a:spAutoFit/>
            </a:bodyPr>
            <a:lstStyle/>
            <a:p>
              <a:pPr algn="l"/>
              <a:r>
                <a:rPr lang="zh-CN" sz="790" dirty="0">
                  <a:solidFill>
                    <a:srgbClr val="FDF6E7"/>
                  </a:solidFill>
                  <a:latin typeface="+mn-lt"/>
                  <a:ea typeface="+mn-ea"/>
                  <a:cs typeface="+mn-cs"/>
                </a:rPr>
                <a:t>维护人</a:t>
              </a:r>
            </a:p>
          </p:txBody>
        </p:sp>
        <p:sp>
          <p:nvSpPr>
            <p:cNvPr id="171" name="TextBox 171"/>
            <p:cNvSpPr txBox="1"/>
            <p:nvPr/>
          </p:nvSpPr>
          <p:spPr>
            <a:xfrm>
              <a:off x="10871454" y="3718560"/>
              <a:ext cx="512575"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20%​​</a:t>
              </a:r>
            </a:p>
          </p:txBody>
        </p:sp>
        <p:sp>
          <p:nvSpPr>
            <p:cNvPr id="172" name="TextBox 172"/>
            <p:cNvSpPr txBox="1"/>
            <p:nvPr/>
          </p:nvSpPr>
          <p:spPr>
            <a:xfrm>
              <a:off x="7687628" y="4071938"/>
              <a:ext cx="1826895" cy="147638"/>
            </a:xfrm>
            <a:prstGeom prst="rect">
              <a:avLst/>
            </a:prstGeom>
            <a:noFill/>
            <a:ln>
              <a:noFill/>
            </a:ln>
          </p:spPr>
          <p:txBody>
            <a:bodyPr wrap="none" lIns="0" tIns="0" rIns="0" bIns="0" anchor="t" anchorCtr="0">
              <a:spAutoFit/>
            </a:bodyPr>
            <a:lstStyle/>
            <a:p>
              <a:pPr algn="ctr"/>
              <a:r>
                <a:rPr lang="zh-CN" sz="750" dirty="0">
                  <a:solidFill>
                    <a:srgbClr val="785F5A"/>
                  </a:solidFill>
                  <a:latin typeface="+mn-lt"/>
                  <a:ea typeface="+mn-ea"/>
                  <a:cs typeface="+mn-cs"/>
                </a:rPr>
                <a:t>示例比例，实际由各行根据管理规则设定</a:t>
              </a:r>
            </a:p>
          </p:txBody>
        </p:sp>
      </p:grpSp>
      <p:grpSp>
        <p:nvGrpSpPr>
          <p:cNvPr id="215" name="score-account"/>
          <p:cNvGrpSpPr/>
          <p:nvPr/>
        </p:nvGrpSpPr>
        <p:grpSpPr>
          <a:xfrm>
            <a:off x="381000" y="4438650"/>
            <a:ext cx="4000500" cy="2247900"/>
            <a:chOff x="381000" y="4438650"/>
            <a:chExt cx="4000500" cy="2247900"/>
          </a:xfrm>
        </p:grpSpPr>
        <p:sp>
          <p:nvSpPr>
            <p:cNvPr id="174" name="Rectangle 174"/>
            <p:cNvSpPr/>
            <p:nvPr/>
          </p:nvSpPr>
          <p:spPr>
            <a:xfrm>
              <a:off x="381000" y="4438650"/>
              <a:ext cx="4000500" cy="2247900"/>
            </a:xfrm>
            <a:prstGeom prst="roundRect">
              <a:avLst>
                <a:gd name="adj" fmla="val 4237"/>
              </a:avLst>
            </a:prstGeom>
            <a:solidFill>
              <a:srgbClr val="F9FBFE"/>
            </a:solidFill>
            <a:ln w="9525">
              <a:solidFill>
                <a:srgbClr val="C9D8EF"/>
              </a:solidFill>
            </a:ln>
          </p:spPr>
        </p:sp>
        <p:sp>
          <p:nvSpPr>
            <p:cNvPr id="175" name="Rectangle 175"/>
            <p:cNvSpPr/>
            <p:nvPr/>
          </p:nvSpPr>
          <p:spPr>
            <a:xfrm>
              <a:off x="1428750" y="4438650"/>
              <a:ext cx="1905000" cy="266700"/>
            </a:xfrm>
            <a:prstGeom prst="roundRect">
              <a:avLst>
                <a:gd name="adj" fmla="val 14286"/>
              </a:avLst>
            </a:prstGeom>
            <a:gradFill>
              <a:gsLst>
                <a:gs pos="0">
                  <a:srgbClr val="AD3921"/>
                </a:gs>
                <a:gs pos="100000">
                  <a:srgbClr val="962C16"/>
                </a:gs>
              </a:gsLst>
              <a:lin ang="5400000" scaled="1"/>
            </a:gradFill>
            <a:ln>
              <a:noFill/>
            </a:ln>
          </p:spPr>
        </p:sp>
        <p:sp>
          <p:nvSpPr>
            <p:cNvPr id="176" name="TextBox 176"/>
            <p:cNvSpPr txBox="1"/>
            <p:nvPr/>
          </p:nvSpPr>
          <p:spPr>
            <a:xfrm>
              <a:off x="1980514" y="451437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协同积分账户</a:t>
              </a:r>
            </a:p>
          </p:txBody>
        </p:sp>
        <p:sp>
          <p:nvSpPr>
            <p:cNvPr id="177" name="Ellipse 177"/>
            <p:cNvSpPr/>
            <p:nvPr/>
          </p:nvSpPr>
          <p:spPr>
            <a:xfrm>
              <a:off x="533400" y="5181600"/>
              <a:ext cx="419100" cy="419100"/>
            </a:xfrm>
            <a:prstGeom prst="ellipse">
              <a:avLst/>
            </a:prstGeom>
            <a:solidFill>
              <a:srgbClr val="FFFFFF"/>
            </a:solidFill>
            <a:ln w="19050">
              <a:solidFill>
                <a:srgbClr val="A8351D"/>
              </a:solidFill>
            </a:ln>
          </p:spPr>
        </p:sp>
        <p:grpSp>
          <p:nvGrpSpPr>
            <p:cNvPr id="181" name="Group 181"/>
            <p:cNvGrpSpPr/>
            <p:nvPr/>
          </p:nvGrpSpPr>
          <p:grpSpPr>
            <a:xfrm>
              <a:off x="670342" y="5321300"/>
              <a:ext cx="142458" cy="142458"/>
              <a:chOff x="670342" y="5321300"/>
              <a:chExt cx="142458" cy="142458"/>
            </a:xfrm>
          </p:grpSpPr>
          <p:sp>
            <p:nvSpPr>
              <p:cNvPr id="178" name="Freeform 178"/>
              <p:cNvSpPr/>
              <p:nvPr/>
            </p:nvSpPr>
            <p:spPr>
              <a:xfrm>
                <a:off x="673100" y="5321300"/>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A8351D"/>
                </a:solidFill>
              </a:ln>
            </p:spPr>
          </p:sp>
          <p:sp>
            <p:nvSpPr>
              <p:cNvPr id="179" name="Freeform 179"/>
              <p:cNvSpPr/>
              <p:nvPr/>
            </p:nvSpPr>
            <p:spPr>
              <a:xfrm>
                <a:off x="670342" y="5408613"/>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A8351D"/>
                </a:solidFill>
              </a:ln>
            </p:spPr>
          </p:sp>
          <p:sp>
            <p:nvSpPr>
              <p:cNvPr id="180" name="Freeform 180"/>
              <p:cNvSpPr/>
              <p:nvPr/>
            </p:nvSpPr>
            <p:spPr>
              <a:xfrm>
                <a:off x="760413" y="5356225"/>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A8351D"/>
                </a:solidFill>
              </a:ln>
            </p:spPr>
          </p:sp>
        </p:grpSp>
        <p:sp>
          <p:nvSpPr>
            <p:cNvPr id="182" name="Line 182"/>
            <p:cNvSpPr/>
            <p:nvPr/>
          </p:nvSpPr>
          <p:spPr>
            <a:xfrm>
              <a:off x="990600" y="5391150"/>
              <a:ext cx="304800" cy="1"/>
            </a:xfrm>
            <a:prstGeom prst="line">
              <a:avLst/>
            </a:prstGeom>
            <a:noFill/>
            <a:ln w="19050">
              <a:solidFill>
                <a:srgbClr val="D64A2E"/>
              </a:solidFill>
              <a:tailEnd type="triangle" w="lg" len="lg"/>
            </a:ln>
          </p:spPr>
        </p:sp>
        <p:sp>
          <p:nvSpPr>
            <p:cNvPr id="183" name="Ellipse 183"/>
            <p:cNvSpPr/>
            <p:nvPr/>
          </p:nvSpPr>
          <p:spPr>
            <a:xfrm>
              <a:off x="1352550" y="5181600"/>
              <a:ext cx="419100" cy="419100"/>
            </a:xfrm>
            <a:prstGeom prst="ellipse">
              <a:avLst/>
            </a:prstGeom>
            <a:solidFill>
              <a:srgbClr val="FFFFFF"/>
            </a:solidFill>
            <a:ln w="19050">
              <a:solidFill>
                <a:srgbClr val="A8351D"/>
              </a:solidFill>
            </a:ln>
          </p:spPr>
        </p:sp>
        <p:grpSp>
          <p:nvGrpSpPr>
            <p:cNvPr id="187" name="Group 187"/>
            <p:cNvGrpSpPr/>
            <p:nvPr/>
          </p:nvGrpSpPr>
          <p:grpSpPr>
            <a:xfrm>
              <a:off x="1500981" y="5312569"/>
              <a:ext cx="122238" cy="157162"/>
              <a:chOff x="1500981" y="5312569"/>
              <a:chExt cx="122238" cy="157162"/>
            </a:xfrm>
          </p:grpSpPr>
          <p:sp>
            <p:nvSpPr>
              <p:cNvPr id="184" name="Freeform 184"/>
              <p:cNvSpPr/>
              <p:nvPr/>
            </p:nvSpPr>
            <p:spPr>
              <a:xfrm>
                <a:off x="1500981" y="5364956"/>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A8351D"/>
                </a:solidFill>
              </a:ln>
            </p:spPr>
          </p:sp>
          <p:sp>
            <p:nvSpPr>
              <p:cNvPr id="185" name="Freeform 185"/>
              <p:cNvSpPr/>
              <p:nvPr/>
            </p:nvSpPr>
            <p:spPr>
              <a:xfrm>
                <a:off x="1562100" y="5312569"/>
                <a:ext cx="9525" cy="96044"/>
              </a:xfrm>
              <a:custGeom>
                <a:avLst/>
                <a:gdLst/>
                <a:ahLst/>
                <a:cxnLst/>
                <a:rect l="l" t="t" r="r" b="b"/>
                <a:pathLst>
                  <a:path w="9525" h="96044">
                    <a:moveTo>
                      <a:pt x="0" y="96044"/>
                    </a:moveTo>
                    <a:lnTo>
                      <a:pt x="0" y="0"/>
                    </a:lnTo>
                  </a:path>
                </a:pathLst>
              </a:custGeom>
              <a:noFill/>
              <a:ln w="17463">
                <a:solidFill>
                  <a:srgbClr val="A8351D"/>
                </a:solidFill>
              </a:ln>
            </p:spPr>
          </p:sp>
          <p:sp>
            <p:nvSpPr>
              <p:cNvPr id="186" name="Freeform 186"/>
              <p:cNvSpPr/>
              <p:nvPr/>
            </p:nvSpPr>
            <p:spPr>
              <a:xfrm>
                <a:off x="1535906" y="5312569"/>
                <a:ext cx="52388" cy="26194"/>
              </a:xfrm>
              <a:custGeom>
                <a:avLst/>
                <a:gdLst/>
                <a:ahLst/>
                <a:cxnLst/>
                <a:rect l="l" t="t" r="r" b="b"/>
                <a:pathLst>
                  <a:path w="52388" h="26194">
                    <a:moveTo>
                      <a:pt x="0" y="26194"/>
                    </a:moveTo>
                    <a:lnTo>
                      <a:pt x="26194" y="0"/>
                    </a:lnTo>
                    <a:lnTo>
                      <a:pt x="52388" y="26194"/>
                    </a:lnTo>
                  </a:path>
                </a:pathLst>
              </a:custGeom>
              <a:noFill/>
              <a:ln w="17463">
                <a:solidFill>
                  <a:srgbClr val="A8351D"/>
                </a:solidFill>
              </a:ln>
            </p:spPr>
          </p:sp>
        </p:grpSp>
        <p:sp>
          <p:nvSpPr>
            <p:cNvPr id="188" name="Line 188"/>
            <p:cNvSpPr/>
            <p:nvPr/>
          </p:nvSpPr>
          <p:spPr>
            <a:xfrm>
              <a:off x="1809750" y="5391150"/>
              <a:ext cx="304800" cy="1"/>
            </a:xfrm>
            <a:prstGeom prst="line">
              <a:avLst/>
            </a:prstGeom>
            <a:noFill/>
            <a:ln w="19050">
              <a:solidFill>
                <a:srgbClr val="D64A2E"/>
              </a:solidFill>
              <a:tailEnd type="triangle" w="lg" len="lg"/>
            </a:ln>
          </p:spPr>
        </p:sp>
        <p:sp>
          <p:nvSpPr>
            <p:cNvPr id="189" name="Ellipse 189"/>
            <p:cNvSpPr/>
            <p:nvPr/>
          </p:nvSpPr>
          <p:spPr>
            <a:xfrm>
              <a:off x="2171700" y="5181600"/>
              <a:ext cx="419100" cy="419100"/>
            </a:xfrm>
            <a:prstGeom prst="ellipse">
              <a:avLst/>
            </a:prstGeom>
            <a:solidFill>
              <a:srgbClr val="FFFFFF"/>
            </a:solidFill>
            <a:ln w="19050">
              <a:solidFill>
                <a:srgbClr val="A8351D"/>
              </a:solidFill>
            </a:ln>
          </p:spPr>
        </p:sp>
        <p:grpSp>
          <p:nvGrpSpPr>
            <p:cNvPr id="193" name="Group 193"/>
            <p:cNvGrpSpPr/>
            <p:nvPr/>
          </p:nvGrpSpPr>
          <p:grpSpPr>
            <a:xfrm>
              <a:off x="2328863" y="5312569"/>
              <a:ext cx="130969" cy="157163"/>
              <a:chOff x="2328863" y="5312569"/>
              <a:chExt cx="130969" cy="157163"/>
            </a:xfrm>
          </p:grpSpPr>
          <p:sp>
            <p:nvSpPr>
              <p:cNvPr id="190" name="Freeform 190"/>
              <p:cNvSpPr/>
              <p:nvPr/>
            </p:nvSpPr>
            <p:spPr>
              <a:xfrm>
                <a:off x="2346325" y="53125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A8351D"/>
                </a:solidFill>
              </a:ln>
            </p:spPr>
          </p:sp>
          <p:sp>
            <p:nvSpPr>
              <p:cNvPr id="191" name="Freeform 191"/>
              <p:cNvSpPr/>
              <p:nvPr/>
            </p:nvSpPr>
            <p:spPr>
              <a:xfrm>
                <a:off x="2328863" y="5417344"/>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A8351D"/>
                </a:solidFill>
              </a:ln>
            </p:spPr>
          </p:sp>
          <p:sp>
            <p:nvSpPr>
              <p:cNvPr id="192" name="Freeform 192"/>
              <p:cNvSpPr/>
              <p:nvPr/>
            </p:nvSpPr>
            <p:spPr>
              <a:xfrm>
                <a:off x="2407444" y="5434806"/>
                <a:ext cx="52388" cy="34925"/>
              </a:xfrm>
              <a:custGeom>
                <a:avLst/>
                <a:gdLst/>
                <a:ahLst/>
                <a:cxnLst/>
                <a:rect l="l" t="t" r="r" b="b"/>
                <a:pathLst>
                  <a:path w="52388" h="34925">
                    <a:moveTo>
                      <a:pt x="0" y="17463"/>
                    </a:moveTo>
                    <a:lnTo>
                      <a:pt x="17463" y="34925"/>
                    </a:lnTo>
                    <a:lnTo>
                      <a:pt x="52388" y="0"/>
                    </a:lnTo>
                  </a:path>
                </a:pathLst>
              </a:custGeom>
              <a:noFill/>
              <a:ln w="17463">
                <a:solidFill>
                  <a:srgbClr val="A8351D"/>
                </a:solidFill>
              </a:ln>
            </p:spPr>
          </p:sp>
        </p:grpSp>
        <p:sp>
          <p:nvSpPr>
            <p:cNvPr id="194" name="Line 194"/>
            <p:cNvSpPr/>
            <p:nvPr/>
          </p:nvSpPr>
          <p:spPr>
            <a:xfrm>
              <a:off x="2628900" y="5391150"/>
              <a:ext cx="304800" cy="1"/>
            </a:xfrm>
            <a:prstGeom prst="line">
              <a:avLst/>
            </a:prstGeom>
            <a:noFill/>
            <a:ln w="19050">
              <a:solidFill>
                <a:srgbClr val="D64A2E"/>
              </a:solidFill>
              <a:tailEnd type="triangle" w="lg" len="lg"/>
            </a:ln>
          </p:spPr>
        </p:sp>
        <p:sp>
          <p:nvSpPr>
            <p:cNvPr id="195" name="Ellipse 195"/>
            <p:cNvSpPr/>
            <p:nvPr/>
          </p:nvSpPr>
          <p:spPr>
            <a:xfrm>
              <a:off x="2990850" y="5181600"/>
              <a:ext cx="419100" cy="419100"/>
            </a:xfrm>
            <a:prstGeom prst="ellipse">
              <a:avLst/>
            </a:prstGeom>
            <a:solidFill>
              <a:srgbClr val="FFFFFF"/>
            </a:solidFill>
            <a:ln w="19050">
              <a:solidFill>
                <a:srgbClr val="A8351D"/>
              </a:solidFill>
            </a:ln>
          </p:spPr>
        </p:sp>
        <p:grpSp>
          <p:nvGrpSpPr>
            <p:cNvPr id="198" name="Group 198"/>
            <p:cNvGrpSpPr/>
            <p:nvPr/>
          </p:nvGrpSpPr>
          <p:grpSpPr>
            <a:xfrm>
              <a:off x="3130550" y="5317931"/>
              <a:ext cx="139700" cy="146438"/>
              <a:chOff x="3130550" y="5317931"/>
              <a:chExt cx="139700" cy="146438"/>
            </a:xfrm>
          </p:grpSpPr>
          <p:sp>
            <p:nvSpPr>
              <p:cNvPr id="196" name="Freeform 196"/>
              <p:cNvSpPr/>
              <p:nvPr/>
            </p:nvSpPr>
            <p:spPr>
              <a:xfrm>
                <a:off x="3130550" y="5317931"/>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A8351D"/>
                </a:solidFill>
              </a:ln>
            </p:spPr>
          </p:sp>
          <p:sp>
            <p:nvSpPr>
              <p:cNvPr id="197" name="Freeform 197"/>
              <p:cNvSpPr/>
              <p:nvPr/>
            </p:nvSpPr>
            <p:spPr>
              <a:xfrm>
                <a:off x="3130550" y="5399881"/>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A8351D"/>
                </a:solidFill>
              </a:ln>
            </p:spPr>
          </p:sp>
        </p:grpSp>
        <p:sp>
          <p:nvSpPr>
            <p:cNvPr id="199" name="Line 199"/>
            <p:cNvSpPr/>
            <p:nvPr/>
          </p:nvSpPr>
          <p:spPr>
            <a:xfrm>
              <a:off x="3448050" y="5391150"/>
              <a:ext cx="304800" cy="1"/>
            </a:xfrm>
            <a:prstGeom prst="line">
              <a:avLst/>
            </a:prstGeom>
            <a:noFill/>
            <a:ln w="19050">
              <a:solidFill>
                <a:srgbClr val="D64A2E"/>
              </a:solidFill>
              <a:tailEnd type="triangle" w="lg" len="lg"/>
            </a:ln>
          </p:spPr>
        </p:sp>
        <p:sp>
          <p:nvSpPr>
            <p:cNvPr id="200" name="Ellipse 200"/>
            <p:cNvSpPr/>
            <p:nvPr/>
          </p:nvSpPr>
          <p:spPr>
            <a:xfrm>
              <a:off x="3810000" y="5181600"/>
              <a:ext cx="419100" cy="419100"/>
            </a:xfrm>
            <a:prstGeom prst="ellipse">
              <a:avLst/>
            </a:prstGeom>
            <a:solidFill>
              <a:srgbClr val="FFFFFF"/>
            </a:solidFill>
            <a:ln w="19050">
              <a:solidFill>
                <a:srgbClr val="C9462F"/>
              </a:solidFill>
            </a:ln>
          </p:spPr>
        </p:sp>
        <p:grpSp>
          <p:nvGrpSpPr>
            <p:cNvPr id="206" name="Group 206"/>
            <p:cNvGrpSpPr/>
            <p:nvPr/>
          </p:nvGrpSpPr>
          <p:grpSpPr>
            <a:xfrm>
              <a:off x="3940969" y="5311399"/>
              <a:ext cx="157162" cy="158333"/>
              <a:chOff x="3940969" y="5311399"/>
              <a:chExt cx="157162" cy="158333"/>
            </a:xfrm>
          </p:grpSpPr>
          <p:sp>
            <p:nvSpPr>
              <p:cNvPr id="201" name="Freeform 201"/>
              <p:cNvSpPr/>
              <p:nvPr/>
            </p:nvSpPr>
            <p:spPr>
              <a:xfrm>
                <a:off x="3993356" y="5382419"/>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C9462F"/>
                </a:solidFill>
              </a:ln>
            </p:spPr>
          </p:sp>
          <p:sp>
            <p:nvSpPr>
              <p:cNvPr id="202" name="Freeform 202"/>
              <p:cNvSpPr/>
              <p:nvPr/>
            </p:nvSpPr>
            <p:spPr>
              <a:xfrm>
                <a:off x="3993356" y="5408613"/>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C9462F"/>
                </a:solidFill>
              </a:ln>
            </p:spPr>
          </p:sp>
          <p:sp>
            <p:nvSpPr>
              <p:cNvPr id="203" name="Freeform 203"/>
              <p:cNvSpPr/>
              <p:nvPr/>
            </p:nvSpPr>
            <p:spPr>
              <a:xfrm>
                <a:off x="3940969" y="5311399"/>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C9462F"/>
                </a:solidFill>
              </a:ln>
            </p:spPr>
          </p:sp>
          <p:sp>
            <p:nvSpPr>
              <p:cNvPr id="204" name="Freeform 204"/>
              <p:cNvSpPr/>
              <p:nvPr/>
            </p:nvSpPr>
            <p:spPr>
              <a:xfrm>
                <a:off x="3940969" y="5338763"/>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C9462F"/>
                </a:solidFill>
              </a:ln>
            </p:spPr>
          </p:sp>
          <p:sp>
            <p:nvSpPr>
              <p:cNvPr id="205" name="Freeform 205"/>
              <p:cNvSpPr/>
              <p:nvPr/>
            </p:nvSpPr>
            <p:spPr>
              <a:xfrm>
                <a:off x="3940969" y="5382419"/>
                <a:ext cx="17463" cy="17463"/>
              </a:xfrm>
              <a:custGeom>
                <a:avLst/>
                <a:gdLst/>
                <a:ahLst/>
                <a:cxnLst/>
                <a:rect l="l" t="t" r="r" b="b"/>
                <a:pathLst>
                  <a:path w="17463" h="17463">
                    <a:moveTo>
                      <a:pt x="0" y="0"/>
                    </a:moveTo>
                    <a:cubicBezTo>
                      <a:pt x="0" y="7753"/>
                      <a:pt x="6741" y="12660"/>
                      <a:pt x="17463" y="17463"/>
                    </a:cubicBezTo>
                  </a:path>
                </a:pathLst>
              </a:custGeom>
              <a:noFill/>
              <a:ln w="17463">
                <a:solidFill>
                  <a:srgbClr val="C9462F"/>
                </a:solidFill>
              </a:ln>
            </p:spPr>
          </p:sp>
        </p:grpSp>
        <p:sp>
          <p:nvSpPr>
            <p:cNvPr id="207" name="TextBox 207"/>
            <p:cNvSpPr txBox="1"/>
            <p:nvPr/>
          </p:nvSpPr>
          <p:spPr>
            <a:xfrm>
              <a:off x="525488" y="57252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商机发起</a:t>
              </a:r>
            </a:p>
          </p:txBody>
        </p:sp>
        <p:sp>
          <p:nvSpPr>
            <p:cNvPr id="208" name="TextBox 208"/>
            <p:cNvSpPr txBox="1"/>
            <p:nvPr/>
          </p:nvSpPr>
          <p:spPr>
            <a:xfrm>
              <a:off x="1344638" y="57252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线索转介</a:t>
              </a:r>
            </a:p>
          </p:txBody>
        </p:sp>
        <p:sp>
          <p:nvSpPr>
            <p:cNvPr id="209" name="TextBox 209"/>
            <p:cNvSpPr txBox="1"/>
            <p:nvPr/>
          </p:nvSpPr>
          <p:spPr>
            <a:xfrm>
              <a:off x="2163788" y="57252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专业承接</a:t>
              </a:r>
            </a:p>
          </p:txBody>
        </p:sp>
        <p:sp>
          <p:nvSpPr>
            <p:cNvPr id="210" name="TextBox 210"/>
            <p:cNvSpPr txBox="1"/>
            <p:nvPr/>
          </p:nvSpPr>
          <p:spPr>
            <a:xfrm>
              <a:off x="2982938" y="5725239"/>
              <a:ext cx="434924"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持续维护</a:t>
              </a:r>
            </a:p>
          </p:txBody>
        </p:sp>
        <p:sp>
          <p:nvSpPr>
            <p:cNvPr id="211" name="TextBox 211"/>
            <p:cNvSpPr txBox="1"/>
            <p:nvPr/>
          </p:nvSpPr>
          <p:spPr>
            <a:xfrm>
              <a:off x="3802088" y="5725239"/>
              <a:ext cx="434924" cy="154781"/>
            </a:xfrm>
            <a:prstGeom prst="rect">
              <a:avLst/>
            </a:prstGeom>
            <a:noFill/>
            <a:ln>
              <a:noFill/>
            </a:ln>
          </p:spPr>
          <p:txBody>
            <a:bodyPr wrap="none" lIns="0" tIns="0" rIns="0" bIns="0" anchor="t" anchorCtr="0">
              <a:spAutoFit/>
            </a:bodyPr>
            <a:lstStyle/>
            <a:p>
              <a:pPr algn="ctr"/>
              <a:r>
                <a:rPr lang="zh-CN" sz="790" b="1" dirty="0">
                  <a:solidFill>
                    <a:srgbClr val="B0351F"/>
                  </a:solidFill>
                  <a:latin typeface="+mn-lt"/>
                  <a:ea typeface="+mn-ea"/>
                  <a:cs typeface="+mn-cs"/>
                </a:rPr>
                <a:t>价值兑现</a:t>
              </a:r>
            </a:p>
          </p:txBody>
        </p:sp>
        <p:sp>
          <p:nvSpPr>
            <p:cNvPr id="212" name="Line 212"/>
            <p:cNvSpPr/>
            <p:nvPr/>
          </p:nvSpPr>
          <p:spPr>
            <a:xfrm>
              <a:off x="4019550" y="6000750"/>
              <a:ext cx="9525" cy="190500"/>
            </a:xfrm>
            <a:custGeom>
              <a:avLst/>
              <a:gdLst/>
              <a:ahLst/>
              <a:cxnLst/>
              <a:rect l="l" t="t" r="r" b="b"/>
              <a:pathLst>
                <a:path w="9525" h="190500">
                  <a:moveTo>
                    <a:pt x="0" y="0"/>
                  </a:moveTo>
                  <a:lnTo>
                    <a:pt x="0" y="190500"/>
                  </a:lnTo>
                </a:path>
              </a:pathLst>
            </a:custGeom>
            <a:noFill/>
            <a:ln w="11430">
              <a:solidFill>
                <a:srgbClr val="E5907F"/>
              </a:solidFill>
              <a:custDash>
                <a:ds d="250000" sp="250000"/>
              </a:custDash>
            </a:ln>
          </p:spPr>
        </p:sp>
        <p:sp>
          <p:nvSpPr>
            <p:cNvPr id="213" name="Line 213"/>
            <p:cNvSpPr/>
            <p:nvPr/>
          </p:nvSpPr>
          <p:spPr>
            <a:xfrm>
              <a:off x="742950" y="6191250"/>
              <a:ext cx="3276600" cy="9525"/>
            </a:xfrm>
            <a:custGeom>
              <a:avLst/>
              <a:gdLst/>
              <a:ahLst/>
              <a:cxnLst/>
              <a:rect l="l" t="t" r="r" b="b"/>
              <a:pathLst>
                <a:path w="3276600" h="9525">
                  <a:moveTo>
                    <a:pt x="3276600" y="0"/>
                  </a:moveTo>
                  <a:lnTo>
                    <a:pt x="0" y="0"/>
                  </a:lnTo>
                </a:path>
              </a:pathLst>
            </a:custGeom>
            <a:noFill/>
            <a:ln w="11430">
              <a:solidFill>
                <a:srgbClr val="E5907F"/>
              </a:solidFill>
              <a:custDash>
                <a:ds d="250000" sp="250000"/>
              </a:custDash>
            </a:ln>
          </p:spPr>
        </p:sp>
        <p:sp>
          <p:nvSpPr>
            <p:cNvPr id="214" name="Line 214"/>
            <p:cNvSpPr/>
            <p:nvPr/>
          </p:nvSpPr>
          <p:spPr>
            <a:xfrm>
              <a:off x="742950" y="6000750"/>
              <a:ext cx="9525" cy="190500"/>
            </a:xfrm>
            <a:custGeom>
              <a:avLst/>
              <a:gdLst/>
              <a:ahLst/>
              <a:cxnLst/>
              <a:rect l="l" t="t" r="r" b="b"/>
              <a:pathLst>
                <a:path w="9525" h="190500">
                  <a:moveTo>
                    <a:pt x="0" y="190500"/>
                  </a:moveTo>
                  <a:lnTo>
                    <a:pt x="0" y="0"/>
                  </a:lnTo>
                </a:path>
              </a:pathLst>
            </a:custGeom>
            <a:noFill/>
            <a:ln w="11430">
              <a:solidFill>
                <a:srgbClr val="E5907F"/>
              </a:solidFill>
              <a:custDash>
                <a:ds d="250000" sp="250000"/>
              </a:custDash>
            </a:ln>
          </p:spPr>
        </p:sp>
      </p:grpSp>
      <p:grpSp>
        <p:nvGrpSpPr>
          <p:cNvPr id="250" name="score-usage"/>
          <p:cNvGrpSpPr/>
          <p:nvPr/>
        </p:nvGrpSpPr>
        <p:grpSpPr>
          <a:xfrm>
            <a:off x="4495800" y="4438650"/>
            <a:ext cx="3505200" cy="2247900"/>
            <a:chOff x="4495800" y="4438650"/>
            <a:chExt cx="3505200" cy="2247900"/>
          </a:xfrm>
        </p:grpSpPr>
        <p:sp>
          <p:nvSpPr>
            <p:cNvPr id="216" name="Rectangle 216"/>
            <p:cNvSpPr/>
            <p:nvPr/>
          </p:nvSpPr>
          <p:spPr>
            <a:xfrm>
              <a:off x="4495800" y="4438650"/>
              <a:ext cx="3505200" cy="2247900"/>
            </a:xfrm>
            <a:prstGeom prst="roundRect">
              <a:avLst>
                <a:gd name="adj" fmla="val 4237"/>
              </a:avLst>
            </a:prstGeom>
            <a:solidFill>
              <a:srgbClr val="F9FBFE"/>
            </a:solidFill>
            <a:ln w="9525">
              <a:solidFill>
                <a:srgbClr val="C9D8EF"/>
              </a:solidFill>
            </a:ln>
          </p:spPr>
        </p:sp>
        <p:sp>
          <p:nvSpPr>
            <p:cNvPr id="217" name="Rectangle 217"/>
            <p:cNvSpPr/>
            <p:nvPr/>
          </p:nvSpPr>
          <p:spPr>
            <a:xfrm>
              <a:off x="5295900" y="4438650"/>
              <a:ext cx="1905000" cy="266700"/>
            </a:xfrm>
            <a:prstGeom prst="roundRect">
              <a:avLst>
                <a:gd name="adj" fmla="val 14286"/>
              </a:avLst>
            </a:prstGeom>
            <a:gradFill>
              <a:gsLst>
                <a:gs pos="0">
                  <a:srgbClr val="AD3921"/>
                </a:gs>
                <a:gs pos="100000">
                  <a:srgbClr val="962C16"/>
                </a:gs>
              </a:gsLst>
              <a:lin ang="5400000" scaled="1"/>
            </a:gradFill>
            <a:ln>
              <a:noFill/>
            </a:ln>
          </p:spPr>
        </p:sp>
        <p:sp>
          <p:nvSpPr>
            <p:cNvPr id="218" name="TextBox 218"/>
            <p:cNvSpPr txBox="1"/>
            <p:nvPr/>
          </p:nvSpPr>
          <p:spPr>
            <a:xfrm>
              <a:off x="5979592" y="45143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积分应用</a:t>
              </a:r>
            </a:p>
          </p:txBody>
        </p:sp>
        <p:sp>
          <p:nvSpPr>
            <p:cNvPr id="219" name="Rectangle 219"/>
            <p:cNvSpPr/>
            <p:nvPr/>
          </p:nvSpPr>
          <p:spPr>
            <a:xfrm>
              <a:off x="4591050" y="5048250"/>
              <a:ext cx="609600" cy="1047750"/>
            </a:xfrm>
            <a:prstGeom prst="roundRect">
              <a:avLst>
                <a:gd name="adj" fmla="val 9375"/>
              </a:avLst>
            </a:prstGeom>
            <a:solidFill>
              <a:srgbClr val="FFFFFF"/>
            </a:solidFill>
            <a:ln w="9525">
              <a:solidFill>
                <a:srgbClr val="C9D8EF"/>
              </a:solidFill>
            </a:ln>
          </p:spPr>
        </p:sp>
        <p:grpSp>
          <p:nvGrpSpPr>
            <p:cNvPr id="223" name="Group 223"/>
            <p:cNvGrpSpPr/>
            <p:nvPr/>
          </p:nvGrpSpPr>
          <p:grpSpPr>
            <a:xfrm>
              <a:off x="4833937" y="5269706"/>
              <a:ext cx="154781" cy="185737"/>
              <a:chOff x="4833937" y="5269706"/>
              <a:chExt cx="154781" cy="185737"/>
            </a:xfrm>
          </p:grpSpPr>
          <p:sp>
            <p:nvSpPr>
              <p:cNvPr id="220" name="Freeform 220"/>
              <p:cNvSpPr/>
              <p:nvPr/>
            </p:nvSpPr>
            <p:spPr>
              <a:xfrm>
                <a:off x="4854575" y="52697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A8351D"/>
                </a:solidFill>
              </a:ln>
            </p:spPr>
          </p:sp>
          <p:sp>
            <p:nvSpPr>
              <p:cNvPr id="221" name="Freeform 221"/>
              <p:cNvSpPr/>
              <p:nvPr/>
            </p:nvSpPr>
            <p:spPr>
              <a:xfrm>
                <a:off x="4833937" y="5393531"/>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A8351D"/>
                </a:solidFill>
              </a:ln>
            </p:spPr>
          </p:sp>
          <p:sp>
            <p:nvSpPr>
              <p:cNvPr id="222" name="Freeform 222"/>
              <p:cNvSpPr/>
              <p:nvPr/>
            </p:nvSpPr>
            <p:spPr>
              <a:xfrm>
                <a:off x="4926806" y="5414168"/>
                <a:ext cx="61912" cy="41275"/>
              </a:xfrm>
              <a:custGeom>
                <a:avLst/>
                <a:gdLst/>
                <a:ahLst/>
                <a:cxnLst/>
                <a:rect l="l" t="t" r="r" b="b"/>
                <a:pathLst>
                  <a:path w="61912" h="41275">
                    <a:moveTo>
                      <a:pt x="0" y="20637"/>
                    </a:moveTo>
                    <a:lnTo>
                      <a:pt x="20637" y="41275"/>
                    </a:lnTo>
                    <a:lnTo>
                      <a:pt x="61912" y="0"/>
                    </a:lnTo>
                  </a:path>
                </a:pathLst>
              </a:custGeom>
              <a:noFill/>
              <a:ln w="20637">
                <a:solidFill>
                  <a:srgbClr val="A8351D"/>
                </a:solidFill>
              </a:ln>
            </p:spPr>
          </p:sp>
        </p:grpSp>
        <p:sp>
          <p:nvSpPr>
            <p:cNvPr id="224" name="TextBox 224"/>
            <p:cNvSpPr txBox="1"/>
            <p:nvPr/>
          </p:nvSpPr>
          <p:spPr>
            <a:xfrm>
              <a:off x="4689158" y="5748338"/>
              <a:ext cx="413385"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个人绩效</a:t>
              </a:r>
            </a:p>
          </p:txBody>
        </p:sp>
        <p:sp>
          <p:nvSpPr>
            <p:cNvPr id="225" name="Rectangle 225"/>
            <p:cNvSpPr/>
            <p:nvPr/>
          </p:nvSpPr>
          <p:spPr>
            <a:xfrm>
              <a:off x="5257800" y="5048250"/>
              <a:ext cx="609600" cy="1047750"/>
            </a:xfrm>
            <a:prstGeom prst="roundRect">
              <a:avLst>
                <a:gd name="adj" fmla="val 9375"/>
              </a:avLst>
            </a:prstGeom>
            <a:solidFill>
              <a:srgbClr val="FFFFFF"/>
            </a:solidFill>
            <a:ln w="9525">
              <a:solidFill>
                <a:srgbClr val="C9D8EF"/>
              </a:solidFill>
            </a:ln>
          </p:spPr>
        </p:sp>
        <p:grpSp>
          <p:nvGrpSpPr>
            <p:cNvPr id="232" name="Group 232"/>
            <p:cNvGrpSpPr/>
            <p:nvPr/>
          </p:nvGrpSpPr>
          <p:grpSpPr>
            <a:xfrm>
              <a:off x="5469731" y="5269706"/>
              <a:ext cx="185737" cy="185737"/>
              <a:chOff x="5469731" y="5269706"/>
              <a:chExt cx="185737" cy="185737"/>
            </a:xfrm>
          </p:grpSpPr>
          <p:sp>
            <p:nvSpPr>
              <p:cNvPr id="226" name="Freeform 226"/>
              <p:cNvSpPr/>
              <p:nvPr/>
            </p:nvSpPr>
            <p:spPr>
              <a:xfrm>
                <a:off x="5541962" y="53522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A8351D"/>
                </a:solidFill>
              </a:ln>
            </p:spPr>
          </p:sp>
          <p:sp>
            <p:nvSpPr>
              <p:cNvPr id="227" name="Freeform 227"/>
              <p:cNvSpPr/>
              <p:nvPr/>
            </p:nvSpPr>
            <p:spPr>
              <a:xfrm>
                <a:off x="5521325" y="542448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A8351D"/>
                </a:solidFill>
              </a:ln>
            </p:spPr>
          </p:sp>
          <p:sp>
            <p:nvSpPr>
              <p:cNvPr id="228" name="Freeform 228"/>
              <p:cNvSpPr/>
              <p:nvPr/>
            </p:nvSpPr>
            <p:spPr>
              <a:xfrm>
                <a:off x="5593556" y="52697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A8351D"/>
                </a:solidFill>
              </a:ln>
            </p:spPr>
          </p:sp>
          <p:sp>
            <p:nvSpPr>
              <p:cNvPr id="229" name="Freeform 229"/>
              <p:cNvSpPr/>
              <p:nvPr/>
            </p:nvSpPr>
            <p:spPr>
              <a:xfrm>
                <a:off x="5614193" y="534193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A8351D"/>
                </a:solidFill>
              </a:ln>
            </p:spPr>
          </p:sp>
          <p:sp>
            <p:nvSpPr>
              <p:cNvPr id="230" name="Freeform 230"/>
              <p:cNvSpPr/>
              <p:nvPr/>
            </p:nvSpPr>
            <p:spPr>
              <a:xfrm>
                <a:off x="5490369" y="52697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A8351D"/>
                </a:solidFill>
              </a:ln>
            </p:spPr>
          </p:sp>
          <p:sp>
            <p:nvSpPr>
              <p:cNvPr id="231" name="Freeform 231"/>
              <p:cNvSpPr/>
              <p:nvPr/>
            </p:nvSpPr>
            <p:spPr>
              <a:xfrm>
                <a:off x="5469731" y="534193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A8351D"/>
                </a:solidFill>
              </a:ln>
            </p:spPr>
          </p:sp>
        </p:grpSp>
        <p:sp>
          <p:nvSpPr>
            <p:cNvPr id="233" name="TextBox 233"/>
            <p:cNvSpPr txBox="1"/>
            <p:nvPr/>
          </p:nvSpPr>
          <p:spPr>
            <a:xfrm>
              <a:off x="5355908" y="5748338"/>
              <a:ext cx="413385"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团队绩效</a:t>
              </a:r>
            </a:p>
          </p:txBody>
        </p:sp>
        <p:sp>
          <p:nvSpPr>
            <p:cNvPr id="234" name="Rectangle 234"/>
            <p:cNvSpPr/>
            <p:nvPr/>
          </p:nvSpPr>
          <p:spPr>
            <a:xfrm>
              <a:off x="5924550" y="5048250"/>
              <a:ext cx="609600" cy="1047750"/>
            </a:xfrm>
            <a:prstGeom prst="roundRect">
              <a:avLst>
                <a:gd name="adj" fmla="val 9375"/>
              </a:avLst>
            </a:prstGeom>
            <a:solidFill>
              <a:srgbClr val="FFFFFF"/>
            </a:solidFill>
            <a:ln w="9525">
              <a:solidFill>
                <a:srgbClr val="C9D8EF"/>
              </a:solidFill>
            </a:ln>
          </p:spPr>
        </p:sp>
        <p:grpSp>
          <p:nvGrpSpPr>
            <p:cNvPr id="237" name="Group 237"/>
            <p:cNvGrpSpPr/>
            <p:nvPr/>
          </p:nvGrpSpPr>
          <p:grpSpPr>
            <a:xfrm>
              <a:off x="6133605" y="5271480"/>
              <a:ext cx="186549" cy="186839"/>
              <a:chOff x="6133605" y="5271480"/>
              <a:chExt cx="186549" cy="186839"/>
            </a:xfrm>
          </p:grpSpPr>
          <p:sp>
            <p:nvSpPr>
              <p:cNvPr id="235" name="Freeform 235"/>
              <p:cNvSpPr/>
              <p:nvPr/>
            </p:nvSpPr>
            <p:spPr>
              <a:xfrm>
                <a:off x="6133605" y="5271480"/>
                <a:ext cx="186549" cy="186839"/>
              </a:xfrm>
              <a:custGeom>
                <a:avLst/>
                <a:gdLst/>
                <a:ahLst/>
                <a:cxnLst/>
                <a:rect l="l" t="t" r="r" b="b"/>
                <a:pathLst>
                  <a:path w="186549" h="186839">
                    <a:moveTo>
                      <a:pt x="75107" y="289"/>
                    </a:moveTo>
                    <a:cubicBezTo>
                      <a:pt x="30427" y="10647"/>
                      <a:pt x="0" y="52071"/>
                      <a:pt x="3479" y="97804"/>
                    </a:cubicBezTo>
                    <a:cubicBezTo>
                      <a:pt x="6959" y="143536"/>
                      <a:pt x="43303" y="179880"/>
                      <a:pt x="89035" y="183360"/>
                    </a:cubicBezTo>
                    <a:cubicBezTo>
                      <a:pt x="134768" y="186839"/>
                      <a:pt x="176192" y="156411"/>
                      <a:pt x="186549" y="111732"/>
                    </a:cubicBezTo>
                    <a:cubicBezTo>
                      <a:pt x="186549" y="106033"/>
                      <a:pt x="181930" y="101413"/>
                      <a:pt x="176231" y="101413"/>
                    </a:cubicBezTo>
                    <a:lnTo>
                      <a:pt x="106063" y="101413"/>
                    </a:lnTo>
                    <a:cubicBezTo>
                      <a:pt x="94666" y="101413"/>
                      <a:pt x="85426" y="92173"/>
                      <a:pt x="85426" y="80775"/>
                    </a:cubicBezTo>
                    <a:lnTo>
                      <a:pt x="85426" y="8544"/>
                    </a:lnTo>
                    <a:cubicBezTo>
                      <a:pt x="85167" y="6075"/>
                      <a:pt x="83930" y="3812"/>
                      <a:pt x="81991" y="2261"/>
                    </a:cubicBezTo>
                    <a:cubicBezTo>
                      <a:pt x="80052" y="710"/>
                      <a:pt x="77573" y="0"/>
                      <a:pt x="75107" y="289"/>
                    </a:cubicBezTo>
                  </a:path>
                </a:pathLst>
              </a:custGeom>
              <a:noFill/>
              <a:ln w="20637">
                <a:solidFill>
                  <a:srgbClr val="A8351D"/>
                </a:solidFill>
              </a:ln>
            </p:spPr>
          </p:sp>
          <p:sp>
            <p:nvSpPr>
              <p:cNvPr id="236" name="Freeform 236"/>
              <p:cNvSpPr/>
              <p:nvPr/>
            </p:nvSpPr>
            <p:spPr>
              <a:xfrm>
                <a:off x="6260306" y="5274866"/>
                <a:ext cx="56753" cy="56753"/>
              </a:xfrm>
              <a:custGeom>
                <a:avLst/>
                <a:gdLst/>
                <a:ahLst/>
                <a:cxnLst/>
                <a:rect l="l" t="t" r="r" b="b"/>
                <a:pathLst>
                  <a:path w="56753" h="56753">
                    <a:moveTo>
                      <a:pt x="0" y="0"/>
                    </a:moveTo>
                    <a:cubicBezTo>
                      <a:pt x="26538" y="9344"/>
                      <a:pt x="47409" y="30215"/>
                      <a:pt x="56753" y="56753"/>
                    </a:cubicBezTo>
                    <a:lnTo>
                      <a:pt x="10319" y="56753"/>
                    </a:lnTo>
                    <a:cubicBezTo>
                      <a:pt x="4620" y="56753"/>
                      <a:pt x="0" y="52133"/>
                      <a:pt x="0" y="46434"/>
                    </a:cubicBezTo>
                    <a:lnTo>
                      <a:pt x="0" y="0"/>
                    </a:lnTo>
                  </a:path>
                </a:pathLst>
              </a:custGeom>
              <a:noFill/>
              <a:ln w="20637">
                <a:solidFill>
                  <a:srgbClr val="A8351D"/>
                </a:solidFill>
              </a:ln>
            </p:spPr>
          </p:sp>
        </p:grpSp>
        <p:sp>
          <p:nvSpPr>
            <p:cNvPr id="238" name="TextBox 238"/>
            <p:cNvSpPr txBox="1"/>
            <p:nvPr/>
          </p:nvSpPr>
          <p:spPr>
            <a:xfrm>
              <a:off x="6022658" y="5748338"/>
              <a:ext cx="413385"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资源配置</a:t>
              </a:r>
            </a:p>
          </p:txBody>
        </p:sp>
        <p:sp>
          <p:nvSpPr>
            <p:cNvPr id="239" name="Rectangle 239"/>
            <p:cNvSpPr/>
            <p:nvPr/>
          </p:nvSpPr>
          <p:spPr>
            <a:xfrm>
              <a:off x="6591300" y="5048250"/>
              <a:ext cx="609600" cy="1047750"/>
            </a:xfrm>
            <a:prstGeom prst="roundRect">
              <a:avLst>
                <a:gd name="adj" fmla="val 9375"/>
              </a:avLst>
            </a:prstGeom>
            <a:solidFill>
              <a:srgbClr val="FFFFFF"/>
            </a:solidFill>
            <a:ln w="9525">
              <a:solidFill>
                <a:srgbClr val="C9D8EF"/>
              </a:solidFill>
            </a:ln>
          </p:spPr>
        </p:sp>
        <p:grpSp>
          <p:nvGrpSpPr>
            <p:cNvPr id="243" name="Group 243"/>
            <p:cNvGrpSpPr/>
            <p:nvPr/>
          </p:nvGrpSpPr>
          <p:grpSpPr>
            <a:xfrm>
              <a:off x="6807379" y="5269706"/>
              <a:ext cx="177421" cy="184602"/>
              <a:chOff x="6807379" y="5269706"/>
              <a:chExt cx="177421" cy="184602"/>
            </a:xfrm>
          </p:grpSpPr>
          <p:sp>
            <p:nvSpPr>
              <p:cNvPr id="240" name="Freeform 240"/>
              <p:cNvSpPr/>
              <p:nvPr/>
            </p:nvSpPr>
            <p:spPr>
              <a:xfrm>
                <a:off x="6834187" y="5269706"/>
                <a:ext cx="123825" cy="123825"/>
              </a:xfrm>
              <a:custGeom>
                <a:avLst/>
                <a:gdLst/>
                <a:ahLst/>
                <a:cxnLst/>
                <a:rect l="l" t="t" r="r" b="b"/>
                <a:pathLst>
                  <a:path w="123825" h="123825">
                    <a:moveTo>
                      <a:pt x="0" y="61912"/>
                    </a:moveTo>
                    <a:cubicBezTo>
                      <a:pt x="0" y="96106"/>
                      <a:pt x="27719" y="123825"/>
                      <a:pt x="61912" y="123825"/>
                    </a:cubicBezTo>
                    <a:cubicBezTo>
                      <a:pt x="96106" y="123825"/>
                      <a:pt x="123825" y="96106"/>
                      <a:pt x="123825" y="61912"/>
                    </a:cubicBezTo>
                    <a:cubicBezTo>
                      <a:pt x="123825" y="27719"/>
                      <a:pt x="96106" y="0"/>
                      <a:pt x="61912" y="0"/>
                    </a:cubicBezTo>
                    <a:cubicBezTo>
                      <a:pt x="27719" y="0"/>
                      <a:pt x="0" y="27719"/>
                      <a:pt x="0" y="61912"/>
                    </a:cubicBezTo>
                  </a:path>
                </a:pathLst>
              </a:custGeom>
              <a:noFill/>
              <a:ln w="20637">
                <a:solidFill>
                  <a:srgbClr val="A8351D"/>
                </a:solidFill>
              </a:ln>
            </p:spPr>
          </p:sp>
          <p:sp>
            <p:nvSpPr>
              <p:cNvPr id="241" name="Freeform 241"/>
              <p:cNvSpPr/>
              <p:nvPr/>
            </p:nvSpPr>
            <p:spPr>
              <a:xfrm>
                <a:off x="6896100" y="5362575"/>
                <a:ext cx="88700" cy="91733"/>
              </a:xfrm>
              <a:custGeom>
                <a:avLst/>
                <a:gdLst/>
                <a:ahLst/>
                <a:cxnLst/>
                <a:rect l="l" t="t" r="r" b="b"/>
                <a:pathLst>
                  <a:path w="88700" h="91733">
                    <a:moveTo>
                      <a:pt x="0" y="30956"/>
                    </a:moveTo>
                    <a:lnTo>
                      <a:pt x="35084" y="91733"/>
                    </a:lnTo>
                    <a:lnTo>
                      <a:pt x="51573" y="58373"/>
                    </a:lnTo>
                    <a:lnTo>
                      <a:pt x="88700" y="60767"/>
                    </a:lnTo>
                    <a:lnTo>
                      <a:pt x="53616" y="0"/>
                    </a:lnTo>
                  </a:path>
                </a:pathLst>
              </a:custGeom>
              <a:noFill/>
              <a:ln w="20637">
                <a:solidFill>
                  <a:srgbClr val="A8351D"/>
                </a:solidFill>
              </a:ln>
            </p:spPr>
          </p:sp>
          <p:sp>
            <p:nvSpPr>
              <p:cNvPr id="242" name="Freeform 242"/>
              <p:cNvSpPr/>
              <p:nvPr/>
            </p:nvSpPr>
            <p:spPr>
              <a:xfrm>
                <a:off x="6807379" y="5362575"/>
                <a:ext cx="88700" cy="91723"/>
              </a:xfrm>
              <a:custGeom>
                <a:avLst/>
                <a:gdLst/>
                <a:ahLst/>
                <a:cxnLst/>
                <a:rect l="l" t="t" r="r" b="b"/>
                <a:pathLst>
                  <a:path w="88700" h="91723">
                    <a:moveTo>
                      <a:pt x="35084" y="0"/>
                    </a:moveTo>
                    <a:lnTo>
                      <a:pt x="0" y="60777"/>
                    </a:lnTo>
                    <a:lnTo>
                      <a:pt x="37127" y="58373"/>
                    </a:lnTo>
                    <a:lnTo>
                      <a:pt x="53616" y="91723"/>
                    </a:lnTo>
                    <a:lnTo>
                      <a:pt x="88700" y="30956"/>
                    </a:lnTo>
                  </a:path>
                </a:pathLst>
              </a:custGeom>
              <a:noFill/>
              <a:ln w="20637">
                <a:solidFill>
                  <a:srgbClr val="A8351D"/>
                </a:solidFill>
              </a:ln>
            </p:spPr>
          </p:sp>
        </p:grpSp>
        <p:sp>
          <p:nvSpPr>
            <p:cNvPr id="244" name="TextBox 244"/>
            <p:cNvSpPr txBox="1"/>
            <p:nvPr/>
          </p:nvSpPr>
          <p:spPr>
            <a:xfrm>
              <a:off x="6689408" y="5748338"/>
              <a:ext cx="413385"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评优晋升</a:t>
              </a:r>
            </a:p>
          </p:txBody>
        </p:sp>
        <p:sp>
          <p:nvSpPr>
            <p:cNvPr id="245" name="Rectangle 245"/>
            <p:cNvSpPr/>
            <p:nvPr/>
          </p:nvSpPr>
          <p:spPr>
            <a:xfrm>
              <a:off x="7258050" y="5048250"/>
              <a:ext cx="609600" cy="1047750"/>
            </a:xfrm>
            <a:prstGeom prst="roundRect">
              <a:avLst>
                <a:gd name="adj" fmla="val 9375"/>
              </a:avLst>
            </a:prstGeom>
            <a:solidFill>
              <a:srgbClr val="FFFFFF"/>
            </a:solidFill>
            <a:ln w="9525">
              <a:solidFill>
                <a:srgbClr val="C9D8EF"/>
              </a:solidFill>
            </a:ln>
          </p:spPr>
        </p:sp>
        <p:grpSp>
          <p:nvGrpSpPr>
            <p:cNvPr id="248" name="Group 248"/>
            <p:cNvGrpSpPr/>
            <p:nvPr/>
          </p:nvGrpSpPr>
          <p:grpSpPr>
            <a:xfrm>
              <a:off x="7490619" y="5270679"/>
              <a:ext cx="144462" cy="184764"/>
              <a:chOff x="7490619" y="5270679"/>
              <a:chExt cx="144462" cy="184764"/>
            </a:xfrm>
          </p:grpSpPr>
          <p:sp>
            <p:nvSpPr>
              <p:cNvPr id="246" name="Freeform 246"/>
              <p:cNvSpPr/>
              <p:nvPr/>
            </p:nvSpPr>
            <p:spPr>
              <a:xfrm>
                <a:off x="7490619" y="5270679"/>
                <a:ext cx="144462" cy="132198"/>
              </a:xfrm>
              <a:custGeom>
                <a:avLst/>
                <a:gdLst/>
                <a:ahLst/>
                <a:cxnLst/>
                <a:rect l="l" t="t" r="r" b="b"/>
                <a:pathLst>
                  <a:path w="144462" h="132198">
                    <a:moveTo>
                      <a:pt x="0" y="19665"/>
                    </a:moveTo>
                    <a:cubicBezTo>
                      <a:pt x="20062" y="0"/>
                      <a:pt x="52169" y="0"/>
                      <a:pt x="72231" y="19665"/>
                    </a:cubicBezTo>
                    <a:cubicBezTo>
                      <a:pt x="92293" y="39329"/>
                      <a:pt x="124400" y="39329"/>
                      <a:pt x="144462" y="19665"/>
                    </a:cubicBezTo>
                    <a:lnTo>
                      <a:pt x="144462" y="112533"/>
                    </a:lnTo>
                    <a:cubicBezTo>
                      <a:pt x="124400" y="132198"/>
                      <a:pt x="92293" y="132198"/>
                      <a:pt x="72231" y="112533"/>
                    </a:cubicBezTo>
                    <a:cubicBezTo>
                      <a:pt x="52169" y="92868"/>
                      <a:pt x="20062" y="92868"/>
                      <a:pt x="0" y="112533"/>
                    </a:cubicBezTo>
                    <a:lnTo>
                      <a:pt x="0" y="19665"/>
                    </a:lnTo>
                  </a:path>
                </a:pathLst>
              </a:custGeom>
              <a:noFill/>
              <a:ln w="20637">
                <a:solidFill>
                  <a:srgbClr val="A8351D"/>
                </a:solidFill>
              </a:ln>
            </p:spPr>
          </p:sp>
          <p:sp>
            <p:nvSpPr>
              <p:cNvPr id="247" name="Freeform 247"/>
              <p:cNvSpPr/>
              <p:nvPr/>
            </p:nvSpPr>
            <p:spPr>
              <a:xfrm>
                <a:off x="7490619" y="5383212"/>
                <a:ext cx="9525" cy="72231"/>
              </a:xfrm>
              <a:custGeom>
                <a:avLst/>
                <a:gdLst/>
                <a:ahLst/>
                <a:cxnLst/>
                <a:rect l="l" t="t" r="r" b="b"/>
                <a:pathLst>
                  <a:path w="9525" h="72231">
                    <a:moveTo>
                      <a:pt x="0" y="72231"/>
                    </a:moveTo>
                    <a:lnTo>
                      <a:pt x="0" y="0"/>
                    </a:lnTo>
                  </a:path>
                </a:pathLst>
              </a:custGeom>
              <a:noFill/>
              <a:ln w="20637">
                <a:solidFill>
                  <a:srgbClr val="A8351D"/>
                </a:solidFill>
              </a:ln>
            </p:spPr>
          </p:sp>
        </p:grpSp>
        <p:sp>
          <p:nvSpPr>
            <p:cNvPr id="249" name="TextBox 249"/>
            <p:cNvSpPr txBox="1"/>
            <p:nvPr/>
          </p:nvSpPr>
          <p:spPr>
            <a:xfrm>
              <a:off x="7356158" y="5748338"/>
              <a:ext cx="413385"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战役激励</a:t>
              </a:r>
            </a:p>
          </p:txBody>
        </p:sp>
      </p:grpSp>
      <p:grpSp>
        <p:nvGrpSpPr>
          <p:cNvPr id="277" name="synergy-metrics"/>
          <p:cNvGrpSpPr/>
          <p:nvPr/>
        </p:nvGrpSpPr>
        <p:grpSpPr>
          <a:xfrm>
            <a:off x="8115300" y="4438650"/>
            <a:ext cx="3695700" cy="2247900"/>
            <a:chOff x="8115300" y="4438650"/>
            <a:chExt cx="3695700" cy="2247900"/>
          </a:xfrm>
        </p:grpSpPr>
        <p:sp>
          <p:nvSpPr>
            <p:cNvPr id="251" name="Rectangle 251"/>
            <p:cNvSpPr/>
            <p:nvPr/>
          </p:nvSpPr>
          <p:spPr>
            <a:xfrm>
              <a:off x="8115300" y="4438650"/>
              <a:ext cx="3695700" cy="2247900"/>
            </a:xfrm>
            <a:prstGeom prst="roundRect">
              <a:avLst>
                <a:gd name="adj" fmla="val 4237"/>
              </a:avLst>
            </a:prstGeom>
            <a:solidFill>
              <a:srgbClr val="F9FBFE"/>
            </a:solidFill>
            <a:ln w="9525">
              <a:solidFill>
                <a:srgbClr val="C9D8EF"/>
              </a:solidFill>
            </a:ln>
          </p:spPr>
        </p:sp>
        <p:sp>
          <p:nvSpPr>
            <p:cNvPr id="252" name="Rectangle 252"/>
            <p:cNvSpPr/>
            <p:nvPr/>
          </p:nvSpPr>
          <p:spPr>
            <a:xfrm>
              <a:off x="9010650" y="4438650"/>
              <a:ext cx="1905000" cy="266700"/>
            </a:xfrm>
            <a:prstGeom prst="roundRect">
              <a:avLst>
                <a:gd name="adj" fmla="val 14286"/>
              </a:avLst>
            </a:prstGeom>
            <a:gradFill>
              <a:gsLst>
                <a:gs pos="0">
                  <a:srgbClr val="AD3921"/>
                </a:gs>
                <a:gs pos="100000">
                  <a:srgbClr val="962C16"/>
                </a:gs>
              </a:gsLst>
              <a:lin ang="5400000" scaled="1"/>
            </a:gradFill>
            <a:ln>
              <a:noFill/>
            </a:ln>
          </p:spPr>
        </p:sp>
        <p:sp>
          <p:nvSpPr>
            <p:cNvPr id="253" name="TextBox 253"/>
            <p:cNvSpPr txBox="1"/>
            <p:nvPr/>
          </p:nvSpPr>
          <p:spPr>
            <a:xfrm>
              <a:off x="9562414" y="451437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协同成效指标</a:t>
              </a:r>
            </a:p>
          </p:txBody>
        </p:sp>
        <p:sp>
          <p:nvSpPr>
            <p:cNvPr id="254" name="Rectangle 254"/>
            <p:cNvSpPr/>
            <p:nvPr/>
          </p:nvSpPr>
          <p:spPr>
            <a:xfrm>
              <a:off x="8210550" y="5048250"/>
              <a:ext cx="819150" cy="1047750"/>
            </a:xfrm>
            <a:prstGeom prst="roundRect">
              <a:avLst>
                <a:gd name="adj" fmla="val 6977"/>
              </a:avLst>
            </a:prstGeom>
            <a:solidFill>
              <a:srgbClr val="FFFFFF"/>
            </a:solidFill>
            <a:ln w="9525">
              <a:solidFill>
                <a:srgbClr val="C9D8EF"/>
              </a:solidFill>
            </a:ln>
          </p:spPr>
        </p:sp>
        <p:grpSp>
          <p:nvGrpSpPr>
            <p:cNvPr id="257" name="Group 257"/>
            <p:cNvGrpSpPr/>
            <p:nvPr/>
          </p:nvGrpSpPr>
          <p:grpSpPr>
            <a:xfrm>
              <a:off x="8531225" y="5305425"/>
              <a:ext cx="177801" cy="153988"/>
              <a:chOff x="8531225" y="5305425"/>
              <a:chExt cx="177801" cy="153988"/>
            </a:xfrm>
          </p:grpSpPr>
          <p:sp>
            <p:nvSpPr>
              <p:cNvPr id="255" name="Freeform 255"/>
              <p:cNvSpPr/>
              <p:nvPr/>
            </p:nvSpPr>
            <p:spPr>
              <a:xfrm>
                <a:off x="8531225" y="5449888"/>
                <a:ext cx="177801" cy="9525"/>
              </a:xfrm>
              <a:custGeom>
                <a:avLst/>
                <a:gdLst/>
                <a:ahLst/>
                <a:cxnLst/>
                <a:rect l="l" t="t" r="r" b="b"/>
                <a:pathLst>
                  <a:path w="177801" h="9525">
                    <a:moveTo>
                      <a:pt x="0" y="0"/>
                    </a:moveTo>
                    <a:lnTo>
                      <a:pt x="177801" y="0"/>
                    </a:lnTo>
                  </a:path>
                </a:pathLst>
              </a:custGeom>
              <a:noFill/>
              <a:ln w="22225">
                <a:solidFill>
                  <a:srgbClr val="A8351D"/>
                </a:solidFill>
              </a:ln>
            </p:spPr>
          </p:sp>
          <p:sp>
            <p:nvSpPr>
              <p:cNvPr id="256" name="Freeform 256"/>
              <p:cNvSpPr/>
              <p:nvPr/>
            </p:nvSpPr>
            <p:spPr>
              <a:xfrm>
                <a:off x="8531225" y="5305425"/>
                <a:ext cx="177801" cy="100013"/>
              </a:xfrm>
              <a:custGeom>
                <a:avLst/>
                <a:gdLst/>
                <a:ahLst/>
                <a:cxnLst/>
                <a:rect l="l" t="t" r="r" b="b"/>
                <a:pathLst>
                  <a:path w="177801" h="100013">
                    <a:moveTo>
                      <a:pt x="0" y="100013"/>
                    </a:moveTo>
                    <a:lnTo>
                      <a:pt x="44450" y="33338"/>
                    </a:lnTo>
                    <a:lnTo>
                      <a:pt x="88900" y="55563"/>
                    </a:lnTo>
                    <a:lnTo>
                      <a:pt x="133350" y="0"/>
                    </a:lnTo>
                    <a:lnTo>
                      <a:pt x="177801" y="44450"/>
                    </a:lnTo>
                  </a:path>
                </a:pathLst>
              </a:custGeom>
              <a:noFill/>
              <a:ln w="22225">
                <a:solidFill>
                  <a:srgbClr val="A8351D"/>
                </a:solidFill>
              </a:ln>
            </p:spPr>
          </p:sp>
        </p:grpSp>
        <p:sp>
          <p:nvSpPr>
            <p:cNvPr id="258" name="TextBox 258"/>
            <p:cNvSpPr txBox="1"/>
            <p:nvPr/>
          </p:nvSpPr>
          <p:spPr>
            <a:xfrm>
              <a:off x="8413432" y="5748338"/>
              <a:ext cx="413385"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协同收入</a:t>
              </a:r>
            </a:p>
          </p:txBody>
        </p:sp>
        <p:sp>
          <p:nvSpPr>
            <p:cNvPr id="259" name="Rectangle 259"/>
            <p:cNvSpPr/>
            <p:nvPr/>
          </p:nvSpPr>
          <p:spPr>
            <a:xfrm>
              <a:off x="9105900" y="5048250"/>
              <a:ext cx="819150" cy="1047750"/>
            </a:xfrm>
            <a:prstGeom prst="roundRect">
              <a:avLst>
                <a:gd name="adj" fmla="val 6977"/>
              </a:avLst>
            </a:prstGeom>
            <a:solidFill>
              <a:srgbClr val="FFFFFF"/>
            </a:solidFill>
            <a:ln w="9525">
              <a:solidFill>
                <a:srgbClr val="C9D8EF"/>
              </a:solidFill>
            </a:ln>
          </p:spPr>
        </p:sp>
        <p:grpSp>
          <p:nvGrpSpPr>
            <p:cNvPr id="262" name="Group 262"/>
            <p:cNvGrpSpPr/>
            <p:nvPr/>
          </p:nvGrpSpPr>
          <p:grpSpPr>
            <a:xfrm>
              <a:off x="9426575" y="5278913"/>
              <a:ext cx="177801" cy="186375"/>
              <a:chOff x="9426575" y="5278913"/>
              <a:chExt cx="177801" cy="186375"/>
            </a:xfrm>
          </p:grpSpPr>
          <p:sp>
            <p:nvSpPr>
              <p:cNvPr id="260" name="Freeform 260"/>
              <p:cNvSpPr/>
              <p:nvPr/>
            </p:nvSpPr>
            <p:spPr>
              <a:xfrm>
                <a:off x="9426575" y="5278913"/>
                <a:ext cx="177801" cy="82075"/>
              </a:xfrm>
              <a:custGeom>
                <a:avLst/>
                <a:gdLst/>
                <a:ahLst/>
                <a:cxnLst/>
                <a:rect l="l" t="t" r="r" b="b"/>
                <a:pathLst>
                  <a:path w="177801" h="82075">
                    <a:moveTo>
                      <a:pt x="177801" y="82075"/>
                    </a:moveTo>
                    <a:cubicBezTo>
                      <a:pt x="172214" y="41876"/>
                      <a:pt x="140416" y="10388"/>
                      <a:pt x="100165" y="5194"/>
                    </a:cubicBezTo>
                    <a:cubicBezTo>
                      <a:pt x="59913" y="0"/>
                      <a:pt x="21164" y="22386"/>
                      <a:pt x="5556" y="59850"/>
                    </a:cubicBezTo>
                    <a:moveTo>
                      <a:pt x="0" y="15400"/>
                    </a:moveTo>
                    <a:lnTo>
                      <a:pt x="0" y="59850"/>
                    </a:lnTo>
                    <a:lnTo>
                      <a:pt x="44450" y="59850"/>
                    </a:lnTo>
                  </a:path>
                </a:pathLst>
              </a:custGeom>
              <a:noFill/>
              <a:ln w="22225">
                <a:solidFill>
                  <a:srgbClr val="A8351D"/>
                </a:solidFill>
              </a:ln>
            </p:spPr>
          </p:sp>
          <p:sp>
            <p:nvSpPr>
              <p:cNvPr id="261" name="Freeform 261"/>
              <p:cNvSpPr/>
              <p:nvPr/>
            </p:nvSpPr>
            <p:spPr>
              <a:xfrm>
                <a:off x="9426575" y="5383213"/>
                <a:ext cx="177801" cy="82075"/>
              </a:xfrm>
              <a:custGeom>
                <a:avLst/>
                <a:gdLst/>
                <a:ahLst/>
                <a:cxnLst/>
                <a:rect l="l" t="t" r="r" b="b"/>
                <a:pathLst>
                  <a:path w="177801" h="82075">
                    <a:moveTo>
                      <a:pt x="0" y="0"/>
                    </a:moveTo>
                    <a:cubicBezTo>
                      <a:pt x="5587" y="40199"/>
                      <a:pt x="37384" y="71688"/>
                      <a:pt x="77636" y="76881"/>
                    </a:cubicBezTo>
                    <a:cubicBezTo>
                      <a:pt x="117888" y="82075"/>
                      <a:pt x="156637" y="59689"/>
                      <a:pt x="172244" y="22225"/>
                    </a:cubicBezTo>
                    <a:moveTo>
                      <a:pt x="177801" y="66675"/>
                    </a:moveTo>
                    <a:lnTo>
                      <a:pt x="177801" y="22225"/>
                    </a:lnTo>
                    <a:lnTo>
                      <a:pt x="133350" y="22225"/>
                    </a:lnTo>
                  </a:path>
                </a:pathLst>
              </a:custGeom>
              <a:noFill/>
              <a:ln w="22225">
                <a:solidFill>
                  <a:srgbClr val="A8351D"/>
                </a:solidFill>
              </a:ln>
            </p:spPr>
          </p:sp>
        </p:grpSp>
        <p:sp>
          <p:nvSpPr>
            <p:cNvPr id="263" name="TextBox 263"/>
            <p:cNvSpPr txBox="1"/>
            <p:nvPr/>
          </p:nvSpPr>
          <p:spPr>
            <a:xfrm>
              <a:off x="9258300" y="5748338"/>
              <a:ext cx="514350"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转介完成率</a:t>
              </a:r>
            </a:p>
          </p:txBody>
        </p:sp>
        <p:sp>
          <p:nvSpPr>
            <p:cNvPr id="264" name="Rectangle 264"/>
            <p:cNvSpPr/>
            <p:nvPr/>
          </p:nvSpPr>
          <p:spPr>
            <a:xfrm>
              <a:off x="10001250" y="5048250"/>
              <a:ext cx="819150" cy="1047750"/>
            </a:xfrm>
            <a:prstGeom prst="roundRect">
              <a:avLst>
                <a:gd name="adj" fmla="val 6977"/>
              </a:avLst>
            </a:prstGeom>
            <a:solidFill>
              <a:srgbClr val="FFFFFF"/>
            </a:solidFill>
            <a:ln w="9525">
              <a:solidFill>
                <a:srgbClr val="C9D8EF"/>
              </a:solidFill>
            </a:ln>
          </p:spPr>
        </p:sp>
        <p:grpSp>
          <p:nvGrpSpPr>
            <p:cNvPr id="269" name="Group 269"/>
            <p:cNvGrpSpPr/>
            <p:nvPr/>
          </p:nvGrpSpPr>
          <p:grpSpPr>
            <a:xfrm>
              <a:off x="10310813" y="5283200"/>
              <a:ext cx="200026" cy="177800"/>
              <a:chOff x="10310813" y="5283200"/>
              <a:chExt cx="200026" cy="177800"/>
            </a:xfrm>
          </p:grpSpPr>
          <p:sp>
            <p:nvSpPr>
              <p:cNvPr id="265" name="Freeform 265"/>
              <p:cNvSpPr/>
              <p:nvPr/>
            </p:nvSpPr>
            <p:spPr>
              <a:xfrm>
                <a:off x="10310813" y="5316538"/>
                <a:ext cx="200026" cy="9525"/>
              </a:xfrm>
              <a:custGeom>
                <a:avLst/>
                <a:gdLst/>
                <a:ahLst/>
                <a:cxnLst/>
                <a:rect l="l" t="t" r="r" b="b"/>
                <a:pathLst>
                  <a:path w="200026" h="9525">
                    <a:moveTo>
                      <a:pt x="200026" y="0"/>
                    </a:moveTo>
                    <a:lnTo>
                      <a:pt x="0" y="0"/>
                    </a:lnTo>
                  </a:path>
                </a:pathLst>
              </a:custGeom>
              <a:noFill/>
              <a:ln w="22225">
                <a:solidFill>
                  <a:srgbClr val="A8351D"/>
                </a:solidFill>
              </a:ln>
            </p:spPr>
          </p:sp>
          <p:sp>
            <p:nvSpPr>
              <p:cNvPr id="266" name="Freeform 266"/>
              <p:cNvSpPr/>
              <p:nvPr/>
            </p:nvSpPr>
            <p:spPr>
              <a:xfrm>
                <a:off x="10477501" y="5283200"/>
                <a:ext cx="33338" cy="66675"/>
              </a:xfrm>
              <a:custGeom>
                <a:avLst/>
                <a:gdLst/>
                <a:ahLst/>
                <a:cxnLst/>
                <a:rect l="l" t="t" r="r" b="b"/>
                <a:pathLst>
                  <a:path w="33338" h="66675">
                    <a:moveTo>
                      <a:pt x="0" y="66675"/>
                    </a:moveTo>
                    <a:lnTo>
                      <a:pt x="33338" y="33338"/>
                    </a:lnTo>
                    <a:lnTo>
                      <a:pt x="0" y="0"/>
                    </a:lnTo>
                  </a:path>
                </a:pathLst>
              </a:custGeom>
              <a:noFill/>
              <a:ln w="22225">
                <a:solidFill>
                  <a:srgbClr val="A8351D"/>
                </a:solidFill>
              </a:ln>
            </p:spPr>
          </p:sp>
          <p:sp>
            <p:nvSpPr>
              <p:cNvPr id="267" name="Freeform 267"/>
              <p:cNvSpPr/>
              <p:nvPr/>
            </p:nvSpPr>
            <p:spPr>
              <a:xfrm>
                <a:off x="10310813" y="5394325"/>
                <a:ext cx="33338" cy="66675"/>
              </a:xfrm>
              <a:custGeom>
                <a:avLst/>
                <a:gdLst/>
                <a:ahLst/>
                <a:cxnLst/>
                <a:rect l="l" t="t" r="r" b="b"/>
                <a:pathLst>
                  <a:path w="33338" h="66675">
                    <a:moveTo>
                      <a:pt x="33338" y="66675"/>
                    </a:moveTo>
                    <a:lnTo>
                      <a:pt x="0" y="33338"/>
                    </a:lnTo>
                    <a:lnTo>
                      <a:pt x="33338" y="0"/>
                    </a:lnTo>
                  </a:path>
                </a:pathLst>
              </a:custGeom>
              <a:noFill/>
              <a:ln w="22225">
                <a:solidFill>
                  <a:srgbClr val="A8351D"/>
                </a:solidFill>
              </a:ln>
            </p:spPr>
          </p:sp>
          <p:sp>
            <p:nvSpPr>
              <p:cNvPr id="268" name="Freeform 268"/>
              <p:cNvSpPr/>
              <p:nvPr/>
            </p:nvSpPr>
            <p:spPr>
              <a:xfrm>
                <a:off x="10310813" y="5427663"/>
                <a:ext cx="200026" cy="9525"/>
              </a:xfrm>
              <a:custGeom>
                <a:avLst/>
                <a:gdLst/>
                <a:ahLst/>
                <a:cxnLst/>
                <a:rect l="l" t="t" r="r" b="b"/>
                <a:pathLst>
                  <a:path w="200026" h="9525">
                    <a:moveTo>
                      <a:pt x="0" y="0"/>
                    </a:moveTo>
                    <a:lnTo>
                      <a:pt x="200026" y="0"/>
                    </a:lnTo>
                  </a:path>
                </a:pathLst>
              </a:custGeom>
              <a:noFill/>
              <a:ln w="22225">
                <a:solidFill>
                  <a:srgbClr val="A8351D"/>
                </a:solidFill>
              </a:ln>
            </p:spPr>
          </p:sp>
        </p:grpSp>
        <p:sp>
          <p:nvSpPr>
            <p:cNvPr id="270" name="TextBox 270"/>
            <p:cNvSpPr txBox="1"/>
            <p:nvPr/>
          </p:nvSpPr>
          <p:spPr>
            <a:xfrm>
              <a:off x="10103168" y="5748338"/>
              <a:ext cx="615315"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跨条线转化率</a:t>
              </a:r>
            </a:p>
          </p:txBody>
        </p:sp>
        <p:sp>
          <p:nvSpPr>
            <p:cNvPr id="271" name="Rectangle 271"/>
            <p:cNvSpPr/>
            <p:nvPr/>
          </p:nvSpPr>
          <p:spPr>
            <a:xfrm>
              <a:off x="10896600" y="5048250"/>
              <a:ext cx="819150" cy="1047750"/>
            </a:xfrm>
            <a:prstGeom prst="roundRect">
              <a:avLst>
                <a:gd name="adj" fmla="val 6977"/>
              </a:avLst>
            </a:prstGeom>
            <a:solidFill>
              <a:srgbClr val="FFFFFF"/>
            </a:solidFill>
            <a:ln w="9525">
              <a:solidFill>
                <a:srgbClr val="C9D8EF"/>
              </a:solidFill>
            </a:ln>
          </p:spPr>
        </p:sp>
        <p:grpSp>
          <p:nvGrpSpPr>
            <p:cNvPr id="275" name="Group 275"/>
            <p:cNvGrpSpPr/>
            <p:nvPr/>
          </p:nvGrpSpPr>
          <p:grpSpPr>
            <a:xfrm>
              <a:off x="11239500" y="5272088"/>
              <a:ext cx="178093" cy="211412"/>
              <a:chOff x="11239500" y="5272088"/>
              <a:chExt cx="178093" cy="211412"/>
            </a:xfrm>
          </p:grpSpPr>
          <p:sp>
            <p:nvSpPr>
              <p:cNvPr id="272" name="Freeform 272"/>
              <p:cNvSpPr/>
              <p:nvPr/>
            </p:nvSpPr>
            <p:spPr>
              <a:xfrm>
                <a:off x="11261725" y="52720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A8351D"/>
                </a:solidFill>
              </a:ln>
            </p:spPr>
          </p:sp>
          <p:sp>
            <p:nvSpPr>
              <p:cNvPr id="273" name="Freeform 273"/>
              <p:cNvSpPr/>
              <p:nvPr/>
            </p:nvSpPr>
            <p:spPr>
              <a:xfrm>
                <a:off x="11239500" y="5405438"/>
                <a:ext cx="50006" cy="66675"/>
              </a:xfrm>
              <a:custGeom>
                <a:avLst/>
                <a:gdLst/>
                <a:ahLst/>
                <a:cxnLst/>
                <a:rect l="l" t="t" r="r" b="b"/>
                <a:pathLst>
                  <a:path w="50006" h="66675">
                    <a:moveTo>
                      <a:pt x="0" y="66675"/>
                    </a:moveTo>
                    <a:lnTo>
                      <a:pt x="0" y="44450"/>
                    </a:lnTo>
                    <a:cubicBezTo>
                      <a:pt x="0" y="19901"/>
                      <a:pt x="19901" y="0"/>
                      <a:pt x="44450" y="0"/>
                    </a:cubicBezTo>
                    <a:lnTo>
                      <a:pt x="50006" y="0"/>
                    </a:lnTo>
                  </a:path>
                </a:pathLst>
              </a:custGeom>
              <a:noFill/>
              <a:ln w="22225">
                <a:solidFill>
                  <a:srgbClr val="A8351D"/>
                </a:solidFill>
              </a:ln>
            </p:spPr>
          </p:sp>
          <p:sp>
            <p:nvSpPr>
              <p:cNvPr id="274" name="Freeform 274"/>
              <p:cNvSpPr/>
              <p:nvPr/>
            </p:nvSpPr>
            <p:spPr>
              <a:xfrm>
                <a:off x="11323649" y="5394320"/>
                <a:ext cx="93944" cy="89180"/>
              </a:xfrm>
              <a:custGeom>
                <a:avLst/>
                <a:gdLst/>
                <a:ahLst/>
                <a:cxnLst/>
                <a:rect l="l" t="t" r="r" b="b"/>
                <a:pathLst>
                  <a:path w="93944" h="89180">
                    <a:moveTo>
                      <a:pt x="46979" y="75759"/>
                    </a:moveTo>
                    <a:lnTo>
                      <a:pt x="22843" y="88405"/>
                    </a:lnTo>
                    <a:cubicBezTo>
                      <a:pt x="21382" y="89166"/>
                      <a:pt x="19618" y="89037"/>
                      <a:pt x="18282" y="88073"/>
                    </a:cubicBezTo>
                    <a:cubicBezTo>
                      <a:pt x="16947" y="87109"/>
                      <a:pt x="16269" y="85475"/>
                      <a:pt x="16531" y="83849"/>
                    </a:cubicBezTo>
                    <a:lnTo>
                      <a:pt x="21143" y="57057"/>
                    </a:lnTo>
                    <a:lnTo>
                      <a:pt x="1618" y="38088"/>
                    </a:lnTo>
                    <a:cubicBezTo>
                      <a:pt x="429" y="36938"/>
                      <a:pt x="0" y="35211"/>
                      <a:pt x="513" y="33639"/>
                    </a:cubicBezTo>
                    <a:cubicBezTo>
                      <a:pt x="1026" y="32067"/>
                      <a:pt x="2391" y="30925"/>
                      <a:pt x="4029" y="30698"/>
                    </a:cubicBezTo>
                    <a:lnTo>
                      <a:pt x="31011" y="26786"/>
                    </a:lnTo>
                    <a:lnTo>
                      <a:pt x="43079" y="2417"/>
                    </a:lnTo>
                    <a:cubicBezTo>
                      <a:pt x="43815" y="936"/>
                      <a:pt x="45326" y="0"/>
                      <a:pt x="46979" y="0"/>
                    </a:cubicBezTo>
                    <a:cubicBezTo>
                      <a:pt x="48633" y="0"/>
                      <a:pt x="50144" y="936"/>
                      <a:pt x="50880" y="2417"/>
                    </a:cubicBezTo>
                    <a:lnTo>
                      <a:pt x="62948" y="26786"/>
                    </a:lnTo>
                    <a:lnTo>
                      <a:pt x="89929" y="30698"/>
                    </a:lnTo>
                    <a:cubicBezTo>
                      <a:pt x="91562" y="30933"/>
                      <a:pt x="92920" y="32075"/>
                      <a:pt x="93432" y="33643"/>
                    </a:cubicBezTo>
                    <a:cubicBezTo>
                      <a:pt x="93944" y="35212"/>
                      <a:pt x="93521" y="36935"/>
                      <a:pt x="92341" y="38088"/>
                    </a:cubicBezTo>
                    <a:lnTo>
                      <a:pt x="72816" y="57057"/>
                    </a:lnTo>
                    <a:lnTo>
                      <a:pt x="77417" y="83838"/>
                    </a:lnTo>
                    <a:cubicBezTo>
                      <a:pt x="77698" y="85467"/>
                      <a:pt x="77028" y="87115"/>
                      <a:pt x="75690" y="88085"/>
                    </a:cubicBezTo>
                    <a:cubicBezTo>
                      <a:pt x="74351" y="89056"/>
                      <a:pt x="72577" y="89180"/>
                      <a:pt x="71116" y="88405"/>
                    </a:cubicBezTo>
                    <a:lnTo>
                      <a:pt x="46979" y="75759"/>
                    </a:lnTo>
                  </a:path>
                </a:pathLst>
              </a:custGeom>
              <a:noFill/>
              <a:ln w="22225">
                <a:solidFill>
                  <a:srgbClr val="A8351D"/>
                </a:solidFill>
              </a:ln>
            </p:spPr>
          </p:sp>
        </p:grpSp>
        <p:sp>
          <p:nvSpPr>
            <p:cNvPr id="276" name="TextBox 276"/>
            <p:cNvSpPr txBox="1"/>
            <p:nvPr/>
          </p:nvSpPr>
          <p:spPr>
            <a:xfrm>
              <a:off x="10998518" y="5748338"/>
              <a:ext cx="615315"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客户综合贡献</a:t>
              </a:r>
            </a:p>
          </p:txBody>
        </p:sp>
      </p:gr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16</a:t>
              </a:r>
            </a:p>
          </p:txBody>
        </p:sp>
        <p:sp>
          <p:nvSpPr>
            <p:cNvPr id="4" name="TextBox 4"/>
            <p:cNvSpPr txBox="1"/>
            <p:nvPr/>
          </p:nvSpPr>
          <p:spPr>
            <a:xfrm>
              <a:off x="904494" y="170498"/>
              <a:ext cx="6954012"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经营驾驶舱｜用一张图穿透客户、机构、队伍与战役进度</a:t>
              </a:r>
            </a:p>
          </p:txBody>
        </p:sp>
        <p:sp>
          <p:nvSpPr>
            <p:cNvPr id="5" name="TextBox 5"/>
            <p:cNvSpPr txBox="1"/>
            <p:nvPr/>
          </p:nvSpPr>
          <p:spPr>
            <a:xfrm>
              <a:off x="11326584" y="291941"/>
              <a:ext cx="451079" cy="161925"/>
            </a:xfrm>
            <a:prstGeom prst="rect">
              <a:avLst/>
            </a:prstGeom>
            <a:noFill/>
            <a:ln>
              <a:noFill/>
            </a:ln>
          </p:spPr>
          <p:txBody>
            <a:bodyPr wrap="none" lIns="0" tIns="0" rIns="0" bIns="0" anchor="t" anchorCtr="0">
              <a:spAutoFit/>
            </a:bodyPr>
            <a:lstStyle/>
            <a:p>
              <a:pPr algn="r"/>
              <a:r>
                <a:rPr lang="zh-CN" sz="820" dirty="0">
                  <a:solidFill>
                    <a:srgbClr val="8A94A8"/>
                  </a:solidFill>
                  <a:latin typeface="+mn-lt"/>
                  <a:ea typeface="+mn-ea"/>
                  <a:cs typeface="+mn-cs"/>
                </a:rPr>
                <a:t>示意数据</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59" name="kpi-strip"/>
          <p:cNvGrpSpPr/>
          <p:nvPr/>
        </p:nvGrpSpPr>
        <p:grpSpPr>
          <a:xfrm>
            <a:off x="381000" y="704850"/>
            <a:ext cx="11430000" cy="729234"/>
            <a:chOff x="381000" y="704850"/>
            <a:chExt cx="11430000" cy="729234"/>
          </a:xfrm>
        </p:grpSpPr>
        <p:sp>
          <p:nvSpPr>
            <p:cNvPr id="8" name="Rectangle 8"/>
            <p:cNvSpPr/>
            <p:nvPr/>
          </p:nvSpPr>
          <p:spPr>
            <a:xfrm>
              <a:off x="381000" y="704850"/>
              <a:ext cx="1809750" cy="723900"/>
            </a:xfrm>
            <a:prstGeom prst="roundRect">
              <a:avLst>
                <a:gd name="adj" fmla="val 10526"/>
              </a:avLst>
            </a:prstGeom>
            <a:solidFill>
              <a:srgbClr val="F9FBFE"/>
            </a:solidFill>
            <a:ln w="9525">
              <a:solidFill>
                <a:srgbClr val="C9D8EF"/>
              </a:solidFill>
            </a:ln>
          </p:spPr>
        </p:sp>
        <p:grpSp>
          <p:nvGrpSpPr>
            <p:cNvPr id="15" name="Group 15"/>
            <p:cNvGrpSpPr/>
            <p:nvPr/>
          </p:nvGrpSpPr>
          <p:grpSpPr>
            <a:xfrm>
              <a:off x="528638" y="966788"/>
              <a:ext cx="200025" cy="200026"/>
              <a:chOff x="528638" y="966788"/>
              <a:chExt cx="200025" cy="200026"/>
            </a:xfrm>
          </p:grpSpPr>
          <p:sp>
            <p:nvSpPr>
              <p:cNvPr id="9" name="Freeform 9"/>
              <p:cNvSpPr/>
              <p:nvPr/>
            </p:nvSpPr>
            <p:spPr>
              <a:xfrm>
                <a:off x="606425" y="10556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A8351D"/>
                </a:solidFill>
              </a:ln>
            </p:spPr>
          </p:sp>
          <p:sp>
            <p:nvSpPr>
              <p:cNvPr id="10" name="Freeform 10"/>
              <p:cNvSpPr/>
              <p:nvPr/>
            </p:nvSpPr>
            <p:spPr>
              <a:xfrm>
                <a:off x="584200" y="113347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A8351D"/>
                </a:solidFill>
              </a:ln>
            </p:spPr>
          </p:sp>
          <p:sp>
            <p:nvSpPr>
              <p:cNvPr id="11" name="Freeform 11"/>
              <p:cNvSpPr/>
              <p:nvPr/>
            </p:nvSpPr>
            <p:spPr>
              <a:xfrm>
                <a:off x="661988" y="9667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A8351D"/>
                </a:solidFill>
              </a:ln>
            </p:spPr>
          </p:sp>
          <p:sp>
            <p:nvSpPr>
              <p:cNvPr id="12" name="Freeform 12"/>
              <p:cNvSpPr/>
              <p:nvPr/>
            </p:nvSpPr>
            <p:spPr>
              <a:xfrm>
                <a:off x="684213" y="104457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A8351D"/>
                </a:solidFill>
              </a:ln>
            </p:spPr>
          </p:sp>
          <p:sp>
            <p:nvSpPr>
              <p:cNvPr id="13" name="Freeform 13"/>
              <p:cNvSpPr/>
              <p:nvPr/>
            </p:nvSpPr>
            <p:spPr>
              <a:xfrm>
                <a:off x="550863" y="9667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A8351D"/>
                </a:solidFill>
              </a:ln>
            </p:spPr>
          </p:sp>
          <p:sp>
            <p:nvSpPr>
              <p:cNvPr id="14" name="Freeform 14"/>
              <p:cNvSpPr/>
              <p:nvPr/>
            </p:nvSpPr>
            <p:spPr>
              <a:xfrm>
                <a:off x="528638" y="104457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A8351D"/>
                </a:solidFill>
              </a:ln>
            </p:spPr>
          </p:sp>
        </p:grpSp>
        <p:sp>
          <p:nvSpPr>
            <p:cNvPr id="16" name="TextBox 16"/>
            <p:cNvSpPr txBox="1"/>
            <p:nvPr/>
          </p:nvSpPr>
          <p:spPr>
            <a:xfrm>
              <a:off x="909638" y="834866"/>
              <a:ext cx="561467"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联动覆盖率</a:t>
              </a:r>
            </a:p>
          </p:txBody>
        </p:sp>
        <p:sp>
          <p:nvSpPr>
            <p:cNvPr id="17" name="TextBox 17"/>
            <p:cNvSpPr txBox="1"/>
            <p:nvPr/>
          </p:nvSpPr>
          <p:spPr>
            <a:xfrm>
              <a:off x="905256" y="1082040"/>
              <a:ext cx="673450" cy="352044"/>
            </a:xfrm>
            <a:prstGeom prst="rect">
              <a:avLst/>
            </a:prstGeom>
            <a:noFill/>
            <a:ln>
              <a:noFill/>
            </a:ln>
          </p:spPr>
          <p:txBody>
            <a:bodyPr wrap="none" lIns="0" tIns="0" rIns="0" bIns="0" anchor="t" anchorCtr="0">
              <a:spAutoFit/>
            </a:bodyPr>
            <a:lstStyle/>
            <a:p>
              <a:pPr algn="l"/>
              <a:r>
                <a:rPr lang="zh-CN" sz="1800" b="1" dirty="0">
                  <a:solidFill>
                    <a:srgbClr val="C9462F"/>
                  </a:solidFill>
                  <a:latin typeface="+mn-lt"/>
                  <a:ea typeface="+mn-ea"/>
                  <a:cs typeface="+mn-cs"/>
                </a:rPr>
                <a:t>85</a:t>
              </a:r>
              <a:r>
                <a:rPr lang="zh-CN" sz="900" b="1" dirty="0">
                  <a:solidFill>
                    <a:srgbClr val="C9462F"/>
                  </a:solidFill>
                  <a:latin typeface="+mn-lt"/>
                  <a:ea typeface="+mn-ea"/>
                  <a:cs typeface="+mn-cs"/>
                </a:rPr>
                <a:t>%</a:t>
              </a:r>
              <a:r>
                <a:rPr lang="zh-CN" sz="1800" b="1" dirty="0">
                  <a:solidFill>
                    <a:srgbClr val="C9462F"/>
                  </a:solidFill>
                  <a:latin typeface="+mn-lt"/>
                  <a:ea typeface="+mn-ea"/>
                  <a:cs typeface="+mn-cs"/>
                </a:rPr>
                <a:t>​​</a:t>
              </a:r>
            </a:p>
          </p:txBody>
        </p:sp>
        <p:sp>
          <p:nvSpPr>
            <p:cNvPr id="18" name="Rectangle 18"/>
            <p:cNvSpPr/>
            <p:nvPr/>
          </p:nvSpPr>
          <p:spPr>
            <a:xfrm>
              <a:off x="2305050" y="704850"/>
              <a:ext cx="1809750" cy="723900"/>
            </a:xfrm>
            <a:prstGeom prst="roundRect">
              <a:avLst>
                <a:gd name="adj" fmla="val 10526"/>
              </a:avLst>
            </a:prstGeom>
            <a:solidFill>
              <a:srgbClr val="F9FBFE"/>
            </a:solidFill>
            <a:ln w="9525">
              <a:solidFill>
                <a:srgbClr val="C9D8EF"/>
              </a:solidFill>
            </a:ln>
          </p:spPr>
        </p:sp>
        <p:grpSp>
          <p:nvGrpSpPr>
            <p:cNvPr id="24" name="Group 24"/>
            <p:cNvGrpSpPr/>
            <p:nvPr/>
          </p:nvGrpSpPr>
          <p:grpSpPr>
            <a:xfrm>
              <a:off x="2452688" y="977900"/>
              <a:ext cx="200026" cy="177801"/>
              <a:chOff x="2452688" y="977900"/>
              <a:chExt cx="200026" cy="177801"/>
            </a:xfrm>
          </p:grpSpPr>
          <p:sp>
            <p:nvSpPr>
              <p:cNvPr id="19" name="Freeform 19"/>
              <p:cNvSpPr/>
              <p:nvPr/>
            </p:nvSpPr>
            <p:spPr>
              <a:xfrm>
                <a:off x="2452688" y="977900"/>
                <a:ext cx="200026" cy="177801"/>
              </a:xfrm>
              <a:custGeom>
                <a:avLst/>
                <a:gdLst/>
                <a:ahLst/>
                <a:cxnLst/>
                <a:rect l="l" t="t" r="r" b="b"/>
                <a:pathLst>
                  <a:path w="200026" h="177801">
                    <a:moveTo>
                      <a:pt x="0" y="33338"/>
                    </a:moveTo>
                    <a:cubicBezTo>
                      <a:pt x="0" y="14926"/>
                      <a:pt x="14926" y="0"/>
                      <a:pt x="33338" y="0"/>
                    </a:cubicBezTo>
                    <a:lnTo>
                      <a:pt x="166688" y="0"/>
                    </a:lnTo>
                    <a:cubicBezTo>
                      <a:pt x="185100" y="0"/>
                      <a:pt x="200026" y="14926"/>
                      <a:pt x="200026" y="33338"/>
                    </a:cubicBezTo>
                    <a:lnTo>
                      <a:pt x="200026" y="144463"/>
                    </a:lnTo>
                    <a:cubicBezTo>
                      <a:pt x="200026" y="162875"/>
                      <a:pt x="185100" y="177801"/>
                      <a:pt x="166688" y="177801"/>
                    </a:cubicBezTo>
                    <a:lnTo>
                      <a:pt x="33338" y="177801"/>
                    </a:lnTo>
                    <a:cubicBezTo>
                      <a:pt x="14926" y="177801"/>
                      <a:pt x="0" y="162875"/>
                      <a:pt x="0" y="144463"/>
                    </a:cubicBezTo>
                    <a:lnTo>
                      <a:pt x="0" y="33338"/>
                    </a:lnTo>
                  </a:path>
                </a:pathLst>
              </a:custGeom>
              <a:noFill/>
              <a:ln w="22225">
                <a:solidFill>
                  <a:srgbClr val="A8351D"/>
                </a:solidFill>
              </a:ln>
            </p:spPr>
          </p:sp>
          <p:sp>
            <p:nvSpPr>
              <p:cNvPr id="20" name="Freeform 20"/>
              <p:cNvSpPr/>
              <p:nvPr/>
            </p:nvSpPr>
            <p:spPr>
              <a:xfrm>
                <a:off x="2497138" y="102235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A8351D"/>
                </a:solidFill>
              </a:ln>
            </p:spPr>
          </p:sp>
          <p:sp>
            <p:nvSpPr>
              <p:cNvPr id="21" name="Freeform 21"/>
              <p:cNvSpPr/>
              <p:nvPr/>
            </p:nvSpPr>
            <p:spPr>
              <a:xfrm>
                <a:off x="2586038" y="1022350"/>
                <a:ext cx="22225" cy="9525"/>
              </a:xfrm>
              <a:custGeom>
                <a:avLst/>
                <a:gdLst/>
                <a:ahLst/>
                <a:cxnLst/>
                <a:rect l="l" t="t" r="r" b="b"/>
                <a:pathLst>
                  <a:path w="22225" h="9525">
                    <a:moveTo>
                      <a:pt x="0" y="0"/>
                    </a:moveTo>
                    <a:lnTo>
                      <a:pt x="22225" y="0"/>
                    </a:lnTo>
                  </a:path>
                </a:pathLst>
              </a:custGeom>
              <a:noFill/>
              <a:ln w="22225">
                <a:solidFill>
                  <a:srgbClr val="A8351D"/>
                </a:solidFill>
              </a:ln>
            </p:spPr>
          </p:sp>
          <p:sp>
            <p:nvSpPr>
              <p:cNvPr id="22" name="Freeform 22"/>
              <p:cNvSpPr/>
              <p:nvPr/>
            </p:nvSpPr>
            <p:spPr>
              <a:xfrm>
                <a:off x="2586038" y="1066800"/>
                <a:ext cx="22225" cy="9525"/>
              </a:xfrm>
              <a:custGeom>
                <a:avLst/>
                <a:gdLst/>
                <a:ahLst/>
                <a:cxnLst/>
                <a:rect l="l" t="t" r="r" b="b"/>
                <a:pathLst>
                  <a:path w="22225" h="9525">
                    <a:moveTo>
                      <a:pt x="0" y="0"/>
                    </a:moveTo>
                    <a:lnTo>
                      <a:pt x="22225" y="0"/>
                    </a:lnTo>
                  </a:path>
                </a:pathLst>
              </a:custGeom>
              <a:noFill/>
              <a:ln w="22225">
                <a:solidFill>
                  <a:srgbClr val="A8351D"/>
                </a:solidFill>
              </a:ln>
            </p:spPr>
          </p:sp>
          <p:sp>
            <p:nvSpPr>
              <p:cNvPr id="23" name="Freeform 23"/>
              <p:cNvSpPr/>
              <p:nvPr/>
            </p:nvSpPr>
            <p:spPr>
              <a:xfrm>
                <a:off x="2497138" y="1111251"/>
                <a:ext cx="111125" cy="9525"/>
              </a:xfrm>
              <a:custGeom>
                <a:avLst/>
                <a:gdLst/>
                <a:ahLst/>
                <a:cxnLst/>
                <a:rect l="l" t="t" r="r" b="b"/>
                <a:pathLst>
                  <a:path w="111125" h="9525">
                    <a:moveTo>
                      <a:pt x="0" y="0"/>
                    </a:moveTo>
                    <a:lnTo>
                      <a:pt x="111125" y="0"/>
                    </a:lnTo>
                  </a:path>
                </a:pathLst>
              </a:custGeom>
              <a:noFill/>
              <a:ln w="22225">
                <a:solidFill>
                  <a:srgbClr val="A8351D"/>
                </a:solidFill>
              </a:ln>
            </p:spPr>
          </p:sp>
        </p:grpSp>
        <p:sp>
          <p:nvSpPr>
            <p:cNvPr id="25" name="TextBox 25"/>
            <p:cNvSpPr txBox="1"/>
            <p:nvPr/>
          </p:nvSpPr>
          <p:spPr>
            <a:xfrm>
              <a:off x="2833688" y="834866"/>
              <a:ext cx="561467"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代发渗透率</a:t>
              </a:r>
            </a:p>
          </p:txBody>
        </p:sp>
        <p:sp>
          <p:nvSpPr>
            <p:cNvPr id="26" name="TextBox 26"/>
            <p:cNvSpPr txBox="1"/>
            <p:nvPr/>
          </p:nvSpPr>
          <p:spPr>
            <a:xfrm>
              <a:off x="2829306" y="1082040"/>
              <a:ext cx="673450" cy="352044"/>
            </a:xfrm>
            <a:prstGeom prst="rect">
              <a:avLst/>
            </a:prstGeom>
            <a:noFill/>
            <a:ln>
              <a:noFill/>
            </a:ln>
          </p:spPr>
          <p:txBody>
            <a:bodyPr wrap="none" lIns="0" tIns="0" rIns="0" bIns="0" anchor="t" anchorCtr="0">
              <a:spAutoFit/>
            </a:bodyPr>
            <a:lstStyle/>
            <a:p>
              <a:pPr algn="l"/>
              <a:r>
                <a:rPr lang="zh-CN" sz="1800" b="1" dirty="0">
                  <a:solidFill>
                    <a:srgbClr val="C9462F"/>
                  </a:solidFill>
                  <a:latin typeface="+mn-lt"/>
                  <a:ea typeface="+mn-ea"/>
                  <a:cs typeface="+mn-cs"/>
                </a:rPr>
                <a:t>35</a:t>
              </a:r>
              <a:r>
                <a:rPr lang="zh-CN" sz="900" b="1" dirty="0">
                  <a:solidFill>
                    <a:srgbClr val="C9462F"/>
                  </a:solidFill>
                  <a:latin typeface="+mn-lt"/>
                  <a:ea typeface="+mn-ea"/>
                  <a:cs typeface="+mn-cs"/>
                </a:rPr>
                <a:t>%</a:t>
              </a:r>
              <a:r>
                <a:rPr lang="zh-CN" sz="1800" b="1" dirty="0">
                  <a:solidFill>
                    <a:srgbClr val="C9462F"/>
                  </a:solidFill>
                  <a:latin typeface="+mn-lt"/>
                  <a:ea typeface="+mn-ea"/>
                  <a:cs typeface="+mn-cs"/>
                </a:rPr>
                <a:t>​​</a:t>
              </a:r>
            </a:p>
          </p:txBody>
        </p:sp>
        <p:sp>
          <p:nvSpPr>
            <p:cNvPr id="27" name="Rectangle 27"/>
            <p:cNvSpPr/>
            <p:nvPr/>
          </p:nvSpPr>
          <p:spPr>
            <a:xfrm>
              <a:off x="4229100" y="704850"/>
              <a:ext cx="1809750" cy="723900"/>
            </a:xfrm>
            <a:prstGeom prst="roundRect">
              <a:avLst>
                <a:gd name="adj" fmla="val 10526"/>
              </a:avLst>
            </a:prstGeom>
            <a:solidFill>
              <a:srgbClr val="F9FBFE"/>
            </a:solidFill>
            <a:ln w="9525">
              <a:solidFill>
                <a:srgbClr val="C9D8EF"/>
              </a:solidFill>
            </a:ln>
          </p:spPr>
        </p:sp>
        <p:grpSp>
          <p:nvGrpSpPr>
            <p:cNvPr id="31" name="Group 31"/>
            <p:cNvGrpSpPr/>
            <p:nvPr/>
          </p:nvGrpSpPr>
          <p:grpSpPr>
            <a:xfrm>
              <a:off x="4410075" y="966788"/>
              <a:ext cx="166688" cy="200025"/>
              <a:chOff x="4410075" y="966788"/>
              <a:chExt cx="166688" cy="200025"/>
            </a:xfrm>
          </p:grpSpPr>
          <p:sp>
            <p:nvSpPr>
              <p:cNvPr id="28" name="Freeform 28"/>
              <p:cNvSpPr/>
              <p:nvPr/>
            </p:nvSpPr>
            <p:spPr>
              <a:xfrm>
                <a:off x="4432300" y="9667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A8351D"/>
                </a:solidFill>
              </a:ln>
            </p:spPr>
          </p:sp>
          <p:sp>
            <p:nvSpPr>
              <p:cNvPr id="29" name="Freeform 29"/>
              <p:cNvSpPr/>
              <p:nvPr/>
            </p:nvSpPr>
            <p:spPr>
              <a:xfrm>
                <a:off x="4410075" y="110013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A8351D"/>
                </a:solidFill>
              </a:ln>
            </p:spPr>
          </p:sp>
          <p:sp>
            <p:nvSpPr>
              <p:cNvPr id="30" name="Freeform 30"/>
              <p:cNvSpPr/>
              <p:nvPr/>
            </p:nvSpPr>
            <p:spPr>
              <a:xfrm>
                <a:off x="4510088" y="1122363"/>
                <a:ext cx="66675" cy="44450"/>
              </a:xfrm>
              <a:custGeom>
                <a:avLst/>
                <a:gdLst/>
                <a:ahLst/>
                <a:cxnLst/>
                <a:rect l="l" t="t" r="r" b="b"/>
                <a:pathLst>
                  <a:path w="66675" h="44450">
                    <a:moveTo>
                      <a:pt x="0" y="22225"/>
                    </a:moveTo>
                    <a:lnTo>
                      <a:pt x="22225" y="44450"/>
                    </a:lnTo>
                    <a:lnTo>
                      <a:pt x="66675" y="0"/>
                    </a:lnTo>
                  </a:path>
                </a:pathLst>
              </a:custGeom>
              <a:noFill/>
              <a:ln w="22225">
                <a:solidFill>
                  <a:srgbClr val="A8351D"/>
                </a:solidFill>
              </a:ln>
            </p:spPr>
          </p:sp>
        </p:grpSp>
        <p:sp>
          <p:nvSpPr>
            <p:cNvPr id="32" name="TextBox 32"/>
            <p:cNvSpPr txBox="1"/>
            <p:nvPr/>
          </p:nvSpPr>
          <p:spPr>
            <a:xfrm>
              <a:off x="4757738" y="834866"/>
              <a:ext cx="561467"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员工激活率</a:t>
              </a:r>
            </a:p>
          </p:txBody>
        </p:sp>
        <p:sp>
          <p:nvSpPr>
            <p:cNvPr id="33" name="TextBox 33"/>
            <p:cNvSpPr txBox="1"/>
            <p:nvPr/>
          </p:nvSpPr>
          <p:spPr>
            <a:xfrm>
              <a:off x="4753356" y="1082040"/>
              <a:ext cx="673450" cy="352044"/>
            </a:xfrm>
            <a:prstGeom prst="rect">
              <a:avLst/>
            </a:prstGeom>
            <a:noFill/>
            <a:ln>
              <a:noFill/>
            </a:ln>
          </p:spPr>
          <p:txBody>
            <a:bodyPr wrap="none" lIns="0" tIns="0" rIns="0" bIns="0" anchor="t" anchorCtr="0">
              <a:spAutoFit/>
            </a:bodyPr>
            <a:lstStyle/>
            <a:p>
              <a:pPr algn="l"/>
              <a:r>
                <a:rPr lang="zh-CN" sz="1800" b="1" dirty="0">
                  <a:solidFill>
                    <a:srgbClr val="C9462F"/>
                  </a:solidFill>
                  <a:latin typeface="+mn-lt"/>
                  <a:ea typeface="+mn-ea"/>
                  <a:cs typeface="+mn-cs"/>
                </a:rPr>
                <a:t>68</a:t>
              </a:r>
              <a:r>
                <a:rPr lang="zh-CN" sz="900" b="1" dirty="0">
                  <a:solidFill>
                    <a:srgbClr val="C9462F"/>
                  </a:solidFill>
                  <a:latin typeface="+mn-lt"/>
                  <a:ea typeface="+mn-ea"/>
                  <a:cs typeface="+mn-cs"/>
                </a:rPr>
                <a:t>%</a:t>
              </a:r>
              <a:r>
                <a:rPr lang="zh-CN" sz="1800" b="1" dirty="0">
                  <a:solidFill>
                    <a:srgbClr val="C9462F"/>
                  </a:solidFill>
                  <a:latin typeface="+mn-lt"/>
                  <a:ea typeface="+mn-ea"/>
                  <a:cs typeface="+mn-cs"/>
                </a:rPr>
                <a:t>​​</a:t>
              </a:r>
            </a:p>
          </p:txBody>
        </p:sp>
        <p:sp>
          <p:nvSpPr>
            <p:cNvPr id="34" name="Rectangle 34"/>
            <p:cNvSpPr/>
            <p:nvPr/>
          </p:nvSpPr>
          <p:spPr>
            <a:xfrm>
              <a:off x="6153150" y="704850"/>
              <a:ext cx="1809750" cy="723900"/>
            </a:xfrm>
            <a:prstGeom prst="roundRect">
              <a:avLst>
                <a:gd name="adj" fmla="val 10526"/>
              </a:avLst>
            </a:prstGeom>
            <a:solidFill>
              <a:srgbClr val="F9FBFE"/>
            </a:solidFill>
            <a:ln w="9525">
              <a:solidFill>
                <a:srgbClr val="C9D8EF"/>
              </a:solidFill>
            </a:ln>
          </p:spPr>
        </p:sp>
        <p:grpSp>
          <p:nvGrpSpPr>
            <p:cNvPr id="40" name="Group 40"/>
            <p:cNvGrpSpPr/>
            <p:nvPr/>
          </p:nvGrpSpPr>
          <p:grpSpPr>
            <a:xfrm>
              <a:off x="6300788" y="965299"/>
              <a:ext cx="200025" cy="201514"/>
              <a:chOff x="6300788" y="965299"/>
              <a:chExt cx="200025" cy="201514"/>
            </a:xfrm>
          </p:grpSpPr>
          <p:sp>
            <p:nvSpPr>
              <p:cNvPr id="35" name="Freeform 35"/>
              <p:cNvSpPr/>
              <p:nvPr/>
            </p:nvSpPr>
            <p:spPr>
              <a:xfrm>
                <a:off x="6367463" y="1055688"/>
                <a:ext cx="133350" cy="66675"/>
              </a:xfrm>
              <a:custGeom>
                <a:avLst/>
                <a:gdLst/>
                <a:ahLst/>
                <a:cxnLst/>
                <a:rect l="l" t="t" r="r" b="b"/>
                <a:pathLst>
                  <a:path w="133350" h="66675">
                    <a:moveTo>
                      <a:pt x="0" y="33338"/>
                    </a:moveTo>
                    <a:cubicBezTo>
                      <a:pt x="0" y="51751"/>
                      <a:pt x="29848" y="66675"/>
                      <a:pt x="66675" y="66675"/>
                    </a:cubicBezTo>
                    <a:cubicBezTo>
                      <a:pt x="103502" y="66675"/>
                      <a:pt x="133350" y="51751"/>
                      <a:pt x="133350" y="33338"/>
                    </a:cubicBezTo>
                    <a:cubicBezTo>
                      <a:pt x="133350" y="14924"/>
                      <a:pt x="103502" y="0"/>
                      <a:pt x="66675" y="0"/>
                    </a:cubicBezTo>
                    <a:cubicBezTo>
                      <a:pt x="29848" y="0"/>
                      <a:pt x="0" y="14924"/>
                      <a:pt x="0" y="33338"/>
                    </a:cubicBezTo>
                  </a:path>
                </a:pathLst>
              </a:custGeom>
              <a:noFill/>
              <a:ln w="22225">
                <a:solidFill>
                  <a:srgbClr val="A8351D"/>
                </a:solidFill>
              </a:ln>
            </p:spPr>
          </p:sp>
          <p:sp>
            <p:nvSpPr>
              <p:cNvPr id="36" name="Freeform 36"/>
              <p:cNvSpPr/>
              <p:nvPr/>
            </p:nvSpPr>
            <p:spPr>
              <a:xfrm>
                <a:off x="6367463" y="1089025"/>
                <a:ext cx="133350" cy="77788"/>
              </a:xfrm>
              <a:custGeom>
                <a:avLst/>
                <a:gdLst/>
                <a:ahLst/>
                <a:cxnLst/>
                <a:rect l="l" t="t" r="r" b="b"/>
                <a:pathLst>
                  <a:path w="133350" h="77788">
                    <a:moveTo>
                      <a:pt x="0" y="0"/>
                    </a:moveTo>
                    <a:lnTo>
                      <a:pt x="0" y="44450"/>
                    </a:lnTo>
                    <a:cubicBezTo>
                      <a:pt x="0" y="62852"/>
                      <a:pt x="29848" y="77788"/>
                      <a:pt x="66675" y="77788"/>
                    </a:cubicBezTo>
                    <a:cubicBezTo>
                      <a:pt x="103502" y="77788"/>
                      <a:pt x="133350" y="62852"/>
                      <a:pt x="133350" y="44450"/>
                    </a:cubicBezTo>
                    <a:lnTo>
                      <a:pt x="133350" y="0"/>
                    </a:lnTo>
                  </a:path>
                </a:pathLst>
              </a:custGeom>
              <a:noFill/>
              <a:ln w="22225">
                <a:solidFill>
                  <a:srgbClr val="A8351D"/>
                </a:solidFill>
              </a:ln>
            </p:spPr>
          </p:sp>
          <p:sp>
            <p:nvSpPr>
              <p:cNvPr id="37" name="Freeform 37"/>
              <p:cNvSpPr/>
              <p:nvPr/>
            </p:nvSpPr>
            <p:spPr>
              <a:xfrm>
                <a:off x="6300788" y="965299"/>
                <a:ext cx="133350" cy="69653"/>
              </a:xfrm>
              <a:custGeom>
                <a:avLst/>
                <a:gdLst/>
                <a:ahLst/>
                <a:cxnLst/>
                <a:rect l="l" t="t" r="r" b="b"/>
                <a:pathLst>
                  <a:path w="133350" h="69653">
                    <a:moveTo>
                      <a:pt x="0" y="34827"/>
                    </a:moveTo>
                    <a:cubicBezTo>
                      <a:pt x="0" y="46739"/>
                      <a:pt x="12713" y="57741"/>
                      <a:pt x="33338" y="63697"/>
                    </a:cubicBezTo>
                    <a:cubicBezTo>
                      <a:pt x="53962" y="69653"/>
                      <a:pt x="79388" y="69653"/>
                      <a:pt x="100013" y="63697"/>
                    </a:cubicBezTo>
                    <a:cubicBezTo>
                      <a:pt x="120638" y="57741"/>
                      <a:pt x="133350" y="46739"/>
                      <a:pt x="133350" y="34827"/>
                    </a:cubicBezTo>
                    <a:cubicBezTo>
                      <a:pt x="133350" y="22914"/>
                      <a:pt x="120638" y="11913"/>
                      <a:pt x="100013" y="5956"/>
                    </a:cubicBezTo>
                    <a:cubicBezTo>
                      <a:pt x="79388" y="0"/>
                      <a:pt x="53962" y="0"/>
                      <a:pt x="33338" y="5956"/>
                    </a:cubicBezTo>
                    <a:cubicBezTo>
                      <a:pt x="12713" y="11913"/>
                      <a:pt x="0" y="22914"/>
                      <a:pt x="0" y="34827"/>
                    </a:cubicBezTo>
                  </a:path>
                </a:pathLst>
              </a:custGeom>
              <a:noFill/>
              <a:ln w="22225">
                <a:solidFill>
                  <a:srgbClr val="A8351D"/>
                </a:solidFill>
              </a:ln>
            </p:spPr>
          </p:sp>
          <p:sp>
            <p:nvSpPr>
              <p:cNvPr id="38" name="Freeform 38"/>
              <p:cNvSpPr/>
              <p:nvPr/>
            </p:nvSpPr>
            <p:spPr>
              <a:xfrm>
                <a:off x="6300788" y="1000125"/>
                <a:ext cx="22225" cy="133350"/>
              </a:xfrm>
              <a:custGeom>
                <a:avLst/>
                <a:gdLst/>
                <a:ahLst/>
                <a:cxnLst/>
                <a:rect l="l" t="t" r="r" b="b"/>
                <a:pathLst>
                  <a:path w="22225" h="133350">
                    <a:moveTo>
                      <a:pt x="0" y="0"/>
                    </a:moveTo>
                    <a:lnTo>
                      <a:pt x="0" y="111125"/>
                    </a:lnTo>
                    <a:cubicBezTo>
                      <a:pt x="0" y="120993"/>
                      <a:pt x="8579" y="127238"/>
                      <a:pt x="22225" y="133350"/>
                    </a:cubicBezTo>
                  </a:path>
                </a:pathLst>
              </a:custGeom>
              <a:noFill/>
              <a:ln w="22225">
                <a:solidFill>
                  <a:srgbClr val="A8351D"/>
                </a:solidFill>
              </a:ln>
            </p:spPr>
          </p:sp>
          <p:sp>
            <p:nvSpPr>
              <p:cNvPr id="39" name="Freeform 39"/>
              <p:cNvSpPr/>
              <p:nvPr/>
            </p:nvSpPr>
            <p:spPr>
              <a:xfrm>
                <a:off x="6300788" y="1055688"/>
                <a:ext cx="22225" cy="22225"/>
              </a:xfrm>
              <a:custGeom>
                <a:avLst/>
                <a:gdLst/>
                <a:ahLst/>
                <a:cxnLst/>
                <a:rect l="l" t="t" r="r" b="b"/>
                <a:pathLst>
                  <a:path w="22225" h="22225">
                    <a:moveTo>
                      <a:pt x="0" y="0"/>
                    </a:moveTo>
                    <a:cubicBezTo>
                      <a:pt x="0" y="9868"/>
                      <a:pt x="8579" y="16113"/>
                      <a:pt x="22225" y="22225"/>
                    </a:cubicBezTo>
                  </a:path>
                </a:pathLst>
              </a:custGeom>
              <a:noFill/>
              <a:ln w="22225">
                <a:solidFill>
                  <a:srgbClr val="A8351D"/>
                </a:solidFill>
              </a:ln>
            </p:spPr>
          </p:sp>
        </p:grpSp>
        <p:sp>
          <p:nvSpPr>
            <p:cNvPr id="41" name="TextBox 41"/>
            <p:cNvSpPr txBox="1"/>
            <p:nvPr/>
          </p:nvSpPr>
          <p:spPr>
            <a:xfrm>
              <a:off x="6681788" y="834866"/>
              <a:ext cx="584367"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AUM净增​​</a:t>
              </a:r>
            </a:p>
          </p:txBody>
        </p:sp>
        <p:sp>
          <p:nvSpPr>
            <p:cNvPr id="42" name="TextBox 42"/>
            <p:cNvSpPr txBox="1"/>
            <p:nvPr/>
          </p:nvSpPr>
          <p:spPr>
            <a:xfrm>
              <a:off x="6677406" y="1082040"/>
              <a:ext cx="960291" cy="352044"/>
            </a:xfrm>
            <a:prstGeom prst="rect">
              <a:avLst/>
            </a:prstGeom>
            <a:noFill/>
            <a:ln>
              <a:noFill/>
            </a:ln>
          </p:spPr>
          <p:txBody>
            <a:bodyPr wrap="none" lIns="0" tIns="0" rIns="0" bIns="0" anchor="t" anchorCtr="0">
              <a:spAutoFit/>
            </a:bodyPr>
            <a:lstStyle/>
            <a:p>
              <a:pPr algn="l"/>
              <a:r>
                <a:rPr lang="zh-CN" sz="1800" b="1" dirty="0">
                  <a:solidFill>
                    <a:srgbClr val="C9462F"/>
                  </a:solidFill>
                  <a:latin typeface="+mn-lt"/>
                  <a:ea typeface="+mn-ea"/>
                  <a:cs typeface="+mn-cs"/>
                </a:rPr>
                <a:t>120</a:t>
              </a:r>
              <a:r>
                <a:rPr lang="zh-CN" sz="900" b="1" dirty="0">
                  <a:solidFill>
                    <a:srgbClr val="C9462F"/>
                  </a:solidFill>
                  <a:latin typeface="+mn-lt"/>
                  <a:ea typeface="+mn-ea"/>
                  <a:cs typeface="+mn-cs"/>
                </a:rPr>
                <a:t>亿元</a:t>
              </a:r>
              <a:r>
                <a:rPr lang="zh-CN" sz="1800" b="1" dirty="0">
                  <a:solidFill>
                    <a:srgbClr val="C9462F"/>
                  </a:solidFill>
                  <a:latin typeface="+mn-lt"/>
                  <a:ea typeface="+mn-ea"/>
                  <a:cs typeface="+mn-cs"/>
                </a:rPr>
                <a:t>​​</a:t>
              </a:r>
            </a:p>
          </p:txBody>
        </p:sp>
        <p:sp>
          <p:nvSpPr>
            <p:cNvPr id="43" name="Rectangle 43"/>
            <p:cNvSpPr/>
            <p:nvPr/>
          </p:nvSpPr>
          <p:spPr>
            <a:xfrm>
              <a:off x="8077200" y="704850"/>
              <a:ext cx="1809750" cy="723900"/>
            </a:xfrm>
            <a:prstGeom prst="roundRect">
              <a:avLst>
                <a:gd name="adj" fmla="val 10526"/>
              </a:avLst>
            </a:prstGeom>
            <a:solidFill>
              <a:srgbClr val="F9FBFE"/>
            </a:solidFill>
            <a:ln w="9525">
              <a:solidFill>
                <a:srgbClr val="C9D8EF"/>
              </a:solidFill>
            </a:ln>
          </p:spPr>
        </p:sp>
        <p:grpSp>
          <p:nvGrpSpPr>
            <p:cNvPr id="48" name="Group 48"/>
            <p:cNvGrpSpPr/>
            <p:nvPr/>
          </p:nvGrpSpPr>
          <p:grpSpPr>
            <a:xfrm>
              <a:off x="8247063" y="966788"/>
              <a:ext cx="155575" cy="200026"/>
              <a:chOff x="8247063" y="966788"/>
              <a:chExt cx="155575" cy="200026"/>
            </a:xfrm>
          </p:grpSpPr>
          <p:sp>
            <p:nvSpPr>
              <p:cNvPr id="44" name="Freeform 44"/>
              <p:cNvSpPr/>
              <p:nvPr/>
            </p:nvSpPr>
            <p:spPr>
              <a:xfrm>
                <a:off x="8247063" y="989013"/>
                <a:ext cx="155575" cy="177801"/>
              </a:xfrm>
              <a:custGeom>
                <a:avLst/>
                <a:gdLst/>
                <a:ahLst/>
                <a:cxnLst/>
                <a:rect l="l" t="t" r="r" b="b"/>
                <a:pathLst>
                  <a:path w="155575" h="177801">
                    <a:moveTo>
                      <a:pt x="44450" y="0"/>
                    </a:moveTo>
                    <a:lnTo>
                      <a:pt x="22225" y="0"/>
                    </a:lnTo>
                    <a:cubicBezTo>
                      <a:pt x="9950" y="0"/>
                      <a:pt x="0" y="9950"/>
                      <a:pt x="0" y="22225"/>
                    </a:cubicBezTo>
                    <a:lnTo>
                      <a:pt x="0" y="155575"/>
                    </a:lnTo>
                    <a:cubicBezTo>
                      <a:pt x="0" y="167850"/>
                      <a:pt x="9950" y="177801"/>
                      <a:pt x="22225" y="177801"/>
                    </a:cubicBezTo>
                    <a:lnTo>
                      <a:pt x="133350" y="177801"/>
                    </a:lnTo>
                    <a:cubicBezTo>
                      <a:pt x="145625" y="177801"/>
                      <a:pt x="155575" y="167850"/>
                      <a:pt x="155575" y="155575"/>
                    </a:cubicBezTo>
                    <a:lnTo>
                      <a:pt x="155575" y="22225"/>
                    </a:lnTo>
                    <a:cubicBezTo>
                      <a:pt x="155575" y="9950"/>
                      <a:pt x="145625" y="0"/>
                      <a:pt x="133350" y="0"/>
                    </a:cubicBezTo>
                    <a:lnTo>
                      <a:pt x="111125" y="0"/>
                    </a:lnTo>
                  </a:path>
                </a:pathLst>
              </a:custGeom>
              <a:noFill/>
              <a:ln w="22225">
                <a:solidFill>
                  <a:srgbClr val="A8351D"/>
                </a:solidFill>
              </a:ln>
            </p:spPr>
          </p:sp>
          <p:sp>
            <p:nvSpPr>
              <p:cNvPr id="45" name="Freeform 45"/>
              <p:cNvSpPr/>
              <p:nvPr/>
            </p:nvSpPr>
            <p:spPr>
              <a:xfrm>
                <a:off x="8291513" y="966788"/>
                <a:ext cx="66675" cy="44450"/>
              </a:xfrm>
              <a:custGeom>
                <a:avLst/>
                <a:gdLst/>
                <a:ahLst/>
                <a:cxnLst/>
                <a:rect l="l" t="t" r="r" b="b"/>
                <a:pathLst>
                  <a:path w="66675" h="44450">
                    <a:moveTo>
                      <a:pt x="0" y="22225"/>
                    </a:moveTo>
                    <a:cubicBezTo>
                      <a:pt x="0" y="9950"/>
                      <a:pt x="9950" y="0"/>
                      <a:pt x="22225" y="0"/>
                    </a:cubicBezTo>
                    <a:lnTo>
                      <a:pt x="44450" y="0"/>
                    </a:lnTo>
                    <a:cubicBezTo>
                      <a:pt x="56725" y="0"/>
                      <a:pt x="66675" y="9950"/>
                      <a:pt x="66675" y="22225"/>
                    </a:cubicBezTo>
                    <a:cubicBezTo>
                      <a:pt x="66675" y="34500"/>
                      <a:pt x="56725" y="44450"/>
                      <a:pt x="44450" y="44450"/>
                    </a:cubicBezTo>
                    <a:lnTo>
                      <a:pt x="22225" y="44450"/>
                    </a:lnTo>
                    <a:cubicBezTo>
                      <a:pt x="9950" y="44450"/>
                      <a:pt x="0" y="34500"/>
                      <a:pt x="0" y="22225"/>
                    </a:cubicBezTo>
                  </a:path>
                </a:pathLst>
              </a:custGeom>
              <a:noFill/>
              <a:ln w="22225">
                <a:solidFill>
                  <a:srgbClr val="A8351D"/>
                </a:solidFill>
              </a:ln>
            </p:spPr>
          </p:sp>
          <p:sp>
            <p:nvSpPr>
              <p:cNvPr id="46" name="Freeform 46"/>
              <p:cNvSpPr/>
              <p:nvPr/>
            </p:nvSpPr>
            <p:spPr>
              <a:xfrm>
                <a:off x="8302625" y="1055688"/>
                <a:ext cx="44450" cy="66675"/>
              </a:xfrm>
              <a:custGeom>
                <a:avLst/>
                <a:gdLst/>
                <a:ahLst/>
                <a:cxnLst/>
                <a:rect l="l" t="t" r="r" b="b"/>
                <a:pathLst>
                  <a:path w="44450" h="66675">
                    <a:moveTo>
                      <a:pt x="44450" y="0"/>
                    </a:moveTo>
                    <a:lnTo>
                      <a:pt x="16669" y="0"/>
                    </a:lnTo>
                    <a:cubicBezTo>
                      <a:pt x="7463" y="0"/>
                      <a:pt x="0" y="7463"/>
                      <a:pt x="0" y="16669"/>
                    </a:cubicBezTo>
                    <a:cubicBezTo>
                      <a:pt x="0" y="25875"/>
                      <a:pt x="7463" y="33338"/>
                      <a:pt x="16669" y="33338"/>
                    </a:cubicBezTo>
                    <a:lnTo>
                      <a:pt x="27781" y="33338"/>
                    </a:lnTo>
                    <a:cubicBezTo>
                      <a:pt x="36987" y="33338"/>
                      <a:pt x="44450" y="40800"/>
                      <a:pt x="44450" y="50006"/>
                    </a:cubicBezTo>
                    <a:cubicBezTo>
                      <a:pt x="44450" y="59212"/>
                      <a:pt x="36987" y="66675"/>
                      <a:pt x="27781" y="66675"/>
                    </a:cubicBezTo>
                    <a:lnTo>
                      <a:pt x="0" y="66675"/>
                    </a:lnTo>
                  </a:path>
                </a:pathLst>
              </a:custGeom>
              <a:noFill/>
              <a:ln w="22225">
                <a:solidFill>
                  <a:srgbClr val="A8351D"/>
                </a:solidFill>
              </a:ln>
            </p:spPr>
          </p:sp>
          <p:sp>
            <p:nvSpPr>
              <p:cNvPr id="47" name="Freeform 47"/>
              <p:cNvSpPr/>
              <p:nvPr/>
            </p:nvSpPr>
            <p:spPr>
              <a:xfrm>
                <a:off x="8324850" y="1044575"/>
                <a:ext cx="9525" cy="88900"/>
              </a:xfrm>
              <a:custGeom>
                <a:avLst/>
                <a:gdLst/>
                <a:ahLst/>
                <a:cxnLst/>
                <a:rect l="l" t="t" r="r" b="b"/>
                <a:pathLst>
                  <a:path w="9525" h="88900">
                    <a:moveTo>
                      <a:pt x="0" y="77788"/>
                    </a:moveTo>
                    <a:lnTo>
                      <a:pt x="0" y="88900"/>
                    </a:lnTo>
                    <a:moveTo>
                      <a:pt x="0" y="0"/>
                    </a:moveTo>
                    <a:lnTo>
                      <a:pt x="0" y="11113"/>
                    </a:lnTo>
                  </a:path>
                </a:pathLst>
              </a:custGeom>
              <a:noFill/>
              <a:ln w="22225">
                <a:solidFill>
                  <a:srgbClr val="A8351D"/>
                </a:solidFill>
              </a:ln>
            </p:spPr>
          </p:sp>
        </p:grpSp>
        <p:sp>
          <p:nvSpPr>
            <p:cNvPr id="49" name="TextBox 49"/>
            <p:cNvSpPr txBox="1"/>
            <p:nvPr/>
          </p:nvSpPr>
          <p:spPr>
            <a:xfrm>
              <a:off x="8605838" y="834866"/>
              <a:ext cx="451079"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联动中收</a:t>
              </a:r>
            </a:p>
          </p:txBody>
        </p:sp>
        <p:sp>
          <p:nvSpPr>
            <p:cNvPr id="50" name="TextBox 50"/>
            <p:cNvSpPr txBox="1"/>
            <p:nvPr/>
          </p:nvSpPr>
          <p:spPr>
            <a:xfrm>
              <a:off x="8601456" y="1082040"/>
              <a:ext cx="960291" cy="352044"/>
            </a:xfrm>
            <a:prstGeom prst="rect">
              <a:avLst/>
            </a:prstGeom>
            <a:noFill/>
            <a:ln>
              <a:noFill/>
            </a:ln>
          </p:spPr>
          <p:txBody>
            <a:bodyPr wrap="none" lIns="0" tIns="0" rIns="0" bIns="0" anchor="t" anchorCtr="0">
              <a:spAutoFit/>
            </a:bodyPr>
            <a:lstStyle/>
            <a:p>
              <a:pPr algn="l"/>
              <a:r>
                <a:rPr lang="zh-CN" sz="1800" b="1" dirty="0">
                  <a:solidFill>
                    <a:srgbClr val="C9462F"/>
                  </a:solidFill>
                  <a:latin typeface="+mn-lt"/>
                  <a:ea typeface="+mn-ea"/>
                  <a:cs typeface="+mn-cs"/>
                </a:rPr>
                <a:t>3.8</a:t>
              </a:r>
              <a:r>
                <a:rPr lang="zh-CN" sz="900" b="1" dirty="0">
                  <a:solidFill>
                    <a:srgbClr val="C9462F"/>
                  </a:solidFill>
                  <a:latin typeface="+mn-lt"/>
                  <a:ea typeface="+mn-ea"/>
                  <a:cs typeface="+mn-cs"/>
                </a:rPr>
                <a:t>亿元</a:t>
              </a:r>
              <a:r>
                <a:rPr lang="zh-CN" sz="1800" b="1" dirty="0">
                  <a:solidFill>
                    <a:srgbClr val="C9462F"/>
                  </a:solidFill>
                  <a:latin typeface="+mn-lt"/>
                  <a:ea typeface="+mn-ea"/>
                  <a:cs typeface="+mn-cs"/>
                </a:rPr>
                <a:t>​​</a:t>
              </a:r>
            </a:p>
          </p:txBody>
        </p:sp>
        <p:sp>
          <p:nvSpPr>
            <p:cNvPr id="51" name="Rectangle 51"/>
            <p:cNvSpPr/>
            <p:nvPr/>
          </p:nvSpPr>
          <p:spPr>
            <a:xfrm>
              <a:off x="10001250" y="704850"/>
              <a:ext cx="1809750" cy="723900"/>
            </a:xfrm>
            <a:prstGeom prst="roundRect">
              <a:avLst>
                <a:gd name="adj" fmla="val 10526"/>
              </a:avLst>
            </a:prstGeom>
            <a:solidFill>
              <a:srgbClr val="F9FBFE"/>
            </a:solidFill>
            <a:ln w="9525">
              <a:solidFill>
                <a:srgbClr val="C9D8EF"/>
              </a:solidFill>
            </a:ln>
          </p:spPr>
        </p:sp>
        <p:grpSp>
          <p:nvGrpSpPr>
            <p:cNvPr id="56" name="Group 56"/>
            <p:cNvGrpSpPr/>
            <p:nvPr/>
          </p:nvGrpSpPr>
          <p:grpSpPr>
            <a:xfrm>
              <a:off x="10148888" y="977900"/>
              <a:ext cx="200025" cy="187326"/>
              <a:chOff x="10148888" y="977900"/>
              <a:chExt cx="200025" cy="187326"/>
            </a:xfrm>
          </p:grpSpPr>
          <p:sp>
            <p:nvSpPr>
              <p:cNvPr id="52" name="Freeform 52"/>
              <p:cNvSpPr/>
              <p:nvPr/>
            </p:nvSpPr>
            <p:spPr>
              <a:xfrm>
                <a:off x="10148888" y="106680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A8351D"/>
                </a:solidFill>
              </a:ln>
            </p:spPr>
          </p:sp>
          <p:sp>
            <p:nvSpPr>
              <p:cNvPr id="53" name="Freeform 53"/>
              <p:cNvSpPr/>
              <p:nvPr/>
            </p:nvSpPr>
            <p:spPr>
              <a:xfrm>
                <a:off x="10282238" y="102235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A8351D"/>
                </a:solidFill>
              </a:ln>
            </p:spPr>
          </p:sp>
          <p:sp>
            <p:nvSpPr>
              <p:cNvPr id="54" name="Freeform 54"/>
              <p:cNvSpPr/>
              <p:nvPr/>
            </p:nvSpPr>
            <p:spPr>
              <a:xfrm>
                <a:off x="10215563" y="97790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A8351D"/>
                </a:solidFill>
              </a:ln>
            </p:spPr>
          </p:sp>
          <p:sp>
            <p:nvSpPr>
              <p:cNvPr id="55" name="Freeform 55"/>
              <p:cNvSpPr/>
              <p:nvPr/>
            </p:nvSpPr>
            <p:spPr>
              <a:xfrm>
                <a:off x="10160000" y="1155701"/>
                <a:ext cx="155575" cy="9525"/>
              </a:xfrm>
              <a:custGeom>
                <a:avLst/>
                <a:gdLst/>
                <a:ahLst/>
                <a:cxnLst/>
                <a:rect l="l" t="t" r="r" b="b"/>
                <a:pathLst>
                  <a:path w="155575" h="9525">
                    <a:moveTo>
                      <a:pt x="0" y="0"/>
                    </a:moveTo>
                    <a:lnTo>
                      <a:pt x="155575" y="0"/>
                    </a:lnTo>
                  </a:path>
                </a:pathLst>
              </a:custGeom>
              <a:noFill/>
              <a:ln w="22225">
                <a:solidFill>
                  <a:srgbClr val="A8351D"/>
                </a:solidFill>
              </a:ln>
            </p:spPr>
          </p:sp>
        </p:grpSp>
        <p:sp>
          <p:nvSpPr>
            <p:cNvPr id="57" name="TextBox 57"/>
            <p:cNvSpPr txBox="1"/>
            <p:nvPr/>
          </p:nvSpPr>
          <p:spPr>
            <a:xfrm>
              <a:off x="10529888" y="834866"/>
              <a:ext cx="340190" cy="161925"/>
            </a:xfrm>
            <a:prstGeom prst="rect">
              <a:avLst/>
            </a:prstGeom>
            <a:noFill/>
            <a:ln>
              <a:noFill/>
            </a:ln>
          </p:spPr>
          <p:txBody>
            <a:bodyPr wrap="none" lIns="0" tIns="0" rIns="0" bIns="0" anchor="t" anchorCtr="0">
              <a:spAutoFit/>
            </a:bodyPr>
            <a:lstStyle/>
            <a:p>
              <a:pPr algn="l"/>
              <a:r>
                <a:rPr lang="en-US" sz="820" b="1" dirty="0">
                  <a:solidFill>
                    <a:srgbClr val="67281B"/>
                  </a:solidFill>
                  <a:latin typeface="+mn-lt"/>
                  <a:ea typeface="+mn-ea"/>
                  <a:cs typeface="+mn-cs"/>
                </a:rPr>
                <a:t>ROI​​</a:t>
              </a:r>
            </a:p>
          </p:txBody>
        </p:sp>
        <p:sp>
          <p:nvSpPr>
            <p:cNvPr id="58" name="TextBox 58"/>
            <p:cNvSpPr txBox="1"/>
            <p:nvPr/>
          </p:nvSpPr>
          <p:spPr>
            <a:xfrm>
              <a:off x="10525506" y="1082040"/>
              <a:ext cx="839133" cy="352044"/>
            </a:xfrm>
            <a:prstGeom prst="rect">
              <a:avLst/>
            </a:prstGeom>
            <a:noFill/>
            <a:ln>
              <a:noFill/>
            </a:ln>
          </p:spPr>
          <p:txBody>
            <a:bodyPr wrap="none" lIns="0" tIns="0" rIns="0" bIns="0" anchor="t" anchorCtr="0">
              <a:spAutoFit/>
            </a:bodyPr>
            <a:lstStyle/>
            <a:p>
              <a:pPr algn="l"/>
              <a:r>
                <a:rPr lang="zh-CN" sz="1800" b="1" dirty="0">
                  <a:solidFill>
                    <a:srgbClr val="C9462F"/>
                  </a:solidFill>
                  <a:latin typeface="+mn-lt"/>
                  <a:ea typeface="+mn-ea"/>
                  <a:cs typeface="+mn-cs"/>
                </a:rPr>
                <a:t>4.6</a:t>
              </a:r>
              <a:r>
                <a:rPr lang="zh-CN" sz="900" b="1" dirty="0">
                  <a:solidFill>
                    <a:srgbClr val="C9462F"/>
                  </a:solidFill>
                  <a:latin typeface="+mn-lt"/>
                  <a:ea typeface="+mn-ea"/>
                  <a:cs typeface="+mn-cs"/>
                </a:rPr>
                <a:t>倍</a:t>
              </a:r>
              <a:r>
                <a:rPr lang="zh-CN" sz="1800" b="1" dirty="0">
                  <a:solidFill>
                    <a:srgbClr val="C9462F"/>
                  </a:solidFill>
                  <a:latin typeface="+mn-lt"/>
                  <a:ea typeface="+mn-ea"/>
                  <a:cs typeface="+mn-cs"/>
                </a:rPr>
                <a:t>​​</a:t>
              </a:r>
            </a:p>
          </p:txBody>
        </p:sp>
      </p:grpSp>
      <p:grpSp>
        <p:nvGrpSpPr>
          <p:cNvPr id="109" name="region-compare"/>
          <p:cNvGrpSpPr/>
          <p:nvPr/>
        </p:nvGrpSpPr>
        <p:grpSpPr>
          <a:xfrm>
            <a:off x="381000" y="1581150"/>
            <a:ext cx="4000500" cy="2514600"/>
            <a:chOff x="381000" y="1581150"/>
            <a:chExt cx="4000500" cy="2514600"/>
          </a:xfrm>
        </p:grpSpPr>
        <p:sp>
          <p:nvSpPr>
            <p:cNvPr id="60" name="Rectangle 60"/>
            <p:cNvSpPr/>
            <p:nvPr/>
          </p:nvSpPr>
          <p:spPr>
            <a:xfrm>
              <a:off x="381000" y="1581150"/>
              <a:ext cx="4000500" cy="2514600"/>
            </a:xfrm>
            <a:prstGeom prst="roundRect">
              <a:avLst>
                <a:gd name="adj" fmla="val 3788"/>
              </a:avLst>
            </a:prstGeom>
            <a:solidFill>
              <a:srgbClr val="F9FBFE"/>
            </a:solidFill>
            <a:ln w="9525">
              <a:solidFill>
                <a:srgbClr val="C9D8EF"/>
              </a:solidFill>
            </a:ln>
          </p:spPr>
        </p:sp>
        <p:sp>
          <p:nvSpPr>
            <p:cNvPr id="61" name="Rectangle 61"/>
            <p:cNvSpPr/>
            <p:nvPr/>
          </p:nvSpPr>
          <p:spPr>
            <a:xfrm>
              <a:off x="381000" y="1581150"/>
              <a:ext cx="4000500" cy="266700"/>
            </a:xfrm>
            <a:prstGeom prst="roundRect">
              <a:avLst>
                <a:gd name="adj" fmla="val 14286"/>
              </a:avLst>
            </a:prstGeom>
            <a:gradFill>
              <a:gsLst>
                <a:gs pos="0">
                  <a:srgbClr val="AD3921"/>
                </a:gs>
                <a:gs pos="100000">
                  <a:srgbClr val="962C16"/>
                </a:gs>
              </a:gsLst>
              <a:lin ang="5400000" scaled="1"/>
            </a:gradFill>
            <a:ln>
              <a:noFill/>
            </a:ln>
          </p:spPr>
        </p:sp>
        <p:sp>
          <p:nvSpPr>
            <p:cNvPr id="62" name="TextBox 62"/>
            <p:cNvSpPr txBox="1"/>
            <p:nvPr/>
          </p:nvSpPr>
          <p:spPr>
            <a:xfrm>
              <a:off x="1980514" y="165687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区域分行对比</a:t>
              </a:r>
            </a:p>
          </p:txBody>
        </p:sp>
        <p:sp>
          <p:nvSpPr>
            <p:cNvPr id="63" name="TextBox 63"/>
            <p:cNvSpPr txBox="1"/>
            <p:nvPr/>
          </p:nvSpPr>
          <p:spPr>
            <a:xfrm>
              <a:off x="490538" y="1942386"/>
              <a:ext cx="774167" cy="140494"/>
            </a:xfrm>
            <a:prstGeom prst="rect">
              <a:avLst/>
            </a:prstGeom>
            <a:noFill/>
            <a:ln>
              <a:noFill/>
            </a:ln>
          </p:spPr>
          <p:txBody>
            <a:bodyPr wrap="none" lIns="0" tIns="0" rIns="0" bIns="0" anchor="t" anchorCtr="0">
              <a:spAutoFit/>
            </a:bodyPr>
            <a:lstStyle/>
            <a:p>
              <a:pPr algn="l"/>
              <a:r>
                <a:rPr lang="zh-CN" sz="710" dirty="0">
                  <a:solidFill>
                    <a:srgbClr val="785F5A"/>
                  </a:solidFill>
                  <a:latin typeface="+mn-lt"/>
                  <a:ea typeface="+mn-ea"/>
                  <a:cs typeface="+mn-cs"/>
                </a:rPr>
                <a:t>联动中收（亿元）</a:t>
              </a:r>
            </a:p>
          </p:txBody>
        </p:sp>
        <p:sp>
          <p:nvSpPr>
            <p:cNvPr id="64" name="TextBox 64"/>
            <p:cNvSpPr txBox="1"/>
            <p:nvPr/>
          </p:nvSpPr>
          <p:spPr>
            <a:xfrm>
              <a:off x="543878" y="2166938"/>
              <a:ext cx="413385" cy="147638"/>
            </a:xfrm>
            <a:prstGeom prst="rect">
              <a:avLst/>
            </a:prstGeom>
            <a:noFill/>
            <a:ln>
              <a:noFill/>
            </a:ln>
          </p:spPr>
          <p:txBody>
            <a:bodyPr wrap="none" lIns="0" tIns="0" rIns="0" bIns="0" anchor="t" anchorCtr="0">
              <a:spAutoFit/>
            </a:bodyPr>
            <a:lstStyle/>
            <a:p>
              <a:pPr algn="r"/>
              <a:r>
                <a:rPr lang="zh-CN" sz="750" dirty="0">
                  <a:solidFill>
                    <a:srgbClr val="67281B"/>
                  </a:solidFill>
                  <a:latin typeface="+mn-lt"/>
                  <a:ea typeface="+mn-ea"/>
                  <a:cs typeface="+mn-cs"/>
                </a:rPr>
                <a:t>华东分行</a:t>
              </a:r>
            </a:p>
          </p:txBody>
        </p:sp>
        <p:sp>
          <p:nvSpPr>
            <p:cNvPr id="65" name="Rectangle 65"/>
            <p:cNvSpPr/>
            <p:nvPr/>
          </p:nvSpPr>
          <p:spPr>
            <a:xfrm>
              <a:off x="1009650" y="2152650"/>
              <a:ext cx="1428750" cy="133350"/>
            </a:xfrm>
            <a:prstGeom prst="rect">
              <a:avLst/>
            </a:prstGeom>
            <a:solidFill>
              <a:srgbClr val="A8351D"/>
            </a:solidFill>
            <a:ln>
              <a:noFill/>
            </a:ln>
          </p:spPr>
        </p:sp>
        <p:sp>
          <p:nvSpPr>
            <p:cNvPr id="66" name="TextBox 66"/>
            <p:cNvSpPr txBox="1"/>
            <p:nvPr/>
          </p:nvSpPr>
          <p:spPr>
            <a:xfrm>
              <a:off x="2471738" y="2180511"/>
              <a:ext cx="272371"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6.2​​</a:t>
              </a:r>
            </a:p>
          </p:txBody>
        </p:sp>
        <p:sp>
          <p:nvSpPr>
            <p:cNvPr id="67" name="TextBox 67"/>
            <p:cNvSpPr txBox="1"/>
            <p:nvPr/>
          </p:nvSpPr>
          <p:spPr>
            <a:xfrm>
              <a:off x="543878" y="2395538"/>
              <a:ext cx="413385" cy="147638"/>
            </a:xfrm>
            <a:prstGeom prst="rect">
              <a:avLst/>
            </a:prstGeom>
            <a:noFill/>
            <a:ln>
              <a:noFill/>
            </a:ln>
          </p:spPr>
          <p:txBody>
            <a:bodyPr wrap="none" lIns="0" tIns="0" rIns="0" bIns="0" anchor="t" anchorCtr="0">
              <a:spAutoFit/>
            </a:bodyPr>
            <a:lstStyle/>
            <a:p>
              <a:pPr algn="r"/>
              <a:r>
                <a:rPr lang="zh-CN" sz="750" dirty="0">
                  <a:solidFill>
                    <a:srgbClr val="67281B"/>
                  </a:solidFill>
                  <a:latin typeface="+mn-lt"/>
                  <a:ea typeface="+mn-ea"/>
                  <a:cs typeface="+mn-cs"/>
                </a:rPr>
                <a:t>华南分行</a:t>
              </a:r>
            </a:p>
          </p:txBody>
        </p:sp>
        <p:sp>
          <p:nvSpPr>
            <p:cNvPr id="68" name="Rectangle 68"/>
            <p:cNvSpPr/>
            <p:nvPr/>
          </p:nvSpPr>
          <p:spPr>
            <a:xfrm>
              <a:off x="1009650" y="2381250"/>
              <a:ext cx="1219200" cy="133350"/>
            </a:xfrm>
            <a:prstGeom prst="rect">
              <a:avLst/>
            </a:prstGeom>
            <a:solidFill>
              <a:srgbClr val="A8351D"/>
            </a:solidFill>
            <a:ln>
              <a:noFill/>
            </a:ln>
          </p:spPr>
        </p:sp>
        <p:sp>
          <p:nvSpPr>
            <p:cNvPr id="69" name="TextBox 69"/>
            <p:cNvSpPr txBox="1"/>
            <p:nvPr/>
          </p:nvSpPr>
          <p:spPr>
            <a:xfrm>
              <a:off x="2262188" y="2409111"/>
              <a:ext cx="272371"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5.3​​</a:t>
              </a:r>
            </a:p>
          </p:txBody>
        </p:sp>
        <p:sp>
          <p:nvSpPr>
            <p:cNvPr id="70" name="TextBox 70"/>
            <p:cNvSpPr txBox="1"/>
            <p:nvPr/>
          </p:nvSpPr>
          <p:spPr>
            <a:xfrm>
              <a:off x="543878" y="2624138"/>
              <a:ext cx="413385" cy="147638"/>
            </a:xfrm>
            <a:prstGeom prst="rect">
              <a:avLst/>
            </a:prstGeom>
            <a:noFill/>
            <a:ln>
              <a:noFill/>
            </a:ln>
          </p:spPr>
          <p:txBody>
            <a:bodyPr wrap="none" lIns="0" tIns="0" rIns="0" bIns="0" anchor="t" anchorCtr="0">
              <a:spAutoFit/>
            </a:bodyPr>
            <a:lstStyle/>
            <a:p>
              <a:pPr algn="r"/>
              <a:r>
                <a:rPr lang="zh-CN" sz="750" dirty="0">
                  <a:solidFill>
                    <a:srgbClr val="67281B"/>
                  </a:solidFill>
                  <a:latin typeface="+mn-lt"/>
                  <a:ea typeface="+mn-ea"/>
                  <a:cs typeface="+mn-cs"/>
                </a:rPr>
                <a:t>华北分行</a:t>
              </a:r>
            </a:p>
          </p:txBody>
        </p:sp>
        <p:sp>
          <p:nvSpPr>
            <p:cNvPr id="71" name="Rectangle 71"/>
            <p:cNvSpPr/>
            <p:nvPr/>
          </p:nvSpPr>
          <p:spPr>
            <a:xfrm>
              <a:off x="1009650" y="2609850"/>
              <a:ext cx="1085850" cy="133350"/>
            </a:xfrm>
            <a:prstGeom prst="rect">
              <a:avLst/>
            </a:prstGeom>
            <a:solidFill>
              <a:srgbClr val="A8351D"/>
            </a:solidFill>
            <a:ln>
              <a:noFill/>
            </a:ln>
          </p:spPr>
        </p:sp>
        <p:sp>
          <p:nvSpPr>
            <p:cNvPr id="72" name="TextBox 72"/>
            <p:cNvSpPr txBox="1"/>
            <p:nvPr/>
          </p:nvSpPr>
          <p:spPr>
            <a:xfrm>
              <a:off x="2128838" y="2637711"/>
              <a:ext cx="272371"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4.7​​</a:t>
              </a:r>
            </a:p>
          </p:txBody>
        </p:sp>
        <p:sp>
          <p:nvSpPr>
            <p:cNvPr id="73" name="TextBox 73"/>
            <p:cNvSpPr txBox="1"/>
            <p:nvPr/>
          </p:nvSpPr>
          <p:spPr>
            <a:xfrm>
              <a:off x="543878" y="2852738"/>
              <a:ext cx="413385" cy="147638"/>
            </a:xfrm>
            <a:prstGeom prst="rect">
              <a:avLst/>
            </a:prstGeom>
            <a:noFill/>
            <a:ln>
              <a:noFill/>
            </a:ln>
          </p:spPr>
          <p:txBody>
            <a:bodyPr wrap="none" lIns="0" tIns="0" rIns="0" bIns="0" anchor="t" anchorCtr="0">
              <a:spAutoFit/>
            </a:bodyPr>
            <a:lstStyle/>
            <a:p>
              <a:pPr algn="r"/>
              <a:r>
                <a:rPr lang="zh-CN" sz="750" dirty="0">
                  <a:solidFill>
                    <a:srgbClr val="67281B"/>
                  </a:solidFill>
                  <a:latin typeface="+mn-lt"/>
                  <a:ea typeface="+mn-ea"/>
                  <a:cs typeface="+mn-cs"/>
                </a:rPr>
                <a:t>华中分行</a:t>
              </a:r>
            </a:p>
          </p:txBody>
        </p:sp>
        <p:sp>
          <p:nvSpPr>
            <p:cNvPr id="74" name="Rectangle 74"/>
            <p:cNvSpPr/>
            <p:nvPr/>
          </p:nvSpPr>
          <p:spPr>
            <a:xfrm>
              <a:off x="1009650" y="2838450"/>
              <a:ext cx="942975" cy="133350"/>
            </a:xfrm>
            <a:prstGeom prst="rect">
              <a:avLst/>
            </a:prstGeom>
            <a:solidFill>
              <a:srgbClr val="A8351D"/>
            </a:solidFill>
            <a:ln>
              <a:noFill/>
            </a:ln>
          </p:spPr>
        </p:sp>
        <p:sp>
          <p:nvSpPr>
            <p:cNvPr id="75" name="TextBox 75"/>
            <p:cNvSpPr txBox="1"/>
            <p:nvPr/>
          </p:nvSpPr>
          <p:spPr>
            <a:xfrm>
              <a:off x="1985962" y="2866311"/>
              <a:ext cx="272371"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4.1​​</a:t>
              </a:r>
            </a:p>
          </p:txBody>
        </p:sp>
        <p:sp>
          <p:nvSpPr>
            <p:cNvPr id="76" name="TextBox 76"/>
            <p:cNvSpPr txBox="1"/>
            <p:nvPr/>
          </p:nvSpPr>
          <p:spPr>
            <a:xfrm>
              <a:off x="543878" y="3081338"/>
              <a:ext cx="413385" cy="147638"/>
            </a:xfrm>
            <a:prstGeom prst="rect">
              <a:avLst/>
            </a:prstGeom>
            <a:noFill/>
            <a:ln>
              <a:noFill/>
            </a:ln>
          </p:spPr>
          <p:txBody>
            <a:bodyPr wrap="none" lIns="0" tIns="0" rIns="0" bIns="0" anchor="t" anchorCtr="0">
              <a:spAutoFit/>
            </a:bodyPr>
            <a:lstStyle/>
            <a:p>
              <a:pPr algn="r"/>
              <a:r>
                <a:rPr lang="zh-CN" sz="750" dirty="0">
                  <a:solidFill>
                    <a:srgbClr val="67281B"/>
                  </a:solidFill>
                  <a:latin typeface="+mn-lt"/>
                  <a:ea typeface="+mn-ea"/>
                  <a:cs typeface="+mn-cs"/>
                </a:rPr>
                <a:t>西南分行</a:t>
              </a:r>
            </a:p>
          </p:txBody>
        </p:sp>
        <p:sp>
          <p:nvSpPr>
            <p:cNvPr id="77" name="Rectangle 77"/>
            <p:cNvSpPr/>
            <p:nvPr/>
          </p:nvSpPr>
          <p:spPr>
            <a:xfrm>
              <a:off x="1009650" y="3067050"/>
              <a:ext cx="828675" cy="133350"/>
            </a:xfrm>
            <a:prstGeom prst="rect">
              <a:avLst/>
            </a:prstGeom>
            <a:solidFill>
              <a:srgbClr val="A8351D"/>
            </a:solidFill>
            <a:ln>
              <a:noFill/>
            </a:ln>
          </p:spPr>
        </p:sp>
        <p:sp>
          <p:nvSpPr>
            <p:cNvPr id="78" name="TextBox 78"/>
            <p:cNvSpPr txBox="1"/>
            <p:nvPr/>
          </p:nvSpPr>
          <p:spPr>
            <a:xfrm>
              <a:off x="1871662" y="3094911"/>
              <a:ext cx="272371"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3.6​​</a:t>
              </a:r>
            </a:p>
          </p:txBody>
        </p:sp>
        <p:sp>
          <p:nvSpPr>
            <p:cNvPr id="79" name="TextBox 79"/>
            <p:cNvSpPr txBox="1"/>
            <p:nvPr/>
          </p:nvSpPr>
          <p:spPr>
            <a:xfrm>
              <a:off x="543878" y="3309938"/>
              <a:ext cx="413385" cy="147638"/>
            </a:xfrm>
            <a:prstGeom prst="rect">
              <a:avLst/>
            </a:prstGeom>
            <a:noFill/>
            <a:ln>
              <a:noFill/>
            </a:ln>
          </p:spPr>
          <p:txBody>
            <a:bodyPr wrap="none" lIns="0" tIns="0" rIns="0" bIns="0" anchor="t" anchorCtr="0">
              <a:spAutoFit/>
            </a:bodyPr>
            <a:lstStyle/>
            <a:p>
              <a:pPr algn="r"/>
              <a:r>
                <a:rPr lang="zh-CN" sz="750" dirty="0">
                  <a:solidFill>
                    <a:srgbClr val="67281B"/>
                  </a:solidFill>
                  <a:latin typeface="+mn-lt"/>
                  <a:ea typeface="+mn-ea"/>
                  <a:cs typeface="+mn-cs"/>
                </a:rPr>
                <a:t>西北分行</a:t>
              </a:r>
            </a:p>
          </p:txBody>
        </p:sp>
        <p:sp>
          <p:nvSpPr>
            <p:cNvPr id="80" name="Rectangle 80"/>
            <p:cNvSpPr/>
            <p:nvPr/>
          </p:nvSpPr>
          <p:spPr>
            <a:xfrm>
              <a:off x="1009650" y="3295650"/>
              <a:ext cx="647700" cy="133350"/>
            </a:xfrm>
            <a:prstGeom prst="rect">
              <a:avLst/>
            </a:prstGeom>
            <a:solidFill>
              <a:srgbClr val="A8351D"/>
            </a:solidFill>
            <a:ln>
              <a:noFill/>
            </a:ln>
          </p:spPr>
        </p:sp>
        <p:sp>
          <p:nvSpPr>
            <p:cNvPr id="81" name="TextBox 81"/>
            <p:cNvSpPr txBox="1"/>
            <p:nvPr/>
          </p:nvSpPr>
          <p:spPr>
            <a:xfrm>
              <a:off x="1690688" y="3323511"/>
              <a:ext cx="272371"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2.8​​</a:t>
              </a:r>
            </a:p>
          </p:txBody>
        </p:sp>
        <p:sp>
          <p:nvSpPr>
            <p:cNvPr id="82" name="TextBox 82"/>
            <p:cNvSpPr txBox="1"/>
            <p:nvPr/>
          </p:nvSpPr>
          <p:spPr>
            <a:xfrm>
              <a:off x="543878" y="3538538"/>
              <a:ext cx="413385" cy="147638"/>
            </a:xfrm>
            <a:prstGeom prst="rect">
              <a:avLst/>
            </a:prstGeom>
            <a:noFill/>
            <a:ln>
              <a:noFill/>
            </a:ln>
          </p:spPr>
          <p:txBody>
            <a:bodyPr wrap="none" lIns="0" tIns="0" rIns="0" bIns="0" anchor="t" anchorCtr="0">
              <a:spAutoFit/>
            </a:bodyPr>
            <a:lstStyle/>
            <a:p>
              <a:pPr algn="r"/>
              <a:r>
                <a:rPr lang="zh-CN" sz="750" dirty="0">
                  <a:solidFill>
                    <a:srgbClr val="67281B"/>
                  </a:solidFill>
                  <a:latin typeface="+mn-lt"/>
                  <a:ea typeface="+mn-ea"/>
                  <a:cs typeface="+mn-cs"/>
                </a:rPr>
                <a:t>东北分行</a:t>
              </a:r>
            </a:p>
          </p:txBody>
        </p:sp>
        <p:sp>
          <p:nvSpPr>
            <p:cNvPr id="83" name="Rectangle 83"/>
            <p:cNvSpPr/>
            <p:nvPr/>
          </p:nvSpPr>
          <p:spPr>
            <a:xfrm>
              <a:off x="1009650" y="3524250"/>
              <a:ext cx="504825" cy="133350"/>
            </a:xfrm>
            <a:prstGeom prst="rect">
              <a:avLst/>
            </a:prstGeom>
            <a:solidFill>
              <a:srgbClr val="A8351D"/>
            </a:solidFill>
            <a:ln>
              <a:noFill/>
            </a:ln>
          </p:spPr>
        </p:sp>
        <p:sp>
          <p:nvSpPr>
            <p:cNvPr id="84" name="TextBox 84"/>
            <p:cNvSpPr txBox="1"/>
            <p:nvPr/>
          </p:nvSpPr>
          <p:spPr>
            <a:xfrm>
              <a:off x="1547812" y="3552111"/>
              <a:ext cx="272371" cy="140494"/>
            </a:xfrm>
            <a:prstGeom prst="rect">
              <a:avLst/>
            </a:prstGeom>
            <a:noFill/>
            <a:ln>
              <a:noFill/>
            </a:ln>
          </p:spPr>
          <p:txBody>
            <a:bodyPr wrap="none" lIns="0" tIns="0" rIns="0" bIns="0" anchor="t" anchorCtr="0">
              <a:spAutoFit/>
            </a:bodyPr>
            <a:lstStyle/>
            <a:p>
              <a:pPr algn="l"/>
              <a:r>
                <a:rPr lang="zh-CN" sz="710" dirty="0">
                  <a:solidFill>
                    <a:srgbClr val="67281B"/>
                  </a:solidFill>
                  <a:latin typeface="+mn-lt"/>
                  <a:ea typeface="+mn-ea"/>
                  <a:cs typeface="+mn-cs"/>
                </a:rPr>
                <a:t>2.2​​</a:t>
              </a:r>
            </a:p>
          </p:txBody>
        </p:sp>
        <p:sp>
          <p:nvSpPr>
            <p:cNvPr id="85" name="Line 85"/>
            <p:cNvSpPr/>
            <p:nvPr/>
          </p:nvSpPr>
          <p:spPr>
            <a:xfrm>
              <a:off x="1009650" y="3733800"/>
              <a:ext cx="1524000" cy="9525"/>
            </a:xfrm>
            <a:custGeom>
              <a:avLst/>
              <a:gdLst/>
              <a:ahLst/>
              <a:cxnLst/>
              <a:rect l="l" t="t" r="r" b="b"/>
              <a:pathLst>
                <a:path w="1524000" h="9525">
                  <a:moveTo>
                    <a:pt x="0" y="0"/>
                  </a:moveTo>
                  <a:lnTo>
                    <a:pt x="1524000" y="0"/>
                  </a:lnTo>
                </a:path>
              </a:pathLst>
            </a:custGeom>
            <a:noFill/>
            <a:ln w="9525">
              <a:solidFill>
                <a:srgbClr val="C9D8EF"/>
              </a:solidFill>
            </a:ln>
          </p:spPr>
        </p:sp>
        <p:sp>
          <p:nvSpPr>
            <p:cNvPr id="86" name="TextBox 86"/>
            <p:cNvSpPr txBox="1"/>
            <p:nvPr/>
          </p:nvSpPr>
          <p:spPr>
            <a:xfrm>
              <a:off x="979714" y="3775234"/>
              <a:ext cx="59873" cy="133350"/>
            </a:xfrm>
            <a:prstGeom prst="rect">
              <a:avLst/>
            </a:prstGeom>
            <a:noFill/>
            <a:ln>
              <a:noFill/>
            </a:ln>
          </p:spPr>
          <p:txBody>
            <a:bodyPr wrap="none" lIns="0" tIns="0" rIns="0" bIns="0" anchor="t" anchorCtr="0">
              <a:spAutoFit/>
            </a:bodyPr>
            <a:lstStyle/>
            <a:p>
              <a:pPr algn="ctr"/>
              <a:r>
                <a:rPr lang="zh-CN" sz="680" dirty="0">
                  <a:solidFill>
                    <a:srgbClr val="8A94A8"/>
                  </a:solidFill>
                  <a:latin typeface="+mn-lt"/>
                  <a:ea typeface="+mn-ea"/>
                  <a:cs typeface="+mn-cs"/>
                </a:rPr>
                <a:t>0</a:t>
              </a:r>
            </a:p>
          </p:txBody>
        </p:sp>
        <p:sp>
          <p:nvSpPr>
            <p:cNvPr id="87" name="TextBox 87"/>
            <p:cNvSpPr txBox="1"/>
            <p:nvPr/>
          </p:nvSpPr>
          <p:spPr>
            <a:xfrm>
              <a:off x="1436914" y="3775234"/>
              <a:ext cx="59873" cy="133350"/>
            </a:xfrm>
            <a:prstGeom prst="rect">
              <a:avLst/>
            </a:prstGeom>
            <a:noFill/>
            <a:ln>
              <a:noFill/>
            </a:ln>
          </p:spPr>
          <p:txBody>
            <a:bodyPr wrap="none" lIns="0" tIns="0" rIns="0" bIns="0" anchor="t" anchorCtr="0">
              <a:spAutoFit/>
            </a:bodyPr>
            <a:lstStyle/>
            <a:p>
              <a:pPr algn="ctr"/>
              <a:r>
                <a:rPr lang="zh-CN" sz="680" dirty="0">
                  <a:solidFill>
                    <a:srgbClr val="8A94A8"/>
                  </a:solidFill>
                  <a:latin typeface="+mn-lt"/>
                  <a:ea typeface="+mn-ea"/>
                  <a:cs typeface="+mn-cs"/>
                </a:rPr>
                <a:t>2</a:t>
              </a:r>
            </a:p>
          </p:txBody>
        </p:sp>
        <p:sp>
          <p:nvSpPr>
            <p:cNvPr id="88" name="TextBox 88"/>
            <p:cNvSpPr txBox="1"/>
            <p:nvPr/>
          </p:nvSpPr>
          <p:spPr>
            <a:xfrm>
              <a:off x="1903639" y="3775234"/>
              <a:ext cx="59873" cy="133350"/>
            </a:xfrm>
            <a:prstGeom prst="rect">
              <a:avLst/>
            </a:prstGeom>
            <a:noFill/>
            <a:ln>
              <a:noFill/>
            </a:ln>
          </p:spPr>
          <p:txBody>
            <a:bodyPr wrap="none" lIns="0" tIns="0" rIns="0" bIns="0" anchor="t" anchorCtr="0">
              <a:spAutoFit/>
            </a:bodyPr>
            <a:lstStyle/>
            <a:p>
              <a:pPr algn="ctr"/>
              <a:r>
                <a:rPr lang="zh-CN" sz="680" dirty="0">
                  <a:solidFill>
                    <a:srgbClr val="8A94A8"/>
                  </a:solidFill>
                  <a:latin typeface="+mn-lt"/>
                  <a:ea typeface="+mn-ea"/>
                  <a:cs typeface="+mn-cs"/>
                </a:rPr>
                <a:t>4</a:t>
              </a:r>
            </a:p>
          </p:txBody>
        </p:sp>
        <p:sp>
          <p:nvSpPr>
            <p:cNvPr id="89" name="TextBox 89"/>
            <p:cNvSpPr txBox="1"/>
            <p:nvPr/>
          </p:nvSpPr>
          <p:spPr>
            <a:xfrm>
              <a:off x="2360839" y="3775234"/>
              <a:ext cx="59873" cy="133350"/>
            </a:xfrm>
            <a:prstGeom prst="rect">
              <a:avLst/>
            </a:prstGeom>
            <a:noFill/>
            <a:ln>
              <a:noFill/>
            </a:ln>
          </p:spPr>
          <p:txBody>
            <a:bodyPr wrap="none" lIns="0" tIns="0" rIns="0" bIns="0" anchor="t" anchorCtr="0">
              <a:spAutoFit/>
            </a:bodyPr>
            <a:lstStyle/>
            <a:p>
              <a:pPr algn="ctr"/>
              <a:r>
                <a:rPr lang="zh-CN" sz="680" dirty="0">
                  <a:solidFill>
                    <a:srgbClr val="8A94A8"/>
                  </a:solidFill>
                  <a:latin typeface="+mn-lt"/>
                  <a:ea typeface="+mn-ea"/>
                  <a:cs typeface="+mn-cs"/>
                </a:rPr>
                <a:t>6</a:t>
              </a:r>
            </a:p>
          </p:txBody>
        </p:sp>
        <p:sp>
          <p:nvSpPr>
            <p:cNvPr id="90" name="TextBox 90"/>
            <p:cNvSpPr txBox="1"/>
            <p:nvPr/>
          </p:nvSpPr>
          <p:spPr>
            <a:xfrm>
              <a:off x="2852738" y="1942386"/>
              <a:ext cx="1252068" cy="140494"/>
            </a:xfrm>
            <a:prstGeom prst="rect">
              <a:avLst/>
            </a:prstGeom>
            <a:noFill/>
            <a:ln>
              <a:noFill/>
            </a:ln>
          </p:spPr>
          <p:txBody>
            <a:bodyPr wrap="none" lIns="0" tIns="0" rIns="0" bIns="0" anchor="t" anchorCtr="0">
              <a:spAutoFit/>
            </a:bodyPr>
            <a:lstStyle/>
            <a:p>
              <a:pPr algn="l"/>
              <a:r>
                <a:rPr lang="zh-CN" sz="710" dirty="0">
                  <a:solidFill>
                    <a:srgbClr val="785F5A"/>
                  </a:solidFill>
                  <a:latin typeface="+mn-lt"/>
                  <a:ea typeface="+mn-ea"/>
                  <a:cs typeface="+mn-cs"/>
                </a:rPr>
                <a:t>联动覆盖率（区域点位分布）</a:t>
              </a:r>
            </a:p>
          </p:txBody>
        </p:sp>
        <p:sp>
          <p:nvSpPr>
            <p:cNvPr id="91" name="Rectangle 91"/>
            <p:cNvSpPr/>
            <p:nvPr/>
          </p:nvSpPr>
          <p:spPr>
            <a:xfrm>
              <a:off x="2819400" y="2114550"/>
              <a:ext cx="1447800" cy="1238250"/>
            </a:xfrm>
            <a:prstGeom prst="roundRect">
              <a:avLst>
                <a:gd name="adj" fmla="val 4615"/>
              </a:avLst>
            </a:prstGeom>
            <a:solidFill>
              <a:srgbClr val="EAF2FC">
                <a:alpha val="60000"/>
              </a:srgbClr>
            </a:solidFill>
            <a:ln>
              <a:noFill/>
            </a:ln>
          </p:spPr>
        </p:sp>
        <p:sp>
          <p:nvSpPr>
            <p:cNvPr id="92" name="Ellipse 92"/>
            <p:cNvSpPr/>
            <p:nvPr/>
          </p:nvSpPr>
          <p:spPr>
            <a:xfrm>
              <a:off x="3552825" y="2314575"/>
              <a:ext cx="133350" cy="133350"/>
            </a:xfrm>
            <a:prstGeom prst="ellipse">
              <a:avLst/>
            </a:prstGeom>
            <a:solidFill>
              <a:srgbClr val="A8351D"/>
            </a:solidFill>
            <a:ln>
              <a:noFill/>
            </a:ln>
          </p:spPr>
        </p:sp>
        <p:sp>
          <p:nvSpPr>
            <p:cNvPr id="93" name="Ellipse 93"/>
            <p:cNvSpPr/>
            <p:nvPr/>
          </p:nvSpPr>
          <p:spPr>
            <a:xfrm>
              <a:off x="3838575" y="2581275"/>
              <a:ext cx="133350" cy="133350"/>
            </a:xfrm>
            <a:prstGeom prst="ellipse">
              <a:avLst/>
            </a:prstGeom>
            <a:solidFill>
              <a:srgbClr val="A8351D"/>
            </a:solidFill>
            <a:ln>
              <a:noFill/>
            </a:ln>
          </p:spPr>
        </p:sp>
        <p:sp>
          <p:nvSpPr>
            <p:cNvPr id="94" name="Ellipse 94"/>
            <p:cNvSpPr/>
            <p:nvPr/>
          </p:nvSpPr>
          <p:spPr>
            <a:xfrm>
              <a:off x="3705225" y="2905125"/>
              <a:ext cx="133350" cy="133350"/>
            </a:xfrm>
            <a:prstGeom prst="ellipse">
              <a:avLst/>
            </a:prstGeom>
            <a:solidFill>
              <a:srgbClr val="A8351D"/>
            </a:solidFill>
            <a:ln>
              <a:noFill/>
            </a:ln>
          </p:spPr>
        </p:sp>
        <p:sp>
          <p:nvSpPr>
            <p:cNvPr id="95" name="Ellipse 95"/>
            <p:cNvSpPr/>
            <p:nvPr/>
          </p:nvSpPr>
          <p:spPr>
            <a:xfrm>
              <a:off x="3181350" y="2438400"/>
              <a:ext cx="114300" cy="114300"/>
            </a:xfrm>
            <a:prstGeom prst="ellipse">
              <a:avLst/>
            </a:prstGeom>
            <a:solidFill>
              <a:srgbClr val="A5280F"/>
            </a:solidFill>
            <a:ln>
              <a:noFill/>
            </a:ln>
          </p:spPr>
        </p:sp>
        <p:sp>
          <p:nvSpPr>
            <p:cNvPr id="96" name="Ellipse 96"/>
            <p:cNvSpPr/>
            <p:nvPr/>
          </p:nvSpPr>
          <p:spPr>
            <a:xfrm>
              <a:off x="3352800" y="2762250"/>
              <a:ext cx="114300" cy="114300"/>
            </a:xfrm>
            <a:prstGeom prst="ellipse">
              <a:avLst/>
            </a:prstGeom>
            <a:solidFill>
              <a:srgbClr val="A5280F"/>
            </a:solidFill>
            <a:ln>
              <a:noFill/>
            </a:ln>
          </p:spPr>
        </p:sp>
        <p:sp>
          <p:nvSpPr>
            <p:cNvPr id="97" name="Ellipse 97"/>
            <p:cNvSpPr/>
            <p:nvPr/>
          </p:nvSpPr>
          <p:spPr>
            <a:xfrm>
              <a:off x="3981450" y="2228850"/>
              <a:ext cx="114300" cy="114300"/>
            </a:xfrm>
            <a:prstGeom prst="ellipse">
              <a:avLst/>
            </a:prstGeom>
            <a:solidFill>
              <a:srgbClr val="A5280F"/>
            </a:solidFill>
            <a:ln>
              <a:noFill/>
            </a:ln>
          </p:spPr>
        </p:sp>
        <p:sp>
          <p:nvSpPr>
            <p:cNvPr id="98" name="Ellipse 98"/>
            <p:cNvSpPr/>
            <p:nvPr/>
          </p:nvSpPr>
          <p:spPr>
            <a:xfrm>
              <a:off x="3505200" y="3143250"/>
              <a:ext cx="114300" cy="114300"/>
            </a:xfrm>
            <a:prstGeom prst="ellipse">
              <a:avLst/>
            </a:prstGeom>
            <a:solidFill>
              <a:srgbClr val="A5280F"/>
            </a:solidFill>
            <a:ln>
              <a:noFill/>
            </a:ln>
          </p:spPr>
        </p:sp>
        <p:sp>
          <p:nvSpPr>
            <p:cNvPr id="99" name="Ellipse 99"/>
            <p:cNvSpPr/>
            <p:nvPr/>
          </p:nvSpPr>
          <p:spPr>
            <a:xfrm>
              <a:off x="2962275" y="2257425"/>
              <a:ext cx="95250" cy="95250"/>
            </a:xfrm>
            <a:prstGeom prst="ellipse">
              <a:avLst/>
            </a:prstGeom>
            <a:solidFill>
              <a:srgbClr val="ECB4A9"/>
            </a:solidFill>
            <a:ln>
              <a:noFill/>
            </a:ln>
          </p:spPr>
        </p:sp>
        <p:sp>
          <p:nvSpPr>
            <p:cNvPr id="100" name="Ellipse 100"/>
            <p:cNvSpPr/>
            <p:nvPr/>
          </p:nvSpPr>
          <p:spPr>
            <a:xfrm>
              <a:off x="3019425" y="2676525"/>
              <a:ext cx="95250" cy="95250"/>
            </a:xfrm>
            <a:prstGeom prst="ellipse">
              <a:avLst/>
            </a:prstGeom>
            <a:solidFill>
              <a:srgbClr val="ECB4A9"/>
            </a:solidFill>
            <a:ln>
              <a:noFill/>
            </a:ln>
          </p:spPr>
        </p:sp>
        <p:sp>
          <p:nvSpPr>
            <p:cNvPr id="101" name="Ellipse 101"/>
            <p:cNvSpPr/>
            <p:nvPr/>
          </p:nvSpPr>
          <p:spPr>
            <a:xfrm>
              <a:off x="3152775" y="3057525"/>
              <a:ext cx="95250" cy="95250"/>
            </a:xfrm>
            <a:prstGeom prst="ellipse">
              <a:avLst/>
            </a:prstGeom>
            <a:solidFill>
              <a:srgbClr val="ECB4A9"/>
            </a:solidFill>
            <a:ln>
              <a:noFill/>
            </a:ln>
          </p:spPr>
        </p:sp>
        <p:sp>
          <p:nvSpPr>
            <p:cNvPr id="102" name="Ellipse 102"/>
            <p:cNvSpPr/>
            <p:nvPr/>
          </p:nvSpPr>
          <p:spPr>
            <a:xfrm>
              <a:off x="4048125" y="3019425"/>
              <a:ext cx="95250" cy="95250"/>
            </a:xfrm>
            <a:prstGeom prst="ellipse">
              <a:avLst/>
            </a:prstGeom>
            <a:solidFill>
              <a:srgbClr val="ECB4A9"/>
            </a:solidFill>
            <a:ln>
              <a:noFill/>
            </a:ln>
          </p:spPr>
        </p:sp>
        <p:sp>
          <p:nvSpPr>
            <p:cNvPr id="103" name="Ellipse 103"/>
            <p:cNvSpPr/>
            <p:nvPr/>
          </p:nvSpPr>
          <p:spPr>
            <a:xfrm>
              <a:off x="2847975" y="3438525"/>
              <a:ext cx="95250" cy="95250"/>
            </a:xfrm>
            <a:prstGeom prst="ellipse">
              <a:avLst/>
            </a:prstGeom>
            <a:solidFill>
              <a:srgbClr val="A8351D"/>
            </a:solidFill>
            <a:ln>
              <a:noFill/>
            </a:ln>
          </p:spPr>
        </p:sp>
        <p:sp>
          <p:nvSpPr>
            <p:cNvPr id="104" name="TextBox 104"/>
            <p:cNvSpPr txBox="1"/>
            <p:nvPr/>
          </p:nvSpPr>
          <p:spPr>
            <a:xfrm>
              <a:off x="2986088" y="3447336"/>
              <a:ext cx="468310"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高 ≥80%​​</a:t>
              </a:r>
            </a:p>
          </p:txBody>
        </p:sp>
        <p:sp>
          <p:nvSpPr>
            <p:cNvPr id="105" name="Ellipse 105"/>
            <p:cNvSpPr/>
            <p:nvPr/>
          </p:nvSpPr>
          <p:spPr>
            <a:xfrm>
              <a:off x="2847975" y="3629025"/>
              <a:ext cx="95250" cy="95250"/>
            </a:xfrm>
            <a:prstGeom prst="ellipse">
              <a:avLst/>
            </a:prstGeom>
            <a:solidFill>
              <a:srgbClr val="A5280F"/>
            </a:solidFill>
            <a:ln>
              <a:noFill/>
            </a:ln>
          </p:spPr>
        </p:sp>
        <p:sp>
          <p:nvSpPr>
            <p:cNvPr id="106" name="TextBox 106"/>
            <p:cNvSpPr txBox="1"/>
            <p:nvPr/>
          </p:nvSpPr>
          <p:spPr>
            <a:xfrm>
              <a:off x="2986088" y="3637836"/>
              <a:ext cx="645133"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中 50%-80%​​</a:t>
              </a:r>
            </a:p>
          </p:txBody>
        </p:sp>
        <p:sp>
          <p:nvSpPr>
            <p:cNvPr id="107" name="Ellipse 107"/>
            <p:cNvSpPr/>
            <p:nvPr/>
          </p:nvSpPr>
          <p:spPr>
            <a:xfrm>
              <a:off x="2847975" y="3819525"/>
              <a:ext cx="95250" cy="95250"/>
            </a:xfrm>
            <a:prstGeom prst="ellipse">
              <a:avLst/>
            </a:prstGeom>
            <a:solidFill>
              <a:srgbClr val="ECB4A9"/>
            </a:solidFill>
            <a:ln>
              <a:noFill/>
            </a:ln>
          </p:spPr>
        </p:sp>
        <p:sp>
          <p:nvSpPr>
            <p:cNvPr id="108" name="TextBox 108"/>
            <p:cNvSpPr txBox="1"/>
            <p:nvPr/>
          </p:nvSpPr>
          <p:spPr>
            <a:xfrm>
              <a:off x="2986088" y="3828336"/>
              <a:ext cx="468310"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低 &lt;50%​​</a:t>
              </a:r>
            </a:p>
          </p:txBody>
        </p:sp>
      </p:grpSp>
      <p:grpSp>
        <p:nvGrpSpPr>
          <p:cNvPr id="145" name="forecast"/>
          <p:cNvGrpSpPr/>
          <p:nvPr/>
        </p:nvGrpSpPr>
        <p:grpSpPr>
          <a:xfrm>
            <a:off x="4495800" y="1581150"/>
            <a:ext cx="3429000" cy="2514600"/>
            <a:chOff x="4495800" y="1581150"/>
            <a:chExt cx="3429000" cy="2514600"/>
          </a:xfrm>
        </p:grpSpPr>
        <p:sp>
          <p:nvSpPr>
            <p:cNvPr id="110" name="Rectangle 110"/>
            <p:cNvSpPr/>
            <p:nvPr/>
          </p:nvSpPr>
          <p:spPr>
            <a:xfrm>
              <a:off x="4495800" y="1581150"/>
              <a:ext cx="3429000" cy="2514600"/>
            </a:xfrm>
            <a:prstGeom prst="roundRect">
              <a:avLst>
                <a:gd name="adj" fmla="val 3788"/>
              </a:avLst>
            </a:prstGeom>
            <a:solidFill>
              <a:srgbClr val="F9FBFE"/>
            </a:solidFill>
            <a:ln w="9525">
              <a:solidFill>
                <a:srgbClr val="C9D8EF"/>
              </a:solidFill>
            </a:ln>
          </p:spPr>
        </p:sp>
        <p:sp>
          <p:nvSpPr>
            <p:cNvPr id="111" name="Rectangle 111"/>
            <p:cNvSpPr/>
            <p:nvPr/>
          </p:nvSpPr>
          <p:spPr>
            <a:xfrm>
              <a:off x="4495800" y="1581150"/>
              <a:ext cx="3429000" cy="266700"/>
            </a:xfrm>
            <a:prstGeom prst="roundRect">
              <a:avLst>
                <a:gd name="adj" fmla="val 14286"/>
              </a:avLst>
            </a:prstGeom>
            <a:gradFill>
              <a:gsLst>
                <a:gs pos="0">
                  <a:srgbClr val="AD3921"/>
                </a:gs>
                <a:gs pos="100000">
                  <a:srgbClr val="962C16"/>
                </a:gs>
              </a:gsLst>
              <a:lin ang="5400000" scaled="1"/>
            </a:gradFill>
            <a:ln>
              <a:noFill/>
            </a:ln>
          </p:spPr>
        </p:sp>
        <p:sp>
          <p:nvSpPr>
            <p:cNvPr id="112" name="TextBox 112"/>
            <p:cNvSpPr txBox="1"/>
            <p:nvPr/>
          </p:nvSpPr>
          <p:spPr>
            <a:xfrm>
              <a:off x="4905672" y="1660922"/>
              <a:ext cx="2609255"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Forecast=存量贡献+高概率转化+潜力商机​​</a:t>
              </a:r>
            </a:p>
          </p:txBody>
        </p:sp>
        <p:sp>
          <p:nvSpPr>
            <p:cNvPr id="113" name="TextBox 113"/>
            <p:cNvSpPr txBox="1"/>
            <p:nvPr/>
          </p:nvSpPr>
          <p:spPr>
            <a:xfrm>
              <a:off x="4605338" y="1942386"/>
              <a:ext cx="774167" cy="140494"/>
            </a:xfrm>
            <a:prstGeom prst="rect">
              <a:avLst/>
            </a:prstGeom>
            <a:noFill/>
            <a:ln>
              <a:noFill/>
            </a:ln>
          </p:spPr>
          <p:txBody>
            <a:bodyPr wrap="none" lIns="0" tIns="0" rIns="0" bIns="0" anchor="t" anchorCtr="0">
              <a:spAutoFit/>
            </a:bodyPr>
            <a:lstStyle/>
            <a:p>
              <a:pPr algn="l"/>
              <a:r>
                <a:rPr lang="zh-CN" sz="710" dirty="0">
                  <a:solidFill>
                    <a:srgbClr val="785F5A"/>
                  </a:solidFill>
                  <a:latin typeface="+mn-lt"/>
                  <a:ea typeface="+mn-ea"/>
                  <a:cs typeface="+mn-cs"/>
                </a:rPr>
                <a:t>联动中收（亿元）</a:t>
              </a:r>
            </a:p>
          </p:txBody>
        </p:sp>
        <p:sp>
          <p:nvSpPr>
            <p:cNvPr id="114" name="Rectangle 114"/>
            <p:cNvSpPr/>
            <p:nvPr/>
          </p:nvSpPr>
          <p:spPr>
            <a:xfrm>
              <a:off x="4610100" y="2171700"/>
              <a:ext cx="95250" cy="95250"/>
            </a:xfrm>
            <a:prstGeom prst="rect">
              <a:avLst/>
            </a:prstGeom>
            <a:solidFill>
              <a:srgbClr val="67281B"/>
            </a:solidFill>
            <a:ln>
              <a:noFill/>
            </a:ln>
          </p:spPr>
        </p:sp>
        <p:sp>
          <p:nvSpPr>
            <p:cNvPr id="115" name="TextBox 115"/>
            <p:cNvSpPr txBox="1"/>
            <p:nvPr/>
          </p:nvSpPr>
          <p:spPr>
            <a:xfrm>
              <a:off x="4757738" y="2180511"/>
              <a:ext cx="39184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存量贡献</a:t>
              </a:r>
            </a:p>
          </p:txBody>
        </p:sp>
        <p:sp>
          <p:nvSpPr>
            <p:cNvPr id="116" name="Rectangle 116"/>
            <p:cNvSpPr/>
            <p:nvPr/>
          </p:nvSpPr>
          <p:spPr>
            <a:xfrm>
              <a:off x="4610100" y="2343150"/>
              <a:ext cx="95250" cy="95250"/>
            </a:xfrm>
            <a:prstGeom prst="rect">
              <a:avLst/>
            </a:prstGeom>
            <a:solidFill>
              <a:srgbClr val="A5280F"/>
            </a:solidFill>
            <a:ln>
              <a:noFill/>
            </a:ln>
          </p:spPr>
        </p:sp>
        <p:sp>
          <p:nvSpPr>
            <p:cNvPr id="117" name="TextBox 117"/>
            <p:cNvSpPr txBox="1"/>
            <p:nvPr/>
          </p:nvSpPr>
          <p:spPr>
            <a:xfrm>
              <a:off x="4757738" y="2351961"/>
              <a:ext cx="48742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高概率转化</a:t>
              </a:r>
            </a:p>
          </p:txBody>
        </p:sp>
        <p:sp>
          <p:nvSpPr>
            <p:cNvPr id="118" name="Rectangle 118"/>
            <p:cNvSpPr/>
            <p:nvPr/>
          </p:nvSpPr>
          <p:spPr>
            <a:xfrm>
              <a:off x="4610100" y="2514600"/>
              <a:ext cx="95250" cy="95250"/>
            </a:xfrm>
            <a:prstGeom prst="rect">
              <a:avLst/>
            </a:prstGeom>
            <a:solidFill>
              <a:srgbClr val="ECB4A9"/>
            </a:solidFill>
            <a:ln>
              <a:noFill/>
            </a:ln>
          </p:spPr>
        </p:sp>
        <p:sp>
          <p:nvSpPr>
            <p:cNvPr id="119" name="TextBox 119"/>
            <p:cNvSpPr txBox="1"/>
            <p:nvPr/>
          </p:nvSpPr>
          <p:spPr>
            <a:xfrm>
              <a:off x="4757738" y="2523411"/>
              <a:ext cx="391846" cy="140494"/>
            </a:xfrm>
            <a:prstGeom prst="rect">
              <a:avLst/>
            </a:prstGeom>
            <a:noFill/>
            <a:ln>
              <a:noFill/>
            </a:ln>
          </p:spPr>
          <p:txBody>
            <a:bodyPr wrap="none" lIns="0" tIns="0" rIns="0" bIns="0" anchor="t" anchorCtr="0">
              <a:spAutoFit/>
            </a:bodyPr>
            <a:lstStyle/>
            <a:p>
              <a:pPr algn="l"/>
              <a:r>
                <a:rPr lang="zh-CN" sz="710" dirty="0">
                  <a:solidFill>
                    <a:srgbClr val="5A443F"/>
                  </a:solidFill>
                  <a:latin typeface="+mn-lt"/>
                  <a:ea typeface="+mn-ea"/>
                  <a:cs typeface="+mn-cs"/>
                </a:rPr>
                <a:t>潜力商机</a:t>
              </a:r>
            </a:p>
          </p:txBody>
        </p:sp>
        <p:sp>
          <p:nvSpPr>
            <p:cNvPr id="120" name="Rectangle 120"/>
            <p:cNvSpPr/>
            <p:nvPr/>
          </p:nvSpPr>
          <p:spPr>
            <a:xfrm>
              <a:off x="5524500" y="3368040"/>
              <a:ext cx="571500" cy="403860"/>
            </a:xfrm>
            <a:prstGeom prst="rect">
              <a:avLst/>
            </a:prstGeom>
            <a:solidFill>
              <a:srgbClr val="67281B"/>
            </a:solidFill>
            <a:ln>
              <a:noFill/>
            </a:ln>
          </p:spPr>
        </p:sp>
        <p:sp>
          <p:nvSpPr>
            <p:cNvPr id="121" name="TextBox 121"/>
            <p:cNvSpPr txBox="1"/>
            <p:nvPr/>
          </p:nvSpPr>
          <p:spPr>
            <a:xfrm>
              <a:off x="5674065" y="3523536"/>
              <a:ext cx="272371"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5.6​​</a:t>
              </a:r>
            </a:p>
          </p:txBody>
        </p:sp>
        <p:sp>
          <p:nvSpPr>
            <p:cNvPr id="122" name="Rectangle 122"/>
            <p:cNvSpPr/>
            <p:nvPr/>
          </p:nvSpPr>
          <p:spPr>
            <a:xfrm>
              <a:off x="5524500" y="3136582"/>
              <a:ext cx="571500" cy="231458"/>
            </a:xfrm>
            <a:prstGeom prst="rect">
              <a:avLst/>
            </a:prstGeom>
            <a:solidFill>
              <a:srgbClr val="A5280F"/>
            </a:solidFill>
            <a:ln>
              <a:noFill/>
            </a:ln>
          </p:spPr>
        </p:sp>
        <p:sp>
          <p:nvSpPr>
            <p:cNvPr id="123" name="TextBox 123"/>
            <p:cNvSpPr txBox="1"/>
            <p:nvPr/>
          </p:nvSpPr>
          <p:spPr>
            <a:xfrm>
              <a:off x="5674065" y="3209211"/>
              <a:ext cx="272371"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3.2​​</a:t>
              </a:r>
            </a:p>
          </p:txBody>
        </p:sp>
        <p:sp>
          <p:nvSpPr>
            <p:cNvPr id="124" name="Rectangle 124"/>
            <p:cNvSpPr/>
            <p:nvPr/>
          </p:nvSpPr>
          <p:spPr>
            <a:xfrm>
              <a:off x="5524500" y="2963228"/>
              <a:ext cx="571500" cy="173355"/>
            </a:xfrm>
            <a:prstGeom prst="rect">
              <a:avLst/>
            </a:prstGeom>
            <a:solidFill>
              <a:srgbClr val="ECB4A9"/>
            </a:solidFill>
            <a:ln>
              <a:noFill/>
            </a:ln>
          </p:spPr>
        </p:sp>
        <p:sp>
          <p:nvSpPr>
            <p:cNvPr id="125" name="TextBox 125"/>
            <p:cNvSpPr txBox="1"/>
            <p:nvPr/>
          </p:nvSpPr>
          <p:spPr>
            <a:xfrm>
              <a:off x="5674065" y="3009186"/>
              <a:ext cx="272371"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2.4​​</a:t>
              </a:r>
            </a:p>
          </p:txBody>
        </p:sp>
        <p:sp>
          <p:nvSpPr>
            <p:cNvPr id="126" name="TextBox 126"/>
            <p:cNvSpPr txBox="1"/>
            <p:nvPr/>
          </p:nvSpPr>
          <p:spPr>
            <a:xfrm>
              <a:off x="5614240" y="2806541"/>
              <a:ext cx="392021"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11.2​​</a:t>
              </a:r>
            </a:p>
          </p:txBody>
        </p:sp>
        <p:sp>
          <p:nvSpPr>
            <p:cNvPr id="127" name="Rectangle 127"/>
            <p:cNvSpPr/>
            <p:nvPr/>
          </p:nvSpPr>
          <p:spPr>
            <a:xfrm>
              <a:off x="6381750" y="3281362"/>
              <a:ext cx="571500" cy="490538"/>
            </a:xfrm>
            <a:prstGeom prst="rect">
              <a:avLst/>
            </a:prstGeom>
            <a:solidFill>
              <a:srgbClr val="67281B"/>
            </a:solidFill>
            <a:ln>
              <a:noFill/>
            </a:ln>
          </p:spPr>
        </p:sp>
        <p:sp>
          <p:nvSpPr>
            <p:cNvPr id="128" name="TextBox 128"/>
            <p:cNvSpPr txBox="1"/>
            <p:nvPr/>
          </p:nvSpPr>
          <p:spPr>
            <a:xfrm>
              <a:off x="6531315" y="3485436"/>
              <a:ext cx="272371"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6.8​​</a:t>
              </a:r>
            </a:p>
          </p:txBody>
        </p:sp>
        <p:sp>
          <p:nvSpPr>
            <p:cNvPr id="129" name="Rectangle 129"/>
            <p:cNvSpPr/>
            <p:nvPr/>
          </p:nvSpPr>
          <p:spPr>
            <a:xfrm>
              <a:off x="6381750" y="2948940"/>
              <a:ext cx="571500" cy="332422"/>
            </a:xfrm>
            <a:prstGeom prst="rect">
              <a:avLst/>
            </a:prstGeom>
            <a:solidFill>
              <a:srgbClr val="A5280F"/>
            </a:solidFill>
            <a:ln>
              <a:noFill/>
            </a:ln>
          </p:spPr>
        </p:sp>
        <p:sp>
          <p:nvSpPr>
            <p:cNvPr id="130" name="TextBox 130"/>
            <p:cNvSpPr txBox="1"/>
            <p:nvPr/>
          </p:nvSpPr>
          <p:spPr>
            <a:xfrm>
              <a:off x="6531315" y="3075861"/>
              <a:ext cx="272371"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4.6​​</a:t>
              </a:r>
            </a:p>
          </p:txBody>
        </p:sp>
        <p:sp>
          <p:nvSpPr>
            <p:cNvPr id="131" name="Rectangle 131"/>
            <p:cNvSpPr/>
            <p:nvPr/>
          </p:nvSpPr>
          <p:spPr>
            <a:xfrm>
              <a:off x="6381750" y="2667000"/>
              <a:ext cx="571500" cy="281940"/>
            </a:xfrm>
            <a:prstGeom prst="rect">
              <a:avLst/>
            </a:prstGeom>
            <a:solidFill>
              <a:srgbClr val="ECB4A9"/>
            </a:solidFill>
            <a:ln>
              <a:noFill/>
            </a:ln>
          </p:spPr>
        </p:sp>
        <p:sp>
          <p:nvSpPr>
            <p:cNvPr id="132" name="TextBox 132"/>
            <p:cNvSpPr txBox="1"/>
            <p:nvPr/>
          </p:nvSpPr>
          <p:spPr>
            <a:xfrm>
              <a:off x="6531315" y="2761536"/>
              <a:ext cx="272371"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3.9​​</a:t>
              </a:r>
            </a:p>
          </p:txBody>
        </p:sp>
        <p:sp>
          <p:nvSpPr>
            <p:cNvPr id="133" name="TextBox 133"/>
            <p:cNvSpPr txBox="1"/>
            <p:nvPr/>
          </p:nvSpPr>
          <p:spPr>
            <a:xfrm>
              <a:off x="6471490" y="2511266"/>
              <a:ext cx="392021"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15.3​​</a:t>
              </a:r>
            </a:p>
          </p:txBody>
        </p:sp>
        <p:sp>
          <p:nvSpPr>
            <p:cNvPr id="134" name="Rectangle 134"/>
            <p:cNvSpPr/>
            <p:nvPr/>
          </p:nvSpPr>
          <p:spPr>
            <a:xfrm>
              <a:off x="7239000" y="3194685"/>
              <a:ext cx="571500" cy="577215"/>
            </a:xfrm>
            <a:prstGeom prst="rect">
              <a:avLst/>
            </a:prstGeom>
            <a:solidFill>
              <a:srgbClr val="67281B"/>
            </a:solidFill>
            <a:ln>
              <a:noFill/>
            </a:ln>
          </p:spPr>
        </p:sp>
        <p:sp>
          <p:nvSpPr>
            <p:cNvPr id="135" name="TextBox 135"/>
            <p:cNvSpPr txBox="1"/>
            <p:nvPr/>
          </p:nvSpPr>
          <p:spPr>
            <a:xfrm>
              <a:off x="7388565" y="3447336"/>
              <a:ext cx="272371"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8.0​​</a:t>
              </a:r>
            </a:p>
          </p:txBody>
        </p:sp>
        <p:sp>
          <p:nvSpPr>
            <p:cNvPr id="136" name="Rectangle 136"/>
            <p:cNvSpPr/>
            <p:nvPr/>
          </p:nvSpPr>
          <p:spPr>
            <a:xfrm>
              <a:off x="7239000" y="2761298"/>
              <a:ext cx="571500" cy="433388"/>
            </a:xfrm>
            <a:prstGeom prst="rect">
              <a:avLst/>
            </a:prstGeom>
            <a:solidFill>
              <a:srgbClr val="A5280F"/>
            </a:solidFill>
            <a:ln>
              <a:noFill/>
            </a:ln>
          </p:spPr>
        </p:sp>
        <p:sp>
          <p:nvSpPr>
            <p:cNvPr id="137" name="TextBox 137"/>
            <p:cNvSpPr txBox="1"/>
            <p:nvPr/>
          </p:nvSpPr>
          <p:spPr>
            <a:xfrm>
              <a:off x="7388565" y="2932986"/>
              <a:ext cx="272371"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6.0​​</a:t>
              </a:r>
            </a:p>
          </p:txBody>
        </p:sp>
        <p:sp>
          <p:nvSpPr>
            <p:cNvPr id="138" name="Rectangle 138"/>
            <p:cNvSpPr/>
            <p:nvPr/>
          </p:nvSpPr>
          <p:spPr>
            <a:xfrm>
              <a:off x="7239000" y="2342198"/>
              <a:ext cx="571500" cy="419100"/>
            </a:xfrm>
            <a:prstGeom prst="rect">
              <a:avLst/>
            </a:prstGeom>
            <a:solidFill>
              <a:srgbClr val="ECB4A9"/>
            </a:solidFill>
            <a:ln>
              <a:noFill/>
            </a:ln>
          </p:spPr>
        </p:sp>
        <p:sp>
          <p:nvSpPr>
            <p:cNvPr id="139" name="TextBox 139"/>
            <p:cNvSpPr txBox="1"/>
            <p:nvPr/>
          </p:nvSpPr>
          <p:spPr>
            <a:xfrm>
              <a:off x="7388565" y="2513886"/>
              <a:ext cx="272371" cy="140494"/>
            </a:xfrm>
            <a:prstGeom prst="rect">
              <a:avLst/>
            </a:prstGeom>
            <a:noFill/>
            <a:ln>
              <a:noFill/>
            </a:ln>
          </p:spPr>
          <p:txBody>
            <a:bodyPr wrap="none" lIns="0" tIns="0" rIns="0" bIns="0" anchor="t" anchorCtr="0">
              <a:spAutoFit/>
            </a:bodyPr>
            <a:lstStyle/>
            <a:p>
              <a:pPr algn="ctr"/>
              <a:r>
                <a:rPr lang="zh-CN" sz="710" dirty="0">
                  <a:solidFill>
                    <a:srgbClr val="67281B"/>
                  </a:solidFill>
                  <a:latin typeface="+mn-lt"/>
                  <a:ea typeface="+mn-ea"/>
                  <a:cs typeface="+mn-cs"/>
                </a:rPr>
                <a:t>5.8​​</a:t>
              </a:r>
            </a:p>
          </p:txBody>
        </p:sp>
        <p:sp>
          <p:nvSpPr>
            <p:cNvPr id="140" name="TextBox 140"/>
            <p:cNvSpPr txBox="1"/>
            <p:nvPr/>
          </p:nvSpPr>
          <p:spPr>
            <a:xfrm>
              <a:off x="7328740" y="2187416"/>
              <a:ext cx="392021" cy="161925"/>
            </a:xfrm>
            <a:prstGeom prst="rect">
              <a:avLst/>
            </a:prstGeom>
            <a:noFill/>
            <a:ln>
              <a:noFill/>
            </a:ln>
          </p:spPr>
          <p:txBody>
            <a:bodyPr wrap="none" lIns="0" tIns="0" rIns="0" bIns="0" anchor="t" anchorCtr="0">
              <a:spAutoFit/>
            </a:bodyPr>
            <a:lstStyle/>
            <a:p>
              <a:pPr algn="ctr"/>
              <a:r>
                <a:rPr lang="zh-CN" sz="820" b="1" dirty="0">
                  <a:solidFill>
                    <a:srgbClr val="67281B"/>
                  </a:solidFill>
                  <a:latin typeface="+mn-lt"/>
                  <a:ea typeface="+mn-ea"/>
                  <a:cs typeface="+mn-cs"/>
                </a:rPr>
                <a:t>19.8​​</a:t>
              </a:r>
            </a:p>
          </p:txBody>
        </p:sp>
        <p:sp>
          <p:nvSpPr>
            <p:cNvPr id="141" name="Line 141"/>
            <p:cNvSpPr/>
            <p:nvPr/>
          </p:nvSpPr>
          <p:spPr>
            <a:xfrm>
              <a:off x="5429250" y="3771900"/>
              <a:ext cx="2438400" cy="9525"/>
            </a:xfrm>
            <a:custGeom>
              <a:avLst/>
              <a:gdLst/>
              <a:ahLst/>
              <a:cxnLst/>
              <a:rect l="l" t="t" r="r" b="b"/>
              <a:pathLst>
                <a:path w="2438400" h="9525">
                  <a:moveTo>
                    <a:pt x="0" y="0"/>
                  </a:moveTo>
                  <a:lnTo>
                    <a:pt x="2438400" y="0"/>
                  </a:lnTo>
                </a:path>
              </a:pathLst>
            </a:custGeom>
            <a:noFill/>
            <a:ln w="9525">
              <a:solidFill>
                <a:srgbClr val="C9D8EF"/>
              </a:solidFill>
            </a:ln>
          </p:spPr>
        </p:sp>
        <p:sp>
          <p:nvSpPr>
            <p:cNvPr id="142" name="TextBox 142"/>
            <p:cNvSpPr txBox="1"/>
            <p:nvPr/>
          </p:nvSpPr>
          <p:spPr>
            <a:xfrm>
              <a:off x="5699138" y="3858339"/>
              <a:ext cx="222225"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保守</a:t>
              </a:r>
            </a:p>
          </p:txBody>
        </p:sp>
        <p:sp>
          <p:nvSpPr>
            <p:cNvPr id="143" name="TextBox 143"/>
            <p:cNvSpPr txBox="1"/>
            <p:nvPr/>
          </p:nvSpPr>
          <p:spPr>
            <a:xfrm>
              <a:off x="6556388" y="3858339"/>
              <a:ext cx="222225"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基准</a:t>
              </a:r>
            </a:p>
          </p:txBody>
        </p:sp>
        <p:sp>
          <p:nvSpPr>
            <p:cNvPr id="144" name="TextBox 144"/>
            <p:cNvSpPr txBox="1"/>
            <p:nvPr/>
          </p:nvSpPr>
          <p:spPr>
            <a:xfrm>
              <a:off x="7413638" y="3858339"/>
              <a:ext cx="222225" cy="154781"/>
            </a:xfrm>
            <a:prstGeom prst="rect">
              <a:avLst/>
            </a:prstGeom>
            <a:noFill/>
            <a:ln>
              <a:noFill/>
            </a:ln>
          </p:spPr>
          <p:txBody>
            <a:bodyPr wrap="none" lIns="0" tIns="0" rIns="0" bIns="0" anchor="t" anchorCtr="0">
              <a:spAutoFit/>
            </a:bodyPr>
            <a:lstStyle/>
            <a:p>
              <a:pPr algn="ctr"/>
              <a:r>
                <a:rPr lang="zh-CN" sz="790" b="1" dirty="0">
                  <a:solidFill>
                    <a:srgbClr val="67281B"/>
                  </a:solidFill>
                  <a:latin typeface="+mn-lt"/>
                  <a:ea typeface="+mn-ea"/>
                  <a:cs typeface="+mn-cs"/>
                </a:rPr>
                <a:t>进取</a:t>
              </a:r>
            </a:p>
          </p:txBody>
        </p:sp>
      </p:grpSp>
      <p:grpSp>
        <p:nvGrpSpPr>
          <p:cNvPr id="210" name="campaign-progress"/>
          <p:cNvGrpSpPr/>
          <p:nvPr/>
        </p:nvGrpSpPr>
        <p:grpSpPr>
          <a:xfrm>
            <a:off x="8039100" y="1581150"/>
            <a:ext cx="3771900" cy="2514600"/>
            <a:chOff x="8039100" y="1581150"/>
            <a:chExt cx="3771900" cy="2514600"/>
          </a:xfrm>
        </p:grpSpPr>
        <p:sp>
          <p:nvSpPr>
            <p:cNvPr id="146" name="Rectangle 146"/>
            <p:cNvSpPr/>
            <p:nvPr/>
          </p:nvSpPr>
          <p:spPr>
            <a:xfrm>
              <a:off x="8039100" y="1581150"/>
              <a:ext cx="3771900" cy="2514600"/>
            </a:xfrm>
            <a:prstGeom prst="roundRect">
              <a:avLst>
                <a:gd name="adj" fmla="val 3788"/>
              </a:avLst>
            </a:prstGeom>
            <a:solidFill>
              <a:srgbClr val="F9FBFE"/>
            </a:solidFill>
            <a:ln w="9525">
              <a:solidFill>
                <a:srgbClr val="C9D8EF"/>
              </a:solidFill>
            </a:ln>
          </p:spPr>
        </p:sp>
        <p:sp>
          <p:nvSpPr>
            <p:cNvPr id="147" name="Rectangle 147"/>
            <p:cNvSpPr/>
            <p:nvPr/>
          </p:nvSpPr>
          <p:spPr>
            <a:xfrm>
              <a:off x="8039100" y="1581150"/>
              <a:ext cx="3771900" cy="266700"/>
            </a:xfrm>
            <a:prstGeom prst="roundRect">
              <a:avLst>
                <a:gd name="adj" fmla="val 14286"/>
              </a:avLst>
            </a:prstGeom>
            <a:gradFill>
              <a:gsLst>
                <a:gs pos="0">
                  <a:srgbClr val="AD3921"/>
                </a:gs>
                <a:gs pos="100000">
                  <a:srgbClr val="962C16"/>
                </a:gs>
              </a:gsLst>
              <a:lin ang="5400000" scaled="1"/>
            </a:gradFill>
            <a:ln>
              <a:noFill/>
            </a:ln>
          </p:spPr>
        </p:sp>
        <p:sp>
          <p:nvSpPr>
            <p:cNvPr id="148" name="TextBox 148"/>
            <p:cNvSpPr txBox="1"/>
            <p:nvPr/>
          </p:nvSpPr>
          <p:spPr>
            <a:xfrm>
              <a:off x="9392387" y="1656874"/>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六大战役进度矩阵</a:t>
              </a:r>
            </a:p>
          </p:txBody>
        </p:sp>
        <p:sp>
          <p:nvSpPr>
            <p:cNvPr id="149" name="Rectangle 149"/>
            <p:cNvSpPr/>
            <p:nvPr/>
          </p:nvSpPr>
          <p:spPr>
            <a:xfrm>
              <a:off x="8115300" y="1943100"/>
              <a:ext cx="3657600" cy="228600"/>
            </a:xfrm>
            <a:prstGeom prst="rect">
              <a:avLst/>
            </a:prstGeom>
            <a:solidFill>
              <a:srgbClr val="A8351D"/>
            </a:solidFill>
            <a:ln>
              <a:noFill/>
            </a:ln>
          </p:spPr>
        </p:sp>
        <p:sp>
          <p:nvSpPr>
            <p:cNvPr id="150" name="TextBox 150"/>
            <p:cNvSpPr txBox="1"/>
            <p:nvPr/>
          </p:nvSpPr>
          <p:spPr>
            <a:xfrm>
              <a:off x="8438198" y="20145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战役</a:t>
              </a:r>
            </a:p>
          </p:txBody>
        </p:sp>
        <p:sp>
          <p:nvSpPr>
            <p:cNvPr id="151" name="TextBox 151"/>
            <p:cNvSpPr txBox="1"/>
            <p:nvPr/>
          </p:nvSpPr>
          <p:spPr>
            <a:xfrm>
              <a:off x="9143048" y="20145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目标</a:t>
              </a:r>
            </a:p>
          </p:txBody>
        </p:sp>
        <p:sp>
          <p:nvSpPr>
            <p:cNvPr id="152" name="TextBox 152"/>
            <p:cNvSpPr txBox="1"/>
            <p:nvPr/>
          </p:nvSpPr>
          <p:spPr>
            <a:xfrm>
              <a:off x="9695498" y="20145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实际</a:t>
              </a:r>
            </a:p>
          </p:txBody>
        </p:sp>
        <p:sp>
          <p:nvSpPr>
            <p:cNvPr id="153" name="TextBox 153"/>
            <p:cNvSpPr txBox="1"/>
            <p:nvPr/>
          </p:nvSpPr>
          <p:spPr>
            <a:xfrm>
              <a:off x="10178415" y="2014538"/>
              <a:ext cx="31242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完成率</a:t>
              </a:r>
            </a:p>
          </p:txBody>
        </p:sp>
        <p:sp>
          <p:nvSpPr>
            <p:cNvPr id="154" name="TextBox 154"/>
            <p:cNvSpPr txBox="1"/>
            <p:nvPr/>
          </p:nvSpPr>
          <p:spPr>
            <a:xfrm>
              <a:off x="10676572" y="20145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趋势</a:t>
              </a:r>
            </a:p>
          </p:txBody>
        </p:sp>
        <p:sp>
          <p:nvSpPr>
            <p:cNvPr id="155" name="TextBox 155"/>
            <p:cNvSpPr txBox="1"/>
            <p:nvPr/>
          </p:nvSpPr>
          <p:spPr>
            <a:xfrm>
              <a:off x="11166158" y="20145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责任机构</a:t>
              </a:r>
            </a:p>
          </p:txBody>
        </p:sp>
        <p:sp>
          <p:nvSpPr>
            <p:cNvPr id="156" name="Rectangle 156"/>
            <p:cNvSpPr/>
            <p:nvPr/>
          </p:nvSpPr>
          <p:spPr>
            <a:xfrm>
              <a:off x="8115300" y="2171700"/>
              <a:ext cx="3657600" cy="304800"/>
            </a:xfrm>
            <a:prstGeom prst="rect">
              <a:avLst/>
            </a:prstGeom>
            <a:solidFill>
              <a:srgbClr val="FFFFFF"/>
            </a:solidFill>
            <a:ln w="9525">
              <a:solidFill>
                <a:srgbClr val="E2EAF6"/>
              </a:solidFill>
            </a:ln>
          </p:spPr>
        </p:sp>
        <p:sp>
          <p:nvSpPr>
            <p:cNvPr id="157" name="TextBox 157"/>
            <p:cNvSpPr txBox="1"/>
            <p:nvPr/>
          </p:nvSpPr>
          <p:spPr>
            <a:xfrm>
              <a:off x="8337232" y="228123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代发激活</a:t>
              </a:r>
            </a:p>
          </p:txBody>
        </p:sp>
        <p:sp>
          <p:nvSpPr>
            <p:cNvPr id="158" name="TextBox 158"/>
            <p:cNvSpPr txBox="1"/>
            <p:nvPr/>
          </p:nvSpPr>
          <p:spPr>
            <a:xfrm>
              <a:off x="9004221" y="22812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5.0亿元​​</a:t>
              </a:r>
            </a:p>
          </p:txBody>
        </p:sp>
        <p:sp>
          <p:nvSpPr>
            <p:cNvPr id="159" name="TextBox 159"/>
            <p:cNvSpPr txBox="1"/>
            <p:nvPr/>
          </p:nvSpPr>
          <p:spPr>
            <a:xfrm>
              <a:off x="9556671" y="22812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3.2亿元​​</a:t>
              </a:r>
            </a:p>
          </p:txBody>
        </p:sp>
        <p:sp>
          <p:nvSpPr>
            <p:cNvPr id="160" name="TextBox 160"/>
            <p:cNvSpPr txBox="1"/>
            <p:nvPr/>
          </p:nvSpPr>
          <p:spPr>
            <a:xfrm>
              <a:off x="10165153" y="2277189"/>
              <a:ext cx="338944" cy="154781"/>
            </a:xfrm>
            <a:prstGeom prst="rect">
              <a:avLst/>
            </a:prstGeom>
            <a:noFill/>
            <a:ln>
              <a:noFill/>
            </a:ln>
          </p:spPr>
          <p:txBody>
            <a:bodyPr wrap="none" lIns="0" tIns="0" rIns="0" bIns="0" anchor="t" anchorCtr="0">
              <a:spAutoFit/>
            </a:bodyPr>
            <a:lstStyle/>
            <a:p>
              <a:pPr algn="ctr"/>
              <a:r>
                <a:rPr lang="zh-CN" sz="790" b="1" dirty="0">
                  <a:solidFill>
                    <a:srgbClr val="92210B"/>
                  </a:solidFill>
                  <a:latin typeface="+mn-lt"/>
                  <a:ea typeface="+mn-ea"/>
                  <a:cs typeface="+mn-cs"/>
                </a:rPr>
                <a:t>64%​​</a:t>
              </a:r>
            </a:p>
          </p:txBody>
        </p:sp>
        <p:grpSp>
          <p:nvGrpSpPr>
            <p:cNvPr id="163" name="Group 163"/>
            <p:cNvGrpSpPr/>
            <p:nvPr/>
          </p:nvGrpSpPr>
          <p:grpSpPr>
            <a:xfrm>
              <a:off x="10725150" y="2292350"/>
              <a:ext cx="114300" cy="63500"/>
              <a:chOff x="10725150" y="2292350"/>
              <a:chExt cx="114300" cy="63500"/>
            </a:xfrm>
          </p:grpSpPr>
          <p:sp>
            <p:nvSpPr>
              <p:cNvPr id="161" name="Freeform 161"/>
              <p:cNvSpPr/>
              <p:nvPr/>
            </p:nvSpPr>
            <p:spPr>
              <a:xfrm>
                <a:off x="10725150" y="22923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C9462F"/>
                </a:solidFill>
              </a:ln>
            </p:spPr>
          </p:sp>
          <p:sp>
            <p:nvSpPr>
              <p:cNvPr id="162" name="Freeform 162"/>
              <p:cNvSpPr/>
              <p:nvPr/>
            </p:nvSpPr>
            <p:spPr>
              <a:xfrm>
                <a:off x="10795000" y="2292350"/>
                <a:ext cx="44450" cy="44450"/>
              </a:xfrm>
              <a:custGeom>
                <a:avLst/>
                <a:gdLst/>
                <a:ahLst/>
                <a:cxnLst/>
                <a:rect l="l" t="t" r="r" b="b"/>
                <a:pathLst>
                  <a:path w="44450" h="44450">
                    <a:moveTo>
                      <a:pt x="0" y="0"/>
                    </a:moveTo>
                    <a:lnTo>
                      <a:pt x="44450" y="0"/>
                    </a:lnTo>
                    <a:lnTo>
                      <a:pt x="44450" y="44450"/>
                    </a:lnTo>
                  </a:path>
                </a:pathLst>
              </a:custGeom>
              <a:noFill/>
              <a:ln w="12700">
                <a:solidFill>
                  <a:srgbClr val="C9462F"/>
                </a:solidFill>
              </a:ln>
            </p:spPr>
          </p:sp>
        </p:grpSp>
        <p:sp>
          <p:nvSpPr>
            <p:cNvPr id="164" name="TextBox 164"/>
            <p:cNvSpPr txBox="1"/>
            <p:nvPr/>
          </p:nvSpPr>
          <p:spPr>
            <a:xfrm>
              <a:off x="11115675" y="2281238"/>
              <a:ext cx="514350"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零售银行部</a:t>
              </a:r>
            </a:p>
          </p:txBody>
        </p:sp>
        <p:sp>
          <p:nvSpPr>
            <p:cNvPr id="165" name="Rectangle 165"/>
            <p:cNvSpPr/>
            <p:nvPr/>
          </p:nvSpPr>
          <p:spPr>
            <a:xfrm>
              <a:off x="8115300" y="2476500"/>
              <a:ext cx="3657600" cy="304800"/>
            </a:xfrm>
            <a:prstGeom prst="rect">
              <a:avLst/>
            </a:prstGeom>
            <a:solidFill>
              <a:srgbClr val="F7FAFE"/>
            </a:solidFill>
            <a:ln w="9525">
              <a:solidFill>
                <a:srgbClr val="E2EAF6"/>
              </a:solidFill>
            </a:ln>
          </p:spPr>
        </p:sp>
        <p:sp>
          <p:nvSpPr>
            <p:cNvPr id="166" name="TextBox 166"/>
            <p:cNvSpPr txBox="1"/>
            <p:nvPr/>
          </p:nvSpPr>
          <p:spPr>
            <a:xfrm>
              <a:off x="8337232" y="258603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高管财富</a:t>
              </a:r>
            </a:p>
          </p:txBody>
        </p:sp>
        <p:sp>
          <p:nvSpPr>
            <p:cNvPr id="167" name="TextBox 167"/>
            <p:cNvSpPr txBox="1"/>
            <p:nvPr/>
          </p:nvSpPr>
          <p:spPr>
            <a:xfrm>
              <a:off x="9004221" y="25860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4.0亿元​​</a:t>
              </a:r>
            </a:p>
          </p:txBody>
        </p:sp>
        <p:sp>
          <p:nvSpPr>
            <p:cNvPr id="168" name="TextBox 168"/>
            <p:cNvSpPr txBox="1"/>
            <p:nvPr/>
          </p:nvSpPr>
          <p:spPr>
            <a:xfrm>
              <a:off x="9556671" y="25860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2.7亿元​​</a:t>
              </a:r>
            </a:p>
          </p:txBody>
        </p:sp>
        <p:sp>
          <p:nvSpPr>
            <p:cNvPr id="169" name="TextBox 169"/>
            <p:cNvSpPr txBox="1"/>
            <p:nvPr/>
          </p:nvSpPr>
          <p:spPr>
            <a:xfrm>
              <a:off x="10165153" y="2581989"/>
              <a:ext cx="338944" cy="154781"/>
            </a:xfrm>
            <a:prstGeom prst="rect">
              <a:avLst/>
            </a:prstGeom>
            <a:noFill/>
            <a:ln>
              <a:noFill/>
            </a:ln>
          </p:spPr>
          <p:txBody>
            <a:bodyPr wrap="none" lIns="0" tIns="0" rIns="0" bIns="0" anchor="t" anchorCtr="0">
              <a:spAutoFit/>
            </a:bodyPr>
            <a:lstStyle/>
            <a:p>
              <a:pPr algn="ctr"/>
              <a:r>
                <a:rPr lang="zh-CN" sz="790" b="1" dirty="0">
                  <a:solidFill>
                    <a:srgbClr val="92210B"/>
                  </a:solidFill>
                  <a:latin typeface="+mn-lt"/>
                  <a:ea typeface="+mn-ea"/>
                  <a:cs typeface="+mn-cs"/>
                </a:rPr>
                <a:t>68%​​</a:t>
              </a:r>
            </a:p>
          </p:txBody>
        </p:sp>
        <p:grpSp>
          <p:nvGrpSpPr>
            <p:cNvPr id="172" name="Group 172"/>
            <p:cNvGrpSpPr/>
            <p:nvPr/>
          </p:nvGrpSpPr>
          <p:grpSpPr>
            <a:xfrm>
              <a:off x="10725150" y="2597150"/>
              <a:ext cx="114300" cy="63500"/>
              <a:chOff x="10725150" y="2597150"/>
              <a:chExt cx="114300" cy="63500"/>
            </a:xfrm>
          </p:grpSpPr>
          <p:sp>
            <p:nvSpPr>
              <p:cNvPr id="170" name="Freeform 170"/>
              <p:cNvSpPr/>
              <p:nvPr/>
            </p:nvSpPr>
            <p:spPr>
              <a:xfrm>
                <a:off x="10725150" y="25971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C9462F"/>
                </a:solidFill>
              </a:ln>
            </p:spPr>
          </p:sp>
          <p:sp>
            <p:nvSpPr>
              <p:cNvPr id="171" name="Freeform 171"/>
              <p:cNvSpPr/>
              <p:nvPr/>
            </p:nvSpPr>
            <p:spPr>
              <a:xfrm>
                <a:off x="10795000" y="2597150"/>
                <a:ext cx="44450" cy="44450"/>
              </a:xfrm>
              <a:custGeom>
                <a:avLst/>
                <a:gdLst/>
                <a:ahLst/>
                <a:cxnLst/>
                <a:rect l="l" t="t" r="r" b="b"/>
                <a:pathLst>
                  <a:path w="44450" h="44450">
                    <a:moveTo>
                      <a:pt x="0" y="0"/>
                    </a:moveTo>
                    <a:lnTo>
                      <a:pt x="44450" y="0"/>
                    </a:lnTo>
                    <a:lnTo>
                      <a:pt x="44450" y="44450"/>
                    </a:lnTo>
                  </a:path>
                </a:pathLst>
              </a:custGeom>
              <a:noFill/>
              <a:ln w="12700">
                <a:solidFill>
                  <a:srgbClr val="C9462F"/>
                </a:solidFill>
              </a:ln>
            </p:spPr>
          </p:sp>
        </p:grpSp>
        <p:sp>
          <p:nvSpPr>
            <p:cNvPr id="173" name="TextBox 173"/>
            <p:cNvSpPr txBox="1"/>
            <p:nvPr/>
          </p:nvSpPr>
          <p:spPr>
            <a:xfrm>
              <a:off x="11115675" y="2586038"/>
              <a:ext cx="514350"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财富管理部</a:t>
              </a:r>
            </a:p>
          </p:txBody>
        </p:sp>
        <p:sp>
          <p:nvSpPr>
            <p:cNvPr id="174" name="Rectangle 174"/>
            <p:cNvSpPr/>
            <p:nvPr/>
          </p:nvSpPr>
          <p:spPr>
            <a:xfrm>
              <a:off x="8115300" y="2781300"/>
              <a:ext cx="3657600" cy="304800"/>
            </a:xfrm>
            <a:prstGeom prst="rect">
              <a:avLst/>
            </a:prstGeom>
            <a:solidFill>
              <a:srgbClr val="FFFFFF"/>
            </a:solidFill>
            <a:ln w="9525">
              <a:solidFill>
                <a:srgbClr val="E2EAF6"/>
              </a:solidFill>
            </a:ln>
          </p:spPr>
        </p:sp>
        <p:sp>
          <p:nvSpPr>
            <p:cNvPr id="175" name="TextBox 175"/>
            <p:cNvSpPr txBox="1"/>
            <p:nvPr/>
          </p:nvSpPr>
          <p:spPr>
            <a:xfrm>
              <a:off x="8286750" y="2890838"/>
              <a:ext cx="514350"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产业链拓展</a:t>
              </a:r>
            </a:p>
          </p:txBody>
        </p:sp>
        <p:sp>
          <p:nvSpPr>
            <p:cNvPr id="176" name="TextBox 176"/>
            <p:cNvSpPr txBox="1"/>
            <p:nvPr/>
          </p:nvSpPr>
          <p:spPr>
            <a:xfrm>
              <a:off x="9004221" y="28908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3.5亿元​​</a:t>
              </a:r>
            </a:p>
          </p:txBody>
        </p:sp>
        <p:sp>
          <p:nvSpPr>
            <p:cNvPr id="177" name="TextBox 177"/>
            <p:cNvSpPr txBox="1"/>
            <p:nvPr/>
          </p:nvSpPr>
          <p:spPr>
            <a:xfrm>
              <a:off x="9556671" y="28908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2.1亿元​​</a:t>
              </a:r>
            </a:p>
          </p:txBody>
        </p:sp>
        <p:sp>
          <p:nvSpPr>
            <p:cNvPr id="178" name="TextBox 178"/>
            <p:cNvSpPr txBox="1"/>
            <p:nvPr/>
          </p:nvSpPr>
          <p:spPr>
            <a:xfrm>
              <a:off x="10165153" y="2886789"/>
              <a:ext cx="338944" cy="154781"/>
            </a:xfrm>
            <a:prstGeom prst="rect">
              <a:avLst/>
            </a:prstGeom>
            <a:noFill/>
            <a:ln>
              <a:noFill/>
            </a:ln>
          </p:spPr>
          <p:txBody>
            <a:bodyPr wrap="none" lIns="0" tIns="0" rIns="0" bIns="0" anchor="t" anchorCtr="0">
              <a:spAutoFit/>
            </a:bodyPr>
            <a:lstStyle/>
            <a:p>
              <a:pPr algn="ctr"/>
              <a:r>
                <a:rPr lang="zh-CN" sz="790" b="1" dirty="0">
                  <a:solidFill>
                    <a:srgbClr val="92210B"/>
                  </a:solidFill>
                  <a:latin typeface="+mn-lt"/>
                  <a:ea typeface="+mn-ea"/>
                  <a:cs typeface="+mn-cs"/>
                </a:rPr>
                <a:t>60%​​</a:t>
              </a:r>
            </a:p>
          </p:txBody>
        </p:sp>
        <p:grpSp>
          <p:nvGrpSpPr>
            <p:cNvPr id="181" name="Group 181"/>
            <p:cNvGrpSpPr/>
            <p:nvPr/>
          </p:nvGrpSpPr>
          <p:grpSpPr>
            <a:xfrm>
              <a:off x="10725150" y="2901950"/>
              <a:ext cx="114300" cy="63500"/>
              <a:chOff x="10725150" y="2901950"/>
              <a:chExt cx="114300" cy="63500"/>
            </a:xfrm>
          </p:grpSpPr>
          <p:sp>
            <p:nvSpPr>
              <p:cNvPr id="179" name="Freeform 179"/>
              <p:cNvSpPr/>
              <p:nvPr/>
            </p:nvSpPr>
            <p:spPr>
              <a:xfrm>
                <a:off x="10725150" y="29019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C9462F"/>
                </a:solidFill>
              </a:ln>
            </p:spPr>
          </p:sp>
          <p:sp>
            <p:nvSpPr>
              <p:cNvPr id="180" name="Freeform 180"/>
              <p:cNvSpPr/>
              <p:nvPr/>
            </p:nvSpPr>
            <p:spPr>
              <a:xfrm>
                <a:off x="10795000" y="2901950"/>
                <a:ext cx="44450" cy="44450"/>
              </a:xfrm>
              <a:custGeom>
                <a:avLst/>
                <a:gdLst/>
                <a:ahLst/>
                <a:cxnLst/>
                <a:rect l="l" t="t" r="r" b="b"/>
                <a:pathLst>
                  <a:path w="44450" h="44450">
                    <a:moveTo>
                      <a:pt x="0" y="0"/>
                    </a:moveTo>
                    <a:lnTo>
                      <a:pt x="44450" y="0"/>
                    </a:lnTo>
                    <a:lnTo>
                      <a:pt x="44450" y="44450"/>
                    </a:lnTo>
                  </a:path>
                </a:pathLst>
              </a:custGeom>
              <a:noFill/>
              <a:ln w="12700">
                <a:solidFill>
                  <a:srgbClr val="C9462F"/>
                </a:solidFill>
              </a:ln>
            </p:spPr>
          </p:sp>
        </p:grpSp>
        <p:sp>
          <p:nvSpPr>
            <p:cNvPr id="182" name="TextBox 182"/>
            <p:cNvSpPr txBox="1"/>
            <p:nvPr/>
          </p:nvSpPr>
          <p:spPr>
            <a:xfrm>
              <a:off x="11115675" y="2890838"/>
              <a:ext cx="514350"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公司金融部</a:t>
              </a:r>
            </a:p>
          </p:txBody>
        </p:sp>
        <p:sp>
          <p:nvSpPr>
            <p:cNvPr id="183" name="Rectangle 183"/>
            <p:cNvSpPr/>
            <p:nvPr/>
          </p:nvSpPr>
          <p:spPr>
            <a:xfrm>
              <a:off x="8115300" y="3086100"/>
              <a:ext cx="3657600" cy="304800"/>
            </a:xfrm>
            <a:prstGeom prst="rect">
              <a:avLst/>
            </a:prstGeom>
            <a:solidFill>
              <a:srgbClr val="F7FAFE"/>
            </a:solidFill>
            <a:ln w="9525">
              <a:solidFill>
                <a:srgbClr val="E2EAF6"/>
              </a:solidFill>
            </a:ln>
          </p:spPr>
        </p:sp>
        <p:sp>
          <p:nvSpPr>
            <p:cNvPr id="184" name="TextBox 184"/>
            <p:cNvSpPr txBox="1"/>
            <p:nvPr/>
          </p:nvSpPr>
          <p:spPr>
            <a:xfrm>
              <a:off x="8337232" y="319563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园区获客</a:t>
              </a:r>
            </a:p>
          </p:txBody>
        </p:sp>
        <p:sp>
          <p:nvSpPr>
            <p:cNvPr id="185" name="TextBox 185"/>
            <p:cNvSpPr txBox="1"/>
            <p:nvPr/>
          </p:nvSpPr>
          <p:spPr>
            <a:xfrm>
              <a:off x="9004221" y="31956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2.5亿元​​</a:t>
              </a:r>
            </a:p>
          </p:txBody>
        </p:sp>
        <p:sp>
          <p:nvSpPr>
            <p:cNvPr id="186" name="TextBox 186"/>
            <p:cNvSpPr txBox="1"/>
            <p:nvPr/>
          </p:nvSpPr>
          <p:spPr>
            <a:xfrm>
              <a:off x="9556671" y="31956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1.6亿元​​</a:t>
              </a:r>
            </a:p>
          </p:txBody>
        </p:sp>
        <p:sp>
          <p:nvSpPr>
            <p:cNvPr id="187" name="TextBox 187"/>
            <p:cNvSpPr txBox="1"/>
            <p:nvPr/>
          </p:nvSpPr>
          <p:spPr>
            <a:xfrm>
              <a:off x="10165153" y="3191589"/>
              <a:ext cx="338944" cy="154781"/>
            </a:xfrm>
            <a:prstGeom prst="rect">
              <a:avLst/>
            </a:prstGeom>
            <a:noFill/>
            <a:ln>
              <a:noFill/>
            </a:ln>
          </p:spPr>
          <p:txBody>
            <a:bodyPr wrap="none" lIns="0" tIns="0" rIns="0" bIns="0" anchor="t" anchorCtr="0">
              <a:spAutoFit/>
            </a:bodyPr>
            <a:lstStyle/>
            <a:p>
              <a:pPr algn="ctr"/>
              <a:r>
                <a:rPr lang="zh-CN" sz="790" b="1" dirty="0">
                  <a:solidFill>
                    <a:srgbClr val="92210B"/>
                  </a:solidFill>
                  <a:latin typeface="+mn-lt"/>
                  <a:ea typeface="+mn-ea"/>
                  <a:cs typeface="+mn-cs"/>
                </a:rPr>
                <a:t>64%​​</a:t>
              </a:r>
            </a:p>
          </p:txBody>
        </p:sp>
        <p:grpSp>
          <p:nvGrpSpPr>
            <p:cNvPr id="190" name="Group 190"/>
            <p:cNvGrpSpPr/>
            <p:nvPr/>
          </p:nvGrpSpPr>
          <p:grpSpPr>
            <a:xfrm>
              <a:off x="10725150" y="3206750"/>
              <a:ext cx="114300" cy="63500"/>
              <a:chOff x="10725150" y="3206750"/>
              <a:chExt cx="114300" cy="63500"/>
            </a:xfrm>
          </p:grpSpPr>
          <p:sp>
            <p:nvSpPr>
              <p:cNvPr id="188" name="Freeform 188"/>
              <p:cNvSpPr/>
              <p:nvPr/>
            </p:nvSpPr>
            <p:spPr>
              <a:xfrm>
                <a:off x="10725150" y="32067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C9462F"/>
                </a:solidFill>
              </a:ln>
            </p:spPr>
          </p:sp>
          <p:sp>
            <p:nvSpPr>
              <p:cNvPr id="189" name="Freeform 189"/>
              <p:cNvSpPr/>
              <p:nvPr/>
            </p:nvSpPr>
            <p:spPr>
              <a:xfrm>
                <a:off x="10795000" y="3206750"/>
                <a:ext cx="44450" cy="44450"/>
              </a:xfrm>
              <a:custGeom>
                <a:avLst/>
                <a:gdLst/>
                <a:ahLst/>
                <a:cxnLst/>
                <a:rect l="l" t="t" r="r" b="b"/>
                <a:pathLst>
                  <a:path w="44450" h="44450">
                    <a:moveTo>
                      <a:pt x="0" y="0"/>
                    </a:moveTo>
                    <a:lnTo>
                      <a:pt x="44450" y="0"/>
                    </a:lnTo>
                    <a:lnTo>
                      <a:pt x="44450" y="44450"/>
                    </a:lnTo>
                  </a:path>
                </a:pathLst>
              </a:custGeom>
              <a:noFill/>
              <a:ln w="12700">
                <a:solidFill>
                  <a:srgbClr val="C9462F"/>
                </a:solidFill>
              </a:ln>
            </p:spPr>
          </p:sp>
        </p:grpSp>
        <p:sp>
          <p:nvSpPr>
            <p:cNvPr id="191" name="TextBox 191"/>
            <p:cNvSpPr txBox="1"/>
            <p:nvPr/>
          </p:nvSpPr>
          <p:spPr>
            <a:xfrm>
              <a:off x="11115675" y="3195638"/>
              <a:ext cx="514350"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机构业务部</a:t>
              </a:r>
            </a:p>
          </p:txBody>
        </p:sp>
        <p:sp>
          <p:nvSpPr>
            <p:cNvPr id="192" name="Rectangle 192"/>
            <p:cNvSpPr/>
            <p:nvPr/>
          </p:nvSpPr>
          <p:spPr>
            <a:xfrm>
              <a:off x="8115300" y="3390900"/>
              <a:ext cx="3657600" cy="304800"/>
            </a:xfrm>
            <a:prstGeom prst="rect">
              <a:avLst/>
            </a:prstGeom>
            <a:solidFill>
              <a:srgbClr val="FFFFFF"/>
            </a:solidFill>
            <a:ln w="9525">
              <a:solidFill>
                <a:srgbClr val="E2EAF6"/>
              </a:solidFill>
            </a:ln>
          </p:spPr>
        </p:sp>
        <p:sp>
          <p:nvSpPr>
            <p:cNvPr id="193" name="TextBox 193"/>
            <p:cNvSpPr txBox="1"/>
            <p:nvPr/>
          </p:nvSpPr>
          <p:spPr>
            <a:xfrm>
              <a:off x="8337232" y="350043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养老金融</a:t>
              </a:r>
            </a:p>
          </p:txBody>
        </p:sp>
        <p:sp>
          <p:nvSpPr>
            <p:cNvPr id="194" name="TextBox 194"/>
            <p:cNvSpPr txBox="1"/>
            <p:nvPr/>
          </p:nvSpPr>
          <p:spPr>
            <a:xfrm>
              <a:off x="9004221" y="35004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2.0亿元​​</a:t>
              </a:r>
            </a:p>
          </p:txBody>
        </p:sp>
        <p:sp>
          <p:nvSpPr>
            <p:cNvPr id="195" name="TextBox 195"/>
            <p:cNvSpPr txBox="1"/>
            <p:nvPr/>
          </p:nvSpPr>
          <p:spPr>
            <a:xfrm>
              <a:off x="9556671" y="35004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1.1亿元​​</a:t>
              </a:r>
            </a:p>
          </p:txBody>
        </p:sp>
        <p:sp>
          <p:nvSpPr>
            <p:cNvPr id="196" name="TextBox 196"/>
            <p:cNvSpPr txBox="1"/>
            <p:nvPr/>
          </p:nvSpPr>
          <p:spPr>
            <a:xfrm>
              <a:off x="10165153" y="3496389"/>
              <a:ext cx="338944" cy="154781"/>
            </a:xfrm>
            <a:prstGeom prst="rect">
              <a:avLst/>
            </a:prstGeom>
            <a:noFill/>
            <a:ln>
              <a:noFill/>
            </a:ln>
          </p:spPr>
          <p:txBody>
            <a:bodyPr wrap="none" lIns="0" tIns="0" rIns="0" bIns="0" anchor="t" anchorCtr="0">
              <a:spAutoFit/>
            </a:bodyPr>
            <a:lstStyle/>
            <a:p>
              <a:pPr algn="ctr"/>
              <a:r>
                <a:rPr lang="zh-CN" sz="790" b="1" dirty="0">
                  <a:solidFill>
                    <a:srgbClr val="92210B"/>
                  </a:solidFill>
                  <a:latin typeface="+mn-lt"/>
                  <a:ea typeface="+mn-ea"/>
                  <a:cs typeface="+mn-cs"/>
                </a:rPr>
                <a:t>55%​​</a:t>
              </a:r>
            </a:p>
          </p:txBody>
        </p:sp>
        <p:grpSp>
          <p:nvGrpSpPr>
            <p:cNvPr id="199" name="Group 199"/>
            <p:cNvGrpSpPr/>
            <p:nvPr/>
          </p:nvGrpSpPr>
          <p:grpSpPr>
            <a:xfrm>
              <a:off x="10725150" y="3511550"/>
              <a:ext cx="114300" cy="63500"/>
              <a:chOff x="10725150" y="3511550"/>
              <a:chExt cx="114300" cy="63500"/>
            </a:xfrm>
          </p:grpSpPr>
          <p:sp>
            <p:nvSpPr>
              <p:cNvPr id="197" name="Freeform 197"/>
              <p:cNvSpPr/>
              <p:nvPr/>
            </p:nvSpPr>
            <p:spPr>
              <a:xfrm>
                <a:off x="10725150" y="35115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C9462F"/>
                </a:solidFill>
              </a:ln>
            </p:spPr>
          </p:sp>
          <p:sp>
            <p:nvSpPr>
              <p:cNvPr id="198" name="Freeform 198"/>
              <p:cNvSpPr/>
              <p:nvPr/>
            </p:nvSpPr>
            <p:spPr>
              <a:xfrm>
                <a:off x="10795000" y="3511550"/>
                <a:ext cx="44450" cy="44450"/>
              </a:xfrm>
              <a:custGeom>
                <a:avLst/>
                <a:gdLst/>
                <a:ahLst/>
                <a:cxnLst/>
                <a:rect l="l" t="t" r="r" b="b"/>
                <a:pathLst>
                  <a:path w="44450" h="44450">
                    <a:moveTo>
                      <a:pt x="0" y="0"/>
                    </a:moveTo>
                    <a:lnTo>
                      <a:pt x="44450" y="0"/>
                    </a:lnTo>
                    <a:lnTo>
                      <a:pt x="44450" y="44450"/>
                    </a:lnTo>
                  </a:path>
                </a:pathLst>
              </a:custGeom>
              <a:noFill/>
              <a:ln w="12700">
                <a:solidFill>
                  <a:srgbClr val="C9462F"/>
                </a:solidFill>
              </a:ln>
            </p:spPr>
          </p:sp>
        </p:grpSp>
        <p:sp>
          <p:nvSpPr>
            <p:cNvPr id="200" name="TextBox 200"/>
            <p:cNvSpPr txBox="1"/>
            <p:nvPr/>
          </p:nvSpPr>
          <p:spPr>
            <a:xfrm>
              <a:off x="11115675" y="3500438"/>
              <a:ext cx="514350"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养老金融部</a:t>
              </a:r>
            </a:p>
          </p:txBody>
        </p:sp>
        <p:sp>
          <p:nvSpPr>
            <p:cNvPr id="201" name="Rectangle 201"/>
            <p:cNvSpPr/>
            <p:nvPr/>
          </p:nvSpPr>
          <p:spPr>
            <a:xfrm>
              <a:off x="8115300" y="3695700"/>
              <a:ext cx="3657600" cy="304800"/>
            </a:xfrm>
            <a:prstGeom prst="rect">
              <a:avLst/>
            </a:prstGeom>
            <a:solidFill>
              <a:srgbClr val="F7FAFE"/>
            </a:solidFill>
            <a:ln w="9525">
              <a:solidFill>
                <a:srgbClr val="E2EAF6"/>
              </a:solidFill>
            </a:ln>
          </p:spPr>
        </p:sp>
        <p:sp>
          <p:nvSpPr>
            <p:cNvPr id="202" name="TextBox 202"/>
            <p:cNvSpPr txBox="1"/>
            <p:nvPr/>
          </p:nvSpPr>
          <p:spPr>
            <a:xfrm>
              <a:off x="8337232" y="3805238"/>
              <a:ext cx="413385" cy="147638"/>
            </a:xfrm>
            <a:prstGeom prst="rect">
              <a:avLst/>
            </a:prstGeom>
            <a:noFill/>
            <a:ln>
              <a:noFill/>
            </a:ln>
          </p:spPr>
          <p:txBody>
            <a:bodyPr wrap="none" lIns="0" tIns="0" rIns="0" bIns="0" anchor="t" anchorCtr="0">
              <a:spAutoFit/>
            </a:bodyPr>
            <a:lstStyle/>
            <a:p>
              <a:pPr algn="ctr"/>
              <a:r>
                <a:rPr lang="zh-CN" sz="750" dirty="0">
                  <a:solidFill>
                    <a:srgbClr val="67281B"/>
                  </a:solidFill>
                  <a:latin typeface="+mn-lt"/>
                  <a:ea typeface="+mn-ea"/>
                  <a:cs typeface="+mn-cs"/>
                </a:rPr>
                <a:t>跨境服务</a:t>
              </a:r>
            </a:p>
          </p:txBody>
        </p:sp>
        <p:sp>
          <p:nvSpPr>
            <p:cNvPr id="203" name="TextBox 203"/>
            <p:cNvSpPr txBox="1"/>
            <p:nvPr/>
          </p:nvSpPr>
          <p:spPr>
            <a:xfrm>
              <a:off x="9004221" y="38052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1.5亿元​​</a:t>
              </a:r>
            </a:p>
          </p:txBody>
        </p:sp>
        <p:sp>
          <p:nvSpPr>
            <p:cNvPr id="204" name="TextBox 204"/>
            <p:cNvSpPr txBox="1"/>
            <p:nvPr/>
          </p:nvSpPr>
          <p:spPr>
            <a:xfrm>
              <a:off x="9556671" y="3805238"/>
              <a:ext cx="489109"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0.7亿元​​</a:t>
              </a:r>
            </a:p>
          </p:txBody>
        </p:sp>
        <p:sp>
          <p:nvSpPr>
            <p:cNvPr id="205" name="TextBox 205"/>
            <p:cNvSpPr txBox="1"/>
            <p:nvPr/>
          </p:nvSpPr>
          <p:spPr>
            <a:xfrm>
              <a:off x="10165153" y="3801189"/>
              <a:ext cx="338944" cy="154781"/>
            </a:xfrm>
            <a:prstGeom prst="rect">
              <a:avLst/>
            </a:prstGeom>
            <a:noFill/>
            <a:ln>
              <a:noFill/>
            </a:ln>
          </p:spPr>
          <p:txBody>
            <a:bodyPr wrap="none" lIns="0" tIns="0" rIns="0" bIns="0" anchor="t" anchorCtr="0">
              <a:spAutoFit/>
            </a:bodyPr>
            <a:lstStyle/>
            <a:p>
              <a:pPr algn="ctr"/>
              <a:r>
                <a:rPr lang="zh-CN" sz="790" b="1" dirty="0">
                  <a:solidFill>
                    <a:srgbClr val="92210B"/>
                  </a:solidFill>
                  <a:latin typeface="+mn-lt"/>
                  <a:ea typeface="+mn-ea"/>
                  <a:cs typeface="+mn-cs"/>
                </a:rPr>
                <a:t>47%​​</a:t>
              </a:r>
            </a:p>
          </p:txBody>
        </p:sp>
        <p:grpSp>
          <p:nvGrpSpPr>
            <p:cNvPr id="208" name="Group 208"/>
            <p:cNvGrpSpPr/>
            <p:nvPr/>
          </p:nvGrpSpPr>
          <p:grpSpPr>
            <a:xfrm>
              <a:off x="10725150" y="3816350"/>
              <a:ext cx="114300" cy="63500"/>
              <a:chOff x="10725150" y="3816350"/>
              <a:chExt cx="114300" cy="63500"/>
            </a:xfrm>
          </p:grpSpPr>
          <p:sp>
            <p:nvSpPr>
              <p:cNvPr id="206" name="Freeform 206"/>
              <p:cNvSpPr/>
              <p:nvPr/>
            </p:nvSpPr>
            <p:spPr>
              <a:xfrm>
                <a:off x="10725150" y="38163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C9462F"/>
                </a:solidFill>
              </a:ln>
            </p:spPr>
          </p:sp>
          <p:sp>
            <p:nvSpPr>
              <p:cNvPr id="207" name="Freeform 207"/>
              <p:cNvSpPr/>
              <p:nvPr/>
            </p:nvSpPr>
            <p:spPr>
              <a:xfrm>
                <a:off x="10795000" y="3816350"/>
                <a:ext cx="44450" cy="44450"/>
              </a:xfrm>
              <a:custGeom>
                <a:avLst/>
                <a:gdLst/>
                <a:ahLst/>
                <a:cxnLst/>
                <a:rect l="l" t="t" r="r" b="b"/>
                <a:pathLst>
                  <a:path w="44450" h="44450">
                    <a:moveTo>
                      <a:pt x="0" y="0"/>
                    </a:moveTo>
                    <a:lnTo>
                      <a:pt x="44450" y="0"/>
                    </a:lnTo>
                    <a:lnTo>
                      <a:pt x="44450" y="44450"/>
                    </a:lnTo>
                  </a:path>
                </a:pathLst>
              </a:custGeom>
              <a:noFill/>
              <a:ln w="12700">
                <a:solidFill>
                  <a:srgbClr val="C9462F"/>
                </a:solidFill>
              </a:ln>
            </p:spPr>
          </p:sp>
        </p:grpSp>
        <p:sp>
          <p:nvSpPr>
            <p:cNvPr id="209" name="TextBox 209"/>
            <p:cNvSpPr txBox="1"/>
            <p:nvPr/>
          </p:nvSpPr>
          <p:spPr>
            <a:xfrm>
              <a:off x="11115675" y="3805238"/>
              <a:ext cx="514350" cy="147638"/>
            </a:xfrm>
            <a:prstGeom prst="rect">
              <a:avLst/>
            </a:prstGeom>
            <a:noFill/>
            <a:ln>
              <a:noFill/>
            </a:ln>
          </p:spPr>
          <p:txBody>
            <a:bodyPr wrap="none" lIns="0" tIns="0" rIns="0" bIns="0" anchor="t" anchorCtr="0">
              <a:spAutoFit/>
            </a:bodyPr>
            <a:lstStyle/>
            <a:p>
              <a:pPr algn="ctr"/>
              <a:r>
                <a:rPr lang="zh-CN" sz="750" dirty="0">
                  <a:solidFill>
                    <a:srgbClr val="5A443F"/>
                  </a:solidFill>
                  <a:latin typeface="+mn-lt"/>
                  <a:ea typeface="+mn-ea"/>
                  <a:cs typeface="+mn-cs"/>
                </a:rPr>
                <a:t>国际业务部</a:t>
              </a:r>
            </a:p>
          </p:txBody>
        </p:sp>
      </p:grpSp>
      <p:grpSp>
        <p:nvGrpSpPr>
          <p:cNvPr id="292" name="penetration"/>
          <p:cNvGrpSpPr/>
          <p:nvPr/>
        </p:nvGrpSpPr>
        <p:grpSpPr>
          <a:xfrm>
            <a:off x="381000" y="4248150"/>
            <a:ext cx="5334000" cy="2419350"/>
            <a:chOff x="381000" y="4248150"/>
            <a:chExt cx="5334000" cy="2419350"/>
          </a:xfrm>
        </p:grpSpPr>
        <p:sp>
          <p:nvSpPr>
            <p:cNvPr id="211" name="Rectangle 211"/>
            <p:cNvSpPr/>
            <p:nvPr/>
          </p:nvSpPr>
          <p:spPr>
            <a:xfrm>
              <a:off x="381000" y="4248150"/>
              <a:ext cx="5334000" cy="2419350"/>
            </a:xfrm>
            <a:prstGeom prst="roundRect">
              <a:avLst>
                <a:gd name="adj" fmla="val 3937"/>
              </a:avLst>
            </a:prstGeom>
            <a:solidFill>
              <a:srgbClr val="F9FBFE"/>
            </a:solidFill>
            <a:ln w="9525">
              <a:solidFill>
                <a:srgbClr val="C9D8EF"/>
              </a:solidFill>
            </a:ln>
          </p:spPr>
        </p:sp>
        <p:sp>
          <p:nvSpPr>
            <p:cNvPr id="212" name="Rectangle 212"/>
            <p:cNvSpPr/>
            <p:nvPr/>
          </p:nvSpPr>
          <p:spPr>
            <a:xfrm>
              <a:off x="381000" y="4248150"/>
              <a:ext cx="5334000" cy="266700"/>
            </a:xfrm>
            <a:prstGeom prst="roundRect">
              <a:avLst>
                <a:gd name="adj" fmla="val 14286"/>
              </a:avLst>
            </a:prstGeom>
            <a:gradFill>
              <a:gsLst>
                <a:gs pos="0">
                  <a:srgbClr val="AD3921"/>
                </a:gs>
                <a:gs pos="100000">
                  <a:srgbClr val="962C16"/>
                </a:gs>
              </a:gsLst>
              <a:lin ang="5400000" scaled="1"/>
            </a:gradFill>
            <a:ln>
              <a:noFill/>
            </a:ln>
          </p:spPr>
        </p:sp>
        <p:sp>
          <p:nvSpPr>
            <p:cNvPr id="213" name="TextBox 213"/>
            <p:cNvSpPr txBox="1"/>
            <p:nvPr/>
          </p:nvSpPr>
          <p:spPr>
            <a:xfrm>
              <a:off x="2647264" y="432387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四级穿透视图</a:t>
              </a:r>
            </a:p>
          </p:txBody>
        </p:sp>
        <p:sp>
          <p:nvSpPr>
            <p:cNvPr id="214" name="Rectangle 214"/>
            <p:cNvSpPr/>
            <p:nvPr/>
          </p:nvSpPr>
          <p:spPr>
            <a:xfrm>
              <a:off x="495300" y="4705350"/>
              <a:ext cx="1123950" cy="1809750"/>
            </a:xfrm>
            <a:prstGeom prst="roundRect">
              <a:avLst>
                <a:gd name="adj" fmla="val 6780"/>
              </a:avLst>
            </a:prstGeom>
            <a:solidFill>
              <a:srgbClr val="FFFFFF"/>
            </a:solidFill>
            <a:ln w="9525">
              <a:solidFill>
                <a:srgbClr val="C9D8EF"/>
              </a:solidFill>
            </a:ln>
          </p:spPr>
        </p:sp>
        <p:sp>
          <p:nvSpPr>
            <p:cNvPr id="215" name="Rectangle 215"/>
            <p:cNvSpPr/>
            <p:nvPr/>
          </p:nvSpPr>
          <p:spPr>
            <a:xfrm>
              <a:off x="571500" y="4781550"/>
              <a:ext cx="971550" cy="228600"/>
            </a:xfrm>
            <a:prstGeom prst="roundRect">
              <a:avLst>
                <a:gd name="adj" fmla="val 50000"/>
              </a:avLst>
            </a:prstGeom>
            <a:solidFill>
              <a:srgbClr val="EAF2FC"/>
            </a:solidFill>
            <a:ln>
              <a:noFill/>
            </a:ln>
          </p:spPr>
        </p:sp>
        <p:sp>
          <p:nvSpPr>
            <p:cNvPr id="216" name="TextBox 216"/>
            <p:cNvSpPr txBox="1"/>
            <p:nvPr/>
          </p:nvSpPr>
          <p:spPr>
            <a:xfrm>
              <a:off x="699135" y="4852988"/>
              <a:ext cx="716280"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总行看战略贡献</a:t>
              </a:r>
            </a:p>
          </p:txBody>
        </p:sp>
        <p:grpSp>
          <p:nvGrpSpPr>
            <p:cNvPr id="225" name="Group 225"/>
            <p:cNvGrpSpPr/>
            <p:nvPr/>
          </p:nvGrpSpPr>
          <p:grpSpPr>
            <a:xfrm>
              <a:off x="914400" y="5267325"/>
              <a:ext cx="285751" cy="295276"/>
              <a:chOff x="914400" y="5267325"/>
              <a:chExt cx="285751" cy="295276"/>
            </a:xfrm>
          </p:grpSpPr>
          <p:sp>
            <p:nvSpPr>
              <p:cNvPr id="217" name="Freeform 217"/>
              <p:cNvSpPr/>
              <p:nvPr/>
            </p:nvSpPr>
            <p:spPr>
              <a:xfrm>
                <a:off x="914400" y="5553076"/>
                <a:ext cx="285751" cy="9525"/>
              </a:xfrm>
              <a:custGeom>
                <a:avLst/>
                <a:gdLst/>
                <a:ahLst/>
                <a:cxnLst/>
                <a:rect l="l" t="t" r="r" b="b"/>
                <a:pathLst>
                  <a:path w="285751" h="9525">
                    <a:moveTo>
                      <a:pt x="0" y="0"/>
                    </a:moveTo>
                    <a:lnTo>
                      <a:pt x="285751" y="0"/>
                    </a:lnTo>
                  </a:path>
                </a:pathLst>
              </a:custGeom>
              <a:noFill/>
              <a:ln w="31750">
                <a:solidFill>
                  <a:srgbClr val="A8351D"/>
                </a:solidFill>
              </a:ln>
            </p:spPr>
          </p:sp>
          <p:sp>
            <p:nvSpPr>
              <p:cNvPr id="218" name="Freeform 218"/>
              <p:cNvSpPr/>
              <p:nvPr/>
            </p:nvSpPr>
            <p:spPr>
              <a:xfrm>
                <a:off x="914400" y="5378450"/>
                <a:ext cx="285751" cy="9525"/>
              </a:xfrm>
              <a:custGeom>
                <a:avLst/>
                <a:gdLst/>
                <a:ahLst/>
                <a:cxnLst/>
                <a:rect l="l" t="t" r="r" b="b"/>
                <a:pathLst>
                  <a:path w="285751" h="9525">
                    <a:moveTo>
                      <a:pt x="0" y="0"/>
                    </a:moveTo>
                    <a:lnTo>
                      <a:pt x="285751" y="0"/>
                    </a:lnTo>
                  </a:path>
                </a:pathLst>
              </a:custGeom>
              <a:noFill/>
              <a:ln w="31750">
                <a:solidFill>
                  <a:srgbClr val="A8351D"/>
                </a:solidFill>
              </a:ln>
            </p:spPr>
          </p:sp>
          <p:sp>
            <p:nvSpPr>
              <p:cNvPr id="219" name="Freeform 219"/>
              <p:cNvSpPr/>
              <p:nvPr/>
            </p:nvSpPr>
            <p:spPr>
              <a:xfrm>
                <a:off x="946150" y="5267325"/>
                <a:ext cx="222250" cy="47625"/>
              </a:xfrm>
              <a:custGeom>
                <a:avLst/>
                <a:gdLst/>
                <a:ahLst/>
                <a:cxnLst/>
                <a:rect l="l" t="t" r="r" b="b"/>
                <a:pathLst>
                  <a:path w="222250" h="47625">
                    <a:moveTo>
                      <a:pt x="0" y="47625"/>
                    </a:moveTo>
                    <a:lnTo>
                      <a:pt x="111125" y="0"/>
                    </a:lnTo>
                    <a:lnTo>
                      <a:pt x="222250" y="47625"/>
                    </a:lnTo>
                  </a:path>
                </a:pathLst>
              </a:custGeom>
              <a:noFill/>
              <a:ln w="31750">
                <a:solidFill>
                  <a:srgbClr val="A8351D"/>
                </a:solidFill>
              </a:ln>
            </p:spPr>
          </p:sp>
          <p:sp>
            <p:nvSpPr>
              <p:cNvPr id="220" name="Freeform 220"/>
              <p:cNvSpPr/>
              <p:nvPr/>
            </p:nvSpPr>
            <p:spPr>
              <a:xfrm>
                <a:off x="930275" y="5378450"/>
                <a:ext cx="9525" cy="174625"/>
              </a:xfrm>
              <a:custGeom>
                <a:avLst/>
                <a:gdLst/>
                <a:ahLst/>
                <a:cxnLst/>
                <a:rect l="l" t="t" r="r" b="b"/>
                <a:pathLst>
                  <a:path w="9525" h="174625">
                    <a:moveTo>
                      <a:pt x="0" y="0"/>
                    </a:moveTo>
                    <a:lnTo>
                      <a:pt x="0" y="174625"/>
                    </a:lnTo>
                  </a:path>
                </a:pathLst>
              </a:custGeom>
              <a:noFill/>
              <a:ln w="31750">
                <a:solidFill>
                  <a:srgbClr val="A8351D"/>
                </a:solidFill>
              </a:ln>
            </p:spPr>
          </p:sp>
          <p:sp>
            <p:nvSpPr>
              <p:cNvPr id="221" name="Freeform 221"/>
              <p:cNvSpPr/>
              <p:nvPr/>
            </p:nvSpPr>
            <p:spPr>
              <a:xfrm>
                <a:off x="1184276" y="5378450"/>
                <a:ext cx="9525" cy="174625"/>
              </a:xfrm>
              <a:custGeom>
                <a:avLst/>
                <a:gdLst/>
                <a:ahLst/>
                <a:cxnLst/>
                <a:rect l="l" t="t" r="r" b="b"/>
                <a:pathLst>
                  <a:path w="9525" h="174625">
                    <a:moveTo>
                      <a:pt x="0" y="0"/>
                    </a:moveTo>
                    <a:lnTo>
                      <a:pt x="0" y="174625"/>
                    </a:lnTo>
                  </a:path>
                </a:pathLst>
              </a:custGeom>
              <a:noFill/>
              <a:ln w="31750">
                <a:solidFill>
                  <a:srgbClr val="A8351D"/>
                </a:solidFill>
              </a:ln>
            </p:spPr>
          </p:sp>
          <p:sp>
            <p:nvSpPr>
              <p:cNvPr id="222" name="Freeform 222"/>
              <p:cNvSpPr/>
              <p:nvPr/>
            </p:nvSpPr>
            <p:spPr>
              <a:xfrm>
                <a:off x="993775" y="5441950"/>
                <a:ext cx="9525" cy="47625"/>
              </a:xfrm>
              <a:custGeom>
                <a:avLst/>
                <a:gdLst/>
                <a:ahLst/>
                <a:cxnLst/>
                <a:rect l="l" t="t" r="r" b="b"/>
                <a:pathLst>
                  <a:path w="9525" h="47625">
                    <a:moveTo>
                      <a:pt x="0" y="0"/>
                    </a:moveTo>
                    <a:lnTo>
                      <a:pt x="0" y="47625"/>
                    </a:lnTo>
                  </a:path>
                </a:pathLst>
              </a:custGeom>
              <a:noFill/>
              <a:ln w="31750">
                <a:solidFill>
                  <a:srgbClr val="A8351D"/>
                </a:solidFill>
              </a:ln>
            </p:spPr>
          </p:sp>
          <p:sp>
            <p:nvSpPr>
              <p:cNvPr id="223" name="Freeform 223"/>
              <p:cNvSpPr/>
              <p:nvPr/>
            </p:nvSpPr>
            <p:spPr>
              <a:xfrm>
                <a:off x="1057275" y="5441950"/>
                <a:ext cx="9525" cy="47625"/>
              </a:xfrm>
              <a:custGeom>
                <a:avLst/>
                <a:gdLst/>
                <a:ahLst/>
                <a:cxnLst/>
                <a:rect l="l" t="t" r="r" b="b"/>
                <a:pathLst>
                  <a:path w="9525" h="47625">
                    <a:moveTo>
                      <a:pt x="0" y="0"/>
                    </a:moveTo>
                    <a:lnTo>
                      <a:pt x="0" y="47625"/>
                    </a:lnTo>
                  </a:path>
                </a:pathLst>
              </a:custGeom>
              <a:noFill/>
              <a:ln w="31750">
                <a:solidFill>
                  <a:srgbClr val="A8351D"/>
                </a:solidFill>
              </a:ln>
            </p:spPr>
          </p:sp>
          <p:sp>
            <p:nvSpPr>
              <p:cNvPr id="224" name="Freeform 224"/>
              <p:cNvSpPr/>
              <p:nvPr/>
            </p:nvSpPr>
            <p:spPr>
              <a:xfrm>
                <a:off x="1120776" y="5441950"/>
                <a:ext cx="9525" cy="47625"/>
              </a:xfrm>
              <a:custGeom>
                <a:avLst/>
                <a:gdLst/>
                <a:ahLst/>
                <a:cxnLst/>
                <a:rect l="l" t="t" r="r" b="b"/>
                <a:pathLst>
                  <a:path w="9525" h="47625">
                    <a:moveTo>
                      <a:pt x="0" y="0"/>
                    </a:moveTo>
                    <a:lnTo>
                      <a:pt x="0" y="47625"/>
                    </a:lnTo>
                  </a:path>
                </a:pathLst>
              </a:custGeom>
              <a:noFill/>
              <a:ln w="31750">
                <a:solidFill>
                  <a:srgbClr val="A8351D"/>
                </a:solidFill>
              </a:ln>
            </p:spPr>
          </p:sp>
        </p:grpSp>
        <p:sp>
          <p:nvSpPr>
            <p:cNvPr id="226" name="Rectangle 226"/>
            <p:cNvSpPr/>
            <p:nvPr/>
          </p:nvSpPr>
          <p:spPr>
            <a:xfrm>
              <a:off x="685800" y="5867400"/>
              <a:ext cx="190500" cy="381000"/>
            </a:xfrm>
            <a:prstGeom prst="rect">
              <a:avLst/>
            </a:prstGeom>
            <a:solidFill>
              <a:srgbClr val="E5907F"/>
            </a:solidFill>
            <a:ln>
              <a:noFill/>
            </a:ln>
          </p:spPr>
        </p:sp>
        <p:sp>
          <p:nvSpPr>
            <p:cNvPr id="227" name="Rectangle 227"/>
            <p:cNvSpPr/>
            <p:nvPr/>
          </p:nvSpPr>
          <p:spPr>
            <a:xfrm>
              <a:off x="933450" y="5734050"/>
              <a:ext cx="190500" cy="514350"/>
            </a:xfrm>
            <a:prstGeom prst="rect">
              <a:avLst/>
            </a:prstGeom>
            <a:solidFill>
              <a:srgbClr val="A8351D"/>
            </a:solidFill>
            <a:ln>
              <a:noFill/>
            </a:ln>
          </p:spPr>
        </p:sp>
        <p:sp>
          <p:nvSpPr>
            <p:cNvPr id="228" name="Rectangle 228"/>
            <p:cNvSpPr/>
            <p:nvPr/>
          </p:nvSpPr>
          <p:spPr>
            <a:xfrm>
              <a:off x="1181100" y="5981700"/>
              <a:ext cx="190500" cy="266700"/>
            </a:xfrm>
            <a:prstGeom prst="rect">
              <a:avLst/>
            </a:prstGeom>
            <a:solidFill>
              <a:srgbClr val="E5907F"/>
            </a:solidFill>
            <a:ln>
              <a:noFill/>
            </a:ln>
          </p:spPr>
        </p:sp>
        <p:sp>
          <p:nvSpPr>
            <p:cNvPr id="229" name="Line 229"/>
            <p:cNvSpPr/>
            <p:nvPr/>
          </p:nvSpPr>
          <p:spPr>
            <a:xfrm>
              <a:off x="1676400" y="5619750"/>
              <a:ext cx="76200" cy="1"/>
            </a:xfrm>
            <a:prstGeom prst="line">
              <a:avLst/>
            </a:prstGeom>
            <a:noFill/>
            <a:ln w="19050">
              <a:solidFill>
                <a:srgbClr val="D64A2E"/>
              </a:solidFill>
              <a:tailEnd type="triangle" w="lg" len="lg"/>
            </a:ln>
          </p:spPr>
        </p:sp>
        <p:sp>
          <p:nvSpPr>
            <p:cNvPr id="230" name="Rectangle 230"/>
            <p:cNvSpPr/>
            <p:nvPr/>
          </p:nvSpPr>
          <p:spPr>
            <a:xfrm>
              <a:off x="1809750" y="4705350"/>
              <a:ext cx="1123950" cy="1809750"/>
            </a:xfrm>
            <a:prstGeom prst="roundRect">
              <a:avLst>
                <a:gd name="adj" fmla="val 6780"/>
              </a:avLst>
            </a:prstGeom>
            <a:solidFill>
              <a:srgbClr val="FFFFFF"/>
            </a:solidFill>
            <a:ln w="9525">
              <a:solidFill>
                <a:srgbClr val="C9D8EF"/>
              </a:solidFill>
            </a:ln>
          </p:spPr>
        </p:sp>
        <p:sp>
          <p:nvSpPr>
            <p:cNvPr id="231" name="Rectangle 231"/>
            <p:cNvSpPr/>
            <p:nvPr/>
          </p:nvSpPr>
          <p:spPr>
            <a:xfrm>
              <a:off x="1885950" y="4781550"/>
              <a:ext cx="971550" cy="228600"/>
            </a:xfrm>
            <a:prstGeom prst="roundRect">
              <a:avLst>
                <a:gd name="adj" fmla="val 50000"/>
              </a:avLst>
            </a:prstGeom>
            <a:solidFill>
              <a:srgbClr val="EAF2FC"/>
            </a:solidFill>
            <a:ln>
              <a:noFill/>
            </a:ln>
          </p:spPr>
        </p:sp>
        <p:sp>
          <p:nvSpPr>
            <p:cNvPr id="232" name="TextBox 232"/>
            <p:cNvSpPr txBox="1"/>
            <p:nvPr/>
          </p:nvSpPr>
          <p:spPr>
            <a:xfrm>
              <a:off x="2013585" y="4852988"/>
              <a:ext cx="716280"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分行看区域差距</a:t>
              </a:r>
            </a:p>
          </p:txBody>
        </p:sp>
        <p:grpSp>
          <p:nvGrpSpPr>
            <p:cNvPr id="240" name="Group 240"/>
            <p:cNvGrpSpPr/>
            <p:nvPr/>
          </p:nvGrpSpPr>
          <p:grpSpPr>
            <a:xfrm>
              <a:off x="2228850" y="5267325"/>
              <a:ext cx="285751" cy="295276"/>
              <a:chOff x="2228850" y="5267325"/>
              <a:chExt cx="285751" cy="295276"/>
            </a:xfrm>
          </p:grpSpPr>
          <p:sp>
            <p:nvSpPr>
              <p:cNvPr id="233" name="Freeform 233"/>
              <p:cNvSpPr/>
              <p:nvPr/>
            </p:nvSpPr>
            <p:spPr>
              <a:xfrm>
                <a:off x="2228850" y="5553076"/>
                <a:ext cx="285751" cy="9525"/>
              </a:xfrm>
              <a:custGeom>
                <a:avLst/>
                <a:gdLst/>
                <a:ahLst/>
                <a:cxnLst/>
                <a:rect l="l" t="t" r="r" b="b"/>
                <a:pathLst>
                  <a:path w="285751" h="9525">
                    <a:moveTo>
                      <a:pt x="0" y="0"/>
                    </a:moveTo>
                    <a:lnTo>
                      <a:pt x="285751" y="0"/>
                    </a:lnTo>
                  </a:path>
                </a:pathLst>
              </a:custGeom>
              <a:noFill/>
              <a:ln w="31750">
                <a:solidFill>
                  <a:srgbClr val="A8351D"/>
                </a:solidFill>
              </a:ln>
            </p:spPr>
          </p:sp>
          <p:sp>
            <p:nvSpPr>
              <p:cNvPr id="234" name="Freeform 234"/>
              <p:cNvSpPr/>
              <p:nvPr/>
            </p:nvSpPr>
            <p:spPr>
              <a:xfrm>
                <a:off x="2260600" y="5267325"/>
                <a:ext cx="127000" cy="285751"/>
              </a:xfrm>
              <a:custGeom>
                <a:avLst/>
                <a:gdLst/>
                <a:ahLst/>
                <a:cxnLst/>
                <a:rect l="l" t="t" r="r" b="b"/>
                <a:pathLst>
                  <a:path w="127000" h="285751">
                    <a:moveTo>
                      <a:pt x="0" y="285751"/>
                    </a:moveTo>
                    <a:lnTo>
                      <a:pt x="0" y="63500"/>
                    </a:lnTo>
                    <a:lnTo>
                      <a:pt x="127000" y="0"/>
                    </a:lnTo>
                    <a:lnTo>
                      <a:pt x="127000" y="285751"/>
                    </a:lnTo>
                  </a:path>
                </a:pathLst>
              </a:custGeom>
              <a:noFill/>
              <a:ln w="31750">
                <a:solidFill>
                  <a:srgbClr val="A8351D"/>
                </a:solidFill>
              </a:ln>
            </p:spPr>
          </p:sp>
          <p:sp>
            <p:nvSpPr>
              <p:cNvPr id="235" name="Freeform 235"/>
              <p:cNvSpPr/>
              <p:nvPr/>
            </p:nvSpPr>
            <p:spPr>
              <a:xfrm>
                <a:off x="2387600" y="5330825"/>
                <a:ext cx="95250" cy="222250"/>
              </a:xfrm>
              <a:custGeom>
                <a:avLst/>
                <a:gdLst/>
                <a:ahLst/>
                <a:cxnLst/>
                <a:rect l="l" t="t" r="r" b="b"/>
                <a:pathLst>
                  <a:path w="95250" h="222250">
                    <a:moveTo>
                      <a:pt x="95250" y="222250"/>
                    </a:moveTo>
                    <a:lnTo>
                      <a:pt x="95250" y="63500"/>
                    </a:lnTo>
                    <a:lnTo>
                      <a:pt x="0" y="0"/>
                    </a:lnTo>
                  </a:path>
                </a:pathLst>
              </a:custGeom>
              <a:noFill/>
              <a:ln w="31750">
                <a:solidFill>
                  <a:srgbClr val="A8351D"/>
                </a:solidFill>
              </a:ln>
            </p:spPr>
          </p:sp>
          <p:sp>
            <p:nvSpPr>
              <p:cNvPr id="236" name="Freeform 236"/>
              <p:cNvSpPr/>
              <p:nvPr/>
            </p:nvSpPr>
            <p:spPr>
              <a:xfrm>
                <a:off x="2324100" y="5362575"/>
                <a:ext cx="9525" cy="9525"/>
              </a:xfrm>
              <a:custGeom>
                <a:avLst/>
                <a:gdLst/>
                <a:ahLst/>
                <a:cxnLst/>
                <a:rect l="l" t="t" r="r" b="b"/>
                <a:pathLst>
                  <a:path w="9525" h="9525">
                    <a:moveTo>
                      <a:pt x="0" y="0"/>
                    </a:moveTo>
                    <a:lnTo>
                      <a:pt x="0" y="159"/>
                    </a:lnTo>
                  </a:path>
                </a:pathLst>
              </a:custGeom>
              <a:noFill/>
              <a:ln w="31750">
                <a:solidFill>
                  <a:srgbClr val="A8351D"/>
                </a:solidFill>
              </a:ln>
            </p:spPr>
          </p:sp>
          <p:sp>
            <p:nvSpPr>
              <p:cNvPr id="237" name="Freeform 237"/>
              <p:cNvSpPr/>
              <p:nvPr/>
            </p:nvSpPr>
            <p:spPr>
              <a:xfrm>
                <a:off x="2324100" y="5410200"/>
                <a:ext cx="9525" cy="9525"/>
              </a:xfrm>
              <a:custGeom>
                <a:avLst/>
                <a:gdLst/>
                <a:ahLst/>
                <a:cxnLst/>
                <a:rect l="l" t="t" r="r" b="b"/>
                <a:pathLst>
                  <a:path w="9525" h="9525">
                    <a:moveTo>
                      <a:pt x="0" y="0"/>
                    </a:moveTo>
                    <a:lnTo>
                      <a:pt x="0" y="159"/>
                    </a:lnTo>
                  </a:path>
                </a:pathLst>
              </a:custGeom>
              <a:noFill/>
              <a:ln w="31750">
                <a:solidFill>
                  <a:srgbClr val="A8351D"/>
                </a:solidFill>
              </a:ln>
            </p:spPr>
          </p:sp>
          <p:sp>
            <p:nvSpPr>
              <p:cNvPr id="238" name="Freeform 238"/>
              <p:cNvSpPr/>
              <p:nvPr/>
            </p:nvSpPr>
            <p:spPr>
              <a:xfrm>
                <a:off x="2324100" y="5457825"/>
                <a:ext cx="9525" cy="9525"/>
              </a:xfrm>
              <a:custGeom>
                <a:avLst/>
                <a:gdLst/>
                <a:ahLst/>
                <a:cxnLst/>
                <a:rect l="l" t="t" r="r" b="b"/>
                <a:pathLst>
                  <a:path w="9525" h="9525">
                    <a:moveTo>
                      <a:pt x="0" y="0"/>
                    </a:moveTo>
                    <a:lnTo>
                      <a:pt x="0" y="159"/>
                    </a:lnTo>
                  </a:path>
                </a:pathLst>
              </a:custGeom>
              <a:noFill/>
              <a:ln w="31750">
                <a:solidFill>
                  <a:srgbClr val="A8351D"/>
                </a:solidFill>
              </a:ln>
            </p:spPr>
          </p:sp>
          <p:sp>
            <p:nvSpPr>
              <p:cNvPr id="239" name="Freeform 239"/>
              <p:cNvSpPr/>
              <p:nvPr/>
            </p:nvSpPr>
            <p:spPr>
              <a:xfrm>
                <a:off x="2324100" y="5505451"/>
                <a:ext cx="9525" cy="9525"/>
              </a:xfrm>
              <a:custGeom>
                <a:avLst/>
                <a:gdLst/>
                <a:ahLst/>
                <a:cxnLst/>
                <a:rect l="l" t="t" r="r" b="b"/>
                <a:pathLst>
                  <a:path w="9525" h="9525">
                    <a:moveTo>
                      <a:pt x="0" y="0"/>
                    </a:moveTo>
                    <a:lnTo>
                      <a:pt x="0" y="159"/>
                    </a:lnTo>
                  </a:path>
                </a:pathLst>
              </a:custGeom>
              <a:noFill/>
              <a:ln w="31750">
                <a:solidFill>
                  <a:srgbClr val="A8351D"/>
                </a:solidFill>
              </a:ln>
            </p:spPr>
          </p:sp>
        </p:grpSp>
        <p:sp>
          <p:nvSpPr>
            <p:cNvPr id="241" name="Rectangle 241"/>
            <p:cNvSpPr/>
            <p:nvPr/>
          </p:nvSpPr>
          <p:spPr>
            <a:xfrm>
              <a:off x="1962150" y="5772150"/>
              <a:ext cx="819150" cy="76200"/>
            </a:xfrm>
            <a:prstGeom prst="roundRect">
              <a:avLst>
                <a:gd name="adj" fmla="val 25000"/>
              </a:avLst>
            </a:prstGeom>
            <a:solidFill>
              <a:srgbClr val="A8351D"/>
            </a:solidFill>
            <a:ln>
              <a:noFill/>
            </a:ln>
          </p:spPr>
        </p:sp>
        <p:sp>
          <p:nvSpPr>
            <p:cNvPr id="242" name="Rectangle 242"/>
            <p:cNvSpPr/>
            <p:nvPr/>
          </p:nvSpPr>
          <p:spPr>
            <a:xfrm>
              <a:off x="1962150" y="5924550"/>
              <a:ext cx="609600" cy="76200"/>
            </a:xfrm>
            <a:prstGeom prst="roundRect">
              <a:avLst>
                <a:gd name="adj" fmla="val 25000"/>
              </a:avLst>
            </a:prstGeom>
            <a:solidFill>
              <a:srgbClr val="DE674F"/>
            </a:solidFill>
            <a:ln>
              <a:noFill/>
            </a:ln>
          </p:spPr>
        </p:sp>
        <p:sp>
          <p:nvSpPr>
            <p:cNvPr id="243" name="Rectangle 243"/>
            <p:cNvSpPr/>
            <p:nvPr/>
          </p:nvSpPr>
          <p:spPr>
            <a:xfrm>
              <a:off x="1962150" y="6076950"/>
              <a:ext cx="419100" cy="76200"/>
            </a:xfrm>
            <a:prstGeom prst="roundRect">
              <a:avLst>
                <a:gd name="adj" fmla="val 25000"/>
              </a:avLst>
            </a:prstGeom>
            <a:solidFill>
              <a:srgbClr val="E5907F"/>
            </a:solidFill>
            <a:ln>
              <a:noFill/>
            </a:ln>
          </p:spPr>
        </p:sp>
        <p:sp>
          <p:nvSpPr>
            <p:cNvPr id="244" name="Line 244"/>
            <p:cNvSpPr/>
            <p:nvPr/>
          </p:nvSpPr>
          <p:spPr>
            <a:xfrm>
              <a:off x="2990850" y="5619750"/>
              <a:ext cx="76200" cy="1"/>
            </a:xfrm>
            <a:prstGeom prst="line">
              <a:avLst/>
            </a:prstGeom>
            <a:noFill/>
            <a:ln w="19050">
              <a:solidFill>
                <a:srgbClr val="D64A2E"/>
              </a:solidFill>
              <a:tailEnd type="triangle" w="lg" len="lg"/>
            </a:ln>
          </p:spPr>
        </p:sp>
        <p:sp>
          <p:nvSpPr>
            <p:cNvPr id="245" name="Rectangle 245"/>
            <p:cNvSpPr/>
            <p:nvPr/>
          </p:nvSpPr>
          <p:spPr>
            <a:xfrm>
              <a:off x="3124200" y="4705350"/>
              <a:ext cx="1123950" cy="1809750"/>
            </a:xfrm>
            <a:prstGeom prst="roundRect">
              <a:avLst>
                <a:gd name="adj" fmla="val 6780"/>
              </a:avLst>
            </a:prstGeom>
            <a:solidFill>
              <a:srgbClr val="FFFFFF"/>
            </a:solidFill>
            <a:ln w="9525">
              <a:solidFill>
                <a:srgbClr val="C9D8EF"/>
              </a:solidFill>
            </a:ln>
          </p:spPr>
        </p:sp>
        <p:sp>
          <p:nvSpPr>
            <p:cNvPr id="246" name="Rectangle 246"/>
            <p:cNvSpPr/>
            <p:nvPr/>
          </p:nvSpPr>
          <p:spPr>
            <a:xfrm>
              <a:off x="3200400" y="4781550"/>
              <a:ext cx="971550" cy="228600"/>
            </a:xfrm>
            <a:prstGeom prst="roundRect">
              <a:avLst>
                <a:gd name="adj" fmla="val 50000"/>
              </a:avLst>
            </a:prstGeom>
            <a:solidFill>
              <a:srgbClr val="EAF2FC"/>
            </a:solidFill>
            <a:ln>
              <a:noFill/>
            </a:ln>
          </p:spPr>
        </p:sp>
        <p:sp>
          <p:nvSpPr>
            <p:cNvPr id="247" name="TextBox 247"/>
            <p:cNvSpPr txBox="1"/>
            <p:nvPr/>
          </p:nvSpPr>
          <p:spPr>
            <a:xfrm>
              <a:off x="3328035" y="4852988"/>
              <a:ext cx="716280"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支行看客户清单</a:t>
              </a:r>
            </a:p>
          </p:txBody>
        </p:sp>
        <p:grpSp>
          <p:nvGrpSpPr>
            <p:cNvPr id="253" name="Group 253"/>
            <p:cNvGrpSpPr/>
            <p:nvPr/>
          </p:nvGrpSpPr>
          <p:grpSpPr>
            <a:xfrm>
              <a:off x="3543300" y="5267325"/>
              <a:ext cx="285751" cy="285751"/>
              <a:chOff x="3543300" y="5267325"/>
              <a:chExt cx="285751" cy="285751"/>
            </a:xfrm>
          </p:grpSpPr>
          <p:sp>
            <p:nvSpPr>
              <p:cNvPr id="248" name="Freeform 248"/>
              <p:cNvSpPr/>
              <p:nvPr/>
            </p:nvSpPr>
            <p:spPr>
              <a:xfrm>
                <a:off x="3543300" y="5267325"/>
                <a:ext cx="285751" cy="285751"/>
              </a:xfrm>
              <a:custGeom>
                <a:avLst/>
                <a:gdLst/>
                <a:ahLst/>
                <a:cxnLst/>
                <a:rect l="l" t="t" r="r" b="b"/>
                <a:pathLst>
                  <a:path w="285751" h="285751">
                    <a:moveTo>
                      <a:pt x="79375" y="95250"/>
                    </a:moveTo>
                    <a:lnTo>
                      <a:pt x="158750" y="174625"/>
                    </a:lnTo>
                    <a:lnTo>
                      <a:pt x="158750" y="285751"/>
                    </a:lnTo>
                    <a:lnTo>
                      <a:pt x="79375" y="285751"/>
                    </a:lnTo>
                    <a:lnTo>
                      <a:pt x="79375" y="222250"/>
                    </a:lnTo>
                    <a:moveTo>
                      <a:pt x="79375" y="285751"/>
                    </a:moveTo>
                    <a:lnTo>
                      <a:pt x="0" y="285751"/>
                    </a:lnTo>
                    <a:lnTo>
                      <a:pt x="0" y="174625"/>
                    </a:lnTo>
                    <a:lnTo>
                      <a:pt x="79375" y="95250"/>
                    </a:lnTo>
                    <a:moveTo>
                      <a:pt x="95250" y="111125"/>
                    </a:moveTo>
                    <a:lnTo>
                      <a:pt x="95250" y="15875"/>
                    </a:lnTo>
                    <a:cubicBezTo>
                      <a:pt x="95250" y="7107"/>
                      <a:pt x="102358" y="0"/>
                      <a:pt x="111125" y="0"/>
                    </a:cubicBezTo>
                    <a:lnTo>
                      <a:pt x="269876" y="0"/>
                    </a:lnTo>
                    <a:cubicBezTo>
                      <a:pt x="278643" y="0"/>
                      <a:pt x="285751" y="7107"/>
                      <a:pt x="285751" y="15875"/>
                    </a:cubicBezTo>
                    <a:lnTo>
                      <a:pt x="285751" y="285751"/>
                    </a:lnTo>
                    <a:lnTo>
                      <a:pt x="158750" y="285751"/>
                    </a:lnTo>
                  </a:path>
                </a:pathLst>
              </a:custGeom>
              <a:noFill/>
              <a:ln w="31750">
                <a:solidFill>
                  <a:srgbClr val="A8351D"/>
                </a:solidFill>
              </a:ln>
            </p:spPr>
          </p:sp>
          <p:sp>
            <p:nvSpPr>
              <p:cNvPr id="249" name="Freeform 249"/>
              <p:cNvSpPr/>
              <p:nvPr/>
            </p:nvSpPr>
            <p:spPr>
              <a:xfrm>
                <a:off x="3702050" y="5330825"/>
                <a:ext cx="9525" cy="9525"/>
              </a:xfrm>
              <a:custGeom>
                <a:avLst/>
                <a:gdLst/>
                <a:ahLst/>
                <a:cxnLst/>
                <a:rect l="l" t="t" r="r" b="b"/>
                <a:pathLst>
                  <a:path w="9525" h="9525">
                    <a:moveTo>
                      <a:pt x="0" y="0"/>
                    </a:moveTo>
                    <a:lnTo>
                      <a:pt x="0" y="159"/>
                    </a:lnTo>
                  </a:path>
                </a:pathLst>
              </a:custGeom>
              <a:noFill/>
              <a:ln w="31750">
                <a:solidFill>
                  <a:srgbClr val="A8351D"/>
                </a:solidFill>
              </a:ln>
            </p:spPr>
          </p:sp>
          <p:sp>
            <p:nvSpPr>
              <p:cNvPr id="250" name="Freeform 250"/>
              <p:cNvSpPr/>
              <p:nvPr/>
            </p:nvSpPr>
            <p:spPr>
              <a:xfrm>
                <a:off x="3765551" y="5330825"/>
                <a:ext cx="9525" cy="9525"/>
              </a:xfrm>
              <a:custGeom>
                <a:avLst/>
                <a:gdLst/>
                <a:ahLst/>
                <a:cxnLst/>
                <a:rect l="l" t="t" r="r" b="b"/>
                <a:pathLst>
                  <a:path w="9525" h="9525">
                    <a:moveTo>
                      <a:pt x="0" y="0"/>
                    </a:moveTo>
                    <a:lnTo>
                      <a:pt x="0" y="159"/>
                    </a:lnTo>
                  </a:path>
                </a:pathLst>
              </a:custGeom>
              <a:noFill/>
              <a:ln w="31750">
                <a:solidFill>
                  <a:srgbClr val="A8351D"/>
                </a:solidFill>
              </a:ln>
            </p:spPr>
          </p:sp>
          <p:sp>
            <p:nvSpPr>
              <p:cNvPr id="251" name="Freeform 251"/>
              <p:cNvSpPr/>
              <p:nvPr/>
            </p:nvSpPr>
            <p:spPr>
              <a:xfrm>
                <a:off x="3765551" y="5394325"/>
                <a:ext cx="9525" cy="9525"/>
              </a:xfrm>
              <a:custGeom>
                <a:avLst/>
                <a:gdLst/>
                <a:ahLst/>
                <a:cxnLst/>
                <a:rect l="l" t="t" r="r" b="b"/>
                <a:pathLst>
                  <a:path w="9525" h="9525">
                    <a:moveTo>
                      <a:pt x="0" y="0"/>
                    </a:moveTo>
                    <a:lnTo>
                      <a:pt x="0" y="159"/>
                    </a:lnTo>
                  </a:path>
                </a:pathLst>
              </a:custGeom>
              <a:noFill/>
              <a:ln w="31750">
                <a:solidFill>
                  <a:srgbClr val="A8351D"/>
                </a:solidFill>
              </a:ln>
            </p:spPr>
          </p:sp>
          <p:sp>
            <p:nvSpPr>
              <p:cNvPr id="252" name="Freeform 252"/>
              <p:cNvSpPr/>
              <p:nvPr/>
            </p:nvSpPr>
            <p:spPr>
              <a:xfrm>
                <a:off x="3765551" y="5457825"/>
                <a:ext cx="9525" cy="9525"/>
              </a:xfrm>
              <a:custGeom>
                <a:avLst/>
                <a:gdLst/>
                <a:ahLst/>
                <a:cxnLst/>
                <a:rect l="l" t="t" r="r" b="b"/>
                <a:pathLst>
                  <a:path w="9525" h="9525">
                    <a:moveTo>
                      <a:pt x="0" y="0"/>
                    </a:moveTo>
                    <a:lnTo>
                      <a:pt x="0" y="159"/>
                    </a:lnTo>
                  </a:path>
                </a:pathLst>
              </a:custGeom>
              <a:noFill/>
              <a:ln w="31750">
                <a:solidFill>
                  <a:srgbClr val="A8351D"/>
                </a:solidFill>
              </a:ln>
            </p:spPr>
          </p:sp>
        </p:grpSp>
        <p:grpSp>
          <p:nvGrpSpPr>
            <p:cNvPr id="258" name="Group 258"/>
            <p:cNvGrpSpPr/>
            <p:nvPr/>
          </p:nvGrpSpPr>
          <p:grpSpPr>
            <a:xfrm>
              <a:off x="3290888" y="5786438"/>
              <a:ext cx="85725" cy="85725"/>
              <a:chOff x="3290888" y="5786438"/>
              <a:chExt cx="85725" cy="85725"/>
            </a:xfrm>
          </p:grpSpPr>
          <p:sp>
            <p:nvSpPr>
              <p:cNvPr id="254" name="Freeform 254"/>
              <p:cNvSpPr/>
              <p:nvPr/>
            </p:nvSpPr>
            <p:spPr>
              <a:xfrm>
                <a:off x="3300412" y="57864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5907F"/>
                </a:solidFill>
              </a:ln>
            </p:spPr>
          </p:sp>
          <p:sp>
            <p:nvSpPr>
              <p:cNvPr id="255" name="Freeform 255"/>
              <p:cNvSpPr/>
              <p:nvPr/>
            </p:nvSpPr>
            <p:spPr>
              <a:xfrm>
                <a:off x="3290888" y="584358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E5907F"/>
                </a:solidFill>
              </a:ln>
            </p:spPr>
          </p:sp>
          <p:sp>
            <p:nvSpPr>
              <p:cNvPr id="256" name="Freeform 256"/>
              <p:cNvSpPr/>
              <p:nvPr/>
            </p:nvSpPr>
            <p:spPr>
              <a:xfrm>
                <a:off x="3352800" y="578705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E5907F"/>
                </a:solidFill>
              </a:ln>
            </p:spPr>
          </p:sp>
          <p:sp>
            <p:nvSpPr>
              <p:cNvPr id="257" name="Freeform 257"/>
              <p:cNvSpPr/>
              <p:nvPr/>
            </p:nvSpPr>
            <p:spPr>
              <a:xfrm>
                <a:off x="3362325" y="5844302"/>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E5907F"/>
                </a:solidFill>
              </a:ln>
            </p:spPr>
          </p:sp>
        </p:grpSp>
        <p:sp>
          <p:nvSpPr>
            <p:cNvPr id="259" name="Rectangle 259"/>
            <p:cNvSpPr/>
            <p:nvPr/>
          </p:nvSpPr>
          <p:spPr>
            <a:xfrm>
              <a:off x="3448050" y="5800725"/>
              <a:ext cx="628650" cy="57150"/>
            </a:xfrm>
            <a:prstGeom prst="roundRect">
              <a:avLst>
                <a:gd name="adj" fmla="val 33333"/>
              </a:avLst>
            </a:prstGeom>
            <a:solidFill>
              <a:srgbClr val="F2CCC4"/>
            </a:solidFill>
            <a:ln>
              <a:noFill/>
            </a:ln>
          </p:spPr>
        </p:sp>
        <p:grpSp>
          <p:nvGrpSpPr>
            <p:cNvPr id="264" name="Group 264"/>
            <p:cNvGrpSpPr/>
            <p:nvPr/>
          </p:nvGrpSpPr>
          <p:grpSpPr>
            <a:xfrm>
              <a:off x="3290888" y="5957888"/>
              <a:ext cx="85725" cy="85725"/>
              <a:chOff x="3290888" y="5957888"/>
              <a:chExt cx="85725" cy="85725"/>
            </a:xfrm>
          </p:grpSpPr>
          <p:sp>
            <p:nvSpPr>
              <p:cNvPr id="260" name="Freeform 260"/>
              <p:cNvSpPr/>
              <p:nvPr/>
            </p:nvSpPr>
            <p:spPr>
              <a:xfrm>
                <a:off x="3300412" y="59578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5907F"/>
                </a:solidFill>
              </a:ln>
            </p:spPr>
          </p:sp>
          <p:sp>
            <p:nvSpPr>
              <p:cNvPr id="261" name="Freeform 261"/>
              <p:cNvSpPr/>
              <p:nvPr/>
            </p:nvSpPr>
            <p:spPr>
              <a:xfrm>
                <a:off x="3290888" y="601503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E5907F"/>
                </a:solidFill>
              </a:ln>
            </p:spPr>
          </p:sp>
          <p:sp>
            <p:nvSpPr>
              <p:cNvPr id="262" name="Freeform 262"/>
              <p:cNvSpPr/>
              <p:nvPr/>
            </p:nvSpPr>
            <p:spPr>
              <a:xfrm>
                <a:off x="3352800" y="595850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E5907F"/>
                </a:solidFill>
              </a:ln>
            </p:spPr>
          </p:sp>
          <p:sp>
            <p:nvSpPr>
              <p:cNvPr id="263" name="Freeform 263"/>
              <p:cNvSpPr/>
              <p:nvPr/>
            </p:nvSpPr>
            <p:spPr>
              <a:xfrm>
                <a:off x="3362325" y="6015752"/>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E5907F"/>
                </a:solidFill>
              </a:ln>
            </p:spPr>
          </p:sp>
        </p:grpSp>
        <p:sp>
          <p:nvSpPr>
            <p:cNvPr id="265" name="Rectangle 265"/>
            <p:cNvSpPr/>
            <p:nvPr/>
          </p:nvSpPr>
          <p:spPr>
            <a:xfrm>
              <a:off x="3448050" y="5972175"/>
              <a:ext cx="628650" cy="57150"/>
            </a:xfrm>
            <a:prstGeom prst="roundRect">
              <a:avLst>
                <a:gd name="adj" fmla="val 33333"/>
              </a:avLst>
            </a:prstGeom>
            <a:solidFill>
              <a:srgbClr val="F2CCC4"/>
            </a:solidFill>
            <a:ln>
              <a:noFill/>
            </a:ln>
          </p:spPr>
        </p:sp>
        <p:grpSp>
          <p:nvGrpSpPr>
            <p:cNvPr id="270" name="Group 270"/>
            <p:cNvGrpSpPr/>
            <p:nvPr/>
          </p:nvGrpSpPr>
          <p:grpSpPr>
            <a:xfrm>
              <a:off x="3290888" y="6129338"/>
              <a:ext cx="85725" cy="85725"/>
              <a:chOff x="3290888" y="6129338"/>
              <a:chExt cx="85725" cy="85725"/>
            </a:xfrm>
          </p:grpSpPr>
          <p:sp>
            <p:nvSpPr>
              <p:cNvPr id="266" name="Freeform 266"/>
              <p:cNvSpPr/>
              <p:nvPr/>
            </p:nvSpPr>
            <p:spPr>
              <a:xfrm>
                <a:off x="3300412" y="61293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E5907F"/>
                </a:solidFill>
              </a:ln>
            </p:spPr>
          </p:sp>
          <p:sp>
            <p:nvSpPr>
              <p:cNvPr id="267" name="Freeform 267"/>
              <p:cNvSpPr/>
              <p:nvPr/>
            </p:nvSpPr>
            <p:spPr>
              <a:xfrm>
                <a:off x="3290888" y="618648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E5907F"/>
                </a:solidFill>
              </a:ln>
            </p:spPr>
          </p:sp>
          <p:sp>
            <p:nvSpPr>
              <p:cNvPr id="268" name="Freeform 268"/>
              <p:cNvSpPr/>
              <p:nvPr/>
            </p:nvSpPr>
            <p:spPr>
              <a:xfrm>
                <a:off x="3352800" y="6129957"/>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E5907F"/>
                </a:solidFill>
              </a:ln>
            </p:spPr>
          </p:sp>
          <p:sp>
            <p:nvSpPr>
              <p:cNvPr id="269" name="Freeform 269"/>
              <p:cNvSpPr/>
              <p:nvPr/>
            </p:nvSpPr>
            <p:spPr>
              <a:xfrm>
                <a:off x="3362325" y="6187202"/>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E5907F"/>
                </a:solidFill>
              </a:ln>
            </p:spPr>
          </p:sp>
        </p:grpSp>
        <p:sp>
          <p:nvSpPr>
            <p:cNvPr id="271" name="Rectangle 271"/>
            <p:cNvSpPr/>
            <p:nvPr/>
          </p:nvSpPr>
          <p:spPr>
            <a:xfrm>
              <a:off x="3448050" y="6143625"/>
              <a:ext cx="628650" cy="57150"/>
            </a:xfrm>
            <a:prstGeom prst="roundRect">
              <a:avLst>
                <a:gd name="adj" fmla="val 33333"/>
              </a:avLst>
            </a:prstGeom>
            <a:solidFill>
              <a:srgbClr val="F2CCC4"/>
            </a:solidFill>
            <a:ln>
              <a:noFill/>
            </a:ln>
          </p:spPr>
        </p:sp>
        <p:sp>
          <p:nvSpPr>
            <p:cNvPr id="272" name="Line 272"/>
            <p:cNvSpPr/>
            <p:nvPr/>
          </p:nvSpPr>
          <p:spPr>
            <a:xfrm>
              <a:off x="4305300" y="5619750"/>
              <a:ext cx="76200" cy="1"/>
            </a:xfrm>
            <a:prstGeom prst="line">
              <a:avLst/>
            </a:prstGeom>
            <a:noFill/>
            <a:ln w="19050">
              <a:solidFill>
                <a:srgbClr val="D64A2E"/>
              </a:solidFill>
              <a:tailEnd type="triangle" w="lg" len="lg"/>
            </a:ln>
          </p:spPr>
        </p:sp>
        <p:sp>
          <p:nvSpPr>
            <p:cNvPr id="273" name="Rectangle 273"/>
            <p:cNvSpPr/>
            <p:nvPr/>
          </p:nvSpPr>
          <p:spPr>
            <a:xfrm>
              <a:off x="4438650" y="4705350"/>
              <a:ext cx="1123950" cy="1809750"/>
            </a:xfrm>
            <a:prstGeom prst="roundRect">
              <a:avLst>
                <a:gd name="adj" fmla="val 6780"/>
              </a:avLst>
            </a:prstGeom>
            <a:solidFill>
              <a:srgbClr val="FFFFFF"/>
            </a:solidFill>
            <a:ln w="9525">
              <a:solidFill>
                <a:srgbClr val="C9D8EF"/>
              </a:solidFill>
            </a:ln>
          </p:spPr>
        </p:sp>
        <p:sp>
          <p:nvSpPr>
            <p:cNvPr id="274" name="Rectangle 274"/>
            <p:cNvSpPr/>
            <p:nvPr/>
          </p:nvSpPr>
          <p:spPr>
            <a:xfrm>
              <a:off x="4514850" y="4781550"/>
              <a:ext cx="971550" cy="228600"/>
            </a:xfrm>
            <a:prstGeom prst="roundRect">
              <a:avLst>
                <a:gd name="adj" fmla="val 50000"/>
              </a:avLst>
            </a:prstGeom>
            <a:solidFill>
              <a:srgbClr val="EAF2FC"/>
            </a:solidFill>
            <a:ln>
              <a:noFill/>
            </a:ln>
          </p:spPr>
        </p:sp>
        <p:sp>
          <p:nvSpPr>
            <p:cNvPr id="275" name="TextBox 275"/>
            <p:cNvSpPr txBox="1"/>
            <p:nvPr/>
          </p:nvSpPr>
          <p:spPr>
            <a:xfrm>
              <a:off x="4642485" y="4852988"/>
              <a:ext cx="716280" cy="147638"/>
            </a:xfrm>
            <a:prstGeom prst="rect">
              <a:avLst/>
            </a:prstGeom>
            <a:noFill/>
            <a:ln>
              <a:noFill/>
            </a:ln>
          </p:spPr>
          <p:txBody>
            <a:bodyPr wrap="none" lIns="0" tIns="0" rIns="0" bIns="0" anchor="t" anchorCtr="0">
              <a:spAutoFit/>
            </a:bodyPr>
            <a:lstStyle/>
            <a:p>
              <a:pPr algn="ctr"/>
              <a:r>
                <a:rPr lang="zh-CN" sz="750" b="1" dirty="0">
                  <a:solidFill>
                    <a:srgbClr val="67281B"/>
                  </a:solidFill>
                  <a:latin typeface="+mn-lt"/>
                  <a:ea typeface="+mn-ea"/>
                  <a:cs typeface="+mn-cs"/>
                </a:rPr>
                <a:t>客户经理看任务</a:t>
              </a:r>
            </a:p>
          </p:txBody>
        </p:sp>
        <p:grpSp>
          <p:nvGrpSpPr>
            <p:cNvPr id="279" name="Group 279"/>
            <p:cNvGrpSpPr/>
            <p:nvPr/>
          </p:nvGrpSpPr>
          <p:grpSpPr>
            <a:xfrm>
              <a:off x="4905375" y="5267325"/>
              <a:ext cx="238125" cy="285751"/>
              <a:chOff x="4905375" y="5267325"/>
              <a:chExt cx="238125" cy="285751"/>
            </a:xfrm>
          </p:grpSpPr>
          <p:sp>
            <p:nvSpPr>
              <p:cNvPr id="276" name="Freeform 276"/>
              <p:cNvSpPr/>
              <p:nvPr/>
            </p:nvSpPr>
            <p:spPr>
              <a:xfrm>
                <a:off x="4937125" y="526732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31750">
                <a:solidFill>
                  <a:srgbClr val="A8351D"/>
                </a:solidFill>
              </a:ln>
            </p:spPr>
          </p:sp>
          <p:sp>
            <p:nvSpPr>
              <p:cNvPr id="277" name="Freeform 277"/>
              <p:cNvSpPr/>
              <p:nvPr/>
            </p:nvSpPr>
            <p:spPr>
              <a:xfrm>
                <a:off x="4905375" y="5457825"/>
                <a:ext cx="127000" cy="95250"/>
              </a:xfrm>
              <a:custGeom>
                <a:avLst/>
                <a:gdLst/>
                <a:ahLst/>
                <a:cxnLst/>
                <a:rect l="l" t="t" r="r" b="b"/>
                <a:pathLst>
                  <a:path w="127000" h="95250">
                    <a:moveTo>
                      <a:pt x="0" y="95250"/>
                    </a:moveTo>
                    <a:lnTo>
                      <a:pt x="0" y="63500"/>
                    </a:lnTo>
                    <a:cubicBezTo>
                      <a:pt x="0" y="28430"/>
                      <a:pt x="28430" y="0"/>
                      <a:pt x="63500" y="0"/>
                    </a:cubicBezTo>
                    <a:lnTo>
                      <a:pt x="127000" y="0"/>
                    </a:lnTo>
                  </a:path>
                </a:pathLst>
              </a:custGeom>
              <a:noFill/>
              <a:ln w="31750">
                <a:solidFill>
                  <a:srgbClr val="A8351D"/>
                </a:solidFill>
              </a:ln>
            </p:spPr>
          </p:sp>
          <p:sp>
            <p:nvSpPr>
              <p:cNvPr id="278" name="Freeform 278"/>
              <p:cNvSpPr/>
              <p:nvPr/>
            </p:nvSpPr>
            <p:spPr>
              <a:xfrm>
                <a:off x="5048250" y="5489576"/>
                <a:ext cx="95250" cy="63500"/>
              </a:xfrm>
              <a:custGeom>
                <a:avLst/>
                <a:gdLst/>
                <a:ahLst/>
                <a:cxnLst/>
                <a:rect l="l" t="t" r="r" b="b"/>
                <a:pathLst>
                  <a:path w="95250" h="63500">
                    <a:moveTo>
                      <a:pt x="0" y="31750"/>
                    </a:moveTo>
                    <a:lnTo>
                      <a:pt x="31750" y="63500"/>
                    </a:lnTo>
                    <a:lnTo>
                      <a:pt x="95250" y="0"/>
                    </a:lnTo>
                  </a:path>
                </a:pathLst>
              </a:custGeom>
              <a:noFill/>
              <a:ln w="31750">
                <a:solidFill>
                  <a:srgbClr val="A8351D"/>
                </a:solidFill>
              </a:ln>
            </p:spPr>
          </p:sp>
        </p:grpSp>
        <p:grpSp>
          <p:nvGrpSpPr>
            <p:cNvPr id="282" name="Group 282"/>
            <p:cNvGrpSpPr/>
            <p:nvPr/>
          </p:nvGrpSpPr>
          <p:grpSpPr>
            <a:xfrm>
              <a:off x="4605338" y="5786438"/>
              <a:ext cx="85725" cy="85725"/>
              <a:chOff x="4605338" y="5786438"/>
              <a:chExt cx="85725" cy="85725"/>
            </a:xfrm>
          </p:grpSpPr>
          <p:sp>
            <p:nvSpPr>
              <p:cNvPr id="280" name="Freeform 280"/>
              <p:cNvSpPr/>
              <p:nvPr/>
            </p:nvSpPr>
            <p:spPr>
              <a:xfrm>
                <a:off x="4605338" y="57864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A5280F"/>
                </a:solidFill>
              </a:ln>
            </p:spPr>
          </p:sp>
          <p:sp>
            <p:nvSpPr>
              <p:cNvPr id="281" name="Freeform 281"/>
              <p:cNvSpPr/>
              <p:nvPr/>
            </p:nvSpPr>
            <p:spPr>
              <a:xfrm>
                <a:off x="4633912" y="5819775"/>
                <a:ext cx="28575" cy="19050"/>
              </a:xfrm>
              <a:custGeom>
                <a:avLst/>
                <a:gdLst/>
                <a:ahLst/>
                <a:cxnLst/>
                <a:rect l="l" t="t" r="r" b="b"/>
                <a:pathLst>
                  <a:path w="28575" h="19050">
                    <a:moveTo>
                      <a:pt x="0" y="9525"/>
                    </a:moveTo>
                    <a:lnTo>
                      <a:pt x="9525" y="19050"/>
                    </a:lnTo>
                    <a:lnTo>
                      <a:pt x="28575" y="0"/>
                    </a:lnTo>
                  </a:path>
                </a:pathLst>
              </a:custGeom>
              <a:noFill/>
              <a:ln w="9525">
                <a:solidFill>
                  <a:srgbClr val="A5280F"/>
                </a:solidFill>
              </a:ln>
            </p:spPr>
          </p:sp>
        </p:grpSp>
        <p:sp>
          <p:nvSpPr>
            <p:cNvPr id="283" name="Rectangle 283"/>
            <p:cNvSpPr/>
            <p:nvPr/>
          </p:nvSpPr>
          <p:spPr>
            <a:xfrm>
              <a:off x="4762500" y="5800725"/>
              <a:ext cx="628650" cy="57150"/>
            </a:xfrm>
            <a:prstGeom prst="roundRect">
              <a:avLst>
                <a:gd name="adj" fmla="val 33333"/>
              </a:avLst>
            </a:prstGeom>
            <a:solidFill>
              <a:srgbClr val="F2CCC4"/>
            </a:solidFill>
            <a:ln>
              <a:noFill/>
            </a:ln>
          </p:spPr>
        </p:sp>
        <p:grpSp>
          <p:nvGrpSpPr>
            <p:cNvPr id="286" name="Group 286"/>
            <p:cNvGrpSpPr/>
            <p:nvPr/>
          </p:nvGrpSpPr>
          <p:grpSpPr>
            <a:xfrm>
              <a:off x="4605338" y="5957888"/>
              <a:ext cx="85725" cy="85725"/>
              <a:chOff x="4605338" y="5957888"/>
              <a:chExt cx="85725" cy="85725"/>
            </a:xfrm>
          </p:grpSpPr>
          <p:sp>
            <p:nvSpPr>
              <p:cNvPr id="284" name="Freeform 284"/>
              <p:cNvSpPr/>
              <p:nvPr/>
            </p:nvSpPr>
            <p:spPr>
              <a:xfrm>
                <a:off x="4605338" y="59578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A5280F"/>
                </a:solidFill>
              </a:ln>
            </p:spPr>
          </p:sp>
          <p:sp>
            <p:nvSpPr>
              <p:cNvPr id="285" name="Freeform 285"/>
              <p:cNvSpPr/>
              <p:nvPr/>
            </p:nvSpPr>
            <p:spPr>
              <a:xfrm>
                <a:off x="4633912" y="5991225"/>
                <a:ext cx="28575" cy="19050"/>
              </a:xfrm>
              <a:custGeom>
                <a:avLst/>
                <a:gdLst/>
                <a:ahLst/>
                <a:cxnLst/>
                <a:rect l="l" t="t" r="r" b="b"/>
                <a:pathLst>
                  <a:path w="28575" h="19050">
                    <a:moveTo>
                      <a:pt x="0" y="9525"/>
                    </a:moveTo>
                    <a:lnTo>
                      <a:pt x="9525" y="19050"/>
                    </a:lnTo>
                    <a:lnTo>
                      <a:pt x="28575" y="0"/>
                    </a:lnTo>
                  </a:path>
                </a:pathLst>
              </a:custGeom>
              <a:noFill/>
              <a:ln w="9525">
                <a:solidFill>
                  <a:srgbClr val="A5280F"/>
                </a:solidFill>
              </a:ln>
            </p:spPr>
          </p:sp>
        </p:grpSp>
        <p:sp>
          <p:nvSpPr>
            <p:cNvPr id="287" name="Rectangle 287"/>
            <p:cNvSpPr/>
            <p:nvPr/>
          </p:nvSpPr>
          <p:spPr>
            <a:xfrm>
              <a:off x="4762500" y="5972175"/>
              <a:ext cx="628650" cy="57150"/>
            </a:xfrm>
            <a:prstGeom prst="roundRect">
              <a:avLst>
                <a:gd name="adj" fmla="val 33333"/>
              </a:avLst>
            </a:prstGeom>
            <a:solidFill>
              <a:srgbClr val="F2CCC4"/>
            </a:solidFill>
            <a:ln>
              <a:noFill/>
            </a:ln>
          </p:spPr>
        </p:sp>
        <p:grpSp>
          <p:nvGrpSpPr>
            <p:cNvPr id="290" name="Group 290"/>
            <p:cNvGrpSpPr/>
            <p:nvPr/>
          </p:nvGrpSpPr>
          <p:grpSpPr>
            <a:xfrm>
              <a:off x="4605338" y="6129338"/>
              <a:ext cx="85725" cy="85725"/>
              <a:chOff x="4605338" y="6129338"/>
              <a:chExt cx="85725" cy="85725"/>
            </a:xfrm>
          </p:grpSpPr>
          <p:sp>
            <p:nvSpPr>
              <p:cNvPr id="288" name="Freeform 288"/>
              <p:cNvSpPr/>
              <p:nvPr/>
            </p:nvSpPr>
            <p:spPr>
              <a:xfrm>
                <a:off x="4605338" y="61293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A5280F"/>
                </a:solidFill>
              </a:ln>
            </p:spPr>
          </p:sp>
          <p:sp>
            <p:nvSpPr>
              <p:cNvPr id="289" name="Freeform 289"/>
              <p:cNvSpPr/>
              <p:nvPr/>
            </p:nvSpPr>
            <p:spPr>
              <a:xfrm>
                <a:off x="4633912" y="6162675"/>
                <a:ext cx="28575" cy="19050"/>
              </a:xfrm>
              <a:custGeom>
                <a:avLst/>
                <a:gdLst/>
                <a:ahLst/>
                <a:cxnLst/>
                <a:rect l="l" t="t" r="r" b="b"/>
                <a:pathLst>
                  <a:path w="28575" h="19050">
                    <a:moveTo>
                      <a:pt x="0" y="9525"/>
                    </a:moveTo>
                    <a:lnTo>
                      <a:pt x="9525" y="19050"/>
                    </a:lnTo>
                    <a:lnTo>
                      <a:pt x="28575" y="0"/>
                    </a:lnTo>
                  </a:path>
                </a:pathLst>
              </a:custGeom>
              <a:noFill/>
              <a:ln w="9525">
                <a:solidFill>
                  <a:srgbClr val="A5280F"/>
                </a:solidFill>
              </a:ln>
            </p:spPr>
          </p:sp>
        </p:grpSp>
        <p:sp>
          <p:nvSpPr>
            <p:cNvPr id="291" name="Rectangle 291"/>
            <p:cNvSpPr/>
            <p:nvPr/>
          </p:nvSpPr>
          <p:spPr>
            <a:xfrm>
              <a:off x="4762500" y="6143625"/>
              <a:ext cx="628650" cy="57150"/>
            </a:xfrm>
            <a:prstGeom prst="roundRect">
              <a:avLst>
                <a:gd name="adj" fmla="val 33333"/>
              </a:avLst>
            </a:prstGeom>
            <a:solidFill>
              <a:srgbClr val="F2CCC4"/>
            </a:solidFill>
            <a:ln>
              <a:noFill/>
            </a:ln>
          </p:spPr>
        </p:sp>
      </p:grpSp>
      <p:grpSp>
        <p:nvGrpSpPr>
          <p:cNvPr id="349" name="risk-alert"/>
          <p:cNvGrpSpPr/>
          <p:nvPr/>
        </p:nvGrpSpPr>
        <p:grpSpPr>
          <a:xfrm>
            <a:off x="5829300" y="4248150"/>
            <a:ext cx="5981700" cy="2419350"/>
            <a:chOff x="5829300" y="4248150"/>
            <a:chExt cx="5981700" cy="2419350"/>
          </a:xfrm>
        </p:grpSpPr>
        <p:sp>
          <p:nvSpPr>
            <p:cNvPr id="293" name="Rectangle 293"/>
            <p:cNvSpPr/>
            <p:nvPr/>
          </p:nvSpPr>
          <p:spPr>
            <a:xfrm>
              <a:off x="5829300" y="4248150"/>
              <a:ext cx="5981700" cy="2419350"/>
            </a:xfrm>
            <a:prstGeom prst="roundRect">
              <a:avLst>
                <a:gd name="adj" fmla="val 3937"/>
              </a:avLst>
            </a:prstGeom>
            <a:solidFill>
              <a:srgbClr val="F9FBFE"/>
            </a:solidFill>
            <a:ln w="9525">
              <a:solidFill>
                <a:srgbClr val="C9D8EF"/>
              </a:solidFill>
            </a:ln>
          </p:spPr>
        </p:sp>
        <p:sp>
          <p:nvSpPr>
            <p:cNvPr id="294" name="Rectangle 294"/>
            <p:cNvSpPr/>
            <p:nvPr/>
          </p:nvSpPr>
          <p:spPr>
            <a:xfrm>
              <a:off x="5829300" y="4248150"/>
              <a:ext cx="5981700" cy="266700"/>
            </a:xfrm>
            <a:prstGeom prst="roundRect">
              <a:avLst>
                <a:gd name="adj" fmla="val 14286"/>
              </a:avLst>
            </a:prstGeom>
            <a:gradFill>
              <a:gsLst>
                <a:gs pos="0">
                  <a:srgbClr val="AD3921"/>
                </a:gs>
                <a:gs pos="100000">
                  <a:srgbClr val="962C16"/>
                </a:gs>
              </a:gsLst>
              <a:lin ang="5400000" scaled="1"/>
            </a:gradFill>
            <a:ln>
              <a:noFill/>
            </a:ln>
          </p:spPr>
        </p:sp>
        <p:sp>
          <p:nvSpPr>
            <p:cNvPr id="295" name="TextBox 295"/>
            <p:cNvSpPr txBox="1"/>
            <p:nvPr/>
          </p:nvSpPr>
          <p:spPr>
            <a:xfrm>
              <a:off x="8551342" y="43238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风险预警</a:t>
              </a:r>
            </a:p>
          </p:txBody>
        </p:sp>
        <p:sp>
          <p:nvSpPr>
            <p:cNvPr id="296" name="Rectangle 296"/>
            <p:cNvSpPr/>
            <p:nvPr/>
          </p:nvSpPr>
          <p:spPr>
            <a:xfrm>
              <a:off x="5905500" y="4667250"/>
              <a:ext cx="5829300" cy="247650"/>
            </a:xfrm>
            <a:prstGeom prst="rect">
              <a:avLst/>
            </a:prstGeom>
            <a:solidFill>
              <a:srgbClr val="A8351D"/>
            </a:solidFill>
            <a:ln>
              <a:noFill/>
            </a:ln>
          </p:spPr>
        </p:sp>
        <p:sp>
          <p:nvSpPr>
            <p:cNvPr id="297" name="TextBox 297"/>
            <p:cNvSpPr txBox="1"/>
            <p:nvPr/>
          </p:nvSpPr>
          <p:spPr>
            <a:xfrm>
              <a:off x="6312713" y="4744164"/>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风险项</a:t>
              </a:r>
            </a:p>
          </p:txBody>
        </p:sp>
        <p:sp>
          <p:nvSpPr>
            <p:cNvPr id="298" name="TextBox 298"/>
            <p:cNvSpPr txBox="1"/>
            <p:nvPr/>
          </p:nvSpPr>
          <p:spPr>
            <a:xfrm>
              <a:off x="7461263" y="4744164"/>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红灯</a:t>
              </a:r>
            </a:p>
          </p:txBody>
        </p:sp>
        <p:sp>
          <p:nvSpPr>
            <p:cNvPr id="299" name="TextBox 299"/>
            <p:cNvSpPr txBox="1"/>
            <p:nvPr/>
          </p:nvSpPr>
          <p:spPr>
            <a:xfrm>
              <a:off x="8509013" y="4744164"/>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黄灯</a:t>
              </a:r>
            </a:p>
          </p:txBody>
        </p:sp>
        <p:sp>
          <p:nvSpPr>
            <p:cNvPr id="300" name="TextBox 300"/>
            <p:cNvSpPr txBox="1"/>
            <p:nvPr/>
          </p:nvSpPr>
          <p:spPr>
            <a:xfrm>
              <a:off x="9556763" y="4744164"/>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绿灯</a:t>
              </a:r>
            </a:p>
          </p:txBody>
        </p:sp>
        <p:sp>
          <p:nvSpPr>
            <p:cNvPr id="301" name="TextBox 301"/>
            <p:cNvSpPr txBox="1"/>
            <p:nvPr/>
          </p:nvSpPr>
          <p:spPr>
            <a:xfrm>
              <a:off x="10639463" y="4744164"/>
              <a:ext cx="6476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当前预警状态</a:t>
              </a:r>
            </a:p>
          </p:txBody>
        </p:sp>
        <p:sp>
          <p:nvSpPr>
            <p:cNvPr id="302" name="Rectangle 302"/>
            <p:cNvSpPr/>
            <p:nvPr/>
          </p:nvSpPr>
          <p:spPr>
            <a:xfrm>
              <a:off x="5905500" y="4914900"/>
              <a:ext cx="5829300" cy="419100"/>
            </a:xfrm>
            <a:prstGeom prst="rect">
              <a:avLst/>
            </a:prstGeom>
            <a:solidFill>
              <a:srgbClr val="FFFFFF"/>
            </a:solidFill>
            <a:ln w="9525">
              <a:solidFill>
                <a:srgbClr val="E2EAF6"/>
              </a:solidFill>
            </a:ln>
          </p:spPr>
        </p:sp>
        <p:grpSp>
          <p:nvGrpSpPr>
            <p:cNvPr id="307" name="Group 307"/>
            <p:cNvGrpSpPr/>
            <p:nvPr/>
          </p:nvGrpSpPr>
          <p:grpSpPr>
            <a:xfrm>
              <a:off x="6041231" y="5060156"/>
              <a:ext cx="128588" cy="128588"/>
              <a:chOff x="6041231" y="5060156"/>
              <a:chExt cx="128588" cy="128588"/>
            </a:xfrm>
          </p:grpSpPr>
          <p:sp>
            <p:nvSpPr>
              <p:cNvPr id="303" name="Freeform 303"/>
              <p:cNvSpPr/>
              <p:nvPr/>
            </p:nvSpPr>
            <p:spPr>
              <a:xfrm>
                <a:off x="6055519" y="50601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D65A45"/>
                </a:solidFill>
              </a:ln>
            </p:spPr>
          </p:sp>
          <p:sp>
            <p:nvSpPr>
              <p:cNvPr id="304" name="Freeform 304"/>
              <p:cNvSpPr/>
              <p:nvPr/>
            </p:nvSpPr>
            <p:spPr>
              <a:xfrm>
                <a:off x="6041231" y="514588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D65A45"/>
                </a:solidFill>
              </a:ln>
            </p:spPr>
          </p:sp>
          <p:sp>
            <p:nvSpPr>
              <p:cNvPr id="305" name="Freeform 305"/>
              <p:cNvSpPr/>
              <p:nvPr/>
            </p:nvSpPr>
            <p:spPr>
              <a:xfrm>
                <a:off x="6134100" y="506108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D65A45"/>
                </a:solidFill>
              </a:ln>
            </p:spPr>
          </p:sp>
          <p:sp>
            <p:nvSpPr>
              <p:cNvPr id="306" name="Freeform 306"/>
              <p:cNvSpPr/>
              <p:nvPr/>
            </p:nvSpPr>
            <p:spPr>
              <a:xfrm>
                <a:off x="6148388" y="514695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D65A45"/>
                </a:solidFill>
              </a:ln>
            </p:spPr>
          </p:sp>
        </p:grpSp>
        <p:sp>
          <p:nvSpPr>
            <p:cNvPr id="308" name="TextBox 308"/>
            <p:cNvSpPr txBox="1"/>
            <p:nvPr/>
          </p:nvSpPr>
          <p:spPr>
            <a:xfrm>
              <a:off x="6262688" y="5083016"/>
              <a:ext cx="451079"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客户流失</a:t>
              </a:r>
            </a:p>
          </p:txBody>
        </p:sp>
        <p:sp>
          <p:nvSpPr>
            <p:cNvPr id="309" name="TextBox 309"/>
            <p:cNvSpPr txBox="1"/>
            <p:nvPr/>
          </p:nvSpPr>
          <p:spPr>
            <a:xfrm>
              <a:off x="7364774" y="5083016"/>
              <a:ext cx="415202" cy="161925"/>
            </a:xfrm>
            <a:prstGeom prst="rect">
              <a:avLst/>
            </a:prstGeom>
            <a:noFill/>
            <a:ln>
              <a:noFill/>
            </a:ln>
          </p:spPr>
          <p:txBody>
            <a:bodyPr wrap="none" lIns="0" tIns="0" rIns="0" bIns="0" anchor="t" anchorCtr="0">
              <a:spAutoFit/>
            </a:bodyPr>
            <a:lstStyle/>
            <a:p>
              <a:pPr algn="ctr"/>
              <a:r>
                <a:rPr lang="zh-CN" sz="820" b="1" dirty="0">
                  <a:solidFill>
                    <a:srgbClr val="D65A45"/>
                  </a:solidFill>
                  <a:latin typeface="+mn-lt"/>
                  <a:ea typeface="+mn-ea"/>
                  <a:cs typeface="+mn-cs"/>
                </a:rPr>
                <a:t>≥20%​​</a:t>
              </a:r>
            </a:p>
          </p:txBody>
        </p:sp>
        <p:sp>
          <p:nvSpPr>
            <p:cNvPr id="310" name="TextBox 310"/>
            <p:cNvSpPr txBox="1"/>
            <p:nvPr/>
          </p:nvSpPr>
          <p:spPr>
            <a:xfrm>
              <a:off x="8305309" y="5083016"/>
              <a:ext cx="629632" cy="161925"/>
            </a:xfrm>
            <a:prstGeom prst="rect">
              <a:avLst/>
            </a:prstGeom>
            <a:noFill/>
            <a:ln>
              <a:noFill/>
            </a:ln>
          </p:spPr>
          <p:txBody>
            <a:bodyPr wrap="none" lIns="0" tIns="0" rIns="0" bIns="0" anchor="t" anchorCtr="0">
              <a:spAutoFit/>
            </a:bodyPr>
            <a:lstStyle/>
            <a:p>
              <a:pPr algn="ctr"/>
              <a:r>
                <a:rPr lang="zh-CN" sz="820" b="1" dirty="0">
                  <a:solidFill>
                    <a:srgbClr val="D9371B"/>
                  </a:solidFill>
                  <a:latin typeface="+mn-lt"/>
                  <a:ea typeface="+mn-ea"/>
                  <a:cs typeface="+mn-cs"/>
                </a:rPr>
                <a:t>10%-20%​​</a:t>
              </a:r>
            </a:p>
          </p:txBody>
        </p:sp>
        <p:sp>
          <p:nvSpPr>
            <p:cNvPr id="311" name="TextBox 311"/>
            <p:cNvSpPr txBox="1"/>
            <p:nvPr/>
          </p:nvSpPr>
          <p:spPr>
            <a:xfrm>
              <a:off x="9460274" y="5083016"/>
              <a:ext cx="415202" cy="161925"/>
            </a:xfrm>
            <a:prstGeom prst="rect">
              <a:avLst/>
            </a:prstGeom>
            <a:noFill/>
            <a:ln>
              <a:noFill/>
            </a:ln>
          </p:spPr>
          <p:txBody>
            <a:bodyPr wrap="none" lIns="0" tIns="0" rIns="0" bIns="0" anchor="t" anchorCtr="0">
              <a:spAutoFit/>
            </a:bodyPr>
            <a:lstStyle/>
            <a:p>
              <a:pPr algn="ctr"/>
              <a:r>
                <a:rPr lang="zh-CN" sz="820" b="1" dirty="0">
                  <a:solidFill>
                    <a:srgbClr val="A54C3B"/>
                  </a:solidFill>
                  <a:latin typeface="+mn-lt"/>
                  <a:ea typeface="+mn-ea"/>
                  <a:cs typeface="+mn-cs"/>
                </a:rPr>
                <a:t>&lt;10%​​</a:t>
              </a:r>
            </a:p>
          </p:txBody>
        </p:sp>
        <p:sp>
          <p:nvSpPr>
            <p:cNvPr id="312" name="Rectangle 312"/>
            <p:cNvSpPr/>
            <p:nvPr/>
          </p:nvSpPr>
          <p:spPr>
            <a:xfrm>
              <a:off x="10677525" y="5019675"/>
              <a:ext cx="571500" cy="209550"/>
            </a:xfrm>
            <a:prstGeom prst="roundRect">
              <a:avLst>
                <a:gd name="adj" fmla="val 18182"/>
              </a:avLst>
            </a:prstGeom>
            <a:solidFill>
              <a:srgbClr val="D65A45"/>
            </a:solidFill>
            <a:ln>
              <a:noFill/>
            </a:ln>
          </p:spPr>
        </p:sp>
        <p:sp>
          <p:nvSpPr>
            <p:cNvPr id="313" name="TextBox 313"/>
            <p:cNvSpPr txBox="1"/>
            <p:nvPr/>
          </p:nvSpPr>
          <p:spPr>
            <a:xfrm>
              <a:off x="10852163" y="50775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红灯</a:t>
              </a:r>
            </a:p>
          </p:txBody>
        </p:sp>
        <p:sp>
          <p:nvSpPr>
            <p:cNvPr id="314" name="Rectangle 314"/>
            <p:cNvSpPr/>
            <p:nvPr/>
          </p:nvSpPr>
          <p:spPr>
            <a:xfrm>
              <a:off x="5905500" y="5334000"/>
              <a:ext cx="5829300" cy="419100"/>
            </a:xfrm>
            <a:prstGeom prst="rect">
              <a:avLst/>
            </a:prstGeom>
            <a:solidFill>
              <a:srgbClr val="F7FAFE"/>
            </a:solidFill>
            <a:ln w="9525">
              <a:solidFill>
                <a:srgbClr val="E2EAF6"/>
              </a:solidFill>
            </a:ln>
          </p:spPr>
        </p:sp>
        <p:grpSp>
          <p:nvGrpSpPr>
            <p:cNvPr id="318" name="Group 318"/>
            <p:cNvGrpSpPr/>
            <p:nvPr/>
          </p:nvGrpSpPr>
          <p:grpSpPr>
            <a:xfrm>
              <a:off x="6041231" y="5493544"/>
              <a:ext cx="128587" cy="100013"/>
              <a:chOff x="6041231" y="5493544"/>
              <a:chExt cx="128587" cy="100013"/>
            </a:xfrm>
          </p:grpSpPr>
          <p:sp>
            <p:nvSpPr>
              <p:cNvPr id="315" name="Freeform 315"/>
              <p:cNvSpPr/>
              <p:nvPr/>
            </p:nvSpPr>
            <p:spPr>
              <a:xfrm>
                <a:off x="6041231" y="5493544"/>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D9371B"/>
                </a:solidFill>
              </a:ln>
            </p:spPr>
          </p:sp>
          <p:sp>
            <p:nvSpPr>
              <p:cNvPr id="316" name="Freeform 316"/>
              <p:cNvSpPr/>
              <p:nvPr/>
            </p:nvSpPr>
            <p:spPr>
              <a:xfrm>
                <a:off x="6069806" y="5522119"/>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D9371B"/>
                </a:solidFill>
              </a:ln>
            </p:spPr>
          </p:sp>
          <p:sp>
            <p:nvSpPr>
              <p:cNvPr id="317" name="Freeform 317"/>
              <p:cNvSpPr/>
              <p:nvPr/>
            </p:nvSpPr>
            <p:spPr>
              <a:xfrm>
                <a:off x="6105525" y="554355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9371B"/>
                </a:solidFill>
              </a:ln>
            </p:spPr>
          </p:sp>
        </p:grpSp>
        <p:sp>
          <p:nvSpPr>
            <p:cNvPr id="319" name="TextBox 319"/>
            <p:cNvSpPr txBox="1"/>
            <p:nvPr/>
          </p:nvSpPr>
          <p:spPr>
            <a:xfrm>
              <a:off x="6262688" y="5502116"/>
              <a:ext cx="451079"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代发迁移</a:t>
              </a:r>
            </a:p>
          </p:txBody>
        </p:sp>
        <p:sp>
          <p:nvSpPr>
            <p:cNvPr id="320" name="TextBox 320"/>
            <p:cNvSpPr txBox="1"/>
            <p:nvPr/>
          </p:nvSpPr>
          <p:spPr>
            <a:xfrm>
              <a:off x="7364774" y="5502116"/>
              <a:ext cx="415202" cy="161925"/>
            </a:xfrm>
            <a:prstGeom prst="rect">
              <a:avLst/>
            </a:prstGeom>
            <a:noFill/>
            <a:ln>
              <a:noFill/>
            </a:ln>
          </p:spPr>
          <p:txBody>
            <a:bodyPr wrap="none" lIns="0" tIns="0" rIns="0" bIns="0" anchor="t" anchorCtr="0">
              <a:spAutoFit/>
            </a:bodyPr>
            <a:lstStyle/>
            <a:p>
              <a:pPr algn="ctr"/>
              <a:r>
                <a:rPr lang="zh-CN" sz="820" b="1" dirty="0">
                  <a:solidFill>
                    <a:srgbClr val="D65A45"/>
                  </a:solidFill>
                  <a:latin typeface="+mn-lt"/>
                  <a:ea typeface="+mn-ea"/>
                  <a:cs typeface="+mn-cs"/>
                </a:rPr>
                <a:t>≥15%​​</a:t>
              </a:r>
            </a:p>
          </p:txBody>
        </p:sp>
        <p:sp>
          <p:nvSpPr>
            <p:cNvPr id="321" name="TextBox 321"/>
            <p:cNvSpPr txBox="1"/>
            <p:nvPr/>
          </p:nvSpPr>
          <p:spPr>
            <a:xfrm>
              <a:off x="8337184" y="5502116"/>
              <a:ext cx="565883" cy="161925"/>
            </a:xfrm>
            <a:prstGeom prst="rect">
              <a:avLst/>
            </a:prstGeom>
            <a:noFill/>
            <a:ln>
              <a:noFill/>
            </a:ln>
          </p:spPr>
          <p:txBody>
            <a:bodyPr wrap="none" lIns="0" tIns="0" rIns="0" bIns="0" anchor="t" anchorCtr="0">
              <a:spAutoFit/>
            </a:bodyPr>
            <a:lstStyle/>
            <a:p>
              <a:pPr algn="ctr"/>
              <a:r>
                <a:rPr lang="zh-CN" sz="820" b="1" dirty="0">
                  <a:solidFill>
                    <a:srgbClr val="D9371B"/>
                  </a:solidFill>
                  <a:latin typeface="+mn-lt"/>
                  <a:ea typeface="+mn-ea"/>
                  <a:cs typeface="+mn-cs"/>
                </a:rPr>
                <a:t>8%-15%​​</a:t>
              </a:r>
            </a:p>
          </p:txBody>
        </p:sp>
        <p:sp>
          <p:nvSpPr>
            <p:cNvPr id="322" name="TextBox 322"/>
            <p:cNvSpPr txBox="1"/>
            <p:nvPr/>
          </p:nvSpPr>
          <p:spPr>
            <a:xfrm>
              <a:off x="9492148" y="5502116"/>
              <a:ext cx="351453" cy="161925"/>
            </a:xfrm>
            <a:prstGeom prst="rect">
              <a:avLst/>
            </a:prstGeom>
            <a:noFill/>
            <a:ln>
              <a:noFill/>
            </a:ln>
          </p:spPr>
          <p:txBody>
            <a:bodyPr wrap="none" lIns="0" tIns="0" rIns="0" bIns="0" anchor="t" anchorCtr="0">
              <a:spAutoFit/>
            </a:bodyPr>
            <a:lstStyle/>
            <a:p>
              <a:pPr algn="ctr"/>
              <a:r>
                <a:rPr lang="zh-CN" sz="820" b="1" dirty="0">
                  <a:solidFill>
                    <a:srgbClr val="A54C3B"/>
                  </a:solidFill>
                  <a:latin typeface="+mn-lt"/>
                  <a:ea typeface="+mn-ea"/>
                  <a:cs typeface="+mn-cs"/>
                </a:rPr>
                <a:t>&lt;8%​​</a:t>
              </a:r>
            </a:p>
          </p:txBody>
        </p:sp>
        <p:sp>
          <p:nvSpPr>
            <p:cNvPr id="323" name="Rectangle 323"/>
            <p:cNvSpPr/>
            <p:nvPr/>
          </p:nvSpPr>
          <p:spPr>
            <a:xfrm>
              <a:off x="10677525" y="5438775"/>
              <a:ext cx="571500" cy="209550"/>
            </a:xfrm>
            <a:prstGeom prst="roundRect">
              <a:avLst>
                <a:gd name="adj" fmla="val 18182"/>
              </a:avLst>
            </a:prstGeom>
            <a:solidFill>
              <a:srgbClr val="E84C31"/>
            </a:solidFill>
            <a:ln>
              <a:noFill/>
            </a:ln>
          </p:spPr>
        </p:sp>
        <p:sp>
          <p:nvSpPr>
            <p:cNvPr id="324" name="TextBox 324"/>
            <p:cNvSpPr txBox="1"/>
            <p:nvPr/>
          </p:nvSpPr>
          <p:spPr>
            <a:xfrm>
              <a:off x="10852163" y="54966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黄灯</a:t>
              </a:r>
            </a:p>
          </p:txBody>
        </p:sp>
        <p:sp>
          <p:nvSpPr>
            <p:cNvPr id="325" name="Rectangle 325"/>
            <p:cNvSpPr/>
            <p:nvPr/>
          </p:nvSpPr>
          <p:spPr>
            <a:xfrm>
              <a:off x="5905500" y="5753100"/>
              <a:ext cx="5829300" cy="419100"/>
            </a:xfrm>
            <a:prstGeom prst="rect">
              <a:avLst/>
            </a:prstGeom>
            <a:solidFill>
              <a:srgbClr val="FFFFFF"/>
            </a:solidFill>
            <a:ln w="9525">
              <a:solidFill>
                <a:srgbClr val="E2EAF6"/>
              </a:solidFill>
            </a:ln>
          </p:spPr>
        </p:sp>
        <p:grpSp>
          <p:nvGrpSpPr>
            <p:cNvPr id="331" name="Group 331"/>
            <p:cNvGrpSpPr/>
            <p:nvPr/>
          </p:nvGrpSpPr>
          <p:grpSpPr>
            <a:xfrm>
              <a:off x="6041231" y="5897399"/>
              <a:ext cx="128588" cy="129545"/>
              <a:chOff x="6041231" y="5897399"/>
              <a:chExt cx="128588" cy="129545"/>
            </a:xfrm>
          </p:grpSpPr>
          <p:sp>
            <p:nvSpPr>
              <p:cNvPr id="326" name="Freeform 326"/>
              <p:cNvSpPr/>
              <p:nvPr/>
            </p:nvSpPr>
            <p:spPr>
              <a:xfrm>
                <a:off x="6084094" y="595550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A54C3B"/>
                </a:solidFill>
              </a:ln>
            </p:spPr>
          </p:sp>
          <p:sp>
            <p:nvSpPr>
              <p:cNvPr id="327" name="Freeform 327"/>
              <p:cNvSpPr/>
              <p:nvPr/>
            </p:nvSpPr>
            <p:spPr>
              <a:xfrm>
                <a:off x="6084094" y="597693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A54C3B"/>
                </a:solidFill>
              </a:ln>
            </p:spPr>
          </p:sp>
          <p:sp>
            <p:nvSpPr>
              <p:cNvPr id="328" name="Freeform 328"/>
              <p:cNvSpPr/>
              <p:nvPr/>
            </p:nvSpPr>
            <p:spPr>
              <a:xfrm>
                <a:off x="6041231" y="589739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A54C3B"/>
                </a:solidFill>
              </a:ln>
            </p:spPr>
          </p:sp>
          <p:sp>
            <p:nvSpPr>
              <p:cNvPr id="329" name="Freeform 329"/>
              <p:cNvSpPr/>
              <p:nvPr/>
            </p:nvSpPr>
            <p:spPr>
              <a:xfrm>
                <a:off x="6041231" y="591978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A54C3B"/>
                </a:solidFill>
              </a:ln>
            </p:spPr>
          </p:sp>
          <p:sp>
            <p:nvSpPr>
              <p:cNvPr id="330" name="Freeform 330"/>
              <p:cNvSpPr/>
              <p:nvPr/>
            </p:nvSpPr>
            <p:spPr>
              <a:xfrm>
                <a:off x="6041231" y="595550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A54C3B"/>
                </a:solidFill>
              </a:ln>
            </p:spPr>
          </p:sp>
        </p:grpSp>
        <p:sp>
          <p:nvSpPr>
            <p:cNvPr id="332" name="TextBox 332"/>
            <p:cNvSpPr txBox="1"/>
            <p:nvPr/>
          </p:nvSpPr>
          <p:spPr>
            <a:xfrm>
              <a:off x="6262688" y="5921216"/>
              <a:ext cx="584367"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AUM下降​​</a:t>
              </a:r>
            </a:p>
          </p:txBody>
        </p:sp>
        <p:sp>
          <p:nvSpPr>
            <p:cNvPr id="333" name="TextBox 333"/>
            <p:cNvSpPr txBox="1"/>
            <p:nvPr/>
          </p:nvSpPr>
          <p:spPr>
            <a:xfrm>
              <a:off x="7364774" y="5921216"/>
              <a:ext cx="415202" cy="161925"/>
            </a:xfrm>
            <a:prstGeom prst="rect">
              <a:avLst/>
            </a:prstGeom>
            <a:noFill/>
            <a:ln>
              <a:noFill/>
            </a:ln>
          </p:spPr>
          <p:txBody>
            <a:bodyPr wrap="none" lIns="0" tIns="0" rIns="0" bIns="0" anchor="t" anchorCtr="0">
              <a:spAutoFit/>
            </a:bodyPr>
            <a:lstStyle/>
            <a:p>
              <a:pPr algn="ctr"/>
              <a:r>
                <a:rPr lang="zh-CN" sz="820" b="1" dirty="0">
                  <a:solidFill>
                    <a:srgbClr val="D65A45"/>
                  </a:solidFill>
                  <a:latin typeface="+mn-lt"/>
                  <a:ea typeface="+mn-ea"/>
                  <a:cs typeface="+mn-cs"/>
                </a:rPr>
                <a:t>≥15%​​</a:t>
              </a:r>
            </a:p>
          </p:txBody>
        </p:sp>
        <p:sp>
          <p:nvSpPr>
            <p:cNvPr id="334" name="TextBox 334"/>
            <p:cNvSpPr txBox="1"/>
            <p:nvPr/>
          </p:nvSpPr>
          <p:spPr>
            <a:xfrm>
              <a:off x="8337184" y="5921216"/>
              <a:ext cx="565883" cy="161925"/>
            </a:xfrm>
            <a:prstGeom prst="rect">
              <a:avLst/>
            </a:prstGeom>
            <a:noFill/>
            <a:ln>
              <a:noFill/>
            </a:ln>
          </p:spPr>
          <p:txBody>
            <a:bodyPr wrap="none" lIns="0" tIns="0" rIns="0" bIns="0" anchor="t" anchorCtr="0">
              <a:spAutoFit/>
            </a:bodyPr>
            <a:lstStyle/>
            <a:p>
              <a:pPr algn="ctr"/>
              <a:r>
                <a:rPr lang="zh-CN" sz="820" b="1" dirty="0">
                  <a:solidFill>
                    <a:srgbClr val="D9371B"/>
                  </a:solidFill>
                  <a:latin typeface="+mn-lt"/>
                  <a:ea typeface="+mn-ea"/>
                  <a:cs typeface="+mn-cs"/>
                </a:rPr>
                <a:t>5%-15%​​</a:t>
              </a:r>
            </a:p>
          </p:txBody>
        </p:sp>
        <p:sp>
          <p:nvSpPr>
            <p:cNvPr id="335" name="TextBox 335"/>
            <p:cNvSpPr txBox="1"/>
            <p:nvPr/>
          </p:nvSpPr>
          <p:spPr>
            <a:xfrm>
              <a:off x="9492148" y="5921216"/>
              <a:ext cx="351453" cy="161925"/>
            </a:xfrm>
            <a:prstGeom prst="rect">
              <a:avLst/>
            </a:prstGeom>
            <a:noFill/>
            <a:ln>
              <a:noFill/>
            </a:ln>
          </p:spPr>
          <p:txBody>
            <a:bodyPr wrap="none" lIns="0" tIns="0" rIns="0" bIns="0" anchor="t" anchorCtr="0">
              <a:spAutoFit/>
            </a:bodyPr>
            <a:lstStyle/>
            <a:p>
              <a:pPr algn="ctr"/>
              <a:r>
                <a:rPr lang="zh-CN" sz="820" b="1" dirty="0">
                  <a:solidFill>
                    <a:srgbClr val="A54C3B"/>
                  </a:solidFill>
                  <a:latin typeface="+mn-lt"/>
                  <a:ea typeface="+mn-ea"/>
                  <a:cs typeface="+mn-cs"/>
                </a:rPr>
                <a:t>&lt;5%​​</a:t>
              </a:r>
            </a:p>
          </p:txBody>
        </p:sp>
        <p:sp>
          <p:nvSpPr>
            <p:cNvPr id="336" name="Rectangle 336"/>
            <p:cNvSpPr/>
            <p:nvPr/>
          </p:nvSpPr>
          <p:spPr>
            <a:xfrm>
              <a:off x="10677525" y="5857875"/>
              <a:ext cx="571500" cy="209550"/>
            </a:xfrm>
            <a:prstGeom prst="roundRect">
              <a:avLst>
                <a:gd name="adj" fmla="val 18182"/>
              </a:avLst>
            </a:prstGeom>
            <a:solidFill>
              <a:srgbClr val="A54C3B"/>
            </a:solidFill>
            <a:ln>
              <a:noFill/>
            </a:ln>
          </p:spPr>
        </p:sp>
        <p:sp>
          <p:nvSpPr>
            <p:cNvPr id="337" name="TextBox 337"/>
            <p:cNvSpPr txBox="1"/>
            <p:nvPr/>
          </p:nvSpPr>
          <p:spPr>
            <a:xfrm>
              <a:off x="10852163" y="59157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绿灯</a:t>
              </a:r>
            </a:p>
          </p:txBody>
        </p:sp>
        <p:sp>
          <p:nvSpPr>
            <p:cNvPr id="338" name="Rectangle 338"/>
            <p:cNvSpPr/>
            <p:nvPr/>
          </p:nvSpPr>
          <p:spPr>
            <a:xfrm>
              <a:off x="5905500" y="6172200"/>
              <a:ext cx="5829300" cy="419100"/>
            </a:xfrm>
            <a:prstGeom prst="rect">
              <a:avLst/>
            </a:prstGeom>
            <a:solidFill>
              <a:srgbClr val="F7FAFE"/>
            </a:solidFill>
            <a:ln w="9525">
              <a:solidFill>
                <a:srgbClr val="E2EAF6"/>
              </a:solidFill>
            </a:ln>
          </p:spPr>
        </p:sp>
        <p:grpSp>
          <p:nvGrpSpPr>
            <p:cNvPr id="342" name="Group 342"/>
            <p:cNvGrpSpPr/>
            <p:nvPr/>
          </p:nvGrpSpPr>
          <p:grpSpPr>
            <a:xfrm>
              <a:off x="6033479" y="6315083"/>
              <a:ext cx="144086" cy="123788"/>
              <a:chOff x="6033479" y="6315083"/>
              <a:chExt cx="144086" cy="123788"/>
            </a:xfrm>
          </p:grpSpPr>
          <p:sp>
            <p:nvSpPr>
              <p:cNvPr id="339" name="Freeform 339"/>
              <p:cNvSpPr/>
              <p:nvPr/>
            </p:nvSpPr>
            <p:spPr>
              <a:xfrm>
                <a:off x="6105525" y="6360319"/>
                <a:ext cx="9525" cy="28575"/>
              </a:xfrm>
              <a:custGeom>
                <a:avLst/>
                <a:gdLst/>
                <a:ahLst/>
                <a:cxnLst/>
                <a:rect l="l" t="t" r="r" b="b"/>
                <a:pathLst>
                  <a:path w="9525" h="28575">
                    <a:moveTo>
                      <a:pt x="0" y="0"/>
                    </a:moveTo>
                    <a:lnTo>
                      <a:pt x="0" y="28575"/>
                    </a:lnTo>
                  </a:path>
                </a:pathLst>
              </a:custGeom>
              <a:noFill/>
              <a:ln w="14288">
                <a:solidFill>
                  <a:srgbClr val="D65A45"/>
                </a:solidFill>
              </a:ln>
            </p:spPr>
          </p:sp>
          <p:sp>
            <p:nvSpPr>
              <p:cNvPr id="340" name="Freeform 340"/>
              <p:cNvSpPr/>
              <p:nvPr/>
            </p:nvSpPr>
            <p:spPr>
              <a:xfrm>
                <a:off x="6033479" y="6315083"/>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D65A45"/>
                </a:solidFill>
              </a:ln>
            </p:spPr>
          </p:sp>
          <p:sp>
            <p:nvSpPr>
              <p:cNvPr id="341" name="Freeform 341"/>
              <p:cNvSpPr/>
              <p:nvPr/>
            </p:nvSpPr>
            <p:spPr>
              <a:xfrm>
                <a:off x="6105525" y="6410325"/>
                <a:ext cx="9525" cy="9525"/>
              </a:xfrm>
              <a:custGeom>
                <a:avLst/>
                <a:gdLst/>
                <a:ahLst/>
                <a:cxnLst/>
                <a:rect l="l" t="t" r="r" b="b"/>
                <a:pathLst>
                  <a:path w="9525" h="9525">
                    <a:moveTo>
                      <a:pt x="0" y="0"/>
                    </a:moveTo>
                    <a:lnTo>
                      <a:pt x="71" y="0"/>
                    </a:lnTo>
                  </a:path>
                </a:pathLst>
              </a:custGeom>
              <a:noFill/>
              <a:ln w="14288">
                <a:solidFill>
                  <a:srgbClr val="D65A45"/>
                </a:solidFill>
              </a:ln>
            </p:spPr>
          </p:sp>
        </p:grpSp>
        <p:sp>
          <p:nvSpPr>
            <p:cNvPr id="343" name="TextBox 343"/>
            <p:cNvSpPr txBox="1"/>
            <p:nvPr/>
          </p:nvSpPr>
          <p:spPr>
            <a:xfrm>
              <a:off x="6262688" y="6340316"/>
              <a:ext cx="451079" cy="161925"/>
            </a:xfrm>
            <a:prstGeom prst="rect">
              <a:avLst/>
            </a:prstGeom>
            <a:noFill/>
            <a:ln>
              <a:noFill/>
            </a:ln>
          </p:spPr>
          <p:txBody>
            <a:bodyPr wrap="none" lIns="0" tIns="0" rIns="0" bIns="0" anchor="t" anchorCtr="0">
              <a:spAutoFit/>
            </a:bodyPr>
            <a:lstStyle/>
            <a:p>
              <a:pPr algn="l"/>
              <a:r>
                <a:rPr lang="zh-CN" sz="820" b="1" dirty="0">
                  <a:solidFill>
                    <a:srgbClr val="67281B"/>
                  </a:solidFill>
                  <a:latin typeface="+mn-lt"/>
                  <a:ea typeface="+mn-ea"/>
                  <a:cs typeface="+mn-cs"/>
                </a:rPr>
                <a:t>投诉异常</a:t>
              </a:r>
            </a:p>
          </p:txBody>
        </p:sp>
        <p:sp>
          <p:nvSpPr>
            <p:cNvPr id="344" name="TextBox 344"/>
            <p:cNvSpPr txBox="1"/>
            <p:nvPr/>
          </p:nvSpPr>
          <p:spPr>
            <a:xfrm>
              <a:off x="7353045" y="6340316"/>
              <a:ext cx="438660" cy="161925"/>
            </a:xfrm>
            <a:prstGeom prst="rect">
              <a:avLst/>
            </a:prstGeom>
            <a:noFill/>
            <a:ln>
              <a:noFill/>
            </a:ln>
          </p:spPr>
          <p:txBody>
            <a:bodyPr wrap="none" lIns="0" tIns="0" rIns="0" bIns="0" anchor="t" anchorCtr="0">
              <a:spAutoFit/>
            </a:bodyPr>
            <a:lstStyle/>
            <a:p>
              <a:pPr algn="ctr"/>
              <a:r>
                <a:rPr lang="zh-CN" sz="820" b="1" dirty="0">
                  <a:solidFill>
                    <a:srgbClr val="D65A45"/>
                  </a:solidFill>
                  <a:latin typeface="+mn-lt"/>
                  <a:ea typeface="+mn-ea"/>
                  <a:cs typeface="+mn-cs"/>
                </a:rPr>
                <a:t>≥10件​​</a:t>
              </a:r>
            </a:p>
          </p:txBody>
        </p:sp>
        <p:sp>
          <p:nvSpPr>
            <p:cNvPr id="345" name="TextBox 345"/>
            <p:cNvSpPr txBox="1"/>
            <p:nvPr/>
          </p:nvSpPr>
          <p:spPr>
            <a:xfrm>
              <a:off x="8368920" y="6340316"/>
              <a:ext cx="502409" cy="161925"/>
            </a:xfrm>
            <a:prstGeom prst="rect">
              <a:avLst/>
            </a:prstGeom>
            <a:noFill/>
            <a:ln>
              <a:noFill/>
            </a:ln>
          </p:spPr>
          <p:txBody>
            <a:bodyPr wrap="none" lIns="0" tIns="0" rIns="0" bIns="0" anchor="t" anchorCtr="0">
              <a:spAutoFit/>
            </a:bodyPr>
            <a:lstStyle/>
            <a:p>
              <a:pPr algn="ctr"/>
              <a:r>
                <a:rPr lang="zh-CN" sz="820" b="1" dirty="0">
                  <a:solidFill>
                    <a:srgbClr val="D9371B"/>
                  </a:solidFill>
                  <a:latin typeface="+mn-lt"/>
                  <a:ea typeface="+mn-ea"/>
                  <a:cs typeface="+mn-cs"/>
                </a:rPr>
                <a:t>5-10件​​</a:t>
              </a:r>
            </a:p>
          </p:txBody>
        </p:sp>
        <p:sp>
          <p:nvSpPr>
            <p:cNvPr id="346" name="TextBox 346"/>
            <p:cNvSpPr txBox="1"/>
            <p:nvPr/>
          </p:nvSpPr>
          <p:spPr>
            <a:xfrm>
              <a:off x="9480420" y="6340316"/>
              <a:ext cx="374911" cy="161925"/>
            </a:xfrm>
            <a:prstGeom prst="rect">
              <a:avLst/>
            </a:prstGeom>
            <a:noFill/>
            <a:ln>
              <a:noFill/>
            </a:ln>
          </p:spPr>
          <p:txBody>
            <a:bodyPr wrap="none" lIns="0" tIns="0" rIns="0" bIns="0" anchor="t" anchorCtr="0">
              <a:spAutoFit/>
            </a:bodyPr>
            <a:lstStyle/>
            <a:p>
              <a:pPr algn="ctr"/>
              <a:r>
                <a:rPr lang="zh-CN" sz="820" b="1" dirty="0">
                  <a:solidFill>
                    <a:srgbClr val="A54C3B"/>
                  </a:solidFill>
                  <a:latin typeface="+mn-lt"/>
                  <a:ea typeface="+mn-ea"/>
                  <a:cs typeface="+mn-cs"/>
                </a:rPr>
                <a:t>&lt;5件​​</a:t>
              </a:r>
            </a:p>
          </p:txBody>
        </p:sp>
        <p:sp>
          <p:nvSpPr>
            <p:cNvPr id="347" name="Rectangle 347"/>
            <p:cNvSpPr/>
            <p:nvPr/>
          </p:nvSpPr>
          <p:spPr>
            <a:xfrm>
              <a:off x="10677525" y="6276975"/>
              <a:ext cx="571500" cy="209550"/>
            </a:xfrm>
            <a:prstGeom prst="roundRect">
              <a:avLst>
                <a:gd name="adj" fmla="val 18182"/>
              </a:avLst>
            </a:prstGeom>
            <a:solidFill>
              <a:srgbClr val="D65A45"/>
            </a:solidFill>
            <a:ln>
              <a:noFill/>
            </a:ln>
          </p:spPr>
        </p:sp>
        <p:sp>
          <p:nvSpPr>
            <p:cNvPr id="348" name="TextBox 348"/>
            <p:cNvSpPr txBox="1"/>
            <p:nvPr/>
          </p:nvSpPr>
          <p:spPr>
            <a:xfrm>
              <a:off x="10852163" y="63348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红灯</a:t>
              </a:r>
            </a:p>
          </p:txBody>
        </p:sp>
      </p:gr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8351D"/>
            </a:solidFill>
            <a:ln>
              <a:noFill/>
            </a:ln>
          </p:spPr>
        </p:sp>
        <p:sp>
          <p:nvSpPr>
            <p:cNvPr id="3" name="TextBox 3"/>
            <p:cNvSpPr txBox="1"/>
            <p:nvPr/>
          </p:nvSpPr>
          <p:spPr>
            <a:xfrm>
              <a:off x="109533" y="143351"/>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17</a:t>
              </a:r>
            </a:p>
          </p:txBody>
        </p:sp>
        <p:sp>
          <p:nvSpPr>
            <p:cNvPr id="4" name="TextBox 4"/>
            <p:cNvSpPr txBox="1"/>
            <p:nvPr/>
          </p:nvSpPr>
          <p:spPr>
            <a:xfrm>
              <a:off x="904494" y="170498"/>
              <a:ext cx="6399276" cy="381381"/>
            </a:xfrm>
            <a:prstGeom prst="rect">
              <a:avLst/>
            </a:prstGeom>
            <a:noFill/>
            <a:ln>
              <a:noFill/>
            </a:ln>
          </p:spPr>
          <p:txBody>
            <a:bodyPr wrap="none" lIns="0" tIns="0" rIns="0" bIns="0" anchor="t" anchorCtr="0">
              <a:spAutoFit/>
            </a:bodyPr>
            <a:lstStyle/>
            <a:p>
              <a:pPr algn="l"/>
              <a:r>
                <a:rPr lang="zh-CN" sz="1950" b="1" dirty="0">
                  <a:solidFill>
                    <a:srgbClr val="5E2114"/>
                  </a:solidFill>
                  <a:latin typeface="SimSun"/>
                  <a:ea typeface="SimSun"/>
                  <a:cs typeface="SimSun"/>
                </a:rPr>
                <a:t>落地保障｜以百日攻坚和年度闭环推动模式全国复制</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19050">
              <a:solidFill>
                <a:srgbClr val="A8351D"/>
              </a:solidFill>
            </a:ln>
          </p:spPr>
        </p:sp>
      </p:grpSp>
      <p:grpSp>
        <p:nvGrpSpPr>
          <p:cNvPr id="76" name="roadmap"/>
          <p:cNvGrpSpPr/>
          <p:nvPr/>
        </p:nvGrpSpPr>
        <p:grpSpPr>
          <a:xfrm>
            <a:off x="381000" y="704850"/>
            <a:ext cx="8191500" cy="2076450"/>
            <a:chOff x="381000" y="704850"/>
            <a:chExt cx="8191500" cy="2076450"/>
          </a:xfrm>
        </p:grpSpPr>
        <p:sp>
          <p:nvSpPr>
            <p:cNvPr id="7" name="Rectangle 7"/>
            <p:cNvSpPr/>
            <p:nvPr/>
          </p:nvSpPr>
          <p:spPr>
            <a:xfrm>
              <a:off x="381000" y="704850"/>
              <a:ext cx="8191500" cy="2076450"/>
            </a:xfrm>
            <a:prstGeom prst="roundRect">
              <a:avLst>
                <a:gd name="adj" fmla="val 4587"/>
              </a:avLst>
            </a:prstGeom>
            <a:solidFill>
              <a:srgbClr val="F9FBFE"/>
            </a:solidFill>
            <a:ln w="9525">
              <a:solidFill>
                <a:srgbClr val="C9D8EF"/>
              </a:solidFill>
            </a:ln>
          </p:spPr>
        </p:sp>
        <p:sp>
          <p:nvSpPr>
            <p:cNvPr id="8" name="Rectangle 8"/>
            <p:cNvSpPr/>
            <p:nvPr/>
          </p:nvSpPr>
          <p:spPr>
            <a:xfrm>
              <a:off x="3333750" y="704850"/>
              <a:ext cx="2286000" cy="266700"/>
            </a:xfrm>
            <a:prstGeom prst="roundRect">
              <a:avLst>
                <a:gd name="adj" fmla="val 14286"/>
              </a:avLst>
            </a:prstGeom>
            <a:gradFill>
              <a:gsLst>
                <a:gs pos="0">
                  <a:srgbClr val="AD3921"/>
                </a:gs>
                <a:gs pos="100000">
                  <a:srgbClr val="962C16"/>
                </a:gs>
              </a:gsLst>
              <a:lin ang="5400000" scaled="1"/>
            </a:gradFill>
            <a:ln>
              <a:noFill/>
            </a:ln>
          </p:spPr>
        </p:sp>
        <p:sp>
          <p:nvSpPr>
            <p:cNvPr id="9" name="TextBox 9"/>
            <p:cNvSpPr txBox="1"/>
            <p:nvPr/>
          </p:nvSpPr>
          <p:spPr>
            <a:xfrm>
              <a:off x="3995725" y="776526"/>
              <a:ext cx="962050"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百日攻坚路线图</a:t>
              </a:r>
            </a:p>
          </p:txBody>
        </p:sp>
        <p:sp>
          <p:nvSpPr>
            <p:cNvPr id="10" name="Freeform 10"/>
            <p:cNvSpPr/>
            <p:nvPr/>
          </p:nvSpPr>
          <p:spPr>
            <a:xfrm>
              <a:off x="476250" y="1066800"/>
              <a:ext cx="2571750" cy="323850"/>
            </a:xfrm>
            <a:prstGeom prst="homePlate">
              <a:avLst>
                <a:gd name="adj" fmla="val 40000"/>
              </a:avLst>
            </a:prstGeom>
            <a:solidFill>
              <a:srgbClr val="67281B"/>
            </a:solidFill>
            <a:ln>
              <a:noFill/>
            </a:ln>
          </p:spPr>
        </p:sp>
        <p:sp>
          <p:nvSpPr>
            <p:cNvPr id="11" name="TextBox 11"/>
            <p:cNvSpPr txBox="1"/>
            <p:nvPr/>
          </p:nvSpPr>
          <p:spPr>
            <a:xfrm>
              <a:off x="1015624" y="1175147"/>
              <a:ext cx="120725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0—30天｜夯实基础​​</a:t>
              </a:r>
            </a:p>
          </p:txBody>
        </p:sp>
        <p:sp>
          <p:nvSpPr>
            <p:cNvPr id="12" name="Freeform 12"/>
            <p:cNvSpPr/>
            <p:nvPr/>
          </p:nvSpPr>
          <p:spPr>
            <a:xfrm>
              <a:off x="3190875" y="1066800"/>
              <a:ext cx="2571750" cy="323850"/>
            </a:xfrm>
            <a:prstGeom prst="homePlate">
              <a:avLst>
                <a:gd name="adj" fmla="val 40000"/>
              </a:avLst>
            </a:prstGeom>
            <a:solidFill>
              <a:srgbClr val="A8351D"/>
            </a:solidFill>
            <a:ln>
              <a:noFill/>
            </a:ln>
          </p:spPr>
        </p:sp>
        <p:sp>
          <p:nvSpPr>
            <p:cNvPr id="13" name="TextBox 13"/>
            <p:cNvSpPr txBox="1"/>
            <p:nvPr/>
          </p:nvSpPr>
          <p:spPr>
            <a:xfrm>
              <a:off x="3693709" y="1175147"/>
              <a:ext cx="128033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31—60天｜试点验证​​</a:t>
              </a:r>
            </a:p>
          </p:txBody>
        </p:sp>
        <p:sp>
          <p:nvSpPr>
            <p:cNvPr id="14" name="Freeform 14"/>
            <p:cNvSpPr/>
            <p:nvPr/>
          </p:nvSpPr>
          <p:spPr>
            <a:xfrm>
              <a:off x="5905500" y="1066800"/>
              <a:ext cx="2571750" cy="323850"/>
            </a:xfrm>
            <a:prstGeom prst="homePlate">
              <a:avLst>
                <a:gd name="adj" fmla="val 40000"/>
              </a:avLst>
            </a:prstGeom>
            <a:solidFill>
              <a:srgbClr val="D64A2E"/>
            </a:solidFill>
            <a:ln>
              <a:noFill/>
            </a:ln>
          </p:spPr>
        </p:sp>
        <p:sp>
          <p:nvSpPr>
            <p:cNvPr id="15" name="TextBox 15"/>
            <p:cNvSpPr txBox="1"/>
            <p:nvPr/>
          </p:nvSpPr>
          <p:spPr>
            <a:xfrm>
              <a:off x="6371795" y="1175147"/>
              <a:ext cx="135341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61—100天｜战役攻坚​​</a:t>
              </a:r>
            </a:p>
          </p:txBody>
        </p:sp>
        <p:sp>
          <p:nvSpPr>
            <p:cNvPr id="16" name="Rectangle 16"/>
            <p:cNvSpPr/>
            <p:nvPr/>
          </p:nvSpPr>
          <p:spPr>
            <a:xfrm>
              <a:off x="476250" y="1447800"/>
              <a:ext cx="2571750" cy="1257300"/>
            </a:xfrm>
            <a:prstGeom prst="roundRect">
              <a:avLst>
                <a:gd name="adj" fmla="val 4545"/>
              </a:avLst>
            </a:prstGeom>
            <a:solidFill>
              <a:srgbClr val="FFFFFF"/>
            </a:solidFill>
            <a:ln w="9525">
              <a:solidFill>
                <a:srgbClr val="C9D8EF"/>
              </a:solidFill>
            </a:ln>
          </p:spPr>
        </p:sp>
        <p:grpSp>
          <p:nvGrpSpPr>
            <p:cNvPr id="22" name="Group 22"/>
            <p:cNvGrpSpPr/>
            <p:nvPr/>
          </p:nvGrpSpPr>
          <p:grpSpPr>
            <a:xfrm>
              <a:off x="603250" y="1600200"/>
              <a:ext cx="88900" cy="114300"/>
              <a:chOff x="603250" y="1600200"/>
              <a:chExt cx="88900" cy="114300"/>
            </a:xfrm>
          </p:grpSpPr>
          <p:sp>
            <p:nvSpPr>
              <p:cNvPr id="17" name="Freeform 17"/>
              <p:cNvSpPr/>
              <p:nvPr/>
            </p:nvSpPr>
            <p:spPr>
              <a:xfrm>
                <a:off x="660400" y="16002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A8351D"/>
                </a:solidFill>
              </a:ln>
            </p:spPr>
          </p:sp>
          <p:sp>
            <p:nvSpPr>
              <p:cNvPr id="18" name="Freeform 18"/>
              <p:cNvSpPr/>
              <p:nvPr/>
            </p:nvSpPr>
            <p:spPr>
              <a:xfrm>
                <a:off x="603250" y="16002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A8351D"/>
                </a:solidFill>
              </a:ln>
            </p:spPr>
          </p:sp>
          <p:sp>
            <p:nvSpPr>
              <p:cNvPr id="19" name="Freeform 19"/>
              <p:cNvSpPr/>
              <p:nvPr/>
            </p:nvSpPr>
            <p:spPr>
              <a:xfrm>
                <a:off x="628650" y="1638300"/>
                <a:ext cx="9525" cy="9525"/>
              </a:xfrm>
              <a:custGeom>
                <a:avLst/>
                <a:gdLst/>
                <a:ahLst/>
                <a:cxnLst/>
                <a:rect l="l" t="t" r="r" b="b"/>
                <a:pathLst>
                  <a:path w="9525" h="9525">
                    <a:moveTo>
                      <a:pt x="0" y="0"/>
                    </a:moveTo>
                    <a:lnTo>
                      <a:pt x="6350" y="0"/>
                    </a:lnTo>
                  </a:path>
                </a:pathLst>
              </a:custGeom>
              <a:noFill/>
              <a:ln w="12700">
                <a:solidFill>
                  <a:srgbClr val="A8351D"/>
                </a:solidFill>
              </a:ln>
            </p:spPr>
          </p:sp>
          <p:sp>
            <p:nvSpPr>
              <p:cNvPr id="20" name="Freeform 20"/>
              <p:cNvSpPr/>
              <p:nvPr/>
            </p:nvSpPr>
            <p:spPr>
              <a:xfrm>
                <a:off x="628650" y="1663700"/>
                <a:ext cx="38100" cy="9525"/>
              </a:xfrm>
              <a:custGeom>
                <a:avLst/>
                <a:gdLst/>
                <a:ahLst/>
                <a:cxnLst/>
                <a:rect l="l" t="t" r="r" b="b"/>
                <a:pathLst>
                  <a:path w="38100" h="9525">
                    <a:moveTo>
                      <a:pt x="0" y="0"/>
                    </a:moveTo>
                    <a:lnTo>
                      <a:pt x="38100" y="0"/>
                    </a:lnTo>
                  </a:path>
                </a:pathLst>
              </a:custGeom>
              <a:noFill/>
              <a:ln w="12700">
                <a:solidFill>
                  <a:srgbClr val="A8351D"/>
                </a:solidFill>
              </a:ln>
            </p:spPr>
          </p:sp>
          <p:sp>
            <p:nvSpPr>
              <p:cNvPr id="21" name="Freeform 21"/>
              <p:cNvSpPr/>
              <p:nvPr/>
            </p:nvSpPr>
            <p:spPr>
              <a:xfrm>
                <a:off x="628650" y="1689100"/>
                <a:ext cx="38100" cy="9525"/>
              </a:xfrm>
              <a:custGeom>
                <a:avLst/>
                <a:gdLst/>
                <a:ahLst/>
                <a:cxnLst/>
                <a:rect l="l" t="t" r="r" b="b"/>
                <a:pathLst>
                  <a:path w="38100" h="9525">
                    <a:moveTo>
                      <a:pt x="0" y="0"/>
                    </a:moveTo>
                    <a:lnTo>
                      <a:pt x="38100" y="0"/>
                    </a:lnTo>
                  </a:path>
                </a:pathLst>
              </a:custGeom>
              <a:noFill/>
              <a:ln w="12700">
                <a:solidFill>
                  <a:srgbClr val="A8351D"/>
                </a:solidFill>
              </a:ln>
            </p:spPr>
          </p:sp>
        </p:grpSp>
        <p:sp>
          <p:nvSpPr>
            <p:cNvPr id="23" name="TextBox 23"/>
            <p:cNvSpPr txBox="1"/>
            <p:nvPr/>
          </p:nvSpPr>
          <p:spPr>
            <a:xfrm>
              <a:off x="776288" y="1619964"/>
              <a:ext cx="43492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输出成果</a:t>
              </a:r>
            </a:p>
          </p:txBody>
        </p:sp>
        <p:sp>
          <p:nvSpPr>
            <p:cNvPr id="24" name="TextBox 24"/>
            <p:cNvSpPr txBox="1"/>
            <p:nvPr/>
          </p:nvSpPr>
          <p:spPr>
            <a:xfrm>
              <a:off x="1385888" y="1624012"/>
              <a:ext cx="1322070" cy="147638"/>
            </a:xfrm>
            <a:prstGeom prst="rect">
              <a:avLst/>
            </a:prstGeom>
            <a:noFill/>
            <a:ln>
              <a:noFill/>
            </a:ln>
          </p:spPr>
          <p:txBody>
            <a:bodyPr wrap="none" lIns="0" tIns="0" rIns="0" bIns="0" anchor="t" anchorCtr="0">
              <a:spAutoFit/>
            </a:bodyPr>
            <a:lstStyle/>
            <a:p>
              <a:pPr algn="l"/>
              <a:r>
                <a:rPr lang="zh-CN" sz="750" dirty="0">
                  <a:solidFill>
                    <a:srgbClr val="5A443F"/>
                  </a:solidFill>
                  <a:latin typeface="+mn-lt"/>
                  <a:ea typeface="+mn-ea"/>
                  <a:cs typeface="+mn-cs"/>
                </a:rPr>
                <a:t>制度规则、客户池、数据口径</a:t>
              </a:r>
            </a:p>
          </p:txBody>
        </p:sp>
        <p:grpSp>
          <p:nvGrpSpPr>
            <p:cNvPr id="28" name="Group 28"/>
            <p:cNvGrpSpPr/>
            <p:nvPr/>
          </p:nvGrpSpPr>
          <p:grpSpPr>
            <a:xfrm>
              <a:off x="609600" y="1981200"/>
              <a:ext cx="95250" cy="114300"/>
              <a:chOff x="609600" y="1981200"/>
              <a:chExt cx="95250" cy="114300"/>
            </a:xfrm>
          </p:grpSpPr>
          <p:sp>
            <p:nvSpPr>
              <p:cNvPr id="25" name="Freeform 25"/>
              <p:cNvSpPr/>
              <p:nvPr/>
            </p:nvSpPr>
            <p:spPr>
              <a:xfrm>
                <a:off x="622300" y="19812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8351D"/>
                </a:solidFill>
              </a:ln>
            </p:spPr>
          </p:sp>
          <p:sp>
            <p:nvSpPr>
              <p:cNvPr id="26" name="Freeform 26"/>
              <p:cNvSpPr/>
              <p:nvPr/>
            </p:nvSpPr>
            <p:spPr>
              <a:xfrm>
                <a:off x="609600" y="20574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A8351D"/>
                </a:solidFill>
              </a:ln>
            </p:spPr>
          </p:sp>
          <p:sp>
            <p:nvSpPr>
              <p:cNvPr id="27" name="Freeform 27"/>
              <p:cNvSpPr/>
              <p:nvPr/>
            </p:nvSpPr>
            <p:spPr>
              <a:xfrm>
                <a:off x="666750" y="2070100"/>
                <a:ext cx="38100" cy="25400"/>
              </a:xfrm>
              <a:custGeom>
                <a:avLst/>
                <a:gdLst/>
                <a:ahLst/>
                <a:cxnLst/>
                <a:rect l="l" t="t" r="r" b="b"/>
                <a:pathLst>
                  <a:path w="38100" h="25400">
                    <a:moveTo>
                      <a:pt x="0" y="12700"/>
                    </a:moveTo>
                    <a:lnTo>
                      <a:pt x="12700" y="25400"/>
                    </a:lnTo>
                    <a:lnTo>
                      <a:pt x="38100" y="0"/>
                    </a:lnTo>
                  </a:path>
                </a:pathLst>
              </a:custGeom>
              <a:noFill/>
              <a:ln w="12700">
                <a:solidFill>
                  <a:srgbClr val="A8351D"/>
                </a:solidFill>
              </a:ln>
            </p:spPr>
          </p:sp>
        </p:grpSp>
        <p:sp>
          <p:nvSpPr>
            <p:cNvPr id="29" name="TextBox 29"/>
            <p:cNvSpPr txBox="1"/>
            <p:nvPr/>
          </p:nvSpPr>
          <p:spPr>
            <a:xfrm>
              <a:off x="776288" y="2000964"/>
              <a:ext cx="43492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责任主体</a:t>
              </a:r>
            </a:p>
          </p:txBody>
        </p:sp>
        <p:sp>
          <p:nvSpPr>
            <p:cNvPr id="30" name="TextBox 30"/>
            <p:cNvSpPr txBox="1"/>
            <p:nvPr/>
          </p:nvSpPr>
          <p:spPr>
            <a:xfrm>
              <a:off x="1385888" y="2005012"/>
              <a:ext cx="514350" cy="147638"/>
            </a:xfrm>
            <a:prstGeom prst="rect">
              <a:avLst/>
            </a:prstGeom>
            <a:noFill/>
            <a:ln>
              <a:noFill/>
            </a:ln>
          </p:spPr>
          <p:txBody>
            <a:bodyPr wrap="none" lIns="0" tIns="0" rIns="0" bIns="0" anchor="t" anchorCtr="0">
              <a:spAutoFit/>
            </a:bodyPr>
            <a:lstStyle/>
            <a:p>
              <a:pPr algn="l"/>
              <a:r>
                <a:rPr lang="zh-CN" sz="750" dirty="0">
                  <a:solidFill>
                    <a:srgbClr val="5A443F"/>
                  </a:solidFill>
                  <a:latin typeface="+mn-lt"/>
                  <a:ea typeface="+mn-ea"/>
                  <a:cs typeface="+mn-cs"/>
                </a:rPr>
                <a:t>总行项目组</a:t>
              </a:r>
            </a:p>
          </p:txBody>
        </p:sp>
        <p:grpSp>
          <p:nvGrpSpPr>
            <p:cNvPr id="33" name="Group 33"/>
            <p:cNvGrpSpPr/>
            <p:nvPr/>
          </p:nvGrpSpPr>
          <p:grpSpPr>
            <a:xfrm>
              <a:off x="603250" y="2362799"/>
              <a:ext cx="88900" cy="113701"/>
              <a:chOff x="603250" y="2362799"/>
              <a:chExt cx="88900" cy="113701"/>
            </a:xfrm>
          </p:grpSpPr>
          <p:sp>
            <p:nvSpPr>
              <p:cNvPr id="31" name="Freeform 31"/>
              <p:cNvSpPr/>
              <p:nvPr/>
            </p:nvSpPr>
            <p:spPr>
              <a:xfrm>
                <a:off x="603250" y="2362799"/>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C9462F"/>
                </a:solidFill>
              </a:ln>
            </p:spPr>
          </p:sp>
          <p:sp>
            <p:nvSpPr>
              <p:cNvPr id="32" name="Freeform 32"/>
              <p:cNvSpPr/>
              <p:nvPr/>
            </p:nvSpPr>
            <p:spPr>
              <a:xfrm>
                <a:off x="603250" y="2432050"/>
                <a:ext cx="9525" cy="44450"/>
              </a:xfrm>
              <a:custGeom>
                <a:avLst/>
                <a:gdLst/>
                <a:ahLst/>
                <a:cxnLst/>
                <a:rect l="l" t="t" r="r" b="b"/>
                <a:pathLst>
                  <a:path w="9525" h="44450">
                    <a:moveTo>
                      <a:pt x="0" y="44450"/>
                    </a:moveTo>
                    <a:lnTo>
                      <a:pt x="0" y="0"/>
                    </a:lnTo>
                  </a:path>
                </a:pathLst>
              </a:custGeom>
              <a:noFill/>
              <a:ln w="12700">
                <a:solidFill>
                  <a:srgbClr val="C9462F"/>
                </a:solidFill>
              </a:ln>
            </p:spPr>
          </p:sp>
        </p:grpSp>
        <p:sp>
          <p:nvSpPr>
            <p:cNvPr id="34" name="TextBox 34"/>
            <p:cNvSpPr txBox="1"/>
            <p:nvPr/>
          </p:nvSpPr>
          <p:spPr>
            <a:xfrm>
              <a:off x="776288" y="2381964"/>
              <a:ext cx="54127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关键里程碑</a:t>
              </a:r>
            </a:p>
          </p:txBody>
        </p:sp>
        <p:sp>
          <p:nvSpPr>
            <p:cNvPr id="35" name="TextBox 35"/>
            <p:cNvSpPr txBox="1"/>
            <p:nvPr/>
          </p:nvSpPr>
          <p:spPr>
            <a:xfrm>
              <a:off x="1385888" y="2386012"/>
              <a:ext cx="1120140" cy="147638"/>
            </a:xfrm>
            <a:prstGeom prst="rect">
              <a:avLst/>
            </a:prstGeom>
            <a:noFill/>
            <a:ln>
              <a:noFill/>
            </a:ln>
          </p:spPr>
          <p:txBody>
            <a:bodyPr wrap="none" lIns="0" tIns="0" rIns="0" bIns="0" anchor="t" anchorCtr="0">
              <a:spAutoFit/>
            </a:bodyPr>
            <a:lstStyle/>
            <a:p>
              <a:pPr algn="l"/>
              <a:r>
                <a:rPr lang="zh-CN" sz="750" b="1" dirty="0">
                  <a:solidFill>
                    <a:srgbClr val="B0351F"/>
                  </a:solidFill>
                  <a:latin typeface="+mn-lt"/>
                  <a:ea typeface="+mn-ea"/>
                  <a:cs typeface="+mn-cs"/>
                </a:rPr>
                <a:t>完成统一标准与首批名单</a:t>
              </a:r>
            </a:p>
          </p:txBody>
        </p:sp>
        <p:sp>
          <p:nvSpPr>
            <p:cNvPr id="36" name="Rectangle 36"/>
            <p:cNvSpPr/>
            <p:nvPr/>
          </p:nvSpPr>
          <p:spPr>
            <a:xfrm>
              <a:off x="3190875" y="1447800"/>
              <a:ext cx="2571750" cy="1257300"/>
            </a:xfrm>
            <a:prstGeom prst="roundRect">
              <a:avLst>
                <a:gd name="adj" fmla="val 4545"/>
              </a:avLst>
            </a:prstGeom>
            <a:solidFill>
              <a:srgbClr val="FFFFFF"/>
            </a:solidFill>
            <a:ln w="9525">
              <a:solidFill>
                <a:srgbClr val="C9D8EF"/>
              </a:solidFill>
            </a:ln>
          </p:spPr>
        </p:sp>
        <p:grpSp>
          <p:nvGrpSpPr>
            <p:cNvPr id="42" name="Group 42"/>
            <p:cNvGrpSpPr/>
            <p:nvPr/>
          </p:nvGrpSpPr>
          <p:grpSpPr>
            <a:xfrm>
              <a:off x="3317875" y="1600200"/>
              <a:ext cx="88900" cy="114300"/>
              <a:chOff x="3317875" y="1600200"/>
              <a:chExt cx="88900" cy="114300"/>
            </a:xfrm>
          </p:grpSpPr>
          <p:sp>
            <p:nvSpPr>
              <p:cNvPr id="37" name="Freeform 37"/>
              <p:cNvSpPr/>
              <p:nvPr/>
            </p:nvSpPr>
            <p:spPr>
              <a:xfrm>
                <a:off x="3375025" y="16002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A8351D"/>
                </a:solidFill>
              </a:ln>
            </p:spPr>
          </p:sp>
          <p:sp>
            <p:nvSpPr>
              <p:cNvPr id="38" name="Freeform 38"/>
              <p:cNvSpPr/>
              <p:nvPr/>
            </p:nvSpPr>
            <p:spPr>
              <a:xfrm>
                <a:off x="3317875" y="16002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A8351D"/>
                </a:solidFill>
              </a:ln>
            </p:spPr>
          </p:sp>
          <p:sp>
            <p:nvSpPr>
              <p:cNvPr id="39" name="Freeform 39"/>
              <p:cNvSpPr/>
              <p:nvPr/>
            </p:nvSpPr>
            <p:spPr>
              <a:xfrm>
                <a:off x="3343275" y="1638300"/>
                <a:ext cx="9525" cy="9525"/>
              </a:xfrm>
              <a:custGeom>
                <a:avLst/>
                <a:gdLst/>
                <a:ahLst/>
                <a:cxnLst/>
                <a:rect l="l" t="t" r="r" b="b"/>
                <a:pathLst>
                  <a:path w="9525" h="9525">
                    <a:moveTo>
                      <a:pt x="0" y="0"/>
                    </a:moveTo>
                    <a:lnTo>
                      <a:pt x="6350" y="0"/>
                    </a:lnTo>
                  </a:path>
                </a:pathLst>
              </a:custGeom>
              <a:noFill/>
              <a:ln w="12700">
                <a:solidFill>
                  <a:srgbClr val="A8351D"/>
                </a:solidFill>
              </a:ln>
            </p:spPr>
          </p:sp>
          <p:sp>
            <p:nvSpPr>
              <p:cNvPr id="40" name="Freeform 40"/>
              <p:cNvSpPr/>
              <p:nvPr/>
            </p:nvSpPr>
            <p:spPr>
              <a:xfrm>
                <a:off x="3343275" y="1663700"/>
                <a:ext cx="38100" cy="9525"/>
              </a:xfrm>
              <a:custGeom>
                <a:avLst/>
                <a:gdLst/>
                <a:ahLst/>
                <a:cxnLst/>
                <a:rect l="l" t="t" r="r" b="b"/>
                <a:pathLst>
                  <a:path w="38100" h="9525">
                    <a:moveTo>
                      <a:pt x="0" y="0"/>
                    </a:moveTo>
                    <a:lnTo>
                      <a:pt x="38100" y="0"/>
                    </a:lnTo>
                  </a:path>
                </a:pathLst>
              </a:custGeom>
              <a:noFill/>
              <a:ln w="12700">
                <a:solidFill>
                  <a:srgbClr val="A8351D"/>
                </a:solidFill>
              </a:ln>
            </p:spPr>
          </p:sp>
          <p:sp>
            <p:nvSpPr>
              <p:cNvPr id="41" name="Freeform 41"/>
              <p:cNvSpPr/>
              <p:nvPr/>
            </p:nvSpPr>
            <p:spPr>
              <a:xfrm>
                <a:off x="3343275" y="1689100"/>
                <a:ext cx="38100" cy="9525"/>
              </a:xfrm>
              <a:custGeom>
                <a:avLst/>
                <a:gdLst/>
                <a:ahLst/>
                <a:cxnLst/>
                <a:rect l="l" t="t" r="r" b="b"/>
                <a:pathLst>
                  <a:path w="38100" h="9525">
                    <a:moveTo>
                      <a:pt x="0" y="0"/>
                    </a:moveTo>
                    <a:lnTo>
                      <a:pt x="38100" y="0"/>
                    </a:lnTo>
                  </a:path>
                </a:pathLst>
              </a:custGeom>
              <a:noFill/>
              <a:ln w="12700">
                <a:solidFill>
                  <a:srgbClr val="A8351D"/>
                </a:solidFill>
              </a:ln>
            </p:spPr>
          </p:sp>
        </p:grpSp>
        <p:sp>
          <p:nvSpPr>
            <p:cNvPr id="43" name="TextBox 43"/>
            <p:cNvSpPr txBox="1"/>
            <p:nvPr/>
          </p:nvSpPr>
          <p:spPr>
            <a:xfrm>
              <a:off x="3490912" y="1619964"/>
              <a:ext cx="43492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输出成果</a:t>
              </a:r>
            </a:p>
          </p:txBody>
        </p:sp>
        <p:sp>
          <p:nvSpPr>
            <p:cNvPr id="44" name="TextBox 44"/>
            <p:cNvSpPr txBox="1"/>
            <p:nvPr/>
          </p:nvSpPr>
          <p:spPr>
            <a:xfrm>
              <a:off x="4100512" y="1624012"/>
              <a:ext cx="993934" cy="147638"/>
            </a:xfrm>
            <a:prstGeom prst="rect">
              <a:avLst/>
            </a:prstGeom>
            <a:noFill/>
            <a:ln>
              <a:noFill/>
            </a:ln>
          </p:spPr>
          <p:txBody>
            <a:bodyPr wrap="none" lIns="0" tIns="0" rIns="0" bIns="0" anchor="t" anchorCtr="0">
              <a:spAutoFit/>
            </a:bodyPr>
            <a:lstStyle/>
            <a:p>
              <a:pPr algn="l"/>
              <a:r>
                <a:rPr lang="zh-CN" sz="750" dirty="0">
                  <a:solidFill>
                    <a:srgbClr val="5A443F"/>
                  </a:solidFill>
                  <a:latin typeface="+mn-lt"/>
                  <a:ea typeface="+mn-ea"/>
                  <a:cs typeface="+mn-cs"/>
                </a:rPr>
                <a:t>选择3—5家分行试点​​</a:t>
              </a:r>
            </a:p>
          </p:txBody>
        </p:sp>
        <p:grpSp>
          <p:nvGrpSpPr>
            <p:cNvPr id="48" name="Group 48"/>
            <p:cNvGrpSpPr/>
            <p:nvPr/>
          </p:nvGrpSpPr>
          <p:grpSpPr>
            <a:xfrm>
              <a:off x="3324225" y="1981200"/>
              <a:ext cx="95250" cy="114300"/>
              <a:chOff x="3324225" y="1981200"/>
              <a:chExt cx="95250" cy="114300"/>
            </a:xfrm>
          </p:grpSpPr>
          <p:sp>
            <p:nvSpPr>
              <p:cNvPr id="45" name="Freeform 45"/>
              <p:cNvSpPr/>
              <p:nvPr/>
            </p:nvSpPr>
            <p:spPr>
              <a:xfrm>
                <a:off x="3336925" y="19812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8351D"/>
                </a:solidFill>
              </a:ln>
            </p:spPr>
          </p:sp>
          <p:sp>
            <p:nvSpPr>
              <p:cNvPr id="46" name="Freeform 46"/>
              <p:cNvSpPr/>
              <p:nvPr/>
            </p:nvSpPr>
            <p:spPr>
              <a:xfrm>
                <a:off x="3324225" y="20574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A8351D"/>
                </a:solidFill>
              </a:ln>
            </p:spPr>
          </p:sp>
          <p:sp>
            <p:nvSpPr>
              <p:cNvPr id="47" name="Freeform 47"/>
              <p:cNvSpPr/>
              <p:nvPr/>
            </p:nvSpPr>
            <p:spPr>
              <a:xfrm>
                <a:off x="3381375" y="2070100"/>
                <a:ext cx="38100" cy="25400"/>
              </a:xfrm>
              <a:custGeom>
                <a:avLst/>
                <a:gdLst/>
                <a:ahLst/>
                <a:cxnLst/>
                <a:rect l="l" t="t" r="r" b="b"/>
                <a:pathLst>
                  <a:path w="38100" h="25400">
                    <a:moveTo>
                      <a:pt x="0" y="12700"/>
                    </a:moveTo>
                    <a:lnTo>
                      <a:pt x="12700" y="25400"/>
                    </a:lnTo>
                    <a:lnTo>
                      <a:pt x="38100" y="0"/>
                    </a:lnTo>
                  </a:path>
                </a:pathLst>
              </a:custGeom>
              <a:noFill/>
              <a:ln w="12700">
                <a:solidFill>
                  <a:srgbClr val="A8351D"/>
                </a:solidFill>
              </a:ln>
            </p:spPr>
          </p:sp>
        </p:grpSp>
        <p:sp>
          <p:nvSpPr>
            <p:cNvPr id="49" name="TextBox 49"/>
            <p:cNvSpPr txBox="1"/>
            <p:nvPr/>
          </p:nvSpPr>
          <p:spPr>
            <a:xfrm>
              <a:off x="3490912" y="2000964"/>
              <a:ext cx="43492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责任主体</a:t>
              </a:r>
            </a:p>
          </p:txBody>
        </p:sp>
        <p:sp>
          <p:nvSpPr>
            <p:cNvPr id="50" name="TextBox 50"/>
            <p:cNvSpPr txBox="1"/>
            <p:nvPr/>
          </p:nvSpPr>
          <p:spPr>
            <a:xfrm>
              <a:off x="4100512" y="2005012"/>
              <a:ext cx="615315" cy="147638"/>
            </a:xfrm>
            <a:prstGeom prst="rect">
              <a:avLst/>
            </a:prstGeom>
            <a:noFill/>
            <a:ln>
              <a:noFill/>
            </a:ln>
          </p:spPr>
          <p:txBody>
            <a:bodyPr wrap="none" lIns="0" tIns="0" rIns="0" bIns="0" anchor="t" anchorCtr="0">
              <a:spAutoFit/>
            </a:bodyPr>
            <a:lstStyle/>
            <a:p>
              <a:pPr algn="l"/>
              <a:r>
                <a:rPr lang="zh-CN" sz="750" dirty="0">
                  <a:solidFill>
                    <a:srgbClr val="5A443F"/>
                  </a:solidFill>
                  <a:latin typeface="+mn-lt"/>
                  <a:ea typeface="+mn-ea"/>
                  <a:cs typeface="+mn-cs"/>
                </a:rPr>
                <a:t>一级分行专班</a:t>
              </a:r>
            </a:p>
          </p:txBody>
        </p:sp>
        <p:grpSp>
          <p:nvGrpSpPr>
            <p:cNvPr id="53" name="Group 53"/>
            <p:cNvGrpSpPr/>
            <p:nvPr/>
          </p:nvGrpSpPr>
          <p:grpSpPr>
            <a:xfrm>
              <a:off x="3317875" y="2362799"/>
              <a:ext cx="88900" cy="113701"/>
              <a:chOff x="3317875" y="2362799"/>
              <a:chExt cx="88900" cy="113701"/>
            </a:xfrm>
          </p:grpSpPr>
          <p:sp>
            <p:nvSpPr>
              <p:cNvPr id="51" name="Freeform 51"/>
              <p:cNvSpPr/>
              <p:nvPr/>
            </p:nvSpPr>
            <p:spPr>
              <a:xfrm>
                <a:off x="3317875" y="2362799"/>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C9462F"/>
                </a:solidFill>
              </a:ln>
            </p:spPr>
          </p:sp>
          <p:sp>
            <p:nvSpPr>
              <p:cNvPr id="52" name="Freeform 52"/>
              <p:cNvSpPr/>
              <p:nvPr/>
            </p:nvSpPr>
            <p:spPr>
              <a:xfrm>
                <a:off x="3317875" y="2432050"/>
                <a:ext cx="9525" cy="44450"/>
              </a:xfrm>
              <a:custGeom>
                <a:avLst/>
                <a:gdLst/>
                <a:ahLst/>
                <a:cxnLst/>
                <a:rect l="l" t="t" r="r" b="b"/>
                <a:pathLst>
                  <a:path w="9525" h="44450">
                    <a:moveTo>
                      <a:pt x="0" y="44450"/>
                    </a:moveTo>
                    <a:lnTo>
                      <a:pt x="0" y="0"/>
                    </a:lnTo>
                  </a:path>
                </a:pathLst>
              </a:custGeom>
              <a:noFill/>
              <a:ln w="12700">
                <a:solidFill>
                  <a:srgbClr val="C9462F"/>
                </a:solidFill>
              </a:ln>
            </p:spPr>
          </p:sp>
        </p:grpSp>
        <p:sp>
          <p:nvSpPr>
            <p:cNvPr id="54" name="TextBox 54"/>
            <p:cNvSpPr txBox="1"/>
            <p:nvPr/>
          </p:nvSpPr>
          <p:spPr>
            <a:xfrm>
              <a:off x="3490912" y="2381964"/>
              <a:ext cx="54127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关键里程碑</a:t>
              </a:r>
            </a:p>
          </p:txBody>
        </p:sp>
        <p:sp>
          <p:nvSpPr>
            <p:cNvPr id="55" name="TextBox 55"/>
            <p:cNvSpPr txBox="1"/>
            <p:nvPr/>
          </p:nvSpPr>
          <p:spPr>
            <a:xfrm>
              <a:off x="4100512" y="2386012"/>
              <a:ext cx="1120140" cy="147638"/>
            </a:xfrm>
            <a:prstGeom prst="rect">
              <a:avLst/>
            </a:prstGeom>
            <a:noFill/>
            <a:ln>
              <a:noFill/>
            </a:ln>
          </p:spPr>
          <p:txBody>
            <a:bodyPr wrap="none" lIns="0" tIns="0" rIns="0" bIns="0" anchor="t" anchorCtr="0">
              <a:spAutoFit/>
            </a:bodyPr>
            <a:lstStyle/>
            <a:p>
              <a:pPr algn="l"/>
              <a:r>
                <a:rPr lang="zh-CN" sz="750" b="1" dirty="0">
                  <a:solidFill>
                    <a:srgbClr val="B0351F"/>
                  </a:solidFill>
                  <a:latin typeface="+mn-lt"/>
                  <a:ea typeface="+mn-ea"/>
                  <a:cs typeface="+mn-cs"/>
                </a:rPr>
                <a:t>跑通客户识别与线索流转</a:t>
              </a:r>
            </a:p>
          </p:txBody>
        </p:sp>
        <p:sp>
          <p:nvSpPr>
            <p:cNvPr id="56" name="Rectangle 56"/>
            <p:cNvSpPr/>
            <p:nvPr/>
          </p:nvSpPr>
          <p:spPr>
            <a:xfrm>
              <a:off x="5905500" y="1447800"/>
              <a:ext cx="2571750" cy="1257300"/>
            </a:xfrm>
            <a:prstGeom prst="roundRect">
              <a:avLst>
                <a:gd name="adj" fmla="val 4545"/>
              </a:avLst>
            </a:prstGeom>
            <a:solidFill>
              <a:srgbClr val="FFFFFF"/>
            </a:solidFill>
            <a:ln w="9525">
              <a:solidFill>
                <a:srgbClr val="C9D8EF"/>
              </a:solidFill>
            </a:ln>
          </p:spPr>
        </p:sp>
        <p:grpSp>
          <p:nvGrpSpPr>
            <p:cNvPr id="62" name="Group 62"/>
            <p:cNvGrpSpPr/>
            <p:nvPr/>
          </p:nvGrpSpPr>
          <p:grpSpPr>
            <a:xfrm>
              <a:off x="6032500" y="1600200"/>
              <a:ext cx="88900" cy="114300"/>
              <a:chOff x="6032500" y="1600200"/>
              <a:chExt cx="88900" cy="114300"/>
            </a:xfrm>
          </p:grpSpPr>
          <p:sp>
            <p:nvSpPr>
              <p:cNvPr id="57" name="Freeform 57"/>
              <p:cNvSpPr/>
              <p:nvPr/>
            </p:nvSpPr>
            <p:spPr>
              <a:xfrm>
                <a:off x="6089650" y="16002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A8351D"/>
                </a:solidFill>
              </a:ln>
            </p:spPr>
          </p:sp>
          <p:sp>
            <p:nvSpPr>
              <p:cNvPr id="58" name="Freeform 58"/>
              <p:cNvSpPr/>
              <p:nvPr/>
            </p:nvSpPr>
            <p:spPr>
              <a:xfrm>
                <a:off x="6032500" y="16002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A8351D"/>
                </a:solidFill>
              </a:ln>
            </p:spPr>
          </p:sp>
          <p:sp>
            <p:nvSpPr>
              <p:cNvPr id="59" name="Freeform 59"/>
              <p:cNvSpPr/>
              <p:nvPr/>
            </p:nvSpPr>
            <p:spPr>
              <a:xfrm>
                <a:off x="6057900" y="1638300"/>
                <a:ext cx="9525" cy="9525"/>
              </a:xfrm>
              <a:custGeom>
                <a:avLst/>
                <a:gdLst/>
                <a:ahLst/>
                <a:cxnLst/>
                <a:rect l="l" t="t" r="r" b="b"/>
                <a:pathLst>
                  <a:path w="9525" h="9525">
                    <a:moveTo>
                      <a:pt x="0" y="0"/>
                    </a:moveTo>
                    <a:lnTo>
                      <a:pt x="6350" y="0"/>
                    </a:lnTo>
                  </a:path>
                </a:pathLst>
              </a:custGeom>
              <a:noFill/>
              <a:ln w="12700">
                <a:solidFill>
                  <a:srgbClr val="A8351D"/>
                </a:solidFill>
              </a:ln>
            </p:spPr>
          </p:sp>
          <p:sp>
            <p:nvSpPr>
              <p:cNvPr id="60" name="Freeform 60"/>
              <p:cNvSpPr/>
              <p:nvPr/>
            </p:nvSpPr>
            <p:spPr>
              <a:xfrm>
                <a:off x="6057900" y="1663700"/>
                <a:ext cx="38100" cy="9525"/>
              </a:xfrm>
              <a:custGeom>
                <a:avLst/>
                <a:gdLst/>
                <a:ahLst/>
                <a:cxnLst/>
                <a:rect l="l" t="t" r="r" b="b"/>
                <a:pathLst>
                  <a:path w="38100" h="9525">
                    <a:moveTo>
                      <a:pt x="0" y="0"/>
                    </a:moveTo>
                    <a:lnTo>
                      <a:pt x="38100" y="0"/>
                    </a:lnTo>
                  </a:path>
                </a:pathLst>
              </a:custGeom>
              <a:noFill/>
              <a:ln w="12700">
                <a:solidFill>
                  <a:srgbClr val="A8351D"/>
                </a:solidFill>
              </a:ln>
            </p:spPr>
          </p:sp>
          <p:sp>
            <p:nvSpPr>
              <p:cNvPr id="61" name="Freeform 61"/>
              <p:cNvSpPr/>
              <p:nvPr/>
            </p:nvSpPr>
            <p:spPr>
              <a:xfrm>
                <a:off x="6057900" y="1689100"/>
                <a:ext cx="38100" cy="9525"/>
              </a:xfrm>
              <a:custGeom>
                <a:avLst/>
                <a:gdLst/>
                <a:ahLst/>
                <a:cxnLst/>
                <a:rect l="l" t="t" r="r" b="b"/>
                <a:pathLst>
                  <a:path w="38100" h="9525">
                    <a:moveTo>
                      <a:pt x="0" y="0"/>
                    </a:moveTo>
                    <a:lnTo>
                      <a:pt x="38100" y="0"/>
                    </a:lnTo>
                  </a:path>
                </a:pathLst>
              </a:custGeom>
              <a:noFill/>
              <a:ln w="12700">
                <a:solidFill>
                  <a:srgbClr val="A8351D"/>
                </a:solidFill>
              </a:ln>
            </p:spPr>
          </p:sp>
        </p:grpSp>
        <p:sp>
          <p:nvSpPr>
            <p:cNvPr id="63" name="TextBox 63"/>
            <p:cNvSpPr txBox="1"/>
            <p:nvPr/>
          </p:nvSpPr>
          <p:spPr>
            <a:xfrm>
              <a:off x="6205538" y="1619964"/>
              <a:ext cx="43492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输出成果</a:t>
              </a:r>
            </a:p>
          </p:txBody>
        </p:sp>
        <p:sp>
          <p:nvSpPr>
            <p:cNvPr id="64" name="TextBox 64"/>
            <p:cNvSpPr txBox="1"/>
            <p:nvPr/>
          </p:nvSpPr>
          <p:spPr>
            <a:xfrm>
              <a:off x="6815138" y="1624012"/>
              <a:ext cx="716280" cy="147638"/>
            </a:xfrm>
            <a:prstGeom prst="rect">
              <a:avLst/>
            </a:prstGeom>
            <a:noFill/>
            <a:ln>
              <a:noFill/>
            </a:ln>
          </p:spPr>
          <p:txBody>
            <a:bodyPr wrap="none" lIns="0" tIns="0" rIns="0" bIns="0" anchor="t" anchorCtr="0">
              <a:spAutoFit/>
            </a:bodyPr>
            <a:lstStyle/>
            <a:p>
              <a:pPr algn="l"/>
              <a:r>
                <a:rPr lang="zh-CN" sz="750" dirty="0">
                  <a:solidFill>
                    <a:srgbClr val="5A443F"/>
                  </a:solidFill>
                  <a:latin typeface="+mn-lt"/>
                  <a:ea typeface="+mn-ea"/>
                  <a:cs typeface="+mn-cs"/>
                </a:rPr>
                <a:t>六大战役与复盘</a:t>
              </a:r>
            </a:p>
          </p:txBody>
        </p:sp>
        <p:grpSp>
          <p:nvGrpSpPr>
            <p:cNvPr id="68" name="Group 68"/>
            <p:cNvGrpSpPr/>
            <p:nvPr/>
          </p:nvGrpSpPr>
          <p:grpSpPr>
            <a:xfrm>
              <a:off x="6038850" y="1981200"/>
              <a:ext cx="95250" cy="114300"/>
              <a:chOff x="6038850" y="1981200"/>
              <a:chExt cx="95250" cy="114300"/>
            </a:xfrm>
          </p:grpSpPr>
          <p:sp>
            <p:nvSpPr>
              <p:cNvPr id="65" name="Freeform 65"/>
              <p:cNvSpPr/>
              <p:nvPr/>
            </p:nvSpPr>
            <p:spPr>
              <a:xfrm>
                <a:off x="6051550" y="19812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8351D"/>
                </a:solidFill>
              </a:ln>
            </p:spPr>
          </p:sp>
          <p:sp>
            <p:nvSpPr>
              <p:cNvPr id="66" name="Freeform 66"/>
              <p:cNvSpPr/>
              <p:nvPr/>
            </p:nvSpPr>
            <p:spPr>
              <a:xfrm>
                <a:off x="6038850" y="20574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A8351D"/>
                </a:solidFill>
              </a:ln>
            </p:spPr>
          </p:sp>
          <p:sp>
            <p:nvSpPr>
              <p:cNvPr id="67" name="Freeform 67"/>
              <p:cNvSpPr/>
              <p:nvPr/>
            </p:nvSpPr>
            <p:spPr>
              <a:xfrm>
                <a:off x="6096000" y="2070100"/>
                <a:ext cx="38100" cy="25400"/>
              </a:xfrm>
              <a:custGeom>
                <a:avLst/>
                <a:gdLst/>
                <a:ahLst/>
                <a:cxnLst/>
                <a:rect l="l" t="t" r="r" b="b"/>
                <a:pathLst>
                  <a:path w="38100" h="25400">
                    <a:moveTo>
                      <a:pt x="0" y="12700"/>
                    </a:moveTo>
                    <a:lnTo>
                      <a:pt x="12700" y="25400"/>
                    </a:lnTo>
                    <a:lnTo>
                      <a:pt x="38100" y="0"/>
                    </a:lnTo>
                  </a:path>
                </a:pathLst>
              </a:custGeom>
              <a:noFill/>
              <a:ln w="12700">
                <a:solidFill>
                  <a:srgbClr val="A8351D"/>
                </a:solidFill>
              </a:ln>
            </p:spPr>
          </p:sp>
        </p:grpSp>
        <p:sp>
          <p:nvSpPr>
            <p:cNvPr id="69" name="TextBox 69"/>
            <p:cNvSpPr txBox="1"/>
            <p:nvPr/>
          </p:nvSpPr>
          <p:spPr>
            <a:xfrm>
              <a:off x="6205538" y="2000964"/>
              <a:ext cx="43492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责任主体</a:t>
              </a:r>
            </a:p>
          </p:txBody>
        </p:sp>
        <p:sp>
          <p:nvSpPr>
            <p:cNvPr id="70" name="TextBox 70"/>
            <p:cNvSpPr txBox="1"/>
            <p:nvPr/>
          </p:nvSpPr>
          <p:spPr>
            <a:xfrm>
              <a:off x="6815138" y="2005012"/>
              <a:ext cx="716280" cy="147638"/>
            </a:xfrm>
            <a:prstGeom prst="rect">
              <a:avLst/>
            </a:prstGeom>
            <a:noFill/>
            <a:ln>
              <a:noFill/>
            </a:ln>
          </p:spPr>
          <p:txBody>
            <a:bodyPr wrap="none" lIns="0" tIns="0" rIns="0" bIns="0" anchor="t" anchorCtr="0">
              <a:spAutoFit/>
            </a:bodyPr>
            <a:lstStyle/>
            <a:p>
              <a:pPr algn="l"/>
              <a:r>
                <a:rPr lang="zh-CN" sz="750" dirty="0">
                  <a:solidFill>
                    <a:srgbClr val="5A443F"/>
                  </a:solidFill>
                  <a:latin typeface="+mn-lt"/>
                  <a:ea typeface="+mn-ea"/>
                  <a:cs typeface="+mn-cs"/>
                </a:rPr>
                <a:t>分支行作战小组</a:t>
              </a:r>
            </a:p>
          </p:txBody>
        </p:sp>
        <p:grpSp>
          <p:nvGrpSpPr>
            <p:cNvPr id="73" name="Group 73"/>
            <p:cNvGrpSpPr/>
            <p:nvPr/>
          </p:nvGrpSpPr>
          <p:grpSpPr>
            <a:xfrm>
              <a:off x="6032500" y="2362799"/>
              <a:ext cx="88900" cy="113701"/>
              <a:chOff x="6032500" y="2362799"/>
              <a:chExt cx="88900" cy="113701"/>
            </a:xfrm>
          </p:grpSpPr>
          <p:sp>
            <p:nvSpPr>
              <p:cNvPr id="71" name="Freeform 71"/>
              <p:cNvSpPr/>
              <p:nvPr/>
            </p:nvSpPr>
            <p:spPr>
              <a:xfrm>
                <a:off x="6032500" y="2362799"/>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C9462F"/>
                </a:solidFill>
              </a:ln>
            </p:spPr>
          </p:sp>
          <p:sp>
            <p:nvSpPr>
              <p:cNvPr id="72" name="Freeform 72"/>
              <p:cNvSpPr/>
              <p:nvPr/>
            </p:nvSpPr>
            <p:spPr>
              <a:xfrm>
                <a:off x="6032500" y="2432050"/>
                <a:ext cx="9525" cy="44450"/>
              </a:xfrm>
              <a:custGeom>
                <a:avLst/>
                <a:gdLst/>
                <a:ahLst/>
                <a:cxnLst/>
                <a:rect l="l" t="t" r="r" b="b"/>
                <a:pathLst>
                  <a:path w="9525" h="44450">
                    <a:moveTo>
                      <a:pt x="0" y="44450"/>
                    </a:moveTo>
                    <a:lnTo>
                      <a:pt x="0" y="0"/>
                    </a:lnTo>
                  </a:path>
                </a:pathLst>
              </a:custGeom>
              <a:noFill/>
              <a:ln w="12700">
                <a:solidFill>
                  <a:srgbClr val="C9462F"/>
                </a:solidFill>
              </a:ln>
            </p:spPr>
          </p:sp>
        </p:grpSp>
        <p:sp>
          <p:nvSpPr>
            <p:cNvPr id="74" name="TextBox 74"/>
            <p:cNvSpPr txBox="1"/>
            <p:nvPr/>
          </p:nvSpPr>
          <p:spPr>
            <a:xfrm>
              <a:off x="6205538" y="2381964"/>
              <a:ext cx="541274" cy="154781"/>
            </a:xfrm>
            <a:prstGeom prst="rect">
              <a:avLst/>
            </a:prstGeom>
            <a:noFill/>
            <a:ln>
              <a:noFill/>
            </a:ln>
          </p:spPr>
          <p:txBody>
            <a:bodyPr wrap="none" lIns="0" tIns="0" rIns="0" bIns="0" anchor="t" anchorCtr="0">
              <a:spAutoFit/>
            </a:bodyPr>
            <a:lstStyle/>
            <a:p>
              <a:pPr algn="l"/>
              <a:r>
                <a:rPr lang="zh-CN" sz="790" b="1" dirty="0">
                  <a:solidFill>
                    <a:srgbClr val="67281B"/>
                  </a:solidFill>
                  <a:latin typeface="+mn-lt"/>
                  <a:ea typeface="+mn-ea"/>
                  <a:cs typeface="+mn-cs"/>
                </a:rPr>
                <a:t>关键里程碑</a:t>
              </a:r>
            </a:p>
          </p:txBody>
        </p:sp>
        <p:sp>
          <p:nvSpPr>
            <p:cNvPr id="75" name="TextBox 75"/>
            <p:cNvSpPr txBox="1"/>
            <p:nvPr/>
          </p:nvSpPr>
          <p:spPr>
            <a:xfrm>
              <a:off x="6815138" y="2386012"/>
              <a:ext cx="1322070" cy="147638"/>
            </a:xfrm>
            <a:prstGeom prst="rect">
              <a:avLst/>
            </a:prstGeom>
            <a:noFill/>
            <a:ln>
              <a:noFill/>
            </a:ln>
          </p:spPr>
          <p:txBody>
            <a:bodyPr wrap="none" lIns="0" tIns="0" rIns="0" bIns="0" anchor="t" anchorCtr="0">
              <a:spAutoFit/>
            </a:bodyPr>
            <a:lstStyle/>
            <a:p>
              <a:pPr algn="l"/>
              <a:r>
                <a:rPr lang="zh-CN" sz="750" b="1" dirty="0">
                  <a:solidFill>
                    <a:srgbClr val="B0351F"/>
                  </a:solidFill>
                  <a:latin typeface="+mn-lt"/>
                  <a:ea typeface="+mn-ea"/>
                  <a:cs typeface="+mn-cs"/>
                </a:rPr>
                <a:t>形成首轮转化结果与优化清单</a:t>
              </a:r>
            </a:p>
          </p:txBody>
        </p:sp>
      </p:grpSp>
      <p:grpSp>
        <p:nvGrpSpPr>
          <p:cNvPr id="101" name="guarantees"/>
          <p:cNvGrpSpPr/>
          <p:nvPr/>
        </p:nvGrpSpPr>
        <p:grpSpPr>
          <a:xfrm>
            <a:off x="8724900" y="723900"/>
            <a:ext cx="3086100" cy="2057400"/>
            <a:chOff x="8724900" y="723900"/>
            <a:chExt cx="3086100" cy="2057400"/>
          </a:xfrm>
        </p:grpSpPr>
        <p:sp>
          <p:nvSpPr>
            <p:cNvPr id="77" name="Rectangle 77"/>
            <p:cNvSpPr/>
            <p:nvPr/>
          </p:nvSpPr>
          <p:spPr>
            <a:xfrm>
              <a:off x="8724900" y="723900"/>
              <a:ext cx="3086100" cy="457200"/>
            </a:xfrm>
            <a:prstGeom prst="roundRect">
              <a:avLst>
                <a:gd name="adj" fmla="val 16667"/>
              </a:avLst>
            </a:prstGeom>
            <a:solidFill>
              <a:srgbClr val="FFFFFF"/>
            </a:solidFill>
            <a:ln w="9525">
              <a:solidFill>
                <a:srgbClr val="C9D8EF"/>
              </a:solidFill>
            </a:ln>
          </p:spPr>
        </p:sp>
        <p:grpSp>
          <p:nvGrpSpPr>
            <p:cNvPr id="81" name="Group 81"/>
            <p:cNvGrpSpPr/>
            <p:nvPr/>
          </p:nvGrpSpPr>
          <p:grpSpPr>
            <a:xfrm>
              <a:off x="8972550" y="866775"/>
              <a:ext cx="142875" cy="171450"/>
              <a:chOff x="8972550" y="866775"/>
              <a:chExt cx="142875" cy="171450"/>
            </a:xfrm>
          </p:grpSpPr>
          <p:sp>
            <p:nvSpPr>
              <p:cNvPr id="78" name="Freeform 78"/>
              <p:cNvSpPr/>
              <p:nvPr/>
            </p:nvSpPr>
            <p:spPr>
              <a:xfrm>
                <a:off x="8991600" y="8667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A8351D"/>
                </a:solidFill>
              </a:ln>
            </p:spPr>
          </p:sp>
          <p:sp>
            <p:nvSpPr>
              <p:cNvPr id="79" name="Freeform 79"/>
              <p:cNvSpPr/>
              <p:nvPr/>
            </p:nvSpPr>
            <p:spPr>
              <a:xfrm>
                <a:off x="8972550" y="9810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A8351D"/>
                </a:solidFill>
              </a:ln>
            </p:spPr>
          </p:sp>
          <p:sp>
            <p:nvSpPr>
              <p:cNvPr id="80" name="Freeform 80"/>
              <p:cNvSpPr/>
              <p:nvPr/>
            </p:nvSpPr>
            <p:spPr>
              <a:xfrm>
                <a:off x="9058275" y="1000125"/>
                <a:ext cx="57150" cy="38100"/>
              </a:xfrm>
              <a:custGeom>
                <a:avLst/>
                <a:gdLst/>
                <a:ahLst/>
                <a:cxnLst/>
                <a:rect l="l" t="t" r="r" b="b"/>
                <a:pathLst>
                  <a:path w="57150" h="38100">
                    <a:moveTo>
                      <a:pt x="0" y="19050"/>
                    </a:moveTo>
                    <a:lnTo>
                      <a:pt x="19050" y="38100"/>
                    </a:lnTo>
                    <a:lnTo>
                      <a:pt x="57150" y="0"/>
                    </a:lnTo>
                  </a:path>
                </a:pathLst>
              </a:custGeom>
              <a:noFill/>
              <a:ln w="19050">
                <a:solidFill>
                  <a:srgbClr val="A8351D"/>
                </a:solidFill>
              </a:ln>
            </p:spPr>
          </p:sp>
        </p:grpSp>
        <p:sp>
          <p:nvSpPr>
            <p:cNvPr id="82" name="TextBox 82"/>
            <p:cNvSpPr txBox="1"/>
            <p:nvPr/>
          </p:nvSpPr>
          <p:spPr>
            <a:xfrm>
              <a:off x="9291447" y="894874"/>
              <a:ext cx="537616"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责任到岗</a:t>
              </a:r>
            </a:p>
          </p:txBody>
        </p:sp>
        <p:sp>
          <p:nvSpPr>
            <p:cNvPr id="83" name="Rectangle 83"/>
            <p:cNvSpPr/>
            <p:nvPr/>
          </p:nvSpPr>
          <p:spPr>
            <a:xfrm>
              <a:off x="8724900" y="1257300"/>
              <a:ext cx="3086100" cy="457200"/>
            </a:xfrm>
            <a:prstGeom prst="roundRect">
              <a:avLst>
                <a:gd name="adj" fmla="val 16667"/>
              </a:avLst>
            </a:prstGeom>
            <a:solidFill>
              <a:srgbClr val="FFFFFF"/>
            </a:solidFill>
            <a:ln w="9525">
              <a:solidFill>
                <a:srgbClr val="C9D8EF"/>
              </a:solidFill>
            </a:ln>
          </p:spPr>
        </p:sp>
        <p:grpSp>
          <p:nvGrpSpPr>
            <p:cNvPr id="87" name="Group 87"/>
            <p:cNvGrpSpPr/>
            <p:nvPr/>
          </p:nvGrpSpPr>
          <p:grpSpPr>
            <a:xfrm>
              <a:off x="8963025" y="1400175"/>
              <a:ext cx="133350" cy="171450"/>
              <a:chOff x="8963025" y="1400175"/>
              <a:chExt cx="133350" cy="171450"/>
            </a:xfrm>
          </p:grpSpPr>
          <p:sp>
            <p:nvSpPr>
              <p:cNvPr id="84" name="Freeform 84"/>
              <p:cNvSpPr/>
              <p:nvPr/>
            </p:nvSpPr>
            <p:spPr>
              <a:xfrm>
                <a:off x="8963025" y="1419225"/>
                <a:ext cx="133350" cy="152400"/>
              </a:xfrm>
              <a:custGeom>
                <a:avLst/>
                <a:gdLst/>
                <a:ahLst/>
                <a:cxnLst/>
                <a:rect l="l" t="t" r="r" b="b"/>
                <a:pathLst>
                  <a:path w="133350" h="152400">
                    <a:moveTo>
                      <a:pt x="38100" y="0"/>
                    </a:moveTo>
                    <a:lnTo>
                      <a:pt x="19050" y="0"/>
                    </a:lnTo>
                    <a:cubicBezTo>
                      <a:pt x="8529" y="0"/>
                      <a:pt x="0" y="8529"/>
                      <a:pt x="0" y="19050"/>
                    </a:cubicBezTo>
                    <a:lnTo>
                      <a:pt x="0" y="133350"/>
                    </a:lnTo>
                    <a:cubicBezTo>
                      <a:pt x="0" y="143871"/>
                      <a:pt x="8529" y="152400"/>
                      <a:pt x="19050" y="152400"/>
                    </a:cubicBezTo>
                    <a:lnTo>
                      <a:pt x="114300" y="152400"/>
                    </a:lnTo>
                    <a:cubicBezTo>
                      <a:pt x="124821" y="152400"/>
                      <a:pt x="133350" y="143871"/>
                      <a:pt x="133350" y="133350"/>
                    </a:cubicBezTo>
                    <a:lnTo>
                      <a:pt x="133350" y="19050"/>
                    </a:lnTo>
                    <a:cubicBezTo>
                      <a:pt x="133350" y="8529"/>
                      <a:pt x="124821" y="0"/>
                      <a:pt x="114300" y="0"/>
                    </a:cubicBezTo>
                    <a:lnTo>
                      <a:pt x="95250" y="0"/>
                    </a:lnTo>
                  </a:path>
                </a:pathLst>
              </a:custGeom>
              <a:noFill/>
              <a:ln w="19050">
                <a:solidFill>
                  <a:srgbClr val="A8351D"/>
                </a:solidFill>
              </a:ln>
            </p:spPr>
          </p:sp>
          <p:sp>
            <p:nvSpPr>
              <p:cNvPr id="85" name="Freeform 85"/>
              <p:cNvSpPr/>
              <p:nvPr/>
            </p:nvSpPr>
            <p:spPr>
              <a:xfrm>
                <a:off x="9001125" y="1400175"/>
                <a:ext cx="57150" cy="38100"/>
              </a:xfrm>
              <a:custGeom>
                <a:avLst/>
                <a:gdLst/>
                <a:ahLst/>
                <a:cxnLst/>
                <a:rect l="l" t="t" r="r" b="b"/>
                <a:pathLst>
                  <a:path w="57150" h="38100">
                    <a:moveTo>
                      <a:pt x="0" y="19050"/>
                    </a:moveTo>
                    <a:cubicBezTo>
                      <a:pt x="0" y="8529"/>
                      <a:pt x="8529" y="0"/>
                      <a:pt x="19050" y="0"/>
                    </a:cubicBezTo>
                    <a:lnTo>
                      <a:pt x="38100" y="0"/>
                    </a:lnTo>
                    <a:cubicBezTo>
                      <a:pt x="48621" y="0"/>
                      <a:pt x="57150" y="8529"/>
                      <a:pt x="57150" y="19050"/>
                    </a:cubicBezTo>
                    <a:cubicBezTo>
                      <a:pt x="57150" y="29571"/>
                      <a:pt x="48621" y="38100"/>
                      <a:pt x="38100" y="38100"/>
                    </a:cubicBezTo>
                    <a:lnTo>
                      <a:pt x="19050" y="38100"/>
                    </a:lnTo>
                    <a:cubicBezTo>
                      <a:pt x="8529" y="38100"/>
                      <a:pt x="0" y="29571"/>
                      <a:pt x="0" y="19050"/>
                    </a:cubicBezTo>
                  </a:path>
                </a:pathLst>
              </a:custGeom>
              <a:noFill/>
              <a:ln w="19050">
                <a:solidFill>
                  <a:srgbClr val="A8351D"/>
                </a:solidFill>
              </a:ln>
            </p:spPr>
          </p:sp>
          <p:sp>
            <p:nvSpPr>
              <p:cNvPr id="86" name="Freeform 86"/>
              <p:cNvSpPr/>
              <p:nvPr/>
            </p:nvSpPr>
            <p:spPr>
              <a:xfrm>
                <a:off x="9001125" y="1485900"/>
                <a:ext cx="57150" cy="38100"/>
              </a:xfrm>
              <a:custGeom>
                <a:avLst/>
                <a:gdLst/>
                <a:ahLst/>
                <a:cxnLst/>
                <a:rect l="l" t="t" r="r" b="b"/>
                <a:pathLst>
                  <a:path w="57150" h="38100">
                    <a:moveTo>
                      <a:pt x="0" y="19050"/>
                    </a:moveTo>
                    <a:lnTo>
                      <a:pt x="19050" y="38100"/>
                    </a:lnTo>
                    <a:lnTo>
                      <a:pt x="57150" y="0"/>
                    </a:lnTo>
                  </a:path>
                </a:pathLst>
              </a:custGeom>
              <a:noFill/>
              <a:ln w="19050">
                <a:solidFill>
                  <a:srgbClr val="A8351D"/>
                </a:solidFill>
              </a:ln>
            </p:spPr>
          </p:sp>
        </p:grpSp>
        <p:sp>
          <p:nvSpPr>
            <p:cNvPr id="88" name="TextBox 88"/>
            <p:cNvSpPr txBox="1"/>
            <p:nvPr/>
          </p:nvSpPr>
          <p:spPr>
            <a:xfrm>
              <a:off x="9291447" y="1428274"/>
              <a:ext cx="537616"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成果到件</a:t>
              </a:r>
            </a:p>
          </p:txBody>
        </p:sp>
        <p:sp>
          <p:nvSpPr>
            <p:cNvPr id="89" name="Rectangle 89"/>
            <p:cNvSpPr/>
            <p:nvPr/>
          </p:nvSpPr>
          <p:spPr>
            <a:xfrm>
              <a:off x="8724900" y="1790700"/>
              <a:ext cx="3086100" cy="457200"/>
            </a:xfrm>
            <a:prstGeom prst="roundRect">
              <a:avLst>
                <a:gd name="adj" fmla="val 16667"/>
              </a:avLst>
            </a:prstGeom>
            <a:solidFill>
              <a:srgbClr val="FFFFFF"/>
            </a:solidFill>
            <a:ln w="9525">
              <a:solidFill>
                <a:srgbClr val="C9D8EF"/>
              </a:solidFill>
            </a:ln>
          </p:spPr>
        </p:sp>
        <p:grpSp>
          <p:nvGrpSpPr>
            <p:cNvPr id="94" name="Group 94"/>
            <p:cNvGrpSpPr/>
            <p:nvPr/>
          </p:nvGrpSpPr>
          <p:grpSpPr>
            <a:xfrm>
              <a:off x="8943975" y="1943100"/>
              <a:ext cx="171450" cy="161925"/>
              <a:chOff x="8943975" y="1943100"/>
              <a:chExt cx="171450" cy="161925"/>
            </a:xfrm>
          </p:grpSpPr>
          <p:sp>
            <p:nvSpPr>
              <p:cNvPr id="90" name="Freeform 90"/>
              <p:cNvSpPr/>
              <p:nvPr/>
            </p:nvSpPr>
            <p:spPr>
              <a:xfrm>
                <a:off x="8943975" y="20193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A8351D"/>
                </a:solidFill>
              </a:ln>
            </p:spPr>
          </p:sp>
          <p:sp>
            <p:nvSpPr>
              <p:cNvPr id="91" name="Freeform 91"/>
              <p:cNvSpPr/>
              <p:nvPr/>
            </p:nvSpPr>
            <p:spPr>
              <a:xfrm>
                <a:off x="9058275" y="19812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A8351D"/>
                </a:solidFill>
              </a:ln>
            </p:spPr>
          </p:sp>
          <p:sp>
            <p:nvSpPr>
              <p:cNvPr id="92" name="Freeform 92"/>
              <p:cNvSpPr/>
              <p:nvPr/>
            </p:nvSpPr>
            <p:spPr>
              <a:xfrm>
                <a:off x="9001125" y="19431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A8351D"/>
                </a:solidFill>
              </a:ln>
            </p:spPr>
          </p:sp>
          <p:sp>
            <p:nvSpPr>
              <p:cNvPr id="93" name="Freeform 93"/>
              <p:cNvSpPr/>
              <p:nvPr/>
            </p:nvSpPr>
            <p:spPr>
              <a:xfrm>
                <a:off x="8953500" y="2095500"/>
                <a:ext cx="133350" cy="9525"/>
              </a:xfrm>
              <a:custGeom>
                <a:avLst/>
                <a:gdLst/>
                <a:ahLst/>
                <a:cxnLst/>
                <a:rect l="l" t="t" r="r" b="b"/>
                <a:pathLst>
                  <a:path w="133350" h="9525">
                    <a:moveTo>
                      <a:pt x="0" y="0"/>
                    </a:moveTo>
                    <a:lnTo>
                      <a:pt x="133350" y="0"/>
                    </a:lnTo>
                  </a:path>
                </a:pathLst>
              </a:custGeom>
              <a:noFill/>
              <a:ln w="19050">
                <a:solidFill>
                  <a:srgbClr val="A8351D"/>
                </a:solidFill>
              </a:ln>
            </p:spPr>
          </p:sp>
        </p:grpSp>
        <p:sp>
          <p:nvSpPr>
            <p:cNvPr id="95" name="TextBox 95"/>
            <p:cNvSpPr txBox="1"/>
            <p:nvPr/>
          </p:nvSpPr>
          <p:spPr>
            <a:xfrm>
              <a:off x="9291447" y="1961674"/>
              <a:ext cx="537616"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数据到表</a:t>
              </a:r>
            </a:p>
          </p:txBody>
        </p:sp>
        <p:sp>
          <p:nvSpPr>
            <p:cNvPr id="96" name="Rectangle 96"/>
            <p:cNvSpPr/>
            <p:nvPr/>
          </p:nvSpPr>
          <p:spPr>
            <a:xfrm>
              <a:off x="8724900" y="2324100"/>
              <a:ext cx="3086100" cy="457200"/>
            </a:xfrm>
            <a:prstGeom prst="roundRect">
              <a:avLst>
                <a:gd name="adj" fmla="val 16667"/>
              </a:avLst>
            </a:prstGeom>
            <a:solidFill>
              <a:srgbClr val="FFFFFF"/>
            </a:solidFill>
            <a:ln w="9525">
              <a:solidFill>
                <a:srgbClr val="C9D8EF"/>
              </a:solidFill>
            </a:ln>
          </p:spPr>
        </p:sp>
        <p:grpSp>
          <p:nvGrpSpPr>
            <p:cNvPr id="99" name="Group 99"/>
            <p:cNvGrpSpPr/>
            <p:nvPr/>
          </p:nvGrpSpPr>
          <p:grpSpPr>
            <a:xfrm>
              <a:off x="8943975" y="2466975"/>
              <a:ext cx="171450" cy="171450"/>
              <a:chOff x="8943975" y="2466975"/>
              <a:chExt cx="171450" cy="171450"/>
            </a:xfrm>
          </p:grpSpPr>
          <p:sp>
            <p:nvSpPr>
              <p:cNvPr id="97" name="Freeform 97"/>
              <p:cNvSpPr/>
              <p:nvPr/>
            </p:nvSpPr>
            <p:spPr>
              <a:xfrm>
                <a:off x="8943975" y="24669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A8351D"/>
                </a:solidFill>
              </a:ln>
            </p:spPr>
          </p:sp>
          <p:sp>
            <p:nvSpPr>
              <p:cNvPr id="98" name="Freeform 98"/>
              <p:cNvSpPr/>
              <p:nvPr/>
            </p:nvSpPr>
            <p:spPr>
              <a:xfrm>
                <a:off x="9001125" y="2533650"/>
                <a:ext cx="57150" cy="38100"/>
              </a:xfrm>
              <a:custGeom>
                <a:avLst/>
                <a:gdLst/>
                <a:ahLst/>
                <a:cxnLst/>
                <a:rect l="l" t="t" r="r" b="b"/>
                <a:pathLst>
                  <a:path w="57150" h="38100">
                    <a:moveTo>
                      <a:pt x="0" y="19050"/>
                    </a:moveTo>
                    <a:lnTo>
                      <a:pt x="19050" y="38100"/>
                    </a:lnTo>
                    <a:lnTo>
                      <a:pt x="57150" y="0"/>
                    </a:lnTo>
                  </a:path>
                </a:pathLst>
              </a:custGeom>
              <a:noFill/>
              <a:ln w="19050">
                <a:solidFill>
                  <a:srgbClr val="A8351D"/>
                </a:solidFill>
              </a:ln>
            </p:spPr>
          </p:sp>
        </p:grpSp>
        <p:sp>
          <p:nvSpPr>
            <p:cNvPr id="100" name="TextBox 100"/>
            <p:cNvSpPr txBox="1"/>
            <p:nvPr/>
          </p:nvSpPr>
          <p:spPr>
            <a:xfrm>
              <a:off x="9291447" y="2495074"/>
              <a:ext cx="537616" cy="190690"/>
            </a:xfrm>
            <a:prstGeom prst="rect">
              <a:avLst/>
            </a:prstGeom>
            <a:noFill/>
            <a:ln>
              <a:noFill/>
            </a:ln>
          </p:spPr>
          <p:txBody>
            <a:bodyPr wrap="none" lIns="0" tIns="0" rIns="0" bIns="0" anchor="t" anchorCtr="0">
              <a:spAutoFit/>
            </a:bodyPr>
            <a:lstStyle/>
            <a:p>
              <a:pPr algn="l"/>
              <a:r>
                <a:rPr lang="zh-CN" sz="980" b="1" dirty="0">
                  <a:solidFill>
                    <a:srgbClr val="67281B"/>
                  </a:solidFill>
                  <a:latin typeface="+mn-lt"/>
                  <a:ea typeface="+mn-ea"/>
                  <a:cs typeface="+mn-cs"/>
                </a:rPr>
                <a:t>问题闭环</a:t>
              </a:r>
            </a:p>
          </p:txBody>
        </p:sp>
      </p:grpSp>
      <p:grpSp>
        <p:nvGrpSpPr>
          <p:cNvPr id="118" name="milestones"/>
          <p:cNvGrpSpPr/>
          <p:nvPr/>
        </p:nvGrpSpPr>
        <p:grpSpPr>
          <a:xfrm>
            <a:off x="381000" y="2952750"/>
            <a:ext cx="4953000" cy="1219200"/>
            <a:chOff x="381000" y="2952750"/>
            <a:chExt cx="4953000" cy="1219200"/>
          </a:xfrm>
        </p:grpSpPr>
        <p:sp>
          <p:nvSpPr>
            <p:cNvPr id="102" name="Rectangle 102"/>
            <p:cNvSpPr/>
            <p:nvPr/>
          </p:nvSpPr>
          <p:spPr>
            <a:xfrm>
              <a:off x="381000" y="2952750"/>
              <a:ext cx="4953000" cy="1219200"/>
            </a:xfrm>
            <a:prstGeom prst="roundRect">
              <a:avLst>
                <a:gd name="adj" fmla="val 7812"/>
              </a:avLst>
            </a:prstGeom>
            <a:solidFill>
              <a:srgbClr val="F9FBFE"/>
            </a:solidFill>
            <a:ln w="9525">
              <a:solidFill>
                <a:srgbClr val="C9D8EF"/>
              </a:solidFill>
            </a:ln>
          </p:spPr>
        </p:sp>
        <p:sp>
          <p:nvSpPr>
            <p:cNvPr id="103" name="Rectangle 103"/>
            <p:cNvSpPr/>
            <p:nvPr/>
          </p:nvSpPr>
          <p:spPr>
            <a:xfrm>
              <a:off x="1905000" y="2952750"/>
              <a:ext cx="1905000" cy="266700"/>
            </a:xfrm>
            <a:prstGeom prst="roundRect">
              <a:avLst>
                <a:gd name="adj" fmla="val 14286"/>
              </a:avLst>
            </a:prstGeom>
            <a:gradFill>
              <a:gsLst>
                <a:gs pos="0">
                  <a:srgbClr val="AD3921"/>
                </a:gs>
                <a:gs pos="100000">
                  <a:srgbClr val="962C16"/>
                </a:gs>
              </a:gsLst>
              <a:lin ang="5400000" scaled="1"/>
            </a:gradFill>
            <a:ln>
              <a:noFill/>
            </a:ln>
          </p:spPr>
        </p:sp>
        <p:sp>
          <p:nvSpPr>
            <p:cNvPr id="104" name="TextBox 104"/>
            <p:cNvSpPr txBox="1"/>
            <p:nvPr/>
          </p:nvSpPr>
          <p:spPr>
            <a:xfrm>
              <a:off x="2522728" y="3028474"/>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年度里程碑</a:t>
              </a:r>
            </a:p>
          </p:txBody>
        </p:sp>
        <p:sp>
          <p:nvSpPr>
            <p:cNvPr id="105" name="Line 105"/>
            <p:cNvSpPr/>
            <p:nvPr/>
          </p:nvSpPr>
          <p:spPr>
            <a:xfrm>
              <a:off x="571500" y="3695700"/>
              <a:ext cx="4572000" cy="9525"/>
            </a:xfrm>
            <a:custGeom>
              <a:avLst/>
              <a:gdLst/>
              <a:ahLst/>
              <a:cxnLst/>
              <a:rect l="l" t="t" r="r" b="b"/>
              <a:pathLst>
                <a:path w="4572000" h="9525">
                  <a:moveTo>
                    <a:pt x="0" y="0"/>
                  </a:moveTo>
                  <a:lnTo>
                    <a:pt x="4572000" y="0"/>
                  </a:lnTo>
                </a:path>
              </a:pathLst>
            </a:custGeom>
            <a:noFill/>
            <a:ln w="19050">
              <a:solidFill>
                <a:srgbClr val="C9D8EF"/>
              </a:solidFill>
            </a:ln>
          </p:spPr>
        </p:sp>
        <p:sp>
          <p:nvSpPr>
            <p:cNvPr id="106" name="Ellipse 106"/>
            <p:cNvSpPr/>
            <p:nvPr/>
          </p:nvSpPr>
          <p:spPr>
            <a:xfrm>
              <a:off x="1181100" y="3543300"/>
              <a:ext cx="304800" cy="304800"/>
            </a:xfrm>
            <a:prstGeom prst="ellipse">
              <a:avLst/>
            </a:prstGeom>
            <a:solidFill>
              <a:srgbClr val="A8351D"/>
            </a:solidFill>
            <a:ln>
              <a:noFill/>
            </a:ln>
          </p:spPr>
        </p:sp>
        <p:grpSp>
          <p:nvGrpSpPr>
            <p:cNvPr id="109" name="Group 109"/>
            <p:cNvGrpSpPr/>
            <p:nvPr/>
          </p:nvGrpSpPr>
          <p:grpSpPr>
            <a:xfrm>
              <a:off x="1283494" y="3632080"/>
              <a:ext cx="100012" cy="127914"/>
              <a:chOff x="1283494" y="3632080"/>
              <a:chExt cx="100012" cy="127914"/>
            </a:xfrm>
          </p:grpSpPr>
          <p:sp>
            <p:nvSpPr>
              <p:cNvPr id="107" name="Freeform 107"/>
              <p:cNvSpPr/>
              <p:nvPr/>
            </p:nvSpPr>
            <p:spPr>
              <a:xfrm>
                <a:off x="1283494" y="3632080"/>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4288">
                <a:solidFill>
                  <a:srgbClr val="FFFFFF"/>
                </a:solidFill>
              </a:ln>
            </p:spPr>
          </p:sp>
          <p:sp>
            <p:nvSpPr>
              <p:cNvPr id="108" name="Freeform 108"/>
              <p:cNvSpPr/>
              <p:nvPr/>
            </p:nvSpPr>
            <p:spPr>
              <a:xfrm>
                <a:off x="1283494" y="3709988"/>
                <a:ext cx="9525" cy="50006"/>
              </a:xfrm>
              <a:custGeom>
                <a:avLst/>
                <a:gdLst/>
                <a:ahLst/>
                <a:cxnLst/>
                <a:rect l="l" t="t" r="r" b="b"/>
                <a:pathLst>
                  <a:path w="9525" h="50006">
                    <a:moveTo>
                      <a:pt x="0" y="50006"/>
                    </a:moveTo>
                    <a:lnTo>
                      <a:pt x="0" y="0"/>
                    </a:lnTo>
                  </a:path>
                </a:pathLst>
              </a:custGeom>
              <a:noFill/>
              <a:ln w="14288">
                <a:solidFill>
                  <a:srgbClr val="FFFFFF"/>
                </a:solidFill>
              </a:ln>
            </p:spPr>
          </p:sp>
        </p:grpSp>
        <p:sp>
          <p:nvSpPr>
            <p:cNvPr id="110" name="TextBox 110"/>
            <p:cNvSpPr txBox="1"/>
            <p:nvPr/>
          </p:nvSpPr>
          <p:spPr>
            <a:xfrm>
              <a:off x="799731" y="3331845"/>
              <a:ext cx="1067537" cy="176212"/>
            </a:xfrm>
            <a:prstGeom prst="rect">
              <a:avLst/>
            </a:prstGeom>
            <a:noFill/>
            <a:ln>
              <a:noFill/>
            </a:ln>
          </p:spPr>
          <p:txBody>
            <a:bodyPr wrap="none" lIns="0" tIns="0" rIns="0" bIns="0" anchor="t" anchorCtr="0">
              <a:spAutoFit/>
            </a:bodyPr>
            <a:lstStyle/>
            <a:p>
              <a:pPr algn="ctr"/>
              <a:r>
                <a:rPr lang="zh-CN" sz="900" b="1" dirty="0">
                  <a:solidFill>
                    <a:srgbClr val="67281B"/>
                  </a:solidFill>
                  <a:latin typeface="+mn-lt"/>
                  <a:ea typeface="+mn-ea"/>
                  <a:cs typeface="+mn-cs"/>
                </a:rPr>
                <a:t>6个月｜系统一期​​</a:t>
              </a:r>
            </a:p>
          </p:txBody>
        </p:sp>
        <p:sp>
          <p:nvSpPr>
            <p:cNvPr id="111" name="TextBox 111"/>
            <p:cNvSpPr txBox="1"/>
            <p:nvPr/>
          </p:nvSpPr>
          <p:spPr>
            <a:xfrm>
              <a:off x="852488" y="3862388"/>
              <a:ext cx="962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A443F"/>
                  </a:solidFill>
                  <a:latin typeface="+mn-lt"/>
                  <a:ea typeface="+mn-ea"/>
                  <a:cs typeface="+mn-cs"/>
                </a:rPr>
                <a:t>客户图谱、商机引擎、</a:t>
              </a:r>
              <a:br/>
              <a:r>
                <a:rPr lang="zh-CN" sz="750" dirty="0">
                  <a:solidFill>
                    <a:srgbClr val="5A443F"/>
                  </a:solidFill>
                  <a:latin typeface="+mn-lt"/>
                  <a:ea typeface="+mn-ea"/>
                  <a:cs typeface="+mn-cs"/>
                </a:rPr>
                <a:t>任务中心、经营看板</a:t>
              </a:r>
            </a:p>
          </p:txBody>
        </p:sp>
        <p:sp>
          <p:nvSpPr>
            <p:cNvPr id="112" name="Ellipse 112"/>
            <p:cNvSpPr/>
            <p:nvPr/>
          </p:nvSpPr>
          <p:spPr>
            <a:xfrm>
              <a:off x="3562350" y="3543300"/>
              <a:ext cx="304800" cy="304800"/>
            </a:xfrm>
            <a:prstGeom prst="ellipse">
              <a:avLst/>
            </a:prstGeom>
            <a:solidFill>
              <a:srgbClr val="C9462F"/>
            </a:solidFill>
            <a:ln>
              <a:noFill/>
            </a:ln>
          </p:spPr>
        </p:sp>
        <p:grpSp>
          <p:nvGrpSpPr>
            <p:cNvPr id="115" name="Group 115"/>
            <p:cNvGrpSpPr/>
            <p:nvPr/>
          </p:nvGrpSpPr>
          <p:grpSpPr>
            <a:xfrm>
              <a:off x="3664744" y="3632080"/>
              <a:ext cx="100012" cy="127914"/>
              <a:chOff x="3664744" y="3632080"/>
              <a:chExt cx="100012" cy="127914"/>
            </a:xfrm>
          </p:grpSpPr>
          <p:sp>
            <p:nvSpPr>
              <p:cNvPr id="113" name="Freeform 113"/>
              <p:cNvSpPr/>
              <p:nvPr/>
            </p:nvSpPr>
            <p:spPr>
              <a:xfrm>
                <a:off x="3664744" y="3632080"/>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4288">
                <a:solidFill>
                  <a:srgbClr val="FFFFFF"/>
                </a:solidFill>
              </a:ln>
            </p:spPr>
          </p:sp>
          <p:sp>
            <p:nvSpPr>
              <p:cNvPr id="114" name="Freeform 114"/>
              <p:cNvSpPr/>
              <p:nvPr/>
            </p:nvSpPr>
            <p:spPr>
              <a:xfrm>
                <a:off x="3664744" y="3709988"/>
                <a:ext cx="9525" cy="50006"/>
              </a:xfrm>
              <a:custGeom>
                <a:avLst/>
                <a:gdLst/>
                <a:ahLst/>
                <a:cxnLst/>
                <a:rect l="l" t="t" r="r" b="b"/>
                <a:pathLst>
                  <a:path w="9525" h="50006">
                    <a:moveTo>
                      <a:pt x="0" y="50006"/>
                    </a:moveTo>
                    <a:lnTo>
                      <a:pt x="0" y="0"/>
                    </a:lnTo>
                  </a:path>
                </a:pathLst>
              </a:custGeom>
              <a:noFill/>
              <a:ln w="14288">
                <a:solidFill>
                  <a:srgbClr val="FFFFFF"/>
                </a:solidFill>
              </a:ln>
            </p:spPr>
          </p:sp>
        </p:grpSp>
        <p:sp>
          <p:nvSpPr>
            <p:cNvPr id="116" name="TextBox 116"/>
            <p:cNvSpPr txBox="1"/>
            <p:nvPr/>
          </p:nvSpPr>
          <p:spPr>
            <a:xfrm>
              <a:off x="3024839" y="3331845"/>
              <a:ext cx="1379822" cy="176212"/>
            </a:xfrm>
            <a:prstGeom prst="rect">
              <a:avLst/>
            </a:prstGeom>
            <a:noFill/>
            <a:ln>
              <a:noFill/>
            </a:ln>
          </p:spPr>
          <p:txBody>
            <a:bodyPr wrap="none" lIns="0" tIns="0" rIns="0" bIns="0" anchor="t" anchorCtr="0">
              <a:spAutoFit/>
            </a:bodyPr>
            <a:lstStyle/>
            <a:p>
              <a:pPr algn="ctr"/>
              <a:r>
                <a:rPr lang="zh-CN" sz="900" b="1" dirty="0">
                  <a:solidFill>
                    <a:srgbClr val="B0351F"/>
                  </a:solidFill>
                  <a:latin typeface="+mn-lt"/>
                  <a:ea typeface="+mn-ea"/>
                  <a:cs typeface="+mn-cs"/>
                </a:rPr>
                <a:t>12个月｜全国推广模板​​</a:t>
              </a:r>
            </a:p>
          </p:txBody>
        </p:sp>
        <p:sp>
          <p:nvSpPr>
            <p:cNvPr id="117" name="TextBox 117"/>
            <p:cNvSpPr txBox="1"/>
            <p:nvPr/>
          </p:nvSpPr>
          <p:spPr>
            <a:xfrm>
              <a:off x="3328988" y="3862388"/>
              <a:ext cx="771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A443F"/>
                  </a:solidFill>
                  <a:latin typeface="+mn-lt"/>
                  <a:ea typeface="+mn-ea"/>
                  <a:cs typeface="+mn-cs"/>
                </a:rPr>
                <a:t>制度包、战役包、</a:t>
              </a:r>
              <a:br/>
              <a:r>
                <a:rPr lang="zh-CN" sz="750" dirty="0">
                  <a:solidFill>
                    <a:srgbClr val="5A443F"/>
                  </a:solidFill>
                  <a:latin typeface="+mn-lt"/>
                  <a:ea typeface="+mn-ea"/>
                  <a:cs typeface="+mn-cs"/>
                </a:rPr>
                <a:t>指标包、培训包</a:t>
              </a:r>
            </a:p>
          </p:txBody>
        </p:sp>
      </p:grpSp>
      <p:grpSp>
        <p:nvGrpSpPr>
          <p:cNvPr id="160" name="replication"/>
          <p:cNvGrpSpPr/>
          <p:nvPr/>
        </p:nvGrpSpPr>
        <p:grpSpPr>
          <a:xfrm>
            <a:off x="5448300" y="2952750"/>
            <a:ext cx="6362700" cy="1225630"/>
            <a:chOff x="5448300" y="2952750"/>
            <a:chExt cx="6362700" cy="1225630"/>
          </a:xfrm>
        </p:grpSpPr>
        <p:sp>
          <p:nvSpPr>
            <p:cNvPr id="119" name="Rectangle 119"/>
            <p:cNvSpPr/>
            <p:nvPr/>
          </p:nvSpPr>
          <p:spPr>
            <a:xfrm>
              <a:off x="5448300" y="2952750"/>
              <a:ext cx="6362700" cy="1219200"/>
            </a:xfrm>
            <a:prstGeom prst="roundRect">
              <a:avLst>
                <a:gd name="adj" fmla="val 7812"/>
              </a:avLst>
            </a:prstGeom>
            <a:solidFill>
              <a:srgbClr val="F9FBFE"/>
            </a:solidFill>
            <a:ln w="9525">
              <a:solidFill>
                <a:srgbClr val="C9D8EF"/>
              </a:solidFill>
            </a:ln>
          </p:spPr>
        </p:sp>
        <p:sp>
          <p:nvSpPr>
            <p:cNvPr id="120" name="Rectangle 120"/>
            <p:cNvSpPr/>
            <p:nvPr/>
          </p:nvSpPr>
          <p:spPr>
            <a:xfrm>
              <a:off x="7677150" y="2952750"/>
              <a:ext cx="1905000" cy="266700"/>
            </a:xfrm>
            <a:prstGeom prst="roundRect">
              <a:avLst>
                <a:gd name="adj" fmla="val 14286"/>
              </a:avLst>
            </a:prstGeom>
            <a:gradFill>
              <a:gsLst>
                <a:gs pos="0">
                  <a:srgbClr val="AD3921"/>
                </a:gs>
                <a:gs pos="100000">
                  <a:srgbClr val="962C16"/>
                </a:gs>
              </a:gsLst>
              <a:lin ang="5400000" scaled="1"/>
            </a:gradFill>
            <a:ln>
              <a:noFill/>
            </a:ln>
          </p:spPr>
        </p:sp>
        <p:sp>
          <p:nvSpPr>
            <p:cNvPr id="121" name="TextBox 121"/>
            <p:cNvSpPr txBox="1"/>
            <p:nvPr/>
          </p:nvSpPr>
          <p:spPr>
            <a:xfrm>
              <a:off x="8228914" y="302847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推广复制机制</a:t>
              </a:r>
            </a:p>
          </p:txBody>
        </p:sp>
        <p:sp>
          <p:nvSpPr>
            <p:cNvPr id="122" name="Ellipse 122"/>
            <p:cNvSpPr/>
            <p:nvPr/>
          </p:nvSpPr>
          <p:spPr>
            <a:xfrm>
              <a:off x="5867400" y="3371850"/>
              <a:ext cx="457200" cy="457200"/>
            </a:xfrm>
            <a:prstGeom prst="ellipse">
              <a:avLst/>
            </a:prstGeom>
            <a:solidFill>
              <a:srgbClr val="FFFFFF"/>
            </a:solidFill>
            <a:ln w="19050">
              <a:solidFill>
                <a:srgbClr val="A8351D"/>
              </a:solidFill>
            </a:ln>
          </p:spPr>
        </p:sp>
        <p:sp>
          <p:nvSpPr>
            <p:cNvPr id="123" name="Freeform 123"/>
            <p:cNvSpPr/>
            <p:nvPr/>
          </p:nvSpPr>
          <p:spPr>
            <a:xfrm>
              <a:off x="6003131" y="3507581"/>
              <a:ext cx="185737" cy="185737"/>
            </a:xfrm>
            <a:custGeom>
              <a:avLst/>
              <a:gdLst/>
              <a:ahLst/>
              <a:cxnLst/>
              <a:rect l="l" t="t" r="r" b="b"/>
              <a:pathLst>
                <a:path w="185737" h="185737">
                  <a:moveTo>
                    <a:pt x="10319" y="41275"/>
                  </a:moveTo>
                  <a:lnTo>
                    <a:pt x="41275" y="41275"/>
                  </a:lnTo>
                  <a:cubicBezTo>
                    <a:pt x="46974" y="41275"/>
                    <a:pt x="51594" y="36655"/>
                    <a:pt x="51594" y="30956"/>
                  </a:cubicBezTo>
                  <a:lnTo>
                    <a:pt x="51594" y="20637"/>
                  </a:lnTo>
                  <a:cubicBezTo>
                    <a:pt x="51594" y="9240"/>
                    <a:pt x="60833" y="0"/>
                    <a:pt x="72231" y="0"/>
                  </a:cubicBezTo>
                  <a:cubicBezTo>
                    <a:pt x="83629" y="0"/>
                    <a:pt x="92868" y="9240"/>
                    <a:pt x="92868" y="20637"/>
                  </a:cubicBezTo>
                  <a:lnTo>
                    <a:pt x="92868" y="30956"/>
                  </a:lnTo>
                  <a:cubicBezTo>
                    <a:pt x="92868" y="36655"/>
                    <a:pt x="97488" y="41275"/>
                    <a:pt x="103187" y="41275"/>
                  </a:cubicBezTo>
                  <a:lnTo>
                    <a:pt x="134143" y="41275"/>
                  </a:lnTo>
                  <a:cubicBezTo>
                    <a:pt x="139842" y="41275"/>
                    <a:pt x="144462" y="45895"/>
                    <a:pt x="144462" y="51594"/>
                  </a:cubicBezTo>
                  <a:lnTo>
                    <a:pt x="144462" y="82550"/>
                  </a:lnTo>
                  <a:cubicBezTo>
                    <a:pt x="144462" y="88249"/>
                    <a:pt x="149082" y="92868"/>
                    <a:pt x="154781" y="92868"/>
                  </a:cubicBezTo>
                  <a:lnTo>
                    <a:pt x="165099" y="92868"/>
                  </a:lnTo>
                  <a:cubicBezTo>
                    <a:pt x="176497" y="92868"/>
                    <a:pt x="185737" y="102108"/>
                    <a:pt x="185737" y="113506"/>
                  </a:cubicBezTo>
                  <a:cubicBezTo>
                    <a:pt x="185737" y="124904"/>
                    <a:pt x="176497" y="134143"/>
                    <a:pt x="165099" y="134143"/>
                  </a:cubicBezTo>
                  <a:lnTo>
                    <a:pt x="154781" y="134143"/>
                  </a:lnTo>
                  <a:cubicBezTo>
                    <a:pt x="149082" y="134143"/>
                    <a:pt x="144462" y="138763"/>
                    <a:pt x="144462" y="144462"/>
                  </a:cubicBezTo>
                  <a:lnTo>
                    <a:pt x="144462" y="175418"/>
                  </a:lnTo>
                  <a:cubicBezTo>
                    <a:pt x="144462" y="181117"/>
                    <a:pt x="139842" y="185737"/>
                    <a:pt x="134143" y="185737"/>
                  </a:cubicBezTo>
                  <a:lnTo>
                    <a:pt x="103187" y="185737"/>
                  </a:lnTo>
                  <a:cubicBezTo>
                    <a:pt x="97488" y="185737"/>
                    <a:pt x="92868" y="181117"/>
                    <a:pt x="92868" y="175418"/>
                  </a:cubicBezTo>
                  <a:lnTo>
                    <a:pt x="92868" y="165099"/>
                  </a:lnTo>
                  <a:cubicBezTo>
                    <a:pt x="92868" y="153702"/>
                    <a:pt x="83629" y="144462"/>
                    <a:pt x="72231" y="144462"/>
                  </a:cubicBezTo>
                  <a:cubicBezTo>
                    <a:pt x="60833" y="144462"/>
                    <a:pt x="51594" y="153702"/>
                    <a:pt x="51594" y="165099"/>
                  </a:cubicBezTo>
                  <a:lnTo>
                    <a:pt x="51594" y="175418"/>
                  </a:lnTo>
                  <a:cubicBezTo>
                    <a:pt x="51594" y="181117"/>
                    <a:pt x="46974" y="185737"/>
                    <a:pt x="41275" y="185737"/>
                  </a:cubicBezTo>
                  <a:lnTo>
                    <a:pt x="10319" y="185737"/>
                  </a:lnTo>
                  <a:cubicBezTo>
                    <a:pt x="4620" y="185737"/>
                    <a:pt x="0" y="181117"/>
                    <a:pt x="0" y="175418"/>
                  </a:cubicBezTo>
                  <a:lnTo>
                    <a:pt x="0" y="144462"/>
                  </a:lnTo>
                  <a:cubicBezTo>
                    <a:pt x="0" y="138763"/>
                    <a:pt x="4620" y="134143"/>
                    <a:pt x="10319" y="134143"/>
                  </a:cubicBezTo>
                  <a:lnTo>
                    <a:pt x="20637" y="134143"/>
                  </a:lnTo>
                  <a:cubicBezTo>
                    <a:pt x="32035" y="134143"/>
                    <a:pt x="41275" y="124904"/>
                    <a:pt x="41275" y="113506"/>
                  </a:cubicBezTo>
                  <a:cubicBezTo>
                    <a:pt x="41275" y="102108"/>
                    <a:pt x="32035" y="92868"/>
                    <a:pt x="20637" y="92868"/>
                  </a:cubicBezTo>
                  <a:lnTo>
                    <a:pt x="10319" y="92868"/>
                  </a:lnTo>
                  <a:cubicBezTo>
                    <a:pt x="4620" y="92868"/>
                    <a:pt x="0" y="88249"/>
                    <a:pt x="0" y="82550"/>
                  </a:cubicBezTo>
                  <a:lnTo>
                    <a:pt x="0" y="51594"/>
                  </a:lnTo>
                  <a:cubicBezTo>
                    <a:pt x="0" y="45895"/>
                    <a:pt x="4620" y="41275"/>
                    <a:pt x="10319" y="41275"/>
                  </a:cubicBezTo>
                </a:path>
              </a:pathLst>
            </a:custGeom>
            <a:noFill/>
            <a:ln w="20637">
              <a:solidFill>
                <a:srgbClr val="A8351D"/>
              </a:solidFill>
            </a:ln>
          </p:spPr>
        </p:sp>
        <p:sp>
          <p:nvSpPr>
            <p:cNvPr id="124" name="Ellipse 124"/>
            <p:cNvSpPr/>
            <p:nvPr/>
          </p:nvSpPr>
          <p:spPr>
            <a:xfrm>
              <a:off x="5819775" y="3324225"/>
              <a:ext cx="171450" cy="171450"/>
            </a:xfrm>
            <a:prstGeom prst="ellipse">
              <a:avLst/>
            </a:prstGeom>
            <a:solidFill>
              <a:srgbClr val="C9462F"/>
            </a:solidFill>
            <a:ln>
              <a:noFill/>
            </a:ln>
          </p:spPr>
        </p:sp>
        <p:sp>
          <p:nvSpPr>
            <p:cNvPr id="125" name="TextBox 125"/>
            <p:cNvSpPr txBox="1"/>
            <p:nvPr/>
          </p:nvSpPr>
          <p:spPr>
            <a:xfrm>
              <a:off x="5801226" y="3369707"/>
              <a:ext cx="208547"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01​​</a:t>
              </a:r>
            </a:p>
          </p:txBody>
        </p:sp>
        <p:sp>
          <p:nvSpPr>
            <p:cNvPr id="126" name="TextBox 126"/>
            <p:cNvSpPr txBox="1"/>
            <p:nvPr/>
          </p:nvSpPr>
          <p:spPr>
            <a:xfrm>
              <a:off x="5859691" y="3888343"/>
              <a:ext cx="472618"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试点沙盒</a:t>
              </a:r>
            </a:p>
          </p:txBody>
        </p:sp>
        <p:sp>
          <p:nvSpPr>
            <p:cNvPr id="127" name="TextBox 127"/>
            <p:cNvSpPr txBox="1"/>
            <p:nvPr/>
          </p:nvSpPr>
          <p:spPr>
            <a:xfrm>
              <a:off x="5852287" y="4037886"/>
              <a:ext cx="487426"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小范围试错</a:t>
              </a:r>
            </a:p>
          </p:txBody>
        </p:sp>
        <p:sp>
          <p:nvSpPr>
            <p:cNvPr id="128" name="Line 128"/>
            <p:cNvSpPr/>
            <p:nvPr/>
          </p:nvSpPr>
          <p:spPr>
            <a:xfrm>
              <a:off x="6400800" y="3600450"/>
              <a:ext cx="742950" cy="1"/>
            </a:xfrm>
            <a:prstGeom prst="line">
              <a:avLst/>
            </a:prstGeom>
            <a:noFill/>
            <a:ln w="19050">
              <a:solidFill>
                <a:srgbClr val="D64A2E"/>
              </a:solidFill>
              <a:tailEnd type="triangle" w="lg" len="lg"/>
            </a:ln>
          </p:spPr>
        </p:sp>
        <p:sp>
          <p:nvSpPr>
            <p:cNvPr id="129" name="Ellipse 129"/>
            <p:cNvSpPr/>
            <p:nvPr/>
          </p:nvSpPr>
          <p:spPr>
            <a:xfrm>
              <a:off x="7296150" y="3371850"/>
              <a:ext cx="457200" cy="457200"/>
            </a:xfrm>
            <a:prstGeom prst="ellipse">
              <a:avLst/>
            </a:prstGeom>
            <a:solidFill>
              <a:srgbClr val="FFFFFF"/>
            </a:solidFill>
            <a:ln w="19050">
              <a:solidFill>
                <a:srgbClr val="A8351D"/>
              </a:solidFill>
            </a:ln>
          </p:spPr>
        </p:sp>
        <p:grpSp>
          <p:nvGrpSpPr>
            <p:cNvPr id="134" name="Group 134"/>
            <p:cNvGrpSpPr/>
            <p:nvPr/>
          </p:nvGrpSpPr>
          <p:grpSpPr>
            <a:xfrm>
              <a:off x="7431881" y="3517900"/>
              <a:ext cx="185737" cy="174624"/>
              <a:chOff x="7431881" y="3517900"/>
              <a:chExt cx="185737" cy="174624"/>
            </a:xfrm>
          </p:grpSpPr>
          <p:sp>
            <p:nvSpPr>
              <p:cNvPr id="130" name="Freeform 130"/>
              <p:cNvSpPr/>
              <p:nvPr/>
            </p:nvSpPr>
            <p:spPr>
              <a:xfrm>
                <a:off x="7431881" y="360045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A8351D"/>
                </a:solidFill>
              </a:ln>
            </p:spPr>
          </p:sp>
          <p:sp>
            <p:nvSpPr>
              <p:cNvPr id="131" name="Freeform 131"/>
              <p:cNvSpPr/>
              <p:nvPr/>
            </p:nvSpPr>
            <p:spPr>
              <a:xfrm>
                <a:off x="7555706" y="355917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A8351D"/>
                </a:solidFill>
              </a:ln>
            </p:spPr>
          </p:sp>
          <p:sp>
            <p:nvSpPr>
              <p:cNvPr id="132" name="Freeform 132"/>
              <p:cNvSpPr/>
              <p:nvPr/>
            </p:nvSpPr>
            <p:spPr>
              <a:xfrm>
                <a:off x="7493793" y="351790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A8351D"/>
                </a:solidFill>
              </a:ln>
            </p:spPr>
          </p:sp>
          <p:sp>
            <p:nvSpPr>
              <p:cNvPr id="133" name="Freeform 133"/>
              <p:cNvSpPr/>
              <p:nvPr/>
            </p:nvSpPr>
            <p:spPr>
              <a:xfrm>
                <a:off x="7442200" y="3682999"/>
                <a:ext cx="144462" cy="9525"/>
              </a:xfrm>
              <a:custGeom>
                <a:avLst/>
                <a:gdLst/>
                <a:ahLst/>
                <a:cxnLst/>
                <a:rect l="l" t="t" r="r" b="b"/>
                <a:pathLst>
                  <a:path w="144462" h="9525">
                    <a:moveTo>
                      <a:pt x="0" y="0"/>
                    </a:moveTo>
                    <a:lnTo>
                      <a:pt x="144462" y="0"/>
                    </a:lnTo>
                  </a:path>
                </a:pathLst>
              </a:custGeom>
              <a:noFill/>
              <a:ln w="20637">
                <a:solidFill>
                  <a:srgbClr val="A8351D"/>
                </a:solidFill>
              </a:ln>
            </p:spPr>
          </p:sp>
        </p:grpSp>
        <p:sp>
          <p:nvSpPr>
            <p:cNvPr id="135" name="Ellipse 135"/>
            <p:cNvSpPr/>
            <p:nvPr/>
          </p:nvSpPr>
          <p:spPr>
            <a:xfrm>
              <a:off x="7248525" y="3324225"/>
              <a:ext cx="171450" cy="171450"/>
            </a:xfrm>
            <a:prstGeom prst="ellipse">
              <a:avLst/>
            </a:prstGeom>
            <a:solidFill>
              <a:srgbClr val="C9462F"/>
            </a:solidFill>
            <a:ln>
              <a:noFill/>
            </a:ln>
          </p:spPr>
        </p:sp>
        <p:sp>
          <p:nvSpPr>
            <p:cNvPr id="136" name="TextBox 136"/>
            <p:cNvSpPr txBox="1"/>
            <p:nvPr/>
          </p:nvSpPr>
          <p:spPr>
            <a:xfrm>
              <a:off x="7229976" y="3369707"/>
              <a:ext cx="208547"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02​​</a:t>
              </a:r>
            </a:p>
          </p:txBody>
        </p:sp>
        <p:sp>
          <p:nvSpPr>
            <p:cNvPr id="137" name="TextBox 137"/>
            <p:cNvSpPr txBox="1"/>
            <p:nvPr/>
          </p:nvSpPr>
          <p:spPr>
            <a:xfrm>
              <a:off x="7288441" y="3888343"/>
              <a:ext cx="472618"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效果验证</a:t>
              </a:r>
            </a:p>
          </p:txBody>
        </p:sp>
        <p:sp>
          <p:nvSpPr>
            <p:cNvPr id="138" name="TextBox 138"/>
            <p:cNvSpPr txBox="1"/>
            <p:nvPr/>
          </p:nvSpPr>
          <p:spPr>
            <a:xfrm>
              <a:off x="7328827" y="4037886"/>
              <a:ext cx="391846"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数据评估</a:t>
              </a:r>
            </a:p>
          </p:txBody>
        </p:sp>
        <p:sp>
          <p:nvSpPr>
            <p:cNvPr id="139" name="Line 139"/>
            <p:cNvSpPr/>
            <p:nvPr/>
          </p:nvSpPr>
          <p:spPr>
            <a:xfrm>
              <a:off x="7829550" y="3600450"/>
              <a:ext cx="742950" cy="1"/>
            </a:xfrm>
            <a:prstGeom prst="line">
              <a:avLst/>
            </a:prstGeom>
            <a:noFill/>
            <a:ln w="19050">
              <a:solidFill>
                <a:srgbClr val="D64A2E"/>
              </a:solidFill>
              <a:tailEnd type="triangle" w="lg" len="lg"/>
            </a:ln>
          </p:spPr>
        </p:sp>
        <p:sp>
          <p:nvSpPr>
            <p:cNvPr id="140" name="Ellipse 140"/>
            <p:cNvSpPr/>
            <p:nvPr/>
          </p:nvSpPr>
          <p:spPr>
            <a:xfrm>
              <a:off x="8724900" y="3371850"/>
              <a:ext cx="457200" cy="457200"/>
            </a:xfrm>
            <a:prstGeom prst="ellipse">
              <a:avLst/>
            </a:prstGeom>
            <a:solidFill>
              <a:srgbClr val="FFFFFF"/>
            </a:solidFill>
            <a:ln w="19050">
              <a:solidFill>
                <a:srgbClr val="A8351D"/>
              </a:solidFill>
            </a:ln>
          </p:spPr>
        </p:sp>
        <p:grpSp>
          <p:nvGrpSpPr>
            <p:cNvPr id="143" name="Group 143"/>
            <p:cNvGrpSpPr/>
            <p:nvPr/>
          </p:nvGrpSpPr>
          <p:grpSpPr>
            <a:xfrm>
              <a:off x="8870950" y="3513919"/>
              <a:ext cx="165099" cy="173061"/>
              <a:chOff x="8870950" y="3513919"/>
              <a:chExt cx="165099" cy="173061"/>
            </a:xfrm>
          </p:grpSpPr>
          <p:sp>
            <p:nvSpPr>
              <p:cNvPr id="141" name="Freeform 141"/>
              <p:cNvSpPr/>
              <p:nvPr/>
            </p:nvSpPr>
            <p:spPr>
              <a:xfrm>
                <a:off x="8870950" y="3513919"/>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A8351D"/>
                </a:solidFill>
              </a:ln>
            </p:spPr>
          </p:sp>
          <p:sp>
            <p:nvSpPr>
              <p:cNvPr id="142" name="Freeform 142"/>
              <p:cNvSpPr/>
              <p:nvPr/>
            </p:nvSpPr>
            <p:spPr>
              <a:xfrm>
                <a:off x="8870950" y="3610768"/>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A8351D"/>
                </a:solidFill>
              </a:ln>
            </p:spPr>
          </p:sp>
        </p:grpSp>
        <p:sp>
          <p:nvSpPr>
            <p:cNvPr id="144" name="Ellipse 144"/>
            <p:cNvSpPr/>
            <p:nvPr/>
          </p:nvSpPr>
          <p:spPr>
            <a:xfrm>
              <a:off x="8677275" y="3324225"/>
              <a:ext cx="171450" cy="171450"/>
            </a:xfrm>
            <a:prstGeom prst="ellipse">
              <a:avLst/>
            </a:prstGeom>
            <a:solidFill>
              <a:srgbClr val="C9462F"/>
            </a:solidFill>
            <a:ln>
              <a:noFill/>
            </a:ln>
          </p:spPr>
        </p:sp>
        <p:sp>
          <p:nvSpPr>
            <p:cNvPr id="145" name="TextBox 145"/>
            <p:cNvSpPr txBox="1"/>
            <p:nvPr/>
          </p:nvSpPr>
          <p:spPr>
            <a:xfrm>
              <a:off x="8658726" y="3369707"/>
              <a:ext cx="208547"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03​​</a:t>
              </a:r>
            </a:p>
          </p:txBody>
        </p:sp>
        <p:sp>
          <p:nvSpPr>
            <p:cNvPr id="146" name="TextBox 146"/>
            <p:cNvSpPr txBox="1"/>
            <p:nvPr/>
          </p:nvSpPr>
          <p:spPr>
            <a:xfrm>
              <a:off x="8717191" y="3888343"/>
              <a:ext cx="472618"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模型迭代</a:t>
              </a:r>
            </a:p>
          </p:txBody>
        </p:sp>
        <p:sp>
          <p:nvSpPr>
            <p:cNvPr id="147" name="TextBox 147"/>
            <p:cNvSpPr txBox="1"/>
            <p:nvPr/>
          </p:nvSpPr>
          <p:spPr>
            <a:xfrm>
              <a:off x="8757577" y="4037886"/>
              <a:ext cx="391846"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参数优化</a:t>
              </a:r>
            </a:p>
          </p:txBody>
        </p:sp>
        <p:sp>
          <p:nvSpPr>
            <p:cNvPr id="148" name="Line 148"/>
            <p:cNvSpPr/>
            <p:nvPr/>
          </p:nvSpPr>
          <p:spPr>
            <a:xfrm>
              <a:off x="9258300" y="3600450"/>
              <a:ext cx="742950" cy="1"/>
            </a:xfrm>
            <a:prstGeom prst="line">
              <a:avLst/>
            </a:prstGeom>
            <a:noFill/>
            <a:ln w="19050">
              <a:solidFill>
                <a:srgbClr val="D64A2E"/>
              </a:solidFill>
              <a:tailEnd type="triangle" w="lg" len="lg"/>
            </a:ln>
          </p:spPr>
        </p:sp>
        <p:sp>
          <p:nvSpPr>
            <p:cNvPr id="149" name="Ellipse 149"/>
            <p:cNvSpPr/>
            <p:nvPr/>
          </p:nvSpPr>
          <p:spPr>
            <a:xfrm>
              <a:off x="10153650" y="3371850"/>
              <a:ext cx="457200" cy="457200"/>
            </a:xfrm>
            <a:prstGeom prst="ellipse">
              <a:avLst/>
            </a:prstGeom>
            <a:solidFill>
              <a:srgbClr val="FFFFFF"/>
            </a:solidFill>
            <a:ln w="19050">
              <a:solidFill>
                <a:srgbClr val="A8351D"/>
              </a:solidFill>
            </a:ln>
          </p:spPr>
        </p:sp>
        <p:grpSp>
          <p:nvGrpSpPr>
            <p:cNvPr id="155" name="Group 155"/>
            <p:cNvGrpSpPr/>
            <p:nvPr/>
          </p:nvGrpSpPr>
          <p:grpSpPr>
            <a:xfrm>
              <a:off x="10289381" y="3507581"/>
              <a:ext cx="185737" cy="185737"/>
              <a:chOff x="10289381" y="3507581"/>
              <a:chExt cx="185737" cy="185737"/>
            </a:xfrm>
          </p:grpSpPr>
          <p:sp>
            <p:nvSpPr>
              <p:cNvPr id="150" name="Freeform 150"/>
              <p:cNvSpPr/>
              <p:nvPr/>
            </p:nvSpPr>
            <p:spPr>
              <a:xfrm>
                <a:off x="10289381" y="35075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A8351D"/>
                </a:solidFill>
              </a:ln>
            </p:spPr>
          </p:sp>
          <p:sp>
            <p:nvSpPr>
              <p:cNvPr id="151" name="Freeform 151"/>
              <p:cNvSpPr/>
              <p:nvPr/>
            </p:nvSpPr>
            <p:spPr>
              <a:xfrm>
                <a:off x="10295572" y="3569493"/>
                <a:ext cx="173354" cy="9525"/>
              </a:xfrm>
              <a:custGeom>
                <a:avLst/>
                <a:gdLst/>
                <a:ahLst/>
                <a:cxnLst/>
                <a:rect l="l" t="t" r="r" b="b"/>
                <a:pathLst>
                  <a:path w="173354" h="9525">
                    <a:moveTo>
                      <a:pt x="0" y="0"/>
                    </a:moveTo>
                    <a:lnTo>
                      <a:pt x="173354" y="0"/>
                    </a:lnTo>
                  </a:path>
                </a:pathLst>
              </a:custGeom>
              <a:noFill/>
              <a:ln w="20637">
                <a:solidFill>
                  <a:srgbClr val="A8351D"/>
                </a:solidFill>
              </a:ln>
            </p:spPr>
          </p:sp>
          <p:sp>
            <p:nvSpPr>
              <p:cNvPr id="152" name="Freeform 152"/>
              <p:cNvSpPr/>
              <p:nvPr/>
            </p:nvSpPr>
            <p:spPr>
              <a:xfrm>
                <a:off x="10295572" y="3631406"/>
                <a:ext cx="173354" cy="9525"/>
              </a:xfrm>
              <a:custGeom>
                <a:avLst/>
                <a:gdLst/>
                <a:ahLst/>
                <a:cxnLst/>
                <a:rect l="l" t="t" r="r" b="b"/>
                <a:pathLst>
                  <a:path w="173354" h="9525">
                    <a:moveTo>
                      <a:pt x="0" y="0"/>
                    </a:moveTo>
                    <a:lnTo>
                      <a:pt x="173354" y="0"/>
                    </a:lnTo>
                  </a:path>
                </a:pathLst>
              </a:custGeom>
              <a:noFill/>
              <a:ln w="20637">
                <a:solidFill>
                  <a:srgbClr val="A8351D"/>
                </a:solidFill>
              </a:ln>
            </p:spPr>
          </p:sp>
          <p:sp>
            <p:nvSpPr>
              <p:cNvPr id="153" name="Freeform 153"/>
              <p:cNvSpPr/>
              <p:nvPr/>
            </p:nvSpPr>
            <p:spPr>
              <a:xfrm>
                <a:off x="10341624" y="3507581"/>
                <a:ext cx="35466" cy="185737"/>
              </a:xfrm>
              <a:custGeom>
                <a:avLst/>
                <a:gdLst/>
                <a:ahLst/>
                <a:cxnLst/>
                <a:rect l="l" t="t" r="r" b="b"/>
                <a:pathLst>
                  <a:path w="35466" h="185737">
                    <a:moveTo>
                      <a:pt x="35466" y="0"/>
                    </a:moveTo>
                    <a:cubicBezTo>
                      <a:pt x="0" y="56833"/>
                      <a:pt x="0" y="128904"/>
                      <a:pt x="35466" y="185737"/>
                    </a:cubicBezTo>
                  </a:path>
                </a:pathLst>
              </a:custGeom>
              <a:noFill/>
              <a:ln w="20637">
                <a:solidFill>
                  <a:srgbClr val="A8351D"/>
                </a:solidFill>
              </a:ln>
            </p:spPr>
          </p:sp>
          <p:sp>
            <p:nvSpPr>
              <p:cNvPr id="154" name="Freeform 154"/>
              <p:cNvSpPr/>
              <p:nvPr/>
            </p:nvSpPr>
            <p:spPr>
              <a:xfrm>
                <a:off x="10387409" y="3507581"/>
                <a:ext cx="35466" cy="185737"/>
              </a:xfrm>
              <a:custGeom>
                <a:avLst/>
                <a:gdLst/>
                <a:ahLst/>
                <a:cxnLst/>
                <a:rect l="l" t="t" r="r" b="b"/>
                <a:pathLst>
                  <a:path w="35466" h="185737">
                    <a:moveTo>
                      <a:pt x="0" y="0"/>
                    </a:moveTo>
                    <a:cubicBezTo>
                      <a:pt x="35466" y="56833"/>
                      <a:pt x="35466" y="128904"/>
                      <a:pt x="0" y="185737"/>
                    </a:cubicBezTo>
                  </a:path>
                </a:pathLst>
              </a:custGeom>
              <a:noFill/>
              <a:ln w="20637">
                <a:solidFill>
                  <a:srgbClr val="A8351D"/>
                </a:solidFill>
              </a:ln>
            </p:spPr>
          </p:sp>
        </p:grpSp>
        <p:sp>
          <p:nvSpPr>
            <p:cNvPr id="156" name="Ellipse 156"/>
            <p:cNvSpPr/>
            <p:nvPr/>
          </p:nvSpPr>
          <p:spPr>
            <a:xfrm>
              <a:off x="10106025" y="3324225"/>
              <a:ext cx="171450" cy="171450"/>
            </a:xfrm>
            <a:prstGeom prst="ellipse">
              <a:avLst/>
            </a:prstGeom>
            <a:solidFill>
              <a:srgbClr val="C9462F"/>
            </a:solidFill>
            <a:ln>
              <a:noFill/>
            </a:ln>
          </p:spPr>
        </p:sp>
        <p:sp>
          <p:nvSpPr>
            <p:cNvPr id="157" name="TextBox 157"/>
            <p:cNvSpPr txBox="1"/>
            <p:nvPr/>
          </p:nvSpPr>
          <p:spPr>
            <a:xfrm>
              <a:off x="10087476" y="3369707"/>
              <a:ext cx="208547"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04​​</a:t>
              </a:r>
            </a:p>
          </p:txBody>
        </p:sp>
        <p:sp>
          <p:nvSpPr>
            <p:cNvPr id="158" name="TextBox 158"/>
            <p:cNvSpPr txBox="1"/>
            <p:nvPr/>
          </p:nvSpPr>
          <p:spPr>
            <a:xfrm>
              <a:off x="10145941" y="3888343"/>
              <a:ext cx="472618" cy="169069"/>
            </a:xfrm>
            <a:prstGeom prst="rect">
              <a:avLst/>
            </a:prstGeom>
            <a:noFill/>
            <a:ln>
              <a:noFill/>
            </a:ln>
          </p:spPr>
          <p:txBody>
            <a:bodyPr wrap="none" lIns="0" tIns="0" rIns="0" bIns="0" anchor="t" anchorCtr="0">
              <a:spAutoFit/>
            </a:bodyPr>
            <a:lstStyle/>
            <a:p>
              <a:pPr algn="ctr"/>
              <a:r>
                <a:rPr lang="zh-CN" sz="860" b="1" dirty="0">
                  <a:solidFill>
                    <a:srgbClr val="67281B"/>
                  </a:solidFill>
                  <a:latin typeface="+mn-lt"/>
                  <a:ea typeface="+mn-ea"/>
                  <a:cs typeface="+mn-cs"/>
                </a:rPr>
                <a:t>全国复制</a:t>
              </a:r>
            </a:p>
          </p:txBody>
        </p:sp>
        <p:sp>
          <p:nvSpPr>
            <p:cNvPr id="159" name="TextBox 159"/>
            <p:cNvSpPr txBox="1"/>
            <p:nvPr/>
          </p:nvSpPr>
          <p:spPr>
            <a:xfrm>
              <a:off x="10186327" y="4037886"/>
              <a:ext cx="391846" cy="140494"/>
            </a:xfrm>
            <a:prstGeom prst="rect">
              <a:avLst/>
            </a:prstGeom>
            <a:noFill/>
            <a:ln>
              <a:noFill/>
            </a:ln>
          </p:spPr>
          <p:txBody>
            <a:bodyPr wrap="none" lIns="0" tIns="0" rIns="0" bIns="0" anchor="t" anchorCtr="0">
              <a:spAutoFit/>
            </a:bodyPr>
            <a:lstStyle/>
            <a:p>
              <a:pPr algn="ctr"/>
              <a:r>
                <a:rPr lang="zh-CN" sz="710" dirty="0">
                  <a:solidFill>
                    <a:srgbClr val="785F5A"/>
                  </a:solidFill>
                  <a:latin typeface="+mn-lt"/>
                  <a:ea typeface="+mn-ea"/>
                  <a:cs typeface="+mn-cs"/>
                </a:rPr>
                <a:t>分批推广</a:t>
              </a:r>
            </a:p>
          </p:txBody>
        </p:sp>
      </p:grpSp>
      <p:grpSp>
        <p:nvGrpSpPr>
          <p:cNvPr id="194" name="governance"/>
          <p:cNvGrpSpPr/>
          <p:nvPr/>
        </p:nvGrpSpPr>
        <p:grpSpPr>
          <a:xfrm>
            <a:off x="381000" y="4343400"/>
            <a:ext cx="5334000" cy="2324100"/>
            <a:chOff x="381000" y="4343400"/>
            <a:chExt cx="5334000" cy="2324100"/>
          </a:xfrm>
        </p:grpSpPr>
        <p:sp>
          <p:nvSpPr>
            <p:cNvPr id="161" name="Rectangle 161"/>
            <p:cNvSpPr/>
            <p:nvPr/>
          </p:nvSpPr>
          <p:spPr>
            <a:xfrm>
              <a:off x="381000" y="4343400"/>
              <a:ext cx="5334000" cy="2324100"/>
            </a:xfrm>
            <a:prstGeom prst="roundRect">
              <a:avLst>
                <a:gd name="adj" fmla="val 4098"/>
              </a:avLst>
            </a:prstGeom>
            <a:solidFill>
              <a:srgbClr val="F9FBFE"/>
            </a:solidFill>
            <a:ln w="9525">
              <a:solidFill>
                <a:srgbClr val="C9D8EF"/>
              </a:solidFill>
            </a:ln>
          </p:spPr>
        </p:sp>
        <p:sp>
          <p:nvSpPr>
            <p:cNvPr id="162" name="Rectangle 162"/>
            <p:cNvSpPr/>
            <p:nvPr/>
          </p:nvSpPr>
          <p:spPr>
            <a:xfrm>
              <a:off x="2095500" y="4343400"/>
              <a:ext cx="1905000" cy="266700"/>
            </a:xfrm>
            <a:prstGeom prst="roundRect">
              <a:avLst>
                <a:gd name="adj" fmla="val 14286"/>
              </a:avLst>
            </a:prstGeom>
            <a:gradFill>
              <a:gsLst>
                <a:gs pos="0">
                  <a:srgbClr val="AD3921"/>
                </a:gs>
                <a:gs pos="100000">
                  <a:srgbClr val="962C16"/>
                </a:gs>
              </a:gsLst>
              <a:lin ang="5400000" scaled="1"/>
            </a:gradFill>
            <a:ln>
              <a:noFill/>
            </a:ln>
          </p:spPr>
        </p:sp>
        <p:sp>
          <p:nvSpPr>
            <p:cNvPr id="163" name="TextBox 163"/>
            <p:cNvSpPr txBox="1"/>
            <p:nvPr/>
          </p:nvSpPr>
          <p:spPr>
            <a:xfrm>
              <a:off x="2779192" y="44191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治理节奏</a:t>
              </a:r>
            </a:p>
          </p:txBody>
        </p:sp>
        <p:sp>
          <p:nvSpPr>
            <p:cNvPr id="164" name="Rectangle 164"/>
            <p:cNvSpPr/>
            <p:nvPr/>
          </p:nvSpPr>
          <p:spPr>
            <a:xfrm>
              <a:off x="495300" y="4762500"/>
              <a:ext cx="1181100" cy="1771650"/>
            </a:xfrm>
            <a:prstGeom prst="roundRect">
              <a:avLst>
                <a:gd name="adj" fmla="val 6452"/>
              </a:avLst>
            </a:prstGeom>
            <a:solidFill>
              <a:srgbClr val="FFFFFF"/>
            </a:solidFill>
            <a:ln w="9525">
              <a:solidFill>
                <a:srgbClr val="C9D8EF"/>
              </a:solidFill>
            </a:ln>
          </p:spPr>
        </p:sp>
        <p:grpSp>
          <p:nvGrpSpPr>
            <p:cNvPr id="171" name="Group 171"/>
            <p:cNvGrpSpPr/>
            <p:nvPr/>
          </p:nvGrpSpPr>
          <p:grpSpPr>
            <a:xfrm>
              <a:off x="990600" y="4988719"/>
              <a:ext cx="190500" cy="214312"/>
              <a:chOff x="990600" y="4988719"/>
              <a:chExt cx="190500" cy="214312"/>
            </a:xfrm>
          </p:grpSpPr>
          <p:sp>
            <p:nvSpPr>
              <p:cNvPr id="165" name="Freeform 165"/>
              <p:cNvSpPr/>
              <p:nvPr/>
            </p:nvSpPr>
            <p:spPr>
              <a:xfrm>
                <a:off x="990600" y="5012531"/>
                <a:ext cx="190500" cy="190500"/>
              </a:xfrm>
              <a:custGeom>
                <a:avLst/>
                <a:gdLst/>
                <a:ahLst/>
                <a:cxnLst/>
                <a:rect l="l" t="t" r="r" b="b"/>
                <a:pathLst>
                  <a:path w="190500" h="190500">
                    <a:moveTo>
                      <a:pt x="0" y="23812"/>
                    </a:moveTo>
                    <a:cubicBezTo>
                      <a:pt x="0" y="10661"/>
                      <a:pt x="10661" y="0"/>
                      <a:pt x="23812" y="0"/>
                    </a:cubicBezTo>
                    <a:lnTo>
                      <a:pt x="166688" y="0"/>
                    </a:lnTo>
                    <a:cubicBezTo>
                      <a:pt x="179839" y="0"/>
                      <a:pt x="190500" y="10661"/>
                      <a:pt x="190500" y="23812"/>
                    </a:cubicBezTo>
                    <a:lnTo>
                      <a:pt x="190500" y="166688"/>
                    </a:lnTo>
                    <a:cubicBezTo>
                      <a:pt x="190500" y="179839"/>
                      <a:pt x="179839" y="190500"/>
                      <a:pt x="166688" y="190500"/>
                    </a:cubicBezTo>
                    <a:lnTo>
                      <a:pt x="23812" y="190500"/>
                    </a:lnTo>
                    <a:cubicBezTo>
                      <a:pt x="10661" y="190500"/>
                      <a:pt x="0" y="179839"/>
                      <a:pt x="0" y="166688"/>
                    </a:cubicBezTo>
                    <a:lnTo>
                      <a:pt x="0" y="23812"/>
                    </a:lnTo>
                  </a:path>
                </a:pathLst>
              </a:custGeom>
              <a:noFill/>
              <a:ln w="23812">
                <a:solidFill>
                  <a:srgbClr val="A8351D"/>
                </a:solidFill>
              </a:ln>
            </p:spPr>
          </p:sp>
          <p:sp>
            <p:nvSpPr>
              <p:cNvPr id="166" name="Freeform 166"/>
              <p:cNvSpPr/>
              <p:nvPr/>
            </p:nvSpPr>
            <p:spPr>
              <a:xfrm>
                <a:off x="1133475" y="4988719"/>
                <a:ext cx="9525" cy="47625"/>
              </a:xfrm>
              <a:custGeom>
                <a:avLst/>
                <a:gdLst/>
                <a:ahLst/>
                <a:cxnLst/>
                <a:rect l="l" t="t" r="r" b="b"/>
                <a:pathLst>
                  <a:path w="9525" h="47625">
                    <a:moveTo>
                      <a:pt x="0" y="0"/>
                    </a:moveTo>
                    <a:lnTo>
                      <a:pt x="0" y="47625"/>
                    </a:lnTo>
                  </a:path>
                </a:pathLst>
              </a:custGeom>
              <a:noFill/>
              <a:ln w="23812">
                <a:solidFill>
                  <a:srgbClr val="A8351D"/>
                </a:solidFill>
              </a:ln>
            </p:spPr>
          </p:sp>
          <p:sp>
            <p:nvSpPr>
              <p:cNvPr id="167" name="Freeform 167"/>
              <p:cNvSpPr/>
              <p:nvPr/>
            </p:nvSpPr>
            <p:spPr>
              <a:xfrm>
                <a:off x="1038225" y="4988719"/>
                <a:ext cx="9525" cy="47625"/>
              </a:xfrm>
              <a:custGeom>
                <a:avLst/>
                <a:gdLst/>
                <a:ahLst/>
                <a:cxnLst/>
                <a:rect l="l" t="t" r="r" b="b"/>
                <a:pathLst>
                  <a:path w="9525" h="47625">
                    <a:moveTo>
                      <a:pt x="0" y="0"/>
                    </a:moveTo>
                    <a:lnTo>
                      <a:pt x="0" y="47625"/>
                    </a:lnTo>
                  </a:path>
                </a:pathLst>
              </a:custGeom>
              <a:noFill/>
              <a:ln w="23812">
                <a:solidFill>
                  <a:srgbClr val="A8351D"/>
                </a:solidFill>
              </a:ln>
            </p:spPr>
          </p:sp>
          <p:sp>
            <p:nvSpPr>
              <p:cNvPr id="168" name="Freeform 168"/>
              <p:cNvSpPr/>
              <p:nvPr/>
            </p:nvSpPr>
            <p:spPr>
              <a:xfrm>
                <a:off x="990600" y="5083969"/>
                <a:ext cx="190500" cy="9525"/>
              </a:xfrm>
              <a:custGeom>
                <a:avLst/>
                <a:gdLst/>
                <a:ahLst/>
                <a:cxnLst/>
                <a:rect l="l" t="t" r="r" b="b"/>
                <a:pathLst>
                  <a:path w="190500" h="9525">
                    <a:moveTo>
                      <a:pt x="0" y="0"/>
                    </a:moveTo>
                    <a:lnTo>
                      <a:pt x="190500" y="0"/>
                    </a:lnTo>
                  </a:path>
                </a:pathLst>
              </a:custGeom>
              <a:noFill/>
              <a:ln w="23812">
                <a:solidFill>
                  <a:srgbClr val="A8351D"/>
                </a:solidFill>
              </a:ln>
            </p:spPr>
          </p:sp>
          <p:sp>
            <p:nvSpPr>
              <p:cNvPr id="169" name="Freeform 169"/>
              <p:cNvSpPr/>
              <p:nvPr/>
            </p:nvSpPr>
            <p:spPr>
              <a:xfrm>
                <a:off x="1073944" y="5131594"/>
                <a:ext cx="11906" cy="9525"/>
              </a:xfrm>
              <a:custGeom>
                <a:avLst/>
                <a:gdLst/>
                <a:ahLst/>
                <a:cxnLst/>
                <a:rect l="l" t="t" r="r" b="b"/>
                <a:pathLst>
                  <a:path w="11906" h="9525">
                    <a:moveTo>
                      <a:pt x="0" y="0"/>
                    </a:moveTo>
                    <a:lnTo>
                      <a:pt x="11906" y="0"/>
                    </a:lnTo>
                  </a:path>
                </a:pathLst>
              </a:custGeom>
              <a:noFill/>
              <a:ln w="23812">
                <a:solidFill>
                  <a:srgbClr val="A8351D"/>
                </a:solidFill>
              </a:ln>
            </p:spPr>
          </p:sp>
          <p:sp>
            <p:nvSpPr>
              <p:cNvPr id="170" name="Freeform 170"/>
              <p:cNvSpPr/>
              <p:nvPr/>
            </p:nvSpPr>
            <p:spPr>
              <a:xfrm>
                <a:off x="1085850" y="5131594"/>
                <a:ext cx="9525" cy="35719"/>
              </a:xfrm>
              <a:custGeom>
                <a:avLst/>
                <a:gdLst/>
                <a:ahLst/>
                <a:cxnLst/>
                <a:rect l="l" t="t" r="r" b="b"/>
                <a:pathLst>
                  <a:path w="9525" h="35719">
                    <a:moveTo>
                      <a:pt x="0" y="0"/>
                    </a:moveTo>
                    <a:lnTo>
                      <a:pt x="0" y="35719"/>
                    </a:lnTo>
                  </a:path>
                </a:pathLst>
              </a:custGeom>
              <a:noFill/>
              <a:ln w="23812">
                <a:solidFill>
                  <a:srgbClr val="A8351D"/>
                </a:solidFill>
              </a:ln>
            </p:spPr>
          </p:sp>
        </p:grpSp>
        <p:sp>
          <p:nvSpPr>
            <p:cNvPr id="172" name="TextBox 172"/>
            <p:cNvSpPr txBox="1"/>
            <p:nvPr/>
          </p:nvSpPr>
          <p:spPr>
            <a:xfrm>
              <a:off x="883006" y="5419249"/>
              <a:ext cx="405689"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周监测</a:t>
              </a:r>
            </a:p>
          </p:txBody>
        </p:sp>
        <p:sp>
          <p:nvSpPr>
            <p:cNvPr id="173" name="TextBox 173"/>
            <p:cNvSpPr txBox="1"/>
            <p:nvPr/>
          </p:nvSpPr>
          <p:spPr>
            <a:xfrm>
              <a:off x="842962" y="5691188"/>
              <a:ext cx="4857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785F5A"/>
                  </a:solidFill>
                  <a:latin typeface="+mn-lt"/>
                  <a:ea typeface="+mn-ea"/>
                  <a:cs typeface="+mn-cs"/>
                </a:rPr>
                <a:t>项目清单与</a:t>
              </a:r>
              <a:br/>
              <a:r>
                <a:rPr lang="zh-CN" sz="750" dirty="0">
                  <a:solidFill>
                    <a:srgbClr val="785F5A"/>
                  </a:solidFill>
                  <a:latin typeface="+mn-lt"/>
                  <a:ea typeface="+mn-ea"/>
                  <a:cs typeface="+mn-cs"/>
                </a:rPr>
                <a:t>阻塞事项</a:t>
              </a:r>
            </a:p>
          </p:txBody>
        </p:sp>
        <p:sp>
          <p:nvSpPr>
            <p:cNvPr id="174" name="Rectangle 174"/>
            <p:cNvSpPr/>
            <p:nvPr/>
          </p:nvSpPr>
          <p:spPr>
            <a:xfrm>
              <a:off x="1809750" y="4762500"/>
              <a:ext cx="1181100" cy="1771650"/>
            </a:xfrm>
            <a:prstGeom prst="roundRect">
              <a:avLst>
                <a:gd name="adj" fmla="val 6452"/>
              </a:avLst>
            </a:prstGeom>
            <a:solidFill>
              <a:srgbClr val="FFFFFF"/>
            </a:solidFill>
            <a:ln w="9525">
              <a:solidFill>
                <a:srgbClr val="C9D8EF"/>
              </a:solidFill>
            </a:ln>
          </p:spPr>
        </p:sp>
        <p:grpSp>
          <p:nvGrpSpPr>
            <p:cNvPr id="177" name="Group 177"/>
            <p:cNvGrpSpPr/>
            <p:nvPr/>
          </p:nvGrpSpPr>
          <p:grpSpPr>
            <a:xfrm>
              <a:off x="2293144" y="4988719"/>
              <a:ext cx="214312" cy="214312"/>
              <a:chOff x="2293144" y="4988719"/>
              <a:chExt cx="214312" cy="214312"/>
            </a:xfrm>
          </p:grpSpPr>
          <p:sp>
            <p:nvSpPr>
              <p:cNvPr id="175" name="Freeform 175"/>
              <p:cNvSpPr/>
              <p:nvPr/>
            </p:nvSpPr>
            <p:spPr>
              <a:xfrm>
                <a:off x="2293144" y="49887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rgbClr val="A8351D"/>
                </a:solidFill>
              </a:ln>
            </p:spPr>
          </p:sp>
          <p:sp>
            <p:nvSpPr>
              <p:cNvPr id="176" name="Freeform 176"/>
              <p:cNvSpPr/>
              <p:nvPr/>
            </p:nvSpPr>
            <p:spPr>
              <a:xfrm>
                <a:off x="2400300" y="5036344"/>
                <a:ext cx="35719" cy="95250"/>
              </a:xfrm>
              <a:custGeom>
                <a:avLst/>
                <a:gdLst/>
                <a:ahLst/>
                <a:cxnLst/>
                <a:rect l="l" t="t" r="r" b="b"/>
                <a:pathLst>
                  <a:path w="35719" h="95250">
                    <a:moveTo>
                      <a:pt x="0" y="0"/>
                    </a:moveTo>
                    <a:lnTo>
                      <a:pt x="0" y="59531"/>
                    </a:lnTo>
                    <a:lnTo>
                      <a:pt x="35719" y="95250"/>
                    </a:lnTo>
                  </a:path>
                </a:pathLst>
              </a:custGeom>
              <a:noFill/>
              <a:ln w="23812">
                <a:solidFill>
                  <a:srgbClr val="A8351D"/>
                </a:solidFill>
              </a:ln>
            </p:spPr>
          </p:sp>
        </p:grpSp>
        <p:sp>
          <p:nvSpPr>
            <p:cNvPr id="178" name="TextBox 178"/>
            <p:cNvSpPr txBox="1"/>
            <p:nvPr/>
          </p:nvSpPr>
          <p:spPr>
            <a:xfrm>
              <a:off x="2197456" y="5419249"/>
              <a:ext cx="405689"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月调度</a:t>
              </a:r>
            </a:p>
          </p:txBody>
        </p:sp>
        <p:sp>
          <p:nvSpPr>
            <p:cNvPr id="179" name="TextBox 179"/>
            <p:cNvSpPr txBox="1"/>
            <p:nvPr/>
          </p:nvSpPr>
          <p:spPr>
            <a:xfrm>
              <a:off x="2157412" y="5691188"/>
              <a:ext cx="4857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785F5A"/>
                  </a:solidFill>
                  <a:latin typeface="+mn-lt"/>
                  <a:ea typeface="+mn-ea"/>
                  <a:cs typeface="+mn-cs"/>
                </a:rPr>
                <a:t>资源配置与</a:t>
              </a:r>
              <a:br/>
              <a:r>
                <a:rPr lang="zh-CN" sz="750" dirty="0">
                  <a:solidFill>
                    <a:srgbClr val="785F5A"/>
                  </a:solidFill>
                  <a:latin typeface="+mn-lt"/>
                  <a:ea typeface="+mn-ea"/>
                  <a:cs typeface="+mn-cs"/>
                </a:rPr>
                <a:t>目标差距</a:t>
              </a:r>
            </a:p>
          </p:txBody>
        </p:sp>
        <p:sp>
          <p:nvSpPr>
            <p:cNvPr id="180" name="Rectangle 180"/>
            <p:cNvSpPr/>
            <p:nvPr/>
          </p:nvSpPr>
          <p:spPr>
            <a:xfrm>
              <a:off x="3124200" y="4762500"/>
              <a:ext cx="1181100" cy="1771650"/>
            </a:xfrm>
            <a:prstGeom prst="roundRect">
              <a:avLst>
                <a:gd name="adj" fmla="val 6452"/>
              </a:avLst>
            </a:prstGeom>
            <a:solidFill>
              <a:srgbClr val="FFFFFF"/>
            </a:solidFill>
            <a:ln w="9525">
              <a:solidFill>
                <a:srgbClr val="C9D8EF"/>
              </a:solidFill>
            </a:ln>
          </p:spPr>
        </p:sp>
        <p:grpSp>
          <p:nvGrpSpPr>
            <p:cNvPr id="184" name="Group 184"/>
            <p:cNvGrpSpPr/>
            <p:nvPr/>
          </p:nvGrpSpPr>
          <p:grpSpPr>
            <a:xfrm>
              <a:off x="3631406" y="4988719"/>
              <a:ext cx="166688" cy="214312"/>
              <a:chOff x="3631406" y="4988719"/>
              <a:chExt cx="166688" cy="214312"/>
            </a:xfrm>
          </p:grpSpPr>
          <p:sp>
            <p:nvSpPr>
              <p:cNvPr id="181" name="Freeform 181"/>
              <p:cNvSpPr/>
              <p:nvPr/>
            </p:nvSpPr>
            <p:spPr>
              <a:xfrm>
                <a:off x="3631406" y="5012531"/>
                <a:ext cx="166688" cy="190500"/>
              </a:xfrm>
              <a:custGeom>
                <a:avLst/>
                <a:gdLst/>
                <a:ahLst/>
                <a:cxnLst/>
                <a:rect l="l" t="t" r="r" b="b"/>
                <a:pathLst>
                  <a:path w="166688" h="190500">
                    <a:moveTo>
                      <a:pt x="47625" y="0"/>
                    </a:moveTo>
                    <a:lnTo>
                      <a:pt x="23812" y="0"/>
                    </a:lnTo>
                    <a:cubicBezTo>
                      <a:pt x="10661" y="0"/>
                      <a:pt x="0" y="10661"/>
                      <a:pt x="0" y="23812"/>
                    </a:cubicBezTo>
                    <a:lnTo>
                      <a:pt x="0" y="166688"/>
                    </a:lnTo>
                    <a:cubicBezTo>
                      <a:pt x="0" y="179839"/>
                      <a:pt x="10661" y="190500"/>
                      <a:pt x="23812" y="190500"/>
                    </a:cubicBezTo>
                    <a:lnTo>
                      <a:pt x="142875" y="190500"/>
                    </a:lnTo>
                    <a:cubicBezTo>
                      <a:pt x="156026" y="190500"/>
                      <a:pt x="166688" y="179839"/>
                      <a:pt x="166688" y="166688"/>
                    </a:cubicBezTo>
                    <a:lnTo>
                      <a:pt x="166688" y="23812"/>
                    </a:lnTo>
                    <a:cubicBezTo>
                      <a:pt x="166688" y="10661"/>
                      <a:pt x="156026" y="0"/>
                      <a:pt x="142875" y="0"/>
                    </a:cubicBezTo>
                    <a:lnTo>
                      <a:pt x="119062" y="0"/>
                    </a:lnTo>
                  </a:path>
                </a:pathLst>
              </a:custGeom>
              <a:noFill/>
              <a:ln w="23812">
                <a:solidFill>
                  <a:srgbClr val="A8351D"/>
                </a:solidFill>
              </a:ln>
            </p:spPr>
          </p:sp>
          <p:sp>
            <p:nvSpPr>
              <p:cNvPr id="182" name="Freeform 182"/>
              <p:cNvSpPr/>
              <p:nvPr/>
            </p:nvSpPr>
            <p:spPr>
              <a:xfrm>
                <a:off x="3679031" y="4988719"/>
                <a:ext cx="71438" cy="47625"/>
              </a:xfrm>
              <a:custGeom>
                <a:avLst/>
                <a:gdLst/>
                <a:ahLst/>
                <a:cxnLst/>
                <a:rect l="l" t="t" r="r" b="b"/>
                <a:pathLst>
                  <a:path w="71438" h="47625">
                    <a:moveTo>
                      <a:pt x="0" y="23812"/>
                    </a:moveTo>
                    <a:cubicBezTo>
                      <a:pt x="0" y="10661"/>
                      <a:pt x="10661" y="0"/>
                      <a:pt x="23812" y="0"/>
                    </a:cubicBezTo>
                    <a:lnTo>
                      <a:pt x="47625" y="0"/>
                    </a:lnTo>
                    <a:cubicBezTo>
                      <a:pt x="60776" y="0"/>
                      <a:pt x="71438" y="10661"/>
                      <a:pt x="71438" y="23812"/>
                    </a:cubicBezTo>
                    <a:cubicBezTo>
                      <a:pt x="71438" y="36964"/>
                      <a:pt x="60776" y="47625"/>
                      <a:pt x="47625" y="47625"/>
                    </a:cubicBezTo>
                    <a:lnTo>
                      <a:pt x="23812" y="47625"/>
                    </a:lnTo>
                    <a:cubicBezTo>
                      <a:pt x="10661" y="47625"/>
                      <a:pt x="0" y="36964"/>
                      <a:pt x="0" y="23812"/>
                    </a:cubicBezTo>
                  </a:path>
                </a:pathLst>
              </a:custGeom>
              <a:noFill/>
              <a:ln w="23812">
                <a:solidFill>
                  <a:srgbClr val="A8351D"/>
                </a:solidFill>
              </a:ln>
            </p:spPr>
          </p:sp>
          <p:sp>
            <p:nvSpPr>
              <p:cNvPr id="183" name="Freeform 183"/>
              <p:cNvSpPr/>
              <p:nvPr/>
            </p:nvSpPr>
            <p:spPr>
              <a:xfrm>
                <a:off x="3679031" y="5095875"/>
                <a:ext cx="71438" cy="47625"/>
              </a:xfrm>
              <a:custGeom>
                <a:avLst/>
                <a:gdLst/>
                <a:ahLst/>
                <a:cxnLst/>
                <a:rect l="l" t="t" r="r" b="b"/>
                <a:pathLst>
                  <a:path w="71438" h="47625">
                    <a:moveTo>
                      <a:pt x="0" y="23812"/>
                    </a:moveTo>
                    <a:lnTo>
                      <a:pt x="23812" y="47625"/>
                    </a:lnTo>
                    <a:lnTo>
                      <a:pt x="71438" y="0"/>
                    </a:lnTo>
                  </a:path>
                </a:pathLst>
              </a:custGeom>
              <a:noFill/>
              <a:ln w="23812">
                <a:solidFill>
                  <a:srgbClr val="A8351D"/>
                </a:solidFill>
              </a:ln>
            </p:spPr>
          </p:sp>
        </p:grpSp>
        <p:sp>
          <p:nvSpPr>
            <p:cNvPr id="185" name="TextBox 185"/>
            <p:cNvSpPr txBox="1"/>
            <p:nvPr/>
          </p:nvSpPr>
          <p:spPr>
            <a:xfrm>
              <a:off x="3511906" y="5419249"/>
              <a:ext cx="405689"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季复盘</a:t>
              </a:r>
            </a:p>
          </p:txBody>
        </p:sp>
        <p:sp>
          <p:nvSpPr>
            <p:cNvPr id="186" name="TextBox 186"/>
            <p:cNvSpPr txBox="1"/>
            <p:nvPr/>
          </p:nvSpPr>
          <p:spPr>
            <a:xfrm>
              <a:off x="3471862" y="5691188"/>
              <a:ext cx="4857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785F5A"/>
                  </a:solidFill>
                  <a:latin typeface="+mn-lt"/>
                  <a:ea typeface="+mn-ea"/>
                  <a:cs typeface="+mn-cs"/>
                </a:rPr>
                <a:t>策略校准与</a:t>
              </a:r>
              <a:br/>
              <a:r>
                <a:rPr lang="zh-CN" sz="750" dirty="0">
                  <a:solidFill>
                    <a:srgbClr val="785F5A"/>
                  </a:solidFill>
                  <a:latin typeface="+mn-lt"/>
                  <a:ea typeface="+mn-ea"/>
                  <a:cs typeface="+mn-cs"/>
                </a:rPr>
                <a:t>案例复制</a:t>
              </a:r>
            </a:p>
          </p:txBody>
        </p:sp>
        <p:sp>
          <p:nvSpPr>
            <p:cNvPr id="187" name="Rectangle 187"/>
            <p:cNvSpPr/>
            <p:nvPr/>
          </p:nvSpPr>
          <p:spPr>
            <a:xfrm>
              <a:off x="4438650" y="4762500"/>
              <a:ext cx="1181100" cy="1771650"/>
            </a:xfrm>
            <a:prstGeom prst="roundRect">
              <a:avLst>
                <a:gd name="adj" fmla="val 6452"/>
              </a:avLst>
            </a:prstGeom>
            <a:solidFill>
              <a:srgbClr val="FFFFFF"/>
            </a:solidFill>
            <a:ln w="9525">
              <a:solidFill>
                <a:srgbClr val="C9D8EF"/>
              </a:solidFill>
            </a:ln>
          </p:spPr>
        </p:sp>
        <p:grpSp>
          <p:nvGrpSpPr>
            <p:cNvPr id="191" name="Group 191"/>
            <p:cNvGrpSpPr/>
            <p:nvPr/>
          </p:nvGrpSpPr>
          <p:grpSpPr>
            <a:xfrm>
              <a:off x="4926830" y="4988719"/>
              <a:ext cx="204716" cy="213003"/>
              <a:chOff x="4926830" y="4988719"/>
              <a:chExt cx="204716" cy="213003"/>
            </a:xfrm>
          </p:grpSpPr>
          <p:sp>
            <p:nvSpPr>
              <p:cNvPr id="188" name="Freeform 188"/>
              <p:cNvSpPr/>
              <p:nvPr/>
            </p:nvSpPr>
            <p:spPr>
              <a:xfrm>
                <a:off x="4957762" y="4988719"/>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3812">
                <a:solidFill>
                  <a:srgbClr val="A8351D"/>
                </a:solidFill>
              </a:ln>
            </p:spPr>
          </p:sp>
          <p:sp>
            <p:nvSpPr>
              <p:cNvPr id="189" name="Freeform 189"/>
              <p:cNvSpPr/>
              <p:nvPr/>
            </p:nvSpPr>
            <p:spPr>
              <a:xfrm>
                <a:off x="5029200" y="5095875"/>
                <a:ext cx="102346" cy="105847"/>
              </a:xfrm>
              <a:custGeom>
                <a:avLst/>
                <a:gdLst/>
                <a:ahLst/>
                <a:cxnLst/>
                <a:rect l="l" t="t" r="r" b="b"/>
                <a:pathLst>
                  <a:path w="102346" h="105847">
                    <a:moveTo>
                      <a:pt x="0" y="35719"/>
                    </a:moveTo>
                    <a:lnTo>
                      <a:pt x="40481" y="105847"/>
                    </a:lnTo>
                    <a:lnTo>
                      <a:pt x="59507" y="67354"/>
                    </a:lnTo>
                    <a:lnTo>
                      <a:pt x="102346" y="70116"/>
                    </a:lnTo>
                    <a:lnTo>
                      <a:pt x="61865" y="0"/>
                    </a:lnTo>
                  </a:path>
                </a:pathLst>
              </a:custGeom>
              <a:noFill/>
              <a:ln w="23812">
                <a:solidFill>
                  <a:srgbClr val="A8351D"/>
                </a:solidFill>
              </a:ln>
            </p:spPr>
          </p:sp>
          <p:sp>
            <p:nvSpPr>
              <p:cNvPr id="190" name="Freeform 190"/>
              <p:cNvSpPr/>
              <p:nvPr/>
            </p:nvSpPr>
            <p:spPr>
              <a:xfrm>
                <a:off x="4926830" y="5095875"/>
                <a:ext cx="102346" cy="105835"/>
              </a:xfrm>
              <a:custGeom>
                <a:avLst/>
                <a:gdLst/>
                <a:ahLst/>
                <a:cxnLst/>
                <a:rect l="l" t="t" r="r" b="b"/>
                <a:pathLst>
                  <a:path w="102346" h="105835">
                    <a:moveTo>
                      <a:pt x="40481" y="0"/>
                    </a:moveTo>
                    <a:lnTo>
                      <a:pt x="0" y="70128"/>
                    </a:lnTo>
                    <a:lnTo>
                      <a:pt x="42839" y="67354"/>
                    </a:lnTo>
                    <a:lnTo>
                      <a:pt x="61865" y="105835"/>
                    </a:lnTo>
                    <a:lnTo>
                      <a:pt x="102346" y="35719"/>
                    </a:lnTo>
                  </a:path>
                </a:pathLst>
              </a:custGeom>
              <a:noFill/>
              <a:ln w="23812">
                <a:solidFill>
                  <a:srgbClr val="A8351D"/>
                </a:solidFill>
              </a:ln>
            </p:spPr>
          </p:sp>
        </p:grpSp>
        <p:sp>
          <p:nvSpPr>
            <p:cNvPr id="192" name="TextBox 192"/>
            <p:cNvSpPr txBox="1"/>
            <p:nvPr/>
          </p:nvSpPr>
          <p:spPr>
            <a:xfrm>
              <a:off x="4826356" y="5419249"/>
              <a:ext cx="405689" cy="190690"/>
            </a:xfrm>
            <a:prstGeom prst="rect">
              <a:avLst/>
            </a:prstGeom>
            <a:noFill/>
            <a:ln>
              <a:noFill/>
            </a:ln>
          </p:spPr>
          <p:txBody>
            <a:bodyPr wrap="none" lIns="0" tIns="0" rIns="0" bIns="0" anchor="t" anchorCtr="0">
              <a:spAutoFit/>
            </a:bodyPr>
            <a:lstStyle/>
            <a:p>
              <a:pPr algn="ctr"/>
              <a:r>
                <a:rPr lang="zh-CN" sz="980" b="1" dirty="0">
                  <a:solidFill>
                    <a:srgbClr val="67281B"/>
                  </a:solidFill>
                  <a:latin typeface="+mn-lt"/>
                  <a:ea typeface="+mn-ea"/>
                  <a:cs typeface="+mn-cs"/>
                </a:rPr>
                <a:t>年评价</a:t>
              </a:r>
            </a:p>
          </p:txBody>
        </p:sp>
        <p:sp>
          <p:nvSpPr>
            <p:cNvPr id="193" name="TextBox 193"/>
            <p:cNvSpPr txBox="1"/>
            <p:nvPr/>
          </p:nvSpPr>
          <p:spPr>
            <a:xfrm>
              <a:off x="4786312" y="5691188"/>
              <a:ext cx="485775" cy="290512"/>
            </a:xfrm>
            <a:prstGeom prst="rect">
              <a:avLst/>
            </a:prstGeom>
            <a:noFill/>
            <a:ln>
              <a:noFill/>
            </a:ln>
          </p:spPr>
          <p:txBody>
            <a:bodyPr wrap="none" lIns="0" tIns="0" rIns="0" bIns="0" anchor="t" anchorCtr="0">
              <a:spAutoFit/>
            </a:bodyPr>
            <a:lstStyle/>
            <a:p>
              <a:pPr algn="ctr">
                <a:lnSpc>
                  <a:spcPts val="1125"/>
                </a:lnSpc>
              </a:pPr>
              <a:r>
                <a:rPr lang="zh-CN" sz="750" dirty="0">
                  <a:solidFill>
                    <a:srgbClr val="785F5A"/>
                  </a:solidFill>
                  <a:latin typeface="+mn-lt"/>
                  <a:ea typeface="+mn-ea"/>
                  <a:cs typeface="+mn-cs"/>
                </a:rPr>
                <a:t>综合贡献与</a:t>
              </a:r>
              <a:br/>
              <a:r>
                <a:rPr lang="zh-CN" sz="750" dirty="0">
                  <a:solidFill>
                    <a:srgbClr val="785F5A"/>
                  </a:solidFill>
                  <a:latin typeface="+mn-lt"/>
                  <a:ea typeface="+mn-ea"/>
                  <a:cs typeface="+mn-cs"/>
                </a:rPr>
                <a:t>机制优化</a:t>
              </a:r>
            </a:p>
          </p:txBody>
        </p:sp>
      </p:grpSp>
      <p:grpSp>
        <p:nvGrpSpPr>
          <p:cNvPr id="221" name="escalation"/>
          <p:cNvGrpSpPr/>
          <p:nvPr/>
        </p:nvGrpSpPr>
        <p:grpSpPr>
          <a:xfrm>
            <a:off x="5829300" y="4343400"/>
            <a:ext cx="5981700" cy="2324100"/>
            <a:chOff x="5829300" y="4343400"/>
            <a:chExt cx="5981700" cy="2324100"/>
          </a:xfrm>
        </p:grpSpPr>
        <p:sp>
          <p:nvSpPr>
            <p:cNvPr id="195" name="Rectangle 195"/>
            <p:cNvSpPr/>
            <p:nvPr/>
          </p:nvSpPr>
          <p:spPr>
            <a:xfrm>
              <a:off x="5829300" y="4343400"/>
              <a:ext cx="5981700" cy="2324100"/>
            </a:xfrm>
            <a:prstGeom prst="roundRect">
              <a:avLst>
                <a:gd name="adj" fmla="val 4098"/>
              </a:avLst>
            </a:prstGeom>
            <a:solidFill>
              <a:srgbClr val="F9FBFE"/>
            </a:solidFill>
            <a:ln w="9525">
              <a:solidFill>
                <a:srgbClr val="C9D8EF"/>
              </a:solidFill>
            </a:ln>
          </p:spPr>
        </p:sp>
        <p:sp>
          <p:nvSpPr>
            <p:cNvPr id="196" name="Rectangle 196"/>
            <p:cNvSpPr/>
            <p:nvPr/>
          </p:nvSpPr>
          <p:spPr>
            <a:xfrm>
              <a:off x="7867650" y="4343400"/>
              <a:ext cx="1905000" cy="266700"/>
            </a:xfrm>
            <a:prstGeom prst="roundRect">
              <a:avLst>
                <a:gd name="adj" fmla="val 14286"/>
              </a:avLst>
            </a:prstGeom>
            <a:gradFill>
              <a:gsLst>
                <a:gs pos="0">
                  <a:srgbClr val="AD3921"/>
                </a:gs>
                <a:gs pos="100000">
                  <a:srgbClr val="962C16"/>
                </a:gs>
              </a:gsLst>
              <a:lin ang="5400000" scaled="1"/>
            </a:gradFill>
            <a:ln>
              <a:noFill/>
            </a:ln>
          </p:spPr>
        </p:sp>
        <p:sp>
          <p:nvSpPr>
            <p:cNvPr id="197" name="TextBox 197"/>
            <p:cNvSpPr txBox="1"/>
            <p:nvPr/>
          </p:nvSpPr>
          <p:spPr>
            <a:xfrm>
              <a:off x="8419414" y="44191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风险升级规则</a:t>
              </a:r>
            </a:p>
          </p:txBody>
        </p:sp>
        <p:sp>
          <p:nvSpPr>
            <p:cNvPr id="198" name="Rectangle 198"/>
            <p:cNvSpPr/>
            <p:nvPr/>
          </p:nvSpPr>
          <p:spPr>
            <a:xfrm>
              <a:off x="5905500" y="4762500"/>
              <a:ext cx="5829300" cy="266700"/>
            </a:xfrm>
            <a:prstGeom prst="rect">
              <a:avLst/>
            </a:prstGeom>
            <a:solidFill>
              <a:srgbClr val="A8351D"/>
            </a:solidFill>
            <a:ln>
              <a:noFill/>
            </a:ln>
          </p:spPr>
        </p:sp>
        <p:sp>
          <p:nvSpPr>
            <p:cNvPr id="199" name="TextBox 199"/>
            <p:cNvSpPr txBox="1"/>
            <p:nvPr/>
          </p:nvSpPr>
          <p:spPr>
            <a:xfrm>
              <a:off x="6171349" y="48448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等级</a:t>
              </a:r>
            </a:p>
          </p:txBody>
        </p:sp>
        <p:sp>
          <p:nvSpPr>
            <p:cNvPr id="200" name="TextBox 200"/>
            <p:cNvSpPr txBox="1"/>
            <p:nvPr/>
          </p:nvSpPr>
          <p:spPr>
            <a:xfrm>
              <a:off x="7632586" y="48448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触发情形</a:t>
              </a:r>
            </a:p>
          </p:txBody>
        </p:sp>
        <p:sp>
          <p:nvSpPr>
            <p:cNvPr id="201" name="TextBox 201"/>
            <p:cNvSpPr txBox="1"/>
            <p:nvPr/>
          </p:nvSpPr>
          <p:spPr>
            <a:xfrm>
              <a:off x="9537586" y="48448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升级对象</a:t>
              </a:r>
            </a:p>
          </p:txBody>
        </p:sp>
        <p:sp>
          <p:nvSpPr>
            <p:cNvPr id="202" name="TextBox 202"/>
            <p:cNvSpPr txBox="1"/>
            <p:nvPr/>
          </p:nvSpPr>
          <p:spPr>
            <a:xfrm>
              <a:off x="10880611" y="48448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响应时限</a:t>
              </a:r>
            </a:p>
          </p:txBody>
        </p:sp>
        <p:sp>
          <p:nvSpPr>
            <p:cNvPr id="203" name="Rectangle 203"/>
            <p:cNvSpPr/>
            <p:nvPr/>
          </p:nvSpPr>
          <p:spPr>
            <a:xfrm>
              <a:off x="5905500" y="5029200"/>
              <a:ext cx="5829300" cy="495300"/>
            </a:xfrm>
            <a:prstGeom prst="rect">
              <a:avLst/>
            </a:prstGeom>
            <a:solidFill>
              <a:srgbClr val="FFFFFF"/>
            </a:solidFill>
            <a:ln w="9525">
              <a:solidFill>
                <a:srgbClr val="E2EAF6"/>
              </a:solidFill>
            </a:ln>
          </p:spPr>
        </p:sp>
        <p:sp>
          <p:nvSpPr>
            <p:cNvPr id="204" name="Rectangle 204"/>
            <p:cNvSpPr/>
            <p:nvPr/>
          </p:nvSpPr>
          <p:spPr>
            <a:xfrm>
              <a:off x="6000750" y="5162550"/>
              <a:ext cx="571500" cy="228600"/>
            </a:xfrm>
            <a:prstGeom prst="roundRect">
              <a:avLst>
                <a:gd name="adj" fmla="val 16667"/>
              </a:avLst>
            </a:prstGeom>
            <a:solidFill>
              <a:srgbClr val="FDF3D7"/>
            </a:solidFill>
            <a:ln>
              <a:noFill/>
            </a:ln>
          </p:spPr>
        </p:sp>
        <p:sp>
          <p:nvSpPr>
            <p:cNvPr id="205" name="TextBox 205"/>
            <p:cNvSpPr txBox="1"/>
            <p:nvPr/>
          </p:nvSpPr>
          <p:spPr>
            <a:xfrm>
              <a:off x="6171349" y="5235416"/>
              <a:ext cx="230302" cy="161925"/>
            </a:xfrm>
            <a:prstGeom prst="rect">
              <a:avLst/>
            </a:prstGeom>
            <a:noFill/>
            <a:ln>
              <a:noFill/>
            </a:ln>
          </p:spPr>
          <p:txBody>
            <a:bodyPr wrap="none" lIns="0" tIns="0" rIns="0" bIns="0" anchor="t" anchorCtr="0">
              <a:spAutoFit/>
            </a:bodyPr>
            <a:lstStyle/>
            <a:p>
              <a:pPr algn="ctr"/>
              <a:r>
                <a:rPr lang="zh-CN" sz="820" b="1" dirty="0">
                  <a:solidFill>
                    <a:srgbClr val="B8250B"/>
                  </a:solidFill>
                  <a:latin typeface="+mn-lt"/>
                  <a:ea typeface="+mn-ea"/>
                  <a:cs typeface="+mn-cs"/>
                </a:rPr>
                <a:t>黄色</a:t>
              </a:r>
            </a:p>
          </p:txBody>
        </p:sp>
        <p:sp>
          <p:nvSpPr>
            <p:cNvPr id="206" name="TextBox 206"/>
            <p:cNvSpPr txBox="1"/>
            <p:nvPr/>
          </p:nvSpPr>
          <p:spPr>
            <a:xfrm>
              <a:off x="7439406" y="5235416"/>
              <a:ext cx="837438" cy="161925"/>
            </a:xfrm>
            <a:prstGeom prst="rect">
              <a:avLst/>
            </a:prstGeom>
            <a:noFill/>
            <a:ln>
              <a:noFill/>
            </a:ln>
          </p:spPr>
          <p:txBody>
            <a:bodyPr wrap="none" lIns="0" tIns="0" rIns="0" bIns="0" anchor="t" anchorCtr="0">
              <a:spAutoFit/>
            </a:bodyPr>
            <a:lstStyle/>
            <a:p>
              <a:pPr algn="ctr"/>
              <a:r>
                <a:rPr lang="zh-CN" sz="820" dirty="0">
                  <a:solidFill>
                    <a:srgbClr val="67281B"/>
                  </a:solidFill>
                  <a:latin typeface="+mn-lt"/>
                  <a:ea typeface="+mn-ea"/>
                  <a:cs typeface="+mn-cs"/>
                </a:rPr>
                <a:t>进度偏差≥10%​​</a:t>
              </a:r>
            </a:p>
          </p:txBody>
        </p:sp>
        <p:sp>
          <p:nvSpPr>
            <p:cNvPr id="207" name="TextBox 207"/>
            <p:cNvSpPr txBox="1"/>
            <p:nvPr/>
          </p:nvSpPr>
          <p:spPr>
            <a:xfrm>
              <a:off x="9537586" y="5235416"/>
              <a:ext cx="451079" cy="161925"/>
            </a:xfrm>
            <a:prstGeom prst="rect">
              <a:avLst/>
            </a:prstGeom>
            <a:noFill/>
            <a:ln>
              <a:noFill/>
            </a:ln>
          </p:spPr>
          <p:txBody>
            <a:bodyPr wrap="none" lIns="0" tIns="0" rIns="0" bIns="0" anchor="t" anchorCtr="0">
              <a:spAutoFit/>
            </a:bodyPr>
            <a:lstStyle/>
            <a:p>
              <a:pPr algn="ctr"/>
              <a:r>
                <a:rPr lang="zh-CN" sz="820" dirty="0">
                  <a:solidFill>
                    <a:srgbClr val="67281B"/>
                  </a:solidFill>
                  <a:latin typeface="+mn-lt"/>
                  <a:ea typeface="+mn-ea"/>
                  <a:cs typeface="+mn-cs"/>
                </a:rPr>
                <a:t>分行专班</a:t>
              </a:r>
            </a:p>
          </p:txBody>
        </p:sp>
        <p:sp>
          <p:nvSpPr>
            <p:cNvPr id="208" name="TextBox 208"/>
            <p:cNvSpPr txBox="1"/>
            <p:nvPr/>
          </p:nvSpPr>
          <p:spPr>
            <a:xfrm>
              <a:off x="10789540" y="5235416"/>
              <a:ext cx="633219" cy="161925"/>
            </a:xfrm>
            <a:prstGeom prst="rect">
              <a:avLst/>
            </a:prstGeom>
            <a:noFill/>
            <a:ln>
              <a:noFill/>
            </a:ln>
          </p:spPr>
          <p:txBody>
            <a:bodyPr wrap="none" lIns="0" tIns="0" rIns="0" bIns="0" anchor="t" anchorCtr="0">
              <a:spAutoFit/>
            </a:bodyPr>
            <a:lstStyle/>
            <a:p>
              <a:pPr algn="ctr"/>
              <a:r>
                <a:rPr lang="zh-CN" sz="820" dirty="0">
                  <a:solidFill>
                    <a:srgbClr val="67281B"/>
                  </a:solidFill>
                  <a:latin typeface="+mn-lt"/>
                  <a:ea typeface="+mn-ea"/>
                  <a:cs typeface="+mn-cs"/>
                </a:rPr>
                <a:t>3个工作日​​</a:t>
              </a:r>
            </a:p>
          </p:txBody>
        </p:sp>
        <p:sp>
          <p:nvSpPr>
            <p:cNvPr id="209" name="Rectangle 209"/>
            <p:cNvSpPr/>
            <p:nvPr/>
          </p:nvSpPr>
          <p:spPr>
            <a:xfrm>
              <a:off x="5905500" y="5524500"/>
              <a:ext cx="5829300" cy="495300"/>
            </a:xfrm>
            <a:prstGeom prst="rect">
              <a:avLst/>
            </a:prstGeom>
            <a:solidFill>
              <a:srgbClr val="F7FAFE"/>
            </a:solidFill>
            <a:ln w="9525">
              <a:solidFill>
                <a:srgbClr val="E2EAF6"/>
              </a:solidFill>
            </a:ln>
          </p:spPr>
        </p:sp>
        <p:sp>
          <p:nvSpPr>
            <p:cNvPr id="210" name="Rectangle 210"/>
            <p:cNvSpPr/>
            <p:nvPr/>
          </p:nvSpPr>
          <p:spPr>
            <a:xfrm>
              <a:off x="6000750" y="5657850"/>
              <a:ext cx="571500" cy="228600"/>
            </a:xfrm>
            <a:prstGeom prst="roundRect">
              <a:avLst>
                <a:gd name="adj" fmla="val 16667"/>
              </a:avLst>
            </a:prstGeom>
            <a:solidFill>
              <a:srgbClr val="FDE8D4"/>
            </a:solidFill>
            <a:ln>
              <a:noFill/>
            </a:ln>
          </p:spPr>
        </p:sp>
        <p:sp>
          <p:nvSpPr>
            <p:cNvPr id="211" name="TextBox 211"/>
            <p:cNvSpPr txBox="1"/>
            <p:nvPr/>
          </p:nvSpPr>
          <p:spPr>
            <a:xfrm>
              <a:off x="6171349" y="5730716"/>
              <a:ext cx="230302" cy="161925"/>
            </a:xfrm>
            <a:prstGeom prst="rect">
              <a:avLst/>
            </a:prstGeom>
            <a:noFill/>
            <a:ln>
              <a:noFill/>
            </a:ln>
          </p:spPr>
          <p:txBody>
            <a:bodyPr wrap="none" lIns="0" tIns="0" rIns="0" bIns="0" anchor="t" anchorCtr="0">
              <a:spAutoFit/>
            </a:bodyPr>
            <a:lstStyle/>
            <a:p>
              <a:pPr algn="ctr"/>
              <a:r>
                <a:rPr lang="zh-CN" sz="820" b="1" dirty="0">
                  <a:solidFill>
                    <a:srgbClr val="D9361A"/>
                  </a:solidFill>
                  <a:latin typeface="+mn-lt"/>
                  <a:ea typeface="+mn-ea"/>
                  <a:cs typeface="+mn-cs"/>
                </a:rPr>
                <a:t>橙色</a:t>
              </a:r>
            </a:p>
          </p:txBody>
        </p:sp>
        <p:sp>
          <p:nvSpPr>
            <p:cNvPr id="212" name="TextBox 212"/>
            <p:cNvSpPr txBox="1"/>
            <p:nvPr/>
          </p:nvSpPr>
          <p:spPr>
            <a:xfrm>
              <a:off x="7210350" y="5730716"/>
              <a:ext cx="1295550" cy="161925"/>
            </a:xfrm>
            <a:prstGeom prst="rect">
              <a:avLst/>
            </a:prstGeom>
            <a:noFill/>
            <a:ln>
              <a:noFill/>
            </a:ln>
          </p:spPr>
          <p:txBody>
            <a:bodyPr wrap="none" lIns="0" tIns="0" rIns="0" bIns="0" anchor="t" anchorCtr="0">
              <a:spAutoFit/>
            </a:bodyPr>
            <a:lstStyle/>
            <a:p>
              <a:pPr algn="ctr"/>
              <a:r>
                <a:rPr lang="zh-CN" sz="820" dirty="0">
                  <a:solidFill>
                    <a:srgbClr val="67281B"/>
                  </a:solidFill>
                  <a:latin typeface="+mn-lt"/>
                  <a:ea typeface="+mn-ea"/>
                  <a:cs typeface="+mn-cs"/>
                </a:rPr>
                <a:t>关键指标连续2期未达标​​</a:t>
              </a:r>
            </a:p>
          </p:txBody>
        </p:sp>
        <p:sp>
          <p:nvSpPr>
            <p:cNvPr id="213" name="TextBox 213"/>
            <p:cNvSpPr txBox="1"/>
            <p:nvPr/>
          </p:nvSpPr>
          <p:spPr>
            <a:xfrm>
              <a:off x="9482392" y="5730716"/>
              <a:ext cx="561467" cy="161925"/>
            </a:xfrm>
            <a:prstGeom prst="rect">
              <a:avLst/>
            </a:prstGeom>
            <a:noFill/>
            <a:ln>
              <a:noFill/>
            </a:ln>
          </p:spPr>
          <p:txBody>
            <a:bodyPr wrap="none" lIns="0" tIns="0" rIns="0" bIns="0" anchor="t" anchorCtr="0">
              <a:spAutoFit/>
            </a:bodyPr>
            <a:lstStyle/>
            <a:p>
              <a:pPr algn="ctr"/>
              <a:r>
                <a:rPr lang="zh-CN" sz="820" dirty="0">
                  <a:solidFill>
                    <a:srgbClr val="67281B"/>
                  </a:solidFill>
                  <a:latin typeface="+mn-lt"/>
                  <a:ea typeface="+mn-ea"/>
                  <a:cs typeface="+mn-cs"/>
                </a:rPr>
                <a:t>总行项目组</a:t>
              </a:r>
            </a:p>
          </p:txBody>
        </p:sp>
        <p:sp>
          <p:nvSpPr>
            <p:cNvPr id="214" name="TextBox 214"/>
            <p:cNvSpPr txBox="1"/>
            <p:nvPr/>
          </p:nvSpPr>
          <p:spPr>
            <a:xfrm>
              <a:off x="10789540" y="5730716"/>
              <a:ext cx="633219" cy="161925"/>
            </a:xfrm>
            <a:prstGeom prst="rect">
              <a:avLst/>
            </a:prstGeom>
            <a:noFill/>
            <a:ln>
              <a:noFill/>
            </a:ln>
          </p:spPr>
          <p:txBody>
            <a:bodyPr wrap="none" lIns="0" tIns="0" rIns="0" bIns="0" anchor="t" anchorCtr="0">
              <a:spAutoFit/>
            </a:bodyPr>
            <a:lstStyle/>
            <a:p>
              <a:pPr algn="ctr"/>
              <a:r>
                <a:rPr lang="zh-CN" sz="820" dirty="0">
                  <a:solidFill>
                    <a:srgbClr val="67281B"/>
                  </a:solidFill>
                  <a:latin typeface="+mn-lt"/>
                  <a:ea typeface="+mn-ea"/>
                  <a:cs typeface="+mn-cs"/>
                </a:rPr>
                <a:t>2个工作日​​</a:t>
              </a:r>
            </a:p>
          </p:txBody>
        </p:sp>
        <p:sp>
          <p:nvSpPr>
            <p:cNvPr id="215" name="Rectangle 215"/>
            <p:cNvSpPr/>
            <p:nvPr/>
          </p:nvSpPr>
          <p:spPr>
            <a:xfrm>
              <a:off x="5905500" y="6019800"/>
              <a:ext cx="5829300" cy="495300"/>
            </a:xfrm>
            <a:prstGeom prst="rect">
              <a:avLst/>
            </a:prstGeom>
            <a:solidFill>
              <a:srgbClr val="FFFFFF"/>
            </a:solidFill>
            <a:ln w="9525">
              <a:solidFill>
                <a:srgbClr val="E2EAF6"/>
              </a:solidFill>
            </a:ln>
          </p:spPr>
        </p:sp>
        <p:sp>
          <p:nvSpPr>
            <p:cNvPr id="216" name="Rectangle 216"/>
            <p:cNvSpPr/>
            <p:nvPr/>
          </p:nvSpPr>
          <p:spPr>
            <a:xfrm>
              <a:off x="6000750" y="6153150"/>
              <a:ext cx="571500" cy="228600"/>
            </a:xfrm>
            <a:prstGeom prst="roundRect">
              <a:avLst>
                <a:gd name="adj" fmla="val 16667"/>
              </a:avLst>
            </a:prstGeom>
            <a:solidFill>
              <a:srgbClr val="FCE1E1"/>
            </a:solidFill>
            <a:ln>
              <a:noFill/>
            </a:ln>
          </p:spPr>
        </p:sp>
        <p:sp>
          <p:nvSpPr>
            <p:cNvPr id="217" name="TextBox 217"/>
            <p:cNvSpPr txBox="1"/>
            <p:nvPr/>
          </p:nvSpPr>
          <p:spPr>
            <a:xfrm>
              <a:off x="6171349" y="6226016"/>
              <a:ext cx="230302" cy="161925"/>
            </a:xfrm>
            <a:prstGeom prst="rect">
              <a:avLst/>
            </a:prstGeom>
            <a:noFill/>
            <a:ln>
              <a:noFill/>
            </a:ln>
          </p:spPr>
          <p:txBody>
            <a:bodyPr wrap="none" lIns="0" tIns="0" rIns="0" bIns="0" anchor="t" anchorCtr="0">
              <a:spAutoFit/>
            </a:bodyPr>
            <a:lstStyle/>
            <a:p>
              <a:pPr algn="ctr"/>
              <a:r>
                <a:rPr lang="zh-CN" sz="820" b="1" dirty="0">
                  <a:solidFill>
                    <a:srgbClr val="C0412B"/>
                  </a:solidFill>
                  <a:latin typeface="+mn-lt"/>
                  <a:ea typeface="+mn-ea"/>
                  <a:cs typeface="+mn-cs"/>
                </a:rPr>
                <a:t>红色</a:t>
              </a:r>
            </a:p>
          </p:txBody>
        </p:sp>
        <p:sp>
          <p:nvSpPr>
            <p:cNvPr id="218" name="TextBox 218"/>
            <p:cNvSpPr txBox="1"/>
            <p:nvPr/>
          </p:nvSpPr>
          <p:spPr>
            <a:xfrm>
              <a:off x="7356615" y="6226016"/>
              <a:ext cx="1003021" cy="161925"/>
            </a:xfrm>
            <a:prstGeom prst="rect">
              <a:avLst/>
            </a:prstGeom>
            <a:noFill/>
            <a:ln>
              <a:noFill/>
            </a:ln>
          </p:spPr>
          <p:txBody>
            <a:bodyPr wrap="none" lIns="0" tIns="0" rIns="0" bIns="0" anchor="t" anchorCtr="0">
              <a:spAutoFit/>
            </a:bodyPr>
            <a:lstStyle/>
            <a:p>
              <a:pPr algn="ctr"/>
              <a:r>
                <a:rPr lang="zh-CN" sz="820" dirty="0">
                  <a:solidFill>
                    <a:srgbClr val="67281B"/>
                  </a:solidFill>
                  <a:latin typeface="+mn-lt"/>
                  <a:ea typeface="+mn-ea"/>
                  <a:cs typeface="+mn-cs"/>
                </a:rPr>
                <a:t>重大合规或客户事件</a:t>
              </a:r>
            </a:p>
          </p:txBody>
        </p:sp>
        <p:sp>
          <p:nvSpPr>
            <p:cNvPr id="219" name="TextBox 219"/>
            <p:cNvSpPr txBox="1"/>
            <p:nvPr/>
          </p:nvSpPr>
          <p:spPr>
            <a:xfrm>
              <a:off x="9482392" y="6226016"/>
              <a:ext cx="561467" cy="161925"/>
            </a:xfrm>
            <a:prstGeom prst="rect">
              <a:avLst/>
            </a:prstGeom>
            <a:noFill/>
            <a:ln>
              <a:noFill/>
            </a:ln>
          </p:spPr>
          <p:txBody>
            <a:bodyPr wrap="none" lIns="0" tIns="0" rIns="0" bIns="0" anchor="t" anchorCtr="0">
              <a:spAutoFit/>
            </a:bodyPr>
            <a:lstStyle/>
            <a:p>
              <a:pPr algn="ctr"/>
              <a:r>
                <a:rPr lang="zh-CN" sz="820" dirty="0">
                  <a:solidFill>
                    <a:srgbClr val="67281B"/>
                  </a:solidFill>
                  <a:latin typeface="+mn-lt"/>
                  <a:ea typeface="+mn-ea"/>
                  <a:cs typeface="+mn-cs"/>
                </a:rPr>
                <a:t>经营委员会</a:t>
              </a:r>
            </a:p>
          </p:txBody>
        </p:sp>
        <p:sp>
          <p:nvSpPr>
            <p:cNvPr id="220" name="TextBox 220"/>
            <p:cNvSpPr txBox="1"/>
            <p:nvPr/>
          </p:nvSpPr>
          <p:spPr>
            <a:xfrm>
              <a:off x="10990999" y="6226016"/>
              <a:ext cx="230302" cy="161925"/>
            </a:xfrm>
            <a:prstGeom prst="rect">
              <a:avLst/>
            </a:prstGeom>
            <a:noFill/>
            <a:ln>
              <a:noFill/>
            </a:ln>
          </p:spPr>
          <p:txBody>
            <a:bodyPr wrap="none" lIns="0" tIns="0" rIns="0" bIns="0" anchor="t" anchorCtr="0">
              <a:spAutoFit/>
            </a:bodyPr>
            <a:lstStyle/>
            <a:p>
              <a:pPr algn="ctr"/>
              <a:r>
                <a:rPr lang="zh-CN" sz="820" dirty="0">
                  <a:solidFill>
                    <a:srgbClr val="67281B"/>
                  </a:solidFill>
                  <a:latin typeface="+mn-lt"/>
                  <a:ea typeface="+mn-ea"/>
                  <a:cs typeface="+mn-cs"/>
                </a:rPr>
                <a:t>立即</a:t>
              </a:r>
            </a:p>
          </p:txBody>
        </p:sp>
      </p:gr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band"/>
          <p:cNvSpPr/>
          <p:nvPr/>
        </p:nvSpPr>
        <p:spPr>
          <a:xfrm>
            <a:off x="0" y="6667500"/>
            <a:ext cx="12192000" cy="190500"/>
          </a:xfrm>
          <a:prstGeom prst="rect">
            <a:avLst/>
          </a:prstGeom>
          <a:gradFill>
            <a:gsLst>
              <a:gs pos="0">
                <a:srgbClr val="671200"/>
              </a:gs>
              <a:gs pos="100000">
                <a:srgbClr val="E84E2F"/>
              </a:gs>
            </a:gsLst>
            <a:lin ang="0" scaled="1"/>
          </a:gradFill>
          <a:ln>
            <a:noFill/>
          </a:ln>
        </p:spPr>
      </p:sp>
      <p:sp>
        <p:nvSpPr>
          <p:cNvPr id="3" name="deco-stripe"/>
          <p:cNvSpPr/>
          <p:nvPr/>
        </p:nvSpPr>
        <p:spPr>
          <a:xfrm>
            <a:off x="0" y="0"/>
            <a:ext cx="133350" cy="6667500"/>
          </a:xfrm>
          <a:prstGeom prst="rect">
            <a:avLst/>
          </a:prstGeom>
          <a:solidFill>
            <a:srgbClr val="520E00"/>
          </a:solidFill>
          <a:ln>
            <a:noFill/>
          </a:ln>
        </p:spPr>
      </p:sp>
      <p:grpSp>
        <p:nvGrpSpPr>
          <p:cNvPr id="7" name="title-block"/>
          <p:cNvGrpSpPr/>
          <p:nvPr/>
        </p:nvGrpSpPr>
        <p:grpSpPr>
          <a:xfrm>
            <a:off x="593598" y="1679258"/>
            <a:ext cx="4696587" cy="1063942"/>
            <a:chOff x="593598" y="1679258"/>
            <a:chExt cx="4696587" cy="1063942"/>
          </a:xfrm>
        </p:grpSpPr>
        <p:sp>
          <p:nvSpPr>
            <p:cNvPr id="4" name="TextBox 4"/>
            <p:cNvSpPr txBox="1"/>
            <p:nvPr/>
          </p:nvSpPr>
          <p:spPr>
            <a:xfrm>
              <a:off x="593598" y="1679258"/>
              <a:ext cx="4696587" cy="616077"/>
            </a:xfrm>
            <a:prstGeom prst="rect">
              <a:avLst/>
            </a:prstGeom>
            <a:noFill/>
            <a:ln>
              <a:noFill/>
            </a:ln>
          </p:spPr>
          <p:txBody>
            <a:bodyPr wrap="none" lIns="0" tIns="0" rIns="0" bIns="0" anchor="t" anchorCtr="0">
              <a:spAutoFit/>
            </a:bodyPr>
            <a:lstStyle/>
            <a:p>
              <a:pPr algn="l"/>
              <a:r>
                <a:rPr lang="zh-CN" sz="3150" b="1" dirty="0">
                  <a:solidFill>
                    <a:srgbClr val="520E00"/>
                  </a:solidFill>
                  <a:latin typeface="+mn-lt"/>
                  <a:ea typeface="+mn-ea"/>
                  <a:cs typeface="+mn-cs"/>
                </a:rPr>
                <a:t>信用卡业务私域运营方案</a:t>
              </a:r>
            </a:p>
          </p:txBody>
        </p:sp>
        <p:sp>
          <p:nvSpPr>
            <p:cNvPr id="5" name="TextBox 5"/>
            <p:cNvSpPr txBox="1"/>
            <p:nvPr/>
          </p:nvSpPr>
          <p:spPr>
            <a:xfrm>
              <a:off x="601218" y="2317432"/>
              <a:ext cx="3570732" cy="322707"/>
            </a:xfrm>
            <a:prstGeom prst="rect">
              <a:avLst/>
            </a:prstGeom>
            <a:noFill/>
            <a:ln>
              <a:noFill/>
            </a:ln>
          </p:spPr>
          <p:txBody>
            <a:bodyPr wrap="none" lIns="0" tIns="0" rIns="0" bIns="0" anchor="t" anchorCtr="0">
              <a:spAutoFit/>
            </a:bodyPr>
            <a:lstStyle/>
            <a:p>
              <a:pPr algn="l"/>
              <a:r>
                <a:rPr lang="zh-CN" sz="1650" b="1" dirty="0">
                  <a:solidFill>
                    <a:srgbClr val="8A1700"/>
                  </a:solidFill>
                  <a:latin typeface="+mn-lt"/>
                  <a:ea typeface="+mn-ea"/>
                  <a:cs typeface="+mn-cs"/>
                </a:rPr>
                <a:t>从一次性获客到全生命周期价值经营</a:t>
              </a:r>
            </a:p>
          </p:txBody>
        </p:sp>
        <p:sp>
          <p:nvSpPr>
            <p:cNvPr id="6" name="Rectangle 6"/>
            <p:cNvSpPr/>
            <p:nvPr/>
          </p:nvSpPr>
          <p:spPr>
            <a:xfrm>
              <a:off x="609600" y="2705100"/>
              <a:ext cx="1143000" cy="38100"/>
            </a:xfrm>
            <a:prstGeom prst="rect">
              <a:avLst/>
            </a:prstGeom>
            <a:solidFill>
              <a:srgbClr val="C02C0A"/>
            </a:solidFill>
            <a:ln>
              <a:noFill/>
            </a:ln>
          </p:spPr>
        </p:sp>
      </p:grpSp>
      <p:grpSp>
        <p:nvGrpSpPr>
          <p:cNvPr id="40" name="pillars-row"/>
          <p:cNvGrpSpPr/>
          <p:nvPr/>
        </p:nvGrpSpPr>
        <p:grpSpPr>
          <a:xfrm>
            <a:off x="603885" y="3333750"/>
            <a:ext cx="5148428" cy="841534"/>
            <a:chOff x="603885" y="3333750"/>
            <a:chExt cx="5148428" cy="841534"/>
          </a:xfrm>
        </p:grpSpPr>
        <p:grpSp>
          <p:nvGrpSpPr>
            <p:cNvPr id="14" name="pillar-1"/>
            <p:cNvGrpSpPr/>
            <p:nvPr/>
          </p:nvGrpSpPr>
          <p:grpSpPr>
            <a:xfrm>
              <a:off x="603885" y="3400425"/>
              <a:ext cx="614528" cy="774859"/>
              <a:chOff x="603885" y="3400425"/>
              <a:chExt cx="614528" cy="774859"/>
            </a:xfrm>
          </p:grpSpPr>
          <p:grpSp>
            <p:nvGrpSpPr>
              <p:cNvPr id="12" name="Group 12"/>
              <p:cNvGrpSpPr/>
              <p:nvPr/>
            </p:nvGrpSpPr>
            <p:grpSpPr>
              <a:xfrm>
                <a:off x="676275" y="3400425"/>
                <a:ext cx="285751" cy="285751"/>
                <a:chOff x="676275" y="3400425"/>
                <a:chExt cx="285751" cy="285751"/>
              </a:xfrm>
            </p:grpSpPr>
            <p:sp>
              <p:nvSpPr>
                <p:cNvPr id="8" name="Freeform 8"/>
                <p:cNvSpPr/>
                <p:nvPr/>
              </p:nvSpPr>
              <p:spPr>
                <a:xfrm>
                  <a:off x="708025" y="340042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3813">
                  <a:solidFill>
                    <a:srgbClr val="E84E2F"/>
                  </a:solidFill>
                </a:ln>
              </p:spPr>
            </p:sp>
            <p:sp>
              <p:nvSpPr>
                <p:cNvPr id="9" name="Freeform 9"/>
                <p:cNvSpPr/>
                <p:nvPr/>
              </p:nvSpPr>
              <p:spPr>
                <a:xfrm>
                  <a:off x="676275" y="3590925"/>
                  <a:ext cx="190500" cy="95250"/>
                </a:xfrm>
                <a:custGeom>
                  <a:avLst/>
                  <a:gdLst/>
                  <a:ahLst/>
                  <a:cxnLst/>
                  <a:rect l="l" t="t" r="r" b="b"/>
                  <a:pathLst>
                    <a:path w="190500" h="95250">
                      <a:moveTo>
                        <a:pt x="0" y="95250"/>
                      </a:moveTo>
                      <a:lnTo>
                        <a:pt x="0" y="63500"/>
                      </a:lnTo>
                      <a:cubicBezTo>
                        <a:pt x="0" y="28430"/>
                        <a:pt x="28430" y="0"/>
                        <a:pt x="63500" y="0"/>
                      </a:cubicBezTo>
                      <a:lnTo>
                        <a:pt x="127000" y="0"/>
                      </a:lnTo>
                      <a:cubicBezTo>
                        <a:pt x="162070" y="0"/>
                        <a:pt x="190500" y="28430"/>
                        <a:pt x="190500" y="63500"/>
                      </a:cubicBezTo>
                      <a:lnTo>
                        <a:pt x="190500" y="95250"/>
                      </a:lnTo>
                    </a:path>
                  </a:pathLst>
                </a:custGeom>
                <a:noFill/>
                <a:ln w="23813">
                  <a:solidFill>
                    <a:srgbClr val="E84E2F"/>
                  </a:solidFill>
                </a:ln>
              </p:spPr>
            </p:sp>
            <p:sp>
              <p:nvSpPr>
                <p:cNvPr id="10" name="Freeform 10"/>
                <p:cNvSpPr/>
                <p:nvPr/>
              </p:nvSpPr>
              <p:spPr>
                <a:xfrm>
                  <a:off x="882651" y="3402489"/>
                  <a:ext cx="47750" cy="123031"/>
                </a:xfrm>
                <a:custGeom>
                  <a:avLst/>
                  <a:gdLst/>
                  <a:ahLst/>
                  <a:cxnLst/>
                  <a:rect l="l" t="t" r="r" b="b"/>
                  <a:pathLst>
                    <a:path w="47750" h="123031">
                      <a:moveTo>
                        <a:pt x="0" y="0"/>
                      </a:moveTo>
                      <a:cubicBezTo>
                        <a:pt x="28097" y="7194"/>
                        <a:pt x="47750" y="32512"/>
                        <a:pt x="47750" y="61516"/>
                      </a:cubicBezTo>
                      <a:cubicBezTo>
                        <a:pt x="47750" y="90520"/>
                        <a:pt x="28097" y="115837"/>
                        <a:pt x="0" y="123031"/>
                      </a:cubicBezTo>
                    </a:path>
                  </a:pathLst>
                </a:custGeom>
                <a:noFill/>
                <a:ln w="23813">
                  <a:solidFill>
                    <a:srgbClr val="E84E2F"/>
                  </a:solidFill>
                </a:ln>
              </p:spPr>
            </p:sp>
            <p:sp>
              <p:nvSpPr>
                <p:cNvPr id="11" name="Freeform 11"/>
                <p:cNvSpPr/>
                <p:nvPr/>
              </p:nvSpPr>
              <p:spPr>
                <a:xfrm>
                  <a:off x="914401" y="3593307"/>
                  <a:ext cx="47625" cy="92869"/>
                </a:xfrm>
                <a:custGeom>
                  <a:avLst/>
                  <a:gdLst/>
                  <a:ahLst/>
                  <a:cxnLst/>
                  <a:rect l="l" t="t" r="r" b="b"/>
                  <a:pathLst>
                    <a:path w="47625" h="92869">
                      <a:moveTo>
                        <a:pt x="47625" y="92869"/>
                      </a:moveTo>
                      <a:lnTo>
                        <a:pt x="47625" y="61119"/>
                      </a:lnTo>
                      <a:cubicBezTo>
                        <a:pt x="47459" y="32299"/>
                        <a:pt x="27905" y="7205"/>
                        <a:pt x="0" y="0"/>
                      </a:cubicBezTo>
                    </a:path>
                  </a:pathLst>
                </a:custGeom>
                <a:noFill/>
                <a:ln w="23813">
                  <a:solidFill>
                    <a:srgbClr val="E84E2F"/>
                  </a:solidFill>
                </a:ln>
              </p:spPr>
            </p:sp>
          </p:grpSp>
          <p:sp>
            <p:nvSpPr>
              <p:cNvPr id="13" name="TextBox 13"/>
              <p:cNvSpPr txBox="1"/>
              <p:nvPr/>
            </p:nvSpPr>
            <p:spPr>
              <a:xfrm>
                <a:off x="603885" y="3955256"/>
                <a:ext cx="614528"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用户分层</a:t>
                </a:r>
              </a:p>
            </p:txBody>
          </p:sp>
        </p:grpSp>
        <p:sp>
          <p:nvSpPr>
            <p:cNvPr id="15" name="Line 15"/>
            <p:cNvSpPr/>
            <p:nvPr/>
          </p:nvSpPr>
          <p:spPr>
            <a:xfrm>
              <a:off x="1524000" y="3333750"/>
              <a:ext cx="9525" cy="819150"/>
            </a:xfrm>
            <a:custGeom>
              <a:avLst/>
              <a:gdLst/>
              <a:ahLst/>
              <a:cxnLst/>
              <a:rect l="l" t="t" r="r" b="b"/>
              <a:pathLst>
                <a:path w="9525" h="819150">
                  <a:moveTo>
                    <a:pt x="0" y="0"/>
                  </a:moveTo>
                  <a:lnTo>
                    <a:pt x="0" y="819150"/>
                  </a:lnTo>
                </a:path>
              </a:pathLst>
            </a:custGeom>
            <a:noFill/>
            <a:ln w="14288">
              <a:solidFill>
                <a:srgbClr val="C9D5EA"/>
              </a:solidFill>
            </a:ln>
          </p:spPr>
        </p:sp>
        <p:grpSp>
          <p:nvGrpSpPr>
            <p:cNvPr id="23" name="pillar-2"/>
            <p:cNvGrpSpPr/>
            <p:nvPr/>
          </p:nvGrpSpPr>
          <p:grpSpPr>
            <a:xfrm>
              <a:off x="1670685" y="3416300"/>
              <a:ext cx="614528" cy="758984"/>
              <a:chOff x="1670685" y="3416300"/>
              <a:chExt cx="614528" cy="758984"/>
            </a:xfrm>
          </p:grpSpPr>
          <p:grpSp>
            <p:nvGrpSpPr>
              <p:cNvPr id="21" name="Group 21"/>
              <p:cNvGrpSpPr/>
              <p:nvPr/>
            </p:nvGrpSpPr>
            <p:grpSpPr>
              <a:xfrm>
                <a:off x="1758950" y="3416300"/>
                <a:ext cx="254000" cy="254000"/>
                <a:chOff x="1758950" y="3416300"/>
                <a:chExt cx="254000" cy="254000"/>
              </a:xfrm>
            </p:grpSpPr>
            <p:sp>
              <p:nvSpPr>
                <p:cNvPr id="16" name="Freeform 16"/>
                <p:cNvSpPr/>
                <p:nvPr/>
              </p:nvSpPr>
              <p:spPr>
                <a:xfrm>
                  <a:off x="1758950" y="3416300"/>
                  <a:ext cx="95250" cy="95250"/>
                </a:xfrm>
                <a:custGeom>
                  <a:avLst/>
                  <a:gdLst/>
                  <a:ahLst/>
                  <a:cxnLst/>
                  <a:rect l="l" t="t" r="r" b="b"/>
                  <a:pathLst>
                    <a:path w="95250" h="95250">
                      <a:moveTo>
                        <a:pt x="0" y="15875"/>
                      </a:moveTo>
                      <a:cubicBezTo>
                        <a:pt x="0" y="7107"/>
                        <a:pt x="7107" y="0"/>
                        <a:pt x="15875" y="0"/>
                      </a:cubicBezTo>
                      <a:lnTo>
                        <a:pt x="79375" y="0"/>
                      </a:lnTo>
                      <a:cubicBezTo>
                        <a:pt x="88143" y="0"/>
                        <a:pt x="95250" y="7107"/>
                        <a:pt x="95250" y="15875"/>
                      </a:cubicBezTo>
                      <a:lnTo>
                        <a:pt x="95250" y="79375"/>
                      </a:lnTo>
                      <a:cubicBezTo>
                        <a:pt x="95250" y="88143"/>
                        <a:pt x="88143" y="95250"/>
                        <a:pt x="79375" y="95250"/>
                      </a:cubicBezTo>
                      <a:lnTo>
                        <a:pt x="15875" y="95250"/>
                      </a:lnTo>
                      <a:cubicBezTo>
                        <a:pt x="7107" y="95250"/>
                        <a:pt x="0" y="88143"/>
                        <a:pt x="0" y="79375"/>
                      </a:cubicBezTo>
                      <a:lnTo>
                        <a:pt x="0" y="15875"/>
                      </a:lnTo>
                    </a:path>
                  </a:pathLst>
                </a:custGeom>
                <a:noFill/>
                <a:ln w="23813">
                  <a:solidFill>
                    <a:srgbClr val="E84E2F"/>
                  </a:solidFill>
                </a:ln>
              </p:spPr>
            </p:sp>
            <p:sp>
              <p:nvSpPr>
                <p:cNvPr id="17" name="Freeform 17"/>
                <p:cNvSpPr/>
                <p:nvPr/>
              </p:nvSpPr>
              <p:spPr>
                <a:xfrm>
                  <a:off x="1758950" y="3575050"/>
                  <a:ext cx="95250" cy="95250"/>
                </a:xfrm>
                <a:custGeom>
                  <a:avLst/>
                  <a:gdLst/>
                  <a:ahLst/>
                  <a:cxnLst/>
                  <a:rect l="l" t="t" r="r" b="b"/>
                  <a:pathLst>
                    <a:path w="95250" h="95250">
                      <a:moveTo>
                        <a:pt x="0" y="15875"/>
                      </a:moveTo>
                      <a:cubicBezTo>
                        <a:pt x="0" y="7107"/>
                        <a:pt x="7107" y="0"/>
                        <a:pt x="15875" y="0"/>
                      </a:cubicBezTo>
                      <a:lnTo>
                        <a:pt x="79375" y="0"/>
                      </a:lnTo>
                      <a:cubicBezTo>
                        <a:pt x="88143" y="0"/>
                        <a:pt x="95250" y="7107"/>
                        <a:pt x="95250" y="15875"/>
                      </a:cubicBezTo>
                      <a:lnTo>
                        <a:pt x="95250" y="79375"/>
                      </a:lnTo>
                      <a:cubicBezTo>
                        <a:pt x="95250" y="88143"/>
                        <a:pt x="88143" y="95250"/>
                        <a:pt x="79375" y="95250"/>
                      </a:cubicBezTo>
                      <a:lnTo>
                        <a:pt x="15875" y="95250"/>
                      </a:lnTo>
                      <a:cubicBezTo>
                        <a:pt x="7107" y="95250"/>
                        <a:pt x="0" y="88143"/>
                        <a:pt x="0" y="79375"/>
                      </a:cubicBezTo>
                      <a:lnTo>
                        <a:pt x="0" y="15875"/>
                      </a:lnTo>
                    </a:path>
                  </a:pathLst>
                </a:custGeom>
                <a:noFill/>
                <a:ln w="23813">
                  <a:solidFill>
                    <a:srgbClr val="E84E2F"/>
                  </a:solidFill>
                </a:ln>
              </p:spPr>
            </p:sp>
            <p:sp>
              <p:nvSpPr>
                <p:cNvPr id="18" name="Freeform 18"/>
                <p:cNvSpPr/>
                <p:nvPr/>
              </p:nvSpPr>
              <p:spPr>
                <a:xfrm>
                  <a:off x="1917700" y="3575050"/>
                  <a:ext cx="95250" cy="95250"/>
                </a:xfrm>
                <a:custGeom>
                  <a:avLst/>
                  <a:gdLst/>
                  <a:ahLst/>
                  <a:cxnLst/>
                  <a:rect l="l" t="t" r="r" b="b"/>
                  <a:pathLst>
                    <a:path w="95250" h="95250">
                      <a:moveTo>
                        <a:pt x="0" y="15875"/>
                      </a:moveTo>
                      <a:cubicBezTo>
                        <a:pt x="0" y="7107"/>
                        <a:pt x="7107" y="0"/>
                        <a:pt x="15875" y="0"/>
                      </a:cubicBezTo>
                      <a:lnTo>
                        <a:pt x="79375" y="0"/>
                      </a:lnTo>
                      <a:cubicBezTo>
                        <a:pt x="88143" y="0"/>
                        <a:pt x="95250" y="7107"/>
                        <a:pt x="95250" y="15875"/>
                      </a:cubicBezTo>
                      <a:lnTo>
                        <a:pt x="95250" y="79375"/>
                      </a:lnTo>
                      <a:cubicBezTo>
                        <a:pt x="95250" y="88143"/>
                        <a:pt x="88143" y="95250"/>
                        <a:pt x="79375" y="95250"/>
                      </a:cubicBezTo>
                      <a:lnTo>
                        <a:pt x="15875" y="95250"/>
                      </a:lnTo>
                      <a:cubicBezTo>
                        <a:pt x="7107" y="95250"/>
                        <a:pt x="0" y="88143"/>
                        <a:pt x="0" y="79375"/>
                      </a:cubicBezTo>
                      <a:lnTo>
                        <a:pt x="0" y="15875"/>
                      </a:lnTo>
                    </a:path>
                  </a:pathLst>
                </a:custGeom>
                <a:noFill/>
                <a:ln w="23813">
                  <a:solidFill>
                    <a:srgbClr val="E84E2F"/>
                  </a:solidFill>
                </a:ln>
              </p:spPr>
            </p:sp>
            <p:sp>
              <p:nvSpPr>
                <p:cNvPr id="19" name="Freeform 19"/>
                <p:cNvSpPr/>
                <p:nvPr/>
              </p:nvSpPr>
              <p:spPr>
                <a:xfrm>
                  <a:off x="1917700" y="3463925"/>
                  <a:ext cx="95250" cy="9525"/>
                </a:xfrm>
                <a:custGeom>
                  <a:avLst/>
                  <a:gdLst/>
                  <a:ahLst/>
                  <a:cxnLst/>
                  <a:rect l="l" t="t" r="r" b="b"/>
                  <a:pathLst>
                    <a:path w="95250" h="9525">
                      <a:moveTo>
                        <a:pt x="0" y="0"/>
                      </a:moveTo>
                      <a:lnTo>
                        <a:pt x="95250" y="0"/>
                      </a:lnTo>
                    </a:path>
                  </a:pathLst>
                </a:custGeom>
                <a:noFill/>
                <a:ln w="23813">
                  <a:solidFill>
                    <a:srgbClr val="E84E2F"/>
                  </a:solidFill>
                </a:ln>
              </p:spPr>
            </p:sp>
            <p:sp>
              <p:nvSpPr>
                <p:cNvPr id="20" name="Freeform 20"/>
                <p:cNvSpPr/>
                <p:nvPr/>
              </p:nvSpPr>
              <p:spPr>
                <a:xfrm>
                  <a:off x="1965326" y="3416300"/>
                  <a:ext cx="9525" cy="95250"/>
                </a:xfrm>
                <a:custGeom>
                  <a:avLst/>
                  <a:gdLst/>
                  <a:ahLst/>
                  <a:cxnLst/>
                  <a:rect l="l" t="t" r="r" b="b"/>
                  <a:pathLst>
                    <a:path w="9525" h="95250">
                      <a:moveTo>
                        <a:pt x="0" y="0"/>
                      </a:moveTo>
                      <a:lnTo>
                        <a:pt x="0" y="95250"/>
                      </a:lnTo>
                    </a:path>
                  </a:pathLst>
                </a:custGeom>
                <a:noFill/>
                <a:ln w="23813">
                  <a:solidFill>
                    <a:srgbClr val="E84E2F"/>
                  </a:solidFill>
                </a:ln>
              </p:spPr>
            </p:sp>
          </p:grpSp>
          <p:sp>
            <p:nvSpPr>
              <p:cNvPr id="22" name="TextBox 22"/>
              <p:cNvSpPr txBox="1"/>
              <p:nvPr/>
            </p:nvSpPr>
            <p:spPr>
              <a:xfrm>
                <a:off x="1670685" y="3955256"/>
                <a:ext cx="614528"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场景运营</a:t>
                </a:r>
              </a:p>
            </p:txBody>
          </p:sp>
        </p:grpSp>
        <p:sp>
          <p:nvSpPr>
            <p:cNvPr id="24" name="Line 24"/>
            <p:cNvSpPr/>
            <p:nvPr/>
          </p:nvSpPr>
          <p:spPr>
            <a:xfrm>
              <a:off x="2590800" y="3333750"/>
              <a:ext cx="9525" cy="819150"/>
            </a:xfrm>
            <a:custGeom>
              <a:avLst/>
              <a:gdLst/>
              <a:ahLst/>
              <a:cxnLst/>
              <a:rect l="l" t="t" r="r" b="b"/>
              <a:pathLst>
                <a:path w="9525" h="819150">
                  <a:moveTo>
                    <a:pt x="0" y="0"/>
                  </a:moveTo>
                  <a:lnTo>
                    <a:pt x="0" y="819150"/>
                  </a:lnTo>
                </a:path>
              </a:pathLst>
            </a:custGeom>
            <a:noFill/>
            <a:ln w="14288">
              <a:solidFill>
                <a:srgbClr val="C9D5EA"/>
              </a:solidFill>
            </a:ln>
          </p:spPr>
        </p:sp>
        <p:grpSp>
          <p:nvGrpSpPr>
            <p:cNvPr id="29" name="pillar-3"/>
            <p:cNvGrpSpPr/>
            <p:nvPr/>
          </p:nvGrpSpPr>
          <p:grpSpPr>
            <a:xfrm>
              <a:off x="2737485" y="3400425"/>
              <a:ext cx="916076" cy="774859"/>
              <a:chOff x="2737485" y="3400425"/>
              <a:chExt cx="916076" cy="774859"/>
            </a:xfrm>
          </p:grpSpPr>
          <p:grpSp>
            <p:nvGrpSpPr>
              <p:cNvPr id="27" name="Group 27"/>
              <p:cNvGrpSpPr/>
              <p:nvPr/>
            </p:nvGrpSpPr>
            <p:grpSpPr>
              <a:xfrm>
                <a:off x="2788451" y="3400425"/>
                <a:ext cx="310011" cy="285751"/>
                <a:chOff x="2788451" y="3400425"/>
                <a:chExt cx="310011" cy="285751"/>
              </a:xfrm>
            </p:grpSpPr>
            <p:sp>
              <p:nvSpPr>
                <p:cNvPr id="25" name="Freeform 25"/>
                <p:cNvSpPr/>
                <p:nvPr/>
              </p:nvSpPr>
              <p:spPr>
                <a:xfrm>
                  <a:off x="2788451" y="3400425"/>
                  <a:ext cx="310011" cy="283306"/>
                </a:xfrm>
                <a:custGeom>
                  <a:avLst/>
                  <a:gdLst/>
                  <a:ahLst/>
                  <a:cxnLst/>
                  <a:rect l="l" t="t" r="r" b="b"/>
                  <a:pathLst>
                    <a:path w="310011" h="283306">
                      <a:moveTo>
                        <a:pt x="155727" y="283306"/>
                      </a:moveTo>
                      <a:cubicBezTo>
                        <a:pt x="56277" y="252479"/>
                        <a:pt x="0" y="147517"/>
                        <a:pt x="29362" y="47625"/>
                      </a:cubicBezTo>
                      <a:cubicBezTo>
                        <a:pt x="78821" y="49888"/>
                        <a:pt x="127218" y="32807"/>
                        <a:pt x="164299" y="0"/>
                      </a:cubicBezTo>
                      <a:cubicBezTo>
                        <a:pt x="201381" y="32807"/>
                        <a:pt x="249778" y="49888"/>
                        <a:pt x="299237" y="47625"/>
                      </a:cubicBezTo>
                      <a:cubicBezTo>
                        <a:pt x="310011" y="84282"/>
                        <a:pt x="309513" y="123332"/>
                        <a:pt x="297808" y="159703"/>
                      </a:cubicBezTo>
                    </a:path>
                  </a:pathLst>
                </a:custGeom>
                <a:noFill/>
                <a:ln w="23813">
                  <a:solidFill>
                    <a:srgbClr val="E84E2F"/>
                  </a:solidFill>
                </a:ln>
              </p:spPr>
            </p:sp>
            <p:sp>
              <p:nvSpPr>
                <p:cNvPr id="26" name="Freeform 26"/>
                <p:cNvSpPr/>
                <p:nvPr/>
              </p:nvSpPr>
              <p:spPr>
                <a:xfrm>
                  <a:off x="3000375" y="3622676"/>
                  <a:ext cx="95250" cy="63500"/>
                </a:xfrm>
                <a:custGeom>
                  <a:avLst/>
                  <a:gdLst/>
                  <a:ahLst/>
                  <a:cxnLst/>
                  <a:rect l="l" t="t" r="r" b="b"/>
                  <a:pathLst>
                    <a:path w="95250" h="63500">
                      <a:moveTo>
                        <a:pt x="0" y="31750"/>
                      </a:moveTo>
                      <a:lnTo>
                        <a:pt x="31750" y="63500"/>
                      </a:lnTo>
                      <a:lnTo>
                        <a:pt x="95250" y="0"/>
                      </a:lnTo>
                    </a:path>
                  </a:pathLst>
                </a:custGeom>
                <a:noFill/>
                <a:ln w="23813">
                  <a:solidFill>
                    <a:srgbClr val="E84E2F"/>
                  </a:solidFill>
                </a:ln>
              </p:spPr>
            </p:sp>
          </p:grpSp>
          <p:sp>
            <p:nvSpPr>
              <p:cNvPr id="28" name="TextBox 28"/>
              <p:cNvSpPr txBox="1"/>
              <p:nvPr/>
            </p:nvSpPr>
            <p:spPr>
              <a:xfrm>
                <a:off x="2737485" y="3955256"/>
                <a:ext cx="916076"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免费金融服务</a:t>
                </a:r>
              </a:p>
            </p:txBody>
          </p:sp>
        </p:grpSp>
        <p:sp>
          <p:nvSpPr>
            <p:cNvPr id="30" name="Line 30"/>
            <p:cNvSpPr/>
            <p:nvPr/>
          </p:nvSpPr>
          <p:spPr>
            <a:xfrm>
              <a:off x="3924300" y="3333750"/>
              <a:ext cx="9525" cy="819150"/>
            </a:xfrm>
            <a:custGeom>
              <a:avLst/>
              <a:gdLst/>
              <a:ahLst/>
              <a:cxnLst/>
              <a:rect l="l" t="t" r="r" b="b"/>
              <a:pathLst>
                <a:path w="9525" h="819150">
                  <a:moveTo>
                    <a:pt x="0" y="0"/>
                  </a:moveTo>
                  <a:lnTo>
                    <a:pt x="0" y="819150"/>
                  </a:lnTo>
                </a:path>
              </a:pathLst>
            </a:custGeom>
            <a:noFill/>
            <a:ln w="14288">
              <a:solidFill>
                <a:srgbClr val="C9D5EA"/>
              </a:solidFill>
            </a:ln>
          </p:spPr>
        </p:sp>
        <p:grpSp>
          <p:nvGrpSpPr>
            <p:cNvPr id="33" name="pillar-4"/>
            <p:cNvGrpSpPr/>
            <p:nvPr/>
          </p:nvGrpSpPr>
          <p:grpSpPr>
            <a:xfrm>
              <a:off x="4070985" y="3403997"/>
              <a:ext cx="614528" cy="771287"/>
              <a:chOff x="4070985" y="3403997"/>
              <a:chExt cx="614528" cy="771287"/>
            </a:xfrm>
          </p:grpSpPr>
          <p:sp>
            <p:nvSpPr>
              <p:cNvPr id="31" name="Freeform 31"/>
              <p:cNvSpPr/>
              <p:nvPr/>
            </p:nvSpPr>
            <p:spPr>
              <a:xfrm>
                <a:off x="4127119" y="3403997"/>
                <a:ext cx="316929" cy="280940"/>
              </a:xfrm>
              <a:custGeom>
                <a:avLst/>
                <a:gdLst/>
                <a:ahLst/>
                <a:cxnLst/>
                <a:rect l="l" t="t" r="r" b="b"/>
                <a:pathLst>
                  <a:path w="316929" h="280940">
                    <a:moveTo>
                      <a:pt x="16256" y="266304"/>
                    </a:moveTo>
                    <a:lnTo>
                      <a:pt x="36894" y="204391"/>
                    </a:lnTo>
                    <a:cubicBezTo>
                      <a:pt x="0" y="149829"/>
                      <a:pt x="14256" y="79423"/>
                      <a:pt x="70231" y="39703"/>
                    </a:cubicBezTo>
                    <a:cubicBezTo>
                      <a:pt x="126207" y="0"/>
                      <a:pt x="206598" y="3254"/>
                      <a:pt x="258271" y="47323"/>
                    </a:cubicBezTo>
                    <a:cubicBezTo>
                      <a:pt x="309944" y="91408"/>
                      <a:pt x="316929" y="162671"/>
                      <a:pt x="274606" y="214027"/>
                    </a:cubicBezTo>
                    <a:cubicBezTo>
                      <a:pt x="232283" y="265383"/>
                      <a:pt x="153718" y="280940"/>
                      <a:pt x="90869" y="250429"/>
                    </a:cubicBezTo>
                    <a:lnTo>
                      <a:pt x="16256" y="266304"/>
                    </a:lnTo>
                  </a:path>
                </a:pathLst>
              </a:custGeom>
              <a:noFill/>
              <a:ln w="23813">
                <a:solidFill>
                  <a:srgbClr val="E84E2F"/>
                </a:solidFill>
              </a:ln>
            </p:spPr>
          </p:sp>
          <p:sp>
            <p:nvSpPr>
              <p:cNvPr id="32" name="TextBox 32"/>
              <p:cNvSpPr txBox="1"/>
              <p:nvPr/>
            </p:nvSpPr>
            <p:spPr>
              <a:xfrm>
                <a:off x="4070985" y="3955256"/>
                <a:ext cx="614528"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智能触达</a:t>
                </a:r>
              </a:p>
            </p:txBody>
          </p:sp>
        </p:grpSp>
        <p:sp>
          <p:nvSpPr>
            <p:cNvPr id="34" name="Line 34"/>
            <p:cNvSpPr/>
            <p:nvPr/>
          </p:nvSpPr>
          <p:spPr>
            <a:xfrm>
              <a:off x="4991100" y="3333750"/>
              <a:ext cx="9525" cy="819150"/>
            </a:xfrm>
            <a:custGeom>
              <a:avLst/>
              <a:gdLst/>
              <a:ahLst/>
              <a:cxnLst/>
              <a:rect l="l" t="t" r="r" b="b"/>
              <a:pathLst>
                <a:path w="9525" h="819150">
                  <a:moveTo>
                    <a:pt x="0" y="0"/>
                  </a:moveTo>
                  <a:lnTo>
                    <a:pt x="0" y="819150"/>
                  </a:lnTo>
                </a:path>
              </a:pathLst>
            </a:custGeom>
            <a:noFill/>
            <a:ln w="14288">
              <a:solidFill>
                <a:srgbClr val="C9D5EA"/>
              </a:solidFill>
            </a:ln>
          </p:spPr>
        </p:sp>
        <p:grpSp>
          <p:nvGrpSpPr>
            <p:cNvPr id="39" name="pillar-5"/>
            <p:cNvGrpSpPr/>
            <p:nvPr/>
          </p:nvGrpSpPr>
          <p:grpSpPr>
            <a:xfrm>
              <a:off x="5137785" y="3463925"/>
              <a:ext cx="614528" cy="711359"/>
              <a:chOff x="5137785" y="3463925"/>
              <a:chExt cx="614528" cy="711359"/>
            </a:xfrm>
          </p:grpSpPr>
          <p:grpSp>
            <p:nvGrpSpPr>
              <p:cNvPr id="37" name="Group 37"/>
              <p:cNvGrpSpPr/>
              <p:nvPr/>
            </p:nvGrpSpPr>
            <p:grpSpPr>
              <a:xfrm>
                <a:off x="5210175" y="3463925"/>
                <a:ext cx="285751" cy="158750"/>
                <a:chOff x="5210175" y="3463925"/>
                <a:chExt cx="285751" cy="158750"/>
              </a:xfrm>
            </p:grpSpPr>
            <p:sp>
              <p:nvSpPr>
                <p:cNvPr id="35" name="Freeform 35"/>
                <p:cNvSpPr/>
                <p:nvPr/>
              </p:nvSpPr>
              <p:spPr>
                <a:xfrm>
                  <a:off x="5210175" y="3463925"/>
                  <a:ext cx="285751" cy="158750"/>
                </a:xfrm>
                <a:custGeom>
                  <a:avLst/>
                  <a:gdLst/>
                  <a:ahLst/>
                  <a:cxnLst/>
                  <a:rect l="l" t="t" r="r" b="b"/>
                  <a:pathLst>
                    <a:path w="285751" h="158750">
                      <a:moveTo>
                        <a:pt x="0" y="158750"/>
                      </a:moveTo>
                      <a:lnTo>
                        <a:pt x="95250" y="63500"/>
                      </a:lnTo>
                      <a:lnTo>
                        <a:pt x="158750" y="127000"/>
                      </a:lnTo>
                      <a:lnTo>
                        <a:pt x="285751" y="0"/>
                      </a:lnTo>
                    </a:path>
                  </a:pathLst>
                </a:custGeom>
                <a:noFill/>
                <a:ln w="23813">
                  <a:solidFill>
                    <a:srgbClr val="E84E2F"/>
                  </a:solidFill>
                </a:ln>
              </p:spPr>
            </p:sp>
            <p:sp>
              <p:nvSpPr>
                <p:cNvPr id="36" name="Freeform 36"/>
                <p:cNvSpPr/>
                <p:nvPr/>
              </p:nvSpPr>
              <p:spPr>
                <a:xfrm>
                  <a:off x="5384800" y="3463925"/>
                  <a:ext cx="111125" cy="111125"/>
                </a:xfrm>
                <a:custGeom>
                  <a:avLst/>
                  <a:gdLst/>
                  <a:ahLst/>
                  <a:cxnLst/>
                  <a:rect l="l" t="t" r="r" b="b"/>
                  <a:pathLst>
                    <a:path w="111125" h="111125">
                      <a:moveTo>
                        <a:pt x="0" y="0"/>
                      </a:moveTo>
                      <a:lnTo>
                        <a:pt x="111125" y="0"/>
                      </a:lnTo>
                      <a:lnTo>
                        <a:pt x="111125" y="111125"/>
                      </a:lnTo>
                    </a:path>
                  </a:pathLst>
                </a:custGeom>
                <a:noFill/>
                <a:ln w="23813">
                  <a:solidFill>
                    <a:srgbClr val="E84E2F"/>
                  </a:solidFill>
                </a:ln>
              </p:spPr>
            </p:sp>
          </p:grpSp>
          <p:sp>
            <p:nvSpPr>
              <p:cNvPr id="38" name="TextBox 38"/>
              <p:cNvSpPr txBox="1"/>
              <p:nvPr/>
            </p:nvSpPr>
            <p:spPr>
              <a:xfrm>
                <a:off x="5137785" y="3955256"/>
                <a:ext cx="614528"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价值提升</a:t>
                </a:r>
              </a:p>
            </p:txBody>
          </p:sp>
        </p:grpSp>
      </p:grpSp>
      <p:grpSp>
        <p:nvGrpSpPr>
          <p:cNvPr id="49" name="report-date"/>
          <p:cNvGrpSpPr/>
          <p:nvPr/>
        </p:nvGrpSpPr>
        <p:grpSpPr>
          <a:xfrm>
            <a:off x="654050" y="5310188"/>
            <a:ext cx="1987499" cy="271843"/>
            <a:chOff x="654050" y="5310188"/>
            <a:chExt cx="1987499" cy="271843"/>
          </a:xfrm>
        </p:grpSpPr>
        <p:grpSp>
          <p:nvGrpSpPr>
            <p:cNvPr id="47" name="Group 47"/>
            <p:cNvGrpSpPr/>
            <p:nvPr/>
          </p:nvGrpSpPr>
          <p:grpSpPr>
            <a:xfrm>
              <a:off x="654050" y="5310188"/>
              <a:ext cx="177801" cy="200026"/>
              <a:chOff x="654050" y="5310188"/>
              <a:chExt cx="177801" cy="200026"/>
            </a:xfrm>
          </p:grpSpPr>
          <p:sp>
            <p:nvSpPr>
              <p:cNvPr id="41" name="Freeform 41"/>
              <p:cNvSpPr/>
              <p:nvPr/>
            </p:nvSpPr>
            <p:spPr>
              <a:xfrm>
                <a:off x="654050" y="5332413"/>
                <a:ext cx="177801" cy="177801"/>
              </a:xfrm>
              <a:custGeom>
                <a:avLst/>
                <a:gdLst/>
                <a:ahLst/>
                <a:cxnLst/>
                <a:rect l="l" t="t" r="r" b="b"/>
                <a:pathLst>
                  <a:path w="177801" h="177801">
                    <a:moveTo>
                      <a:pt x="0" y="22225"/>
                    </a:moveTo>
                    <a:cubicBezTo>
                      <a:pt x="0" y="9950"/>
                      <a:pt x="9950" y="0"/>
                      <a:pt x="22225" y="0"/>
                    </a:cubicBezTo>
                    <a:lnTo>
                      <a:pt x="155575" y="0"/>
                    </a:lnTo>
                    <a:cubicBezTo>
                      <a:pt x="167850" y="0"/>
                      <a:pt x="177801" y="9950"/>
                      <a:pt x="177801" y="22225"/>
                    </a:cubicBezTo>
                    <a:lnTo>
                      <a:pt x="177801" y="155575"/>
                    </a:lnTo>
                    <a:cubicBezTo>
                      <a:pt x="177801" y="167850"/>
                      <a:pt x="167850" y="177801"/>
                      <a:pt x="155575" y="177801"/>
                    </a:cubicBezTo>
                    <a:lnTo>
                      <a:pt x="22225" y="177801"/>
                    </a:lnTo>
                    <a:cubicBezTo>
                      <a:pt x="9950" y="177801"/>
                      <a:pt x="0" y="167850"/>
                      <a:pt x="0" y="155575"/>
                    </a:cubicBezTo>
                    <a:lnTo>
                      <a:pt x="0" y="22225"/>
                    </a:lnTo>
                  </a:path>
                </a:pathLst>
              </a:custGeom>
              <a:noFill/>
              <a:ln w="22225">
                <a:solidFill>
                  <a:srgbClr val="8A1700"/>
                </a:solidFill>
              </a:ln>
            </p:spPr>
          </p:sp>
          <p:sp>
            <p:nvSpPr>
              <p:cNvPr id="42" name="Freeform 42"/>
              <p:cNvSpPr/>
              <p:nvPr/>
            </p:nvSpPr>
            <p:spPr>
              <a:xfrm>
                <a:off x="787401" y="5310188"/>
                <a:ext cx="9525" cy="44450"/>
              </a:xfrm>
              <a:custGeom>
                <a:avLst/>
                <a:gdLst/>
                <a:ahLst/>
                <a:cxnLst/>
                <a:rect l="l" t="t" r="r" b="b"/>
                <a:pathLst>
                  <a:path w="9525" h="44450">
                    <a:moveTo>
                      <a:pt x="0" y="0"/>
                    </a:moveTo>
                    <a:lnTo>
                      <a:pt x="0" y="44450"/>
                    </a:lnTo>
                  </a:path>
                </a:pathLst>
              </a:custGeom>
              <a:noFill/>
              <a:ln w="22225">
                <a:solidFill>
                  <a:srgbClr val="8A1700"/>
                </a:solidFill>
              </a:ln>
            </p:spPr>
          </p:sp>
          <p:sp>
            <p:nvSpPr>
              <p:cNvPr id="43" name="Freeform 43"/>
              <p:cNvSpPr/>
              <p:nvPr/>
            </p:nvSpPr>
            <p:spPr>
              <a:xfrm>
                <a:off x="698500" y="5310188"/>
                <a:ext cx="9525" cy="44450"/>
              </a:xfrm>
              <a:custGeom>
                <a:avLst/>
                <a:gdLst/>
                <a:ahLst/>
                <a:cxnLst/>
                <a:rect l="l" t="t" r="r" b="b"/>
                <a:pathLst>
                  <a:path w="9525" h="44450">
                    <a:moveTo>
                      <a:pt x="0" y="0"/>
                    </a:moveTo>
                    <a:lnTo>
                      <a:pt x="0" y="44450"/>
                    </a:lnTo>
                  </a:path>
                </a:pathLst>
              </a:custGeom>
              <a:noFill/>
              <a:ln w="22225">
                <a:solidFill>
                  <a:srgbClr val="8A1700"/>
                </a:solidFill>
              </a:ln>
            </p:spPr>
          </p:sp>
          <p:sp>
            <p:nvSpPr>
              <p:cNvPr id="44" name="Freeform 44"/>
              <p:cNvSpPr/>
              <p:nvPr/>
            </p:nvSpPr>
            <p:spPr>
              <a:xfrm>
                <a:off x="654050" y="5399088"/>
                <a:ext cx="177801" cy="9525"/>
              </a:xfrm>
              <a:custGeom>
                <a:avLst/>
                <a:gdLst/>
                <a:ahLst/>
                <a:cxnLst/>
                <a:rect l="l" t="t" r="r" b="b"/>
                <a:pathLst>
                  <a:path w="177801" h="9525">
                    <a:moveTo>
                      <a:pt x="0" y="0"/>
                    </a:moveTo>
                    <a:lnTo>
                      <a:pt x="177801" y="0"/>
                    </a:lnTo>
                  </a:path>
                </a:pathLst>
              </a:custGeom>
              <a:noFill/>
              <a:ln w="22225">
                <a:solidFill>
                  <a:srgbClr val="8A1700"/>
                </a:solidFill>
              </a:ln>
            </p:spPr>
          </p:sp>
          <p:sp>
            <p:nvSpPr>
              <p:cNvPr id="45" name="Freeform 45"/>
              <p:cNvSpPr/>
              <p:nvPr/>
            </p:nvSpPr>
            <p:spPr>
              <a:xfrm>
                <a:off x="731838" y="5443538"/>
                <a:ext cx="11113" cy="9525"/>
              </a:xfrm>
              <a:custGeom>
                <a:avLst/>
                <a:gdLst/>
                <a:ahLst/>
                <a:cxnLst/>
                <a:rect l="l" t="t" r="r" b="b"/>
                <a:pathLst>
                  <a:path w="11113" h="9525">
                    <a:moveTo>
                      <a:pt x="0" y="0"/>
                    </a:moveTo>
                    <a:lnTo>
                      <a:pt x="11113" y="0"/>
                    </a:lnTo>
                  </a:path>
                </a:pathLst>
              </a:custGeom>
              <a:noFill/>
              <a:ln w="22225">
                <a:solidFill>
                  <a:srgbClr val="8A1700"/>
                </a:solidFill>
              </a:ln>
            </p:spPr>
          </p:sp>
          <p:sp>
            <p:nvSpPr>
              <p:cNvPr id="46" name="Freeform 46"/>
              <p:cNvSpPr/>
              <p:nvPr/>
            </p:nvSpPr>
            <p:spPr>
              <a:xfrm>
                <a:off x="742950" y="5443538"/>
                <a:ext cx="9525" cy="33338"/>
              </a:xfrm>
              <a:custGeom>
                <a:avLst/>
                <a:gdLst/>
                <a:ahLst/>
                <a:cxnLst/>
                <a:rect l="l" t="t" r="r" b="b"/>
                <a:pathLst>
                  <a:path w="9525" h="33338">
                    <a:moveTo>
                      <a:pt x="0" y="0"/>
                    </a:moveTo>
                    <a:lnTo>
                      <a:pt x="0" y="33338"/>
                    </a:lnTo>
                  </a:path>
                </a:pathLst>
              </a:custGeom>
              <a:noFill/>
              <a:ln w="22225">
                <a:solidFill>
                  <a:srgbClr val="8A1700"/>
                </a:solidFill>
              </a:ln>
            </p:spPr>
          </p:sp>
        </p:grpSp>
        <p:sp>
          <p:nvSpPr>
            <p:cNvPr id="48" name="TextBox 48"/>
            <p:cNvSpPr txBox="1"/>
            <p:nvPr/>
          </p:nvSpPr>
          <p:spPr>
            <a:xfrm>
              <a:off x="965454" y="5347335"/>
              <a:ext cx="1676095" cy="234696"/>
            </a:xfrm>
            <a:prstGeom prst="rect">
              <a:avLst/>
            </a:prstGeom>
            <a:noFill/>
            <a:ln>
              <a:noFill/>
            </a:ln>
          </p:spPr>
          <p:txBody>
            <a:bodyPr wrap="none" lIns="0" tIns="0" rIns="0" bIns="0" anchor="t" anchorCtr="0">
              <a:spAutoFit/>
            </a:bodyPr>
            <a:lstStyle/>
            <a:p>
              <a:pPr algn="l"/>
              <a:r>
                <a:rPr lang="zh-CN" sz="1200" dirty="0">
                  <a:solidFill>
                    <a:srgbClr val="520E00"/>
                  </a:solidFill>
                  <a:latin typeface="+mn-lt"/>
                  <a:ea typeface="+mn-ea"/>
                  <a:cs typeface="+mn-cs"/>
                </a:rPr>
                <a:t>汇报日期：2026年8月​</a:t>
              </a:r>
            </a:p>
          </p:txBody>
        </p:sp>
      </p:grpSp>
      <p:grpSp>
        <p:nvGrpSpPr>
          <p:cNvPr id="51" name="cover-visual"/>
          <p:cNvGrpSpPr/>
          <p:nvPr/>
        </p:nvGrpSpPr>
        <p:grpSpPr>
          <a:xfrm>
            <a:off x="6238875" y="381000"/>
            <a:ext cx="5724525" cy="6096000"/>
            <a:chOff x="6238875" y="381000"/>
            <a:chExt cx="5724525" cy="6096000"/>
          </a:xfrm>
        </p:grpSpPr>
        <p:pic>
          <p:nvPicPr>
            <p:cNvPr id="50" name="Image 50"/>
            <p:cNvPicPr>
              <a:picLocks noChangeAspect="1"/>
            </p:cNvPicPr>
            <p:nvPr/>
          </p:nvPicPr>
          <p:blipFill>
            <a:blip r:embed="rId2"/>
            <a:stretch>
              <a:fillRect/>
            </a:stretch>
          </p:blipFill>
          <p:spPr>
            <a:xfrm>
              <a:off x="6238875" y="381000"/>
              <a:ext cx="5724525" cy="6096000"/>
            </a:xfrm>
            <a:prstGeom prst="rect">
              <a:avLst/>
            </a:prstGeom>
          </p:spPr>
        </p:pic>
      </p:gr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256413" y="162401"/>
              <a:ext cx="35243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a:t>
              </a:r>
            </a:p>
          </p:txBody>
        </p:sp>
        <p:sp>
          <p:nvSpPr>
            <p:cNvPr id="4" name="TextBox 4"/>
            <p:cNvSpPr txBox="1"/>
            <p:nvPr/>
          </p:nvSpPr>
          <p:spPr>
            <a:xfrm>
              <a:off x="942594" y="151448"/>
              <a:ext cx="5012436"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信用卡增长正在从流量竞争转向客户经营</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53" name="chart-card"/>
          <p:cNvGrpSpPr/>
          <p:nvPr/>
        </p:nvGrpSpPr>
        <p:grpSpPr>
          <a:xfrm>
            <a:off x="228600" y="800100"/>
            <a:ext cx="3774394" cy="2400300"/>
            <a:chOff x="228600" y="800100"/>
            <a:chExt cx="3774394" cy="2400300"/>
          </a:xfrm>
        </p:grpSpPr>
        <p:sp>
          <p:nvSpPr>
            <p:cNvPr id="7" name="Rectangle 7"/>
            <p:cNvSpPr/>
            <p:nvPr/>
          </p:nvSpPr>
          <p:spPr>
            <a:xfrm>
              <a:off x="228600" y="800100"/>
              <a:ext cx="3771900" cy="2400300"/>
            </a:xfrm>
            <a:prstGeom prst="roundRect">
              <a:avLst>
                <a:gd name="adj" fmla="val 3175"/>
              </a:avLst>
            </a:prstGeom>
            <a:solidFill>
              <a:srgbClr val="FFFFFF"/>
            </a:solidFill>
            <a:ln w="9525">
              <a:solidFill>
                <a:srgbClr val="C9D5EA"/>
              </a:solidFill>
            </a:ln>
          </p:spPr>
        </p:sp>
        <p:sp>
          <p:nvSpPr>
            <p:cNvPr id="8" name="Rectangle 8"/>
            <p:cNvSpPr/>
            <p:nvPr/>
          </p:nvSpPr>
          <p:spPr>
            <a:xfrm>
              <a:off x="228600" y="800100"/>
              <a:ext cx="3771900" cy="323850"/>
            </a:xfrm>
            <a:prstGeom prst="roundRect">
              <a:avLst>
                <a:gd name="adj" fmla="val 23529"/>
              </a:avLst>
            </a:prstGeom>
            <a:solidFill>
              <a:srgbClr val="8A1700"/>
            </a:solidFill>
            <a:ln>
              <a:noFill/>
            </a:ln>
          </p:spPr>
        </p:sp>
        <p:sp>
          <p:nvSpPr>
            <p:cNvPr id="9" name="Rectangle 9"/>
            <p:cNvSpPr/>
            <p:nvPr/>
          </p:nvSpPr>
          <p:spPr>
            <a:xfrm>
              <a:off x="228600" y="1009650"/>
              <a:ext cx="3771900" cy="114300"/>
            </a:xfrm>
            <a:prstGeom prst="rect">
              <a:avLst/>
            </a:prstGeom>
            <a:solidFill>
              <a:srgbClr val="8A1700"/>
            </a:solidFill>
            <a:ln>
              <a:noFill/>
            </a:ln>
          </p:spPr>
        </p:sp>
        <p:sp>
          <p:nvSpPr>
            <p:cNvPr id="10" name="TextBox 10"/>
            <p:cNvSpPr txBox="1"/>
            <p:nvPr/>
          </p:nvSpPr>
          <p:spPr>
            <a:xfrm>
              <a:off x="625030" y="905828"/>
              <a:ext cx="297903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发卡量增长，但活跃率、消费额和留存率未同步</a:t>
              </a:r>
            </a:p>
          </p:txBody>
        </p:sp>
        <p:sp>
          <p:nvSpPr>
            <p:cNvPr id="11" name="TextBox 11"/>
            <p:cNvSpPr txBox="1"/>
            <p:nvPr/>
          </p:nvSpPr>
          <p:spPr>
            <a:xfrm>
              <a:off x="452438" y="1252538"/>
              <a:ext cx="2321624" cy="147638"/>
            </a:xfrm>
            <a:prstGeom prst="rect">
              <a:avLst/>
            </a:prstGeom>
            <a:noFill/>
            <a:ln>
              <a:noFill/>
            </a:ln>
          </p:spPr>
          <p:txBody>
            <a:bodyPr wrap="none" lIns="0" tIns="0" rIns="0" bIns="0" anchor="t" anchorCtr="0">
              <a:spAutoFit/>
            </a:bodyPr>
            <a:lstStyle/>
            <a:p>
              <a:pPr algn="l"/>
              <a:r>
                <a:rPr lang="zh-CN" sz="750" dirty="0">
                  <a:solidFill>
                    <a:srgbClr val="6B7280"/>
                  </a:solidFill>
                  <a:latin typeface="+mn-lt"/>
                  <a:ea typeface="+mn-ea"/>
                  <a:cs typeface="+mn-cs"/>
                </a:rPr>
                <a:t>2019-2024年信用卡关键指标变化（2019年=100）​</a:t>
              </a:r>
            </a:p>
          </p:txBody>
        </p:sp>
        <p:sp>
          <p:nvSpPr>
            <p:cNvPr id="12" name="Line 12"/>
            <p:cNvSpPr/>
            <p:nvPr/>
          </p:nvSpPr>
          <p:spPr>
            <a:xfrm>
              <a:off x="533400" y="2714625"/>
              <a:ext cx="3314700" cy="9525"/>
            </a:xfrm>
            <a:custGeom>
              <a:avLst/>
              <a:gdLst/>
              <a:ahLst/>
              <a:cxnLst/>
              <a:rect l="l" t="t" r="r" b="b"/>
              <a:pathLst>
                <a:path w="3314700" h="9525">
                  <a:moveTo>
                    <a:pt x="0" y="0"/>
                  </a:moveTo>
                  <a:lnTo>
                    <a:pt x="3314700" y="0"/>
                  </a:lnTo>
                </a:path>
              </a:pathLst>
            </a:custGeom>
            <a:noFill/>
            <a:ln w="9525">
              <a:solidFill>
                <a:srgbClr val="E4EAF4"/>
              </a:solidFill>
            </a:ln>
          </p:spPr>
        </p:sp>
        <p:sp>
          <p:nvSpPr>
            <p:cNvPr id="13" name="Line 13"/>
            <p:cNvSpPr/>
            <p:nvPr/>
          </p:nvSpPr>
          <p:spPr>
            <a:xfrm>
              <a:off x="533400" y="2486025"/>
              <a:ext cx="3314700" cy="9525"/>
            </a:xfrm>
            <a:custGeom>
              <a:avLst/>
              <a:gdLst/>
              <a:ahLst/>
              <a:cxnLst/>
              <a:rect l="l" t="t" r="r" b="b"/>
              <a:pathLst>
                <a:path w="3314700" h="9525">
                  <a:moveTo>
                    <a:pt x="0" y="0"/>
                  </a:moveTo>
                  <a:lnTo>
                    <a:pt x="3314700" y="0"/>
                  </a:lnTo>
                </a:path>
              </a:pathLst>
            </a:custGeom>
            <a:noFill/>
            <a:ln w="9525">
              <a:solidFill>
                <a:srgbClr val="E4EAF4"/>
              </a:solidFill>
            </a:ln>
          </p:spPr>
        </p:sp>
        <p:sp>
          <p:nvSpPr>
            <p:cNvPr id="14" name="Line 14"/>
            <p:cNvSpPr/>
            <p:nvPr/>
          </p:nvSpPr>
          <p:spPr>
            <a:xfrm>
              <a:off x="533400" y="2257425"/>
              <a:ext cx="3314700" cy="9525"/>
            </a:xfrm>
            <a:custGeom>
              <a:avLst/>
              <a:gdLst/>
              <a:ahLst/>
              <a:cxnLst/>
              <a:rect l="l" t="t" r="r" b="b"/>
              <a:pathLst>
                <a:path w="3314700" h="9525">
                  <a:moveTo>
                    <a:pt x="0" y="0"/>
                  </a:moveTo>
                  <a:lnTo>
                    <a:pt x="3314700" y="0"/>
                  </a:lnTo>
                </a:path>
              </a:pathLst>
            </a:custGeom>
            <a:noFill/>
            <a:ln w="9525">
              <a:solidFill>
                <a:srgbClr val="E4EAF4"/>
              </a:solidFill>
            </a:ln>
          </p:spPr>
        </p:sp>
        <p:sp>
          <p:nvSpPr>
            <p:cNvPr id="15" name="Line 15"/>
            <p:cNvSpPr/>
            <p:nvPr/>
          </p:nvSpPr>
          <p:spPr>
            <a:xfrm>
              <a:off x="533400" y="2028825"/>
              <a:ext cx="3314700" cy="9525"/>
            </a:xfrm>
            <a:custGeom>
              <a:avLst/>
              <a:gdLst/>
              <a:ahLst/>
              <a:cxnLst/>
              <a:rect l="l" t="t" r="r" b="b"/>
              <a:pathLst>
                <a:path w="3314700" h="9525">
                  <a:moveTo>
                    <a:pt x="0" y="0"/>
                  </a:moveTo>
                  <a:lnTo>
                    <a:pt x="3314700" y="0"/>
                  </a:lnTo>
                </a:path>
              </a:pathLst>
            </a:custGeom>
            <a:noFill/>
            <a:ln w="9525">
              <a:solidFill>
                <a:srgbClr val="E4EAF4"/>
              </a:solidFill>
            </a:ln>
          </p:spPr>
        </p:sp>
        <p:sp>
          <p:nvSpPr>
            <p:cNvPr id="16" name="Line 16"/>
            <p:cNvSpPr/>
            <p:nvPr/>
          </p:nvSpPr>
          <p:spPr>
            <a:xfrm>
              <a:off x="533400" y="1800225"/>
              <a:ext cx="3314700" cy="9525"/>
            </a:xfrm>
            <a:custGeom>
              <a:avLst/>
              <a:gdLst/>
              <a:ahLst/>
              <a:cxnLst/>
              <a:rect l="l" t="t" r="r" b="b"/>
              <a:pathLst>
                <a:path w="3314700" h="9525">
                  <a:moveTo>
                    <a:pt x="0" y="0"/>
                  </a:moveTo>
                  <a:lnTo>
                    <a:pt x="3314700" y="0"/>
                  </a:lnTo>
                </a:path>
              </a:pathLst>
            </a:custGeom>
            <a:noFill/>
            <a:ln w="9525">
              <a:solidFill>
                <a:srgbClr val="E4EAF4"/>
              </a:solidFill>
            </a:ln>
          </p:spPr>
        </p:sp>
        <p:sp>
          <p:nvSpPr>
            <p:cNvPr id="17" name="Polyline 17"/>
            <p:cNvSpPr/>
            <p:nvPr/>
          </p:nvSpPr>
          <p:spPr>
            <a:xfrm>
              <a:off x="666750" y="2351722"/>
              <a:ext cx="3048000" cy="267652"/>
            </a:xfrm>
            <a:custGeom>
              <a:avLst/>
              <a:gdLst/>
              <a:ahLst/>
              <a:cxnLst/>
              <a:rect l="l" t="t" r="r" b="b"/>
              <a:pathLst>
                <a:path w="3048000" h="267652">
                  <a:moveTo>
                    <a:pt x="0" y="267652"/>
                  </a:moveTo>
                  <a:lnTo>
                    <a:pt x="609600" y="205740"/>
                  </a:lnTo>
                  <a:lnTo>
                    <a:pt x="1219200" y="143827"/>
                  </a:lnTo>
                  <a:lnTo>
                    <a:pt x="1828800" y="81915"/>
                  </a:lnTo>
                  <a:lnTo>
                    <a:pt x="2438400" y="34290"/>
                  </a:lnTo>
                  <a:lnTo>
                    <a:pt x="3048000" y="0"/>
                  </a:lnTo>
                </a:path>
              </a:pathLst>
            </a:custGeom>
            <a:noFill/>
            <a:ln w="19050">
              <a:solidFill>
                <a:srgbClr val="E84E2F"/>
              </a:solidFill>
            </a:ln>
          </p:spPr>
        </p:sp>
        <p:sp>
          <p:nvSpPr>
            <p:cNvPr id="18" name="Polyline 18"/>
            <p:cNvSpPr/>
            <p:nvPr/>
          </p:nvSpPr>
          <p:spPr>
            <a:xfrm>
              <a:off x="666750" y="2619375"/>
              <a:ext cx="3048000" cy="66675"/>
            </a:xfrm>
            <a:custGeom>
              <a:avLst/>
              <a:gdLst/>
              <a:ahLst/>
              <a:cxnLst/>
              <a:rect l="l" t="t" r="r" b="b"/>
              <a:pathLst>
                <a:path w="3048000" h="66675">
                  <a:moveTo>
                    <a:pt x="0" y="0"/>
                  </a:moveTo>
                  <a:lnTo>
                    <a:pt x="609600" y="17145"/>
                  </a:lnTo>
                  <a:lnTo>
                    <a:pt x="1219200" y="33338"/>
                  </a:lnTo>
                  <a:lnTo>
                    <a:pt x="1828800" y="50483"/>
                  </a:lnTo>
                  <a:lnTo>
                    <a:pt x="2438400" y="66675"/>
                  </a:lnTo>
                  <a:lnTo>
                    <a:pt x="3048000" y="57150"/>
                  </a:lnTo>
                </a:path>
              </a:pathLst>
            </a:custGeom>
            <a:noFill/>
            <a:ln w="17145">
              <a:solidFill>
                <a:srgbClr val="C02C0A"/>
              </a:solidFill>
              <a:custDash>
                <a:ds d="277778" sp="166667"/>
              </a:custDash>
            </a:ln>
          </p:spPr>
        </p:sp>
        <p:sp>
          <p:nvSpPr>
            <p:cNvPr id="19" name="Polyline 19"/>
            <p:cNvSpPr/>
            <p:nvPr/>
          </p:nvSpPr>
          <p:spPr>
            <a:xfrm>
              <a:off x="666750" y="2619375"/>
              <a:ext cx="3048000" cy="85725"/>
            </a:xfrm>
            <a:custGeom>
              <a:avLst/>
              <a:gdLst/>
              <a:ahLst/>
              <a:cxnLst/>
              <a:rect l="l" t="t" r="r" b="b"/>
              <a:pathLst>
                <a:path w="3048000" h="85725">
                  <a:moveTo>
                    <a:pt x="0" y="0"/>
                  </a:moveTo>
                  <a:lnTo>
                    <a:pt x="609600" y="26670"/>
                  </a:lnTo>
                  <a:lnTo>
                    <a:pt x="1219200" y="52388"/>
                  </a:lnTo>
                  <a:lnTo>
                    <a:pt x="1828800" y="69533"/>
                  </a:lnTo>
                  <a:lnTo>
                    <a:pt x="2438400" y="79058"/>
                  </a:lnTo>
                  <a:lnTo>
                    <a:pt x="3048000" y="85725"/>
                  </a:lnTo>
                </a:path>
              </a:pathLst>
            </a:custGeom>
            <a:noFill/>
            <a:ln w="14288">
              <a:solidFill>
                <a:srgbClr val="8A94A8"/>
              </a:solidFill>
              <a:custDash>
                <a:ds d="266667" sp="200000"/>
              </a:custDash>
            </a:ln>
          </p:spPr>
        </p:sp>
        <p:sp>
          <p:nvSpPr>
            <p:cNvPr id="20" name="Polyline 20"/>
            <p:cNvSpPr/>
            <p:nvPr/>
          </p:nvSpPr>
          <p:spPr>
            <a:xfrm>
              <a:off x="666750" y="1766888"/>
              <a:ext cx="3048000" cy="852488"/>
            </a:xfrm>
            <a:custGeom>
              <a:avLst/>
              <a:gdLst/>
              <a:ahLst/>
              <a:cxnLst/>
              <a:rect l="l" t="t" r="r" b="b"/>
              <a:pathLst>
                <a:path w="3048000" h="852488">
                  <a:moveTo>
                    <a:pt x="0" y="852488"/>
                  </a:moveTo>
                  <a:lnTo>
                    <a:pt x="609600" y="697230"/>
                  </a:lnTo>
                  <a:lnTo>
                    <a:pt x="1219200" y="519112"/>
                  </a:lnTo>
                  <a:lnTo>
                    <a:pt x="1828800" y="340995"/>
                  </a:lnTo>
                  <a:lnTo>
                    <a:pt x="2438400" y="197167"/>
                  </a:lnTo>
                  <a:lnTo>
                    <a:pt x="3048000" y="0"/>
                  </a:lnTo>
                </a:path>
              </a:pathLst>
            </a:custGeom>
            <a:noFill/>
            <a:ln w="24765">
              <a:solidFill>
                <a:srgbClr val="8A1700"/>
              </a:solidFill>
            </a:ln>
          </p:spPr>
        </p:sp>
        <p:sp>
          <p:nvSpPr>
            <p:cNvPr id="21" name="Ellipse 21"/>
            <p:cNvSpPr/>
            <p:nvPr/>
          </p:nvSpPr>
          <p:spPr>
            <a:xfrm>
              <a:off x="641985" y="2594610"/>
              <a:ext cx="49530" cy="49530"/>
            </a:xfrm>
            <a:prstGeom prst="ellipse">
              <a:avLst/>
            </a:prstGeom>
            <a:solidFill>
              <a:srgbClr val="8A1700"/>
            </a:solidFill>
            <a:ln>
              <a:noFill/>
            </a:ln>
          </p:spPr>
        </p:sp>
        <p:sp>
          <p:nvSpPr>
            <p:cNvPr id="22" name="Ellipse 22"/>
            <p:cNvSpPr/>
            <p:nvPr/>
          </p:nvSpPr>
          <p:spPr>
            <a:xfrm>
              <a:off x="1251585" y="2439352"/>
              <a:ext cx="49530" cy="49530"/>
            </a:xfrm>
            <a:prstGeom prst="ellipse">
              <a:avLst/>
            </a:prstGeom>
            <a:solidFill>
              <a:srgbClr val="8A1700"/>
            </a:solidFill>
            <a:ln>
              <a:noFill/>
            </a:ln>
          </p:spPr>
        </p:sp>
        <p:sp>
          <p:nvSpPr>
            <p:cNvPr id="23" name="Ellipse 23"/>
            <p:cNvSpPr/>
            <p:nvPr/>
          </p:nvSpPr>
          <p:spPr>
            <a:xfrm>
              <a:off x="1861185" y="2261235"/>
              <a:ext cx="49530" cy="49530"/>
            </a:xfrm>
            <a:prstGeom prst="ellipse">
              <a:avLst/>
            </a:prstGeom>
            <a:solidFill>
              <a:srgbClr val="8A1700"/>
            </a:solidFill>
            <a:ln>
              <a:noFill/>
            </a:ln>
          </p:spPr>
        </p:sp>
        <p:sp>
          <p:nvSpPr>
            <p:cNvPr id="24" name="Ellipse 24"/>
            <p:cNvSpPr/>
            <p:nvPr/>
          </p:nvSpPr>
          <p:spPr>
            <a:xfrm>
              <a:off x="2470785" y="2083118"/>
              <a:ext cx="49530" cy="49530"/>
            </a:xfrm>
            <a:prstGeom prst="ellipse">
              <a:avLst/>
            </a:prstGeom>
            <a:solidFill>
              <a:srgbClr val="8A1700"/>
            </a:solidFill>
            <a:ln>
              <a:noFill/>
            </a:ln>
          </p:spPr>
        </p:sp>
        <p:sp>
          <p:nvSpPr>
            <p:cNvPr id="25" name="Ellipse 25"/>
            <p:cNvSpPr/>
            <p:nvPr/>
          </p:nvSpPr>
          <p:spPr>
            <a:xfrm>
              <a:off x="3080385" y="1939290"/>
              <a:ext cx="49530" cy="49530"/>
            </a:xfrm>
            <a:prstGeom prst="ellipse">
              <a:avLst/>
            </a:prstGeom>
            <a:solidFill>
              <a:srgbClr val="8A1700"/>
            </a:solidFill>
            <a:ln>
              <a:noFill/>
            </a:ln>
          </p:spPr>
        </p:sp>
        <p:sp>
          <p:nvSpPr>
            <p:cNvPr id="26" name="Ellipse 26"/>
            <p:cNvSpPr/>
            <p:nvPr/>
          </p:nvSpPr>
          <p:spPr>
            <a:xfrm>
              <a:off x="3684270" y="1736408"/>
              <a:ext cx="60960" cy="60960"/>
            </a:xfrm>
            <a:prstGeom prst="ellipse">
              <a:avLst/>
            </a:prstGeom>
            <a:solidFill>
              <a:srgbClr val="8A1700"/>
            </a:solidFill>
            <a:ln>
              <a:noFill/>
            </a:ln>
          </p:spPr>
        </p:sp>
        <p:sp>
          <p:nvSpPr>
            <p:cNvPr id="27" name="Ellipse 27"/>
            <p:cNvSpPr/>
            <p:nvPr/>
          </p:nvSpPr>
          <p:spPr>
            <a:xfrm>
              <a:off x="3684270" y="2321242"/>
              <a:ext cx="60960" cy="60960"/>
            </a:xfrm>
            <a:prstGeom prst="ellipse">
              <a:avLst/>
            </a:prstGeom>
            <a:solidFill>
              <a:srgbClr val="E84E2F"/>
            </a:solidFill>
            <a:ln>
              <a:noFill/>
            </a:ln>
          </p:spPr>
        </p:sp>
        <p:sp>
          <p:nvSpPr>
            <p:cNvPr id="28" name="Ellipse 28"/>
            <p:cNvSpPr/>
            <p:nvPr/>
          </p:nvSpPr>
          <p:spPr>
            <a:xfrm>
              <a:off x="3684270" y="2646045"/>
              <a:ext cx="60960" cy="60960"/>
            </a:xfrm>
            <a:prstGeom prst="ellipse">
              <a:avLst/>
            </a:prstGeom>
            <a:solidFill>
              <a:srgbClr val="C02C0A"/>
            </a:solidFill>
            <a:ln>
              <a:noFill/>
            </a:ln>
          </p:spPr>
        </p:sp>
        <p:sp>
          <p:nvSpPr>
            <p:cNvPr id="29" name="Ellipse 29"/>
            <p:cNvSpPr/>
            <p:nvPr/>
          </p:nvSpPr>
          <p:spPr>
            <a:xfrm>
              <a:off x="3684270" y="2674620"/>
              <a:ext cx="60960" cy="60960"/>
            </a:xfrm>
            <a:prstGeom prst="ellipse">
              <a:avLst/>
            </a:prstGeom>
            <a:solidFill>
              <a:srgbClr val="8A94A8"/>
            </a:solidFill>
            <a:ln>
              <a:noFill/>
            </a:ln>
          </p:spPr>
        </p:sp>
        <p:sp>
          <p:nvSpPr>
            <p:cNvPr id="30" name="TextBox 30"/>
            <p:cNvSpPr txBox="1"/>
            <p:nvPr/>
          </p:nvSpPr>
          <p:spPr>
            <a:xfrm>
              <a:off x="947738" y="2319338"/>
              <a:ext cx="242754" cy="147638"/>
            </a:xfrm>
            <a:prstGeom prst="rect">
              <a:avLst/>
            </a:prstGeom>
            <a:noFill/>
            <a:ln>
              <a:noFill/>
            </a:ln>
          </p:spPr>
          <p:txBody>
            <a:bodyPr wrap="none" lIns="0" tIns="0" rIns="0" bIns="0" anchor="t" anchorCtr="0">
              <a:spAutoFit/>
            </a:bodyPr>
            <a:lstStyle/>
            <a:p>
              <a:pPr algn="l"/>
              <a:r>
                <a:rPr lang="zh-CN" sz="750" b="1" dirty="0">
                  <a:solidFill>
                    <a:srgbClr val="8A1700"/>
                  </a:solidFill>
                  <a:latin typeface="+mn-lt"/>
                  <a:ea typeface="+mn-ea"/>
                  <a:cs typeface="+mn-cs"/>
                </a:rPr>
                <a:t>115​</a:t>
              </a:r>
            </a:p>
          </p:txBody>
        </p:sp>
        <p:sp>
          <p:nvSpPr>
            <p:cNvPr id="31" name="TextBox 31"/>
            <p:cNvSpPr txBox="1"/>
            <p:nvPr/>
          </p:nvSpPr>
          <p:spPr>
            <a:xfrm>
              <a:off x="1557338" y="2138362"/>
              <a:ext cx="242754" cy="147638"/>
            </a:xfrm>
            <a:prstGeom prst="rect">
              <a:avLst/>
            </a:prstGeom>
            <a:noFill/>
            <a:ln>
              <a:noFill/>
            </a:ln>
          </p:spPr>
          <p:txBody>
            <a:bodyPr wrap="none" lIns="0" tIns="0" rIns="0" bIns="0" anchor="t" anchorCtr="0">
              <a:spAutoFit/>
            </a:bodyPr>
            <a:lstStyle/>
            <a:p>
              <a:pPr algn="l"/>
              <a:r>
                <a:rPr lang="zh-CN" sz="750" b="1" dirty="0">
                  <a:solidFill>
                    <a:srgbClr val="8A1700"/>
                  </a:solidFill>
                  <a:latin typeface="+mn-lt"/>
                  <a:ea typeface="+mn-ea"/>
                  <a:cs typeface="+mn-cs"/>
                </a:rPr>
                <a:t>135​</a:t>
              </a:r>
            </a:p>
          </p:txBody>
        </p:sp>
        <p:sp>
          <p:nvSpPr>
            <p:cNvPr id="32" name="TextBox 32"/>
            <p:cNvSpPr txBox="1"/>
            <p:nvPr/>
          </p:nvSpPr>
          <p:spPr>
            <a:xfrm>
              <a:off x="2166938" y="1957388"/>
              <a:ext cx="242754" cy="147638"/>
            </a:xfrm>
            <a:prstGeom prst="rect">
              <a:avLst/>
            </a:prstGeom>
            <a:noFill/>
            <a:ln>
              <a:noFill/>
            </a:ln>
          </p:spPr>
          <p:txBody>
            <a:bodyPr wrap="none" lIns="0" tIns="0" rIns="0" bIns="0" anchor="t" anchorCtr="0">
              <a:spAutoFit/>
            </a:bodyPr>
            <a:lstStyle/>
            <a:p>
              <a:pPr algn="l"/>
              <a:r>
                <a:rPr lang="zh-CN" sz="750" b="1" dirty="0">
                  <a:solidFill>
                    <a:srgbClr val="8A1700"/>
                  </a:solidFill>
                  <a:latin typeface="+mn-lt"/>
                  <a:ea typeface="+mn-ea"/>
                  <a:cs typeface="+mn-cs"/>
                </a:rPr>
                <a:t>155​</a:t>
              </a:r>
            </a:p>
          </p:txBody>
        </p:sp>
        <p:sp>
          <p:nvSpPr>
            <p:cNvPr id="33" name="TextBox 33"/>
            <p:cNvSpPr txBox="1"/>
            <p:nvPr/>
          </p:nvSpPr>
          <p:spPr>
            <a:xfrm>
              <a:off x="2776538" y="1814512"/>
              <a:ext cx="242754" cy="147638"/>
            </a:xfrm>
            <a:prstGeom prst="rect">
              <a:avLst/>
            </a:prstGeom>
            <a:noFill/>
            <a:ln>
              <a:noFill/>
            </a:ln>
          </p:spPr>
          <p:txBody>
            <a:bodyPr wrap="none" lIns="0" tIns="0" rIns="0" bIns="0" anchor="t" anchorCtr="0">
              <a:spAutoFit/>
            </a:bodyPr>
            <a:lstStyle/>
            <a:p>
              <a:pPr algn="l"/>
              <a:r>
                <a:rPr lang="zh-CN" sz="750" b="1" dirty="0">
                  <a:solidFill>
                    <a:srgbClr val="8A1700"/>
                  </a:solidFill>
                  <a:latin typeface="+mn-lt"/>
                  <a:ea typeface="+mn-ea"/>
                  <a:cs typeface="+mn-cs"/>
                </a:rPr>
                <a:t>170​</a:t>
              </a:r>
            </a:p>
          </p:txBody>
        </p:sp>
        <p:sp>
          <p:nvSpPr>
            <p:cNvPr id="34" name="TextBox 34"/>
            <p:cNvSpPr txBox="1"/>
            <p:nvPr/>
          </p:nvSpPr>
          <p:spPr>
            <a:xfrm>
              <a:off x="3671888" y="1587341"/>
              <a:ext cx="264522" cy="161925"/>
            </a:xfrm>
            <a:prstGeom prst="rect">
              <a:avLst/>
            </a:prstGeom>
            <a:noFill/>
            <a:ln>
              <a:noFill/>
            </a:ln>
          </p:spPr>
          <p:txBody>
            <a:bodyPr wrap="none" lIns="0" tIns="0" rIns="0" bIns="0" anchor="t" anchorCtr="0">
              <a:spAutoFit/>
            </a:bodyPr>
            <a:lstStyle/>
            <a:p>
              <a:pPr algn="l"/>
              <a:r>
                <a:rPr lang="zh-CN" sz="820" b="1" dirty="0">
                  <a:solidFill>
                    <a:srgbClr val="8A1700"/>
                  </a:solidFill>
                  <a:latin typeface="+mn-lt"/>
                  <a:ea typeface="+mn-ea"/>
                  <a:cs typeface="+mn-cs"/>
                </a:rPr>
                <a:t>190​</a:t>
              </a:r>
            </a:p>
          </p:txBody>
        </p:sp>
        <p:sp>
          <p:nvSpPr>
            <p:cNvPr id="35" name="TextBox 35"/>
            <p:cNvSpPr txBox="1"/>
            <p:nvPr/>
          </p:nvSpPr>
          <p:spPr>
            <a:xfrm>
              <a:off x="3386138" y="2206466"/>
              <a:ext cx="264522" cy="161925"/>
            </a:xfrm>
            <a:prstGeom prst="rect">
              <a:avLst/>
            </a:prstGeom>
            <a:noFill/>
            <a:ln>
              <a:noFill/>
            </a:ln>
          </p:spPr>
          <p:txBody>
            <a:bodyPr wrap="none" lIns="0" tIns="0" rIns="0" bIns="0" anchor="t" anchorCtr="0">
              <a:spAutoFit/>
            </a:bodyPr>
            <a:lstStyle/>
            <a:p>
              <a:pPr algn="l"/>
              <a:r>
                <a:rPr lang="zh-CN" sz="820" b="1" dirty="0">
                  <a:solidFill>
                    <a:srgbClr val="E84E2F"/>
                  </a:solidFill>
                  <a:latin typeface="+mn-lt"/>
                  <a:ea typeface="+mn-ea"/>
                  <a:cs typeface="+mn-cs"/>
                </a:rPr>
                <a:t>125​</a:t>
              </a:r>
            </a:p>
          </p:txBody>
        </p:sp>
        <p:sp>
          <p:nvSpPr>
            <p:cNvPr id="36" name="TextBox 36"/>
            <p:cNvSpPr txBox="1"/>
            <p:nvPr/>
          </p:nvSpPr>
          <p:spPr>
            <a:xfrm>
              <a:off x="3671888" y="2758916"/>
              <a:ext cx="200773" cy="161925"/>
            </a:xfrm>
            <a:prstGeom prst="rect">
              <a:avLst/>
            </a:prstGeom>
            <a:noFill/>
            <a:ln>
              <a:noFill/>
            </a:ln>
          </p:spPr>
          <p:txBody>
            <a:bodyPr wrap="none" lIns="0" tIns="0" rIns="0" bIns="0" anchor="t" anchorCtr="0">
              <a:spAutoFit/>
            </a:bodyPr>
            <a:lstStyle/>
            <a:p>
              <a:pPr algn="l"/>
              <a:r>
                <a:rPr lang="zh-CN" sz="820" b="1" dirty="0">
                  <a:solidFill>
                    <a:srgbClr val="C02C0A"/>
                  </a:solidFill>
                  <a:latin typeface="+mn-lt"/>
                  <a:ea typeface="+mn-ea"/>
                  <a:cs typeface="+mn-cs"/>
                </a:rPr>
                <a:t>92​</a:t>
              </a:r>
            </a:p>
          </p:txBody>
        </p:sp>
        <p:sp>
          <p:nvSpPr>
            <p:cNvPr id="37" name="TextBox 37"/>
            <p:cNvSpPr txBox="1"/>
            <p:nvPr/>
          </p:nvSpPr>
          <p:spPr>
            <a:xfrm>
              <a:off x="3709988" y="2566988"/>
              <a:ext cx="184447" cy="147638"/>
            </a:xfrm>
            <a:prstGeom prst="rect">
              <a:avLst/>
            </a:prstGeom>
            <a:noFill/>
            <a:ln>
              <a:noFill/>
            </a:ln>
          </p:spPr>
          <p:txBody>
            <a:bodyPr wrap="none" lIns="0" tIns="0" rIns="0" bIns="0" anchor="t" anchorCtr="0">
              <a:spAutoFit/>
            </a:bodyPr>
            <a:lstStyle/>
            <a:p>
              <a:pPr algn="l"/>
              <a:r>
                <a:rPr lang="zh-CN" sz="750" b="1" dirty="0">
                  <a:solidFill>
                    <a:srgbClr val="C02C0A"/>
                  </a:solidFill>
                  <a:latin typeface="+mn-lt"/>
                  <a:ea typeface="+mn-ea"/>
                  <a:cs typeface="+mn-cs"/>
                </a:rPr>
                <a:t>88​</a:t>
              </a:r>
            </a:p>
          </p:txBody>
        </p:sp>
        <p:sp>
          <p:nvSpPr>
            <p:cNvPr id="38" name="TextBox 38"/>
            <p:cNvSpPr txBox="1"/>
            <p:nvPr/>
          </p:nvSpPr>
          <p:spPr>
            <a:xfrm>
              <a:off x="604838" y="2775109"/>
              <a:ext cx="210917" cy="133350"/>
            </a:xfrm>
            <a:prstGeom prst="rect">
              <a:avLst/>
            </a:prstGeom>
            <a:noFill/>
            <a:ln>
              <a:noFill/>
            </a:ln>
          </p:spPr>
          <p:txBody>
            <a:bodyPr wrap="none" lIns="0" tIns="0" rIns="0" bIns="0" anchor="t" anchorCtr="0">
              <a:spAutoFit/>
            </a:bodyPr>
            <a:lstStyle/>
            <a:p>
              <a:pPr algn="l"/>
              <a:r>
                <a:rPr lang="zh-CN" sz="680" dirty="0">
                  <a:solidFill>
                    <a:srgbClr val="8A94A8"/>
                  </a:solidFill>
                  <a:latin typeface="+mn-lt"/>
                  <a:ea typeface="+mn-ea"/>
                  <a:cs typeface="+mn-cs"/>
                </a:rPr>
                <a:t>100​</a:t>
              </a:r>
            </a:p>
          </p:txBody>
        </p:sp>
        <p:sp>
          <p:nvSpPr>
            <p:cNvPr id="39" name="TextBox 39"/>
            <p:cNvSpPr txBox="1"/>
            <p:nvPr/>
          </p:nvSpPr>
          <p:spPr>
            <a:xfrm>
              <a:off x="623888" y="1432084"/>
              <a:ext cx="261264" cy="133350"/>
            </a:xfrm>
            <a:prstGeom prst="rect">
              <a:avLst/>
            </a:prstGeom>
            <a:noFill/>
            <a:ln>
              <a:noFill/>
            </a:ln>
          </p:spPr>
          <p:txBody>
            <a:bodyPr wrap="none" lIns="0" tIns="0" rIns="0" bIns="0" anchor="t" anchorCtr="0">
              <a:spAutoFit/>
            </a:bodyPr>
            <a:lstStyle/>
            <a:p>
              <a:pPr algn="l"/>
              <a:r>
                <a:rPr lang="zh-CN" sz="680" dirty="0">
                  <a:solidFill>
                    <a:srgbClr val="8A94A8"/>
                  </a:solidFill>
                  <a:latin typeface="+mn-lt"/>
                  <a:ea typeface="+mn-ea"/>
                  <a:cs typeface="+mn-cs"/>
                </a:rPr>
                <a:t>2019​</a:t>
              </a:r>
            </a:p>
          </p:txBody>
        </p:sp>
        <p:sp>
          <p:nvSpPr>
            <p:cNvPr id="40" name="TextBox 40"/>
            <p:cNvSpPr txBox="1"/>
            <p:nvPr/>
          </p:nvSpPr>
          <p:spPr>
            <a:xfrm>
              <a:off x="1233488" y="1432084"/>
              <a:ext cx="261264" cy="133350"/>
            </a:xfrm>
            <a:prstGeom prst="rect">
              <a:avLst/>
            </a:prstGeom>
            <a:noFill/>
            <a:ln>
              <a:noFill/>
            </a:ln>
          </p:spPr>
          <p:txBody>
            <a:bodyPr wrap="none" lIns="0" tIns="0" rIns="0" bIns="0" anchor="t" anchorCtr="0">
              <a:spAutoFit/>
            </a:bodyPr>
            <a:lstStyle/>
            <a:p>
              <a:pPr algn="l"/>
              <a:r>
                <a:rPr lang="zh-CN" sz="680" dirty="0">
                  <a:solidFill>
                    <a:srgbClr val="8A94A8"/>
                  </a:solidFill>
                  <a:latin typeface="+mn-lt"/>
                  <a:ea typeface="+mn-ea"/>
                  <a:cs typeface="+mn-cs"/>
                </a:rPr>
                <a:t>2020​</a:t>
              </a:r>
            </a:p>
          </p:txBody>
        </p:sp>
        <p:sp>
          <p:nvSpPr>
            <p:cNvPr id="41" name="TextBox 41"/>
            <p:cNvSpPr txBox="1"/>
            <p:nvPr/>
          </p:nvSpPr>
          <p:spPr>
            <a:xfrm>
              <a:off x="1843088" y="1432084"/>
              <a:ext cx="261264" cy="133350"/>
            </a:xfrm>
            <a:prstGeom prst="rect">
              <a:avLst/>
            </a:prstGeom>
            <a:noFill/>
            <a:ln>
              <a:noFill/>
            </a:ln>
          </p:spPr>
          <p:txBody>
            <a:bodyPr wrap="none" lIns="0" tIns="0" rIns="0" bIns="0" anchor="t" anchorCtr="0">
              <a:spAutoFit/>
            </a:bodyPr>
            <a:lstStyle/>
            <a:p>
              <a:pPr algn="l"/>
              <a:r>
                <a:rPr lang="zh-CN" sz="680" dirty="0">
                  <a:solidFill>
                    <a:srgbClr val="8A94A8"/>
                  </a:solidFill>
                  <a:latin typeface="+mn-lt"/>
                  <a:ea typeface="+mn-ea"/>
                  <a:cs typeface="+mn-cs"/>
                </a:rPr>
                <a:t>2021​</a:t>
              </a:r>
            </a:p>
          </p:txBody>
        </p:sp>
        <p:sp>
          <p:nvSpPr>
            <p:cNvPr id="42" name="TextBox 42"/>
            <p:cNvSpPr txBox="1"/>
            <p:nvPr/>
          </p:nvSpPr>
          <p:spPr>
            <a:xfrm>
              <a:off x="2452688" y="1432084"/>
              <a:ext cx="261264" cy="133350"/>
            </a:xfrm>
            <a:prstGeom prst="rect">
              <a:avLst/>
            </a:prstGeom>
            <a:noFill/>
            <a:ln>
              <a:noFill/>
            </a:ln>
          </p:spPr>
          <p:txBody>
            <a:bodyPr wrap="none" lIns="0" tIns="0" rIns="0" bIns="0" anchor="t" anchorCtr="0">
              <a:spAutoFit/>
            </a:bodyPr>
            <a:lstStyle/>
            <a:p>
              <a:pPr algn="l"/>
              <a:r>
                <a:rPr lang="zh-CN" sz="680" dirty="0">
                  <a:solidFill>
                    <a:srgbClr val="8A94A8"/>
                  </a:solidFill>
                  <a:latin typeface="+mn-lt"/>
                  <a:ea typeface="+mn-ea"/>
                  <a:cs typeface="+mn-cs"/>
                </a:rPr>
                <a:t>2022​</a:t>
              </a:r>
            </a:p>
          </p:txBody>
        </p:sp>
        <p:sp>
          <p:nvSpPr>
            <p:cNvPr id="43" name="TextBox 43"/>
            <p:cNvSpPr txBox="1"/>
            <p:nvPr/>
          </p:nvSpPr>
          <p:spPr>
            <a:xfrm>
              <a:off x="3062288" y="1432084"/>
              <a:ext cx="261264" cy="133350"/>
            </a:xfrm>
            <a:prstGeom prst="rect">
              <a:avLst/>
            </a:prstGeom>
            <a:noFill/>
            <a:ln>
              <a:noFill/>
            </a:ln>
          </p:spPr>
          <p:txBody>
            <a:bodyPr wrap="none" lIns="0" tIns="0" rIns="0" bIns="0" anchor="t" anchorCtr="0">
              <a:spAutoFit/>
            </a:bodyPr>
            <a:lstStyle/>
            <a:p>
              <a:pPr algn="l"/>
              <a:r>
                <a:rPr lang="zh-CN" sz="680" dirty="0">
                  <a:solidFill>
                    <a:srgbClr val="8A94A8"/>
                  </a:solidFill>
                  <a:latin typeface="+mn-lt"/>
                  <a:ea typeface="+mn-ea"/>
                  <a:cs typeface="+mn-cs"/>
                </a:rPr>
                <a:t>2023​</a:t>
              </a:r>
            </a:p>
          </p:txBody>
        </p:sp>
        <p:sp>
          <p:nvSpPr>
            <p:cNvPr id="44" name="TextBox 44"/>
            <p:cNvSpPr txBox="1"/>
            <p:nvPr/>
          </p:nvSpPr>
          <p:spPr>
            <a:xfrm>
              <a:off x="3633788" y="1432084"/>
              <a:ext cx="261264" cy="133350"/>
            </a:xfrm>
            <a:prstGeom prst="rect">
              <a:avLst/>
            </a:prstGeom>
            <a:noFill/>
            <a:ln>
              <a:noFill/>
            </a:ln>
          </p:spPr>
          <p:txBody>
            <a:bodyPr wrap="none" lIns="0" tIns="0" rIns="0" bIns="0" anchor="t" anchorCtr="0">
              <a:spAutoFit/>
            </a:bodyPr>
            <a:lstStyle/>
            <a:p>
              <a:pPr algn="l"/>
              <a:r>
                <a:rPr lang="zh-CN" sz="680" dirty="0">
                  <a:solidFill>
                    <a:srgbClr val="8A94A8"/>
                  </a:solidFill>
                  <a:latin typeface="+mn-lt"/>
                  <a:ea typeface="+mn-ea"/>
                  <a:cs typeface="+mn-cs"/>
                </a:rPr>
                <a:t>2024​</a:t>
              </a:r>
            </a:p>
          </p:txBody>
        </p:sp>
        <p:sp>
          <p:nvSpPr>
            <p:cNvPr id="45" name="Ellipse 45"/>
            <p:cNvSpPr/>
            <p:nvPr/>
          </p:nvSpPr>
          <p:spPr>
            <a:xfrm>
              <a:off x="714375" y="3038475"/>
              <a:ext cx="57150" cy="57150"/>
            </a:xfrm>
            <a:prstGeom prst="ellipse">
              <a:avLst/>
            </a:prstGeom>
            <a:solidFill>
              <a:srgbClr val="8A1700"/>
            </a:solidFill>
            <a:ln>
              <a:noFill/>
            </a:ln>
          </p:spPr>
        </p:sp>
        <p:sp>
          <p:nvSpPr>
            <p:cNvPr id="46" name="TextBox 46"/>
            <p:cNvSpPr txBox="1"/>
            <p:nvPr/>
          </p:nvSpPr>
          <p:spPr>
            <a:xfrm>
              <a:off x="814388" y="3028236"/>
              <a:ext cx="731156" cy="140494"/>
            </a:xfrm>
            <a:prstGeom prst="rect">
              <a:avLst/>
            </a:prstGeom>
            <a:noFill/>
            <a:ln>
              <a:noFill/>
            </a:ln>
          </p:spPr>
          <p:txBody>
            <a:bodyPr wrap="none" lIns="0" tIns="0" rIns="0" bIns="0" anchor="t" anchorCtr="0">
              <a:spAutoFit/>
            </a:bodyPr>
            <a:lstStyle/>
            <a:p>
              <a:pPr algn="l"/>
              <a:r>
                <a:rPr lang="zh-CN" sz="710" dirty="0">
                  <a:solidFill>
                    <a:srgbClr val="60403A"/>
                  </a:solidFill>
                  <a:latin typeface="+mn-lt"/>
                  <a:ea typeface="+mn-ea"/>
                  <a:cs typeface="+mn-cs"/>
                </a:rPr>
                <a:t>发卡量（指数）​</a:t>
              </a:r>
            </a:p>
          </p:txBody>
        </p:sp>
        <p:sp>
          <p:nvSpPr>
            <p:cNvPr id="47" name="Ellipse 47"/>
            <p:cNvSpPr/>
            <p:nvPr/>
          </p:nvSpPr>
          <p:spPr>
            <a:xfrm>
              <a:off x="1533525" y="3038475"/>
              <a:ext cx="57150" cy="57150"/>
            </a:xfrm>
            <a:prstGeom prst="ellipse">
              <a:avLst/>
            </a:prstGeom>
            <a:solidFill>
              <a:srgbClr val="8A94A8"/>
            </a:solidFill>
            <a:ln>
              <a:noFill/>
            </a:ln>
          </p:spPr>
        </p:sp>
        <p:sp>
          <p:nvSpPr>
            <p:cNvPr id="48" name="TextBox 48"/>
            <p:cNvSpPr txBox="1"/>
            <p:nvPr/>
          </p:nvSpPr>
          <p:spPr>
            <a:xfrm>
              <a:off x="1633538" y="3028236"/>
              <a:ext cx="731156" cy="140494"/>
            </a:xfrm>
            <a:prstGeom prst="rect">
              <a:avLst/>
            </a:prstGeom>
            <a:noFill/>
            <a:ln>
              <a:noFill/>
            </a:ln>
          </p:spPr>
          <p:txBody>
            <a:bodyPr wrap="none" lIns="0" tIns="0" rIns="0" bIns="0" anchor="t" anchorCtr="0">
              <a:spAutoFit/>
            </a:bodyPr>
            <a:lstStyle/>
            <a:p>
              <a:pPr algn="l"/>
              <a:r>
                <a:rPr lang="zh-CN" sz="710" dirty="0">
                  <a:solidFill>
                    <a:srgbClr val="60403A"/>
                  </a:solidFill>
                  <a:latin typeface="+mn-lt"/>
                  <a:ea typeface="+mn-ea"/>
                  <a:cs typeface="+mn-cs"/>
                </a:rPr>
                <a:t>活跃率（指数）​</a:t>
              </a:r>
            </a:p>
          </p:txBody>
        </p:sp>
        <p:sp>
          <p:nvSpPr>
            <p:cNvPr id="49" name="Ellipse 49"/>
            <p:cNvSpPr/>
            <p:nvPr/>
          </p:nvSpPr>
          <p:spPr>
            <a:xfrm>
              <a:off x="2352675" y="3038475"/>
              <a:ext cx="57150" cy="57150"/>
            </a:xfrm>
            <a:prstGeom prst="ellipse">
              <a:avLst/>
            </a:prstGeom>
            <a:solidFill>
              <a:srgbClr val="E84E2F"/>
            </a:solidFill>
            <a:ln>
              <a:noFill/>
            </a:ln>
          </p:spPr>
        </p:sp>
        <p:sp>
          <p:nvSpPr>
            <p:cNvPr id="50" name="TextBox 50"/>
            <p:cNvSpPr txBox="1"/>
            <p:nvPr/>
          </p:nvSpPr>
          <p:spPr>
            <a:xfrm>
              <a:off x="2452688" y="3028236"/>
              <a:ext cx="731156" cy="140494"/>
            </a:xfrm>
            <a:prstGeom prst="rect">
              <a:avLst/>
            </a:prstGeom>
            <a:noFill/>
            <a:ln>
              <a:noFill/>
            </a:ln>
          </p:spPr>
          <p:txBody>
            <a:bodyPr wrap="none" lIns="0" tIns="0" rIns="0" bIns="0" anchor="t" anchorCtr="0">
              <a:spAutoFit/>
            </a:bodyPr>
            <a:lstStyle/>
            <a:p>
              <a:pPr algn="l"/>
              <a:r>
                <a:rPr lang="zh-CN" sz="710" dirty="0">
                  <a:solidFill>
                    <a:srgbClr val="60403A"/>
                  </a:solidFill>
                  <a:latin typeface="+mn-lt"/>
                  <a:ea typeface="+mn-ea"/>
                  <a:cs typeface="+mn-cs"/>
                </a:rPr>
                <a:t>消费额（指数）​</a:t>
              </a:r>
            </a:p>
          </p:txBody>
        </p:sp>
        <p:sp>
          <p:nvSpPr>
            <p:cNvPr id="51" name="Ellipse 51"/>
            <p:cNvSpPr/>
            <p:nvPr/>
          </p:nvSpPr>
          <p:spPr>
            <a:xfrm>
              <a:off x="3171825" y="3038475"/>
              <a:ext cx="57150" cy="57150"/>
            </a:xfrm>
            <a:prstGeom prst="ellipse">
              <a:avLst/>
            </a:prstGeom>
            <a:solidFill>
              <a:srgbClr val="C02C0A"/>
            </a:solidFill>
            <a:ln>
              <a:noFill/>
            </a:ln>
          </p:spPr>
        </p:sp>
        <p:sp>
          <p:nvSpPr>
            <p:cNvPr id="52" name="TextBox 52"/>
            <p:cNvSpPr txBox="1"/>
            <p:nvPr/>
          </p:nvSpPr>
          <p:spPr>
            <a:xfrm>
              <a:off x="3271838" y="3028236"/>
              <a:ext cx="731156" cy="140494"/>
            </a:xfrm>
            <a:prstGeom prst="rect">
              <a:avLst/>
            </a:prstGeom>
            <a:noFill/>
            <a:ln>
              <a:noFill/>
            </a:ln>
          </p:spPr>
          <p:txBody>
            <a:bodyPr wrap="none" lIns="0" tIns="0" rIns="0" bIns="0" anchor="t" anchorCtr="0">
              <a:spAutoFit/>
            </a:bodyPr>
            <a:lstStyle/>
            <a:p>
              <a:pPr algn="l"/>
              <a:r>
                <a:rPr lang="zh-CN" sz="710" dirty="0">
                  <a:solidFill>
                    <a:srgbClr val="60403A"/>
                  </a:solidFill>
                  <a:latin typeface="+mn-lt"/>
                  <a:ea typeface="+mn-ea"/>
                  <a:cs typeface="+mn-cs"/>
                </a:rPr>
                <a:t>留存率（指数）​</a:t>
              </a:r>
            </a:p>
          </p:txBody>
        </p:sp>
      </p:grpSp>
      <p:grpSp>
        <p:nvGrpSpPr>
          <p:cNvPr id="60" name="pain-card-1"/>
          <p:cNvGrpSpPr/>
          <p:nvPr/>
        </p:nvGrpSpPr>
        <p:grpSpPr>
          <a:xfrm>
            <a:off x="228600" y="3295650"/>
            <a:ext cx="1828800" cy="1066800"/>
            <a:chOff x="228600" y="3295650"/>
            <a:chExt cx="1828800" cy="1066800"/>
          </a:xfrm>
        </p:grpSpPr>
        <p:sp>
          <p:nvSpPr>
            <p:cNvPr id="54" name="Rectangle 54"/>
            <p:cNvSpPr/>
            <p:nvPr/>
          </p:nvSpPr>
          <p:spPr>
            <a:xfrm>
              <a:off x="228600" y="3295650"/>
              <a:ext cx="1828800" cy="1066800"/>
            </a:xfrm>
            <a:prstGeom prst="roundRect">
              <a:avLst>
                <a:gd name="adj" fmla="val 7143"/>
              </a:avLst>
            </a:prstGeom>
            <a:solidFill>
              <a:srgbClr val="F5F8FE"/>
            </a:solidFill>
            <a:ln w="9525">
              <a:solidFill>
                <a:srgbClr val="C9D5EA"/>
              </a:solidFill>
            </a:ln>
          </p:spPr>
        </p:sp>
        <p:grpSp>
          <p:nvGrpSpPr>
            <p:cNvPr id="57" name="Group 57"/>
            <p:cNvGrpSpPr/>
            <p:nvPr/>
          </p:nvGrpSpPr>
          <p:grpSpPr>
            <a:xfrm>
              <a:off x="411956" y="3501231"/>
              <a:ext cx="185737" cy="103187"/>
              <a:chOff x="411956" y="3501231"/>
              <a:chExt cx="185737" cy="103187"/>
            </a:xfrm>
          </p:grpSpPr>
          <p:sp>
            <p:nvSpPr>
              <p:cNvPr id="55" name="Freeform 55"/>
              <p:cNvSpPr/>
              <p:nvPr/>
            </p:nvSpPr>
            <p:spPr>
              <a:xfrm>
                <a:off x="411956" y="3501231"/>
                <a:ext cx="185737" cy="103187"/>
              </a:xfrm>
              <a:custGeom>
                <a:avLst/>
                <a:gdLst/>
                <a:ahLst/>
                <a:cxnLst/>
                <a:rect l="l" t="t" r="r" b="b"/>
                <a:pathLst>
                  <a:path w="185737" h="103187">
                    <a:moveTo>
                      <a:pt x="0" y="103187"/>
                    </a:moveTo>
                    <a:lnTo>
                      <a:pt x="61912" y="41275"/>
                    </a:lnTo>
                    <a:lnTo>
                      <a:pt x="103187" y="82550"/>
                    </a:lnTo>
                    <a:lnTo>
                      <a:pt x="185737" y="0"/>
                    </a:lnTo>
                  </a:path>
                </a:pathLst>
              </a:custGeom>
              <a:noFill/>
              <a:ln w="18574">
                <a:solidFill>
                  <a:srgbClr val="8A1700"/>
                </a:solidFill>
              </a:ln>
            </p:spPr>
          </p:sp>
          <p:sp>
            <p:nvSpPr>
              <p:cNvPr id="56" name="Freeform 56"/>
              <p:cNvSpPr/>
              <p:nvPr/>
            </p:nvSpPr>
            <p:spPr>
              <a:xfrm>
                <a:off x="525462" y="3501231"/>
                <a:ext cx="72231" cy="72231"/>
              </a:xfrm>
              <a:custGeom>
                <a:avLst/>
                <a:gdLst/>
                <a:ahLst/>
                <a:cxnLst/>
                <a:rect l="l" t="t" r="r" b="b"/>
                <a:pathLst>
                  <a:path w="72231" h="72231">
                    <a:moveTo>
                      <a:pt x="0" y="0"/>
                    </a:moveTo>
                    <a:lnTo>
                      <a:pt x="72231" y="0"/>
                    </a:lnTo>
                    <a:lnTo>
                      <a:pt x="72231" y="72231"/>
                    </a:lnTo>
                  </a:path>
                </a:pathLst>
              </a:custGeom>
              <a:noFill/>
              <a:ln w="18574">
                <a:solidFill>
                  <a:srgbClr val="8A1700"/>
                </a:solidFill>
              </a:ln>
            </p:spPr>
          </p:sp>
        </p:grpSp>
        <p:sp>
          <p:nvSpPr>
            <p:cNvPr id="58" name="TextBox 58"/>
            <p:cNvSpPr txBox="1"/>
            <p:nvPr/>
          </p:nvSpPr>
          <p:spPr>
            <a:xfrm>
              <a:off x="718566" y="3496628"/>
              <a:ext cx="858774"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获客成本上升</a:t>
              </a:r>
            </a:p>
          </p:txBody>
        </p:sp>
        <p:sp>
          <p:nvSpPr>
            <p:cNvPr id="59" name="TextBox 59"/>
            <p:cNvSpPr txBox="1"/>
            <p:nvPr/>
          </p:nvSpPr>
          <p:spPr>
            <a:xfrm>
              <a:off x="376238" y="3816191"/>
              <a:ext cx="94678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60403A"/>
                  </a:solidFill>
                  <a:latin typeface="+mn-lt"/>
                  <a:ea typeface="+mn-ea"/>
                  <a:cs typeface="+mn-cs"/>
                </a:rPr>
                <a:t>线上流量红利见顶，</a:t>
              </a:r>
              <a:br/>
              <a:r>
                <a:rPr lang="zh-CN" sz="820" dirty="0">
                  <a:solidFill>
                    <a:srgbClr val="60403A"/>
                  </a:solidFill>
                  <a:latin typeface="+mn-lt"/>
                  <a:ea typeface="+mn-ea"/>
                  <a:cs typeface="+mn-cs"/>
                </a:rPr>
                <a:t>CAC持续</a:t>
              </a:r>
              <a:r>
                <a:rPr lang="zh-CN" sz="820" b="1" dirty="0">
                  <a:solidFill>
                    <a:srgbClr val="C02C0A"/>
                  </a:solidFill>
                  <a:latin typeface="+mn-lt"/>
                  <a:ea typeface="+mn-ea"/>
                  <a:cs typeface="+mn-cs"/>
                </a:rPr>
                <a:t>攀升</a:t>
              </a:r>
              <a:r>
                <a:rPr lang="zh-CN" sz="820" dirty="0">
                  <a:solidFill>
                    <a:srgbClr val="60403A"/>
                  </a:solidFill>
                  <a:latin typeface="+mn-lt"/>
                  <a:ea typeface="+mn-ea"/>
                  <a:cs typeface="+mn-cs"/>
                </a:rPr>
                <a:t>​</a:t>
              </a:r>
            </a:p>
          </p:txBody>
        </p:sp>
      </p:grpSp>
      <p:grpSp>
        <p:nvGrpSpPr>
          <p:cNvPr id="69" name="pain-card-2"/>
          <p:cNvGrpSpPr/>
          <p:nvPr/>
        </p:nvGrpSpPr>
        <p:grpSpPr>
          <a:xfrm>
            <a:off x="2152650" y="3295650"/>
            <a:ext cx="1847850" cy="1066800"/>
            <a:chOff x="2152650" y="3295650"/>
            <a:chExt cx="1847850" cy="1066800"/>
          </a:xfrm>
        </p:grpSpPr>
        <p:sp>
          <p:nvSpPr>
            <p:cNvPr id="61" name="Rectangle 61"/>
            <p:cNvSpPr/>
            <p:nvPr/>
          </p:nvSpPr>
          <p:spPr>
            <a:xfrm>
              <a:off x="2152650" y="3295650"/>
              <a:ext cx="1847850" cy="1066800"/>
            </a:xfrm>
            <a:prstGeom prst="roundRect">
              <a:avLst>
                <a:gd name="adj" fmla="val 7143"/>
              </a:avLst>
            </a:prstGeom>
            <a:solidFill>
              <a:srgbClr val="F5F8FE"/>
            </a:solidFill>
            <a:ln w="9525">
              <a:solidFill>
                <a:srgbClr val="C9D5EA"/>
              </a:solidFill>
            </a:ln>
          </p:spPr>
        </p:sp>
        <p:grpSp>
          <p:nvGrpSpPr>
            <p:cNvPr id="66" name="Group 66"/>
            <p:cNvGrpSpPr/>
            <p:nvPr/>
          </p:nvGrpSpPr>
          <p:grpSpPr>
            <a:xfrm>
              <a:off x="2336006" y="3459956"/>
              <a:ext cx="185737" cy="185738"/>
              <a:chOff x="2336006" y="3459956"/>
              <a:chExt cx="185737" cy="185738"/>
            </a:xfrm>
          </p:grpSpPr>
          <p:sp>
            <p:nvSpPr>
              <p:cNvPr id="62" name="Freeform 62"/>
              <p:cNvSpPr/>
              <p:nvPr/>
            </p:nvSpPr>
            <p:spPr>
              <a:xfrm>
                <a:off x="2356644" y="34599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18574">
                <a:solidFill>
                  <a:srgbClr val="8A1700"/>
                </a:solidFill>
              </a:ln>
            </p:spPr>
          </p:sp>
          <p:sp>
            <p:nvSpPr>
              <p:cNvPr id="63" name="Freeform 63"/>
              <p:cNvSpPr/>
              <p:nvPr/>
            </p:nvSpPr>
            <p:spPr>
              <a:xfrm>
                <a:off x="2336006" y="35837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18574">
                <a:solidFill>
                  <a:srgbClr val="8A1700"/>
                </a:solidFill>
              </a:ln>
            </p:spPr>
          </p:sp>
          <p:sp>
            <p:nvSpPr>
              <p:cNvPr id="64" name="Freeform 64"/>
              <p:cNvSpPr/>
              <p:nvPr/>
            </p:nvSpPr>
            <p:spPr>
              <a:xfrm>
                <a:off x="2470149" y="34612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18574">
                <a:solidFill>
                  <a:srgbClr val="8A1700"/>
                </a:solidFill>
              </a:ln>
            </p:spPr>
          </p:sp>
          <p:sp>
            <p:nvSpPr>
              <p:cNvPr id="65" name="Freeform 65"/>
              <p:cNvSpPr/>
              <p:nvPr/>
            </p:nvSpPr>
            <p:spPr>
              <a:xfrm>
                <a:off x="2490787" y="35853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18574">
                <a:solidFill>
                  <a:srgbClr val="8A1700"/>
                </a:solidFill>
              </a:ln>
            </p:spPr>
          </p:sp>
        </p:grpSp>
        <p:sp>
          <p:nvSpPr>
            <p:cNvPr id="67" name="TextBox 67"/>
            <p:cNvSpPr txBox="1"/>
            <p:nvPr/>
          </p:nvSpPr>
          <p:spPr>
            <a:xfrm>
              <a:off x="2642616" y="3496628"/>
              <a:ext cx="858774"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低频客户增加</a:t>
              </a:r>
            </a:p>
          </p:txBody>
        </p:sp>
        <p:sp>
          <p:nvSpPr>
            <p:cNvPr id="68" name="TextBox 68"/>
            <p:cNvSpPr txBox="1"/>
            <p:nvPr/>
          </p:nvSpPr>
          <p:spPr>
            <a:xfrm>
              <a:off x="2300288" y="3816191"/>
              <a:ext cx="115506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60403A"/>
                  </a:solidFill>
                  <a:latin typeface="+mn-lt"/>
                  <a:ea typeface="+mn-ea"/>
                  <a:cs typeface="+mn-cs"/>
                </a:rPr>
                <a:t>低频、沉默客户占比高，</a:t>
              </a:r>
              <a:br/>
              <a:r>
                <a:rPr lang="zh-CN" sz="820" dirty="0">
                  <a:solidFill>
                    <a:srgbClr val="60403A"/>
                  </a:solidFill>
                  <a:latin typeface="+mn-lt"/>
                  <a:ea typeface="+mn-ea"/>
                  <a:cs typeface="+mn-cs"/>
                </a:rPr>
                <a:t>贡献</a:t>
              </a:r>
              <a:r>
                <a:rPr lang="zh-CN" sz="820" b="1" dirty="0">
                  <a:solidFill>
                    <a:srgbClr val="C02C0A"/>
                  </a:solidFill>
                  <a:latin typeface="+mn-lt"/>
                  <a:ea typeface="+mn-ea"/>
                  <a:cs typeface="+mn-cs"/>
                </a:rPr>
                <a:t>有限</a:t>
              </a:r>
            </a:p>
          </p:txBody>
        </p:sp>
      </p:grpSp>
      <p:grpSp>
        <p:nvGrpSpPr>
          <p:cNvPr id="77" name="pain-card-3"/>
          <p:cNvGrpSpPr/>
          <p:nvPr/>
        </p:nvGrpSpPr>
        <p:grpSpPr>
          <a:xfrm>
            <a:off x="228600" y="4438650"/>
            <a:ext cx="1828800" cy="1066800"/>
            <a:chOff x="228600" y="4438650"/>
            <a:chExt cx="1828800" cy="1066800"/>
          </a:xfrm>
        </p:grpSpPr>
        <p:sp>
          <p:nvSpPr>
            <p:cNvPr id="70" name="Rectangle 70"/>
            <p:cNvSpPr/>
            <p:nvPr/>
          </p:nvSpPr>
          <p:spPr>
            <a:xfrm>
              <a:off x="228600" y="4438650"/>
              <a:ext cx="1828800" cy="1066800"/>
            </a:xfrm>
            <a:prstGeom prst="roundRect">
              <a:avLst>
                <a:gd name="adj" fmla="val 7143"/>
              </a:avLst>
            </a:prstGeom>
            <a:solidFill>
              <a:srgbClr val="F5F8FE"/>
            </a:solidFill>
            <a:ln w="9525">
              <a:solidFill>
                <a:srgbClr val="C9D5EA"/>
              </a:solidFill>
            </a:ln>
          </p:spPr>
        </p:sp>
        <p:grpSp>
          <p:nvGrpSpPr>
            <p:cNvPr id="74" name="Group 74"/>
            <p:cNvGrpSpPr/>
            <p:nvPr/>
          </p:nvGrpSpPr>
          <p:grpSpPr>
            <a:xfrm>
              <a:off x="432594" y="4602956"/>
              <a:ext cx="144462" cy="185737"/>
              <a:chOff x="432594" y="4602956"/>
              <a:chExt cx="144462" cy="185737"/>
            </a:xfrm>
          </p:grpSpPr>
          <p:sp>
            <p:nvSpPr>
              <p:cNvPr id="71" name="Freeform 71"/>
              <p:cNvSpPr/>
              <p:nvPr/>
            </p:nvSpPr>
            <p:spPr>
              <a:xfrm>
                <a:off x="432594" y="4664868"/>
                <a:ext cx="144462" cy="123825"/>
              </a:xfrm>
              <a:custGeom>
                <a:avLst/>
                <a:gdLst/>
                <a:ahLst/>
                <a:cxnLst/>
                <a:rect l="l" t="t" r="r" b="b"/>
                <a:pathLst>
                  <a:path w="144462" h="123825">
                    <a:moveTo>
                      <a:pt x="30956" y="0"/>
                    </a:moveTo>
                    <a:lnTo>
                      <a:pt x="20637" y="0"/>
                    </a:lnTo>
                    <a:cubicBezTo>
                      <a:pt x="9240" y="0"/>
                      <a:pt x="0" y="9240"/>
                      <a:pt x="0" y="20637"/>
                    </a:cubicBezTo>
                    <a:lnTo>
                      <a:pt x="0" y="103187"/>
                    </a:lnTo>
                    <a:cubicBezTo>
                      <a:pt x="0" y="114585"/>
                      <a:pt x="9240" y="123825"/>
                      <a:pt x="20637" y="123825"/>
                    </a:cubicBezTo>
                    <a:lnTo>
                      <a:pt x="123825" y="123825"/>
                    </a:lnTo>
                    <a:cubicBezTo>
                      <a:pt x="135222" y="123825"/>
                      <a:pt x="144462" y="114585"/>
                      <a:pt x="144462" y="103187"/>
                    </a:cubicBezTo>
                    <a:lnTo>
                      <a:pt x="144462" y="20637"/>
                    </a:lnTo>
                    <a:cubicBezTo>
                      <a:pt x="144462" y="9240"/>
                      <a:pt x="135222" y="0"/>
                      <a:pt x="123825" y="0"/>
                    </a:cubicBezTo>
                    <a:lnTo>
                      <a:pt x="113506" y="0"/>
                    </a:lnTo>
                  </a:path>
                </a:pathLst>
              </a:custGeom>
              <a:noFill/>
              <a:ln w="18574">
                <a:solidFill>
                  <a:srgbClr val="8A1700"/>
                </a:solidFill>
              </a:ln>
            </p:spPr>
          </p:sp>
          <p:sp>
            <p:nvSpPr>
              <p:cNvPr id="72" name="Freeform 72"/>
              <p:cNvSpPr/>
              <p:nvPr/>
            </p:nvSpPr>
            <p:spPr>
              <a:xfrm>
                <a:off x="504825" y="4602956"/>
                <a:ext cx="9525" cy="113506"/>
              </a:xfrm>
              <a:custGeom>
                <a:avLst/>
                <a:gdLst/>
                <a:ahLst/>
                <a:cxnLst/>
                <a:rect l="l" t="t" r="r" b="b"/>
                <a:pathLst>
                  <a:path w="9525" h="113506">
                    <a:moveTo>
                      <a:pt x="0" y="113506"/>
                    </a:moveTo>
                    <a:lnTo>
                      <a:pt x="0" y="0"/>
                    </a:lnTo>
                  </a:path>
                </a:pathLst>
              </a:custGeom>
              <a:noFill/>
              <a:ln w="18574">
                <a:solidFill>
                  <a:srgbClr val="8A1700"/>
                </a:solidFill>
              </a:ln>
            </p:spPr>
          </p:sp>
          <p:sp>
            <p:nvSpPr>
              <p:cNvPr id="73" name="Freeform 73"/>
              <p:cNvSpPr/>
              <p:nvPr/>
            </p:nvSpPr>
            <p:spPr>
              <a:xfrm>
                <a:off x="473868" y="4602956"/>
                <a:ext cx="61912" cy="30956"/>
              </a:xfrm>
              <a:custGeom>
                <a:avLst/>
                <a:gdLst/>
                <a:ahLst/>
                <a:cxnLst/>
                <a:rect l="l" t="t" r="r" b="b"/>
                <a:pathLst>
                  <a:path w="61912" h="30956">
                    <a:moveTo>
                      <a:pt x="0" y="30956"/>
                    </a:moveTo>
                    <a:lnTo>
                      <a:pt x="30956" y="0"/>
                    </a:lnTo>
                    <a:lnTo>
                      <a:pt x="61912" y="30956"/>
                    </a:lnTo>
                  </a:path>
                </a:pathLst>
              </a:custGeom>
              <a:noFill/>
              <a:ln w="18574">
                <a:solidFill>
                  <a:srgbClr val="8A1700"/>
                </a:solidFill>
              </a:ln>
            </p:spPr>
          </p:sp>
        </p:grpSp>
        <p:sp>
          <p:nvSpPr>
            <p:cNvPr id="75" name="TextBox 75"/>
            <p:cNvSpPr txBox="1"/>
            <p:nvPr/>
          </p:nvSpPr>
          <p:spPr>
            <a:xfrm>
              <a:off x="718566" y="4639628"/>
              <a:ext cx="1000125"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渠道触点碎片化</a:t>
              </a:r>
            </a:p>
          </p:txBody>
        </p:sp>
        <p:sp>
          <p:nvSpPr>
            <p:cNvPr id="76" name="TextBox 76"/>
            <p:cNvSpPr txBox="1"/>
            <p:nvPr/>
          </p:nvSpPr>
          <p:spPr>
            <a:xfrm>
              <a:off x="376238" y="4959191"/>
              <a:ext cx="105092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60403A"/>
                  </a:solidFill>
                  <a:latin typeface="+mn-lt"/>
                  <a:ea typeface="+mn-ea"/>
                  <a:cs typeface="+mn-cs"/>
                </a:rPr>
                <a:t>触点分散、数据孤岛，</a:t>
              </a:r>
              <a:br/>
              <a:r>
                <a:rPr lang="zh-CN" sz="820" dirty="0">
                  <a:solidFill>
                    <a:srgbClr val="60403A"/>
                  </a:solidFill>
                  <a:latin typeface="+mn-lt"/>
                  <a:ea typeface="+mn-ea"/>
                  <a:cs typeface="+mn-cs"/>
                </a:rPr>
                <a:t>难以形成经营</a:t>
              </a:r>
              <a:r>
                <a:rPr lang="zh-CN" sz="820" b="1" dirty="0">
                  <a:solidFill>
                    <a:srgbClr val="C02C0A"/>
                  </a:solidFill>
                  <a:latin typeface="+mn-lt"/>
                  <a:ea typeface="+mn-ea"/>
                  <a:cs typeface="+mn-cs"/>
                </a:rPr>
                <a:t>闭环</a:t>
              </a:r>
            </a:p>
          </p:txBody>
        </p:sp>
      </p:grpSp>
      <p:grpSp>
        <p:nvGrpSpPr>
          <p:cNvPr id="87" name="pain-card-4"/>
          <p:cNvGrpSpPr/>
          <p:nvPr/>
        </p:nvGrpSpPr>
        <p:grpSpPr>
          <a:xfrm>
            <a:off x="2152650" y="4438650"/>
            <a:ext cx="1847850" cy="1066800"/>
            <a:chOff x="2152650" y="4438650"/>
            <a:chExt cx="1847850" cy="1066800"/>
          </a:xfrm>
        </p:grpSpPr>
        <p:sp>
          <p:nvSpPr>
            <p:cNvPr id="78" name="Rectangle 78"/>
            <p:cNvSpPr/>
            <p:nvPr/>
          </p:nvSpPr>
          <p:spPr>
            <a:xfrm>
              <a:off x="2152650" y="4438650"/>
              <a:ext cx="1847850" cy="1066800"/>
            </a:xfrm>
            <a:prstGeom prst="roundRect">
              <a:avLst>
                <a:gd name="adj" fmla="val 7143"/>
              </a:avLst>
            </a:prstGeom>
            <a:solidFill>
              <a:srgbClr val="F5F8FE"/>
            </a:solidFill>
            <a:ln w="9525">
              <a:solidFill>
                <a:srgbClr val="C9D5EA"/>
              </a:solidFill>
            </a:ln>
          </p:spPr>
        </p:sp>
        <p:grpSp>
          <p:nvGrpSpPr>
            <p:cNvPr id="84" name="Group 84"/>
            <p:cNvGrpSpPr/>
            <p:nvPr/>
          </p:nvGrpSpPr>
          <p:grpSpPr>
            <a:xfrm>
              <a:off x="2334114" y="4601064"/>
              <a:ext cx="189755" cy="197154"/>
              <a:chOff x="2334114" y="4601064"/>
              <a:chExt cx="189755" cy="197154"/>
            </a:xfrm>
          </p:grpSpPr>
          <p:sp>
            <p:nvSpPr>
              <p:cNvPr id="79" name="Freeform 79"/>
              <p:cNvSpPr/>
              <p:nvPr/>
            </p:nvSpPr>
            <p:spPr>
              <a:xfrm>
                <a:off x="2408237" y="4675187"/>
                <a:ext cx="115632" cy="115608"/>
              </a:xfrm>
              <a:custGeom>
                <a:avLst/>
                <a:gdLst/>
                <a:ahLst/>
                <a:cxnLst/>
                <a:rect l="l" t="t" r="r" b="b"/>
                <a:pathLst>
                  <a:path w="115632" h="115608">
                    <a:moveTo>
                      <a:pt x="30956" y="0"/>
                    </a:moveTo>
                    <a:lnTo>
                      <a:pt x="107139" y="76544"/>
                    </a:lnTo>
                    <a:cubicBezTo>
                      <a:pt x="115632" y="85006"/>
                      <a:pt x="115632" y="98709"/>
                      <a:pt x="107139" y="107160"/>
                    </a:cubicBezTo>
                    <a:cubicBezTo>
                      <a:pt x="98646" y="115608"/>
                      <a:pt x="84924" y="115608"/>
                      <a:pt x="76431" y="107160"/>
                    </a:cubicBezTo>
                    <a:lnTo>
                      <a:pt x="0" y="30956"/>
                    </a:lnTo>
                  </a:path>
                </a:pathLst>
              </a:custGeom>
              <a:noFill/>
              <a:ln w="18574">
                <a:solidFill>
                  <a:srgbClr val="8A1700"/>
                </a:solidFill>
              </a:ln>
            </p:spPr>
          </p:sp>
          <p:sp>
            <p:nvSpPr>
              <p:cNvPr id="80" name="Freeform 80"/>
              <p:cNvSpPr/>
              <p:nvPr/>
            </p:nvSpPr>
            <p:spPr>
              <a:xfrm>
                <a:off x="2366962" y="4664868"/>
                <a:ext cx="41275" cy="41275"/>
              </a:xfrm>
              <a:custGeom>
                <a:avLst/>
                <a:gdLst/>
                <a:ahLst/>
                <a:cxnLst/>
                <a:rect l="l" t="t" r="r" b="b"/>
                <a:pathLst>
                  <a:path w="41275" h="41275">
                    <a:moveTo>
                      <a:pt x="0" y="0"/>
                    </a:moveTo>
                    <a:lnTo>
                      <a:pt x="41275" y="41275"/>
                    </a:lnTo>
                  </a:path>
                </a:pathLst>
              </a:custGeom>
              <a:noFill/>
              <a:ln w="18574">
                <a:solidFill>
                  <a:srgbClr val="8A1700"/>
                </a:solidFill>
              </a:ln>
            </p:spPr>
          </p:sp>
          <p:sp>
            <p:nvSpPr>
              <p:cNvPr id="81" name="Freeform 81"/>
              <p:cNvSpPr/>
              <p:nvPr/>
            </p:nvSpPr>
            <p:spPr>
              <a:xfrm>
                <a:off x="2397918" y="4633912"/>
                <a:ext cx="41275" cy="41275"/>
              </a:xfrm>
              <a:custGeom>
                <a:avLst/>
                <a:gdLst/>
                <a:ahLst/>
                <a:cxnLst/>
                <a:rect l="l" t="t" r="r" b="b"/>
                <a:pathLst>
                  <a:path w="41275" h="41275">
                    <a:moveTo>
                      <a:pt x="41275" y="41275"/>
                    </a:moveTo>
                    <a:lnTo>
                      <a:pt x="0" y="0"/>
                    </a:lnTo>
                  </a:path>
                </a:pathLst>
              </a:custGeom>
              <a:noFill/>
              <a:ln w="18574">
                <a:solidFill>
                  <a:srgbClr val="8A1700"/>
                </a:solidFill>
              </a:ln>
            </p:spPr>
          </p:sp>
          <p:sp>
            <p:nvSpPr>
              <p:cNvPr id="82" name="Freeform 82"/>
              <p:cNvSpPr/>
              <p:nvPr/>
            </p:nvSpPr>
            <p:spPr>
              <a:xfrm>
                <a:off x="2336006" y="4788693"/>
                <a:ext cx="72231" cy="9525"/>
              </a:xfrm>
              <a:custGeom>
                <a:avLst/>
                <a:gdLst/>
                <a:ahLst/>
                <a:cxnLst/>
                <a:rect l="l" t="t" r="r" b="b"/>
                <a:pathLst>
                  <a:path w="72231" h="9525">
                    <a:moveTo>
                      <a:pt x="0" y="0"/>
                    </a:moveTo>
                    <a:lnTo>
                      <a:pt x="72231" y="0"/>
                    </a:lnTo>
                  </a:path>
                </a:pathLst>
              </a:custGeom>
              <a:noFill/>
              <a:ln w="18574">
                <a:solidFill>
                  <a:srgbClr val="8A1700"/>
                </a:solidFill>
              </a:ln>
            </p:spPr>
          </p:sp>
          <p:sp>
            <p:nvSpPr>
              <p:cNvPr id="83" name="Freeform 83"/>
              <p:cNvSpPr/>
              <p:nvPr/>
            </p:nvSpPr>
            <p:spPr>
              <a:xfrm>
                <a:off x="2334114" y="4601064"/>
                <a:ext cx="137928" cy="137928"/>
              </a:xfrm>
              <a:custGeom>
                <a:avLst/>
                <a:gdLst/>
                <a:ahLst/>
                <a:cxnLst/>
                <a:rect l="l" t="t" r="r" b="b"/>
                <a:pathLst>
                  <a:path w="137928" h="137928">
                    <a:moveTo>
                      <a:pt x="41031" y="133900"/>
                    </a:moveTo>
                    <a:lnTo>
                      <a:pt x="4028" y="96897"/>
                    </a:lnTo>
                    <a:cubicBezTo>
                      <a:pt x="0" y="92867"/>
                      <a:pt x="0" y="86335"/>
                      <a:pt x="4028" y="82306"/>
                    </a:cubicBezTo>
                    <a:lnTo>
                      <a:pt x="27689" y="58645"/>
                    </a:lnTo>
                    <a:lnTo>
                      <a:pt x="32848" y="63805"/>
                    </a:lnTo>
                    <a:lnTo>
                      <a:pt x="63805" y="32848"/>
                    </a:lnTo>
                    <a:lnTo>
                      <a:pt x="58645" y="27689"/>
                    </a:lnTo>
                    <a:lnTo>
                      <a:pt x="82306" y="4028"/>
                    </a:lnTo>
                    <a:cubicBezTo>
                      <a:pt x="86335" y="0"/>
                      <a:pt x="92867" y="0"/>
                      <a:pt x="96897" y="4028"/>
                    </a:cubicBezTo>
                    <a:lnTo>
                      <a:pt x="133900" y="41031"/>
                    </a:lnTo>
                    <a:cubicBezTo>
                      <a:pt x="137928" y="45061"/>
                      <a:pt x="137928" y="51592"/>
                      <a:pt x="133900" y="55622"/>
                    </a:cubicBezTo>
                    <a:lnTo>
                      <a:pt x="110239" y="79283"/>
                    </a:lnTo>
                    <a:lnTo>
                      <a:pt x="105079" y="74123"/>
                    </a:lnTo>
                    <a:lnTo>
                      <a:pt x="74123" y="105079"/>
                    </a:lnTo>
                    <a:lnTo>
                      <a:pt x="79283" y="110239"/>
                    </a:lnTo>
                    <a:lnTo>
                      <a:pt x="55622" y="133900"/>
                    </a:lnTo>
                    <a:cubicBezTo>
                      <a:pt x="51592" y="137928"/>
                      <a:pt x="45061" y="137928"/>
                      <a:pt x="41031" y="133900"/>
                    </a:cubicBezTo>
                  </a:path>
                </a:pathLst>
              </a:custGeom>
              <a:noFill/>
              <a:ln w="18574">
                <a:solidFill>
                  <a:srgbClr val="8A1700"/>
                </a:solidFill>
              </a:ln>
            </p:spPr>
          </p:sp>
        </p:grpSp>
        <p:sp>
          <p:nvSpPr>
            <p:cNvPr id="85" name="TextBox 85"/>
            <p:cNvSpPr txBox="1"/>
            <p:nvPr/>
          </p:nvSpPr>
          <p:spPr>
            <a:xfrm>
              <a:off x="2642616" y="4639628"/>
              <a:ext cx="858774"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合规要求趋严</a:t>
              </a:r>
            </a:p>
          </p:txBody>
        </p:sp>
        <p:sp>
          <p:nvSpPr>
            <p:cNvPr id="86" name="TextBox 86"/>
            <p:cNvSpPr txBox="1"/>
            <p:nvPr/>
          </p:nvSpPr>
          <p:spPr>
            <a:xfrm>
              <a:off x="2300288" y="4959191"/>
              <a:ext cx="125920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60403A"/>
                  </a:solidFill>
                  <a:latin typeface="+mn-lt"/>
                  <a:ea typeface="+mn-ea"/>
                  <a:cs typeface="+mn-cs"/>
                </a:rPr>
                <a:t>数据使用、营销触达、息费</a:t>
              </a:r>
              <a:br/>
              <a:r>
                <a:rPr lang="zh-CN" sz="820" dirty="0">
                  <a:solidFill>
                    <a:srgbClr val="60403A"/>
                  </a:solidFill>
                  <a:latin typeface="+mn-lt"/>
                  <a:ea typeface="+mn-ea"/>
                  <a:cs typeface="+mn-cs"/>
                </a:rPr>
                <a:t>管理等要求不断</a:t>
              </a:r>
              <a:r>
                <a:rPr lang="zh-CN" sz="820" b="1" dirty="0">
                  <a:solidFill>
                    <a:srgbClr val="C02C0A"/>
                  </a:solidFill>
                  <a:latin typeface="+mn-lt"/>
                  <a:ea typeface="+mn-ea"/>
                  <a:cs typeface="+mn-cs"/>
                </a:rPr>
                <a:t>提高</a:t>
              </a:r>
            </a:p>
          </p:txBody>
        </p:sp>
      </p:grpSp>
      <p:grpSp>
        <p:nvGrpSpPr>
          <p:cNvPr id="114" name="contradiction-col"/>
          <p:cNvGrpSpPr/>
          <p:nvPr/>
        </p:nvGrpSpPr>
        <p:grpSpPr>
          <a:xfrm>
            <a:off x="4114800" y="800100"/>
            <a:ext cx="1676400" cy="4705350"/>
            <a:chOff x="4114800" y="800100"/>
            <a:chExt cx="1676400" cy="4705350"/>
          </a:xfrm>
        </p:grpSpPr>
        <p:sp>
          <p:nvSpPr>
            <p:cNvPr id="88" name="Rectangle 88"/>
            <p:cNvSpPr/>
            <p:nvPr/>
          </p:nvSpPr>
          <p:spPr>
            <a:xfrm>
              <a:off x="4114800" y="800100"/>
              <a:ext cx="1676400" cy="4705350"/>
            </a:xfrm>
            <a:prstGeom prst="roundRect">
              <a:avLst>
                <a:gd name="adj" fmla="val 4545"/>
              </a:avLst>
            </a:prstGeom>
            <a:solidFill>
              <a:srgbClr val="F5F8FE"/>
            </a:solidFill>
            <a:ln w="9525">
              <a:solidFill>
                <a:srgbClr val="C9D5EA"/>
              </a:solidFill>
            </a:ln>
          </p:spPr>
        </p:sp>
        <p:sp>
          <p:nvSpPr>
            <p:cNvPr id="89" name="TextBox 89"/>
            <p:cNvSpPr txBox="1"/>
            <p:nvPr/>
          </p:nvSpPr>
          <p:spPr>
            <a:xfrm>
              <a:off x="4344187" y="945356"/>
              <a:ext cx="1217625" cy="220028"/>
            </a:xfrm>
            <a:prstGeom prst="rect">
              <a:avLst/>
            </a:prstGeom>
            <a:noFill/>
            <a:ln>
              <a:noFill/>
            </a:ln>
          </p:spPr>
          <p:txBody>
            <a:bodyPr wrap="none" lIns="0" tIns="0" rIns="0" bIns="0" anchor="t" anchorCtr="0">
              <a:spAutoFit/>
            </a:bodyPr>
            <a:lstStyle/>
            <a:p>
              <a:pPr algn="ctr"/>
              <a:r>
                <a:rPr lang="zh-CN" sz="1120" b="1" dirty="0">
                  <a:solidFill>
                    <a:srgbClr val="C02C0A"/>
                  </a:solidFill>
                  <a:latin typeface="+mn-lt"/>
                  <a:ea typeface="+mn-ea"/>
                  <a:cs typeface="+mn-cs"/>
                </a:rPr>
                <a:t>增长与经营的矛盾</a:t>
              </a:r>
            </a:p>
          </p:txBody>
        </p:sp>
        <p:grpSp>
          <p:nvGrpSpPr>
            <p:cNvPr id="95" name="contradiction-1"/>
            <p:cNvGrpSpPr/>
            <p:nvPr/>
          </p:nvGrpSpPr>
          <p:grpSpPr>
            <a:xfrm>
              <a:off x="4300156" y="1319451"/>
              <a:ext cx="1300544" cy="531494"/>
              <a:chOff x="4300156" y="1319451"/>
              <a:chExt cx="1300544" cy="531494"/>
            </a:xfrm>
          </p:grpSpPr>
          <p:sp>
            <p:nvSpPr>
              <p:cNvPr id="90" name="TextBox 90"/>
              <p:cNvSpPr txBox="1"/>
              <p:nvPr/>
            </p:nvSpPr>
            <p:spPr>
              <a:xfrm>
                <a:off x="4300156" y="1319451"/>
                <a:ext cx="868914"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重规模 轻质量</a:t>
                </a:r>
              </a:p>
            </p:txBody>
          </p:sp>
          <p:grpSp>
            <p:nvGrpSpPr>
              <p:cNvPr id="93" name="Group 93"/>
              <p:cNvGrpSpPr/>
              <p:nvPr/>
            </p:nvGrpSpPr>
            <p:grpSpPr>
              <a:xfrm>
                <a:off x="5524500" y="1343025"/>
                <a:ext cx="76200" cy="76200"/>
                <a:chOff x="5524500" y="1343025"/>
                <a:chExt cx="76200" cy="76200"/>
              </a:xfrm>
            </p:grpSpPr>
            <p:sp>
              <p:nvSpPr>
                <p:cNvPr id="91" name="Freeform 91"/>
                <p:cNvSpPr/>
                <p:nvPr/>
              </p:nvSpPr>
              <p:spPr>
                <a:xfrm>
                  <a:off x="5524500" y="1343025"/>
                  <a:ext cx="76200" cy="76200"/>
                </a:xfrm>
                <a:custGeom>
                  <a:avLst/>
                  <a:gdLst/>
                  <a:ahLst/>
                  <a:cxnLst/>
                  <a:rect l="l" t="t" r="r" b="b"/>
                  <a:pathLst>
                    <a:path w="76200" h="76200">
                      <a:moveTo>
                        <a:pt x="76200" y="0"/>
                      </a:moveTo>
                      <a:lnTo>
                        <a:pt x="0" y="76200"/>
                      </a:lnTo>
                    </a:path>
                  </a:pathLst>
                </a:custGeom>
                <a:noFill/>
                <a:ln w="19050">
                  <a:solidFill>
                    <a:srgbClr val="C02C0A"/>
                  </a:solidFill>
                </a:ln>
              </p:spPr>
            </p:sp>
            <p:sp>
              <p:nvSpPr>
                <p:cNvPr id="92" name="Freeform 92"/>
                <p:cNvSpPr/>
                <p:nvPr/>
              </p:nvSpPr>
              <p:spPr>
                <a:xfrm>
                  <a:off x="5524500" y="1343025"/>
                  <a:ext cx="76200" cy="76200"/>
                </a:xfrm>
                <a:custGeom>
                  <a:avLst/>
                  <a:gdLst/>
                  <a:ahLst/>
                  <a:cxnLst/>
                  <a:rect l="l" t="t" r="r" b="b"/>
                  <a:pathLst>
                    <a:path w="76200" h="76200">
                      <a:moveTo>
                        <a:pt x="0" y="0"/>
                      </a:moveTo>
                      <a:lnTo>
                        <a:pt x="76200" y="76200"/>
                      </a:lnTo>
                    </a:path>
                  </a:pathLst>
                </a:custGeom>
                <a:noFill/>
                <a:ln w="19050">
                  <a:solidFill>
                    <a:srgbClr val="C02C0A"/>
                  </a:solidFill>
                </a:ln>
              </p:spPr>
            </p:sp>
          </p:grpSp>
          <p:sp>
            <p:nvSpPr>
              <p:cNvPr id="94" name="TextBox 94"/>
              <p:cNvSpPr txBox="1"/>
              <p:nvPr/>
            </p:nvSpPr>
            <p:spPr>
              <a:xfrm>
                <a:off x="4300538" y="1553289"/>
                <a:ext cx="81216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以发卡量为导向，</a:t>
                </a:r>
                <a:br/>
                <a:r>
                  <a:rPr lang="zh-CN" sz="790" dirty="0">
                    <a:solidFill>
                      <a:srgbClr val="60403A"/>
                    </a:solidFill>
                    <a:latin typeface="+mn-lt"/>
                    <a:ea typeface="+mn-ea"/>
                    <a:cs typeface="+mn-cs"/>
                  </a:rPr>
                  <a:t>忽视客户价值</a:t>
                </a:r>
              </a:p>
            </p:txBody>
          </p:sp>
        </p:grpSp>
        <p:grpSp>
          <p:nvGrpSpPr>
            <p:cNvPr id="101" name="contradiction-2"/>
            <p:cNvGrpSpPr/>
            <p:nvPr/>
          </p:nvGrpSpPr>
          <p:grpSpPr>
            <a:xfrm>
              <a:off x="4300156" y="2462451"/>
              <a:ext cx="1300544" cy="531494"/>
              <a:chOff x="4300156" y="2462451"/>
              <a:chExt cx="1300544" cy="531494"/>
            </a:xfrm>
          </p:grpSpPr>
          <p:sp>
            <p:nvSpPr>
              <p:cNvPr id="96" name="TextBox 96"/>
              <p:cNvSpPr txBox="1"/>
              <p:nvPr/>
            </p:nvSpPr>
            <p:spPr>
              <a:xfrm>
                <a:off x="4300156" y="2462451"/>
                <a:ext cx="868914"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重获取 轻经营</a:t>
                </a:r>
              </a:p>
            </p:txBody>
          </p:sp>
          <p:grpSp>
            <p:nvGrpSpPr>
              <p:cNvPr id="99" name="Group 99"/>
              <p:cNvGrpSpPr/>
              <p:nvPr/>
            </p:nvGrpSpPr>
            <p:grpSpPr>
              <a:xfrm>
                <a:off x="5524500" y="2486025"/>
                <a:ext cx="76200" cy="76200"/>
                <a:chOff x="5524500" y="2486025"/>
                <a:chExt cx="76200" cy="76200"/>
              </a:xfrm>
            </p:grpSpPr>
            <p:sp>
              <p:nvSpPr>
                <p:cNvPr id="97" name="Freeform 97"/>
                <p:cNvSpPr/>
                <p:nvPr/>
              </p:nvSpPr>
              <p:spPr>
                <a:xfrm>
                  <a:off x="5524500" y="2486025"/>
                  <a:ext cx="76200" cy="76200"/>
                </a:xfrm>
                <a:custGeom>
                  <a:avLst/>
                  <a:gdLst/>
                  <a:ahLst/>
                  <a:cxnLst/>
                  <a:rect l="l" t="t" r="r" b="b"/>
                  <a:pathLst>
                    <a:path w="76200" h="76200">
                      <a:moveTo>
                        <a:pt x="76200" y="0"/>
                      </a:moveTo>
                      <a:lnTo>
                        <a:pt x="0" y="76200"/>
                      </a:lnTo>
                    </a:path>
                  </a:pathLst>
                </a:custGeom>
                <a:noFill/>
                <a:ln w="19050">
                  <a:solidFill>
                    <a:srgbClr val="C02C0A"/>
                  </a:solidFill>
                </a:ln>
              </p:spPr>
            </p:sp>
            <p:sp>
              <p:nvSpPr>
                <p:cNvPr id="98" name="Freeform 98"/>
                <p:cNvSpPr/>
                <p:nvPr/>
              </p:nvSpPr>
              <p:spPr>
                <a:xfrm>
                  <a:off x="5524500" y="2486025"/>
                  <a:ext cx="76200" cy="76200"/>
                </a:xfrm>
                <a:custGeom>
                  <a:avLst/>
                  <a:gdLst/>
                  <a:ahLst/>
                  <a:cxnLst/>
                  <a:rect l="l" t="t" r="r" b="b"/>
                  <a:pathLst>
                    <a:path w="76200" h="76200">
                      <a:moveTo>
                        <a:pt x="0" y="0"/>
                      </a:moveTo>
                      <a:lnTo>
                        <a:pt x="76200" y="76200"/>
                      </a:lnTo>
                    </a:path>
                  </a:pathLst>
                </a:custGeom>
                <a:noFill/>
                <a:ln w="19050">
                  <a:solidFill>
                    <a:srgbClr val="C02C0A"/>
                  </a:solidFill>
                </a:ln>
              </p:spPr>
            </p:sp>
          </p:grpSp>
          <p:sp>
            <p:nvSpPr>
              <p:cNvPr id="100" name="TextBox 100"/>
              <p:cNvSpPr txBox="1"/>
              <p:nvPr/>
            </p:nvSpPr>
            <p:spPr>
              <a:xfrm>
                <a:off x="4300538" y="2696289"/>
                <a:ext cx="81216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一次性交易思维，</a:t>
                </a:r>
                <a:br/>
                <a:r>
                  <a:rPr lang="zh-CN" sz="790" dirty="0">
                    <a:solidFill>
                      <a:srgbClr val="60403A"/>
                    </a:solidFill>
                    <a:latin typeface="+mn-lt"/>
                    <a:ea typeface="+mn-ea"/>
                    <a:cs typeface="+mn-cs"/>
                  </a:rPr>
                  <a:t>缺乏长期关系</a:t>
                </a:r>
              </a:p>
            </p:txBody>
          </p:sp>
        </p:grpSp>
        <p:grpSp>
          <p:nvGrpSpPr>
            <p:cNvPr id="107" name="contradiction-3"/>
            <p:cNvGrpSpPr/>
            <p:nvPr/>
          </p:nvGrpSpPr>
          <p:grpSpPr>
            <a:xfrm>
              <a:off x="4300156" y="3605451"/>
              <a:ext cx="1300544" cy="531494"/>
              <a:chOff x="4300156" y="3605451"/>
              <a:chExt cx="1300544" cy="531494"/>
            </a:xfrm>
          </p:grpSpPr>
          <p:sp>
            <p:nvSpPr>
              <p:cNvPr id="102" name="TextBox 102"/>
              <p:cNvSpPr txBox="1"/>
              <p:nvPr/>
            </p:nvSpPr>
            <p:spPr>
              <a:xfrm>
                <a:off x="4300156" y="3605451"/>
                <a:ext cx="868914"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重触达 轻洞察</a:t>
                </a:r>
              </a:p>
            </p:txBody>
          </p:sp>
          <p:grpSp>
            <p:nvGrpSpPr>
              <p:cNvPr id="105" name="Group 105"/>
              <p:cNvGrpSpPr/>
              <p:nvPr/>
            </p:nvGrpSpPr>
            <p:grpSpPr>
              <a:xfrm>
                <a:off x="5524500" y="3629025"/>
                <a:ext cx="76200" cy="76200"/>
                <a:chOff x="5524500" y="3629025"/>
                <a:chExt cx="76200" cy="76200"/>
              </a:xfrm>
            </p:grpSpPr>
            <p:sp>
              <p:nvSpPr>
                <p:cNvPr id="103" name="Freeform 103"/>
                <p:cNvSpPr/>
                <p:nvPr/>
              </p:nvSpPr>
              <p:spPr>
                <a:xfrm>
                  <a:off x="5524500" y="3629025"/>
                  <a:ext cx="76200" cy="76200"/>
                </a:xfrm>
                <a:custGeom>
                  <a:avLst/>
                  <a:gdLst/>
                  <a:ahLst/>
                  <a:cxnLst/>
                  <a:rect l="l" t="t" r="r" b="b"/>
                  <a:pathLst>
                    <a:path w="76200" h="76200">
                      <a:moveTo>
                        <a:pt x="76200" y="0"/>
                      </a:moveTo>
                      <a:lnTo>
                        <a:pt x="0" y="76200"/>
                      </a:lnTo>
                    </a:path>
                  </a:pathLst>
                </a:custGeom>
                <a:noFill/>
                <a:ln w="19050">
                  <a:solidFill>
                    <a:srgbClr val="C02C0A"/>
                  </a:solidFill>
                </a:ln>
              </p:spPr>
            </p:sp>
            <p:sp>
              <p:nvSpPr>
                <p:cNvPr id="104" name="Freeform 104"/>
                <p:cNvSpPr/>
                <p:nvPr/>
              </p:nvSpPr>
              <p:spPr>
                <a:xfrm>
                  <a:off x="5524500" y="3629025"/>
                  <a:ext cx="76200" cy="76200"/>
                </a:xfrm>
                <a:custGeom>
                  <a:avLst/>
                  <a:gdLst/>
                  <a:ahLst/>
                  <a:cxnLst/>
                  <a:rect l="l" t="t" r="r" b="b"/>
                  <a:pathLst>
                    <a:path w="76200" h="76200">
                      <a:moveTo>
                        <a:pt x="0" y="0"/>
                      </a:moveTo>
                      <a:lnTo>
                        <a:pt x="76200" y="76200"/>
                      </a:lnTo>
                    </a:path>
                  </a:pathLst>
                </a:custGeom>
                <a:noFill/>
                <a:ln w="19050">
                  <a:solidFill>
                    <a:srgbClr val="C02C0A"/>
                  </a:solidFill>
                </a:ln>
              </p:spPr>
            </p:sp>
          </p:grpSp>
          <p:sp>
            <p:nvSpPr>
              <p:cNvPr id="106" name="TextBox 106"/>
              <p:cNvSpPr txBox="1"/>
              <p:nvPr/>
            </p:nvSpPr>
            <p:spPr>
              <a:xfrm>
                <a:off x="4300538" y="3839289"/>
                <a:ext cx="71183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广撒网式触达，</a:t>
                </a:r>
                <a:br/>
                <a:r>
                  <a:rPr lang="zh-CN" sz="790" dirty="0">
                    <a:solidFill>
                      <a:srgbClr val="60403A"/>
                    </a:solidFill>
                    <a:latin typeface="+mn-lt"/>
                    <a:ea typeface="+mn-ea"/>
                    <a:cs typeface="+mn-cs"/>
                  </a:rPr>
                  <a:t>缺乏个性化</a:t>
                </a:r>
              </a:p>
            </p:txBody>
          </p:sp>
        </p:grpSp>
        <p:grpSp>
          <p:nvGrpSpPr>
            <p:cNvPr id="113" name="contradiction-4"/>
            <p:cNvGrpSpPr/>
            <p:nvPr/>
          </p:nvGrpSpPr>
          <p:grpSpPr>
            <a:xfrm>
              <a:off x="4300156" y="4748451"/>
              <a:ext cx="1300544" cy="531494"/>
              <a:chOff x="4300156" y="4748451"/>
              <a:chExt cx="1300544" cy="531494"/>
            </a:xfrm>
          </p:grpSpPr>
          <p:sp>
            <p:nvSpPr>
              <p:cNvPr id="108" name="TextBox 108"/>
              <p:cNvSpPr txBox="1"/>
              <p:nvPr/>
            </p:nvSpPr>
            <p:spPr>
              <a:xfrm>
                <a:off x="4300156" y="4748451"/>
                <a:ext cx="868914"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重短期 轻长期</a:t>
                </a:r>
              </a:p>
            </p:txBody>
          </p:sp>
          <p:grpSp>
            <p:nvGrpSpPr>
              <p:cNvPr id="111" name="Group 111"/>
              <p:cNvGrpSpPr/>
              <p:nvPr/>
            </p:nvGrpSpPr>
            <p:grpSpPr>
              <a:xfrm>
                <a:off x="5524500" y="4772025"/>
                <a:ext cx="76200" cy="76200"/>
                <a:chOff x="5524500" y="4772025"/>
                <a:chExt cx="76200" cy="76200"/>
              </a:xfrm>
            </p:grpSpPr>
            <p:sp>
              <p:nvSpPr>
                <p:cNvPr id="109" name="Freeform 109"/>
                <p:cNvSpPr/>
                <p:nvPr/>
              </p:nvSpPr>
              <p:spPr>
                <a:xfrm>
                  <a:off x="5524500" y="4772025"/>
                  <a:ext cx="76200" cy="76200"/>
                </a:xfrm>
                <a:custGeom>
                  <a:avLst/>
                  <a:gdLst/>
                  <a:ahLst/>
                  <a:cxnLst/>
                  <a:rect l="l" t="t" r="r" b="b"/>
                  <a:pathLst>
                    <a:path w="76200" h="76200">
                      <a:moveTo>
                        <a:pt x="76200" y="0"/>
                      </a:moveTo>
                      <a:lnTo>
                        <a:pt x="0" y="76200"/>
                      </a:lnTo>
                    </a:path>
                  </a:pathLst>
                </a:custGeom>
                <a:noFill/>
                <a:ln w="19050">
                  <a:solidFill>
                    <a:srgbClr val="C02C0A"/>
                  </a:solidFill>
                </a:ln>
              </p:spPr>
            </p:sp>
            <p:sp>
              <p:nvSpPr>
                <p:cNvPr id="110" name="Freeform 110"/>
                <p:cNvSpPr/>
                <p:nvPr/>
              </p:nvSpPr>
              <p:spPr>
                <a:xfrm>
                  <a:off x="5524500" y="4772025"/>
                  <a:ext cx="76200" cy="76200"/>
                </a:xfrm>
                <a:custGeom>
                  <a:avLst/>
                  <a:gdLst/>
                  <a:ahLst/>
                  <a:cxnLst/>
                  <a:rect l="l" t="t" r="r" b="b"/>
                  <a:pathLst>
                    <a:path w="76200" h="76200">
                      <a:moveTo>
                        <a:pt x="0" y="0"/>
                      </a:moveTo>
                      <a:lnTo>
                        <a:pt x="76200" y="76200"/>
                      </a:lnTo>
                    </a:path>
                  </a:pathLst>
                </a:custGeom>
                <a:noFill/>
                <a:ln w="19050">
                  <a:solidFill>
                    <a:srgbClr val="C02C0A"/>
                  </a:solidFill>
                </a:ln>
              </p:spPr>
            </p:sp>
          </p:grpSp>
          <p:sp>
            <p:nvSpPr>
              <p:cNvPr id="112" name="TextBox 112"/>
              <p:cNvSpPr txBox="1"/>
              <p:nvPr/>
            </p:nvSpPr>
            <p:spPr>
              <a:xfrm>
                <a:off x="4300538" y="4982289"/>
                <a:ext cx="81216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短期促活见效快，</a:t>
                </a:r>
                <a:br/>
                <a:r>
                  <a:rPr lang="zh-CN" sz="790" dirty="0">
                    <a:solidFill>
                      <a:srgbClr val="60403A"/>
                    </a:solidFill>
                    <a:latin typeface="+mn-lt"/>
                    <a:ea typeface="+mn-ea"/>
                    <a:cs typeface="+mn-cs"/>
                  </a:rPr>
                  <a:t>长期价值难沉淀</a:t>
                </a:r>
              </a:p>
            </p:txBody>
          </p:sp>
        </p:grpSp>
      </p:grpSp>
      <p:grpSp>
        <p:nvGrpSpPr>
          <p:cNvPr id="178" name="compare-table"/>
          <p:cNvGrpSpPr/>
          <p:nvPr/>
        </p:nvGrpSpPr>
        <p:grpSpPr>
          <a:xfrm>
            <a:off x="5905500" y="838200"/>
            <a:ext cx="6057900" cy="4572000"/>
            <a:chOff x="5905500" y="838200"/>
            <a:chExt cx="6057900" cy="4572000"/>
          </a:xfrm>
        </p:grpSpPr>
        <p:sp>
          <p:nvSpPr>
            <p:cNvPr id="115" name="Rectangle 115"/>
            <p:cNvSpPr/>
            <p:nvPr/>
          </p:nvSpPr>
          <p:spPr>
            <a:xfrm>
              <a:off x="5905500" y="838200"/>
              <a:ext cx="2971800" cy="304800"/>
            </a:xfrm>
            <a:prstGeom prst="rect">
              <a:avLst/>
            </a:prstGeom>
            <a:solidFill>
              <a:srgbClr val="DCE6F5"/>
            </a:solidFill>
            <a:ln>
              <a:noFill/>
            </a:ln>
          </p:spPr>
        </p:sp>
        <p:sp>
          <p:nvSpPr>
            <p:cNvPr id="116" name="Rectangle 116"/>
            <p:cNvSpPr/>
            <p:nvPr/>
          </p:nvSpPr>
          <p:spPr>
            <a:xfrm>
              <a:off x="8991600" y="838200"/>
              <a:ext cx="2971800" cy="304800"/>
            </a:xfrm>
            <a:prstGeom prst="rect">
              <a:avLst/>
            </a:prstGeom>
            <a:solidFill>
              <a:srgbClr val="520E00"/>
            </a:solidFill>
            <a:ln>
              <a:noFill/>
            </a:ln>
          </p:spPr>
        </p:sp>
        <p:sp>
          <p:nvSpPr>
            <p:cNvPr id="117" name="TextBox 117"/>
            <p:cNvSpPr txBox="1"/>
            <p:nvPr/>
          </p:nvSpPr>
          <p:spPr>
            <a:xfrm>
              <a:off x="6820662" y="934402"/>
              <a:ext cx="1141476"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旧模式：流量竞争</a:t>
              </a:r>
            </a:p>
          </p:txBody>
        </p:sp>
        <p:sp>
          <p:nvSpPr>
            <p:cNvPr id="118" name="TextBox 118"/>
            <p:cNvSpPr txBox="1"/>
            <p:nvPr/>
          </p:nvSpPr>
          <p:spPr>
            <a:xfrm>
              <a:off x="9906762" y="934402"/>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新模式：客户经营</a:t>
              </a:r>
            </a:p>
          </p:txBody>
        </p:sp>
        <p:grpSp>
          <p:nvGrpSpPr>
            <p:cNvPr id="128" name="cmp-row-1"/>
            <p:cNvGrpSpPr/>
            <p:nvPr/>
          </p:nvGrpSpPr>
          <p:grpSpPr>
            <a:xfrm>
              <a:off x="5905500" y="1219200"/>
              <a:ext cx="6057900" cy="666750"/>
              <a:chOff x="5905500" y="1219200"/>
              <a:chExt cx="6057900" cy="666750"/>
            </a:xfrm>
          </p:grpSpPr>
          <p:sp>
            <p:nvSpPr>
              <p:cNvPr id="119" name="Rectangle 119"/>
              <p:cNvSpPr/>
              <p:nvPr/>
            </p:nvSpPr>
            <p:spPr>
              <a:xfrm>
                <a:off x="5905500" y="1219200"/>
                <a:ext cx="6057900" cy="666750"/>
              </a:xfrm>
              <a:prstGeom prst="rect">
                <a:avLst/>
              </a:prstGeom>
              <a:solidFill>
                <a:srgbClr val="FFFFFF"/>
              </a:solidFill>
              <a:ln w="9525">
                <a:solidFill>
                  <a:srgbClr val="E4EAF4"/>
                </a:solidFill>
              </a:ln>
            </p:spPr>
          </p:sp>
          <p:grpSp>
            <p:nvGrpSpPr>
              <p:cNvPr id="123" name="Group 123"/>
              <p:cNvGrpSpPr/>
              <p:nvPr/>
            </p:nvGrpSpPr>
            <p:grpSpPr>
              <a:xfrm>
                <a:off x="6126956" y="1440656"/>
                <a:ext cx="185737" cy="185737"/>
                <a:chOff x="6126956" y="1440656"/>
                <a:chExt cx="185737" cy="185737"/>
              </a:xfrm>
            </p:grpSpPr>
            <p:sp>
              <p:nvSpPr>
                <p:cNvPr id="120" name="Freeform 120"/>
                <p:cNvSpPr/>
                <p:nvPr/>
              </p:nvSpPr>
              <p:spPr>
                <a:xfrm>
                  <a:off x="6209506" y="152320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18574">
                  <a:solidFill>
                    <a:srgbClr val="8A1700"/>
                  </a:solidFill>
                </a:ln>
              </p:spPr>
            </p:sp>
            <p:sp>
              <p:nvSpPr>
                <p:cNvPr id="121" name="Freeform 121"/>
                <p:cNvSpPr/>
                <p:nvPr/>
              </p:nvSpPr>
              <p:spPr>
                <a:xfrm>
                  <a:off x="6168231" y="148193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18574">
                  <a:solidFill>
                    <a:srgbClr val="8A1700"/>
                  </a:solidFill>
                </a:ln>
              </p:spPr>
            </p:sp>
            <p:sp>
              <p:nvSpPr>
                <p:cNvPr id="122" name="Freeform 122"/>
                <p:cNvSpPr/>
                <p:nvPr/>
              </p:nvSpPr>
              <p:spPr>
                <a:xfrm>
                  <a:off x="6126956" y="14406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18574">
                  <a:solidFill>
                    <a:srgbClr val="8A1700"/>
                  </a:solidFill>
                </a:ln>
              </p:spPr>
            </p:sp>
          </p:grpSp>
          <p:sp>
            <p:nvSpPr>
              <p:cNvPr id="124" name="TextBox 124"/>
              <p:cNvSpPr txBox="1"/>
              <p:nvPr/>
            </p:nvSpPr>
            <p:spPr>
              <a:xfrm>
                <a:off x="6011888" y="1724739"/>
                <a:ext cx="434924" cy="154781"/>
              </a:xfrm>
              <a:prstGeom prst="rect">
                <a:avLst/>
              </a:prstGeom>
              <a:noFill/>
              <a:ln>
                <a:noFill/>
              </a:ln>
            </p:spPr>
            <p:txBody>
              <a:bodyPr wrap="none" lIns="0" tIns="0" rIns="0" bIns="0" anchor="t" anchorCtr="0">
                <a:spAutoFit/>
              </a:bodyPr>
              <a:lstStyle/>
              <a:p>
                <a:pPr algn="ctr"/>
                <a:r>
                  <a:rPr lang="zh-CN" sz="790" b="1" dirty="0">
                    <a:solidFill>
                      <a:srgbClr val="520E00"/>
                    </a:solidFill>
                    <a:latin typeface="+mn-lt"/>
                    <a:ea typeface="+mn-ea"/>
                    <a:cs typeface="+mn-cs"/>
                  </a:rPr>
                  <a:t>核心目标</a:t>
                </a:r>
              </a:p>
            </p:txBody>
          </p:sp>
          <p:sp>
            <p:nvSpPr>
              <p:cNvPr id="125" name="TextBox 125"/>
              <p:cNvSpPr txBox="1"/>
              <p:nvPr/>
            </p:nvSpPr>
            <p:spPr>
              <a:xfrm>
                <a:off x="6605588" y="1400889"/>
                <a:ext cx="81216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追求发卡规模增长</a:t>
                </a:r>
                <a:br/>
                <a:r>
                  <a:rPr lang="zh-CN" sz="790" dirty="0">
                    <a:solidFill>
                      <a:srgbClr val="60403A"/>
                    </a:solidFill>
                    <a:latin typeface="+mn-lt"/>
                    <a:ea typeface="+mn-ea"/>
                    <a:cs typeface="+mn-cs"/>
                  </a:rPr>
                  <a:t>抢占市场份额</a:t>
                </a:r>
              </a:p>
            </p:txBody>
          </p:sp>
          <p:sp>
            <p:nvSpPr>
              <p:cNvPr id="126" name="Freeform 126"/>
              <p:cNvSpPr/>
              <p:nvPr/>
            </p:nvSpPr>
            <p:spPr>
              <a:xfrm>
                <a:off x="8686800" y="1466850"/>
                <a:ext cx="209550" cy="209550"/>
              </a:xfrm>
              <a:prstGeom prst="chevron">
                <a:avLst/>
              </a:prstGeom>
              <a:solidFill>
                <a:srgbClr val="8A1700"/>
              </a:solidFill>
              <a:ln>
                <a:noFill/>
              </a:ln>
            </p:spPr>
          </p:sp>
          <p:sp>
            <p:nvSpPr>
              <p:cNvPr id="127" name="TextBox 127"/>
              <p:cNvSpPr txBox="1"/>
              <p:nvPr/>
            </p:nvSpPr>
            <p:spPr>
              <a:xfrm>
                <a:off x="9024938" y="1400889"/>
                <a:ext cx="111315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提升客户全生命周期价值</a:t>
                </a:r>
                <a:br/>
                <a:r>
                  <a:rPr lang="zh-CN" sz="790" dirty="0">
                    <a:solidFill>
                      <a:srgbClr val="60403A"/>
                    </a:solidFill>
                    <a:latin typeface="+mn-lt"/>
                    <a:ea typeface="+mn-ea"/>
                    <a:cs typeface="+mn-cs"/>
                  </a:rPr>
                  <a:t>实现</a:t>
                </a:r>
                <a:r>
                  <a:rPr lang="zh-CN" sz="790" b="1" dirty="0">
                    <a:solidFill>
                      <a:srgbClr val="C02C0A"/>
                    </a:solidFill>
                    <a:latin typeface="+mn-lt"/>
                    <a:ea typeface="+mn-ea"/>
                    <a:cs typeface="+mn-cs"/>
                  </a:rPr>
                  <a:t>可持续增长</a:t>
                </a:r>
              </a:p>
            </p:txBody>
          </p:sp>
        </p:grpSp>
        <p:grpSp>
          <p:nvGrpSpPr>
            <p:cNvPr id="138" name="cmp-row-2"/>
            <p:cNvGrpSpPr/>
            <p:nvPr/>
          </p:nvGrpSpPr>
          <p:grpSpPr>
            <a:xfrm>
              <a:off x="5905500" y="1924050"/>
              <a:ext cx="6057900" cy="666750"/>
              <a:chOff x="5905500" y="1924050"/>
              <a:chExt cx="6057900" cy="666750"/>
            </a:xfrm>
          </p:grpSpPr>
          <p:sp>
            <p:nvSpPr>
              <p:cNvPr id="129" name="Rectangle 129"/>
              <p:cNvSpPr/>
              <p:nvPr/>
            </p:nvSpPr>
            <p:spPr>
              <a:xfrm>
                <a:off x="5905500" y="1924050"/>
                <a:ext cx="6057900" cy="666750"/>
              </a:xfrm>
              <a:prstGeom prst="rect">
                <a:avLst/>
              </a:prstGeom>
              <a:solidFill>
                <a:srgbClr val="F5F8FE"/>
              </a:solidFill>
              <a:ln w="9525">
                <a:solidFill>
                  <a:srgbClr val="E4EAF4"/>
                </a:solidFill>
              </a:ln>
            </p:spPr>
          </p:sp>
          <p:grpSp>
            <p:nvGrpSpPr>
              <p:cNvPr id="133" name="Group 133"/>
              <p:cNvGrpSpPr/>
              <p:nvPr/>
            </p:nvGrpSpPr>
            <p:grpSpPr>
              <a:xfrm>
                <a:off x="6126956" y="2145506"/>
                <a:ext cx="185737" cy="185737"/>
                <a:chOff x="6126956" y="2145506"/>
                <a:chExt cx="185737" cy="185737"/>
              </a:xfrm>
            </p:grpSpPr>
            <p:sp>
              <p:nvSpPr>
                <p:cNvPr id="130" name="Freeform 130"/>
                <p:cNvSpPr/>
                <p:nvPr/>
              </p:nvSpPr>
              <p:spPr>
                <a:xfrm>
                  <a:off x="6126956" y="2145506"/>
                  <a:ext cx="185737" cy="92868"/>
                </a:xfrm>
                <a:custGeom>
                  <a:avLst/>
                  <a:gdLst/>
                  <a:ahLst/>
                  <a:cxnLst/>
                  <a:rect l="l" t="t" r="r" b="b"/>
                  <a:pathLst>
                    <a:path w="185737" h="92868">
                      <a:moveTo>
                        <a:pt x="0" y="92868"/>
                      </a:moveTo>
                      <a:lnTo>
                        <a:pt x="10319" y="92868"/>
                      </a:lnTo>
                      <a:moveTo>
                        <a:pt x="92868" y="0"/>
                      </a:moveTo>
                      <a:lnTo>
                        <a:pt x="92868" y="10319"/>
                      </a:lnTo>
                      <a:moveTo>
                        <a:pt x="175418" y="92868"/>
                      </a:moveTo>
                      <a:lnTo>
                        <a:pt x="185737" y="92868"/>
                      </a:lnTo>
                      <a:moveTo>
                        <a:pt x="26829" y="26829"/>
                      </a:moveTo>
                      <a:lnTo>
                        <a:pt x="34052" y="34052"/>
                      </a:lnTo>
                      <a:moveTo>
                        <a:pt x="158908" y="26829"/>
                      </a:moveTo>
                      <a:lnTo>
                        <a:pt x="151685" y="34052"/>
                      </a:lnTo>
                    </a:path>
                  </a:pathLst>
                </a:custGeom>
                <a:noFill/>
                <a:ln w="18574">
                  <a:solidFill>
                    <a:srgbClr val="8A1700"/>
                  </a:solidFill>
                </a:ln>
              </p:spPr>
            </p:sp>
            <p:sp>
              <p:nvSpPr>
                <p:cNvPr id="131" name="Freeform 131"/>
                <p:cNvSpPr/>
                <p:nvPr/>
              </p:nvSpPr>
              <p:spPr>
                <a:xfrm>
                  <a:off x="6163856" y="2186781"/>
                  <a:ext cx="111937" cy="144462"/>
                </a:xfrm>
                <a:custGeom>
                  <a:avLst/>
                  <a:gdLst/>
                  <a:ahLst/>
                  <a:cxnLst/>
                  <a:rect l="l" t="t" r="r" b="b"/>
                  <a:pathLst>
                    <a:path w="111937" h="144462">
                      <a:moveTo>
                        <a:pt x="25012" y="92868"/>
                      </a:moveTo>
                      <a:cubicBezTo>
                        <a:pt x="7246" y="79544"/>
                        <a:pt x="0" y="56346"/>
                        <a:pt x="7023" y="35278"/>
                      </a:cubicBezTo>
                      <a:cubicBezTo>
                        <a:pt x="14045" y="14210"/>
                        <a:pt x="33761" y="0"/>
                        <a:pt x="55969" y="0"/>
                      </a:cubicBezTo>
                      <a:cubicBezTo>
                        <a:pt x="78176" y="0"/>
                        <a:pt x="97892" y="14210"/>
                        <a:pt x="104915" y="35278"/>
                      </a:cubicBezTo>
                      <a:cubicBezTo>
                        <a:pt x="111937" y="56346"/>
                        <a:pt x="104691" y="79544"/>
                        <a:pt x="86925" y="92868"/>
                      </a:cubicBezTo>
                      <a:cubicBezTo>
                        <a:pt x="78754" y="100957"/>
                        <a:pt x="74922" y="112452"/>
                        <a:pt x="76606" y="123825"/>
                      </a:cubicBezTo>
                      <a:cubicBezTo>
                        <a:pt x="76606" y="135222"/>
                        <a:pt x="67366" y="144462"/>
                        <a:pt x="55969" y="144462"/>
                      </a:cubicBezTo>
                      <a:cubicBezTo>
                        <a:pt x="44571" y="144462"/>
                        <a:pt x="35331" y="135222"/>
                        <a:pt x="35331" y="123825"/>
                      </a:cubicBezTo>
                      <a:cubicBezTo>
                        <a:pt x="37015" y="112452"/>
                        <a:pt x="33183" y="100957"/>
                        <a:pt x="25012" y="92868"/>
                      </a:cubicBezTo>
                    </a:path>
                  </a:pathLst>
                </a:custGeom>
                <a:noFill/>
                <a:ln w="18574">
                  <a:solidFill>
                    <a:srgbClr val="8A1700"/>
                  </a:solidFill>
                </a:ln>
              </p:spPr>
            </p:sp>
            <p:sp>
              <p:nvSpPr>
                <p:cNvPr id="132" name="Freeform 132"/>
                <p:cNvSpPr/>
                <p:nvPr/>
              </p:nvSpPr>
              <p:spPr>
                <a:xfrm>
                  <a:off x="6196092" y="2289968"/>
                  <a:ext cx="47466" cy="9525"/>
                </a:xfrm>
                <a:custGeom>
                  <a:avLst/>
                  <a:gdLst/>
                  <a:ahLst/>
                  <a:cxnLst/>
                  <a:rect l="l" t="t" r="r" b="b"/>
                  <a:pathLst>
                    <a:path w="47466" h="9525">
                      <a:moveTo>
                        <a:pt x="0" y="0"/>
                      </a:moveTo>
                      <a:lnTo>
                        <a:pt x="47466" y="0"/>
                      </a:lnTo>
                    </a:path>
                  </a:pathLst>
                </a:custGeom>
                <a:noFill/>
                <a:ln w="18574">
                  <a:solidFill>
                    <a:srgbClr val="8A1700"/>
                  </a:solidFill>
                </a:ln>
              </p:spPr>
            </p:sp>
          </p:grpSp>
          <p:sp>
            <p:nvSpPr>
              <p:cNvPr id="134" name="TextBox 134"/>
              <p:cNvSpPr txBox="1"/>
              <p:nvPr/>
            </p:nvSpPr>
            <p:spPr>
              <a:xfrm>
                <a:off x="6011888" y="2429589"/>
                <a:ext cx="434924" cy="154781"/>
              </a:xfrm>
              <a:prstGeom prst="rect">
                <a:avLst/>
              </a:prstGeom>
              <a:noFill/>
              <a:ln>
                <a:noFill/>
              </a:ln>
            </p:spPr>
            <p:txBody>
              <a:bodyPr wrap="none" lIns="0" tIns="0" rIns="0" bIns="0" anchor="t" anchorCtr="0">
                <a:spAutoFit/>
              </a:bodyPr>
              <a:lstStyle/>
              <a:p>
                <a:pPr algn="ctr"/>
                <a:r>
                  <a:rPr lang="zh-CN" sz="790" b="1" dirty="0">
                    <a:solidFill>
                      <a:srgbClr val="520E00"/>
                    </a:solidFill>
                    <a:latin typeface="+mn-lt"/>
                    <a:ea typeface="+mn-ea"/>
                    <a:cs typeface="+mn-cs"/>
                  </a:rPr>
                  <a:t>经营逻辑</a:t>
                </a:r>
              </a:p>
            </p:txBody>
          </p:sp>
          <p:sp>
            <p:nvSpPr>
              <p:cNvPr id="135" name="TextBox 135"/>
              <p:cNvSpPr txBox="1"/>
              <p:nvPr/>
            </p:nvSpPr>
            <p:spPr>
              <a:xfrm>
                <a:off x="6605588" y="2105739"/>
                <a:ext cx="71183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流量思维</a:t>
                </a:r>
                <a:br/>
                <a:r>
                  <a:rPr lang="zh-CN" sz="790" dirty="0">
                    <a:solidFill>
                      <a:srgbClr val="60403A"/>
                    </a:solidFill>
                    <a:latin typeface="+mn-lt"/>
                    <a:ea typeface="+mn-ea"/>
                    <a:cs typeface="+mn-cs"/>
                  </a:rPr>
                  <a:t>广撒网、重获取</a:t>
                </a:r>
              </a:p>
            </p:txBody>
          </p:sp>
          <p:sp>
            <p:nvSpPr>
              <p:cNvPr id="136" name="Freeform 136"/>
              <p:cNvSpPr/>
              <p:nvPr/>
            </p:nvSpPr>
            <p:spPr>
              <a:xfrm>
                <a:off x="8686800" y="2171700"/>
                <a:ext cx="209550" cy="209550"/>
              </a:xfrm>
              <a:prstGeom prst="chevron">
                <a:avLst/>
              </a:prstGeom>
              <a:solidFill>
                <a:srgbClr val="8A1700"/>
              </a:solidFill>
              <a:ln>
                <a:noFill/>
              </a:ln>
            </p:spPr>
          </p:sp>
          <p:sp>
            <p:nvSpPr>
              <p:cNvPr id="137" name="TextBox 137"/>
              <p:cNvSpPr txBox="1"/>
              <p:nvPr/>
            </p:nvSpPr>
            <p:spPr>
              <a:xfrm>
                <a:off x="9024938" y="2105739"/>
                <a:ext cx="71183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客户思维</a:t>
                </a:r>
                <a:br/>
                <a:r>
                  <a:rPr lang="zh-CN" sz="790" b="1" dirty="0">
                    <a:solidFill>
                      <a:srgbClr val="C02C0A"/>
                    </a:solidFill>
                    <a:latin typeface="+mn-lt"/>
                    <a:ea typeface="+mn-ea"/>
                    <a:cs typeface="+mn-cs"/>
                  </a:rPr>
                  <a:t>精细化、重经营</a:t>
                </a:r>
              </a:p>
            </p:txBody>
          </p:sp>
        </p:grpSp>
        <p:grpSp>
          <p:nvGrpSpPr>
            <p:cNvPr id="149" name="cmp-row-3"/>
            <p:cNvGrpSpPr/>
            <p:nvPr/>
          </p:nvGrpSpPr>
          <p:grpSpPr>
            <a:xfrm>
              <a:off x="5905500" y="2628900"/>
              <a:ext cx="6057900" cy="666750"/>
              <a:chOff x="5905500" y="2628900"/>
              <a:chExt cx="6057900" cy="666750"/>
            </a:xfrm>
          </p:grpSpPr>
          <p:sp>
            <p:nvSpPr>
              <p:cNvPr id="139" name="Rectangle 139"/>
              <p:cNvSpPr/>
              <p:nvPr/>
            </p:nvSpPr>
            <p:spPr>
              <a:xfrm>
                <a:off x="5905500" y="2628900"/>
                <a:ext cx="6057900" cy="666750"/>
              </a:xfrm>
              <a:prstGeom prst="rect">
                <a:avLst/>
              </a:prstGeom>
              <a:solidFill>
                <a:srgbClr val="FFFFFF"/>
              </a:solidFill>
              <a:ln w="9525">
                <a:solidFill>
                  <a:srgbClr val="E4EAF4"/>
                </a:solidFill>
              </a:ln>
            </p:spPr>
          </p:sp>
          <p:grpSp>
            <p:nvGrpSpPr>
              <p:cNvPr id="144" name="Group 144"/>
              <p:cNvGrpSpPr/>
              <p:nvPr/>
            </p:nvGrpSpPr>
            <p:grpSpPr>
              <a:xfrm>
                <a:off x="6126956" y="2850356"/>
                <a:ext cx="185737" cy="185738"/>
                <a:chOff x="6126956" y="2850356"/>
                <a:chExt cx="185737" cy="185738"/>
              </a:xfrm>
            </p:grpSpPr>
            <p:sp>
              <p:nvSpPr>
                <p:cNvPr id="140" name="Freeform 140"/>
                <p:cNvSpPr/>
                <p:nvPr/>
              </p:nvSpPr>
              <p:spPr>
                <a:xfrm>
                  <a:off x="6147594" y="28503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18574">
                  <a:solidFill>
                    <a:srgbClr val="8A1700"/>
                  </a:solidFill>
                </a:ln>
              </p:spPr>
            </p:sp>
            <p:sp>
              <p:nvSpPr>
                <p:cNvPr id="141" name="Freeform 141"/>
                <p:cNvSpPr/>
                <p:nvPr/>
              </p:nvSpPr>
              <p:spPr>
                <a:xfrm>
                  <a:off x="6126956" y="29741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18574">
                  <a:solidFill>
                    <a:srgbClr val="8A1700"/>
                  </a:solidFill>
                </a:ln>
              </p:spPr>
            </p:sp>
            <p:sp>
              <p:nvSpPr>
                <p:cNvPr id="142" name="Freeform 142"/>
                <p:cNvSpPr/>
                <p:nvPr/>
              </p:nvSpPr>
              <p:spPr>
                <a:xfrm>
                  <a:off x="6261099" y="28516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18574">
                  <a:solidFill>
                    <a:srgbClr val="8A1700"/>
                  </a:solidFill>
                </a:ln>
              </p:spPr>
            </p:sp>
            <p:sp>
              <p:nvSpPr>
                <p:cNvPr id="143" name="Freeform 143"/>
                <p:cNvSpPr/>
                <p:nvPr/>
              </p:nvSpPr>
              <p:spPr>
                <a:xfrm>
                  <a:off x="6281737" y="29757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18574">
                  <a:solidFill>
                    <a:srgbClr val="8A1700"/>
                  </a:solidFill>
                </a:ln>
              </p:spPr>
            </p:sp>
          </p:grpSp>
          <p:sp>
            <p:nvSpPr>
              <p:cNvPr id="145" name="TextBox 145"/>
              <p:cNvSpPr txBox="1"/>
              <p:nvPr/>
            </p:nvSpPr>
            <p:spPr>
              <a:xfrm>
                <a:off x="6011888" y="3134439"/>
                <a:ext cx="434924" cy="154781"/>
              </a:xfrm>
              <a:prstGeom prst="rect">
                <a:avLst/>
              </a:prstGeom>
              <a:noFill/>
              <a:ln>
                <a:noFill/>
              </a:ln>
            </p:spPr>
            <p:txBody>
              <a:bodyPr wrap="none" lIns="0" tIns="0" rIns="0" bIns="0" anchor="t" anchorCtr="0">
                <a:spAutoFit/>
              </a:bodyPr>
              <a:lstStyle/>
              <a:p>
                <a:pPr algn="ctr"/>
                <a:r>
                  <a:rPr lang="zh-CN" sz="790" b="1" dirty="0">
                    <a:solidFill>
                      <a:srgbClr val="520E00"/>
                    </a:solidFill>
                    <a:latin typeface="+mn-lt"/>
                    <a:ea typeface="+mn-ea"/>
                    <a:cs typeface="+mn-cs"/>
                  </a:rPr>
                  <a:t>客户关系</a:t>
                </a:r>
              </a:p>
            </p:txBody>
          </p:sp>
          <p:sp>
            <p:nvSpPr>
              <p:cNvPr id="146" name="TextBox 146"/>
              <p:cNvSpPr txBox="1"/>
              <p:nvPr/>
            </p:nvSpPr>
            <p:spPr>
              <a:xfrm>
                <a:off x="6605588" y="2810589"/>
                <a:ext cx="91249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弱关系、一次性交易</a:t>
                </a:r>
                <a:br/>
                <a:r>
                  <a:rPr lang="zh-CN" sz="790" dirty="0">
                    <a:solidFill>
                      <a:srgbClr val="60403A"/>
                    </a:solidFill>
                    <a:latin typeface="+mn-lt"/>
                    <a:ea typeface="+mn-ea"/>
                    <a:cs typeface="+mn-cs"/>
                  </a:rPr>
                  <a:t>客户易流失</a:t>
                </a:r>
              </a:p>
            </p:txBody>
          </p:sp>
          <p:sp>
            <p:nvSpPr>
              <p:cNvPr id="147" name="Freeform 147"/>
              <p:cNvSpPr/>
              <p:nvPr/>
            </p:nvSpPr>
            <p:spPr>
              <a:xfrm>
                <a:off x="8686800" y="2876550"/>
                <a:ext cx="209550" cy="209550"/>
              </a:xfrm>
              <a:prstGeom prst="chevron">
                <a:avLst/>
              </a:prstGeom>
              <a:solidFill>
                <a:srgbClr val="8A1700"/>
              </a:solidFill>
              <a:ln>
                <a:noFill/>
              </a:ln>
            </p:spPr>
          </p:sp>
          <p:sp>
            <p:nvSpPr>
              <p:cNvPr id="148" name="TextBox 148"/>
              <p:cNvSpPr txBox="1"/>
              <p:nvPr/>
            </p:nvSpPr>
            <p:spPr>
              <a:xfrm>
                <a:off x="9024938" y="2810589"/>
                <a:ext cx="81216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强关系、长期陪伴</a:t>
                </a:r>
                <a:br/>
                <a:r>
                  <a:rPr lang="zh-CN" sz="790" dirty="0">
                    <a:solidFill>
                      <a:srgbClr val="60403A"/>
                    </a:solidFill>
                    <a:latin typeface="+mn-lt"/>
                    <a:ea typeface="+mn-ea"/>
                    <a:cs typeface="+mn-cs"/>
                  </a:rPr>
                  <a:t>客户</a:t>
                </a:r>
                <a:r>
                  <a:rPr lang="zh-CN" sz="790" b="1" dirty="0">
                    <a:solidFill>
                      <a:srgbClr val="C02C0A"/>
                    </a:solidFill>
                    <a:latin typeface="+mn-lt"/>
                    <a:ea typeface="+mn-ea"/>
                    <a:cs typeface="+mn-cs"/>
                  </a:rPr>
                  <a:t>更忠诚</a:t>
                </a:r>
              </a:p>
            </p:txBody>
          </p:sp>
        </p:grpSp>
        <p:grpSp>
          <p:nvGrpSpPr>
            <p:cNvPr id="156" name="cmp-row-4"/>
            <p:cNvGrpSpPr/>
            <p:nvPr/>
          </p:nvGrpSpPr>
          <p:grpSpPr>
            <a:xfrm>
              <a:off x="5905500" y="3333750"/>
              <a:ext cx="6057900" cy="666750"/>
              <a:chOff x="5905500" y="3333750"/>
              <a:chExt cx="6057900" cy="666750"/>
            </a:xfrm>
          </p:grpSpPr>
          <p:sp>
            <p:nvSpPr>
              <p:cNvPr id="150" name="Rectangle 150"/>
              <p:cNvSpPr/>
              <p:nvPr/>
            </p:nvSpPr>
            <p:spPr>
              <a:xfrm>
                <a:off x="5905500" y="3333750"/>
                <a:ext cx="6057900" cy="666750"/>
              </a:xfrm>
              <a:prstGeom prst="rect">
                <a:avLst/>
              </a:prstGeom>
              <a:solidFill>
                <a:srgbClr val="F5F8FE"/>
              </a:solidFill>
              <a:ln w="9525">
                <a:solidFill>
                  <a:srgbClr val="E4EAF4"/>
                </a:solidFill>
              </a:ln>
            </p:spPr>
          </p:sp>
          <p:sp>
            <p:nvSpPr>
              <p:cNvPr id="151" name="Freeform 151"/>
              <p:cNvSpPr/>
              <p:nvPr/>
            </p:nvSpPr>
            <p:spPr>
              <a:xfrm>
                <a:off x="6116390" y="3557528"/>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18574">
                <a:solidFill>
                  <a:srgbClr val="8A1700"/>
                </a:solidFill>
              </a:ln>
            </p:spPr>
          </p:sp>
          <p:sp>
            <p:nvSpPr>
              <p:cNvPr id="152" name="TextBox 152"/>
              <p:cNvSpPr txBox="1"/>
              <p:nvPr/>
            </p:nvSpPr>
            <p:spPr>
              <a:xfrm>
                <a:off x="6011888" y="3839289"/>
                <a:ext cx="434924" cy="154781"/>
              </a:xfrm>
              <a:prstGeom prst="rect">
                <a:avLst/>
              </a:prstGeom>
              <a:noFill/>
              <a:ln>
                <a:noFill/>
              </a:ln>
            </p:spPr>
            <p:txBody>
              <a:bodyPr wrap="none" lIns="0" tIns="0" rIns="0" bIns="0" anchor="t" anchorCtr="0">
                <a:spAutoFit/>
              </a:bodyPr>
              <a:lstStyle/>
              <a:p>
                <a:pPr algn="ctr"/>
                <a:r>
                  <a:rPr lang="zh-CN" sz="790" b="1" dirty="0">
                    <a:solidFill>
                      <a:srgbClr val="520E00"/>
                    </a:solidFill>
                    <a:latin typeface="+mn-lt"/>
                    <a:ea typeface="+mn-ea"/>
                    <a:cs typeface="+mn-cs"/>
                  </a:rPr>
                  <a:t>触达方式</a:t>
                </a:r>
              </a:p>
            </p:txBody>
          </p:sp>
          <p:sp>
            <p:nvSpPr>
              <p:cNvPr id="153" name="TextBox 153"/>
              <p:cNvSpPr txBox="1"/>
              <p:nvPr/>
            </p:nvSpPr>
            <p:spPr>
              <a:xfrm>
                <a:off x="6605588" y="3515439"/>
                <a:ext cx="91249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广告/活动驱动​</a:t>
                </a:r>
                <a:br/>
                <a:r>
                  <a:rPr lang="zh-CN" sz="790" dirty="0">
                    <a:solidFill>
                      <a:srgbClr val="60403A"/>
                    </a:solidFill>
                    <a:latin typeface="+mn-lt"/>
                    <a:ea typeface="+mn-ea"/>
                    <a:cs typeface="+mn-cs"/>
                  </a:rPr>
                  <a:t>批量触达、转化率低</a:t>
                </a:r>
              </a:p>
            </p:txBody>
          </p:sp>
          <p:sp>
            <p:nvSpPr>
              <p:cNvPr id="154" name="Freeform 154"/>
              <p:cNvSpPr/>
              <p:nvPr/>
            </p:nvSpPr>
            <p:spPr>
              <a:xfrm>
                <a:off x="8686800" y="3581400"/>
                <a:ext cx="209550" cy="209550"/>
              </a:xfrm>
              <a:prstGeom prst="chevron">
                <a:avLst/>
              </a:prstGeom>
              <a:solidFill>
                <a:srgbClr val="8A1700"/>
              </a:solidFill>
              <a:ln>
                <a:noFill/>
              </a:ln>
            </p:spPr>
          </p:sp>
          <p:sp>
            <p:nvSpPr>
              <p:cNvPr id="155" name="TextBox 155"/>
              <p:cNvSpPr txBox="1"/>
              <p:nvPr/>
            </p:nvSpPr>
            <p:spPr>
              <a:xfrm>
                <a:off x="9024938" y="3515439"/>
                <a:ext cx="101282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数据驱动、场景化触达</a:t>
                </a:r>
                <a:br/>
                <a:r>
                  <a:rPr lang="zh-CN" sz="790" dirty="0">
                    <a:solidFill>
                      <a:srgbClr val="60403A"/>
                    </a:solidFill>
                    <a:latin typeface="+mn-lt"/>
                    <a:ea typeface="+mn-ea"/>
                    <a:cs typeface="+mn-cs"/>
                  </a:rPr>
                  <a:t>个性化、</a:t>
                </a:r>
                <a:r>
                  <a:rPr lang="zh-CN" sz="790" b="1" dirty="0">
                    <a:solidFill>
                      <a:srgbClr val="C02C0A"/>
                    </a:solidFill>
                    <a:latin typeface="+mn-lt"/>
                    <a:ea typeface="+mn-ea"/>
                    <a:cs typeface="+mn-cs"/>
                  </a:rPr>
                  <a:t>转化率高</a:t>
                </a:r>
              </a:p>
            </p:txBody>
          </p:sp>
        </p:grpSp>
        <p:grpSp>
          <p:nvGrpSpPr>
            <p:cNvPr id="166" name="cmp-row-5"/>
            <p:cNvGrpSpPr/>
            <p:nvPr/>
          </p:nvGrpSpPr>
          <p:grpSpPr>
            <a:xfrm>
              <a:off x="5905500" y="4038600"/>
              <a:ext cx="6057900" cy="666750"/>
              <a:chOff x="5905500" y="4038600"/>
              <a:chExt cx="6057900" cy="666750"/>
            </a:xfrm>
          </p:grpSpPr>
          <p:sp>
            <p:nvSpPr>
              <p:cNvPr id="157" name="Rectangle 157"/>
              <p:cNvSpPr/>
              <p:nvPr/>
            </p:nvSpPr>
            <p:spPr>
              <a:xfrm>
                <a:off x="5905500" y="4038600"/>
                <a:ext cx="6057900" cy="666750"/>
              </a:xfrm>
              <a:prstGeom prst="rect">
                <a:avLst/>
              </a:prstGeom>
              <a:solidFill>
                <a:srgbClr val="FFFFFF"/>
              </a:solidFill>
              <a:ln w="9525">
                <a:solidFill>
                  <a:srgbClr val="E4EAF4"/>
                </a:solidFill>
              </a:ln>
            </p:spPr>
          </p:sp>
          <p:grpSp>
            <p:nvGrpSpPr>
              <p:cNvPr id="161" name="Group 161"/>
              <p:cNvGrpSpPr/>
              <p:nvPr/>
            </p:nvGrpSpPr>
            <p:grpSpPr>
              <a:xfrm>
                <a:off x="6137275" y="4260056"/>
                <a:ext cx="165099" cy="185737"/>
                <a:chOff x="6137275" y="4260056"/>
                <a:chExt cx="165099" cy="185737"/>
              </a:xfrm>
            </p:grpSpPr>
            <p:sp>
              <p:nvSpPr>
                <p:cNvPr id="158" name="Freeform 158"/>
                <p:cNvSpPr/>
                <p:nvPr/>
              </p:nvSpPr>
              <p:spPr>
                <a:xfrm>
                  <a:off x="6137275" y="426005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18574">
                  <a:solidFill>
                    <a:srgbClr val="8A1700"/>
                  </a:solidFill>
                </a:ln>
              </p:spPr>
            </p:sp>
            <p:sp>
              <p:nvSpPr>
                <p:cNvPr id="159" name="Freeform 159"/>
                <p:cNvSpPr/>
                <p:nvPr/>
              </p:nvSpPr>
              <p:spPr>
                <a:xfrm>
                  <a:off x="6137275" y="429101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18574">
                  <a:solidFill>
                    <a:srgbClr val="8A1700"/>
                  </a:solidFill>
                </a:ln>
              </p:spPr>
            </p:sp>
            <p:sp>
              <p:nvSpPr>
                <p:cNvPr id="160" name="Freeform 160"/>
                <p:cNvSpPr/>
                <p:nvPr/>
              </p:nvSpPr>
              <p:spPr>
                <a:xfrm>
                  <a:off x="6137275" y="435292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18574">
                  <a:solidFill>
                    <a:srgbClr val="8A1700"/>
                  </a:solidFill>
                </a:ln>
              </p:spPr>
            </p:sp>
          </p:grpSp>
          <p:sp>
            <p:nvSpPr>
              <p:cNvPr id="162" name="TextBox 162"/>
              <p:cNvSpPr txBox="1"/>
              <p:nvPr/>
            </p:nvSpPr>
            <p:spPr>
              <a:xfrm>
                <a:off x="6011888" y="4544139"/>
                <a:ext cx="434924" cy="154781"/>
              </a:xfrm>
              <a:prstGeom prst="rect">
                <a:avLst/>
              </a:prstGeom>
              <a:noFill/>
              <a:ln>
                <a:noFill/>
              </a:ln>
            </p:spPr>
            <p:txBody>
              <a:bodyPr wrap="none" lIns="0" tIns="0" rIns="0" bIns="0" anchor="t" anchorCtr="0">
                <a:spAutoFit/>
              </a:bodyPr>
              <a:lstStyle/>
              <a:p>
                <a:pPr algn="ctr"/>
                <a:r>
                  <a:rPr lang="zh-CN" sz="790" b="1" dirty="0">
                    <a:solidFill>
                      <a:srgbClr val="520E00"/>
                    </a:solidFill>
                    <a:latin typeface="+mn-lt"/>
                    <a:ea typeface="+mn-ea"/>
                    <a:cs typeface="+mn-cs"/>
                  </a:rPr>
                  <a:t>数据能力</a:t>
                </a:r>
              </a:p>
            </p:txBody>
          </p:sp>
          <p:sp>
            <p:nvSpPr>
              <p:cNvPr id="163" name="TextBox 163"/>
              <p:cNvSpPr txBox="1"/>
              <p:nvPr/>
            </p:nvSpPr>
            <p:spPr>
              <a:xfrm>
                <a:off x="6605588" y="4220289"/>
                <a:ext cx="91249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数据割裂、被动报表</a:t>
                </a:r>
                <a:br/>
                <a:r>
                  <a:rPr lang="zh-CN" sz="790" dirty="0">
                    <a:solidFill>
                      <a:srgbClr val="60403A"/>
                    </a:solidFill>
                    <a:latin typeface="+mn-lt"/>
                    <a:ea typeface="+mn-ea"/>
                    <a:cs typeface="+mn-cs"/>
                  </a:rPr>
                  <a:t>洞察滞后</a:t>
                </a:r>
              </a:p>
            </p:txBody>
          </p:sp>
          <p:sp>
            <p:nvSpPr>
              <p:cNvPr id="164" name="Freeform 164"/>
              <p:cNvSpPr/>
              <p:nvPr/>
            </p:nvSpPr>
            <p:spPr>
              <a:xfrm>
                <a:off x="8686800" y="4286250"/>
                <a:ext cx="209550" cy="209550"/>
              </a:xfrm>
              <a:prstGeom prst="chevron">
                <a:avLst/>
              </a:prstGeom>
              <a:solidFill>
                <a:srgbClr val="8A1700"/>
              </a:solidFill>
              <a:ln>
                <a:noFill/>
              </a:ln>
            </p:spPr>
          </p:sp>
          <p:sp>
            <p:nvSpPr>
              <p:cNvPr id="165" name="TextBox 165"/>
              <p:cNvSpPr txBox="1"/>
              <p:nvPr/>
            </p:nvSpPr>
            <p:spPr>
              <a:xfrm>
                <a:off x="9024938" y="4220289"/>
                <a:ext cx="91249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数据整合、</a:t>
                </a:r>
                <a:r>
                  <a:rPr lang="zh-CN" sz="790" b="1" dirty="0">
                    <a:solidFill>
                      <a:srgbClr val="C02C0A"/>
                    </a:solidFill>
                    <a:latin typeface="+mn-lt"/>
                    <a:ea typeface="+mn-ea"/>
                    <a:cs typeface="+mn-cs"/>
                  </a:rPr>
                  <a:t>实时洞察</a:t>
                </a:r>
                <a:br/>
                <a:r>
                  <a:rPr lang="zh-CN" sz="790" dirty="0">
                    <a:solidFill>
                      <a:srgbClr val="60403A"/>
                    </a:solidFill>
                    <a:latin typeface="+mn-lt"/>
                    <a:ea typeface="+mn-ea"/>
                    <a:cs typeface="+mn-cs"/>
                  </a:rPr>
                  <a:t>驱动决策与行动</a:t>
                </a:r>
              </a:p>
            </p:txBody>
          </p:sp>
        </p:grpSp>
        <p:grpSp>
          <p:nvGrpSpPr>
            <p:cNvPr id="177" name="cmp-row-6"/>
            <p:cNvGrpSpPr/>
            <p:nvPr/>
          </p:nvGrpSpPr>
          <p:grpSpPr>
            <a:xfrm>
              <a:off x="5905500" y="4743450"/>
              <a:ext cx="6057900" cy="666750"/>
              <a:chOff x="5905500" y="4743450"/>
              <a:chExt cx="6057900" cy="666750"/>
            </a:xfrm>
          </p:grpSpPr>
          <p:sp>
            <p:nvSpPr>
              <p:cNvPr id="167" name="Rectangle 167"/>
              <p:cNvSpPr/>
              <p:nvPr/>
            </p:nvSpPr>
            <p:spPr>
              <a:xfrm>
                <a:off x="5905500" y="4743450"/>
                <a:ext cx="6057900" cy="666750"/>
              </a:xfrm>
              <a:prstGeom prst="rect">
                <a:avLst/>
              </a:prstGeom>
              <a:solidFill>
                <a:srgbClr val="F5F8FE"/>
              </a:solidFill>
              <a:ln w="9525">
                <a:solidFill>
                  <a:srgbClr val="E4EAF4"/>
                </a:solidFill>
              </a:ln>
            </p:spPr>
          </p:sp>
          <p:grpSp>
            <p:nvGrpSpPr>
              <p:cNvPr id="172" name="Group 172"/>
              <p:cNvGrpSpPr/>
              <p:nvPr/>
            </p:nvGrpSpPr>
            <p:grpSpPr>
              <a:xfrm>
                <a:off x="6126956" y="4975225"/>
                <a:ext cx="185737" cy="174624"/>
                <a:chOff x="6126956" y="4975225"/>
                <a:chExt cx="185737" cy="174624"/>
              </a:xfrm>
            </p:grpSpPr>
            <p:sp>
              <p:nvSpPr>
                <p:cNvPr id="168" name="Freeform 168"/>
                <p:cNvSpPr/>
                <p:nvPr/>
              </p:nvSpPr>
              <p:spPr>
                <a:xfrm>
                  <a:off x="6126956" y="505777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18574">
                  <a:solidFill>
                    <a:srgbClr val="8A1700"/>
                  </a:solidFill>
                </a:ln>
              </p:spPr>
            </p:sp>
            <p:sp>
              <p:nvSpPr>
                <p:cNvPr id="169" name="Freeform 169"/>
                <p:cNvSpPr/>
                <p:nvPr/>
              </p:nvSpPr>
              <p:spPr>
                <a:xfrm>
                  <a:off x="6250781" y="501650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18574">
                  <a:solidFill>
                    <a:srgbClr val="8A1700"/>
                  </a:solidFill>
                </a:ln>
              </p:spPr>
            </p:sp>
            <p:sp>
              <p:nvSpPr>
                <p:cNvPr id="170" name="Freeform 170"/>
                <p:cNvSpPr/>
                <p:nvPr/>
              </p:nvSpPr>
              <p:spPr>
                <a:xfrm>
                  <a:off x="6188868" y="497522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18574">
                  <a:solidFill>
                    <a:srgbClr val="8A1700"/>
                  </a:solidFill>
                </a:ln>
              </p:spPr>
            </p:sp>
            <p:sp>
              <p:nvSpPr>
                <p:cNvPr id="171" name="Freeform 171"/>
                <p:cNvSpPr/>
                <p:nvPr/>
              </p:nvSpPr>
              <p:spPr>
                <a:xfrm>
                  <a:off x="6137275" y="5140324"/>
                  <a:ext cx="144462" cy="9525"/>
                </a:xfrm>
                <a:custGeom>
                  <a:avLst/>
                  <a:gdLst/>
                  <a:ahLst/>
                  <a:cxnLst/>
                  <a:rect l="l" t="t" r="r" b="b"/>
                  <a:pathLst>
                    <a:path w="144462" h="9525">
                      <a:moveTo>
                        <a:pt x="0" y="0"/>
                      </a:moveTo>
                      <a:lnTo>
                        <a:pt x="144462" y="0"/>
                      </a:lnTo>
                    </a:path>
                  </a:pathLst>
                </a:custGeom>
                <a:noFill/>
                <a:ln w="18574">
                  <a:solidFill>
                    <a:srgbClr val="8A1700"/>
                  </a:solidFill>
                </a:ln>
              </p:spPr>
            </p:sp>
          </p:grpSp>
          <p:sp>
            <p:nvSpPr>
              <p:cNvPr id="173" name="TextBox 173"/>
              <p:cNvSpPr txBox="1"/>
              <p:nvPr/>
            </p:nvSpPr>
            <p:spPr>
              <a:xfrm>
                <a:off x="6011888" y="5248989"/>
                <a:ext cx="434924" cy="154781"/>
              </a:xfrm>
              <a:prstGeom prst="rect">
                <a:avLst/>
              </a:prstGeom>
              <a:noFill/>
              <a:ln>
                <a:noFill/>
              </a:ln>
            </p:spPr>
            <p:txBody>
              <a:bodyPr wrap="none" lIns="0" tIns="0" rIns="0" bIns="0" anchor="t" anchorCtr="0">
                <a:spAutoFit/>
              </a:bodyPr>
              <a:lstStyle/>
              <a:p>
                <a:pPr algn="ctr"/>
                <a:r>
                  <a:rPr lang="zh-CN" sz="790" b="1" dirty="0">
                    <a:solidFill>
                      <a:srgbClr val="520E00"/>
                    </a:solidFill>
                    <a:latin typeface="+mn-lt"/>
                    <a:ea typeface="+mn-ea"/>
                    <a:cs typeface="+mn-cs"/>
                  </a:rPr>
                  <a:t>价值衡量</a:t>
                </a:r>
              </a:p>
            </p:txBody>
          </p:sp>
          <p:sp>
            <p:nvSpPr>
              <p:cNvPr id="174" name="TextBox 174"/>
              <p:cNvSpPr txBox="1"/>
              <p:nvPr/>
            </p:nvSpPr>
            <p:spPr>
              <a:xfrm>
                <a:off x="6605588" y="4925139"/>
                <a:ext cx="81216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短期KPI导向​</a:t>
                </a:r>
                <a:br/>
                <a:r>
                  <a:rPr lang="zh-CN" sz="790" dirty="0">
                    <a:solidFill>
                      <a:srgbClr val="60403A"/>
                    </a:solidFill>
                    <a:latin typeface="+mn-lt"/>
                    <a:ea typeface="+mn-ea"/>
                    <a:cs typeface="+mn-cs"/>
                  </a:rPr>
                  <a:t>看结果、不看过程</a:t>
                </a:r>
              </a:p>
            </p:txBody>
          </p:sp>
          <p:sp>
            <p:nvSpPr>
              <p:cNvPr id="175" name="Freeform 175"/>
              <p:cNvSpPr/>
              <p:nvPr/>
            </p:nvSpPr>
            <p:spPr>
              <a:xfrm>
                <a:off x="8686800" y="4991100"/>
                <a:ext cx="209550" cy="209550"/>
              </a:xfrm>
              <a:prstGeom prst="chevron">
                <a:avLst/>
              </a:prstGeom>
              <a:solidFill>
                <a:srgbClr val="8A1700"/>
              </a:solidFill>
              <a:ln>
                <a:noFill/>
              </a:ln>
            </p:spPr>
          </p:sp>
          <p:sp>
            <p:nvSpPr>
              <p:cNvPr id="176" name="TextBox 176"/>
              <p:cNvSpPr txBox="1"/>
              <p:nvPr/>
            </p:nvSpPr>
            <p:spPr>
              <a:xfrm>
                <a:off x="9024938" y="4925139"/>
                <a:ext cx="71183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0403A"/>
                    </a:solidFill>
                    <a:latin typeface="+mn-lt"/>
                    <a:ea typeface="+mn-ea"/>
                    <a:cs typeface="+mn-cs"/>
                  </a:rPr>
                  <a:t>全链路指标体系</a:t>
                </a:r>
                <a:br/>
                <a:r>
                  <a:rPr lang="zh-CN" sz="790" b="1" dirty="0">
                    <a:solidFill>
                      <a:srgbClr val="C02C0A"/>
                    </a:solidFill>
                    <a:latin typeface="+mn-lt"/>
                    <a:ea typeface="+mn-ea"/>
                    <a:cs typeface="+mn-cs"/>
                  </a:rPr>
                  <a:t>可衡量、可优化</a:t>
                </a:r>
              </a:p>
            </p:txBody>
          </p:sp>
        </p:grpSp>
      </p:grpSp>
      <p:grpSp>
        <p:nvGrpSpPr>
          <p:cNvPr id="189" name="strategy-banner"/>
          <p:cNvGrpSpPr/>
          <p:nvPr/>
        </p:nvGrpSpPr>
        <p:grpSpPr>
          <a:xfrm>
            <a:off x="228600" y="5619750"/>
            <a:ext cx="11734800" cy="857250"/>
            <a:chOff x="228600" y="5619750"/>
            <a:chExt cx="11734800" cy="857250"/>
          </a:xfrm>
        </p:grpSpPr>
        <p:sp>
          <p:nvSpPr>
            <p:cNvPr id="179" name="Rectangle 179"/>
            <p:cNvSpPr/>
            <p:nvPr/>
          </p:nvSpPr>
          <p:spPr>
            <a:xfrm>
              <a:off x="228600" y="5619750"/>
              <a:ext cx="11734800" cy="857250"/>
            </a:xfrm>
            <a:prstGeom prst="roundRect">
              <a:avLst>
                <a:gd name="adj" fmla="val 8889"/>
              </a:avLst>
            </a:prstGeom>
            <a:solidFill>
              <a:srgbClr val="671200"/>
            </a:solidFill>
            <a:ln>
              <a:noFill/>
            </a:ln>
          </p:spPr>
        </p:sp>
        <p:sp>
          <p:nvSpPr>
            <p:cNvPr id="180" name="Ellipse 180"/>
            <p:cNvSpPr/>
            <p:nvPr/>
          </p:nvSpPr>
          <p:spPr>
            <a:xfrm>
              <a:off x="552450" y="5762625"/>
              <a:ext cx="571500" cy="571500"/>
            </a:xfrm>
            <a:prstGeom prst="ellipse">
              <a:avLst/>
            </a:prstGeom>
            <a:noFill/>
            <a:ln w="19050">
              <a:solidFill>
                <a:srgbClr val="FFFFFF"/>
              </a:solidFill>
            </a:ln>
          </p:spPr>
        </p:sp>
        <p:grpSp>
          <p:nvGrpSpPr>
            <p:cNvPr id="185" name="Group 185"/>
            <p:cNvGrpSpPr/>
            <p:nvPr/>
          </p:nvGrpSpPr>
          <p:grpSpPr>
            <a:xfrm>
              <a:off x="689828" y="5917302"/>
              <a:ext cx="296457" cy="258073"/>
              <a:chOff x="689828" y="5917302"/>
              <a:chExt cx="296457" cy="258073"/>
            </a:xfrm>
          </p:grpSpPr>
          <p:sp>
            <p:nvSpPr>
              <p:cNvPr id="181" name="Freeform 181"/>
              <p:cNvSpPr/>
              <p:nvPr/>
            </p:nvSpPr>
            <p:spPr>
              <a:xfrm>
                <a:off x="689828" y="5917302"/>
                <a:ext cx="296457" cy="258073"/>
              </a:xfrm>
              <a:custGeom>
                <a:avLst/>
                <a:gdLst/>
                <a:ahLst/>
                <a:cxnLst/>
                <a:rect l="l" t="t" r="r" b="b"/>
                <a:pathLst>
                  <a:path w="296457" h="258073">
                    <a:moveTo>
                      <a:pt x="267435" y="140153"/>
                    </a:moveTo>
                    <a:lnTo>
                      <a:pt x="148372" y="258073"/>
                    </a:lnTo>
                    <a:lnTo>
                      <a:pt x="29310" y="140153"/>
                    </a:lnTo>
                    <a:cubicBezTo>
                      <a:pt x="7899" y="119319"/>
                      <a:pt x="0" y="88227"/>
                      <a:pt x="8870" y="59699"/>
                    </a:cubicBezTo>
                    <a:cubicBezTo>
                      <a:pt x="17740" y="31172"/>
                      <a:pt x="41877" y="10041"/>
                      <a:pt x="71327" y="5020"/>
                    </a:cubicBezTo>
                    <a:cubicBezTo>
                      <a:pt x="100777" y="0"/>
                      <a:pt x="130551" y="11941"/>
                      <a:pt x="148372" y="35918"/>
                    </a:cubicBezTo>
                    <a:cubicBezTo>
                      <a:pt x="166268" y="12118"/>
                      <a:pt x="195979" y="336"/>
                      <a:pt x="225322" y="5403"/>
                    </a:cubicBezTo>
                    <a:cubicBezTo>
                      <a:pt x="254665" y="10471"/>
                      <a:pt x="278704" y="31535"/>
                      <a:pt x="287580" y="59958"/>
                    </a:cubicBezTo>
                    <a:cubicBezTo>
                      <a:pt x="296457" y="88382"/>
                      <a:pt x="288679" y="119383"/>
                      <a:pt x="267435" y="140249"/>
                    </a:cubicBezTo>
                  </a:path>
                </a:pathLst>
              </a:custGeom>
              <a:noFill/>
              <a:ln w="28575">
                <a:solidFill>
                  <a:srgbClr val="FFFFFF"/>
                </a:solidFill>
              </a:ln>
            </p:spPr>
          </p:sp>
          <p:sp>
            <p:nvSpPr>
              <p:cNvPr id="182" name="Freeform 182"/>
              <p:cNvSpPr/>
              <p:nvPr/>
            </p:nvSpPr>
            <p:spPr>
              <a:xfrm>
                <a:off x="779727" y="5953125"/>
                <a:ext cx="177537" cy="103188"/>
              </a:xfrm>
              <a:custGeom>
                <a:avLst/>
                <a:gdLst/>
                <a:ahLst/>
                <a:cxnLst/>
                <a:rect l="l" t="t" r="r" b="b"/>
                <a:pathLst>
                  <a:path w="177537" h="103188">
                    <a:moveTo>
                      <a:pt x="58474" y="0"/>
                    </a:moveTo>
                    <a:lnTo>
                      <a:pt x="6197" y="52276"/>
                    </a:lnTo>
                    <a:cubicBezTo>
                      <a:pt x="0" y="58476"/>
                      <a:pt x="0" y="68525"/>
                      <a:pt x="6197" y="74724"/>
                    </a:cubicBezTo>
                    <a:lnTo>
                      <a:pt x="14817" y="83344"/>
                    </a:lnTo>
                    <a:cubicBezTo>
                      <a:pt x="25771" y="94298"/>
                      <a:pt x="43551" y="94298"/>
                      <a:pt x="54505" y="83344"/>
                    </a:cubicBezTo>
                    <a:lnTo>
                      <a:pt x="70380" y="67469"/>
                    </a:lnTo>
                    <a:cubicBezTo>
                      <a:pt x="90107" y="47742"/>
                      <a:pt x="122091" y="47742"/>
                      <a:pt x="141818" y="67469"/>
                    </a:cubicBezTo>
                    <a:lnTo>
                      <a:pt x="177537" y="103188"/>
                    </a:lnTo>
                  </a:path>
                </a:pathLst>
              </a:custGeom>
              <a:noFill/>
              <a:ln w="28575">
                <a:solidFill>
                  <a:srgbClr val="FFFFFF"/>
                </a:solidFill>
              </a:ln>
            </p:spPr>
          </p:sp>
          <p:sp>
            <p:nvSpPr>
              <p:cNvPr id="183" name="Freeform 183"/>
              <p:cNvSpPr/>
              <p:nvPr/>
            </p:nvSpPr>
            <p:spPr>
              <a:xfrm>
                <a:off x="846138" y="6103938"/>
                <a:ext cx="31750" cy="31750"/>
              </a:xfrm>
              <a:custGeom>
                <a:avLst/>
                <a:gdLst/>
                <a:ahLst/>
                <a:cxnLst/>
                <a:rect l="l" t="t" r="r" b="b"/>
                <a:pathLst>
                  <a:path w="31750" h="31750">
                    <a:moveTo>
                      <a:pt x="0" y="0"/>
                    </a:moveTo>
                    <a:lnTo>
                      <a:pt x="31750" y="31750"/>
                    </a:lnTo>
                  </a:path>
                </a:pathLst>
              </a:custGeom>
              <a:noFill/>
              <a:ln w="28575">
                <a:solidFill>
                  <a:srgbClr val="FFFFFF"/>
                </a:solidFill>
              </a:ln>
            </p:spPr>
          </p:sp>
          <p:sp>
            <p:nvSpPr>
              <p:cNvPr id="184" name="Freeform 184"/>
              <p:cNvSpPr/>
              <p:nvPr/>
            </p:nvSpPr>
            <p:spPr>
              <a:xfrm>
                <a:off x="885825" y="6064250"/>
                <a:ext cx="31750" cy="31750"/>
              </a:xfrm>
              <a:custGeom>
                <a:avLst/>
                <a:gdLst/>
                <a:ahLst/>
                <a:cxnLst/>
                <a:rect l="l" t="t" r="r" b="b"/>
                <a:pathLst>
                  <a:path w="31750" h="31750">
                    <a:moveTo>
                      <a:pt x="0" y="0"/>
                    </a:moveTo>
                    <a:lnTo>
                      <a:pt x="31750" y="31750"/>
                    </a:lnTo>
                  </a:path>
                </a:pathLst>
              </a:custGeom>
              <a:noFill/>
              <a:ln w="28575">
                <a:solidFill>
                  <a:srgbClr val="FFFFFF"/>
                </a:solidFill>
              </a:ln>
            </p:spPr>
          </p:sp>
        </p:grpSp>
        <p:sp>
          <p:nvSpPr>
            <p:cNvPr id="186" name="TextBox 186"/>
            <p:cNvSpPr txBox="1"/>
            <p:nvPr/>
          </p:nvSpPr>
          <p:spPr>
            <a:xfrm>
              <a:off x="1421130" y="5962650"/>
              <a:ext cx="82296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mn-lt"/>
                  <a:ea typeface="+mn-ea"/>
                  <a:cs typeface="+mn-cs"/>
                </a:rPr>
                <a:t>战略判断</a:t>
              </a:r>
            </a:p>
          </p:txBody>
        </p:sp>
        <p:sp>
          <p:nvSpPr>
            <p:cNvPr id="187" name="Line 187"/>
            <p:cNvSpPr/>
            <p:nvPr/>
          </p:nvSpPr>
          <p:spPr>
            <a:xfrm>
              <a:off x="2457450" y="5829300"/>
              <a:ext cx="9525" cy="438150"/>
            </a:xfrm>
            <a:custGeom>
              <a:avLst/>
              <a:gdLst/>
              <a:ahLst/>
              <a:cxnLst/>
              <a:rect l="l" t="t" r="r" b="b"/>
              <a:pathLst>
                <a:path w="9525" h="438150">
                  <a:moveTo>
                    <a:pt x="0" y="0"/>
                  </a:moveTo>
                  <a:lnTo>
                    <a:pt x="0" y="438150"/>
                  </a:lnTo>
                </a:path>
              </a:pathLst>
            </a:custGeom>
            <a:noFill/>
            <a:ln w="14288">
              <a:solidFill>
                <a:srgbClr val="A84F3D"/>
              </a:solidFill>
            </a:ln>
          </p:spPr>
        </p:sp>
        <p:sp>
          <p:nvSpPr>
            <p:cNvPr id="188" name="TextBox 188"/>
            <p:cNvSpPr txBox="1"/>
            <p:nvPr/>
          </p:nvSpPr>
          <p:spPr>
            <a:xfrm>
              <a:off x="2850261" y="5970746"/>
              <a:ext cx="6131611"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私域不是建群发广告，而是建立</a:t>
              </a:r>
              <a:r>
                <a:rPr lang="zh-CN" sz="1420" b="1" dirty="0">
                  <a:solidFill>
                    <a:srgbClr val="FF6F57"/>
                  </a:solidFill>
                  <a:latin typeface="+mn-lt"/>
                  <a:ea typeface="+mn-ea"/>
                  <a:cs typeface="+mn-cs"/>
                </a:rPr>
                <a:t>低成本</a:t>
              </a:r>
              <a:r>
                <a:rPr lang="zh-CN" sz="1420" b="1" dirty="0">
                  <a:solidFill>
                    <a:srgbClr val="FFFFFF"/>
                  </a:solidFill>
                  <a:latin typeface="+mn-lt"/>
                  <a:ea typeface="+mn-ea"/>
                  <a:cs typeface="+mn-cs"/>
                </a:rPr>
                <a:t>、</a:t>
              </a:r>
              <a:r>
                <a:rPr lang="zh-CN" sz="1420" b="1" dirty="0">
                  <a:solidFill>
                    <a:srgbClr val="FF6F57"/>
                  </a:solidFill>
                  <a:latin typeface="+mn-lt"/>
                  <a:ea typeface="+mn-ea"/>
                  <a:cs typeface="+mn-cs"/>
                </a:rPr>
                <a:t>可持续</a:t>
              </a:r>
              <a:r>
                <a:rPr lang="zh-CN" sz="1420" b="1" dirty="0">
                  <a:solidFill>
                    <a:srgbClr val="FFFFFF"/>
                  </a:solidFill>
                  <a:latin typeface="+mn-lt"/>
                  <a:ea typeface="+mn-ea"/>
                  <a:cs typeface="+mn-cs"/>
                </a:rPr>
                <a:t>、</a:t>
              </a:r>
              <a:r>
                <a:rPr lang="zh-CN" sz="1420" b="1" dirty="0">
                  <a:solidFill>
                    <a:srgbClr val="FF6F57"/>
                  </a:solidFill>
                  <a:latin typeface="+mn-lt"/>
                  <a:ea typeface="+mn-ea"/>
                  <a:cs typeface="+mn-cs"/>
                </a:rPr>
                <a:t>可衡量</a:t>
              </a:r>
              <a:r>
                <a:rPr lang="zh-CN" sz="1420" b="1" dirty="0">
                  <a:solidFill>
                    <a:srgbClr val="FFFFFF"/>
                  </a:solidFill>
                  <a:latin typeface="+mn-lt"/>
                  <a:ea typeface="+mn-ea"/>
                  <a:cs typeface="+mn-cs"/>
                </a:rPr>
                <a:t>的客户经营体系</a:t>
              </a:r>
            </a:p>
          </p:txBody>
        </p:sp>
      </p:gr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256413" y="162401"/>
              <a:ext cx="35243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2​</a:t>
              </a:r>
            </a:p>
          </p:txBody>
        </p:sp>
        <p:sp>
          <p:nvSpPr>
            <p:cNvPr id="4" name="TextBox 4"/>
            <p:cNvSpPr txBox="1"/>
            <p:nvPr/>
          </p:nvSpPr>
          <p:spPr>
            <a:xfrm>
              <a:off x="942594" y="151448"/>
              <a:ext cx="5567172"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当前经营困境：客户很多，但可运营资产不足</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64" name="kpi-row"/>
          <p:cNvGrpSpPr/>
          <p:nvPr/>
        </p:nvGrpSpPr>
        <p:grpSpPr>
          <a:xfrm>
            <a:off x="228600" y="781050"/>
            <a:ext cx="11658600" cy="1085850"/>
            <a:chOff x="228600" y="781050"/>
            <a:chExt cx="11658600" cy="1085850"/>
          </a:xfrm>
        </p:grpSpPr>
        <p:grpSp>
          <p:nvGrpSpPr>
            <p:cNvPr id="17" name="kpi-1"/>
            <p:cNvGrpSpPr/>
            <p:nvPr/>
          </p:nvGrpSpPr>
          <p:grpSpPr>
            <a:xfrm>
              <a:off x="228600" y="781050"/>
              <a:ext cx="2209800" cy="1085850"/>
              <a:chOff x="228600" y="781050"/>
              <a:chExt cx="2209800" cy="1085850"/>
            </a:xfrm>
          </p:grpSpPr>
          <p:sp>
            <p:nvSpPr>
              <p:cNvPr id="7" name="Rectangle 7"/>
              <p:cNvSpPr/>
              <p:nvPr/>
            </p:nvSpPr>
            <p:spPr>
              <a:xfrm>
                <a:off x="228600" y="781050"/>
                <a:ext cx="2209800" cy="1085850"/>
              </a:xfrm>
              <a:prstGeom prst="roundRect">
                <a:avLst>
                  <a:gd name="adj" fmla="val 7018"/>
                </a:avLst>
              </a:prstGeom>
              <a:solidFill>
                <a:srgbClr val="FFFFFF"/>
              </a:solidFill>
              <a:ln w="9525">
                <a:solidFill>
                  <a:srgbClr val="C9D5EA"/>
                </a:solidFill>
              </a:ln>
            </p:spPr>
          </p:sp>
          <p:sp>
            <p:nvSpPr>
              <p:cNvPr id="8" name="Rectangle 8"/>
              <p:cNvSpPr/>
              <p:nvPr/>
            </p:nvSpPr>
            <p:spPr>
              <a:xfrm>
                <a:off x="1866900" y="838200"/>
                <a:ext cx="514350" cy="152400"/>
              </a:xfrm>
              <a:prstGeom prst="roundRect">
                <a:avLst>
                  <a:gd name="adj" fmla="val 18750"/>
                </a:avLst>
              </a:prstGeom>
              <a:solidFill>
                <a:srgbClr val="8A1700"/>
              </a:solidFill>
              <a:ln>
                <a:noFill/>
              </a:ln>
            </p:spPr>
          </p:sp>
          <p:sp>
            <p:nvSpPr>
              <p:cNvPr id="9" name="TextBox 9"/>
              <p:cNvSpPr txBox="1"/>
              <p:nvPr/>
            </p:nvSpPr>
            <p:spPr>
              <a:xfrm>
                <a:off x="1946999" y="88368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方案示例</a:t>
                </a:r>
              </a:p>
            </p:txBody>
          </p:sp>
          <p:grpSp>
            <p:nvGrpSpPr>
              <p:cNvPr id="13" name="Group 13"/>
              <p:cNvGrpSpPr/>
              <p:nvPr/>
            </p:nvGrpSpPr>
            <p:grpSpPr>
              <a:xfrm>
                <a:off x="428625" y="1076325"/>
                <a:ext cx="285751" cy="285751"/>
                <a:chOff x="428625" y="1076325"/>
                <a:chExt cx="285751" cy="285751"/>
              </a:xfrm>
            </p:grpSpPr>
            <p:sp>
              <p:nvSpPr>
                <p:cNvPr id="10" name="Freeform 10"/>
                <p:cNvSpPr/>
                <p:nvPr/>
              </p:nvSpPr>
              <p:spPr>
                <a:xfrm>
                  <a:off x="555625" y="120332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23813">
                  <a:solidFill>
                    <a:srgbClr val="8A1700"/>
                  </a:solidFill>
                </a:ln>
              </p:spPr>
            </p:sp>
            <p:sp>
              <p:nvSpPr>
                <p:cNvPr id="11" name="Freeform 11"/>
                <p:cNvSpPr/>
                <p:nvPr/>
              </p:nvSpPr>
              <p:spPr>
                <a:xfrm>
                  <a:off x="492125" y="1139825"/>
                  <a:ext cx="158750" cy="158750"/>
                </a:xfrm>
                <a:custGeom>
                  <a:avLst/>
                  <a:gdLst/>
                  <a:ahLst/>
                  <a:cxnLst/>
                  <a:rect l="l" t="t" r="r" b="b"/>
                  <a:pathLst>
                    <a:path w="158750" h="158750">
                      <a:moveTo>
                        <a:pt x="0" y="79375"/>
                      </a:moveTo>
                      <a:cubicBezTo>
                        <a:pt x="0" y="123213"/>
                        <a:pt x="35537" y="158750"/>
                        <a:pt x="79375" y="158750"/>
                      </a:cubicBezTo>
                      <a:cubicBezTo>
                        <a:pt x="123213" y="158750"/>
                        <a:pt x="158750" y="123213"/>
                        <a:pt x="158750" y="79375"/>
                      </a:cubicBezTo>
                      <a:cubicBezTo>
                        <a:pt x="158750" y="35537"/>
                        <a:pt x="123213" y="0"/>
                        <a:pt x="79375" y="0"/>
                      </a:cubicBezTo>
                      <a:cubicBezTo>
                        <a:pt x="35537" y="0"/>
                        <a:pt x="0" y="35537"/>
                        <a:pt x="0" y="79375"/>
                      </a:cubicBezTo>
                    </a:path>
                  </a:pathLst>
                </a:custGeom>
                <a:noFill/>
                <a:ln w="23813">
                  <a:solidFill>
                    <a:srgbClr val="8A1700"/>
                  </a:solidFill>
                </a:ln>
              </p:spPr>
            </p:sp>
            <p:sp>
              <p:nvSpPr>
                <p:cNvPr id="12" name="Freeform 12"/>
                <p:cNvSpPr/>
                <p:nvPr/>
              </p:nvSpPr>
              <p:spPr>
                <a:xfrm>
                  <a:off x="428625" y="1076325"/>
                  <a:ext cx="285751" cy="285751"/>
                </a:xfrm>
                <a:custGeom>
                  <a:avLst/>
                  <a:gdLst/>
                  <a:ahLst/>
                  <a:cxnLst/>
                  <a:rect l="l" t="t" r="r" b="b"/>
                  <a:pathLst>
                    <a:path w="285751" h="285751">
                      <a:moveTo>
                        <a:pt x="0" y="142875"/>
                      </a:moveTo>
                      <a:cubicBezTo>
                        <a:pt x="0" y="221783"/>
                        <a:pt x="63967" y="285751"/>
                        <a:pt x="142875" y="285751"/>
                      </a:cubicBezTo>
                      <a:cubicBezTo>
                        <a:pt x="221783" y="285751"/>
                        <a:pt x="285751" y="221783"/>
                        <a:pt x="285751" y="142875"/>
                      </a:cubicBezTo>
                      <a:cubicBezTo>
                        <a:pt x="285751" y="63967"/>
                        <a:pt x="221783" y="0"/>
                        <a:pt x="142875" y="0"/>
                      </a:cubicBezTo>
                      <a:cubicBezTo>
                        <a:pt x="63967" y="0"/>
                        <a:pt x="0" y="63967"/>
                        <a:pt x="0" y="142875"/>
                      </a:cubicBezTo>
                    </a:path>
                  </a:pathLst>
                </a:custGeom>
                <a:noFill/>
                <a:ln w="23813">
                  <a:solidFill>
                    <a:srgbClr val="8A1700"/>
                  </a:solidFill>
                </a:ln>
              </p:spPr>
            </p:sp>
          </p:grpSp>
          <p:sp>
            <p:nvSpPr>
              <p:cNvPr id="14" name="TextBox 14"/>
              <p:cNvSpPr txBox="1"/>
              <p:nvPr/>
            </p:nvSpPr>
            <p:spPr>
              <a:xfrm>
                <a:off x="909066" y="1010602"/>
                <a:ext cx="717423"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有效触达率</a:t>
                </a:r>
              </a:p>
            </p:txBody>
          </p:sp>
          <p:sp>
            <p:nvSpPr>
              <p:cNvPr id="15" name="TextBox 15"/>
              <p:cNvSpPr txBox="1"/>
              <p:nvPr/>
            </p:nvSpPr>
            <p:spPr>
              <a:xfrm>
                <a:off x="902970" y="1243012"/>
                <a:ext cx="674841" cy="440055"/>
              </a:xfrm>
              <a:prstGeom prst="rect">
                <a:avLst/>
              </a:prstGeom>
              <a:noFill/>
              <a:ln>
                <a:noFill/>
              </a:ln>
            </p:spPr>
            <p:txBody>
              <a:bodyPr wrap="none" lIns="0" tIns="0" rIns="0" bIns="0" anchor="t" anchorCtr="0">
                <a:spAutoFit/>
              </a:bodyPr>
              <a:lstStyle/>
              <a:p>
                <a:pPr algn="l"/>
                <a:r>
                  <a:rPr lang="zh-CN" sz="2250" b="1" dirty="0">
                    <a:solidFill>
                      <a:srgbClr val="8A1700"/>
                    </a:solidFill>
                    <a:latin typeface="+mn-lt"/>
                    <a:ea typeface="+mn-ea"/>
                    <a:cs typeface="+mn-cs"/>
                  </a:rPr>
                  <a:t>42</a:t>
                </a:r>
                <a:r>
                  <a:rPr lang="zh-CN" sz="1200" b="1" dirty="0">
                    <a:solidFill>
                      <a:srgbClr val="8A1700"/>
                    </a:solidFill>
                    <a:latin typeface="+mn-lt"/>
                    <a:ea typeface="+mn-ea"/>
                    <a:cs typeface="+mn-cs"/>
                  </a:rPr>
                  <a:t>%</a:t>
                </a:r>
                <a:r>
                  <a:rPr lang="zh-CN" sz="2250" b="1" dirty="0">
                    <a:solidFill>
                      <a:srgbClr val="8A1700"/>
                    </a:solidFill>
                    <a:latin typeface="+mn-lt"/>
                    <a:ea typeface="+mn-ea"/>
                    <a:cs typeface="+mn-cs"/>
                  </a:rPr>
                  <a:t>​</a:t>
                </a:r>
              </a:p>
            </p:txBody>
          </p:sp>
          <p:sp>
            <p:nvSpPr>
              <p:cNvPr id="16" name="TextBox 16"/>
              <p:cNvSpPr txBox="1"/>
              <p:nvPr/>
            </p:nvSpPr>
            <p:spPr>
              <a:xfrm>
                <a:off x="376238" y="1683782"/>
                <a:ext cx="1534500" cy="126206"/>
              </a:xfrm>
              <a:prstGeom prst="rect">
                <a:avLst/>
              </a:prstGeom>
              <a:noFill/>
              <a:ln>
                <a:noFill/>
              </a:ln>
            </p:spPr>
            <p:txBody>
              <a:bodyPr wrap="none" lIns="0" tIns="0" rIns="0" bIns="0" anchor="t" anchorCtr="0">
                <a:spAutoFit/>
              </a:bodyPr>
              <a:lstStyle/>
              <a:p>
                <a:pPr algn="l"/>
                <a:r>
                  <a:rPr lang="zh-CN" sz="640" dirty="0">
                    <a:solidFill>
                      <a:srgbClr val="6B7280"/>
                    </a:solidFill>
                    <a:latin typeface="+mn-lt"/>
                    <a:ea typeface="+mn-ea"/>
                    <a:cs typeface="+mn-cs"/>
                  </a:rPr>
                  <a:t>方案示例：触达用户数 / 可触达用户数​</a:t>
                </a:r>
              </a:p>
            </p:txBody>
          </p:sp>
        </p:grpSp>
        <p:grpSp>
          <p:nvGrpSpPr>
            <p:cNvPr id="29" name="kpi-2"/>
            <p:cNvGrpSpPr/>
            <p:nvPr/>
          </p:nvGrpSpPr>
          <p:grpSpPr>
            <a:xfrm>
              <a:off x="2590800" y="781050"/>
              <a:ext cx="2209800" cy="1085850"/>
              <a:chOff x="2590800" y="781050"/>
              <a:chExt cx="2209800" cy="1085850"/>
            </a:xfrm>
          </p:grpSpPr>
          <p:sp>
            <p:nvSpPr>
              <p:cNvPr id="18" name="Rectangle 18"/>
              <p:cNvSpPr/>
              <p:nvPr/>
            </p:nvSpPr>
            <p:spPr>
              <a:xfrm>
                <a:off x="2590800" y="781050"/>
                <a:ext cx="2209800" cy="1085850"/>
              </a:xfrm>
              <a:prstGeom prst="roundRect">
                <a:avLst>
                  <a:gd name="adj" fmla="val 7018"/>
                </a:avLst>
              </a:prstGeom>
              <a:solidFill>
                <a:srgbClr val="FFFFFF"/>
              </a:solidFill>
              <a:ln w="9525">
                <a:solidFill>
                  <a:srgbClr val="C9D5EA"/>
                </a:solidFill>
              </a:ln>
            </p:spPr>
          </p:sp>
          <p:sp>
            <p:nvSpPr>
              <p:cNvPr id="19" name="Rectangle 19"/>
              <p:cNvSpPr/>
              <p:nvPr/>
            </p:nvSpPr>
            <p:spPr>
              <a:xfrm>
                <a:off x="4229100" y="838200"/>
                <a:ext cx="514350" cy="152400"/>
              </a:xfrm>
              <a:prstGeom prst="roundRect">
                <a:avLst>
                  <a:gd name="adj" fmla="val 18750"/>
                </a:avLst>
              </a:prstGeom>
              <a:solidFill>
                <a:srgbClr val="8A1700"/>
              </a:solidFill>
              <a:ln>
                <a:noFill/>
              </a:ln>
            </p:spPr>
          </p:sp>
          <p:sp>
            <p:nvSpPr>
              <p:cNvPr id="20" name="TextBox 20"/>
              <p:cNvSpPr txBox="1"/>
              <p:nvPr/>
            </p:nvSpPr>
            <p:spPr>
              <a:xfrm>
                <a:off x="4309199" y="88368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方案示例</a:t>
                </a:r>
              </a:p>
            </p:txBody>
          </p:sp>
          <p:grpSp>
            <p:nvGrpSpPr>
              <p:cNvPr id="25" name="Group 25"/>
              <p:cNvGrpSpPr/>
              <p:nvPr/>
            </p:nvGrpSpPr>
            <p:grpSpPr>
              <a:xfrm>
                <a:off x="2790825" y="1108075"/>
                <a:ext cx="285751" cy="222250"/>
                <a:chOff x="2790825" y="1108075"/>
                <a:chExt cx="285751" cy="222250"/>
              </a:xfrm>
            </p:grpSpPr>
            <p:sp>
              <p:nvSpPr>
                <p:cNvPr id="21" name="Freeform 21"/>
                <p:cNvSpPr/>
                <p:nvPr/>
              </p:nvSpPr>
              <p:spPr>
                <a:xfrm>
                  <a:off x="2790825" y="1108075"/>
                  <a:ext cx="285751" cy="222250"/>
                </a:xfrm>
                <a:custGeom>
                  <a:avLst/>
                  <a:gdLst/>
                  <a:ahLst/>
                  <a:cxnLst/>
                  <a:rect l="l" t="t" r="r" b="b"/>
                  <a:pathLst>
                    <a:path w="285751" h="222250">
                      <a:moveTo>
                        <a:pt x="0" y="47625"/>
                      </a:moveTo>
                      <a:cubicBezTo>
                        <a:pt x="0" y="21322"/>
                        <a:pt x="21322" y="0"/>
                        <a:pt x="47625" y="0"/>
                      </a:cubicBezTo>
                      <a:lnTo>
                        <a:pt x="238125" y="0"/>
                      </a:lnTo>
                      <a:cubicBezTo>
                        <a:pt x="264428" y="0"/>
                        <a:pt x="285751" y="21322"/>
                        <a:pt x="285751" y="47625"/>
                      </a:cubicBezTo>
                      <a:lnTo>
                        <a:pt x="285751" y="174625"/>
                      </a:lnTo>
                      <a:cubicBezTo>
                        <a:pt x="285751" y="200928"/>
                        <a:pt x="264428" y="222250"/>
                        <a:pt x="238125" y="222250"/>
                      </a:cubicBezTo>
                      <a:lnTo>
                        <a:pt x="47625" y="222250"/>
                      </a:lnTo>
                      <a:cubicBezTo>
                        <a:pt x="21322" y="222250"/>
                        <a:pt x="0" y="200928"/>
                        <a:pt x="0" y="174625"/>
                      </a:cubicBezTo>
                      <a:lnTo>
                        <a:pt x="0" y="47625"/>
                      </a:lnTo>
                    </a:path>
                  </a:pathLst>
                </a:custGeom>
                <a:noFill/>
                <a:ln w="23813">
                  <a:solidFill>
                    <a:srgbClr val="8A1700"/>
                  </a:solidFill>
                </a:ln>
              </p:spPr>
            </p:sp>
            <p:sp>
              <p:nvSpPr>
                <p:cNvPr id="22" name="Freeform 22"/>
                <p:cNvSpPr/>
                <p:nvPr/>
              </p:nvSpPr>
              <p:spPr>
                <a:xfrm>
                  <a:off x="2790825" y="1187450"/>
                  <a:ext cx="285751" cy="9525"/>
                </a:xfrm>
                <a:custGeom>
                  <a:avLst/>
                  <a:gdLst/>
                  <a:ahLst/>
                  <a:cxnLst/>
                  <a:rect l="l" t="t" r="r" b="b"/>
                  <a:pathLst>
                    <a:path w="285751" h="9525">
                      <a:moveTo>
                        <a:pt x="0" y="0"/>
                      </a:moveTo>
                      <a:lnTo>
                        <a:pt x="285751" y="0"/>
                      </a:lnTo>
                    </a:path>
                  </a:pathLst>
                </a:custGeom>
                <a:noFill/>
                <a:ln w="23813">
                  <a:solidFill>
                    <a:srgbClr val="8A1700"/>
                  </a:solidFill>
                </a:ln>
              </p:spPr>
            </p:sp>
            <p:sp>
              <p:nvSpPr>
                <p:cNvPr id="23" name="Freeform 23"/>
                <p:cNvSpPr/>
                <p:nvPr/>
              </p:nvSpPr>
              <p:spPr>
                <a:xfrm>
                  <a:off x="2854325" y="1266825"/>
                  <a:ext cx="9525" cy="9525"/>
                </a:xfrm>
                <a:custGeom>
                  <a:avLst/>
                  <a:gdLst/>
                  <a:ahLst/>
                  <a:cxnLst/>
                  <a:rect l="l" t="t" r="r" b="b"/>
                  <a:pathLst>
                    <a:path w="9525" h="9525">
                      <a:moveTo>
                        <a:pt x="0" y="0"/>
                      </a:moveTo>
                      <a:lnTo>
                        <a:pt x="159" y="0"/>
                      </a:lnTo>
                    </a:path>
                  </a:pathLst>
                </a:custGeom>
                <a:noFill/>
                <a:ln w="23813">
                  <a:solidFill>
                    <a:srgbClr val="8A1700"/>
                  </a:solidFill>
                </a:ln>
              </p:spPr>
            </p:sp>
            <p:sp>
              <p:nvSpPr>
                <p:cNvPr id="24" name="Freeform 24"/>
                <p:cNvSpPr/>
                <p:nvPr/>
              </p:nvSpPr>
              <p:spPr>
                <a:xfrm>
                  <a:off x="2917825" y="1266825"/>
                  <a:ext cx="31750" cy="9525"/>
                </a:xfrm>
                <a:custGeom>
                  <a:avLst/>
                  <a:gdLst/>
                  <a:ahLst/>
                  <a:cxnLst/>
                  <a:rect l="l" t="t" r="r" b="b"/>
                  <a:pathLst>
                    <a:path w="31750" h="9525">
                      <a:moveTo>
                        <a:pt x="0" y="0"/>
                      </a:moveTo>
                      <a:lnTo>
                        <a:pt x="31750" y="0"/>
                      </a:lnTo>
                    </a:path>
                  </a:pathLst>
                </a:custGeom>
                <a:noFill/>
                <a:ln w="23813">
                  <a:solidFill>
                    <a:srgbClr val="8A1700"/>
                  </a:solidFill>
                </a:ln>
              </p:spPr>
            </p:sp>
          </p:grpSp>
          <p:sp>
            <p:nvSpPr>
              <p:cNvPr id="26" name="TextBox 26"/>
              <p:cNvSpPr txBox="1"/>
              <p:nvPr/>
            </p:nvSpPr>
            <p:spPr>
              <a:xfrm>
                <a:off x="3271266" y="1010602"/>
                <a:ext cx="434721"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首刷率</a:t>
                </a:r>
              </a:p>
            </p:txBody>
          </p:sp>
          <p:sp>
            <p:nvSpPr>
              <p:cNvPr id="27" name="TextBox 27"/>
              <p:cNvSpPr txBox="1"/>
              <p:nvPr/>
            </p:nvSpPr>
            <p:spPr>
              <a:xfrm>
                <a:off x="3265170" y="1243012"/>
                <a:ext cx="674841" cy="440055"/>
              </a:xfrm>
              <a:prstGeom prst="rect">
                <a:avLst/>
              </a:prstGeom>
              <a:noFill/>
              <a:ln>
                <a:noFill/>
              </a:ln>
            </p:spPr>
            <p:txBody>
              <a:bodyPr wrap="none" lIns="0" tIns="0" rIns="0" bIns="0" anchor="t" anchorCtr="0">
                <a:spAutoFit/>
              </a:bodyPr>
              <a:lstStyle/>
              <a:p>
                <a:pPr algn="l"/>
                <a:r>
                  <a:rPr lang="zh-CN" sz="2250" b="1" dirty="0">
                    <a:solidFill>
                      <a:srgbClr val="8A1700"/>
                    </a:solidFill>
                    <a:latin typeface="+mn-lt"/>
                    <a:ea typeface="+mn-ea"/>
                    <a:cs typeface="+mn-cs"/>
                  </a:rPr>
                  <a:t>61</a:t>
                </a:r>
                <a:r>
                  <a:rPr lang="zh-CN" sz="1200" b="1" dirty="0">
                    <a:solidFill>
                      <a:srgbClr val="8A1700"/>
                    </a:solidFill>
                    <a:latin typeface="+mn-lt"/>
                    <a:ea typeface="+mn-ea"/>
                    <a:cs typeface="+mn-cs"/>
                  </a:rPr>
                  <a:t>%</a:t>
                </a:r>
                <a:r>
                  <a:rPr lang="zh-CN" sz="2250" b="1" dirty="0">
                    <a:solidFill>
                      <a:srgbClr val="8A1700"/>
                    </a:solidFill>
                    <a:latin typeface="+mn-lt"/>
                    <a:ea typeface="+mn-ea"/>
                    <a:cs typeface="+mn-cs"/>
                  </a:rPr>
                  <a:t>​</a:t>
                </a:r>
              </a:p>
            </p:txBody>
          </p:sp>
          <p:sp>
            <p:nvSpPr>
              <p:cNvPr id="28" name="TextBox 28"/>
              <p:cNvSpPr txBox="1"/>
              <p:nvPr/>
            </p:nvSpPr>
            <p:spPr>
              <a:xfrm>
                <a:off x="2738438" y="1683782"/>
                <a:ext cx="1448344" cy="126206"/>
              </a:xfrm>
              <a:prstGeom prst="rect">
                <a:avLst/>
              </a:prstGeom>
              <a:noFill/>
              <a:ln>
                <a:noFill/>
              </a:ln>
            </p:spPr>
            <p:txBody>
              <a:bodyPr wrap="none" lIns="0" tIns="0" rIns="0" bIns="0" anchor="t" anchorCtr="0">
                <a:spAutoFit/>
              </a:bodyPr>
              <a:lstStyle/>
              <a:p>
                <a:pPr algn="l"/>
                <a:r>
                  <a:rPr lang="zh-CN" sz="640" dirty="0">
                    <a:solidFill>
                      <a:srgbClr val="6B7280"/>
                    </a:solidFill>
                    <a:latin typeface="+mn-lt"/>
                    <a:ea typeface="+mn-ea"/>
                    <a:cs typeface="+mn-cs"/>
                  </a:rPr>
                  <a:t>方案示例：首刷客户数 / 激活客户数​</a:t>
                </a:r>
              </a:p>
            </p:txBody>
          </p:sp>
        </p:grpSp>
        <p:grpSp>
          <p:nvGrpSpPr>
            <p:cNvPr id="39" name="kpi-3"/>
            <p:cNvGrpSpPr/>
            <p:nvPr/>
          </p:nvGrpSpPr>
          <p:grpSpPr>
            <a:xfrm>
              <a:off x="4953000" y="781050"/>
              <a:ext cx="2209800" cy="1085850"/>
              <a:chOff x="4953000" y="781050"/>
              <a:chExt cx="2209800" cy="1085850"/>
            </a:xfrm>
          </p:grpSpPr>
          <p:sp>
            <p:nvSpPr>
              <p:cNvPr id="30" name="Rectangle 30"/>
              <p:cNvSpPr/>
              <p:nvPr/>
            </p:nvSpPr>
            <p:spPr>
              <a:xfrm>
                <a:off x="4953000" y="781050"/>
                <a:ext cx="2209800" cy="1085850"/>
              </a:xfrm>
              <a:prstGeom prst="roundRect">
                <a:avLst>
                  <a:gd name="adj" fmla="val 7018"/>
                </a:avLst>
              </a:prstGeom>
              <a:solidFill>
                <a:srgbClr val="FFFFFF"/>
              </a:solidFill>
              <a:ln w="9525">
                <a:solidFill>
                  <a:srgbClr val="C9D5EA"/>
                </a:solidFill>
              </a:ln>
            </p:spPr>
          </p:sp>
          <p:sp>
            <p:nvSpPr>
              <p:cNvPr id="31" name="Rectangle 31"/>
              <p:cNvSpPr/>
              <p:nvPr/>
            </p:nvSpPr>
            <p:spPr>
              <a:xfrm>
                <a:off x="6591300" y="838200"/>
                <a:ext cx="514350" cy="152400"/>
              </a:xfrm>
              <a:prstGeom prst="roundRect">
                <a:avLst>
                  <a:gd name="adj" fmla="val 18750"/>
                </a:avLst>
              </a:prstGeom>
              <a:solidFill>
                <a:srgbClr val="8A1700"/>
              </a:solidFill>
              <a:ln>
                <a:noFill/>
              </a:ln>
            </p:spPr>
          </p:sp>
          <p:sp>
            <p:nvSpPr>
              <p:cNvPr id="32" name="TextBox 32"/>
              <p:cNvSpPr txBox="1"/>
              <p:nvPr/>
            </p:nvSpPr>
            <p:spPr>
              <a:xfrm>
                <a:off x="6671399" y="88368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方案示例</a:t>
                </a:r>
              </a:p>
            </p:txBody>
          </p:sp>
          <p:grpSp>
            <p:nvGrpSpPr>
              <p:cNvPr id="35" name="Group 35"/>
              <p:cNvGrpSpPr/>
              <p:nvPr/>
            </p:nvGrpSpPr>
            <p:grpSpPr>
              <a:xfrm>
                <a:off x="5168900" y="1123950"/>
                <a:ext cx="254001" cy="215901"/>
                <a:chOff x="5168900" y="1123950"/>
                <a:chExt cx="254001" cy="215901"/>
              </a:xfrm>
            </p:grpSpPr>
            <p:sp>
              <p:nvSpPr>
                <p:cNvPr id="33" name="Freeform 33"/>
                <p:cNvSpPr/>
                <p:nvPr/>
              </p:nvSpPr>
              <p:spPr>
                <a:xfrm>
                  <a:off x="5168900" y="1330326"/>
                  <a:ext cx="254001" cy="9525"/>
                </a:xfrm>
                <a:custGeom>
                  <a:avLst/>
                  <a:gdLst/>
                  <a:ahLst/>
                  <a:cxnLst/>
                  <a:rect l="l" t="t" r="r" b="b"/>
                  <a:pathLst>
                    <a:path w="254001" h="9525">
                      <a:moveTo>
                        <a:pt x="0" y="0"/>
                      </a:moveTo>
                      <a:lnTo>
                        <a:pt x="254001" y="0"/>
                      </a:lnTo>
                    </a:path>
                  </a:pathLst>
                </a:custGeom>
                <a:noFill/>
                <a:ln w="23813">
                  <a:solidFill>
                    <a:srgbClr val="8A1700"/>
                  </a:solidFill>
                </a:ln>
              </p:spPr>
            </p:sp>
            <p:sp>
              <p:nvSpPr>
                <p:cNvPr id="34" name="Freeform 34"/>
                <p:cNvSpPr/>
                <p:nvPr/>
              </p:nvSpPr>
              <p:spPr>
                <a:xfrm>
                  <a:off x="5168900" y="1123950"/>
                  <a:ext cx="254001" cy="142875"/>
                </a:xfrm>
                <a:custGeom>
                  <a:avLst/>
                  <a:gdLst/>
                  <a:ahLst/>
                  <a:cxnLst/>
                  <a:rect l="l" t="t" r="r" b="b"/>
                  <a:pathLst>
                    <a:path w="254001" h="142875">
                      <a:moveTo>
                        <a:pt x="0" y="142875"/>
                      </a:moveTo>
                      <a:lnTo>
                        <a:pt x="63500" y="47625"/>
                      </a:lnTo>
                      <a:lnTo>
                        <a:pt x="127000" y="79375"/>
                      </a:lnTo>
                      <a:lnTo>
                        <a:pt x="190500" y="0"/>
                      </a:lnTo>
                      <a:lnTo>
                        <a:pt x="254001" y="63500"/>
                      </a:lnTo>
                    </a:path>
                  </a:pathLst>
                </a:custGeom>
                <a:noFill/>
                <a:ln w="23813">
                  <a:solidFill>
                    <a:srgbClr val="8A1700"/>
                  </a:solidFill>
                </a:ln>
              </p:spPr>
            </p:sp>
          </p:grpSp>
          <p:sp>
            <p:nvSpPr>
              <p:cNvPr id="36" name="TextBox 36"/>
              <p:cNvSpPr txBox="1"/>
              <p:nvPr/>
            </p:nvSpPr>
            <p:spPr>
              <a:xfrm>
                <a:off x="5633466" y="1010602"/>
                <a:ext cx="434721"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月活率</a:t>
                </a:r>
              </a:p>
            </p:txBody>
          </p:sp>
          <p:sp>
            <p:nvSpPr>
              <p:cNvPr id="37" name="TextBox 37"/>
              <p:cNvSpPr txBox="1"/>
              <p:nvPr/>
            </p:nvSpPr>
            <p:spPr>
              <a:xfrm>
                <a:off x="5627370" y="1243012"/>
                <a:ext cx="674841" cy="440055"/>
              </a:xfrm>
              <a:prstGeom prst="rect">
                <a:avLst/>
              </a:prstGeom>
              <a:noFill/>
              <a:ln>
                <a:noFill/>
              </a:ln>
            </p:spPr>
            <p:txBody>
              <a:bodyPr wrap="none" lIns="0" tIns="0" rIns="0" bIns="0" anchor="t" anchorCtr="0">
                <a:spAutoFit/>
              </a:bodyPr>
              <a:lstStyle/>
              <a:p>
                <a:pPr algn="l"/>
                <a:r>
                  <a:rPr lang="zh-CN" sz="2250" b="1" dirty="0">
                    <a:solidFill>
                      <a:srgbClr val="8A1700"/>
                    </a:solidFill>
                    <a:latin typeface="+mn-lt"/>
                    <a:ea typeface="+mn-ea"/>
                    <a:cs typeface="+mn-cs"/>
                  </a:rPr>
                  <a:t>38</a:t>
                </a:r>
                <a:r>
                  <a:rPr lang="zh-CN" sz="1200" b="1" dirty="0">
                    <a:solidFill>
                      <a:srgbClr val="8A1700"/>
                    </a:solidFill>
                    <a:latin typeface="+mn-lt"/>
                    <a:ea typeface="+mn-ea"/>
                    <a:cs typeface="+mn-cs"/>
                  </a:rPr>
                  <a:t>%</a:t>
                </a:r>
                <a:r>
                  <a:rPr lang="zh-CN" sz="2250" b="1" dirty="0">
                    <a:solidFill>
                      <a:srgbClr val="8A1700"/>
                    </a:solidFill>
                    <a:latin typeface="+mn-lt"/>
                    <a:ea typeface="+mn-ea"/>
                    <a:cs typeface="+mn-cs"/>
                  </a:rPr>
                  <a:t>​</a:t>
                </a:r>
              </a:p>
            </p:txBody>
          </p:sp>
          <p:sp>
            <p:nvSpPr>
              <p:cNvPr id="38" name="TextBox 38"/>
              <p:cNvSpPr txBox="1"/>
              <p:nvPr/>
            </p:nvSpPr>
            <p:spPr>
              <a:xfrm>
                <a:off x="5100638" y="1683782"/>
                <a:ext cx="1448344" cy="126206"/>
              </a:xfrm>
              <a:prstGeom prst="rect">
                <a:avLst/>
              </a:prstGeom>
              <a:noFill/>
              <a:ln>
                <a:noFill/>
              </a:ln>
            </p:spPr>
            <p:txBody>
              <a:bodyPr wrap="none" lIns="0" tIns="0" rIns="0" bIns="0" anchor="t" anchorCtr="0">
                <a:spAutoFit/>
              </a:bodyPr>
              <a:lstStyle/>
              <a:p>
                <a:pPr algn="l"/>
                <a:r>
                  <a:rPr lang="zh-CN" sz="640" dirty="0">
                    <a:solidFill>
                      <a:srgbClr val="6B7280"/>
                    </a:solidFill>
                    <a:latin typeface="+mn-lt"/>
                    <a:ea typeface="+mn-ea"/>
                    <a:cs typeface="+mn-cs"/>
                  </a:rPr>
                  <a:t>方案示例：月活客户数 / 首刷客户数​</a:t>
                </a:r>
              </a:p>
            </p:txBody>
          </p:sp>
        </p:grpSp>
        <p:grpSp>
          <p:nvGrpSpPr>
            <p:cNvPr id="51" name="kpi-4"/>
            <p:cNvGrpSpPr/>
            <p:nvPr/>
          </p:nvGrpSpPr>
          <p:grpSpPr>
            <a:xfrm>
              <a:off x="7315200" y="781050"/>
              <a:ext cx="2209800" cy="1085850"/>
              <a:chOff x="7315200" y="781050"/>
              <a:chExt cx="2209800" cy="1085850"/>
            </a:xfrm>
          </p:grpSpPr>
          <p:sp>
            <p:nvSpPr>
              <p:cNvPr id="40" name="Rectangle 40"/>
              <p:cNvSpPr/>
              <p:nvPr/>
            </p:nvSpPr>
            <p:spPr>
              <a:xfrm>
                <a:off x="7315200" y="781050"/>
                <a:ext cx="2209800" cy="1085850"/>
              </a:xfrm>
              <a:prstGeom prst="roundRect">
                <a:avLst>
                  <a:gd name="adj" fmla="val 7018"/>
                </a:avLst>
              </a:prstGeom>
              <a:solidFill>
                <a:srgbClr val="FFFFFF"/>
              </a:solidFill>
              <a:ln w="9525">
                <a:solidFill>
                  <a:srgbClr val="C9D5EA"/>
                </a:solidFill>
              </a:ln>
            </p:spPr>
          </p:sp>
          <p:sp>
            <p:nvSpPr>
              <p:cNvPr id="41" name="Rectangle 41"/>
              <p:cNvSpPr/>
              <p:nvPr/>
            </p:nvSpPr>
            <p:spPr>
              <a:xfrm>
                <a:off x="8953500" y="838200"/>
                <a:ext cx="514350" cy="152400"/>
              </a:xfrm>
              <a:prstGeom prst="roundRect">
                <a:avLst>
                  <a:gd name="adj" fmla="val 18750"/>
                </a:avLst>
              </a:prstGeom>
              <a:solidFill>
                <a:srgbClr val="8A1700"/>
              </a:solidFill>
              <a:ln>
                <a:noFill/>
              </a:ln>
            </p:spPr>
          </p:sp>
          <p:sp>
            <p:nvSpPr>
              <p:cNvPr id="42" name="TextBox 42"/>
              <p:cNvSpPr txBox="1"/>
              <p:nvPr/>
            </p:nvSpPr>
            <p:spPr>
              <a:xfrm>
                <a:off x="9033599" y="88368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方案示例</a:t>
                </a:r>
              </a:p>
            </p:txBody>
          </p:sp>
          <p:grpSp>
            <p:nvGrpSpPr>
              <p:cNvPr id="47" name="Group 47"/>
              <p:cNvGrpSpPr/>
              <p:nvPr/>
            </p:nvGrpSpPr>
            <p:grpSpPr>
              <a:xfrm>
                <a:off x="7562850" y="1076325"/>
                <a:ext cx="254001" cy="301626"/>
                <a:chOff x="7562850" y="1076325"/>
                <a:chExt cx="254001" cy="301626"/>
              </a:xfrm>
            </p:grpSpPr>
            <p:sp>
              <p:nvSpPr>
                <p:cNvPr id="43" name="Freeform 43"/>
                <p:cNvSpPr/>
                <p:nvPr/>
              </p:nvSpPr>
              <p:spPr>
                <a:xfrm>
                  <a:off x="7594600" y="107632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3813">
                  <a:solidFill>
                    <a:srgbClr val="8A1700"/>
                  </a:solidFill>
                </a:ln>
              </p:spPr>
            </p:sp>
            <p:sp>
              <p:nvSpPr>
                <p:cNvPr id="44" name="Freeform 44"/>
                <p:cNvSpPr/>
                <p:nvPr/>
              </p:nvSpPr>
              <p:spPr>
                <a:xfrm>
                  <a:off x="7562850" y="1266825"/>
                  <a:ext cx="119063" cy="95250"/>
                </a:xfrm>
                <a:custGeom>
                  <a:avLst/>
                  <a:gdLst/>
                  <a:ahLst/>
                  <a:cxnLst/>
                  <a:rect l="l" t="t" r="r" b="b"/>
                  <a:pathLst>
                    <a:path w="119063" h="95250">
                      <a:moveTo>
                        <a:pt x="0" y="95250"/>
                      </a:moveTo>
                      <a:lnTo>
                        <a:pt x="0" y="63500"/>
                      </a:lnTo>
                      <a:cubicBezTo>
                        <a:pt x="0" y="28430"/>
                        <a:pt x="28430" y="0"/>
                        <a:pt x="63500" y="0"/>
                      </a:cubicBezTo>
                      <a:lnTo>
                        <a:pt x="119063" y="0"/>
                      </a:lnTo>
                    </a:path>
                  </a:pathLst>
                </a:custGeom>
                <a:noFill/>
                <a:ln w="23813">
                  <a:solidFill>
                    <a:srgbClr val="8A1700"/>
                  </a:solidFill>
                </a:ln>
              </p:spPr>
            </p:sp>
            <p:sp>
              <p:nvSpPr>
                <p:cNvPr id="45" name="Freeform 45"/>
                <p:cNvSpPr/>
                <p:nvPr/>
              </p:nvSpPr>
              <p:spPr>
                <a:xfrm>
                  <a:off x="7737476" y="1298576"/>
                  <a:ext cx="79375" cy="79375"/>
                </a:xfrm>
                <a:custGeom>
                  <a:avLst/>
                  <a:gdLst/>
                  <a:ahLst/>
                  <a:cxnLst/>
                  <a:rect l="l" t="t" r="r" b="b"/>
                  <a:pathLst>
                    <a:path w="79375" h="79375">
                      <a:moveTo>
                        <a:pt x="79375" y="79375"/>
                      </a:moveTo>
                      <a:lnTo>
                        <a:pt x="0" y="0"/>
                      </a:lnTo>
                    </a:path>
                  </a:pathLst>
                </a:custGeom>
                <a:noFill/>
                <a:ln w="23813">
                  <a:solidFill>
                    <a:srgbClr val="8A1700"/>
                  </a:solidFill>
                </a:ln>
              </p:spPr>
            </p:sp>
            <p:sp>
              <p:nvSpPr>
                <p:cNvPr id="46" name="Freeform 46"/>
                <p:cNvSpPr/>
                <p:nvPr/>
              </p:nvSpPr>
              <p:spPr>
                <a:xfrm>
                  <a:off x="7737476" y="1298576"/>
                  <a:ext cx="79375" cy="79375"/>
                </a:xfrm>
                <a:custGeom>
                  <a:avLst/>
                  <a:gdLst/>
                  <a:ahLst/>
                  <a:cxnLst/>
                  <a:rect l="l" t="t" r="r" b="b"/>
                  <a:pathLst>
                    <a:path w="79375" h="79375">
                      <a:moveTo>
                        <a:pt x="0" y="79375"/>
                      </a:moveTo>
                      <a:lnTo>
                        <a:pt x="79375" y="0"/>
                      </a:lnTo>
                    </a:path>
                  </a:pathLst>
                </a:custGeom>
                <a:noFill/>
                <a:ln w="23813">
                  <a:solidFill>
                    <a:srgbClr val="8A1700"/>
                  </a:solidFill>
                </a:ln>
              </p:spPr>
            </p:sp>
          </p:grpSp>
          <p:sp>
            <p:nvSpPr>
              <p:cNvPr id="48" name="TextBox 48"/>
              <p:cNvSpPr txBox="1"/>
              <p:nvPr/>
            </p:nvSpPr>
            <p:spPr>
              <a:xfrm>
                <a:off x="7995666" y="1010602"/>
                <a:ext cx="858774"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沉默客户占比</a:t>
                </a:r>
              </a:p>
            </p:txBody>
          </p:sp>
          <p:sp>
            <p:nvSpPr>
              <p:cNvPr id="49" name="TextBox 49"/>
              <p:cNvSpPr txBox="1"/>
              <p:nvPr/>
            </p:nvSpPr>
            <p:spPr>
              <a:xfrm>
                <a:off x="7989570" y="1243012"/>
                <a:ext cx="674841" cy="440055"/>
              </a:xfrm>
              <a:prstGeom prst="rect">
                <a:avLst/>
              </a:prstGeom>
              <a:noFill/>
              <a:ln>
                <a:noFill/>
              </a:ln>
            </p:spPr>
            <p:txBody>
              <a:bodyPr wrap="none" lIns="0" tIns="0" rIns="0" bIns="0" anchor="t" anchorCtr="0">
                <a:spAutoFit/>
              </a:bodyPr>
              <a:lstStyle/>
              <a:p>
                <a:pPr algn="l"/>
                <a:r>
                  <a:rPr lang="zh-CN" sz="2250" b="1" dirty="0">
                    <a:solidFill>
                      <a:srgbClr val="C02C0A"/>
                    </a:solidFill>
                    <a:latin typeface="+mn-lt"/>
                    <a:ea typeface="+mn-ea"/>
                    <a:cs typeface="+mn-cs"/>
                  </a:rPr>
                  <a:t>29</a:t>
                </a:r>
                <a:r>
                  <a:rPr lang="zh-CN" sz="1200" b="1" dirty="0">
                    <a:solidFill>
                      <a:srgbClr val="C02C0A"/>
                    </a:solidFill>
                    <a:latin typeface="+mn-lt"/>
                    <a:ea typeface="+mn-ea"/>
                    <a:cs typeface="+mn-cs"/>
                  </a:rPr>
                  <a:t>%</a:t>
                </a:r>
                <a:r>
                  <a:rPr lang="zh-CN" sz="2250" b="1" dirty="0">
                    <a:solidFill>
                      <a:srgbClr val="C02C0A"/>
                    </a:solidFill>
                    <a:latin typeface="+mn-lt"/>
                    <a:ea typeface="+mn-ea"/>
                    <a:cs typeface="+mn-cs"/>
                  </a:rPr>
                  <a:t>​</a:t>
                </a:r>
              </a:p>
            </p:txBody>
          </p:sp>
          <p:sp>
            <p:nvSpPr>
              <p:cNvPr id="50" name="TextBox 50"/>
              <p:cNvSpPr txBox="1"/>
              <p:nvPr/>
            </p:nvSpPr>
            <p:spPr>
              <a:xfrm>
                <a:off x="7462838" y="1683782"/>
                <a:ext cx="1448344" cy="126206"/>
              </a:xfrm>
              <a:prstGeom prst="rect">
                <a:avLst/>
              </a:prstGeom>
              <a:noFill/>
              <a:ln>
                <a:noFill/>
              </a:ln>
            </p:spPr>
            <p:txBody>
              <a:bodyPr wrap="none" lIns="0" tIns="0" rIns="0" bIns="0" anchor="t" anchorCtr="0">
                <a:spAutoFit/>
              </a:bodyPr>
              <a:lstStyle/>
              <a:p>
                <a:pPr algn="l"/>
                <a:r>
                  <a:rPr lang="zh-CN" sz="640" dirty="0">
                    <a:solidFill>
                      <a:srgbClr val="6B7280"/>
                    </a:solidFill>
                    <a:latin typeface="+mn-lt"/>
                    <a:ea typeface="+mn-ea"/>
                    <a:cs typeface="+mn-cs"/>
                  </a:rPr>
                  <a:t>方案示例：沉默客户数 / 首刷客户数​</a:t>
                </a:r>
              </a:p>
            </p:txBody>
          </p:sp>
        </p:grpSp>
        <p:grpSp>
          <p:nvGrpSpPr>
            <p:cNvPr id="63" name="kpi-5"/>
            <p:cNvGrpSpPr/>
            <p:nvPr/>
          </p:nvGrpSpPr>
          <p:grpSpPr>
            <a:xfrm>
              <a:off x="9677400" y="781050"/>
              <a:ext cx="2209800" cy="1085850"/>
              <a:chOff x="9677400" y="781050"/>
              <a:chExt cx="2209800" cy="1085850"/>
            </a:xfrm>
          </p:grpSpPr>
          <p:sp>
            <p:nvSpPr>
              <p:cNvPr id="52" name="Rectangle 52"/>
              <p:cNvSpPr/>
              <p:nvPr/>
            </p:nvSpPr>
            <p:spPr>
              <a:xfrm>
                <a:off x="9677400" y="781050"/>
                <a:ext cx="2209800" cy="1085850"/>
              </a:xfrm>
              <a:prstGeom prst="roundRect">
                <a:avLst>
                  <a:gd name="adj" fmla="val 7018"/>
                </a:avLst>
              </a:prstGeom>
              <a:solidFill>
                <a:srgbClr val="FFFFFF"/>
              </a:solidFill>
              <a:ln w="9525">
                <a:solidFill>
                  <a:srgbClr val="C9D5EA"/>
                </a:solidFill>
              </a:ln>
            </p:spPr>
          </p:sp>
          <p:sp>
            <p:nvSpPr>
              <p:cNvPr id="53" name="Rectangle 53"/>
              <p:cNvSpPr/>
              <p:nvPr/>
            </p:nvSpPr>
            <p:spPr>
              <a:xfrm>
                <a:off x="11315700" y="838200"/>
                <a:ext cx="514350" cy="152400"/>
              </a:xfrm>
              <a:prstGeom prst="roundRect">
                <a:avLst>
                  <a:gd name="adj" fmla="val 18750"/>
                </a:avLst>
              </a:prstGeom>
              <a:solidFill>
                <a:srgbClr val="8A1700"/>
              </a:solidFill>
              <a:ln>
                <a:noFill/>
              </a:ln>
            </p:spPr>
          </p:sp>
          <p:sp>
            <p:nvSpPr>
              <p:cNvPr id="54" name="TextBox 54"/>
              <p:cNvSpPr txBox="1"/>
              <p:nvPr/>
            </p:nvSpPr>
            <p:spPr>
              <a:xfrm>
                <a:off x="11395799" y="88368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方案示例</a:t>
                </a:r>
              </a:p>
            </p:txBody>
          </p:sp>
          <p:grpSp>
            <p:nvGrpSpPr>
              <p:cNvPr id="59" name="Group 59"/>
              <p:cNvGrpSpPr/>
              <p:nvPr/>
            </p:nvGrpSpPr>
            <p:grpSpPr>
              <a:xfrm>
                <a:off x="9893300" y="1076325"/>
                <a:ext cx="285751" cy="301626"/>
                <a:chOff x="9893300" y="1076325"/>
                <a:chExt cx="285751" cy="301626"/>
              </a:xfrm>
            </p:grpSpPr>
            <p:sp>
              <p:nvSpPr>
                <p:cNvPr id="55" name="Freeform 55"/>
                <p:cNvSpPr/>
                <p:nvPr/>
              </p:nvSpPr>
              <p:spPr>
                <a:xfrm>
                  <a:off x="9893300" y="1076325"/>
                  <a:ext cx="222250" cy="222250"/>
                </a:xfrm>
                <a:custGeom>
                  <a:avLst/>
                  <a:gdLst/>
                  <a:ahLst/>
                  <a:cxnLst/>
                  <a:rect l="l" t="t" r="r" b="b"/>
                  <a:pathLst>
                    <a:path w="222250" h="222250">
                      <a:moveTo>
                        <a:pt x="142875" y="222250"/>
                      </a:moveTo>
                      <a:lnTo>
                        <a:pt x="0" y="222250"/>
                      </a:lnTo>
                      <a:cubicBezTo>
                        <a:pt x="17544" y="212316"/>
                        <a:pt x="29327" y="194641"/>
                        <a:pt x="31750" y="174625"/>
                      </a:cubicBezTo>
                      <a:lnTo>
                        <a:pt x="31750" y="127000"/>
                      </a:lnTo>
                      <a:cubicBezTo>
                        <a:pt x="33677" y="85951"/>
                        <a:pt x="58100" y="49317"/>
                        <a:pt x="95250" y="31750"/>
                      </a:cubicBezTo>
                      <a:cubicBezTo>
                        <a:pt x="95250" y="14215"/>
                        <a:pt x="109465" y="0"/>
                        <a:pt x="127000" y="0"/>
                      </a:cubicBezTo>
                      <a:cubicBezTo>
                        <a:pt x="144535" y="0"/>
                        <a:pt x="158750" y="14215"/>
                        <a:pt x="158750" y="31750"/>
                      </a:cubicBezTo>
                      <a:cubicBezTo>
                        <a:pt x="195901" y="49317"/>
                        <a:pt x="220324" y="85951"/>
                        <a:pt x="222250" y="127000"/>
                      </a:cubicBezTo>
                      <a:lnTo>
                        <a:pt x="222250" y="158750"/>
                      </a:lnTo>
                    </a:path>
                  </a:pathLst>
                </a:custGeom>
                <a:noFill/>
                <a:ln w="23813">
                  <a:solidFill>
                    <a:srgbClr val="8A1700"/>
                  </a:solidFill>
                </a:ln>
              </p:spPr>
            </p:sp>
            <p:sp>
              <p:nvSpPr>
                <p:cNvPr id="56" name="Freeform 56"/>
                <p:cNvSpPr/>
                <p:nvPr/>
              </p:nvSpPr>
              <p:spPr>
                <a:xfrm>
                  <a:off x="9972671" y="1298576"/>
                  <a:ext cx="66584" cy="65966"/>
                </a:xfrm>
                <a:custGeom>
                  <a:avLst/>
                  <a:gdLst/>
                  <a:ahLst/>
                  <a:cxnLst/>
                  <a:rect l="l" t="t" r="r" b="b"/>
                  <a:pathLst>
                    <a:path w="66584" h="65966">
                      <a:moveTo>
                        <a:pt x="5" y="0"/>
                      </a:moveTo>
                      <a:lnTo>
                        <a:pt x="5" y="15875"/>
                      </a:lnTo>
                      <a:cubicBezTo>
                        <a:pt x="0" y="31924"/>
                        <a:pt x="8079" y="46896"/>
                        <a:pt x="21495" y="55702"/>
                      </a:cubicBezTo>
                      <a:cubicBezTo>
                        <a:pt x="34912" y="64509"/>
                        <a:pt x="51862" y="65966"/>
                        <a:pt x="66584" y="59579"/>
                      </a:cubicBezTo>
                    </a:path>
                  </a:pathLst>
                </a:custGeom>
                <a:noFill/>
                <a:ln w="23813">
                  <a:solidFill>
                    <a:srgbClr val="8A1700"/>
                  </a:solidFill>
                </a:ln>
              </p:spPr>
            </p:sp>
            <p:sp>
              <p:nvSpPr>
                <p:cNvPr id="57" name="Freeform 57"/>
                <p:cNvSpPr/>
                <p:nvPr/>
              </p:nvSpPr>
              <p:spPr>
                <a:xfrm>
                  <a:off x="10099676" y="1298576"/>
                  <a:ext cx="79375" cy="79375"/>
                </a:xfrm>
                <a:custGeom>
                  <a:avLst/>
                  <a:gdLst/>
                  <a:ahLst/>
                  <a:cxnLst/>
                  <a:rect l="l" t="t" r="r" b="b"/>
                  <a:pathLst>
                    <a:path w="79375" h="79375">
                      <a:moveTo>
                        <a:pt x="79375" y="79375"/>
                      </a:moveTo>
                      <a:lnTo>
                        <a:pt x="0" y="0"/>
                      </a:lnTo>
                    </a:path>
                  </a:pathLst>
                </a:custGeom>
                <a:noFill/>
                <a:ln w="23813">
                  <a:solidFill>
                    <a:srgbClr val="8A1700"/>
                  </a:solidFill>
                </a:ln>
              </p:spPr>
            </p:sp>
            <p:sp>
              <p:nvSpPr>
                <p:cNvPr id="58" name="Freeform 58"/>
                <p:cNvSpPr/>
                <p:nvPr/>
              </p:nvSpPr>
              <p:spPr>
                <a:xfrm>
                  <a:off x="10099676" y="1298576"/>
                  <a:ext cx="79375" cy="79375"/>
                </a:xfrm>
                <a:custGeom>
                  <a:avLst/>
                  <a:gdLst/>
                  <a:ahLst/>
                  <a:cxnLst/>
                  <a:rect l="l" t="t" r="r" b="b"/>
                  <a:pathLst>
                    <a:path w="79375" h="79375">
                      <a:moveTo>
                        <a:pt x="0" y="79375"/>
                      </a:moveTo>
                      <a:lnTo>
                        <a:pt x="79375" y="0"/>
                      </a:lnTo>
                    </a:path>
                  </a:pathLst>
                </a:custGeom>
                <a:noFill/>
                <a:ln w="23813">
                  <a:solidFill>
                    <a:srgbClr val="8A1700"/>
                  </a:solidFill>
                </a:ln>
              </p:spPr>
            </p:sp>
          </p:grpSp>
          <p:sp>
            <p:nvSpPr>
              <p:cNvPr id="60" name="TextBox 60"/>
              <p:cNvSpPr txBox="1"/>
              <p:nvPr/>
            </p:nvSpPr>
            <p:spPr>
              <a:xfrm>
                <a:off x="10357866" y="1010602"/>
                <a:ext cx="717423"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营销退订率</a:t>
                </a:r>
              </a:p>
            </p:txBody>
          </p:sp>
          <p:sp>
            <p:nvSpPr>
              <p:cNvPr id="61" name="TextBox 61"/>
              <p:cNvSpPr txBox="1"/>
              <p:nvPr/>
            </p:nvSpPr>
            <p:spPr>
              <a:xfrm>
                <a:off x="10351770" y="1243012"/>
                <a:ext cx="849763" cy="440055"/>
              </a:xfrm>
              <a:prstGeom prst="rect">
                <a:avLst/>
              </a:prstGeom>
              <a:noFill/>
              <a:ln>
                <a:noFill/>
              </a:ln>
            </p:spPr>
            <p:txBody>
              <a:bodyPr wrap="none" lIns="0" tIns="0" rIns="0" bIns="0" anchor="t" anchorCtr="0">
                <a:spAutoFit/>
              </a:bodyPr>
              <a:lstStyle/>
              <a:p>
                <a:pPr algn="l"/>
                <a:r>
                  <a:rPr lang="zh-CN" sz="2250" b="1" dirty="0">
                    <a:solidFill>
                      <a:srgbClr val="C02C0A"/>
                    </a:solidFill>
                    <a:latin typeface="+mn-lt"/>
                    <a:ea typeface="+mn-ea"/>
                    <a:cs typeface="+mn-cs"/>
                  </a:rPr>
                  <a:t>8.6</a:t>
                </a:r>
                <a:r>
                  <a:rPr lang="zh-CN" sz="1200" b="1" dirty="0">
                    <a:solidFill>
                      <a:srgbClr val="C02C0A"/>
                    </a:solidFill>
                    <a:latin typeface="+mn-lt"/>
                    <a:ea typeface="+mn-ea"/>
                    <a:cs typeface="+mn-cs"/>
                  </a:rPr>
                  <a:t>%</a:t>
                </a:r>
                <a:r>
                  <a:rPr lang="zh-CN" sz="2250" b="1" dirty="0">
                    <a:solidFill>
                      <a:srgbClr val="C02C0A"/>
                    </a:solidFill>
                    <a:latin typeface="+mn-lt"/>
                    <a:ea typeface="+mn-ea"/>
                    <a:cs typeface="+mn-cs"/>
                  </a:rPr>
                  <a:t>​</a:t>
                </a:r>
              </a:p>
            </p:txBody>
          </p:sp>
          <p:sp>
            <p:nvSpPr>
              <p:cNvPr id="62" name="TextBox 62"/>
              <p:cNvSpPr txBox="1"/>
              <p:nvPr/>
            </p:nvSpPr>
            <p:spPr>
              <a:xfrm>
                <a:off x="9825038" y="1683782"/>
                <a:ext cx="1448344" cy="126206"/>
              </a:xfrm>
              <a:prstGeom prst="rect">
                <a:avLst/>
              </a:prstGeom>
              <a:noFill/>
              <a:ln>
                <a:noFill/>
              </a:ln>
            </p:spPr>
            <p:txBody>
              <a:bodyPr wrap="none" lIns="0" tIns="0" rIns="0" bIns="0" anchor="t" anchorCtr="0">
                <a:spAutoFit/>
              </a:bodyPr>
              <a:lstStyle/>
              <a:p>
                <a:pPr algn="l"/>
                <a:r>
                  <a:rPr lang="zh-CN" sz="640" dirty="0">
                    <a:solidFill>
                      <a:srgbClr val="6B7280"/>
                    </a:solidFill>
                    <a:latin typeface="+mn-lt"/>
                    <a:ea typeface="+mn-ea"/>
                    <a:cs typeface="+mn-cs"/>
                  </a:rPr>
                  <a:t>方案示例：退订客户数 / 触达客户数​</a:t>
                </a:r>
              </a:p>
            </p:txBody>
          </p:sp>
        </p:grpSp>
      </p:grpSp>
      <p:grpSp>
        <p:nvGrpSpPr>
          <p:cNvPr id="160" name="funnel"/>
          <p:cNvGrpSpPr/>
          <p:nvPr/>
        </p:nvGrpSpPr>
        <p:grpSpPr>
          <a:xfrm>
            <a:off x="228600" y="1962150"/>
            <a:ext cx="11734800" cy="2114550"/>
            <a:chOff x="228600" y="1962150"/>
            <a:chExt cx="11734800" cy="2114550"/>
          </a:xfrm>
        </p:grpSpPr>
        <p:sp>
          <p:nvSpPr>
            <p:cNvPr id="65" name="Rectangle 65"/>
            <p:cNvSpPr/>
            <p:nvPr/>
          </p:nvSpPr>
          <p:spPr>
            <a:xfrm>
              <a:off x="228600" y="1962150"/>
              <a:ext cx="11734800" cy="2114550"/>
            </a:xfrm>
            <a:prstGeom prst="roundRect">
              <a:avLst>
                <a:gd name="adj" fmla="val 4505"/>
              </a:avLst>
            </a:prstGeom>
            <a:noFill/>
            <a:ln w="9525">
              <a:solidFill>
                <a:srgbClr val="C9D5EA"/>
              </a:solidFill>
            </a:ln>
          </p:spPr>
        </p:sp>
        <p:sp>
          <p:nvSpPr>
            <p:cNvPr id="66" name="Rectangle 66"/>
            <p:cNvSpPr/>
            <p:nvPr/>
          </p:nvSpPr>
          <p:spPr>
            <a:xfrm>
              <a:off x="4191000" y="1962150"/>
              <a:ext cx="3810000" cy="228600"/>
            </a:xfrm>
            <a:prstGeom prst="rect">
              <a:avLst/>
            </a:prstGeom>
            <a:solidFill>
              <a:srgbClr val="FFFFFF"/>
            </a:solidFill>
            <a:ln>
              <a:noFill/>
            </a:ln>
          </p:spPr>
        </p:sp>
        <p:sp>
          <p:nvSpPr>
            <p:cNvPr id="67" name="TextBox 67"/>
            <p:cNvSpPr txBox="1"/>
            <p:nvPr/>
          </p:nvSpPr>
          <p:spPr>
            <a:xfrm>
              <a:off x="4918710" y="2004060"/>
              <a:ext cx="2354580" cy="234696"/>
            </a:xfrm>
            <a:prstGeom prst="rect">
              <a:avLst/>
            </a:prstGeom>
            <a:noFill/>
            <a:ln>
              <a:noFill/>
            </a:ln>
          </p:spPr>
          <p:txBody>
            <a:bodyPr wrap="none" lIns="0" tIns="0" rIns="0" bIns="0" anchor="t" anchorCtr="0">
              <a:spAutoFit/>
            </a:bodyPr>
            <a:lstStyle/>
            <a:p>
              <a:pPr algn="ctr"/>
              <a:r>
                <a:rPr lang="zh-CN" sz="1200" b="1" dirty="0">
                  <a:solidFill>
                    <a:srgbClr val="520E00"/>
                  </a:solidFill>
                  <a:latin typeface="+mn-lt"/>
                  <a:ea typeface="+mn-ea"/>
                  <a:cs typeface="+mn-cs"/>
                </a:rPr>
                <a:t>客户经营生命周期漏斗</a:t>
              </a:r>
              <a:r>
                <a:rPr lang="zh-CN" sz="900" dirty="0">
                  <a:solidFill>
                    <a:srgbClr val="6B7280"/>
                  </a:solidFill>
                  <a:latin typeface="+mn-lt"/>
                  <a:ea typeface="+mn-ea"/>
                  <a:cs typeface="+mn-cs"/>
                </a:rPr>
                <a:t>（方案示例）</a:t>
              </a:r>
            </a:p>
          </p:txBody>
        </p:sp>
        <p:sp>
          <p:nvSpPr>
            <p:cNvPr id="68" name="Freeform 68"/>
            <p:cNvSpPr/>
            <p:nvPr/>
          </p:nvSpPr>
          <p:spPr>
            <a:xfrm>
              <a:off x="228600" y="2286000"/>
              <a:ext cx="2152650" cy="419100"/>
            </a:xfrm>
            <a:prstGeom prst="chevron">
              <a:avLst/>
            </a:prstGeom>
            <a:solidFill>
              <a:srgbClr val="8A1700"/>
            </a:solidFill>
            <a:ln>
              <a:noFill/>
            </a:ln>
          </p:spPr>
        </p:sp>
        <p:sp>
          <p:nvSpPr>
            <p:cNvPr id="69" name="Freeform 69"/>
            <p:cNvSpPr/>
            <p:nvPr/>
          </p:nvSpPr>
          <p:spPr>
            <a:xfrm>
              <a:off x="2571750" y="2286000"/>
              <a:ext cx="2152650" cy="419100"/>
            </a:xfrm>
            <a:prstGeom prst="chevron">
              <a:avLst/>
            </a:prstGeom>
            <a:solidFill>
              <a:srgbClr val="8A1700"/>
            </a:solidFill>
            <a:ln>
              <a:noFill/>
            </a:ln>
          </p:spPr>
        </p:sp>
        <p:sp>
          <p:nvSpPr>
            <p:cNvPr id="70" name="Freeform 70"/>
            <p:cNvSpPr/>
            <p:nvPr/>
          </p:nvSpPr>
          <p:spPr>
            <a:xfrm>
              <a:off x="4914900" y="2286000"/>
              <a:ext cx="2152650" cy="419100"/>
            </a:xfrm>
            <a:prstGeom prst="chevron">
              <a:avLst/>
            </a:prstGeom>
            <a:solidFill>
              <a:srgbClr val="8A1700"/>
            </a:solidFill>
            <a:ln>
              <a:noFill/>
            </a:ln>
          </p:spPr>
        </p:sp>
        <p:sp>
          <p:nvSpPr>
            <p:cNvPr id="71" name="Freeform 71"/>
            <p:cNvSpPr/>
            <p:nvPr/>
          </p:nvSpPr>
          <p:spPr>
            <a:xfrm>
              <a:off x="7258050" y="2286000"/>
              <a:ext cx="2152650" cy="419100"/>
            </a:xfrm>
            <a:prstGeom prst="chevron">
              <a:avLst/>
            </a:prstGeom>
            <a:solidFill>
              <a:srgbClr val="8A1700"/>
            </a:solidFill>
            <a:ln>
              <a:noFill/>
            </a:ln>
          </p:spPr>
        </p:sp>
        <p:sp>
          <p:nvSpPr>
            <p:cNvPr id="72" name="Freeform 72"/>
            <p:cNvSpPr/>
            <p:nvPr/>
          </p:nvSpPr>
          <p:spPr>
            <a:xfrm>
              <a:off x="9601200" y="2286000"/>
              <a:ext cx="2152650" cy="419100"/>
            </a:xfrm>
            <a:prstGeom prst="chevron">
              <a:avLst/>
            </a:prstGeom>
            <a:solidFill>
              <a:srgbClr val="8A1700"/>
            </a:solidFill>
            <a:ln>
              <a:noFill/>
            </a:ln>
          </p:spPr>
        </p:sp>
        <p:grpSp>
          <p:nvGrpSpPr>
            <p:cNvPr id="77" name="Group 77"/>
            <p:cNvGrpSpPr/>
            <p:nvPr/>
          </p:nvGrpSpPr>
          <p:grpSpPr>
            <a:xfrm>
              <a:off x="959644" y="2434431"/>
              <a:ext cx="157163" cy="122238"/>
              <a:chOff x="959644" y="2434431"/>
              <a:chExt cx="157163" cy="122238"/>
            </a:xfrm>
          </p:grpSpPr>
          <p:sp>
            <p:nvSpPr>
              <p:cNvPr id="73" name="Freeform 73"/>
              <p:cNvSpPr/>
              <p:nvPr/>
            </p:nvSpPr>
            <p:spPr>
              <a:xfrm>
                <a:off x="959644" y="2434431"/>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7463">
                <a:solidFill>
                  <a:srgbClr val="FFFFFF"/>
                </a:solidFill>
              </a:ln>
            </p:spPr>
          </p:sp>
          <p:sp>
            <p:nvSpPr>
              <p:cNvPr id="74" name="Freeform 74"/>
              <p:cNvSpPr/>
              <p:nvPr/>
            </p:nvSpPr>
            <p:spPr>
              <a:xfrm>
                <a:off x="959644" y="2478088"/>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75" name="Freeform 75"/>
              <p:cNvSpPr/>
              <p:nvPr/>
            </p:nvSpPr>
            <p:spPr>
              <a:xfrm>
                <a:off x="994569" y="2521744"/>
                <a:ext cx="9525" cy="9525"/>
              </a:xfrm>
              <a:custGeom>
                <a:avLst/>
                <a:gdLst/>
                <a:ahLst/>
                <a:cxnLst/>
                <a:rect l="l" t="t" r="r" b="b"/>
                <a:pathLst>
                  <a:path w="9525" h="9525">
                    <a:moveTo>
                      <a:pt x="0" y="0"/>
                    </a:moveTo>
                    <a:lnTo>
                      <a:pt x="87" y="0"/>
                    </a:lnTo>
                  </a:path>
                </a:pathLst>
              </a:custGeom>
              <a:noFill/>
              <a:ln w="17463">
                <a:solidFill>
                  <a:srgbClr val="FFFFFF"/>
                </a:solidFill>
              </a:ln>
            </p:spPr>
          </p:sp>
          <p:sp>
            <p:nvSpPr>
              <p:cNvPr id="76" name="Freeform 76"/>
              <p:cNvSpPr/>
              <p:nvPr/>
            </p:nvSpPr>
            <p:spPr>
              <a:xfrm>
                <a:off x="1029494" y="2521744"/>
                <a:ext cx="17463" cy="9525"/>
              </a:xfrm>
              <a:custGeom>
                <a:avLst/>
                <a:gdLst/>
                <a:ahLst/>
                <a:cxnLst/>
                <a:rect l="l" t="t" r="r" b="b"/>
                <a:pathLst>
                  <a:path w="17463" h="9525">
                    <a:moveTo>
                      <a:pt x="0" y="0"/>
                    </a:moveTo>
                    <a:lnTo>
                      <a:pt x="17463" y="0"/>
                    </a:lnTo>
                  </a:path>
                </a:pathLst>
              </a:custGeom>
              <a:noFill/>
              <a:ln w="17463">
                <a:solidFill>
                  <a:srgbClr val="FFFFFF"/>
                </a:solidFill>
              </a:ln>
            </p:spPr>
          </p:sp>
        </p:grpSp>
        <p:sp>
          <p:nvSpPr>
            <p:cNvPr id="78" name="TextBox 78"/>
            <p:cNvSpPr txBox="1"/>
            <p:nvPr/>
          </p:nvSpPr>
          <p:spPr>
            <a:xfrm>
              <a:off x="1212723" y="243411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发卡</a:t>
              </a:r>
            </a:p>
          </p:txBody>
        </p:sp>
        <p:grpSp>
          <p:nvGrpSpPr>
            <p:cNvPr id="81" name="Group 81"/>
            <p:cNvGrpSpPr/>
            <p:nvPr/>
          </p:nvGrpSpPr>
          <p:grpSpPr>
            <a:xfrm>
              <a:off x="3302794" y="2416969"/>
              <a:ext cx="157163" cy="157163"/>
              <a:chOff x="3302794" y="2416969"/>
              <a:chExt cx="157163" cy="157163"/>
            </a:xfrm>
          </p:grpSpPr>
          <p:sp>
            <p:nvSpPr>
              <p:cNvPr id="79" name="Freeform 79"/>
              <p:cNvSpPr/>
              <p:nvPr/>
            </p:nvSpPr>
            <p:spPr>
              <a:xfrm>
                <a:off x="3302794" y="24169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sp>
            <p:nvSpPr>
              <p:cNvPr id="80" name="Freeform 80"/>
              <p:cNvSpPr/>
              <p:nvPr/>
            </p:nvSpPr>
            <p:spPr>
              <a:xfrm>
                <a:off x="3355181" y="2478088"/>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82" name="TextBox 82"/>
            <p:cNvSpPr txBox="1"/>
            <p:nvPr/>
          </p:nvSpPr>
          <p:spPr>
            <a:xfrm>
              <a:off x="3555873" y="243411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激活</a:t>
              </a:r>
            </a:p>
          </p:txBody>
        </p:sp>
        <p:grpSp>
          <p:nvGrpSpPr>
            <p:cNvPr id="85" name="Group 85"/>
            <p:cNvGrpSpPr/>
            <p:nvPr/>
          </p:nvGrpSpPr>
          <p:grpSpPr>
            <a:xfrm>
              <a:off x="5654675" y="2425700"/>
              <a:ext cx="139701" cy="139700"/>
              <a:chOff x="5654675" y="2425700"/>
              <a:chExt cx="139701" cy="139700"/>
            </a:xfrm>
          </p:grpSpPr>
          <p:sp>
            <p:nvSpPr>
              <p:cNvPr id="83" name="Freeform 83"/>
              <p:cNvSpPr/>
              <p:nvPr/>
            </p:nvSpPr>
            <p:spPr>
              <a:xfrm>
                <a:off x="5654675" y="2425700"/>
                <a:ext cx="130969" cy="139700"/>
              </a:xfrm>
              <a:custGeom>
                <a:avLst/>
                <a:gdLst/>
                <a:ahLst/>
                <a:cxnLst/>
                <a:rect l="l" t="t" r="r" b="b"/>
                <a:pathLst>
                  <a:path w="130969" h="139700">
                    <a:moveTo>
                      <a:pt x="113506" y="34925"/>
                    </a:moveTo>
                    <a:lnTo>
                      <a:pt x="113506" y="8731"/>
                    </a:lnTo>
                    <a:cubicBezTo>
                      <a:pt x="113506" y="3909"/>
                      <a:pt x="109597" y="0"/>
                      <a:pt x="104775" y="0"/>
                    </a:cubicBezTo>
                    <a:lnTo>
                      <a:pt x="17463" y="0"/>
                    </a:lnTo>
                    <a:cubicBezTo>
                      <a:pt x="7818" y="0"/>
                      <a:pt x="0" y="7818"/>
                      <a:pt x="0" y="17463"/>
                    </a:cubicBezTo>
                    <a:cubicBezTo>
                      <a:pt x="0" y="27107"/>
                      <a:pt x="7818" y="34925"/>
                      <a:pt x="17463" y="34925"/>
                    </a:cubicBezTo>
                    <a:lnTo>
                      <a:pt x="122238" y="34925"/>
                    </a:lnTo>
                    <a:cubicBezTo>
                      <a:pt x="127060" y="34925"/>
                      <a:pt x="130969" y="38834"/>
                      <a:pt x="130969" y="43656"/>
                    </a:cubicBezTo>
                    <a:lnTo>
                      <a:pt x="130969" y="69850"/>
                    </a:lnTo>
                    <a:moveTo>
                      <a:pt x="130969" y="104775"/>
                    </a:moveTo>
                    <a:lnTo>
                      <a:pt x="130969" y="130969"/>
                    </a:lnTo>
                    <a:cubicBezTo>
                      <a:pt x="130969" y="135791"/>
                      <a:pt x="127060" y="139700"/>
                      <a:pt x="122238" y="139700"/>
                    </a:cubicBezTo>
                    <a:lnTo>
                      <a:pt x="17463" y="139700"/>
                    </a:lnTo>
                    <a:cubicBezTo>
                      <a:pt x="7818" y="139700"/>
                      <a:pt x="0" y="131882"/>
                      <a:pt x="0" y="122238"/>
                    </a:cubicBezTo>
                    <a:lnTo>
                      <a:pt x="0" y="17463"/>
                    </a:lnTo>
                  </a:path>
                </a:pathLst>
              </a:custGeom>
              <a:noFill/>
              <a:ln w="17463">
                <a:solidFill>
                  <a:srgbClr val="FFFFFF"/>
                </a:solidFill>
              </a:ln>
            </p:spPr>
          </p:sp>
          <p:sp>
            <p:nvSpPr>
              <p:cNvPr id="84" name="Freeform 84"/>
              <p:cNvSpPr/>
              <p:nvPr/>
            </p:nvSpPr>
            <p:spPr>
              <a:xfrm>
                <a:off x="5741988" y="2495550"/>
                <a:ext cx="52388" cy="34925"/>
              </a:xfrm>
              <a:custGeom>
                <a:avLst/>
                <a:gdLst/>
                <a:ahLst/>
                <a:cxnLst/>
                <a:rect l="l" t="t" r="r" b="b"/>
                <a:pathLst>
                  <a:path w="52388" h="34925">
                    <a:moveTo>
                      <a:pt x="52388" y="0"/>
                    </a:moveTo>
                    <a:lnTo>
                      <a:pt x="52388" y="34925"/>
                    </a:lnTo>
                    <a:lnTo>
                      <a:pt x="17463" y="34925"/>
                    </a:lnTo>
                    <a:cubicBezTo>
                      <a:pt x="7818" y="34925"/>
                      <a:pt x="0" y="27107"/>
                      <a:pt x="0" y="17463"/>
                    </a:cubicBezTo>
                    <a:cubicBezTo>
                      <a:pt x="0" y="7818"/>
                      <a:pt x="7818" y="0"/>
                      <a:pt x="17463" y="0"/>
                    </a:cubicBezTo>
                    <a:lnTo>
                      <a:pt x="52388" y="0"/>
                    </a:lnTo>
                  </a:path>
                </a:pathLst>
              </a:custGeom>
              <a:noFill/>
              <a:ln w="17463">
                <a:solidFill>
                  <a:srgbClr val="FFFFFF"/>
                </a:solidFill>
              </a:ln>
            </p:spPr>
          </p:sp>
        </p:grpSp>
        <p:sp>
          <p:nvSpPr>
            <p:cNvPr id="86" name="TextBox 86"/>
            <p:cNvSpPr txBox="1"/>
            <p:nvPr/>
          </p:nvSpPr>
          <p:spPr>
            <a:xfrm>
              <a:off x="5899023" y="243411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首刷</a:t>
              </a:r>
            </a:p>
          </p:txBody>
        </p:sp>
        <p:grpSp>
          <p:nvGrpSpPr>
            <p:cNvPr id="91" name="Group 91"/>
            <p:cNvGrpSpPr/>
            <p:nvPr/>
          </p:nvGrpSpPr>
          <p:grpSpPr>
            <a:xfrm>
              <a:off x="7989094" y="2425700"/>
              <a:ext cx="157163" cy="149225"/>
              <a:chOff x="7989094" y="2425700"/>
              <a:chExt cx="157163" cy="149225"/>
            </a:xfrm>
          </p:grpSpPr>
          <p:sp>
            <p:nvSpPr>
              <p:cNvPr id="87" name="Freeform 87"/>
              <p:cNvSpPr/>
              <p:nvPr/>
            </p:nvSpPr>
            <p:spPr>
              <a:xfrm>
                <a:off x="7989094" y="24955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88" name="Freeform 88"/>
              <p:cNvSpPr/>
              <p:nvPr/>
            </p:nvSpPr>
            <p:spPr>
              <a:xfrm>
                <a:off x="8093869" y="24606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89" name="Freeform 89"/>
              <p:cNvSpPr/>
              <p:nvPr/>
            </p:nvSpPr>
            <p:spPr>
              <a:xfrm>
                <a:off x="8041481" y="24257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90" name="Freeform 90"/>
              <p:cNvSpPr/>
              <p:nvPr/>
            </p:nvSpPr>
            <p:spPr>
              <a:xfrm>
                <a:off x="7997825" y="2565400"/>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92" name="TextBox 92"/>
            <p:cNvSpPr txBox="1"/>
            <p:nvPr/>
          </p:nvSpPr>
          <p:spPr>
            <a:xfrm>
              <a:off x="8242173" y="243411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活跃</a:t>
              </a:r>
            </a:p>
          </p:txBody>
        </p:sp>
        <p:grpSp>
          <p:nvGrpSpPr>
            <p:cNvPr id="95" name="Group 95"/>
            <p:cNvGrpSpPr/>
            <p:nvPr/>
          </p:nvGrpSpPr>
          <p:grpSpPr>
            <a:xfrm>
              <a:off x="10332244" y="2434431"/>
              <a:ext cx="157163" cy="128438"/>
              <a:chOff x="10332244" y="2434431"/>
              <a:chExt cx="157163" cy="128438"/>
            </a:xfrm>
          </p:grpSpPr>
          <p:sp>
            <p:nvSpPr>
              <p:cNvPr id="93" name="Freeform 93"/>
              <p:cNvSpPr/>
              <p:nvPr/>
            </p:nvSpPr>
            <p:spPr>
              <a:xfrm>
                <a:off x="10332244" y="2434431"/>
                <a:ext cx="157163" cy="128438"/>
              </a:xfrm>
              <a:custGeom>
                <a:avLst/>
                <a:gdLst/>
                <a:ahLst/>
                <a:cxnLst/>
                <a:rect l="l" t="t" r="r" b="b"/>
                <a:pathLst>
                  <a:path w="157163" h="128438">
                    <a:moveTo>
                      <a:pt x="26194" y="0"/>
                    </a:moveTo>
                    <a:lnTo>
                      <a:pt x="130969" y="0"/>
                    </a:lnTo>
                    <a:lnTo>
                      <a:pt x="157163" y="43656"/>
                    </a:lnTo>
                    <a:lnTo>
                      <a:pt x="82947" y="126603"/>
                    </a:lnTo>
                    <a:cubicBezTo>
                      <a:pt x="81797" y="127776"/>
                      <a:pt x="80224" y="128438"/>
                      <a:pt x="78581" y="128438"/>
                    </a:cubicBezTo>
                    <a:cubicBezTo>
                      <a:pt x="76939" y="128438"/>
                      <a:pt x="75365" y="127776"/>
                      <a:pt x="74216" y="126603"/>
                    </a:cubicBezTo>
                    <a:lnTo>
                      <a:pt x="0" y="43656"/>
                    </a:lnTo>
                    <a:lnTo>
                      <a:pt x="26194" y="0"/>
                    </a:lnTo>
                  </a:path>
                </a:pathLst>
              </a:custGeom>
              <a:noFill/>
              <a:ln w="17463">
                <a:solidFill>
                  <a:srgbClr val="FFFFFF"/>
                </a:solidFill>
              </a:ln>
            </p:spPr>
          </p:sp>
          <p:sp>
            <p:nvSpPr>
              <p:cNvPr id="94" name="Freeform 94"/>
              <p:cNvSpPr/>
              <p:nvPr/>
            </p:nvSpPr>
            <p:spPr>
              <a:xfrm>
                <a:off x="10375900" y="2467610"/>
                <a:ext cx="17463" cy="27940"/>
              </a:xfrm>
              <a:custGeom>
                <a:avLst/>
                <a:gdLst/>
                <a:ahLst/>
                <a:cxnLst/>
                <a:rect l="l" t="t" r="r" b="b"/>
                <a:pathLst>
                  <a:path w="17463" h="27940">
                    <a:moveTo>
                      <a:pt x="17463" y="27940"/>
                    </a:moveTo>
                    <a:lnTo>
                      <a:pt x="0" y="8731"/>
                    </a:lnTo>
                    <a:lnTo>
                      <a:pt x="5239" y="0"/>
                    </a:lnTo>
                  </a:path>
                </a:pathLst>
              </a:custGeom>
              <a:noFill/>
              <a:ln w="17463">
                <a:solidFill>
                  <a:srgbClr val="FFFFFF"/>
                </a:solidFill>
              </a:ln>
            </p:spPr>
          </p:sp>
        </p:grpSp>
        <p:sp>
          <p:nvSpPr>
            <p:cNvPr id="96" name="TextBox 96"/>
            <p:cNvSpPr txBox="1"/>
            <p:nvPr/>
          </p:nvSpPr>
          <p:spPr>
            <a:xfrm>
              <a:off x="10585323" y="2434114"/>
              <a:ext cx="35758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价值</a:t>
              </a:r>
            </a:p>
          </p:txBody>
        </p:sp>
        <p:grpSp>
          <p:nvGrpSpPr>
            <p:cNvPr id="105" name="stage-panel-1"/>
            <p:cNvGrpSpPr/>
            <p:nvPr/>
          </p:nvGrpSpPr>
          <p:grpSpPr>
            <a:xfrm>
              <a:off x="400050" y="2781300"/>
              <a:ext cx="1809750" cy="1181100"/>
              <a:chOff x="400050" y="2781300"/>
              <a:chExt cx="1809750" cy="1181100"/>
            </a:xfrm>
          </p:grpSpPr>
          <p:sp>
            <p:nvSpPr>
              <p:cNvPr id="97" name="Rectangle 97"/>
              <p:cNvSpPr/>
              <p:nvPr/>
            </p:nvSpPr>
            <p:spPr>
              <a:xfrm>
                <a:off x="400050" y="2781300"/>
                <a:ext cx="1809750" cy="1181100"/>
              </a:xfrm>
              <a:prstGeom prst="roundRect">
                <a:avLst>
                  <a:gd name="adj" fmla="val 4839"/>
                </a:avLst>
              </a:prstGeom>
              <a:solidFill>
                <a:srgbClr val="EEF3FB"/>
              </a:solidFill>
              <a:ln>
                <a:noFill/>
              </a:ln>
            </p:spPr>
          </p:sp>
          <p:grpSp>
            <p:nvGrpSpPr>
              <p:cNvPr id="102" name="Group 102"/>
              <p:cNvGrpSpPr/>
              <p:nvPr/>
            </p:nvGrpSpPr>
            <p:grpSpPr>
              <a:xfrm>
                <a:off x="1176338" y="2900362"/>
                <a:ext cx="257174" cy="257176"/>
                <a:chOff x="1176338" y="2900362"/>
                <a:chExt cx="257174" cy="257176"/>
              </a:xfrm>
            </p:grpSpPr>
            <p:sp>
              <p:nvSpPr>
                <p:cNvPr id="98" name="Freeform 98"/>
                <p:cNvSpPr/>
                <p:nvPr/>
              </p:nvSpPr>
              <p:spPr>
                <a:xfrm>
                  <a:off x="1204912" y="29003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1431">
                  <a:solidFill>
                    <a:srgbClr val="8A1700"/>
                  </a:solidFill>
                </a:ln>
              </p:spPr>
            </p:sp>
            <p:sp>
              <p:nvSpPr>
                <p:cNvPr id="99" name="Freeform 99"/>
                <p:cNvSpPr/>
                <p:nvPr/>
              </p:nvSpPr>
              <p:spPr>
                <a:xfrm>
                  <a:off x="1176338" y="307181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1431">
                  <a:solidFill>
                    <a:srgbClr val="8A1700"/>
                  </a:solidFill>
                </a:ln>
              </p:spPr>
            </p:sp>
            <p:sp>
              <p:nvSpPr>
                <p:cNvPr id="100" name="Freeform 100"/>
                <p:cNvSpPr/>
                <p:nvPr/>
              </p:nvSpPr>
              <p:spPr>
                <a:xfrm>
                  <a:off x="1362075" y="290222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1431">
                  <a:solidFill>
                    <a:srgbClr val="8A1700"/>
                  </a:solidFill>
                </a:ln>
              </p:spPr>
            </p:sp>
            <p:sp>
              <p:nvSpPr>
                <p:cNvPr id="101" name="Freeform 101"/>
                <p:cNvSpPr/>
                <p:nvPr/>
              </p:nvSpPr>
              <p:spPr>
                <a:xfrm>
                  <a:off x="1390650" y="307395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1431">
                  <a:solidFill>
                    <a:srgbClr val="8A1700"/>
                  </a:solidFill>
                </a:ln>
              </p:spPr>
            </p:sp>
          </p:grpSp>
          <p:sp>
            <p:nvSpPr>
              <p:cNvPr id="103" name="TextBox 103"/>
              <p:cNvSpPr txBox="1"/>
              <p:nvPr/>
            </p:nvSpPr>
            <p:spPr>
              <a:xfrm>
                <a:off x="920494" y="3348990"/>
                <a:ext cx="768862" cy="352044"/>
              </a:xfrm>
              <a:prstGeom prst="rect">
                <a:avLst/>
              </a:prstGeom>
              <a:noFill/>
              <a:ln>
                <a:noFill/>
              </a:ln>
            </p:spPr>
            <p:txBody>
              <a:bodyPr wrap="none" lIns="0" tIns="0" rIns="0" bIns="0" anchor="t" anchorCtr="0">
                <a:spAutoFit/>
              </a:bodyPr>
              <a:lstStyle/>
              <a:p>
                <a:pPr algn="ctr"/>
                <a:r>
                  <a:rPr lang="zh-CN" sz="1800" b="1" dirty="0">
                    <a:solidFill>
                      <a:srgbClr val="520E00"/>
                    </a:solidFill>
                    <a:latin typeface="+mn-lt"/>
                    <a:ea typeface="+mn-ea"/>
                    <a:cs typeface="+mn-cs"/>
                  </a:rPr>
                  <a:t>100%​</a:t>
                </a:r>
              </a:p>
            </p:txBody>
          </p:sp>
          <p:sp>
            <p:nvSpPr>
              <p:cNvPr id="104" name="TextBox 104"/>
              <p:cNvSpPr txBox="1"/>
              <p:nvPr/>
            </p:nvSpPr>
            <p:spPr>
              <a:xfrm>
                <a:off x="858609" y="3720941"/>
                <a:ext cx="892632"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发卡客户（基数）</a:t>
                </a:r>
              </a:p>
            </p:txBody>
          </p:sp>
        </p:grpSp>
        <p:grpSp>
          <p:nvGrpSpPr>
            <p:cNvPr id="113" name="stage-panel-2"/>
            <p:cNvGrpSpPr/>
            <p:nvPr/>
          </p:nvGrpSpPr>
          <p:grpSpPr>
            <a:xfrm>
              <a:off x="2743200" y="2781300"/>
              <a:ext cx="1809750" cy="1181100"/>
              <a:chOff x="2743200" y="2781300"/>
              <a:chExt cx="1809750" cy="1181100"/>
            </a:xfrm>
          </p:grpSpPr>
          <p:sp>
            <p:nvSpPr>
              <p:cNvPr id="106" name="Rectangle 106"/>
              <p:cNvSpPr/>
              <p:nvPr/>
            </p:nvSpPr>
            <p:spPr>
              <a:xfrm>
                <a:off x="2743200" y="2781300"/>
                <a:ext cx="1809750" cy="1181100"/>
              </a:xfrm>
              <a:prstGeom prst="roundRect">
                <a:avLst>
                  <a:gd name="adj" fmla="val 4839"/>
                </a:avLst>
              </a:prstGeom>
              <a:solidFill>
                <a:srgbClr val="EEF3FB"/>
              </a:solidFill>
              <a:ln>
                <a:noFill/>
              </a:ln>
            </p:spPr>
          </p:sp>
          <p:grpSp>
            <p:nvGrpSpPr>
              <p:cNvPr id="110" name="Group 110"/>
              <p:cNvGrpSpPr/>
              <p:nvPr/>
            </p:nvGrpSpPr>
            <p:grpSpPr>
              <a:xfrm>
                <a:off x="3562350" y="2900362"/>
                <a:ext cx="214313" cy="257176"/>
                <a:chOff x="3562350" y="2900362"/>
                <a:chExt cx="214313" cy="257176"/>
              </a:xfrm>
            </p:grpSpPr>
            <p:sp>
              <p:nvSpPr>
                <p:cNvPr id="107" name="Freeform 107"/>
                <p:cNvSpPr/>
                <p:nvPr/>
              </p:nvSpPr>
              <p:spPr>
                <a:xfrm>
                  <a:off x="3590925" y="29003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1431">
                  <a:solidFill>
                    <a:srgbClr val="8A1700"/>
                  </a:solidFill>
                </a:ln>
              </p:spPr>
            </p:sp>
            <p:sp>
              <p:nvSpPr>
                <p:cNvPr id="108" name="Freeform 108"/>
                <p:cNvSpPr/>
                <p:nvPr/>
              </p:nvSpPr>
              <p:spPr>
                <a:xfrm>
                  <a:off x="3562350" y="3071812"/>
                  <a:ext cx="114300" cy="85725"/>
                </a:xfrm>
                <a:custGeom>
                  <a:avLst/>
                  <a:gdLst/>
                  <a:ahLst/>
                  <a:cxnLst/>
                  <a:rect l="l" t="t" r="r" b="b"/>
                  <a:pathLst>
                    <a:path w="114300" h="85725">
                      <a:moveTo>
                        <a:pt x="0" y="85725"/>
                      </a:moveTo>
                      <a:lnTo>
                        <a:pt x="0" y="57150"/>
                      </a:lnTo>
                      <a:cubicBezTo>
                        <a:pt x="0" y="25587"/>
                        <a:pt x="25587" y="0"/>
                        <a:pt x="57150" y="0"/>
                      </a:cubicBezTo>
                      <a:lnTo>
                        <a:pt x="114300" y="0"/>
                      </a:lnTo>
                    </a:path>
                  </a:pathLst>
                </a:custGeom>
                <a:noFill/>
                <a:ln w="21431">
                  <a:solidFill>
                    <a:srgbClr val="8A1700"/>
                  </a:solidFill>
                </a:ln>
              </p:spPr>
            </p:sp>
            <p:sp>
              <p:nvSpPr>
                <p:cNvPr id="109" name="Freeform 109"/>
                <p:cNvSpPr/>
                <p:nvPr/>
              </p:nvSpPr>
              <p:spPr>
                <a:xfrm>
                  <a:off x="3690938" y="3100388"/>
                  <a:ext cx="85725" cy="57150"/>
                </a:xfrm>
                <a:custGeom>
                  <a:avLst/>
                  <a:gdLst/>
                  <a:ahLst/>
                  <a:cxnLst/>
                  <a:rect l="l" t="t" r="r" b="b"/>
                  <a:pathLst>
                    <a:path w="85725" h="57150">
                      <a:moveTo>
                        <a:pt x="0" y="28575"/>
                      </a:moveTo>
                      <a:lnTo>
                        <a:pt x="28575" y="57150"/>
                      </a:lnTo>
                      <a:lnTo>
                        <a:pt x="85725" y="0"/>
                      </a:lnTo>
                    </a:path>
                  </a:pathLst>
                </a:custGeom>
                <a:noFill/>
                <a:ln w="21431">
                  <a:solidFill>
                    <a:srgbClr val="8A1700"/>
                  </a:solidFill>
                </a:ln>
              </p:spPr>
            </p:sp>
          </p:grpSp>
          <p:sp>
            <p:nvSpPr>
              <p:cNvPr id="111" name="TextBox 111"/>
              <p:cNvSpPr txBox="1"/>
              <p:nvPr/>
            </p:nvSpPr>
            <p:spPr>
              <a:xfrm>
                <a:off x="3333613" y="3348990"/>
                <a:ext cx="628924" cy="352044"/>
              </a:xfrm>
              <a:prstGeom prst="rect">
                <a:avLst/>
              </a:prstGeom>
              <a:noFill/>
              <a:ln>
                <a:noFill/>
              </a:ln>
            </p:spPr>
            <p:txBody>
              <a:bodyPr wrap="none" lIns="0" tIns="0" rIns="0" bIns="0" anchor="t" anchorCtr="0">
                <a:spAutoFit/>
              </a:bodyPr>
              <a:lstStyle/>
              <a:p>
                <a:pPr algn="ctr"/>
                <a:r>
                  <a:rPr lang="zh-CN" sz="1800" b="1" dirty="0">
                    <a:solidFill>
                      <a:srgbClr val="520E00"/>
                    </a:solidFill>
                    <a:latin typeface="+mn-lt"/>
                    <a:ea typeface="+mn-ea"/>
                    <a:cs typeface="+mn-cs"/>
                  </a:rPr>
                  <a:t>75%​</a:t>
                </a:r>
              </a:p>
            </p:txBody>
          </p:sp>
          <p:sp>
            <p:nvSpPr>
              <p:cNvPr id="112" name="TextBox 112"/>
              <p:cNvSpPr txBox="1"/>
              <p:nvPr/>
            </p:nvSpPr>
            <p:spPr>
              <a:xfrm>
                <a:off x="3146565" y="3720941"/>
                <a:ext cx="1003021"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激活客户（留存率）</a:t>
                </a:r>
              </a:p>
            </p:txBody>
          </p:sp>
        </p:grpSp>
        <p:grpSp>
          <p:nvGrpSpPr>
            <p:cNvPr id="122" name="stage-panel-3"/>
            <p:cNvGrpSpPr/>
            <p:nvPr/>
          </p:nvGrpSpPr>
          <p:grpSpPr>
            <a:xfrm>
              <a:off x="5086350" y="2781300"/>
              <a:ext cx="1809750" cy="1181100"/>
              <a:chOff x="5086350" y="2781300"/>
              <a:chExt cx="1809750" cy="1181100"/>
            </a:xfrm>
          </p:grpSpPr>
          <p:sp>
            <p:nvSpPr>
              <p:cNvPr id="114" name="Rectangle 114"/>
              <p:cNvSpPr/>
              <p:nvPr/>
            </p:nvSpPr>
            <p:spPr>
              <a:xfrm>
                <a:off x="5086350" y="2781300"/>
                <a:ext cx="1809750" cy="1181100"/>
              </a:xfrm>
              <a:prstGeom prst="roundRect">
                <a:avLst>
                  <a:gd name="adj" fmla="val 4839"/>
                </a:avLst>
              </a:prstGeom>
              <a:solidFill>
                <a:srgbClr val="EEF3FB"/>
              </a:solidFill>
              <a:ln>
                <a:noFill/>
              </a:ln>
            </p:spPr>
          </p:sp>
          <p:grpSp>
            <p:nvGrpSpPr>
              <p:cNvPr id="119" name="Group 119"/>
              <p:cNvGrpSpPr/>
              <p:nvPr/>
            </p:nvGrpSpPr>
            <p:grpSpPr>
              <a:xfrm>
                <a:off x="5862638" y="2928938"/>
                <a:ext cx="257175" cy="200025"/>
                <a:chOff x="5862638" y="2928938"/>
                <a:chExt cx="257175" cy="200025"/>
              </a:xfrm>
            </p:grpSpPr>
            <p:sp>
              <p:nvSpPr>
                <p:cNvPr id="115" name="Freeform 115"/>
                <p:cNvSpPr/>
                <p:nvPr/>
              </p:nvSpPr>
              <p:spPr>
                <a:xfrm>
                  <a:off x="5862638" y="2928938"/>
                  <a:ext cx="257175" cy="200025"/>
                </a:xfrm>
                <a:custGeom>
                  <a:avLst/>
                  <a:gdLst/>
                  <a:ahLst/>
                  <a:cxnLst/>
                  <a:rect l="l" t="t" r="r" b="b"/>
                  <a:pathLst>
                    <a:path w="257175" h="200025">
                      <a:moveTo>
                        <a:pt x="0" y="42862"/>
                      </a:moveTo>
                      <a:cubicBezTo>
                        <a:pt x="0" y="19190"/>
                        <a:pt x="19190" y="0"/>
                        <a:pt x="42862" y="0"/>
                      </a:cubicBezTo>
                      <a:lnTo>
                        <a:pt x="214312" y="0"/>
                      </a:lnTo>
                      <a:cubicBezTo>
                        <a:pt x="237985" y="0"/>
                        <a:pt x="257175" y="19190"/>
                        <a:pt x="257175" y="42862"/>
                      </a:cubicBezTo>
                      <a:lnTo>
                        <a:pt x="257175" y="157162"/>
                      </a:lnTo>
                      <a:cubicBezTo>
                        <a:pt x="257175" y="180835"/>
                        <a:pt x="237985" y="200025"/>
                        <a:pt x="214312" y="200025"/>
                      </a:cubicBezTo>
                      <a:lnTo>
                        <a:pt x="42862" y="200025"/>
                      </a:lnTo>
                      <a:cubicBezTo>
                        <a:pt x="19190" y="200025"/>
                        <a:pt x="0" y="180835"/>
                        <a:pt x="0" y="157162"/>
                      </a:cubicBezTo>
                      <a:lnTo>
                        <a:pt x="0" y="42862"/>
                      </a:lnTo>
                    </a:path>
                  </a:pathLst>
                </a:custGeom>
                <a:noFill/>
                <a:ln w="21431">
                  <a:solidFill>
                    <a:srgbClr val="8A1700"/>
                  </a:solidFill>
                </a:ln>
              </p:spPr>
            </p:sp>
            <p:sp>
              <p:nvSpPr>
                <p:cNvPr id="116" name="Freeform 116"/>
                <p:cNvSpPr/>
                <p:nvPr/>
              </p:nvSpPr>
              <p:spPr>
                <a:xfrm>
                  <a:off x="5862638" y="3000375"/>
                  <a:ext cx="257175" cy="9525"/>
                </a:xfrm>
                <a:custGeom>
                  <a:avLst/>
                  <a:gdLst/>
                  <a:ahLst/>
                  <a:cxnLst/>
                  <a:rect l="l" t="t" r="r" b="b"/>
                  <a:pathLst>
                    <a:path w="257175" h="9525">
                      <a:moveTo>
                        <a:pt x="0" y="0"/>
                      </a:moveTo>
                      <a:lnTo>
                        <a:pt x="257175" y="0"/>
                      </a:lnTo>
                    </a:path>
                  </a:pathLst>
                </a:custGeom>
                <a:noFill/>
                <a:ln w="21431">
                  <a:solidFill>
                    <a:srgbClr val="8A1700"/>
                  </a:solidFill>
                </a:ln>
              </p:spPr>
            </p:sp>
            <p:sp>
              <p:nvSpPr>
                <p:cNvPr id="117" name="Freeform 117"/>
                <p:cNvSpPr/>
                <p:nvPr/>
              </p:nvSpPr>
              <p:spPr>
                <a:xfrm>
                  <a:off x="5919788" y="3071812"/>
                  <a:ext cx="9525" cy="9525"/>
                </a:xfrm>
                <a:custGeom>
                  <a:avLst/>
                  <a:gdLst/>
                  <a:ahLst/>
                  <a:cxnLst/>
                  <a:rect l="l" t="t" r="r" b="b"/>
                  <a:pathLst>
                    <a:path w="9525" h="9525">
                      <a:moveTo>
                        <a:pt x="0" y="0"/>
                      </a:moveTo>
                      <a:lnTo>
                        <a:pt x="143" y="0"/>
                      </a:lnTo>
                    </a:path>
                  </a:pathLst>
                </a:custGeom>
                <a:noFill/>
                <a:ln w="21431">
                  <a:solidFill>
                    <a:srgbClr val="8A1700"/>
                  </a:solidFill>
                </a:ln>
              </p:spPr>
            </p:sp>
            <p:sp>
              <p:nvSpPr>
                <p:cNvPr id="118" name="Freeform 118"/>
                <p:cNvSpPr/>
                <p:nvPr/>
              </p:nvSpPr>
              <p:spPr>
                <a:xfrm>
                  <a:off x="5976938" y="3071812"/>
                  <a:ext cx="28575" cy="9525"/>
                </a:xfrm>
                <a:custGeom>
                  <a:avLst/>
                  <a:gdLst/>
                  <a:ahLst/>
                  <a:cxnLst/>
                  <a:rect l="l" t="t" r="r" b="b"/>
                  <a:pathLst>
                    <a:path w="28575" h="9525">
                      <a:moveTo>
                        <a:pt x="0" y="0"/>
                      </a:moveTo>
                      <a:lnTo>
                        <a:pt x="28575" y="0"/>
                      </a:lnTo>
                    </a:path>
                  </a:pathLst>
                </a:custGeom>
                <a:noFill/>
                <a:ln w="21431">
                  <a:solidFill>
                    <a:srgbClr val="8A1700"/>
                  </a:solidFill>
                </a:ln>
              </p:spPr>
            </p:sp>
          </p:grpSp>
          <p:sp>
            <p:nvSpPr>
              <p:cNvPr id="120" name="TextBox 120"/>
              <p:cNvSpPr txBox="1"/>
              <p:nvPr/>
            </p:nvSpPr>
            <p:spPr>
              <a:xfrm>
                <a:off x="5676763" y="3348990"/>
                <a:ext cx="628924" cy="352044"/>
              </a:xfrm>
              <a:prstGeom prst="rect">
                <a:avLst/>
              </a:prstGeom>
              <a:noFill/>
              <a:ln>
                <a:noFill/>
              </a:ln>
            </p:spPr>
            <p:txBody>
              <a:bodyPr wrap="none" lIns="0" tIns="0" rIns="0" bIns="0" anchor="t" anchorCtr="0">
                <a:spAutoFit/>
              </a:bodyPr>
              <a:lstStyle/>
              <a:p>
                <a:pPr algn="ctr"/>
                <a:r>
                  <a:rPr lang="zh-CN" sz="1800" b="1" dirty="0">
                    <a:solidFill>
                      <a:srgbClr val="520E00"/>
                    </a:solidFill>
                    <a:latin typeface="+mn-lt"/>
                    <a:ea typeface="+mn-ea"/>
                    <a:cs typeface="+mn-cs"/>
                  </a:rPr>
                  <a:t>46%​</a:t>
                </a:r>
              </a:p>
            </p:txBody>
          </p:sp>
          <p:sp>
            <p:nvSpPr>
              <p:cNvPr id="121" name="TextBox 121"/>
              <p:cNvSpPr txBox="1"/>
              <p:nvPr/>
            </p:nvSpPr>
            <p:spPr>
              <a:xfrm>
                <a:off x="5489715" y="3720941"/>
                <a:ext cx="1003021"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首刷客户（留存率）</a:t>
                </a:r>
              </a:p>
            </p:txBody>
          </p:sp>
        </p:grpSp>
        <p:grpSp>
          <p:nvGrpSpPr>
            <p:cNvPr id="129" name="stage-panel-4"/>
            <p:cNvGrpSpPr/>
            <p:nvPr/>
          </p:nvGrpSpPr>
          <p:grpSpPr>
            <a:xfrm>
              <a:off x="7429500" y="2781300"/>
              <a:ext cx="1809750" cy="1181100"/>
              <a:chOff x="7429500" y="2781300"/>
              <a:chExt cx="1809750" cy="1181100"/>
            </a:xfrm>
          </p:grpSpPr>
          <p:sp>
            <p:nvSpPr>
              <p:cNvPr id="123" name="Rectangle 123"/>
              <p:cNvSpPr/>
              <p:nvPr/>
            </p:nvSpPr>
            <p:spPr>
              <a:xfrm>
                <a:off x="7429500" y="2781300"/>
                <a:ext cx="1809750" cy="1181100"/>
              </a:xfrm>
              <a:prstGeom prst="roundRect">
                <a:avLst>
                  <a:gd name="adj" fmla="val 4839"/>
                </a:avLst>
              </a:prstGeom>
              <a:solidFill>
                <a:srgbClr val="EEF3FB"/>
              </a:solidFill>
              <a:ln>
                <a:noFill/>
              </a:ln>
            </p:spPr>
          </p:sp>
          <p:grpSp>
            <p:nvGrpSpPr>
              <p:cNvPr id="126" name="Group 126"/>
              <p:cNvGrpSpPr/>
              <p:nvPr/>
            </p:nvGrpSpPr>
            <p:grpSpPr>
              <a:xfrm>
                <a:off x="8220075" y="2943225"/>
                <a:ext cx="228600" cy="195262"/>
                <a:chOff x="8220075" y="2943225"/>
                <a:chExt cx="228600" cy="195262"/>
              </a:xfrm>
            </p:grpSpPr>
            <p:sp>
              <p:nvSpPr>
                <p:cNvPr id="124" name="Freeform 124"/>
                <p:cNvSpPr/>
                <p:nvPr/>
              </p:nvSpPr>
              <p:spPr>
                <a:xfrm>
                  <a:off x="8220075" y="3128962"/>
                  <a:ext cx="228600" cy="9525"/>
                </a:xfrm>
                <a:custGeom>
                  <a:avLst/>
                  <a:gdLst/>
                  <a:ahLst/>
                  <a:cxnLst/>
                  <a:rect l="l" t="t" r="r" b="b"/>
                  <a:pathLst>
                    <a:path w="228600" h="9525">
                      <a:moveTo>
                        <a:pt x="0" y="0"/>
                      </a:moveTo>
                      <a:lnTo>
                        <a:pt x="228600" y="0"/>
                      </a:lnTo>
                    </a:path>
                  </a:pathLst>
                </a:custGeom>
                <a:noFill/>
                <a:ln w="21431">
                  <a:solidFill>
                    <a:srgbClr val="8A1700"/>
                  </a:solidFill>
                </a:ln>
              </p:spPr>
            </p:sp>
            <p:sp>
              <p:nvSpPr>
                <p:cNvPr id="125" name="Freeform 125"/>
                <p:cNvSpPr/>
                <p:nvPr/>
              </p:nvSpPr>
              <p:spPr>
                <a:xfrm>
                  <a:off x="8220075" y="2943225"/>
                  <a:ext cx="228600" cy="128588"/>
                </a:xfrm>
                <a:custGeom>
                  <a:avLst/>
                  <a:gdLst/>
                  <a:ahLst/>
                  <a:cxnLst/>
                  <a:rect l="l" t="t" r="r" b="b"/>
                  <a:pathLst>
                    <a:path w="228600" h="128588">
                      <a:moveTo>
                        <a:pt x="0" y="128588"/>
                      </a:moveTo>
                      <a:lnTo>
                        <a:pt x="57150" y="42862"/>
                      </a:lnTo>
                      <a:lnTo>
                        <a:pt x="114300" y="71438"/>
                      </a:lnTo>
                      <a:lnTo>
                        <a:pt x="171450" y="0"/>
                      </a:lnTo>
                      <a:lnTo>
                        <a:pt x="228600" y="57150"/>
                      </a:lnTo>
                    </a:path>
                  </a:pathLst>
                </a:custGeom>
                <a:noFill/>
                <a:ln w="21431">
                  <a:solidFill>
                    <a:srgbClr val="8A1700"/>
                  </a:solidFill>
                </a:ln>
              </p:spPr>
            </p:sp>
          </p:grpSp>
          <p:sp>
            <p:nvSpPr>
              <p:cNvPr id="127" name="TextBox 127"/>
              <p:cNvSpPr txBox="1"/>
              <p:nvPr/>
            </p:nvSpPr>
            <p:spPr>
              <a:xfrm>
                <a:off x="8019913" y="3348990"/>
                <a:ext cx="628924" cy="352044"/>
              </a:xfrm>
              <a:prstGeom prst="rect">
                <a:avLst/>
              </a:prstGeom>
              <a:noFill/>
              <a:ln>
                <a:noFill/>
              </a:ln>
            </p:spPr>
            <p:txBody>
              <a:bodyPr wrap="none" lIns="0" tIns="0" rIns="0" bIns="0" anchor="t" anchorCtr="0">
                <a:spAutoFit/>
              </a:bodyPr>
              <a:lstStyle/>
              <a:p>
                <a:pPr algn="ctr"/>
                <a:r>
                  <a:rPr lang="zh-CN" sz="1800" b="1" dirty="0">
                    <a:solidFill>
                      <a:srgbClr val="520E00"/>
                    </a:solidFill>
                    <a:latin typeface="+mn-lt"/>
                    <a:ea typeface="+mn-ea"/>
                    <a:cs typeface="+mn-cs"/>
                  </a:rPr>
                  <a:t>38%​</a:t>
                </a:r>
              </a:p>
            </p:txBody>
          </p:sp>
          <p:sp>
            <p:nvSpPr>
              <p:cNvPr id="128" name="TextBox 128"/>
              <p:cNvSpPr txBox="1"/>
              <p:nvPr/>
            </p:nvSpPr>
            <p:spPr>
              <a:xfrm>
                <a:off x="7832865" y="3720941"/>
                <a:ext cx="1003021"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月活客户（留存率）</a:t>
                </a:r>
              </a:p>
            </p:txBody>
          </p:sp>
        </p:grpSp>
        <p:grpSp>
          <p:nvGrpSpPr>
            <p:cNvPr id="135" name="stage-panel-5"/>
            <p:cNvGrpSpPr/>
            <p:nvPr/>
          </p:nvGrpSpPr>
          <p:grpSpPr>
            <a:xfrm>
              <a:off x="9772650" y="2781300"/>
              <a:ext cx="1809750" cy="1181100"/>
              <a:chOff x="9772650" y="2781300"/>
              <a:chExt cx="1809750" cy="1181100"/>
            </a:xfrm>
          </p:grpSpPr>
          <p:sp>
            <p:nvSpPr>
              <p:cNvPr id="130" name="Rectangle 130"/>
              <p:cNvSpPr/>
              <p:nvPr/>
            </p:nvSpPr>
            <p:spPr>
              <a:xfrm>
                <a:off x="9772650" y="2781300"/>
                <a:ext cx="1809750" cy="1181100"/>
              </a:xfrm>
              <a:prstGeom prst="roundRect">
                <a:avLst>
                  <a:gd name="adj" fmla="val 4839"/>
                </a:avLst>
              </a:prstGeom>
              <a:solidFill>
                <a:srgbClr val="EEF3FB"/>
              </a:solidFill>
              <a:ln>
                <a:noFill/>
              </a:ln>
            </p:spPr>
          </p:sp>
          <p:grpSp>
            <p:nvGrpSpPr>
              <p:cNvPr id="133" name="Group 133"/>
              <p:cNvGrpSpPr/>
              <p:nvPr/>
            </p:nvGrpSpPr>
            <p:grpSpPr>
              <a:xfrm>
                <a:off x="10548938" y="2967038"/>
                <a:ext cx="257175" cy="210171"/>
                <a:chOff x="10548938" y="2967038"/>
                <a:chExt cx="257175" cy="210171"/>
              </a:xfrm>
            </p:grpSpPr>
            <p:sp>
              <p:nvSpPr>
                <p:cNvPr id="131" name="Freeform 131"/>
                <p:cNvSpPr/>
                <p:nvPr/>
              </p:nvSpPr>
              <p:spPr>
                <a:xfrm>
                  <a:off x="10548938" y="2967038"/>
                  <a:ext cx="257175" cy="210171"/>
                </a:xfrm>
                <a:custGeom>
                  <a:avLst/>
                  <a:gdLst/>
                  <a:ahLst/>
                  <a:cxnLst/>
                  <a:rect l="l" t="t" r="r" b="b"/>
                  <a:pathLst>
                    <a:path w="257175" h="210171">
                      <a:moveTo>
                        <a:pt x="42862" y="0"/>
                      </a:moveTo>
                      <a:lnTo>
                        <a:pt x="214312" y="0"/>
                      </a:lnTo>
                      <a:lnTo>
                        <a:pt x="257175" y="71438"/>
                      </a:lnTo>
                      <a:lnTo>
                        <a:pt x="135731" y="207169"/>
                      </a:lnTo>
                      <a:cubicBezTo>
                        <a:pt x="133850" y="209089"/>
                        <a:pt x="131275" y="210171"/>
                        <a:pt x="128588" y="210171"/>
                      </a:cubicBezTo>
                      <a:cubicBezTo>
                        <a:pt x="125900" y="210171"/>
                        <a:pt x="123325" y="209089"/>
                        <a:pt x="121444" y="207169"/>
                      </a:cubicBezTo>
                      <a:lnTo>
                        <a:pt x="0" y="71438"/>
                      </a:lnTo>
                      <a:lnTo>
                        <a:pt x="42862" y="0"/>
                      </a:lnTo>
                    </a:path>
                  </a:pathLst>
                </a:custGeom>
                <a:noFill/>
                <a:ln w="21431">
                  <a:solidFill>
                    <a:srgbClr val="8A1700"/>
                  </a:solidFill>
                </a:ln>
              </p:spPr>
            </p:sp>
            <p:sp>
              <p:nvSpPr>
                <p:cNvPr id="132" name="Freeform 132"/>
                <p:cNvSpPr/>
                <p:nvPr/>
              </p:nvSpPr>
              <p:spPr>
                <a:xfrm>
                  <a:off x="10620375" y="3021330"/>
                  <a:ext cx="28575" cy="45720"/>
                </a:xfrm>
                <a:custGeom>
                  <a:avLst/>
                  <a:gdLst/>
                  <a:ahLst/>
                  <a:cxnLst/>
                  <a:rect l="l" t="t" r="r" b="b"/>
                  <a:pathLst>
                    <a:path w="28575" h="45720">
                      <a:moveTo>
                        <a:pt x="28575" y="45720"/>
                      </a:moveTo>
                      <a:lnTo>
                        <a:pt x="0" y="14288"/>
                      </a:lnTo>
                      <a:lnTo>
                        <a:pt x="8573" y="0"/>
                      </a:lnTo>
                    </a:path>
                  </a:pathLst>
                </a:custGeom>
                <a:noFill/>
                <a:ln w="21431">
                  <a:solidFill>
                    <a:srgbClr val="8A1700"/>
                  </a:solidFill>
                </a:ln>
              </p:spPr>
            </p:sp>
          </p:grpSp>
          <p:sp>
            <p:nvSpPr>
              <p:cNvPr id="134" name="TextBox 134"/>
              <p:cNvSpPr txBox="1"/>
              <p:nvPr/>
            </p:nvSpPr>
            <p:spPr>
              <a:xfrm>
                <a:off x="10176015" y="3720941"/>
                <a:ext cx="1003021"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高价值客户（目标）</a:t>
                </a:r>
              </a:p>
            </p:txBody>
          </p:sp>
        </p:grpSp>
        <p:grpSp>
          <p:nvGrpSpPr>
            <p:cNvPr id="141" name="loss-node-1"/>
            <p:cNvGrpSpPr/>
            <p:nvPr/>
          </p:nvGrpSpPr>
          <p:grpSpPr>
            <a:xfrm>
              <a:off x="2213267" y="2781300"/>
              <a:ext cx="526466" cy="1009888"/>
              <a:chOff x="2213267" y="2781300"/>
              <a:chExt cx="526466" cy="1009888"/>
            </a:xfrm>
          </p:grpSpPr>
          <p:sp>
            <p:nvSpPr>
              <p:cNvPr id="136" name="Line 136"/>
              <p:cNvSpPr/>
              <p:nvPr/>
            </p:nvSpPr>
            <p:spPr>
              <a:xfrm>
                <a:off x="2476500" y="2781300"/>
                <a:ext cx="9525" cy="419100"/>
              </a:xfrm>
              <a:custGeom>
                <a:avLst/>
                <a:gdLst/>
                <a:ahLst/>
                <a:cxnLst/>
                <a:rect l="l" t="t" r="r" b="b"/>
                <a:pathLst>
                  <a:path w="9525" h="419100">
                    <a:moveTo>
                      <a:pt x="0" y="0"/>
                    </a:moveTo>
                    <a:lnTo>
                      <a:pt x="0" y="419100"/>
                    </a:lnTo>
                  </a:path>
                </a:pathLst>
              </a:custGeom>
              <a:noFill/>
              <a:ln w="14288">
                <a:solidFill>
                  <a:srgbClr val="C02C0A"/>
                </a:solidFill>
                <a:custDash>
                  <a:ds d="266667" sp="200000"/>
                </a:custDash>
              </a:ln>
            </p:spPr>
          </p:sp>
          <p:sp>
            <p:nvSpPr>
              <p:cNvPr id="137" name="Ellipse 137"/>
              <p:cNvSpPr/>
              <p:nvPr/>
            </p:nvSpPr>
            <p:spPr>
              <a:xfrm>
                <a:off x="2381250" y="3219450"/>
                <a:ext cx="190500" cy="190500"/>
              </a:xfrm>
              <a:prstGeom prst="ellipse">
                <a:avLst/>
              </a:prstGeom>
              <a:solidFill>
                <a:srgbClr val="C02C0A"/>
              </a:solidFill>
              <a:ln>
                <a:noFill/>
              </a:ln>
            </p:spPr>
          </p:sp>
          <p:sp>
            <p:nvSpPr>
              <p:cNvPr id="138" name="TextBox 138"/>
              <p:cNvSpPr txBox="1"/>
              <p:nvPr/>
            </p:nvSpPr>
            <p:spPr>
              <a:xfrm>
                <a:off x="2450768" y="3257074"/>
                <a:ext cx="51463"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a:t>
                </a:r>
              </a:p>
            </p:txBody>
          </p:sp>
          <p:sp>
            <p:nvSpPr>
              <p:cNvPr id="139" name="TextBox 139"/>
              <p:cNvSpPr txBox="1"/>
              <p:nvPr/>
            </p:nvSpPr>
            <p:spPr>
              <a:xfrm>
                <a:off x="2242884" y="3527584"/>
                <a:ext cx="467233" cy="133350"/>
              </a:xfrm>
              <a:prstGeom prst="rect">
                <a:avLst/>
              </a:prstGeom>
              <a:noFill/>
              <a:ln>
                <a:noFill/>
              </a:ln>
            </p:spPr>
            <p:txBody>
              <a:bodyPr wrap="none" lIns="0" tIns="0" rIns="0" bIns="0" anchor="t" anchorCtr="0">
                <a:spAutoFit/>
              </a:bodyPr>
              <a:lstStyle/>
              <a:p>
                <a:pPr algn="ctr"/>
                <a:r>
                  <a:rPr lang="zh-CN" sz="680" b="1" dirty="0">
                    <a:solidFill>
                      <a:srgbClr val="C02C0A"/>
                    </a:solidFill>
                    <a:latin typeface="+mn-lt"/>
                    <a:ea typeface="+mn-ea"/>
                    <a:cs typeface="+mn-cs"/>
                  </a:rPr>
                  <a:t>未激活流失</a:t>
                </a:r>
              </a:p>
            </p:txBody>
          </p:sp>
          <p:sp>
            <p:nvSpPr>
              <p:cNvPr id="140" name="TextBox 140"/>
              <p:cNvSpPr txBox="1"/>
              <p:nvPr/>
            </p:nvSpPr>
            <p:spPr>
              <a:xfrm>
                <a:off x="2213267" y="3664982"/>
                <a:ext cx="526466" cy="126206"/>
              </a:xfrm>
              <a:prstGeom prst="rect">
                <a:avLst/>
              </a:prstGeom>
              <a:noFill/>
              <a:ln>
                <a:noFill/>
              </a:ln>
            </p:spPr>
            <p:txBody>
              <a:bodyPr wrap="none" lIns="0" tIns="0" rIns="0" bIns="0" anchor="t" anchorCtr="0">
                <a:spAutoFit/>
              </a:bodyPr>
              <a:lstStyle/>
              <a:p>
                <a:pPr algn="ctr"/>
                <a:r>
                  <a:rPr lang="zh-CN" sz="640" dirty="0">
                    <a:solidFill>
                      <a:srgbClr val="C02C0A"/>
                    </a:solidFill>
                    <a:latin typeface="+mn-lt"/>
                    <a:ea typeface="+mn-ea"/>
                    <a:cs typeface="+mn-cs"/>
                  </a:rPr>
                  <a:t>（方案示例）</a:t>
                </a:r>
              </a:p>
            </p:txBody>
          </p:sp>
        </p:grpSp>
        <p:grpSp>
          <p:nvGrpSpPr>
            <p:cNvPr id="147" name="loss-node-2"/>
            <p:cNvGrpSpPr/>
            <p:nvPr/>
          </p:nvGrpSpPr>
          <p:grpSpPr>
            <a:xfrm>
              <a:off x="4556417" y="2781300"/>
              <a:ext cx="526466" cy="1009888"/>
              <a:chOff x="4556417" y="2781300"/>
              <a:chExt cx="526466" cy="1009888"/>
            </a:xfrm>
          </p:grpSpPr>
          <p:sp>
            <p:nvSpPr>
              <p:cNvPr id="142" name="Line 142"/>
              <p:cNvSpPr/>
              <p:nvPr/>
            </p:nvSpPr>
            <p:spPr>
              <a:xfrm>
                <a:off x="4819650" y="2781300"/>
                <a:ext cx="9525" cy="419100"/>
              </a:xfrm>
              <a:custGeom>
                <a:avLst/>
                <a:gdLst/>
                <a:ahLst/>
                <a:cxnLst/>
                <a:rect l="l" t="t" r="r" b="b"/>
                <a:pathLst>
                  <a:path w="9525" h="419100">
                    <a:moveTo>
                      <a:pt x="0" y="0"/>
                    </a:moveTo>
                    <a:lnTo>
                      <a:pt x="0" y="419100"/>
                    </a:lnTo>
                  </a:path>
                </a:pathLst>
              </a:custGeom>
              <a:noFill/>
              <a:ln w="14288">
                <a:solidFill>
                  <a:srgbClr val="C02C0A"/>
                </a:solidFill>
                <a:custDash>
                  <a:ds d="266667" sp="200000"/>
                </a:custDash>
              </a:ln>
            </p:spPr>
          </p:sp>
          <p:sp>
            <p:nvSpPr>
              <p:cNvPr id="143" name="Ellipse 143"/>
              <p:cNvSpPr/>
              <p:nvPr/>
            </p:nvSpPr>
            <p:spPr>
              <a:xfrm>
                <a:off x="4724400" y="3219450"/>
                <a:ext cx="190500" cy="190500"/>
              </a:xfrm>
              <a:prstGeom prst="ellipse">
                <a:avLst/>
              </a:prstGeom>
              <a:solidFill>
                <a:srgbClr val="C02C0A"/>
              </a:solidFill>
              <a:ln>
                <a:noFill/>
              </a:ln>
            </p:spPr>
          </p:sp>
          <p:sp>
            <p:nvSpPr>
              <p:cNvPr id="144" name="TextBox 144"/>
              <p:cNvSpPr txBox="1"/>
              <p:nvPr/>
            </p:nvSpPr>
            <p:spPr>
              <a:xfrm>
                <a:off x="4793918" y="3257074"/>
                <a:ext cx="51463"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a:t>
                </a:r>
              </a:p>
            </p:txBody>
          </p:sp>
          <p:sp>
            <p:nvSpPr>
              <p:cNvPr id="145" name="TextBox 145"/>
              <p:cNvSpPr txBox="1"/>
              <p:nvPr/>
            </p:nvSpPr>
            <p:spPr>
              <a:xfrm>
                <a:off x="4586034" y="3527584"/>
                <a:ext cx="467233" cy="133350"/>
              </a:xfrm>
              <a:prstGeom prst="rect">
                <a:avLst/>
              </a:prstGeom>
              <a:noFill/>
              <a:ln>
                <a:noFill/>
              </a:ln>
            </p:spPr>
            <p:txBody>
              <a:bodyPr wrap="none" lIns="0" tIns="0" rIns="0" bIns="0" anchor="t" anchorCtr="0">
                <a:spAutoFit/>
              </a:bodyPr>
              <a:lstStyle/>
              <a:p>
                <a:pPr algn="ctr"/>
                <a:r>
                  <a:rPr lang="zh-CN" sz="680" b="1" dirty="0">
                    <a:solidFill>
                      <a:srgbClr val="C02C0A"/>
                    </a:solidFill>
                    <a:latin typeface="+mn-lt"/>
                    <a:ea typeface="+mn-ea"/>
                    <a:cs typeface="+mn-cs"/>
                  </a:rPr>
                  <a:t>未首刷流失</a:t>
                </a:r>
              </a:p>
            </p:txBody>
          </p:sp>
          <p:sp>
            <p:nvSpPr>
              <p:cNvPr id="146" name="TextBox 146"/>
              <p:cNvSpPr txBox="1"/>
              <p:nvPr/>
            </p:nvSpPr>
            <p:spPr>
              <a:xfrm>
                <a:off x="4556417" y="3664982"/>
                <a:ext cx="526466" cy="126206"/>
              </a:xfrm>
              <a:prstGeom prst="rect">
                <a:avLst/>
              </a:prstGeom>
              <a:noFill/>
              <a:ln>
                <a:noFill/>
              </a:ln>
            </p:spPr>
            <p:txBody>
              <a:bodyPr wrap="none" lIns="0" tIns="0" rIns="0" bIns="0" anchor="t" anchorCtr="0">
                <a:spAutoFit/>
              </a:bodyPr>
              <a:lstStyle/>
              <a:p>
                <a:pPr algn="ctr"/>
                <a:r>
                  <a:rPr lang="zh-CN" sz="640" dirty="0">
                    <a:solidFill>
                      <a:srgbClr val="C02C0A"/>
                    </a:solidFill>
                    <a:latin typeface="+mn-lt"/>
                    <a:ea typeface="+mn-ea"/>
                    <a:cs typeface="+mn-cs"/>
                  </a:rPr>
                  <a:t>（方案示例）</a:t>
                </a:r>
              </a:p>
            </p:txBody>
          </p:sp>
        </p:grpSp>
        <p:grpSp>
          <p:nvGrpSpPr>
            <p:cNvPr id="153" name="loss-node-3"/>
            <p:cNvGrpSpPr/>
            <p:nvPr/>
          </p:nvGrpSpPr>
          <p:grpSpPr>
            <a:xfrm>
              <a:off x="6899567" y="2781300"/>
              <a:ext cx="526466" cy="1009888"/>
              <a:chOff x="6899567" y="2781300"/>
              <a:chExt cx="526466" cy="1009888"/>
            </a:xfrm>
          </p:grpSpPr>
          <p:sp>
            <p:nvSpPr>
              <p:cNvPr id="148" name="Line 148"/>
              <p:cNvSpPr/>
              <p:nvPr/>
            </p:nvSpPr>
            <p:spPr>
              <a:xfrm>
                <a:off x="7162800" y="2781300"/>
                <a:ext cx="9525" cy="419100"/>
              </a:xfrm>
              <a:custGeom>
                <a:avLst/>
                <a:gdLst/>
                <a:ahLst/>
                <a:cxnLst/>
                <a:rect l="l" t="t" r="r" b="b"/>
                <a:pathLst>
                  <a:path w="9525" h="419100">
                    <a:moveTo>
                      <a:pt x="0" y="0"/>
                    </a:moveTo>
                    <a:lnTo>
                      <a:pt x="0" y="419100"/>
                    </a:lnTo>
                  </a:path>
                </a:pathLst>
              </a:custGeom>
              <a:noFill/>
              <a:ln w="14288">
                <a:solidFill>
                  <a:srgbClr val="C02C0A"/>
                </a:solidFill>
                <a:custDash>
                  <a:ds d="266667" sp="200000"/>
                </a:custDash>
              </a:ln>
            </p:spPr>
          </p:sp>
          <p:sp>
            <p:nvSpPr>
              <p:cNvPr id="149" name="Ellipse 149"/>
              <p:cNvSpPr/>
              <p:nvPr/>
            </p:nvSpPr>
            <p:spPr>
              <a:xfrm>
                <a:off x="7067550" y="3219450"/>
                <a:ext cx="190500" cy="190500"/>
              </a:xfrm>
              <a:prstGeom prst="ellipse">
                <a:avLst/>
              </a:prstGeom>
              <a:solidFill>
                <a:srgbClr val="C02C0A"/>
              </a:solidFill>
              <a:ln>
                <a:noFill/>
              </a:ln>
            </p:spPr>
          </p:sp>
          <p:sp>
            <p:nvSpPr>
              <p:cNvPr id="150" name="TextBox 150"/>
              <p:cNvSpPr txBox="1"/>
              <p:nvPr/>
            </p:nvSpPr>
            <p:spPr>
              <a:xfrm>
                <a:off x="7137068" y="3257074"/>
                <a:ext cx="51463"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a:t>
                </a:r>
              </a:p>
            </p:txBody>
          </p:sp>
          <p:sp>
            <p:nvSpPr>
              <p:cNvPr id="151" name="TextBox 151"/>
              <p:cNvSpPr txBox="1"/>
              <p:nvPr/>
            </p:nvSpPr>
            <p:spPr>
              <a:xfrm>
                <a:off x="6929184" y="3527584"/>
                <a:ext cx="467233" cy="133350"/>
              </a:xfrm>
              <a:prstGeom prst="rect">
                <a:avLst/>
              </a:prstGeom>
              <a:noFill/>
              <a:ln>
                <a:noFill/>
              </a:ln>
            </p:spPr>
            <p:txBody>
              <a:bodyPr wrap="none" lIns="0" tIns="0" rIns="0" bIns="0" anchor="t" anchorCtr="0">
                <a:spAutoFit/>
              </a:bodyPr>
              <a:lstStyle/>
              <a:p>
                <a:pPr algn="ctr"/>
                <a:r>
                  <a:rPr lang="zh-CN" sz="680" b="1" dirty="0">
                    <a:solidFill>
                      <a:srgbClr val="C02C0A"/>
                    </a:solidFill>
                    <a:latin typeface="+mn-lt"/>
                    <a:ea typeface="+mn-ea"/>
                    <a:cs typeface="+mn-cs"/>
                  </a:rPr>
                  <a:t>未活跃流失</a:t>
                </a:r>
              </a:p>
            </p:txBody>
          </p:sp>
          <p:sp>
            <p:nvSpPr>
              <p:cNvPr id="152" name="TextBox 152"/>
              <p:cNvSpPr txBox="1"/>
              <p:nvPr/>
            </p:nvSpPr>
            <p:spPr>
              <a:xfrm>
                <a:off x="6899567" y="3664982"/>
                <a:ext cx="526466" cy="126206"/>
              </a:xfrm>
              <a:prstGeom prst="rect">
                <a:avLst/>
              </a:prstGeom>
              <a:noFill/>
              <a:ln>
                <a:noFill/>
              </a:ln>
            </p:spPr>
            <p:txBody>
              <a:bodyPr wrap="none" lIns="0" tIns="0" rIns="0" bIns="0" anchor="t" anchorCtr="0">
                <a:spAutoFit/>
              </a:bodyPr>
              <a:lstStyle/>
              <a:p>
                <a:pPr algn="ctr"/>
                <a:r>
                  <a:rPr lang="zh-CN" sz="640" dirty="0">
                    <a:solidFill>
                      <a:srgbClr val="C02C0A"/>
                    </a:solidFill>
                    <a:latin typeface="+mn-lt"/>
                    <a:ea typeface="+mn-ea"/>
                    <a:cs typeface="+mn-cs"/>
                  </a:rPr>
                  <a:t>（方案示例）</a:t>
                </a:r>
              </a:p>
            </p:txBody>
          </p:sp>
        </p:grpSp>
        <p:grpSp>
          <p:nvGrpSpPr>
            <p:cNvPr id="159" name="loss-node-4"/>
            <p:cNvGrpSpPr/>
            <p:nvPr/>
          </p:nvGrpSpPr>
          <p:grpSpPr>
            <a:xfrm>
              <a:off x="9242717" y="2781300"/>
              <a:ext cx="526466" cy="1009888"/>
              <a:chOff x="9242717" y="2781300"/>
              <a:chExt cx="526466" cy="1009888"/>
            </a:xfrm>
          </p:grpSpPr>
          <p:sp>
            <p:nvSpPr>
              <p:cNvPr id="154" name="Line 154"/>
              <p:cNvSpPr/>
              <p:nvPr/>
            </p:nvSpPr>
            <p:spPr>
              <a:xfrm>
                <a:off x="9505950" y="2781300"/>
                <a:ext cx="9525" cy="419100"/>
              </a:xfrm>
              <a:custGeom>
                <a:avLst/>
                <a:gdLst/>
                <a:ahLst/>
                <a:cxnLst/>
                <a:rect l="l" t="t" r="r" b="b"/>
                <a:pathLst>
                  <a:path w="9525" h="419100">
                    <a:moveTo>
                      <a:pt x="0" y="0"/>
                    </a:moveTo>
                    <a:lnTo>
                      <a:pt x="0" y="419100"/>
                    </a:lnTo>
                  </a:path>
                </a:pathLst>
              </a:custGeom>
              <a:noFill/>
              <a:ln w="14288">
                <a:solidFill>
                  <a:srgbClr val="C02C0A"/>
                </a:solidFill>
                <a:custDash>
                  <a:ds d="266667" sp="200000"/>
                </a:custDash>
              </a:ln>
            </p:spPr>
          </p:sp>
          <p:sp>
            <p:nvSpPr>
              <p:cNvPr id="155" name="Ellipse 155"/>
              <p:cNvSpPr/>
              <p:nvPr/>
            </p:nvSpPr>
            <p:spPr>
              <a:xfrm>
                <a:off x="9410700" y="3219450"/>
                <a:ext cx="190500" cy="190500"/>
              </a:xfrm>
              <a:prstGeom prst="ellipse">
                <a:avLst/>
              </a:prstGeom>
              <a:solidFill>
                <a:srgbClr val="C02C0A"/>
              </a:solidFill>
              <a:ln>
                <a:noFill/>
              </a:ln>
            </p:spPr>
          </p:sp>
          <p:sp>
            <p:nvSpPr>
              <p:cNvPr id="156" name="TextBox 156"/>
              <p:cNvSpPr txBox="1"/>
              <p:nvPr/>
            </p:nvSpPr>
            <p:spPr>
              <a:xfrm>
                <a:off x="9480218" y="3257074"/>
                <a:ext cx="51463"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a:t>
                </a:r>
              </a:p>
            </p:txBody>
          </p:sp>
          <p:sp>
            <p:nvSpPr>
              <p:cNvPr id="157" name="TextBox 157"/>
              <p:cNvSpPr txBox="1"/>
              <p:nvPr/>
            </p:nvSpPr>
            <p:spPr>
              <a:xfrm>
                <a:off x="9318104" y="3527584"/>
                <a:ext cx="375691" cy="133350"/>
              </a:xfrm>
              <a:prstGeom prst="rect">
                <a:avLst/>
              </a:prstGeom>
              <a:noFill/>
              <a:ln>
                <a:noFill/>
              </a:ln>
            </p:spPr>
            <p:txBody>
              <a:bodyPr wrap="none" lIns="0" tIns="0" rIns="0" bIns="0" anchor="t" anchorCtr="0">
                <a:spAutoFit/>
              </a:bodyPr>
              <a:lstStyle/>
              <a:p>
                <a:pPr algn="ctr"/>
                <a:r>
                  <a:rPr lang="zh-CN" sz="680" b="1" dirty="0">
                    <a:solidFill>
                      <a:srgbClr val="C02C0A"/>
                    </a:solidFill>
                    <a:latin typeface="+mn-lt"/>
                    <a:ea typeface="+mn-ea"/>
                    <a:cs typeface="+mn-cs"/>
                  </a:rPr>
                  <a:t>价值流失</a:t>
                </a:r>
              </a:p>
            </p:txBody>
          </p:sp>
          <p:sp>
            <p:nvSpPr>
              <p:cNvPr id="158" name="TextBox 158"/>
              <p:cNvSpPr txBox="1"/>
              <p:nvPr/>
            </p:nvSpPr>
            <p:spPr>
              <a:xfrm>
                <a:off x="9242717" y="3664982"/>
                <a:ext cx="526466" cy="126206"/>
              </a:xfrm>
              <a:prstGeom prst="rect">
                <a:avLst/>
              </a:prstGeom>
              <a:noFill/>
              <a:ln>
                <a:noFill/>
              </a:ln>
            </p:spPr>
            <p:txBody>
              <a:bodyPr wrap="none" lIns="0" tIns="0" rIns="0" bIns="0" anchor="t" anchorCtr="0">
                <a:spAutoFit/>
              </a:bodyPr>
              <a:lstStyle/>
              <a:p>
                <a:pPr algn="ctr"/>
                <a:r>
                  <a:rPr lang="zh-CN" sz="640" dirty="0">
                    <a:solidFill>
                      <a:srgbClr val="C02C0A"/>
                    </a:solidFill>
                    <a:latin typeface="+mn-lt"/>
                    <a:ea typeface="+mn-ea"/>
                    <a:cs typeface="+mn-cs"/>
                  </a:rPr>
                  <a:t>（方案示例）</a:t>
                </a:r>
              </a:p>
            </p:txBody>
          </p:sp>
        </p:grpSp>
      </p:grpSp>
      <p:grpSp>
        <p:nvGrpSpPr>
          <p:cNvPr id="195" name="root-causes"/>
          <p:cNvGrpSpPr/>
          <p:nvPr/>
        </p:nvGrpSpPr>
        <p:grpSpPr>
          <a:xfrm>
            <a:off x="228600" y="4212431"/>
            <a:ext cx="11544300" cy="1635919"/>
            <a:chOff x="228600" y="4212431"/>
            <a:chExt cx="11544300" cy="1635919"/>
          </a:xfrm>
        </p:grpSpPr>
        <p:sp>
          <p:nvSpPr>
            <p:cNvPr id="161" name="Line 161"/>
            <p:cNvSpPr/>
            <p:nvPr/>
          </p:nvSpPr>
          <p:spPr>
            <a:xfrm>
              <a:off x="228600" y="4286250"/>
              <a:ext cx="4533900" cy="9525"/>
            </a:xfrm>
            <a:custGeom>
              <a:avLst/>
              <a:gdLst/>
              <a:ahLst/>
              <a:cxnLst/>
              <a:rect l="l" t="t" r="r" b="b"/>
              <a:pathLst>
                <a:path w="4533900" h="9525">
                  <a:moveTo>
                    <a:pt x="0" y="0"/>
                  </a:moveTo>
                  <a:lnTo>
                    <a:pt x="4533900" y="0"/>
                  </a:lnTo>
                </a:path>
              </a:pathLst>
            </a:custGeom>
            <a:noFill/>
            <a:ln w="9525">
              <a:solidFill>
                <a:srgbClr val="C9D5EA"/>
              </a:solidFill>
            </a:ln>
          </p:spPr>
        </p:sp>
        <p:sp>
          <p:nvSpPr>
            <p:cNvPr id="162" name="Line 162"/>
            <p:cNvSpPr/>
            <p:nvPr/>
          </p:nvSpPr>
          <p:spPr>
            <a:xfrm>
              <a:off x="7429500" y="4286250"/>
              <a:ext cx="4343400" cy="9525"/>
            </a:xfrm>
            <a:custGeom>
              <a:avLst/>
              <a:gdLst/>
              <a:ahLst/>
              <a:cxnLst/>
              <a:rect l="l" t="t" r="r" b="b"/>
              <a:pathLst>
                <a:path w="4343400" h="9525">
                  <a:moveTo>
                    <a:pt x="0" y="0"/>
                  </a:moveTo>
                  <a:lnTo>
                    <a:pt x="4343400" y="0"/>
                  </a:lnTo>
                </a:path>
              </a:pathLst>
            </a:custGeom>
            <a:noFill/>
            <a:ln w="9525">
              <a:solidFill>
                <a:srgbClr val="C9D5EA"/>
              </a:solidFill>
            </a:ln>
          </p:spPr>
        </p:sp>
        <p:sp>
          <p:nvSpPr>
            <p:cNvPr id="163" name="TextBox 163"/>
            <p:cNvSpPr txBox="1"/>
            <p:nvPr/>
          </p:nvSpPr>
          <p:spPr>
            <a:xfrm>
              <a:off x="5306797" y="4212431"/>
              <a:ext cx="1578407"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核心问题根因</a:t>
              </a:r>
              <a:r>
                <a:rPr lang="zh-CN" sz="820" dirty="0">
                  <a:solidFill>
                    <a:srgbClr val="6B7280"/>
                  </a:solidFill>
                  <a:latin typeface="+mn-lt"/>
                  <a:ea typeface="+mn-ea"/>
                  <a:cs typeface="+mn-cs"/>
                </a:rPr>
                <a:t>（方案示例）</a:t>
              </a:r>
            </a:p>
          </p:txBody>
        </p:sp>
        <p:grpSp>
          <p:nvGrpSpPr>
            <p:cNvPr id="171" name="cause-1"/>
            <p:cNvGrpSpPr/>
            <p:nvPr/>
          </p:nvGrpSpPr>
          <p:grpSpPr>
            <a:xfrm>
              <a:off x="228600" y="4457700"/>
              <a:ext cx="2800350" cy="1390650"/>
              <a:chOff x="228600" y="4457700"/>
              <a:chExt cx="2800350" cy="1390650"/>
            </a:xfrm>
          </p:grpSpPr>
          <p:sp>
            <p:nvSpPr>
              <p:cNvPr id="164" name="Rectangle 164"/>
              <p:cNvSpPr/>
              <p:nvPr/>
            </p:nvSpPr>
            <p:spPr>
              <a:xfrm>
                <a:off x="228600" y="4457700"/>
                <a:ext cx="2800350" cy="1390650"/>
              </a:xfrm>
              <a:prstGeom prst="roundRect">
                <a:avLst>
                  <a:gd name="adj" fmla="val 5479"/>
                </a:avLst>
              </a:prstGeom>
              <a:solidFill>
                <a:srgbClr val="FFFFFF"/>
              </a:solidFill>
              <a:ln w="9525">
                <a:solidFill>
                  <a:srgbClr val="C9D5EA"/>
                </a:solidFill>
              </a:ln>
            </p:spPr>
          </p:sp>
          <p:grpSp>
            <p:nvGrpSpPr>
              <p:cNvPr id="168" name="Group 168"/>
              <p:cNvGrpSpPr/>
              <p:nvPr/>
            </p:nvGrpSpPr>
            <p:grpSpPr>
              <a:xfrm>
                <a:off x="468312" y="4814887"/>
                <a:ext cx="244475" cy="314325"/>
                <a:chOff x="468312" y="4814887"/>
                <a:chExt cx="244475" cy="314325"/>
              </a:xfrm>
            </p:grpSpPr>
            <p:sp>
              <p:nvSpPr>
                <p:cNvPr id="165" name="Freeform 165"/>
                <p:cNvSpPr/>
                <p:nvPr/>
              </p:nvSpPr>
              <p:spPr>
                <a:xfrm>
                  <a:off x="468312" y="4954587"/>
                  <a:ext cx="244475" cy="174625"/>
                </a:xfrm>
                <a:custGeom>
                  <a:avLst/>
                  <a:gdLst/>
                  <a:ahLst/>
                  <a:cxnLst/>
                  <a:rect l="l" t="t" r="r" b="b"/>
                  <a:pathLst>
                    <a:path w="244475" h="174625">
                      <a:moveTo>
                        <a:pt x="0" y="34925"/>
                      </a:moveTo>
                      <a:cubicBezTo>
                        <a:pt x="0" y="15636"/>
                        <a:pt x="15636" y="0"/>
                        <a:pt x="34925" y="0"/>
                      </a:cubicBezTo>
                      <a:lnTo>
                        <a:pt x="209550" y="0"/>
                      </a:lnTo>
                      <a:cubicBezTo>
                        <a:pt x="228838" y="0"/>
                        <a:pt x="244475" y="15636"/>
                        <a:pt x="244475" y="34925"/>
                      </a:cubicBezTo>
                      <a:lnTo>
                        <a:pt x="244475" y="139700"/>
                      </a:lnTo>
                      <a:cubicBezTo>
                        <a:pt x="244475" y="158988"/>
                        <a:pt x="228838" y="174625"/>
                        <a:pt x="209550" y="174625"/>
                      </a:cubicBezTo>
                      <a:lnTo>
                        <a:pt x="34925" y="174625"/>
                      </a:lnTo>
                      <a:cubicBezTo>
                        <a:pt x="15636" y="174625"/>
                        <a:pt x="0" y="158988"/>
                        <a:pt x="0" y="139700"/>
                      </a:cubicBezTo>
                      <a:lnTo>
                        <a:pt x="0" y="34925"/>
                      </a:lnTo>
                    </a:path>
                  </a:pathLst>
                </a:custGeom>
                <a:noFill/>
                <a:ln w="26194">
                  <a:solidFill>
                    <a:srgbClr val="8A1700"/>
                  </a:solidFill>
                </a:ln>
              </p:spPr>
            </p:sp>
            <p:sp>
              <p:nvSpPr>
                <p:cNvPr id="166" name="Freeform 166"/>
                <p:cNvSpPr/>
                <p:nvPr/>
              </p:nvSpPr>
              <p:spPr>
                <a:xfrm>
                  <a:off x="573087" y="5024437"/>
                  <a:ext cx="34925" cy="34925"/>
                </a:xfrm>
                <a:custGeom>
                  <a:avLst/>
                  <a:gdLst/>
                  <a:ahLst/>
                  <a:cxnLst/>
                  <a:rect l="l" t="t" r="r" b="b"/>
                  <a:pathLst>
                    <a:path w="34925" h="34925">
                      <a:moveTo>
                        <a:pt x="0" y="17462"/>
                      </a:moveTo>
                      <a:cubicBezTo>
                        <a:pt x="0" y="27107"/>
                        <a:pt x="7818" y="34925"/>
                        <a:pt x="17462" y="34925"/>
                      </a:cubicBezTo>
                      <a:cubicBezTo>
                        <a:pt x="27107" y="34925"/>
                        <a:pt x="34925" y="27107"/>
                        <a:pt x="34925" y="17462"/>
                      </a:cubicBezTo>
                      <a:cubicBezTo>
                        <a:pt x="34925" y="7818"/>
                        <a:pt x="27107" y="0"/>
                        <a:pt x="17462" y="0"/>
                      </a:cubicBezTo>
                      <a:cubicBezTo>
                        <a:pt x="7818" y="0"/>
                        <a:pt x="0" y="7818"/>
                        <a:pt x="0" y="17462"/>
                      </a:cubicBezTo>
                    </a:path>
                  </a:pathLst>
                </a:custGeom>
                <a:noFill/>
                <a:ln w="26194">
                  <a:solidFill>
                    <a:srgbClr val="8A1700"/>
                  </a:solidFill>
                </a:ln>
              </p:spPr>
            </p:sp>
            <p:sp>
              <p:nvSpPr>
                <p:cNvPr id="167" name="Freeform 167"/>
                <p:cNvSpPr/>
                <p:nvPr/>
              </p:nvSpPr>
              <p:spPr>
                <a:xfrm>
                  <a:off x="520700" y="4814887"/>
                  <a:ext cx="139700" cy="139700"/>
                </a:xfrm>
                <a:custGeom>
                  <a:avLst/>
                  <a:gdLst/>
                  <a:ahLst/>
                  <a:cxnLst/>
                  <a:rect l="l" t="t" r="r" b="b"/>
                  <a:pathLst>
                    <a:path w="139700" h="139700">
                      <a:moveTo>
                        <a:pt x="0" y="139700"/>
                      </a:moveTo>
                      <a:lnTo>
                        <a:pt x="0" y="69850"/>
                      </a:lnTo>
                      <a:cubicBezTo>
                        <a:pt x="0" y="31273"/>
                        <a:pt x="31273" y="0"/>
                        <a:pt x="69850" y="0"/>
                      </a:cubicBezTo>
                      <a:cubicBezTo>
                        <a:pt x="108427" y="0"/>
                        <a:pt x="139700" y="31273"/>
                        <a:pt x="139700" y="69850"/>
                      </a:cubicBezTo>
                      <a:lnTo>
                        <a:pt x="139700" y="139700"/>
                      </a:lnTo>
                    </a:path>
                  </a:pathLst>
                </a:custGeom>
                <a:noFill/>
                <a:ln w="26194">
                  <a:solidFill>
                    <a:srgbClr val="8A1700"/>
                  </a:solidFill>
                </a:ln>
              </p:spPr>
            </p:sp>
          </p:grpSp>
          <p:sp>
            <p:nvSpPr>
              <p:cNvPr id="169" name="TextBox 169"/>
              <p:cNvSpPr txBox="1"/>
              <p:nvPr/>
            </p:nvSpPr>
            <p:spPr>
              <a:xfrm>
                <a:off x="947166" y="4611052"/>
                <a:ext cx="858774" cy="205359"/>
              </a:xfrm>
              <a:prstGeom prst="rect">
                <a:avLst/>
              </a:prstGeom>
              <a:noFill/>
              <a:ln>
                <a:noFill/>
              </a:ln>
            </p:spPr>
            <p:txBody>
              <a:bodyPr wrap="none" lIns="0" tIns="0" rIns="0" bIns="0" anchor="t" anchorCtr="0">
                <a:spAutoFit/>
              </a:bodyPr>
              <a:lstStyle/>
              <a:p>
                <a:pPr algn="l"/>
                <a:r>
                  <a:rPr lang="zh-CN" sz="1050" b="1" dirty="0">
                    <a:solidFill>
                      <a:srgbClr val="C02C0A"/>
                    </a:solidFill>
                    <a:latin typeface="+mn-lt"/>
                    <a:ea typeface="+mn-ea"/>
                    <a:cs typeface="+mn-cs"/>
                  </a:rPr>
                  <a:t>触达权益不足</a:t>
                </a:r>
              </a:p>
            </p:txBody>
          </p:sp>
          <p:sp>
            <p:nvSpPr>
              <p:cNvPr id="170" name="TextBox 170"/>
              <p:cNvSpPr txBox="1"/>
              <p:nvPr/>
            </p:nvSpPr>
            <p:spPr>
              <a:xfrm>
                <a:off x="947738" y="4867989"/>
                <a:ext cx="129876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触达渠道受限，触达频次低</a:t>
                </a:r>
              </a:p>
              <a:p>
                <a:pPr algn="l" marL="85280" indent="-85280">
                  <a:lnSpc>
                    <a:spcPts val="1275"/>
                  </a:lnSpc>
                  <a:buClr>
                    <a:srgbClr val="60403A"/>
                  </a:buClr>
                  <a:buSzTx/>
                  <a:buFontTx/>
                  <a:buChar char="•"/>
                </a:pPr>
                <a:r>
                  <a:rPr lang="zh-CN" sz="790" dirty="0">
                    <a:solidFill>
                      <a:srgbClr val="60403A"/>
                    </a:solidFill>
                    <a:latin typeface="+mn-lt"/>
                    <a:ea typeface="+mn-ea"/>
                    <a:cs typeface="+mn-cs"/>
                  </a:rPr>
                  <a:t>权限粒度粗，无法精细触达</a:t>
                </a:r>
              </a:p>
              <a:p>
                <a:pPr algn="l" marL="85280" indent="-85280">
                  <a:lnSpc>
                    <a:spcPts val="1275"/>
                  </a:lnSpc>
                  <a:buClr>
                    <a:srgbClr val="60403A"/>
                  </a:buClr>
                  <a:buSzTx/>
                  <a:buFontTx/>
                  <a:buChar char="•"/>
                </a:pPr>
                <a:r>
                  <a:rPr lang="zh-CN" sz="790" dirty="0">
                    <a:solidFill>
                      <a:srgbClr val="60403A"/>
                    </a:solidFill>
                    <a:latin typeface="+mn-lt"/>
                    <a:ea typeface="+mn-ea"/>
                    <a:cs typeface="+mn-cs"/>
                  </a:rPr>
                  <a:t>数据溯源弱，合规边界不清</a:t>
                </a:r>
              </a:p>
            </p:txBody>
          </p:sp>
        </p:grpSp>
        <p:grpSp>
          <p:nvGrpSpPr>
            <p:cNvPr id="178" name="cause-2"/>
            <p:cNvGrpSpPr/>
            <p:nvPr/>
          </p:nvGrpSpPr>
          <p:grpSpPr>
            <a:xfrm>
              <a:off x="3143250" y="4457700"/>
              <a:ext cx="2800350" cy="1390650"/>
              <a:chOff x="3143250" y="4457700"/>
              <a:chExt cx="2800350" cy="1390650"/>
            </a:xfrm>
          </p:grpSpPr>
          <p:sp>
            <p:nvSpPr>
              <p:cNvPr id="172" name="Rectangle 172"/>
              <p:cNvSpPr/>
              <p:nvPr/>
            </p:nvSpPr>
            <p:spPr>
              <a:xfrm>
                <a:off x="3143250" y="4457700"/>
                <a:ext cx="2800350" cy="1390650"/>
              </a:xfrm>
              <a:prstGeom prst="roundRect">
                <a:avLst>
                  <a:gd name="adj" fmla="val 5479"/>
                </a:avLst>
              </a:prstGeom>
              <a:solidFill>
                <a:srgbClr val="FFFFFF"/>
              </a:solidFill>
              <a:ln w="9525">
                <a:solidFill>
                  <a:srgbClr val="C9D5EA"/>
                </a:solidFill>
              </a:ln>
            </p:spPr>
          </p:sp>
          <p:grpSp>
            <p:nvGrpSpPr>
              <p:cNvPr id="175" name="Group 175"/>
              <p:cNvGrpSpPr/>
              <p:nvPr/>
            </p:nvGrpSpPr>
            <p:grpSpPr>
              <a:xfrm>
                <a:off x="3348037" y="4814887"/>
                <a:ext cx="314325" cy="314325"/>
                <a:chOff x="3348037" y="4814887"/>
                <a:chExt cx="314325" cy="314325"/>
              </a:xfrm>
            </p:grpSpPr>
            <p:sp>
              <p:nvSpPr>
                <p:cNvPr id="173" name="Freeform 173"/>
                <p:cNvSpPr/>
                <p:nvPr/>
              </p:nvSpPr>
              <p:spPr>
                <a:xfrm>
                  <a:off x="3348037" y="4814887"/>
                  <a:ext cx="244475" cy="244475"/>
                </a:xfrm>
                <a:custGeom>
                  <a:avLst/>
                  <a:gdLst/>
                  <a:ahLst/>
                  <a:cxnLst/>
                  <a:rect l="l" t="t" r="r" b="b"/>
                  <a:pathLst>
                    <a:path w="244475" h="244475">
                      <a:moveTo>
                        <a:pt x="0" y="122237"/>
                      </a:moveTo>
                      <a:cubicBezTo>
                        <a:pt x="0" y="189747"/>
                        <a:pt x="54727" y="244475"/>
                        <a:pt x="122237" y="244475"/>
                      </a:cubicBezTo>
                      <a:cubicBezTo>
                        <a:pt x="189747" y="244475"/>
                        <a:pt x="244475" y="189747"/>
                        <a:pt x="244475" y="122237"/>
                      </a:cubicBezTo>
                      <a:cubicBezTo>
                        <a:pt x="244475" y="54727"/>
                        <a:pt x="189747" y="0"/>
                        <a:pt x="122237" y="0"/>
                      </a:cubicBezTo>
                      <a:cubicBezTo>
                        <a:pt x="54727" y="0"/>
                        <a:pt x="0" y="54727"/>
                        <a:pt x="0" y="122237"/>
                      </a:cubicBezTo>
                    </a:path>
                  </a:pathLst>
                </a:custGeom>
                <a:noFill/>
                <a:ln w="26194">
                  <a:solidFill>
                    <a:srgbClr val="8A1700"/>
                  </a:solidFill>
                </a:ln>
              </p:spPr>
            </p:sp>
            <p:sp>
              <p:nvSpPr>
                <p:cNvPr id="174" name="Freeform 174"/>
                <p:cNvSpPr/>
                <p:nvPr/>
              </p:nvSpPr>
              <p:spPr>
                <a:xfrm>
                  <a:off x="3557587" y="5024437"/>
                  <a:ext cx="104775" cy="104775"/>
                </a:xfrm>
                <a:custGeom>
                  <a:avLst/>
                  <a:gdLst/>
                  <a:ahLst/>
                  <a:cxnLst/>
                  <a:rect l="l" t="t" r="r" b="b"/>
                  <a:pathLst>
                    <a:path w="104775" h="104775">
                      <a:moveTo>
                        <a:pt x="104775" y="104775"/>
                      </a:moveTo>
                      <a:lnTo>
                        <a:pt x="0" y="0"/>
                      </a:lnTo>
                    </a:path>
                  </a:pathLst>
                </a:custGeom>
                <a:noFill/>
                <a:ln w="26194">
                  <a:solidFill>
                    <a:srgbClr val="8A1700"/>
                  </a:solidFill>
                </a:ln>
              </p:spPr>
            </p:sp>
          </p:grpSp>
          <p:sp>
            <p:nvSpPr>
              <p:cNvPr id="176" name="TextBox 176"/>
              <p:cNvSpPr txBox="1"/>
              <p:nvPr/>
            </p:nvSpPr>
            <p:spPr>
              <a:xfrm>
                <a:off x="3861816" y="4611052"/>
                <a:ext cx="858774" cy="205359"/>
              </a:xfrm>
              <a:prstGeom prst="rect">
                <a:avLst/>
              </a:prstGeom>
              <a:noFill/>
              <a:ln>
                <a:noFill/>
              </a:ln>
            </p:spPr>
            <p:txBody>
              <a:bodyPr wrap="none" lIns="0" tIns="0" rIns="0" bIns="0" anchor="t" anchorCtr="0">
                <a:spAutoFit/>
              </a:bodyPr>
              <a:lstStyle/>
              <a:p>
                <a:pPr algn="l"/>
                <a:r>
                  <a:rPr lang="zh-CN" sz="1050" b="1" dirty="0">
                    <a:solidFill>
                      <a:srgbClr val="C02C0A"/>
                    </a:solidFill>
                    <a:latin typeface="+mn-lt"/>
                    <a:ea typeface="+mn-ea"/>
                    <a:cs typeface="+mn-cs"/>
                  </a:rPr>
                  <a:t>客户识别不清</a:t>
                </a:r>
              </a:p>
            </p:txBody>
          </p:sp>
          <p:sp>
            <p:nvSpPr>
              <p:cNvPr id="177" name="TextBox 177"/>
              <p:cNvSpPr txBox="1"/>
              <p:nvPr/>
            </p:nvSpPr>
            <p:spPr>
              <a:xfrm>
                <a:off x="3862388" y="4867989"/>
                <a:ext cx="129876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客户标签不全，画像粗糙</a:t>
                </a:r>
              </a:p>
              <a:p>
                <a:pPr algn="l" marL="85280" indent="-85280">
                  <a:lnSpc>
                    <a:spcPts val="1275"/>
                  </a:lnSpc>
                  <a:buClr>
                    <a:srgbClr val="60403A"/>
                  </a:buClr>
                  <a:buSzTx/>
                  <a:buFontTx/>
                  <a:buChar char="•"/>
                </a:pPr>
                <a:r>
                  <a:rPr lang="zh-CN" sz="790" dirty="0">
                    <a:solidFill>
                      <a:srgbClr val="60403A"/>
                    </a:solidFill>
                    <a:latin typeface="+mn-lt"/>
                    <a:ea typeface="+mn-ea"/>
                    <a:cs typeface="+mn-cs"/>
                  </a:rPr>
                  <a:t>真实需求未知，偏好不清晰</a:t>
                </a:r>
              </a:p>
              <a:p>
                <a:pPr algn="l" marL="85280" indent="-85280">
                  <a:lnSpc>
                    <a:spcPts val="1275"/>
                  </a:lnSpc>
                  <a:buClr>
                    <a:srgbClr val="60403A"/>
                  </a:buClr>
                  <a:buSzTx/>
                  <a:buFontTx/>
                  <a:buChar char="•"/>
                </a:pPr>
                <a:r>
                  <a:rPr lang="zh-CN" sz="790" dirty="0">
                    <a:solidFill>
                      <a:srgbClr val="60403A"/>
                    </a:solidFill>
                    <a:latin typeface="+mn-lt"/>
                    <a:ea typeface="+mn-ea"/>
                    <a:cs typeface="+mn-cs"/>
                  </a:rPr>
                  <a:t>客户分群不准，策略错配</a:t>
                </a:r>
              </a:p>
            </p:txBody>
          </p:sp>
        </p:grpSp>
        <p:grpSp>
          <p:nvGrpSpPr>
            <p:cNvPr id="183" name="cause-3"/>
            <p:cNvGrpSpPr/>
            <p:nvPr/>
          </p:nvGrpSpPr>
          <p:grpSpPr>
            <a:xfrm>
              <a:off x="6057900" y="4457700"/>
              <a:ext cx="2800350" cy="1390650"/>
              <a:chOff x="6057900" y="4457700"/>
              <a:chExt cx="2800350" cy="1390650"/>
            </a:xfrm>
          </p:grpSpPr>
          <p:sp>
            <p:nvSpPr>
              <p:cNvPr id="179" name="Rectangle 179"/>
              <p:cNvSpPr/>
              <p:nvPr/>
            </p:nvSpPr>
            <p:spPr>
              <a:xfrm>
                <a:off x="6057900" y="4457700"/>
                <a:ext cx="2800350" cy="1390650"/>
              </a:xfrm>
              <a:prstGeom prst="roundRect">
                <a:avLst>
                  <a:gd name="adj" fmla="val 5479"/>
                </a:avLst>
              </a:prstGeom>
              <a:solidFill>
                <a:srgbClr val="FFFFFF"/>
              </a:solidFill>
              <a:ln w="9525">
                <a:solidFill>
                  <a:srgbClr val="C9D5EA"/>
                </a:solidFill>
              </a:ln>
            </p:spPr>
          </p:sp>
          <p:sp>
            <p:nvSpPr>
              <p:cNvPr id="180" name="Freeform 180"/>
              <p:cNvSpPr/>
              <p:nvPr/>
            </p:nvSpPr>
            <p:spPr>
              <a:xfrm>
                <a:off x="6262687" y="4814887"/>
                <a:ext cx="314324" cy="314324"/>
              </a:xfrm>
              <a:custGeom>
                <a:avLst/>
                <a:gdLst/>
                <a:ahLst/>
                <a:cxnLst/>
                <a:rect l="l" t="t" r="r" b="b"/>
                <a:pathLst>
                  <a:path w="314324" h="314324">
                    <a:moveTo>
                      <a:pt x="17462" y="69850"/>
                    </a:moveTo>
                    <a:lnTo>
                      <a:pt x="69850" y="69850"/>
                    </a:lnTo>
                    <a:cubicBezTo>
                      <a:pt x="79494" y="69850"/>
                      <a:pt x="87312" y="62032"/>
                      <a:pt x="87312" y="52387"/>
                    </a:cubicBezTo>
                    <a:lnTo>
                      <a:pt x="87312" y="34925"/>
                    </a:lnTo>
                    <a:cubicBezTo>
                      <a:pt x="87312" y="15636"/>
                      <a:pt x="102949" y="0"/>
                      <a:pt x="122237" y="0"/>
                    </a:cubicBezTo>
                    <a:cubicBezTo>
                      <a:pt x="141526" y="0"/>
                      <a:pt x="157162" y="15636"/>
                      <a:pt x="157162" y="34925"/>
                    </a:cubicBezTo>
                    <a:lnTo>
                      <a:pt x="157162" y="52387"/>
                    </a:lnTo>
                    <a:cubicBezTo>
                      <a:pt x="157162" y="62032"/>
                      <a:pt x="164980" y="69850"/>
                      <a:pt x="174625" y="69850"/>
                    </a:cubicBezTo>
                    <a:lnTo>
                      <a:pt x="227012" y="69850"/>
                    </a:lnTo>
                    <a:cubicBezTo>
                      <a:pt x="236656" y="69850"/>
                      <a:pt x="244475" y="77668"/>
                      <a:pt x="244475" y="87312"/>
                    </a:cubicBezTo>
                    <a:lnTo>
                      <a:pt x="244475" y="139700"/>
                    </a:lnTo>
                    <a:cubicBezTo>
                      <a:pt x="244475" y="149344"/>
                      <a:pt x="252293" y="157162"/>
                      <a:pt x="261937" y="157162"/>
                    </a:cubicBezTo>
                    <a:lnTo>
                      <a:pt x="279399" y="157162"/>
                    </a:lnTo>
                    <a:cubicBezTo>
                      <a:pt x="298688" y="157162"/>
                      <a:pt x="314324" y="172799"/>
                      <a:pt x="314324" y="192087"/>
                    </a:cubicBezTo>
                    <a:cubicBezTo>
                      <a:pt x="314324" y="211376"/>
                      <a:pt x="298688" y="227012"/>
                      <a:pt x="279399" y="227012"/>
                    </a:cubicBezTo>
                    <a:lnTo>
                      <a:pt x="261937" y="227012"/>
                    </a:lnTo>
                    <a:cubicBezTo>
                      <a:pt x="252293" y="227012"/>
                      <a:pt x="244475" y="234830"/>
                      <a:pt x="244475" y="244475"/>
                    </a:cubicBezTo>
                    <a:lnTo>
                      <a:pt x="244475" y="296862"/>
                    </a:lnTo>
                    <a:cubicBezTo>
                      <a:pt x="244475" y="306506"/>
                      <a:pt x="236656" y="314324"/>
                      <a:pt x="227012" y="314324"/>
                    </a:cubicBezTo>
                    <a:lnTo>
                      <a:pt x="174625" y="314324"/>
                    </a:lnTo>
                    <a:cubicBezTo>
                      <a:pt x="164980" y="314324"/>
                      <a:pt x="157162" y="306506"/>
                      <a:pt x="157162" y="296862"/>
                    </a:cubicBezTo>
                    <a:lnTo>
                      <a:pt x="157162" y="279399"/>
                    </a:lnTo>
                    <a:cubicBezTo>
                      <a:pt x="157162" y="260111"/>
                      <a:pt x="141526" y="244475"/>
                      <a:pt x="122237" y="244475"/>
                    </a:cubicBezTo>
                    <a:cubicBezTo>
                      <a:pt x="102949" y="244475"/>
                      <a:pt x="87312" y="260111"/>
                      <a:pt x="87312" y="279399"/>
                    </a:cubicBezTo>
                    <a:lnTo>
                      <a:pt x="87312" y="296862"/>
                    </a:lnTo>
                    <a:cubicBezTo>
                      <a:pt x="87312" y="306506"/>
                      <a:pt x="79494" y="314324"/>
                      <a:pt x="69850" y="314324"/>
                    </a:cubicBezTo>
                    <a:lnTo>
                      <a:pt x="17462" y="314324"/>
                    </a:lnTo>
                    <a:cubicBezTo>
                      <a:pt x="7818" y="314324"/>
                      <a:pt x="0" y="306506"/>
                      <a:pt x="0" y="296862"/>
                    </a:cubicBezTo>
                    <a:lnTo>
                      <a:pt x="0" y="244475"/>
                    </a:lnTo>
                    <a:cubicBezTo>
                      <a:pt x="0" y="234830"/>
                      <a:pt x="7818" y="227012"/>
                      <a:pt x="17462" y="227012"/>
                    </a:cubicBezTo>
                    <a:lnTo>
                      <a:pt x="34925" y="227012"/>
                    </a:lnTo>
                    <a:cubicBezTo>
                      <a:pt x="54213" y="227012"/>
                      <a:pt x="69850" y="211376"/>
                      <a:pt x="69850" y="192087"/>
                    </a:cubicBezTo>
                    <a:cubicBezTo>
                      <a:pt x="69850" y="172799"/>
                      <a:pt x="54213" y="157162"/>
                      <a:pt x="34925" y="157162"/>
                    </a:cubicBezTo>
                    <a:lnTo>
                      <a:pt x="17462" y="157162"/>
                    </a:lnTo>
                    <a:cubicBezTo>
                      <a:pt x="7818" y="157162"/>
                      <a:pt x="0" y="149344"/>
                      <a:pt x="0" y="139700"/>
                    </a:cubicBezTo>
                    <a:lnTo>
                      <a:pt x="0" y="87312"/>
                    </a:lnTo>
                    <a:cubicBezTo>
                      <a:pt x="0" y="77668"/>
                      <a:pt x="7818" y="69850"/>
                      <a:pt x="17462" y="69850"/>
                    </a:cubicBezTo>
                  </a:path>
                </a:pathLst>
              </a:custGeom>
              <a:noFill/>
              <a:ln w="26194">
                <a:solidFill>
                  <a:srgbClr val="8A1700"/>
                </a:solidFill>
              </a:ln>
            </p:spPr>
          </p:sp>
          <p:sp>
            <p:nvSpPr>
              <p:cNvPr id="181" name="TextBox 181"/>
              <p:cNvSpPr txBox="1"/>
              <p:nvPr/>
            </p:nvSpPr>
            <p:spPr>
              <a:xfrm>
                <a:off x="6776466" y="4611052"/>
                <a:ext cx="858774" cy="205359"/>
              </a:xfrm>
              <a:prstGeom prst="rect">
                <a:avLst/>
              </a:prstGeom>
              <a:noFill/>
              <a:ln>
                <a:noFill/>
              </a:ln>
            </p:spPr>
            <p:txBody>
              <a:bodyPr wrap="none" lIns="0" tIns="0" rIns="0" bIns="0" anchor="t" anchorCtr="0">
                <a:spAutoFit/>
              </a:bodyPr>
              <a:lstStyle/>
              <a:p>
                <a:pPr algn="l"/>
                <a:r>
                  <a:rPr lang="zh-CN" sz="1050" b="1" dirty="0">
                    <a:solidFill>
                      <a:srgbClr val="C02C0A"/>
                    </a:solidFill>
                    <a:latin typeface="+mn-lt"/>
                    <a:ea typeface="+mn-ea"/>
                    <a:cs typeface="+mn-cs"/>
                  </a:rPr>
                  <a:t>运营动作割裂</a:t>
                </a:r>
              </a:p>
            </p:txBody>
          </p:sp>
          <p:sp>
            <p:nvSpPr>
              <p:cNvPr id="182" name="TextBox 182"/>
              <p:cNvSpPr txBox="1"/>
              <p:nvPr/>
            </p:nvSpPr>
            <p:spPr>
              <a:xfrm>
                <a:off x="6777038" y="4867989"/>
                <a:ext cx="119843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部门条线分割，协同不足</a:t>
                </a:r>
              </a:p>
              <a:p>
                <a:pPr algn="l" marL="85280" indent="-85280">
                  <a:lnSpc>
                    <a:spcPts val="1275"/>
                  </a:lnSpc>
                  <a:buClr>
                    <a:srgbClr val="60403A"/>
                  </a:buClr>
                  <a:buSzTx/>
                  <a:buFontTx/>
                  <a:buChar char="•"/>
                </a:pPr>
                <a:r>
                  <a:rPr lang="zh-CN" sz="790" dirty="0">
                    <a:solidFill>
                      <a:srgbClr val="60403A"/>
                    </a:solidFill>
                    <a:latin typeface="+mn-lt"/>
                    <a:ea typeface="+mn-ea"/>
                    <a:cs typeface="+mn-cs"/>
                  </a:rPr>
                  <a:t>流程断点多，体验不连贯</a:t>
                </a:r>
              </a:p>
              <a:p>
                <a:pPr algn="l" marL="85280" indent="-85280">
                  <a:lnSpc>
                    <a:spcPts val="1275"/>
                  </a:lnSpc>
                  <a:buClr>
                    <a:srgbClr val="60403A"/>
                  </a:buClr>
                  <a:buSzTx/>
                  <a:buFontTx/>
                  <a:buChar char="•"/>
                </a:pPr>
                <a:r>
                  <a:rPr lang="zh-CN" sz="790" dirty="0">
                    <a:solidFill>
                      <a:srgbClr val="60403A"/>
                    </a:solidFill>
                    <a:latin typeface="+mn-lt"/>
                    <a:ea typeface="+mn-ea"/>
                    <a:cs typeface="+mn-cs"/>
                  </a:rPr>
                  <a:t>触点分散，运营资源浪费</a:t>
                </a:r>
              </a:p>
            </p:txBody>
          </p:sp>
        </p:grpSp>
        <p:grpSp>
          <p:nvGrpSpPr>
            <p:cNvPr id="194" name="cause-4"/>
            <p:cNvGrpSpPr/>
            <p:nvPr/>
          </p:nvGrpSpPr>
          <p:grpSpPr>
            <a:xfrm>
              <a:off x="8972550" y="4457700"/>
              <a:ext cx="2800350" cy="1390650"/>
              <a:chOff x="8972550" y="4457700"/>
              <a:chExt cx="2800350" cy="1390650"/>
            </a:xfrm>
          </p:grpSpPr>
          <p:sp>
            <p:nvSpPr>
              <p:cNvPr id="184" name="Rectangle 184"/>
              <p:cNvSpPr/>
              <p:nvPr/>
            </p:nvSpPr>
            <p:spPr>
              <a:xfrm>
                <a:off x="8972550" y="4457700"/>
                <a:ext cx="2800350" cy="1390650"/>
              </a:xfrm>
              <a:prstGeom prst="roundRect">
                <a:avLst>
                  <a:gd name="adj" fmla="val 5479"/>
                </a:avLst>
              </a:prstGeom>
              <a:solidFill>
                <a:srgbClr val="FFFFFF"/>
              </a:solidFill>
              <a:ln w="9525">
                <a:solidFill>
                  <a:srgbClr val="C9D5EA"/>
                </a:solidFill>
              </a:ln>
            </p:spPr>
          </p:sp>
          <p:grpSp>
            <p:nvGrpSpPr>
              <p:cNvPr id="191" name="Group 191"/>
              <p:cNvGrpSpPr/>
              <p:nvPr/>
            </p:nvGrpSpPr>
            <p:grpSpPr>
              <a:xfrm>
                <a:off x="9177337" y="4814887"/>
                <a:ext cx="314325" cy="314324"/>
                <a:chOff x="9177337" y="4814887"/>
                <a:chExt cx="314325" cy="314324"/>
              </a:xfrm>
            </p:grpSpPr>
            <p:sp>
              <p:nvSpPr>
                <p:cNvPr id="185" name="Freeform 185"/>
                <p:cNvSpPr/>
                <p:nvPr/>
              </p:nvSpPr>
              <p:spPr>
                <a:xfrm>
                  <a:off x="9177337" y="4814887"/>
                  <a:ext cx="314324" cy="314324"/>
                </a:xfrm>
                <a:custGeom>
                  <a:avLst/>
                  <a:gdLst/>
                  <a:ahLst/>
                  <a:cxnLst/>
                  <a:rect l="l" t="t" r="r" b="b"/>
                  <a:pathLst>
                    <a:path w="314324" h="314324">
                      <a:moveTo>
                        <a:pt x="0" y="0"/>
                      </a:moveTo>
                      <a:lnTo>
                        <a:pt x="0" y="314324"/>
                      </a:lnTo>
                      <a:lnTo>
                        <a:pt x="314324" y="314324"/>
                      </a:lnTo>
                    </a:path>
                  </a:pathLst>
                </a:custGeom>
                <a:noFill/>
                <a:ln w="26194">
                  <a:solidFill>
                    <a:srgbClr val="8A1700"/>
                  </a:solidFill>
                </a:ln>
              </p:spPr>
            </p:sp>
            <p:sp>
              <p:nvSpPr>
                <p:cNvPr id="186" name="Freeform 186"/>
                <p:cNvSpPr/>
                <p:nvPr/>
              </p:nvSpPr>
              <p:spPr>
                <a:xfrm>
                  <a:off x="9247187" y="488473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26194">
                  <a:solidFill>
                    <a:srgbClr val="8A1700"/>
                  </a:solidFill>
                </a:ln>
              </p:spPr>
            </p:sp>
            <p:sp>
              <p:nvSpPr>
                <p:cNvPr id="187" name="Freeform 187"/>
                <p:cNvSpPr/>
                <p:nvPr/>
              </p:nvSpPr>
              <p:spPr>
                <a:xfrm>
                  <a:off x="9421812" y="4849812"/>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26194">
                  <a:solidFill>
                    <a:srgbClr val="8A1700"/>
                  </a:solidFill>
                </a:ln>
              </p:spPr>
            </p:sp>
            <p:sp>
              <p:nvSpPr>
                <p:cNvPr id="188" name="Freeform 188"/>
                <p:cNvSpPr/>
                <p:nvPr/>
              </p:nvSpPr>
              <p:spPr>
                <a:xfrm>
                  <a:off x="9334500" y="4989512"/>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26194">
                  <a:solidFill>
                    <a:srgbClr val="8A1700"/>
                  </a:solidFill>
                </a:ln>
              </p:spPr>
            </p:sp>
            <p:sp>
              <p:nvSpPr>
                <p:cNvPr id="189" name="Freeform 189"/>
                <p:cNvSpPr/>
                <p:nvPr/>
              </p:nvSpPr>
              <p:spPr>
                <a:xfrm>
                  <a:off x="9302369" y="4947951"/>
                  <a:ext cx="40862" cy="50292"/>
                </a:xfrm>
                <a:custGeom>
                  <a:avLst/>
                  <a:gdLst/>
                  <a:ahLst/>
                  <a:cxnLst/>
                  <a:rect l="l" t="t" r="r" b="b"/>
                  <a:pathLst>
                    <a:path w="40862" h="50292">
                      <a:moveTo>
                        <a:pt x="0" y="0"/>
                      </a:moveTo>
                      <a:lnTo>
                        <a:pt x="40862" y="50292"/>
                      </a:lnTo>
                    </a:path>
                  </a:pathLst>
                </a:custGeom>
                <a:noFill/>
                <a:ln w="26194">
                  <a:solidFill>
                    <a:srgbClr val="8A1700"/>
                  </a:solidFill>
                </a:ln>
              </p:spPr>
            </p:sp>
            <p:sp>
              <p:nvSpPr>
                <p:cNvPr id="190" name="Freeform 190"/>
                <p:cNvSpPr/>
                <p:nvPr/>
              </p:nvSpPr>
              <p:spPr>
                <a:xfrm>
                  <a:off x="9388424" y="4915157"/>
                  <a:ext cx="49541" cy="80083"/>
                </a:xfrm>
                <a:custGeom>
                  <a:avLst/>
                  <a:gdLst/>
                  <a:ahLst/>
                  <a:cxnLst/>
                  <a:rect l="l" t="t" r="r" b="b"/>
                  <a:pathLst>
                    <a:path w="49541" h="80083">
                      <a:moveTo>
                        <a:pt x="0" y="80083"/>
                      </a:moveTo>
                      <a:lnTo>
                        <a:pt x="49541" y="0"/>
                      </a:lnTo>
                    </a:path>
                  </a:pathLst>
                </a:custGeom>
                <a:noFill/>
                <a:ln w="26194">
                  <a:solidFill>
                    <a:srgbClr val="8A1700"/>
                  </a:solidFill>
                </a:ln>
              </p:spPr>
            </p:sp>
          </p:grpSp>
          <p:sp>
            <p:nvSpPr>
              <p:cNvPr id="192" name="TextBox 192"/>
              <p:cNvSpPr txBox="1"/>
              <p:nvPr/>
            </p:nvSpPr>
            <p:spPr>
              <a:xfrm>
                <a:off x="9691116" y="4611052"/>
                <a:ext cx="1000125" cy="205359"/>
              </a:xfrm>
              <a:prstGeom prst="rect">
                <a:avLst/>
              </a:prstGeom>
              <a:noFill/>
              <a:ln>
                <a:noFill/>
              </a:ln>
            </p:spPr>
            <p:txBody>
              <a:bodyPr wrap="none" lIns="0" tIns="0" rIns="0" bIns="0" anchor="t" anchorCtr="0">
                <a:spAutoFit/>
              </a:bodyPr>
              <a:lstStyle/>
              <a:p>
                <a:pPr algn="l"/>
                <a:r>
                  <a:rPr lang="zh-CN" sz="1050" b="1" dirty="0">
                    <a:solidFill>
                      <a:srgbClr val="C02C0A"/>
                    </a:solidFill>
                    <a:latin typeface="+mn-lt"/>
                    <a:ea typeface="+mn-ea"/>
                    <a:cs typeface="+mn-cs"/>
                  </a:rPr>
                  <a:t>经营结果难归因</a:t>
                </a:r>
              </a:p>
            </p:txBody>
          </p:sp>
          <p:sp>
            <p:nvSpPr>
              <p:cNvPr id="193" name="TextBox 193"/>
              <p:cNvSpPr txBox="1"/>
              <p:nvPr/>
            </p:nvSpPr>
            <p:spPr>
              <a:xfrm>
                <a:off x="9691688" y="4867989"/>
                <a:ext cx="129876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数据口径不一，指标不统一</a:t>
                </a:r>
              </a:p>
              <a:p>
                <a:pPr algn="l" marL="85280" indent="-85280">
                  <a:lnSpc>
                    <a:spcPts val="1275"/>
                  </a:lnSpc>
                  <a:buClr>
                    <a:srgbClr val="60403A"/>
                  </a:buClr>
                  <a:buSzTx/>
                  <a:buFontTx/>
                  <a:buChar char="•"/>
                </a:pPr>
                <a:r>
                  <a:rPr lang="zh-CN" sz="790" dirty="0">
                    <a:solidFill>
                      <a:srgbClr val="60403A"/>
                    </a:solidFill>
                    <a:latin typeface="+mn-lt"/>
                    <a:ea typeface="+mn-ea"/>
                    <a:cs typeface="+mn-cs"/>
                  </a:rPr>
                  <a:t>链路追踪弱，归因不精准</a:t>
                </a:r>
              </a:p>
              <a:p>
                <a:pPr algn="l" marL="85280" indent="-85280">
                  <a:lnSpc>
                    <a:spcPts val="1275"/>
                  </a:lnSpc>
                  <a:buClr>
                    <a:srgbClr val="60403A"/>
                  </a:buClr>
                  <a:buSzTx/>
                  <a:buFontTx/>
                  <a:buChar char="•"/>
                </a:pPr>
                <a:r>
                  <a:rPr lang="zh-CN" sz="790" dirty="0">
                    <a:solidFill>
                      <a:srgbClr val="60403A"/>
                    </a:solidFill>
                    <a:latin typeface="+mn-lt"/>
                    <a:ea typeface="+mn-ea"/>
                    <a:cs typeface="+mn-cs"/>
                  </a:rPr>
                  <a:t>复盘闭环缺失，优化难落地</a:t>
                </a:r>
              </a:p>
            </p:txBody>
          </p:sp>
        </p:grpSp>
      </p:grpSp>
      <p:grpSp>
        <p:nvGrpSpPr>
          <p:cNvPr id="197" name="footnote"/>
          <p:cNvGrpSpPr/>
          <p:nvPr/>
        </p:nvGrpSpPr>
        <p:grpSpPr>
          <a:xfrm>
            <a:off x="4123766" y="6201489"/>
            <a:ext cx="3944468" cy="154781"/>
            <a:chOff x="4123766" y="6201489"/>
            <a:chExt cx="3944468" cy="154781"/>
          </a:xfrm>
        </p:grpSpPr>
        <p:sp>
          <p:nvSpPr>
            <p:cNvPr id="196" name="TextBox 196"/>
            <p:cNvSpPr txBox="1"/>
            <p:nvPr/>
          </p:nvSpPr>
          <p:spPr>
            <a:xfrm>
              <a:off x="4123766" y="6201489"/>
              <a:ext cx="3944468" cy="154781"/>
            </a:xfrm>
            <a:prstGeom prst="rect">
              <a:avLst/>
            </a:prstGeom>
            <a:noFill/>
            <a:ln>
              <a:noFill/>
            </a:ln>
          </p:spPr>
          <p:txBody>
            <a:bodyPr wrap="none" lIns="0" tIns="0" rIns="0" bIns="0" anchor="t" anchorCtr="0">
              <a:spAutoFit/>
            </a:bodyPr>
            <a:lstStyle/>
            <a:p>
              <a:pPr algn="ctr"/>
              <a:r>
                <a:rPr lang="zh-CN" sz="790" dirty="0">
                  <a:solidFill>
                    <a:srgbClr val="6B7280"/>
                  </a:solidFill>
                  <a:latin typeface="+mn-lt"/>
                  <a:ea typeface="+mn-ea"/>
                  <a:cs typeface="+mn-cs"/>
                </a:rPr>
                <a:t>注：以上所有指标与数据均为方案示例，非实际经营数据，供方案设计与评估参考。</a:t>
              </a:r>
            </a:p>
          </p:txBody>
        </p:sp>
      </p:gr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256413" y="162401"/>
              <a:ext cx="35243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3​</a:t>
              </a:r>
            </a:p>
          </p:txBody>
        </p:sp>
        <p:sp>
          <p:nvSpPr>
            <p:cNvPr id="4" name="TextBox 4"/>
            <p:cNvSpPr txBox="1"/>
            <p:nvPr/>
          </p:nvSpPr>
          <p:spPr>
            <a:xfrm>
              <a:off x="942594" y="151448"/>
              <a:ext cx="5844540"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建设目标：从营销私域升级为客户价值服务平台</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49" name="goal-diagram"/>
          <p:cNvGrpSpPr/>
          <p:nvPr/>
        </p:nvGrpSpPr>
        <p:grpSpPr>
          <a:xfrm>
            <a:off x="571500" y="1190625"/>
            <a:ext cx="11049000" cy="3209925"/>
            <a:chOff x="571500" y="1190625"/>
            <a:chExt cx="11049000" cy="3209925"/>
          </a:xfrm>
        </p:grpSpPr>
        <p:sp>
          <p:nvSpPr>
            <p:cNvPr id="7" name="Line 7"/>
            <p:cNvSpPr/>
            <p:nvPr/>
          </p:nvSpPr>
          <p:spPr>
            <a:xfrm>
              <a:off x="3467100" y="2257425"/>
              <a:ext cx="1638300" cy="9525"/>
            </a:xfrm>
            <a:custGeom>
              <a:avLst/>
              <a:gdLst/>
              <a:ahLst/>
              <a:cxnLst/>
              <a:rect l="l" t="t" r="r" b="b"/>
              <a:pathLst>
                <a:path w="1638300" h="9525">
                  <a:moveTo>
                    <a:pt x="0" y="0"/>
                  </a:moveTo>
                  <a:lnTo>
                    <a:pt x="1638300" y="0"/>
                  </a:lnTo>
                </a:path>
              </a:pathLst>
            </a:custGeom>
            <a:noFill/>
            <a:ln w="14288">
              <a:solidFill>
                <a:srgbClr val="E84E2F"/>
              </a:solidFill>
              <a:custDash>
                <a:ds d="200000" sp="266667"/>
              </a:custDash>
            </a:ln>
          </p:spPr>
        </p:sp>
        <p:sp>
          <p:nvSpPr>
            <p:cNvPr id="8" name="Line 8"/>
            <p:cNvSpPr/>
            <p:nvPr/>
          </p:nvSpPr>
          <p:spPr>
            <a:xfrm>
              <a:off x="7086600" y="2257425"/>
              <a:ext cx="1638300" cy="9525"/>
            </a:xfrm>
            <a:custGeom>
              <a:avLst/>
              <a:gdLst/>
              <a:ahLst/>
              <a:cxnLst/>
              <a:rect l="l" t="t" r="r" b="b"/>
              <a:pathLst>
                <a:path w="1638300" h="9525">
                  <a:moveTo>
                    <a:pt x="0" y="0"/>
                  </a:moveTo>
                  <a:lnTo>
                    <a:pt x="1638300" y="0"/>
                  </a:lnTo>
                </a:path>
              </a:pathLst>
            </a:custGeom>
            <a:noFill/>
            <a:ln w="14288">
              <a:solidFill>
                <a:srgbClr val="E84E2F"/>
              </a:solidFill>
              <a:custDash>
                <a:ds d="200000" sp="266667"/>
              </a:custDash>
            </a:ln>
          </p:spPr>
        </p:sp>
        <p:sp>
          <p:nvSpPr>
            <p:cNvPr id="9" name="Line 9"/>
            <p:cNvSpPr/>
            <p:nvPr/>
          </p:nvSpPr>
          <p:spPr>
            <a:xfrm>
              <a:off x="6096000" y="3238500"/>
              <a:ext cx="9525" cy="304800"/>
            </a:xfrm>
            <a:custGeom>
              <a:avLst/>
              <a:gdLst/>
              <a:ahLst/>
              <a:cxnLst/>
              <a:rect l="l" t="t" r="r" b="b"/>
              <a:pathLst>
                <a:path w="9525" h="304800">
                  <a:moveTo>
                    <a:pt x="0" y="0"/>
                  </a:moveTo>
                  <a:lnTo>
                    <a:pt x="0" y="304800"/>
                  </a:lnTo>
                </a:path>
              </a:pathLst>
            </a:custGeom>
            <a:noFill/>
            <a:ln w="14288">
              <a:solidFill>
                <a:srgbClr val="E84E2F"/>
              </a:solidFill>
              <a:custDash>
                <a:ds d="200000" sp="266667"/>
              </a:custDash>
            </a:ln>
          </p:spPr>
        </p:sp>
        <p:sp>
          <p:nvSpPr>
            <p:cNvPr id="10" name="Freeform 10"/>
            <p:cNvSpPr/>
            <p:nvPr/>
          </p:nvSpPr>
          <p:spPr>
            <a:xfrm>
              <a:off x="3505200" y="2152650"/>
              <a:ext cx="285750" cy="209550"/>
            </a:xfrm>
            <a:prstGeom prst="rightArrow">
              <a:avLst/>
            </a:prstGeom>
            <a:solidFill>
              <a:srgbClr val="8A1700"/>
            </a:solidFill>
            <a:ln>
              <a:noFill/>
            </a:ln>
          </p:spPr>
        </p:sp>
        <p:sp>
          <p:nvSpPr>
            <p:cNvPr id="11" name="Freeform 11"/>
            <p:cNvSpPr/>
            <p:nvPr/>
          </p:nvSpPr>
          <p:spPr>
            <a:xfrm>
              <a:off x="8401050" y="2152650"/>
              <a:ext cx="285750" cy="209550"/>
            </a:xfrm>
            <a:prstGeom prst="leftArrow">
              <a:avLst/>
            </a:prstGeom>
            <a:solidFill>
              <a:srgbClr val="8A1700"/>
            </a:solidFill>
            <a:ln>
              <a:noFill/>
            </a:ln>
          </p:spPr>
        </p:sp>
        <p:sp>
          <p:nvSpPr>
            <p:cNvPr id="12" name="Freeform 12"/>
            <p:cNvSpPr/>
            <p:nvPr/>
          </p:nvSpPr>
          <p:spPr>
            <a:xfrm>
              <a:off x="5991225" y="3333750"/>
              <a:ext cx="209550" cy="247650"/>
            </a:xfrm>
            <a:prstGeom prst="downArrow">
              <a:avLst/>
            </a:prstGeom>
            <a:solidFill>
              <a:srgbClr val="8A1700"/>
            </a:solidFill>
            <a:ln>
              <a:noFill/>
            </a:ln>
          </p:spPr>
        </p:sp>
        <p:grpSp>
          <p:nvGrpSpPr>
            <p:cNvPr id="22" name="goal-center"/>
            <p:cNvGrpSpPr/>
            <p:nvPr/>
          </p:nvGrpSpPr>
          <p:grpSpPr>
            <a:xfrm>
              <a:off x="5029200" y="1190625"/>
              <a:ext cx="2133600" cy="2133600"/>
              <a:chOff x="5029200" y="1190625"/>
              <a:chExt cx="2133600" cy="2133600"/>
            </a:xfrm>
          </p:grpSpPr>
          <p:sp>
            <p:nvSpPr>
              <p:cNvPr id="13" name="Ellipse 13"/>
              <p:cNvSpPr/>
              <p:nvPr/>
            </p:nvSpPr>
            <p:spPr>
              <a:xfrm>
                <a:off x="5029200" y="1190625"/>
                <a:ext cx="2133600" cy="2133600"/>
              </a:xfrm>
              <a:prstGeom prst="ellipse">
                <a:avLst/>
              </a:prstGeom>
              <a:noFill/>
              <a:ln w="14288">
                <a:solidFill>
                  <a:srgbClr val="E84E2F"/>
                </a:solidFill>
                <a:prstDash val="dash"/>
              </a:ln>
            </p:spPr>
          </p:sp>
          <p:sp>
            <p:nvSpPr>
              <p:cNvPr id="14" name="Ellipse 14"/>
              <p:cNvSpPr/>
              <p:nvPr/>
            </p:nvSpPr>
            <p:spPr>
              <a:xfrm>
                <a:off x="5143500" y="1304925"/>
                <a:ext cx="1905000" cy="1905000"/>
              </a:xfrm>
              <a:prstGeom prst="ellipse">
                <a:avLst/>
              </a:prstGeom>
              <a:solidFill>
                <a:srgbClr val="EEF3FB"/>
              </a:solidFill>
              <a:ln>
                <a:noFill/>
              </a:ln>
            </p:spPr>
          </p:sp>
          <p:sp>
            <p:nvSpPr>
              <p:cNvPr id="15" name="Ellipse 15"/>
              <p:cNvSpPr/>
              <p:nvPr/>
            </p:nvSpPr>
            <p:spPr>
              <a:xfrm>
                <a:off x="5219700" y="1381125"/>
                <a:ext cx="1752600" cy="1752600"/>
              </a:xfrm>
              <a:prstGeom prst="ellipse">
                <a:avLst/>
              </a:prstGeom>
              <a:gradFill>
                <a:gsLst>
                  <a:gs pos="0">
                    <a:srgbClr val="E84E2F"/>
                  </a:gs>
                  <a:gs pos="100000">
                    <a:srgbClr val="671200"/>
                  </a:gs>
                </a:gsLst>
                <a:lin ang="5400000" scaled="1"/>
              </a:gradFill>
              <a:ln>
                <a:noFill/>
              </a:ln>
              <a:effectLst>
                <a:outerShdw blurRad="152400" dist="57150" dir="5400000" algn="ctr" rotWithShape="0">
                  <a:srgbClr val="000000">
                    <a:alpha val="7500"/>
                  </a:srgbClr>
                </a:outerShdw>
              </a:effectLst>
            </p:spPr>
          </p:sp>
          <p:grpSp>
            <p:nvGrpSpPr>
              <p:cNvPr id="19" name="Group 19"/>
              <p:cNvGrpSpPr/>
              <p:nvPr/>
            </p:nvGrpSpPr>
            <p:grpSpPr>
              <a:xfrm>
                <a:off x="5924550" y="1638300"/>
                <a:ext cx="342900" cy="342900"/>
                <a:chOff x="5924550" y="1638300"/>
                <a:chExt cx="342900" cy="342900"/>
              </a:xfrm>
            </p:grpSpPr>
            <p:sp>
              <p:nvSpPr>
                <p:cNvPr id="16" name="Freeform 16"/>
                <p:cNvSpPr/>
                <p:nvPr/>
              </p:nvSpPr>
              <p:spPr>
                <a:xfrm>
                  <a:off x="6076950" y="17907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28575">
                  <a:solidFill>
                    <a:srgbClr val="FFFFFF"/>
                  </a:solidFill>
                </a:ln>
              </p:spPr>
            </p:sp>
            <p:sp>
              <p:nvSpPr>
                <p:cNvPr id="17" name="Freeform 17"/>
                <p:cNvSpPr/>
                <p:nvPr/>
              </p:nvSpPr>
              <p:spPr>
                <a:xfrm>
                  <a:off x="6000750" y="1714500"/>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28575">
                  <a:solidFill>
                    <a:srgbClr val="FFFFFF"/>
                  </a:solidFill>
                </a:ln>
              </p:spPr>
            </p:sp>
            <p:sp>
              <p:nvSpPr>
                <p:cNvPr id="18" name="Freeform 18"/>
                <p:cNvSpPr/>
                <p:nvPr/>
              </p:nvSpPr>
              <p:spPr>
                <a:xfrm>
                  <a:off x="5924550" y="1638300"/>
                  <a:ext cx="342900" cy="342900"/>
                </a:xfrm>
                <a:custGeom>
                  <a:avLst/>
                  <a:gdLst/>
                  <a:ahLst/>
                  <a:cxnLst/>
                  <a:rect l="l" t="t" r="r" b="b"/>
                  <a:pathLst>
                    <a:path w="342900" h="342900">
                      <a:moveTo>
                        <a:pt x="0" y="171450"/>
                      </a:moveTo>
                      <a:cubicBezTo>
                        <a:pt x="0" y="266139"/>
                        <a:pt x="76761" y="342900"/>
                        <a:pt x="171450" y="342900"/>
                      </a:cubicBezTo>
                      <a:cubicBezTo>
                        <a:pt x="266139" y="342900"/>
                        <a:pt x="342900" y="266139"/>
                        <a:pt x="342900" y="171450"/>
                      </a:cubicBezTo>
                      <a:cubicBezTo>
                        <a:pt x="342900" y="76761"/>
                        <a:pt x="266139" y="0"/>
                        <a:pt x="171450" y="0"/>
                      </a:cubicBezTo>
                      <a:cubicBezTo>
                        <a:pt x="76761" y="0"/>
                        <a:pt x="0" y="76761"/>
                        <a:pt x="0" y="171450"/>
                      </a:cubicBezTo>
                    </a:path>
                  </a:pathLst>
                </a:custGeom>
                <a:noFill/>
                <a:ln w="28575">
                  <a:solidFill>
                    <a:srgbClr val="FFFFFF"/>
                  </a:solidFill>
                </a:ln>
              </p:spPr>
            </p:sp>
          </p:grpSp>
          <p:sp>
            <p:nvSpPr>
              <p:cNvPr id="20" name="TextBox 20"/>
              <p:cNvSpPr txBox="1"/>
              <p:nvPr/>
            </p:nvSpPr>
            <p:spPr>
              <a:xfrm>
                <a:off x="5643372" y="2184082"/>
                <a:ext cx="905256"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建设目标</a:t>
                </a:r>
              </a:p>
            </p:txBody>
          </p:sp>
          <p:sp>
            <p:nvSpPr>
              <p:cNvPr id="21" name="TextBox 21"/>
              <p:cNvSpPr txBox="1"/>
              <p:nvPr/>
            </p:nvSpPr>
            <p:spPr>
              <a:xfrm>
                <a:off x="5634038" y="2512695"/>
                <a:ext cx="923925" cy="338138"/>
              </a:xfrm>
              <a:prstGeom prst="rect">
                <a:avLst/>
              </a:prstGeom>
              <a:noFill/>
              <a:ln>
                <a:noFill/>
              </a:ln>
            </p:spPr>
            <p:txBody>
              <a:bodyPr wrap="none" lIns="0" tIns="0" rIns="0" bIns="0" anchor="t" anchorCtr="0">
                <a:spAutoFit/>
              </a:bodyPr>
              <a:lstStyle/>
              <a:p>
                <a:pPr algn="ctr">
                  <a:lnSpc>
                    <a:spcPts val="1275"/>
                  </a:lnSpc>
                </a:pPr>
                <a:r>
                  <a:rPr lang="zh-CN" sz="900" dirty="0">
                    <a:solidFill>
                      <a:srgbClr val="FFFFFF"/>
                    </a:solidFill>
                    <a:latin typeface="+mn-lt"/>
                    <a:ea typeface="+mn-ea"/>
                    <a:cs typeface="+mn-cs"/>
                  </a:rPr>
                  <a:t>从营销私域升级为</a:t>
                </a:r>
                <a:br/>
                <a:r>
                  <a:rPr lang="zh-CN" sz="900" dirty="0">
                    <a:solidFill>
                      <a:srgbClr val="FFFFFF"/>
                    </a:solidFill>
                    <a:latin typeface="+mn-lt"/>
                    <a:ea typeface="+mn-ea"/>
                    <a:cs typeface="+mn-cs"/>
                  </a:rPr>
                  <a:t>客户价值服务平台</a:t>
                </a:r>
              </a:p>
            </p:txBody>
          </p:sp>
        </p:grpSp>
        <p:grpSp>
          <p:nvGrpSpPr>
            <p:cNvPr id="30" name="goal-business"/>
            <p:cNvGrpSpPr/>
            <p:nvPr/>
          </p:nvGrpSpPr>
          <p:grpSpPr>
            <a:xfrm>
              <a:off x="571500" y="1733550"/>
              <a:ext cx="2857500" cy="1047750"/>
              <a:chOff x="571500" y="1733550"/>
              <a:chExt cx="2857500" cy="1047750"/>
            </a:xfrm>
          </p:grpSpPr>
          <p:sp>
            <p:nvSpPr>
              <p:cNvPr id="23" name="Rectangle 23"/>
              <p:cNvSpPr/>
              <p:nvPr/>
            </p:nvSpPr>
            <p:spPr>
              <a:xfrm>
                <a:off x="571500" y="1733550"/>
                <a:ext cx="2857500" cy="1047750"/>
              </a:xfrm>
              <a:prstGeom prst="roundRect">
                <a:avLst>
                  <a:gd name="adj" fmla="val 50000"/>
                </a:avLst>
              </a:prstGeom>
              <a:solidFill>
                <a:srgbClr val="FFFFFF"/>
              </a:solidFill>
              <a:ln w="14288">
                <a:solidFill>
                  <a:srgbClr val="E84E2F"/>
                </a:solidFill>
              </a:ln>
            </p:spPr>
          </p:sp>
          <p:sp>
            <p:nvSpPr>
              <p:cNvPr id="24" name="Ellipse 24"/>
              <p:cNvSpPr/>
              <p:nvPr/>
            </p:nvSpPr>
            <p:spPr>
              <a:xfrm>
                <a:off x="762000" y="1914525"/>
                <a:ext cx="685800" cy="685800"/>
              </a:xfrm>
              <a:prstGeom prst="ellipse">
                <a:avLst/>
              </a:prstGeom>
              <a:solidFill>
                <a:srgbClr val="8A1700"/>
              </a:solidFill>
              <a:ln>
                <a:noFill/>
              </a:ln>
            </p:spPr>
          </p:sp>
          <p:grpSp>
            <p:nvGrpSpPr>
              <p:cNvPr id="27" name="Group 27"/>
              <p:cNvGrpSpPr/>
              <p:nvPr/>
            </p:nvGrpSpPr>
            <p:grpSpPr>
              <a:xfrm>
                <a:off x="990600" y="2171700"/>
                <a:ext cx="228600" cy="195263"/>
                <a:chOff x="990600" y="2171700"/>
                <a:chExt cx="228600" cy="195263"/>
              </a:xfrm>
            </p:grpSpPr>
            <p:sp>
              <p:nvSpPr>
                <p:cNvPr id="25" name="Freeform 25"/>
                <p:cNvSpPr/>
                <p:nvPr/>
              </p:nvSpPr>
              <p:spPr>
                <a:xfrm>
                  <a:off x="990600" y="2357438"/>
                  <a:ext cx="228600" cy="9525"/>
                </a:xfrm>
                <a:custGeom>
                  <a:avLst/>
                  <a:gdLst/>
                  <a:ahLst/>
                  <a:cxnLst/>
                  <a:rect l="l" t="t" r="r" b="b"/>
                  <a:pathLst>
                    <a:path w="228600" h="9525">
                      <a:moveTo>
                        <a:pt x="0" y="0"/>
                      </a:moveTo>
                      <a:lnTo>
                        <a:pt x="228600" y="0"/>
                      </a:lnTo>
                    </a:path>
                  </a:pathLst>
                </a:custGeom>
                <a:noFill/>
                <a:ln w="21431">
                  <a:solidFill>
                    <a:srgbClr val="FFFFFF"/>
                  </a:solidFill>
                </a:ln>
              </p:spPr>
            </p:sp>
            <p:sp>
              <p:nvSpPr>
                <p:cNvPr id="26" name="Freeform 26"/>
                <p:cNvSpPr/>
                <p:nvPr/>
              </p:nvSpPr>
              <p:spPr>
                <a:xfrm>
                  <a:off x="990600" y="2171700"/>
                  <a:ext cx="228600" cy="128588"/>
                </a:xfrm>
                <a:custGeom>
                  <a:avLst/>
                  <a:gdLst/>
                  <a:ahLst/>
                  <a:cxnLst/>
                  <a:rect l="l" t="t" r="r" b="b"/>
                  <a:pathLst>
                    <a:path w="228600" h="128588">
                      <a:moveTo>
                        <a:pt x="0" y="128588"/>
                      </a:moveTo>
                      <a:lnTo>
                        <a:pt x="57150" y="42862"/>
                      </a:lnTo>
                      <a:lnTo>
                        <a:pt x="114300" y="71438"/>
                      </a:lnTo>
                      <a:lnTo>
                        <a:pt x="171450" y="0"/>
                      </a:lnTo>
                      <a:lnTo>
                        <a:pt x="228600" y="57150"/>
                      </a:lnTo>
                    </a:path>
                  </a:pathLst>
                </a:custGeom>
                <a:noFill/>
                <a:ln w="21431">
                  <a:solidFill>
                    <a:srgbClr val="FFFFFF"/>
                  </a:solidFill>
                </a:ln>
              </p:spPr>
            </p:sp>
          </p:grpSp>
          <p:sp>
            <p:nvSpPr>
              <p:cNvPr id="28" name="TextBox 28"/>
              <p:cNvSpPr txBox="1"/>
              <p:nvPr/>
            </p:nvSpPr>
            <p:spPr>
              <a:xfrm>
                <a:off x="1613154" y="2042160"/>
                <a:ext cx="819912"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经营目标：</a:t>
                </a:r>
              </a:p>
            </p:txBody>
          </p:sp>
          <p:sp>
            <p:nvSpPr>
              <p:cNvPr id="29" name="TextBox 29"/>
              <p:cNvSpPr txBox="1"/>
              <p:nvPr/>
            </p:nvSpPr>
            <p:spPr>
              <a:xfrm>
                <a:off x="1614488" y="2299097"/>
                <a:ext cx="964565" cy="354806"/>
              </a:xfrm>
              <a:prstGeom prst="rect">
                <a:avLst/>
              </a:prstGeom>
              <a:noFill/>
              <a:ln>
                <a:noFill/>
              </a:ln>
            </p:spPr>
            <p:txBody>
              <a:bodyPr wrap="none" lIns="0" tIns="0" rIns="0" bIns="0" anchor="t" anchorCtr="0">
                <a:spAutoFit/>
              </a:bodyPr>
              <a:lstStyle/>
              <a:p>
                <a:pPr algn="l">
                  <a:lnSpc>
                    <a:spcPts val="1350"/>
                  </a:lnSpc>
                </a:pPr>
                <a:r>
                  <a:rPr lang="zh-CN" sz="940" dirty="0">
                    <a:solidFill>
                      <a:srgbClr val="60403A"/>
                    </a:solidFill>
                    <a:latin typeface="+mn-lt"/>
                    <a:ea typeface="+mn-ea"/>
                    <a:cs typeface="+mn-cs"/>
                  </a:rPr>
                  <a:t>提升活跃、消费、</a:t>
                </a:r>
                <a:br/>
                <a:r>
                  <a:rPr lang="zh-CN" sz="940" dirty="0">
                    <a:solidFill>
                      <a:srgbClr val="60403A"/>
                    </a:solidFill>
                    <a:latin typeface="+mn-lt"/>
                    <a:ea typeface="+mn-ea"/>
                    <a:cs typeface="+mn-cs"/>
                  </a:rPr>
                  <a:t>分期收入和留存</a:t>
                </a:r>
              </a:p>
            </p:txBody>
          </p:sp>
        </p:grpSp>
        <p:grpSp>
          <p:nvGrpSpPr>
            <p:cNvPr id="38" name="goal-service"/>
            <p:cNvGrpSpPr/>
            <p:nvPr/>
          </p:nvGrpSpPr>
          <p:grpSpPr>
            <a:xfrm>
              <a:off x="8763000" y="1733550"/>
              <a:ext cx="2857500" cy="1047750"/>
              <a:chOff x="8763000" y="1733550"/>
              <a:chExt cx="2857500" cy="1047750"/>
            </a:xfrm>
          </p:grpSpPr>
          <p:sp>
            <p:nvSpPr>
              <p:cNvPr id="31" name="Rectangle 31"/>
              <p:cNvSpPr/>
              <p:nvPr/>
            </p:nvSpPr>
            <p:spPr>
              <a:xfrm>
                <a:off x="8763000" y="1733550"/>
                <a:ext cx="2857500" cy="1047750"/>
              </a:xfrm>
              <a:prstGeom prst="roundRect">
                <a:avLst>
                  <a:gd name="adj" fmla="val 50000"/>
                </a:avLst>
              </a:prstGeom>
              <a:solidFill>
                <a:srgbClr val="FFFFFF"/>
              </a:solidFill>
              <a:ln w="14288">
                <a:solidFill>
                  <a:srgbClr val="E84E2F"/>
                </a:solidFill>
              </a:ln>
            </p:spPr>
          </p:sp>
          <p:sp>
            <p:nvSpPr>
              <p:cNvPr id="32" name="Ellipse 32"/>
              <p:cNvSpPr/>
              <p:nvPr/>
            </p:nvSpPr>
            <p:spPr>
              <a:xfrm>
                <a:off x="10744200" y="1914525"/>
                <a:ext cx="685800" cy="685800"/>
              </a:xfrm>
              <a:prstGeom prst="ellipse">
                <a:avLst/>
              </a:prstGeom>
              <a:solidFill>
                <a:srgbClr val="8A1700"/>
              </a:solidFill>
              <a:ln>
                <a:noFill/>
              </a:ln>
            </p:spPr>
          </p:sp>
          <p:grpSp>
            <p:nvGrpSpPr>
              <p:cNvPr id="35" name="Group 35"/>
              <p:cNvGrpSpPr/>
              <p:nvPr/>
            </p:nvGrpSpPr>
            <p:grpSpPr>
              <a:xfrm>
                <a:off x="10939231" y="2128838"/>
                <a:ext cx="279010" cy="257174"/>
                <a:chOff x="10939231" y="2128838"/>
                <a:chExt cx="279010" cy="257174"/>
              </a:xfrm>
            </p:grpSpPr>
            <p:sp>
              <p:nvSpPr>
                <p:cNvPr id="33" name="Freeform 33"/>
                <p:cNvSpPr/>
                <p:nvPr/>
              </p:nvSpPr>
              <p:spPr>
                <a:xfrm>
                  <a:off x="10939231" y="2128838"/>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21431">
                  <a:solidFill>
                    <a:srgbClr val="FFFFFF"/>
                  </a:solidFill>
                </a:ln>
              </p:spPr>
            </p:sp>
            <p:sp>
              <p:nvSpPr>
                <p:cNvPr id="34" name="Freeform 34"/>
                <p:cNvSpPr/>
                <p:nvPr/>
              </p:nvSpPr>
              <p:spPr>
                <a:xfrm>
                  <a:off x="11129962" y="2328862"/>
                  <a:ext cx="85725" cy="57150"/>
                </a:xfrm>
                <a:custGeom>
                  <a:avLst/>
                  <a:gdLst/>
                  <a:ahLst/>
                  <a:cxnLst/>
                  <a:rect l="l" t="t" r="r" b="b"/>
                  <a:pathLst>
                    <a:path w="85725" h="57150">
                      <a:moveTo>
                        <a:pt x="0" y="28575"/>
                      </a:moveTo>
                      <a:lnTo>
                        <a:pt x="28575" y="57150"/>
                      </a:lnTo>
                      <a:lnTo>
                        <a:pt x="85725" y="0"/>
                      </a:lnTo>
                    </a:path>
                  </a:pathLst>
                </a:custGeom>
                <a:noFill/>
                <a:ln w="21431">
                  <a:solidFill>
                    <a:srgbClr val="FFFFFF"/>
                  </a:solidFill>
                </a:ln>
              </p:spPr>
            </p:sp>
          </p:grpSp>
          <p:sp>
            <p:nvSpPr>
              <p:cNvPr id="36" name="TextBox 36"/>
              <p:cNvSpPr txBox="1"/>
              <p:nvPr/>
            </p:nvSpPr>
            <p:spPr>
              <a:xfrm>
                <a:off x="9061704" y="2042160"/>
                <a:ext cx="819912"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服务目标：</a:t>
                </a:r>
              </a:p>
            </p:txBody>
          </p:sp>
          <p:sp>
            <p:nvSpPr>
              <p:cNvPr id="37" name="TextBox 37"/>
              <p:cNvSpPr txBox="1"/>
              <p:nvPr/>
            </p:nvSpPr>
            <p:spPr>
              <a:xfrm>
                <a:off x="9063038" y="2299097"/>
                <a:ext cx="1083945" cy="354806"/>
              </a:xfrm>
              <a:prstGeom prst="rect">
                <a:avLst/>
              </a:prstGeom>
              <a:noFill/>
              <a:ln>
                <a:noFill/>
              </a:ln>
            </p:spPr>
            <p:txBody>
              <a:bodyPr wrap="none" lIns="0" tIns="0" rIns="0" bIns="0" anchor="t" anchorCtr="0">
                <a:spAutoFit/>
              </a:bodyPr>
              <a:lstStyle/>
              <a:p>
                <a:pPr algn="l">
                  <a:lnSpc>
                    <a:spcPts val="1350"/>
                  </a:lnSpc>
                </a:pPr>
                <a:r>
                  <a:rPr lang="zh-CN" sz="940" dirty="0">
                    <a:solidFill>
                      <a:srgbClr val="60403A"/>
                    </a:solidFill>
                    <a:latin typeface="+mn-lt"/>
                    <a:ea typeface="+mn-ea"/>
                    <a:cs typeface="+mn-cs"/>
                  </a:rPr>
                  <a:t>提供免费的金融健康</a:t>
                </a:r>
                <a:br/>
                <a:r>
                  <a:rPr lang="zh-CN" sz="940" dirty="0">
                    <a:solidFill>
                      <a:srgbClr val="60403A"/>
                    </a:solidFill>
                    <a:latin typeface="+mn-lt"/>
                    <a:ea typeface="+mn-ea"/>
                    <a:cs typeface="+mn-cs"/>
                  </a:rPr>
                  <a:t>与权益管理服务</a:t>
                </a:r>
              </a:p>
            </p:txBody>
          </p:sp>
        </p:grpSp>
        <p:grpSp>
          <p:nvGrpSpPr>
            <p:cNvPr id="48" name="goal-relation"/>
            <p:cNvGrpSpPr/>
            <p:nvPr/>
          </p:nvGrpSpPr>
          <p:grpSpPr>
            <a:xfrm>
              <a:off x="4191000" y="3638550"/>
              <a:ext cx="3810000" cy="762000"/>
              <a:chOff x="4191000" y="3638550"/>
              <a:chExt cx="3810000" cy="762000"/>
            </a:xfrm>
          </p:grpSpPr>
          <p:sp>
            <p:nvSpPr>
              <p:cNvPr id="39" name="Rectangle 39"/>
              <p:cNvSpPr/>
              <p:nvPr/>
            </p:nvSpPr>
            <p:spPr>
              <a:xfrm>
                <a:off x="4191000" y="3638550"/>
                <a:ext cx="3810000" cy="762000"/>
              </a:xfrm>
              <a:prstGeom prst="roundRect">
                <a:avLst>
                  <a:gd name="adj" fmla="val 50000"/>
                </a:avLst>
              </a:prstGeom>
              <a:solidFill>
                <a:srgbClr val="FFFFFF"/>
              </a:solidFill>
              <a:ln w="14288">
                <a:solidFill>
                  <a:srgbClr val="E84E2F"/>
                </a:solidFill>
              </a:ln>
            </p:spPr>
          </p:sp>
          <p:sp>
            <p:nvSpPr>
              <p:cNvPr id="40" name="Ellipse 40"/>
              <p:cNvSpPr/>
              <p:nvPr/>
            </p:nvSpPr>
            <p:spPr>
              <a:xfrm>
                <a:off x="4419600" y="3733800"/>
                <a:ext cx="571500" cy="571500"/>
              </a:xfrm>
              <a:prstGeom prst="ellipse">
                <a:avLst/>
              </a:prstGeom>
              <a:solidFill>
                <a:srgbClr val="8A1700"/>
              </a:solidFill>
              <a:ln>
                <a:noFill/>
              </a:ln>
            </p:spPr>
          </p:sp>
          <p:grpSp>
            <p:nvGrpSpPr>
              <p:cNvPr id="45" name="Group 45"/>
              <p:cNvGrpSpPr/>
              <p:nvPr/>
            </p:nvGrpSpPr>
            <p:grpSpPr>
              <a:xfrm>
                <a:off x="4598194" y="3912394"/>
                <a:ext cx="214313" cy="214313"/>
                <a:chOff x="4598194" y="3912394"/>
                <a:chExt cx="214313" cy="214313"/>
              </a:xfrm>
            </p:grpSpPr>
            <p:sp>
              <p:nvSpPr>
                <p:cNvPr id="41" name="Freeform 41"/>
                <p:cNvSpPr/>
                <p:nvPr/>
              </p:nvSpPr>
              <p:spPr>
                <a:xfrm>
                  <a:off x="4622006" y="3912394"/>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7859">
                  <a:solidFill>
                    <a:srgbClr val="FFFFFF"/>
                  </a:solidFill>
                </a:ln>
              </p:spPr>
            </p:sp>
            <p:sp>
              <p:nvSpPr>
                <p:cNvPr id="42" name="Freeform 42"/>
                <p:cNvSpPr/>
                <p:nvPr/>
              </p:nvSpPr>
              <p:spPr>
                <a:xfrm>
                  <a:off x="4598194" y="4055269"/>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17859">
                  <a:solidFill>
                    <a:srgbClr val="FFFFFF"/>
                  </a:solidFill>
                </a:ln>
              </p:spPr>
            </p:sp>
            <p:sp>
              <p:nvSpPr>
                <p:cNvPr id="43" name="Freeform 43"/>
                <p:cNvSpPr/>
                <p:nvPr/>
              </p:nvSpPr>
              <p:spPr>
                <a:xfrm>
                  <a:off x="4752975" y="3913942"/>
                  <a:ext cx="35812" cy="92273"/>
                </a:xfrm>
                <a:custGeom>
                  <a:avLst/>
                  <a:gdLst/>
                  <a:ahLst/>
                  <a:cxnLst/>
                  <a:rect l="l" t="t" r="r" b="b"/>
                  <a:pathLst>
                    <a:path w="35812" h="92273">
                      <a:moveTo>
                        <a:pt x="0" y="0"/>
                      </a:moveTo>
                      <a:cubicBezTo>
                        <a:pt x="21073" y="5396"/>
                        <a:pt x="35812" y="24384"/>
                        <a:pt x="35812" y="46137"/>
                      </a:cubicBezTo>
                      <a:cubicBezTo>
                        <a:pt x="35812" y="67890"/>
                        <a:pt x="21073" y="86878"/>
                        <a:pt x="0" y="92273"/>
                      </a:cubicBezTo>
                    </a:path>
                  </a:pathLst>
                </a:custGeom>
                <a:noFill/>
                <a:ln w="17859">
                  <a:solidFill>
                    <a:srgbClr val="FFFFFF"/>
                  </a:solidFill>
                </a:ln>
              </p:spPr>
            </p:sp>
            <p:sp>
              <p:nvSpPr>
                <p:cNvPr id="44" name="Freeform 44"/>
                <p:cNvSpPr/>
                <p:nvPr/>
              </p:nvSpPr>
              <p:spPr>
                <a:xfrm>
                  <a:off x="4776788" y="4057055"/>
                  <a:ext cx="35719" cy="69652"/>
                </a:xfrm>
                <a:custGeom>
                  <a:avLst/>
                  <a:gdLst/>
                  <a:ahLst/>
                  <a:cxnLst/>
                  <a:rect l="l" t="t" r="r" b="b"/>
                  <a:pathLst>
                    <a:path w="35719" h="69652">
                      <a:moveTo>
                        <a:pt x="35719" y="69652"/>
                      </a:moveTo>
                      <a:lnTo>
                        <a:pt x="35719" y="45839"/>
                      </a:lnTo>
                      <a:cubicBezTo>
                        <a:pt x="35594" y="24224"/>
                        <a:pt x="20929" y="5403"/>
                        <a:pt x="0" y="0"/>
                      </a:cubicBezTo>
                    </a:path>
                  </a:pathLst>
                </a:custGeom>
                <a:noFill/>
                <a:ln w="17859">
                  <a:solidFill>
                    <a:srgbClr val="FFFFFF"/>
                  </a:solidFill>
                </a:ln>
              </p:spPr>
            </p:sp>
          </p:grpSp>
          <p:sp>
            <p:nvSpPr>
              <p:cNvPr id="46" name="TextBox 46"/>
              <p:cNvSpPr txBox="1"/>
              <p:nvPr/>
            </p:nvSpPr>
            <p:spPr>
              <a:xfrm>
                <a:off x="5175504" y="3832860"/>
                <a:ext cx="819912"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关系目标：</a:t>
                </a:r>
              </a:p>
            </p:txBody>
          </p:sp>
          <p:sp>
            <p:nvSpPr>
              <p:cNvPr id="47" name="TextBox 47"/>
              <p:cNvSpPr txBox="1"/>
              <p:nvPr/>
            </p:nvSpPr>
            <p:spPr>
              <a:xfrm>
                <a:off x="5176838" y="4089797"/>
                <a:ext cx="1401496" cy="183356"/>
              </a:xfrm>
              <a:prstGeom prst="rect">
                <a:avLst/>
              </a:prstGeom>
              <a:noFill/>
              <a:ln>
                <a:noFill/>
              </a:ln>
            </p:spPr>
            <p:txBody>
              <a:bodyPr wrap="none" lIns="0" tIns="0" rIns="0" bIns="0" anchor="t" anchorCtr="0">
                <a:spAutoFit/>
              </a:bodyPr>
              <a:lstStyle/>
              <a:p>
                <a:pPr algn="l"/>
                <a:r>
                  <a:rPr lang="zh-CN" sz="940" dirty="0">
                    <a:solidFill>
                      <a:srgbClr val="60403A"/>
                    </a:solidFill>
                    <a:latin typeface="+mn-lt"/>
                    <a:ea typeface="+mn-ea"/>
                    <a:cs typeface="+mn-cs"/>
                  </a:rPr>
                  <a:t>从产品推送转向长期陪伴</a:t>
                </a:r>
              </a:p>
            </p:txBody>
          </p:sp>
        </p:grpSp>
      </p:grpSp>
      <p:grpSp>
        <p:nvGrpSpPr>
          <p:cNvPr id="85" name="kpi-row"/>
          <p:cNvGrpSpPr/>
          <p:nvPr/>
        </p:nvGrpSpPr>
        <p:grpSpPr>
          <a:xfrm>
            <a:off x="228600" y="4762500"/>
            <a:ext cx="11734800" cy="1290257"/>
            <a:chOff x="228600" y="4762500"/>
            <a:chExt cx="11734800" cy="1290257"/>
          </a:xfrm>
        </p:grpSpPr>
        <p:grpSp>
          <p:nvGrpSpPr>
            <p:cNvPr id="59" name="kpi-1"/>
            <p:cNvGrpSpPr/>
            <p:nvPr/>
          </p:nvGrpSpPr>
          <p:grpSpPr>
            <a:xfrm>
              <a:off x="228600" y="4762500"/>
              <a:ext cx="2800350" cy="1290257"/>
              <a:chOff x="228600" y="4762500"/>
              <a:chExt cx="2800350" cy="1290257"/>
            </a:xfrm>
          </p:grpSpPr>
          <p:sp>
            <p:nvSpPr>
              <p:cNvPr id="50" name="Rectangle 50"/>
              <p:cNvSpPr/>
              <p:nvPr/>
            </p:nvSpPr>
            <p:spPr>
              <a:xfrm>
                <a:off x="228600" y="4762500"/>
                <a:ext cx="2800350" cy="1257300"/>
              </a:xfrm>
              <a:prstGeom prst="roundRect">
                <a:avLst>
                  <a:gd name="adj" fmla="val 6061"/>
                </a:avLst>
              </a:prstGeom>
              <a:solidFill>
                <a:srgbClr val="F5F8FE"/>
              </a:solidFill>
              <a:ln w="9525">
                <a:solidFill>
                  <a:srgbClr val="C9D5EA"/>
                </a:solidFill>
              </a:ln>
            </p:spPr>
          </p:sp>
          <p:sp>
            <p:nvSpPr>
              <p:cNvPr id="51" name="Ellipse 51"/>
              <p:cNvSpPr/>
              <p:nvPr/>
            </p:nvSpPr>
            <p:spPr>
              <a:xfrm>
                <a:off x="438150" y="5048250"/>
                <a:ext cx="685800" cy="685800"/>
              </a:xfrm>
              <a:prstGeom prst="ellipse">
                <a:avLst/>
              </a:prstGeom>
              <a:solidFill>
                <a:srgbClr val="FFFFFF"/>
              </a:solidFill>
              <a:ln w="14288">
                <a:solidFill>
                  <a:srgbClr val="E84E2F"/>
                </a:solidFill>
              </a:ln>
            </p:spPr>
          </p:sp>
          <p:grpSp>
            <p:nvGrpSpPr>
              <p:cNvPr id="56" name="Group 56"/>
              <p:cNvGrpSpPr/>
              <p:nvPr/>
            </p:nvGrpSpPr>
            <p:grpSpPr>
              <a:xfrm>
                <a:off x="638175" y="5248275"/>
                <a:ext cx="285751" cy="285751"/>
                <a:chOff x="638175" y="5248275"/>
                <a:chExt cx="285751" cy="285751"/>
              </a:xfrm>
            </p:grpSpPr>
            <p:sp>
              <p:nvSpPr>
                <p:cNvPr id="52" name="Freeform 52"/>
                <p:cNvSpPr/>
                <p:nvPr/>
              </p:nvSpPr>
              <p:spPr>
                <a:xfrm>
                  <a:off x="669925" y="52482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3813">
                  <a:solidFill>
                    <a:srgbClr val="8A1700"/>
                  </a:solidFill>
                </a:ln>
              </p:spPr>
            </p:sp>
            <p:sp>
              <p:nvSpPr>
                <p:cNvPr id="53" name="Freeform 53"/>
                <p:cNvSpPr/>
                <p:nvPr/>
              </p:nvSpPr>
              <p:spPr>
                <a:xfrm>
                  <a:off x="638175" y="5438775"/>
                  <a:ext cx="190500" cy="95250"/>
                </a:xfrm>
                <a:custGeom>
                  <a:avLst/>
                  <a:gdLst/>
                  <a:ahLst/>
                  <a:cxnLst/>
                  <a:rect l="l" t="t" r="r" b="b"/>
                  <a:pathLst>
                    <a:path w="190500" h="95250">
                      <a:moveTo>
                        <a:pt x="0" y="95250"/>
                      </a:moveTo>
                      <a:lnTo>
                        <a:pt x="0" y="63500"/>
                      </a:lnTo>
                      <a:cubicBezTo>
                        <a:pt x="0" y="28430"/>
                        <a:pt x="28430" y="0"/>
                        <a:pt x="63500" y="0"/>
                      </a:cubicBezTo>
                      <a:lnTo>
                        <a:pt x="127000" y="0"/>
                      </a:lnTo>
                      <a:cubicBezTo>
                        <a:pt x="162070" y="0"/>
                        <a:pt x="190500" y="28430"/>
                        <a:pt x="190500" y="63500"/>
                      </a:cubicBezTo>
                      <a:lnTo>
                        <a:pt x="190500" y="95250"/>
                      </a:lnTo>
                    </a:path>
                  </a:pathLst>
                </a:custGeom>
                <a:noFill/>
                <a:ln w="23813">
                  <a:solidFill>
                    <a:srgbClr val="8A1700"/>
                  </a:solidFill>
                </a:ln>
              </p:spPr>
            </p:sp>
            <p:sp>
              <p:nvSpPr>
                <p:cNvPr id="54" name="Freeform 54"/>
                <p:cNvSpPr/>
                <p:nvPr/>
              </p:nvSpPr>
              <p:spPr>
                <a:xfrm>
                  <a:off x="844551" y="5250339"/>
                  <a:ext cx="47750" cy="123031"/>
                </a:xfrm>
                <a:custGeom>
                  <a:avLst/>
                  <a:gdLst/>
                  <a:ahLst/>
                  <a:cxnLst/>
                  <a:rect l="l" t="t" r="r" b="b"/>
                  <a:pathLst>
                    <a:path w="47750" h="123031">
                      <a:moveTo>
                        <a:pt x="0" y="0"/>
                      </a:moveTo>
                      <a:cubicBezTo>
                        <a:pt x="28097" y="7194"/>
                        <a:pt x="47750" y="32512"/>
                        <a:pt x="47750" y="61516"/>
                      </a:cubicBezTo>
                      <a:cubicBezTo>
                        <a:pt x="47750" y="90520"/>
                        <a:pt x="28097" y="115837"/>
                        <a:pt x="0" y="123031"/>
                      </a:cubicBezTo>
                    </a:path>
                  </a:pathLst>
                </a:custGeom>
                <a:noFill/>
                <a:ln w="23813">
                  <a:solidFill>
                    <a:srgbClr val="8A1700"/>
                  </a:solidFill>
                </a:ln>
              </p:spPr>
            </p:sp>
            <p:sp>
              <p:nvSpPr>
                <p:cNvPr id="55" name="Freeform 55"/>
                <p:cNvSpPr/>
                <p:nvPr/>
              </p:nvSpPr>
              <p:spPr>
                <a:xfrm>
                  <a:off x="876301" y="5441157"/>
                  <a:ext cx="47625" cy="92869"/>
                </a:xfrm>
                <a:custGeom>
                  <a:avLst/>
                  <a:gdLst/>
                  <a:ahLst/>
                  <a:cxnLst/>
                  <a:rect l="l" t="t" r="r" b="b"/>
                  <a:pathLst>
                    <a:path w="47625" h="92869">
                      <a:moveTo>
                        <a:pt x="47625" y="92869"/>
                      </a:moveTo>
                      <a:lnTo>
                        <a:pt x="47625" y="61119"/>
                      </a:lnTo>
                      <a:cubicBezTo>
                        <a:pt x="47459" y="32299"/>
                        <a:pt x="27905" y="7205"/>
                        <a:pt x="0" y="0"/>
                      </a:cubicBezTo>
                    </a:path>
                  </a:pathLst>
                </a:custGeom>
                <a:noFill/>
                <a:ln w="23813">
                  <a:solidFill>
                    <a:srgbClr val="8A1700"/>
                  </a:solidFill>
                </a:ln>
              </p:spPr>
            </p:sp>
          </p:grpSp>
          <p:sp>
            <p:nvSpPr>
              <p:cNvPr id="57" name="TextBox 57"/>
              <p:cNvSpPr txBox="1"/>
              <p:nvPr/>
            </p:nvSpPr>
            <p:spPr>
              <a:xfrm>
                <a:off x="1547241" y="4992052"/>
                <a:ext cx="944118" cy="386334"/>
              </a:xfrm>
              <a:prstGeom prst="rect">
                <a:avLst/>
              </a:prstGeom>
              <a:noFill/>
              <a:ln>
                <a:noFill/>
              </a:ln>
            </p:spPr>
            <p:txBody>
              <a:bodyPr wrap="none" lIns="0" tIns="0" rIns="0" bIns="0" anchor="t" anchorCtr="0">
                <a:spAutoFit/>
              </a:bodyPr>
              <a:lstStyle/>
              <a:p>
                <a:pPr algn="ctr">
                  <a:lnSpc>
                    <a:spcPts val="1425"/>
                  </a:lnSpc>
                </a:pPr>
                <a:r>
                  <a:rPr lang="zh-CN" sz="1050" b="1" dirty="0">
                    <a:solidFill>
                      <a:srgbClr val="520E00"/>
                    </a:solidFill>
                    <a:latin typeface="+mn-lt"/>
                    <a:ea typeface="+mn-ea"/>
                    <a:cs typeface="+mn-cs"/>
                  </a:rPr>
                  <a:t>高价值客户服务</a:t>
                </a:r>
                <a:br/>
                <a:r>
                  <a:rPr lang="zh-CN" sz="1050" b="1" dirty="0">
                    <a:solidFill>
                      <a:srgbClr val="520E00"/>
                    </a:solidFill>
                    <a:latin typeface="+mn-lt"/>
                    <a:ea typeface="+mn-ea"/>
                    <a:cs typeface="+mn-cs"/>
                  </a:rPr>
                  <a:t>覆盖率</a:t>
                </a:r>
              </a:p>
            </p:txBody>
          </p:sp>
          <p:sp>
            <p:nvSpPr>
              <p:cNvPr id="58" name="TextBox 58"/>
              <p:cNvSpPr txBox="1"/>
              <p:nvPr/>
            </p:nvSpPr>
            <p:spPr>
              <a:xfrm>
                <a:off x="1573812" y="5554028"/>
                <a:ext cx="890976" cy="498729"/>
              </a:xfrm>
              <a:prstGeom prst="rect">
                <a:avLst/>
              </a:prstGeom>
              <a:noFill/>
              <a:ln>
                <a:noFill/>
              </a:ln>
            </p:spPr>
            <p:txBody>
              <a:bodyPr wrap="none" lIns="0" tIns="0" rIns="0" bIns="0" anchor="t" anchorCtr="0">
                <a:spAutoFit/>
              </a:bodyPr>
              <a:lstStyle/>
              <a:p>
                <a:pPr algn="ctr"/>
                <a:r>
                  <a:rPr lang="zh-CN" sz="2550" b="1" dirty="0">
                    <a:solidFill>
                      <a:srgbClr val="C02C0A"/>
                    </a:solidFill>
                    <a:latin typeface="+mn-lt"/>
                    <a:ea typeface="+mn-ea"/>
                    <a:cs typeface="+mn-cs"/>
                  </a:rPr>
                  <a:t>80%​</a:t>
                </a:r>
              </a:p>
            </p:txBody>
          </p:sp>
        </p:grpSp>
        <p:grpSp>
          <p:nvGrpSpPr>
            <p:cNvPr id="68" name="kpi-2"/>
            <p:cNvGrpSpPr/>
            <p:nvPr/>
          </p:nvGrpSpPr>
          <p:grpSpPr>
            <a:xfrm>
              <a:off x="3219450" y="4762500"/>
              <a:ext cx="2800350" cy="1290257"/>
              <a:chOff x="3219450" y="4762500"/>
              <a:chExt cx="2800350" cy="1290257"/>
            </a:xfrm>
          </p:grpSpPr>
          <p:sp>
            <p:nvSpPr>
              <p:cNvPr id="60" name="Rectangle 60"/>
              <p:cNvSpPr/>
              <p:nvPr/>
            </p:nvSpPr>
            <p:spPr>
              <a:xfrm>
                <a:off x="3219450" y="4762500"/>
                <a:ext cx="2800350" cy="1257300"/>
              </a:xfrm>
              <a:prstGeom prst="roundRect">
                <a:avLst>
                  <a:gd name="adj" fmla="val 6061"/>
                </a:avLst>
              </a:prstGeom>
              <a:solidFill>
                <a:srgbClr val="F5F8FE"/>
              </a:solidFill>
              <a:ln w="9525">
                <a:solidFill>
                  <a:srgbClr val="C9D5EA"/>
                </a:solidFill>
              </a:ln>
            </p:spPr>
          </p:sp>
          <p:sp>
            <p:nvSpPr>
              <p:cNvPr id="61" name="Ellipse 61"/>
              <p:cNvSpPr/>
              <p:nvPr/>
            </p:nvSpPr>
            <p:spPr>
              <a:xfrm>
                <a:off x="3429000" y="5048250"/>
                <a:ext cx="685800" cy="685800"/>
              </a:xfrm>
              <a:prstGeom prst="ellipse">
                <a:avLst/>
              </a:prstGeom>
              <a:solidFill>
                <a:srgbClr val="FFFFFF"/>
              </a:solidFill>
              <a:ln w="14288">
                <a:solidFill>
                  <a:srgbClr val="E84E2F"/>
                </a:solidFill>
              </a:ln>
            </p:spPr>
          </p:sp>
          <p:grpSp>
            <p:nvGrpSpPr>
              <p:cNvPr id="65" name="Group 65"/>
              <p:cNvGrpSpPr/>
              <p:nvPr/>
            </p:nvGrpSpPr>
            <p:grpSpPr>
              <a:xfrm>
                <a:off x="3676650" y="5248275"/>
                <a:ext cx="190500" cy="285751"/>
                <a:chOff x="3676650" y="5248275"/>
                <a:chExt cx="190500" cy="285751"/>
              </a:xfrm>
            </p:grpSpPr>
            <p:sp>
              <p:nvSpPr>
                <p:cNvPr id="62" name="Freeform 62"/>
                <p:cNvSpPr/>
                <p:nvPr/>
              </p:nvSpPr>
              <p:spPr>
                <a:xfrm>
                  <a:off x="3676650" y="5248275"/>
                  <a:ext cx="190500" cy="285751"/>
                </a:xfrm>
                <a:custGeom>
                  <a:avLst/>
                  <a:gdLst/>
                  <a:ahLst/>
                  <a:cxnLst/>
                  <a:rect l="l" t="t" r="r" b="b"/>
                  <a:pathLst>
                    <a:path w="190500" h="285751">
                      <a:moveTo>
                        <a:pt x="0" y="31750"/>
                      </a:moveTo>
                      <a:cubicBezTo>
                        <a:pt x="0" y="14215"/>
                        <a:pt x="14215" y="0"/>
                        <a:pt x="31750" y="0"/>
                      </a:cubicBezTo>
                      <a:lnTo>
                        <a:pt x="158750" y="0"/>
                      </a:lnTo>
                      <a:cubicBezTo>
                        <a:pt x="176285" y="0"/>
                        <a:pt x="190500" y="14215"/>
                        <a:pt x="190500" y="31750"/>
                      </a:cubicBezTo>
                      <a:lnTo>
                        <a:pt x="190500" y="254001"/>
                      </a:lnTo>
                      <a:cubicBezTo>
                        <a:pt x="190500" y="271536"/>
                        <a:pt x="176285" y="285751"/>
                        <a:pt x="158750" y="285751"/>
                      </a:cubicBezTo>
                      <a:lnTo>
                        <a:pt x="31750" y="285751"/>
                      </a:lnTo>
                      <a:cubicBezTo>
                        <a:pt x="14215" y="285751"/>
                        <a:pt x="0" y="271536"/>
                        <a:pt x="0" y="254001"/>
                      </a:cubicBezTo>
                      <a:lnTo>
                        <a:pt x="0" y="31750"/>
                      </a:lnTo>
                    </a:path>
                  </a:pathLst>
                </a:custGeom>
                <a:noFill/>
                <a:ln w="23813">
                  <a:solidFill>
                    <a:srgbClr val="8A1700"/>
                  </a:solidFill>
                </a:ln>
              </p:spPr>
            </p:sp>
            <p:sp>
              <p:nvSpPr>
                <p:cNvPr id="63" name="Freeform 63"/>
                <p:cNvSpPr/>
                <p:nvPr/>
              </p:nvSpPr>
              <p:spPr>
                <a:xfrm>
                  <a:off x="3756025" y="5264150"/>
                  <a:ext cx="31750" cy="9525"/>
                </a:xfrm>
                <a:custGeom>
                  <a:avLst/>
                  <a:gdLst/>
                  <a:ahLst/>
                  <a:cxnLst/>
                  <a:rect l="l" t="t" r="r" b="b"/>
                  <a:pathLst>
                    <a:path w="31750" h="9525">
                      <a:moveTo>
                        <a:pt x="0" y="0"/>
                      </a:moveTo>
                      <a:lnTo>
                        <a:pt x="31750" y="0"/>
                      </a:lnTo>
                    </a:path>
                  </a:pathLst>
                </a:custGeom>
                <a:noFill/>
                <a:ln w="23813">
                  <a:solidFill>
                    <a:srgbClr val="8A1700"/>
                  </a:solidFill>
                </a:ln>
              </p:spPr>
            </p:sp>
            <p:sp>
              <p:nvSpPr>
                <p:cNvPr id="64" name="Freeform 64"/>
                <p:cNvSpPr/>
                <p:nvPr/>
              </p:nvSpPr>
              <p:spPr>
                <a:xfrm>
                  <a:off x="3771900" y="5470526"/>
                  <a:ext cx="9525" cy="9525"/>
                </a:xfrm>
                <a:custGeom>
                  <a:avLst/>
                  <a:gdLst/>
                  <a:ahLst/>
                  <a:cxnLst/>
                  <a:rect l="l" t="t" r="r" b="b"/>
                  <a:pathLst>
                    <a:path w="9525" h="9525">
                      <a:moveTo>
                        <a:pt x="0" y="0"/>
                      </a:moveTo>
                      <a:lnTo>
                        <a:pt x="0" y="159"/>
                      </a:lnTo>
                    </a:path>
                  </a:pathLst>
                </a:custGeom>
                <a:noFill/>
                <a:ln w="23813">
                  <a:solidFill>
                    <a:srgbClr val="8A1700"/>
                  </a:solidFill>
                </a:ln>
              </p:spPr>
            </p:sp>
          </p:grpSp>
          <p:sp>
            <p:nvSpPr>
              <p:cNvPr id="66" name="TextBox 66"/>
              <p:cNvSpPr txBox="1"/>
              <p:nvPr/>
            </p:nvSpPr>
            <p:spPr>
              <a:xfrm>
                <a:off x="4604766" y="4992052"/>
                <a:ext cx="810768" cy="386334"/>
              </a:xfrm>
              <a:prstGeom prst="rect">
                <a:avLst/>
              </a:prstGeom>
              <a:noFill/>
              <a:ln>
                <a:noFill/>
              </a:ln>
            </p:spPr>
            <p:txBody>
              <a:bodyPr wrap="none" lIns="0" tIns="0" rIns="0" bIns="0" anchor="t" anchorCtr="0">
                <a:spAutoFit/>
              </a:bodyPr>
              <a:lstStyle/>
              <a:p>
                <a:pPr algn="ctr">
                  <a:lnSpc>
                    <a:spcPts val="1425"/>
                  </a:lnSpc>
                </a:pPr>
                <a:r>
                  <a:rPr lang="zh-CN" sz="1050" b="1" dirty="0">
                    <a:solidFill>
                      <a:srgbClr val="520E00"/>
                    </a:solidFill>
                    <a:latin typeface="+mn-lt"/>
                    <a:ea typeface="+mn-ea"/>
                    <a:cs typeface="+mn-cs"/>
                  </a:rPr>
                  <a:t>免费金融服务</a:t>
                </a:r>
                <a:br/>
                <a:r>
                  <a:rPr lang="zh-CN" sz="1050" b="1" dirty="0">
                    <a:solidFill>
                      <a:srgbClr val="520E00"/>
                    </a:solidFill>
                    <a:latin typeface="+mn-lt"/>
                    <a:ea typeface="+mn-ea"/>
                    <a:cs typeface="+mn-cs"/>
                  </a:rPr>
                  <a:t>使用率</a:t>
                </a:r>
              </a:p>
            </p:txBody>
          </p:sp>
          <p:sp>
            <p:nvSpPr>
              <p:cNvPr id="67" name="TextBox 67"/>
              <p:cNvSpPr txBox="1"/>
              <p:nvPr/>
            </p:nvSpPr>
            <p:spPr>
              <a:xfrm>
                <a:off x="4564662" y="5554028"/>
                <a:ext cx="890976" cy="498729"/>
              </a:xfrm>
              <a:prstGeom prst="rect">
                <a:avLst/>
              </a:prstGeom>
              <a:noFill/>
              <a:ln>
                <a:noFill/>
              </a:ln>
            </p:spPr>
            <p:txBody>
              <a:bodyPr wrap="none" lIns="0" tIns="0" rIns="0" bIns="0" anchor="t" anchorCtr="0">
                <a:spAutoFit/>
              </a:bodyPr>
              <a:lstStyle/>
              <a:p>
                <a:pPr algn="ctr"/>
                <a:r>
                  <a:rPr lang="zh-CN" sz="2550" b="1" dirty="0">
                    <a:solidFill>
                      <a:srgbClr val="C02C0A"/>
                    </a:solidFill>
                    <a:latin typeface="+mn-lt"/>
                    <a:ea typeface="+mn-ea"/>
                    <a:cs typeface="+mn-cs"/>
                  </a:rPr>
                  <a:t>40%​</a:t>
                </a:r>
              </a:p>
            </p:txBody>
          </p:sp>
        </p:grpSp>
        <p:grpSp>
          <p:nvGrpSpPr>
            <p:cNvPr id="76" name="kpi-3"/>
            <p:cNvGrpSpPr/>
            <p:nvPr/>
          </p:nvGrpSpPr>
          <p:grpSpPr>
            <a:xfrm>
              <a:off x="6210300" y="4762500"/>
              <a:ext cx="2800350" cy="1290257"/>
              <a:chOff x="6210300" y="4762500"/>
              <a:chExt cx="2800350" cy="1290257"/>
            </a:xfrm>
          </p:grpSpPr>
          <p:sp>
            <p:nvSpPr>
              <p:cNvPr id="69" name="Rectangle 69"/>
              <p:cNvSpPr/>
              <p:nvPr/>
            </p:nvSpPr>
            <p:spPr>
              <a:xfrm>
                <a:off x="6210300" y="4762500"/>
                <a:ext cx="2800350" cy="1257300"/>
              </a:xfrm>
              <a:prstGeom prst="roundRect">
                <a:avLst>
                  <a:gd name="adj" fmla="val 6061"/>
                </a:avLst>
              </a:prstGeom>
              <a:solidFill>
                <a:srgbClr val="F5F8FE"/>
              </a:solidFill>
              <a:ln w="9525">
                <a:solidFill>
                  <a:srgbClr val="C9D5EA"/>
                </a:solidFill>
              </a:ln>
            </p:spPr>
          </p:sp>
          <p:sp>
            <p:nvSpPr>
              <p:cNvPr id="70" name="Ellipse 70"/>
              <p:cNvSpPr/>
              <p:nvPr/>
            </p:nvSpPr>
            <p:spPr>
              <a:xfrm>
                <a:off x="6419850" y="5048250"/>
                <a:ext cx="685800" cy="685800"/>
              </a:xfrm>
              <a:prstGeom prst="ellipse">
                <a:avLst/>
              </a:prstGeom>
              <a:solidFill>
                <a:srgbClr val="FFFFFF"/>
              </a:solidFill>
              <a:ln w="14288">
                <a:solidFill>
                  <a:srgbClr val="E84E2F"/>
                </a:solidFill>
              </a:ln>
            </p:spPr>
          </p:sp>
          <p:grpSp>
            <p:nvGrpSpPr>
              <p:cNvPr id="73" name="Group 73"/>
              <p:cNvGrpSpPr/>
              <p:nvPr/>
            </p:nvGrpSpPr>
            <p:grpSpPr>
              <a:xfrm>
                <a:off x="6598451" y="5248275"/>
                <a:ext cx="310011" cy="285751"/>
                <a:chOff x="6598451" y="5248275"/>
                <a:chExt cx="310011" cy="285751"/>
              </a:xfrm>
            </p:grpSpPr>
            <p:sp>
              <p:nvSpPr>
                <p:cNvPr id="71" name="Freeform 71"/>
                <p:cNvSpPr/>
                <p:nvPr/>
              </p:nvSpPr>
              <p:spPr>
                <a:xfrm>
                  <a:off x="6598451" y="5248275"/>
                  <a:ext cx="310011" cy="283306"/>
                </a:xfrm>
                <a:custGeom>
                  <a:avLst/>
                  <a:gdLst/>
                  <a:ahLst/>
                  <a:cxnLst/>
                  <a:rect l="l" t="t" r="r" b="b"/>
                  <a:pathLst>
                    <a:path w="310011" h="283306">
                      <a:moveTo>
                        <a:pt x="155727" y="283306"/>
                      </a:moveTo>
                      <a:cubicBezTo>
                        <a:pt x="56277" y="252479"/>
                        <a:pt x="0" y="147517"/>
                        <a:pt x="29362" y="47625"/>
                      </a:cubicBezTo>
                      <a:cubicBezTo>
                        <a:pt x="78821" y="49888"/>
                        <a:pt x="127218" y="32807"/>
                        <a:pt x="164299" y="0"/>
                      </a:cubicBezTo>
                      <a:cubicBezTo>
                        <a:pt x="201381" y="32807"/>
                        <a:pt x="249778" y="49888"/>
                        <a:pt x="299237" y="47625"/>
                      </a:cubicBezTo>
                      <a:cubicBezTo>
                        <a:pt x="310011" y="84282"/>
                        <a:pt x="309513" y="123332"/>
                        <a:pt x="297808" y="159703"/>
                      </a:cubicBezTo>
                    </a:path>
                  </a:pathLst>
                </a:custGeom>
                <a:noFill/>
                <a:ln w="23813">
                  <a:solidFill>
                    <a:srgbClr val="8A1700"/>
                  </a:solidFill>
                </a:ln>
              </p:spPr>
            </p:sp>
            <p:sp>
              <p:nvSpPr>
                <p:cNvPr id="72" name="Freeform 72"/>
                <p:cNvSpPr/>
                <p:nvPr/>
              </p:nvSpPr>
              <p:spPr>
                <a:xfrm>
                  <a:off x="6810375" y="5470526"/>
                  <a:ext cx="95250" cy="63500"/>
                </a:xfrm>
                <a:custGeom>
                  <a:avLst/>
                  <a:gdLst/>
                  <a:ahLst/>
                  <a:cxnLst/>
                  <a:rect l="l" t="t" r="r" b="b"/>
                  <a:pathLst>
                    <a:path w="95250" h="63500">
                      <a:moveTo>
                        <a:pt x="0" y="31750"/>
                      </a:moveTo>
                      <a:lnTo>
                        <a:pt x="31750" y="63500"/>
                      </a:lnTo>
                      <a:lnTo>
                        <a:pt x="95250" y="0"/>
                      </a:lnTo>
                    </a:path>
                  </a:pathLst>
                </a:custGeom>
                <a:noFill/>
                <a:ln w="23813">
                  <a:solidFill>
                    <a:srgbClr val="8A1700"/>
                  </a:solidFill>
                </a:ln>
              </p:spPr>
            </p:sp>
          </p:grpSp>
          <p:sp>
            <p:nvSpPr>
              <p:cNvPr id="74" name="TextBox 74"/>
              <p:cNvSpPr txBox="1"/>
              <p:nvPr/>
            </p:nvSpPr>
            <p:spPr>
              <a:xfrm>
                <a:off x="7528941" y="4992052"/>
                <a:ext cx="944118" cy="386334"/>
              </a:xfrm>
              <a:prstGeom prst="rect">
                <a:avLst/>
              </a:prstGeom>
              <a:noFill/>
              <a:ln>
                <a:noFill/>
              </a:ln>
            </p:spPr>
            <p:txBody>
              <a:bodyPr wrap="none" lIns="0" tIns="0" rIns="0" bIns="0" anchor="t" anchorCtr="0">
                <a:spAutoFit/>
              </a:bodyPr>
              <a:lstStyle/>
              <a:p>
                <a:pPr algn="ctr">
                  <a:lnSpc>
                    <a:spcPts val="1425"/>
                  </a:lnSpc>
                </a:pPr>
                <a:r>
                  <a:rPr lang="zh-CN" sz="1050" b="1" dirty="0">
                    <a:solidFill>
                      <a:srgbClr val="520E00"/>
                    </a:solidFill>
                    <a:latin typeface="+mn-lt"/>
                    <a:ea typeface="+mn-ea"/>
                    <a:cs typeface="+mn-cs"/>
                  </a:rPr>
                  <a:t>高价值客户年度</a:t>
                </a:r>
                <a:br/>
                <a:r>
                  <a:rPr lang="zh-CN" sz="1050" b="1" dirty="0">
                    <a:solidFill>
                      <a:srgbClr val="520E00"/>
                    </a:solidFill>
                    <a:latin typeface="+mn-lt"/>
                    <a:ea typeface="+mn-ea"/>
                    <a:cs typeface="+mn-cs"/>
                  </a:rPr>
                  <a:t>留存率</a:t>
                </a:r>
              </a:p>
            </p:txBody>
          </p:sp>
          <p:sp>
            <p:nvSpPr>
              <p:cNvPr id="75" name="TextBox 75"/>
              <p:cNvSpPr txBox="1"/>
              <p:nvPr/>
            </p:nvSpPr>
            <p:spPr>
              <a:xfrm>
                <a:off x="7555512" y="5554028"/>
                <a:ext cx="890976" cy="498729"/>
              </a:xfrm>
              <a:prstGeom prst="rect">
                <a:avLst/>
              </a:prstGeom>
              <a:noFill/>
              <a:ln>
                <a:noFill/>
              </a:ln>
            </p:spPr>
            <p:txBody>
              <a:bodyPr wrap="none" lIns="0" tIns="0" rIns="0" bIns="0" anchor="t" anchorCtr="0">
                <a:spAutoFit/>
              </a:bodyPr>
              <a:lstStyle/>
              <a:p>
                <a:pPr algn="ctr"/>
                <a:r>
                  <a:rPr lang="zh-CN" sz="2550" b="1" dirty="0">
                    <a:solidFill>
                      <a:srgbClr val="C02C0A"/>
                    </a:solidFill>
                    <a:latin typeface="+mn-lt"/>
                    <a:ea typeface="+mn-ea"/>
                    <a:cs typeface="+mn-cs"/>
                  </a:rPr>
                  <a:t>95%​</a:t>
                </a:r>
              </a:p>
            </p:txBody>
          </p:sp>
        </p:grpSp>
        <p:grpSp>
          <p:nvGrpSpPr>
            <p:cNvPr id="84" name="kpi-4"/>
            <p:cNvGrpSpPr/>
            <p:nvPr/>
          </p:nvGrpSpPr>
          <p:grpSpPr>
            <a:xfrm>
              <a:off x="9201150" y="4762500"/>
              <a:ext cx="2762250" cy="1290257"/>
              <a:chOff x="9201150" y="4762500"/>
              <a:chExt cx="2762250" cy="1290257"/>
            </a:xfrm>
          </p:grpSpPr>
          <p:sp>
            <p:nvSpPr>
              <p:cNvPr id="77" name="Rectangle 77"/>
              <p:cNvSpPr/>
              <p:nvPr/>
            </p:nvSpPr>
            <p:spPr>
              <a:xfrm>
                <a:off x="9201150" y="4762500"/>
                <a:ext cx="2762250" cy="1257300"/>
              </a:xfrm>
              <a:prstGeom prst="roundRect">
                <a:avLst>
                  <a:gd name="adj" fmla="val 6061"/>
                </a:avLst>
              </a:prstGeom>
              <a:solidFill>
                <a:srgbClr val="F5F8FE"/>
              </a:solidFill>
              <a:ln w="9525">
                <a:solidFill>
                  <a:srgbClr val="C9D5EA"/>
                </a:solidFill>
              </a:ln>
            </p:spPr>
          </p:sp>
          <p:sp>
            <p:nvSpPr>
              <p:cNvPr id="78" name="Ellipse 78"/>
              <p:cNvSpPr/>
              <p:nvPr/>
            </p:nvSpPr>
            <p:spPr>
              <a:xfrm>
                <a:off x="9410700" y="5048250"/>
                <a:ext cx="685800" cy="685800"/>
              </a:xfrm>
              <a:prstGeom prst="ellipse">
                <a:avLst/>
              </a:prstGeom>
              <a:solidFill>
                <a:srgbClr val="FFFFFF"/>
              </a:solidFill>
              <a:ln w="14288">
                <a:solidFill>
                  <a:srgbClr val="E84E2F"/>
                </a:solidFill>
              </a:ln>
            </p:spPr>
          </p:sp>
          <p:grpSp>
            <p:nvGrpSpPr>
              <p:cNvPr id="81" name="Group 81"/>
              <p:cNvGrpSpPr/>
              <p:nvPr/>
            </p:nvGrpSpPr>
            <p:grpSpPr>
              <a:xfrm>
                <a:off x="9610725" y="5311775"/>
                <a:ext cx="285751" cy="158750"/>
                <a:chOff x="9610725" y="5311775"/>
                <a:chExt cx="285751" cy="158750"/>
              </a:xfrm>
            </p:grpSpPr>
            <p:sp>
              <p:nvSpPr>
                <p:cNvPr id="79" name="Freeform 79"/>
                <p:cNvSpPr/>
                <p:nvPr/>
              </p:nvSpPr>
              <p:spPr>
                <a:xfrm>
                  <a:off x="9610725" y="5311775"/>
                  <a:ext cx="285751" cy="158750"/>
                </a:xfrm>
                <a:custGeom>
                  <a:avLst/>
                  <a:gdLst/>
                  <a:ahLst/>
                  <a:cxnLst/>
                  <a:rect l="l" t="t" r="r" b="b"/>
                  <a:pathLst>
                    <a:path w="285751" h="158750">
                      <a:moveTo>
                        <a:pt x="0" y="158750"/>
                      </a:moveTo>
                      <a:lnTo>
                        <a:pt x="95250" y="63500"/>
                      </a:lnTo>
                      <a:lnTo>
                        <a:pt x="158750" y="127000"/>
                      </a:lnTo>
                      <a:lnTo>
                        <a:pt x="285751" y="0"/>
                      </a:lnTo>
                    </a:path>
                  </a:pathLst>
                </a:custGeom>
                <a:noFill/>
                <a:ln w="23813">
                  <a:solidFill>
                    <a:srgbClr val="8A1700"/>
                  </a:solidFill>
                </a:ln>
              </p:spPr>
            </p:sp>
            <p:sp>
              <p:nvSpPr>
                <p:cNvPr id="80" name="Freeform 80"/>
                <p:cNvSpPr/>
                <p:nvPr/>
              </p:nvSpPr>
              <p:spPr>
                <a:xfrm>
                  <a:off x="9785350" y="5311775"/>
                  <a:ext cx="111125" cy="111125"/>
                </a:xfrm>
                <a:custGeom>
                  <a:avLst/>
                  <a:gdLst/>
                  <a:ahLst/>
                  <a:cxnLst/>
                  <a:rect l="l" t="t" r="r" b="b"/>
                  <a:pathLst>
                    <a:path w="111125" h="111125">
                      <a:moveTo>
                        <a:pt x="0" y="0"/>
                      </a:moveTo>
                      <a:lnTo>
                        <a:pt x="111125" y="0"/>
                      </a:lnTo>
                      <a:lnTo>
                        <a:pt x="111125" y="111125"/>
                      </a:lnTo>
                    </a:path>
                  </a:pathLst>
                </a:custGeom>
                <a:noFill/>
                <a:ln w="23813">
                  <a:solidFill>
                    <a:srgbClr val="8A1700"/>
                  </a:solidFill>
                </a:ln>
              </p:spPr>
            </p:sp>
          </p:grpSp>
          <p:sp>
            <p:nvSpPr>
              <p:cNvPr id="82" name="TextBox 82"/>
              <p:cNvSpPr txBox="1"/>
              <p:nvPr/>
            </p:nvSpPr>
            <p:spPr>
              <a:xfrm>
                <a:off x="10719816" y="4992052"/>
                <a:ext cx="544068" cy="386334"/>
              </a:xfrm>
              <a:prstGeom prst="rect">
                <a:avLst/>
              </a:prstGeom>
              <a:noFill/>
              <a:ln>
                <a:noFill/>
              </a:ln>
            </p:spPr>
            <p:txBody>
              <a:bodyPr wrap="none" lIns="0" tIns="0" rIns="0" bIns="0" anchor="t" anchorCtr="0">
                <a:spAutoFit/>
              </a:bodyPr>
              <a:lstStyle/>
              <a:p>
                <a:pPr algn="ctr">
                  <a:lnSpc>
                    <a:spcPts val="1425"/>
                  </a:lnSpc>
                </a:pPr>
                <a:r>
                  <a:rPr lang="zh-CN" sz="1050" b="1" dirty="0">
                    <a:solidFill>
                      <a:srgbClr val="520E00"/>
                    </a:solidFill>
                    <a:latin typeface="+mn-lt"/>
                    <a:ea typeface="+mn-ea"/>
                    <a:cs typeface="+mn-cs"/>
                  </a:rPr>
                  <a:t>综合贡献</a:t>
                </a:r>
                <a:br/>
                <a:r>
                  <a:rPr lang="zh-CN" sz="1050" b="1" dirty="0">
                    <a:solidFill>
                      <a:srgbClr val="520E00"/>
                    </a:solidFill>
                    <a:latin typeface="+mn-lt"/>
                    <a:ea typeface="+mn-ea"/>
                    <a:cs typeface="+mn-cs"/>
                  </a:rPr>
                  <a:t>提升</a:t>
                </a:r>
              </a:p>
            </p:txBody>
          </p:sp>
          <p:sp>
            <p:nvSpPr>
              <p:cNvPr id="83" name="TextBox 83"/>
              <p:cNvSpPr txBox="1"/>
              <p:nvPr/>
            </p:nvSpPr>
            <p:spPr>
              <a:xfrm>
                <a:off x="10546362" y="5554028"/>
                <a:ext cx="890976" cy="498729"/>
              </a:xfrm>
              <a:prstGeom prst="rect">
                <a:avLst/>
              </a:prstGeom>
              <a:noFill/>
              <a:ln>
                <a:noFill/>
              </a:ln>
            </p:spPr>
            <p:txBody>
              <a:bodyPr wrap="none" lIns="0" tIns="0" rIns="0" bIns="0" anchor="t" anchorCtr="0">
                <a:spAutoFit/>
              </a:bodyPr>
              <a:lstStyle/>
              <a:p>
                <a:pPr algn="ctr"/>
                <a:r>
                  <a:rPr lang="zh-CN" sz="2550" b="1" dirty="0">
                    <a:solidFill>
                      <a:srgbClr val="C02C0A"/>
                    </a:solidFill>
                    <a:latin typeface="+mn-lt"/>
                    <a:ea typeface="+mn-ea"/>
                    <a:cs typeface="+mn-cs"/>
                  </a:rPr>
                  <a:t>15%​</a:t>
                </a:r>
              </a:p>
            </p:txBody>
          </p:sp>
        </p:grpSp>
      </p:gr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256413" y="162401"/>
              <a:ext cx="35243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4​</a:t>
              </a:r>
            </a:p>
          </p:txBody>
        </p:sp>
        <p:sp>
          <p:nvSpPr>
            <p:cNvPr id="4" name="TextBox 4"/>
            <p:cNvSpPr txBox="1"/>
            <p:nvPr/>
          </p:nvSpPr>
          <p:spPr>
            <a:xfrm>
              <a:off x="942594" y="151448"/>
              <a:ext cx="4457700"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总体架构：构建一池、三层、六体系</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55" name="pool"/>
          <p:cNvGrpSpPr/>
          <p:nvPr/>
        </p:nvGrpSpPr>
        <p:grpSpPr>
          <a:xfrm>
            <a:off x="228600" y="762000"/>
            <a:ext cx="11734800" cy="1162050"/>
            <a:chOff x="228600" y="762000"/>
            <a:chExt cx="11734800" cy="1162050"/>
          </a:xfrm>
        </p:grpSpPr>
        <p:sp>
          <p:nvSpPr>
            <p:cNvPr id="7" name="Rectangle 7"/>
            <p:cNvSpPr/>
            <p:nvPr/>
          </p:nvSpPr>
          <p:spPr>
            <a:xfrm>
              <a:off x="228600" y="762000"/>
              <a:ext cx="11734800" cy="1162050"/>
            </a:xfrm>
            <a:prstGeom prst="roundRect">
              <a:avLst>
                <a:gd name="adj" fmla="val 6557"/>
              </a:avLst>
            </a:prstGeom>
            <a:solidFill>
              <a:srgbClr val="FFFFFF"/>
            </a:solidFill>
            <a:ln w="9525">
              <a:solidFill>
                <a:srgbClr val="C9D5EA"/>
              </a:solidFill>
            </a:ln>
          </p:spPr>
        </p:sp>
        <p:sp>
          <p:nvSpPr>
            <p:cNvPr id="8" name="Rectangle 8"/>
            <p:cNvSpPr/>
            <p:nvPr/>
          </p:nvSpPr>
          <p:spPr>
            <a:xfrm>
              <a:off x="228600" y="762000"/>
              <a:ext cx="11734800" cy="323850"/>
            </a:xfrm>
            <a:prstGeom prst="roundRect">
              <a:avLst>
                <a:gd name="adj" fmla="val 23529"/>
              </a:avLst>
            </a:prstGeom>
            <a:solidFill>
              <a:srgbClr val="8A1700"/>
            </a:solidFill>
            <a:ln>
              <a:noFill/>
            </a:ln>
          </p:spPr>
        </p:sp>
        <p:sp>
          <p:nvSpPr>
            <p:cNvPr id="9" name="Rectangle 9"/>
            <p:cNvSpPr/>
            <p:nvPr/>
          </p:nvSpPr>
          <p:spPr>
            <a:xfrm>
              <a:off x="228600" y="952500"/>
              <a:ext cx="11734800" cy="133350"/>
            </a:xfrm>
            <a:prstGeom prst="rect">
              <a:avLst/>
            </a:prstGeom>
            <a:solidFill>
              <a:srgbClr val="8A1700"/>
            </a:solidFill>
            <a:ln>
              <a:noFill/>
            </a:ln>
          </p:spPr>
        </p:sp>
        <p:sp>
          <p:nvSpPr>
            <p:cNvPr id="10" name="TextBox 10"/>
            <p:cNvSpPr txBox="1"/>
            <p:nvPr/>
          </p:nvSpPr>
          <p:spPr>
            <a:xfrm>
              <a:off x="4969485" y="852964"/>
              <a:ext cx="225303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一池：信用卡客户私域资产池</a:t>
              </a:r>
            </a:p>
          </p:txBody>
        </p:sp>
        <p:grpSp>
          <p:nvGrpSpPr>
            <p:cNvPr id="15" name="pool-item-1"/>
            <p:cNvGrpSpPr/>
            <p:nvPr/>
          </p:nvGrpSpPr>
          <p:grpSpPr>
            <a:xfrm>
              <a:off x="815054" y="1281113"/>
              <a:ext cx="827342" cy="550544"/>
              <a:chOff x="815054" y="1281113"/>
              <a:chExt cx="827342" cy="550544"/>
            </a:xfrm>
          </p:grpSpPr>
          <p:grpSp>
            <p:nvGrpSpPr>
              <p:cNvPr id="13" name="Group 13"/>
              <p:cNvGrpSpPr/>
              <p:nvPr/>
            </p:nvGrpSpPr>
            <p:grpSpPr>
              <a:xfrm>
                <a:off x="1107281" y="1281113"/>
                <a:ext cx="242888" cy="161925"/>
                <a:chOff x="1107281" y="1281113"/>
                <a:chExt cx="242888" cy="161925"/>
              </a:xfrm>
            </p:grpSpPr>
            <p:sp>
              <p:nvSpPr>
                <p:cNvPr id="11" name="Freeform 11"/>
                <p:cNvSpPr/>
                <p:nvPr/>
              </p:nvSpPr>
              <p:spPr>
                <a:xfrm>
                  <a:off x="1201738" y="1335088"/>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0241">
                  <a:solidFill>
                    <a:srgbClr val="E84E2F"/>
                  </a:solidFill>
                </a:ln>
              </p:spPr>
            </p:sp>
            <p:sp>
              <p:nvSpPr>
                <p:cNvPr id="12" name="Freeform 12"/>
                <p:cNvSpPr/>
                <p:nvPr/>
              </p:nvSpPr>
              <p:spPr>
                <a:xfrm>
                  <a:off x="1107281" y="1281113"/>
                  <a:ext cx="242888" cy="161925"/>
                </a:xfrm>
                <a:custGeom>
                  <a:avLst/>
                  <a:gdLst/>
                  <a:ahLst/>
                  <a:cxnLst/>
                  <a:rect l="l" t="t" r="r" b="b"/>
                  <a:pathLst>
                    <a:path w="242888" h="161925">
                      <a:moveTo>
                        <a:pt x="242888" y="80963"/>
                      </a:moveTo>
                      <a:cubicBezTo>
                        <a:pt x="210503" y="134938"/>
                        <a:pt x="170022" y="161925"/>
                        <a:pt x="121444" y="161925"/>
                      </a:cubicBezTo>
                      <a:cubicBezTo>
                        <a:pt x="72866" y="161925"/>
                        <a:pt x="32385" y="134938"/>
                        <a:pt x="0" y="80963"/>
                      </a:cubicBezTo>
                      <a:cubicBezTo>
                        <a:pt x="32385" y="26988"/>
                        <a:pt x="72866" y="0"/>
                        <a:pt x="121444" y="0"/>
                      </a:cubicBezTo>
                      <a:cubicBezTo>
                        <a:pt x="170022" y="0"/>
                        <a:pt x="210503" y="26988"/>
                        <a:pt x="242888" y="80963"/>
                      </a:cubicBezTo>
                    </a:path>
                  </a:pathLst>
                </a:custGeom>
                <a:noFill/>
                <a:ln w="20241">
                  <a:solidFill>
                    <a:srgbClr val="E84E2F"/>
                  </a:solidFill>
                </a:ln>
              </p:spPr>
            </p:sp>
          </p:grpSp>
          <p:sp>
            <p:nvSpPr>
              <p:cNvPr id="14" name="TextBox 14"/>
              <p:cNvSpPr txBox="1"/>
              <p:nvPr/>
            </p:nvSpPr>
            <p:spPr>
              <a:xfrm>
                <a:off x="815054" y="1655445"/>
                <a:ext cx="827342" cy="176212"/>
              </a:xfrm>
              <a:prstGeom prst="rect">
                <a:avLst/>
              </a:prstGeom>
              <a:noFill/>
              <a:ln>
                <a:noFill/>
              </a:ln>
            </p:spPr>
            <p:txBody>
              <a:bodyPr wrap="none" lIns="0" tIns="0" rIns="0" bIns="0" anchor="t" anchorCtr="0">
                <a:spAutoFit/>
              </a:bodyPr>
              <a:lstStyle/>
              <a:p>
                <a:pPr algn="ctr"/>
                <a:r>
                  <a:rPr lang="zh-CN" sz="900" dirty="0">
                    <a:solidFill>
                      <a:srgbClr val="60403A"/>
                    </a:solidFill>
                    <a:latin typeface="+mn-lt"/>
                    <a:ea typeface="+mn-ea"/>
                    <a:cs typeface="+mn-cs"/>
                  </a:rPr>
                  <a:t>360°客户视图​</a:t>
                </a:r>
              </a:p>
            </p:txBody>
          </p:sp>
        </p:grpSp>
        <p:grpSp>
          <p:nvGrpSpPr>
            <p:cNvPr id="22" name="pool-item-2"/>
            <p:cNvGrpSpPr/>
            <p:nvPr/>
          </p:nvGrpSpPr>
          <p:grpSpPr>
            <a:xfrm>
              <a:off x="2263635" y="1240631"/>
              <a:ext cx="673379" cy="591026"/>
              <a:chOff x="2263635" y="1240631"/>
              <a:chExt cx="673379" cy="591026"/>
            </a:xfrm>
          </p:grpSpPr>
          <p:grpSp>
            <p:nvGrpSpPr>
              <p:cNvPr id="20" name="Group 20"/>
              <p:cNvGrpSpPr/>
              <p:nvPr/>
            </p:nvGrpSpPr>
            <p:grpSpPr>
              <a:xfrm>
                <a:off x="2505869" y="1240631"/>
                <a:ext cx="188913" cy="242888"/>
                <a:chOff x="2505869" y="1240631"/>
                <a:chExt cx="188913" cy="242888"/>
              </a:xfrm>
            </p:grpSpPr>
            <p:sp>
              <p:nvSpPr>
                <p:cNvPr id="16" name="Freeform 16"/>
                <p:cNvSpPr/>
                <p:nvPr/>
              </p:nvSpPr>
              <p:spPr>
                <a:xfrm>
                  <a:off x="2505869" y="1240631"/>
                  <a:ext cx="188913" cy="242888"/>
                </a:xfrm>
                <a:custGeom>
                  <a:avLst/>
                  <a:gdLst/>
                  <a:ahLst/>
                  <a:cxnLst/>
                  <a:rect l="l" t="t" r="r" b="b"/>
                  <a:pathLst>
                    <a:path w="188913" h="242888">
                      <a:moveTo>
                        <a:pt x="0" y="40481"/>
                      </a:moveTo>
                      <a:cubicBezTo>
                        <a:pt x="0" y="18124"/>
                        <a:pt x="18124" y="0"/>
                        <a:pt x="40481" y="0"/>
                      </a:cubicBezTo>
                      <a:lnTo>
                        <a:pt x="148432" y="0"/>
                      </a:lnTo>
                      <a:cubicBezTo>
                        <a:pt x="170789" y="0"/>
                        <a:pt x="188913" y="18124"/>
                        <a:pt x="188913" y="40481"/>
                      </a:cubicBezTo>
                      <a:lnTo>
                        <a:pt x="188913" y="202407"/>
                      </a:lnTo>
                      <a:cubicBezTo>
                        <a:pt x="188913" y="224764"/>
                        <a:pt x="170789" y="242888"/>
                        <a:pt x="148432" y="242888"/>
                      </a:cubicBezTo>
                      <a:lnTo>
                        <a:pt x="40481" y="242888"/>
                      </a:lnTo>
                      <a:cubicBezTo>
                        <a:pt x="18124" y="242888"/>
                        <a:pt x="0" y="224764"/>
                        <a:pt x="0" y="202407"/>
                      </a:cubicBezTo>
                      <a:lnTo>
                        <a:pt x="0" y="40481"/>
                      </a:lnTo>
                    </a:path>
                  </a:pathLst>
                </a:custGeom>
                <a:noFill/>
                <a:ln w="20241">
                  <a:solidFill>
                    <a:srgbClr val="E84E2F"/>
                  </a:solidFill>
                </a:ln>
              </p:spPr>
            </p:sp>
            <p:sp>
              <p:nvSpPr>
                <p:cNvPr id="17" name="Freeform 17"/>
                <p:cNvSpPr/>
                <p:nvPr/>
              </p:nvSpPr>
              <p:spPr>
                <a:xfrm>
                  <a:off x="2573338" y="1348582"/>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0241">
                  <a:solidFill>
                    <a:srgbClr val="E84E2F"/>
                  </a:solidFill>
                </a:ln>
              </p:spPr>
            </p:sp>
            <p:sp>
              <p:nvSpPr>
                <p:cNvPr id="18" name="Freeform 18"/>
                <p:cNvSpPr/>
                <p:nvPr/>
              </p:nvSpPr>
              <p:spPr>
                <a:xfrm>
                  <a:off x="2573338" y="1281113"/>
                  <a:ext cx="53975" cy="9525"/>
                </a:xfrm>
                <a:custGeom>
                  <a:avLst/>
                  <a:gdLst/>
                  <a:ahLst/>
                  <a:cxnLst/>
                  <a:rect l="l" t="t" r="r" b="b"/>
                  <a:pathLst>
                    <a:path w="53975" h="9525">
                      <a:moveTo>
                        <a:pt x="0" y="0"/>
                      </a:moveTo>
                      <a:lnTo>
                        <a:pt x="53975" y="0"/>
                      </a:lnTo>
                    </a:path>
                  </a:pathLst>
                </a:custGeom>
                <a:noFill/>
                <a:ln w="20241">
                  <a:solidFill>
                    <a:srgbClr val="E84E2F"/>
                  </a:solidFill>
                </a:ln>
              </p:spPr>
            </p:sp>
            <p:sp>
              <p:nvSpPr>
                <p:cNvPr id="19" name="Freeform 19"/>
                <p:cNvSpPr/>
                <p:nvPr/>
              </p:nvSpPr>
              <p:spPr>
                <a:xfrm>
                  <a:off x="2559844" y="1443038"/>
                  <a:ext cx="80963" cy="9525"/>
                </a:xfrm>
                <a:custGeom>
                  <a:avLst/>
                  <a:gdLst/>
                  <a:ahLst/>
                  <a:cxnLst/>
                  <a:rect l="l" t="t" r="r" b="b"/>
                  <a:pathLst>
                    <a:path w="80963" h="9525">
                      <a:moveTo>
                        <a:pt x="0" y="0"/>
                      </a:moveTo>
                      <a:lnTo>
                        <a:pt x="80963" y="0"/>
                      </a:lnTo>
                    </a:path>
                  </a:pathLst>
                </a:custGeom>
                <a:noFill/>
                <a:ln w="20241">
                  <a:solidFill>
                    <a:srgbClr val="E84E2F"/>
                  </a:solidFill>
                </a:ln>
              </p:spPr>
            </p:sp>
          </p:grpSp>
          <p:sp>
            <p:nvSpPr>
              <p:cNvPr id="21" name="TextBox 21"/>
              <p:cNvSpPr txBox="1"/>
              <p:nvPr/>
            </p:nvSpPr>
            <p:spPr>
              <a:xfrm>
                <a:off x="2263635" y="1655445"/>
                <a:ext cx="673379" cy="176212"/>
              </a:xfrm>
              <a:prstGeom prst="rect">
                <a:avLst/>
              </a:prstGeom>
              <a:noFill/>
              <a:ln>
                <a:noFill/>
              </a:ln>
            </p:spPr>
            <p:txBody>
              <a:bodyPr wrap="none" lIns="0" tIns="0" rIns="0" bIns="0" anchor="t" anchorCtr="0">
                <a:spAutoFit/>
              </a:bodyPr>
              <a:lstStyle/>
              <a:p>
                <a:pPr algn="ctr"/>
                <a:r>
                  <a:rPr lang="zh-CN" sz="900" dirty="0">
                    <a:solidFill>
                      <a:srgbClr val="60403A"/>
                    </a:solidFill>
                    <a:latin typeface="+mn-lt"/>
                    <a:ea typeface="+mn-ea"/>
                    <a:cs typeface="+mn-cs"/>
                  </a:rPr>
                  <a:t>统一客户ID​</a:t>
                </a:r>
              </a:p>
            </p:txBody>
          </p:sp>
        </p:grpSp>
        <p:grpSp>
          <p:nvGrpSpPr>
            <p:cNvPr id="28" name="pool-item-3"/>
            <p:cNvGrpSpPr/>
            <p:nvPr/>
          </p:nvGrpSpPr>
          <p:grpSpPr>
            <a:xfrm>
              <a:off x="3543110" y="1240631"/>
              <a:ext cx="857631" cy="591026"/>
              <a:chOff x="3543110" y="1240631"/>
              <a:chExt cx="857631" cy="591026"/>
            </a:xfrm>
          </p:grpSpPr>
          <p:grpSp>
            <p:nvGrpSpPr>
              <p:cNvPr id="26" name="Group 26"/>
              <p:cNvGrpSpPr/>
              <p:nvPr/>
            </p:nvGrpSpPr>
            <p:grpSpPr>
              <a:xfrm>
                <a:off x="3863975" y="1240631"/>
                <a:ext cx="215901" cy="242888"/>
                <a:chOff x="3863975" y="1240631"/>
                <a:chExt cx="215901" cy="242888"/>
              </a:xfrm>
            </p:grpSpPr>
            <p:sp>
              <p:nvSpPr>
                <p:cNvPr id="23" name="Freeform 23"/>
                <p:cNvSpPr/>
                <p:nvPr/>
              </p:nvSpPr>
              <p:spPr>
                <a:xfrm>
                  <a:off x="3863975" y="1240631"/>
                  <a:ext cx="215901" cy="80963"/>
                </a:xfrm>
                <a:custGeom>
                  <a:avLst/>
                  <a:gdLst/>
                  <a:ahLst/>
                  <a:cxnLst/>
                  <a:rect l="l" t="t" r="r" b="b"/>
                  <a:pathLst>
                    <a:path w="215901" h="80963">
                      <a:moveTo>
                        <a:pt x="0" y="40481"/>
                      </a:moveTo>
                      <a:cubicBezTo>
                        <a:pt x="0" y="62839"/>
                        <a:pt x="48331" y="80963"/>
                        <a:pt x="107950" y="80963"/>
                      </a:cubicBezTo>
                      <a:cubicBezTo>
                        <a:pt x="167570" y="80963"/>
                        <a:pt x="215901" y="62839"/>
                        <a:pt x="215901" y="40481"/>
                      </a:cubicBezTo>
                      <a:cubicBezTo>
                        <a:pt x="215901" y="18124"/>
                        <a:pt x="167570" y="0"/>
                        <a:pt x="107950" y="0"/>
                      </a:cubicBezTo>
                      <a:cubicBezTo>
                        <a:pt x="48331" y="0"/>
                        <a:pt x="0" y="18124"/>
                        <a:pt x="0" y="40481"/>
                      </a:cubicBezTo>
                    </a:path>
                  </a:pathLst>
                </a:custGeom>
                <a:noFill/>
                <a:ln w="20241">
                  <a:solidFill>
                    <a:srgbClr val="E84E2F"/>
                  </a:solidFill>
                </a:ln>
              </p:spPr>
            </p:sp>
            <p:sp>
              <p:nvSpPr>
                <p:cNvPr id="24" name="Freeform 24"/>
                <p:cNvSpPr/>
                <p:nvPr/>
              </p:nvSpPr>
              <p:spPr>
                <a:xfrm>
                  <a:off x="3863975" y="1281113"/>
                  <a:ext cx="215901" cy="121444"/>
                </a:xfrm>
                <a:custGeom>
                  <a:avLst/>
                  <a:gdLst/>
                  <a:ahLst/>
                  <a:cxnLst/>
                  <a:rect l="l" t="t" r="r" b="b"/>
                  <a:pathLst>
                    <a:path w="215901" h="121444">
                      <a:moveTo>
                        <a:pt x="0" y="0"/>
                      </a:moveTo>
                      <a:lnTo>
                        <a:pt x="0" y="80963"/>
                      </a:lnTo>
                      <a:cubicBezTo>
                        <a:pt x="0" y="103320"/>
                        <a:pt x="48331" y="121444"/>
                        <a:pt x="107950" y="121444"/>
                      </a:cubicBezTo>
                      <a:cubicBezTo>
                        <a:pt x="167570" y="121444"/>
                        <a:pt x="215901" y="103320"/>
                        <a:pt x="215901" y="80963"/>
                      </a:cubicBezTo>
                      <a:lnTo>
                        <a:pt x="215901" y="0"/>
                      </a:lnTo>
                    </a:path>
                  </a:pathLst>
                </a:custGeom>
                <a:noFill/>
                <a:ln w="20241">
                  <a:solidFill>
                    <a:srgbClr val="E84E2F"/>
                  </a:solidFill>
                </a:ln>
              </p:spPr>
            </p:sp>
            <p:sp>
              <p:nvSpPr>
                <p:cNvPr id="25" name="Freeform 25"/>
                <p:cNvSpPr/>
                <p:nvPr/>
              </p:nvSpPr>
              <p:spPr>
                <a:xfrm>
                  <a:off x="3863975" y="1362075"/>
                  <a:ext cx="215901" cy="121444"/>
                </a:xfrm>
                <a:custGeom>
                  <a:avLst/>
                  <a:gdLst/>
                  <a:ahLst/>
                  <a:cxnLst/>
                  <a:rect l="l" t="t" r="r" b="b"/>
                  <a:pathLst>
                    <a:path w="215901" h="121444">
                      <a:moveTo>
                        <a:pt x="0" y="0"/>
                      </a:moveTo>
                      <a:lnTo>
                        <a:pt x="0" y="80963"/>
                      </a:lnTo>
                      <a:cubicBezTo>
                        <a:pt x="0" y="103320"/>
                        <a:pt x="48331" y="121444"/>
                        <a:pt x="107950" y="121444"/>
                      </a:cubicBezTo>
                      <a:cubicBezTo>
                        <a:pt x="167570" y="121444"/>
                        <a:pt x="215901" y="103320"/>
                        <a:pt x="215901" y="80963"/>
                      </a:cubicBezTo>
                      <a:lnTo>
                        <a:pt x="215901" y="0"/>
                      </a:lnTo>
                    </a:path>
                  </a:pathLst>
                </a:custGeom>
                <a:noFill/>
                <a:ln w="20241">
                  <a:solidFill>
                    <a:srgbClr val="E84E2F"/>
                  </a:solidFill>
                </a:ln>
              </p:spPr>
            </p:sp>
          </p:grpSp>
          <p:sp>
            <p:nvSpPr>
              <p:cNvPr id="27" name="TextBox 27"/>
              <p:cNvSpPr txBox="1"/>
              <p:nvPr/>
            </p:nvSpPr>
            <p:spPr>
              <a:xfrm>
                <a:off x="3543110" y="1655445"/>
                <a:ext cx="857631" cy="176212"/>
              </a:xfrm>
              <a:prstGeom prst="rect">
                <a:avLst/>
              </a:prstGeom>
              <a:noFill/>
              <a:ln>
                <a:noFill/>
              </a:ln>
            </p:spPr>
            <p:txBody>
              <a:bodyPr wrap="none" lIns="0" tIns="0" rIns="0" bIns="0" anchor="t" anchorCtr="0">
                <a:spAutoFit/>
              </a:bodyPr>
              <a:lstStyle/>
              <a:p>
                <a:pPr algn="ctr"/>
                <a:r>
                  <a:rPr lang="zh-CN" sz="900" dirty="0">
                    <a:solidFill>
                      <a:srgbClr val="60403A"/>
                    </a:solidFill>
                    <a:latin typeface="+mn-lt"/>
                    <a:ea typeface="+mn-ea"/>
                    <a:cs typeface="+mn-cs"/>
                  </a:rPr>
                  <a:t>资产沉淀与整合</a:t>
                </a:r>
              </a:p>
            </p:txBody>
          </p:sp>
        </p:grpSp>
        <p:grpSp>
          <p:nvGrpSpPr>
            <p:cNvPr id="38" name="pool-center"/>
            <p:cNvGrpSpPr/>
            <p:nvPr/>
          </p:nvGrpSpPr>
          <p:grpSpPr>
            <a:xfrm>
              <a:off x="5181600" y="1200150"/>
              <a:ext cx="1828800" cy="609600"/>
              <a:chOff x="5181600" y="1200150"/>
              <a:chExt cx="1828800" cy="609600"/>
            </a:xfrm>
          </p:grpSpPr>
          <p:sp>
            <p:nvSpPr>
              <p:cNvPr id="29" name="Ellipse 29"/>
              <p:cNvSpPr/>
              <p:nvPr/>
            </p:nvSpPr>
            <p:spPr>
              <a:xfrm>
                <a:off x="5181600" y="1543050"/>
                <a:ext cx="1828800" cy="266700"/>
              </a:xfrm>
              <a:prstGeom prst="ellipse">
                <a:avLst/>
              </a:prstGeom>
              <a:solidFill>
                <a:srgbClr val="DCE6F5"/>
              </a:solidFill>
              <a:ln>
                <a:noFill/>
              </a:ln>
            </p:spPr>
          </p:sp>
          <p:sp>
            <p:nvSpPr>
              <p:cNvPr id="30" name="Ellipse 30"/>
              <p:cNvSpPr/>
              <p:nvPr/>
            </p:nvSpPr>
            <p:spPr>
              <a:xfrm>
                <a:off x="5334000" y="1514475"/>
                <a:ext cx="1524000" cy="209550"/>
              </a:xfrm>
              <a:prstGeom prst="ellipse">
                <a:avLst/>
              </a:prstGeom>
              <a:solidFill>
                <a:srgbClr val="E84E2F"/>
              </a:solidFill>
              <a:ln>
                <a:noFill/>
              </a:ln>
            </p:spPr>
          </p:sp>
          <p:grpSp>
            <p:nvGrpSpPr>
              <p:cNvPr id="37" name="Group 37"/>
              <p:cNvGrpSpPr/>
              <p:nvPr/>
            </p:nvGrpSpPr>
            <p:grpSpPr>
              <a:xfrm>
                <a:off x="5924550" y="1200150"/>
                <a:ext cx="342900" cy="342900"/>
                <a:chOff x="5924550" y="1200150"/>
                <a:chExt cx="342900" cy="342900"/>
              </a:xfrm>
            </p:grpSpPr>
            <p:sp>
              <p:nvSpPr>
                <p:cNvPr id="31" name="Freeform 31"/>
                <p:cNvSpPr/>
                <p:nvPr/>
              </p:nvSpPr>
              <p:spPr>
                <a:xfrm>
                  <a:off x="6057900" y="13525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8575">
                  <a:solidFill>
                    <a:srgbClr val="8A1700"/>
                  </a:solidFill>
                </a:ln>
              </p:spPr>
            </p:sp>
            <p:sp>
              <p:nvSpPr>
                <p:cNvPr id="32" name="Freeform 32"/>
                <p:cNvSpPr/>
                <p:nvPr/>
              </p:nvSpPr>
              <p:spPr>
                <a:xfrm>
                  <a:off x="6019800" y="1485900"/>
                  <a:ext cx="152400" cy="57150"/>
                </a:xfrm>
                <a:custGeom>
                  <a:avLst/>
                  <a:gdLst/>
                  <a:ahLst/>
                  <a:cxnLst/>
                  <a:rect l="l" t="t" r="r" b="b"/>
                  <a:pathLst>
                    <a:path w="152400" h="57150">
                      <a:moveTo>
                        <a:pt x="0" y="57150"/>
                      </a:moveTo>
                      <a:lnTo>
                        <a:pt x="0" y="38100"/>
                      </a:lnTo>
                      <a:cubicBezTo>
                        <a:pt x="0" y="17058"/>
                        <a:pt x="17058" y="0"/>
                        <a:pt x="38100" y="0"/>
                      </a:cubicBezTo>
                      <a:lnTo>
                        <a:pt x="114300" y="0"/>
                      </a:lnTo>
                      <a:cubicBezTo>
                        <a:pt x="135342" y="0"/>
                        <a:pt x="152400" y="17058"/>
                        <a:pt x="152400" y="38100"/>
                      </a:cubicBezTo>
                      <a:lnTo>
                        <a:pt x="152400" y="57150"/>
                      </a:lnTo>
                    </a:path>
                  </a:pathLst>
                </a:custGeom>
                <a:noFill/>
                <a:ln w="28575">
                  <a:solidFill>
                    <a:srgbClr val="8A1700"/>
                  </a:solidFill>
                </a:ln>
              </p:spPr>
            </p:sp>
            <p:sp>
              <p:nvSpPr>
                <p:cNvPr id="33" name="Freeform 33"/>
                <p:cNvSpPr/>
                <p:nvPr/>
              </p:nvSpPr>
              <p:spPr>
                <a:xfrm>
                  <a:off x="6153150" y="12001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8575">
                  <a:solidFill>
                    <a:srgbClr val="8A1700"/>
                  </a:solidFill>
                </a:ln>
              </p:spPr>
            </p:sp>
            <p:sp>
              <p:nvSpPr>
                <p:cNvPr id="34" name="Freeform 34"/>
                <p:cNvSpPr/>
                <p:nvPr/>
              </p:nvSpPr>
              <p:spPr>
                <a:xfrm>
                  <a:off x="6191250" y="1333500"/>
                  <a:ext cx="76200" cy="57150"/>
                </a:xfrm>
                <a:custGeom>
                  <a:avLst/>
                  <a:gdLst/>
                  <a:ahLst/>
                  <a:cxnLst/>
                  <a:rect l="l" t="t" r="r" b="b"/>
                  <a:pathLst>
                    <a:path w="76200" h="57150">
                      <a:moveTo>
                        <a:pt x="0" y="0"/>
                      </a:moveTo>
                      <a:lnTo>
                        <a:pt x="38100" y="0"/>
                      </a:lnTo>
                      <a:cubicBezTo>
                        <a:pt x="59142" y="0"/>
                        <a:pt x="76200" y="17058"/>
                        <a:pt x="76200" y="38100"/>
                      </a:cubicBezTo>
                      <a:lnTo>
                        <a:pt x="76200" y="57150"/>
                      </a:lnTo>
                    </a:path>
                  </a:pathLst>
                </a:custGeom>
                <a:noFill/>
                <a:ln w="28575">
                  <a:solidFill>
                    <a:srgbClr val="8A1700"/>
                  </a:solidFill>
                </a:ln>
              </p:spPr>
            </p:sp>
            <p:sp>
              <p:nvSpPr>
                <p:cNvPr id="35" name="Freeform 35"/>
                <p:cNvSpPr/>
                <p:nvPr/>
              </p:nvSpPr>
              <p:spPr>
                <a:xfrm>
                  <a:off x="5962650" y="12001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8575">
                  <a:solidFill>
                    <a:srgbClr val="8A1700"/>
                  </a:solidFill>
                </a:ln>
              </p:spPr>
            </p:sp>
            <p:sp>
              <p:nvSpPr>
                <p:cNvPr id="36" name="Freeform 36"/>
                <p:cNvSpPr/>
                <p:nvPr/>
              </p:nvSpPr>
              <p:spPr>
                <a:xfrm>
                  <a:off x="5924550" y="1333500"/>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28575">
                  <a:solidFill>
                    <a:srgbClr val="8A1700"/>
                  </a:solidFill>
                </a:ln>
              </p:spPr>
            </p:sp>
          </p:grpSp>
        </p:grpSp>
        <p:grpSp>
          <p:nvGrpSpPr>
            <p:cNvPr id="44" name="pool-item-4"/>
            <p:cNvGrpSpPr/>
            <p:nvPr/>
          </p:nvGrpSpPr>
          <p:grpSpPr>
            <a:xfrm>
              <a:off x="7851838" y="1240631"/>
              <a:ext cx="736473" cy="591026"/>
              <a:chOff x="7851838" y="1240631"/>
              <a:chExt cx="736473" cy="591026"/>
            </a:xfrm>
          </p:grpSpPr>
          <p:grpSp>
            <p:nvGrpSpPr>
              <p:cNvPr id="42" name="Group 42"/>
              <p:cNvGrpSpPr/>
              <p:nvPr/>
            </p:nvGrpSpPr>
            <p:grpSpPr>
              <a:xfrm>
                <a:off x="8093012" y="1240631"/>
                <a:ext cx="254127" cy="242888"/>
                <a:chOff x="8093012" y="1240631"/>
                <a:chExt cx="254127" cy="242888"/>
              </a:xfrm>
            </p:grpSpPr>
            <p:sp>
              <p:nvSpPr>
                <p:cNvPr id="39" name="Freeform 39"/>
                <p:cNvSpPr/>
                <p:nvPr/>
              </p:nvSpPr>
              <p:spPr>
                <a:xfrm>
                  <a:off x="8093012" y="1240631"/>
                  <a:ext cx="254127" cy="242888"/>
                </a:xfrm>
                <a:custGeom>
                  <a:avLst/>
                  <a:gdLst/>
                  <a:ahLst/>
                  <a:cxnLst/>
                  <a:rect l="l" t="t" r="r" b="b"/>
                  <a:pathLst>
                    <a:path w="254127" h="242888">
                      <a:moveTo>
                        <a:pt x="127063" y="0"/>
                      </a:moveTo>
                      <a:cubicBezTo>
                        <a:pt x="158583" y="27886"/>
                        <a:pt x="199720" y="42405"/>
                        <a:pt x="241761" y="40481"/>
                      </a:cubicBezTo>
                      <a:cubicBezTo>
                        <a:pt x="254127" y="82549"/>
                        <a:pt x="248904" y="127833"/>
                        <a:pt x="227287" y="165981"/>
                      </a:cubicBezTo>
                      <a:cubicBezTo>
                        <a:pt x="205670" y="204129"/>
                        <a:pt x="169506" y="231879"/>
                        <a:pt x="127063" y="242888"/>
                      </a:cubicBezTo>
                      <a:cubicBezTo>
                        <a:pt x="84621" y="231879"/>
                        <a:pt x="48457" y="204129"/>
                        <a:pt x="26840" y="165981"/>
                      </a:cubicBezTo>
                      <a:cubicBezTo>
                        <a:pt x="5222" y="127833"/>
                        <a:pt x="0" y="82549"/>
                        <a:pt x="12366" y="40481"/>
                      </a:cubicBezTo>
                      <a:cubicBezTo>
                        <a:pt x="54407" y="42405"/>
                        <a:pt x="95544" y="27886"/>
                        <a:pt x="127063" y="0"/>
                      </a:cubicBezTo>
                    </a:path>
                  </a:pathLst>
                </a:custGeom>
                <a:noFill/>
                <a:ln w="20241">
                  <a:solidFill>
                    <a:srgbClr val="E84E2F"/>
                  </a:solidFill>
                </a:ln>
              </p:spPr>
            </p:sp>
            <p:sp>
              <p:nvSpPr>
                <p:cNvPr id="40" name="Freeform 40"/>
                <p:cNvSpPr/>
                <p:nvPr/>
              </p:nvSpPr>
              <p:spPr>
                <a:xfrm>
                  <a:off x="8206582" y="1335088"/>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0241">
                  <a:solidFill>
                    <a:srgbClr val="E84E2F"/>
                  </a:solidFill>
                </a:ln>
              </p:spPr>
            </p:sp>
            <p:sp>
              <p:nvSpPr>
                <p:cNvPr id="41" name="Freeform 41"/>
                <p:cNvSpPr/>
                <p:nvPr/>
              </p:nvSpPr>
              <p:spPr>
                <a:xfrm>
                  <a:off x="8220075" y="1362075"/>
                  <a:ext cx="9525" cy="33734"/>
                </a:xfrm>
                <a:custGeom>
                  <a:avLst/>
                  <a:gdLst/>
                  <a:ahLst/>
                  <a:cxnLst/>
                  <a:rect l="l" t="t" r="r" b="b"/>
                  <a:pathLst>
                    <a:path w="9525" h="33734">
                      <a:moveTo>
                        <a:pt x="0" y="0"/>
                      </a:moveTo>
                      <a:lnTo>
                        <a:pt x="0" y="33734"/>
                      </a:lnTo>
                    </a:path>
                  </a:pathLst>
                </a:custGeom>
                <a:noFill/>
                <a:ln w="20241">
                  <a:solidFill>
                    <a:srgbClr val="E84E2F"/>
                  </a:solidFill>
                </a:ln>
              </p:spPr>
            </p:sp>
          </p:grpSp>
          <p:sp>
            <p:nvSpPr>
              <p:cNvPr id="43" name="TextBox 43"/>
              <p:cNvSpPr txBox="1"/>
              <p:nvPr/>
            </p:nvSpPr>
            <p:spPr>
              <a:xfrm>
                <a:off x="7851838" y="1655445"/>
                <a:ext cx="736473" cy="176212"/>
              </a:xfrm>
              <a:prstGeom prst="rect">
                <a:avLst/>
              </a:prstGeom>
              <a:noFill/>
              <a:ln>
                <a:noFill/>
              </a:ln>
            </p:spPr>
            <p:txBody>
              <a:bodyPr wrap="none" lIns="0" tIns="0" rIns="0" bIns="0" anchor="t" anchorCtr="0">
                <a:spAutoFit/>
              </a:bodyPr>
              <a:lstStyle/>
              <a:p>
                <a:pPr algn="ctr"/>
                <a:r>
                  <a:rPr lang="zh-CN" sz="900" dirty="0">
                    <a:solidFill>
                      <a:srgbClr val="60403A"/>
                    </a:solidFill>
                    <a:latin typeface="+mn-lt"/>
                    <a:ea typeface="+mn-ea"/>
                    <a:cs typeface="+mn-cs"/>
                  </a:rPr>
                  <a:t>隐私合规保护</a:t>
                </a:r>
              </a:p>
            </p:txBody>
          </p:sp>
        </p:grpSp>
        <p:grpSp>
          <p:nvGrpSpPr>
            <p:cNvPr id="49" name="pool-item-5"/>
            <p:cNvGrpSpPr/>
            <p:nvPr/>
          </p:nvGrpSpPr>
          <p:grpSpPr>
            <a:xfrm>
              <a:off x="9344596" y="1248919"/>
              <a:ext cx="494157" cy="582738"/>
              <a:chOff x="9344596" y="1248919"/>
              <a:chExt cx="494157" cy="582738"/>
            </a:xfrm>
          </p:grpSpPr>
          <p:grpSp>
            <p:nvGrpSpPr>
              <p:cNvPr id="47" name="Group 47"/>
              <p:cNvGrpSpPr/>
              <p:nvPr/>
            </p:nvGrpSpPr>
            <p:grpSpPr>
              <a:xfrm>
                <a:off x="9483725" y="1248919"/>
                <a:ext cx="215901" cy="226313"/>
                <a:chOff x="9483725" y="1248919"/>
                <a:chExt cx="215901" cy="226313"/>
              </a:xfrm>
            </p:grpSpPr>
            <p:sp>
              <p:nvSpPr>
                <p:cNvPr id="45" name="Freeform 45"/>
                <p:cNvSpPr/>
                <p:nvPr/>
              </p:nvSpPr>
              <p:spPr>
                <a:xfrm>
                  <a:off x="9483725" y="1248919"/>
                  <a:ext cx="215901" cy="99663"/>
                </a:xfrm>
                <a:custGeom>
                  <a:avLst/>
                  <a:gdLst/>
                  <a:ahLst/>
                  <a:cxnLst/>
                  <a:rect l="l" t="t" r="r" b="b"/>
                  <a:pathLst>
                    <a:path w="215901" h="99663">
                      <a:moveTo>
                        <a:pt x="215901" y="99663"/>
                      </a:moveTo>
                      <a:cubicBezTo>
                        <a:pt x="209117" y="50849"/>
                        <a:pt x="170506" y="12613"/>
                        <a:pt x="121629" y="6307"/>
                      </a:cubicBezTo>
                      <a:cubicBezTo>
                        <a:pt x="72751" y="0"/>
                        <a:pt x="25699" y="27183"/>
                        <a:pt x="6747" y="72675"/>
                      </a:cubicBezTo>
                      <a:moveTo>
                        <a:pt x="0" y="18700"/>
                      </a:moveTo>
                      <a:lnTo>
                        <a:pt x="0" y="72675"/>
                      </a:lnTo>
                      <a:lnTo>
                        <a:pt x="53975" y="72675"/>
                      </a:lnTo>
                    </a:path>
                  </a:pathLst>
                </a:custGeom>
                <a:noFill/>
                <a:ln w="20241">
                  <a:solidFill>
                    <a:srgbClr val="E84E2F"/>
                  </a:solidFill>
                </a:ln>
              </p:spPr>
            </p:sp>
            <p:sp>
              <p:nvSpPr>
                <p:cNvPr id="46" name="Freeform 46"/>
                <p:cNvSpPr/>
                <p:nvPr/>
              </p:nvSpPr>
              <p:spPr>
                <a:xfrm>
                  <a:off x="9483725" y="1375569"/>
                  <a:ext cx="215901" cy="99663"/>
                </a:xfrm>
                <a:custGeom>
                  <a:avLst/>
                  <a:gdLst/>
                  <a:ahLst/>
                  <a:cxnLst/>
                  <a:rect l="l" t="t" r="r" b="b"/>
                  <a:pathLst>
                    <a:path w="215901" h="99663">
                      <a:moveTo>
                        <a:pt x="0" y="0"/>
                      </a:moveTo>
                      <a:cubicBezTo>
                        <a:pt x="6784" y="48813"/>
                        <a:pt x="45395" y="87049"/>
                        <a:pt x="94272" y="93356"/>
                      </a:cubicBezTo>
                      <a:cubicBezTo>
                        <a:pt x="143149" y="99663"/>
                        <a:pt x="190201" y="72480"/>
                        <a:pt x="209154" y="26988"/>
                      </a:cubicBezTo>
                      <a:moveTo>
                        <a:pt x="215901" y="80963"/>
                      </a:moveTo>
                      <a:lnTo>
                        <a:pt x="215901" y="26988"/>
                      </a:lnTo>
                      <a:lnTo>
                        <a:pt x="161925" y="26988"/>
                      </a:lnTo>
                    </a:path>
                  </a:pathLst>
                </a:custGeom>
                <a:noFill/>
                <a:ln w="20241">
                  <a:solidFill>
                    <a:srgbClr val="E84E2F"/>
                  </a:solidFill>
                </a:ln>
              </p:spPr>
            </p:sp>
          </p:grpSp>
          <p:sp>
            <p:nvSpPr>
              <p:cNvPr id="48" name="TextBox 48"/>
              <p:cNvSpPr txBox="1"/>
              <p:nvPr/>
            </p:nvSpPr>
            <p:spPr>
              <a:xfrm>
                <a:off x="9344596" y="1655445"/>
                <a:ext cx="494157" cy="176212"/>
              </a:xfrm>
              <a:prstGeom prst="rect">
                <a:avLst/>
              </a:prstGeom>
              <a:noFill/>
              <a:ln>
                <a:noFill/>
              </a:ln>
            </p:spPr>
            <p:txBody>
              <a:bodyPr wrap="none" lIns="0" tIns="0" rIns="0" bIns="0" anchor="t" anchorCtr="0">
                <a:spAutoFit/>
              </a:bodyPr>
              <a:lstStyle/>
              <a:p>
                <a:pPr algn="ctr"/>
                <a:r>
                  <a:rPr lang="zh-CN" sz="900" dirty="0">
                    <a:solidFill>
                      <a:srgbClr val="60403A"/>
                    </a:solidFill>
                    <a:latin typeface="+mn-lt"/>
                    <a:ea typeface="+mn-ea"/>
                    <a:cs typeface="+mn-cs"/>
                  </a:rPr>
                  <a:t>实时更新</a:t>
                </a:r>
              </a:p>
            </p:txBody>
          </p:sp>
        </p:grpSp>
        <p:grpSp>
          <p:nvGrpSpPr>
            <p:cNvPr id="54" name="pool-item-6"/>
            <p:cNvGrpSpPr/>
            <p:nvPr/>
          </p:nvGrpSpPr>
          <p:grpSpPr>
            <a:xfrm>
              <a:off x="10595038" y="1294606"/>
              <a:ext cx="736473" cy="537051"/>
              <a:chOff x="10595038" y="1294606"/>
              <a:chExt cx="736473" cy="537051"/>
            </a:xfrm>
          </p:grpSpPr>
          <p:grpSp>
            <p:nvGrpSpPr>
              <p:cNvPr id="52" name="Group 52"/>
              <p:cNvGrpSpPr/>
              <p:nvPr/>
            </p:nvGrpSpPr>
            <p:grpSpPr>
              <a:xfrm>
                <a:off x="10841831" y="1294606"/>
                <a:ext cx="242888" cy="134938"/>
                <a:chOff x="10841831" y="1294606"/>
                <a:chExt cx="242888" cy="134938"/>
              </a:xfrm>
            </p:grpSpPr>
            <p:sp>
              <p:nvSpPr>
                <p:cNvPr id="50" name="Freeform 50"/>
                <p:cNvSpPr/>
                <p:nvPr/>
              </p:nvSpPr>
              <p:spPr>
                <a:xfrm>
                  <a:off x="10841831" y="1294606"/>
                  <a:ext cx="242888" cy="134938"/>
                </a:xfrm>
                <a:custGeom>
                  <a:avLst/>
                  <a:gdLst/>
                  <a:ahLst/>
                  <a:cxnLst/>
                  <a:rect l="l" t="t" r="r" b="b"/>
                  <a:pathLst>
                    <a:path w="242888" h="134938">
                      <a:moveTo>
                        <a:pt x="0" y="134938"/>
                      </a:moveTo>
                      <a:lnTo>
                        <a:pt x="80963" y="53975"/>
                      </a:lnTo>
                      <a:lnTo>
                        <a:pt x="134938" y="107950"/>
                      </a:lnTo>
                      <a:lnTo>
                        <a:pt x="242888" y="0"/>
                      </a:lnTo>
                    </a:path>
                  </a:pathLst>
                </a:custGeom>
                <a:noFill/>
                <a:ln w="20241">
                  <a:solidFill>
                    <a:srgbClr val="E84E2F"/>
                  </a:solidFill>
                </a:ln>
              </p:spPr>
            </p:sp>
            <p:sp>
              <p:nvSpPr>
                <p:cNvPr id="51" name="Freeform 51"/>
                <p:cNvSpPr/>
                <p:nvPr/>
              </p:nvSpPr>
              <p:spPr>
                <a:xfrm>
                  <a:off x="10990263" y="1294606"/>
                  <a:ext cx="94456" cy="94456"/>
                </a:xfrm>
                <a:custGeom>
                  <a:avLst/>
                  <a:gdLst/>
                  <a:ahLst/>
                  <a:cxnLst/>
                  <a:rect l="l" t="t" r="r" b="b"/>
                  <a:pathLst>
                    <a:path w="94456" h="94456">
                      <a:moveTo>
                        <a:pt x="0" y="0"/>
                      </a:moveTo>
                      <a:lnTo>
                        <a:pt x="94456" y="0"/>
                      </a:lnTo>
                      <a:lnTo>
                        <a:pt x="94456" y="94456"/>
                      </a:lnTo>
                    </a:path>
                  </a:pathLst>
                </a:custGeom>
                <a:noFill/>
                <a:ln w="20241">
                  <a:solidFill>
                    <a:srgbClr val="E84E2F"/>
                  </a:solidFill>
                </a:ln>
              </p:spPr>
            </p:sp>
          </p:grpSp>
          <p:sp>
            <p:nvSpPr>
              <p:cNvPr id="53" name="TextBox 53"/>
              <p:cNvSpPr txBox="1"/>
              <p:nvPr/>
            </p:nvSpPr>
            <p:spPr>
              <a:xfrm>
                <a:off x="10595038" y="1655445"/>
                <a:ext cx="736473" cy="176212"/>
              </a:xfrm>
              <a:prstGeom prst="rect">
                <a:avLst/>
              </a:prstGeom>
              <a:noFill/>
              <a:ln>
                <a:noFill/>
              </a:ln>
            </p:spPr>
            <p:txBody>
              <a:bodyPr wrap="none" lIns="0" tIns="0" rIns="0" bIns="0" anchor="t" anchorCtr="0">
                <a:spAutoFit/>
              </a:bodyPr>
              <a:lstStyle/>
              <a:p>
                <a:pPr algn="ctr"/>
                <a:r>
                  <a:rPr lang="zh-CN" sz="900" dirty="0">
                    <a:solidFill>
                      <a:srgbClr val="60403A"/>
                    </a:solidFill>
                    <a:latin typeface="+mn-lt"/>
                    <a:ea typeface="+mn-ea"/>
                    <a:cs typeface="+mn-cs"/>
                  </a:rPr>
                  <a:t>价值挖掘增值</a:t>
                </a:r>
              </a:p>
            </p:txBody>
          </p:sp>
        </p:grpSp>
      </p:grpSp>
      <p:grpSp>
        <p:nvGrpSpPr>
          <p:cNvPr id="100" name="layer-touch"/>
          <p:cNvGrpSpPr/>
          <p:nvPr/>
        </p:nvGrpSpPr>
        <p:grpSpPr>
          <a:xfrm>
            <a:off x="228600" y="2019300"/>
            <a:ext cx="11734800" cy="628650"/>
            <a:chOff x="228600" y="2019300"/>
            <a:chExt cx="11734800" cy="628650"/>
          </a:xfrm>
        </p:grpSpPr>
        <p:sp>
          <p:nvSpPr>
            <p:cNvPr id="56" name="Rectangle 56"/>
            <p:cNvSpPr/>
            <p:nvPr/>
          </p:nvSpPr>
          <p:spPr>
            <a:xfrm>
              <a:off x="228600" y="2019300"/>
              <a:ext cx="876300" cy="628650"/>
            </a:xfrm>
            <a:prstGeom prst="roundRect">
              <a:avLst>
                <a:gd name="adj" fmla="val 9091"/>
              </a:avLst>
            </a:prstGeom>
            <a:solidFill>
              <a:srgbClr val="520E00"/>
            </a:solidFill>
            <a:ln>
              <a:noFill/>
            </a:ln>
          </p:spPr>
        </p:sp>
        <p:sp>
          <p:nvSpPr>
            <p:cNvPr id="57" name="TextBox 57"/>
            <p:cNvSpPr txBox="1"/>
            <p:nvPr/>
          </p:nvSpPr>
          <p:spPr>
            <a:xfrm>
              <a:off x="401803" y="2253139"/>
              <a:ext cx="52989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触点层</a:t>
              </a:r>
            </a:p>
          </p:txBody>
        </p:sp>
        <p:sp>
          <p:nvSpPr>
            <p:cNvPr id="58" name="Rectangle 58"/>
            <p:cNvSpPr/>
            <p:nvPr/>
          </p:nvSpPr>
          <p:spPr>
            <a:xfrm>
              <a:off x="1162050" y="2019300"/>
              <a:ext cx="10801350" cy="628650"/>
            </a:xfrm>
            <a:prstGeom prst="roundRect">
              <a:avLst>
                <a:gd name="adj" fmla="val 9091"/>
              </a:avLst>
            </a:prstGeom>
            <a:solidFill>
              <a:srgbClr val="F5F8FE"/>
            </a:solidFill>
            <a:ln w="9525">
              <a:solidFill>
                <a:srgbClr val="C9D5EA"/>
              </a:solidFill>
            </a:ln>
          </p:spPr>
        </p:sp>
        <p:sp>
          <p:nvSpPr>
            <p:cNvPr id="59" name="TextBox 59"/>
            <p:cNvSpPr txBox="1"/>
            <p:nvPr/>
          </p:nvSpPr>
          <p:spPr>
            <a:xfrm>
              <a:off x="1328738" y="2127647"/>
              <a:ext cx="3604361" cy="183356"/>
            </a:xfrm>
            <a:prstGeom prst="rect">
              <a:avLst/>
            </a:prstGeom>
            <a:noFill/>
            <a:ln>
              <a:noFill/>
            </a:ln>
          </p:spPr>
          <p:txBody>
            <a:bodyPr wrap="none" lIns="0" tIns="0" rIns="0" bIns="0" anchor="t" anchorCtr="0">
              <a:spAutoFit/>
            </a:bodyPr>
            <a:lstStyle/>
            <a:p>
              <a:pPr algn="l"/>
              <a:r>
                <a:rPr lang="zh-CN" sz="940" b="1" dirty="0">
                  <a:solidFill>
                    <a:srgbClr val="520E00"/>
                  </a:solidFill>
                  <a:latin typeface="+mn-lt"/>
                  <a:ea typeface="+mn-ea"/>
                  <a:cs typeface="+mn-cs"/>
                </a:rPr>
                <a:t>触点层：APP、公众号、小程序、企业微信、短信、客服、网点​</a:t>
              </a:r>
            </a:p>
          </p:txBody>
        </p:sp>
        <p:grpSp>
          <p:nvGrpSpPr>
            <p:cNvPr id="63" name="Group 63"/>
            <p:cNvGrpSpPr/>
            <p:nvPr/>
          </p:nvGrpSpPr>
          <p:grpSpPr>
            <a:xfrm>
              <a:off x="1766888" y="2369344"/>
              <a:ext cx="104775" cy="157163"/>
              <a:chOff x="1766888" y="2369344"/>
              <a:chExt cx="104775" cy="157163"/>
            </a:xfrm>
          </p:grpSpPr>
          <p:sp>
            <p:nvSpPr>
              <p:cNvPr id="60" name="Freeform 60"/>
              <p:cNvSpPr/>
              <p:nvPr/>
            </p:nvSpPr>
            <p:spPr>
              <a:xfrm>
                <a:off x="1766888" y="2369344"/>
                <a:ext cx="104775" cy="157163"/>
              </a:xfrm>
              <a:custGeom>
                <a:avLst/>
                <a:gdLst/>
                <a:ahLst/>
                <a:cxnLst/>
                <a:rect l="l" t="t" r="r" b="b"/>
                <a:pathLst>
                  <a:path w="104775" h="157163">
                    <a:moveTo>
                      <a:pt x="0" y="17463"/>
                    </a:moveTo>
                    <a:cubicBezTo>
                      <a:pt x="0" y="7818"/>
                      <a:pt x="7818" y="0"/>
                      <a:pt x="17463" y="0"/>
                    </a:cubicBezTo>
                    <a:lnTo>
                      <a:pt x="87313" y="0"/>
                    </a:lnTo>
                    <a:cubicBezTo>
                      <a:pt x="96957" y="0"/>
                      <a:pt x="104775" y="7818"/>
                      <a:pt x="104775" y="17463"/>
                    </a:cubicBezTo>
                    <a:lnTo>
                      <a:pt x="104775" y="139700"/>
                    </a:lnTo>
                    <a:cubicBezTo>
                      <a:pt x="104775" y="149344"/>
                      <a:pt x="96957" y="157163"/>
                      <a:pt x="87313" y="157163"/>
                    </a:cubicBezTo>
                    <a:lnTo>
                      <a:pt x="17463" y="157163"/>
                    </a:lnTo>
                    <a:cubicBezTo>
                      <a:pt x="7818" y="157163"/>
                      <a:pt x="0" y="149344"/>
                      <a:pt x="0" y="139700"/>
                    </a:cubicBezTo>
                    <a:lnTo>
                      <a:pt x="0" y="17463"/>
                    </a:lnTo>
                  </a:path>
                </a:pathLst>
              </a:custGeom>
              <a:noFill/>
              <a:ln w="15716">
                <a:solidFill>
                  <a:srgbClr val="8A1700"/>
                </a:solidFill>
              </a:ln>
            </p:spPr>
          </p:sp>
          <p:sp>
            <p:nvSpPr>
              <p:cNvPr id="61" name="Freeform 61"/>
              <p:cNvSpPr/>
              <p:nvPr/>
            </p:nvSpPr>
            <p:spPr>
              <a:xfrm>
                <a:off x="1810544" y="2378075"/>
                <a:ext cx="17463" cy="9525"/>
              </a:xfrm>
              <a:custGeom>
                <a:avLst/>
                <a:gdLst/>
                <a:ahLst/>
                <a:cxnLst/>
                <a:rect l="l" t="t" r="r" b="b"/>
                <a:pathLst>
                  <a:path w="17463" h="9525">
                    <a:moveTo>
                      <a:pt x="0" y="0"/>
                    </a:moveTo>
                    <a:lnTo>
                      <a:pt x="17463" y="0"/>
                    </a:lnTo>
                  </a:path>
                </a:pathLst>
              </a:custGeom>
              <a:noFill/>
              <a:ln w="15716">
                <a:solidFill>
                  <a:srgbClr val="8A1700"/>
                </a:solidFill>
              </a:ln>
            </p:spPr>
          </p:sp>
          <p:sp>
            <p:nvSpPr>
              <p:cNvPr id="62" name="Freeform 62"/>
              <p:cNvSpPr/>
              <p:nvPr/>
            </p:nvSpPr>
            <p:spPr>
              <a:xfrm>
                <a:off x="1819275" y="2491581"/>
                <a:ext cx="9525" cy="9525"/>
              </a:xfrm>
              <a:custGeom>
                <a:avLst/>
                <a:gdLst/>
                <a:ahLst/>
                <a:cxnLst/>
                <a:rect l="l" t="t" r="r" b="b"/>
                <a:pathLst>
                  <a:path w="9525" h="9525">
                    <a:moveTo>
                      <a:pt x="0" y="0"/>
                    </a:moveTo>
                    <a:lnTo>
                      <a:pt x="0" y="87"/>
                    </a:lnTo>
                  </a:path>
                </a:pathLst>
              </a:custGeom>
              <a:noFill/>
              <a:ln w="15716">
                <a:solidFill>
                  <a:srgbClr val="8A1700"/>
                </a:solidFill>
              </a:ln>
            </p:spPr>
          </p:sp>
        </p:grpSp>
        <p:sp>
          <p:nvSpPr>
            <p:cNvPr id="64" name="TextBox 64"/>
            <p:cNvSpPr txBox="1"/>
            <p:nvPr/>
          </p:nvSpPr>
          <p:spPr>
            <a:xfrm>
              <a:off x="1976438" y="2407920"/>
              <a:ext cx="291160" cy="176212"/>
            </a:xfrm>
            <a:prstGeom prst="rect">
              <a:avLst/>
            </a:prstGeom>
            <a:noFill/>
            <a:ln>
              <a:noFill/>
            </a:ln>
          </p:spPr>
          <p:txBody>
            <a:bodyPr wrap="none" lIns="0" tIns="0" rIns="0" bIns="0" anchor="t" anchorCtr="0">
              <a:spAutoFit/>
            </a:bodyPr>
            <a:lstStyle/>
            <a:p>
              <a:pPr algn="l"/>
              <a:r>
                <a:rPr lang="en-US" sz="900" dirty="0">
                  <a:solidFill>
                    <a:srgbClr val="60403A"/>
                  </a:solidFill>
                  <a:latin typeface="+mn-lt"/>
                  <a:ea typeface="+mn-ea"/>
                  <a:cs typeface="+mn-cs"/>
                </a:rPr>
                <a:t>APP​</a:t>
              </a:r>
            </a:p>
          </p:txBody>
        </p:sp>
        <p:sp>
          <p:nvSpPr>
            <p:cNvPr id="65" name="Freeform 65"/>
            <p:cNvSpPr/>
            <p:nvPr/>
          </p:nvSpPr>
          <p:spPr>
            <a:xfrm>
              <a:off x="3160503" y="2371308"/>
              <a:ext cx="174311" cy="154517"/>
            </a:xfrm>
            <a:custGeom>
              <a:avLst/>
              <a:gdLst/>
              <a:ahLst/>
              <a:cxnLst/>
              <a:rect l="l" t="t" r="r" b="b"/>
              <a:pathLst>
                <a:path w="174311" h="154517">
                  <a:moveTo>
                    <a:pt x="8941" y="146467"/>
                  </a:moveTo>
                  <a:lnTo>
                    <a:pt x="20291" y="112415"/>
                  </a:lnTo>
                  <a:cubicBezTo>
                    <a:pt x="0" y="82406"/>
                    <a:pt x="7841" y="43682"/>
                    <a:pt x="38627" y="21837"/>
                  </a:cubicBezTo>
                  <a:cubicBezTo>
                    <a:pt x="69413" y="0"/>
                    <a:pt x="113629" y="1790"/>
                    <a:pt x="142049" y="26028"/>
                  </a:cubicBezTo>
                  <a:cubicBezTo>
                    <a:pt x="170469" y="50275"/>
                    <a:pt x="174311" y="89469"/>
                    <a:pt x="151033" y="117715"/>
                  </a:cubicBezTo>
                  <a:cubicBezTo>
                    <a:pt x="127756" y="145960"/>
                    <a:pt x="84545" y="154517"/>
                    <a:pt x="49978" y="137736"/>
                  </a:cubicBezTo>
                  <a:lnTo>
                    <a:pt x="8941" y="146467"/>
                  </a:lnTo>
                </a:path>
              </a:pathLst>
            </a:custGeom>
            <a:noFill/>
            <a:ln w="15716">
              <a:solidFill>
                <a:srgbClr val="8A1700"/>
              </a:solidFill>
            </a:ln>
          </p:spPr>
        </p:sp>
        <p:sp>
          <p:nvSpPr>
            <p:cNvPr id="66" name="TextBox 66"/>
            <p:cNvSpPr txBox="1"/>
            <p:nvPr/>
          </p:nvSpPr>
          <p:spPr>
            <a:xfrm>
              <a:off x="3405188" y="2407920"/>
              <a:ext cx="372999"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公众号</a:t>
              </a:r>
            </a:p>
          </p:txBody>
        </p:sp>
        <p:grpSp>
          <p:nvGrpSpPr>
            <p:cNvPr id="72" name="Group 72"/>
            <p:cNvGrpSpPr/>
            <p:nvPr/>
          </p:nvGrpSpPr>
          <p:grpSpPr>
            <a:xfrm>
              <a:off x="4606925" y="2378075"/>
              <a:ext cx="139701" cy="139701"/>
              <a:chOff x="4606925" y="2378075"/>
              <a:chExt cx="139701" cy="139701"/>
            </a:xfrm>
          </p:grpSpPr>
          <p:sp>
            <p:nvSpPr>
              <p:cNvPr id="67" name="Freeform 67"/>
              <p:cNvSpPr/>
              <p:nvPr/>
            </p:nvSpPr>
            <p:spPr>
              <a:xfrm>
                <a:off x="4606925" y="2378075"/>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5716">
                <a:solidFill>
                  <a:srgbClr val="8A1700"/>
                </a:solidFill>
              </a:ln>
            </p:spPr>
          </p:sp>
          <p:sp>
            <p:nvSpPr>
              <p:cNvPr id="68" name="Freeform 68"/>
              <p:cNvSpPr/>
              <p:nvPr/>
            </p:nvSpPr>
            <p:spPr>
              <a:xfrm>
                <a:off x="4606925" y="2465388"/>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5716">
                <a:solidFill>
                  <a:srgbClr val="8A1700"/>
                </a:solidFill>
              </a:ln>
            </p:spPr>
          </p:sp>
          <p:sp>
            <p:nvSpPr>
              <p:cNvPr id="69" name="Freeform 69"/>
              <p:cNvSpPr/>
              <p:nvPr/>
            </p:nvSpPr>
            <p:spPr>
              <a:xfrm>
                <a:off x="4694238" y="2465388"/>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5716">
                <a:solidFill>
                  <a:srgbClr val="8A1700"/>
                </a:solidFill>
              </a:ln>
            </p:spPr>
          </p:sp>
          <p:sp>
            <p:nvSpPr>
              <p:cNvPr id="70" name="Freeform 70"/>
              <p:cNvSpPr/>
              <p:nvPr/>
            </p:nvSpPr>
            <p:spPr>
              <a:xfrm>
                <a:off x="4694238" y="2404269"/>
                <a:ext cx="52388" cy="9525"/>
              </a:xfrm>
              <a:custGeom>
                <a:avLst/>
                <a:gdLst/>
                <a:ahLst/>
                <a:cxnLst/>
                <a:rect l="l" t="t" r="r" b="b"/>
                <a:pathLst>
                  <a:path w="52388" h="9525">
                    <a:moveTo>
                      <a:pt x="0" y="0"/>
                    </a:moveTo>
                    <a:lnTo>
                      <a:pt x="52388" y="0"/>
                    </a:lnTo>
                  </a:path>
                </a:pathLst>
              </a:custGeom>
              <a:noFill/>
              <a:ln w="15716">
                <a:solidFill>
                  <a:srgbClr val="8A1700"/>
                </a:solidFill>
              </a:ln>
            </p:spPr>
          </p:sp>
          <p:sp>
            <p:nvSpPr>
              <p:cNvPr id="71" name="Freeform 71"/>
              <p:cNvSpPr/>
              <p:nvPr/>
            </p:nvSpPr>
            <p:spPr>
              <a:xfrm>
                <a:off x="4720431" y="2378075"/>
                <a:ext cx="9525" cy="52388"/>
              </a:xfrm>
              <a:custGeom>
                <a:avLst/>
                <a:gdLst/>
                <a:ahLst/>
                <a:cxnLst/>
                <a:rect l="l" t="t" r="r" b="b"/>
                <a:pathLst>
                  <a:path w="9525" h="52388">
                    <a:moveTo>
                      <a:pt x="0" y="0"/>
                    </a:moveTo>
                    <a:lnTo>
                      <a:pt x="0" y="52388"/>
                    </a:lnTo>
                  </a:path>
                </a:pathLst>
              </a:custGeom>
              <a:noFill/>
              <a:ln w="15716">
                <a:solidFill>
                  <a:srgbClr val="8A1700"/>
                </a:solidFill>
              </a:ln>
            </p:spPr>
          </p:sp>
        </p:grpSp>
        <p:sp>
          <p:nvSpPr>
            <p:cNvPr id="73" name="TextBox 73"/>
            <p:cNvSpPr txBox="1"/>
            <p:nvPr/>
          </p:nvSpPr>
          <p:spPr>
            <a:xfrm>
              <a:off x="4833938" y="2407920"/>
              <a:ext cx="372999"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小程序</a:t>
              </a:r>
            </a:p>
          </p:txBody>
        </p:sp>
        <p:grpSp>
          <p:nvGrpSpPr>
            <p:cNvPr id="78" name="Group 78"/>
            <p:cNvGrpSpPr/>
            <p:nvPr/>
          </p:nvGrpSpPr>
          <p:grpSpPr>
            <a:xfrm>
              <a:off x="6026944" y="2369344"/>
              <a:ext cx="157163" cy="157163"/>
              <a:chOff x="6026944" y="2369344"/>
              <a:chExt cx="157163" cy="157163"/>
            </a:xfrm>
          </p:grpSpPr>
          <p:sp>
            <p:nvSpPr>
              <p:cNvPr id="74" name="Freeform 74"/>
              <p:cNvSpPr/>
              <p:nvPr/>
            </p:nvSpPr>
            <p:spPr>
              <a:xfrm>
                <a:off x="6044406" y="23693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5716">
                <a:solidFill>
                  <a:srgbClr val="8A1700"/>
                </a:solidFill>
              </a:ln>
            </p:spPr>
          </p:sp>
          <p:sp>
            <p:nvSpPr>
              <p:cNvPr id="75" name="Freeform 75"/>
              <p:cNvSpPr/>
              <p:nvPr/>
            </p:nvSpPr>
            <p:spPr>
              <a:xfrm>
                <a:off x="6026944" y="24741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5716">
                <a:solidFill>
                  <a:srgbClr val="8A1700"/>
                </a:solidFill>
              </a:ln>
            </p:spPr>
          </p:sp>
          <p:sp>
            <p:nvSpPr>
              <p:cNvPr id="76" name="Freeform 76"/>
              <p:cNvSpPr/>
              <p:nvPr/>
            </p:nvSpPr>
            <p:spPr>
              <a:xfrm>
                <a:off x="6140450" y="23704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5716">
                <a:solidFill>
                  <a:srgbClr val="8A1700"/>
                </a:solidFill>
              </a:ln>
            </p:spPr>
          </p:sp>
          <p:sp>
            <p:nvSpPr>
              <p:cNvPr id="77" name="Freeform 77"/>
              <p:cNvSpPr/>
              <p:nvPr/>
            </p:nvSpPr>
            <p:spPr>
              <a:xfrm>
                <a:off x="6157913" y="24754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5716">
                <a:solidFill>
                  <a:srgbClr val="8A1700"/>
                </a:solidFill>
              </a:ln>
            </p:spPr>
          </p:sp>
        </p:grpSp>
        <p:sp>
          <p:nvSpPr>
            <p:cNvPr id="79" name="TextBox 79"/>
            <p:cNvSpPr txBox="1"/>
            <p:nvPr/>
          </p:nvSpPr>
          <p:spPr>
            <a:xfrm>
              <a:off x="6262688" y="2407920"/>
              <a:ext cx="494157"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企业微信</a:t>
              </a:r>
            </a:p>
          </p:txBody>
        </p:sp>
        <p:grpSp>
          <p:nvGrpSpPr>
            <p:cNvPr id="82" name="Group 82"/>
            <p:cNvGrpSpPr/>
            <p:nvPr/>
          </p:nvGrpSpPr>
          <p:grpSpPr>
            <a:xfrm>
              <a:off x="7550944" y="2386806"/>
              <a:ext cx="157163" cy="122238"/>
              <a:chOff x="7550944" y="2386806"/>
              <a:chExt cx="157163" cy="122238"/>
            </a:xfrm>
          </p:grpSpPr>
          <p:sp>
            <p:nvSpPr>
              <p:cNvPr id="80" name="Freeform 80"/>
              <p:cNvSpPr/>
              <p:nvPr/>
            </p:nvSpPr>
            <p:spPr>
              <a:xfrm>
                <a:off x="7550944" y="2386806"/>
                <a:ext cx="157163" cy="122238"/>
              </a:xfrm>
              <a:custGeom>
                <a:avLst/>
                <a:gdLst/>
                <a:ahLst/>
                <a:cxnLst/>
                <a:rect l="l" t="t" r="r" b="b"/>
                <a:pathLst>
                  <a:path w="157163" h="122238">
                    <a:moveTo>
                      <a:pt x="0" y="17463"/>
                    </a:moveTo>
                    <a:cubicBezTo>
                      <a:pt x="0" y="7818"/>
                      <a:pt x="7818" y="0"/>
                      <a:pt x="17463" y="0"/>
                    </a:cubicBezTo>
                    <a:lnTo>
                      <a:pt x="139700" y="0"/>
                    </a:lnTo>
                    <a:cubicBezTo>
                      <a:pt x="149344" y="0"/>
                      <a:pt x="157163" y="7818"/>
                      <a:pt x="157163" y="17463"/>
                    </a:cubicBezTo>
                    <a:lnTo>
                      <a:pt x="157163" y="104775"/>
                    </a:lnTo>
                    <a:cubicBezTo>
                      <a:pt x="157163" y="114419"/>
                      <a:pt x="149344" y="122238"/>
                      <a:pt x="139700" y="122238"/>
                    </a:cubicBezTo>
                    <a:lnTo>
                      <a:pt x="17463" y="122238"/>
                    </a:lnTo>
                    <a:cubicBezTo>
                      <a:pt x="7818" y="122238"/>
                      <a:pt x="0" y="114419"/>
                      <a:pt x="0" y="104775"/>
                    </a:cubicBezTo>
                    <a:lnTo>
                      <a:pt x="0" y="17463"/>
                    </a:lnTo>
                  </a:path>
                </a:pathLst>
              </a:custGeom>
              <a:noFill/>
              <a:ln w="15716">
                <a:solidFill>
                  <a:srgbClr val="8A1700"/>
                </a:solidFill>
              </a:ln>
            </p:spPr>
          </p:sp>
          <p:sp>
            <p:nvSpPr>
              <p:cNvPr id="81" name="Freeform 81"/>
              <p:cNvSpPr/>
              <p:nvPr/>
            </p:nvSpPr>
            <p:spPr>
              <a:xfrm>
                <a:off x="7550944" y="2404269"/>
                <a:ext cx="157163" cy="52388"/>
              </a:xfrm>
              <a:custGeom>
                <a:avLst/>
                <a:gdLst/>
                <a:ahLst/>
                <a:cxnLst/>
                <a:rect l="l" t="t" r="r" b="b"/>
                <a:pathLst>
                  <a:path w="157163" h="52388">
                    <a:moveTo>
                      <a:pt x="0" y="0"/>
                    </a:moveTo>
                    <a:lnTo>
                      <a:pt x="78581" y="52388"/>
                    </a:lnTo>
                    <a:lnTo>
                      <a:pt x="157163" y="0"/>
                    </a:lnTo>
                  </a:path>
                </a:pathLst>
              </a:custGeom>
              <a:noFill/>
              <a:ln w="15716">
                <a:solidFill>
                  <a:srgbClr val="8A1700"/>
                </a:solidFill>
              </a:ln>
            </p:spPr>
          </p:sp>
        </p:grpSp>
        <p:sp>
          <p:nvSpPr>
            <p:cNvPr id="83" name="TextBox 83"/>
            <p:cNvSpPr txBox="1"/>
            <p:nvPr/>
          </p:nvSpPr>
          <p:spPr>
            <a:xfrm>
              <a:off x="7786688" y="2407920"/>
              <a:ext cx="251841"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短信</a:t>
              </a:r>
            </a:p>
          </p:txBody>
        </p:sp>
        <p:grpSp>
          <p:nvGrpSpPr>
            <p:cNvPr id="88" name="Group 88"/>
            <p:cNvGrpSpPr/>
            <p:nvPr/>
          </p:nvGrpSpPr>
          <p:grpSpPr>
            <a:xfrm>
              <a:off x="8893175" y="2369344"/>
              <a:ext cx="139700" cy="165894"/>
              <a:chOff x="8893175" y="2369344"/>
              <a:chExt cx="139700" cy="165894"/>
            </a:xfrm>
          </p:grpSpPr>
          <p:sp>
            <p:nvSpPr>
              <p:cNvPr id="84" name="Freeform 84"/>
              <p:cNvSpPr/>
              <p:nvPr/>
            </p:nvSpPr>
            <p:spPr>
              <a:xfrm>
                <a:off x="8893175" y="2369344"/>
                <a:ext cx="139700" cy="96044"/>
              </a:xfrm>
              <a:custGeom>
                <a:avLst/>
                <a:gdLst/>
                <a:ahLst/>
                <a:cxnLst/>
                <a:rect l="l" t="t" r="r" b="b"/>
                <a:pathLst>
                  <a:path w="139700" h="96044">
                    <a:moveTo>
                      <a:pt x="0" y="96044"/>
                    </a:moveTo>
                    <a:lnTo>
                      <a:pt x="0" y="69850"/>
                    </a:lnTo>
                    <a:cubicBezTo>
                      <a:pt x="0" y="31273"/>
                      <a:pt x="31273" y="0"/>
                      <a:pt x="69850" y="0"/>
                    </a:cubicBezTo>
                    <a:cubicBezTo>
                      <a:pt x="108427" y="0"/>
                      <a:pt x="139700" y="31273"/>
                      <a:pt x="139700" y="69850"/>
                    </a:cubicBezTo>
                    <a:lnTo>
                      <a:pt x="139700" y="96044"/>
                    </a:lnTo>
                  </a:path>
                </a:pathLst>
              </a:custGeom>
              <a:noFill/>
              <a:ln w="15716">
                <a:solidFill>
                  <a:srgbClr val="8A1700"/>
                </a:solidFill>
              </a:ln>
            </p:spPr>
          </p:sp>
          <p:sp>
            <p:nvSpPr>
              <p:cNvPr id="85" name="Freeform 85"/>
              <p:cNvSpPr/>
              <p:nvPr/>
            </p:nvSpPr>
            <p:spPr>
              <a:xfrm>
                <a:off x="8963025" y="2509044"/>
                <a:ext cx="52388" cy="26194"/>
              </a:xfrm>
              <a:custGeom>
                <a:avLst/>
                <a:gdLst/>
                <a:ahLst/>
                <a:cxnLst/>
                <a:rect l="l" t="t" r="r" b="b"/>
                <a:pathLst>
                  <a:path w="52388" h="26194">
                    <a:moveTo>
                      <a:pt x="52388" y="0"/>
                    </a:moveTo>
                    <a:cubicBezTo>
                      <a:pt x="52388" y="14468"/>
                      <a:pt x="28935" y="26194"/>
                      <a:pt x="0" y="26194"/>
                    </a:cubicBezTo>
                  </a:path>
                </a:pathLst>
              </a:custGeom>
              <a:noFill/>
              <a:ln w="15716">
                <a:solidFill>
                  <a:srgbClr val="8A1700"/>
                </a:solidFill>
              </a:ln>
            </p:spPr>
          </p:sp>
          <p:sp>
            <p:nvSpPr>
              <p:cNvPr id="86" name="Freeform 86"/>
              <p:cNvSpPr/>
              <p:nvPr/>
            </p:nvSpPr>
            <p:spPr>
              <a:xfrm>
                <a:off x="8893175" y="2447925"/>
                <a:ext cx="43656" cy="61119"/>
              </a:xfrm>
              <a:custGeom>
                <a:avLst/>
                <a:gdLst/>
                <a:ahLst/>
                <a:cxnLst/>
                <a:rect l="l" t="t" r="r" b="b"/>
                <a:pathLst>
                  <a:path w="43656" h="61119">
                    <a:moveTo>
                      <a:pt x="0" y="17463"/>
                    </a:moveTo>
                    <a:cubicBezTo>
                      <a:pt x="0" y="7818"/>
                      <a:pt x="7818" y="0"/>
                      <a:pt x="17463" y="0"/>
                    </a:cubicBezTo>
                    <a:lnTo>
                      <a:pt x="26194" y="0"/>
                    </a:lnTo>
                    <a:cubicBezTo>
                      <a:pt x="35838" y="0"/>
                      <a:pt x="43656" y="7818"/>
                      <a:pt x="43656" y="17463"/>
                    </a:cubicBezTo>
                    <a:lnTo>
                      <a:pt x="43656" y="43656"/>
                    </a:lnTo>
                    <a:cubicBezTo>
                      <a:pt x="43656" y="53301"/>
                      <a:pt x="35838" y="61119"/>
                      <a:pt x="26194" y="61119"/>
                    </a:cubicBezTo>
                    <a:lnTo>
                      <a:pt x="17463" y="61119"/>
                    </a:lnTo>
                    <a:cubicBezTo>
                      <a:pt x="7818" y="61119"/>
                      <a:pt x="0" y="53301"/>
                      <a:pt x="0" y="43656"/>
                    </a:cubicBezTo>
                    <a:lnTo>
                      <a:pt x="0" y="17463"/>
                    </a:lnTo>
                  </a:path>
                </a:pathLst>
              </a:custGeom>
              <a:noFill/>
              <a:ln w="15716">
                <a:solidFill>
                  <a:srgbClr val="8A1700"/>
                </a:solidFill>
              </a:ln>
            </p:spPr>
          </p:sp>
          <p:sp>
            <p:nvSpPr>
              <p:cNvPr id="87" name="Freeform 87"/>
              <p:cNvSpPr/>
              <p:nvPr/>
            </p:nvSpPr>
            <p:spPr>
              <a:xfrm>
                <a:off x="8989219" y="2447925"/>
                <a:ext cx="43656" cy="61119"/>
              </a:xfrm>
              <a:custGeom>
                <a:avLst/>
                <a:gdLst/>
                <a:ahLst/>
                <a:cxnLst/>
                <a:rect l="l" t="t" r="r" b="b"/>
                <a:pathLst>
                  <a:path w="43656" h="61119">
                    <a:moveTo>
                      <a:pt x="0" y="17463"/>
                    </a:moveTo>
                    <a:cubicBezTo>
                      <a:pt x="0" y="7818"/>
                      <a:pt x="7818" y="0"/>
                      <a:pt x="17463" y="0"/>
                    </a:cubicBezTo>
                    <a:lnTo>
                      <a:pt x="26194" y="0"/>
                    </a:lnTo>
                    <a:cubicBezTo>
                      <a:pt x="35838" y="0"/>
                      <a:pt x="43656" y="7818"/>
                      <a:pt x="43656" y="17463"/>
                    </a:cubicBezTo>
                    <a:lnTo>
                      <a:pt x="43656" y="43656"/>
                    </a:lnTo>
                    <a:cubicBezTo>
                      <a:pt x="43656" y="53301"/>
                      <a:pt x="35838" y="61119"/>
                      <a:pt x="26194" y="61119"/>
                    </a:cubicBezTo>
                    <a:lnTo>
                      <a:pt x="17463" y="61119"/>
                    </a:lnTo>
                    <a:cubicBezTo>
                      <a:pt x="7818" y="61119"/>
                      <a:pt x="0" y="53301"/>
                      <a:pt x="0" y="43656"/>
                    </a:cubicBezTo>
                    <a:lnTo>
                      <a:pt x="0" y="17463"/>
                    </a:lnTo>
                  </a:path>
                </a:pathLst>
              </a:custGeom>
              <a:noFill/>
              <a:ln w="15716">
                <a:solidFill>
                  <a:srgbClr val="8A1700"/>
                </a:solidFill>
              </a:ln>
            </p:spPr>
          </p:sp>
        </p:grpSp>
        <p:sp>
          <p:nvSpPr>
            <p:cNvPr id="89" name="TextBox 89"/>
            <p:cNvSpPr txBox="1"/>
            <p:nvPr/>
          </p:nvSpPr>
          <p:spPr>
            <a:xfrm>
              <a:off x="9120188" y="2407920"/>
              <a:ext cx="251841"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客服</a:t>
              </a:r>
            </a:p>
          </p:txBody>
        </p:sp>
        <p:grpSp>
          <p:nvGrpSpPr>
            <p:cNvPr id="98" name="Group 98"/>
            <p:cNvGrpSpPr/>
            <p:nvPr/>
          </p:nvGrpSpPr>
          <p:grpSpPr>
            <a:xfrm>
              <a:off x="10217944" y="2369344"/>
              <a:ext cx="157956" cy="166687"/>
              <a:chOff x="10217944" y="2369344"/>
              <a:chExt cx="157956" cy="166687"/>
            </a:xfrm>
          </p:grpSpPr>
          <p:sp>
            <p:nvSpPr>
              <p:cNvPr id="90" name="Freeform 90"/>
              <p:cNvSpPr/>
              <p:nvPr/>
            </p:nvSpPr>
            <p:spPr>
              <a:xfrm>
                <a:off x="10217944" y="2526506"/>
                <a:ext cx="157163" cy="9525"/>
              </a:xfrm>
              <a:custGeom>
                <a:avLst/>
                <a:gdLst/>
                <a:ahLst/>
                <a:cxnLst/>
                <a:rect l="l" t="t" r="r" b="b"/>
                <a:pathLst>
                  <a:path w="157163" h="9525">
                    <a:moveTo>
                      <a:pt x="0" y="0"/>
                    </a:moveTo>
                    <a:lnTo>
                      <a:pt x="157163" y="0"/>
                    </a:lnTo>
                  </a:path>
                </a:pathLst>
              </a:custGeom>
              <a:noFill/>
              <a:ln w="15716">
                <a:solidFill>
                  <a:srgbClr val="8A1700"/>
                </a:solidFill>
              </a:ln>
            </p:spPr>
          </p:sp>
          <p:sp>
            <p:nvSpPr>
              <p:cNvPr id="91" name="Freeform 91"/>
              <p:cNvSpPr/>
              <p:nvPr/>
            </p:nvSpPr>
            <p:spPr>
              <a:xfrm>
                <a:off x="10217944" y="2430463"/>
                <a:ext cx="157163" cy="9525"/>
              </a:xfrm>
              <a:custGeom>
                <a:avLst/>
                <a:gdLst/>
                <a:ahLst/>
                <a:cxnLst/>
                <a:rect l="l" t="t" r="r" b="b"/>
                <a:pathLst>
                  <a:path w="157163" h="9525">
                    <a:moveTo>
                      <a:pt x="0" y="0"/>
                    </a:moveTo>
                    <a:lnTo>
                      <a:pt x="157163" y="0"/>
                    </a:lnTo>
                  </a:path>
                </a:pathLst>
              </a:custGeom>
              <a:noFill/>
              <a:ln w="15716">
                <a:solidFill>
                  <a:srgbClr val="8A1700"/>
                </a:solidFill>
              </a:ln>
            </p:spPr>
          </p:sp>
          <p:sp>
            <p:nvSpPr>
              <p:cNvPr id="92" name="Freeform 92"/>
              <p:cNvSpPr/>
              <p:nvPr/>
            </p:nvSpPr>
            <p:spPr>
              <a:xfrm>
                <a:off x="10235406" y="2369344"/>
                <a:ext cx="122238" cy="26194"/>
              </a:xfrm>
              <a:custGeom>
                <a:avLst/>
                <a:gdLst/>
                <a:ahLst/>
                <a:cxnLst/>
                <a:rect l="l" t="t" r="r" b="b"/>
                <a:pathLst>
                  <a:path w="122238" h="26194">
                    <a:moveTo>
                      <a:pt x="0" y="26194"/>
                    </a:moveTo>
                    <a:lnTo>
                      <a:pt x="61119" y="0"/>
                    </a:lnTo>
                    <a:lnTo>
                      <a:pt x="122238" y="26194"/>
                    </a:lnTo>
                  </a:path>
                </a:pathLst>
              </a:custGeom>
              <a:noFill/>
              <a:ln w="15716">
                <a:solidFill>
                  <a:srgbClr val="8A1700"/>
                </a:solidFill>
              </a:ln>
            </p:spPr>
          </p:sp>
          <p:sp>
            <p:nvSpPr>
              <p:cNvPr id="93" name="Freeform 93"/>
              <p:cNvSpPr/>
              <p:nvPr/>
            </p:nvSpPr>
            <p:spPr>
              <a:xfrm>
                <a:off x="10226675" y="2430463"/>
                <a:ext cx="9525" cy="96044"/>
              </a:xfrm>
              <a:custGeom>
                <a:avLst/>
                <a:gdLst/>
                <a:ahLst/>
                <a:cxnLst/>
                <a:rect l="l" t="t" r="r" b="b"/>
                <a:pathLst>
                  <a:path w="9525" h="96044">
                    <a:moveTo>
                      <a:pt x="0" y="0"/>
                    </a:moveTo>
                    <a:lnTo>
                      <a:pt x="0" y="96044"/>
                    </a:lnTo>
                  </a:path>
                </a:pathLst>
              </a:custGeom>
              <a:noFill/>
              <a:ln w="15716">
                <a:solidFill>
                  <a:srgbClr val="8A1700"/>
                </a:solidFill>
              </a:ln>
            </p:spPr>
          </p:sp>
          <p:sp>
            <p:nvSpPr>
              <p:cNvPr id="94" name="Freeform 94"/>
              <p:cNvSpPr/>
              <p:nvPr/>
            </p:nvSpPr>
            <p:spPr>
              <a:xfrm>
                <a:off x="10366375" y="2430463"/>
                <a:ext cx="9525" cy="96044"/>
              </a:xfrm>
              <a:custGeom>
                <a:avLst/>
                <a:gdLst/>
                <a:ahLst/>
                <a:cxnLst/>
                <a:rect l="l" t="t" r="r" b="b"/>
                <a:pathLst>
                  <a:path w="9525" h="96044">
                    <a:moveTo>
                      <a:pt x="0" y="0"/>
                    </a:moveTo>
                    <a:lnTo>
                      <a:pt x="0" y="96044"/>
                    </a:lnTo>
                  </a:path>
                </a:pathLst>
              </a:custGeom>
              <a:noFill/>
              <a:ln w="15716">
                <a:solidFill>
                  <a:srgbClr val="8A1700"/>
                </a:solidFill>
              </a:ln>
            </p:spPr>
          </p:sp>
          <p:sp>
            <p:nvSpPr>
              <p:cNvPr id="95" name="Freeform 95"/>
              <p:cNvSpPr/>
              <p:nvPr/>
            </p:nvSpPr>
            <p:spPr>
              <a:xfrm>
                <a:off x="10261600" y="2465388"/>
                <a:ext cx="9525" cy="26194"/>
              </a:xfrm>
              <a:custGeom>
                <a:avLst/>
                <a:gdLst/>
                <a:ahLst/>
                <a:cxnLst/>
                <a:rect l="l" t="t" r="r" b="b"/>
                <a:pathLst>
                  <a:path w="9525" h="26194">
                    <a:moveTo>
                      <a:pt x="0" y="0"/>
                    </a:moveTo>
                    <a:lnTo>
                      <a:pt x="0" y="26194"/>
                    </a:lnTo>
                  </a:path>
                </a:pathLst>
              </a:custGeom>
              <a:noFill/>
              <a:ln w="15716">
                <a:solidFill>
                  <a:srgbClr val="8A1700"/>
                </a:solidFill>
              </a:ln>
            </p:spPr>
          </p:sp>
          <p:sp>
            <p:nvSpPr>
              <p:cNvPr id="96" name="Freeform 96"/>
              <p:cNvSpPr/>
              <p:nvPr/>
            </p:nvSpPr>
            <p:spPr>
              <a:xfrm>
                <a:off x="10296525" y="2465388"/>
                <a:ext cx="9525" cy="26194"/>
              </a:xfrm>
              <a:custGeom>
                <a:avLst/>
                <a:gdLst/>
                <a:ahLst/>
                <a:cxnLst/>
                <a:rect l="l" t="t" r="r" b="b"/>
                <a:pathLst>
                  <a:path w="9525" h="26194">
                    <a:moveTo>
                      <a:pt x="0" y="0"/>
                    </a:moveTo>
                    <a:lnTo>
                      <a:pt x="0" y="26194"/>
                    </a:lnTo>
                  </a:path>
                </a:pathLst>
              </a:custGeom>
              <a:noFill/>
              <a:ln w="15716">
                <a:solidFill>
                  <a:srgbClr val="8A1700"/>
                </a:solidFill>
              </a:ln>
            </p:spPr>
          </p:sp>
          <p:sp>
            <p:nvSpPr>
              <p:cNvPr id="97" name="Freeform 97"/>
              <p:cNvSpPr/>
              <p:nvPr/>
            </p:nvSpPr>
            <p:spPr>
              <a:xfrm>
                <a:off x="10331450" y="2465388"/>
                <a:ext cx="9525" cy="26194"/>
              </a:xfrm>
              <a:custGeom>
                <a:avLst/>
                <a:gdLst/>
                <a:ahLst/>
                <a:cxnLst/>
                <a:rect l="l" t="t" r="r" b="b"/>
                <a:pathLst>
                  <a:path w="9525" h="26194">
                    <a:moveTo>
                      <a:pt x="0" y="0"/>
                    </a:moveTo>
                    <a:lnTo>
                      <a:pt x="0" y="26194"/>
                    </a:lnTo>
                  </a:path>
                </a:pathLst>
              </a:custGeom>
              <a:noFill/>
              <a:ln w="15716">
                <a:solidFill>
                  <a:srgbClr val="8A1700"/>
                </a:solidFill>
              </a:ln>
            </p:spPr>
          </p:sp>
        </p:grpSp>
        <p:sp>
          <p:nvSpPr>
            <p:cNvPr id="99" name="TextBox 99"/>
            <p:cNvSpPr txBox="1"/>
            <p:nvPr/>
          </p:nvSpPr>
          <p:spPr>
            <a:xfrm>
              <a:off x="10453688" y="2407920"/>
              <a:ext cx="251841"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网点</a:t>
              </a:r>
            </a:p>
          </p:txBody>
        </p:sp>
      </p:grpSp>
      <p:grpSp>
        <p:nvGrpSpPr>
          <p:cNvPr id="139" name="layer-ops"/>
          <p:cNvGrpSpPr/>
          <p:nvPr/>
        </p:nvGrpSpPr>
        <p:grpSpPr>
          <a:xfrm>
            <a:off x="228600" y="2743200"/>
            <a:ext cx="11734800" cy="628650"/>
            <a:chOff x="228600" y="2743200"/>
            <a:chExt cx="11734800" cy="628650"/>
          </a:xfrm>
        </p:grpSpPr>
        <p:sp>
          <p:nvSpPr>
            <p:cNvPr id="101" name="Rectangle 101"/>
            <p:cNvSpPr/>
            <p:nvPr/>
          </p:nvSpPr>
          <p:spPr>
            <a:xfrm>
              <a:off x="228600" y="2743200"/>
              <a:ext cx="876300" cy="628650"/>
            </a:xfrm>
            <a:prstGeom prst="roundRect">
              <a:avLst>
                <a:gd name="adj" fmla="val 9091"/>
              </a:avLst>
            </a:prstGeom>
            <a:solidFill>
              <a:srgbClr val="520E00"/>
            </a:solidFill>
            <a:ln>
              <a:noFill/>
            </a:ln>
          </p:spPr>
        </p:sp>
        <p:sp>
          <p:nvSpPr>
            <p:cNvPr id="102" name="TextBox 102"/>
            <p:cNvSpPr txBox="1"/>
            <p:nvPr/>
          </p:nvSpPr>
          <p:spPr>
            <a:xfrm>
              <a:off x="401803" y="2977039"/>
              <a:ext cx="52989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运营层</a:t>
              </a:r>
            </a:p>
          </p:txBody>
        </p:sp>
        <p:sp>
          <p:nvSpPr>
            <p:cNvPr id="103" name="Rectangle 103"/>
            <p:cNvSpPr/>
            <p:nvPr/>
          </p:nvSpPr>
          <p:spPr>
            <a:xfrm>
              <a:off x="1162050" y="2743200"/>
              <a:ext cx="10801350" cy="628650"/>
            </a:xfrm>
            <a:prstGeom prst="roundRect">
              <a:avLst>
                <a:gd name="adj" fmla="val 9091"/>
              </a:avLst>
            </a:prstGeom>
            <a:solidFill>
              <a:srgbClr val="F5F8FE"/>
            </a:solidFill>
            <a:ln w="9525">
              <a:solidFill>
                <a:srgbClr val="C9D5EA"/>
              </a:solidFill>
            </a:ln>
          </p:spPr>
        </p:sp>
        <p:sp>
          <p:nvSpPr>
            <p:cNvPr id="104" name="TextBox 104"/>
            <p:cNvSpPr txBox="1"/>
            <p:nvPr/>
          </p:nvSpPr>
          <p:spPr>
            <a:xfrm>
              <a:off x="1328738" y="2851547"/>
              <a:ext cx="2666924" cy="183356"/>
            </a:xfrm>
            <a:prstGeom prst="rect">
              <a:avLst/>
            </a:prstGeom>
            <a:noFill/>
            <a:ln>
              <a:noFill/>
            </a:ln>
          </p:spPr>
          <p:txBody>
            <a:bodyPr wrap="none" lIns="0" tIns="0" rIns="0" bIns="0" anchor="t" anchorCtr="0">
              <a:spAutoFit/>
            </a:bodyPr>
            <a:lstStyle/>
            <a:p>
              <a:pPr algn="l"/>
              <a:r>
                <a:rPr lang="zh-CN" sz="940" b="1" dirty="0">
                  <a:solidFill>
                    <a:srgbClr val="520E00"/>
                  </a:solidFill>
                  <a:latin typeface="+mn-lt"/>
                  <a:ea typeface="+mn-ea"/>
                  <a:cs typeface="+mn-cs"/>
                </a:rPr>
                <a:t>运营层：标签、策略、旅程、内容、权益、活动</a:t>
              </a:r>
            </a:p>
          </p:txBody>
        </p:sp>
        <p:grpSp>
          <p:nvGrpSpPr>
            <p:cNvPr id="107" name="Group 107"/>
            <p:cNvGrpSpPr/>
            <p:nvPr/>
          </p:nvGrpSpPr>
          <p:grpSpPr>
            <a:xfrm>
              <a:off x="1931194" y="3093244"/>
              <a:ext cx="159232" cy="159232"/>
              <a:chOff x="1931194" y="3093244"/>
              <a:chExt cx="159232" cy="159232"/>
            </a:xfrm>
          </p:grpSpPr>
          <p:sp>
            <p:nvSpPr>
              <p:cNvPr id="105" name="Freeform 105"/>
              <p:cNvSpPr/>
              <p:nvPr/>
            </p:nvSpPr>
            <p:spPr>
              <a:xfrm>
                <a:off x="1961753" y="3123803"/>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5716">
                <a:solidFill>
                  <a:srgbClr val="8A1700"/>
                </a:solidFill>
              </a:ln>
            </p:spPr>
          </p:sp>
          <p:sp>
            <p:nvSpPr>
              <p:cNvPr id="106" name="Freeform 106"/>
              <p:cNvSpPr/>
              <p:nvPr/>
            </p:nvSpPr>
            <p:spPr>
              <a:xfrm>
                <a:off x="1931194" y="3093244"/>
                <a:ext cx="159232" cy="159232"/>
              </a:xfrm>
              <a:custGeom>
                <a:avLst/>
                <a:gdLst/>
                <a:ahLst/>
                <a:cxnLst/>
                <a:rect l="l" t="t" r="r" b="b"/>
                <a:pathLst>
                  <a:path w="159232" h="159232">
                    <a:moveTo>
                      <a:pt x="0" y="26194"/>
                    </a:moveTo>
                    <a:lnTo>
                      <a:pt x="0" y="71352"/>
                    </a:lnTo>
                    <a:cubicBezTo>
                      <a:pt x="1" y="75983"/>
                      <a:pt x="1841" y="80424"/>
                      <a:pt x="5117" y="83698"/>
                    </a:cubicBezTo>
                    <a:lnTo>
                      <a:pt x="72434" y="151016"/>
                    </a:lnTo>
                    <a:cubicBezTo>
                      <a:pt x="80652" y="159232"/>
                      <a:pt x="93973" y="159232"/>
                      <a:pt x="102191" y="151016"/>
                    </a:cubicBezTo>
                    <a:lnTo>
                      <a:pt x="151016" y="102191"/>
                    </a:lnTo>
                    <a:cubicBezTo>
                      <a:pt x="159232" y="93973"/>
                      <a:pt x="159232" y="80652"/>
                      <a:pt x="151016" y="72434"/>
                    </a:cubicBezTo>
                    <a:lnTo>
                      <a:pt x="83698" y="5117"/>
                    </a:lnTo>
                    <a:cubicBezTo>
                      <a:pt x="80424" y="1841"/>
                      <a:pt x="75983" y="1"/>
                      <a:pt x="71352" y="0"/>
                    </a:cubicBezTo>
                    <a:lnTo>
                      <a:pt x="26194" y="0"/>
                    </a:lnTo>
                    <a:cubicBezTo>
                      <a:pt x="19247" y="0"/>
                      <a:pt x="12584" y="2760"/>
                      <a:pt x="7672" y="7672"/>
                    </a:cubicBezTo>
                    <a:cubicBezTo>
                      <a:pt x="2760" y="12584"/>
                      <a:pt x="0" y="19247"/>
                      <a:pt x="0" y="26194"/>
                    </a:cubicBezTo>
                  </a:path>
                </a:pathLst>
              </a:custGeom>
              <a:noFill/>
              <a:ln w="15716">
                <a:solidFill>
                  <a:srgbClr val="8A1700"/>
                </a:solidFill>
              </a:ln>
            </p:spPr>
          </p:sp>
        </p:grpSp>
        <p:sp>
          <p:nvSpPr>
            <p:cNvPr id="108" name="TextBox 108"/>
            <p:cNvSpPr txBox="1"/>
            <p:nvPr/>
          </p:nvSpPr>
          <p:spPr>
            <a:xfrm>
              <a:off x="2166938" y="3131820"/>
              <a:ext cx="251841"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标签</a:t>
              </a:r>
            </a:p>
          </p:txBody>
        </p:sp>
        <p:grpSp>
          <p:nvGrpSpPr>
            <p:cNvPr id="112" name="Group 112"/>
            <p:cNvGrpSpPr/>
            <p:nvPr/>
          </p:nvGrpSpPr>
          <p:grpSpPr>
            <a:xfrm>
              <a:off x="3550444" y="3093244"/>
              <a:ext cx="157163" cy="157163"/>
              <a:chOff x="3550444" y="3093244"/>
              <a:chExt cx="157163" cy="157163"/>
            </a:xfrm>
          </p:grpSpPr>
          <p:sp>
            <p:nvSpPr>
              <p:cNvPr id="109" name="Freeform 109"/>
              <p:cNvSpPr/>
              <p:nvPr/>
            </p:nvSpPr>
            <p:spPr>
              <a:xfrm>
                <a:off x="3620294" y="316309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5716">
                <a:solidFill>
                  <a:srgbClr val="8A1700"/>
                </a:solidFill>
              </a:ln>
            </p:spPr>
          </p:sp>
          <p:sp>
            <p:nvSpPr>
              <p:cNvPr id="110" name="Freeform 110"/>
              <p:cNvSpPr/>
              <p:nvPr/>
            </p:nvSpPr>
            <p:spPr>
              <a:xfrm>
                <a:off x="3585369" y="312816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5716">
                <a:solidFill>
                  <a:srgbClr val="8A1700"/>
                </a:solidFill>
              </a:ln>
            </p:spPr>
          </p:sp>
          <p:sp>
            <p:nvSpPr>
              <p:cNvPr id="111" name="Freeform 111"/>
              <p:cNvSpPr/>
              <p:nvPr/>
            </p:nvSpPr>
            <p:spPr>
              <a:xfrm>
                <a:off x="3550444" y="30932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5716">
                <a:solidFill>
                  <a:srgbClr val="8A1700"/>
                </a:solidFill>
              </a:ln>
            </p:spPr>
          </p:sp>
        </p:grpSp>
        <p:sp>
          <p:nvSpPr>
            <p:cNvPr id="113" name="TextBox 113"/>
            <p:cNvSpPr txBox="1"/>
            <p:nvPr/>
          </p:nvSpPr>
          <p:spPr>
            <a:xfrm>
              <a:off x="3786188" y="3131820"/>
              <a:ext cx="251841"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策略</a:t>
              </a:r>
            </a:p>
          </p:txBody>
        </p:sp>
        <p:grpSp>
          <p:nvGrpSpPr>
            <p:cNvPr id="116" name="Group 116"/>
            <p:cNvGrpSpPr/>
            <p:nvPr/>
          </p:nvGrpSpPr>
          <p:grpSpPr>
            <a:xfrm>
              <a:off x="5171605" y="3086427"/>
              <a:ext cx="153340" cy="169918"/>
              <a:chOff x="5171605" y="3086427"/>
              <a:chExt cx="153340" cy="169918"/>
            </a:xfrm>
          </p:grpSpPr>
          <p:sp>
            <p:nvSpPr>
              <p:cNvPr id="114" name="Freeform 114"/>
              <p:cNvSpPr/>
              <p:nvPr/>
            </p:nvSpPr>
            <p:spPr>
              <a:xfrm>
                <a:off x="5222081" y="3136900"/>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5716">
                <a:solidFill>
                  <a:srgbClr val="8A1700"/>
                </a:solidFill>
              </a:ln>
            </p:spPr>
          </p:sp>
          <p:sp>
            <p:nvSpPr>
              <p:cNvPr id="115" name="Freeform 115"/>
              <p:cNvSpPr/>
              <p:nvPr/>
            </p:nvSpPr>
            <p:spPr>
              <a:xfrm>
                <a:off x="5171605" y="3086427"/>
                <a:ext cx="153340" cy="169918"/>
              </a:xfrm>
              <a:custGeom>
                <a:avLst/>
                <a:gdLst/>
                <a:ahLst/>
                <a:cxnLst/>
                <a:rect l="l" t="t" r="r" b="b"/>
                <a:pathLst>
                  <a:path w="153340" h="169918">
                    <a:moveTo>
                      <a:pt x="126062" y="126060"/>
                    </a:moveTo>
                    <a:lnTo>
                      <a:pt x="89016" y="163106"/>
                    </a:lnTo>
                    <a:cubicBezTo>
                      <a:pt x="82198" y="169918"/>
                      <a:pt x="71151" y="169918"/>
                      <a:pt x="64333" y="163106"/>
                    </a:cubicBezTo>
                    <a:lnTo>
                      <a:pt x="27277" y="126060"/>
                    </a:lnTo>
                    <a:cubicBezTo>
                      <a:pt x="0" y="98781"/>
                      <a:pt x="1" y="54555"/>
                      <a:pt x="27279" y="27278"/>
                    </a:cubicBezTo>
                    <a:cubicBezTo>
                      <a:pt x="54557" y="0"/>
                      <a:pt x="98783" y="0"/>
                      <a:pt x="126061" y="27278"/>
                    </a:cubicBezTo>
                    <a:cubicBezTo>
                      <a:pt x="153339" y="54555"/>
                      <a:pt x="153340" y="98781"/>
                      <a:pt x="126062" y="126060"/>
                    </a:cubicBezTo>
                  </a:path>
                </a:pathLst>
              </a:custGeom>
              <a:noFill/>
              <a:ln w="15716">
                <a:solidFill>
                  <a:srgbClr val="8A1700"/>
                </a:solidFill>
              </a:ln>
            </p:spPr>
          </p:sp>
        </p:grpSp>
        <p:sp>
          <p:nvSpPr>
            <p:cNvPr id="117" name="TextBox 117"/>
            <p:cNvSpPr txBox="1"/>
            <p:nvPr/>
          </p:nvSpPr>
          <p:spPr>
            <a:xfrm>
              <a:off x="5405438" y="3131820"/>
              <a:ext cx="251841"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旅程</a:t>
              </a:r>
            </a:p>
          </p:txBody>
        </p:sp>
        <p:grpSp>
          <p:nvGrpSpPr>
            <p:cNvPr id="123" name="Group 123"/>
            <p:cNvGrpSpPr/>
            <p:nvPr/>
          </p:nvGrpSpPr>
          <p:grpSpPr>
            <a:xfrm>
              <a:off x="6806406" y="3093244"/>
              <a:ext cx="122238" cy="157163"/>
              <a:chOff x="6806406" y="3093244"/>
              <a:chExt cx="122238" cy="157163"/>
            </a:xfrm>
          </p:grpSpPr>
          <p:sp>
            <p:nvSpPr>
              <p:cNvPr id="118" name="Freeform 118"/>
              <p:cNvSpPr/>
              <p:nvPr/>
            </p:nvSpPr>
            <p:spPr>
              <a:xfrm>
                <a:off x="6884988" y="30932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5716">
                <a:solidFill>
                  <a:srgbClr val="8A1700"/>
                </a:solidFill>
              </a:ln>
            </p:spPr>
          </p:sp>
          <p:sp>
            <p:nvSpPr>
              <p:cNvPr id="119" name="Freeform 119"/>
              <p:cNvSpPr/>
              <p:nvPr/>
            </p:nvSpPr>
            <p:spPr>
              <a:xfrm>
                <a:off x="6806406" y="30932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5716">
                <a:solidFill>
                  <a:srgbClr val="8A1700"/>
                </a:solidFill>
              </a:ln>
            </p:spPr>
          </p:sp>
          <p:sp>
            <p:nvSpPr>
              <p:cNvPr id="120" name="Freeform 120"/>
              <p:cNvSpPr/>
              <p:nvPr/>
            </p:nvSpPr>
            <p:spPr>
              <a:xfrm>
                <a:off x="6841331" y="3145631"/>
                <a:ext cx="9525" cy="9525"/>
              </a:xfrm>
              <a:custGeom>
                <a:avLst/>
                <a:gdLst/>
                <a:ahLst/>
                <a:cxnLst/>
                <a:rect l="l" t="t" r="r" b="b"/>
                <a:pathLst>
                  <a:path w="9525" h="9525">
                    <a:moveTo>
                      <a:pt x="0" y="0"/>
                    </a:moveTo>
                    <a:lnTo>
                      <a:pt x="8731" y="0"/>
                    </a:lnTo>
                  </a:path>
                </a:pathLst>
              </a:custGeom>
              <a:noFill/>
              <a:ln w="15716">
                <a:solidFill>
                  <a:srgbClr val="8A1700"/>
                </a:solidFill>
              </a:ln>
            </p:spPr>
          </p:sp>
          <p:sp>
            <p:nvSpPr>
              <p:cNvPr id="121" name="Freeform 121"/>
              <p:cNvSpPr/>
              <p:nvPr/>
            </p:nvSpPr>
            <p:spPr>
              <a:xfrm>
                <a:off x="6841331" y="3180556"/>
                <a:ext cx="52388" cy="9525"/>
              </a:xfrm>
              <a:custGeom>
                <a:avLst/>
                <a:gdLst/>
                <a:ahLst/>
                <a:cxnLst/>
                <a:rect l="l" t="t" r="r" b="b"/>
                <a:pathLst>
                  <a:path w="52388" h="9525">
                    <a:moveTo>
                      <a:pt x="0" y="0"/>
                    </a:moveTo>
                    <a:lnTo>
                      <a:pt x="52388" y="0"/>
                    </a:lnTo>
                  </a:path>
                </a:pathLst>
              </a:custGeom>
              <a:noFill/>
              <a:ln w="15716">
                <a:solidFill>
                  <a:srgbClr val="8A1700"/>
                </a:solidFill>
              </a:ln>
            </p:spPr>
          </p:sp>
          <p:sp>
            <p:nvSpPr>
              <p:cNvPr id="122" name="Freeform 122"/>
              <p:cNvSpPr/>
              <p:nvPr/>
            </p:nvSpPr>
            <p:spPr>
              <a:xfrm>
                <a:off x="6841331" y="3215481"/>
                <a:ext cx="52388" cy="9525"/>
              </a:xfrm>
              <a:custGeom>
                <a:avLst/>
                <a:gdLst/>
                <a:ahLst/>
                <a:cxnLst/>
                <a:rect l="l" t="t" r="r" b="b"/>
                <a:pathLst>
                  <a:path w="52388" h="9525">
                    <a:moveTo>
                      <a:pt x="0" y="0"/>
                    </a:moveTo>
                    <a:lnTo>
                      <a:pt x="52388" y="0"/>
                    </a:lnTo>
                  </a:path>
                </a:pathLst>
              </a:custGeom>
              <a:noFill/>
              <a:ln w="15716">
                <a:solidFill>
                  <a:srgbClr val="8A1700"/>
                </a:solidFill>
              </a:ln>
            </p:spPr>
          </p:sp>
        </p:grpSp>
        <p:sp>
          <p:nvSpPr>
            <p:cNvPr id="124" name="TextBox 124"/>
            <p:cNvSpPr txBox="1"/>
            <p:nvPr/>
          </p:nvSpPr>
          <p:spPr>
            <a:xfrm>
              <a:off x="7024688" y="3131820"/>
              <a:ext cx="251841"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内容</a:t>
              </a:r>
            </a:p>
          </p:txBody>
        </p:sp>
        <p:grpSp>
          <p:nvGrpSpPr>
            <p:cNvPr id="129" name="Group 129"/>
            <p:cNvGrpSpPr/>
            <p:nvPr/>
          </p:nvGrpSpPr>
          <p:grpSpPr>
            <a:xfrm>
              <a:off x="8408194" y="3092943"/>
              <a:ext cx="157163" cy="157463"/>
              <a:chOff x="8408194" y="3092943"/>
              <a:chExt cx="157163" cy="157463"/>
            </a:xfrm>
          </p:grpSpPr>
          <p:sp>
            <p:nvSpPr>
              <p:cNvPr id="125" name="Freeform 125"/>
              <p:cNvSpPr/>
              <p:nvPr/>
            </p:nvSpPr>
            <p:spPr>
              <a:xfrm>
                <a:off x="8408194" y="3136900"/>
                <a:ext cx="157163" cy="34925"/>
              </a:xfrm>
              <a:custGeom>
                <a:avLst/>
                <a:gdLst/>
                <a:ahLst/>
                <a:cxnLst/>
                <a:rect l="l" t="t" r="r" b="b"/>
                <a:pathLst>
                  <a:path w="157163" h="34925">
                    <a:moveTo>
                      <a:pt x="0" y="8731"/>
                    </a:moveTo>
                    <a:cubicBezTo>
                      <a:pt x="0" y="3909"/>
                      <a:pt x="3909" y="0"/>
                      <a:pt x="8731" y="0"/>
                    </a:cubicBezTo>
                    <a:lnTo>
                      <a:pt x="148431" y="0"/>
                    </a:lnTo>
                    <a:cubicBezTo>
                      <a:pt x="153253" y="0"/>
                      <a:pt x="157163" y="3909"/>
                      <a:pt x="157163" y="8731"/>
                    </a:cubicBezTo>
                    <a:lnTo>
                      <a:pt x="157163" y="26194"/>
                    </a:lnTo>
                    <a:cubicBezTo>
                      <a:pt x="157163" y="31016"/>
                      <a:pt x="153253" y="34925"/>
                      <a:pt x="148431" y="34925"/>
                    </a:cubicBezTo>
                    <a:lnTo>
                      <a:pt x="8731" y="34925"/>
                    </a:lnTo>
                    <a:cubicBezTo>
                      <a:pt x="3909" y="34925"/>
                      <a:pt x="0" y="31016"/>
                      <a:pt x="0" y="26194"/>
                    </a:cubicBezTo>
                    <a:lnTo>
                      <a:pt x="0" y="8731"/>
                    </a:lnTo>
                  </a:path>
                </a:pathLst>
              </a:custGeom>
              <a:noFill/>
              <a:ln w="15716">
                <a:solidFill>
                  <a:srgbClr val="8A1700"/>
                </a:solidFill>
              </a:ln>
            </p:spPr>
          </p:sp>
          <p:sp>
            <p:nvSpPr>
              <p:cNvPr id="126" name="Freeform 126"/>
              <p:cNvSpPr/>
              <p:nvPr/>
            </p:nvSpPr>
            <p:spPr>
              <a:xfrm>
                <a:off x="8486775" y="3136900"/>
                <a:ext cx="9525" cy="113506"/>
              </a:xfrm>
              <a:custGeom>
                <a:avLst/>
                <a:gdLst/>
                <a:ahLst/>
                <a:cxnLst/>
                <a:rect l="l" t="t" r="r" b="b"/>
                <a:pathLst>
                  <a:path w="9525" h="113506">
                    <a:moveTo>
                      <a:pt x="0" y="0"/>
                    </a:moveTo>
                    <a:lnTo>
                      <a:pt x="0" y="113506"/>
                    </a:lnTo>
                  </a:path>
                </a:pathLst>
              </a:custGeom>
              <a:noFill/>
              <a:ln w="15716">
                <a:solidFill>
                  <a:srgbClr val="8A1700"/>
                </a:solidFill>
              </a:ln>
            </p:spPr>
          </p:sp>
          <p:sp>
            <p:nvSpPr>
              <p:cNvPr id="127" name="Freeform 127"/>
              <p:cNvSpPr/>
              <p:nvPr/>
            </p:nvSpPr>
            <p:spPr>
              <a:xfrm>
                <a:off x="8425656" y="3171825"/>
                <a:ext cx="122238" cy="78581"/>
              </a:xfrm>
              <a:custGeom>
                <a:avLst/>
                <a:gdLst/>
                <a:ahLst/>
                <a:cxnLst/>
                <a:rect l="l" t="t" r="r" b="b"/>
                <a:pathLst>
                  <a:path w="122238" h="78581">
                    <a:moveTo>
                      <a:pt x="122238" y="0"/>
                    </a:moveTo>
                    <a:lnTo>
                      <a:pt x="122238" y="61119"/>
                    </a:lnTo>
                    <a:cubicBezTo>
                      <a:pt x="122238" y="70763"/>
                      <a:pt x="114419" y="78581"/>
                      <a:pt x="104775" y="78581"/>
                    </a:cubicBezTo>
                    <a:lnTo>
                      <a:pt x="17463" y="78581"/>
                    </a:lnTo>
                    <a:cubicBezTo>
                      <a:pt x="7818" y="78581"/>
                      <a:pt x="0" y="70763"/>
                      <a:pt x="0" y="61119"/>
                    </a:cubicBezTo>
                    <a:lnTo>
                      <a:pt x="0" y="0"/>
                    </a:lnTo>
                  </a:path>
                </a:pathLst>
              </a:custGeom>
              <a:noFill/>
              <a:ln w="15716">
                <a:solidFill>
                  <a:srgbClr val="8A1700"/>
                </a:solidFill>
              </a:ln>
            </p:spPr>
          </p:sp>
          <p:sp>
            <p:nvSpPr>
              <p:cNvPr id="128" name="Freeform 128"/>
              <p:cNvSpPr/>
              <p:nvPr/>
            </p:nvSpPr>
            <p:spPr>
              <a:xfrm>
                <a:off x="8425656" y="3092943"/>
                <a:ext cx="122238" cy="43957"/>
              </a:xfrm>
              <a:custGeom>
                <a:avLst/>
                <a:gdLst/>
                <a:ahLst/>
                <a:cxnLst/>
                <a:rect l="l" t="t" r="r" b="b"/>
                <a:pathLst>
                  <a:path w="122238" h="43957">
                    <a:moveTo>
                      <a:pt x="21828" y="43957"/>
                    </a:moveTo>
                    <a:cubicBezTo>
                      <a:pt x="9773" y="43957"/>
                      <a:pt x="0" y="34184"/>
                      <a:pt x="0" y="22128"/>
                    </a:cubicBezTo>
                    <a:cubicBezTo>
                      <a:pt x="0" y="10073"/>
                      <a:pt x="9773" y="300"/>
                      <a:pt x="21828" y="300"/>
                    </a:cubicBezTo>
                    <a:cubicBezTo>
                      <a:pt x="39066" y="0"/>
                      <a:pt x="54655" y="17322"/>
                      <a:pt x="61119" y="43957"/>
                    </a:cubicBezTo>
                    <a:cubicBezTo>
                      <a:pt x="67582" y="17322"/>
                      <a:pt x="83172" y="0"/>
                      <a:pt x="100409" y="300"/>
                    </a:cubicBezTo>
                    <a:cubicBezTo>
                      <a:pt x="112465" y="300"/>
                      <a:pt x="122238" y="10073"/>
                      <a:pt x="122238" y="22128"/>
                    </a:cubicBezTo>
                    <a:cubicBezTo>
                      <a:pt x="122238" y="34184"/>
                      <a:pt x="112465" y="43957"/>
                      <a:pt x="100409" y="43957"/>
                    </a:cubicBezTo>
                  </a:path>
                </a:pathLst>
              </a:custGeom>
              <a:noFill/>
              <a:ln w="15716">
                <a:solidFill>
                  <a:srgbClr val="8A1700"/>
                </a:solidFill>
              </a:ln>
            </p:spPr>
          </p:sp>
        </p:grpSp>
        <p:sp>
          <p:nvSpPr>
            <p:cNvPr id="130" name="TextBox 130"/>
            <p:cNvSpPr txBox="1"/>
            <p:nvPr/>
          </p:nvSpPr>
          <p:spPr>
            <a:xfrm>
              <a:off x="8643938" y="3131820"/>
              <a:ext cx="251841"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权益</a:t>
              </a:r>
            </a:p>
          </p:txBody>
        </p:sp>
        <p:grpSp>
          <p:nvGrpSpPr>
            <p:cNvPr id="137" name="Group 137"/>
            <p:cNvGrpSpPr/>
            <p:nvPr/>
          </p:nvGrpSpPr>
          <p:grpSpPr>
            <a:xfrm>
              <a:off x="10036175" y="3093244"/>
              <a:ext cx="139700" cy="157162"/>
              <a:chOff x="10036175" y="3093244"/>
              <a:chExt cx="139700" cy="157162"/>
            </a:xfrm>
          </p:grpSpPr>
          <p:sp>
            <p:nvSpPr>
              <p:cNvPr id="131" name="Freeform 131"/>
              <p:cNvSpPr/>
              <p:nvPr/>
            </p:nvSpPr>
            <p:spPr>
              <a:xfrm>
                <a:off x="10036175" y="3110706"/>
                <a:ext cx="139700" cy="139700"/>
              </a:xfrm>
              <a:custGeom>
                <a:avLst/>
                <a:gdLst/>
                <a:ahLst/>
                <a:cxnLst/>
                <a:rect l="l" t="t" r="r" b="b"/>
                <a:pathLst>
                  <a:path w="139700" h="139700">
                    <a:moveTo>
                      <a:pt x="0" y="17463"/>
                    </a:moveTo>
                    <a:cubicBezTo>
                      <a:pt x="0" y="7818"/>
                      <a:pt x="7818" y="0"/>
                      <a:pt x="17463" y="0"/>
                    </a:cubicBezTo>
                    <a:lnTo>
                      <a:pt x="122238" y="0"/>
                    </a:lnTo>
                    <a:cubicBezTo>
                      <a:pt x="131882" y="0"/>
                      <a:pt x="139700" y="7818"/>
                      <a:pt x="139700" y="17463"/>
                    </a:cubicBezTo>
                    <a:lnTo>
                      <a:pt x="139700" y="122238"/>
                    </a:lnTo>
                    <a:cubicBezTo>
                      <a:pt x="139700" y="131882"/>
                      <a:pt x="131882" y="139700"/>
                      <a:pt x="122238" y="139700"/>
                    </a:cubicBezTo>
                    <a:lnTo>
                      <a:pt x="17463" y="139700"/>
                    </a:lnTo>
                    <a:cubicBezTo>
                      <a:pt x="7818" y="139700"/>
                      <a:pt x="0" y="131882"/>
                      <a:pt x="0" y="122238"/>
                    </a:cubicBezTo>
                    <a:lnTo>
                      <a:pt x="0" y="17463"/>
                    </a:lnTo>
                  </a:path>
                </a:pathLst>
              </a:custGeom>
              <a:noFill/>
              <a:ln w="15716">
                <a:solidFill>
                  <a:srgbClr val="8A1700"/>
                </a:solidFill>
              </a:ln>
            </p:spPr>
          </p:sp>
          <p:sp>
            <p:nvSpPr>
              <p:cNvPr id="132" name="Freeform 132"/>
              <p:cNvSpPr/>
              <p:nvPr/>
            </p:nvSpPr>
            <p:spPr>
              <a:xfrm>
                <a:off x="10140950" y="3093244"/>
                <a:ext cx="9525" cy="34925"/>
              </a:xfrm>
              <a:custGeom>
                <a:avLst/>
                <a:gdLst/>
                <a:ahLst/>
                <a:cxnLst/>
                <a:rect l="l" t="t" r="r" b="b"/>
                <a:pathLst>
                  <a:path w="9525" h="34925">
                    <a:moveTo>
                      <a:pt x="0" y="0"/>
                    </a:moveTo>
                    <a:lnTo>
                      <a:pt x="0" y="34925"/>
                    </a:lnTo>
                  </a:path>
                </a:pathLst>
              </a:custGeom>
              <a:noFill/>
              <a:ln w="15716">
                <a:solidFill>
                  <a:srgbClr val="8A1700"/>
                </a:solidFill>
              </a:ln>
            </p:spPr>
          </p:sp>
          <p:sp>
            <p:nvSpPr>
              <p:cNvPr id="133" name="Freeform 133"/>
              <p:cNvSpPr/>
              <p:nvPr/>
            </p:nvSpPr>
            <p:spPr>
              <a:xfrm>
                <a:off x="10071100" y="3093244"/>
                <a:ext cx="9525" cy="34925"/>
              </a:xfrm>
              <a:custGeom>
                <a:avLst/>
                <a:gdLst/>
                <a:ahLst/>
                <a:cxnLst/>
                <a:rect l="l" t="t" r="r" b="b"/>
                <a:pathLst>
                  <a:path w="9525" h="34925">
                    <a:moveTo>
                      <a:pt x="0" y="0"/>
                    </a:moveTo>
                    <a:lnTo>
                      <a:pt x="0" y="34925"/>
                    </a:lnTo>
                  </a:path>
                </a:pathLst>
              </a:custGeom>
              <a:noFill/>
              <a:ln w="15716">
                <a:solidFill>
                  <a:srgbClr val="8A1700"/>
                </a:solidFill>
              </a:ln>
            </p:spPr>
          </p:sp>
          <p:sp>
            <p:nvSpPr>
              <p:cNvPr id="134" name="Freeform 134"/>
              <p:cNvSpPr/>
              <p:nvPr/>
            </p:nvSpPr>
            <p:spPr>
              <a:xfrm>
                <a:off x="10036175" y="3163094"/>
                <a:ext cx="139700" cy="9525"/>
              </a:xfrm>
              <a:custGeom>
                <a:avLst/>
                <a:gdLst/>
                <a:ahLst/>
                <a:cxnLst/>
                <a:rect l="l" t="t" r="r" b="b"/>
                <a:pathLst>
                  <a:path w="139700" h="9525">
                    <a:moveTo>
                      <a:pt x="0" y="0"/>
                    </a:moveTo>
                    <a:lnTo>
                      <a:pt x="139700" y="0"/>
                    </a:lnTo>
                  </a:path>
                </a:pathLst>
              </a:custGeom>
              <a:noFill/>
              <a:ln w="15716">
                <a:solidFill>
                  <a:srgbClr val="8A1700"/>
                </a:solidFill>
              </a:ln>
            </p:spPr>
          </p:sp>
          <p:sp>
            <p:nvSpPr>
              <p:cNvPr id="135" name="Freeform 135"/>
              <p:cNvSpPr/>
              <p:nvPr/>
            </p:nvSpPr>
            <p:spPr>
              <a:xfrm>
                <a:off x="10097294" y="3198019"/>
                <a:ext cx="9525" cy="9525"/>
              </a:xfrm>
              <a:custGeom>
                <a:avLst/>
                <a:gdLst/>
                <a:ahLst/>
                <a:cxnLst/>
                <a:rect l="l" t="t" r="r" b="b"/>
                <a:pathLst>
                  <a:path w="9525" h="9525">
                    <a:moveTo>
                      <a:pt x="0" y="0"/>
                    </a:moveTo>
                    <a:lnTo>
                      <a:pt x="8731" y="0"/>
                    </a:lnTo>
                  </a:path>
                </a:pathLst>
              </a:custGeom>
              <a:noFill/>
              <a:ln w="15716">
                <a:solidFill>
                  <a:srgbClr val="8A1700"/>
                </a:solidFill>
              </a:ln>
            </p:spPr>
          </p:sp>
          <p:sp>
            <p:nvSpPr>
              <p:cNvPr id="136" name="Freeform 136"/>
              <p:cNvSpPr/>
              <p:nvPr/>
            </p:nvSpPr>
            <p:spPr>
              <a:xfrm>
                <a:off x="10106025" y="3198019"/>
                <a:ext cx="9525" cy="26194"/>
              </a:xfrm>
              <a:custGeom>
                <a:avLst/>
                <a:gdLst/>
                <a:ahLst/>
                <a:cxnLst/>
                <a:rect l="l" t="t" r="r" b="b"/>
                <a:pathLst>
                  <a:path w="9525" h="26194">
                    <a:moveTo>
                      <a:pt x="0" y="0"/>
                    </a:moveTo>
                    <a:lnTo>
                      <a:pt x="0" y="26194"/>
                    </a:lnTo>
                  </a:path>
                </a:pathLst>
              </a:custGeom>
              <a:noFill/>
              <a:ln w="15716">
                <a:solidFill>
                  <a:srgbClr val="8A1700"/>
                </a:solidFill>
              </a:ln>
            </p:spPr>
          </p:sp>
        </p:grpSp>
        <p:sp>
          <p:nvSpPr>
            <p:cNvPr id="138" name="TextBox 138"/>
            <p:cNvSpPr txBox="1"/>
            <p:nvPr/>
          </p:nvSpPr>
          <p:spPr>
            <a:xfrm>
              <a:off x="10263188" y="3131820"/>
              <a:ext cx="251841"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活动</a:t>
              </a:r>
            </a:p>
          </p:txBody>
        </p:sp>
      </p:grpSp>
      <p:grpSp>
        <p:nvGrpSpPr>
          <p:cNvPr id="174" name="layer-data"/>
          <p:cNvGrpSpPr/>
          <p:nvPr/>
        </p:nvGrpSpPr>
        <p:grpSpPr>
          <a:xfrm>
            <a:off x="228600" y="3467100"/>
            <a:ext cx="11734800" cy="628650"/>
            <a:chOff x="228600" y="3467100"/>
            <a:chExt cx="11734800" cy="628650"/>
          </a:xfrm>
        </p:grpSpPr>
        <p:sp>
          <p:nvSpPr>
            <p:cNvPr id="140" name="Rectangle 140"/>
            <p:cNvSpPr/>
            <p:nvPr/>
          </p:nvSpPr>
          <p:spPr>
            <a:xfrm>
              <a:off x="228600" y="3467100"/>
              <a:ext cx="876300" cy="628650"/>
            </a:xfrm>
            <a:prstGeom prst="roundRect">
              <a:avLst>
                <a:gd name="adj" fmla="val 9091"/>
              </a:avLst>
            </a:prstGeom>
            <a:solidFill>
              <a:srgbClr val="520E00"/>
            </a:solidFill>
            <a:ln>
              <a:noFill/>
            </a:ln>
          </p:spPr>
        </p:sp>
        <p:sp>
          <p:nvSpPr>
            <p:cNvPr id="141" name="TextBox 141"/>
            <p:cNvSpPr txBox="1"/>
            <p:nvPr/>
          </p:nvSpPr>
          <p:spPr>
            <a:xfrm>
              <a:off x="401803" y="3700939"/>
              <a:ext cx="52989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数据层</a:t>
              </a:r>
            </a:p>
          </p:txBody>
        </p:sp>
        <p:sp>
          <p:nvSpPr>
            <p:cNvPr id="142" name="Rectangle 142"/>
            <p:cNvSpPr/>
            <p:nvPr/>
          </p:nvSpPr>
          <p:spPr>
            <a:xfrm>
              <a:off x="1162050" y="3467100"/>
              <a:ext cx="10801350" cy="628650"/>
            </a:xfrm>
            <a:prstGeom prst="roundRect">
              <a:avLst>
                <a:gd name="adj" fmla="val 9091"/>
              </a:avLst>
            </a:prstGeom>
            <a:solidFill>
              <a:srgbClr val="F5F8FE"/>
            </a:solidFill>
            <a:ln w="9525">
              <a:solidFill>
                <a:srgbClr val="C9D5EA"/>
              </a:solidFill>
            </a:ln>
          </p:spPr>
        </p:sp>
        <p:sp>
          <p:nvSpPr>
            <p:cNvPr id="143" name="TextBox 143"/>
            <p:cNvSpPr txBox="1"/>
            <p:nvPr/>
          </p:nvSpPr>
          <p:spPr>
            <a:xfrm>
              <a:off x="1328738" y="3575447"/>
              <a:ext cx="2920009" cy="183356"/>
            </a:xfrm>
            <a:prstGeom prst="rect">
              <a:avLst/>
            </a:prstGeom>
            <a:noFill/>
            <a:ln>
              <a:noFill/>
            </a:ln>
          </p:spPr>
          <p:txBody>
            <a:bodyPr wrap="none" lIns="0" tIns="0" rIns="0" bIns="0" anchor="t" anchorCtr="0">
              <a:spAutoFit/>
            </a:bodyPr>
            <a:lstStyle/>
            <a:p>
              <a:pPr algn="l"/>
              <a:r>
                <a:rPr lang="zh-CN" sz="940" b="1" dirty="0">
                  <a:solidFill>
                    <a:srgbClr val="520E00"/>
                  </a:solidFill>
                  <a:latin typeface="+mn-lt"/>
                  <a:ea typeface="+mn-ea"/>
                  <a:cs typeface="+mn-cs"/>
                </a:rPr>
                <a:t>数据层：客户、交易、渠道、权益、工单、风险数据</a:t>
              </a:r>
            </a:p>
          </p:txBody>
        </p:sp>
        <p:grpSp>
          <p:nvGrpSpPr>
            <p:cNvPr id="146" name="Group 146"/>
            <p:cNvGrpSpPr/>
            <p:nvPr/>
          </p:nvGrpSpPr>
          <p:grpSpPr>
            <a:xfrm>
              <a:off x="1957388" y="3817144"/>
              <a:ext cx="104775" cy="157163"/>
              <a:chOff x="1957388" y="3817144"/>
              <a:chExt cx="104775" cy="157163"/>
            </a:xfrm>
          </p:grpSpPr>
          <p:sp>
            <p:nvSpPr>
              <p:cNvPr id="144" name="Freeform 144"/>
              <p:cNvSpPr/>
              <p:nvPr/>
            </p:nvSpPr>
            <p:spPr>
              <a:xfrm>
                <a:off x="1974850" y="38171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5716">
                <a:solidFill>
                  <a:srgbClr val="8A1700"/>
                </a:solidFill>
              </a:ln>
            </p:spPr>
          </p:sp>
          <p:sp>
            <p:nvSpPr>
              <p:cNvPr id="145" name="Freeform 145"/>
              <p:cNvSpPr/>
              <p:nvPr/>
            </p:nvSpPr>
            <p:spPr>
              <a:xfrm>
                <a:off x="1957388" y="39219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5716">
                <a:solidFill>
                  <a:srgbClr val="8A1700"/>
                </a:solidFill>
              </a:ln>
            </p:spPr>
          </p:sp>
        </p:grpSp>
        <p:sp>
          <p:nvSpPr>
            <p:cNvPr id="147" name="TextBox 147"/>
            <p:cNvSpPr txBox="1"/>
            <p:nvPr/>
          </p:nvSpPr>
          <p:spPr>
            <a:xfrm>
              <a:off x="2166938" y="3855720"/>
              <a:ext cx="494157"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客户数据</a:t>
              </a:r>
            </a:p>
          </p:txBody>
        </p:sp>
        <p:grpSp>
          <p:nvGrpSpPr>
            <p:cNvPr id="152" name="Group 152"/>
            <p:cNvGrpSpPr/>
            <p:nvPr/>
          </p:nvGrpSpPr>
          <p:grpSpPr>
            <a:xfrm>
              <a:off x="3550444" y="3834606"/>
              <a:ext cx="157163" cy="122238"/>
              <a:chOff x="3550444" y="3834606"/>
              <a:chExt cx="157163" cy="122238"/>
            </a:xfrm>
          </p:grpSpPr>
          <p:sp>
            <p:nvSpPr>
              <p:cNvPr id="148" name="Freeform 148"/>
              <p:cNvSpPr/>
              <p:nvPr/>
            </p:nvSpPr>
            <p:spPr>
              <a:xfrm>
                <a:off x="3550444" y="3834606"/>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5716">
                <a:solidFill>
                  <a:srgbClr val="8A1700"/>
                </a:solidFill>
              </a:ln>
            </p:spPr>
          </p:sp>
          <p:sp>
            <p:nvSpPr>
              <p:cNvPr id="149" name="Freeform 149"/>
              <p:cNvSpPr/>
              <p:nvPr/>
            </p:nvSpPr>
            <p:spPr>
              <a:xfrm>
                <a:off x="3550444" y="3878263"/>
                <a:ext cx="157163" cy="9525"/>
              </a:xfrm>
              <a:custGeom>
                <a:avLst/>
                <a:gdLst/>
                <a:ahLst/>
                <a:cxnLst/>
                <a:rect l="l" t="t" r="r" b="b"/>
                <a:pathLst>
                  <a:path w="157163" h="9525">
                    <a:moveTo>
                      <a:pt x="0" y="0"/>
                    </a:moveTo>
                    <a:lnTo>
                      <a:pt x="157163" y="0"/>
                    </a:lnTo>
                  </a:path>
                </a:pathLst>
              </a:custGeom>
              <a:noFill/>
              <a:ln w="15716">
                <a:solidFill>
                  <a:srgbClr val="8A1700"/>
                </a:solidFill>
              </a:ln>
            </p:spPr>
          </p:sp>
          <p:sp>
            <p:nvSpPr>
              <p:cNvPr id="150" name="Freeform 150"/>
              <p:cNvSpPr/>
              <p:nvPr/>
            </p:nvSpPr>
            <p:spPr>
              <a:xfrm>
                <a:off x="3585369" y="3921919"/>
                <a:ext cx="9525" cy="9525"/>
              </a:xfrm>
              <a:custGeom>
                <a:avLst/>
                <a:gdLst/>
                <a:ahLst/>
                <a:cxnLst/>
                <a:rect l="l" t="t" r="r" b="b"/>
                <a:pathLst>
                  <a:path w="9525" h="9525">
                    <a:moveTo>
                      <a:pt x="0" y="0"/>
                    </a:moveTo>
                    <a:lnTo>
                      <a:pt x="87" y="0"/>
                    </a:lnTo>
                  </a:path>
                </a:pathLst>
              </a:custGeom>
              <a:noFill/>
              <a:ln w="15716">
                <a:solidFill>
                  <a:srgbClr val="8A1700"/>
                </a:solidFill>
              </a:ln>
            </p:spPr>
          </p:sp>
          <p:sp>
            <p:nvSpPr>
              <p:cNvPr id="151" name="Freeform 151"/>
              <p:cNvSpPr/>
              <p:nvPr/>
            </p:nvSpPr>
            <p:spPr>
              <a:xfrm>
                <a:off x="3620294" y="3921919"/>
                <a:ext cx="17463" cy="9525"/>
              </a:xfrm>
              <a:custGeom>
                <a:avLst/>
                <a:gdLst/>
                <a:ahLst/>
                <a:cxnLst/>
                <a:rect l="l" t="t" r="r" b="b"/>
                <a:pathLst>
                  <a:path w="17463" h="9525">
                    <a:moveTo>
                      <a:pt x="0" y="0"/>
                    </a:moveTo>
                    <a:lnTo>
                      <a:pt x="17463" y="0"/>
                    </a:lnTo>
                  </a:path>
                </a:pathLst>
              </a:custGeom>
              <a:noFill/>
              <a:ln w="15716">
                <a:solidFill>
                  <a:srgbClr val="8A1700"/>
                </a:solidFill>
              </a:ln>
            </p:spPr>
          </p:sp>
        </p:grpSp>
        <p:sp>
          <p:nvSpPr>
            <p:cNvPr id="153" name="TextBox 153"/>
            <p:cNvSpPr txBox="1"/>
            <p:nvPr/>
          </p:nvSpPr>
          <p:spPr>
            <a:xfrm>
              <a:off x="3786188" y="3855720"/>
              <a:ext cx="494157"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交易数据</a:t>
              </a:r>
            </a:p>
          </p:txBody>
        </p:sp>
        <p:grpSp>
          <p:nvGrpSpPr>
            <p:cNvPr id="157" name="Group 157"/>
            <p:cNvGrpSpPr/>
            <p:nvPr/>
          </p:nvGrpSpPr>
          <p:grpSpPr>
            <a:xfrm>
              <a:off x="5187156" y="3817144"/>
              <a:ext cx="122238" cy="157162"/>
              <a:chOff x="5187156" y="3817144"/>
              <a:chExt cx="122238" cy="157162"/>
            </a:xfrm>
          </p:grpSpPr>
          <p:sp>
            <p:nvSpPr>
              <p:cNvPr id="154" name="Freeform 154"/>
              <p:cNvSpPr/>
              <p:nvPr/>
            </p:nvSpPr>
            <p:spPr>
              <a:xfrm>
                <a:off x="5187156" y="3869531"/>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5716">
                <a:solidFill>
                  <a:srgbClr val="8A1700"/>
                </a:solidFill>
              </a:ln>
            </p:spPr>
          </p:sp>
          <p:sp>
            <p:nvSpPr>
              <p:cNvPr id="155" name="Freeform 155"/>
              <p:cNvSpPr/>
              <p:nvPr/>
            </p:nvSpPr>
            <p:spPr>
              <a:xfrm>
                <a:off x="5248275" y="3817144"/>
                <a:ext cx="9525" cy="96044"/>
              </a:xfrm>
              <a:custGeom>
                <a:avLst/>
                <a:gdLst/>
                <a:ahLst/>
                <a:cxnLst/>
                <a:rect l="l" t="t" r="r" b="b"/>
                <a:pathLst>
                  <a:path w="9525" h="96044">
                    <a:moveTo>
                      <a:pt x="0" y="96044"/>
                    </a:moveTo>
                    <a:lnTo>
                      <a:pt x="0" y="0"/>
                    </a:lnTo>
                  </a:path>
                </a:pathLst>
              </a:custGeom>
              <a:noFill/>
              <a:ln w="15716">
                <a:solidFill>
                  <a:srgbClr val="8A1700"/>
                </a:solidFill>
              </a:ln>
            </p:spPr>
          </p:sp>
          <p:sp>
            <p:nvSpPr>
              <p:cNvPr id="156" name="Freeform 156"/>
              <p:cNvSpPr/>
              <p:nvPr/>
            </p:nvSpPr>
            <p:spPr>
              <a:xfrm>
                <a:off x="5222081" y="3817144"/>
                <a:ext cx="52388" cy="26194"/>
              </a:xfrm>
              <a:custGeom>
                <a:avLst/>
                <a:gdLst/>
                <a:ahLst/>
                <a:cxnLst/>
                <a:rect l="l" t="t" r="r" b="b"/>
                <a:pathLst>
                  <a:path w="52388" h="26194">
                    <a:moveTo>
                      <a:pt x="0" y="26194"/>
                    </a:moveTo>
                    <a:lnTo>
                      <a:pt x="26194" y="0"/>
                    </a:lnTo>
                    <a:lnTo>
                      <a:pt x="52388" y="26194"/>
                    </a:lnTo>
                  </a:path>
                </a:pathLst>
              </a:custGeom>
              <a:noFill/>
              <a:ln w="15716">
                <a:solidFill>
                  <a:srgbClr val="8A1700"/>
                </a:solidFill>
              </a:ln>
            </p:spPr>
          </p:sp>
        </p:grpSp>
        <p:sp>
          <p:nvSpPr>
            <p:cNvPr id="158" name="TextBox 158"/>
            <p:cNvSpPr txBox="1"/>
            <p:nvPr/>
          </p:nvSpPr>
          <p:spPr>
            <a:xfrm>
              <a:off x="5405438" y="3855720"/>
              <a:ext cx="494157"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渠道数据</a:t>
              </a:r>
            </a:p>
          </p:txBody>
        </p:sp>
        <p:grpSp>
          <p:nvGrpSpPr>
            <p:cNvPr id="161" name="Group 161"/>
            <p:cNvGrpSpPr/>
            <p:nvPr/>
          </p:nvGrpSpPr>
          <p:grpSpPr>
            <a:xfrm>
              <a:off x="6788944" y="3834606"/>
              <a:ext cx="157163" cy="128438"/>
              <a:chOff x="6788944" y="3834606"/>
              <a:chExt cx="157163" cy="128438"/>
            </a:xfrm>
          </p:grpSpPr>
          <p:sp>
            <p:nvSpPr>
              <p:cNvPr id="159" name="Freeform 159"/>
              <p:cNvSpPr/>
              <p:nvPr/>
            </p:nvSpPr>
            <p:spPr>
              <a:xfrm>
                <a:off x="6788944" y="3834606"/>
                <a:ext cx="157163" cy="128438"/>
              </a:xfrm>
              <a:custGeom>
                <a:avLst/>
                <a:gdLst/>
                <a:ahLst/>
                <a:cxnLst/>
                <a:rect l="l" t="t" r="r" b="b"/>
                <a:pathLst>
                  <a:path w="157163" h="128438">
                    <a:moveTo>
                      <a:pt x="26194" y="0"/>
                    </a:moveTo>
                    <a:lnTo>
                      <a:pt x="130969" y="0"/>
                    </a:lnTo>
                    <a:lnTo>
                      <a:pt x="157163" y="43656"/>
                    </a:lnTo>
                    <a:lnTo>
                      <a:pt x="82947" y="126603"/>
                    </a:lnTo>
                    <a:cubicBezTo>
                      <a:pt x="81797" y="127776"/>
                      <a:pt x="80224" y="128438"/>
                      <a:pt x="78581" y="128438"/>
                    </a:cubicBezTo>
                    <a:cubicBezTo>
                      <a:pt x="76939" y="128438"/>
                      <a:pt x="75365" y="127776"/>
                      <a:pt x="74216" y="126603"/>
                    </a:cubicBezTo>
                    <a:lnTo>
                      <a:pt x="0" y="43656"/>
                    </a:lnTo>
                    <a:lnTo>
                      <a:pt x="26194" y="0"/>
                    </a:lnTo>
                  </a:path>
                </a:pathLst>
              </a:custGeom>
              <a:noFill/>
              <a:ln w="15716">
                <a:solidFill>
                  <a:srgbClr val="8A1700"/>
                </a:solidFill>
              </a:ln>
            </p:spPr>
          </p:sp>
          <p:sp>
            <p:nvSpPr>
              <p:cNvPr id="160" name="Freeform 160"/>
              <p:cNvSpPr/>
              <p:nvPr/>
            </p:nvSpPr>
            <p:spPr>
              <a:xfrm>
                <a:off x="6832600" y="3867785"/>
                <a:ext cx="17463" cy="27940"/>
              </a:xfrm>
              <a:custGeom>
                <a:avLst/>
                <a:gdLst/>
                <a:ahLst/>
                <a:cxnLst/>
                <a:rect l="l" t="t" r="r" b="b"/>
                <a:pathLst>
                  <a:path w="17463" h="27940">
                    <a:moveTo>
                      <a:pt x="17463" y="27940"/>
                    </a:moveTo>
                    <a:lnTo>
                      <a:pt x="0" y="8731"/>
                    </a:lnTo>
                    <a:lnTo>
                      <a:pt x="5239" y="0"/>
                    </a:lnTo>
                  </a:path>
                </a:pathLst>
              </a:custGeom>
              <a:noFill/>
              <a:ln w="15716">
                <a:solidFill>
                  <a:srgbClr val="8A1700"/>
                </a:solidFill>
              </a:ln>
            </p:spPr>
          </p:sp>
        </p:grpSp>
        <p:sp>
          <p:nvSpPr>
            <p:cNvPr id="162" name="TextBox 162"/>
            <p:cNvSpPr txBox="1"/>
            <p:nvPr/>
          </p:nvSpPr>
          <p:spPr>
            <a:xfrm>
              <a:off x="7024688" y="3855720"/>
              <a:ext cx="494157"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权益数据</a:t>
              </a:r>
            </a:p>
          </p:txBody>
        </p:sp>
        <p:grpSp>
          <p:nvGrpSpPr>
            <p:cNvPr id="167" name="Group 167"/>
            <p:cNvGrpSpPr/>
            <p:nvPr/>
          </p:nvGrpSpPr>
          <p:grpSpPr>
            <a:xfrm>
              <a:off x="8425656" y="3825875"/>
              <a:ext cx="130970" cy="148431"/>
              <a:chOff x="8425656" y="3825875"/>
              <a:chExt cx="130970" cy="148431"/>
            </a:xfrm>
          </p:grpSpPr>
          <p:sp>
            <p:nvSpPr>
              <p:cNvPr id="163" name="Freeform 163"/>
              <p:cNvSpPr/>
              <p:nvPr/>
            </p:nvSpPr>
            <p:spPr>
              <a:xfrm>
                <a:off x="8425656" y="3825875"/>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5716">
                <a:solidFill>
                  <a:srgbClr val="8A1700"/>
                </a:solidFill>
              </a:ln>
            </p:spPr>
          </p:sp>
          <p:sp>
            <p:nvSpPr>
              <p:cNvPr id="164" name="Freeform 164"/>
              <p:cNvSpPr/>
              <p:nvPr/>
            </p:nvSpPr>
            <p:spPr>
              <a:xfrm>
                <a:off x="8504238" y="3939381"/>
                <a:ext cx="52388" cy="34925"/>
              </a:xfrm>
              <a:custGeom>
                <a:avLst/>
                <a:gdLst/>
                <a:ahLst/>
                <a:cxnLst/>
                <a:rect l="l" t="t" r="r" b="b"/>
                <a:pathLst>
                  <a:path w="52388" h="34925">
                    <a:moveTo>
                      <a:pt x="0" y="17463"/>
                    </a:moveTo>
                    <a:lnTo>
                      <a:pt x="17463" y="34925"/>
                    </a:lnTo>
                    <a:lnTo>
                      <a:pt x="52388" y="0"/>
                    </a:lnTo>
                  </a:path>
                </a:pathLst>
              </a:custGeom>
              <a:noFill/>
              <a:ln w="15716">
                <a:solidFill>
                  <a:srgbClr val="8A1700"/>
                </a:solidFill>
              </a:ln>
            </p:spPr>
          </p:sp>
          <p:sp>
            <p:nvSpPr>
              <p:cNvPr id="165" name="Freeform 165"/>
              <p:cNvSpPr/>
              <p:nvPr/>
            </p:nvSpPr>
            <p:spPr>
              <a:xfrm>
                <a:off x="8460581" y="3860800"/>
                <a:ext cx="34925" cy="9525"/>
              </a:xfrm>
              <a:custGeom>
                <a:avLst/>
                <a:gdLst/>
                <a:ahLst/>
                <a:cxnLst/>
                <a:rect l="l" t="t" r="r" b="b"/>
                <a:pathLst>
                  <a:path w="34925" h="9525">
                    <a:moveTo>
                      <a:pt x="0" y="0"/>
                    </a:moveTo>
                    <a:lnTo>
                      <a:pt x="34925" y="0"/>
                    </a:lnTo>
                  </a:path>
                </a:pathLst>
              </a:custGeom>
              <a:noFill/>
              <a:ln w="15716">
                <a:solidFill>
                  <a:srgbClr val="8A1700"/>
                </a:solidFill>
              </a:ln>
            </p:spPr>
          </p:sp>
          <p:sp>
            <p:nvSpPr>
              <p:cNvPr id="166" name="Freeform 166"/>
              <p:cNvSpPr/>
              <p:nvPr/>
            </p:nvSpPr>
            <p:spPr>
              <a:xfrm>
                <a:off x="8460581" y="3895725"/>
                <a:ext cx="17463" cy="9525"/>
              </a:xfrm>
              <a:custGeom>
                <a:avLst/>
                <a:gdLst/>
                <a:ahLst/>
                <a:cxnLst/>
                <a:rect l="l" t="t" r="r" b="b"/>
                <a:pathLst>
                  <a:path w="17463" h="9525">
                    <a:moveTo>
                      <a:pt x="0" y="0"/>
                    </a:moveTo>
                    <a:lnTo>
                      <a:pt x="17463" y="0"/>
                    </a:lnTo>
                  </a:path>
                </a:pathLst>
              </a:custGeom>
              <a:noFill/>
              <a:ln w="15716">
                <a:solidFill>
                  <a:srgbClr val="8A1700"/>
                </a:solidFill>
              </a:ln>
            </p:spPr>
          </p:sp>
        </p:grpSp>
        <p:sp>
          <p:nvSpPr>
            <p:cNvPr id="168" name="TextBox 168"/>
            <p:cNvSpPr txBox="1"/>
            <p:nvPr/>
          </p:nvSpPr>
          <p:spPr>
            <a:xfrm>
              <a:off x="8643938" y="3855720"/>
              <a:ext cx="494157"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工单数据</a:t>
              </a:r>
            </a:p>
          </p:txBody>
        </p:sp>
        <p:grpSp>
          <p:nvGrpSpPr>
            <p:cNvPr id="172" name="Group 172"/>
            <p:cNvGrpSpPr/>
            <p:nvPr/>
          </p:nvGrpSpPr>
          <p:grpSpPr>
            <a:xfrm>
              <a:off x="10017969" y="3814243"/>
              <a:ext cx="176105" cy="151297"/>
              <a:chOff x="10017969" y="3814243"/>
              <a:chExt cx="176105" cy="151297"/>
            </a:xfrm>
          </p:grpSpPr>
          <p:sp>
            <p:nvSpPr>
              <p:cNvPr id="169" name="Freeform 169"/>
              <p:cNvSpPr/>
              <p:nvPr/>
            </p:nvSpPr>
            <p:spPr>
              <a:xfrm>
                <a:off x="10106025" y="3869531"/>
                <a:ext cx="9525" cy="34925"/>
              </a:xfrm>
              <a:custGeom>
                <a:avLst/>
                <a:gdLst/>
                <a:ahLst/>
                <a:cxnLst/>
                <a:rect l="l" t="t" r="r" b="b"/>
                <a:pathLst>
                  <a:path w="9525" h="34925">
                    <a:moveTo>
                      <a:pt x="0" y="0"/>
                    </a:moveTo>
                    <a:lnTo>
                      <a:pt x="0" y="34925"/>
                    </a:lnTo>
                  </a:path>
                </a:pathLst>
              </a:custGeom>
              <a:noFill/>
              <a:ln w="15716">
                <a:solidFill>
                  <a:srgbClr val="8A1700"/>
                </a:solidFill>
              </a:ln>
            </p:spPr>
          </p:sp>
          <p:sp>
            <p:nvSpPr>
              <p:cNvPr id="170" name="Freeform 170"/>
              <p:cNvSpPr/>
              <p:nvPr/>
            </p:nvSpPr>
            <p:spPr>
              <a:xfrm>
                <a:off x="10017969" y="38142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5716">
                <a:solidFill>
                  <a:srgbClr val="8A1700"/>
                </a:solidFill>
              </a:ln>
            </p:spPr>
          </p:sp>
          <p:sp>
            <p:nvSpPr>
              <p:cNvPr id="171" name="Freeform 171"/>
              <p:cNvSpPr/>
              <p:nvPr/>
            </p:nvSpPr>
            <p:spPr>
              <a:xfrm>
                <a:off x="10106025" y="3930650"/>
                <a:ext cx="9525" cy="9525"/>
              </a:xfrm>
              <a:custGeom>
                <a:avLst/>
                <a:gdLst/>
                <a:ahLst/>
                <a:cxnLst/>
                <a:rect l="l" t="t" r="r" b="b"/>
                <a:pathLst>
                  <a:path w="9525" h="9525">
                    <a:moveTo>
                      <a:pt x="0" y="0"/>
                    </a:moveTo>
                    <a:lnTo>
                      <a:pt x="87" y="0"/>
                    </a:lnTo>
                  </a:path>
                </a:pathLst>
              </a:custGeom>
              <a:noFill/>
              <a:ln w="15716">
                <a:solidFill>
                  <a:srgbClr val="8A1700"/>
                </a:solidFill>
              </a:ln>
            </p:spPr>
          </p:sp>
        </p:grpSp>
        <p:sp>
          <p:nvSpPr>
            <p:cNvPr id="173" name="TextBox 173"/>
            <p:cNvSpPr txBox="1"/>
            <p:nvPr/>
          </p:nvSpPr>
          <p:spPr>
            <a:xfrm>
              <a:off x="10263188" y="3855720"/>
              <a:ext cx="494157" cy="176212"/>
            </a:xfrm>
            <a:prstGeom prst="rect">
              <a:avLst/>
            </a:prstGeom>
            <a:noFill/>
            <a:ln>
              <a:noFill/>
            </a:ln>
          </p:spPr>
          <p:txBody>
            <a:bodyPr wrap="none" lIns="0" tIns="0" rIns="0" bIns="0" anchor="t" anchorCtr="0">
              <a:spAutoFit/>
            </a:bodyPr>
            <a:lstStyle/>
            <a:p>
              <a:pPr algn="l"/>
              <a:r>
                <a:rPr lang="zh-CN" sz="900" dirty="0">
                  <a:solidFill>
                    <a:srgbClr val="60403A"/>
                  </a:solidFill>
                  <a:latin typeface="+mn-lt"/>
                  <a:ea typeface="+mn-ea"/>
                  <a:cs typeface="+mn-cs"/>
                </a:rPr>
                <a:t>风险数据</a:t>
              </a:r>
            </a:p>
          </p:txBody>
        </p:sp>
      </p:grpSp>
      <p:grpSp>
        <p:nvGrpSpPr>
          <p:cNvPr id="248" name="six-systems"/>
          <p:cNvGrpSpPr/>
          <p:nvPr/>
        </p:nvGrpSpPr>
        <p:grpSpPr>
          <a:xfrm>
            <a:off x="228600" y="4191000"/>
            <a:ext cx="11668125" cy="1543050"/>
            <a:chOff x="228600" y="4191000"/>
            <a:chExt cx="11668125" cy="1543050"/>
          </a:xfrm>
        </p:grpSpPr>
        <p:sp>
          <p:nvSpPr>
            <p:cNvPr id="175" name="Rectangle 175"/>
            <p:cNvSpPr/>
            <p:nvPr/>
          </p:nvSpPr>
          <p:spPr>
            <a:xfrm>
              <a:off x="228600" y="4191000"/>
              <a:ext cx="876300" cy="1543050"/>
            </a:xfrm>
            <a:prstGeom prst="roundRect">
              <a:avLst>
                <a:gd name="adj" fmla="val 6522"/>
              </a:avLst>
            </a:prstGeom>
            <a:solidFill>
              <a:srgbClr val="520E00"/>
            </a:solidFill>
            <a:ln>
              <a:noFill/>
            </a:ln>
          </p:spPr>
        </p:sp>
        <p:sp>
          <p:nvSpPr>
            <p:cNvPr id="176" name="TextBox 176"/>
            <p:cNvSpPr txBox="1"/>
            <p:nvPr/>
          </p:nvSpPr>
          <p:spPr>
            <a:xfrm>
              <a:off x="401803" y="4882039"/>
              <a:ext cx="52989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六体系</a:t>
              </a:r>
            </a:p>
          </p:txBody>
        </p:sp>
        <p:grpSp>
          <p:nvGrpSpPr>
            <p:cNvPr id="188" name="sys-1"/>
            <p:cNvGrpSpPr/>
            <p:nvPr/>
          </p:nvGrpSpPr>
          <p:grpSpPr>
            <a:xfrm>
              <a:off x="1181100" y="4191000"/>
              <a:ext cx="1714500" cy="1543050"/>
              <a:chOff x="1181100" y="4191000"/>
              <a:chExt cx="1714500" cy="1543050"/>
            </a:xfrm>
          </p:grpSpPr>
          <p:sp>
            <p:nvSpPr>
              <p:cNvPr id="177" name="Rectangle 177"/>
              <p:cNvSpPr/>
              <p:nvPr/>
            </p:nvSpPr>
            <p:spPr>
              <a:xfrm>
                <a:off x="1181100" y="4191000"/>
                <a:ext cx="1714500" cy="1543050"/>
              </a:xfrm>
              <a:prstGeom prst="roundRect">
                <a:avLst>
                  <a:gd name="adj" fmla="val 3704"/>
                </a:avLst>
              </a:prstGeom>
              <a:solidFill>
                <a:srgbClr val="FFFFFF"/>
              </a:solidFill>
              <a:ln w="9525">
                <a:solidFill>
                  <a:srgbClr val="C9D5EA"/>
                </a:solidFill>
              </a:ln>
            </p:spPr>
          </p:sp>
          <p:sp>
            <p:nvSpPr>
              <p:cNvPr id="178" name="Rectangle 178"/>
              <p:cNvSpPr/>
              <p:nvPr/>
            </p:nvSpPr>
            <p:spPr>
              <a:xfrm>
                <a:off x="1181100" y="4191000"/>
                <a:ext cx="1714500" cy="247650"/>
              </a:xfrm>
              <a:prstGeom prst="roundRect">
                <a:avLst>
                  <a:gd name="adj" fmla="val 23077"/>
                </a:avLst>
              </a:prstGeom>
              <a:solidFill>
                <a:srgbClr val="AB1D00"/>
              </a:solidFill>
              <a:ln>
                <a:noFill/>
              </a:ln>
            </p:spPr>
          </p:sp>
          <p:sp>
            <p:nvSpPr>
              <p:cNvPr id="179" name="Rectangle 179"/>
              <p:cNvSpPr/>
              <p:nvPr/>
            </p:nvSpPr>
            <p:spPr>
              <a:xfrm>
                <a:off x="1181100" y="4343400"/>
                <a:ext cx="1714500" cy="95250"/>
              </a:xfrm>
              <a:prstGeom prst="rect">
                <a:avLst/>
              </a:prstGeom>
              <a:solidFill>
                <a:srgbClr val="AB1D00"/>
              </a:solidFill>
              <a:ln>
                <a:noFill/>
              </a:ln>
            </p:spPr>
          </p:sp>
          <p:sp>
            <p:nvSpPr>
              <p:cNvPr id="180" name="TextBox 180"/>
              <p:cNvSpPr txBox="1"/>
              <p:nvPr/>
            </p:nvSpPr>
            <p:spPr>
              <a:xfrm>
                <a:off x="1769542" y="42571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客户分层</a:t>
                </a:r>
              </a:p>
            </p:txBody>
          </p:sp>
          <p:grpSp>
            <p:nvGrpSpPr>
              <p:cNvPr id="186" name="Group 186"/>
              <p:cNvGrpSpPr/>
              <p:nvPr/>
            </p:nvGrpSpPr>
            <p:grpSpPr>
              <a:xfrm>
                <a:off x="1938338" y="4548188"/>
                <a:ext cx="200025" cy="200025"/>
                <a:chOff x="1938338" y="4548188"/>
                <a:chExt cx="200025" cy="200025"/>
              </a:xfrm>
            </p:grpSpPr>
            <p:sp>
              <p:nvSpPr>
                <p:cNvPr id="181" name="Freeform 181"/>
                <p:cNvSpPr/>
                <p:nvPr/>
              </p:nvSpPr>
              <p:spPr>
                <a:xfrm>
                  <a:off x="2016125" y="45481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A1700"/>
                  </a:solidFill>
                </a:ln>
              </p:spPr>
            </p:sp>
            <p:sp>
              <p:nvSpPr>
                <p:cNvPr id="182" name="Freeform 182"/>
                <p:cNvSpPr/>
                <p:nvPr/>
              </p:nvSpPr>
              <p:spPr>
                <a:xfrm>
                  <a:off x="1938338" y="470376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A1700"/>
                  </a:solidFill>
                </a:ln>
              </p:spPr>
            </p:sp>
            <p:sp>
              <p:nvSpPr>
                <p:cNvPr id="183" name="Freeform 183"/>
                <p:cNvSpPr/>
                <p:nvPr/>
              </p:nvSpPr>
              <p:spPr>
                <a:xfrm>
                  <a:off x="2093913" y="470376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A1700"/>
                  </a:solidFill>
                </a:ln>
              </p:spPr>
            </p:sp>
            <p:sp>
              <p:nvSpPr>
                <p:cNvPr id="184" name="Freeform 184"/>
                <p:cNvSpPr/>
                <p:nvPr/>
              </p:nvSpPr>
              <p:spPr>
                <a:xfrm>
                  <a:off x="1977231" y="4659313"/>
                  <a:ext cx="122238" cy="50006"/>
                </a:xfrm>
                <a:custGeom>
                  <a:avLst/>
                  <a:gdLst/>
                  <a:ahLst/>
                  <a:cxnLst/>
                  <a:rect l="l" t="t" r="r" b="b"/>
                  <a:pathLst>
                    <a:path w="122238" h="50006">
                      <a:moveTo>
                        <a:pt x="0" y="50006"/>
                      </a:moveTo>
                      <a:lnTo>
                        <a:pt x="61119" y="0"/>
                      </a:lnTo>
                      <a:lnTo>
                        <a:pt x="122238" y="50006"/>
                      </a:lnTo>
                    </a:path>
                  </a:pathLst>
                </a:custGeom>
                <a:noFill/>
                <a:ln w="16669">
                  <a:solidFill>
                    <a:srgbClr val="8A1700"/>
                  </a:solidFill>
                </a:ln>
              </p:spPr>
            </p:sp>
            <p:sp>
              <p:nvSpPr>
                <p:cNvPr id="185" name="Freeform 185"/>
                <p:cNvSpPr/>
                <p:nvPr/>
              </p:nvSpPr>
              <p:spPr>
                <a:xfrm>
                  <a:off x="2038350" y="4592638"/>
                  <a:ext cx="9525" cy="66675"/>
                </a:xfrm>
                <a:custGeom>
                  <a:avLst/>
                  <a:gdLst/>
                  <a:ahLst/>
                  <a:cxnLst/>
                  <a:rect l="l" t="t" r="r" b="b"/>
                  <a:pathLst>
                    <a:path w="9525" h="66675">
                      <a:moveTo>
                        <a:pt x="0" y="0"/>
                      </a:moveTo>
                      <a:lnTo>
                        <a:pt x="0" y="66675"/>
                      </a:lnTo>
                    </a:path>
                  </a:pathLst>
                </a:custGeom>
                <a:noFill/>
                <a:ln w="16669">
                  <a:solidFill>
                    <a:srgbClr val="8A1700"/>
                  </a:solidFill>
                </a:ln>
              </p:spPr>
            </p:sp>
          </p:grpSp>
          <p:sp>
            <p:nvSpPr>
              <p:cNvPr id="187" name="TextBox 187"/>
              <p:cNvSpPr txBox="1"/>
              <p:nvPr/>
            </p:nvSpPr>
            <p:spPr>
              <a:xfrm>
                <a:off x="1328738" y="4925139"/>
                <a:ext cx="69678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客户分群分层</a:t>
                </a:r>
              </a:p>
              <a:p>
                <a:pPr algn="l" marL="85280" indent="-85280">
                  <a:lnSpc>
                    <a:spcPts val="1275"/>
                  </a:lnSpc>
                  <a:buClr>
                    <a:srgbClr val="60403A"/>
                  </a:buClr>
                  <a:buSzTx/>
                  <a:buFontTx/>
                  <a:buChar char="•"/>
                </a:pPr>
                <a:r>
                  <a:rPr lang="zh-CN" sz="790" dirty="0">
                    <a:solidFill>
                      <a:srgbClr val="60403A"/>
                    </a:solidFill>
                    <a:latin typeface="+mn-lt"/>
                    <a:ea typeface="+mn-ea"/>
                    <a:cs typeface="+mn-cs"/>
                  </a:rPr>
                  <a:t>价值评估分级</a:t>
                </a:r>
              </a:p>
              <a:p>
                <a:pPr algn="l" marL="85280" indent="-85280">
                  <a:lnSpc>
                    <a:spcPts val="1275"/>
                  </a:lnSpc>
                  <a:buClr>
                    <a:srgbClr val="60403A"/>
                  </a:buClr>
                  <a:buSzTx/>
                  <a:buFontTx/>
                  <a:buChar char="•"/>
                </a:pPr>
                <a:r>
                  <a:rPr lang="zh-CN" sz="790" dirty="0">
                    <a:solidFill>
                      <a:srgbClr val="60403A"/>
                    </a:solidFill>
                    <a:latin typeface="+mn-lt"/>
                    <a:ea typeface="+mn-ea"/>
                    <a:cs typeface="+mn-cs"/>
                  </a:rPr>
                  <a:t>差异化运营</a:t>
                </a:r>
              </a:p>
            </p:txBody>
          </p:sp>
        </p:grpSp>
        <p:grpSp>
          <p:nvGrpSpPr>
            <p:cNvPr id="200" name="sys-2"/>
            <p:cNvGrpSpPr/>
            <p:nvPr/>
          </p:nvGrpSpPr>
          <p:grpSpPr>
            <a:xfrm>
              <a:off x="2981325" y="4191000"/>
              <a:ext cx="1714500" cy="1543050"/>
              <a:chOff x="2981325" y="4191000"/>
              <a:chExt cx="1714500" cy="1543050"/>
            </a:xfrm>
          </p:grpSpPr>
          <p:sp>
            <p:nvSpPr>
              <p:cNvPr id="189" name="Rectangle 189"/>
              <p:cNvSpPr/>
              <p:nvPr/>
            </p:nvSpPr>
            <p:spPr>
              <a:xfrm>
                <a:off x="2981325" y="4191000"/>
                <a:ext cx="1714500" cy="1543050"/>
              </a:xfrm>
              <a:prstGeom prst="roundRect">
                <a:avLst>
                  <a:gd name="adj" fmla="val 3704"/>
                </a:avLst>
              </a:prstGeom>
              <a:solidFill>
                <a:srgbClr val="FFFFFF"/>
              </a:solidFill>
              <a:ln w="9525">
                <a:solidFill>
                  <a:srgbClr val="C9D5EA"/>
                </a:solidFill>
              </a:ln>
            </p:spPr>
          </p:sp>
          <p:sp>
            <p:nvSpPr>
              <p:cNvPr id="190" name="Rectangle 190"/>
              <p:cNvSpPr/>
              <p:nvPr/>
            </p:nvSpPr>
            <p:spPr>
              <a:xfrm>
                <a:off x="2981325" y="4191000"/>
                <a:ext cx="1714500" cy="247650"/>
              </a:xfrm>
              <a:prstGeom prst="roundRect">
                <a:avLst>
                  <a:gd name="adj" fmla="val 23077"/>
                </a:avLst>
              </a:prstGeom>
              <a:solidFill>
                <a:srgbClr val="AB1D00"/>
              </a:solidFill>
              <a:ln>
                <a:noFill/>
              </a:ln>
            </p:spPr>
          </p:sp>
          <p:sp>
            <p:nvSpPr>
              <p:cNvPr id="191" name="Rectangle 191"/>
              <p:cNvSpPr/>
              <p:nvPr/>
            </p:nvSpPr>
            <p:spPr>
              <a:xfrm>
                <a:off x="2981325" y="4343400"/>
                <a:ext cx="1714500" cy="95250"/>
              </a:xfrm>
              <a:prstGeom prst="rect">
                <a:avLst/>
              </a:prstGeom>
              <a:solidFill>
                <a:srgbClr val="AB1D00"/>
              </a:solidFill>
              <a:ln>
                <a:noFill/>
              </a:ln>
            </p:spPr>
          </p:sp>
          <p:sp>
            <p:nvSpPr>
              <p:cNvPr id="192" name="TextBox 192"/>
              <p:cNvSpPr txBox="1"/>
              <p:nvPr/>
            </p:nvSpPr>
            <p:spPr>
              <a:xfrm>
                <a:off x="3569767" y="42571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内容运营</a:t>
                </a:r>
              </a:p>
            </p:txBody>
          </p:sp>
          <p:grpSp>
            <p:nvGrpSpPr>
              <p:cNvPr id="198" name="Group 198"/>
              <p:cNvGrpSpPr/>
              <p:nvPr/>
            </p:nvGrpSpPr>
            <p:grpSpPr>
              <a:xfrm>
                <a:off x="3760788" y="4548188"/>
                <a:ext cx="155575" cy="200026"/>
                <a:chOff x="3760788" y="4548188"/>
                <a:chExt cx="155575" cy="200026"/>
              </a:xfrm>
            </p:grpSpPr>
            <p:sp>
              <p:nvSpPr>
                <p:cNvPr id="193" name="Freeform 193"/>
                <p:cNvSpPr/>
                <p:nvPr/>
              </p:nvSpPr>
              <p:spPr>
                <a:xfrm>
                  <a:off x="3860800" y="4548188"/>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16669">
                  <a:solidFill>
                    <a:srgbClr val="8A1700"/>
                  </a:solidFill>
                </a:ln>
              </p:spPr>
            </p:sp>
            <p:sp>
              <p:nvSpPr>
                <p:cNvPr id="194" name="Freeform 194"/>
                <p:cNvSpPr/>
                <p:nvPr/>
              </p:nvSpPr>
              <p:spPr>
                <a:xfrm>
                  <a:off x="3760788" y="4548188"/>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16669">
                  <a:solidFill>
                    <a:srgbClr val="8A1700"/>
                  </a:solidFill>
                </a:ln>
              </p:spPr>
            </p:sp>
            <p:sp>
              <p:nvSpPr>
                <p:cNvPr id="195" name="Freeform 195"/>
                <p:cNvSpPr/>
                <p:nvPr/>
              </p:nvSpPr>
              <p:spPr>
                <a:xfrm>
                  <a:off x="3805238" y="4614863"/>
                  <a:ext cx="11113" cy="9525"/>
                </a:xfrm>
                <a:custGeom>
                  <a:avLst/>
                  <a:gdLst/>
                  <a:ahLst/>
                  <a:cxnLst/>
                  <a:rect l="l" t="t" r="r" b="b"/>
                  <a:pathLst>
                    <a:path w="11113" h="9525">
                      <a:moveTo>
                        <a:pt x="0" y="0"/>
                      </a:moveTo>
                      <a:lnTo>
                        <a:pt x="11113" y="0"/>
                      </a:lnTo>
                    </a:path>
                  </a:pathLst>
                </a:custGeom>
                <a:noFill/>
                <a:ln w="16669">
                  <a:solidFill>
                    <a:srgbClr val="8A1700"/>
                  </a:solidFill>
                </a:ln>
              </p:spPr>
            </p:sp>
            <p:sp>
              <p:nvSpPr>
                <p:cNvPr id="196" name="Freeform 196"/>
                <p:cNvSpPr/>
                <p:nvPr/>
              </p:nvSpPr>
              <p:spPr>
                <a:xfrm>
                  <a:off x="3805238" y="4659313"/>
                  <a:ext cx="66675" cy="9525"/>
                </a:xfrm>
                <a:custGeom>
                  <a:avLst/>
                  <a:gdLst/>
                  <a:ahLst/>
                  <a:cxnLst/>
                  <a:rect l="l" t="t" r="r" b="b"/>
                  <a:pathLst>
                    <a:path w="66675" h="9525">
                      <a:moveTo>
                        <a:pt x="0" y="0"/>
                      </a:moveTo>
                      <a:lnTo>
                        <a:pt x="66675" y="0"/>
                      </a:lnTo>
                    </a:path>
                  </a:pathLst>
                </a:custGeom>
                <a:noFill/>
                <a:ln w="16669">
                  <a:solidFill>
                    <a:srgbClr val="8A1700"/>
                  </a:solidFill>
                </a:ln>
              </p:spPr>
            </p:sp>
            <p:sp>
              <p:nvSpPr>
                <p:cNvPr id="197" name="Freeform 197"/>
                <p:cNvSpPr/>
                <p:nvPr/>
              </p:nvSpPr>
              <p:spPr>
                <a:xfrm>
                  <a:off x="3805238" y="4703763"/>
                  <a:ext cx="66675" cy="9525"/>
                </a:xfrm>
                <a:custGeom>
                  <a:avLst/>
                  <a:gdLst/>
                  <a:ahLst/>
                  <a:cxnLst/>
                  <a:rect l="l" t="t" r="r" b="b"/>
                  <a:pathLst>
                    <a:path w="66675" h="9525">
                      <a:moveTo>
                        <a:pt x="0" y="0"/>
                      </a:moveTo>
                      <a:lnTo>
                        <a:pt x="66675" y="0"/>
                      </a:lnTo>
                    </a:path>
                  </a:pathLst>
                </a:custGeom>
                <a:noFill/>
                <a:ln w="16669">
                  <a:solidFill>
                    <a:srgbClr val="8A1700"/>
                  </a:solidFill>
                </a:ln>
              </p:spPr>
            </p:sp>
          </p:grpSp>
          <p:sp>
            <p:nvSpPr>
              <p:cNvPr id="199" name="TextBox 199"/>
              <p:cNvSpPr txBox="1"/>
              <p:nvPr/>
            </p:nvSpPr>
            <p:spPr>
              <a:xfrm>
                <a:off x="3128962" y="4925139"/>
                <a:ext cx="69678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内容规划生产</a:t>
                </a:r>
              </a:p>
              <a:p>
                <a:pPr algn="l" marL="85280" indent="-85280">
                  <a:lnSpc>
                    <a:spcPts val="1275"/>
                  </a:lnSpc>
                  <a:buClr>
                    <a:srgbClr val="60403A"/>
                  </a:buClr>
                  <a:buSzTx/>
                  <a:buFontTx/>
                  <a:buChar char="•"/>
                </a:pPr>
                <a:r>
                  <a:rPr lang="zh-CN" sz="790" dirty="0">
                    <a:solidFill>
                      <a:srgbClr val="60403A"/>
                    </a:solidFill>
                    <a:latin typeface="+mn-lt"/>
                    <a:ea typeface="+mn-ea"/>
                    <a:cs typeface="+mn-cs"/>
                  </a:rPr>
                  <a:t>个性化推荐</a:t>
                </a:r>
              </a:p>
              <a:p>
                <a:pPr algn="l" marL="85280" indent="-85280">
                  <a:lnSpc>
                    <a:spcPts val="1275"/>
                  </a:lnSpc>
                  <a:buClr>
                    <a:srgbClr val="60403A"/>
                  </a:buClr>
                  <a:buSzTx/>
                  <a:buFontTx/>
                  <a:buChar char="•"/>
                </a:pPr>
                <a:r>
                  <a:rPr lang="zh-CN" sz="790" dirty="0">
                    <a:solidFill>
                      <a:srgbClr val="60403A"/>
                    </a:solidFill>
                    <a:latin typeface="+mn-lt"/>
                    <a:ea typeface="+mn-ea"/>
                    <a:cs typeface="+mn-cs"/>
                  </a:rPr>
                  <a:t>内容效果优化</a:t>
                </a:r>
              </a:p>
            </p:txBody>
          </p:sp>
        </p:grpSp>
        <p:grpSp>
          <p:nvGrpSpPr>
            <p:cNvPr id="213" name="sys-3"/>
            <p:cNvGrpSpPr/>
            <p:nvPr/>
          </p:nvGrpSpPr>
          <p:grpSpPr>
            <a:xfrm>
              <a:off x="4781550" y="4191000"/>
              <a:ext cx="1714500" cy="1543050"/>
              <a:chOff x="4781550" y="4191000"/>
              <a:chExt cx="1714500" cy="1543050"/>
            </a:xfrm>
          </p:grpSpPr>
          <p:sp>
            <p:nvSpPr>
              <p:cNvPr id="201" name="Rectangle 201"/>
              <p:cNvSpPr/>
              <p:nvPr/>
            </p:nvSpPr>
            <p:spPr>
              <a:xfrm>
                <a:off x="4781550" y="4191000"/>
                <a:ext cx="1714500" cy="1543050"/>
              </a:xfrm>
              <a:prstGeom prst="roundRect">
                <a:avLst>
                  <a:gd name="adj" fmla="val 3704"/>
                </a:avLst>
              </a:prstGeom>
              <a:solidFill>
                <a:srgbClr val="FFFFFF"/>
              </a:solidFill>
              <a:ln w="9525">
                <a:solidFill>
                  <a:srgbClr val="C9D5EA"/>
                </a:solidFill>
              </a:ln>
            </p:spPr>
          </p:sp>
          <p:sp>
            <p:nvSpPr>
              <p:cNvPr id="202" name="Rectangle 202"/>
              <p:cNvSpPr/>
              <p:nvPr/>
            </p:nvSpPr>
            <p:spPr>
              <a:xfrm>
                <a:off x="4781550" y="4191000"/>
                <a:ext cx="1714500" cy="247650"/>
              </a:xfrm>
              <a:prstGeom prst="roundRect">
                <a:avLst>
                  <a:gd name="adj" fmla="val 23077"/>
                </a:avLst>
              </a:prstGeom>
              <a:solidFill>
                <a:srgbClr val="AB1D00"/>
              </a:solidFill>
              <a:ln>
                <a:noFill/>
              </a:ln>
            </p:spPr>
          </p:sp>
          <p:sp>
            <p:nvSpPr>
              <p:cNvPr id="203" name="Rectangle 203"/>
              <p:cNvSpPr/>
              <p:nvPr/>
            </p:nvSpPr>
            <p:spPr>
              <a:xfrm>
                <a:off x="4781550" y="4343400"/>
                <a:ext cx="1714500" cy="95250"/>
              </a:xfrm>
              <a:prstGeom prst="rect">
                <a:avLst/>
              </a:prstGeom>
              <a:solidFill>
                <a:srgbClr val="AB1D00"/>
              </a:solidFill>
              <a:ln>
                <a:noFill/>
              </a:ln>
            </p:spPr>
          </p:sp>
          <p:sp>
            <p:nvSpPr>
              <p:cNvPr id="204" name="TextBox 204"/>
              <p:cNvSpPr txBox="1"/>
              <p:nvPr/>
            </p:nvSpPr>
            <p:spPr>
              <a:xfrm>
                <a:off x="5369992" y="42571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场景活动</a:t>
                </a:r>
              </a:p>
            </p:txBody>
          </p:sp>
          <p:grpSp>
            <p:nvGrpSpPr>
              <p:cNvPr id="211" name="Group 211"/>
              <p:cNvGrpSpPr/>
              <p:nvPr/>
            </p:nvGrpSpPr>
            <p:grpSpPr>
              <a:xfrm>
                <a:off x="5549900" y="4548188"/>
                <a:ext cx="177801" cy="200026"/>
                <a:chOff x="5549900" y="4548188"/>
                <a:chExt cx="177801" cy="200026"/>
              </a:xfrm>
            </p:grpSpPr>
            <p:sp>
              <p:nvSpPr>
                <p:cNvPr id="205" name="Freeform 205"/>
                <p:cNvSpPr/>
                <p:nvPr/>
              </p:nvSpPr>
              <p:spPr>
                <a:xfrm>
                  <a:off x="5549900" y="4570413"/>
                  <a:ext cx="177801" cy="177801"/>
                </a:xfrm>
                <a:custGeom>
                  <a:avLst/>
                  <a:gdLst/>
                  <a:ahLst/>
                  <a:cxnLst/>
                  <a:rect l="l" t="t" r="r" b="b"/>
                  <a:pathLst>
                    <a:path w="177801" h="177801">
                      <a:moveTo>
                        <a:pt x="0" y="22225"/>
                      </a:moveTo>
                      <a:cubicBezTo>
                        <a:pt x="0" y="9950"/>
                        <a:pt x="9950" y="0"/>
                        <a:pt x="22225" y="0"/>
                      </a:cubicBezTo>
                      <a:lnTo>
                        <a:pt x="155575" y="0"/>
                      </a:lnTo>
                      <a:cubicBezTo>
                        <a:pt x="167850" y="0"/>
                        <a:pt x="177801" y="9950"/>
                        <a:pt x="177801" y="22225"/>
                      </a:cubicBezTo>
                      <a:lnTo>
                        <a:pt x="177801" y="155575"/>
                      </a:lnTo>
                      <a:cubicBezTo>
                        <a:pt x="177801" y="167850"/>
                        <a:pt x="167850" y="177801"/>
                        <a:pt x="155575" y="177801"/>
                      </a:cubicBezTo>
                      <a:lnTo>
                        <a:pt x="22225" y="177801"/>
                      </a:lnTo>
                      <a:cubicBezTo>
                        <a:pt x="9950" y="177801"/>
                        <a:pt x="0" y="167850"/>
                        <a:pt x="0" y="155575"/>
                      </a:cubicBezTo>
                      <a:lnTo>
                        <a:pt x="0" y="22225"/>
                      </a:lnTo>
                    </a:path>
                  </a:pathLst>
                </a:custGeom>
                <a:noFill/>
                <a:ln w="16669">
                  <a:solidFill>
                    <a:srgbClr val="8A1700"/>
                  </a:solidFill>
                </a:ln>
              </p:spPr>
            </p:sp>
            <p:sp>
              <p:nvSpPr>
                <p:cNvPr id="206" name="Freeform 206"/>
                <p:cNvSpPr/>
                <p:nvPr/>
              </p:nvSpPr>
              <p:spPr>
                <a:xfrm>
                  <a:off x="5683251" y="4548188"/>
                  <a:ext cx="9525" cy="44450"/>
                </a:xfrm>
                <a:custGeom>
                  <a:avLst/>
                  <a:gdLst/>
                  <a:ahLst/>
                  <a:cxnLst/>
                  <a:rect l="l" t="t" r="r" b="b"/>
                  <a:pathLst>
                    <a:path w="9525" h="44450">
                      <a:moveTo>
                        <a:pt x="0" y="0"/>
                      </a:moveTo>
                      <a:lnTo>
                        <a:pt x="0" y="44450"/>
                      </a:lnTo>
                    </a:path>
                  </a:pathLst>
                </a:custGeom>
                <a:noFill/>
                <a:ln w="16669">
                  <a:solidFill>
                    <a:srgbClr val="8A1700"/>
                  </a:solidFill>
                </a:ln>
              </p:spPr>
            </p:sp>
            <p:sp>
              <p:nvSpPr>
                <p:cNvPr id="207" name="Freeform 207"/>
                <p:cNvSpPr/>
                <p:nvPr/>
              </p:nvSpPr>
              <p:spPr>
                <a:xfrm>
                  <a:off x="5594350" y="4548188"/>
                  <a:ext cx="9525" cy="44450"/>
                </a:xfrm>
                <a:custGeom>
                  <a:avLst/>
                  <a:gdLst/>
                  <a:ahLst/>
                  <a:cxnLst/>
                  <a:rect l="l" t="t" r="r" b="b"/>
                  <a:pathLst>
                    <a:path w="9525" h="44450">
                      <a:moveTo>
                        <a:pt x="0" y="0"/>
                      </a:moveTo>
                      <a:lnTo>
                        <a:pt x="0" y="44450"/>
                      </a:lnTo>
                    </a:path>
                  </a:pathLst>
                </a:custGeom>
                <a:noFill/>
                <a:ln w="16669">
                  <a:solidFill>
                    <a:srgbClr val="8A1700"/>
                  </a:solidFill>
                </a:ln>
              </p:spPr>
            </p:sp>
            <p:sp>
              <p:nvSpPr>
                <p:cNvPr id="208" name="Freeform 208"/>
                <p:cNvSpPr/>
                <p:nvPr/>
              </p:nvSpPr>
              <p:spPr>
                <a:xfrm>
                  <a:off x="5549900" y="4637088"/>
                  <a:ext cx="177801" cy="9525"/>
                </a:xfrm>
                <a:custGeom>
                  <a:avLst/>
                  <a:gdLst/>
                  <a:ahLst/>
                  <a:cxnLst/>
                  <a:rect l="l" t="t" r="r" b="b"/>
                  <a:pathLst>
                    <a:path w="177801" h="9525">
                      <a:moveTo>
                        <a:pt x="0" y="0"/>
                      </a:moveTo>
                      <a:lnTo>
                        <a:pt x="177801" y="0"/>
                      </a:lnTo>
                    </a:path>
                  </a:pathLst>
                </a:custGeom>
                <a:noFill/>
                <a:ln w="16669">
                  <a:solidFill>
                    <a:srgbClr val="8A1700"/>
                  </a:solidFill>
                </a:ln>
              </p:spPr>
            </p:sp>
            <p:sp>
              <p:nvSpPr>
                <p:cNvPr id="209" name="Freeform 209"/>
                <p:cNvSpPr/>
                <p:nvPr/>
              </p:nvSpPr>
              <p:spPr>
                <a:xfrm>
                  <a:off x="5627688" y="4681538"/>
                  <a:ext cx="11113" cy="9525"/>
                </a:xfrm>
                <a:custGeom>
                  <a:avLst/>
                  <a:gdLst/>
                  <a:ahLst/>
                  <a:cxnLst/>
                  <a:rect l="l" t="t" r="r" b="b"/>
                  <a:pathLst>
                    <a:path w="11113" h="9525">
                      <a:moveTo>
                        <a:pt x="0" y="0"/>
                      </a:moveTo>
                      <a:lnTo>
                        <a:pt x="11113" y="0"/>
                      </a:lnTo>
                    </a:path>
                  </a:pathLst>
                </a:custGeom>
                <a:noFill/>
                <a:ln w="16669">
                  <a:solidFill>
                    <a:srgbClr val="8A1700"/>
                  </a:solidFill>
                </a:ln>
              </p:spPr>
            </p:sp>
            <p:sp>
              <p:nvSpPr>
                <p:cNvPr id="210" name="Freeform 210"/>
                <p:cNvSpPr/>
                <p:nvPr/>
              </p:nvSpPr>
              <p:spPr>
                <a:xfrm>
                  <a:off x="5638800" y="4681538"/>
                  <a:ext cx="9525" cy="33338"/>
                </a:xfrm>
                <a:custGeom>
                  <a:avLst/>
                  <a:gdLst/>
                  <a:ahLst/>
                  <a:cxnLst/>
                  <a:rect l="l" t="t" r="r" b="b"/>
                  <a:pathLst>
                    <a:path w="9525" h="33338">
                      <a:moveTo>
                        <a:pt x="0" y="0"/>
                      </a:moveTo>
                      <a:lnTo>
                        <a:pt x="0" y="33338"/>
                      </a:lnTo>
                    </a:path>
                  </a:pathLst>
                </a:custGeom>
                <a:noFill/>
                <a:ln w="16669">
                  <a:solidFill>
                    <a:srgbClr val="8A1700"/>
                  </a:solidFill>
                </a:ln>
              </p:spPr>
            </p:sp>
          </p:grpSp>
          <p:sp>
            <p:nvSpPr>
              <p:cNvPr id="212" name="TextBox 212"/>
              <p:cNvSpPr txBox="1"/>
              <p:nvPr/>
            </p:nvSpPr>
            <p:spPr>
              <a:xfrm>
                <a:off x="4929188" y="4925139"/>
                <a:ext cx="69678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场景化设计</a:t>
                </a:r>
              </a:p>
              <a:p>
                <a:pPr algn="l" marL="85280" indent="-85280">
                  <a:lnSpc>
                    <a:spcPts val="1275"/>
                  </a:lnSpc>
                  <a:buClr>
                    <a:srgbClr val="60403A"/>
                  </a:buClr>
                  <a:buSzTx/>
                  <a:buFontTx/>
                  <a:buChar char="•"/>
                </a:pPr>
                <a:r>
                  <a:rPr lang="zh-CN" sz="790" dirty="0">
                    <a:solidFill>
                      <a:srgbClr val="60403A"/>
                    </a:solidFill>
                    <a:latin typeface="+mn-lt"/>
                    <a:ea typeface="+mn-ea"/>
                    <a:cs typeface="+mn-cs"/>
                  </a:rPr>
                  <a:t>活动策划执行</a:t>
                </a:r>
              </a:p>
              <a:p>
                <a:pPr algn="l" marL="85280" indent="-85280">
                  <a:lnSpc>
                    <a:spcPts val="1275"/>
                  </a:lnSpc>
                  <a:buClr>
                    <a:srgbClr val="60403A"/>
                  </a:buClr>
                  <a:buSzTx/>
                  <a:buFontTx/>
                  <a:buChar char="•"/>
                </a:pPr>
                <a:r>
                  <a:rPr lang="zh-CN" sz="790" dirty="0">
                    <a:solidFill>
                      <a:srgbClr val="60403A"/>
                    </a:solidFill>
                    <a:latin typeface="+mn-lt"/>
                    <a:ea typeface="+mn-ea"/>
                    <a:cs typeface="+mn-cs"/>
                  </a:rPr>
                  <a:t>活动效果提升</a:t>
                </a:r>
              </a:p>
            </p:txBody>
          </p:sp>
        </p:grpSp>
        <p:grpSp>
          <p:nvGrpSpPr>
            <p:cNvPr id="224" name="sys-4"/>
            <p:cNvGrpSpPr/>
            <p:nvPr/>
          </p:nvGrpSpPr>
          <p:grpSpPr>
            <a:xfrm>
              <a:off x="6581775" y="4191000"/>
              <a:ext cx="1714500" cy="1543050"/>
              <a:chOff x="6581775" y="4191000"/>
              <a:chExt cx="1714500" cy="1543050"/>
            </a:xfrm>
          </p:grpSpPr>
          <p:sp>
            <p:nvSpPr>
              <p:cNvPr id="214" name="Rectangle 214"/>
              <p:cNvSpPr/>
              <p:nvPr/>
            </p:nvSpPr>
            <p:spPr>
              <a:xfrm>
                <a:off x="6581775" y="4191000"/>
                <a:ext cx="1714500" cy="1543050"/>
              </a:xfrm>
              <a:prstGeom prst="roundRect">
                <a:avLst>
                  <a:gd name="adj" fmla="val 3704"/>
                </a:avLst>
              </a:prstGeom>
              <a:solidFill>
                <a:srgbClr val="FFFFFF"/>
              </a:solidFill>
              <a:ln w="9525">
                <a:solidFill>
                  <a:srgbClr val="C9D5EA"/>
                </a:solidFill>
              </a:ln>
            </p:spPr>
          </p:sp>
          <p:sp>
            <p:nvSpPr>
              <p:cNvPr id="215" name="Rectangle 215"/>
              <p:cNvSpPr/>
              <p:nvPr/>
            </p:nvSpPr>
            <p:spPr>
              <a:xfrm>
                <a:off x="6581775" y="4191000"/>
                <a:ext cx="1714500" cy="247650"/>
              </a:xfrm>
              <a:prstGeom prst="roundRect">
                <a:avLst>
                  <a:gd name="adj" fmla="val 23077"/>
                </a:avLst>
              </a:prstGeom>
              <a:solidFill>
                <a:srgbClr val="AB1D00"/>
              </a:solidFill>
              <a:ln>
                <a:noFill/>
              </a:ln>
            </p:spPr>
          </p:sp>
          <p:sp>
            <p:nvSpPr>
              <p:cNvPr id="216" name="Rectangle 216"/>
              <p:cNvSpPr/>
              <p:nvPr/>
            </p:nvSpPr>
            <p:spPr>
              <a:xfrm>
                <a:off x="6581775" y="4343400"/>
                <a:ext cx="1714500" cy="95250"/>
              </a:xfrm>
              <a:prstGeom prst="rect">
                <a:avLst/>
              </a:prstGeom>
              <a:solidFill>
                <a:srgbClr val="AB1D00"/>
              </a:solidFill>
              <a:ln>
                <a:noFill/>
              </a:ln>
            </p:spPr>
          </p:sp>
          <p:sp>
            <p:nvSpPr>
              <p:cNvPr id="217" name="TextBox 217"/>
              <p:cNvSpPr txBox="1"/>
              <p:nvPr/>
            </p:nvSpPr>
            <p:spPr>
              <a:xfrm>
                <a:off x="7170217" y="42571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金融服务</a:t>
                </a:r>
              </a:p>
            </p:txBody>
          </p:sp>
          <p:grpSp>
            <p:nvGrpSpPr>
              <p:cNvPr id="222" name="Group 222"/>
              <p:cNvGrpSpPr/>
              <p:nvPr/>
            </p:nvGrpSpPr>
            <p:grpSpPr>
              <a:xfrm>
                <a:off x="7361238" y="4548188"/>
                <a:ext cx="155575" cy="200026"/>
                <a:chOff x="7361238" y="4548188"/>
                <a:chExt cx="155575" cy="200026"/>
              </a:xfrm>
            </p:grpSpPr>
            <p:sp>
              <p:nvSpPr>
                <p:cNvPr id="218" name="Freeform 218"/>
                <p:cNvSpPr/>
                <p:nvPr/>
              </p:nvSpPr>
              <p:spPr>
                <a:xfrm>
                  <a:off x="7361238" y="4570413"/>
                  <a:ext cx="155575" cy="177801"/>
                </a:xfrm>
                <a:custGeom>
                  <a:avLst/>
                  <a:gdLst/>
                  <a:ahLst/>
                  <a:cxnLst/>
                  <a:rect l="l" t="t" r="r" b="b"/>
                  <a:pathLst>
                    <a:path w="155575" h="177801">
                      <a:moveTo>
                        <a:pt x="44450" y="0"/>
                      </a:moveTo>
                      <a:lnTo>
                        <a:pt x="22225" y="0"/>
                      </a:lnTo>
                      <a:cubicBezTo>
                        <a:pt x="9950" y="0"/>
                        <a:pt x="0" y="9950"/>
                        <a:pt x="0" y="22225"/>
                      </a:cubicBezTo>
                      <a:lnTo>
                        <a:pt x="0" y="155575"/>
                      </a:lnTo>
                      <a:cubicBezTo>
                        <a:pt x="0" y="167850"/>
                        <a:pt x="9950" y="177801"/>
                        <a:pt x="22225" y="177801"/>
                      </a:cubicBezTo>
                      <a:lnTo>
                        <a:pt x="133350" y="177801"/>
                      </a:lnTo>
                      <a:cubicBezTo>
                        <a:pt x="145625" y="177801"/>
                        <a:pt x="155575" y="167850"/>
                        <a:pt x="155575" y="155575"/>
                      </a:cubicBezTo>
                      <a:lnTo>
                        <a:pt x="155575" y="22225"/>
                      </a:lnTo>
                      <a:cubicBezTo>
                        <a:pt x="155575" y="9950"/>
                        <a:pt x="145625" y="0"/>
                        <a:pt x="133350" y="0"/>
                      </a:cubicBezTo>
                      <a:lnTo>
                        <a:pt x="111125" y="0"/>
                      </a:lnTo>
                    </a:path>
                  </a:pathLst>
                </a:custGeom>
                <a:noFill/>
                <a:ln w="16669">
                  <a:solidFill>
                    <a:srgbClr val="8A1700"/>
                  </a:solidFill>
                </a:ln>
              </p:spPr>
            </p:sp>
            <p:sp>
              <p:nvSpPr>
                <p:cNvPr id="219" name="Freeform 219"/>
                <p:cNvSpPr/>
                <p:nvPr/>
              </p:nvSpPr>
              <p:spPr>
                <a:xfrm>
                  <a:off x="7405688" y="4548188"/>
                  <a:ext cx="66675" cy="44450"/>
                </a:xfrm>
                <a:custGeom>
                  <a:avLst/>
                  <a:gdLst/>
                  <a:ahLst/>
                  <a:cxnLst/>
                  <a:rect l="l" t="t" r="r" b="b"/>
                  <a:pathLst>
                    <a:path w="66675" h="44450">
                      <a:moveTo>
                        <a:pt x="0" y="22225"/>
                      </a:moveTo>
                      <a:cubicBezTo>
                        <a:pt x="0" y="9950"/>
                        <a:pt x="9950" y="0"/>
                        <a:pt x="22225" y="0"/>
                      </a:cubicBezTo>
                      <a:lnTo>
                        <a:pt x="44450" y="0"/>
                      </a:lnTo>
                      <a:cubicBezTo>
                        <a:pt x="56725" y="0"/>
                        <a:pt x="66675" y="9950"/>
                        <a:pt x="66675" y="22225"/>
                      </a:cubicBezTo>
                      <a:cubicBezTo>
                        <a:pt x="66675" y="34500"/>
                        <a:pt x="56725" y="44450"/>
                        <a:pt x="44450" y="44450"/>
                      </a:cubicBezTo>
                      <a:lnTo>
                        <a:pt x="22225" y="44450"/>
                      </a:lnTo>
                      <a:cubicBezTo>
                        <a:pt x="9950" y="44450"/>
                        <a:pt x="0" y="34500"/>
                        <a:pt x="0" y="22225"/>
                      </a:cubicBezTo>
                    </a:path>
                  </a:pathLst>
                </a:custGeom>
                <a:noFill/>
                <a:ln w="16669">
                  <a:solidFill>
                    <a:srgbClr val="8A1700"/>
                  </a:solidFill>
                </a:ln>
              </p:spPr>
            </p:sp>
            <p:sp>
              <p:nvSpPr>
                <p:cNvPr id="220" name="Freeform 220"/>
                <p:cNvSpPr/>
                <p:nvPr/>
              </p:nvSpPr>
              <p:spPr>
                <a:xfrm>
                  <a:off x="7416800" y="4637088"/>
                  <a:ext cx="44450" cy="66675"/>
                </a:xfrm>
                <a:custGeom>
                  <a:avLst/>
                  <a:gdLst/>
                  <a:ahLst/>
                  <a:cxnLst/>
                  <a:rect l="l" t="t" r="r" b="b"/>
                  <a:pathLst>
                    <a:path w="44450" h="66675">
                      <a:moveTo>
                        <a:pt x="44450" y="0"/>
                      </a:moveTo>
                      <a:lnTo>
                        <a:pt x="16669" y="0"/>
                      </a:lnTo>
                      <a:cubicBezTo>
                        <a:pt x="7463" y="0"/>
                        <a:pt x="0" y="7463"/>
                        <a:pt x="0" y="16669"/>
                      </a:cubicBezTo>
                      <a:cubicBezTo>
                        <a:pt x="0" y="25875"/>
                        <a:pt x="7463" y="33338"/>
                        <a:pt x="16669" y="33338"/>
                      </a:cubicBezTo>
                      <a:lnTo>
                        <a:pt x="27781" y="33338"/>
                      </a:lnTo>
                      <a:cubicBezTo>
                        <a:pt x="36987" y="33338"/>
                        <a:pt x="44450" y="40800"/>
                        <a:pt x="44450" y="50006"/>
                      </a:cubicBezTo>
                      <a:cubicBezTo>
                        <a:pt x="44450" y="59212"/>
                        <a:pt x="36987" y="66675"/>
                        <a:pt x="27781" y="66675"/>
                      </a:cubicBezTo>
                      <a:lnTo>
                        <a:pt x="0" y="66675"/>
                      </a:lnTo>
                    </a:path>
                  </a:pathLst>
                </a:custGeom>
                <a:noFill/>
                <a:ln w="16669">
                  <a:solidFill>
                    <a:srgbClr val="8A1700"/>
                  </a:solidFill>
                </a:ln>
              </p:spPr>
            </p:sp>
            <p:sp>
              <p:nvSpPr>
                <p:cNvPr id="221" name="Freeform 221"/>
                <p:cNvSpPr/>
                <p:nvPr/>
              </p:nvSpPr>
              <p:spPr>
                <a:xfrm>
                  <a:off x="7439025" y="4625975"/>
                  <a:ext cx="9525" cy="88900"/>
                </a:xfrm>
                <a:custGeom>
                  <a:avLst/>
                  <a:gdLst/>
                  <a:ahLst/>
                  <a:cxnLst/>
                  <a:rect l="l" t="t" r="r" b="b"/>
                  <a:pathLst>
                    <a:path w="9525" h="88900">
                      <a:moveTo>
                        <a:pt x="0" y="77788"/>
                      </a:moveTo>
                      <a:lnTo>
                        <a:pt x="0" y="88900"/>
                      </a:lnTo>
                      <a:moveTo>
                        <a:pt x="0" y="0"/>
                      </a:moveTo>
                      <a:lnTo>
                        <a:pt x="0" y="11113"/>
                      </a:lnTo>
                    </a:path>
                  </a:pathLst>
                </a:custGeom>
                <a:noFill/>
                <a:ln w="16669">
                  <a:solidFill>
                    <a:srgbClr val="8A1700"/>
                  </a:solidFill>
                </a:ln>
              </p:spPr>
            </p:sp>
          </p:grpSp>
          <p:sp>
            <p:nvSpPr>
              <p:cNvPr id="223" name="TextBox 223"/>
              <p:cNvSpPr txBox="1"/>
              <p:nvPr/>
            </p:nvSpPr>
            <p:spPr>
              <a:xfrm>
                <a:off x="6729412" y="4925139"/>
                <a:ext cx="79711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产品精准推荐</a:t>
                </a:r>
              </a:p>
              <a:p>
                <a:pPr algn="l" marL="85280" indent="-85280">
                  <a:lnSpc>
                    <a:spcPts val="1275"/>
                  </a:lnSpc>
                  <a:buClr>
                    <a:srgbClr val="60403A"/>
                  </a:buClr>
                  <a:buSzTx/>
                  <a:buFontTx/>
                  <a:buChar char="•"/>
                </a:pPr>
                <a:r>
                  <a:rPr lang="zh-CN" sz="790" dirty="0">
                    <a:solidFill>
                      <a:srgbClr val="60403A"/>
                    </a:solidFill>
                    <a:latin typeface="+mn-lt"/>
                    <a:ea typeface="+mn-ea"/>
                    <a:cs typeface="+mn-cs"/>
                  </a:rPr>
                  <a:t>授信与额度管理</a:t>
                </a:r>
              </a:p>
              <a:p>
                <a:pPr algn="l" marL="85280" indent="-85280">
                  <a:lnSpc>
                    <a:spcPts val="1275"/>
                  </a:lnSpc>
                  <a:buClr>
                    <a:srgbClr val="60403A"/>
                  </a:buClr>
                  <a:buSzTx/>
                  <a:buFontTx/>
                  <a:buChar char="•"/>
                </a:pPr>
                <a:r>
                  <a:rPr lang="zh-CN" sz="790" dirty="0">
                    <a:solidFill>
                      <a:srgbClr val="60403A"/>
                    </a:solidFill>
                    <a:latin typeface="+mn-lt"/>
                    <a:ea typeface="+mn-ea"/>
                    <a:cs typeface="+mn-cs"/>
                  </a:rPr>
                  <a:t>交叉销售拓展</a:t>
                </a:r>
              </a:p>
            </p:txBody>
          </p:sp>
        </p:grpSp>
        <p:grpSp>
          <p:nvGrpSpPr>
            <p:cNvPr id="236" name="sys-5"/>
            <p:cNvGrpSpPr/>
            <p:nvPr/>
          </p:nvGrpSpPr>
          <p:grpSpPr>
            <a:xfrm>
              <a:off x="8382000" y="4191000"/>
              <a:ext cx="1714500" cy="1543050"/>
              <a:chOff x="8382000" y="4191000"/>
              <a:chExt cx="1714500" cy="1543050"/>
            </a:xfrm>
          </p:grpSpPr>
          <p:sp>
            <p:nvSpPr>
              <p:cNvPr id="225" name="Rectangle 225"/>
              <p:cNvSpPr/>
              <p:nvPr/>
            </p:nvSpPr>
            <p:spPr>
              <a:xfrm>
                <a:off x="8382000" y="4191000"/>
                <a:ext cx="1714500" cy="1543050"/>
              </a:xfrm>
              <a:prstGeom prst="roundRect">
                <a:avLst>
                  <a:gd name="adj" fmla="val 3704"/>
                </a:avLst>
              </a:prstGeom>
              <a:solidFill>
                <a:srgbClr val="FFFFFF"/>
              </a:solidFill>
              <a:ln w="9525">
                <a:solidFill>
                  <a:srgbClr val="C9D5EA"/>
                </a:solidFill>
              </a:ln>
            </p:spPr>
          </p:sp>
          <p:sp>
            <p:nvSpPr>
              <p:cNvPr id="226" name="Rectangle 226"/>
              <p:cNvSpPr/>
              <p:nvPr/>
            </p:nvSpPr>
            <p:spPr>
              <a:xfrm>
                <a:off x="8382000" y="4191000"/>
                <a:ext cx="1714500" cy="247650"/>
              </a:xfrm>
              <a:prstGeom prst="roundRect">
                <a:avLst>
                  <a:gd name="adj" fmla="val 23077"/>
                </a:avLst>
              </a:prstGeom>
              <a:solidFill>
                <a:srgbClr val="AB1D00"/>
              </a:solidFill>
              <a:ln>
                <a:noFill/>
              </a:ln>
            </p:spPr>
          </p:sp>
          <p:sp>
            <p:nvSpPr>
              <p:cNvPr id="227" name="Rectangle 227"/>
              <p:cNvSpPr/>
              <p:nvPr/>
            </p:nvSpPr>
            <p:spPr>
              <a:xfrm>
                <a:off x="8382000" y="4343400"/>
                <a:ext cx="1714500" cy="95250"/>
              </a:xfrm>
              <a:prstGeom prst="rect">
                <a:avLst/>
              </a:prstGeom>
              <a:solidFill>
                <a:srgbClr val="AB1D00"/>
              </a:solidFill>
              <a:ln>
                <a:noFill/>
              </a:ln>
            </p:spPr>
          </p:sp>
          <p:sp>
            <p:nvSpPr>
              <p:cNvPr id="228" name="TextBox 228"/>
              <p:cNvSpPr txBox="1"/>
              <p:nvPr/>
            </p:nvSpPr>
            <p:spPr>
              <a:xfrm>
                <a:off x="8904478" y="425719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自动化旅程</a:t>
                </a:r>
              </a:p>
            </p:txBody>
          </p:sp>
          <p:grpSp>
            <p:nvGrpSpPr>
              <p:cNvPr id="234" name="Group 234"/>
              <p:cNvGrpSpPr/>
              <p:nvPr/>
            </p:nvGrpSpPr>
            <p:grpSpPr>
              <a:xfrm>
                <a:off x="9139238" y="4548188"/>
                <a:ext cx="200025" cy="200025"/>
                <a:chOff x="9139238" y="4548188"/>
                <a:chExt cx="200025" cy="200025"/>
              </a:xfrm>
            </p:grpSpPr>
            <p:sp>
              <p:nvSpPr>
                <p:cNvPr id="229" name="Freeform 229"/>
                <p:cNvSpPr/>
                <p:nvPr/>
              </p:nvSpPr>
              <p:spPr>
                <a:xfrm>
                  <a:off x="9139238" y="4681538"/>
                  <a:ext cx="66675" cy="66675"/>
                </a:xfrm>
                <a:custGeom>
                  <a:avLst/>
                  <a:gdLst/>
                  <a:ahLst/>
                  <a:cxnLst/>
                  <a:rect l="l" t="t" r="r" b="b"/>
                  <a:pathLst>
                    <a:path w="66675" h="66675">
                      <a:moveTo>
                        <a:pt x="0" y="22225"/>
                      </a:moveTo>
                      <a:cubicBezTo>
                        <a:pt x="0" y="9950"/>
                        <a:pt x="9950" y="0"/>
                        <a:pt x="22225" y="0"/>
                      </a:cubicBezTo>
                      <a:lnTo>
                        <a:pt x="44450" y="0"/>
                      </a:lnTo>
                      <a:cubicBezTo>
                        <a:pt x="56725" y="0"/>
                        <a:pt x="66675" y="9950"/>
                        <a:pt x="66675" y="22225"/>
                      </a:cubicBezTo>
                      <a:lnTo>
                        <a:pt x="66675" y="44450"/>
                      </a:lnTo>
                      <a:cubicBezTo>
                        <a:pt x="66675" y="56725"/>
                        <a:pt x="56725" y="66675"/>
                        <a:pt x="44450" y="66675"/>
                      </a:cubicBezTo>
                      <a:lnTo>
                        <a:pt x="22225" y="66675"/>
                      </a:lnTo>
                      <a:cubicBezTo>
                        <a:pt x="9950" y="66675"/>
                        <a:pt x="0" y="56725"/>
                        <a:pt x="0" y="44450"/>
                      </a:cubicBezTo>
                      <a:lnTo>
                        <a:pt x="0" y="22225"/>
                      </a:lnTo>
                    </a:path>
                  </a:pathLst>
                </a:custGeom>
                <a:noFill/>
                <a:ln w="16669">
                  <a:solidFill>
                    <a:srgbClr val="8A1700"/>
                  </a:solidFill>
                </a:ln>
              </p:spPr>
            </p:sp>
            <p:sp>
              <p:nvSpPr>
                <p:cNvPr id="230" name="Freeform 230"/>
                <p:cNvSpPr/>
                <p:nvPr/>
              </p:nvSpPr>
              <p:spPr>
                <a:xfrm>
                  <a:off x="9272588" y="4681538"/>
                  <a:ext cx="66675" cy="66675"/>
                </a:xfrm>
                <a:custGeom>
                  <a:avLst/>
                  <a:gdLst/>
                  <a:ahLst/>
                  <a:cxnLst/>
                  <a:rect l="l" t="t" r="r" b="b"/>
                  <a:pathLst>
                    <a:path w="66675" h="66675">
                      <a:moveTo>
                        <a:pt x="0" y="22225"/>
                      </a:moveTo>
                      <a:cubicBezTo>
                        <a:pt x="0" y="9950"/>
                        <a:pt x="9950" y="0"/>
                        <a:pt x="22225" y="0"/>
                      </a:cubicBezTo>
                      <a:lnTo>
                        <a:pt x="44450" y="0"/>
                      </a:lnTo>
                      <a:cubicBezTo>
                        <a:pt x="56725" y="0"/>
                        <a:pt x="66675" y="9950"/>
                        <a:pt x="66675" y="22225"/>
                      </a:cubicBezTo>
                      <a:lnTo>
                        <a:pt x="66675" y="44450"/>
                      </a:lnTo>
                      <a:cubicBezTo>
                        <a:pt x="66675" y="56725"/>
                        <a:pt x="56725" y="66675"/>
                        <a:pt x="44450" y="66675"/>
                      </a:cubicBezTo>
                      <a:lnTo>
                        <a:pt x="22225" y="66675"/>
                      </a:lnTo>
                      <a:cubicBezTo>
                        <a:pt x="9950" y="66675"/>
                        <a:pt x="0" y="56725"/>
                        <a:pt x="0" y="44450"/>
                      </a:cubicBezTo>
                      <a:lnTo>
                        <a:pt x="0" y="22225"/>
                      </a:lnTo>
                    </a:path>
                  </a:pathLst>
                </a:custGeom>
                <a:noFill/>
                <a:ln w="16669">
                  <a:solidFill>
                    <a:srgbClr val="8A1700"/>
                  </a:solidFill>
                </a:ln>
              </p:spPr>
            </p:sp>
            <p:sp>
              <p:nvSpPr>
                <p:cNvPr id="231" name="Freeform 231"/>
                <p:cNvSpPr/>
                <p:nvPr/>
              </p:nvSpPr>
              <p:spPr>
                <a:xfrm>
                  <a:off x="9205913" y="4548188"/>
                  <a:ext cx="66675" cy="66675"/>
                </a:xfrm>
                <a:custGeom>
                  <a:avLst/>
                  <a:gdLst/>
                  <a:ahLst/>
                  <a:cxnLst/>
                  <a:rect l="l" t="t" r="r" b="b"/>
                  <a:pathLst>
                    <a:path w="66675" h="66675">
                      <a:moveTo>
                        <a:pt x="0" y="22225"/>
                      </a:moveTo>
                      <a:cubicBezTo>
                        <a:pt x="0" y="9950"/>
                        <a:pt x="9950" y="0"/>
                        <a:pt x="22225" y="0"/>
                      </a:cubicBezTo>
                      <a:lnTo>
                        <a:pt x="44450" y="0"/>
                      </a:lnTo>
                      <a:cubicBezTo>
                        <a:pt x="56725" y="0"/>
                        <a:pt x="66675" y="9950"/>
                        <a:pt x="66675" y="22225"/>
                      </a:cubicBezTo>
                      <a:lnTo>
                        <a:pt x="66675" y="44450"/>
                      </a:lnTo>
                      <a:cubicBezTo>
                        <a:pt x="66675" y="56725"/>
                        <a:pt x="56725" y="66675"/>
                        <a:pt x="44450" y="66675"/>
                      </a:cubicBezTo>
                      <a:lnTo>
                        <a:pt x="22225" y="66675"/>
                      </a:lnTo>
                      <a:cubicBezTo>
                        <a:pt x="9950" y="66675"/>
                        <a:pt x="0" y="56725"/>
                        <a:pt x="0" y="44450"/>
                      </a:cubicBezTo>
                      <a:lnTo>
                        <a:pt x="0" y="22225"/>
                      </a:lnTo>
                    </a:path>
                  </a:pathLst>
                </a:custGeom>
                <a:noFill/>
                <a:ln w="16669">
                  <a:solidFill>
                    <a:srgbClr val="8A1700"/>
                  </a:solidFill>
                </a:ln>
              </p:spPr>
            </p:sp>
            <p:sp>
              <p:nvSpPr>
                <p:cNvPr id="232" name="Freeform 232"/>
                <p:cNvSpPr/>
                <p:nvPr/>
              </p:nvSpPr>
              <p:spPr>
                <a:xfrm>
                  <a:off x="9172575" y="4648200"/>
                  <a:ext cx="133350" cy="33338"/>
                </a:xfrm>
                <a:custGeom>
                  <a:avLst/>
                  <a:gdLst/>
                  <a:ahLst/>
                  <a:cxnLst/>
                  <a:rect l="l" t="t" r="r" b="b"/>
                  <a:pathLst>
                    <a:path w="133350" h="33338">
                      <a:moveTo>
                        <a:pt x="0" y="33338"/>
                      </a:moveTo>
                      <a:lnTo>
                        <a:pt x="0" y="22225"/>
                      </a:lnTo>
                      <a:cubicBezTo>
                        <a:pt x="0" y="9950"/>
                        <a:pt x="9950" y="0"/>
                        <a:pt x="22225" y="0"/>
                      </a:cubicBezTo>
                      <a:lnTo>
                        <a:pt x="111125" y="0"/>
                      </a:lnTo>
                      <a:cubicBezTo>
                        <a:pt x="123400" y="0"/>
                        <a:pt x="133350" y="9950"/>
                        <a:pt x="133350" y="22225"/>
                      </a:cubicBezTo>
                      <a:lnTo>
                        <a:pt x="133350" y="33338"/>
                      </a:lnTo>
                    </a:path>
                  </a:pathLst>
                </a:custGeom>
                <a:noFill/>
                <a:ln w="16669">
                  <a:solidFill>
                    <a:srgbClr val="8A1700"/>
                  </a:solidFill>
                </a:ln>
              </p:spPr>
            </p:sp>
            <p:sp>
              <p:nvSpPr>
                <p:cNvPr id="233" name="Freeform 233"/>
                <p:cNvSpPr/>
                <p:nvPr/>
              </p:nvSpPr>
              <p:spPr>
                <a:xfrm>
                  <a:off x="9239250" y="4614863"/>
                  <a:ext cx="9525" cy="33338"/>
                </a:xfrm>
                <a:custGeom>
                  <a:avLst/>
                  <a:gdLst/>
                  <a:ahLst/>
                  <a:cxnLst/>
                  <a:rect l="l" t="t" r="r" b="b"/>
                  <a:pathLst>
                    <a:path w="9525" h="33338">
                      <a:moveTo>
                        <a:pt x="0" y="0"/>
                      </a:moveTo>
                      <a:lnTo>
                        <a:pt x="0" y="33338"/>
                      </a:lnTo>
                    </a:path>
                  </a:pathLst>
                </a:custGeom>
                <a:noFill/>
                <a:ln w="16669">
                  <a:solidFill>
                    <a:srgbClr val="8A1700"/>
                  </a:solidFill>
                </a:ln>
              </p:spPr>
            </p:sp>
          </p:grpSp>
          <p:sp>
            <p:nvSpPr>
              <p:cNvPr id="235" name="TextBox 235"/>
              <p:cNvSpPr txBox="1"/>
              <p:nvPr/>
            </p:nvSpPr>
            <p:spPr>
              <a:xfrm>
                <a:off x="8529638" y="4925139"/>
                <a:ext cx="69678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旅程编排设计</a:t>
                </a:r>
              </a:p>
              <a:p>
                <a:pPr algn="l" marL="85280" indent="-85280">
                  <a:lnSpc>
                    <a:spcPts val="1275"/>
                  </a:lnSpc>
                  <a:buClr>
                    <a:srgbClr val="60403A"/>
                  </a:buClr>
                  <a:buSzTx/>
                  <a:buFontTx/>
                  <a:buChar char="•"/>
                </a:pPr>
                <a:r>
                  <a:rPr lang="zh-CN" sz="790" dirty="0">
                    <a:solidFill>
                      <a:srgbClr val="60403A"/>
                    </a:solidFill>
                    <a:latin typeface="+mn-lt"/>
                    <a:ea typeface="+mn-ea"/>
                    <a:cs typeface="+mn-cs"/>
                  </a:rPr>
                  <a:t>自动化执行</a:t>
                </a:r>
              </a:p>
              <a:p>
                <a:pPr algn="l" marL="85280" indent="-85280">
                  <a:lnSpc>
                    <a:spcPts val="1275"/>
                  </a:lnSpc>
                  <a:buClr>
                    <a:srgbClr val="60403A"/>
                  </a:buClr>
                  <a:buSzTx/>
                  <a:buFontTx/>
                  <a:buChar char="•"/>
                </a:pPr>
                <a:r>
                  <a:rPr lang="zh-CN" sz="790" dirty="0">
                    <a:solidFill>
                      <a:srgbClr val="60403A"/>
                    </a:solidFill>
                    <a:latin typeface="+mn-lt"/>
                    <a:ea typeface="+mn-ea"/>
                    <a:cs typeface="+mn-cs"/>
                  </a:rPr>
                  <a:t>实时干预调整</a:t>
                </a:r>
              </a:p>
            </p:txBody>
          </p:sp>
        </p:grpSp>
        <p:grpSp>
          <p:nvGrpSpPr>
            <p:cNvPr id="247" name="sys-6"/>
            <p:cNvGrpSpPr/>
            <p:nvPr/>
          </p:nvGrpSpPr>
          <p:grpSpPr>
            <a:xfrm>
              <a:off x="10182225" y="4191000"/>
              <a:ext cx="1714500" cy="1543050"/>
              <a:chOff x="10182225" y="4191000"/>
              <a:chExt cx="1714500" cy="1543050"/>
            </a:xfrm>
          </p:grpSpPr>
          <p:sp>
            <p:nvSpPr>
              <p:cNvPr id="237" name="Rectangle 237"/>
              <p:cNvSpPr/>
              <p:nvPr/>
            </p:nvSpPr>
            <p:spPr>
              <a:xfrm>
                <a:off x="10182225" y="4191000"/>
                <a:ext cx="1714500" cy="1543050"/>
              </a:xfrm>
              <a:prstGeom prst="roundRect">
                <a:avLst>
                  <a:gd name="adj" fmla="val 3704"/>
                </a:avLst>
              </a:prstGeom>
              <a:solidFill>
                <a:srgbClr val="FFFFFF"/>
              </a:solidFill>
              <a:ln w="9525">
                <a:solidFill>
                  <a:srgbClr val="C9D5EA"/>
                </a:solidFill>
              </a:ln>
            </p:spPr>
          </p:sp>
          <p:sp>
            <p:nvSpPr>
              <p:cNvPr id="238" name="Rectangle 238"/>
              <p:cNvSpPr/>
              <p:nvPr/>
            </p:nvSpPr>
            <p:spPr>
              <a:xfrm>
                <a:off x="10182225" y="4191000"/>
                <a:ext cx="1714500" cy="247650"/>
              </a:xfrm>
              <a:prstGeom prst="roundRect">
                <a:avLst>
                  <a:gd name="adj" fmla="val 23077"/>
                </a:avLst>
              </a:prstGeom>
              <a:solidFill>
                <a:srgbClr val="AB1D00"/>
              </a:solidFill>
              <a:ln>
                <a:noFill/>
              </a:ln>
            </p:spPr>
          </p:sp>
          <p:sp>
            <p:nvSpPr>
              <p:cNvPr id="239" name="Rectangle 239"/>
              <p:cNvSpPr/>
              <p:nvPr/>
            </p:nvSpPr>
            <p:spPr>
              <a:xfrm>
                <a:off x="10182225" y="4343400"/>
                <a:ext cx="1714500" cy="95250"/>
              </a:xfrm>
              <a:prstGeom prst="rect">
                <a:avLst/>
              </a:prstGeom>
              <a:solidFill>
                <a:srgbClr val="AB1D00"/>
              </a:solidFill>
              <a:ln>
                <a:noFill/>
              </a:ln>
            </p:spPr>
          </p:sp>
          <p:sp>
            <p:nvSpPr>
              <p:cNvPr id="240" name="TextBox 240"/>
              <p:cNvSpPr txBox="1"/>
              <p:nvPr/>
            </p:nvSpPr>
            <p:spPr>
              <a:xfrm>
                <a:off x="10770667" y="42571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效果评价</a:t>
                </a:r>
              </a:p>
            </p:txBody>
          </p:sp>
          <p:grpSp>
            <p:nvGrpSpPr>
              <p:cNvPr id="245" name="Group 245"/>
              <p:cNvGrpSpPr/>
              <p:nvPr/>
            </p:nvGrpSpPr>
            <p:grpSpPr>
              <a:xfrm>
                <a:off x="10939463" y="4559300"/>
                <a:ext cx="200025" cy="187326"/>
                <a:chOff x="10939463" y="4559300"/>
                <a:chExt cx="200025" cy="187326"/>
              </a:xfrm>
            </p:grpSpPr>
            <p:sp>
              <p:nvSpPr>
                <p:cNvPr id="241" name="Freeform 241"/>
                <p:cNvSpPr/>
                <p:nvPr/>
              </p:nvSpPr>
              <p:spPr>
                <a:xfrm>
                  <a:off x="10939463" y="464820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16669">
                  <a:solidFill>
                    <a:srgbClr val="8A1700"/>
                  </a:solidFill>
                </a:ln>
              </p:spPr>
            </p:sp>
            <p:sp>
              <p:nvSpPr>
                <p:cNvPr id="242" name="Freeform 242"/>
                <p:cNvSpPr/>
                <p:nvPr/>
              </p:nvSpPr>
              <p:spPr>
                <a:xfrm>
                  <a:off x="11072813" y="460375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16669">
                  <a:solidFill>
                    <a:srgbClr val="8A1700"/>
                  </a:solidFill>
                </a:ln>
              </p:spPr>
            </p:sp>
            <p:sp>
              <p:nvSpPr>
                <p:cNvPr id="243" name="Freeform 243"/>
                <p:cNvSpPr/>
                <p:nvPr/>
              </p:nvSpPr>
              <p:spPr>
                <a:xfrm>
                  <a:off x="11006138" y="455930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16669">
                  <a:solidFill>
                    <a:srgbClr val="8A1700"/>
                  </a:solidFill>
                </a:ln>
              </p:spPr>
            </p:sp>
            <p:sp>
              <p:nvSpPr>
                <p:cNvPr id="244" name="Freeform 244"/>
                <p:cNvSpPr/>
                <p:nvPr/>
              </p:nvSpPr>
              <p:spPr>
                <a:xfrm>
                  <a:off x="10950575" y="4737101"/>
                  <a:ext cx="155575" cy="9525"/>
                </a:xfrm>
                <a:custGeom>
                  <a:avLst/>
                  <a:gdLst/>
                  <a:ahLst/>
                  <a:cxnLst/>
                  <a:rect l="l" t="t" r="r" b="b"/>
                  <a:pathLst>
                    <a:path w="155575" h="9525">
                      <a:moveTo>
                        <a:pt x="0" y="0"/>
                      </a:moveTo>
                      <a:lnTo>
                        <a:pt x="155575" y="0"/>
                      </a:lnTo>
                    </a:path>
                  </a:pathLst>
                </a:custGeom>
                <a:noFill/>
                <a:ln w="16669">
                  <a:solidFill>
                    <a:srgbClr val="8A1700"/>
                  </a:solidFill>
                </a:ln>
              </p:spPr>
            </p:sp>
          </p:grpSp>
          <p:sp>
            <p:nvSpPr>
              <p:cNvPr id="246" name="TextBox 246"/>
              <p:cNvSpPr txBox="1"/>
              <p:nvPr/>
            </p:nvSpPr>
            <p:spPr>
              <a:xfrm>
                <a:off x="10329862" y="4925139"/>
                <a:ext cx="696786" cy="478631"/>
              </a:xfrm>
              <a:prstGeom prst="rect">
                <a:avLst/>
              </a:prstGeom>
              <a:noFill/>
              <a:ln>
                <a:noFill/>
              </a:ln>
            </p:spPr>
            <p:txBody>
              <a:bodyPr wrap="none" lIns="0" tIns="0" rIns="0" bIns="0" anchor="t" anchorCtr="0">
                <a:spAutoFit/>
              </a:bodyPr>
              <a:lstStyle/>
              <a:p>
                <a:pPr algn="l" marL="85280" indent="-85280">
                  <a:lnSpc>
                    <a:spcPts val="1275"/>
                  </a:lnSpc>
                  <a:buClr>
                    <a:srgbClr val="60403A"/>
                  </a:buClr>
                  <a:buSzTx/>
                  <a:buFontTx/>
                  <a:buChar char="•"/>
                </a:pPr>
                <a:r>
                  <a:rPr lang="zh-CN" sz="790" dirty="0">
                    <a:solidFill>
                      <a:srgbClr val="60403A"/>
                    </a:solidFill>
                    <a:latin typeface="+mn-lt"/>
                    <a:ea typeface="+mn-ea"/>
                    <a:cs typeface="+mn-cs"/>
                  </a:rPr>
                  <a:t>指标体系建设</a:t>
                </a:r>
              </a:p>
              <a:p>
                <a:pPr algn="l" marL="85280" indent="-85280">
                  <a:lnSpc>
                    <a:spcPts val="1275"/>
                  </a:lnSpc>
                  <a:buClr>
                    <a:srgbClr val="60403A"/>
                  </a:buClr>
                  <a:buSzTx/>
                  <a:buFontTx/>
                  <a:buChar char="•"/>
                </a:pPr>
                <a:r>
                  <a:rPr lang="zh-CN" sz="790" dirty="0">
                    <a:solidFill>
                      <a:srgbClr val="60403A"/>
                    </a:solidFill>
                    <a:latin typeface="+mn-lt"/>
                    <a:ea typeface="+mn-ea"/>
                    <a:cs typeface="+mn-cs"/>
                  </a:rPr>
                  <a:t>效果监测分析</a:t>
                </a:r>
              </a:p>
              <a:p>
                <a:pPr algn="l" marL="85280" indent="-85280">
                  <a:lnSpc>
                    <a:spcPts val="1275"/>
                  </a:lnSpc>
                  <a:buClr>
                    <a:srgbClr val="60403A"/>
                  </a:buClr>
                  <a:buSzTx/>
                  <a:buFontTx/>
                  <a:buChar char="•"/>
                </a:pPr>
                <a:r>
                  <a:rPr lang="zh-CN" sz="790" dirty="0">
                    <a:solidFill>
                      <a:srgbClr val="60403A"/>
                    </a:solidFill>
                    <a:latin typeface="+mn-lt"/>
                    <a:ea typeface="+mn-ea"/>
                    <a:cs typeface="+mn-cs"/>
                  </a:rPr>
                  <a:t>模型迭代优化</a:t>
                </a:r>
              </a:p>
            </p:txBody>
          </p:sp>
        </p:grpSp>
      </p:grpSp>
      <p:grpSp>
        <p:nvGrpSpPr>
          <p:cNvPr id="296" name="loop"/>
          <p:cNvGrpSpPr/>
          <p:nvPr/>
        </p:nvGrpSpPr>
        <p:grpSpPr>
          <a:xfrm>
            <a:off x="489840" y="5867400"/>
            <a:ext cx="11212320" cy="714375"/>
            <a:chOff x="489840" y="5867400"/>
            <a:chExt cx="11212320" cy="714375"/>
          </a:xfrm>
        </p:grpSpPr>
        <p:sp>
          <p:nvSpPr>
            <p:cNvPr id="249" name="Freeform 249"/>
            <p:cNvSpPr/>
            <p:nvPr/>
          </p:nvSpPr>
          <p:spPr>
            <a:xfrm>
              <a:off x="489840" y="6096000"/>
              <a:ext cx="215010" cy="476250"/>
            </a:xfrm>
            <a:custGeom>
              <a:avLst/>
              <a:gdLst/>
              <a:ahLst/>
              <a:cxnLst/>
              <a:rect l="l" t="t" r="r" b="b"/>
              <a:pathLst>
                <a:path w="215010" h="476250">
                  <a:moveTo>
                    <a:pt x="215010" y="476250"/>
                  </a:moveTo>
                  <a:cubicBezTo>
                    <a:pt x="123012" y="442520"/>
                    <a:pt x="52840" y="366618"/>
                    <a:pt x="26420" y="272261"/>
                  </a:cubicBezTo>
                  <a:cubicBezTo>
                    <a:pt x="0" y="177904"/>
                    <a:pt x="20554" y="76599"/>
                    <a:pt x="81660" y="0"/>
                  </a:cubicBezTo>
                </a:path>
              </a:pathLst>
            </a:custGeom>
            <a:noFill/>
            <a:ln w="23812">
              <a:solidFill>
                <a:srgbClr val="8A1700"/>
              </a:solidFill>
              <a:tailEnd type="triangle" w="lg" len="lg"/>
            </a:ln>
          </p:spPr>
        </p:sp>
        <p:sp>
          <p:nvSpPr>
            <p:cNvPr id="250" name="Freeform 250"/>
            <p:cNvSpPr/>
            <p:nvPr/>
          </p:nvSpPr>
          <p:spPr>
            <a:xfrm>
              <a:off x="11487150" y="6096000"/>
              <a:ext cx="215010" cy="476250"/>
            </a:xfrm>
            <a:custGeom>
              <a:avLst/>
              <a:gdLst/>
              <a:ahLst/>
              <a:cxnLst/>
              <a:rect l="l" t="t" r="r" b="b"/>
              <a:pathLst>
                <a:path w="215010" h="476250">
                  <a:moveTo>
                    <a:pt x="0" y="0"/>
                  </a:moveTo>
                  <a:cubicBezTo>
                    <a:pt x="91998" y="33730"/>
                    <a:pt x="162170" y="109632"/>
                    <a:pt x="188590" y="203989"/>
                  </a:cubicBezTo>
                  <a:cubicBezTo>
                    <a:pt x="215010" y="298346"/>
                    <a:pt x="194456" y="399651"/>
                    <a:pt x="133350" y="476250"/>
                  </a:cubicBezTo>
                </a:path>
              </a:pathLst>
            </a:custGeom>
            <a:noFill/>
            <a:ln w="23812">
              <a:solidFill>
                <a:srgbClr val="8A1700"/>
              </a:solidFill>
              <a:tailEnd type="triangle" w="lg" len="lg"/>
            </a:ln>
          </p:spPr>
        </p:sp>
        <p:sp>
          <p:nvSpPr>
            <p:cNvPr id="251" name="Line 251"/>
            <p:cNvSpPr/>
            <p:nvPr/>
          </p:nvSpPr>
          <p:spPr>
            <a:xfrm>
              <a:off x="704850" y="6572250"/>
              <a:ext cx="10915650" cy="9525"/>
            </a:xfrm>
            <a:custGeom>
              <a:avLst/>
              <a:gdLst/>
              <a:ahLst/>
              <a:cxnLst/>
              <a:rect l="l" t="t" r="r" b="b"/>
              <a:pathLst>
                <a:path w="10915650" h="9525">
                  <a:moveTo>
                    <a:pt x="10915650" y="0"/>
                  </a:moveTo>
                  <a:lnTo>
                    <a:pt x="0" y="0"/>
                  </a:lnTo>
                </a:path>
              </a:pathLst>
            </a:custGeom>
            <a:noFill/>
            <a:ln w="23812">
              <a:solidFill>
                <a:srgbClr val="8A1700"/>
              </a:solidFill>
            </a:ln>
          </p:spPr>
        </p:sp>
        <p:grpSp>
          <p:nvGrpSpPr>
            <p:cNvPr id="258" name="loop-step-1"/>
            <p:cNvGrpSpPr/>
            <p:nvPr/>
          </p:nvGrpSpPr>
          <p:grpSpPr>
            <a:xfrm>
              <a:off x="857250" y="5867400"/>
              <a:ext cx="1428750" cy="438150"/>
              <a:chOff x="857250" y="5867400"/>
              <a:chExt cx="1428750" cy="438150"/>
            </a:xfrm>
          </p:grpSpPr>
          <p:sp>
            <p:nvSpPr>
              <p:cNvPr id="252" name="Rectangle 252"/>
              <p:cNvSpPr/>
              <p:nvPr/>
            </p:nvSpPr>
            <p:spPr>
              <a:xfrm>
                <a:off x="857250" y="5867400"/>
                <a:ext cx="1428750" cy="438150"/>
              </a:xfrm>
              <a:prstGeom prst="roundRect">
                <a:avLst>
                  <a:gd name="adj" fmla="val 17391"/>
                </a:avLst>
              </a:prstGeom>
              <a:solidFill>
                <a:srgbClr val="FFFFFF"/>
              </a:solidFill>
              <a:ln w="14288">
                <a:solidFill>
                  <a:srgbClr val="8A1700"/>
                </a:solidFill>
              </a:ln>
            </p:spPr>
          </p:sp>
          <p:grpSp>
            <p:nvGrpSpPr>
              <p:cNvPr id="256" name="Group 256"/>
              <p:cNvGrpSpPr/>
              <p:nvPr/>
            </p:nvGrpSpPr>
            <p:grpSpPr>
              <a:xfrm>
                <a:off x="1044575" y="6007894"/>
                <a:ext cx="139700" cy="157162"/>
                <a:chOff x="1044575" y="6007894"/>
                <a:chExt cx="139700" cy="157162"/>
              </a:xfrm>
            </p:grpSpPr>
            <p:sp>
              <p:nvSpPr>
                <p:cNvPr id="253" name="Freeform 253"/>
                <p:cNvSpPr/>
                <p:nvPr/>
              </p:nvSpPr>
              <p:spPr>
                <a:xfrm>
                  <a:off x="1044575" y="60078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5716">
                  <a:solidFill>
                    <a:srgbClr val="8A1700"/>
                  </a:solidFill>
                </a:ln>
              </p:spPr>
            </p:sp>
            <p:sp>
              <p:nvSpPr>
                <p:cNvPr id="254" name="Freeform 254"/>
                <p:cNvSpPr/>
                <p:nvPr/>
              </p:nvSpPr>
              <p:spPr>
                <a:xfrm>
                  <a:off x="1044575" y="60340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5716">
                  <a:solidFill>
                    <a:srgbClr val="8A1700"/>
                  </a:solidFill>
                </a:ln>
              </p:spPr>
            </p:sp>
            <p:sp>
              <p:nvSpPr>
                <p:cNvPr id="255" name="Freeform 255"/>
                <p:cNvSpPr/>
                <p:nvPr/>
              </p:nvSpPr>
              <p:spPr>
                <a:xfrm>
                  <a:off x="1044575" y="60864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5716">
                  <a:solidFill>
                    <a:srgbClr val="8A1700"/>
                  </a:solidFill>
                </a:ln>
              </p:spPr>
            </p:sp>
          </p:grpSp>
          <p:sp>
            <p:nvSpPr>
              <p:cNvPr id="257" name="TextBox 257"/>
              <p:cNvSpPr txBox="1"/>
              <p:nvPr/>
            </p:nvSpPr>
            <p:spPr>
              <a:xfrm>
                <a:off x="1309497" y="6038374"/>
                <a:ext cx="537616"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数据采集</a:t>
                </a:r>
              </a:p>
            </p:txBody>
          </p:sp>
        </p:grpSp>
        <p:sp>
          <p:nvSpPr>
            <p:cNvPr id="259" name="TextBox 259"/>
            <p:cNvSpPr txBox="1"/>
            <p:nvPr/>
          </p:nvSpPr>
          <p:spPr>
            <a:xfrm>
              <a:off x="2417165" y="6016942"/>
              <a:ext cx="118669" cy="264033"/>
            </a:xfrm>
            <a:prstGeom prst="rect">
              <a:avLst/>
            </a:prstGeom>
            <a:noFill/>
            <a:ln>
              <a:noFill/>
            </a:ln>
          </p:spPr>
          <p:txBody>
            <a:bodyPr wrap="none" lIns="0" tIns="0" rIns="0" bIns="0" anchor="t" anchorCtr="0">
              <a:spAutoFit/>
            </a:bodyPr>
            <a:lstStyle/>
            <a:p>
              <a:pPr algn="ctr"/>
              <a:r>
                <a:rPr lang="zh-CN" sz="1350" b="1" dirty="0">
                  <a:solidFill>
                    <a:srgbClr val="8A1700"/>
                  </a:solidFill>
                  <a:latin typeface="+mn-lt"/>
                  <a:ea typeface="+mn-ea"/>
                  <a:cs typeface="+mn-cs"/>
                </a:rPr>
                <a:t>»</a:t>
              </a:r>
            </a:p>
          </p:txBody>
        </p:sp>
        <p:grpSp>
          <p:nvGrpSpPr>
            <p:cNvPr id="266" name="loop-step-2"/>
            <p:cNvGrpSpPr/>
            <p:nvPr/>
          </p:nvGrpSpPr>
          <p:grpSpPr>
            <a:xfrm>
              <a:off x="2667000" y="5867400"/>
              <a:ext cx="1428750" cy="438150"/>
              <a:chOff x="2667000" y="5867400"/>
              <a:chExt cx="1428750" cy="438150"/>
            </a:xfrm>
          </p:grpSpPr>
          <p:sp>
            <p:nvSpPr>
              <p:cNvPr id="260" name="Rectangle 260"/>
              <p:cNvSpPr/>
              <p:nvPr/>
            </p:nvSpPr>
            <p:spPr>
              <a:xfrm>
                <a:off x="2667000" y="5867400"/>
                <a:ext cx="1428750" cy="438150"/>
              </a:xfrm>
              <a:prstGeom prst="roundRect">
                <a:avLst>
                  <a:gd name="adj" fmla="val 17391"/>
                </a:avLst>
              </a:prstGeom>
              <a:solidFill>
                <a:srgbClr val="FFFFFF"/>
              </a:solidFill>
              <a:ln w="14288">
                <a:solidFill>
                  <a:srgbClr val="8A1700"/>
                </a:solidFill>
              </a:ln>
            </p:spPr>
          </p:sp>
          <p:grpSp>
            <p:nvGrpSpPr>
              <p:cNvPr id="264" name="Group 264"/>
              <p:cNvGrpSpPr/>
              <p:nvPr/>
            </p:nvGrpSpPr>
            <p:grpSpPr>
              <a:xfrm>
                <a:off x="2871788" y="6007894"/>
                <a:ext cx="130969" cy="157163"/>
                <a:chOff x="2871788" y="6007894"/>
                <a:chExt cx="130969" cy="157163"/>
              </a:xfrm>
            </p:grpSpPr>
            <p:sp>
              <p:nvSpPr>
                <p:cNvPr id="261" name="Freeform 261"/>
                <p:cNvSpPr/>
                <p:nvPr/>
              </p:nvSpPr>
              <p:spPr>
                <a:xfrm>
                  <a:off x="2889250" y="60078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5716">
                  <a:solidFill>
                    <a:srgbClr val="8A1700"/>
                  </a:solidFill>
                </a:ln>
              </p:spPr>
            </p:sp>
            <p:sp>
              <p:nvSpPr>
                <p:cNvPr id="262" name="Freeform 262"/>
                <p:cNvSpPr/>
                <p:nvPr/>
              </p:nvSpPr>
              <p:spPr>
                <a:xfrm>
                  <a:off x="2871788" y="61126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5716">
                  <a:solidFill>
                    <a:srgbClr val="8A1700"/>
                  </a:solidFill>
                </a:ln>
              </p:spPr>
            </p:sp>
            <p:sp>
              <p:nvSpPr>
                <p:cNvPr id="263" name="Freeform 263"/>
                <p:cNvSpPr/>
                <p:nvPr/>
              </p:nvSpPr>
              <p:spPr>
                <a:xfrm>
                  <a:off x="2950369" y="6130131"/>
                  <a:ext cx="52388" cy="34925"/>
                </a:xfrm>
                <a:custGeom>
                  <a:avLst/>
                  <a:gdLst/>
                  <a:ahLst/>
                  <a:cxnLst/>
                  <a:rect l="l" t="t" r="r" b="b"/>
                  <a:pathLst>
                    <a:path w="52388" h="34925">
                      <a:moveTo>
                        <a:pt x="0" y="17463"/>
                      </a:moveTo>
                      <a:lnTo>
                        <a:pt x="17463" y="34925"/>
                      </a:lnTo>
                      <a:lnTo>
                        <a:pt x="52388" y="0"/>
                      </a:lnTo>
                    </a:path>
                  </a:pathLst>
                </a:custGeom>
                <a:noFill/>
                <a:ln w="15716">
                  <a:solidFill>
                    <a:srgbClr val="8A1700"/>
                  </a:solidFill>
                </a:ln>
              </p:spPr>
            </p:sp>
          </p:grpSp>
          <p:sp>
            <p:nvSpPr>
              <p:cNvPr id="265" name="TextBox 265"/>
              <p:cNvSpPr txBox="1"/>
              <p:nvPr/>
            </p:nvSpPr>
            <p:spPr>
              <a:xfrm>
                <a:off x="3119247" y="6038374"/>
                <a:ext cx="537616"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客户识别</a:t>
                </a:r>
              </a:p>
            </p:txBody>
          </p:sp>
        </p:grpSp>
        <p:sp>
          <p:nvSpPr>
            <p:cNvPr id="267" name="TextBox 267"/>
            <p:cNvSpPr txBox="1"/>
            <p:nvPr/>
          </p:nvSpPr>
          <p:spPr>
            <a:xfrm>
              <a:off x="4226915" y="6016942"/>
              <a:ext cx="118669" cy="264033"/>
            </a:xfrm>
            <a:prstGeom prst="rect">
              <a:avLst/>
            </a:prstGeom>
            <a:noFill/>
            <a:ln>
              <a:noFill/>
            </a:ln>
          </p:spPr>
          <p:txBody>
            <a:bodyPr wrap="none" lIns="0" tIns="0" rIns="0" bIns="0" anchor="t" anchorCtr="0">
              <a:spAutoFit/>
            </a:bodyPr>
            <a:lstStyle/>
            <a:p>
              <a:pPr algn="ctr"/>
              <a:r>
                <a:rPr lang="zh-CN" sz="1350" b="1" dirty="0">
                  <a:solidFill>
                    <a:srgbClr val="8A1700"/>
                  </a:solidFill>
                  <a:latin typeface="+mn-lt"/>
                  <a:ea typeface="+mn-ea"/>
                  <a:cs typeface="+mn-cs"/>
                </a:rPr>
                <a:t>»</a:t>
              </a:r>
            </a:p>
          </p:txBody>
        </p:sp>
        <p:grpSp>
          <p:nvGrpSpPr>
            <p:cNvPr id="274" name="loop-step-3"/>
            <p:cNvGrpSpPr/>
            <p:nvPr/>
          </p:nvGrpSpPr>
          <p:grpSpPr>
            <a:xfrm>
              <a:off x="4476750" y="5867400"/>
              <a:ext cx="1428750" cy="438150"/>
              <a:chOff x="4476750" y="5867400"/>
              <a:chExt cx="1428750" cy="438150"/>
            </a:xfrm>
          </p:grpSpPr>
          <p:sp>
            <p:nvSpPr>
              <p:cNvPr id="268" name="Rectangle 268"/>
              <p:cNvSpPr/>
              <p:nvPr/>
            </p:nvSpPr>
            <p:spPr>
              <a:xfrm>
                <a:off x="4476750" y="5867400"/>
                <a:ext cx="1428750" cy="438150"/>
              </a:xfrm>
              <a:prstGeom prst="roundRect">
                <a:avLst>
                  <a:gd name="adj" fmla="val 17391"/>
                </a:avLst>
              </a:prstGeom>
              <a:solidFill>
                <a:srgbClr val="FFFFFF"/>
              </a:solidFill>
              <a:ln w="14288">
                <a:solidFill>
                  <a:srgbClr val="8A1700"/>
                </a:solidFill>
              </a:ln>
            </p:spPr>
          </p:sp>
          <p:grpSp>
            <p:nvGrpSpPr>
              <p:cNvPr id="272" name="Group 272"/>
              <p:cNvGrpSpPr/>
              <p:nvPr/>
            </p:nvGrpSpPr>
            <p:grpSpPr>
              <a:xfrm>
                <a:off x="4655344" y="6007894"/>
                <a:ext cx="157163" cy="157163"/>
                <a:chOff x="4655344" y="6007894"/>
                <a:chExt cx="157163" cy="157163"/>
              </a:xfrm>
            </p:grpSpPr>
            <p:sp>
              <p:nvSpPr>
                <p:cNvPr id="269" name="Freeform 269"/>
                <p:cNvSpPr/>
                <p:nvPr/>
              </p:nvSpPr>
              <p:spPr>
                <a:xfrm>
                  <a:off x="4725194" y="607774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5716">
                  <a:solidFill>
                    <a:srgbClr val="8A1700"/>
                  </a:solidFill>
                </a:ln>
              </p:spPr>
            </p:sp>
            <p:sp>
              <p:nvSpPr>
                <p:cNvPr id="270" name="Freeform 270"/>
                <p:cNvSpPr/>
                <p:nvPr/>
              </p:nvSpPr>
              <p:spPr>
                <a:xfrm>
                  <a:off x="4690269" y="604281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5716">
                  <a:solidFill>
                    <a:srgbClr val="8A1700"/>
                  </a:solidFill>
                </a:ln>
              </p:spPr>
            </p:sp>
            <p:sp>
              <p:nvSpPr>
                <p:cNvPr id="271" name="Freeform 271"/>
                <p:cNvSpPr/>
                <p:nvPr/>
              </p:nvSpPr>
              <p:spPr>
                <a:xfrm>
                  <a:off x="4655344" y="60078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5716">
                  <a:solidFill>
                    <a:srgbClr val="8A1700"/>
                  </a:solidFill>
                </a:ln>
              </p:spPr>
            </p:sp>
          </p:grpSp>
          <p:sp>
            <p:nvSpPr>
              <p:cNvPr id="273" name="TextBox 273"/>
              <p:cNvSpPr txBox="1"/>
              <p:nvPr/>
            </p:nvSpPr>
            <p:spPr>
              <a:xfrm>
                <a:off x="4928997" y="6038374"/>
                <a:ext cx="537616"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策略匹配</a:t>
                </a:r>
              </a:p>
            </p:txBody>
          </p:sp>
        </p:grpSp>
        <p:sp>
          <p:nvSpPr>
            <p:cNvPr id="275" name="TextBox 275"/>
            <p:cNvSpPr txBox="1"/>
            <p:nvPr/>
          </p:nvSpPr>
          <p:spPr>
            <a:xfrm>
              <a:off x="6036665" y="6016942"/>
              <a:ext cx="118669" cy="264033"/>
            </a:xfrm>
            <a:prstGeom prst="rect">
              <a:avLst/>
            </a:prstGeom>
            <a:noFill/>
            <a:ln>
              <a:noFill/>
            </a:ln>
          </p:spPr>
          <p:txBody>
            <a:bodyPr wrap="none" lIns="0" tIns="0" rIns="0" bIns="0" anchor="t" anchorCtr="0">
              <a:spAutoFit/>
            </a:bodyPr>
            <a:lstStyle/>
            <a:p>
              <a:pPr algn="ctr"/>
              <a:r>
                <a:rPr lang="zh-CN" sz="1350" b="1" dirty="0">
                  <a:solidFill>
                    <a:srgbClr val="8A1700"/>
                  </a:solidFill>
                  <a:latin typeface="+mn-lt"/>
                  <a:ea typeface="+mn-ea"/>
                  <a:cs typeface="+mn-cs"/>
                </a:rPr>
                <a:t>»</a:t>
              </a:r>
            </a:p>
          </p:txBody>
        </p:sp>
        <p:grpSp>
          <p:nvGrpSpPr>
            <p:cNvPr id="281" name="loop-step-4"/>
            <p:cNvGrpSpPr/>
            <p:nvPr/>
          </p:nvGrpSpPr>
          <p:grpSpPr>
            <a:xfrm>
              <a:off x="6286500" y="5867400"/>
              <a:ext cx="1428750" cy="438150"/>
              <a:chOff x="6286500" y="5867400"/>
              <a:chExt cx="1428750" cy="438150"/>
            </a:xfrm>
          </p:grpSpPr>
          <p:sp>
            <p:nvSpPr>
              <p:cNvPr id="276" name="Rectangle 276"/>
              <p:cNvSpPr/>
              <p:nvPr/>
            </p:nvSpPr>
            <p:spPr>
              <a:xfrm>
                <a:off x="6286500" y="5867400"/>
                <a:ext cx="1428750" cy="438150"/>
              </a:xfrm>
              <a:prstGeom prst="roundRect">
                <a:avLst>
                  <a:gd name="adj" fmla="val 17391"/>
                </a:avLst>
              </a:prstGeom>
              <a:solidFill>
                <a:srgbClr val="FFFFFF"/>
              </a:solidFill>
              <a:ln w="14288">
                <a:solidFill>
                  <a:srgbClr val="8A1700"/>
                </a:solidFill>
              </a:ln>
            </p:spPr>
          </p:sp>
          <p:grpSp>
            <p:nvGrpSpPr>
              <p:cNvPr id="279" name="Group 279"/>
              <p:cNvGrpSpPr/>
              <p:nvPr/>
            </p:nvGrpSpPr>
            <p:grpSpPr>
              <a:xfrm>
                <a:off x="6462292" y="6007894"/>
                <a:ext cx="159965" cy="159964"/>
                <a:chOff x="6462292" y="6007894"/>
                <a:chExt cx="159965" cy="159964"/>
              </a:xfrm>
            </p:grpSpPr>
            <p:sp>
              <p:nvSpPr>
                <p:cNvPr id="277" name="Freeform 277"/>
                <p:cNvSpPr/>
                <p:nvPr/>
              </p:nvSpPr>
              <p:spPr>
                <a:xfrm>
                  <a:off x="6526213" y="6007894"/>
                  <a:ext cx="96044" cy="96044"/>
                </a:xfrm>
                <a:custGeom>
                  <a:avLst/>
                  <a:gdLst/>
                  <a:ahLst/>
                  <a:cxnLst/>
                  <a:rect l="l" t="t" r="r" b="b"/>
                  <a:pathLst>
                    <a:path w="96044" h="96044">
                      <a:moveTo>
                        <a:pt x="0" y="96044"/>
                      </a:moveTo>
                      <a:lnTo>
                        <a:pt x="96044" y="0"/>
                      </a:lnTo>
                    </a:path>
                  </a:pathLst>
                </a:custGeom>
                <a:noFill/>
                <a:ln w="15716">
                  <a:solidFill>
                    <a:srgbClr val="8A1700"/>
                  </a:solidFill>
                </a:ln>
              </p:spPr>
            </p:sp>
            <p:sp>
              <p:nvSpPr>
                <p:cNvPr id="278" name="Freeform 278"/>
                <p:cNvSpPr/>
                <p:nvPr/>
              </p:nvSpPr>
              <p:spPr>
                <a:xfrm>
                  <a:off x="6462292" y="6007894"/>
                  <a:ext cx="159964" cy="159964"/>
                </a:xfrm>
                <a:custGeom>
                  <a:avLst/>
                  <a:gdLst/>
                  <a:ahLst/>
                  <a:cxnLst/>
                  <a:rect l="l" t="t" r="r" b="b"/>
                  <a:pathLst>
                    <a:path w="159964" h="159964">
                      <a:moveTo>
                        <a:pt x="159964" y="0"/>
                      </a:moveTo>
                      <a:lnTo>
                        <a:pt x="103211" y="157163"/>
                      </a:lnTo>
                      <a:cubicBezTo>
                        <a:pt x="102429" y="158870"/>
                        <a:pt x="100723" y="159964"/>
                        <a:pt x="98845" y="159964"/>
                      </a:cubicBezTo>
                      <a:cubicBezTo>
                        <a:pt x="96968" y="159964"/>
                        <a:pt x="95262" y="158870"/>
                        <a:pt x="94480" y="157163"/>
                      </a:cubicBezTo>
                      <a:lnTo>
                        <a:pt x="63920" y="96044"/>
                      </a:lnTo>
                      <a:lnTo>
                        <a:pt x="2802" y="65484"/>
                      </a:lnTo>
                      <a:cubicBezTo>
                        <a:pt x="1095" y="64702"/>
                        <a:pt x="0" y="62997"/>
                        <a:pt x="0" y="61119"/>
                      </a:cubicBezTo>
                      <a:cubicBezTo>
                        <a:pt x="0" y="59241"/>
                        <a:pt x="1095" y="57535"/>
                        <a:pt x="2802" y="56753"/>
                      </a:cubicBezTo>
                      <a:lnTo>
                        <a:pt x="159964" y="0"/>
                      </a:lnTo>
                    </a:path>
                  </a:pathLst>
                </a:custGeom>
                <a:noFill/>
                <a:ln w="15716">
                  <a:solidFill>
                    <a:srgbClr val="8A1700"/>
                  </a:solidFill>
                </a:ln>
              </p:spPr>
            </p:sp>
          </p:grpSp>
          <p:sp>
            <p:nvSpPr>
              <p:cNvPr id="280" name="TextBox 280"/>
              <p:cNvSpPr txBox="1"/>
              <p:nvPr/>
            </p:nvSpPr>
            <p:spPr>
              <a:xfrm>
                <a:off x="6738747" y="6038374"/>
                <a:ext cx="537616"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多端触达</a:t>
                </a:r>
              </a:p>
            </p:txBody>
          </p:sp>
        </p:grpSp>
        <p:sp>
          <p:nvSpPr>
            <p:cNvPr id="282" name="TextBox 282"/>
            <p:cNvSpPr txBox="1"/>
            <p:nvPr/>
          </p:nvSpPr>
          <p:spPr>
            <a:xfrm>
              <a:off x="7846415" y="6016942"/>
              <a:ext cx="118669" cy="264033"/>
            </a:xfrm>
            <a:prstGeom prst="rect">
              <a:avLst/>
            </a:prstGeom>
            <a:noFill/>
            <a:ln>
              <a:noFill/>
            </a:ln>
          </p:spPr>
          <p:txBody>
            <a:bodyPr wrap="none" lIns="0" tIns="0" rIns="0" bIns="0" anchor="t" anchorCtr="0">
              <a:spAutoFit/>
            </a:bodyPr>
            <a:lstStyle/>
            <a:p>
              <a:pPr algn="ctr"/>
              <a:r>
                <a:rPr lang="zh-CN" sz="1350" b="1" dirty="0">
                  <a:solidFill>
                    <a:srgbClr val="8A1700"/>
                  </a:solidFill>
                  <a:latin typeface="+mn-lt"/>
                  <a:ea typeface="+mn-ea"/>
                  <a:cs typeface="+mn-cs"/>
                </a:rPr>
                <a:t>»</a:t>
              </a:r>
            </a:p>
          </p:txBody>
        </p:sp>
        <p:grpSp>
          <p:nvGrpSpPr>
            <p:cNvPr id="288" name="loop-step-5"/>
            <p:cNvGrpSpPr/>
            <p:nvPr/>
          </p:nvGrpSpPr>
          <p:grpSpPr>
            <a:xfrm>
              <a:off x="8096250" y="5867400"/>
              <a:ext cx="1428750" cy="438150"/>
              <a:chOff x="8096250" y="5867400"/>
              <a:chExt cx="1428750" cy="438150"/>
            </a:xfrm>
          </p:grpSpPr>
          <p:sp>
            <p:nvSpPr>
              <p:cNvPr id="283" name="Rectangle 283"/>
              <p:cNvSpPr/>
              <p:nvPr/>
            </p:nvSpPr>
            <p:spPr>
              <a:xfrm>
                <a:off x="8096250" y="5867400"/>
                <a:ext cx="1428750" cy="438150"/>
              </a:xfrm>
              <a:prstGeom prst="roundRect">
                <a:avLst>
                  <a:gd name="adj" fmla="val 17391"/>
                </a:avLst>
              </a:prstGeom>
              <a:solidFill>
                <a:srgbClr val="FFFFFF"/>
              </a:solidFill>
              <a:ln w="14288">
                <a:solidFill>
                  <a:srgbClr val="8A1700"/>
                </a:solidFill>
              </a:ln>
            </p:spPr>
          </p:sp>
          <p:grpSp>
            <p:nvGrpSpPr>
              <p:cNvPr id="286" name="Group 286"/>
              <p:cNvGrpSpPr/>
              <p:nvPr/>
            </p:nvGrpSpPr>
            <p:grpSpPr>
              <a:xfrm>
                <a:off x="8283575" y="6034088"/>
                <a:ext cx="139700" cy="123031"/>
                <a:chOff x="8283575" y="6034088"/>
                <a:chExt cx="139700" cy="123031"/>
              </a:xfrm>
            </p:grpSpPr>
            <p:sp>
              <p:nvSpPr>
                <p:cNvPr id="284" name="Freeform 284"/>
                <p:cNvSpPr/>
                <p:nvPr/>
              </p:nvSpPr>
              <p:spPr>
                <a:xfrm>
                  <a:off x="8283575" y="6147594"/>
                  <a:ext cx="139700" cy="9525"/>
                </a:xfrm>
                <a:custGeom>
                  <a:avLst/>
                  <a:gdLst/>
                  <a:ahLst/>
                  <a:cxnLst/>
                  <a:rect l="l" t="t" r="r" b="b"/>
                  <a:pathLst>
                    <a:path w="139700" h="9525">
                      <a:moveTo>
                        <a:pt x="0" y="0"/>
                      </a:moveTo>
                      <a:lnTo>
                        <a:pt x="139700" y="0"/>
                      </a:lnTo>
                    </a:path>
                  </a:pathLst>
                </a:custGeom>
                <a:noFill/>
                <a:ln w="15716">
                  <a:solidFill>
                    <a:srgbClr val="8A1700"/>
                  </a:solidFill>
                </a:ln>
              </p:spPr>
            </p:sp>
            <p:sp>
              <p:nvSpPr>
                <p:cNvPr id="285" name="Freeform 285"/>
                <p:cNvSpPr/>
                <p:nvPr/>
              </p:nvSpPr>
              <p:spPr>
                <a:xfrm>
                  <a:off x="8283575" y="6034088"/>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5716">
                  <a:solidFill>
                    <a:srgbClr val="8A1700"/>
                  </a:solidFill>
                </a:ln>
              </p:spPr>
            </p:sp>
          </p:grpSp>
          <p:sp>
            <p:nvSpPr>
              <p:cNvPr id="287" name="TextBox 287"/>
              <p:cNvSpPr txBox="1"/>
              <p:nvPr/>
            </p:nvSpPr>
            <p:spPr>
              <a:xfrm>
                <a:off x="8548497" y="6038374"/>
                <a:ext cx="537616"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行为反馈</a:t>
                </a:r>
              </a:p>
            </p:txBody>
          </p:sp>
        </p:grpSp>
        <p:sp>
          <p:nvSpPr>
            <p:cNvPr id="289" name="TextBox 289"/>
            <p:cNvSpPr txBox="1"/>
            <p:nvPr/>
          </p:nvSpPr>
          <p:spPr>
            <a:xfrm>
              <a:off x="9656165" y="6016942"/>
              <a:ext cx="118669" cy="264033"/>
            </a:xfrm>
            <a:prstGeom prst="rect">
              <a:avLst/>
            </a:prstGeom>
            <a:noFill/>
            <a:ln>
              <a:noFill/>
            </a:ln>
          </p:spPr>
          <p:txBody>
            <a:bodyPr wrap="none" lIns="0" tIns="0" rIns="0" bIns="0" anchor="t" anchorCtr="0">
              <a:spAutoFit/>
            </a:bodyPr>
            <a:lstStyle/>
            <a:p>
              <a:pPr algn="ctr"/>
              <a:r>
                <a:rPr lang="zh-CN" sz="1350" b="1" dirty="0">
                  <a:solidFill>
                    <a:srgbClr val="8A1700"/>
                  </a:solidFill>
                  <a:latin typeface="+mn-lt"/>
                  <a:ea typeface="+mn-ea"/>
                  <a:cs typeface="+mn-cs"/>
                </a:rPr>
                <a:t>»</a:t>
              </a:r>
            </a:p>
          </p:txBody>
        </p:sp>
        <p:grpSp>
          <p:nvGrpSpPr>
            <p:cNvPr id="295" name="loop-step-6"/>
            <p:cNvGrpSpPr/>
            <p:nvPr/>
          </p:nvGrpSpPr>
          <p:grpSpPr>
            <a:xfrm>
              <a:off x="9906000" y="5867400"/>
              <a:ext cx="1428750" cy="438150"/>
              <a:chOff x="9906000" y="5867400"/>
              <a:chExt cx="1428750" cy="438150"/>
            </a:xfrm>
          </p:grpSpPr>
          <p:sp>
            <p:nvSpPr>
              <p:cNvPr id="290" name="Rectangle 290"/>
              <p:cNvSpPr/>
              <p:nvPr/>
            </p:nvSpPr>
            <p:spPr>
              <a:xfrm>
                <a:off x="9906000" y="5867400"/>
                <a:ext cx="1428750" cy="438150"/>
              </a:xfrm>
              <a:prstGeom prst="roundRect">
                <a:avLst>
                  <a:gd name="adj" fmla="val 17391"/>
                </a:avLst>
              </a:prstGeom>
              <a:solidFill>
                <a:srgbClr val="FFFFFF"/>
              </a:solidFill>
              <a:ln w="14288">
                <a:solidFill>
                  <a:srgbClr val="8A1700"/>
                </a:solidFill>
              </a:ln>
            </p:spPr>
          </p:sp>
          <p:grpSp>
            <p:nvGrpSpPr>
              <p:cNvPr id="293" name="Group 293"/>
              <p:cNvGrpSpPr/>
              <p:nvPr/>
            </p:nvGrpSpPr>
            <p:grpSpPr>
              <a:xfrm>
                <a:off x="10080761" y="6004061"/>
                <a:ext cx="164829" cy="164829"/>
                <a:chOff x="10080761" y="6004061"/>
                <a:chExt cx="164829" cy="164829"/>
              </a:xfrm>
            </p:grpSpPr>
            <p:sp>
              <p:nvSpPr>
                <p:cNvPr id="291" name="Freeform 291"/>
                <p:cNvSpPr/>
                <p:nvPr/>
              </p:nvSpPr>
              <p:spPr>
                <a:xfrm>
                  <a:off x="10080761" y="600406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5716">
                  <a:solidFill>
                    <a:srgbClr val="8A1700"/>
                  </a:solidFill>
                </a:ln>
              </p:spPr>
            </p:sp>
            <p:sp>
              <p:nvSpPr>
                <p:cNvPr id="292" name="Freeform 292"/>
                <p:cNvSpPr/>
                <p:nvPr/>
              </p:nvSpPr>
              <p:spPr>
                <a:xfrm>
                  <a:off x="10136981" y="606028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5716">
                  <a:solidFill>
                    <a:srgbClr val="8A1700"/>
                  </a:solidFill>
                </a:ln>
              </p:spPr>
            </p:sp>
          </p:grpSp>
          <p:sp>
            <p:nvSpPr>
              <p:cNvPr id="294" name="TextBox 294"/>
              <p:cNvSpPr txBox="1"/>
              <p:nvPr/>
            </p:nvSpPr>
            <p:spPr>
              <a:xfrm>
                <a:off x="10358247" y="6038374"/>
                <a:ext cx="537616"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模型优化</a:t>
                </a:r>
              </a:p>
            </p:txBody>
          </p:sp>
        </p:grpSp>
      </p:gr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256413" y="162401"/>
              <a:ext cx="35243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5​</a:t>
              </a:r>
            </a:p>
          </p:txBody>
        </p:sp>
        <p:sp>
          <p:nvSpPr>
            <p:cNvPr id="4" name="TextBox 4"/>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客户分层：不同客户必须采用不同经营策略</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65" name="lifecycle"/>
          <p:cNvGrpSpPr/>
          <p:nvPr/>
        </p:nvGrpSpPr>
        <p:grpSpPr>
          <a:xfrm>
            <a:off x="273050" y="784622"/>
            <a:ext cx="3746500" cy="3596878"/>
            <a:chOff x="273050" y="784622"/>
            <a:chExt cx="3746500" cy="3596878"/>
          </a:xfrm>
        </p:grpSpPr>
        <p:grpSp>
          <p:nvGrpSpPr>
            <p:cNvPr id="9" name="Group 9"/>
            <p:cNvGrpSpPr/>
            <p:nvPr/>
          </p:nvGrpSpPr>
          <p:grpSpPr>
            <a:xfrm>
              <a:off x="273050" y="784950"/>
              <a:ext cx="101600" cy="106500"/>
              <a:chOff x="273050" y="784950"/>
              <a:chExt cx="101600" cy="106500"/>
            </a:xfrm>
          </p:grpSpPr>
          <p:sp>
            <p:nvSpPr>
              <p:cNvPr id="7" name="Freeform 7"/>
              <p:cNvSpPr/>
              <p:nvPr/>
            </p:nvSpPr>
            <p:spPr>
              <a:xfrm>
                <a:off x="273050" y="78495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C02C0A"/>
                </a:solidFill>
              </a:ln>
            </p:spPr>
          </p:sp>
          <p:sp>
            <p:nvSpPr>
              <p:cNvPr id="8" name="Freeform 8"/>
              <p:cNvSpPr/>
              <p:nvPr/>
            </p:nvSpPr>
            <p:spPr>
              <a:xfrm>
                <a:off x="273050" y="84455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C02C0A"/>
                </a:solidFill>
              </a:ln>
            </p:spPr>
          </p:sp>
        </p:grpSp>
        <p:sp>
          <p:nvSpPr>
            <p:cNvPr id="10" name="TextBox 10"/>
            <p:cNvSpPr txBox="1"/>
            <p:nvPr/>
          </p:nvSpPr>
          <p:spPr>
            <a:xfrm>
              <a:off x="452438" y="784622"/>
              <a:ext cx="3046552" cy="183356"/>
            </a:xfrm>
            <a:prstGeom prst="rect">
              <a:avLst/>
            </a:prstGeom>
            <a:noFill/>
            <a:ln>
              <a:noFill/>
            </a:ln>
          </p:spPr>
          <p:txBody>
            <a:bodyPr wrap="none" lIns="0" tIns="0" rIns="0" bIns="0" anchor="t" anchorCtr="0">
              <a:spAutoFit/>
            </a:bodyPr>
            <a:lstStyle/>
            <a:p>
              <a:pPr algn="l"/>
              <a:r>
                <a:rPr lang="zh-CN" sz="940" b="1" dirty="0">
                  <a:solidFill>
                    <a:srgbClr val="C02C0A"/>
                  </a:solidFill>
                  <a:latin typeface="+mn-lt"/>
                  <a:ea typeface="+mn-ea"/>
                  <a:cs typeface="+mn-cs"/>
                </a:rPr>
                <a:t>生命周期：</a:t>
              </a:r>
              <a:r>
                <a:rPr lang="zh-CN" sz="940" b="1" dirty="0">
                  <a:solidFill>
                    <a:srgbClr val="520E00"/>
                  </a:solidFill>
                  <a:latin typeface="+mn-lt"/>
                  <a:ea typeface="+mn-ea"/>
                  <a:cs typeface="+mn-cs"/>
                </a:rPr>
                <a:t>新客、活跃客、价值客、沉默客、预流失客</a:t>
              </a:r>
            </a:p>
          </p:txBody>
        </p:sp>
        <p:sp>
          <p:nvSpPr>
            <p:cNvPr id="11" name="Line 11"/>
            <p:cNvSpPr/>
            <p:nvPr/>
          </p:nvSpPr>
          <p:spPr>
            <a:xfrm>
              <a:off x="400050" y="1066800"/>
              <a:ext cx="9525" cy="3276600"/>
            </a:xfrm>
            <a:custGeom>
              <a:avLst/>
              <a:gdLst/>
              <a:ahLst/>
              <a:cxnLst/>
              <a:rect l="l" t="t" r="r" b="b"/>
              <a:pathLst>
                <a:path w="9525" h="3276600">
                  <a:moveTo>
                    <a:pt x="0" y="0"/>
                  </a:moveTo>
                  <a:lnTo>
                    <a:pt x="0" y="3276600"/>
                  </a:lnTo>
                </a:path>
              </a:pathLst>
            </a:custGeom>
            <a:noFill/>
            <a:ln w="14288">
              <a:solidFill>
                <a:srgbClr val="E84E2F"/>
              </a:solidFill>
            </a:ln>
          </p:spPr>
        </p:sp>
        <p:grpSp>
          <p:nvGrpSpPr>
            <p:cNvPr id="23" name="lc-row-1"/>
            <p:cNvGrpSpPr/>
            <p:nvPr/>
          </p:nvGrpSpPr>
          <p:grpSpPr>
            <a:xfrm>
              <a:off x="304800" y="990600"/>
              <a:ext cx="3714750" cy="647700"/>
              <a:chOff x="304800" y="990600"/>
              <a:chExt cx="3714750" cy="647700"/>
            </a:xfrm>
          </p:grpSpPr>
          <p:sp>
            <p:nvSpPr>
              <p:cNvPr id="12" name="Rectangle 12"/>
              <p:cNvSpPr/>
              <p:nvPr/>
            </p:nvSpPr>
            <p:spPr>
              <a:xfrm>
                <a:off x="533400" y="990600"/>
                <a:ext cx="3486150" cy="647700"/>
              </a:xfrm>
              <a:prstGeom prst="roundRect">
                <a:avLst>
                  <a:gd name="adj" fmla="val 8824"/>
                </a:avLst>
              </a:prstGeom>
              <a:solidFill>
                <a:srgbClr val="F5F8FE"/>
              </a:solidFill>
              <a:ln w="9525">
                <a:solidFill>
                  <a:srgbClr val="C9D5EA"/>
                </a:solidFill>
              </a:ln>
            </p:spPr>
          </p:sp>
          <p:sp>
            <p:nvSpPr>
              <p:cNvPr id="13" name="Ellipse 13"/>
              <p:cNvSpPr/>
              <p:nvPr/>
            </p:nvSpPr>
            <p:spPr>
              <a:xfrm>
                <a:off x="304800" y="1219200"/>
                <a:ext cx="190500" cy="190500"/>
              </a:xfrm>
              <a:prstGeom prst="ellipse">
                <a:avLst/>
              </a:prstGeom>
              <a:solidFill>
                <a:srgbClr val="8A1700"/>
              </a:solidFill>
              <a:ln>
                <a:noFill/>
              </a:ln>
            </p:spPr>
          </p:sp>
          <p:sp>
            <p:nvSpPr>
              <p:cNvPr id="14" name="TextBox 14"/>
              <p:cNvSpPr txBox="1"/>
              <p:nvPr/>
            </p:nvSpPr>
            <p:spPr>
              <a:xfrm>
                <a:off x="336980" y="12715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grpSp>
            <p:nvGrpSpPr>
              <p:cNvPr id="19" name="Group 19"/>
              <p:cNvGrpSpPr/>
              <p:nvPr/>
            </p:nvGrpSpPr>
            <p:grpSpPr>
              <a:xfrm>
                <a:off x="690562" y="1212056"/>
                <a:ext cx="165099" cy="196055"/>
                <a:chOff x="690562" y="1212056"/>
                <a:chExt cx="165099" cy="196055"/>
              </a:xfrm>
            </p:grpSpPr>
            <p:sp>
              <p:nvSpPr>
                <p:cNvPr id="15" name="Freeform 15"/>
                <p:cNvSpPr/>
                <p:nvPr/>
              </p:nvSpPr>
              <p:spPr>
                <a:xfrm>
                  <a:off x="711200" y="12120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15478">
                  <a:solidFill>
                    <a:srgbClr val="8A1700"/>
                  </a:solidFill>
                </a:ln>
              </p:spPr>
            </p:sp>
            <p:sp>
              <p:nvSpPr>
                <p:cNvPr id="16" name="Freeform 16"/>
                <p:cNvSpPr/>
                <p:nvPr/>
              </p:nvSpPr>
              <p:spPr>
                <a:xfrm>
                  <a:off x="793749" y="1377156"/>
                  <a:ext cx="61912" cy="9525"/>
                </a:xfrm>
                <a:custGeom>
                  <a:avLst/>
                  <a:gdLst/>
                  <a:ahLst/>
                  <a:cxnLst/>
                  <a:rect l="l" t="t" r="r" b="b"/>
                  <a:pathLst>
                    <a:path w="61912" h="9525">
                      <a:moveTo>
                        <a:pt x="0" y="0"/>
                      </a:moveTo>
                      <a:lnTo>
                        <a:pt x="61912" y="0"/>
                      </a:lnTo>
                    </a:path>
                  </a:pathLst>
                </a:custGeom>
                <a:noFill/>
                <a:ln w="15478">
                  <a:solidFill>
                    <a:srgbClr val="8A1700"/>
                  </a:solidFill>
                </a:ln>
              </p:spPr>
            </p:sp>
            <p:sp>
              <p:nvSpPr>
                <p:cNvPr id="17" name="Freeform 17"/>
                <p:cNvSpPr/>
                <p:nvPr/>
              </p:nvSpPr>
              <p:spPr>
                <a:xfrm>
                  <a:off x="824706" y="1346199"/>
                  <a:ext cx="9525" cy="61912"/>
                </a:xfrm>
                <a:custGeom>
                  <a:avLst/>
                  <a:gdLst/>
                  <a:ahLst/>
                  <a:cxnLst/>
                  <a:rect l="l" t="t" r="r" b="b"/>
                  <a:pathLst>
                    <a:path w="9525" h="61912">
                      <a:moveTo>
                        <a:pt x="0" y="0"/>
                      </a:moveTo>
                      <a:lnTo>
                        <a:pt x="0" y="61912"/>
                      </a:lnTo>
                    </a:path>
                  </a:pathLst>
                </a:custGeom>
                <a:noFill/>
                <a:ln w="15478">
                  <a:solidFill>
                    <a:srgbClr val="8A1700"/>
                  </a:solidFill>
                </a:ln>
              </p:spPr>
            </p:sp>
            <p:sp>
              <p:nvSpPr>
                <p:cNvPr id="18" name="Freeform 18"/>
                <p:cNvSpPr/>
                <p:nvPr/>
              </p:nvSpPr>
              <p:spPr>
                <a:xfrm>
                  <a:off x="690562" y="1335881"/>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15478">
                  <a:solidFill>
                    <a:srgbClr val="8A1700"/>
                  </a:solidFill>
                </a:ln>
              </p:spPr>
            </p:sp>
          </p:grpSp>
          <p:sp>
            <p:nvSpPr>
              <p:cNvPr id="20" name="TextBox 20"/>
              <p:cNvSpPr txBox="1"/>
              <p:nvPr/>
            </p:nvSpPr>
            <p:spPr>
              <a:xfrm>
                <a:off x="966597" y="1094899"/>
                <a:ext cx="273761"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新客</a:t>
                </a:r>
              </a:p>
            </p:txBody>
          </p:sp>
          <p:sp>
            <p:nvSpPr>
              <p:cNvPr id="21" name="TextBox 21"/>
              <p:cNvSpPr txBox="1"/>
              <p:nvPr/>
            </p:nvSpPr>
            <p:spPr>
              <a:xfrm>
                <a:off x="966788" y="1285161"/>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0403A"/>
                    </a:solidFill>
                    <a:latin typeface="+mn-lt"/>
                    <a:ea typeface="+mn-ea"/>
                    <a:cs typeface="+mn-cs"/>
                  </a:rPr>
                  <a:t>刚建立关系，处于</a:t>
                </a:r>
                <a:br/>
                <a:r>
                  <a:rPr lang="zh-CN" sz="710" dirty="0">
                    <a:solidFill>
                      <a:srgbClr val="60403A"/>
                    </a:solidFill>
                    <a:latin typeface="+mn-lt"/>
                    <a:ea typeface="+mn-ea"/>
                    <a:cs typeface="+mn-cs"/>
                  </a:rPr>
                  <a:t>初始探索阶段</a:t>
                </a:r>
              </a:p>
            </p:txBody>
          </p:sp>
          <p:sp>
            <p:nvSpPr>
              <p:cNvPr id="22" name="TextBox 22"/>
              <p:cNvSpPr txBox="1"/>
              <p:nvPr/>
            </p:nvSpPr>
            <p:spPr>
              <a:xfrm>
                <a:off x="2262188" y="1180386"/>
                <a:ext cx="109156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0403A"/>
                    </a:solidFill>
                    <a:latin typeface="+mn-lt"/>
                    <a:ea typeface="+mn-ea"/>
                    <a:cs typeface="+mn-cs"/>
                  </a:rPr>
                  <a:t>特征：低贡献，低粘性</a:t>
                </a:r>
                <a:br/>
                <a:r>
                  <a:rPr lang="zh-CN" sz="710" dirty="0">
                    <a:solidFill>
                      <a:srgbClr val="60403A"/>
                    </a:solidFill>
                    <a:latin typeface="+mn-lt"/>
                    <a:ea typeface="+mn-ea"/>
                    <a:cs typeface="+mn-cs"/>
                  </a:rPr>
                  <a:t>目标：快速激活，建立信任</a:t>
                </a:r>
              </a:p>
            </p:txBody>
          </p:sp>
        </p:grpSp>
        <p:grpSp>
          <p:nvGrpSpPr>
            <p:cNvPr id="33" name="lc-row-2"/>
            <p:cNvGrpSpPr/>
            <p:nvPr/>
          </p:nvGrpSpPr>
          <p:grpSpPr>
            <a:xfrm>
              <a:off x="304800" y="1676400"/>
              <a:ext cx="3714750" cy="647700"/>
              <a:chOff x="304800" y="1676400"/>
              <a:chExt cx="3714750" cy="647700"/>
            </a:xfrm>
          </p:grpSpPr>
          <p:sp>
            <p:nvSpPr>
              <p:cNvPr id="24" name="Rectangle 24"/>
              <p:cNvSpPr/>
              <p:nvPr/>
            </p:nvSpPr>
            <p:spPr>
              <a:xfrm>
                <a:off x="533400" y="1676400"/>
                <a:ext cx="3486150" cy="647700"/>
              </a:xfrm>
              <a:prstGeom prst="roundRect">
                <a:avLst>
                  <a:gd name="adj" fmla="val 8824"/>
                </a:avLst>
              </a:prstGeom>
              <a:solidFill>
                <a:srgbClr val="F5F8FE"/>
              </a:solidFill>
              <a:ln w="9525">
                <a:solidFill>
                  <a:srgbClr val="C9D5EA"/>
                </a:solidFill>
              </a:ln>
            </p:spPr>
          </p:sp>
          <p:sp>
            <p:nvSpPr>
              <p:cNvPr id="25" name="Ellipse 25"/>
              <p:cNvSpPr/>
              <p:nvPr/>
            </p:nvSpPr>
            <p:spPr>
              <a:xfrm>
                <a:off x="304800" y="1905000"/>
                <a:ext cx="190500" cy="190500"/>
              </a:xfrm>
              <a:prstGeom prst="ellipse">
                <a:avLst/>
              </a:prstGeom>
              <a:solidFill>
                <a:srgbClr val="8A1700"/>
              </a:solidFill>
              <a:ln>
                <a:noFill/>
              </a:ln>
            </p:spPr>
          </p:sp>
          <p:sp>
            <p:nvSpPr>
              <p:cNvPr id="26" name="TextBox 26"/>
              <p:cNvSpPr txBox="1"/>
              <p:nvPr/>
            </p:nvSpPr>
            <p:spPr>
              <a:xfrm>
                <a:off x="336980" y="19573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grpSp>
            <p:nvGrpSpPr>
              <p:cNvPr id="29" name="Group 29"/>
              <p:cNvGrpSpPr/>
              <p:nvPr/>
            </p:nvGrpSpPr>
            <p:grpSpPr>
              <a:xfrm>
                <a:off x="669925" y="1928812"/>
                <a:ext cx="165099" cy="143669"/>
                <a:chOff x="669925" y="1928812"/>
                <a:chExt cx="165099" cy="143669"/>
              </a:xfrm>
            </p:grpSpPr>
            <p:sp>
              <p:nvSpPr>
                <p:cNvPr id="27" name="Freeform 27"/>
                <p:cNvSpPr/>
                <p:nvPr/>
              </p:nvSpPr>
              <p:spPr>
                <a:xfrm>
                  <a:off x="669925" y="2062956"/>
                  <a:ext cx="165099" cy="9525"/>
                </a:xfrm>
                <a:custGeom>
                  <a:avLst/>
                  <a:gdLst/>
                  <a:ahLst/>
                  <a:cxnLst/>
                  <a:rect l="l" t="t" r="r" b="b"/>
                  <a:pathLst>
                    <a:path w="165099" h="9525">
                      <a:moveTo>
                        <a:pt x="0" y="0"/>
                      </a:moveTo>
                      <a:lnTo>
                        <a:pt x="165099" y="0"/>
                      </a:lnTo>
                    </a:path>
                  </a:pathLst>
                </a:custGeom>
                <a:noFill/>
                <a:ln w="15478">
                  <a:solidFill>
                    <a:srgbClr val="8A1700"/>
                  </a:solidFill>
                </a:ln>
              </p:spPr>
            </p:sp>
            <p:sp>
              <p:nvSpPr>
                <p:cNvPr id="28" name="Freeform 28"/>
                <p:cNvSpPr/>
                <p:nvPr/>
              </p:nvSpPr>
              <p:spPr>
                <a:xfrm>
                  <a:off x="669925" y="1928812"/>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15478">
                  <a:solidFill>
                    <a:srgbClr val="8A1700"/>
                  </a:solidFill>
                </a:ln>
              </p:spPr>
            </p:sp>
          </p:grpSp>
          <p:sp>
            <p:nvSpPr>
              <p:cNvPr id="30" name="TextBox 30"/>
              <p:cNvSpPr txBox="1"/>
              <p:nvPr/>
            </p:nvSpPr>
            <p:spPr>
              <a:xfrm>
                <a:off x="966597" y="1780699"/>
                <a:ext cx="405689"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活跃客</a:t>
                </a:r>
              </a:p>
            </p:txBody>
          </p:sp>
          <p:sp>
            <p:nvSpPr>
              <p:cNvPr id="31" name="TextBox 31"/>
              <p:cNvSpPr txBox="1"/>
              <p:nvPr/>
            </p:nvSpPr>
            <p:spPr>
              <a:xfrm>
                <a:off x="966788" y="1970961"/>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0403A"/>
                    </a:solidFill>
                    <a:latin typeface="+mn-lt"/>
                    <a:ea typeface="+mn-ea"/>
                    <a:cs typeface="+mn-cs"/>
                  </a:rPr>
                  <a:t>有一定交易往来，</a:t>
                </a:r>
                <a:br/>
                <a:r>
                  <a:rPr lang="zh-CN" sz="710" dirty="0">
                    <a:solidFill>
                      <a:srgbClr val="60403A"/>
                    </a:solidFill>
                    <a:latin typeface="+mn-lt"/>
                    <a:ea typeface="+mn-ea"/>
                    <a:cs typeface="+mn-cs"/>
                  </a:rPr>
                  <a:t>使用频率提升</a:t>
                </a:r>
              </a:p>
            </p:txBody>
          </p:sp>
          <p:sp>
            <p:nvSpPr>
              <p:cNvPr id="32" name="TextBox 32"/>
              <p:cNvSpPr txBox="1"/>
              <p:nvPr/>
            </p:nvSpPr>
            <p:spPr>
              <a:xfrm>
                <a:off x="2262188" y="1866186"/>
                <a:ext cx="127190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0403A"/>
                    </a:solidFill>
                    <a:latin typeface="+mn-lt"/>
                    <a:ea typeface="+mn-ea"/>
                    <a:cs typeface="+mn-cs"/>
                  </a:rPr>
                  <a:t>特征：中等贡献，中等粘性</a:t>
                </a:r>
                <a:br/>
                <a:r>
                  <a:rPr lang="zh-CN" sz="710" dirty="0">
                    <a:solidFill>
                      <a:srgbClr val="60403A"/>
                    </a:solidFill>
                    <a:latin typeface="+mn-lt"/>
                    <a:ea typeface="+mn-ea"/>
                    <a:cs typeface="+mn-cs"/>
                  </a:rPr>
                  <a:t>目标：提升粘性，增加产品使用</a:t>
                </a:r>
              </a:p>
            </p:txBody>
          </p:sp>
        </p:grpSp>
        <p:grpSp>
          <p:nvGrpSpPr>
            <p:cNvPr id="41" name="lc-row-3"/>
            <p:cNvGrpSpPr/>
            <p:nvPr/>
          </p:nvGrpSpPr>
          <p:grpSpPr>
            <a:xfrm>
              <a:off x="304800" y="2362200"/>
              <a:ext cx="3714750" cy="647700"/>
              <a:chOff x="304800" y="2362200"/>
              <a:chExt cx="3714750" cy="647700"/>
            </a:xfrm>
          </p:grpSpPr>
          <p:sp>
            <p:nvSpPr>
              <p:cNvPr id="34" name="Rectangle 34"/>
              <p:cNvSpPr/>
              <p:nvPr/>
            </p:nvSpPr>
            <p:spPr>
              <a:xfrm>
                <a:off x="533400" y="2362200"/>
                <a:ext cx="3486150" cy="647700"/>
              </a:xfrm>
              <a:prstGeom prst="roundRect">
                <a:avLst>
                  <a:gd name="adj" fmla="val 8824"/>
                </a:avLst>
              </a:prstGeom>
              <a:solidFill>
                <a:srgbClr val="F5F8FE"/>
              </a:solidFill>
              <a:ln w="9525">
                <a:solidFill>
                  <a:srgbClr val="C9D5EA"/>
                </a:solidFill>
              </a:ln>
            </p:spPr>
          </p:sp>
          <p:sp>
            <p:nvSpPr>
              <p:cNvPr id="35" name="Ellipse 35"/>
              <p:cNvSpPr/>
              <p:nvPr/>
            </p:nvSpPr>
            <p:spPr>
              <a:xfrm>
                <a:off x="304800" y="2590800"/>
                <a:ext cx="190500" cy="190500"/>
              </a:xfrm>
              <a:prstGeom prst="ellipse">
                <a:avLst/>
              </a:prstGeom>
              <a:solidFill>
                <a:srgbClr val="8A1700"/>
              </a:solidFill>
              <a:ln>
                <a:noFill/>
              </a:ln>
            </p:spPr>
          </p:sp>
          <p:sp>
            <p:nvSpPr>
              <p:cNvPr id="36" name="TextBox 36"/>
              <p:cNvSpPr txBox="1"/>
              <p:nvPr/>
            </p:nvSpPr>
            <p:spPr>
              <a:xfrm>
                <a:off x="336980" y="26431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37" name="Freeform 37"/>
              <p:cNvSpPr/>
              <p:nvPr/>
            </p:nvSpPr>
            <p:spPr>
              <a:xfrm>
                <a:off x="659606" y="2614612"/>
                <a:ext cx="185737" cy="123825"/>
              </a:xfrm>
              <a:custGeom>
                <a:avLst/>
                <a:gdLst/>
                <a:ahLst/>
                <a:cxnLst/>
                <a:rect l="l" t="t" r="r" b="b"/>
                <a:pathLst>
                  <a:path w="185737" h="123825">
                    <a:moveTo>
                      <a:pt x="92868" y="0"/>
                    </a:moveTo>
                    <a:lnTo>
                      <a:pt x="134143" y="61912"/>
                    </a:lnTo>
                    <a:lnTo>
                      <a:pt x="185737" y="20637"/>
                    </a:lnTo>
                    <a:lnTo>
                      <a:pt x="165099" y="123825"/>
                    </a:lnTo>
                    <a:lnTo>
                      <a:pt x="20637" y="123825"/>
                    </a:lnTo>
                    <a:lnTo>
                      <a:pt x="0" y="20637"/>
                    </a:lnTo>
                    <a:lnTo>
                      <a:pt x="51594" y="61912"/>
                    </a:lnTo>
                    <a:lnTo>
                      <a:pt x="92868" y="0"/>
                    </a:lnTo>
                  </a:path>
                </a:pathLst>
              </a:custGeom>
              <a:noFill/>
              <a:ln w="15478">
                <a:solidFill>
                  <a:srgbClr val="8A1700"/>
                </a:solidFill>
              </a:ln>
            </p:spPr>
          </p:sp>
          <p:sp>
            <p:nvSpPr>
              <p:cNvPr id="38" name="TextBox 38"/>
              <p:cNvSpPr txBox="1"/>
              <p:nvPr/>
            </p:nvSpPr>
            <p:spPr>
              <a:xfrm>
                <a:off x="966597" y="2466499"/>
                <a:ext cx="405689"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价值客</a:t>
                </a:r>
              </a:p>
            </p:txBody>
          </p:sp>
          <p:sp>
            <p:nvSpPr>
              <p:cNvPr id="39" name="TextBox 39"/>
              <p:cNvSpPr txBox="1"/>
              <p:nvPr/>
            </p:nvSpPr>
            <p:spPr>
              <a:xfrm>
                <a:off x="966788" y="2656761"/>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0403A"/>
                    </a:solidFill>
                    <a:latin typeface="+mn-lt"/>
                    <a:ea typeface="+mn-ea"/>
                    <a:cs typeface="+mn-cs"/>
                  </a:rPr>
                  <a:t>贡献较高，产品持有</a:t>
                </a:r>
                <a:br/>
                <a:r>
                  <a:rPr lang="zh-CN" sz="710" dirty="0">
                    <a:solidFill>
                      <a:srgbClr val="60403A"/>
                    </a:solidFill>
                    <a:latin typeface="+mn-lt"/>
                    <a:ea typeface="+mn-ea"/>
                    <a:cs typeface="+mn-cs"/>
                  </a:rPr>
                  <a:t>丰富，关系稳固</a:t>
                </a:r>
              </a:p>
            </p:txBody>
          </p:sp>
          <p:sp>
            <p:nvSpPr>
              <p:cNvPr id="40" name="TextBox 40"/>
              <p:cNvSpPr txBox="1"/>
              <p:nvPr/>
            </p:nvSpPr>
            <p:spPr>
              <a:xfrm>
                <a:off x="2262188" y="2551986"/>
                <a:ext cx="109156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0403A"/>
                    </a:solidFill>
                    <a:latin typeface="+mn-lt"/>
                    <a:ea typeface="+mn-ea"/>
                    <a:cs typeface="+mn-cs"/>
                  </a:rPr>
                  <a:t>特征：高贡献，高粘性</a:t>
                </a:r>
                <a:br/>
                <a:r>
                  <a:rPr lang="zh-CN" sz="710" dirty="0">
                    <a:solidFill>
                      <a:srgbClr val="60403A"/>
                    </a:solidFill>
                    <a:latin typeface="+mn-lt"/>
                    <a:ea typeface="+mn-ea"/>
                    <a:cs typeface="+mn-cs"/>
                  </a:rPr>
                  <a:t>目标：深度经营，提升价值</a:t>
                </a:r>
              </a:p>
            </p:txBody>
          </p:sp>
        </p:grpSp>
        <p:grpSp>
          <p:nvGrpSpPr>
            <p:cNvPr id="53" name="lc-row-4"/>
            <p:cNvGrpSpPr/>
            <p:nvPr/>
          </p:nvGrpSpPr>
          <p:grpSpPr>
            <a:xfrm>
              <a:off x="304800" y="3048000"/>
              <a:ext cx="3714750" cy="647700"/>
              <a:chOff x="304800" y="3048000"/>
              <a:chExt cx="3714750" cy="647700"/>
            </a:xfrm>
          </p:grpSpPr>
          <p:sp>
            <p:nvSpPr>
              <p:cNvPr id="42" name="Rectangle 42"/>
              <p:cNvSpPr/>
              <p:nvPr/>
            </p:nvSpPr>
            <p:spPr>
              <a:xfrm>
                <a:off x="533400" y="3048000"/>
                <a:ext cx="3486150" cy="647700"/>
              </a:xfrm>
              <a:prstGeom prst="roundRect">
                <a:avLst>
                  <a:gd name="adj" fmla="val 8824"/>
                </a:avLst>
              </a:prstGeom>
              <a:solidFill>
                <a:srgbClr val="F5F8FE"/>
              </a:solidFill>
              <a:ln w="9525">
                <a:solidFill>
                  <a:srgbClr val="C9D5EA"/>
                </a:solidFill>
              </a:ln>
            </p:spPr>
          </p:sp>
          <p:sp>
            <p:nvSpPr>
              <p:cNvPr id="43" name="Ellipse 43"/>
              <p:cNvSpPr/>
              <p:nvPr/>
            </p:nvSpPr>
            <p:spPr>
              <a:xfrm>
                <a:off x="304800" y="3276600"/>
                <a:ext cx="190500" cy="190500"/>
              </a:xfrm>
              <a:prstGeom prst="ellipse">
                <a:avLst/>
              </a:prstGeom>
              <a:solidFill>
                <a:srgbClr val="8A1700"/>
              </a:solidFill>
              <a:ln>
                <a:noFill/>
              </a:ln>
            </p:spPr>
          </p:sp>
          <p:sp>
            <p:nvSpPr>
              <p:cNvPr id="44" name="TextBox 44"/>
              <p:cNvSpPr txBox="1"/>
              <p:nvPr/>
            </p:nvSpPr>
            <p:spPr>
              <a:xfrm>
                <a:off x="336980" y="33289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grpSp>
            <p:nvGrpSpPr>
              <p:cNvPr id="49" name="Group 49"/>
              <p:cNvGrpSpPr/>
              <p:nvPr/>
            </p:nvGrpSpPr>
            <p:grpSpPr>
              <a:xfrm>
                <a:off x="690562" y="3269456"/>
                <a:ext cx="165100" cy="196056"/>
                <a:chOff x="690562" y="3269456"/>
                <a:chExt cx="165100" cy="196056"/>
              </a:xfrm>
            </p:grpSpPr>
            <p:sp>
              <p:nvSpPr>
                <p:cNvPr id="45" name="Freeform 45"/>
                <p:cNvSpPr/>
                <p:nvPr/>
              </p:nvSpPr>
              <p:spPr>
                <a:xfrm>
                  <a:off x="711200" y="32694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15478">
                  <a:solidFill>
                    <a:srgbClr val="8A1700"/>
                  </a:solidFill>
                </a:ln>
              </p:spPr>
            </p:sp>
            <p:sp>
              <p:nvSpPr>
                <p:cNvPr id="46" name="Freeform 46"/>
                <p:cNvSpPr/>
                <p:nvPr/>
              </p:nvSpPr>
              <p:spPr>
                <a:xfrm>
                  <a:off x="690562" y="3393281"/>
                  <a:ext cx="77390" cy="61912"/>
                </a:xfrm>
                <a:custGeom>
                  <a:avLst/>
                  <a:gdLst/>
                  <a:ahLst/>
                  <a:cxnLst/>
                  <a:rect l="l" t="t" r="r" b="b"/>
                  <a:pathLst>
                    <a:path w="77390" h="61912">
                      <a:moveTo>
                        <a:pt x="0" y="61912"/>
                      </a:moveTo>
                      <a:lnTo>
                        <a:pt x="0" y="41275"/>
                      </a:lnTo>
                      <a:cubicBezTo>
                        <a:pt x="0" y="18479"/>
                        <a:pt x="18479" y="0"/>
                        <a:pt x="41275" y="0"/>
                      </a:cubicBezTo>
                      <a:lnTo>
                        <a:pt x="77390" y="0"/>
                      </a:lnTo>
                    </a:path>
                  </a:pathLst>
                </a:custGeom>
                <a:noFill/>
                <a:ln w="15478">
                  <a:solidFill>
                    <a:srgbClr val="8A1700"/>
                  </a:solidFill>
                </a:ln>
              </p:spPr>
            </p:sp>
            <p:sp>
              <p:nvSpPr>
                <p:cNvPr id="47" name="Freeform 47"/>
                <p:cNvSpPr/>
                <p:nvPr/>
              </p:nvSpPr>
              <p:spPr>
                <a:xfrm>
                  <a:off x="804068" y="3413918"/>
                  <a:ext cx="51594" cy="51594"/>
                </a:xfrm>
                <a:custGeom>
                  <a:avLst/>
                  <a:gdLst/>
                  <a:ahLst/>
                  <a:cxnLst/>
                  <a:rect l="l" t="t" r="r" b="b"/>
                  <a:pathLst>
                    <a:path w="51594" h="51594">
                      <a:moveTo>
                        <a:pt x="51594" y="51594"/>
                      </a:moveTo>
                      <a:lnTo>
                        <a:pt x="0" y="0"/>
                      </a:lnTo>
                    </a:path>
                  </a:pathLst>
                </a:custGeom>
                <a:noFill/>
                <a:ln w="15478">
                  <a:solidFill>
                    <a:srgbClr val="8A1700"/>
                  </a:solidFill>
                </a:ln>
              </p:spPr>
            </p:sp>
            <p:sp>
              <p:nvSpPr>
                <p:cNvPr id="48" name="Freeform 48"/>
                <p:cNvSpPr/>
                <p:nvPr/>
              </p:nvSpPr>
              <p:spPr>
                <a:xfrm>
                  <a:off x="804068" y="3413918"/>
                  <a:ext cx="51594" cy="51594"/>
                </a:xfrm>
                <a:custGeom>
                  <a:avLst/>
                  <a:gdLst/>
                  <a:ahLst/>
                  <a:cxnLst/>
                  <a:rect l="l" t="t" r="r" b="b"/>
                  <a:pathLst>
                    <a:path w="51594" h="51594">
                      <a:moveTo>
                        <a:pt x="0" y="51594"/>
                      </a:moveTo>
                      <a:lnTo>
                        <a:pt x="51594" y="0"/>
                      </a:lnTo>
                    </a:path>
                  </a:pathLst>
                </a:custGeom>
                <a:noFill/>
                <a:ln w="15478">
                  <a:solidFill>
                    <a:srgbClr val="8A1700"/>
                  </a:solidFill>
                </a:ln>
              </p:spPr>
            </p:sp>
          </p:grpSp>
          <p:sp>
            <p:nvSpPr>
              <p:cNvPr id="50" name="TextBox 50"/>
              <p:cNvSpPr txBox="1"/>
              <p:nvPr/>
            </p:nvSpPr>
            <p:spPr>
              <a:xfrm>
                <a:off x="966597" y="3152299"/>
                <a:ext cx="405689"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沉默客</a:t>
                </a:r>
              </a:p>
            </p:txBody>
          </p:sp>
          <p:sp>
            <p:nvSpPr>
              <p:cNvPr id="51" name="TextBox 51"/>
              <p:cNvSpPr txBox="1"/>
              <p:nvPr/>
            </p:nvSpPr>
            <p:spPr>
              <a:xfrm>
                <a:off x="966788" y="3342561"/>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0403A"/>
                    </a:solidFill>
                    <a:latin typeface="+mn-lt"/>
                    <a:ea typeface="+mn-ea"/>
                    <a:cs typeface="+mn-cs"/>
                  </a:rPr>
                  <a:t>互动减少，使用频率</a:t>
                </a:r>
                <a:br/>
                <a:r>
                  <a:rPr lang="zh-CN" sz="710" dirty="0">
                    <a:solidFill>
                      <a:srgbClr val="60403A"/>
                    </a:solidFill>
                    <a:latin typeface="+mn-lt"/>
                    <a:ea typeface="+mn-ea"/>
                    <a:cs typeface="+mn-cs"/>
                  </a:rPr>
                  <a:t>低，贡献下降</a:t>
                </a:r>
              </a:p>
            </p:txBody>
          </p:sp>
          <p:sp>
            <p:nvSpPr>
              <p:cNvPr id="52" name="TextBox 52"/>
              <p:cNvSpPr txBox="1"/>
              <p:nvPr/>
            </p:nvSpPr>
            <p:spPr>
              <a:xfrm>
                <a:off x="2262188" y="3237786"/>
                <a:ext cx="109156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0403A"/>
                    </a:solidFill>
                    <a:latin typeface="+mn-lt"/>
                    <a:ea typeface="+mn-ea"/>
                    <a:cs typeface="+mn-cs"/>
                  </a:rPr>
                  <a:t>特征：低贡献，低粘性</a:t>
                </a:r>
                <a:br/>
                <a:r>
                  <a:rPr lang="zh-CN" sz="710" dirty="0">
                    <a:solidFill>
                      <a:srgbClr val="60403A"/>
                    </a:solidFill>
                    <a:latin typeface="+mn-lt"/>
                    <a:ea typeface="+mn-ea"/>
                    <a:cs typeface="+mn-cs"/>
                  </a:rPr>
                  <a:t>目标：唤醒激活，恢复互动</a:t>
                </a:r>
              </a:p>
            </p:txBody>
          </p:sp>
        </p:grpSp>
        <p:grpSp>
          <p:nvGrpSpPr>
            <p:cNvPr id="64" name="lc-row-5"/>
            <p:cNvGrpSpPr/>
            <p:nvPr/>
          </p:nvGrpSpPr>
          <p:grpSpPr>
            <a:xfrm>
              <a:off x="304800" y="3733800"/>
              <a:ext cx="3714750" cy="647700"/>
              <a:chOff x="304800" y="3733800"/>
              <a:chExt cx="3714750" cy="647700"/>
            </a:xfrm>
          </p:grpSpPr>
          <p:sp>
            <p:nvSpPr>
              <p:cNvPr id="54" name="Rectangle 54"/>
              <p:cNvSpPr/>
              <p:nvPr/>
            </p:nvSpPr>
            <p:spPr>
              <a:xfrm>
                <a:off x="533400" y="3733800"/>
                <a:ext cx="3486150" cy="647700"/>
              </a:xfrm>
              <a:prstGeom prst="roundRect">
                <a:avLst>
                  <a:gd name="adj" fmla="val 8824"/>
                </a:avLst>
              </a:prstGeom>
              <a:solidFill>
                <a:srgbClr val="F5F8FE"/>
              </a:solidFill>
              <a:ln w="9525">
                <a:solidFill>
                  <a:srgbClr val="C9D5EA"/>
                </a:solidFill>
              </a:ln>
            </p:spPr>
          </p:sp>
          <p:sp>
            <p:nvSpPr>
              <p:cNvPr id="55" name="Ellipse 55"/>
              <p:cNvSpPr/>
              <p:nvPr/>
            </p:nvSpPr>
            <p:spPr>
              <a:xfrm>
                <a:off x="304800" y="3962400"/>
                <a:ext cx="190500" cy="190500"/>
              </a:xfrm>
              <a:prstGeom prst="ellipse">
                <a:avLst/>
              </a:prstGeom>
              <a:solidFill>
                <a:srgbClr val="8A1700"/>
              </a:solidFill>
              <a:ln>
                <a:noFill/>
              </a:ln>
            </p:spPr>
          </p:sp>
          <p:sp>
            <p:nvSpPr>
              <p:cNvPr id="56" name="TextBox 56"/>
              <p:cNvSpPr txBox="1"/>
              <p:nvPr/>
            </p:nvSpPr>
            <p:spPr>
              <a:xfrm>
                <a:off x="336980" y="40147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grpSp>
            <p:nvGrpSpPr>
              <p:cNvPr id="60" name="Group 60"/>
              <p:cNvGrpSpPr/>
              <p:nvPr/>
            </p:nvGrpSpPr>
            <p:grpSpPr>
              <a:xfrm>
                <a:off x="648409" y="3951828"/>
                <a:ext cx="208123" cy="178805"/>
                <a:chOff x="648409" y="3951828"/>
                <a:chExt cx="208123" cy="178805"/>
              </a:xfrm>
            </p:grpSpPr>
            <p:sp>
              <p:nvSpPr>
                <p:cNvPr id="57" name="Freeform 57"/>
                <p:cNvSpPr/>
                <p:nvPr/>
              </p:nvSpPr>
              <p:spPr>
                <a:xfrm>
                  <a:off x="752475" y="4017168"/>
                  <a:ext cx="9525" cy="41275"/>
                </a:xfrm>
                <a:custGeom>
                  <a:avLst/>
                  <a:gdLst/>
                  <a:ahLst/>
                  <a:cxnLst/>
                  <a:rect l="l" t="t" r="r" b="b"/>
                  <a:pathLst>
                    <a:path w="9525" h="41275">
                      <a:moveTo>
                        <a:pt x="0" y="0"/>
                      </a:moveTo>
                      <a:lnTo>
                        <a:pt x="0" y="41275"/>
                      </a:lnTo>
                    </a:path>
                  </a:pathLst>
                </a:custGeom>
                <a:noFill/>
                <a:ln w="15478">
                  <a:solidFill>
                    <a:srgbClr val="8A1700"/>
                  </a:solidFill>
                </a:ln>
              </p:spPr>
            </p:sp>
            <p:sp>
              <p:nvSpPr>
                <p:cNvPr id="58" name="Freeform 58"/>
                <p:cNvSpPr/>
                <p:nvPr/>
              </p:nvSpPr>
              <p:spPr>
                <a:xfrm>
                  <a:off x="648409" y="3951828"/>
                  <a:ext cx="208123" cy="178805"/>
                </a:xfrm>
                <a:custGeom>
                  <a:avLst/>
                  <a:gdLst/>
                  <a:ahLst/>
                  <a:cxnLst/>
                  <a:rect l="l" t="t" r="r" b="b"/>
                  <a:pathLst>
                    <a:path w="208123" h="178805">
                      <a:moveTo>
                        <a:pt x="87174" y="9526"/>
                      </a:moveTo>
                      <a:lnTo>
                        <a:pt x="3530" y="149180"/>
                      </a:lnTo>
                      <a:cubicBezTo>
                        <a:pt x="21" y="155256"/>
                        <a:pt x="0" y="162738"/>
                        <a:pt x="3474" y="168834"/>
                      </a:cubicBezTo>
                      <a:cubicBezTo>
                        <a:pt x="6948" y="174931"/>
                        <a:pt x="13395" y="178726"/>
                        <a:pt x="20412" y="178805"/>
                      </a:cubicBezTo>
                      <a:lnTo>
                        <a:pt x="187719" y="178805"/>
                      </a:lnTo>
                      <a:cubicBezTo>
                        <a:pt x="194732" y="178724"/>
                        <a:pt x="201176" y="174930"/>
                        <a:pt x="204650" y="168837"/>
                      </a:cubicBezTo>
                      <a:cubicBezTo>
                        <a:pt x="208123" y="162744"/>
                        <a:pt x="208104" y="155266"/>
                        <a:pt x="204601" y="149190"/>
                      </a:cubicBezTo>
                      <a:lnTo>
                        <a:pt x="120957" y="9516"/>
                      </a:lnTo>
                      <a:cubicBezTo>
                        <a:pt x="117378" y="3609"/>
                        <a:pt x="110973" y="0"/>
                        <a:pt x="104065" y="0"/>
                      </a:cubicBezTo>
                      <a:cubicBezTo>
                        <a:pt x="97158" y="0"/>
                        <a:pt x="90753" y="3609"/>
                        <a:pt x="87174" y="9516"/>
                      </a:cubicBezTo>
                    </a:path>
                  </a:pathLst>
                </a:custGeom>
                <a:noFill/>
                <a:ln w="15478">
                  <a:solidFill>
                    <a:srgbClr val="8A1700"/>
                  </a:solidFill>
                </a:ln>
              </p:spPr>
            </p:sp>
            <p:sp>
              <p:nvSpPr>
                <p:cNvPr id="59" name="Freeform 59"/>
                <p:cNvSpPr/>
                <p:nvPr/>
              </p:nvSpPr>
              <p:spPr>
                <a:xfrm>
                  <a:off x="752475" y="4089399"/>
                  <a:ext cx="9525" cy="9525"/>
                </a:xfrm>
                <a:custGeom>
                  <a:avLst/>
                  <a:gdLst/>
                  <a:ahLst/>
                  <a:cxnLst/>
                  <a:rect l="l" t="t" r="r" b="b"/>
                  <a:pathLst>
                    <a:path w="9525" h="9525">
                      <a:moveTo>
                        <a:pt x="0" y="0"/>
                      </a:moveTo>
                      <a:lnTo>
                        <a:pt x="103" y="0"/>
                      </a:lnTo>
                    </a:path>
                  </a:pathLst>
                </a:custGeom>
                <a:noFill/>
                <a:ln w="15478">
                  <a:solidFill>
                    <a:srgbClr val="8A1700"/>
                  </a:solidFill>
                </a:ln>
              </p:spPr>
            </p:sp>
          </p:grpSp>
          <p:sp>
            <p:nvSpPr>
              <p:cNvPr id="61" name="TextBox 61"/>
              <p:cNvSpPr txBox="1"/>
              <p:nvPr/>
            </p:nvSpPr>
            <p:spPr>
              <a:xfrm>
                <a:off x="966597" y="3838099"/>
                <a:ext cx="537616"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预流失客</a:t>
                </a:r>
              </a:p>
            </p:txBody>
          </p:sp>
          <p:sp>
            <p:nvSpPr>
              <p:cNvPr id="62" name="TextBox 62"/>
              <p:cNvSpPr txBox="1"/>
              <p:nvPr/>
            </p:nvSpPr>
            <p:spPr>
              <a:xfrm>
                <a:off x="966788" y="4028361"/>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0403A"/>
                    </a:solidFill>
                    <a:latin typeface="+mn-lt"/>
                    <a:ea typeface="+mn-ea"/>
                    <a:cs typeface="+mn-cs"/>
                  </a:rPr>
                  <a:t>活跃度持续下降，</a:t>
                </a:r>
                <a:br/>
                <a:r>
                  <a:rPr lang="zh-CN" sz="710" dirty="0">
                    <a:solidFill>
                      <a:srgbClr val="60403A"/>
                    </a:solidFill>
                    <a:latin typeface="+mn-lt"/>
                    <a:ea typeface="+mn-ea"/>
                    <a:cs typeface="+mn-cs"/>
                  </a:rPr>
                  <a:t>存在流失风险</a:t>
                </a:r>
              </a:p>
            </p:txBody>
          </p:sp>
          <p:sp>
            <p:nvSpPr>
              <p:cNvPr id="63" name="TextBox 63"/>
              <p:cNvSpPr txBox="1"/>
              <p:nvPr/>
            </p:nvSpPr>
            <p:spPr>
              <a:xfrm>
                <a:off x="2262188" y="3923586"/>
                <a:ext cx="109156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60403A"/>
                    </a:solidFill>
                    <a:latin typeface="+mn-lt"/>
                    <a:ea typeface="+mn-ea"/>
                    <a:cs typeface="+mn-cs"/>
                  </a:rPr>
                  <a:t>特征：低贡献，低粘性</a:t>
                </a:r>
                <a:br/>
                <a:r>
                  <a:rPr lang="zh-CN" sz="710" dirty="0">
                    <a:solidFill>
                      <a:srgbClr val="60403A"/>
                    </a:solidFill>
                    <a:latin typeface="+mn-lt"/>
                    <a:ea typeface="+mn-ea"/>
                    <a:cs typeface="+mn-cs"/>
                  </a:rPr>
                  <a:t>目标：挽回留存，降低流失</a:t>
                </a:r>
              </a:p>
            </p:txBody>
          </p:sp>
        </p:grpSp>
      </p:grpSp>
      <p:grpSp>
        <p:nvGrpSpPr>
          <p:cNvPr id="102" name="value-pyramid"/>
          <p:cNvGrpSpPr/>
          <p:nvPr/>
        </p:nvGrpSpPr>
        <p:grpSpPr>
          <a:xfrm>
            <a:off x="3977164" y="784622"/>
            <a:ext cx="3452336" cy="3720704"/>
            <a:chOff x="3977164" y="784622"/>
            <a:chExt cx="3452336" cy="3720704"/>
          </a:xfrm>
        </p:grpSpPr>
        <p:grpSp>
          <p:nvGrpSpPr>
            <p:cNvPr id="68" name="Group 68"/>
            <p:cNvGrpSpPr/>
            <p:nvPr/>
          </p:nvGrpSpPr>
          <p:grpSpPr>
            <a:xfrm>
              <a:off x="4152900" y="793750"/>
              <a:ext cx="114300" cy="93409"/>
              <a:chOff x="4152900" y="793750"/>
              <a:chExt cx="114300" cy="93409"/>
            </a:xfrm>
          </p:grpSpPr>
          <p:sp>
            <p:nvSpPr>
              <p:cNvPr id="66" name="Freeform 66"/>
              <p:cNvSpPr/>
              <p:nvPr/>
            </p:nvSpPr>
            <p:spPr>
              <a:xfrm>
                <a:off x="4152900" y="793750"/>
                <a:ext cx="114300" cy="93409"/>
              </a:xfrm>
              <a:custGeom>
                <a:avLst/>
                <a:gdLst/>
                <a:ahLst/>
                <a:cxnLst/>
                <a:rect l="l" t="t" r="r" b="b"/>
                <a:pathLst>
                  <a:path w="114300" h="93409">
                    <a:moveTo>
                      <a:pt x="19050" y="0"/>
                    </a:moveTo>
                    <a:lnTo>
                      <a:pt x="95250" y="0"/>
                    </a:lnTo>
                    <a:lnTo>
                      <a:pt x="114300" y="31750"/>
                    </a:lnTo>
                    <a:lnTo>
                      <a:pt x="60325" y="92075"/>
                    </a:lnTo>
                    <a:cubicBezTo>
                      <a:pt x="59489" y="92928"/>
                      <a:pt x="58345" y="93409"/>
                      <a:pt x="57150" y="93409"/>
                    </a:cubicBezTo>
                    <a:cubicBezTo>
                      <a:pt x="55955" y="93409"/>
                      <a:pt x="54811" y="92928"/>
                      <a:pt x="53975" y="92075"/>
                    </a:cubicBezTo>
                    <a:lnTo>
                      <a:pt x="0" y="31750"/>
                    </a:lnTo>
                    <a:lnTo>
                      <a:pt x="19050" y="0"/>
                    </a:lnTo>
                  </a:path>
                </a:pathLst>
              </a:custGeom>
              <a:noFill/>
              <a:ln w="12700">
                <a:solidFill>
                  <a:srgbClr val="C02C0A"/>
                </a:solidFill>
              </a:ln>
            </p:spPr>
          </p:sp>
          <p:sp>
            <p:nvSpPr>
              <p:cNvPr id="67" name="Freeform 67"/>
              <p:cNvSpPr/>
              <p:nvPr/>
            </p:nvSpPr>
            <p:spPr>
              <a:xfrm>
                <a:off x="4184650" y="817880"/>
                <a:ext cx="12700" cy="20320"/>
              </a:xfrm>
              <a:custGeom>
                <a:avLst/>
                <a:gdLst/>
                <a:ahLst/>
                <a:cxnLst/>
                <a:rect l="l" t="t" r="r" b="b"/>
                <a:pathLst>
                  <a:path w="12700" h="20320">
                    <a:moveTo>
                      <a:pt x="12700" y="20320"/>
                    </a:moveTo>
                    <a:lnTo>
                      <a:pt x="0" y="6350"/>
                    </a:lnTo>
                    <a:lnTo>
                      <a:pt x="3810" y="0"/>
                    </a:lnTo>
                  </a:path>
                </a:pathLst>
              </a:custGeom>
              <a:noFill/>
              <a:ln w="12700">
                <a:solidFill>
                  <a:srgbClr val="C02C0A"/>
                </a:solidFill>
              </a:ln>
            </p:spPr>
          </p:sp>
        </p:grpSp>
        <p:sp>
          <p:nvSpPr>
            <p:cNvPr id="69" name="TextBox 69"/>
            <p:cNvSpPr txBox="1"/>
            <p:nvPr/>
          </p:nvSpPr>
          <p:spPr>
            <a:xfrm>
              <a:off x="4338638" y="784622"/>
              <a:ext cx="2793467" cy="183356"/>
            </a:xfrm>
            <a:prstGeom prst="rect">
              <a:avLst/>
            </a:prstGeom>
            <a:noFill/>
            <a:ln>
              <a:noFill/>
            </a:ln>
          </p:spPr>
          <p:txBody>
            <a:bodyPr wrap="none" lIns="0" tIns="0" rIns="0" bIns="0" anchor="t" anchorCtr="0">
              <a:spAutoFit/>
            </a:bodyPr>
            <a:lstStyle/>
            <a:p>
              <a:pPr algn="l"/>
              <a:r>
                <a:rPr lang="zh-CN" sz="940" b="1" dirty="0">
                  <a:solidFill>
                    <a:srgbClr val="C02C0A"/>
                  </a:solidFill>
                  <a:latin typeface="+mn-lt"/>
                  <a:ea typeface="+mn-ea"/>
                  <a:cs typeface="+mn-cs"/>
                </a:rPr>
                <a:t>价值分层：</a:t>
              </a:r>
              <a:r>
                <a:rPr lang="zh-CN" sz="940" b="1" dirty="0">
                  <a:solidFill>
                    <a:srgbClr val="520E00"/>
                  </a:solidFill>
                  <a:latin typeface="+mn-lt"/>
                  <a:ea typeface="+mn-ea"/>
                  <a:cs typeface="+mn-cs"/>
                </a:rPr>
                <a:t>高价值、高潜力、稳定型、价格敏感型</a:t>
              </a:r>
            </a:p>
          </p:txBody>
        </p:sp>
        <p:sp>
          <p:nvSpPr>
            <p:cNvPr id="70" name="Line 70"/>
            <p:cNvSpPr/>
            <p:nvPr/>
          </p:nvSpPr>
          <p:spPr>
            <a:xfrm flipV="1">
              <a:off x="4267200" y="1066800"/>
              <a:ext cx="1" cy="3067050"/>
            </a:xfrm>
            <a:prstGeom prst="line">
              <a:avLst/>
            </a:prstGeom>
            <a:noFill/>
            <a:ln w="14288">
              <a:solidFill>
                <a:srgbClr val="8A1700"/>
              </a:solidFill>
              <a:tailEnd type="triangle" w="lg" len="lg"/>
            </a:ln>
          </p:spPr>
        </p:sp>
        <p:sp>
          <p:nvSpPr>
            <p:cNvPr id="71" name="TextBox 71"/>
            <p:cNvSpPr txBox="1"/>
            <p:nvPr/>
          </p:nvSpPr>
          <p:spPr>
            <a:xfrm>
              <a:off x="4119232" y="1047036"/>
              <a:ext cx="105105" cy="140494"/>
            </a:xfrm>
            <a:prstGeom prst="rect">
              <a:avLst/>
            </a:prstGeom>
            <a:noFill/>
            <a:ln>
              <a:noFill/>
            </a:ln>
          </p:spPr>
          <p:txBody>
            <a:bodyPr wrap="none" lIns="0" tIns="0" rIns="0" bIns="0" anchor="t" anchorCtr="0">
              <a:spAutoFit/>
            </a:bodyPr>
            <a:lstStyle/>
            <a:p>
              <a:pPr algn="r"/>
              <a:r>
                <a:rPr lang="zh-CN" sz="710" dirty="0">
                  <a:solidFill>
                    <a:srgbClr val="60403A"/>
                  </a:solidFill>
                  <a:latin typeface="+mn-lt"/>
                  <a:ea typeface="+mn-ea"/>
                  <a:cs typeface="+mn-cs"/>
                </a:rPr>
                <a:t>高</a:t>
              </a:r>
            </a:p>
          </p:txBody>
        </p:sp>
        <p:sp>
          <p:nvSpPr>
            <p:cNvPr id="72" name="TextBox 72"/>
            <p:cNvSpPr txBox="1"/>
            <p:nvPr/>
          </p:nvSpPr>
          <p:spPr>
            <a:xfrm>
              <a:off x="4119232" y="4075986"/>
              <a:ext cx="105105" cy="140494"/>
            </a:xfrm>
            <a:prstGeom prst="rect">
              <a:avLst/>
            </a:prstGeom>
            <a:noFill/>
            <a:ln>
              <a:noFill/>
            </a:ln>
          </p:spPr>
          <p:txBody>
            <a:bodyPr wrap="none" lIns="0" tIns="0" rIns="0" bIns="0" anchor="t" anchorCtr="0">
              <a:spAutoFit/>
            </a:bodyPr>
            <a:lstStyle/>
            <a:p>
              <a:pPr algn="r"/>
              <a:r>
                <a:rPr lang="zh-CN" sz="710" dirty="0">
                  <a:solidFill>
                    <a:srgbClr val="60403A"/>
                  </a:solidFill>
                  <a:latin typeface="+mn-lt"/>
                  <a:ea typeface="+mn-ea"/>
                  <a:cs typeface="+mn-cs"/>
                </a:rPr>
                <a:t>低</a:t>
              </a:r>
            </a:p>
          </p:txBody>
        </p:sp>
        <p:sp>
          <p:nvSpPr>
            <p:cNvPr id="73" name="TextBox 73"/>
            <p:cNvSpPr txBox="1"/>
            <p:nvPr/>
          </p:nvSpPr>
          <p:spPr>
            <a:xfrm rot="-5400000">
              <a:off x="3977164" y="2555081"/>
              <a:ext cx="413385" cy="147638"/>
            </a:xfrm>
            <a:prstGeom prst="rect">
              <a:avLst/>
            </a:prstGeom>
            <a:noFill/>
            <a:ln>
              <a:noFill/>
            </a:ln>
          </p:spPr>
          <p:txBody>
            <a:bodyPr wrap="none" lIns="0" tIns="0" rIns="0" bIns="0" anchor="t" anchorCtr="0">
              <a:spAutoFit/>
            </a:bodyPr>
            <a:lstStyle/>
            <a:p>
              <a:pPr algn="ctr"/>
              <a:r>
                <a:rPr lang="zh-CN" sz="750" b="1" dirty="0">
                  <a:solidFill>
                    <a:srgbClr val="520E00"/>
                  </a:solidFill>
                  <a:latin typeface="+mn-lt"/>
                  <a:ea typeface="+mn-ea"/>
                  <a:cs typeface="+mn-cs"/>
                </a:rPr>
                <a:t>价值贡献</a:t>
              </a:r>
            </a:p>
          </p:txBody>
        </p:sp>
        <p:sp>
          <p:nvSpPr>
            <p:cNvPr id="74" name="Line 74"/>
            <p:cNvSpPr/>
            <p:nvPr/>
          </p:nvSpPr>
          <p:spPr>
            <a:xfrm>
              <a:off x="4476750" y="4286250"/>
              <a:ext cx="2914650" cy="1"/>
            </a:xfrm>
            <a:prstGeom prst="line">
              <a:avLst/>
            </a:prstGeom>
            <a:noFill/>
            <a:ln w="14288">
              <a:solidFill>
                <a:srgbClr val="8A1700"/>
              </a:solidFill>
              <a:headEnd type="triangle" w="lg" len="lg"/>
              <a:tailEnd type="triangle" w="lg" len="lg"/>
            </a:ln>
          </p:spPr>
        </p:sp>
        <p:sp>
          <p:nvSpPr>
            <p:cNvPr id="75" name="TextBox 75"/>
            <p:cNvSpPr txBox="1"/>
            <p:nvPr/>
          </p:nvSpPr>
          <p:spPr>
            <a:xfrm>
              <a:off x="4491038" y="4361736"/>
              <a:ext cx="105105" cy="140494"/>
            </a:xfrm>
            <a:prstGeom prst="rect">
              <a:avLst/>
            </a:prstGeom>
            <a:noFill/>
            <a:ln>
              <a:noFill/>
            </a:ln>
          </p:spPr>
          <p:txBody>
            <a:bodyPr wrap="none" lIns="0" tIns="0" rIns="0" bIns="0" anchor="t" anchorCtr="0">
              <a:spAutoFit/>
            </a:bodyPr>
            <a:lstStyle/>
            <a:p>
              <a:pPr algn="l"/>
              <a:r>
                <a:rPr lang="zh-CN" sz="710" dirty="0">
                  <a:solidFill>
                    <a:srgbClr val="60403A"/>
                  </a:solidFill>
                  <a:latin typeface="+mn-lt"/>
                  <a:ea typeface="+mn-ea"/>
                  <a:cs typeface="+mn-cs"/>
                </a:rPr>
                <a:t>低</a:t>
              </a:r>
            </a:p>
          </p:txBody>
        </p:sp>
        <p:sp>
          <p:nvSpPr>
            <p:cNvPr id="76" name="TextBox 76"/>
            <p:cNvSpPr txBox="1"/>
            <p:nvPr/>
          </p:nvSpPr>
          <p:spPr>
            <a:xfrm>
              <a:off x="5717858" y="4357688"/>
              <a:ext cx="413385" cy="147638"/>
            </a:xfrm>
            <a:prstGeom prst="rect">
              <a:avLst/>
            </a:prstGeom>
            <a:noFill/>
            <a:ln>
              <a:noFill/>
            </a:ln>
          </p:spPr>
          <p:txBody>
            <a:bodyPr wrap="none" lIns="0" tIns="0" rIns="0" bIns="0" anchor="t" anchorCtr="0">
              <a:spAutoFit/>
            </a:bodyPr>
            <a:lstStyle/>
            <a:p>
              <a:pPr algn="ctr"/>
              <a:r>
                <a:rPr lang="zh-CN" sz="750" b="1" dirty="0">
                  <a:solidFill>
                    <a:srgbClr val="520E00"/>
                  </a:solidFill>
                  <a:latin typeface="+mn-lt"/>
                  <a:ea typeface="+mn-ea"/>
                  <a:cs typeface="+mn-cs"/>
                </a:rPr>
                <a:t>发展潜力</a:t>
              </a:r>
            </a:p>
          </p:txBody>
        </p:sp>
        <p:sp>
          <p:nvSpPr>
            <p:cNvPr id="77" name="TextBox 77"/>
            <p:cNvSpPr txBox="1"/>
            <p:nvPr/>
          </p:nvSpPr>
          <p:spPr>
            <a:xfrm>
              <a:off x="7272007" y="4361736"/>
              <a:ext cx="105105" cy="140494"/>
            </a:xfrm>
            <a:prstGeom prst="rect">
              <a:avLst/>
            </a:prstGeom>
            <a:noFill/>
            <a:ln>
              <a:noFill/>
            </a:ln>
          </p:spPr>
          <p:txBody>
            <a:bodyPr wrap="none" lIns="0" tIns="0" rIns="0" bIns="0" anchor="t" anchorCtr="0">
              <a:spAutoFit/>
            </a:bodyPr>
            <a:lstStyle/>
            <a:p>
              <a:pPr algn="r"/>
              <a:r>
                <a:rPr lang="zh-CN" sz="710" dirty="0">
                  <a:solidFill>
                    <a:srgbClr val="60403A"/>
                  </a:solidFill>
                  <a:latin typeface="+mn-lt"/>
                  <a:ea typeface="+mn-ea"/>
                  <a:cs typeface="+mn-cs"/>
                </a:rPr>
                <a:t>高</a:t>
              </a:r>
            </a:p>
          </p:txBody>
        </p:sp>
        <p:sp>
          <p:nvSpPr>
            <p:cNvPr id="78" name="Freeform 78"/>
            <p:cNvSpPr/>
            <p:nvPr/>
          </p:nvSpPr>
          <p:spPr>
            <a:xfrm>
              <a:off x="5438775" y="1009650"/>
              <a:ext cx="933450" cy="952500"/>
            </a:xfrm>
            <a:prstGeom prst="triangle">
              <a:avLst/>
            </a:prstGeom>
            <a:solidFill>
              <a:srgbClr val="671200"/>
            </a:solidFill>
            <a:ln>
              <a:noFill/>
            </a:ln>
          </p:spPr>
        </p:sp>
        <p:sp>
          <p:nvSpPr>
            <p:cNvPr id="79" name="Freeform 79"/>
            <p:cNvSpPr/>
            <p:nvPr/>
          </p:nvSpPr>
          <p:spPr>
            <a:xfrm>
              <a:off x="5076825" y="1962150"/>
              <a:ext cx="1657350" cy="742950"/>
            </a:xfrm>
            <a:prstGeom prst="trapezoid">
              <a:avLst>
                <a:gd name="adj" fmla="val 48718"/>
              </a:avLst>
            </a:prstGeom>
            <a:solidFill>
              <a:srgbClr val="8A1700"/>
            </a:solidFill>
            <a:ln>
              <a:noFill/>
            </a:ln>
          </p:spPr>
        </p:sp>
        <p:sp>
          <p:nvSpPr>
            <p:cNvPr id="80" name="Freeform 80"/>
            <p:cNvSpPr/>
            <p:nvPr/>
          </p:nvSpPr>
          <p:spPr>
            <a:xfrm>
              <a:off x="4724400" y="2705100"/>
              <a:ext cx="2362200" cy="723900"/>
            </a:xfrm>
            <a:prstGeom prst="trapezoid">
              <a:avLst>
                <a:gd name="adj" fmla="val 48684"/>
              </a:avLst>
            </a:prstGeom>
            <a:solidFill>
              <a:srgbClr val="E84E2F"/>
            </a:solidFill>
            <a:ln>
              <a:noFill/>
            </a:ln>
          </p:spPr>
        </p:sp>
        <p:sp>
          <p:nvSpPr>
            <p:cNvPr id="81" name="Freeform 81"/>
            <p:cNvSpPr/>
            <p:nvPr/>
          </p:nvSpPr>
          <p:spPr>
            <a:xfrm>
              <a:off x="4381500" y="3429000"/>
              <a:ext cx="3048000" cy="704850"/>
            </a:xfrm>
            <a:prstGeom prst="trapezoid">
              <a:avLst>
                <a:gd name="adj" fmla="val 48649"/>
              </a:avLst>
            </a:prstGeom>
            <a:solidFill>
              <a:srgbClr val="F3AC9D"/>
            </a:solidFill>
            <a:ln>
              <a:noFill/>
            </a:ln>
          </p:spPr>
        </p:sp>
        <p:grpSp>
          <p:nvGrpSpPr>
            <p:cNvPr id="84" name="Group 84"/>
            <p:cNvGrpSpPr/>
            <p:nvPr/>
          </p:nvGrpSpPr>
          <p:grpSpPr>
            <a:xfrm>
              <a:off x="5841206" y="1254919"/>
              <a:ext cx="128588" cy="105085"/>
              <a:chOff x="5841206" y="1254919"/>
              <a:chExt cx="128588" cy="105085"/>
            </a:xfrm>
          </p:grpSpPr>
          <p:sp>
            <p:nvSpPr>
              <p:cNvPr id="82" name="Freeform 82"/>
              <p:cNvSpPr/>
              <p:nvPr/>
            </p:nvSpPr>
            <p:spPr>
              <a:xfrm>
                <a:off x="5841206" y="1254919"/>
                <a:ext cx="128588" cy="105085"/>
              </a:xfrm>
              <a:custGeom>
                <a:avLst/>
                <a:gdLst/>
                <a:ahLst/>
                <a:cxnLst/>
                <a:rect l="l" t="t" r="r" b="b"/>
                <a:pathLst>
                  <a:path w="128588" h="105085">
                    <a:moveTo>
                      <a:pt x="21431" y="0"/>
                    </a:moveTo>
                    <a:lnTo>
                      <a:pt x="107156" y="0"/>
                    </a:lnTo>
                    <a:lnTo>
                      <a:pt x="128588" y="35719"/>
                    </a:lnTo>
                    <a:lnTo>
                      <a:pt x="67866" y="103584"/>
                    </a:lnTo>
                    <a:cubicBezTo>
                      <a:pt x="66925" y="104544"/>
                      <a:pt x="65638" y="105085"/>
                      <a:pt x="64294" y="105085"/>
                    </a:cubicBezTo>
                    <a:cubicBezTo>
                      <a:pt x="62950" y="105085"/>
                      <a:pt x="61662" y="104544"/>
                      <a:pt x="60722" y="103584"/>
                    </a:cubicBezTo>
                    <a:lnTo>
                      <a:pt x="0" y="35719"/>
                    </a:lnTo>
                    <a:lnTo>
                      <a:pt x="21431" y="0"/>
                    </a:lnTo>
                  </a:path>
                </a:pathLst>
              </a:custGeom>
              <a:noFill/>
              <a:ln w="14288">
                <a:solidFill>
                  <a:srgbClr val="FFFFFF"/>
                </a:solidFill>
              </a:ln>
            </p:spPr>
          </p:sp>
          <p:sp>
            <p:nvSpPr>
              <p:cNvPr id="83" name="Freeform 83"/>
              <p:cNvSpPr/>
              <p:nvPr/>
            </p:nvSpPr>
            <p:spPr>
              <a:xfrm>
                <a:off x="5876925" y="1282065"/>
                <a:ext cx="14288" cy="22860"/>
              </a:xfrm>
              <a:custGeom>
                <a:avLst/>
                <a:gdLst/>
                <a:ahLst/>
                <a:cxnLst/>
                <a:rect l="l" t="t" r="r" b="b"/>
                <a:pathLst>
                  <a:path w="14288" h="22860">
                    <a:moveTo>
                      <a:pt x="14288" y="22860"/>
                    </a:moveTo>
                    <a:lnTo>
                      <a:pt x="0" y="7144"/>
                    </a:lnTo>
                    <a:lnTo>
                      <a:pt x="4286" y="0"/>
                    </a:lnTo>
                  </a:path>
                </a:pathLst>
              </a:custGeom>
              <a:noFill/>
              <a:ln w="14288">
                <a:solidFill>
                  <a:srgbClr val="FFFFFF"/>
                </a:solidFill>
              </a:ln>
            </p:spPr>
          </p:sp>
        </p:grpSp>
        <p:sp>
          <p:nvSpPr>
            <p:cNvPr id="85" name="TextBox 85"/>
            <p:cNvSpPr txBox="1"/>
            <p:nvPr/>
          </p:nvSpPr>
          <p:spPr>
            <a:xfrm>
              <a:off x="5719000" y="1483995"/>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高价值</a:t>
              </a:r>
            </a:p>
          </p:txBody>
        </p:sp>
        <p:sp>
          <p:nvSpPr>
            <p:cNvPr id="86" name="TextBox 86"/>
            <p:cNvSpPr txBox="1"/>
            <p:nvPr/>
          </p:nvSpPr>
          <p:spPr>
            <a:xfrm>
              <a:off x="5595938" y="1668780"/>
              <a:ext cx="619125" cy="242888"/>
            </a:xfrm>
            <a:prstGeom prst="rect">
              <a:avLst/>
            </a:prstGeom>
            <a:noFill/>
            <a:ln>
              <a:noFill/>
            </a:ln>
          </p:spPr>
          <p:txBody>
            <a:bodyPr wrap="none" lIns="0" tIns="0" rIns="0" bIns="0" anchor="t" anchorCtr="0">
              <a:spAutoFit/>
            </a:bodyPr>
            <a:lstStyle/>
            <a:p>
              <a:pPr algn="ctr">
                <a:lnSpc>
                  <a:spcPts val="975"/>
                </a:lnSpc>
              </a:pPr>
              <a:r>
                <a:rPr lang="zh-CN" sz="600" dirty="0">
                  <a:solidFill>
                    <a:srgbClr val="FFFFFF"/>
                  </a:solidFill>
                  <a:latin typeface="+mn-lt"/>
                  <a:ea typeface="+mn-ea"/>
                  <a:cs typeface="+mn-cs"/>
                </a:rPr>
                <a:t>贡献高，忠诚度高</a:t>
              </a:r>
              <a:br/>
              <a:r>
                <a:rPr lang="zh-CN" sz="600" dirty="0">
                  <a:solidFill>
                    <a:srgbClr val="FFFFFF"/>
                  </a:solidFill>
                  <a:latin typeface="+mn-lt"/>
                  <a:ea typeface="+mn-ea"/>
                  <a:cs typeface="+mn-cs"/>
                </a:rPr>
                <a:t>综合价值高</a:t>
              </a:r>
            </a:p>
          </p:txBody>
        </p:sp>
        <p:grpSp>
          <p:nvGrpSpPr>
            <p:cNvPr id="89" name="Group 89"/>
            <p:cNvGrpSpPr/>
            <p:nvPr/>
          </p:nvGrpSpPr>
          <p:grpSpPr>
            <a:xfrm>
              <a:off x="5584031" y="2126456"/>
              <a:ext cx="128588" cy="71438"/>
              <a:chOff x="5584031" y="2126456"/>
              <a:chExt cx="128588" cy="71438"/>
            </a:xfrm>
          </p:grpSpPr>
          <p:sp>
            <p:nvSpPr>
              <p:cNvPr id="87" name="Freeform 87"/>
              <p:cNvSpPr/>
              <p:nvPr/>
            </p:nvSpPr>
            <p:spPr>
              <a:xfrm>
                <a:off x="5584031" y="21264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FFFFFF"/>
                </a:solidFill>
              </a:ln>
            </p:spPr>
          </p:sp>
          <p:sp>
            <p:nvSpPr>
              <p:cNvPr id="88" name="Freeform 88"/>
              <p:cNvSpPr/>
              <p:nvPr/>
            </p:nvSpPr>
            <p:spPr>
              <a:xfrm>
                <a:off x="5662612" y="2126456"/>
                <a:ext cx="50006" cy="50006"/>
              </a:xfrm>
              <a:custGeom>
                <a:avLst/>
                <a:gdLst/>
                <a:ahLst/>
                <a:cxnLst/>
                <a:rect l="l" t="t" r="r" b="b"/>
                <a:pathLst>
                  <a:path w="50006" h="50006">
                    <a:moveTo>
                      <a:pt x="0" y="0"/>
                    </a:moveTo>
                    <a:lnTo>
                      <a:pt x="50006" y="0"/>
                    </a:lnTo>
                    <a:lnTo>
                      <a:pt x="50006" y="50006"/>
                    </a:lnTo>
                  </a:path>
                </a:pathLst>
              </a:custGeom>
              <a:noFill/>
              <a:ln w="14288">
                <a:solidFill>
                  <a:srgbClr val="FFFFFF"/>
                </a:solidFill>
              </a:ln>
            </p:spPr>
          </p:sp>
        </p:grpSp>
        <p:sp>
          <p:nvSpPr>
            <p:cNvPr id="90" name="TextBox 90"/>
            <p:cNvSpPr txBox="1"/>
            <p:nvPr/>
          </p:nvSpPr>
          <p:spPr>
            <a:xfrm>
              <a:off x="5786438" y="2122170"/>
              <a:ext cx="37299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高潜力</a:t>
              </a:r>
            </a:p>
          </p:txBody>
        </p:sp>
        <p:sp>
          <p:nvSpPr>
            <p:cNvPr id="91" name="TextBox 91"/>
            <p:cNvSpPr txBox="1"/>
            <p:nvPr/>
          </p:nvSpPr>
          <p:spPr>
            <a:xfrm>
              <a:off x="5453698" y="2331482"/>
              <a:ext cx="90360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FFFFFF"/>
                  </a:solidFill>
                  <a:latin typeface="+mn-lt"/>
                  <a:ea typeface="+mn-ea"/>
                  <a:cs typeface="+mn-cs"/>
                </a:rPr>
                <a:t>当前贡献中等，成长性高</a:t>
              </a:r>
              <a:br/>
              <a:r>
                <a:rPr lang="zh-CN" sz="640" dirty="0">
                  <a:solidFill>
                    <a:srgbClr val="FFFFFF"/>
                  </a:solidFill>
                  <a:latin typeface="+mn-lt"/>
                  <a:ea typeface="+mn-ea"/>
                  <a:cs typeface="+mn-cs"/>
                </a:rPr>
                <a:t>未来价值潜力大</a:t>
              </a:r>
            </a:p>
          </p:txBody>
        </p:sp>
        <p:grpSp>
          <p:nvGrpSpPr>
            <p:cNvPr id="94" name="Group 94"/>
            <p:cNvGrpSpPr/>
            <p:nvPr/>
          </p:nvGrpSpPr>
          <p:grpSpPr>
            <a:xfrm>
              <a:off x="5574390" y="2840831"/>
              <a:ext cx="139505" cy="128588"/>
              <a:chOff x="5574390" y="2840831"/>
              <a:chExt cx="139505" cy="128588"/>
            </a:xfrm>
          </p:grpSpPr>
          <p:sp>
            <p:nvSpPr>
              <p:cNvPr id="92" name="Freeform 92"/>
              <p:cNvSpPr/>
              <p:nvPr/>
            </p:nvSpPr>
            <p:spPr>
              <a:xfrm>
                <a:off x="5574390" y="284083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FFFFFF"/>
                </a:solidFill>
              </a:ln>
            </p:spPr>
          </p:sp>
          <p:sp>
            <p:nvSpPr>
              <p:cNvPr id="93" name="Freeform 93"/>
              <p:cNvSpPr/>
              <p:nvPr/>
            </p:nvSpPr>
            <p:spPr>
              <a:xfrm>
                <a:off x="5669756" y="2940844"/>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95" name="TextBox 95"/>
            <p:cNvSpPr txBox="1"/>
            <p:nvPr/>
          </p:nvSpPr>
          <p:spPr>
            <a:xfrm>
              <a:off x="5786438" y="2865120"/>
              <a:ext cx="37299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稳定型</a:t>
              </a:r>
            </a:p>
          </p:txBody>
        </p:sp>
        <p:sp>
          <p:nvSpPr>
            <p:cNvPr id="96" name="TextBox 96"/>
            <p:cNvSpPr txBox="1"/>
            <p:nvPr/>
          </p:nvSpPr>
          <p:spPr>
            <a:xfrm>
              <a:off x="5494338" y="3074432"/>
              <a:ext cx="82232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FFFFFF"/>
                  </a:solidFill>
                  <a:latin typeface="+mn-lt"/>
                  <a:ea typeface="+mn-ea"/>
                  <a:cs typeface="+mn-cs"/>
                </a:rPr>
                <a:t>贡献稳定，波动小</a:t>
              </a:r>
              <a:br/>
              <a:r>
                <a:rPr lang="zh-CN" sz="640" dirty="0">
                  <a:solidFill>
                    <a:srgbClr val="FFFFFF"/>
                  </a:solidFill>
                  <a:latin typeface="+mn-lt"/>
                  <a:ea typeface="+mn-ea"/>
                  <a:cs typeface="+mn-cs"/>
                </a:rPr>
                <a:t>关系稳定，可持续经营</a:t>
              </a:r>
            </a:p>
          </p:txBody>
        </p:sp>
        <p:grpSp>
          <p:nvGrpSpPr>
            <p:cNvPr id="99" name="Group 99"/>
            <p:cNvGrpSpPr/>
            <p:nvPr/>
          </p:nvGrpSpPr>
          <p:grpSpPr>
            <a:xfrm>
              <a:off x="5469731" y="3564731"/>
              <a:ext cx="130281" cy="130281"/>
              <a:chOff x="5469731" y="3564731"/>
              <a:chExt cx="130281" cy="130281"/>
            </a:xfrm>
          </p:grpSpPr>
          <p:sp>
            <p:nvSpPr>
              <p:cNvPr id="97" name="Freeform 97"/>
              <p:cNvSpPr/>
              <p:nvPr/>
            </p:nvSpPr>
            <p:spPr>
              <a:xfrm>
                <a:off x="5494734" y="3589734"/>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520E00"/>
                </a:solidFill>
              </a:ln>
            </p:spPr>
          </p:sp>
          <p:sp>
            <p:nvSpPr>
              <p:cNvPr id="98" name="Freeform 98"/>
              <p:cNvSpPr/>
              <p:nvPr/>
            </p:nvSpPr>
            <p:spPr>
              <a:xfrm>
                <a:off x="5469731" y="3564731"/>
                <a:ext cx="130281" cy="130281"/>
              </a:xfrm>
              <a:custGeom>
                <a:avLst/>
                <a:gdLst/>
                <a:ahLst/>
                <a:cxnLst/>
                <a:rect l="l" t="t" r="r" b="b"/>
                <a:pathLst>
                  <a:path w="130281" h="130281">
                    <a:moveTo>
                      <a:pt x="0" y="21431"/>
                    </a:moveTo>
                    <a:lnTo>
                      <a:pt x="0" y="58379"/>
                    </a:lnTo>
                    <a:cubicBezTo>
                      <a:pt x="1" y="62168"/>
                      <a:pt x="1507" y="65801"/>
                      <a:pt x="4186" y="68480"/>
                    </a:cubicBezTo>
                    <a:lnTo>
                      <a:pt x="59265" y="123558"/>
                    </a:lnTo>
                    <a:cubicBezTo>
                      <a:pt x="65988" y="130281"/>
                      <a:pt x="76887" y="130281"/>
                      <a:pt x="83610" y="123558"/>
                    </a:cubicBezTo>
                    <a:lnTo>
                      <a:pt x="123558" y="83610"/>
                    </a:lnTo>
                    <a:cubicBezTo>
                      <a:pt x="130281" y="76887"/>
                      <a:pt x="130281" y="65988"/>
                      <a:pt x="123558" y="59265"/>
                    </a:cubicBezTo>
                    <a:lnTo>
                      <a:pt x="68480" y="4186"/>
                    </a:lnTo>
                    <a:cubicBezTo>
                      <a:pt x="65801" y="1507"/>
                      <a:pt x="62168" y="1"/>
                      <a:pt x="58379" y="0"/>
                    </a:cubicBezTo>
                    <a:lnTo>
                      <a:pt x="21431" y="0"/>
                    </a:lnTo>
                    <a:cubicBezTo>
                      <a:pt x="15747" y="0"/>
                      <a:pt x="10296" y="2258"/>
                      <a:pt x="6277" y="6277"/>
                    </a:cubicBezTo>
                    <a:cubicBezTo>
                      <a:pt x="2258" y="10296"/>
                      <a:pt x="0" y="15747"/>
                      <a:pt x="0" y="21431"/>
                    </a:cubicBezTo>
                  </a:path>
                </a:pathLst>
              </a:custGeom>
              <a:noFill/>
              <a:ln w="14288">
                <a:solidFill>
                  <a:srgbClr val="520E00"/>
                </a:solidFill>
              </a:ln>
            </p:spPr>
          </p:sp>
        </p:grpSp>
        <p:sp>
          <p:nvSpPr>
            <p:cNvPr id="100" name="TextBox 100"/>
            <p:cNvSpPr txBox="1"/>
            <p:nvPr/>
          </p:nvSpPr>
          <p:spPr>
            <a:xfrm>
              <a:off x="5672138" y="3589020"/>
              <a:ext cx="615315" cy="176212"/>
            </a:xfrm>
            <a:prstGeom prst="rect">
              <a:avLst/>
            </a:prstGeom>
            <a:noFill/>
            <a:ln>
              <a:noFill/>
            </a:ln>
          </p:spPr>
          <p:txBody>
            <a:bodyPr wrap="none" lIns="0" tIns="0" rIns="0" bIns="0" anchor="t" anchorCtr="0">
              <a:spAutoFit/>
            </a:bodyPr>
            <a:lstStyle/>
            <a:p>
              <a:pPr algn="l"/>
              <a:r>
                <a:rPr lang="zh-CN" sz="900" b="1" dirty="0">
                  <a:solidFill>
                    <a:srgbClr val="520E00"/>
                  </a:solidFill>
                  <a:latin typeface="+mn-lt"/>
                  <a:ea typeface="+mn-ea"/>
                  <a:cs typeface="+mn-cs"/>
                </a:rPr>
                <a:t>价格敏感型</a:t>
              </a:r>
            </a:p>
          </p:txBody>
        </p:sp>
        <p:sp>
          <p:nvSpPr>
            <p:cNvPr id="101" name="TextBox 101"/>
            <p:cNvSpPr txBox="1"/>
            <p:nvPr/>
          </p:nvSpPr>
          <p:spPr>
            <a:xfrm>
              <a:off x="5494338" y="3798332"/>
              <a:ext cx="82232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520E00"/>
                  </a:solidFill>
                  <a:latin typeface="+mn-lt"/>
                  <a:ea typeface="+mn-ea"/>
                  <a:cs typeface="+mn-cs"/>
                </a:rPr>
                <a:t>对价格敏感，追求优惠</a:t>
              </a:r>
              <a:br/>
              <a:r>
                <a:rPr lang="zh-CN" sz="640" dirty="0">
                  <a:solidFill>
                    <a:srgbClr val="520E00"/>
                  </a:solidFill>
                  <a:latin typeface="+mn-lt"/>
                  <a:ea typeface="+mn-ea"/>
                  <a:cs typeface="+mn-cs"/>
                </a:rPr>
                <a:t>贡献低，忠诚度较低</a:t>
              </a:r>
            </a:p>
          </p:txBody>
        </p:sp>
      </p:grpSp>
      <p:grpSp>
        <p:nvGrpSpPr>
          <p:cNvPr id="193" name="needs-table"/>
          <p:cNvGrpSpPr/>
          <p:nvPr/>
        </p:nvGrpSpPr>
        <p:grpSpPr>
          <a:xfrm>
            <a:off x="7486650" y="781050"/>
            <a:ext cx="4476750" cy="3600450"/>
            <a:chOff x="7486650" y="781050"/>
            <a:chExt cx="4476750" cy="3600450"/>
          </a:xfrm>
        </p:grpSpPr>
        <p:grpSp>
          <p:nvGrpSpPr>
            <p:cNvPr id="107" name="Group 107"/>
            <p:cNvGrpSpPr/>
            <p:nvPr/>
          </p:nvGrpSpPr>
          <p:grpSpPr>
            <a:xfrm>
              <a:off x="7524750" y="781050"/>
              <a:ext cx="114300" cy="114301"/>
              <a:chOff x="7524750" y="781050"/>
              <a:chExt cx="114300" cy="114301"/>
            </a:xfrm>
          </p:grpSpPr>
          <p:sp>
            <p:nvSpPr>
              <p:cNvPr id="103" name="Freeform 103"/>
              <p:cNvSpPr/>
              <p:nvPr/>
            </p:nvSpPr>
            <p:spPr>
              <a:xfrm>
                <a:off x="7537450" y="7810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02C0A"/>
                </a:solidFill>
              </a:ln>
            </p:spPr>
          </p:sp>
          <p:sp>
            <p:nvSpPr>
              <p:cNvPr id="104" name="Freeform 104"/>
              <p:cNvSpPr/>
              <p:nvPr/>
            </p:nvSpPr>
            <p:spPr>
              <a:xfrm>
                <a:off x="7524750" y="8572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C02C0A"/>
                </a:solidFill>
              </a:ln>
            </p:spPr>
          </p:sp>
          <p:sp>
            <p:nvSpPr>
              <p:cNvPr id="105" name="Freeform 105"/>
              <p:cNvSpPr/>
              <p:nvPr/>
            </p:nvSpPr>
            <p:spPr>
              <a:xfrm>
                <a:off x="7607300" y="7818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C02C0A"/>
                </a:solidFill>
              </a:ln>
            </p:spPr>
          </p:sp>
          <p:sp>
            <p:nvSpPr>
              <p:cNvPr id="106" name="Freeform 106"/>
              <p:cNvSpPr/>
              <p:nvPr/>
            </p:nvSpPr>
            <p:spPr>
              <a:xfrm>
                <a:off x="7620000" y="8582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C02C0A"/>
                </a:solidFill>
              </a:ln>
            </p:spPr>
          </p:sp>
        </p:grpSp>
        <p:sp>
          <p:nvSpPr>
            <p:cNvPr id="108" name="TextBox 108"/>
            <p:cNvSpPr txBox="1"/>
            <p:nvPr/>
          </p:nvSpPr>
          <p:spPr>
            <a:xfrm>
              <a:off x="7710488" y="784622"/>
              <a:ext cx="3552723" cy="183356"/>
            </a:xfrm>
            <a:prstGeom prst="rect">
              <a:avLst/>
            </a:prstGeom>
            <a:noFill/>
            <a:ln>
              <a:noFill/>
            </a:ln>
          </p:spPr>
          <p:txBody>
            <a:bodyPr wrap="none" lIns="0" tIns="0" rIns="0" bIns="0" anchor="t" anchorCtr="0">
              <a:spAutoFit/>
            </a:bodyPr>
            <a:lstStyle/>
            <a:p>
              <a:pPr algn="l"/>
              <a:r>
                <a:rPr lang="zh-CN" sz="940" b="1" dirty="0">
                  <a:solidFill>
                    <a:srgbClr val="C02C0A"/>
                  </a:solidFill>
                  <a:latin typeface="+mn-lt"/>
                  <a:ea typeface="+mn-ea"/>
                  <a:cs typeface="+mn-cs"/>
                </a:rPr>
                <a:t>服务需求：</a:t>
              </a:r>
              <a:r>
                <a:rPr lang="zh-CN" sz="940" b="1" dirty="0">
                  <a:solidFill>
                    <a:srgbClr val="520E00"/>
                  </a:solidFill>
                  <a:latin typeface="+mn-lt"/>
                  <a:ea typeface="+mn-ea"/>
                  <a:cs typeface="+mn-cs"/>
                </a:rPr>
                <a:t>高净值、企业主、高收入职场、年轻成长、银发客户</a:t>
              </a:r>
            </a:p>
          </p:txBody>
        </p:sp>
        <p:sp>
          <p:nvSpPr>
            <p:cNvPr id="109" name="Rectangle 109"/>
            <p:cNvSpPr/>
            <p:nvPr/>
          </p:nvSpPr>
          <p:spPr>
            <a:xfrm>
              <a:off x="7486650" y="990600"/>
              <a:ext cx="4476750" cy="3390900"/>
            </a:xfrm>
            <a:prstGeom prst="roundRect">
              <a:avLst>
                <a:gd name="adj" fmla="val 1685"/>
              </a:avLst>
            </a:prstGeom>
            <a:solidFill>
              <a:srgbClr val="FFFFFF"/>
            </a:solidFill>
            <a:ln w="9525">
              <a:solidFill>
                <a:srgbClr val="C9D5EA"/>
              </a:solidFill>
            </a:ln>
          </p:spPr>
        </p:sp>
        <p:sp>
          <p:nvSpPr>
            <p:cNvPr id="110" name="Rectangle 110"/>
            <p:cNvSpPr/>
            <p:nvPr/>
          </p:nvSpPr>
          <p:spPr>
            <a:xfrm>
              <a:off x="8077200" y="990600"/>
              <a:ext cx="3886200" cy="533400"/>
            </a:xfrm>
            <a:prstGeom prst="rect">
              <a:avLst/>
            </a:prstGeom>
            <a:solidFill>
              <a:srgbClr val="F5F8FE"/>
            </a:solidFill>
            <a:ln>
              <a:noFill/>
            </a:ln>
          </p:spPr>
        </p:sp>
        <p:sp>
          <p:nvSpPr>
            <p:cNvPr id="111" name="Line 111"/>
            <p:cNvSpPr/>
            <p:nvPr/>
          </p:nvSpPr>
          <p:spPr>
            <a:xfrm>
              <a:off x="7486650" y="1524000"/>
              <a:ext cx="4476750" cy="9525"/>
            </a:xfrm>
            <a:custGeom>
              <a:avLst/>
              <a:gdLst/>
              <a:ahLst/>
              <a:cxnLst/>
              <a:rect l="l" t="t" r="r" b="b"/>
              <a:pathLst>
                <a:path w="4476750" h="9525">
                  <a:moveTo>
                    <a:pt x="0" y="0"/>
                  </a:moveTo>
                  <a:lnTo>
                    <a:pt x="4476750" y="0"/>
                  </a:lnTo>
                </a:path>
              </a:pathLst>
            </a:custGeom>
            <a:noFill/>
            <a:ln w="9525">
              <a:solidFill>
                <a:srgbClr val="C9D5EA"/>
              </a:solidFill>
            </a:ln>
          </p:spPr>
        </p:sp>
        <p:sp>
          <p:nvSpPr>
            <p:cNvPr id="112" name="Line 112"/>
            <p:cNvSpPr/>
            <p:nvPr/>
          </p:nvSpPr>
          <p:spPr>
            <a:xfrm>
              <a:off x="7486650" y="2095500"/>
              <a:ext cx="4476750" cy="9525"/>
            </a:xfrm>
            <a:custGeom>
              <a:avLst/>
              <a:gdLst/>
              <a:ahLst/>
              <a:cxnLst/>
              <a:rect l="l" t="t" r="r" b="b"/>
              <a:pathLst>
                <a:path w="4476750" h="9525">
                  <a:moveTo>
                    <a:pt x="0" y="0"/>
                  </a:moveTo>
                  <a:lnTo>
                    <a:pt x="4476750" y="0"/>
                  </a:lnTo>
                </a:path>
              </a:pathLst>
            </a:custGeom>
            <a:noFill/>
            <a:ln w="9525">
              <a:solidFill>
                <a:srgbClr val="E4EAF4"/>
              </a:solidFill>
            </a:ln>
          </p:spPr>
        </p:sp>
        <p:sp>
          <p:nvSpPr>
            <p:cNvPr id="113" name="Line 113"/>
            <p:cNvSpPr/>
            <p:nvPr/>
          </p:nvSpPr>
          <p:spPr>
            <a:xfrm>
              <a:off x="7486650" y="2667000"/>
              <a:ext cx="4476750" cy="9525"/>
            </a:xfrm>
            <a:custGeom>
              <a:avLst/>
              <a:gdLst/>
              <a:ahLst/>
              <a:cxnLst/>
              <a:rect l="l" t="t" r="r" b="b"/>
              <a:pathLst>
                <a:path w="4476750" h="9525">
                  <a:moveTo>
                    <a:pt x="0" y="0"/>
                  </a:moveTo>
                  <a:lnTo>
                    <a:pt x="4476750" y="0"/>
                  </a:lnTo>
                </a:path>
              </a:pathLst>
            </a:custGeom>
            <a:noFill/>
            <a:ln w="9525">
              <a:solidFill>
                <a:srgbClr val="E4EAF4"/>
              </a:solidFill>
            </a:ln>
          </p:spPr>
        </p:sp>
        <p:sp>
          <p:nvSpPr>
            <p:cNvPr id="114" name="Line 114"/>
            <p:cNvSpPr/>
            <p:nvPr/>
          </p:nvSpPr>
          <p:spPr>
            <a:xfrm>
              <a:off x="7486650" y="3238500"/>
              <a:ext cx="4476750" cy="9525"/>
            </a:xfrm>
            <a:custGeom>
              <a:avLst/>
              <a:gdLst/>
              <a:ahLst/>
              <a:cxnLst/>
              <a:rect l="l" t="t" r="r" b="b"/>
              <a:pathLst>
                <a:path w="4476750" h="9525">
                  <a:moveTo>
                    <a:pt x="0" y="0"/>
                  </a:moveTo>
                  <a:lnTo>
                    <a:pt x="4476750" y="0"/>
                  </a:lnTo>
                </a:path>
              </a:pathLst>
            </a:custGeom>
            <a:noFill/>
            <a:ln w="9525">
              <a:solidFill>
                <a:srgbClr val="E4EAF4"/>
              </a:solidFill>
            </a:ln>
          </p:spPr>
        </p:sp>
        <p:sp>
          <p:nvSpPr>
            <p:cNvPr id="115" name="Line 115"/>
            <p:cNvSpPr/>
            <p:nvPr/>
          </p:nvSpPr>
          <p:spPr>
            <a:xfrm>
              <a:off x="7486650" y="3810000"/>
              <a:ext cx="4476750" cy="9525"/>
            </a:xfrm>
            <a:custGeom>
              <a:avLst/>
              <a:gdLst/>
              <a:ahLst/>
              <a:cxnLst/>
              <a:rect l="l" t="t" r="r" b="b"/>
              <a:pathLst>
                <a:path w="4476750" h="9525">
                  <a:moveTo>
                    <a:pt x="0" y="0"/>
                  </a:moveTo>
                  <a:lnTo>
                    <a:pt x="4476750" y="0"/>
                  </a:lnTo>
                </a:path>
              </a:pathLst>
            </a:custGeom>
            <a:noFill/>
            <a:ln w="9525">
              <a:solidFill>
                <a:srgbClr val="E4EAF4"/>
              </a:solidFill>
            </a:ln>
          </p:spPr>
        </p:sp>
        <p:sp>
          <p:nvSpPr>
            <p:cNvPr id="116" name="Line 116"/>
            <p:cNvSpPr/>
            <p:nvPr/>
          </p:nvSpPr>
          <p:spPr>
            <a:xfrm>
              <a:off x="8077200" y="990600"/>
              <a:ext cx="9525" cy="3390900"/>
            </a:xfrm>
            <a:custGeom>
              <a:avLst/>
              <a:gdLst/>
              <a:ahLst/>
              <a:cxnLst/>
              <a:rect l="l" t="t" r="r" b="b"/>
              <a:pathLst>
                <a:path w="9525" h="3390900">
                  <a:moveTo>
                    <a:pt x="0" y="0"/>
                  </a:moveTo>
                  <a:lnTo>
                    <a:pt x="0" y="3390900"/>
                  </a:lnTo>
                </a:path>
              </a:pathLst>
            </a:custGeom>
            <a:noFill/>
            <a:ln w="9525">
              <a:solidFill>
                <a:srgbClr val="C9D5EA"/>
              </a:solidFill>
            </a:ln>
          </p:spPr>
        </p:sp>
        <p:grpSp>
          <p:nvGrpSpPr>
            <p:cNvPr id="137" name="nt-head"/>
            <p:cNvGrpSpPr/>
            <p:nvPr/>
          </p:nvGrpSpPr>
          <p:grpSpPr>
            <a:xfrm>
              <a:off x="8333422" y="1073944"/>
              <a:ext cx="3311525" cy="472440"/>
              <a:chOff x="8333422" y="1073944"/>
              <a:chExt cx="3311525" cy="472440"/>
            </a:xfrm>
          </p:grpSpPr>
          <p:grpSp>
            <p:nvGrpSpPr>
              <p:cNvPr id="119" name="Group 119"/>
              <p:cNvGrpSpPr/>
              <p:nvPr/>
            </p:nvGrpSpPr>
            <p:grpSpPr>
              <a:xfrm>
                <a:off x="8389144" y="1091406"/>
                <a:ext cx="157163" cy="128438"/>
                <a:chOff x="8389144" y="1091406"/>
                <a:chExt cx="157163" cy="128438"/>
              </a:xfrm>
            </p:grpSpPr>
            <p:sp>
              <p:nvSpPr>
                <p:cNvPr id="117" name="Freeform 117"/>
                <p:cNvSpPr/>
                <p:nvPr/>
              </p:nvSpPr>
              <p:spPr>
                <a:xfrm>
                  <a:off x="8389144" y="1091406"/>
                  <a:ext cx="157163" cy="128438"/>
                </a:xfrm>
                <a:custGeom>
                  <a:avLst/>
                  <a:gdLst/>
                  <a:ahLst/>
                  <a:cxnLst/>
                  <a:rect l="l" t="t" r="r" b="b"/>
                  <a:pathLst>
                    <a:path w="157163" h="128438">
                      <a:moveTo>
                        <a:pt x="26194" y="0"/>
                      </a:moveTo>
                      <a:lnTo>
                        <a:pt x="130969" y="0"/>
                      </a:lnTo>
                      <a:lnTo>
                        <a:pt x="157163" y="43656"/>
                      </a:lnTo>
                      <a:lnTo>
                        <a:pt x="82947" y="126603"/>
                      </a:lnTo>
                      <a:cubicBezTo>
                        <a:pt x="81797" y="127776"/>
                        <a:pt x="80224" y="128438"/>
                        <a:pt x="78581" y="128438"/>
                      </a:cubicBezTo>
                      <a:cubicBezTo>
                        <a:pt x="76939" y="128438"/>
                        <a:pt x="75365" y="127776"/>
                        <a:pt x="74216" y="126603"/>
                      </a:cubicBezTo>
                      <a:lnTo>
                        <a:pt x="0" y="43656"/>
                      </a:lnTo>
                      <a:lnTo>
                        <a:pt x="26194" y="0"/>
                      </a:lnTo>
                    </a:path>
                  </a:pathLst>
                </a:custGeom>
                <a:noFill/>
                <a:ln w="15716">
                  <a:solidFill>
                    <a:srgbClr val="8A1700"/>
                  </a:solidFill>
                </a:ln>
              </p:spPr>
            </p:sp>
            <p:sp>
              <p:nvSpPr>
                <p:cNvPr id="118" name="Freeform 118"/>
                <p:cNvSpPr/>
                <p:nvPr/>
              </p:nvSpPr>
              <p:spPr>
                <a:xfrm>
                  <a:off x="8432800" y="1124585"/>
                  <a:ext cx="17463" cy="27940"/>
                </a:xfrm>
                <a:custGeom>
                  <a:avLst/>
                  <a:gdLst/>
                  <a:ahLst/>
                  <a:cxnLst/>
                  <a:rect l="l" t="t" r="r" b="b"/>
                  <a:pathLst>
                    <a:path w="17463" h="27940">
                      <a:moveTo>
                        <a:pt x="17463" y="27940"/>
                      </a:moveTo>
                      <a:lnTo>
                        <a:pt x="0" y="8731"/>
                      </a:lnTo>
                      <a:lnTo>
                        <a:pt x="5239" y="0"/>
                      </a:lnTo>
                    </a:path>
                  </a:pathLst>
                </a:custGeom>
                <a:noFill/>
                <a:ln w="15716">
                  <a:solidFill>
                    <a:srgbClr val="8A1700"/>
                  </a:solidFill>
                </a:ln>
              </p:spPr>
            </p:sp>
          </p:grpSp>
          <p:sp>
            <p:nvSpPr>
              <p:cNvPr id="120" name="TextBox 120"/>
              <p:cNvSpPr txBox="1"/>
              <p:nvPr/>
            </p:nvSpPr>
            <p:spPr>
              <a:xfrm>
                <a:off x="8333422" y="1308259"/>
                <a:ext cx="26860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520E00"/>
                    </a:solidFill>
                    <a:latin typeface="+mn-lt"/>
                    <a:ea typeface="+mn-ea"/>
                    <a:cs typeface="+mn-cs"/>
                  </a:rPr>
                  <a:t>高净值</a:t>
                </a:r>
                <a:br/>
                <a:r>
                  <a:rPr lang="zh-CN" sz="680" b="1" dirty="0">
                    <a:solidFill>
                      <a:srgbClr val="520E00"/>
                    </a:solidFill>
                    <a:latin typeface="+mn-lt"/>
                    <a:ea typeface="+mn-ea"/>
                    <a:cs typeface="+mn-cs"/>
                  </a:rPr>
                  <a:t>客户</a:t>
                </a:r>
              </a:p>
            </p:txBody>
          </p:sp>
          <p:grpSp>
            <p:nvGrpSpPr>
              <p:cNvPr id="125" name="Group 125"/>
              <p:cNvGrpSpPr/>
              <p:nvPr/>
            </p:nvGrpSpPr>
            <p:grpSpPr>
              <a:xfrm>
                <a:off x="9160669" y="1073944"/>
                <a:ext cx="157163" cy="148431"/>
                <a:chOff x="9160669" y="1073944"/>
                <a:chExt cx="157163" cy="148431"/>
              </a:xfrm>
            </p:grpSpPr>
            <p:sp>
              <p:nvSpPr>
                <p:cNvPr id="121" name="Freeform 121"/>
                <p:cNvSpPr/>
                <p:nvPr/>
              </p:nvSpPr>
              <p:spPr>
                <a:xfrm>
                  <a:off x="9160669" y="1108869"/>
                  <a:ext cx="157163" cy="113506"/>
                </a:xfrm>
                <a:custGeom>
                  <a:avLst/>
                  <a:gdLst/>
                  <a:ahLst/>
                  <a:cxnLst/>
                  <a:rect l="l" t="t" r="r" b="b"/>
                  <a:pathLst>
                    <a:path w="157163" h="113506">
                      <a:moveTo>
                        <a:pt x="0" y="17463"/>
                      </a:moveTo>
                      <a:cubicBezTo>
                        <a:pt x="0" y="7818"/>
                        <a:pt x="7818" y="0"/>
                        <a:pt x="17463" y="0"/>
                      </a:cubicBezTo>
                      <a:lnTo>
                        <a:pt x="139700" y="0"/>
                      </a:lnTo>
                      <a:cubicBezTo>
                        <a:pt x="149344" y="0"/>
                        <a:pt x="157163" y="7818"/>
                        <a:pt x="157163" y="17463"/>
                      </a:cubicBezTo>
                      <a:lnTo>
                        <a:pt x="157163" y="96044"/>
                      </a:lnTo>
                      <a:cubicBezTo>
                        <a:pt x="157163" y="105688"/>
                        <a:pt x="149344" y="113506"/>
                        <a:pt x="139700" y="113506"/>
                      </a:cubicBezTo>
                      <a:lnTo>
                        <a:pt x="17463" y="113506"/>
                      </a:lnTo>
                      <a:cubicBezTo>
                        <a:pt x="7818" y="113506"/>
                        <a:pt x="0" y="105688"/>
                        <a:pt x="0" y="96044"/>
                      </a:cubicBezTo>
                      <a:lnTo>
                        <a:pt x="0" y="17463"/>
                      </a:lnTo>
                    </a:path>
                  </a:pathLst>
                </a:custGeom>
                <a:noFill/>
                <a:ln w="15716">
                  <a:solidFill>
                    <a:srgbClr val="8A1700"/>
                  </a:solidFill>
                </a:ln>
              </p:spPr>
            </p:sp>
            <p:sp>
              <p:nvSpPr>
                <p:cNvPr id="122" name="Freeform 122"/>
                <p:cNvSpPr/>
                <p:nvPr/>
              </p:nvSpPr>
              <p:spPr>
                <a:xfrm>
                  <a:off x="9204325" y="1073944"/>
                  <a:ext cx="69850" cy="34925"/>
                </a:xfrm>
                <a:custGeom>
                  <a:avLst/>
                  <a:gdLst/>
                  <a:ahLst/>
                  <a:cxnLst/>
                  <a:rect l="l" t="t" r="r" b="b"/>
                  <a:pathLst>
                    <a:path w="69850" h="34925">
                      <a:moveTo>
                        <a:pt x="0" y="34925"/>
                      </a:moveTo>
                      <a:lnTo>
                        <a:pt x="0" y="17463"/>
                      </a:lnTo>
                      <a:cubicBezTo>
                        <a:pt x="0" y="7818"/>
                        <a:pt x="7818" y="0"/>
                        <a:pt x="17463" y="0"/>
                      </a:cubicBezTo>
                      <a:lnTo>
                        <a:pt x="52388" y="0"/>
                      </a:lnTo>
                      <a:cubicBezTo>
                        <a:pt x="62032" y="0"/>
                        <a:pt x="69850" y="7818"/>
                        <a:pt x="69850" y="17463"/>
                      </a:cubicBezTo>
                      <a:lnTo>
                        <a:pt x="69850" y="34925"/>
                      </a:lnTo>
                    </a:path>
                  </a:pathLst>
                </a:custGeom>
                <a:noFill/>
                <a:ln w="15716">
                  <a:solidFill>
                    <a:srgbClr val="8A1700"/>
                  </a:solidFill>
                </a:ln>
              </p:spPr>
            </p:sp>
            <p:sp>
              <p:nvSpPr>
                <p:cNvPr id="123" name="Freeform 123"/>
                <p:cNvSpPr/>
                <p:nvPr/>
              </p:nvSpPr>
              <p:spPr>
                <a:xfrm>
                  <a:off x="9239250" y="1152525"/>
                  <a:ext cx="9525" cy="9525"/>
                </a:xfrm>
                <a:custGeom>
                  <a:avLst/>
                  <a:gdLst/>
                  <a:ahLst/>
                  <a:cxnLst/>
                  <a:rect l="l" t="t" r="r" b="b"/>
                  <a:pathLst>
                    <a:path w="9525" h="9525">
                      <a:moveTo>
                        <a:pt x="0" y="0"/>
                      </a:moveTo>
                      <a:lnTo>
                        <a:pt x="0" y="87"/>
                      </a:lnTo>
                    </a:path>
                  </a:pathLst>
                </a:custGeom>
                <a:noFill/>
                <a:ln w="15716">
                  <a:solidFill>
                    <a:srgbClr val="8A1700"/>
                  </a:solidFill>
                </a:ln>
              </p:spPr>
            </p:sp>
            <p:sp>
              <p:nvSpPr>
                <p:cNvPr id="124" name="Freeform 124"/>
                <p:cNvSpPr/>
                <p:nvPr/>
              </p:nvSpPr>
              <p:spPr>
                <a:xfrm>
                  <a:off x="9160669" y="1161256"/>
                  <a:ext cx="157163" cy="24907"/>
                </a:xfrm>
                <a:custGeom>
                  <a:avLst/>
                  <a:gdLst/>
                  <a:ahLst/>
                  <a:cxnLst/>
                  <a:rect l="l" t="t" r="r" b="b"/>
                  <a:pathLst>
                    <a:path w="157163" h="24907">
                      <a:moveTo>
                        <a:pt x="0" y="0"/>
                      </a:moveTo>
                      <a:cubicBezTo>
                        <a:pt x="49427" y="24907"/>
                        <a:pt x="107735" y="24907"/>
                        <a:pt x="157163" y="0"/>
                      </a:cubicBezTo>
                    </a:path>
                  </a:pathLst>
                </a:custGeom>
                <a:noFill/>
                <a:ln w="15716">
                  <a:solidFill>
                    <a:srgbClr val="8A1700"/>
                  </a:solidFill>
                </a:ln>
              </p:spPr>
            </p:sp>
          </p:grpSp>
          <p:sp>
            <p:nvSpPr>
              <p:cNvPr id="126" name="TextBox 126"/>
              <p:cNvSpPr txBox="1"/>
              <p:nvPr/>
            </p:nvSpPr>
            <p:spPr>
              <a:xfrm>
                <a:off x="9104948" y="1308259"/>
                <a:ext cx="26860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520E00"/>
                    </a:solidFill>
                    <a:latin typeface="+mn-lt"/>
                    <a:ea typeface="+mn-ea"/>
                    <a:cs typeface="+mn-cs"/>
                  </a:rPr>
                  <a:t>企业主</a:t>
                </a:r>
                <a:br/>
                <a:r>
                  <a:rPr lang="zh-CN" sz="680" b="1" dirty="0">
                    <a:solidFill>
                      <a:srgbClr val="520E00"/>
                    </a:solidFill>
                    <a:latin typeface="+mn-lt"/>
                    <a:ea typeface="+mn-ea"/>
                    <a:cs typeface="+mn-cs"/>
                  </a:rPr>
                  <a:t>客户</a:t>
                </a:r>
              </a:p>
            </p:txBody>
          </p:sp>
          <p:grpSp>
            <p:nvGrpSpPr>
              <p:cNvPr id="129" name="Group 129"/>
              <p:cNvGrpSpPr/>
              <p:nvPr/>
            </p:nvGrpSpPr>
            <p:grpSpPr>
              <a:xfrm>
                <a:off x="9958388" y="1073944"/>
                <a:ext cx="104775" cy="157163"/>
                <a:chOff x="9958388" y="1073944"/>
                <a:chExt cx="104775" cy="157163"/>
              </a:xfrm>
            </p:grpSpPr>
            <p:sp>
              <p:nvSpPr>
                <p:cNvPr id="127" name="Freeform 127"/>
                <p:cNvSpPr/>
                <p:nvPr/>
              </p:nvSpPr>
              <p:spPr>
                <a:xfrm>
                  <a:off x="9975850" y="10739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5716">
                  <a:solidFill>
                    <a:srgbClr val="8A1700"/>
                  </a:solidFill>
                </a:ln>
              </p:spPr>
            </p:sp>
            <p:sp>
              <p:nvSpPr>
                <p:cNvPr id="128" name="Freeform 128"/>
                <p:cNvSpPr/>
                <p:nvPr/>
              </p:nvSpPr>
              <p:spPr>
                <a:xfrm>
                  <a:off x="9958388" y="11787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5716">
                  <a:solidFill>
                    <a:srgbClr val="8A1700"/>
                  </a:solidFill>
                </a:ln>
              </p:spPr>
            </p:sp>
          </p:grpSp>
          <p:sp>
            <p:nvSpPr>
              <p:cNvPr id="130" name="TextBox 130"/>
              <p:cNvSpPr txBox="1"/>
              <p:nvPr/>
            </p:nvSpPr>
            <p:spPr>
              <a:xfrm>
                <a:off x="9833292" y="1308259"/>
                <a:ext cx="35496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520E00"/>
                    </a:solidFill>
                    <a:latin typeface="+mn-lt"/>
                    <a:ea typeface="+mn-ea"/>
                    <a:cs typeface="+mn-cs"/>
                  </a:rPr>
                  <a:t>高收入</a:t>
                </a:r>
                <a:br/>
                <a:r>
                  <a:rPr lang="zh-CN" sz="680" b="1" dirty="0">
                    <a:solidFill>
                      <a:srgbClr val="520E00"/>
                    </a:solidFill>
                    <a:latin typeface="+mn-lt"/>
                    <a:ea typeface="+mn-ea"/>
                    <a:cs typeface="+mn-cs"/>
                  </a:rPr>
                  <a:t>职场客户</a:t>
                </a:r>
              </a:p>
            </p:txBody>
          </p:sp>
          <p:grpSp>
            <p:nvGrpSpPr>
              <p:cNvPr id="133" name="Group 133"/>
              <p:cNvGrpSpPr/>
              <p:nvPr/>
            </p:nvGrpSpPr>
            <p:grpSpPr>
              <a:xfrm>
                <a:off x="10694988" y="1091406"/>
                <a:ext cx="174625" cy="122238"/>
                <a:chOff x="10694988" y="1091406"/>
                <a:chExt cx="174625" cy="122238"/>
              </a:xfrm>
            </p:grpSpPr>
            <p:sp>
              <p:nvSpPr>
                <p:cNvPr id="131" name="Freeform 131"/>
                <p:cNvSpPr/>
                <p:nvPr/>
              </p:nvSpPr>
              <p:spPr>
                <a:xfrm>
                  <a:off x="10694988" y="1091406"/>
                  <a:ext cx="174625" cy="87313"/>
                </a:xfrm>
                <a:custGeom>
                  <a:avLst/>
                  <a:gdLst/>
                  <a:ahLst/>
                  <a:cxnLst/>
                  <a:rect l="l" t="t" r="r" b="b"/>
                  <a:pathLst>
                    <a:path w="174625" h="87313">
                      <a:moveTo>
                        <a:pt x="174625" y="34925"/>
                      </a:moveTo>
                      <a:lnTo>
                        <a:pt x="87313" y="0"/>
                      </a:lnTo>
                      <a:lnTo>
                        <a:pt x="0" y="34925"/>
                      </a:lnTo>
                      <a:lnTo>
                        <a:pt x="87313" y="69850"/>
                      </a:lnTo>
                      <a:lnTo>
                        <a:pt x="174625" y="34925"/>
                      </a:lnTo>
                      <a:lnTo>
                        <a:pt x="174625" y="87313"/>
                      </a:lnTo>
                    </a:path>
                  </a:pathLst>
                </a:custGeom>
                <a:noFill/>
                <a:ln w="15716">
                  <a:solidFill>
                    <a:srgbClr val="8A1700"/>
                  </a:solidFill>
                </a:ln>
              </p:spPr>
            </p:sp>
            <p:sp>
              <p:nvSpPr>
                <p:cNvPr id="132" name="Freeform 132"/>
                <p:cNvSpPr/>
                <p:nvPr/>
              </p:nvSpPr>
              <p:spPr>
                <a:xfrm>
                  <a:off x="10729913" y="1140301"/>
                  <a:ext cx="104775" cy="73343"/>
                </a:xfrm>
                <a:custGeom>
                  <a:avLst/>
                  <a:gdLst/>
                  <a:ahLst/>
                  <a:cxnLst/>
                  <a:rect l="l" t="t" r="r" b="b"/>
                  <a:pathLst>
                    <a:path w="104775" h="73343">
                      <a:moveTo>
                        <a:pt x="0" y="0"/>
                      </a:moveTo>
                      <a:lnTo>
                        <a:pt x="0" y="47149"/>
                      </a:lnTo>
                      <a:cubicBezTo>
                        <a:pt x="0" y="61615"/>
                        <a:pt x="23455" y="73343"/>
                        <a:pt x="52388" y="73343"/>
                      </a:cubicBezTo>
                      <a:cubicBezTo>
                        <a:pt x="81320" y="73343"/>
                        <a:pt x="104775" y="61615"/>
                        <a:pt x="104775" y="47149"/>
                      </a:cubicBezTo>
                      <a:lnTo>
                        <a:pt x="104775" y="0"/>
                      </a:lnTo>
                    </a:path>
                  </a:pathLst>
                </a:custGeom>
                <a:noFill/>
                <a:ln w="15716">
                  <a:solidFill>
                    <a:srgbClr val="8A1700"/>
                  </a:solidFill>
                </a:ln>
              </p:spPr>
            </p:sp>
          </p:grpSp>
          <p:sp>
            <p:nvSpPr>
              <p:cNvPr id="134" name="TextBox 134"/>
              <p:cNvSpPr txBox="1"/>
              <p:nvPr/>
            </p:nvSpPr>
            <p:spPr>
              <a:xfrm>
                <a:off x="10604817" y="1308259"/>
                <a:ext cx="35496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520E00"/>
                    </a:solidFill>
                    <a:latin typeface="+mn-lt"/>
                    <a:ea typeface="+mn-ea"/>
                    <a:cs typeface="+mn-cs"/>
                  </a:rPr>
                  <a:t>年轻成长</a:t>
                </a:r>
                <a:br/>
                <a:r>
                  <a:rPr lang="zh-CN" sz="680" b="1" dirty="0">
                    <a:solidFill>
                      <a:srgbClr val="520E00"/>
                    </a:solidFill>
                    <a:latin typeface="+mn-lt"/>
                    <a:ea typeface="+mn-ea"/>
                    <a:cs typeface="+mn-cs"/>
                  </a:rPr>
                  <a:t>客户</a:t>
                </a:r>
              </a:p>
            </p:txBody>
          </p:sp>
          <p:sp>
            <p:nvSpPr>
              <p:cNvPr id="135" name="Freeform 135"/>
              <p:cNvSpPr/>
              <p:nvPr/>
            </p:nvSpPr>
            <p:spPr>
              <a:xfrm>
                <a:off x="11472220" y="1080435"/>
                <a:ext cx="163051" cy="141940"/>
              </a:xfrm>
              <a:custGeom>
                <a:avLst/>
                <a:gdLst/>
                <a:ahLst/>
                <a:cxnLst/>
                <a:rect l="l" t="t" r="r" b="b"/>
                <a:pathLst>
                  <a:path w="163051" h="141940">
                    <a:moveTo>
                      <a:pt x="147089" y="77084"/>
                    </a:moveTo>
                    <a:lnTo>
                      <a:pt x="81605" y="141940"/>
                    </a:lnTo>
                    <a:lnTo>
                      <a:pt x="16120" y="77084"/>
                    </a:lnTo>
                    <a:cubicBezTo>
                      <a:pt x="4344" y="65625"/>
                      <a:pt x="0" y="48525"/>
                      <a:pt x="4879" y="32835"/>
                    </a:cubicBezTo>
                    <a:cubicBezTo>
                      <a:pt x="9757" y="17144"/>
                      <a:pt x="23032" y="5522"/>
                      <a:pt x="39230" y="2761"/>
                    </a:cubicBezTo>
                    <a:cubicBezTo>
                      <a:pt x="55427" y="0"/>
                      <a:pt x="71803" y="6567"/>
                      <a:pt x="81605" y="19755"/>
                    </a:cubicBezTo>
                    <a:cubicBezTo>
                      <a:pt x="91447" y="6665"/>
                      <a:pt x="107788" y="185"/>
                      <a:pt x="123927" y="2972"/>
                    </a:cubicBezTo>
                    <a:cubicBezTo>
                      <a:pt x="140065" y="5759"/>
                      <a:pt x="153287" y="17344"/>
                      <a:pt x="158169" y="32977"/>
                    </a:cubicBezTo>
                    <a:cubicBezTo>
                      <a:pt x="163051" y="48610"/>
                      <a:pt x="158773" y="65660"/>
                      <a:pt x="147089" y="77137"/>
                    </a:cubicBezTo>
                  </a:path>
                </a:pathLst>
              </a:custGeom>
              <a:noFill/>
              <a:ln w="15716">
                <a:solidFill>
                  <a:srgbClr val="8A1700"/>
                </a:solidFill>
              </a:ln>
            </p:spPr>
          </p:sp>
          <p:sp>
            <p:nvSpPr>
              <p:cNvPr id="136" name="TextBox 136"/>
              <p:cNvSpPr txBox="1"/>
              <p:nvPr/>
            </p:nvSpPr>
            <p:spPr>
              <a:xfrm>
                <a:off x="11462702" y="1308259"/>
                <a:ext cx="18224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520E00"/>
                    </a:solidFill>
                    <a:latin typeface="+mn-lt"/>
                    <a:ea typeface="+mn-ea"/>
                    <a:cs typeface="+mn-cs"/>
                  </a:rPr>
                  <a:t>银发</a:t>
                </a:r>
                <a:br/>
                <a:r>
                  <a:rPr lang="zh-CN" sz="680" b="1" dirty="0">
                    <a:solidFill>
                      <a:srgbClr val="520E00"/>
                    </a:solidFill>
                    <a:latin typeface="+mn-lt"/>
                    <a:ea typeface="+mn-ea"/>
                    <a:cs typeface="+mn-cs"/>
                  </a:rPr>
                  <a:t>客户</a:t>
                </a:r>
              </a:p>
            </p:txBody>
          </p:sp>
        </p:grpSp>
        <p:grpSp>
          <p:nvGrpSpPr>
            <p:cNvPr id="148" name="nt-row-1"/>
            <p:cNvGrpSpPr/>
            <p:nvPr/>
          </p:nvGrpSpPr>
          <p:grpSpPr>
            <a:xfrm>
              <a:off x="7594079" y="1643062"/>
              <a:ext cx="4127068" cy="379572"/>
              <a:chOff x="7594079" y="1643062"/>
              <a:chExt cx="4127068" cy="379572"/>
            </a:xfrm>
          </p:grpSpPr>
          <p:grpSp>
            <p:nvGrpSpPr>
              <p:cNvPr id="141" name="Group 141"/>
              <p:cNvGrpSpPr/>
              <p:nvPr/>
            </p:nvGrpSpPr>
            <p:grpSpPr>
              <a:xfrm>
                <a:off x="7710487" y="1643062"/>
                <a:ext cx="142875" cy="142875"/>
                <a:chOff x="7710487" y="1643062"/>
                <a:chExt cx="142875" cy="142875"/>
              </a:xfrm>
            </p:grpSpPr>
            <p:sp>
              <p:nvSpPr>
                <p:cNvPr id="138" name="Freeform 138"/>
                <p:cNvSpPr/>
                <p:nvPr/>
              </p:nvSpPr>
              <p:spPr>
                <a:xfrm>
                  <a:off x="7773987" y="17065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4287">
                  <a:solidFill>
                    <a:srgbClr val="8A1700"/>
                  </a:solidFill>
                </a:ln>
              </p:spPr>
            </p:sp>
            <p:sp>
              <p:nvSpPr>
                <p:cNvPr id="139" name="Freeform 139"/>
                <p:cNvSpPr/>
                <p:nvPr/>
              </p:nvSpPr>
              <p:spPr>
                <a:xfrm>
                  <a:off x="7742237" y="16748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4287">
                  <a:solidFill>
                    <a:srgbClr val="8A1700"/>
                  </a:solidFill>
                </a:ln>
              </p:spPr>
            </p:sp>
            <p:sp>
              <p:nvSpPr>
                <p:cNvPr id="140" name="Freeform 140"/>
                <p:cNvSpPr/>
                <p:nvPr/>
              </p:nvSpPr>
              <p:spPr>
                <a:xfrm>
                  <a:off x="7710487" y="16430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4287">
                  <a:solidFill>
                    <a:srgbClr val="8A1700"/>
                  </a:solidFill>
                </a:ln>
              </p:spPr>
            </p:sp>
          </p:grpSp>
          <p:sp>
            <p:nvSpPr>
              <p:cNvPr id="142" name="TextBox 142"/>
              <p:cNvSpPr txBox="1"/>
              <p:nvPr/>
            </p:nvSpPr>
            <p:spPr>
              <a:xfrm>
                <a:off x="7594079" y="1889284"/>
                <a:ext cx="375691" cy="133350"/>
              </a:xfrm>
              <a:prstGeom prst="rect">
                <a:avLst/>
              </a:prstGeom>
              <a:noFill/>
              <a:ln>
                <a:noFill/>
              </a:ln>
            </p:spPr>
            <p:txBody>
              <a:bodyPr wrap="none" lIns="0" tIns="0" rIns="0" bIns="0" anchor="t" anchorCtr="0">
                <a:spAutoFit/>
              </a:bodyPr>
              <a:lstStyle/>
              <a:p>
                <a:pPr algn="ctr"/>
                <a:r>
                  <a:rPr lang="zh-CN" sz="680" b="1" dirty="0">
                    <a:solidFill>
                      <a:srgbClr val="520E00"/>
                    </a:solidFill>
                    <a:latin typeface="+mn-lt"/>
                    <a:ea typeface="+mn-ea"/>
                    <a:cs typeface="+mn-cs"/>
                  </a:rPr>
                  <a:t>核心需求</a:t>
                </a:r>
              </a:p>
            </p:txBody>
          </p:sp>
          <p:sp>
            <p:nvSpPr>
              <p:cNvPr id="143" name="TextBox 143"/>
              <p:cNvSpPr txBox="1"/>
              <p:nvPr/>
            </p:nvSpPr>
            <p:spPr>
              <a:xfrm>
                <a:off x="8219122" y="1702832"/>
                <a:ext cx="49720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财富保值增值</a:t>
                </a:r>
                <a:br/>
                <a:r>
                  <a:rPr lang="zh-CN" sz="640" dirty="0">
                    <a:solidFill>
                      <a:srgbClr val="60403A"/>
                    </a:solidFill>
                    <a:latin typeface="+mn-lt"/>
                    <a:ea typeface="+mn-ea"/>
                    <a:cs typeface="+mn-cs"/>
                  </a:rPr>
                  <a:t>家族传承</a:t>
                </a:r>
              </a:p>
            </p:txBody>
          </p:sp>
          <p:sp>
            <p:nvSpPr>
              <p:cNvPr id="144" name="TextBox 144"/>
              <p:cNvSpPr txBox="1"/>
              <p:nvPr/>
            </p:nvSpPr>
            <p:spPr>
              <a:xfrm>
                <a:off x="8990648" y="1702832"/>
                <a:ext cx="49720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企业经营支持</a:t>
                </a:r>
                <a:br/>
                <a:r>
                  <a:rPr lang="zh-CN" sz="640" dirty="0">
                    <a:solidFill>
                      <a:srgbClr val="60403A"/>
                    </a:solidFill>
                    <a:latin typeface="+mn-lt"/>
                    <a:ea typeface="+mn-ea"/>
                    <a:cs typeface="+mn-cs"/>
                  </a:rPr>
                  <a:t>资金效率</a:t>
                </a:r>
              </a:p>
            </p:txBody>
          </p:sp>
          <p:sp>
            <p:nvSpPr>
              <p:cNvPr id="145" name="TextBox 145"/>
              <p:cNvSpPr txBox="1"/>
              <p:nvPr/>
            </p:nvSpPr>
            <p:spPr>
              <a:xfrm>
                <a:off x="9843452" y="17028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财富增长</a:t>
                </a:r>
                <a:br/>
                <a:r>
                  <a:rPr lang="zh-CN" sz="640" dirty="0">
                    <a:solidFill>
                      <a:srgbClr val="60403A"/>
                    </a:solidFill>
                    <a:latin typeface="+mn-lt"/>
                    <a:ea typeface="+mn-ea"/>
                    <a:cs typeface="+mn-cs"/>
                  </a:rPr>
                  <a:t>生活品质</a:t>
                </a:r>
              </a:p>
            </p:txBody>
          </p:sp>
          <p:sp>
            <p:nvSpPr>
              <p:cNvPr id="146" name="TextBox 146"/>
              <p:cNvSpPr txBox="1"/>
              <p:nvPr/>
            </p:nvSpPr>
            <p:spPr>
              <a:xfrm>
                <a:off x="10614978" y="17028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成长支持</a:t>
                </a:r>
                <a:br/>
                <a:r>
                  <a:rPr lang="zh-CN" sz="640" dirty="0">
                    <a:solidFill>
                      <a:srgbClr val="60403A"/>
                    </a:solidFill>
                    <a:latin typeface="+mn-lt"/>
                    <a:ea typeface="+mn-ea"/>
                    <a:cs typeface="+mn-cs"/>
                  </a:rPr>
                  <a:t>财务规划</a:t>
                </a:r>
              </a:p>
            </p:txBody>
          </p:sp>
          <p:sp>
            <p:nvSpPr>
              <p:cNvPr id="147" name="TextBox 147"/>
              <p:cNvSpPr txBox="1"/>
              <p:nvPr/>
            </p:nvSpPr>
            <p:spPr>
              <a:xfrm>
                <a:off x="11386502" y="17028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资产安全</a:t>
                </a:r>
                <a:br/>
                <a:r>
                  <a:rPr lang="zh-CN" sz="640" dirty="0">
                    <a:solidFill>
                      <a:srgbClr val="60403A"/>
                    </a:solidFill>
                    <a:latin typeface="+mn-lt"/>
                    <a:ea typeface="+mn-ea"/>
                    <a:cs typeface="+mn-cs"/>
                  </a:rPr>
                  <a:t>养老保障</a:t>
                </a:r>
              </a:p>
            </p:txBody>
          </p:sp>
        </p:grpSp>
        <p:grpSp>
          <p:nvGrpSpPr>
            <p:cNvPr id="158" name="nt-row-2"/>
            <p:cNvGrpSpPr/>
            <p:nvPr/>
          </p:nvGrpSpPr>
          <p:grpSpPr>
            <a:xfrm>
              <a:off x="7594079" y="2238375"/>
              <a:ext cx="4127068" cy="355759"/>
              <a:chOff x="7594079" y="2238375"/>
              <a:chExt cx="4127068" cy="355759"/>
            </a:xfrm>
          </p:grpSpPr>
          <p:grpSp>
            <p:nvGrpSpPr>
              <p:cNvPr id="151" name="Group 151"/>
              <p:cNvGrpSpPr/>
              <p:nvPr/>
            </p:nvGrpSpPr>
            <p:grpSpPr>
              <a:xfrm>
                <a:off x="7710487" y="2238375"/>
                <a:ext cx="142875" cy="95250"/>
                <a:chOff x="7710487" y="2238375"/>
                <a:chExt cx="142875" cy="95250"/>
              </a:xfrm>
            </p:grpSpPr>
            <p:sp>
              <p:nvSpPr>
                <p:cNvPr id="149" name="Freeform 149"/>
                <p:cNvSpPr/>
                <p:nvPr/>
              </p:nvSpPr>
              <p:spPr>
                <a:xfrm>
                  <a:off x="7766050" y="227012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4287">
                  <a:solidFill>
                    <a:srgbClr val="8A1700"/>
                  </a:solidFill>
                </a:ln>
              </p:spPr>
            </p:sp>
            <p:sp>
              <p:nvSpPr>
                <p:cNvPr id="150" name="Freeform 150"/>
                <p:cNvSpPr/>
                <p:nvPr/>
              </p:nvSpPr>
              <p:spPr>
                <a:xfrm>
                  <a:off x="7710487" y="2238375"/>
                  <a:ext cx="142875" cy="95250"/>
                </a:xfrm>
                <a:custGeom>
                  <a:avLst/>
                  <a:gdLst/>
                  <a:ahLst/>
                  <a:cxnLst/>
                  <a:rect l="l" t="t" r="r" b="b"/>
                  <a:pathLst>
                    <a:path w="142875" h="95250">
                      <a:moveTo>
                        <a:pt x="142875" y="47625"/>
                      </a:moveTo>
                      <a:cubicBezTo>
                        <a:pt x="123825" y="79375"/>
                        <a:pt x="100012" y="95250"/>
                        <a:pt x="71437" y="95250"/>
                      </a:cubicBezTo>
                      <a:cubicBezTo>
                        <a:pt x="42862" y="95250"/>
                        <a:pt x="19050" y="79375"/>
                        <a:pt x="0" y="47625"/>
                      </a:cubicBezTo>
                      <a:cubicBezTo>
                        <a:pt x="19050" y="15875"/>
                        <a:pt x="42862" y="0"/>
                        <a:pt x="71437" y="0"/>
                      </a:cubicBezTo>
                      <a:cubicBezTo>
                        <a:pt x="100012" y="0"/>
                        <a:pt x="123825" y="15875"/>
                        <a:pt x="142875" y="47625"/>
                      </a:cubicBezTo>
                    </a:path>
                  </a:pathLst>
                </a:custGeom>
                <a:noFill/>
                <a:ln w="14287">
                  <a:solidFill>
                    <a:srgbClr val="8A1700"/>
                  </a:solidFill>
                </a:ln>
              </p:spPr>
            </p:sp>
          </p:grpSp>
          <p:sp>
            <p:nvSpPr>
              <p:cNvPr id="152" name="TextBox 152"/>
              <p:cNvSpPr txBox="1"/>
              <p:nvPr/>
            </p:nvSpPr>
            <p:spPr>
              <a:xfrm>
                <a:off x="7594079" y="2460784"/>
                <a:ext cx="375691" cy="133350"/>
              </a:xfrm>
              <a:prstGeom prst="rect">
                <a:avLst/>
              </a:prstGeom>
              <a:noFill/>
              <a:ln>
                <a:noFill/>
              </a:ln>
            </p:spPr>
            <p:txBody>
              <a:bodyPr wrap="none" lIns="0" tIns="0" rIns="0" bIns="0" anchor="t" anchorCtr="0">
                <a:spAutoFit/>
              </a:bodyPr>
              <a:lstStyle/>
              <a:p>
                <a:pPr algn="ctr"/>
                <a:r>
                  <a:rPr lang="zh-CN" sz="680" b="1" dirty="0">
                    <a:solidFill>
                      <a:srgbClr val="520E00"/>
                    </a:solidFill>
                    <a:latin typeface="+mn-lt"/>
                    <a:ea typeface="+mn-ea"/>
                    <a:cs typeface="+mn-cs"/>
                  </a:rPr>
                  <a:t>关注重点</a:t>
                </a:r>
              </a:p>
            </p:txBody>
          </p:sp>
          <p:sp>
            <p:nvSpPr>
              <p:cNvPr id="153" name="TextBox 153"/>
              <p:cNvSpPr txBox="1"/>
              <p:nvPr/>
            </p:nvSpPr>
            <p:spPr>
              <a:xfrm>
                <a:off x="8300402" y="22743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资产配置</a:t>
                </a:r>
                <a:br/>
                <a:r>
                  <a:rPr lang="zh-CN" sz="640" dirty="0">
                    <a:solidFill>
                      <a:srgbClr val="60403A"/>
                    </a:solidFill>
                    <a:latin typeface="+mn-lt"/>
                    <a:ea typeface="+mn-ea"/>
                    <a:cs typeface="+mn-cs"/>
                  </a:rPr>
                  <a:t>风险管控</a:t>
                </a:r>
              </a:p>
            </p:txBody>
          </p:sp>
          <p:sp>
            <p:nvSpPr>
              <p:cNvPr id="154" name="TextBox 154"/>
              <p:cNvSpPr txBox="1"/>
              <p:nvPr/>
            </p:nvSpPr>
            <p:spPr>
              <a:xfrm>
                <a:off x="8976017" y="233148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融资成本优化</a:t>
                </a:r>
              </a:p>
            </p:txBody>
          </p:sp>
          <p:sp>
            <p:nvSpPr>
              <p:cNvPr id="155" name="TextBox 155"/>
              <p:cNvSpPr txBox="1"/>
              <p:nvPr/>
            </p:nvSpPr>
            <p:spPr>
              <a:xfrm>
                <a:off x="9843452" y="22743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投资收益</a:t>
                </a:r>
                <a:br/>
                <a:r>
                  <a:rPr lang="zh-CN" sz="640" dirty="0">
                    <a:solidFill>
                      <a:srgbClr val="60403A"/>
                    </a:solidFill>
                    <a:latin typeface="+mn-lt"/>
                    <a:ea typeface="+mn-ea"/>
                    <a:cs typeface="+mn-cs"/>
                  </a:rPr>
                  <a:t>资产增值</a:t>
                </a:r>
              </a:p>
            </p:txBody>
          </p:sp>
          <p:sp>
            <p:nvSpPr>
              <p:cNvPr id="156" name="TextBox 156"/>
              <p:cNvSpPr txBox="1"/>
              <p:nvPr/>
            </p:nvSpPr>
            <p:spPr>
              <a:xfrm>
                <a:off x="10614978" y="22743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学习成长</a:t>
                </a:r>
                <a:br/>
                <a:r>
                  <a:rPr lang="zh-CN" sz="640" dirty="0">
                    <a:solidFill>
                      <a:srgbClr val="60403A"/>
                    </a:solidFill>
                    <a:latin typeface="+mn-lt"/>
                    <a:ea typeface="+mn-ea"/>
                    <a:cs typeface="+mn-cs"/>
                  </a:rPr>
                  <a:t>消费体验</a:t>
                </a:r>
              </a:p>
            </p:txBody>
          </p:sp>
          <p:sp>
            <p:nvSpPr>
              <p:cNvPr id="157" name="TextBox 157"/>
              <p:cNvSpPr txBox="1"/>
              <p:nvPr/>
            </p:nvSpPr>
            <p:spPr>
              <a:xfrm>
                <a:off x="11386502" y="22743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稳健安全</a:t>
                </a:r>
                <a:br/>
                <a:r>
                  <a:rPr lang="zh-CN" sz="640" dirty="0">
                    <a:solidFill>
                      <a:srgbClr val="60403A"/>
                    </a:solidFill>
                    <a:latin typeface="+mn-lt"/>
                    <a:ea typeface="+mn-ea"/>
                    <a:cs typeface="+mn-cs"/>
                  </a:rPr>
                  <a:t>便捷省心</a:t>
                </a:r>
              </a:p>
            </p:txBody>
          </p:sp>
        </p:grpSp>
        <p:grpSp>
          <p:nvGrpSpPr>
            <p:cNvPr id="170" name="nt-row-3"/>
            <p:cNvGrpSpPr/>
            <p:nvPr/>
          </p:nvGrpSpPr>
          <p:grpSpPr>
            <a:xfrm>
              <a:off x="7594079" y="2785789"/>
              <a:ext cx="4167708" cy="379845"/>
              <a:chOff x="7594079" y="2785789"/>
              <a:chExt cx="4167708" cy="379845"/>
            </a:xfrm>
          </p:grpSpPr>
          <p:grpSp>
            <p:nvGrpSpPr>
              <p:cNvPr id="163" name="Group 163"/>
              <p:cNvGrpSpPr/>
              <p:nvPr/>
            </p:nvGrpSpPr>
            <p:grpSpPr>
              <a:xfrm>
                <a:off x="7710487" y="2785789"/>
                <a:ext cx="142875" cy="143148"/>
                <a:chOff x="7710487" y="2785789"/>
                <a:chExt cx="142875" cy="143148"/>
              </a:xfrm>
            </p:grpSpPr>
            <p:sp>
              <p:nvSpPr>
                <p:cNvPr id="159" name="Freeform 159"/>
                <p:cNvSpPr/>
                <p:nvPr/>
              </p:nvSpPr>
              <p:spPr>
                <a:xfrm>
                  <a:off x="7710487" y="2825750"/>
                  <a:ext cx="142875" cy="31750"/>
                </a:xfrm>
                <a:custGeom>
                  <a:avLst/>
                  <a:gdLst/>
                  <a:ahLst/>
                  <a:cxnLst/>
                  <a:rect l="l" t="t" r="r" b="b"/>
                  <a:pathLst>
                    <a:path w="142875" h="31750">
                      <a:moveTo>
                        <a:pt x="0" y="7937"/>
                      </a:moveTo>
                      <a:cubicBezTo>
                        <a:pt x="0" y="3554"/>
                        <a:pt x="3554" y="0"/>
                        <a:pt x="7937" y="0"/>
                      </a:cubicBezTo>
                      <a:lnTo>
                        <a:pt x="134937" y="0"/>
                      </a:lnTo>
                      <a:cubicBezTo>
                        <a:pt x="139321" y="0"/>
                        <a:pt x="142875" y="3554"/>
                        <a:pt x="142875" y="7937"/>
                      </a:cubicBezTo>
                      <a:lnTo>
                        <a:pt x="142875" y="23812"/>
                      </a:lnTo>
                      <a:cubicBezTo>
                        <a:pt x="142875" y="28196"/>
                        <a:pt x="139321" y="31750"/>
                        <a:pt x="134937" y="31750"/>
                      </a:cubicBezTo>
                      <a:lnTo>
                        <a:pt x="7937" y="31750"/>
                      </a:lnTo>
                      <a:cubicBezTo>
                        <a:pt x="3554" y="31750"/>
                        <a:pt x="0" y="28196"/>
                        <a:pt x="0" y="23812"/>
                      </a:cubicBezTo>
                      <a:lnTo>
                        <a:pt x="0" y="7937"/>
                      </a:lnTo>
                    </a:path>
                  </a:pathLst>
                </a:custGeom>
                <a:noFill/>
                <a:ln w="14287">
                  <a:solidFill>
                    <a:srgbClr val="8A1700"/>
                  </a:solidFill>
                </a:ln>
              </p:spPr>
            </p:sp>
            <p:sp>
              <p:nvSpPr>
                <p:cNvPr id="160" name="Freeform 160"/>
                <p:cNvSpPr/>
                <p:nvPr/>
              </p:nvSpPr>
              <p:spPr>
                <a:xfrm>
                  <a:off x="7781925" y="2825750"/>
                  <a:ext cx="9525" cy="103187"/>
                </a:xfrm>
                <a:custGeom>
                  <a:avLst/>
                  <a:gdLst/>
                  <a:ahLst/>
                  <a:cxnLst/>
                  <a:rect l="l" t="t" r="r" b="b"/>
                  <a:pathLst>
                    <a:path w="9525" h="103187">
                      <a:moveTo>
                        <a:pt x="0" y="0"/>
                      </a:moveTo>
                      <a:lnTo>
                        <a:pt x="0" y="103187"/>
                      </a:lnTo>
                    </a:path>
                  </a:pathLst>
                </a:custGeom>
                <a:noFill/>
                <a:ln w="14287">
                  <a:solidFill>
                    <a:srgbClr val="8A1700"/>
                  </a:solidFill>
                </a:ln>
              </p:spPr>
            </p:sp>
            <p:sp>
              <p:nvSpPr>
                <p:cNvPr id="161" name="Freeform 161"/>
                <p:cNvSpPr/>
                <p:nvPr/>
              </p:nvSpPr>
              <p:spPr>
                <a:xfrm>
                  <a:off x="7726362" y="2857500"/>
                  <a:ext cx="111125" cy="71437"/>
                </a:xfrm>
                <a:custGeom>
                  <a:avLst/>
                  <a:gdLst/>
                  <a:ahLst/>
                  <a:cxnLst/>
                  <a:rect l="l" t="t" r="r" b="b"/>
                  <a:pathLst>
                    <a:path w="111125" h="71437">
                      <a:moveTo>
                        <a:pt x="111125" y="0"/>
                      </a:moveTo>
                      <a:lnTo>
                        <a:pt x="111125" y="55562"/>
                      </a:lnTo>
                      <a:cubicBezTo>
                        <a:pt x="111125" y="64330"/>
                        <a:pt x="104017" y="71437"/>
                        <a:pt x="95250" y="71437"/>
                      </a:cubicBezTo>
                      <a:lnTo>
                        <a:pt x="15875" y="71437"/>
                      </a:lnTo>
                      <a:cubicBezTo>
                        <a:pt x="7107" y="71437"/>
                        <a:pt x="0" y="64330"/>
                        <a:pt x="0" y="55562"/>
                      </a:cubicBezTo>
                      <a:lnTo>
                        <a:pt x="0" y="0"/>
                      </a:lnTo>
                    </a:path>
                  </a:pathLst>
                </a:custGeom>
                <a:noFill/>
                <a:ln w="14287">
                  <a:solidFill>
                    <a:srgbClr val="8A1700"/>
                  </a:solidFill>
                </a:ln>
              </p:spPr>
            </p:sp>
            <p:sp>
              <p:nvSpPr>
                <p:cNvPr id="162" name="Freeform 162"/>
                <p:cNvSpPr/>
                <p:nvPr/>
              </p:nvSpPr>
              <p:spPr>
                <a:xfrm>
                  <a:off x="7726362" y="2785789"/>
                  <a:ext cx="111125" cy="39961"/>
                </a:xfrm>
                <a:custGeom>
                  <a:avLst/>
                  <a:gdLst/>
                  <a:ahLst/>
                  <a:cxnLst/>
                  <a:rect l="l" t="t" r="r" b="b"/>
                  <a:pathLst>
                    <a:path w="111125" h="39961">
                      <a:moveTo>
                        <a:pt x="19844" y="39961"/>
                      </a:moveTo>
                      <a:cubicBezTo>
                        <a:pt x="8884" y="39961"/>
                        <a:pt x="0" y="31076"/>
                        <a:pt x="0" y="20117"/>
                      </a:cubicBezTo>
                      <a:cubicBezTo>
                        <a:pt x="0" y="9157"/>
                        <a:pt x="8884" y="273"/>
                        <a:pt x="19844" y="273"/>
                      </a:cubicBezTo>
                      <a:cubicBezTo>
                        <a:pt x="35514" y="0"/>
                        <a:pt x="49687" y="15747"/>
                        <a:pt x="55562" y="39961"/>
                      </a:cubicBezTo>
                      <a:cubicBezTo>
                        <a:pt x="61438" y="15747"/>
                        <a:pt x="75611" y="0"/>
                        <a:pt x="91281" y="273"/>
                      </a:cubicBezTo>
                      <a:cubicBezTo>
                        <a:pt x="102241" y="273"/>
                        <a:pt x="111125" y="9157"/>
                        <a:pt x="111125" y="20117"/>
                      </a:cubicBezTo>
                      <a:cubicBezTo>
                        <a:pt x="111125" y="31076"/>
                        <a:pt x="102241" y="39961"/>
                        <a:pt x="91281" y="39961"/>
                      </a:cubicBezTo>
                    </a:path>
                  </a:pathLst>
                </a:custGeom>
                <a:noFill/>
                <a:ln w="14287">
                  <a:solidFill>
                    <a:srgbClr val="8A1700"/>
                  </a:solidFill>
                </a:ln>
              </p:spPr>
            </p:sp>
          </p:grpSp>
          <p:sp>
            <p:nvSpPr>
              <p:cNvPr id="164" name="TextBox 164"/>
              <p:cNvSpPr txBox="1"/>
              <p:nvPr/>
            </p:nvSpPr>
            <p:spPr>
              <a:xfrm>
                <a:off x="7594079" y="3032284"/>
                <a:ext cx="375691" cy="133350"/>
              </a:xfrm>
              <a:prstGeom prst="rect">
                <a:avLst/>
              </a:prstGeom>
              <a:noFill/>
              <a:ln>
                <a:noFill/>
              </a:ln>
            </p:spPr>
            <p:txBody>
              <a:bodyPr wrap="none" lIns="0" tIns="0" rIns="0" bIns="0" anchor="t" anchorCtr="0">
                <a:spAutoFit/>
              </a:bodyPr>
              <a:lstStyle/>
              <a:p>
                <a:pPr algn="ctr"/>
                <a:r>
                  <a:rPr lang="zh-CN" sz="680" b="1" dirty="0">
                    <a:solidFill>
                      <a:srgbClr val="520E00"/>
                    </a:solidFill>
                    <a:latin typeface="+mn-lt"/>
                    <a:ea typeface="+mn-ea"/>
                    <a:cs typeface="+mn-cs"/>
                  </a:rPr>
                  <a:t>产品偏好</a:t>
                </a:r>
              </a:p>
            </p:txBody>
          </p:sp>
          <p:sp>
            <p:nvSpPr>
              <p:cNvPr id="165" name="TextBox 165"/>
              <p:cNvSpPr txBox="1"/>
              <p:nvPr/>
            </p:nvSpPr>
            <p:spPr>
              <a:xfrm>
                <a:off x="8300402" y="28458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私行产品</a:t>
                </a:r>
                <a:br/>
                <a:r>
                  <a:rPr lang="zh-CN" sz="640" dirty="0">
                    <a:solidFill>
                      <a:srgbClr val="60403A"/>
                    </a:solidFill>
                    <a:latin typeface="+mn-lt"/>
                    <a:ea typeface="+mn-ea"/>
                    <a:cs typeface="+mn-cs"/>
                  </a:rPr>
                  <a:t>家族信托</a:t>
                </a:r>
              </a:p>
            </p:txBody>
          </p:sp>
          <p:sp>
            <p:nvSpPr>
              <p:cNvPr id="166" name="TextBox 166"/>
              <p:cNvSpPr txBox="1"/>
              <p:nvPr/>
            </p:nvSpPr>
            <p:spPr>
              <a:xfrm>
                <a:off x="9071928" y="28458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对公贷款</a:t>
                </a:r>
                <a:br/>
                <a:r>
                  <a:rPr lang="zh-CN" sz="640" dirty="0">
                    <a:solidFill>
                      <a:srgbClr val="60403A"/>
                    </a:solidFill>
                    <a:latin typeface="+mn-lt"/>
                    <a:ea typeface="+mn-ea"/>
                    <a:cs typeface="+mn-cs"/>
                  </a:rPr>
                  <a:t>现金管理</a:t>
                </a:r>
              </a:p>
            </p:txBody>
          </p:sp>
          <p:sp>
            <p:nvSpPr>
              <p:cNvPr id="167" name="TextBox 167"/>
              <p:cNvSpPr txBox="1"/>
              <p:nvPr/>
            </p:nvSpPr>
            <p:spPr>
              <a:xfrm>
                <a:off x="9747542" y="290298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理财、信用卡</a:t>
                </a:r>
              </a:p>
            </p:txBody>
          </p:sp>
          <p:sp>
            <p:nvSpPr>
              <p:cNvPr id="168" name="TextBox 168"/>
              <p:cNvSpPr txBox="1"/>
              <p:nvPr/>
            </p:nvSpPr>
            <p:spPr>
              <a:xfrm>
                <a:off x="10562146" y="2902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互联网产品</a:t>
                </a:r>
              </a:p>
            </p:txBody>
          </p:sp>
          <p:sp>
            <p:nvSpPr>
              <p:cNvPr id="169" name="TextBox 169"/>
              <p:cNvSpPr txBox="1"/>
              <p:nvPr/>
            </p:nvSpPr>
            <p:spPr>
              <a:xfrm>
                <a:off x="11345862" y="2845832"/>
                <a:ext cx="41592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存款理财</a:t>
                </a:r>
                <a:br/>
                <a:r>
                  <a:rPr lang="zh-CN" sz="640" dirty="0">
                    <a:solidFill>
                      <a:srgbClr val="60403A"/>
                    </a:solidFill>
                    <a:latin typeface="+mn-lt"/>
                    <a:ea typeface="+mn-ea"/>
                    <a:cs typeface="+mn-cs"/>
                  </a:rPr>
                  <a:t>养老金产品</a:t>
                </a:r>
              </a:p>
            </p:txBody>
          </p:sp>
        </p:grpSp>
        <p:grpSp>
          <p:nvGrpSpPr>
            <p:cNvPr id="182" name="nt-row-4"/>
            <p:cNvGrpSpPr/>
            <p:nvPr/>
          </p:nvGrpSpPr>
          <p:grpSpPr>
            <a:xfrm>
              <a:off x="7594079" y="3363464"/>
              <a:ext cx="4127068" cy="373670"/>
              <a:chOff x="7594079" y="3363464"/>
              <a:chExt cx="4127068" cy="373670"/>
            </a:xfrm>
          </p:grpSpPr>
          <p:grpSp>
            <p:nvGrpSpPr>
              <p:cNvPr id="175" name="Group 175"/>
              <p:cNvGrpSpPr/>
              <p:nvPr/>
            </p:nvGrpSpPr>
            <p:grpSpPr>
              <a:xfrm>
                <a:off x="7707739" y="3363464"/>
                <a:ext cx="148228" cy="129036"/>
                <a:chOff x="7707739" y="3363464"/>
                <a:chExt cx="148228" cy="129036"/>
              </a:xfrm>
            </p:grpSpPr>
            <p:sp>
              <p:nvSpPr>
                <p:cNvPr id="171" name="Freeform 171"/>
                <p:cNvSpPr/>
                <p:nvPr/>
              </p:nvSpPr>
              <p:spPr>
                <a:xfrm>
                  <a:off x="7707739" y="3363464"/>
                  <a:ext cx="148228" cy="129036"/>
                </a:xfrm>
                <a:custGeom>
                  <a:avLst/>
                  <a:gdLst/>
                  <a:ahLst/>
                  <a:cxnLst/>
                  <a:rect l="l" t="t" r="r" b="b"/>
                  <a:pathLst>
                    <a:path w="148228" h="129036">
                      <a:moveTo>
                        <a:pt x="133717" y="70077"/>
                      </a:moveTo>
                      <a:lnTo>
                        <a:pt x="74186" y="129036"/>
                      </a:lnTo>
                      <a:lnTo>
                        <a:pt x="14655" y="70077"/>
                      </a:lnTo>
                      <a:cubicBezTo>
                        <a:pt x="3949" y="59659"/>
                        <a:pt x="0" y="44113"/>
                        <a:pt x="4435" y="29850"/>
                      </a:cubicBezTo>
                      <a:cubicBezTo>
                        <a:pt x="8870" y="15586"/>
                        <a:pt x="20939" y="5020"/>
                        <a:pt x="35663" y="2510"/>
                      </a:cubicBezTo>
                      <a:cubicBezTo>
                        <a:pt x="50388" y="0"/>
                        <a:pt x="65276" y="5970"/>
                        <a:pt x="74186" y="17959"/>
                      </a:cubicBezTo>
                      <a:cubicBezTo>
                        <a:pt x="83134" y="6059"/>
                        <a:pt x="97989" y="168"/>
                        <a:pt x="112661" y="2702"/>
                      </a:cubicBezTo>
                      <a:cubicBezTo>
                        <a:pt x="127332" y="5235"/>
                        <a:pt x="139351" y="15767"/>
                        <a:pt x="143790" y="29979"/>
                      </a:cubicBezTo>
                      <a:cubicBezTo>
                        <a:pt x="148228" y="44191"/>
                        <a:pt x="144339" y="59691"/>
                        <a:pt x="133717" y="70124"/>
                      </a:cubicBezTo>
                    </a:path>
                  </a:pathLst>
                </a:custGeom>
                <a:noFill/>
                <a:ln w="14287">
                  <a:solidFill>
                    <a:srgbClr val="8A1700"/>
                  </a:solidFill>
                </a:ln>
              </p:spPr>
            </p:sp>
            <p:sp>
              <p:nvSpPr>
                <p:cNvPr id="172" name="Freeform 172"/>
                <p:cNvSpPr/>
                <p:nvPr/>
              </p:nvSpPr>
              <p:spPr>
                <a:xfrm>
                  <a:off x="7752688" y="3381375"/>
                  <a:ext cx="88768" cy="51594"/>
                </a:xfrm>
                <a:custGeom>
                  <a:avLst/>
                  <a:gdLst/>
                  <a:ahLst/>
                  <a:cxnLst/>
                  <a:rect l="l" t="t" r="r" b="b"/>
                  <a:pathLst>
                    <a:path w="88768" h="51594">
                      <a:moveTo>
                        <a:pt x="29237" y="0"/>
                      </a:moveTo>
                      <a:lnTo>
                        <a:pt x="3099" y="26138"/>
                      </a:lnTo>
                      <a:cubicBezTo>
                        <a:pt x="0" y="29238"/>
                        <a:pt x="0" y="34262"/>
                        <a:pt x="3099" y="37362"/>
                      </a:cubicBezTo>
                      <a:lnTo>
                        <a:pt x="7409" y="41672"/>
                      </a:lnTo>
                      <a:cubicBezTo>
                        <a:pt x="12886" y="47149"/>
                        <a:pt x="21776" y="47149"/>
                        <a:pt x="27252" y="41672"/>
                      </a:cubicBezTo>
                      <a:lnTo>
                        <a:pt x="35190" y="33734"/>
                      </a:lnTo>
                      <a:cubicBezTo>
                        <a:pt x="45053" y="23871"/>
                        <a:pt x="61045" y="23871"/>
                        <a:pt x="70909" y="33734"/>
                      </a:cubicBezTo>
                      <a:lnTo>
                        <a:pt x="88768" y="51594"/>
                      </a:lnTo>
                    </a:path>
                  </a:pathLst>
                </a:custGeom>
                <a:noFill/>
                <a:ln w="14287">
                  <a:solidFill>
                    <a:srgbClr val="8A1700"/>
                  </a:solidFill>
                </a:ln>
              </p:spPr>
            </p:sp>
            <p:sp>
              <p:nvSpPr>
                <p:cNvPr id="173" name="Freeform 173"/>
                <p:cNvSpPr/>
                <p:nvPr/>
              </p:nvSpPr>
              <p:spPr>
                <a:xfrm>
                  <a:off x="7785894" y="3456781"/>
                  <a:ext cx="15875" cy="15875"/>
                </a:xfrm>
                <a:custGeom>
                  <a:avLst/>
                  <a:gdLst/>
                  <a:ahLst/>
                  <a:cxnLst/>
                  <a:rect l="l" t="t" r="r" b="b"/>
                  <a:pathLst>
                    <a:path w="15875" h="15875">
                      <a:moveTo>
                        <a:pt x="0" y="0"/>
                      </a:moveTo>
                      <a:lnTo>
                        <a:pt x="15875" y="15875"/>
                      </a:lnTo>
                    </a:path>
                  </a:pathLst>
                </a:custGeom>
                <a:noFill/>
                <a:ln w="14287">
                  <a:solidFill>
                    <a:srgbClr val="8A1700"/>
                  </a:solidFill>
                </a:ln>
              </p:spPr>
            </p:sp>
            <p:sp>
              <p:nvSpPr>
                <p:cNvPr id="174" name="Freeform 174"/>
                <p:cNvSpPr/>
                <p:nvPr/>
              </p:nvSpPr>
              <p:spPr>
                <a:xfrm>
                  <a:off x="7805737" y="3436937"/>
                  <a:ext cx="15875" cy="15875"/>
                </a:xfrm>
                <a:custGeom>
                  <a:avLst/>
                  <a:gdLst/>
                  <a:ahLst/>
                  <a:cxnLst/>
                  <a:rect l="l" t="t" r="r" b="b"/>
                  <a:pathLst>
                    <a:path w="15875" h="15875">
                      <a:moveTo>
                        <a:pt x="0" y="0"/>
                      </a:moveTo>
                      <a:lnTo>
                        <a:pt x="15875" y="15875"/>
                      </a:lnTo>
                    </a:path>
                  </a:pathLst>
                </a:custGeom>
                <a:noFill/>
                <a:ln w="14287">
                  <a:solidFill>
                    <a:srgbClr val="8A1700"/>
                  </a:solidFill>
                </a:ln>
              </p:spPr>
            </p:sp>
          </p:grpSp>
          <p:sp>
            <p:nvSpPr>
              <p:cNvPr id="176" name="TextBox 176"/>
              <p:cNvSpPr txBox="1"/>
              <p:nvPr/>
            </p:nvSpPr>
            <p:spPr>
              <a:xfrm>
                <a:off x="7594079" y="3603784"/>
                <a:ext cx="375691" cy="133350"/>
              </a:xfrm>
              <a:prstGeom prst="rect">
                <a:avLst/>
              </a:prstGeom>
              <a:noFill/>
              <a:ln>
                <a:noFill/>
              </a:ln>
            </p:spPr>
            <p:txBody>
              <a:bodyPr wrap="none" lIns="0" tIns="0" rIns="0" bIns="0" anchor="t" anchorCtr="0">
                <a:spAutoFit/>
              </a:bodyPr>
              <a:lstStyle/>
              <a:p>
                <a:pPr algn="ctr"/>
                <a:r>
                  <a:rPr lang="zh-CN" sz="680" b="1" dirty="0">
                    <a:solidFill>
                      <a:srgbClr val="520E00"/>
                    </a:solidFill>
                    <a:latin typeface="+mn-lt"/>
                    <a:ea typeface="+mn-ea"/>
                    <a:cs typeface="+mn-cs"/>
                  </a:rPr>
                  <a:t>服务偏好</a:t>
                </a:r>
              </a:p>
            </p:txBody>
          </p:sp>
          <p:sp>
            <p:nvSpPr>
              <p:cNvPr id="177" name="TextBox 177"/>
              <p:cNvSpPr txBox="1"/>
              <p:nvPr/>
            </p:nvSpPr>
            <p:spPr>
              <a:xfrm>
                <a:off x="8300402" y="34173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专属顾问</a:t>
                </a:r>
                <a:br/>
                <a:r>
                  <a:rPr lang="zh-CN" sz="640" dirty="0">
                    <a:solidFill>
                      <a:srgbClr val="60403A"/>
                    </a:solidFill>
                    <a:latin typeface="+mn-lt"/>
                    <a:ea typeface="+mn-ea"/>
                    <a:cs typeface="+mn-cs"/>
                  </a:rPr>
                  <a:t>定制服务</a:t>
                </a:r>
              </a:p>
            </p:txBody>
          </p:sp>
          <p:sp>
            <p:nvSpPr>
              <p:cNvPr id="178" name="TextBox 178"/>
              <p:cNvSpPr txBox="1"/>
              <p:nvPr/>
            </p:nvSpPr>
            <p:spPr>
              <a:xfrm>
                <a:off x="9031288" y="3417332"/>
                <a:ext cx="41592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一站式服务</a:t>
                </a:r>
                <a:br/>
                <a:r>
                  <a:rPr lang="zh-CN" sz="640" dirty="0">
                    <a:solidFill>
                      <a:srgbClr val="60403A"/>
                    </a:solidFill>
                    <a:latin typeface="+mn-lt"/>
                    <a:ea typeface="+mn-ea"/>
                    <a:cs typeface="+mn-cs"/>
                  </a:rPr>
                  <a:t>高效响应</a:t>
                </a:r>
              </a:p>
            </p:txBody>
          </p:sp>
          <p:sp>
            <p:nvSpPr>
              <p:cNvPr id="179" name="TextBox 179"/>
              <p:cNvSpPr txBox="1"/>
              <p:nvPr/>
            </p:nvSpPr>
            <p:spPr>
              <a:xfrm>
                <a:off x="9843452" y="34173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专业建议</a:t>
                </a:r>
                <a:br/>
                <a:r>
                  <a:rPr lang="zh-CN" sz="640" dirty="0">
                    <a:solidFill>
                      <a:srgbClr val="60403A"/>
                    </a:solidFill>
                    <a:latin typeface="+mn-lt"/>
                    <a:ea typeface="+mn-ea"/>
                    <a:cs typeface="+mn-cs"/>
                  </a:rPr>
                  <a:t>便捷高效</a:t>
                </a:r>
              </a:p>
            </p:txBody>
          </p:sp>
          <p:sp>
            <p:nvSpPr>
              <p:cNvPr id="180" name="TextBox 180"/>
              <p:cNvSpPr txBox="1"/>
              <p:nvPr/>
            </p:nvSpPr>
            <p:spPr>
              <a:xfrm>
                <a:off x="10614978" y="34173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线上便捷</a:t>
                </a:r>
                <a:br/>
                <a:r>
                  <a:rPr lang="zh-CN" sz="640" dirty="0">
                    <a:solidFill>
                      <a:srgbClr val="60403A"/>
                    </a:solidFill>
                    <a:latin typeface="+mn-lt"/>
                    <a:ea typeface="+mn-ea"/>
                    <a:cs typeface="+mn-cs"/>
                  </a:rPr>
                  <a:t>个性化</a:t>
                </a:r>
              </a:p>
            </p:txBody>
          </p:sp>
          <p:sp>
            <p:nvSpPr>
              <p:cNvPr id="181" name="TextBox 181"/>
              <p:cNvSpPr txBox="1"/>
              <p:nvPr/>
            </p:nvSpPr>
            <p:spPr>
              <a:xfrm>
                <a:off x="11386502" y="34173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线下贴心</a:t>
                </a:r>
                <a:br/>
                <a:r>
                  <a:rPr lang="zh-CN" sz="640" dirty="0">
                    <a:solidFill>
                      <a:srgbClr val="60403A"/>
                    </a:solidFill>
                    <a:latin typeface="+mn-lt"/>
                    <a:ea typeface="+mn-ea"/>
                    <a:cs typeface="+mn-cs"/>
                  </a:rPr>
                  <a:t>耐心服务</a:t>
                </a:r>
              </a:p>
            </p:txBody>
          </p:sp>
        </p:grpSp>
        <p:grpSp>
          <p:nvGrpSpPr>
            <p:cNvPr id="192" name="nt-row-5"/>
            <p:cNvGrpSpPr/>
            <p:nvPr/>
          </p:nvGrpSpPr>
          <p:grpSpPr>
            <a:xfrm>
              <a:off x="7594079" y="3929062"/>
              <a:ext cx="4171772" cy="379572"/>
              <a:chOff x="7594079" y="3929062"/>
              <a:chExt cx="4171772" cy="379572"/>
            </a:xfrm>
          </p:grpSpPr>
          <p:grpSp>
            <p:nvGrpSpPr>
              <p:cNvPr id="185" name="Group 185"/>
              <p:cNvGrpSpPr/>
              <p:nvPr/>
            </p:nvGrpSpPr>
            <p:grpSpPr>
              <a:xfrm>
                <a:off x="7707941" y="3929062"/>
                <a:ext cx="145422" cy="145422"/>
                <a:chOff x="7707941" y="3929062"/>
                <a:chExt cx="145422" cy="145422"/>
              </a:xfrm>
            </p:grpSpPr>
            <p:sp>
              <p:nvSpPr>
                <p:cNvPr id="183" name="Freeform 183"/>
                <p:cNvSpPr/>
                <p:nvPr/>
              </p:nvSpPr>
              <p:spPr>
                <a:xfrm>
                  <a:off x="7766050" y="3929062"/>
                  <a:ext cx="87312" cy="87312"/>
                </a:xfrm>
                <a:custGeom>
                  <a:avLst/>
                  <a:gdLst/>
                  <a:ahLst/>
                  <a:cxnLst/>
                  <a:rect l="l" t="t" r="r" b="b"/>
                  <a:pathLst>
                    <a:path w="87312" h="87312">
                      <a:moveTo>
                        <a:pt x="0" y="87312"/>
                      </a:moveTo>
                      <a:lnTo>
                        <a:pt x="87312" y="0"/>
                      </a:lnTo>
                    </a:path>
                  </a:pathLst>
                </a:custGeom>
                <a:noFill/>
                <a:ln w="14287">
                  <a:solidFill>
                    <a:srgbClr val="8A1700"/>
                  </a:solidFill>
                </a:ln>
              </p:spPr>
            </p:sp>
            <p:sp>
              <p:nvSpPr>
                <p:cNvPr id="184" name="Freeform 184"/>
                <p:cNvSpPr/>
                <p:nvPr/>
              </p:nvSpPr>
              <p:spPr>
                <a:xfrm>
                  <a:off x="7707941" y="3929062"/>
                  <a:ext cx="145422" cy="145422"/>
                </a:xfrm>
                <a:custGeom>
                  <a:avLst/>
                  <a:gdLst/>
                  <a:ahLst/>
                  <a:cxnLst/>
                  <a:rect l="l" t="t" r="r" b="b"/>
                  <a:pathLst>
                    <a:path w="145422" h="145422">
                      <a:moveTo>
                        <a:pt x="145422" y="0"/>
                      </a:moveTo>
                      <a:lnTo>
                        <a:pt x="93828" y="142875"/>
                      </a:lnTo>
                      <a:cubicBezTo>
                        <a:pt x="93117" y="144427"/>
                        <a:pt x="91566" y="145422"/>
                        <a:pt x="89859" y="145422"/>
                      </a:cubicBezTo>
                      <a:cubicBezTo>
                        <a:pt x="88152" y="145422"/>
                        <a:pt x="86602" y="144427"/>
                        <a:pt x="85891" y="142875"/>
                      </a:cubicBezTo>
                      <a:lnTo>
                        <a:pt x="58109" y="87312"/>
                      </a:lnTo>
                      <a:lnTo>
                        <a:pt x="2547" y="59531"/>
                      </a:lnTo>
                      <a:cubicBezTo>
                        <a:pt x="995" y="58820"/>
                        <a:pt x="0" y="57270"/>
                        <a:pt x="0" y="55562"/>
                      </a:cubicBezTo>
                      <a:cubicBezTo>
                        <a:pt x="0" y="53855"/>
                        <a:pt x="995" y="52305"/>
                        <a:pt x="2547" y="51594"/>
                      </a:cubicBezTo>
                      <a:lnTo>
                        <a:pt x="145422" y="0"/>
                      </a:lnTo>
                    </a:path>
                  </a:pathLst>
                </a:custGeom>
                <a:noFill/>
                <a:ln w="14287">
                  <a:solidFill>
                    <a:srgbClr val="8A1700"/>
                  </a:solidFill>
                </a:ln>
              </p:spPr>
            </p:sp>
          </p:grpSp>
          <p:sp>
            <p:nvSpPr>
              <p:cNvPr id="186" name="TextBox 186"/>
              <p:cNvSpPr txBox="1"/>
              <p:nvPr/>
            </p:nvSpPr>
            <p:spPr>
              <a:xfrm>
                <a:off x="7594079" y="4175284"/>
                <a:ext cx="375691" cy="133350"/>
              </a:xfrm>
              <a:prstGeom prst="rect">
                <a:avLst/>
              </a:prstGeom>
              <a:noFill/>
              <a:ln>
                <a:noFill/>
              </a:ln>
            </p:spPr>
            <p:txBody>
              <a:bodyPr wrap="none" lIns="0" tIns="0" rIns="0" bIns="0" anchor="t" anchorCtr="0">
                <a:spAutoFit/>
              </a:bodyPr>
              <a:lstStyle/>
              <a:p>
                <a:pPr algn="ctr"/>
                <a:r>
                  <a:rPr lang="zh-CN" sz="680" b="1" dirty="0">
                    <a:solidFill>
                      <a:srgbClr val="520E00"/>
                    </a:solidFill>
                    <a:latin typeface="+mn-lt"/>
                    <a:ea typeface="+mn-ea"/>
                    <a:cs typeface="+mn-cs"/>
                  </a:rPr>
                  <a:t>触达偏好</a:t>
                </a:r>
              </a:p>
            </p:txBody>
          </p:sp>
          <p:sp>
            <p:nvSpPr>
              <p:cNvPr id="187" name="TextBox 187"/>
              <p:cNvSpPr txBox="1"/>
              <p:nvPr/>
            </p:nvSpPr>
            <p:spPr>
              <a:xfrm>
                <a:off x="8204492" y="404598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高端活动专场</a:t>
                </a:r>
              </a:p>
            </p:txBody>
          </p:sp>
          <p:sp>
            <p:nvSpPr>
              <p:cNvPr id="188" name="TextBox 188"/>
              <p:cNvSpPr txBox="1"/>
              <p:nvPr/>
            </p:nvSpPr>
            <p:spPr>
              <a:xfrm>
                <a:off x="9071928" y="3988832"/>
                <a:ext cx="33464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客户经理</a:t>
                </a:r>
                <a:br/>
                <a:r>
                  <a:rPr lang="zh-CN" sz="640" dirty="0">
                    <a:solidFill>
                      <a:srgbClr val="60403A"/>
                    </a:solidFill>
                    <a:latin typeface="+mn-lt"/>
                    <a:ea typeface="+mn-ea"/>
                    <a:cs typeface="+mn-cs"/>
                  </a:rPr>
                  <a:t>电话专属</a:t>
                </a:r>
              </a:p>
            </p:txBody>
          </p:sp>
          <p:sp>
            <p:nvSpPr>
              <p:cNvPr id="189" name="TextBox 189"/>
              <p:cNvSpPr txBox="1"/>
              <p:nvPr/>
            </p:nvSpPr>
            <p:spPr>
              <a:xfrm>
                <a:off x="9812972" y="3988832"/>
                <a:ext cx="39560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APP/微信​</a:t>
                </a:r>
                <a:br/>
                <a:r>
                  <a:rPr lang="zh-CN" sz="640" dirty="0">
                    <a:solidFill>
                      <a:srgbClr val="60403A"/>
                    </a:solidFill>
                    <a:latin typeface="+mn-lt"/>
                    <a:ea typeface="+mn-ea"/>
                    <a:cs typeface="+mn-cs"/>
                  </a:rPr>
                  <a:t>短信推送</a:t>
                </a:r>
              </a:p>
            </p:txBody>
          </p:sp>
          <p:sp>
            <p:nvSpPr>
              <p:cNvPr id="190" name="TextBox 190"/>
              <p:cNvSpPr txBox="1"/>
              <p:nvPr/>
            </p:nvSpPr>
            <p:spPr>
              <a:xfrm>
                <a:off x="10584498" y="3988832"/>
                <a:ext cx="39560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社交媒体</a:t>
                </a:r>
                <a:br/>
                <a:r>
                  <a:rPr lang="zh-CN" sz="640" dirty="0">
                    <a:solidFill>
                      <a:srgbClr val="60403A"/>
                    </a:solidFill>
                    <a:latin typeface="+mn-lt"/>
                    <a:ea typeface="+mn-ea"/>
                    <a:cs typeface="+mn-cs"/>
                  </a:rPr>
                  <a:t>APP/社群​</a:t>
                </a:r>
              </a:p>
            </p:txBody>
          </p:sp>
          <p:sp>
            <p:nvSpPr>
              <p:cNvPr id="191" name="TextBox 191"/>
              <p:cNvSpPr txBox="1"/>
              <p:nvPr/>
            </p:nvSpPr>
            <p:spPr>
              <a:xfrm>
                <a:off x="11341798" y="3988832"/>
                <a:ext cx="424053"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0403A"/>
                    </a:solidFill>
                    <a:latin typeface="+mn-lt"/>
                    <a:ea typeface="+mn-ea"/>
                    <a:cs typeface="+mn-cs"/>
                  </a:rPr>
                  <a:t>网点服务</a:t>
                </a:r>
                <a:br/>
                <a:r>
                  <a:rPr lang="zh-CN" sz="640" dirty="0">
                    <a:solidFill>
                      <a:srgbClr val="60403A"/>
                    </a:solidFill>
                    <a:latin typeface="+mn-lt"/>
                    <a:ea typeface="+mn-ea"/>
                    <a:cs typeface="+mn-cs"/>
                  </a:rPr>
                  <a:t>电话/短信​</a:t>
                </a:r>
              </a:p>
            </p:txBody>
          </p:sp>
        </p:grpSp>
      </p:grpSp>
      <p:grpSp>
        <p:nvGrpSpPr>
          <p:cNvPr id="196" name="matrix-band"/>
          <p:cNvGrpSpPr/>
          <p:nvPr/>
        </p:nvGrpSpPr>
        <p:grpSpPr>
          <a:xfrm>
            <a:off x="228600" y="4572000"/>
            <a:ext cx="11734800" cy="263461"/>
            <a:chOff x="228600" y="4572000"/>
            <a:chExt cx="11734800" cy="263461"/>
          </a:xfrm>
        </p:grpSpPr>
        <p:sp>
          <p:nvSpPr>
            <p:cNvPr id="194" name="Rectangle 194"/>
            <p:cNvSpPr/>
            <p:nvPr/>
          </p:nvSpPr>
          <p:spPr>
            <a:xfrm>
              <a:off x="228600" y="4572000"/>
              <a:ext cx="11734800" cy="247650"/>
            </a:xfrm>
            <a:prstGeom prst="roundRect">
              <a:avLst>
                <a:gd name="adj" fmla="val 15385"/>
              </a:avLst>
            </a:prstGeom>
            <a:solidFill>
              <a:srgbClr val="520E00"/>
            </a:solidFill>
            <a:ln>
              <a:noFill/>
            </a:ln>
          </p:spPr>
        </p:sp>
        <p:sp>
          <p:nvSpPr>
            <p:cNvPr id="195" name="TextBox 195"/>
            <p:cNvSpPr txBox="1"/>
            <p:nvPr/>
          </p:nvSpPr>
          <p:spPr>
            <a:xfrm>
              <a:off x="4908088" y="4630102"/>
              <a:ext cx="237582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三维矩阵：生命周期×价值×服务需求​</a:t>
              </a:r>
            </a:p>
          </p:txBody>
        </p:sp>
      </p:grpSp>
      <p:grpSp>
        <p:nvGrpSpPr>
          <p:cNvPr id="223" name="strategy-row"/>
          <p:cNvGrpSpPr/>
          <p:nvPr/>
        </p:nvGrpSpPr>
        <p:grpSpPr>
          <a:xfrm>
            <a:off x="228600" y="4895850"/>
            <a:ext cx="11734800" cy="895350"/>
            <a:chOff x="228600" y="4895850"/>
            <a:chExt cx="11734800" cy="895350"/>
          </a:xfrm>
        </p:grpSpPr>
        <p:sp>
          <p:nvSpPr>
            <p:cNvPr id="197" name="Rectangle 197"/>
            <p:cNvSpPr/>
            <p:nvPr/>
          </p:nvSpPr>
          <p:spPr>
            <a:xfrm>
              <a:off x="228600" y="4895850"/>
              <a:ext cx="11734800" cy="895350"/>
            </a:xfrm>
            <a:prstGeom prst="roundRect">
              <a:avLst>
                <a:gd name="adj" fmla="val 6383"/>
              </a:avLst>
            </a:prstGeom>
            <a:solidFill>
              <a:srgbClr val="FFFFFF"/>
            </a:solidFill>
            <a:ln w="9525">
              <a:solidFill>
                <a:srgbClr val="C9D5EA"/>
              </a:solidFill>
            </a:ln>
          </p:spPr>
        </p:sp>
        <p:sp>
          <p:nvSpPr>
            <p:cNvPr id="198" name="Rectangle 198"/>
            <p:cNvSpPr/>
            <p:nvPr/>
          </p:nvSpPr>
          <p:spPr>
            <a:xfrm>
              <a:off x="228600" y="4895850"/>
              <a:ext cx="1219200" cy="895350"/>
            </a:xfrm>
            <a:prstGeom prst="roundRect">
              <a:avLst>
                <a:gd name="adj" fmla="val 6383"/>
              </a:avLst>
            </a:prstGeom>
            <a:solidFill>
              <a:srgbClr val="EEF3FB"/>
            </a:solidFill>
            <a:ln>
              <a:noFill/>
            </a:ln>
          </p:spPr>
        </p:sp>
        <p:grpSp>
          <p:nvGrpSpPr>
            <p:cNvPr id="202" name="Group 202"/>
            <p:cNvGrpSpPr/>
            <p:nvPr/>
          </p:nvGrpSpPr>
          <p:grpSpPr>
            <a:xfrm>
              <a:off x="723900" y="5029200"/>
              <a:ext cx="228599" cy="228599"/>
              <a:chOff x="723900" y="5029200"/>
              <a:chExt cx="228599" cy="228599"/>
            </a:xfrm>
          </p:grpSpPr>
          <p:sp>
            <p:nvSpPr>
              <p:cNvPr id="199" name="Freeform 199"/>
              <p:cNvSpPr/>
              <p:nvPr/>
            </p:nvSpPr>
            <p:spPr>
              <a:xfrm>
                <a:off x="825500" y="51308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9050">
                <a:solidFill>
                  <a:srgbClr val="8A1700"/>
                </a:solidFill>
              </a:ln>
            </p:spPr>
          </p:sp>
          <p:sp>
            <p:nvSpPr>
              <p:cNvPr id="200" name="Freeform 200"/>
              <p:cNvSpPr/>
              <p:nvPr/>
            </p:nvSpPr>
            <p:spPr>
              <a:xfrm>
                <a:off x="774700" y="508000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19050">
                <a:solidFill>
                  <a:srgbClr val="8A1700"/>
                </a:solidFill>
              </a:ln>
            </p:spPr>
          </p:sp>
          <p:sp>
            <p:nvSpPr>
              <p:cNvPr id="201" name="Freeform 201"/>
              <p:cNvSpPr/>
              <p:nvPr/>
            </p:nvSpPr>
            <p:spPr>
              <a:xfrm>
                <a:off x="723900" y="502920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19050">
                <a:solidFill>
                  <a:srgbClr val="8A1700"/>
                </a:solidFill>
              </a:ln>
            </p:spPr>
          </p:sp>
        </p:grpSp>
        <p:sp>
          <p:nvSpPr>
            <p:cNvPr id="203" name="TextBox 203"/>
            <p:cNvSpPr txBox="1"/>
            <p:nvPr/>
          </p:nvSpPr>
          <p:spPr>
            <a:xfrm>
              <a:off x="547688" y="5389245"/>
              <a:ext cx="581025" cy="328612"/>
            </a:xfrm>
            <a:prstGeom prst="rect">
              <a:avLst/>
            </a:prstGeom>
            <a:noFill/>
            <a:ln>
              <a:noFill/>
            </a:ln>
          </p:spPr>
          <p:txBody>
            <a:bodyPr wrap="none" lIns="0" tIns="0" rIns="0" bIns="0" anchor="t" anchorCtr="0">
              <a:spAutoFit/>
            </a:bodyPr>
            <a:lstStyle/>
            <a:p>
              <a:pPr algn="ctr">
                <a:lnSpc>
                  <a:spcPts val="1200"/>
                </a:lnSpc>
              </a:pPr>
              <a:r>
                <a:rPr lang="zh-CN" sz="900" b="1" dirty="0">
                  <a:solidFill>
                    <a:srgbClr val="520E00"/>
                  </a:solidFill>
                  <a:latin typeface="+mn-lt"/>
                  <a:ea typeface="+mn-ea"/>
                  <a:cs typeface="+mn-cs"/>
                </a:rPr>
                <a:t>跨维度策略</a:t>
              </a:r>
              <a:br/>
              <a:r>
                <a:rPr lang="zh-CN" sz="900" b="1" dirty="0">
                  <a:solidFill>
                    <a:srgbClr val="520E00"/>
                  </a:solidFill>
                  <a:latin typeface="+mn-lt"/>
                  <a:ea typeface="+mn-ea"/>
                  <a:cs typeface="+mn-cs"/>
                </a:rPr>
                <a:t>示例</a:t>
              </a:r>
            </a:p>
          </p:txBody>
        </p:sp>
        <p:sp>
          <p:nvSpPr>
            <p:cNvPr id="204" name="Line 204"/>
            <p:cNvSpPr/>
            <p:nvPr/>
          </p:nvSpPr>
          <p:spPr>
            <a:xfrm>
              <a:off x="3562350" y="4972050"/>
              <a:ext cx="9525" cy="742950"/>
            </a:xfrm>
            <a:custGeom>
              <a:avLst/>
              <a:gdLst/>
              <a:ahLst/>
              <a:cxnLst/>
              <a:rect l="l" t="t" r="r" b="b"/>
              <a:pathLst>
                <a:path w="9525" h="742950">
                  <a:moveTo>
                    <a:pt x="0" y="0"/>
                  </a:moveTo>
                  <a:lnTo>
                    <a:pt x="0" y="742950"/>
                  </a:lnTo>
                </a:path>
              </a:pathLst>
            </a:custGeom>
            <a:noFill/>
            <a:ln w="9525">
              <a:solidFill>
                <a:srgbClr val="E4EAF4"/>
              </a:solidFill>
            </a:ln>
          </p:spPr>
        </p:sp>
        <p:sp>
          <p:nvSpPr>
            <p:cNvPr id="205" name="Line 205"/>
            <p:cNvSpPr/>
            <p:nvPr/>
          </p:nvSpPr>
          <p:spPr>
            <a:xfrm>
              <a:off x="5657850" y="4972050"/>
              <a:ext cx="9525" cy="742950"/>
            </a:xfrm>
            <a:custGeom>
              <a:avLst/>
              <a:gdLst/>
              <a:ahLst/>
              <a:cxnLst/>
              <a:rect l="l" t="t" r="r" b="b"/>
              <a:pathLst>
                <a:path w="9525" h="742950">
                  <a:moveTo>
                    <a:pt x="0" y="0"/>
                  </a:moveTo>
                  <a:lnTo>
                    <a:pt x="0" y="742950"/>
                  </a:lnTo>
                </a:path>
              </a:pathLst>
            </a:custGeom>
            <a:noFill/>
            <a:ln w="9525">
              <a:solidFill>
                <a:srgbClr val="E4EAF4"/>
              </a:solidFill>
            </a:ln>
          </p:spPr>
        </p:sp>
        <p:sp>
          <p:nvSpPr>
            <p:cNvPr id="206" name="Line 206"/>
            <p:cNvSpPr/>
            <p:nvPr/>
          </p:nvSpPr>
          <p:spPr>
            <a:xfrm>
              <a:off x="7753350" y="4972050"/>
              <a:ext cx="9525" cy="742950"/>
            </a:xfrm>
            <a:custGeom>
              <a:avLst/>
              <a:gdLst/>
              <a:ahLst/>
              <a:cxnLst/>
              <a:rect l="l" t="t" r="r" b="b"/>
              <a:pathLst>
                <a:path w="9525" h="742950">
                  <a:moveTo>
                    <a:pt x="0" y="0"/>
                  </a:moveTo>
                  <a:lnTo>
                    <a:pt x="0" y="742950"/>
                  </a:lnTo>
                </a:path>
              </a:pathLst>
            </a:custGeom>
            <a:noFill/>
            <a:ln w="9525">
              <a:solidFill>
                <a:srgbClr val="E4EAF4"/>
              </a:solidFill>
            </a:ln>
          </p:spPr>
        </p:sp>
        <p:sp>
          <p:nvSpPr>
            <p:cNvPr id="207" name="Line 207"/>
            <p:cNvSpPr/>
            <p:nvPr/>
          </p:nvSpPr>
          <p:spPr>
            <a:xfrm>
              <a:off x="9848850" y="4972050"/>
              <a:ext cx="9525" cy="742950"/>
            </a:xfrm>
            <a:custGeom>
              <a:avLst/>
              <a:gdLst/>
              <a:ahLst/>
              <a:cxnLst/>
              <a:rect l="l" t="t" r="r" b="b"/>
              <a:pathLst>
                <a:path w="9525" h="742950">
                  <a:moveTo>
                    <a:pt x="0" y="0"/>
                  </a:moveTo>
                  <a:lnTo>
                    <a:pt x="0" y="742950"/>
                  </a:lnTo>
                </a:path>
              </a:pathLst>
            </a:custGeom>
            <a:noFill/>
            <a:ln w="9525">
              <a:solidFill>
                <a:srgbClr val="E4EAF4"/>
              </a:solidFill>
            </a:ln>
          </p:spPr>
        </p:sp>
        <p:grpSp>
          <p:nvGrpSpPr>
            <p:cNvPr id="210" name="strat-1"/>
            <p:cNvGrpSpPr/>
            <p:nvPr/>
          </p:nvGrpSpPr>
          <p:grpSpPr>
            <a:xfrm>
              <a:off x="1557338" y="5016341"/>
              <a:ext cx="1194269" cy="647939"/>
              <a:chOff x="1557338" y="5016341"/>
              <a:chExt cx="1194269" cy="647939"/>
            </a:xfrm>
          </p:grpSpPr>
          <p:sp>
            <p:nvSpPr>
              <p:cNvPr id="208" name="TextBox 208"/>
              <p:cNvSpPr txBox="1"/>
              <p:nvPr/>
            </p:nvSpPr>
            <p:spPr>
              <a:xfrm>
                <a:off x="1557338" y="5016341"/>
                <a:ext cx="1194269" cy="161925"/>
              </a:xfrm>
              <a:prstGeom prst="rect">
                <a:avLst/>
              </a:prstGeom>
              <a:noFill/>
              <a:ln>
                <a:noFill/>
              </a:ln>
            </p:spPr>
            <p:txBody>
              <a:bodyPr wrap="none" lIns="0" tIns="0" rIns="0" bIns="0" anchor="t" anchorCtr="0">
                <a:spAutoFit/>
              </a:bodyPr>
              <a:lstStyle/>
              <a:p>
                <a:pPr algn="l"/>
                <a:r>
                  <a:rPr lang="zh-CN" sz="820" b="1" dirty="0">
                    <a:solidFill>
                      <a:srgbClr val="520E00"/>
                    </a:solidFill>
                    <a:latin typeface="+mn-lt"/>
                    <a:ea typeface="+mn-ea"/>
                    <a:cs typeface="+mn-cs"/>
                  </a:rPr>
                  <a:t>新客</a:t>
                </a:r>
                <a:r>
                  <a:rPr lang="zh-CN" sz="820" b="1" dirty="0">
                    <a:solidFill>
                      <a:srgbClr val="C02C0A"/>
                    </a:solidFill>
                    <a:latin typeface="+mn-lt"/>
                    <a:ea typeface="+mn-ea"/>
                    <a:cs typeface="+mn-cs"/>
                  </a:rPr>
                  <a:t>×高潜力</a:t>
                </a:r>
                <a:r>
                  <a:rPr lang="zh-CN" sz="820" b="1" dirty="0">
                    <a:solidFill>
                      <a:srgbClr val="520E00"/>
                    </a:solidFill>
                    <a:latin typeface="+mn-lt"/>
                    <a:ea typeface="+mn-ea"/>
                    <a:cs typeface="+mn-cs"/>
                  </a:rPr>
                  <a:t>×年轻成长​</a:t>
                </a:r>
              </a:p>
            </p:txBody>
          </p:sp>
          <p:sp>
            <p:nvSpPr>
              <p:cNvPr id="209" name="TextBox 209"/>
              <p:cNvSpPr txBox="1"/>
              <p:nvPr/>
            </p:nvSpPr>
            <p:spPr>
              <a:xfrm>
                <a:off x="1557338" y="5218986"/>
                <a:ext cx="1078040" cy="445294"/>
              </a:xfrm>
              <a:prstGeom prst="rect">
                <a:avLst/>
              </a:prstGeom>
              <a:noFill/>
              <a:ln>
                <a:noFill/>
              </a:ln>
            </p:spPr>
            <p:txBody>
              <a:bodyPr wrap="none" lIns="0" tIns="0" rIns="0" bIns="0" anchor="t" anchorCtr="0">
                <a:spAutoFit/>
              </a:bodyPr>
              <a:lstStyle/>
              <a:p>
                <a:pPr algn="l" marL="76644" indent="-76644">
                  <a:lnSpc>
                    <a:spcPts val="1200"/>
                  </a:lnSpc>
                  <a:buClr>
                    <a:srgbClr val="60403A"/>
                  </a:buClr>
                  <a:buSzTx/>
                  <a:buFontTx/>
                  <a:buChar char="•"/>
                </a:pPr>
                <a:r>
                  <a:rPr lang="zh-CN" sz="710" dirty="0">
                    <a:solidFill>
                      <a:srgbClr val="60403A"/>
                    </a:solidFill>
                    <a:latin typeface="+mn-lt"/>
                    <a:ea typeface="+mn-ea"/>
                    <a:cs typeface="+mn-cs"/>
                  </a:rPr>
                  <a:t>数字化引导，快速激活</a:t>
                </a:r>
              </a:p>
              <a:p>
                <a:pPr algn="l" marL="76644" indent="-76644">
                  <a:lnSpc>
                    <a:spcPts val="1200"/>
                  </a:lnSpc>
                  <a:buClr>
                    <a:srgbClr val="60403A"/>
                  </a:buClr>
                  <a:buSzTx/>
                  <a:buFontTx/>
                  <a:buChar char="•"/>
                </a:pPr>
                <a:r>
                  <a:rPr lang="zh-CN" sz="710" dirty="0">
                    <a:solidFill>
                      <a:srgbClr val="60403A"/>
                    </a:solidFill>
                    <a:latin typeface="+mn-lt"/>
                    <a:ea typeface="+mn-ea"/>
                    <a:cs typeface="+mn-cs"/>
                  </a:rPr>
                  <a:t>推荐适合的入门理财产品</a:t>
                </a:r>
              </a:p>
              <a:p>
                <a:pPr algn="l" marL="76644" indent="-76644">
                  <a:lnSpc>
                    <a:spcPts val="1200"/>
                  </a:lnSpc>
                  <a:buClr>
                    <a:srgbClr val="60403A"/>
                  </a:buClr>
                  <a:buSzTx/>
                  <a:buFontTx/>
                  <a:buChar char="•"/>
                </a:pPr>
                <a:r>
                  <a:rPr lang="zh-CN" sz="710" dirty="0">
                    <a:solidFill>
                      <a:srgbClr val="60403A"/>
                    </a:solidFill>
                    <a:latin typeface="+mn-lt"/>
                    <a:ea typeface="+mn-ea"/>
                    <a:cs typeface="+mn-cs"/>
                  </a:rPr>
                  <a:t>通过成长计划提升粘性</a:t>
                </a:r>
              </a:p>
            </p:txBody>
          </p:sp>
        </p:grpSp>
        <p:grpSp>
          <p:nvGrpSpPr>
            <p:cNvPr id="213" name="strat-2"/>
            <p:cNvGrpSpPr/>
            <p:nvPr/>
          </p:nvGrpSpPr>
          <p:grpSpPr>
            <a:xfrm>
              <a:off x="3652838" y="5016341"/>
              <a:ext cx="1415045" cy="647939"/>
              <a:chOff x="3652838" y="5016341"/>
              <a:chExt cx="1415045" cy="647939"/>
            </a:xfrm>
          </p:grpSpPr>
          <p:sp>
            <p:nvSpPr>
              <p:cNvPr id="211" name="TextBox 211"/>
              <p:cNvSpPr txBox="1"/>
              <p:nvPr/>
            </p:nvSpPr>
            <p:spPr>
              <a:xfrm>
                <a:off x="3652838" y="5016341"/>
                <a:ext cx="1415045" cy="161925"/>
              </a:xfrm>
              <a:prstGeom prst="rect">
                <a:avLst/>
              </a:prstGeom>
              <a:noFill/>
              <a:ln>
                <a:noFill/>
              </a:ln>
            </p:spPr>
            <p:txBody>
              <a:bodyPr wrap="none" lIns="0" tIns="0" rIns="0" bIns="0" anchor="t" anchorCtr="0">
                <a:spAutoFit/>
              </a:bodyPr>
              <a:lstStyle/>
              <a:p>
                <a:pPr algn="l"/>
                <a:r>
                  <a:rPr lang="zh-CN" sz="820" b="1" dirty="0">
                    <a:solidFill>
                      <a:srgbClr val="520E00"/>
                    </a:solidFill>
                    <a:latin typeface="+mn-lt"/>
                    <a:ea typeface="+mn-ea"/>
                    <a:cs typeface="+mn-cs"/>
                  </a:rPr>
                  <a:t>活跃客</a:t>
                </a:r>
                <a:r>
                  <a:rPr lang="zh-CN" sz="820" b="1" dirty="0">
                    <a:solidFill>
                      <a:srgbClr val="C02C0A"/>
                    </a:solidFill>
                    <a:latin typeface="+mn-lt"/>
                    <a:ea typeface="+mn-ea"/>
                    <a:cs typeface="+mn-cs"/>
                  </a:rPr>
                  <a:t>×稳定型</a:t>
                </a:r>
                <a:r>
                  <a:rPr lang="zh-CN" sz="820" b="1" dirty="0">
                    <a:solidFill>
                      <a:srgbClr val="520E00"/>
                    </a:solidFill>
                    <a:latin typeface="+mn-lt"/>
                    <a:ea typeface="+mn-ea"/>
                    <a:cs typeface="+mn-cs"/>
                  </a:rPr>
                  <a:t>×高收入职场​</a:t>
                </a:r>
              </a:p>
            </p:txBody>
          </p:sp>
          <p:sp>
            <p:nvSpPr>
              <p:cNvPr id="212" name="TextBox 212"/>
              <p:cNvSpPr txBox="1"/>
              <p:nvPr/>
            </p:nvSpPr>
            <p:spPr>
              <a:xfrm>
                <a:off x="3652838" y="5218986"/>
                <a:ext cx="1357566" cy="445294"/>
              </a:xfrm>
              <a:prstGeom prst="rect">
                <a:avLst/>
              </a:prstGeom>
              <a:noFill/>
              <a:ln>
                <a:noFill/>
              </a:ln>
            </p:spPr>
            <p:txBody>
              <a:bodyPr wrap="none" lIns="0" tIns="0" rIns="0" bIns="0" anchor="t" anchorCtr="0">
                <a:spAutoFit/>
              </a:bodyPr>
              <a:lstStyle/>
              <a:p>
                <a:pPr algn="l" marL="76644" indent="-76644">
                  <a:lnSpc>
                    <a:spcPts val="1200"/>
                  </a:lnSpc>
                  <a:buClr>
                    <a:srgbClr val="60403A"/>
                  </a:buClr>
                  <a:buSzTx/>
                  <a:buFontTx/>
                  <a:buChar char="•"/>
                </a:pPr>
                <a:r>
                  <a:rPr lang="zh-CN" sz="710" dirty="0">
                    <a:solidFill>
                      <a:srgbClr val="60403A"/>
                    </a:solidFill>
                    <a:latin typeface="+mn-lt"/>
                    <a:ea typeface="+mn-ea"/>
                    <a:cs typeface="+mn-cs"/>
                  </a:rPr>
                  <a:t>个性化理财建议，提升资产配置</a:t>
                </a:r>
              </a:p>
              <a:p>
                <a:pPr algn="l" marL="76644" indent="-76644">
                  <a:lnSpc>
                    <a:spcPts val="1200"/>
                  </a:lnSpc>
                  <a:buClr>
                    <a:srgbClr val="60403A"/>
                  </a:buClr>
                  <a:buSzTx/>
                  <a:buFontTx/>
                  <a:buChar char="•"/>
                </a:pPr>
                <a:r>
                  <a:rPr lang="zh-CN" sz="710" dirty="0">
                    <a:solidFill>
                      <a:srgbClr val="60403A"/>
                    </a:solidFill>
                    <a:latin typeface="+mn-lt"/>
                    <a:ea typeface="+mn-ea"/>
                    <a:cs typeface="+mn-cs"/>
                  </a:rPr>
                  <a:t>信用卡/消费权益增强使用频率​</a:t>
                </a:r>
              </a:p>
              <a:p>
                <a:pPr algn="l" marL="76644" indent="-76644">
                  <a:lnSpc>
                    <a:spcPts val="1200"/>
                  </a:lnSpc>
                  <a:buClr>
                    <a:srgbClr val="60403A"/>
                  </a:buClr>
                  <a:buSzTx/>
                  <a:buFontTx/>
                  <a:buChar char="•"/>
                </a:pPr>
                <a:r>
                  <a:rPr lang="zh-CN" sz="710" dirty="0">
                    <a:solidFill>
                      <a:srgbClr val="60403A"/>
                    </a:solidFill>
                    <a:latin typeface="+mn-lt"/>
                    <a:ea typeface="+mn-ea"/>
                    <a:cs typeface="+mn-cs"/>
                  </a:rPr>
                  <a:t>定期关怀，提升满意度</a:t>
                </a:r>
              </a:p>
            </p:txBody>
          </p:sp>
        </p:grpSp>
        <p:grpSp>
          <p:nvGrpSpPr>
            <p:cNvPr id="216" name="strat-3"/>
            <p:cNvGrpSpPr/>
            <p:nvPr/>
          </p:nvGrpSpPr>
          <p:grpSpPr>
            <a:xfrm>
              <a:off x="5748338" y="5016341"/>
              <a:ext cx="1194269" cy="647939"/>
              <a:chOff x="5748338" y="5016341"/>
              <a:chExt cx="1194269" cy="647939"/>
            </a:xfrm>
          </p:grpSpPr>
          <p:sp>
            <p:nvSpPr>
              <p:cNvPr id="214" name="TextBox 214"/>
              <p:cNvSpPr txBox="1"/>
              <p:nvPr/>
            </p:nvSpPr>
            <p:spPr>
              <a:xfrm>
                <a:off x="5748338" y="5016341"/>
                <a:ext cx="1194269" cy="161925"/>
              </a:xfrm>
              <a:prstGeom prst="rect">
                <a:avLst/>
              </a:prstGeom>
              <a:noFill/>
              <a:ln>
                <a:noFill/>
              </a:ln>
            </p:spPr>
            <p:txBody>
              <a:bodyPr wrap="none" lIns="0" tIns="0" rIns="0" bIns="0" anchor="t" anchorCtr="0">
                <a:spAutoFit/>
              </a:bodyPr>
              <a:lstStyle/>
              <a:p>
                <a:pPr algn="l"/>
                <a:r>
                  <a:rPr lang="zh-CN" sz="820" b="1" dirty="0">
                    <a:solidFill>
                      <a:srgbClr val="520E00"/>
                    </a:solidFill>
                    <a:latin typeface="+mn-lt"/>
                    <a:ea typeface="+mn-ea"/>
                    <a:cs typeface="+mn-cs"/>
                  </a:rPr>
                  <a:t>价值客</a:t>
                </a:r>
                <a:r>
                  <a:rPr lang="zh-CN" sz="820" b="1" dirty="0">
                    <a:solidFill>
                      <a:srgbClr val="C02C0A"/>
                    </a:solidFill>
                    <a:latin typeface="+mn-lt"/>
                    <a:ea typeface="+mn-ea"/>
                    <a:cs typeface="+mn-cs"/>
                  </a:rPr>
                  <a:t>×高价值</a:t>
                </a:r>
                <a:r>
                  <a:rPr lang="zh-CN" sz="820" b="1" dirty="0">
                    <a:solidFill>
                      <a:srgbClr val="520E00"/>
                    </a:solidFill>
                    <a:latin typeface="+mn-lt"/>
                    <a:ea typeface="+mn-ea"/>
                    <a:cs typeface="+mn-cs"/>
                  </a:rPr>
                  <a:t>×高净值​</a:t>
                </a:r>
              </a:p>
            </p:txBody>
          </p:sp>
          <p:sp>
            <p:nvSpPr>
              <p:cNvPr id="215" name="TextBox 215"/>
              <p:cNvSpPr txBox="1"/>
              <p:nvPr/>
            </p:nvSpPr>
            <p:spPr>
              <a:xfrm>
                <a:off x="5748338" y="5218986"/>
                <a:ext cx="1168210" cy="445294"/>
              </a:xfrm>
              <a:prstGeom prst="rect">
                <a:avLst/>
              </a:prstGeom>
              <a:noFill/>
              <a:ln>
                <a:noFill/>
              </a:ln>
            </p:spPr>
            <p:txBody>
              <a:bodyPr wrap="none" lIns="0" tIns="0" rIns="0" bIns="0" anchor="t" anchorCtr="0">
                <a:spAutoFit/>
              </a:bodyPr>
              <a:lstStyle/>
              <a:p>
                <a:pPr algn="l" marL="76644" indent="-76644">
                  <a:lnSpc>
                    <a:spcPts val="1200"/>
                  </a:lnSpc>
                  <a:buClr>
                    <a:srgbClr val="60403A"/>
                  </a:buClr>
                  <a:buSzTx/>
                  <a:buFontTx/>
                  <a:buChar char="•"/>
                </a:pPr>
                <a:r>
                  <a:rPr lang="zh-CN" sz="710" dirty="0">
                    <a:solidFill>
                      <a:srgbClr val="60403A"/>
                    </a:solidFill>
                    <a:latin typeface="+mn-lt"/>
                    <a:ea typeface="+mn-ea"/>
                    <a:cs typeface="+mn-cs"/>
                  </a:rPr>
                  <a:t>专属客户经理，深度陪伴</a:t>
                </a:r>
              </a:p>
              <a:p>
                <a:pPr algn="l" marL="76644" indent="-76644">
                  <a:lnSpc>
                    <a:spcPts val="1200"/>
                  </a:lnSpc>
                  <a:buClr>
                    <a:srgbClr val="60403A"/>
                  </a:buClr>
                  <a:buSzTx/>
                  <a:buFontTx/>
                  <a:buChar char="•"/>
                </a:pPr>
                <a:r>
                  <a:rPr lang="zh-CN" sz="710" dirty="0">
                    <a:solidFill>
                      <a:srgbClr val="60403A"/>
                    </a:solidFill>
                    <a:latin typeface="+mn-lt"/>
                    <a:ea typeface="+mn-ea"/>
                    <a:cs typeface="+mn-cs"/>
                  </a:rPr>
                  <a:t>定制化财富管理与传承方案</a:t>
                </a:r>
              </a:p>
              <a:p>
                <a:pPr algn="l" marL="76644" indent="-76644">
                  <a:lnSpc>
                    <a:spcPts val="1200"/>
                  </a:lnSpc>
                  <a:buClr>
                    <a:srgbClr val="60403A"/>
                  </a:buClr>
                  <a:buSzTx/>
                  <a:buFontTx/>
                  <a:buChar char="•"/>
                </a:pPr>
                <a:r>
                  <a:rPr lang="zh-CN" sz="710" dirty="0">
                    <a:solidFill>
                      <a:srgbClr val="60403A"/>
                    </a:solidFill>
                    <a:latin typeface="+mn-lt"/>
                    <a:ea typeface="+mn-ea"/>
                    <a:cs typeface="+mn-cs"/>
                  </a:rPr>
                  <a:t>高端权益与专属增值服务</a:t>
                </a:r>
              </a:p>
            </p:txBody>
          </p:sp>
        </p:grpSp>
        <p:grpSp>
          <p:nvGrpSpPr>
            <p:cNvPr id="219" name="strat-4"/>
            <p:cNvGrpSpPr/>
            <p:nvPr/>
          </p:nvGrpSpPr>
          <p:grpSpPr>
            <a:xfrm>
              <a:off x="7843838" y="5016341"/>
              <a:ext cx="1348549" cy="647939"/>
              <a:chOff x="7843838" y="5016341"/>
              <a:chExt cx="1348549" cy="647939"/>
            </a:xfrm>
          </p:grpSpPr>
          <p:sp>
            <p:nvSpPr>
              <p:cNvPr id="217" name="TextBox 217"/>
              <p:cNvSpPr txBox="1"/>
              <p:nvPr/>
            </p:nvSpPr>
            <p:spPr>
              <a:xfrm>
                <a:off x="7843838" y="5016341"/>
                <a:ext cx="1304657" cy="161925"/>
              </a:xfrm>
              <a:prstGeom prst="rect">
                <a:avLst/>
              </a:prstGeom>
              <a:noFill/>
              <a:ln>
                <a:noFill/>
              </a:ln>
            </p:spPr>
            <p:txBody>
              <a:bodyPr wrap="none" lIns="0" tIns="0" rIns="0" bIns="0" anchor="t" anchorCtr="0">
                <a:spAutoFit/>
              </a:bodyPr>
              <a:lstStyle/>
              <a:p>
                <a:pPr algn="l"/>
                <a:r>
                  <a:rPr lang="zh-CN" sz="820" b="1" dirty="0">
                    <a:solidFill>
                      <a:srgbClr val="520E00"/>
                    </a:solidFill>
                    <a:latin typeface="+mn-lt"/>
                    <a:ea typeface="+mn-ea"/>
                    <a:cs typeface="+mn-cs"/>
                  </a:rPr>
                  <a:t>沉默客</a:t>
                </a:r>
                <a:r>
                  <a:rPr lang="zh-CN" sz="820" b="1" dirty="0">
                    <a:solidFill>
                      <a:srgbClr val="C02C0A"/>
                    </a:solidFill>
                    <a:latin typeface="+mn-lt"/>
                    <a:ea typeface="+mn-ea"/>
                    <a:cs typeface="+mn-cs"/>
                  </a:rPr>
                  <a:t>×稳定型</a:t>
                </a:r>
                <a:r>
                  <a:rPr lang="zh-CN" sz="820" b="1" dirty="0">
                    <a:solidFill>
                      <a:srgbClr val="520E00"/>
                    </a:solidFill>
                    <a:latin typeface="+mn-lt"/>
                    <a:ea typeface="+mn-ea"/>
                    <a:cs typeface="+mn-cs"/>
                  </a:rPr>
                  <a:t>×银发客户​</a:t>
                </a:r>
              </a:p>
            </p:txBody>
          </p:sp>
          <p:sp>
            <p:nvSpPr>
              <p:cNvPr id="218" name="TextBox 218"/>
              <p:cNvSpPr txBox="1"/>
              <p:nvPr/>
            </p:nvSpPr>
            <p:spPr>
              <a:xfrm>
                <a:off x="7843838" y="5218986"/>
                <a:ext cx="1348549" cy="445294"/>
              </a:xfrm>
              <a:prstGeom prst="rect">
                <a:avLst/>
              </a:prstGeom>
              <a:noFill/>
              <a:ln>
                <a:noFill/>
              </a:ln>
            </p:spPr>
            <p:txBody>
              <a:bodyPr wrap="none" lIns="0" tIns="0" rIns="0" bIns="0" anchor="t" anchorCtr="0">
                <a:spAutoFit/>
              </a:bodyPr>
              <a:lstStyle/>
              <a:p>
                <a:pPr algn="l" marL="76644" indent="-76644">
                  <a:lnSpc>
                    <a:spcPts val="1200"/>
                  </a:lnSpc>
                  <a:buClr>
                    <a:srgbClr val="60403A"/>
                  </a:buClr>
                  <a:buSzTx/>
                  <a:buFontTx/>
                  <a:buChar char="•"/>
                </a:pPr>
                <a:r>
                  <a:rPr lang="zh-CN" sz="710" dirty="0">
                    <a:solidFill>
                      <a:srgbClr val="60403A"/>
                    </a:solidFill>
                    <a:latin typeface="+mn-lt"/>
                    <a:ea typeface="+mn-ea"/>
                    <a:cs typeface="+mn-cs"/>
                  </a:rPr>
                  <a:t>线下关怀与健康服务唤醒</a:t>
                </a:r>
              </a:p>
              <a:p>
                <a:pPr algn="l" marL="76644" indent="-76644">
                  <a:lnSpc>
                    <a:spcPts val="1200"/>
                  </a:lnSpc>
                  <a:buClr>
                    <a:srgbClr val="60403A"/>
                  </a:buClr>
                  <a:buSzTx/>
                  <a:buFontTx/>
                  <a:buChar char="•"/>
                </a:pPr>
                <a:r>
                  <a:rPr lang="zh-CN" sz="710" dirty="0">
                    <a:solidFill>
                      <a:srgbClr val="60403A"/>
                    </a:solidFill>
                    <a:latin typeface="+mn-lt"/>
                    <a:ea typeface="+mn-ea"/>
                    <a:cs typeface="+mn-cs"/>
                  </a:rPr>
                  <a:t>推荐稳健型产品，满足安全需求</a:t>
                </a:r>
              </a:p>
              <a:p>
                <a:pPr algn="l" marL="76644" indent="-76644">
                  <a:lnSpc>
                    <a:spcPts val="1200"/>
                  </a:lnSpc>
                  <a:buClr>
                    <a:srgbClr val="60403A"/>
                  </a:buClr>
                  <a:buSzTx/>
                  <a:buFontTx/>
                  <a:buChar char="•"/>
                </a:pPr>
                <a:r>
                  <a:rPr lang="zh-CN" sz="710" dirty="0">
                    <a:solidFill>
                      <a:srgbClr val="60403A"/>
                    </a:solidFill>
                    <a:latin typeface="+mn-lt"/>
                    <a:ea typeface="+mn-ea"/>
                    <a:cs typeface="+mn-cs"/>
                  </a:rPr>
                  <a:t>简化流程，提升体验</a:t>
                </a:r>
              </a:p>
            </p:txBody>
          </p:sp>
        </p:grpSp>
        <p:grpSp>
          <p:nvGrpSpPr>
            <p:cNvPr id="222" name="strat-5"/>
            <p:cNvGrpSpPr/>
            <p:nvPr/>
          </p:nvGrpSpPr>
          <p:grpSpPr>
            <a:xfrm>
              <a:off x="9939338" y="5016341"/>
              <a:ext cx="1525434" cy="647939"/>
              <a:chOff x="9939338" y="5016341"/>
              <a:chExt cx="1525434" cy="647939"/>
            </a:xfrm>
          </p:grpSpPr>
          <p:sp>
            <p:nvSpPr>
              <p:cNvPr id="220" name="TextBox 220"/>
              <p:cNvSpPr txBox="1"/>
              <p:nvPr/>
            </p:nvSpPr>
            <p:spPr>
              <a:xfrm>
                <a:off x="9939338" y="5016341"/>
                <a:ext cx="1525434" cy="161925"/>
              </a:xfrm>
              <a:prstGeom prst="rect">
                <a:avLst/>
              </a:prstGeom>
              <a:noFill/>
              <a:ln>
                <a:noFill/>
              </a:ln>
            </p:spPr>
            <p:txBody>
              <a:bodyPr wrap="none" lIns="0" tIns="0" rIns="0" bIns="0" anchor="t" anchorCtr="0">
                <a:spAutoFit/>
              </a:bodyPr>
              <a:lstStyle/>
              <a:p>
                <a:pPr algn="l"/>
                <a:r>
                  <a:rPr lang="zh-CN" sz="820" b="1" dirty="0">
                    <a:solidFill>
                      <a:srgbClr val="520E00"/>
                    </a:solidFill>
                    <a:latin typeface="+mn-lt"/>
                    <a:ea typeface="+mn-ea"/>
                    <a:cs typeface="+mn-cs"/>
                  </a:rPr>
                  <a:t>预流失客</a:t>
                </a:r>
                <a:r>
                  <a:rPr lang="zh-CN" sz="820" b="1" dirty="0">
                    <a:solidFill>
                      <a:srgbClr val="C02C0A"/>
                    </a:solidFill>
                    <a:latin typeface="+mn-lt"/>
                    <a:ea typeface="+mn-ea"/>
                    <a:cs typeface="+mn-cs"/>
                  </a:rPr>
                  <a:t>×价格敏感型</a:t>
                </a:r>
                <a:r>
                  <a:rPr lang="zh-CN" sz="820" b="1" dirty="0">
                    <a:solidFill>
                      <a:srgbClr val="520E00"/>
                    </a:solidFill>
                    <a:latin typeface="+mn-lt"/>
                    <a:ea typeface="+mn-ea"/>
                    <a:cs typeface="+mn-cs"/>
                  </a:rPr>
                  <a:t>×企业主​</a:t>
                </a:r>
              </a:p>
            </p:txBody>
          </p:sp>
          <p:sp>
            <p:nvSpPr>
              <p:cNvPr id="221" name="TextBox 221"/>
              <p:cNvSpPr txBox="1"/>
              <p:nvPr/>
            </p:nvSpPr>
            <p:spPr>
              <a:xfrm>
                <a:off x="9939338" y="5218986"/>
                <a:ext cx="1258380" cy="445294"/>
              </a:xfrm>
              <a:prstGeom prst="rect">
                <a:avLst/>
              </a:prstGeom>
              <a:noFill/>
              <a:ln>
                <a:noFill/>
              </a:ln>
            </p:spPr>
            <p:txBody>
              <a:bodyPr wrap="none" lIns="0" tIns="0" rIns="0" bIns="0" anchor="t" anchorCtr="0">
                <a:spAutoFit/>
              </a:bodyPr>
              <a:lstStyle/>
              <a:p>
                <a:pPr algn="l" marL="76644" indent="-76644">
                  <a:lnSpc>
                    <a:spcPts val="1200"/>
                  </a:lnSpc>
                  <a:buClr>
                    <a:srgbClr val="60403A"/>
                  </a:buClr>
                  <a:buSzTx/>
                  <a:buFontTx/>
                  <a:buChar char="•"/>
                </a:pPr>
                <a:r>
                  <a:rPr lang="zh-CN" sz="710" dirty="0">
                    <a:solidFill>
                      <a:srgbClr val="60403A"/>
                    </a:solidFill>
                    <a:latin typeface="+mn-lt"/>
                    <a:ea typeface="+mn-ea"/>
                    <a:cs typeface="+mn-cs"/>
                  </a:rPr>
                  <a:t>主动沟通，了解流失原因</a:t>
                </a:r>
              </a:p>
              <a:p>
                <a:pPr algn="l" marL="76644" indent="-76644">
                  <a:lnSpc>
                    <a:spcPts val="1200"/>
                  </a:lnSpc>
                  <a:buClr>
                    <a:srgbClr val="60403A"/>
                  </a:buClr>
                  <a:buSzTx/>
                  <a:buFontTx/>
                  <a:buChar char="•"/>
                </a:pPr>
                <a:r>
                  <a:rPr lang="zh-CN" sz="710" dirty="0">
                    <a:solidFill>
                      <a:srgbClr val="60403A"/>
                    </a:solidFill>
                    <a:latin typeface="+mn-lt"/>
                    <a:ea typeface="+mn-ea"/>
                    <a:cs typeface="+mn-cs"/>
                  </a:rPr>
                  <a:t>提供优惠方案与效率服务挽回</a:t>
                </a:r>
              </a:p>
              <a:p>
                <a:pPr algn="l" marL="76644" indent="-76644">
                  <a:lnSpc>
                    <a:spcPts val="1200"/>
                  </a:lnSpc>
                  <a:buClr>
                    <a:srgbClr val="60403A"/>
                  </a:buClr>
                  <a:buSzTx/>
                  <a:buFontTx/>
                  <a:buChar char="•"/>
                </a:pPr>
                <a:r>
                  <a:rPr lang="zh-CN" sz="710" dirty="0">
                    <a:solidFill>
                      <a:srgbClr val="60403A"/>
                    </a:solidFill>
                    <a:latin typeface="+mn-lt"/>
                    <a:ea typeface="+mn-ea"/>
                    <a:cs typeface="+mn-cs"/>
                  </a:rPr>
                  <a:t>强化价值主张，挽回留存</a:t>
                </a:r>
              </a:p>
            </p:txBody>
          </p:sp>
        </p:grpSp>
      </p:grpSp>
      <p:grpSp>
        <p:nvGrpSpPr>
          <p:cNvPr id="228" name="bottom-banner"/>
          <p:cNvGrpSpPr/>
          <p:nvPr/>
        </p:nvGrpSpPr>
        <p:grpSpPr>
          <a:xfrm>
            <a:off x="228600" y="5867400"/>
            <a:ext cx="11734800" cy="495300"/>
            <a:chOff x="228600" y="5867400"/>
            <a:chExt cx="11734800" cy="495300"/>
          </a:xfrm>
        </p:grpSpPr>
        <p:sp>
          <p:nvSpPr>
            <p:cNvPr id="224" name="Rectangle 224"/>
            <p:cNvSpPr/>
            <p:nvPr/>
          </p:nvSpPr>
          <p:spPr>
            <a:xfrm>
              <a:off x="228600" y="5867400"/>
              <a:ext cx="11734800" cy="495300"/>
            </a:xfrm>
            <a:prstGeom prst="roundRect">
              <a:avLst>
                <a:gd name="adj" fmla="val 11538"/>
              </a:avLst>
            </a:prstGeom>
            <a:solidFill>
              <a:srgbClr val="671200"/>
            </a:solidFill>
            <a:ln>
              <a:noFill/>
            </a:ln>
          </p:spPr>
        </p:sp>
        <p:sp>
          <p:nvSpPr>
            <p:cNvPr id="225" name="Freeform 225"/>
            <p:cNvSpPr/>
            <p:nvPr/>
          </p:nvSpPr>
          <p:spPr>
            <a:xfrm>
              <a:off x="2247900" y="5905500"/>
              <a:ext cx="342900" cy="400050"/>
            </a:xfrm>
            <a:prstGeom prst="chevron">
              <a:avLst/>
            </a:prstGeom>
            <a:solidFill>
              <a:srgbClr val="C02C0A"/>
            </a:solidFill>
            <a:ln>
              <a:noFill/>
            </a:ln>
          </p:spPr>
        </p:sp>
        <p:sp>
          <p:nvSpPr>
            <p:cNvPr id="226" name="Freeform 226"/>
            <p:cNvSpPr/>
            <p:nvPr/>
          </p:nvSpPr>
          <p:spPr>
            <a:xfrm rot="10800000">
              <a:off x="9601200" y="5905500"/>
              <a:ext cx="342900" cy="400050"/>
            </a:xfrm>
            <a:prstGeom prst="chevron">
              <a:avLst/>
            </a:prstGeom>
            <a:solidFill>
              <a:srgbClr val="C02C0A"/>
            </a:solidFill>
            <a:ln>
              <a:noFill/>
            </a:ln>
          </p:spPr>
        </p:sp>
        <p:sp>
          <p:nvSpPr>
            <p:cNvPr id="227" name="TextBox 227"/>
            <p:cNvSpPr txBox="1"/>
            <p:nvPr/>
          </p:nvSpPr>
          <p:spPr>
            <a:xfrm>
              <a:off x="4977003" y="6013132"/>
              <a:ext cx="2237994"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一客一策，差异化经营</a:t>
              </a:r>
            </a:p>
          </p:txBody>
        </p:sp>
      </p:gr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256413" y="162401"/>
              <a:ext cx="35243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6​</a:t>
              </a:r>
            </a:p>
          </p:txBody>
        </p:sp>
        <p:sp>
          <p:nvSpPr>
            <p:cNvPr id="4" name="TextBox 4"/>
            <p:cNvSpPr txBox="1"/>
            <p:nvPr/>
          </p:nvSpPr>
          <p:spPr>
            <a:xfrm>
              <a:off x="942594" y="151448"/>
              <a:ext cx="5844540"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标签体系：把客户数据转化为可执行的运营语言</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32" name="tag-identity"/>
          <p:cNvGrpSpPr/>
          <p:nvPr/>
        </p:nvGrpSpPr>
        <p:grpSpPr>
          <a:xfrm>
            <a:off x="228600" y="762000"/>
            <a:ext cx="4000500" cy="990600"/>
            <a:chOff x="228600" y="762000"/>
            <a:chExt cx="4000500" cy="990600"/>
          </a:xfrm>
        </p:grpSpPr>
        <p:sp>
          <p:nvSpPr>
            <p:cNvPr id="7" name="Rectangle 7"/>
            <p:cNvSpPr/>
            <p:nvPr/>
          </p:nvSpPr>
          <p:spPr>
            <a:xfrm>
              <a:off x="228600" y="762000"/>
              <a:ext cx="952500" cy="990600"/>
            </a:xfrm>
            <a:prstGeom prst="roundRect">
              <a:avLst>
                <a:gd name="adj" fmla="val 6000"/>
              </a:avLst>
            </a:prstGeom>
            <a:solidFill>
              <a:srgbClr val="520E00"/>
            </a:solidFill>
            <a:ln>
              <a:noFill/>
            </a:ln>
          </p:spPr>
        </p:sp>
        <p:grpSp>
          <p:nvGrpSpPr>
            <p:cNvPr id="12" name="Group 12"/>
            <p:cNvGrpSpPr/>
            <p:nvPr/>
          </p:nvGrpSpPr>
          <p:grpSpPr>
            <a:xfrm>
              <a:off x="615950" y="971550"/>
              <a:ext cx="177800" cy="228599"/>
              <a:chOff x="615950" y="971550"/>
              <a:chExt cx="177800" cy="228599"/>
            </a:xfrm>
          </p:grpSpPr>
          <p:sp>
            <p:nvSpPr>
              <p:cNvPr id="8" name="Freeform 8"/>
              <p:cNvSpPr/>
              <p:nvPr/>
            </p:nvSpPr>
            <p:spPr>
              <a:xfrm>
                <a:off x="615950" y="971550"/>
                <a:ext cx="177800" cy="228599"/>
              </a:xfrm>
              <a:custGeom>
                <a:avLst/>
                <a:gdLst/>
                <a:ahLst/>
                <a:cxnLst/>
                <a:rect l="l" t="t" r="r" b="b"/>
                <a:pathLst>
                  <a:path w="177800" h="228599">
                    <a:moveTo>
                      <a:pt x="0" y="38100"/>
                    </a:moveTo>
                    <a:cubicBezTo>
                      <a:pt x="0" y="17058"/>
                      <a:pt x="17058" y="0"/>
                      <a:pt x="38100" y="0"/>
                    </a:cubicBezTo>
                    <a:lnTo>
                      <a:pt x="139700" y="0"/>
                    </a:lnTo>
                    <a:cubicBezTo>
                      <a:pt x="160742" y="0"/>
                      <a:pt x="177800" y="17058"/>
                      <a:pt x="177800" y="38100"/>
                    </a:cubicBezTo>
                    <a:lnTo>
                      <a:pt x="177800" y="190500"/>
                    </a:lnTo>
                    <a:cubicBezTo>
                      <a:pt x="177800" y="211542"/>
                      <a:pt x="160742" y="228599"/>
                      <a:pt x="139700" y="228599"/>
                    </a:cubicBezTo>
                    <a:lnTo>
                      <a:pt x="38100" y="228599"/>
                    </a:lnTo>
                    <a:cubicBezTo>
                      <a:pt x="17058" y="228599"/>
                      <a:pt x="0" y="211542"/>
                      <a:pt x="0" y="190500"/>
                    </a:cubicBezTo>
                    <a:lnTo>
                      <a:pt x="0" y="38100"/>
                    </a:lnTo>
                  </a:path>
                </a:pathLst>
              </a:custGeom>
              <a:noFill/>
              <a:ln w="19050">
                <a:solidFill>
                  <a:srgbClr val="FFFFFF"/>
                </a:solidFill>
              </a:ln>
            </p:spPr>
          </p:sp>
          <p:sp>
            <p:nvSpPr>
              <p:cNvPr id="9" name="Freeform 9"/>
              <p:cNvSpPr/>
              <p:nvPr/>
            </p:nvSpPr>
            <p:spPr>
              <a:xfrm>
                <a:off x="679450" y="10731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FFFFFF"/>
                </a:solidFill>
              </a:ln>
            </p:spPr>
          </p:sp>
          <p:sp>
            <p:nvSpPr>
              <p:cNvPr id="10" name="Freeform 10"/>
              <p:cNvSpPr/>
              <p:nvPr/>
            </p:nvSpPr>
            <p:spPr>
              <a:xfrm>
                <a:off x="679450" y="1009650"/>
                <a:ext cx="50800" cy="9525"/>
              </a:xfrm>
              <a:custGeom>
                <a:avLst/>
                <a:gdLst/>
                <a:ahLst/>
                <a:cxnLst/>
                <a:rect l="l" t="t" r="r" b="b"/>
                <a:pathLst>
                  <a:path w="50800" h="9525">
                    <a:moveTo>
                      <a:pt x="0" y="0"/>
                    </a:moveTo>
                    <a:lnTo>
                      <a:pt x="50800" y="0"/>
                    </a:lnTo>
                  </a:path>
                </a:pathLst>
              </a:custGeom>
              <a:noFill/>
              <a:ln w="19050">
                <a:solidFill>
                  <a:srgbClr val="FFFFFF"/>
                </a:solidFill>
              </a:ln>
            </p:spPr>
          </p:sp>
          <p:sp>
            <p:nvSpPr>
              <p:cNvPr id="11" name="Freeform 11"/>
              <p:cNvSpPr/>
              <p:nvPr/>
            </p:nvSpPr>
            <p:spPr>
              <a:xfrm>
                <a:off x="666750" y="1162049"/>
                <a:ext cx="76200" cy="9525"/>
              </a:xfrm>
              <a:custGeom>
                <a:avLst/>
                <a:gdLst/>
                <a:ahLst/>
                <a:cxnLst/>
                <a:rect l="l" t="t" r="r" b="b"/>
                <a:pathLst>
                  <a:path w="76200" h="9525">
                    <a:moveTo>
                      <a:pt x="0" y="0"/>
                    </a:moveTo>
                    <a:lnTo>
                      <a:pt x="76200" y="0"/>
                    </a:lnTo>
                  </a:path>
                </a:pathLst>
              </a:custGeom>
              <a:noFill/>
              <a:ln w="19050">
                <a:solidFill>
                  <a:srgbClr val="FFFFFF"/>
                </a:solidFill>
              </a:ln>
            </p:spPr>
          </p:sp>
        </p:grpSp>
        <p:sp>
          <p:nvSpPr>
            <p:cNvPr id="13" name="TextBox 13"/>
            <p:cNvSpPr txBox="1"/>
            <p:nvPr/>
          </p:nvSpPr>
          <p:spPr>
            <a:xfrm>
              <a:off x="436042" y="14187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身份属性</a:t>
              </a:r>
            </a:p>
          </p:txBody>
        </p:sp>
        <p:sp>
          <p:nvSpPr>
            <p:cNvPr id="14" name="Rectangle 14"/>
            <p:cNvSpPr/>
            <p:nvPr/>
          </p:nvSpPr>
          <p:spPr>
            <a:xfrm>
              <a:off x="1276350" y="838200"/>
              <a:ext cx="933450" cy="228600"/>
            </a:xfrm>
            <a:prstGeom prst="roundRect">
              <a:avLst>
                <a:gd name="adj" fmla="val 16667"/>
              </a:avLst>
            </a:prstGeom>
            <a:solidFill>
              <a:srgbClr val="EEF3FB"/>
            </a:solidFill>
            <a:ln>
              <a:noFill/>
            </a:ln>
          </p:spPr>
        </p:sp>
        <p:sp>
          <p:nvSpPr>
            <p:cNvPr id="15" name="TextBox 15"/>
            <p:cNvSpPr txBox="1"/>
            <p:nvPr/>
          </p:nvSpPr>
          <p:spPr>
            <a:xfrm>
              <a:off x="1642732" y="913686"/>
              <a:ext cx="200685"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年龄</a:t>
              </a:r>
            </a:p>
          </p:txBody>
        </p:sp>
        <p:sp>
          <p:nvSpPr>
            <p:cNvPr id="16" name="Rectangle 16"/>
            <p:cNvSpPr/>
            <p:nvPr/>
          </p:nvSpPr>
          <p:spPr>
            <a:xfrm>
              <a:off x="2286000" y="838200"/>
              <a:ext cx="933450" cy="228600"/>
            </a:xfrm>
            <a:prstGeom prst="roundRect">
              <a:avLst>
                <a:gd name="adj" fmla="val 16667"/>
              </a:avLst>
            </a:prstGeom>
            <a:solidFill>
              <a:srgbClr val="EEF3FB"/>
            </a:solidFill>
            <a:ln>
              <a:noFill/>
            </a:ln>
          </p:spPr>
        </p:sp>
        <p:sp>
          <p:nvSpPr>
            <p:cNvPr id="17" name="TextBox 17"/>
            <p:cNvSpPr txBox="1"/>
            <p:nvPr/>
          </p:nvSpPr>
          <p:spPr>
            <a:xfrm>
              <a:off x="2652382" y="913686"/>
              <a:ext cx="200685"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性别</a:t>
              </a:r>
            </a:p>
          </p:txBody>
        </p:sp>
        <p:sp>
          <p:nvSpPr>
            <p:cNvPr id="18" name="Rectangle 18"/>
            <p:cNvSpPr/>
            <p:nvPr/>
          </p:nvSpPr>
          <p:spPr>
            <a:xfrm>
              <a:off x="3295650" y="838200"/>
              <a:ext cx="933450" cy="228600"/>
            </a:xfrm>
            <a:prstGeom prst="roundRect">
              <a:avLst>
                <a:gd name="adj" fmla="val 16667"/>
              </a:avLst>
            </a:prstGeom>
            <a:solidFill>
              <a:srgbClr val="EEF3FB"/>
            </a:solidFill>
            <a:ln>
              <a:noFill/>
            </a:ln>
          </p:spPr>
        </p:sp>
        <p:sp>
          <p:nvSpPr>
            <p:cNvPr id="19" name="TextBox 19"/>
            <p:cNvSpPr txBox="1"/>
            <p:nvPr/>
          </p:nvSpPr>
          <p:spPr>
            <a:xfrm>
              <a:off x="3662032" y="913686"/>
              <a:ext cx="200685"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职业</a:t>
              </a:r>
            </a:p>
          </p:txBody>
        </p:sp>
        <p:sp>
          <p:nvSpPr>
            <p:cNvPr id="20" name="Rectangle 20"/>
            <p:cNvSpPr/>
            <p:nvPr/>
          </p:nvSpPr>
          <p:spPr>
            <a:xfrm>
              <a:off x="1276350" y="1143000"/>
              <a:ext cx="933450" cy="228600"/>
            </a:xfrm>
            <a:prstGeom prst="roundRect">
              <a:avLst>
                <a:gd name="adj" fmla="val 16667"/>
              </a:avLst>
            </a:prstGeom>
            <a:solidFill>
              <a:srgbClr val="EEF3FB"/>
            </a:solidFill>
            <a:ln>
              <a:noFill/>
            </a:ln>
          </p:spPr>
        </p:sp>
        <p:sp>
          <p:nvSpPr>
            <p:cNvPr id="21" name="TextBox 21"/>
            <p:cNvSpPr txBox="1"/>
            <p:nvPr/>
          </p:nvSpPr>
          <p:spPr>
            <a:xfrm>
              <a:off x="1642732" y="1218486"/>
              <a:ext cx="200685"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城市</a:t>
              </a:r>
            </a:p>
          </p:txBody>
        </p:sp>
        <p:sp>
          <p:nvSpPr>
            <p:cNvPr id="22" name="Rectangle 22"/>
            <p:cNvSpPr/>
            <p:nvPr/>
          </p:nvSpPr>
          <p:spPr>
            <a:xfrm>
              <a:off x="2286000" y="1143000"/>
              <a:ext cx="933450" cy="228600"/>
            </a:xfrm>
            <a:prstGeom prst="roundRect">
              <a:avLst>
                <a:gd name="adj" fmla="val 16667"/>
              </a:avLst>
            </a:prstGeom>
            <a:solidFill>
              <a:srgbClr val="EEF3FB"/>
            </a:solidFill>
            <a:ln>
              <a:noFill/>
            </a:ln>
          </p:spPr>
        </p:sp>
        <p:sp>
          <p:nvSpPr>
            <p:cNvPr id="23" name="TextBox 23"/>
            <p:cNvSpPr txBox="1"/>
            <p:nvPr/>
          </p:nvSpPr>
          <p:spPr>
            <a:xfrm>
              <a:off x="2652382" y="1218486"/>
              <a:ext cx="200685"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学历</a:t>
              </a:r>
            </a:p>
          </p:txBody>
        </p:sp>
        <p:sp>
          <p:nvSpPr>
            <p:cNvPr id="24" name="Rectangle 24"/>
            <p:cNvSpPr/>
            <p:nvPr/>
          </p:nvSpPr>
          <p:spPr>
            <a:xfrm>
              <a:off x="3295650" y="1143000"/>
              <a:ext cx="933450" cy="228600"/>
            </a:xfrm>
            <a:prstGeom prst="roundRect">
              <a:avLst>
                <a:gd name="adj" fmla="val 16667"/>
              </a:avLst>
            </a:prstGeom>
            <a:solidFill>
              <a:srgbClr val="EEF3FB"/>
            </a:solidFill>
            <a:ln>
              <a:noFill/>
            </a:ln>
          </p:spPr>
        </p:sp>
        <p:sp>
          <p:nvSpPr>
            <p:cNvPr id="25" name="TextBox 25"/>
            <p:cNvSpPr txBox="1"/>
            <p:nvPr/>
          </p:nvSpPr>
          <p:spPr>
            <a:xfrm>
              <a:off x="3566452" y="12184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婚姻状态</a:t>
              </a:r>
            </a:p>
          </p:txBody>
        </p:sp>
        <p:sp>
          <p:nvSpPr>
            <p:cNvPr id="26" name="Rectangle 26"/>
            <p:cNvSpPr/>
            <p:nvPr/>
          </p:nvSpPr>
          <p:spPr>
            <a:xfrm>
              <a:off x="1276350" y="1447800"/>
              <a:ext cx="933450" cy="228600"/>
            </a:xfrm>
            <a:prstGeom prst="roundRect">
              <a:avLst>
                <a:gd name="adj" fmla="val 16667"/>
              </a:avLst>
            </a:prstGeom>
            <a:solidFill>
              <a:srgbClr val="EEF3FB"/>
            </a:solidFill>
            <a:ln>
              <a:noFill/>
            </a:ln>
          </p:spPr>
        </p:sp>
        <p:sp>
          <p:nvSpPr>
            <p:cNvPr id="27" name="TextBox 27"/>
            <p:cNvSpPr txBox="1"/>
            <p:nvPr/>
          </p:nvSpPr>
          <p:spPr>
            <a:xfrm>
              <a:off x="1547152" y="1523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客户等级</a:t>
              </a:r>
            </a:p>
          </p:txBody>
        </p:sp>
        <p:sp>
          <p:nvSpPr>
            <p:cNvPr id="28" name="Rectangle 28"/>
            <p:cNvSpPr/>
            <p:nvPr/>
          </p:nvSpPr>
          <p:spPr>
            <a:xfrm>
              <a:off x="2286000" y="1447800"/>
              <a:ext cx="933450" cy="228600"/>
            </a:xfrm>
            <a:prstGeom prst="roundRect">
              <a:avLst>
                <a:gd name="adj" fmla="val 16667"/>
              </a:avLst>
            </a:prstGeom>
            <a:solidFill>
              <a:srgbClr val="EEF3FB"/>
            </a:solidFill>
            <a:ln>
              <a:noFill/>
            </a:ln>
          </p:spPr>
        </p:sp>
        <p:sp>
          <p:nvSpPr>
            <p:cNvPr id="29" name="TextBox 29"/>
            <p:cNvSpPr txBox="1"/>
            <p:nvPr/>
          </p:nvSpPr>
          <p:spPr>
            <a:xfrm>
              <a:off x="2556802" y="1523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资产规模</a:t>
              </a:r>
            </a:p>
          </p:txBody>
        </p:sp>
        <p:sp>
          <p:nvSpPr>
            <p:cNvPr id="30" name="Rectangle 30"/>
            <p:cNvSpPr/>
            <p:nvPr/>
          </p:nvSpPr>
          <p:spPr>
            <a:xfrm>
              <a:off x="3295650" y="1447800"/>
              <a:ext cx="933450" cy="228600"/>
            </a:xfrm>
            <a:prstGeom prst="roundRect">
              <a:avLst>
                <a:gd name="adj" fmla="val 16667"/>
              </a:avLst>
            </a:prstGeom>
            <a:solidFill>
              <a:srgbClr val="EEF3FB"/>
            </a:solidFill>
            <a:ln>
              <a:noFill/>
            </a:ln>
          </p:spPr>
        </p:sp>
        <p:sp>
          <p:nvSpPr>
            <p:cNvPr id="31" name="TextBox 31"/>
            <p:cNvSpPr txBox="1"/>
            <p:nvPr/>
          </p:nvSpPr>
          <p:spPr>
            <a:xfrm>
              <a:off x="3731328" y="1523286"/>
              <a:ext cx="62094"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a:t>
              </a:r>
            </a:p>
          </p:txBody>
        </p:sp>
      </p:grpSp>
      <p:grpSp>
        <p:nvGrpSpPr>
          <p:cNvPr id="58" name="tag-card"/>
          <p:cNvGrpSpPr/>
          <p:nvPr/>
        </p:nvGrpSpPr>
        <p:grpSpPr>
          <a:xfrm>
            <a:off x="228600" y="1828800"/>
            <a:ext cx="4000500" cy="990600"/>
            <a:chOff x="228600" y="1828800"/>
            <a:chExt cx="4000500" cy="990600"/>
          </a:xfrm>
        </p:grpSpPr>
        <p:sp>
          <p:nvSpPr>
            <p:cNvPr id="33" name="Rectangle 33"/>
            <p:cNvSpPr/>
            <p:nvPr/>
          </p:nvSpPr>
          <p:spPr>
            <a:xfrm>
              <a:off x="228600" y="1828800"/>
              <a:ext cx="952500" cy="990600"/>
            </a:xfrm>
            <a:prstGeom prst="roundRect">
              <a:avLst>
                <a:gd name="adj" fmla="val 6000"/>
              </a:avLst>
            </a:prstGeom>
            <a:solidFill>
              <a:srgbClr val="520E00"/>
            </a:solidFill>
            <a:ln>
              <a:noFill/>
            </a:ln>
          </p:spPr>
        </p:sp>
        <p:grpSp>
          <p:nvGrpSpPr>
            <p:cNvPr id="38" name="Group 38"/>
            <p:cNvGrpSpPr/>
            <p:nvPr/>
          </p:nvGrpSpPr>
          <p:grpSpPr>
            <a:xfrm>
              <a:off x="590550" y="2063750"/>
              <a:ext cx="228599" cy="177800"/>
              <a:chOff x="590550" y="2063750"/>
              <a:chExt cx="228599" cy="177800"/>
            </a:xfrm>
          </p:grpSpPr>
          <p:sp>
            <p:nvSpPr>
              <p:cNvPr id="34" name="Freeform 34"/>
              <p:cNvSpPr/>
              <p:nvPr/>
            </p:nvSpPr>
            <p:spPr>
              <a:xfrm>
                <a:off x="590550" y="2063750"/>
                <a:ext cx="228599" cy="177800"/>
              </a:xfrm>
              <a:custGeom>
                <a:avLst/>
                <a:gdLst/>
                <a:ahLst/>
                <a:cxnLst/>
                <a:rect l="l" t="t" r="r" b="b"/>
                <a:pathLst>
                  <a:path w="228599" h="177800">
                    <a:moveTo>
                      <a:pt x="0" y="38100"/>
                    </a:move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38100" y="177800"/>
                    </a:lnTo>
                    <a:cubicBezTo>
                      <a:pt x="17058" y="177800"/>
                      <a:pt x="0" y="160742"/>
                      <a:pt x="0" y="139700"/>
                    </a:cubicBezTo>
                    <a:lnTo>
                      <a:pt x="0" y="38100"/>
                    </a:lnTo>
                  </a:path>
                </a:pathLst>
              </a:custGeom>
              <a:noFill/>
              <a:ln w="19050">
                <a:solidFill>
                  <a:srgbClr val="FFFFFF"/>
                </a:solidFill>
              </a:ln>
            </p:spPr>
          </p:sp>
          <p:sp>
            <p:nvSpPr>
              <p:cNvPr id="35" name="Freeform 35"/>
              <p:cNvSpPr/>
              <p:nvPr/>
            </p:nvSpPr>
            <p:spPr>
              <a:xfrm>
                <a:off x="590550" y="2127250"/>
                <a:ext cx="228599" cy="9525"/>
              </a:xfrm>
              <a:custGeom>
                <a:avLst/>
                <a:gdLst/>
                <a:ahLst/>
                <a:cxnLst/>
                <a:rect l="l" t="t" r="r" b="b"/>
                <a:pathLst>
                  <a:path w="228599" h="9525">
                    <a:moveTo>
                      <a:pt x="0" y="0"/>
                    </a:moveTo>
                    <a:lnTo>
                      <a:pt x="228599" y="0"/>
                    </a:lnTo>
                  </a:path>
                </a:pathLst>
              </a:custGeom>
              <a:noFill/>
              <a:ln w="19050">
                <a:solidFill>
                  <a:srgbClr val="FFFFFF"/>
                </a:solidFill>
              </a:ln>
            </p:spPr>
          </p:sp>
          <p:sp>
            <p:nvSpPr>
              <p:cNvPr id="36" name="Freeform 36"/>
              <p:cNvSpPr/>
              <p:nvPr/>
            </p:nvSpPr>
            <p:spPr>
              <a:xfrm>
                <a:off x="641350" y="2190750"/>
                <a:ext cx="9525" cy="9525"/>
              </a:xfrm>
              <a:custGeom>
                <a:avLst/>
                <a:gdLst/>
                <a:ahLst/>
                <a:cxnLst/>
                <a:rect l="l" t="t" r="r" b="b"/>
                <a:pathLst>
                  <a:path w="9525" h="9525">
                    <a:moveTo>
                      <a:pt x="0" y="0"/>
                    </a:moveTo>
                    <a:lnTo>
                      <a:pt x="127" y="0"/>
                    </a:lnTo>
                  </a:path>
                </a:pathLst>
              </a:custGeom>
              <a:noFill/>
              <a:ln w="19050">
                <a:solidFill>
                  <a:srgbClr val="FFFFFF"/>
                </a:solidFill>
              </a:ln>
            </p:spPr>
          </p:sp>
          <p:sp>
            <p:nvSpPr>
              <p:cNvPr id="37" name="Freeform 37"/>
              <p:cNvSpPr/>
              <p:nvPr/>
            </p:nvSpPr>
            <p:spPr>
              <a:xfrm>
                <a:off x="692150" y="2190750"/>
                <a:ext cx="25400" cy="9525"/>
              </a:xfrm>
              <a:custGeom>
                <a:avLst/>
                <a:gdLst/>
                <a:ahLst/>
                <a:cxnLst/>
                <a:rect l="l" t="t" r="r" b="b"/>
                <a:pathLst>
                  <a:path w="25400" h="9525">
                    <a:moveTo>
                      <a:pt x="0" y="0"/>
                    </a:moveTo>
                    <a:lnTo>
                      <a:pt x="25400" y="0"/>
                    </a:lnTo>
                  </a:path>
                </a:pathLst>
              </a:custGeom>
              <a:noFill/>
              <a:ln w="19050">
                <a:solidFill>
                  <a:srgbClr val="FFFFFF"/>
                </a:solidFill>
              </a:ln>
            </p:spPr>
          </p:sp>
        </p:grpSp>
        <p:sp>
          <p:nvSpPr>
            <p:cNvPr id="39" name="TextBox 39"/>
            <p:cNvSpPr txBox="1"/>
            <p:nvPr/>
          </p:nvSpPr>
          <p:spPr>
            <a:xfrm>
              <a:off x="436042" y="24855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卡片属性</a:t>
              </a:r>
            </a:p>
          </p:txBody>
        </p:sp>
        <p:sp>
          <p:nvSpPr>
            <p:cNvPr id="40" name="Rectangle 40"/>
            <p:cNvSpPr/>
            <p:nvPr/>
          </p:nvSpPr>
          <p:spPr>
            <a:xfrm>
              <a:off x="1276350" y="1905000"/>
              <a:ext cx="933450" cy="228600"/>
            </a:xfrm>
            <a:prstGeom prst="roundRect">
              <a:avLst>
                <a:gd name="adj" fmla="val 16667"/>
              </a:avLst>
            </a:prstGeom>
            <a:solidFill>
              <a:srgbClr val="EEF3FB"/>
            </a:solidFill>
            <a:ln>
              <a:noFill/>
            </a:ln>
          </p:spPr>
        </p:sp>
        <p:sp>
          <p:nvSpPr>
            <p:cNvPr id="41" name="TextBox 41"/>
            <p:cNvSpPr txBox="1"/>
            <p:nvPr/>
          </p:nvSpPr>
          <p:spPr>
            <a:xfrm>
              <a:off x="1547152" y="19804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卡片等级</a:t>
              </a:r>
            </a:p>
          </p:txBody>
        </p:sp>
        <p:sp>
          <p:nvSpPr>
            <p:cNvPr id="42" name="Rectangle 42"/>
            <p:cNvSpPr/>
            <p:nvPr/>
          </p:nvSpPr>
          <p:spPr>
            <a:xfrm>
              <a:off x="2286000" y="1905000"/>
              <a:ext cx="933450" cy="228600"/>
            </a:xfrm>
            <a:prstGeom prst="roundRect">
              <a:avLst>
                <a:gd name="adj" fmla="val 16667"/>
              </a:avLst>
            </a:prstGeom>
            <a:solidFill>
              <a:srgbClr val="EEF3FB"/>
            </a:solidFill>
            <a:ln>
              <a:noFill/>
            </a:ln>
          </p:spPr>
        </p:sp>
        <p:sp>
          <p:nvSpPr>
            <p:cNvPr id="43" name="TextBox 43"/>
            <p:cNvSpPr txBox="1"/>
            <p:nvPr/>
          </p:nvSpPr>
          <p:spPr>
            <a:xfrm>
              <a:off x="2556802" y="19804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卡片种类</a:t>
              </a:r>
            </a:p>
          </p:txBody>
        </p:sp>
        <p:sp>
          <p:nvSpPr>
            <p:cNvPr id="44" name="Rectangle 44"/>
            <p:cNvSpPr/>
            <p:nvPr/>
          </p:nvSpPr>
          <p:spPr>
            <a:xfrm>
              <a:off x="3295650" y="1905000"/>
              <a:ext cx="933450" cy="228600"/>
            </a:xfrm>
            <a:prstGeom prst="roundRect">
              <a:avLst>
                <a:gd name="adj" fmla="val 16667"/>
              </a:avLst>
            </a:prstGeom>
            <a:solidFill>
              <a:srgbClr val="EEF3FB"/>
            </a:solidFill>
            <a:ln>
              <a:noFill/>
            </a:ln>
          </p:spPr>
        </p:sp>
        <p:sp>
          <p:nvSpPr>
            <p:cNvPr id="45" name="TextBox 45"/>
            <p:cNvSpPr txBox="1"/>
            <p:nvPr/>
          </p:nvSpPr>
          <p:spPr>
            <a:xfrm>
              <a:off x="3513883" y="1980486"/>
              <a:ext cx="496984"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主卡/附卡​</a:t>
              </a:r>
            </a:p>
          </p:txBody>
        </p:sp>
        <p:sp>
          <p:nvSpPr>
            <p:cNvPr id="46" name="Rectangle 46"/>
            <p:cNvSpPr/>
            <p:nvPr/>
          </p:nvSpPr>
          <p:spPr>
            <a:xfrm>
              <a:off x="1276350" y="2209800"/>
              <a:ext cx="933450" cy="228600"/>
            </a:xfrm>
            <a:prstGeom prst="roundRect">
              <a:avLst>
                <a:gd name="adj" fmla="val 16667"/>
              </a:avLst>
            </a:prstGeom>
            <a:solidFill>
              <a:srgbClr val="EEF3FB"/>
            </a:solidFill>
            <a:ln>
              <a:noFill/>
            </a:ln>
          </p:spPr>
        </p:sp>
        <p:sp>
          <p:nvSpPr>
            <p:cNvPr id="47" name="TextBox 47"/>
            <p:cNvSpPr txBox="1"/>
            <p:nvPr/>
          </p:nvSpPr>
          <p:spPr>
            <a:xfrm>
              <a:off x="1547152" y="2285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开卡时间</a:t>
              </a:r>
            </a:p>
          </p:txBody>
        </p:sp>
        <p:sp>
          <p:nvSpPr>
            <p:cNvPr id="48" name="Rectangle 48"/>
            <p:cNvSpPr/>
            <p:nvPr/>
          </p:nvSpPr>
          <p:spPr>
            <a:xfrm>
              <a:off x="2286000" y="2209800"/>
              <a:ext cx="933450" cy="228600"/>
            </a:xfrm>
            <a:prstGeom prst="roundRect">
              <a:avLst>
                <a:gd name="adj" fmla="val 16667"/>
              </a:avLst>
            </a:prstGeom>
            <a:solidFill>
              <a:srgbClr val="EEF3FB"/>
            </a:solidFill>
            <a:ln>
              <a:noFill/>
            </a:ln>
          </p:spPr>
        </p:sp>
        <p:sp>
          <p:nvSpPr>
            <p:cNvPr id="49" name="TextBox 49"/>
            <p:cNvSpPr txBox="1"/>
            <p:nvPr/>
          </p:nvSpPr>
          <p:spPr>
            <a:xfrm>
              <a:off x="2556802" y="2285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信用额度</a:t>
              </a:r>
            </a:p>
          </p:txBody>
        </p:sp>
        <p:sp>
          <p:nvSpPr>
            <p:cNvPr id="50" name="Rectangle 50"/>
            <p:cNvSpPr/>
            <p:nvPr/>
          </p:nvSpPr>
          <p:spPr>
            <a:xfrm>
              <a:off x="3295650" y="2209800"/>
              <a:ext cx="933450" cy="228600"/>
            </a:xfrm>
            <a:prstGeom prst="roundRect">
              <a:avLst>
                <a:gd name="adj" fmla="val 16667"/>
              </a:avLst>
            </a:prstGeom>
            <a:solidFill>
              <a:srgbClr val="EEF3FB"/>
            </a:solidFill>
            <a:ln>
              <a:noFill/>
            </a:ln>
          </p:spPr>
        </p:sp>
        <p:sp>
          <p:nvSpPr>
            <p:cNvPr id="51" name="TextBox 51"/>
            <p:cNvSpPr txBox="1"/>
            <p:nvPr/>
          </p:nvSpPr>
          <p:spPr>
            <a:xfrm>
              <a:off x="3566452" y="2285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可用额度</a:t>
              </a:r>
            </a:p>
          </p:txBody>
        </p:sp>
        <p:sp>
          <p:nvSpPr>
            <p:cNvPr id="52" name="Rectangle 52"/>
            <p:cNvSpPr/>
            <p:nvPr/>
          </p:nvSpPr>
          <p:spPr>
            <a:xfrm>
              <a:off x="1276350" y="2514600"/>
              <a:ext cx="933450" cy="228600"/>
            </a:xfrm>
            <a:prstGeom prst="roundRect">
              <a:avLst>
                <a:gd name="adj" fmla="val 16667"/>
              </a:avLst>
            </a:prstGeom>
            <a:solidFill>
              <a:srgbClr val="EEF3FB"/>
            </a:solidFill>
            <a:ln>
              <a:noFill/>
            </a:ln>
          </p:spPr>
        </p:sp>
        <p:sp>
          <p:nvSpPr>
            <p:cNvPr id="53" name="TextBox 53"/>
            <p:cNvSpPr txBox="1"/>
            <p:nvPr/>
          </p:nvSpPr>
          <p:spPr>
            <a:xfrm>
              <a:off x="1547152" y="25900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账户状态</a:t>
              </a:r>
            </a:p>
          </p:txBody>
        </p:sp>
        <p:sp>
          <p:nvSpPr>
            <p:cNvPr id="54" name="Rectangle 54"/>
            <p:cNvSpPr/>
            <p:nvPr/>
          </p:nvSpPr>
          <p:spPr>
            <a:xfrm>
              <a:off x="2286000" y="2514600"/>
              <a:ext cx="933450" cy="228600"/>
            </a:xfrm>
            <a:prstGeom prst="roundRect">
              <a:avLst>
                <a:gd name="adj" fmla="val 16667"/>
              </a:avLst>
            </a:prstGeom>
            <a:solidFill>
              <a:srgbClr val="EEF3FB"/>
            </a:solidFill>
            <a:ln>
              <a:noFill/>
            </a:ln>
          </p:spPr>
        </p:sp>
        <p:sp>
          <p:nvSpPr>
            <p:cNvPr id="55" name="TextBox 55"/>
            <p:cNvSpPr txBox="1"/>
            <p:nvPr/>
          </p:nvSpPr>
          <p:spPr>
            <a:xfrm>
              <a:off x="2556802" y="25900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年费状态</a:t>
              </a:r>
            </a:p>
          </p:txBody>
        </p:sp>
        <p:sp>
          <p:nvSpPr>
            <p:cNvPr id="56" name="Rectangle 56"/>
            <p:cNvSpPr/>
            <p:nvPr/>
          </p:nvSpPr>
          <p:spPr>
            <a:xfrm>
              <a:off x="3295650" y="2514600"/>
              <a:ext cx="933450" cy="228600"/>
            </a:xfrm>
            <a:prstGeom prst="roundRect">
              <a:avLst>
                <a:gd name="adj" fmla="val 16667"/>
              </a:avLst>
            </a:prstGeom>
            <a:solidFill>
              <a:srgbClr val="EEF3FB"/>
            </a:solidFill>
            <a:ln>
              <a:noFill/>
            </a:ln>
          </p:spPr>
        </p:sp>
        <p:sp>
          <p:nvSpPr>
            <p:cNvPr id="57" name="TextBox 57"/>
            <p:cNvSpPr txBox="1"/>
            <p:nvPr/>
          </p:nvSpPr>
          <p:spPr>
            <a:xfrm>
              <a:off x="3731328" y="2590086"/>
              <a:ext cx="62094"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a:t>
              </a:r>
            </a:p>
          </p:txBody>
        </p:sp>
      </p:grpSp>
      <p:grpSp>
        <p:nvGrpSpPr>
          <p:cNvPr id="84" name="tag-transaction"/>
          <p:cNvGrpSpPr/>
          <p:nvPr/>
        </p:nvGrpSpPr>
        <p:grpSpPr>
          <a:xfrm>
            <a:off x="228600" y="2895600"/>
            <a:ext cx="4000500" cy="990600"/>
            <a:chOff x="228600" y="2895600"/>
            <a:chExt cx="4000500" cy="990600"/>
          </a:xfrm>
        </p:grpSpPr>
        <p:sp>
          <p:nvSpPr>
            <p:cNvPr id="59" name="Rectangle 59"/>
            <p:cNvSpPr/>
            <p:nvPr/>
          </p:nvSpPr>
          <p:spPr>
            <a:xfrm>
              <a:off x="228600" y="2895600"/>
              <a:ext cx="952500" cy="990600"/>
            </a:xfrm>
            <a:prstGeom prst="roundRect">
              <a:avLst>
                <a:gd name="adj" fmla="val 6000"/>
              </a:avLst>
            </a:prstGeom>
            <a:solidFill>
              <a:srgbClr val="520E00"/>
            </a:solidFill>
            <a:ln>
              <a:noFill/>
            </a:ln>
          </p:spPr>
        </p:sp>
        <p:grpSp>
          <p:nvGrpSpPr>
            <p:cNvPr id="64" name="Group 64"/>
            <p:cNvGrpSpPr/>
            <p:nvPr/>
          </p:nvGrpSpPr>
          <p:grpSpPr>
            <a:xfrm>
              <a:off x="603250" y="3105150"/>
              <a:ext cx="203200" cy="228599"/>
              <a:chOff x="603250" y="3105150"/>
              <a:chExt cx="203200" cy="228599"/>
            </a:xfrm>
          </p:grpSpPr>
          <p:sp>
            <p:nvSpPr>
              <p:cNvPr id="60" name="Freeform 60"/>
              <p:cNvSpPr/>
              <p:nvPr/>
            </p:nvSpPr>
            <p:spPr>
              <a:xfrm>
                <a:off x="603250" y="328294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FFFFFF"/>
                </a:solidFill>
              </a:ln>
            </p:spPr>
          </p:sp>
          <p:sp>
            <p:nvSpPr>
              <p:cNvPr id="61" name="Freeform 61"/>
              <p:cNvSpPr/>
              <p:nvPr/>
            </p:nvSpPr>
            <p:spPr>
              <a:xfrm>
                <a:off x="742950" y="328294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FFFFFF"/>
                </a:solidFill>
              </a:ln>
            </p:spPr>
          </p:sp>
          <p:sp>
            <p:nvSpPr>
              <p:cNvPr id="62" name="Freeform 62"/>
              <p:cNvSpPr/>
              <p:nvPr/>
            </p:nvSpPr>
            <p:spPr>
              <a:xfrm>
                <a:off x="603250" y="3105150"/>
                <a:ext cx="165100" cy="177800"/>
              </a:xfrm>
              <a:custGeom>
                <a:avLst/>
                <a:gdLst/>
                <a:ahLst/>
                <a:cxnLst/>
                <a:rect l="l" t="t" r="r" b="b"/>
                <a:pathLst>
                  <a:path w="165100" h="177800">
                    <a:moveTo>
                      <a:pt x="165100" y="177800"/>
                    </a:moveTo>
                    <a:lnTo>
                      <a:pt x="25400" y="177800"/>
                    </a:lnTo>
                    <a:lnTo>
                      <a:pt x="25400" y="0"/>
                    </a:lnTo>
                    <a:lnTo>
                      <a:pt x="0" y="0"/>
                    </a:lnTo>
                  </a:path>
                </a:pathLst>
              </a:custGeom>
              <a:noFill/>
              <a:ln w="19050">
                <a:solidFill>
                  <a:srgbClr val="FFFFFF"/>
                </a:solidFill>
              </a:ln>
            </p:spPr>
          </p:sp>
          <p:sp>
            <p:nvSpPr>
              <p:cNvPr id="63" name="Freeform 63"/>
              <p:cNvSpPr/>
              <p:nvPr/>
            </p:nvSpPr>
            <p:spPr>
              <a:xfrm>
                <a:off x="628650" y="3130550"/>
                <a:ext cx="177800" cy="101600"/>
              </a:xfrm>
              <a:custGeom>
                <a:avLst/>
                <a:gdLst/>
                <a:ahLst/>
                <a:cxnLst/>
                <a:rect l="l" t="t" r="r" b="b"/>
                <a:pathLst>
                  <a:path w="177800" h="101600">
                    <a:moveTo>
                      <a:pt x="0" y="0"/>
                    </a:moveTo>
                    <a:lnTo>
                      <a:pt x="177800" y="12700"/>
                    </a:lnTo>
                    <a:lnTo>
                      <a:pt x="165100" y="101600"/>
                    </a:lnTo>
                    <a:lnTo>
                      <a:pt x="0" y="101600"/>
                    </a:lnTo>
                  </a:path>
                </a:pathLst>
              </a:custGeom>
              <a:noFill/>
              <a:ln w="19050">
                <a:solidFill>
                  <a:srgbClr val="FFFFFF"/>
                </a:solidFill>
              </a:ln>
            </p:spPr>
          </p:sp>
        </p:grpSp>
        <p:sp>
          <p:nvSpPr>
            <p:cNvPr id="65" name="TextBox 65"/>
            <p:cNvSpPr txBox="1"/>
            <p:nvPr/>
          </p:nvSpPr>
          <p:spPr>
            <a:xfrm>
              <a:off x="436042" y="35523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交易行为</a:t>
              </a:r>
            </a:p>
          </p:txBody>
        </p:sp>
        <p:sp>
          <p:nvSpPr>
            <p:cNvPr id="66" name="Rectangle 66"/>
            <p:cNvSpPr/>
            <p:nvPr/>
          </p:nvSpPr>
          <p:spPr>
            <a:xfrm>
              <a:off x="1276350" y="2971800"/>
              <a:ext cx="933450" cy="228600"/>
            </a:xfrm>
            <a:prstGeom prst="roundRect">
              <a:avLst>
                <a:gd name="adj" fmla="val 16667"/>
              </a:avLst>
            </a:prstGeom>
            <a:solidFill>
              <a:srgbClr val="EEF3FB"/>
            </a:solidFill>
            <a:ln>
              <a:noFill/>
            </a:ln>
          </p:spPr>
        </p:sp>
        <p:sp>
          <p:nvSpPr>
            <p:cNvPr id="67" name="TextBox 67"/>
            <p:cNvSpPr txBox="1"/>
            <p:nvPr/>
          </p:nvSpPr>
          <p:spPr>
            <a:xfrm>
              <a:off x="1547152" y="3047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消费金额</a:t>
              </a:r>
            </a:p>
          </p:txBody>
        </p:sp>
        <p:sp>
          <p:nvSpPr>
            <p:cNvPr id="68" name="Rectangle 68"/>
            <p:cNvSpPr/>
            <p:nvPr/>
          </p:nvSpPr>
          <p:spPr>
            <a:xfrm>
              <a:off x="2286000" y="2971800"/>
              <a:ext cx="933450" cy="228600"/>
            </a:xfrm>
            <a:prstGeom prst="roundRect">
              <a:avLst>
                <a:gd name="adj" fmla="val 16667"/>
              </a:avLst>
            </a:prstGeom>
            <a:solidFill>
              <a:srgbClr val="EEF3FB"/>
            </a:solidFill>
            <a:ln>
              <a:noFill/>
            </a:ln>
          </p:spPr>
        </p:sp>
        <p:sp>
          <p:nvSpPr>
            <p:cNvPr id="69" name="TextBox 69"/>
            <p:cNvSpPr txBox="1"/>
            <p:nvPr/>
          </p:nvSpPr>
          <p:spPr>
            <a:xfrm>
              <a:off x="2556802" y="3047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消费笔数</a:t>
              </a:r>
            </a:p>
          </p:txBody>
        </p:sp>
        <p:sp>
          <p:nvSpPr>
            <p:cNvPr id="70" name="Rectangle 70"/>
            <p:cNvSpPr/>
            <p:nvPr/>
          </p:nvSpPr>
          <p:spPr>
            <a:xfrm>
              <a:off x="3295650" y="2971800"/>
              <a:ext cx="933450" cy="228600"/>
            </a:xfrm>
            <a:prstGeom prst="roundRect">
              <a:avLst>
                <a:gd name="adj" fmla="val 16667"/>
              </a:avLst>
            </a:prstGeom>
            <a:solidFill>
              <a:srgbClr val="EEF3FB"/>
            </a:solidFill>
            <a:ln>
              <a:noFill/>
            </a:ln>
          </p:spPr>
        </p:sp>
        <p:sp>
          <p:nvSpPr>
            <p:cNvPr id="71" name="TextBox 71"/>
            <p:cNvSpPr txBox="1"/>
            <p:nvPr/>
          </p:nvSpPr>
          <p:spPr>
            <a:xfrm>
              <a:off x="3566452" y="3047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消费频次</a:t>
              </a:r>
            </a:p>
          </p:txBody>
        </p:sp>
        <p:sp>
          <p:nvSpPr>
            <p:cNvPr id="72" name="Rectangle 72"/>
            <p:cNvSpPr/>
            <p:nvPr/>
          </p:nvSpPr>
          <p:spPr>
            <a:xfrm>
              <a:off x="1276350" y="3276600"/>
              <a:ext cx="933450" cy="228600"/>
            </a:xfrm>
            <a:prstGeom prst="roundRect">
              <a:avLst>
                <a:gd name="adj" fmla="val 16667"/>
              </a:avLst>
            </a:prstGeom>
            <a:solidFill>
              <a:srgbClr val="EEF3FB"/>
            </a:solidFill>
            <a:ln>
              <a:noFill/>
            </a:ln>
          </p:spPr>
        </p:sp>
        <p:sp>
          <p:nvSpPr>
            <p:cNvPr id="73" name="TextBox 73"/>
            <p:cNvSpPr txBox="1"/>
            <p:nvPr/>
          </p:nvSpPr>
          <p:spPr>
            <a:xfrm>
              <a:off x="1499362" y="3352086"/>
              <a:ext cx="48742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交易商户数</a:t>
              </a:r>
            </a:p>
          </p:txBody>
        </p:sp>
        <p:sp>
          <p:nvSpPr>
            <p:cNvPr id="74" name="Rectangle 74"/>
            <p:cNvSpPr/>
            <p:nvPr/>
          </p:nvSpPr>
          <p:spPr>
            <a:xfrm>
              <a:off x="2286000" y="3276600"/>
              <a:ext cx="933450" cy="228600"/>
            </a:xfrm>
            <a:prstGeom prst="roundRect">
              <a:avLst>
                <a:gd name="adj" fmla="val 16667"/>
              </a:avLst>
            </a:prstGeom>
            <a:solidFill>
              <a:srgbClr val="EEF3FB"/>
            </a:solidFill>
            <a:ln>
              <a:noFill/>
            </a:ln>
          </p:spPr>
        </p:sp>
        <p:sp>
          <p:nvSpPr>
            <p:cNvPr id="75" name="TextBox 75"/>
            <p:cNvSpPr txBox="1"/>
            <p:nvPr/>
          </p:nvSpPr>
          <p:spPr>
            <a:xfrm>
              <a:off x="2556802" y="33520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消费品类</a:t>
              </a:r>
            </a:p>
          </p:txBody>
        </p:sp>
        <p:sp>
          <p:nvSpPr>
            <p:cNvPr id="76" name="Rectangle 76"/>
            <p:cNvSpPr/>
            <p:nvPr/>
          </p:nvSpPr>
          <p:spPr>
            <a:xfrm>
              <a:off x="3295650" y="3276600"/>
              <a:ext cx="933450" cy="228600"/>
            </a:xfrm>
            <a:prstGeom prst="roundRect">
              <a:avLst>
                <a:gd name="adj" fmla="val 16667"/>
              </a:avLst>
            </a:prstGeom>
            <a:solidFill>
              <a:srgbClr val="EEF3FB"/>
            </a:solidFill>
            <a:ln>
              <a:noFill/>
            </a:ln>
          </p:spPr>
        </p:sp>
        <p:sp>
          <p:nvSpPr>
            <p:cNvPr id="77" name="TextBox 77"/>
            <p:cNvSpPr txBox="1"/>
            <p:nvPr/>
          </p:nvSpPr>
          <p:spPr>
            <a:xfrm>
              <a:off x="3470872" y="3352086"/>
              <a:ext cx="58300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线上线下占比</a:t>
              </a:r>
            </a:p>
          </p:txBody>
        </p:sp>
        <p:sp>
          <p:nvSpPr>
            <p:cNvPr id="78" name="Rectangle 78"/>
            <p:cNvSpPr/>
            <p:nvPr/>
          </p:nvSpPr>
          <p:spPr>
            <a:xfrm>
              <a:off x="1276350" y="3581400"/>
              <a:ext cx="933450" cy="228600"/>
            </a:xfrm>
            <a:prstGeom prst="roundRect">
              <a:avLst>
                <a:gd name="adj" fmla="val 16667"/>
              </a:avLst>
            </a:prstGeom>
            <a:solidFill>
              <a:srgbClr val="FDE8E8"/>
            </a:solidFill>
            <a:ln w="9525">
              <a:solidFill>
                <a:srgbClr val="C02C0A"/>
              </a:solidFill>
            </a:ln>
          </p:spPr>
        </p:sp>
        <p:sp>
          <p:nvSpPr>
            <p:cNvPr id="79" name="TextBox 79"/>
            <p:cNvSpPr txBox="1"/>
            <p:nvPr/>
          </p:nvSpPr>
          <p:spPr>
            <a:xfrm>
              <a:off x="1368776" y="3656886"/>
              <a:ext cx="748599" cy="140494"/>
            </a:xfrm>
            <a:prstGeom prst="rect">
              <a:avLst/>
            </a:prstGeom>
            <a:noFill/>
            <a:ln>
              <a:noFill/>
            </a:ln>
          </p:spPr>
          <p:txBody>
            <a:bodyPr wrap="none" lIns="0" tIns="0" rIns="0" bIns="0" anchor="t" anchorCtr="0">
              <a:spAutoFit/>
            </a:bodyPr>
            <a:lstStyle/>
            <a:p>
              <a:pPr algn="ctr"/>
              <a:r>
                <a:rPr lang="zh-CN" sz="710" b="1" dirty="0">
                  <a:solidFill>
                    <a:srgbClr val="C02C0A"/>
                  </a:solidFill>
                  <a:latin typeface="+mn-lt"/>
                  <a:ea typeface="+mn-ea"/>
                  <a:cs typeface="+mn-cs"/>
                </a:rPr>
                <a:t>近30日消费次数​</a:t>
              </a:r>
            </a:p>
          </p:txBody>
        </p:sp>
        <p:sp>
          <p:nvSpPr>
            <p:cNvPr id="80" name="Rectangle 80"/>
            <p:cNvSpPr/>
            <p:nvPr/>
          </p:nvSpPr>
          <p:spPr>
            <a:xfrm>
              <a:off x="2286000" y="3581400"/>
              <a:ext cx="933450" cy="228600"/>
            </a:xfrm>
            <a:prstGeom prst="roundRect">
              <a:avLst>
                <a:gd name="adj" fmla="val 16667"/>
              </a:avLst>
            </a:prstGeom>
            <a:solidFill>
              <a:srgbClr val="EEF3FB"/>
            </a:solidFill>
            <a:ln>
              <a:noFill/>
            </a:ln>
          </p:spPr>
        </p:sp>
        <p:sp>
          <p:nvSpPr>
            <p:cNvPr id="81" name="TextBox 81"/>
            <p:cNvSpPr txBox="1"/>
            <p:nvPr/>
          </p:nvSpPr>
          <p:spPr>
            <a:xfrm>
              <a:off x="2509012" y="3656886"/>
              <a:ext cx="48742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商户集中度</a:t>
              </a:r>
            </a:p>
          </p:txBody>
        </p:sp>
        <p:sp>
          <p:nvSpPr>
            <p:cNvPr id="82" name="Rectangle 82"/>
            <p:cNvSpPr/>
            <p:nvPr/>
          </p:nvSpPr>
          <p:spPr>
            <a:xfrm>
              <a:off x="3295650" y="3581400"/>
              <a:ext cx="933450" cy="228600"/>
            </a:xfrm>
            <a:prstGeom prst="roundRect">
              <a:avLst>
                <a:gd name="adj" fmla="val 16667"/>
              </a:avLst>
            </a:prstGeom>
            <a:solidFill>
              <a:srgbClr val="EEF3FB"/>
            </a:solidFill>
            <a:ln>
              <a:noFill/>
            </a:ln>
          </p:spPr>
        </p:sp>
        <p:sp>
          <p:nvSpPr>
            <p:cNvPr id="83" name="TextBox 83"/>
            <p:cNvSpPr txBox="1"/>
            <p:nvPr/>
          </p:nvSpPr>
          <p:spPr>
            <a:xfrm>
              <a:off x="3731328" y="3656886"/>
              <a:ext cx="62094"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a:t>
              </a:r>
            </a:p>
          </p:txBody>
        </p:sp>
      </p:grpSp>
      <p:grpSp>
        <p:nvGrpSpPr>
          <p:cNvPr id="96" name="customer-360"/>
          <p:cNvGrpSpPr/>
          <p:nvPr/>
        </p:nvGrpSpPr>
        <p:grpSpPr>
          <a:xfrm>
            <a:off x="4343400" y="1257300"/>
            <a:ext cx="3505200" cy="2133600"/>
            <a:chOff x="4343400" y="1257300"/>
            <a:chExt cx="3505200" cy="2133600"/>
          </a:xfrm>
        </p:grpSpPr>
        <p:sp>
          <p:nvSpPr>
            <p:cNvPr id="85" name="Line 85"/>
            <p:cNvSpPr/>
            <p:nvPr/>
          </p:nvSpPr>
          <p:spPr>
            <a:xfrm>
              <a:off x="4343400" y="1257300"/>
              <a:ext cx="952500" cy="762000"/>
            </a:xfrm>
            <a:custGeom>
              <a:avLst/>
              <a:gdLst/>
              <a:ahLst/>
              <a:cxnLst/>
              <a:rect l="l" t="t" r="r" b="b"/>
              <a:pathLst>
                <a:path w="952500" h="762000">
                  <a:moveTo>
                    <a:pt x="952500" y="762000"/>
                  </a:moveTo>
                  <a:lnTo>
                    <a:pt x="0" y="0"/>
                  </a:lnTo>
                </a:path>
              </a:pathLst>
            </a:custGeom>
            <a:noFill/>
            <a:ln w="14288">
              <a:solidFill>
                <a:srgbClr val="E84E2F"/>
              </a:solidFill>
              <a:custDash>
                <a:ds d="266667" sp="200000"/>
              </a:custDash>
            </a:ln>
          </p:spPr>
        </p:sp>
        <p:sp>
          <p:nvSpPr>
            <p:cNvPr id="86" name="Line 86"/>
            <p:cNvSpPr/>
            <p:nvPr/>
          </p:nvSpPr>
          <p:spPr>
            <a:xfrm>
              <a:off x="4343400" y="2286000"/>
              <a:ext cx="857250" cy="38100"/>
            </a:xfrm>
            <a:custGeom>
              <a:avLst/>
              <a:gdLst/>
              <a:ahLst/>
              <a:cxnLst/>
              <a:rect l="l" t="t" r="r" b="b"/>
              <a:pathLst>
                <a:path w="857250" h="38100">
                  <a:moveTo>
                    <a:pt x="857250" y="0"/>
                  </a:moveTo>
                  <a:lnTo>
                    <a:pt x="0" y="38100"/>
                  </a:lnTo>
                </a:path>
              </a:pathLst>
            </a:custGeom>
            <a:noFill/>
            <a:ln w="14288">
              <a:solidFill>
                <a:srgbClr val="E84E2F"/>
              </a:solidFill>
              <a:custDash>
                <a:ds d="266667" sp="200000"/>
              </a:custDash>
            </a:ln>
          </p:spPr>
        </p:sp>
        <p:sp>
          <p:nvSpPr>
            <p:cNvPr id="87" name="Line 87"/>
            <p:cNvSpPr/>
            <p:nvPr/>
          </p:nvSpPr>
          <p:spPr>
            <a:xfrm>
              <a:off x="4343400" y="2552700"/>
              <a:ext cx="952500" cy="838200"/>
            </a:xfrm>
            <a:custGeom>
              <a:avLst/>
              <a:gdLst/>
              <a:ahLst/>
              <a:cxnLst/>
              <a:rect l="l" t="t" r="r" b="b"/>
              <a:pathLst>
                <a:path w="952500" h="838200">
                  <a:moveTo>
                    <a:pt x="952500" y="0"/>
                  </a:moveTo>
                  <a:lnTo>
                    <a:pt x="0" y="838200"/>
                  </a:lnTo>
                </a:path>
              </a:pathLst>
            </a:custGeom>
            <a:noFill/>
            <a:ln w="14288">
              <a:solidFill>
                <a:srgbClr val="E84E2F"/>
              </a:solidFill>
              <a:custDash>
                <a:ds d="266667" sp="200000"/>
              </a:custDash>
            </a:ln>
          </p:spPr>
        </p:sp>
        <p:sp>
          <p:nvSpPr>
            <p:cNvPr id="88" name="Line 88"/>
            <p:cNvSpPr/>
            <p:nvPr/>
          </p:nvSpPr>
          <p:spPr>
            <a:xfrm>
              <a:off x="6896100" y="1257300"/>
              <a:ext cx="952500" cy="762000"/>
            </a:xfrm>
            <a:custGeom>
              <a:avLst/>
              <a:gdLst/>
              <a:ahLst/>
              <a:cxnLst/>
              <a:rect l="l" t="t" r="r" b="b"/>
              <a:pathLst>
                <a:path w="952500" h="762000">
                  <a:moveTo>
                    <a:pt x="0" y="762000"/>
                  </a:moveTo>
                  <a:lnTo>
                    <a:pt x="952500" y="0"/>
                  </a:lnTo>
                </a:path>
              </a:pathLst>
            </a:custGeom>
            <a:noFill/>
            <a:ln w="14288">
              <a:solidFill>
                <a:srgbClr val="E84E2F"/>
              </a:solidFill>
              <a:custDash>
                <a:ds d="266667" sp="200000"/>
              </a:custDash>
            </a:ln>
          </p:spPr>
        </p:sp>
        <p:sp>
          <p:nvSpPr>
            <p:cNvPr id="89" name="Line 89"/>
            <p:cNvSpPr/>
            <p:nvPr/>
          </p:nvSpPr>
          <p:spPr>
            <a:xfrm>
              <a:off x="6991350" y="2286000"/>
              <a:ext cx="857250" cy="38100"/>
            </a:xfrm>
            <a:custGeom>
              <a:avLst/>
              <a:gdLst/>
              <a:ahLst/>
              <a:cxnLst/>
              <a:rect l="l" t="t" r="r" b="b"/>
              <a:pathLst>
                <a:path w="857250" h="38100">
                  <a:moveTo>
                    <a:pt x="0" y="0"/>
                  </a:moveTo>
                  <a:lnTo>
                    <a:pt x="857250" y="38100"/>
                  </a:lnTo>
                </a:path>
              </a:pathLst>
            </a:custGeom>
            <a:noFill/>
            <a:ln w="14288">
              <a:solidFill>
                <a:srgbClr val="E84E2F"/>
              </a:solidFill>
              <a:custDash>
                <a:ds d="266667" sp="200000"/>
              </a:custDash>
            </a:ln>
          </p:spPr>
        </p:sp>
        <p:sp>
          <p:nvSpPr>
            <p:cNvPr id="90" name="Line 90"/>
            <p:cNvSpPr/>
            <p:nvPr/>
          </p:nvSpPr>
          <p:spPr>
            <a:xfrm>
              <a:off x="6896100" y="2552700"/>
              <a:ext cx="952500" cy="838200"/>
            </a:xfrm>
            <a:custGeom>
              <a:avLst/>
              <a:gdLst/>
              <a:ahLst/>
              <a:cxnLst/>
              <a:rect l="l" t="t" r="r" b="b"/>
              <a:pathLst>
                <a:path w="952500" h="838200">
                  <a:moveTo>
                    <a:pt x="0" y="0"/>
                  </a:moveTo>
                  <a:lnTo>
                    <a:pt x="952500" y="838200"/>
                  </a:lnTo>
                </a:path>
              </a:pathLst>
            </a:custGeom>
            <a:noFill/>
            <a:ln w="14288">
              <a:solidFill>
                <a:srgbClr val="E84E2F"/>
              </a:solidFill>
              <a:custDash>
                <a:ds d="266667" sp="200000"/>
              </a:custDash>
            </a:ln>
          </p:spPr>
        </p:sp>
        <p:sp>
          <p:nvSpPr>
            <p:cNvPr id="91" name="Ellipse 91"/>
            <p:cNvSpPr/>
            <p:nvPr/>
          </p:nvSpPr>
          <p:spPr>
            <a:xfrm>
              <a:off x="5105400" y="1295400"/>
              <a:ext cx="1981200" cy="1981200"/>
            </a:xfrm>
            <a:prstGeom prst="ellipse">
              <a:avLst/>
            </a:prstGeom>
            <a:solidFill>
              <a:srgbClr val="EEF3FB"/>
            </a:solidFill>
            <a:ln>
              <a:noFill/>
            </a:ln>
          </p:spPr>
        </p:sp>
        <p:sp>
          <p:nvSpPr>
            <p:cNvPr id="92" name="Ellipse 92"/>
            <p:cNvSpPr/>
            <p:nvPr/>
          </p:nvSpPr>
          <p:spPr>
            <a:xfrm>
              <a:off x="5181600" y="1371600"/>
              <a:ext cx="1828800" cy="1828800"/>
            </a:xfrm>
            <a:prstGeom prst="ellipse">
              <a:avLst/>
            </a:prstGeom>
            <a:noFill/>
            <a:ln w="23812">
              <a:solidFill>
                <a:srgbClr val="E84E2F"/>
              </a:solidFill>
            </a:ln>
          </p:spPr>
        </p:sp>
        <p:pic>
          <p:nvPicPr>
            <p:cNvPr id="93" name="Image 93"/>
            <p:cNvPicPr>
              <a:picLocks noChangeAspect="1"/>
            </p:cNvPicPr>
            <p:nvPr/>
          </p:nvPicPr>
          <p:blipFill>
            <a:blip r:embed="rId2"/>
            <a:stretch>
              <a:fillRect/>
            </a:stretch>
          </p:blipFill>
          <p:spPr>
            <a:xfrm>
              <a:off x="5257800" y="1447800"/>
              <a:ext cx="1676400" cy="1676400"/>
            </a:xfrm>
            <a:prstGeom prst="ellipse">
              <a:avLst/>
            </a:prstGeom>
          </p:spPr>
        </p:pic>
        <p:sp>
          <p:nvSpPr>
            <p:cNvPr id="94" name="Rectangle 94"/>
            <p:cNvSpPr/>
            <p:nvPr/>
          </p:nvSpPr>
          <p:spPr>
            <a:xfrm>
              <a:off x="5448300" y="2838450"/>
              <a:ext cx="1295400" cy="323850"/>
            </a:xfrm>
            <a:prstGeom prst="roundRect">
              <a:avLst>
                <a:gd name="adj" fmla="val 17647"/>
              </a:avLst>
            </a:prstGeom>
            <a:solidFill>
              <a:srgbClr val="520E00"/>
            </a:solidFill>
            <a:ln>
              <a:noFill/>
            </a:ln>
          </p:spPr>
        </p:sp>
        <p:sp>
          <p:nvSpPr>
            <p:cNvPr id="95" name="TextBox 95"/>
            <p:cNvSpPr txBox="1"/>
            <p:nvPr/>
          </p:nvSpPr>
          <p:spPr>
            <a:xfrm>
              <a:off x="5741777" y="2927985"/>
              <a:ext cx="70844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客户360​</a:t>
              </a:r>
            </a:p>
          </p:txBody>
        </p:sp>
      </p:grpSp>
      <p:grpSp>
        <p:nvGrpSpPr>
          <p:cNvPr id="121" name="tag-channel"/>
          <p:cNvGrpSpPr/>
          <p:nvPr/>
        </p:nvGrpSpPr>
        <p:grpSpPr>
          <a:xfrm>
            <a:off x="7962900" y="762000"/>
            <a:ext cx="4000500" cy="990600"/>
            <a:chOff x="7962900" y="762000"/>
            <a:chExt cx="4000500" cy="990600"/>
          </a:xfrm>
        </p:grpSpPr>
        <p:sp>
          <p:nvSpPr>
            <p:cNvPr id="97" name="Rectangle 97"/>
            <p:cNvSpPr/>
            <p:nvPr/>
          </p:nvSpPr>
          <p:spPr>
            <a:xfrm>
              <a:off x="11010900" y="762000"/>
              <a:ext cx="952500" cy="990600"/>
            </a:xfrm>
            <a:prstGeom prst="roundRect">
              <a:avLst>
                <a:gd name="adj" fmla="val 6000"/>
              </a:avLst>
            </a:prstGeom>
            <a:solidFill>
              <a:srgbClr val="520E00"/>
            </a:solidFill>
            <a:ln>
              <a:noFill/>
            </a:ln>
          </p:spPr>
        </p:sp>
        <p:grpSp>
          <p:nvGrpSpPr>
            <p:cNvPr id="101" name="Group 101"/>
            <p:cNvGrpSpPr/>
            <p:nvPr/>
          </p:nvGrpSpPr>
          <p:grpSpPr>
            <a:xfrm>
              <a:off x="11410950" y="971550"/>
              <a:ext cx="152400" cy="228599"/>
              <a:chOff x="11410950" y="971550"/>
              <a:chExt cx="152400" cy="228599"/>
            </a:xfrm>
          </p:grpSpPr>
          <p:sp>
            <p:nvSpPr>
              <p:cNvPr id="98" name="Freeform 98"/>
              <p:cNvSpPr/>
              <p:nvPr/>
            </p:nvSpPr>
            <p:spPr>
              <a:xfrm>
                <a:off x="11410950" y="971550"/>
                <a:ext cx="152400" cy="228599"/>
              </a:xfrm>
              <a:custGeom>
                <a:avLst/>
                <a:gdLst/>
                <a:ahLst/>
                <a:cxnLst/>
                <a:rect l="l" t="t" r="r" b="b"/>
                <a:pathLst>
                  <a:path w="152400" h="228599">
                    <a:moveTo>
                      <a:pt x="0" y="25400"/>
                    </a:moveTo>
                    <a:cubicBezTo>
                      <a:pt x="0" y="11372"/>
                      <a:pt x="11372" y="0"/>
                      <a:pt x="25400" y="0"/>
                    </a:cubicBezTo>
                    <a:lnTo>
                      <a:pt x="127000" y="0"/>
                    </a:lnTo>
                    <a:cubicBezTo>
                      <a:pt x="141028" y="0"/>
                      <a:pt x="152400" y="11372"/>
                      <a:pt x="152400" y="25400"/>
                    </a:cubicBezTo>
                    <a:lnTo>
                      <a:pt x="152400" y="203199"/>
                    </a:lnTo>
                    <a:cubicBezTo>
                      <a:pt x="152400" y="217227"/>
                      <a:pt x="141028" y="228599"/>
                      <a:pt x="127000" y="228599"/>
                    </a:cubicBezTo>
                    <a:lnTo>
                      <a:pt x="25400" y="228599"/>
                    </a:lnTo>
                    <a:cubicBezTo>
                      <a:pt x="11372" y="228599"/>
                      <a:pt x="0" y="217227"/>
                      <a:pt x="0" y="203199"/>
                    </a:cubicBezTo>
                    <a:lnTo>
                      <a:pt x="0" y="25400"/>
                    </a:lnTo>
                  </a:path>
                </a:pathLst>
              </a:custGeom>
              <a:noFill/>
              <a:ln w="19050">
                <a:solidFill>
                  <a:srgbClr val="FFFFFF"/>
                </a:solidFill>
              </a:ln>
            </p:spPr>
          </p:sp>
          <p:sp>
            <p:nvSpPr>
              <p:cNvPr id="99" name="Freeform 99"/>
              <p:cNvSpPr/>
              <p:nvPr/>
            </p:nvSpPr>
            <p:spPr>
              <a:xfrm>
                <a:off x="11474450" y="984250"/>
                <a:ext cx="25400" cy="9525"/>
              </a:xfrm>
              <a:custGeom>
                <a:avLst/>
                <a:gdLst/>
                <a:ahLst/>
                <a:cxnLst/>
                <a:rect l="l" t="t" r="r" b="b"/>
                <a:pathLst>
                  <a:path w="25400" h="9525">
                    <a:moveTo>
                      <a:pt x="0" y="0"/>
                    </a:moveTo>
                    <a:lnTo>
                      <a:pt x="25400" y="0"/>
                    </a:lnTo>
                  </a:path>
                </a:pathLst>
              </a:custGeom>
              <a:noFill/>
              <a:ln w="19050">
                <a:solidFill>
                  <a:srgbClr val="FFFFFF"/>
                </a:solidFill>
              </a:ln>
            </p:spPr>
          </p:sp>
          <p:sp>
            <p:nvSpPr>
              <p:cNvPr id="100" name="Freeform 100"/>
              <p:cNvSpPr/>
              <p:nvPr/>
            </p:nvSpPr>
            <p:spPr>
              <a:xfrm>
                <a:off x="11487150" y="1149349"/>
                <a:ext cx="9525" cy="9525"/>
              </a:xfrm>
              <a:custGeom>
                <a:avLst/>
                <a:gdLst/>
                <a:ahLst/>
                <a:cxnLst/>
                <a:rect l="l" t="t" r="r" b="b"/>
                <a:pathLst>
                  <a:path w="9525" h="9525">
                    <a:moveTo>
                      <a:pt x="0" y="0"/>
                    </a:moveTo>
                    <a:lnTo>
                      <a:pt x="0" y="127"/>
                    </a:lnTo>
                  </a:path>
                </a:pathLst>
              </a:custGeom>
              <a:noFill/>
              <a:ln w="19050">
                <a:solidFill>
                  <a:srgbClr val="FFFFFF"/>
                </a:solidFill>
              </a:ln>
            </p:spPr>
          </p:sp>
        </p:grpSp>
        <p:sp>
          <p:nvSpPr>
            <p:cNvPr id="102" name="TextBox 102"/>
            <p:cNvSpPr txBox="1"/>
            <p:nvPr/>
          </p:nvSpPr>
          <p:spPr>
            <a:xfrm>
              <a:off x="11218342" y="14187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渠道行为</a:t>
              </a:r>
            </a:p>
          </p:txBody>
        </p:sp>
        <p:sp>
          <p:nvSpPr>
            <p:cNvPr id="103" name="Rectangle 103"/>
            <p:cNvSpPr/>
            <p:nvPr/>
          </p:nvSpPr>
          <p:spPr>
            <a:xfrm>
              <a:off x="7962900" y="838200"/>
              <a:ext cx="933450" cy="228600"/>
            </a:xfrm>
            <a:prstGeom prst="roundRect">
              <a:avLst>
                <a:gd name="adj" fmla="val 16667"/>
              </a:avLst>
            </a:prstGeom>
            <a:solidFill>
              <a:srgbClr val="EEF3FB"/>
            </a:solidFill>
            <a:ln>
              <a:noFill/>
            </a:ln>
          </p:spPr>
        </p:sp>
        <p:sp>
          <p:nvSpPr>
            <p:cNvPr id="104" name="TextBox 104"/>
            <p:cNvSpPr txBox="1"/>
            <p:nvPr/>
          </p:nvSpPr>
          <p:spPr>
            <a:xfrm>
              <a:off x="8124100" y="913686"/>
              <a:ext cx="611049"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APP登录频次​</a:t>
              </a:r>
            </a:p>
          </p:txBody>
        </p:sp>
        <p:sp>
          <p:nvSpPr>
            <p:cNvPr id="105" name="Rectangle 105"/>
            <p:cNvSpPr/>
            <p:nvPr/>
          </p:nvSpPr>
          <p:spPr>
            <a:xfrm>
              <a:off x="8972550" y="838200"/>
              <a:ext cx="933450" cy="228600"/>
            </a:xfrm>
            <a:prstGeom prst="roundRect">
              <a:avLst>
                <a:gd name="adj" fmla="val 16667"/>
              </a:avLst>
            </a:prstGeom>
            <a:solidFill>
              <a:srgbClr val="EEF3FB"/>
            </a:solidFill>
            <a:ln>
              <a:noFill/>
            </a:ln>
          </p:spPr>
        </p:sp>
        <p:sp>
          <p:nvSpPr>
            <p:cNvPr id="106" name="TextBox 106"/>
            <p:cNvSpPr txBox="1"/>
            <p:nvPr/>
          </p:nvSpPr>
          <p:spPr>
            <a:xfrm>
              <a:off x="9181541" y="913686"/>
              <a:ext cx="515469"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APP活跃度​</a:t>
              </a:r>
            </a:p>
          </p:txBody>
        </p:sp>
        <p:sp>
          <p:nvSpPr>
            <p:cNvPr id="107" name="Rectangle 107"/>
            <p:cNvSpPr/>
            <p:nvPr/>
          </p:nvSpPr>
          <p:spPr>
            <a:xfrm>
              <a:off x="9982200" y="838200"/>
              <a:ext cx="933450" cy="228600"/>
            </a:xfrm>
            <a:prstGeom prst="roundRect">
              <a:avLst>
                <a:gd name="adj" fmla="val 16667"/>
              </a:avLst>
            </a:prstGeom>
            <a:solidFill>
              <a:srgbClr val="EEF3FB"/>
            </a:solidFill>
            <a:ln>
              <a:noFill/>
            </a:ln>
          </p:spPr>
        </p:sp>
        <p:sp>
          <p:nvSpPr>
            <p:cNvPr id="108" name="TextBox 108"/>
            <p:cNvSpPr txBox="1"/>
            <p:nvPr/>
          </p:nvSpPr>
          <p:spPr>
            <a:xfrm>
              <a:off x="10253002" y="9136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使用功能</a:t>
              </a:r>
            </a:p>
          </p:txBody>
        </p:sp>
        <p:sp>
          <p:nvSpPr>
            <p:cNvPr id="109" name="Rectangle 109"/>
            <p:cNvSpPr/>
            <p:nvPr/>
          </p:nvSpPr>
          <p:spPr>
            <a:xfrm>
              <a:off x="7962900" y="1143000"/>
              <a:ext cx="933450" cy="228600"/>
            </a:xfrm>
            <a:prstGeom prst="roundRect">
              <a:avLst>
                <a:gd name="adj" fmla="val 16667"/>
              </a:avLst>
            </a:prstGeom>
            <a:solidFill>
              <a:srgbClr val="EEF3FB"/>
            </a:solidFill>
            <a:ln>
              <a:noFill/>
            </a:ln>
          </p:spPr>
        </p:sp>
        <p:sp>
          <p:nvSpPr>
            <p:cNvPr id="110" name="TextBox 110"/>
            <p:cNvSpPr txBox="1"/>
            <p:nvPr/>
          </p:nvSpPr>
          <p:spPr>
            <a:xfrm>
              <a:off x="8138122" y="1218486"/>
              <a:ext cx="58300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网银登录频次</a:t>
              </a:r>
            </a:p>
          </p:txBody>
        </p:sp>
        <p:sp>
          <p:nvSpPr>
            <p:cNvPr id="111" name="Rectangle 111"/>
            <p:cNvSpPr/>
            <p:nvPr/>
          </p:nvSpPr>
          <p:spPr>
            <a:xfrm>
              <a:off x="8972550" y="1143000"/>
              <a:ext cx="933450" cy="228600"/>
            </a:xfrm>
            <a:prstGeom prst="roundRect">
              <a:avLst>
                <a:gd name="adj" fmla="val 16667"/>
              </a:avLst>
            </a:prstGeom>
            <a:solidFill>
              <a:srgbClr val="EEF3FB"/>
            </a:solidFill>
            <a:ln>
              <a:noFill/>
            </a:ln>
          </p:spPr>
        </p:sp>
        <p:sp>
          <p:nvSpPr>
            <p:cNvPr id="112" name="TextBox 112"/>
            <p:cNvSpPr txBox="1"/>
            <p:nvPr/>
          </p:nvSpPr>
          <p:spPr>
            <a:xfrm>
              <a:off x="9147772" y="1218486"/>
              <a:ext cx="58300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自助设备使用</a:t>
              </a:r>
            </a:p>
          </p:txBody>
        </p:sp>
        <p:sp>
          <p:nvSpPr>
            <p:cNvPr id="113" name="Rectangle 113"/>
            <p:cNvSpPr/>
            <p:nvPr/>
          </p:nvSpPr>
          <p:spPr>
            <a:xfrm>
              <a:off x="9982200" y="1143000"/>
              <a:ext cx="933450" cy="228600"/>
            </a:xfrm>
            <a:prstGeom prst="roundRect">
              <a:avLst>
                <a:gd name="adj" fmla="val 16667"/>
              </a:avLst>
            </a:prstGeom>
            <a:solidFill>
              <a:srgbClr val="EEF3FB"/>
            </a:solidFill>
            <a:ln>
              <a:noFill/>
            </a:ln>
          </p:spPr>
        </p:sp>
        <p:sp>
          <p:nvSpPr>
            <p:cNvPr id="114" name="TextBox 114"/>
            <p:cNvSpPr txBox="1"/>
            <p:nvPr/>
          </p:nvSpPr>
          <p:spPr>
            <a:xfrm>
              <a:off x="10205212" y="1218486"/>
              <a:ext cx="48742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消息触达率</a:t>
              </a:r>
            </a:p>
          </p:txBody>
        </p:sp>
        <p:sp>
          <p:nvSpPr>
            <p:cNvPr id="115" name="Rectangle 115"/>
            <p:cNvSpPr/>
            <p:nvPr/>
          </p:nvSpPr>
          <p:spPr>
            <a:xfrm>
              <a:off x="7962900" y="1447800"/>
              <a:ext cx="933450" cy="228600"/>
            </a:xfrm>
            <a:prstGeom prst="roundRect">
              <a:avLst>
                <a:gd name="adj" fmla="val 16667"/>
              </a:avLst>
            </a:prstGeom>
            <a:solidFill>
              <a:srgbClr val="EEF3FB"/>
            </a:solidFill>
            <a:ln>
              <a:noFill/>
            </a:ln>
          </p:spPr>
        </p:sp>
        <p:sp>
          <p:nvSpPr>
            <p:cNvPr id="116" name="TextBox 116"/>
            <p:cNvSpPr txBox="1"/>
            <p:nvPr/>
          </p:nvSpPr>
          <p:spPr>
            <a:xfrm>
              <a:off x="8233702" y="1523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渠道偏好</a:t>
              </a:r>
            </a:p>
          </p:txBody>
        </p:sp>
        <p:sp>
          <p:nvSpPr>
            <p:cNvPr id="117" name="Rectangle 117"/>
            <p:cNvSpPr/>
            <p:nvPr/>
          </p:nvSpPr>
          <p:spPr>
            <a:xfrm>
              <a:off x="8972550" y="1447800"/>
              <a:ext cx="933450" cy="228600"/>
            </a:xfrm>
            <a:prstGeom prst="roundRect">
              <a:avLst>
                <a:gd name="adj" fmla="val 16667"/>
              </a:avLst>
            </a:prstGeom>
            <a:solidFill>
              <a:srgbClr val="EEF3FB"/>
            </a:solidFill>
            <a:ln>
              <a:noFill/>
            </a:ln>
          </p:spPr>
        </p:sp>
        <p:sp>
          <p:nvSpPr>
            <p:cNvPr id="118" name="TextBox 118"/>
            <p:cNvSpPr txBox="1"/>
            <p:nvPr/>
          </p:nvSpPr>
          <p:spPr>
            <a:xfrm>
              <a:off x="9243352" y="1523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响应时效</a:t>
              </a:r>
            </a:p>
          </p:txBody>
        </p:sp>
        <p:sp>
          <p:nvSpPr>
            <p:cNvPr id="119" name="Rectangle 119"/>
            <p:cNvSpPr/>
            <p:nvPr/>
          </p:nvSpPr>
          <p:spPr>
            <a:xfrm>
              <a:off x="9982200" y="1447800"/>
              <a:ext cx="933450" cy="228600"/>
            </a:xfrm>
            <a:prstGeom prst="roundRect">
              <a:avLst>
                <a:gd name="adj" fmla="val 16667"/>
              </a:avLst>
            </a:prstGeom>
            <a:solidFill>
              <a:srgbClr val="EEF3FB"/>
            </a:solidFill>
            <a:ln>
              <a:noFill/>
            </a:ln>
          </p:spPr>
        </p:sp>
        <p:sp>
          <p:nvSpPr>
            <p:cNvPr id="120" name="TextBox 120"/>
            <p:cNvSpPr txBox="1"/>
            <p:nvPr/>
          </p:nvSpPr>
          <p:spPr>
            <a:xfrm>
              <a:off x="10417878" y="1523286"/>
              <a:ext cx="62094"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a:t>
              </a:r>
            </a:p>
          </p:txBody>
        </p:sp>
      </p:grpSp>
      <p:grpSp>
        <p:nvGrpSpPr>
          <p:cNvPr id="147" name="tag-benefit"/>
          <p:cNvGrpSpPr/>
          <p:nvPr/>
        </p:nvGrpSpPr>
        <p:grpSpPr>
          <a:xfrm>
            <a:off x="7962900" y="1828800"/>
            <a:ext cx="4000500" cy="990600"/>
            <a:chOff x="7962900" y="1828800"/>
            <a:chExt cx="4000500" cy="990600"/>
          </a:xfrm>
        </p:grpSpPr>
        <p:sp>
          <p:nvSpPr>
            <p:cNvPr id="122" name="Rectangle 122"/>
            <p:cNvSpPr/>
            <p:nvPr/>
          </p:nvSpPr>
          <p:spPr>
            <a:xfrm>
              <a:off x="11010900" y="1828800"/>
              <a:ext cx="952500" cy="990600"/>
            </a:xfrm>
            <a:prstGeom prst="roundRect">
              <a:avLst>
                <a:gd name="adj" fmla="val 6000"/>
              </a:avLst>
            </a:prstGeom>
            <a:solidFill>
              <a:srgbClr val="520E00"/>
            </a:solidFill>
            <a:ln>
              <a:noFill/>
            </a:ln>
          </p:spPr>
        </p:sp>
        <p:grpSp>
          <p:nvGrpSpPr>
            <p:cNvPr id="127" name="Group 127"/>
            <p:cNvGrpSpPr/>
            <p:nvPr/>
          </p:nvGrpSpPr>
          <p:grpSpPr>
            <a:xfrm>
              <a:off x="11372850" y="2037913"/>
              <a:ext cx="228599" cy="229037"/>
              <a:chOff x="11372850" y="2037913"/>
              <a:chExt cx="228599" cy="229037"/>
            </a:xfrm>
          </p:grpSpPr>
          <p:sp>
            <p:nvSpPr>
              <p:cNvPr id="123" name="Freeform 123"/>
              <p:cNvSpPr/>
              <p:nvPr/>
            </p:nvSpPr>
            <p:spPr>
              <a:xfrm>
                <a:off x="11372850" y="2101850"/>
                <a:ext cx="228599" cy="50800"/>
              </a:xfrm>
              <a:custGeom>
                <a:avLst/>
                <a:gdLst/>
                <a:ahLst/>
                <a:cxnLst/>
                <a:rect l="l" t="t" r="r" b="b"/>
                <a:pathLst>
                  <a:path w="228599" h="50800">
                    <a:moveTo>
                      <a:pt x="0" y="12700"/>
                    </a:moveTo>
                    <a:cubicBezTo>
                      <a:pt x="0" y="5686"/>
                      <a:pt x="5686" y="0"/>
                      <a:pt x="12700" y="0"/>
                    </a:cubicBezTo>
                    <a:lnTo>
                      <a:pt x="215899" y="0"/>
                    </a:lnTo>
                    <a:cubicBezTo>
                      <a:pt x="222913" y="0"/>
                      <a:pt x="228599" y="5686"/>
                      <a:pt x="228599" y="12700"/>
                    </a:cubicBezTo>
                    <a:lnTo>
                      <a:pt x="228599" y="38100"/>
                    </a:lnTo>
                    <a:cubicBezTo>
                      <a:pt x="228599" y="45114"/>
                      <a:pt x="222913" y="50800"/>
                      <a:pt x="215899" y="50800"/>
                    </a:cubicBezTo>
                    <a:lnTo>
                      <a:pt x="12700" y="50800"/>
                    </a:lnTo>
                    <a:cubicBezTo>
                      <a:pt x="5686" y="50800"/>
                      <a:pt x="0" y="45114"/>
                      <a:pt x="0" y="38100"/>
                    </a:cubicBezTo>
                    <a:lnTo>
                      <a:pt x="0" y="12700"/>
                    </a:lnTo>
                  </a:path>
                </a:pathLst>
              </a:custGeom>
              <a:noFill/>
              <a:ln w="19050">
                <a:solidFill>
                  <a:srgbClr val="FFFFFF"/>
                </a:solidFill>
              </a:ln>
            </p:spPr>
          </p:sp>
          <p:sp>
            <p:nvSpPr>
              <p:cNvPr id="124" name="Freeform 124"/>
              <p:cNvSpPr/>
              <p:nvPr/>
            </p:nvSpPr>
            <p:spPr>
              <a:xfrm>
                <a:off x="11487150" y="2101850"/>
                <a:ext cx="9525" cy="165100"/>
              </a:xfrm>
              <a:custGeom>
                <a:avLst/>
                <a:gdLst/>
                <a:ahLst/>
                <a:cxnLst/>
                <a:rect l="l" t="t" r="r" b="b"/>
                <a:pathLst>
                  <a:path w="9525" h="165100">
                    <a:moveTo>
                      <a:pt x="0" y="0"/>
                    </a:moveTo>
                    <a:lnTo>
                      <a:pt x="0" y="165100"/>
                    </a:lnTo>
                  </a:path>
                </a:pathLst>
              </a:custGeom>
              <a:noFill/>
              <a:ln w="19050">
                <a:solidFill>
                  <a:srgbClr val="FFFFFF"/>
                </a:solidFill>
              </a:ln>
            </p:spPr>
          </p:sp>
          <p:sp>
            <p:nvSpPr>
              <p:cNvPr id="125" name="Freeform 125"/>
              <p:cNvSpPr/>
              <p:nvPr/>
            </p:nvSpPr>
            <p:spPr>
              <a:xfrm>
                <a:off x="11398250" y="2152650"/>
                <a:ext cx="177800" cy="114300"/>
              </a:xfrm>
              <a:custGeom>
                <a:avLst/>
                <a:gdLst/>
                <a:ahLst/>
                <a:cxnLst/>
                <a:rect l="l" t="t" r="r" b="b"/>
                <a:pathLst>
                  <a:path w="177800" h="114300">
                    <a:moveTo>
                      <a:pt x="177800" y="0"/>
                    </a:moveTo>
                    <a:lnTo>
                      <a:pt x="177800" y="88900"/>
                    </a:lnTo>
                    <a:cubicBezTo>
                      <a:pt x="177800" y="102928"/>
                      <a:pt x="166428" y="114300"/>
                      <a:pt x="152400" y="114300"/>
                    </a:cubicBezTo>
                    <a:lnTo>
                      <a:pt x="25400" y="114300"/>
                    </a:lnTo>
                    <a:cubicBezTo>
                      <a:pt x="11372" y="114300"/>
                      <a:pt x="0" y="102928"/>
                      <a:pt x="0" y="88900"/>
                    </a:cubicBezTo>
                    <a:lnTo>
                      <a:pt x="0" y="0"/>
                    </a:lnTo>
                  </a:path>
                </a:pathLst>
              </a:custGeom>
              <a:noFill/>
              <a:ln w="19050">
                <a:solidFill>
                  <a:srgbClr val="FFFFFF"/>
                </a:solidFill>
              </a:ln>
            </p:spPr>
          </p:sp>
          <p:sp>
            <p:nvSpPr>
              <p:cNvPr id="126" name="Freeform 126"/>
              <p:cNvSpPr/>
              <p:nvPr/>
            </p:nvSpPr>
            <p:spPr>
              <a:xfrm>
                <a:off x="11398250" y="2037913"/>
                <a:ext cx="177800" cy="63937"/>
              </a:xfrm>
              <a:custGeom>
                <a:avLst/>
                <a:gdLst/>
                <a:ahLst/>
                <a:cxnLst/>
                <a:rect l="l" t="t" r="r" b="b"/>
                <a:pathLst>
                  <a:path w="177800" h="63937">
                    <a:moveTo>
                      <a:pt x="31750" y="63937"/>
                    </a:moveTo>
                    <a:cubicBezTo>
                      <a:pt x="14215" y="63937"/>
                      <a:pt x="0" y="49722"/>
                      <a:pt x="0" y="32187"/>
                    </a:cubicBezTo>
                    <a:cubicBezTo>
                      <a:pt x="0" y="14652"/>
                      <a:pt x="14215" y="437"/>
                      <a:pt x="31750" y="437"/>
                    </a:cubicBezTo>
                    <a:cubicBezTo>
                      <a:pt x="56823" y="0"/>
                      <a:pt x="79498" y="25195"/>
                      <a:pt x="88900" y="63937"/>
                    </a:cubicBezTo>
                    <a:cubicBezTo>
                      <a:pt x="98301" y="25195"/>
                      <a:pt x="120977" y="0"/>
                      <a:pt x="146050" y="437"/>
                    </a:cubicBezTo>
                    <a:cubicBezTo>
                      <a:pt x="163585" y="437"/>
                      <a:pt x="177800" y="14652"/>
                      <a:pt x="177800" y="32187"/>
                    </a:cubicBezTo>
                    <a:cubicBezTo>
                      <a:pt x="177800" y="49722"/>
                      <a:pt x="163585" y="63937"/>
                      <a:pt x="146050" y="63937"/>
                    </a:cubicBezTo>
                  </a:path>
                </a:pathLst>
              </a:custGeom>
              <a:noFill/>
              <a:ln w="19050">
                <a:solidFill>
                  <a:srgbClr val="FFFFFF"/>
                </a:solidFill>
              </a:ln>
            </p:spPr>
          </p:sp>
        </p:grpSp>
        <p:sp>
          <p:nvSpPr>
            <p:cNvPr id="128" name="TextBox 128"/>
            <p:cNvSpPr txBox="1"/>
            <p:nvPr/>
          </p:nvSpPr>
          <p:spPr>
            <a:xfrm>
              <a:off x="11218342" y="24855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权益偏好</a:t>
              </a:r>
            </a:p>
          </p:txBody>
        </p:sp>
        <p:sp>
          <p:nvSpPr>
            <p:cNvPr id="129" name="Rectangle 129"/>
            <p:cNvSpPr/>
            <p:nvPr/>
          </p:nvSpPr>
          <p:spPr>
            <a:xfrm>
              <a:off x="7962900" y="1905000"/>
              <a:ext cx="933450" cy="228600"/>
            </a:xfrm>
            <a:prstGeom prst="roundRect">
              <a:avLst>
                <a:gd name="adj" fmla="val 16667"/>
              </a:avLst>
            </a:prstGeom>
            <a:solidFill>
              <a:srgbClr val="EEF3FB"/>
            </a:solidFill>
            <a:ln>
              <a:noFill/>
            </a:ln>
          </p:spPr>
        </p:sp>
        <p:sp>
          <p:nvSpPr>
            <p:cNvPr id="130" name="TextBox 130"/>
            <p:cNvSpPr txBox="1"/>
            <p:nvPr/>
          </p:nvSpPr>
          <p:spPr>
            <a:xfrm>
              <a:off x="8138122" y="1980486"/>
              <a:ext cx="58300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偏好权益类型</a:t>
              </a:r>
            </a:p>
          </p:txBody>
        </p:sp>
        <p:sp>
          <p:nvSpPr>
            <p:cNvPr id="131" name="Rectangle 131"/>
            <p:cNvSpPr/>
            <p:nvPr/>
          </p:nvSpPr>
          <p:spPr>
            <a:xfrm>
              <a:off x="8972550" y="1905000"/>
              <a:ext cx="933450" cy="228600"/>
            </a:xfrm>
            <a:prstGeom prst="roundRect">
              <a:avLst>
                <a:gd name="adj" fmla="val 16667"/>
              </a:avLst>
            </a:prstGeom>
            <a:solidFill>
              <a:srgbClr val="EEF3FB"/>
            </a:solidFill>
            <a:ln>
              <a:noFill/>
            </a:ln>
          </p:spPr>
        </p:sp>
        <p:sp>
          <p:nvSpPr>
            <p:cNvPr id="132" name="TextBox 132"/>
            <p:cNvSpPr txBox="1"/>
            <p:nvPr/>
          </p:nvSpPr>
          <p:spPr>
            <a:xfrm>
              <a:off x="9147772" y="1980486"/>
              <a:ext cx="58300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权益浏览次数</a:t>
              </a:r>
            </a:p>
          </p:txBody>
        </p:sp>
        <p:sp>
          <p:nvSpPr>
            <p:cNvPr id="133" name="Rectangle 133"/>
            <p:cNvSpPr/>
            <p:nvPr/>
          </p:nvSpPr>
          <p:spPr>
            <a:xfrm>
              <a:off x="9982200" y="1905000"/>
              <a:ext cx="933450" cy="228600"/>
            </a:xfrm>
            <a:prstGeom prst="roundRect">
              <a:avLst>
                <a:gd name="adj" fmla="val 16667"/>
              </a:avLst>
            </a:prstGeom>
            <a:solidFill>
              <a:srgbClr val="EEF3FB"/>
            </a:solidFill>
            <a:ln>
              <a:noFill/>
            </a:ln>
          </p:spPr>
        </p:sp>
        <p:sp>
          <p:nvSpPr>
            <p:cNvPr id="134" name="TextBox 134"/>
            <p:cNvSpPr txBox="1"/>
            <p:nvPr/>
          </p:nvSpPr>
          <p:spPr>
            <a:xfrm>
              <a:off x="10157422" y="1980486"/>
              <a:ext cx="58300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权益领取次数</a:t>
              </a:r>
            </a:p>
          </p:txBody>
        </p:sp>
        <p:sp>
          <p:nvSpPr>
            <p:cNvPr id="135" name="Rectangle 135"/>
            <p:cNvSpPr/>
            <p:nvPr/>
          </p:nvSpPr>
          <p:spPr>
            <a:xfrm>
              <a:off x="7962900" y="2209800"/>
              <a:ext cx="933450" cy="228600"/>
            </a:xfrm>
            <a:prstGeom prst="roundRect">
              <a:avLst>
                <a:gd name="adj" fmla="val 16667"/>
              </a:avLst>
            </a:prstGeom>
            <a:solidFill>
              <a:srgbClr val="EEF3FB"/>
            </a:solidFill>
            <a:ln>
              <a:noFill/>
            </a:ln>
          </p:spPr>
        </p:sp>
        <p:sp>
          <p:nvSpPr>
            <p:cNvPr id="136" name="TextBox 136"/>
            <p:cNvSpPr txBox="1"/>
            <p:nvPr/>
          </p:nvSpPr>
          <p:spPr>
            <a:xfrm>
              <a:off x="8185912" y="2285286"/>
              <a:ext cx="48742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权益使用率</a:t>
              </a:r>
            </a:p>
          </p:txBody>
        </p:sp>
        <p:sp>
          <p:nvSpPr>
            <p:cNvPr id="137" name="Rectangle 137"/>
            <p:cNvSpPr/>
            <p:nvPr/>
          </p:nvSpPr>
          <p:spPr>
            <a:xfrm>
              <a:off x="8972550" y="2209800"/>
              <a:ext cx="933450" cy="228600"/>
            </a:xfrm>
            <a:prstGeom prst="roundRect">
              <a:avLst>
                <a:gd name="adj" fmla="val 16667"/>
              </a:avLst>
            </a:prstGeom>
            <a:solidFill>
              <a:srgbClr val="FDE8E8"/>
            </a:solidFill>
            <a:ln w="9525">
              <a:solidFill>
                <a:srgbClr val="C02C0A"/>
              </a:solidFill>
            </a:ln>
          </p:spPr>
        </p:sp>
        <p:sp>
          <p:nvSpPr>
            <p:cNvPr id="138" name="TextBox 138"/>
            <p:cNvSpPr txBox="1"/>
            <p:nvPr/>
          </p:nvSpPr>
          <p:spPr>
            <a:xfrm>
              <a:off x="9195562" y="2285286"/>
              <a:ext cx="487426" cy="140494"/>
            </a:xfrm>
            <a:prstGeom prst="rect">
              <a:avLst/>
            </a:prstGeom>
            <a:noFill/>
            <a:ln>
              <a:noFill/>
            </a:ln>
          </p:spPr>
          <p:txBody>
            <a:bodyPr wrap="none" lIns="0" tIns="0" rIns="0" bIns="0" anchor="t" anchorCtr="0">
              <a:spAutoFit/>
            </a:bodyPr>
            <a:lstStyle/>
            <a:p>
              <a:pPr algn="ctr"/>
              <a:r>
                <a:rPr lang="zh-CN" sz="710" b="1" dirty="0">
                  <a:solidFill>
                    <a:srgbClr val="C02C0A"/>
                  </a:solidFill>
                  <a:latin typeface="+mn-lt"/>
                  <a:ea typeface="+mn-ea"/>
                  <a:cs typeface="+mn-cs"/>
                </a:rPr>
                <a:t>权益领取率</a:t>
              </a:r>
            </a:p>
          </p:txBody>
        </p:sp>
        <p:sp>
          <p:nvSpPr>
            <p:cNvPr id="139" name="Rectangle 139"/>
            <p:cNvSpPr/>
            <p:nvPr/>
          </p:nvSpPr>
          <p:spPr>
            <a:xfrm>
              <a:off x="9982200" y="2209800"/>
              <a:ext cx="933450" cy="228600"/>
            </a:xfrm>
            <a:prstGeom prst="roundRect">
              <a:avLst>
                <a:gd name="adj" fmla="val 16667"/>
              </a:avLst>
            </a:prstGeom>
            <a:solidFill>
              <a:srgbClr val="EEF3FB"/>
            </a:solidFill>
            <a:ln>
              <a:noFill/>
            </a:ln>
          </p:spPr>
        </p:sp>
        <p:sp>
          <p:nvSpPr>
            <p:cNvPr id="140" name="TextBox 140"/>
            <p:cNvSpPr txBox="1"/>
            <p:nvPr/>
          </p:nvSpPr>
          <p:spPr>
            <a:xfrm>
              <a:off x="10205212" y="2285286"/>
              <a:ext cx="48742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活动参与度</a:t>
              </a:r>
            </a:p>
          </p:txBody>
        </p:sp>
        <p:sp>
          <p:nvSpPr>
            <p:cNvPr id="141" name="Rectangle 141"/>
            <p:cNvSpPr/>
            <p:nvPr/>
          </p:nvSpPr>
          <p:spPr>
            <a:xfrm>
              <a:off x="7962900" y="2514600"/>
              <a:ext cx="933450" cy="228600"/>
            </a:xfrm>
            <a:prstGeom prst="roundRect">
              <a:avLst>
                <a:gd name="adj" fmla="val 16667"/>
              </a:avLst>
            </a:prstGeom>
            <a:solidFill>
              <a:srgbClr val="FDE8E8"/>
            </a:solidFill>
            <a:ln w="9525">
              <a:solidFill>
                <a:srgbClr val="C02C0A"/>
              </a:solidFill>
            </a:ln>
          </p:spPr>
        </p:sp>
        <p:sp>
          <p:nvSpPr>
            <p:cNvPr id="142" name="TextBox 142"/>
            <p:cNvSpPr txBox="1"/>
            <p:nvPr/>
          </p:nvSpPr>
          <p:spPr>
            <a:xfrm>
              <a:off x="8233702" y="2590086"/>
              <a:ext cx="391846" cy="140494"/>
            </a:xfrm>
            <a:prstGeom prst="rect">
              <a:avLst/>
            </a:prstGeom>
            <a:noFill/>
            <a:ln>
              <a:noFill/>
            </a:ln>
          </p:spPr>
          <p:txBody>
            <a:bodyPr wrap="none" lIns="0" tIns="0" rIns="0" bIns="0" anchor="t" anchorCtr="0">
              <a:spAutoFit/>
            </a:bodyPr>
            <a:lstStyle/>
            <a:p>
              <a:pPr algn="ctr"/>
              <a:r>
                <a:rPr lang="zh-CN" sz="710" b="1" dirty="0">
                  <a:solidFill>
                    <a:srgbClr val="C02C0A"/>
                  </a:solidFill>
                  <a:latin typeface="+mn-lt"/>
                  <a:ea typeface="+mn-ea"/>
                  <a:cs typeface="+mn-cs"/>
                </a:rPr>
                <a:t>商旅偏好</a:t>
              </a:r>
            </a:p>
          </p:txBody>
        </p:sp>
        <p:sp>
          <p:nvSpPr>
            <p:cNvPr id="143" name="Rectangle 143"/>
            <p:cNvSpPr/>
            <p:nvPr/>
          </p:nvSpPr>
          <p:spPr>
            <a:xfrm>
              <a:off x="8972550" y="2514600"/>
              <a:ext cx="933450" cy="228600"/>
            </a:xfrm>
            <a:prstGeom prst="roundRect">
              <a:avLst>
                <a:gd name="adj" fmla="val 16667"/>
              </a:avLst>
            </a:prstGeom>
            <a:solidFill>
              <a:srgbClr val="EEF3FB"/>
            </a:solidFill>
            <a:ln>
              <a:noFill/>
            </a:ln>
          </p:spPr>
        </p:sp>
        <p:sp>
          <p:nvSpPr>
            <p:cNvPr id="144" name="TextBox 144"/>
            <p:cNvSpPr txBox="1"/>
            <p:nvPr/>
          </p:nvSpPr>
          <p:spPr>
            <a:xfrm>
              <a:off x="9243352" y="25900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积分偏好</a:t>
              </a:r>
            </a:p>
          </p:txBody>
        </p:sp>
        <p:sp>
          <p:nvSpPr>
            <p:cNvPr id="145" name="Rectangle 145"/>
            <p:cNvSpPr/>
            <p:nvPr/>
          </p:nvSpPr>
          <p:spPr>
            <a:xfrm>
              <a:off x="9982200" y="2514600"/>
              <a:ext cx="933450" cy="228600"/>
            </a:xfrm>
            <a:prstGeom prst="roundRect">
              <a:avLst>
                <a:gd name="adj" fmla="val 16667"/>
              </a:avLst>
            </a:prstGeom>
            <a:solidFill>
              <a:srgbClr val="EEF3FB"/>
            </a:solidFill>
            <a:ln>
              <a:noFill/>
            </a:ln>
          </p:spPr>
        </p:sp>
        <p:sp>
          <p:nvSpPr>
            <p:cNvPr id="146" name="TextBox 146"/>
            <p:cNvSpPr txBox="1"/>
            <p:nvPr/>
          </p:nvSpPr>
          <p:spPr>
            <a:xfrm>
              <a:off x="10417878" y="2590086"/>
              <a:ext cx="62094"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a:t>
              </a:r>
            </a:p>
          </p:txBody>
        </p:sp>
      </p:grpSp>
      <p:grpSp>
        <p:nvGrpSpPr>
          <p:cNvPr id="171" name="tag-risk"/>
          <p:cNvGrpSpPr/>
          <p:nvPr/>
        </p:nvGrpSpPr>
        <p:grpSpPr>
          <a:xfrm>
            <a:off x="7962900" y="2895600"/>
            <a:ext cx="4000500" cy="990600"/>
            <a:chOff x="7962900" y="2895600"/>
            <a:chExt cx="4000500" cy="990600"/>
          </a:xfrm>
        </p:grpSpPr>
        <p:sp>
          <p:nvSpPr>
            <p:cNvPr id="148" name="Rectangle 148"/>
            <p:cNvSpPr/>
            <p:nvPr/>
          </p:nvSpPr>
          <p:spPr>
            <a:xfrm>
              <a:off x="11010900" y="2895600"/>
              <a:ext cx="952500" cy="990600"/>
            </a:xfrm>
            <a:prstGeom prst="roundRect">
              <a:avLst>
                <a:gd name="adj" fmla="val 6000"/>
              </a:avLst>
            </a:prstGeom>
            <a:solidFill>
              <a:srgbClr val="520E00"/>
            </a:solidFill>
            <a:ln>
              <a:noFill/>
            </a:ln>
          </p:spPr>
        </p:sp>
        <p:grpSp>
          <p:nvGrpSpPr>
            <p:cNvPr id="151" name="Group 151"/>
            <p:cNvGrpSpPr/>
            <p:nvPr/>
          </p:nvGrpSpPr>
          <p:grpSpPr>
            <a:xfrm>
              <a:off x="11355711" y="3105150"/>
              <a:ext cx="248008" cy="228599"/>
              <a:chOff x="11355711" y="3105150"/>
              <a:chExt cx="248008" cy="228599"/>
            </a:xfrm>
          </p:grpSpPr>
          <p:sp>
            <p:nvSpPr>
              <p:cNvPr id="149" name="Freeform 149"/>
              <p:cNvSpPr/>
              <p:nvPr/>
            </p:nvSpPr>
            <p:spPr>
              <a:xfrm>
                <a:off x="11355711" y="3105150"/>
                <a:ext cx="248008" cy="226644"/>
              </a:xfrm>
              <a:custGeom>
                <a:avLst/>
                <a:gdLst/>
                <a:ahLst/>
                <a:cxnLst/>
                <a:rect l="l" t="t" r="r" b="b"/>
                <a:pathLst>
                  <a:path w="248008" h="226644">
                    <a:moveTo>
                      <a:pt x="124581" y="226644"/>
                    </a:moveTo>
                    <a:cubicBezTo>
                      <a:pt x="45021" y="201982"/>
                      <a:pt x="0" y="118013"/>
                      <a:pt x="23489" y="38100"/>
                    </a:cubicBezTo>
                    <a:cubicBezTo>
                      <a:pt x="63056" y="39910"/>
                      <a:pt x="101774" y="26245"/>
                      <a:pt x="131439" y="0"/>
                    </a:cubicBezTo>
                    <a:cubicBezTo>
                      <a:pt x="161104" y="26245"/>
                      <a:pt x="199822" y="39910"/>
                      <a:pt x="239389" y="38100"/>
                    </a:cubicBezTo>
                    <a:cubicBezTo>
                      <a:pt x="248008" y="67426"/>
                      <a:pt x="247610" y="98665"/>
                      <a:pt x="238246" y="127762"/>
                    </a:cubicBezTo>
                  </a:path>
                </a:pathLst>
              </a:custGeom>
              <a:noFill/>
              <a:ln w="19050">
                <a:solidFill>
                  <a:srgbClr val="FFFFFF"/>
                </a:solidFill>
              </a:ln>
            </p:spPr>
          </p:sp>
          <p:sp>
            <p:nvSpPr>
              <p:cNvPr id="150" name="Freeform 150"/>
              <p:cNvSpPr/>
              <p:nvPr/>
            </p:nvSpPr>
            <p:spPr>
              <a:xfrm>
                <a:off x="11525250" y="3282949"/>
                <a:ext cx="76200" cy="50800"/>
              </a:xfrm>
              <a:custGeom>
                <a:avLst/>
                <a:gdLst/>
                <a:ahLst/>
                <a:cxnLst/>
                <a:rect l="l" t="t" r="r" b="b"/>
                <a:pathLst>
                  <a:path w="76200" h="50800">
                    <a:moveTo>
                      <a:pt x="0" y="25400"/>
                    </a:moveTo>
                    <a:lnTo>
                      <a:pt x="25400" y="50800"/>
                    </a:lnTo>
                    <a:lnTo>
                      <a:pt x="76200" y="0"/>
                    </a:lnTo>
                  </a:path>
                </a:pathLst>
              </a:custGeom>
              <a:noFill/>
              <a:ln w="19050">
                <a:solidFill>
                  <a:srgbClr val="FFFFFF"/>
                </a:solidFill>
              </a:ln>
            </p:spPr>
          </p:sp>
        </p:grpSp>
        <p:sp>
          <p:nvSpPr>
            <p:cNvPr id="152" name="TextBox 152"/>
            <p:cNvSpPr txBox="1"/>
            <p:nvPr/>
          </p:nvSpPr>
          <p:spPr>
            <a:xfrm>
              <a:off x="11218342" y="35523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风险特征</a:t>
              </a:r>
            </a:p>
          </p:txBody>
        </p:sp>
        <p:sp>
          <p:nvSpPr>
            <p:cNvPr id="153" name="Rectangle 153"/>
            <p:cNvSpPr/>
            <p:nvPr/>
          </p:nvSpPr>
          <p:spPr>
            <a:xfrm>
              <a:off x="7962900" y="2971800"/>
              <a:ext cx="933450" cy="228600"/>
            </a:xfrm>
            <a:prstGeom prst="roundRect">
              <a:avLst>
                <a:gd name="adj" fmla="val 16667"/>
              </a:avLst>
            </a:prstGeom>
            <a:solidFill>
              <a:srgbClr val="EEF3FB"/>
            </a:solidFill>
            <a:ln>
              <a:noFill/>
            </a:ln>
          </p:spPr>
        </p:sp>
        <p:sp>
          <p:nvSpPr>
            <p:cNvPr id="154" name="TextBox 154"/>
            <p:cNvSpPr txBox="1"/>
            <p:nvPr/>
          </p:nvSpPr>
          <p:spPr>
            <a:xfrm>
              <a:off x="8233702" y="3047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逾期次数</a:t>
              </a:r>
            </a:p>
          </p:txBody>
        </p:sp>
        <p:sp>
          <p:nvSpPr>
            <p:cNvPr id="155" name="Rectangle 155"/>
            <p:cNvSpPr/>
            <p:nvPr/>
          </p:nvSpPr>
          <p:spPr>
            <a:xfrm>
              <a:off x="8972550" y="2971800"/>
              <a:ext cx="933450" cy="228600"/>
            </a:xfrm>
            <a:prstGeom prst="roundRect">
              <a:avLst>
                <a:gd name="adj" fmla="val 16667"/>
              </a:avLst>
            </a:prstGeom>
            <a:solidFill>
              <a:srgbClr val="EEF3FB"/>
            </a:solidFill>
            <a:ln>
              <a:noFill/>
            </a:ln>
          </p:spPr>
        </p:sp>
        <p:sp>
          <p:nvSpPr>
            <p:cNvPr id="156" name="TextBox 156"/>
            <p:cNvSpPr txBox="1"/>
            <p:nvPr/>
          </p:nvSpPr>
          <p:spPr>
            <a:xfrm>
              <a:off x="9243352" y="30472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逾期金额</a:t>
              </a:r>
            </a:p>
          </p:txBody>
        </p:sp>
        <p:sp>
          <p:nvSpPr>
            <p:cNvPr id="157" name="Rectangle 157"/>
            <p:cNvSpPr/>
            <p:nvPr/>
          </p:nvSpPr>
          <p:spPr>
            <a:xfrm>
              <a:off x="9982200" y="2971800"/>
              <a:ext cx="933450" cy="228600"/>
            </a:xfrm>
            <a:prstGeom prst="roundRect">
              <a:avLst>
                <a:gd name="adj" fmla="val 16667"/>
              </a:avLst>
            </a:prstGeom>
            <a:solidFill>
              <a:srgbClr val="EEF3FB"/>
            </a:solidFill>
            <a:ln>
              <a:noFill/>
            </a:ln>
          </p:spPr>
        </p:sp>
        <p:sp>
          <p:nvSpPr>
            <p:cNvPr id="158" name="TextBox 158"/>
            <p:cNvSpPr txBox="1"/>
            <p:nvPr/>
          </p:nvSpPr>
          <p:spPr>
            <a:xfrm>
              <a:off x="10157422" y="3047286"/>
              <a:ext cx="58300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最大逾期天数</a:t>
              </a:r>
            </a:p>
          </p:txBody>
        </p:sp>
        <p:sp>
          <p:nvSpPr>
            <p:cNvPr id="159" name="Rectangle 159"/>
            <p:cNvSpPr/>
            <p:nvPr/>
          </p:nvSpPr>
          <p:spPr>
            <a:xfrm>
              <a:off x="7962900" y="3276600"/>
              <a:ext cx="933450" cy="228600"/>
            </a:xfrm>
            <a:prstGeom prst="roundRect">
              <a:avLst>
                <a:gd name="adj" fmla="val 16667"/>
              </a:avLst>
            </a:prstGeom>
            <a:solidFill>
              <a:srgbClr val="EEF3FB"/>
            </a:solidFill>
            <a:ln>
              <a:noFill/>
            </a:ln>
          </p:spPr>
        </p:sp>
        <p:sp>
          <p:nvSpPr>
            <p:cNvPr id="160" name="TextBox 160"/>
            <p:cNvSpPr txBox="1"/>
            <p:nvPr/>
          </p:nvSpPr>
          <p:spPr>
            <a:xfrm>
              <a:off x="8281492" y="3352086"/>
              <a:ext cx="29626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负债率</a:t>
              </a:r>
            </a:p>
          </p:txBody>
        </p:sp>
        <p:sp>
          <p:nvSpPr>
            <p:cNvPr id="161" name="Rectangle 161"/>
            <p:cNvSpPr/>
            <p:nvPr/>
          </p:nvSpPr>
          <p:spPr>
            <a:xfrm>
              <a:off x="8972550" y="3276600"/>
              <a:ext cx="933450" cy="228600"/>
            </a:xfrm>
            <a:prstGeom prst="roundRect">
              <a:avLst>
                <a:gd name="adj" fmla="val 16667"/>
              </a:avLst>
            </a:prstGeom>
            <a:solidFill>
              <a:srgbClr val="EEF3FB"/>
            </a:solidFill>
            <a:ln>
              <a:noFill/>
            </a:ln>
          </p:spPr>
        </p:sp>
        <p:sp>
          <p:nvSpPr>
            <p:cNvPr id="162" name="TextBox 162"/>
            <p:cNvSpPr txBox="1"/>
            <p:nvPr/>
          </p:nvSpPr>
          <p:spPr>
            <a:xfrm>
              <a:off x="9243352" y="33520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多头借贷</a:t>
              </a:r>
            </a:p>
          </p:txBody>
        </p:sp>
        <p:sp>
          <p:nvSpPr>
            <p:cNvPr id="163" name="Rectangle 163"/>
            <p:cNvSpPr/>
            <p:nvPr/>
          </p:nvSpPr>
          <p:spPr>
            <a:xfrm>
              <a:off x="9982200" y="3276600"/>
              <a:ext cx="933450" cy="228600"/>
            </a:xfrm>
            <a:prstGeom prst="roundRect">
              <a:avLst>
                <a:gd name="adj" fmla="val 16667"/>
              </a:avLst>
            </a:prstGeom>
            <a:solidFill>
              <a:srgbClr val="EEF3FB"/>
            </a:solidFill>
            <a:ln>
              <a:noFill/>
            </a:ln>
          </p:spPr>
        </p:sp>
        <p:sp>
          <p:nvSpPr>
            <p:cNvPr id="164" name="TextBox 164"/>
            <p:cNvSpPr txBox="1"/>
            <p:nvPr/>
          </p:nvSpPr>
          <p:spPr>
            <a:xfrm>
              <a:off x="10253002" y="33520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担保情况</a:t>
              </a:r>
            </a:p>
          </p:txBody>
        </p:sp>
        <p:sp>
          <p:nvSpPr>
            <p:cNvPr id="165" name="Rectangle 165"/>
            <p:cNvSpPr/>
            <p:nvPr/>
          </p:nvSpPr>
          <p:spPr>
            <a:xfrm>
              <a:off x="7962900" y="3581400"/>
              <a:ext cx="933450" cy="228600"/>
            </a:xfrm>
            <a:prstGeom prst="roundRect">
              <a:avLst>
                <a:gd name="adj" fmla="val 16667"/>
              </a:avLst>
            </a:prstGeom>
            <a:solidFill>
              <a:srgbClr val="EEF3FB"/>
            </a:solidFill>
            <a:ln>
              <a:noFill/>
            </a:ln>
          </p:spPr>
        </p:sp>
        <p:sp>
          <p:nvSpPr>
            <p:cNvPr id="166" name="TextBox 166"/>
            <p:cNvSpPr txBox="1"/>
            <p:nvPr/>
          </p:nvSpPr>
          <p:spPr>
            <a:xfrm>
              <a:off x="8233702" y="36568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风险评分</a:t>
              </a:r>
            </a:p>
          </p:txBody>
        </p:sp>
        <p:sp>
          <p:nvSpPr>
            <p:cNvPr id="167" name="Rectangle 167"/>
            <p:cNvSpPr/>
            <p:nvPr/>
          </p:nvSpPr>
          <p:spPr>
            <a:xfrm>
              <a:off x="8972550" y="3581400"/>
              <a:ext cx="933450" cy="228600"/>
            </a:xfrm>
            <a:prstGeom prst="roundRect">
              <a:avLst>
                <a:gd name="adj" fmla="val 16667"/>
              </a:avLst>
            </a:prstGeom>
            <a:solidFill>
              <a:srgbClr val="EEF3FB"/>
            </a:solidFill>
            <a:ln>
              <a:noFill/>
            </a:ln>
          </p:spPr>
        </p:sp>
        <p:sp>
          <p:nvSpPr>
            <p:cNvPr id="168" name="TextBox 168"/>
            <p:cNvSpPr txBox="1"/>
            <p:nvPr/>
          </p:nvSpPr>
          <p:spPr>
            <a:xfrm>
              <a:off x="9243352" y="3656886"/>
              <a:ext cx="391846"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欺诈风险</a:t>
              </a:r>
            </a:p>
          </p:txBody>
        </p:sp>
        <p:sp>
          <p:nvSpPr>
            <p:cNvPr id="169" name="Rectangle 169"/>
            <p:cNvSpPr/>
            <p:nvPr/>
          </p:nvSpPr>
          <p:spPr>
            <a:xfrm>
              <a:off x="9982200" y="3581400"/>
              <a:ext cx="933450" cy="228600"/>
            </a:xfrm>
            <a:prstGeom prst="roundRect">
              <a:avLst>
                <a:gd name="adj" fmla="val 16667"/>
              </a:avLst>
            </a:prstGeom>
            <a:solidFill>
              <a:srgbClr val="EEF3FB"/>
            </a:solidFill>
            <a:ln>
              <a:noFill/>
            </a:ln>
          </p:spPr>
        </p:sp>
        <p:sp>
          <p:nvSpPr>
            <p:cNvPr id="170" name="TextBox 170"/>
            <p:cNvSpPr txBox="1"/>
            <p:nvPr/>
          </p:nvSpPr>
          <p:spPr>
            <a:xfrm>
              <a:off x="10417878" y="3656886"/>
              <a:ext cx="62094" cy="140494"/>
            </a:xfrm>
            <a:prstGeom prst="rect">
              <a:avLst/>
            </a:prstGeom>
            <a:noFill/>
            <a:ln>
              <a:noFill/>
            </a:ln>
          </p:spPr>
          <p:txBody>
            <a:bodyPr wrap="none" lIns="0" tIns="0" rIns="0" bIns="0" anchor="t" anchorCtr="0">
              <a:spAutoFit/>
            </a:bodyPr>
            <a:lstStyle/>
            <a:p>
              <a:pPr algn="ctr"/>
              <a:r>
                <a:rPr lang="zh-CN" sz="710" dirty="0">
                  <a:solidFill>
                    <a:srgbClr val="520E00"/>
                  </a:solidFill>
                  <a:latin typeface="+mn-lt"/>
                  <a:ea typeface="+mn-ea"/>
                  <a:cs typeface="+mn-cs"/>
                </a:rPr>
                <a:t>…</a:t>
              </a:r>
            </a:p>
          </p:txBody>
        </p:sp>
      </p:grpSp>
      <p:grpSp>
        <p:nvGrpSpPr>
          <p:cNvPr id="174" name="tag-levels"/>
          <p:cNvGrpSpPr/>
          <p:nvPr/>
        </p:nvGrpSpPr>
        <p:grpSpPr>
          <a:xfrm>
            <a:off x="3619500" y="4019550"/>
            <a:ext cx="4953000" cy="308134"/>
            <a:chOff x="3619500" y="4019550"/>
            <a:chExt cx="4953000" cy="308134"/>
          </a:xfrm>
        </p:grpSpPr>
        <p:sp>
          <p:nvSpPr>
            <p:cNvPr id="172" name="Rectangle 172"/>
            <p:cNvSpPr/>
            <p:nvPr/>
          </p:nvSpPr>
          <p:spPr>
            <a:xfrm>
              <a:off x="3619500" y="4019550"/>
              <a:ext cx="4953000" cy="304800"/>
            </a:xfrm>
            <a:prstGeom prst="roundRect">
              <a:avLst>
                <a:gd name="adj" fmla="val 50000"/>
              </a:avLst>
            </a:prstGeom>
            <a:solidFill>
              <a:srgbClr val="EEF3FB"/>
            </a:solidFill>
            <a:ln w="9525">
              <a:solidFill>
                <a:srgbClr val="E84E2F"/>
              </a:solidFill>
            </a:ln>
          </p:spPr>
        </p:sp>
        <p:sp>
          <p:nvSpPr>
            <p:cNvPr id="173" name="TextBox 173"/>
            <p:cNvSpPr txBox="1"/>
            <p:nvPr/>
          </p:nvSpPr>
          <p:spPr>
            <a:xfrm>
              <a:off x="4480391" y="4107656"/>
              <a:ext cx="3231217"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事实标签 — 统计标签 — 规则标签 — 预测标签​​​</a:t>
              </a:r>
            </a:p>
          </p:txBody>
        </p:sp>
      </p:grpSp>
      <p:grpSp>
        <p:nvGrpSpPr>
          <p:cNvPr id="303" name="tag-process"/>
          <p:cNvGrpSpPr/>
          <p:nvPr/>
        </p:nvGrpSpPr>
        <p:grpSpPr>
          <a:xfrm>
            <a:off x="228600" y="4419600"/>
            <a:ext cx="11734800" cy="1714500"/>
            <a:chOff x="228600" y="4419600"/>
            <a:chExt cx="11734800" cy="1714500"/>
          </a:xfrm>
        </p:grpSpPr>
        <p:sp>
          <p:nvSpPr>
            <p:cNvPr id="175" name="Rectangle 175"/>
            <p:cNvSpPr/>
            <p:nvPr/>
          </p:nvSpPr>
          <p:spPr>
            <a:xfrm>
              <a:off x="228600" y="4419600"/>
              <a:ext cx="11734800" cy="1714500"/>
            </a:xfrm>
            <a:prstGeom prst="roundRect">
              <a:avLst>
                <a:gd name="adj" fmla="val 4444"/>
              </a:avLst>
            </a:prstGeom>
            <a:solidFill>
              <a:srgbClr val="F5F8FE"/>
            </a:solidFill>
            <a:ln w="9525">
              <a:solidFill>
                <a:srgbClr val="C9D5EA"/>
              </a:solidFill>
            </a:ln>
          </p:spPr>
        </p:sp>
        <p:sp>
          <p:nvSpPr>
            <p:cNvPr id="176" name="Freeform 176"/>
            <p:cNvSpPr/>
            <p:nvPr/>
          </p:nvSpPr>
          <p:spPr>
            <a:xfrm>
              <a:off x="381000" y="4476750"/>
              <a:ext cx="2571750" cy="342900"/>
            </a:xfrm>
            <a:prstGeom prst="chevron">
              <a:avLst/>
            </a:prstGeom>
            <a:solidFill>
              <a:srgbClr val="8A1700"/>
            </a:solidFill>
            <a:ln>
              <a:noFill/>
            </a:ln>
          </p:spPr>
        </p:sp>
        <p:sp>
          <p:nvSpPr>
            <p:cNvPr id="177" name="Freeform 177"/>
            <p:cNvSpPr/>
            <p:nvPr/>
          </p:nvSpPr>
          <p:spPr>
            <a:xfrm>
              <a:off x="3238500" y="4476750"/>
              <a:ext cx="2571750" cy="342900"/>
            </a:xfrm>
            <a:prstGeom prst="chevron">
              <a:avLst/>
            </a:prstGeom>
            <a:solidFill>
              <a:srgbClr val="8A1700"/>
            </a:solidFill>
            <a:ln>
              <a:noFill/>
            </a:ln>
          </p:spPr>
        </p:sp>
        <p:sp>
          <p:nvSpPr>
            <p:cNvPr id="178" name="Freeform 178"/>
            <p:cNvSpPr/>
            <p:nvPr/>
          </p:nvSpPr>
          <p:spPr>
            <a:xfrm>
              <a:off x="6096000" y="4476750"/>
              <a:ext cx="2571750" cy="342900"/>
            </a:xfrm>
            <a:prstGeom prst="chevron">
              <a:avLst/>
            </a:prstGeom>
            <a:solidFill>
              <a:srgbClr val="8A1700"/>
            </a:solidFill>
            <a:ln>
              <a:noFill/>
            </a:ln>
          </p:spPr>
        </p:sp>
        <p:sp>
          <p:nvSpPr>
            <p:cNvPr id="179" name="Freeform 179"/>
            <p:cNvSpPr/>
            <p:nvPr/>
          </p:nvSpPr>
          <p:spPr>
            <a:xfrm>
              <a:off x="8953500" y="4476750"/>
              <a:ext cx="2571750" cy="342900"/>
            </a:xfrm>
            <a:prstGeom prst="chevron">
              <a:avLst/>
            </a:prstGeom>
            <a:solidFill>
              <a:srgbClr val="8A1700"/>
            </a:solidFill>
            <a:ln>
              <a:noFill/>
            </a:ln>
          </p:spPr>
        </p:sp>
        <p:grpSp>
          <p:nvGrpSpPr>
            <p:cNvPr id="183" name="Group 183"/>
            <p:cNvGrpSpPr/>
            <p:nvPr/>
          </p:nvGrpSpPr>
          <p:grpSpPr>
            <a:xfrm>
              <a:off x="1174750" y="4576762"/>
              <a:ext cx="127000" cy="142875"/>
              <a:chOff x="1174750" y="4576762"/>
              <a:chExt cx="127000" cy="142875"/>
            </a:xfrm>
          </p:grpSpPr>
          <p:sp>
            <p:nvSpPr>
              <p:cNvPr id="180" name="Freeform 180"/>
              <p:cNvSpPr/>
              <p:nvPr/>
            </p:nvSpPr>
            <p:spPr>
              <a:xfrm>
                <a:off x="1174750" y="45767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FFFFFF"/>
                </a:solidFill>
              </a:ln>
            </p:spPr>
          </p:sp>
          <p:sp>
            <p:nvSpPr>
              <p:cNvPr id="181" name="Freeform 181"/>
              <p:cNvSpPr/>
              <p:nvPr/>
            </p:nvSpPr>
            <p:spPr>
              <a:xfrm>
                <a:off x="1174750" y="46005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sp>
            <p:nvSpPr>
              <p:cNvPr id="182" name="Freeform 182"/>
              <p:cNvSpPr/>
              <p:nvPr/>
            </p:nvSpPr>
            <p:spPr>
              <a:xfrm>
                <a:off x="1174750" y="46482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grpSp>
        <p:sp>
          <p:nvSpPr>
            <p:cNvPr id="184" name="TextBox 184"/>
            <p:cNvSpPr txBox="1"/>
            <p:nvPr/>
          </p:nvSpPr>
          <p:spPr>
            <a:xfrm>
              <a:off x="1423035" y="458390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数据采集</a:t>
              </a:r>
            </a:p>
          </p:txBody>
        </p:sp>
        <p:grpSp>
          <p:nvGrpSpPr>
            <p:cNvPr id="187" name="Group 187"/>
            <p:cNvGrpSpPr/>
            <p:nvPr/>
          </p:nvGrpSpPr>
          <p:grpSpPr>
            <a:xfrm>
              <a:off x="4020828" y="4573278"/>
              <a:ext cx="149844" cy="149844"/>
              <a:chOff x="4020828" y="4573278"/>
              <a:chExt cx="149844" cy="149844"/>
            </a:xfrm>
          </p:grpSpPr>
          <p:sp>
            <p:nvSpPr>
              <p:cNvPr id="185" name="Freeform 185"/>
              <p:cNvSpPr/>
              <p:nvPr/>
            </p:nvSpPr>
            <p:spPr>
              <a:xfrm>
                <a:off x="4020828" y="457327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186" name="Freeform 186"/>
              <p:cNvSpPr/>
              <p:nvPr/>
            </p:nvSpPr>
            <p:spPr>
              <a:xfrm>
                <a:off x="4071937" y="462438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188" name="TextBox 188"/>
            <p:cNvSpPr txBox="1"/>
            <p:nvPr/>
          </p:nvSpPr>
          <p:spPr>
            <a:xfrm>
              <a:off x="4280535" y="458390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标签加工</a:t>
              </a:r>
            </a:p>
          </p:txBody>
        </p:sp>
        <p:grpSp>
          <p:nvGrpSpPr>
            <p:cNvPr id="195" name="Group 195"/>
            <p:cNvGrpSpPr/>
            <p:nvPr/>
          </p:nvGrpSpPr>
          <p:grpSpPr>
            <a:xfrm>
              <a:off x="6881812" y="4576762"/>
              <a:ext cx="142875" cy="142875"/>
              <a:chOff x="6881812" y="4576762"/>
              <a:chExt cx="142875" cy="142875"/>
            </a:xfrm>
          </p:grpSpPr>
          <p:sp>
            <p:nvSpPr>
              <p:cNvPr id="189" name="Freeform 189"/>
              <p:cNvSpPr/>
              <p:nvPr/>
            </p:nvSpPr>
            <p:spPr>
              <a:xfrm>
                <a:off x="6937375" y="46402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90" name="Freeform 190"/>
              <p:cNvSpPr/>
              <p:nvPr/>
            </p:nvSpPr>
            <p:spPr>
              <a:xfrm>
                <a:off x="6921500" y="46958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FFFFFF"/>
                </a:solidFill>
              </a:ln>
            </p:spPr>
          </p:sp>
          <p:sp>
            <p:nvSpPr>
              <p:cNvPr id="191" name="Freeform 191"/>
              <p:cNvSpPr/>
              <p:nvPr/>
            </p:nvSpPr>
            <p:spPr>
              <a:xfrm>
                <a:off x="6977062" y="45767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92" name="Freeform 192"/>
              <p:cNvSpPr/>
              <p:nvPr/>
            </p:nvSpPr>
            <p:spPr>
              <a:xfrm>
                <a:off x="6992937" y="46323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FFFFFF"/>
                </a:solidFill>
              </a:ln>
            </p:spPr>
          </p:sp>
          <p:sp>
            <p:nvSpPr>
              <p:cNvPr id="193" name="Freeform 193"/>
              <p:cNvSpPr/>
              <p:nvPr/>
            </p:nvSpPr>
            <p:spPr>
              <a:xfrm>
                <a:off x="6897687" y="45767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94" name="Freeform 194"/>
              <p:cNvSpPr/>
              <p:nvPr/>
            </p:nvSpPr>
            <p:spPr>
              <a:xfrm>
                <a:off x="6881812" y="46323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FFFFFF"/>
                </a:solidFill>
              </a:ln>
            </p:spPr>
          </p:sp>
        </p:grpSp>
        <p:sp>
          <p:nvSpPr>
            <p:cNvPr id="196" name="TextBox 196"/>
            <p:cNvSpPr txBox="1"/>
            <p:nvPr/>
          </p:nvSpPr>
          <p:spPr>
            <a:xfrm>
              <a:off x="7138035" y="458390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客群圈选</a:t>
              </a:r>
            </a:p>
          </p:txBody>
        </p:sp>
        <p:grpSp>
          <p:nvGrpSpPr>
            <p:cNvPr id="200" name="Group 200"/>
            <p:cNvGrpSpPr/>
            <p:nvPr/>
          </p:nvGrpSpPr>
          <p:grpSpPr>
            <a:xfrm>
              <a:off x="9739312" y="4576762"/>
              <a:ext cx="142875" cy="142875"/>
              <a:chOff x="9739312" y="4576762"/>
              <a:chExt cx="142875" cy="142875"/>
            </a:xfrm>
          </p:grpSpPr>
          <p:sp>
            <p:nvSpPr>
              <p:cNvPr id="197" name="Freeform 197"/>
              <p:cNvSpPr/>
              <p:nvPr/>
            </p:nvSpPr>
            <p:spPr>
              <a:xfrm>
                <a:off x="9802812" y="46402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198" name="Freeform 198"/>
              <p:cNvSpPr/>
              <p:nvPr/>
            </p:nvSpPr>
            <p:spPr>
              <a:xfrm>
                <a:off x="9771062" y="46085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199" name="Freeform 199"/>
              <p:cNvSpPr/>
              <p:nvPr/>
            </p:nvSpPr>
            <p:spPr>
              <a:xfrm>
                <a:off x="9739312" y="45767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201" name="TextBox 201"/>
            <p:cNvSpPr txBox="1"/>
            <p:nvPr/>
          </p:nvSpPr>
          <p:spPr>
            <a:xfrm>
              <a:off x="9995535" y="458390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策略应用</a:t>
              </a:r>
            </a:p>
          </p:txBody>
        </p:sp>
        <p:grpSp>
          <p:nvGrpSpPr>
            <p:cNvPr id="231" name="step-1-body"/>
            <p:cNvGrpSpPr/>
            <p:nvPr/>
          </p:nvGrpSpPr>
          <p:grpSpPr>
            <a:xfrm>
              <a:off x="526529" y="4921091"/>
              <a:ext cx="2296015" cy="816293"/>
              <a:chOff x="526529" y="4921091"/>
              <a:chExt cx="2296015" cy="816293"/>
            </a:xfrm>
          </p:grpSpPr>
          <p:sp>
            <p:nvSpPr>
              <p:cNvPr id="202" name="TextBox 202"/>
              <p:cNvSpPr txBox="1"/>
              <p:nvPr/>
            </p:nvSpPr>
            <p:spPr>
              <a:xfrm>
                <a:off x="944588" y="4921091"/>
                <a:ext cx="1444574"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多源数据接入，统一数据标准</a:t>
                </a:r>
              </a:p>
            </p:txBody>
          </p:sp>
          <p:grpSp>
            <p:nvGrpSpPr>
              <p:cNvPr id="211" name="Group 211"/>
              <p:cNvGrpSpPr/>
              <p:nvPr/>
            </p:nvGrpSpPr>
            <p:grpSpPr>
              <a:xfrm>
                <a:off x="607219" y="5236369"/>
                <a:ext cx="214312" cy="223837"/>
                <a:chOff x="607219" y="5236369"/>
                <a:chExt cx="214312" cy="223837"/>
              </a:xfrm>
            </p:grpSpPr>
            <p:sp>
              <p:nvSpPr>
                <p:cNvPr id="203" name="Freeform 203"/>
                <p:cNvSpPr/>
                <p:nvPr/>
              </p:nvSpPr>
              <p:spPr>
                <a:xfrm>
                  <a:off x="607219" y="5450681"/>
                  <a:ext cx="214312" cy="9525"/>
                </a:xfrm>
                <a:custGeom>
                  <a:avLst/>
                  <a:gdLst/>
                  <a:ahLst/>
                  <a:cxnLst/>
                  <a:rect l="l" t="t" r="r" b="b"/>
                  <a:pathLst>
                    <a:path w="214312" h="9525">
                      <a:moveTo>
                        <a:pt x="0" y="0"/>
                      </a:moveTo>
                      <a:lnTo>
                        <a:pt x="214312" y="0"/>
                      </a:lnTo>
                    </a:path>
                  </a:pathLst>
                </a:custGeom>
                <a:noFill/>
                <a:ln w="17859">
                  <a:solidFill>
                    <a:srgbClr val="8A1700"/>
                  </a:solidFill>
                </a:ln>
              </p:spPr>
            </p:sp>
            <p:sp>
              <p:nvSpPr>
                <p:cNvPr id="204" name="Freeform 204"/>
                <p:cNvSpPr/>
                <p:nvPr/>
              </p:nvSpPr>
              <p:spPr>
                <a:xfrm>
                  <a:off x="607219" y="5319712"/>
                  <a:ext cx="214312" cy="9525"/>
                </a:xfrm>
                <a:custGeom>
                  <a:avLst/>
                  <a:gdLst/>
                  <a:ahLst/>
                  <a:cxnLst/>
                  <a:rect l="l" t="t" r="r" b="b"/>
                  <a:pathLst>
                    <a:path w="214312" h="9525">
                      <a:moveTo>
                        <a:pt x="0" y="0"/>
                      </a:moveTo>
                      <a:lnTo>
                        <a:pt x="214312" y="0"/>
                      </a:lnTo>
                    </a:path>
                  </a:pathLst>
                </a:custGeom>
                <a:noFill/>
                <a:ln w="17859">
                  <a:solidFill>
                    <a:srgbClr val="8A1700"/>
                  </a:solidFill>
                </a:ln>
              </p:spPr>
            </p:sp>
            <p:sp>
              <p:nvSpPr>
                <p:cNvPr id="205" name="Freeform 205"/>
                <p:cNvSpPr/>
                <p:nvPr/>
              </p:nvSpPr>
              <p:spPr>
                <a:xfrm>
                  <a:off x="631031" y="5236369"/>
                  <a:ext cx="166688" cy="35719"/>
                </a:xfrm>
                <a:custGeom>
                  <a:avLst/>
                  <a:gdLst/>
                  <a:ahLst/>
                  <a:cxnLst/>
                  <a:rect l="l" t="t" r="r" b="b"/>
                  <a:pathLst>
                    <a:path w="166688" h="35719">
                      <a:moveTo>
                        <a:pt x="0" y="35719"/>
                      </a:moveTo>
                      <a:lnTo>
                        <a:pt x="83344" y="0"/>
                      </a:lnTo>
                      <a:lnTo>
                        <a:pt x="166688" y="35719"/>
                      </a:lnTo>
                    </a:path>
                  </a:pathLst>
                </a:custGeom>
                <a:noFill/>
                <a:ln w="17859">
                  <a:solidFill>
                    <a:srgbClr val="8A1700"/>
                  </a:solidFill>
                </a:ln>
              </p:spPr>
            </p:sp>
            <p:sp>
              <p:nvSpPr>
                <p:cNvPr id="206" name="Freeform 206"/>
                <p:cNvSpPr/>
                <p:nvPr/>
              </p:nvSpPr>
              <p:spPr>
                <a:xfrm>
                  <a:off x="619125" y="5319712"/>
                  <a:ext cx="9525" cy="130969"/>
                </a:xfrm>
                <a:custGeom>
                  <a:avLst/>
                  <a:gdLst/>
                  <a:ahLst/>
                  <a:cxnLst/>
                  <a:rect l="l" t="t" r="r" b="b"/>
                  <a:pathLst>
                    <a:path w="9525" h="130969">
                      <a:moveTo>
                        <a:pt x="0" y="0"/>
                      </a:moveTo>
                      <a:lnTo>
                        <a:pt x="0" y="130969"/>
                      </a:lnTo>
                    </a:path>
                  </a:pathLst>
                </a:custGeom>
                <a:noFill/>
                <a:ln w="17859">
                  <a:solidFill>
                    <a:srgbClr val="8A1700"/>
                  </a:solidFill>
                </a:ln>
              </p:spPr>
            </p:sp>
            <p:sp>
              <p:nvSpPr>
                <p:cNvPr id="207" name="Freeform 207"/>
                <p:cNvSpPr/>
                <p:nvPr/>
              </p:nvSpPr>
              <p:spPr>
                <a:xfrm>
                  <a:off x="809625" y="5319712"/>
                  <a:ext cx="9525" cy="130969"/>
                </a:xfrm>
                <a:custGeom>
                  <a:avLst/>
                  <a:gdLst/>
                  <a:ahLst/>
                  <a:cxnLst/>
                  <a:rect l="l" t="t" r="r" b="b"/>
                  <a:pathLst>
                    <a:path w="9525" h="130969">
                      <a:moveTo>
                        <a:pt x="0" y="0"/>
                      </a:moveTo>
                      <a:lnTo>
                        <a:pt x="0" y="130969"/>
                      </a:lnTo>
                    </a:path>
                  </a:pathLst>
                </a:custGeom>
                <a:noFill/>
                <a:ln w="17859">
                  <a:solidFill>
                    <a:srgbClr val="8A1700"/>
                  </a:solidFill>
                </a:ln>
              </p:spPr>
            </p:sp>
            <p:sp>
              <p:nvSpPr>
                <p:cNvPr id="208" name="Freeform 208"/>
                <p:cNvSpPr/>
                <p:nvPr/>
              </p:nvSpPr>
              <p:spPr>
                <a:xfrm>
                  <a:off x="666750" y="5367338"/>
                  <a:ext cx="9525" cy="35719"/>
                </a:xfrm>
                <a:custGeom>
                  <a:avLst/>
                  <a:gdLst/>
                  <a:ahLst/>
                  <a:cxnLst/>
                  <a:rect l="l" t="t" r="r" b="b"/>
                  <a:pathLst>
                    <a:path w="9525" h="35719">
                      <a:moveTo>
                        <a:pt x="0" y="0"/>
                      </a:moveTo>
                      <a:lnTo>
                        <a:pt x="0" y="35719"/>
                      </a:lnTo>
                    </a:path>
                  </a:pathLst>
                </a:custGeom>
                <a:noFill/>
                <a:ln w="17859">
                  <a:solidFill>
                    <a:srgbClr val="8A1700"/>
                  </a:solidFill>
                </a:ln>
              </p:spPr>
            </p:sp>
            <p:sp>
              <p:nvSpPr>
                <p:cNvPr id="209" name="Freeform 209"/>
                <p:cNvSpPr/>
                <p:nvPr/>
              </p:nvSpPr>
              <p:spPr>
                <a:xfrm>
                  <a:off x="714375" y="5367338"/>
                  <a:ext cx="9525" cy="35719"/>
                </a:xfrm>
                <a:custGeom>
                  <a:avLst/>
                  <a:gdLst/>
                  <a:ahLst/>
                  <a:cxnLst/>
                  <a:rect l="l" t="t" r="r" b="b"/>
                  <a:pathLst>
                    <a:path w="9525" h="35719">
                      <a:moveTo>
                        <a:pt x="0" y="0"/>
                      </a:moveTo>
                      <a:lnTo>
                        <a:pt x="0" y="35719"/>
                      </a:lnTo>
                    </a:path>
                  </a:pathLst>
                </a:custGeom>
                <a:noFill/>
                <a:ln w="17859">
                  <a:solidFill>
                    <a:srgbClr val="8A1700"/>
                  </a:solidFill>
                </a:ln>
              </p:spPr>
            </p:sp>
            <p:sp>
              <p:nvSpPr>
                <p:cNvPr id="210" name="Freeform 210"/>
                <p:cNvSpPr/>
                <p:nvPr/>
              </p:nvSpPr>
              <p:spPr>
                <a:xfrm>
                  <a:off x="762000" y="5367338"/>
                  <a:ext cx="9525" cy="35719"/>
                </a:xfrm>
                <a:custGeom>
                  <a:avLst/>
                  <a:gdLst/>
                  <a:ahLst/>
                  <a:cxnLst/>
                  <a:rect l="l" t="t" r="r" b="b"/>
                  <a:pathLst>
                    <a:path w="9525" h="35719">
                      <a:moveTo>
                        <a:pt x="0" y="0"/>
                      </a:moveTo>
                      <a:lnTo>
                        <a:pt x="0" y="35719"/>
                      </a:lnTo>
                    </a:path>
                  </a:pathLst>
                </a:custGeom>
                <a:noFill/>
                <a:ln w="17859">
                  <a:solidFill>
                    <a:srgbClr val="8A1700"/>
                  </a:solidFill>
                </a:ln>
              </p:spPr>
            </p:sp>
          </p:grpSp>
          <p:sp>
            <p:nvSpPr>
              <p:cNvPr id="212" name="TextBox 212"/>
              <p:cNvSpPr txBox="1"/>
              <p:nvPr/>
            </p:nvSpPr>
            <p:spPr>
              <a:xfrm>
                <a:off x="52652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核心系统</a:t>
                </a:r>
              </a:p>
            </p:txBody>
          </p:sp>
          <p:grpSp>
            <p:nvGrpSpPr>
              <p:cNvPr id="218" name="Group 218"/>
              <p:cNvGrpSpPr/>
              <p:nvPr/>
            </p:nvGrpSpPr>
            <p:grpSpPr>
              <a:xfrm>
                <a:off x="1202531" y="5236369"/>
                <a:ext cx="166688" cy="214312"/>
                <a:chOff x="1202531" y="5236369"/>
                <a:chExt cx="166688" cy="214312"/>
              </a:xfrm>
            </p:grpSpPr>
            <p:sp>
              <p:nvSpPr>
                <p:cNvPr id="213" name="Freeform 213"/>
                <p:cNvSpPr/>
                <p:nvPr/>
              </p:nvSpPr>
              <p:spPr>
                <a:xfrm>
                  <a:off x="1309688" y="5236369"/>
                  <a:ext cx="59531" cy="59531"/>
                </a:xfrm>
                <a:custGeom>
                  <a:avLst/>
                  <a:gdLst/>
                  <a:ahLst/>
                  <a:cxnLst/>
                  <a:rect l="l" t="t" r="r" b="b"/>
                  <a:pathLst>
                    <a:path w="59531" h="59531">
                      <a:moveTo>
                        <a:pt x="0" y="0"/>
                      </a:moveTo>
                      <a:lnTo>
                        <a:pt x="0" y="47625"/>
                      </a:lnTo>
                      <a:cubicBezTo>
                        <a:pt x="0" y="54201"/>
                        <a:pt x="5331" y="59531"/>
                        <a:pt x="11906" y="59531"/>
                      </a:cubicBezTo>
                      <a:lnTo>
                        <a:pt x="59531" y="59531"/>
                      </a:lnTo>
                    </a:path>
                  </a:pathLst>
                </a:custGeom>
                <a:noFill/>
                <a:ln w="17859">
                  <a:solidFill>
                    <a:srgbClr val="8A1700"/>
                  </a:solidFill>
                </a:ln>
              </p:spPr>
            </p:sp>
            <p:sp>
              <p:nvSpPr>
                <p:cNvPr id="214" name="Freeform 214"/>
                <p:cNvSpPr/>
                <p:nvPr/>
              </p:nvSpPr>
              <p:spPr>
                <a:xfrm>
                  <a:off x="1202531" y="5236369"/>
                  <a:ext cx="166688" cy="214312"/>
                </a:xfrm>
                <a:custGeom>
                  <a:avLst/>
                  <a:gdLst/>
                  <a:ahLst/>
                  <a:cxnLst/>
                  <a:rect l="l" t="t" r="r" b="b"/>
                  <a:pathLst>
                    <a:path w="166688" h="214312">
                      <a:moveTo>
                        <a:pt x="142875" y="214312"/>
                      </a:moveTo>
                      <a:lnTo>
                        <a:pt x="23812" y="214312"/>
                      </a:lnTo>
                      <a:cubicBezTo>
                        <a:pt x="10661" y="214312"/>
                        <a:pt x="0" y="203651"/>
                        <a:pt x="0" y="190500"/>
                      </a:cubicBezTo>
                      <a:lnTo>
                        <a:pt x="0" y="23812"/>
                      </a:lnTo>
                      <a:cubicBezTo>
                        <a:pt x="0" y="10661"/>
                        <a:pt x="10661" y="0"/>
                        <a:pt x="23812" y="0"/>
                      </a:cubicBezTo>
                      <a:lnTo>
                        <a:pt x="107156" y="0"/>
                      </a:lnTo>
                      <a:lnTo>
                        <a:pt x="166688" y="59531"/>
                      </a:lnTo>
                      <a:lnTo>
                        <a:pt x="166688" y="190500"/>
                      </a:lnTo>
                      <a:cubicBezTo>
                        <a:pt x="166688" y="203651"/>
                        <a:pt x="156026" y="214312"/>
                        <a:pt x="142875" y="214312"/>
                      </a:cubicBezTo>
                    </a:path>
                  </a:pathLst>
                </a:custGeom>
                <a:noFill/>
                <a:ln w="17859">
                  <a:solidFill>
                    <a:srgbClr val="8A1700"/>
                  </a:solidFill>
                </a:ln>
              </p:spPr>
            </p:sp>
            <p:sp>
              <p:nvSpPr>
                <p:cNvPr id="215" name="Freeform 215"/>
                <p:cNvSpPr/>
                <p:nvPr/>
              </p:nvSpPr>
              <p:spPr>
                <a:xfrm>
                  <a:off x="1250156" y="5307806"/>
                  <a:ext cx="11906" cy="9525"/>
                </a:xfrm>
                <a:custGeom>
                  <a:avLst/>
                  <a:gdLst/>
                  <a:ahLst/>
                  <a:cxnLst/>
                  <a:rect l="l" t="t" r="r" b="b"/>
                  <a:pathLst>
                    <a:path w="11906" h="9525">
                      <a:moveTo>
                        <a:pt x="0" y="0"/>
                      </a:moveTo>
                      <a:lnTo>
                        <a:pt x="11906" y="0"/>
                      </a:lnTo>
                    </a:path>
                  </a:pathLst>
                </a:custGeom>
                <a:noFill/>
                <a:ln w="17859">
                  <a:solidFill>
                    <a:srgbClr val="8A1700"/>
                  </a:solidFill>
                </a:ln>
              </p:spPr>
            </p:sp>
            <p:sp>
              <p:nvSpPr>
                <p:cNvPr id="216" name="Freeform 216"/>
                <p:cNvSpPr/>
                <p:nvPr/>
              </p:nvSpPr>
              <p:spPr>
                <a:xfrm>
                  <a:off x="1250156" y="5355431"/>
                  <a:ext cx="71438" cy="9525"/>
                </a:xfrm>
                <a:custGeom>
                  <a:avLst/>
                  <a:gdLst/>
                  <a:ahLst/>
                  <a:cxnLst/>
                  <a:rect l="l" t="t" r="r" b="b"/>
                  <a:pathLst>
                    <a:path w="71438" h="9525">
                      <a:moveTo>
                        <a:pt x="0" y="0"/>
                      </a:moveTo>
                      <a:lnTo>
                        <a:pt x="71438" y="0"/>
                      </a:lnTo>
                    </a:path>
                  </a:pathLst>
                </a:custGeom>
                <a:noFill/>
                <a:ln w="17859">
                  <a:solidFill>
                    <a:srgbClr val="8A1700"/>
                  </a:solidFill>
                </a:ln>
              </p:spPr>
            </p:sp>
            <p:sp>
              <p:nvSpPr>
                <p:cNvPr id="217" name="Freeform 217"/>
                <p:cNvSpPr/>
                <p:nvPr/>
              </p:nvSpPr>
              <p:spPr>
                <a:xfrm>
                  <a:off x="1250156" y="5403056"/>
                  <a:ext cx="71438" cy="9525"/>
                </a:xfrm>
                <a:custGeom>
                  <a:avLst/>
                  <a:gdLst/>
                  <a:ahLst/>
                  <a:cxnLst/>
                  <a:rect l="l" t="t" r="r" b="b"/>
                  <a:pathLst>
                    <a:path w="71438" h="9525">
                      <a:moveTo>
                        <a:pt x="0" y="0"/>
                      </a:moveTo>
                      <a:lnTo>
                        <a:pt x="71438" y="0"/>
                      </a:lnTo>
                    </a:path>
                  </a:pathLst>
                </a:custGeom>
                <a:noFill/>
                <a:ln w="17859">
                  <a:solidFill>
                    <a:srgbClr val="8A1700"/>
                  </a:solidFill>
                </a:ln>
              </p:spPr>
            </p:sp>
          </p:grpSp>
          <p:sp>
            <p:nvSpPr>
              <p:cNvPr id="219" name="TextBox 219"/>
              <p:cNvSpPr txBox="1"/>
              <p:nvPr/>
            </p:nvSpPr>
            <p:spPr>
              <a:xfrm>
                <a:off x="109802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信贷系统</a:t>
                </a:r>
              </a:p>
            </p:txBody>
          </p:sp>
          <p:grpSp>
            <p:nvGrpSpPr>
              <p:cNvPr id="223" name="Group 223"/>
              <p:cNvGrpSpPr/>
              <p:nvPr/>
            </p:nvGrpSpPr>
            <p:grpSpPr>
              <a:xfrm>
                <a:off x="1785938" y="5236369"/>
                <a:ext cx="142875" cy="214312"/>
                <a:chOff x="1785938" y="5236369"/>
                <a:chExt cx="142875" cy="214312"/>
              </a:xfrm>
            </p:grpSpPr>
            <p:sp>
              <p:nvSpPr>
                <p:cNvPr id="220" name="Freeform 220"/>
                <p:cNvSpPr/>
                <p:nvPr/>
              </p:nvSpPr>
              <p:spPr>
                <a:xfrm>
                  <a:off x="1785938" y="5236369"/>
                  <a:ext cx="142875" cy="214312"/>
                </a:xfrm>
                <a:custGeom>
                  <a:avLst/>
                  <a:gdLst/>
                  <a:ahLst/>
                  <a:cxnLst/>
                  <a:rect l="l" t="t" r="r" b="b"/>
                  <a:pathLst>
                    <a:path w="142875" h="214312">
                      <a:moveTo>
                        <a:pt x="0" y="23812"/>
                      </a:moveTo>
                      <a:cubicBezTo>
                        <a:pt x="0" y="10661"/>
                        <a:pt x="10661" y="0"/>
                        <a:pt x="23812" y="0"/>
                      </a:cubicBezTo>
                      <a:lnTo>
                        <a:pt x="119062" y="0"/>
                      </a:lnTo>
                      <a:cubicBezTo>
                        <a:pt x="132214" y="0"/>
                        <a:pt x="142875" y="10661"/>
                        <a:pt x="142875" y="23812"/>
                      </a:cubicBezTo>
                      <a:lnTo>
                        <a:pt x="142875" y="190500"/>
                      </a:lnTo>
                      <a:cubicBezTo>
                        <a:pt x="142875" y="203651"/>
                        <a:pt x="132214" y="214312"/>
                        <a:pt x="119062" y="214312"/>
                      </a:cubicBezTo>
                      <a:lnTo>
                        <a:pt x="23812" y="214312"/>
                      </a:lnTo>
                      <a:cubicBezTo>
                        <a:pt x="10661" y="214312"/>
                        <a:pt x="0" y="203651"/>
                        <a:pt x="0" y="190500"/>
                      </a:cubicBezTo>
                      <a:lnTo>
                        <a:pt x="0" y="23812"/>
                      </a:lnTo>
                    </a:path>
                  </a:pathLst>
                </a:custGeom>
                <a:noFill/>
                <a:ln w="17859">
                  <a:solidFill>
                    <a:srgbClr val="8A1700"/>
                  </a:solidFill>
                </a:ln>
              </p:spPr>
            </p:sp>
            <p:sp>
              <p:nvSpPr>
                <p:cNvPr id="221" name="Freeform 221"/>
                <p:cNvSpPr/>
                <p:nvPr/>
              </p:nvSpPr>
              <p:spPr>
                <a:xfrm>
                  <a:off x="1845469" y="5248275"/>
                  <a:ext cx="23812" cy="9525"/>
                </a:xfrm>
                <a:custGeom>
                  <a:avLst/>
                  <a:gdLst/>
                  <a:ahLst/>
                  <a:cxnLst/>
                  <a:rect l="l" t="t" r="r" b="b"/>
                  <a:pathLst>
                    <a:path w="23812" h="9525">
                      <a:moveTo>
                        <a:pt x="0" y="0"/>
                      </a:moveTo>
                      <a:lnTo>
                        <a:pt x="23812" y="0"/>
                      </a:lnTo>
                    </a:path>
                  </a:pathLst>
                </a:custGeom>
                <a:noFill/>
                <a:ln w="17859">
                  <a:solidFill>
                    <a:srgbClr val="8A1700"/>
                  </a:solidFill>
                </a:ln>
              </p:spPr>
            </p:sp>
            <p:sp>
              <p:nvSpPr>
                <p:cNvPr id="222" name="Freeform 222"/>
                <p:cNvSpPr/>
                <p:nvPr/>
              </p:nvSpPr>
              <p:spPr>
                <a:xfrm>
                  <a:off x="1857375" y="5403056"/>
                  <a:ext cx="9525" cy="9525"/>
                </a:xfrm>
                <a:custGeom>
                  <a:avLst/>
                  <a:gdLst/>
                  <a:ahLst/>
                  <a:cxnLst/>
                  <a:rect l="l" t="t" r="r" b="b"/>
                  <a:pathLst>
                    <a:path w="9525" h="9525">
                      <a:moveTo>
                        <a:pt x="0" y="0"/>
                      </a:moveTo>
                      <a:lnTo>
                        <a:pt x="0" y="119"/>
                      </a:lnTo>
                    </a:path>
                  </a:pathLst>
                </a:custGeom>
                <a:noFill/>
                <a:ln w="17859">
                  <a:solidFill>
                    <a:srgbClr val="8A1700"/>
                  </a:solidFill>
                </a:ln>
              </p:spPr>
            </p:sp>
          </p:grpSp>
          <p:sp>
            <p:nvSpPr>
              <p:cNvPr id="224" name="TextBox 224"/>
              <p:cNvSpPr txBox="1"/>
              <p:nvPr/>
            </p:nvSpPr>
            <p:spPr>
              <a:xfrm>
                <a:off x="166952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渠道系统</a:t>
                </a:r>
              </a:p>
            </p:txBody>
          </p:sp>
          <p:grpSp>
            <p:nvGrpSpPr>
              <p:cNvPr id="228" name="Group 228"/>
              <p:cNvGrpSpPr/>
              <p:nvPr/>
            </p:nvGrpSpPr>
            <p:grpSpPr>
              <a:xfrm>
                <a:off x="2333623" y="5242458"/>
                <a:ext cx="196302" cy="202110"/>
                <a:chOff x="2333623" y="5242458"/>
                <a:chExt cx="196302" cy="202110"/>
              </a:xfrm>
            </p:grpSpPr>
            <p:sp>
              <p:nvSpPr>
                <p:cNvPr id="225" name="Freeform 225"/>
                <p:cNvSpPr/>
                <p:nvPr/>
              </p:nvSpPr>
              <p:spPr>
                <a:xfrm>
                  <a:off x="2393156" y="5307806"/>
                  <a:ext cx="71438" cy="71438"/>
                </a:xfrm>
                <a:custGeom>
                  <a:avLst/>
                  <a:gdLst/>
                  <a:ahLst/>
                  <a:cxnLst/>
                  <a:rect l="l" t="t" r="r" b="b"/>
                  <a:pathLst>
                    <a:path w="71438" h="71438">
                      <a:moveTo>
                        <a:pt x="0" y="71438"/>
                      </a:moveTo>
                      <a:lnTo>
                        <a:pt x="71438" y="0"/>
                      </a:lnTo>
                    </a:path>
                  </a:pathLst>
                </a:custGeom>
                <a:noFill/>
                <a:ln w="17859">
                  <a:solidFill>
                    <a:srgbClr val="8A1700"/>
                  </a:solidFill>
                </a:ln>
              </p:spPr>
            </p:sp>
            <p:sp>
              <p:nvSpPr>
                <p:cNvPr id="226" name="Freeform 226"/>
                <p:cNvSpPr/>
                <p:nvPr/>
              </p:nvSpPr>
              <p:spPr>
                <a:xfrm>
                  <a:off x="2416969" y="5242458"/>
                  <a:ext cx="112956" cy="112974"/>
                </a:xfrm>
                <a:custGeom>
                  <a:avLst/>
                  <a:gdLst/>
                  <a:ahLst/>
                  <a:cxnLst/>
                  <a:rect l="l" t="t" r="r" b="b"/>
                  <a:pathLst>
                    <a:path w="112956" h="112974">
                      <a:moveTo>
                        <a:pt x="0" y="29630"/>
                      </a:moveTo>
                      <a:lnTo>
                        <a:pt x="5513" y="23248"/>
                      </a:lnTo>
                      <a:cubicBezTo>
                        <a:pt x="28764" y="0"/>
                        <a:pt x="66459" y="3"/>
                        <a:pt x="89708" y="23254"/>
                      </a:cubicBezTo>
                      <a:cubicBezTo>
                        <a:pt x="112956" y="46506"/>
                        <a:pt x="112953" y="84201"/>
                        <a:pt x="89702" y="107449"/>
                      </a:cubicBezTo>
                      <a:lnTo>
                        <a:pt x="83344" y="112974"/>
                      </a:lnTo>
                    </a:path>
                  </a:pathLst>
                </a:custGeom>
                <a:noFill/>
                <a:ln w="17859">
                  <a:solidFill>
                    <a:srgbClr val="8A1700"/>
                  </a:solidFill>
                </a:ln>
              </p:spPr>
            </p:sp>
            <p:sp>
              <p:nvSpPr>
                <p:cNvPr id="227" name="Freeform 227"/>
                <p:cNvSpPr/>
                <p:nvPr/>
              </p:nvSpPr>
              <p:spPr>
                <a:xfrm>
                  <a:off x="2333623" y="5331619"/>
                  <a:ext cx="107158" cy="112949"/>
                </a:xfrm>
                <a:custGeom>
                  <a:avLst/>
                  <a:gdLst/>
                  <a:ahLst/>
                  <a:cxnLst/>
                  <a:rect l="l" t="t" r="r" b="b"/>
                  <a:pathLst>
                    <a:path w="107158" h="112949">
                      <a:moveTo>
                        <a:pt x="107158" y="83344"/>
                      </a:moveTo>
                      <a:lnTo>
                        <a:pt x="102431" y="89702"/>
                      </a:lnTo>
                      <a:cubicBezTo>
                        <a:pt x="78922" y="112949"/>
                        <a:pt x="41084" y="112949"/>
                        <a:pt x="17575" y="89702"/>
                      </a:cubicBezTo>
                      <a:cubicBezTo>
                        <a:pt x="6329" y="78581"/>
                        <a:pt x="0" y="63423"/>
                        <a:pt x="0" y="47607"/>
                      </a:cubicBezTo>
                      <a:cubicBezTo>
                        <a:pt x="0" y="31791"/>
                        <a:pt x="6329" y="16633"/>
                        <a:pt x="17575" y="5513"/>
                      </a:cubicBezTo>
                      <a:lnTo>
                        <a:pt x="23814" y="0"/>
                      </a:lnTo>
                    </a:path>
                  </a:pathLst>
                </a:custGeom>
                <a:noFill/>
                <a:ln w="17859">
                  <a:solidFill>
                    <a:srgbClr val="8A1700"/>
                  </a:solidFill>
                </a:ln>
              </p:spPr>
            </p:sp>
          </p:grpSp>
          <p:sp>
            <p:nvSpPr>
              <p:cNvPr id="229" name="TextBox 229"/>
              <p:cNvSpPr txBox="1"/>
              <p:nvPr/>
            </p:nvSpPr>
            <p:spPr>
              <a:xfrm>
                <a:off x="224102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外部数据</a:t>
                </a:r>
              </a:p>
            </p:txBody>
          </p:sp>
          <p:sp>
            <p:nvSpPr>
              <p:cNvPr id="230" name="TextBox 230"/>
              <p:cNvSpPr txBox="1"/>
              <p:nvPr/>
            </p:nvSpPr>
            <p:spPr>
              <a:xfrm>
                <a:off x="2757488" y="5310188"/>
                <a:ext cx="65056" cy="147638"/>
              </a:xfrm>
              <a:prstGeom prst="rect">
                <a:avLst/>
              </a:prstGeom>
              <a:noFill/>
              <a:ln>
                <a:noFill/>
              </a:ln>
            </p:spPr>
            <p:txBody>
              <a:bodyPr wrap="none" lIns="0" tIns="0" rIns="0" bIns="0" anchor="t" anchorCtr="0">
                <a:spAutoFit/>
              </a:bodyPr>
              <a:lstStyle/>
              <a:p>
                <a:pPr algn="l"/>
                <a:r>
                  <a:rPr lang="zh-CN" sz="750" dirty="0">
                    <a:solidFill>
                      <a:srgbClr val="6B7280"/>
                    </a:solidFill>
                    <a:latin typeface="+mn-lt"/>
                    <a:ea typeface="+mn-ea"/>
                    <a:cs typeface="+mn-cs"/>
                  </a:rPr>
                  <a:t>…</a:t>
                </a:r>
              </a:p>
            </p:txBody>
          </p:sp>
        </p:grpSp>
        <p:grpSp>
          <p:nvGrpSpPr>
            <p:cNvPr id="257" name="step-2-body"/>
            <p:cNvGrpSpPr/>
            <p:nvPr/>
          </p:nvGrpSpPr>
          <p:grpSpPr>
            <a:xfrm>
              <a:off x="3364979" y="4921091"/>
              <a:ext cx="2433091" cy="816293"/>
              <a:chOff x="3364979" y="4921091"/>
              <a:chExt cx="2433091" cy="816293"/>
            </a:xfrm>
          </p:grpSpPr>
          <p:sp>
            <p:nvSpPr>
              <p:cNvPr id="232" name="TextBox 232"/>
              <p:cNvSpPr txBox="1"/>
              <p:nvPr/>
            </p:nvSpPr>
            <p:spPr>
              <a:xfrm>
                <a:off x="3636505" y="4921091"/>
                <a:ext cx="1775739"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清洗、关联、计算，产出高质量标签</a:t>
                </a:r>
              </a:p>
            </p:txBody>
          </p:sp>
          <p:sp>
            <p:nvSpPr>
              <p:cNvPr id="233" name="Freeform 233"/>
              <p:cNvSpPr/>
              <p:nvPr/>
            </p:nvSpPr>
            <p:spPr>
              <a:xfrm>
                <a:off x="3457575" y="5248275"/>
                <a:ext cx="190500" cy="202406"/>
              </a:xfrm>
              <a:custGeom>
                <a:avLst/>
                <a:gdLst/>
                <a:ahLst/>
                <a:cxnLst/>
                <a:rect l="l" t="t" r="r" b="b"/>
                <a:pathLst>
                  <a:path w="190500" h="202406">
                    <a:moveTo>
                      <a:pt x="0" y="0"/>
                    </a:moveTo>
                    <a:lnTo>
                      <a:pt x="190500" y="0"/>
                    </a:lnTo>
                    <a:lnTo>
                      <a:pt x="190500" y="25860"/>
                    </a:lnTo>
                    <a:cubicBezTo>
                      <a:pt x="190499" y="32175"/>
                      <a:pt x="187989" y="38231"/>
                      <a:pt x="183523" y="42696"/>
                    </a:cubicBezTo>
                    <a:lnTo>
                      <a:pt x="130969" y="95250"/>
                    </a:lnTo>
                    <a:lnTo>
                      <a:pt x="130969" y="178594"/>
                    </a:lnTo>
                    <a:lnTo>
                      <a:pt x="59531" y="202406"/>
                    </a:lnTo>
                    <a:lnTo>
                      <a:pt x="59531" y="101203"/>
                    </a:lnTo>
                    <a:lnTo>
                      <a:pt x="6191" y="42529"/>
                    </a:lnTo>
                    <a:cubicBezTo>
                      <a:pt x="2208" y="38147"/>
                      <a:pt x="1" y="32437"/>
                      <a:pt x="0" y="26515"/>
                    </a:cubicBezTo>
                    <a:lnTo>
                      <a:pt x="0" y="0"/>
                    </a:lnTo>
                  </a:path>
                </a:pathLst>
              </a:custGeom>
              <a:noFill/>
              <a:ln w="17859">
                <a:solidFill>
                  <a:srgbClr val="8A1700"/>
                </a:solidFill>
              </a:ln>
            </p:spPr>
          </p:sp>
          <p:sp>
            <p:nvSpPr>
              <p:cNvPr id="234" name="TextBox 234"/>
              <p:cNvSpPr txBox="1"/>
              <p:nvPr/>
            </p:nvSpPr>
            <p:spPr>
              <a:xfrm>
                <a:off x="336497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数据清洗</a:t>
                </a:r>
              </a:p>
            </p:txBody>
          </p:sp>
          <p:sp>
            <p:nvSpPr>
              <p:cNvPr id="235" name="Line 235"/>
              <p:cNvSpPr/>
              <p:nvPr/>
            </p:nvSpPr>
            <p:spPr>
              <a:xfrm>
                <a:off x="3771900" y="5343525"/>
                <a:ext cx="209550" cy="1"/>
              </a:xfrm>
              <a:prstGeom prst="line">
                <a:avLst/>
              </a:prstGeom>
              <a:noFill/>
              <a:ln w="14288">
                <a:solidFill>
                  <a:srgbClr val="E84E2F"/>
                </a:solidFill>
                <a:tailEnd type="triangle" w="lg" len="lg"/>
              </a:ln>
            </p:spPr>
          </p:sp>
          <p:grpSp>
            <p:nvGrpSpPr>
              <p:cNvPr id="239" name="Group 239"/>
              <p:cNvGrpSpPr/>
              <p:nvPr/>
            </p:nvGrpSpPr>
            <p:grpSpPr>
              <a:xfrm>
                <a:off x="4143373" y="5242458"/>
                <a:ext cx="196302" cy="202110"/>
                <a:chOff x="4143373" y="5242458"/>
                <a:chExt cx="196302" cy="202110"/>
              </a:xfrm>
            </p:grpSpPr>
            <p:sp>
              <p:nvSpPr>
                <p:cNvPr id="236" name="Freeform 236"/>
                <p:cNvSpPr/>
                <p:nvPr/>
              </p:nvSpPr>
              <p:spPr>
                <a:xfrm>
                  <a:off x="4202906" y="5307806"/>
                  <a:ext cx="71438" cy="71438"/>
                </a:xfrm>
                <a:custGeom>
                  <a:avLst/>
                  <a:gdLst/>
                  <a:ahLst/>
                  <a:cxnLst/>
                  <a:rect l="l" t="t" r="r" b="b"/>
                  <a:pathLst>
                    <a:path w="71438" h="71438">
                      <a:moveTo>
                        <a:pt x="0" y="71438"/>
                      </a:moveTo>
                      <a:lnTo>
                        <a:pt x="71438" y="0"/>
                      </a:lnTo>
                    </a:path>
                  </a:pathLst>
                </a:custGeom>
                <a:noFill/>
                <a:ln w="17859">
                  <a:solidFill>
                    <a:srgbClr val="8A1700"/>
                  </a:solidFill>
                </a:ln>
              </p:spPr>
            </p:sp>
            <p:sp>
              <p:nvSpPr>
                <p:cNvPr id="237" name="Freeform 237"/>
                <p:cNvSpPr/>
                <p:nvPr/>
              </p:nvSpPr>
              <p:spPr>
                <a:xfrm>
                  <a:off x="4226719" y="5242458"/>
                  <a:ext cx="112956" cy="112974"/>
                </a:xfrm>
                <a:custGeom>
                  <a:avLst/>
                  <a:gdLst/>
                  <a:ahLst/>
                  <a:cxnLst/>
                  <a:rect l="l" t="t" r="r" b="b"/>
                  <a:pathLst>
                    <a:path w="112956" h="112974">
                      <a:moveTo>
                        <a:pt x="0" y="29630"/>
                      </a:moveTo>
                      <a:lnTo>
                        <a:pt x="5513" y="23248"/>
                      </a:lnTo>
                      <a:cubicBezTo>
                        <a:pt x="28764" y="0"/>
                        <a:pt x="66459" y="3"/>
                        <a:pt x="89708" y="23254"/>
                      </a:cubicBezTo>
                      <a:cubicBezTo>
                        <a:pt x="112956" y="46506"/>
                        <a:pt x="112953" y="84201"/>
                        <a:pt x="89702" y="107449"/>
                      </a:cubicBezTo>
                      <a:lnTo>
                        <a:pt x="83344" y="112974"/>
                      </a:lnTo>
                    </a:path>
                  </a:pathLst>
                </a:custGeom>
                <a:noFill/>
                <a:ln w="17859">
                  <a:solidFill>
                    <a:srgbClr val="8A1700"/>
                  </a:solidFill>
                </a:ln>
              </p:spPr>
            </p:sp>
            <p:sp>
              <p:nvSpPr>
                <p:cNvPr id="238" name="Freeform 238"/>
                <p:cNvSpPr/>
                <p:nvPr/>
              </p:nvSpPr>
              <p:spPr>
                <a:xfrm>
                  <a:off x="4143373" y="5331619"/>
                  <a:ext cx="107158" cy="112949"/>
                </a:xfrm>
                <a:custGeom>
                  <a:avLst/>
                  <a:gdLst/>
                  <a:ahLst/>
                  <a:cxnLst/>
                  <a:rect l="l" t="t" r="r" b="b"/>
                  <a:pathLst>
                    <a:path w="107158" h="112949">
                      <a:moveTo>
                        <a:pt x="107158" y="83344"/>
                      </a:moveTo>
                      <a:lnTo>
                        <a:pt x="102431" y="89702"/>
                      </a:lnTo>
                      <a:cubicBezTo>
                        <a:pt x="78922" y="112949"/>
                        <a:pt x="41084" y="112949"/>
                        <a:pt x="17575" y="89702"/>
                      </a:cubicBezTo>
                      <a:cubicBezTo>
                        <a:pt x="6329" y="78581"/>
                        <a:pt x="0" y="63423"/>
                        <a:pt x="0" y="47607"/>
                      </a:cubicBezTo>
                      <a:cubicBezTo>
                        <a:pt x="0" y="31791"/>
                        <a:pt x="6329" y="16633"/>
                        <a:pt x="17575" y="5513"/>
                      </a:cubicBezTo>
                      <a:lnTo>
                        <a:pt x="23814" y="0"/>
                      </a:lnTo>
                    </a:path>
                  </a:pathLst>
                </a:custGeom>
                <a:noFill/>
                <a:ln w="17859">
                  <a:solidFill>
                    <a:srgbClr val="8A1700"/>
                  </a:solidFill>
                </a:ln>
              </p:spPr>
            </p:sp>
          </p:grpSp>
          <p:sp>
            <p:nvSpPr>
              <p:cNvPr id="240" name="TextBox 240"/>
              <p:cNvSpPr txBox="1"/>
              <p:nvPr/>
            </p:nvSpPr>
            <p:spPr>
              <a:xfrm>
                <a:off x="405077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身份关联</a:t>
                </a:r>
              </a:p>
            </p:txBody>
          </p:sp>
          <p:sp>
            <p:nvSpPr>
              <p:cNvPr id="241" name="Line 241"/>
              <p:cNvSpPr/>
              <p:nvPr/>
            </p:nvSpPr>
            <p:spPr>
              <a:xfrm>
                <a:off x="4457700" y="5343525"/>
                <a:ext cx="209550" cy="1"/>
              </a:xfrm>
              <a:prstGeom prst="line">
                <a:avLst/>
              </a:prstGeom>
              <a:noFill/>
              <a:ln w="14288">
                <a:solidFill>
                  <a:srgbClr val="E84E2F"/>
                </a:solidFill>
                <a:tailEnd type="triangle" w="lg" len="lg"/>
              </a:ln>
            </p:spPr>
          </p:sp>
          <p:grpSp>
            <p:nvGrpSpPr>
              <p:cNvPr id="250" name="Group 250"/>
              <p:cNvGrpSpPr/>
              <p:nvPr/>
            </p:nvGrpSpPr>
            <p:grpSpPr>
              <a:xfrm>
                <a:off x="4829175" y="5236369"/>
                <a:ext cx="190500" cy="214312"/>
                <a:chOff x="4829175" y="5236369"/>
                <a:chExt cx="190500" cy="214312"/>
              </a:xfrm>
            </p:grpSpPr>
            <p:sp>
              <p:nvSpPr>
                <p:cNvPr id="242" name="Freeform 242"/>
                <p:cNvSpPr/>
                <p:nvPr/>
              </p:nvSpPr>
              <p:spPr>
                <a:xfrm>
                  <a:off x="4829175" y="5236369"/>
                  <a:ext cx="190500" cy="214312"/>
                </a:xfrm>
                <a:custGeom>
                  <a:avLst/>
                  <a:gdLst/>
                  <a:ahLst/>
                  <a:cxnLst/>
                  <a:rect l="l" t="t" r="r" b="b"/>
                  <a:pathLst>
                    <a:path w="190500" h="214312">
                      <a:moveTo>
                        <a:pt x="0" y="23812"/>
                      </a:moveTo>
                      <a:cubicBezTo>
                        <a:pt x="0" y="10661"/>
                        <a:pt x="10661" y="0"/>
                        <a:pt x="23812" y="0"/>
                      </a:cubicBezTo>
                      <a:lnTo>
                        <a:pt x="166688" y="0"/>
                      </a:lnTo>
                      <a:cubicBezTo>
                        <a:pt x="179839" y="0"/>
                        <a:pt x="190500" y="10661"/>
                        <a:pt x="190500" y="23812"/>
                      </a:cubicBezTo>
                      <a:lnTo>
                        <a:pt x="190500" y="190500"/>
                      </a:lnTo>
                      <a:cubicBezTo>
                        <a:pt x="190500" y="203651"/>
                        <a:pt x="179839" y="214312"/>
                        <a:pt x="166688" y="214312"/>
                      </a:cubicBezTo>
                      <a:lnTo>
                        <a:pt x="23812" y="214312"/>
                      </a:lnTo>
                      <a:cubicBezTo>
                        <a:pt x="10661" y="214312"/>
                        <a:pt x="0" y="203651"/>
                        <a:pt x="0" y="190500"/>
                      </a:cubicBezTo>
                      <a:lnTo>
                        <a:pt x="0" y="23812"/>
                      </a:lnTo>
                    </a:path>
                  </a:pathLst>
                </a:custGeom>
                <a:noFill/>
                <a:ln w="17859">
                  <a:solidFill>
                    <a:srgbClr val="8A1700"/>
                  </a:solidFill>
                </a:ln>
              </p:spPr>
            </p:sp>
            <p:sp>
              <p:nvSpPr>
                <p:cNvPr id="243" name="Freeform 243"/>
                <p:cNvSpPr/>
                <p:nvPr/>
              </p:nvSpPr>
              <p:spPr>
                <a:xfrm>
                  <a:off x="4876800" y="5283994"/>
                  <a:ext cx="95250" cy="35719"/>
                </a:xfrm>
                <a:custGeom>
                  <a:avLst/>
                  <a:gdLst/>
                  <a:ahLst/>
                  <a:cxnLst/>
                  <a:rect l="l" t="t" r="r" b="b"/>
                  <a:pathLst>
                    <a:path w="95250" h="35719">
                      <a:moveTo>
                        <a:pt x="0" y="11906"/>
                      </a:moveTo>
                      <a:cubicBezTo>
                        <a:pt x="0" y="5331"/>
                        <a:pt x="5331" y="0"/>
                        <a:pt x="11906" y="0"/>
                      </a:cubicBezTo>
                      <a:lnTo>
                        <a:pt x="83344" y="0"/>
                      </a:lnTo>
                      <a:cubicBezTo>
                        <a:pt x="89919" y="0"/>
                        <a:pt x="95250" y="5331"/>
                        <a:pt x="95250" y="11906"/>
                      </a:cubicBezTo>
                      <a:lnTo>
                        <a:pt x="95250" y="23812"/>
                      </a:lnTo>
                      <a:cubicBezTo>
                        <a:pt x="95250" y="30388"/>
                        <a:pt x="89919" y="35719"/>
                        <a:pt x="83344" y="35719"/>
                      </a:cubicBezTo>
                      <a:lnTo>
                        <a:pt x="11906" y="35719"/>
                      </a:lnTo>
                      <a:cubicBezTo>
                        <a:pt x="5331" y="35719"/>
                        <a:pt x="0" y="30388"/>
                        <a:pt x="0" y="23812"/>
                      </a:cubicBezTo>
                      <a:lnTo>
                        <a:pt x="0" y="11906"/>
                      </a:lnTo>
                    </a:path>
                  </a:pathLst>
                </a:custGeom>
                <a:noFill/>
                <a:ln w="17859">
                  <a:solidFill>
                    <a:srgbClr val="8A1700"/>
                  </a:solidFill>
                </a:ln>
              </p:spPr>
            </p:sp>
            <p:sp>
              <p:nvSpPr>
                <p:cNvPr id="244" name="Freeform 244"/>
                <p:cNvSpPr/>
                <p:nvPr/>
              </p:nvSpPr>
              <p:spPr>
                <a:xfrm>
                  <a:off x="4876800" y="5367338"/>
                  <a:ext cx="9525" cy="9525"/>
                </a:xfrm>
                <a:custGeom>
                  <a:avLst/>
                  <a:gdLst/>
                  <a:ahLst/>
                  <a:cxnLst/>
                  <a:rect l="l" t="t" r="r" b="b"/>
                  <a:pathLst>
                    <a:path w="9525" h="9525">
                      <a:moveTo>
                        <a:pt x="0" y="0"/>
                      </a:moveTo>
                      <a:lnTo>
                        <a:pt x="0" y="119"/>
                      </a:lnTo>
                    </a:path>
                  </a:pathLst>
                </a:custGeom>
                <a:noFill/>
                <a:ln w="17859">
                  <a:solidFill>
                    <a:srgbClr val="8A1700"/>
                  </a:solidFill>
                </a:ln>
              </p:spPr>
            </p:sp>
            <p:sp>
              <p:nvSpPr>
                <p:cNvPr id="245" name="Freeform 245"/>
                <p:cNvSpPr/>
                <p:nvPr/>
              </p:nvSpPr>
              <p:spPr>
                <a:xfrm>
                  <a:off x="4924425" y="5367338"/>
                  <a:ext cx="9525" cy="9525"/>
                </a:xfrm>
                <a:custGeom>
                  <a:avLst/>
                  <a:gdLst/>
                  <a:ahLst/>
                  <a:cxnLst/>
                  <a:rect l="l" t="t" r="r" b="b"/>
                  <a:pathLst>
                    <a:path w="9525" h="9525">
                      <a:moveTo>
                        <a:pt x="0" y="0"/>
                      </a:moveTo>
                      <a:lnTo>
                        <a:pt x="0" y="119"/>
                      </a:lnTo>
                    </a:path>
                  </a:pathLst>
                </a:custGeom>
                <a:noFill/>
                <a:ln w="17859">
                  <a:solidFill>
                    <a:srgbClr val="8A1700"/>
                  </a:solidFill>
                </a:ln>
              </p:spPr>
            </p:sp>
            <p:sp>
              <p:nvSpPr>
                <p:cNvPr id="246" name="Freeform 246"/>
                <p:cNvSpPr/>
                <p:nvPr/>
              </p:nvSpPr>
              <p:spPr>
                <a:xfrm>
                  <a:off x="4972050" y="5367338"/>
                  <a:ext cx="9525" cy="9525"/>
                </a:xfrm>
                <a:custGeom>
                  <a:avLst/>
                  <a:gdLst/>
                  <a:ahLst/>
                  <a:cxnLst/>
                  <a:rect l="l" t="t" r="r" b="b"/>
                  <a:pathLst>
                    <a:path w="9525" h="9525">
                      <a:moveTo>
                        <a:pt x="0" y="0"/>
                      </a:moveTo>
                      <a:lnTo>
                        <a:pt x="0" y="119"/>
                      </a:lnTo>
                    </a:path>
                  </a:pathLst>
                </a:custGeom>
                <a:noFill/>
                <a:ln w="17859">
                  <a:solidFill>
                    <a:srgbClr val="8A1700"/>
                  </a:solidFill>
                </a:ln>
              </p:spPr>
            </p:sp>
            <p:sp>
              <p:nvSpPr>
                <p:cNvPr id="247" name="Freeform 247"/>
                <p:cNvSpPr/>
                <p:nvPr/>
              </p:nvSpPr>
              <p:spPr>
                <a:xfrm>
                  <a:off x="4876800" y="5403056"/>
                  <a:ext cx="9525" cy="9525"/>
                </a:xfrm>
                <a:custGeom>
                  <a:avLst/>
                  <a:gdLst/>
                  <a:ahLst/>
                  <a:cxnLst/>
                  <a:rect l="l" t="t" r="r" b="b"/>
                  <a:pathLst>
                    <a:path w="9525" h="9525">
                      <a:moveTo>
                        <a:pt x="0" y="0"/>
                      </a:moveTo>
                      <a:lnTo>
                        <a:pt x="0" y="119"/>
                      </a:lnTo>
                    </a:path>
                  </a:pathLst>
                </a:custGeom>
                <a:noFill/>
                <a:ln w="17859">
                  <a:solidFill>
                    <a:srgbClr val="8A1700"/>
                  </a:solidFill>
                </a:ln>
              </p:spPr>
            </p:sp>
            <p:sp>
              <p:nvSpPr>
                <p:cNvPr id="248" name="Freeform 248"/>
                <p:cNvSpPr/>
                <p:nvPr/>
              </p:nvSpPr>
              <p:spPr>
                <a:xfrm>
                  <a:off x="4924425" y="5403056"/>
                  <a:ext cx="9525" cy="9525"/>
                </a:xfrm>
                <a:custGeom>
                  <a:avLst/>
                  <a:gdLst/>
                  <a:ahLst/>
                  <a:cxnLst/>
                  <a:rect l="l" t="t" r="r" b="b"/>
                  <a:pathLst>
                    <a:path w="9525" h="9525">
                      <a:moveTo>
                        <a:pt x="0" y="0"/>
                      </a:moveTo>
                      <a:lnTo>
                        <a:pt x="0" y="119"/>
                      </a:lnTo>
                    </a:path>
                  </a:pathLst>
                </a:custGeom>
                <a:noFill/>
                <a:ln w="17859">
                  <a:solidFill>
                    <a:srgbClr val="8A1700"/>
                  </a:solidFill>
                </a:ln>
              </p:spPr>
            </p:sp>
            <p:sp>
              <p:nvSpPr>
                <p:cNvPr id="249" name="Freeform 249"/>
                <p:cNvSpPr/>
                <p:nvPr/>
              </p:nvSpPr>
              <p:spPr>
                <a:xfrm>
                  <a:off x="4972050" y="5403056"/>
                  <a:ext cx="9525" cy="9525"/>
                </a:xfrm>
                <a:custGeom>
                  <a:avLst/>
                  <a:gdLst/>
                  <a:ahLst/>
                  <a:cxnLst/>
                  <a:rect l="l" t="t" r="r" b="b"/>
                  <a:pathLst>
                    <a:path w="9525" h="9525">
                      <a:moveTo>
                        <a:pt x="0" y="0"/>
                      </a:moveTo>
                      <a:lnTo>
                        <a:pt x="0" y="119"/>
                      </a:lnTo>
                    </a:path>
                  </a:pathLst>
                </a:custGeom>
                <a:noFill/>
                <a:ln w="17859">
                  <a:solidFill>
                    <a:srgbClr val="8A1700"/>
                  </a:solidFill>
                </a:ln>
              </p:spPr>
            </p:sp>
          </p:grpSp>
          <p:sp>
            <p:nvSpPr>
              <p:cNvPr id="251" name="TextBox 251"/>
              <p:cNvSpPr txBox="1"/>
              <p:nvPr/>
            </p:nvSpPr>
            <p:spPr>
              <a:xfrm>
                <a:off x="473657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特征计算</a:t>
                </a:r>
              </a:p>
            </p:txBody>
          </p:sp>
          <p:sp>
            <p:nvSpPr>
              <p:cNvPr id="252" name="Line 252"/>
              <p:cNvSpPr/>
              <p:nvPr/>
            </p:nvSpPr>
            <p:spPr>
              <a:xfrm>
                <a:off x="5143500" y="5343525"/>
                <a:ext cx="209550" cy="1"/>
              </a:xfrm>
              <a:prstGeom prst="line">
                <a:avLst/>
              </a:prstGeom>
              <a:noFill/>
              <a:ln w="14288">
                <a:solidFill>
                  <a:srgbClr val="E84E2F"/>
                </a:solidFill>
                <a:tailEnd type="triangle" w="lg" len="lg"/>
              </a:ln>
            </p:spPr>
          </p:sp>
          <p:grpSp>
            <p:nvGrpSpPr>
              <p:cNvPr id="255" name="Group 255"/>
              <p:cNvGrpSpPr/>
              <p:nvPr/>
            </p:nvGrpSpPr>
            <p:grpSpPr>
              <a:xfrm>
                <a:off x="5503069" y="5236369"/>
                <a:ext cx="217134" cy="217134"/>
                <a:chOff x="5503069" y="5236369"/>
                <a:chExt cx="217134" cy="217134"/>
              </a:xfrm>
            </p:grpSpPr>
            <p:sp>
              <p:nvSpPr>
                <p:cNvPr id="253" name="Freeform 253"/>
                <p:cNvSpPr/>
                <p:nvPr/>
              </p:nvSpPr>
              <p:spPr>
                <a:xfrm>
                  <a:off x="5544741" y="5278041"/>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rgbClr val="8A1700"/>
                  </a:solidFill>
                </a:ln>
              </p:spPr>
            </p:sp>
            <p:sp>
              <p:nvSpPr>
                <p:cNvPr id="254" name="Freeform 254"/>
                <p:cNvSpPr/>
                <p:nvPr/>
              </p:nvSpPr>
              <p:spPr>
                <a:xfrm>
                  <a:off x="5503069" y="5236369"/>
                  <a:ext cx="217134" cy="217134"/>
                </a:xfrm>
                <a:custGeom>
                  <a:avLst/>
                  <a:gdLst/>
                  <a:ahLst/>
                  <a:cxnLst/>
                  <a:rect l="l" t="t" r="r" b="b"/>
                  <a:pathLst>
                    <a:path w="217134" h="217134">
                      <a:moveTo>
                        <a:pt x="0" y="35719"/>
                      </a:moveTo>
                      <a:lnTo>
                        <a:pt x="0" y="97298"/>
                      </a:lnTo>
                      <a:cubicBezTo>
                        <a:pt x="1" y="103613"/>
                        <a:pt x="2511" y="109669"/>
                        <a:pt x="6977" y="114133"/>
                      </a:cubicBezTo>
                      <a:lnTo>
                        <a:pt x="98774" y="205931"/>
                      </a:lnTo>
                      <a:cubicBezTo>
                        <a:pt x="109980" y="217134"/>
                        <a:pt x="128145" y="217134"/>
                        <a:pt x="139351" y="205931"/>
                      </a:cubicBezTo>
                      <a:lnTo>
                        <a:pt x="205931" y="139351"/>
                      </a:lnTo>
                      <a:cubicBezTo>
                        <a:pt x="217134" y="128145"/>
                        <a:pt x="217134" y="109980"/>
                        <a:pt x="205931" y="98774"/>
                      </a:cubicBezTo>
                      <a:lnTo>
                        <a:pt x="114133" y="6977"/>
                      </a:lnTo>
                      <a:cubicBezTo>
                        <a:pt x="109669" y="2511"/>
                        <a:pt x="103613" y="1"/>
                        <a:pt x="97298" y="0"/>
                      </a:cubicBezTo>
                      <a:lnTo>
                        <a:pt x="35719" y="0"/>
                      </a:lnTo>
                      <a:cubicBezTo>
                        <a:pt x="26246" y="0"/>
                        <a:pt x="17160" y="3763"/>
                        <a:pt x="10462" y="10462"/>
                      </a:cubicBezTo>
                      <a:cubicBezTo>
                        <a:pt x="3763" y="17160"/>
                        <a:pt x="0" y="26246"/>
                        <a:pt x="0" y="35719"/>
                      </a:cubicBezTo>
                    </a:path>
                  </a:pathLst>
                </a:custGeom>
                <a:noFill/>
                <a:ln w="17859">
                  <a:solidFill>
                    <a:srgbClr val="8A1700"/>
                  </a:solidFill>
                </a:ln>
              </p:spPr>
            </p:sp>
          </p:grpSp>
          <p:sp>
            <p:nvSpPr>
              <p:cNvPr id="256" name="TextBox 256"/>
              <p:cNvSpPr txBox="1"/>
              <p:nvPr/>
            </p:nvSpPr>
            <p:spPr>
              <a:xfrm>
                <a:off x="542237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标签产出</a:t>
                </a:r>
              </a:p>
            </p:txBody>
          </p:sp>
        </p:grpSp>
        <p:grpSp>
          <p:nvGrpSpPr>
            <p:cNvPr id="278" name="step-3-body"/>
            <p:cNvGrpSpPr/>
            <p:nvPr/>
          </p:nvGrpSpPr>
          <p:grpSpPr>
            <a:xfrm>
              <a:off x="6286500" y="4921091"/>
              <a:ext cx="2162176" cy="870109"/>
              <a:chOff x="6286500" y="4921091"/>
              <a:chExt cx="2162176" cy="870109"/>
            </a:xfrm>
          </p:grpSpPr>
          <p:sp>
            <p:nvSpPr>
              <p:cNvPr id="258" name="TextBox 258"/>
              <p:cNvSpPr txBox="1"/>
              <p:nvPr/>
            </p:nvSpPr>
            <p:spPr>
              <a:xfrm>
                <a:off x="6549200" y="4921091"/>
                <a:ext cx="1665351"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基于标签组合，精准圈定目标客群</a:t>
                </a:r>
              </a:p>
            </p:txBody>
          </p:sp>
          <p:sp>
            <p:nvSpPr>
              <p:cNvPr id="259" name="Rectangle 259"/>
              <p:cNvSpPr/>
              <p:nvPr/>
            </p:nvSpPr>
            <p:spPr>
              <a:xfrm>
                <a:off x="6286500" y="5124450"/>
                <a:ext cx="1619250" cy="666750"/>
              </a:xfrm>
              <a:prstGeom prst="roundRect">
                <a:avLst>
                  <a:gd name="adj" fmla="val 5714"/>
                </a:avLst>
              </a:prstGeom>
              <a:solidFill>
                <a:srgbClr val="FFFFFF"/>
              </a:solidFill>
              <a:ln w="9525">
                <a:solidFill>
                  <a:srgbClr val="C9D5EA"/>
                </a:solidFill>
                <a:custDash>
                  <a:ds d="300000" sp="200000"/>
                </a:custDash>
              </a:ln>
            </p:spPr>
          </p:sp>
          <p:sp>
            <p:nvSpPr>
              <p:cNvPr id="260" name="TextBox 260"/>
              <p:cNvSpPr txBox="1"/>
              <p:nvPr/>
            </p:nvSpPr>
            <p:spPr>
              <a:xfrm>
                <a:off x="6832892" y="5169932"/>
                <a:ext cx="526466" cy="126206"/>
              </a:xfrm>
              <a:prstGeom prst="rect">
                <a:avLst/>
              </a:prstGeom>
              <a:noFill/>
              <a:ln>
                <a:noFill/>
              </a:ln>
            </p:spPr>
            <p:txBody>
              <a:bodyPr wrap="none" lIns="0" tIns="0" rIns="0" bIns="0" anchor="t" anchorCtr="0">
                <a:spAutoFit/>
              </a:bodyPr>
              <a:lstStyle/>
              <a:p>
                <a:pPr algn="ctr"/>
                <a:r>
                  <a:rPr lang="zh-CN" sz="640" dirty="0">
                    <a:solidFill>
                      <a:srgbClr val="6B7280"/>
                    </a:solidFill>
                    <a:latin typeface="+mn-lt"/>
                    <a:ea typeface="+mn-ea"/>
                    <a:cs typeface="+mn-cs"/>
                  </a:rPr>
                  <a:t>示例标签组合</a:t>
                </a:r>
              </a:p>
            </p:txBody>
          </p:sp>
          <p:sp>
            <p:nvSpPr>
              <p:cNvPr id="261" name="Rectangle 261"/>
              <p:cNvSpPr/>
              <p:nvPr/>
            </p:nvSpPr>
            <p:spPr>
              <a:xfrm>
                <a:off x="6362700" y="5295900"/>
                <a:ext cx="742950" cy="171450"/>
              </a:xfrm>
              <a:prstGeom prst="roundRect">
                <a:avLst>
                  <a:gd name="adj" fmla="val 16667"/>
                </a:avLst>
              </a:prstGeom>
              <a:solidFill>
                <a:srgbClr val="FDE8E8"/>
              </a:solidFill>
              <a:ln w="9525">
                <a:solidFill>
                  <a:srgbClr val="C02C0A"/>
                </a:solidFill>
              </a:ln>
            </p:spPr>
          </p:sp>
          <p:sp>
            <p:nvSpPr>
              <p:cNvPr id="262" name="TextBox 262"/>
              <p:cNvSpPr txBox="1"/>
              <p:nvPr/>
            </p:nvSpPr>
            <p:spPr>
              <a:xfrm>
                <a:off x="6399863" y="5350907"/>
                <a:ext cx="668625" cy="126206"/>
              </a:xfrm>
              <a:prstGeom prst="rect">
                <a:avLst/>
              </a:prstGeom>
              <a:noFill/>
              <a:ln>
                <a:noFill/>
              </a:ln>
            </p:spPr>
            <p:txBody>
              <a:bodyPr wrap="none" lIns="0" tIns="0" rIns="0" bIns="0" anchor="t" anchorCtr="0">
                <a:spAutoFit/>
              </a:bodyPr>
              <a:lstStyle/>
              <a:p>
                <a:pPr algn="ctr"/>
                <a:r>
                  <a:rPr lang="zh-CN" sz="640" dirty="0">
                    <a:solidFill>
                      <a:srgbClr val="C02C0A"/>
                    </a:solidFill>
                    <a:latin typeface="+mn-lt"/>
                    <a:ea typeface="+mn-ea"/>
                    <a:cs typeface="+mn-cs"/>
                  </a:rPr>
                  <a:t>近30日消费次数​</a:t>
                </a:r>
              </a:p>
            </p:txBody>
          </p:sp>
          <p:sp>
            <p:nvSpPr>
              <p:cNvPr id="263" name="TextBox 263"/>
              <p:cNvSpPr txBox="1"/>
              <p:nvPr/>
            </p:nvSpPr>
            <p:spPr>
              <a:xfrm>
                <a:off x="7158038" y="5346859"/>
                <a:ext cx="115256" cy="133350"/>
              </a:xfrm>
              <a:prstGeom prst="rect">
                <a:avLst/>
              </a:prstGeom>
              <a:noFill/>
              <a:ln>
                <a:noFill/>
              </a:ln>
            </p:spPr>
            <p:txBody>
              <a:bodyPr wrap="none" lIns="0" tIns="0" rIns="0" bIns="0" anchor="t" anchorCtr="0">
                <a:spAutoFit/>
              </a:bodyPr>
              <a:lstStyle/>
              <a:p>
                <a:pPr algn="l"/>
                <a:r>
                  <a:rPr lang="zh-CN" sz="680" b="1" dirty="0">
                    <a:solidFill>
                      <a:srgbClr val="520E00"/>
                    </a:solidFill>
                    <a:latin typeface="+mn-lt"/>
                    <a:ea typeface="+mn-ea"/>
                    <a:cs typeface="+mn-cs"/>
                  </a:rPr>
                  <a:t>+​</a:t>
                </a:r>
              </a:p>
            </p:txBody>
          </p:sp>
          <p:sp>
            <p:nvSpPr>
              <p:cNvPr id="264" name="Rectangle 264"/>
              <p:cNvSpPr/>
              <p:nvPr/>
            </p:nvSpPr>
            <p:spPr>
              <a:xfrm>
                <a:off x="7258050" y="5295900"/>
                <a:ext cx="552450" cy="171450"/>
              </a:xfrm>
              <a:prstGeom prst="roundRect">
                <a:avLst>
                  <a:gd name="adj" fmla="val 16667"/>
                </a:avLst>
              </a:prstGeom>
              <a:solidFill>
                <a:srgbClr val="FDE8E8"/>
              </a:solidFill>
              <a:ln w="9525">
                <a:solidFill>
                  <a:srgbClr val="C02C0A"/>
                </a:solidFill>
              </a:ln>
            </p:spPr>
          </p:sp>
          <p:sp>
            <p:nvSpPr>
              <p:cNvPr id="265" name="TextBox 265"/>
              <p:cNvSpPr txBox="1"/>
              <p:nvPr/>
            </p:nvSpPr>
            <p:spPr>
              <a:xfrm>
                <a:off x="7357199" y="5350907"/>
                <a:ext cx="354152" cy="126206"/>
              </a:xfrm>
              <a:prstGeom prst="rect">
                <a:avLst/>
              </a:prstGeom>
              <a:noFill/>
              <a:ln>
                <a:noFill/>
              </a:ln>
            </p:spPr>
            <p:txBody>
              <a:bodyPr wrap="none" lIns="0" tIns="0" rIns="0" bIns="0" anchor="t" anchorCtr="0">
                <a:spAutoFit/>
              </a:bodyPr>
              <a:lstStyle/>
              <a:p>
                <a:pPr algn="ctr"/>
                <a:r>
                  <a:rPr lang="zh-CN" sz="640" dirty="0">
                    <a:solidFill>
                      <a:srgbClr val="C02C0A"/>
                    </a:solidFill>
                    <a:latin typeface="+mn-lt"/>
                    <a:ea typeface="+mn-ea"/>
                    <a:cs typeface="+mn-cs"/>
                  </a:rPr>
                  <a:t>分期倾向</a:t>
                </a:r>
              </a:p>
            </p:txBody>
          </p:sp>
          <p:sp>
            <p:nvSpPr>
              <p:cNvPr id="266" name="Rectangle 266"/>
              <p:cNvSpPr/>
              <p:nvPr/>
            </p:nvSpPr>
            <p:spPr>
              <a:xfrm>
                <a:off x="6362700" y="5524500"/>
                <a:ext cx="552450" cy="171450"/>
              </a:xfrm>
              <a:prstGeom prst="roundRect">
                <a:avLst>
                  <a:gd name="adj" fmla="val 16667"/>
                </a:avLst>
              </a:prstGeom>
              <a:solidFill>
                <a:srgbClr val="FDE8E8"/>
              </a:solidFill>
              <a:ln w="9525">
                <a:solidFill>
                  <a:srgbClr val="C02C0A"/>
                </a:solidFill>
              </a:ln>
            </p:spPr>
          </p:sp>
          <p:sp>
            <p:nvSpPr>
              <p:cNvPr id="267" name="TextBox 267"/>
              <p:cNvSpPr txBox="1"/>
              <p:nvPr/>
            </p:nvSpPr>
            <p:spPr>
              <a:xfrm>
                <a:off x="6461849" y="5579507"/>
                <a:ext cx="354152" cy="126206"/>
              </a:xfrm>
              <a:prstGeom prst="rect">
                <a:avLst/>
              </a:prstGeom>
              <a:noFill/>
              <a:ln>
                <a:noFill/>
              </a:ln>
            </p:spPr>
            <p:txBody>
              <a:bodyPr wrap="none" lIns="0" tIns="0" rIns="0" bIns="0" anchor="t" anchorCtr="0">
                <a:spAutoFit/>
              </a:bodyPr>
              <a:lstStyle/>
              <a:p>
                <a:pPr algn="ctr"/>
                <a:r>
                  <a:rPr lang="zh-CN" sz="640" dirty="0">
                    <a:solidFill>
                      <a:srgbClr val="C02C0A"/>
                    </a:solidFill>
                    <a:latin typeface="+mn-lt"/>
                    <a:ea typeface="+mn-ea"/>
                    <a:cs typeface="+mn-cs"/>
                  </a:rPr>
                  <a:t>商旅偏好</a:t>
                </a:r>
              </a:p>
            </p:txBody>
          </p:sp>
          <p:sp>
            <p:nvSpPr>
              <p:cNvPr id="268" name="TextBox 268"/>
              <p:cNvSpPr txBox="1"/>
              <p:nvPr/>
            </p:nvSpPr>
            <p:spPr>
              <a:xfrm>
                <a:off x="6967538" y="5575459"/>
                <a:ext cx="115256" cy="133350"/>
              </a:xfrm>
              <a:prstGeom prst="rect">
                <a:avLst/>
              </a:prstGeom>
              <a:noFill/>
              <a:ln>
                <a:noFill/>
              </a:ln>
            </p:spPr>
            <p:txBody>
              <a:bodyPr wrap="none" lIns="0" tIns="0" rIns="0" bIns="0" anchor="t" anchorCtr="0">
                <a:spAutoFit/>
              </a:bodyPr>
              <a:lstStyle/>
              <a:p>
                <a:pPr algn="l"/>
                <a:r>
                  <a:rPr lang="zh-CN" sz="680" b="1" dirty="0">
                    <a:solidFill>
                      <a:srgbClr val="520E00"/>
                    </a:solidFill>
                    <a:latin typeface="+mn-lt"/>
                    <a:ea typeface="+mn-ea"/>
                    <a:cs typeface="+mn-cs"/>
                  </a:rPr>
                  <a:t>+​</a:t>
                </a:r>
              </a:p>
            </p:txBody>
          </p:sp>
          <p:sp>
            <p:nvSpPr>
              <p:cNvPr id="269" name="Rectangle 269"/>
              <p:cNvSpPr/>
              <p:nvPr/>
            </p:nvSpPr>
            <p:spPr>
              <a:xfrm>
                <a:off x="7067550" y="5524500"/>
                <a:ext cx="628650" cy="171450"/>
              </a:xfrm>
              <a:prstGeom prst="roundRect">
                <a:avLst>
                  <a:gd name="adj" fmla="val 16667"/>
                </a:avLst>
              </a:prstGeom>
              <a:solidFill>
                <a:srgbClr val="FDE8E8"/>
              </a:solidFill>
              <a:ln w="9525">
                <a:solidFill>
                  <a:srgbClr val="C02C0A"/>
                </a:solidFill>
              </a:ln>
            </p:spPr>
          </p:sp>
          <p:sp>
            <p:nvSpPr>
              <p:cNvPr id="270" name="TextBox 270"/>
              <p:cNvSpPr txBox="1"/>
              <p:nvPr/>
            </p:nvSpPr>
            <p:spPr>
              <a:xfrm>
                <a:off x="7161720" y="5579507"/>
                <a:ext cx="440309" cy="126206"/>
              </a:xfrm>
              <a:prstGeom prst="rect">
                <a:avLst/>
              </a:prstGeom>
              <a:noFill/>
              <a:ln>
                <a:noFill/>
              </a:ln>
            </p:spPr>
            <p:txBody>
              <a:bodyPr wrap="none" lIns="0" tIns="0" rIns="0" bIns="0" anchor="t" anchorCtr="0">
                <a:spAutoFit/>
              </a:bodyPr>
              <a:lstStyle/>
              <a:p>
                <a:pPr algn="ctr"/>
                <a:r>
                  <a:rPr lang="zh-CN" sz="640" dirty="0">
                    <a:solidFill>
                      <a:srgbClr val="C02C0A"/>
                    </a:solidFill>
                    <a:latin typeface="+mn-lt"/>
                    <a:ea typeface="+mn-ea"/>
                    <a:cs typeface="+mn-cs"/>
                  </a:rPr>
                  <a:t>权益领取率</a:t>
                </a:r>
              </a:p>
            </p:txBody>
          </p:sp>
          <p:grpSp>
            <p:nvGrpSpPr>
              <p:cNvPr id="277" name="Group 277"/>
              <p:cNvGrpSpPr/>
              <p:nvPr/>
            </p:nvGrpSpPr>
            <p:grpSpPr>
              <a:xfrm>
                <a:off x="8162925" y="5324475"/>
                <a:ext cx="285751" cy="285751"/>
                <a:chOff x="8162925" y="5324475"/>
                <a:chExt cx="285751" cy="285751"/>
              </a:xfrm>
            </p:grpSpPr>
            <p:sp>
              <p:nvSpPr>
                <p:cNvPr id="271" name="Freeform 271"/>
                <p:cNvSpPr/>
                <p:nvPr/>
              </p:nvSpPr>
              <p:spPr>
                <a:xfrm>
                  <a:off x="8274050" y="54514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8A1700"/>
                  </a:solidFill>
                </a:ln>
              </p:spPr>
            </p:sp>
            <p:sp>
              <p:nvSpPr>
                <p:cNvPr id="272" name="Freeform 272"/>
                <p:cNvSpPr/>
                <p:nvPr/>
              </p:nvSpPr>
              <p:spPr>
                <a:xfrm>
                  <a:off x="8242300" y="5562601"/>
                  <a:ext cx="127000" cy="47625"/>
                </a:xfrm>
                <a:custGeom>
                  <a:avLst/>
                  <a:gdLst/>
                  <a:ahLst/>
                  <a:cxnLst/>
                  <a:rect l="l" t="t" r="r" b="b"/>
                  <a:pathLst>
                    <a:path w="127000" h="47625">
                      <a:moveTo>
                        <a:pt x="0" y="47625"/>
                      </a:moveTo>
                      <a:lnTo>
                        <a:pt x="0" y="31750"/>
                      </a:lnTo>
                      <a:cubicBezTo>
                        <a:pt x="0" y="14215"/>
                        <a:pt x="14215" y="0"/>
                        <a:pt x="31750" y="0"/>
                      </a:cubicBezTo>
                      <a:lnTo>
                        <a:pt x="95250" y="0"/>
                      </a:lnTo>
                      <a:cubicBezTo>
                        <a:pt x="112785" y="0"/>
                        <a:pt x="127000" y="14215"/>
                        <a:pt x="127000" y="31750"/>
                      </a:cubicBezTo>
                      <a:lnTo>
                        <a:pt x="127000" y="47625"/>
                      </a:lnTo>
                    </a:path>
                  </a:pathLst>
                </a:custGeom>
                <a:noFill/>
                <a:ln w="23813">
                  <a:solidFill>
                    <a:srgbClr val="8A1700"/>
                  </a:solidFill>
                </a:ln>
              </p:spPr>
            </p:sp>
            <p:sp>
              <p:nvSpPr>
                <p:cNvPr id="273" name="Freeform 273"/>
                <p:cNvSpPr/>
                <p:nvPr/>
              </p:nvSpPr>
              <p:spPr>
                <a:xfrm>
                  <a:off x="8353425" y="53244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8A1700"/>
                  </a:solidFill>
                </a:ln>
              </p:spPr>
            </p:sp>
            <p:sp>
              <p:nvSpPr>
                <p:cNvPr id="274" name="Freeform 274"/>
                <p:cNvSpPr/>
                <p:nvPr/>
              </p:nvSpPr>
              <p:spPr>
                <a:xfrm>
                  <a:off x="8385176" y="5435600"/>
                  <a:ext cx="63500" cy="47625"/>
                </a:xfrm>
                <a:custGeom>
                  <a:avLst/>
                  <a:gdLst/>
                  <a:ahLst/>
                  <a:cxnLst/>
                  <a:rect l="l" t="t" r="r" b="b"/>
                  <a:pathLst>
                    <a:path w="63500" h="47625">
                      <a:moveTo>
                        <a:pt x="0" y="0"/>
                      </a:moveTo>
                      <a:lnTo>
                        <a:pt x="31750" y="0"/>
                      </a:lnTo>
                      <a:cubicBezTo>
                        <a:pt x="49285" y="0"/>
                        <a:pt x="63500" y="14215"/>
                        <a:pt x="63500" y="31750"/>
                      </a:cubicBezTo>
                      <a:lnTo>
                        <a:pt x="63500" y="47625"/>
                      </a:lnTo>
                    </a:path>
                  </a:pathLst>
                </a:custGeom>
                <a:noFill/>
                <a:ln w="23813">
                  <a:solidFill>
                    <a:srgbClr val="8A1700"/>
                  </a:solidFill>
                </a:ln>
              </p:spPr>
            </p:sp>
            <p:sp>
              <p:nvSpPr>
                <p:cNvPr id="275" name="Freeform 275"/>
                <p:cNvSpPr/>
                <p:nvPr/>
              </p:nvSpPr>
              <p:spPr>
                <a:xfrm>
                  <a:off x="8194675" y="53244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8A1700"/>
                  </a:solidFill>
                </a:ln>
              </p:spPr>
            </p:sp>
            <p:sp>
              <p:nvSpPr>
                <p:cNvPr id="276" name="Freeform 276"/>
                <p:cNvSpPr/>
                <p:nvPr/>
              </p:nvSpPr>
              <p:spPr>
                <a:xfrm>
                  <a:off x="8162925" y="5435600"/>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23813">
                  <a:solidFill>
                    <a:srgbClr val="8A1700"/>
                  </a:solidFill>
                </a:ln>
              </p:spPr>
            </p:sp>
          </p:grpSp>
        </p:grpSp>
        <p:grpSp>
          <p:nvGrpSpPr>
            <p:cNvPr id="302" name="step-4-body"/>
            <p:cNvGrpSpPr/>
            <p:nvPr/>
          </p:nvGrpSpPr>
          <p:grpSpPr>
            <a:xfrm>
              <a:off x="9118079" y="4921091"/>
              <a:ext cx="2261641" cy="816293"/>
              <a:chOff x="9118079" y="4921091"/>
              <a:chExt cx="2261641" cy="816293"/>
            </a:xfrm>
          </p:grpSpPr>
          <p:sp>
            <p:nvSpPr>
              <p:cNvPr id="279" name="TextBox 279"/>
              <p:cNvSpPr txBox="1"/>
              <p:nvPr/>
            </p:nvSpPr>
            <p:spPr>
              <a:xfrm>
                <a:off x="9517088" y="4921091"/>
                <a:ext cx="1444574"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匹配运营策略，驱动业务增长</a:t>
                </a:r>
              </a:p>
            </p:txBody>
          </p:sp>
          <p:grpSp>
            <p:nvGrpSpPr>
              <p:cNvPr id="283" name="Group 283"/>
              <p:cNvGrpSpPr/>
              <p:nvPr/>
            </p:nvGrpSpPr>
            <p:grpSpPr>
              <a:xfrm>
                <a:off x="9198769" y="5236369"/>
                <a:ext cx="214312" cy="214312"/>
                <a:chOff x="9198769" y="5236369"/>
                <a:chExt cx="214312" cy="214312"/>
              </a:xfrm>
            </p:grpSpPr>
            <p:sp>
              <p:nvSpPr>
                <p:cNvPr id="280" name="Freeform 280"/>
                <p:cNvSpPr/>
                <p:nvPr/>
              </p:nvSpPr>
              <p:spPr>
                <a:xfrm>
                  <a:off x="9294019" y="533161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rgbClr val="8A1700"/>
                  </a:solidFill>
                </a:ln>
              </p:spPr>
            </p:sp>
            <p:sp>
              <p:nvSpPr>
                <p:cNvPr id="281" name="Freeform 281"/>
                <p:cNvSpPr/>
                <p:nvPr/>
              </p:nvSpPr>
              <p:spPr>
                <a:xfrm>
                  <a:off x="9246394" y="5283994"/>
                  <a:ext cx="119062" cy="119062"/>
                </a:xfrm>
                <a:custGeom>
                  <a:avLst/>
                  <a:gdLst/>
                  <a:ahLst/>
                  <a:cxnLst/>
                  <a:rect l="l" t="t" r="r" b="b"/>
                  <a:pathLst>
                    <a:path w="119062" h="119062">
                      <a:moveTo>
                        <a:pt x="0" y="59531"/>
                      </a:moveTo>
                      <a:cubicBezTo>
                        <a:pt x="0" y="92409"/>
                        <a:pt x="26653" y="119062"/>
                        <a:pt x="59531" y="119062"/>
                      </a:cubicBezTo>
                      <a:cubicBezTo>
                        <a:pt x="92409" y="119062"/>
                        <a:pt x="119062" y="92409"/>
                        <a:pt x="119062" y="59531"/>
                      </a:cubicBezTo>
                      <a:cubicBezTo>
                        <a:pt x="119062" y="26653"/>
                        <a:pt x="92409" y="0"/>
                        <a:pt x="59531" y="0"/>
                      </a:cubicBezTo>
                      <a:cubicBezTo>
                        <a:pt x="26653" y="0"/>
                        <a:pt x="0" y="26653"/>
                        <a:pt x="0" y="59531"/>
                      </a:cubicBezTo>
                    </a:path>
                  </a:pathLst>
                </a:custGeom>
                <a:noFill/>
                <a:ln w="17859">
                  <a:solidFill>
                    <a:srgbClr val="8A1700"/>
                  </a:solidFill>
                </a:ln>
              </p:spPr>
            </p:sp>
            <p:sp>
              <p:nvSpPr>
                <p:cNvPr id="282" name="Freeform 282"/>
                <p:cNvSpPr/>
                <p:nvPr/>
              </p:nvSpPr>
              <p:spPr>
                <a:xfrm>
                  <a:off x="9198769" y="523636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17859">
                  <a:solidFill>
                    <a:srgbClr val="8A1700"/>
                  </a:solidFill>
                </a:ln>
              </p:spPr>
            </p:sp>
          </p:grpSp>
          <p:sp>
            <p:nvSpPr>
              <p:cNvPr id="284" name="TextBox 284"/>
              <p:cNvSpPr txBox="1"/>
              <p:nvPr/>
            </p:nvSpPr>
            <p:spPr>
              <a:xfrm>
                <a:off x="911807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精准营销</a:t>
                </a:r>
              </a:p>
            </p:txBody>
          </p:sp>
          <p:grpSp>
            <p:nvGrpSpPr>
              <p:cNvPr id="289" name="Group 289"/>
              <p:cNvGrpSpPr/>
              <p:nvPr/>
            </p:nvGrpSpPr>
            <p:grpSpPr>
              <a:xfrm>
                <a:off x="9827419" y="5235959"/>
                <a:ext cx="214312" cy="214722"/>
                <a:chOff x="9827419" y="5235959"/>
                <a:chExt cx="214312" cy="214722"/>
              </a:xfrm>
            </p:grpSpPr>
            <p:sp>
              <p:nvSpPr>
                <p:cNvPr id="285" name="Freeform 285"/>
                <p:cNvSpPr/>
                <p:nvPr/>
              </p:nvSpPr>
              <p:spPr>
                <a:xfrm>
                  <a:off x="9827419" y="5295900"/>
                  <a:ext cx="214312" cy="47625"/>
                </a:xfrm>
                <a:custGeom>
                  <a:avLst/>
                  <a:gdLst/>
                  <a:ahLst/>
                  <a:cxnLst/>
                  <a:rect l="l" t="t" r="r" b="b"/>
                  <a:pathLst>
                    <a:path w="214312" h="47625">
                      <a:moveTo>
                        <a:pt x="0" y="11906"/>
                      </a:moveTo>
                      <a:cubicBezTo>
                        <a:pt x="0" y="5331"/>
                        <a:pt x="5331" y="0"/>
                        <a:pt x="11906" y="0"/>
                      </a:cubicBezTo>
                      <a:lnTo>
                        <a:pt x="202406" y="0"/>
                      </a:lnTo>
                      <a:cubicBezTo>
                        <a:pt x="208982" y="0"/>
                        <a:pt x="214312" y="5331"/>
                        <a:pt x="214312" y="11906"/>
                      </a:cubicBezTo>
                      <a:lnTo>
                        <a:pt x="214312" y="35719"/>
                      </a:lnTo>
                      <a:cubicBezTo>
                        <a:pt x="214312" y="42294"/>
                        <a:pt x="208982" y="47625"/>
                        <a:pt x="202406" y="47625"/>
                      </a:cubicBezTo>
                      <a:lnTo>
                        <a:pt x="11906" y="47625"/>
                      </a:lnTo>
                      <a:cubicBezTo>
                        <a:pt x="5331" y="47625"/>
                        <a:pt x="0" y="42294"/>
                        <a:pt x="0" y="35719"/>
                      </a:cubicBezTo>
                      <a:lnTo>
                        <a:pt x="0" y="11906"/>
                      </a:lnTo>
                    </a:path>
                  </a:pathLst>
                </a:custGeom>
                <a:noFill/>
                <a:ln w="17859">
                  <a:solidFill>
                    <a:srgbClr val="8A1700"/>
                  </a:solidFill>
                </a:ln>
              </p:spPr>
            </p:sp>
            <p:sp>
              <p:nvSpPr>
                <p:cNvPr id="286" name="Freeform 286"/>
                <p:cNvSpPr/>
                <p:nvPr/>
              </p:nvSpPr>
              <p:spPr>
                <a:xfrm>
                  <a:off x="9934575" y="5295900"/>
                  <a:ext cx="9525" cy="154781"/>
                </a:xfrm>
                <a:custGeom>
                  <a:avLst/>
                  <a:gdLst/>
                  <a:ahLst/>
                  <a:cxnLst/>
                  <a:rect l="l" t="t" r="r" b="b"/>
                  <a:pathLst>
                    <a:path w="9525" h="154781">
                      <a:moveTo>
                        <a:pt x="0" y="0"/>
                      </a:moveTo>
                      <a:lnTo>
                        <a:pt x="0" y="154781"/>
                      </a:lnTo>
                    </a:path>
                  </a:pathLst>
                </a:custGeom>
                <a:noFill/>
                <a:ln w="17859">
                  <a:solidFill>
                    <a:srgbClr val="8A1700"/>
                  </a:solidFill>
                </a:ln>
              </p:spPr>
            </p:sp>
            <p:sp>
              <p:nvSpPr>
                <p:cNvPr id="287" name="Freeform 287"/>
                <p:cNvSpPr/>
                <p:nvPr/>
              </p:nvSpPr>
              <p:spPr>
                <a:xfrm>
                  <a:off x="9851231" y="5343525"/>
                  <a:ext cx="166688" cy="107156"/>
                </a:xfrm>
                <a:custGeom>
                  <a:avLst/>
                  <a:gdLst/>
                  <a:ahLst/>
                  <a:cxnLst/>
                  <a:rect l="l" t="t" r="r" b="b"/>
                  <a:pathLst>
                    <a:path w="166688" h="107156">
                      <a:moveTo>
                        <a:pt x="166688" y="0"/>
                      </a:moveTo>
                      <a:lnTo>
                        <a:pt x="166688" y="83344"/>
                      </a:lnTo>
                      <a:cubicBezTo>
                        <a:pt x="166688" y="96495"/>
                        <a:pt x="156026" y="107156"/>
                        <a:pt x="142875" y="107156"/>
                      </a:cubicBezTo>
                      <a:lnTo>
                        <a:pt x="23812" y="107156"/>
                      </a:lnTo>
                      <a:cubicBezTo>
                        <a:pt x="10661" y="107156"/>
                        <a:pt x="0" y="96495"/>
                        <a:pt x="0" y="83344"/>
                      </a:cubicBezTo>
                      <a:lnTo>
                        <a:pt x="0" y="0"/>
                      </a:lnTo>
                    </a:path>
                  </a:pathLst>
                </a:custGeom>
                <a:noFill/>
                <a:ln w="17859">
                  <a:solidFill>
                    <a:srgbClr val="8A1700"/>
                  </a:solidFill>
                </a:ln>
              </p:spPr>
            </p:sp>
            <p:sp>
              <p:nvSpPr>
                <p:cNvPr id="288" name="Freeform 288"/>
                <p:cNvSpPr/>
                <p:nvPr/>
              </p:nvSpPr>
              <p:spPr>
                <a:xfrm>
                  <a:off x="9851231" y="5235959"/>
                  <a:ext cx="166688" cy="59941"/>
                </a:xfrm>
                <a:custGeom>
                  <a:avLst/>
                  <a:gdLst/>
                  <a:ahLst/>
                  <a:cxnLst/>
                  <a:rect l="l" t="t" r="r" b="b"/>
                  <a:pathLst>
                    <a:path w="166688" h="59941">
                      <a:moveTo>
                        <a:pt x="29766" y="59941"/>
                      </a:moveTo>
                      <a:cubicBezTo>
                        <a:pt x="13327" y="59941"/>
                        <a:pt x="0" y="46614"/>
                        <a:pt x="0" y="30175"/>
                      </a:cubicBezTo>
                      <a:cubicBezTo>
                        <a:pt x="0" y="13736"/>
                        <a:pt x="13327" y="410"/>
                        <a:pt x="29766" y="410"/>
                      </a:cubicBezTo>
                      <a:cubicBezTo>
                        <a:pt x="53271" y="0"/>
                        <a:pt x="74530" y="23621"/>
                        <a:pt x="83344" y="59941"/>
                      </a:cubicBezTo>
                      <a:cubicBezTo>
                        <a:pt x="92158" y="23621"/>
                        <a:pt x="113416" y="0"/>
                        <a:pt x="136922" y="410"/>
                      </a:cubicBezTo>
                      <a:cubicBezTo>
                        <a:pt x="153361" y="410"/>
                        <a:pt x="166688" y="13736"/>
                        <a:pt x="166688" y="30175"/>
                      </a:cubicBezTo>
                      <a:cubicBezTo>
                        <a:pt x="166688" y="46614"/>
                        <a:pt x="153361" y="59941"/>
                        <a:pt x="136922" y="59941"/>
                      </a:cubicBezTo>
                    </a:path>
                  </a:pathLst>
                </a:custGeom>
                <a:noFill/>
                <a:ln w="17859">
                  <a:solidFill>
                    <a:srgbClr val="8A1700"/>
                  </a:solidFill>
                </a:ln>
              </p:spPr>
            </p:sp>
          </p:grpSp>
          <p:sp>
            <p:nvSpPr>
              <p:cNvPr id="290" name="TextBox 290"/>
              <p:cNvSpPr txBox="1"/>
              <p:nvPr/>
            </p:nvSpPr>
            <p:spPr>
              <a:xfrm>
                <a:off x="974672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权益推荐</a:t>
                </a:r>
              </a:p>
            </p:txBody>
          </p:sp>
          <p:grpSp>
            <p:nvGrpSpPr>
              <p:cNvPr id="296" name="Group 296"/>
              <p:cNvGrpSpPr/>
              <p:nvPr/>
            </p:nvGrpSpPr>
            <p:grpSpPr>
              <a:xfrm>
                <a:off x="10456069" y="5234773"/>
                <a:ext cx="214312" cy="215909"/>
                <a:chOff x="10456069" y="5234773"/>
                <a:chExt cx="214312" cy="215909"/>
              </a:xfrm>
            </p:grpSpPr>
            <p:sp>
              <p:nvSpPr>
                <p:cNvPr id="291" name="Freeform 291"/>
                <p:cNvSpPr/>
                <p:nvPr/>
              </p:nvSpPr>
              <p:spPr>
                <a:xfrm>
                  <a:off x="10527506" y="5331619"/>
                  <a:ext cx="142875" cy="71438"/>
                </a:xfrm>
                <a:custGeom>
                  <a:avLst/>
                  <a:gdLst/>
                  <a:ahLst/>
                  <a:cxnLst/>
                  <a:rect l="l" t="t" r="r" b="b"/>
                  <a:pathLst>
                    <a:path w="142875" h="71438">
                      <a:moveTo>
                        <a:pt x="0" y="35719"/>
                      </a:moveTo>
                      <a:cubicBezTo>
                        <a:pt x="0" y="55447"/>
                        <a:pt x="31980" y="71438"/>
                        <a:pt x="71438" y="71438"/>
                      </a:cubicBezTo>
                      <a:cubicBezTo>
                        <a:pt x="110895" y="71438"/>
                        <a:pt x="142875" y="55447"/>
                        <a:pt x="142875" y="35719"/>
                      </a:cubicBezTo>
                      <a:cubicBezTo>
                        <a:pt x="142875" y="15990"/>
                        <a:pt x="110895" y="0"/>
                        <a:pt x="71438" y="0"/>
                      </a:cubicBezTo>
                      <a:cubicBezTo>
                        <a:pt x="31980" y="0"/>
                        <a:pt x="0" y="15990"/>
                        <a:pt x="0" y="35719"/>
                      </a:cubicBezTo>
                    </a:path>
                  </a:pathLst>
                </a:custGeom>
                <a:noFill/>
                <a:ln w="17859">
                  <a:solidFill>
                    <a:srgbClr val="8A1700"/>
                  </a:solidFill>
                </a:ln>
              </p:spPr>
            </p:sp>
            <p:sp>
              <p:nvSpPr>
                <p:cNvPr id="292" name="Freeform 292"/>
                <p:cNvSpPr/>
                <p:nvPr/>
              </p:nvSpPr>
              <p:spPr>
                <a:xfrm>
                  <a:off x="10527506" y="5367338"/>
                  <a:ext cx="142875" cy="83344"/>
                </a:xfrm>
                <a:custGeom>
                  <a:avLst/>
                  <a:gdLst/>
                  <a:ahLst/>
                  <a:cxnLst/>
                  <a:rect l="l" t="t" r="r" b="b"/>
                  <a:pathLst>
                    <a:path w="142875" h="83344">
                      <a:moveTo>
                        <a:pt x="0" y="0"/>
                      </a:moveTo>
                      <a:lnTo>
                        <a:pt x="0" y="47625"/>
                      </a:lnTo>
                      <a:cubicBezTo>
                        <a:pt x="0" y="67342"/>
                        <a:pt x="31980" y="83344"/>
                        <a:pt x="71438" y="83344"/>
                      </a:cubicBezTo>
                      <a:cubicBezTo>
                        <a:pt x="110895" y="83344"/>
                        <a:pt x="142875" y="67342"/>
                        <a:pt x="142875" y="47625"/>
                      </a:cubicBezTo>
                      <a:lnTo>
                        <a:pt x="142875" y="0"/>
                      </a:lnTo>
                    </a:path>
                  </a:pathLst>
                </a:custGeom>
                <a:noFill/>
                <a:ln w="17859">
                  <a:solidFill>
                    <a:srgbClr val="8A1700"/>
                  </a:solidFill>
                </a:ln>
              </p:spPr>
            </p:sp>
            <p:sp>
              <p:nvSpPr>
                <p:cNvPr id="293" name="Freeform 293"/>
                <p:cNvSpPr/>
                <p:nvPr/>
              </p:nvSpPr>
              <p:spPr>
                <a:xfrm>
                  <a:off x="10456069" y="5234773"/>
                  <a:ext cx="142875" cy="74628"/>
                </a:xfrm>
                <a:custGeom>
                  <a:avLst/>
                  <a:gdLst/>
                  <a:ahLst/>
                  <a:cxnLst/>
                  <a:rect l="l" t="t" r="r" b="b"/>
                  <a:pathLst>
                    <a:path w="142875" h="74628">
                      <a:moveTo>
                        <a:pt x="0" y="37314"/>
                      </a:moveTo>
                      <a:cubicBezTo>
                        <a:pt x="0" y="50078"/>
                        <a:pt x="13621" y="61865"/>
                        <a:pt x="35719" y="68247"/>
                      </a:cubicBezTo>
                      <a:cubicBezTo>
                        <a:pt x="57817" y="74628"/>
                        <a:pt x="85058" y="74628"/>
                        <a:pt x="107156" y="68247"/>
                      </a:cubicBezTo>
                      <a:cubicBezTo>
                        <a:pt x="129254" y="61865"/>
                        <a:pt x="142875" y="50078"/>
                        <a:pt x="142875" y="37314"/>
                      </a:cubicBezTo>
                      <a:cubicBezTo>
                        <a:pt x="142875" y="24551"/>
                        <a:pt x="129254" y="12764"/>
                        <a:pt x="107156" y="6382"/>
                      </a:cubicBezTo>
                      <a:cubicBezTo>
                        <a:pt x="85058" y="0"/>
                        <a:pt x="57817" y="0"/>
                        <a:pt x="35719" y="6382"/>
                      </a:cubicBezTo>
                      <a:cubicBezTo>
                        <a:pt x="13621" y="12764"/>
                        <a:pt x="0" y="24551"/>
                        <a:pt x="0" y="37314"/>
                      </a:cubicBezTo>
                    </a:path>
                  </a:pathLst>
                </a:custGeom>
                <a:noFill/>
                <a:ln w="17859">
                  <a:solidFill>
                    <a:srgbClr val="8A1700"/>
                  </a:solidFill>
                </a:ln>
              </p:spPr>
            </p:sp>
            <p:sp>
              <p:nvSpPr>
                <p:cNvPr id="294" name="Freeform 294"/>
                <p:cNvSpPr/>
                <p:nvPr/>
              </p:nvSpPr>
              <p:spPr>
                <a:xfrm>
                  <a:off x="10456069" y="5272088"/>
                  <a:ext cx="23812" cy="142875"/>
                </a:xfrm>
                <a:custGeom>
                  <a:avLst/>
                  <a:gdLst/>
                  <a:ahLst/>
                  <a:cxnLst/>
                  <a:rect l="l" t="t" r="r" b="b"/>
                  <a:pathLst>
                    <a:path w="23812" h="142875">
                      <a:moveTo>
                        <a:pt x="0" y="0"/>
                      </a:moveTo>
                      <a:lnTo>
                        <a:pt x="0" y="119062"/>
                      </a:lnTo>
                      <a:cubicBezTo>
                        <a:pt x="0" y="129635"/>
                        <a:pt x="9192" y="136327"/>
                        <a:pt x="23812" y="142875"/>
                      </a:cubicBezTo>
                    </a:path>
                  </a:pathLst>
                </a:custGeom>
                <a:noFill/>
                <a:ln w="17859">
                  <a:solidFill>
                    <a:srgbClr val="8A1700"/>
                  </a:solidFill>
                </a:ln>
              </p:spPr>
            </p:sp>
            <p:sp>
              <p:nvSpPr>
                <p:cNvPr id="295" name="Freeform 295"/>
                <p:cNvSpPr/>
                <p:nvPr/>
              </p:nvSpPr>
              <p:spPr>
                <a:xfrm>
                  <a:off x="10456069" y="5331619"/>
                  <a:ext cx="23812" cy="23812"/>
                </a:xfrm>
                <a:custGeom>
                  <a:avLst/>
                  <a:gdLst/>
                  <a:ahLst/>
                  <a:cxnLst/>
                  <a:rect l="l" t="t" r="r" b="b"/>
                  <a:pathLst>
                    <a:path w="23812" h="23812">
                      <a:moveTo>
                        <a:pt x="0" y="0"/>
                      </a:moveTo>
                      <a:cubicBezTo>
                        <a:pt x="0" y="10573"/>
                        <a:pt x="9192" y="17264"/>
                        <a:pt x="23812" y="23812"/>
                      </a:cubicBezTo>
                    </a:path>
                  </a:pathLst>
                </a:custGeom>
                <a:noFill/>
                <a:ln w="17859">
                  <a:solidFill>
                    <a:srgbClr val="8A1700"/>
                  </a:solidFill>
                </a:ln>
              </p:spPr>
            </p:sp>
          </p:grpSp>
          <p:sp>
            <p:nvSpPr>
              <p:cNvPr id="297" name="TextBox 297"/>
              <p:cNvSpPr txBox="1"/>
              <p:nvPr/>
            </p:nvSpPr>
            <p:spPr>
              <a:xfrm>
                <a:off x="1037537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分期推荐</a:t>
                </a:r>
              </a:p>
            </p:txBody>
          </p:sp>
          <p:grpSp>
            <p:nvGrpSpPr>
              <p:cNvPr id="300" name="Group 300"/>
              <p:cNvGrpSpPr/>
              <p:nvPr/>
            </p:nvGrpSpPr>
            <p:grpSpPr>
              <a:xfrm>
                <a:off x="11068651" y="5236369"/>
                <a:ext cx="232508" cy="214312"/>
                <a:chOff x="11068651" y="5236369"/>
                <a:chExt cx="232508" cy="214312"/>
              </a:xfrm>
            </p:grpSpPr>
            <p:sp>
              <p:nvSpPr>
                <p:cNvPr id="298" name="Freeform 298"/>
                <p:cNvSpPr/>
                <p:nvPr/>
              </p:nvSpPr>
              <p:spPr>
                <a:xfrm>
                  <a:off x="11068651" y="52363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17859">
                  <a:solidFill>
                    <a:srgbClr val="8A1700"/>
                  </a:solidFill>
                </a:ln>
              </p:spPr>
            </p:sp>
            <p:sp>
              <p:nvSpPr>
                <p:cNvPr id="299" name="Freeform 299"/>
                <p:cNvSpPr/>
                <p:nvPr/>
              </p:nvSpPr>
              <p:spPr>
                <a:xfrm>
                  <a:off x="11227594" y="5403056"/>
                  <a:ext cx="71438" cy="47625"/>
                </a:xfrm>
                <a:custGeom>
                  <a:avLst/>
                  <a:gdLst/>
                  <a:ahLst/>
                  <a:cxnLst/>
                  <a:rect l="l" t="t" r="r" b="b"/>
                  <a:pathLst>
                    <a:path w="71438" h="47625">
                      <a:moveTo>
                        <a:pt x="0" y="23812"/>
                      </a:moveTo>
                      <a:lnTo>
                        <a:pt x="23812" y="47625"/>
                      </a:lnTo>
                      <a:lnTo>
                        <a:pt x="71438" y="0"/>
                      </a:lnTo>
                    </a:path>
                  </a:pathLst>
                </a:custGeom>
                <a:noFill/>
                <a:ln w="17859">
                  <a:solidFill>
                    <a:srgbClr val="8A1700"/>
                  </a:solidFill>
                </a:ln>
              </p:spPr>
            </p:sp>
          </p:grpSp>
          <p:sp>
            <p:nvSpPr>
              <p:cNvPr id="301" name="TextBox 301"/>
              <p:cNvSpPr txBox="1"/>
              <p:nvPr/>
            </p:nvSpPr>
            <p:spPr>
              <a:xfrm>
                <a:off x="11004029" y="5604034"/>
                <a:ext cx="375691" cy="133350"/>
              </a:xfrm>
              <a:prstGeom prst="rect">
                <a:avLst/>
              </a:prstGeom>
              <a:noFill/>
              <a:ln>
                <a:noFill/>
              </a:ln>
            </p:spPr>
            <p:txBody>
              <a:bodyPr wrap="none" lIns="0" tIns="0" rIns="0" bIns="0" anchor="t" anchorCtr="0">
                <a:spAutoFit/>
              </a:bodyPr>
              <a:lstStyle/>
              <a:p>
                <a:pPr algn="ctr"/>
                <a:r>
                  <a:rPr lang="zh-CN" sz="680" dirty="0">
                    <a:solidFill>
                      <a:srgbClr val="60403A"/>
                    </a:solidFill>
                    <a:latin typeface="+mn-lt"/>
                    <a:ea typeface="+mn-ea"/>
                    <a:cs typeface="+mn-cs"/>
                  </a:rPr>
                  <a:t>风险管理</a:t>
                </a:r>
              </a:p>
            </p:txBody>
          </p:sp>
        </p:grpSp>
      </p:grpSp>
      <p:grpSp>
        <p:nvGrpSpPr>
          <p:cNvPr id="309" name="bottom-band"/>
          <p:cNvGrpSpPr/>
          <p:nvPr/>
        </p:nvGrpSpPr>
        <p:grpSpPr>
          <a:xfrm>
            <a:off x="228600" y="6210300"/>
            <a:ext cx="11734800" cy="400050"/>
            <a:chOff x="228600" y="6210300"/>
            <a:chExt cx="11734800" cy="400050"/>
          </a:xfrm>
        </p:grpSpPr>
        <p:sp>
          <p:nvSpPr>
            <p:cNvPr id="304" name="Rectangle 304"/>
            <p:cNvSpPr/>
            <p:nvPr/>
          </p:nvSpPr>
          <p:spPr>
            <a:xfrm>
              <a:off x="228600" y="6210300"/>
              <a:ext cx="11734800" cy="400050"/>
            </a:xfrm>
            <a:prstGeom prst="roundRect">
              <a:avLst>
                <a:gd name="adj" fmla="val 14286"/>
              </a:avLst>
            </a:prstGeom>
            <a:solidFill>
              <a:srgbClr val="671200"/>
            </a:solidFill>
            <a:ln>
              <a:noFill/>
            </a:ln>
          </p:spPr>
        </p:sp>
        <p:grpSp>
          <p:nvGrpSpPr>
            <p:cNvPr id="307" name="Group 307"/>
            <p:cNvGrpSpPr/>
            <p:nvPr/>
          </p:nvGrpSpPr>
          <p:grpSpPr>
            <a:xfrm>
              <a:off x="4492471" y="6324600"/>
              <a:ext cx="186006" cy="171450"/>
              <a:chOff x="4492471" y="6324600"/>
              <a:chExt cx="186006" cy="171450"/>
            </a:xfrm>
          </p:grpSpPr>
          <p:sp>
            <p:nvSpPr>
              <p:cNvPr id="305" name="Freeform 305"/>
              <p:cNvSpPr/>
              <p:nvPr/>
            </p:nvSpPr>
            <p:spPr>
              <a:xfrm>
                <a:off x="4492471" y="6324600"/>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1"/>
                    </a:cubicBezTo>
                  </a:path>
                </a:pathLst>
              </a:custGeom>
              <a:noFill/>
              <a:ln w="19050">
                <a:solidFill>
                  <a:srgbClr val="FFFFFF"/>
                </a:solidFill>
              </a:ln>
            </p:spPr>
          </p:sp>
          <p:sp>
            <p:nvSpPr>
              <p:cNvPr id="306" name="Freeform 306"/>
              <p:cNvSpPr/>
              <p:nvPr/>
            </p:nvSpPr>
            <p:spPr>
              <a:xfrm>
                <a:off x="4619625" y="6457950"/>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308" name="TextBox 308"/>
            <p:cNvSpPr txBox="1"/>
            <p:nvPr/>
          </p:nvSpPr>
          <p:spPr>
            <a:xfrm>
              <a:off x="4812792" y="6340792"/>
              <a:ext cx="255803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统一口径、更新频率、权限边界</a:t>
              </a:r>
            </a:p>
          </p:txBody>
        </p:sp>
      </p:gr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256413" y="162401"/>
              <a:ext cx="35243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7​</a:t>
              </a:r>
            </a:p>
          </p:txBody>
        </p:sp>
        <p:sp>
          <p:nvSpPr>
            <p:cNvPr id="4" name="TextBox 4"/>
            <p:cNvSpPr txBox="1"/>
            <p:nvPr/>
          </p:nvSpPr>
          <p:spPr>
            <a:xfrm>
              <a:off x="942594" y="151448"/>
              <a:ext cx="5567172"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客户旅程：围绕关键时刻设计全生命周期触达</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64" name="stage-strip"/>
          <p:cNvGrpSpPr/>
          <p:nvPr/>
        </p:nvGrpSpPr>
        <p:grpSpPr>
          <a:xfrm>
            <a:off x="228600" y="781050"/>
            <a:ext cx="11639550" cy="821540"/>
            <a:chOff x="228600" y="781050"/>
            <a:chExt cx="11639550" cy="821540"/>
          </a:xfrm>
        </p:grpSpPr>
        <p:sp>
          <p:nvSpPr>
            <p:cNvPr id="7" name="Freeform 7"/>
            <p:cNvSpPr/>
            <p:nvPr/>
          </p:nvSpPr>
          <p:spPr>
            <a:xfrm>
              <a:off x="228600" y="781050"/>
              <a:ext cx="1581150" cy="342900"/>
            </a:xfrm>
            <a:prstGeom prst="chevron">
              <a:avLst/>
            </a:prstGeom>
            <a:solidFill>
              <a:srgbClr val="8A1700"/>
            </a:solidFill>
            <a:ln>
              <a:noFill/>
            </a:ln>
          </p:spPr>
        </p:sp>
        <p:sp>
          <p:nvSpPr>
            <p:cNvPr id="8" name="Freeform 8"/>
            <p:cNvSpPr/>
            <p:nvPr/>
          </p:nvSpPr>
          <p:spPr>
            <a:xfrm>
              <a:off x="1905000" y="781050"/>
              <a:ext cx="1581150" cy="342900"/>
            </a:xfrm>
            <a:prstGeom prst="chevron">
              <a:avLst/>
            </a:prstGeom>
            <a:solidFill>
              <a:srgbClr val="8A1700"/>
            </a:solidFill>
            <a:ln>
              <a:noFill/>
            </a:ln>
          </p:spPr>
        </p:sp>
        <p:sp>
          <p:nvSpPr>
            <p:cNvPr id="9" name="Freeform 9"/>
            <p:cNvSpPr/>
            <p:nvPr/>
          </p:nvSpPr>
          <p:spPr>
            <a:xfrm>
              <a:off x="3581400" y="781050"/>
              <a:ext cx="1581150" cy="342900"/>
            </a:xfrm>
            <a:prstGeom prst="chevron">
              <a:avLst/>
            </a:prstGeom>
            <a:solidFill>
              <a:srgbClr val="8A1700"/>
            </a:solidFill>
            <a:ln>
              <a:noFill/>
            </a:ln>
          </p:spPr>
        </p:sp>
        <p:sp>
          <p:nvSpPr>
            <p:cNvPr id="10" name="Freeform 10"/>
            <p:cNvSpPr/>
            <p:nvPr/>
          </p:nvSpPr>
          <p:spPr>
            <a:xfrm>
              <a:off x="5257800" y="781050"/>
              <a:ext cx="1581150" cy="342900"/>
            </a:xfrm>
            <a:prstGeom prst="chevron">
              <a:avLst/>
            </a:prstGeom>
            <a:solidFill>
              <a:srgbClr val="8A1700"/>
            </a:solidFill>
            <a:ln>
              <a:noFill/>
            </a:ln>
          </p:spPr>
        </p:sp>
        <p:sp>
          <p:nvSpPr>
            <p:cNvPr id="11" name="Freeform 11"/>
            <p:cNvSpPr/>
            <p:nvPr/>
          </p:nvSpPr>
          <p:spPr>
            <a:xfrm>
              <a:off x="6934200" y="781050"/>
              <a:ext cx="1581150" cy="342900"/>
            </a:xfrm>
            <a:prstGeom prst="chevron">
              <a:avLst/>
            </a:prstGeom>
            <a:solidFill>
              <a:srgbClr val="8A1700"/>
            </a:solidFill>
            <a:ln>
              <a:noFill/>
            </a:ln>
          </p:spPr>
        </p:sp>
        <p:sp>
          <p:nvSpPr>
            <p:cNvPr id="12" name="Freeform 12"/>
            <p:cNvSpPr/>
            <p:nvPr/>
          </p:nvSpPr>
          <p:spPr>
            <a:xfrm>
              <a:off x="8610600" y="781050"/>
              <a:ext cx="1581150" cy="342900"/>
            </a:xfrm>
            <a:prstGeom prst="chevron">
              <a:avLst/>
            </a:prstGeom>
            <a:solidFill>
              <a:srgbClr val="8A1700"/>
            </a:solidFill>
            <a:ln>
              <a:noFill/>
            </a:ln>
          </p:spPr>
        </p:sp>
        <p:sp>
          <p:nvSpPr>
            <p:cNvPr id="13" name="Freeform 13"/>
            <p:cNvSpPr/>
            <p:nvPr/>
          </p:nvSpPr>
          <p:spPr>
            <a:xfrm>
              <a:off x="10287000" y="781050"/>
              <a:ext cx="1581150" cy="342900"/>
            </a:xfrm>
            <a:prstGeom prst="chevron">
              <a:avLst/>
            </a:prstGeom>
            <a:solidFill>
              <a:srgbClr val="8A1700"/>
            </a:solidFill>
            <a:ln>
              <a:noFill/>
            </a:ln>
          </p:spPr>
        </p:sp>
        <p:sp>
          <p:nvSpPr>
            <p:cNvPr id="14" name="Ellipse 14"/>
            <p:cNvSpPr/>
            <p:nvPr/>
          </p:nvSpPr>
          <p:spPr>
            <a:xfrm>
              <a:off x="542925" y="866775"/>
              <a:ext cx="171450" cy="171450"/>
            </a:xfrm>
            <a:prstGeom prst="ellipse">
              <a:avLst/>
            </a:prstGeom>
            <a:solidFill>
              <a:srgbClr val="FFFFFF"/>
            </a:solidFill>
            <a:ln>
              <a:noFill/>
            </a:ln>
          </p:spPr>
        </p:sp>
        <p:sp>
          <p:nvSpPr>
            <p:cNvPr id="15" name="TextBox 15"/>
            <p:cNvSpPr txBox="1"/>
            <p:nvPr/>
          </p:nvSpPr>
          <p:spPr>
            <a:xfrm>
              <a:off x="565580" y="909638"/>
              <a:ext cx="126140" cy="147638"/>
            </a:xfrm>
            <a:prstGeom prst="rect">
              <a:avLst/>
            </a:prstGeom>
            <a:noFill/>
            <a:ln>
              <a:noFill/>
            </a:ln>
          </p:spPr>
          <p:txBody>
            <a:bodyPr wrap="none" lIns="0" tIns="0" rIns="0" bIns="0" anchor="t" anchorCtr="0">
              <a:spAutoFit/>
            </a:bodyPr>
            <a:lstStyle/>
            <a:p>
              <a:pPr algn="ctr"/>
              <a:r>
                <a:rPr lang="zh-CN" sz="750" b="1" dirty="0">
                  <a:solidFill>
                    <a:srgbClr val="8A1700"/>
                  </a:solidFill>
                  <a:latin typeface="+mn-lt"/>
                  <a:ea typeface="+mn-ea"/>
                  <a:cs typeface="+mn-cs"/>
                </a:rPr>
                <a:t>1​</a:t>
              </a:r>
            </a:p>
          </p:txBody>
        </p:sp>
        <p:sp>
          <p:nvSpPr>
            <p:cNvPr id="16" name="TextBox 16"/>
            <p:cNvSpPr txBox="1"/>
            <p:nvPr/>
          </p:nvSpPr>
          <p:spPr>
            <a:xfrm>
              <a:off x="775716" y="8867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申请获客</a:t>
              </a:r>
            </a:p>
          </p:txBody>
        </p:sp>
        <p:sp>
          <p:nvSpPr>
            <p:cNvPr id="17" name="Ellipse 17"/>
            <p:cNvSpPr/>
            <p:nvPr/>
          </p:nvSpPr>
          <p:spPr>
            <a:xfrm>
              <a:off x="2219325" y="866775"/>
              <a:ext cx="171450" cy="171450"/>
            </a:xfrm>
            <a:prstGeom prst="ellipse">
              <a:avLst/>
            </a:prstGeom>
            <a:solidFill>
              <a:srgbClr val="FFFFFF"/>
            </a:solidFill>
            <a:ln>
              <a:noFill/>
            </a:ln>
          </p:spPr>
        </p:sp>
        <p:sp>
          <p:nvSpPr>
            <p:cNvPr id="18" name="TextBox 18"/>
            <p:cNvSpPr txBox="1"/>
            <p:nvPr/>
          </p:nvSpPr>
          <p:spPr>
            <a:xfrm>
              <a:off x="2241980" y="909638"/>
              <a:ext cx="126140" cy="147638"/>
            </a:xfrm>
            <a:prstGeom prst="rect">
              <a:avLst/>
            </a:prstGeom>
            <a:noFill/>
            <a:ln>
              <a:noFill/>
            </a:ln>
          </p:spPr>
          <p:txBody>
            <a:bodyPr wrap="none" lIns="0" tIns="0" rIns="0" bIns="0" anchor="t" anchorCtr="0">
              <a:spAutoFit/>
            </a:bodyPr>
            <a:lstStyle/>
            <a:p>
              <a:pPr algn="ctr"/>
              <a:r>
                <a:rPr lang="zh-CN" sz="750" b="1" dirty="0">
                  <a:solidFill>
                    <a:srgbClr val="8A1700"/>
                  </a:solidFill>
                  <a:latin typeface="+mn-lt"/>
                  <a:ea typeface="+mn-ea"/>
                  <a:cs typeface="+mn-cs"/>
                </a:rPr>
                <a:t>2​</a:t>
              </a:r>
            </a:p>
          </p:txBody>
        </p:sp>
        <p:sp>
          <p:nvSpPr>
            <p:cNvPr id="19" name="TextBox 19"/>
            <p:cNvSpPr txBox="1"/>
            <p:nvPr/>
          </p:nvSpPr>
          <p:spPr>
            <a:xfrm>
              <a:off x="2452116" y="8867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核卡等待</a:t>
              </a:r>
            </a:p>
          </p:txBody>
        </p:sp>
        <p:sp>
          <p:nvSpPr>
            <p:cNvPr id="20" name="Ellipse 20"/>
            <p:cNvSpPr/>
            <p:nvPr/>
          </p:nvSpPr>
          <p:spPr>
            <a:xfrm>
              <a:off x="3895725" y="866775"/>
              <a:ext cx="171450" cy="171450"/>
            </a:xfrm>
            <a:prstGeom prst="ellipse">
              <a:avLst/>
            </a:prstGeom>
            <a:solidFill>
              <a:srgbClr val="FFFFFF"/>
            </a:solidFill>
            <a:ln>
              <a:noFill/>
            </a:ln>
          </p:spPr>
        </p:sp>
        <p:sp>
          <p:nvSpPr>
            <p:cNvPr id="21" name="TextBox 21"/>
            <p:cNvSpPr txBox="1"/>
            <p:nvPr/>
          </p:nvSpPr>
          <p:spPr>
            <a:xfrm>
              <a:off x="3918380" y="909638"/>
              <a:ext cx="126140" cy="147638"/>
            </a:xfrm>
            <a:prstGeom prst="rect">
              <a:avLst/>
            </a:prstGeom>
            <a:noFill/>
            <a:ln>
              <a:noFill/>
            </a:ln>
          </p:spPr>
          <p:txBody>
            <a:bodyPr wrap="none" lIns="0" tIns="0" rIns="0" bIns="0" anchor="t" anchorCtr="0">
              <a:spAutoFit/>
            </a:bodyPr>
            <a:lstStyle/>
            <a:p>
              <a:pPr algn="ctr"/>
              <a:r>
                <a:rPr lang="zh-CN" sz="750" b="1" dirty="0">
                  <a:solidFill>
                    <a:srgbClr val="8A1700"/>
                  </a:solidFill>
                  <a:latin typeface="+mn-lt"/>
                  <a:ea typeface="+mn-ea"/>
                  <a:cs typeface="+mn-cs"/>
                </a:rPr>
                <a:t>3​</a:t>
              </a:r>
            </a:p>
          </p:txBody>
        </p:sp>
        <p:sp>
          <p:nvSpPr>
            <p:cNvPr id="22" name="TextBox 22"/>
            <p:cNvSpPr txBox="1"/>
            <p:nvPr/>
          </p:nvSpPr>
          <p:spPr>
            <a:xfrm>
              <a:off x="4128516" y="8867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激活绑卡</a:t>
              </a:r>
            </a:p>
          </p:txBody>
        </p:sp>
        <p:sp>
          <p:nvSpPr>
            <p:cNvPr id="23" name="Ellipse 23"/>
            <p:cNvSpPr/>
            <p:nvPr/>
          </p:nvSpPr>
          <p:spPr>
            <a:xfrm>
              <a:off x="5572125" y="866775"/>
              <a:ext cx="171450" cy="171450"/>
            </a:xfrm>
            <a:prstGeom prst="ellipse">
              <a:avLst/>
            </a:prstGeom>
            <a:solidFill>
              <a:srgbClr val="FFFFFF"/>
            </a:solidFill>
            <a:ln>
              <a:noFill/>
            </a:ln>
          </p:spPr>
        </p:sp>
        <p:sp>
          <p:nvSpPr>
            <p:cNvPr id="24" name="TextBox 24"/>
            <p:cNvSpPr txBox="1"/>
            <p:nvPr/>
          </p:nvSpPr>
          <p:spPr>
            <a:xfrm>
              <a:off x="5594780" y="909638"/>
              <a:ext cx="126140" cy="147638"/>
            </a:xfrm>
            <a:prstGeom prst="rect">
              <a:avLst/>
            </a:prstGeom>
            <a:noFill/>
            <a:ln>
              <a:noFill/>
            </a:ln>
          </p:spPr>
          <p:txBody>
            <a:bodyPr wrap="none" lIns="0" tIns="0" rIns="0" bIns="0" anchor="t" anchorCtr="0">
              <a:spAutoFit/>
            </a:bodyPr>
            <a:lstStyle/>
            <a:p>
              <a:pPr algn="ctr"/>
              <a:r>
                <a:rPr lang="zh-CN" sz="750" b="1" dirty="0">
                  <a:solidFill>
                    <a:srgbClr val="8A1700"/>
                  </a:solidFill>
                  <a:latin typeface="+mn-lt"/>
                  <a:ea typeface="+mn-ea"/>
                  <a:cs typeface="+mn-cs"/>
                </a:rPr>
                <a:t>4​</a:t>
              </a:r>
            </a:p>
          </p:txBody>
        </p:sp>
        <p:sp>
          <p:nvSpPr>
            <p:cNvPr id="25" name="TextBox 25"/>
            <p:cNvSpPr txBox="1"/>
            <p:nvPr/>
          </p:nvSpPr>
          <p:spPr>
            <a:xfrm>
              <a:off x="5804916" y="8867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首刷培育</a:t>
              </a:r>
            </a:p>
          </p:txBody>
        </p:sp>
        <p:sp>
          <p:nvSpPr>
            <p:cNvPr id="26" name="Ellipse 26"/>
            <p:cNvSpPr/>
            <p:nvPr/>
          </p:nvSpPr>
          <p:spPr>
            <a:xfrm>
              <a:off x="7248525" y="866775"/>
              <a:ext cx="171450" cy="171450"/>
            </a:xfrm>
            <a:prstGeom prst="ellipse">
              <a:avLst/>
            </a:prstGeom>
            <a:solidFill>
              <a:srgbClr val="FFFFFF"/>
            </a:solidFill>
            <a:ln>
              <a:noFill/>
            </a:ln>
          </p:spPr>
        </p:sp>
        <p:sp>
          <p:nvSpPr>
            <p:cNvPr id="27" name="TextBox 27"/>
            <p:cNvSpPr txBox="1"/>
            <p:nvPr/>
          </p:nvSpPr>
          <p:spPr>
            <a:xfrm>
              <a:off x="7271180" y="909638"/>
              <a:ext cx="126140" cy="147638"/>
            </a:xfrm>
            <a:prstGeom prst="rect">
              <a:avLst/>
            </a:prstGeom>
            <a:noFill/>
            <a:ln>
              <a:noFill/>
            </a:ln>
          </p:spPr>
          <p:txBody>
            <a:bodyPr wrap="none" lIns="0" tIns="0" rIns="0" bIns="0" anchor="t" anchorCtr="0">
              <a:spAutoFit/>
            </a:bodyPr>
            <a:lstStyle/>
            <a:p>
              <a:pPr algn="ctr"/>
              <a:r>
                <a:rPr lang="zh-CN" sz="750" b="1" dirty="0">
                  <a:solidFill>
                    <a:srgbClr val="8A1700"/>
                  </a:solidFill>
                  <a:latin typeface="+mn-lt"/>
                  <a:ea typeface="+mn-ea"/>
                  <a:cs typeface="+mn-cs"/>
                </a:rPr>
                <a:t>5​</a:t>
              </a:r>
            </a:p>
          </p:txBody>
        </p:sp>
        <p:sp>
          <p:nvSpPr>
            <p:cNvPr id="28" name="TextBox 28"/>
            <p:cNvSpPr txBox="1"/>
            <p:nvPr/>
          </p:nvSpPr>
          <p:spPr>
            <a:xfrm>
              <a:off x="7481316" y="8867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活跃提升</a:t>
              </a:r>
            </a:p>
          </p:txBody>
        </p:sp>
        <p:sp>
          <p:nvSpPr>
            <p:cNvPr id="29" name="Ellipse 29"/>
            <p:cNvSpPr/>
            <p:nvPr/>
          </p:nvSpPr>
          <p:spPr>
            <a:xfrm>
              <a:off x="8924925" y="866775"/>
              <a:ext cx="171450" cy="171450"/>
            </a:xfrm>
            <a:prstGeom prst="ellipse">
              <a:avLst/>
            </a:prstGeom>
            <a:solidFill>
              <a:srgbClr val="FFFFFF"/>
            </a:solidFill>
            <a:ln>
              <a:noFill/>
            </a:ln>
          </p:spPr>
        </p:sp>
        <p:sp>
          <p:nvSpPr>
            <p:cNvPr id="30" name="TextBox 30"/>
            <p:cNvSpPr txBox="1"/>
            <p:nvPr/>
          </p:nvSpPr>
          <p:spPr>
            <a:xfrm>
              <a:off x="8947580" y="909638"/>
              <a:ext cx="126140" cy="147638"/>
            </a:xfrm>
            <a:prstGeom prst="rect">
              <a:avLst/>
            </a:prstGeom>
            <a:noFill/>
            <a:ln>
              <a:noFill/>
            </a:ln>
          </p:spPr>
          <p:txBody>
            <a:bodyPr wrap="none" lIns="0" tIns="0" rIns="0" bIns="0" anchor="t" anchorCtr="0">
              <a:spAutoFit/>
            </a:bodyPr>
            <a:lstStyle/>
            <a:p>
              <a:pPr algn="ctr"/>
              <a:r>
                <a:rPr lang="zh-CN" sz="750" b="1" dirty="0">
                  <a:solidFill>
                    <a:srgbClr val="8A1700"/>
                  </a:solidFill>
                  <a:latin typeface="+mn-lt"/>
                  <a:ea typeface="+mn-ea"/>
                  <a:cs typeface="+mn-cs"/>
                </a:rPr>
                <a:t>6​</a:t>
              </a:r>
            </a:p>
          </p:txBody>
        </p:sp>
        <p:sp>
          <p:nvSpPr>
            <p:cNvPr id="31" name="TextBox 31"/>
            <p:cNvSpPr txBox="1"/>
            <p:nvPr/>
          </p:nvSpPr>
          <p:spPr>
            <a:xfrm>
              <a:off x="9157716" y="8867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价值经营</a:t>
              </a:r>
            </a:p>
          </p:txBody>
        </p:sp>
        <p:sp>
          <p:nvSpPr>
            <p:cNvPr id="32" name="Ellipse 32"/>
            <p:cNvSpPr/>
            <p:nvPr/>
          </p:nvSpPr>
          <p:spPr>
            <a:xfrm>
              <a:off x="10601325" y="866775"/>
              <a:ext cx="171450" cy="171450"/>
            </a:xfrm>
            <a:prstGeom prst="ellipse">
              <a:avLst/>
            </a:prstGeom>
            <a:solidFill>
              <a:srgbClr val="FFFFFF"/>
            </a:solidFill>
            <a:ln>
              <a:noFill/>
            </a:ln>
          </p:spPr>
        </p:sp>
        <p:sp>
          <p:nvSpPr>
            <p:cNvPr id="33" name="TextBox 33"/>
            <p:cNvSpPr txBox="1"/>
            <p:nvPr/>
          </p:nvSpPr>
          <p:spPr>
            <a:xfrm>
              <a:off x="10623980" y="909638"/>
              <a:ext cx="126140" cy="147638"/>
            </a:xfrm>
            <a:prstGeom prst="rect">
              <a:avLst/>
            </a:prstGeom>
            <a:noFill/>
            <a:ln>
              <a:noFill/>
            </a:ln>
          </p:spPr>
          <p:txBody>
            <a:bodyPr wrap="none" lIns="0" tIns="0" rIns="0" bIns="0" anchor="t" anchorCtr="0">
              <a:spAutoFit/>
            </a:bodyPr>
            <a:lstStyle/>
            <a:p>
              <a:pPr algn="ctr"/>
              <a:r>
                <a:rPr lang="zh-CN" sz="750" b="1" dirty="0">
                  <a:solidFill>
                    <a:srgbClr val="8A1700"/>
                  </a:solidFill>
                  <a:latin typeface="+mn-lt"/>
                  <a:ea typeface="+mn-ea"/>
                  <a:cs typeface="+mn-cs"/>
                </a:rPr>
                <a:t>7​</a:t>
              </a:r>
            </a:p>
          </p:txBody>
        </p:sp>
        <p:sp>
          <p:nvSpPr>
            <p:cNvPr id="34" name="TextBox 34"/>
            <p:cNvSpPr txBox="1"/>
            <p:nvPr/>
          </p:nvSpPr>
          <p:spPr>
            <a:xfrm>
              <a:off x="10834116" y="8867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留存挽回</a:t>
              </a:r>
            </a:p>
          </p:txBody>
        </p:sp>
        <p:grpSp>
          <p:nvGrpSpPr>
            <p:cNvPr id="40" name="Group 40"/>
            <p:cNvGrpSpPr/>
            <p:nvPr/>
          </p:nvGrpSpPr>
          <p:grpSpPr>
            <a:xfrm>
              <a:off x="881856" y="1273969"/>
              <a:ext cx="255588" cy="328613"/>
              <a:chOff x="881856" y="1273969"/>
              <a:chExt cx="255588" cy="328613"/>
            </a:xfrm>
          </p:grpSpPr>
          <p:sp>
            <p:nvSpPr>
              <p:cNvPr id="35" name="Freeform 35"/>
              <p:cNvSpPr/>
              <p:nvPr/>
            </p:nvSpPr>
            <p:spPr>
              <a:xfrm>
                <a:off x="1046163" y="1273969"/>
                <a:ext cx="91281" cy="91281"/>
              </a:xfrm>
              <a:custGeom>
                <a:avLst/>
                <a:gdLst/>
                <a:ahLst/>
                <a:cxnLst/>
                <a:rect l="l" t="t" r="r" b="b"/>
                <a:pathLst>
                  <a:path w="91281" h="91281">
                    <a:moveTo>
                      <a:pt x="0" y="0"/>
                    </a:moveTo>
                    <a:lnTo>
                      <a:pt x="0" y="73025"/>
                    </a:lnTo>
                    <a:cubicBezTo>
                      <a:pt x="0" y="83108"/>
                      <a:pt x="8174" y="91281"/>
                      <a:pt x="18256" y="91281"/>
                    </a:cubicBezTo>
                    <a:lnTo>
                      <a:pt x="91281" y="91281"/>
                    </a:lnTo>
                  </a:path>
                </a:pathLst>
              </a:custGeom>
              <a:noFill/>
              <a:ln w="27384">
                <a:solidFill>
                  <a:srgbClr val="8A1700"/>
                </a:solidFill>
              </a:ln>
            </p:spPr>
          </p:sp>
          <p:sp>
            <p:nvSpPr>
              <p:cNvPr id="36" name="Freeform 36"/>
              <p:cNvSpPr/>
              <p:nvPr/>
            </p:nvSpPr>
            <p:spPr>
              <a:xfrm>
                <a:off x="881856" y="1273969"/>
                <a:ext cx="255588" cy="328613"/>
              </a:xfrm>
              <a:custGeom>
                <a:avLst/>
                <a:gdLst/>
                <a:ahLst/>
                <a:cxnLst/>
                <a:rect l="l" t="t" r="r" b="b"/>
                <a:pathLst>
                  <a:path w="255588" h="328613">
                    <a:moveTo>
                      <a:pt x="219075" y="328613"/>
                    </a:moveTo>
                    <a:lnTo>
                      <a:pt x="36513" y="328613"/>
                    </a:lnTo>
                    <a:cubicBezTo>
                      <a:pt x="16347" y="328613"/>
                      <a:pt x="0" y="312266"/>
                      <a:pt x="0" y="292101"/>
                    </a:cubicBezTo>
                    <a:lnTo>
                      <a:pt x="0" y="36513"/>
                    </a:lnTo>
                    <a:cubicBezTo>
                      <a:pt x="0" y="16347"/>
                      <a:pt x="16347" y="0"/>
                      <a:pt x="36513" y="0"/>
                    </a:cubicBezTo>
                    <a:lnTo>
                      <a:pt x="164307" y="0"/>
                    </a:lnTo>
                    <a:lnTo>
                      <a:pt x="255588" y="91281"/>
                    </a:lnTo>
                    <a:lnTo>
                      <a:pt x="255588" y="292101"/>
                    </a:lnTo>
                    <a:cubicBezTo>
                      <a:pt x="255588" y="312266"/>
                      <a:pt x="239241" y="328613"/>
                      <a:pt x="219075" y="328613"/>
                    </a:cubicBezTo>
                  </a:path>
                </a:pathLst>
              </a:custGeom>
              <a:noFill/>
              <a:ln w="27384">
                <a:solidFill>
                  <a:srgbClr val="8A1700"/>
                </a:solidFill>
              </a:ln>
            </p:spPr>
          </p:sp>
          <p:sp>
            <p:nvSpPr>
              <p:cNvPr id="37" name="Freeform 37"/>
              <p:cNvSpPr/>
              <p:nvPr/>
            </p:nvSpPr>
            <p:spPr>
              <a:xfrm>
                <a:off x="954882" y="1383507"/>
                <a:ext cx="18256" cy="9525"/>
              </a:xfrm>
              <a:custGeom>
                <a:avLst/>
                <a:gdLst/>
                <a:ahLst/>
                <a:cxnLst/>
                <a:rect l="l" t="t" r="r" b="b"/>
                <a:pathLst>
                  <a:path w="18256" h="9525">
                    <a:moveTo>
                      <a:pt x="0" y="0"/>
                    </a:moveTo>
                    <a:lnTo>
                      <a:pt x="18256" y="0"/>
                    </a:lnTo>
                  </a:path>
                </a:pathLst>
              </a:custGeom>
              <a:noFill/>
              <a:ln w="27384">
                <a:solidFill>
                  <a:srgbClr val="8A1700"/>
                </a:solidFill>
              </a:ln>
            </p:spPr>
          </p:sp>
          <p:sp>
            <p:nvSpPr>
              <p:cNvPr id="38" name="Freeform 38"/>
              <p:cNvSpPr/>
              <p:nvPr/>
            </p:nvSpPr>
            <p:spPr>
              <a:xfrm>
                <a:off x="954882" y="1456532"/>
                <a:ext cx="109538" cy="9525"/>
              </a:xfrm>
              <a:custGeom>
                <a:avLst/>
                <a:gdLst/>
                <a:ahLst/>
                <a:cxnLst/>
                <a:rect l="l" t="t" r="r" b="b"/>
                <a:pathLst>
                  <a:path w="109538" h="9525">
                    <a:moveTo>
                      <a:pt x="0" y="0"/>
                    </a:moveTo>
                    <a:lnTo>
                      <a:pt x="109538" y="0"/>
                    </a:lnTo>
                  </a:path>
                </a:pathLst>
              </a:custGeom>
              <a:noFill/>
              <a:ln w="27384">
                <a:solidFill>
                  <a:srgbClr val="8A1700"/>
                </a:solidFill>
              </a:ln>
            </p:spPr>
          </p:sp>
          <p:sp>
            <p:nvSpPr>
              <p:cNvPr id="39" name="Freeform 39"/>
              <p:cNvSpPr/>
              <p:nvPr/>
            </p:nvSpPr>
            <p:spPr>
              <a:xfrm>
                <a:off x="954882" y="1529557"/>
                <a:ext cx="109538" cy="9525"/>
              </a:xfrm>
              <a:custGeom>
                <a:avLst/>
                <a:gdLst/>
                <a:ahLst/>
                <a:cxnLst/>
                <a:rect l="l" t="t" r="r" b="b"/>
                <a:pathLst>
                  <a:path w="109538" h="9525">
                    <a:moveTo>
                      <a:pt x="0" y="0"/>
                    </a:moveTo>
                    <a:lnTo>
                      <a:pt x="109538" y="0"/>
                    </a:lnTo>
                  </a:path>
                </a:pathLst>
              </a:custGeom>
              <a:noFill/>
              <a:ln w="27384">
                <a:solidFill>
                  <a:srgbClr val="8A1700"/>
                </a:solidFill>
              </a:ln>
            </p:spPr>
          </p:sp>
        </p:grpSp>
        <p:grpSp>
          <p:nvGrpSpPr>
            <p:cNvPr id="43" name="Group 43"/>
            <p:cNvGrpSpPr/>
            <p:nvPr/>
          </p:nvGrpSpPr>
          <p:grpSpPr>
            <a:xfrm>
              <a:off x="2521744" y="1273969"/>
              <a:ext cx="328613" cy="328613"/>
              <a:chOff x="2521744" y="1273969"/>
              <a:chExt cx="328613" cy="328613"/>
            </a:xfrm>
          </p:grpSpPr>
          <p:sp>
            <p:nvSpPr>
              <p:cNvPr id="41" name="Freeform 41"/>
              <p:cNvSpPr/>
              <p:nvPr/>
            </p:nvSpPr>
            <p:spPr>
              <a:xfrm>
                <a:off x="2521744" y="1273969"/>
                <a:ext cx="328613" cy="328613"/>
              </a:xfrm>
              <a:custGeom>
                <a:avLst/>
                <a:gdLst/>
                <a:ahLst/>
                <a:cxnLst/>
                <a:rect l="l" t="t" r="r" b="b"/>
                <a:pathLst>
                  <a:path w="328613" h="328613">
                    <a:moveTo>
                      <a:pt x="0" y="164307"/>
                    </a:moveTo>
                    <a:cubicBezTo>
                      <a:pt x="0" y="255051"/>
                      <a:pt x="73563" y="328613"/>
                      <a:pt x="164307" y="328613"/>
                    </a:cubicBezTo>
                    <a:cubicBezTo>
                      <a:pt x="255051" y="328613"/>
                      <a:pt x="328613" y="255051"/>
                      <a:pt x="328613" y="164307"/>
                    </a:cubicBezTo>
                    <a:cubicBezTo>
                      <a:pt x="328613" y="73563"/>
                      <a:pt x="255051" y="0"/>
                      <a:pt x="164307" y="0"/>
                    </a:cubicBezTo>
                    <a:cubicBezTo>
                      <a:pt x="73563" y="0"/>
                      <a:pt x="0" y="73563"/>
                      <a:pt x="0" y="164307"/>
                    </a:cubicBezTo>
                  </a:path>
                </a:pathLst>
              </a:custGeom>
              <a:noFill/>
              <a:ln w="27384">
                <a:solidFill>
                  <a:srgbClr val="8A1700"/>
                </a:solidFill>
              </a:ln>
            </p:spPr>
          </p:sp>
          <p:sp>
            <p:nvSpPr>
              <p:cNvPr id="42" name="Freeform 42"/>
              <p:cNvSpPr/>
              <p:nvPr/>
            </p:nvSpPr>
            <p:spPr>
              <a:xfrm>
                <a:off x="2686050" y="1346994"/>
                <a:ext cx="54769" cy="146050"/>
              </a:xfrm>
              <a:custGeom>
                <a:avLst/>
                <a:gdLst/>
                <a:ahLst/>
                <a:cxnLst/>
                <a:rect l="l" t="t" r="r" b="b"/>
                <a:pathLst>
                  <a:path w="54769" h="146050">
                    <a:moveTo>
                      <a:pt x="0" y="0"/>
                    </a:moveTo>
                    <a:lnTo>
                      <a:pt x="0" y="91281"/>
                    </a:lnTo>
                    <a:lnTo>
                      <a:pt x="54769" y="146050"/>
                    </a:lnTo>
                  </a:path>
                </a:pathLst>
              </a:custGeom>
              <a:noFill/>
              <a:ln w="27384">
                <a:solidFill>
                  <a:srgbClr val="8A1700"/>
                </a:solidFill>
              </a:ln>
            </p:spPr>
          </p:sp>
        </p:grpSp>
        <p:grpSp>
          <p:nvGrpSpPr>
            <p:cNvPr id="48" name="Group 48"/>
            <p:cNvGrpSpPr/>
            <p:nvPr/>
          </p:nvGrpSpPr>
          <p:grpSpPr>
            <a:xfrm>
              <a:off x="4198144" y="1310481"/>
              <a:ext cx="328613" cy="255588"/>
              <a:chOff x="4198144" y="1310481"/>
              <a:chExt cx="328613" cy="255588"/>
            </a:xfrm>
          </p:grpSpPr>
          <p:sp>
            <p:nvSpPr>
              <p:cNvPr id="44" name="Freeform 44"/>
              <p:cNvSpPr/>
              <p:nvPr/>
            </p:nvSpPr>
            <p:spPr>
              <a:xfrm>
                <a:off x="4198144" y="1310481"/>
                <a:ext cx="328613" cy="255588"/>
              </a:xfrm>
              <a:custGeom>
                <a:avLst/>
                <a:gdLst/>
                <a:ahLst/>
                <a:cxnLst/>
                <a:rect l="l" t="t" r="r" b="b"/>
                <a:pathLst>
                  <a:path w="328613" h="255588">
                    <a:moveTo>
                      <a:pt x="0" y="54769"/>
                    </a:moveTo>
                    <a:cubicBezTo>
                      <a:pt x="0" y="24521"/>
                      <a:pt x="24521" y="0"/>
                      <a:pt x="54769" y="0"/>
                    </a:cubicBezTo>
                    <a:lnTo>
                      <a:pt x="273844" y="0"/>
                    </a:lnTo>
                    <a:cubicBezTo>
                      <a:pt x="304092" y="0"/>
                      <a:pt x="328613" y="24521"/>
                      <a:pt x="328613" y="54769"/>
                    </a:cubicBezTo>
                    <a:lnTo>
                      <a:pt x="328613" y="200819"/>
                    </a:lnTo>
                    <a:cubicBezTo>
                      <a:pt x="328613" y="231067"/>
                      <a:pt x="304092" y="255588"/>
                      <a:pt x="273844" y="255588"/>
                    </a:cubicBezTo>
                    <a:lnTo>
                      <a:pt x="54769" y="255588"/>
                    </a:lnTo>
                    <a:cubicBezTo>
                      <a:pt x="24521" y="255588"/>
                      <a:pt x="0" y="231067"/>
                      <a:pt x="0" y="200819"/>
                    </a:cubicBezTo>
                    <a:lnTo>
                      <a:pt x="0" y="54769"/>
                    </a:lnTo>
                  </a:path>
                </a:pathLst>
              </a:custGeom>
              <a:noFill/>
              <a:ln w="27384">
                <a:solidFill>
                  <a:srgbClr val="8A1700"/>
                </a:solidFill>
              </a:ln>
            </p:spPr>
          </p:sp>
          <p:sp>
            <p:nvSpPr>
              <p:cNvPr id="45" name="Freeform 45"/>
              <p:cNvSpPr/>
              <p:nvPr/>
            </p:nvSpPr>
            <p:spPr>
              <a:xfrm>
                <a:off x="4198144" y="1401763"/>
                <a:ext cx="328613" cy="9525"/>
              </a:xfrm>
              <a:custGeom>
                <a:avLst/>
                <a:gdLst/>
                <a:ahLst/>
                <a:cxnLst/>
                <a:rect l="l" t="t" r="r" b="b"/>
                <a:pathLst>
                  <a:path w="328613" h="9525">
                    <a:moveTo>
                      <a:pt x="0" y="0"/>
                    </a:moveTo>
                    <a:lnTo>
                      <a:pt x="328613" y="0"/>
                    </a:lnTo>
                  </a:path>
                </a:pathLst>
              </a:custGeom>
              <a:noFill/>
              <a:ln w="27384">
                <a:solidFill>
                  <a:srgbClr val="8A1700"/>
                </a:solidFill>
              </a:ln>
            </p:spPr>
          </p:sp>
          <p:sp>
            <p:nvSpPr>
              <p:cNvPr id="46" name="Freeform 46"/>
              <p:cNvSpPr/>
              <p:nvPr/>
            </p:nvSpPr>
            <p:spPr>
              <a:xfrm>
                <a:off x="4271169" y="1493044"/>
                <a:ext cx="9525" cy="9525"/>
              </a:xfrm>
              <a:custGeom>
                <a:avLst/>
                <a:gdLst/>
                <a:ahLst/>
                <a:cxnLst/>
                <a:rect l="l" t="t" r="r" b="b"/>
                <a:pathLst>
                  <a:path w="9525" h="9525">
                    <a:moveTo>
                      <a:pt x="0" y="0"/>
                    </a:moveTo>
                    <a:lnTo>
                      <a:pt x="183" y="0"/>
                    </a:lnTo>
                  </a:path>
                </a:pathLst>
              </a:custGeom>
              <a:noFill/>
              <a:ln w="27384">
                <a:solidFill>
                  <a:srgbClr val="8A1700"/>
                </a:solidFill>
              </a:ln>
            </p:spPr>
          </p:sp>
          <p:sp>
            <p:nvSpPr>
              <p:cNvPr id="47" name="Freeform 47"/>
              <p:cNvSpPr/>
              <p:nvPr/>
            </p:nvSpPr>
            <p:spPr>
              <a:xfrm>
                <a:off x="4344194" y="1493044"/>
                <a:ext cx="36513" cy="9525"/>
              </a:xfrm>
              <a:custGeom>
                <a:avLst/>
                <a:gdLst/>
                <a:ahLst/>
                <a:cxnLst/>
                <a:rect l="l" t="t" r="r" b="b"/>
                <a:pathLst>
                  <a:path w="36513" h="9525">
                    <a:moveTo>
                      <a:pt x="0" y="0"/>
                    </a:moveTo>
                    <a:lnTo>
                      <a:pt x="36513" y="0"/>
                    </a:lnTo>
                  </a:path>
                </a:pathLst>
              </a:custGeom>
              <a:noFill/>
              <a:ln w="27384">
                <a:solidFill>
                  <a:srgbClr val="8A1700"/>
                </a:solidFill>
              </a:ln>
            </p:spPr>
          </p:sp>
        </p:grpSp>
        <p:grpSp>
          <p:nvGrpSpPr>
            <p:cNvPr id="51" name="Group 51"/>
            <p:cNvGrpSpPr/>
            <p:nvPr/>
          </p:nvGrpSpPr>
          <p:grpSpPr>
            <a:xfrm>
              <a:off x="5897644" y="1273969"/>
              <a:ext cx="282432" cy="328621"/>
              <a:chOff x="5897644" y="1273969"/>
              <a:chExt cx="282432" cy="328621"/>
            </a:xfrm>
          </p:grpSpPr>
          <p:sp>
            <p:nvSpPr>
              <p:cNvPr id="49" name="Freeform 49"/>
              <p:cNvSpPr/>
              <p:nvPr/>
            </p:nvSpPr>
            <p:spPr>
              <a:xfrm>
                <a:off x="5897644" y="1365249"/>
                <a:ext cx="282432" cy="237341"/>
              </a:xfrm>
              <a:custGeom>
                <a:avLst/>
                <a:gdLst/>
                <a:ahLst/>
                <a:cxnLst/>
                <a:rect l="l" t="t" r="r" b="b"/>
                <a:pathLst>
                  <a:path w="282432" h="237341">
                    <a:moveTo>
                      <a:pt x="37712" y="1"/>
                    </a:moveTo>
                    <a:lnTo>
                      <a:pt x="244720" y="1"/>
                    </a:lnTo>
                    <a:cubicBezTo>
                      <a:pt x="255374" y="0"/>
                      <a:pt x="265496" y="4652"/>
                      <a:pt x="272434" y="12737"/>
                    </a:cubicBezTo>
                    <a:cubicBezTo>
                      <a:pt x="279372" y="20822"/>
                      <a:pt x="282432" y="31534"/>
                      <a:pt x="280813" y="42064"/>
                    </a:cubicBezTo>
                    <a:lnTo>
                      <a:pt x="257901" y="190889"/>
                    </a:lnTo>
                    <a:cubicBezTo>
                      <a:pt x="253791" y="217614"/>
                      <a:pt x="230792" y="237341"/>
                      <a:pt x="203753" y="237333"/>
                    </a:cubicBezTo>
                    <a:lnTo>
                      <a:pt x="78661" y="237333"/>
                    </a:lnTo>
                    <a:cubicBezTo>
                      <a:pt x="51628" y="237332"/>
                      <a:pt x="28640" y="217607"/>
                      <a:pt x="24531" y="190889"/>
                    </a:cubicBezTo>
                    <a:lnTo>
                      <a:pt x="1619" y="42064"/>
                    </a:lnTo>
                    <a:cubicBezTo>
                      <a:pt x="0" y="31534"/>
                      <a:pt x="3060" y="20822"/>
                      <a:pt x="9998" y="12737"/>
                    </a:cubicBezTo>
                    <a:cubicBezTo>
                      <a:pt x="16936" y="4652"/>
                      <a:pt x="27058" y="0"/>
                      <a:pt x="37712" y="1"/>
                    </a:cubicBezTo>
                  </a:path>
                </a:pathLst>
              </a:custGeom>
              <a:noFill/>
              <a:ln w="27384">
                <a:solidFill>
                  <a:srgbClr val="8A1700"/>
                </a:solidFill>
              </a:ln>
            </p:spPr>
          </p:sp>
          <p:sp>
            <p:nvSpPr>
              <p:cNvPr id="50" name="Freeform 50"/>
              <p:cNvSpPr/>
              <p:nvPr/>
            </p:nvSpPr>
            <p:spPr>
              <a:xfrm>
                <a:off x="5984082" y="1273969"/>
                <a:ext cx="109538" cy="146050"/>
              </a:xfrm>
              <a:custGeom>
                <a:avLst/>
                <a:gdLst/>
                <a:ahLst/>
                <a:cxnLst/>
                <a:rect l="l" t="t" r="r" b="b"/>
                <a:pathLst>
                  <a:path w="109538" h="146050">
                    <a:moveTo>
                      <a:pt x="0" y="146050"/>
                    </a:moveTo>
                    <a:lnTo>
                      <a:pt x="0" y="54769"/>
                    </a:lnTo>
                    <a:cubicBezTo>
                      <a:pt x="0" y="24521"/>
                      <a:pt x="24521" y="0"/>
                      <a:pt x="54769" y="0"/>
                    </a:cubicBezTo>
                    <a:cubicBezTo>
                      <a:pt x="85017" y="0"/>
                      <a:pt x="109538" y="24521"/>
                      <a:pt x="109538" y="54769"/>
                    </a:cubicBezTo>
                    <a:lnTo>
                      <a:pt x="109538" y="146050"/>
                    </a:lnTo>
                  </a:path>
                </a:pathLst>
              </a:custGeom>
              <a:noFill/>
              <a:ln w="27384">
                <a:solidFill>
                  <a:srgbClr val="8A1700"/>
                </a:solidFill>
              </a:ln>
            </p:spPr>
          </p:sp>
        </p:grpSp>
        <p:grpSp>
          <p:nvGrpSpPr>
            <p:cNvPr id="56" name="Group 56"/>
            <p:cNvGrpSpPr/>
            <p:nvPr/>
          </p:nvGrpSpPr>
          <p:grpSpPr>
            <a:xfrm>
              <a:off x="7550944" y="1292225"/>
              <a:ext cx="328613" cy="301626"/>
              <a:chOff x="7550944" y="1292225"/>
              <a:chExt cx="328613" cy="301626"/>
            </a:xfrm>
          </p:grpSpPr>
          <p:sp>
            <p:nvSpPr>
              <p:cNvPr id="52" name="Freeform 52"/>
              <p:cNvSpPr/>
              <p:nvPr/>
            </p:nvSpPr>
            <p:spPr>
              <a:xfrm>
                <a:off x="7550944" y="1438275"/>
                <a:ext cx="109538" cy="146050"/>
              </a:xfrm>
              <a:custGeom>
                <a:avLst/>
                <a:gdLst/>
                <a:ahLst/>
                <a:cxnLst/>
                <a:rect l="l" t="t" r="r" b="b"/>
                <a:pathLst>
                  <a:path w="109538" h="146050">
                    <a:moveTo>
                      <a:pt x="0" y="18256"/>
                    </a:moveTo>
                    <a:cubicBezTo>
                      <a:pt x="0" y="8174"/>
                      <a:pt x="8174" y="0"/>
                      <a:pt x="18256" y="0"/>
                    </a:cubicBezTo>
                    <a:lnTo>
                      <a:pt x="91281" y="0"/>
                    </a:lnTo>
                    <a:cubicBezTo>
                      <a:pt x="101364" y="0"/>
                      <a:pt x="109538" y="8174"/>
                      <a:pt x="109538" y="18256"/>
                    </a:cubicBezTo>
                    <a:lnTo>
                      <a:pt x="109538" y="127794"/>
                    </a:lnTo>
                    <a:cubicBezTo>
                      <a:pt x="109538" y="137877"/>
                      <a:pt x="101364" y="146050"/>
                      <a:pt x="91281" y="146050"/>
                    </a:cubicBezTo>
                    <a:lnTo>
                      <a:pt x="18256" y="146050"/>
                    </a:lnTo>
                    <a:cubicBezTo>
                      <a:pt x="8174" y="146050"/>
                      <a:pt x="0" y="137877"/>
                      <a:pt x="0" y="127794"/>
                    </a:cubicBezTo>
                    <a:lnTo>
                      <a:pt x="0" y="18256"/>
                    </a:lnTo>
                  </a:path>
                </a:pathLst>
              </a:custGeom>
              <a:noFill/>
              <a:ln w="27384">
                <a:solidFill>
                  <a:srgbClr val="8A1700"/>
                </a:solidFill>
              </a:ln>
            </p:spPr>
          </p:sp>
          <p:sp>
            <p:nvSpPr>
              <p:cNvPr id="53" name="Freeform 53"/>
              <p:cNvSpPr/>
              <p:nvPr/>
            </p:nvSpPr>
            <p:spPr>
              <a:xfrm>
                <a:off x="7770019" y="1365250"/>
                <a:ext cx="109538" cy="219075"/>
              </a:xfrm>
              <a:custGeom>
                <a:avLst/>
                <a:gdLst/>
                <a:ahLst/>
                <a:cxnLst/>
                <a:rect l="l" t="t" r="r" b="b"/>
                <a:pathLst>
                  <a:path w="109538" h="219075">
                    <a:moveTo>
                      <a:pt x="0" y="18256"/>
                    </a:moveTo>
                    <a:cubicBezTo>
                      <a:pt x="0" y="8174"/>
                      <a:pt x="8174" y="0"/>
                      <a:pt x="18256" y="0"/>
                    </a:cubicBezTo>
                    <a:lnTo>
                      <a:pt x="91281" y="0"/>
                    </a:lnTo>
                    <a:cubicBezTo>
                      <a:pt x="101364" y="0"/>
                      <a:pt x="109538" y="8174"/>
                      <a:pt x="109538" y="18256"/>
                    </a:cubicBezTo>
                    <a:lnTo>
                      <a:pt x="109538" y="200819"/>
                    </a:lnTo>
                    <a:cubicBezTo>
                      <a:pt x="109538" y="210902"/>
                      <a:pt x="101364" y="219075"/>
                      <a:pt x="91281" y="219075"/>
                    </a:cubicBezTo>
                    <a:lnTo>
                      <a:pt x="18256" y="219075"/>
                    </a:lnTo>
                    <a:cubicBezTo>
                      <a:pt x="8174" y="219075"/>
                      <a:pt x="0" y="210902"/>
                      <a:pt x="0" y="200819"/>
                    </a:cubicBezTo>
                    <a:lnTo>
                      <a:pt x="0" y="18256"/>
                    </a:lnTo>
                  </a:path>
                </a:pathLst>
              </a:custGeom>
              <a:noFill/>
              <a:ln w="27384">
                <a:solidFill>
                  <a:srgbClr val="8A1700"/>
                </a:solidFill>
              </a:ln>
            </p:spPr>
          </p:sp>
          <p:sp>
            <p:nvSpPr>
              <p:cNvPr id="54" name="Freeform 54"/>
              <p:cNvSpPr/>
              <p:nvPr/>
            </p:nvSpPr>
            <p:spPr>
              <a:xfrm>
                <a:off x="7660482" y="1292225"/>
                <a:ext cx="109538" cy="292101"/>
              </a:xfrm>
              <a:custGeom>
                <a:avLst/>
                <a:gdLst/>
                <a:ahLst/>
                <a:cxnLst/>
                <a:rect l="l" t="t" r="r" b="b"/>
                <a:pathLst>
                  <a:path w="109538" h="292101">
                    <a:moveTo>
                      <a:pt x="0" y="18256"/>
                    </a:moveTo>
                    <a:cubicBezTo>
                      <a:pt x="0" y="8174"/>
                      <a:pt x="8174" y="0"/>
                      <a:pt x="18256" y="0"/>
                    </a:cubicBezTo>
                    <a:lnTo>
                      <a:pt x="91281" y="0"/>
                    </a:lnTo>
                    <a:cubicBezTo>
                      <a:pt x="101364" y="0"/>
                      <a:pt x="109538" y="8174"/>
                      <a:pt x="109538" y="18256"/>
                    </a:cubicBezTo>
                    <a:lnTo>
                      <a:pt x="109538" y="273844"/>
                    </a:lnTo>
                    <a:cubicBezTo>
                      <a:pt x="109538" y="283927"/>
                      <a:pt x="101364" y="292101"/>
                      <a:pt x="91281" y="292101"/>
                    </a:cubicBezTo>
                    <a:lnTo>
                      <a:pt x="18256" y="292101"/>
                    </a:lnTo>
                    <a:cubicBezTo>
                      <a:pt x="8174" y="292101"/>
                      <a:pt x="0" y="283927"/>
                      <a:pt x="0" y="273844"/>
                    </a:cubicBezTo>
                    <a:lnTo>
                      <a:pt x="0" y="18256"/>
                    </a:lnTo>
                  </a:path>
                </a:pathLst>
              </a:custGeom>
              <a:noFill/>
              <a:ln w="27384">
                <a:solidFill>
                  <a:srgbClr val="8A1700"/>
                </a:solidFill>
              </a:ln>
            </p:spPr>
          </p:sp>
          <p:sp>
            <p:nvSpPr>
              <p:cNvPr id="55" name="Freeform 55"/>
              <p:cNvSpPr/>
              <p:nvPr/>
            </p:nvSpPr>
            <p:spPr>
              <a:xfrm>
                <a:off x="7569200" y="1584326"/>
                <a:ext cx="255588" cy="9525"/>
              </a:xfrm>
              <a:custGeom>
                <a:avLst/>
                <a:gdLst/>
                <a:ahLst/>
                <a:cxnLst/>
                <a:rect l="l" t="t" r="r" b="b"/>
                <a:pathLst>
                  <a:path w="255588" h="9525">
                    <a:moveTo>
                      <a:pt x="0" y="0"/>
                    </a:moveTo>
                    <a:lnTo>
                      <a:pt x="255588" y="0"/>
                    </a:lnTo>
                  </a:path>
                </a:pathLst>
              </a:custGeom>
              <a:noFill/>
              <a:ln w="27384">
                <a:solidFill>
                  <a:srgbClr val="8A1700"/>
                </a:solidFill>
              </a:ln>
            </p:spPr>
          </p:sp>
        </p:grpSp>
        <p:grpSp>
          <p:nvGrpSpPr>
            <p:cNvPr id="59" name="Group 59"/>
            <p:cNvGrpSpPr/>
            <p:nvPr/>
          </p:nvGrpSpPr>
          <p:grpSpPr>
            <a:xfrm>
              <a:off x="9227344" y="1310481"/>
              <a:ext cx="328613" cy="268552"/>
              <a:chOff x="9227344" y="1310481"/>
              <a:chExt cx="328613" cy="268552"/>
            </a:xfrm>
          </p:grpSpPr>
          <p:sp>
            <p:nvSpPr>
              <p:cNvPr id="57" name="Freeform 57"/>
              <p:cNvSpPr/>
              <p:nvPr/>
            </p:nvSpPr>
            <p:spPr>
              <a:xfrm>
                <a:off x="9227344" y="1310481"/>
                <a:ext cx="328613" cy="268552"/>
              </a:xfrm>
              <a:custGeom>
                <a:avLst/>
                <a:gdLst/>
                <a:ahLst/>
                <a:cxnLst/>
                <a:rect l="l" t="t" r="r" b="b"/>
                <a:pathLst>
                  <a:path w="328613" h="268552">
                    <a:moveTo>
                      <a:pt x="54769" y="0"/>
                    </a:moveTo>
                    <a:lnTo>
                      <a:pt x="273844" y="0"/>
                    </a:lnTo>
                    <a:lnTo>
                      <a:pt x="328613" y="91281"/>
                    </a:lnTo>
                    <a:lnTo>
                      <a:pt x="173435" y="264716"/>
                    </a:lnTo>
                    <a:cubicBezTo>
                      <a:pt x="171031" y="267169"/>
                      <a:pt x="167741" y="268552"/>
                      <a:pt x="164307" y="268552"/>
                    </a:cubicBezTo>
                    <a:cubicBezTo>
                      <a:pt x="160872" y="268552"/>
                      <a:pt x="157582" y="267169"/>
                      <a:pt x="155178" y="264716"/>
                    </a:cubicBezTo>
                    <a:lnTo>
                      <a:pt x="0" y="91281"/>
                    </a:lnTo>
                    <a:lnTo>
                      <a:pt x="54769" y="0"/>
                    </a:lnTo>
                  </a:path>
                </a:pathLst>
              </a:custGeom>
              <a:noFill/>
              <a:ln w="27384">
                <a:solidFill>
                  <a:srgbClr val="8A1700"/>
                </a:solidFill>
              </a:ln>
            </p:spPr>
          </p:sp>
          <p:sp>
            <p:nvSpPr>
              <p:cNvPr id="58" name="Freeform 58"/>
              <p:cNvSpPr/>
              <p:nvPr/>
            </p:nvSpPr>
            <p:spPr>
              <a:xfrm>
                <a:off x="9318625" y="1379855"/>
                <a:ext cx="36513" cy="58420"/>
              </a:xfrm>
              <a:custGeom>
                <a:avLst/>
                <a:gdLst/>
                <a:ahLst/>
                <a:cxnLst/>
                <a:rect l="l" t="t" r="r" b="b"/>
                <a:pathLst>
                  <a:path w="36513" h="58420">
                    <a:moveTo>
                      <a:pt x="36513" y="58420"/>
                    </a:moveTo>
                    <a:lnTo>
                      <a:pt x="0" y="18256"/>
                    </a:lnTo>
                    <a:lnTo>
                      <a:pt x="10954" y="0"/>
                    </a:lnTo>
                  </a:path>
                </a:pathLst>
              </a:custGeom>
              <a:noFill/>
              <a:ln w="27384">
                <a:solidFill>
                  <a:srgbClr val="8A1700"/>
                </a:solidFill>
              </a:ln>
            </p:spPr>
          </p:sp>
        </p:grpSp>
        <p:grpSp>
          <p:nvGrpSpPr>
            <p:cNvPr id="63" name="Group 63"/>
            <p:cNvGrpSpPr/>
            <p:nvPr/>
          </p:nvGrpSpPr>
          <p:grpSpPr>
            <a:xfrm>
              <a:off x="10958513" y="1273969"/>
              <a:ext cx="273844" cy="328613"/>
              <a:chOff x="10958513" y="1273969"/>
              <a:chExt cx="273844" cy="328613"/>
            </a:xfrm>
          </p:grpSpPr>
          <p:sp>
            <p:nvSpPr>
              <p:cNvPr id="60" name="Freeform 60"/>
              <p:cNvSpPr/>
              <p:nvPr/>
            </p:nvSpPr>
            <p:spPr>
              <a:xfrm>
                <a:off x="10995025" y="1273969"/>
                <a:ext cx="146050" cy="146050"/>
              </a:xfrm>
              <a:custGeom>
                <a:avLst/>
                <a:gdLst/>
                <a:ahLst/>
                <a:cxnLst/>
                <a:rect l="l" t="t" r="r" b="b"/>
                <a:pathLst>
                  <a:path w="146050" h="146050">
                    <a:moveTo>
                      <a:pt x="0" y="73025"/>
                    </a:moveTo>
                    <a:cubicBezTo>
                      <a:pt x="0" y="113356"/>
                      <a:pt x="32694" y="146050"/>
                      <a:pt x="73025" y="146050"/>
                    </a:cubicBezTo>
                    <a:cubicBezTo>
                      <a:pt x="113356" y="146050"/>
                      <a:pt x="146050" y="113356"/>
                      <a:pt x="146050" y="73025"/>
                    </a:cubicBezTo>
                    <a:cubicBezTo>
                      <a:pt x="146050" y="32694"/>
                      <a:pt x="113356" y="0"/>
                      <a:pt x="73025" y="0"/>
                    </a:cubicBezTo>
                    <a:cubicBezTo>
                      <a:pt x="32694" y="0"/>
                      <a:pt x="0" y="32694"/>
                      <a:pt x="0" y="73025"/>
                    </a:cubicBezTo>
                  </a:path>
                </a:pathLst>
              </a:custGeom>
              <a:noFill/>
              <a:ln w="27384">
                <a:solidFill>
                  <a:srgbClr val="8A1700"/>
                </a:solidFill>
              </a:ln>
            </p:spPr>
          </p:sp>
          <p:sp>
            <p:nvSpPr>
              <p:cNvPr id="61" name="Freeform 61"/>
              <p:cNvSpPr/>
              <p:nvPr/>
            </p:nvSpPr>
            <p:spPr>
              <a:xfrm>
                <a:off x="10958513" y="1493044"/>
                <a:ext cx="146050" cy="109538"/>
              </a:xfrm>
              <a:custGeom>
                <a:avLst/>
                <a:gdLst/>
                <a:ahLst/>
                <a:cxnLst/>
                <a:rect l="l" t="t" r="r" b="b"/>
                <a:pathLst>
                  <a:path w="146050" h="109538">
                    <a:moveTo>
                      <a:pt x="0" y="109538"/>
                    </a:moveTo>
                    <a:lnTo>
                      <a:pt x="0" y="73025"/>
                    </a:lnTo>
                    <a:cubicBezTo>
                      <a:pt x="0" y="32694"/>
                      <a:pt x="32694" y="0"/>
                      <a:pt x="73025" y="0"/>
                    </a:cubicBezTo>
                    <a:lnTo>
                      <a:pt x="146050" y="0"/>
                    </a:lnTo>
                  </a:path>
                </a:pathLst>
              </a:custGeom>
              <a:noFill/>
              <a:ln w="27384">
                <a:solidFill>
                  <a:srgbClr val="8A1700"/>
                </a:solidFill>
              </a:ln>
            </p:spPr>
          </p:sp>
          <p:sp>
            <p:nvSpPr>
              <p:cNvPr id="62" name="Freeform 62"/>
              <p:cNvSpPr/>
              <p:nvPr/>
            </p:nvSpPr>
            <p:spPr>
              <a:xfrm>
                <a:off x="11122819" y="1529557"/>
                <a:ext cx="109538" cy="73025"/>
              </a:xfrm>
              <a:custGeom>
                <a:avLst/>
                <a:gdLst/>
                <a:ahLst/>
                <a:cxnLst/>
                <a:rect l="l" t="t" r="r" b="b"/>
                <a:pathLst>
                  <a:path w="109538" h="73025">
                    <a:moveTo>
                      <a:pt x="0" y="36513"/>
                    </a:moveTo>
                    <a:lnTo>
                      <a:pt x="36513" y="73025"/>
                    </a:lnTo>
                    <a:lnTo>
                      <a:pt x="109538" y="0"/>
                    </a:lnTo>
                  </a:path>
                </a:pathLst>
              </a:custGeom>
              <a:noFill/>
              <a:ln w="27384">
                <a:solidFill>
                  <a:srgbClr val="8A1700"/>
                </a:solidFill>
              </a:ln>
            </p:spPr>
          </p:sp>
        </p:grpSp>
      </p:grpSp>
      <p:grpSp>
        <p:nvGrpSpPr>
          <p:cNvPr id="85" name="timeline"/>
          <p:cNvGrpSpPr/>
          <p:nvPr/>
        </p:nvGrpSpPr>
        <p:grpSpPr>
          <a:xfrm>
            <a:off x="571500" y="1809750"/>
            <a:ext cx="11049000" cy="409576"/>
            <a:chOff x="571500" y="1809750"/>
            <a:chExt cx="11049000" cy="409576"/>
          </a:xfrm>
        </p:grpSpPr>
        <p:sp>
          <p:nvSpPr>
            <p:cNvPr id="65" name="Line 65"/>
            <p:cNvSpPr/>
            <p:nvPr/>
          </p:nvSpPr>
          <p:spPr>
            <a:xfrm>
              <a:off x="571500" y="1866900"/>
              <a:ext cx="11049000" cy="9525"/>
            </a:xfrm>
            <a:custGeom>
              <a:avLst/>
              <a:gdLst/>
              <a:ahLst/>
              <a:cxnLst/>
              <a:rect l="l" t="t" r="r" b="b"/>
              <a:pathLst>
                <a:path w="11049000" h="9525">
                  <a:moveTo>
                    <a:pt x="0" y="0"/>
                  </a:moveTo>
                  <a:lnTo>
                    <a:pt x="11049000" y="0"/>
                  </a:lnTo>
                </a:path>
              </a:pathLst>
            </a:custGeom>
            <a:noFill/>
            <a:ln w="19050">
              <a:solidFill>
                <a:srgbClr val="520E00"/>
              </a:solidFill>
            </a:ln>
          </p:spPr>
        </p:sp>
        <p:sp>
          <p:nvSpPr>
            <p:cNvPr id="66" name="Ellipse 66"/>
            <p:cNvSpPr/>
            <p:nvPr/>
          </p:nvSpPr>
          <p:spPr>
            <a:xfrm>
              <a:off x="952500" y="1809750"/>
              <a:ext cx="114300" cy="114300"/>
            </a:xfrm>
            <a:prstGeom prst="ellipse">
              <a:avLst/>
            </a:prstGeom>
            <a:solidFill>
              <a:srgbClr val="520E00"/>
            </a:solidFill>
            <a:ln>
              <a:noFill/>
            </a:ln>
          </p:spPr>
        </p:sp>
        <p:sp>
          <p:nvSpPr>
            <p:cNvPr id="67" name="Ellipse 67"/>
            <p:cNvSpPr/>
            <p:nvPr/>
          </p:nvSpPr>
          <p:spPr>
            <a:xfrm>
              <a:off x="2628900" y="1809750"/>
              <a:ext cx="114300" cy="114300"/>
            </a:xfrm>
            <a:prstGeom prst="ellipse">
              <a:avLst/>
            </a:prstGeom>
            <a:solidFill>
              <a:srgbClr val="C02C0A"/>
            </a:solidFill>
            <a:ln>
              <a:noFill/>
            </a:ln>
          </p:spPr>
        </p:sp>
        <p:sp>
          <p:nvSpPr>
            <p:cNvPr id="68" name="Ellipse 68"/>
            <p:cNvSpPr/>
            <p:nvPr/>
          </p:nvSpPr>
          <p:spPr>
            <a:xfrm>
              <a:off x="4305300" y="1809750"/>
              <a:ext cx="114300" cy="114300"/>
            </a:xfrm>
            <a:prstGeom prst="ellipse">
              <a:avLst/>
            </a:prstGeom>
            <a:solidFill>
              <a:srgbClr val="C02C0A"/>
            </a:solidFill>
            <a:ln>
              <a:noFill/>
            </a:ln>
          </p:spPr>
        </p:sp>
        <p:sp>
          <p:nvSpPr>
            <p:cNvPr id="69" name="Ellipse 69"/>
            <p:cNvSpPr/>
            <p:nvPr/>
          </p:nvSpPr>
          <p:spPr>
            <a:xfrm>
              <a:off x="5981700" y="1809750"/>
              <a:ext cx="114300" cy="114300"/>
            </a:xfrm>
            <a:prstGeom prst="ellipse">
              <a:avLst/>
            </a:prstGeom>
            <a:solidFill>
              <a:srgbClr val="520E00"/>
            </a:solidFill>
            <a:ln>
              <a:noFill/>
            </a:ln>
          </p:spPr>
        </p:sp>
        <p:sp>
          <p:nvSpPr>
            <p:cNvPr id="70" name="Ellipse 70"/>
            <p:cNvSpPr/>
            <p:nvPr/>
          </p:nvSpPr>
          <p:spPr>
            <a:xfrm>
              <a:off x="7658100" y="1809750"/>
              <a:ext cx="114300" cy="114300"/>
            </a:xfrm>
            <a:prstGeom prst="ellipse">
              <a:avLst/>
            </a:prstGeom>
            <a:solidFill>
              <a:srgbClr val="520E00"/>
            </a:solidFill>
            <a:ln>
              <a:noFill/>
            </a:ln>
          </p:spPr>
        </p:sp>
        <p:sp>
          <p:nvSpPr>
            <p:cNvPr id="71" name="Ellipse 71"/>
            <p:cNvSpPr/>
            <p:nvPr/>
          </p:nvSpPr>
          <p:spPr>
            <a:xfrm>
              <a:off x="9334500" y="1809750"/>
              <a:ext cx="114300" cy="114300"/>
            </a:xfrm>
            <a:prstGeom prst="ellipse">
              <a:avLst/>
            </a:prstGeom>
            <a:solidFill>
              <a:srgbClr val="C02C0A"/>
            </a:solidFill>
            <a:ln>
              <a:noFill/>
            </a:ln>
          </p:spPr>
        </p:sp>
        <p:sp>
          <p:nvSpPr>
            <p:cNvPr id="72" name="Ellipse 72"/>
            <p:cNvSpPr/>
            <p:nvPr/>
          </p:nvSpPr>
          <p:spPr>
            <a:xfrm>
              <a:off x="11010900" y="1809750"/>
              <a:ext cx="114300" cy="114300"/>
            </a:xfrm>
            <a:prstGeom prst="ellipse">
              <a:avLst/>
            </a:prstGeom>
            <a:solidFill>
              <a:srgbClr val="C02C0A"/>
            </a:solidFill>
            <a:ln>
              <a:noFill/>
            </a:ln>
          </p:spPr>
        </p:sp>
        <p:sp>
          <p:nvSpPr>
            <p:cNvPr id="73" name="Line 73"/>
            <p:cNvSpPr/>
            <p:nvPr/>
          </p:nvSpPr>
          <p:spPr>
            <a:xfrm>
              <a:off x="2686050" y="1924050"/>
              <a:ext cx="9525" cy="95250"/>
            </a:xfrm>
            <a:custGeom>
              <a:avLst/>
              <a:gdLst/>
              <a:ahLst/>
              <a:cxnLst/>
              <a:rect l="l" t="t" r="r" b="b"/>
              <a:pathLst>
                <a:path w="9525" h="95250">
                  <a:moveTo>
                    <a:pt x="0" y="0"/>
                  </a:moveTo>
                  <a:lnTo>
                    <a:pt x="0" y="95250"/>
                  </a:lnTo>
                </a:path>
              </a:pathLst>
            </a:custGeom>
            <a:noFill/>
            <a:ln w="14288">
              <a:solidFill>
                <a:srgbClr val="C02C0A"/>
              </a:solidFill>
            </a:ln>
          </p:spPr>
        </p:sp>
        <p:sp>
          <p:nvSpPr>
            <p:cNvPr id="74" name="Rectangle 74"/>
            <p:cNvSpPr/>
            <p:nvPr/>
          </p:nvSpPr>
          <p:spPr>
            <a:xfrm>
              <a:off x="2228850" y="2019300"/>
              <a:ext cx="914400" cy="190500"/>
            </a:xfrm>
            <a:prstGeom prst="roundRect">
              <a:avLst>
                <a:gd name="adj" fmla="val 15000"/>
              </a:avLst>
            </a:prstGeom>
            <a:solidFill>
              <a:srgbClr val="FFFFFF"/>
            </a:solidFill>
            <a:ln w="11430">
              <a:solidFill>
                <a:srgbClr val="C02C0A"/>
              </a:solidFill>
            </a:ln>
          </p:spPr>
        </p:sp>
        <p:sp>
          <p:nvSpPr>
            <p:cNvPr id="75" name="TextBox 75"/>
            <p:cNvSpPr txBox="1"/>
            <p:nvPr/>
          </p:nvSpPr>
          <p:spPr>
            <a:xfrm>
              <a:off x="2341414" y="2071688"/>
              <a:ext cx="689272" cy="147638"/>
            </a:xfrm>
            <a:prstGeom prst="rect">
              <a:avLst/>
            </a:prstGeom>
            <a:noFill/>
            <a:ln>
              <a:noFill/>
            </a:ln>
          </p:spPr>
          <p:txBody>
            <a:bodyPr wrap="none" lIns="0" tIns="0" rIns="0" bIns="0" anchor="t" anchorCtr="0">
              <a:spAutoFit/>
            </a:bodyPr>
            <a:lstStyle/>
            <a:p>
              <a:pPr algn="ctr"/>
              <a:r>
                <a:rPr lang="zh-CN" sz="750" b="1" dirty="0">
                  <a:solidFill>
                    <a:srgbClr val="C02C0A"/>
                  </a:solidFill>
                  <a:latin typeface="+mn-lt"/>
                  <a:ea typeface="+mn-ea"/>
                  <a:cs typeface="+mn-cs"/>
                </a:rPr>
                <a:t>核卡后24小时​</a:t>
              </a:r>
            </a:p>
          </p:txBody>
        </p:sp>
        <p:sp>
          <p:nvSpPr>
            <p:cNvPr id="76" name="Line 76"/>
            <p:cNvSpPr/>
            <p:nvPr/>
          </p:nvSpPr>
          <p:spPr>
            <a:xfrm>
              <a:off x="4362450" y="1924050"/>
              <a:ext cx="9525" cy="95250"/>
            </a:xfrm>
            <a:custGeom>
              <a:avLst/>
              <a:gdLst/>
              <a:ahLst/>
              <a:cxnLst/>
              <a:rect l="l" t="t" r="r" b="b"/>
              <a:pathLst>
                <a:path w="9525" h="95250">
                  <a:moveTo>
                    <a:pt x="0" y="0"/>
                  </a:moveTo>
                  <a:lnTo>
                    <a:pt x="0" y="95250"/>
                  </a:lnTo>
                </a:path>
              </a:pathLst>
            </a:custGeom>
            <a:noFill/>
            <a:ln w="14288">
              <a:solidFill>
                <a:srgbClr val="C02C0A"/>
              </a:solidFill>
            </a:ln>
          </p:spPr>
        </p:sp>
        <p:sp>
          <p:nvSpPr>
            <p:cNvPr id="77" name="Rectangle 77"/>
            <p:cNvSpPr/>
            <p:nvPr/>
          </p:nvSpPr>
          <p:spPr>
            <a:xfrm>
              <a:off x="3943350" y="2019300"/>
              <a:ext cx="838200" cy="190500"/>
            </a:xfrm>
            <a:prstGeom prst="roundRect">
              <a:avLst>
                <a:gd name="adj" fmla="val 15000"/>
              </a:avLst>
            </a:prstGeom>
            <a:solidFill>
              <a:srgbClr val="FFFFFF"/>
            </a:solidFill>
            <a:ln w="11430">
              <a:solidFill>
                <a:srgbClr val="C02C0A"/>
              </a:solidFill>
            </a:ln>
          </p:spPr>
        </p:sp>
        <p:sp>
          <p:nvSpPr>
            <p:cNvPr id="78" name="TextBox 78"/>
            <p:cNvSpPr txBox="1"/>
            <p:nvPr/>
          </p:nvSpPr>
          <p:spPr>
            <a:xfrm>
              <a:off x="4097450" y="2071688"/>
              <a:ext cx="530000" cy="147638"/>
            </a:xfrm>
            <a:prstGeom prst="rect">
              <a:avLst/>
            </a:prstGeom>
            <a:noFill/>
            <a:ln>
              <a:noFill/>
            </a:ln>
          </p:spPr>
          <p:txBody>
            <a:bodyPr wrap="none" lIns="0" tIns="0" rIns="0" bIns="0" anchor="t" anchorCtr="0">
              <a:spAutoFit/>
            </a:bodyPr>
            <a:lstStyle/>
            <a:p>
              <a:pPr algn="ctr"/>
              <a:r>
                <a:rPr lang="zh-CN" sz="750" b="1" dirty="0">
                  <a:solidFill>
                    <a:srgbClr val="C02C0A"/>
                  </a:solidFill>
                  <a:latin typeface="+mn-lt"/>
                  <a:ea typeface="+mn-ea"/>
                  <a:cs typeface="+mn-cs"/>
                </a:rPr>
                <a:t>激活后7天​</a:t>
              </a:r>
            </a:p>
          </p:txBody>
        </p:sp>
        <p:sp>
          <p:nvSpPr>
            <p:cNvPr id="79" name="Line 79"/>
            <p:cNvSpPr/>
            <p:nvPr/>
          </p:nvSpPr>
          <p:spPr>
            <a:xfrm>
              <a:off x="9391650" y="1924050"/>
              <a:ext cx="9525" cy="95250"/>
            </a:xfrm>
            <a:custGeom>
              <a:avLst/>
              <a:gdLst/>
              <a:ahLst/>
              <a:cxnLst/>
              <a:rect l="l" t="t" r="r" b="b"/>
              <a:pathLst>
                <a:path w="9525" h="95250">
                  <a:moveTo>
                    <a:pt x="0" y="0"/>
                  </a:moveTo>
                  <a:lnTo>
                    <a:pt x="0" y="95250"/>
                  </a:lnTo>
                </a:path>
              </a:pathLst>
            </a:custGeom>
            <a:noFill/>
            <a:ln w="14288">
              <a:solidFill>
                <a:srgbClr val="C02C0A"/>
              </a:solidFill>
            </a:ln>
          </p:spPr>
        </p:sp>
        <p:sp>
          <p:nvSpPr>
            <p:cNvPr id="80" name="Rectangle 80"/>
            <p:cNvSpPr/>
            <p:nvPr/>
          </p:nvSpPr>
          <p:spPr>
            <a:xfrm>
              <a:off x="8934450" y="2019300"/>
              <a:ext cx="914400" cy="190500"/>
            </a:xfrm>
            <a:prstGeom prst="roundRect">
              <a:avLst>
                <a:gd name="adj" fmla="val 15000"/>
              </a:avLst>
            </a:prstGeom>
            <a:solidFill>
              <a:srgbClr val="FFFFFF"/>
            </a:solidFill>
            <a:ln w="11430">
              <a:solidFill>
                <a:srgbClr val="C02C0A"/>
              </a:solidFill>
            </a:ln>
          </p:spPr>
        </p:sp>
        <p:sp>
          <p:nvSpPr>
            <p:cNvPr id="81" name="TextBox 81"/>
            <p:cNvSpPr txBox="1"/>
            <p:nvPr/>
          </p:nvSpPr>
          <p:spPr>
            <a:xfrm>
              <a:off x="9083992" y="2071688"/>
              <a:ext cx="615315" cy="147638"/>
            </a:xfrm>
            <a:prstGeom prst="rect">
              <a:avLst/>
            </a:prstGeom>
            <a:noFill/>
            <a:ln>
              <a:noFill/>
            </a:ln>
          </p:spPr>
          <p:txBody>
            <a:bodyPr wrap="none" lIns="0" tIns="0" rIns="0" bIns="0" anchor="t" anchorCtr="0">
              <a:spAutoFit/>
            </a:bodyPr>
            <a:lstStyle/>
            <a:p>
              <a:pPr algn="ctr"/>
              <a:r>
                <a:rPr lang="zh-CN" sz="750" b="1" dirty="0">
                  <a:solidFill>
                    <a:srgbClr val="C02C0A"/>
                  </a:solidFill>
                  <a:latin typeface="+mn-lt"/>
                  <a:ea typeface="+mn-ea"/>
                  <a:cs typeface="+mn-cs"/>
                </a:rPr>
                <a:t>权益即将到期</a:t>
              </a:r>
            </a:p>
          </p:txBody>
        </p:sp>
        <p:sp>
          <p:nvSpPr>
            <p:cNvPr id="82" name="Line 82"/>
            <p:cNvSpPr/>
            <p:nvPr/>
          </p:nvSpPr>
          <p:spPr>
            <a:xfrm>
              <a:off x="11068050" y="1924050"/>
              <a:ext cx="9525" cy="95250"/>
            </a:xfrm>
            <a:custGeom>
              <a:avLst/>
              <a:gdLst/>
              <a:ahLst/>
              <a:cxnLst/>
              <a:rect l="l" t="t" r="r" b="b"/>
              <a:pathLst>
                <a:path w="9525" h="95250">
                  <a:moveTo>
                    <a:pt x="0" y="0"/>
                  </a:moveTo>
                  <a:lnTo>
                    <a:pt x="0" y="95250"/>
                  </a:lnTo>
                </a:path>
              </a:pathLst>
            </a:custGeom>
            <a:noFill/>
            <a:ln w="14288">
              <a:solidFill>
                <a:srgbClr val="C02C0A"/>
              </a:solidFill>
            </a:ln>
          </p:spPr>
        </p:sp>
        <p:sp>
          <p:nvSpPr>
            <p:cNvPr id="83" name="Rectangle 83"/>
            <p:cNvSpPr/>
            <p:nvPr/>
          </p:nvSpPr>
          <p:spPr>
            <a:xfrm>
              <a:off x="10572750" y="2019300"/>
              <a:ext cx="990600" cy="190500"/>
            </a:xfrm>
            <a:prstGeom prst="roundRect">
              <a:avLst>
                <a:gd name="adj" fmla="val 15000"/>
              </a:avLst>
            </a:prstGeom>
            <a:solidFill>
              <a:srgbClr val="FFFFFF"/>
            </a:solidFill>
            <a:ln w="11430">
              <a:solidFill>
                <a:srgbClr val="C02C0A"/>
              </a:solidFill>
            </a:ln>
          </p:spPr>
        </p:sp>
        <p:sp>
          <p:nvSpPr>
            <p:cNvPr id="84" name="TextBox 84"/>
            <p:cNvSpPr txBox="1"/>
            <p:nvPr/>
          </p:nvSpPr>
          <p:spPr>
            <a:xfrm>
              <a:off x="10672932" y="2071688"/>
              <a:ext cx="790237" cy="147638"/>
            </a:xfrm>
            <a:prstGeom prst="rect">
              <a:avLst/>
            </a:prstGeom>
            <a:noFill/>
            <a:ln>
              <a:noFill/>
            </a:ln>
          </p:spPr>
          <p:txBody>
            <a:bodyPr wrap="none" lIns="0" tIns="0" rIns="0" bIns="0" anchor="t" anchorCtr="0">
              <a:spAutoFit/>
            </a:bodyPr>
            <a:lstStyle/>
            <a:p>
              <a:pPr algn="ctr"/>
              <a:r>
                <a:rPr lang="zh-CN" sz="750" b="1" dirty="0">
                  <a:solidFill>
                    <a:srgbClr val="C02C0A"/>
                  </a:solidFill>
                  <a:latin typeface="+mn-lt"/>
                  <a:ea typeface="+mn-ea"/>
                  <a:cs typeface="+mn-cs"/>
                </a:rPr>
                <a:t>连续30天无交易​</a:t>
              </a:r>
            </a:p>
          </p:txBody>
        </p:sp>
      </p:grpSp>
      <p:grpSp>
        <p:nvGrpSpPr>
          <p:cNvPr id="152" name="journey-table"/>
          <p:cNvGrpSpPr/>
          <p:nvPr/>
        </p:nvGrpSpPr>
        <p:grpSpPr>
          <a:xfrm>
            <a:off x="228600" y="2305050"/>
            <a:ext cx="11639550" cy="3505200"/>
            <a:chOff x="228600" y="2305050"/>
            <a:chExt cx="11639550" cy="3505200"/>
          </a:xfrm>
        </p:grpSpPr>
        <p:grpSp>
          <p:nvGrpSpPr>
            <p:cNvPr id="105" name="row-needs"/>
            <p:cNvGrpSpPr/>
            <p:nvPr/>
          </p:nvGrpSpPr>
          <p:grpSpPr>
            <a:xfrm>
              <a:off x="228600" y="2305050"/>
              <a:ext cx="11639550" cy="1143000"/>
              <a:chOff x="228600" y="2305050"/>
              <a:chExt cx="11639550" cy="1143000"/>
            </a:xfrm>
          </p:grpSpPr>
          <p:sp>
            <p:nvSpPr>
              <p:cNvPr id="86" name="Rectangle 86"/>
              <p:cNvSpPr/>
              <p:nvPr/>
            </p:nvSpPr>
            <p:spPr>
              <a:xfrm>
                <a:off x="228600" y="2305050"/>
                <a:ext cx="800100" cy="1143000"/>
              </a:xfrm>
              <a:prstGeom prst="roundRect">
                <a:avLst>
                  <a:gd name="adj" fmla="val 4762"/>
                </a:avLst>
              </a:prstGeom>
              <a:solidFill>
                <a:srgbClr val="520E00"/>
              </a:solidFill>
              <a:ln>
                <a:noFill/>
              </a:ln>
            </p:spPr>
          </p:sp>
          <p:grpSp>
            <p:nvGrpSpPr>
              <p:cNvPr id="89" name="Group 89"/>
              <p:cNvGrpSpPr/>
              <p:nvPr/>
            </p:nvGrpSpPr>
            <p:grpSpPr>
              <a:xfrm>
                <a:off x="561975" y="2528888"/>
                <a:ext cx="133350" cy="200025"/>
                <a:chOff x="561975" y="2528888"/>
                <a:chExt cx="133350" cy="200025"/>
              </a:xfrm>
            </p:grpSpPr>
            <p:sp>
              <p:nvSpPr>
                <p:cNvPr id="87" name="Freeform 87"/>
                <p:cNvSpPr/>
                <p:nvPr/>
              </p:nvSpPr>
              <p:spPr>
                <a:xfrm>
                  <a:off x="584200" y="25288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6669">
                  <a:solidFill>
                    <a:srgbClr val="FFFFFF"/>
                  </a:solidFill>
                </a:ln>
              </p:spPr>
            </p:sp>
            <p:sp>
              <p:nvSpPr>
                <p:cNvPr id="88" name="Freeform 88"/>
                <p:cNvSpPr/>
                <p:nvPr/>
              </p:nvSpPr>
              <p:spPr>
                <a:xfrm>
                  <a:off x="561975" y="26622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6669">
                  <a:solidFill>
                    <a:srgbClr val="FFFFFF"/>
                  </a:solidFill>
                </a:ln>
              </p:spPr>
            </p:sp>
          </p:grpSp>
          <p:sp>
            <p:nvSpPr>
              <p:cNvPr id="90" name="TextBox 90"/>
              <p:cNvSpPr txBox="1"/>
              <p:nvPr/>
            </p:nvSpPr>
            <p:spPr>
              <a:xfrm>
                <a:off x="381572" y="29127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客户需求</a:t>
                </a:r>
              </a:p>
            </p:txBody>
          </p:sp>
          <p:sp>
            <p:nvSpPr>
              <p:cNvPr id="91" name="Rectangle 91"/>
              <p:cNvSpPr/>
              <p:nvPr/>
            </p:nvSpPr>
            <p:spPr>
              <a:xfrm>
                <a:off x="1066800" y="2305050"/>
                <a:ext cx="10801350" cy="1143000"/>
              </a:xfrm>
              <a:prstGeom prst="roundRect">
                <a:avLst>
                  <a:gd name="adj" fmla="val 3333"/>
                </a:avLst>
              </a:prstGeom>
              <a:solidFill>
                <a:srgbClr val="F5F8FE"/>
              </a:solidFill>
              <a:ln w="9525">
                <a:solidFill>
                  <a:srgbClr val="C9D5EA"/>
                </a:solidFill>
              </a:ln>
            </p:spPr>
          </p:sp>
          <p:sp>
            <p:nvSpPr>
              <p:cNvPr id="92" name="Line 92"/>
              <p:cNvSpPr/>
              <p:nvPr/>
            </p:nvSpPr>
            <p:spPr>
              <a:xfrm>
                <a:off x="2609850" y="23622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93" name="Line 93"/>
              <p:cNvSpPr/>
              <p:nvPr/>
            </p:nvSpPr>
            <p:spPr>
              <a:xfrm>
                <a:off x="4152900" y="23622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94" name="Line 94"/>
              <p:cNvSpPr/>
              <p:nvPr/>
            </p:nvSpPr>
            <p:spPr>
              <a:xfrm>
                <a:off x="5695950" y="23622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95" name="Line 95"/>
              <p:cNvSpPr/>
              <p:nvPr/>
            </p:nvSpPr>
            <p:spPr>
              <a:xfrm>
                <a:off x="7239000" y="23622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96" name="Line 96"/>
              <p:cNvSpPr/>
              <p:nvPr/>
            </p:nvSpPr>
            <p:spPr>
              <a:xfrm>
                <a:off x="8782050" y="23622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97" name="Line 97"/>
              <p:cNvSpPr/>
              <p:nvPr/>
            </p:nvSpPr>
            <p:spPr>
              <a:xfrm>
                <a:off x="10325100" y="23622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98" name="TextBox 98"/>
              <p:cNvSpPr txBox="1"/>
              <p:nvPr/>
            </p:nvSpPr>
            <p:spPr>
              <a:xfrm>
                <a:off x="1157288" y="2571036"/>
                <a:ext cx="89770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了解卡片权益与价值</a:t>
                </a:r>
              </a:p>
              <a:p>
                <a:pPr algn="l" marL="76644" indent="-76644">
                  <a:lnSpc>
                    <a:spcPts val="1650"/>
                  </a:lnSpc>
                  <a:buClr>
                    <a:srgbClr val="60403A"/>
                  </a:buClr>
                  <a:buSzTx/>
                  <a:buFontTx/>
                  <a:buChar char="•"/>
                </a:pPr>
                <a:r>
                  <a:rPr lang="zh-CN" sz="710" dirty="0">
                    <a:solidFill>
                      <a:srgbClr val="60403A"/>
                    </a:solidFill>
                    <a:latin typeface="+mn-lt"/>
                    <a:ea typeface="+mn-ea"/>
                    <a:cs typeface="+mn-cs"/>
                  </a:rPr>
                  <a:t>快速完成申请</a:t>
                </a:r>
              </a:p>
              <a:p>
                <a:pPr algn="l" marL="76644" indent="-76644">
                  <a:lnSpc>
                    <a:spcPts val="1650"/>
                  </a:lnSpc>
                  <a:buClr>
                    <a:srgbClr val="60403A"/>
                  </a:buClr>
                  <a:buSzTx/>
                  <a:buFontTx/>
                  <a:buChar char="•"/>
                </a:pPr>
                <a:r>
                  <a:rPr lang="zh-CN" sz="710" dirty="0">
                    <a:solidFill>
                      <a:srgbClr val="60403A"/>
                    </a:solidFill>
                    <a:latin typeface="+mn-lt"/>
                    <a:ea typeface="+mn-ea"/>
                    <a:cs typeface="+mn-cs"/>
                  </a:rPr>
                  <a:t>信息安全有保障</a:t>
                </a:r>
              </a:p>
            </p:txBody>
          </p:sp>
          <p:sp>
            <p:nvSpPr>
              <p:cNvPr id="99" name="TextBox 99"/>
              <p:cNvSpPr txBox="1"/>
              <p:nvPr/>
            </p:nvSpPr>
            <p:spPr>
              <a:xfrm>
                <a:off x="2700338" y="2571036"/>
                <a:ext cx="62719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申请进度可视</a:t>
                </a:r>
              </a:p>
              <a:p>
                <a:pPr algn="l" marL="76644" indent="-76644">
                  <a:lnSpc>
                    <a:spcPts val="1650"/>
                  </a:lnSpc>
                  <a:buClr>
                    <a:srgbClr val="60403A"/>
                  </a:buClr>
                  <a:buSzTx/>
                  <a:buFontTx/>
                  <a:buChar char="•"/>
                </a:pPr>
                <a:r>
                  <a:rPr lang="zh-CN" sz="710" dirty="0">
                    <a:solidFill>
                      <a:srgbClr val="60403A"/>
                    </a:solidFill>
                    <a:latin typeface="+mn-lt"/>
                    <a:ea typeface="+mn-ea"/>
                    <a:cs typeface="+mn-cs"/>
                  </a:rPr>
                  <a:t>尽快完成审核</a:t>
                </a:r>
              </a:p>
              <a:p>
                <a:pPr algn="l" marL="76644" indent="-76644">
                  <a:lnSpc>
                    <a:spcPts val="1650"/>
                  </a:lnSpc>
                  <a:buClr>
                    <a:srgbClr val="60403A"/>
                  </a:buClr>
                  <a:buSzTx/>
                  <a:buFontTx/>
                  <a:buChar char="•"/>
                </a:pPr>
                <a:r>
                  <a:rPr lang="zh-CN" sz="710" dirty="0">
                    <a:solidFill>
                      <a:srgbClr val="60403A"/>
                    </a:solidFill>
                    <a:latin typeface="+mn-lt"/>
                    <a:ea typeface="+mn-ea"/>
                    <a:cs typeface="+mn-cs"/>
                  </a:rPr>
                  <a:t>安心等待结果</a:t>
                </a:r>
              </a:p>
            </p:txBody>
          </p:sp>
          <p:sp>
            <p:nvSpPr>
              <p:cNvPr id="100" name="TextBox 100"/>
              <p:cNvSpPr txBox="1"/>
              <p:nvPr/>
            </p:nvSpPr>
            <p:spPr>
              <a:xfrm>
                <a:off x="4243388" y="2571036"/>
                <a:ext cx="80753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快速激活用卡</a:t>
                </a:r>
              </a:p>
              <a:p>
                <a:pPr algn="l" marL="76644" indent="-76644">
                  <a:lnSpc>
                    <a:spcPts val="1650"/>
                  </a:lnSpc>
                  <a:buClr>
                    <a:srgbClr val="60403A"/>
                  </a:buClr>
                  <a:buSzTx/>
                  <a:buFontTx/>
                  <a:buChar char="•"/>
                </a:pPr>
                <a:r>
                  <a:rPr lang="zh-CN" sz="710" dirty="0">
                    <a:solidFill>
                      <a:srgbClr val="60403A"/>
                    </a:solidFill>
                    <a:latin typeface="+mn-lt"/>
                    <a:ea typeface="+mn-ea"/>
                    <a:cs typeface="+mn-cs"/>
                  </a:rPr>
                  <a:t>便捷绑定常用支付</a:t>
                </a:r>
              </a:p>
              <a:p>
                <a:pPr algn="l" marL="76644" indent="-76644">
                  <a:lnSpc>
                    <a:spcPts val="1650"/>
                  </a:lnSpc>
                  <a:buClr>
                    <a:srgbClr val="60403A"/>
                  </a:buClr>
                  <a:buSzTx/>
                  <a:buFontTx/>
                  <a:buChar char="•"/>
                </a:pPr>
                <a:r>
                  <a:rPr lang="zh-CN" sz="710" dirty="0">
                    <a:solidFill>
                      <a:srgbClr val="60403A"/>
                    </a:solidFill>
                    <a:latin typeface="+mn-lt"/>
                    <a:ea typeface="+mn-ea"/>
                    <a:cs typeface="+mn-cs"/>
                  </a:rPr>
                  <a:t>立即开始使用</a:t>
                </a:r>
              </a:p>
            </p:txBody>
          </p:sp>
          <p:sp>
            <p:nvSpPr>
              <p:cNvPr id="101" name="TextBox 101"/>
              <p:cNvSpPr txBox="1"/>
              <p:nvPr/>
            </p:nvSpPr>
            <p:spPr>
              <a:xfrm>
                <a:off x="5786438" y="2571036"/>
                <a:ext cx="89770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找到适合的首刷场景</a:t>
                </a:r>
              </a:p>
              <a:p>
                <a:pPr algn="l" marL="76644" indent="-76644">
                  <a:lnSpc>
                    <a:spcPts val="1650"/>
                  </a:lnSpc>
                  <a:buClr>
                    <a:srgbClr val="60403A"/>
                  </a:buClr>
                  <a:buSzTx/>
                  <a:buFontTx/>
                  <a:buChar char="•"/>
                </a:pPr>
                <a:r>
                  <a:rPr lang="zh-CN" sz="710" dirty="0">
                    <a:solidFill>
                      <a:srgbClr val="60403A"/>
                    </a:solidFill>
                    <a:latin typeface="+mn-lt"/>
                    <a:ea typeface="+mn-ea"/>
                    <a:cs typeface="+mn-cs"/>
                  </a:rPr>
                  <a:t>获得首刷奖励</a:t>
                </a:r>
              </a:p>
              <a:p>
                <a:pPr algn="l" marL="76644" indent="-76644">
                  <a:lnSpc>
                    <a:spcPts val="1650"/>
                  </a:lnSpc>
                  <a:buClr>
                    <a:srgbClr val="60403A"/>
                  </a:buClr>
                  <a:buSzTx/>
                  <a:buFontTx/>
                  <a:buChar char="•"/>
                </a:pPr>
                <a:r>
                  <a:rPr lang="zh-CN" sz="710" dirty="0">
                    <a:solidFill>
                      <a:srgbClr val="60403A"/>
                    </a:solidFill>
                    <a:latin typeface="+mn-lt"/>
                    <a:ea typeface="+mn-ea"/>
                    <a:cs typeface="+mn-cs"/>
                  </a:rPr>
                  <a:t>了解用卡小技巧</a:t>
                </a:r>
              </a:p>
            </p:txBody>
          </p:sp>
          <p:sp>
            <p:nvSpPr>
              <p:cNvPr id="102" name="TextBox 102"/>
              <p:cNvSpPr txBox="1"/>
              <p:nvPr/>
            </p:nvSpPr>
            <p:spPr>
              <a:xfrm>
                <a:off x="7329488" y="2571036"/>
                <a:ext cx="89770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获得更多优惠与回报</a:t>
                </a:r>
              </a:p>
              <a:p>
                <a:pPr algn="l" marL="76644" indent="-76644">
                  <a:lnSpc>
                    <a:spcPts val="1650"/>
                  </a:lnSpc>
                  <a:buClr>
                    <a:srgbClr val="60403A"/>
                  </a:buClr>
                  <a:buSzTx/>
                  <a:buFontTx/>
                  <a:buChar char="•"/>
                </a:pPr>
                <a:r>
                  <a:rPr lang="zh-CN" sz="710" dirty="0">
                    <a:solidFill>
                      <a:srgbClr val="60403A"/>
                    </a:solidFill>
                    <a:latin typeface="+mn-lt"/>
                    <a:ea typeface="+mn-ea"/>
                    <a:cs typeface="+mn-cs"/>
                  </a:rPr>
                  <a:t>提升用卡便利性</a:t>
                </a:r>
              </a:p>
              <a:p>
                <a:pPr algn="l" marL="76644" indent="-76644">
                  <a:lnSpc>
                    <a:spcPts val="1650"/>
                  </a:lnSpc>
                  <a:buClr>
                    <a:srgbClr val="60403A"/>
                  </a:buClr>
                  <a:buSzTx/>
                  <a:buFontTx/>
                  <a:buChar char="•"/>
                </a:pPr>
                <a:r>
                  <a:rPr lang="zh-CN" sz="710" dirty="0">
                    <a:solidFill>
                      <a:srgbClr val="60403A"/>
                    </a:solidFill>
                    <a:latin typeface="+mn-lt"/>
                    <a:ea typeface="+mn-ea"/>
                    <a:cs typeface="+mn-cs"/>
                  </a:rPr>
                  <a:t>消费更省心</a:t>
                </a:r>
              </a:p>
            </p:txBody>
          </p:sp>
          <p:sp>
            <p:nvSpPr>
              <p:cNvPr id="103" name="TextBox 103"/>
              <p:cNvSpPr txBox="1"/>
              <p:nvPr/>
            </p:nvSpPr>
            <p:spPr>
              <a:xfrm>
                <a:off x="8872538" y="2571036"/>
                <a:ext cx="89770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尊享专属权益与服务</a:t>
                </a:r>
              </a:p>
              <a:p>
                <a:pPr algn="l" marL="76644" indent="-76644">
                  <a:lnSpc>
                    <a:spcPts val="1650"/>
                  </a:lnSpc>
                  <a:buClr>
                    <a:srgbClr val="60403A"/>
                  </a:buClr>
                  <a:buSzTx/>
                  <a:buFontTx/>
                  <a:buChar char="•"/>
                </a:pPr>
                <a:r>
                  <a:rPr lang="zh-CN" sz="710" dirty="0">
                    <a:solidFill>
                      <a:srgbClr val="60403A"/>
                    </a:solidFill>
                    <a:latin typeface="+mn-lt"/>
                    <a:ea typeface="+mn-ea"/>
                    <a:cs typeface="+mn-cs"/>
                  </a:rPr>
                  <a:t>资产配置与增值</a:t>
                </a:r>
              </a:p>
              <a:p>
                <a:pPr algn="l" marL="76644" indent="-76644">
                  <a:lnSpc>
                    <a:spcPts val="1650"/>
                  </a:lnSpc>
                  <a:buClr>
                    <a:srgbClr val="60403A"/>
                  </a:buClr>
                  <a:buSzTx/>
                  <a:buFontTx/>
                  <a:buChar char="•"/>
                </a:pPr>
                <a:r>
                  <a:rPr lang="zh-CN" sz="710" dirty="0">
                    <a:solidFill>
                      <a:srgbClr val="60403A"/>
                    </a:solidFill>
                    <a:latin typeface="+mn-lt"/>
                    <a:ea typeface="+mn-ea"/>
                    <a:cs typeface="+mn-cs"/>
                  </a:rPr>
                  <a:t>个性化关怀</a:t>
                </a:r>
              </a:p>
            </p:txBody>
          </p:sp>
          <p:sp>
            <p:nvSpPr>
              <p:cNvPr id="104" name="TextBox 104"/>
              <p:cNvSpPr txBox="1"/>
              <p:nvPr/>
            </p:nvSpPr>
            <p:spPr>
              <a:xfrm>
                <a:off x="10415588" y="2571036"/>
                <a:ext cx="71736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想起卡片价值</a:t>
                </a:r>
              </a:p>
              <a:p>
                <a:pPr algn="l" marL="76644" indent="-76644">
                  <a:lnSpc>
                    <a:spcPts val="1650"/>
                  </a:lnSpc>
                  <a:buClr>
                    <a:srgbClr val="60403A"/>
                  </a:buClr>
                  <a:buSzTx/>
                  <a:buFontTx/>
                  <a:buChar char="•"/>
                </a:pPr>
                <a:r>
                  <a:rPr lang="zh-CN" sz="710" dirty="0">
                    <a:solidFill>
                      <a:srgbClr val="60403A"/>
                    </a:solidFill>
                    <a:latin typeface="+mn-lt"/>
                    <a:ea typeface="+mn-ea"/>
                    <a:cs typeface="+mn-cs"/>
                  </a:rPr>
                  <a:t>解决不用的原因</a:t>
                </a:r>
              </a:p>
              <a:p>
                <a:pPr algn="l" marL="76644" indent="-76644">
                  <a:lnSpc>
                    <a:spcPts val="1650"/>
                  </a:lnSpc>
                  <a:buClr>
                    <a:srgbClr val="60403A"/>
                  </a:buClr>
                  <a:buSzTx/>
                  <a:buFontTx/>
                  <a:buChar char="•"/>
                </a:pPr>
                <a:r>
                  <a:rPr lang="zh-CN" sz="710" dirty="0">
                    <a:solidFill>
                      <a:srgbClr val="60403A"/>
                    </a:solidFill>
                    <a:latin typeface="+mn-lt"/>
                    <a:ea typeface="+mn-ea"/>
                    <a:cs typeface="+mn-cs"/>
                  </a:rPr>
                  <a:t>重新开始使用</a:t>
                </a:r>
              </a:p>
            </p:txBody>
          </p:sp>
        </p:grpSp>
        <p:grpSp>
          <p:nvGrpSpPr>
            <p:cNvPr id="131" name="row-actions"/>
            <p:cNvGrpSpPr/>
            <p:nvPr/>
          </p:nvGrpSpPr>
          <p:grpSpPr>
            <a:xfrm>
              <a:off x="228600" y="3486150"/>
              <a:ext cx="11639550" cy="1143000"/>
              <a:chOff x="228600" y="3486150"/>
              <a:chExt cx="11639550" cy="1143000"/>
            </a:xfrm>
          </p:grpSpPr>
          <p:sp>
            <p:nvSpPr>
              <p:cNvPr id="106" name="Rectangle 106"/>
              <p:cNvSpPr/>
              <p:nvPr/>
            </p:nvSpPr>
            <p:spPr>
              <a:xfrm>
                <a:off x="228600" y="3486150"/>
                <a:ext cx="800100" cy="1143000"/>
              </a:xfrm>
              <a:prstGeom prst="roundRect">
                <a:avLst>
                  <a:gd name="adj" fmla="val 4762"/>
                </a:avLst>
              </a:prstGeom>
              <a:solidFill>
                <a:srgbClr val="520E00"/>
              </a:solidFill>
              <a:ln>
                <a:noFill/>
              </a:ln>
            </p:spPr>
          </p:sp>
          <p:grpSp>
            <p:nvGrpSpPr>
              <p:cNvPr id="115" name="Group 115"/>
              <p:cNvGrpSpPr/>
              <p:nvPr/>
            </p:nvGrpSpPr>
            <p:grpSpPr>
              <a:xfrm>
                <a:off x="528638" y="3709988"/>
                <a:ext cx="200026" cy="209550"/>
                <a:chOff x="528638" y="3709988"/>
                <a:chExt cx="200026" cy="209550"/>
              </a:xfrm>
            </p:grpSpPr>
            <p:sp>
              <p:nvSpPr>
                <p:cNvPr id="107" name="Freeform 107"/>
                <p:cNvSpPr/>
                <p:nvPr/>
              </p:nvSpPr>
              <p:spPr>
                <a:xfrm>
                  <a:off x="528638" y="3910013"/>
                  <a:ext cx="200026" cy="9525"/>
                </a:xfrm>
                <a:custGeom>
                  <a:avLst/>
                  <a:gdLst/>
                  <a:ahLst/>
                  <a:cxnLst/>
                  <a:rect l="l" t="t" r="r" b="b"/>
                  <a:pathLst>
                    <a:path w="200026" h="9525">
                      <a:moveTo>
                        <a:pt x="0" y="0"/>
                      </a:moveTo>
                      <a:lnTo>
                        <a:pt x="200026" y="0"/>
                      </a:lnTo>
                    </a:path>
                  </a:pathLst>
                </a:custGeom>
                <a:noFill/>
                <a:ln w="16669">
                  <a:solidFill>
                    <a:srgbClr val="FFFFFF"/>
                  </a:solidFill>
                </a:ln>
              </p:spPr>
            </p:sp>
            <p:sp>
              <p:nvSpPr>
                <p:cNvPr id="108" name="Freeform 108"/>
                <p:cNvSpPr/>
                <p:nvPr/>
              </p:nvSpPr>
              <p:spPr>
                <a:xfrm>
                  <a:off x="528638" y="3787775"/>
                  <a:ext cx="200026" cy="9525"/>
                </a:xfrm>
                <a:custGeom>
                  <a:avLst/>
                  <a:gdLst/>
                  <a:ahLst/>
                  <a:cxnLst/>
                  <a:rect l="l" t="t" r="r" b="b"/>
                  <a:pathLst>
                    <a:path w="200026" h="9525">
                      <a:moveTo>
                        <a:pt x="0" y="0"/>
                      </a:moveTo>
                      <a:lnTo>
                        <a:pt x="200026" y="0"/>
                      </a:lnTo>
                    </a:path>
                  </a:pathLst>
                </a:custGeom>
                <a:noFill/>
                <a:ln w="16669">
                  <a:solidFill>
                    <a:srgbClr val="FFFFFF"/>
                  </a:solidFill>
                </a:ln>
              </p:spPr>
            </p:sp>
            <p:sp>
              <p:nvSpPr>
                <p:cNvPr id="109" name="Freeform 109"/>
                <p:cNvSpPr/>
                <p:nvPr/>
              </p:nvSpPr>
              <p:spPr>
                <a:xfrm>
                  <a:off x="550863" y="3709988"/>
                  <a:ext cx="155575" cy="33338"/>
                </a:xfrm>
                <a:custGeom>
                  <a:avLst/>
                  <a:gdLst/>
                  <a:ahLst/>
                  <a:cxnLst/>
                  <a:rect l="l" t="t" r="r" b="b"/>
                  <a:pathLst>
                    <a:path w="155575" h="33338">
                      <a:moveTo>
                        <a:pt x="0" y="33338"/>
                      </a:moveTo>
                      <a:lnTo>
                        <a:pt x="77788" y="0"/>
                      </a:lnTo>
                      <a:lnTo>
                        <a:pt x="155575" y="33338"/>
                      </a:lnTo>
                    </a:path>
                  </a:pathLst>
                </a:custGeom>
                <a:noFill/>
                <a:ln w="16669">
                  <a:solidFill>
                    <a:srgbClr val="FFFFFF"/>
                  </a:solidFill>
                </a:ln>
              </p:spPr>
            </p:sp>
            <p:sp>
              <p:nvSpPr>
                <p:cNvPr id="110" name="Freeform 110"/>
                <p:cNvSpPr/>
                <p:nvPr/>
              </p:nvSpPr>
              <p:spPr>
                <a:xfrm>
                  <a:off x="539750" y="3787775"/>
                  <a:ext cx="9525" cy="122238"/>
                </a:xfrm>
                <a:custGeom>
                  <a:avLst/>
                  <a:gdLst/>
                  <a:ahLst/>
                  <a:cxnLst/>
                  <a:rect l="l" t="t" r="r" b="b"/>
                  <a:pathLst>
                    <a:path w="9525" h="122238">
                      <a:moveTo>
                        <a:pt x="0" y="0"/>
                      </a:moveTo>
                      <a:lnTo>
                        <a:pt x="0" y="122238"/>
                      </a:lnTo>
                    </a:path>
                  </a:pathLst>
                </a:custGeom>
                <a:noFill/>
                <a:ln w="16669">
                  <a:solidFill>
                    <a:srgbClr val="FFFFFF"/>
                  </a:solidFill>
                </a:ln>
              </p:spPr>
            </p:sp>
            <p:sp>
              <p:nvSpPr>
                <p:cNvPr id="111" name="Freeform 111"/>
                <p:cNvSpPr/>
                <p:nvPr/>
              </p:nvSpPr>
              <p:spPr>
                <a:xfrm>
                  <a:off x="717551" y="3787775"/>
                  <a:ext cx="9525" cy="122238"/>
                </a:xfrm>
                <a:custGeom>
                  <a:avLst/>
                  <a:gdLst/>
                  <a:ahLst/>
                  <a:cxnLst/>
                  <a:rect l="l" t="t" r="r" b="b"/>
                  <a:pathLst>
                    <a:path w="9525" h="122238">
                      <a:moveTo>
                        <a:pt x="0" y="0"/>
                      </a:moveTo>
                      <a:lnTo>
                        <a:pt x="0" y="122238"/>
                      </a:lnTo>
                    </a:path>
                  </a:pathLst>
                </a:custGeom>
                <a:noFill/>
                <a:ln w="16669">
                  <a:solidFill>
                    <a:srgbClr val="FFFFFF"/>
                  </a:solidFill>
                </a:ln>
              </p:spPr>
            </p:sp>
            <p:sp>
              <p:nvSpPr>
                <p:cNvPr id="112" name="Freeform 112"/>
                <p:cNvSpPr/>
                <p:nvPr/>
              </p:nvSpPr>
              <p:spPr>
                <a:xfrm>
                  <a:off x="584200" y="3832225"/>
                  <a:ext cx="9525" cy="33338"/>
                </a:xfrm>
                <a:custGeom>
                  <a:avLst/>
                  <a:gdLst/>
                  <a:ahLst/>
                  <a:cxnLst/>
                  <a:rect l="l" t="t" r="r" b="b"/>
                  <a:pathLst>
                    <a:path w="9525" h="33338">
                      <a:moveTo>
                        <a:pt x="0" y="0"/>
                      </a:moveTo>
                      <a:lnTo>
                        <a:pt x="0" y="33338"/>
                      </a:lnTo>
                    </a:path>
                  </a:pathLst>
                </a:custGeom>
                <a:noFill/>
                <a:ln w="16669">
                  <a:solidFill>
                    <a:srgbClr val="FFFFFF"/>
                  </a:solidFill>
                </a:ln>
              </p:spPr>
            </p:sp>
            <p:sp>
              <p:nvSpPr>
                <p:cNvPr id="113" name="Freeform 113"/>
                <p:cNvSpPr/>
                <p:nvPr/>
              </p:nvSpPr>
              <p:spPr>
                <a:xfrm>
                  <a:off x="628650" y="3832225"/>
                  <a:ext cx="9525" cy="33338"/>
                </a:xfrm>
                <a:custGeom>
                  <a:avLst/>
                  <a:gdLst/>
                  <a:ahLst/>
                  <a:cxnLst/>
                  <a:rect l="l" t="t" r="r" b="b"/>
                  <a:pathLst>
                    <a:path w="9525" h="33338">
                      <a:moveTo>
                        <a:pt x="0" y="0"/>
                      </a:moveTo>
                      <a:lnTo>
                        <a:pt x="0" y="33338"/>
                      </a:lnTo>
                    </a:path>
                  </a:pathLst>
                </a:custGeom>
                <a:noFill/>
                <a:ln w="16669">
                  <a:solidFill>
                    <a:srgbClr val="FFFFFF"/>
                  </a:solidFill>
                </a:ln>
              </p:spPr>
            </p:sp>
            <p:sp>
              <p:nvSpPr>
                <p:cNvPr id="114" name="Freeform 114"/>
                <p:cNvSpPr/>
                <p:nvPr/>
              </p:nvSpPr>
              <p:spPr>
                <a:xfrm>
                  <a:off x="673101" y="3832225"/>
                  <a:ext cx="9525" cy="33338"/>
                </a:xfrm>
                <a:custGeom>
                  <a:avLst/>
                  <a:gdLst/>
                  <a:ahLst/>
                  <a:cxnLst/>
                  <a:rect l="l" t="t" r="r" b="b"/>
                  <a:pathLst>
                    <a:path w="9525" h="33338">
                      <a:moveTo>
                        <a:pt x="0" y="0"/>
                      </a:moveTo>
                      <a:lnTo>
                        <a:pt x="0" y="33338"/>
                      </a:lnTo>
                    </a:path>
                  </a:pathLst>
                </a:custGeom>
                <a:noFill/>
                <a:ln w="16669">
                  <a:solidFill>
                    <a:srgbClr val="FFFFFF"/>
                  </a:solidFill>
                </a:ln>
              </p:spPr>
            </p:sp>
          </p:grpSp>
          <p:sp>
            <p:nvSpPr>
              <p:cNvPr id="116" name="TextBox 116"/>
              <p:cNvSpPr txBox="1"/>
              <p:nvPr/>
            </p:nvSpPr>
            <p:spPr>
              <a:xfrm>
                <a:off x="381572" y="40938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银行动作</a:t>
                </a:r>
              </a:p>
            </p:txBody>
          </p:sp>
          <p:sp>
            <p:nvSpPr>
              <p:cNvPr id="117" name="Rectangle 117"/>
              <p:cNvSpPr/>
              <p:nvPr/>
            </p:nvSpPr>
            <p:spPr>
              <a:xfrm>
                <a:off x="1066800" y="3486150"/>
                <a:ext cx="10801350" cy="1143000"/>
              </a:xfrm>
              <a:prstGeom prst="roundRect">
                <a:avLst>
                  <a:gd name="adj" fmla="val 3333"/>
                </a:avLst>
              </a:prstGeom>
              <a:solidFill>
                <a:srgbClr val="FFFFFF"/>
              </a:solidFill>
              <a:ln w="9525">
                <a:solidFill>
                  <a:srgbClr val="C9D5EA"/>
                </a:solidFill>
              </a:ln>
            </p:spPr>
          </p:sp>
          <p:sp>
            <p:nvSpPr>
              <p:cNvPr id="118" name="Line 118"/>
              <p:cNvSpPr/>
              <p:nvPr/>
            </p:nvSpPr>
            <p:spPr>
              <a:xfrm>
                <a:off x="2609850" y="35433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19" name="Line 119"/>
              <p:cNvSpPr/>
              <p:nvPr/>
            </p:nvSpPr>
            <p:spPr>
              <a:xfrm>
                <a:off x="4152900" y="35433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20" name="Line 120"/>
              <p:cNvSpPr/>
              <p:nvPr/>
            </p:nvSpPr>
            <p:spPr>
              <a:xfrm>
                <a:off x="5695950" y="35433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21" name="Line 121"/>
              <p:cNvSpPr/>
              <p:nvPr/>
            </p:nvSpPr>
            <p:spPr>
              <a:xfrm>
                <a:off x="7239000" y="35433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22" name="Line 122"/>
              <p:cNvSpPr/>
              <p:nvPr/>
            </p:nvSpPr>
            <p:spPr>
              <a:xfrm>
                <a:off x="8782050" y="35433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23" name="Line 123"/>
              <p:cNvSpPr/>
              <p:nvPr/>
            </p:nvSpPr>
            <p:spPr>
              <a:xfrm>
                <a:off x="10325100" y="35433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24" name="TextBox 124"/>
              <p:cNvSpPr txBox="1"/>
              <p:nvPr/>
            </p:nvSpPr>
            <p:spPr>
              <a:xfrm>
                <a:off x="1157288" y="3752136"/>
                <a:ext cx="89770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精准营销与权益触达</a:t>
                </a:r>
              </a:p>
              <a:p>
                <a:pPr algn="l" marL="76644" indent="-76644">
                  <a:lnSpc>
                    <a:spcPts val="1650"/>
                  </a:lnSpc>
                  <a:buClr>
                    <a:srgbClr val="60403A"/>
                  </a:buClr>
                  <a:buSzTx/>
                  <a:buFontTx/>
                  <a:buChar char="•"/>
                </a:pPr>
                <a:r>
                  <a:rPr lang="zh-CN" sz="710" dirty="0">
                    <a:solidFill>
                      <a:srgbClr val="60403A"/>
                    </a:solidFill>
                    <a:latin typeface="+mn-lt"/>
                    <a:ea typeface="+mn-ea"/>
                    <a:cs typeface="+mn-cs"/>
                  </a:rPr>
                  <a:t>简化申请流程</a:t>
                </a:r>
              </a:p>
              <a:p>
                <a:pPr algn="l" marL="76644" indent="-76644">
                  <a:lnSpc>
                    <a:spcPts val="1650"/>
                  </a:lnSpc>
                  <a:buClr>
                    <a:srgbClr val="60403A"/>
                  </a:buClr>
                  <a:buSzTx/>
                  <a:buFontTx/>
                  <a:buChar char="•"/>
                </a:pPr>
                <a:r>
                  <a:rPr lang="zh-CN" sz="710" dirty="0">
                    <a:solidFill>
                      <a:srgbClr val="60403A"/>
                    </a:solidFill>
                    <a:latin typeface="+mn-lt"/>
                    <a:ea typeface="+mn-ea"/>
                    <a:cs typeface="+mn-cs"/>
                  </a:rPr>
                  <a:t>风险预评估与指引</a:t>
                </a:r>
              </a:p>
            </p:txBody>
          </p:sp>
          <p:sp>
            <p:nvSpPr>
              <p:cNvPr id="125" name="TextBox 125"/>
              <p:cNvSpPr txBox="1"/>
              <p:nvPr/>
            </p:nvSpPr>
            <p:spPr>
              <a:xfrm>
                <a:off x="2700338" y="3752136"/>
                <a:ext cx="726376"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实时进度通知</a:t>
                </a:r>
              </a:p>
              <a:p>
                <a:pPr algn="l" marL="76644" indent="-76644">
                  <a:lnSpc>
                    <a:spcPts val="1650"/>
                  </a:lnSpc>
                  <a:buClr>
                    <a:srgbClr val="60403A"/>
                  </a:buClr>
                  <a:buSzTx/>
                  <a:buFontTx/>
                  <a:buChar char="•"/>
                </a:pPr>
                <a:r>
                  <a:rPr lang="zh-CN" sz="710" dirty="0">
                    <a:solidFill>
                      <a:srgbClr val="60403A"/>
                    </a:solidFill>
                    <a:latin typeface="+mn-lt"/>
                    <a:ea typeface="+mn-ea"/>
                    <a:cs typeface="+mn-cs"/>
                  </a:rPr>
                  <a:t>审核加速与提醒</a:t>
                </a:r>
              </a:p>
              <a:p>
                <a:pPr algn="l" marL="76644" indent="-76644">
                  <a:lnSpc>
                    <a:spcPts val="1650"/>
                  </a:lnSpc>
                  <a:buClr>
                    <a:srgbClr val="60403A"/>
                  </a:buClr>
                  <a:buSzTx/>
                  <a:buFontTx/>
                  <a:buChar char="•"/>
                </a:pPr>
                <a:r>
                  <a:rPr lang="zh-CN" sz="710" dirty="0">
                    <a:solidFill>
                      <a:srgbClr val="60403A"/>
                    </a:solidFill>
                    <a:latin typeface="+mn-lt"/>
                    <a:ea typeface="+mn-ea"/>
                    <a:cs typeface="+mn-cs"/>
                  </a:rPr>
                  <a:t>到卡/结果预告​</a:t>
                </a:r>
              </a:p>
            </p:txBody>
          </p:sp>
          <p:sp>
            <p:nvSpPr>
              <p:cNvPr id="126" name="TextBox 126"/>
              <p:cNvSpPr txBox="1"/>
              <p:nvPr/>
            </p:nvSpPr>
            <p:spPr>
              <a:xfrm>
                <a:off x="4243388" y="3752136"/>
                <a:ext cx="89770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激活引导与一键绑卡</a:t>
                </a:r>
              </a:p>
              <a:p>
                <a:pPr algn="l" marL="76644" indent="-76644">
                  <a:lnSpc>
                    <a:spcPts val="1650"/>
                  </a:lnSpc>
                  <a:buClr>
                    <a:srgbClr val="60403A"/>
                  </a:buClr>
                  <a:buSzTx/>
                  <a:buFontTx/>
                  <a:buChar char="•"/>
                </a:pPr>
                <a:r>
                  <a:rPr lang="zh-CN" sz="710" dirty="0">
                    <a:solidFill>
                      <a:srgbClr val="60403A"/>
                    </a:solidFill>
                    <a:latin typeface="+mn-lt"/>
                    <a:ea typeface="+mn-ea"/>
                    <a:cs typeface="+mn-cs"/>
                  </a:rPr>
                  <a:t>新户礼包与任务推送</a:t>
                </a:r>
              </a:p>
              <a:p>
                <a:pPr algn="l" marL="76644" indent="-76644">
                  <a:lnSpc>
                    <a:spcPts val="1650"/>
                  </a:lnSpc>
                  <a:buClr>
                    <a:srgbClr val="60403A"/>
                  </a:buClr>
                  <a:buSzTx/>
                  <a:buFontTx/>
                  <a:buChar char="•"/>
                </a:pPr>
                <a:r>
                  <a:rPr lang="zh-CN" sz="710" dirty="0">
                    <a:solidFill>
                      <a:srgbClr val="60403A"/>
                    </a:solidFill>
                    <a:latin typeface="+mn-lt"/>
                    <a:ea typeface="+mn-ea"/>
                    <a:cs typeface="+mn-cs"/>
                  </a:rPr>
                  <a:t>安全用卡教育</a:t>
                </a:r>
              </a:p>
            </p:txBody>
          </p:sp>
          <p:sp>
            <p:nvSpPr>
              <p:cNvPr id="127" name="TextBox 127"/>
              <p:cNvSpPr txBox="1"/>
              <p:nvPr/>
            </p:nvSpPr>
            <p:spPr>
              <a:xfrm>
                <a:off x="5786438" y="3752136"/>
                <a:ext cx="71736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首刷任务与奖励</a:t>
                </a:r>
              </a:p>
              <a:p>
                <a:pPr algn="l" marL="76644" indent="-76644">
                  <a:lnSpc>
                    <a:spcPts val="1650"/>
                  </a:lnSpc>
                  <a:buClr>
                    <a:srgbClr val="60403A"/>
                  </a:buClr>
                  <a:buSzTx/>
                  <a:buFontTx/>
                  <a:buChar char="•"/>
                </a:pPr>
                <a:r>
                  <a:rPr lang="zh-CN" sz="710" dirty="0">
                    <a:solidFill>
                      <a:srgbClr val="60403A"/>
                    </a:solidFill>
                    <a:latin typeface="+mn-lt"/>
                    <a:ea typeface="+mn-ea"/>
                    <a:cs typeface="+mn-cs"/>
                  </a:rPr>
                  <a:t>场景化营销推荐</a:t>
                </a:r>
              </a:p>
              <a:p>
                <a:pPr algn="l" marL="76644" indent="-76644">
                  <a:lnSpc>
                    <a:spcPts val="1650"/>
                  </a:lnSpc>
                  <a:buClr>
                    <a:srgbClr val="60403A"/>
                  </a:buClr>
                  <a:buSzTx/>
                  <a:buFontTx/>
                  <a:buChar char="•"/>
                </a:pPr>
                <a:r>
                  <a:rPr lang="zh-CN" sz="710" dirty="0">
                    <a:solidFill>
                      <a:srgbClr val="60403A"/>
                    </a:solidFill>
                    <a:latin typeface="+mn-lt"/>
                    <a:ea typeface="+mn-ea"/>
                    <a:cs typeface="+mn-cs"/>
                  </a:rPr>
                  <a:t>用卡攻略推送</a:t>
                </a:r>
              </a:p>
            </p:txBody>
          </p:sp>
          <p:sp>
            <p:nvSpPr>
              <p:cNvPr id="128" name="TextBox 128"/>
              <p:cNvSpPr txBox="1"/>
              <p:nvPr/>
            </p:nvSpPr>
            <p:spPr>
              <a:xfrm>
                <a:off x="7329488" y="3752136"/>
                <a:ext cx="996886"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精准优惠与活动推送</a:t>
                </a:r>
              </a:p>
              <a:p>
                <a:pPr algn="l" marL="76644" indent="-76644">
                  <a:lnSpc>
                    <a:spcPts val="1650"/>
                  </a:lnSpc>
                  <a:buClr>
                    <a:srgbClr val="60403A"/>
                  </a:buClr>
                  <a:buSzTx/>
                  <a:buFontTx/>
                  <a:buChar char="•"/>
                </a:pPr>
                <a:r>
                  <a:rPr lang="zh-CN" sz="710" dirty="0">
                    <a:solidFill>
                      <a:srgbClr val="60403A"/>
                    </a:solidFill>
                    <a:latin typeface="+mn-lt"/>
                    <a:ea typeface="+mn-ea"/>
                    <a:cs typeface="+mn-cs"/>
                  </a:rPr>
                  <a:t>消费提醒与洞察</a:t>
                </a:r>
              </a:p>
              <a:p>
                <a:pPr algn="l" marL="76644" indent="-76644">
                  <a:lnSpc>
                    <a:spcPts val="1650"/>
                  </a:lnSpc>
                  <a:buClr>
                    <a:srgbClr val="60403A"/>
                  </a:buClr>
                  <a:buSzTx/>
                  <a:buFontTx/>
                  <a:buChar char="•"/>
                </a:pPr>
                <a:r>
                  <a:rPr lang="zh-CN" sz="710" dirty="0">
                    <a:solidFill>
                      <a:srgbClr val="60403A"/>
                    </a:solidFill>
                    <a:latin typeface="+mn-lt"/>
                    <a:ea typeface="+mn-ea"/>
                    <a:cs typeface="+mn-cs"/>
                  </a:rPr>
                  <a:t>分期/提额等产品推荐​</a:t>
                </a:r>
              </a:p>
            </p:txBody>
          </p:sp>
          <p:sp>
            <p:nvSpPr>
              <p:cNvPr id="129" name="TextBox 129"/>
              <p:cNvSpPr txBox="1"/>
              <p:nvPr/>
            </p:nvSpPr>
            <p:spPr>
              <a:xfrm>
                <a:off x="8872538" y="3752136"/>
                <a:ext cx="89770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高价值客户专属权益</a:t>
                </a:r>
              </a:p>
              <a:p>
                <a:pPr algn="l" marL="76644" indent="-76644">
                  <a:lnSpc>
                    <a:spcPts val="1650"/>
                  </a:lnSpc>
                  <a:buClr>
                    <a:srgbClr val="60403A"/>
                  </a:buClr>
                  <a:buSzTx/>
                  <a:buFontTx/>
                  <a:buChar char="•"/>
                </a:pPr>
                <a:r>
                  <a:rPr lang="zh-CN" sz="710" dirty="0">
                    <a:solidFill>
                      <a:srgbClr val="60403A"/>
                    </a:solidFill>
                    <a:latin typeface="+mn-lt"/>
                    <a:ea typeface="+mn-ea"/>
                    <a:cs typeface="+mn-cs"/>
                  </a:rPr>
                  <a:t>资产配置与交叉销售</a:t>
                </a:r>
              </a:p>
              <a:p>
                <a:pPr algn="l" marL="76644" indent="-76644">
                  <a:lnSpc>
                    <a:spcPts val="1650"/>
                  </a:lnSpc>
                  <a:buClr>
                    <a:srgbClr val="60403A"/>
                  </a:buClr>
                  <a:buSzTx/>
                  <a:buFontTx/>
                  <a:buChar char="•"/>
                </a:pPr>
                <a:r>
                  <a:rPr lang="zh-CN" sz="710" dirty="0">
                    <a:solidFill>
                      <a:srgbClr val="60403A"/>
                    </a:solidFill>
                    <a:latin typeface="+mn-lt"/>
                    <a:ea typeface="+mn-ea"/>
                    <a:cs typeface="+mn-cs"/>
                  </a:rPr>
                  <a:t>生日/节日关怀​</a:t>
                </a:r>
              </a:p>
            </p:txBody>
          </p:sp>
          <p:sp>
            <p:nvSpPr>
              <p:cNvPr id="130" name="TextBox 130"/>
              <p:cNvSpPr txBox="1"/>
              <p:nvPr/>
            </p:nvSpPr>
            <p:spPr>
              <a:xfrm>
                <a:off x="10415588" y="3752136"/>
                <a:ext cx="897700" cy="559594"/>
              </a:xfrm>
              <a:prstGeom prst="rect">
                <a:avLst/>
              </a:prstGeom>
              <a:noFill/>
              <a:ln>
                <a:noFill/>
              </a:ln>
            </p:spPr>
            <p:txBody>
              <a:bodyPr wrap="none" lIns="0" tIns="0" rIns="0" bIns="0" anchor="t" anchorCtr="0">
                <a:spAutoFit/>
              </a:bodyPr>
              <a:lstStyle/>
              <a:p>
                <a:pPr algn="l" marL="76644" indent="-76644">
                  <a:lnSpc>
                    <a:spcPts val="1650"/>
                  </a:lnSpc>
                  <a:buClr>
                    <a:srgbClr val="60403A"/>
                  </a:buClr>
                  <a:buSzTx/>
                  <a:buFontTx/>
                  <a:buChar char="•"/>
                </a:pPr>
                <a:r>
                  <a:rPr lang="zh-CN" sz="710" dirty="0">
                    <a:solidFill>
                      <a:srgbClr val="60403A"/>
                    </a:solidFill>
                    <a:latin typeface="+mn-lt"/>
                    <a:ea typeface="+mn-ea"/>
                    <a:cs typeface="+mn-cs"/>
                  </a:rPr>
                  <a:t>流失预警与关键触达</a:t>
                </a:r>
              </a:p>
              <a:p>
                <a:pPr algn="l" marL="76644" indent="-76644">
                  <a:lnSpc>
                    <a:spcPts val="1650"/>
                  </a:lnSpc>
                  <a:buClr>
                    <a:srgbClr val="60403A"/>
                  </a:buClr>
                  <a:buSzTx/>
                  <a:buFontTx/>
                  <a:buChar char="•"/>
                </a:pPr>
                <a:r>
                  <a:rPr lang="zh-CN" sz="710" dirty="0">
                    <a:solidFill>
                      <a:srgbClr val="60403A"/>
                    </a:solidFill>
                    <a:latin typeface="+mn-lt"/>
                    <a:ea typeface="+mn-ea"/>
                    <a:cs typeface="+mn-cs"/>
                  </a:rPr>
                  <a:t>原因洞察与解决方案</a:t>
                </a:r>
              </a:p>
              <a:p>
                <a:pPr algn="l" marL="76644" indent="-76644">
                  <a:lnSpc>
                    <a:spcPts val="1650"/>
                  </a:lnSpc>
                  <a:buClr>
                    <a:srgbClr val="60403A"/>
                  </a:buClr>
                  <a:buSzTx/>
                  <a:buFontTx/>
                  <a:buChar char="•"/>
                </a:pPr>
                <a:r>
                  <a:rPr lang="zh-CN" sz="710" dirty="0">
                    <a:solidFill>
                      <a:srgbClr val="60403A"/>
                    </a:solidFill>
                    <a:latin typeface="+mn-lt"/>
                    <a:ea typeface="+mn-ea"/>
                    <a:cs typeface="+mn-cs"/>
                  </a:rPr>
                  <a:t>召回激励与再激活</a:t>
                </a:r>
              </a:p>
            </p:txBody>
          </p:sp>
        </p:grpSp>
        <p:grpSp>
          <p:nvGrpSpPr>
            <p:cNvPr id="151" name="row-kpi"/>
            <p:cNvGrpSpPr/>
            <p:nvPr/>
          </p:nvGrpSpPr>
          <p:grpSpPr>
            <a:xfrm>
              <a:off x="228600" y="4667250"/>
              <a:ext cx="11639550" cy="1143000"/>
              <a:chOff x="228600" y="4667250"/>
              <a:chExt cx="11639550" cy="1143000"/>
            </a:xfrm>
          </p:grpSpPr>
          <p:sp>
            <p:nvSpPr>
              <p:cNvPr id="132" name="Rectangle 132"/>
              <p:cNvSpPr/>
              <p:nvPr/>
            </p:nvSpPr>
            <p:spPr>
              <a:xfrm>
                <a:off x="228600" y="4667250"/>
                <a:ext cx="800100" cy="1143000"/>
              </a:xfrm>
              <a:prstGeom prst="roundRect">
                <a:avLst>
                  <a:gd name="adj" fmla="val 4762"/>
                </a:avLst>
              </a:prstGeom>
              <a:solidFill>
                <a:srgbClr val="520E00"/>
              </a:solidFill>
              <a:ln>
                <a:noFill/>
              </a:ln>
            </p:spPr>
          </p:sp>
          <p:grpSp>
            <p:nvGrpSpPr>
              <p:cNvPr id="135" name="Group 135"/>
              <p:cNvGrpSpPr/>
              <p:nvPr/>
            </p:nvGrpSpPr>
            <p:grpSpPr>
              <a:xfrm>
                <a:off x="539750" y="4886325"/>
                <a:ext cx="177801" cy="153988"/>
                <a:chOff x="539750" y="4886325"/>
                <a:chExt cx="177801" cy="153988"/>
              </a:xfrm>
            </p:grpSpPr>
            <p:sp>
              <p:nvSpPr>
                <p:cNvPr id="133" name="Freeform 133"/>
                <p:cNvSpPr/>
                <p:nvPr/>
              </p:nvSpPr>
              <p:spPr>
                <a:xfrm>
                  <a:off x="539750" y="5030788"/>
                  <a:ext cx="177801" cy="9525"/>
                </a:xfrm>
                <a:custGeom>
                  <a:avLst/>
                  <a:gdLst/>
                  <a:ahLst/>
                  <a:cxnLst/>
                  <a:rect l="l" t="t" r="r" b="b"/>
                  <a:pathLst>
                    <a:path w="177801" h="9525">
                      <a:moveTo>
                        <a:pt x="0" y="0"/>
                      </a:moveTo>
                      <a:lnTo>
                        <a:pt x="177801" y="0"/>
                      </a:lnTo>
                    </a:path>
                  </a:pathLst>
                </a:custGeom>
                <a:noFill/>
                <a:ln w="16669">
                  <a:solidFill>
                    <a:srgbClr val="FFFFFF"/>
                  </a:solidFill>
                </a:ln>
              </p:spPr>
            </p:sp>
            <p:sp>
              <p:nvSpPr>
                <p:cNvPr id="134" name="Freeform 134"/>
                <p:cNvSpPr/>
                <p:nvPr/>
              </p:nvSpPr>
              <p:spPr>
                <a:xfrm>
                  <a:off x="539750" y="4886325"/>
                  <a:ext cx="177801" cy="100013"/>
                </a:xfrm>
                <a:custGeom>
                  <a:avLst/>
                  <a:gdLst/>
                  <a:ahLst/>
                  <a:cxnLst/>
                  <a:rect l="l" t="t" r="r" b="b"/>
                  <a:pathLst>
                    <a:path w="177801" h="100013">
                      <a:moveTo>
                        <a:pt x="0" y="100013"/>
                      </a:moveTo>
                      <a:lnTo>
                        <a:pt x="44450" y="33338"/>
                      </a:lnTo>
                      <a:lnTo>
                        <a:pt x="88900" y="55563"/>
                      </a:lnTo>
                      <a:lnTo>
                        <a:pt x="133350" y="0"/>
                      </a:lnTo>
                      <a:lnTo>
                        <a:pt x="177801" y="44450"/>
                      </a:lnTo>
                    </a:path>
                  </a:pathLst>
                </a:custGeom>
                <a:noFill/>
                <a:ln w="16669">
                  <a:solidFill>
                    <a:srgbClr val="FFFFFF"/>
                  </a:solidFill>
                </a:ln>
              </p:spPr>
            </p:sp>
          </p:grpSp>
          <p:sp>
            <p:nvSpPr>
              <p:cNvPr id="136" name="TextBox 136"/>
              <p:cNvSpPr txBox="1"/>
              <p:nvPr/>
            </p:nvSpPr>
            <p:spPr>
              <a:xfrm>
                <a:off x="395288" y="5198745"/>
                <a:ext cx="466725" cy="328612"/>
              </a:xfrm>
              <a:prstGeom prst="rect">
                <a:avLst/>
              </a:prstGeom>
              <a:noFill/>
              <a:ln>
                <a:noFill/>
              </a:ln>
            </p:spPr>
            <p:txBody>
              <a:bodyPr wrap="none" lIns="0" tIns="0" rIns="0" bIns="0" anchor="t" anchorCtr="0">
                <a:spAutoFit/>
              </a:bodyPr>
              <a:lstStyle/>
              <a:p>
                <a:pPr algn="ctr">
                  <a:lnSpc>
                    <a:spcPts val="1200"/>
                  </a:lnSpc>
                </a:pPr>
                <a:r>
                  <a:rPr lang="zh-CN" sz="900" b="1" dirty="0">
                    <a:solidFill>
                      <a:srgbClr val="FFFFFF"/>
                    </a:solidFill>
                    <a:latin typeface="+mn-lt"/>
                    <a:ea typeface="+mn-ea"/>
                    <a:cs typeface="+mn-cs"/>
                  </a:rPr>
                  <a:t>核心指标</a:t>
                </a:r>
                <a:br/>
                <a:r>
                  <a:rPr lang="en-US" sz="900" b="1" dirty="0">
                    <a:solidFill>
                      <a:srgbClr val="FFFFFF"/>
                    </a:solidFill>
                    <a:latin typeface="+mn-lt"/>
                    <a:ea typeface="+mn-ea"/>
                    <a:cs typeface="+mn-cs"/>
                  </a:rPr>
                  <a:t>KPI​</a:t>
                </a:r>
              </a:p>
            </p:txBody>
          </p:sp>
          <p:sp>
            <p:nvSpPr>
              <p:cNvPr id="137" name="Rectangle 137"/>
              <p:cNvSpPr/>
              <p:nvPr/>
            </p:nvSpPr>
            <p:spPr>
              <a:xfrm>
                <a:off x="1066800" y="4667250"/>
                <a:ext cx="10801350" cy="1143000"/>
              </a:xfrm>
              <a:prstGeom prst="roundRect">
                <a:avLst>
                  <a:gd name="adj" fmla="val 3333"/>
                </a:avLst>
              </a:prstGeom>
              <a:solidFill>
                <a:srgbClr val="F5F8FE"/>
              </a:solidFill>
              <a:ln w="9525">
                <a:solidFill>
                  <a:srgbClr val="C9D5EA"/>
                </a:solidFill>
              </a:ln>
            </p:spPr>
          </p:sp>
          <p:sp>
            <p:nvSpPr>
              <p:cNvPr id="138" name="Line 138"/>
              <p:cNvSpPr/>
              <p:nvPr/>
            </p:nvSpPr>
            <p:spPr>
              <a:xfrm>
                <a:off x="2609850" y="47244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39" name="Line 139"/>
              <p:cNvSpPr/>
              <p:nvPr/>
            </p:nvSpPr>
            <p:spPr>
              <a:xfrm>
                <a:off x="4152900" y="47244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40" name="Line 140"/>
              <p:cNvSpPr/>
              <p:nvPr/>
            </p:nvSpPr>
            <p:spPr>
              <a:xfrm>
                <a:off x="5695950" y="47244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41" name="Line 141"/>
              <p:cNvSpPr/>
              <p:nvPr/>
            </p:nvSpPr>
            <p:spPr>
              <a:xfrm>
                <a:off x="7239000" y="47244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42" name="Line 142"/>
              <p:cNvSpPr/>
              <p:nvPr/>
            </p:nvSpPr>
            <p:spPr>
              <a:xfrm>
                <a:off x="8782050" y="47244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43" name="Line 143"/>
              <p:cNvSpPr/>
              <p:nvPr/>
            </p:nvSpPr>
            <p:spPr>
              <a:xfrm>
                <a:off x="10325100" y="4724400"/>
                <a:ext cx="9525" cy="1028700"/>
              </a:xfrm>
              <a:custGeom>
                <a:avLst/>
                <a:gdLst/>
                <a:ahLst/>
                <a:cxnLst/>
                <a:rect l="l" t="t" r="r" b="b"/>
                <a:pathLst>
                  <a:path w="9525" h="1028700">
                    <a:moveTo>
                      <a:pt x="0" y="0"/>
                    </a:moveTo>
                    <a:lnTo>
                      <a:pt x="0" y="1028700"/>
                    </a:lnTo>
                  </a:path>
                </a:pathLst>
              </a:custGeom>
              <a:noFill/>
              <a:ln w="9525">
                <a:solidFill>
                  <a:srgbClr val="DCE6F5"/>
                </a:solidFill>
              </a:ln>
            </p:spPr>
          </p:sp>
          <p:sp>
            <p:nvSpPr>
              <p:cNvPr id="144" name="TextBox 144"/>
              <p:cNvSpPr txBox="1"/>
              <p:nvPr/>
            </p:nvSpPr>
            <p:spPr>
              <a:xfrm>
                <a:off x="1157288" y="4933236"/>
                <a:ext cx="967130" cy="559594"/>
              </a:xfrm>
              <a:prstGeom prst="rect">
                <a:avLst/>
              </a:prstGeom>
              <a:noFill/>
              <a:ln>
                <a:noFill/>
              </a:ln>
            </p:spPr>
            <p:txBody>
              <a:bodyPr wrap="none" lIns="0" tIns="0" rIns="0" bIns="0" anchor="t" anchorCtr="0">
                <a:spAutoFit/>
              </a:bodyPr>
              <a:lstStyle/>
              <a:p>
                <a:pPr algn="l" marL="80477" indent="-80477">
                  <a:lnSpc>
                    <a:spcPts val="1650"/>
                  </a:lnSpc>
                  <a:buClr>
                    <a:srgbClr val="8A1700"/>
                  </a:buClr>
                  <a:buSzTx/>
                  <a:buFontTx/>
                  <a:buChar char="•"/>
                </a:pPr>
                <a:r>
                  <a:rPr lang="zh-CN" sz="710" b="1" dirty="0">
                    <a:solidFill>
                      <a:srgbClr val="8A1700"/>
                    </a:solidFill>
                    <a:latin typeface="+mn-lt"/>
                    <a:ea typeface="+mn-ea"/>
                    <a:cs typeface="+mn-cs"/>
                  </a:rPr>
                  <a:t>申请转化率 ≥ 10%​</a:t>
                </a:r>
              </a:p>
              <a:p>
                <a:pPr algn="l" marL="80477" indent="-80477">
                  <a:lnSpc>
                    <a:spcPts val="1650"/>
                  </a:lnSpc>
                  <a:buClr>
                    <a:srgbClr val="8A1700"/>
                  </a:buClr>
                  <a:buSzTx/>
                  <a:buFontTx/>
                  <a:buChar char="•"/>
                </a:pPr>
                <a:r>
                  <a:rPr lang="zh-CN" sz="710" b="1" dirty="0">
                    <a:solidFill>
                      <a:srgbClr val="8A1700"/>
                    </a:solidFill>
                    <a:latin typeface="+mn-lt"/>
                    <a:ea typeface="+mn-ea"/>
                    <a:cs typeface="+mn-cs"/>
                  </a:rPr>
                  <a:t>有效申请占比 ≥ 85%​</a:t>
                </a:r>
              </a:p>
              <a:p>
                <a:pPr algn="l" marL="80477" indent="-80477">
                  <a:lnSpc>
                    <a:spcPts val="1650"/>
                  </a:lnSpc>
                  <a:buClr>
                    <a:srgbClr val="8A1700"/>
                  </a:buClr>
                  <a:buSzTx/>
                  <a:buFontTx/>
                  <a:buChar char="•"/>
                </a:pPr>
                <a:r>
                  <a:rPr lang="zh-CN" sz="710" b="1" dirty="0">
                    <a:solidFill>
                      <a:srgbClr val="8A1700"/>
                    </a:solidFill>
                    <a:latin typeface="+mn-lt"/>
                    <a:ea typeface="+mn-ea"/>
                    <a:cs typeface="+mn-cs"/>
                  </a:rPr>
                  <a:t>获客成本（CPA）​</a:t>
                </a:r>
              </a:p>
            </p:txBody>
          </p:sp>
          <p:sp>
            <p:nvSpPr>
              <p:cNvPr id="145" name="TextBox 145"/>
              <p:cNvSpPr txBox="1"/>
              <p:nvPr/>
            </p:nvSpPr>
            <p:spPr>
              <a:xfrm>
                <a:off x="2700338" y="4933236"/>
                <a:ext cx="876960" cy="559594"/>
              </a:xfrm>
              <a:prstGeom prst="rect">
                <a:avLst/>
              </a:prstGeom>
              <a:noFill/>
              <a:ln>
                <a:noFill/>
              </a:ln>
            </p:spPr>
            <p:txBody>
              <a:bodyPr wrap="none" lIns="0" tIns="0" rIns="0" bIns="0" anchor="t" anchorCtr="0">
                <a:spAutoFit/>
              </a:bodyPr>
              <a:lstStyle/>
              <a:p>
                <a:pPr algn="l" marL="80477" indent="-80477">
                  <a:lnSpc>
                    <a:spcPts val="1650"/>
                  </a:lnSpc>
                  <a:buClr>
                    <a:srgbClr val="8A1700"/>
                  </a:buClr>
                  <a:buSzTx/>
                  <a:buFontTx/>
                  <a:buChar char="•"/>
                </a:pPr>
                <a:r>
                  <a:rPr lang="zh-CN" sz="710" b="1" dirty="0">
                    <a:solidFill>
                      <a:srgbClr val="8A1700"/>
                    </a:solidFill>
                    <a:latin typeface="+mn-lt"/>
                    <a:ea typeface="+mn-ea"/>
                    <a:cs typeface="+mn-cs"/>
                  </a:rPr>
                  <a:t>核卡时效 ≤ 2 天​</a:t>
                </a:r>
              </a:p>
              <a:p>
                <a:pPr algn="l" marL="80477" indent="-80477">
                  <a:lnSpc>
                    <a:spcPts val="1650"/>
                  </a:lnSpc>
                  <a:buClr>
                    <a:srgbClr val="8A1700"/>
                  </a:buClr>
                  <a:buSzTx/>
                  <a:buFontTx/>
                  <a:buChar char="•"/>
                </a:pPr>
                <a:r>
                  <a:rPr lang="zh-CN" sz="710" b="1" dirty="0">
                    <a:solidFill>
                      <a:srgbClr val="8A1700"/>
                    </a:solidFill>
                    <a:latin typeface="+mn-lt"/>
                    <a:ea typeface="+mn-ea"/>
                    <a:cs typeface="+mn-cs"/>
                  </a:rPr>
                  <a:t>进度查询率 ≥ 30%​</a:t>
                </a:r>
              </a:p>
              <a:p>
                <a:pPr algn="l" marL="80477" indent="-80477">
                  <a:lnSpc>
                    <a:spcPts val="1650"/>
                  </a:lnSpc>
                  <a:buClr>
                    <a:srgbClr val="8A1700"/>
                  </a:buClr>
                  <a:buSzTx/>
                  <a:buFontTx/>
                  <a:buChar char="•"/>
                </a:pPr>
                <a:r>
                  <a:rPr lang="zh-CN" sz="710" b="1" dirty="0">
                    <a:solidFill>
                      <a:srgbClr val="8A1700"/>
                    </a:solidFill>
                    <a:latin typeface="+mn-lt"/>
                    <a:ea typeface="+mn-ea"/>
                    <a:cs typeface="+mn-cs"/>
                  </a:rPr>
                  <a:t>客户满意度 ≥ 90%​</a:t>
                </a:r>
              </a:p>
            </p:txBody>
          </p:sp>
          <p:sp>
            <p:nvSpPr>
              <p:cNvPr id="146" name="TextBox 146"/>
              <p:cNvSpPr txBox="1"/>
              <p:nvPr/>
            </p:nvSpPr>
            <p:spPr>
              <a:xfrm>
                <a:off x="4243388" y="4933236"/>
                <a:ext cx="1052566" cy="559594"/>
              </a:xfrm>
              <a:prstGeom prst="rect">
                <a:avLst/>
              </a:prstGeom>
              <a:noFill/>
              <a:ln>
                <a:noFill/>
              </a:ln>
            </p:spPr>
            <p:txBody>
              <a:bodyPr wrap="none" lIns="0" tIns="0" rIns="0" bIns="0" anchor="t" anchorCtr="0">
                <a:spAutoFit/>
              </a:bodyPr>
              <a:lstStyle/>
              <a:p>
                <a:pPr algn="l" marL="80477" indent="-80477">
                  <a:lnSpc>
                    <a:spcPts val="1650"/>
                  </a:lnSpc>
                  <a:buClr>
                    <a:srgbClr val="8A1700"/>
                  </a:buClr>
                  <a:buSzTx/>
                  <a:buFontTx/>
                  <a:buChar char="•"/>
                </a:pPr>
                <a:r>
                  <a:rPr lang="zh-CN" sz="710" b="1" dirty="0">
                    <a:solidFill>
                      <a:srgbClr val="8A1700"/>
                    </a:solidFill>
                    <a:latin typeface="+mn-lt"/>
                    <a:ea typeface="+mn-ea"/>
                    <a:cs typeface="+mn-cs"/>
                  </a:rPr>
                  <a:t>激活率 ≥ 60%​</a:t>
                </a:r>
              </a:p>
              <a:p>
                <a:pPr algn="l" marL="80477" indent="-80477">
                  <a:lnSpc>
                    <a:spcPts val="1650"/>
                  </a:lnSpc>
                  <a:buClr>
                    <a:srgbClr val="8A1700"/>
                  </a:buClr>
                  <a:buSzTx/>
                  <a:buFontTx/>
                  <a:buChar char="•"/>
                </a:pPr>
                <a:r>
                  <a:rPr lang="zh-CN" sz="710" b="1" dirty="0">
                    <a:solidFill>
                      <a:srgbClr val="8A1700"/>
                    </a:solidFill>
                    <a:latin typeface="+mn-lt"/>
                    <a:ea typeface="+mn-ea"/>
                    <a:cs typeface="+mn-cs"/>
                  </a:rPr>
                  <a:t>绑卡率 ≥ 50%​</a:t>
                </a:r>
              </a:p>
              <a:p>
                <a:pPr algn="l" marL="80477" indent="-80477">
                  <a:lnSpc>
                    <a:spcPts val="1650"/>
                  </a:lnSpc>
                  <a:buClr>
                    <a:srgbClr val="8A1700"/>
                  </a:buClr>
                  <a:buSzTx/>
                  <a:buFontTx/>
                  <a:buChar char="•"/>
                </a:pPr>
                <a:r>
                  <a:rPr lang="zh-CN" sz="710" b="1" dirty="0">
                    <a:solidFill>
                      <a:srgbClr val="8A1700"/>
                    </a:solidFill>
                    <a:latin typeface="+mn-lt"/>
                    <a:ea typeface="+mn-ea"/>
                    <a:cs typeface="+mn-cs"/>
                  </a:rPr>
                  <a:t>激活后7天留存率≥50%​</a:t>
                </a:r>
              </a:p>
            </p:txBody>
          </p:sp>
          <p:sp>
            <p:nvSpPr>
              <p:cNvPr id="147" name="TextBox 147"/>
              <p:cNvSpPr txBox="1"/>
              <p:nvPr/>
            </p:nvSpPr>
            <p:spPr>
              <a:xfrm>
                <a:off x="5786438" y="4933236"/>
                <a:ext cx="1057300" cy="559594"/>
              </a:xfrm>
              <a:prstGeom prst="rect">
                <a:avLst/>
              </a:prstGeom>
              <a:noFill/>
              <a:ln>
                <a:noFill/>
              </a:ln>
            </p:spPr>
            <p:txBody>
              <a:bodyPr wrap="none" lIns="0" tIns="0" rIns="0" bIns="0" anchor="t" anchorCtr="0">
                <a:spAutoFit/>
              </a:bodyPr>
              <a:lstStyle/>
              <a:p>
                <a:pPr algn="l" marL="80477" indent="-80477">
                  <a:lnSpc>
                    <a:spcPts val="1650"/>
                  </a:lnSpc>
                  <a:buClr>
                    <a:srgbClr val="8A1700"/>
                  </a:buClr>
                  <a:buSzTx/>
                  <a:buFontTx/>
                  <a:buChar char="•"/>
                </a:pPr>
                <a:r>
                  <a:rPr lang="zh-CN" sz="710" b="1" dirty="0">
                    <a:solidFill>
                      <a:srgbClr val="8A1700"/>
                    </a:solidFill>
                    <a:latin typeface="+mn-lt"/>
                    <a:ea typeface="+mn-ea"/>
                    <a:cs typeface="+mn-cs"/>
                  </a:rPr>
                  <a:t>首刷率 ≥ 40%​</a:t>
                </a:r>
              </a:p>
              <a:p>
                <a:pPr algn="l" marL="80477" indent="-80477">
                  <a:lnSpc>
                    <a:spcPts val="1650"/>
                  </a:lnSpc>
                  <a:buClr>
                    <a:srgbClr val="8A1700"/>
                  </a:buClr>
                  <a:buSzTx/>
                  <a:buFontTx/>
                  <a:buChar char="•"/>
                </a:pPr>
                <a:r>
                  <a:rPr lang="zh-CN" sz="710" b="1" dirty="0">
                    <a:solidFill>
                      <a:srgbClr val="8A1700"/>
                    </a:solidFill>
                    <a:latin typeface="+mn-lt"/>
                    <a:ea typeface="+mn-ea"/>
                    <a:cs typeface="+mn-cs"/>
                  </a:rPr>
                  <a:t>首刷转化时效 ≤ 7 天​</a:t>
                </a:r>
              </a:p>
              <a:p>
                <a:pPr algn="l" marL="80477" indent="-80477">
                  <a:lnSpc>
                    <a:spcPts val="1650"/>
                  </a:lnSpc>
                  <a:buClr>
                    <a:srgbClr val="8A1700"/>
                  </a:buClr>
                  <a:buSzTx/>
                  <a:buFontTx/>
                  <a:buChar char="•"/>
                </a:pPr>
                <a:r>
                  <a:rPr lang="zh-CN" sz="710" b="1" dirty="0">
                    <a:solidFill>
                      <a:srgbClr val="8A1700"/>
                    </a:solidFill>
                    <a:latin typeface="+mn-lt"/>
                    <a:ea typeface="+mn-ea"/>
                    <a:cs typeface="+mn-cs"/>
                  </a:rPr>
                  <a:t>首刷奖励核销率 ≥ 70%​</a:t>
                </a:r>
              </a:p>
            </p:txBody>
          </p:sp>
          <p:sp>
            <p:nvSpPr>
              <p:cNvPr id="148" name="TextBox 148"/>
              <p:cNvSpPr txBox="1"/>
              <p:nvPr/>
            </p:nvSpPr>
            <p:spPr>
              <a:xfrm>
                <a:off x="7329488" y="4933236"/>
                <a:ext cx="1057300" cy="559594"/>
              </a:xfrm>
              <a:prstGeom prst="rect">
                <a:avLst/>
              </a:prstGeom>
              <a:noFill/>
              <a:ln>
                <a:noFill/>
              </a:ln>
            </p:spPr>
            <p:txBody>
              <a:bodyPr wrap="none" lIns="0" tIns="0" rIns="0" bIns="0" anchor="t" anchorCtr="0">
                <a:spAutoFit/>
              </a:bodyPr>
              <a:lstStyle/>
              <a:p>
                <a:pPr algn="l" marL="80477" indent="-80477">
                  <a:lnSpc>
                    <a:spcPts val="1650"/>
                  </a:lnSpc>
                  <a:buClr>
                    <a:srgbClr val="8A1700"/>
                  </a:buClr>
                  <a:buSzTx/>
                  <a:buFontTx/>
                  <a:buChar char="•"/>
                </a:pPr>
                <a:r>
                  <a:rPr lang="zh-CN" sz="710" b="1" dirty="0">
                    <a:solidFill>
                      <a:srgbClr val="8A1700"/>
                    </a:solidFill>
                    <a:latin typeface="+mn-lt"/>
                    <a:ea typeface="+mn-ea"/>
                    <a:cs typeface="+mn-cs"/>
                  </a:rPr>
                  <a:t>月活跃率（MAU）​</a:t>
                </a:r>
              </a:p>
              <a:p>
                <a:pPr algn="l" marL="80477" indent="-80477">
                  <a:lnSpc>
                    <a:spcPts val="1650"/>
                  </a:lnSpc>
                  <a:buClr>
                    <a:srgbClr val="8A1700"/>
                  </a:buClr>
                  <a:buSzTx/>
                  <a:buFontTx/>
                  <a:buChar char="•"/>
                </a:pPr>
                <a:r>
                  <a:rPr lang="zh-CN" sz="710" b="1" dirty="0">
                    <a:solidFill>
                      <a:srgbClr val="8A1700"/>
                    </a:solidFill>
                    <a:latin typeface="+mn-lt"/>
                    <a:ea typeface="+mn-ea"/>
                    <a:cs typeface="+mn-cs"/>
                  </a:rPr>
                  <a:t>交易笔数增长率 ≥ 20%​</a:t>
                </a:r>
              </a:p>
              <a:p>
                <a:pPr algn="l" marL="80477" indent="-80477">
                  <a:lnSpc>
                    <a:spcPts val="1650"/>
                  </a:lnSpc>
                  <a:buClr>
                    <a:srgbClr val="8A1700"/>
                  </a:buClr>
                  <a:buSzTx/>
                  <a:buFontTx/>
                  <a:buChar char="•"/>
                </a:pPr>
                <a:r>
                  <a:rPr lang="zh-CN" sz="710" b="1" dirty="0">
                    <a:solidFill>
                      <a:srgbClr val="8A1700"/>
                    </a:solidFill>
                    <a:latin typeface="+mn-lt"/>
                    <a:ea typeface="+mn-ea"/>
                    <a:cs typeface="+mn-cs"/>
                  </a:rPr>
                  <a:t>人均消费金额增长率</a:t>
                </a:r>
              </a:p>
            </p:txBody>
          </p:sp>
          <p:sp>
            <p:nvSpPr>
              <p:cNvPr id="149" name="TextBox 149"/>
              <p:cNvSpPr txBox="1"/>
              <p:nvPr/>
            </p:nvSpPr>
            <p:spPr>
              <a:xfrm>
                <a:off x="8872538" y="4933236"/>
                <a:ext cx="1057300" cy="559594"/>
              </a:xfrm>
              <a:prstGeom prst="rect">
                <a:avLst/>
              </a:prstGeom>
              <a:noFill/>
              <a:ln>
                <a:noFill/>
              </a:ln>
            </p:spPr>
            <p:txBody>
              <a:bodyPr wrap="none" lIns="0" tIns="0" rIns="0" bIns="0" anchor="t" anchorCtr="0">
                <a:spAutoFit/>
              </a:bodyPr>
              <a:lstStyle/>
              <a:p>
                <a:pPr algn="l" marL="80477" indent="-80477">
                  <a:lnSpc>
                    <a:spcPts val="1650"/>
                  </a:lnSpc>
                  <a:buClr>
                    <a:srgbClr val="8A1700"/>
                  </a:buClr>
                  <a:buSzTx/>
                  <a:buFontTx/>
                  <a:buChar char="•"/>
                </a:pPr>
                <a:r>
                  <a:rPr lang="zh-CN" sz="710" b="1" dirty="0">
                    <a:solidFill>
                      <a:srgbClr val="8A1700"/>
                    </a:solidFill>
                    <a:latin typeface="+mn-lt"/>
                    <a:ea typeface="+mn-ea"/>
                    <a:cs typeface="+mn-cs"/>
                  </a:rPr>
                  <a:t>高价值客户占比 ≥ 20%​</a:t>
                </a:r>
              </a:p>
              <a:p>
                <a:pPr algn="l" marL="80477" indent="-80477">
                  <a:lnSpc>
                    <a:spcPts val="1650"/>
                  </a:lnSpc>
                  <a:buClr>
                    <a:srgbClr val="8A1700"/>
                  </a:buClr>
                  <a:buSzTx/>
                  <a:buFontTx/>
                  <a:buChar char="•"/>
                </a:pPr>
                <a:r>
                  <a:rPr lang="zh-CN" sz="710" b="1" dirty="0">
                    <a:solidFill>
                      <a:srgbClr val="8A1700"/>
                    </a:solidFill>
                    <a:latin typeface="+mn-lt"/>
                    <a:ea typeface="+mn-ea"/>
                    <a:cs typeface="+mn-cs"/>
                  </a:rPr>
                  <a:t>客户贡献度（RFM）​</a:t>
                </a:r>
              </a:p>
              <a:p>
                <a:pPr algn="l" marL="80477" indent="-80477">
                  <a:lnSpc>
                    <a:spcPts val="1650"/>
                  </a:lnSpc>
                  <a:buClr>
                    <a:srgbClr val="8A1700"/>
                  </a:buClr>
                  <a:buSzTx/>
                  <a:buFontTx/>
                  <a:buChar char="•"/>
                </a:pPr>
                <a:r>
                  <a:rPr lang="zh-CN" sz="710" b="1" dirty="0">
                    <a:solidFill>
                      <a:srgbClr val="8A1700"/>
                    </a:solidFill>
                    <a:latin typeface="+mn-lt"/>
                    <a:ea typeface="+mn-ea"/>
                    <a:cs typeface="+mn-cs"/>
                  </a:rPr>
                  <a:t>交叉产品持有率 ≥ 2.0​</a:t>
                </a:r>
              </a:p>
            </p:txBody>
          </p:sp>
          <p:sp>
            <p:nvSpPr>
              <p:cNvPr id="150" name="TextBox 150"/>
              <p:cNvSpPr txBox="1"/>
              <p:nvPr/>
            </p:nvSpPr>
            <p:spPr>
              <a:xfrm>
                <a:off x="10415588" y="4933236"/>
                <a:ext cx="1057300" cy="559594"/>
              </a:xfrm>
              <a:prstGeom prst="rect">
                <a:avLst/>
              </a:prstGeom>
              <a:noFill/>
              <a:ln>
                <a:noFill/>
              </a:ln>
            </p:spPr>
            <p:txBody>
              <a:bodyPr wrap="none" lIns="0" tIns="0" rIns="0" bIns="0" anchor="t" anchorCtr="0">
                <a:spAutoFit/>
              </a:bodyPr>
              <a:lstStyle/>
              <a:p>
                <a:pPr algn="l" marL="80477" indent="-80477">
                  <a:lnSpc>
                    <a:spcPts val="1650"/>
                  </a:lnSpc>
                  <a:buClr>
                    <a:srgbClr val="8A1700"/>
                  </a:buClr>
                  <a:buSzTx/>
                  <a:buFontTx/>
                  <a:buChar char="•"/>
                </a:pPr>
                <a:r>
                  <a:rPr lang="zh-CN" sz="710" b="1" dirty="0">
                    <a:solidFill>
                      <a:srgbClr val="8A1700"/>
                    </a:solidFill>
                    <a:latin typeface="+mn-lt"/>
                    <a:ea typeface="+mn-ea"/>
                    <a:cs typeface="+mn-cs"/>
                  </a:rPr>
                  <a:t>流失预警准确率 ≥ 70%​</a:t>
                </a:r>
              </a:p>
              <a:p>
                <a:pPr algn="l" marL="80477" indent="-80477">
                  <a:lnSpc>
                    <a:spcPts val="1650"/>
                  </a:lnSpc>
                  <a:buClr>
                    <a:srgbClr val="8A1700"/>
                  </a:buClr>
                  <a:buSzTx/>
                  <a:buFontTx/>
                  <a:buChar char="•"/>
                </a:pPr>
                <a:r>
                  <a:rPr lang="zh-CN" sz="710" b="1" dirty="0">
                    <a:solidFill>
                      <a:srgbClr val="8A1700"/>
                    </a:solidFill>
                    <a:latin typeface="+mn-lt"/>
                    <a:ea typeface="+mn-ea"/>
                    <a:cs typeface="+mn-cs"/>
                  </a:rPr>
                  <a:t>召回激活率 ≥ 15%​</a:t>
                </a:r>
              </a:p>
              <a:p>
                <a:pPr algn="l" marL="80477" indent="-80477">
                  <a:lnSpc>
                    <a:spcPts val="1650"/>
                  </a:lnSpc>
                  <a:buClr>
                    <a:srgbClr val="8A1700"/>
                  </a:buClr>
                  <a:buSzTx/>
                  <a:buFontTx/>
                  <a:buChar char="•"/>
                </a:pPr>
                <a:r>
                  <a:rPr lang="zh-CN" sz="710" b="1" dirty="0">
                    <a:solidFill>
                      <a:srgbClr val="8A1700"/>
                    </a:solidFill>
                    <a:latin typeface="+mn-lt"/>
                    <a:ea typeface="+mn-ea"/>
                    <a:cs typeface="+mn-cs"/>
                  </a:rPr>
                  <a:t>流失率 ≤ 5%​</a:t>
                </a:r>
              </a:p>
            </p:txBody>
          </p:sp>
        </p:grpSp>
      </p:grpSp>
      <p:grpSp>
        <p:nvGrpSpPr>
          <p:cNvPr id="163" name="bottom-notes"/>
          <p:cNvGrpSpPr/>
          <p:nvPr/>
        </p:nvGrpSpPr>
        <p:grpSpPr>
          <a:xfrm>
            <a:off x="228600" y="5962650"/>
            <a:ext cx="11734800" cy="457200"/>
            <a:chOff x="228600" y="5962650"/>
            <a:chExt cx="11734800" cy="457200"/>
          </a:xfrm>
        </p:grpSpPr>
        <p:sp>
          <p:nvSpPr>
            <p:cNvPr id="153" name="Rectangle 153"/>
            <p:cNvSpPr/>
            <p:nvPr/>
          </p:nvSpPr>
          <p:spPr>
            <a:xfrm>
              <a:off x="228600" y="5962650"/>
              <a:ext cx="5791200" cy="457200"/>
            </a:xfrm>
            <a:prstGeom prst="roundRect">
              <a:avLst>
                <a:gd name="adj" fmla="val 12500"/>
              </a:avLst>
            </a:prstGeom>
            <a:solidFill>
              <a:srgbClr val="FFFFFF"/>
            </a:solidFill>
            <a:ln w="14288">
              <a:solidFill>
                <a:srgbClr val="C02C0A"/>
              </a:solidFill>
            </a:ln>
          </p:spPr>
        </p:sp>
        <p:sp>
          <p:nvSpPr>
            <p:cNvPr id="154" name="Ellipse 154"/>
            <p:cNvSpPr/>
            <p:nvPr/>
          </p:nvSpPr>
          <p:spPr>
            <a:xfrm>
              <a:off x="400050" y="6076950"/>
              <a:ext cx="228600" cy="228600"/>
            </a:xfrm>
            <a:prstGeom prst="ellipse">
              <a:avLst/>
            </a:prstGeom>
            <a:solidFill>
              <a:srgbClr val="C02C0A"/>
            </a:solidFill>
            <a:ln>
              <a:noFill/>
            </a:ln>
          </p:spPr>
        </p:sp>
        <p:sp>
          <p:nvSpPr>
            <p:cNvPr id="155" name="TextBox 155"/>
            <p:cNvSpPr txBox="1"/>
            <p:nvPr/>
          </p:nvSpPr>
          <p:spPr>
            <a:xfrm>
              <a:off x="486753" y="6125528"/>
              <a:ext cx="5519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a:t>
              </a:r>
            </a:p>
          </p:txBody>
        </p:sp>
        <p:sp>
          <p:nvSpPr>
            <p:cNvPr id="156" name="TextBox 156"/>
            <p:cNvSpPr txBox="1"/>
            <p:nvPr/>
          </p:nvSpPr>
          <p:spPr>
            <a:xfrm>
              <a:off x="718947" y="6133624"/>
              <a:ext cx="4292936" cy="190690"/>
            </a:xfrm>
            <a:prstGeom prst="rect">
              <a:avLst/>
            </a:prstGeom>
            <a:noFill/>
            <a:ln>
              <a:noFill/>
            </a:ln>
          </p:spPr>
          <p:txBody>
            <a:bodyPr wrap="none" lIns="0" tIns="0" rIns="0" bIns="0" anchor="t" anchorCtr="0">
              <a:spAutoFit/>
            </a:bodyPr>
            <a:lstStyle/>
            <a:p>
              <a:pPr algn="l"/>
              <a:r>
                <a:rPr lang="zh-CN" sz="980" b="1" dirty="0">
                  <a:solidFill>
                    <a:srgbClr val="C02C0A"/>
                  </a:solidFill>
                  <a:latin typeface="+mn-lt"/>
                  <a:ea typeface="+mn-ea"/>
                  <a:cs typeface="+mn-cs"/>
                </a:rPr>
                <a:t>关键时刻：核卡后24小时、激活后7天、连续30天无交易、权益即将到期​</a:t>
              </a:r>
            </a:p>
          </p:txBody>
        </p:sp>
        <p:sp>
          <p:nvSpPr>
            <p:cNvPr id="157" name="Rectangle 157"/>
            <p:cNvSpPr/>
            <p:nvPr/>
          </p:nvSpPr>
          <p:spPr>
            <a:xfrm>
              <a:off x="6172200" y="5962650"/>
              <a:ext cx="5791200" cy="457200"/>
            </a:xfrm>
            <a:prstGeom prst="roundRect">
              <a:avLst>
                <a:gd name="adj" fmla="val 12500"/>
              </a:avLst>
            </a:prstGeom>
            <a:solidFill>
              <a:srgbClr val="FFFFFF"/>
            </a:solidFill>
            <a:ln w="14288">
              <a:solidFill>
                <a:srgbClr val="8A1700"/>
              </a:solidFill>
            </a:ln>
          </p:spPr>
        </p:sp>
        <p:grpSp>
          <p:nvGrpSpPr>
            <p:cNvPr id="161" name="Group 161"/>
            <p:cNvGrpSpPr/>
            <p:nvPr/>
          </p:nvGrpSpPr>
          <p:grpSpPr>
            <a:xfrm>
              <a:off x="6355556" y="6098381"/>
              <a:ext cx="185737" cy="185737"/>
              <a:chOff x="6355556" y="6098381"/>
              <a:chExt cx="185737" cy="185737"/>
            </a:xfrm>
          </p:grpSpPr>
          <p:sp>
            <p:nvSpPr>
              <p:cNvPr id="158" name="Freeform 158"/>
              <p:cNvSpPr/>
              <p:nvPr/>
            </p:nvSpPr>
            <p:spPr>
              <a:xfrm>
                <a:off x="6438106" y="6180931"/>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18574">
                <a:solidFill>
                  <a:srgbClr val="8A1700"/>
                </a:solidFill>
              </a:ln>
            </p:spPr>
          </p:sp>
          <p:sp>
            <p:nvSpPr>
              <p:cNvPr id="159" name="Freeform 159"/>
              <p:cNvSpPr/>
              <p:nvPr/>
            </p:nvSpPr>
            <p:spPr>
              <a:xfrm>
                <a:off x="6396831" y="6139656"/>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18574">
                <a:solidFill>
                  <a:srgbClr val="8A1700"/>
                </a:solidFill>
              </a:ln>
            </p:spPr>
          </p:sp>
          <p:sp>
            <p:nvSpPr>
              <p:cNvPr id="160" name="Freeform 160"/>
              <p:cNvSpPr/>
              <p:nvPr/>
            </p:nvSpPr>
            <p:spPr>
              <a:xfrm>
                <a:off x="6355556" y="60983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18574">
                <a:solidFill>
                  <a:srgbClr val="8A1700"/>
                </a:solidFill>
              </a:ln>
            </p:spPr>
          </p:sp>
        </p:grpSp>
        <p:sp>
          <p:nvSpPr>
            <p:cNvPr id="162" name="TextBox 162"/>
            <p:cNvSpPr txBox="1"/>
            <p:nvPr/>
          </p:nvSpPr>
          <p:spPr>
            <a:xfrm>
              <a:off x="6662547" y="6133624"/>
              <a:ext cx="3308096"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每个阶段明确客户任务、银行目标、运营动作和核心指标</a:t>
              </a:r>
            </a:p>
          </p:txBody>
        </p:sp>
      </p:gr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256413" y="162401"/>
              <a:ext cx="35243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8​</a:t>
              </a:r>
            </a:p>
          </p:txBody>
        </p:sp>
        <p:sp>
          <p:nvSpPr>
            <p:cNvPr id="4" name="TextBox 4"/>
            <p:cNvSpPr txBox="1"/>
            <p:nvPr/>
          </p:nvSpPr>
          <p:spPr>
            <a:xfrm>
              <a:off x="942594" y="151448"/>
              <a:ext cx="4457700"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触点矩阵：企业微信不是私域的全部</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70" name="touchpoint-ring"/>
          <p:cNvGrpSpPr/>
          <p:nvPr/>
        </p:nvGrpSpPr>
        <p:grpSpPr>
          <a:xfrm>
            <a:off x="257365" y="952500"/>
            <a:ext cx="5348098" cy="3241357"/>
            <a:chOff x="257365" y="952500"/>
            <a:chExt cx="5348098" cy="3241357"/>
          </a:xfrm>
        </p:grpSpPr>
        <p:sp>
          <p:nvSpPr>
            <p:cNvPr id="7" name="Ellipse 7"/>
            <p:cNvSpPr/>
            <p:nvPr/>
          </p:nvSpPr>
          <p:spPr>
            <a:xfrm>
              <a:off x="1638300" y="1238250"/>
              <a:ext cx="2819400" cy="2819400"/>
            </a:xfrm>
            <a:prstGeom prst="ellipse">
              <a:avLst/>
            </a:prstGeom>
            <a:noFill/>
            <a:ln w="14288">
              <a:solidFill>
                <a:srgbClr val="E84E2F"/>
              </a:solidFill>
              <a:custDash>
                <a:ds d="333333" sp="266667"/>
              </a:custDash>
            </a:ln>
          </p:spPr>
        </p:sp>
        <p:sp>
          <p:nvSpPr>
            <p:cNvPr id="8" name="Line 8"/>
            <p:cNvSpPr/>
            <p:nvPr/>
          </p:nvSpPr>
          <p:spPr>
            <a:xfrm>
              <a:off x="3048000" y="1524000"/>
              <a:ext cx="9525" cy="533400"/>
            </a:xfrm>
            <a:custGeom>
              <a:avLst/>
              <a:gdLst/>
              <a:ahLst/>
              <a:cxnLst/>
              <a:rect l="l" t="t" r="r" b="b"/>
              <a:pathLst>
                <a:path w="9525" h="533400">
                  <a:moveTo>
                    <a:pt x="0" y="533400"/>
                  </a:moveTo>
                  <a:lnTo>
                    <a:pt x="0" y="0"/>
                  </a:lnTo>
                </a:path>
              </a:pathLst>
            </a:custGeom>
            <a:noFill/>
            <a:ln w="14288">
              <a:solidFill>
                <a:srgbClr val="E84E2F"/>
              </a:solidFill>
            </a:ln>
          </p:spPr>
        </p:sp>
        <p:sp>
          <p:nvSpPr>
            <p:cNvPr id="9" name="Line 9"/>
            <p:cNvSpPr/>
            <p:nvPr/>
          </p:nvSpPr>
          <p:spPr>
            <a:xfrm>
              <a:off x="3543300" y="1981200"/>
              <a:ext cx="457200" cy="323850"/>
            </a:xfrm>
            <a:custGeom>
              <a:avLst/>
              <a:gdLst/>
              <a:ahLst/>
              <a:cxnLst/>
              <a:rect l="l" t="t" r="r" b="b"/>
              <a:pathLst>
                <a:path w="457200" h="323850">
                  <a:moveTo>
                    <a:pt x="0" y="323850"/>
                  </a:moveTo>
                  <a:lnTo>
                    <a:pt x="457200" y="0"/>
                  </a:lnTo>
                </a:path>
              </a:pathLst>
            </a:custGeom>
            <a:noFill/>
            <a:ln w="14288">
              <a:solidFill>
                <a:srgbClr val="E84E2F"/>
              </a:solidFill>
            </a:ln>
          </p:spPr>
        </p:sp>
        <p:sp>
          <p:nvSpPr>
            <p:cNvPr id="10" name="Line 10"/>
            <p:cNvSpPr/>
            <p:nvPr/>
          </p:nvSpPr>
          <p:spPr>
            <a:xfrm>
              <a:off x="3638550" y="2752725"/>
              <a:ext cx="514350" cy="95250"/>
            </a:xfrm>
            <a:custGeom>
              <a:avLst/>
              <a:gdLst/>
              <a:ahLst/>
              <a:cxnLst/>
              <a:rect l="l" t="t" r="r" b="b"/>
              <a:pathLst>
                <a:path w="514350" h="95250">
                  <a:moveTo>
                    <a:pt x="0" y="0"/>
                  </a:moveTo>
                  <a:lnTo>
                    <a:pt x="514350" y="95250"/>
                  </a:lnTo>
                </a:path>
              </a:pathLst>
            </a:custGeom>
            <a:noFill/>
            <a:ln w="14288">
              <a:solidFill>
                <a:srgbClr val="E84E2F"/>
              </a:solidFill>
            </a:ln>
          </p:spPr>
        </p:sp>
        <p:sp>
          <p:nvSpPr>
            <p:cNvPr id="11" name="Line 11"/>
            <p:cNvSpPr/>
            <p:nvPr/>
          </p:nvSpPr>
          <p:spPr>
            <a:xfrm>
              <a:off x="3390900" y="3133725"/>
              <a:ext cx="304800" cy="438150"/>
            </a:xfrm>
            <a:custGeom>
              <a:avLst/>
              <a:gdLst/>
              <a:ahLst/>
              <a:cxnLst/>
              <a:rect l="l" t="t" r="r" b="b"/>
              <a:pathLst>
                <a:path w="304800" h="438150">
                  <a:moveTo>
                    <a:pt x="0" y="0"/>
                  </a:moveTo>
                  <a:lnTo>
                    <a:pt x="304800" y="438150"/>
                  </a:lnTo>
                </a:path>
              </a:pathLst>
            </a:custGeom>
            <a:noFill/>
            <a:ln w="14288">
              <a:solidFill>
                <a:srgbClr val="E84E2F"/>
              </a:solidFill>
            </a:ln>
          </p:spPr>
        </p:sp>
        <p:sp>
          <p:nvSpPr>
            <p:cNvPr id="12" name="Line 12"/>
            <p:cNvSpPr/>
            <p:nvPr/>
          </p:nvSpPr>
          <p:spPr>
            <a:xfrm>
              <a:off x="2400300" y="3133725"/>
              <a:ext cx="304800" cy="438150"/>
            </a:xfrm>
            <a:custGeom>
              <a:avLst/>
              <a:gdLst/>
              <a:ahLst/>
              <a:cxnLst/>
              <a:rect l="l" t="t" r="r" b="b"/>
              <a:pathLst>
                <a:path w="304800" h="438150">
                  <a:moveTo>
                    <a:pt x="304800" y="0"/>
                  </a:moveTo>
                  <a:lnTo>
                    <a:pt x="0" y="438150"/>
                  </a:lnTo>
                </a:path>
              </a:pathLst>
            </a:custGeom>
            <a:noFill/>
            <a:ln w="14288">
              <a:solidFill>
                <a:srgbClr val="E84E2F"/>
              </a:solidFill>
            </a:ln>
          </p:spPr>
        </p:sp>
        <p:sp>
          <p:nvSpPr>
            <p:cNvPr id="13" name="Line 13"/>
            <p:cNvSpPr/>
            <p:nvPr/>
          </p:nvSpPr>
          <p:spPr>
            <a:xfrm>
              <a:off x="1943100" y="2752725"/>
              <a:ext cx="514350" cy="95250"/>
            </a:xfrm>
            <a:custGeom>
              <a:avLst/>
              <a:gdLst/>
              <a:ahLst/>
              <a:cxnLst/>
              <a:rect l="l" t="t" r="r" b="b"/>
              <a:pathLst>
                <a:path w="514350" h="95250">
                  <a:moveTo>
                    <a:pt x="514350" y="0"/>
                  </a:moveTo>
                  <a:lnTo>
                    <a:pt x="0" y="95250"/>
                  </a:lnTo>
                </a:path>
              </a:pathLst>
            </a:custGeom>
            <a:noFill/>
            <a:ln w="14288">
              <a:solidFill>
                <a:srgbClr val="E84E2F"/>
              </a:solidFill>
            </a:ln>
          </p:spPr>
        </p:sp>
        <p:sp>
          <p:nvSpPr>
            <p:cNvPr id="14" name="Line 14"/>
            <p:cNvSpPr/>
            <p:nvPr/>
          </p:nvSpPr>
          <p:spPr>
            <a:xfrm>
              <a:off x="2095500" y="1981200"/>
              <a:ext cx="457200" cy="323850"/>
            </a:xfrm>
            <a:custGeom>
              <a:avLst/>
              <a:gdLst/>
              <a:ahLst/>
              <a:cxnLst/>
              <a:rect l="l" t="t" r="r" b="b"/>
              <a:pathLst>
                <a:path w="457200" h="323850">
                  <a:moveTo>
                    <a:pt x="457200" y="323850"/>
                  </a:moveTo>
                  <a:lnTo>
                    <a:pt x="0" y="0"/>
                  </a:lnTo>
                </a:path>
              </a:pathLst>
            </a:custGeom>
            <a:noFill/>
            <a:ln w="14288">
              <a:solidFill>
                <a:srgbClr val="E84E2F"/>
              </a:solidFill>
            </a:ln>
          </p:spPr>
        </p:sp>
        <p:grpSp>
          <p:nvGrpSpPr>
            <p:cNvPr id="20" name="ring-center"/>
            <p:cNvGrpSpPr/>
            <p:nvPr/>
          </p:nvGrpSpPr>
          <p:grpSpPr>
            <a:xfrm>
              <a:off x="2457450" y="2057400"/>
              <a:ext cx="1181100" cy="1181100"/>
              <a:chOff x="2457450" y="2057400"/>
              <a:chExt cx="1181100" cy="1181100"/>
            </a:xfrm>
          </p:grpSpPr>
          <p:sp>
            <p:nvSpPr>
              <p:cNvPr id="15" name="Ellipse 15"/>
              <p:cNvSpPr/>
              <p:nvPr/>
            </p:nvSpPr>
            <p:spPr>
              <a:xfrm>
                <a:off x="2457450" y="2057400"/>
                <a:ext cx="1181100" cy="1181100"/>
              </a:xfrm>
              <a:prstGeom prst="ellipse">
                <a:avLst/>
              </a:prstGeom>
              <a:solidFill>
                <a:srgbClr val="520E00"/>
              </a:solidFill>
              <a:ln>
                <a:noFill/>
              </a:ln>
            </p:spPr>
          </p:sp>
          <p:grpSp>
            <p:nvGrpSpPr>
              <p:cNvPr id="18" name="Group 18"/>
              <p:cNvGrpSpPr/>
              <p:nvPr/>
            </p:nvGrpSpPr>
            <p:grpSpPr>
              <a:xfrm>
                <a:off x="2952750" y="2257425"/>
                <a:ext cx="190500" cy="285750"/>
                <a:chOff x="2952750" y="2257425"/>
                <a:chExt cx="190500" cy="285750"/>
              </a:xfrm>
            </p:grpSpPr>
            <p:sp>
              <p:nvSpPr>
                <p:cNvPr id="16" name="Freeform 16"/>
                <p:cNvSpPr/>
                <p:nvPr/>
              </p:nvSpPr>
              <p:spPr>
                <a:xfrm>
                  <a:off x="2984500" y="225742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3813">
                  <a:solidFill>
                    <a:srgbClr val="FFFFFF"/>
                  </a:solidFill>
                </a:ln>
              </p:spPr>
            </p:sp>
            <p:sp>
              <p:nvSpPr>
                <p:cNvPr id="17" name="Freeform 17"/>
                <p:cNvSpPr/>
                <p:nvPr/>
              </p:nvSpPr>
              <p:spPr>
                <a:xfrm>
                  <a:off x="2952750" y="2447925"/>
                  <a:ext cx="190500" cy="95250"/>
                </a:xfrm>
                <a:custGeom>
                  <a:avLst/>
                  <a:gdLst/>
                  <a:ahLst/>
                  <a:cxnLst/>
                  <a:rect l="l" t="t" r="r" b="b"/>
                  <a:pathLst>
                    <a:path w="190500" h="95250">
                      <a:moveTo>
                        <a:pt x="0" y="95250"/>
                      </a:moveTo>
                      <a:lnTo>
                        <a:pt x="0" y="63500"/>
                      </a:lnTo>
                      <a:cubicBezTo>
                        <a:pt x="0" y="28430"/>
                        <a:pt x="28430" y="0"/>
                        <a:pt x="63500" y="0"/>
                      </a:cubicBezTo>
                      <a:lnTo>
                        <a:pt x="127000" y="0"/>
                      </a:lnTo>
                      <a:cubicBezTo>
                        <a:pt x="162070" y="0"/>
                        <a:pt x="190500" y="28430"/>
                        <a:pt x="190500" y="63500"/>
                      </a:cubicBezTo>
                      <a:lnTo>
                        <a:pt x="190500" y="95250"/>
                      </a:lnTo>
                    </a:path>
                  </a:pathLst>
                </a:custGeom>
                <a:noFill/>
                <a:ln w="23813">
                  <a:solidFill>
                    <a:srgbClr val="FFFFFF"/>
                  </a:solidFill>
                </a:ln>
              </p:spPr>
            </p:sp>
          </p:grpSp>
          <p:sp>
            <p:nvSpPr>
              <p:cNvPr id="19" name="TextBox 19"/>
              <p:cNvSpPr txBox="1"/>
              <p:nvPr/>
            </p:nvSpPr>
            <p:spPr>
              <a:xfrm>
                <a:off x="2859405" y="2787968"/>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客户</a:t>
                </a:r>
              </a:p>
            </p:txBody>
          </p:sp>
        </p:grpSp>
        <p:grpSp>
          <p:nvGrpSpPr>
            <p:cNvPr id="27" name="tp-app"/>
            <p:cNvGrpSpPr/>
            <p:nvPr/>
          </p:nvGrpSpPr>
          <p:grpSpPr>
            <a:xfrm>
              <a:off x="2762250" y="952500"/>
              <a:ext cx="1929202" cy="571500"/>
              <a:chOff x="2762250" y="952500"/>
              <a:chExt cx="1929202" cy="571500"/>
            </a:xfrm>
          </p:grpSpPr>
          <p:sp>
            <p:nvSpPr>
              <p:cNvPr id="21" name="Ellipse 21"/>
              <p:cNvSpPr/>
              <p:nvPr/>
            </p:nvSpPr>
            <p:spPr>
              <a:xfrm>
                <a:off x="2762250" y="952500"/>
                <a:ext cx="571500" cy="571500"/>
              </a:xfrm>
              <a:prstGeom prst="ellipse">
                <a:avLst/>
              </a:prstGeom>
              <a:solidFill>
                <a:srgbClr val="FFFFFF"/>
              </a:solidFill>
              <a:ln w="19050">
                <a:solidFill>
                  <a:srgbClr val="8A1700"/>
                </a:solidFill>
              </a:ln>
            </p:spPr>
          </p:sp>
          <p:grpSp>
            <p:nvGrpSpPr>
              <p:cNvPr id="25" name="Group 25"/>
              <p:cNvGrpSpPr/>
              <p:nvPr/>
            </p:nvGrpSpPr>
            <p:grpSpPr>
              <a:xfrm>
                <a:off x="2981325" y="1138238"/>
                <a:ext cx="133350" cy="200026"/>
                <a:chOff x="2981325" y="1138238"/>
                <a:chExt cx="133350" cy="200026"/>
              </a:xfrm>
            </p:grpSpPr>
            <p:sp>
              <p:nvSpPr>
                <p:cNvPr id="22" name="Freeform 22"/>
                <p:cNvSpPr/>
                <p:nvPr/>
              </p:nvSpPr>
              <p:spPr>
                <a:xfrm>
                  <a:off x="2981325" y="1138238"/>
                  <a:ext cx="133350" cy="200026"/>
                </a:xfrm>
                <a:custGeom>
                  <a:avLst/>
                  <a:gdLst/>
                  <a:ahLst/>
                  <a:cxnLst/>
                  <a:rect l="l" t="t" r="r" b="b"/>
                  <a:pathLst>
                    <a:path w="133350" h="200026">
                      <a:moveTo>
                        <a:pt x="0" y="22225"/>
                      </a:moveTo>
                      <a:cubicBezTo>
                        <a:pt x="0" y="9950"/>
                        <a:pt x="9950" y="0"/>
                        <a:pt x="22225" y="0"/>
                      </a:cubicBezTo>
                      <a:lnTo>
                        <a:pt x="111125" y="0"/>
                      </a:lnTo>
                      <a:cubicBezTo>
                        <a:pt x="123400" y="0"/>
                        <a:pt x="133350" y="9950"/>
                        <a:pt x="133350" y="22225"/>
                      </a:cubicBezTo>
                      <a:lnTo>
                        <a:pt x="133350" y="177801"/>
                      </a:lnTo>
                      <a:cubicBezTo>
                        <a:pt x="133350" y="190075"/>
                        <a:pt x="123400" y="200026"/>
                        <a:pt x="111125" y="200026"/>
                      </a:cubicBezTo>
                      <a:lnTo>
                        <a:pt x="22225" y="200026"/>
                      </a:lnTo>
                      <a:cubicBezTo>
                        <a:pt x="9950" y="200026"/>
                        <a:pt x="0" y="190075"/>
                        <a:pt x="0" y="177801"/>
                      </a:cubicBezTo>
                      <a:lnTo>
                        <a:pt x="0" y="22225"/>
                      </a:lnTo>
                    </a:path>
                  </a:pathLst>
                </a:custGeom>
                <a:noFill/>
                <a:ln w="16669">
                  <a:solidFill>
                    <a:srgbClr val="8A1700"/>
                  </a:solidFill>
                </a:ln>
              </p:spPr>
            </p:sp>
            <p:sp>
              <p:nvSpPr>
                <p:cNvPr id="23" name="Freeform 23"/>
                <p:cNvSpPr/>
                <p:nvPr/>
              </p:nvSpPr>
              <p:spPr>
                <a:xfrm>
                  <a:off x="3036888" y="1149350"/>
                  <a:ext cx="22225" cy="9525"/>
                </a:xfrm>
                <a:custGeom>
                  <a:avLst/>
                  <a:gdLst/>
                  <a:ahLst/>
                  <a:cxnLst/>
                  <a:rect l="l" t="t" r="r" b="b"/>
                  <a:pathLst>
                    <a:path w="22225" h="9525">
                      <a:moveTo>
                        <a:pt x="0" y="0"/>
                      </a:moveTo>
                      <a:lnTo>
                        <a:pt x="22225" y="0"/>
                      </a:lnTo>
                    </a:path>
                  </a:pathLst>
                </a:custGeom>
                <a:noFill/>
                <a:ln w="16669">
                  <a:solidFill>
                    <a:srgbClr val="8A1700"/>
                  </a:solidFill>
                </a:ln>
              </p:spPr>
            </p:sp>
            <p:sp>
              <p:nvSpPr>
                <p:cNvPr id="24" name="Freeform 24"/>
                <p:cNvSpPr/>
                <p:nvPr/>
              </p:nvSpPr>
              <p:spPr>
                <a:xfrm>
                  <a:off x="3048000" y="1293813"/>
                  <a:ext cx="9525" cy="9525"/>
                </a:xfrm>
                <a:custGeom>
                  <a:avLst/>
                  <a:gdLst/>
                  <a:ahLst/>
                  <a:cxnLst/>
                  <a:rect l="l" t="t" r="r" b="b"/>
                  <a:pathLst>
                    <a:path w="9525" h="9525">
                      <a:moveTo>
                        <a:pt x="0" y="0"/>
                      </a:moveTo>
                      <a:lnTo>
                        <a:pt x="0" y="111"/>
                      </a:lnTo>
                    </a:path>
                  </a:pathLst>
                </a:custGeom>
                <a:noFill/>
                <a:ln w="16669">
                  <a:solidFill>
                    <a:srgbClr val="8A1700"/>
                  </a:solidFill>
                </a:ln>
              </p:spPr>
            </p:sp>
          </p:grpSp>
          <p:sp>
            <p:nvSpPr>
              <p:cNvPr id="26" name="TextBox 26"/>
              <p:cNvSpPr txBox="1"/>
              <p:nvPr/>
            </p:nvSpPr>
            <p:spPr>
              <a:xfrm>
                <a:off x="3424238" y="1188720"/>
                <a:ext cx="1267214" cy="176212"/>
              </a:xfrm>
              <a:prstGeom prst="rect">
                <a:avLst/>
              </a:prstGeom>
              <a:noFill/>
              <a:ln>
                <a:noFill/>
              </a:ln>
            </p:spPr>
            <p:txBody>
              <a:bodyPr wrap="none" lIns="0" tIns="0" rIns="0" bIns="0" anchor="t" anchorCtr="0">
                <a:spAutoFit/>
              </a:bodyPr>
              <a:lstStyle/>
              <a:p>
                <a:pPr algn="l"/>
                <a:r>
                  <a:rPr lang="zh-CN" sz="900" b="1" dirty="0">
                    <a:solidFill>
                      <a:srgbClr val="520E00"/>
                    </a:solidFill>
                    <a:latin typeface="+mn-lt"/>
                    <a:ea typeface="+mn-ea"/>
                    <a:cs typeface="+mn-cs"/>
                  </a:rPr>
                  <a:t>APP：</a:t>
                </a:r>
                <a:r>
                  <a:rPr lang="zh-CN" sz="900" dirty="0">
                    <a:solidFill>
                      <a:srgbClr val="60403A"/>
                    </a:solidFill>
                    <a:latin typeface="+mn-lt"/>
                    <a:ea typeface="+mn-ea"/>
                    <a:cs typeface="+mn-cs"/>
                  </a:rPr>
                  <a:t>交易与账户服务​</a:t>
                </a:r>
              </a:p>
            </p:txBody>
          </p:sp>
        </p:grpSp>
        <p:grpSp>
          <p:nvGrpSpPr>
            <p:cNvPr id="36" name="tp-wechat-oa"/>
            <p:cNvGrpSpPr/>
            <p:nvPr/>
          </p:nvGrpSpPr>
          <p:grpSpPr>
            <a:xfrm>
              <a:off x="3914775" y="1552575"/>
              <a:ext cx="1462088" cy="571500"/>
              <a:chOff x="3914775" y="1552575"/>
              <a:chExt cx="1462088" cy="571500"/>
            </a:xfrm>
          </p:grpSpPr>
          <p:sp>
            <p:nvSpPr>
              <p:cNvPr id="28" name="Ellipse 28"/>
              <p:cNvSpPr/>
              <p:nvPr/>
            </p:nvSpPr>
            <p:spPr>
              <a:xfrm>
                <a:off x="3914775" y="1552575"/>
                <a:ext cx="571500" cy="571500"/>
              </a:xfrm>
              <a:prstGeom prst="ellipse">
                <a:avLst/>
              </a:prstGeom>
              <a:solidFill>
                <a:srgbClr val="FFFFFF"/>
              </a:solidFill>
              <a:ln w="19050">
                <a:solidFill>
                  <a:srgbClr val="8A1700"/>
                </a:solidFill>
              </a:ln>
            </p:spPr>
          </p:sp>
          <p:grpSp>
            <p:nvGrpSpPr>
              <p:cNvPr id="34" name="Group 34"/>
              <p:cNvGrpSpPr/>
              <p:nvPr/>
            </p:nvGrpSpPr>
            <p:grpSpPr>
              <a:xfrm>
                <a:off x="4122738" y="1738313"/>
                <a:ext cx="155575" cy="200026"/>
                <a:chOff x="4122738" y="1738313"/>
                <a:chExt cx="155575" cy="200026"/>
              </a:xfrm>
            </p:grpSpPr>
            <p:sp>
              <p:nvSpPr>
                <p:cNvPr id="29" name="Freeform 29"/>
                <p:cNvSpPr/>
                <p:nvPr/>
              </p:nvSpPr>
              <p:spPr>
                <a:xfrm>
                  <a:off x="4222750" y="1738313"/>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16669">
                  <a:solidFill>
                    <a:srgbClr val="8A1700"/>
                  </a:solidFill>
                </a:ln>
              </p:spPr>
            </p:sp>
            <p:sp>
              <p:nvSpPr>
                <p:cNvPr id="30" name="Freeform 30"/>
                <p:cNvSpPr/>
                <p:nvPr/>
              </p:nvSpPr>
              <p:spPr>
                <a:xfrm>
                  <a:off x="4122738" y="1738313"/>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16669">
                  <a:solidFill>
                    <a:srgbClr val="8A1700"/>
                  </a:solidFill>
                </a:ln>
              </p:spPr>
            </p:sp>
            <p:sp>
              <p:nvSpPr>
                <p:cNvPr id="31" name="Freeform 31"/>
                <p:cNvSpPr/>
                <p:nvPr/>
              </p:nvSpPr>
              <p:spPr>
                <a:xfrm>
                  <a:off x="4167188" y="1804988"/>
                  <a:ext cx="11113" cy="9525"/>
                </a:xfrm>
                <a:custGeom>
                  <a:avLst/>
                  <a:gdLst/>
                  <a:ahLst/>
                  <a:cxnLst/>
                  <a:rect l="l" t="t" r="r" b="b"/>
                  <a:pathLst>
                    <a:path w="11113" h="9525">
                      <a:moveTo>
                        <a:pt x="0" y="0"/>
                      </a:moveTo>
                      <a:lnTo>
                        <a:pt x="11113" y="0"/>
                      </a:lnTo>
                    </a:path>
                  </a:pathLst>
                </a:custGeom>
                <a:noFill/>
                <a:ln w="16669">
                  <a:solidFill>
                    <a:srgbClr val="8A1700"/>
                  </a:solidFill>
                </a:ln>
              </p:spPr>
            </p:sp>
            <p:sp>
              <p:nvSpPr>
                <p:cNvPr id="32" name="Freeform 32"/>
                <p:cNvSpPr/>
                <p:nvPr/>
              </p:nvSpPr>
              <p:spPr>
                <a:xfrm>
                  <a:off x="4167188" y="1849438"/>
                  <a:ext cx="66675" cy="9525"/>
                </a:xfrm>
                <a:custGeom>
                  <a:avLst/>
                  <a:gdLst/>
                  <a:ahLst/>
                  <a:cxnLst/>
                  <a:rect l="l" t="t" r="r" b="b"/>
                  <a:pathLst>
                    <a:path w="66675" h="9525">
                      <a:moveTo>
                        <a:pt x="0" y="0"/>
                      </a:moveTo>
                      <a:lnTo>
                        <a:pt x="66675" y="0"/>
                      </a:lnTo>
                    </a:path>
                  </a:pathLst>
                </a:custGeom>
                <a:noFill/>
                <a:ln w="16669">
                  <a:solidFill>
                    <a:srgbClr val="8A1700"/>
                  </a:solidFill>
                </a:ln>
              </p:spPr>
            </p:sp>
            <p:sp>
              <p:nvSpPr>
                <p:cNvPr id="33" name="Freeform 33"/>
                <p:cNvSpPr/>
                <p:nvPr/>
              </p:nvSpPr>
              <p:spPr>
                <a:xfrm>
                  <a:off x="4167188" y="1893888"/>
                  <a:ext cx="66675" cy="9525"/>
                </a:xfrm>
                <a:custGeom>
                  <a:avLst/>
                  <a:gdLst/>
                  <a:ahLst/>
                  <a:cxnLst/>
                  <a:rect l="l" t="t" r="r" b="b"/>
                  <a:pathLst>
                    <a:path w="66675" h="9525">
                      <a:moveTo>
                        <a:pt x="0" y="0"/>
                      </a:moveTo>
                      <a:lnTo>
                        <a:pt x="66675" y="0"/>
                      </a:lnTo>
                    </a:path>
                  </a:pathLst>
                </a:custGeom>
                <a:noFill/>
                <a:ln w="16669">
                  <a:solidFill>
                    <a:srgbClr val="8A1700"/>
                  </a:solidFill>
                </a:ln>
              </p:spPr>
            </p:sp>
          </p:grpSp>
          <p:sp>
            <p:nvSpPr>
              <p:cNvPr id="35" name="TextBox 35"/>
              <p:cNvSpPr txBox="1"/>
              <p:nvPr/>
            </p:nvSpPr>
            <p:spPr>
              <a:xfrm>
                <a:off x="4567238" y="1712595"/>
                <a:ext cx="809625" cy="328612"/>
              </a:xfrm>
              <a:prstGeom prst="rect">
                <a:avLst/>
              </a:prstGeom>
              <a:noFill/>
              <a:ln>
                <a:noFill/>
              </a:ln>
            </p:spPr>
            <p:txBody>
              <a:bodyPr wrap="none" lIns="0" tIns="0" rIns="0" bIns="0" anchor="t" anchorCtr="0">
                <a:spAutoFit/>
              </a:bodyPr>
              <a:lstStyle/>
              <a:p>
                <a:pPr algn="l">
                  <a:lnSpc>
                    <a:spcPts val="1200"/>
                  </a:lnSpc>
                </a:pPr>
                <a:r>
                  <a:rPr lang="zh-CN" sz="900" b="1" dirty="0">
                    <a:solidFill>
                      <a:srgbClr val="520E00"/>
                    </a:solidFill>
                    <a:latin typeface="+mn-lt"/>
                    <a:ea typeface="+mn-ea"/>
                    <a:cs typeface="+mn-cs"/>
                  </a:rPr>
                  <a:t>公众号：</a:t>
                </a:r>
                <a:br/>
                <a:r>
                  <a:rPr lang="zh-CN" sz="900" dirty="0">
                    <a:solidFill>
                      <a:srgbClr val="60403A"/>
                    </a:solidFill>
                    <a:latin typeface="+mn-lt"/>
                    <a:ea typeface="+mn-ea"/>
                    <a:cs typeface="+mn-cs"/>
                  </a:rPr>
                  <a:t>内容与品牌沟通</a:t>
                </a:r>
              </a:p>
            </p:txBody>
          </p:sp>
        </p:grpSp>
        <p:grpSp>
          <p:nvGrpSpPr>
            <p:cNvPr id="45" name="tp-miniapp"/>
            <p:cNvGrpSpPr/>
            <p:nvPr/>
          </p:nvGrpSpPr>
          <p:grpSpPr>
            <a:xfrm>
              <a:off x="4152900" y="2609850"/>
              <a:ext cx="1452563" cy="571500"/>
              <a:chOff x="4152900" y="2609850"/>
              <a:chExt cx="1452563" cy="571500"/>
            </a:xfrm>
          </p:grpSpPr>
          <p:sp>
            <p:nvSpPr>
              <p:cNvPr id="37" name="Ellipse 37"/>
              <p:cNvSpPr/>
              <p:nvPr/>
            </p:nvSpPr>
            <p:spPr>
              <a:xfrm>
                <a:off x="4152900" y="2609850"/>
                <a:ext cx="571500" cy="571500"/>
              </a:xfrm>
              <a:prstGeom prst="ellipse">
                <a:avLst/>
              </a:prstGeom>
              <a:solidFill>
                <a:srgbClr val="FFFFFF"/>
              </a:solidFill>
              <a:ln w="19050">
                <a:solidFill>
                  <a:srgbClr val="8A1700"/>
                </a:solidFill>
              </a:ln>
            </p:spPr>
          </p:sp>
          <p:grpSp>
            <p:nvGrpSpPr>
              <p:cNvPr id="43" name="Group 43"/>
              <p:cNvGrpSpPr/>
              <p:nvPr/>
            </p:nvGrpSpPr>
            <p:grpSpPr>
              <a:xfrm>
                <a:off x="4349750" y="2806700"/>
                <a:ext cx="177800" cy="177800"/>
                <a:chOff x="4349750" y="2806700"/>
                <a:chExt cx="177800" cy="177800"/>
              </a:xfrm>
            </p:grpSpPr>
            <p:sp>
              <p:nvSpPr>
                <p:cNvPr id="38" name="Freeform 38"/>
                <p:cNvSpPr/>
                <p:nvPr/>
              </p:nvSpPr>
              <p:spPr>
                <a:xfrm>
                  <a:off x="4349750" y="2806700"/>
                  <a:ext cx="66675" cy="66675"/>
                </a:xfrm>
                <a:custGeom>
                  <a:avLst/>
                  <a:gdLst/>
                  <a:ahLst/>
                  <a:cxnLst/>
                  <a:rect l="l" t="t" r="r" b="b"/>
                  <a:pathLst>
                    <a:path w="66675" h="66675">
                      <a:moveTo>
                        <a:pt x="0" y="11113"/>
                      </a:moveTo>
                      <a:cubicBezTo>
                        <a:pt x="0" y="4975"/>
                        <a:pt x="4975" y="0"/>
                        <a:pt x="11113" y="0"/>
                      </a:cubicBezTo>
                      <a:lnTo>
                        <a:pt x="55563" y="0"/>
                      </a:lnTo>
                      <a:cubicBezTo>
                        <a:pt x="61700" y="0"/>
                        <a:pt x="66675" y="4975"/>
                        <a:pt x="66675" y="11113"/>
                      </a:cubicBezTo>
                      <a:lnTo>
                        <a:pt x="66675" y="55563"/>
                      </a:lnTo>
                      <a:cubicBezTo>
                        <a:pt x="66675" y="61700"/>
                        <a:pt x="61700" y="66675"/>
                        <a:pt x="55563" y="66675"/>
                      </a:cubicBezTo>
                      <a:lnTo>
                        <a:pt x="11113" y="66675"/>
                      </a:lnTo>
                      <a:cubicBezTo>
                        <a:pt x="4975" y="66675"/>
                        <a:pt x="0" y="61700"/>
                        <a:pt x="0" y="55563"/>
                      </a:cubicBezTo>
                      <a:lnTo>
                        <a:pt x="0" y="11113"/>
                      </a:lnTo>
                    </a:path>
                  </a:pathLst>
                </a:custGeom>
                <a:noFill/>
                <a:ln w="16669">
                  <a:solidFill>
                    <a:srgbClr val="8A1700"/>
                  </a:solidFill>
                </a:ln>
              </p:spPr>
            </p:sp>
            <p:sp>
              <p:nvSpPr>
                <p:cNvPr id="39" name="Freeform 39"/>
                <p:cNvSpPr/>
                <p:nvPr/>
              </p:nvSpPr>
              <p:spPr>
                <a:xfrm>
                  <a:off x="4349750" y="2917825"/>
                  <a:ext cx="66675" cy="66675"/>
                </a:xfrm>
                <a:custGeom>
                  <a:avLst/>
                  <a:gdLst/>
                  <a:ahLst/>
                  <a:cxnLst/>
                  <a:rect l="l" t="t" r="r" b="b"/>
                  <a:pathLst>
                    <a:path w="66675" h="66675">
                      <a:moveTo>
                        <a:pt x="0" y="11113"/>
                      </a:moveTo>
                      <a:cubicBezTo>
                        <a:pt x="0" y="4975"/>
                        <a:pt x="4975" y="0"/>
                        <a:pt x="11113" y="0"/>
                      </a:cubicBezTo>
                      <a:lnTo>
                        <a:pt x="55563" y="0"/>
                      </a:lnTo>
                      <a:cubicBezTo>
                        <a:pt x="61700" y="0"/>
                        <a:pt x="66675" y="4975"/>
                        <a:pt x="66675" y="11113"/>
                      </a:cubicBezTo>
                      <a:lnTo>
                        <a:pt x="66675" y="55563"/>
                      </a:lnTo>
                      <a:cubicBezTo>
                        <a:pt x="66675" y="61700"/>
                        <a:pt x="61700" y="66675"/>
                        <a:pt x="55563" y="66675"/>
                      </a:cubicBezTo>
                      <a:lnTo>
                        <a:pt x="11113" y="66675"/>
                      </a:lnTo>
                      <a:cubicBezTo>
                        <a:pt x="4975" y="66675"/>
                        <a:pt x="0" y="61700"/>
                        <a:pt x="0" y="55563"/>
                      </a:cubicBezTo>
                      <a:lnTo>
                        <a:pt x="0" y="11113"/>
                      </a:lnTo>
                    </a:path>
                  </a:pathLst>
                </a:custGeom>
                <a:noFill/>
                <a:ln w="16669">
                  <a:solidFill>
                    <a:srgbClr val="8A1700"/>
                  </a:solidFill>
                </a:ln>
              </p:spPr>
            </p:sp>
            <p:sp>
              <p:nvSpPr>
                <p:cNvPr id="40" name="Freeform 40"/>
                <p:cNvSpPr/>
                <p:nvPr/>
              </p:nvSpPr>
              <p:spPr>
                <a:xfrm>
                  <a:off x="4460875" y="2917825"/>
                  <a:ext cx="66675" cy="66675"/>
                </a:xfrm>
                <a:custGeom>
                  <a:avLst/>
                  <a:gdLst/>
                  <a:ahLst/>
                  <a:cxnLst/>
                  <a:rect l="l" t="t" r="r" b="b"/>
                  <a:pathLst>
                    <a:path w="66675" h="66675">
                      <a:moveTo>
                        <a:pt x="0" y="11113"/>
                      </a:moveTo>
                      <a:cubicBezTo>
                        <a:pt x="0" y="4975"/>
                        <a:pt x="4975" y="0"/>
                        <a:pt x="11113" y="0"/>
                      </a:cubicBezTo>
                      <a:lnTo>
                        <a:pt x="55563" y="0"/>
                      </a:lnTo>
                      <a:cubicBezTo>
                        <a:pt x="61700" y="0"/>
                        <a:pt x="66675" y="4975"/>
                        <a:pt x="66675" y="11113"/>
                      </a:cubicBezTo>
                      <a:lnTo>
                        <a:pt x="66675" y="55563"/>
                      </a:lnTo>
                      <a:cubicBezTo>
                        <a:pt x="66675" y="61700"/>
                        <a:pt x="61700" y="66675"/>
                        <a:pt x="55563" y="66675"/>
                      </a:cubicBezTo>
                      <a:lnTo>
                        <a:pt x="11113" y="66675"/>
                      </a:lnTo>
                      <a:cubicBezTo>
                        <a:pt x="4975" y="66675"/>
                        <a:pt x="0" y="61700"/>
                        <a:pt x="0" y="55563"/>
                      </a:cubicBezTo>
                      <a:lnTo>
                        <a:pt x="0" y="11113"/>
                      </a:lnTo>
                    </a:path>
                  </a:pathLst>
                </a:custGeom>
                <a:noFill/>
                <a:ln w="16669">
                  <a:solidFill>
                    <a:srgbClr val="8A1700"/>
                  </a:solidFill>
                </a:ln>
              </p:spPr>
            </p:sp>
            <p:sp>
              <p:nvSpPr>
                <p:cNvPr id="41" name="Freeform 41"/>
                <p:cNvSpPr/>
                <p:nvPr/>
              </p:nvSpPr>
              <p:spPr>
                <a:xfrm>
                  <a:off x="4460875" y="2840038"/>
                  <a:ext cx="66675" cy="9525"/>
                </a:xfrm>
                <a:custGeom>
                  <a:avLst/>
                  <a:gdLst/>
                  <a:ahLst/>
                  <a:cxnLst/>
                  <a:rect l="l" t="t" r="r" b="b"/>
                  <a:pathLst>
                    <a:path w="66675" h="9525">
                      <a:moveTo>
                        <a:pt x="0" y="0"/>
                      </a:moveTo>
                      <a:lnTo>
                        <a:pt x="66675" y="0"/>
                      </a:lnTo>
                    </a:path>
                  </a:pathLst>
                </a:custGeom>
                <a:noFill/>
                <a:ln w="16669">
                  <a:solidFill>
                    <a:srgbClr val="8A1700"/>
                  </a:solidFill>
                </a:ln>
              </p:spPr>
            </p:sp>
            <p:sp>
              <p:nvSpPr>
                <p:cNvPr id="42" name="Freeform 42"/>
                <p:cNvSpPr/>
                <p:nvPr/>
              </p:nvSpPr>
              <p:spPr>
                <a:xfrm>
                  <a:off x="4494213" y="2806700"/>
                  <a:ext cx="9525" cy="66675"/>
                </a:xfrm>
                <a:custGeom>
                  <a:avLst/>
                  <a:gdLst/>
                  <a:ahLst/>
                  <a:cxnLst/>
                  <a:rect l="l" t="t" r="r" b="b"/>
                  <a:pathLst>
                    <a:path w="9525" h="66675">
                      <a:moveTo>
                        <a:pt x="0" y="0"/>
                      </a:moveTo>
                      <a:lnTo>
                        <a:pt x="0" y="66675"/>
                      </a:lnTo>
                    </a:path>
                  </a:pathLst>
                </a:custGeom>
                <a:noFill/>
                <a:ln w="16669">
                  <a:solidFill>
                    <a:srgbClr val="8A1700"/>
                  </a:solidFill>
                </a:ln>
              </p:spPr>
            </p:sp>
          </p:grpSp>
          <p:sp>
            <p:nvSpPr>
              <p:cNvPr id="44" name="TextBox 44"/>
              <p:cNvSpPr txBox="1"/>
              <p:nvPr/>
            </p:nvSpPr>
            <p:spPr>
              <a:xfrm>
                <a:off x="4795838" y="2760345"/>
                <a:ext cx="809625" cy="328612"/>
              </a:xfrm>
              <a:prstGeom prst="rect">
                <a:avLst/>
              </a:prstGeom>
              <a:noFill/>
              <a:ln>
                <a:noFill/>
              </a:ln>
            </p:spPr>
            <p:txBody>
              <a:bodyPr wrap="none" lIns="0" tIns="0" rIns="0" bIns="0" anchor="t" anchorCtr="0">
                <a:spAutoFit/>
              </a:bodyPr>
              <a:lstStyle/>
              <a:p>
                <a:pPr algn="l">
                  <a:lnSpc>
                    <a:spcPts val="1200"/>
                  </a:lnSpc>
                </a:pPr>
                <a:r>
                  <a:rPr lang="zh-CN" sz="900" b="1" dirty="0">
                    <a:solidFill>
                      <a:srgbClr val="520E00"/>
                    </a:solidFill>
                    <a:latin typeface="+mn-lt"/>
                    <a:ea typeface="+mn-ea"/>
                    <a:cs typeface="+mn-cs"/>
                  </a:rPr>
                  <a:t>小程序：</a:t>
                </a:r>
                <a:r>
                  <a:rPr lang="zh-CN" sz="900" dirty="0">
                    <a:solidFill>
                      <a:srgbClr val="60403A"/>
                    </a:solidFill>
                    <a:latin typeface="+mn-lt"/>
                    <a:ea typeface="+mn-ea"/>
                    <a:cs typeface="+mn-cs"/>
                  </a:rPr>
                  <a:t>活动与</a:t>
                </a:r>
                <a:br/>
                <a:r>
                  <a:rPr lang="zh-CN" sz="900" dirty="0">
                    <a:solidFill>
                      <a:srgbClr val="60403A"/>
                    </a:solidFill>
                    <a:latin typeface="+mn-lt"/>
                    <a:ea typeface="+mn-ea"/>
                    <a:cs typeface="+mn-cs"/>
                  </a:rPr>
                  <a:t>权益承载</a:t>
                </a:r>
              </a:p>
            </p:txBody>
          </p:sp>
        </p:grpSp>
        <p:grpSp>
          <p:nvGrpSpPr>
            <p:cNvPr id="49" name="tp-wecom"/>
            <p:cNvGrpSpPr/>
            <p:nvPr/>
          </p:nvGrpSpPr>
          <p:grpSpPr>
            <a:xfrm>
              <a:off x="3571875" y="3514725"/>
              <a:ext cx="1671638" cy="583882"/>
              <a:chOff x="3571875" y="3514725"/>
              <a:chExt cx="1671638" cy="583882"/>
            </a:xfrm>
          </p:grpSpPr>
          <p:sp>
            <p:nvSpPr>
              <p:cNvPr id="46" name="Ellipse 46"/>
              <p:cNvSpPr/>
              <p:nvPr/>
            </p:nvSpPr>
            <p:spPr>
              <a:xfrm>
                <a:off x="3571875" y="3514725"/>
                <a:ext cx="571500" cy="571500"/>
              </a:xfrm>
              <a:prstGeom prst="ellipse">
                <a:avLst/>
              </a:prstGeom>
              <a:solidFill>
                <a:srgbClr val="FFFFFF"/>
              </a:solidFill>
              <a:ln w="19050">
                <a:solidFill>
                  <a:srgbClr val="8A1700"/>
                </a:solidFill>
              </a:ln>
            </p:spPr>
          </p:sp>
          <p:sp>
            <p:nvSpPr>
              <p:cNvPr id="47" name="Freeform 47"/>
              <p:cNvSpPr/>
              <p:nvPr/>
            </p:nvSpPr>
            <p:spPr>
              <a:xfrm>
                <a:off x="3746233" y="3702963"/>
                <a:ext cx="221851" cy="196658"/>
              </a:xfrm>
              <a:custGeom>
                <a:avLst/>
                <a:gdLst/>
                <a:ahLst/>
                <a:cxnLst/>
                <a:rect l="l" t="t" r="r" b="b"/>
                <a:pathLst>
                  <a:path w="221851" h="196658">
                    <a:moveTo>
                      <a:pt x="11379" y="186413"/>
                    </a:moveTo>
                    <a:lnTo>
                      <a:pt x="25826" y="143074"/>
                    </a:lnTo>
                    <a:cubicBezTo>
                      <a:pt x="0" y="104880"/>
                      <a:pt x="9979" y="55596"/>
                      <a:pt x="49162" y="27792"/>
                    </a:cubicBezTo>
                    <a:cubicBezTo>
                      <a:pt x="88345" y="0"/>
                      <a:pt x="144618" y="2278"/>
                      <a:pt x="180790" y="33126"/>
                    </a:cubicBezTo>
                    <a:cubicBezTo>
                      <a:pt x="216961" y="63986"/>
                      <a:pt x="221851" y="113870"/>
                      <a:pt x="192225" y="149819"/>
                    </a:cubicBezTo>
                    <a:cubicBezTo>
                      <a:pt x="162599" y="185768"/>
                      <a:pt x="107603" y="196658"/>
                      <a:pt x="63608" y="175300"/>
                    </a:cubicBezTo>
                    <a:lnTo>
                      <a:pt x="11379" y="186413"/>
                    </a:lnTo>
                  </a:path>
                </a:pathLst>
              </a:custGeom>
              <a:noFill/>
              <a:ln w="16669">
                <a:solidFill>
                  <a:srgbClr val="8A1700"/>
                </a:solidFill>
              </a:ln>
            </p:spPr>
          </p:sp>
          <p:sp>
            <p:nvSpPr>
              <p:cNvPr id="48" name="TextBox 48"/>
              <p:cNvSpPr txBox="1"/>
              <p:nvPr/>
            </p:nvSpPr>
            <p:spPr>
              <a:xfrm>
                <a:off x="4205288" y="3769995"/>
                <a:ext cx="1038225" cy="328612"/>
              </a:xfrm>
              <a:prstGeom prst="rect">
                <a:avLst/>
              </a:prstGeom>
              <a:noFill/>
              <a:ln>
                <a:noFill/>
              </a:ln>
            </p:spPr>
            <p:txBody>
              <a:bodyPr wrap="none" lIns="0" tIns="0" rIns="0" bIns="0" anchor="t" anchorCtr="0">
                <a:spAutoFit/>
              </a:bodyPr>
              <a:lstStyle/>
              <a:p>
                <a:pPr algn="l">
                  <a:lnSpc>
                    <a:spcPts val="1200"/>
                  </a:lnSpc>
                </a:pPr>
                <a:r>
                  <a:rPr lang="zh-CN" sz="900" b="1" dirty="0">
                    <a:solidFill>
                      <a:srgbClr val="520E00"/>
                    </a:solidFill>
                    <a:latin typeface="+mn-lt"/>
                    <a:ea typeface="+mn-ea"/>
                    <a:cs typeface="+mn-cs"/>
                  </a:rPr>
                  <a:t>企业微信：</a:t>
                </a:r>
                <a:r>
                  <a:rPr lang="zh-CN" sz="900" dirty="0">
                    <a:solidFill>
                      <a:srgbClr val="60403A"/>
                    </a:solidFill>
                    <a:latin typeface="+mn-lt"/>
                    <a:ea typeface="+mn-ea"/>
                    <a:cs typeface="+mn-cs"/>
                  </a:rPr>
                  <a:t>关系维护</a:t>
                </a:r>
                <a:br/>
                <a:r>
                  <a:rPr lang="zh-CN" sz="900" dirty="0">
                    <a:solidFill>
                      <a:srgbClr val="60403A"/>
                    </a:solidFill>
                    <a:latin typeface="+mn-lt"/>
                    <a:ea typeface="+mn-ea"/>
                    <a:cs typeface="+mn-cs"/>
                  </a:rPr>
                  <a:t>与人工服务</a:t>
                </a:r>
              </a:p>
            </p:txBody>
          </p:sp>
        </p:grpSp>
        <p:grpSp>
          <p:nvGrpSpPr>
            <p:cNvPr id="57" name="tp-service"/>
            <p:cNvGrpSpPr/>
            <p:nvPr/>
          </p:nvGrpSpPr>
          <p:grpSpPr>
            <a:xfrm>
              <a:off x="1052132" y="3514725"/>
              <a:ext cx="1471993" cy="679132"/>
              <a:chOff x="1052132" y="3514725"/>
              <a:chExt cx="1471993" cy="679132"/>
            </a:xfrm>
          </p:grpSpPr>
          <p:sp>
            <p:nvSpPr>
              <p:cNvPr id="50" name="Ellipse 50"/>
              <p:cNvSpPr/>
              <p:nvPr/>
            </p:nvSpPr>
            <p:spPr>
              <a:xfrm>
                <a:off x="1952625" y="3514725"/>
                <a:ext cx="571500" cy="571500"/>
              </a:xfrm>
              <a:prstGeom prst="ellipse">
                <a:avLst/>
              </a:prstGeom>
              <a:solidFill>
                <a:srgbClr val="FFFFFF"/>
              </a:solidFill>
              <a:ln w="19050">
                <a:solidFill>
                  <a:srgbClr val="8A1700"/>
                </a:solidFill>
              </a:ln>
            </p:spPr>
          </p:sp>
          <p:grpSp>
            <p:nvGrpSpPr>
              <p:cNvPr id="55" name="Group 55"/>
              <p:cNvGrpSpPr/>
              <p:nvPr/>
            </p:nvGrpSpPr>
            <p:grpSpPr>
              <a:xfrm>
                <a:off x="2149475" y="3700463"/>
                <a:ext cx="177801" cy="211138"/>
                <a:chOff x="2149475" y="3700463"/>
                <a:chExt cx="177801" cy="211138"/>
              </a:xfrm>
            </p:grpSpPr>
            <p:sp>
              <p:nvSpPr>
                <p:cNvPr id="51" name="Freeform 51"/>
                <p:cNvSpPr/>
                <p:nvPr/>
              </p:nvSpPr>
              <p:spPr>
                <a:xfrm>
                  <a:off x="2149475" y="3700463"/>
                  <a:ext cx="177801" cy="122238"/>
                </a:xfrm>
                <a:custGeom>
                  <a:avLst/>
                  <a:gdLst/>
                  <a:ahLst/>
                  <a:cxnLst/>
                  <a:rect l="l" t="t" r="r" b="b"/>
                  <a:pathLst>
                    <a:path w="177801" h="122238">
                      <a:moveTo>
                        <a:pt x="0" y="122238"/>
                      </a:moveTo>
                      <a:lnTo>
                        <a:pt x="0" y="88900"/>
                      </a:lnTo>
                      <a:cubicBezTo>
                        <a:pt x="0" y="39802"/>
                        <a:pt x="39802" y="0"/>
                        <a:pt x="88900" y="0"/>
                      </a:cubicBezTo>
                      <a:cubicBezTo>
                        <a:pt x="137999" y="0"/>
                        <a:pt x="177801" y="39802"/>
                        <a:pt x="177801" y="88900"/>
                      </a:cubicBezTo>
                      <a:lnTo>
                        <a:pt x="177801" y="122238"/>
                      </a:lnTo>
                    </a:path>
                  </a:pathLst>
                </a:custGeom>
                <a:noFill/>
                <a:ln w="16669">
                  <a:solidFill>
                    <a:srgbClr val="8A1700"/>
                  </a:solidFill>
                </a:ln>
              </p:spPr>
            </p:sp>
            <p:sp>
              <p:nvSpPr>
                <p:cNvPr id="52" name="Freeform 52"/>
                <p:cNvSpPr/>
                <p:nvPr/>
              </p:nvSpPr>
              <p:spPr>
                <a:xfrm>
                  <a:off x="2238375" y="3878263"/>
                  <a:ext cx="66675" cy="33338"/>
                </a:xfrm>
                <a:custGeom>
                  <a:avLst/>
                  <a:gdLst/>
                  <a:ahLst/>
                  <a:cxnLst/>
                  <a:rect l="l" t="t" r="r" b="b"/>
                  <a:pathLst>
                    <a:path w="66675" h="33338">
                      <a:moveTo>
                        <a:pt x="66675" y="0"/>
                      </a:moveTo>
                      <a:cubicBezTo>
                        <a:pt x="66675" y="18413"/>
                        <a:pt x="36827" y="33338"/>
                        <a:pt x="0" y="33338"/>
                      </a:cubicBezTo>
                    </a:path>
                  </a:pathLst>
                </a:custGeom>
                <a:noFill/>
                <a:ln w="16669">
                  <a:solidFill>
                    <a:srgbClr val="8A1700"/>
                  </a:solidFill>
                </a:ln>
              </p:spPr>
            </p:sp>
            <p:sp>
              <p:nvSpPr>
                <p:cNvPr id="53" name="Freeform 53"/>
                <p:cNvSpPr/>
                <p:nvPr/>
              </p:nvSpPr>
              <p:spPr>
                <a:xfrm>
                  <a:off x="2149475" y="3800475"/>
                  <a:ext cx="55563" cy="77788"/>
                </a:xfrm>
                <a:custGeom>
                  <a:avLst/>
                  <a:gdLst/>
                  <a:ahLst/>
                  <a:cxnLst/>
                  <a:rect l="l" t="t" r="r" b="b"/>
                  <a:pathLst>
                    <a:path w="55563" h="77788">
                      <a:moveTo>
                        <a:pt x="0" y="22225"/>
                      </a:moveTo>
                      <a:cubicBezTo>
                        <a:pt x="0" y="9950"/>
                        <a:pt x="9950" y="0"/>
                        <a:pt x="22225" y="0"/>
                      </a:cubicBezTo>
                      <a:lnTo>
                        <a:pt x="33338" y="0"/>
                      </a:lnTo>
                      <a:cubicBezTo>
                        <a:pt x="45612" y="0"/>
                        <a:pt x="55563" y="9950"/>
                        <a:pt x="55563" y="22225"/>
                      </a:cubicBezTo>
                      <a:lnTo>
                        <a:pt x="55563" y="55563"/>
                      </a:lnTo>
                      <a:cubicBezTo>
                        <a:pt x="55563" y="67837"/>
                        <a:pt x="45612" y="77788"/>
                        <a:pt x="33338" y="77788"/>
                      </a:cubicBezTo>
                      <a:lnTo>
                        <a:pt x="22225" y="77788"/>
                      </a:lnTo>
                      <a:cubicBezTo>
                        <a:pt x="9950" y="77788"/>
                        <a:pt x="0" y="67837"/>
                        <a:pt x="0" y="55563"/>
                      </a:cubicBezTo>
                      <a:lnTo>
                        <a:pt x="0" y="22225"/>
                      </a:lnTo>
                    </a:path>
                  </a:pathLst>
                </a:custGeom>
                <a:noFill/>
                <a:ln w="16669">
                  <a:solidFill>
                    <a:srgbClr val="8A1700"/>
                  </a:solidFill>
                </a:ln>
              </p:spPr>
            </p:sp>
            <p:sp>
              <p:nvSpPr>
                <p:cNvPr id="54" name="Freeform 54"/>
                <p:cNvSpPr/>
                <p:nvPr/>
              </p:nvSpPr>
              <p:spPr>
                <a:xfrm>
                  <a:off x="2271713" y="3800475"/>
                  <a:ext cx="55563" cy="77788"/>
                </a:xfrm>
                <a:custGeom>
                  <a:avLst/>
                  <a:gdLst/>
                  <a:ahLst/>
                  <a:cxnLst/>
                  <a:rect l="l" t="t" r="r" b="b"/>
                  <a:pathLst>
                    <a:path w="55563" h="77788">
                      <a:moveTo>
                        <a:pt x="0" y="22225"/>
                      </a:moveTo>
                      <a:cubicBezTo>
                        <a:pt x="0" y="9950"/>
                        <a:pt x="9950" y="0"/>
                        <a:pt x="22225" y="0"/>
                      </a:cubicBezTo>
                      <a:lnTo>
                        <a:pt x="33338" y="0"/>
                      </a:lnTo>
                      <a:cubicBezTo>
                        <a:pt x="45612" y="0"/>
                        <a:pt x="55563" y="9950"/>
                        <a:pt x="55563" y="22225"/>
                      </a:cubicBezTo>
                      <a:lnTo>
                        <a:pt x="55563" y="55563"/>
                      </a:lnTo>
                      <a:cubicBezTo>
                        <a:pt x="55563" y="67837"/>
                        <a:pt x="45612" y="77788"/>
                        <a:pt x="33338" y="77788"/>
                      </a:cubicBezTo>
                      <a:lnTo>
                        <a:pt x="22225" y="77788"/>
                      </a:lnTo>
                      <a:cubicBezTo>
                        <a:pt x="9950" y="77788"/>
                        <a:pt x="0" y="67837"/>
                        <a:pt x="0" y="55563"/>
                      </a:cubicBezTo>
                      <a:lnTo>
                        <a:pt x="0" y="22225"/>
                      </a:lnTo>
                    </a:path>
                  </a:pathLst>
                </a:custGeom>
                <a:noFill/>
                <a:ln w="16669">
                  <a:solidFill>
                    <a:srgbClr val="8A1700"/>
                  </a:solidFill>
                </a:ln>
              </p:spPr>
            </p:sp>
          </p:grpSp>
          <p:sp>
            <p:nvSpPr>
              <p:cNvPr id="56" name="TextBox 56"/>
              <p:cNvSpPr txBox="1"/>
              <p:nvPr/>
            </p:nvSpPr>
            <p:spPr>
              <a:xfrm>
                <a:off x="1052132" y="4017645"/>
                <a:ext cx="857631" cy="176212"/>
              </a:xfrm>
              <a:prstGeom prst="rect">
                <a:avLst/>
              </a:prstGeom>
              <a:noFill/>
              <a:ln>
                <a:noFill/>
              </a:ln>
            </p:spPr>
            <p:txBody>
              <a:bodyPr wrap="none" lIns="0" tIns="0" rIns="0" bIns="0" anchor="t" anchorCtr="0">
                <a:spAutoFit/>
              </a:bodyPr>
              <a:lstStyle/>
              <a:p>
                <a:pPr algn="r"/>
                <a:r>
                  <a:rPr lang="zh-CN" sz="900" b="1" dirty="0">
                    <a:solidFill>
                      <a:srgbClr val="520E00"/>
                    </a:solidFill>
                    <a:latin typeface="+mn-lt"/>
                    <a:ea typeface="+mn-ea"/>
                    <a:cs typeface="+mn-cs"/>
                  </a:rPr>
                  <a:t>客服：</a:t>
                </a:r>
                <a:r>
                  <a:rPr lang="zh-CN" sz="900" dirty="0">
                    <a:solidFill>
                      <a:srgbClr val="60403A"/>
                    </a:solidFill>
                    <a:latin typeface="+mn-lt"/>
                    <a:ea typeface="+mn-ea"/>
                    <a:cs typeface="+mn-cs"/>
                  </a:rPr>
                  <a:t>问题解决</a:t>
                </a:r>
              </a:p>
            </p:txBody>
          </p:sp>
        </p:grpSp>
        <p:grpSp>
          <p:nvGrpSpPr>
            <p:cNvPr id="63" name="tp-branch"/>
            <p:cNvGrpSpPr/>
            <p:nvPr/>
          </p:nvGrpSpPr>
          <p:grpSpPr>
            <a:xfrm>
              <a:off x="257365" y="2609850"/>
              <a:ext cx="1685735" cy="802957"/>
              <a:chOff x="257365" y="2609850"/>
              <a:chExt cx="1685735" cy="802957"/>
            </a:xfrm>
          </p:grpSpPr>
          <p:sp>
            <p:nvSpPr>
              <p:cNvPr id="58" name="Ellipse 58"/>
              <p:cNvSpPr/>
              <p:nvPr/>
            </p:nvSpPr>
            <p:spPr>
              <a:xfrm>
                <a:off x="1371600" y="2609850"/>
                <a:ext cx="571500" cy="571500"/>
              </a:xfrm>
              <a:prstGeom prst="ellipse">
                <a:avLst/>
              </a:prstGeom>
              <a:solidFill>
                <a:srgbClr val="FFFFFF"/>
              </a:solidFill>
              <a:ln w="19050">
                <a:solidFill>
                  <a:srgbClr val="8A1700"/>
                </a:solidFill>
              </a:ln>
            </p:spPr>
          </p:sp>
          <p:grpSp>
            <p:nvGrpSpPr>
              <p:cNvPr id="61" name="Group 61"/>
              <p:cNvGrpSpPr/>
              <p:nvPr/>
            </p:nvGrpSpPr>
            <p:grpSpPr>
              <a:xfrm>
                <a:off x="1559770" y="2786912"/>
                <a:ext cx="195160" cy="216259"/>
                <a:chOff x="1559770" y="2786912"/>
                <a:chExt cx="195160" cy="216259"/>
              </a:xfrm>
            </p:grpSpPr>
            <p:sp>
              <p:nvSpPr>
                <p:cNvPr id="59" name="Freeform 59"/>
                <p:cNvSpPr/>
                <p:nvPr/>
              </p:nvSpPr>
              <p:spPr>
                <a:xfrm>
                  <a:off x="1624013" y="2851150"/>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16669">
                  <a:solidFill>
                    <a:srgbClr val="8A1700"/>
                  </a:solidFill>
                </a:ln>
              </p:spPr>
            </p:sp>
            <p:sp>
              <p:nvSpPr>
                <p:cNvPr id="60" name="Freeform 60"/>
                <p:cNvSpPr/>
                <p:nvPr/>
              </p:nvSpPr>
              <p:spPr>
                <a:xfrm>
                  <a:off x="1559770" y="2786912"/>
                  <a:ext cx="195160" cy="216259"/>
                </a:xfrm>
                <a:custGeom>
                  <a:avLst/>
                  <a:gdLst/>
                  <a:ahLst/>
                  <a:cxnLst/>
                  <a:rect l="l" t="t" r="r" b="b"/>
                  <a:pathLst>
                    <a:path w="195160" h="216259">
                      <a:moveTo>
                        <a:pt x="160444" y="160440"/>
                      </a:moveTo>
                      <a:lnTo>
                        <a:pt x="113293" y="207590"/>
                      </a:lnTo>
                      <a:cubicBezTo>
                        <a:pt x="104615" y="216259"/>
                        <a:pt x="90556" y="216259"/>
                        <a:pt x="81878" y="207590"/>
                      </a:cubicBezTo>
                      <a:lnTo>
                        <a:pt x="34716" y="160440"/>
                      </a:lnTo>
                      <a:cubicBezTo>
                        <a:pt x="0" y="125722"/>
                        <a:pt x="1" y="69434"/>
                        <a:pt x="34719" y="34717"/>
                      </a:cubicBezTo>
                      <a:cubicBezTo>
                        <a:pt x="69436" y="0"/>
                        <a:pt x="125724" y="0"/>
                        <a:pt x="160441" y="34717"/>
                      </a:cubicBezTo>
                      <a:cubicBezTo>
                        <a:pt x="195159" y="69434"/>
                        <a:pt x="195160" y="125722"/>
                        <a:pt x="160444" y="160440"/>
                      </a:cubicBezTo>
                    </a:path>
                  </a:pathLst>
                </a:custGeom>
                <a:noFill/>
                <a:ln w="16669">
                  <a:solidFill>
                    <a:srgbClr val="8A1700"/>
                  </a:solidFill>
                </a:ln>
              </p:spPr>
            </p:sp>
          </p:grpSp>
          <p:sp>
            <p:nvSpPr>
              <p:cNvPr id="62" name="TextBox 62"/>
              <p:cNvSpPr txBox="1"/>
              <p:nvPr/>
            </p:nvSpPr>
            <p:spPr>
              <a:xfrm>
                <a:off x="257365" y="3236595"/>
                <a:ext cx="1099947" cy="176212"/>
              </a:xfrm>
              <a:prstGeom prst="rect">
                <a:avLst/>
              </a:prstGeom>
              <a:noFill/>
              <a:ln>
                <a:noFill/>
              </a:ln>
            </p:spPr>
            <p:txBody>
              <a:bodyPr wrap="none" lIns="0" tIns="0" rIns="0" bIns="0" anchor="t" anchorCtr="0">
                <a:spAutoFit/>
              </a:bodyPr>
              <a:lstStyle/>
              <a:p>
                <a:pPr algn="r"/>
                <a:r>
                  <a:rPr lang="zh-CN" sz="900" b="1" dirty="0">
                    <a:solidFill>
                      <a:srgbClr val="520E00"/>
                    </a:solidFill>
                    <a:latin typeface="+mn-lt"/>
                    <a:ea typeface="+mn-ea"/>
                    <a:cs typeface="+mn-cs"/>
                  </a:rPr>
                  <a:t>网点：</a:t>
                </a:r>
                <a:r>
                  <a:rPr lang="zh-CN" sz="900" dirty="0">
                    <a:solidFill>
                      <a:srgbClr val="60403A"/>
                    </a:solidFill>
                    <a:latin typeface="+mn-lt"/>
                    <a:ea typeface="+mn-ea"/>
                    <a:cs typeface="+mn-cs"/>
                  </a:rPr>
                  <a:t>复杂业务协同</a:t>
                </a:r>
              </a:p>
            </p:txBody>
          </p:sp>
        </p:grpSp>
        <p:grpSp>
          <p:nvGrpSpPr>
            <p:cNvPr id="69" name="tp-sms"/>
            <p:cNvGrpSpPr/>
            <p:nvPr/>
          </p:nvGrpSpPr>
          <p:grpSpPr>
            <a:xfrm>
              <a:off x="830389" y="1552575"/>
              <a:ext cx="1350836" cy="571500"/>
              <a:chOff x="830389" y="1552575"/>
              <a:chExt cx="1350836" cy="571500"/>
            </a:xfrm>
          </p:grpSpPr>
          <p:sp>
            <p:nvSpPr>
              <p:cNvPr id="64" name="Ellipse 64"/>
              <p:cNvSpPr/>
              <p:nvPr/>
            </p:nvSpPr>
            <p:spPr>
              <a:xfrm>
                <a:off x="1609725" y="1552575"/>
                <a:ext cx="571500" cy="571500"/>
              </a:xfrm>
              <a:prstGeom prst="ellipse">
                <a:avLst/>
              </a:prstGeom>
              <a:solidFill>
                <a:srgbClr val="FFFFFF"/>
              </a:solidFill>
              <a:ln w="19050">
                <a:solidFill>
                  <a:srgbClr val="8A1700"/>
                </a:solidFill>
              </a:ln>
            </p:spPr>
          </p:sp>
          <p:grpSp>
            <p:nvGrpSpPr>
              <p:cNvPr id="67" name="Group 67"/>
              <p:cNvGrpSpPr/>
              <p:nvPr/>
            </p:nvGrpSpPr>
            <p:grpSpPr>
              <a:xfrm>
                <a:off x="1795463" y="1760538"/>
                <a:ext cx="200026" cy="155575"/>
                <a:chOff x="1795463" y="1760538"/>
                <a:chExt cx="200026" cy="155575"/>
              </a:xfrm>
            </p:grpSpPr>
            <p:sp>
              <p:nvSpPr>
                <p:cNvPr id="65" name="Freeform 65"/>
                <p:cNvSpPr/>
                <p:nvPr/>
              </p:nvSpPr>
              <p:spPr>
                <a:xfrm>
                  <a:off x="1795463" y="1760538"/>
                  <a:ext cx="200026" cy="155575"/>
                </a:xfrm>
                <a:custGeom>
                  <a:avLst/>
                  <a:gdLst/>
                  <a:ahLst/>
                  <a:cxnLst/>
                  <a:rect l="l" t="t" r="r" b="b"/>
                  <a:pathLst>
                    <a:path w="200026" h="155575">
                      <a:moveTo>
                        <a:pt x="0" y="22225"/>
                      </a:moveTo>
                      <a:cubicBezTo>
                        <a:pt x="0" y="9950"/>
                        <a:pt x="9950" y="0"/>
                        <a:pt x="22225" y="0"/>
                      </a:cubicBezTo>
                      <a:lnTo>
                        <a:pt x="177801" y="0"/>
                      </a:lnTo>
                      <a:cubicBezTo>
                        <a:pt x="190075" y="0"/>
                        <a:pt x="200026" y="9950"/>
                        <a:pt x="200026" y="22225"/>
                      </a:cubicBezTo>
                      <a:lnTo>
                        <a:pt x="200026" y="133350"/>
                      </a:lnTo>
                      <a:cubicBezTo>
                        <a:pt x="200026" y="145625"/>
                        <a:pt x="190075" y="155575"/>
                        <a:pt x="177801" y="155575"/>
                      </a:cubicBezTo>
                      <a:lnTo>
                        <a:pt x="22225" y="155575"/>
                      </a:lnTo>
                      <a:cubicBezTo>
                        <a:pt x="9950" y="155575"/>
                        <a:pt x="0" y="145625"/>
                        <a:pt x="0" y="133350"/>
                      </a:cubicBezTo>
                      <a:lnTo>
                        <a:pt x="0" y="22225"/>
                      </a:lnTo>
                    </a:path>
                  </a:pathLst>
                </a:custGeom>
                <a:noFill/>
                <a:ln w="16669">
                  <a:solidFill>
                    <a:srgbClr val="8A1700"/>
                  </a:solidFill>
                </a:ln>
              </p:spPr>
            </p:sp>
            <p:sp>
              <p:nvSpPr>
                <p:cNvPr id="66" name="Freeform 66"/>
                <p:cNvSpPr/>
                <p:nvPr/>
              </p:nvSpPr>
              <p:spPr>
                <a:xfrm>
                  <a:off x="1795463" y="1782763"/>
                  <a:ext cx="200026" cy="66675"/>
                </a:xfrm>
                <a:custGeom>
                  <a:avLst/>
                  <a:gdLst/>
                  <a:ahLst/>
                  <a:cxnLst/>
                  <a:rect l="l" t="t" r="r" b="b"/>
                  <a:pathLst>
                    <a:path w="200026" h="66675">
                      <a:moveTo>
                        <a:pt x="0" y="0"/>
                      </a:moveTo>
                      <a:lnTo>
                        <a:pt x="100013" y="66675"/>
                      </a:lnTo>
                      <a:lnTo>
                        <a:pt x="200026" y="0"/>
                      </a:lnTo>
                    </a:path>
                  </a:pathLst>
                </a:custGeom>
                <a:noFill/>
                <a:ln w="16669">
                  <a:solidFill>
                    <a:srgbClr val="8A1700"/>
                  </a:solidFill>
                </a:ln>
              </p:spPr>
            </p:sp>
          </p:grpSp>
          <p:sp>
            <p:nvSpPr>
              <p:cNvPr id="68" name="TextBox 68"/>
              <p:cNvSpPr txBox="1"/>
              <p:nvPr/>
            </p:nvSpPr>
            <p:spPr>
              <a:xfrm>
                <a:off x="830389" y="1788795"/>
                <a:ext cx="736473" cy="176212"/>
              </a:xfrm>
              <a:prstGeom prst="rect">
                <a:avLst/>
              </a:prstGeom>
              <a:noFill/>
              <a:ln>
                <a:noFill/>
              </a:ln>
            </p:spPr>
            <p:txBody>
              <a:bodyPr wrap="none" lIns="0" tIns="0" rIns="0" bIns="0" anchor="t" anchorCtr="0">
                <a:spAutoFit/>
              </a:bodyPr>
              <a:lstStyle/>
              <a:p>
                <a:pPr algn="r"/>
                <a:r>
                  <a:rPr lang="zh-CN" sz="900" b="1" dirty="0">
                    <a:solidFill>
                      <a:srgbClr val="520E00"/>
                    </a:solidFill>
                    <a:latin typeface="+mn-lt"/>
                    <a:ea typeface="+mn-ea"/>
                    <a:cs typeface="+mn-cs"/>
                  </a:rPr>
                  <a:t>短信：</a:t>
                </a:r>
                <a:r>
                  <a:rPr lang="zh-CN" sz="900" dirty="0">
                    <a:solidFill>
                      <a:srgbClr val="60403A"/>
                    </a:solidFill>
                    <a:latin typeface="+mn-lt"/>
                    <a:ea typeface="+mn-ea"/>
                    <a:cs typeface="+mn-cs"/>
                  </a:rPr>
                  <a:t>强提醒</a:t>
                </a:r>
              </a:p>
            </p:txBody>
          </p:sp>
        </p:grpSp>
      </p:grpSp>
      <p:grpSp>
        <p:nvGrpSpPr>
          <p:cNvPr id="163" name="matrix-table"/>
          <p:cNvGrpSpPr/>
          <p:nvPr/>
        </p:nvGrpSpPr>
        <p:grpSpPr>
          <a:xfrm>
            <a:off x="5829300" y="800100"/>
            <a:ext cx="6115050" cy="3638550"/>
            <a:chOff x="5829300" y="800100"/>
            <a:chExt cx="6115050" cy="3638550"/>
          </a:xfrm>
        </p:grpSpPr>
        <p:sp>
          <p:nvSpPr>
            <p:cNvPr id="71" name="Rectangle 71"/>
            <p:cNvSpPr/>
            <p:nvPr/>
          </p:nvSpPr>
          <p:spPr>
            <a:xfrm>
              <a:off x="5829300" y="800100"/>
              <a:ext cx="6115050" cy="3638550"/>
            </a:xfrm>
            <a:prstGeom prst="roundRect">
              <a:avLst>
                <a:gd name="adj" fmla="val 1571"/>
              </a:avLst>
            </a:prstGeom>
            <a:solidFill>
              <a:srgbClr val="FFFFFF"/>
            </a:solidFill>
            <a:ln w="9525">
              <a:solidFill>
                <a:srgbClr val="C9D5EA"/>
              </a:solidFill>
            </a:ln>
          </p:spPr>
        </p:sp>
        <p:sp>
          <p:nvSpPr>
            <p:cNvPr id="72" name="Rectangle 72"/>
            <p:cNvSpPr/>
            <p:nvPr/>
          </p:nvSpPr>
          <p:spPr>
            <a:xfrm>
              <a:off x="5829300" y="800100"/>
              <a:ext cx="6115050" cy="476250"/>
            </a:xfrm>
            <a:prstGeom prst="roundRect">
              <a:avLst>
                <a:gd name="adj" fmla="val 12000"/>
              </a:avLst>
            </a:prstGeom>
            <a:solidFill>
              <a:srgbClr val="520E00"/>
            </a:solidFill>
            <a:ln>
              <a:noFill/>
            </a:ln>
          </p:spPr>
        </p:sp>
        <p:sp>
          <p:nvSpPr>
            <p:cNvPr id="73" name="Rectangle 73"/>
            <p:cNvSpPr/>
            <p:nvPr/>
          </p:nvSpPr>
          <p:spPr>
            <a:xfrm>
              <a:off x="5829300" y="1143000"/>
              <a:ext cx="6115050" cy="133350"/>
            </a:xfrm>
            <a:prstGeom prst="rect">
              <a:avLst/>
            </a:prstGeom>
            <a:solidFill>
              <a:srgbClr val="520E00"/>
            </a:solidFill>
            <a:ln>
              <a:noFill/>
            </a:ln>
          </p:spPr>
        </p:sp>
        <p:sp>
          <p:nvSpPr>
            <p:cNvPr id="74" name="Rectangle 74"/>
            <p:cNvSpPr/>
            <p:nvPr/>
          </p:nvSpPr>
          <p:spPr>
            <a:xfrm>
              <a:off x="8058150" y="1047750"/>
              <a:ext cx="3886200" cy="228600"/>
            </a:xfrm>
            <a:prstGeom prst="rect">
              <a:avLst/>
            </a:prstGeom>
            <a:solidFill>
              <a:srgbClr val="AB1D00"/>
            </a:solidFill>
            <a:ln>
              <a:noFill/>
            </a:ln>
          </p:spPr>
        </p:sp>
        <p:sp>
          <p:nvSpPr>
            <p:cNvPr id="75" name="TextBox 75"/>
            <p:cNvSpPr txBox="1"/>
            <p:nvPr/>
          </p:nvSpPr>
          <p:spPr>
            <a:xfrm>
              <a:off x="6255830" y="98869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触点</a:t>
              </a:r>
            </a:p>
          </p:txBody>
        </p:sp>
        <p:sp>
          <p:nvSpPr>
            <p:cNvPr id="76" name="TextBox 76"/>
            <p:cNvSpPr txBox="1"/>
            <p:nvPr/>
          </p:nvSpPr>
          <p:spPr>
            <a:xfrm>
              <a:off x="7370254" y="98869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场景</a:t>
              </a:r>
            </a:p>
          </p:txBody>
        </p:sp>
        <p:sp>
          <p:nvSpPr>
            <p:cNvPr id="77" name="TextBox 77"/>
            <p:cNvSpPr txBox="1"/>
            <p:nvPr/>
          </p:nvSpPr>
          <p:spPr>
            <a:xfrm>
              <a:off x="9875330" y="87439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功能</a:t>
              </a:r>
            </a:p>
          </p:txBody>
        </p:sp>
        <p:sp>
          <p:nvSpPr>
            <p:cNvPr id="78" name="TextBox 78"/>
            <p:cNvSpPr txBox="1"/>
            <p:nvPr/>
          </p:nvSpPr>
          <p:spPr>
            <a:xfrm>
              <a:off x="8194154" y="11272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信息触达</a:t>
              </a:r>
            </a:p>
          </p:txBody>
        </p:sp>
        <p:sp>
          <p:nvSpPr>
            <p:cNvPr id="79" name="TextBox 79"/>
            <p:cNvSpPr txBox="1"/>
            <p:nvPr/>
          </p:nvSpPr>
          <p:spPr>
            <a:xfrm>
              <a:off x="8841854" y="11272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关系建立</a:t>
              </a:r>
            </a:p>
          </p:txBody>
        </p:sp>
        <p:sp>
          <p:nvSpPr>
            <p:cNvPr id="80" name="TextBox 80"/>
            <p:cNvSpPr txBox="1"/>
            <p:nvPr/>
          </p:nvSpPr>
          <p:spPr>
            <a:xfrm>
              <a:off x="9489554" y="11272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服务触达</a:t>
              </a:r>
            </a:p>
          </p:txBody>
        </p:sp>
        <p:sp>
          <p:nvSpPr>
            <p:cNvPr id="81" name="TextBox 81"/>
            <p:cNvSpPr txBox="1"/>
            <p:nvPr/>
          </p:nvSpPr>
          <p:spPr>
            <a:xfrm>
              <a:off x="10137254" y="11272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交易转化</a:t>
              </a:r>
            </a:p>
          </p:txBody>
        </p:sp>
        <p:sp>
          <p:nvSpPr>
            <p:cNvPr id="82" name="TextBox 82"/>
            <p:cNvSpPr txBox="1"/>
            <p:nvPr/>
          </p:nvSpPr>
          <p:spPr>
            <a:xfrm>
              <a:off x="10784954" y="11272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问题解决</a:t>
              </a:r>
            </a:p>
          </p:txBody>
        </p:sp>
        <p:sp>
          <p:nvSpPr>
            <p:cNvPr id="83" name="TextBox 83"/>
            <p:cNvSpPr txBox="1"/>
            <p:nvPr/>
          </p:nvSpPr>
          <p:spPr>
            <a:xfrm>
              <a:off x="11432654" y="11272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品牌沟通</a:t>
              </a:r>
            </a:p>
          </p:txBody>
        </p:sp>
        <p:sp>
          <p:nvSpPr>
            <p:cNvPr id="84" name="Line 84"/>
            <p:cNvSpPr/>
            <p:nvPr/>
          </p:nvSpPr>
          <p:spPr>
            <a:xfrm>
              <a:off x="6934200" y="1276350"/>
              <a:ext cx="9525" cy="3133725"/>
            </a:xfrm>
            <a:custGeom>
              <a:avLst/>
              <a:gdLst/>
              <a:ahLst/>
              <a:cxnLst/>
              <a:rect l="l" t="t" r="r" b="b"/>
              <a:pathLst>
                <a:path w="9525" h="3133725">
                  <a:moveTo>
                    <a:pt x="0" y="0"/>
                  </a:moveTo>
                  <a:lnTo>
                    <a:pt x="0" y="3133725"/>
                  </a:lnTo>
                </a:path>
              </a:pathLst>
            </a:custGeom>
            <a:noFill/>
            <a:ln w="9525">
              <a:solidFill>
                <a:srgbClr val="E4EAF4"/>
              </a:solidFill>
            </a:ln>
          </p:spPr>
        </p:sp>
        <p:sp>
          <p:nvSpPr>
            <p:cNvPr id="85" name="Line 85"/>
            <p:cNvSpPr/>
            <p:nvPr/>
          </p:nvSpPr>
          <p:spPr>
            <a:xfrm>
              <a:off x="8058150" y="1276350"/>
              <a:ext cx="9525" cy="3133725"/>
            </a:xfrm>
            <a:custGeom>
              <a:avLst/>
              <a:gdLst/>
              <a:ahLst/>
              <a:cxnLst/>
              <a:rect l="l" t="t" r="r" b="b"/>
              <a:pathLst>
                <a:path w="9525" h="3133725">
                  <a:moveTo>
                    <a:pt x="0" y="0"/>
                  </a:moveTo>
                  <a:lnTo>
                    <a:pt x="0" y="3133725"/>
                  </a:lnTo>
                </a:path>
              </a:pathLst>
            </a:custGeom>
            <a:noFill/>
            <a:ln w="9525">
              <a:solidFill>
                <a:srgbClr val="E4EAF4"/>
              </a:solidFill>
            </a:ln>
          </p:spPr>
        </p:sp>
        <p:sp>
          <p:nvSpPr>
            <p:cNvPr id="86" name="Line 86"/>
            <p:cNvSpPr/>
            <p:nvPr/>
          </p:nvSpPr>
          <p:spPr>
            <a:xfrm>
              <a:off x="5829300" y="1724025"/>
              <a:ext cx="6115050" cy="9525"/>
            </a:xfrm>
            <a:custGeom>
              <a:avLst/>
              <a:gdLst/>
              <a:ahLst/>
              <a:cxnLst/>
              <a:rect l="l" t="t" r="r" b="b"/>
              <a:pathLst>
                <a:path w="6115050" h="9525">
                  <a:moveTo>
                    <a:pt x="0" y="0"/>
                  </a:moveTo>
                  <a:lnTo>
                    <a:pt x="6115050" y="0"/>
                  </a:lnTo>
                </a:path>
              </a:pathLst>
            </a:custGeom>
            <a:noFill/>
            <a:ln w="9525">
              <a:solidFill>
                <a:srgbClr val="E4EAF4"/>
              </a:solidFill>
            </a:ln>
          </p:spPr>
        </p:sp>
        <p:sp>
          <p:nvSpPr>
            <p:cNvPr id="87" name="Line 87"/>
            <p:cNvSpPr/>
            <p:nvPr/>
          </p:nvSpPr>
          <p:spPr>
            <a:xfrm>
              <a:off x="5829300" y="2171700"/>
              <a:ext cx="6115050" cy="9525"/>
            </a:xfrm>
            <a:custGeom>
              <a:avLst/>
              <a:gdLst/>
              <a:ahLst/>
              <a:cxnLst/>
              <a:rect l="l" t="t" r="r" b="b"/>
              <a:pathLst>
                <a:path w="6115050" h="9525">
                  <a:moveTo>
                    <a:pt x="0" y="0"/>
                  </a:moveTo>
                  <a:lnTo>
                    <a:pt x="6115050" y="0"/>
                  </a:lnTo>
                </a:path>
              </a:pathLst>
            </a:custGeom>
            <a:noFill/>
            <a:ln w="9525">
              <a:solidFill>
                <a:srgbClr val="E4EAF4"/>
              </a:solidFill>
            </a:ln>
          </p:spPr>
        </p:sp>
        <p:sp>
          <p:nvSpPr>
            <p:cNvPr id="88" name="Line 88"/>
            <p:cNvSpPr/>
            <p:nvPr/>
          </p:nvSpPr>
          <p:spPr>
            <a:xfrm>
              <a:off x="5829300" y="2619375"/>
              <a:ext cx="6115050" cy="9525"/>
            </a:xfrm>
            <a:custGeom>
              <a:avLst/>
              <a:gdLst/>
              <a:ahLst/>
              <a:cxnLst/>
              <a:rect l="l" t="t" r="r" b="b"/>
              <a:pathLst>
                <a:path w="6115050" h="9525">
                  <a:moveTo>
                    <a:pt x="0" y="0"/>
                  </a:moveTo>
                  <a:lnTo>
                    <a:pt x="6115050" y="0"/>
                  </a:lnTo>
                </a:path>
              </a:pathLst>
            </a:custGeom>
            <a:noFill/>
            <a:ln w="9525">
              <a:solidFill>
                <a:srgbClr val="E4EAF4"/>
              </a:solidFill>
            </a:ln>
          </p:spPr>
        </p:sp>
        <p:sp>
          <p:nvSpPr>
            <p:cNvPr id="89" name="Line 89"/>
            <p:cNvSpPr/>
            <p:nvPr/>
          </p:nvSpPr>
          <p:spPr>
            <a:xfrm>
              <a:off x="5829300" y="3067050"/>
              <a:ext cx="6115050" cy="9525"/>
            </a:xfrm>
            <a:custGeom>
              <a:avLst/>
              <a:gdLst/>
              <a:ahLst/>
              <a:cxnLst/>
              <a:rect l="l" t="t" r="r" b="b"/>
              <a:pathLst>
                <a:path w="6115050" h="9525">
                  <a:moveTo>
                    <a:pt x="0" y="0"/>
                  </a:moveTo>
                  <a:lnTo>
                    <a:pt x="6115050" y="0"/>
                  </a:lnTo>
                </a:path>
              </a:pathLst>
            </a:custGeom>
            <a:noFill/>
            <a:ln w="9525">
              <a:solidFill>
                <a:srgbClr val="E4EAF4"/>
              </a:solidFill>
            </a:ln>
          </p:spPr>
        </p:sp>
        <p:sp>
          <p:nvSpPr>
            <p:cNvPr id="90" name="Line 90"/>
            <p:cNvSpPr/>
            <p:nvPr/>
          </p:nvSpPr>
          <p:spPr>
            <a:xfrm>
              <a:off x="5829300" y="3514725"/>
              <a:ext cx="6115050" cy="9525"/>
            </a:xfrm>
            <a:custGeom>
              <a:avLst/>
              <a:gdLst/>
              <a:ahLst/>
              <a:cxnLst/>
              <a:rect l="l" t="t" r="r" b="b"/>
              <a:pathLst>
                <a:path w="6115050" h="9525">
                  <a:moveTo>
                    <a:pt x="0" y="0"/>
                  </a:moveTo>
                  <a:lnTo>
                    <a:pt x="6115050" y="0"/>
                  </a:lnTo>
                </a:path>
              </a:pathLst>
            </a:custGeom>
            <a:noFill/>
            <a:ln w="9525">
              <a:solidFill>
                <a:srgbClr val="E4EAF4"/>
              </a:solidFill>
            </a:ln>
          </p:spPr>
        </p:sp>
        <p:sp>
          <p:nvSpPr>
            <p:cNvPr id="91" name="Line 91"/>
            <p:cNvSpPr/>
            <p:nvPr/>
          </p:nvSpPr>
          <p:spPr>
            <a:xfrm>
              <a:off x="5829300" y="3962400"/>
              <a:ext cx="6115050" cy="9525"/>
            </a:xfrm>
            <a:custGeom>
              <a:avLst/>
              <a:gdLst/>
              <a:ahLst/>
              <a:cxnLst/>
              <a:rect l="l" t="t" r="r" b="b"/>
              <a:pathLst>
                <a:path w="6115050" h="9525">
                  <a:moveTo>
                    <a:pt x="0" y="0"/>
                  </a:moveTo>
                  <a:lnTo>
                    <a:pt x="6115050" y="0"/>
                  </a:lnTo>
                </a:path>
              </a:pathLst>
            </a:custGeom>
            <a:noFill/>
            <a:ln w="9525">
              <a:solidFill>
                <a:srgbClr val="E4EAF4"/>
              </a:solidFill>
            </a:ln>
          </p:spPr>
        </p:sp>
        <p:grpSp>
          <p:nvGrpSpPr>
            <p:cNvPr id="103" name="mx-row-1"/>
            <p:cNvGrpSpPr/>
            <p:nvPr/>
          </p:nvGrpSpPr>
          <p:grpSpPr>
            <a:xfrm>
              <a:off x="5948362" y="1380411"/>
              <a:ext cx="5068888" cy="273844"/>
              <a:chOff x="5948362" y="1380411"/>
              <a:chExt cx="5068888" cy="273844"/>
            </a:xfrm>
          </p:grpSpPr>
          <p:grpSp>
            <p:nvGrpSpPr>
              <p:cNvPr id="95" name="Group 95"/>
              <p:cNvGrpSpPr/>
              <p:nvPr/>
            </p:nvGrpSpPr>
            <p:grpSpPr>
              <a:xfrm>
                <a:off x="5948362" y="1431131"/>
                <a:ext cx="85725" cy="128588"/>
                <a:chOff x="5948362" y="1431131"/>
                <a:chExt cx="85725" cy="128588"/>
              </a:xfrm>
            </p:grpSpPr>
            <p:sp>
              <p:nvSpPr>
                <p:cNvPr id="92" name="Freeform 92"/>
                <p:cNvSpPr/>
                <p:nvPr/>
              </p:nvSpPr>
              <p:spPr>
                <a:xfrm>
                  <a:off x="5948362" y="1431131"/>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2859">
                  <a:solidFill>
                    <a:srgbClr val="8A1700"/>
                  </a:solidFill>
                </a:ln>
              </p:spPr>
            </p:sp>
            <p:sp>
              <p:nvSpPr>
                <p:cNvPr id="93" name="Freeform 93"/>
                <p:cNvSpPr/>
                <p:nvPr/>
              </p:nvSpPr>
              <p:spPr>
                <a:xfrm>
                  <a:off x="5984081" y="1438275"/>
                  <a:ext cx="14288" cy="9525"/>
                </a:xfrm>
                <a:custGeom>
                  <a:avLst/>
                  <a:gdLst/>
                  <a:ahLst/>
                  <a:cxnLst/>
                  <a:rect l="l" t="t" r="r" b="b"/>
                  <a:pathLst>
                    <a:path w="14288" h="9525">
                      <a:moveTo>
                        <a:pt x="0" y="0"/>
                      </a:moveTo>
                      <a:lnTo>
                        <a:pt x="14288" y="0"/>
                      </a:lnTo>
                    </a:path>
                  </a:pathLst>
                </a:custGeom>
                <a:noFill/>
                <a:ln w="12859">
                  <a:solidFill>
                    <a:srgbClr val="8A1700"/>
                  </a:solidFill>
                </a:ln>
              </p:spPr>
            </p:sp>
            <p:sp>
              <p:nvSpPr>
                <p:cNvPr id="94" name="Freeform 94"/>
                <p:cNvSpPr/>
                <p:nvPr/>
              </p:nvSpPr>
              <p:spPr>
                <a:xfrm>
                  <a:off x="5991225" y="1531144"/>
                  <a:ext cx="9525" cy="9525"/>
                </a:xfrm>
                <a:custGeom>
                  <a:avLst/>
                  <a:gdLst/>
                  <a:ahLst/>
                  <a:cxnLst/>
                  <a:rect l="l" t="t" r="r" b="b"/>
                  <a:pathLst>
                    <a:path w="9525" h="9525">
                      <a:moveTo>
                        <a:pt x="0" y="0"/>
                      </a:moveTo>
                      <a:lnTo>
                        <a:pt x="0" y="71"/>
                      </a:lnTo>
                    </a:path>
                  </a:pathLst>
                </a:custGeom>
                <a:noFill/>
                <a:ln w="12859">
                  <a:solidFill>
                    <a:srgbClr val="8A1700"/>
                  </a:solidFill>
                </a:ln>
              </p:spPr>
            </p:sp>
          </p:grpSp>
          <p:sp>
            <p:nvSpPr>
              <p:cNvPr id="96" name="TextBox 96"/>
              <p:cNvSpPr txBox="1"/>
              <p:nvPr/>
            </p:nvSpPr>
            <p:spPr>
              <a:xfrm>
                <a:off x="6129338" y="1380411"/>
                <a:ext cx="488328" cy="273844"/>
              </a:xfrm>
              <a:prstGeom prst="rect">
                <a:avLst/>
              </a:prstGeom>
              <a:noFill/>
              <a:ln>
                <a:noFill/>
              </a:ln>
            </p:spPr>
            <p:txBody>
              <a:bodyPr wrap="none" lIns="0" tIns="0" rIns="0" bIns="0" anchor="t" anchorCtr="0">
                <a:spAutoFit/>
              </a:bodyPr>
              <a:lstStyle/>
              <a:p>
                <a:pPr algn="l">
                  <a:lnSpc>
                    <a:spcPts val="1050"/>
                  </a:lnSpc>
                </a:pPr>
                <a:r>
                  <a:rPr lang="zh-CN" sz="710" b="1" dirty="0">
                    <a:solidFill>
                      <a:srgbClr val="520E00"/>
                    </a:solidFill>
                    <a:latin typeface="+mn-lt"/>
                    <a:ea typeface="+mn-ea"/>
                    <a:cs typeface="+mn-cs"/>
                  </a:rPr>
                  <a:t>APP：交易​</a:t>
                </a:r>
                <a:br/>
                <a:r>
                  <a:rPr lang="zh-CN" sz="710" b="1" dirty="0">
                    <a:solidFill>
                      <a:srgbClr val="520E00"/>
                    </a:solidFill>
                    <a:latin typeface="+mn-lt"/>
                    <a:ea typeface="+mn-ea"/>
                    <a:cs typeface="+mn-cs"/>
                  </a:rPr>
                  <a:t>与账户服务</a:t>
                </a:r>
              </a:p>
            </p:txBody>
          </p:sp>
          <p:sp>
            <p:nvSpPr>
              <p:cNvPr id="97" name="TextBox 97"/>
              <p:cNvSpPr txBox="1"/>
              <p:nvPr/>
            </p:nvSpPr>
            <p:spPr>
              <a:xfrm>
                <a:off x="7189152" y="1384459"/>
                <a:ext cx="614045" cy="266700"/>
              </a:xfrm>
              <a:prstGeom prst="rect">
                <a:avLst/>
              </a:prstGeom>
              <a:noFill/>
              <a:ln>
                <a:noFill/>
              </a:ln>
            </p:spPr>
            <p:txBody>
              <a:bodyPr wrap="none" lIns="0" tIns="0" rIns="0" bIns="0" anchor="t" anchorCtr="0">
                <a:spAutoFit/>
              </a:bodyPr>
              <a:lstStyle/>
              <a:p>
                <a:pPr algn="ctr">
                  <a:lnSpc>
                    <a:spcPts val="1050"/>
                  </a:lnSpc>
                </a:pPr>
                <a:r>
                  <a:rPr lang="zh-CN" sz="680" dirty="0">
                    <a:solidFill>
                      <a:srgbClr val="60403A"/>
                    </a:solidFill>
                    <a:latin typeface="+mn-lt"/>
                    <a:ea typeface="+mn-ea"/>
                    <a:cs typeface="+mn-cs"/>
                  </a:rPr>
                  <a:t>日常交易、账户</a:t>
                </a:r>
                <a:br/>
                <a:r>
                  <a:rPr lang="zh-CN" sz="680" dirty="0">
                    <a:solidFill>
                      <a:srgbClr val="60403A"/>
                    </a:solidFill>
                    <a:latin typeface="+mn-lt"/>
                    <a:ea typeface="+mn-ea"/>
                    <a:cs typeface="+mn-cs"/>
                  </a:rPr>
                  <a:t>查询与管理</a:t>
                </a:r>
              </a:p>
            </p:txBody>
          </p:sp>
          <p:sp>
            <p:nvSpPr>
              <p:cNvPr id="98" name="Freeform 98"/>
              <p:cNvSpPr/>
              <p:nvPr/>
            </p:nvSpPr>
            <p:spPr>
              <a:xfrm>
                <a:off x="8343106" y="146764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99" name="Freeform 99"/>
              <p:cNvSpPr/>
              <p:nvPr/>
            </p:nvSpPr>
            <p:spPr>
              <a:xfrm>
                <a:off x="8990806" y="146764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00" name="Freeform 100"/>
              <p:cNvSpPr/>
              <p:nvPr/>
            </p:nvSpPr>
            <p:spPr>
              <a:xfrm>
                <a:off x="9638506" y="146764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01" name="Freeform 101"/>
              <p:cNvSpPr/>
              <p:nvPr/>
            </p:nvSpPr>
            <p:spPr>
              <a:xfrm>
                <a:off x="10286206" y="146764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02" name="Freeform 102"/>
              <p:cNvSpPr/>
              <p:nvPr/>
            </p:nvSpPr>
            <p:spPr>
              <a:xfrm>
                <a:off x="10933906" y="146764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grpSp>
        <p:grpSp>
          <p:nvGrpSpPr>
            <p:cNvPr id="116" name="mx-row-2"/>
            <p:cNvGrpSpPr/>
            <p:nvPr/>
          </p:nvGrpSpPr>
          <p:grpSpPr>
            <a:xfrm>
              <a:off x="5941219" y="1828086"/>
              <a:ext cx="5723731" cy="273844"/>
              <a:chOff x="5941219" y="1828086"/>
              <a:chExt cx="5723731" cy="273844"/>
            </a:xfrm>
          </p:grpSpPr>
          <p:grpSp>
            <p:nvGrpSpPr>
              <p:cNvPr id="109" name="Group 109"/>
              <p:cNvGrpSpPr/>
              <p:nvPr/>
            </p:nvGrpSpPr>
            <p:grpSpPr>
              <a:xfrm>
                <a:off x="5941219" y="1878806"/>
                <a:ext cx="100012" cy="128588"/>
                <a:chOff x="5941219" y="1878806"/>
                <a:chExt cx="100012" cy="128588"/>
              </a:xfrm>
            </p:grpSpPr>
            <p:sp>
              <p:nvSpPr>
                <p:cNvPr id="104" name="Freeform 104"/>
                <p:cNvSpPr/>
                <p:nvPr/>
              </p:nvSpPr>
              <p:spPr>
                <a:xfrm>
                  <a:off x="6005512" y="1878806"/>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2859">
                  <a:solidFill>
                    <a:srgbClr val="8A1700"/>
                  </a:solidFill>
                </a:ln>
              </p:spPr>
            </p:sp>
            <p:sp>
              <p:nvSpPr>
                <p:cNvPr id="105" name="Freeform 105"/>
                <p:cNvSpPr/>
                <p:nvPr/>
              </p:nvSpPr>
              <p:spPr>
                <a:xfrm>
                  <a:off x="5941219" y="1878806"/>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2859">
                  <a:solidFill>
                    <a:srgbClr val="8A1700"/>
                  </a:solidFill>
                </a:ln>
              </p:spPr>
            </p:sp>
            <p:sp>
              <p:nvSpPr>
                <p:cNvPr id="106" name="Freeform 106"/>
                <p:cNvSpPr/>
                <p:nvPr/>
              </p:nvSpPr>
              <p:spPr>
                <a:xfrm>
                  <a:off x="5969794" y="1921669"/>
                  <a:ext cx="9525" cy="9525"/>
                </a:xfrm>
                <a:custGeom>
                  <a:avLst/>
                  <a:gdLst/>
                  <a:ahLst/>
                  <a:cxnLst/>
                  <a:rect l="l" t="t" r="r" b="b"/>
                  <a:pathLst>
                    <a:path w="9525" h="9525">
                      <a:moveTo>
                        <a:pt x="0" y="0"/>
                      </a:moveTo>
                      <a:lnTo>
                        <a:pt x="7144" y="0"/>
                      </a:lnTo>
                    </a:path>
                  </a:pathLst>
                </a:custGeom>
                <a:noFill/>
                <a:ln w="12859">
                  <a:solidFill>
                    <a:srgbClr val="8A1700"/>
                  </a:solidFill>
                </a:ln>
              </p:spPr>
            </p:sp>
            <p:sp>
              <p:nvSpPr>
                <p:cNvPr id="107" name="Freeform 107"/>
                <p:cNvSpPr/>
                <p:nvPr/>
              </p:nvSpPr>
              <p:spPr>
                <a:xfrm>
                  <a:off x="5969794" y="1950244"/>
                  <a:ext cx="42862" cy="9525"/>
                </a:xfrm>
                <a:custGeom>
                  <a:avLst/>
                  <a:gdLst/>
                  <a:ahLst/>
                  <a:cxnLst/>
                  <a:rect l="l" t="t" r="r" b="b"/>
                  <a:pathLst>
                    <a:path w="42862" h="9525">
                      <a:moveTo>
                        <a:pt x="0" y="0"/>
                      </a:moveTo>
                      <a:lnTo>
                        <a:pt x="42862" y="0"/>
                      </a:lnTo>
                    </a:path>
                  </a:pathLst>
                </a:custGeom>
                <a:noFill/>
                <a:ln w="12859">
                  <a:solidFill>
                    <a:srgbClr val="8A1700"/>
                  </a:solidFill>
                </a:ln>
              </p:spPr>
            </p:sp>
            <p:sp>
              <p:nvSpPr>
                <p:cNvPr id="108" name="Freeform 108"/>
                <p:cNvSpPr/>
                <p:nvPr/>
              </p:nvSpPr>
              <p:spPr>
                <a:xfrm>
                  <a:off x="5969794" y="1978819"/>
                  <a:ext cx="42862" cy="9525"/>
                </a:xfrm>
                <a:custGeom>
                  <a:avLst/>
                  <a:gdLst/>
                  <a:ahLst/>
                  <a:cxnLst/>
                  <a:rect l="l" t="t" r="r" b="b"/>
                  <a:pathLst>
                    <a:path w="42862" h="9525">
                      <a:moveTo>
                        <a:pt x="0" y="0"/>
                      </a:moveTo>
                      <a:lnTo>
                        <a:pt x="42862" y="0"/>
                      </a:lnTo>
                    </a:path>
                  </a:pathLst>
                </a:custGeom>
                <a:noFill/>
                <a:ln w="12859">
                  <a:solidFill>
                    <a:srgbClr val="8A1700"/>
                  </a:solidFill>
                </a:ln>
              </p:spPr>
            </p:sp>
          </p:grpSp>
          <p:sp>
            <p:nvSpPr>
              <p:cNvPr id="110" name="TextBox 110"/>
              <p:cNvSpPr txBox="1"/>
              <p:nvPr/>
            </p:nvSpPr>
            <p:spPr>
              <a:xfrm>
                <a:off x="6129338" y="1828086"/>
                <a:ext cx="550545" cy="273844"/>
              </a:xfrm>
              <a:prstGeom prst="rect">
                <a:avLst/>
              </a:prstGeom>
              <a:noFill/>
              <a:ln>
                <a:noFill/>
              </a:ln>
            </p:spPr>
            <p:txBody>
              <a:bodyPr wrap="none" lIns="0" tIns="0" rIns="0" bIns="0" anchor="t" anchorCtr="0">
                <a:spAutoFit/>
              </a:bodyPr>
              <a:lstStyle/>
              <a:p>
                <a:pPr algn="l">
                  <a:lnSpc>
                    <a:spcPts val="1050"/>
                  </a:lnSpc>
                </a:pPr>
                <a:r>
                  <a:rPr lang="zh-CN" sz="710" b="1" dirty="0">
                    <a:solidFill>
                      <a:srgbClr val="520E00"/>
                    </a:solidFill>
                    <a:latin typeface="+mn-lt"/>
                    <a:ea typeface="+mn-ea"/>
                    <a:cs typeface="+mn-cs"/>
                  </a:rPr>
                  <a:t>公众号：内容</a:t>
                </a:r>
                <a:br/>
                <a:r>
                  <a:rPr lang="zh-CN" sz="710" b="1" dirty="0">
                    <a:solidFill>
                      <a:srgbClr val="520E00"/>
                    </a:solidFill>
                    <a:latin typeface="+mn-lt"/>
                    <a:ea typeface="+mn-ea"/>
                    <a:cs typeface="+mn-cs"/>
                  </a:rPr>
                  <a:t>与品牌沟通</a:t>
                </a:r>
              </a:p>
            </p:txBody>
          </p:sp>
          <p:sp>
            <p:nvSpPr>
              <p:cNvPr id="111" name="TextBox 111"/>
              <p:cNvSpPr txBox="1"/>
              <p:nvPr/>
            </p:nvSpPr>
            <p:spPr>
              <a:xfrm>
                <a:off x="7189152" y="1832134"/>
                <a:ext cx="614045" cy="266700"/>
              </a:xfrm>
              <a:prstGeom prst="rect">
                <a:avLst/>
              </a:prstGeom>
              <a:noFill/>
              <a:ln>
                <a:noFill/>
              </a:ln>
            </p:spPr>
            <p:txBody>
              <a:bodyPr wrap="none" lIns="0" tIns="0" rIns="0" bIns="0" anchor="t" anchorCtr="0">
                <a:spAutoFit/>
              </a:bodyPr>
              <a:lstStyle/>
              <a:p>
                <a:pPr algn="ctr">
                  <a:lnSpc>
                    <a:spcPts val="1050"/>
                  </a:lnSpc>
                </a:pPr>
                <a:r>
                  <a:rPr lang="zh-CN" sz="680" dirty="0">
                    <a:solidFill>
                      <a:srgbClr val="60403A"/>
                    </a:solidFill>
                    <a:latin typeface="+mn-lt"/>
                    <a:ea typeface="+mn-ea"/>
                    <a:cs typeface="+mn-cs"/>
                  </a:rPr>
                  <a:t>资讯获取、品牌</a:t>
                </a:r>
                <a:br/>
                <a:r>
                  <a:rPr lang="zh-CN" sz="680" dirty="0">
                    <a:solidFill>
                      <a:srgbClr val="60403A"/>
                    </a:solidFill>
                    <a:latin typeface="+mn-lt"/>
                    <a:ea typeface="+mn-ea"/>
                    <a:cs typeface="+mn-cs"/>
                  </a:rPr>
                  <a:t>内容传播</a:t>
                </a:r>
              </a:p>
            </p:txBody>
          </p:sp>
          <p:sp>
            <p:nvSpPr>
              <p:cNvPr id="112" name="Freeform 112"/>
              <p:cNvSpPr/>
              <p:nvPr/>
            </p:nvSpPr>
            <p:spPr>
              <a:xfrm>
                <a:off x="8343106" y="191531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13" name="Freeform 113"/>
              <p:cNvSpPr/>
              <p:nvPr/>
            </p:nvSpPr>
            <p:spPr>
              <a:xfrm>
                <a:off x="8990806" y="191531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14" name="Freeform 114"/>
              <p:cNvSpPr/>
              <p:nvPr/>
            </p:nvSpPr>
            <p:spPr>
              <a:xfrm>
                <a:off x="9638506" y="191531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15" name="Freeform 115"/>
              <p:cNvSpPr/>
              <p:nvPr/>
            </p:nvSpPr>
            <p:spPr>
              <a:xfrm>
                <a:off x="11581606" y="191531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grpSp>
        <p:grpSp>
          <p:nvGrpSpPr>
            <p:cNvPr id="128" name="mx-row-3"/>
            <p:cNvGrpSpPr/>
            <p:nvPr/>
          </p:nvGrpSpPr>
          <p:grpSpPr>
            <a:xfrm>
              <a:off x="5934075" y="2275761"/>
              <a:ext cx="4435475" cy="273844"/>
              <a:chOff x="5934075" y="2275761"/>
              <a:chExt cx="4435475" cy="273844"/>
            </a:xfrm>
          </p:grpSpPr>
          <p:grpSp>
            <p:nvGrpSpPr>
              <p:cNvPr id="122" name="Group 122"/>
              <p:cNvGrpSpPr/>
              <p:nvPr/>
            </p:nvGrpSpPr>
            <p:grpSpPr>
              <a:xfrm>
                <a:off x="5934075" y="2333625"/>
                <a:ext cx="114299" cy="114299"/>
                <a:chOff x="5934075" y="2333625"/>
                <a:chExt cx="114299" cy="114299"/>
              </a:xfrm>
            </p:grpSpPr>
            <p:sp>
              <p:nvSpPr>
                <p:cNvPr id="117" name="Freeform 117"/>
                <p:cNvSpPr/>
                <p:nvPr/>
              </p:nvSpPr>
              <p:spPr>
                <a:xfrm>
                  <a:off x="5934075" y="2333625"/>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2859">
                  <a:solidFill>
                    <a:srgbClr val="8A1700"/>
                  </a:solidFill>
                </a:ln>
              </p:spPr>
            </p:sp>
            <p:sp>
              <p:nvSpPr>
                <p:cNvPr id="118" name="Freeform 118"/>
                <p:cNvSpPr/>
                <p:nvPr/>
              </p:nvSpPr>
              <p:spPr>
                <a:xfrm>
                  <a:off x="5934075" y="2405062"/>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2859">
                  <a:solidFill>
                    <a:srgbClr val="8A1700"/>
                  </a:solidFill>
                </a:ln>
              </p:spPr>
            </p:sp>
            <p:sp>
              <p:nvSpPr>
                <p:cNvPr id="119" name="Freeform 119"/>
                <p:cNvSpPr/>
                <p:nvPr/>
              </p:nvSpPr>
              <p:spPr>
                <a:xfrm>
                  <a:off x="6005512" y="2405062"/>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2859">
                  <a:solidFill>
                    <a:srgbClr val="8A1700"/>
                  </a:solidFill>
                </a:ln>
              </p:spPr>
            </p:sp>
            <p:sp>
              <p:nvSpPr>
                <p:cNvPr id="120" name="Freeform 120"/>
                <p:cNvSpPr/>
                <p:nvPr/>
              </p:nvSpPr>
              <p:spPr>
                <a:xfrm>
                  <a:off x="6005512" y="2355056"/>
                  <a:ext cx="42862" cy="9525"/>
                </a:xfrm>
                <a:custGeom>
                  <a:avLst/>
                  <a:gdLst/>
                  <a:ahLst/>
                  <a:cxnLst/>
                  <a:rect l="l" t="t" r="r" b="b"/>
                  <a:pathLst>
                    <a:path w="42862" h="9525">
                      <a:moveTo>
                        <a:pt x="0" y="0"/>
                      </a:moveTo>
                      <a:lnTo>
                        <a:pt x="42862" y="0"/>
                      </a:lnTo>
                    </a:path>
                  </a:pathLst>
                </a:custGeom>
                <a:noFill/>
                <a:ln w="12859">
                  <a:solidFill>
                    <a:srgbClr val="8A1700"/>
                  </a:solidFill>
                </a:ln>
              </p:spPr>
            </p:sp>
            <p:sp>
              <p:nvSpPr>
                <p:cNvPr id="121" name="Freeform 121"/>
                <p:cNvSpPr/>
                <p:nvPr/>
              </p:nvSpPr>
              <p:spPr>
                <a:xfrm>
                  <a:off x="6026944" y="2333625"/>
                  <a:ext cx="9525" cy="42862"/>
                </a:xfrm>
                <a:custGeom>
                  <a:avLst/>
                  <a:gdLst/>
                  <a:ahLst/>
                  <a:cxnLst/>
                  <a:rect l="l" t="t" r="r" b="b"/>
                  <a:pathLst>
                    <a:path w="9525" h="42862">
                      <a:moveTo>
                        <a:pt x="0" y="0"/>
                      </a:moveTo>
                      <a:lnTo>
                        <a:pt x="0" y="42862"/>
                      </a:lnTo>
                    </a:path>
                  </a:pathLst>
                </a:custGeom>
                <a:noFill/>
                <a:ln w="12859">
                  <a:solidFill>
                    <a:srgbClr val="8A1700"/>
                  </a:solidFill>
                </a:ln>
              </p:spPr>
            </p:sp>
          </p:grpSp>
          <p:sp>
            <p:nvSpPr>
              <p:cNvPr id="123" name="TextBox 123"/>
              <p:cNvSpPr txBox="1"/>
              <p:nvPr/>
            </p:nvSpPr>
            <p:spPr>
              <a:xfrm>
                <a:off x="6129338" y="2275761"/>
                <a:ext cx="550545" cy="273844"/>
              </a:xfrm>
              <a:prstGeom prst="rect">
                <a:avLst/>
              </a:prstGeom>
              <a:noFill/>
              <a:ln>
                <a:noFill/>
              </a:ln>
            </p:spPr>
            <p:txBody>
              <a:bodyPr wrap="none" lIns="0" tIns="0" rIns="0" bIns="0" anchor="t" anchorCtr="0">
                <a:spAutoFit/>
              </a:bodyPr>
              <a:lstStyle/>
              <a:p>
                <a:pPr algn="l">
                  <a:lnSpc>
                    <a:spcPts val="1050"/>
                  </a:lnSpc>
                </a:pPr>
                <a:r>
                  <a:rPr lang="zh-CN" sz="710" b="1" dirty="0">
                    <a:solidFill>
                      <a:srgbClr val="520E00"/>
                    </a:solidFill>
                    <a:latin typeface="+mn-lt"/>
                    <a:ea typeface="+mn-ea"/>
                    <a:cs typeface="+mn-cs"/>
                  </a:rPr>
                  <a:t>小程序：活动</a:t>
                </a:r>
                <a:br/>
                <a:r>
                  <a:rPr lang="zh-CN" sz="710" b="1" dirty="0">
                    <a:solidFill>
                      <a:srgbClr val="520E00"/>
                    </a:solidFill>
                    <a:latin typeface="+mn-lt"/>
                    <a:ea typeface="+mn-ea"/>
                    <a:cs typeface="+mn-cs"/>
                  </a:rPr>
                  <a:t>与权益承载</a:t>
                </a:r>
              </a:p>
            </p:txBody>
          </p:sp>
          <p:sp>
            <p:nvSpPr>
              <p:cNvPr id="124" name="TextBox 124"/>
              <p:cNvSpPr txBox="1"/>
              <p:nvPr/>
            </p:nvSpPr>
            <p:spPr>
              <a:xfrm>
                <a:off x="7189152" y="2279809"/>
                <a:ext cx="614045" cy="266700"/>
              </a:xfrm>
              <a:prstGeom prst="rect">
                <a:avLst/>
              </a:prstGeom>
              <a:noFill/>
              <a:ln>
                <a:noFill/>
              </a:ln>
            </p:spPr>
            <p:txBody>
              <a:bodyPr wrap="none" lIns="0" tIns="0" rIns="0" bIns="0" anchor="t" anchorCtr="0">
                <a:spAutoFit/>
              </a:bodyPr>
              <a:lstStyle/>
              <a:p>
                <a:pPr algn="ctr">
                  <a:lnSpc>
                    <a:spcPts val="1050"/>
                  </a:lnSpc>
                </a:pPr>
                <a:r>
                  <a:rPr lang="zh-CN" sz="680" dirty="0">
                    <a:solidFill>
                      <a:srgbClr val="60403A"/>
                    </a:solidFill>
                    <a:latin typeface="+mn-lt"/>
                    <a:ea typeface="+mn-ea"/>
                    <a:cs typeface="+mn-cs"/>
                  </a:rPr>
                  <a:t>营销活动、权益</a:t>
                </a:r>
                <a:br/>
                <a:r>
                  <a:rPr lang="zh-CN" sz="680" dirty="0">
                    <a:solidFill>
                      <a:srgbClr val="60403A"/>
                    </a:solidFill>
                    <a:latin typeface="+mn-lt"/>
                    <a:ea typeface="+mn-ea"/>
                    <a:cs typeface="+mn-cs"/>
                  </a:rPr>
                  <a:t>领取与使用</a:t>
                </a:r>
              </a:p>
            </p:txBody>
          </p:sp>
          <p:sp>
            <p:nvSpPr>
              <p:cNvPr id="125" name="Freeform 125"/>
              <p:cNvSpPr/>
              <p:nvPr/>
            </p:nvSpPr>
            <p:spPr>
              <a:xfrm>
                <a:off x="8343106" y="236299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26" name="Freeform 126"/>
              <p:cNvSpPr/>
              <p:nvPr/>
            </p:nvSpPr>
            <p:spPr>
              <a:xfrm>
                <a:off x="9638506" y="236299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27" name="Freeform 127"/>
              <p:cNvSpPr/>
              <p:nvPr/>
            </p:nvSpPr>
            <p:spPr>
              <a:xfrm>
                <a:off x="10286206" y="236299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grpSp>
        <p:grpSp>
          <p:nvGrpSpPr>
            <p:cNvPr id="136" name="mx-row-4"/>
            <p:cNvGrpSpPr/>
            <p:nvPr/>
          </p:nvGrpSpPr>
          <p:grpSpPr>
            <a:xfrm>
              <a:off x="5919616" y="2723436"/>
              <a:ext cx="5097634" cy="273844"/>
              <a:chOff x="5919616" y="2723436"/>
              <a:chExt cx="5097634" cy="273844"/>
            </a:xfrm>
          </p:grpSpPr>
          <p:sp>
            <p:nvSpPr>
              <p:cNvPr id="129" name="Freeform 129"/>
              <p:cNvSpPr/>
              <p:nvPr/>
            </p:nvSpPr>
            <p:spPr>
              <a:xfrm>
                <a:off x="5919616" y="277576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2859">
                <a:solidFill>
                  <a:srgbClr val="8A1700"/>
                </a:solidFill>
              </a:ln>
            </p:spPr>
          </p:sp>
          <p:sp>
            <p:nvSpPr>
              <p:cNvPr id="130" name="TextBox 130"/>
              <p:cNvSpPr txBox="1"/>
              <p:nvPr/>
            </p:nvSpPr>
            <p:spPr>
              <a:xfrm>
                <a:off x="6129338" y="2723436"/>
                <a:ext cx="640715" cy="273844"/>
              </a:xfrm>
              <a:prstGeom prst="rect">
                <a:avLst/>
              </a:prstGeom>
              <a:noFill/>
              <a:ln>
                <a:noFill/>
              </a:ln>
            </p:spPr>
            <p:txBody>
              <a:bodyPr wrap="none" lIns="0" tIns="0" rIns="0" bIns="0" anchor="t" anchorCtr="0">
                <a:spAutoFit/>
              </a:bodyPr>
              <a:lstStyle/>
              <a:p>
                <a:pPr algn="l">
                  <a:lnSpc>
                    <a:spcPts val="1050"/>
                  </a:lnSpc>
                </a:pPr>
                <a:r>
                  <a:rPr lang="zh-CN" sz="710" b="1" dirty="0">
                    <a:solidFill>
                      <a:srgbClr val="520E00"/>
                    </a:solidFill>
                    <a:latin typeface="+mn-lt"/>
                    <a:ea typeface="+mn-ea"/>
                    <a:cs typeface="+mn-cs"/>
                  </a:rPr>
                  <a:t>企业微信：关系</a:t>
                </a:r>
                <a:br/>
                <a:r>
                  <a:rPr lang="zh-CN" sz="710" b="1" dirty="0">
                    <a:solidFill>
                      <a:srgbClr val="520E00"/>
                    </a:solidFill>
                    <a:latin typeface="+mn-lt"/>
                    <a:ea typeface="+mn-ea"/>
                    <a:cs typeface="+mn-cs"/>
                  </a:rPr>
                  <a:t>维护与人工服务</a:t>
                </a:r>
              </a:p>
            </p:txBody>
          </p:sp>
          <p:sp>
            <p:nvSpPr>
              <p:cNvPr id="131" name="TextBox 131"/>
              <p:cNvSpPr txBox="1"/>
              <p:nvPr/>
            </p:nvSpPr>
            <p:spPr>
              <a:xfrm>
                <a:off x="7180516" y="2727484"/>
                <a:ext cx="631317" cy="266700"/>
              </a:xfrm>
              <a:prstGeom prst="rect">
                <a:avLst/>
              </a:prstGeom>
              <a:noFill/>
              <a:ln>
                <a:noFill/>
              </a:ln>
            </p:spPr>
            <p:txBody>
              <a:bodyPr wrap="none" lIns="0" tIns="0" rIns="0" bIns="0" anchor="t" anchorCtr="0">
                <a:spAutoFit/>
              </a:bodyPr>
              <a:lstStyle/>
              <a:p>
                <a:pPr algn="ctr">
                  <a:lnSpc>
                    <a:spcPts val="1050"/>
                  </a:lnSpc>
                </a:pPr>
                <a:r>
                  <a:rPr lang="zh-CN" sz="680" dirty="0">
                    <a:solidFill>
                      <a:srgbClr val="60403A"/>
                    </a:solidFill>
                    <a:latin typeface="+mn-lt"/>
                    <a:ea typeface="+mn-ea"/>
                    <a:cs typeface="+mn-cs"/>
                  </a:rPr>
                  <a:t>客户经营、1V1​</a:t>
                </a:r>
                <a:br/>
                <a:r>
                  <a:rPr lang="zh-CN" sz="680" dirty="0">
                    <a:solidFill>
                      <a:srgbClr val="60403A"/>
                    </a:solidFill>
                    <a:latin typeface="+mn-lt"/>
                    <a:ea typeface="+mn-ea"/>
                    <a:cs typeface="+mn-cs"/>
                  </a:rPr>
                  <a:t>沟通与服务</a:t>
                </a:r>
              </a:p>
            </p:txBody>
          </p:sp>
          <p:sp>
            <p:nvSpPr>
              <p:cNvPr id="132" name="Freeform 132"/>
              <p:cNvSpPr/>
              <p:nvPr/>
            </p:nvSpPr>
            <p:spPr>
              <a:xfrm>
                <a:off x="8343106" y="281066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33" name="Freeform 133"/>
              <p:cNvSpPr/>
              <p:nvPr/>
            </p:nvSpPr>
            <p:spPr>
              <a:xfrm>
                <a:off x="8990806" y="281066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34" name="Freeform 134"/>
              <p:cNvSpPr/>
              <p:nvPr/>
            </p:nvSpPr>
            <p:spPr>
              <a:xfrm>
                <a:off x="9638506" y="281066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35" name="Freeform 135"/>
              <p:cNvSpPr/>
              <p:nvPr/>
            </p:nvSpPr>
            <p:spPr>
              <a:xfrm>
                <a:off x="10933906" y="281066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grpSp>
        <p:grpSp>
          <p:nvGrpSpPr>
            <p:cNvPr id="143" name="mx-row-5"/>
            <p:cNvGrpSpPr/>
            <p:nvPr/>
          </p:nvGrpSpPr>
          <p:grpSpPr>
            <a:xfrm>
              <a:off x="5926931" y="3175159"/>
              <a:ext cx="2499519" cy="266700"/>
              <a:chOff x="5926931" y="3175159"/>
              <a:chExt cx="2499519" cy="266700"/>
            </a:xfrm>
          </p:grpSpPr>
          <p:grpSp>
            <p:nvGrpSpPr>
              <p:cNvPr id="139" name="Group 139"/>
              <p:cNvGrpSpPr/>
              <p:nvPr/>
            </p:nvGrpSpPr>
            <p:grpSpPr>
              <a:xfrm>
                <a:off x="5926931" y="3236119"/>
                <a:ext cx="128588" cy="100012"/>
                <a:chOff x="5926931" y="3236119"/>
                <a:chExt cx="128588" cy="100012"/>
              </a:xfrm>
            </p:grpSpPr>
            <p:sp>
              <p:nvSpPr>
                <p:cNvPr id="137" name="Freeform 137"/>
                <p:cNvSpPr/>
                <p:nvPr/>
              </p:nvSpPr>
              <p:spPr>
                <a:xfrm>
                  <a:off x="5926931" y="3236119"/>
                  <a:ext cx="128588" cy="100012"/>
                </a:xfrm>
                <a:custGeom>
                  <a:avLst/>
                  <a:gdLst/>
                  <a:ahLst/>
                  <a:cxnLst/>
                  <a:rect l="l" t="t" r="r" b="b"/>
                  <a:pathLst>
                    <a:path w="128588" h="100012">
                      <a:moveTo>
                        <a:pt x="0" y="14288"/>
                      </a:moveTo>
                      <a:cubicBezTo>
                        <a:pt x="0" y="6397"/>
                        <a:pt x="6397" y="0"/>
                        <a:pt x="14288" y="0"/>
                      </a:cubicBezTo>
                      <a:lnTo>
                        <a:pt x="114300" y="0"/>
                      </a:lnTo>
                      <a:cubicBezTo>
                        <a:pt x="122191" y="0"/>
                        <a:pt x="128588" y="6397"/>
                        <a:pt x="128588" y="14288"/>
                      </a:cubicBezTo>
                      <a:lnTo>
                        <a:pt x="128588" y="85725"/>
                      </a:lnTo>
                      <a:cubicBezTo>
                        <a:pt x="128588" y="93616"/>
                        <a:pt x="122191" y="100012"/>
                        <a:pt x="114300" y="100012"/>
                      </a:cubicBezTo>
                      <a:lnTo>
                        <a:pt x="14288" y="100012"/>
                      </a:lnTo>
                      <a:cubicBezTo>
                        <a:pt x="6397" y="100012"/>
                        <a:pt x="0" y="93616"/>
                        <a:pt x="0" y="85725"/>
                      </a:cubicBezTo>
                      <a:lnTo>
                        <a:pt x="0" y="14288"/>
                      </a:lnTo>
                    </a:path>
                  </a:pathLst>
                </a:custGeom>
                <a:noFill/>
                <a:ln w="12859">
                  <a:solidFill>
                    <a:srgbClr val="8A1700"/>
                  </a:solidFill>
                </a:ln>
              </p:spPr>
            </p:sp>
            <p:sp>
              <p:nvSpPr>
                <p:cNvPr id="138" name="Freeform 138"/>
                <p:cNvSpPr/>
                <p:nvPr/>
              </p:nvSpPr>
              <p:spPr>
                <a:xfrm>
                  <a:off x="5926931" y="3250406"/>
                  <a:ext cx="128588" cy="42862"/>
                </a:xfrm>
                <a:custGeom>
                  <a:avLst/>
                  <a:gdLst/>
                  <a:ahLst/>
                  <a:cxnLst/>
                  <a:rect l="l" t="t" r="r" b="b"/>
                  <a:pathLst>
                    <a:path w="128588" h="42862">
                      <a:moveTo>
                        <a:pt x="0" y="0"/>
                      </a:moveTo>
                      <a:lnTo>
                        <a:pt x="64294" y="42862"/>
                      </a:lnTo>
                      <a:lnTo>
                        <a:pt x="128588" y="0"/>
                      </a:lnTo>
                    </a:path>
                  </a:pathLst>
                </a:custGeom>
                <a:noFill/>
                <a:ln w="12859">
                  <a:solidFill>
                    <a:srgbClr val="8A1700"/>
                  </a:solidFill>
                </a:ln>
              </p:spPr>
            </p:sp>
          </p:grpSp>
          <p:sp>
            <p:nvSpPr>
              <p:cNvPr id="140" name="TextBox 140"/>
              <p:cNvSpPr txBox="1"/>
              <p:nvPr/>
            </p:nvSpPr>
            <p:spPr>
              <a:xfrm>
                <a:off x="6129338" y="3247311"/>
                <a:ext cx="583006" cy="140494"/>
              </a:xfrm>
              <a:prstGeom prst="rect">
                <a:avLst/>
              </a:prstGeom>
              <a:noFill/>
              <a:ln>
                <a:noFill/>
              </a:ln>
            </p:spPr>
            <p:txBody>
              <a:bodyPr wrap="none" lIns="0" tIns="0" rIns="0" bIns="0" anchor="t" anchorCtr="0">
                <a:spAutoFit/>
              </a:bodyPr>
              <a:lstStyle/>
              <a:p>
                <a:pPr algn="l"/>
                <a:r>
                  <a:rPr lang="zh-CN" sz="710" b="1" dirty="0">
                    <a:solidFill>
                      <a:srgbClr val="520E00"/>
                    </a:solidFill>
                    <a:latin typeface="+mn-lt"/>
                    <a:ea typeface="+mn-ea"/>
                    <a:cs typeface="+mn-cs"/>
                  </a:rPr>
                  <a:t>短信：强提醒</a:t>
                </a:r>
              </a:p>
            </p:txBody>
          </p:sp>
          <p:sp>
            <p:nvSpPr>
              <p:cNvPr id="141" name="TextBox 141"/>
              <p:cNvSpPr txBox="1"/>
              <p:nvPr/>
            </p:nvSpPr>
            <p:spPr>
              <a:xfrm>
                <a:off x="7189152" y="3175159"/>
                <a:ext cx="614045" cy="266700"/>
              </a:xfrm>
              <a:prstGeom prst="rect">
                <a:avLst/>
              </a:prstGeom>
              <a:noFill/>
              <a:ln>
                <a:noFill/>
              </a:ln>
            </p:spPr>
            <p:txBody>
              <a:bodyPr wrap="none" lIns="0" tIns="0" rIns="0" bIns="0" anchor="t" anchorCtr="0">
                <a:spAutoFit/>
              </a:bodyPr>
              <a:lstStyle/>
              <a:p>
                <a:pPr algn="ctr">
                  <a:lnSpc>
                    <a:spcPts val="1050"/>
                  </a:lnSpc>
                </a:pPr>
                <a:r>
                  <a:rPr lang="zh-CN" sz="680" dirty="0">
                    <a:solidFill>
                      <a:srgbClr val="60403A"/>
                    </a:solidFill>
                    <a:latin typeface="+mn-lt"/>
                    <a:ea typeface="+mn-ea"/>
                    <a:cs typeface="+mn-cs"/>
                  </a:rPr>
                  <a:t>交易提醒、重要</a:t>
                </a:r>
                <a:br/>
                <a:r>
                  <a:rPr lang="zh-CN" sz="680" dirty="0">
                    <a:solidFill>
                      <a:srgbClr val="60403A"/>
                    </a:solidFill>
                    <a:latin typeface="+mn-lt"/>
                    <a:ea typeface="+mn-ea"/>
                    <a:cs typeface="+mn-cs"/>
                  </a:rPr>
                  <a:t>通知</a:t>
                </a:r>
              </a:p>
            </p:txBody>
          </p:sp>
          <p:sp>
            <p:nvSpPr>
              <p:cNvPr id="142" name="Freeform 142"/>
              <p:cNvSpPr/>
              <p:nvPr/>
            </p:nvSpPr>
            <p:spPr>
              <a:xfrm>
                <a:off x="8343106" y="325834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grpSp>
        <p:grpSp>
          <p:nvGrpSpPr>
            <p:cNvPr id="153" name="mx-row-6"/>
            <p:cNvGrpSpPr/>
            <p:nvPr/>
          </p:nvGrpSpPr>
          <p:grpSpPr>
            <a:xfrm>
              <a:off x="5934075" y="3622834"/>
              <a:ext cx="5083175" cy="266700"/>
              <a:chOff x="5934075" y="3622834"/>
              <a:chExt cx="5083175" cy="266700"/>
            </a:xfrm>
          </p:grpSpPr>
          <p:grpSp>
            <p:nvGrpSpPr>
              <p:cNvPr id="148" name="Group 148"/>
              <p:cNvGrpSpPr/>
              <p:nvPr/>
            </p:nvGrpSpPr>
            <p:grpSpPr>
              <a:xfrm>
                <a:off x="5934075" y="3669506"/>
                <a:ext cx="114300" cy="135731"/>
                <a:chOff x="5934075" y="3669506"/>
                <a:chExt cx="114300" cy="135731"/>
              </a:xfrm>
            </p:grpSpPr>
            <p:sp>
              <p:nvSpPr>
                <p:cNvPr id="144" name="Freeform 144"/>
                <p:cNvSpPr/>
                <p:nvPr/>
              </p:nvSpPr>
              <p:spPr>
                <a:xfrm>
                  <a:off x="5934075" y="3669506"/>
                  <a:ext cx="114300" cy="78581"/>
                </a:xfrm>
                <a:custGeom>
                  <a:avLst/>
                  <a:gdLst/>
                  <a:ahLst/>
                  <a:cxnLst/>
                  <a:rect l="l" t="t" r="r" b="b"/>
                  <a:pathLst>
                    <a:path w="114300" h="78581">
                      <a:moveTo>
                        <a:pt x="0" y="78581"/>
                      </a:moveTo>
                      <a:lnTo>
                        <a:pt x="0" y="57150"/>
                      </a:lnTo>
                      <a:cubicBezTo>
                        <a:pt x="0" y="25587"/>
                        <a:pt x="25587" y="0"/>
                        <a:pt x="57150" y="0"/>
                      </a:cubicBezTo>
                      <a:cubicBezTo>
                        <a:pt x="88713" y="0"/>
                        <a:pt x="114300" y="25587"/>
                        <a:pt x="114300" y="57150"/>
                      </a:cubicBezTo>
                      <a:lnTo>
                        <a:pt x="114300" y="78581"/>
                      </a:lnTo>
                    </a:path>
                  </a:pathLst>
                </a:custGeom>
                <a:noFill/>
                <a:ln w="12859">
                  <a:solidFill>
                    <a:srgbClr val="8A1700"/>
                  </a:solidFill>
                </a:ln>
              </p:spPr>
            </p:sp>
            <p:sp>
              <p:nvSpPr>
                <p:cNvPr id="145" name="Freeform 145"/>
                <p:cNvSpPr/>
                <p:nvPr/>
              </p:nvSpPr>
              <p:spPr>
                <a:xfrm>
                  <a:off x="5991225" y="3783806"/>
                  <a:ext cx="42862" cy="21431"/>
                </a:xfrm>
                <a:custGeom>
                  <a:avLst/>
                  <a:gdLst/>
                  <a:ahLst/>
                  <a:cxnLst/>
                  <a:rect l="l" t="t" r="r" b="b"/>
                  <a:pathLst>
                    <a:path w="42862" h="21431">
                      <a:moveTo>
                        <a:pt x="42862" y="0"/>
                      </a:moveTo>
                      <a:cubicBezTo>
                        <a:pt x="42862" y="11837"/>
                        <a:pt x="23674" y="21431"/>
                        <a:pt x="0" y="21431"/>
                      </a:cubicBezTo>
                    </a:path>
                  </a:pathLst>
                </a:custGeom>
                <a:noFill/>
                <a:ln w="12859">
                  <a:solidFill>
                    <a:srgbClr val="8A1700"/>
                  </a:solidFill>
                </a:ln>
              </p:spPr>
            </p:sp>
            <p:sp>
              <p:nvSpPr>
                <p:cNvPr id="146" name="Freeform 146"/>
                <p:cNvSpPr/>
                <p:nvPr/>
              </p:nvSpPr>
              <p:spPr>
                <a:xfrm>
                  <a:off x="5934075" y="3733800"/>
                  <a:ext cx="35719" cy="50006"/>
                </a:xfrm>
                <a:custGeom>
                  <a:avLst/>
                  <a:gdLst/>
                  <a:ahLst/>
                  <a:cxnLst/>
                  <a:rect l="l" t="t" r="r" b="b"/>
                  <a:pathLst>
                    <a:path w="35719" h="50006">
                      <a:moveTo>
                        <a:pt x="0" y="14288"/>
                      </a:moveTo>
                      <a:cubicBezTo>
                        <a:pt x="0" y="6397"/>
                        <a:pt x="6397" y="0"/>
                        <a:pt x="14288" y="0"/>
                      </a:cubicBezTo>
                      <a:lnTo>
                        <a:pt x="21431" y="0"/>
                      </a:lnTo>
                      <a:cubicBezTo>
                        <a:pt x="29322" y="0"/>
                        <a:pt x="35719" y="6397"/>
                        <a:pt x="35719" y="14288"/>
                      </a:cubicBezTo>
                      <a:lnTo>
                        <a:pt x="35719" y="35719"/>
                      </a:lnTo>
                      <a:cubicBezTo>
                        <a:pt x="35719" y="43610"/>
                        <a:pt x="29322" y="50006"/>
                        <a:pt x="21431" y="50006"/>
                      </a:cubicBezTo>
                      <a:lnTo>
                        <a:pt x="14288" y="50006"/>
                      </a:lnTo>
                      <a:cubicBezTo>
                        <a:pt x="6397" y="50006"/>
                        <a:pt x="0" y="43610"/>
                        <a:pt x="0" y="35719"/>
                      </a:cubicBezTo>
                      <a:lnTo>
                        <a:pt x="0" y="14288"/>
                      </a:lnTo>
                    </a:path>
                  </a:pathLst>
                </a:custGeom>
                <a:noFill/>
                <a:ln w="12859">
                  <a:solidFill>
                    <a:srgbClr val="8A1700"/>
                  </a:solidFill>
                </a:ln>
              </p:spPr>
            </p:sp>
            <p:sp>
              <p:nvSpPr>
                <p:cNvPr id="147" name="Freeform 147"/>
                <p:cNvSpPr/>
                <p:nvPr/>
              </p:nvSpPr>
              <p:spPr>
                <a:xfrm>
                  <a:off x="6012656" y="3733800"/>
                  <a:ext cx="35719" cy="50006"/>
                </a:xfrm>
                <a:custGeom>
                  <a:avLst/>
                  <a:gdLst/>
                  <a:ahLst/>
                  <a:cxnLst/>
                  <a:rect l="l" t="t" r="r" b="b"/>
                  <a:pathLst>
                    <a:path w="35719" h="50006">
                      <a:moveTo>
                        <a:pt x="0" y="14288"/>
                      </a:moveTo>
                      <a:cubicBezTo>
                        <a:pt x="0" y="6397"/>
                        <a:pt x="6397" y="0"/>
                        <a:pt x="14288" y="0"/>
                      </a:cubicBezTo>
                      <a:lnTo>
                        <a:pt x="21431" y="0"/>
                      </a:lnTo>
                      <a:cubicBezTo>
                        <a:pt x="29322" y="0"/>
                        <a:pt x="35719" y="6397"/>
                        <a:pt x="35719" y="14288"/>
                      </a:cubicBezTo>
                      <a:lnTo>
                        <a:pt x="35719" y="35719"/>
                      </a:lnTo>
                      <a:cubicBezTo>
                        <a:pt x="35719" y="43610"/>
                        <a:pt x="29322" y="50006"/>
                        <a:pt x="21431" y="50006"/>
                      </a:cubicBezTo>
                      <a:lnTo>
                        <a:pt x="14288" y="50006"/>
                      </a:lnTo>
                      <a:cubicBezTo>
                        <a:pt x="6397" y="50006"/>
                        <a:pt x="0" y="43610"/>
                        <a:pt x="0" y="35719"/>
                      </a:cubicBezTo>
                      <a:lnTo>
                        <a:pt x="0" y="14288"/>
                      </a:lnTo>
                    </a:path>
                  </a:pathLst>
                </a:custGeom>
                <a:noFill/>
                <a:ln w="12859">
                  <a:solidFill>
                    <a:srgbClr val="8A1700"/>
                  </a:solidFill>
                </a:ln>
              </p:spPr>
            </p:sp>
          </p:grpSp>
          <p:sp>
            <p:nvSpPr>
              <p:cNvPr id="149" name="TextBox 149"/>
              <p:cNvSpPr txBox="1"/>
              <p:nvPr/>
            </p:nvSpPr>
            <p:spPr>
              <a:xfrm>
                <a:off x="6129338" y="3694986"/>
                <a:ext cx="678586" cy="140494"/>
              </a:xfrm>
              <a:prstGeom prst="rect">
                <a:avLst/>
              </a:prstGeom>
              <a:noFill/>
              <a:ln>
                <a:noFill/>
              </a:ln>
            </p:spPr>
            <p:txBody>
              <a:bodyPr wrap="none" lIns="0" tIns="0" rIns="0" bIns="0" anchor="t" anchorCtr="0">
                <a:spAutoFit/>
              </a:bodyPr>
              <a:lstStyle/>
              <a:p>
                <a:pPr algn="l"/>
                <a:r>
                  <a:rPr lang="zh-CN" sz="710" b="1" dirty="0">
                    <a:solidFill>
                      <a:srgbClr val="520E00"/>
                    </a:solidFill>
                    <a:latin typeface="+mn-lt"/>
                    <a:ea typeface="+mn-ea"/>
                    <a:cs typeface="+mn-cs"/>
                  </a:rPr>
                  <a:t>客服：问题解决</a:t>
                </a:r>
              </a:p>
            </p:txBody>
          </p:sp>
          <p:sp>
            <p:nvSpPr>
              <p:cNvPr id="150" name="TextBox 150"/>
              <p:cNvSpPr txBox="1"/>
              <p:nvPr/>
            </p:nvSpPr>
            <p:spPr>
              <a:xfrm>
                <a:off x="7189152" y="3622834"/>
                <a:ext cx="614045" cy="266700"/>
              </a:xfrm>
              <a:prstGeom prst="rect">
                <a:avLst/>
              </a:prstGeom>
              <a:noFill/>
              <a:ln>
                <a:noFill/>
              </a:ln>
            </p:spPr>
            <p:txBody>
              <a:bodyPr wrap="none" lIns="0" tIns="0" rIns="0" bIns="0" anchor="t" anchorCtr="0">
                <a:spAutoFit/>
              </a:bodyPr>
              <a:lstStyle/>
              <a:p>
                <a:pPr algn="ctr">
                  <a:lnSpc>
                    <a:spcPts val="1050"/>
                  </a:lnSpc>
                </a:pPr>
                <a:r>
                  <a:rPr lang="zh-CN" sz="680" dirty="0">
                    <a:solidFill>
                      <a:srgbClr val="60403A"/>
                    </a:solidFill>
                    <a:latin typeface="+mn-lt"/>
                    <a:ea typeface="+mn-ea"/>
                    <a:cs typeface="+mn-cs"/>
                  </a:rPr>
                  <a:t>咨询受理、问题</a:t>
                </a:r>
                <a:br/>
                <a:r>
                  <a:rPr lang="zh-CN" sz="680" dirty="0">
                    <a:solidFill>
                      <a:srgbClr val="60403A"/>
                    </a:solidFill>
                    <a:latin typeface="+mn-lt"/>
                    <a:ea typeface="+mn-ea"/>
                    <a:cs typeface="+mn-cs"/>
                  </a:rPr>
                  <a:t>解答与处理</a:t>
                </a:r>
              </a:p>
            </p:txBody>
          </p:sp>
          <p:sp>
            <p:nvSpPr>
              <p:cNvPr id="151" name="Freeform 151"/>
              <p:cNvSpPr/>
              <p:nvPr/>
            </p:nvSpPr>
            <p:spPr>
              <a:xfrm>
                <a:off x="9638506" y="370601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52" name="Freeform 152"/>
              <p:cNvSpPr/>
              <p:nvPr/>
            </p:nvSpPr>
            <p:spPr>
              <a:xfrm>
                <a:off x="10933906" y="3706019"/>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grpSp>
        <p:grpSp>
          <p:nvGrpSpPr>
            <p:cNvPr id="162" name="mx-row-7"/>
            <p:cNvGrpSpPr/>
            <p:nvPr/>
          </p:nvGrpSpPr>
          <p:grpSpPr>
            <a:xfrm>
              <a:off x="5928495" y="4066461"/>
              <a:ext cx="5088755" cy="273844"/>
              <a:chOff x="5928495" y="4066461"/>
              <a:chExt cx="5088755" cy="273844"/>
            </a:xfrm>
          </p:grpSpPr>
          <p:grpSp>
            <p:nvGrpSpPr>
              <p:cNvPr id="156" name="Group 156"/>
              <p:cNvGrpSpPr/>
              <p:nvPr/>
            </p:nvGrpSpPr>
            <p:grpSpPr>
              <a:xfrm>
                <a:off x="5928495" y="4111604"/>
                <a:ext cx="125460" cy="139023"/>
                <a:chOff x="5928495" y="4111604"/>
                <a:chExt cx="125460" cy="139023"/>
              </a:xfrm>
            </p:grpSpPr>
            <p:sp>
              <p:nvSpPr>
                <p:cNvPr id="154" name="Freeform 154"/>
                <p:cNvSpPr/>
                <p:nvPr/>
              </p:nvSpPr>
              <p:spPr>
                <a:xfrm>
                  <a:off x="5969794" y="4152900"/>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2859">
                  <a:solidFill>
                    <a:srgbClr val="8A1700"/>
                  </a:solidFill>
                </a:ln>
              </p:spPr>
            </p:sp>
            <p:sp>
              <p:nvSpPr>
                <p:cNvPr id="155" name="Freeform 155"/>
                <p:cNvSpPr/>
                <p:nvPr/>
              </p:nvSpPr>
              <p:spPr>
                <a:xfrm>
                  <a:off x="5928495" y="4111604"/>
                  <a:ext cx="125460" cy="139023"/>
                </a:xfrm>
                <a:custGeom>
                  <a:avLst/>
                  <a:gdLst/>
                  <a:ahLst/>
                  <a:cxnLst/>
                  <a:rect l="l" t="t" r="r" b="b"/>
                  <a:pathLst>
                    <a:path w="125460" h="139023">
                      <a:moveTo>
                        <a:pt x="103142" y="103140"/>
                      </a:moveTo>
                      <a:lnTo>
                        <a:pt x="72831" y="133451"/>
                      </a:lnTo>
                      <a:cubicBezTo>
                        <a:pt x="67253" y="139023"/>
                        <a:pt x="58214" y="139023"/>
                        <a:pt x="52636" y="133451"/>
                      </a:cubicBezTo>
                      <a:lnTo>
                        <a:pt x="22318" y="103140"/>
                      </a:lnTo>
                      <a:cubicBezTo>
                        <a:pt x="0" y="80821"/>
                        <a:pt x="1" y="44636"/>
                        <a:pt x="22319" y="22318"/>
                      </a:cubicBezTo>
                      <a:cubicBezTo>
                        <a:pt x="44637" y="0"/>
                        <a:pt x="80822" y="0"/>
                        <a:pt x="103141" y="22318"/>
                      </a:cubicBezTo>
                      <a:cubicBezTo>
                        <a:pt x="125459" y="44636"/>
                        <a:pt x="125460" y="80821"/>
                        <a:pt x="103142" y="103140"/>
                      </a:cubicBezTo>
                    </a:path>
                  </a:pathLst>
                </a:custGeom>
                <a:noFill/>
                <a:ln w="12859">
                  <a:solidFill>
                    <a:srgbClr val="8A1700"/>
                  </a:solidFill>
                </a:ln>
              </p:spPr>
            </p:sp>
          </p:grpSp>
          <p:sp>
            <p:nvSpPr>
              <p:cNvPr id="157" name="TextBox 157"/>
              <p:cNvSpPr txBox="1"/>
              <p:nvPr/>
            </p:nvSpPr>
            <p:spPr>
              <a:xfrm>
                <a:off x="6129338" y="4066461"/>
                <a:ext cx="640715" cy="273844"/>
              </a:xfrm>
              <a:prstGeom prst="rect">
                <a:avLst/>
              </a:prstGeom>
              <a:noFill/>
              <a:ln>
                <a:noFill/>
              </a:ln>
            </p:spPr>
            <p:txBody>
              <a:bodyPr wrap="none" lIns="0" tIns="0" rIns="0" bIns="0" anchor="t" anchorCtr="0">
                <a:spAutoFit/>
              </a:bodyPr>
              <a:lstStyle/>
              <a:p>
                <a:pPr algn="l">
                  <a:lnSpc>
                    <a:spcPts val="1050"/>
                  </a:lnSpc>
                </a:pPr>
                <a:r>
                  <a:rPr lang="zh-CN" sz="710" b="1" dirty="0">
                    <a:solidFill>
                      <a:srgbClr val="520E00"/>
                    </a:solidFill>
                    <a:latin typeface="+mn-lt"/>
                    <a:ea typeface="+mn-ea"/>
                    <a:cs typeface="+mn-cs"/>
                  </a:rPr>
                  <a:t>网点：复杂业务</a:t>
                </a:r>
                <a:br/>
                <a:r>
                  <a:rPr lang="zh-CN" sz="710" b="1" dirty="0">
                    <a:solidFill>
                      <a:srgbClr val="520E00"/>
                    </a:solidFill>
                    <a:latin typeface="+mn-lt"/>
                    <a:ea typeface="+mn-ea"/>
                    <a:cs typeface="+mn-cs"/>
                  </a:rPr>
                  <a:t>协同</a:t>
                </a:r>
              </a:p>
            </p:txBody>
          </p:sp>
          <p:sp>
            <p:nvSpPr>
              <p:cNvPr id="158" name="TextBox 158"/>
              <p:cNvSpPr txBox="1"/>
              <p:nvPr/>
            </p:nvSpPr>
            <p:spPr>
              <a:xfrm>
                <a:off x="7189152" y="4070509"/>
                <a:ext cx="614045" cy="266700"/>
              </a:xfrm>
              <a:prstGeom prst="rect">
                <a:avLst/>
              </a:prstGeom>
              <a:noFill/>
              <a:ln>
                <a:noFill/>
              </a:ln>
            </p:spPr>
            <p:txBody>
              <a:bodyPr wrap="none" lIns="0" tIns="0" rIns="0" bIns="0" anchor="t" anchorCtr="0">
                <a:spAutoFit/>
              </a:bodyPr>
              <a:lstStyle/>
              <a:p>
                <a:pPr algn="ctr">
                  <a:lnSpc>
                    <a:spcPts val="1050"/>
                  </a:lnSpc>
                </a:pPr>
                <a:r>
                  <a:rPr lang="zh-CN" sz="680" dirty="0">
                    <a:solidFill>
                      <a:srgbClr val="60403A"/>
                    </a:solidFill>
                    <a:latin typeface="+mn-lt"/>
                    <a:ea typeface="+mn-ea"/>
                    <a:cs typeface="+mn-cs"/>
                  </a:rPr>
                  <a:t>复杂业务办理、</a:t>
                </a:r>
                <a:br/>
                <a:r>
                  <a:rPr lang="zh-CN" sz="680" dirty="0">
                    <a:solidFill>
                      <a:srgbClr val="60403A"/>
                    </a:solidFill>
                    <a:latin typeface="+mn-lt"/>
                    <a:ea typeface="+mn-ea"/>
                    <a:cs typeface="+mn-cs"/>
                  </a:rPr>
                  <a:t>面签与协同</a:t>
                </a:r>
              </a:p>
            </p:txBody>
          </p:sp>
          <p:sp>
            <p:nvSpPr>
              <p:cNvPr id="159" name="Freeform 159"/>
              <p:cNvSpPr/>
              <p:nvPr/>
            </p:nvSpPr>
            <p:spPr>
              <a:xfrm>
                <a:off x="9638506" y="415369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60" name="Freeform 160"/>
              <p:cNvSpPr/>
              <p:nvPr/>
            </p:nvSpPr>
            <p:spPr>
              <a:xfrm>
                <a:off x="10286206" y="415369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sp>
            <p:nvSpPr>
              <p:cNvPr id="161" name="Freeform 161"/>
              <p:cNvSpPr/>
              <p:nvPr/>
            </p:nvSpPr>
            <p:spPr>
              <a:xfrm>
                <a:off x="10933906" y="4153694"/>
                <a:ext cx="83344" cy="55562"/>
              </a:xfrm>
              <a:custGeom>
                <a:avLst/>
                <a:gdLst/>
                <a:ahLst/>
                <a:cxnLst/>
                <a:rect l="l" t="t" r="r" b="b"/>
                <a:pathLst>
                  <a:path w="83344" h="55562">
                    <a:moveTo>
                      <a:pt x="0" y="27781"/>
                    </a:moveTo>
                    <a:lnTo>
                      <a:pt x="27781" y="55562"/>
                    </a:lnTo>
                    <a:lnTo>
                      <a:pt x="83344" y="0"/>
                    </a:lnTo>
                  </a:path>
                </a:pathLst>
              </a:custGeom>
              <a:noFill/>
              <a:ln w="16669">
                <a:solidFill>
                  <a:srgbClr val="8A1700"/>
                </a:solidFill>
              </a:ln>
            </p:spPr>
          </p:sp>
        </p:grpSp>
      </p:grpSp>
      <p:grpSp>
        <p:nvGrpSpPr>
          <p:cNvPr id="201" name="principles"/>
          <p:cNvGrpSpPr/>
          <p:nvPr/>
        </p:nvGrpSpPr>
        <p:grpSpPr>
          <a:xfrm>
            <a:off x="228600" y="4495800"/>
            <a:ext cx="11734800" cy="2057400"/>
            <a:chOff x="228600" y="4495800"/>
            <a:chExt cx="11734800" cy="2057400"/>
          </a:xfrm>
        </p:grpSpPr>
        <p:sp>
          <p:nvSpPr>
            <p:cNvPr id="164" name="Freeform 164"/>
            <p:cNvSpPr/>
            <p:nvPr/>
          </p:nvSpPr>
          <p:spPr>
            <a:xfrm>
              <a:off x="2952750" y="4495800"/>
              <a:ext cx="190500" cy="171450"/>
            </a:xfrm>
            <a:prstGeom prst="upArrow">
              <a:avLst/>
            </a:prstGeom>
            <a:solidFill>
              <a:srgbClr val="8A1700"/>
            </a:solidFill>
            <a:ln>
              <a:noFill/>
            </a:ln>
          </p:spPr>
        </p:sp>
        <p:sp>
          <p:nvSpPr>
            <p:cNvPr id="165" name="Freeform 165"/>
            <p:cNvSpPr/>
            <p:nvPr/>
          </p:nvSpPr>
          <p:spPr>
            <a:xfrm>
              <a:off x="8801100" y="4495800"/>
              <a:ext cx="190500" cy="171450"/>
            </a:xfrm>
            <a:prstGeom prst="upArrow">
              <a:avLst/>
            </a:prstGeom>
            <a:solidFill>
              <a:srgbClr val="8A1700"/>
            </a:solidFill>
            <a:ln>
              <a:noFill/>
            </a:ln>
          </p:spPr>
        </p:sp>
        <p:sp>
          <p:nvSpPr>
            <p:cNvPr id="166" name="Rectangle 166"/>
            <p:cNvSpPr/>
            <p:nvPr/>
          </p:nvSpPr>
          <p:spPr>
            <a:xfrm>
              <a:off x="228600" y="4686300"/>
              <a:ext cx="11734800" cy="1866900"/>
            </a:xfrm>
            <a:prstGeom prst="roundRect">
              <a:avLst>
                <a:gd name="adj" fmla="val 5102"/>
              </a:avLst>
            </a:prstGeom>
            <a:solidFill>
              <a:srgbClr val="EEF3FB"/>
            </a:solidFill>
            <a:ln w="9525">
              <a:solidFill>
                <a:srgbClr val="C9D5EA"/>
              </a:solidFill>
            </a:ln>
          </p:spPr>
        </p:sp>
        <p:sp>
          <p:nvSpPr>
            <p:cNvPr id="167" name="Rectangle 167"/>
            <p:cNvSpPr/>
            <p:nvPr/>
          </p:nvSpPr>
          <p:spPr>
            <a:xfrm>
              <a:off x="4000500" y="4800600"/>
              <a:ext cx="4191000" cy="323850"/>
            </a:xfrm>
            <a:prstGeom prst="roundRect">
              <a:avLst>
                <a:gd name="adj" fmla="val 50000"/>
              </a:avLst>
            </a:prstGeom>
            <a:solidFill>
              <a:srgbClr val="520E00"/>
            </a:solidFill>
            <a:ln>
              <a:noFill/>
            </a:ln>
          </p:spPr>
        </p:sp>
        <p:sp>
          <p:nvSpPr>
            <p:cNvPr id="168" name="TextBox 168"/>
            <p:cNvSpPr txBox="1"/>
            <p:nvPr/>
          </p:nvSpPr>
          <p:spPr>
            <a:xfrm>
              <a:off x="4797552" y="4890135"/>
              <a:ext cx="259689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统一客户身份、统一策略、统一频控</a:t>
              </a:r>
            </a:p>
          </p:txBody>
        </p:sp>
        <p:grpSp>
          <p:nvGrpSpPr>
            <p:cNvPr id="176" name="principle-1"/>
            <p:cNvGrpSpPr/>
            <p:nvPr/>
          </p:nvGrpSpPr>
          <p:grpSpPr>
            <a:xfrm>
              <a:off x="746125" y="5548551"/>
              <a:ext cx="1290536" cy="388619"/>
              <a:chOff x="746125" y="5548551"/>
              <a:chExt cx="1290536" cy="388619"/>
            </a:xfrm>
          </p:grpSpPr>
          <p:grpSp>
            <p:nvGrpSpPr>
              <p:cNvPr id="173" name="Group 173"/>
              <p:cNvGrpSpPr/>
              <p:nvPr/>
            </p:nvGrpSpPr>
            <p:grpSpPr>
              <a:xfrm>
                <a:off x="746125" y="5553075"/>
                <a:ext cx="222250" cy="285751"/>
                <a:chOff x="746125" y="5553075"/>
                <a:chExt cx="222250" cy="285751"/>
              </a:xfrm>
            </p:grpSpPr>
            <p:sp>
              <p:nvSpPr>
                <p:cNvPr id="169" name="Freeform 169"/>
                <p:cNvSpPr/>
                <p:nvPr/>
              </p:nvSpPr>
              <p:spPr>
                <a:xfrm>
                  <a:off x="746125" y="5553075"/>
                  <a:ext cx="222250" cy="285751"/>
                </a:xfrm>
                <a:custGeom>
                  <a:avLst/>
                  <a:gdLst/>
                  <a:ahLst/>
                  <a:cxnLst/>
                  <a:rect l="l" t="t" r="r" b="b"/>
                  <a:pathLst>
                    <a:path w="222250" h="285751">
                      <a:moveTo>
                        <a:pt x="0" y="47625"/>
                      </a:moveTo>
                      <a:cubicBezTo>
                        <a:pt x="0" y="21322"/>
                        <a:pt x="21322" y="0"/>
                        <a:pt x="47625" y="0"/>
                      </a:cubicBezTo>
                      <a:lnTo>
                        <a:pt x="174625" y="0"/>
                      </a:lnTo>
                      <a:cubicBezTo>
                        <a:pt x="200928" y="0"/>
                        <a:pt x="222250" y="21322"/>
                        <a:pt x="222250" y="47625"/>
                      </a:cubicBezTo>
                      <a:lnTo>
                        <a:pt x="222250" y="238125"/>
                      </a:lnTo>
                      <a:cubicBezTo>
                        <a:pt x="222250" y="264428"/>
                        <a:pt x="200928" y="285751"/>
                        <a:pt x="174625" y="285751"/>
                      </a:cubicBezTo>
                      <a:lnTo>
                        <a:pt x="47625" y="285751"/>
                      </a:lnTo>
                      <a:cubicBezTo>
                        <a:pt x="21322" y="285751"/>
                        <a:pt x="0" y="264428"/>
                        <a:pt x="0" y="238125"/>
                      </a:cubicBezTo>
                      <a:lnTo>
                        <a:pt x="0" y="47625"/>
                      </a:lnTo>
                    </a:path>
                  </a:pathLst>
                </a:custGeom>
                <a:noFill/>
                <a:ln w="23813">
                  <a:solidFill>
                    <a:srgbClr val="8A1700"/>
                  </a:solidFill>
                </a:ln>
              </p:spPr>
            </p:sp>
            <p:sp>
              <p:nvSpPr>
                <p:cNvPr id="170" name="Freeform 170"/>
                <p:cNvSpPr/>
                <p:nvPr/>
              </p:nvSpPr>
              <p:spPr>
                <a:xfrm>
                  <a:off x="825500" y="56800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8A1700"/>
                  </a:solidFill>
                </a:ln>
              </p:spPr>
            </p:sp>
            <p:sp>
              <p:nvSpPr>
                <p:cNvPr id="171" name="Freeform 171"/>
                <p:cNvSpPr/>
                <p:nvPr/>
              </p:nvSpPr>
              <p:spPr>
                <a:xfrm>
                  <a:off x="825500" y="5600700"/>
                  <a:ext cx="63500" cy="9525"/>
                </a:xfrm>
                <a:custGeom>
                  <a:avLst/>
                  <a:gdLst/>
                  <a:ahLst/>
                  <a:cxnLst/>
                  <a:rect l="l" t="t" r="r" b="b"/>
                  <a:pathLst>
                    <a:path w="63500" h="9525">
                      <a:moveTo>
                        <a:pt x="0" y="0"/>
                      </a:moveTo>
                      <a:lnTo>
                        <a:pt x="63500" y="0"/>
                      </a:lnTo>
                    </a:path>
                  </a:pathLst>
                </a:custGeom>
                <a:noFill/>
                <a:ln w="23813">
                  <a:solidFill>
                    <a:srgbClr val="8A1700"/>
                  </a:solidFill>
                </a:ln>
              </p:spPr>
            </p:sp>
            <p:sp>
              <p:nvSpPr>
                <p:cNvPr id="172" name="Freeform 172"/>
                <p:cNvSpPr/>
                <p:nvPr/>
              </p:nvSpPr>
              <p:spPr>
                <a:xfrm>
                  <a:off x="809625" y="5791201"/>
                  <a:ext cx="95250" cy="9525"/>
                </a:xfrm>
                <a:custGeom>
                  <a:avLst/>
                  <a:gdLst/>
                  <a:ahLst/>
                  <a:cxnLst/>
                  <a:rect l="l" t="t" r="r" b="b"/>
                  <a:pathLst>
                    <a:path w="95250" h="9525">
                      <a:moveTo>
                        <a:pt x="0" y="0"/>
                      </a:moveTo>
                      <a:lnTo>
                        <a:pt x="95250" y="0"/>
                      </a:lnTo>
                    </a:path>
                  </a:pathLst>
                </a:custGeom>
                <a:noFill/>
                <a:ln w="23813">
                  <a:solidFill>
                    <a:srgbClr val="8A1700"/>
                  </a:solidFill>
                </a:ln>
              </p:spPr>
            </p:sp>
          </p:grpSp>
          <p:sp>
            <p:nvSpPr>
              <p:cNvPr id="174" name="TextBox 174"/>
              <p:cNvSpPr txBox="1"/>
              <p:nvPr/>
            </p:nvSpPr>
            <p:spPr>
              <a:xfrm>
                <a:off x="1175956" y="5548551"/>
                <a:ext cx="826084"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统一客户身份</a:t>
                </a:r>
              </a:p>
            </p:txBody>
          </p:sp>
          <p:sp>
            <p:nvSpPr>
              <p:cNvPr id="175" name="TextBox 175"/>
              <p:cNvSpPr txBox="1"/>
              <p:nvPr/>
            </p:nvSpPr>
            <p:spPr>
              <a:xfrm>
                <a:off x="1176338" y="5782389"/>
                <a:ext cx="860323" cy="154781"/>
              </a:xfrm>
              <a:prstGeom prst="rect">
                <a:avLst/>
              </a:prstGeom>
              <a:noFill/>
              <a:ln>
                <a:noFill/>
              </a:ln>
            </p:spPr>
            <p:txBody>
              <a:bodyPr wrap="none" lIns="0" tIns="0" rIns="0" bIns="0" anchor="t" anchorCtr="0">
                <a:spAutoFit/>
              </a:bodyPr>
              <a:lstStyle/>
              <a:p>
                <a:pPr algn="l"/>
                <a:r>
                  <a:rPr lang="zh-CN" sz="790" dirty="0">
                    <a:solidFill>
                      <a:srgbClr val="60403A"/>
                    </a:solidFill>
                    <a:latin typeface="+mn-lt"/>
                    <a:ea typeface="+mn-ea"/>
                    <a:cs typeface="+mn-cs"/>
                  </a:rPr>
                  <a:t>全渠道识别与打通</a:t>
                </a:r>
              </a:p>
            </p:txBody>
          </p:sp>
        </p:grpSp>
        <p:sp>
          <p:nvSpPr>
            <p:cNvPr id="177" name="Line 177"/>
            <p:cNvSpPr/>
            <p:nvPr/>
          </p:nvSpPr>
          <p:spPr>
            <a:xfrm>
              <a:off x="2762250" y="5695950"/>
              <a:ext cx="533400" cy="1"/>
            </a:xfrm>
            <a:prstGeom prst="line">
              <a:avLst/>
            </a:prstGeom>
            <a:noFill/>
            <a:ln w="14288">
              <a:solidFill>
                <a:srgbClr val="E84E2F"/>
              </a:solidFill>
              <a:custDash>
                <a:ds d="266667" sp="200000"/>
              </a:custDash>
              <a:tailEnd type="triangle" w="lg" len="lg"/>
            </a:ln>
          </p:spPr>
        </p:sp>
        <p:grpSp>
          <p:nvGrpSpPr>
            <p:cNvPr id="184" name="principle-2"/>
            <p:cNvGrpSpPr/>
            <p:nvPr/>
          </p:nvGrpSpPr>
          <p:grpSpPr>
            <a:xfrm>
              <a:off x="3571875" y="5548551"/>
              <a:ext cx="1534986" cy="388619"/>
              <a:chOff x="3571875" y="5548551"/>
              <a:chExt cx="1534986" cy="388619"/>
            </a:xfrm>
          </p:grpSpPr>
          <p:grpSp>
            <p:nvGrpSpPr>
              <p:cNvPr id="181" name="Group 181"/>
              <p:cNvGrpSpPr/>
              <p:nvPr/>
            </p:nvGrpSpPr>
            <p:grpSpPr>
              <a:xfrm>
                <a:off x="3571875" y="5553075"/>
                <a:ext cx="285751" cy="285751"/>
                <a:chOff x="3571875" y="5553075"/>
                <a:chExt cx="285751" cy="285751"/>
              </a:xfrm>
            </p:grpSpPr>
            <p:sp>
              <p:nvSpPr>
                <p:cNvPr id="178" name="Freeform 178"/>
                <p:cNvSpPr/>
                <p:nvPr/>
              </p:nvSpPr>
              <p:spPr>
                <a:xfrm>
                  <a:off x="3698875" y="568007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23813">
                  <a:solidFill>
                    <a:srgbClr val="8A1700"/>
                  </a:solidFill>
                </a:ln>
              </p:spPr>
            </p:sp>
            <p:sp>
              <p:nvSpPr>
                <p:cNvPr id="179" name="Freeform 179"/>
                <p:cNvSpPr/>
                <p:nvPr/>
              </p:nvSpPr>
              <p:spPr>
                <a:xfrm>
                  <a:off x="3635375" y="5616575"/>
                  <a:ext cx="158750" cy="158750"/>
                </a:xfrm>
                <a:custGeom>
                  <a:avLst/>
                  <a:gdLst/>
                  <a:ahLst/>
                  <a:cxnLst/>
                  <a:rect l="l" t="t" r="r" b="b"/>
                  <a:pathLst>
                    <a:path w="158750" h="158750">
                      <a:moveTo>
                        <a:pt x="0" y="79375"/>
                      </a:moveTo>
                      <a:cubicBezTo>
                        <a:pt x="0" y="123213"/>
                        <a:pt x="35537" y="158750"/>
                        <a:pt x="79375" y="158750"/>
                      </a:cubicBezTo>
                      <a:cubicBezTo>
                        <a:pt x="123213" y="158750"/>
                        <a:pt x="158750" y="123213"/>
                        <a:pt x="158750" y="79375"/>
                      </a:cubicBezTo>
                      <a:cubicBezTo>
                        <a:pt x="158750" y="35537"/>
                        <a:pt x="123213" y="0"/>
                        <a:pt x="79375" y="0"/>
                      </a:cubicBezTo>
                      <a:cubicBezTo>
                        <a:pt x="35537" y="0"/>
                        <a:pt x="0" y="35537"/>
                        <a:pt x="0" y="79375"/>
                      </a:cubicBezTo>
                    </a:path>
                  </a:pathLst>
                </a:custGeom>
                <a:noFill/>
                <a:ln w="23813">
                  <a:solidFill>
                    <a:srgbClr val="8A1700"/>
                  </a:solidFill>
                </a:ln>
              </p:spPr>
            </p:sp>
            <p:sp>
              <p:nvSpPr>
                <p:cNvPr id="180" name="Freeform 180"/>
                <p:cNvSpPr/>
                <p:nvPr/>
              </p:nvSpPr>
              <p:spPr>
                <a:xfrm>
                  <a:off x="3571875" y="5553075"/>
                  <a:ext cx="285751" cy="285751"/>
                </a:xfrm>
                <a:custGeom>
                  <a:avLst/>
                  <a:gdLst/>
                  <a:ahLst/>
                  <a:cxnLst/>
                  <a:rect l="l" t="t" r="r" b="b"/>
                  <a:pathLst>
                    <a:path w="285751" h="285751">
                      <a:moveTo>
                        <a:pt x="0" y="142875"/>
                      </a:moveTo>
                      <a:cubicBezTo>
                        <a:pt x="0" y="221783"/>
                        <a:pt x="63967" y="285751"/>
                        <a:pt x="142875" y="285751"/>
                      </a:cubicBezTo>
                      <a:cubicBezTo>
                        <a:pt x="221783" y="285751"/>
                        <a:pt x="285751" y="221783"/>
                        <a:pt x="285751" y="142875"/>
                      </a:cubicBezTo>
                      <a:cubicBezTo>
                        <a:pt x="285751" y="63967"/>
                        <a:pt x="221783" y="0"/>
                        <a:pt x="142875" y="0"/>
                      </a:cubicBezTo>
                      <a:cubicBezTo>
                        <a:pt x="63967" y="0"/>
                        <a:pt x="0" y="63967"/>
                        <a:pt x="0" y="142875"/>
                      </a:cubicBezTo>
                    </a:path>
                  </a:pathLst>
                </a:custGeom>
                <a:noFill/>
                <a:ln w="23813">
                  <a:solidFill>
                    <a:srgbClr val="8A1700"/>
                  </a:solidFill>
                </a:ln>
              </p:spPr>
            </p:sp>
          </p:grpSp>
          <p:sp>
            <p:nvSpPr>
              <p:cNvPr id="182" name="TextBox 182"/>
              <p:cNvSpPr txBox="1"/>
              <p:nvPr/>
            </p:nvSpPr>
            <p:spPr>
              <a:xfrm>
                <a:off x="4033456" y="5548551"/>
                <a:ext cx="554152"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统一策略</a:t>
                </a:r>
              </a:p>
            </p:txBody>
          </p:sp>
          <p:sp>
            <p:nvSpPr>
              <p:cNvPr id="183" name="TextBox 183"/>
              <p:cNvSpPr txBox="1"/>
              <p:nvPr/>
            </p:nvSpPr>
            <p:spPr>
              <a:xfrm>
                <a:off x="4033838" y="5782389"/>
                <a:ext cx="1073023" cy="154781"/>
              </a:xfrm>
              <a:prstGeom prst="rect">
                <a:avLst/>
              </a:prstGeom>
              <a:noFill/>
              <a:ln>
                <a:noFill/>
              </a:ln>
            </p:spPr>
            <p:txBody>
              <a:bodyPr wrap="none" lIns="0" tIns="0" rIns="0" bIns="0" anchor="t" anchorCtr="0">
                <a:spAutoFit/>
              </a:bodyPr>
              <a:lstStyle/>
              <a:p>
                <a:pPr algn="l"/>
                <a:r>
                  <a:rPr lang="zh-CN" sz="790" dirty="0">
                    <a:solidFill>
                      <a:srgbClr val="60403A"/>
                    </a:solidFill>
                    <a:latin typeface="+mn-lt"/>
                    <a:ea typeface="+mn-ea"/>
                    <a:cs typeface="+mn-cs"/>
                  </a:rPr>
                  <a:t>精准分群与个性化策略</a:t>
                </a:r>
              </a:p>
            </p:txBody>
          </p:sp>
        </p:grpSp>
        <p:sp>
          <p:nvSpPr>
            <p:cNvPr id="185" name="Line 185"/>
            <p:cNvSpPr/>
            <p:nvPr/>
          </p:nvSpPr>
          <p:spPr>
            <a:xfrm>
              <a:off x="5619750" y="5695950"/>
              <a:ext cx="533400" cy="1"/>
            </a:xfrm>
            <a:prstGeom prst="line">
              <a:avLst/>
            </a:prstGeom>
            <a:noFill/>
            <a:ln w="14288">
              <a:solidFill>
                <a:srgbClr val="E84E2F"/>
              </a:solidFill>
              <a:custDash>
                <a:ds d="266667" sp="200000"/>
              </a:custDash>
              <a:tailEnd type="triangle" w="lg" len="lg"/>
            </a:ln>
          </p:spPr>
        </p:sp>
        <p:grpSp>
          <p:nvGrpSpPr>
            <p:cNvPr id="193" name="principle-3"/>
            <p:cNvGrpSpPr/>
            <p:nvPr/>
          </p:nvGrpSpPr>
          <p:grpSpPr>
            <a:xfrm>
              <a:off x="6429375" y="5548551"/>
              <a:ext cx="1641336" cy="388619"/>
              <a:chOff x="6429375" y="5548551"/>
              <a:chExt cx="1641336" cy="388619"/>
            </a:xfrm>
          </p:grpSpPr>
          <p:grpSp>
            <p:nvGrpSpPr>
              <p:cNvPr id="190" name="Group 190"/>
              <p:cNvGrpSpPr/>
              <p:nvPr/>
            </p:nvGrpSpPr>
            <p:grpSpPr>
              <a:xfrm>
                <a:off x="6429375" y="5568950"/>
                <a:ext cx="285750" cy="263526"/>
                <a:chOff x="6429375" y="5568950"/>
                <a:chExt cx="285750" cy="263526"/>
              </a:xfrm>
            </p:grpSpPr>
            <p:sp>
              <p:nvSpPr>
                <p:cNvPr id="186" name="Freeform 186"/>
                <p:cNvSpPr/>
                <p:nvPr/>
              </p:nvSpPr>
              <p:spPr>
                <a:xfrm>
                  <a:off x="6429375" y="5695950"/>
                  <a:ext cx="95250" cy="127000"/>
                </a:xfrm>
                <a:custGeom>
                  <a:avLst/>
                  <a:gdLst/>
                  <a:ahLst/>
                  <a:cxnLst/>
                  <a:rect l="l" t="t" r="r" b="b"/>
                  <a:pathLst>
                    <a:path w="95250" h="127000">
                      <a:moveTo>
                        <a:pt x="0" y="15875"/>
                      </a:moveTo>
                      <a:cubicBezTo>
                        <a:pt x="0" y="7107"/>
                        <a:pt x="7107" y="0"/>
                        <a:pt x="15875" y="0"/>
                      </a:cubicBezTo>
                      <a:lnTo>
                        <a:pt x="79375" y="0"/>
                      </a:lnTo>
                      <a:cubicBezTo>
                        <a:pt x="88143" y="0"/>
                        <a:pt x="95250" y="7107"/>
                        <a:pt x="95250" y="15875"/>
                      </a:cubicBezTo>
                      <a:lnTo>
                        <a:pt x="95250" y="111125"/>
                      </a:lnTo>
                      <a:cubicBezTo>
                        <a:pt x="95250" y="119893"/>
                        <a:pt x="88143" y="127000"/>
                        <a:pt x="79375" y="127000"/>
                      </a:cubicBezTo>
                      <a:lnTo>
                        <a:pt x="15875" y="127000"/>
                      </a:lnTo>
                      <a:cubicBezTo>
                        <a:pt x="7107" y="127000"/>
                        <a:pt x="0" y="119893"/>
                        <a:pt x="0" y="111125"/>
                      </a:cubicBezTo>
                      <a:lnTo>
                        <a:pt x="0" y="15875"/>
                      </a:lnTo>
                    </a:path>
                  </a:pathLst>
                </a:custGeom>
                <a:noFill/>
                <a:ln w="23813">
                  <a:solidFill>
                    <a:srgbClr val="8A1700"/>
                  </a:solidFill>
                </a:ln>
              </p:spPr>
            </p:sp>
            <p:sp>
              <p:nvSpPr>
                <p:cNvPr id="187" name="Freeform 187"/>
                <p:cNvSpPr/>
                <p:nvPr/>
              </p:nvSpPr>
              <p:spPr>
                <a:xfrm>
                  <a:off x="6619875" y="5632450"/>
                  <a:ext cx="95250" cy="190500"/>
                </a:xfrm>
                <a:custGeom>
                  <a:avLst/>
                  <a:gdLst/>
                  <a:ahLst/>
                  <a:cxnLst/>
                  <a:rect l="l" t="t" r="r" b="b"/>
                  <a:pathLst>
                    <a:path w="95250" h="190500">
                      <a:moveTo>
                        <a:pt x="0" y="15875"/>
                      </a:moveTo>
                      <a:cubicBezTo>
                        <a:pt x="0" y="7107"/>
                        <a:pt x="7107" y="0"/>
                        <a:pt x="15875" y="0"/>
                      </a:cubicBezTo>
                      <a:lnTo>
                        <a:pt x="79375" y="0"/>
                      </a:lnTo>
                      <a:cubicBezTo>
                        <a:pt x="88143" y="0"/>
                        <a:pt x="95250" y="7107"/>
                        <a:pt x="95250" y="15875"/>
                      </a:cubicBezTo>
                      <a:lnTo>
                        <a:pt x="95250" y="174625"/>
                      </a:lnTo>
                      <a:cubicBezTo>
                        <a:pt x="95250" y="183393"/>
                        <a:pt x="88143" y="190500"/>
                        <a:pt x="79375" y="190500"/>
                      </a:cubicBezTo>
                      <a:lnTo>
                        <a:pt x="15875" y="190500"/>
                      </a:lnTo>
                      <a:cubicBezTo>
                        <a:pt x="7107" y="190500"/>
                        <a:pt x="0" y="183393"/>
                        <a:pt x="0" y="174625"/>
                      </a:cubicBezTo>
                      <a:lnTo>
                        <a:pt x="0" y="15875"/>
                      </a:lnTo>
                    </a:path>
                  </a:pathLst>
                </a:custGeom>
                <a:noFill/>
                <a:ln w="23813">
                  <a:solidFill>
                    <a:srgbClr val="8A1700"/>
                  </a:solidFill>
                </a:ln>
              </p:spPr>
            </p:sp>
            <p:sp>
              <p:nvSpPr>
                <p:cNvPr id="188" name="Freeform 188"/>
                <p:cNvSpPr/>
                <p:nvPr/>
              </p:nvSpPr>
              <p:spPr>
                <a:xfrm>
                  <a:off x="6524625" y="5568950"/>
                  <a:ext cx="95250" cy="254001"/>
                </a:xfrm>
                <a:custGeom>
                  <a:avLst/>
                  <a:gdLst/>
                  <a:ahLst/>
                  <a:cxnLst/>
                  <a:rect l="l" t="t" r="r" b="b"/>
                  <a:pathLst>
                    <a:path w="95250" h="254001">
                      <a:moveTo>
                        <a:pt x="0" y="15875"/>
                      </a:moveTo>
                      <a:cubicBezTo>
                        <a:pt x="0" y="7107"/>
                        <a:pt x="7107" y="0"/>
                        <a:pt x="15875" y="0"/>
                      </a:cubicBezTo>
                      <a:lnTo>
                        <a:pt x="79375" y="0"/>
                      </a:lnTo>
                      <a:cubicBezTo>
                        <a:pt x="88143" y="0"/>
                        <a:pt x="95250" y="7107"/>
                        <a:pt x="95250" y="15875"/>
                      </a:cubicBezTo>
                      <a:lnTo>
                        <a:pt x="95250" y="238125"/>
                      </a:lnTo>
                      <a:cubicBezTo>
                        <a:pt x="95250" y="246893"/>
                        <a:pt x="88143" y="254001"/>
                        <a:pt x="79375" y="254001"/>
                      </a:cubicBezTo>
                      <a:lnTo>
                        <a:pt x="15875" y="254001"/>
                      </a:lnTo>
                      <a:cubicBezTo>
                        <a:pt x="7107" y="254001"/>
                        <a:pt x="0" y="246893"/>
                        <a:pt x="0" y="238125"/>
                      </a:cubicBezTo>
                      <a:lnTo>
                        <a:pt x="0" y="15875"/>
                      </a:lnTo>
                    </a:path>
                  </a:pathLst>
                </a:custGeom>
                <a:noFill/>
                <a:ln w="23813">
                  <a:solidFill>
                    <a:srgbClr val="8A1700"/>
                  </a:solidFill>
                </a:ln>
              </p:spPr>
            </p:sp>
            <p:sp>
              <p:nvSpPr>
                <p:cNvPr id="189" name="Freeform 189"/>
                <p:cNvSpPr/>
                <p:nvPr/>
              </p:nvSpPr>
              <p:spPr>
                <a:xfrm>
                  <a:off x="6445250" y="5822951"/>
                  <a:ext cx="222250" cy="9525"/>
                </a:xfrm>
                <a:custGeom>
                  <a:avLst/>
                  <a:gdLst/>
                  <a:ahLst/>
                  <a:cxnLst/>
                  <a:rect l="l" t="t" r="r" b="b"/>
                  <a:pathLst>
                    <a:path w="222250" h="9525">
                      <a:moveTo>
                        <a:pt x="0" y="0"/>
                      </a:moveTo>
                      <a:lnTo>
                        <a:pt x="222250" y="0"/>
                      </a:lnTo>
                    </a:path>
                  </a:pathLst>
                </a:custGeom>
                <a:noFill/>
                <a:ln w="23813">
                  <a:solidFill>
                    <a:srgbClr val="8A1700"/>
                  </a:solidFill>
                </a:ln>
              </p:spPr>
            </p:sp>
          </p:grpSp>
          <p:sp>
            <p:nvSpPr>
              <p:cNvPr id="191" name="TextBox 191"/>
              <p:cNvSpPr txBox="1"/>
              <p:nvPr/>
            </p:nvSpPr>
            <p:spPr>
              <a:xfrm>
                <a:off x="6890956" y="5548551"/>
                <a:ext cx="554152"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统一频控</a:t>
                </a:r>
              </a:p>
            </p:txBody>
          </p:sp>
          <p:sp>
            <p:nvSpPr>
              <p:cNvPr id="192" name="TextBox 192"/>
              <p:cNvSpPr txBox="1"/>
              <p:nvPr/>
            </p:nvSpPr>
            <p:spPr>
              <a:xfrm>
                <a:off x="6891338" y="5782389"/>
                <a:ext cx="1179373" cy="154781"/>
              </a:xfrm>
              <a:prstGeom prst="rect">
                <a:avLst/>
              </a:prstGeom>
              <a:noFill/>
              <a:ln>
                <a:noFill/>
              </a:ln>
            </p:spPr>
            <p:txBody>
              <a:bodyPr wrap="none" lIns="0" tIns="0" rIns="0" bIns="0" anchor="t" anchorCtr="0">
                <a:spAutoFit/>
              </a:bodyPr>
              <a:lstStyle/>
              <a:p>
                <a:pPr algn="l"/>
                <a:r>
                  <a:rPr lang="zh-CN" sz="790" dirty="0">
                    <a:solidFill>
                      <a:srgbClr val="60403A"/>
                    </a:solidFill>
                    <a:latin typeface="+mn-lt"/>
                    <a:ea typeface="+mn-ea"/>
                    <a:cs typeface="+mn-cs"/>
                  </a:rPr>
                  <a:t>触达频次管理与节奏控制</a:t>
                </a:r>
              </a:p>
            </p:txBody>
          </p:sp>
        </p:grpSp>
        <p:sp>
          <p:nvSpPr>
            <p:cNvPr id="194" name="Line 194"/>
            <p:cNvSpPr/>
            <p:nvPr/>
          </p:nvSpPr>
          <p:spPr>
            <a:xfrm>
              <a:off x="8477250" y="5695950"/>
              <a:ext cx="533400" cy="1"/>
            </a:xfrm>
            <a:prstGeom prst="line">
              <a:avLst/>
            </a:prstGeom>
            <a:noFill/>
            <a:ln w="14288">
              <a:solidFill>
                <a:srgbClr val="E84E2F"/>
              </a:solidFill>
              <a:custDash>
                <a:ds d="266667" sp="200000"/>
              </a:custDash>
              <a:tailEnd type="triangle" w="lg" len="lg"/>
            </a:ln>
          </p:spPr>
        </p:sp>
        <p:grpSp>
          <p:nvGrpSpPr>
            <p:cNvPr id="200" name="principle-4"/>
            <p:cNvGrpSpPr/>
            <p:nvPr/>
          </p:nvGrpSpPr>
          <p:grpSpPr>
            <a:xfrm>
              <a:off x="9265451" y="5548551"/>
              <a:ext cx="1981809" cy="388619"/>
              <a:chOff x="9265451" y="5548551"/>
              <a:chExt cx="1981809" cy="388619"/>
            </a:xfrm>
          </p:grpSpPr>
          <p:grpSp>
            <p:nvGrpSpPr>
              <p:cNvPr id="197" name="Group 197"/>
              <p:cNvGrpSpPr/>
              <p:nvPr/>
            </p:nvGrpSpPr>
            <p:grpSpPr>
              <a:xfrm>
                <a:off x="9265451" y="5553075"/>
                <a:ext cx="310011" cy="285751"/>
                <a:chOff x="9265451" y="5553075"/>
                <a:chExt cx="310011" cy="285751"/>
              </a:xfrm>
            </p:grpSpPr>
            <p:sp>
              <p:nvSpPr>
                <p:cNvPr id="195" name="Freeform 195"/>
                <p:cNvSpPr/>
                <p:nvPr/>
              </p:nvSpPr>
              <p:spPr>
                <a:xfrm>
                  <a:off x="9265451" y="5553075"/>
                  <a:ext cx="310011" cy="283306"/>
                </a:xfrm>
                <a:custGeom>
                  <a:avLst/>
                  <a:gdLst/>
                  <a:ahLst/>
                  <a:cxnLst/>
                  <a:rect l="l" t="t" r="r" b="b"/>
                  <a:pathLst>
                    <a:path w="310011" h="283306">
                      <a:moveTo>
                        <a:pt x="155727" y="283306"/>
                      </a:moveTo>
                      <a:cubicBezTo>
                        <a:pt x="56277" y="252479"/>
                        <a:pt x="0" y="147517"/>
                        <a:pt x="29362" y="47625"/>
                      </a:cubicBezTo>
                      <a:cubicBezTo>
                        <a:pt x="78821" y="49888"/>
                        <a:pt x="127218" y="32807"/>
                        <a:pt x="164299" y="0"/>
                      </a:cubicBezTo>
                      <a:cubicBezTo>
                        <a:pt x="201381" y="32807"/>
                        <a:pt x="249778" y="49888"/>
                        <a:pt x="299237" y="47625"/>
                      </a:cubicBezTo>
                      <a:cubicBezTo>
                        <a:pt x="310011" y="84282"/>
                        <a:pt x="309513" y="123332"/>
                        <a:pt x="297808" y="159703"/>
                      </a:cubicBezTo>
                    </a:path>
                  </a:pathLst>
                </a:custGeom>
                <a:noFill/>
                <a:ln w="23813">
                  <a:solidFill>
                    <a:srgbClr val="8A1700"/>
                  </a:solidFill>
                </a:ln>
              </p:spPr>
            </p:sp>
            <p:sp>
              <p:nvSpPr>
                <p:cNvPr id="196" name="Freeform 196"/>
                <p:cNvSpPr/>
                <p:nvPr/>
              </p:nvSpPr>
              <p:spPr>
                <a:xfrm>
                  <a:off x="9477375" y="5775326"/>
                  <a:ext cx="95250" cy="63500"/>
                </a:xfrm>
                <a:custGeom>
                  <a:avLst/>
                  <a:gdLst/>
                  <a:ahLst/>
                  <a:cxnLst/>
                  <a:rect l="l" t="t" r="r" b="b"/>
                  <a:pathLst>
                    <a:path w="95250" h="63500">
                      <a:moveTo>
                        <a:pt x="0" y="31750"/>
                      </a:moveTo>
                      <a:lnTo>
                        <a:pt x="31750" y="63500"/>
                      </a:lnTo>
                      <a:lnTo>
                        <a:pt x="95250" y="0"/>
                      </a:lnTo>
                    </a:path>
                  </a:pathLst>
                </a:custGeom>
                <a:noFill/>
                <a:ln w="23813">
                  <a:solidFill>
                    <a:srgbClr val="8A1700"/>
                  </a:solidFill>
                </a:ln>
              </p:spPr>
            </p:sp>
          </p:grpSp>
          <p:sp>
            <p:nvSpPr>
              <p:cNvPr id="198" name="TextBox 198"/>
              <p:cNvSpPr txBox="1"/>
              <p:nvPr/>
            </p:nvSpPr>
            <p:spPr>
              <a:xfrm>
                <a:off x="9748456" y="5548551"/>
                <a:ext cx="690118"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合规与安全</a:t>
                </a:r>
              </a:p>
            </p:txBody>
          </p:sp>
          <p:sp>
            <p:nvSpPr>
              <p:cNvPr id="199" name="TextBox 199"/>
              <p:cNvSpPr txBox="1"/>
              <p:nvPr/>
            </p:nvSpPr>
            <p:spPr>
              <a:xfrm>
                <a:off x="9748838" y="5782389"/>
                <a:ext cx="1498422" cy="154781"/>
              </a:xfrm>
              <a:prstGeom prst="rect">
                <a:avLst/>
              </a:prstGeom>
              <a:noFill/>
              <a:ln>
                <a:noFill/>
              </a:ln>
            </p:spPr>
            <p:txBody>
              <a:bodyPr wrap="none" lIns="0" tIns="0" rIns="0" bIns="0" anchor="t" anchorCtr="0">
                <a:spAutoFit/>
              </a:bodyPr>
              <a:lstStyle/>
              <a:p>
                <a:pPr algn="l"/>
                <a:r>
                  <a:rPr lang="zh-CN" sz="790" dirty="0">
                    <a:solidFill>
                      <a:srgbClr val="60403A"/>
                    </a:solidFill>
                    <a:latin typeface="+mn-lt"/>
                    <a:ea typeface="+mn-ea"/>
                    <a:cs typeface="+mn-cs"/>
                  </a:rPr>
                  <a:t>数据合规、隐私保护与安全可控</a:t>
                </a:r>
              </a:p>
            </p:txBody>
          </p:sp>
        </p:grpSp>
      </p:gr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256413" y="162401"/>
              <a:ext cx="35243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9​</a:t>
              </a:r>
            </a:p>
          </p:txBody>
        </p:sp>
        <p:sp>
          <p:nvSpPr>
            <p:cNvPr id="4" name="TextBox 4"/>
            <p:cNvSpPr txBox="1"/>
            <p:nvPr/>
          </p:nvSpPr>
          <p:spPr>
            <a:xfrm>
              <a:off x="942594" y="151448"/>
              <a:ext cx="5844540"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内容与服务运营：从优惠推送转向金融能力赋能</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47" name="content-pyramid"/>
          <p:cNvGrpSpPr/>
          <p:nvPr/>
        </p:nvGrpSpPr>
        <p:grpSpPr>
          <a:xfrm>
            <a:off x="228600" y="762000"/>
            <a:ext cx="4248150" cy="3714750"/>
            <a:chOff x="228600" y="762000"/>
            <a:chExt cx="4248150" cy="3714750"/>
          </a:xfrm>
        </p:grpSpPr>
        <p:sp>
          <p:nvSpPr>
            <p:cNvPr id="7" name="Rectangle 7"/>
            <p:cNvSpPr/>
            <p:nvPr/>
          </p:nvSpPr>
          <p:spPr>
            <a:xfrm>
              <a:off x="228600" y="762000"/>
              <a:ext cx="4248150" cy="3714750"/>
            </a:xfrm>
            <a:prstGeom prst="roundRect">
              <a:avLst>
                <a:gd name="adj" fmla="val 2051"/>
              </a:avLst>
            </a:prstGeom>
            <a:solidFill>
              <a:srgbClr val="FFFFFF"/>
            </a:solidFill>
            <a:ln w="9525">
              <a:solidFill>
                <a:srgbClr val="C9D5EA"/>
              </a:solidFill>
            </a:ln>
          </p:spPr>
        </p:sp>
        <p:sp>
          <p:nvSpPr>
            <p:cNvPr id="8" name="Rectangle 8"/>
            <p:cNvSpPr/>
            <p:nvPr/>
          </p:nvSpPr>
          <p:spPr>
            <a:xfrm>
              <a:off x="228600" y="762000"/>
              <a:ext cx="4248150" cy="285750"/>
            </a:xfrm>
            <a:prstGeom prst="roundRect">
              <a:avLst>
                <a:gd name="adj" fmla="val 26667"/>
              </a:avLst>
            </a:prstGeom>
            <a:solidFill>
              <a:srgbClr val="520E00"/>
            </a:solidFill>
            <a:ln>
              <a:noFill/>
            </a:ln>
          </p:spPr>
        </p:sp>
        <p:sp>
          <p:nvSpPr>
            <p:cNvPr id="9" name="Rectangle 9"/>
            <p:cNvSpPr/>
            <p:nvPr/>
          </p:nvSpPr>
          <p:spPr>
            <a:xfrm>
              <a:off x="228600" y="933450"/>
              <a:ext cx="4248150" cy="114300"/>
            </a:xfrm>
            <a:prstGeom prst="rect">
              <a:avLst/>
            </a:prstGeom>
            <a:solidFill>
              <a:srgbClr val="520E00"/>
            </a:solidFill>
            <a:ln>
              <a:noFill/>
            </a:ln>
          </p:spPr>
        </p:sp>
        <p:sp>
          <p:nvSpPr>
            <p:cNvPr id="10" name="TextBox 10"/>
            <p:cNvSpPr txBox="1"/>
            <p:nvPr/>
          </p:nvSpPr>
          <p:spPr>
            <a:xfrm>
              <a:off x="987869" y="852726"/>
              <a:ext cx="2729611"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内容运营金字塔：以价值为先，降低营销比重</a:t>
              </a:r>
            </a:p>
          </p:txBody>
        </p:sp>
        <p:sp>
          <p:nvSpPr>
            <p:cNvPr id="11" name="Freeform 11"/>
            <p:cNvSpPr/>
            <p:nvPr/>
          </p:nvSpPr>
          <p:spPr>
            <a:xfrm>
              <a:off x="1131094" y="1295400"/>
              <a:ext cx="500062" cy="590550"/>
            </a:xfrm>
            <a:prstGeom prst="triangle">
              <a:avLst/>
            </a:prstGeom>
            <a:solidFill>
              <a:srgbClr val="671200"/>
            </a:solidFill>
            <a:ln>
              <a:noFill/>
            </a:ln>
          </p:spPr>
        </p:sp>
        <p:sp>
          <p:nvSpPr>
            <p:cNvPr id="12" name="Freeform 12"/>
            <p:cNvSpPr/>
            <p:nvPr/>
          </p:nvSpPr>
          <p:spPr>
            <a:xfrm>
              <a:off x="881062" y="1885950"/>
              <a:ext cx="1000125" cy="590550"/>
            </a:xfrm>
            <a:prstGeom prst="trapezoid">
              <a:avLst>
                <a:gd name="adj" fmla="val 42339"/>
              </a:avLst>
            </a:prstGeom>
            <a:solidFill>
              <a:srgbClr val="8A1700"/>
            </a:solidFill>
            <a:ln>
              <a:noFill/>
            </a:ln>
          </p:spPr>
        </p:sp>
        <p:sp>
          <p:nvSpPr>
            <p:cNvPr id="13" name="Freeform 13"/>
            <p:cNvSpPr/>
            <p:nvPr/>
          </p:nvSpPr>
          <p:spPr>
            <a:xfrm>
              <a:off x="631031" y="2476500"/>
              <a:ext cx="1500188" cy="590550"/>
            </a:xfrm>
            <a:prstGeom prst="trapezoid">
              <a:avLst>
                <a:gd name="adj" fmla="val 42339"/>
              </a:avLst>
            </a:prstGeom>
            <a:solidFill>
              <a:srgbClr val="E84E2F"/>
            </a:solidFill>
            <a:ln>
              <a:noFill/>
            </a:ln>
          </p:spPr>
        </p:sp>
        <p:sp>
          <p:nvSpPr>
            <p:cNvPr id="14" name="Freeform 14"/>
            <p:cNvSpPr/>
            <p:nvPr/>
          </p:nvSpPr>
          <p:spPr>
            <a:xfrm>
              <a:off x="381000" y="3067050"/>
              <a:ext cx="2000250" cy="590550"/>
            </a:xfrm>
            <a:prstGeom prst="trapezoid">
              <a:avLst>
                <a:gd name="adj" fmla="val 42339"/>
              </a:avLst>
            </a:prstGeom>
            <a:solidFill>
              <a:srgbClr val="F3AC9D"/>
            </a:solidFill>
            <a:ln>
              <a:noFill/>
            </a:ln>
          </p:spPr>
        </p:sp>
        <p:grpSp>
          <p:nvGrpSpPr>
            <p:cNvPr id="17" name="Group 17"/>
            <p:cNvGrpSpPr/>
            <p:nvPr/>
          </p:nvGrpSpPr>
          <p:grpSpPr>
            <a:xfrm>
              <a:off x="1290760" y="1626394"/>
              <a:ext cx="170506" cy="157162"/>
              <a:chOff x="1290760" y="1626394"/>
              <a:chExt cx="170506" cy="157162"/>
            </a:xfrm>
          </p:grpSpPr>
          <p:sp>
            <p:nvSpPr>
              <p:cNvPr id="15" name="Freeform 15"/>
              <p:cNvSpPr/>
              <p:nvPr/>
            </p:nvSpPr>
            <p:spPr>
              <a:xfrm>
                <a:off x="1290760" y="162639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FFFFFF"/>
                </a:solidFill>
              </a:ln>
            </p:spPr>
          </p:sp>
          <p:sp>
            <p:nvSpPr>
              <p:cNvPr id="16" name="Freeform 16"/>
              <p:cNvSpPr/>
              <p:nvPr/>
            </p:nvSpPr>
            <p:spPr>
              <a:xfrm>
                <a:off x="1407319" y="1748631"/>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grpSp>
          <p:nvGrpSpPr>
            <p:cNvPr id="24" name="Group 24"/>
            <p:cNvGrpSpPr/>
            <p:nvPr/>
          </p:nvGrpSpPr>
          <p:grpSpPr>
            <a:xfrm>
              <a:off x="1288256" y="2087277"/>
              <a:ext cx="186816" cy="186816"/>
              <a:chOff x="1288256" y="2087277"/>
              <a:chExt cx="186816" cy="186816"/>
            </a:xfrm>
          </p:grpSpPr>
          <p:sp>
            <p:nvSpPr>
              <p:cNvPr id="18" name="Freeform 18"/>
              <p:cNvSpPr/>
              <p:nvPr/>
            </p:nvSpPr>
            <p:spPr>
              <a:xfrm>
                <a:off x="1288256" y="2087277"/>
                <a:ext cx="186816" cy="186816"/>
              </a:xfrm>
              <a:custGeom>
                <a:avLst/>
                <a:gdLst/>
                <a:ahLst/>
                <a:cxnLst/>
                <a:rect l="l" t="t" r="r" b="b"/>
                <a:pathLst>
                  <a:path w="186816" h="186816">
                    <a:moveTo>
                      <a:pt x="0" y="186816"/>
                    </a:moveTo>
                    <a:lnTo>
                      <a:pt x="41275" y="186816"/>
                    </a:lnTo>
                    <a:lnTo>
                      <a:pt x="175418" y="52673"/>
                    </a:lnTo>
                    <a:cubicBezTo>
                      <a:pt x="186816" y="41275"/>
                      <a:pt x="186816" y="22795"/>
                      <a:pt x="175418" y="11398"/>
                    </a:cubicBezTo>
                    <a:cubicBezTo>
                      <a:pt x="164020" y="0"/>
                      <a:pt x="145541" y="0"/>
                      <a:pt x="134143" y="11398"/>
                    </a:cubicBezTo>
                    <a:lnTo>
                      <a:pt x="0" y="145541"/>
                    </a:lnTo>
                    <a:lnTo>
                      <a:pt x="0" y="186816"/>
                    </a:lnTo>
                  </a:path>
                </a:pathLst>
              </a:custGeom>
              <a:noFill/>
              <a:ln w="20637">
                <a:solidFill>
                  <a:srgbClr val="FFFFFF"/>
                </a:solidFill>
              </a:ln>
            </p:spPr>
          </p:sp>
          <p:sp>
            <p:nvSpPr>
              <p:cNvPr id="19" name="Freeform 19"/>
              <p:cNvSpPr/>
              <p:nvPr/>
            </p:nvSpPr>
            <p:spPr>
              <a:xfrm>
                <a:off x="1406921" y="2114153"/>
                <a:ext cx="41275" cy="41275"/>
              </a:xfrm>
              <a:custGeom>
                <a:avLst/>
                <a:gdLst/>
                <a:ahLst/>
                <a:cxnLst/>
                <a:rect l="l" t="t" r="r" b="b"/>
                <a:pathLst>
                  <a:path w="41275" h="41275">
                    <a:moveTo>
                      <a:pt x="0" y="0"/>
                    </a:moveTo>
                    <a:lnTo>
                      <a:pt x="41275" y="41275"/>
                    </a:lnTo>
                  </a:path>
                </a:pathLst>
              </a:custGeom>
              <a:noFill/>
              <a:ln w="20637">
                <a:solidFill>
                  <a:srgbClr val="FFFFFF"/>
                </a:solidFill>
              </a:ln>
            </p:spPr>
          </p:sp>
          <p:sp>
            <p:nvSpPr>
              <p:cNvPr id="20" name="Freeform 20"/>
              <p:cNvSpPr/>
              <p:nvPr/>
            </p:nvSpPr>
            <p:spPr>
              <a:xfrm>
                <a:off x="1288256" y="2088356"/>
                <a:ext cx="92868" cy="92868"/>
              </a:xfrm>
              <a:custGeom>
                <a:avLst/>
                <a:gdLst/>
                <a:ahLst/>
                <a:cxnLst/>
                <a:rect l="l" t="t" r="r" b="b"/>
                <a:pathLst>
                  <a:path w="92868" h="92868">
                    <a:moveTo>
                      <a:pt x="92868" y="51594"/>
                    </a:moveTo>
                    <a:lnTo>
                      <a:pt x="41275" y="0"/>
                    </a:lnTo>
                    <a:lnTo>
                      <a:pt x="0" y="41275"/>
                    </a:lnTo>
                    <a:lnTo>
                      <a:pt x="51594" y="92868"/>
                    </a:lnTo>
                  </a:path>
                </a:pathLst>
              </a:custGeom>
              <a:noFill/>
              <a:ln w="20637">
                <a:solidFill>
                  <a:srgbClr val="FFFFFF"/>
                </a:solidFill>
              </a:ln>
            </p:spPr>
          </p:sp>
          <p:sp>
            <p:nvSpPr>
              <p:cNvPr id="21" name="Freeform 21"/>
              <p:cNvSpPr/>
              <p:nvPr/>
            </p:nvSpPr>
            <p:spPr>
              <a:xfrm>
                <a:off x="1314053" y="2139950"/>
                <a:ext cx="15478" cy="15478"/>
              </a:xfrm>
              <a:custGeom>
                <a:avLst/>
                <a:gdLst/>
                <a:ahLst/>
                <a:cxnLst/>
                <a:rect l="l" t="t" r="r" b="b"/>
                <a:pathLst>
                  <a:path w="15478" h="15478">
                    <a:moveTo>
                      <a:pt x="15478" y="0"/>
                    </a:moveTo>
                    <a:lnTo>
                      <a:pt x="0" y="15478"/>
                    </a:lnTo>
                  </a:path>
                </a:pathLst>
              </a:custGeom>
              <a:noFill/>
              <a:ln w="20637">
                <a:solidFill>
                  <a:srgbClr val="FFFFFF"/>
                </a:solidFill>
              </a:ln>
            </p:spPr>
          </p:sp>
          <p:sp>
            <p:nvSpPr>
              <p:cNvPr id="22" name="Freeform 22"/>
              <p:cNvSpPr/>
              <p:nvPr/>
            </p:nvSpPr>
            <p:spPr>
              <a:xfrm>
                <a:off x="1381125" y="2181225"/>
                <a:ext cx="92868" cy="92868"/>
              </a:xfrm>
              <a:custGeom>
                <a:avLst/>
                <a:gdLst/>
                <a:ahLst/>
                <a:cxnLst/>
                <a:rect l="l" t="t" r="r" b="b"/>
                <a:pathLst>
                  <a:path w="92868" h="92868">
                    <a:moveTo>
                      <a:pt x="41275" y="0"/>
                    </a:moveTo>
                    <a:lnTo>
                      <a:pt x="92868" y="51594"/>
                    </a:lnTo>
                    <a:lnTo>
                      <a:pt x="51594" y="92868"/>
                    </a:lnTo>
                    <a:lnTo>
                      <a:pt x="0" y="41275"/>
                    </a:lnTo>
                  </a:path>
                </a:pathLst>
              </a:custGeom>
              <a:noFill/>
              <a:ln w="20637">
                <a:solidFill>
                  <a:srgbClr val="FFFFFF"/>
                </a:solidFill>
              </a:ln>
            </p:spPr>
          </p:sp>
          <p:sp>
            <p:nvSpPr>
              <p:cNvPr id="23" name="Freeform 23"/>
              <p:cNvSpPr/>
              <p:nvPr/>
            </p:nvSpPr>
            <p:spPr>
              <a:xfrm>
                <a:off x="1406921" y="2232818"/>
                <a:ext cx="15478" cy="15478"/>
              </a:xfrm>
              <a:custGeom>
                <a:avLst/>
                <a:gdLst/>
                <a:ahLst/>
                <a:cxnLst/>
                <a:rect l="l" t="t" r="r" b="b"/>
                <a:pathLst>
                  <a:path w="15478" h="15478">
                    <a:moveTo>
                      <a:pt x="15478" y="0"/>
                    </a:moveTo>
                    <a:lnTo>
                      <a:pt x="0" y="15478"/>
                    </a:lnTo>
                  </a:path>
                </a:pathLst>
              </a:custGeom>
              <a:noFill/>
              <a:ln w="20637">
                <a:solidFill>
                  <a:srgbClr val="FFFFFF"/>
                </a:solidFill>
              </a:ln>
            </p:spPr>
          </p:sp>
        </p:grpSp>
        <p:grpSp>
          <p:nvGrpSpPr>
            <p:cNvPr id="29" name="Group 29"/>
            <p:cNvGrpSpPr/>
            <p:nvPr/>
          </p:nvGrpSpPr>
          <p:grpSpPr>
            <a:xfrm>
              <a:off x="1288256" y="2678551"/>
              <a:ext cx="185737" cy="186092"/>
              <a:chOff x="1288256" y="2678551"/>
              <a:chExt cx="185737" cy="186092"/>
            </a:xfrm>
          </p:grpSpPr>
          <p:sp>
            <p:nvSpPr>
              <p:cNvPr id="25" name="Freeform 25"/>
              <p:cNvSpPr/>
              <p:nvPr/>
            </p:nvSpPr>
            <p:spPr>
              <a:xfrm>
                <a:off x="1288256" y="2730500"/>
                <a:ext cx="185737" cy="41275"/>
              </a:xfrm>
              <a:custGeom>
                <a:avLst/>
                <a:gdLst/>
                <a:ahLst/>
                <a:cxnLst/>
                <a:rect l="l" t="t" r="r" b="b"/>
                <a:pathLst>
                  <a:path w="185737" h="41275">
                    <a:moveTo>
                      <a:pt x="0" y="10319"/>
                    </a:moveTo>
                    <a:cubicBezTo>
                      <a:pt x="0" y="4620"/>
                      <a:pt x="4620" y="0"/>
                      <a:pt x="10319" y="0"/>
                    </a:cubicBezTo>
                    <a:lnTo>
                      <a:pt x="175418" y="0"/>
                    </a:lnTo>
                    <a:cubicBezTo>
                      <a:pt x="181117" y="0"/>
                      <a:pt x="185737" y="4620"/>
                      <a:pt x="185737" y="10319"/>
                    </a:cubicBezTo>
                    <a:lnTo>
                      <a:pt x="185737" y="30956"/>
                    </a:lnTo>
                    <a:cubicBezTo>
                      <a:pt x="185737" y="36655"/>
                      <a:pt x="181117" y="41275"/>
                      <a:pt x="175418" y="41275"/>
                    </a:cubicBezTo>
                    <a:lnTo>
                      <a:pt x="10319" y="41275"/>
                    </a:lnTo>
                    <a:cubicBezTo>
                      <a:pt x="4620" y="41275"/>
                      <a:pt x="0" y="36655"/>
                      <a:pt x="0" y="30956"/>
                    </a:cubicBezTo>
                    <a:lnTo>
                      <a:pt x="0" y="10319"/>
                    </a:lnTo>
                  </a:path>
                </a:pathLst>
              </a:custGeom>
              <a:noFill/>
              <a:ln w="20637">
                <a:solidFill>
                  <a:srgbClr val="FFFFFF"/>
                </a:solidFill>
              </a:ln>
            </p:spPr>
          </p:sp>
          <p:sp>
            <p:nvSpPr>
              <p:cNvPr id="26" name="Freeform 26"/>
              <p:cNvSpPr/>
              <p:nvPr/>
            </p:nvSpPr>
            <p:spPr>
              <a:xfrm>
                <a:off x="1381125" y="2730500"/>
                <a:ext cx="9525" cy="134143"/>
              </a:xfrm>
              <a:custGeom>
                <a:avLst/>
                <a:gdLst/>
                <a:ahLst/>
                <a:cxnLst/>
                <a:rect l="l" t="t" r="r" b="b"/>
                <a:pathLst>
                  <a:path w="9525" h="134143">
                    <a:moveTo>
                      <a:pt x="0" y="0"/>
                    </a:moveTo>
                    <a:lnTo>
                      <a:pt x="0" y="134143"/>
                    </a:lnTo>
                  </a:path>
                </a:pathLst>
              </a:custGeom>
              <a:noFill/>
              <a:ln w="20637">
                <a:solidFill>
                  <a:srgbClr val="FFFFFF"/>
                </a:solidFill>
              </a:ln>
            </p:spPr>
          </p:sp>
          <p:sp>
            <p:nvSpPr>
              <p:cNvPr id="27" name="Freeform 27"/>
              <p:cNvSpPr/>
              <p:nvPr/>
            </p:nvSpPr>
            <p:spPr>
              <a:xfrm>
                <a:off x="1308894" y="2771775"/>
                <a:ext cx="144462" cy="92868"/>
              </a:xfrm>
              <a:custGeom>
                <a:avLst/>
                <a:gdLst/>
                <a:ahLst/>
                <a:cxnLst/>
                <a:rect l="l" t="t" r="r" b="b"/>
                <a:pathLst>
                  <a:path w="144462" h="92868">
                    <a:moveTo>
                      <a:pt x="144462" y="0"/>
                    </a:moveTo>
                    <a:lnTo>
                      <a:pt x="144462" y="72231"/>
                    </a:lnTo>
                    <a:cubicBezTo>
                      <a:pt x="144462" y="83629"/>
                      <a:pt x="135222" y="92868"/>
                      <a:pt x="123825" y="92868"/>
                    </a:cubicBezTo>
                    <a:lnTo>
                      <a:pt x="20637" y="92868"/>
                    </a:lnTo>
                    <a:cubicBezTo>
                      <a:pt x="9240" y="92868"/>
                      <a:pt x="0" y="83629"/>
                      <a:pt x="0" y="72231"/>
                    </a:cubicBezTo>
                    <a:lnTo>
                      <a:pt x="0" y="0"/>
                    </a:lnTo>
                  </a:path>
                </a:pathLst>
              </a:custGeom>
              <a:noFill/>
              <a:ln w="20637">
                <a:solidFill>
                  <a:srgbClr val="FFFFFF"/>
                </a:solidFill>
              </a:ln>
            </p:spPr>
          </p:sp>
          <p:sp>
            <p:nvSpPr>
              <p:cNvPr id="28" name="Freeform 28"/>
              <p:cNvSpPr/>
              <p:nvPr/>
            </p:nvSpPr>
            <p:spPr>
              <a:xfrm>
                <a:off x="1308894" y="2678551"/>
                <a:ext cx="144462" cy="51949"/>
              </a:xfrm>
              <a:custGeom>
                <a:avLst/>
                <a:gdLst/>
                <a:ahLst/>
                <a:cxnLst/>
                <a:rect l="l" t="t" r="r" b="b"/>
                <a:pathLst>
                  <a:path w="144462" h="51949">
                    <a:moveTo>
                      <a:pt x="25797" y="51949"/>
                    </a:moveTo>
                    <a:cubicBezTo>
                      <a:pt x="11550" y="51949"/>
                      <a:pt x="0" y="40399"/>
                      <a:pt x="0" y="26152"/>
                    </a:cubicBezTo>
                    <a:cubicBezTo>
                      <a:pt x="0" y="11905"/>
                      <a:pt x="11550" y="355"/>
                      <a:pt x="25797" y="355"/>
                    </a:cubicBezTo>
                    <a:cubicBezTo>
                      <a:pt x="46168" y="0"/>
                      <a:pt x="64592" y="20471"/>
                      <a:pt x="72231" y="51949"/>
                    </a:cubicBezTo>
                    <a:cubicBezTo>
                      <a:pt x="79870" y="20471"/>
                      <a:pt x="98294" y="0"/>
                      <a:pt x="118665" y="355"/>
                    </a:cubicBezTo>
                    <a:cubicBezTo>
                      <a:pt x="132912" y="355"/>
                      <a:pt x="144462" y="11905"/>
                      <a:pt x="144462" y="26152"/>
                    </a:cubicBezTo>
                    <a:cubicBezTo>
                      <a:pt x="144462" y="40399"/>
                      <a:pt x="132912" y="51949"/>
                      <a:pt x="118665" y="51949"/>
                    </a:cubicBezTo>
                  </a:path>
                </a:pathLst>
              </a:custGeom>
              <a:noFill/>
              <a:ln w="20637">
                <a:solidFill>
                  <a:srgbClr val="FFFFFF"/>
                </a:solidFill>
              </a:ln>
            </p:spPr>
          </p:sp>
        </p:grpSp>
        <p:grpSp>
          <p:nvGrpSpPr>
            <p:cNvPr id="32" name="Group 32"/>
            <p:cNvGrpSpPr/>
            <p:nvPr/>
          </p:nvGrpSpPr>
          <p:grpSpPr>
            <a:xfrm>
              <a:off x="1284945" y="3269456"/>
              <a:ext cx="189048" cy="189048"/>
              <a:chOff x="1284945" y="3269456"/>
              <a:chExt cx="189048" cy="189048"/>
            </a:xfrm>
          </p:grpSpPr>
          <p:sp>
            <p:nvSpPr>
              <p:cNvPr id="30" name="Freeform 30"/>
              <p:cNvSpPr/>
              <p:nvPr/>
            </p:nvSpPr>
            <p:spPr>
              <a:xfrm>
                <a:off x="1360487" y="3269456"/>
                <a:ext cx="113506" cy="113506"/>
              </a:xfrm>
              <a:custGeom>
                <a:avLst/>
                <a:gdLst/>
                <a:ahLst/>
                <a:cxnLst/>
                <a:rect l="l" t="t" r="r" b="b"/>
                <a:pathLst>
                  <a:path w="113506" h="113506">
                    <a:moveTo>
                      <a:pt x="0" y="113506"/>
                    </a:moveTo>
                    <a:lnTo>
                      <a:pt x="113506" y="0"/>
                    </a:lnTo>
                  </a:path>
                </a:pathLst>
              </a:custGeom>
              <a:noFill/>
              <a:ln w="20637">
                <a:solidFill>
                  <a:srgbClr val="520E00"/>
                </a:solidFill>
              </a:ln>
            </p:spPr>
          </p:sp>
          <p:sp>
            <p:nvSpPr>
              <p:cNvPr id="31" name="Freeform 31"/>
              <p:cNvSpPr/>
              <p:nvPr/>
            </p:nvSpPr>
            <p:spPr>
              <a:xfrm>
                <a:off x="1284945" y="3269456"/>
                <a:ext cx="189048" cy="189048"/>
              </a:xfrm>
              <a:custGeom>
                <a:avLst/>
                <a:gdLst/>
                <a:ahLst/>
                <a:cxnLst/>
                <a:rect l="l" t="t" r="r" b="b"/>
                <a:pathLst>
                  <a:path w="189048" h="189048">
                    <a:moveTo>
                      <a:pt x="189048" y="0"/>
                    </a:moveTo>
                    <a:lnTo>
                      <a:pt x="121976" y="185737"/>
                    </a:lnTo>
                    <a:cubicBezTo>
                      <a:pt x="121052" y="187754"/>
                      <a:pt x="119036" y="189048"/>
                      <a:pt x="116817" y="189048"/>
                    </a:cubicBezTo>
                    <a:cubicBezTo>
                      <a:pt x="114598" y="189048"/>
                      <a:pt x="112582" y="187754"/>
                      <a:pt x="111658" y="185737"/>
                    </a:cubicBezTo>
                    <a:lnTo>
                      <a:pt x="75542" y="113506"/>
                    </a:lnTo>
                    <a:lnTo>
                      <a:pt x="3311" y="77390"/>
                    </a:lnTo>
                    <a:cubicBezTo>
                      <a:pt x="1294" y="76466"/>
                      <a:pt x="0" y="74450"/>
                      <a:pt x="0" y="72231"/>
                    </a:cubicBezTo>
                    <a:cubicBezTo>
                      <a:pt x="0" y="70012"/>
                      <a:pt x="1294" y="67996"/>
                      <a:pt x="3311" y="67072"/>
                    </a:cubicBezTo>
                    <a:lnTo>
                      <a:pt x="189048" y="0"/>
                    </a:lnTo>
                  </a:path>
                </a:pathLst>
              </a:custGeom>
              <a:noFill/>
              <a:ln w="20637">
                <a:solidFill>
                  <a:srgbClr val="520E00"/>
                </a:solidFill>
              </a:ln>
            </p:spPr>
          </p:sp>
        </p:grpSp>
        <p:grpSp>
          <p:nvGrpSpPr>
            <p:cNvPr id="35" name="tier-label-1"/>
            <p:cNvGrpSpPr/>
            <p:nvPr/>
          </p:nvGrpSpPr>
          <p:grpSpPr>
            <a:xfrm>
              <a:off x="2545080" y="1456849"/>
              <a:ext cx="1199921" cy="484346"/>
              <a:chOff x="2545080" y="1456849"/>
              <a:chExt cx="1199921" cy="484346"/>
            </a:xfrm>
          </p:grpSpPr>
          <p:sp>
            <p:nvSpPr>
              <p:cNvPr id="33" name="TextBox 33"/>
              <p:cNvSpPr txBox="1"/>
              <p:nvPr/>
            </p:nvSpPr>
            <p:spPr>
              <a:xfrm>
                <a:off x="2547747" y="1456849"/>
                <a:ext cx="1197254"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金融知识与风险提示</a:t>
                </a:r>
              </a:p>
            </p:txBody>
          </p:sp>
          <p:sp>
            <p:nvSpPr>
              <p:cNvPr id="34" name="TextBox 34"/>
              <p:cNvSpPr txBox="1"/>
              <p:nvPr/>
            </p:nvSpPr>
            <p:spPr>
              <a:xfrm>
                <a:off x="2545080" y="1647825"/>
                <a:ext cx="524104" cy="293370"/>
              </a:xfrm>
              <a:prstGeom prst="rect">
                <a:avLst/>
              </a:prstGeom>
              <a:noFill/>
              <a:ln>
                <a:noFill/>
              </a:ln>
            </p:spPr>
            <p:txBody>
              <a:bodyPr wrap="none" lIns="0" tIns="0" rIns="0" bIns="0" anchor="t" anchorCtr="0">
                <a:spAutoFit/>
              </a:bodyPr>
              <a:lstStyle/>
              <a:p>
                <a:pPr algn="l"/>
                <a:r>
                  <a:rPr lang="zh-CN" sz="1500" b="1" dirty="0">
                    <a:solidFill>
                      <a:srgbClr val="C02C0A"/>
                    </a:solidFill>
                    <a:latin typeface="+mn-lt"/>
                    <a:ea typeface="+mn-ea"/>
                    <a:cs typeface="+mn-cs"/>
                  </a:rPr>
                  <a:t>30%​</a:t>
                </a:r>
              </a:p>
            </p:txBody>
          </p:sp>
        </p:grpSp>
        <p:grpSp>
          <p:nvGrpSpPr>
            <p:cNvPr id="38" name="tier-label-2"/>
            <p:cNvGrpSpPr/>
            <p:nvPr/>
          </p:nvGrpSpPr>
          <p:grpSpPr>
            <a:xfrm>
              <a:off x="2545080" y="2047399"/>
              <a:ext cx="936066" cy="484346"/>
              <a:chOff x="2545080" y="2047399"/>
              <a:chExt cx="936066" cy="484346"/>
            </a:xfrm>
          </p:grpSpPr>
          <p:sp>
            <p:nvSpPr>
              <p:cNvPr id="36" name="TextBox 36"/>
              <p:cNvSpPr txBox="1"/>
              <p:nvPr/>
            </p:nvSpPr>
            <p:spPr>
              <a:xfrm>
                <a:off x="2547747" y="2047399"/>
                <a:ext cx="933399"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免费工具与服务</a:t>
                </a:r>
              </a:p>
            </p:txBody>
          </p:sp>
          <p:sp>
            <p:nvSpPr>
              <p:cNvPr id="37" name="TextBox 37"/>
              <p:cNvSpPr txBox="1"/>
              <p:nvPr/>
            </p:nvSpPr>
            <p:spPr>
              <a:xfrm>
                <a:off x="2545080" y="2238375"/>
                <a:ext cx="524104" cy="293370"/>
              </a:xfrm>
              <a:prstGeom prst="rect">
                <a:avLst/>
              </a:prstGeom>
              <a:noFill/>
              <a:ln>
                <a:noFill/>
              </a:ln>
            </p:spPr>
            <p:txBody>
              <a:bodyPr wrap="none" lIns="0" tIns="0" rIns="0" bIns="0" anchor="t" anchorCtr="0">
                <a:spAutoFit/>
              </a:bodyPr>
              <a:lstStyle/>
              <a:p>
                <a:pPr algn="l"/>
                <a:r>
                  <a:rPr lang="zh-CN" sz="1500" b="1" dirty="0">
                    <a:solidFill>
                      <a:srgbClr val="C02C0A"/>
                    </a:solidFill>
                    <a:latin typeface="+mn-lt"/>
                    <a:ea typeface="+mn-ea"/>
                    <a:cs typeface="+mn-cs"/>
                  </a:rPr>
                  <a:t>30%​</a:t>
                </a:r>
              </a:p>
            </p:txBody>
          </p:sp>
        </p:grpSp>
        <p:grpSp>
          <p:nvGrpSpPr>
            <p:cNvPr id="41" name="tier-label-3"/>
            <p:cNvGrpSpPr/>
            <p:nvPr/>
          </p:nvGrpSpPr>
          <p:grpSpPr>
            <a:xfrm>
              <a:off x="2545080" y="2637949"/>
              <a:ext cx="1199921" cy="484346"/>
              <a:chOff x="2545080" y="2637949"/>
              <a:chExt cx="1199921" cy="484346"/>
            </a:xfrm>
          </p:grpSpPr>
          <p:sp>
            <p:nvSpPr>
              <p:cNvPr id="39" name="TextBox 39"/>
              <p:cNvSpPr txBox="1"/>
              <p:nvPr/>
            </p:nvSpPr>
            <p:spPr>
              <a:xfrm>
                <a:off x="2547747" y="2637949"/>
                <a:ext cx="1197254"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场景权益与商户活动</a:t>
                </a:r>
              </a:p>
            </p:txBody>
          </p:sp>
          <p:sp>
            <p:nvSpPr>
              <p:cNvPr id="40" name="TextBox 40"/>
              <p:cNvSpPr txBox="1"/>
              <p:nvPr/>
            </p:nvSpPr>
            <p:spPr>
              <a:xfrm>
                <a:off x="2545080" y="2828925"/>
                <a:ext cx="524104" cy="293370"/>
              </a:xfrm>
              <a:prstGeom prst="rect">
                <a:avLst/>
              </a:prstGeom>
              <a:noFill/>
              <a:ln>
                <a:noFill/>
              </a:ln>
            </p:spPr>
            <p:txBody>
              <a:bodyPr wrap="none" lIns="0" tIns="0" rIns="0" bIns="0" anchor="t" anchorCtr="0">
                <a:spAutoFit/>
              </a:bodyPr>
              <a:lstStyle/>
              <a:p>
                <a:pPr algn="l"/>
                <a:r>
                  <a:rPr lang="zh-CN" sz="1500" b="1" dirty="0">
                    <a:solidFill>
                      <a:srgbClr val="C02C0A"/>
                    </a:solidFill>
                    <a:latin typeface="+mn-lt"/>
                    <a:ea typeface="+mn-ea"/>
                    <a:cs typeface="+mn-cs"/>
                  </a:rPr>
                  <a:t>25%​</a:t>
                </a:r>
              </a:p>
            </p:txBody>
          </p:sp>
        </p:grpSp>
        <p:grpSp>
          <p:nvGrpSpPr>
            <p:cNvPr id="44" name="tier-label-4"/>
            <p:cNvGrpSpPr/>
            <p:nvPr/>
          </p:nvGrpSpPr>
          <p:grpSpPr>
            <a:xfrm>
              <a:off x="2545080" y="3228499"/>
              <a:ext cx="936066" cy="484346"/>
              <a:chOff x="2545080" y="3228499"/>
              <a:chExt cx="936066" cy="484346"/>
            </a:xfrm>
          </p:grpSpPr>
          <p:sp>
            <p:nvSpPr>
              <p:cNvPr id="42" name="TextBox 42"/>
              <p:cNvSpPr txBox="1"/>
              <p:nvPr/>
            </p:nvSpPr>
            <p:spPr>
              <a:xfrm>
                <a:off x="2547747" y="3228499"/>
                <a:ext cx="933399" cy="190690"/>
              </a:xfrm>
              <a:prstGeom prst="rect">
                <a:avLst/>
              </a:prstGeom>
              <a:noFill/>
              <a:ln>
                <a:noFill/>
              </a:ln>
            </p:spPr>
            <p:txBody>
              <a:bodyPr wrap="none" lIns="0" tIns="0" rIns="0" bIns="0" anchor="t" anchorCtr="0">
                <a:spAutoFit/>
              </a:bodyPr>
              <a:lstStyle/>
              <a:p>
                <a:pPr algn="l"/>
                <a:r>
                  <a:rPr lang="zh-CN" sz="980" b="1" dirty="0">
                    <a:solidFill>
                      <a:srgbClr val="520E00"/>
                    </a:solidFill>
                    <a:latin typeface="+mn-lt"/>
                    <a:ea typeface="+mn-ea"/>
                    <a:cs typeface="+mn-cs"/>
                  </a:rPr>
                  <a:t>产品与业务营销</a:t>
                </a:r>
              </a:p>
            </p:txBody>
          </p:sp>
          <p:sp>
            <p:nvSpPr>
              <p:cNvPr id="43" name="TextBox 43"/>
              <p:cNvSpPr txBox="1"/>
              <p:nvPr/>
            </p:nvSpPr>
            <p:spPr>
              <a:xfrm>
                <a:off x="2545080" y="3419475"/>
                <a:ext cx="524104" cy="293370"/>
              </a:xfrm>
              <a:prstGeom prst="rect">
                <a:avLst/>
              </a:prstGeom>
              <a:noFill/>
              <a:ln>
                <a:noFill/>
              </a:ln>
            </p:spPr>
            <p:txBody>
              <a:bodyPr wrap="none" lIns="0" tIns="0" rIns="0" bIns="0" anchor="t" anchorCtr="0">
                <a:spAutoFit/>
              </a:bodyPr>
              <a:lstStyle/>
              <a:p>
                <a:pPr algn="l"/>
                <a:r>
                  <a:rPr lang="zh-CN" sz="1500" b="1" dirty="0">
                    <a:solidFill>
                      <a:srgbClr val="C02C0A"/>
                    </a:solidFill>
                    <a:latin typeface="+mn-lt"/>
                    <a:ea typeface="+mn-ea"/>
                    <a:cs typeface="+mn-cs"/>
                  </a:rPr>
                  <a:t>15%​</a:t>
                </a:r>
              </a:p>
            </p:txBody>
          </p:sp>
        </p:grpSp>
        <p:sp>
          <p:nvSpPr>
            <p:cNvPr id="45" name="Rectangle 45"/>
            <p:cNvSpPr/>
            <p:nvPr/>
          </p:nvSpPr>
          <p:spPr>
            <a:xfrm>
              <a:off x="381000" y="3981450"/>
              <a:ext cx="3943350" cy="323850"/>
            </a:xfrm>
            <a:prstGeom prst="roundRect">
              <a:avLst>
                <a:gd name="adj" fmla="val 11765"/>
              </a:avLst>
            </a:prstGeom>
            <a:solidFill>
              <a:srgbClr val="FDE8E8"/>
            </a:solidFill>
            <a:ln w="11430">
              <a:solidFill>
                <a:srgbClr val="C02C0A"/>
              </a:solidFill>
            </a:ln>
          </p:spPr>
        </p:sp>
        <p:sp>
          <p:nvSpPr>
            <p:cNvPr id="46" name="TextBox 46"/>
            <p:cNvSpPr txBox="1"/>
            <p:nvPr/>
          </p:nvSpPr>
          <p:spPr>
            <a:xfrm>
              <a:off x="1629274" y="4079081"/>
              <a:ext cx="1446802" cy="220028"/>
            </a:xfrm>
            <a:prstGeom prst="rect">
              <a:avLst/>
            </a:prstGeom>
            <a:noFill/>
            <a:ln>
              <a:noFill/>
            </a:ln>
          </p:spPr>
          <p:txBody>
            <a:bodyPr wrap="none" lIns="0" tIns="0" rIns="0" bIns="0" anchor="t" anchorCtr="0">
              <a:spAutoFit/>
            </a:bodyPr>
            <a:lstStyle/>
            <a:p>
              <a:pPr algn="ctr"/>
              <a:r>
                <a:rPr lang="zh-CN" sz="1120" b="1" dirty="0">
                  <a:solidFill>
                    <a:srgbClr val="C02C0A"/>
                  </a:solidFill>
                  <a:latin typeface="+mn-lt"/>
                  <a:ea typeface="+mn-ea"/>
                  <a:cs typeface="+mn-cs"/>
                </a:rPr>
                <a:t>营销内容不超过20%​</a:t>
              </a:r>
            </a:p>
          </p:txBody>
        </p:sp>
      </p:grpSp>
      <p:grpSp>
        <p:nvGrpSpPr>
          <p:cNvPr id="70" name="content-donut"/>
          <p:cNvGrpSpPr/>
          <p:nvPr/>
        </p:nvGrpSpPr>
        <p:grpSpPr>
          <a:xfrm>
            <a:off x="4591050" y="762000"/>
            <a:ext cx="2933700" cy="3714750"/>
            <a:chOff x="4591050" y="762000"/>
            <a:chExt cx="2933700" cy="3714750"/>
          </a:xfrm>
        </p:grpSpPr>
        <p:sp>
          <p:nvSpPr>
            <p:cNvPr id="48" name="Rectangle 48"/>
            <p:cNvSpPr/>
            <p:nvPr/>
          </p:nvSpPr>
          <p:spPr>
            <a:xfrm>
              <a:off x="4591050" y="762000"/>
              <a:ext cx="2933700" cy="3714750"/>
            </a:xfrm>
            <a:prstGeom prst="roundRect">
              <a:avLst>
                <a:gd name="adj" fmla="val 2597"/>
              </a:avLst>
            </a:prstGeom>
            <a:solidFill>
              <a:srgbClr val="FFFFFF"/>
            </a:solidFill>
            <a:ln w="9525">
              <a:solidFill>
                <a:srgbClr val="C9D5EA"/>
              </a:solidFill>
            </a:ln>
          </p:spPr>
        </p:sp>
        <p:sp>
          <p:nvSpPr>
            <p:cNvPr id="49" name="Rectangle 49"/>
            <p:cNvSpPr/>
            <p:nvPr/>
          </p:nvSpPr>
          <p:spPr>
            <a:xfrm>
              <a:off x="4591050" y="762000"/>
              <a:ext cx="2933700" cy="285750"/>
            </a:xfrm>
            <a:prstGeom prst="roundRect">
              <a:avLst>
                <a:gd name="adj" fmla="val 26667"/>
              </a:avLst>
            </a:prstGeom>
            <a:solidFill>
              <a:srgbClr val="520E00"/>
            </a:solidFill>
            <a:ln>
              <a:noFill/>
            </a:ln>
          </p:spPr>
        </p:sp>
        <p:sp>
          <p:nvSpPr>
            <p:cNvPr id="50" name="Rectangle 50"/>
            <p:cNvSpPr/>
            <p:nvPr/>
          </p:nvSpPr>
          <p:spPr>
            <a:xfrm>
              <a:off x="4591050" y="933450"/>
              <a:ext cx="2933700" cy="114300"/>
            </a:xfrm>
            <a:prstGeom prst="rect">
              <a:avLst/>
            </a:prstGeom>
            <a:solidFill>
              <a:srgbClr val="520E00"/>
            </a:solidFill>
            <a:ln>
              <a:noFill/>
            </a:ln>
          </p:spPr>
        </p:sp>
        <p:sp>
          <p:nvSpPr>
            <p:cNvPr id="51" name="TextBox 51"/>
            <p:cNvSpPr txBox="1"/>
            <p:nvPr/>
          </p:nvSpPr>
          <p:spPr>
            <a:xfrm>
              <a:off x="5644858" y="852726"/>
              <a:ext cx="82608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内容结构占比</a:t>
              </a:r>
            </a:p>
          </p:txBody>
        </p:sp>
        <p:sp>
          <p:nvSpPr>
            <p:cNvPr id="52" name="Freeform 52"/>
            <p:cNvSpPr/>
            <p:nvPr/>
          </p:nvSpPr>
          <p:spPr>
            <a:xfrm>
              <a:off x="6057900" y="1295400"/>
              <a:ext cx="1000037" cy="1246822"/>
            </a:xfrm>
            <a:custGeom>
              <a:avLst/>
              <a:gdLst/>
              <a:ahLst/>
              <a:cxnLst/>
              <a:rect l="l" t="t" r="r" b="b"/>
              <a:pathLst>
                <a:path w="1000037" h="1246822">
                  <a:moveTo>
                    <a:pt x="0" y="0"/>
                  </a:moveTo>
                  <a:cubicBezTo>
                    <a:pt x="304887" y="19"/>
                    <a:pt x="591340" y="145989"/>
                    <a:pt x="770542" y="392652"/>
                  </a:cubicBezTo>
                  <a:cubicBezTo>
                    <a:pt x="949744" y="639314"/>
                    <a:pt x="1000037" y="956856"/>
                    <a:pt x="905827" y="1246822"/>
                  </a:cubicBezTo>
                  <a:lnTo>
                    <a:pt x="525780" y="1122998"/>
                  </a:lnTo>
                  <a:cubicBezTo>
                    <a:pt x="580361" y="954777"/>
                    <a:pt x="551104" y="770593"/>
                    <a:pt x="447084" y="627564"/>
                  </a:cubicBezTo>
                  <a:cubicBezTo>
                    <a:pt x="343064" y="484536"/>
                    <a:pt x="176854" y="399955"/>
                    <a:pt x="0" y="400050"/>
                  </a:cubicBezTo>
                  <a:close/>
                </a:path>
              </a:pathLst>
            </a:custGeom>
            <a:solidFill>
              <a:srgbClr val="671200"/>
            </a:solidFill>
            <a:ln>
              <a:noFill/>
            </a:ln>
          </p:spPr>
        </p:sp>
        <p:sp>
          <p:nvSpPr>
            <p:cNvPr id="53" name="Freeform 53"/>
            <p:cNvSpPr/>
            <p:nvPr/>
          </p:nvSpPr>
          <p:spPr>
            <a:xfrm>
              <a:off x="5497830" y="2418398"/>
              <a:ext cx="1465897" cy="829689"/>
            </a:xfrm>
            <a:custGeom>
              <a:avLst/>
              <a:gdLst/>
              <a:ahLst/>
              <a:cxnLst/>
              <a:rect l="l" t="t" r="r" b="b"/>
              <a:pathLst>
                <a:path w="1465897" h="829689">
                  <a:moveTo>
                    <a:pt x="1465897" y="123825"/>
                  </a:moveTo>
                  <a:cubicBezTo>
                    <a:pt x="1371693" y="413852"/>
                    <a:pt x="1144320" y="641241"/>
                    <a:pt x="854299" y="735465"/>
                  </a:cubicBezTo>
                  <a:cubicBezTo>
                    <a:pt x="564278" y="829689"/>
                    <a:pt x="246676" y="779355"/>
                    <a:pt x="0" y="600075"/>
                  </a:cubicBezTo>
                  <a:lnTo>
                    <a:pt x="235267" y="276225"/>
                  </a:lnTo>
                  <a:cubicBezTo>
                    <a:pt x="378355" y="380362"/>
                    <a:pt x="562671" y="409646"/>
                    <a:pt x="730988" y="354986"/>
                  </a:cubicBezTo>
                  <a:cubicBezTo>
                    <a:pt x="899305" y="300325"/>
                    <a:pt x="1031248" y="168336"/>
                    <a:pt x="1085850" y="0"/>
                  </a:cubicBezTo>
                  <a:close/>
                </a:path>
              </a:pathLst>
            </a:custGeom>
            <a:solidFill>
              <a:srgbClr val="E84E2F"/>
            </a:solidFill>
            <a:ln>
              <a:noFill/>
            </a:ln>
          </p:spPr>
        </p:sp>
        <p:sp>
          <p:nvSpPr>
            <p:cNvPr id="54" name="Freeform 54"/>
            <p:cNvSpPr/>
            <p:nvPr/>
          </p:nvSpPr>
          <p:spPr>
            <a:xfrm>
              <a:off x="5077472" y="1687830"/>
              <a:ext cx="655626" cy="1330642"/>
            </a:xfrm>
            <a:custGeom>
              <a:avLst/>
              <a:gdLst/>
              <a:ahLst/>
              <a:cxnLst/>
              <a:rect l="l" t="t" r="r" b="b"/>
              <a:pathLst>
                <a:path w="655626" h="1330642">
                  <a:moveTo>
                    <a:pt x="420358" y="1330642"/>
                  </a:moveTo>
                  <a:cubicBezTo>
                    <a:pt x="215966" y="1182121"/>
                    <a:pt x="78956" y="958477"/>
                    <a:pt x="39478" y="708925"/>
                  </a:cubicBezTo>
                  <a:cubicBezTo>
                    <a:pt x="0" y="459372"/>
                    <a:pt x="61288" y="204359"/>
                    <a:pt x="209856" y="0"/>
                  </a:cubicBezTo>
                  <a:lnTo>
                    <a:pt x="533706" y="235268"/>
                  </a:lnTo>
                  <a:cubicBezTo>
                    <a:pt x="354398" y="482004"/>
                    <a:pt x="408974" y="827369"/>
                    <a:pt x="655626" y="1006792"/>
                  </a:cubicBezTo>
                  <a:close/>
                </a:path>
              </a:pathLst>
            </a:custGeom>
            <a:solidFill>
              <a:srgbClr val="EE927F"/>
            </a:solidFill>
            <a:ln>
              <a:noFill/>
            </a:ln>
          </p:spPr>
        </p:sp>
        <p:sp>
          <p:nvSpPr>
            <p:cNvPr id="55" name="Freeform 55"/>
            <p:cNvSpPr/>
            <p:nvPr/>
          </p:nvSpPr>
          <p:spPr>
            <a:xfrm>
              <a:off x="5287328" y="1295358"/>
              <a:ext cx="770572" cy="627740"/>
            </a:xfrm>
            <a:custGeom>
              <a:avLst/>
              <a:gdLst/>
              <a:ahLst/>
              <a:cxnLst/>
              <a:rect l="l" t="t" r="r" b="b"/>
              <a:pathLst>
                <a:path w="770572" h="627740">
                  <a:moveTo>
                    <a:pt x="0" y="392472"/>
                  </a:moveTo>
                  <a:cubicBezTo>
                    <a:pt x="179256" y="145885"/>
                    <a:pt x="465715" y="0"/>
                    <a:pt x="770572" y="42"/>
                  </a:cubicBezTo>
                  <a:lnTo>
                    <a:pt x="770572" y="400092"/>
                  </a:lnTo>
                  <a:cubicBezTo>
                    <a:pt x="593822" y="400144"/>
                    <a:pt x="427767" y="484765"/>
                    <a:pt x="323850" y="627740"/>
                  </a:cubicBezTo>
                  <a:close/>
                </a:path>
              </a:pathLst>
            </a:custGeom>
            <a:solidFill>
              <a:srgbClr val="F5CDC5"/>
            </a:solidFill>
            <a:ln>
              <a:noFill/>
            </a:ln>
          </p:spPr>
        </p:sp>
        <p:sp>
          <p:nvSpPr>
            <p:cNvPr id="56" name="TextBox 56"/>
            <p:cNvSpPr txBox="1"/>
            <p:nvPr/>
          </p:nvSpPr>
          <p:spPr>
            <a:xfrm>
              <a:off x="6493589" y="1734502"/>
              <a:ext cx="36687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30%​</a:t>
              </a:r>
            </a:p>
          </p:txBody>
        </p:sp>
        <p:sp>
          <p:nvSpPr>
            <p:cNvPr id="57" name="TextBox 57"/>
            <p:cNvSpPr txBox="1"/>
            <p:nvPr/>
          </p:nvSpPr>
          <p:spPr>
            <a:xfrm>
              <a:off x="6112589" y="2906078"/>
              <a:ext cx="36687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30%​</a:t>
              </a:r>
            </a:p>
          </p:txBody>
        </p:sp>
        <p:sp>
          <p:nvSpPr>
            <p:cNvPr id="58" name="TextBox 58"/>
            <p:cNvSpPr txBox="1"/>
            <p:nvPr/>
          </p:nvSpPr>
          <p:spPr>
            <a:xfrm>
              <a:off x="5121989" y="2296478"/>
              <a:ext cx="36687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25%​</a:t>
              </a:r>
            </a:p>
          </p:txBody>
        </p:sp>
        <p:sp>
          <p:nvSpPr>
            <p:cNvPr id="59" name="TextBox 59"/>
            <p:cNvSpPr txBox="1"/>
            <p:nvPr/>
          </p:nvSpPr>
          <p:spPr>
            <a:xfrm>
              <a:off x="5531564" y="1505902"/>
              <a:ext cx="366873"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15%​</a:t>
              </a:r>
            </a:p>
          </p:txBody>
        </p:sp>
        <p:sp>
          <p:nvSpPr>
            <p:cNvPr id="60" name="TextBox 60"/>
            <p:cNvSpPr txBox="1"/>
            <p:nvPr/>
          </p:nvSpPr>
          <p:spPr>
            <a:xfrm>
              <a:off x="5804027" y="2104549"/>
              <a:ext cx="507746" cy="362141"/>
            </a:xfrm>
            <a:prstGeom prst="rect">
              <a:avLst/>
            </a:prstGeom>
            <a:noFill/>
            <a:ln>
              <a:noFill/>
            </a:ln>
          </p:spPr>
          <p:txBody>
            <a:bodyPr wrap="none" lIns="0" tIns="0" rIns="0" bIns="0" anchor="t" anchorCtr="0">
              <a:spAutoFit/>
            </a:bodyPr>
            <a:lstStyle/>
            <a:p>
              <a:pPr algn="ctr">
                <a:lnSpc>
                  <a:spcPts val="1350"/>
                </a:lnSpc>
              </a:pPr>
              <a:r>
                <a:rPr lang="zh-CN" sz="980" b="1" dirty="0">
                  <a:solidFill>
                    <a:srgbClr val="520E00"/>
                  </a:solidFill>
                  <a:latin typeface="+mn-lt"/>
                  <a:ea typeface="+mn-ea"/>
                  <a:cs typeface="+mn-cs"/>
                </a:rPr>
                <a:t>价值驱动</a:t>
              </a:r>
              <a:br/>
              <a:r>
                <a:rPr lang="zh-CN" sz="980" b="1" dirty="0">
                  <a:solidFill>
                    <a:srgbClr val="520E00"/>
                  </a:solidFill>
                  <a:latin typeface="+mn-lt"/>
                  <a:ea typeface="+mn-ea"/>
                  <a:cs typeface="+mn-cs"/>
                </a:rPr>
                <a:t>能力赋能</a:t>
              </a:r>
            </a:p>
          </p:txBody>
        </p:sp>
        <p:grpSp>
          <p:nvGrpSpPr>
            <p:cNvPr id="69" name="donut-legend"/>
            <p:cNvGrpSpPr/>
            <p:nvPr/>
          </p:nvGrpSpPr>
          <p:grpSpPr>
            <a:xfrm>
              <a:off x="4876800" y="3581400"/>
              <a:ext cx="1529144" cy="723900"/>
              <a:chOff x="4876800" y="3581400"/>
              <a:chExt cx="1529144" cy="723900"/>
            </a:xfrm>
          </p:grpSpPr>
          <p:sp>
            <p:nvSpPr>
              <p:cNvPr id="61" name="Rectangle 61"/>
              <p:cNvSpPr/>
              <p:nvPr/>
            </p:nvSpPr>
            <p:spPr>
              <a:xfrm>
                <a:off x="4876800" y="3581400"/>
                <a:ext cx="95250" cy="95250"/>
              </a:xfrm>
              <a:prstGeom prst="rect">
                <a:avLst/>
              </a:prstGeom>
              <a:solidFill>
                <a:srgbClr val="671200"/>
              </a:solidFill>
              <a:ln>
                <a:noFill/>
              </a:ln>
            </p:spPr>
          </p:sp>
          <p:sp>
            <p:nvSpPr>
              <p:cNvPr id="62" name="TextBox 62"/>
              <p:cNvSpPr txBox="1"/>
              <p:nvPr/>
            </p:nvSpPr>
            <p:spPr>
              <a:xfrm>
                <a:off x="5043488" y="3586162"/>
                <a:ext cx="1362456" cy="147638"/>
              </a:xfrm>
              <a:prstGeom prst="rect">
                <a:avLst/>
              </a:prstGeom>
              <a:noFill/>
              <a:ln>
                <a:noFill/>
              </a:ln>
            </p:spPr>
            <p:txBody>
              <a:bodyPr wrap="none" lIns="0" tIns="0" rIns="0" bIns="0" anchor="t" anchorCtr="0">
                <a:spAutoFit/>
              </a:bodyPr>
              <a:lstStyle/>
              <a:p>
                <a:pPr algn="l"/>
                <a:r>
                  <a:rPr lang="zh-CN" sz="750" dirty="0">
                    <a:solidFill>
                      <a:srgbClr val="60403A"/>
                    </a:solidFill>
                    <a:latin typeface="+mn-lt"/>
                    <a:ea typeface="+mn-ea"/>
                    <a:cs typeface="+mn-cs"/>
                  </a:rPr>
                  <a:t>金融知识与风险提示（30%）​</a:t>
                </a:r>
              </a:p>
            </p:txBody>
          </p:sp>
          <p:sp>
            <p:nvSpPr>
              <p:cNvPr id="63" name="Rectangle 63"/>
              <p:cNvSpPr/>
              <p:nvPr/>
            </p:nvSpPr>
            <p:spPr>
              <a:xfrm>
                <a:off x="4876800" y="3771900"/>
                <a:ext cx="95250" cy="95250"/>
              </a:xfrm>
              <a:prstGeom prst="rect">
                <a:avLst/>
              </a:prstGeom>
              <a:solidFill>
                <a:srgbClr val="E84E2F"/>
              </a:solidFill>
              <a:ln>
                <a:noFill/>
              </a:ln>
            </p:spPr>
          </p:sp>
          <p:sp>
            <p:nvSpPr>
              <p:cNvPr id="64" name="TextBox 64"/>
              <p:cNvSpPr txBox="1"/>
              <p:nvPr/>
            </p:nvSpPr>
            <p:spPr>
              <a:xfrm>
                <a:off x="5043488" y="3776662"/>
                <a:ext cx="1160526" cy="147638"/>
              </a:xfrm>
              <a:prstGeom prst="rect">
                <a:avLst/>
              </a:prstGeom>
              <a:noFill/>
              <a:ln>
                <a:noFill/>
              </a:ln>
            </p:spPr>
            <p:txBody>
              <a:bodyPr wrap="none" lIns="0" tIns="0" rIns="0" bIns="0" anchor="t" anchorCtr="0">
                <a:spAutoFit/>
              </a:bodyPr>
              <a:lstStyle/>
              <a:p>
                <a:pPr algn="l"/>
                <a:r>
                  <a:rPr lang="zh-CN" sz="750" dirty="0">
                    <a:solidFill>
                      <a:srgbClr val="60403A"/>
                    </a:solidFill>
                    <a:latin typeface="+mn-lt"/>
                    <a:ea typeface="+mn-ea"/>
                    <a:cs typeface="+mn-cs"/>
                  </a:rPr>
                  <a:t>免费工具与服务（30%）​</a:t>
                </a:r>
              </a:p>
            </p:txBody>
          </p:sp>
          <p:sp>
            <p:nvSpPr>
              <p:cNvPr id="65" name="Rectangle 65"/>
              <p:cNvSpPr/>
              <p:nvPr/>
            </p:nvSpPr>
            <p:spPr>
              <a:xfrm>
                <a:off x="4876800" y="3962400"/>
                <a:ext cx="95250" cy="95250"/>
              </a:xfrm>
              <a:prstGeom prst="rect">
                <a:avLst/>
              </a:prstGeom>
              <a:solidFill>
                <a:srgbClr val="EE927F"/>
              </a:solidFill>
              <a:ln>
                <a:noFill/>
              </a:ln>
            </p:spPr>
          </p:sp>
          <p:sp>
            <p:nvSpPr>
              <p:cNvPr id="66" name="TextBox 66"/>
              <p:cNvSpPr txBox="1"/>
              <p:nvPr/>
            </p:nvSpPr>
            <p:spPr>
              <a:xfrm>
                <a:off x="5043488" y="3967162"/>
                <a:ext cx="1362456" cy="147638"/>
              </a:xfrm>
              <a:prstGeom prst="rect">
                <a:avLst/>
              </a:prstGeom>
              <a:noFill/>
              <a:ln>
                <a:noFill/>
              </a:ln>
            </p:spPr>
            <p:txBody>
              <a:bodyPr wrap="none" lIns="0" tIns="0" rIns="0" bIns="0" anchor="t" anchorCtr="0">
                <a:spAutoFit/>
              </a:bodyPr>
              <a:lstStyle/>
              <a:p>
                <a:pPr algn="l"/>
                <a:r>
                  <a:rPr lang="zh-CN" sz="750" dirty="0">
                    <a:solidFill>
                      <a:srgbClr val="60403A"/>
                    </a:solidFill>
                    <a:latin typeface="+mn-lt"/>
                    <a:ea typeface="+mn-ea"/>
                    <a:cs typeface="+mn-cs"/>
                  </a:rPr>
                  <a:t>场景权益与商户活动（25%）​</a:t>
                </a:r>
              </a:p>
            </p:txBody>
          </p:sp>
          <p:sp>
            <p:nvSpPr>
              <p:cNvPr id="67" name="Rectangle 67"/>
              <p:cNvSpPr/>
              <p:nvPr/>
            </p:nvSpPr>
            <p:spPr>
              <a:xfrm>
                <a:off x="4876800" y="4152900"/>
                <a:ext cx="95250" cy="95250"/>
              </a:xfrm>
              <a:prstGeom prst="rect">
                <a:avLst/>
              </a:prstGeom>
              <a:solidFill>
                <a:srgbClr val="F5CDC5"/>
              </a:solidFill>
              <a:ln>
                <a:noFill/>
              </a:ln>
            </p:spPr>
          </p:sp>
          <p:sp>
            <p:nvSpPr>
              <p:cNvPr id="68" name="TextBox 68"/>
              <p:cNvSpPr txBox="1"/>
              <p:nvPr/>
            </p:nvSpPr>
            <p:spPr>
              <a:xfrm>
                <a:off x="5043488" y="4157662"/>
                <a:ext cx="1160526" cy="147638"/>
              </a:xfrm>
              <a:prstGeom prst="rect">
                <a:avLst/>
              </a:prstGeom>
              <a:noFill/>
              <a:ln>
                <a:noFill/>
              </a:ln>
            </p:spPr>
            <p:txBody>
              <a:bodyPr wrap="none" lIns="0" tIns="0" rIns="0" bIns="0" anchor="t" anchorCtr="0">
                <a:spAutoFit/>
              </a:bodyPr>
              <a:lstStyle/>
              <a:p>
                <a:pPr algn="l"/>
                <a:r>
                  <a:rPr lang="zh-CN" sz="750" dirty="0">
                    <a:solidFill>
                      <a:srgbClr val="60403A"/>
                    </a:solidFill>
                    <a:latin typeface="+mn-lt"/>
                    <a:ea typeface="+mn-ea"/>
                    <a:cs typeface="+mn-cs"/>
                  </a:rPr>
                  <a:t>产品与业务营销（15%）​</a:t>
                </a:r>
              </a:p>
            </p:txBody>
          </p:sp>
        </p:grpSp>
      </p:grpSp>
      <p:grpSp>
        <p:nvGrpSpPr>
          <p:cNvPr id="115" name="service-system"/>
          <p:cNvGrpSpPr/>
          <p:nvPr/>
        </p:nvGrpSpPr>
        <p:grpSpPr>
          <a:xfrm>
            <a:off x="7639050" y="762000"/>
            <a:ext cx="4324350" cy="3714750"/>
            <a:chOff x="7639050" y="762000"/>
            <a:chExt cx="4324350" cy="3714750"/>
          </a:xfrm>
        </p:grpSpPr>
        <p:sp>
          <p:nvSpPr>
            <p:cNvPr id="71" name="Rectangle 71"/>
            <p:cNvSpPr/>
            <p:nvPr/>
          </p:nvSpPr>
          <p:spPr>
            <a:xfrm>
              <a:off x="7639050" y="762000"/>
              <a:ext cx="4324350" cy="3714750"/>
            </a:xfrm>
            <a:prstGeom prst="roundRect">
              <a:avLst>
                <a:gd name="adj" fmla="val 2051"/>
              </a:avLst>
            </a:prstGeom>
            <a:solidFill>
              <a:srgbClr val="FFFFFF"/>
            </a:solidFill>
            <a:ln w="9525">
              <a:solidFill>
                <a:srgbClr val="C9D5EA"/>
              </a:solidFill>
            </a:ln>
          </p:spPr>
        </p:sp>
        <p:sp>
          <p:nvSpPr>
            <p:cNvPr id="72" name="Rectangle 72"/>
            <p:cNvSpPr/>
            <p:nvPr/>
          </p:nvSpPr>
          <p:spPr>
            <a:xfrm>
              <a:off x="7639050" y="762000"/>
              <a:ext cx="4324350" cy="285750"/>
            </a:xfrm>
            <a:prstGeom prst="roundRect">
              <a:avLst>
                <a:gd name="adj" fmla="val 26667"/>
              </a:avLst>
            </a:prstGeom>
            <a:solidFill>
              <a:srgbClr val="520E00"/>
            </a:solidFill>
            <a:ln>
              <a:noFill/>
            </a:ln>
          </p:spPr>
        </p:sp>
        <p:sp>
          <p:nvSpPr>
            <p:cNvPr id="73" name="Rectangle 73"/>
            <p:cNvSpPr/>
            <p:nvPr/>
          </p:nvSpPr>
          <p:spPr>
            <a:xfrm>
              <a:off x="7639050" y="933450"/>
              <a:ext cx="4324350" cy="114300"/>
            </a:xfrm>
            <a:prstGeom prst="rect">
              <a:avLst/>
            </a:prstGeom>
            <a:solidFill>
              <a:srgbClr val="520E00"/>
            </a:solidFill>
            <a:ln>
              <a:noFill/>
            </a:ln>
          </p:spPr>
        </p:sp>
        <p:sp>
          <p:nvSpPr>
            <p:cNvPr id="74" name="TextBox 74"/>
            <p:cNvSpPr txBox="1"/>
            <p:nvPr/>
          </p:nvSpPr>
          <p:spPr>
            <a:xfrm>
              <a:off x="8597879" y="852726"/>
              <a:ext cx="2406691"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服务体系：信息—工具—顾问 三层赋能​​</a:t>
              </a:r>
            </a:p>
          </p:txBody>
        </p:sp>
        <p:grpSp>
          <p:nvGrpSpPr>
            <p:cNvPr id="87" name="svc-1"/>
            <p:cNvGrpSpPr/>
            <p:nvPr/>
          </p:nvGrpSpPr>
          <p:grpSpPr>
            <a:xfrm>
              <a:off x="7772400" y="1143000"/>
              <a:ext cx="4057650" cy="895350"/>
              <a:chOff x="7772400" y="1143000"/>
              <a:chExt cx="4057650" cy="895350"/>
            </a:xfrm>
          </p:grpSpPr>
          <p:sp>
            <p:nvSpPr>
              <p:cNvPr id="75" name="Rectangle 75"/>
              <p:cNvSpPr/>
              <p:nvPr/>
            </p:nvSpPr>
            <p:spPr>
              <a:xfrm>
                <a:off x="7772400" y="1143000"/>
                <a:ext cx="4057650" cy="895350"/>
              </a:xfrm>
              <a:prstGeom prst="roundRect">
                <a:avLst>
                  <a:gd name="adj" fmla="val 6383"/>
                </a:avLst>
              </a:prstGeom>
              <a:solidFill>
                <a:srgbClr val="F5F8FE"/>
              </a:solidFill>
              <a:ln w="9525">
                <a:solidFill>
                  <a:srgbClr val="C9D5EA"/>
                </a:solidFill>
              </a:ln>
            </p:spPr>
          </p:sp>
          <p:sp>
            <p:nvSpPr>
              <p:cNvPr id="76" name="Rectangle 76"/>
              <p:cNvSpPr/>
              <p:nvPr/>
            </p:nvSpPr>
            <p:spPr>
              <a:xfrm>
                <a:off x="7772400" y="1143000"/>
                <a:ext cx="685800" cy="895350"/>
              </a:xfrm>
              <a:prstGeom prst="roundRect">
                <a:avLst>
                  <a:gd name="adj" fmla="val 8333"/>
                </a:avLst>
              </a:prstGeom>
              <a:solidFill>
                <a:srgbClr val="8A1700"/>
              </a:solidFill>
              <a:ln>
                <a:noFill/>
              </a:ln>
            </p:spPr>
          </p:sp>
          <p:sp>
            <p:nvSpPr>
              <p:cNvPr id="77" name="TextBox 77"/>
              <p:cNvSpPr txBox="1"/>
              <p:nvPr/>
            </p:nvSpPr>
            <p:spPr>
              <a:xfrm>
                <a:off x="7914504" y="1364932"/>
                <a:ext cx="401592"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01​</a:t>
                </a:r>
              </a:p>
            </p:txBody>
          </p:sp>
          <p:sp>
            <p:nvSpPr>
              <p:cNvPr id="78" name="TextBox 78"/>
              <p:cNvSpPr txBox="1"/>
              <p:nvPr/>
            </p:nvSpPr>
            <p:spPr>
              <a:xfrm>
                <a:off x="7889761" y="1682591"/>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信息服务</a:t>
                </a:r>
              </a:p>
            </p:txBody>
          </p:sp>
          <p:grpSp>
            <p:nvGrpSpPr>
              <p:cNvPr id="84" name="Group 84"/>
              <p:cNvGrpSpPr/>
              <p:nvPr/>
            </p:nvGrpSpPr>
            <p:grpSpPr>
              <a:xfrm>
                <a:off x="8693944" y="1440656"/>
                <a:ext cx="233362" cy="300038"/>
                <a:chOff x="8693944" y="1440656"/>
                <a:chExt cx="233362" cy="300038"/>
              </a:xfrm>
            </p:grpSpPr>
            <p:sp>
              <p:nvSpPr>
                <p:cNvPr id="79" name="Freeform 79"/>
                <p:cNvSpPr/>
                <p:nvPr/>
              </p:nvSpPr>
              <p:spPr>
                <a:xfrm>
                  <a:off x="8843962" y="1440656"/>
                  <a:ext cx="83344" cy="83344"/>
                </a:xfrm>
                <a:custGeom>
                  <a:avLst/>
                  <a:gdLst/>
                  <a:ahLst/>
                  <a:cxnLst/>
                  <a:rect l="l" t="t" r="r" b="b"/>
                  <a:pathLst>
                    <a:path w="83344" h="83344">
                      <a:moveTo>
                        <a:pt x="0" y="0"/>
                      </a:moveTo>
                      <a:lnTo>
                        <a:pt x="0" y="66675"/>
                      </a:lnTo>
                      <a:cubicBezTo>
                        <a:pt x="0" y="75881"/>
                        <a:pt x="7463" y="83344"/>
                        <a:pt x="16669" y="83344"/>
                      </a:cubicBezTo>
                      <a:lnTo>
                        <a:pt x="83344" y="83344"/>
                      </a:lnTo>
                    </a:path>
                  </a:pathLst>
                </a:custGeom>
                <a:noFill/>
                <a:ln w="25003">
                  <a:solidFill>
                    <a:srgbClr val="8A1700"/>
                  </a:solidFill>
                </a:ln>
              </p:spPr>
            </p:sp>
            <p:sp>
              <p:nvSpPr>
                <p:cNvPr id="80" name="Freeform 80"/>
                <p:cNvSpPr/>
                <p:nvPr/>
              </p:nvSpPr>
              <p:spPr>
                <a:xfrm>
                  <a:off x="8693944" y="1440656"/>
                  <a:ext cx="233362" cy="300038"/>
                </a:xfrm>
                <a:custGeom>
                  <a:avLst/>
                  <a:gdLst/>
                  <a:ahLst/>
                  <a:cxnLst/>
                  <a:rect l="l" t="t" r="r" b="b"/>
                  <a:pathLst>
                    <a:path w="233362" h="300038">
                      <a:moveTo>
                        <a:pt x="200025" y="300038"/>
                      </a:moveTo>
                      <a:lnTo>
                        <a:pt x="33338" y="300038"/>
                      </a:lnTo>
                      <a:cubicBezTo>
                        <a:pt x="14926" y="300038"/>
                        <a:pt x="0" y="285112"/>
                        <a:pt x="0" y="266700"/>
                      </a:cubicBezTo>
                      <a:lnTo>
                        <a:pt x="0" y="33338"/>
                      </a:lnTo>
                      <a:cubicBezTo>
                        <a:pt x="0" y="14926"/>
                        <a:pt x="14926" y="0"/>
                        <a:pt x="33338" y="0"/>
                      </a:cubicBezTo>
                      <a:lnTo>
                        <a:pt x="150019" y="0"/>
                      </a:lnTo>
                      <a:lnTo>
                        <a:pt x="233362" y="83344"/>
                      </a:lnTo>
                      <a:lnTo>
                        <a:pt x="233362" y="266700"/>
                      </a:lnTo>
                      <a:cubicBezTo>
                        <a:pt x="233362" y="285112"/>
                        <a:pt x="218437" y="300038"/>
                        <a:pt x="200025" y="300038"/>
                      </a:cubicBezTo>
                    </a:path>
                  </a:pathLst>
                </a:custGeom>
                <a:noFill/>
                <a:ln w="25003">
                  <a:solidFill>
                    <a:srgbClr val="8A1700"/>
                  </a:solidFill>
                </a:ln>
              </p:spPr>
            </p:sp>
            <p:sp>
              <p:nvSpPr>
                <p:cNvPr id="81" name="Freeform 81"/>
                <p:cNvSpPr/>
                <p:nvPr/>
              </p:nvSpPr>
              <p:spPr>
                <a:xfrm>
                  <a:off x="8760619" y="1540669"/>
                  <a:ext cx="16669" cy="9525"/>
                </a:xfrm>
                <a:custGeom>
                  <a:avLst/>
                  <a:gdLst/>
                  <a:ahLst/>
                  <a:cxnLst/>
                  <a:rect l="l" t="t" r="r" b="b"/>
                  <a:pathLst>
                    <a:path w="16669" h="9525">
                      <a:moveTo>
                        <a:pt x="0" y="0"/>
                      </a:moveTo>
                      <a:lnTo>
                        <a:pt x="16669" y="0"/>
                      </a:lnTo>
                    </a:path>
                  </a:pathLst>
                </a:custGeom>
                <a:noFill/>
                <a:ln w="25003">
                  <a:solidFill>
                    <a:srgbClr val="8A1700"/>
                  </a:solidFill>
                </a:ln>
              </p:spPr>
            </p:sp>
            <p:sp>
              <p:nvSpPr>
                <p:cNvPr id="82" name="Freeform 82"/>
                <p:cNvSpPr/>
                <p:nvPr/>
              </p:nvSpPr>
              <p:spPr>
                <a:xfrm>
                  <a:off x="8760619" y="1607344"/>
                  <a:ext cx="100012" cy="9525"/>
                </a:xfrm>
                <a:custGeom>
                  <a:avLst/>
                  <a:gdLst/>
                  <a:ahLst/>
                  <a:cxnLst/>
                  <a:rect l="l" t="t" r="r" b="b"/>
                  <a:pathLst>
                    <a:path w="100012" h="9525">
                      <a:moveTo>
                        <a:pt x="0" y="0"/>
                      </a:moveTo>
                      <a:lnTo>
                        <a:pt x="100012" y="0"/>
                      </a:lnTo>
                    </a:path>
                  </a:pathLst>
                </a:custGeom>
                <a:noFill/>
                <a:ln w="25003">
                  <a:solidFill>
                    <a:srgbClr val="8A1700"/>
                  </a:solidFill>
                </a:ln>
              </p:spPr>
            </p:sp>
            <p:sp>
              <p:nvSpPr>
                <p:cNvPr id="83" name="Freeform 83"/>
                <p:cNvSpPr/>
                <p:nvPr/>
              </p:nvSpPr>
              <p:spPr>
                <a:xfrm>
                  <a:off x="8760619" y="1674019"/>
                  <a:ext cx="100012" cy="9525"/>
                </a:xfrm>
                <a:custGeom>
                  <a:avLst/>
                  <a:gdLst/>
                  <a:ahLst/>
                  <a:cxnLst/>
                  <a:rect l="l" t="t" r="r" b="b"/>
                  <a:pathLst>
                    <a:path w="100012" h="9525">
                      <a:moveTo>
                        <a:pt x="0" y="0"/>
                      </a:moveTo>
                      <a:lnTo>
                        <a:pt x="100012" y="0"/>
                      </a:lnTo>
                    </a:path>
                  </a:pathLst>
                </a:custGeom>
                <a:noFill/>
                <a:ln w="25003">
                  <a:solidFill>
                    <a:srgbClr val="8A1700"/>
                  </a:solidFill>
                </a:ln>
              </p:spPr>
            </p:sp>
          </p:grpSp>
          <p:sp>
            <p:nvSpPr>
              <p:cNvPr id="85" name="TextBox 85"/>
              <p:cNvSpPr txBox="1"/>
              <p:nvPr/>
            </p:nvSpPr>
            <p:spPr>
              <a:xfrm>
                <a:off x="9196006" y="1395651"/>
                <a:ext cx="690118"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信息服务：</a:t>
                </a:r>
              </a:p>
            </p:txBody>
          </p:sp>
          <p:sp>
            <p:nvSpPr>
              <p:cNvPr id="86" name="TextBox 86"/>
              <p:cNvSpPr txBox="1"/>
              <p:nvPr/>
            </p:nvSpPr>
            <p:spPr>
              <a:xfrm>
                <a:off x="9196388" y="1629489"/>
                <a:ext cx="1498422" cy="154781"/>
              </a:xfrm>
              <a:prstGeom prst="rect">
                <a:avLst/>
              </a:prstGeom>
              <a:noFill/>
              <a:ln>
                <a:noFill/>
              </a:ln>
            </p:spPr>
            <p:txBody>
              <a:bodyPr wrap="none" lIns="0" tIns="0" rIns="0" bIns="0" anchor="t" anchorCtr="0">
                <a:spAutoFit/>
              </a:bodyPr>
              <a:lstStyle/>
              <a:p>
                <a:pPr algn="l"/>
                <a:r>
                  <a:rPr lang="zh-CN" sz="790" dirty="0">
                    <a:solidFill>
                      <a:srgbClr val="60403A"/>
                    </a:solidFill>
                    <a:latin typeface="+mn-lt"/>
                    <a:ea typeface="+mn-ea"/>
                    <a:cs typeface="+mn-cs"/>
                  </a:rPr>
                  <a:t>信用管理、反诈提醒、政策解读</a:t>
                </a:r>
              </a:p>
            </p:txBody>
          </p:sp>
        </p:grpSp>
        <p:sp>
          <p:nvSpPr>
            <p:cNvPr id="88" name="Freeform 88"/>
            <p:cNvSpPr/>
            <p:nvPr/>
          </p:nvSpPr>
          <p:spPr>
            <a:xfrm>
              <a:off x="9715500" y="2076450"/>
              <a:ext cx="190500" cy="152400"/>
            </a:xfrm>
            <a:prstGeom prst="downArrow">
              <a:avLst/>
            </a:prstGeom>
            <a:solidFill>
              <a:srgbClr val="E84E2F"/>
            </a:solidFill>
            <a:ln>
              <a:noFill/>
            </a:ln>
          </p:spPr>
        </p:sp>
        <p:grpSp>
          <p:nvGrpSpPr>
            <p:cNvPr id="102" name="svc-2"/>
            <p:cNvGrpSpPr/>
            <p:nvPr/>
          </p:nvGrpSpPr>
          <p:grpSpPr>
            <a:xfrm>
              <a:off x="7772400" y="2266950"/>
              <a:ext cx="4057650" cy="895350"/>
              <a:chOff x="7772400" y="2266950"/>
              <a:chExt cx="4057650" cy="895350"/>
            </a:xfrm>
          </p:grpSpPr>
          <p:sp>
            <p:nvSpPr>
              <p:cNvPr id="89" name="Rectangle 89"/>
              <p:cNvSpPr/>
              <p:nvPr/>
            </p:nvSpPr>
            <p:spPr>
              <a:xfrm>
                <a:off x="7772400" y="2266950"/>
                <a:ext cx="4057650" cy="895350"/>
              </a:xfrm>
              <a:prstGeom prst="roundRect">
                <a:avLst>
                  <a:gd name="adj" fmla="val 6383"/>
                </a:avLst>
              </a:prstGeom>
              <a:solidFill>
                <a:srgbClr val="F5F8FE"/>
              </a:solidFill>
              <a:ln w="9525">
                <a:solidFill>
                  <a:srgbClr val="C9D5EA"/>
                </a:solidFill>
              </a:ln>
            </p:spPr>
          </p:sp>
          <p:sp>
            <p:nvSpPr>
              <p:cNvPr id="90" name="Rectangle 90"/>
              <p:cNvSpPr/>
              <p:nvPr/>
            </p:nvSpPr>
            <p:spPr>
              <a:xfrm>
                <a:off x="7772400" y="2266950"/>
                <a:ext cx="685800" cy="895350"/>
              </a:xfrm>
              <a:prstGeom prst="roundRect">
                <a:avLst>
                  <a:gd name="adj" fmla="val 8333"/>
                </a:avLst>
              </a:prstGeom>
              <a:solidFill>
                <a:srgbClr val="8A1700"/>
              </a:solidFill>
              <a:ln>
                <a:noFill/>
              </a:ln>
            </p:spPr>
          </p:sp>
          <p:sp>
            <p:nvSpPr>
              <p:cNvPr id="91" name="TextBox 91"/>
              <p:cNvSpPr txBox="1"/>
              <p:nvPr/>
            </p:nvSpPr>
            <p:spPr>
              <a:xfrm>
                <a:off x="7914504" y="2488882"/>
                <a:ext cx="401592"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02​</a:t>
                </a:r>
              </a:p>
            </p:txBody>
          </p:sp>
          <p:sp>
            <p:nvSpPr>
              <p:cNvPr id="92" name="TextBox 92"/>
              <p:cNvSpPr txBox="1"/>
              <p:nvPr/>
            </p:nvSpPr>
            <p:spPr>
              <a:xfrm>
                <a:off x="7889761" y="2806541"/>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工具服务</a:t>
                </a:r>
              </a:p>
            </p:txBody>
          </p:sp>
          <p:grpSp>
            <p:nvGrpSpPr>
              <p:cNvPr id="99" name="Group 99"/>
              <p:cNvGrpSpPr/>
              <p:nvPr/>
            </p:nvGrpSpPr>
            <p:grpSpPr>
              <a:xfrm>
                <a:off x="8660606" y="2562863"/>
                <a:ext cx="301781" cy="301781"/>
                <a:chOff x="8660606" y="2562863"/>
                <a:chExt cx="301781" cy="301781"/>
              </a:xfrm>
            </p:grpSpPr>
            <p:sp>
              <p:nvSpPr>
                <p:cNvPr id="93" name="Freeform 93"/>
                <p:cNvSpPr/>
                <p:nvPr/>
              </p:nvSpPr>
              <p:spPr>
                <a:xfrm>
                  <a:off x="8660606" y="2562863"/>
                  <a:ext cx="301781" cy="301781"/>
                </a:xfrm>
                <a:custGeom>
                  <a:avLst/>
                  <a:gdLst/>
                  <a:ahLst/>
                  <a:cxnLst/>
                  <a:rect l="l" t="t" r="r" b="b"/>
                  <a:pathLst>
                    <a:path w="301781" h="301781">
                      <a:moveTo>
                        <a:pt x="0" y="301781"/>
                      </a:moveTo>
                      <a:lnTo>
                        <a:pt x="66675" y="301781"/>
                      </a:lnTo>
                      <a:lnTo>
                        <a:pt x="283369" y="85087"/>
                      </a:lnTo>
                      <a:cubicBezTo>
                        <a:pt x="301781" y="66675"/>
                        <a:pt x="301781" y="36824"/>
                        <a:pt x="283369" y="18412"/>
                      </a:cubicBezTo>
                      <a:cubicBezTo>
                        <a:pt x="264957" y="0"/>
                        <a:pt x="235106" y="0"/>
                        <a:pt x="216694" y="18412"/>
                      </a:cubicBezTo>
                      <a:lnTo>
                        <a:pt x="0" y="235106"/>
                      </a:lnTo>
                      <a:lnTo>
                        <a:pt x="0" y="301781"/>
                      </a:lnTo>
                    </a:path>
                  </a:pathLst>
                </a:custGeom>
                <a:noFill/>
                <a:ln w="25003">
                  <a:solidFill>
                    <a:srgbClr val="8A1700"/>
                  </a:solidFill>
                </a:ln>
              </p:spPr>
            </p:sp>
            <p:sp>
              <p:nvSpPr>
                <p:cNvPr id="94" name="Freeform 94"/>
                <p:cNvSpPr/>
                <p:nvPr/>
              </p:nvSpPr>
              <p:spPr>
                <a:xfrm>
                  <a:off x="8852297" y="2606278"/>
                  <a:ext cx="66675" cy="66675"/>
                </a:xfrm>
                <a:custGeom>
                  <a:avLst/>
                  <a:gdLst/>
                  <a:ahLst/>
                  <a:cxnLst/>
                  <a:rect l="l" t="t" r="r" b="b"/>
                  <a:pathLst>
                    <a:path w="66675" h="66675">
                      <a:moveTo>
                        <a:pt x="0" y="0"/>
                      </a:moveTo>
                      <a:lnTo>
                        <a:pt x="66675" y="66675"/>
                      </a:lnTo>
                    </a:path>
                  </a:pathLst>
                </a:custGeom>
                <a:noFill/>
                <a:ln w="25003">
                  <a:solidFill>
                    <a:srgbClr val="8A1700"/>
                  </a:solidFill>
                </a:ln>
              </p:spPr>
            </p:sp>
            <p:sp>
              <p:nvSpPr>
                <p:cNvPr id="95" name="Freeform 95"/>
                <p:cNvSpPr/>
                <p:nvPr/>
              </p:nvSpPr>
              <p:spPr>
                <a:xfrm>
                  <a:off x="8660606" y="2564606"/>
                  <a:ext cx="150019" cy="150019"/>
                </a:xfrm>
                <a:custGeom>
                  <a:avLst/>
                  <a:gdLst/>
                  <a:ahLst/>
                  <a:cxnLst/>
                  <a:rect l="l" t="t" r="r" b="b"/>
                  <a:pathLst>
                    <a:path w="150019" h="150019">
                      <a:moveTo>
                        <a:pt x="150019" y="83344"/>
                      </a:moveTo>
                      <a:lnTo>
                        <a:pt x="66675" y="0"/>
                      </a:lnTo>
                      <a:lnTo>
                        <a:pt x="0" y="66675"/>
                      </a:lnTo>
                      <a:lnTo>
                        <a:pt x="83344" y="150019"/>
                      </a:lnTo>
                    </a:path>
                  </a:pathLst>
                </a:custGeom>
                <a:noFill/>
                <a:ln w="25003">
                  <a:solidFill>
                    <a:srgbClr val="8A1700"/>
                  </a:solidFill>
                </a:ln>
              </p:spPr>
            </p:sp>
            <p:sp>
              <p:nvSpPr>
                <p:cNvPr id="96" name="Freeform 96"/>
                <p:cNvSpPr/>
                <p:nvPr/>
              </p:nvSpPr>
              <p:spPr>
                <a:xfrm>
                  <a:off x="8702278" y="2647950"/>
                  <a:ext cx="25003" cy="25003"/>
                </a:xfrm>
                <a:custGeom>
                  <a:avLst/>
                  <a:gdLst/>
                  <a:ahLst/>
                  <a:cxnLst/>
                  <a:rect l="l" t="t" r="r" b="b"/>
                  <a:pathLst>
                    <a:path w="25003" h="25003">
                      <a:moveTo>
                        <a:pt x="25003" y="0"/>
                      </a:moveTo>
                      <a:lnTo>
                        <a:pt x="0" y="25003"/>
                      </a:lnTo>
                    </a:path>
                  </a:pathLst>
                </a:custGeom>
                <a:noFill/>
                <a:ln w="25003">
                  <a:solidFill>
                    <a:srgbClr val="8A1700"/>
                  </a:solidFill>
                </a:ln>
              </p:spPr>
            </p:sp>
            <p:sp>
              <p:nvSpPr>
                <p:cNvPr id="97" name="Freeform 97"/>
                <p:cNvSpPr/>
                <p:nvPr/>
              </p:nvSpPr>
              <p:spPr>
                <a:xfrm>
                  <a:off x="8810625" y="2714625"/>
                  <a:ext cx="150019" cy="150019"/>
                </a:xfrm>
                <a:custGeom>
                  <a:avLst/>
                  <a:gdLst/>
                  <a:ahLst/>
                  <a:cxnLst/>
                  <a:rect l="l" t="t" r="r" b="b"/>
                  <a:pathLst>
                    <a:path w="150019" h="150019">
                      <a:moveTo>
                        <a:pt x="66675" y="0"/>
                      </a:moveTo>
                      <a:lnTo>
                        <a:pt x="150019" y="83344"/>
                      </a:lnTo>
                      <a:lnTo>
                        <a:pt x="83344" y="150019"/>
                      </a:lnTo>
                      <a:lnTo>
                        <a:pt x="0" y="66675"/>
                      </a:lnTo>
                    </a:path>
                  </a:pathLst>
                </a:custGeom>
                <a:noFill/>
                <a:ln w="25003">
                  <a:solidFill>
                    <a:srgbClr val="8A1700"/>
                  </a:solidFill>
                </a:ln>
              </p:spPr>
            </p:sp>
            <p:sp>
              <p:nvSpPr>
                <p:cNvPr id="98" name="Freeform 98"/>
                <p:cNvSpPr/>
                <p:nvPr/>
              </p:nvSpPr>
              <p:spPr>
                <a:xfrm>
                  <a:off x="8852297" y="2797969"/>
                  <a:ext cx="25003" cy="25003"/>
                </a:xfrm>
                <a:custGeom>
                  <a:avLst/>
                  <a:gdLst/>
                  <a:ahLst/>
                  <a:cxnLst/>
                  <a:rect l="l" t="t" r="r" b="b"/>
                  <a:pathLst>
                    <a:path w="25003" h="25003">
                      <a:moveTo>
                        <a:pt x="25003" y="0"/>
                      </a:moveTo>
                      <a:lnTo>
                        <a:pt x="0" y="25003"/>
                      </a:lnTo>
                    </a:path>
                  </a:pathLst>
                </a:custGeom>
                <a:noFill/>
                <a:ln w="25003">
                  <a:solidFill>
                    <a:srgbClr val="8A1700"/>
                  </a:solidFill>
                </a:ln>
              </p:spPr>
            </p:sp>
          </p:grpSp>
          <p:sp>
            <p:nvSpPr>
              <p:cNvPr id="100" name="TextBox 100"/>
              <p:cNvSpPr txBox="1"/>
              <p:nvPr/>
            </p:nvSpPr>
            <p:spPr>
              <a:xfrm>
                <a:off x="9196006" y="2481501"/>
                <a:ext cx="690118"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工具服务：</a:t>
                </a:r>
              </a:p>
            </p:txBody>
          </p:sp>
          <p:sp>
            <p:nvSpPr>
              <p:cNvPr id="101" name="TextBox 101"/>
              <p:cNvSpPr txBox="1"/>
              <p:nvPr/>
            </p:nvSpPr>
            <p:spPr>
              <a:xfrm>
                <a:off x="9196388" y="2696289"/>
                <a:ext cx="101282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60403A"/>
                    </a:solidFill>
                    <a:latin typeface="+mn-lt"/>
                    <a:ea typeface="+mn-ea"/>
                    <a:cs typeface="+mn-cs"/>
                  </a:rPr>
                  <a:t>账单分析、收支管理、</a:t>
                </a:r>
                <a:br/>
                <a:r>
                  <a:rPr lang="zh-CN" sz="790" dirty="0">
                    <a:solidFill>
                      <a:srgbClr val="60403A"/>
                    </a:solidFill>
                    <a:latin typeface="+mn-lt"/>
                    <a:ea typeface="+mn-ea"/>
                    <a:cs typeface="+mn-cs"/>
                  </a:rPr>
                  <a:t>权益查询、还款日历</a:t>
                </a:r>
              </a:p>
            </p:txBody>
          </p:sp>
        </p:grpSp>
        <p:sp>
          <p:nvSpPr>
            <p:cNvPr id="103" name="Freeform 103"/>
            <p:cNvSpPr/>
            <p:nvPr/>
          </p:nvSpPr>
          <p:spPr>
            <a:xfrm>
              <a:off x="9715500" y="3200400"/>
              <a:ext cx="190500" cy="152400"/>
            </a:xfrm>
            <a:prstGeom prst="downArrow">
              <a:avLst/>
            </a:prstGeom>
            <a:solidFill>
              <a:srgbClr val="E84E2F"/>
            </a:solidFill>
            <a:ln>
              <a:noFill/>
            </a:ln>
          </p:spPr>
        </p:sp>
        <p:grpSp>
          <p:nvGrpSpPr>
            <p:cNvPr id="114" name="svc-3"/>
            <p:cNvGrpSpPr/>
            <p:nvPr/>
          </p:nvGrpSpPr>
          <p:grpSpPr>
            <a:xfrm>
              <a:off x="7772400" y="3390900"/>
              <a:ext cx="4057650" cy="895350"/>
              <a:chOff x="7772400" y="3390900"/>
              <a:chExt cx="4057650" cy="895350"/>
            </a:xfrm>
          </p:grpSpPr>
          <p:sp>
            <p:nvSpPr>
              <p:cNvPr id="104" name="Rectangle 104"/>
              <p:cNvSpPr/>
              <p:nvPr/>
            </p:nvSpPr>
            <p:spPr>
              <a:xfrm>
                <a:off x="7772400" y="3390900"/>
                <a:ext cx="4057650" cy="895350"/>
              </a:xfrm>
              <a:prstGeom prst="roundRect">
                <a:avLst>
                  <a:gd name="adj" fmla="val 6383"/>
                </a:avLst>
              </a:prstGeom>
              <a:solidFill>
                <a:srgbClr val="F5F8FE"/>
              </a:solidFill>
              <a:ln w="9525">
                <a:solidFill>
                  <a:srgbClr val="C9D5EA"/>
                </a:solidFill>
              </a:ln>
            </p:spPr>
          </p:sp>
          <p:sp>
            <p:nvSpPr>
              <p:cNvPr id="105" name="Rectangle 105"/>
              <p:cNvSpPr/>
              <p:nvPr/>
            </p:nvSpPr>
            <p:spPr>
              <a:xfrm>
                <a:off x="7772400" y="3390900"/>
                <a:ext cx="685800" cy="895350"/>
              </a:xfrm>
              <a:prstGeom prst="roundRect">
                <a:avLst>
                  <a:gd name="adj" fmla="val 8333"/>
                </a:avLst>
              </a:prstGeom>
              <a:solidFill>
                <a:srgbClr val="8A1700"/>
              </a:solidFill>
              <a:ln>
                <a:noFill/>
              </a:ln>
            </p:spPr>
          </p:sp>
          <p:sp>
            <p:nvSpPr>
              <p:cNvPr id="106" name="TextBox 106"/>
              <p:cNvSpPr txBox="1"/>
              <p:nvPr/>
            </p:nvSpPr>
            <p:spPr>
              <a:xfrm>
                <a:off x="7914504" y="3612832"/>
                <a:ext cx="401592"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03​</a:t>
                </a:r>
              </a:p>
            </p:txBody>
          </p:sp>
          <p:sp>
            <p:nvSpPr>
              <p:cNvPr id="107" name="TextBox 107"/>
              <p:cNvSpPr txBox="1"/>
              <p:nvPr/>
            </p:nvSpPr>
            <p:spPr>
              <a:xfrm>
                <a:off x="7889761" y="3930491"/>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顾问服务</a:t>
                </a:r>
              </a:p>
            </p:txBody>
          </p:sp>
          <p:grpSp>
            <p:nvGrpSpPr>
              <p:cNvPr id="111" name="Group 111"/>
              <p:cNvGrpSpPr/>
              <p:nvPr/>
            </p:nvGrpSpPr>
            <p:grpSpPr>
              <a:xfrm>
                <a:off x="8710612" y="3688556"/>
                <a:ext cx="250031" cy="300038"/>
                <a:chOff x="8710612" y="3688556"/>
                <a:chExt cx="250031" cy="300038"/>
              </a:xfrm>
            </p:grpSpPr>
            <p:sp>
              <p:nvSpPr>
                <p:cNvPr id="108" name="Freeform 108"/>
                <p:cNvSpPr/>
                <p:nvPr/>
              </p:nvSpPr>
              <p:spPr>
                <a:xfrm>
                  <a:off x="8743950" y="3688556"/>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25003">
                  <a:solidFill>
                    <a:srgbClr val="8A1700"/>
                  </a:solidFill>
                </a:ln>
              </p:spPr>
            </p:sp>
            <p:sp>
              <p:nvSpPr>
                <p:cNvPr id="109" name="Freeform 109"/>
                <p:cNvSpPr/>
                <p:nvPr/>
              </p:nvSpPr>
              <p:spPr>
                <a:xfrm>
                  <a:off x="8710612" y="3888581"/>
                  <a:ext cx="133350" cy="100012"/>
                </a:xfrm>
                <a:custGeom>
                  <a:avLst/>
                  <a:gdLst/>
                  <a:ahLst/>
                  <a:cxnLst/>
                  <a:rect l="l" t="t" r="r" b="b"/>
                  <a:pathLst>
                    <a:path w="133350" h="100012">
                      <a:moveTo>
                        <a:pt x="0" y="100012"/>
                      </a:moveTo>
                      <a:lnTo>
                        <a:pt x="0" y="66675"/>
                      </a:lnTo>
                      <a:cubicBezTo>
                        <a:pt x="0" y="29851"/>
                        <a:pt x="29851" y="0"/>
                        <a:pt x="66675" y="0"/>
                      </a:cubicBezTo>
                      <a:lnTo>
                        <a:pt x="133350" y="0"/>
                      </a:lnTo>
                    </a:path>
                  </a:pathLst>
                </a:custGeom>
                <a:noFill/>
                <a:ln w="25003">
                  <a:solidFill>
                    <a:srgbClr val="8A1700"/>
                  </a:solidFill>
                </a:ln>
              </p:spPr>
            </p:sp>
            <p:sp>
              <p:nvSpPr>
                <p:cNvPr id="110" name="Freeform 110"/>
                <p:cNvSpPr/>
                <p:nvPr/>
              </p:nvSpPr>
              <p:spPr>
                <a:xfrm>
                  <a:off x="8860631" y="3921919"/>
                  <a:ext cx="100012" cy="66675"/>
                </a:xfrm>
                <a:custGeom>
                  <a:avLst/>
                  <a:gdLst/>
                  <a:ahLst/>
                  <a:cxnLst/>
                  <a:rect l="l" t="t" r="r" b="b"/>
                  <a:pathLst>
                    <a:path w="100012" h="66675">
                      <a:moveTo>
                        <a:pt x="0" y="33338"/>
                      </a:moveTo>
                      <a:lnTo>
                        <a:pt x="33338" y="66675"/>
                      </a:lnTo>
                      <a:lnTo>
                        <a:pt x="100012" y="0"/>
                      </a:lnTo>
                    </a:path>
                  </a:pathLst>
                </a:custGeom>
                <a:noFill/>
                <a:ln w="25003">
                  <a:solidFill>
                    <a:srgbClr val="8A1700"/>
                  </a:solidFill>
                </a:ln>
              </p:spPr>
            </p:sp>
          </p:grpSp>
          <p:sp>
            <p:nvSpPr>
              <p:cNvPr id="112" name="TextBox 112"/>
              <p:cNvSpPr txBox="1"/>
              <p:nvPr/>
            </p:nvSpPr>
            <p:spPr>
              <a:xfrm>
                <a:off x="9196006" y="3605451"/>
                <a:ext cx="690118" cy="198025"/>
              </a:xfrm>
              <a:prstGeom prst="rect">
                <a:avLst/>
              </a:prstGeom>
              <a:noFill/>
              <a:ln>
                <a:noFill/>
              </a:ln>
            </p:spPr>
            <p:txBody>
              <a:bodyPr wrap="none" lIns="0" tIns="0" rIns="0" bIns="0" anchor="t" anchorCtr="0">
                <a:spAutoFit/>
              </a:bodyPr>
              <a:lstStyle/>
              <a:p>
                <a:pPr algn="l"/>
                <a:r>
                  <a:rPr lang="zh-CN" sz="1010" b="1" dirty="0">
                    <a:solidFill>
                      <a:srgbClr val="520E00"/>
                    </a:solidFill>
                    <a:latin typeface="+mn-lt"/>
                    <a:ea typeface="+mn-ea"/>
                    <a:cs typeface="+mn-cs"/>
                  </a:rPr>
                  <a:t>顾问服务：</a:t>
                </a:r>
              </a:p>
            </p:txBody>
          </p:sp>
          <p:sp>
            <p:nvSpPr>
              <p:cNvPr id="113" name="TextBox 113"/>
              <p:cNvSpPr txBox="1"/>
              <p:nvPr/>
            </p:nvSpPr>
            <p:spPr>
              <a:xfrm>
                <a:off x="9196388" y="3820239"/>
                <a:ext cx="141414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60403A"/>
                    </a:solidFill>
                    <a:latin typeface="+mn-lt"/>
                    <a:ea typeface="+mn-ea"/>
                    <a:cs typeface="+mn-cs"/>
                  </a:rPr>
                  <a:t>金融健康诊断、专属权益建议、</a:t>
                </a:r>
                <a:br/>
                <a:r>
                  <a:rPr lang="zh-CN" sz="790" dirty="0">
                    <a:solidFill>
                      <a:srgbClr val="60403A"/>
                    </a:solidFill>
                    <a:latin typeface="+mn-lt"/>
                    <a:ea typeface="+mn-ea"/>
                    <a:cs typeface="+mn-cs"/>
                  </a:rPr>
                  <a:t>需求咨询</a:t>
                </a:r>
              </a:p>
            </p:txBody>
          </p:sp>
        </p:grpSp>
      </p:grpSp>
      <p:grpSp>
        <p:nvGrpSpPr>
          <p:cNvPr id="212" name="content-calendar"/>
          <p:cNvGrpSpPr/>
          <p:nvPr/>
        </p:nvGrpSpPr>
        <p:grpSpPr>
          <a:xfrm>
            <a:off x="228600" y="4591050"/>
            <a:ext cx="11734800" cy="1962150"/>
            <a:chOff x="228600" y="4591050"/>
            <a:chExt cx="11734800" cy="1962150"/>
          </a:xfrm>
        </p:grpSpPr>
        <p:sp>
          <p:nvSpPr>
            <p:cNvPr id="116" name="Rectangle 116"/>
            <p:cNvSpPr/>
            <p:nvPr/>
          </p:nvSpPr>
          <p:spPr>
            <a:xfrm>
              <a:off x="228600" y="4591050"/>
              <a:ext cx="11734800" cy="1962150"/>
            </a:xfrm>
            <a:prstGeom prst="roundRect">
              <a:avLst>
                <a:gd name="adj" fmla="val 3883"/>
              </a:avLst>
            </a:prstGeom>
            <a:solidFill>
              <a:srgbClr val="FFFFFF"/>
            </a:solidFill>
            <a:ln w="9525">
              <a:solidFill>
                <a:srgbClr val="C9D5EA"/>
              </a:solidFill>
            </a:ln>
          </p:spPr>
        </p:sp>
        <p:sp>
          <p:nvSpPr>
            <p:cNvPr id="117" name="Rectangle 117"/>
            <p:cNvSpPr/>
            <p:nvPr/>
          </p:nvSpPr>
          <p:spPr>
            <a:xfrm>
              <a:off x="228600" y="4591050"/>
              <a:ext cx="11734800" cy="247650"/>
            </a:xfrm>
            <a:prstGeom prst="roundRect">
              <a:avLst>
                <a:gd name="adj" fmla="val 30769"/>
              </a:avLst>
            </a:prstGeom>
            <a:solidFill>
              <a:srgbClr val="520E00"/>
            </a:solidFill>
            <a:ln>
              <a:noFill/>
            </a:ln>
          </p:spPr>
        </p:sp>
        <p:sp>
          <p:nvSpPr>
            <p:cNvPr id="118" name="Rectangle 118"/>
            <p:cNvSpPr/>
            <p:nvPr/>
          </p:nvSpPr>
          <p:spPr>
            <a:xfrm>
              <a:off x="228600" y="4743450"/>
              <a:ext cx="11734800" cy="95250"/>
            </a:xfrm>
            <a:prstGeom prst="rect">
              <a:avLst/>
            </a:prstGeom>
            <a:solidFill>
              <a:srgbClr val="520E00"/>
            </a:solidFill>
            <a:ln>
              <a:noFill/>
            </a:ln>
          </p:spPr>
        </p:sp>
        <p:sp>
          <p:nvSpPr>
            <p:cNvPr id="119" name="TextBox 119"/>
            <p:cNvSpPr txBox="1"/>
            <p:nvPr/>
          </p:nvSpPr>
          <p:spPr>
            <a:xfrm>
              <a:off x="5431409" y="4657249"/>
              <a:ext cx="13291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月度内容日历（示例）</a:t>
              </a:r>
            </a:p>
          </p:txBody>
        </p:sp>
        <p:sp>
          <p:nvSpPr>
            <p:cNvPr id="120" name="Rectangle 120"/>
            <p:cNvSpPr/>
            <p:nvPr/>
          </p:nvSpPr>
          <p:spPr>
            <a:xfrm>
              <a:off x="228600" y="4838700"/>
              <a:ext cx="11734800" cy="209550"/>
            </a:xfrm>
            <a:prstGeom prst="rect">
              <a:avLst/>
            </a:prstGeom>
            <a:solidFill>
              <a:srgbClr val="EEF3FB"/>
            </a:solidFill>
            <a:ln>
              <a:noFill/>
            </a:ln>
          </p:spPr>
        </p:sp>
        <p:sp>
          <p:nvSpPr>
            <p:cNvPr id="121" name="TextBox 121"/>
            <p:cNvSpPr txBox="1"/>
            <p:nvPr/>
          </p:nvSpPr>
          <p:spPr>
            <a:xfrm>
              <a:off x="870877" y="4904661"/>
              <a:ext cx="391846"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内容类型</a:t>
              </a:r>
            </a:p>
          </p:txBody>
        </p:sp>
        <p:sp>
          <p:nvSpPr>
            <p:cNvPr id="122" name="TextBox 122"/>
            <p:cNvSpPr txBox="1"/>
            <p:nvPr/>
          </p:nvSpPr>
          <p:spPr>
            <a:xfrm>
              <a:off x="2216350" y="4904661"/>
              <a:ext cx="215500"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1月​</a:t>
              </a:r>
            </a:p>
          </p:txBody>
        </p:sp>
        <p:sp>
          <p:nvSpPr>
            <p:cNvPr id="123" name="TextBox 123"/>
            <p:cNvSpPr txBox="1"/>
            <p:nvPr/>
          </p:nvSpPr>
          <p:spPr>
            <a:xfrm>
              <a:off x="3054550" y="4904661"/>
              <a:ext cx="215500"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2月​</a:t>
              </a:r>
            </a:p>
          </p:txBody>
        </p:sp>
        <p:sp>
          <p:nvSpPr>
            <p:cNvPr id="124" name="TextBox 124"/>
            <p:cNvSpPr txBox="1"/>
            <p:nvPr/>
          </p:nvSpPr>
          <p:spPr>
            <a:xfrm>
              <a:off x="3892750" y="4904661"/>
              <a:ext cx="215500"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3月​</a:t>
              </a:r>
            </a:p>
          </p:txBody>
        </p:sp>
        <p:sp>
          <p:nvSpPr>
            <p:cNvPr id="125" name="TextBox 125"/>
            <p:cNvSpPr txBox="1"/>
            <p:nvPr/>
          </p:nvSpPr>
          <p:spPr>
            <a:xfrm>
              <a:off x="4730950" y="4904661"/>
              <a:ext cx="215500"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4月​</a:t>
              </a:r>
            </a:p>
          </p:txBody>
        </p:sp>
        <p:sp>
          <p:nvSpPr>
            <p:cNvPr id="126" name="TextBox 126"/>
            <p:cNvSpPr txBox="1"/>
            <p:nvPr/>
          </p:nvSpPr>
          <p:spPr>
            <a:xfrm>
              <a:off x="5569150" y="4904661"/>
              <a:ext cx="215500"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5月​</a:t>
              </a:r>
            </a:p>
          </p:txBody>
        </p:sp>
        <p:sp>
          <p:nvSpPr>
            <p:cNvPr id="127" name="TextBox 127"/>
            <p:cNvSpPr txBox="1"/>
            <p:nvPr/>
          </p:nvSpPr>
          <p:spPr>
            <a:xfrm>
              <a:off x="6407350" y="4904661"/>
              <a:ext cx="215500"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6月​</a:t>
              </a:r>
            </a:p>
          </p:txBody>
        </p:sp>
        <p:sp>
          <p:nvSpPr>
            <p:cNvPr id="128" name="TextBox 128"/>
            <p:cNvSpPr txBox="1"/>
            <p:nvPr/>
          </p:nvSpPr>
          <p:spPr>
            <a:xfrm>
              <a:off x="7245550" y="4904661"/>
              <a:ext cx="215500"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7月​</a:t>
              </a:r>
            </a:p>
          </p:txBody>
        </p:sp>
        <p:sp>
          <p:nvSpPr>
            <p:cNvPr id="129" name="TextBox 129"/>
            <p:cNvSpPr txBox="1"/>
            <p:nvPr/>
          </p:nvSpPr>
          <p:spPr>
            <a:xfrm>
              <a:off x="8083750" y="4904661"/>
              <a:ext cx="215500"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8月​</a:t>
              </a:r>
            </a:p>
          </p:txBody>
        </p:sp>
        <p:sp>
          <p:nvSpPr>
            <p:cNvPr id="130" name="TextBox 130"/>
            <p:cNvSpPr txBox="1"/>
            <p:nvPr/>
          </p:nvSpPr>
          <p:spPr>
            <a:xfrm>
              <a:off x="8921950" y="4904661"/>
              <a:ext cx="215500"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9月​</a:t>
              </a:r>
            </a:p>
          </p:txBody>
        </p:sp>
        <p:sp>
          <p:nvSpPr>
            <p:cNvPr id="131" name="TextBox 131"/>
            <p:cNvSpPr txBox="1"/>
            <p:nvPr/>
          </p:nvSpPr>
          <p:spPr>
            <a:xfrm>
              <a:off x="9732551" y="4904661"/>
              <a:ext cx="270698"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10月​</a:t>
              </a:r>
            </a:p>
          </p:txBody>
        </p:sp>
        <p:sp>
          <p:nvSpPr>
            <p:cNvPr id="132" name="TextBox 132"/>
            <p:cNvSpPr txBox="1"/>
            <p:nvPr/>
          </p:nvSpPr>
          <p:spPr>
            <a:xfrm>
              <a:off x="10570751" y="4904661"/>
              <a:ext cx="270698"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11月​</a:t>
              </a:r>
            </a:p>
          </p:txBody>
        </p:sp>
        <p:sp>
          <p:nvSpPr>
            <p:cNvPr id="133" name="TextBox 133"/>
            <p:cNvSpPr txBox="1"/>
            <p:nvPr/>
          </p:nvSpPr>
          <p:spPr>
            <a:xfrm>
              <a:off x="11408951" y="4904661"/>
              <a:ext cx="270698"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12月​</a:t>
              </a:r>
            </a:p>
          </p:txBody>
        </p:sp>
        <p:sp>
          <p:nvSpPr>
            <p:cNvPr id="134" name="Line 134"/>
            <p:cNvSpPr/>
            <p:nvPr/>
          </p:nvSpPr>
          <p:spPr>
            <a:xfrm>
              <a:off x="1905000" y="4838700"/>
              <a:ext cx="9525" cy="1714500"/>
            </a:xfrm>
            <a:custGeom>
              <a:avLst/>
              <a:gdLst/>
              <a:ahLst/>
              <a:cxnLst/>
              <a:rect l="l" t="t" r="r" b="b"/>
              <a:pathLst>
                <a:path w="9525" h="1714500">
                  <a:moveTo>
                    <a:pt x="0" y="0"/>
                  </a:moveTo>
                  <a:lnTo>
                    <a:pt x="0" y="1714500"/>
                  </a:lnTo>
                </a:path>
              </a:pathLst>
            </a:custGeom>
            <a:noFill/>
            <a:ln w="9525">
              <a:solidFill>
                <a:srgbClr val="DCE6F5"/>
              </a:solidFill>
            </a:ln>
          </p:spPr>
        </p:sp>
        <p:sp>
          <p:nvSpPr>
            <p:cNvPr id="135" name="Line 135"/>
            <p:cNvSpPr/>
            <p:nvPr/>
          </p:nvSpPr>
          <p:spPr>
            <a:xfrm>
              <a:off x="228600" y="5419725"/>
              <a:ext cx="11734800" cy="9525"/>
            </a:xfrm>
            <a:custGeom>
              <a:avLst/>
              <a:gdLst/>
              <a:ahLst/>
              <a:cxnLst/>
              <a:rect l="l" t="t" r="r" b="b"/>
              <a:pathLst>
                <a:path w="11734800" h="9525">
                  <a:moveTo>
                    <a:pt x="0" y="0"/>
                  </a:moveTo>
                  <a:lnTo>
                    <a:pt x="11734800" y="0"/>
                  </a:lnTo>
                </a:path>
              </a:pathLst>
            </a:custGeom>
            <a:noFill/>
            <a:ln w="9525">
              <a:solidFill>
                <a:srgbClr val="E4EAF4"/>
              </a:solidFill>
            </a:ln>
          </p:spPr>
        </p:sp>
        <p:sp>
          <p:nvSpPr>
            <p:cNvPr id="136" name="Line 136"/>
            <p:cNvSpPr/>
            <p:nvPr/>
          </p:nvSpPr>
          <p:spPr>
            <a:xfrm>
              <a:off x="228600" y="5791200"/>
              <a:ext cx="11734800" cy="9525"/>
            </a:xfrm>
            <a:custGeom>
              <a:avLst/>
              <a:gdLst/>
              <a:ahLst/>
              <a:cxnLst/>
              <a:rect l="l" t="t" r="r" b="b"/>
              <a:pathLst>
                <a:path w="11734800" h="9525">
                  <a:moveTo>
                    <a:pt x="0" y="0"/>
                  </a:moveTo>
                  <a:lnTo>
                    <a:pt x="11734800" y="0"/>
                  </a:lnTo>
                </a:path>
              </a:pathLst>
            </a:custGeom>
            <a:noFill/>
            <a:ln w="9525">
              <a:solidFill>
                <a:srgbClr val="E4EAF4"/>
              </a:solidFill>
            </a:ln>
          </p:spPr>
        </p:sp>
        <p:sp>
          <p:nvSpPr>
            <p:cNvPr id="137" name="Line 137"/>
            <p:cNvSpPr/>
            <p:nvPr/>
          </p:nvSpPr>
          <p:spPr>
            <a:xfrm>
              <a:off x="228600" y="6162675"/>
              <a:ext cx="11734800" cy="9525"/>
            </a:xfrm>
            <a:custGeom>
              <a:avLst/>
              <a:gdLst/>
              <a:ahLst/>
              <a:cxnLst/>
              <a:rect l="l" t="t" r="r" b="b"/>
              <a:pathLst>
                <a:path w="11734800" h="9525">
                  <a:moveTo>
                    <a:pt x="0" y="0"/>
                  </a:moveTo>
                  <a:lnTo>
                    <a:pt x="11734800" y="0"/>
                  </a:lnTo>
                </a:path>
              </a:pathLst>
            </a:custGeom>
            <a:noFill/>
            <a:ln w="9525">
              <a:solidFill>
                <a:srgbClr val="E4EAF4"/>
              </a:solidFill>
            </a:ln>
          </p:spPr>
        </p:sp>
        <p:grpSp>
          <p:nvGrpSpPr>
            <p:cNvPr id="154" name="cal-row-1"/>
            <p:cNvGrpSpPr/>
            <p:nvPr/>
          </p:nvGrpSpPr>
          <p:grpSpPr>
            <a:xfrm>
              <a:off x="334330" y="5160407"/>
              <a:ext cx="11473203" cy="230981"/>
              <a:chOff x="334330" y="5160407"/>
              <a:chExt cx="11473203" cy="230981"/>
            </a:xfrm>
          </p:grpSpPr>
          <p:grpSp>
            <p:nvGrpSpPr>
              <p:cNvPr id="140" name="Group 140"/>
              <p:cNvGrpSpPr/>
              <p:nvPr/>
            </p:nvGrpSpPr>
            <p:grpSpPr>
              <a:xfrm>
                <a:off x="334330" y="5181600"/>
                <a:ext cx="124004" cy="114300"/>
                <a:chOff x="334330" y="5181600"/>
                <a:chExt cx="124004" cy="114300"/>
              </a:xfrm>
            </p:grpSpPr>
            <p:sp>
              <p:nvSpPr>
                <p:cNvPr id="138" name="Freeform 138"/>
                <p:cNvSpPr/>
                <p:nvPr/>
              </p:nvSpPr>
              <p:spPr>
                <a:xfrm>
                  <a:off x="334330" y="518160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8A1700"/>
                  </a:solidFill>
                </a:ln>
              </p:spPr>
            </p:sp>
            <p:sp>
              <p:nvSpPr>
                <p:cNvPr id="139" name="Freeform 139"/>
                <p:cNvSpPr/>
                <p:nvPr/>
              </p:nvSpPr>
              <p:spPr>
                <a:xfrm>
                  <a:off x="419100" y="5270500"/>
                  <a:ext cx="38100" cy="25400"/>
                </a:xfrm>
                <a:custGeom>
                  <a:avLst/>
                  <a:gdLst/>
                  <a:ahLst/>
                  <a:cxnLst/>
                  <a:rect l="l" t="t" r="r" b="b"/>
                  <a:pathLst>
                    <a:path w="38100" h="25400">
                      <a:moveTo>
                        <a:pt x="0" y="12700"/>
                      </a:moveTo>
                      <a:lnTo>
                        <a:pt x="12700" y="25400"/>
                      </a:lnTo>
                      <a:lnTo>
                        <a:pt x="38100" y="0"/>
                      </a:lnTo>
                    </a:path>
                  </a:pathLst>
                </a:custGeom>
                <a:noFill/>
                <a:ln w="12700">
                  <a:solidFill>
                    <a:srgbClr val="8A1700"/>
                  </a:solidFill>
                </a:ln>
              </p:spPr>
            </p:sp>
          </p:grpSp>
          <p:sp>
            <p:nvSpPr>
              <p:cNvPr id="141" name="TextBox 141"/>
              <p:cNvSpPr txBox="1"/>
              <p:nvPr/>
            </p:nvSpPr>
            <p:spPr>
              <a:xfrm>
                <a:off x="528638" y="5203984"/>
                <a:ext cx="1247167" cy="133350"/>
              </a:xfrm>
              <a:prstGeom prst="rect">
                <a:avLst/>
              </a:prstGeom>
              <a:noFill/>
              <a:ln>
                <a:noFill/>
              </a:ln>
            </p:spPr>
            <p:txBody>
              <a:bodyPr wrap="none" lIns="0" tIns="0" rIns="0" bIns="0" anchor="t" anchorCtr="0">
                <a:spAutoFit/>
              </a:bodyPr>
              <a:lstStyle/>
              <a:p>
                <a:pPr algn="l"/>
                <a:r>
                  <a:rPr lang="zh-CN" sz="680" b="1" dirty="0">
                    <a:solidFill>
                      <a:srgbClr val="520E00"/>
                    </a:solidFill>
                    <a:latin typeface="+mn-lt"/>
                    <a:ea typeface="+mn-ea"/>
                    <a:cs typeface="+mn-cs"/>
                  </a:rPr>
                  <a:t>金融知识与风险提示（30%）​</a:t>
                </a:r>
              </a:p>
            </p:txBody>
          </p:sp>
          <p:sp>
            <p:nvSpPr>
              <p:cNvPr id="142" name="TextBox 142"/>
              <p:cNvSpPr txBox="1"/>
              <p:nvPr/>
            </p:nvSpPr>
            <p:spPr>
              <a:xfrm>
                <a:off x="20608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防范电信诈骗</a:t>
                </a:r>
              </a:p>
            </p:txBody>
          </p:sp>
          <p:sp>
            <p:nvSpPr>
              <p:cNvPr id="143" name="TextBox 143"/>
              <p:cNvSpPr txBox="1"/>
              <p:nvPr/>
            </p:nvSpPr>
            <p:spPr>
              <a:xfrm>
                <a:off x="28990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征信知识科普</a:t>
                </a:r>
              </a:p>
            </p:txBody>
          </p:sp>
          <p:sp>
            <p:nvSpPr>
              <p:cNvPr id="144" name="TextBox 144"/>
              <p:cNvSpPr txBox="1"/>
              <p:nvPr/>
            </p:nvSpPr>
            <p:spPr>
              <a:xfrm>
                <a:off x="3743770" y="5160407"/>
                <a:ext cx="513461"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60403A"/>
                    </a:solidFill>
                    <a:latin typeface="+mn-lt"/>
                    <a:ea typeface="+mn-ea"/>
                    <a:cs typeface="+mn-cs"/>
                  </a:rPr>
                  <a:t>315金融消费​</a:t>
                </a:r>
                <a:br/>
                <a:r>
                  <a:rPr lang="zh-CN" sz="640" dirty="0">
                    <a:solidFill>
                      <a:srgbClr val="60403A"/>
                    </a:solidFill>
                    <a:latin typeface="+mn-lt"/>
                    <a:ea typeface="+mn-ea"/>
                    <a:cs typeface="+mn-cs"/>
                  </a:rPr>
                  <a:t>权益保护</a:t>
                </a:r>
              </a:p>
            </p:txBody>
          </p:sp>
          <p:sp>
            <p:nvSpPr>
              <p:cNvPr id="145" name="TextBox 145"/>
              <p:cNvSpPr txBox="1"/>
              <p:nvPr/>
            </p:nvSpPr>
            <p:spPr>
              <a:xfrm>
                <a:off x="45754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理性借贷教育</a:t>
                </a:r>
              </a:p>
            </p:txBody>
          </p:sp>
          <p:sp>
            <p:nvSpPr>
              <p:cNvPr id="146" name="TextBox 146"/>
              <p:cNvSpPr txBox="1"/>
              <p:nvPr/>
            </p:nvSpPr>
            <p:spPr>
              <a:xfrm>
                <a:off x="54136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个人信息保护</a:t>
                </a:r>
              </a:p>
            </p:txBody>
          </p:sp>
          <p:sp>
            <p:nvSpPr>
              <p:cNvPr id="147" name="TextBox 147"/>
              <p:cNvSpPr txBox="1"/>
              <p:nvPr/>
            </p:nvSpPr>
            <p:spPr>
              <a:xfrm>
                <a:off x="62518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防范非法集资</a:t>
                </a:r>
              </a:p>
            </p:txBody>
          </p:sp>
          <p:sp>
            <p:nvSpPr>
              <p:cNvPr id="148" name="TextBox 148"/>
              <p:cNvSpPr txBox="1"/>
              <p:nvPr/>
            </p:nvSpPr>
            <p:spPr>
              <a:xfrm>
                <a:off x="70900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信用修复知识</a:t>
                </a:r>
              </a:p>
            </p:txBody>
          </p:sp>
          <p:sp>
            <p:nvSpPr>
              <p:cNvPr id="149" name="TextBox 149"/>
              <p:cNvSpPr txBox="1"/>
              <p:nvPr/>
            </p:nvSpPr>
            <p:spPr>
              <a:xfrm>
                <a:off x="79282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支付安全提示</a:t>
                </a:r>
              </a:p>
            </p:txBody>
          </p:sp>
          <p:sp>
            <p:nvSpPr>
              <p:cNvPr id="150" name="TextBox 150"/>
              <p:cNvSpPr txBox="1"/>
              <p:nvPr/>
            </p:nvSpPr>
            <p:spPr>
              <a:xfrm>
                <a:off x="8809546" y="520803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反诈宣传月</a:t>
                </a:r>
              </a:p>
            </p:txBody>
          </p:sp>
          <p:sp>
            <p:nvSpPr>
              <p:cNvPr id="151" name="TextBox 151"/>
              <p:cNvSpPr txBox="1"/>
              <p:nvPr/>
            </p:nvSpPr>
            <p:spPr>
              <a:xfrm>
                <a:off x="96046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理性投资教育</a:t>
                </a:r>
              </a:p>
            </p:txBody>
          </p:sp>
          <p:sp>
            <p:nvSpPr>
              <p:cNvPr id="152" name="TextBox 152"/>
              <p:cNvSpPr txBox="1"/>
              <p:nvPr/>
            </p:nvSpPr>
            <p:spPr>
              <a:xfrm>
                <a:off x="104428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信用报告解读</a:t>
                </a:r>
              </a:p>
            </p:txBody>
          </p:sp>
          <p:sp>
            <p:nvSpPr>
              <p:cNvPr id="153" name="TextBox 153"/>
              <p:cNvSpPr txBox="1"/>
              <p:nvPr/>
            </p:nvSpPr>
            <p:spPr>
              <a:xfrm>
                <a:off x="11281067" y="520803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年终风险提示</a:t>
                </a:r>
              </a:p>
            </p:txBody>
          </p:sp>
        </p:grpSp>
        <p:grpSp>
          <p:nvGrpSpPr>
            <p:cNvPr id="175" name="cal-row-2"/>
            <p:cNvGrpSpPr/>
            <p:nvPr/>
          </p:nvGrpSpPr>
          <p:grpSpPr>
            <a:xfrm>
              <a:off x="342900" y="5552411"/>
              <a:ext cx="11464633" cy="156398"/>
              <a:chOff x="342900" y="5552411"/>
              <a:chExt cx="11464633" cy="156398"/>
            </a:xfrm>
          </p:grpSpPr>
          <p:grpSp>
            <p:nvGrpSpPr>
              <p:cNvPr id="161" name="Group 161"/>
              <p:cNvGrpSpPr/>
              <p:nvPr/>
            </p:nvGrpSpPr>
            <p:grpSpPr>
              <a:xfrm>
                <a:off x="342900" y="5552411"/>
                <a:ext cx="114964" cy="114964"/>
                <a:chOff x="342900" y="5552411"/>
                <a:chExt cx="114964" cy="114964"/>
              </a:xfrm>
            </p:grpSpPr>
            <p:sp>
              <p:nvSpPr>
                <p:cNvPr id="155" name="Freeform 155"/>
                <p:cNvSpPr/>
                <p:nvPr/>
              </p:nvSpPr>
              <p:spPr>
                <a:xfrm>
                  <a:off x="342900" y="5552411"/>
                  <a:ext cx="114964" cy="114964"/>
                </a:xfrm>
                <a:custGeom>
                  <a:avLst/>
                  <a:gdLst/>
                  <a:ahLst/>
                  <a:cxnLst/>
                  <a:rect l="l" t="t" r="r" b="b"/>
                  <a:pathLst>
                    <a:path w="114964" h="114964">
                      <a:moveTo>
                        <a:pt x="0" y="114964"/>
                      </a:moveTo>
                      <a:lnTo>
                        <a:pt x="25400" y="114964"/>
                      </a:lnTo>
                      <a:lnTo>
                        <a:pt x="107950" y="32414"/>
                      </a:lnTo>
                      <a:cubicBezTo>
                        <a:pt x="114964" y="25400"/>
                        <a:pt x="114964" y="14028"/>
                        <a:pt x="107950" y="7014"/>
                      </a:cubicBezTo>
                      <a:cubicBezTo>
                        <a:pt x="100936" y="0"/>
                        <a:pt x="89564" y="0"/>
                        <a:pt x="82550" y="7014"/>
                      </a:cubicBezTo>
                      <a:lnTo>
                        <a:pt x="0" y="89564"/>
                      </a:lnTo>
                      <a:lnTo>
                        <a:pt x="0" y="114964"/>
                      </a:lnTo>
                    </a:path>
                  </a:pathLst>
                </a:custGeom>
                <a:noFill/>
                <a:ln w="12700">
                  <a:solidFill>
                    <a:srgbClr val="8A1700"/>
                  </a:solidFill>
                </a:ln>
              </p:spPr>
            </p:sp>
            <p:sp>
              <p:nvSpPr>
                <p:cNvPr id="156" name="Freeform 156"/>
                <p:cNvSpPr/>
                <p:nvPr/>
              </p:nvSpPr>
              <p:spPr>
                <a:xfrm>
                  <a:off x="415925" y="5568950"/>
                  <a:ext cx="25400" cy="25400"/>
                </a:xfrm>
                <a:custGeom>
                  <a:avLst/>
                  <a:gdLst/>
                  <a:ahLst/>
                  <a:cxnLst/>
                  <a:rect l="l" t="t" r="r" b="b"/>
                  <a:pathLst>
                    <a:path w="25400" h="25400">
                      <a:moveTo>
                        <a:pt x="0" y="0"/>
                      </a:moveTo>
                      <a:lnTo>
                        <a:pt x="25400" y="25400"/>
                      </a:lnTo>
                    </a:path>
                  </a:pathLst>
                </a:custGeom>
                <a:noFill/>
                <a:ln w="12700">
                  <a:solidFill>
                    <a:srgbClr val="8A1700"/>
                  </a:solidFill>
                </a:ln>
              </p:spPr>
            </p:sp>
            <p:sp>
              <p:nvSpPr>
                <p:cNvPr id="157" name="Freeform 157"/>
                <p:cNvSpPr/>
                <p:nvPr/>
              </p:nvSpPr>
              <p:spPr>
                <a:xfrm>
                  <a:off x="342900" y="5553075"/>
                  <a:ext cx="57150" cy="57150"/>
                </a:xfrm>
                <a:custGeom>
                  <a:avLst/>
                  <a:gdLst/>
                  <a:ahLst/>
                  <a:cxnLst/>
                  <a:rect l="l" t="t" r="r" b="b"/>
                  <a:pathLst>
                    <a:path w="57150" h="57150">
                      <a:moveTo>
                        <a:pt x="57150" y="31750"/>
                      </a:moveTo>
                      <a:lnTo>
                        <a:pt x="25400" y="0"/>
                      </a:lnTo>
                      <a:lnTo>
                        <a:pt x="0" y="25400"/>
                      </a:lnTo>
                      <a:lnTo>
                        <a:pt x="31750" y="57150"/>
                      </a:lnTo>
                    </a:path>
                  </a:pathLst>
                </a:custGeom>
                <a:noFill/>
                <a:ln w="12700">
                  <a:solidFill>
                    <a:srgbClr val="8A1700"/>
                  </a:solidFill>
                </a:ln>
              </p:spPr>
            </p:sp>
            <p:sp>
              <p:nvSpPr>
                <p:cNvPr id="158" name="Freeform 158"/>
                <p:cNvSpPr/>
                <p:nvPr/>
              </p:nvSpPr>
              <p:spPr>
                <a:xfrm>
                  <a:off x="358775" y="5584825"/>
                  <a:ext cx="9525" cy="9525"/>
                </a:xfrm>
                <a:custGeom>
                  <a:avLst/>
                  <a:gdLst/>
                  <a:ahLst/>
                  <a:cxnLst/>
                  <a:rect l="l" t="t" r="r" b="b"/>
                  <a:pathLst>
                    <a:path w="9525" h="9525">
                      <a:moveTo>
                        <a:pt x="9525" y="0"/>
                      </a:moveTo>
                      <a:lnTo>
                        <a:pt x="0" y="9525"/>
                      </a:lnTo>
                    </a:path>
                  </a:pathLst>
                </a:custGeom>
                <a:noFill/>
                <a:ln w="12700">
                  <a:solidFill>
                    <a:srgbClr val="8A1700"/>
                  </a:solidFill>
                </a:ln>
              </p:spPr>
            </p:sp>
            <p:sp>
              <p:nvSpPr>
                <p:cNvPr id="159" name="Freeform 159"/>
                <p:cNvSpPr/>
                <p:nvPr/>
              </p:nvSpPr>
              <p:spPr>
                <a:xfrm>
                  <a:off x="400050" y="5610225"/>
                  <a:ext cx="57150" cy="57150"/>
                </a:xfrm>
                <a:custGeom>
                  <a:avLst/>
                  <a:gdLst/>
                  <a:ahLst/>
                  <a:cxnLst/>
                  <a:rect l="l" t="t" r="r" b="b"/>
                  <a:pathLst>
                    <a:path w="57150" h="57150">
                      <a:moveTo>
                        <a:pt x="25400" y="0"/>
                      </a:moveTo>
                      <a:lnTo>
                        <a:pt x="57150" y="31750"/>
                      </a:lnTo>
                      <a:lnTo>
                        <a:pt x="31750" y="57150"/>
                      </a:lnTo>
                      <a:lnTo>
                        <a:pt x="0" y="25400"/>
                      </a:lnTo>
                    </a:path>
                  </a:pathLst>
                </a:custGeom>
                <a:noFill/>
                <a:ln w="12700">
                  <a:solidFill>
                    <a:srgbClr val="8A1700"/>
                  </a:solidFill>
                </a:ln>
              </p:spPr>
            </p:sp>
            <p:sp>
              <p:nvSpPr>
                <p:cNvPr id="160" name="Freeform 160"/>
                <p:cNvSpPr/>
                <p:nvPr/>
              </p:nvSpPr>
              <p:spPr>
                <a:xfrm>
                  <a:off x="415925" y="5641975"/>
                  <a:ext cx="9525" cy="9525"/>
                </a:xfrm>
                <a:custGeom>
                  <a:avLst/>
                  <a:gdLst/>
                  <a:ahLst/>
                  <a:cxnLst/>
                  <a:rect l="l" t="t" r="r" b="b"/>
                  <a:pathLst>
                    <a:path w="9525" h="9525">
                      <a:moveTo>
                        <a:pt x="9525" y="0"/>
                      </a:moveTo>
                      <a:lnTo>
                        <a:pt x="0" y="9525"/>
                      </a:lnTo>
                    </a:path>
                  </a:pathLst>
                </a:custGeom>
                <a:noFill/>
                <a:ln w="12700">
                  <a:solidFill>
                    <a:srgbClr val="8A1700"/>
                  </a:solidFill>
                </a:ln>
              </p:spPr>
            </p:sp>
          </p:grpSp>
          <p:sp>
            <p:nvSpPr>
              <p:cNvPr id="162" name="TextBox 162"/>
              <p:cNvSpPr txBox="1"/>
              <p:nvPr/>
            </p:nvSpPr>
            <p:spPr>
              <a:xfrm>
                <a:off x="528638" y="5575459"/>
                <a:ext cx="1064084" cy="133350"/>
              </a:xfrm>
              <a:prstGeom prst="rect">
                <a:avLst/>
              </a:prstGeom>
              <a:noFill/>
              <a:ln>
                <a:noFill/>
              </a:ln>
            </p:spPr>
            <p:txBody>
              <a:bodyPr wrap="none" lIns="0" tIns="0" rIns="0" bIns="0" anchor="t" anchorCtr="0">
                <a:spAutoFit/>
              </a:bodyPr>
              <a:lstStyle/>
              <a:p>
                <a:pPr algn="l"/>
                <a:r>
                  <a:rPr lang="zh-CN" sz="680" b="1" dirty="0">
                    <a:solidFill>
                      <a:srgbClr val="520E00"/>
                    </a:solidFill>
                    <a:latin typeface="+mn-lt"/>
                    <a:ea typeface="+mn-ea"/>
                    <a:cs typeface="+mn-cs"/>
                  </a:rPr>
                  <a:t>免费工具与服务（30%）​</a:t>
                </a:r>
              </a:p>
            </p:txBody>
          </p:sp>
          <p:sp>
            <p:nvSpPr>
              <p:cNvPr id="163" name="TextBox 163"/>
              <p:cNvSpPr txBox="1"/>
              <p:nvPr/>
            </p:nvSpPr>
            <p:spPr>
              <a:xfrm>
                <a:off x="20608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年度账单分析</a:t>
                </a:r>
              </a:p>
            </p:txBody>
          </p:sp>
          <p:sp>
            <p:nvSpPr>
              <p:cNvPr id="164" name="TextBox 164"/>
              <p:cNvSpPr txBox="1"/>
              <p:nvPr/>
            </p:nvSpPr>
            <p:spPr>
              <a:xfrm>
                <a:off x="28990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收支优化建议</a:t>
                </a:r>
              </a:p>
            </p:txBody>
          </p:sp>
          <p:sp>
            <p:nvSpPr>
              <p:cNvPr id="165" name="TextBox 165"/>
              <p:cNvSpPr txBox="1"/>
              <p:nvPr/>
            </p:nvSpPr>
            <p:spPr>
              <a:xfrm>
                <a:off x="37372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消费结构分析</a:t>
                </a:r>
              </a:p>
            </p:txBody>
          </p:sp>
          <p:sp>
            <p:nvSpPr>
              <p:cNvPr id="166" name="TextBox 166"/>
              <p:cNvSpPr txBox="1"/>
              <p:nvPr/>
            </p:nvSpPr>
            <p:spPr>
              <a:xfrm>
                <a:off x="45754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还款日历设置</a:t>
                </a:r>
              </a:p>
            </p:txBody>
          </p:sp>
          <p:sp>
            <p:nvSpPr>
              <p:cNvPr id="167" name="TextBox 167"/>
              <p:cNvSpPr txBox="1"/>
              <p:nvPr/>
            </p:nvSpPr>
            <p:spPr>
              <a:xfrm>
                <a:off x="54136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预算管理工具</a:t>
                </a:r>
              </a:p>
            </p:txBody>
          </p:sp>
          <p:sp>
            <p:nvSpPr>
              <p:cNvPr id="168" name="TextBox 168"/>
              <p:cNvSpPr txBox="1"/>
              <p:nvPr/>
            </p:nvSpPr>
            <p:spPr>
              <a:xfrm>
                <a:off x="62518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负债健康检测</a:t>
                </a:r>
              </a:p>
            </p:txBody>
          </p:sp>
          <p:sp>
            <p:nvSpPr>
              <p:cNvPr id="169" name="TextBox 169"/>
              <p:cNvSpPr txBox="1"/>
              <p:nvPr/>
            </p:nvSpPr>
            <p:spPr>
              <a:xfrm>
                <a:off x="70900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账单趋势分析</a:t>
                </a:r>
              </a:p>
            </p:txBody>
          </p:sp>
          <p:sp>
            <p:nvSpPr>
              <p:cNvPr id="170" name="TextBox 170"/>
              <p:cNvSpPr txBox="1"/>
              <p:nvPr/>
            </p:nvSpPr>
            <p:spPr>
              <a:xfrm>
                <a:off x="79282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权益查询攻略</a:t>
                </a:r>
              </a:p>
            </p:txBody>
          </p:sp>
          <p:sp>
            <p:nvSpPr>
              <p:cNvPr id="171" name="TextBox 171"/>
              <p:cNvSpPr txBox="1"/>
              <p:nvPr/>
            </p:nvSpPr>
            <p:spPr>
              <a:xfrm>
                <a:off x="87664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还款提醒服务</a:t>
                </a:r>
              </a:p>
            </p:txBody>
          </p:sp>
          <p:sp>
            <p:nvSpPr>
              <p:cNvPr id="172" name="TextBox 172"/>
              <p:cNvSpPr txBox="1"/>
              <p:nvPr/>
            </p:nvSpPr>
            <p:spPr>
              <a:xfrm>
                <a:off x="96046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资产配置助手</a:t>
                </a:r>
              </a:p>
            </p:txBody>
          </p:sp>
          <p:sp>
            <p:nvSpPr>
              <p:cNvPr id="173" name="TextBox 173"/>
              <p:cNvSpPr txBox="1"/>
              <p:nvPr/>
            </p:nvSpPr>
            <p:spPr>
              <a:xfrm>
                <a:off x="104428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账单对比分析</a:t>
                </a:r>
              </a:p>
            </p:txBody>
          </p:sp>
          <p:sp>
            <p:nvSpPr>
              <p:cNvPr id="174" name="TextBox 174"/>
              <p:cNvSpPr txBox="1"/>
              <p:nvPr/>
            </p:nvSpPr>
            <p:spPr>
              <a:xfrm>
                <a:off x="11281067" y="557950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年度财务总结</a:t>
                </a:r>
              </a:p>
            </p:txBody>
          </p:sp>
        </p:grpSp>
        <p:grpSp>
          <p:nvGrpSpPr>
            <p:cNvPr id="194" name="cal-row-3"/>
            <p:cNvGrpSpPr/>
            <p:nvPr/>
          </p:nvGrpSpPr>
          <p:grpSpPr>
            <a:xfrm>
              <a:off x="342900" y="5924332"/>
              <a:ext cx="11464633" cy="155952"/>
              <a:chOff x="342900" y="5924332"/>
              <a:chExt cx="11464633" cy="155952"/>
            </a:xfrm>
          </p:grpSpPr>
          <p:grpSp>
            <p:nvGrpSpPr>
              <p:cNvPr id="180" name="Group 180"/>
              <p:cNvGrpSpPr/>
              <p:nvPr/>
            </p:nvGrpSpPr>
            <p:grpSpPr>
              <a:xfrm>
                <a:off x="342900" y="5924332"/>
                <a:ext cx="114300" cy="114518"/>
                <a:chOff x="342900" y="5924332"/>
                <a:chExt cx="114300" cy="114518"/>
              </a:xfrm>
            </p:grpSpPr>
            <p:sp>
              <p:nvSpPr>
                <p:cNvPr id="176" name="Freeform 176"/>
                <p:cNvSpPr/>
                <p:nvPr/>
              </p:nvSpPr>
              <p:spPr>
                <a:xfrm>
                  <a:off x="342900" y="5956300"/>
                  <a:ext cx="114300" cy="25400"/>
                </a:xfrm>
                <a:custGeom>
                  <a:avLst/>
                  <a:gdLst/>
                  <a:ahLst/>
                  <a:cxnLst/>
                  <a:rect l="l" t="t" r="r" b="b"/>
                  <a:pathLst>
                    <a:path w="114300" h="25400">
                      <a:moveTo>
                        <a:pt x="0" y="6350"/>
                      </a:moveTo>
                      <a:cubicBezTo>
                        <a:pt x="0" y="2843"/>
                        <a:pt x="2843" y="0"/>
                        <a:pt x="6350" y="0"/>
                      </a:cubicBezTo>
                      <a:lnTo>
                        <a:pt x="107950" y="0"/>
                      </a:lnTo>
                      <a:cubicBezTo>
                        <a:pt x="111457" y="0"/>
                        <a:pt x="114300" y="2843"/>
                        <a:pt x="114300" y="6350"/>
                      </a:cubicBezTo>
                      <a:lnTo>
                        <a:pt x="114300" y="19050"/>
                      </a:lnTo>
                      <a:cubicBezTo>
                        <a:pt x="114300" y="22557"/>
                        <a:pt x="111457" y="25400"/>
                        <a:pt x="107950" y="25400"/>
                      </a:cubicBezTo>
                      <a:lnTo>
                        <a:pt x="6350" y="25400"/>
                      </a:lnTo>
                      <a:cubicBezTo>
                        <a:pt x="2843" y="25400"/>
                        <a:pt x="0" y="22557"/>
                        <a:pt x="0" y="19050"/>
                      </a:cubicBezTo>
                      <a:lnTo>
                        <a:pt x="0" y="6350"/>
                      </a:lnTo>
                    </a:path>
                  </a:pathLst>
                </a:custGeom>
                <a:noFill/>
                <a:ln w="12700">
                  <a:solidFill>
                    <a:srgbClr val="8A1700"/>
                  </a:solidFill>
                </a:ln>
              </p:spPr>
            </p:sp>
            <p:sp>
              <p:nvSpPr>
                <p:cNvPr id="177" name="Freeform 177"/>
                <p:cNvSpPr/>
                <p:nvPr/>
              </p:nvSpPr>
              <p:spPr>
                <a:xfrm>
                  <a:off x="400050" y="5956300"/>
                  <a:ext cx="9525" cy="82550"/>
                </a:xfrm>
                <a:custGeom>
                  <a:avLst/>
                  <a:gdLst/>
                  <a:ahLst/>
                  <a:cxnLst/>
                  <a:rect l="l" t="t" r="r" b="b"/>
                  <a:pathLst>
                    <a:path w="9525" h="82550">
                      <a:moveTo>
                        <a:pt x="0" y="0"/>
                      </a:moveTo>
                      <a:lnTo>
                        <a:pt x="0" y="82550"/>
                      </a:lnTo>
                    </a:path>
                  </a:pathLst>
                </a:custGeom>
                <a:noFill/>
                <a:ln w="12700">
                  <a:solidFill>
                    <a:srgbClr val="8A1700"/>
                  </a:solidFill>
                </a:ln>
              </p:spPr>
            </p:sp>
            <p:sp>
              <p:nvSpPr>
                <p:cNvPr id="178" name="Freeform 178"/>
                <p:cNvSpPr/>
                <p:nvPr/>
              </p:nvSpPr>
              <p:spPr>
                <a:xfrm>
                  <a:off x="355600" y="5981700"/>
                  <a:ext cx="88900" cy="57150"/>
                </a:xfrm>
                <a:custGeom>
                  <a:avLst/>
                  <a:gdLst/>
                  <a:ahLst/>
                  <a:cxnLst/>
                  <a:rect l="l" t="t" r="r" b="b"/>
                  <a:pathLst>
                    <a:path w="88900" h="57150">
                      <a:moveTo>
                        <a:pt x="88900" y="0"/>
                      </a:moveTo>
                      <a:lnTo>
                        <a:pt x="88900" y="44450"/>
                      </a:lnTo>
                      <a:cubicBezTo>
                        <a:pt x="88900" y="51464"/>
                        <a:pt x="83214" y="57150"/>
                        <a:pt x="76200" y="57150"/>
                      </a:cubicBezTo>
                      <a:lnTo>
                        <a:pt x="12700" y="57150"/>
                      </a:lnTo>
                      <a:cubicBezTo>
                        <a:pt x="5686" y="57150"/>
                        <a:pt x="0" y="51464"/>
                        <a:pt x="0" y="44450"/>
                      </a:cubicBezTo>
                      <a:lnTo>
                        <a:pt x="0" y="0"/>
                      </a:lnTo>
                    </a:path>
                  </a:pathLst>
                </a:custGeom>
                <a:noFill/>
                <a:ln w="12700">
                  <a:solidFill>
                    <a:srgbClr val="8A1700"/>
                  </a:solidFill>
                </a:ln>
              </p:spPr>
            </p:sp>
            <p:sp>
              <p:nvSpPr>
                <p:cNvPr id="179" name="Freeform 179"/>
                <p:cNvSpPr/>
                <p:nvPr/>
              </p:nvSpPr>
              <p:spPr>
                <a:xfrm>
                  <a:off x="355600" y="5924332"/>
                  <a:ext cx="88900" cy="31968"/>
                </a:xfrm>
                <a:custGeom>
                  <a:avLst/>
                  <a:gdLst/>
                  <a:ahLst/>
                  <a:cxnLst/>
                  <a:rect l="l" t="t" r="r" b="b"/>
                  <a:pathLst>
                    <a:path w="88900" h="31968">
                      <a:moveTo>
                        <a:pt x="15875" y="31968"/>
                      </a:moveTo>
                      <a:cubicBezTo>
                        <a:pt x="7107" y="31968"/>
                        <a:pt x="0" y="24861"/>
                        <a:pt x="0" y="16093"/>
                      </a:cubicBezTo>
                      <a:cubicBezTo>
                        <a:pt x="0" y="7326"/>
                        <a:pt x="7107" y="218"/>
                        <a:pt x="15875" y="218"/>
                      </a:cubicBezTo>
                      <a:cubicBezTo>
                        <a:pt x="28411" y="0"/>
                        <a:pt x="39749" y="12598"/>
                        <a:pt x="44450" y="31968"/>
                      </a:cubicBezTo>
                      <a:cubicBezTo>
                        <a:pt x="49151" y="12598"/>
                        <a:pt x="60489" y="0"/>
                        <a:pt x="73025" y="218"/>
                      </a:cubicBezTo>
                      <a:cubicBezTo>
                        <a:pt x="81793" y="218"/>
                        <a:pt x="88900" y="7326"/>
                        <a:pt x="88900" y="16093"/>
                      </a:cubicBezTo>
                      <a:cubicBezTo>
                        <a:pt x="88900" y="24861"/>
                        <a:pt x="81793" y="31968"/>
                        <a:pt x="73025" y="31968"/>
                      </a:cubicBezTo>
                    </a:path>
                  </a:pathLst>
                </a:custGeom>
                <a:noFill/>
                <a:ln w="12700">
                  <a:solidFill>
                    <a:srgbClr val="8A1700"/>
                  </a:solidFill>
                </a:ln>
              </p:spPr>
            </p:sp>
          </p:grpSp>
          <p:sp>
            <p:nvSpPr>
              <p:cNvPr id="181" name="TextBox 181"/>
              <p:cNvSpPr txBox="1"/>
              <p:nvPr/>
            </p:nvSpPr>
            <p:spPr>
              <a:xfrm>
                <a:off x="528638" y="5946934"/>
                <a:ext cx="1247167" cy="133350"/>
              </a:xfrm>
              <a:prstGeom prst="rect">
                <a:avLst/>
              </a:prstGeom>
              <a:noFill/>
              <a:ln>
                <a:noFill/>
              </a:ln>
            </p:spPr>
            <p:txBody>
              <a:bodyPr wrap="none" lIns="0" tIns="0" rIns="0" bIns="0" anchor="t" anchorCtr="0">
                <a:spAutoFit/>
              </a:bodyPr>
              <a:lstStyle/>
              <a:p>
                <a:pPr algn="l"/>
                <a:r>
                  <a:rPr lang="zh-CN" sz="680" b="1" dirty="0">
                    <a:solidFill>
                      <a:srgbClr val="520E00"/>
                    </a:solidFill>
                    <a:latin typeface="+mn-lt"/>
                    <a:ea typeface="+mn-ea"/>
                    <a:cs typeface="+mn-cs"/>
                  </a:rPr>
                  <a:t>场景权益与商户活动（25%）​</a:t>
                </a:r>
              </a:p>
            </p:txBody>
          </p:sp>
          <p:sp>
            <p:nvSpPr>
              <p:cNvPr id="182" name="TextBox 182"/>
              <p:cNvSpPr txBox="1"/>
              <p:nvPr/>
            </p:nvSpPr>
            <p:spPr>
              <a:xfrm>
                <a:off x="2060867" y="595098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新春消费礼遇</a:t>
                </a:r>
              </a:p>
            </p:txBody>
          </p:sp>
          <p:sp>
            <p:nvSpPr>
              <p:cNvPr id="183" name="TextBox 183"/>
              <p:cNvSpPr txBox="1"/>
              <p:nvPr/>
            </p:nvSpPr>
            <p:spPr>
              <a:xfrm>
                <a:off x="2942146" y="5950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情人节特惠</a:t>
                </a:r>
              </a:p>
            </p:txBody>
          </p:sp>
          <p:sp>
            <p:nvSpPr>
              <p:cNvPr id="184" name="TextBox 184"/>
              <p:cNvSpPr txBox="1"/>
              <p:nvPr/>
            </p:nvSpPr>
            <p:spPr>
              <a:xfrm>
                <a:off x="3737267" y="595098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春日出游优惠</a:t>
                </a:r>
              </a:p>
            </p:txBody>
          </p:sp>
          <p:sp>
            <p:nvSpPr>
              <p:cNvPr id="185" name="TextBox 185"/>
              <p:cNvSpPr txBox="1"/>
              <p:nvPr/>
            </p:nvSpPr>
            <p:spPr>
              <a:xfrm>
                <a:off x="4618546" y="5950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出行季活动</a:t>
                </a:r>
              </a:p>
            </p:txBody>
          </p:sp>
          <p:sp>
            <p:nvSpPr>
              <p:cNvPr id="186" name="TextBox 186"/>
              <p:cNvSpPr txBox="1"/>
              <p:nvPr/>
            </p:nvSpPr>
            <p:spPr>
              <a:xfrm>
                <a:off x="5456746" y="5950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劳动节优惠</a:t>
                </a:r>
              </a:p>
            </p:txBody>
          </p:sp>
          <p:sp>
            <p:nvSpPr>
              <p:cNvPr id="187" name="TextBox 187"/>
              <p:cNvSpPr txBox="1"/>
              <p:nvPr/>
            </p:nvSpPr>
            <p:spPr>
              <a:xfrm>
                <a:off x="6294946" y="5950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年中消费节</a:t>
                </a:r>
              </a:p>
            </p:txBody>
          </p:sp>
          <p:sp>
            <p:nvSpPr>
              <p:cNvPr id="188" name="TextBox 188"/>
              <p:cNvSpPr txBox="1"/>
              <p:nvPr/>
            </p:nvSpPr>
            <p:spPr>
              <a:xfrm>
                <a:off x="7133146" y="5950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暑期出游礼</a:t>
                </a:r>
              </a:p>
            </p:txBody>
          </p:sp>
          <p:sp>
            <p:nvSpPr>
              <p:cNvPr id="189" name="TextBox 189"/>
              <p:cNvSpPr txBox="1"/>
              <p:nvPr/>
            </p:nvSpPr>
            <p:spPr>
              <a:xfrm>
                <a:off x="7971346" y="5950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餐饮优惠季</a:t>
                </a:r>
              </a:p>
            </p:txBody>
          </p:sp>
          <p:sp>
            <p:nvSpPr>
              <p:cNvPr id="190" name="TextBox 190"/>
              <p:cNvSpPr txBox="1"/>
              <p:nvPr/>
            </p:nvSpPr>
            <p:spPr>
              <a:xfrm>
                <a:off x="8809546" y="5950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开学季福利</a:t>
                </a:r>
              </a:p>
            </p:txBody>
          </p:sp>
          <p:sp>
            <p:nvSpPr>
              <p:cNvPr id="191" name="TextBox 191"/>
              <p:cNvSpPr txBox="1"/>
              <p:nvPr/>
            </p:nvSpPr>
            <p:spPr>
              <a:xfrm>
                <a:off x="9647746" y="5950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国庆出行礼</a:t>
                </a:r>
              </a:p>
            </p:txBody>
          </p:sp>
          <p:sp>
            <p:nvSpPr>
              <p:cNvPr id="192" name="TextBox 192"/>
              <p:cNvSpPr txBox="1"/>
              <p:nvPr/>
            </p:nvSpPr>
            <p:spPr>
              <a:xfrm>
                <a:off x="10485946" y="5950982"/>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购物狂欢节</a:t>
                </a:r>
              </a:p>
            </p:txBody>
          </p:sp>
          <p:sp>
            <p:nvSpPr>
              <p:cNvPr id="193" name="TextBox 193"/>
              <p:cNvSpPr txBox="1"/>
              <p:nvPr/>
            </p:nvSpPr>
            <p:spPr>
              <a:xfrm>
                <a:off x="11281067" y="5950982"/>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年终感恩回馈</a:t>
                </a:r>
              </a:p>
            </p:txBody>
          </p:sp>
        </p:grpSp>
        <p:grpSp>
          <p:nvGrpSpPr>
            <p:cNvPr id="211" name="cal-row-4"/>
            <p:cNvGrpSpPr/>
            <p:nvPr/>
          </p:nvGrpSpPr>
          <p:grpSpPr>
            <a:xfrm>
              <a:off x="340862" y="6296025"/>
              <a:ext cx="11466671" cy="155734"/>
              <a:chOff x="340862" y="6296025"/>
              <a:chExt cx="11466671" cy="155734"/>
            </a:xfrm>
          </p:grpSpPr>
          <p:grpSp>
            <p:nvGrpSpPr>
              <p:cNvPr id="197" name="Group 197"/>
              <p:cNvGrpSpPr/>
              <p:nvPr/>
            </p:nvGrpSpPr>
            <p:grpSpPr>
              <a:xfrm>
                <a:off x="340862" y="6296025"/>
                <a:ext cx="116338" cy="116338"/>
                <a:chOff x="340862" y="6296025"/>
                <a:chExt cx="116338" cy="116338"/>
              </a:xfrm>
            </p:grpSpPr>
            <p:sp>
              <p:nvSpPr>
                <p:cNvPr id="195" name="Freeform 195"/>
                <p:cNvSpPr/>
                <p:nvPr/>
              </p:nvSpPr>
              <p:spPr>
                <a:xfrm>
                  <a:off x="387350" y="6296025"/>
                  <a:ext cx="69850" cy="69850"/>
                </a:xfrm>
                <a:custGeom>
                  <a:avLst/>
                  <a:gdLst/>
                  <a:ahLst/>
                  <a:cxnLst/>
                  <a:rect l="l" t="t" r="r" b="b"/>
                  <a:pathLst>
                    <a:path w="69850" h="69850">
                      <a:moveTo>
                        <a:pt x="0" y="69850"/>
                      </a:moveTo>
                      <a:lnTo>
                        <a:pt x="69850" y="0"/>
                      </a:lnTo>
                    </a:path>
                  </a:pathLst>
                </a:custGeom>
                <a:noFill/>
                <a:ln w="12700">
                  <a:solidFill>
                    <a:srgbClr val="8A1700"/>
                  </a:solidFill>
                </a:ln>
              </p:spPr>
            </p:sp>
            <p:sp>
              <p:nvSpPr>
                <p:cNvPr id="196" name="Freeform 196"/>
                <p:cNvSpPr/>
                <p:nvPr/>
              </p:nvSpPr>
              <p:spPr>
                <a:xfrm>
                  <a:off x="340862" y="6296025"/>
                  <a:ext cx="116338" cy="116338"/>
                </a:xfrm>
                <a:custGeom>
                  <a:avLst/>
                  <a:gdLst/>
                  <a:ahLst/>
                  <a:cxnLst/>
                  <a:rect l="l" t="t" r="r" b="b"/>
                  <a:pathLst>
                    <a:path w="116338" h="116338">
                      <a:moveTo>
                        <a:pt x="116338" y="0"/>
                      </a:moveTo>
                      <a:lnTo>
                        <a:pt x="75063" y="114300"/>
                      </a:lnTo>
                      <a:cubicBezTo>
                        <a:pt x="74494" y="115542"/>
                        <a:pt x="73253" y="116338"/>
                        <a:pt x="71888" y="116338"/>
                      </a:cubicBezTo>
                      <a:cubicBezTo>
                        <a:pt x="70522" y="116338"/>
                        <a:pt x="69282" y="115542"/>
                        <a:pt x="68713" y="114300"/>
                      </a:cubicBezTo>
                      <a:lnTo>
                        <a:pt x="46488" y="69850"/>
                      </a:lnTo>
                      <a:lnTo>
                        <a:pt x="2038" y="47625"/>
                      </a:lnTo>
                      <a:cubicBezTo>
                        <a:pt x="796" y="47056"/>
                        <a:pt x="0" y="45816"/>
                        <a:pt x="0" y="44450"/>
                      </a:cubicBezTo>
                      <a:cubicBezTo>
                        <a:pt x="0" y="43084"/>
                        <a:pt x="796" y="41844"/>
                        <a:pt x="2038" y="41275"/>
                      </a:cubicBezTo>
                      <a:lnTo>
                        <a:pt x="116338" y="0"/>
                      </a:lnTo>
                    </a:path>
                  </a:pathLst>
                </a:custGeom>
                <a:noFill/>
                <a:ln w="12700">
                  <a:solidFill>
                    <a:srgbClr val="8A1700"/>
                  </a:solidFill>
                </a:ln>
              </p:spPr>
            </p:sp>
          </p:grpSp>
          <p:sp>
            <p:nvSpPr>
              <p:cNvPr id="198" name="TextBox 198"/>
              <p:cNvSpPr txBox="1"/>
              <p:nvPr/>
            </p:nvSpPr>
            <p:spPr>
              <a:xfrm>
                <a:off x="528638" y="6318409"/>
                <a:ext cx="1064084" cy="133350"/>
              </a:xfrm>
              <a:prstGeom prst="rect">
                <a:avLst/>
              </a:prstGeom>
              <a:noFill/>
              <a:ln>
                <a:noFill/>
              </a:ln>
            </p:spPr>
            <p:txBody>
              <a:bodyPr wrap="none" lIns="0" tIns="0" rIns="0" bIns="0" anchor="t" anchorCtr="0">
                <a:spAutoFit/>
              </a:bodyPr>
              <a:lstStyle/>
              <a:p>
                <a:pPr algn="l"/>
                <a:r>
                  <a:rPr lang="zh-CN" sz="680" b="1" dirty="0">
                    <a:solidFill>
                      <a:srgbClr val="520E00"/>
                    </a:solidFill>
                    <a:latin typeface="+mn-lt"/>
                    <a:ea typeface="+mn-ea"/>
                    <a:cs typeface="+mn-cs"/>
                  </a:rPr>
                  <a:t>产品与业务营销（15%）​</a:t>
                </a:r>
              </a:p>
            </p:txBody>
          </p:sp>
          <p:sp>
            <p:nvSpPr>
              <p:cNvPr id="199" name="TextBox 199"/>
              <p:cNvSpPr txBox="1"/>
              <p:nvPr/>
            </p:nvSpPr>
            <p:spPr>
              <a:xfrm>
                <a:off x="2103946" y="6322457"/>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信用卡推荐</a:t>
                </a:r>
              </a:p>
            </p:txBody>
          </p:sp>
          <p:sp>
            <p:nvSpPr>
              <p:cNvPr id="200" name="TextBox 200"/>
              <p:cNvSpPr txBox="1"/>
              <p:nvPr/>
            </p:nvSpPr>
            <p:spPr>
              <a:xfrm>
                <a:off x="2985224" y="6322457"/>
                <a:ext cx="354152"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分期优惠</a:t>
                </a:r>
              </a:p>
            </p:txBody>
          </p:sp>
          <p:sp>
            <p:nvSpPr>
              <p:cNvPr id="201" name="TextBox 201"/>
              <p:cNvSpPr txBox="1"/>
              <p:nvPr/>
            </p:nvSpPr>
            <p:spPr>
              <a:xfrm>
                <a:off x="3780346" y="6322457"/>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消费贷活动</a:t>
                </a:r>
              </a:p>
            </p:txBody>
          </p:sp>
          <p:sp>
            <p:nvSpPr>
              <p:cNvPr id="202" name="TextBox 202"/>
              <p:cNvSpPr txBox="1"/>
              <p:nvPr/>
            </p:nvSpPr>
            <p:spPr>
              <a:xfrm>
                <a:off x="4661624" y="6322457"/>
                <a:ext cx="354152"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现金分期</a:t>
                </a:r>
              </a:p>
            </p:txBody>
          </p:sp>
          <p:sp>
            <p:nvSpPr>
              <p:cNvPr id="203" name="TextBox 203"/>
              <p:cNvSpPr txBox="1"/>
              <p:nvPr/>
            </p:nvSpPr>
            <p:spPr>
              <a:xfrm>
                <a:off x="5413667" y="632245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保险产品推荐</a:t>
                </a:r>
              </a:p>
            </p:txBody>
          </p:sp>
          <p:sp>
            <p:nvSpPr>
              <p:cNvPr id="204" name="TextBox 204"/>
              <p:cNvSpPr txBox="1"/>
              <p:nvPr/>
            </p:nvSpPr>
            <p:spPr>
              <a:xfrm>
                <a:off x="6251867" y="632245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理财产品推荐</a:t>
                </a:r>
              </a:p>
            </p:txBody>
          </p:sp>
          <p:sp>
            <p:nvSpPr>
              <p:cNvPr id="205" name="TextBox 205"/>
              <p:cNvSpPr txBox="1"/>
              <p:nvPr/>
            </p:nvSpPr>
            <p:spPr>
              <a:xfrm>
                <a:off x="7133146" y="6322457"/>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信用卡升级</a:t>
                </a:r>
              </a:p>
            </p:txBody>
          </p:sp>
          <p:sp>
            <p:nvSpPr>
              <p:cNvPr id="206" name="TextBox 206"/>
              <p:cNvSpPr txBox="1"/>
              <p:nvPr/>
            </p:nvSpPr>
            <p:spPr>
              <a:xfrm>
                <a:off x="7928267" y="632245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车主服务推荐</a:t>
                </a:r>
              </a:p>
            </p:txBody>
          </p:sp>
          <p:sp>
            <p:nvSpPr>
              <p:cNvPr id="207" name="TextBox 207"/>
              <p:cNvSpPr txBox="1"/>
              <p:nvPr/>
            </p:nvSpPr>
            <p:spPr>
              <a:xfrm>
                <a:off x="8809546" y="6322457"/>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消费贷推荐</a:t>
                </a:r>
              </a:p>
            </p:txBody>
          </p:sp>
          <p:sp>
            <p:nvSpPr>
              <p:cNvPr id="208" name="TextBox 208"/>
              <p:cNvSpPr txBox="1"/>
              <p:nvPr/>
            </p:nvSpPr>
            <p:spPr>
              <a:xfrm>
                <a:off x="9604667" y="632245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理财产品推荐</a:t>
                </a:r>
              </a:p>
            </p:txBody>
          </p:sp>
          <p:sp>
            <p:nvSpPr>
              <p:cNvPr id="209" name="TextBox 209"/>
              <p:cNvSpPr txBox="1"/>
              <p:nvPr/>
            </p:nvSpPr>
            <p:spPr>
              <a:xfrm>
                <a:off x="10485946" y="6322457"/>
                <a:ext cx="44030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信用卡拉新</a:t>
                </a:r>
              </a:p>
            </p:txBody>
          </p:sp>
          <p:sp>
            <p:nvSpPr>
              <p:cNvPr id="210" name="TextBox 210"/>
              <p:cNvSpPr txBox="1"/>
              <p:nvPr/>
            </p:nvSpPr>
            <p:spPr>
              <a:xfrm>
                <a:off x="11281067" y="6322457"/>
                <a:ext cx="526466"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年终回馈活动</a:t>
                </a:r>
              </a:p>
            </p:txBody>
          </p:sp>
        </p:grpSp>
      </p:gr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10​</a:t>
              </a:r>
            </a:p>
          </p:txBody>
        </p:sp>
        <p:sp>
          <p:nvSpPr>
            <p:cNvPr id="4" name="TextBox 4"/>
            <p:cNvSpPr txBox="1"/>
            <p:nvPr/>
          </p:nvSpPr>
          <p:spPr>
            <a:xfrm>
              <a:off x="942594" y="151448"/>
              <a:ext cx="5770344"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新客承接：核卡后的前30天决定客户长期价值​</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58" name="stages"/>
          <p:cNvGrpSpPr/>
          <p:nvPr/>
        </p:nvGrpSpPr>
        <p:grpSpPr>
          <a:xfrm>
            <a:off x="228600" y="800100"/>
            <a:ext cx="11677650" cy="1885950"/>
            <a:chOff x="228600" y="800100"/>
            <a:chExt cx="11677650" cy="1885950"/>
          </a:xfrm>
        </p:grpSpPr>
        <p:grpSp>
          <p:nvGrpSpPr>
            <p:cNvPr id="17" name="stage-1"/>
            <p:cNvGrpSpPr/>
            <p:nvPr/>
          </p:nvGrpSpPr>
          <p:grpSpPr>
            <a:xfrm>
              <a:off x="228600" y="800100"/>
              <a:ext cx="2762250" cy="1885950"/>
              <a:chOff x="228600" y="800100"/>
              <a:chExt cx="2762250" cy="1885950"/>
            </a:xfrm>
          </p:grpSpPr>
          <p:sp>
            <p:nvSpPr>
              <p:cNvPr id="7" name="Rectangle 7"/>
              <p:cNvSpPr/>
              <p:nvPr/>
            </p:nvSpPr>
            <p:spPr>
              <a:xfrm>
                <a:off x="228600" y="800100"/>
                <a:ext cx="2762250" cy="1885950"/>
              </a:xfrm>
              <a:prstGeom prst="roundRect">
                <a:avLst>
                  <a:gd name="adj" fmla="val 4040"/>
                </a:avLst>
              </a:prstGeom>
              <a:solidFill>
                <a:srgbClr val="F5F8FE"/>
              </a:solidFill>
              <a:ln w="9525">
                <a:solidFill>
                  <a:srgbClr val="C9D5EA"/>
                </a:solidFill>
              </a:ln>
            </p:spPr>
          </p:sp>
          <p:sp>
            <p:nvSpPr>
              <p:cNvPr id="8" name="Rectangle 8"/>
              <p:cNvSpPr/>
              <p:nvPr/>
            </p:nvSpPr>
            <p:spPr>
              <a:xfrm>
                <a:off x="228600" y="800100"/>
                <a:ext cx="2762250" cy="381000"/>
              </a:xfrm>
              <a:prstGeom prst="roundRect">
                <a:avLst>
                  <a:gd name="adj" fmla="val 20000"/>
                </a:avLst>
              </a:prstGeom>
              <a:solidFill>
                <a:srgbClr val="520E00"/>
              </a:solidFill>
              <a:ln>
                <a:noFill/>
              </a:ln>
            </p:spPr>
          </p:sp>
          <p:sp>
            <p:nvSpPr>
              <p:cNvPr id="9" name="Rectangle 9"/>
              <p:cNvSpPr/>
              <p:nvPr/>
            </p:nvSpPr>
            <p:spPr>
              <a:xfrm>
                <a:off x="228600" y="1028700"/>
                <a:ext cx="2762250" cy="152400"/>
              </a:xfrm>
              <a:prstGeom prst="rect">
                <a:avLst/>
              </a:prstGeom>
              <a:solidFill>
                <a:srgbClr val="520E00"/>
              </a:solidFill>
              <a:ln>
                <a:noFill/>
              </a:ln>
            </p:spPr>
          </p:sp>
          <p:sp>
            <p:nvSpPr>
              <p:cNvPr id="10" name="Ellipse 10"/>
              <p:cNvSpPr/>
              <p:nvPr/>
            </p:nvSpPr>
            <p:spPr>
              <a:xfrm>
                <a:off x="333375" y="885825"/>
                <a:ext cx="209550" cy="209550"/>
              </a:xfrm>
              <a:prstGeom prst="ellipse">
                <a:avLst/>
              </a:prstGeom>
              <a:solidFill>
                <a:srgbClr val="FFFFFF"/>
              </a:solidFill>
              <a:ln>
                <a:noFill/>
              </a:ln>
            </p:spPr>
          </p:sp>
          <p:sp>
            <p:nvSpPr>
              <p:cNvPr id="11" name="TextBox 11"/>
              <p:cNvSpPr txBox="1"/>
              <p:nvPr/>
            </p:nvSpPr>
            <p:spPr>
              <a:xfrm>
                <a:off x="369638" y="939641"/>
                <a:ext cx="137024"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1​</a:t>
                </a:r>
              </a:p>
            </p:txBody>
          </p:sp>
          <p:sp>
            <p:nvSpPr>
              <p:cNvPr id="12" name="TextBox 12"/>
              <p:cNvSpPr txBox="1"/>
              <p:nvPr/>
            </p:nvSpPr>
            <p:spPr>
              <a:xfrm>
                <a:off x="604647" y="932974"/>
                <a:ext cx="150200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0—1天：欢迎与权益说明​</a:t>
                </a:r>
              </a:p>
            </p:txBody>
          </p:sp>
          <p:grpSp>
            <p:nvGrpSpPr>
              <p:cNvPr id="15" name="Group 15"/>
              <p:cNvGrpSpPr/>
              <p:nvPr/>
            </p:nvGrpSpPr>
            <p:grpSpPr>
              <a:xfrm>
                <a:off x="466725" y="1673225"/>
                <a:ext cx="400049" cy="311150"/>
                <a:chOff x="466725" y="1673225"/>
                <a:chExt cx="400049" cy="311150"/>
              </a:xfrm>
            </p:grpSpPr>
            <p:sp>
              <p:nvSpPr>
                <p:cNvPr id="13" name="Freeform 13"/>
                <p:cNvSpPr/>
                <p:nvPr/>
              </p:nvSpPr>
              <p:spPr>
                <a:xfrm>
                  <a:off x="466725" y="1673225"/>
                  <a:ext cx="400049" cy="311150"/>
                </a:xfrm>
                <a:custGeom>
                  <a:avLst/>
                  <a:gdLst/>
                  <a:ahLst/>
                  <a:cxnLst/>
                  <a:rect l="l" t="t" r="r" b="b"/>
                  <a:pathLst>
                    <a:path w="400049" h="311150">
                      <a:moveTo>
                        <a:pt x="0" y="44450"/>
                      </a:moveTo>
                      <a:cubicBezTo>
                        <a:pt x="0" y="19901"/>
                        <a:pt x="19901" y="0"/>
                        <a:pt x="44450" y="0"/>
                      </a:cubicBezTo>
                      <a:lnTo>
                        <a:pt x="355599" y="0"/>
                      </a:lnTo>
                      <a:cubicBezTo>
                        <a:pt x="380149" y="0"/>
                        <a:pt x="400049" y="19901"/>
                        <a:pt x="400049" y="44450"/>
                      </a:cubicBezTo>
                      <a:lnTo>
                        <a:pt x="400049" y="266700"/>
                      </a:lnTo>
                      <a:cubicBezTo>
                        <a:pt x="400049" y="291249"/>
                        <a:pt x="380149" y="311150"/>
                        <a:pt x="355599" y="311150"/>
                      </a:cubicBezTo>
                      <a:lnTo>
                        <a:pt x="44450" y="311150"/>
                      </a:lnTo>
                      <a:cubicBezTo>
                        <a:pt x="19901" y="311150"/>
                        <a:pt x="0" y="291249"/>
                        <a:pt x="0" y="266700"/>
                      </a:cubicBezTo>
                      <a:lnTo>
                        <a:pt x="0" y="44450"/>
                      </a:lnTo>
                    </a:path>
                  </a:pathLst>
                </a:custGeom>
                <a:noFill/>
                <a:ln w="33337">
                  <a:solidFill>
                    <a:srgbClr val="8A1700"/>
                  </a:solidFill>
                </a:ln>
              </p:spPr>
            </p:sp>
            <p:sp>
              <p:nvSpPr>
                <p:cNvPr id="14" name="Freeform 14"/>
                <p:cNvSpPr/>
                <p:nvPr/>
              </p:nvSpPr>
              <p:spPr>
                <a:xfrm>
                  <a:off x="466725" y="1717675"/>
                  <a:ext cx="400049" cy="133350"/>
                </a:xfrm>
                <a:custGeom>
                  <a:avLst/>
                  <a:gdLst/>
                  <a:ahLst/>
                  <a:cxnLst/>
                  <a:rect l="l" t="t" r="r" b="b"/>
                  <a:pathLst>
                    <a:path w="400049" h="133350">
                      <a:moveTo>
                        <a:pt x="0" y="0"/>
                      </a:moveTo>
                      <a:lnTo>
                        <a:pt x="200025" y="133350"/>
                      </a:lnTo>
                      <a:lnTo>
                        <a:pt x="400049" y="0"/>
                      </a:lnTo>
                    </a:path>
                  </a:pathLst>
                </a:custGeom>
                <a:noFill/>
                <a:ln w="33337">
                  <a:solidFill>
                    <a:srgbClr val="8A1700"/>
                  </a:solidFill>
                </a:ln>
              </p:spPr>
            </p:sp>
          </p:grpSp>
          <p:sp>
            <p:nvSpPr>
              <p:cNvPr id="16" name="TextBox 16"/>
              <p:cNvSpPr txBox="1"/>
              <p:nvPr/>
            </p:nvSpPr>
            <p:spPr>
              <a:xfrm>
                <a:off x="1138238" y="1362789"/>
                <a:ext cx="1027875" cy="897731"/>
              </a:xfrm>
              <a:prstGeom prst="rect">
                <a:avLst/>
              </a:prstGeom>
              <a:noFill/>
              <a:ln>
                <a:noFill/>
              </a:ln>
            </p:spPr>
            <p:txBody>
              <a:bodyPr wrap="none" lIns="0" tIns="0" rIns="0" bIns="0" anchor="t" anchorCtr="0">
                <a:spAutoFit/>
              </a:bodyPr>
              <a:lstStyle/>
              <a:p>
                <a:pPr algn="l" marL="85280" indent="-85280">
                  <a:lnSpc>
                    <a:spcPts val="1950"/>
                  </a:lnSpc>
                  <a:buClr>
                    <a:srgbClr val="60403A"/>
                  </a:buClr>
                  <a:buSzTx/>
                  <a:buFontTx/>
                  <a:buChar char="•"/>
                </a:pPr>
                <a:r>
                  <a:rPr lang="zh-CN" sz="790" dirty="0">
                    <a:solidFill>
                      <a:srgbClr val="60403A"/>
                    </a:solidFill>
                    <a:latin typeface="+mn-lt"/>
                    <a:ea typeface="+mn-ea"/>
                    <a:cs typeface="+mn-cs"/>
                  </a:rPr>
                  <a:t>欢迎短信/APP消息​​</a:t>
                </a:r>
              </a:p>
              <a:p>
                <a:pPr algn="l" marL="85280" indent="-85280">
                  <a:lnSpc>
                    <a:spcPts val="1950"/>
                  </a:lnSpc>
                  <a:buClr>
                    <a:srgbClr val="60403A"/>
                  </a:buClr>
                  <a:buSzTx/>
                  <a:buFontTx/>
                  <a:buChar char="•"/>
                </a:pPr>
                <a:r>
                  <a:rPr lang="zh-CN" sz="790" dirty="0">
                    <a:solidFill>
                      <a:srgbClr val="60403A"/>
                    </a:solidFill>
                    <a:latin typeface="+mn-lt"/>
                    <a:ea typeface="+mn-ea"/>
                    <a:cs typeface="+mn-cs"/>
                  </a:rPr>
                  <a:t>权益与用卡指南</a:t>
                </a:r>
              </a:p>
              <a:p>
                <a:pPr algn="l" marL="85280" indent="-85280">
                  <a:lnSpc>
                    <a:spcPts val="1950"/>
                  </a:lnSpc>
                  <a:buClr>
                    <a:srgbClr val="60403A"/>
                  </a:buClr>
                  <a:buSzTx/>
                  <a:buFontTx/>
                  <a:buChar char="•"/>
                </a:pPr>
                <a:r>
                  <a:rPr lang="zh-CN" sz="790" dirty="0">
                    <a:solidFill>
                      <a:srgbClr val="60403A"/>
                    </a:solidFill>
                    <a:latin typeface="+mn-lt"/>
                    <a:ea typeface="+mn-ea"/>
                    <a:cs typeface="+mn-cs"/>
                  </a:rPr>
                  <a:t>重要安全提醒</a:t>
                </a:r>
              </a:p>
              <a:p>
                <a:pPr algn="l" marL="85280" indent="-85280">
                  <a:lnSpc>
                    <a:spcPts val="1950"/>
                  </a:lnSpc>
                  <a:buClr>
                    <a:srgbClr val="60403A"/>
                  </a:buClr>
                  <a:buSzTx/>
                  <a:buFontTx/>
                  <a:buChar char="•"/>
                </a:pPr>
                <a:r>
                  <a:rPr lang="zh-CN" sz="790" dirty="0">
                    <a:solidFill>
                      <a:srgbClr val="60403A"/>
                    </a:solidFill>
                    <a:latin typeface="+mn-lt"/>
                    <a:ea typeface="+mn-ea"/>
                    <a:cs typeface="+mn-cs"/>
                  </a:rPr>
                  <a:t>客服与帮助入口</a:t>
                </a:r>
              </a:p>
            </p:txBody>
          </p:sp>
        </p:grpSp>
        <p:sp>
          <p:nvSpPr>
            <p:cNvPr id="18" name="Freeform 18"/>
            <p:cNvSpPr/>
            <p:nvPr/>
          </p:nvSpPr>
          <p:spPr>
            <a:xfrm>
              <a:off x="3009900" y="914400"/>
              <a:ext cx="171450" cy="190500"/>
            </a:xfrm>
            <a:prstGeom prst="rightArrow">
              <a:avLst/>
            </a:prstGeom>
            <a:solidFill>
              <a:srgbClr val="E84E2F"/>
            </a:solidFill>
            <a:ln>
              <a:noFill/>
            </a:ln>
          </p:spPr>
        </p:sp>
        <p:grpSp>
          <p:nvGrpSpPr>
            <p:cNvPr id="30" name="stage-2"/>
            <p:cNvGrpSpPr/>
            <p:nvPr/>
          </p:nvGrpSpPr>
          <p:grpSpPr>
            <a:xfrm>
              <a:off x="3200400" y="800100"/>
              <a:ext cx="2762250" cy="1885950"/>
              <a:chOff x="3200400" y="800100"/>
              <a:chExt cx="2762250" cy="1885950"/>
            </a:xfrm>
          </p:grpSpPr>
          <p:sp>
            <p:nvSpPr>
              <p:cNvPr id="19" name="Rectangle 19"/>
              <p:cNvSpPr/>
              <p:nvPr/>
            </p:nvSpPr>
            <p:spPr>
              <a:xfrm>
                <a:off x="3200400" y="800100"/>
                <a:ext cx="2762250" cy="1885950"/>
              </a:xfrm>
              <a:prstGeom prst="roundRect">
                <a:avLst>
                  <a:gd name="adj" fmla="val 4040"/>
                </a:avLst>
              </a:prstGeom>
              <a:solidFill>
                <a:srgbClr val="F5F8FE"/>
              </a:solidFill>
              <a:ln w="9525">
                <a:solidFill>
                  <a:srgbClr val="C9D5EA"/>
                </a:solidFill>
              </a:ln>
            </p:spPr>
          </p:sp>
          <p:sp>
            <p:nvSpPr>
              <p:cNvPr id="20" name="Rectangle 20"/>
              <p:cNvSpPr/>
              <p:nvPr/>
            </p:nvSpPr>
            <p:spPr>
              <a:xfrm>
                <a:off x="3200400" y="800100"/>
                <a:ext cx="2762250" cy="381000"/>
              </a:xfrm>
              <a:prstGeom prst="roundRect">
                <a:avLst>
                  <a:gd name="adj" fmla="val 20000"/>
                </a:avLst>
              </a:prstGeom>
              <a:solidFill>
                <a:srgbClr val="520E00"/>
              </a:solidFill>
              <a:ln>
                <a:noFill/>
              </a:ln>
            </p:spPr>
          </p:sp>
          <p:sp>
            <p:nvSpPr>
              <p:cNvPr id="21" name="Rectangle 21"/>
              <p:cNvSpPr/>
              <p:nvPr/>
            </p:nvSpPr>
            <p:spPr>
              <a:xfrm>
                <a:off x="3200400" y="1028700"/>
                <a:ext cx="2762250" cy="152400"/>
              </a:xfrm>
              <a:prstGeom prst="rect">
                <a:avLst/>
              </a:prstGeom>
              <a:solidFill>
                <a:srgbClr val="520E00"/>
              </a:solidFill>
              <a:ln>
                <a:noFill/>
              </a:ln>
            </p:spPr>
          </p:sp>
          <p:sp>
            <p:nvSpPr>
              <p:cNvPr id="22" name="Ellipse 22"/>
              <p:cNvSpPr/>
              <p:nvPr/>
            </p:nvSpPr>
            <p:spPr>
              <a:xfrm>
                <a:off x="3305175" y="885825"/>
                <a:ext cx="209550" cy="209550"/>
              </a:xfrm>
              <a:prstGeom prst="ellipse">
                <a:avLst/>
              </a:prstGeom>
              <a:solidFill>
                <a:srgbClr val="FFFFFF"/>
              </a:solidFill>
              <a:ln>
                <a:noFill/>
              </a:ln>
            </p:spPr>
          </p:sp>
          <p:sp>
            <p:nvSpPr>
              <p:cNvPr id="23" name="TextBox 23"/>
              <p:cNvSpPr txBox="1"/>
              <p:nvPr/>
            </p:nvSpPr>
            <p:spPr>
              <a:xfrm>
                <a:off x="3341438" y="939641"/>
                <a:ext cx="137024"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2​</a:t>
                </a:r>
              </a:p>
            </p:txBody>
          </p:sp>
          <p:sp>
            <p:nvSpPr>
              <p:cNvPr id="24" name="TextBox 24"/>
              <p:cNvSpPr txBox="1"/>
              <p:nvPr/>
            </p:nvSpPr>
            <p:spPr>
              <a:xfrm>
                <a:off x="3576447" y="932974"/>
                <a:ext cx="1633935"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2—7天：激活、绑卡、首刷​</a:t>
                </a:r>
              </a:p>
            </p:txBody>
          </p:sp>
          <p:grpSp>
            <p:nvGrpSpPr>
              <p:cNvPr id="28" name="Group 28"/>
              <p:cNvGrpSpPr/>
              <p:nvPr/>
            </p:nvGrpSpPr>
            <p:grpSpPr>
              <a:xfrm>
                <a:off x="3505200" y="1628775"/>
                <a:ext cx="266700" cy="400049"/>
                <a:chOff x="3505200" y="1628775"/>
                <a:chExt cx="266700" cy="400049"/>
              </a:xfrm>
            </p:grpSpPr>
            <p:sp>
              <p:nvSpPr>
                <p:cNvPr id="25" name="Freeform 25"/>
                <p:cNvSpPr/>
                <p:nvPr/>
              </p:nvSpPr>
              <p:spPr>
                <a:xfrm>
                  <a:off x="3505200" y="1628775"/>
                  <a:ext cx="266700" cy="400049"/>
                </a:xfrm>
                <a:custGeom>
                  <a:avLst/>
                  <a:gdLst/>
                  <a:ahLst/>
                  <a:cxnLst/>
                  <a:rect l="l" t="t" r="r" b="b"/>
                  <a:pathLst>
                    <a:path w="266700" h="400049">
                      <a:moveTo>
                        <a:pt x="0" y="44450"/>
                      </a:moveTo>
                      <a:cubicBezTo>
                        <a:pt x="0" y="19901"/>
                        <a:pt x="19901" y="0"/>
                        <a:pt x="44450" y="0"/>
                      </a:cubicBezTo>
                      <a:lnTo>
                        <a:pt x="222250" y="0"/>
                      </a:lnTo>
                      <a:cubicBezTo>
                        <a:pt x="246799" y="0"/>
                        <a:pt x="266700" y="19901"/>
                        <a:pt x="266700" y="44450"/>
                      </a:cubicBezTo>
                      <a:lnTo>
                        <a:pt x="266700" y="355599"/>
                      </a:lnTo>
                      <a:cubicBezTo>
                        <a:pt x="266700" y="380149"/>
                        <a:pt x="246799" y="400049"/>
                        <a:pt x="222250" y="400049"/>
                      </a:cubicBezTo>
                      <a:lnTo>
                        <a:pt x="44450" y="400049"/>
                      </a:lnTo>
                      <a:cubicBezTo>
                        <a:pt x="19901" y="400049"/>
                        <a:pt x="0" y="380149"/>
                        <a:pt x="0" y="355599"/>
                      </a:cubicBezTo>
                      <a:lnTo>
                        <a:pt x="0" y="44450"/>
                      </a:lnTo>
                    </a:path>
                  </a:pathLst>
                </a:custGeom>
                <a:noFill/>
                <a:ln w="33337">
                  <a:solidFill>
                    <a:srgbClr val="8A1700"/>
                  </a:solidFill>
                </a:ln>
              </p:spPr>
            </p:sp>
            <p:sp>
              <p:nvSpPr>
                <p:cNvPr id="26" name="Freeform 26"/>
                <p:cNvSpPr/>
                <p:nvPr/>
              </p:nvSpPr>
              <p:spPr>
                <a:xfrm>
                  <a:off x="3616325" y="1651000"/>
                  <a:ext cx="44450" cy="9525"/>
                </a:xfrm>
                <a:custGeom>
                  <a:avLst/>
                  <a:gdLst/>
                  <a:ahLst/>
                  <a:cxnLst/>
                  <a:rect l="l" t="t" r="r" b="b"/>
                  <a:pathLst>
                    <a:path w="44450" h="9525">
                      <a:moveTo>
                        <a:pt x="0" y="0"/>
                      </a:moveTo>
                      <a:lnTo>
                        <a:pt x="44450" y="0"/>
                      </a:lnTo>
                    </a:path>
                  </a:pathLst>
                </a:custGeom>
                <a:noFill/>
                <a:ln w="33337">
                  <a:solidFill>
                    <a:srgbClr val="8A1700"/>
                  </a:solidFill>
                </a:ln>
              </p:spPr>
            </p:sp>
            <p:sp>
              <p:nvSpPr>
                <p:cNvPr id="27" name="Freeform 27"/>
                <p:cNvSpPr/>
                <p:nvPr/>
              </p:nvSpPr>
              <p:spPr>
                <a:xfrm>
                  <a:off x="3638550" y="1939924"/>
                  <a:ext cx="9525" cy="9525"/>
                </a:xfrm>
                <a:custGeom>
                  <a:avLst/>
                  <a:gdLst/>
                  <a:ahLst/>
                  <a:cxnLst/>
                  <a:rect l="l" t="t" r="r" b="b"/>
                  <a:pathLst>
                    <a:path w="9525" h="9525">
                      <a:moveTo>
                        <a:pt x="0" y="0"/>
                      </a:moveTo>
                      <a:lnTo>
                        <a:pt x="0" y="222"/>
                      </a:lnTo>
                    </a:path>
                  </a:pathLst>
                </a:custGeom>
                <a:noFill/>
                <a:ln w="33337">
                  <a:solidFill>
                    <a:srgbClr val="8A1700"/>
                  </a:solidFill>
                </a:ln>
              </p:spPr>
            </p:sp>
          </p:grpSp>
          <p:sp>
            <p:nvSpPr>
              <p:cNvPr id="29" name="TextBox 29"/>
              <p:cNvSpPr txBox="1"/>
              <p:nvPr/>
            </p:nvSpPr>
            <p:spPr>
              <a:xfrm>
                <a:off x="4110038" y="1362789"/>
                <a:ext cx="696786" cy="897731"/>
              </a:xfrm>
              <a:prstGeom prst="rect">
                <a:avLst/>
              </a:prstGeom>
              <a:noFill/>
              <a:ln>
                <a:noFill/>
              </a:ln>
            </p:spPr>
            <p:txBody>
              <a:bodyPr wrap="none" lIns="0" tIns="0" rIns="0" bIns="0" anchor="t" anchorCtr="0">
                <a:spAutoFit/>
              </a:bodyPr>
              <a:lstStyle/>
              <a:p>
                <a:pPr algn="l" marL="85280" indent="-85280">
                  <a:lnSpc>
                    <a:spcPts val="1950"/>
                  </a:lnSpc>
                  <a:buClr>
                    <a:srgbClr val="60403A"/>
                  </a:buClr>
                  <a:buSzTx/>
                  <a:buFontTx/>
                  <a:buChar char="•"/>
                </a:pPr>
                <a:r>
                  <a:rPr lang="zh-CN" sz="790" dirty="0">
                    <a:solidFill>
                      <a:srgbClr val="60403A"/>
                    </a:solidFill>
                    <a:latin typeface="+mn-lt"/>
                    <a:ea typeface="+mn-ea"/>
                    <a:cs typeface="+mn-cs"/>
                  </a:rPr>
                  <a:t>卡片激活引导</a:t>
                </a:r>
              </a:p>
              <a:p>
                <a:pPr algn="l" marL="85280" indent="-85280">
                  <a:lnSpc>
                    <a:spcPts val="1950"/>
                  </a:lnSpc>
                  <a:buClr>
                    <a:srgbClr val="60403A"/>
                  </a:buClr>
                  <a:buSzTx/>
                  <a:buFontTx/>
                  <a:buChar char="•"/>
                </a:pPr>
                <a:r>
                  <a:rPr lang="zh-CN" sz="790" dirty="0">
                    <a:solidFill>
                      <a:srgbClr val="60403A"/>
                    </a:solidFill>
                    <a:latin typeface="+mn-lt"/>
                    <a:ea typeface="+mn-ea"/>
                    <a:cs typeface="+mn-cs"/>
                  </a:rPr>
                  <a:t>绑定快捷支付</a:t>
                </a:r>
              </a:p>
              <a:p>
                <a:pPr algn="l" marL="85280" indent="-85280">
                  <a:lnSpc>
                    <a:spcPts val="1950"/>
                  </a:lnSpc>
                  <a:buClr>
                    <a:srgbClr val="60403A"/>
                  </a:buClr>
                  <a:buSzTx/>
                  <a:buFontTx/>
                  <a:buChar char="•"/>
                </a:pPr>
                <a:r>
                  <a:rPr lang="zh-CN" sz="790" dirty="0">
                    <a:solidFill>
                      <a:srgbClr val="60403A"/>
                    </a:solidFill>
                    <a:latin typeface="+mn-lt"/>
                    <a:ea typeface="+mn-ea"/>
                    <a:cs typeface="+mn-cs"/>
                  </a:rPr>
                  <a:t>首刷达标引导</a:t>
                </a:r>
              </a:p>
              <a:p>
                <a:pPr algn="l" marL="85280" indent="-85280">
                  <a:lnSpc>
                    <a:spcPts val="1950"/>
                  </a:lnSpc>
                  <a:buClr>
                    <a:srgbClr val="60403A"/>
                  </a:buClr>
                  <a:buSzTx/>
                  <a:buFontTx/>
                  <a:buChar char="•"/>
                </a:pPr>
                <a:r>
                  <a:rPr lang="zh-CN" sz="790" dirty="0">
                    <a:solidFill>
                      <a:srgbClr val="60403A"/>
                    </a:solidFill>
                    <a:latin typeface="+mn-lt"/>
                    <a:ea typeface="+mn-ea"/>
                    <a:cs typeface="+mn-cs"/>
                  </a:rPr>
                  <a:t>优惠活动推送</a:t>
                </a:r>
              </a:p>
            </p:txBody>
          </p:sp>
        </p:grpSp>
        <p:sp>
          <p:nvSpPr>
            <p:cNvPr id="31" name="Freeform 31"/>
            <p:cNvSpPr/>
            <p:nvPr/>
          </p:nvSpPr>
          <p:spPr>
            <a:xfrm>
              <a:off x="5981700" y="914400"/>
              <a:ext cx="171450" cy="190500"/>
            </a:xfrm>
            <a:prstGeom prst="rightArrow">
              <a:avLst/>
            </a:prstGeom>
            <a:solidFill>
              <a:srgbClr val="E84E2F"/>
            </a:solidFill>
            <a:ln>
              <a:noFill/>
            </a:ln>
          </p:spPr>
        </p:sp>
        <p:grpSp>
          <p:nvGrpSpPr>
            <p:cNvPr id="42" name="stage-3"/>
            <p:cNvGrpSpPr/>
            <p:nvPr/>
          </p:nvGrpSpPr>
          <p:grpSpPr>
            <a:xfrm>
              <a:off x="6172200" y="800100"/>
              <a:ext cx="2762250" cy="1885950"/>
              <a:chOff x="6172200" y="800100"/>
              <a:chExt cx="2762250" cy="1885950"/>
            </a:xfrm>
          </p:grpSpPr>
          <p:sp>
            <p:nvSpPr>
              <p:cNvPr id="32" name="Rectangle 32"/>
              <p:cNvSpPr/>
              <p:nvPr/>
            </p:nvSpPr>
            <p:spPr>
              <a:xfrm>
                <a:off x="6172200" y="800100"/>
                <a:ext cx="2762250" cy="1885950"/>
              </a:xfrm>
              <a:prstGeom prst="roundRect">
                <a:avLst>
                  <a:gd name="adj" fmla="val 4040"/>
                </a:avLst>
              </a:prstGeom>
              <a:solidFill>
                <a:srgbClr val="F5F8FE"/>
              </a:solidFill>
              <a:ln w="9525">
                <a:solidFill>
                  <a:srgbClr val="C9D5EA"/>
                </a:solidFill>
              </a:ln>
            </p:spPr>
          </p:sp>
          <p:sp>
            <p:nvSpPr>
              <p:cNvPr id="33" name="Rectangle 33"/>
              <p:cNvSpPr/>
              <p:nvPr/>
            </p:nvSpPr>
            <p:spPr>
              <a:xfrm>
                <a:off x="6172200" y="800100"/>
                <a:ext cx="2762250" cy="381000"/>
              </a:xfrm>
              <a:prstGeom prst="roundRect">
                <a:avLst>
                  <a:gd name="adj" fmla="val 20000"/>
                </a:avLst>
              </a:prstGeom>
              <a:solidFill>
                <a:srgbClr val="520E00"/>
              </a:solidFill>
              <a:ln>
                <a:noFill/>
              </a:ln>
            </p:spPr>
          </p:sp>
          <p:sp>
            <p:nvSpPr>
              <p:cNvPr id="34" name="Rectangle 34"/>
              <p:cNvSpPr/>
              <p:nvPr/>
            </p:nvSpPr>
            <p:spPr>
              <a:xfrm>
                <a:off x="6172200" y="1028700"/>
                <a:ext cx="2762250" cy="152400"/>
              </a:xfrm>
              <a:prstGeom prst="rect">
                <a:avLst/>
              </a:prstGeom>
              <a:solidFill>
                <a:srgbClr val="520E00"/>
              </a:solidFill>
              <a:ln>
                <a:noFill/>
              </a:ln>
            </p:spPr>
          </p:sp>
          <p:sp>
            <p:nvSpPr>
              <p:cNvPr id="35" name="Ellipse 35"/>
              <p:cNvSpPr/>
              <p:nvPr/>
            </p:nvSpPr>
            <p:spPr>
              <a:xfrm>
                <a:off x="6276975" y="885825"/>
                <a:ext cx="209550" cy="209550"/>
              </a:xfrm>
              <a:prstGeom prst="ellipse">
                <a:avLst/>
              </a:prstGeom>
              <a:solidFill>
                <a:srgbClr val="FFFFFF"/>
              </a:solidFill>
              <a:ln>
                <a:noFill/>
              </a:ln>
            </p:spPr>
          </p:sp>
          <p:sp>
            <p:nvSpPr>
              <p:cNvPr id="36" name="TextBox 36"/>
              <p:cNvSpPr txBox="1"/>
              <p:nvPr/>
            </p:nvSpPr>
            <p:spPr>
              <a:xfrm>
                <a:off x="6313238" y="939641"/>
                <a:ext cx="137024"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3​</a:t>
                </a:r>
              </a:p>
            </p:txBody>
          </p:sp>
          <p:sp>
            <p:nvSpPr>
              <p:cNvPr id="37" name="TextBox 37"/>
              <p:cNvSpPr txBox="1"/>
              <p:nvPr/>
            </p:nvSpPr>
            <p:spPr>
              <a:xfrm>
                <a:off x="6548247" y="932974"/>
                <a:ext cx="1578195"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8—15天：培养第二次消费​</a:t>
                </a:r>
              </a:p>
            </p:txBody>
          </p:sp>
          <p:grpSp>
            <p:nvGrpSpPr>
              <p:cNvPr id="40" name="Group 40"/>
              <p:cNvGrpSpPr/>
              <p:nvPr/>
            </p:nvGrpSpPr>
            <p:grpSpPr>
              <a:xfrm>
                <a:off x="6438446" y="1628775"/>
                <a:ext cx="343829" cy="400059"/>
                <a:chOff x="6438446" y="1628775"/>
                <a:chExt cx="343829" cy="400059"/>
              </a:xfrm>
            </p:grpSpPr>
            <p:sp>
              <p:nvSpPr>
                <p:cNvPr id="38" name="Freeform 38"/>
                <p:cNvSpPr/>
                <p:nvPr/>
              </p:nvSpPr>
              <p:spPr>
                <a:xfrm>
                  <a:off x="6438446" y="1739898"/>
                  <a:ext cx="343829" cy="288936"/>
                </a:xfrm>
                <a:custGeom>
                  <a:avLst/>
                  <a:gdLst/>
                  <a:ahLst/>
                  <a:cxnLst/>
                  <a:rect l="l" t="t" r="r" b="b"/>
                  <a:pathLst>
                    <a:path w="343829" h="288936">
                      <a:moveTo>
                        <a:pt x="45910" y="2"/>
                      </a:moveTo>
                      <a:lnTo>
                        <a:pt x="297919" y="2"/>
                      </a:lnTo>
                      <a:cubicBezTo>
                        <a:pt x="310889" y="0"/>
                        <a:pt x="323212" y="5663"/>
                        <a:pt x="331658" y="15506"/>
                      </a:cubicBezTo>
                      <a:cubicBezTo>
                        <a:pt x="340104" y="25348"/>
                        <a:pt x="343829" y="38389"/>
                        <a:pt x="341858" y="51208"/>
                      </a:cubicBezTo>
                      <a:lnTo>
                        <a:pt x="313965" y="232386"/>
                      </a:lnTo>
                      <a:cubicBezTo>
                        <a:pt x="308962" y="264921"/>
                        <a:pt x="280964" y="288936"/>
                        <a:pt x="248046" y="288926"/>
                      </a:cubicBezTo>
                      <a:lnTo>
                        <a:pt x="95761" y="288926"/>
                      </a:lnTo>
                      <a:cubicBezTo>
                        <a:pt x="62852" y="288925"/>
                        <a:pt x="34866" y="264913"/>
                        <a:pt x="29864" y="232386"/>
                      </a:cubicBezTo>
                      <a:lnTo>
                        <a:pt x="1971" y="51208"/>
                      </a:lnTo>
                      <a:cubicBezTo>
                        <a:pt x="0" y="38389"/>
                        <a:pt x="3726" y="25348"/>
                        <a:pt x="12171" y="15506"/>
                      </a:cubicBezTo>
                      <a:cubicBezTo>
                        <a:pt x="20617" y="5663"/>
                        <a:pt x="32941" y="0"/>
                        <a:pt x="45910" y="2"/>
                      </a:cubicBezTo>
                    </a:path>
                  </a:pathLst>
                </a:custGeom>
                <a:noFill/>
                <a:ln w="33337">
                  <a:solidFill>
                    <a:srgbClr val="8A1700"/>
                  </a:solidFill>
                </a:ln>
              </p:spPr>
            </p:sp>
            <p:sp>
              <p:nvSpPr>
                <p:cNvPr id="39" name="Freeform 39"/>
                <p:cNvSpPr/>
                <p:nvPr/>
              </p:nvSpPr>
              <p:spPr>
                <a:xfrm>
                  <a:off x="6543675" y="1628775"/>
                  <a:ext cx="133350" cy="177800"/>
                </a:xfrm>
                <a:custGeom>
                  <a:avLst/>
                  <a:gdLst/>
                  <a:ahLst/>
                  <a:cxnLst/>
                  <a:rect l="l" t="t" r="r" b="b"/>
                  <a:pathLst>
                    <a:path w="133350" h="177800">
                      <a:moveTo>
                        <a:pt x="0" y="177800"/>
                      </a:moveTo>
                      <a:lnTo>
                        <a:pt x="0" y="66675"/>
                      </a:lnTo>
                      <a:cubicBezTo>
                        <a:pt x="0" y="29851"/>
                        <a:pt x="29851" y="0"/>
                        <a:pt x="66675" y="0"/>
                      </a:cubicBezTo>
                      <a:cubicBezTo>
                        <a:pt x="103498" y="0"/>
                        <a:pt x="133350" y="29851"/>
                        <a:pt x="133350" y="66675"/>
                      </a:cubicBezTo>
                      <a:lnTo>
                        <a:pt x="133350" y="177800"/>
                      </a:lnTo>
                    </a:path>
                  </a:pathLst>
                </a:custGeom>
                <a:noFill/>
                <a:ln w="33337">
                  <a:solidFill>
                    <a:srgbClr val="8A1700"/>
                  </a:solidFill>
                </a:ln>
              </p:spPr>
            </p:sp>
          </p:grpSp>
          <p:sp>
            <p:nvSpPr>
              <p:cNvPr id="41" name="TextBox 41"/>
              <p:cNvSpPr txBox="1"/>
              <p:nvPr/>
            </p:nvSpPr>
            <p:spPr>
              <a:xfrm>
                <a:off x="7081838" y="1362789"/>
                <a:ext cx="1007808" cy="897731"/>
              </a:xfrm>
              <a:prstGeom prst="rect">
                <a:avLst/>
              </a:prstGeom>
              <a:noFill/>
              <a:ln>
                <a:noFill/>
              </a:ln>
            </p:spPr>
            <p:txBody>
              <a:bodyPr wrap="none" lIns="0" tIns="0" rIns="0" bIns="0" anchor="t" anchorCtr="0">
                <a:spAutoFit/>
              </a:bodyPr>
              <a:lstStyle/>
              <a:p>
                <a:pPr algn="l" marL="85280" indent="-85280">
                  <a:lnSpc>
                    <a:spcPts val="1950"/>
                  </a:lnSpc>
                  <a:buClr>
                    <a:srgbClr val="60403A"/>
                  </a:buClr>
                  <a:buSzTx/>
                  <a:buFontTx/>
                  <a:buChar char="•"/>
                </a:pPr>
                <a:r>
                  <a:rPr lang="zh-CN" sz="790" dirty="0">
                    <a:solidFill>
                      <a:srgbClr val="60403A"/>
                    </a:solidFill>
                    <a:latin typeface="+mn-lt"/>
                    <a:ea typeface="+mn-ea"/>
                    <a:cs typeface="+mn-cs"/>
                  </a:rPr>
                  <a:t>个性化场景推荐</a:t>
                </a:r>
              </a:p>
              <a:p>
                <a:pPr algn="l" marL="85280" indent="-85280">
                  <a:lnSpc>
                    <a:spcPts val="1950"/>
                  </a:lnSpc>
                  <a:buClr>
                    <a:srgbClr val="60403A"/>
                  </a:buClr>
                  <a:buSzTx/>
                  <a:buFontTx/>
                  <a:buChar char="•"/>
                </a:pPr>
                <a:r>
                  <a:rPr lang="zh-CN" sz="790" dirty="0">
                    <a:solidFill>
                      <a:srgbClr val="60403A"/>
                    </a:solidFill>
                    <a:latin typeface="+mn-lt"/>
                    <a:ea typeface="+mn-ea"/>
                    <a:cs typeface="+mn-cs"/>
                  </a:rPr>
                  <a:t>二次消费激励</a:t>
                </a:r>
              </a:p>
              <a:p>
                <a:pPr algn="l" marL="85280" indent="-85280">
                  <a:lnSpc>
                    <a:spcPts val="1950"/>
                  </a:lnSpc>
                  <a:buClr>
                    <a:srgbClr val="60403A"/>
                  </a:buClr>
                  <a:buSzTx/>
                  <a:buFontTx/>
                  <a:buChar char="•"/>
                </a:pPr>
                <a:r>
                  <a:rPr lang="zh-CN" sz="790" dirty="0">
                    <a:solidFill>
                      <a:srgbClr val="60403A"/>
                    </a:solidFill>
                    <a:latin typeface="+mn-lt"/>
                    <a:ea typeface="+mn-ea"/>
                    <a:cs typeface="+mn-cs"/>
                  </a:rPr>
                  <a:t>分期/账单管理引导​</a:t>
                </a:r>
              </a:p>
              <a:p>
                <a:pPr algn="l" marL="85280" indent="-85280">
                  <a:lnSpc>
                    <a:spcPts val="1950"/>
                  </a:lnSpc>
                  <a:buClr>
                    <a:srgbClr val="60403A"/>
                  </a:buClr>
                  <a:buSzTx/>
                  <a:buFontTx/>
                  <a:buChar char="•"/>
                </a:pPr>
                <a:r>
                  <a:rPr lang="zh-CN" sz="790" dirty="0">
                    <a:solidFill>
                      <a:srgbClr val="60403A"/>
                    </a:solidFill>
                    <a:latin typeface="+mn-lt"/>
                    <a:ea typeface="+mn-ea"/>
                    <a:cs typeface="+mn-cs"/>
                  </a:rPr>
                  <a:t>客户关怀触达</a:t>
                </a:r>
              </a:p>
            </p:txBody>
          </p:sp>
        </p:grpSp>
        <p:sp>
          <p:nvSpPr>
            <p:cNvPr id="43" name="Freeform 43"/>
            <p:cNvSpPr/>
            <p:nvPr/>
          </p:nvSpPr>
          <p:spPr>
            <a:xfrm>
              <a:off x="8953500" y="914400"/>
              <a:ext cx="171450" cy="190500"/>
            </a:xfrm>
            <a:prstGeom prst="rightArrow">
              <a:avLst/>
            </a:prstGeom>
            <a:solidFill>
              <a:srgbClr val="E84E2F"/>
            </a:solidFill>
            <a:ln>
              <a:noFill/>
            </a:ln>
          </p:spPr>
        </p:sp>
        <p:grpSp>
          <p:nvGrpSpPr>
            <p:cNvPr id="57" name="stage-4"/>
            <p:cNvGrpSpPr/>
            <p:nvPr/>
          </p:nvGrpSpPr>
          <p:grpSpPr>
            <a:xfrm>
              <a:off x="9144000" y="800100"/>
              <a:ext cx="2762250" cy="1885950"/>
              <a:chOff x="9144000" y="800100"/>
              <a:chExt cx="2762250" cy="1885950"/>
            </a:xfrm>
          </p:grpSpPr>
          <p:sp>
            <p:nvSpPr>
              <p:cNvPr id="44" name="Rectangle 44"/>
              <p:cNvSpPr/>
              <p:nvPr/>
            </p:nvSpPr>
            <p:spPr>
              <a:xfrm>
                <a:off x="9144000" y="800100"/>
                <a:ext cx="2762250" cy="1885950"/>
              </a:xfrm>
              <a:prstGeom prst="roundRect">
                <a:avLst>
                  <a:gd name="adj" fmla="val 4040"/>
                </a:avLst>
              </a:prstGeom>
              <a:solidFill>
                <a:srgbClr val="F5F8FE"/>
              </a:solidFill>
              <a:ln w="9525">
                <a:solidFill>
                  <a:srgbClr val="C9D5EA"/>
                </a:solidFill>
              </a:ln>
            </p:spPr>
          </p:sp>
          <p:sp>
            <p:nvSpPr>
              <p:cNvPr id="45" name="Rectangle 45"/>
              <p:cNvSpPr/>
              <p:nvPr/>
            </p:nvSpPr>
            <p:spPr>
              <a:xfrm>
                <a:off x="9144000" y="800100"/>
                <a:ext cx="2762250" cy="381000"/>
              </a:xfrm>
              <a:prstGeom prst="roundRect">
                <a:avLst>
                  <a:gd name="adj" fmla="val 20000"/>
                </a:avLst>
              </a:prstGeom>
              <a:solidFill>
                <a:srgbClr val="520E00"/>
              </a:solidFill>
              <a:ln>
                <a:noFill/>
              </a:ln>
            </p:spPr>
          </p:sp>
          <p:sp>
            <p:nvSpPr>
              <p:cNvPr id="46" name="Rectangle 46"/>
              <p:cNvSpPr/>
              <p:nvPr/>
            </p:nvSpPr>
            <p:spPr>
              <a:xfrm>
                <a:off x="9144000" y="1028700"/>
                <a:ext cx="2762250" cy="152400"/>
              </a:xfrm>
              <a:prstGeom prst="rect">
                <a:avLst/>
              </a:prstGeom>
              <a:solidFill>
                <a:srgbClr val="520E00"/>
              </a:solidFill>
              <a:ln>
                <a:noFill/>
              </a:ln>
            </p:spPr>
          </p:sp>
          <p:sp>
            <p:nvSpPr>
              <p:cNvPr id="47" name="Ellipse 47"/>
              <p:cNvSpPr/>
              <p:nvPr/>
            </p:nvSpPr>
            <p:spPr>
              <a:xfrm>
                <a:off x="9248775" y="885825"/>
                <a:ext cx="209550" cy="209550"/>
              </a:xfrm>
              <a:prstGeom prst="ellipse">
                <a:avLst/>
              </a:prstGeom>
              <a:solidFill>
                <a:srgbClr val="FFFFFF"/>
              </a:solidFill>
              <a:ln>
                <a:noFill/>
              </a:ln>
            </p:spPr>
          </p:sp>
          <p:sp>
            <p:nvSpPr>
              <p:cNvPr id="48" name="TextBox 48"/>
              <p:cNvSpPr txBox="1"/>
              <p:nvPr/>
            </p:nvSpPr>
            <p:spPr>
              <a:xfrm>
                <a:off x="9285038" y="939641"/>
                <a:ext cx="137024"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4​</a:t>
                </a:r>
              </a:p>
            </p:txBody>
          </p:sp>
          <p:sp>
            <p:nvSpPr>
              <p:cNvPr id="49" name="TextBox 49"/>
              <p:cNvSpPr txBox="1"/>
              <p:nvPr/>
            </p:nvSpPr>
            <p:spPr>
              <a:xfrm>
                <a:off x="9520047" y="932974"/>
                <a:ext cx="1918239"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16—30天：场景扩展与习惯养成​</a:t>
                </a:r>
              </a:p>
            </p:txBody>
          </p:sp>
          <p:grpSp>
            <p:nvGrpSpPr>
              <p:cNvPr id="55" name="Group 55"/>
              <p:cNvGrpSpPr/>
              <p:nvPr/>
            </p:nvGrpSpPr>
            <p:grpSpPr>
              <a:xfrm>
                <a:off x="9404350" y="1651000"/>
                <a:ext cx="355600" cy="355600"/>
                <a:chOff x="9404350" y="1651000"/>
                <a:chExt cx="355600" cy="355600"/>
              </a:xfrm>
            </p:grpSpPr>
            <p:sp>
              <p:nvSpPr>
                <p:cNvPr id="50" name="Freeform 50"/>
                <p:cNvSpPr/>
                <p:nvPr/>
              </p:nvSpPr>
              <p:spPr>
                <a:xfrm>
                  <a:off x="9404350" y="1651000"/>
                  <a:ext cx="133350" cy="133350"/>
                </a:xfrm>
                <a:custGeom>
                  <a:avLst/>
                  <a:gdLst/>
                  <a:ahLst/>
                  <a:cxnLst/>
                  <a:rect l="l" t="t" r="r" b="b"/>
                  <a:pathLst>
                    <a:path w="133350" h="133350">
                      <a:moveTo>
                        <a:pt x="0" y="22225"/>
                      </a:moveTo>
                      <a:cubicBezTo>
                        <a:pt x="0" y="9950"/>
                        <a:pt x="9950" y="0"/>
                        <a:pt x="22225" y="0"/>
                      </a:cubicBezTo>
                      <a:lnTo>
                        <a:pt x="111125" y="0"/>
                      </a:lnTo>
                      <a:cubicBezTo>
                        <a:pt x="123399" y="0"/>
                        <a:pt x="133350" y="9950"/>
                        <a:pt x="133350" y="22225"/>
                      </a:cubicBezTo>
                      <a:lnTo>
                        <a:pt x="133350" y="111125"/>
                      </a:lnTo>
                      <a:cubicBezTo>
                        <a:pt x="133350" y="123399"/>
                        <a:pt x="123399" y="133350"/>
                        <a:pt x="111125" y="133350"/>
                      </a:cubicBezTo>
                      <a:lnTo>
                        <a:pt x="22225" y="133350"/>
                      </a:lnTo>
                      <a:cubicBezTo>
                        <a:pt x="9950" y="133350"/>
                        <a:pt x="0" y="123399"/>
                        <a:pt x="0" y="111125"/>
                      </a:cubicBezTo>
                      <a:lnTo>
                        <a:pt x="0" y="22225"/>
                      </a:lnTo>
                    </a:path>
                  </a:pathLst>
                </a:custGeom>
                <a:noFill/>
                <a:ln w="33337">
                  <a:solidFill>
                    <a:srgbClr val="8A1700"/>
                  </a:solidFill>
                </a:ln>
              </p:spPr>
            </p:sp>
            <p:sp>
              <p:nvSpPr>
                <p:cNvPr id="51" name="Freeform 51"/>
                <p:cNvSpPr/>
                <p:nvPr/>
              </p:nvSpPr>
              <p:spPr>
                <a:xfrm>
                  <a:off x="9404350" y="1873250"/>
                  <a:ext cx="133350" cy="133350"/>
                </a:xfrm>
                <a:custGeom>
                  <a:avLst/>
                  <a:gdLst/>
                  <a:ahLst/>
                  <a:cxnLst/>
                  <a:rect l="l" t="t" r="r" b="b"/>
                  <a:pathLst>
                    <a:path w="133350" h="133350">
                      <a:moveTo>
                        <a:pt x="0" y="22225"/>
                      </a:moveTo>
                      <a:cubicBezTo>
                        <a:pt x="0" y="9950"/>
                        <a:pt x="9950" y="0"/>
                        <a:pt x="22225" y="0"/>
                      </a:cubicBezTo>
                      <a:lnTo>
                        <a:pt x="111125" y="0"/>
                      </a:lnTo>
                      <a:cubicBezTo>
                        <a:pt x="123399" y="0"/>
                        <a:pt x="133350" y="9950"/>
                        <a:pt x="133350" y="22225"/>
                      </a:cubicBezTo>
                      <a:lnTo>
                        <a:pt x="133350" y="111125"/>
                      </a:lnTo>
                      <a:cubicBezTo>
                        <a:pt x="133350" y="123399"/>
                        <a:pt x="123399" y="133350"/>
                        <a:pt x="111125" y="133350"/>
                      </a:cubicBezTo>
                      <a:lnTo>
                        <a:pt x="22225" y="133350"/>
                      </a:lnTo>
                      <a:cubicBezTo>
                        <a:pt x="9950" y="133350"/>
                        <a:pt x="0" y="123399"/>
                        <a:pt x="0" y="111125"/>
                      </a:cubicBezTo>
                      <a:lnTo>
                        <a:pt x="0" y="22225"/>
                      </a:lnTo>
                    </a:path>
                  </a:pathLst>
                </a:custGeom>
                <a:noFill/>
                <a:ln w="33337">
                  <a:solidFill>
                    <a:srgbClr val="8A1700"/>
                  </a:solidFill>
                </a:ln>
              </p:spPr>
            </p:sp>
            <p:sp>
              <p:nvSpPr>
                <p:cNvPr id="52" name="Freeform 52"/>
                <p:cNvSpPr/>
                <p:nvPr/>
              </p:nvSpPr>
              <p:spPr>
                <a:xfrm>
                  <a:off x="9626600" y="1873250"/>
                  <a:ext cx="133350" cy="133350"/>
                </a:xfrm>
                <a:custGeom>
                  <a:avLst/>
                  <a:gdLst/>
                  <a:ahLst/>
                  <a:cxnLst/>
                  <a:rect l="l" t="t" r="r" b="b"/>
                  <a:pathLst>
                    <a:path w="133350" h="133350">
                      <a:moveTo>
                        <a:pt x="0" y="22225"/>
                      </a:moveTo>
                      <a:cubicBezTo>
                        <a:pt x="0" y="9950"/>
                        <a:pt x="9950" y="0"/>
                        <a:pt x="22225" y="0"/>
                      </a:cubicBezTo>
                      <a:lnTo>
                        <a:pt x="111125" y="0"/>
                      </a:lnTo>
                      <a:cubicBezTo>
                        <a:pt x="123399" y="0"/>
                        <a:pt x="133350" y="9950"/>
                        <a:pt x="133350" y="22225"/>
                      </a:cubicBezTo>
                      <a:lnTo>
                        <a:pt x="133350" y="111125"/>
                      </a:lnTo>
                      <a:cubicBezTo>
                        <a:pt x="133350" y="123399"/>
                        <a:pt x="123399" y="133350"/>
                        <a:pt x="111125" y="133350"/>
                      </a:cubicBezTo>
                      <a:lnTo>
                        <a:pt x="22225" y="133350"/>
                      </a:lnTo>
                      <a:cubicBezTo>
                        <a:pt x="9950" y="133350"/>
                        <a:pt x="0" y="123399"/>
                        <a:pt x="0" y="111125"/>
                      </a:cubicBezTo>
                      <a:lnTo>
                        <a:pt x="0" y="22225"/>
                      </a:lnTo>
                    </a:path>
                  </a:pathLst>
                </a:custGeom>
                <a:noFill/>
                <a:ln w="33337">
                  <a:solidFill>
                    <a:srgbClr val="8A1700"/>
                  </a:solidFill>
                </a:ln>
              </p:spPr>
            </p:sp>
            <p:sp>
              <p:nvSpPr>
                <p:cNvPr id="53" name="Freeform 53"/>
                <p:cNvSpPr/>
                <p:nvPr/>
              </p:nvSpPr>
              <p:spPr>
                <a:xfrm>
                  <a:off x="9626600" y="1717675"/>
                  <a:ext cx="133350" cy="9525"/>
                </a:xfrm>
                <a:custGeom>
                  <a:avLst/>
                  <a:gdLst/>
                  <a:ahLst/>
                  <a:cxnLst/>
                  <a:rect l="l" t="t" r="r" b="b"/>
                  <a:pathLst>
                    <a:path w="133350" h="9525">
                      <a:moveTo>
                        <a:pt x="0" y="0"/>
                      </a:moveTo>
                      <a:lnTo>
                        <a:pt x="133350" y="0"/>
                      </a:lnTo>
                    </a:path>
                  </a:pathLst>
                </a:custGeom>
                <a:noFill/>
                <a:ln w="33337">
                  <a:solidFill>
                    <a:srgbClr val="8A1700"/>
                  </a:solidFill>
                </a:ln>
              </p:spPr>
            </p:sp>
            <p:sp>
              <p:nvSpPr>
                <p:cNvPr id="54" name="Freeform 54"/>
                <p:cNvSpPr/>
                <p:nvPr/>
              </p:nvSpPr>
              <p:spPr>
                <a:xfrm>
                  <a:off x="9693274" y="1651000"/>
                  <a:ext cx="9525" cy="133350"/>
                </a:xfrm>
                <a:custGeom>
                  <a:avLst/>
                  <a:gdLst/>
                  <a:ahLst/>
                  <a:cxnLst/>
                  <a:rect l="l" t="t" r="r" b="b"/>
                  <a:pathLst>
                    <a:path w="9525" h="133350">
                      <a:moveTo>
                        <a:pt x="0" y="0"/>
                      </a:moveTo>
                      <a:lnTo>
                        <a:pt x="0" y="133350"/>
                      </a:lnTo>
                    </a:path>
                  </a:pathLst>
                </a:custGeom>
                <a:noFill/>
                <a:ln w="33337">
                  <a:solidFill>
                    <a:srgbClr val="8A1700"/>
                  </a:solidFill>
                </a:ln>
              </p:spPr>
            </p:sp>
          </p:grpSp>
          <p:sp>
            <p:nvSpPr>
              <p:cNvPr id="56" name="TextBox 56"/>
              <p:cNvSpPr txBox="1"/>
              <p:nvPr/>
            </p:nvSpPr>
            <p:spPr>
              <a:xfrm>
                <a:off x="10053638" y="1362789"/>
                <a:ext cx="797116" cy="897731"/>
              </a:xfrm>
              <a:prstGeom prst="rect">
                <a:avLst/>
              </a:prstGeom>
              <a:noFill/>
              <a:ln>
                <a:noFill/>
              </a:ln>
            </p:spPr>
            <p:txBody>
              <a:bodyPr wrap="none" lIns="0" tIns="0" rIns="0" bIns="0" anchor="t" anchorCtr="0">
                <a:spAutoFit/>
              </a:bodyPr>
              <a:lstStyle/>
              <a:p>
                <a:pPr algn="l" marL="85280" indent="-85280">
                  <a:lnSpc>
                    <a:spcPts val="1950"/>
                  </a:lnSpc>
                  <a:buClr>
                    <a:srgbClr val="60403A"/>
                  </a:buClr>
                  <a:buSzTx/>
                  <a:buFontTx/>
                  <a:buChar char="•"/>
                </a:pPr>
                <a:r>
                  <a:rPr lang="zh-CN" sz="790" dirty="0">
                    <a:solidFill>
                      <a:srgbClr val="60403A"/>
                    </a:solidFill>
                    <a:latin typeface="+mn-lt"/>
                    <a:ea typeface="+mn-ea"/>
                    <a:cs typeface="+mn-cs"/>
                  </a:rPr>
                  <a:t>多元场景拓展</a:t>
                </a:r>
              </a:p>
              <a:p>
                <a:pPr algn="l" marL="85280" indent="-85280">
                  <a:lnSpc>
                    <a:spcPts val="1950"/>
                  </a:lnSpc>
                  <a:buClr>
                    <a:srgbClr val="60403A"/>
                  </a:buClr>
                  <a:buSzTx/>
                  <a:buFontTx/>
                  <a:buChar char="•"/>
                </a:pPr>
                <a:r>
                  <a:rPr lang="zh-CN" sz="790" dirty="0">
                    <a:solidFill>
                      <a:srgbClr val="60403A"/>
                    </a:solidFill>
                    <a:latin typeface="+mn-lt"/>
                    <a:ea typeface="+mn-ea"/>
                    <a:cs typeface="+mn-cs"/>
                  </a:rPr>
                  <a:t>权益使用引导</a:t>
                </a:r>
              </a:p>
              <a:p>
                <a:pPr algn="l" marL="85280" indent="-85280">
                  <a:lnSpc>
                    <a:spcPts val="1950"/>
                  </a:lnSpc>
                  <a:buClr>
                    <a:srgbClr val="60403A"/>
                  </a:buClr>
                  <a:buSzTx/>
                  <a:buFontTx/>
                  <a:buChar char="•"/>
                </a:pPr>
                <a:r>
                  <a:rPr lang="zh-CN" sz="790" dirty="0">
                    <a:solidFill>
                      <a:srgbClr val="60403A"/>
                    </a:solidFill>
                    <a:latin typeface="+mn-lt"/>
                    <a:ea typeface="+mn-ea"/>
                    <a:cs typeface="+mn-cs"/>
                  </a:rPr>
                  <a:t>自动化习惯养成</a:t>
                </a:r>
              </a:p>
              <a:p>
                <a:pPr algn="l" marL="85280" indent="-85280">
                  <a:lnSpc>
                    <a:spcPts val="1950"/>
                  </a:lnSpc>
                  <a:buClr>
                    <a:srgbClr val="60403A"/>
                  </a:buClr>
                  <a:buSzTx/>
                  <a:buFontTx/>
                  <a:buChar char="•"/>
                </a:pPr>
                <a:r>
                  <a:rPr lang="zh-CN" sz="790" dirty="0">
                    <a:solidFill>
                      <a:srgbClr val="60403A"/>
                    </a:solidFill>
                    <a:latin typeface="+mn-lt"/>
                    <a:ea typeface="+mn-ea"/>
                    <a:cs typeface="+mn-cs"/>
                  </a:rPr>
                  <a:t>价值提升推荐</a:t>
                </a:r>
              </a:p>
            </p:txBody>
          </p:sp>
        </p:grpSp>
      </p:grpSp>
      <p:grpSp>
        <p:nvGrpSpPr>
          <p:cNvPr id="68" name="day-timeline"/>
          <p:cNvGrpSpPr/>
          <p:nvPr/>
        </p:nvGrpSpPr>
        <p:grpSpPr>
          <a:xfrm>
            <a:off x="285750" y="2828925"/>
            <a:ext cx="11487150" cy="399764"/>
            <a:chOff x="285750" y="2828925"/>
            <a:chExt cx="11487150" cy="399764"/>
          </a:xfrm>
        </p:grpSpPr>
        <p:sp>
          <p:nvSpPr>
            <p:cNvPr id="59" name="Line 59"/>
            <p:cNvSpPr/>
            <p:nvPr/>
          </p:nvSpPr>
          <p:spPr>
            <a:xfrm>
              <a:off x="285750" y="2895600"/>
              <a:ext cx="11487150" cy="1"/>
            </a:xfrm>
            <a:prstGeom prst="line">
              <a:avLst/>
            </a:prstGeom>
            <a:noFill/>
            <a:ln w="23812">
              <a:solidFill>
                <a:srgbClr val="520E00"/>
              </a:solidFill>
              <a:tailEnd type="triangle" w="lg" len="lg"/>
            </a:ln>
          </p:spPr>
        </p:sp>
        <p:sp>
          <p:nvSpPr>
            <p:cNvPr id="60" name="Ellipse 60"/>
            <p:cNvSpPr/>
            <p:nvPr/>
          </p:nvSpPr>
          <p:spPr>
            <a:xfrm>
              <a:off x="1543050" y="2828925"/>
              <a:ext cx="133350" cy="133350"/>
            </a:xfrm>
            <a:prstGeom prst="ellipse">
              <a:avLst/>
            </a:prstGeom>
            <a:solidFill>
              <a:srgbClr val="E84E2F"/>
            </a:solidFill>
            <a:ln>
              <a:noFill/>
            </a:ln>
          </p:spPr>
        </p:sp>
        <p:sp>
          <p:nvSpPr>
            <p:cNvPr id="61" name="Ellipse 61"/>
            <p:cNvSpPr/>
            <p:nvPr/>
          </p:nvSpPr>
          <p:spPr>
            <a:xfrm>
              <a:off x="4514850" y="2828925"/>
              <a:ext cx="133350" cy="133350"/>
            </a:xfrm>
            <a:prstGeom prst="ellipse">
              <a:avLst/>
            </a:prstGeom>
            <a:solidFill>
              <a:srgbClr val="E84E2F"/>
            </a:solidFill>
            <a:ln>
              <a:noFill/>
            </a:ln>
          </p:spPr>
        </p:sp>
        <p:sp>
          <p:nvSpPr>
            <p:cNvPr id="62" name="Ellipse 62"/>
            <p:cNvSpPr/>
            <p:nvPr/>
          </p:nvSpPr>
          <p:spPr>
            <a:xfrm>
              <a:off x="7486650" y="2828925"/>
              <a:ext cx="133350" cy="133350"/>
            </a:xfrm>
            <a:prstGeom prst="ellipse">
              <a:avLst/>
            </a:prstGeom>
            <a:solidFill>
              <a:srgbClr val="E84E2F"/>
            </a:solidFill>
            <a:ln>
              <a:noFill/>
            </a:ln>
          </p:spPr>
        </p:sp>
        <p:sp>
          <p:nvSpPr>
            <p:cNvPr id="63" name="Ellipse 63"/>
            <p:cNvSpPr/>
            <p:nvPr/>
          </p:nvSpPr>
          <p:spPr>
            <a:xfrm>
              <a:off x="10458450" y="2828925"/>
              <a:ext cx="133350" cy="133350"/>
            </a:xfrm>
            <a:prstGeom prst="ellipse">
              <a:avLst/>
            </a:prstGeom>
            <a:solidFill>
              <a:srgbClr val="E84E2F"/>
            </a:solidFill>
            <a:ln>
              <a:noFill/>
            </a:ln>
          </p:spPr>
        </p:sp>
        <p:sp>
          <p:nvSpPr>
            <p:cNvPr id="64" name="TextBox 64"/>
            <p:cNvSpPr txBox="1"/>
            <p:nvPr/>
          </p:nvSpPr>
          <p:spPr>
            <a:xfrm>
              <a:off x="1396656" y="3037999"/>
              <a:ext cx="426138" cy="190690"/>
            </a:xfrm>
            <a:prstGeom prst="rect">
              <a:avLst/>
            </a:prstGeom>
            <a:noFill/>
            <a:ln>
              <a:noFill/>
            </a:ln>
          </p:spPr>
          <p:txBody>
            <a:bodyPr wrap="none" lIns="0" tIns="0" rIns="0" bIns="0" anchor="t" anchorCtr="0">
              <a:spAutoFit/>
            </a:bodyPr>
            <a:lstStyle/>
            <a:p>
              <a:pPr algn="ctr"/>
              <a:r>
                <a:rPr lang="zh-CN" sz="980" b="1" dirty="0">
                  <a:solidFill>
                    <a:srgbClr val="520E00"/>
                  </a:solidFill>
                  <a:latin typeface="+mn-lt"/>
                  <a:ea typeface="+mn-ea"/>
                  <a:cs typeface="+mn-cs"/>
                </a:rPr>
                <a:t>第1天​</a:t>
              </a:r>
            </a:p>
          </p:txBody>
        </p:sp>
        <p:sp>
          <p:nvSpPr>
            <p:cNvPr id="65" name="TextBox 65"/>
            <p:cNvSpPr txBox="1"/>
            <p:nvPr/>
          </p:nvSpPr>
          <p:spPr>
            <a:xfrm>
              <a:off x="4368456" y="3037999"/>
              <a:ext cx="426138" cy="190690"/>
            </a:xfrm>
            <a:prstGeom prst="rect">
              <a:avLst/>
            </a:prstGeom>
            <a:noFill/>
            <a:ln>
              <a:noFill/>
            </a:ln>
          </p:spPr>
          <p:txBody>
            <a:bodyPr wrap="none" lIns="0" tIns="0" rIns="0" bIns="0" anchor="t" anchorCtr="0">
              <a:spAutoFit/>
            </a:bodyPr>
            <a:lstStyle/>
            <a:p>
              <a:pPr algn="ctr"/>
              <a:r>
                <a:rPr lang="zh-CN" sz="980" b="1" dirty="0">
                  <a:solidFill>
                    <a:srgbClr val="520E00"/>
                  </a:solidFill>
                  <a:latin typeface="+mn-lt"/>
                  <a:ea typeface="+mn-ea"/>
                  <a:cs typeface="+mn-cs"/>
                </a:rPr>
                <a:t>第7天​</a:t>
              </a:r>
            </a:p>
          </p:txBody>
        </p:sp>
        <p:sp>
          <p:nvSpPr>
            <p:cNvPr id="66" name="TextBox 66"/>
            <p:cNvSpPr txBox="1"/>
            <p:nvPr/>
          </p:nvSpPr>
          <p:spPr>
            <a:xfrm>
              <a:off x="7302162" y="3037999"/>
              <a:ext cx="502326" cy="190690"/>
            </a:xfrm>
            <a:prstGeom prst="rect">
              <a:avLst/>
            </a:prstGeom>
            <a:noFill/>
            <a:ln>
              <a:noFill/>
            </a:ln>
          </p:spPr>
          <p:txBody>
            <a:bodyPr wrap="none" lIns="0" tIns="0" rIns="0" bIns="0" anchor="t" anchorCtr="0">
              <a:spAutoFit/>
            </a:bodyPr>
            <a:lstStyle/>
            <a:p>
              <a:pPr algn="ctr"/>
              <a:r>
                <a:rPr lang="zh-CN" sz="980" b="1" dirty="0">
                  <a:solidFill>
                    <a:srgbClr val="520E00"/>
                  </a:solidFill>
                  <a:latin typeface="+mn-lt"/>
                  <a:ea typeface="+mn-ea"/>
                  <a:cs typeface="+mn-cs"/>
                </a:rPr>
                <a:t>第15天​</a:t>
              </a:r>
            </a:p>
          </p:txBody>
        </p:sp>
        <p:sp>
          <p:nvSpPr>
            <p:cNvPr id="67" name="TextBox 67"/>
            <p:cNvSpPr txBox="1"/>
            <p:nvPr/>
          </p:nvSpPr>
          <p:spPr>
            <a:xfrm>
              <a:off x="10273962" y="3037999"/>
              <a:ext cx="502326" cy="190690"/>
            </a:xfrm>
            <a:prstGeom prst="rect">
              <a:avLst/>
            </a:prstGeom>
            <a:noFill/>
            <a:ln>
              <a:noFill/>
            </a:ln>
          </p:spPr>
          <p:txBody>
            <a:bodyPr wrap="none" lIns="0" tIns="0" rIns="0" bIns="0" anchor="t" anchorCtr="0">
              <a:spAutoFit/>
            </a:bodyPr>
            <a:lstStyle/>
            <a:p>
              <a:pPr algn="ctr"/>
              <a:r>
                <a:rPr lang="zh-CN" sz="980" b="1" dirty="0">
                  <a:solidFill>
                    <a:srgbClr val="520E00"/>
                  </a:solidFill>
                  <a:latin typeface="+mn-lt"/>
                  <a:ea typeface="+mn-ea"/>
                  <a:cs typeface="+mn-cs"/>
                </a:rPr>
                <a:t>第30天​</a:t>
              </a:r>
            </a:p>
          </p:txBody>
        </p:sp>
      </p:grpSp>
      <p:grpSp>
        <p:nvGrpSpPr>
          <p:cNvPr id="145" name="strategy-panel"/>
          <p:cNvGrpSpPr/>
          <p:nvPr/>
        </p:nvGrpSpPr>
        <p:grpSpPr>
          <a:xfrm>
            <a:off x="228600" y="3276600"/>
            <a:ext cx="11734800" cy="2247900"/>
            <a:chOff x="228600" y="3276600"/>
            <a:chExt cx="11734800" cy="2247900"/>
          </a:xfrm>
        </p:grpSpPr>
        <p:sp>
          <p:nvSpPr>
            <p:cNvPr id="69" name="Rectangle 69"/>
            <p:cNvSpPr/>
            <p:nvPr/>
          </p:nvSpPr>
          <p:spPr>
            <a:xfrm>
              <a:off x="228600" y="3276600"/>
              <a:ext cx="11734800" cy="2247900"/>
            </a:xfrm>
            <a:prstGeom prst="roundRect">
              <a:avLst>
                <a:gd name="adj" fmla="val 4237"/>
              </a:avLst>
            </a:prstGeom>
            <a:solidFill>
              <a:srgbClr val="EEF3FB"/>
            </a:solidFill>
            <a:ln w="9525">
              <a:solidFill>
                <a:srgbClr val="C9D5EA"/>
              </a:solidFill>
            </a:ln>
          </p:spPr>
        </p:sp>
        <p:grpSp>
          <p:nvGrpSpPr>
            <p:cNvPr id="76" name="Group 76"/>
            <p:cNvGrpSpPr/>
            <p:nvPr/>
          </p:nvGrpSpPr>
          <p:grpSpPr>
            <a:xfrm>
              <a:off x="504825" y="4124325"/>
              <a:ext cx="514350" cy="514350"/>
              <a:chOff x="504825" y="4124325"/>
              <a:chExt cx="514350" cy="514350"/>
            </a:xfrm>
          </p:grpSpPr>
          <p:sp>
            <p:nvSpPr>
              <p:cNvPr id="70" name="Freeform 70"/>
              <p:cNvSpPr/>
              <p:nvPr/>
            </p:nvSpPr>
            <p:spPr>
              <a:xfrm>
                <a:off x="704850" y="43529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42862">
                <a:solidFill>
                  <a:srgbClr val="520E00"/>
                </a:solidFill>
              </a:ln>
            </p:spPr>
          </p:sp>
          <p:sp>
            <p:nvSpPr>
              <p:cNvPr id="71" name="Freeform 71"/>
              <p:cNvSpPr/>
              <p:nvPr/>
            </p:nvSpPr>
            <p:spPr>
              <a:xfrm>
                <a:off x="647700" y="4552950"/>
                <a:ext cx="228600" cy="85725"/>
              </a:xfrm>
              <a:custGeom>
                <a:avLst/>
                <a:gdLst/>
                <a:ahLst/>
                <a:cxnLst/>
                <a:rect l="l" t="t" r="r" b="b"/>
                <a:pathLst>
                  <a:path w="228600" h="85725">
                    <a:moveTo>
                      <a:pt x="0" y="85725"/>
                    </a:moveTo>
                    <a:lnTo>
                      <a:pt x="0" y="57150"/>
                    </a:lnTo>
                    <a:cubicBezTo>
                      <a:pt x="0" y="25587"/>
                      <a:pt x="25587" y="0"/>
                      <a:pt x="57150" y="0"/>
                    </a:cubicBezTo>
                    <a:lnTo>
                      <a:pt x="171450" y="0"/>
                    </a:lnTo>
                    <a:cubicBezTo>
                      <a:pt x="203013" y="0"/>
                      <a:pt x="228600" y="25587"/>
                      <a:pt x="228600" y="57150"/>
                    </a:cubicBezTo>
                    <a:lnTo>
                      <a:pt x="228600" y="85725"/>
                    </a:lnTo>
                  </a:path>
                </a:pathLst>
              </a:custGeom>
              <a:noFill/>
              <a:ln w="42862">
                <a:solidFill>
                  <a:srgbClr val="520E00"/>
                </a:solidFill>
              </a:ln>
            </p:spPr>
          </p:sp>
          <p:sp>
            <p:nvSpPr>
              <p:cNvPr id="72" name="Freeform 72"/>
              <p:cNvSpPr/>
              <p:nvPr/>
            </p:nvSpPr>
            <p:spPr>
              <a:xfrm>
                <a:off x="847725" y="41243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42862">
                <a:solidFill>
                  <a:srgbClr val="520E00"/>
                </a:solidFill>
              </a:ln>
            </p:spPr>
          </p:sp>
          <p:sp>
            <p:nvSpPr>
              <p:cNvPr id="73" name="Freeform 73"/>
              <p:cNvSpPr/>
              <p:nvPr/>
            </p:nvSpPr>
            <p:spPr>
              <a:xfrm>
                <a:off x="904875" y="4324350"/>
                <a:ext cx="114300" cy="85725"/>
              </a:xfrm>
              <a:custGeom>
                <a:avLst/>
                <a:gdLst/>
                <a:ahLst/>
                <a:cxnLst/>
                <a:rect l="l" t="t" r="r" b="b"/>
                <a:pathLst>
                  <a:path w="114300" h="85725">
                    <a:moveTo>
                      <a:pt x="0" y="0"/>
                    </a:moveTo>
                    <a:lnTo>
                      <a:pt x="57150" y="0"/>
                    </a:lnTo>
                    <a:cubicBezTo>
                      <a:pt x="88713" y="0"/>
                      <a:pt x="114300" y="25587"/>
                      <a:pt x="114300" y="57150"/>
                    </a:cubicBezTo>
                    <a:lnTo>
                      <a:pt x="114300" y="85725"/>
                    </a:lnTo>
                  </a:path>
                </a:pathLst>
              </a:custGeom>
              <a:noFill/>
              <a:ln w="42862">
                <a:solidFill>
                  <a:srgbClr val="520E00"/>
                </a:solidFill>
              </a:ln>
            </p:spPr>
          </p:sp>
          <p:sp>
            <p:nvSpPr>
              <p:cNvPr id="74" name="Freeform 74"/>
              <p:cNvSpPr/>
              <p:nvPr/>
            </p:nvSpPr>
            <p:spPr>
              <a:xfrm>
                <a:off x="561975" y="41243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42862">
                <a:solidFill>
                  <a:srgbClr val="520E00"/>
                </a:solidFill>
              </a:ln>
            </p:spPr>
          </p:sp>
          <p:sp>
            <p:nvSpPr>
              <p:cNvPr id="75" name="Freeform 75"/>
              <p:cNvSpPr/>
              <p:nvPr/>
            </p:nvSpPr>
            <p:spPr>
              <a:xfrm>
                <a:off x="504825" y="4324350"/>
                <a:ext cx="114300" cy="85725"/>
              </a:xfrm>
              <a:custGeom>
                <a:avLst/>
                <a:gdLst/>
                <a:ahLst/>
                <a:cxnLst/>
                <a:rect l="l" t="t" r="r" b="b"/>
                <a:pathLst>
                  <a:path w="114300" h="85725">
                    <a:moveTo>
                      <a:pt x="0" y="85725"/>
                    </a:moveTo>
                    <a:lnTo>
                      <a:pt x="0" y="57150"/>
                    </a:lnTo>
                    <a:cubicBezTo>
                      <a:pt x="0" y="25587"/>
                      <a:pt x="25587" y="0"/>
                      <a:pt x="57150" y="0"/>
                    </a:cubicBezTo>
                    <a:lnTo>
                      <a:pt x="114300" y="0"/>
                    </a:lnTo>
                  </a:path>
                </a:pathLst>
              </a:custGeom>
              <a:noFill/>
              <a:ln w="42862">
                <a:solidFill>
                  <a:srgbClr val="520E00"/>
                </a:solidFill>
              </a:ln>
            </p:spPr>
          </p:sp>
        </p:grpSp>
        <p:sp>
          <p:nvSpPr>
            <p:cNvPr id="77" name="TextBox 77"/>
            <p:cNvSpPr txBox="1"/>
            <p:nvPr/>
          </p:nvSpPr>
          <p:spPr>
            <a:xfrm>
              <a:off x="1251204" y="4118610"/>
              <a:ext cx="981456"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差异化策略：</a:t>
              </a:r>
            </a:p>
          </p:txBody>
        </p:sp>
        <p:sp>
          <p:nvSpPr>
            <p:cNvPr id="78" name="TextBox 78"/>
            <p:cNvSpPr txBox="1"/>
            <p:nvPr/>
          </p:nvSpPr>
          <p:spPr>
            <a:xfrm>
              <a:off x="1252538" y="4387691"/>
              <a:ext cx="115506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60403A"/>
                  </a:solidFill>
                  <a:latin typeface="+mn-lt"/>
                  <a:ea typeface="+mn-ea"/>
                  <a:cs typeface="+mn-cs"/>
                </a:rPr>
                <a:t>未激活、已激活未首刷、</a:t>
              </a:r>
              <a:br/>
              <a:r>
                <a:rPr lang="zh-CN" sz="820" dirty="0">
                  <a:solidFill>
                    <a:srgbClr val="60403A"/>
                  </a:solidFill>
                  <a:latin typeface="+mn-lt"/>
                  <a:ea typeface="+mn-ea"/>
                  <a:cs typeface="+mn-cs"/>
                </a:rPr>
                <a:t>低额首刷</a:t>
              </a:r>
            </a:p>
          </p:txBody>
        </p:sp>
        <p:sp>
          <p:nvSpPr>
            <p:cNvPr id="79" name="Line 79"/>
            <p:cNvSpPr/>
            <p:nvPr/>
          </p:nvSpPr>
          <p:spPr>
            <a:xfrm>
              <a:off x="2857500" y="4400550"/>
              <a:ext cx="381000" cy="9525"/>
            </a:xfrm>
            <a:custGeom>
              <a:avLst/>
              <a:gdLst/>
              <a:ahLst/>
              <a:cxnLst/>
              <a:rect l="l" t="t" r="r" b="b"/>
              <a:pathLst>
                <a:path w="381000" h="9525">
                  <a:moveTo>
                    <a:pt x="0" y="0"/>
                  </a:moveTo>
                  <a:lnTo>
                    <a:pt x="381000" y="0"/>
                  </a:lnTo>
                </a:path>
              </a:pathLst>
            </a:custGeom>
            <a:noFill/>
            <a:ln w="14288">
              <a:solidFill>
                <a:srgbClr val="E84E2F"/>
              </a:solidFill>
            </a:ln>
          </p:spPr>
        </p:sp>
        <p:sp>
          <p:nvSpPr>
            <p:cNvPr id="80" name="Line 80"/>
            <p:cNvSpPr/>
            <p:nvPr/>
          </p:nvSpPr>
          <p:spPr>
            <a:xfrm>
              <a:off x="3238500" y="3638550"/>
              <a:ext cx="9525" cy="1524000"/>
            </a:xfrm>
            <a:custGeom>
              <a:avLst/>
              <a:gdLst/>
              <a:ahLst/>
              <a:cxnLst/>
              <a:rect l="l" t="t" r="r" b="b"/>
              <a:pathLst>
                <a:path w="9525" h="1524000">
                  <a:moveTo>
                    <a:pt x="0" y="0"/>
                  </a:moveTo>
                  <a:lnTo>
                    <a:pt x="0" y="1524000"/>
                  </a:lnTo>
                </a:path>
              </a:pathLst>
            </a:custGeom>
            <a:noFill/>
            <a:ln w="14288">
              <a:solidFill>
                <a:srgbClr val="E84E2F"/>
              </a:solidFill>
            </a:ln>
          </p:spPr>
        </p:sp>
        <p:sp>
          <p:nvSpPr>
            <p:cNvPr id="81" name="Line 81"/>
            <p:cNvSpPr/>
            <p:nvPr/>
          </p:nvSpPr>
          <p:spPr>
            <a:xfrm>
              <a:off x="3238500" y="3638550"/>
              <a:ext cx="285750" cy="9525"/>
            </a:xfrm>
            <a:custGeom>
              <a:avLst/>
              <a:gdLst/>
              <a:ahLst/>
              <a:cxnLst/>
              <a:rect l="l" t="t" r="r" b="b"/>
              <a:pathLst>
                <a:path w="285750" h="9525">
                  <a:moveTo>
                    <a:pt x="0" y="0"/>
                  </a:moveTo>
                  <a:lnTo>
                    <a:pt x="285750" y="0"/>
                  </a:lnTo>
                </a:path>
              </a:pathLst>
            </a:custGeom>
            <a:noFill/>
            <a:ln w="14288">
              <a:solidFill>
                <a:srgbClr val="E84E2F"/>
              </a:solidFill>
            </a:ln>
          </p:spPr>
        </p:sp>
        <p:sp>
          <p:nvSpPr>
            <p:cNvPr id="82" name="Line 82"/>
            <p:cNvSpPr/>
            <p:nvPr/>
          </p:nvSpPr>
          <p:spPr>
            <a:xfrm>
              <a:off x="3238500" y="4400550"/>
              <a:ext cx="285750" cy="9525"/>
            </a:xfrm>
            <a:custGeom>
              <a:avLst/>
              <a:gdLst/>
              <a:ahLst/>
              <a:cxnLst/>
              <a:rect l="l" t="t" r="r" b="b"/>
              <a:pathLst>
                <a:path w="285750" h="9525">
                  <a:moveTo>
                    <a:pt x="0" y="0"/>
                  </a:moveTo>
                  <a:lnTo>
                    <a:pt x="285750" y="0"/>
                  </a:lnTo>
                </a:path>
              </a:pathLst>
            </a:custGeom>
            <a:noFill/>
            <a:ln w="14288">
              <a:solidFill>
                <a:srgbClr val="E84E2F"/>
              </a:solidFill>
            </a:ln>
          </p:spPr>
        </p:sp>
        <p:sp>
          <p:nvSpPr>
            <p:cNvPr id="83" name="Line 83"/>
            <p:cNvSpPr/>
            <p:nvPr/>
          </p:nvSpPr>
          <p:spPr>
            <a:xfrm>
              <a:off x="3238500" y="5162550"/>
              <a:ext cx="285750" cy="9525"/>
            </a:xfrm>
            <a:custGeom>
              <a:avLst/>
              <a:gdLst/>
              <a:ahLst/>
              <a:cxnLst/>
              <a:rect l="l" t="t" r="r" b="b"/>
              <a:pathLst>
                <a:path w="285750" h="9525">
                  <a:moveTo>
                    <a:pt x="0" y="0"/>
                  </a:moveTo>
                  <a:lnTo>
                    <a:pt x="285750" y="0"/>
                  </a:lnTo>
                </a:path>
              </a:pathLst>
            </a:custGeom>
            <a:noFill/>
            <a:ln w="14288">
              <a:solidFill>
                <a:srgbClr val="E84E2F"/>
              </a:solidFill>
            </a:ln>
          </p:spPr>
        </p:sp>
        <p:grpSp>
          <p:nvGrpSpPr>
            <p:cNvPr id="103" name="branch-1"/>
            <p:cNvGrpSpPr/>
            <p:nvPr/>
          </p:nvGrpSpPr>
          <p:grpSpPr>
            <a:xfrm>
              <a:off x="3581400" y="3429000"/>
              <a:ext cx="8172450" cy="419100"/>
              <a:chOff x="3581400" y="3429000"/>
              <a:chExt cx="8172450" cy="419100"/>
            </a:xfrm>
          </p:grpSpPr>
          <p:sp>
            <p:nvSpPr>
              <p:cNvPr id="84" name="Rectangle 84"/>
              <p:cNvSpPr/>
              <p:nvPr/>
            </p:nvSpPr>
            <p:spPr>
              <a:xfrm>
                <a:off x="3581400" y="3429000"/>
                <a:ext cx="1676400" cy="419100"/>
              </a:xfrm>
              <a:prstGeom prst="roundRect">
                <a:avLst>
                  <a:gd name="adj" fmla="val 13636"/>
                </a:avLst>
              </a:prstGeom>
              <a:solidFill>
                <a:srgbClr val="FFFFFF"/>
              </a:solidFill>
              <a:ln w="9525">
                <a:solidFill>
                  <a:srgbClr val="C9D5EA"/>
                </a:solidFill>
              </a:ln>
            </p:spPr>
          </p:sp>
          <p:grpSp>
            <p:nvGrpSpPr>
              <p:cNvPr id="87" name="Group 87"/>
              <p:cNvGrpSpPr/>
              <p:nvPr/>
            </p:nvGrpSpPr>
            <p:grpSpPr>
              <a:xfrm>
                <a:off x="3781425" y="3538538"/>
                <a:ext cx="133350" cy="200025"/>
                <a:chOff x="3781425" y="3538538"/>
                <a:chExt cx="133350" cy="200025"/>
              </a:xfrm>
            </p:grpSpPr>
            <p:sp>
              <p:nvSpPr>
                <p:cNvPr id="85" name="Freeform 85"/>
                <p:cNvSpPr/>
                <p:nvPr/>
              </p:nvSpPr>
              <p:spPr>
                <a:xfrm>
                  <a:off x="3803650" y="35385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6669">
                  <a:solidFill>
                    <a:srgbClr val="8A1700"/>
                  </a:solidFill>
                </a:ln>
              </p:spPr>
            </p:sp>
            <p:sp>
              <p:nvSpPr>
                <p:cNvPr id="86" name="Freeform 86"/>
                <p:cNvSpPr/>
                <p:nvPr/>
              </p:nvSpPr>
              <p:spPr>
                <a:xfrm>
                  <a:off x="3781425" y="36718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6669">
                  <a:solidFill>
                    <a:srgbClr val="8A1700"/>
                  </a:solidFill>
                </a:ln>
              </p:spPr>
            </p:sp>
          </p:grpSp>
          <p:sp>
            <p:nvSpPr>
              <p:cNvPr id="88" name="TextBox 88"/>
              <p:cNvSpPr txBox="1"/>
              <p:nvPr/>
            </p:nvSpPr>
            <p:spPr>
              <a:xfrm>
                <a:off x="4071366" y="3582352"/>
                <a:ext cx="434721"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未激活</a:t>
                </a:r>
              </a:p>
            </p:txBody>
          </p:sp>
          <p:sp>
            <p:nvSpPr>
              <p:cNvPr id="89" name="Line 89"/>
              <p:cNvSpPr/>
              <p:nvPr/>
            </p:nvSpPr>
            <p:spPr>
              <a:xfrm>
                <a:off x="5334000" y="3638550"/>
                <a:ext cx="438150" cy="1"/>
              </a:xfrm>
              <a:prstGeom prst="line">
                <a:avLst/>
              </a:prstGeom>
              <a:noFill/>
              <a:ln w="14288">
                <a:solidFill>
                  <a:srgbClr val="E84E2F"/>
                </a:solidFill>
                <a:custDash>
                  <a:ds d="200000" sp="200000"/>
                </a:custDash>
                <a:tailEnd type="triangle" w="lg" len="lg"/>
              </a:ln>
            </p:spPr>
          </p:sp>
          <p:sp>
            <p:nvSpPr>
              <p:cNvPr id="90" name="Rectangle 90"/>
              <p:cNvSpPr/>
              <p:nvPr/>
            </p:nvSpPr>
            <p:spPr>
              <a:xfrm>
                <a:off x="5867400" y="3429000"/>
                <a:ext cx="2381250" cy="419100"/>
              </a:xfrm>
              <a:prstGeom prst="roundRect">
                <a:avLst>
                  <a:gd name="adj" fmla="val 13636"/>
                </a:avLst>
              </a:prstGeom>
              <a:solidFill>
                <a:srgbClr val="FFFFFF"/>
              </a:solidFill>
              <a:ln w="9525">
                <a:solidFill>
                  <a:srgbClr val="C9D5EA"/>
                </a:solidFill>
              </a:ln>
            </p:spPr>
          </p:sp>
          <p:grpSp>
            <p:nvGrpSpPr>
              <p:cNvPr id="93" name="Group 93"/>
              <p:cNvGrpSpPr/>
              <p:nvPr/>
            </p:nvGrpSpPr>
            <p:grpSpPr>
              <a:xfrm>
                <a:off x="6034088" y="3560763"/>
                <a:ext cx="200026" cy="155575"/>
                <a:chOff x="6034088" y="3560763"/>
                <a:chExt cx="200026" cy="155575"/>
              </a:xfrm>
            </p:grpSpPr>
            <p:sp>
              <p:nvSpPr>
                <p:cNvPr id="91" name="Freeform 91"/>
                <p:cNvSpPr/>
                <p:nvPr/>
              </p:nvSpPr>
              <p:spPr>
                <a:xfrm>
                  <a:off x="6034088" y="3560763"/>
                  <a:ext cx="200026" cy="155575"/>
                </a:xfrm>
                <a:custGeom>
                  <a:avLst/>
                  <a:gdLst/>
                  <a:ahLst/>
                  <a:cxnLst/>
                  <a:rect l="l" t="t" r="r" b="b"/>
                  <a:pathLst>
                    <a:path w="200026" h="155575">
                      <a:moveTo>
                        <a:pt x="0" y="22225"/>
                      </a:moveTo>
                      <a:cubicBezTo>
                        <a:pt x="0" y="9950"/>
                        <a:pt x="9950" y="0"/>
                        <a:pt x="22225" y="0"/>
                      </a:cubicBezTo>
                      <a:lnTo>
                        <a:pt x="177801" y="0"/>
                      </a:lnTo>
                      <a:cubicBezTo>
                        <a:pt x="190075" y="0"/>
                        <a:pt x="200026" y="9950"/>
                        <a:pt x="200026" y="22225"/>
                      </a:cubicBezTo>
                      <a:lnTo>
                        <a:pt x="200026" y="133350"/>
                      </a:lnTo>
                      <a:cubicBezTo>
                        <a:pt x="200026" y="145625"/>
                        <a:pt x="190075" y="155575"/>
                        <a:pt x="177801" y="155575"/>
                      </a:cubicBezTo>
                      <a:lnTo>
                        <a:pt x="22225" y="155575"/>
                      </a:lnTo>
                      <a:cubicBezTo>
                        <a:pt x="9950" y="155575"/>
                        <a:pt x="0" y="145625"/>
                        <a:pt x="0" y="133350"/>
                      </a:cubicBezTo>
                      <a:lnTo>
                        <a:pt x="0" y="22225"/>
                      </a:lnTo>
                    </a:path>
                  </a:pathLst>
                </a:custGeom>
                <a:noFill/>
                <a:ln w="16669">
                  <a:solidFill>
                    <a:srgbClr val="8A1700"/>
                  </a:solidFill>
                </a:ln>
              </p:spPr>
            </p:sp>
            <p:sp>
              <p:nvSpPr>
                <p:cNvPr id="92" name="Freeform 92"/>
                <p:cNvSpPr/>
                <p:nvPr/>
              </p:nvSpPr>
              <p:spPr>
                <a:xfrm>
                  <a:off x="6034088" y="3582988"/>
                  <a:ext cx="200026" cy="66675"/>
                </a:xfrm>
                <a:custGeom>
                  <a:avLst/>
                  <a:gdLst/>
                  <a:ahLst/>
                  <a:cxnLst/>
                  <a:rect l="l" t="t" r="r" b="b"/>
                  <a:pathLst>
                    <a:path w="200026" h="66675">
                      <a:moveTo>
                        <a:pt x="0" y="0"/>
                      </a:moveTo>
                      <a:lnTo>
                        <a:pt x="100013" y="66675"/>
                      </a:lnTo>
                      <a:lnTo>
                        <a:pt x="200026" y="0"/>
                      </a:lnTo>
                    </a:path>
                  </a:pathLst>
                </a:custGeom>
                <a:noFill/>
                <a:ln w="16669">
                  <a:solidFill>
                    <a:srgbClr val="8A1700"/>
                  </a:solidFill>
                </a:ln>
              </p:spPr>
            </p:sp>
          </p:grpSp>
          <p:sp>
            <p:nvSpPr>
              <p:cNvPr id="94" name="TextBox 94"/>
              <p:cNvSpPr txBox="1"/>
              <p:nvPr/>
            </p:nvSpPr>
            <p:spPr>
              <a:xfrm>
                <a:off x="6357938" y="3589020"/>
                <a:ext cx="1099947" cy="176212"/>
              </a:xfrm>
              <a:prstGeom prst="rect">
                <a:avLst/>
              </a:prstGeom>
              <a:noFill/>
              <a:ln>
                <a:noFill/>
              </a:ln>
            </p:spPr>
            <p:txBody>
              <a:bodyPr wrap="none" lIns="0" tIns="0" rIns="0" bIns="0" anchor="t" anchorCtr="0">
                <a:spAutoFit/>
              </a:bodyPr>
              <a:lstStyle/>
              <a:p>
                <a:pPr algn="l"/>
                <a:r>
                  <a:rPr lang="zh-CN" sz="900" dirty="0">
                    <a:solidFill>
                      <a:srgbClr val="520E00"/>
                    </a:solidFill>
                    <a:latin typeface="+mn-lt"/>
                    <a:ea typeface="+mn-ea"/>
                    <a:cs typeface="+mn-cs"/>
                  </a:rPr>
                  <a:t>强化激活提醒与激励</a:t>
                </a:r>
              </a:p>
            </p:txBody>
          </p:sp>
          <p:sp>
            <p:nvSpPr>
              <p:cNvPr id="95" name="Line 95"/>
              <p:cNvSpPr/>
              <p:nvPr/>
            </p:nvSpPr>
            <p:spPr>
              <a:xfrm>
                <a:off x="8324850" y="3638550"/>
                <a:ext cx="438150" cy="1"/>
              </a:xfrm>
              <a:prstGeom prst="line">
                <a:avLst/>
              </a:prstGeom>
              <a:noFill/>
              <a:ln w="14288">
                <a:solidFill>
                  <a:srgbClr val="E84E2F"/>
                </a:solidFill>
                <a:custDash>
                  <a:ds d="200000" sp="200000"/>
                </a:custDash>
                <a:tailEnd type="triangle" w="lg" len="lg"/>
              </a:ln>
            </p:spPr>
          </p:sp>
          <p:sp>
            <p:nvSpPr>
              <p:cNvPr id="96" name="Rectangle 96"/>
              <p:cNvSpPr/>
              <p:nvPr/>
            </p:nvSpPr>
            <p:spPr>
              <a:xfrm>
                <a:off x="8858250" y="3429000"/>
                <a:ext cx="2895600" cy="419100"/>
              </a:xfrm>
              <a:prstGeom prst="roundRect">
                <a:avLst>
                  <a:gd name="adj" fmla="val 13636"/>
                </a:avLst>
              </a:prstGeom>
              <a:solidFill>
                <a:srgbClr val="FFFFFF"/>
              </a:solidFill>
              <a:ln w="9525">
                <a:solidFill>
                  <a:srgbClr val="C9D5EA"/>
                </a:solidFill>
              </a:ln>
            </p:spPr>
          </p:sp>
          <p:grpSp>
            <p:nvGrpSpPr>
              <p:cNvPr id="101" name="Group 101"/>
              <p:cNvGrpSpPr/>
              <p:nvPr/>
            </p:nvGrpSpPr>
            <p:grpSpPr>
              <a:xfrm>
                <a:off x="9024938" y="3538155"/>
                <a:ext cx="200026" cy="200408"/>
                <a:chOff x="9024938" y="3538155"/>
                <a:chExt cx="200026" cy="200408"/>
              </a:xfrm>
            </p:grpSpPr>
            <p:sp>
              <p:nvSpPr>
                <p:cNvPr id="97" name="Freeform 97"/>
                <p:cNvSpPr/>
                <p:nvPr/>
              </p:nvSpPr>
              <p:spPr>
                <a:xfrm>
                  <a:off x="9024938" y="3594100"/>
                  <a:ext cx="200026" cy="44450"/>
                </a:xfrm>
                <a:custGeom>
                  <a:avLst/>
                  <a:gdLst/>
                  <a:ahLst/>
                  <a:cxnLst/>
                  <a:rect l="l" t="t" r="r" b="b"/>
                  <a:pathLst>
                    <a:path w="200026" h="44450">
                      <a:moveTo>
                        <a:pt x="0" y="11113"/>
                      </a:moveTo>
                      <a:cubicBezTo>
                        <a:pt x="0" y="4975"/>
                        <a:pt x="4975" y="0"/>
                        <a:pt x="11113" y="0"/>
                      </a:cubicBezTo>
                      <a:lnTo>
                        <a:pt x="188913" y="0"/>
                      </a:lnTo>
                      <a:cubicBezTo>
                        <a:pt x="195050" y="0"/>
                        <a:pt x="200026" y="4975"/>
                        <a:pt x="200026" y="11113"/>
                      </a:cubicBezTo>
                      <a:lnTo>
                        <a:pt x="200026" y="33338"/>
                      </a:lnTo>
                      <a:cubicBezTo>
                        <a:pt x="200026" y="39475"/>
                        <a:pt x="195050" y="44450"/>
                        <a:pt x="188913" y="44450"/>
                      </a:cubicBezTo>
                      <a:lnTo>
                        <a:pt x="11113" y="44450"/>
                      </a:lnTo>
                      <a:cubicBezTo>
                        <a:pt x="4975" y="44450"/>
                        <a:pt x="0" y="39475"/>
                        <a:pt x="0" y="33338"/>
                      </a:cubicBezTo>
                      <a:lnTo>
                        <a:pt x="0" y="11113"/>
                      </a:lnTo>
                    </a:path>
                  </a:pathLst>
                </a:custGeom>
                <a:noFill/>
                <a:ln w="16669">
                  <a:solidFill>
                    <a:srgbClr val="8A1700"/>
                  </a:solidFill>
                </a:ln>
              </p:spPr>
            </p:sp>
            <p:sp>
              <p:nvSpPr>
                <p:cNvPr id="98" name="Freeform 98"/>
                <p:cNvSpPr/>
                <p:nvPr/>
              </p:nvSpPr>
              <p:spPr>
                <a:xfrm>
                  <a:off x="9124950" y="3594100"/>
                  <a:ext cx="9525" cy="144463"/>
                </a:xfrm>
                <a:custGeom>
                  <a:avLst/>
                  <a:gdLst/>
                  <a:ahLst/>
                  <a:cxnLst/>
                  <a:rect l="l" t="t" r="r" b="b"/>
                  <a:pathLst>
                    <a:path w="9525" h="144463">
                      <a:moveTo>
                        <a:pt x="0" y="0"/>
                      </a:moveTo>
                      <a:lnTo>
                        <a:pt x="0" y="144463"/>
                      </a:lnTo>
                    </a:path>
                  </a:pathLst>
                </a:custGeom>
                <a:noFill/>
                <a:ln w="16669">
                  <a:solidFill>
                    <a:srgbClr val="8A1700"/>
                  </a:solidFill>
                </a:ln>
              </p:spPr>
            </p:sp>
            <p:sp>
              <p:nvSpPr>
                <p:cNvPr id="99" name="Freeform 99"/>
                <p:cNvSpPr/>
                <p:nvPr/>
              </p:nvSpPr>
              <p:spPr>
                <a:xfrm>
                  <a:off x="9047163" y="3638550"/>
                  <a:ext cx="155575" cy="100013"/>
                </a:xfrm>
                <a:custGeom>
                  <a:avLst/>
                  <a:gdLst/>
                  <a:ahLst/>
                  <a:cxnLst/>
                  <a:rect l="l" t="t" r="r" b="b"/>
                  <a:pathLst>
                    <a:path w="155575" h="100013">
                      <a:moveTo>
                        <a:pt x="155575" y="0"/>
                      </a:moveTo>
                      <a:lnTo>
                        <a:pt x="155575" y="77788"/>
                      </a:lnTo>
                      <a:cubicBezTo>
                        <a:pt x="155575" y="90062"/>
                        <a:pt x="145625" y="100013"/>
                        <a:pt x="133350" y="100013"/>
                      </a:cubicBezTo>
                      <a:lnTo>
                        <a:pt x="22225" y="100013"/>
                      </a:lnTo>
                      <a:cubicBezTo>
                        <a:pt x="9950" y="100013"/>
                        <a:pt x="0" y="90062"/>
                        <a:pt x="0" y="77788"/>
                      </a:cubicBezTo>
                      <a:lnTo>
                        <a:pt x="0" y="0"/>
                      </a:lnTo>
                    </a:path>
                  </a:pathLst>
                </a:custGeom>
                <a:noFill/>
                <a:ln w="16669">
                  <a:solidFill>
                    <a:srgbClr val="8A1700"/>
                  </a:solidFill>
                </a:ln>
              </p:spPr>
            </p:sp>
            <p:sp>
              <p:nvSpPr>
                <p:cNvPr id="100" name="Freeform 100"/>
                <p:cNvSpPr/>
                <p:nvPr/>
              </p:nvSpPr>
              <p:spPr>
                <a:xfrm>
                  <a:off x="9047163" y="3538155"/>
                  <a:ext cx="155575" cy="55945"/>
                </a:xfrm>
                <a:custGeom>
                  <a:avLst/>
                  <a:gdLst/>
                  <a:ahLst/>
                  <a:cxnLst/>
                  <a:rect l="l" t="t" r="r" b="b"/>
                  <a:pathLst>
                    <a:path w="155575" h="55945">
                      <a:moveTo>
                        <a:pt x="27781" y="55945"/>
                      </a:moveTo>
                      <a:cubicBezTo>
                        <a:pt x="12438" y="55945"/>
                        <a:pt x="0" y="43507"/>
                        <a:pt x="0" y="28164"/>
                      </a:cubicBezTo>
                      <a:cubicBezTo>
                        <a:pt x="0" y="12820"/>
                        <a:pt x="12438" y="382"/>
                        <a:pt x="27781" y="382"/>
                      </a:cubicBezTo>
                      <a:cubicBezTo>
                        <a:pt x="49720" y="0"/>
                        <a:pt x="69561" y="22046"/>
                        <a:pt x="77788" y="55945"/>
                      </a:cubicBezTo>
                      <a:cubicBezTo>
                        <a:pt x="86014" y="22046"/>
                        <a:pt x="105855" y="0"/>
                        <a:pt x="127794" y="382"/>
                      </a:cubicBezTo>
                      <a:cubicBezTo>
                        <a:pt x="143137" y="382"/>
                        <a:pt x="155575" y="12820"/>
                        <a:pt x="155575" y="28164"/>
                      </a:cubicBezTo>
                      <a:cubicBezTo>
                        <a:pt x="155575" y="43507"/>
                        <a:pt x="143137" y="55945"/>
                        <a:pt x="127794" y="55945"/>
                      </a:cubicBezTo>
                    </a:path>
                  </a:pathLst>
                </a:custGeom>
                <a:noFill/>
                <a:ln w="16669">
                  <a:solidFill>
                    <a:srgbClr val="8A1700"/>
                  </a:solidFill>
                </a:ln>
              </p:spPr>
            </p:sp>
          </p:grpSp>
          <p:sp>
            <p:nvSpPr>
              <p:cNvPr id="102" name="TextBox 102"/>
              <p:cNvSpPr txBox="1"/>
              <p:nvPr/>
            </p:nvSpPr>
            <p:spPr>
              <a:xfrm>
                <a:off x="9348788" y="3589020"/>
                <a:ext cx="1112063" cy="176212"/>
              </a:xfrm>
              <a:prstGeom prst="rect">
                <a:avLst/>
              </a:prstGeom>
              <a:noFill/>
              <a:ln>
                <a:noFill/>
              </a:ln>
            </p:spPr>
            <p:txBody>
              <a:bodyPr wrap="none" lIns="0" tIns="0" rIns="0" bIns="0" anchor="t" anchorCtr="0">
                <a:spAutoFit/>
              </a:bodyPr>
              <a:lstStyle/>
              <a:p>
                <a:pPr algn="l"/>
                <a:r>
                  <a:rPr lang="zh-CN" sz="900" dirty="0">
                    <a:solidFill>
                      <a:srgbClr val="520E00"/>
                    </a:solidFill>
                    <a:latin typeface="+mn-lt"/>
                    <a:ea typeface="+mn-ea"/>
                    <a:cs typeface="+mn-cs"/>
                  </a:rPr>
                  <a:t>限时激活权益/积分​</a:t>
                </a:r>
              </a:p>
            </p:txBody>
          </p:sp>
        </p:grpSp>
        <p:grpSp>
          <p:nvGrpSpPr>
            <p:cNvPr id="123" name="branch-2"/>
            <p:cNvGrpSpPr/>
            <p:nvPr/>
          </p:nvGrpSpPr>
          <p:grpSpPr>
            <a:xfrm>
              <a:off x="3581400" y="4191000"/>
              <a:ext cx="8172450" cy="419100"/>
              <a:chOff x="3581400" y="4191000"/>
              <a:chExt cx="8172450" cy="419100"/>
            </a:xfrm>
          </p:grpSpPr>
          <p:sp>
            <p:nvSpPr>
              <p:cNvPr id="104" name="Rectangle 104"/>
              <p:cNvSpPr/>
              <p:nvPr/>
            </p:nvSpPr>
            <p:spPr>
              <a:xfrm>
                <a:off x="3581400" y="4191000"/>
                <a:ext cx="1676400" cy="419100"/>
              </a:xfrm>
              <a:prstGeom prst="roundRect">
                <a:avLst>
                  <a:gd name="adj" fmla="val 13636"/>
                </a:avLst>
              </a:prstGeom>
              <a:solidFill>
                <a:srgbClr val="FFFFFF"/>
              </a:solidFill>
              <a:ln w="9525">
                <a:solidFill>
                  <a:srgbClr val="C9D5EA"/>
                </a:solidFill>
              </a:ln>
            </p:spPr>
          </p:sp>
          <p:grpSp>
            <p:nvGrpSpPr>
              <p:cNvPr id="107" name="Group 107"/>
              <p:cNvGrpSpPr/>
              <p:nvPr/>
            </p:nvGrpSpPr>
            <p:grpSpPr>
              <a:xfrm>
                <a:off x="3781425" y="4300538"/>
                <a:ext cx="133350" cy="200025"/>
                <a:chOff x="3781425" y="4300538"/>
                <a:chExt cx="133350" cy="200025"/>
              </a:xfrm>
            </p:grpSpPr>
            <p:sp>
              <p:nvSpPr>
                <p:cNvPr id="105" name="Freeform 105"/>
                <p:cNvSpPr/>
                <p:nvPr/>
              </p:nvSpPr>
              <p:spPr>
                <a:xfrm>
                  <a:off x="3803650" y="43005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6669">
                  <a:solidFill>
                    <a:srgbClr val="8A1700"/>
                  </a:solidFill>
                </a:ln>
              </p:spPr>
            </p:sp>
            <p:sp>
              <p:nvSpPr>
                <p:cNvPr id="106" name="Freeform 106"/>
                <p:cNvSpPr/>
                <p:nvPr/>
              </p:nvSpPr>
              <p:spPr>
                <a:xfrm>
                  <a:off x="3781425" y="44338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6669">
                  <a:solidFill>
                    <a:srgbClr val="8A1700"/>
                  </a:solidFill>
                </a:ln>
              </p:spPr>
            </p:sp>
          </p:grpSp>
          <p:sp>
            <p:nvSpPr>
              <p:cNvPr id="108" name="TextBox 108"/>
              <p:cNvSpPr txBox="1"/>
              <p:nvPr/>
            </p:nvSpPr>
            <p:spPr>
              <a:xfrm>
                <a:off x="4071366" y="4344352"/>
                <a:ext cx="858774"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已激活未首刷</a:t>
                </a:r>
              </a:p>
            </p:txBody>
          </p:sp>
          <p:sp>
            <p:nvSpPr>
              <p:cNvPr id="109" name="Line 109"/>
              <p:cNvSpPr/>
              <p:nvPr/>
            </p:nvSpPr>
            <p:spPr>
              <a:xfrm>
                <a:off x="5334000" y="4400550"/>
                <a:ext cx="438150" cy="1"/>
              </a:xfrm>
              <a:prstGeom prst="line">
                <a:avLst/>
              </a:prstGeom>
              <a:noFill/>
              <a:ln w="14288">
                <a:solidFill>
                  <a:srgbClr val="E84E2F"/>
                </a:solidFill>
                <a:custDash>
                  <a:ds d="200000" sp="200000"/>
                </a:custDash>
                <a:tailEnd type="triangle" w="lg" len="lg"/>
              </a:ln>
            </p:spPr>
          </p:sp>
          <p:sp>
            <p:nvSpPr>
              <p:cNvPr id="110" name="Rectangle 110"/>
              <p:cNvSpPr/>
              <p:nvPr/>
            </p:nvSpPr>
            <p:spPr>
              <a:xfrm>
                <a:off x="5867400" y="4191000"/>
                <a:ext cx="2381250" cy="419100"/>
              </a:xfrm>
              <a:prstGeom prst="roundRect">
                <a:avLst>
                  <a:gd name="adj" fmla="val 13636"/>
                </a:avLst>
              </a:prstGeom>
              <a:solidFill>
                <a:srgbClr val="FFFFFF"/>
              </a:solidFill>
              <a:ln w="9525">
                <a:solidFill>
                  <a:srgbClr val="C9D5EA"/>
                </a:solidFill>
              </a:ln>
            </p:spPr>
          </p:sp>
          <p:grpSp>
            <p:nvGrpSpPr>
              <p:cNvPr id="115" name="Group 115"/>
              <p:cNvGrpSpPr/>
              <p:nvPr/>
            </p:nvGrpSpPr>
            <p:grpSpPr>
              <a:xfrm>
                <a:off x="6034088" y="4322763"/>
                <a:ext cx="200026" cy="155575"/>
                <a:chOff x="6034088" y="4322763"/>
                <a:chExt cx="200026" cy="155575"/>
              </a:xfrm>
            </p:grpSpPr>
            <p:sp>
              <p:nvSpPr>
                <p:cNvPr id="111" name="Freeform 111"/>
                <p:cNvSpPr/>
                <p:nvPr/>
              </p:nvSpPr>
              <p:spPr>
                <a:xfrm>
                  <a:off x="6034088" y="4322763"/>
                  <a:ext cx="200026" cy="155575"/>
                </a:xfrm>
                <a:custGeom>
                  <a:avLst/>
                  <a:gdLst/>
                  <a:ahLst/>
                  <a:cxnLst/>
                  <a:rect l="l" t="t" r="r" b="b"/>
                  <a:pathLst>
                    <a:path w="200026" h="155575">
                      <a:moveTo>
                        <a:pt x="0" y="33338"/>
                      </a:moveTo>
                      <a:cubicBezTo>
                        <a:pt x="0" y="14926"/>
                        <a:pt x="14926" y="0"/>
                        <a:pt x="33338" y="0"/>
                      </a:cubicBezTo>
                      <a:lnTo>
                        <a:pt x="166688" y="0"/>
                      </a:lnTo>
                      <a:cubicBezTo>
                        <a:pt x="185100" y="0"/>
                        <a:pt x="200026" y="14926"/>
                        <a:pt x="200026" y="33338"/>
                      </a:cubicBezTo>
                      <a:lnTo>
                        <a:pt x="200026" y="122238"/>
                      </a:lnTo>
                      <a:cubicBezTo>
                        <a:pt x="200026" y="140650"/>
                        <a:pt x="185100" y="155575"/>
                        <a:pt x="166688" y="155575"/>
                      </a:cubicBezTo>
                      <a:lnTo>
                        <a:pt x="33338" y="155575"/>
                      </a:lnTo>
                      <a:cubicBezTo>
                        <a:pt x="14926" y="155575"/>
                        <a:pt x="0" y="140650"/>
                        <a:pt x="0" y="122238"/>
                      </a:cubicBezTo>
                      <a:lnTo>
                        <a:pt x="0" y="33338"/>
                      </a:lnTo>
                    </a:path>
                  </a:pathLst>
                </a:custGeom>
                <a:noFill/>
                <a:ln w="16669">
                  <a:solidFill>
                    <a:srgbClr val="8A1700"/>
                  </a:solidFill>
                </a:ln>
              </p:spPr>
            </p:sp>
            <p:sp>
              <p:nvSpPr>
                <p:cNvPr id="112" name="Freeform 112"/>
                <p:cNvSpPr/>
                <p:nvPr/>
              </p:nvSpPr>
              <p:spPr>
                <a:xfrm>
                  <a:off x="6034088" y="4378325"/>
                  <a:ext cx="200026" cy="9525"/>
                </a:xfrm>
                <a:custGeom>
                  <a:avLst/>
                  <a:gdLst/>
                  <a:ahLst/>
                  <a:cxnLst/>
                  <a:rect l="l" t="t" r="r" b="b"/>
                  <a:pathLst>
                    <a:path w="200026" h="9525">
                      <a:moveTo>
                        <a:pt x="0" y="0"/>
                      </a:moveTo>
                      <a:lnTo>
                        <a:pt x="200026" y="0"/>
                      </a:lnTo>
                    </a:path>
                  </a:pathLst>
                </a:custGeom>
                <a:noFill/>
                <a:ln w="16669">
                  <a:solidFill>
                    <a:srgbClr val="8A1700"/>
                  </a:solidFill>
                </a:ln>
              </p:spPr>
            </p:sp>
            <p:sp>
              <p:nvSpPr>
                <p:cNvPr id="113" name="Freeform 113"/>
                <p:cNvSpPr/>
                <p:nvPr/>
              </p:nvSpPr>
              <p:spPr>
                <a:xfrm>
                  <a:off x="6078538" y="4433888"/>
                  <a:ext cx="9525" cy="9525"/>
                </a:xfrm>
                <a:custGeom>
                  <a:avLst/>
                  <a:gdLst/>
                  <a:ahLst/>
                  <a:cxnLst/>
                  <a:rect l="l" t="t" r="r" b="b"/>
                  <a:pathLst>
                    <a:path w="9525" h="9525">
                      <a:moveTo>
                        <a:pt x="0" y="0"/>
                      </a:moveTo>
                      <a:lnTo>
                        <a:pt x="111" y="0"/>
                      </a:lnTo>
                    </a:path>
                  </a:pathLst>
                </a:custGeom>
                <a:noFill/>
                <a:ln w="16669">
                  <a:solidFill>
                    <a:srgbClr val="8A1700"/>
                  </a:solidFill>
                </a:ln>
              </p:spPr>
            </p:sp>
            <p:sp>
              <p:nvSpPr>
                <p:cNvPr id="114" name="Freeform 114"/>
                <p:cNvSpPr/>
                <p:nvPr/>
              </p:nvSpPr>
              <p:spPr>
                <a:xfrm>
                  <a:off x="6122988" y="4433888"/>
                  <a:ext cx="22225" cy="9525"/>
                </a:xfrm>
                <a:custGeom>
                  <a:avLst/>
                  <a:gdLst/>
                  <a:ahLst/>
                  <a:cxnLst/>
                  <a:rect l="l" t="t" r="r" b="b"/>
                  <a:pathLst>
                    <a:path w="22225" h="9525">
                      <a:moveTo>
                        <a:pt x="0" y="0"/>
                      </a:moveTo>
                      <a:lnTo>
                        <a:pt x="22225" y="0"/>
                      </a:lnTo>
                    </a:path>
                  </a:pathLst>
                </a:custGeom>
                <a:noFill/>
                <a:ln w="16669">
                  <a:solidFill>
                    <a:srgbClr val="8A1700"/>
                  </a:solidFill>
                </a:ln>
              </p:spPr>
            </p:sp>
          </p:grpSp>
          <p:sp>
            <p:nvSpPr>
              <p:cNvPr id="116" name="TextBox 116"/>
              <p:cNvSpPr txBox="1"/>
              <p:nvPr/>
            </p:nvSpPr>
            <p:spPr>
              <a:xfrm>
                <a:off x="6357938" y="4351020"/>
                <a:ext cx="1099947" cy="176212"/>
              </a:xfrm>
              <a:prstGeom prst="rect">
                <a:avLst/>
              </a:prstGeom>
              <a:noFill/>
              <a:ln>
                <a:noFill/>
              </a:ln>
            </p:spPr>
            <p:txBody>
              <a:bodyPr wrap="none" lIns="0" tIns="0" rIns="0" bIns="0" anchor="t" anchorCtr="0">
                <a:spAutoFit/>
              </a:bodyPr>
              <a:lstStyle/>
              <a:p>
                <a:pPr algn="l"/>
                <a:r>
                  <a:rPr lang="zh-CN" sz="900" dirty="0">
                    <a:solidFill>
                      <a:srgbClr val="520E00"/>
                    </a:solidFill>
                    <a:latin typeface="+mn-lt"/>
                    <a:ea typeface="+mn-ea"/>
                    <a:cs typeface="+mn-cs"/>
                  </a:rPr>
                  <a:t>首刷引导与场景推荐</a:t>
                </a:r>
              </a:p>
            </p:txBody>
          </p:sp>
          <p:sp>
            <p:nvSpPr>
              <p:cNvPr id="117" name="Line 117"/>
              <p:cNvSpPr/>
              <p:nvPr/>
            </p:nvSpPr>
            <p:spPr>
              <a:xfrm>
                <a:off x="8324850" y="4400550"/>
                <a:ext cx="438150" cy="1"/>
              </a:xfrm>
              <a:prstGeom prst="line">
                <a:avLst/>
              </a:prstGeom>
              <a:noFill/>
              <a:ln w="14288">
                <a:solidFill>
                  <a:srgbClr val="E84E2F"/>
                </a:solidFill>
                <a:custDash>
                  <a:ds d="200000" sp="200000"/>
                </a:custDash>
                <a:tailEnd type="triangle" w="lg" len="lg"/>
              </a:ln>
            </p:spPr>
          </p:sp>
          <p:sp>
            <p:nvSpPr>
              <p:cNvPr id="118" name="Rectangle 118"/>
              <p:cNvSpPr/>
              <p:nvPr/>
            </p:nvSpPr>
            <p:spPr>
              <a:xfrm>
                <a:off x="8858250" y="4191000"/>
                <a:ext cx="2895600" cy="419100"/>
              </a:xfrm>
              <a:prstGeom prst="roundRect">
                <a:avLst>
                  <a:gd name="adj" fmla="val 13636"/>
                </a:avLst>
              </a:prstGeom>
              <a:solidFill>
                <a:srgbClr val="FFFFFF"/>
              </a:solidFill>
              <a:ln w="9525">
                <a:solidFill>
                  <a:srgbClr val="C9D5EA"/>
                </a:solidFill>
              </a:ln>
            </p:spPr>
          </p:sp>
          <p:grpSp>
            <p:nvGrpSpPr>
              <p:cNvPr id="121" name="Group 121"/>
              <p:cNvGrpSpPr/>
              <p:nvPr/>
            </p:nvGrpSpPr>
            <p:grpSpPr>
              <a:xfrm>
                <a:off x="9024938" y="4300538"/>
                <a:ext cx="202659" cy="202659"/>
                <a:chOff x="9024938" y="4300538"/>
                <a:chExt cx="202659" cy="202659"/>
              </a:xfrm>
            </p:grpSpPr>
            <p:sp>
              <p:nvSpPr>
                <p:cNvPr id="119" name="Freeform 119"/>
                <p:cNvSpPr/>
                <p:nvPr/>
              </p:nvSpPr>
              <p:spPr>
                <a:xfrm>
                  <a:off x="9063831" y="4339431"/>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16669">
                  <a:solidFill>
                    <a:srgbClr val="8A1700"/>
                  </a:solidFill>
                </a:ln>
              </p:spPr>
            </p:sp>
            <p:sp>
              <p:nvSpPr>
                <p:cNvPr id="120" name="Freeform 120"/>
                <p:cNvSpPr/>
                <p:nvPr/>
              </p:nvSpPr>
              <p:spPr>
                <a:xfrm>
                  <a:off x="9024938" y="4300538"/>
                  <a:ext cx="202659" cy="202659"/>
                </a:xfrm>
                <a:custGeom>
                  <a:avLst/>
                  <a:gdLst/>
                  <a:ahLst/>
                  <a:cxnLst/>
                  <a:rect l="l" t="t" r="r" b="b"/>
                  <a:pathLst>
                    <a:path w="202659" h="202659">
                      <a:moveTo>
                        <a:pt x="0" y="33338"/>
                      </a:moveTo>
                      <a:lnTo>
                        <a:pt x="0" y="90812"/>
                      </a:lnTo>
                      <a:cubicBezTo>
                        <a:pt x="1" y="96706"/>
                        <a:pt x="2344" y="102358"/>
                        <a:pt x="6512" y="106525"/>
                      </a:cubicBezTo>
                      <a:lnTo>
                        <a:pt x="92190" y="192202"/>
                      </a:lnTo>
                      <a:cubicBezTo>
                        <a:pt x="102648" y="202659"/>
                        <a:pt x="119603" y="202659"/>
                        <a:pt x="130061" y="192202"/>
                      </a:cubicBezTo>
                      <a:lnTo>
                        <a:pt x="192202" y="130061"/>
                      </a:lnTo>
                      <a:cubicBezTo>
                        <a:pt x="202659" y="119603"/>
                        <a:pt x="202659" y="102648"/>
                        <a:pt x="192202" y="92190"/>
                      </a:cubicBezTo>
                      <a:lnTo>
                        <a:pt x="106525" y="6512"/>
                      </a:lnTo>
                      <a:cubicBezTo>
                        <a:pt x="102358" y="2344"/>
                        <a:pt x="96706" y="1"/>
                        <a:pt x="90812" y="0"/>
                      </a:cubicBezTo>
                      <a:lnTo>
                        <a:pt x="33338" y="0"/>
                      </a:lnTo>
                      <a:cubicBezTo>
                        <a:pt x="24496" y="0"/>
                        <a:pt x="16016" y="3512"/>
                        <a:pt x="9764" y="9764"/>
                      </a:cubicBezTo>
                      <a:cubicBezTo>
                        <a:pt x="3512" y="16016"/>
                        <a:pt x="0" y="24496"/>
                        <a:pt x="0" y="33338"/>
                      </a:cubicBezTo>
                    </a:path>
                  </a:pathLst>
                </a:custGeom>
                <a:noFill/>
                <a:ln w="16669">
                  <a:solidFill>
                    <a:srgbClr val="8A1700"/>
                  </a:solidFill>
                </a:ln>
              </p:spPr>
            </p:sp>
          </p:grpSp>
          <p:sp>
            <p:nvSpPr>
              <p:cNvPr id="122" name="TextBox 122"/>
              <p:cNvSpPr txBox="1"/>
              <p:nvPr/>
            </p:nvSpPr>
            <p:spPr>
              <a:xfrm>
                <a:off x="9348788" y="4351020"/>
                <a:ext cx="1112063" cy="176212"/>
              </a:xfrm>
              <a:prstGeom prst="rect">
                <a:avLst/>
              </a:prstGeom>
              <a:noFill/>
              <a:ln>
                <a:noFill/>
              </a:ln>
            </p:spPr>
            <p:txBody>
              <a:bodyPr wrap="none" lIns="0" tIns="0" rIns="0" bIns="0" anchor="t" anchorCtr="0">
                <a:spAutoFit/>
              </a:bodyPr>
              <a:lstStyle/>
              <a:p>
                <a:pPr algn="l"/>
                <a:r>
                  <a:rPr lang="zh-CN" sz="900" dirty="0">
                    <a:solidFill>
                      <a:srgbClr val="520E00"/>
                    </a:solidFill>
                    <a:latin typeface="+mn-lt"/>
                    <a:ea typeface="+mn-ea"/>
                    <a:cs typeface="+mn-cs"/>
                  </a:rPr>
                  <a:t>首刷礼/消费券激励​</a:t>
                </a:r>
              </a:p>
            </p:txBody>
          </p:sp>
        </p:grpSp>
        <p:grpSp>
          <p:nvGrpSpPr>
            <p:cNvPr id="144" name="branch-3"/>
            <p:cNvGrpSpPr/>
            <p:nvPr/>
          </p:nvGrpSpPr>
          <p:grpSpPr>
            <a:xfrm>
              <a:off x="3581400" y="4953000"/>
              <a:ext cx="8172450" cy="419100"/>
              <a:chOff x="3581400" y="4953000"/>
              <a:chExt cx="8172450" cy="419100"/>
            </a:xfrm>
          </p:grpSpPr>
          <p:sp>
            <p:nvSpPr>
              <p:cNvPr id="124" name="Rectangle 124"/>
              <p:cNvSpPr/>
              <p:nvPr/>
            </p:nvSpPr>
            <p:spPr>
              <a:xfrm>
                <a:off x="3581400" y="4953000"/>
                <a:ext cx="1676400" cy="419100"/>
              </a:xfrm>
              <a:prstGeom prst="roundRect">
                <a:avLst>
                  <a:gd name="adj" fmla="val 13636"/>
                </a:avLst>
              </a:prstGeom>
              <a:solidFill>
                <a:srgbClr val="FFFFFF"/>
              </a:solidFill>
              <a:ln w="9525">
                <a:solidFill>
                  <a:srgbClr val="C9D5EA"/>
                </a:solidFill>
              </a:ln>
            </p:spPr>
          </p:sp>
          <p:grpSp>
            <p:nvGrpSpPr>
              <p:cNvPr id="127" name="Group 127"/>
              <p:cNvGrpSpPr/>
              <p:nvPr/>
            </p:nvGrpSpPr>
            <p:grpSpPr>
              <a:xfrm>
                <a:off x="3781425" y="5062538"/>
                <a:ext cx="133350" cy="200025"/>
                <a:chOff x="3781425" y="5062538"/>
                <a:chExt cx="133350" cy="200025"/>
              </a:xfrm>
            </p:grpSpPr>
            <p:sp>
              <p:nvSpPr>
                <p:cNvPr id="125" name="Freeform 125"/>
                <p:cNvSpPr/>
                <p:nvPr/>
              </p:nvSpPr>
              <p:spPr>
                <a:xfrm>
                  <a:off x="3803650" y="50625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6669">
                  <a:solidFill>
                    <a:srgbClr val="8A1700"/>
                  </a:solidFill>
                </a:ln>
              </p:spPr>
            </p:sp>
            <p:sp>
              <p:nvSpPr>
                <p:cNvPr id="126" name="Freeform 126"/>
                <p:cNvSpPr/>
                <p:nvPr/>
              </p:nvSpPr>
              <p:spPr>
                <a:xfrm>
                  <a:off x="3781425" y="51958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6669">
                  <a:solidFill>
                    <a:srgbClr val="8A1700"/>
                  </a:solidFill>
                </a:ln>
              </p:spPr>
            </p:sp>
          </p:grpSp>
          <p:sp>
            <p:nvSpPr>
              <p:cNvPr id="128" name="TextBox 128"/>
              <p:cNvSpPr txBox="1"/>
              <p:nvPr/>
            </p:nvSpPr>
            <p:spPr>
              <a:xfrm>
                <a:off x="4071366" y="5106352"/>
                <a:ext cx="576072"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低额首刷</a:t>
                </a:r>
              </a:p>
            </p:txBody>
          </p:sp>
          <p:sp>
            <p:nvSpPr>
              <p:cNvPr id="129" name="Line 129"/>
              <p:cNvSpPr/>
              <p:nvPr/>
            </p:nvSpPr>
            <p:spPr>
              <a:xfrm>
                <a:off x="5334000" y="5162550"/>
                <a:ext cx="438150" cy="1"/>
              </a:xfrm>
              <a:prstGeom prst="line">
                <a:avLst/>
              </a:prstGeom>
              <a:noFill/>
              <a:ln w="14288">
                <a:solidFill>
                  <a:srgbClr val="E84E2F"/>
                </a:solidFill>
                <a:custDash>
                  <a:ds d="200000" sp="200000"/>
                </a:custDash>
                <a:tailEnd type="triangle" w="lg" len="lg"/>
              </a:ln>
            </p:spPr>
          </p:sp>
          <p:sp>
            <p:nvSpPr>
              <p:cNvPr id="130" name="Rectangle 130"/>
              <p:cNvSpPr/>
              <p:nvPr/>
            </p:nvSpPr>
            <p:spPr>
              <a:xfrm>
                <a:off x="5867400" y="4953000"/>
                <a:ext cx="2381250" cy="419100"/>
              </a:xfrm>
              <a:prstGeom prst="roundRect">
                <a:avLst>
                  <a:gd name="adj" fmla="val 13636"/>
                </a:avLst>
              </a:prstGeom>
              <a:solidFill>
                <a:srgbClr val="FFFFFF"/>
              </a:solidFill>
              <a:ln w="9525">
                <a:solidFill>
                  <a:srgbClr val="C9D5EA"/>
                </a:solidFill>
              </a:ln>
            </p:spPr>
          </p:sp>
          <p:grpSp>
            <p:nvGrpSpPr>
              <p:cNvPr id="135" name="Group 135"/>
              <p:cNvGrpSpPr/>
              <p:nvPr/>
            </p:nvGrpSpPr>
            <p:grpSpPr>
              <a:xfrm>
                <a:off x="6034088" y="5073650"/>
                <a:ext cx="200025" cy="187326"/>
                <a:chOff x="6034088" y="5073650"/>
                <a:chExt cx="200025" cy="187326"/>
              </a:xfrm>
            </p:grpSpPr>
            <p:sp>
              <p:nvSpPr>
                <p:cNvPr id="131" name="Freeform 131"/>
                <p:cNvSpPr/>
                <p:nvPr/>
              </p:nvSpPr>
              <p:spPr>
                <a:xfrm>
                  <a:off x="6034088" y="516255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16669">
                  <a:solidFill>
                    <a:srgbClr val="8A1700"/>
                  </a:solidFill>
                </a:ln>
              </p:spPr>
            </p:sp>
            <p:sp>
              <p:nvSpPr>
                <p:cNvPr id="132" name="Freeform 132"/>
                <p:cNvSpPr/>
                <p:nvPr/>
              </p:nvSpPr>
              <p:spPr>
                <a:xfrm>
                  <a:off x="6167438" y="511810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16669">
                  <a:solidFill>
                    <a:srgbClr val="8A1700"/>
                  </a:solidFill>
                </a:ln>
              </p:spPr>
            </p:sp>
            <p:sp>
              <p:nvSpPr>
                <p:cNvPr id="133" name="Freeform 133"/>
                <p:cNvSpPr/>
                <p:nvPr/>
              </p:nvSpPr>
              <p:spPr>
                <a:xfrm>
                  <a:off x="6100763" y="507365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16669">
                  <a:solidFill>
                    <a:srgbClr val="8A1700"/>
                  </a:solidFill>
                </a:ln>
              </p:spPr>
            </p:sp>
            <p:sp>
              <p:nvSpPr>
                <p:cNvPr id="134" name="Freeform 134"/>
                <p:cNvSpPr/>
                <p:nvPr/>
              </p:nvSpPr>
              <p:spPr>
                <a:xfrm>
                  <a:off x="6045200" y="5251451"/>
                  <a:ext cx="155575" cy="9525"/>
                </a:xfrm>
                <a:custGeom>
                  <a:avLst/>
                  <a:gdLst/>
                  <a:ahLst/>
                  <a:cxnLst/>
                  <a:rect l="l" t="t" r="r" b="b"/>
                  <a:pathLst>
                    <a:path w="155575" h="9525">
                      <a:moveTo>
                        <a:pt x="0" y="0"/>
                      </a:moveTo>
                      <a:lnTo>
                        <a:pt x="155575" y="0"/>
                      </a:lnTo>
                    </a:path>
                  </a:pathLst>
                </a:custGeom>
                <a:noFill/>
                <a:ln w="16669">
                  <a:solidFill>
                    <a:srgbClr val="8A1700"/>
                  </a:solidFill>
                </a:ln>
              </p:spPr>
            </p:sp>
          </p:grpSp>
          <p:sp>
            <p:nvSpPr>
              <p:cNvPr id="136" name="TextBox 136"/>
              <p:cNvSpPr txBox="1"/>
              <p:nvPr/>
            </p:nvSpPr>
            <p:spPr>
              <a:xfrm>
                <a:off x="6357938" y="5113020"/>
                <a:ext cx="1099947" cy="176212"/>
              </a:xfrm>
              <a:prstGeom prst="rect">
                <a:avLst/>
              </a:prstGeom>
              <a:noFill/>
              <a:ln>
                <a:noFill/>
              </a:ln>
            </p:spPr>
            <p:txBody>
              <a:bodyPr wrap="none" lIns="0" tIns="0" rIns="0" bIns="0" anchor="t" anchorCtr="0">
                <a:spAutoFit/>
              </a:bodyPr>
              <a:lstStyle/>
              <a:p>
                <a:pPr algn="l"/>
                <a:r>
                  <a:rPr lang="zh-CN" sz="900" dirty="0">
                    <a:solidFill>
                      <a:srgbClr val="520E00"/>
                    </a:solidFill>
                    <a:latin typeface="+mn-lt"/>
                    <a:ea typeface="+mn-ea"/>
                    <a:cs typeface="+mn-cs"/>
                  </a:rPr>
                  <a:t>提升消费频次与金额</a:t>
                </a:r>
              </a:p>
            </p:txBody>
          </p:sp>
          <p:sp>
            <p:nvSpPr>
              <p:cNvPr id="137" name="Line 137"/>
              <p:cNvSpPr/>
              <p:nvPr/>
            </p:nvSpPr>
            <p:spPr>
              <a:xfrm>
                <a:off x="8324850" y="5162550"/>
                <a:ext cx="438150" cy="1"/>
              </a:xfrm>
              <a:prstGeom prst="line">
                <a:avLst/>
              </a:prstGeom>
              <a:noFill/>
              <a:ln w="14288">
                <a:solidFill>
                  <a:srgbClr val="E84E2F"/>
                </a:solidFill>
                <a:custDash>
                  <a:ds d="200000" sp="200000"/>
                </a:custDash>
                <a:tailEnd type="triangle" w="lg" len="lg"/>
              </a:ln>
            </p:spPr>
          </p:sp>
          <p:sp>
            <p:nvSpPr>
              <p:cNvPr id="138" name="Rectangle 138"/>
              <p:cNvSpPr/>
              <p:nvPr/>
            </p:nvSpPr>
            <p:spPr>
              <a:xfrm>
                <a:off x="8858250" y="4953000"/>
                <a:ext cx="2895600" cy="419100"/>
              </a:xfrm>
              <a:prstGeom prst="roundRect">
                <a:avLst>
                  <a:gd name="adj" fmla="val 13636"/>
                </a:avLst>
              </a:prstGeom>
              <a:solidFill>
                <a:srgbClr val="FFFFFF"/>
              </a:solidFill>
              <a:ln w="9525">
                <a:solidFill>
                  <a:srgbClr val="C9D5EA"/>
                </a:solidFill>
              </a:ln>
            </p:spPr>
          </p:sp>
          <p:grpSp>
            <p:nvGrpSpPr>
              <p:cNvPr id="142" name="Group 142"/>
              <p:cNvGrpSpPr/>
              <p:nvPr/>
            </p:nvGrpSpPr>
            <p:grpSpPr>
              <a:xfrm>
                <a:off x="9029405" y="5062538"/>
                <a:ext cx="191068" cy="198802"/>
                <a:chOff x="9029405" y="5062538"/>
                <a:chExt cx="191068" cy="198802"/>
              </a:xfrm>
            </p:grpSpPr>
            <p:sp>
              <p:nvSpPr>
                <p:cNvPr id="139" name="Freeform 139"/>
                <p:cNvSpPr/>
                <p:nvPr/>
              </p:nvSpPr>
              <p:spPr>
                <a:xfrm>
                  <a:off x="9058275" y="5062538"/>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16669">
                  <a:solidFill>
                    <a:srgbClr val="8A1700"/>
                  </a:solidFill>
                </a:ln>
              </p:spPr>
            </p:sp>
            <p:sp>
              <p:nvSpPr>
                <p:cNvPr id="140" name="Freeform 140"/>
                <p:cNvSpPr/>
                <p:nvPr/>
              </p:nvSpPr>
              <p:spPr>
                <a:xfrm>
                  <a:off x="9124950" y="5162550"/>
                  <a:ext cx="95523" cy="98790"/>
                </a:xfrm>
                <a:custGeom>
                  <a:avLst/>
                  <a:gdLst/>
                  <a:ahLst/>
                  <a:cxnLst/>
                  <a:rect l="l" t="t" r="r" b="b"/>
                  <a:pathLst>
                    <a:path w="95523" h="98790">
                      <a:moveTo>
                        <a:pt x="0" y="33338"/>
                      </a:moveTo>
                      <a:lnTo>
                        <a:pt x="37783" y="98790"/>
                      </a:lnTo>
                      <a:lnTo>
                        <a:pt x="55540" y="62864"/>
                      </a:lnTo>
                      <a:lnTo>
                        <a:pt x="95523" y="65442"/>
                      </a:lnTo>
                      <a:lnTo>
                        <a:pt x="57741" y="0"/>
                      </a:lnTo>
                    </a:path>
                  </a:pathLst>
                </a:custGeom>
                <a:noFill/>
                <a:ln w="16669">
                  <a:solidFill>
                    <a:srgbClr val="8A1700"/>
                  </a:solidFill>
                </a:ln>
              </p:spPr>
            </p:sp>
            <p:sp>
              <p:nvSpPr>
                <p:cNvPr id="141" name="Freeform 141"/>
                <p:cNvSpPr/>
                <p:nvPr/>
              </p:nvSpPr>
              <p:spPr>
                <a:xfrm>
                  <a:off x="9029405" y="5162550"/>
                  <a:ext cx="95523" cy="98779"/>
                </a:xfrm>
                <a:custGeom>
                  <a:avLst/>
                  <a:gdLst/>
                  <a:ahLst/>
                  <a:cxnLst/>
                  <a:rect l="l" t="t" r="r" b="b"/>
                  <a:pathLst>
                    <a:path w="95523" h="98779">
                      <a:moveTo>
                        <a:pt x="37783" y="0"/>
                      </a:moveTo>
                      <a:lnTo>
                        <a:pt x="0" y="65453"/>
                      </a:lnTo>
                      <a:lnTo>
                        <a:pt x="39983" y="62864"/>
                      </a:lnTo>
                      <a:lnTo>
                        <a:pt x="57741" y="98779"/>
                      </a:lnTo>
                      <a:lnTo>
                        <a:pt x="95523" y="33338"/>
                      </a:lnTo>
                    </a:path>
                  </a:pathLst>
                </a:custGeom>
                <a:noFill/>
                <a:ln w="16669">
                  <a:solidFill>
                    <a:srgbClr val="8A1700"/>
                  </a:solidFill>
                </a:ln>
              </p:spPr>
            </p:sp>
          </p:grpSp>
          <p:sp>
            <p:nvSpPr>
              <p:cNvPr id="143" name="TextBox 143"/>
              <p:cNvSpPr txBox="1"/>
              <p:nvPr/>
            </p:nvSpPr>
            <p:spPr>
              <a:xfrm>
                <a:off x="9348788" y="5113020"/>
                <a:ext cx="1112063" cy="176212"/>
              </a:xfrm>
              <a:prstGeom prst="rect">
                <a:avLst/>
              </a:prstGeom>
              <a:noFill/>
              <a:ln>
                <a:noFill/>
              </a:ln>
            </p:spPr>
            <p:txBody>
              <a:bodyPr wrap="none" lIns="0" tIns="0" rIns="0" bIns="0" anchor="t" anchorCtr="0">
                <a:spAutoFit/>
              </a:bodyPr>
              <a:lstStyle/>
              <a:p>
                <a:pPr algn="l"/>
                <a:r>
                  <a:rPr lang="zh-CN" sz="900" dirty="0">
                    <a:solidFill>
                      <a:srgbClr val="520E00"/>
                    </a:solidFill>
                    <a:latin typeface="+mn-lt"/>
                    <a:ea typeface="+mn-ea"/>
                    <a:cs typeface="+mn-cs"/>
                  </a:rPr>
                  <a:t>进阶权益/专属活动​</a:t>
                </a:r>
              </a:p>
            </p:txBody>
          </p:sp>
        </p:grpSp>
      </p:grpSp>
      <p:grpSp>
        <p:nvGrpSpPr>
          <p:cNvPr id="156" name="goal-banner"/>
          <p:cNvGrpSpPr/>
          <p:nvPr/>
        </p:nvGrpSpPr>
        <p:grpSpPr>
          <a:xfrm>
            <a:off x="228600" y="5638800"/>
            <a:ext cx="11734800" cy="838200"/>
            <a:chOff x="228600" y="5638800"/>
            <a:chExt cx="11734800" cy="838200"/>
          </a:xfrm>
        </p:grpSpPr>
        <p:sp>
          <p:nvSpPr>
            <p:cNvPr id="146" name="Rectangle 146"/>
            <p:cNvSpPr/>
            <p:nvPr/>
          </p:nvSpPr>
          <p:spPr>
            <a:xfrm>
              <a:off x="228600" y="5638800"/>
              <a:ext cx="11734800" cy="838200"/>
            </a:xfrm>
            <a:prstGeom prst="roundRect">
              <a:avLst>
                <a:gd name="adj" fmla="val 9091"/>
              </a:avLst>
            </a:prstGeom>
            <a:solidFill>
              <a:srgbClr val="FFFFFF"/>
            </a:solidFill>
            <a:ln w="19050">
              <a:solidFill>
                <a:srgbClr val="8A1700"/>
              </a:solidFill>
            </a:ln>
          </p:spPr>
        </p:sp>
        <p:grpSp>
          <p:nvGrpSpPr>
            <p:cNvPr id="150" name="Group 150"/>
            <p:cNvGrpSpPr/>
            <p:nvPr/>
          </p:nvGrpSpPr>
          <p:grpSpPr>
            <a:xfrm>
              <a:off x="552450" y="5886450"/>
              <a:ext cx="342900" cy="342900"/>
              <a:chOff x="552450" y="5886450"/>
              <a:chExt cx="342900" cy="342900"/>
            </a:xfrm>
          </p:grpSpPr>
          <p:sp>
            <p:nvSpPr>
              <p:cNvPr id="147" name="Freeform 147"/>
              <p:cNvSpPr/>
              <p:nvPr/>
            </p:nvSpPr>
            <p:spPr>
              <a:xfrm>
                <a:off x="704850" y="60388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28575">
                <a:solidFill>
                  <a:srgbClr val="8A1700"/>
                </a:solidFill>
              </a:ln>
            </p:spPr>
          </p:sp>
          <p:sp>
            <p:nvSpPr>
              <p:cNvPr id="148" name="Freeform 148"/>
              <p:cNvSpPr/>
              <p:nvPr/>
            </p:nvSpPr>
            <p:spPr>
              <a:xfrm>
                <a:off x="628650" y="5962650"/>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28575">
                <a:solidFill>
                  <a:srgbClr val="8A1700"/>
                </a:solidFill>
              </a:ln>
            </p:spPr>
          </p:sp>
          <p:sp>
            <p:nvSpPr>
              <p:cNvPr id="149" name="Freeform 149"/>
              <p:cNvSpPr/>
              <p:nvPr/>
            </p:nvSpPr>
            <p:spPr>
              <a:xfrm>
                <a:off x="552450" y="5886450"/>
                <a:ext cx="342900" cy="342900"/>
              </a:xfrm>
              <a:custGeom>
                <a:avLst/>
                <a:gdLst/>
                <a:ahLst/>
                <a:cxnLst/>
                <a:rect l="l" t="t" r="r" b="b"/>
                <a:pathLst>
                  <a:path w="342900" h="342900">
                    <a:moveTo>
                      <a:pt x="0" y="171450"/>
                    </a:moveTo>
                    <a:cubicBezTo>
                      <a:pt x="0" y="266139"/>
                      <a:pt x="76761" y="342900"/>
                      <a:pt x="171450" y="342900"/>
                    </a:cubicBezTo>
                    <a:cubicBezTo>
                      <a:pt x="266139" y="342900"/>
                      <a:pt x="342900" y="266139"/>
                      <a:pt x="342900" y="171450"/>
                    </a:cubicBezTo>
                    <a:cubicBezTo>
                      <a:pt x="342900" y="76761"/>
                      <a:pt x="266139" y="0"/>
                      <a:pt x="171450" y="0"/>
                    </a:cubicBezTo>
                    <a:cubicBezTo>
                      <a:pt x="76761" y="0"/>
                      <a:pt x="0" y="76761"/>
                      <a:pt x="0" y="171450"/>
                    </a:cubicBezTo>
                  </a:path>
                </a:pathLst>
              </a:custGeom>
              <a:noFill/>
              <a:ln w="28575">
                <a:solidFill>
                  <a:srgbClr val="8A1700"/>
                </a:solidFill>
              </a:ln>
            </p:spPr>
          </p:sp>
        </p:grpSp>
        <p:sp>
          <p:nvSpPr>
            <p:cNvPr id="151" name="TextBox 151"/>
            <p:cNvSpPr txBox="1"/>
            <p:nvPr/>
          </p:nvSpPr>
          <p:spPr>
            <a:xfrm>
              <a:off x="1134618" y="5994082"/>
              <a:ext cx="683133" cy="322707"/>
            </a:xfrm>
            <a:prstGeom prst="rect">
              <a:avLst/>
            </a:prstGeom>
            <a:noFill/>
            <a:ln>
              <a:noFill/>
            </a:ln>
          </p:spPr>
          <p:txBody>
            <a:bodyPr wrap="none" lIns="0" tIns="0" rIns="0" bIns="0" anchor="t" anchorCtr="0">
              <a:spAutoFit/>
            </a:bodyPr>
            <a:lstStyle/>
            <a:p>
              <a:pPr algn="l"/>
              <a:r>
                <a:rPr lang="zh-CN" sz="1650" b="1" dirty="0">
                  <a:solidFill>
                    <a:srgbClr val="520E00"/>
                  </a:solidFill>
                  <a:latin typeface="+mn-lt"/>
                  <a:ea typeface="+mn-ea"/>
                  <a:cs typeface="+mn-cs"/>
                </a:rPr>
                <a:t>目标：</a:t>
              </a:r>
            </a:p>
          </p:txBody>
        </p:sp>
        <p:sp>
          <p:nvSpPr>
            <p:cNvPr id="152" name="Line 152"/>
            <p:cNvSpPr/>
            <p:nvPr/>
          </p:nvSpPr>
          <p:spPr>
            <a:xfrm>
              <a:off x="2190750" y="5791200"/>
              <a:ext cx="9525" cy="533400"/>
            </a:xfrm>
            <a:custGeom>
              <a:avLst/>
              <a:gdLst/>
              <a:ahLst/>
              <a:cxnLst/>
              <a:rect l="l" t="t" r="r" b="b"/>
              <a:pathLst>
                <a:path w="9525" h="533400">
                  <a:moveTo>
                    <a:pt x="0" y="0"/>
                  </a:moveTo>
                  <a:lnTo>
                    <a:pt x="0" y="533400"/>
                  </a:lnTo>
                </a:path>
              </a:pathLst>
            </a:custGeom>
            <a:noFill/>
            <a:ln w="14288">
              <a:solidFill>
                <a:srgbClr val="C9D5EA"/>
              </a:solidFill>
            </a:ln>
          </p:spPr>
        </p:sp>
        <p:sp>
          <p:nvSpPr>
            <p:cNvPr id="153" name="TextBox 153"/>
            <p:cNvSpPr txBox="1"/>
            <p:nvPr/>
          </p:nvSpPr>
          <p:spPr>
            <a:xfrm>
              <a:off x="2563368" y="6013132"/>
              <a:ext cx="2379093" cy="322707"/>
            </a:xfrm>
            <a:prstGeom prst="rect">
              <a:avLst/>
            </a:prstGeom>
            <a:noFill/>
            <a:ln>
              <a:noFill/>
            </a:ln>
          </p:spPr>
          <p:txBody>
            <a:bodyPr wrap="none" lIns="0" tIns="0" rIns="0" bIns="0" anchor="t" anchorCtr="0">
              <a:spAutoFit/>
            </a:bodyPr>
            <a:lstStyle/>
            <a:p>
              <a:pPr algn="l"/>
              <a:r>
                <a:rPr lang="zh-CN" sz="1650" b="1" dirty="0">
                  <a:solidFill>
                    <a:srgbClr val="520E00"/>
                  </a:solidFill>
                  <a:latin typeface="+mn-lt"/>
                  <a:ea typeface="+mn-ea"/>
                  <a:cs typeface="+mn-cs"/>
                </a:rPr>
                <a:t xml:space="preserve">激活率提升 </a:t>
              </a:r>
              <a:r>
                <a:rPr lang="zh-CN" sz="3300" b="1" dirty="0">
                  <a:solidFill>
                    <a:srgbClr val="C02C0A"/>
                  </a:solidFill>
                  <a:latin typeface="+mn-lt"/>
                  <a:ea typeface="+mn-ea"/>
                  <a:cs typeface="+mn-cs"/>
                </a:rPr>
                <a:t>6</a:t>
              </a:r>
              <a:r>
                <a:rPr lang="zh-CN" sz="1650" b="1" dirty="0">
                  <a:solidFill>
                    <a:srgbClr val="520E00"/>
                  </a:solidFill>
                  <a:latin typeface="+mn-lt"/>
                  <a:ea typeface="+mn-ea"/>
                  <a:cs typeface="+mn-cs"/>
                </a:rPr>
                <a:t xml:space="preserve"> </a:t>
              </a:r>
              <a:r>
                <a:rPr lang="zh-CN" sz="1350" b="1" dirty="0">
                  <a:solidFill>
                    <a:srgbClr val="C02C0A"/>
                  </a:solidFill>
                  <a:latin typeface="+mn-lt"/>
                  <a:ea typeface="+mn-ea"/>
                  <a:cs typeface="+mn-cs"/>
                </a:rPr>
                <a:t>个百分点</a:t>
              </a:r>
              <a:r>
                <a:rPr lang="zh-CN" sz="1650" b="1" dirty="0">
                  <a:solidFill>
                    <a:srgbClr val="520E00"/>
                  </a:solidFill>
                  <a:latin typeface="+mn-lt"/>
                  <a:ea typeface="+mn-ea"/>
                  <a:cs typeface="+mn-cs"/>
                </a:rPr>
                <a:t>​</a:t>
              </a:r>
            </a:p>
          </p:txBody>
        </p:sp>
        <p:sp>
          <p:nvSpPr>
            <p:cNvPr id="154" name="Line 154"/>
            <p:cNvSpPr/>
            <p:nvPr/>
          </p:nvSpPr>
          <p:spPr>
            <a:xfrm>
              <a:off x="6477000" y="5791200"/>
              <a:ext cx="9525" cy="533400"/>
            </a:xfrm>
            <a:custGeom>
              <a:avLst/>
              <a:gdLst/>
              <a:ahLst/>
              <a:cxnLst/>
              <a:rect l="l" t="t" r="r" b="b"/>
              <a:pathLst>
                <a:path w="9525" h="533400">
                  <a:moveTo>
                    <a:pt x="0" y="0"/>
                  </a:moveTo>
                  <a:lnTo>
                    <a:pt x="0" y="533400"/>
                  </a:lnTo>
                </a:path>
              </a:pathLst>
            </a:custGeom>
            <a:noFill/>
            <a:ln w="14288">
              <a:solidFill>
                <a:srgbClr val="C9D5EA"/>
              </a:solidFill>
            </a:ln>
          </p:spPr>
        </p:sp>
        <p:sp>
          <p:nvSpPr>
            <p:cNvPr id="155" name="TextBox 155"/>
            <p:cNvSpPr txBox="1"/>
            <p:nvPr/>
          </p:nvSpPr>
          <p:spPr>
            <a:xfrm>
              <a:off x="6849618" y="6013132"/>
              <a:ext cx="2379093" cy="322707"/>
            </a:xfrm>
            <a:prstGeom prst="rect">
              <a:avLst/>
            </a:prstGeom>
            <a:noFill/>
            <a:ln>
              <a:noFill/>
            </a:ln>
          </p:spPr>
          <p:txBody>
            <a:bodyPr wrap="none" lIns="0" tIns="0" rIns="0" bIns="0" anchor="t" anchorCtr="0">
              <a:spAutoFit/>
            </a:bodyPr>
            <a:lstStyle/>
            <a:p>
              <a:pPr algn="l"/>
              <a:r>
                <a:rPr lang="zh-CN" sz="1650" b="1" dirty="0">
                  <a:solidFill>
                    <a:srgbClr val="520E00"/>
                  </a:solidFill>
                  <a:latin typeface="+mn-lt"/>
                  <a:ea typeface="+mn-ea"/>
                  <a:cs typeface="+mn-cs"/>
                </a:rPr>
                <a:t xml:space="preserve">首刷率提升 </a:t>
              </a:r>
              <a:r>
                <a:rPr lang="zh-CN" sz="3300" b="1" dirty="0">
                  <a:solidFill>
                    <a:srgbClr val="C02C0A"/>
                  </a:solidFill>
                  <a:latin typeface="+mn-lt"/>
                  <a:ea typeface="+mn-ea"/>
                  <a:cs typeface="+mn-cs"/>
                </a:rPr>
                <a:t>8</a:t>
              </a:r>
              <a:r>
                <a:rPr lang="zh-CN" sz="1650" b="1" dirty="0">
                  <a:solidFill>
                    <a:srgbClr val="520E00"/>
                  </a:solidFill>
                  <a:latin typeface="+mn-lt"/>
                  <a:ea typeface="+mn-ea"/>
                  <a:cs typeface="+mn-cs"/>
                </a:rPr>
                <a:t xml:space="preserve"> </a:t>
              </a:r>
              <a:r>
                <a:rPr lang="zh-CN" sz="1350" b="1" dirty="0">
                  <a:solidFill>
                    <a:srgbClr val="C02C0A"/>
                  </a:solidFill>
                  <a:latin typeface="+mn-lt"/>
                  <a:ea typeface="+mn-ea"/>
                  <a:cs typeface="+mn-cs"/>
                </a:rPr>
                <a:t>个百分点</a:t>
              </a:r>
              <a:r>
                <a:rPr lang="zh-CN" sz="1650" b="1" dirty="0">
                  <a:solidFill>
                    <a:srgbClr val="520E00"/>
                  </a:solidFill>
                  <a:latin typeface="+mn-lt"/>
                  <a:ea typeface="+mn-ea"/>
                  <a:cs typeface="+mn-cs"/>
                </a:rPr>
                <a:t>​</a:t>
              </a:r>
            </a:p>
          </p:txBody>
        </p:sp>
      </p:gr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11​</a:t>
              </a:r>
            </a:p>
          </p:txBody>
        </p:sp>
        <p:sp>
          <p:nvSpPr>
            <p:cNvPr id="4" name="TextBox 4"/>
            <p:cNvSpPr txBox="1"/>
            <p:nvPr/>
          </p:nvSpPr>
          <p:spPr>
            <a:xfrm>
              <a:off x="942594" y="151448"/>
              <a:ext cx="5012436"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活跃提升：用高频场景培养稳定消费习惯</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57" name="scene-ring"/>
          <p:cNvGrpSpPr/>
          <p:nvPr/>
        </p:nvGrpSpPr>
        <p:grpSpPr>
          <a:xfrm>
            <a:off x="476250" y="1079231"/>
            <a:ext cx="2857500" cy="2985038"/>
            <a:chOff x="476250" y="1079231"/>
            <a:chExt cx="2857500" cy="2985038"/>
          </a:xfrm>
        </p:grpSpPr>
        <p:sp>
          <p:nvSpPr>
            <p:cNvPr id="7" name="Freeform 7"/>
            <p:cNvSpPr/>
            <p:nvPr/>
          </p:nvSpPr>
          <p:spPr>
            <a:xfrm>
              <a:off x="1190625" y="1079231"/>
              <a:ext cx="1428750" cy="1492519"/>
            </a:xfrm>
            <a:custGeom>
              <a:avLst/>
              <a:gdLst/>
              <a:ahLst/>
              <a:cxnLst/>
              <a:rect l="l" t="t" r="r" b="b"/>
              <a:pathLst>
                <a:path w="1428750" h="1492519">
                  <a:moveTo>
                    <a:pt x="714375" y="1492519"/>
                  </a:moveTo>
                  <a:lnTo>
                    <a:pt x="0" y="255222"/>
                  </a:lnTo>
                  <a:cubicBezTo>
                    <a:pt x="442057" y="0"/>
                    <a:pt x="986693" y="0"/>
                    <a:pt x="1428750" y="255222"/>
                  </a:cubicBezTo>
                  <a:close/>
                </a:path>
              </a:pathLst>
            </a:custGeom>
            <a:solidFill>
              <a:srgbClr val="DCE6F5"/>
            </a:solidFill>
            <a:ln w="28575">
              <a:solidFill>
                <a:srgbClr val="FFFFFF"/>
              </a:solidFill>
            </a:ln>
          </p:spPr>
        </p:sp>
        <p:sp>
          <p:nvSpPr>
            <p:cNvPr id="8" name="Freeform 8"/>
            <p:cNvSpPr/>
            <p:nvPr/>
          </p:nvSpPr>
          <p:spPr>
            <a:xfrm>
              <a:off x="1905000" y="1334452"/>
              <a:ext cx="1428750" cy="1237298"/>
            </a:xfrm>
            <a:custGeom>
              <a:avLst/>
              <a:gdLst/>
              <a:ahLst/>
              <a:cxnLst/>
              <a:rect l="l" t="t" r="r" b="b"/>
              <a:pathLst>
                <a:path w="1428750" h="1237298">
                  <a:moveTo>
                    <a:pt x="0" y="1237298"/>
                  </a:moveTo>
                  <a:lnTo>
                    <a:pt x="714375" y="0"/>
                  </a:lnTo>
                  <a:cubicBezTo>
                    <a:pt x="1156421" y="255215"/>
                    <a:pt x="1428737" y="726867"/>
                    <a:pt x="1428750" y="1237298"/>
                  </a:cubicBezTo>
                  <a:close/>
                </a:path>
              </a:pathLst>
            </a:custGeom>
            <a:solidFill>
              <a:srgbClr val="EEF3FB"/>
            </a:solidFill>
            <a:ln w="28575">
              <a:solidFill>
                <a:srgbClr val="FFFFFF"/>
              </a:solidFill>
            </a:ln>
          </p:spPr>
        </p:sp>
        <p:sp>
          <p:nvSpPr>
            <p:cNvPr id="9" name="Freeform 9"/>
            <p:cNvSpPr/>
            <p:nvPr/>
          </p:nvSpPr>
          <p:spPr>
            <a:xfrm>
              <a:off x="1905000" y="2571750"/>
              <a:ext cx="1428750" cy="1237297"/>
            </a:xfrm>
            <a:custGeom>
              <a:avLst/>
              <a:gdLst/>
              <a:ahLst/>
              <a:cxnLst/>
              <a:rect l="l" t="t" r="r" b="b"/>
              <a:pathLst>
                <a:path w="1428750" h="1237297">
                  <a:moveTo>
                    <a:pt x="0" y="0"/>
                  </a:moveTo>
                  <a:lnTo>
                    <a:pt x="1428750" y="0"/>
                  </a:lnTo>
                  <a:cubicBezTo>
                    <a:pt x="1428737" y="510430"/>
                    <a:pt x="1156421" y="982082"/>
                    <a:pt x="714375" y="1237297"/>
                  </a:cubicBezTo>
                  <a:close/>
                </a:path>
              </a:pathLst>
            </a:custGeom>
            <a:solidFill>
              <a:srgbClr val="DCE6F5"/>
            </a:solidFill>
            <a:ln w="28575">
              <a:solidFill>
                <a:srgbClr val="FFFFFF"/>
              </a:solidFill>
            </a:ln>
          </p:spPr>
        </p:sp>
        <p:sp>
          <p:nvSpPr>
            <p:cNvPr id="10" name="Freeform 10"/>
            <p:cNvSpPr/>
            <p:nvPr/>
          </p:nvSpPr>
          <p:spPr>
            <a:xfrm>
              <a:off x="1190625" y="2571750"/>
              <a:ext cx="1428750" cy="1492519"/>
            </a:xfrm>
            <a:custGeom>
              <a:avLst/>
              <a:gdLst/>
              <a:ahLst/>
              <a:cxnLst/>
              <a:rect l="l" t="t" r="r" b="b"/>
              <a:pathLst>
                <a:path w="1428750" h="1492519">
                  <a:moveTo>
                    <a:pt x="714375" y="0"/>
                  </a:moveTo>
                  <a:lnTo>
                    <a:pt x="1428750" y="1237297"/>
                  </a:lnTo>
                  <a:cubicBezTo>
                    <a:pt x="986693" y="1492519"/>
                    <a:pt x="442057" y="1492519"/>
                    <a:pt x="0" y="1237297"/>
                  </a:cubicBezTo>
                  <a:close/>
                </a:path>
              </a:pathLst>
            </a:custGeom>
            <a:solidFill>
              <a:srgbClr val="EEF3FB"/>
            </a:solidFill>
            <a:ln w="28575">
              <a:solidFill>
                <a:srgbClr val="FFFFFF"/>
              </a:solidFill>
            </a:ln>
          </p:spPr>
        </p:sp>
        <p:sp>
          <p:nvSpPr>
            <p:cNvPr id="11" name="Freeform 11"/>
            <p:cNvSpPr/>
            <p:nvPr/>
          </p:nvSpPr>
          <p:spPr>
            <a:xfrm>
              <a:off x="476250" y="2571750"/>
              <a:ext cx="1428750" cy="1237297"/>
            </a:xfrm>
            <a:custGeom>
              <a:avLst/>
              <a:gdLst/>
              <a:ahLst/>
              <a:cxnLst/>
              <a:rect l="l" t="t" r="r" b="b"/>
              <a:pathLst>
                <a:path w="1428750" h="1237297">
                  <a:moveTo>
                    <a:pt x="1428750" y="0"/>
                  </a:moveTo>
                  <a:lnTo>
                    <a:pt x="714375" y="1237297"/>
                  </a:lnTo>
                  <a:cubicBezTo>
                    <a:pt x="272329" y="982082"/>
                    <a:pt x="13" y="510430"/>
                    <a:pt x="0" y="0"/>
                  </a:cubicBezTo>
                  <a:close/>
                </a:path>
              </a:pathLst>
            </a:custGeom>
            <a:solidFill>
              <a:srgbClr val="DCE6F5"/>
            </a:solidFill>
            <a:ln w="28575">
              <a:solidFill>
                <a:srgbClr val="FFFFFF"/>
              </a:solidFill>
            </a:ln>
          </p:spPr>
        </p:sp>
        <p:sp>
          <p:nvSpPr>
            <p:cNvPr id="12" name="Freeform 12"/>
            <p:cNvSpPr/>
            <p:nvPr/>
          </p:nvSpPr>
          <p:spPr>
            <a:xfrm>
              <a:off x="476250" y="1334453"/>
              <a:ext cx="1428750" cy="1237297"/>
            </a:xfrm>
            <a:custGeom>
              <a:avLst/>
              <a:gdLst/>
              <a:ahLst/>
              <a:cxnLst/>
              <a:rect l="l" t="t" r="r" b="b"/>
              <a:pathLst>
                <a:path w="1428750" h="1237297">
                  <a:moveTo>
                    <a:pt x="1428750" y="1237297"/>
                  </a:moveTo>
                  <a:lnTo>
                    <a:pt x="0" y="1237297"/>
                  </a:lnTo>
                  <a:cubicBezTo>
                    <a:pt x="13" y="726867"/>
                    <a:pt x="272329" y="255215"/>
                    <a:pt x="714375" y="0"/>
                  </a:cubicBezTo>
                  <a:close/>
                </a:path>
              </a:pathLst>
            </a:custGeom>
            <a:solidFill>
              <a:srgbClr val="EEF3FB"/>
            </a:solidFill>
            <a:ln w="28575">
              <a:solidFill>
                <a:srgbClr val="FFFFFF"/>
              </a:solidFill>
            </a:ln>
          </p:spPr>
        </p:sp>
        <p:sp>
          <p:nvSpPr>
            <p:cNvPr id="13" name="Ellipse 13"/>
            <p:cNvSpPr/>
            <p:nvPr/>
          </p:nvSpPr>
          <p:spPr>
            <a:xfrm>
              <a:off x="1333500" y="2000250"/>
              <a:ext cx="1143000" cy="1143000"/>
            </a:xfrm>
            <a:prstGeom prst="ellipse">
              <a:avLst/>
            </a:prstGeom>
            <a:solidFill>
              <a:srgbClr val="FFFFFF"/>
            </a:solidFill>
            <a:ln>
              <a:noFill/>
            </a:ln>
          </p:spPr>
        </p:sp>
        <p:sp>
          <p:nvSpPr>
            <p:cNvPr id="14" name="Ellipse 14"/>
            <p:cNvSpPr/>
            <p:nvPr/>
          </p:nvSpPr>
          <p:spPr>
            <a:xfrm>
              <a:off x="1409700" y="2076450"/>
              <a:ext cx="990600" cy="990600"/>
            </a:xfrm>
            <a:prstGeom prst="ellipse">
              <a:avLst/>
            </a:prstGeom>
            <a:solidFill>
              <a:srgbClr val="520E00"/>
            </a:solidFill>
            <a:ln>
              <a:noFill/>
            </a:ln>
          </p:spPr>
        </p:sp>
        <p:grpSp>
          <p:nvGrpSpPr>
            <p:cNvPr id="21" name="Group 21"/>
            <p:cNvGrpSpPr/>
            <p:nvPr/>
          </p:nvGrpSpPr>
          <p:grpSpPr>
            <a:xfrm>
              <a:off x="1762125" y="2428875"/>
              <a:ext cx="285751" cy="285751"/>
              <a:chOff x="1762125" y="2428875"/>
              <a:chExt cx="285751" cy="285751"/>
            </a:xfrm>
          </p:grpSpPr>
          <p:sp>
            <p:nvSpPr>
              <p:cNvPr id="15" name="Freeform 15"/>
              <p:cNvSpPr/>
              <p:nvPr/>
            </p:nvSpPr>
            <p:spPr>
              <a:xfrm>
                <a:off x="1873250" y="25558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FFFFF"/>
                </a:solidFill>
              </a:ln>
            </p:spPr>
          </p:sp>
          <p:sp>
            <p:nvSpPr>
              <p:cNvPr id="16" name="Freeform 16"/>
              <p:cNvSpPr/>
              <p:nvPr/>
            </p:nvSpPr>
            <p:spPr>
              <a:xfrm>
                <a:off x="1841500" y="2667001"/>
                <a:ext cx="127000" cy="47625"/>
              </a:xfrm>
              <a:custGeom>
                <a:avLst/>
                <a:gdLst/>
                <a:ahLst/>
                <a:cxnLst/>
                <a:rect l="l" t="t" r="r" b="b"/>
                <a:pathLst>
                  <a:path w="127000" h="47625">
                    <a:moveTo>
                      <a:pt x="0" y="47625"/>
                    </a:moveTo>
                    <a:lnTo>
                      <a:pt x="0" y="31750"/>
                    </a:lnTo>
                    <a:cubicBezTo>
                      <a:pt x="0" y="14215"/>
                      <a:pt x="14215" y="0"/>
                      <a:pt x="31750" y="0"/>
                    </a:cubicBezTo>
                    <a:lnTo>
                      <a:pt x="95250" y="0"/>
                    </a:lnTo>
                    <a:cubicBezTo>
                      <a:pt x="112785" y="0"/>
                      <a:pt x="127000" y="14215"/>
                      <a:pt x="127000" y="31750"/>
                    </a:cubicBezTo>
                    <a:lnTo>
                      <a:pt x="127000" y="47625"/>
                    </a:lnTo>
                  </a:path>
                </a:pathLst>
              </a:custGeom>
              <a:noFill/>
              <a:ln w="23813">
                <a:solidFill>
                  <a:srgbClr val="FFFFFF"/>
                </a:solidFill>
              </a:ln>
            </p:spPr>
          </p:sp>
          <p:sp>
            <p:nvSpPr>
              <p:cNvPr id="17" name="Freeform 17"/>
              <p:cNvSpPr/>
              <p:nvPr/>
            </p:nvSpPr>
            <p:spPr>
              <a:xfrm>
                <a:off x="1952625" y="24288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FFFFF"/>
                </a:solidFill>
              </a:ln>
            </p:spPr>
          </p:sp>
          <p:sp>
            <p:nvSpPr>
              <p:cNvPr id="18" name="Freeform 18"/>
              <p:cNvSpPr/>
              <p:nvPr/>
            </p:nvSpPr>
            <p:spPr>
              <a:xfrm>
                <a:off x="1984376" y="2540000"/>
                <a:ext cx="63500" cy="47625"/>
              </a:xfrm>
              <a:custGeom>
                <a:avLst/>
                <a:gdLst/>
                <a:ahLst/>
                <a:cxnLst/>
                <a:rect l="l" t="t" r="r" b="b"/>
                <a:pathLst>
                  <a:path w="63500" h="47625">
                    <a:moveTo>
                      <a:pt x="0" y="0"/>
                    </a:moveTo>
                    <a:lnTo>
                      <a:pt x="31750" y="0"/>
                    </a:lnTo>
                    <a:cubicBezTo>
                      <a:pt x="49285" y="0"/>
                      <a:pt x="63500" y="14215"/>
                      <a:pt x="63500" y="31750"/>
                    </a:cubicBezTo>
                    <a:lnTo>
                      <a:pt x="63500" y="47625"/>
                    </a:lnTo>
                  </a:path>
                </a:pathLst>
              </a:custGeom>
              <a:noFill/>
              <a:ln w="23813">
                <a:solidFill>
                  <a:srgbClr val="FFFFFF"/>
                </a:solidFill>
              </a:ln>
            </p:spPr>
          </p:sp>
          <p:sp>
            <p:nvSpPr>
              <p:cNvPr id="19" name="Freeform 19"/>
              <p:cNvSpPr/>
              <p:nvPr/>
            </p:nvSpPr>
            <p:spPr>
              <a:xfrm>
                <a:off x="1793875" y="24288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FFFFF"/>
                </a:solidFill>
              </a:ln>
            </p:spPr>
          </p:sp>
          <p:sp>
            <p:nvSpPr>
              <p:cNvPr id="20" name="Freeform 20"/>
              <p:cNvSpPr/>
              <p:nvPr/>
            </p:nvSpPr>
            <p:spPr>
              <a:xfrm>
                <a:off x="1762125" y="2540000"/>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23813">
                <a:solidFill>
                  <a:srgbClr val="FFFFFF"/>
                </a:solidFill>
              </a:ln>
            </p:spPr>
          </p:sp>
        </p:grpSp>
        <p:grpSp>
          <p:nvGrpSpPr>
            <p:cNvPr id="26" name="scene-dining"/>
            <p:cNvGrpSpPr/>
            <p:nvPr/>
          </p:nvGrpSpPr>
          <p:grpSpPr>
            <a:xfrm>
              <a:off x="1779080" y="1483519"/>
              <a:ext cx="251841" cy="519588"/>
              <a:chOff x="1779080" y="1483519"/>
              <a:chExt cx="251841" cy="519588"/>
            </a:xfrm>
          </p:grpSpPr>
          <p:grpSp>
            <p:nvGrpSpPr>
              <p:cNvPr id="24" name="Group 24"/>
              <p:cNvGrpSpPr/>
              <p:nvPr/>
            </p:nvGrpSpPr>
            <p:grpSpPr>
              <a:xfrm>
                <a:off x="1812909" y="1483519"/>
                <a:ext cx="184194" cy="214317"/>
                <a:chOff x="1812909" y="1483519"/>
                <a:chExt cx="184194" cy="214317"/>
              </a:xfrm>
            </p:grpSpPr>
            <p:sp>
              <p:nvSpPr>
                <p:cNvPr id="22" name="Freeform 22"/>
                <p:cNvSpPr/>
                <p:nvPr/>
              </p:nvSpPr>
              <p:spPr>
                <a:xfrm>
                  <a:off x="1812909" y="1543049"/>
                  <a:ext cx="184194" cy="154787"/>
                </a:xfrm>
                <a:custGeom>
                  <a:avLst/>
                  <a:gdLst/>
                  <a:ahLst/>
                  <a:cxnLst/>
                  <a:rect l="l" t="t" r="r" b="b"/>
                  <a:pathLst>
                    <a:path w="184194" h="154787">
                      <a:moveTo>
                        <a:pt x="24595" y="1"/>
                      </a:moveTo>
                      <a:lnTo>
                        <a:pt x="159600" y="1"/>
                      </a:lnTo>
                      <a:cubicBezTo>
                        <a:pt x="166548" y="0"/>
                        <a:pt x="173150" y="3034"/>
                        <a:pt x="177674" y="8307"/>
                      </a:cubicBezTo>
                      <a:cubicBezTo>
                        <a:pt x="182199" y="13580"/>
                        <a:pt x="184194" y="20566"/>
                        <a:pt x="183138" y="27433"/>
                      </a:cubicBezTo>
                      <a:lnTo>
                        <a:pt x="168196" y="124493"/>
                      </a:lnTo>
                      <a:cubicBezTo>
                        <a:pt x="165516" y="141922"/>
                        <a:pt x="150516" y="154787"/>
                        <a:pt x="132882" y="154782"/>
                      </a:cubicBezTo>
                      <a:lnTo>
                        <a:pt x="51300" y="154782"/>
                      </a:lnTo>
                      <a:cubicBezTo>
                        <a:pt x="33671" y="154781"/>
                        <a:pt x="18678" y="141918"/>
                        <a:pt x="15998" y="124493"/>
                      </a:cubicBezTo>
                      <a:lnTo>
                        <a:pt x="1056" y="27433"/>
                      </a:lnTo>
                      <a:cubicBezTo>
                        <a:pt x="0" y="20566"/>
                        <a:pt x="1996" y="13580"/>
                        <a:pt x="6520" y="8307"/>
                      </a:cubicBezTo>
                      <a:cubicBezTo>
                        <a:pt x="11045" y="3034"/>
                        <a:pt x="17647" y="0"/>
                        <a:pt x="24595" y="1"/>
                      </a:cubicBezTo>
                    </a:path>
                  </a:pathLst>
                </a:custGeom>
                <a:noFill/>
                <a:ln w="17859">
                  <a:solidFill>
                    <a:srgbClr val="8A1700"/>
                  </a:solidFill>
                </a:ln>
              </p:spPr>
            </p:sp>
            <p:sp>
              <p:nvSpPr>
                <p:cNvPr id="23" name="Freeform 23"/>
                <p:cNvSpPr/>
                <p:nvPr/>
              </p:nvSpPr>
              <p:spPr>
                <a:xfrm>
                  <a:off x="1869281" y="1483519"/>
                  <a:ext cx="71438" cy="95250"/>
                </a:xfrm>
                <a:custGeom>
                  <a:avLst/>
                  <a:gdLst/>
                  <a:ahLst/>
                  <a:cxnLst/>
                  <a:rect l="l" t="t" r="r" b="b"/>
                  <a:pathLst>
                    <a:path w="71438" h="95250">
                      <a:moveTo>
                        <a:pt x="0" y="95250"/>
                      </a:moveTo>
                      <a:lnTo>
                        <a:pt x="0" y="35719"/>
                      </a:lnTo>
                      <a:cubicBezTo>
                        <a:pt x="0" y="15992"/>
                        <a:pt x="15992" y="0"/>
                        <a:pt x="35719" y="0"/>
                      </a:cubicBezTo>
                      <a:cubicBezTo>
                        <a:pt x="55446" y="0"/>
                        <a:pt x="71438" y="15992"/>
                        <a:pt x="71438" y="35719"/>
                      </a:cubicBezTo>
                      <a:lnTo>
                        <a:pt x="71438" y="95250"/>
                      </a:lnTo>
                    </a:path>
                  </a:pathLst>
                </a:custGeom>
                <a:noFill/>
                <a:ln w="17859">
                  <a:solidFill>
                    <a:srgbClr val="8A1700"/>
                  </a:solidFill>
                </a:ln>
              </p:spPr>
            </p:sp>
          </p:grpSp>
          <p:sp>
            <p:nvSpPr>
              <p:cNvPr id="25" name="TextBox 25"/>
              <p:cNvSpPr txBox="1"/>
              <p:nvPr/>
            </p:nvSpPr>
            <p:spPr>
              <a:xfrm>
                <a:off x="1779080" y="1826895"/>
                <a:ext cx="251841" cy="176212"/>
              </a:xfrm>
              <a:prstGeom prst="rect">
                <a:avLst/>
              </a:prstGeom>
              <a:noFill/>
              <a:ln>
                <a:noFill/>
              </a:ln>
            </p:spPr>
            <p:txBody>
              <a:bodyPr wrap="none" lIns="0" tIns="0" rIns="0" bIns="0" anchor="t" anchorCtr="0">
                <a:spAutoFit/>
              </a:bodyPr>
              <a:lstStyle/>
              <a:p>
                <a:pPr algn="ctr"/>
                <a:r>
                  <a:rPr lang="zh-CN" sz="900" b="1" dirty="0">
                    <a:solidFill>
                      <a:srgbClr val="520E00"/>
                    </a:solidFill>
                    <a:latin typeface="+mn-lt"/>
                    <a:ea typeface="+mn-ea"/>
                    <a:cs typeface="+mn-cs"/>
                  </a:rPr>
                  <a:t>餐饮</a:t>
                </a:r>
              </a:p>
            </p:txBody>
          </p:sp>
        </p:grpSp>
        <p:grpSp>
          <p:nvGrpSpPr>
            <p:cNvPr id="33" name="scene-mall"/>
            <p:cNvGrpSpPr/>
            <p:nvPr/>
          </p:nvGrpSpPr>
          <p:grpSpPr>
            <a:xfrm>
              <a:off x="2607754" y="1940719"/>
              <a:ext cx="251841" cy="519588"/>
              <a:chOff x="2607754" y="1940719"/>
              <a:chExt cx="251841" cy="519588"/>
            </a:xfrm>
          </p:grpSpPr>
          <p:grpSp>
            <p:nvGrpSpPr>
              <p:cNvPr id="31" name="Group 31"/>
              <p:cNvGrpSpPr/>
              <p:nvPr/>
            </p:nvGrpSpPr>
            <p:grpSpPr>
              <a:xfrm>
                <a:off x="2638425" y="1940719"/>
                <a:ext cx="190501" cy="214312"/>
                <a:chOff x="2638425" y="1940719"/>
                <a:chExt cx="190501" cy="214312"/>
              </a:xfrm>
            </p:grpSpPr>
            <p:sp>
              <p:nvSpPr>
                <p:cNvPr id="27" name="Freeform 27"/>
                <p:cNvSpPr/>
                <p:nvPr/>
              </p:nvSpPr>
              <p:spPr>
                <a:xfrm>
                  <a:off x="2638425" y="210740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A1700"/>
                  </a:solidFill>
                </a:ln>
              </p:spPr>
            </p:sp>
            <p:sp>
              <p:nvSpPr>
                <p:cNvPr id="28" name="Freeform 28"/>
                <p:cNvSpPr/>
                <p:nvPr/>
              </p:nvSpPr>
              <p:spPr>
                <a:xfrm>
                  <a:off x="2769394" y="210740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A1700"/>
                  </a:solidFill>
                </a:ln>
              </p:spPr>
            </p:sp>
            <p:sp>
              <p:nvSpPr>
                <p:cNvPr id="29" name="Freeform 29"/>
                <p:cNvSpPr/>
                <p:nvPr/>
              </p:nvSpPr>
              <p:spPr>
                <a:xfrm>
                  <a:off x="2638425" y="1940719"/>
                  <a:ext cx="154781" cy="166688"/>
                </a:xfrm>
                <a:custGeom>
                  <a:avLst/>
                  <a:gdLst/>
                  <a:ahLst/>
                  <a:cxnLst/>
                  <a:rect l="l" t="t" r="r" b="b"/>
                  <a:pathLst>
                    <a:path w="154781" h="166688">
                      <a:moveTo>
                        <a:pt x="154781" y="166688"/>
                      </a:moveTo>
                      <a:lnTo>
                        <a:pt x="23812" y="166688"/>
                      </a:lnTo>
                      <a:lnTo>
                        <a:pt x="23812" y="0"/>
                      </a:lnTo>
                      <a:lnTo>
                        <a:pt x="0" y="0"/>
                      </a:lnTo>
                    </a:path>
                  </a:pathLst>
                </a:custGeom>
                <a:noFill/>
                <a:ln w="17859">
                  <a:solidFill>
                    <a:srgbClr val="8A1700"/>
                  </a:solidFill>
                </a:ln>
              </p:spPr>
            </p:sp>
            <p:sp>
              <p:nvSpPr>
                <p:cNvPr id="30" name="Freeform 30"/>
                <p:cNvSpPr/>
                <p:nvPr/>
              </p:nvSpPr>
              <p:spPr>
                <a:xfrm>
                  <a:off x="2662238" y="1964531"/>
                  <a:ext cx="166688" cy="95250"/>
                </a:xfrm>
                <a:custGeom>
                  <a:avLst/>
                  <a:gdLst/>
                  <a:ahLst/>
                  <a:cxnLst/>
                  <a:rect l="l" t="t" r="r" b="b"/>
                  <a:pathLst>
                    <a:path w="166688" h="95250">
                      <a:moveTo>
                        <a:pt x="0" y="0"/>
                      </a:moveTo>
                      <a:lnTo>
                        <a:pt x="166688" y="11906"/>
                      </a:lnTo>
                      <a:lnTo>
                        <a:pt x="154781" y="95250"/>
                      </a:lnTo>
                      <a:lnTo>
                        <a:pt x="0" y="95250"/>
                      </a:lnTo>
                    </a:path>
                  </a:pathLst>
                </a:custGeom>
                <a:noFill/>
                <a:ln w="17859">
                  <a:solidFill>
                    <a:srgbClr val="8A1700"/>
                  </a:solidFill>
                </a:ln>
              </p:spPr>
            </p:sp>
          </p:grpSp>
          <p:sp>
            <p:nvSpPr>
              <p:cNvPr id="32" name="TextBox 32"/>
              <p:cNvSpPr txBox="1"/>
              <p:nvPr/>
            </p:nvSpPr>
            <p:spPr>
              <a:xfrm>
                <a:off x="2607754" y="2284095"/>
                <a:ext cx="251841" cy="176212"/>
              </a:xfrm>
              <a:prstGeom prst="rect">
                <a:avLst/>
              </a:prstGeom>
              <a:noFill/>
              <a:ln>
                <a:noFill/>
              </a:ln>
            </p:spPr>
            <p:txBody>
              <a:bodyPr wrap="none" lIns="0" tIns="0" rIns="0" bIns="0" anchor="t" anchorCtr="0">
                <a:spAutoFit/>
              </a:bodyPr>
              <a:lstStyle/>
              <a:p>
                <a:pPr algn="ctr"/>
                <a:r>
                  <a:rPr lang="zh-CN" sz="900" b="1" dirty="0">
                    <a:solidFill>
                      <a:srgbClr val="520E00"/>
                    </a:solidFill>
                    <a:latin typeface="+mn-lt"/>
                    <a:ea typeface="+mn-ea"/>
                    <a:cs typeface="+mn-cs"/>
                  </a:rPr>
                  <a:t>商超</a:t>
                </a:r>
              </a:p>
            </p:txBody>
          </p:sp>
        </p:grpSp>
        <p:grpSp>
          <p:nvGrpSpPr>
            <p:cNvPr id="39" name="scene-travel"/>
            <p:cNvGrpSpPr/>
            <p:nvPr/>
          </p:nvGrpSpPr>
          <p:grpSpPr>
            <a:xfrm>
              <a:off x="2607754" y="2928938"/>
              <a:ext cx="251841" cy="483869"/>
              <a:chOff x="2607754" y="2928938"/>
              <a:chExt cx="251841" cy="483869"/>
            </a:xfrm>
          </p:grpSpPr>
          <p:grpSp>
            <p:nvGrpSpPr>
              <p:cNvPr id="37" name="Group 37"/>
              <p:cNvGrpSpPr/>
              <p:nvPr/>
            </p:nvGrpSpPr>
            <p:grpSpPr>
              <a:xfrm>
                <a:off x="2626519" y="2928938"/>
                <a:ext cx="214312" cy="154781"/>
                <a:chOff x="2626519" y="2928938"/>
                <a:chExt cx="214312" cy="154781"/>
              </a:xfrm>
            </p:grpSpPr>
            <p:sp>
              <p:nvSpPr>
                <p:cNvPr id="34" name="Freeform 34"/>
                <p:cNvSpPr/>
                <p:nvPr/>
              </p:nvSpPr>
              <p:spPr>
                <a:xfrm>
                  <a:off x="2650331" y="303609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A1700"/>
                  </a:solidFill>
                </a:ln>
              </p:spPr>
            </p:sp>
            <p:sp>
              <p:nvSpPr>
                <p:cNvPr id="35" name="Freeform 35"/>
                <p:cNvSpPr/>
                <p:nvPr/>
              </p:nvSpPr>
              <p:spPr>
                <a:xfrm>
                  <a:off x="2769394" y="303609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7859">
                  <a:solidFill>
                    <a:srgbClr val="8A1700"/>
                  </a:solidFill>
                </a:ln>
              </p:spPr>
            </p:sp>
            <p:sp>
              <p:nvSpPr>
                <p:cNvPr id="36" name="Freeform 36"/>
                <p:cNvSpPr/>
                <p:nvPr/>
              </p:nvSpPr>
              <p:spPr>
                <a:xfrm>
                  <a:off x="2626519" y="2928938"/>
                  <a:ext cx="214312" cy="130969"/>
                </a:xfrm>
                <a:custGeom>
                  <a:avLst/>
                  <a:gdLst/>
                  <a:ahLst/>
                  <a:cxnLst/>
                  <a:rect l="l" t="t" r="r" b="b"/>
                  <a:pathLst>
                    <a:path w="214312" h="130969">
                      <a:moveTo>
                        <a:pt x="23812" y="130969"/>
                      </a:moveTo>
                      <a:lnTo>
                        <a:pt x="0" y="130969"/>
                      </a:lnTo>
                      <a:lnTo>
                        <a:pt x="0" y="59531"/>
                      </a:lnTo>
                      <a:lnTo>
                        <a:pt x="23812" y="0"/>
                      </a:lnTo>
                      <a:lnTo>
                        <a:pt x="130969" y="0"/>
                      </a:lnTo>
                      <a:lnTo>
                        <a:pt x="178594" y="59531"/>
                      </a:lnTo>
                      <a:lnTo>
                        <a:pt x="190500" y="59531"/>
                      </a:lnTo>
                      <a:cubicBezTo>
                        <a:pt x="203651" y="59531"/>
                        <a:pt x="214312" y="70192"/>
                        <a:pt x="214312" y="83344"/>
                      </a:cubicBezTo>
                      <a:lnTo>
                        <a:pt x="214312" y="130969"/>
                      </a:lnTo>
                      <a:lnTo>
                        <a:pt x="190500" y="130969"/>
                      </a:lnTo>
                      <a:moveTo>
                        <a:pt x="142875" y="130969"/>
                      </a:moveTo>
                      <a:lnTo>
                        <a:pt x="71438" y="130969"/>
                      </a:lnTo>
                      <a:moveTo>
                        <a:pt x="0" y="59531"/>
                      </a:moveTo>
                      <a:lnTo>
                        <a:pt x="178594" y="59531"/>
                      </a:lnTo>
                      <a:moveTo>
                        <a:pt x="107156" y="59531"/>
                      </a:moveTo>
                      <a:lnTo>
                        <a:pt x="107156" y="0"/>
                      </a:lnTo>
                    </a:path>
                  </a:pathLst>
                </a:custGeom>
                <a:noFill/>
                <a:ln w="17859">
                  <a:solidFill>
                    <a:srgbClr val="8A1700"/>
                  </a:solidFill>
                </a:ln>
              </p:spPr>
            </p:sp>
          </p:grpSp>
          <p:sp>
            <p:nvSpPr>
              <p:cNvPr id="38" name="TextBox 38"/>
              <p:cNvSpPr txBox="1"/>
              <p:nvPr/>
            </p:nvSpPr>
            <p:spPr>
              <a:xfrm>
                <a:off x="2607754" y="3236595"/>
                <a:ext cx="251841" cy="176212"/>
              </a:xfrm>
              <a:prstGeom prst="rect">
                <a:avLst/>
              </a:prstGeom>
              <a:noFill/>
              <a:ln>
                <a:noFill/>
              </a:ln>
            </p:spPr>
            <p:txBody>
              <a:bodyPr wrap="none" lIns="0" tIns="0" rIns="0" bIns="0" anchor="t" anchorCtr="0">
                <a:spAutoFit/>
              </a:bodyPr>
              <a:lstStyle/>
              <a:p>
                <a:pPr algn="ctr"/>
                <a:r>
                  <a:rPr lang="zh-CN" sz="900" b="1" dirty="0">
                    <a:solidFill>
                      <a:srgbClr val="520E00"/>
                    </a:solidFill>
                    <a:latin typeface="+mn-lt"/>
                    <a:ea typeface="+mn-ea"/>
                    <a:cs typeface="+mn-cs"/>
                  </a:rPr>
                  <a:t>出行</a:t>
                </a:r>
              </a:p>
            </p:txBody>
          </p:sp>
        </p:grpSp>
        <p:grpSp>
          <p:nvGrpSpPr>
            <p:cNvPr id="47" name="scene-fuel"/>
            <p:cNvGrpSpPr/>
            <p:nvPr/>
          </p:nvGrpSpPr>
          <p:grpSpPr>
            <a:xfrm>
              <a:off x="1779080" y="3400425"/>
              <a:ext cx="251841" cy="507682"/>
              <a:chOff x="1779080" y="3400425"/>
              <a:chExt cx="251841" cy="507682"/>
            </a:xfrm>
          </p:grpSpPr>
          <p:grpSp>
            <p:nvGrpSpPr>
              <p:cNvPr id="45" name="Group 45"/>
              <p:cNvGrpSpPr/>
              <p:nvPr/>
            </p:nvGrpSpPr>
            <p:grpSpPr>
              <a:xfrm>
                <a:off x="1797844" y="3400425"/>
                <a:ext cx="202406" cy="200025"/>
                <a:chOff x="1797844" y="3400425"/>
                <a:chExt cx="202406" cy="200025"/>
              </a:xfrm>
            </p:grpSpPr>
            <p:sp>
              <p:nvSpPr>
                <p:cNvPr id="40" name="Freeform 40"/>
                <p:cNvSpPr/>
                <p:nvPr/>
              </p:nvSpPr>
              <p:spPr>
                <a:xfrm>
                  <a:off x="1928812" y="3424238"/>
                  <a:ext cx="71438" cy="136922"/>
                </a:xfrm>
                <a:custGeom>
                  <a:avLst/>
                  <a:gdLst/>
                  <a:ahLst/>
                  <a:cxnLst/>
                  <a:rect l="l" t="t" r="r" b="b"/>
                  <a:pathLst>
                    <a:path w="71438" h="136922">
                      <a:moveTo>
                        <a:pt x="0" y="59531"/>
                      </a:moveTo>
                      <a:lnTo>
                        <a:pt x="11906" y="59531"/>
                      </a:lnTo>
                      <a:cubicBezTo>
                        <a:pt x="25058" y="59531"/>
                        <a:pt x="35719" y="70192"/>
                        <a:pt x="35719" y="83344"/>
                      </a:cubicBezTo>
                      <a:lnTo>
                        <a:pt x="35719" y="119062"/>
                      </a:lnTo>
                      <a:cubicBezTo>
                        <a:pt x="35719" y="128926"/>
                        <a:pt x="43715" y="136922"/>
                        <a:pt x="53578" y="136922"/>
                      </a:cubicBezTo>
                      <a:cubicBezTo>
                        <a:pt x="63442" y="136922"/>
                        <a:pt x="71438" y="128926"/>
                        <a:pt x="71438" y="119062"/>
                      </a:cubicBezTo>
                      <a:lnTo>
                        <a:pt x="71438" y="35719"/>
                      </a:lnTo>
                      <a:lnTo>
                        <a:pt x="35719" y="0"/>
                      </a:lnTo>
                    </a:path>
                  </a:pathLst>
                </a:custGeom>
                <a:noFill/>
                <a:ln w="17859">
                  <a:solidFill>
                    <a:srgbClr val="8A1700"/>
                  </a:solidFill>
                </a:ln>
              </p:spPr>
            </p:sp>
            <p:sp>
              <p:nvSpPr>
                <p:cNvPr id="41" name="Freeform 41"/>
                <p:cNvSpPr/>
                <p:nvPr/>
              </p:nvSpPr>
              <p:spPr>
                <a:xfrm>
                  <a:off x="1809750" y="3400425"/>
                  <a:ext cx="119062" cy="190500"/>
                </a:xfrm>
                <a:custGeom>
                  <a:avLst/>
                  <a:gdLst/>
                  <a:ahLst/>
                  <a:cxnLst/>
                  <a:rect l="l" t="t" r="r" b="b"/>
                  <a:pathLst>
                    <a:path w="119062" h="190500">
                      <a:moveTo>
                        <a:pt x="0" y="190500"/>
                      </a:moveTo>
                      <a:lnTo>
                        <a:pt x="0" y="23812"/>
                      </a:lnTo>
                      <a:cubicBezTo>
                        <a:pt x="0" y="10661"/>
                        <a:pt x="10661" y="0"/>
                        <a:pt x="23812" y="0"/>
                      </a:cubicBezTo>
                      <a:lnTo>
                        <a:pt x="95250" y="0"/>
                      </a:lnTo>
                      <a:cubicBezTo>
                        <a:pt x="108401" y="0"/>
                        <a:pt x="119062" y="10661"/>
                        <a:pt x="119062" y="23812"/>
                      </a:cubicBezTo>
                      <a:lnTo>
                        <a:pt x="119062" y="190500"/>
                      </a:lnTo>
                    </a:path>
                  </a:pathLst>
                </a:custGeom>
                <a:noFill/>
                <a:ln w="17859">
                  <a:solidFill>
                    <a:srgbClr val="8A1700"/>
                  </a:solidFill>
                </a:ln>
              </p:spPr>
            </p:sp>
            <p:sp>
              <p:nvSpPr>
                <p:cNvPr id="42" name="Freeform 42"/>
                <p:cNvSpPr/>
                <p:nvPr/>
              </p:nvSpPr>
              <p:spPr>
                <a:xfrm>
                  <a:off x="1797844" y="3590925"/>
                  <a:ext cx="142875" cy="9525"/>
                </a:xfrm>
                <a:custGeom>
                  <a:avLst/>
                  <a:gdLst/>
                  <a:ahLst/>
                  <a:cxnLst/>
                  <a:rect l="l" t="t" r="r" b="b"/>
                  <a:pathLst>
                    <a:path w="142875" h="9525">
                      <a:moveTo>
                        <a:pt x="0" y="0"/>
                      </a:moveTo>
                      <a:lnTo>
                        <a:pt x="142875" y="0"/>
                      </a:lnTo>
                    </a:path>
                  </a:pathLst>
                </a:custGeom>
                <a:noFill/>
                <a:ln w="17859">
                  <a:solidFill>
                    <a:srgbClr val="8A1700"/>
                  </a:solidFill>
                </a:ln>
              </p:spPr>
            </p:sp>
            <p:sp>
              <p:nvSpPr>
                <p:cNvPr id="43" name="Freeform 43"/>
                <p:cNvSpPr/>
                <p:nvPr/>
              </p:nvSpPr>
              <p:spPr>
                <a:xfrm>
                  <a:off x="1976438" y="3436144"/>
                  <a:ext cx="23812" cy="23812"/>
                </a:xfrm>
                <a:custGeom>
                  <a:avLst/>
                  <a:gdLst/>
                  <a:ahLst/>
                  <a:cxnLst/>
                  <a:rect l="l" t="t" r="r" b="b"/>
                  <a:pathLst>
                    <a:path w="23812" h="23812">
                      <a:moveTo>
                        <a:pt x="0" y="0"/>
                      </a:moveTo>
                      <a:lnTo>
                        <a:pt x="0" y="11906"/>
                      </a:lnTo>
                      <a:cubicBezTo>
                        <a:pt x="0" y="18482"/>
                        <a:pt x="5331" y="23812"/>
                        <a:pt x="11906" y="23812"/>
                      </a:cubicBezTo>
                      <a:lnTo>
                        <a:pt x="23812" y="23812"/>
                      </a:lnTo>
                    </a:path>
                  </a:pathLst>
                </a:custGeom>
                <a:noFill/>
                <a:ln w="17859">
                  <a:solidFill>
                    <a:srgbClr val="8A1700"/>
                  </a:solidFill>
                </a:ln>
              </p:spPr>
            </p:sp>
            <p:sp>
              <p:nvSpPr>
                <p:cNvPr id="44" name="Freeform 44"/>
                <p:cNvSpPr/>
                <p:nvPr/>
              </p:nvSpPr>
              <p:spPr>
                <a:xfrm>
                  <a:off x="1809750" y="3483769"/>
                  <a:ext cx="119062" cy="9525"/>
                </a:xfrm>
                <a:custGeom>
                  <a:avLst/>
                  <a:gdLst/>
                  <a:ahLst/>
                  <a:cxnLst/>
                  <a:rect l="l" t="t" r="r" b="b"/>
                  <a:pathLst>
                    <a:path w="119062" h="9525">
                      <a:moveTo>
                        <a:pt x="0" y="0"/>
                      </a:moveTo>
                      <a:lnTo>
                        <a:pt x="119062" y="0"/>
                      </a:lnTo>
                    </a:path>
                  </a:pathLst>
                </a:custGeom>
                <a:noFill/>
                <a:ln w="17859">
                  <a:solidFill>
                    <a:srgbClr val="8A1700"/>
                  </a:solidFill>
                </a:ln>
              </p:spPr>
            </p:sp>
          </p:grpSp>
          <p:sp>
            <p:nvSpPr>
              <p:cNvPr id="46" name="TextBox 46"/>
              <p:cNvSpPr txBox="1"/>
              <p:nvPr/>
            </p:nvSpPr>
            <p:spPr>
              <a:xfrm>
                <a:off x="1779080" y="3731895"/>
                <a:ext cx="251841" cy="176212"/>
              </a:xfrm>
              <a:prstGeom prst="rect">
                <a:avLst/>
              </a:prstGeom>
              <a:noFill/>
              <a:ln>
                <a:noFill/>
              </a:ln>
            </p:spPr>
            <p:txBody>
              <a:bodyPr wrap="none" lIns="0" tIns="0" rIns="0" bIns="0" anchor="t" anchorCtr="0">
                <a:spAutoFit/>
              </a:bodyPr>
              <a:lstStyle/>
              <a:p>
                <a:pPr algn="ctr"/>
                <a:r>
                  <a:rPr lang="zh-CN" sz="900" b="1" dirty="0">
                    <a:solidFill>
                      <a:srgbClr val="520E00"/>
                    </a:solidFill>
                    <a:latin typeface="+mn-lt"/>
                    <a:ea typeface="+mn-ea"/>
                    <a:cs typeface="+mn-cs"/>
                  </a:rPr>
                  <a:t>加油</a:t>
                </a:r>
              </a:p>
            </p:txBody>
          </p:sp>
        </p:grpSp>
        <p:grpSp>
          <p:nvGrpSpPr>
            <p:cNvPr id="53" name="scene-online"/>
            <p:cNvGrpSpPr/>
            <p:nvPr/>
          </p:nvGrpSpPr>
          <p:grpSpPr>
            <a:xfrm>
              <a:off x="829246" y="2893219"/>
              <a:ext cx="494157" cy="519588"/>
              <a:chOff x="829246" y="2893219"/>
              <a:chExt cx="494157" cy="519588"/>
            </a:xfrm>
          </p:grpSpPr>
          <p:grpSp>
            <p:nvGrpSpPr>
              <p:cNvPr id="51" name="Group 51"/>
              <p:cNvGrpSpPr/>
              <p:nvPr/>
            </p:nvGrpSpPr>
            <p:grpSpPr>
              <a:xfrm>
                <a:off x="1004888" y="2893219"/>
                <a:ext cx="142875" cy="214312"/>
                <a:chOff x="1004888" y="2893219"/>
                <a:chExt cx="142875" cy="214312"/>
              </a:xfrm>
            </p:grpSpPr>
            <p:sp>
              <p:nvSpPr>
                <p:cNvPr id="48" name="Freeform 48"/>
                <p:cNvSpPr/>
                <p:nvPr/>
              </p:nvSpPr>
              <p:spPr>
                <a:xfrm>
                  <a:off x="1004888" y="2893219"/>
                  <a:ext cx="142875" cy="214312"/>
                </a:xfrm>
                <a:custGeom>
                  <a:avLst/>
                  <a:gdLst/>
                  <a:ahLst/>
                  <a:cxnLst/>
                  <a:rect l="l" t="t" r="r" b="b"/>
                  <a:pathLst>
                    <a:path w="142875" h="214312">
                      <a:moveTo>
                        <a:pt x="0" y="23812"/>
                      </a:moveTo>
                      <a:cubicBezTo>
                        <a:pt x="0" y="10661"/>
                        <a:pt x="10661" y="0"/>
                        <a:pt x="23812" y="0"/>
                      </a:cubicBezTo>
                      <a:lnTo>
                        <a:pt x="119062" y="0"/>
                      </a:lnTo>
                      <a:cubicBezTo>
                        <a:pt x="132214" y="0"/>
                        <a:pt x="142875" y="10661"/>
                        <a:pt x="142875" y="23812"/>
                      </a:cubicBezTo>
                      <a:lnTo>
                        <a:pt x="142875" y="190500"/>
                      </a:lnTo>
                      <a:cubicBezTo>
                        <a:pt x="142875" y="203651"/>
                        <a:pt x="132214" y="214312"/>
                        <a:pt x="119062" y="214312"/>
                      </a:cubicBezTo>
                      <a:lnTo>
                        <a:pt x="23812" y="214312"/>
                      </a:lnTo>
                      <a:cubicBezTo>
                        <a:pt x="10661" y="214312"/>
                        <a:pt x="0" y="203651"/>
                        <a:pt x="0" y="190500"/>
                      </a:cubicBezTo>
                      <a:lnTo>
                        <a:pt x="0" y="23812"/>
                      </a:lnTo>
                    </a:path>
                  </a:pathLst>
                </a:custGeom>
                <a:noFill/>
                <a:ln w="17859">
                  <a:solidFill>
                    <a:srgbClr val="8A1700"/>
                  </a:solidFill>
                </a:ln>
              </p:spPr>
            </p:sp>
            <p:sp>
              <p:nvSpPr>
                <p:cNvPr id="49" name="Freeform 49"/>
                <p:cNvSpPr/>
                <p:nvPr/>
              </p:nvSpPr>
              <p:spPr>
                <a:xfrm>
                  <a:off x="1064419" y="2905125"/>
                  <a:ext cx="23812" cy="9525"/>
                </a:xfrm>
                <a:custGeom>
                  <a:avLst/>
                  <a:gdLst/>
                  <a:ahLst/>
                  <a:cxnLst/>
                  <a:rect l="l" t="t" r="r" b="b"/>
                  <a:pathLst>
                    <a:path w="23812" h="9525">
                      <a:moveTo>
                        <a:pt x="0" y="0"/>
                      </a:moveTo>
                      <a:lnTo>
                        <a:pt x="23812" y="0"/>
                      </a:lnTo>
                    </a:path>
                  </a:pathLst>
                </a:custGeom>
                <a:noFill/>
                <a:ln w="17859">
                  <a:solidFill>
                    <a:srgbClr val="8A1700"/>
                  </a:solidFill>
                </a:ln>
              </p:spPr>
            </p:sp>
            <p:sp>
              <p:nvSpPr>
                <p:cNvPr id="50" name="Freeform 50"/>
                <p:cNvSpPr/>
                <p:nvPr/>
              </p:nvSpPr>
              <p:spPr>
                <a:xfrm>
                  <a:off x="1076325" y="3059906"/>
                  <a:ext cx="9525" cy="9525"/>
                </a:xfrm>
                <a:custGeom>
                  <a:avLst/>
                  <a:gdLst/>
                  <a:ahLst/>
                  <a:cxnLst/>
                  <a:rect l="l" t="t" r="r" b="b"/>
                  <a:pathLst>
                    <a:path w="9525" h="9525">
                      <a:moveTo>
                        <a:pt x="0" y="0"/>
                      </a:moveTo>
                      <a:lnTo>
                        <a:pt x="0" y="119"/>
                      </a:lnTo>
                    </a:path>
                  </a:pathLst>
                </a:custGeom>
                <a:noFill/>
                <a:ln w="17859">
                  <a:solidFill>
                    <a:srgbClr val="8A1700"/>
                  </a:solidFill>
                </a:ln>
              </p:spPr>
            </p:sp>
          </p:grpSp>
          <p:sp>
            <p:nvSpPr>
              <p:cNvPr id="52" name="TextBox 52"/>
              <p:cNvSpPr txBox="1"/>
              <p:nvPr/>
            </p:nvSpPr>
            <p:spPr>
              <a:xfrm>
                <a:off x="829246" y="3236595"/>
                <a:ext cx="494157" cy="176212"/>
              </a:xfrm>
              <a:prstGeom prst="rect">
                <a:avLst/>
              </a:prstGeom>
              <a:noFill/>
              <a:ln>
                <a:noFill/>
              </a:ln>
            </p:spPr>
            <p:txBody>
              <a:bodyPr wrap="none" lIns="0" tIns="0" rIns="0" bIns="0" anchor="t" anchorCtr="0">
                <a:spAutoFit/>
              </a:bodyPr>
              <a:lstStyle/>
              <a:p>
                <a:pPr algn="ctr"/>
                <a:r>
                  <a:rPr lang="zh-CN" sz="900" b="1" dirty="0">
                    <a:solidFill>
                      <a:srgbClr val="520E00"/>
                    </a:solidFill>
                    <a:latin typeface="+mn-lt"/>
                    <a:ea typeface="+mn-ea"/>
                    <a:cs typeface="+mn-cs"/>
                  </a:rPr>
                  <a:t>线上支付</a:t>
                </a:r>
              </a:p>
            </p:txBody>
          </p:sp>
        </p:grpSp>
        <p:grpSp>
          <p:nvGrpSpPr>
            <p:cNvPr id="56" name="scene-tourism"/>
            <p:cNvGrpSpPr/>
            <p:nvPr/>
          </p:nvGrpSpPr>
          <p:grpSpPr>
            <a:xfrm>
              <a:off x="950404" y="1940719"/>
              <a:ext cx="251841" cy="519588"/>
              <a:chOff x="950404" y="1940719"/>
              <a:chExt cx="251841" cy="519588"/>
            </a:xfrm>
          </p:grpSpPr>
          <p:sp>
            <p:nvSpPr>
              <p:cNvPr id="54" name="Freeform 54"/>
              <p:cNvSpPr/>
              <p:nvPr/>
            </p:nvSpPr>
            <p:spPr>
              <a:xfrm>
                <a:off x="957262" y="1940719"/>
                <a:ext cx="238125" cy="214312"/>
              </a:xfrm>
              <a:custGeom>
                <a:avLst/>
                <a:gdLst/>
                <a:ahLst/>
                <a:cxnLst/>
                <a:rect l="l" t="t" r="r" b="b"/>
                <a:pathLst>
                  <a:path w="238125" h="214312">
                    <a:moveTo>
                      <a:pt x="166688" y="83344"/>
                    </a:moveTo>
                    <a:lnTo>
                      <a:pt x="214312" y="83344"/>
                    </a:lnTo>
                    <a:cubicBezTo>
                      <a:pt x="227464" y="83344"/>
                      <a:pt x="238125" y="94005"/>
                      <a:pt x="238125" y="107156"/>
                    </a:cubicBezTo>
                    <a:cubicBezTo>
                      <a:pt x="238125" y="120308"/>
                      <a:pt x="227464" y="130969"/>
                      <a:pt x="214312" y="130969"/>
                    </a:cubicBezTo>
                    <a:lnTo>
                      <a:pt x="166688" y="130969"/>
                    </a:lnTo>
                    <a:lnTo>
                      <a:pt x="119062" y="214312"/>
                    </a:lnTo>
                    <a:lnTo>
                      <a:pt x="83344" y="214312"/>
                    </a:lnTo>
                    <a:lnTo>
                      <a:pt x="107156" y="130969"/>
                    </a:lnTo>
                    <a:lnTo>
                      <a:pt x="59531" y="130969"/>
                    </a:lnTo>
                    <a:lnTo>
                      <a:pt x="35719" y="154781"/>
                    </a:lnTo>
                    <a:lnTo>
                      <a:pt x="0" y="154781"/>
                    </a:lnTo>
                    <a:lnTo>
                      <a:pt x="23812" y="107156"/>
                    </a:lnTo>
                    <a:lnTo>
                      <a:pt x="0" y="59531"/>
                    </a:lnTo>
                    <a:lnTo>
                      <a:pt x="35719" y="59531"/>
                    </a:lnTo>
                    <a:lnTo>
                      <a:pt x="59531" y="83344"/>
                    </a:lnTo>
                    <a:lnTo>
                      <a:pt x="107156" y="83344"/>
                    </a:lnTo>
                    <a:lnTo>
                      <a:pt x="83344" y="0"/>
                    </a:lnTo>
                    <a:lnTo>
                      <a:pt x="119062" y="0"/>
                    </a:lnTo>
                    <a:lnTo>
                      <a:pt x="166688" y="83344"/>
                    </a:lnTo>
                  </a:path>
                </a:pathLst>
              </a:custGeom>
              <a:noFill/>
              <a:ln w="17859">
                <a:solidFill>
                  <a:srgbClr val="8A1700"/>
                </a:solidFill>
              </a:ln>
            </p:spPr>
          </p:sp>
          <p:sp>
            <p:nvSpPr>
              <p:cNvPr id="55" name="TextBox 55"/>
              <p:cNvSpPr txBox="1"/>
              <p:nvPr/>
            </p:nvSpPr>
            <p:spPr>
              <a:xfrm>
                <a:off x="950404" y="2284095"/>
                <a:ext cx="251841" cy="176212"/>
              </a:xfrm>
              <a:prstGeom prst="rect">
                <a:avLst/>
              </a:prstGeom>
              <a:noFill/>
              <a:ln>
                <a:noFill/>
              </a:ln>
            </p:spPr>
            <p:txBody>
              <a:bodyPr wrap="none" lIns="0" tIns="0" rIns="0" bIns="0" anchor="t" anchorCtr="0">
                <a:spAutoFit/>
              </a:bodyPr>
              <a:lstStyle/>
              <a:p>
                <a:pPr algn="ctr"/>
                <a:r>
                  <a:rPr lang="zh-CN" sz="900" b="1" dirty="0">
                    <a:solidFill>
                      <a:srgbClr val="520E00"/>
                    </a:solidFill>
                    <a:latin typeface="+mn-lt"/>
                    <a:ea typeface="+mn-ea"/>
                    <a:cs typeface="+mn-cs"/>
                  </a:rPr>
                  <a:t>文旅</a:t>
                </a:r>
              </a:p>
            </p:txBody>
          </p:sp>
        </p:grpSp>
      </p:grpSp>
      <p:grpSp>
        <p:nvGrpSpPr>
          <p:cNvPr id="94" name="three-steps"/>
          <p:cNvGrpSpPr/>
          <p:nvPr/>
        </p:nvGrpSpPr>
        <p:grpSpPr>
          <a:xfrm>
            <a:off x="3810000" y="877252"/>
            <a:ext cx="3067050" cy="3275648"/>
            <a:chOff x="3810000" y="877252"/>
            <a:chExt cx="3067050" cy="3275648"/>
          </a:xfrm>
        </p:grpSpPr>
        <p:sp>
          <p:nvSpPr>
            <p:cNvPr id="58" name="TextBox 58"/>
            <p:cNvSpPr txBox="1"/>
            <p:nvPr/>
          </p:nvSpPr>
          <p:spPr>
            <a:xfrm>
              <a:off x="4326825" y="877252"/>
              <a:ext cx="2033401"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优惠吸引—习惯培养—价值提升​​</a:t>
              </a:r>
            </a:p>
          </p:txBody>
        </p:sp>
        <p:grpSp>
          <p:nvGrpSpPr>
            <p:cNvPr id="69" name="step-1"/>
            <p:cNvGrpSpPr/>
            <p:nvPr/>
          </p:nvGrpSpPr>
          <p:grpSpPr>
            <a:xfrm>
              <a:off x="3810000" y="1123950"/>
              <a:ext cx="3067050" cy="857250"/>
              <a:chOff x="3810000" y="1123950"/>
              <a:chExt cx="3067050" cy="857250"/>
            </a:xfrm>
          </p:grpSpPr>
          <p:sp>
            <p:nvSpPr>
              <p:cNvPr id="59" name="Rectangle 59"/>
              <p:cNvSpPr/>
              <p:nvPr/>
            </p:nvSpPr>
            <p:spPr>
              <a:xfrm>
                <a:off x="3810000" y="1123950"/>
                <a:ext cx="3067050" cy="857250"/>
              </a:xfrm>
              <a:prstGeom prst="roundRect">
                <a:avLst>
                  <a:gd name="adj" fmla="val 6667"/>
                </a:avLst>
              </a:prstGeom>
              <a:solidFill>
                <a:srgbClr val="F5F8FE"/>
              </a:solidFill>
              <a:ln w="9525">
                <a:solidFill>
                  <a:srgbClr val="C9D5EA"/>
                </a:solidFill>
              </a:ln>
            </p:spPr>
          </p:sp>
          <p:sp>
            <p:nvSpPr>
              <p:cNvPr id="60" name="Freeform 60"/>
              <p:cNvSpPr/>
              <p:nvPr/>
            </p:nvSpPr>
            <p:spPr>
              <a:xfrm>
                <a:off x="3810000" y="1123950"/>
                <a:ext cx="914400" cy="857250"/>
              </a:xfrm>
              <a:prstGeom prst="homePlate">
                <a:avLst/>
              </a:prstGeom>
              <a:solidFill>
                <a:srgbClr val="520E00"/>
              </a:solidFill>
              <a:ln>
                <a:noFill/>
              </a:ln>
            </p:spPr>
          </p:sp>
          <p:sp>
            <p:nvSpPr>
              <p:cNvPr id="61" name="TextBox 61"/>
              <p:cNvSpPr txBox="1"/>
              <p:nvPr/>
            </p:nvSpPr>
            <p:spPr>
              <a:xfrm>
                <a:off x="3897341" y="1430655"/>
                <a:ext cx="511117" cy="410718"/>
              </a:xfrm>
              <a:prstGeom prst="rect">
                <a:avLst/>
              </a:prstGeom>
              <a:noFill/>
              <a:ln>
                <a:noFill/>
              </a:ln>
            </p:spPr>
            <p:txBody>
              <a:bodyPr wrap="none" lIns="0" tIns="0" rIns="0" bIns="0" anchor="t" anchorCtr="0">
                <a:spAutoFit/>
              </a:bodyPr>
              <a:lstStyle/>
              <a:p>
                <a:pPr algn="ctr"/>
                <a:r>
                  <a:rPr lang="zh-CN" sz="2100" b="1" dirty="0">
                    <a:solidFill>
                      <a:srgbClr val="FFFFFF"/>
                    </a:solidFill>
                    <a:latin typeface="+mn-lt"/>
                    <a:ea typeface="+mn-ea"/>
                    <a:cs typeface="+mn-cs"/>
                  </a:rPr>
                  <a:t>01​</a:t>
                </a:r>
              </a:p>
            </p:txBody>
          </p:sp>
          <p:grpSp>
            <p:nvGrpSpPr>
              <p:cNvPr id="66" name="Group 66"/>
              <p:cNvGrpSpPr/>
              <p:nvPr/>
            </p:nvGrpSpPr>
            <p:grpSpPr>
              <a:xfrm>
                <a:off x="4948237" y="1394812"/>
                <a:ext cx="314324" cy="314925"/>
                <a:chOff x="4948237" y="1394812"/>
                <a:chExt cx="314324" cy="314925"/>
              </a:xfrm>
            </p:grpSpPr>
            <p:sp>
              <p:nvSpPr>
                <p:cNvPr id="62" name="Freeform 62"/>
                <p:cNvSpPr/>
                <p:nvPr/>
              </p:nvSpPr>
              <p:spPr>
                <a:xfrm>
                  <a:off x="4948237" y="1482725"/>
                  <a:ext cx="314324" cy="69850"/>
                </a:xfrm>
                <a:custGeom>
                  <a:avLst/>
                  <a:gdLst/>
                  <a:ahLst/>
                  <a:cxnLst/>
                  <a:rect l="l" t="t" r="r" b="b"/>
                  <a:pathLst>
                    <a:path w="314324" h="69850">
                      <a:moveTo>
                        <a:pt x="0" y="17462"/>
                      </a:moveTo>
                      <a:cubicBezTo>
                        <a:pt x="0" y="7818"/>
                        <a:pt x="7818" y="0"/>
                        <a:pt x="17462" y="0"/>
                      </a:cubicBezTo>
                      <a:lnTo>
                        <a:pt x="296862" y="0"/>
                      </a:lnTo>
                      <a:cubicBezTo>
                        <a:pt x="306506" y="0"/>
                        <a:pt x="314324" y="7818"/>
                        <a:pt x="314324" y="17462"/>
                      </a:cubicBezTo>
                      <a:lnTo>
                        <a:pt x="314324" y="52387"/>
                      </a:lnTo>
                      <a:cubicBezTo>
                        <a:pt x="314324" y="62032"/>
                        <a:pt x="306506" y="69850"/>
                        <a:pt x="296862" y="69850"/>
                      </a:cubicBezTo>
                      <a:lnTo>
                        <a:pt x="17462" y="69850"/>
                      </a:lnTo>
                      <a:cubicBezTo>
                        <a:pt x="7818" y="69850"/>
                        <a:pt x="0" y="62032"/>
                        <a:pt x="0" y="52387"/>
                      </a:cubicBezTo>
                      <a:lnTo>
                        <a:pt x="0" y="17462"/>
                      </a:lnTo>
                    </a:path>
                  </a:pathLst>
                </a:custGeom>
                <a:noFill/>
                <a:ln w="26194">
                  <a:solidFill>
                    <a:srgbClr val="8A1700"/>
                  </a:solidFill>
                </a:ln>
              </p:spPr>
            </p:sp>
            <p:sp>
              <p:nvSpPr>
                <p:cNvPr id="63" name="Freeform 63"/>
                <p:cNvSpPr/>
                <p:nvPr/>
              </p:nvSpPr>
              <p:spPr>
                <a:xfrm>
                  <a:off x="5105400" y="1482725"/>
                  <a:ext cx="9525" cy="227012"/>
                </a:xfrm>
                <a:custGeom>
                  <a:avLst/>
                  <a:gdLst/>
                  <a:ahLst/>
                  <a:cxnLst/>
                  <a:rect l="l" t="t" r="r" b="b"/>
                  <a:pathLst>
                    <a:path w="9525" h="227012">
                      <a:moveTo>
                        <a:pt x="0" y="0"/>
                      </a:moveTo>
                      <a:lnTo>
                        <a:pt x="0" y="227012"/>
                      </a:lnTo>
                    </a:path>
                  </a:pathLst>
                </a:custGeom>
                <a:noFill/>
                <a:ln w="26194">
                  <a:solidFill>
                    <a:srgbClr val="8A1700"/>
                  </a:solidFill>
                </a:ln>
              </p:spPr>
            </p:sp>
            <p:sp>
              <p:nvSpPr>
                <p:cNvPr id="64" name="Freeform 64"/>
                <p:cNvSpPr/>
                <p:nvPr/>
              </p:nvSpPr>
              <p:spPr>
                <a:xfrm>
                  <a:off x="4983162" y="1552575"/>
                  <a:ext cx="244475" cy="157162"/>
                </a:xfrm>
                <a:custGeom>
                  <a:avLst/>
                  <a:gdLst/>
                  <a:ahLst/>
                  <a:cxnLst/>
                  <a:rect l="l" t="t" r="r" b="b"/>
                  <a:pathLst>
                    <a:path w="244475" h="157162">
                      <a:moveTo>
                        <a:pt x="244475" y="0"/>
                      </a:moveTo>
                      <a:lnTo>
                        <a:pt x="244475" y="122237"/>
                      </a:lnTo>
                      <a:cubicBezTo>
                        <a:pt x="244475" y="141526"/>
                        <a:pt x="228838" y="157162"/>
                        <a:pt x="209550" y="157162"/>
                      </a:cubicBezTo>
                      <a:lnTo>
                        <a:pt x="34925" y="157162"/>
                      </a:lnTo>
                      <a:cubicBezTo>
                        <a:pt x="15636" y="157162"/>
                        <a:pt x="0" y="141526"/>
                        <a:pt x="0" y="122237"/>
                      </a:cubicBezTo>
                      <a:lnTo>
                        <a:pt x="0" y="0"/>
                      </a:lnTo>
                    </a:path>
                  </a:pathLst>
                </a:custGeom>
                <a:noFill/>
                <a:ln w="26194">
                  <a:solidFill>
                    <a:srgbClr val="8A1700"/>
                  </a:solidFill>
                </a:ln>
              </p:spPr>
            </p:sp>
            <p:sp>
              <p:nvSpPr>
                <p:cNvPr id="65" name="Freeform 65"/>
                <p:cNvSpPr/>
                <p:nvPr/>
              </p:nvSpPr>
              <p:spPr>
                <a:xfrm>
                  <a:off x="4983162" y="1394812"/>
                  <a:ext cx="244475" cy="87913"/>
                </a:xfrm>
                <a:custGeom>
                  <a:avLst/>
                  <a:gdLst/>
                  <a:ahLst/>
                  <a:cxnLst/>
                  <a:rect l="l" t="t" r="r" b="b"/>
                  <a:pathLst>
                    <a:path w="244475" h="87913">
                      <a:moveTo>
                        <a:pt x="43656" y="87913"/>
                      </a:moveTo>
                      <a:cubicBezTo>
                        <a:pt x="19546" y="87913"/>
                        <a:pt x="0" y="68367"/>
                        <a:pt x="0" y="44257"/>
                      </a:cubicBezTo>
                      <a:cubicBezTo>
                        <a:pt x="0" y="20146"/>
                        <a:pt x="19546" y="601"/>
                        <a:pt x="43656" y="601"/>
                      </a:cubicBezTo>
                      <a:cubicBezTo>
                        <a:pt x="78131" y="0"/>
                        <a:pt x="109310" y="34644"/>
                        <a:pt x="122237" y="87913"/>
                      </a:cubicBezTo>
                      <a:cubicBezTo>
                        <a:pt x="135164" y="34644"/>
                        <a:pt x="166343" y="0"/>
                        <a:pt x="200818" y="601"/>
                      </a:cubicBezTo>
                      <a:cubicBezTo>
                        <a:pt x="224929" y="601"/>
                        <a:pt x="244475" y="20146"/>
                        <a:pt x="244475" y="44257"/>
                      </a:cubicBezTo>
                      <a:cubicBezTo>
                        <a:pt x="244475" y="68367"/>
                        <a:pt x="224929" y="87913"/>
                        <a:pt x="200818" y="87913"/>
                      </a:cubicBezTo>
                    </a:path>
                  </a:pathLst>
                </a:custGeom>
                <a:noFill/>
                <a:ln w="26194">
                  <a:solidFill>
                    <a:srgbClr val="8A1700"/>
                  </a:solidFill>
                </a:ln>
              </p:spPr>
            </p:sp>
          </p:grpSp>
          <p:sp>
            <p:nvSpPr>
              <p:cNvPr id="67" name="TextBox 67"/>
              <p:cNvSpPr txBox="1"/>
              <p:nvPr/>
            </p:nvSpPr>
            <p:spPr>
              <a:xfrm>
                <a:off x="5480304" y="1375410"/>
                <a:ext cx="658368"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优惠吸引</a:t>
                </a:r>
              </a:p>
            </p:txBody>
          </p:sp>
          <p:sp>
            <p:nvSpPr>
              <p:cNvPr id="68" name="TextBox 68"/>
              <p:cNvSpPr txBox="1"/>
              <p:nvPr/>
            </p:nvSpPr>
            <p:spPr>
              <a:xfrm>
                <a:off x="5481638" y="1644491"/>
                <a:ext cx="782244" cy="161925"/>
              </a:xfrm>
              <a:prstGeom prst="rect">
                <a:avLst/>
              </a:prstGeom>
              <a:noFill/>
              <a:ln>
                <a:noFill/>
              </a:ln>
            </p:spPr>
            <p:txBody>
              <a:bodyPr wrap="none" lIns="0" tIns="0" rIns="0" bIns="0" anchor="t" anchorCtr="0">
                <a:spAutoFit/>
              </a:bodyPr>
              <a:lstStyle/>
              <a:p>
                <a:pPr algn="l"/>
                <a:r>
                  <a:rPr lang="zh-CN" sz="820" dirty="0">
                    <a:solidFill>
                      <a:srgbClr val="60403A"/>
                    </a:solidFill>
                    <a:latin typeface="+mn-lt"/>
                    <a:ea typeface="+mn-ea"/>
                    <a:cs typeface="+mn-cs"/>
                  </a:rPr>
                  <a:t>用权益激发参与</a:t>
                </a:r>
              </a:p>
            </p:txBody>
          </p:sp>
        </p:grpSp>
        <p:sp>
          <p:nvSpPr>
            <p:cNvPr id="70" name="Freeform 70"/>
            <p:cNvSpPr/>
            <p:nvPr/>
          </p:nvSpPr>
          <p:spPr>
            <a:xfrm>
              <a:off x="5238750" y="2019300"/>
              <a:ext cx="190500" cy="152400"/>
            </a:xfrm>
            <a:prstGeom prst="downArrow">
              <a:avLst/>
            </a:prstGeom>
            <a:solidFill>
              <a:srgbClr val="C02C0A"/>
            </a:solidFill>
            <a:ln>
              <a:noFill/>
            </a:ln>
          </p:spPr>
        </p:sp>
        <p:grpSp>
          <p:nvGrpSpPr>
            <p:cNvPr id="83" name="step-2"/>
            <p:cNvGrpSpPr/>
            <p:nvPr/>
          </p:nvGrpSpPr>
          <p:grpSpPr>
            <a:xfrm>
              <a:off x="3810000" y="2209800"/>
              <a:ext cx="3067050" cy="857250"/>
              <a:chOff x="3810000" y="2209800"/>
              <a:chExt cx="3067050" cy="857250"/>
            </a:xfrm>
          </p:grpSpPr>
          <p:sp>
            <p:nvSpPr>
              <p:cNvPr id="71" name="Rectangle 71"/>
              <p:cNvSpPr/>
              <p:nvPr/>
            </p:nvSpPr>
            <p:spPr>
              <a:xfrm>
                <a:off x="3810000" y="2209800"/>
                <a:ext cx="3067050" cy="857250"/>
              </a:xfrm>
              <a:prstGeom prst="roundRect">
                <a:avLst>
                  <a:gd name="adj" fmla="val 6667"/>
                </a:avLst>
              </a:prstGeom>
              <a:solidFill>
                <a:srgbClr val="F5F8FE"/>
              </a:solidFill>
              <a:ln w="9525">
                <a:solidFill>
                  <a:srgbClr val="C9D5EA"/>
                </a:solidFill>
              </a:ln>
            </p:spPr>
          </p:sp>
          <p:sp>
            <p:nvSpPr>
              <p:cNvPr id="72" name="Freeform 72"/>
              <p:cNvSpPr/>
              <p:nvPr/>
            </p:nvSpPr>
            <p:spPr>
              <a:xfrm>
                <a:off x="3810000" y="2209800"/>
                <a:ext cx="914400" cy="857250"/>
              </a:xfrm>
              <a:prstGeom prst="homePlate">
                <a:avLst/>
              </a:prstGeom>
              <a:solidFill>
                <a:srgbClr val="520E00"/>
              </a:solidFill>
              <a:ln>
                <a:noFill/>
              </a:ln>
            </p:spPr>
          </p:sp>
          <p:sp>
            <p:nvSpPr>
              <p:cNvPr id="73" name="TextBox 73"/>
              <p:cNvSpPr txBox="1"/>
              <p:nvPr/>
            </p:nvSpPr>
            <p:spPr>
              <a:xfrm>
                <a:off x="3897341" y="2516505"/>
                <a:ext cx="511117" cy="410718"/>
              </a:xfrm>
              <a:prstGeom prst="rect">
                <a:avLst/>
              </a:prstGeom>
              <a:noFill/>
              <a:ln>
                <a:noFill/>
              </a:ln>
            </p:spPr>
            <p:txBody>
              <a:bodyPr wrap="none" lIns="0" tIns="0" rIns="0" bIns="0" anchor="t" anchorCtr="0">
                <a:spAutoFit/>
              </a:bodyPr>
              <a:lstStyle/>
              <a:p>
                <a:pPr algn="ctr"/>
                <a:r>
                  <a:rPr lang="zh-CN" sz="2100" b="1" dirty="0">
                    <a:solidFill>
                      <a:srgbClr val="FFFFFF"/>
                    </a:solidFill>
                    <a:latin typeface="+mn-lt"/>
                    <a:ea typeface="+mn-ea"/>
                    <a:cs typeface="+mn-cs"/>
                  </a:rPr>
                  <a:t>02​</a:t>
                </a:r>
              </a:p>
            </p:txBody>
          </p:sp>
          <p:grpSp>
            <p:nvGrpSpPr>
              <p:cNvPr id="80" name="Group 80"/>
              <p:cNvGrpSpPr/>
              <p:nvPr/>
            </p:nvGrpSpPr>
            <p:grpSpPr>
              <a:xfrm>
                <a:off x="4965700" y="2481262"/>
                <a:ext cx="279399" cy="314324"/>
                <a:chOff x="4965700" y="2481262"/>
                <a:chExt cx="279399" cy="314324"/>
              </a:xfrm>
            </p:grpSpPr>
            <p:sp>
              <p:nvSpPr>
                <p:cNvPr id="74" name="Freeform 74"/>
                <p:cNvSpPr/>
                <p:nvPr/>
              </p:nvSpPr>
              <p:spPr>
                <a:xfrm>
                  <a:off x="4965700" y="2516187"/>
                  <a:ext cx="279399" cy="279399"/>
                </a:xfrm>
                <a:custGeom>
                  <a:avLst/>
                  <a:gdLst/>
                  <a:ahLst/>
                  <a:cxnLst/>
                  <a:rect l="l" t="t" r="r" b="b"/>
                  <a:pathLst>
                    <a:path w="279399" h="279399">
                      <a:moveTo>
                        <a:pt x="0" y="34925"/>
                      </a:moveTo>
                      <a:cubicBezTo>
                        <a:pt x="0" y="15636"/>
                        <a:pt x="15636" y="0"/>
                        <a:pt x="34925" y="0"/>
                      </a:cubicBezTo>
                      <a:lnTo>
                        <a:pt x="244475" y="0"/>
                      </a:lnTo>
                      <a:cubicBezTo>
                        <a:pt x="263763" y="0"/>
                        <a:pt x="279399" y="15636"/>
                        <a:pt x="279399" y="34925"/>
                      </a:cubicBezTo>
                      <a:lnTo>
                        <a:pt x="279399" y="244475"/>
                      </a:lnTo>
                      <a:cubicBezTo>
                        <a:pt x="279399" y="263763"/>
                        <a:pt x="263763" y="279399"/>
                        <a:pt x="244475" y="279399"/>
                      </a:cubicBezTo>
                      <a:lnTo>
                        <a:pt x="34925" y="279399"/>
                      </a:lnTo>
                      <a:cubicBezTo>
                        <a:pt x="15636" y="279399"/>
                        <a:pt x="0" y="263763"/>
                        <a:pt x="0" y="244475"/>
                      </a:cubicBezTo>
                      <a:lnTo>
                        <a:pt x="0" y="34925"/>
                      </a:lnTo>
                    </a:path>
                  </a:pathLst>
                </a:custGeom>
                <a:noFill/>
                <a:ln w="26194">
                  <a:solidFill>
                    <a:srgbClr val="8A1700"/>
                  </a:solidFill>
                </a:ln>
              </p:spPr>
            </p:sp>
            <p:sp>
              <p:nvSpPr>
                <p:cNvPr id="75" name="Freeform 75"/>
                <p:cNvSpPr/>
                <p:nvPr/>
              </p:nvSpPr>
              <p:spPr>
                <a:xfrm>
                  <a:off x="5175249" y="2481262"/>
                  <a:ext cx="9525" cy="69850"/>
                </a:xfrm>
                <a:custGeom>
                  <a:avLst/>
                  <a:gdLst/>
                  <a:ahLst/>
                  <a:cxnLst/>
                  <a:rect l="l" t="t" r="r" b="b"/>
                  <a:pathLst>
                    <a:path w="9525" h="69850">
                      <a:moveTo>
                        <a:pt x="0" y="0"/>
                      </a:moveTo>
                      <a:lnTo>
                        <a:pt x="0" y="69850"/>
                      </a:lnTo>
                    </a:path>
                  </a:pathLst>
                </a:custGeom>
                <a:noFill/>
                <a:ln w="26194">
                  <a:solidFill>
                    <a:srgbClr val="8A1700"/>
                  </a:solidFill>
                </a:ln>
              </p:spPr>
            </p:sp>
            <p:sp>
              <p:nvSpPr>
                <p:cNvPr id="76" name="Freeform 76"/>
                <p:cNvSpPr/>
                <p:nvPr/>
              </p:nvSpPr>
              <p:spPr>
                <a:xfrm>
                  <a:off x="5035550" y="2481262"/>
                  <a:ext cx="9525" cy="69850"/>
                </a:xfrm>
                <a:custGeom>
                  <a:avLst/>
                  <a:gdLst/>
                  <a:ahLst/>
                  <a:cxnLst/>
                  <a:rect l="l" t="t" r="r" b="b"/>
                  <a:pathLst>
                    <a:path w="9525" h="69850">
                      <a:moveTo>
                        <a:pt x="0" y="0"/>
                      </a:moveTo>
                      <a:lnTo>
                        <a:pt x="0" y="69850"/>
                      </a:lnTo>
                    </a:path>
                  </a:pathLst>
                </a:custGeom>
                <a:noFill/>
                <a:ln w="26194">
                  <a:solidFill>
                    <a:srgbClr val="8A1700"/>
                  </a:solidFill>
                </a:ln>
              </p:spPr>
            </p:sp>
            <p:sp>
              <p:nvSpPr>
                <p:cNvPr id="77" name="Freeform 77"/>
                <p:cNvSpPr/>
                <p:nvPr/>
              </p:nvSpPr>
              <p:spPr>
                <a:xfrm>
                  <a:off x="4965700" y="2620962"/>
                  <a:ext cx="279399" cy="9525"/>
                </a:xfrm>
                <a:custGeom>
                  <a:avLst/>
                  <a:gdLst/>
                  <a:ahLst/>
                  <a:cxnLst/>
                  <a:rect l="l" t="t" r="r" b="b"/>
                  <a:pathLst>
                    <a:path w="279399" h="9525">
                      <a:moveTo>
                        <a:pt x="0" y="0"/>
                      </a:moveTo>
                      <a:lnTo>
                        <a:pt x="279399" y="0"/>
                      </a:lnTo>
                    </a:path>
                  </a:pathLst>
                </a:custGeom>
                <a:noFill/>
                <a:ln w="26194">
                  <a:solidFill>
                    <a:srgbClr val="8A1700"/>
                  </a:solidFill>
                </a:ln>
              </p:spPr>
            </p:sp>
            <p:sp>
              <p:nvSpPr>
                <p:cNvPr id="78" name="Freeform 78"/>
                <p:cNvSpPr/>
                <p:nvPr/>
              </p:nvSpPr>
              <p:spPr>
                <a:xfrm>
                  <a:off x="5087937" y="2690812"/>
                  <a:ext cx="17462" cy="9525"/>
                </a:xfrm>
                <a:custGeom>
                  <a:avLst/>
                  <a:gdLst/>
                  <a:ahLst/>
                  <a:cxnLst/>
                  <a:rect l="l" t="t" r="r" b="b"/>
                  <a:pathLst>
                    <a:path w="17462" h="9525">
                      <a:moveTo>
                        <a:pt x="0" y="0"/>
                      </a:moveTo>
                      <a:lnTo>
                        <a:pt x="17462" y="0"/>
                      </a:lnTo>
                    </a:path>
                  </a:pathLst>
                </a:custGeom>
                <a:noFill/>
                <a:ln w="26194">
                  <a:solidFill>
                    <a:srgbClr val="8A1700"/>
                  </a:solidFill>
                </a:ln>
              </p:spPr>
            </p:sp>
            <p:sp>
              <p:nvSpPr>
                <p:cNvPr id="79" name="Freeform 79"/>
                <p:cNvSpPr/>
                <p:nvPr/>
              </p:nvSpPr>
              <p:spPr>
                <a:xfrm>
                  <a:off x="5105400" y="2690812"/>
                  <a:ext cx="9525" cy="52387"/>
                </a:xfrm>
                <a:custGeom>
                  <a:avLst/>
                  <a:gdLst/>
                  <a:ahLst/>
                  <a:cxnLst/>
                  <a:rect l="l" t="t" r="r" b="b"/>
                  <a:pathLst>
                    <a:path w="9525" h="52387">
                      <a:moveTo>
                        <a:pt x="0" y="0"/>
                      </a:moveTo>
                      <a:lnTo>
                        <a:pt x="0" y="52387"/>
                      </a:lnTo>
                    </a:path>
                  </a:pathLst>
                </a:custGeom>
                <a:noFill/>
                <a:ln w="26194">
                  <a:solidFill>
                    <a:srgbClr val="8A1700"/>
                  </a:solidFill>
                </a:ln>
              </p:spPr>
            </p:sp>
          </p:grpSp>
          <p:sp>
            <p:nvSpPr>
              <p:cNvPr id="81" name="TextBox 81"/>
              <p:cNvSpPr txBox="1"/>
              <p:nvPr/>
            </p:nvSpPr>
            <p:spPr>
              <a:xfrm>
                <a:off x="5480304" y="2461260"/>
                <a:ext cx="658368"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习惯培养</a:t>
                </a:r>
              </a:p>
            </p:txBody>
          </p:sp>
          <p:sp>
            <p:nvSpPr>
              <p:cNvPr id="82" name="TextBox 82"/>
              <p:cNvSpPr txBox="1"/>
              <p:nvPr/>
            </p:nvSpPr>
            <p:spPr>
              <a:xfrm>
                <a:off x="5481638" y="2730341"/>
                <a:ext cx="782244" cy="161925"/>
              </a:xfrm>
              <a:prstGeom prst="rect">
                <a:avLst/>
              </a:prstGeom>
              <a:noFill/>
              <a:ln>
                <a:noFill/>
              </a:ln>
            </p:spPr>
            <p:txBody>
              <a:bodyPr wrap="none" lIns="0" tIns="0" rIns="0" bIns="0" anchor="t" anchorCtr="0">
                <a:spAutoFit/>
              </a:bodyPr>
              <a:lstStyle/>
              <a:p>
                <a:pPr algn="l"/>
                <a:r>
                  <a:rPr lang="zh-CN" sz="820" dirty="0">
                    <a:solidFill>
                      <a:srgbClr val="60403A"/>
                    </a:solidFill>
                    <a:latin typeface="+mn-lt"/>
                    <a:ea typeface="+mn-ea"/>
                    <a:cs typeface="+mn-cs"/>
                  </a:rPr>
                  <a:t>用频次形成习惯</a:t>
                </a:r>
              </a:p>
            </p:txBody>
          </p:sp>
        </p:grpSp>
        <p:sp>
          <p:nvSpPr>
            <p:cNvPr id="84" name="Freeform 84"/>
            <p:cNvSpPr/>
            <p:nvPr/>
          </p:nvSpPr>
          <p:spPr>
            <a:xfrm>
              <a:off x="5238750" y="3105150"/>
              <a:ext cx="190500" cy="152400"/>
            </a:xfrm>
            <a:prstGeom prst="downArrow">
              <a:avLst/>
            </a:prstGeom>
            <a:solidFill>
              <a:srgbClr val="C02C0A"/>
            </a:solidFill>
            <a:ln>
              <a:noFill/>
            </a:ln>
          </p:spPr>
        </p:sp>
        <p:grpSp>
          <p:nvGrpSpPr>
            <p:cNvPr id="93" name="step-3"/>
            <p:cNvGrpSpPr/>
            <p:nvPr/>
          </p:nvGrpSpPr>
          <p:grpSpPr>
            <a:xfrm>
              <a:off x="3810000" y="3295650"/>
              <a:ext cx="3067050" cy="857250"/>
              <a:chOff x="3810000" y="3295650"/>
              <a:chExt cx="3067050" cy="857250"/>
            </a:xfrm>
          </p:grpSpPr>
          <p:sp>
            <p:nvSpPr>
              <p:cNvPr id="85" name="Rectangle 85"/>
              <p:cNvSpPr/>
              <p:nvPr/>
            </p:nvSpPr>
            <p:spPr>
              <a:xfrm>
                <a:off x="3810000" y="3295650"/>
                <a:ext cx="3067050" cy="857250"/>
              </a:xfrm>
              <a:prstGeom prst="roundRect">
                <a:avLst>
                  <a:gd name="adj" fmla="val 6667"/>
                </a:avLst>
              </a:prstGeom>
              <a:solidFill>
                <a:srgbClr val="F5F8FE"/>
              </a:solidFill>
              <a:ln w="9525">
                <a:solidFill>
                  <a:srgbClr val="C9D5EA"/>
                </a:solidFill>
              </a:ln>
            </p:spPr>
          </p:sp>
          <p:sp>
            <p:nvSpPr>
              <p:cNvPr id="86" name="Freeform 86"/>
              <p:cNvSpPr/>
              <p:nvPr/>
            </p:nvSpPr>
            <p:spPr>
              <a:xfrm>
                <a:off x="3810000" y="3295650"/>
                <a:ext cx="914400" cy="857250"/>
              </a:xfrm>
              <a:prstGeom prst="homePlate">
                <a:avLst/>
              </a:prstGeom>
              <a:solidFill>
                <a:srgbClr val="520E00"/>
              </a:solidFill>
              <a:ln>
                <a:noFill/>
              </a:ln>
            </p:spPr>
          </p:sp>
          <p:sp>
            <p:nvSpPr>
              <p:cNvPr id="87" name="TextBox 87"/>
              <p:cNvSpPr txBox="1"/>
              <p:nvPr/>
            </p:nvSpPr>
            <p:spPr>
              <a:xfrm>
                <a:off x="3897341" y="3602355"/>
                <a:ext cx="511117" cy="410718"/>
              </a:xfrm>
              <a:prstGeom prst="rect">
                <a:avLst/>
              </a:prstGeom>
              <a:noFill/>
              <a:ln>
                <a:noFill/>
              </a:ln>
            </p:spPr>
            <p:txBody>
              <a:bodyPr wrap="none" lIns="0" tIns="0" rIns="0" bIns="0" anchor="t" anchorCtr="0">
                <a:spAutoFit/>
              </a:bodyPr>
              <a:lstStyle/>
              <a:p>
                <a:pPr algn="ctr"/>
                <a:r>
                  <a:rPr lang="zh-CN" sz="2100" b="1" dirty="0">
                    <a:solidFill>
                      <a:srgbClr val="FFFFFF"/>
                    </a:solidFill>
                    <a:latin typeface="+mn-lt"/>
                    <a:ea typeface="+mn-ea"/>
                    <a:cs typeface="+mn-cs"/>
                  </a:rPr>
                  <a:t>03​</a:t>
                </a:r>
              </a:p>
            </p:txBody>
          </p:sp>
          <p:grpSp>
            <p:nvGrpSpPr>
              <p:cNvPr id="90" name="Group 90"/>
              <p:cNvGrpSpPr/>
              <p:nvPr/>
            </p:nvGrpSpPr>
            <p:grpSpPr>
              <a:xfrm>
                <a:off x="4948237" y="3636962"/>
                <a:ext cx="314325" cy="174625"/>
                <a:chOff x="4948237" y="3636962"/>
                <a:chExt cx="314325" cy="174625"/>
              </a:xfrm>
            </p:grpSpPr>
            <p:sp>
              <p:nvSpPr>
                <p:cNvPr id="88" name="Freeform 88"/>
                <p:cNvSpPr/>
                <p:nvPr/>
              </p:nvSpPr>
              <p:spPr>
                <a:xfrm>
                  <a:off x="4948237" y="3636962"/>
                  <a:ext cx="314324" cy="174625"/>
                </a:xfrm>
                <a:custGeom>
                  <a:avLst/>
                  <a:gdLst/>
                  <a:ahLst/>
                  <a:cxnLst/>
                  <a:rect l="l" t="t" r="r" b="b"/>
                  <a:pathLst>
                    <a:path w="314324" h="174625">
                      <a:moveTo>
                        <a:pt x="0" y="174625"/>
                      </a:moveTo>
                      <a:lnTo>
                        <a:pt x="104775" y="69850"/>
                      </a:lnTo>
                      <a:lnTo>
                        <a:pt x="174625" y="139700"/>
                      </a:lnTo>
                      <a:lnTo>
                        <a:pt x="314324" y="0"/>
                      </a:lnTo>
                    </a:path>
                  </a:pathLst>
                </a:custGeom>
                <a:noFill/>
                <a:ln w="26194">
                  <a:solidFill>
                    <a:srgbClr val="8A1700"/>
                  </a:solidFill>
                </a:ln>
              </p:spPr>
            </p:sp>
            <p:sp>
              <p:nvSpPr>
                <p:cNvPr id="89" name="Freeform 89"/>
                <p:cNvSpPr/>
                <p:nvPr/>
              </p:nvSpPr>
              <p:spPr>
                <a:xfrm>
                  <a:off x="5140325" y="3636962"/>
                  <a:ext cx="122237" cy="122237"/>
                </a:xfrm>
                <a:custGeom>
                  <a:avLst/>
                  <a:gdLst/>
                  <a:ahLst/>
                  <a:cxnLst/>
                  <a:rect l="l" t="t" r="r" b="b"/>
                  <a:pathLst>
                    <a:path w="122237" h="122237">
                      <a:moveTo>
                        <a:pt x="0" y="0"/>
                      </a:moveTo>
                      <a:lnTo>
                        <a:pt x="122237" y="0"/>
                      </a:lnTo>
                      <a:lnTo>
                        <a:pt x="122237" y="122237"/>
                      </a:lnTo>
                    </a:path>
                  </a:pathLst>
                </a:custGeom>
                <a:noFill/>
                <a:ln w="26194">
                  <a:solidFill>
                    <a:srgbClr val="8A1700"/>
                  </a:solidFill>
                </a:ln>
              </p:spPr>
            </p:sp>
          </p:grpSp>
          <p:sp>
            <p:nvSpPr>
              <p:cNvPr id="91" name="TextBox 91"/>
              <p:cNvSpPr txBox="1"/>
              <p:nvPr/>
            </p:nvSpPr>
            <p:spPr>
              <a:xfrm>
                <a:off x="5480304" y="3547110"/>
                <a:ext cx="658368"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价值提升</a:t>
                </a:r>
              </a:p>
            </p:txBody>
          </p:sp>
          <p:sp>
            <p:nvSpPr>
              <p:cNvPr id="92" name="TextBox 92"/>
              <p:cNvSpPr txBox="1"/>
              <p:nvPr/>
            </p:nvSpPr>
            <p:spPr>
              <a:xfrm>
                <a:off x="5481638" y="3816191"/>
                <a:ext cx="782244" cy="161925"/>
              </a:xfrm>
              <a:prstGeom prst="rect">
                <a:avLst/>
              </a:prstGeom>
              <a:noFill/>
              <a:ln>
                <a:noFill/>
              </a:ln>
            </p:spPr>
            <p:txBody>
              <a:bodyPr wrap="none" lIns="0" tIns="0" rIns="0" bIns="0" anchor="t" anchorCtr="0">
                <a:spAutoFit/>
              </a:bodyPr>
              <a:lstStyle/>
              <a:p>
                <a:pPr algn="l"/>
                <a:r>
                  <a:rPr lang="zh-CN" sz="820" dirty="0">
                    <a:solidFill>
                      <a:srgbClr val="60403A"/>
                    </a:solidFill>
                    <a:latin typeface="+mn-lt"/>
                    <a:ea typeface="+mn-ea"/>
                    <a:cs typeface="+mn-cs"/>
                  </a:rPr>
                  <a:t>用价值增强粘性</a:t>
                </a:r>
              </a:p>
            </p:txBody>
          </p:sp>
        </p:grpSp>
      </p:grpSp>
      <p:grpSp>
        <p:nvGrpSpPr>
          <p:cNvPr id="349" name="marketing-calendar"/>
          <p:cNvGrpSpPr/>
          <p:nvPr/>
        </p:nvGrpSpPr>
        <p:grpSpPr>
          <a:xfrm>
            <a:off x="7010400" y="877252"/>
            <a:ext cx="4953000" cy="3313748"/>
            <a:chOff x="7010400" y="877252"/>
            <a:chExt cx="4953000" cy="3313748"/>
          </a:xfrm>
        </p:grpSpPr>
        <p:sp>
          <p:nvSpPr>
            <p:cNvPr id="95" name="TextBox 95"/>
            <p:cNvSpPr txBox="1"/>
            <p:nvPr/>
          </p:nvSpPr>
          <p:spPr>
            <a:xfrm>
              <a:off x="8261033" y="877252"/>
              <a:ext cx="2413635"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周周有权益、月月有主题、季度有大促</a:t>
              </a:r>
            </a:p>
          </p:txBody>
        </p:sp>
        <p:sp>
          <p:nvSpPr>
            <p:cNvPr id="96" name="Rectangle 96"/>
            <p:cNvSpPr/>
            <p:nvPr/>
          </p:nvSpPr>
          <p:spPr>
            <a:xfrm>
              <a:off x="7010400" y="1123950"/>
              <a:ext cx="4953000" cy="3067050"/>
            </a:xfrm>
            <a:prstGeom prst="roundRect">
              <a:avLst>
                <a:gd name="adj" fmla="val 1863"/>
              </a:avLst>
            </a:prstGeom>
            <a:solidFill>
              <a:srgbClr val="FFFFFF"/>
            </a:solidFill>
            <a:ln w="9525">
              <a:solidFill>
                <a:srgbClr val="C9D5EA"/>
              </a:solidFill>
            </a:ln>
          </p:spPr>
        </p:sp>
        <p:sp>
          <p:nvSpPr>
            <p:cNvPr id="97" name="Rectangle 97"/>
            <p:cNvSpPr/>
            <p:nvPr/>
          </p:nvSpPr>
          <p:spPr>
            <a:xfrm>
              <a:off x="7010400" y="1123950"/>
              <a:ext cx="4953000" cy="228600"/>
            </a:xfrm>
            <a:prstGeom prst="roundRect">
              <a:avLst>
                <a:gd name="adj" fmla="val 25000"/>
              </a:avLst>
            </a:prstGeom>
            <a:solidFill>
              <a:srgbClr val="520E00"/>
            </a:solidFill>
            <a:ln>
              <a:noFill/>
            </a:ln>
          </p:spPr>
        </p:sp>
        <p:sp>
          <p:nvSpPr>
            <p:cNvPr id="98" name="Rectangle 98"/>
            <p:cNvSpPr/>
            <p:nvPr/>
          </p:nvSpPr>
          <p:spPr>
            <a:xfrm>
              <a:off x="7010400" y="1257300"/>
              <a:ext cx="4953000" cy="95250"/>
            </a:xfrm>
            <a:prstGeom prst="rect">
              <a:avLst/>
            </a:prstGeom>
            <a:solidFill>
              <a:srgbClr val="520E00"/>
            </a:solidFill>
            <a:ln>
              <a:noFill/>
            </a:ln>
          </p:spPr>
        </p:sp>
        <p:sp>
          <p:nvSpPr>
            <p:cNvPr id="99" name="TextBox 99"/>
            <p:cNvSpPr txBox="1"/>
            <p:nvPr/>
          </p:nvSpPr>
          <p:spPr>
            <a:xfrm>
              <a:off x="7665279" y="1207532"/>
              <a:ext cx="19519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1月​</a:t>
              </a:r>
            </a:p>
          </p:txBody>
        </p:sp>
        <p:sp>
          <p:nvSpPr>
            <p:cNvPr id="100" name="TextBox 100"/>
            <p:cNvSpPr txBox="1"/>
            <p:nvPr/>
          </p:nvSpPr>
          <p:spPr>
            <a:xfrm>
              <a:off x="8027229" y="1207532"/>
              <a:ext cx="19519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2月​</a:t>
              </a:r>
            </a:p>
          </p:txBody>
        </p:sp>
        <p:sp>
          <p:nvSpPr>
            <p:cNvPr id="101" name="TextBox 101"/>
            <p:cNvSpPr txBox="1"/>
            <p:nvPr/>
          </p:nvSpPr>
          <p:spPr>
            <a:xfrm>
              <a:off x="8398704" y="1207532"/>
              <a:ext cx="19519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3月​</a:t>
              </a:r>
            </a:p>
          </p:txBody>
        </p:sp>
        <p:sp>
          <p:nvSpPr>
            <p:cNvPr id="102" name="TextBox 102"/>
            <p:cNvSpPr txBox="1"/>
            <p:nvPr/>
          </p:nvSpPr>
          <p:spPr>
            <a:xfrm>
              <a:off x="8760654" y="1207532"/>
              <a:ext cx="19519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4月​</a:t>
              </a:r>
            </a:p>
          </p:txBody>
        </p:sp>
        <p:sp>
          <p:nvSpPr>
            <p:cNvPr id="103" name="TextBox 103"/>
            <p:cNvSpPr txBox="1"/>
            <p:nvPr/>
          </p:nvSpPr>
          <p:spPr>
            <a:xfrm>
              <a:off x="9122604" y="1207532"/>
              <a:ext cx="19519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5月​</a:t>
              </a:r>
            </a:p>
          </p:txBody>
        </p:sp>
        <p:sp>
          <p:nvSpPr>
            <p:cNvPr id="104" name="TextBox 104"/>
            <p:cNvSpPr txBox="1"/>
            <p:nvPr/>
          </p:nvSpPr>
          <p:spPr>
            <a:xfrm>
              <a:off x="9494079" y="1207532"/>
              <a:ext cx="19519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6月​</a:t>
              </a:r>
            </a:p>
          </p:txBody>
        </p:sp>
        <p:sp>
          <p:nvSpPr>
            <p:cNvPr id="105" name="TextBox 105"/>
            <p:cNvSpPr txBox="1"/>
            <p:nvPr/>
          </p:nvSpPr>
          <p:spPr>
            <a:xfrm>
              <a:off x="9856029" y="1207532"/>
              <a:ext cx="19519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7月​</a:t>
              </a:r>
            </a:p>
          </p:txBody>
        </p:sp>
        <p:sp>
          <p:nvSpPr>
            <p:cNvPr id="106" name="TextBox 106"/>
            <p:cNvSpPr txBox="1"/>
            <p:nvPr/>
          </p:nvSpPr>
          <p:spPr>
            <a:xfrm>
              <a:off x="10217979" y="1207532"/>
              <a:ext cx="19519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8月​</a:t>
              </a:r>
            </a:p>
          </p:txBody>
        </p:sp>
        <p:sp>
          <p:nvSpPr>
            <p:cNvPr id="107" name="TextBox 107"/>
            <p:cNvSpPr txBox="1"/>
            <p:nvPr/>
          </p:nvSpPr>
          <p:spPr>
            <a:xfrm>
              <a:off x="10589454" y="1207532"/>
              <a:ext cx="195193"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9月​</a:t>
              </a:r>
            </a:p>
          </p:txBody>
        </p:sp>
        <p:sp>
          <p:nvSpPr>
            <p:cNvPr id="108" name="TextBox 108"/>
            <p:cNvSpPr txBox="1"/>
            <p:nvPr/>
          </p:nvSpPr>
          <p:spPr>
            <a:xfrm>
              <a:off x="10926526" y="1207532"/>
              <a:ext cx="24494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10月​</a:t>
              </a:r>
            </a:p>
          </p:txBody>
        </p:sp>
        <p:sp>
          <p:nvSpPr>
            <p:cNvPr id="109" name="TextBox 109"/>
            <p:cNvSpPr txBox="1"/>
            <p:nvPr/>
          </p:nvSpPr>
          <p:spPr>
            <a:xfrm>
              <a:off x="11288476" y="1207532"/>
              <a:ext cx="24494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11月​</a:t>
              </a:r>
            </a:p>
          </p:txBody>
        </p:sp>
        <p:sp>
          <p:nvSpPr>
            <p:cNvPr id="110" name="TextBox 110"/>
            <p:cNvSpPr txBox="1"/>
            <p:nvPr/>
          </p:nvSpPr>
          <p:spPr>
            <a:xfrm>
              <a:off x="11659951" y="1207532"/>
              <a:ext cx="24494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12月​</a:t>
              </a:r>
            </a:p>
          </p:txBody>
        </p:sp>
        <p:sp>
          <p:nvSpPr>
            <p:cNvPr id="111" name="Line 111"/>
            <p:cNvSpPr/>
            <p:nvPr/>
          </p:nvSpPr>
          <p:spPr>
            <a:xfrm>
              <a:off x="7581900" y="1352550"/>
              <a:ext cx="9525" cy="2838450"/>
            </a:xfrm>
            <a:custGeom>
              <a:avLst/>
              <a:gdLst/>
              <a:ahLst/>
              <a:cxnLst/>
              <a:rect l="l" t="t" r="r" b="b"/>
              <a:pathLst>
                <a:path w="9525" h="2838450">
                  <a:moveTo>
                    <a:pt x="0" y="0"/>
                  </a:moveTo>
                  <a:lnTo>
                    <a:pt x="0" y="2838450"/>
                  </a:lnTo>
                </a:path>
              </a:pathLst>
            </a:custGeom>
            <a:noFill/>
            <a:ln w="9525">
              <a:solidFill>
                <a:srgbClr val="DCE6F5"/>
              </a:solidFill>
            </a:ln>
          </p:spPr>
        </p:sp>
        <p:sp>
          <p:nvSpPr>
            <p:cNvPr id="112" name="Line 112"/>
            <p:cNvSpPr/>
            <p:nvPr/>
          </p:nvSpPr>
          <p:spPr>
            <a:xfrm>
              <a:off x="7010400" y="2305050"/>
              <a:ext cx="4953000" cy="9525"/>
            </a:xfrm>
            <a:custGeom>
              <a:avLst/>
              <a:gdLst/>
              <a:ahLst/>
              <a:cxnLst/>
              <a:rect l="l" t="t" r="r" b="b"/>
              <a:pathLst>
                <a:path w="4953000" h="9525">
                  <a:moveTo>
                    <a:pt x="0" y="0"/>
                  </a:moveTo>
                  <a:lnTo>
                    <a:pt x="4953000" y="0"/>
                  </a:lnTo>
                </a:path>
              </a:pathLst>
            </a:custGeom>
            <a:noFill/>
            <a:ln w="9525">
              <a:solidFill>
                <a:srgbClr val="E4EAF4"/>
              </a:solidFill>
            </a:ln>
          </p:spPr>
        </p:sp>
        <p:sp>
          <p:nvSpPr>
            <p:cNvPr id="113" name="Line 113"/>
            <p:cNvSpPr/>
            <p:nvPr/>
          </p:nvSpPr>
          <p:spPr>
            <a:xfrm>
              <a:off x="7010400" y="3257550"/>
              <a:ext cx="4953000" cy="9525"/>
            </a:xfrm>
            <a:custGeom>
              <a:avLst/>
              <a:gdLst/>
              <a:ahLst/>
              <a:cxnLst/>
              <a:rect l="l" t="t" r="r" b="b"/>
              <a:pathLst>
                <a:path w="4953000" h="9525">
                  <a:moveTo>
                    <a:pt x="0" y="0"/>
                  </a:moveTo>
                  <a:lnTo>
                    <a:pt x="4953000" y="0"/>
                  </a:lnTo>
                </a:path>
              </a:pathLst>
            </a:custGeom>
            <a:noFill/>
            <a:ln w="9525">
              <a:solidFill>
                <a:srgbClr val="E4EAF4"/>
              </a:solidFill>
            </a:ln>
          </p:spPr>
        </p:sp>
        <p:grpSp>
          <p:nvGrpSpPr>
            <p:cNvPr id="266" name="cal-weekly"/>
            <p:cNvGrpSpPr/>
            <p:nvPr/>
          </p:nvGrpSpPr>
          <p:grpSpPr>
            <a:xfrm>
              <a:off x="7085520" y="1443038"/>
              <a:ext cx="4739767" cy="714375"/>
              <a:chOff x="7085520" y="1443038"/>
              <a:chExt cx="4739767" cy="714375"/>
            </a:xfrm>
          </p:grpSpPr>
          <p:grpSp>
            <p:nvGrpSpPr>
              <p:cNvPr id="120" name="Group 120"/>
              <p:cNvGrpSpPr/>
              <p:nvPr/>
            </p:nvGrpSpPr>
            <p:grpSpPr>
              <a:xfrm>
                <a:off x="7235825" y="1550194"/>
                <a:ext cx="139700" cy="157162"/>
                <a:chOff x="7235825" y="1550194"/>
                <a:chExt cx="139700" cy="157162"/>
              </a:xfrm>
            </p:grpSpPr>
            <p:sp>
              <p:nvSpPr>
                <p:cNvPr id="114" name="Freeform 114"/>
                <p:cNvSpPr/>
                <p:nvPr/>
              </p:nvSpPr>
              <p:spPr>
                <a:xfrm>
                  <a:off x="7235825" y="1567656"/>
                  <a:ext cx="139700" cy="139700"/>
                </a:xfrm>
                <a:custGeom>
                  <a:avLst/>
                  <a:gdLst/>
                  <a:ahLst/>
                  <a:cxnLst/>
                  <a:rect l="l" t="t" r="r" b="b"/>
                  <a:pathLst>
                    <a:path w="139700" h="139700">
                      <a:moveTo>
                        <a:pt x="0" y="17463"/>
                      </a:moveTo>
                      <a:cubicBezTo>
                        <a:pt x="0" y="7818"/>
                        <a:pt x="7818" y="0"/>
                        <a:pt x="17463" y="0"/>
                      </a:cubicBezTo>
                      <a:lnTo>
                        <a:pt x="122238" y="0"/>
                      </a:lnTo>
                      <a:cubicBezTo>
                        <a:pt x="131882" y="0"/>
                        <a:pt x="139700" y="7818"/>
                        <a:pt x="139700" y="17463"/>
                      </a:cubicBezTo>
                      <a:lnTo>
                        <a:pt x="139700" y="122238"/>
                      </a:lnTo>
                      <a:cubicBezTo>
                        <a:pt x="139700" y="131882"/>
                        <a:pt x="131882" y="139700"/>
                        <a:pt x="122238" y="139700"/>
                      </a:cubicBezTo>
                      <a:lnTo>
                        <a:pt x="17463" y="139700"/>
                      </a:lnTo>
                      <a:cubicBezTo>
                        <a:pt x="7818" y="139700"/>
                        <a:pt x="0" y="131882"/>
                        <a:pt x="0" y="122238"/>
                      </a:cubicBezTo>
                      <a:lnTo>
                        <a:pt x="0" y="17463"/>
                      </a:lnTo>
                    </a:path>
                  </a:pathLst>
                </a:custGeom>
                <a:noFill/>
                <a:ln w="13097">
                  <a:solidFill>
                    <a:srgbClr val="8A1700"/>
                  </a:solidFill>
                </a:ln>
              </p:spPr>
            </p:sp>
            <p:sp>
              <p:nvSpPr>
                <p:cNvPr id="115" name="Freeform 115"/>
                <p:cNvSpPr/>
                <p:nvPr/>
              </p:nvSpPr>
              <p:spPr>
                <a:xfrm>
                  <a:off x="7340600" y="1550194"/>
                  <a:ext cx="9525" cy="34925"/>
                </a:xfrm>
                <a:custGeom>
                  <a:avLst/>
                  <a:gdLst/>
                  <a:ahLst/>
                  <a:cxnLst/>
                  <a:rect l="l" t="t" r="r" b="b"/>
                  <a:pathLst>
                    <a:path w="9525" h="34925">
                      <a:moveTo>
                        <a:pt x="0" y="0"/>
                      </a:moveTo>
                      <a:lnTo>
                        <a:pt x="0" y="34925"/>
                      </a:lnTo>
                    </a:path>
                  </a:pathLst>
                </a:custGeom>
                <a:noFill/>
                <a:ln w="13097">
                  <a:solidFill>
                    <a:srgbClr val="8A1700"/>
                  </a:solidFill>
                </a:ln>
              </p:spPr>
            </p:sp>
            <p:sp>
              <p:nvSpPr>
                <p:cNvPr id="116" name="Freeform 116"/>
                <p:cNvSpPr/>
                <p:nvPr/>
              </p:nvSpPr>
              <p:spPr>
                <a:xfrm>
                  <a:off x="7270750" y="1550194"/>
                  <a:ext cx="9525" cy="34925"/>
                </a:xfrm>
                <a:custGeom>
                  <a:avLst/>
                  <a:gdLst/>
                  <a:ahLst/>
                  <a:cxnLst/>
                  <a:rect l="l" t="t" r="r" b="b"/>
                  <a:pathLst>
                    <a:path w="9525" h="34925">
                      <a:moveTo>
                        <a:pt x="0" y="0"/>
                      </a:moveTo>
                      <a:lnTo>
                        <a:pt x="0" y="34925"/>
                      </a:lnTo>
                    </a:path>
                  </a:pathLst>
                </a:custGeom>
                <a:noFill/>
                <a:ln w="13097">
                  <a:solidFill>
                    <a:srgbClr val="8A1700"/>
                  </a:solidFill>
                </a:ln>
              </p:spPr>
            </p:sp>
            <p:sp>
              <p:nvSpPr>
                <p:cNvPr id="117" name="Freeform 117"/>
                <p:cNvSpPr/>
                <p:nvPr/>
              </p:nvSpPr>
              <p:spPr>
                <a:xfrm>
                  <a:off x="7235825" y="1620044"/>
                  <a:ext cx="139700" cy="9525"/>
                </a:xfrm>
                <a:custGeom>
                  <a:avLst/>
                  <a:gdLst/>
                  <a:ahLst/>
                  <a:cxnLst/>
                  <a:rect l="l" t="t" r="r" b="b"/>
                  <a:pathLst>
                    <a:path w="139700" h="9525">
                      <a:moveTo>
                        <a:pt x="0" y="0"/>
                      </a:moveTo>
                      <a:lnTo>
                        <a:pt x="139700" y="0"/>
                      </a:lnTo>
                    </a:path>
                  </a:pathLst>
                </a:custGeom>
                <a:noFill/>
                <a:ln w="13097">
                  <a:solidFill>
                    <a:srgbClr val="8A1700"/>
                  </a:solidFill>
                </a:ln>
              </p:spPr>
            </p:sp>
            <p:sp>
              <p:nvSpPr>
                <p:cNvPr id="118" name="Freeform 118"/>
                <p:cNvSpPr/>
                <p:nvPr/>
              </p:nvSpPr>
              <p:spPr>
                <a:xfrm>
                  <a:off x="7296944" y="1654969"/>
                  <a:ext cx="9525" cy="9525"/>
                </a:xfrm>
                <a:custGeom>
                  <a:avLst/>
                  <a:gdLst/>
                  <a:ahLst/>
                  <a:cxnLst/>
                  <a:rect l="l" t="t" r="r" b="b"/>
                  <a:pathLst>
                    <a:path w="9525" h="9525">
                      <a:moveTo>
                        <a:pt x="0" y="0"/>
                      </a:moveTo>
                      <a:lnTo>
                        <a:pt x="8731" y="0"/>
                      </a:lnTo>
                    </a:path>
                  </a:pathLst>
                </a:custGeom>
                <a:noFill/>
                <a:ln w="13097">
                  <a:solidFill>
                    <a:srgbClr val="8A1700"/>
                  </a:solidFill>
                </a:ln>
              </p:spPr>
            </p:sp>
            <p:sp>
              <p:nvSpPr>
                <p:cNvPr id="119" name="Freeform 119"/>
                <p:cNvSpPr/>
                <p:nvPr/>
              </p:nvSpPr>
              <p:spPr>
                <a:xfrm>
                  <a:off x="7305675" y="1654969"/>
                  <a:ext cx="9525" cy="26194"/>
                </a:xfrm>
                <a:custGeom>
                  <a:avLst/>
                  <a:gdLst/>
                  <a:ahLst/>
                  <a:cxnLst/>
                  <a:rect l="l" t="t" r="r" b="b"/>
                  <a:pathLst>
                    <a:path w="9525" h="26194">
                      <a:moveTo>
                        <a:pt x="0" y="0"/>
                      </a:moveTo>
                      <a:lnTo>
                        <a:pt x="0" y="26194"/>
                      </a:lnTo>
                    </a:path>
                  </a:pathLst>
                </a:custGeom>
                <a:noFill/>
                <a:ln w="13097">
                  <a:solidFill>
                    <a:srgbClr val="8A1700"/>
                  </a:solidFill>
                </a:ln>
              </p:spPr>
            </p:sp>
          </p:grpSp>
          <p:sp>
            <p:nvSpPr>
              <p:cNvPr id="121" name="TextBox 121"/>
              <p:cNvSpPr txBox="1"/>
              <p:nvPr/>
            </p:nvSpPr>
            <p:spPr>
              <a:xfrm>
                <a:off x="7085520" y="1874282"/>
                <a:ext cx="440309" cy="126206"/>
              </a:xfrm>
              <a:prstGeom prst="rect">
                <a:avLst/>
              </a:prstGeom>
              <a:noFill/>
              <a:ln>
                <a:noFill/>
              </a:ln>
            </p:spPr>
            <p:txBody>
              <a:bodyPr wrap="none" lIns="0" tIns="0" rIns="0" bIns="0" anchor="t" anchorCtr="0">
                <a:spAutoFit/>
              </a:bodyPr>
              <a:lstStyle/>
              <a:p>
                <a:pPr algn="ctr"/>
                <a:r>
                  <a:rPr lang="zh-CN" sz="640" b="1" dirty="0">
                    <a:solidFill>
                      <a:srgbClr val="520E00"/>
                    </a:solidFill>
                    <a:latin typeface="+mn-lt"/>
                    <a:ea typeface="+mn-ea"/>
                    <a:cs typeface="+mn-cs"/>
                  </a:rPr>
                  <a:t>周周有权益</a:t>
                </a:r>
              </a:p>
            </p:txBody>
          </p:sp>
          <p:grpSp>
            <p:nvGrpSpPr>
              <p:cNvPr id="124" name="Group 124"/>
              <p:cNvGrpSpPr/>
              <p:nvPr/>
            </p:nvGrpSpPr>
            <p:grpSpPr>
              <a:xfrm>
                <a:off x="7720012" y="1443038"/>
                <a:ext cx="85725" cy="85725"/>
                <a:chOff x="7720012" y="1443038"/>
                <a:chExt cx="85725" cy="85725"/>
              </a:xfrm>
            </p:grpSpPr>
            <p:sp>
              <p:nvSpPr>
                <p:cNvPr id="122" name="Freeform 122"/>
                <p:cNvSpPr/>
                <p:nvPr/>
              </p:nvSpPr>
              <p:spPr>
                <a:xfrm>
                  <a:off x="7720012"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23" name="Freeform 123"/>
                <p:cNvSpPr/>
                <p:nvPr/>
              </p:nvSpPr>
              <p:spPr>
                <a:xfrm>
                  <a:off x="7748588"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27" name="Group 127"/>
              <p:cNvGrpSpPr/>
              <p:nvPr/>
            </p:nvGrpSpPr>
            <p:grpSpPr>
              <a:xfrm>
                <a:off x="7720012" y="1652588"/>
                <a:ext cx="85725" cy="85725"/>
                <a:chOff x="7720012" y="1652588"/>
                <a:chExt cx="85725" cy="85725"/>
              </a:xfrm>
            </p:grpSpPr>
            <p:sp>
              <p:nvSpPr>
                <p:cNvPr id="125" name="Freeform 125"/>
                <p:cNvSpPr/>
                <p:nvPr/>
              </p:nvSpPr>
              <p:spPr>
                <a:xfrm>
                  <a:off x="7720012"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26" name="Freeform 126"/>
                <p:cNvSpPr/>
                <p:nvPr/>
              </p:nvSpPr>
              <p:spPr>
                <a:xfrm>
                  <a:off x="7748588"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30" name="Group 130"/>
              <p:cNvGrpSpPr/>
              <p:nvPr/>
            </p:nvGrpSpPr>
            <p:grpSpPr>
              <a:xfrm>
                <a:off x="7720012" y="1862138"/>
                <a:ext cx="85725" cy="85725"/>
                <a:chOff x="7720012" y="1862138"/>
                <a:chExt cx="85725" cy="85725"/>
              </a:xfrm>
            </p:grpSpPr>
            <p:sp>
              <p:nvSpPr>
                <p:cNvPr id="128" name="Freeform 128"/>
                <p:cNvSpPr/>
                <p:nvPr/>
              </p:nvSpPr>
              <p:spPr>
                <a:xfrm>
                  <a:off x="7720012"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29" name="Freeform 129"/>
                <p:cNvSpPr/>
                <p:nvPr/>
              </p:nvSpPr>
              <p:spPr>
                <a:xfrm>
                  <a:off x="7748588"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33" name="Group 133"/>
              <p:cNvGrpSpPr/>
              <p:nvPr/>
            </p:nvGrpSpPr>
            <p:grpSpPr>
              <a:xfrm>
                <a:off x="7720012" y="2071688"/>
                <a:ext cx="85725" cy="85725"/>
                <a:chOff x="7720012" y="2071688"/>
                <a:chExt cx="85725" cy="85725"/>
              </a:xfrm>
            </p:grpSpPr>
            <p:sp>
              <p:nvSpPr>
                <p:cNvPr id="131" name="Freeform 131"/>
                <p:cNvSpPr/>
                <p:nvPr/>
              </p:nvSpPr>
              <p:spPr>
                <a:xfrm>
                  <a:off x="7720012"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32" name="Freeform 132"/>
                <p:cNvSpPr/>
                <p:nvPr/>
              </p:nvSpPr>
              <p:spPr>
                <a:xfrm>
                  <a:off x="7748588"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36" name="Group 136"/>
              <p:cNvGrpSpPr/>
              <p:nvPr/>
            </p:nvGrpSpPr>
            <p:grpSpPr>
              <a:xfrm>
                <a:off x="8081962" y="1443038"/>
                <a:ext cx="85725" cy="85725"/>
                <a:chOff x="8081962" y="1443038"/>
                <a:chExt cx="85725" cy="85725"/>
              </a:xfrm>
            </p:grpSpPr>
            <p:sp>
              <p:nvSpPr>
                <p:cNvPr id="134" name="Freeform 134"/>
                <p:cNvSpPr/>
                <p:nvPr/>
              </p:nvSpPr>
              <p:spPr>
                <a:xfrm>
                  <a:off x="8081962"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35" name="Freeform 135"/>
                <p:cNvSpPr/>
                <p:nvPr/>
              </p:nvSpPr>
              <p:spPr>
                <a:xfrm>
                  <a:off x="8110538"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39" name="Group 139"/>
              <p:cNvGrpSpPr/>
              <p:nvPr/>
            </p:nvGrpSpPr>
            <p:grpSpPr>
              <a:xfrm>
                <a:off x="8081962" y="1652588"/>
                <a:ext cx="85725" cy="85725"/>
                <a:chOff x="8081962" y="1652588"/>
                <a:chExt cx="85725" cy="85725"/>
              </a:xfrm>
            </p:grpSpPr>
            <p:sp>
              <p:nvSpPr>
                <p:cNvPr id="137" name="Freeform 137"/>
                <p:cNvSpPr/>
                <p:nvPr/>
              </p:nvSpPr>
              <p:spPr>
                <a:xfrm>
                  <a:off x="8081962"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38" name="Freeform 138"/>
                <p:cNvSpPr/>
                <p:nvPr/>
              </p:nvSpPr>
              <p:spPr>
                <a:xfrm>
                  <a:off x="8110538"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42" name="Group 142"/>
              <p:cNvGrpSpPr/>
              <p:nvPr/>
            </p:nvGrpSpPr>
            <p:grpSpPr>
              <a:xfrm>
                <a:off x="8081962" y="1862138"/>
                <a:ext cx="85725" cy="85725"/>
                <a:chOff x="8081962" y="1862138"/>
                <a:chExt cx="85725" cy="85725"/>
              </a:xfrm>
            </p:grpSpPr>
            <p:sp>
              <p:nvSpPr>
                <p:cNvPr id="140" name="Freeform 140"/>
                <p:cNvSpPr/>
                <p:nvPr/>
              </p:nvSpPr>
              <p:spPr>
                <a:xfrm>
                  <a:off x="8081962"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41" name="Freeform 141"/>
                <p:cNvSpPr/>
                <p:nvPr/>
              </p:nvSpPr>
              <p:spPr>
                <a:xfrm>
                  <a:off x="8110538"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45" name="Group 145"/>
              <p:cNvGrpSpPr/>
              <p:nvPr/>
            </p:nvGrpSpPr>
            <p:grpSpPr>
              <a:xfrm>
                <a:off x="8081962" y="2071688"/>
                <a:ext cx="85725" cy="85725"/>
                <a:chOff x="8081962" y="2071688"/>
                <a:chExt cx="85725" cy="85725"/>
              </a:xfrm>
            </p:grpSpPr>
            <p:sp>
              <p:nvSpPr>
                <p:cNvPr id="143" name="Freeform 143"/>
                <p:cNvSpPr/>
                <p:nvPr/>
              </p:nvSpPr>
              <p:spPr>
                <a:xfrm>
                  <a:off x="8081962"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44" name="Freeform 144"/>
                <p:cNvSpPr/>
                <p:nvPr/>
              </p:nvSpPr>
              <p:spPr>
                <a:xfrm>
                  <a:off x="8110538"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48" name="Group 148"/>
              <p:cNvGrpSpPr/>
              <p:nvPr/>
            </p:nvGrpSpPr>
            <p:grpSpPr>
              <a:xfrm>
                <a:off x="8453438" y="1443038"/>
                <a:ext cx="85725" cy="85725"/>
                <a:chOff x="8453438" y="1443038"/>
                <a:chExt cx="85725" cy="85725"/>
              </a:xfrm>
            </p:grpSpPr>
            <p:sp>
              <p:nvSpPr>
                <p:cNvPr id="146" name="Freeform 146"/>
                <p:cNvSpPr/>
                <p:nvPr/>
              </p:nvSpPr>
              <p:spPr>
                <a:xfrm>
                  <a:off x="8453438"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47" name="Freeform 147"/>
                <p:cNvSpPr/>
                <p:nvPr/>
              </p:nvSpPr>
              <p:spPr>
                <a:xfrm>
                  <a:off x="8482012"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51" name="Group 151"/>
              <p:cNvGrpSpPr/>
              <p:nvPr/>
            </p:nvGrpSpPr>
            <p:grpSpPr>
              <a:xfrm>
                <a:off x="8453438" y="1652588"/>
                <a:ext cx="85725" cy="85725"/>
                <a:chOff x="8453438" y="1652588"/>
                <a:chExt cx="85725" cy="85725"/>
              </a:xfrm>
            </p:grpSpPr>
            <p:sp>
              <p:nvSpPr>
                <p:cNvPr id="149" name="Freeform 149"/>
                <p:cNvSpPr/>
                <p:nvPr/>
              </p:nvSpPr>
              <p:spPr>
                <a:xfrm>
                  <a:off x="8453438"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50" name="Freeform 150"/>
                <p:cNvSpPr/>
                <p:nvPr/>
              </p:nvSpPr>
              <p:spPr>
                <a:xfrm>
                  <a:off x="8482012"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54" name="Group 154"/>
              <p:cNvGrpSpPr/>
              <p:nvPr/>
            </p:nvGrpSpPr>
            <p:grpSpPr>
              <a:xfrm>
                <a:off x="8453438" y="1862138"/>
                <a:ext cx="85725" cy="85725"/>
                <a:chOff x="8453438" y="1862138"/>
                <a:chExt cx="85725" cy="85725"/>
              </a:xfrm>
            </p:grpSpPr>
            <p:sp>
              <p:nvSpPr>
                <p:cNvPr id="152" name="Freeform 152"/>
                <p:cNvSpPr/>
                <p:nvPr/>
              </p:nvSpPr>
              <p:spPr>
                <a:xfrm>
                  <a:off x="8453438"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53" name="Freeform 153"/>
                <p:cNvSpPr/>
                <p:nvPr/>
              </p:nvSpPr>
              <p:spPr>
                <a:xfrm>
                  <a:off x="8482012"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57" name="Group 157"/>
              <p:cNvGrpSpPr/>
              <p:nvPr/>
            </p:nvGrpSpPr>
            <p:grpSpPr>
              <a:xfrm>
                <a:off x="8453438" y="2071688"/>
                <a:ext cx="85725" cy="85725"/>
                <a:chOff x="8453438" y="2071688"/>
                <a:chExt cx="85725" cy="85725"/>
              </a:xfrm>
            </p:grpSpPr>
            <p:sp>
              <p:nvSpPr>
                <p:cNvPr id="155" name="Freeform 155"/>
                <p:cNvSpPr/>
                <p:nvPr/>
              </p:nvSpPr>
              <p:spPr>
                <a:xfrm>
                  <a:off x="8453438"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56" name="Freeform 156"/>
                <p:cNvSpPr/>
                <p:nvPr/>
              </p:nvSpPr>
              <p:spPr>
                <a:xfrm>
                  <a:off x="8482012"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60" name="Group 160"/>
              <p:cNvGrpSpPr/>
              <p:nvPr/>
            </p:nvGrpSpPr>
            <p:grpSpPr>
              <a:xfrm>
                <a:off x="8815388" y="1443038"/>
                <a:ext cx="85725" cy="85725"/>
                <a:chOff x="8815388" y="1443038"/>
                <a:chExt cx="85725" cy="85725"/>
              </a:xfrm>
            </p:grpSpPr>
            <p:sp>
              <p:nvSpPr>
                <p:cNvPr id="158" name="Freeform 158"/>
                <p:cNvSpPr/>
                <p:nvPr/>
              </p:nvSpPr>
              <p:spPr>
                <a:xfrm>
                  <a:off x="8815388"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59" name="Freeform 159"/>
                <p:cNvSpPr/>
                <p:nvPr/>
              </p:nvSpPr>
              <p:spPr>
                <a:xfrm>
                  <a:off x="8843962"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63" name="Group 163"/>
              <p:cNvGrpSpPr/>
              <p:nvPr/>
            </p:nvGrpSpPr>
            <p:grpSpPr>
              <a:xfrm>
                <a:off x="8815388" y="1652588"/>
                <a:ext cx="85725" cy="85725"/>
                <a:chOff x="8815388" y="1652588"/>
                <a:chExt cx="85725" cy="85725"/>
              </a:xfrm>
            </p:grpSpPr>
            <p:sp>
              <p:nvSpPr>
                <p:cNvPr id="161" name="Freeform 161"/>
                <p:cNvSpPr/>
                <p:nvPr/>
              </p:nvSpPr>
              <p:spPr>
                <a:xfrm>
                  <a:off x="8815388"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62" name="Freeform 162"/>
                <p:cNvSpPr/>
                <p:nvPr/>
              </p:nvSpPr>
              <p:spPr>
                <a:xfrm>
                  <a:off x="8843962"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66" name="Group 166"/>
              <p:cNvGrpSpPr/>
              <p:nvPr/>
            </p:nvGrpSpPr>
            <p:grpSpPr>
              <a:xfrm>
                <a:off x="8815388" y="1862138"/>
                <a:ext cx="85725" cy="85725"/>
                <a:chOff x="8815388" y="1862138"/>
                <a:chExt cx="85725" cy="85725"/>
              </a:xfrm>
            </p:grpSpPr>
            <p:sp>
              <p:nvSpPr>
                <p:cNvPr id="164" name="Freeform 164"/>
                <p:cNvSpPr/>
                <p:nvPr/>
              </p:nvSpPr>
              <p:spPr>
                <a:xfrm>
                  <a:off x="8815388"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65" name="Freeform 165"/>
                <p:cNvSpPr/>
                <p:nvPr/>
              </p:nvSpPr>
              <p:spPr>
                <a:xfrm>
                  <a:off x="8843962"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69" name="Group 169"/>
              <p:cNvGrpSpPr/>
              <p:nvPr/>
            </p:nvGrpSpPr>
            <p:grpSpPr>
              <a:xfrm>
                <a:off x="8815388" y="2071688"/>
                <a:ext cx="85725" cy="85725"/>
                <a:chOff x="8815388" y="2071688"/>
                <a:chExt cx="85725" cy="85725"/>
              </a:xfrm>
            </p:grpSpPr>
            <p:sp>
              <p:nvSpPr>
                <p:cNvPr id="167" name="Freeform 167"/>
                <p:cNvSpPr/>
                <p:nvPr/>
              </p:nvSpPr>
              <p:spPr>
                <a:xfrm>
                  <a:off x="8815388"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68" name="Freeform 168"/>
                <p:cNvSpPr/>
                <p:nvPr/>
              </p:nvSpPr>
              <p:spPr>
                <a:xfrm>
                  <a:off x="8843962"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72" name="Group 172"/>
              <p:cNvGrpSpPr/>
              <p:nvPr/>
            </p:nvGrpSpPr>
            <p:grpSpPr>
              <a:xfrm>
                <a:off x="9177338" y="1443038"/>
                <a:ext cx="85725" cy="85725"/>
                <a:chOff x="9177338" y="1443038"/>
                <a:chExt cx="85725" cy="85725"/>
              </a:xfrm>
            </p:grpSpPr>
            <p:sp>
              <p:nvSpPr>
                <p:cNvPr id="170" name="Freeform 170"/>
                <p:cNvSpPr/>
                <p:nvPr/>
              </p:nvSpPr>
              <p:spPr>
                <a:xfrm>
                  <a:off x="9177338"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71" name="Freeform 171"/>
                <p:cNvSpPr/>
                <p:nvPr/>
              </p:nvSpPr>
              <p:spPr>
                <a:xfrm>
                  <a:off x="9205912"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75" name="Group 175"/>
              <p:cNvGrpSpPr/>
              <p:nvPr/>
            </p:nvGrpSpPr>
            <p:grpSpPr>
              <a:xfrm>
                <a:off x="9177338" y="1652588"/>
                <a:ext cx="85725" cy="85725"/>
                <a:chOff x="9177338" y="1652588"/>
                <a:chExt cx="85725" cy="85725"/>
              </a:xfrm>
            </p:grpSpPr>
            <p:sp>
              <p:nvSpPr>
                <p:cNvPr id="173" name="Freeform 173"/>
                <p:cNvSpPr/>
                <p:nvPr/>
              </p:nvSpPr>
              <p:spPr>
                <a:xfrm>
                  <a:off x="9177338"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74" name="Freeform 174"/>
                <p:cNvSpPr/>
                <p:nvPr/>
              </p:nvSpPr>
              <p:spPr>
                <a:xfrm>
                  <a:off x="9205912"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78" name="Group 178"/>
              <p:cNvGrpSpPr/>
              <p:nvPr/>
            </p:nvGrpSpPr>
            <p:grpSpPr>
              <a:xfrm>
                <a:off x="9177338" y="1862138"/>
                <a:ext cx="85725" cy="85725"/>
                <a:chOff x="9177338" y="1862138"/>
                <a:chExt cx="85725" cy="85725"/>
              </a:xfrm>
            </p:grpSpPr>
            <p:sp>
              <p:nvSpPr>
                <p:cNvPr id="176" name="Freeform 176"/>
                <p:cNvSpPr/>
                <p:nvPr/>
              </p:nvSpPr>
              <p:spPr>
                <a:xfrm>
                  <a:off x="9177338"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77" name="Freeform 177"/>
                <p:cNvSpPr/>
                <p:nvPr/>
              </p:nvSpPr>
              <p:spPr>
                <a:xfrm>
                  <a:off x="9205912"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81" name="Group 181"/>
              <p:cNvGrpSpPr/>
              <p:nvPr/>
            </p:nvGrpSpPr>
            <p:grpSpPr>
              <a:xfrm>
                <a:off x="9177338" y="2071688"/>
                <a:ext cx="85725" cy="85725"/>
                <a:chOff x="9177338" y="2071688"/>
                <a:chExt cx="85725" cy="85725"/>
              </a:xfrm>
            </p:grpSpPr>
            <p:sp>
              <p:nvSpPr>
                <p:cNvPr id="179" name="Freeform 179"/>
                <p:cNvSpPr/>
                <p:nvPr/>
              </p:nvSpPr>
              <p:spPr>
                <a:xfrm>
                  <a:off x="9177338"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80" name="Freeform 180"/>
                <p:cNvSpPr/>
                <p:nvPr/>
              </p:nvSpPr>
              <p:spPr>
                <a:xfrm>
                  <a:off x="9205912"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84" name="Group 184"/>
              <p:cNvGrpSpPr/>
              <p:nvPr/>
            </p:nvGrpSpPr>
            <p:grpSpPr>
              <a:xfrm>
                <a:off x="9548812" y="1443038"/>
                <a:ext cx="85725" cy="85725"/>
                <a:chOff x="9548812" y="1443038"/>
                <a:chExt cx="85725" cy="85725"/>
              </a:xfrm>
            </p:grpSpPr>
            <p:sp>
              <p:nvSpPr>
                <p:cNvPr id="182" name="Freeform 182"/>
                <p:cNvSpPr/>
                <p:nvPr/>
              </p:nvSpPr>
              <p:spPr>
                <a:xfrm>
                  <a:off x="9548812"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83" name="Freeform 183"/>
                <p:cNvSpPr/>
                <p:nvPr/>
              </p:nvSpPr>
              <p:spPr>
                <a:xfrm>
                  <a:off x="9577388"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87" name="Group 187"/>
              <p:cNvGrpSpPr/>
              <p:nvPr/>
            </p:nvGrpSpPr>
            <p:grpSpPr>
              <a:xfrm>
                <a:off x="9548812" y="1652588"/>
                <a:ext cx="85725" cy="85725"/>
                <a:chOff x="9548812" y="1652588"/>
                <a:chExt cx="85725" cy="85725"/>
              </a:xfrm>
            </p:grpSpPr>
            <p:sp>
              <p:nvSpPr>
                <p:cNvPr id="185" name="Freeform 185"/>
                <p:cNvSpPr/>
                <p:nvPr/>
              </p:nvSpPr>
              <p:spPr>
                <a:xfrm>
                  <a:off x="9548812"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86" name="Freeform 186"/>
                <p:cNvSpPr/>
                <p:nvPr/>
              </p:nvSpPr>
              <p:spPr>
                <a:xfrm>
                  <a:off x="9577388"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90" name="Group 190"/>
              <p:cNvGrpSpPr/>
              <p:nvPr/>
            </p:nvGrpSpPr>
            <p:grpSpPr>
              <a:xfrm>
                <a:off x="9548812" y="1862138"/>
                <a:ext cx="85725" cy="85725"/>
                <a:chOff x="9548812" y="1862138"/>
                <a:chExt cx="85725" cy="85725"/>
              </a:xfrm>
            </p:grpSpPr>
            <p:sp>
              <p:nvSpPr>
                <p:cNvPr id="188" name="Freeform 188"/>
                <p:cNvSpPr/>
                <p:nvPr/>
              </p:nvSpPr>
              <p:spPr>
                <a:xfrm>
                  <a:off x="9548812"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89" name="Freeform 189"/>
                <p:cNvSpPr/>
                <p:nvPr/>
              </p:nvSpPr>
              <p:spPr>
                <a:xfrm>
                  <a:off x="9577388"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93" name="Group 193"/>
              <p:cNvGrpSpPr/>
              <p:nvPr/>
            </p:nvGrpSpPr>
            <p:grpSpPr>
              <a:xfrm>
                <a:off x="9548812" y="2071688"/>
                <a:ext cx="85725" cy="85725"/>
                <a:chOff x="9548812" y="2071688"/>
                <a:chExt cx="85725" cy="85725"/>
              </a:xfrm>
            </p:grpSpPr>
            <p:sp>
              <p:nvSpPr>
                <p:cNvPr id="191" name="Freeform 191"/>
                <p:cNvSpPr/>
                <p:nvPr/>
              </p:nvSpPr>
              <p:spPr>
                <a:xfrm>
                  <a:off x="9548812"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92" name="Freeform 192"/>
                <p:cNvSpPr/>
                <p:nvPr/>
              </p:nvSpPr>
              <p:spPr>
                <a:xfrm>
                  <a:off x="9577388"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96" name="Group 196"/>
              <p:cNvGrpSpPr/>
              <p:nvPr/>
            </p:nvGrpSpPr>
            <p:grpSpPr>
              <a:xfrm>
                <a:off x="9910762" y="1443038"/>
                <a:ext cx="85725" cy="85725"/>
                <a:chOff x="9910762" y="1443038"/>
                <a:chExt cx="85725" cy="85725"/>
              </a:xfrm>
            </p:grpSpPr>
            <p:sp>
              <p:nvSpPr>
                <p:cNvPr id="194" name="Freeform 194"/>
                <p:cNvSpPr/>
                <p:nvPr/>
              </p:nvSpPr>
              <p:spPr>
                <a:xfrm>
                  <a:off x="9910762"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95" name="Freeform 195"/>
                <p:cNvSpPr/>
                <p:nvPr/>
              </p:nvSpPr>
              <p:spPr>
                <a:xfrm>
                  <a:off x="9939338"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199" name="Group 199"/>
              <p:cNvGrpSpPr/>
              <p:nvPr/>
            </p:nvGrpSpPr>
            <p:grpSpPr>
              <a:xfrm>
                <a:off x="9910762" y="1652588"/>
                <a:ext cx="85725" cy="85725"/>
                <a:chOff x="9910762" y="1652588"/>
                <a:chExt cx="85725" cy="85725"/>
              </a:xfrm>
            </p:grpSpPr>
            <p:sp>
              <p:nvSpPr>
                <p:cNvPr id="197" name="Freeform 197"/>
                <p:cNvSpPr/>
                <p:nvPr/>
              </p:nvSpPr>
              <p:spPr>
                <a:xfrm>
                  <a:off x="9910762"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198" name="Freeform 198"/>
                <p:cNvSpPr/>
                <p:nvPr/>
              </p:nvSpPr>
              <p:spPr>
                <a:xfrm>
                  <a:off x="9939338"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02" name="Group 202"/>
              <p:cNvGrpSpPr/>
              <p:nvPr/>
            </p:nvGrpSpPr>
            <p:grpSpPr>
              <a:xfrm>
                <a:off x="9910762" y="1862138"/>
                <a:ext cx="85725" cy="85725"/>
                <a:chOff x="9910762" y="1862138"/>
                <a:chExt cx="85725" cy="85725"/>
              </a:xfrm>
            </p:grpSpPr>
            <p:sp>
              <p:nvSpPr>
                <p:cNvPr id="200" name="Freeform 200"/>
                <p:cNvSpPr/>
                <p:nvPr/>
              </p:nvSpPr>
              <p:spPr>
                <a:xfrm>
                  <a:off x="9910762"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01" name="Freeform 201"/>
                <p:cNvSpPr/>
                <p:nvPr/>
              </p:nvSpPr>
              <p:spPr>
                <a:xfrm>
                  <a:off x="9939338"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05" name="Group 205"/>
              <p:cNvGrpSpPr/>
              <p:nvPr/>
            </p:nvGrpSpPr>
            <p:grpSpPr>
              <a:xfrm>
                <a:off x="9910762" y="2071688"/>
                <a:ext cx="85725" cy="85725"/>
                <a:chOff x="9910762" y="2071688"/>
                <a:chExt cx="85725" cy="85725"/>
              </a:xfrm>
            </p:grpSpPr>
            <p:sp>
              <p:nvSpPr>
                <p:cNvPr id="203" name="Freeform 203"/>
                <p:cNvSpPr/>
                <p:nvPr/>
              </p:nvSpPr>
              <p:spPr>
                <a:xfrm>
                  <a:off x="9910762"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04" name="Freeform 204"/>
                <p:cNvSpPr/>
                <p:nvPr/>
              </p:nvSpPr>
              <p:spPr>
                <a:xfrm>
                  <a:off x="9939338"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08" name="Group 208"/>
              <p:cNvGrpSpPr/>
              <p:nvPr/>
            </p:nvGrpSpPr>
            <p:grpSpPr>
              <a:xfrm>
                <a:off x="10272712" y="1443038"/>
                <a:ext cx="85725" cy="85725"/>
                <a:chOff x="10272712" y="1443038"/>
                <a:chExt cx="85725" cy="85725"/>
              </a:xfrm>
            </p:grpSpPr>
            <p:sp>
              <p:nvSpPr>
                <p:cNvPr id="206" name="Freeform 206"/>
                <p:cNvSpPr/>
                <p:nvPr/>
              </p:nvSpPr>
              <p:spPr>
                <a:xfrm>
                  <a:off x="10272712"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07" name="Freeform 207"/>
                <p:cNvSpPr/>
                <p:nvPr/>
              </p:nvSpPr>
              <p:spPr>
                <a:xfrm>
                  <a:off x="10301288"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11" name="Group 211"/>
              <p:cNvGrpSpPr/>
              <p:nvPr/>
            </p:nvGrpSpPr>
            <p:grpSpPr>
              <a:xfrm>
                <a:off x="10272712" y="1652588"/>
                <a:ext cx="85725" cy="85725"/>
                <a:chOff x="10272712" y="1652588"/>
                <a:chExt cx="85725" cy="85725"/>
              </a:xfrm>
            </p:grpSpPr>
            <p:sp>
              <p:nvSpPr>
                <p:cNvPr id="209" name="Freeform 209"/>
                <p:cNvSpPr/>
                <p:nvPr/>
              </p:nvSpPr>
              <p:spPr>
                <a:xfrm>
                  <a:off x="10272712"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10" name="Freeform 210"/>
                <p:cNvSpPr/>
                <p:nvPr/>
              </p:nvSpPr>
              <p:spPr>
                <a:xfrm>
                  <a:off x="10301288"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14" name="Group 214"/>
              <p:cNvGrpSpPr/>
              <p:nvPr/>
            </p:nvGrpSpPr>
            <p:grpSpPr>
              <a:xfrm>
                <a:off x="10272712" y="1862138"/>
                <a:ext cx="85725" cy="85725"/>
                <a:chOff x="10272712" y="1862138"/>
                <a:chExt cx="85725" cy="85725"/>
              </a:xfrm>
            </p:grpSpPr>
            <p:sp>
              <p:nvSpPr>
                <p:cNvPr id="212" name="Freeform 212"/>
                <p:cNvSpPr/>
                <p:nvPr/>
              </p:nvSpPr>
              <p:spPr>
                <a:xfrm>
                  <a:off x="10272712"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13" name="Freeform 213"/>
                <p:cNvSpPr/>
                <p:nvPr/>
              </p:nvSpPr>
              <p:spPr>
                <a:xfrm>
                  <a:off x="10301288"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17" name="Group 217"/>
              <p:cNvGrpSpPr/>
              <p:nvPr/>
            </p:nvGrpSpPr>
            <p:grpSpPr>
              <a:xfrm>
                <a:off x="10272712" y="2071688"/>
                <a:ext cx="85725" cy="85725"/>
                <a:chOff x="10272712" y="2071688"/>
                <a:chExt cx="85725" cy="85725"/>
              </a:xfrm>
            </p:grpSpPr>
            <p:sp>
              <p:nvSpPr>
                <p:cNvPr id="215" name="Freeform 215"/>
                <p:cNvSpPr/>
                <p:nvPr/>
              </p:nvSpPr>
              <p:spPr>
                <a:xfrm>
                  <a:off x="10272712"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16" name="Freeform 216"/>
                <p:cNvSpPr/>
                <p:nvPr/>
              </p:nvSpPr>
              <p:spPr>
                <a:xfrm>
                  <a:off x="10301288"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20" name="Group 220"/>
              <p:cNvGrpSpPr/>
              <p:nvPr/>
            </p:nvGrpSpPr>
            <p:grpSpPr>
              <a:xfrm>
                <a:off x="10644188" y="1443038"/>
                <a:ext cx="85725" cy="85725"/>
                <a:chOff x="10644188" y="1443038"/>
                <a:chExt cx="85725" cy="85725"/>
              </a:xfrm>
            </p:grpSpPr>
            <p:sp>
              <p:nvSpPr>
                <p:cNvPr id="218" name="Freeform 218"/>
                <p:cNvSpPr/>
                <p:nvPr/>
              </p:nvSpPr>
              <p:spPr>
                <a:xfrm>
                  <a:off x="10644188"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19" name="Freeform 219"/>
                <p:cNvSpPr/>
                <p:nvPr/>
              </p:nvSpPr>
              <p:spPr>
                <a:xfrm>
                  <a:off x="10672762"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23" name="Group 223"/>
              <p:cNvGrpSpPr/>
              <p:nvPr/>
            </p:nvGrpSpPr>
            <p:grpSpPr>
              <a:xfrm>
                <a:off x="10644188" y="1652588"/>
                <a:ext cx="85725" cy="85725"/>
                <a:chOff x="10644188" y="1652588"/>
                <a:chExt cx="85725" cy="85725"/>
              </a:xfrm>
            </p:grpSpPr>
            <p:sp>
              <p:nvSpPr>
                <p:cNvPr id="221" name="Freeform 221"/>
                <p:cNvSpPr/>
                <p:nvPr/>
              </p:nvSpPr>
              <p:spPr>
                <a:xfrm>
                  <a:off x="10644188"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22" name="Freeform 222"/>
                <p:cNvSpPr/>
                <p:nvPr/>
              </p:nvSpPr>
              <p:spPr>
                <a:xfrm>
                  <a:off x="10672762"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26" name="Group 226"/>
              <p:cNvGrpSpPr/>
              <p:nvPr/>
            </p:nvGrpSpPr>
            <p:grpSpPr>
              <a:xfrm>
                <a:off x="10644188" y="1862138"/>
                <a:ext cx="85725" cy="85725"/>
                <a:chOff x="10644188" y="1862138"/>
                <a:chExt cx="85725" cy="85725"/>
              </a:xfrm>
            </p:grpSpPr>
            <p:sp>
              <p:nvSpPr>
                <p:cNvPr id="224" name="Freeform 224"/>
                <p:cNvSpPr/>
                <p:nvPr/>
              </p:nvSpPr>
              <p:spPr>
                <a:xfrm>
                  <a:off x="10644188"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25" name="Freeform 225"/>
                <p:cNvSpPr/>
                <p:nvPr/>
              </p:nvSpPr>
              <p:spPr>
                <a:xfrm>
                  <a:off x="10672762"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29" name="Group 229"/>
              <p:cNvGrpSpPr/>
              <p:nvPr/>
            </p:nvGrpSpPr>
            <p:grpSpPr>
              <a:xfrm>
                <a:off x="10644188" y="2071688"/>
                <a:ext cx="85725" cy="85725"/>
                <a:chOff x="10644188" y="2071688"/>
                <a:chExt cx="85725" cy="85725"/>
              </a:xfrm>
            </p:grpSpPr>
            <p:sp>
              <p:nvSpPr>
                <p:cNvPr id="227" name="Freeform 227"/>
                <p:cNvSpPr/>
                <p:nvPr/>
              </p:nvSpPr>
              <p:spPr>
                <a:xfrm>
                  <a:off x="10644188"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28" name="Freeform 228"/>
                <p:cNvSpPr/>
                <p:nvPr/>
              </p:nvSpPr>
              <p:spPr>
                <a:xfrm>
                  <a:off x="10672762"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32" name="Group 232"/>
              <p:cNvGrpSpPr/>
              <p:nvPr/>
            </p:nvGrpSpPr>
            <p:grpSpPr>
              <a:xfrm>
                <a:off x="11006138" y="1443038"/>
                <a:ext cx="85725" cy="85725"/>
                <a:chOff x="11006138" y="1443038"/>
                <a:chExt cx="85725" cy="85725"/>
              </a:xfrm>
            </p:grpSpPr>
            <p:sp>
              <p:nvSpPr>
                <p:cNvPr id="230" name="Freeform 230"/>
                <p:cNvSpPr/>
                <p:nvPr/>
              </p:nvSpPr>
              <p:spPr>
                <a:xfrm>
                  <a:off x="11006138"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31" name="Freeform 231"/>
                <p:cNvSpPr/>
                <p:nvPr/>
              </p:nvSpPr>
              <p:spPr>
                <a:xfrm>
                  <a:off x="11034712"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35" name="Group 235"/>
              <p:cNvGrpSpPr/>
              <p:nvPr/>
            </p:nvGrpSpPr>
            <p:grpSpPr>
              <a:xfrm>
                <a:off x="11006138" y="1652588"/>
                <a:ext cx="85725" cy="85725"/>
                <a:chOff x="11006138" y="1652588"/>
                <a:chExt cx="85725" cy="85725"/>
              </a:xfrm>
            </p:grpSpPr>
            <p:sp>
              <p:nvSpPr>
                <p:cNvPr id="233" name="Freeform 233"/>
                <p:cNvSpPr/>
                <p:nvPr/>
              </p:nvSpPr>
              <p:spPr>
                <a:xfrm>
                  <a:off x="11006138"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34" name="Freeform 234"/>
                <p:cNvSpPr/>
                <p:nvPr/>
              </p:nvSpPr>
              <p:spPr>
                <a:xfrm>
                  <a:off x="11034712"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38" name="Group 238"/>
              <p:cNvGrpSpPr/>
              <p:nvPr/>
            </p:nvGrpSpPr>
            <p:grpSpPr>
              <a:xfrm>
                <a:off x="11006138" y="1862138"/>
                <a:ext cx="85725" cy="85725"/>
                <a:chOff x="11006138" y="1862138"/>
                <a:chExt cx="85725" cy="85725"/>
              </a:xfrm>
            </p:grpSpPr>
            <p:sp>
              <p:nvSpPr>
                <p:cNvPr id="236" name="Freeform 236"/>
                <p:cNvSpPr/>
                <p:nvPr/>
              </p:nvSpPr>
              <p:spPr>
                <a:xfrm>
                  <a:off x="11006138"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37" name="Freeform 237"/>
                <p:cNvSpPr/>
                <p:nvPr/>
              </p:nvSpPr>
              <p:spPr>
                <a:xfrm>
                  <a:off x="11034712"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41" name="Group 241"/>
              <p:cNvGrpSpPr/>
              <p:nvPr/>
            </p:nvGrpSpPr>
            <p:grpSpPr>
              <a:xfrm>
                <a:off x="11006138" y="2071688"/>
                <a:ext cx="85725" cy="85725"/>
                <a:chOff x="11006138" y="2071688"/>
                <a:chExt cx="85725" cy="85725"/>
              </a:xfrm>
            </p:grpSpPr>
            <p:sp>
              <p:nvSpPr>
                <p:cNvPr id="239" name="Freeform 239"/>
                <p:cNvSpPr/>
                <p:nvPr/>
              </p:nvSpPr>
              <p:spPr>
                <a:xfrm>
                  <a:off x="11006138"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40" name="Freeform 240"/>
                <p:cNvSpPr/>
                <p:nvPr/>
              </p:nvSpPr>
              <p:spPr>
                <a:xfrm>
                  <a:off x="11034712"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44" name="Group 244"/>
              <p:cNvGrpSpPr/>
              <p:nvPr/>
            </p:nvGrpSpPr>
            <p:grpSpPr>
              <a:xfrm>
                <a:off x="11368088" y="1443038"/>
                <a:ext cx="85725" cy="85725"/>
                <a:chOff x="11368088" y="1443038"/>
                <a:chExt cx="85725" cy="85725"/>
              </a:xfrm>
            </p:grpSpPr>
            <p:sp>
              <p:nvSpPr>
                <p:cNvPr id="242" name="Freeform 242"/>
                <p:cNvSpPr/>
                <p:nvPr/>
              </p:nvSpPr>
              <p:spPr>
                <a:xfrm>
                  <a:off x="11368088"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43" name="Freeform 243"/>
                <p:cNvSpPr/>
                <p:nvPr/>
              </p:nvSpPr>
              <p:spPr>
                <a:xfrm>
                  <a:off x="11396662"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47" name="Group 247"/>
              <p:cNvGrpSpPr/>
              <p:nvPr/>
            </p:nvGrpSpPr>
            <p:grpSpPr>
              <a:xfrm>
                <a:off x="11368088" y="1652588"/>
                <a:ext cx="85725" cy="85725"/>
                <a:chOff x="11368088" y="1652588"/>
                <a:chExt cx="85725" cy="85725"/>
              </a:xfrm>
            </p:grpSpPr>
            <p:sp>
              <p:nvSpPr>
                <p:cNvPr id="245" name="Freeform 245"/>
                <p:cNvSpPr/>
                <p:nvPr/>
              </p:nvSpPr>
              <p:spPr>
                <a:xfrm>
                  <a:off x="11368088"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46" name="Freeform 246"/>
                <p:cNvSpPr/>
                <p:nvPr/>
              </p:nvSpPr>
              <p:spPr>
                <a:xfrm>
                  <a:off x="11396662"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50" name="Group 250"/>
              <p:cNvGrpSpPr/>
              <p:nvPr/>
            </p:nvGrpSpPr>
            <p:grpSpPr>
              <a:xfrm>
                <a:off x="11368088" y="1862138"/>
                <a:ext cx="85725" cy="85725"/>
                <a:chOff x="11368088" y="1862138"/>
                <a:chExt cx="85725" cy="85725"/>
              </a:xfrm>
            </p:grpSpPr>
            <p:sp>
              <p:nvSpPr>
                <p:cNvPr id="248" name="Freeform 248"/>
                <p:cNvSpPr/>
                <p:nvPr/>
              </p:nvSpPr>
              <p:spPr>
                <a:xfrm>
                  <a:off x="11368088"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49" name="Freeform 249"/>
                <p:cNvSpPr/>
                <p:nvPr/>
              </p:nvSpPr>
              <p:spPr>
                <a:xfrm>
                  <a:off x="11396662"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53" name="Group 253"/>
              <p:cNvGrpSpPr/>
              <p:nvPr/>
            </p:nvGrpSpPr>
            <p:grpSpPr>
              <a:xfrm>
                <a:off x="11368088" y="2071688"/>
                <a:ext cx="85725" cy="85725"/>
                <a:chOff x="11368088" y="2071688"/>
                <a:chExt cx="85725" cy="85725"/>
              </a:xfrm>
            </p:grpSpPr>
            <p:sp>
              <p:nvSpPr>
                <p:cNvPr id="251" name="Freeform 251"/>
                <p:cNvSpPr/>
                <p:nvPr/>
              </p:nvSpPr>
              <p:spPr>
                <a:xfrm>
                  <a:off x="11368088"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52" name="Freeform 252"/>
                <p:cNvSpPr/>
                <p:nvPr/>
              </p:nvSpPr>
              <p:spPr>
                <a:xfrm>
                  <a:off x="11396662"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56" name="Group 256"/>
              <p:cNvGrpSpPr/>
              <p:nvPr/>
            </p:nvGrpSpPr>
            <p:grpSpPr>
              <a:xfrm>
                <a:off x="11739562" y="1443038"/>
                <a:ext cx="85725" cy="85725"/>
                <a:chOff x="11739562" y="1443038"/>
                <a:chExt cx="85725" cy="85725"/>
              </a:xfrm>
            </p:grpSpPr>
            <p:sp>
              <p:nvSpPr>
                <p:cNvPr id="254" name="Freeform 254"/>
                <p:cNvSpPr/>
                <p:nvPr/>
              </p:nvSpPr>
              <p:spPr>
                <a:xfrm>
                  <a:off x="11739562" y="14430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55" name="Freeform 255"/>
                <p:cNvSpPr/>
                <p:nvPr/>
              </p:nvSpPr>
              <p:spPr>
                <a:xfrm>
                  <a:off x="11768138" y="14763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59" name="Group 259"/>
              <p:cNvGrpSpPr/>
              <p:nvPr/>
            </p:nvGrpSpPr>
            <p:grpSpPr>
              <a:xfrm>
                <a:off x="11739562" y="1652588"/>
                <a:ext cx="85725" cy="85725"/>
                <a:chOff x="11739562" y="1652588"/>
                <a:chExt cx="85725" cy="85725"/>
              </a:xfrm>
            </p:grpSpPr>
            <p:sp>
              <p:nvSpPr>
                <p:cNvPr id="257" name="Freeform 257"/>
                <p:cNvSpPr/>
                <p:nvPr/>
              </p:nvSpPr>
              <p:spPr>
                <a:xfrm>
                  <a:off x="11739562" y="16525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58" name="Freeform 258"/>
                <p:cNvSpPr/>
                <p:nvPr/>
              </p:nvSpPr>
              <p:spPr>
                <a:xfrm>
                  <a:off x="11768138" y="16859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62" name="Group 262"/>
              <p:cNvGrpSpPr/>
              <p:nvPr/>
            </p:nvGrpSpPr>
            <p:grpSpPr>
              <a:xfrm>
                <a:off x="11739562" y="1862138"/>
                <a:ext cx="85725" cy="85725"/>
                <a:chOff x="11739562" y="1862138"/>
                <a:chExt cx="85725" cy="85725"/>
              </a:xfrm>
            </p:grpSpPr>
            <p:sp>
              <p:nvSpPr>
                <p:cNvPr id="260" name="Freeform 260"/>
                <p:cNvSpPr/>
                <p:nvPr/>
              </p:nvSpPr>
              <p:spPr>
                <a:xfrm>
                  <a:off x="11739562" y="18621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61" name="Freeform 261"/>
                <p:cNvSpPr/>
                <p:nvPr/>
              </p:nvSpPr>
              <p:spPr>
                <a:xfrm>
                  <a:off x="11768138" y="189547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nvGrpSpPr>
              <p:cNvPr id="265" name="Group 265"/>
              <p:cNvGrpSpPr/>
              <p:nvPr/>
            </p:nvGrpSpPr>
            <p:grpSpPr>
              <a:xfrm>
                <a:off x="11739562" y="2071688"/>
                <a:ext cx="85725" cy="85725"/>
                <a:chOff x="11739562" y="2071688"/>
                <a:chExt cx="85725" cy="85725"/>
              </a:xfrm>
            </p:grpSpPr>
            <p:sp>
              <p:nvSpPr>
                <p:cNvPr id="263" name="Freeform 263"/>
                <p:cNvSpPr/>
                <p:nvPr/>
              </p:nvSpPr>
              <p:spPr>
                <a:xfrm>
                  <a:off x="11739562" y="207168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E84E2F"/>
                  </a:solidFill>
                </a:ln>
              </p:spPr>
            </p:sp>
            <p:sp>
              <p:nvSpPr>
                <p:cNvPr id="264" name="Freeform 264"/>
                <p:cNvSpPr/>
                <p:nvPr/>
              </p:nvSpPr>
              <p:spPr>
                <a:xfrm>
                  <a:off x="11768138" y="2105025"/>
                  <a:ext cx="28575" cy="19050"/>
                </a:xfrm>
                <a:custGeom>
                  <a:avLst/>
                  <a:gdLst/>
                  <a:ahLst/>
                  <a:cxnLst/>
                  <a:rect l="l" t="t" r="r" b="b"/>
                  <a:pathLst>
                    <a:path w="28575" h="19050">
                      <a:moveTo>
                        <a:pt x="0" y="9525"/>
                      </a:moveTo>
                      <a:lnTo>
                        <a:pt x="9525" y="19050"/>
                      </a:lnTo>
                      <a:lnTo>
                        <a:pt x="28575" y="0"/>
                      </a:lnTo>
                    </a:path>
                  </a:pathLst>
                </a:custGeom>
                <a:noFill/>
                <a:ln w="9525">
                  <a:solidFill>
                    <a:srgbClr val="E84E2F"/>
                  </a:solidFill>
                </a:ln>
              </p:spPr>
            </p:sp>
          </p:grpSp>
        </p:grpSp>
        <p:grpSp>
          <p:nvGrpSpPr>
            <p:cNvPr id="328" name="cal-monthly"/>
            <p:cNvGrpSpPr/>
            <p:nvPr/>
          </p:nvGrpSpPr>
          <p:grpSpPr>
            <a:xfrm>
              <a:off x="7085520" y="2478636"/>
              <a:ext cx="4830902" cy="493402"/>
              <a:chOff x="7085520" y="2478636"/>
              <a:chExt cx="4830902" cy="493402"/>
            </a:xfrm>
          </p:grpSpPr>
          <p:grpSp>
            <p:nvGrpSpPr>
              <p:cNvPr id="270" name="Group 270"/>
              <p:cNvGrpSpPr/>
              <p:nvPr/>
            </p:nvGrpSpPr>
            <p:grpSpPr>
              <a:xfrm>
                <a:off x="7230604" y="2521744"/>
                <a:ext cx="150125" cy="156202"/>
                <a:chOff x="7230604" y="2521744"/>
                <a:chExt cx="150125" cy="156202"/>
              </a:xfrm>
            </p:grpSpPr>
            <p:sp>
              <p:nvSpPr>
                <p:cNvPr id="267" name="Freeform 267"/>
                <p:cNvSpPr/>
                <p:nvPr/>
              </p:nvSpPr>
              <p:spPr>
                <a:xfrm>
                  <a:off x="7253288" y="2521744"/>
                  <a:ext cx="104775" cy="104775"/>
                </a:xfrm>
                <a:custGeom>
                  <a:avLst/>
                  <a:gdLst/>
                  <a:ahLst/>
                  <a:cxnLst/>
                  <a:rect l="l" t="t" r="r" b="b"/>
                  <a:pathLst>
                    <a:path w="104775" h="104775">
                      <a:moveTo>
                        <a:pt x="0" y="52388"/>
                      </a:moveTo>
                      <a:cubicBezTo>
                        <a:pt x="0" y="81320"/>
                        <a:pt x="23455" y="104775"/>
                        <a:pt x="52388" y="104775"/>
                      </a:cubicBezTo>
                      <a:cubicBezTo>
                        <a:pt x="81320" y="104775"/>
                        <a:pt x="104775" y="81320"/>
                        <a:pt x="104775" y="52388"/>
                      </a:cubicBezTo>
                      <a:cubicBezTo>
                        <a:pt x="104775" y="23455"/>
                        <a:pt x="81320" y="0"/>
                        <a:pt x="52388" y="0"/>
                      </a:cubicBezTo>
                      <a:cubicBezTo>
                        <a:pt x="23455" y="0"/>
                        <a:pt x="0" y="23455"/>
                        <a:pt x="0" y="52388"/>
                      </a:cubicBezTo>
                    </a:path>
                  </a:pathLst>
                </a:custGeom>
                <a:noFill/>
                <a:ln w="13097">
                  <a:solidFill>
                    <a:srgbClr val="8A1700"/>
                  </a:solidFill>
                </a:ln>
              </p:spPr>
            </p:sp>
            <p:sp>
              <p:nvSpPr>
                <p:cNvPr id="268" name="Freeform 268"/>
                <p:cNvSpPr/>
                <p:nvPr/>
              </p:nvSpPr>
              <p:spPr>
                <a:xfrm>
                  <a:off x="7305675" y="2600325"/>
                  <a:ext cx="75054" cy="77621"/>
                </a:xfrm>
                <a:custGeom>
                  <a:avLst/>
                  <a:gdLst/>
                  <a:ahLst/>
                  <a:cxnLst/>
                  <a:rect l="l" t="t" r="r" b="b"/>
                  <a:pathLst>
                    <a:path w="75054" h="77621">
                      <a:moveTo>
                        <a:pt x="0" y="26194"/>
                      </a:moveTo>
                      <a:lnTo>
                        <a:pt x="29686" y="77621"/>
                      </a:lnTo>
                      <a:lnTo>
                        <a:pt x="43639" y="49393"/>
                      </a:lnTo>
                      <a:lnTo>
                        <a:pt x="75054" y="51418"/>
                      </a:lnTo>
                      <a:lnTo>
                        <a:pt x="45368" y="0"/>
                      </a:lnTo>
                    </a:path>
                  </a:pathLst>
                </a:custGeom>
                <a:noFill/>
                <a:ln w="13097">
                  <a:solidFill>
                    <a:srgbClr val="8A1700"/>
                  </a:solidFill>
                </a:ln>
              </p:spPr>
            </p:sp>
            <p:sp>
              <p:nvSpPr>
                <p:cNvPr id="269" name="Freeform 269"/>
                <p:cNvSpPr/>
                <p:nvPr/>
              </p:nvSpPr>
              <p:spPr>
                <a:xfrm>
                  <a:off x="7230604" y="2600325"/>
                  <a:ext cx="75054" cy="77612"/>
                </a:xfrm>
                <a:custGeom>
                  <a:avLst/>
                  <a:gdLst/>
                  <a:ahLst/>
                  <a:cxnLst/>
                  <a:rect l="l" t="t" r="r" b="b"/>
                  <a:pathLst>
                    <a:path w="75054" h="77612">
                      <a:moveTo>
                        <a:pt x="29686" y="0"/>
                      </a:moveTo>
                      <a:lnTo>
                        <a:pt x="0" y="51427"/>
                      </a:lnTo>
                      <a:lnTo>
                        <a:pt x="31415" y="49393"/>
                      </a:lnTo>
                      <a:lnTo>
                        <a:pt x="45368" y="77612"/>
                      </a:lnTo>
                      <a:lnTo>
                        <a:pt x="75054" y="26194"/>
                      </a:lnTo>
                    </a:path>
                  </a:pathLst>
                </a:custGeom>
                <a:noFill/>
                <a:ln w="13097">
                  <a:solidFill>
                    <a:srgbClr val="8A1700"/>
                  </a:solidFill>
                </a:ln>
              </p:spPr>
            </p:sp>
          </p:grpSp>
          <p:sp>
            <p:nvSpPr>
              <p:cNvPr id="271" name="TextBox 271"/>
              <p:cNvSpPr txBox="1"/>
              <p:nvPr/>
            </p:nvSpPr>
            <p:spPr>
              <a:xfrm>
                <a:off x="7085520" y="2845832"/>
                <a:ext cx="440309" cy="126206"/>
              </a:xfrm>
              <a:prstGeom prst="rect">
                <a:avLst/>
              </a:prstGeom>
              <a:noFill/>
              <a:ln>
                <a:noFill/>
              </a:ln>
            </p:spPr>
            <p:txBody>
              <a:bodyPr wrap="none" lIns="0" tIns="0" rIns="0" bIns="0" anchor="t" anchorCtr="0">
                <a:spAutoFit/>
              </a:bodyPr>
              <a:lstStyle/>
              <a:p>
                <a:pPr algn="ctr"/>
                <a:r>
                  <a:rPr lang="zh-CN" sz="640" b="1" dirty="0">
                    <a:solidFill>
                      <a:srgbClr val="520E00"/>
                    </a:solidFill>
                    <a:latin typeface="+mn-lt"/>
                    <a:ea typeface="+mn-ea"/>
                    <a:cs typeface="+mn-cs"/>
                  </a:rPr>
                  <a:t>月月有主题</a:t>
                </a:r>
              </a:p>
            </p:txBody>
          </p:sp>
          <p:grpSp>
            <p:nvGrpSpPr>
              <p:cNvPr id="276" name="Group 276"/>
              <p:cNvGrpSpPr/>
              <p:nvPr/>
            </p:nvGrpSpPr>
            <p:grpSpPr>
              <a:xfrm>
                <a:off x="7698581" y="2478636"/>
                <a:ext cx="128588" cy="128833"/>
                <a:chOff x="7698581" y="2478636"/>
                <a:chExt cx="128588" cy="128833"/>
              </a:xfrm>
            </p:grpSpPr>
            <p:sp>
              <p:nvSpPr>
                <p:cNvPr id="272" name="Freeform 272"/>
                <p:cNvSpPr/>
                <p:nvPr/>
              </p:nvSpPr>
              <p:spPr>
                <a:xfrm>
                  <a:off x="7698581" y="2514600"/>
                  <a:ext cx="128588" cy="28575"/>
                </a:xfrm>
                <a:custGeom>
                  <a:avLst/>
                  <a:gdLst/>
                  <a:ahLst/>
                  <a:cxnLst/>
                  <a:rect l="l" t="t" r="r" b="b"/>
                  <a:pathLst>
                    <a:path w="128588" h="28575">
                      <a:moveTo>
                        <a:pt x="0" y="7144"/>
                      </a:moveTo>
                      <a:cubicBezTo>
                        <a:pt x="0" y="3198"/>
                        <a:pt x="3198" y="0"/>
                        <a:pt x="7144" y="0"/>
                      </a:cubicBezTo>
                      <a:lnTo>
                        <a:pt x="121444" y="0"/>
                      </a:lnTo>
                      <a:cubicBezTo>
                        <a:pt x="125389" y="0"/>
                        <a:pt x="128588" y="3198"/>
                        <a:pt x="128588" y="7144"/>
                      </a:cubicBezTo>
                      <a:lnTo>
                        <a:pt x="128588" y="21431"/>
                      </a:lnTo>
                      <a:cubicBezTo>
                        <a:pt x="128588" y="25377"/>
                        <a:pt x="125389" y="28575"/>
                        <a:pt x="121444" y="28575"/>
                      </a:cubicBezTo>
                      <a:lnTo>
                        <a:pt x="7144" y="28575"/>
                      </a:lnTo>
                      <a:cubicBezTo>
                        <a:pt x="3198" y="28575"/>
                        <a:pt x="0" y="25377"/>
                        <a:pt x="0" y="21431"/>
                      </a:cubicBezTo>
                      <a:lnTo>
                        <a:pt x="0" y="7144"/>
                      </a:lnTo>
                    </a:path>
                  </a:pathLst>
                </a:custGeom>
                <a:noFill/>
                <a:ln w="10716">
                  <a:solidFill>
                    <a:srgbClr val="C02C0A"/>
                  </a:solidFill>
                </a:ln>
              </p:spPr>
            </p:sp>
            <p:sp>
              <p:nvSpPr>
                <p:cNvPr id="273" name="Freeform 273"/>
                <p:cNvSpPr/>
                <p:nvPr/>
              </p:nvSpPr>
              <p:spPr>
                <a:xfrm>
                  <a:off x="7762875" y="2514600"/>
                  <a:ext cx="9525" cy="92869"/>
                </a:xfrm>
                <a:custGeom>
                  <a:avLst/>
                  <a:gdLst/>
                  <a:ahLst/>
                  <a:cxnLst/>
                  <a:rect l="l" t="t" r="r" b="b"/>
                  <a:pathLst>
                    <a:path w="9525" h="92869">
                      <a:moveTo>
                        <a:pt x="0" y="0"/>
                      </a:moveTo>
                      <a:lnTo>
                        <a:pt x="0" y="92869"/>
                      </a:lnTo>
                    </a:path>
                  </a:pathLst>
                </a:custGeom>
                <a:noFill/>
                <a:ln w="10716">
                  <a:solidFill>
                    <a:srgbClr val="C02C0A"/>
                  </a:solidFill>
                </a:ln>
              </p:spPr>
            </p:sp>
            <p:sp>
              <p:nvSpPr>
                <p:cNvPr id="274" name="Freeform 274"/>
                <p:cNvSpPr/>
                <p:nvPr/>
              </p:nvSpPr>
              <p:spPr>
                <a:xfrm>
                  <a:off x="7712869" y="2543175"/>
                  <a:ext cx="100012" cy="64294"/>
                </a:xfrm>
                <a:custGeom>
                  <a:avLst/>
                  <a:gdLst/>
                  <a:ahLst/>
                  <a:cxnLst/>
                  <a:rect l="l" t="t" r="r" b="b"/>
                  <a:pathLst>
                    <a:path w="100012" h="64294">
                      <a:moveTo>
                        <a:pt x="100012" y="0"/>
                      </a:moveTo>
                      <a:lnTo>
                        <a:pt x="100012" y="50006"/>
                      </a:lnTo>
                      <a:cubicBezTo>
                        <a:pt x="100012" y="57897"/>
                        <a:pt x="93616" y="64294"/>
                        <a:pt x="85725" y="64294"/>
                      </a:cubicBezTo>
                      <a:lnTo>
                        <a:pt x="14288" y="64294"/>
                      </a:lnTo>
                      <a:cubicBezTo>
                        <a:pt x="6397" y="64294"/>
                        <a:pt x="0" y="57897"/>
                        <a:pt x="0" y="50006"/>
                      </a:cubicBezTo>
                      <a:lnTo>
                        <a:pt x="0" y="0"/>
                      </a:lnTo>
                    </a:path>
                  </a:pathLst>
                </a:custGeom>
                <a:noFill/>
                <a:ln w="10716">
                  <a:solidFill>
                    <a:srgbClr val="C02C0A"/>
                  </a:solidFill>
                </a:ln>
              </p:spPr>
            </p:sp>
            <p:sp>
              <p:nvSpPr>
                <p:cNvPr id="275" name="Freeform 275"/>
                <p:cNvSpPr/>
                <p:nvPr/>
              </p:nvSpPr>
              <p:spPr>
                <a:xfrm>
                  <a:off x="7712869" y="2478636"/>
                  <a:ext cx="100012" cy="35964"/>
                </a:xfrm>
                <a:custGeom>
                  <a:avLst/>
                  <a:gdLst/>
                  <a:ahLst/>
                  <a:cxnLst/>
                  <a:rect l="l" t="t" r="r" b="b"/>
                  <a:pathLst>
                    <a:path w="100012" h="35964">
                      <a:moveTo>
                        <a:pt x="17859" y="35964"/>
                      </a:moveTo>
                      <a:cubicBezTo>
                        <a:pt x="7996" y="35964"/>
                        <a:pt x="0" y="27969"/>
                        <a:pt x="0" y="18105"/>
                      </a:cubicBezTo>
                      <a:cubicBezTo>
                        <a:pt x="0" y="8242"/>
                        <a:pt x="7996" y="246"/>
                        <a:pt x="17859" y="246"/>
                      </a:cubicBezTo>
                      <a:cubicBezTo>
                        <a:pt x="31963" y="0"/>
                        <a:pt x="44718" y="14172"/>
                        <a:pt x="50006" y="35964"/>
                      </a:cubicBezTo>
                      <a:cubicBezTo>
                        <a:pt x="55295" y="14172"/>
                        <a:pt x="68050" y="0"/>
                        <a:pt x="82153" y="246"/>
                      </a:cubicBezTo>
                      <a:cubicBezTo>
                        <a:pt x="92017" y="246"/>
                        <a:pt x="100012" y="8242"/>
                        <a:pt x="100012" y="18105"/>
                      </a:cubicBezTo>
                      <a:cubicBezTo>
                        <a:pt x="100012" y="27969"/>
                        <a:pt x="92017" y="35964"/>
                        <a:pt x="82153" y="35964"/>
                      </a:cubicBezTo>
                    </a:path>
                  </a:pathLst>
                </a:custGeom>
                <a:noFill/>
                <a:ln w="10716">
                  <a:solidFill>
                    <a:srgbClr val="C02C0A"/>
                  </a:solidFill>
                </a:ln>
              </p:spPr>
            </p:sp>
          </p:grpSp>
          <p:sp>
            <p:nvSpPr>
              <p:cNvPr id="277" name="TextBox 277"/>
              <p:cNvSpPr txBox="1"/>
              <p:nvPr/>
            </p:nvSpPr>
            <p:spPr>
              <a:xfrm>
                <a:off x="7671956" y="2769632"/>
                <a:ext cx="181839"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新春</a:t>
                </a:r>
              </a:p>
            </p:txBody>
          </p:sp>
          <p:grpSp>
            <p:nvGrpSpPr>
              <p:cNvPr id="280" name="Group 280"/>
              <p:cNvGrpSpPr/>
              <p:nvPr/>
            </p:nvGrpSpPr>
            <p:grpSpPr>
              <a:xfrm>
                <a:off x="8053388" y="2493169"/>
                <a:ext cx="142875" cy="100013"/>
                <a:chOff x="8053388" y="2493169"/>
                <a:chExt cx="142875" cy="100013"/>
              </a:xfrm>
            </p:grpSpPr>
            <p:sp>
              <p:nvSpPr>
                <p:cNvPr id="278" name="Freeform 278"/>
                <p:cNvSpPr/>
                <p:nvPr/>
              </p:nvSpPr>
              <p:spPr>
                <a:xfrm>
                  <a:off x="8053388" y="2493169"/>
                  <a:ext cx="142875" cy="71438"/>
                </a:xfrm>
                <a:custGeom>
                  <a:avLst/>
                  <a:gdLst/>
                  <a:ahLst/>
                  <a:cxnLst/>
                  <a:rect l="l" t="t" r="r" b="b"/>
                  <a:pathLst>
                    <a:path w="142875" h="71438">
                      <a:moveTo>
                        <a:pt x="142875" y="28575"/>
                      </a:moveTo>
                      <a:lnTo>
                        <a:pt x="71438" y="0"/>
                      </a:lnTo>
                      <a:lnTo>
                        <a:pt x="0" y="28575"/>
                      </a:lnTo>
                      <a:lnTo>
                        <a:pt x="71438" y="57150"/>
                      </a:lnTo>
                      <a:lnTo>
                        <a:pt x="142875" y="28575"/>
                      </a:lnTo>
                      <a:lnTo>
                        <a:pt x="142875" y="71438"/>
                      </a:lnTo>
                    </a:path>
                  </a:pathLst>
                </a:custGeom>
                <a:noFill/>
                <a:ln w="10716">
                  <a:solidFill>
                    <a:srgbClr val="C02C0A"/>
                  </a:solidFill>
                </a:ln>
              </p:spPr>
            </p:sp>
            <p:sp>
              <p:nvSpPr>
                <p:cNvPr id="279" name="Freeform 279"/>
                <p:cNvSpPr/>
                <p:nvPr/>
              </p:nvSpPr>
              <p:spPr>
                <a:xfrm>
                  <a:off x="8081962" y="2533174"/>
                  <a:ext cx="85725" cy="60008"/>
                </a:xfrm>
                <a:custGeom>
                  <a:avLst/>
                  <a:gdLst/>
                  <a:ahLst/>
                  <a:cxnLst/>
                  <a:rect l="l" t="t" r="r" b="b"/>
                  <a:pathLst>
                    <a:path w="85725" h="60008">
                      <a:moveTo>
                        <a:pt x="0" y="0"/>
                      </a:moveTo>
                      <a:lnTo>
                        <a:pt x="0" y="38576"/>
                      </a:lnTo>
                      <a:cubicBezTo>
                        <a:pt x="0" y="50412"/>
                        <a:pt x="19190" y="60008"/>
                        <a:pt x="42862" y="60008"/>
                      </a:cubicBezTo>
                      <a:cubicBezTo>
                        <a:pt x="66535" y="60008"/>
                        <a:pt x="85725" y="50412"/>
                        <a:pt x="85725" y="38576"/>
                      </a:cubicBezTo>
                      <a:lnTo>
                        <a:pt x="85725" y="0"/>
                      </a:lnTo>
                    </a:path>
                  </a:pathLst>
                </a:custGeom>
                <a:noFill/>
                <a:ln w="10716">
                  <a:solidFill>
                    <a:srgbClr val="C02C0A"/>
                  </a:solidFill>
                </a:ln>
              </p:spPr>
            </p:sp>
          </p:grpSp>
          <p:sp>
            <p:nvSpPr>
              <p:cNvPr id="281" name="TextBox 281"/>
              <p:cNvSpPr txBox="1"/>
              <p:nvPr/>
            </p:nvSpPr>
            <p:spPr>
              <a:xfrm>
                <a:off x="7990827" y="2769632"/>
                <a:ext cx="267995"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开学季</a:t>
                </a:r>
              </a:p>
            </p:txBody>
          </p:sp>
          <p:grpSp>
            <p:nvGrpSpPr>
              <p:cNvPr id="284" name="Group 284"/>
              <p:cNvGrpSpPr/>
              <p:nvPr/>
            </p:nvGrpSpPr>
            <p:grpSpPr>
              <a:xfrm>
                <a:off x="8439150" y="2483269"/>
                <a:ext cx="114300" cy="119813"/>
                <a:chOff x="8439150" y="2483269"/>
                <a:chExt cx="114300" cy="119813"/>
              </a:xfrm>
            </p:grpSpPr>
            <p:sp>
              <p:nvSpPr>
                <p:cNvPr id="282" name="Freeform 282"/>
                <p:cNvSpPr/>
                <p:nvPr/>
              </p:nvSpPr>
              <p:spPr>
                <a:xfrm>
                  <a:off x="8439150" y="2483269"/>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0716">
                  <a:solidFill>
                    <a:srgbClr val="9E331E"/>
                  </a:solidFill>
                </a:ln>
              </p:spPr>
            </p:sp>
            <p:sp>
              <p:nvSpPr>
                <p:cNvPr id="283" name="Freeform 283"/>
                <p:cNvSpPr/>
                <p:nvPr/>
              </p:nvSpPr>
              <p:spPr>
                <a:xfrm>
                  <a:off x="8439150" y="2550319"/>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0716">
                  <a:solidFill>
                    <a:srgbClr val="9E331E"/>
                  </a:solidFill>
                </a:ln>
              </p:spPr>
            </p:sp>
          </p:grpSp>
          <p:sp>
            <p:nvSpPr>
              <p:cNvPr id="285" name="TextBox 285"/>
              <p:cNvSpPr txBox="1"/>
              <p:nvPr/>
            </p:nvSpPr>
            <p:spPr>
              <a:xfrm>
                <a:off x="8410258" y="2731532"/>
                <a:ext cx="17208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60403A"/>
                    </a:solidFill>
                    <a:latin typeface="+mn-lt"/>
                    <a:ea typeface="+mn-ea"/>
                    <a:cs typeface="+mn-cs"/>
                  </a:rPr>
                  <a:t>春日</a:t>
                </a:r>
                <a:br/>
                <a:r>
                  <a:rPr lang="zh-CN" sz="640" dirty="0">
                    <a:solidFill>
                      <a:srgbClr val="60403A"/>
                    </a:solidFill>
                    <a:latin typeface="+mn-lt"/>
                    <a:ea typeface="+mn-ea"/>
                    <a:cs typeface="+mn-cs"/>
                  </a:rPr>
                  <a:t>焕新</a:t>
                </a:r>
              </a:p>
            </p:txBody>
          </p:sp>
          <p:sp>
            <p:nvSpPr>
              <p:cNvPr id="286" name="Freeform 286"/>
              <p:cNvSpPr/>
              <p:nvPr/>
            </p:nvSpPr>
            <p:spPr>
              <a:xfrm>
                <a:off x="8786812" y="2478881"/>
                <a:ext cx="142875" cy="128588"/>
              </a:xfrm>
              <a:custGeom>
                <a:avLst/>
                <a:gdLst/>
                <a:ahLst/>
                <a:cxnLst/>
                <a:rect l="l" t="t" r="r" b="b"/>
                <a:pathLst>
                  <a:path w="142875" h="128588">
                    <a:moveTo>
                      <a:pt x="100012" y="50006"/>
                    </a:moveTo>
                    <a:lnTo>
                      <a:pt x="128588" y="50006"/>
                    </a:lnTo>
                    <a:cubicBezTo>
                      <a:pt x="136478" y="50006"/>
                      <a:pt x="142875" y="56403"/>
                      <a:pt x="142875" y="64294"/>
                    </a:cubicBezTo>
                    <a:cubicBezTo>
                      <a:pt x="142875" y="72185"/>
                      <a:pt x="136478" y="78581"/>
                      <a:pt x="128588" y="78581"/>
                    </a:cubicBezTo>
                    <a:lnTo>
                      <a:pt x="100012" y="78581"/>
                    </a:lnTo>
                    <a:lnTo>
                      <a:pt x="71438" y="128588"/>
                    </a:lnTo>
                    <a:lnTo>
                      <a:pt x="50006" y="128588"/>
                    </a:lnTo>
                    <a:lnTo>
                      <a:pt x="64294" y="78581"/>
                    </a:lnTo>
                    <a:lnTo>
                      <a:pt x="35719" y="78581"/>
                    </a:lnTo>
                    <a:lnTo>
                      <a:pt x="21431" y="92869"/>
                    </a:lnTo>
                    <a:lnTo>
                      <a:pt x="0" y="92869"/>
                    </a:lnTo>
                    <a:lnTo>
                      <a:pt x="14288" y="64294"/>
                    </a:lnTo>
                    <a:lnTo>
                      <a:pt x="0" y="35719"/>
                    </a:lnTo>
                    <a:lnTo>
                      <a:pt x="21431" y="35719"/>
                    </a:lnTo>
                    <a:lnTo>
                      <a:pt x="35719" y="50006"/>
                    </a:lnTo>
                    <a:lnTo>
                      <a:pt x="64294" y="50006"/>
                    </a:lnTo>
                    <a:lnTo>
                      <a:pt x="50006" y="0"/>
                    </a:lnTo>
                    <a:lnTo>
                      <a:pt x="71438" y="0"/>
                    </a:lnTo>
                    <a:lnTo>
                      <a:pt x="100012" y="50006"/>
                    </a:lnTo>
                  </a:path>
                </a:pathLst>
              </a:custGeom>
              <a:noFill/>
              <a:ln w="10716">
                <a:solidFill>
                  <a:srgbClr val="E84E2F"/>
                </a:solidFill>
              </a:ln>
            </p:spPr>
          </p:sp>
          <p:sp>
            <p:nvSpPr>
              <p:cNvPr id="287" name="TextBox 287"/>
              <p:cNvSpPr txBox="1"/>
              <p:nvPr/>
            </p:nvSpPr>
            <p:spPr>
              <a:xfrm>
                <a:off x="8724252" y="2769632"/>
                <a:ext cx="267995"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出游季</a:t>
                </a:r>
              </a:p>
            </p:txBody>
          </p:sp>
          <p:grpSp>
            <p:nvGrpSpPr>
              <p:cNvPr id="290" name="Group 290"/>
              <p:cNvGrpSpPr/>
              <p:nvPr/>
            </p:nvGrpSpPr>
            <p:grpSpPr>
              <a:xfrm>
                <a:off x="9164945" y="2478881"/>
                <a:ext cx="110517" cy="128591"/>
                <a:chOff x="9164945" y="2478881"/>
                <a:chExt cx="110517" cy="128591"/>
              </a:xfrm>
            </p:grpSpPr>
            <p:sp>
              <p:nvSpPr>
                <p:cNvPr id="288" name="Freeform 288"/>
                <p:cNvSpPr/>
                <p:nvPr/>
              </p:nvSpPr>
              <p:spPr>
                <a:xfrm>
                  <a:off x="9164945" y="2514600"/>
                  <a:ext cx="110517" cy="92872"/>
                </a:xfrm>
                <a:custGeom>
                  <a:avLst/>
                  <a:gdLst/>
                  <a:ahLst/>
                  <a:cxnLst/>
                  <a:rect l="l" t="t" r="r" b="b"/>
                  <a:pathLst>
                    <a:path w="110517" h="92872">
                      <a:moveTo>
                        <a:pt x="14757" y="0"/>
                      </a:moveTo>
                      <a:lnTo>
                        <a:pt x="95760" y="0"/>
                      </a:lnTo>
                      <a:cubicBezTo>
                        <a:pt x="99929" y="0"/>
                        <a:pt x="103890" y="1820"/>
                        <a:pt x="106604" y="4984"/>
                      </a:cubicBezTo>
                      <a:cubicBezTo>
                        <a:pt x="109319" y="8148"/>
                        <a:pt x="110517" y="12339"/>
                        <a:pt x="109883" y="16460"/>
                      </a:cubicBezTo>
                      <a:lnTo>
                        <a:pt x="100918" y="74696"/>
                      </a:lnTo>
                      <a:cubicBezTo>
                        <a:pt x="99309" y="85153"/>
                        <a:pt x="90310" y="92872"/>
                        <a:pt x="79729" y="92869"/>
                      </a:cubicBezTo>
                      <a:lnTo>
                        <a:pt x="30780" y="92869"/>
                      </a:lnTo>
                      <a:cubicBezTo>
                        <a:pt x="20202" y="92869"/>
                        <a:pt x="11207" y="85151"/>
                        <a:pt x="9599" y="74696"/>
                      </a:cubicBezTo>
                      <a:lnTo>
                        <a:pt x="634" y="16460"/>
                      </a:lnTo>
                      <a:cubicBezTo>
                        <a:pt x="0" y="12339"/>
                        <a:pt x="1198" y="8148"/>
                        <a:pt x="3912" y="4984"/>
                      </a:cubicBezTo>
                      <a:cubicBezTo>
                        <a:pt x="6627" y="1820"/>
                        <a:pt x="10588" y="0"/>
                        <a:pt x="14757" y="0"/>
                      </a:cubicBezTo>
                    </a:path>
                  </a:pathLst>
                </a:custGeom>
                <a:noFill/>
                <a:ln w="10716">
                  <a:solidFill>
                    <a:srgbClr val="C02C0A"/>
                  </a:solidFill>
                </a:ln>
              </p:spPr>
            </p:sp>
            <p:sp>
              <p:nvSpPr>
                <p:cNvPr id="289" name="Freeform 289"/>
                <p:cNvSpPr/>
                <p:nvPr/>
              </p:nvSpPr>
              <p:spPr>
                <a:xfrm>
                  <a:off x="9198769" y="2478881"/>
                  <a:ext cx="42862" cy="57150"/>
                </a:xfrm>
                <a:custGeom>
                  <a:avLst/>
                  <a:gdLst/>
                  <a:ahLst/>
                  <a:cxnLst/>
                  <a:rect l="l" t="t" r="r" b="b"/>
                  <a:pathLst>
                    <a:path w="42862" h="57150">
                      <a:moveTo>
                        <a:pt x="0" y="57150"/>
                      </a:moveTo>
                      <a:lnTo>
                        <a:pt x="0" y="21431"/>
                      </a:lnTo>
                      <a:cubicBezTo>
                        <a:pt x="0" y="9595"/>
                        <a:pt x="9595" y="0"/>
                        <a:pt x="21431" y="0"/>
                      </a:cubicBezTo>
                      <a:cubicBezTo>
                        <a:pt x="33267" y="0"/>
                        <a:pt x="42862" y="9595"/>
                        <a:pt x="42862" y="21431"/>
                      </a:cubicBezTo>
                      <a:lnTo>
                        <a:pt x="42862" y="57150"/>
                      </a:lnTo>
                    </a:path>
                  </a:pathLst>
                </a:custGeom>
                <a:noFill/>
                <a:ln w="10716">
                  <a:solidFill>
                    <a:srgbClr val="C02C0A"/>
                  </a:solidFill>
                </a:ln>
              </p:spPr>
            </p:sp>
          </p:grpSp>
          <p:sp>
            <p:nvSpPr>
              <p:cNvPr id="291" name="TextBox 291"/>
              <p:cNvSpPr txBox="1"/>
              <p:nvPr/>
            </p:nvSpPr>
            <p:spPr>
              <a:xfrm>
                <a:off x="9086202" y="2769632"/>
                <a:ext cx="267995"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美食节</a:t>
                </a:r>
              </a:p>
            </p:txBody>
          </p:sp>
          <p:grpSp>
            <p:nvGrpSpPr>
              <p:cNvPr id="296" name="Group 296"/>
              <p:cNvGrpSpPr/>
              <p:nvPr/>
            </p:nvGrpSpPr>
            <p:grpSpPr>
              <a:xfrm>
                <a:off x="9534525" y="2478881"/>
                <a:ext cx="114299" cy="128588"/>
                <a:chOff x="9534525" y="2478881"/>
                <a:chExt cx="114299" cy="128588"/>
              </a:xfrm>
            </p:grpSpPr>
            <p:sp>
              <p:nvSpPr>
                <p:cNvPr id="292" name="Freeform 292"/>
                <p:cNvSpPr/>
                <p:nvPr/>
              </p:nvSpPr>
              <p:spPr>
                <a:xfrm>
                  <a:off x="9534525" y="25788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0716">
                  <a:solidFill>
                    <a:srgbClr val="C02C0A"/>
                  </a:solidFill>
                </a:ln>
              </p:spPr>
            </p:sp>
            <p:sp>
              <p:nvSpPr>
                <p:cNvPr id="293" name="Freeform 293"/>
                <p:cNvSpPr/>
                <p:nvPr/>
              </p:nvSpPr>
              <p:spPr>
                <a:xfrm>
                  <a:off x="9613106" y="25788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0716">
                  <a:solidFill>
                    <a:srgbClr val="C02C0A"/>
                  </a:solidFill>
                </a:ln>
              </p:spPr>
            </p:sp>
            <p:sp>
              <p:nvSpPr>
                <p:cNvPr id="294" name="Freeform 294"/>
                <p:cNvSpPr/>
                <p:nvPr/>
              </p:nvSpPr>
              <p:spPr>
                <a:xfrm>
                  <a:off x="9534525" y="2478881"/>
                  <a:ext cx="92869" cy="100012"/>
                </a:xfrm>
                <a:custGeom>
                  <a:avLst/>
                  <a:gdLst/>
                  <a:ahLst/>
                  <a:cxnLst/>
                  <a:rect l="l" t="t" r="r" b="b"/>
                  <a:pathLst>
                    <a:path w="92869" h="100012">
                      <a:moveTo>
                        <a:pt x="92869" y="100012"/>
                      </a:moveTo>
                      <a:lnTo>
                        <a:pt x="14288" y="100012"/>
                      </a:lnTo>
                      <a:lnTo>
                        <a:pt x="14288" y="0"/>
                      </a:lnTo>
                      <a:lnTo>
                        <a:pt x="0" y="0"/>
                      </a:lnTo>
                    </a:path>
                  </a:pathLst>
                </a:custGeom>
                <a:noFill/>
                <a:ln w="10716">
                  <a:solidFill>
                    <a:srgbClr val="C02C0A"/>
                  </a:solidFill>
                </a:ln>
              </p:spPr>
            </p:sp>
            <p:sp>
              <p:nvSpPr>
                <p:cNvPr id="295" name="Freeform 295"/>
                <p:cNvSpPr/>
                <p:nvPr/>
              </p:nvSpPr>
              <p:spPr>
                <a:xfrm>
                  <a:off x="9548812" y="2493169"/>
                  <a:ext cx="100012" cy="57150"/>
                </a:xfrm>
                <a:custGeom>
                  <a:avLst/>
                  <a:gdLst/>
                  <a:ahLst/>
                  <a:cxnLst/>
                  <a:rect l="l" t="t" r="r" b="b"/>
                  <a:pathLst>
                    <a:path w="100012" h="57150">
                      <a:moveTo>
                        <a:pt x="0" y="0"/>
                      </a:moveTo>
                      <a:lnTo>
                        <a:pt x="100012" y="7144"/>
                      </a:lnTo>
                      <a:lnTo>
                        <a:pt x="92869" y="57150"/>
                      </a:lnTo>
                      <a:lnTo>
                        <a:pt x="0" y="57150"/>
                      </a:lnTo>
                    </a:path>
                  </a:pathLst>
                </a:custGeom>
                <a:noFill/>
                <a:ln w="10716">
                  <a:solidFill>
                    <a:srgbClr val="C02C0A"/>
                  </a:solidFill>
                </a:ln>
              </p:spPr>
            </p:sp>
          </p:grpSp>
          <p:sp>
            <p:nvSpPr>
              <p:cNvPr id="297" name="TextBox 297"/>
              <p:cNvSpPr txBox="1"/>
              <p:nvPr/>
            </p:nvSpPr>
            <p:spPr>
              <a:xfrm>
                <a:off x="9492140" y="2769632"/>
                <a:ext cx="199070"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618​</a:t>
                </a:r>
              </a:p>
            </p:txBody>
          </p:sp>
          <p:grpSp>
            <p:nvGrpSpPr>
              <p:cNvPr id="305" name="Group 305"/>
              <p:cNvGrpSpPr/>
              <p:nvPr/>
            </p:nvGrpSpPr>
            <p:grpSpPr>
              <a:xfrm>
                <a:off x="9882188" y="2493169"/>
                <a:ext cx="142875" cy="100012"/>
                <a:chOff x="9882188" y="2493169"/>
                <a:chExt cx="142875" cy="100012"/>
              </a:xfrm>
            </p:grpSpPr>
            <p:sp>
              <p:nvSpPr>
                <p:cNvPr id="298" name="Freeform 298"/>
                <p:cNvSpPr/>
                <p:nvPr/>
              </p:nvSpPr>
              <p:spPr>
                <a:xfrm>
                  <a:off x="9896475" y="25646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0716">
                  <a:solidFill>
                    <a:srgbClr val="E84E2F"/>
                  </a:solidFill>
                </a:ln>
              </p:spPr>
            </p:sp>
            <p:sp>
              <p:nvSpPr>
                <p:cNvPr id="299" name="Freeform 299"/>
                <p:cNvSpPr/>
                <p:nvPr/>
              </p:nvSpPr>
              <p:spPr>
                <a:xfrm>
                  <a:off x="9982200" y="25646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0716">
                  <a:solidFill>
                    <a:srgbClr val="E84E2F"/>
                  </a:solidFill>
                </a:ln>
              </p:spPr>
            </p:sp>
            <p:sp>
              <p:nvSpPr>
                <p:cNvPr id="300" name="Freeform 300"/>
                <p:cNvSpPr/>
                <p:nvPr/>
              </p:nvSpPr>
              <p:spPr>
                <a:xfrm>
                  <a:off x="9882188" y="2493169"/>
                  <a:ext cx="142875" cy="85725"/>
                </a:xfrm>
                <a:custGeom>
                  <a:avLst/>
                  <a:gdLst/>
                  <a:ahLst/>
                  <a:cxnLst/>
                  <a:rect l="l" t="t" r="r" b="b"/>
                  <a:pathLst>
                    <a:path w="142875" h="85725">
                      <a:moveTo>
                        <a:pt x="14288" y="85725"/>
                      </a:moveTo>
                      <a:lnTo>
                        <a:pt x="0" y="85725"/>
                      </a:lnTo>
                      <a:lnTo>
                        <a:pt x="0" y="7144"/>
                      </a:lnTo>
                      <a:cubicBezTo>
                        <a:pt x="0" y="3198"/>
                        <a:pt x="3198" y="0"/>
                        <a:pt x="7144" y="0"/>
                      </a:cubicBezTo>
                      <a:lnTo>
                        <a:pt x="107156" y="0"/>
                      </a:lnTo>
                      <a:cubicBezTo>
                        <a:pt x="126883" y="0"/>
                        <a:pt x="142875" y="22389"/>
                        <a:pt x="142875" y="50006"/>
                      </a:cubicBezTo>
                      <a:lnTo>
                        <a:pt x="142875" y="85725"/>
                      </a:lnTo>
                      <a:lnTo>
                        <a:pt x="128588" y="85725"/>
                      </a:lnTo>
                      <a:moveTo>
                        <a:pt x="100012" y="85725"/>
                      </a:moveTo>
                      <a:lnTo>
                        <a:pt x="42862" y="85725"/>
                      </a:lnTo>
                    </a:path>
                  </a:pathLst>
                </a:custGeom>
                <a:noFill/>
                <a:ln w="10716">
                  <a:solidFill>
                    <a:srgbClr val="E84E2F"/>
                  </a:solidFill>
                </a:ln>
              </p:spPr>
            </p:sp>
            <p:sp>
              <p:nvSpPr>
                <p:cNvPr id="301" name="Freeform 301"/>
                <p:cNvSpPr/>
                <p:nvPr/>
              </p:nvSpPr>
              <p:spPr>
                <a:xfrm>
                  <a:off x="9982200" y="2493169"/>
                  <a:ext cx="42862" cy="50006"/>
                </a:xfrm>
                <a:custGeom>
                  <a:avLst/>
                  <a:gdLst/>
                  <a:ahLst/>
                  <a:cxnLst/>
                  <a:rect l="l" t="t" r="r" b="b"/>
                  <a:pathLst>
                    <a:path w="42862" h="50006">
                      <a:moveTo>
                        <a:pt x="0" y="0"/>
                      </a:moveTo>
                      <a:lnTo>
                        <a:pt x="10716" y="50006"/>
                      </a:lnTo>
                      <a:lnTo>
                        <a:pt x="42862" y="50006"/>
                      </a:lnTo>
                    </a:path>
                  </a:pathLst>
                </a:custGeom>
                <a:noFill/>
                <a:ln w="10716">
                  <a:solidFill>
                    <a:srgbClr val="E84E2F"/>
                  </a:solidFill>
                </a:ln>
              </p:spPr>
            </p:sp>
            <p:sp>
              <p:nvSpPr>
                <p:cNvPr id="302" name="Freeform 302"/>
                <p:cNvSpPr/>
                <p:nvPr/>
              </p:nvSpPr>
              <p:spPr>
                <a:xfrm>
                  <a:off x="9882188" y="2528888"/>
                  <a:ext cx="107156" cy="9525"/>
                </a:xfrm>
                <a:custGeom>
                  <a:avLst/>
                  <a:gdLst/>
                  <a:ahLst/>
                  <a:cxnLst/>
                  <a:rect l="l" t="t" r="r" b="b"/>
                  <a:pathLst>
                    <a:path w="107156" h="9525">
                      <a:moveTo>
                        <a:pt x="0" y="0"/>
                      </a:moveTo>
                      <a:lnTo>
                        <a:pt x="107156" y="0"/>
                      </a:lnTo>
                    </a:path>
                  </a:pathLst>
                </a:custGeom>
                <a:noFill/>
                <a:ln w="10716">
                  <a:solidFill>
                    <a:srgbClr val="E84E2F"/>
                  </a:solidFill>
                </a:ln>
              </p:spPr>
            </p:sp>
            <p:sp>
              <p:nvSpPr>
                <p:cNvPr id="303" name="Freeform 303"/>
                <p:cNvSpPr/>
                <p:nvPr/>
              </p:nvSpPr>
              <p:spPr>
                <a:xfrm>
                  <a:off x="9917906" y="2493169"/>
                  <a:ext cx="9525" cy="35719"/>
                </a:xfrm>
                <a:custGeom>
                  <a:avLst/>
                  <a:gdLst/>
                  <a:ahLst/>
                  <a:cxnLst/>
                  <a:rect l="l" t="t" r="r" b="b"/>
                  <a:pathLst>
                    <a:path w="9525" h="35719">
                      <a:moveTo>
                        <a:pt x="0" y="0"/>
                      </a:moveTo>
                      <a:lnTo>
                        <a:pt x="0" y="35719"/>
                      </a:lnTo>
                    </a:path>
                  </a:pathLst>
                </a:custGeom>
                <a:noFill/>
                <a:ln w="10716">
                  <a:solidFill>
                    <a:srgbClr val="E84E2F"/>
                  </a:solidFill>
                </a:ln>
              </p:spPr>
            </p:sp>
            <p:sp>
              <p:nvSpPr>
                <p:cNvPr id="304" name="Freeform 304"/>
                <p:cNvSpPr/>
                <p:nvPr/>
              </p:nvSpPr>
              <p:spPr>
                <a:xfrm>
                  <a:off x="9953625" y="2493169"/>
                  <a:ext cx="9525" cy="35719"/>
                </a:xfrm>
                <a:custGeom>
                  <a:avLst/>
                  <a:gdLst/>
                  <a:ahLst/>
                  <a:cxnLst/>
                  <a:rect l="l" t="t" r="r" b="b"/>
                  <a:pathLst>
                    <a:path w="9525" h="35719">
                      <a:moveTo>
                        <a:pt x="0" y="0"/>
                      </a:moveTo>
                      <a:lnTo>
                        <a:pt x="0" y="35719"/>
                      </a:lnTo>
                    </a:path>
                  </a:pathLst>
                </a:custGeom>
                <a:noFill/>
                <a:ln w="10716">
                  <a:solidFill>
                    <a:srgbClr val="E84E2F"/>
                  </a:solidFill>
                </a:ln>
              </p:spPr>
            </p:sp>
          </p:grpSp>
          <p:sp>
            <p:nvSpPr>
              <p:cNvPr id="306" name="TextBox 306"/>
              <p:cNvSpPr txBox="1"/>
              <p:nvPr/>
            </p:nvSpPr>
            <p:spPr>
              <a:xfrm>
                <a:off x="9819627" y="2769632"/>
                <a:ext cx="267995"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暑期游</a:t>
                </a:r>
              </a:p>
            </p:txBody>
          </p:sp>
          <p:grpSp>
            <p:nvGrpSpPr>
              <p:cNvPr id="310" name="Group 310"/>
              <p:cNvGrpSpPr/>
              <p:nvPr/>
            </p:nvGrpSpPr>
            <p:grpSpPr>
              <a:xfrm>
                <a:off x="10251281" y="2478881"/>
                <a:ext cx="128588" cy="128588"/>
                <a:chOff x="10251281" y="2478881"/>
                <a:chExt cx="128588" cy="128588"/>
              </a:xfrm>
            </p:grpSpPr>
            <p:sp>
              <p:nvSpPr>
                <p:cNvPr id="307" name="Freeform 307"/>
                <p:cNvSpPr/>
                <p:nvPr/>
              </p:nvSpPr>
              <p:spPr>
                <a:xfrm>
                  <a:off x="10251281" y="24788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0716">
                  <a:solidFill>
                    <a:srgbClr val="9E331E"/>
                  </a:solidFill>
                </a:ln>
              </p:spPr>
            </p:sp>
            <p:sp>
              <p:nvSpPr>
                <p:cNvPr id="308" name="Freeform 308"/>
                <p:cNvSpPr/>
                <p:nvPr/>
              </p:nvSpPr>
              <p:spPr>
                <a:xfrm>
                  <a:off x="10265569" y="25431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0716">
                  <a:solidFill>
                    <a:srgbClr val="9E331E"/>
                  </a:solidFill>
                </a:ln>
              </p:spPr>
            </p:sp>
            <p:sp>
              <p:nvSpPr>
                <p:cNvPr id="309" name="Freeform 309"/>
                <p:cNvSpPr/>
                <p:nvPr/>
              </p:nvSpPr>
              <p:spPr>
                <a:xfrm>
                  <a:off x="10294144" y="25503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0716">
                  <a:solidFill>
                    <a:srgbClr val="9E331E"/>
                  </a:solidFill>
                </a:ln>
              </p:spPr>
            </p:sp>
          </p:grpSp>
          <p:sp>
            <p:nvSpPr>
              <p:cNvPr id="311" name="TextBox 311"/>
              <p:cNvSpPr txBox="1"/>
              <p:nvPr/>
            </p:nvSpPr>
            <p:spPr>
              <a:xfrm>
                <a:off x="10181577" y="2769632"/>
                <a:ext cx="267995"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家装季</a:t>
                </a:r>
              </a:p>
            </p:txBody>
          </p:sp>
          <p:grpSp>
            <p:nvGrpSpPr>
              <p:cNvPr id="314" name="Group 314"/>
              <p:cNvGrpSpPr/>
              <p:nvPr/>
            </p:nvGrpSpPr>
            <p:grpSpPr>
              <a:xfrm>
                <a:off x="10615612" y="2493169"/>
                <a:ext cx="142875" cy="100013"/>
                <a:chOff x="10615612" y="2493169"/>
                <a:chExt cx="142875" cy="100013"/>
              </a:xfrm>
            </p:grpSpPr>
            <p:sp>
              <p:nvSpPr>
                <p:cNvPr id="312" name="Freeform 312"/>
                <p:cNvSpPr/>
                <p:nvPr/>
              </p:nvSpPr>
              <p:spPr>
                <a:xfrm>
                  <a:off x="10615612" y="2493169"/>
                  <a:ext cx="142875" cy="71438"/>
                </a:xfrm>
                <a:custGeom>
                  <a:avLst/>
                  <a:gdLst/>
                  <a:ahLst/>
                  <a:cxnLst/>
                  <a:rect l="l" t="t" r="r" b="b"/>
                  <a:pathLst>
                    <a:path w="142875" h="71438">
                      <a:moveTo>
                        <a:pt x="142875" y="28575"/>
                      </a:moveTo>
                      <a:lnTo>
                        <a:pt x="71438" y="0"/>
                      </a:lnTo>
                      <a:lnTo>
                        <a:pt x="0" y="28575"/>
                      </a:lnTo>
                      <a:lnTo>
                        <a:pt x="71438" y="57150"/>
                      </a:lnTo>
                      <a:lnTo>
                        <a:pt x="142875" y="28575"/>
                      </a:lnTo>
                      <a:lnTo>
                        <a:pt x="142875" y="71438"/>
                      </a:lnTo>
                    </a:path>
                  </a:pathLst>
                </a:custGeom>
                <a:noFill/>
                <a:ln w="10716">
                  <a:solidFill>
                    <a:srgbClr val="E84E2F"/>
                  </a:solidFill>
                </a:ln>
              </p:spPr>
            </p:sp>
            <p:sp>
              <p:nvSpPr>
                <p:cNvPr id="313" name="Freeform 313"/>
                <p:cNvSpPr/>
                <p:nvPr/>
              </p:nvSpPr>
              <p:spPr>
                <a:xfrm>
                  <a:off x="10644188" y="2533174"/>
                  <a:ext cx="85725" cy="60008"/>
                </a:xfrm>
                <a:custGeom>
                  <a:avLst/>
                  <a:gdLst/>
                  <a:ahLst/>
                  <a:cxnLst/>
                  <a:rect l="l" t="t" r="r" b="b"/>
                  <a:pathLst>
                    <a:path w="85725" h="60008">
                      <a:moveTo>
                        <a:pt x="0" y="0"/>
                      </a:moveTo>
                      <a:lnTo>
                        <a:pt x="0" y="38576"/>
                      </a:lnTo>
                      <a:cubicBezTo>
                        <a:pt x="0" y="50412"/>
                        <a:pt x="19190" y="60008"/>
                        <a:pt x="42862" y="60008"/>
                      </a:cubicBezTo>
                      <a:cubicBezTo>
                        <a:pt x="66535" y="60008"/>
                        <a:pt x="85725" y="50412"/>
                        <a:pt x="85725" y="38576"/>
                      </a:cubicBezTo>
                      <a:lnTo>
                        <a:pt x="85725" y="0"/>
                      </a:lnTo>
                    </a:path>
                  </a:pathLst>
                </a:custGeom>
                <a:noFill/>
                <a:ln w="10716">
                  <a:solidFill>
                    <a:srgbClr val="E84E2F"/>
                  </a:solidFill>
                </a:ln>
              </p:spPr>
            </p:sp>
          </p:grpSp>
          <p:sp>
            <p:nvSpPr>
              <p:cNvPr id="315" name="TextBox 315"/>
              <p:cNvSpPr txBox="1"/>
              <p:nvPr/>
            </p:nvSpPr>
            <p:spPr>
              <a:xfrm>
                <a:off x="10553052" y="2769632"/>
                <a:ext cx="267995"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开学季</a:t>
                </a:r>
              </a:p>
            </p:txBody>
          </p:sp>
          <p:grpSp>
            <p:nvGrpSpPr>
              <p:cNvPr id="318" name="Group 318"/>
              <p:cNvGrpSpPr/>
              <p:nvPr/>
            </p:nvGrpSpPr>
            <p:grpSpPr>
              <a:xfrm>
                <a:off x="10998994" y="2479555"/>
                <a:ext cx="100012" cy="127913"/>
                <a:chOff x="10998994" y="2479555"/>
                <a:chExt cx="100012" cy="127913"/>
              </a:xfrm>
            </p:grpSpPr>
            <p:sp>
              <p:nvSpPr>
                <p:cNvPr id="316" name="Freeform 316"/>
                <p:cNvSpPr/>
                <p:nvPr/>
              </p:nvSpPr>
              <p:spPr>
                <a:xfrm>
                  <a:off x="10998994" y="2479555"/>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0716">
                  <a:solidFill>
                    <a:srgbClr val="C02C0A"/>
                  </a:solidFill>
                </a:ln>
              </p:spPr>
            </p:sp>
            <p:sp>
              <p:nvSpPr>
                <p:cNvPr id="317" name="Freeform 317"/>
                <p:cNvSpPr/>
                <p:nvPr/>
              </p:nvSpPr>
              <p:spPr>
                <a:xfrm>
                  <a:off x="10998994" y="2557462"/>
                  <a:ext cx="9525" cy="50006"/>
                </a:xfrm>
                <a:custGeom>
                  <a:avLst/>
                  <a:gdLst/>
                  <a:ahLst/>
                  <a:cxnLst/>
                  <a:rect l="l" t="t" r="r" b="b"/>
                  <a:pathLst>
                    <a:path w="9525" h="50006">
                      <a:moveTo>
                        <a:pt x="0" y="50006"/>
                      </a:moveTo>
                      <a:lnTo>
                        <a:pt x="0" y="0"/>
                      </a:lnTo>
                    </a:path>
                  </a:pathLst>
                </a:custGeom>
                <a:noFill/>
                <a:ln w="10716">
                  <a:solidFill>
                    <a:srgbClr val="C02C0A"/>
                  </a:solidFill>
                </a:ln>
              </p:spPr>
            </p:sp>
          </p:grpSp>
          <p:sp>
            <p:nvSpPr>
              <p:cNvPr id="319" name="TextBox 319"/>
              <p:cNvSpPr txBox="1"/>
              <p:nvPr/>
            </p:nvSpPr>
            <p:spPr>
              <a:xfrm>
                <a:off x="10915002" y="2769632"/>
                <a:ext cx="267995"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国庆季</a:t>
                </a:r>
              </a:p>
            </p:txBody>
          </p:sp>
          <p:sp>
            <p:nvSpPr>
              <p:cNvPr id="320" name="Freeform 320"/>
              <p:cNvSpPr/>
              <p:nvPr/>
            </p:nvSpPr>
            <p:spPr>
              <a:xfrm>
                <a:off x="11344183" y="2484192"/>
                <a:ext cx="133405" cy="116133"/>
              </a:xfrm>
              <a:custGeom>
                <a:avLst/>
                <a:gdLst/>
                <a:ahLst/>
                <a:cxnLst/>
                <a:rect l="l" t="t" r="r" b="b"/>
                <a:pathLst>
                  <a:path w="133405" h="116133">
                    <a:moveTo>
                      <a:pt x="120346" y="63069"/>
                    </a:moveTo>
                    <a:lnTo>
                      <a:pt x="66767" y="116133"/>
                    </a:lnTo>
                    <a:lnTo>
                      <a:pt x="13189" y="63069"/>
                    </a:lnTo>
                    <a:cubicBezTo>
                      <a:pt x="3555" y="53693"/>
                      <a:pt x="0" y="39702"/>
                      <a:pt x="3992" y="26865"/>
                    </a:cubicBezTo>
                    <a:cubicBezTo>
                      <a:pt x="7983" y="14027"/>
                      <a:pt x="18845" y="4518"/>
                      <a:pt x="32097" y="2259"/>
                    </a:cubicBezTo>
                    <a:cubicBezTo>
                      <a:pt x="45350" y="0"/>
                      <a:pt x="58748" y="5373"/>
                      <a:pt x="66767" y="16163"/>
                    </a:cubicBezTo>
                    <a:cubicBezTo>
                      <a:pt x="74820" y="5453"/>
                      <a:pt x="88190" y="151"/>
                      <a:pt x="101395" y="2431"/>
                    </a:cubicBezTo>
                    <a:cubicBezTo>
                      <a:pt x="114599" y="4712"/>
                      <a:pt x="125416" y="14191"/>
                      <a:pt x="129411" y="26981"/>
                    </a:cubicBezTo>
                    <a:cubicBezTo>
                      <a:pt x="133405" y="39772"/>
                      <a:pt x="129905" y="53722"/>
                      <a:pt x="120346" y="63112"/>
                    </a:cubicBezTo>
                  </a:path>
                </a:pathLst>
              </a:custGeom>
              <a:noFill/>
              <a:ln w="10716">
                <a:solidFill>
                  <a:srgbClr val="C02C0A"/>
                </a:solidFill>
              </a:ln>
            </p:spPr>
          </p:sp>
          <p:sp>
            <p:nvSpPr>
              <p:cNvPr id="321" name="TextBox 321"/>
              <p:cNvSpPr txBox="1"/>
              <p:nvPr/>
            </p:nvSpPr>
            <p:spPr>
              <a:xfrm>
                <a:off x="11276952" y="2769632"/>
                <a:ext cx="267995"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暖冬季</a:t>
                </a:r>
              </a:p>
            </p:txBody>
          </p:sp>
          <p:grpSp>
            <p:nvGrpSpPr>
              <p:cNvPr id="326" name="Group 326"/>
              <p:cNvGrpSpPr/>
              <p:nvPr/>
            </p:nvGrpSpPr>
            <p:grpSpPr>
              <a:xfrm>
                <a:off x="11718131" y="2478636"/>
                <a:ext cx="128588" cy="128833"/>
                <a:chOff x="11718131" y="2478636"/>
                <a:chExt cx="128588" cy="128833"/>
              </a:xfrm>
            </p:grpSpPr>
            <p:sp>
              <p:nvSpPr>
                <p:cNvPr id="322" name="Freeform 322"/>
                <p:cNvSpPr/>
                <p:nvPr/>
              </p:nvSpPr>
              <p:spPr>
                <a:xfrm>
                  <a:off x="11718131" y="2514600"/>
                  <a:ext cx="128588" cy="28575"/>
                </a:xfrm>
                <a:custGeom>
                  <a:avLst/>
                  <a:gdLst/>
                  <a:ahLst/>
                  <a:cxnLst/>
                  <a:rect l="l" t="t" r="r" b="b"/>
                  <a:pathLst>
                    <a:path w="128588" h="28575">
                      <a:moveTo>
                        <a:pt x="0" y="7144"/>
                      </a:moveTo>
                      <a:cubicBezTo>
                        <a:pt x="0" y="3198"/>
                        <a:pt x="3198" y="0"/>
                        <a:pt x="7144" y="0"/>
                      </a:cubicBezTo>
                      <a:lnTo>
                        <a:pt x="121444" y="0"/>
                      </a:lnTo>
                      <a:cubicBezTo>
                        <a:pt x="125389" y="0"/>
                        <a:pt x="128588" y="3198"/>
                        <a:pt x="128588" y="7144"/>
                      </a:cubicBezTo>
                      <a:lnTo>
                        <a:pt x="128588" y="21431"/>
                      </a:lnTo>
                      <a:cubicBezTo>
                        <a:pt x="128588" y="25377"/>
                        <a:pt x="125389" y="28575"/>
                        <a:pt x="121444" y="28575"/>
                      </a:cubicBezTo>
                      <a:lnTo>
                        <a:pt x="7144" y="28575"/>
                      </a:lnTo>
                      <a:cubicBezTo>
                        <a:pt x="3198" y="28575"/>
                        <a:pt x="0" y="25377"/>
                        <a:pt x="0" y="21431"/>
                      </a:cubicBezTo>
                      <a:lnTo>
                        <a:pt x="0" y="7144"/>
                      </a:lnTo>
                    </a:path>
                  </a:pathLst>
                </a:custGeom>
                <a:noFill/>
                <a:ln w="10716">
                  <a:solidFill>
                    <a:srgbClr val="C02C0A"/>
                  </a:solidFill>
                </a:ln>
              </p:spPr>
            </p:sp>
            <p:sp>
              <p:nvSpPr>
                <p:cNvPr id="323" name="Freeform 323"/>
                <p:cNvSpPr/>
                <p:nvPr/>
              </p:nvSpPr>
              <p:spPr>
                <a:xfrm>
                  <a:off x="11782425" y="2514600"/>
                  <a:ext cx="9525" cy="92869"/>
                </a:xfrm>
                <a:custGeom>
                  <a:avLst/>
                  <a:gdLst/>
                  <a:ahLst/>
                  <a:cxnLst/>
                  <a:rect l="l" t="t" r="r" b="b"/>
                  <a:pathLst>
                    <a:path w="9525" h="92869">
                      <a:moveTo>
                        <a:pt x="0" y="0"/>
                      </a:moveTo>
                      <a:lnTo>
                        <a:pt x="0" y="92869"/>
                      </a:lnTo>
                    </a:path>
                  </a:pathLst>
                </a:custGeom>
                <a:noFill/>
                <a:ln w="10716">
                  <a:solidFill>
                    <a:srgbClr val="C02C0A"/>
                  </a:solidFill>
                </a:ln>
              </p:spPr>
            </p:sp>
            <p:sp>
              <p:nvSpPr>
                <p:cNvPr id="324" name="Freeform 324"/>
                <p:cNvSpPr/>
                <p:nvPr/>
              </p:nvSpPr>
              <p:spPr>
                <a:xfrm>
                  <a:off x="11732419" y="2543175"/>
                  <a:ext cx="100012" cy="64294"/>
                </a:xfrm>
                <a:custGeom>
                  <a:avLst/>
                  <a:gdLst/>
                  <a:ahLst/>
                  <a:cxnLst/>
                  <a:rect l="l" t="t" r="r" b="b"/>
                  <a:pathLst>
                    <a:path w="100012" h="64294">
                      <a:moveTo>
                        <a:pt x="100012" y="0"/>
                      </a:moveTo>
                      <a:lnTo>
                        <a:pt x="100012" y="50006"/>
                      </a:lnTo>
                      <a:cubicBezTo>
                        <a:pt x="100012" y="57897"/>
                        <a:pt x="93616" y="64294"/>
                        <a:pt x="85725" y="64294"/>
                      </a:cubicBezTo>
                      <a:lnTo>
                        <a:pt x="14288" y="64294"/>
                      </a:lnTo>
                      <a:cubicBezTo>
                        <a:pt x="6397" y="64294"/>
                        <a:pt x="0" y="57897"/>
                        <a:pt x="0" y="50006"/>
                      </a:cubicBezTo>
                      <a:lnTo>
                        <a:pt x="0" y="0"/>
                      </a:lnTo>
                    </a:path>
                  </a:pathLst>
                </a:custGeom>
                <a:noFill/>
                <a:ln w="10716">
                  <a:solidFill>
                    <a:srgbClr val="C02C0A"/>
                  </a:solidFill>
                </a:ln>
              </p:spPr>
            </p:sp>
            <p:sp>
              <p:nvSpPr>
                <p:cNvPr id="325" name="Freeform 325"/>
                <p:cNvSpPr/>
                <p:nvPr/>
              </p:nvSpPr>
              <p:spPr>
                <a:xfrm>
                  <a:off x="11732419" y="2478636"/>
                  <a:ext cx="100012" cy="35964"/>
                </a:xfrm>
                <a:custGeom>
                  <a:avLst/>
                  <a:gdLst/>
                  <a:ahLst/>
                  <a:cxnLst/>
                  <a:rect l="l" t="t" r="r" b="b"/>
                  <a:pathLst>
                    <a:path w="100012" h="35964">
                      <a:moveTo>
                        <a:pt x="17859" y="35964"/>
                      </a:moveTo>
                      <a:cubicBezTo>
                        <a:pt x="7996" y="35964"/>
                        <a:pt x="0" y="27969"/>
                        <a:pt x="0" y="18105"/>
                      </a:cubicBezTo>
                      <a:cubicBezTo>
                        <a:pt x="0" y="8242"/>
                        <a:pt x="7996" y="246"/>
                        <a:pt x="17859" y="246"/>
                      </a:cubicBezTo>
                      <a:cubicBezTo>
                        <a:pt x="31963" y="0"/>
                        <a:pt x="44718" y="14172"/>
                        <a:pt x="50006" y="35964"/>
                      </a:cubicBezTo>
                      <a:cubicBezTo>
                        <a:pt x="55295" y="14172"/>
                        <a:pt x="68050" y="0"/>
                        <a:pt x="82153" y="246"/>
                      </a:cubicBezTo>
                      <a:cubicBezTo>
                        <a:pt x="92017" y="246"/>
                        <a:pt x="100012" y="8242"/>
                        <a:pt x="100012" y="18105"/>
                      </a:cubicBezTo>
                      <a:cubicBezTo>
                        <a:pt x="100012" y="27969"/>
                        <a:pt x="92017" y="35964"/>
                        <a:pt x="82153" y="35964"/>
                      </a:cubicBezTo>
                    </a:path>
                  </a:pathLst>
                </a:custGeom>
                <a:noFill/>
                <a:ln w="10716">
                  <a:solidFill>
                    <a:srgbClr val="C02C0A"/>
                  </a:solidFill>
                </a:ln>
              </p:spPr>
            </p:sp>
          </p:grpSp>
          <p:sp>
            <p:nvSpPr>
              <p:cNvPr id="327" name="TextBox 327"/>
              <p:cNvSpPr txBox="1"/>
              <p:nvPr/>
            </p:nvSpPr>
            <p:spPr>
              <a:xfrm>
                <a:off x="11648427" y="2769632"/>
                <a:ext cx="267995" cy="126206"/>
              </a:xfrm>
              <a:prstGeom prst="rect">
                <a:avLst/>
              </a:prstGeom>
              <a:noFill/>
              <a:ln>
                <a:noFill/>
              </a:ln>
            </p:spPr>
            <p:txBody>
              <a:bodyPr wrap="none" lIns="0" tIns="0" rIns="0" bIns="0" anchor="t" anchorCtr="0">
                <a:spAutoFit/>
              </a:bodyPr>
              <a:lstStyle/>
              <a:p>
                <a:pPr algn="ctr"/>
                <a:r>
                  <a:rPr lang="zh-CN" sz="640" dirty="0">
                    <a:solidFill>
                      <a:srgbClr val="60403A"/>
                    </a:solidFill>
                    <a:latin typeface="+mn-lt"/>
                    <a:ea typeface="+mn-ea"/>
                    <a:cs typeface="+mn-cs"/>
                  </a:rPr>
                  <a:t>年货节</a:t>
                </a:r>
              </a:p>
            </p:txBody>
          </p:sp>
        </p:grpSp>
        <p:grpSp>
          <p:nvGrpSpPr>
            <p:cNvPr id="348" name="cal-quarterly"/>
            <p:cNvGrpSpPr/>
            <p:nvPr/>
          </p:nvGrpSpPr>
          <p:grpSpPr>
            <a:xfrm>
              <a:off x="7085520" y="3333750"/>
              <a:ext cx="4570431" cy="762000"/>
              <a:chOff x="7085520" y="3333750"/>
              <a:chExt cx="4570431" cy="762000"/>
            </a:xfrm>
          </p:grpSpPr>
          <p:grpSp>
            <p:nvGrpSpPr>
              <p:cNvPr id="331" name="Group 331"/>
              <p:cNvGrpSpPr/>
              <p:nvPr/>
            </p:nvGrpSpPr>
            <p:grpSpPr>
              <a:xfrm>
                <a:off x="7224292" y="3474244"/>
                <a:ext cx="159965" cy="159964"/>
                <a:chOff x="7224292" y="3474244"/>
                <a:chExt cx="159965" cy="159964"/>
              </a:xfrm>
            </p:grpSpPr>
            <p:sp>
              <p:nvSpPr>
                <p:cNvPr id="329" name="Freeform 329"/>
                <p:cNvSpPr/>
                <p:nvPr/>
              </p:nvSpPr>
              <p:spPr>
                <a:xfrm>
                  <a:off x="7288213" y="3474244"/>
                  <a:ext cx="96044" cy="96044"/>
                </a:xfrm>
                <a:custGeom>
                  <a:avLst/>
                  <a:gdLst/>
                  <a:ahLst/>
                  <a:cxnLst/>
                  <a:rect l="l" t="t" r="r" b="b"/>
                  <a:pathLst>
                    <a:path w="96044" h="96044">
                      <a:moveTo>
                        <a:pt x="0" y="96044"/>
                      </a:moveTo>
                      <a:lnTo>
                        <a:pt x="96044" y="0"/>
                      </a:lnTo>
                    </a:path>
                  </a:pathLst>
                </a:custGeom>
                <a:noFill/>
                <a:ln w="13097">
                  <a:solidFill>
                    <a:srgbClr val="8A1700"/>
                  </a:solidFill>
                </a:ln>
              </p:spPr>
            </p:sp>
            <p:sp>
              <p:nvSpPr>
                <p:cNvPr id="330" name="Freeform 330"/>
                <p:cNvSpPr/>
                <p:nvPr/>
              </p:nvSpPr>
              <p:spPr>
                <a:xfrm>
                  <a:off x="7224292" y="3474244"/>
                  <a:ext cx="159964" cy="159964"/>
                </a:xfrm>
                <a:custGeom>
                  <a:avLst/>
                  <a:gdLst/>
                  <a:ahLst/>
                  <a:cxnLst/>
                  <a:rect l="l" t="t" r="r" b="b"/>
                  <a:pathLst>
                    <a:path w="159964" h="159964">
                      <a:moveTo>
                        <a:pt x="159964" y="0"/>
                      </a:moveTo>
                      <a:lnTo>
                        <a:pt x="103211" y="157163"/>
                      </a:lnTo>
                      <a:cubicBezTo>
                        <a:pt x="102429" y="158870"/>
                        <a:pt x="100723" y="159964"/>
                        <a:pt x="98845" y="159964"/>
                      </a:cubicBezTo>
                      <a:cubicBezTo>
                        <a:pt x="96968" y="159964"/>
                        <a:pt x="95262" y="158870"/>
                        <a:pt x="94480" y="157163"/>
                      </a:cubicBezTo>
                      <a:lnTo>
                        <a:pt x="63920" y="96044"/>
                      </a:lnTo>
                      <a:lnTo>
                        <a:pt x="2802" y="65484"/>
                      </a:lnTo>
                      <a:cubicBezTo>
                        <a:pt x="1095" y="64702"/>
                        <a:pt x="0" y="62997"/>
                        <a:pt x="0" y="61119"/>
                      </a:cubicBezTo>
                      <a:cubicBezTo>
                        <a:pt x="0" y="59241"/>
                        <a:pt x="1095" y="57535"/>
                        <a:pt x="2802" y="56753"/>
                      </a:cubicBezTo>
                      <a:lnTo>
                        <a:pt x="159964" y="0"/>
                      </a:lnTo>
                    </a:path>
                  </a:pathLst>
                </a:custGeom>
                <a:noFill/>
                <a:ln w="13097">
                  <a:solidFill>
                    <a:srgbClr val="8A1700"/>
                  </a:solidFill>
                </a:ln>
              </p:spPr>
            </p:sp>
          </p:grpSp>
          <p:sp>
            <p:nvSpPr>
              <p:cNvPr id="332" name="TextBox 332"/>
              <p:cNvSpPr txBox="1"/>
              <p:nvPr/>
            </p:nvSpPr>
            <p:spPr>
              <a:xfrm>
                <a:off x="7085520" y="3798332"/>
                <a:ext cx="440309" cy="126206"/>
              </a:xfrm>
              <a:prstGeom prst="rect">
                <a:avLst/>
              </a:prstGeom>
              <a:noFill/>
              <a:ln>
                <a:noFill/>
              </a:ln>
            </p:spPr>
            <p:txBody>
              <a:bodyPr wrap="none" lIns="0" tIns="0" rIns="0" bIns="0" anchor="t" anchorCtr="0">
                <a:spAutoFit/>
              </a:bodyPr>
              <a:lstStyle/>
              <a:p>
                <a:pPr algn="ctr"/>
                <a:r>
                  <a:rPr lang="zh-CN" sz="640" b="1" dirty="0">
                    <a:solidFill>
                      <a:srgbClr val="520E00"/>
                    </a:solidFill>
                    <a:latin typeface="+mn-lt"/>
                    <a:ea typeface="+mn-ea"/>
                    <a:cs typeface="+mn-cs"/>
                  </a:rPr>
                  <a:t>季度有大促</a:t>
                </a:r>
              </a:p>
            </p:txBody>
          </p:sp>
          <p:sp>
            <p:nvSpPr>
              <p:cNvPr id="333" name="Line 333"/>
              <p:cNvSpPr/>
              <p:nvPr/>
            </p:nvSpPr>
            <p:spPr>
              <a:xfrm>
                <a:off x="8677275" y="3333750"/>
                <a:ext cx="9525" cy="762000"/>
              </a:xfrm>
              <a:custGeom>
                <a:avLst/>
                <a:gdLst/>
                <a:ahLst/>
                <a:cxnLst/>
                <a:rect l="l" t="t" r="r" b="b"/>
                <a:pathLst>
                  <a:path w="9525" h="762000">
                    <a:moveTo>
                      <a:pt x="0" y="0"/>
                    </a:moveTo>
                    <a:lnTo>
                      <a:pt x="0" y="762000"/>
                    </a:lnTo>
                  </a:path>
                </a:pathLst>
              </a:custGeom>
              <a:noFill/>
              <a:ln w="9525">
                <a:solidFill>
                  <a:srgbClr val="DCE6F5"/>
                </a:solidFill>
                <a:custDash>
                  <a:ds d="300000" sp="300000"/>
                </a:custDash>
              </a:ln>
            </p:spPr>
          </p:sp>
          <p:sp>
            <p:nvSpPr>
              <p:cNvPr id="334" name="Line 334"/>
              <p:cNvSpPr/>
              <p:nvPr/>
            </p:nvSpPr>
            <p:spPr>
              <a:xfrm>
                <a:off x="9772650" y="3333750"/>
                <a:ext cx="9525" cy="762000"/>
              </a:xfrm>
              <a:custGeom>
                <a:avLst/>
                <a:gdLst/>
                <a:ahLst/>
                <a:cxnLst/>
                <a:rect l="l" t="t" r="r" b="b"/>
                <a:pathLst>
                  <a:path w="9525" h="762000">
                    <a:moveTo>
                      <a:pt x="0" y="0"/>
                    </a:moveTo>
                    <a:lnTo>
                      <a:pt x="0" y="762000"/>
                    </a:lnTo>
                  </a:path>
                </a:pathLst>
              </a:custGeom>
              <a:noFill/>
              <a:ln w="9525">
                <a:solidFill>
                  <a:srgbClr val="DCE6F5"/>
                </a:solidFill>
                <a:custDash>
                  <a:ds d="300000" sp="300000"/>
                </a:custDash>
              </a:ln>
            </p:spPr>
          </p:sp>
          <p:sp>
            <p:nvSpPr>
              <p:cNvPr id="335" name="Line 335"/>
              <p:cNvSpPr/>
              <p:nvPr/>
            </p:nvSpPr>
            <p:spPr>
              <a:xfrm>
                <a:off x="10868025" y="3333750"/>
                <a:ext cx="9525" cy="762000"/>
              </a:xfrm>
              <a:custGeom>
                <a:avLst/>
                <a:gdLst/>
                <a:ahLst/>
                <a:cxnLst/>
                <a:rect l="l" t="t" r="r" b="b"/>
                <a:pathLst>
                  <a:path w="9525" h="762000">
                    <a:moveTo>
                      <a:pt x="0" y="0"/>
                    </a:moveTo>
                    <a:lnTo>
                      <a:pt x="0" y="762000"/>
                    </a:lnTo>
                  </a:path>
                </a:pathLst>
              </a:custGeom>
              <a:noFill/>
              <a:ln w="9525">
                <a:solidFill>
                  <a:srgbClr val="DCE6F5"/>
                </a:solidFill>
                <a:custDash>
                  <a:ds d="300000" sp="300000"/>
                </a:custDash>
              </a:ln>
            </p:spPr>
          </p:sp>
          <p:grpSp>
            <p:nvGrpSpPr>
              <p:cNvPr id="338" name="Group 338"/>
              <p:cNvGrpSpPr/>
              <p:nvPr/>
            </p:nvGrpSpPr>
            <p:grpSpPr>
              <a:xfrm>
                <a:off x="8046244" y="3509169"/>
                <a:ext cx="157163" cy="87313"/>
                <a:chOff x="8046244" y="3509169"/>
                <a:chExt cx="157163" cy="87313"/>
              </a:xfrm>
            </p:grpSpPr>
            <p:sp>
              <p:nvSpPr>
                <p:cNvPr id="336" name="Freeform 336"/>
                <p:cNvSpPr/>
                <p:nvPr/>
              </p:nvSpPr>
              <p:spPr>
                <a:xfrm>
                  <a:off x="8046244" y="3509169"/>
                  <a:ext cx="157163" cy="87313"/>
                </a:xfrm>
                <a:custGeom>
                  <a:avLst/>
                  <a:gdLst/>
                  <a:ahLst/>
                  <a:cxnLst/>
                  <a:rect l="l" t="t" r="r" b="b"/>
                  <a:pathLst>
                    <a:path w="157163" h="87313">
                      <a:moveTo>
                        <a:pt x="0" y="87313"/>
                      </a:moveTo>
                      <a:lnTo>
                        <a:pt x="52388" y="34925"/>
                      </a:lnTo>
                      <a:lnTo>
                        <a:pt x="87313" y="69850"/>
                      </a:lnTo>
                      <a:lnTo>
                        <a:pt x="157163" y="0"/>
                      </a:lnTo>
                    </a:path>
                  </a:pathLst>
                </a:custGeom>
                <a:noFill/>
                <a:ln w="13097">
                  <a:solidFill>
                    <a:srgbClr val="C02C0A"/>
                  </a:solidFill>
                </a:ln>
              </p:spPr>
            </p:sp>
            <p:sp>
              <p:nvSpPr>
                <p:cNvPr id="337" name="Freeform 337"/>
                <p:cNvSpPr/>
                <p:nvPr/>
              </p:nvSpPr>
              <p:spPr>
                <a:xfrm>
                  <a:off x="8142288" y="3509169"/>
                  <a:ext cx="61119" cy="61119"/>
                </a:xfrm>
                <a:custGeom>
                  <a:avLst/>
                  <a:gdLst/>
                  <a:ahLst/>
                  <a:cxnLst/>
                  <a:rect l="l" t="t" r="r" b="b"/>
                  <a:pathLst>
                    <a:path w="61119" h="61119">
                      <a:moveTo>
                        <a:pt x="0" y="0"/>
                      </a:moveTo>
                      <a:lnTo>
                        <a:pt x="61119" y="0"/>
                      </a:lnTo>
                      <a:lnTo>
                        <a:pt x="61119" y="61119"/>
                      </a:lnTo>
                    </a:path>
                  </a:pathLst>
                </a:custGeom>
                <a:noFill/>
                <a:ln w="13097">
                  <a:solidFill>
                    <a:srgbClr val="C02C0A"/>
                  </a:solidFill>
                </a:ln>
              </p:spPr>
            </p:sp>
          </p:grpSp>
          <p:sp>
            <p:nvSpPr>
              <p:cNvPr id="339" name="TextBox 339"/>
              <p:cNvSpPr txBox="1"/>
              <p:nvPr/>
            </p:nvSpPr>
            <p:spPr>
              <a:xfrm>
                <a:off x="7879825" y="3816191"/>
                <a:ext cx="490001"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Q1 大促​</a:t>
                </a:r>
              </a:p>
            </p:txBody>
          </p:sp>
          <p:grpSp>
            <p:nvGrpSpPr>
              <p:cNvPr id="342" name="Group 342"/>
              <p:cNvGrpSpPr/>
              <p:nvPr/>
            </p:nvGrpSpPr>
            <p:grpSpPr>
              <a:xfrm>
                <a:off x="9141619" y="3509169"/>
                <a:ext cx="157163" cy="87313"/>
                <a:chOff x="9141619" y="3509169"/>
                <a:chExt cx="157163" cy="87313"/>
              </a:xfrm>
            </p:grpSpPr>
            <p:sp>
              <p:nvSpPr>
                <p:cNvPr id="340" name="Freeform 340"/>
                <p:cNvSpPr/>
                <p:nvPr/>
              </p:nvSpPr>
              <p:spPr>
                <a:xfrm>
                  <a:off x="9141619" y="3509169"/>
                  <a:ext cx="157163" cy="87313"/>
                </a:xfrm>
                <a:custGeom>
                  <a:avLst/>
                  <a:gdLst/>
                  <a:ahLst/>
                  <a:cxnLst/>
                  <a:rect l="l" t="t" r="r" b="b"/>
                  <a:pathLst>
                    <a:path w="157163" h="87313">
                      <a:moveTo>
                        <a:pt x="0" y="87313"/>
                      </a:moveTo>
                      <a:lnTo>
                        <a:pt x="52388" y="34925"/>
                      </a:lnTo>
                      <a:lnTo>
                        <a:pt x="87313" y="69850"/>
                      </a:lnTo>
                      <a:lnTo>
                        <a:pt x="157163" y="0"/>
                      </a:lnTo>
                    </a:path>
                  </a:pathLst>
                </a:custGeom>
                <a:noFill/>
                <a:ln w="13097">
                  <a:solidFill>
                    <a:srgbClr val="C02C0A"/>
                  </a:solidFill>
                </a:ln>
              </p:spPr>
            </p:sp>
            <p:sp>
              <p:nvSpPr>
                <p:cNvPr id="341" name="Freeform 341"/>
                <p:cNvSpPr/>
                <p:nvPr/>
              </p:nvSpPr>
              <p:spPr>
                <a:xfrm>
                  <a:off x="9237663" y="3509169"/>
                  <a:ext cx="61119" cy="61119"/>
                </a:xfrm>
                <a:custGeom>
                  <a:avLst/>
                  <a:gdLst/>
                  <a:ahLst/>
                  <a:cxnLst/>
                  <a:rect l="l" t="t" r="r" b="b"/>
                  <a:pathLst>
                    <a:path w="61119" h="61119">
                      <a:moveTo>
                        <a:pt x="0" y="0"/>
                      </a:moveTo>
                      <a:lnTo>
                        <a:pt x="61119" y="0"/>
                      </a:lnTo>
                      <a:lnTo>
                        <a:pt x="61119" y="61119"/>
                      </a:lnTo>
                    </a:path>
                  </a:pathLst>
                </a:custGeom>
                <a:noFill/>
                <a:ln w="13097">
                  <a:solidFill>
                    <a:srgbClr val="C02C0A"/>
                  </a:solidFill>
                </a:ln>
              </p:spPr>
            </p:sp>
          </p:grpSp>
          <p:sp>
            <p:nvSpPr>
              <p:cNvPr id="343" name="TextBox 343"/>
              <p:cNvSpPr txBox="1"/>
              <p:nvPr/>
            </p:nvSpPr>
            <p:spPr>
              <a:xfrm>
                <a:off x="8975200" y="3816191"/>
                <a:ext cx="490001"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Q2 大促​</a:t>
                </a:r>
              </a:p>
            </p:txBody>
          </p:sp>
          <p:grpSp>
            <p:nvGrpSpPr>
              <p:cNvPr id="346" name="Group 346"/>
              <p:cNvGrpSpPr/>
              <p:nvPr/>
            </p:nvGrpSpPr>
            <p:grpSpPr>
              <a:xfrm>
                <a:off x="11332369" y="3509169"/>
                <a:ext cx="157163" cy="87313"/>
                <a:chOff x="11332369" y="3509169"/>
                <a:chExt cx="157163" cy="87313"/>
              </a:xfrm>
            </p:grpSpPr>
            <p:sp>
              <p:nvSpPr>
                <p:cNvPr id="344" name="Freeform 344"/>
                <p:cNvSpPr/>
                <p:nvPr/>
              </p:nvSpPr>
              <p:spPr>
                <a:xfrm>
                  <a:off x="11332369" y="3509169"/>
                  <a:ext cx="157163" cy="87313"/>
                </a:xfrm>
                <a:custGeom>
                  <a:avLst/>
                  <a:gdLst/>
                  <a:ahLst/>
                  <a:cxnLst/>
                  <a:rect l="l" t="t" r="r" b="b"/>
                  <a:pathLst>
                    <a:path w="157163" h="87313">
                      <a:moveTo>
                        <a:pt x="0" y="87313"/>
                      </a:moveTo>
                      <a:lnTo>
                        <a:pt x="52388" y="34925"/>
                      </a:lnTo>
                      <a:lnTo>
                        <a:pt x="87313" y="69850"/>
                      </a:lnTo>
                      <a:lnTo>
                        <a:pt x="157163" y="0"/>
                      </a:lnTo>
                    </a:path>
                  </a:pathLst>
                </a:custGeom>
                <a:noFill/>
                <a:ln w="13097">
                  <a:solidFill>
                    <a:srgbClr val="C02C0A"/>
                  </a:solidFill>
                </a:ln>
              </p:spPr>
            </p:sp>
            <p:sp>
              <p:nvSpPr>
                <p:cNvPr id="345" name="Freeform 345"/>
                <p:cNvSpPr/>
                <p:nvPr/>
              </p:nvSpPr>
              <p:spPr>
                <a:xfrm>
                  <a:off x="11428413" y="3509169"/>
                  <a:ext cx="61119" cy="61119"/>
                </a:xfrm>
                <a:custGeom>
                  <a:avLst/>
                  <a:gdLst/>
                  <a:ahLst/>
                  <a:cxnLst/>
                  <a:rect l="l" t="t" r="r" b="b"/>
                  <a:pathLst>
                    <a:path w="61119" h="61119">
                      <a:moveTo>
                        <a:pt x="0" y="0"/>
                      </a:moveTo>
                      <a:lnTo>
                        <a:pt x="61119" y="0"/>
                      </a:lnTo>
                      <a:lnTo>
                        <a:pt x="61119" y="61119"/>
                      </a:lnTo>
                    </a:path>
                  </a:pathLst>
                </a:custGeom>
                <a:noFill/>
                <a:ln w="13097">
                  <a:solidFill>
                    <a:srgbClr val="C02C0A"/>
                  </a:solidFill>
                </a:ln>
              </p:spPr>
            </p:sp>
          </p:grpSp>
          <p:sp>
            <p:nvSpPr>
              <p:cNvPr id="347" name="TextBox 347"/>
              <p:cNvSpPr txBox="1"/>
              <p:nvPr/>
            </p:nvSpPr>
            <p:spPr>
              <a:xfrm>
                <a:off x="11165950" y="3816191"/>
                <a:ext cx="490001"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Q4 大促​</a:t>
                </a:r>
              </a:p>
            </p:txBody>
          </p:sp>
        </p:grpSp>
      </p:grpSp>
      <p:grpSp>
        <p:nvGrpSpPr>
          <p:cNvPr id="390" name="kpi-section"/>
          <p:cNvGrpSpPr/>
          <p:nvPr/>
        </p:nvGrpSpPr>
        <p:grpSpPr>
          <a:xfrm>
            <a:off x="228600" y="4572000"/>
            <a:ext cx="11734800" cy="1562100"/>
            <a:chOff x="228600" y="4572000"/>
            <a:chExt cx="11734800" cy="1562100"/>
          </a:xfrm>
        </p:grpSpPr>
        <p:sp>
          <p:nvSpPr>
            <p:cNvPr id="350" name="Line 350"/>
            <p:cNvSpPr/>
            <p:nvPr/>
          </p:nvSpPr>
          <p:spPr>
            <a:xfrm>
              <a:off x="228600" y="4572000"/>
              <a:ext cx="11734800" cy="9525"/>
            </a:xfrm>
            <a:custGeom>
              <a:avLst/>
              <a:gdLst/>
              <a:ahLst/>
              <a:cxnLst/>
              <a:rect l="l" t="t" r="r" b="b"/>
              <a:pathLst>
                <a:path w="11734800" h="9525">
                  <a:moveTo>
                    <a:pt x="0" y="0"/>
                  </a:moveTo>
                  <a:lnTo>
                    <a:pt x="11734800" y="0"/>
                  </a:lnTo>
                </a:path>
              </a:pathLst>
            </a:custGeom>
            <a:noFill/>
            <a:ln w="9525">
              <a:solidFill>
                <a:srgbClr val="C9D5EA"/>
              </a:solidFill>
            </a:ln>
          </p:spPr>
        </p:sp>
        <p:sp>
          <p:nvSpPr>
            <p:cNvPr id="351" name="TextBox 351"/>
            <p:cNvSpPr txBox="1"/>
            <p:nvPr/>
          </p:nvSpPr>
          <p:spPr>
            <a:xfrm>
              <a:off x="4394454" y="4649152"/>
              <a:ext cx="3403092"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核心指标：活跃天数、消费频次、场景覆盖、户均消费</a:t>
              </a:r>
            </a:p>
          </p:txBody>
        </p:sp>
        <p:grpSp>
          <p:nvGrpSpPr>
            <p:cNvPr id="363" name="kpi-1"/>
            <p:cNvGrpSpPr/>
            <p:nvPr/>
          </p:nvGrpSpPr>
          <p:grpSpPr>
            <a:xfrm>
              <a:off x="228600" y="4876800"/>
              <a:ext cx="2762250" cy="1257300"/>
              <a:chOff x="228600" y="4876800"/>
              <a:chExt cx="2762250" cy="1257300"/>
            </a:xfrm>
          </p:grpSpPr>
          <p:sp>
            <p:nvSpPr>
              <p:cNvPr id="352" name="Rectangle 352"/>
              <p:cNvSpPr/>
              <p:nvPr/>
            </p:nvSpPr>
            <p:spPr>
              <a:xfrm>
                <a:off x="228600" y="4876800"/>
                <a:ext cx="2762250" cy="1257300"/>
              </a:xfrm>
              <a:prstGeom prst="roundRect">
                <a:avLst>
                  <a:gd name="adj" fmla="val 6061"/>
                </a:avLst>
              </a:prstGeom>
              <a:solidFill>
                <a:srgbClr val="F5F8FE"/>
              </a:solidFill>
              <a:ln w="9525">
                <a:solidFill>
                  <a:srgbClr val="C9D5EA"/>
                </a:solidFill>
              </a:ln>
            </p:spPr>
          </p:sp>
          <p:sp>
            <p:nvSpPr>
              <p:cNvPr id="353" name="Ellipse 353"/>
              <p:cNvSpPr/>
              <p:nvPr/>
            </p:nvSpPr>
            <p:spPr>
              <a:xfrm>
                <a:off x="438150" y="5143500"/>
                <a:ext cx="723900" cy="723900"/>
              </a:xfrm>
              <a:prstGeom prst="ellipse">
                <a:avLst/>
              </a:prstGeom>
              <a:solidFill>
                <a:srgbClr val="FFFFFF"/>
              </a:solidFill>
              <a:ln w="14288">
                <a:solidFill>
                  <a:srgbClr val="E84E2F"/>
                </a:solidFill>
              </a:ln>
            </p:spPr>
          </p:sp>
          <p:grpSp>
            <p:nvGrpSpPr>
              <p:cNvPr id="360" name="Group 360"/>
              <p:cNvGrpSpPr/>
              <p:nvPr/>
            </p:nvGrpSpPr>
            <p:grpSpPr>
              <a:xfrm>
                <a:off x="660400" y="5348287"/>
                <a:ext cx="279399" cy="314324"/>
                <a:chOff x="660400" y="5348287"/>
                <a:chExt cx="279399" cy="314324"/>
              </a:xfrm>
            </p:grpSpPr>
            <p:sp>
              <p:nvSpPr>
                <p:cNvPr id="354" name="Freeform 354"/>
                <p:cNvSpPr/>
                <p:nvPr/>
              </p:nvSpPr>
              <p:spPr>
                <a:xfrm>
                  <a:off x="660400" y="5383212"/>
                  <a:ext cx="279399" cy="279399"/>
                </a:xfrm>
                <a:custGeom>
                  <a:avLst/>
                  <a:gdLst/>
                  <a:ahLst/>
                  <a:cxnLst/>
                  <a:rect l="l" t="t" r="r" b="b"/>
                  <a:pathLst>
                    <a:path w="279399" h="279399">
                      <a:moveTo>
                        <a:pt x="0" y="34925"/>
                      </a:moveTo>
                      <a:cubicBezTo>
                        <a:pt x="0" y="15636"/>
                        <a:pt x="15636" y="0"/>
                        <a:pt x="34925" y="0"/>
                      </a:cubicBezTo>
                      <a:lnTo>
                        <a:pt x="244475" y="0"/>
                      </a:lnTo>
                      <a:cubicBezTo>
                        <a:pt x="263763" y="0"/>
                        <a:pt x="279399" y="15636"/>
                        <a:pt x="279399" y="34925"/>
                      </a:cubicBezTo>
                      <a:lnTo>
                        <a:pt x="279399" y="244475"/>
                      </a:lnTo>
                      <a:cubicBezTo>
                        <a:pt x="279399" y="263763"/>
                        <a:pt x="263763" y="279399"/>
                        <a:pt x="244475" y="279399"/>
                      </a:cubicBezTo>
                      <a:lnTo>
                        <a:pt x="34925" y="279399"/>
                      </a:lnTo>
                      <a:cubicBezTo>
                        <a:pt x="15636" y="279399"/>
                        <a:pt x="0" y="263763"/>
                        <a:pt x="0" y="244475"/>
                      </a:cubicBezTo>
                      <a:lnTo>
                        <a:pt x="0" y="34925"/>
                      </a:lnTo>
                    </a:path>
                  </a:pathLst>
                </a:custGeom>
                <a:noFill/>
                <a:ln w="26194">
                  <a:solidFill>
                    <a:srgbClr val="8A1700"/>
                  </a:solidFill>
                </a:ln>
              </p:spPr>
            </p:sp>
            <p:sp>
              <p:nvSpPr>
                <p:cNvPr id="355" name="Freeform 355"/>
                <p:cNvSpPr/>
                <p:nvPr/>
              </p:nvSpPr>
              <p:spPr>
                <a:xfrm>
                  <a:off x="869949" y="5348287"/>
                  <a:ext cx="9525" cy="69850"/>
                </a:xfrm>
                <a:custGeom>
                  <a:avLst/>
                  <a:gdLst/>
                  <a:ahLst/>
                  <a:cxnLst/>
                  <a:rect l="l" t="t" r="r" b="b"/>
                  <a:pathLst>
                    <a:path w="9525" h="69850">
                      <a:moveTo>
                        <a:pt x="0" y="0"/>
                      </a:moveTo>
                      <a:lnTo>
                        <a:pt x="0" y="69850"/>
                      </a:lnTo>
                    </a:path>
                  </a:pathLst>
                </a:custGeom>
                <a:noFill/>
                <a:ln w="26194">
                  <a:solidFill>
                    <a:srgbClr val="8A1700"/>
                  </a:solidFill>
                </a:ln>
              </p:spPr>
            </p:sp>
            <p:sp>
              <p:nvSpPr>
                <p:cNvPr id="356" name="Freeform 356"/>
                <p:cNvSpPr/>
                <p:nvPr/>
              </p:nvSpPr>
              <p:spPr>
                <a:xfrm>
                  <a:off x="730250" y="5348287"/>
                  <a:ext cx="9525" cy="69850"/>
                </a:xfrm>
                <a:custGeom>
                  <a:avLst/>
                  <a:gdLst/>
                  <a:ahLst/>
                  <a:cxnLst/>
                  <a:rect l="l" t="t" r="r" b="b"/>
                  <a:pathLst>
                    <a:path w="9525" h="69850">
                      <a:moveTo>
                        <a:pt x="0" y="0"/>
                      </a:moveTo>
                      <a:lnTo>
                        <a:pt x="0" y="69850"/>
                      </a:lnTo>
                    </a:path>
                  </a:pathLst>
                </a:custGeom>
                <a:noFill/>
                <a:ln w="26194">
                  <a:solidFill>
                    <a:srgbClr val="8A1700"/>
                  </a:solidFill>
                </a:ln>
              </p:spPr>
            </p:sp>
            <p:sp>
              <p:nvSpPr>
                <p:cNvPr id="357" name="Freeform 357"/>
                <p:cNvSpPr/>
                <p:nvPr/>
              </p:nvSpPr>
              <p:spPr>
                <a:xfrm>
                  <a:off x="660400" y="5487987"/>
                  <a:ext cx="279399" cy="9525"/>
                </a:xfrm>
                <a:custGeom>
                  <a:avLst/>
                  <a:gdLst/>
                  <a:ahLst/>
                  <a:cxnLst/>
                  <a:rect l="l" t="t" r="r" b="b"/>
                  <a:pathLst>
                    <a:path w="279399" h="9525">
                      <a:moveTo>
                        <a:pt x="0" y="0"/>
                      </a:moveTo>
                      <a:lnTo>
                        <a:pt x="279399" y="0"/>
                      </a:lnTo>
                    </a:path>
                  </a:pathLst>
                </a:custGeom>
                <a:noFill/>
                <a:ln w="26194">
                  <a:solidFill>
                    <a:srgbClr val="8A1700"/>
                  </a:solidFill>
                </a:ln>
              </p:spPr>
            </p:sp>
            <p:sp>
              <p:nvSpPr>
                <p:cNvPr id="358" name="Freeform 358"/>
                <p:cNvSpPr/>
                <p:nvPr/>
              </p:nvSpPr>
              <p:spPr>
                <a:xfrm>
                  <a:off x="782637" y="5557837"/>
                  <a:ext cx="17462" cy="9525"/>
                </a:xfrm>
                <a:custGeom>
                  <a:avLst/>
                  <a:gdLst/>
                  <a:ahLst/>
                  <a:cxnLst/>
                  <a:rect l="l" t="t" r="r" b="b"/>
                  <a:pathLst>
                    <a:path w="17462" h="9525">
                      <a:moveTo>
                        <a:pt x="0" y="0"/>
                      </a:moveTo>
                      <a:lnTo>
                        <a:pt x="17462" y="0"/>
                      </a:lnTo>
                    </a:path>
                  </a:pathLst>
                </a:custGeom>
                <a:noFill/>
                <a:ln w="26194">
                  <a:solidFill>
                    <a:srgbClr val="8A1700"/>
                  </a:solidFill>
                </a:ln>
              </p:spPr>
            </p:sp>
            <p:sp>
              <p:nvSpPr>
                <p:cNvPr id="359" name="Freeform 359"/>
                <p:cNvSpPr/>
                <p:nvPr/>
              </p:nvSpPr>
              <p:spPr>
                <a:xfrm>
                  <a:off x="800100" y="5557837"/>
                  <a:ext cx="9525" cy="52387"/>
                </a:xfrm>
                <a:custGeom>
                  <a:avLst/>
                  <a:gdLst/>
                  <a:ahLst/>
                  <a:cxnLst/>
                  <a:rect l="l" t="t" r="r" b="b"/>
                  <a:pathLst>
                    <a:path w="9525" h="52387">
                      <a:moveTo>
                        <a:pt x="0" y="0"/>
                      </a:moveTo>
                      <a:lnTo>
                        <a:pt x="0" y="52387"/>
                      </a:lnTo>
                    </a:path>
                  </a:pathLst>
                </a:custGeom>
                <a:noFill/>
                <a:ln w="26194">
                  <a:solidFill>
                    <a:srgbClr val="8A1700"/>
                  </a:solidFill>
                </a:ln>
              </p:spPr>
            </p:sp>
          </p:grpSp>
          <p:sp>
            <p:nvSpPr>
              <p:cNvPr id="361" name="TextBox 361"/>
              <p:cNvSpPr txBox="1"/>
              <p:nvPr/>
            </p:nvSpPr>
            <p:spPr>
              <a:xfrm>
                <a:off x="1365885" y="5231606"/>
                <a:ext cx="614528"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活跃天数</a:t>
                </a:r>
              </a:p>
            </p:txBody>
          </p:sp>
          <p:sp>
            <p:nvSpPr>
              <p:cNvPr id="362" name="TextBox 362"/>
              <p:cNvSpPr txBox="1"/>
              <p:nvPr/>
            </p:nvSpPr>
            <p:spPr>
              <a:xfrm>
                <a:off x="1358646" y="5515928"/>
                <a:ext cx="1229158" cy="498729"/>
              </a:xfrm>
              <a:prstGeom prst="rect">
                <a:avLst/>
              </a:prstGeom>
              <a:noFill/>
              <a:ln>
                <a:noFill/>
              </a:ln>
            </p:spPr>
            <p:txBody>
              <a:bodyPr wrap="none" lIns="0" tIns="0" rIns="0" bIns="0" anchor="t" anchorCtr="0">
                <a:spAutoFit/>
              </a:bodyPr>
              <a:lstStyle/>
              <a:p>
                <a:pPr algn="l"/>
                <a:r>
                  <a:rPr lang="zh-CN" sz="2550" b="1" dirty="0">
                    <a:solidFill>
                      <a:srgbClr val="C02C0A"/>
                    </a:solidFill>
                    <a:latin typeface="+mn-lt"/>
                    <a:ea typeface="+mn-ea"/>
                    <a:cs typeface="+mn-cs"/>
                  </a:rPr>
                  <a:t>+25%</a:t>
                </a:r>
                <a:r>
                  <a:rPr lang="zh-CN" sz="1800" b="1" dirty="0">
                    <a:solidFill>
                      <a:srgbClr val="C02C0A"/>
                    </a:solidFill>
                    <a:latin typeface="+mn-lt"/>
                    <a:ea typeface="+mn-ea"/>
                    <a:cs typeface="+mn-cs"/>
                  </a:rPr>
                  <a:t>↑</a:t>
                </a:r>
                <a:r>
                  <a:rPr lang="zh-CN" sz="2550" b="1" dirty="0">
                    <a:solidFill>
                      <a:srgbClr val="C02C0A"/>
                    </a:solidFill>
                    <a:latin typeface="+mn-lt"/>
                    <a:ea typeface="+mn-ea"/>
                    <a:cs typeface="+mn-cs"/>
                  </a:rPr>
                  <a:t>​</a:t>
                </a:r>
              </a:p>
            </p:txBody>
          </p:sp>
        </p:grpSp>
        <p:grpSp>
          <p:nvGrpSpPr>
            <p:cNvPr id="373" name="kpi-2"/>
            <p:cNvGrpSpPr/>
            <p:nvPr/>
          </p:nvGrpSpPr>
          <p:grpSpPr>
            <a:xfrm>
              <a:off x="3162300" y="4876800"/>
              <a:ext cx="2762250" cy="1257300"/>
              <a:chOff x="3162300" y="4876800"/>
              <a:chExt cx="2762250" cy="1257300"/>
            </a:xfrm>
          </p:grpSpPr>
          <p:sp>
            <p:nvSpPr>
              <p:cNvPr id="364" name="Rectangle 364"/>
              <p:cNvSpPr/>
              <p:nvPr/>
            </p:nvSpPr>
            <p:spPr>
              <a:xfrm>
                <a:off x="3162300" y="4876800"/>
                <a:ext cx="2762250" cy="1257300"/>
              </a:xfrm>
              <a:prstGeom prst="roundRect">
                <a:avLst>
                  <a:gd name="adj" fmla="val 6061"/>
                </a:avLst>
              </a:prstGeom>
              <a:solidFill>
                <a:srgbClr val="F5F8FE"/>
              </a:solidFill>
              <a:ln w="9525">
                <a:solidFill>
                  <a:srgbClr val="C9D5EA"/>
                </a:solidFill>
              </a:ln>
            </p:spPr>
          </p:sp>
          <p:sp>
            <p:nvSpPr>
              <p:cNvPr id="365" name="Ellipse 365"/>
              <p:cNvSpPr/>
              <p:nvPr/>
            </p:nvSpPr>
            <p:spPr>
              <a:xfrm>
                <a:off x="3371850" y="5143500"/>
                <a:ext cx="723900" cy="723900"/>
              </a:xfrm>
              <a:prstGeom prst="ellipse">
                <a:avLst/>
              </a:prstGeom>
              <a:solidFill>
                <a:srgbClr val="FFFFFF"/>
              </a:solidFill>
              <a:ln w="14288">
                <a:solidFill>
                  <a:srgbClr val="E84E2F"/>
                </a:solidFill>
              </a:ln>
            </p:spPr>
          </p:sp>
          <p:grpSp>
            <p:nvGrpSpPr>
              <p:cNvPr id="370" name="Group 370"/>
              <p:cNvGrpSpPr/>
              <p:nvPr/>
            </p:nvGrpSpPr>
            <p:grpSpPr>
              <a:xfrm>
                <a:off x="3576637" y="5365750"/>
                <a:ext cx="314325" cy="288924"/>
                <a:chOff x="3576637" y="5365750"/>
                <a:chExt cx="314325" cy="288924"/>
              </a:xfrm>
            </p:grpSpPr>
            <p:sp>
              <p:nvSpPr>
                <p:cNvPr id="366" name="Freeform 366"/>
                <p:cNvSpPr/>
                <p:nvPr/>
              </p:nvSpPr>
              <p:spPr>
                <a:xfrm>
                  <a:off x="3576637" y="5505450"/>
                  <a:ext cx="104775" cy="139700"/>
                </a:xfrm>
                <a:custGeom>
                  <a:avLst/>
                  <a:gdLst/>
                  <a:ahLst/>
                  <a:cxnLst/>
                  <a:rect l="l" t="t" r="r" b="b"/>
                  <a:pathLst>
                    <a:path w="104775" h="139700">
                      <a:moveTo>
                        <a:pt x="0" y="17462"/>
                      </a:moveTo>
                      <a:cubicBezTo>
                        <a:pt x="0" y="7818"/>
                        <a:pt x="7818" y="0"/>
                        <a:pt x="17462" y="0"/>
                      </a:cubicBezTo>
                      <a:lnTo>
                        <a:pt x="87312" y="0"/>
                      </a:lnTo>
                      <a:cubicBezTo>
                        <a:pt x="96957" y="0"/>
                        <a:pt x="104775" y="7818"/>
                        <a:pt x="104775" y="17462"/>
                      </a:cubicBezTo>
                      <a:lnTo>
                        <a:pt x="104775" y="122237"/>
                      </a:lnTo>
                      <a:cubicBezTo>
                        <a:pt x="104775" y="131882"/>
                        <a:pt x="96957" y="139700"/>
                        <a:pt x="87312" y="139700"/>
                      </a:cubicBezTo>
                      <a:lnTo>
                        <a:pt x="17462" y="139700"/>
                      </a:lnTo>
                      <a:cubicBezTo>
                        <a:pt x="7818" y="139700"/>
                        <a:pt x="0" y="131882"/>
                        <a:pt x="0" y="122237"/>
                      </a:cubicBezTo>
                      <a:lnTo>
                        <a:pt x="0" y="17462"/>
                      </a:lnTo>
                    </a:path>
                  </a:pathLst>
                </a:custGeom>
                <a:noFill/>
                <a:ln w="26194">
                  <a:solidFill>
                    <a:srgbClr val="8A1700"/>
                  </a:solidFill>
                </a:ln>
              </p:spPr>
            </p:sp>
            <p:sp>
              <p:nvSpPr>
                <p:cNvPr id="367" name="Freeform 367"/>
                <p:cNvSpPr/>
                <p:nvPr/>
              </p:nvSpPr>
              <p:spPr>
                <a:xfrm>
                  <a:off x="3786187" y="5435600"/>
                  <a:ext cx="104775" cy="209550"/>
                </a:xfrm>
                <a:custGeom>
                  <a:avLst/>
                  <a:gdLst/>
                  <a:ahLst/>
                  <a:cxnLst/>
                  <a:rect l="l" t="t" r="r" b="b"/>
                  <a:pathLst>
                    <a:path w="104775" h="209550">
                      <a:moveTo>
                        <a:pt x="0" y="17462"/>
                      </a:moveTo>
                      <a:cubicBezTo>
                        <a:pt x="0" y="7818"/>
                        <a:pt x="7818" y="0"/>
                        <a:pt x="17462" y="0"/>
                      </a:cubicBezTo>
                      <a:lnTo>
                        <a:pt x="87312" y="0"/>
                      </a:lnTo>
                      <a:cubicBezTo>
                        <a:pt x="96957" y="0"/>
                        <a:pt x="104775" y="7818"/>
                        <a:pt x="104775" y="17462"/>
                      </a:cubicBezTo>
                      <a:lnTo>
                        <a:pt x="104775" y="192087"/>
                      </a:lnTo>
                      <a:cubicBezTo>
                        <a:pt x="104775" y="201731"/>
                        <a:pt x="96957" y="209550"/>
                        <a:pt x="87312" y="209550"/>
                      </a:cubicBezTo>
                      <a:lnTo>
                        <a:pt x="17462" y="209550"/>
                      </a:lnTo>
                      <a:cubicBezTo>
                        <a:pt x="7818" y="209550"/>
                        <a:pt x="0" y="201731"/>
                        <a:pt x="0" y="192087"/>
                      </a:cubicBezTo>
                      <a:lnTo>
                        <a:pt x="0" y="17462"/>
                      </a:lnTo>
                    </a:path>
                  </a:pathLst>
                </a:custGeom>
                <a:noFill/>
                <a:ln w="26194">
                  <a:solidFill>
                    <a:srgbClr val="8A1700"/>
                  </a:solidFill>
                </a:ln>
              </p:spPr>
            </p:sp>
            <p:sp>
              <p:nvSpPr>
                <p:cNvPr id="368" name="Freeform 368"/>
                <p:cNvSpPr/>
                <p:nvPr/>
              </p:nvSpPr>
              <p:spPr>
                <a:xfrm>
                  <a:off x="3681412" y="5365750"/>
                  <a:ext cx="104775" cy="279399"/>
                </a:xfrm>
                <a:custGeom>
                  <a:avLst/>
                  <a:gdLst/>
                  <a:ahLst/>
                  <a:cxnLst/>
                  <a:rect l="l" t="t" r="r" b="b"/>
                  <a:pathLst>
                    <a:path w="104775" h="279399">
                      <a:moveTo>
                        <a:pt x="0" y="17462"/>
                      </a:moveTo>
                      <a:cubicBezTo>
                        <a:pt x="0" y="7818"/>
                        <a:pt x="7818" y="0"/>
                        <a:pt x="17462" y="0"/>
                      </a:cubicBezTo>
                      <a:lnTo>
                        <a:pt x="87312" y="0"/>
                      </a:lnTo>
                      <a:cubicBezTo>
                        <a:pt x="96957" y="0"/>
                        <a:pt x="104775" y="7818"/>
                        <a:pt x="104775" y="17462"/>
                      </a:cubicBezTo>
                      <a:lnTo>
                        <a:pt x="104775" y="261937"/>
                      </a:lnTo>
                      <a:cubicBezTo>
                        <a:pt x="104775" y="271581"/>
                        <a:pt x="96957" y="279399"/>
                        <a:pt x="87312" y="279399"/>
                      </a:cubicBezTo>
                      <a:lnTo>
                        <a:pt x="17462" y="279399"/>
                      </a:lnTo>
                      <a:cubicBezTo>
                        <a:pt x="7818" y="279399"/>
                        <a:pt x="0" y="271581"/>
                        <a:pt x="0" y="261937"/>
                      </a:cubicBezTo>
                      <a:lnTo>
                        <a:pt x="0" y="17462"/>
                      </a:lnTo>
                    </a:path>
                  </a:pathLst>
                </a:custGeom>
                <a:noFill/>
                <a:ln w="26194">
                  <a:solidFill>
                    <a:srgbClr val="8A1700"/>
                  </a:solidFill>
                </a:ln>
              </p:spPr>
            </p:sp>
            <p:sp>
              <p:nvSpPr>
                <p:cNvPr id="369" name="Freeform 369"/>
                <p:cNvSpPr/>
                <p:nvPr/>
              </p:nvSpPr>
              <p:spPr>
                <a:xfrm>
                  <a:off x="3594100" y="5645149"/>
                  <a:ext cx="244475" cy="9525"/>
                </a:xfrm>
                <a:custGeom>
                  <a:avLst/>
                  <a:gdLst/>
                  <a:ahLst/>
                  <a:cxnLst/>
                  <a:rect l="l" t="t" r="r" b="b"/>
                  <a:pathLst>
                    <a:path w="244475" h="9525">
                      <a:moveTo>
                        <a:pt x="0" y="0"/>
                      </a:moveTo>
                      <a:lnTo>
                        <a:pt x="244475" y="0"/>
                      </a:lnTo>
                    </a:path>
                  </a:pathLst>
                </a:custGeom>
                <a:noFill/>
                <a:ln w="26194">
                  <a:solidFill>
                    <a:srgbClr val="8A1700"/>
                  </a:solidFill>
                </a:ln>
              </p:spPr>
            </p:sp>
          </p:grpSp>
          <p:sp>
            <p:nvSpPr>
              <p:cNvPr id="371" name="TextBox 371"/>
              <p:cNvSpPr txBox="1"/>
              <p:nvPr/>
            </p:nvSpPr>
            <p:spPr>
              <a:xfrm>
                <a:off x="4299585" y="5231606"/>
                <a:ext cx="614528"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消费频次</a:t>
                </a:r>
              </a:p>
            </p:txBody>
          </p:sp>
          <p:sp>
            <p:nvSpPr>
              <p:cNvPr id="372" name="TextBox 372"/>
              <p:cNvSpPr txBox="1"/>
              <p:nvPr/>
            </p:nvSpPr>
            <p:spPr>
              <a:xfrm>
                <a:off x="4292346" y="5515928"/>
                <a:ext cx="1229158" cy="498729"/>
              </a:xfrm>
              <a:prstGeom prst="rect">
                <a:avLst/>
              </a:prstGeom>
              <a:noFill/>
              <a:ln>
                <a:noFill/>
              </a:ln>
            </p:spPr>
            <p:txBody>
              <a:bodyPr wrap="none" lIns="0" tIns="0" rIns="0" bIns="0" anchor="t" anchorCtr="0">
                <a:spAutoFit/>
              </a:bodyPr>
              <a:lstStyle/>
              <a:p>
                <a:pPr algn="l"/>
                <a:r>
                  <a:rPr lang="zh-CN" sz="2550" b="1" dirty="0">
                    <a:solidFill>
                      <a:srgbClr val="C02C0A"/>
                    </a:solidFill>
                    <a:latin typeface="+mn-lt"/>
                    <a:ea typeface="+mn-ea"/>
                    <a:cs typeface="+mn-cs"/>
                  </a:rPr>
                  <a:t>+30%</a:t>
                </a:r>
                <a:r>
                  <a:rPr lang="zh-CN" sz="1800" b="1" dirty="0">
                    <a:solidFill>
                      <a:srgbClr val="C02C0A"/>
                    </a:solidFill>
                    <a:latin typeface="+mn-lt"/>
                    <a:ea typeface="+mn-ea"/>
                    <a:cs typeface="+mn-cs"/>
                  </a:rPr>
                  <a:t>↑</a:t>
                </a:r>
                <a:r>
                  <a:rPr lang="zh-CN" sz="2550" b="1" dirty="0">
                    <a:solidFill>
                      <a:srgbClr val="C02C0A"/>
                    </a:solidFill>
                    <a:latin typeface="+mn-lt"/>
                    <a:ea typeface="+mn-ea"/>
                    <a:cs typeface="+mn-cs"/>
                  </a:rPr>
                  <a:t>​</a:t>
                </a:r>
              </a:p>
            </p:txBody>
          </p:sp>
        </p:grpSp>
        <p:grpSp>
          <p:nvGrpSpPr>
            <p:cNvPr id="381" name="kpi-3"/>
            <p:cNvGrpSpPr/>
            <p:nvPr/>
          </p:nvGrpSpPr>
          <p:grpSpPr>
            <a:xfrm>
              <a:off x="6096000" y="4876800"/>
              <a:ext cx="2762250" cy="1257300"/>
              <a:chOff x="6096000" y="4876800"/>
              <a:chExt cx="2762250" cy="1257300"/>
            </a:xfrm>
          </p:grpSpPr>
          <p:sp>
            <p:nvSpPr>
              <p:cNvPr id="374" name="Rectangle 374"/>
              <p:cNvSpPr/>
              <p:nvPr/>
            </p:nvSpPr>
            <p:spPr>
              <a:xfrm>
                <a:off x="6096000" y="4876800"/>
                <a:ext cx="2762250" cy="1257300"/>
              </a:xfrm>
              <a:prstGeom prst="roundRect">
                <a:avLst>
                  <a:gd name="adj" fmla="val 6061"/>
                </a:avLst>
              </a:prstGeom>
              <a:solidFill>
                <a:srgbClr val="F5F8FE"/>
              </a:solidFill>
              <a:ln w="9525">
                <a:solidFill>
                  <a:srgbClr val="C9D5EA"/>
                </a:solidFill>
              </a:ln>
            </p:spPr>
          </p:sp>
          <p:sp>
            <p:nvSpPr>
              <p:cNvPr id="375" name="Ellipse 375"/>
              <p:cNvSpPr/>
              <p:nvPr/>
            </p:nvSpPr>
            <p:spPr>
              <a:xfrm>
                <a:off x="6305550" y="5143500"/>
                <a:ext cx="723900" cy="723900"/>
              </a:xfrm>
              <a:prstGeom prst="ellipse">
                <a:avLst/>
              </a:prstGeom>
              <a:solidFill>
                <a:srgbClr val="FFFFFF"/>
              </a:solidFill>
              <a:ln w="14288">
                <a:solidFill>
                  <a:srgbClr val="E84E2F"/>
                </a:solidFill>
              </a:ln>
            </p:spPr>
          </p:sp>
          <p:grpSp>
            <p:nvGrpSpPr>
              <p:cNvPr id="378" name="Group 378"/>
              <p:cNvGrpSpPr/>
              <p:nvPr/>
            </p:nvGrpSpPr>
            <p:grpSpPr>
              <a:xfrm>
                <a:off x="6514160" y="5334654"/>
                <a:ext cx="306679" cy="339834"/>
                <a:chOff x="6514160" y="5334654"/>
                <a:chExt cx="306679" cy="339834"/>
              </a:xfrm>
            </p:grpSpPr>
            <p:sp>
              <p:nvSpPr>
                <p:cNvPr id="376" name="Freeform 376"/>
                <p:cNvSpPr/>
                <p:nvPr/>
              </p:nvSpPr>
              <p:spPr>
                <a:xfrm>
                  <a:off x="6615112" y="5435600"/>
                  <a:ext cx="104775" cy="104775"/>
                </a:xfrm>
                <a:custGeom>
                  <a:avLst/>
                  <a:gdLst/>
                  <a:ahLst/>
                  <a:cxnLst/>
                  <a:rect l="l" t="t" r="r" b="b"/>
                  <a:pathLst>
                    <a:path w="104775" h="104775">
                      <a:moveTo>
                        <a:pt x="0" y="52387"/>
                      </a:moveTo>
                      <a:cubicBezTo>
                        <a:pt x="0" y="81320"/>
                        <a:pt x="23455" y="104775"/>
                        <a:pt x="52387" y="104775"/>
                      </a:cubicBezTo>
                      <a:cubicBezTo>
                        <a:pt x="81320" y="104775"/>
                        <a:pt x="104775" y="81320"/>
                        <a:pt x="104775" y="52387"/>
                      </a:cubicBezTo>
                      <a:cubicBezTo>
                        <a:pt x="104775" y="23455"/>
                        <a:pt x="81320" y="0"/>
                        <a:pt x="52387" y="0"/>
                      </a:cubicBezTo>
                      <a:cubicBezTo>
                        <a:pt x="23455" y="0"/>
                        <a:pt x="0" y="23455"/>
                        <a:pt x="0" y="52387"/>
                      </a:cubicBezTo>
                    </a:path>
                  </a:pathLst>
                </a:custGeom>
                <a:noFill/>
                <a:ln w="26194">
                  <a:solidFill>
                    <a:srgbClr val="8A1700"/>
                  </a:solidFill>
                </a:ln>
              </p:spPr>
            </p:sp>
            <p:sp>
              <p:nvSpPr>
                <p:cNvPr id="377" name="Freeform 377"/>
                <p:cNvSpPr/>
                <p:nvPr/>
              </p:nvSpPr>
              <p:spPr>
                <a:xfrm>
                  <a:off x="6514160" y="5334654"/>
                  <a:ext cx="306679" cy="339834"/>
                </a:xfrm>
                <a:custGeom>
                  <a:avLst/>
                  <a:gdLst/>
                  <a:ahLst/>
                  <a:cxnLst/>
                  <a:rect l="l" t="t" r="r" b="b"/>
                  <a:pathLst>
                    <a:path w="306679" h="339834">
                      <a:moveTo>
                        <a:pt x="252124" y="252119"/>
                      </a:moveTo>
                      <a:lnTo>
                        <a:pt x="178031" y="326212"/>
                      </a:lnTo>
                      <a:cubicBezTo>
                        <a:pt x="164395" y="339834"/>
                        <a:pt x="142301" y="339834"/>
                        <a:pt x="128665" y="326212"/>
                      </a:cubicBezTo>
                      <a:lnTo>
                        <a:pt x="54554" y="252119"/>
                      </a:lnTo>
                      <a:cubicBezTo>
                        <a:pt x="0" y="197562"/>
                        <a:pt x="2" y="109110"/>
                        <a:pt x="54557" y="54555"/>
                      </a:cubicBezTo>
                      <a:cubicBezTo>
                        <a:pt x="109113" y="0"/>
                        <a:pt x="197565" y="0"/>
                        <a:pt x="252121" y="54555"/>
                      </a:cubicBezTo>
                      <a:cubicBezTo>
                        <a:pt x="306677" y="109110"/>
                        <a:pt x="306679" y="197562"/>
                        <a:pt x="252124" y="252119"/>
                      </a:cubicBezTo>
                    </a:path>
                  </a:pathLst>
                </a:custGeom>
                <a:noFill/>
                <a:ln w="26194">
                  <a:solidFill>
                    <a:srgbClr val="8A1700"/>
                  </a:solidFill>
                </a:ln>
              </p:spPr>
            </p:sp>
          </p:grpSp>
          <p:sp>
            <p:nvSpPr>
              <p:cNvPr id="379" name="TextBox 379"/>
              <p:cNvSpPr txBox="1"/>
              <p:nvPr/>
            </p:nvSpPr>
            <p:spPr>
              <a:xfrm>
                <a:off x="7233285" y="5231606"/>
                <a:ext cx="614528"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场景覆盖</a:t>
                </a:r>
              </a:p>
            </p:txBody>
          </p:sp>
          <p:sp>
            <p:nvSpPr>
              <p:cNvPr id="380" name="TextBox 380"/>
              <p:cNvSpPr txBox="1"/>
              <p:nvPr/>
            </p:nvSpPr>
            <p:spPr>
              <a:xfrm>
                <a:off x="7226046" y="5515928"/>
                <a:ext cx="1229158" cy="498729"/>
              </a:xfrm>
              <a:prstGeom prst="rect">
                <a:avLst/>
              </a:prstGeom>
              <a:noFill/>
              <a:ln>
                <a:noFill/>
              </a:ln>
            </p:spPr>
            <p:txBody>
              <a:bodyPr wrap="none" lIns="0" tIns="0" rIns="0" bIns="0" anchor="t" anchorCtr="0">
                <a:spAutoFit/>
              </a:bodyPr>
              <a:lstStyle/>
              <a:p>
                <a:pPr algn="l"/>
                <a:r>
                  <a:rPr lang="zh-CN" sz="2550" b="1" dirty="0">
                    <a:solidFill>
                      <a:srgbClr val="C02C0A"/>
                    </a:solidFill>
                    <a:latin typeface="+mn-lt"/>
                    <a:ea typeface="+mn-ea"/>
                    <a:cs typeface="+mn-cs"/>
                  </a:rPr>
                  <a:t>+40%</a:t>
                </a:r>
                <a:r>
                  <a:rPr lang="zh-CN" sz="1800" b="1" dirty="0">
                    <a:solidFill>
                      <a:srgbClr val="C02C0A"/>
                    </a:solidFill>
                    <a:latin typeface="+mn-lt"/>
                    <a:ea typeface="+mn-ea"/>
                    <a:cs typeface="+mn-cs"/>
                  </a:rPr>
                  <a:t>↑</a:t>
                </a:r>
                <a:r>
                  <a:rPr lang="zh-CN" sz="2550" b="1" dirty="0">
                    <a:solidFill>
                      <a:srgbClr val="C02C0A"/>
                    </a:solidFill>
                    <a:latin typeface="+mn-lt"/>
                    <a:ea typeface="+mn-ea"/>
                    <a:cs typeface="+mn-cs"/>
                  </a:rPr>
                  <a:t>​</a:t>
                </a:r>
              </a:p>
            </p:txBody>
          </p:sp>
        </p:grpSp>
        <p:grpSp>
          <p:nvGrpSpPr>
            <p:cNvPr id="389" name="kpi-4"/>
            <p:cNvGrpSpPr/>
            <p:nvPr/>
          </p:nvGrpSpPr>
          <p:grpSpPr>
            <a:xfrm>
              <a:off x="9029700" y="4876800"/>
              <a:ext cx="2762250" cy="1257300"/>
              <a:chOff x="9029700" y="4876800"/>
              <a:chExt cx="2762250" cy="1257300"/>
            </a:xfrm>
          </p:grpSpPr>
          <p:sp>
            <p:nvSpPr>
              <p:cNvPr id="382" name="Rectangle 382"/>
              <p:cNvSpPr/>
              <p:nvPr/>
            </p:nvSpPr>
            <p:spPr>
              <a:xfrm>
                <a:off x="9029700" y="4876800"/>
                <a:ext cx="2762250" cy="1257300"/>
              </a:xfrm>
              <a:prstGeom prst="roundRect">
                <a:avLst>
                  <a:gd name="adj" fmla="val 6061"/>
                </a:avLst>
              </a:prstGeom>
              <a:solidFill>
                <a:srgbClr val="F5F8FE"/>
              </a:solidFill>
              <a:ln w="9525">
                <a:solidFill>
                  <a:srgbClr val="C9D5EA"/>
                </a:solidFill>
              </a:ln>
            </p:spPr>
          </p:sp>
          <p:sp>
            <p:nvSpPr>
              <p:cNvPr id="383" name="Ellipse 383"/>
              <p:cNvSpPr/>
              <p:nvPr/>
            </p:nvSpPr>
            <p:spPr>
              <a:xfrm>
                <a:off x="9239250" y="5143500"/>
                <a:ext cx="723900" cy="723900"/>
              </a:xfrm>
              <a:prstGeom prst="ellipse">
                <a:avLst/>
              </a:prstGeom>
              <a:solidFill>
                <a:srgbClr val="FFFFFF"/>
              </a:solidFill>
              <a:ln w="14288">
                <a:solidFill>
                  <a:srgbClr val="E84E2F"/>
                </a:solidFill>
              </a:ln>
            </p:spPr>
          </p:sp>
          <p:grpSp>
            <p:nvGrpSpPr>
              <p:cNvPr id="386" name="Group 386"/>
              <p:cNvGrpSpPr/>
              <p:nvPr/>
            </p:nvGrpSpPr>
            <p:grpSpPr>
              <a:xfrm>
                <a:off x="9496425" y="5348287"/>
                <a:ext cx="209550" cy="314325"/>
                <a:chOff x="9496425" y="5348287"/>
                <a:chExt cx="209550" cy="314325"/>
              </a:xfrm>
            </p:grpSpPr>
            <p:sp>
              <p:nvSpPr>
                <p:cNvPr id="384" name="Freeform 384"/>
                <p:cNvSpPr/>
                <p:nvPr/>
              </p:nvSpPr>
              <p:spPr>
                <a:xfrm>
                  <a:off x="9531350" y="534828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26194">
                  <a:solidFill>
                    <a:srgbClr val="8A1700"/>
                  </a:solidFill>
                </a:ln>
              </p:spPr>
            </p:sp>
            <p:sp>
              <p:nvSpPr>
                <p:cNvPr id="385" name="Freeform 385"/>
                <p:cNvSpPr/>
                <p:nvPr/>
              </p:nvSpPr>
              <p:spPr>
                <a:xfrm>
                  <a:off x="9496425" y="5557837"/>
                  <a:ext cx="209550" cy="104775"/>
                </a:xfrm>
                <a:custGeom>
                  <a:avLst/>
                  <a:gdLst/>
                  <a:ahLst/>
                  <a:cxnLst/>
                  <a:rect l="l" t="t" r="r" b="b"/>
                  <a:pathLst>
                    <a:path w="209550" h="104775">
                      <a:moveTo>
                        <a:pt x="0" y="104775"/>
                      </a:moveTo>
                      <a:lnTo>
                        <a:pt x="0" y="69850"/>
                      </a:lnTo>
                      <a:cubicBezTo>
                        <a:pt x="0" y="31273"/>
                        <a:pt x="31273" y="0"/>
                        <a:pt x="69850" y="0"/>
                      </a:cubicBezTo>
                      <a:lnTo>
                        <a:pt x="139700" y="0"/>
                      </a:lnTo>
                      <a:cubicBezTo>
                        <a:pt x="178277" y="0"/>
                        <a:pt x="209550" y="31273"/>
                        <a:pt x="209550" y="69850"/>
                      </a:cubicBezTo>
                      <a:lnTo>
                        <a:pt x="209550" y="104775"/>
                      </a:lnTo>
                    </a:path>
                  </a:pathLst>
                </a:custGeom>
                <a:noFill/>
                <a:ln w="26194">
                  <a:solidFill>
                    <a:srgbClr val="8A1700"/>
                  </a:solidFill>
                </a:ln>
              </p:spPr>
            </p:sp>
          </p:grpSp>
          <p:sp>
            <p:nvSpPr>
              <p:cNvPr id="387" name="TextBox 387"/>
              <p:cNvSpPr txBox="1"/>
              <p:nvPr/>
            </p:nvSpPr>
            <p:spPr>
              <a:xfrm>
                <a:off x="10166985" y="5231606"/>
                <a:ext cx="614528"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户均消费</a:t>
                </a:r>
              </a:p>
            </p:txBody>
          </p:sp>
          <p:sp>
            <p:nvSpPr>
              <p:cNvPr id="388" name="TextBox 388"/>
              <p:cNvSpPr txBox="1"/>
              <p:nvPr/>
            </p:nvSpPr>
            <p:spPr>
              <a:xfrm>
                <a:off x="10159746" y="5515928"/>
                <a:ext cx="1229158" cy="498729"/>
              </a:xfrm>
              <a:prstGeom prst="rect">
                <a:avLst/>
              </a:prstGeom>
              <a:noFill/>
              <a:ln>
                <a:noFill/>
              </a:ln>
            </p:spPr>
            <p:txBody>
              <a:bodyPr wrap="none" lIns="0" tIns="0" rIns="0" bIns="0" anchor="t" anchorCtr="0">
                <a:spAutoFit/>
              </a:bodyPr>
              <a:lstStyle/>
              <a:p>
                <a:pPr algn="l"/>
                <a:r>
                  <a:rPr lang="zh-CN" sz="2550" b="1" dirty="0">
                    <a:solidFill>
                      <a:srgbClr val="C02C0A"/>
                    </a:solidFill>
                    <a:latin typeface="+mn-lt"/>
                    <a:ea typeface="+mn-ea"/>
                    <a:cs typeface="+mn-cs"/>
                  </a:rPr>
                  <a:t>+35%</a:t>
                </a:r>
                <a:r>
                  <a:rPr lang="zh-CN" sz="1800" b="1" dirty="0">
                    <a:solidFill>
                      <a:srgbClr val="C02C0A"/>
                    </a:solidFill>
                    <a:latin typeface="+mn-lt"/>
                    <a:ea typeface="+mn-ea"/>
                    <a:cs typeface="+mn-cs"/>
                  </a:rPr>
                  <a:t>↑</a:t>
                </a:r>
                <a:r>
                  <a:rPr lang="zh-CN" sz="2550" b="1" dirty="0">
                    <a:solidFill>
                      <a:srgbClr val="C02C0A"/>
                    </a:solidFill>
                    <a:latin typeface="+mn-lt"/>
                    <a:ea typeface="+mn-ea"/>
                    <a:cs typeface="+mn-cs"/>
                  </a:rPr>
                  <a:t>​</a:t>
                </a:r>
              </a:p>
            </p:txBody>
          </p:sp>
        </p:grpSp>
      </p:gr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12​</a:t>
              </a:r>
            </a:p>
          </p:txBody>
        </p:sp>
        <p:sp>
          <p:nvSpPr>
            <p:cNvPr id="4" name="TextBox 4"/>
            <p:cNvSpPr txBox="1"/>
            <p:nvPr/>
          </p:nvSpPr>
          <p:spPr>
            <a:xfrm>
              <a:off x="942594" y="151448"/>
              <a:ext cx="7231380"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高价值客户赋能：免费金融服务比优惠券更能建立长期黏性</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14" name="svc-health"/>
          <p:cNvGrpSpPr/>
          <p:nvPr/>
        </p:nvGrpSpPr>
        <p:grpSpPr>
          <a:xfrm>
            <a:off x="666750" y="1009650"/>
            <a:ext cx="3810000" cy="1333500"/>
            <a:chOff x="666750" y="1009650"/>
            <a:chExt cx="3810000" cy="1333500"/>
          </a:xfrm>
        </p:grpSpPr>
        <p:sp>
          <p:nvSpPr>
            <p:cNvPr id="7" name="Rectangle 7"/>
            <p:cNvSpPr/>
            <p:nvPr/>
          </p:nvSpPr>
          <p:spPr>
            <a:xfrm>
              <a:off x="666750" y="1009650"/>
              <a:ext cx="3810000" cy="1333500"/>
            </a:xfrm>
            <a:prstGeom prst="roundRect">
              <a:avLst>
                <a:gd name="adj" fmla="val 8571"/>
              </a:avLst>
            </a:prstGeom>
            <a:solidFill>
              <a:srgbClr val="F5F8FE"/>
            </a:solidFill>
            <a:ln w="9525">
              <a:solidFill>
                <a:srgbClr val="C9D5EA"/>
              </a:solidFill>
            </a:ln>
          </p:spPr>
        </p:sp>
        <p:sp>
          <p:nvSpPr>
            <p:cNvPr id="8" name="Ellipse 8"/>
            <p:cNvSpPr/>
            <p:nvPr/>
          </p:nvSpPr>
          <p:spPr>
            <a:xfrm>
              <a:off x="914400" y="1257300"/>
              <a:ext cx="838200" cy="838200"/>
            </a:xfrm>
            <a:prstGeom prst="ellipse">
              <a:avLst/>
            </a:prstGeom>
            <a:solidFill>
              <a:srgbClr val="FFFFFF"/>
            </a:solidFill>
            <a:ln w="14288">
              <a:solidFill>
                <a:srgbClr val="E84E2F"/>
              </a:solidFill>
            </a:ln>
          </p:spPr>
        </p:sp>
        <p:grpSp>
          <p:nvGrpSpPr>
            <p:cNvPr id="11" name="Group 11"/>
            <p:cNvGrpSpPr/>
            <p:nvPr/>
          </p:nvGrpSpPr>
          <p:grpSpPr>
            <a:xfrm>
              <a:off x="1161476" y="1534668"/>
              <a:ext cx="349726" cy="313182"/>
              <a:chOff x="1161476" y="1534668"/>
              <a:chExt cx="349726" cy="313182"/>
            </a:xfrm>
          </p:grpSpPr>
          <p:sp>
            <p:nvSpPr>
              <p:cNvPr id="9" name="Freeform 9"/>
              <p:cNvSpPr/>
              <p:nvPr/>
            </p:nvSpPr>
            <p:spPr>
              <a:xfrm>
                <a:off x="1161476" y="1534668"/>
                <a:ext cx="349726" cy="313182"/>
              </a:xfrm>
              <a:custGeom>
                <a:avLst/>
                <a:gdLst/>
                <a:ahLst/>
                <a:cxnLst/>
                <a:rect l="l" t="t" r="r" b="b"/>
                <a:pathLst>
                  <a:path w="349726" h="313182">
                    <a:moveTo>
                      <a:pt x="314899" y="171679"/>
                    </a:moveTo>
                    <a:lnTo>
                      <a:pt x="172024" y="313182"/>
                    </a:lnTo>
                    <a:lnTo>
                      <a:pt x="116855" y="258547"/>
                    </a:lnTo>
                    <a:moveTo>
                      <a:pt x="327" y="104166"/>
                    </a:moveTo>
                    <a:cubicBezTo>
                      <a:pt x="0" y="62952"/>
                      <a:pt x="26217" y="26204"/>
                      <a:pt x="65294" y="13102"/>
                    </a:cubicBezTo>
                    <a:cubicBezTo>
                      <a:pt x="104370" y="0"/>
                      <a:pt x="147441" y="13517"/>
                      <a:pt x="172024" y="46597"/>
                    </a:cubicBezTo>
                    <a:cubicBezTo>
                      <a:pt x="193499" y="18037"/>
                      <a:pt x="229152" y="3898"/>
                      <a:pt x="264364" y="9979"/>
                    </a:cubicBezTo>
                    <a:cubicBezTo>
                      <a:pt x="299575" y="16060"/>
                      <a:pt x="328421" y="41337"/>
                      <a:pt x="339074" y="75445"/>
                    </a:cubicBezTo>
                    <a:cubicBezTo>
                      <a:pt x="349726" y="109553"/>
                      <a:pt x="340392" y="146754"/>
                      <a:pt x="314899" y="171793"/>
                    </a:cubicBezTo>
                  </a:path>
                </a:pathLst>
              </a:custGeom>
              <a:noFill/>
              <a:ln w="28575">
                <a:solidFill>
                  <a:srgbClr val="8A1700"/>
                </a:solidFill>
              </a:ln>
            </p:spPr>
          </p:sp>
          <p:sp>
            <p:nvSpPr>
              <p:cNvPr id="10" name="Freeform 10"/>
              <p:cNvSpPr/>
              <p:nvPr/>
            </p:nvSpPr>
            <p:spPr>
              <a:xfrm>
                <a:off x="1162050" y="1638300"/>
                <a:ext cx="190500" cy="114300"/>
              </a:xfrm>
              <a:custGeom>
                <a:avLst/>
                <a:gdLst/>
                <a:ahLst/>
                <a:cxnLst/>
                <a:rect l="l" t="t" r="r" b="b"/>
                <a:pathLst>
                  <a:path w="190500" h="114300">
                    <a:moveTo>
                      <a:pt x="0" y="57150"/>
                    </a:moveTo>
                    <a:lnTo>
                      <a:pt x="38100" y="57150"/>
                    </a:lnTo>
                    <a:lnTo>
                      <a:pt x="76200" y="114300"/>
                    </a:lnTo>
                    <a:lnTo>
                      <a:pt x="114300" y="0"/>
                    </a:lnTo>
                    <a:lnTo>
                      <a:pt x="133350" y="57150"/>
                    </a:lnTo>
                    <a:lnTo>
                      <a:pt x="190500" y="57150"/>
                    </a:lnTo>
                  </a:path>
                </a:pathLst>
              </a:custGeom>
              <a:noFill/>
              <a:ln w="28575">
                <a:solidFill>
                  <a:srgbClr val="8A1700"/>
                </a:solidFill>
              </a:ln>
            </p:spPr>
          </p:sp>
        </p:grpSp>
        <p:sp>
          <p:nvSpPr>
            <p:cNvPr id="12" name="TextBox 12"/>
            <p:cNvSpPr txBox="1"/>
            <p:nvPr/>
          </p:nvSpPr>
          <p:spPr>
            <a:xfrm>
              <a:off x="1994154" y="1337310"/>
              <a:ext cx="1143000"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金融健康诊断：</a:t>
              </a:r>
            </a:p>
          </p:txBody>
        </p:sp>
        <p:sp>
          <p:nvSpPr>
            <p:cNvPr id="13" name="TextBox 13"/>
            <p:cNvSpPr txBox="1"/>
            <p:nvPr/>
          </p:nvSpPr>
          <p:spPr>
            <a:xfrm>
              <a:off x="1995488" y="1636395"/>
              <a:ext cx="10382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60403A"/>
                  </a:solidFill>
                  <a:latin typeface="+mn-lt"/>
                  <a:ea typeface="+mn-ea"/>
                  <a:cs typeface="+mn-cs"/>
                </a:rPr>
                <a:t>收支、负债、现金流</a:t>
              </a:r>
              <a:br/>
              <a:r>
                <a:rPr lang="zh-CN" sz="900" dirty="0">
                  <a:solidFill>
                    <a:srgbClr val="60403A"/>
                  </a:solidFill>
                  <a:latin typeface="+mn-lt"/>
                  <a:ea typeface="+mn-ea"/>
                  <a:cs typeface="+mn-cs"/>
                </a:rPr>
                <a:t>与用卡健康报告</a:t>
              </a:r>
            </a:p>
          </p:txBody>
        </p:sp>
      </p:grpSp>
      <p:grpSp>
        <p:nvGrpSpPr>
          <p:cNvPr id="22" name="svc-credit"/>
          <p:cNvGrpSpPr/>
          <p:nvPr/>
        </p:nvGrpSpPr>
        <p:grpSpPr>
          <a:xfrm>
            <a:off x="7715250" y="1009650"/>
            <a:ext cx="3810000" cy="1333500"/>
            <a:chOff x="7715250" y="1009650"/>
            <a:chExt cx="3810000" cy="1333500"/>
          </a:xfrm>
        </p:grpSpPr>
        <p:sp>
          <p:nvSpPr>
            <p:cNvPr id="15" name="Rectangle 15"/>
            <p:cNvSpPr/>
            <p:nvPr/>
          </p:nvSpPr>
          <p:spPr>
            <a:xfrm>
              <a:off x="7715250" y="1009650"/>
              <a:ext cx="3810000" cy="1333500"/>
            </a:xfrm>
            <a:prstGeom prst="roundRect">
              <a:avLst>
                <a:gd name="adj" fmla="val 8571"/>
              </a:avLst>
            </a:prstGeom>
            <a:solidFill>
              <a:srgbClr val="F5F8FE"/>
            </a:solidFill>
            <a:ln w="9525">
              <a:solidFill>
                <a:srgbClr val="C9D5EA"/>
              </a:solidFill>
            </a:ln>
          </p:spPr>
        </p:sp>
        <p:sp>
          <p:nvSpPr>
            <p:cNvPr id="16" name="Ellipse 16"/>
            <p:cNvSpPr/>
            <p:nvPr/>
          </p:nvSpPr>
          <p:spPr>
            <a:xfrm>
              <a:off x="7962900" y="1257300"/>
              <a:ext cx="838200" cy="838200"/>
            </a:xfrm>
            <a:prstGeom prst="ellipse">
              <a:avLst/>
            </a:prstGeom>
            <a:solidFill>
              <a:srgbClr val="FFFFFF"/>
            </a:solidFill>
            <a:ln w="14288">
              <a:solidFill>
                <a:srgbClr val="E84E2F"/>
              </a:solidFill>
            </a:ln>
          </p:spPr>
        </p:sp>
        <p:grpSp>
          <p:nvGrpSpPr>
            <p:cNvPr id="19" name="Group 19"/>
            <p:cNvGrpSpPr/>
            <p:nvPr/>
          </p:nvGrpSpPr>
          <p:grpSpPr>
            <a:xfrm>
              <a:off x="8184841" y="1504950"/>
              <a:ext cx="372013" cy="342900"/>
              <a:chOff x="8184841" y="1504950"/>
              <a:chExt cx="372013" cy="342900"/>
            </a:xfrm>
          </p:grpSpPr>
          <p:sp>
            <p:nvSpPr>
              <p:cNvPr id="17" name="Freeform 17"/>
              <p:cNvSpPr/>
              <p:nvPr/>
            </p:nvSpPr>
            <p:spPr>
              <a:xfrm>
                <a:off x="8184841" y="1504950"/>
                <a:ext cx="372013" cy="339966"/>
              </a:xfrm>
              <a:custGeom>
                <a:avLst/>
                <a:gdLst/>
                <a:ahLst/>
                <a:cxnLst/>
                <a:rect l="l" t="t" r="r" b="b"/>
                <a:pathLst>
                  <a:path w="372013" h="339966">
                    <a:moveTo>
                      <a:pt x="186872" y="339966"/>
                    </a:moveTo>
                    <a:cubicBezTo>
                      <a:pt x="67532" y="302974"/>
                      <a:pt x="0" y="177021"/>
                      <a:pt x="35234" y="57150"/>
                    </a:cubicBezTo>
                    <a:cubicBezTo>
                      <a:pt x="94585" y="59866"/>
                      <a:pt x="152661" y="39368"/>
                      <a:pt x="197159" y="0"/>
                    </a:cubicBezTo>
                    <a:cubicBezTo>
                      <a:pt x="241657" y="39368"/>
                      <a:pt x="299733" y="59866"/>
                      <a:pt x="359084" y="57150"/>
                    </a:cubicBezTo>
                    <a:cubicBezTo>
                      <a:pt x="372013" y="101139"/>
                      <a:pt x="371415" y="147998"/>
                      <a:pt x="357369" y="191643"/>
                    </a:cubicBezTo>
                  </a:path>
                </a:pathLst>
              </a:custGeom>
              <a:noFill/>
              <a:ln w="28575">
                <a:solidFill>
                  <a:srgbClr val="8A1700"/>
                </a:solidFill>
              </a:ln>
            </p:spPr>
          </p:sp>
          <p:sp>
            <p:nvSpPr>
              <p:cNvPr id="18" name="Freeform 18"/>
              <p:cNvSpPr/>
              <p:nvPr/>
            </p:nvSpPr>
            <p:spPr>
              <a:xfrm>
                <a:off x="8439150" y="1771650"/>
                <a:ext cx="114300" cy="76200"/>
              </a:xfrm>
              <a:custGeom>
                <a:avLst/>
                <a:gdLst/>
                <a:ahLst/>
                <a:cxnLst/>
                <a:rect l="l" t="t" r="r" b="b"/>
                <a:pathLst>
                  <a:path w="114300" h="76200">
                    <a:moveTo>
                      <a:pt x="0" y="38100"/>
                    </a:moveTo>
                    <a:lnTo>
                      <a:pt x="38100" y="76200"/>
                    </a:lnTo>
                    <a:lnTo>
                      <a:pt x="114300" y="0"/>
                    </a:lnTo>
                  </a:path>
                </a:pathLst>
              </a:custGeom>
              <a:noFill/>
              <a:ln w="28575">
                <a:solidFill>
                  <a:srgbClr val="8A1700"/>
                </a:solidFill>
              </a:ln>
            </p:spPr>
          </p:sp>
        </p:grpSp>
        <p:sp>
          <p:nvSpPr>
            <p:cNvPr id="20" name="TextBox 20"/>
            <p:cNvSpPr txBox="1"/>
            <p:nvPr/>
          </p:nvSpPr>
          <p:spPr>
            <a:xfrm>
              <a:off x="9042654" y="1337310"/>
              <a:ext cx="1143000"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信用管理服务：</a:t>
              </a:r>
            </a:p>
          </p:txBody>
        </p:sp>
        <p:sp>
          <p:nvSpPr>
            <p:cNvPr id="21" name="TextBox 21"/>
            <p:cNvSpPr txBox="1"/>
            <p:nvPr/>
          </p:nvSpPr>
          <p:spPr>
            <a:xfrm>
              <a:off x="9043988" y="1636395"/>
              <a:ext cx="11525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60403A"/>
                  </a:solidFill>
                  <a:latin typeface="+mn-lt"/>
                  <a:ea typeface="+mn-ea"/>
                  <a:cs typeface="+mn-cs"/>
                </a:rPr>
                <a:t>账单解析、多卡管理、</a:t>
              </a:r>
              <a:br/>
              <a:r>
                <a:rPr lang="zh-CN" sz="900" dirty="0">
                  <a:solidFill>
                    <a:srgbClr val="60403A"/>
                  </a:solidFill>
                  <a:latin typeface="+mn-lt"/>
                  <a:ea typeface="+mn-ea"/>
                  <a:cs typeface="+mn-cs"/>
                </a:rPr>
                <a:t>还款日历、风险提醒</a:t>
              </a:r>
            </a:p>
          </p:txBody>
        </p:sp>
      </p:grpSp>
      <p:grpSp>
        <p:nvGrpSpPr>
          <p:cNvPr id="38" name="vip-center"/>
          <p:cNvGrpSpPr/>
          <p:nvPr/>
        </p:nvGrpSpPr>
        <p:grpSpPr>
          <a:xfrm>
            <a:off x="4705350" y="1295400"/>
            <a:ext cx="2781300" cy="2438400"/>
            <a:chOff x="4705350" y="1295400"/>
            <a:chExt cx="2781300" cy="2438400"/>
          </a:xfrm>
        </p:grpSpPr>
        <p:sp>
          <p:nvSpPr>
            <p:cNvPr id="23" name="Line 23"/>
            <p:cNvSpPr/>
            <p:nvPr/>
          </p:nvSpPr>
          <p:spPr>
            <a:xfrm>
              <a:off x="4743450" y="1676400"/>
              <a:ext cx="514350" cy="228600"/>
            </a:xfrm>
            <a:custGeom>
              <a:avLst/>
              <a:gdLst/>
              <a:ahLst/>
              <a:cxnLst/>
              <a:rect l="l" t="t" r="r" b="b"/>
              <a:pathLst>
                <a:path w="514350" h="228600">
                  <a:moveTo>
                    <a:pt x="514350" y="228600"/>
                  </a:moveTo>
                  <a:lnTo>
                    <a:pt x="0" y="0"/>
                  </a:lnTo>
                </a:path>
              </a:pathLst>
            </a:custGeom>
            <a:noFill/>
            <a:ln w="14288">
              <a:solidFill>
                <a:srgbClr val="E84E2F"/>
              </a:solidFill>
              <a:custDash>
                <a:ds d="200000" sp="200000"/>
              </a:custDash>
            </a:ln>
          </p:spPr>
        </p:sp>
        <p:sp>
          <p:nvSpPr>
            <p:cNvPr id="24" name="Ellipse 24"/>
            <p:cNvSpPr/>
            <p:nvPr/>
          </p:nvSpPr>
          <p:spPr>
            <a:xfrm>
              <a:off x="4705350" y="1638300"/>
              <a:ext cx="76200" cy="76200"/>
            </a:xfrm>
            <a:prstGeom prst="ellipse">
              <a:avLst/>
            </a:prstGeom>
            <a:solidFill>
              <a:srgbClr val="E84E2F"/>
            </a:solidFill>
            <a:ln>
              <a:noFill/>
            </a:ln>
          </p:spPr>
        </p:sp>
        <p:sp>
          <p:nvSpPr>
            <p:cNvPr id="25" name="Line 25"/>
            <p:cNvSpPr/>
            <p:nvPr/>
          </p:nvSpPr>
          <p:spPr>
            <a:xfrm>
              <a:off x="6934200" y="1676400"/>
              <a:ext cx="514350" cy="228600"/>
            </a:xfrm>
            <a:custGeom>
              <a:avLst/>
              <a:gdLst/>
              <a:ahLst/>
              <a:cxnLst/>
              <a:rect l="l" t="t" r="r" b="b"/>
              <a:pathLst>
                <a:path w="514350" h="228600">
                  <a:moveTo>
                    <a:pt x="0" y="228600"/>
                  </a:moveTo>
                  <a:lnTo>
                    <a:pt x="514350" y="0"/>
                  </a:lnTo>
                </a:path>
              </a:pathLst>
            </a:custGeom>
            <a:noFill/>
            <a:ln w="14288">
              <a:solidFill>
                <a:srgbClr val="E84E2F"/>
              </a:solidFill>
              <a:custDash>
                <a:ds d="200000" sp="200000"/>
              </a:custDash>
            </a:ln>
          </p:spPr>
        </p:sp>
        <p:sp>
          <p:nvSpPr>
            <p:cNvPr id="26" name="Ellipse 26"/>
            <p:cNvSpPr/>
            <p:nvPr/>
          </p:nvSpPr>
          <p:spPr>
            <a:xfrm>
              <a:off x="7410450" y="1638300"/>
              <a:ext cx="76200" cy="76200"/>
            </a:xfrm>
            <a:prstGeom prst="ellipse">
              <a:avLst/>
            </a:prstGeom>
            <a:solidFill>
              <a:srgbClr val="E84E2F"/>
            </a:solidFill>
            <a:ln>
              <a:noFill/>
            </a:ln>
          </p:spPr>
        </p:sp>
        <p:sp>
          <p:nvSpPr>
            <p:cNvPr id="27" name="Line 27"/>
            <p:cNvSpPr/>
            <p:nvPr/>
          </p:nvSpPr>
          <p:spPr>
            <a:xfrm>
              <a:off x="4743450" y="2724150"/>
              <a:ext cx="514350" cy="323850"/>
            </a:xfrm>
            <a:custGeom>
              <a:avLst/>
              <a:gdLst/>
              <a:ahLst/>
              <a:cxnLst/>
              <a:rect l="l" t="t" r="r" b="b"/>
              <a:pathLst>
                <a:path w="514350" h="323850">
                  <a:moveTo>
                    <a:pt x="514350" y="0"/>
                  </a:moveTo>
                  <a:lnTo>
                    <a:pt x="0" y="323850"/>
                  </a:lnTo>
                </a:path>
              </a:pathLst>
            </a:custGeom>
            <a:noFill/>
            <a:ln w="14288">
              <a:solidFill>
                <a:srgbClr val="E84E2F"/>
              </a:solidFill>
              <a:custDash>
                <a:ds d="200000" sp="200000"/>
              </a:custDash>
            </a:ln>
          </p:spPr>
        </p:sp>
        <p:sp>
          <p:nvSpPr>
            <p:cNvPr id="28" name="Ellipse 28"/>
            <p:cNvSpPr/>
            <p:nvPr/>
          </p:nvSpPr>
          <p:spPr>
            <a:xfrm>
              <a:off x="4705350" y="3009900"/>
              <a:ext cx="76200" cy="76200"/>
            </a:xfrm>
            <a:prstGeom prst="ellipse">
              <a:avLst/>
            </a:prstGeom>
            <a:solidFill>
              <a:srgbClr val="E84E2F"/>
            </a:solidFill>
            <a:ln>
              <a:noFill/>
            </a:ln>
          </p:spPr>
        </p:sp>
        <p:sp>
          <p:nvSpPr>
            <p:cNvPr id="29" name="Line 29"/>
            <p:cNvSpPr/>
            <p:nvPr/>
          </p:nvSpPr>
          <p:spPr>
            <a:xfrm>
              <a:off x="6934200" y="2724150"/>
              <a:ext cx="514350" cy="323850"/>
            </a:xfrm>
            <a:custGeom>
              <a:avLst/>
              <a:gdLst/>
              <a:ahLst/>
              <a:cxnLst/>
              <a:rect l="l" t="t" r="r" b="b"/>
              <a:pathLst>
                <a:path w="514350" h="323850">
                  <a:moveTo>
                    <a:pt x="0" y="0"/>
                  </a:moveTo>
                  <a:lnTo>
                    <a:pt x="514350" y="323850"/>
                  </a:lnTo>
                </a:path>
              </a:pathLst>
            </a:custGeom>
            <a:noFill/>
            <a:ln w="14288">
              <a:solidFill>
                <a:srgbClr val="E84E2F"/>
              </a:solidFill>
              <a:custDash>
                <a:ds d="200000" sp="200000"/>
              </a:custDash>
            </a:ln>
          </p:spPr>
        </p:sp>
        <p:sp>
          <p:nvSpPr>
            <p:cNvPr id="30" name="Ellipse 30"/>
            <p:cNvSpPr/>
            <p:nvPr/>
          </p:nvSpPr>
          <p:spPr>
            <a:xfrm>
              <a:off x="7410450" y="3009900"/>
              <a:ext cx="76200" cy="76200"/>
            </a:xfrm>
            <a:prstGeom prst="ellipse">
              <a:avLst/>
            </a:prstGeom>
            <a:solidFill>
              <a:srgbClr val="E84E2F"/>
            </a:solidFill>
            <a:ln>
              <a:noFill/>
            </a:ln>
          </p:spPr>
        </p:sp>
        <p:sp>
          <p:nvSpPr>
            <p:cNvPr id="31" name="Line 31"/>
            <p:cNvSpPr/>
            <p:nvPr/>
          </p:nvSpPr>
          <p:spPr>
            <a:xfrm>
              <a:off x="6096000" y="3295650"/>
              <a:ext cx="9525" cy="400050"/>
            </a:xfrm>
            <a:custGeom>
              <a:avLst/>
              <a:gdLst/>
              <a:ahLst/>
              <a:cxnLst/>
              <a:rect l="l" t="t" r="r" b="b"/>
              <a:pathLst>
                <a:path w="9525" h="400050">
                  <a:moveTo>
                    <a:pt x="0" y="0"/>
                  </a:moveTo>
                  <a:lnTo>
                    <a:pt x="0" y="400050"/>
                  </a:lnTo>
                </a:path>
              </a:pathLst>
            </a:custGeom>
            <a:noFill/>
            <a:ln w="14288">
              <a:solidFill>
                <a:srgbClr val="E84E2F"/>
              </a:solidFill>
              <a:custDash>
                <a:ds d="200000" sp="200000"/>
              </a:custDash>
            </a:ln>
          </p:spPr>
        </p:sp>
        <p:sp>
          <p:nvSpPr>
            <p:cNvPr id="32" name="Ellipse 32"/>
            <p:cNvSpPr/>
            <p:nvPr/>
          </p:nvSpPr>
          <p:spPr>
            <a:xfrm>
              <a:off x="6057900" y="3657600"/>
              <a:ext cx="76200" cy="76200"/>
            </a:xfrm>
            <a:prstGeom prst="ellipse">
              <a:avLst/>
            </a:prstGeom>
            <a:solidFill>
              <a:srgbClr val="E84E2F"/>
            </a:solidFill>
            <a:ln>
              <a:noFill/>
            </a:ln>
          </p:spPr>
        </p:sp>
        <p:sp>
          <p:nvSpPr>
            <p:cNvPr id="33" name="Ellipse 33"/>
            <p:cNvSpPr/>
            <p:nvPr/>
          </p:nvSpPr>
          <p:spPr>
            <a:xfrm>
              <a:off x="5105400" y="1295400"/>
              <a:ext cx="1981200" cy="1981200"/>
            </a:xfrm>
            <a:prstGeom prst="ellipse">
              <a:avLst/>
            </a:prstGeom>
            <a:solidFill>
              <a:srgbClr val="EEF3FB"/>
            </a:solidFill>
            <a:ln>
              <a:noFill/>
            </a:ln>
          </p:spPr>
        </p:sp>
        <p:sp>
          <p:nvSpPr>
            <p:cNvPr id="34" name="Ellipse 34"/>
            <p:cNvSpPr/>
            <p:nvPr/>
          </p:nvSpPr>
          <p:spPr>
            <a:xfrm>
              <a:off x="5181600" y="1371600"/>
              <a:ext cx="1828800" cy="1828800"/>
            </a:xfrm>
            <a:prstGeom prst="ellipse">
              <a:avLst/>
            </a:prstGeom>
            <a:noFill/>
            <a:ln w="23812">
              <a:solidFill>
                <a:srgbClr val="E84E2F"/>
              </a:solidFill>
            </a:ln>
          </p:spPr>
        </p:sp>
        <p:pic>
          <p:nvPicPr>
            <p:cNvPr id="35" name="Image 35"/>
            <p:cNvPicPr>
              <a:picLocks noChangeAspect="1"/>
            </p:cNvPicPr>
            <p:nvPr/>
          </p:nvPicPr>
          <p:blipFill>
            <a:blip r:embed="rId2"/>
            <a:stretch>
              <a:fillRect/>
            </a:stretch>
          </p:blipFill>
          <p:spPr>
            <a:xfrm>
              <a:off x="5257800" y="1447800"/>
              <a:ext cx="1676400" cy="1676400"/>
            </a:xfrm>
            <a:prstGeom prst="ellipse">
              <a:avLst/>
            </a:prstGeom>
          </p:spPr>
        </p:pic>
        <p:sp>
          <p:nvSpPr>
            <p:cNvPr id="36" name="Rectangle 36"/>
            <p:cNvSpPr/>
            <p:nvPr/>
          </p:nvSpPr>
          <p:spPr>
            <a:xfrm>
              <a:off x="5391150" y="2857500"/>
              <a:ext cx="1409700" cy="323850"/>
            </a:xfrm>
            <a:prstGeom prst="roundRect">
              <a:avLst>
                <a:gd name="adj" fmla="val 17647"/>
              </a:avLst>
            </a:prstGeom>
            <a:solidFill>
              <a:srgbClr val="520E00"/>
            </a:solidFill>
            <a:ln>
              <a:noFill/>
            </a:ln>
          </p:spPr>
        </p:sp>
        <p:sp>
          <p:nvSpPr>
            <p:cNvPr id="37" name="TextBox 37"/>
            <p:cNvSpPr txBox="1"/>
            <p:nvPr/>
          </p:nvSpPr>
          <p:spPr>
            <a:xfrm>
              <a:off x="5686044" y="2947035"/>
              <a:ext cx="81991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高价值客户</a:t>
              </a:r>
            </a:p>
          </p:txBody>
        </p:sp>
      </p:grpSp>
      <p:grpSp>
        <p:nvGrpSpPr>
          <p:cNvPr id="48" name="svc-benefit"/>
          <p:cNvGrpSpPr/>
          <p:nvPr/>
        </p:nvGrpSpPr>
        <p:grpSpPr>
          <a:xfrm>
            <a:off x="666750" y="2762250"/>
            <a:ext cx="3810000" cy="1333500"/>
            <a:chOff x="666750" y="2762250"/>
            <a:chExt cx="3810000" cy="1333500"/>
          </a:xfrm>
        </p:grpSpPr>
        <p:sp>
          <p:nvSpPr>
            <p:cNvPr id="39" name="Rectangle 39"/>
            <p:cNvSpPr/>
            <p:nvPr/>
          </p:nvSpPr>
          <p:spPr>
            <a:xfrm>
              <a:off x="666750" y="2762250"/>
              <a:ext cx="3810000" cy="1333500"/>
            </a:xfrm>
            <a:prstGeom prst="roundRect">
              <a:avLst>
                <a:gd name="adj" fmla="val 8571"/>
              </a:avLst>
            </a:prstGeom>
            <a:solidFill>
              <a:srgbClr val="F5F8FE"/>
            </a:solidFill>
            <a:ln w="9525">
              <a:solidFill>
                <a:srgbClr val="C9D5EA"/>
              </a:solidFill>
            </a:ln>
          </p:spPr>
        </p:sp>
        <p:sp>
          <p:nvSpPr>
            <p:cNvPr id="40" name="Ellipse 40"/>
            <p:cNvSpPr/>
            <p:nvPr/>
          </p:nvSpPr>
          <p:spPr>
            <a:xfrm>
              <a:off x="914400" y="3009900"/>
              <a:ext cx="838200" cy="838200"/>
            </a:xfrm>
            <a:prstGeom prst="ellipse">
              <a:avLst/>
            </a:prstGeom>
            <a:solidFill>
              <a:srgbClr val="FFFFFF"/>
            </a:solidFill>
            <a:ln w="14288">
              <a:solidFill>
                <a:srgbClr val="E84E2F"/>
              </a:solidFill>
            </a:ln>
          </p:spPr>
        </p:sp>
        <p:grpSp>
          <p:nvGrpSpPr>
            <p:cNvPr id="45" name="Group 45"/>
            <p:cNvGrpSpPr/>
            <p:nvPr/>
          </p:nvGrpSpPr>
          <p:grpSpPr>
            <a:xfrm>
              <a:off x="1162050" y="3256895"/>
              <a:ext cx="342900" cy="343555"/>
              <a:chOff x="1162050" y="3256895"/>
              <a:chExt cx="342900" cy="343555"/>
            </a:xfrm>
          </p:grpSpPr>
          <p:sp>
            <p:nvSpPr>
              <p:cNvPr id="41" name="Freeform 41"/>
              <p:cNvSpPr/>
              <p:nvPr/>
            </p:nvSpPr>
            <p:spPr>
              <a:xfrm>
                <a:off x="1162050" y="3352800"/>
                <a:ext cx="342900" cy="76200"/>
              </a:xfrm>
              <a:custGeom>
                <a:avLst/>
                <a:gdLst/>
                <a:ahLst/>
                <a:cxnLst/>
                <a:rect l="l" t="t" r="r" b="b"/>
                <a:pathLst>
                  <a:path w="342900" h="76200">
                    <a:moveTo>
                      <a:pt x="0" y="19050"/>
                    </a:moveTo>
                    <a:cubicBezTo>
                      <a:pt x="0" y="8529"/>
                      <a:pt x="8529" y="0"/>
                      <a:pt x="19050" y="0"/>
                    </a:cubicBezTo>
                    <a:lnTo>
                      <a:pt x="323850" y="0"/>
                    </a:lnTo>
                    <a:cubicBezTo>
                      <a:pt x="334371" y="0"/>
                      <a:pt x="342900" y="8529"/>
                      <a:pt x="342900" y="19050"/>
                    </a:cubicBezTo>
                    <a:lnTo>
                      <a:pt x="342900" y="57150"/>
                    </a:lnTo>
                    <a:cubicBezTo>
                      <a:pt x="342900" y="67671"/>
                      <a:pt x="334371" y="76200"/>
                      <a:pt x="323850" y="76200"/>
                    </a:cubicBezTo>
                    <a:lnTo>
                      <a:pt x="19050" y="76200"/>
                    </a:lnTo>
                    <a:cubicBezTo>
                      <a:pt x="8529" y="76200"/>
                      <a:pt x="0" y="67671"/>
                      <a:pt x="0" y="57150"/>
                    </a:cubicBezTo>
                    <a:lnTo>
                      <a:pt x="0" y="19050"/>
                    </a:lnTo>
                  </a:path>
                </a:pathLst>
              </a:custGeom>
              <a:noFill/>
              <a:ln w="28575">
                <a:solidFill>
                  <a:srgbClr val="8A1700"/>
                </a:solidFill>
              </a:ln>
            </p:spPr>
          </p:sp>
          <p:sp>
            <p:nvSpPr>
              <p:cNvPr id="42" name="Freeform 42"/>
              <p:cNvSpPr/>
              <p:nvPr/>
            </p:nvSpPr>
            <p:spPr>
              <a:xfrm>
                <a:off x="1333500" y="3352800"/>
                <a:ext cx="9525" cy="247650"/>
              </a:xfrm>
              <a:custGeom>
                <a:avLst/>
                <a:gdLst/>
                <a:ahLst/>
                <a:cxnLst/>
                <a:rect l="l" t="t" r="r" b="b"/>
                <a:pathLst>
                  <a:path w="9525" h="247650">
                    <a:moveTo>
                      <a:pt x="0" y="0"/>
                    </a:moveTo>
                    <a:lnTo>
                      <a:pt x="0" y="247650"/>
                    </a:lnTo>
                  </a:path>
                </a:pathLst>
              </a:custGeom>
              <a:noFill/>
              <a:ln w="28575">
                <a:solidFill>
                  <a:srgbClr val="8A1700"/>
                </a:solidFill>
              </a:ln>
            </p:spPr>
          </p:sp>
          <p:sp>
            <p:nvSpPr>
              <p:cNvPr id="43" name="Freeform 43"/>
              <p:cNvSpPr/>
              <p:nvPr/>
            </p:nvSpPr>
            <p:spPr>
              <a:xfrm>
                <a:off x="1200150" y="3429000"/>
                <a:ext cx="266700" cy="171450"/>
              </a:xfrm>
              <a:custGeom>
                <a:avLst/>
                <a:gdLst/>
                <a:ahLst/>
                <a:cxnLst/>
                <a:rect l="l" t="t" r="r" b="b"/>
                <a:pathLst>
                  <a:path w="266700" h="171450">
                    <a:moveTo>
                      <a:pt x="266700" y="0"/>
                    </a:moveTo>
                    <a:lnTo>
                      <a:pt x="266700" y="133350"/>
                    </a:lnTo>
                    <a:cubicBezTo>
                      <a:pt x="266700" y="154392"/>
                      <a:pt x="249642" y="171450"/>
                      <a:pt x="228600" y="171450"/>
                    </a:cubicBezTo>
                    <a:lnTo>
                      <a:pt x="38100" y="171450"/>
                    </a:lnTo>
                    <a:cubicBezTo>
                      <a:pt x="17058" y="171450"/>
                      <a:pt x="0" y="154392"/>
                      <a:pt x="0" y="133350"/>
                    </a:cubicBezTo>
                    <a:lnTo>
                      <a:pt x="0" y="0"/>
                    </a:lnTo>
                  </a:path>
                </a:pathLst>
              </a:custGeom>
              <a:noFill/>
              <a:ln w="28575">
                <a:solidFill>
                  <a:srgbClr val="8A1700"/>
                </a:solidFill>
              </a:ln>
            </p:spPr>
          </p:sp>
          <p:sp>
            <p:nvSpPr>
              <p:cNvPr id="44" name="Freeform 44"/>
              <p:cNvSpPr/>
              <p:nvPr/>
            </p:nvSpPr>
            <p:spPr>
              <a:xfrm>
                <a:off x="1200150" y="3256895"/>
                <a:ext cx="266700" cy="95905"/>
              </a:xfrm>
              <a:custGeom>
                <a:avLst/>
                <a:gdLst/>
                <a:ahLst/>
                <a:cxnLst/>
                <a:rect l="l" t="t" r="r" b="b"/>
                <a:pathLst>
                  <a:path w="266700" h="95905">
                    <a:moveTo>
                      <a:pt x="47625" y="95905"/>
                    </a:moveTo>
                    <a:cubicBezTo>
                      <a:pt x="21322" y="95905"/>
                      <a:pt x="0" y="74583"/>
                      <a:pt x="0" y="48280"/>
                    </a:cubicBezTo>
                    <a:cubicBezTo>
                      <a:pt x="0" y="21978"/>
                      <a:pt x="21322" y="655"/>
                      <a:pt x="47625" y="655"/>
                    </a:cubicBezTo>
                    <a:cubicBezTo>
                      <a:pt x="85234" y="0"/>
                      <a:pt x="119248" y="37793"/>
                      <a:pt x="133350" y="95905"/>
                    </a:cubicBezTo>
                    <a:cubicBezTo>
                      <a:pt x="147452" y="37793"/>
                      <a:pt x="181466" y="0"/>
                      <a:pt x="219075" y="655"/>
                    </a:cubicBezTo>
                    <a:cubicBezTo>
                      <a:pt x="245378" y="655"/>
                      <a:pt x="266700" y="21978"/>
                      <a:pt x="266700" y="48280"/>
                    </a:cubicBezTo>
                    <a:cubicBezTo>
                      <a:pt x="266700" y="74583"/>
                      <a:pt x="245378" y="95905"/>
                      <a:pt x="219075" y="95905"/>
                    </a:cubicBezTo>
                  </a:path>
                </a:pathLst>
              </a:custGeom>
              <a:noFill/>
              <a:ln w="28575">
                <a:solidFill>
                  <a:srgbClr val="8A1700"/>
                </a:solidFill>
              </a:ln>
            </p:spPr>
          </p:sp>
        </p:grpSp>
        <p:sp>
          <p:nvSpPr>
            <p:cNvPr id="46" name="TextBox 46"/>
            <p:cNvSpPr txBox="1"/>
            <p:nvPr/>
          </p:nvSpPr>
          <p:spPr>
            <a:xfrm>
              <a:off x="1994154" y="3089910"/>
              <a:ext cx="1143000"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权益管家服务：</a:t>
              </a:r>
            </a:p>
          </p:txBody>
        </p:sp>
        <p:sp>
          <p:nvSpPr>
            <p:cNvPr id="47" name="TextBox 47"/>
            <p:cNvSpPr txBox="1"/>
            <p:nvPr/>
          </p:nvSpPr>
          <p:spPr>
            <a:xfrm>
              <a:off x="1995488" y="3388995"/>
              <a:ext cx="13811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60403A"/>
                  </a:solidFill>
                  <a:latin typeface="+mn-lt"/>
                  <a:ea typeface="+mn-ea"/>
                  <a:cs typeface="+mn-cs"/>
                </a:rPr>
                <a:t>积分到期、商旅餐饮权益、</a:t>
              </a:r>
              <a:br/>
              <a:r>
                <a:rPr lang="zh-CN" sz="900" dirty="0">
                  <a:solidFill>
                    <a:srgbClr val="60403A"/>
                  </a:solidFill>
                  <a:latin typeface="+mn-lt"/>
                  <a:ea typeface="+mn-ea"/>
                  <a:cs typeface="+mn-cs"/>
                </a:rPr>
                <a:t>年费条件提醒</a:t>
              </a:r>
            </a:p>
          </p:txBody>
        </p:sp>
      </p:grpSp>
      <p:grpSp>
        <p:nvGrpSpPr>
          <p:cNvPr id="58" name="svc-family"/>
          <p:cNvGrpSpPr/>
          <p:nvPr/>
        </p:nvGrpSpPr>
        <p:grpSpPr>
          <a:xfrm>
            <a:off x="7715250" y="2762250"/>
            <a:ext cx="3810000" cy="1333500"/>
            <a:chOff x="7715250" y="2762250"/>
            <a:chExt cx="3810000" cy="1333500"/>
          </a:xfrm>
        </p:grpSpPr>
        <p:sp>
          <p:nvSpPr>
            <p:cNvPr id="49" name="Rectangle 49"/>
            <p:cNvSpPr/>
            <p:nvPr/>
          </p:nvSpPr>
          <p:spPr>
            <a:xfrm>
              <a:off x="7715250" y="2762250"/>
              <a:ext cx="3810000" cy="1333500"/>
            </a:xfrm>
            <a:prstGeom prst="roundRect">
              <a:avLst>
                <a:gd name="adj" fmla="val 8571"/>
              </a:avLst>
            </a:prstGeom>
            <a:solidFill>
              <a:srgbClr val="F5F8FE"/>
            </a:solidFill>
            <a:ln w="9525">
              <a:solidFill>
                <a:srgbClr val="C9D5EA"/>
              </a:solidFill>
            </a:ln>
          </p:spPr>
        </p:sp>
        <p:sp>
          <p:nvSpPr>
            <p:cNvPr id="50" name="Ellipse 50"/>
            <p:cNvSpPr/>
            <p:nvPr/>
          </p:nvSpPr>
          <p:spPr>
            <a:xfrm>
              <a:off x="7962900" y="3009900"/>
              <a:ext cx="838200" cy="838200"/>
            </a:xfrm>
            <a:prstGeom prst="ellipse">
              <a:avLst/>
            </a:prstGeom>
            <a:solidFill>
              <a:srgbClr val="FFFFFF"/>
            </a:solidFill>
            <a:ln w="14288">
              <a:solidFill>
                <a:srgbClr val="E84E2F"/>
              </a:solidFill>
            </a:ln>
          </p:spPr>
        </p:sp>
        <p:grpSp>
          <p:nvGrpSpPr>
            <p:cNvPr id="55" name="Group 55"/>
            <p:cNvGrpSpPr/>
            <p:nvPr/>
          </p:nvGrpSpPr>
          <p:grpSpPr>
            <a:xfrm>
              <a:off x="8210550" y="3257550"/>
              <a:ext cx="342900" cy="342900"/>
              <a:chOff x="8210550" y="3257550"/>
              <a:chExt cx="342900" cy="342900"/>
            </a:xfrm>
          </p:grpSpPr>
          <p:sp>
            <p:nvSpPr>
              <p:cNvPr id="51" name="Freeform 51"/>
              <p:cNvSpPr/>
              <p:nvPr/>
            </p:nvSpPr>
            <p:spPr>
              <a:xfrm>
                <a:off x="8248650" y="3257550"/>
                <a:ext cx="152400" cy="152400"/>
              </a:xfrm>
              <a:custGeom>
                <a:avLst/>
                <a:gdLst/>
                <a:ahLst/>
                <a:cxnLst/>
                <a:rect l="l" t="t" r="r" b="b"/>
                <a:pathLst>
                  <a:path w="152400" h="152400">
                    <a:moveTo>
                      <a:pt x="0" y="76200"/>
                    </a:moveTo>
                    <a:cubicBezTo>
                      <a:pt x="0" y="118284"/>
                      <a:pt x="34116" y="152400"/>
                      <a:pt x="76200" y="152400"/>
                    </a:cubicBezTo>
                    <a:cubicBezTo>
                      <a:pt x="118284" y="152400"/>
                      <a:pt x="152400" y="118284"/>
                      <a:pt x="152400" y="76200"/>
                    </a:cubicBezTo>
                    <a:cubicBezTo>
                      <a:pt x="152400" y="34116"/>
                      <a:pt x="118284" y="0"/>
                      <a:pt x="76200" y="0"/>
                    </a:cubicBezTo>
                    <a:cubicBezTo>
                      <a:pt x="34116" y="0"/>
                      <a:pt x="0" y="34116"/>
                      <a:pt x="0" y="76200"/>
                    </a:cubicBezTo>
                  </a:path>
                </a:pathLst>
              </a:custGeom>
              <a:noFill/>
              <a:ln w="28575">
                <a:solidFill>
                  <a:srgbClr val="8A1700"/>
                </a:solidFill>
              </a:ln>
            </p:spPr>
          </p:sp>
          <p:sp>
            <p:nvSpPr>
              <p:cNvPr id="52" name="Freeform 52"/>
              <p:cNvSpPr/>
              <p:nvPr/>
            </p:nvSpPr>
            <p:spPr>
              <a:xfrm>
                <a:off x="8210550" y="3486150"/>
                <a:ext cx="228600" cy="114300"/>
              </a:xfrm>
              <a:custGeom>
                <a:avLst/>
                <a:gdLst/>
                <a:ahLst/>
                <a:cxnLst/>
                <a:rect l="l" t="t" r="r" b="b"/>
                <a:pathLst>
                  <a:path w="228600" h="114300">
                    <a:moveTo>
                      <a:pt x="0" y="114300"/>
                    </a:moveTo>
                    <a:lnTo>
                      <a:pt x="0" y="76200"/>
                    </a:lnTo>
                    <a:cubicBezTo>
                      <a:pt x="0" y="34116"/>
                      <a:pt x="34116" y="0"/>
                      <a:pt x="76200" y="0"/>
                    </a:cubicBezTo>
                    <a:lnTo>
                      <a:pt x="152400" y="0"/>
                    </a:lnTo>
                    <a:cubicBezTo>
                      <a:pt x="194484" y="0"/>
                      <a:pt x="228600" y="34116"/>
                      <a:pt x="228600" y="76200"/>
                    </a:cubicBezTo>
                    <a:lnTo>
                      <a:pt x="228600" y="114300"/>
                    </a:lnTo>
                  </a:path>
                </a:pathLst>
              </a:custGeom>
              <a:noFill/>
              <a:ln w="28575">
                <a:solidFill>
                  <a:srgbClr val="8A1700"/>
                </a:solidFill>
              </a:ln>
            </p:spPr>
          </p:sp>
          <p:sp>
            <p:nvSpPr>
              <p:cNvPr id="53" name="Freeform 53"/>
              <p:cNvSpPr/>
              <p:nvPr/>
            </p:nvSpPr>
            <p:spPr>
              <a:xfrm>
                <a:off x="8458200" y="3260026"/>
                <a:ext cx="57299" cy="147638"/>
              </a:xfrm>
              <a:custGeom>
                <a:avLst/>
                <a:gdLst/>
                <a:ahLst/>
                <a:cxnLst/>
                <a:rect l="l" t="t" r="r" b="b"/>
                <a:pathLst>
                  <a:path w="57299" h="147638">
                    <a:moveTo>
                      <a:pt x="0" y="0"/>
                    </a:moveTo>
                    <a:cubicBezTo>
                      <a:pt x="33717" y="8633"/>
                      <a:pt x="57299" y="39014"/>
                      <a:pt x="57299" y="73819"/>
                    </a:cubicBezTo>
                    <a:cubicBezTo>
                      <a:pt x="57299" y="108623"/>
                      <a:pt x="33717" y="139005"/>
                      <a:pt x="0" y="147638"/>
                    </a:cubicBezTo>
                  </a:path>
                </a:pathLst>
              </a:custGeom>
              <a:noFill/>
              <a:ln w="28575">
                <a:solidFill>
                  <a:srgbClr val="8A1700"/>
                </a:solidFill>
              </a:ln>
            </p:spPr>
          </p:sp>
          <p:sp>
            <p:nvSpPr>
              <p:cNvPr id="54" name="Freeform 54"/>
              <p:cNvSpPr/>
              <p:nvPr/>
            </p:nvSpPr>
            <p:spPr>
              <a:xfrm>
                <a:off x="8496300" y="3489008"/>
                <a:ext cx="57150" cy="111442"/>
              </a:xfrm>
              <a:custGeom>
                <a:avLst/>
                <a:gdLst/>
                <a:ahLst/>
                <a:cxnLst/>
                <a:rect l="l" t="t" r="r" b="b"/>
                <a:pathLst>
                  <a:path w="57150" h="111442">
                    <a:moveTo>
                      <a:pt x="57150" y="111442"/>
                    </a:moveTo>
                    <a:lnTo>
                      <a:pt x="57150" y="73342"/>
                    </a:lnTo>
                    <a:cubicBezTo>
                      <a:pt x="56951" y="38759"/>
                      <a:pt x="33486" y="8646"/>
                      <a:pt x="0" y="0"/>
                    </a:cubicBezTo>
                  </a:path>
                </a:pathLst>
              </a:custGeom>
              <a:noFill/>
              <a:ln w="28575">
                <a:solidFill>
                  <a:srgbClr val="8A1700"/>
                </a:solidFill>
              </a:ln>
            </p:spPr>
          </p:sp>
        </p:grpSp>
        <p:sp>
          <p:nvSpPr>
            <p:cNvPr id="56" name="TextBox 56"/>
            <p:cNvSpPr txBox="1"/>
            <p:nvPr/>
          </p:nvSpPr>
          <p:spPr>
            <a:xfrm>
              <a:off x="9042654" y="3089910"/>
              <a:ext cx="1143000"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家庭财务工具：</a:t>
              </a:r>
            </a:p>
          </p:txBody>
        </p:sp>
        <p:sp>
          <p:nvSpPr>
            <p:cNvPr id="57" name="TextBox 57"/>
            <p:cNvSpPr txBox="1"/>
            <p:nvPr/>
          </p:nvSpPr>
          <p:spPr>
            <a:xfrm>
              <a:off x="9043988" y="3388995"/>
              <a:ext cx="13811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60403A"/>
                  </a:solidFill>
                  <a:latin typeface="+mn-lt"/>
                  <a:ea typeface="+mn-ea"/>
                  <a:cs typeface="+mn-cs"/>
                </a:rPr>
                <a:t>预算模板、重大支出规划、</a:t>
              </a:r>
              <a:br/>
              <a:r>
                <a:rPr lang="zh-CN" sz="900" dirty="0">
                  <a:solidFill>
                    <a:srgbClr val="60403A"/>
                  </a:solidFill>
                  <a:latin typeface="+mn-lt"/>
                  <a:ea typeface="+mn-ea"/>
                  <a:cs typeface="+mn-cs"/>
                </a:rPr>
                <a:t>附属卡管理</a:t>
              </a:r>
            </a:p>
          </p:txBody>
        </p:sp>
      </p:grpSp>
      <p:grpSp>
        <p:nvGrpSpPr>
          <p:cNvPr id="68" name="svc-exclusive"/>
          <p:cNvGrpSpPr/>
          <p:nvPr/>
        </p:nvGrpSpPr>
        <p:grpSpPr>
          <a:xfrm>
            <a:off x="4667250" y="3905250"/>
            <a:ext cx="2857500" cy="1219200"/>
            <a:chOff x="4667250" y="3905250"/>
            <a:chExt cx="2857500" cy="1219200"/>
          </a:xfrm>
        </p:grpSpPr>
        <p:sp>
          <p:nvSpPr>
            <p:cNvPr id="59" name="Rectangle 59"/>
            <p:cNvSpPr/>
            <p:nvPr/>
          </p:nvSpPr>
          <p:spPr>
            <a:xfrm>
              <a:off x="4667250" y="3905250"/>
              <a:ext cx="2857500" cy="1219200"/>
            </a:xfrm>
            <a:prstGeom prst="roundRect">
              <a:avLst>
                <a:gd name="adj" fmla="val 9375"/>
              </a:avLst>
            </a:prstGeom>
            <a:solidFill>
              <a:srgbClr val="F5F8FE"/>
            </a:solidFill>
            <a:ln w="9525">
              <a:solidFill>
                <a:srgbClr val="C9D5EA"/>
              </a:solidFill>
            </a:ln>
          </p:spPr>
        </p:sp>
        <p:sp>
          <p:nvSpPr>
            <p:cNvPr id="60" name="Ellipse 60"/>
            <p:cNvSpPr/>
            <p:nvPr/>
          </p:nvSpPr>
          <p:spPr>
            <a:xfrm>
              <a:off x="4819650" y="4133850"/>
              <a:ext cx="762000" cy="762000"/>
            </a:xfrm>
            <a:prstGeom prst="ellipse">
              <a:avLst/>
            </a:prstGeom>
            <a:solidFill>
              <a:srgbClr val="FFFFFF"/>
            </a:solidFill>
            <a:ln w="14288">
              <a:solidFill>
                <a:srgbClr val="E84E2F"/>
              </a:solidFill>
            </a:ln>
          </p:spPr>
        </p:sp>
        <p:grpSp>
          <p:nvGrpSpPr>
            <p:cNvPr id="65" name="Group 65"/>
            <p:cNvGrpSpPr/>
            <p:nvPr/>
          </p:nvGrpSpPr>
          <p:grpSpPr>
            <a:xfrm>
              <a:off x="5060950" y="4357687"/>
              <a:ext cx="279399" cy="331787"/>
              <a:chOff x="5060950" y="4357687"/>
              <a:chExt cx="279399" cy="331787"/>
            </a:xfrm>
          </p:grpSpPr>
          <p:sp>
            <p:nvSpPr>
              <p:cNvPr id="61" name="Freeform 61"/>
              <p:cNvSpPr/>
              <p:nvPr/>
            </p:nvSpPr>
            <p:spPr>
              <a:xfrm>
                <a:off x="5060950" y="4357687"/>
                <a:ext cx="279399" cy="192087"/>
              </a:xfrm>
              <a:custGeom>
                <a:avLst/>
                <a:gdLst/>
                <a:ahLst/>
                <a:cxnLst/>
                <a:rect l="l" t="t" r="r" b="b"/>
                <a:pathLst>
                  <a:path w="279399" h="192087">
                    <a:moveTo>
                      <a:pt x="0" y="192087"/>
                    </a:moveTo>
                    <a:lnTo>
                      <a:pt x="0" y="139700"/>
                    </a:lnTo>
                    <a:cubicBezTo>
                      <a:pt x="0" y="62546"/>
                      <a:pt x="62546" y="0"/>
                      <a:pt x="139700" y="0"/>
                    </a:cubicBezTo>
                    <a:cubicBezTo>
                      <a:pt x="216854" y="0"/>
                      <a:pt x="279399" y="62546"/>
                      <a:pt x="279399" y="139700"/>
                    </a:cubicBezTo>
                    <a:lnTo>
                      <a:pt x="279399" y="192087"/>
                    </a:lnTo>
                  </a:path>
                </a:pathLst>
              </a:custGeom>
              <a:noFill/>
              <a:ln w="26194">
                <a:solidFill>
                  <a:srgbClr val="8A1700"/>
                </a:solidFill>
              </a:ln>
            </p:spPr>
          </p:sp>
          <p:sp>
            <p:nvSpPr>
              <p:cNvPr id="62" name="Freeform 62"/>
              <p:cNvSpPr/>
              <p:nvPr/>
            </p:nvSpPr>
            <p:spPr>
              <a:xfrm>
                <a:off x="5200650" y="4637087"/>
                <a:ext cx="104775" cy="52387"/>
              </a:xfrm>
              <a:custGeom>
                <a:avLst/>
                <a:gdLst/>
                <a:ahLst/>
                <a:cxnLst/>
                <a:rect l="l" t="t" r="r" b="b"/>
                <a:pathLst>
                  <a:path w="104775" h="52387">
                    <a:moveTo>
                      <a:pt x="104775" y="0"/>
                    </a:moveTo>
                    <a:cubicBezTo>
                      <a:pt x="104775" y="28935"/>
                      <a:pt x="57871" y="52387"/>
                      <a:pt x="0" y="52387"/>
                    </a:cubicBezTo>
                  </a:path>
                </a:pathLst>
              </a:custGeom>
              <a:noFill/>
              <a:ln w="26194">
                <a:solidFill>
                  <a:srgbClr val="8A1700"/>
                </a:solidFill>
              </a:ln>
            </p:spPr>
          </p:sp>
          <p:sp>
            <p:nvSpPr>
              <p:cNvPr id="63" name="Freeform 63"/>
              <p:cNvSpPr/>
              <p:nvPr/>
            </p:nvSpPr>
            <p:spPr>
              <a:xfrm>
                <a:off x="5060950" y="4514850"/>
                <a:ext cx="87312" cy="122237"/>
              </a:xfrm>
              <a:custGeom>
                <a:avLst/>
                <a:gdLst/>
                <a:ahLst/>
                <a:cxnLst/>
                <a:rect l="l" t="t" r="r" b="b"/>
                <a:pathLst>
                  <a:path w="87312" h="122237">
                    <a:moveTo>
                      <a:pt x="0" y="34925"/>
                    </a:moveTo>
                    <a:cubicBezTo>
                      <a:pt x="0" y="15636"/>
                      <a:pt x="15636" y="0"/>
                      <a:pt x="34925" y="0"/>
                    </a:cubicBezTo>
                    <a:lnTo>
                      <a:pt x="52387" y="0"/>
                    </a:lnTo>
                    <a:cubicBezTo>
                      <a:pt x="71676" y="0"/>
                      <a:pt x="87312" y="15636"/>
                      <a:pt x="87312" y="34925"/>
                    </a:cubicBezTo>
                    <a:lnTo>
                      <a:pt x="87312" y="87312"/>
                    </a:lnTo>
                    <a:cubicBezTo>
                      <a:pt x="87312" y="106601"/>
                      <a:pt x="71676" y="122237"/>
                      <a:pt x="52387" y="122237"/>
                    </a:cubicBezTo>
                    <a:lnTo>
                      <a:pt x="34925" y="122237"/>
                    </a:lnTo>
                    <a:cubicBezTo>
                      <a:pt x="15636" y="122237"/>
                      <a:pt x="0" y="106601"/>
                      <a:pt x="0" y="87312"/>
                    </a:cubicBezTo>
                    <a:lnTo>
                      <a:pt x="0" y="34925"/>
                    </a:lnTo>
                  </a:path>
                </a:pathLst>
              </a:custGeom>
              <a:noFill/>
              <a:ln w="26194">
                <a:solidFill>
                  <a:srgbClr val="8A1700"/>
                </a:solidFill>
              </a:ln>
            </p:spPr>
          </p:sp>
          <p:sp>
            <p:nvSpPr>
              <p:cNvPr id="64" name="Freeform 64"/>
              <p:cNvSpPr/>
              <p:nvPr/>
            </p:nvSpPr>
            <p:spPr>
              <a:xfrm>
                <a:off x="5253037" y="4514850"/>
                <a:ext cx="87312" cy="122237"/>
              </a:xfrm>
              <a:custGeom>
                <a:avLst/>
                <a:gdLst/>
                <a:ahLst/>
                <a:cxnLst/>
                <a:rect l="l" t="t" r="r" b="b"/>
                <a:pathLst>
                  <a:path w="87312" h="122237">
                    <a:moveTo>
                      <a:pt x="0" y="34925"/>
                    </a:moveTo>
                    <a:cubicBezTo>
                      <a:pt x="0" y="15636"/>
                      <a:pt x="15636" y="0"/>
                      <a:pt x="34925" y="0"/>
                    </a:cubicBezTo>
                    <a:lnTo>
                      <a:pt x="52387" y="0"/>
                    </a:lnTo>
                    <a:cubicBezTo>
                      <a:pt x="71676" y="0"/>
                      <a:pt x="87312" y="15636"/>
                      <a:pt x="87312" y="34925"/>
                    </a:cubicBezTo>
                    <a:lnTo>
                      <a:pt x="87312" y="87312"/>
                    </a:lnTo>
                    <a:cubicBezTo>
                      <a:pt x="87312" y="106601"/>
                      <a:pt x="71676" y="122237"/>
                      <a:pt x="52387" y="122237"/>
                    </a:cubicBezTo>
                    <a:lnTo>
                      <a:pt x="34925" y="122237"/>
                    </a:lnTo>
                    <a:cubicBezTo>
                      <a:pt x="15636" y="122237"/>
                      <a:pt x="0" y="106601"/>
                      <a:pt x="0" y="87312"/>
                    </a:cubicBezTo>
                    <a:lnTo>
                      <a:pt x="0" y="34925"/>
                    </a:lnTo>
                  </a:path>
                </a:pathLst>
              </a:custGeom>
              <a:noFill/>
              <a:ln w="26194">
                <a:solidFill>
                  <a:srgbClr val="8A1700"/>
                </a:solidFill>
              </a:ln>
            </p:spPr>
          </p:sp>
        </p:grpSp>
        <p:sp>
          <p:nvSpPr>
            <p:cNvPr id="66" name="TextBox 66"/>
            <p:cNvSpPr txBox="1"/>
            <p:nvPr/>
          </p:nvSpPr>
          <p:spPr>
            <a:xfrm>
              <a:off x="5747004" y="4175760"/>
              <a:ext cx="1143000"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专属服务入口：</a:t>
              </a:r>
            </a:p>
          </p:txBody>
        </p:sp>
        <p:sp>
          <p:nvSpPr>
            <p:cNvPr id="67" name="TextBox 67"/>
            <p:cNvSpPr txBox="1"/>
            <p:nvPr/>
          </p:nvSpPr>
          <p:spPr>
            <a:xfrm>
              <a:off x="5748338" y="4474845"/>
              <a:ext cx="11525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60403A"/>
                  </a:solidFill>
                  <a:latin typeface="+mn-lt"/>
                  <a:ea typeface="+mn-ea"/>
                  <a:cs typeface="+mn-cs"/>
                </a:rPr>
                <a:t>客户经理、季度回顾、</a:t>
              </a:r>
              <a:br/>
              <a:r>
                <a:rPr lang="zh-CN" sz="900" dirty="0">
                  <a:solidFill>
                    <a:srgbClr val="60403A"/>
                  </a:solidFill>
                  <a:latin typeface="+mn-lt"/>
                  <a:ea typeface="+mn-ea"/>
                  <a:cs typeface="+mn-cs"/>
                </a:rPr>
                <a:t>复杂问题协调</a:t>
              </a:r>
            </a:p>
          </p:txBody>
        </p:sp>
      </p:grpSp>
      <p:grpSp>
        <p:nvGrpSpPr>
          <p:cNvPr id="78" name="slogan-banner"/>
          <p:cNvGrpSpPr/>
          <p:nvPr/>
        </p:nvGrpSpPr>
        <p:grpSpPr>
          <a:xfrm>
            <a:off x="228600" y="5524500"/>
            <a:ext cx="11734800" cy="762000"/>
            <a:chOff x="228600" y="5524500"/>
            <a:chExt cx="11734800" cy="762000"/>
          </a:xfrm>
        </p:grpSpPr>
        <p:sp>
          <p:nvSpPr>
            <p:cNvPr id="69" name="Rectangle 69"/>
            <p:cNvSpPr/>
            <p:nvPr/>
          </p:nvSpPr>
          <p:spPr>
            <a:xfrm>
              <a:off x="228600" y="5524500"/>
              <a:ext cx="11734800" cy="762000"/>
            </a:xfrm>
            <a:prstGeom prst="roundRect">
              <a:avLst>
                <a:gd name="adj" fmla="val 10000"/>
              </a:avLst>
            </a:prstGeom>
            <a:solidFill>
              <a:srgbClr val="671200"/>
            </a:solidFill>
            <a:ln>
              <a:noFill/>
            </a:ln>
          </p:spPr>
        </p:sp>
        <p:sp>
          <p:nvSpPr>
            <p:cNvPr id="70" name="Freeform 70"/>
            <p:cNvSpPr/>
            <p:nvPr/>
          </p:nvSpPr>
          <p:spPr>
            <a:xfrm>
              <a:off x="381000" y="5600700"/>
              <a:ext cx="381000" cy="609600"/>
            </a:xfrm>
            <a:prstGeom prst="chevron">
              <a:avLst/>
            </a:prstGeom>
            <a:solidFill>
              <a:srgbClr val="E84E2F"/>
            </a:solidFill>
            <a:ln>
              <a:noFill/>
            </a:ln>
          </p:spPr>
        </p:sp>
        <p:sp>
          <p:nvSpPr>
            <p:cNvPr id="71" name="Freeform 71"/>
            <p:cNvSpPr/>
            <p:nvPr/>
          </p:nvSpPr>
          <p:spPr>
            <a:xfrm rot="10800000">
              <a:off x="11430000" y="5600700"/>
              <a:ext cx="381000" cy="609600"/>
            </a:xfrm>
            <a:prstGeom prst="chevron">
              <a:avLst/>
            </a:prstGeom>
            <a:solidFill>
              <a:srgbClr val="E84E2F"/>
            </a:solidFill>
            <a:ln>
              <a:noFill/>
            </a:ln>
          </p:spPr>
        </p:sp>
        <p:sp>
          <p:nvSpPr>
            <p:cNvPr id="72" name="Ellipse 72"/>
            <p:cNvSpPr/>
            <p:nvPr/>
          </p:nvSpPr>
          <p:spPr>
            <a:xfrm>
              <a:off x="1943100" y="5657850"/>
              <a:ext cx="495300" cy="495300"/>
            </a:xfrm>
            <a:prstGeom prst="ellipse">
              <a:avLst/>
            </a:prstGeom>
            <a:noFill/>
            <a:ln w="19050">
              <a:solidFill>
                <a:srgbClr val="FFFFFF"/>
              </a:solidFill>
            </a:ln>
          </p:spPr>
        </p:sp>
        <p:grpSp>
          <p:nvGrpSpPr>
            <p:cNvPr id="75" name="Group 75"/>
            <p:cNvGrpSpPr/>
            <p:nvPr/>
          </p:nvGrpSpPr>
          <p:grpSpPr>
            <a:xfrm>
              <a:off x="2059311" y="5791200"/>
              <a:ext cx="248008" cy="228599"/>
              <a:chOff x="2059311" y="5791200"/>
              <a:chExt cx="248008" cy="228599"/>
            </a:xfrm>
          </p:grpSpPr>
          <p:sp>
            <p:nvSpPr>
              <p:cNvPr id="73" name="Freeform 73"/>
              <p:cNvSpPr/>
              <p:nvPr/>
            </p:nvSpPr>
            <p:spPr>
              <a:xfrm>
                <a:off x="2059311" y="5791200"/>
                <a:ext cx="248008" cy="226644"/>
              </a:xfrm>
              <a:custGeom>
                <a:avLst/>
                <a:gdLst/>
                <a:ahLst/>
                <a:cxnLst/>
                <a:rect l="l" t="t" r="r" b="b"/>
                <a:pathLst>
                  <a:path w="248008" h="226644">
                    <a:moveTo>
                      <a:pt x="124581" y="226644"/>
                    </a:moveTo>
                    <a:cubicBezTo>
                      <a:pt x="45021" y="201982"/>
                      <a:pt x="0" y="118013"/>
                      <a:pt x="23489" y="38100"/>
                    </a:cubicBezTo>
                    <a:cubicBezTo>
                      <a:pt x="63056" y="39910"/>
                      <a:pt x="101774" y="26245"/>
                      <a:pt x="131439" y="0"/>
                    </a:cubicBezTo>
                    <a:cubicBezTo>
                      <a:pt x="161104" y="26245"/>
                      <a:pt x="199822" y="39910"/>
                      <a:pt x="239389" y="38100"/>
                    </a:cubicBezTo>
                    <a:cubicBezTo>
                      <a:pt x="248008" y="67426"/>
                      <a:pt x="247610" y="98665"/>
                      <a:pt x="238246" y="127762"/>
                    </a:cubicBezTo>
                  </a:path>
                </a:pathLst>
              </a:custGeom>
              <a:noFill/>
              <a:ln w="22860">
                <a:solidFill>
                  <a:srgbClr val="FFFFFF"/>
                </a:solidFill>
              </a:ln>
            </p:spPr>
          </p:sp>
          <p:sp>
            <p:nvSpPr>
              <p:cNvPr id="74" name="Freeform 74"/>
              <p:cNvSpPr/>
              <p:nvPr/>
            </p:nvSpPr>
            <p:spPr>
              <a:xfrm>
                <a:off x="2228850" y="5968999"/>
                <a:ext cx="76200" cy="50800"/>
              </a:xfrm>
              <a:custGeom>
                <a:avLst/>
                <a:gdLst/>
                <a:ahLst/>
                <a:cxnLst/>
                <a:rect l="l" t="t" r="r" b="b"/>
                <a:pathLst>
                  <a:path w="76200" h="50800">
                    <a:moveTo>
                      <a:pt x="0" y="25400"/>
                    </a:moveTo>
                    <a:lnTo>
                      <a:pt x="25400" y="50800"/>
                    </a:lnTo>
                    <a:lnTo>
                      <a:pt x="76200" y="0"/>
                    </a:lnTo>
                  </a:path>
                </a:pathLst>
              </a:custGeom>
              <a:noFill/>
              <a:ln w="22860">
                <a:solidFill>
                  <a:srgbClr val="FFFFFF"/>
                </a:solidFill>
              </a:ln>
            </p:spPr>
          </p:sp>
        </p:grpSp>
        <p:sp>
          <p:nvSpPr>
            <p:cNvPr id="76" name="Line 76"/>
            <p:cNvSpPr/>
            <p:nvPr/>
          </p:nvSpPr>
          <p:spPr>
            <a:xfrm>
              <a:off x="2667000" y="5715000"/>
              <a:ext cx="9525" cy="381000"/>
            </a:xfrm>
            <a:custGeom>
              <a:avLst/>
              <a:gdLst/>
              <a:ahLst/>
              <a:cxnLst/>
              <a:rect l="l" t="t" r="r" b="b"/>
              <a:pathLst>
                <a:path w="9525" h="381000">
                  <a:moveTo>
                    <a:pt x="0" y="0"/>
                  </a:moveTo>
                  <a:lnTo>
                    <a:pt x="0" y="381000"/>
                  </a:lnTo>
                </a:path>
              </a:pathLst>
            </a:custGeom>
            <a:noFill/>
            <a:ln w="14288">
              <a:solidFill>
                <a:srgbClr val="A84F3D"/>
              </a:solidFill>
            </a:ln>
          </p:spPr>
        </p:sp>
        <p:sp>
          <p:nvSpPr>
            <p:cNvPr id="77" name="TextBox 77"/>
            <p:cNvSpPr txBox="1"/>
            <p:nvPr/>
          </p:nvSpPr>
          <p:spPr>
            <a:xfrm>
              <a:off x="2942844" y="5790248"/>
              <a:ext cx="5007483" cy="381381"/>
            </a:xfrm>
            <a:prstGeom prst="rect">
              <a:avLst/>
            </a:prstGeom>
            <a:noFill/>
            <a:ln>
              <a:noFill/>
            </a:ln>
          </p:spPr>
          <p:txBody>
            <a:bodyPr wrap="none" lIns="0" tIns="0" rIns="0" bIns="0" anchor="t" anchorCtr="0">
              <a:spAutoFit/>
            </a:bodyPr>
            <a:lstStyle/>
            <a:p>
              <a:pPr algn="l"/>
              <a:r>
                <a:rPr lang="zh-CN" sz="1950" b="1" dirty="0">
                  <a:solidFill>
                    <a:srgbClr val="FFFFFF"/>
                  </a:solidFill>
                  <a:latin typeface="+mn-lt"/>
                  <a:ea typeface="+mn-ea"/>
                  <a:cs typeface="+mn-cs"/>
                </a:rPr>
                <a:t>先服务、再经营；先建立信任、再提升贡献</a:t>
              </a:r>
            </a:p>
          </p:txBody>
        </p:sp>
      </p:gr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13​</a:t>
              </a:r>
            </a:p>
          </p:txBody>
        </p:sp>
        <p:sp>
          <p:nvSpPr>
            <p:cNvPr id="4" name="TextBox 4"/>
            <p:cNvSpPr txBox="1"/>
            <p:nvPr/>
          </p:nvSpPr>
          <p:spPr>
            <a:xfrm>
              <a:off x="942594" y="151448"/>
              <a:ext cx="6121908"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客户价值提升：从信用卡消费延伸到综合贡献经营</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67" name="ltv-tree"/>
          <p:cNvGrpSpPr/>
          <p:nvPr/>
        </p:nvGrpSpPr>
        <p:grpSpPr>
          <a:xfrm>
            <a:off x="228600" y="914400"/>
            <a:ext cx="3676650" cy="3962400"/>
            <a:chOff x="228600" y="914400"/>
            <a:chExt cx="3676650" cy="3962400"/>
          </a:xfrm>
        </p:grpSpPr>
        <p:sp>
          <p:nvSpPr>
            <p:cNvPr id="7" name="Rectangle 7"/>
            <p:cNvSpPr/>
            <p:nvPr/>
          </p:nvSpPr>
          <p:spPr>
            <a:xfrm>
              <a:off x="228600" y="2381250"/>
              <a:ext cx="1143000" cy="1238250"/>
            </a:xfrm>
            <a:prstGeom prst="roundRect">
              <a:avLst>
                <a:gd name="adj" fmla="val 6667"/>
              </a:avLst>
            </a:prstGeom>
            <a:solidFill>
              <a:srgbClr val="520E00"/>
            </a:solidFill>
            <a:ln>
              <a:noFill/>
            </a:ln>
          </p:spPr>
        </p:sp>
        <p:grpSp>
          <p:nvGrpSpPr>
            <p:cNvPr id="10" name="Group 10"/>
            <p:cNvGrpSpPr/>
            <p:nvPr/>
          </p:nvGrpSpPr>
          <p:grpSpPr>
            <a:xfrm>
              <a:off x="647700" y="2647950"/>
              <a:ext cx="304800" cy="257175"/>
              <a:chOff x="647700" y="2647950"/>
              <a:chExt cx="304800" cy="257175"/>
            </a:xfrm>
          </p:grpSpPr>
          <p:sp>
            <p:nvSpPr>
              <p:cNvPr id="8" name="Freeform 8"/>
              <p:cNvSpPr/>
              <p:nvPr/>
            </p:nvSpPr>
            <p:spPr>
              <a:xfrm>
                <a:off x="647700" y="2895600"/>
                <a:ext cx="304800" cy="9525"/>
              </a:xfrm>
              <a:custGeom>
                <a:avLst/>
                <a:gdLst/>
                <a:ahLst/>
                <a:cxnLst/>
                <a:rect l="l" t="t" r="r" b="b"/>
                <a:pathLst>
                  <a:path w="304800" h="9525">
                    <a:moveTo>
                      <a:pt x="0" y="0"/>
                    </a:moveTo>
                    <a:lnTo>
                      <a:pt x="304800" y="0"/>
                    </a:lnTo>
                  </a:path>
                </a:pathLst>
              </a:custGeom>
              <a:noFill/>
              <a:ln w="28575">
                <a:solidFill>
                  <a:srgbClr val="FFFFFF"/>
                </a:solidFill>
              </a:ln>
            </p:spPr>
          </p:sp>
          <p:sp>
            <p:nvSpPr>
              <p:cNvPr id="9" name="Freeform 9"/>
              <p:cNvSpPr/>
              <p:nvPr/>
            </p:nvSpPr>
            <p:spPr>
              <a:xfrm>
                <a:off x="647700" y="2647950"/>
                <a:ext cx="304800" cy="171450"/>
              </a:xfrm>
              <a:custGeom>
                <a:avLst/>
                <a:gdLst/>
                <a:ahLst/>
                <a:cxnLst/>
                <a:rect l="l" t="t" r="r" b="b"/>
                <a:pathLst>
                  <a:path w="304800" h="171450">
                    <a:moveTo>
                      <a:pt x="0" y="171450"/>
                    </a:moveTo>
                    <a:lnTo>
                      <a:pt x="76200" y="57150"/>
                    </a:lnTo>
                    <a:lnTo>
                      <a:pt x="152400" y="95250"/>
                    </a:lnTo>
                    <a:lnTo>
                      <a:pt x="228600" y="0"/>
                    </a:lnTo>
                    <a:lnTo>
                      <a:pt x="304800" y="76200"/>
                    </a:lnTo>
                  </a:path>
                </a:pathLst>
              </a:custGeom>
              <a:noFill/>
              <a:ln w="28575">
                <a:solidFill>
                  <a:srgbClr val="FFFFFF"/>
                </a:solidFill>
              </a:ln>
            </p:spPr>
          </p:sp>
        </p:grpSp>
        <p:sp>
          <p:nvSpPr>
            <p:cNvPr id="11" name="TextBox 11"/>
            <p:cNvSpPr txBox="1"/>
            <p:nvPr/>
          </p:nvSpPr>
          <p:spPr>
            <a:xfrm>
              <a:off x="411022" y="3196114"/>
              <a:ext cx="77815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客户LTV​</a:t>
              </a:r>
            </a:p>
          </p:txBody>
        </p:sp>
        <p:sp>
          <p:nvSpPr>
            <p:cNvPr id="12" name="Line 12"/>
            <p:cNvSpPr/>
            <p:nvPr/>
          </p:nvSpPr>
          <p:spPr>
            <a:xfrm>
              <a:off x="1371600" y="3000375"/>
              <a:ext cx="304800" cy="9525"/>
            </a:xfrm>
            <a:custGeom>
              <a:avLst/>
              <a:gdLst/>
              <a:ahLst/>
              <a:cxnLst/>
              <a:rect l="l" t="t" r="r" b="b"/>
              <a:pathLst>
                <a:path w="304800" h="9525">
                  <a:moveTo>
                    <a:pt x="0" y="0"/>
                  </a:moveTo>
                  <a:lnTo>
                    <a:pt x="304800" y="0"/>
                  </a:lnTo>
                </a:path>
              </a:pathLst>
            </a:custGeom>
            <a:noFill/>
            <a:ln w="14288">
              <a:solidFill>
                <a:srgbClr val="E84E2F"/>
              </a:solidFill>
            </a:ln>
          </p:spPr>
        </p:sp>
        <p:sp>
          <p:nvSpPr>
            <p:cNvPr id="13" name="Line 13"/>
            <p:cNvSpPr/>
            <p:nvPr/>
          </p:nvSpPr>
          <p:spPr>
            <a:xfrm>
              <a:off x="1676400" y="1133475"/>
              <a:ext cx="9525" cy="3524250"/>
            </a:xfrm>
            <a:custGeom>
              <a:avLst/>
              <a:gdLst/>
              <a:ahLst/>
              <a:cxnLst/>
              <a:rect l="l" t="t" r="r" b="b"/>
              <a:pathLst>
                <a:path w="9525" h="3524250">
                  <a:moveTo>
                    <a:pt x="0" y="0"/>
                  </a:moveTo>
                  <a:lnTo>
                    <a:pt x="0" y="3524250"/>
                  </a:lnTo>
                </a:path>
              </a:pathLst>
            </a:custGeom>
            <a:noFill/>
            <a:ln w="14288">
              <a:solidFill>
                <a:srgbClr val="E84E2F"/>
              </a:solidFill>
            </a:ln>
          </p:spPr>
        </p:sp>
        <p:sp>
          <p:nvSpPr>
            <p:cNvPr id="14" name="Line 14"/>
            <p:cNvSpPr/>
            <p:nvPr/>
          </p:nvSpPr>
          <p:spPr>
            <a:xfrm>
              <a:off x="1676400" y="1133475"/>
              <a:ext cx="228600" cy="9525"/>
            </a:xfrm>
            <a:custGeom>
              <a:avLst/>
              <a:gdLst/>
              <a:ahLst/>
              <a:cxnLst/>
              <a:rect l="l" t="t" r="r" b="b"/>
              <a:pathLst>
                <a:path w="228600" h="9525">
                  <a:moveTo>
                    <a:pt x="0" y="0"/>
                  </a:moveTo>
                  <a:lnTo>
                    <a:pt x="228600" y="0"/>
                  </a:lnTo>
                </a:path>
              </a:pathLst>
            </a:custGeom>
            <a:noFill/>
            <a:ln w="14288">
              <a:solidFill>
                <a:srgbClr val="E84E2F"/>
              </a:solidFill>
            </a:ln>
          </p:spPr>
        </p:sp>
        <p:sp>
          <p:nvSpPr>
            <p:cNvPr id="15" name="Line 15"/>
            <p:cNvSpPr/>
            <p:nvPr/>
          </p:nvSpPr>
          <p:spPr>
            <a:xfrm>
              <a:off x="1676400" y="1838325"/>
              <a:ext cx="228600" cy="9525"/>
            </a:xfrm>
            <a:custGeom>
              <a:avLst/>
              <a:gdLst/>
              <a:ahLst/>
              <a:cxnLst/>
              <a:rect l="l" t="t" r="r" b="b"/>
              <a:pathLst>
                <a:path w="228600" h="9525">
                  <a:moveTo>
                    <a:pt x="0" y="0"/>
                  </a:moveTo>
                  <a:lnTo>
                    <a:pt x="228600" y="0"/>
                  </a:lnTo>
                </a:path>
              </a:pathLst>
            </a:custGeom>
            <a:noFill/>
            <a:ln w="14288">
              <a:solidFill>
                <a:srgbClr val="E84E2F"/>
              </a:solidFill>
            </a:ln>
          </p:spPr>
        </p:sp>
        <p:sp>
          <p:nvSpPr>
            <p:cNvPr id="16" name="Line 16"/>
            <p:cNvSpPr/>
            <p:nvPr/>
          </p:nvSpPr>
          <p:spPr>
            <a:xfrm>
              <a:off x="1676400" y="2543175"/>
              <a:ext cx="228600" cy="9525"/>
            </a:xfrm>
            <a:custGeom>
              <a:avLst/>
              <a:gdLst/>
              <a:ahLst/>
              <a:cxnLst/>
              <a:rect l="l" t="t" r="r" b="b"/>
              <a:pathLst>
                <a:path w="228600" h="9525">
                  <a:moveTo>
                    <a:pt x="0" y="0"/>
                  </a:moveTo>
                  <a:lnTo>
                    <a:pt x="228600" y="0"/>
                  </a:lnTo>
                </a:path>
              </a:pathLst>
            </a:custGeom>
            <a:noFill/>
            <a:ln w="14288">
              <a:solidFill>
                <a:srgbClr val="E84E2F"/>
              </a:solidFill>
            </a:ln>
          </p:spPr>
        </p:sp>
        <p:sp>
          <p:nvSpPr>
            <p:cNvPr id="17" name="Line 17"/>
            <p:cNvSpPr/>
            <p:nvPr/>
          </p:nvSpPr>
          <p:spPr>
            <a:xfrm>
              <a:off x="1676400" y="3248025"/>
              <a:ext cx="228600" cy="9525"/>
            </a:xfrm>
            <a:custGeom>
              <a:avLst/>
              <a:gdLst/>
              <a:ahLst/>
              <a:cxnLst/>
              <a:rect l="l" t="t" r="r" b="b"/>
              <a:pathLst>
                <a:path w="228600" h="9525">
                  <a:moveTo>
                    <a:pt x="0" y="0"/>
                  </a:moveTo>
                  <a:lnTo>
                    <a:pt x="228600" y="0"/>
                  </a:lnTo>
                </a:path>
              </a:pathLst>
            </a:custGeom>
            <a:noFill/>
            <a:ln w="14288">
              <a:solidFill>
                <a:srgbClr val="E84E2F"/>
              </a:solidFill>
            </a:ln>
          </p:spPr>
        </p:sp>
        <p:sp>
          <p:nvSpPr>
            <p:cNvPr id="18" name="Line 18"/>
            <p:cNvSpPr/>
            <p:nvPr/>
          </p:nvSpPr>
          <p:spPr>
            <a:xfrm>
              <a:off x="1676400" y="3952875"/>
              <a:ext cx="228600" cy="9525"/>
            </a:xfrm>
            <a:custGeom>
              <a:avLst/>
              <a:gdLst/>
              <a:ahLst/>
              <a:cxnLst/>
              <a:rect l="l" t="t" r="r" b="b"/>
              <a:pathLst>
                <a:path w="228600" h="9525">
                  <a:moveTo>
                    <a:pt x="0" y="0"/>
                  </a:moveTo>
                  <a:lnTo>
                    <a:pt x="228600" y="0"/>
                  </a:lnTo>
                </a:path>
              </a:pathLst>
            </a:custGeom>
            <a:noFill/>
            <a:ln w="14288">
              <a:solidFill>
                <a:srgbClr val="E84E2F"/>
              </a:solidFill>
            </a:ln>
          </p:spPr>
        </p:sp>
        <p:sp>
          <p:nvSpPr>
            <p:cNvPr id="19" name="Line 19"/>
            <p:cNvSpPr/>
            <p:nvPr/>
          </p:nvSpPr>
          <p:spPr>
            <a:xfrm>
              <a:off x="1676400" y="4657725"/>
              <a:ext cx="228600" cy="9525"/>
            </a:xfrm>
            <a:custGeom>
              <a:avLst/>
              <a:gdLst/>
              <a:ahLst/>
              <a:cxnLst/>
              <a:rect l="l" t="t" r="r" b="b"/>
              <a:pathLst>
                <a:path w="228600" h="9525">
                  <a:moveTo>
                    <a:pt x="0" y="0"/>
                  </a:moveTo>
                  <a:lnTo>
                    <a:pt x="228600" y="0"/>
                  </a:lnTo>
                </a:path>
              </a:pathLst>
            </a:custGeom>
            <a:noFill/>
            <a:ln w="14288">
              <a:solidFill>
                <a:srgbClr val="E84E2F"/>
              </a:solidFill>
            </a:ln>
          </p:spPr>
        </p:sp>
        <p:grpSp>
          <p:nvGrpSpPr>
            <p:cNvPr id="27" name="ltv-item-1"/>
            <p:cNvGrpSpPr/>
            <p:nvPr/>
          </p:nvGrpSpPr>
          <p:grpSpPr>
            <a:xfrm>
              <a:off x="1905000" y="914400"/>
              <a:ext cx="2000250" cy="438150"/>
              <a:chOff x="1905000" y="914400"/>
              <a:chExt cx="2000250" cy="438150"/>
            </a:xfrm>
          </p:grpSpPr>
          <p:sp>
            <p:nvSpPr>
              <p:cNvPr id="20" name="Rectangle 20"/>
              <p:cNvSpPr/>
              <p:nvPr/>
            </p:nvSpPr>
            <p:spPr>
              <a:xfrm>
                <a:off x="1905000" y="914400"/>
                <a:ext cx="2000250" cy="438150"/>
              </a:xfrm>
              <a:prstGeom prst="roundRect">
                <a:avLst>
                  <a:gd name="adj" fmla="val 13043"/>
                </a:avLst>
              </a:prstGeom>
              <a:solidFill>
                <a:srgbClr val="F5F8FE"/>
              </a:solidFill>
              <a:ln w="9525">
                <a:solidFill>
                  <a:srgbClr val="C9D5EA"/>
                </a:solidFill>
              </a:ln>
            </p:spPr>
          </p:sp>
          <p:grpSp>
            <p:nvGrpSpPr>
              <p:cNvPr id="25" name="Group 25"/>
              <p:cNvGrpSpPr/>
              <p:nvPr/>
            </p:nvGrpSpPr>
            <p:grpSpPr>
              <a:xfrm>
                <a:off x="2082800" y="1033463"/>
                <a:ext cx="177800" cy="200025"/>
                <a:chOff x="2082800" y="1033463"/>
                <a:chExt cx="177800" cy="200025"/>
              </a:xfrm>
            </p:grpSpPr>
            <p:sp>
              <p:nvSpPr>
                <p:cNvPr id="21" name="Freeform 21"/>
                <p:cNvSpPr/>
                <p:nvPr/>
              </p:nvSpPr>
              <p:spPr>
                <a:xfrm>
                  <a:off x="2082800" y="11890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A1700"/>
                  </a:solidFill>
                </a:ln>
              </p:spPr>
            </p:sp>
            <p:sp>
              <p:nvSpPr>
                <p:cNvPr id="22" name="Freeform 22"/>
                <p:cNvSpPr/>
                <p:nvPr/>
              </p:nvSpPr>
              <p:spPr>
                <a:xfrm>
                  <a:off x="2205038" y="11890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6669">
                  <a:solidFill>
                    <a:srgbClr val="8A1700"/>
                  </a:solidFill>
                </a:ln>
              </p:spPr>
            </p:sp>
            <p:sp>
              <p:nvSpPr>
                <p:cNvPr id="23" name="Freeform 23"/>
                <p:cNvSpPr/>
                <p:nvPr/>
              </p:nvSpPr>
              <p:spPr>
                <a:xfrm>
                  <a:off x="2082800" y="1033463"/>
                  <a:ext cx="144463" cy="155575"/>
                </a:xfrm>
                <a:custGeom>
                  <a:avLst/>
                  <a:gdLst/>
                  <a:ahLst/>
                  <a:cxnLst/>
                  <a:rect l="l" t="t" r="r" b="b"/>
                  <a:pathLst>
                    <a:path w="144463" h="155575">
                      <a:moveTo>
                        <a:pt x="144463" y="155575"/>
                      </a:moveTo>
                      <a:lnTo>
                        <a:pt x="22225" y="155575"/>
                      </a:lnTo>
                      <a:lnTo>
                        <a:pt x="22225" y="0"/>
                      </a:lnTo>
                      <a:lnTo>
                        <a:pt x="0" y="0"/>
                      </a:lnTo>
                    </a:path>
                  </a:pathLst>
                </a:custGeom>
                <a:noFill/>
                <a:ln w="16669">
                  <a:solidFill>
                    <a:srgbClr val="8A1700"/>
                  </a:solidFill>
                </a:ln>
              </p:spPr>
            </p:sp>
            <p:sp>
              <p:nvSpPr>
                <p:cNvPr id="24" name="Freeform 24"/>
                <p:cNvSpPr/>
                <p:nvPr/>
              </p:nvSpPr>
              <p:spPr>
                <a:xfrm>
                  <a:off x="2105025" y="1055688"/>
                  <a:ext cx="155575" cy="88900"/>
                </a:xfrm>
                <a:custGeom>
                  <a:avLst/>
                  <a:gdLst/>
                  <a:ahLst/>
                  <a:cxnLst/>
                  <a:rect l="l" t="t" r="r" b="b"/>
                  <a:pathLst>
                    <a:path w="155575" h="88900">
                      <a:moveTo>
                        <a:pt x="0" y="0"/>
                      </a:moveTo>
                      <a:lnTo>
                        <a:pt x="155575" y="11113"/>
                      </a:lnTo>
                      <a:lnTo>
                        <a:pt x="144463" y="88900"/>
                      </a:lnTo>
                      <a:lnTo>
                        <a:pt x="0" y="88900"/>
                      </a:lnTo>
                    </a:path>
                  </a:pathLst>
                </a:custGeom>
                <a:noFill/>
                <a:ln w="16669">
                  <a:solidFill>
                    <a:srgbClr val="8A1700"/>
                  </a:solidFill>
                </a:ln>
              </p:spPr>
            </p:sp>
          </p:grpSp>
          <p:sp>
            <p:nvSpPr>
              <p:cNvPr id="26" name="TextBox 26"/>
              <p:cNvSpPr txBox="1"/>
              <p:nvPr/>
            </p:nvSpPr>
            <p:spPr>
              <a:xfrm>
                <a:off x="2433066" y="1077278"/>
                <a:ext cx="576072"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消费贡献</a:t>
                </a:r>
              </a:p>
            </p:txBody>
          </p:sp>
        </p:grpSp>
        <p:sp>
          <p:nvSpPr>
            <p:cNvPr id="28" name="TextBox 28"/>
            <p:cNvSpPr txBox="1"/>
            <p:nvPr/>
          </p:nvSpPr>
          <p:spPr>
            <a:xfrm>
              <a:off x="2793314" y="1435418"/>
              <a:ext cx="223622" cy="264033"/>
            </a:xfrm>
            <a:prstGeom prst="rect">
              <a:avLst/>
            </a:prstGeom>
            <a:noFill/>
            <a:ln>
              <a:noFill/>
            </a:ln>
          </p:spPr>
          <p:txBody>
            <a:bodyPr wrap="none" lIns="0" tIns="0" rIns="0" bIns="0" anchor="t" anchorCtr="0">
              <a:spAutoFit/>
            </a:bodyPr>
            <a:lstStyle/>
            <a:p>
              <a:pPr algn="ctr"/>
              <a:r>
                <a:rPr lang="zh-CN" sz="1350" b="1" dirty="0">
                  <a:solidFill>
                    <a:srgbClr val="8A1700"/>
                  </a:solidFill>
                  <a:latin typeface="+mn-lt"/>
                  <a:ea typeface="+mn-ea"/>
                  <a:cs typeface="+mn-cs"/>
                </a:rPr>
                <a:t>+​</a:t>
              </a:r>
            </a:p>
          </p:txBody>
        </p:sp>
        <p:grpSp>
          <p:nvGrpSpPr>
            <p:cNvPr id="36" name="ltv-item-2"/>
            <p:cNvGrpSpPr/>
            <p:nvPr/>
          </p:nvGrpSpPr>
          <p:grpSpPr>
            <a:xfrm>
              <a:off x="1905000" y="1619250"/>
              <a:ext cx="2000250" cy="438150"/>
              <a:chOff x="1905000" y="1619250"/>
              <a:chExt cx="2000250" cy="438150"/>
            </a:xfrm>
          </p:grpSpPr>
          <p:sp>
            <p:nvSpPr>
              <p:cNvPr id="29" name="Rectangle 29"/>
              <p:cNvSpPr/>
              <p:nvPr/>
            </p:nvSpPr>
            <p:spPr>
              <a:xfrm>
                <a:off x="1905000" y="1619250"/>
                <a:ext cx="2000250" cy="438150"/>
              </a:xfrm>
              <a:prstGeom prst="roundRect">
                <a:avLst>
                  <a:gd name="adj" fmla="val 13043"/>
                </a:avLst>
              </a:prstGeom>
              <a:solidFill>
                <a:srgbClr val="F5F8FE"/>
              </a:solidFill>
              <a:ln w="9525">
                <a:solidFill>
                  <a:srgbClr val="C9D5EA"/>
                </a:solidFill>
              </a:ln>
            </p:spPr>
          </p:sp>
          <p:grpSp>
            <p:nvGrpSpPr>
              <p:cNvPr id="34" name="Group 34"/>
              <p:cNvGrpSpPr/>
              <p:nvPr/>
            </p:nvGrpSpPr>
            <p:grpSpPr>
              <a:xfrm>
                <a:off x="2071688" y="1760538"/>
                <a:ext cx="200026" cy="155575"/>
                <a:chOff x="2071688" y="1760538"/>
                <a:chExt cx="200026" cy="155575"/>
              </a:xfrm>
            </p:grpSpPr>
            <p:sp>
              <p:nvSpPr>
                <p:cNvPr id="30" name="Freeform 30"/>
                <p:cNvSpPr/>
                <p:nvPr/>
              </p:nvSpPr>
              <p:spPr>
                <a:xfrm>
                  <a:off x="2071688" y="1760538"/>
                  <a:ext cx="200026" cy="155575"/>
                </a:xfrm>
                <a:custGeom>
                  <a:avLst/>
                  <a:gdLst/>
                  <a:ahLst/>
                  <a:cxnLst/>
                  <a:rect l="l" t="t" r="r" b="b"/>
                  <a:pathLst>
                    <a:path w="200026" h="155575">
                      <a:moveTo>
                        <a:pt x="0" y="33338"/>
                      </a:moveTo>
                      <a:cubicBezTo>
                        <a:pt x="0" y="14926"/>
                        <a:pt x="14926" y="0"/>
                        <a:pt x="33338" y="0"/>
                      </a:cubicBezTo>
                      <a:lnTo>
                        <a:pt x="166688" y="0"/>
                      </a:lnTo>
                      <a:cubicBezTo>
                        <a:pt x="185100" y="0"/>
                        <a:pt x="200026" y="14926"/>
                        <a:pt x="200026" y="33338"/>
                      </a:cubicBezTo>
                      <a:lnTo>
                        <a:pt x="200026" y="122238"/>
                      </a:lnTo>
                      <a:cubicBezTo>
                        <a:pt x="200026" y="140650"/>
                        <a:pt x="185100" y="155575"/>
                        <a:pt x="166688" y="155575"/>
                      </a:cubicBezTo>
                      <a:lnTo>
                        <a:pt x="33338" y="155575"/>
                      </a:lnTo>
                      <a:cubicBezTo>
                        <a:pt x="14926" y="155575"/>
                        <a:pt x="0" y="140650"/>
                        <a:pt x="0" y="122238"/>
                      </a:cubicBezTo>
                      <a:lnTo>
                        <a:pt x="0" y="33338"/>
                      </a:lnTo>
                    </a:path>
                  </a:pathLst>
                </a:custGeom>
                <a:noFill/>
                <a:ln w="16669">
                  <a:solidFill>
                    <a:srgbClr val="8A1700"/>
                  </a:solidFill>
                </a:ln>
              </p:spPr>
            </p:sp>
            <p:sp>
              <p:nvSpPr>
                <p:cNvPr id="31" name="Freeform 31"/>
                <p:cNvSpPr/>
                <p:nvPr/>
              </p:nvSpPr>
              <p:spPr>
                <a:xfrm>
                  <a:off x="2071688" y="1816100"/>
                  <a:ext cx="200026" cy="9525"/>
                </a:xfrm>
                <a:custGeom>
                  <a:avLst/>
                  <a:gdLst/>
                  <a:ahLst/>
                  <a:cxnLst/>
                  <a:rect l="l" t="t" r="r" b="b"/>
                  <a:pathLst>
                    <a:path w="200026" h="9525">
                      <a:moveTo>
                        <a:pt x="0" y="0"/>
                      </a:moveTo>
                      <a:lnTo>
                        <a:pt x="200026" y="0"/>
                      </a:lnTo>
                    </a:path>
                  </a:pathLst>
                </a:custGeom>
                <a:noFill/>
                <a:ln w="16669">
                  <a:solidFill>
                    <a:srgbClr val="8A1700"/>
                  </a:solidFill>
                </a:ln>
              </p:spPr>
            </p:sp>
            <p:sp>
              <p:nvSpPr>
                <p:cNvPr id="32" name="Freeform 32"/>
                <p:cNvSpPr/>
                <p:nvPr/>
              </p:nvSpPr>
              <p:spPr>
                <a:xfrm>
                  <a:off x="2116138" y="1871663"/>
                  <a:ext cx="9525" cy="9525"/>
                </a:xfrm>
                <a:custGeom>
                  <a:avLst/>
                  <a:gdLst/>
                  <a:ahLst/>
                  <a:cxnLst/>
                  <a:rect l="l" t="t" r="r" b="b"/>
                  <a:pathLst>
                    <a:path w="9525" h="9525">
                      <a:moveTo>
                        <a:pt x="0" y="0"/>
                      </a:moveTo>
                      <a:lnTo>
                        <a:pt x="111" y="0"/>
                      </a:lnTo>
                    </a:path>
                  </a:pathLst>
                </a:custGeom>
                <a:noFill/>
                <a:ln w="16669">
                  <a:solidFill>
                    <a:srgbClr val="8A1700"/>
                  </a:solidFill>
                </a:ln>
              </p:spPr>
            </p:sp>
            <p:sp>
              <p:nvSpPr>
                <p:cNvPr id="33" name="Freeform 33"/>
                <p:cNvSpPr/>
                <p:nvPr/>
              </p:nvSpPr>
              <p:spPr>
                <a:xfrm>
                  <a:off x="2160588" y="1871663"/>
                  <a:ext cx="22225" cy="9525"/>
                </a:xfrm>
                <a:custGeom>
                  <a:avLst/>
                  <a:gdLst/>
                  <a:ahLst/>
                  <a:cxnLst/>
                  <a:rect l="l" t="t" r="r" b="b"/>
                  <a:pathLst>
                    <a:path w="22225" h="9525">
                      <a:moveTo>
                        <a:pt x="0" y="0"/>
                      </a:moveTo>
                      <a:lnTo>
                        <a:pt x="22225" y="0"/>
                      </a:lnTo>
                    </a:path>
                  </a:pathLst>
                </a:custGeom>
                <a:noFill/>
                <a:ln w="16669">
                  <a:solidFill>
                    <a:srgbClr val="8A1700"/>
                  </a:solidFill>
                </a:ln>
              </p:spPr>
            </p:sp>
          </p:grpSp>
          <p:sp>
            <p:nvSpPr>
              <p:cNvPr id="35" name="TextBox 35"/>
              <p:cNvSpPr txBox="1"/>
              <p:nvPr/>
            </p:nvSpPr>
            <p:spPr>
              <a:xfrm>
                <a:off x="2433066" y="1782128"/>
                <a:ext cx="576072"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分期收入</a:t>
                </a:r>
              </a:p>
            </p:txBody>
          </p:sp>
        </p:grpSp>
        <p:sp>
          <p:nvSpPr>
            <p:cNvPr id="37" name="TextBox 37"/>
            <p:cNvSpPr txBox="1"/>
            <p:nvPr/>
          </p:nvSpPr>
          <p:spPr>
            <a:xfrm>
              <a:off x="2793314" y="2140268"/>
              <a:ext cx="223622" cy="264033"/>
            </a:xfrm>
            <a:prstGeom prst="rect">
              <a:avLst/>
            </a:prstGeom>
            <a:noFill/>
            <a:ln>
              <a:noFill/>
            </a:ln>
          </p:spPr>
          <p:txBody>
            <a:bodyPr wrap="none" lIns="0" tIns="0" rIns="0" bIns="0" anchor="t" anchorCtr="0">
              <a:spAutoFit/>
            </a:bodyPr>
            <a:lstStyle/>
            <a:p>
              <a:pPr algn="ctr"/>
              <a:r>
                <a:rPr lang="zh-CN" sz="1350" b="1" dirty="0">
                  <a:solidFill>
                    <a:srgbClr val="8A1700"/>
                  </a:solidFill>
                  <a:latin typeface="+mn-lt"/>
                  <a:ea typeface="+mn-ea"/>
                  <a:cs typeface="+mn-cs"/>
                </a:rPr>
                <a:t>+​</a:t>
              </a:r>
            </a:p>
          </p:txBody>
        </p:sp>
        <p:grpSp>
          <p:nvGrpSpPr>
            <p:cNvPr id="41" name="ltv-item-3"/>
            <p:cNvGrpSpPr/>
            <p:nvPr/>
          </p:nvGrpSpPr>
          <p:grpSpPr>
            <a:xfrm>
              <a:off x="1905000" y="2324100"/>
              <a:ext cx="2000250" cy="438150"/>
              <a:chOff x="1905000" y="2324100"/>
              <a:chExt cx="2000250" cy="438150"/>
            </a:xfrm>
          </p:grpSpPr>
          <p:sp>
            <p:nvSpPr>
              <p:cNvPr id="38" name="Rectangle 38"/>
              <p:cNvSpPr/>
              <p:nvPr/>
            </p:nvSpPr>
            <p:spPr>
              <a:xfrm>
                <a:off x="1905000" y="2324100"/>
                <a:ext cx="2000250" cy="438150"/>
              </a:xfrm>
              <a:prstGeom prst="roundRect">
                <a:avLst>
                  <a:gd name="adj" fmla="val 13043"/>
                </a:avLst>
              </a:prstGeom>
              <a:solidFill>
                <a:srgbClr val="F5F8FE"/>
              </a:solidFill>
              <a:ln w="9525">
                <a:solidFill>
                  <a:srgbClr val="C9D5EA"/>
                </a:solidFill>
              </a:ln>
            </p:spPr>
          </p:sp>
          <p:sp>
            <p:nvSpPr>
              <p:cNvPr id="39" name="Freeform 39"/>
              <p:cNvSpPr/>
              <p:nvPr/>
            </p:nvSpPr>
            <p:spPr>
              <a:xfrm>
                <a:off x="2071688" y="2476500"/>
                <a:ext cx="200026" cy="133350"/>
              </a:xfrm>
              <a:custGeom>
                <a:avLst/>
                <a:gdLst/>
                <a:ahLst/>
                <a:cxnLst/>
                <a:rect l="l" t="t" r="r" b="b"/>
                <a:pathLst>
                  <a:path w="200026" h="133350">
                    <a:moveTo>
                      <a:pt x="100013" y="0"/>
                    </a:moveTo>
                    <a:lnTo>
                      <a:pt x="144463" y="66675"/>
                    </a:lnTo>
                    <a:lnTo>
                      <a:pt x="200026" y="22225"/>
                    </a:lnTo>
                    <a:lnTo>
                      <a:pt x="177801" y="133350"/>
                    </a:lnTo>
                    <a:lnTo>
                      <a:pt x="22225" y="133350"/>
                    </a:lnTo>
                    <a:lnTo>
                      <a:pt x="0" y="22225"/>
                    </a:lnTo>
                    <a:lnTo>
                      <a:pt x="55563" y="66675"/>
                    </a:lnTo>
                    <a:lnTo>
                      <a:pt x="100013" y="0"/>
                    </a:lnTo>
                  </a:path>
                </a:pathLst>
              </a:custGeom>
              <a:noFill/>
              <a:ln w="16669">
                <a:solidFill>
                  <a:srgbClr val="8A1700"/>
                </a:solidFill>
              </a:ln>
            </p:spPr>
          </p:sp>
          <p:sp>
            <p:nvSpPr>
              <p:cNvPr id="40" name="TextBox 40"/>
              <p:cNvSpPr txBox="1"/>
              <p:nvPr/>
            </p:nvSpPr>
            <p:spPr>
              <a:xfrm>
                <a:off x="2433066" y="2486978"/>
                <a:ext cx="293370"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年费</a:t>
                </a:r>
              </a:p>
            </p:txBody>
          </p:sp>
        </p:grpSp>
        <p:sp>
          <p:nvSpPr>
            <p:cNvPr id="42" name="TextBox 42"/>
            <p:cNvSpPr txBox="1"/>
            <p:nvPr/>
          </p:nvSpPr>
          <p:spPr>
            <a:xfrm>
              <a:off x="2793314" y="2845118"/>
              <a:ext cx="223622" cy="264033"/>
            </a:xfrm>
            <a:prstGeom prst="rect">
              <a:avLst/>
            </a:prstGeom>
            <a:noFill/>
            <a:ln>
              <a:noFill/>
            </a:ln>
          </p:spPr>
          <p:txBody>
            <a:bodyPr wrap="none" lIns="0" tIns="0" rIns="0" bIns="0" anchor="t" anchorCtr="0">
              <a:spAutoFit/>
            </a:bodyPr>
            <a:lstStyle/>
            <a:p>
              <a:pPr algn="ctr"/>
              <a:r>
                <a:rPr lang="zh-CN" sz="1350" b="1" dirty="0">
                  <a:solidFill>
                    <a:srgbClr val="8A1700"/>
                  </a:solidFill>
                  <a:latin typeface="+mn-lt"/>
                  <a:ea typeface="+mn-ea"/>
                  <a:cs typeface="+mn-cs"/>
                </a:rPr>
                <a:t>+​</a:t>
              </a:r>
            </a:p>
          </p:txBody>
        </p:sp>
        <p:grpSp>
          <p:nvGrpSpPr>
            <p:cNvPr id="49" name="ltv-item-4"/>
            <p:cNvGrpSpPr/>
            <p:nvPr/>
          </p:nvGrpSpPr>
          <p:grpSpPr>
            <a:xfrm>
              <a:off x="1905000" y="3028950"/>
              <a:ext cx="2000250" cy="438150"/>
              <a:chOff x="1905000" y="3028950"/>
              <a:chExt cx="2000250" cy="438150"/>
            </a:xfrm>
          </p:grpSpPr>
          <p:sp>
            <p:nvSpPr>
              <p:cNvPr id="43" name="Rectangle 43"/>
              <p:cNvSpPr/>
              <p:nvPr/>
            </p:nvSpPr>
            <p:spPr>
              <a:xfrm>
                <a:off x="1905000" y="3028950"/>
                <a:ext cx="2000250" cy="438150"/>
              </a:xfrm>
              <a:prstGeom prst="roundRect">
                <a:avLst>
                  <a:gd name="adj" fmla="val 13043"/>
                </a:avLst>
              </a:prstGeom>
              <a:solidFill>
                <a:srgbClr val="F5F8FE"/>
              </a:solidFill>
              <a:ln w="9525">
                <a:solidFill>
                  <a:srgbClr val="C9D5EA"/>
                </a:solidFill>
              </a:ln>
            </p:spPr>
          </p:sp>
          <p:grpSp>
            <p:nvGrpSpPr>
              <p:cNvPr id="47" name="Group 47"/>
              <p:cNvGrpSpPr/>
              <p:nvPr/>
            </p:nvGrpSpPr>
            <p:grpSpPr>
              <a:xfrm>
                <a:off x="2093913" y="3148013"/>
                <a:ext cx="155575" cy="200025"/>
                <a:chOff x="2093913" y="3148013"/>
                <a:chExt cx="155575" cy="200025"/>
              </a:xfrm>
            </p:grpSpPr>
            <p:sp>
              <p:nvSpPr>
                <p:cNvPr id="44" name="Freeform 44"/>
                <p:cNvSpPr/>
                <p:nvPr/>
              </p:nvSpPr>
              <p:spPr>
                <a:xfrm>
                  <a:off x="2093913" y="3214688"/>
                  <a:ext cx="155575" cy="133350"/>
                </a:xfrm>
                <a:custGeom>
                  <a:avLst/>
                  <a:gdLst/>
                  <a:ahLst/>
                  <a:cxnLst/>
                  <a:rect l="l" t="t" r="r" b="b"/>
                  <a:pathLst>
                    <a:path w="155575" h="133350">
                      <a:moveTo>
                        <a:pt x="33338" y="0"/>
                      </a:moveTo>
                      <a:lnTo>
                        <a:pt x="22225" y="0"/>
                      </a:lnTo>
                      <a:cubicBezTo>
                        <a:pt x="9950" y="0"/>
                        <a:pt x="0" y="9950"/>
                        <a:pt x="0" y="22225"/>
                      </a:cubicBezTo>
                      <a:lnTo>
                        <a:pt x="0" y="111125"/>
                      </a:lnTo>
                      <a:cubicBezTo>
                        <a:pt x="0" y="123400"/>
                        <a:pt x="9950" y="133350"/>
                        <a:pt x="22225" y="133350"/>
                      </a:cubicBezTo>
                      <a:lnTo>
                        <a:pt x="133350" y="133350"/>
                      </a:lnTo>
                      <a:cubicBezTo>
                        <a:pt x="145625" y="133350"/>
                        <a:pt x="155575" y="123400"/>
                        <a:pt x="155575" y="111125"/>
                      </a:cubicBezTo>
                      <a:lnTo>
                        <a:pt x="155575" y="22225"/>
                      </a:lnTo>
                      <a:cubicBezTo>
                        <a:pt x="155575" y="9950"/>
                        <a:pt x="145625" y="0"/>
                        <a:pt x="133350" y="0"/>
                      </a:cubicBezTo>
                      <a:lnTo>
                        <a:pt x="122238" y="0"/>
                      </a:lnTo>
                    </a:path>
                  </a:pathLst>
                </a:custGeom>
                <a:noFill/>
                <a:ln w="16669">
                  <a:solidFill>
                    <a:srgbClr val="8A1700"/>
                  </a:solidFill>
                </a:ln>
              </p:spPr>
            </p:sp>
            <p:sp>
              <p:nvSpPr>
                <p:cNvPr id="45" name="Freeform 45"/>
                <p:cNvSpPr/>
                <p:nvPr/>
              </p:nvSpPr>
              <p:spPr>
                <a:xfrm>
                  <a:off x="2171700" y="3148013"/>
                  <a:ext cx="9525" cy="122238"/>
                </a:xfrm>
                <a:custGeom>
                  <a:avLst/>
                  <a:gdLst/>
                  <a:ahLst/>
                  <a:cxnLst/>
                  <a:rect l="l" t="t" r="r" b="b"/>
                  <a:pathLst>
                    <a:path w="9525" h="122238">
                      <a:moveTo>
                        <a:pt x="0" y="122238"/>
                      </a:moveTo>
                      <a:lnTo>
                        <a:pt x="0" y="0"/>
                      </a:lnTo>
                    </a:path>
                  </a:pathLst>
                </a:custGeom>
                <a:noFill/>
                <a:ln w="16669">
                  <a:solidFill>
                    <a:srgbClr val="8A1700"/>
                  </a:solidFill>
                </a:ln>
              </p:spPr>
            </p:sp>
            <p:sp>
              <p:nvSpPr>
                <p:cNvPr id="46" name="Freeform 46"/>
                <p:cNvSpPr/>
                <p:nvPr/>
              </p:nvSpPr>
              <p:spPr>
                <a:xfrm>
                  <a:off x="2138363" y="3148013"/>
                  <a:ext cx="66675" cy="33338"/>
                </a:xfrm>
                <a:custGeom>
                  <a:avLst/>
                  <a:gdLst/>
                  <a:ahLst/>
                  <a:cxnLst/>
                  <a:rect l="l" t="t" r="r" b="b"/>
                  <a:pathLst>
                    <a:path w="66675" h="33338">
                      <a:moveTo>
                        <a:pt x="0" y="33338"/>
                      </a:moveTo>
                      <a:lnTo>
                        <a:pt x="33338" y="0"/>
                      </a:lnTo>
                      <a:lnTo>
                        <a:pt x="66675" y="33338"/>
                      </a:lnTo>
                    </a:path>
                  </a:pathLst>
                </a:custGeom>
                <a:noFill/>
                <a:ln w="16669">
                  <a:solidFill>
                    <a:srgbClr val="8A1700"/>
                  </a:solidFill>
                </a:ln>
              </p:spPr>
            </p:sp>
          </p:grpSp>
          <p:sp>
            <p:nvSpPr>
              <p:cNvPr id="48" name="TextBox 48"/>
              <p:cNvSpPr txBox="1"/>
              <p:nvPr/>
            </p:nvSpPr>
            <p:spPr>
              <a:xfrm>
                <a:off x="2433066" y="3191828"/>
                <a:ext cx="576072"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协同价值</a:t>
                </a:r>
              </a:p>
            </p:txBody>
          </p:sp>
        </p:grpSp>
        <p:sp>
          <p:nvSpPr>
            <p:cNvPr id="50" name="TextBox 50"/>
            <p:cNvSpPr txBox="1"/>
            <p:nvPr/>
          </p:nvSpPr>
          <p:spPr>
            <a:xfrm>
              <a:off x="2793314" y="3549968"/>
              <a:ext cx="223622" cy="264033"/>
            </a:xfrm>
            <a:prstGeom prst="rect">
              <a:avLst/>
            </a:prstGeom>
            <a:noFill/>
            <a:ln>
              <a:noFill/>
            </a:ln>
          </p:spPr>
          <p:txBody>
            <a:bodyPr wrap="none" lIns="0" tIns="0" rIns="0" bIns="0" anchor="t" anchorCtr="0">
              <a:spAutoFit/>
            </a:bodyPr>
            <a:lstStyle/>
            <a:p>
              <a:pPr algn="ctr"/>
              <a:r>
                <a:rPr lang="zh-CN" sz="1350" b="1" dirty="0">
                  <a:solidFill>
                    <a:srgbClr val="C02C0A"/>
                  </a:solidFill>
                  <a:latin typeface="+mn-lt"/>
                  <a:ea typeface="+mn-ea"/>
                  <a:cs typeface="+mn-cs"/>
                </a:rPr>
                <a:t>−​</a:t>
              </a:r>
            </a:p>
          </p:txBody>
        </p:sp>
        <p:grpSp>
          <p:nvGrpSpPr>
            <p:cNvPr id="58" name="ltv-item-5"/>
            <p:cNvGrpSpPr/>
            <p:nvPr/>
          </p:nvGrpSpPr>
          <p:grpSpPr>
            <a:xfrm>
              <a:off x="1905000" y="3733800"/>
              <a:ext cx="2000250" cy="438150"/>
              <a:chOff x="1905000" y="3733800"/>
              <a:chExt cx="2000250" cy="438150"/>
            </a:xfrm>
          </p:grpSpPr>
          <p:sp>
            <p:nvSpPr>
              <p:cNvPr id="51" name="Rectangle 51"/>
              <p:cNvSpPr/>
              <p:nvPr/>
            </p:nvSpPr>
            <p:spPr>
              <a:xfrm>
                <a:off x="1905000" y="3733800"/>
                <a:ext cx="2000250" cy="438150"/>
              </a:xfrm>
              <a:prstGeom prst="roundRect">
                <a:avLst>
                  <a:gd name="adj" fmla="val 13043"/>
                </a:avLst>
              </a:prstGeom>
              <a:solidFill>
                <a:srgbClr val="FDE8E8"/>
              </a:solidFill>
              <a:ln w="9525">
                <a:solidFill>
                  <a:srgbClr val="C02C0A"/>
                </a:solidFill>
              </a:ln>
            </p:spPr>
          </p:sp>
          <p:grpSp>
            <p:nvGrpSpPr>
              <p:cNvPr id="56" name="Group 56"/>
              <p:cNvGrpSpPr/>
              <p:nvPr/>
            </p:nvGrpSpPr>
            <p:grpSpPr>
              <a:xfrm>
                <a:off x="2071688" y="3852480"/>
                <a:ext cx="200026" cy="200408"/>
                <a:chOff x="2071688" y="3852480"/>
                <a:chExt cx="200026" cy="200408"/>
              </a:xfrm>
            </p:grpSpPr>
            <p:sp>
              <p:nvSpPr>
                <p:cNvPr id="52" name="Freeform 52"/>
                <p:cNvSpPr/>
                <p:nvPr/>
              </p:nvSpPr>
              <p:spPr>
                <a:xfrm>
                  <a:off x="2071688" y="3908425"/>
                  <a:ext cx="200026" cy="44450"/>
                </a:xfrm>
                <a:custGeom>
                  <a:avLst/>
                  <a:gdLst/>
                  <a:ahLst/>
                  <a:cxnLst/>
                  <a:rect l="l" t="t" r="r" b="b"/>
                  <a:pathLst>
                    <a:path w="200026" h="44450">
                      <a:moveTo>
                        <a:pt x="0" y="11113"/>
                      </a:moveTo>
                      <a:cubicBezTo>
                        <a:pt x="0" y="4975"/>
                        <a:pt x="4975" y="0"/>
                        <a:pt x="11113" y="0"/>
                      </a:cubicBezTo>
                      <a:lnTo>
                        <a:pt x="188913" y="0"/>
                      </a:lnTo>
                      <a:cubicBezTo>
                        <a:pt x="195050" y="0"/>
                        <a:pt x="200026" y="4975"/>
                        <a:pt x="200026" y="11113"/>
                      </a:cubicBezTo>
                      <a:lnTo>
                        <a:pt x="200026" y="33338"/>
                      </a:lnTo>
                      <a:cubicBezTo>
                        <a:pt x="200026" y="39475"/>
                        <a:pt x="195050" y="44450"/>
                        <a:pt x="188913" y="44450"/>
                      </a:cubicBezTo>
                      <a:lnTo>
                        <a:pt x="11113" y="44450"/>
                      </a:lnTo>
                      <a:cubicBezTo>
                        <a:pt x="4975" y="44450"/>
                        <a:pt x="0" y="39475"/>
                        <a:pt x="0" y="33338"/>
                      </a:cubicBezTo>
                      <a:lnTo>
                        <a:pt x="0" y="11113"/>
                      </a:lnTo>
                    </a:path>
                  </a:pathLst>
                </a:custGeom>
                <a:noFill/>
                <a:ln w="16669">
                  <a:solidFill>
                    <a:srgbClr val="C02C0A"/>
                  </a:solidFill>
                </a:ln>
              </p:spPr>
            </p:sp>
            <p:sp>
              <p:nvSpPr>
                <p:cNvPr id="53" name="Freeform 53"/>
                <p:cNvSpPr/>
                <p:nvPr/>
              </p:nvSpPr>
              <p:spPr>
                <a:xfrm>
                  <a:off x="2171700" y="3908425"/>
                  <a:ext cx="9525" cy="144463"/>
                </a:xfrm>
                <a:custGeom>
                  <a:avLst/>
                  <a:gdLst/>
                  <a:ahLst/>
                  <a:cxnLst/>
                  <a:rect l="l" t="t" r="r" b="b"/>
                  <a:pathLst>
                    <a:path w="9525" h="144463">
                      <a:moveTo>
                        <a:pt x="0" y="0"/>
                      </a:moveTo>
                      <a:lnTo>
                        <a:pt x="0" y="144463"/>
                      </a:lnTo>
                    </a:path>
                  </a:pathLst>
                </a:custGeom>
                <a:noFill/>
                <a:ln w="16669">
                  <a:solidFill>
                    <a:srgbClr val="C02C0A"/>
                  </a:solidFill>
                </a:ln>
              </p:spPr>
            </p:sp>
            <p:sp>
              <p:nvSpPr>
                <p:cNvPr id="54" name="Freeform 54"/>
                <p:cNvSpPr/>
                <p:nvPr/>
              </p:nvSpPr>
              <p:spPr>
                <a:xfrm>
                  <a:off x="2093913" y="3952875"/>
                  <a:ext cx="155575" cy="100013"/>
                </a:xfrm>
                <a:custGeom>
                  <a:avLst/>
                  <a:gdLst/>
                  <a:ahLst/>
                  <a:cxnLst/>
                  <a:rect l="l" t="t" r="r" b="b"/>
                  <a:pathLst>
                    <a:path w="155575" h="100013">
                      <a:moveTo>
                        <a:pt x="155575" y="0"/>
                      </a:moveTo>
                      <a:lnTo>
                        <a:pt x="155575" y="77788"/>
                      </a:lnTo>
                      <a:cubicBezTo>
                        <a:pt x="155575" y="90062"/>
                        <a:pt x="145625" y="100013"/>
                        <a:pt x="133350" y="100013"/>
                      </a:cubicBezTo>
                      <a:lnTo>
                        <a:pt x="22225" y="100013"/>
                      </a:lnTo>
                      <a:cubicBezTo>
                        <a:pt x="9950" y="100013"/>
                        <a:pt x="0" y="90062"/>
                        <a:pt x="0" y="77788"/>
                      </a:cubicBezTo>
                      <a:lnTo>
                        <a:pt x="0" y="0"/>
                      </a:lnTo>
                    </a:path>
                  </a:pathLst>
                </a:custGeom>
                <a:noFill/>
                <a:ln w="16669">
                  <a:solidFill>
                    <a:srgbClr val="C02C0A"/>
                  </a:solidFill>
                </a:ln>
              </p:spPr>
            </p:sp>
            <p:sp>
              <p:nvSpPr>
                <p:cNvPr id="55" name="Freeform 55"/>
                <p:cNvSpPr/>
                <p:nvPr/>
              </p:nvSpPr>
              <p:spPr>
                <a:xfrm>
                  <a:off x="2093913" y="3852480"/>
                  <a:ext cx="155575" cy="55945"/>
                </a:xfrm>
                <a:custGeom>
                  <a:avLst/>
                  <a:gdLst/>
                  <a:ahLst/>
                  <a:cxnLst/>
                  <a:rect l="l" t="t" r="r" b="b"/>
                  <a:pathLst>
                    <a:path w="155575" h="55945">
                      <a:moveTo>
                        <a:pt x="27781" y="55945"/>
                      </a:moveTo>
                      <a:cubicBezTo>
                        <a:pt x="12438" y="55945"/>
                        <a:pt x="0" y="43507"/>
                        <a:pt x="0" y="28164"/>
                      </a:cubicBezTo>
                      <a:cubicBezTo>
                        <a:pt x="0" y="12820"/>
                        <a:pt x="12438" y="382"/>
                        <a:pt x="27781" y="382"/>
                      </a:cubicBezTo>
                      <a:cubicBezTo>
                        <a:pt x="49720" y="0"/>
                        <a:pt x="69561" y="22046"/>
                        <a:pt x="77788" y="55945"/>
                      </a:cubicBezTo>
                      <a:cubicBezTo>
                        <a:pt x="86014" y="22046"/>
                        <a:pt x="105855" y="0"/>
                        <a:pt x="127794" y="382"/>
                      </a:cubicBezTo>
                      <a:cubicBezTo>
                        <a:pt x="143137" y="382"/>
                        <a:pt x="155575" y="12820"/>
                        <a:pt x="155575" y="28164"/>
                      </a:cubicBezTo>
                      <a:cubicBezTo>
                        <a:pt x="155575" y="43507"/>
                        <a:pt x="143137" y="55945"/>
                        <a:pt x="127794" y="55945"/>
                      </a:cubicBezTo>
                    </a:path>
                  </a:pathLst>
                </a:custGeom>
                <a:noFill/>
                <a:ln w="16669">
                  <a:solidFill>
                    <a:srgbClr val="C02C0A"/>
                  </a:solidFill>
                </a:ln>
              </p:spPr>
            </p:sp>
          </p:grpSp>
          <p:sp>
            <p:nvSpPr>
              <p:cNvPr id="57" name="TextBox 57"/>
              <p:cNvSpPr txBox="1"/>
              <p:nvPr/>
            </p:nvSpPr>
            <p:spPr>
              <a:xfrm>
                <a:off x="2433066" y="3896678"/>
                <a:ext cx="576072" cy="205359"/>
              </a:xfrm>
              <a:prstGeom prst="rect">
                <a:avLst/>
              </a:prstGeom>
              <a:noFill/>
              <a:ln>
                <a:noFill/>
              </a:ln>
            </p:spPr>
            <p:txBody>
              <a:bodyPr wrap="none" lIns="0" tIns="0" rIns="0" bIns="0" anchor="t" anchorCtr="0">
                <a:spAutoFit/>
              </a:bodyPr>
              <a:lstStyle/>
              <a:p>
                <a:pPr algn="l"/>
                <a:r>
                  <a:rPr lang="zh-CN" sz="1050" b="1" dirty="0">
                    <a:solidFill>
                      <a:srgbClr val="C02C0A"/>
                    </a:solidFill>
                    <a:latin typeface="+mn-lt"/>
                    <a:ea typeface="+mn-ea"/>
                    <a:cs typeface="+mn-cs"/>
                  </a:rPr>
                  <a:t>权益成本</a:t>
                </a:r>
              </a:p>
            </p:txBody>
          </p:sp>
        </p:grpSp>
        <p:sp>
          <p:nvSpPr>
            <p:cNvPr id="59" name="TextBox 59"/>
            <p:cNvSpPr txBox="1"/>
            <p:nvPr/>
          </p:nvSpPr>
          <p:spPr>
            <a:xfrm>
              <a:off x="2793314" y="4254818"/>
              <a:ext cx="223622" cy="264033"/>
            </a:xfrm>
            <a:prstGeom prst="rect">
              <a:avLst/>
            </a:prstGeom>
            <a:noFill/>
            <a:ln>
              <a:noFill/>
            </a:ln>
          </p:spPr>
          <p:txBody>
            <a:bodyPr wrap="none" lIns="0" tIns="0" rIns="0" bIns="0" anchor="t" anchorCtr="0">
              <a:spAutoFit/>
            </a:bodyPr>
            <a:lstStyle/>
            <a:p>
              <a:pPr algn="ctr"/>
              <a:r>
                <a:rPr lang="zh-CN" sz="1350" b="1" dirty="0">
                  <a:solidFill>
                    <a:srgbClr val="C02C0A"/>
                  </a:solidFill>
                  <a:latin typeface="+mn-lt"/>
                  <a:ea typeface="+mn-ea"/>
                  <a:cs typeface="+mn-cs"/>
                </a:rPr>
                <a:t>−​</a:t>
              </a:r>
            </a:p>
          </p:txBody>
        </p:sp>
        <p:grpSp>
          <p:nvGrpSpPr>
            <p:cNvPr id="66" name="ltv-item-6"/>
            <p:cNvGrpSpPr/>
            <p:nvPr/>
          </p:nvGrpSpPr>
          <p:grpSpPr>
            <a:xfrm>
              <a:off x="1905000" y="4438650"/>
              <a:ext cx="2000250" cy="438150"/>
              <a:chOff x="1905000" y="4438650"/>
              <a:chExt cx="2000250" cy="438150"/>
            </a:xfrm>
          </p:grpSpPr>
          <p:sp>
            <p:nvSpPr>
              <p:cNvPr id="60" name="Rectangle 60"/>
              <p:cNvSpPr/>
              <p:nvPr/>
            </p:nvSpPr>
            <p:spPr>
              <a:xfrm>
                <a:off x="1905000" y="4438650"/>
                <a:ext cx="2000250" cy="438150"/>
              </a:xfrm>
              <a:prstGeom prst="roundRect">
                <a:avLst>
                  <a:gd name="adj" fmla="val 13043"/>
                </a:avLst>
              </a:prstGeom>
              <a:solidFill>
                <a:srgbClr val="FDE8E8"/>
              </a:solidFill>
              <a:ln w="9525">
                <a:solidFill>
                  <a:srgbClr val="C02C0A"/>
                </a:solidFill>
              </a:ln>
            </p:spPr>
          </p:sp>
          <p:grpSp>
            <p:nvGrpSpPr>
              <p:cNvPr id="64" name="Group 64"/>
              <p:cNvGrpSpPr/>
              <p:nvPr/>
            </p:nvGrpSpPr>
            <p:grpSpPr>
              <a:xfrm>
                <a:off x="2059629" y="4554021"/>
                <a:ext cx="224134" cy="192560"/>
                <a:chOff x="2059629" y="4554021"/>
                <a:chExt cx="224134" cy="192560"/>
              </a:xfrm>
            </p:grpSpPr>
            <p:sp>
              <p:nvSpPr>
                <p:cNvPr id="61" name="Freeform 61"/>
                <p:cNvSpPr/>
                <p:nvPr/>
              </p:nvSpPr>
              <p:spPr>
                <a:xfrm>
                  <a:off x="2171700" y="4624388"/>
                  <a:ext cx="9525" cy="44450"/>
                </a:xfrm>
                <a:custGeom>
                  <a:avLst/>
                  <a:gdLst/>
                  <a:ahLst/>
                  <a:cxnLst/>
                  <a:rect l="l" t="t" r="r" b="b"/>
                  <a:pathLst>
                    <a:path w="9525" h="44450">
                      <a:moveTo>
                        <a:pt x="0" y="0"/>
                      </a:moveTo>
                      <a:lnTo>
                        <a:pt x="0" y="44450"/>
                      </a:lnTo>
                    </a:path>
                  </a:pathLst>
                </a:custGeom>
                <a:noFill/>
                <a:ln w="16669">
                  <a:solidFill>
                    <a:srgbClr val="C02C0A"/>
                  </a:solidFill>
                </a:ln>
              </p:spPr>
            </p:sp>
            <p:sp>
              <p:nvSpPr>
                <p:cNvPr id="62" name="Freeform 62"/>
                <p:cNvSpPr/>
                <p:nvPr/>
              </p:nvSpPr>
              <p:spPr>
                <a:xfrm>
                  <a:off x="2059629" y="4554021"/>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6669">
                  <a:solidFill>
                    <a:srgbClr val="C02C0A"/>
                  </a:solidFill>
                </a:ln>
              </p:spPr>
            </p:sp>
            <p:sp>
              <p:nvSpPr>
                <p:cNvPr id="63" name="Freeform 63"/>
                <p:cNvSpPr/>
                <p:nvPr/>
              </p:nvSpPr>
              <p:spPr>
                <a:xfrm>
                  <a:off x="2171700" y="4702176"/>
                  <a:ext cx="9525" cy="9525"/>
                </a:xfrm>
                <a:custGeom>
                  <a:avLst/>
                  <a:gdLst/>
                  <a:ahLst/>
                  <a:cxnLst/>
                  <a:rect l="l" t="t" r="r" b="b"/>
                  <a:pathLst>
                    <a:path w="9525" h="9525">
                      <a:moveTo>
                        <a:pt x="0" y="0"/>
                      </a:moveTo>
                      <a:lnTo>
                        <a:pt x="111" y="0"/>
                      </a:lnTo>
                    </a:path>
                  </a:pathLst>
                </a:custGeom>
                <a:noFill/>
                <a:ln w="16669">
                  <a:solidFill>
                    <a:srgbClr val="C02C0A"/>
                  </a:solidFill>
                </a:ln>
              </p:spPr>
            </p:sp>
          </p:grpSp>
          <p:sp>
            <p:nvSpPr>
              <p:cNvPr id="65" name="TextBox 65"/>
              <p:cNvSpPr txBox="1"/>
              <p:nvPr/>
            </p:nvSpPr>
            <p:spPr>
              <a:xfrm>
                <a:off x="2433066" y="4601528"/>
                <a:ext cx="576072" cy="205359"/>
              </a:xfrm>
              <a:prstGeom prst="rect">
                <a:avLst/>
              </a:prstGeom>
              <a:noFill/>
              <a:ln>
                <a:noFill/>
              </a:ln>
            </p:spPr>
            <p:txBody>
              <a:bodyPr wrap="none" lIns="0" tIns="0" rIns="0" bIns="0" anchor="t" anchorCtr="0">
                <a:spAutoFit/>
              </a:bodyPr>
              <a:lstStyle/>
              <a:p>
                <a:pPr algn="l"/>
                <a:r>
                  <a:rPr lang="zh-CN" sz="1050" b="1" dirty="0">
                    <a:solidFill>
                      <a:srgbClr val="C02C0A"/>
                    </a:solidFill>
                    <a:latin typeface="+mn-lt"/>
                    <a:ea typeface="+mn-ea"/>
                    <a:cs typeface="+mn-cs"/>
                  </a:rPr>
                  <a:t>风险成本</a:t>
                </a:r>
              </a:p>
            </p:txBody>
          </p:sp>
        </p:grpSp>
      </p:grpSp>
      <p:sp>
        <p:nvSpPr>
          <p:cNvPr id="68" name="Freeform 68"/>
          <p:cNvSpPr/>
          <p:nvPr/>
        </p:nvSpPr>
        <p:spPr>
          <a:xfrm>
            <a:off x="4076700" y="2571750"/>
            <a:ext cx="438150" cy="857250"/>
          </a:xfrm>
          <a:prstGeom prst="chevron">
            <a:avLst/>
          </a:prstGeom>
          <a:solidFill>
            <a:srgbClr val="8A1700"/>
          </a:solidFill>
          <a:ln>
            <a:noFill/>
          </a:ln>
        </p:spPr>
      </p:sp>
      <p:grpSp>
        <p:nvGrpSpPr>
          <p:cNvPr id="93" name="customer-cards"/>
          <p:cNvGrpSpPr/>
          <p:nvPr/>
        </p:nvGrpSpPr>
        <p:grpSpPr>
          <a:xfrm>
            <a:off x="4572000" y="914400"/>
            <a:ext cx="2571750" cy="4095750"/>
            <a:chOff x="4572000" y="914400"/>
            <a:chExt cx="2571750" cy="4095750"/>
          </a:xfrm>
        </p:grpSpPr>
        <p:grpSp>
          <p:nvGrpSpPr>
            <p:cNvPr id="75" name="cust-potential"/>
            <p:cNvGrpSpPr/>
            <p:nvPr/>
          </p:nvGrpSpPr>
          <p:grpSpPr>
            <a:xfrm>
              <a:off x="4572000" y="914400"/>
              <a:ext cx="2571750" cy="1276350"/>
              <a:chOff x="4572000" y="914400"/>
              <a:chExt cx="2571750" cy="1276350"/>
            </a:xfrm>
          </p:grpSpPr>
          <p:sp>
            <p:nvSpPr>
              <p:cNvPr id="69" name="Rectangle 69"/>
              <p:cNvSpPr/>
              <p:nvPr/>
            </p:nvSpPr>
            <p:spPr>
              <a:xfrm>
                <a:off x="4572000" y="914400"/>
                <a:ext cx="2571750" cy="1276350"/>
              </a:xfrm>
              <a:prstGeom prst="roundRect">
                <a:avLst>
                  <a:gd name="adj" fmla="val 5970"/>
                </a:avLst>
              </a:prstGeom>
              <a:solidFill>
                <a:srgbClr val="F5F8FE"/>
              </a:solidFill>
              <a:ln w="9525">
                <a:solidFill>
                  <a:srgbClr val="C9D5EA"/>
                </a:solidFill>
              </a:ln>
            </p:spPr>
          </p:sp>
          <p:grpSp>
            <p:nvGrpSpPr>
              <p:cNvPr id="72" name="Group 72"/>
              <p:cNvGrpSpPr/>
              <p:nvPr/>
            </p:nvGrpSpPr>
            <p:grpSpPr>
              <a:xfrm>
                <a:off x="4867275" y="1328738"/>
                <a:ext cx="285750" cy="428625"/>
                <a:chOff x="4867275" y="1328738"/>
                <a:chExt cx="285750" cy="428625"/>
              </a:xfrm>
            </p:grpSpPr>
            <p:sp>
              <p:nvSpPr>
                <p:cNvPr id="70" name="Freeform 70"/>
                <p:cNvSpPr/>
                <p:nvPr/>
              </p:nvSpPr>
              <p:spPr>
                <a:xfrm>
                  <a:off x="4914900" y="1328738"/>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28575">
                  <a:solidFill>
                    <a:srgbClr val="8A1700"/>
                  </a:solidFill>
                </a:ln>
              </p:spPr>
            </p:sp>
            <p:sp>
              <p:nvSpPr>
                <p:cNvPr id="71" name="Freeform 71"/>
                <p:cNvSpPr/>
                <p:nvPr/>
              </p:nvSpPr>
              <p:spPr>
                <a:xfrm>
                  <a:off x="4867275" y="1614488"/>
                  <a:ext cx="285750" cy="142875"/>
                </a:xfrm>
                <a:custGeom>
                  <a:avLst/>
                  <a:gdLst/>
                  <a:ahLst/>
                  <a:cxnLst/>
                  <a:rect l="l" t="t" r="r" b="b"/>
                  <a:pathLst>
                    <a:path w="285750" h="142875">
                      <a:moveTo>
                        <a:pt x="0" y="142875"/>
                      </a:moveTo>
                      <a:lnTo>
                        <a:pt x="0" y="95250"/>
                      </a:lnTo>
                      <a:cubicBezTo>
                        <a:pt x="0" y="42645"/>
                        <a:pt x="42645" y="0"/>
                        <a:pt x="95250" y="0"/>
                      </a:cubicBezTo>
                      <a:lnTo>
                        <a:pt x="190500" y="0"/>
                      </a:lnTo>
                      <a:cubicBezTo>
                        <a:pt x="243105" y="0"/>
                        <a:pt x="285750" y="42645"/>
                        <a:pt x="285750" y="95250"/>
                      </a:cubicBezTo>
                      <a:lnTo>
                        <a:pt x="285750" y="142875"/>
                      </a:lnTo>
                    </a:path>
                  </a:pathLst>
                </a:custGeom>
                <a:noFill/>
                <a:ln w="28575">
                  <a:solidFill>
                    <a:srgbClr val="8A1700"/>
                  </a:solidFill>
                </a:ln>
              </p:spPr>
            </p:sp>
          </p:grpSp>
          <p:sp>
            <p:nvSpPr>
              <p:cNvPr id="73" name="TextBox 73"/>
              <p:cNvSpPr txBox="1"/>
              <p:nvPr/>
            </p:nvSpPr>
            <p:spPr>
              <a:xfrm>
                <a:off x="5442585" y="1135856"/>
                <a:ext cx="765302"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高潜客户：</a:t>
                </a:r>
              </a:p>
            </p:txBody>
          </p:sp>
          <p:sp>
            <p:nvSpPr>
              <p:cNvPr id="74" name="TextBox 74"/>
              <p:cNvSpPr txBox="1"/>
              <p:nvPr/>
            </p:nvSpPr>
            <p:spPr>
              <a:xfrm>
                <a:off x="5443538" y="1411843"/>
                <a:ext cx="883285"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60403A"/>
                    </a:solidFill>
                    <a:latin typeface="+mn-lt"/>
                    <a:ea typeface="+mn-ea"/>
                    <a:cs typeface="+mn-cs"/>
                  </a:rPr>
                  <a:t>额度提升、分期、</a:t>
                </a:r>
                <a:br/>
                <a:r>
                  <a:rPr lang="zh-CN" sz="860" dirty="0">
                    <a:solidFill>
                      <a:srgbClr val="60403A"/>
                    </a:solidFill>
                    <a:latin typeface="+mn-lt"/>
                    <a:ea typeface="+mn-ea"/>
                    <a:cs typeface="+mn-cs"/>
                  </a:rPr>
                  <a:t>附属卡、高端权益</a:t>
                </a:r>
              </a:p>
            </p:txBody>
          </p:sp>
        </p:grpSp>
        <p:grpSp>
          <p:nvGrpSpPr>
            <p:cNvPr id="83" name="cust-high-value"/>
            <p:cNvGrpSpPr/>
            <p:nvPr/>
          </p:nvGrpSpPr>
          <p:grpSpPr>
            <a:xfrm>
              <a:off x="4572000" y="2324100"/>
              <a:ext cx="2571750" cy="1276350"/>
              <a:chOff x="4572000" y="2324100"/>
              <a:chExt cx="2571750" cy="1276350"/>
            </a:xfrm>
          </p:grpSpPr>
          <p:sp>
            <p:nvSpPr>
              <p:cNvPr id="76" name="Rectangle 76"/>
              <p:cNvSpPr/>
              <p:nvPr/>
            </p:nvSpPr>
            <p:spPr>
              <a:xfrm>
                <a:off x="4572000" y="2324100"/>
                <a:ext cx="2571750" cy="1276350"/>
              </a:xfrm>
              <a:prstGeom prst="roundRect">
                <a:avLst>
                  <a:gd name="adj" fmla="val 5970"/>
                </a:avLst>
              </a:prstGeom>
              <a:solidFill>
                <a:srgbClr val="F5F8FE"/>
              </a:solidFill>
              <a:ln w="9525">
                <a:solidFill>
                  <a:srgbClr val="C9D5EA"/>
                </a:solidFill>
              </a:ln>
            </p:spPr>
          </p:sp>
          <p:grpSp>
            <p:nvGrpSpPr>
              <p:cNvPr id="80" name="Group 80"/>
              <p:cNvGrpSpPr/>
              <p:nvPr/>
            </p:nvGrpSpPr>
            <p:grpSpPr>
              <a:xfrm>
                <a:off x="4867275" y="2738438"/>
                <a:ext cx="357188" cy="428625"/>
                <a:chOff x="4867275" y="2738438"/>
                <a:chExt cx="357188" cy="428625"/>
              </a:xfrm>
            </p:grpSpPr>
            <p:sp>
              <p:nvSpPr>
                <p:cNvPr id="77" name="Freeform 77"/>
                <p:cNvSpPr/>
                <p:nvPr/>
              </p:nvSpPr>
              <p:spPr>
                <a:xfrm>
                  <a:off x="4914900" y="2738438"/>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28575">
                  <a:solidFill>
                    <a:srgbClr val="8A1700"/>
                  </a:solidFill>
                </a:ln>
              </p:spPr>
            </p:sp>
            <p:sp>
              <p:nvSpPr>
                <p:cNvPr id="78" name="Freeform 78"/>
                <p:cNvSpPr/>
                <p:nvPr/>
              </p:nvSpPr>
              <p:spPr>
                <a:xfrm>
                  <a:off x="4867275" y="3024188"/>
                  <a:ext cx="190500" cy="142875"/>
                </a:xfrm>
                <a:custGeom>
                  <a:avLst/>
                  <a:gdLst/>
                  <a:ahLst/>
                  <a:cxnLst/>
                  <a:rect l="l" t="t" r="r" b="b"/>
                  <a:pathLst>
                    <a:path w="190500" h="142875">
                      <a:moveTo>
                        <a:pt x="0" y="142875"/>
                      </a:moveTo>
                      <a:lnTo>
                        <a:pt x="0" y="95250"/>
                      </a:lnTo>
                      <a:cubicBezTo>
                        <a:pt x="0" y="42645"/>
                        <a:pt x="42645" y="0"/>
                        <a:pt x="95250" y="0"/>
                      </a:cubicBezTo>
                      <a:lnTo>
                        <a:pt x="190500" y="0"/>
                      </a:lnTo>
                    </a:path>
                  </a:pathLst>
                </a:custGeom>
                <a:noFill/>
                <a:ln w="28575">
                  <a:solidFill>
                    <a:srgbClr val="8A1700"/>
                  </a:solidFill>
                </a:ln>
              </p:spPr>
            </p:sp>
            <p:sp>
              <p:nvSpPr>
                <p:cNvPr id="79" name="Freeform 79"/>
                <p:cNvSpPr/>
                <p:nvPr/>
              </p:nvSpPr>
              <p:spPr>
                <a:xfrm>
                  <a:off x="5081588" y="3071812"/>
                  <a:ext cx="142875" cy="95250"/>
                </a:xfrm>
                <a:custGeom>
                  <a:avLst/>
                  <a:gdLst/>
                  <a:ahLst/>
                  <a:cxnLst/>
                  <a:rect l="l" t="t" r="r" b="b"/>
                  <a:pathLst>
                    <a:path w="142875" h="95250">
                      <a:moveTo>
                        <a:pt x="0" y="47625"/>
                      </a:moveTo>
                      <a:lnTo>
                        <a:pt x="47625" y="95250"/>
                      </a:lnTo>
                      <a:lnTo>
                        <a:pt x="142875" y="0"/>
                      </a:lnTo>
                    </a:path>
                  </a:pathLst>
                </a:custGeom>
                <a:noFill/>
                <a:ln w="28575">
                  <a:solidFill>
                    <a:srgbClr val="8A1700"/>
                  </a:solidFill>
                </a:ln>
              </p:spPr>
            </p:sp>
          </p:grpSp>
          <p:sp>
            <p:nvSpPr>
              <p:cNvPr id="81" name="TextBox 81"/>
              <p:cNvSpPr txBox="1"/>
              <p:nvPr/>
            </p:nvSpPr>
            <p:spPr>
              <a:xfrm>
                <a:off x="5442585" y="2545556"/>
                <a:ext cx="916076"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高价值客户：</a:t>
                </a:r>
              </a:p>
            </p:txBody>
          </p:sp>
          <p:sp>
            <p:nvSpPr>
              <p:cNvPr id="82" name="TextBox 82"/>
              <p:cNvSpPr txBox="1"/>
              <p:nvPr/>
            </p:nvSpPr>
            <p:spPr>
              <a:xfrm>
                <a:off x="5443538" y="2821543"/>
                <a:ext cx="1210945"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60403A"/>
                    </a:solidFill>
                    <a:latin typeface="+mn-lt"/>
                    <a:ea typeface="+mn-ea"/>
                    <a:cs typeface="+mn-cs"/>
                  </a:rPr>
                  <a:t>专属顾问、跨产品协同、</a:t>
                </a:r>
                <a:br/>
                <a:r>
                  <a:rPr lang="zh-CN" sz="860" dirty="0">
                    <a:solidFill>
                      <a:srgbClr val="60403A"/>
                    </a:solidFill>
                    <a:latin typeface="+mn-lt"/>
                    <a:ea typeface="+mn-ea"/>
                    <a:cs typeface="+mn-cs"/>
                  </a:rPr>
                  <a:t>长期关系</a:t>
                </a:r>
              </a:p>
            </p:txBody>
          </p:sp>
        </p:grpSp>
        <p:grpSp>
          <p:nvGrpSpPr>
            <p:cNvPr id="92" name="cust-business"/>
            <p:cNvGrpSpPr/>
            <p:nvPr/>
          </p:nvGrpSpPr>
          <p:grpSpPr>
            <a:xfrm>
              <a:off x="4572000" y="3733800"/>
              <a:ext cx="2571750" cy="1276350"/>
              <a:chOff x="4572000" y="3733800"/>
              <a:chExt cx="2571750" cy="1276350"/>
            </a:xfrm>
          </p:grpSpPr>
          <p:sp>
            <p:nvSpPr>
              <p:cNvPr id="84" name="Rectangle 84"/>
              <p:cNvSpPr/>
              <p:nvPr/>
            </p:nvSpPr>
            <p:spPr>
              <a:xfrm>
                <a:off x="4572000" y="3733800"/>
                <a:ext cx="2571750" cy="1276350"/>
              </a:xfrm>
              <a:prstGeom prst="roundRect">
                <a:avLst>
                  <a:gd name="adj" fmla="val 5970"/>
                </a:avLst>
              </a:prstGeom>
              <a:solidFill>
                <a:srgbClr val="F5F8FE"/>
              </a:solidFill>
              <a:ln w="9525">
                <a:solidFill>
                  <a:srgbClr val="C9D5EA"/>
                </a:solidFill>
              </a:ln>
            </p:spPr>
          </p:sp>
          <p:grpSp>
            <p:nvGrpSpPr>
              <p:cNvPr id="89" name="Group 89"/>
              <p:cNvGrpSpPr/>
              <p:nvPr/>
            </p:nvGrpSpPr>
            <p:grpSpPr>
              <a:xfrm>
                <a:off x="4795838" y="4148138"/>
                <a:ext cx="428625" cy="404812"/>
                <a:chOff x="4795838" y="4148138"/>
                <a:chExt cx="428625" cy="404812"/>
              </a:xfrm>
            </p:grpSpPr>
            <p:sp>
              <p:nvSpPr>
                <p:cNvPr id="85" name="Freeform 85"/>
                <p:cNvSpPr/>
                <p:nvPr/>
              </p:nvSpPr>
              <p:spPr>
                <a:xfrm>
                  <a:off x="4795838" y="4243388"/>
                  <a:ext cx="428625" cy="309562"/>
                </a:xfrm>
                <a:custGeom>
                  <a:avLst/>
                  <a:gdLst/>
                  <a:ahLst/>
                  <a:cxnLst/>
                  <a:rect l="l" t="t" r="r" b="b"/>
                  <a:pathLst>
                    <a:path w="428625" h="309562">
                      <a:moveTo>
                        <a:pt x="0" y="47625"/>
                      </a:moveTo>
                      <a:cubicBezTo>
                        <a:pt x="0" y="21322"/>
                        <a:pt x="21322" y="0"/>
                        <a:pt x="47625" y="0"/>
                      </a:cubicBezTo>
                      <a:lnTo>
                        <a:pt x="381000" y="0"/>
                      </a:lnTo>
                      <a:cubicBezTo>
                        <a:pt x="407303" y="0"/>
                        <a:pt x="428625" y="21322"/>
                        <a:pt x="428625" y="47625"/>
                      </a:cubicBezTo>
                      <a:lnTo>
                        <a:pt x="428625" y="261938"/>
                      </a:lnTo>
                      <a:cubicBezTo>
                        <a:pt x="428625" y="288240"/>
                        <a:pt x="407303" y="309562"/>
                        <a:pt x="381000" y="309562"/>
                      </a:cubicBezTo>
                      <a:lnTo>
                        <a:pt x="47625" y="309562"/>
                      </a:lnTo>
                      <a:cubicBezTo>
                        <a:pt x="21322" y="309562"/>
                        <a:pt x="0" y="288240"/>
                        <a:pt x="0" y="261938"/>
                      </a:cubicBezTo>
                      <a:lnTo>
                        <a:pt x="0" y="47625"/>
                      </a:lnTo>
                    </a:path>
                  </a:pathLst>
                </a:custGeom>
                <a:noFill/>
                <a:ln w="28575">
                  <a:solidFill>
                    <a:srgbClr val="8A1700"/>
                  </a:solidFill>
                </a:ln>
              </p:spPr>
            </p:sp>
            <p:sp>
              <p:nvSpPr>
                <p:cNvPr id="86" name="Freeform 86"/>
                <p:cNvSpPr/>
                <p:nvPr/>
              </p:nvSpPr>
              <p:spPr>
                <a:xfrm>
                  <a:off x="4914900" y="4148138"/>
                  <a:ext cx="190500" cy="95250"/>
                </a:xfrm>
                <a:custGeom>
                  <a:avLst/>
                  <a:gdLst/>
                  <a:ahLst/>
                  <a:cxnLst/>
                  <a:rect l="l" t="t" r="r" b="b"/>
                  <a:pathLst>
                    <a:path w="190500" h="95250">
                      <a:moveTo>
                        <a:pt x="0" y="95250"/>
                      </a:moveTo>
                      <a:lnTo>
                        <a:pt x="0" y="47625"/>
                      </a:lnTo>
                      <a:cubicBezTo>
                        <a:pt x="0" y="21322"/>
                        <a:pt x="21322" y="0"/>
                        <a:pt x="47625" y="0"/>
                      </a:cubicBezTo>
                      <a:lnTo>
                        <a:pt x="142875" y="0"/>
                      </a:lnTo>
                      <a:cubicBezTo>
                        <a:pt x="169178" y="0"/>
                        <a:pt x="190500" y="21322"/>
                        <a:pt x="190500" y="47625"/>
                      </a:cubicBezTo>
                      <a:lnTo>
                        <a:pt x="190500" y="95250"/>
                      </a:lnTo>
                    </a:path>
                  </a:pathLst>
                </a:custGeom>
                <a:noFill/>
                <a:ln w="28575">
                  <a:solidFill>
                    <a:srgbClr val="8A1700"/>
                  </a:solidFill>
                </a:ln>
              </p:spPr>
            </p:sp>
            <p:sp>
              <p:nvSpPr>
                <p:cNvPr id="87" name="Freeform 87"/>
                <p:cNvSpPr/>
                <p:nvPr/>
              </p:nvSpPr>
              <p:spPr>
                <a:xfrm>
                  <a:off x="5010150" y="4362450"/>
                  <a:ext cx="9525" cy="9525"/>
                </a:xfrm>
                <a:custGeom>
                  <a:avLst/>
                  <a:gdLst/>
                  <a:ahLst/>
                  <a:cxnLst/>
                  <a:rect l="l" t="t" r="r" b="b"/>
                  <a:pathLst>
                    <a:path w="9525" h="9525">
                      <a:moveTo>
                        <a:pt x="0" y="0"/>
                      </a:moveTo>
                      <a:lnTo>
                        <a:pt x="0" y="238"/>
                      </a:lnTo>
                    </a:path>
                  </a:pathLst>
                </a:custGeom>
                <a:noFill/>
                <a:ln w="28575">
                  <a:solidFill>
                    <a:srgbClr val="8A1700"/>
                  </a:solidFill>
                </a:ln>
              </p:spPr>
            </p:sp>
            <p:sp>
              <p:nvSpPr>
                <p:cNvPr id="88" name="Freeform 88"/>
                <p:cNvSpPr/>
                <p:nvPr/>
              </p:nvSpPr>
              <p:spPr>
                <a:xfrm>
                  <a:off x="4795838" y="4386262"/>
                  <a:ext cx="428625" cy="67927"/>
                </a:xfrm>
                <a:custGeom>
                  <a:avLst/>
                  <a:gdLst/>
                  <a:ahLst/>
                  <a:cxnLst/>
                  <a:rect l="l" t="t" r="r" b="b"/>
                  <a:pathLst>
                    <a:path w="428625" h="67927">
                      <a:moveTo>
                        <a:pt x="0" y="0"/>
                      </a:moveTo>
                      <a:cubicBezTo>
                        <a:pt x="134801" y="67927"/>
                        <a:pt x="293824" y="67927"/>
                        <a:pt x="428625" y="0"/>
                      </a:cubicBezTo>
                    </a:path>
                  </a:pathLst>
                </a:custGeom>
                <a:noFill/>
                <a:ln w="28575">
                  <a:solidFill>
                    <a:srgbClr val="8A1700"/>
                  </a:solidFill>
                </a:ln>
              </p:spPr>
            </p:sp>
          </p:grpSp>
          <p:sp>
            <p:nvSpPr>
              <p:cNvPr id="90" name="TextBox 90"/>
              <p:cNvSpPr txBox="1"/>
              <p:nvPr/>
            </p:nvSpPr>
            <p:spPr>
              <a:xfrm>
                <a:off x="5442585" y="3955256"/>
                <a:ext cx="916076"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企业主客户：</a:t>
                </a:r>
              </a:p>
            </p:txBody>
          </p:sp>
          <p:sp>
            <p:nvSpPr>
              <p:cNvPr id="91" name="TextBox 91"/>
              <p:cNvSpPr txBox="1"/>
              <p:nvPr/>
            </p:nvSpPr>
            <p:spPr>
              <a:xfrm>
                <a:off x="5443538" y="4231243"/>
                <a:ext cx="1320165"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60403A"/>
                    </a:solidFill>
                    <a:latin typeface="+mn-lt"/>
                    <a:ea typeface="+mn-ea"/>
                    <a:cs typeface="+mn-cs"/>
                  </a:rPr>
                  <a:t>企业金融体检、政策信息、</a:t>
                </a:r>
                <a:br/>
                <a:r>
                  <a:rPr lang="zh-CN" sz="860" dirty="0">
                    <a:solidFill>
                      <a:srgbClr val="60403A"/>
                    </a:solidFill>
                    <a:latin typeface="+mn-lt"/>
                    <a:ea typeface="+mn-ea"/>
                    <a:cs typeface="+mn-cs"/>
                  </a:rPr>
                  <a:t>商务资源链接、金融安全</a:t>
                </a:r>
              </a:p>
            </p:txBody>
          </p:sp>
        </p:grpSp>
      </p:grpSp>
      <p:sp>
        <p:nvSpPr>
          <p:cNvPr id="94" name="Freeform 94"/>
          <p:cNvSpPr/>
          <p:nvPr/>
        </p:nvSpPr>
        <p:spPr>
          <a:xfrm>
            <a:off x="7219950" y="2571750"/>
            <a:ext cx="438150" cy="857250"/>
          </a:xfrm>
          <a:prstGeom prst="chevron">
            <a:avLst/>
          </a:prstGeom>
          <a:solidFill>
            <a:srgbClr val="8A1700"/>
          </a:solidFill>
          <a:ln>
            <a:noFill/>
          </a:ln>
        </p:spPr>
      </p:sp>
      <p:grpSp>
        <p:nvGrpSpPr>
          <p:cNvPr id="132" name="service-pack"/>
          <p:cNvGrpSpPr/>
          <p:nvPr/>
        </p:nvGrpSpPr>
        <p:grpSpPr>
          <a:xfrm>
            <a:off x="7734300" y="914400"/>
            <a:ext cx="4229100" cy="4095750"/>
            <a:chOff x="7734300" y="914400"/>
            <a:chExt cx="4229100" cy="4095750"/>
          </a:xfrm>
        </p:grpSpPr>
        <p:sp>
          <p:nvSpPr>
            <p:cNvPr id="95" name="Rectangle 95"/>
            <p:cNvSpPr/>
            <p:nvPr/>
          </p:nvSpPr>
          <p:spPr>
            <a:xfrm>
              <a:off x="7734300" y="914400"/>
              <a:ext cx="4229100" cy="4095750"/>
            </a:xfrm>
            <a:prstGeom prst="roundRect">
              <a:avLst>
                <a:gd name="adj" fmla="val 1860"/>
              </a:avLst>
            </a:prstGeom>
            <a:solidFill>
              <a:srgbClr val="F5F8FE"/>
            </a:solidFill>
            <a:ln w="9525">
              <a:solidFill>
                <a:srgbClr val="C9D5EA"/>
              </a:solidFill>
            </a:ln>
          </p:spPr>
        </p:sp>
        <p:sp>
          <p:nvSpPr>
            <p:cNvPr id="96" name="Rectangle 96"/>
            <p:cNvSpPr/>
            <p:nvPr/>
          </p:nvSpPr>
          <p:spPr>
            <a:xfrm>
              <a:off x="7734300" y="914400"/>
              <a:ext cx="4229100" cy="381000"/>
            </a:xfrm>
            <a:prstGeom prst="roundRect">
              <a:avLst>
                <a:gd name="adj" fmla="val 20000"/>
              </a:avLst>
            </a:prstGeom>
            <a:solidFill>
              <a:srgbClr val="520E00"/>
            </a:solidFill>
            <a:ln>
              <a:noFill/>
            </a:ln>
          </p:spPr>
        </p:sp>
        <p:sp>
          <p:nvSpPr>
            <p:cNvPr id="97" name="Rectangle 97"/>
            <p:cNvSpPr/>
            <p:nvPr/>
          </p:nvSpPr>
          <p:spPr>
            <a:xfrm>
              <a:off x="7734300" y="1143000"/>
              <a:ext cx="4229100" cy="152400"/>
            </a:xfrm>
            <a:prstGeom prst="rect">
              <a:avLst/>
            </a:prstGeom>
            <a:solidFill>
              <a:srgbClr val="520E00"/>
            </a:solidFill>
            <a:ln>
              <a:noFill/>
            </a:ln>
          </p:spPr>
        </p:sp>
        <p:sp>
          <p:nvSpPr>
            <p:cNvPr id="98" name="TextBox 98"/>
            <p:cNvSpPr txBox="1"/>
            <p:nvPr/>
          </p:nvSpPr>
          <p:spPr>
            <a:xfrm>
              <a:off x="9035034" y="1032510"/>
              <a:ext cx="162763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企业主客户免费服务包</a:t>
              </a:r>
            </a:p>
          </p:txBody>
        </p:sp>
        <p:grpSp>
          <p:nvGrpSpPr>
            <p:cNvPr id="104" name="pack-1"/>
            <p:cNvGrpSpPr/>
            <p:nvPr/>
          </p:nvGrpSpPr>
          <p:grpSpPr>
            <a:xfrm>
              <a:off x="8001000" y="1428750"/>
              <a:ext cx="1775460" cy="571500"/>
              <a:chOff x="8001000" y="1428750"/>
              <a:chExt cx="1775460" cy="571500"/>
            </a:xfrm>
          </p:grpSpPr>
          <p:sp>
            <p:nvSpPr>
              <p:cNvPr id="99" name="Ellipse 99"/>
              <p:cNvSpPr/>
              <p:nvPr/>
            </p:nvSpPr>
            <p:spPr>
              <a:xfrm>
                <a:off x="8001000" y="1428750"/>
                <a:ext cx="571500" cy="571500"/>
              </a:xfrm>
              <a:prstGeom prst="ellipse">
                <a:avLst/>
              </a:prstGeom>
              <a:solidFill>
                <a:srgbClr val="FFFFFF"/>
              </a:solidFill>
              <a:ln w="14288">
                <a:solidFill>
                  <a:srgbClr val="E84E2F"/>
                </a:solidFill>
              </a:ln>
            </p:spPr>
          </p:sp>
          <p:grpSp>
            <p:nvGrpSpPr>
              <p:cNvPr id="102" name="Group 102"/>
              <p:cNvGrpSpPr/>
              <p:nvPr/>
            </p:nvGrpSpPr>
            <p:grpSpPr>
              <a:xfrm>
                <a:off x="8172067" y="1620012"/>
                <a:ext cx="233150" cy="208788"/>
                <a:chOff x="8172067" y="1620012"/>
                <a:chExt cx="233150" cy="208788"/>
              </a:xfrm>
            </p:grpSpPr>
            <p:sp>
              <p:nvSpPr>
                <p:cNvPr id="100" name="Freeform 100"/>
                <p:cNvSpPr/>
                <p:nvPr/>
              </p:nvSpPr>
              <p:spPr>
                <a:xfrm>
                  <a:off x="8172067" y="1620012"/>
                  <a:ext cx="233150" cy="208788"/>
                </a:xfrm>
                <a:custGeom>
                  <a:avLst/>
                  <a:gdLst/>
                  <a:ahLst/>
                  <a:cxnLst/>
                  <a:rect l="l" t="t" r="r" b="b"/>
                  <a:pathLst>
                    <a:path w="233150" h="208788">
                      <a:moveTo>
                        <a:pt x="209932" y="114452"/>
                      </a:moveTo>
                      <a:lnTo>
                        <a:pt x="114683" y="208788"/>
                      </a:lnTo>
                      <a:lnTo>
                        <a:pt x="77903" y="172364"/>
                      </a:lnTo>
                      <a:moveTo>
                        <a:pt x="218" y="69444"/>
                      </a:moveTo>
                      <a:cubicBezTo>
                        <a:pt x="0" y="41968"/>
                        <a:pt x="17478" y="17469"/>
                        <a:pt x="43529" y="8735"/>
                      </a:cubicBezTo>
                      <a:cubicBezTo>
                        <a:pt x="69580" y="0"/>
                        <a:pt x="98294" y="9011"/>
                        <a:pt x="114683" y="31064"/>
                      </a:cubicBezTo>
                      <a:cubicBezTo>
                        <a:pt x="128999" y="12024"/>
                        <a:pt x="152768" y="2599"/>
                        <a:pt x="176242" y="6653"/>
                      </a:cubicBezTo>
                      <a:cubicBezTo>
                        <a:pt x="199716" y="10707"/>
                        <a:pt x="218947" y="27558"/>
                        <a:pt x="226048" y="50297"/>
                      </a:cubicBezTo>
                      <a:cubicBezTo>
                        <a:pt x="233150" y="73035"/>
                        <a:pt x="226927" y="97836"/>
                        <a:pt x="209932" y="114529"/>
                      </a:cubicBezTo>
                    </a:path>
                  </a:pathLst>
                </a:custGeom>
                <a:noFill/>
                <a:ln w="19050">
                  <a:solidFill>
                    <a:srgbClr val="8A1700"/>
                  </a:solidFill>
                </a:ln>
              </p:spPr>
            </p:sp>
            <p:sp>
              <p:nvSpPr>
                <p:cNvPr id="101" name="Freeform 101"/>
                <p:cNvSpPr/>
                <p:nvPr/>
              </p:nvSpPr>
              <p:spPr>
                <a:xfrm>
                  <a:off x="8172450" y="1689100"/>
                  <a:ext cx="127000" cy="76200"/>
                </a:xfrm>
                <a:custGeom>
                  <a:avLst/>
                  <a:gdLst/>
                  <a:ahLst/>
                  <a:cxnLst/>
                  <a:rect l="l" t="t" r="r" b="b"/>
                  <a:pathLst>
                    <a:path w="127000" h="76200">
                      <a:moveTo>
                        <a:pt x="0" y="38100"/>
                      </a:moveTo>
                      <a:lnTo>
                        <a:pt x="25400" y="38100"/>
                      </a:lnTo>
                      <a:lnTo>
                        <a:pt x="50800" y="76200"/>
                      </a:lnTo>
                      <a:lnTo>
                        <a:pt x="76200" y="0"/>
                      </a:lnTo>
                      <a:lnTo>
                        <a:pt x="88900" y="38100"/>
                      </a:lnTo>
                      <a:lnTo>
                        <a:pt x="127000" y="38100"/>
                      </a:lnTo>
                    </a:path>
                  </a:pathLst>
                </a:custGeom>
                <a:noFill/>
                <a:ln w="19050">
                  <a:solidFill>
                    <a:srgbClr val="8A1700"/>
                  </a:solidFill>
                </a:ln>
              </p:spPr>
            </p:sp>
          </p:grpSp>
          <p:sp>
            <p:nvSpPr>
              <p:cNvPr id="103" name="TextBox 103"/>
              <p:cNvSpPr txBox="1"/>
              <p:nvPr/>
            </p:nvSpPr>
            <p:spPr>
              <a:xfrm>
                <a:off x="8795004" y="1642110"/>
                <a:ext cx="981456"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企业金融体检</a:t>
                </a:r>
              </a:p>
            </p:txBody>
          </p:sp>
        </p:grpSp>
        <p:sp>
          <p:nvSpPr>
            <p:cNvPr id="105" name="Line 105"/>
            <p:cNvSpPr/>
            <p:nvPr/>
          </p:nvSpPr>
          <p:spPr>
            <a:xfrm>
              <a:off x="8001000" y="2133600"/>
              <a:ext cx="3714750" cy="9525"/>
            </a:xfrm>
            <a:custGeom>
              <a:avLst/>
              <a:gdLst/>
              <a:ahLst/>
              <a:cxnLst/>
              <a:rect l="l" t="t" r="r" b="b"/>
              <a:pathLst>
                <a:path w="3714750" h="9525">
                  <a:moveTo>
                    <a:pt x="0" y="0"/>
                  </a:moveTo>
                  <a:lnTo>
                    <a:pt x="3714750" y="0"/>
                  </a:lnTo>
                </a:path>
              </a:pathLst>
            </a:custGeom>
            <a:noFill/>
            <a:ln w="9525">
              <a:solidFill>
                <a:srgbClr val="DCE6F5"/>
              </a:solidFill>
            </a:ln>
          </p:spPr>
        </p:sp>
        <p:grpSp>
          <p:nvGrpSpPr>
            <p:cNvPr id="114" name="pack-2"/>
            <p:cNvGrpSpPr/>
            <p:nvPr/>
          </p:nvGrpSpPr>
          <p:grpSpPr>
            <a:xfrm>
              <a:off x="8001000" y="2266950"/>
              <a:ext cx="1452372" cy="571500"/>
              <a:chOff x="8001000" y="2266950"/>
              <a:chExt cx="1452372" cy="571500"/>
            </a:xfrm>
          </p:grpSpPr>
          <p:sp>
            <p:nvSpPr>
              <p:cNvPr id="106" name="Ellipse 106"/>
              <p:cNvSpPr/>
              <p:nvPr/>
            </p:nvSpPr>
            <p:spPr>
              <a:xfrm>
                <a:off x="8001000" y="2266950"/>
                <a:ext cx="571500" cy="571500"/>
              </a:xfrm>
              <a:prstGeom prst="ellipse">
                <a:avLst/>
              </a:prstGeom>
              <a:solidFill>
                <a:srgbClr val="FFFFFF"/>
              </a:solidFill>
              <a:ln w="14288">
                <a:solidFill>
                  <a:srgbClr val="E84E2F"/>
                </a:solidFill>
              </a:ln>
            </p:spPr>
          </p:sp>
          <p:grpSp>
            <p:nvGrpSpPr>
              <p:cNvPr id="112" name="Group 112"/>
              <p:cNvGrpSpPr/>
              <p:nvPr/>
            </p:nvGrpSpPr>
            <p:grpSpPr>
              <a:xfrm>
                <a:off x="8197850" y="2438400"/>
                <a:ext cx="177800" cy="228599"/>
                <a:chOff x="8197850" y="2438400"/>
                <a:chExt cx="177800" cy="228599"/>
              </a:xfrm>
            </p:grpSpPr>
            <p:sp>
              <p:nvSpPr>
                <p:cNvPr id="107" name="Freeform 107"/>
                <p:cNvSpPr/>
                <p:nvPr/>
              </p:nvSpPr>
              <p:spPr>
                <a:xfrm>
                  <a:off x="8312150" y="24384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19050">
                  <a:solidFill>
                    <a:srgbClr val="8A1700"/>
                  </a:solidFill>
                </a:ln>
              </p:spPr>
            </p:sp>
            <p:sp>
              <p:nvSpPr>
                <p:cNvPr id="108" name="Freeform 108"/>
                <p:cNvSpPr/>
                <p:nvPr/>
              </p:nvSpPr>
              <p:spPr>
                <a:xfrm>
                  <a:off x="8197850" y="24384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19050">
                  <a:solidFill>
                    <a:srgbClr val="8A1700"/>
                  </a:solidFill>
                </a:ln>
              </p:spPr>
            </p:sp>
            <p:sp>
              <p:nvSpPr>
                <p:cNvPr id="109" name="Freeform 109"/>
                <p:cNvSpPr/>
                <p:nvPr/>
              </p:nvSpPr>
              <p:spPr>
                <a:xfrm>
                  <a:off x="8248650" y="2514600"/>
                  <a:ext cx="12700" cy="9525"/>
                </a:xfrm>
                <a:custGeom>
                  <a:avLst/>
                  <a:gdLst/>
                  <a:ahLst/>
                  <a:cxnLst/>
                  <a:rect l="l" t="t" r="r" b="b"/>
                  <a:pathLst>
                    <a:path w="12700" h="9525">
                      <a:moveTo>
                        <a:pt x="0" y="0"/>
                      </a:moveTo>
                      <a:lnTo>
                        <a:pt x="12700" y="0"/>
                      </a:lnTo>
                    </a:path>
                  </a:pathLst>
                </a:custGeom>
                <a:noFill/>
                <a:ln w="19050">
                  <a:solidFill>
                    <a:srgbClr val="8A1700"/>
                  </a:solidFill>
                </a:ln>
              </p:spPr>
            </p:sp>
            <p:sp>
              <p:nvSpPr>
                <p:cNvPr id="110" name="Freeform 110"/>
                <p:cNvSpPr/>
                <p:nvPr/>
              </p:nvSpPr>
              <p:spPr>
                <a:xfrm>
                  <a:off x="8248650" y="2565400"/>
                  <a:ext cx="76200" cy="9525"/>
                </a:xfrm>
                <a:custGeom>
                  <a:avLst/>
                  <a:gdLst/>
                  <a:ahLst/>
                  <a:cxnLst/>
                  <a:rect l="l" t="t" r="r" b="b"/>
                  <a:pathLst>
                    <a:path w="76200" h="9525">
                      <a:moveTo>
                        <a:pt x="0" y="0"/>
                      </a:moveTo>
                      <a:lnTo>
                        <a:pt x="76200" y="0"/>
                      </a:lnTo>
                    </a:path>
                  </a:pathLst>
                </a:custGeom>
                <a:noFill/>
                <a:ln w="19050">
                  <a:solidFill>
                    <a:srgbClr val="8A1700"/>
                  </a:solidFill>
                </a:ln>
              </p:spPr>
            </p:sp>
            <p:sp>
              <p:nvSpPr>
                <p:cNvPr id="111" name="Freeform 111"/>
                <p:cNvSpPr/>
                <p:nvPr/>
              </p:nvSpPr>
              <p:spPr>
                <a:xfrm>
                  <a:off x="8248650" y="2616199"/>
                  <a:ext cx="76200" cy="9525"/>
                </a:xfrm>
                <a:custGeom>
                  <a:avLst/>
                  <a:gdLst/>
                  <a:ahLst/>
                  <a:cxnLst/>
                  <a:rect l="l" t="t" r="r" b="b"/>
                  <a:pathLst>
                    <a:path w="76200" h="9525">
                      <a:moveTo>
                        <a:pt x="0" y="0"/>
                      </a:moveTo>
                      <a:lnTo>
                        <a:pt x="76200" y="0"/>
                      </a:lnTo>
                    </a:path>
                  </a:pathLst>
                </a:custGeom>
                <a:noFill/>
                <a:ln w="19050">
                  <a:solidFill>
                    <a:srgbClr val="8A1700"/>
                  </a:solidFill>
                </a:ln>
              </p:spPr>
            </p:sp>
          </p:grpSp>
          <p:sp>
            <p:nvSpPr>
              <p:cNvPr id="113" name="TextBox 113"/>
              <p:cNvSpPr txBox="1"/>
              <p:nvPr/>
            </p:nvSpPr>
            <p:spPr>
              <a:xfrm>
                <a:off x="8795004" y="2480310"/>
                <a:ext cx="658368"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政策信息</a:t>
                </a:r>
              </a:p>
            </p:txBody>
          </p:sp>
        </p:grpSp>
        <p:sp>
          <p:nvSpPr>
            <p:cNvPr id="115" name="Line 115"/>
            <p:cNvSpPr/>
            <p:nvPr/>
          </p:nvSpPr>
          <p:spPr>
            <a:xfrm>
              <a:off x="8001000" y="2971800"/>
              <a:ext cx="3714750" cy="9525"/>
            </a:xfrm>
            <a:custGeom>
              <a:avLst/>
              <a:gdLst/>
              <a:ahLst/>
              <a:cxnLst/>
              <a:rect l="l" t="t" r="r" b="b"/>
              <a:pathLst>
                <a:path w="3714750" h="9525">
                  <a:moveTo>
                    <a:pt x="0" y="0"/>
                  </a:moveTo>
                  <a:lnTo>
                    <a:pt x="3714750" y="0"/>
                  </a:lnTo>
                </a:path>
              </a:pathLst>
            </a:custGeom>
            <a:noFill/>
            <a:ln w="9525">
              <a:solidFill>
                <a:srgbClr val="DCE6F5"/>
              </a:solidFill>
            </a:ln>
          </p:spPr>
        </p:sp>
        <p:grpSp>
          <p:nvGrpSpPr>
            <p:cNvPr id="123" name="pack-3"/>
            <p:cNvGrpSpPr/>
            <p:nvPr/>
          </p:nvGrpSpPr>
          <p:grpSpPr>
            <a:xfrm>
              <a:off x="8001000" y="3105150"/>
              <a:ext cx="1775460" cy="571500"/>
              <a:chOff x="8001000" y="3105150"/>
              <a:chExt cx="1775460" cy="571500"/>
            </a:xfrm>
          </p:grpSpPr>
          <p:sp>
            <p:nvSpPr>
              <p:cNvPr id="116" name="Ellipse 116"/>
              <p:cNvSpPr/>
              <p:nvPr/>
            </p:nvSpPr>
            <p:spPr>
              <a:xfrm>
                <a:off x="8001000" y="3105150"/>
                <a:ext cx="571500" cy="571500"/>
              </a:xfrm>
              <a:prstGeom prst="ellipse">
                <a:avLst/>
              </a:prstGeom>
              <a:solidFill>
                <a:srgbClr val="FFFFFF"/>
              </a:solidFill>
              <a:ln w="14288">
                <a:solidFill>
                  <a:srgbClr val="E84E2F"/>
                </a:solidFill>
              </a:ln>
            </p:spPr>
          </p:sp>
          <p:grpSp>
            <p:nvGrpSpPr>
              <p:cNvPr id="121" name="Group 121"/>
              <p:cNvGrpSpPr/>
              <p:nvPr/>
            </p:nvGrpSpPr>
            <p:grpSpPr>
              <a:xfrm>
                <a:off x="8172450" y="3276600"/>
                <a:ext cx="228599" cy="228600"/>
                <a:chOff x="8172450" y="3276600"/>
                <a:chExt cx="228599" cy="228600"/>
              </a:xfrm>
            </p:grpSpPr>
            <p:sp>
              <p:nvSpPr>
                <p:cNvPr id="117" name="Freeform 117"/>
                <p:cNvSpPr/>
                <p:nvPr/>
              </p:nvSpPr>
              <p:spPr>
                <a:xfrm>
                  <a:off x="8197850" y="327660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19050">
                  <a:solidFill>
                    <a:srgbClr val="8A1700"/>
                  </a:solidFill>
                </a:ln>
              </p:spPr>
            </p:sp>
            <p:sp>
              <p:nvSpPr>
                <p:cNvPr id="118" name="Freeform 118"/>
                <p:cNvSpPr/>
                <p:nvPr/>
              </p:nvSpPr>
              <p:spPr>
                <a:xfrm>
                  <a:off x="8172450" y="3429000"/>
                  <a:ext cx="152400" cy="76200"/>
                </a:xfrm>
                <a:custGeom>
                  <a:avLst/>
                  <a:gdLst/>
                  <a:ahLst/>
                  <a:cxnLst/>
                  <a:rect l="l" t="t" r="r" b="b"/>
                  <a:pathLst>
                    <a:path w="152400" h="76200">
                      <a:moveTo>
                        <a:pt x="0" y="76200"/>
                      </a:moveTo>
                      <a:lnTo>
                        <a:pt x="0" y="50800"/>
                      </a:lnTo>
                      <a:cubicBezTo>
                        <a:pt x="0" y="22744"/>
                        <a:pt x="22744" y="0"/>
                        <a:pt x="50800" y="0"/>
                      </a:cubicBezTo>
                      <a:lnTo>
                        <a:pt x="101600" y="0"/>
                      </a:lnTo>
                      <a:cubicBezTo>
                        <a:pt x="129656" y="0"/>
                        <a:pt x="152400" y="22744"/>
                        <a:pt x="152400" y="50800"/>
                      </a:cubicBezTo>
                      <a:lnTo>
                        <a:pt x="152400" y="76200"/>
                      </a:lnTo>
                    </a:path>
                  </a:pathLst>
                </a:custGeom>
                <a:noFill/>
                <a:ln w="19050">
                  <a:solidFill>
                    <a:srgbClr val="8A1700"/>
                  </a:solidFill>
                </a:ln>
              </p:spPr>
            </p:sp>
            <p:sp>
              <p:nvSpPr>
                <p:cNvPr id="119" name="Freeform 119"/>
                <p:cNvSpPr/>
                <p:nvPr/>
              </p:nvSpPr>
              <p:spPr>
                <a:xfrm>
                  <a:off x="8337549" y="3278251"/>
                  <a:ext cx="38200" cy="98425"/>
                </a:xfrm>
                <a:custGeom>
                  <a:avLst/>
                  <a:gdLst/>
                  <a:ahLst/>
                  <a:cxnLst/>
                  <a:rect l="l" t="t" r="r" b="b"/>
                  <a:pathLst>
                    <a:path w="38200" h="98425">
                      <a:moveTo>
                        <a:pt x="0" y="0"/>
                      </a:moveTo>
                      <a:cubicBezTo>
                        <a:pt x="22478" y="5755"/>
                        <a:pt x="38200" y="26009"/>
                        <a:pt x="38200" y="49212"/>
                      </a:cubicBezTo>
                      <a:cubicBezTo>
                        <a:pt x="38200" y="72415"/>
                        <a:pt x="22478" y="92670"/>
                        <a:pt x="0" y="98425"/>
                      </a:cubicBezTo>
                    </a:path>
                  </a:pathLst>
                </a:custGeom>
                <a:noFill/>
                <a:ln w="19050">
                  <a:solidFill>
                    <a:srgbClr val="8A1700"/>
                  </a:solidFill>
                </a:ln>
              </p:spPr>
            </p:sp>
            <p:sp>
              <p:nvSpPr>
                <p:cNvPr id="120" name="Freeform 120"/>
                <p:cNvSpPr/>
                <p:nvPr/>
              </p:nvSpPr>
              <p:spPr>
                <a:xfrm>
                  <a:off x="8362949" y="3430905"/>
                  <a:ext cx="38100" cy="74295"/>
                </a:xfrm>
                <a:custGeom>
                  <a:avLst/>
                  <a:gdLst/>
                  <a:ahLst/>
                  <a:cxnLst/>
                  <a:rect l="l" t="t" r="r" b="b"/>
                  <a:pathLst>
                    <a:path w="38100" h="74295">
                      <a:moveTo>
                        <a:pt x="38100" y="74295"/>
                      </a:moveTo>
                      <a:lnTo>
                        <a:pt x="38100" y="48895"/>
                      </a:lnTo>
                      <a:cubicBezTo>
                        <a:pt x="37967" y="25839"/>
                        <a:pt x="22324" y="5764"/>
                        <a:pt x="0" y="0"/>
                      </a:cubicBezTo>
                    </a:path>
                  </a:pathLst>
                </a:custGeom>
                <a:noFill/>
                <a:ln w="19050">
                  <a:solidFill>
                    <a:srgbClr val="8A1700"/>
                  </a:solidFill>
                </a:ln>
              </p:spPr>
            </p:sp>
          </p:grpSp>
          <p:sp>
            <p:nvSpPr>
              <p:cNvPr id="122" name="TextBox 122"/>
              <p:cNvSpPr txBox="1"/>
              <p:nvPr/>
            </p:nvSpPr>
            <p:spPr>
              <a:xfrm>
                <a:off x="8795004" y="3318510"/>
                <a:ext cx="981456"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商务资源链接</a:t>
                </a:r>
              </a:p>
            </p:txBody>
          </p:sp>
        </p:grpSp>
        <p:sp>
          <p:nvSpPr>
            <p:cNvPr id="124" name="Line 124"/>
            <p:cNvSpPr/>
            <p:nvPr/>
          </p:nvSpPr>
          <p:spPr>
            <a:xfrm>
              <a:off x="8001000" y="3810000"/>
              <a:ext cx="3714750" cy="9525"/>
            </a:xfrm>
            <a:custGeom>
              <a:avLst/>
              <a:gdLst/>
              <a:ahLst/>
              <a:cxnLst/>
              <a:rect l="l" t="t" r="r" b="b"/>
              <a:pathLst>
                <a:path w="3714750" h="9525">
                  <a:moveTo>
                    <a:pt x="0" y="0"/>
                  </a:moveTo>
                  <a:lnTo>
                    <a:pt x="3714750" y="0"/>
                  </a:lnTo>
                </a:path>
              </a:pathLst>
            </a:custGeom>
            <a:noFill/>
            <a:ln w="9525">
              <a:solidFill>
                <a:srgbClr val="DCE6F5"/>
              </a:solidFill>
            </a:ln>
          </p:spPr>
        </p:sp>
        <p:grpSp>
          <p:nvGrpSpPr>
            <p:cNvPr id="131" name="pack-4"/>
            <p:cNvGrpSpPr/>
            <p:nvPr/>
          </p:nvGrpSpPr>
          <p:grpSpPr>
            <a:xfrm>
              <a:off x="8001000" y="3943350"/>
              <a:ext cx="1452372" cy="571500"/>
              <a:chOff x="8001000" y="3943350"/>
              <a:chExt cx="1452372" cy="571500"/>
            </a:xfrm>
          </p:grpSpPr>
          <p:sp>
            <p:nvSpPr>
              <p:cNvPr id="125" name="Ellipse 125"/>
              <p:cNvSpPr/>
              <p:nvPr/>
            </p:nvSpPr>
            <p:spPr>
              <a:xfrm>
                <a:off x="8001000" y="3943350"/>
                <a:ext cx="571500" cy="571500"/>
              </a:xfrm>
              <a:prstGeom prst="ellipse">
                <a:avLst/>
              </a:prstGeom>
              <a:solidFill>
                <a:srgbClr val="FFFFFF"/>
              </a:solidFill>
              <a:ln w="14288">
                <a:solidFill>
                  <a:srgbClr val="E84E2F"/>
                </a:solidFill>
              </a:ln>
            </p:spPr>
          </p:sp>
          <p:grpSp>
            <p:nvGrpSpPr>
              <p:cNvPr id="129" name="Group 129"/>
              <p:cNvGrpSpPr/>
              <p:nvPr/>
            </p:nvGrpSpPr>
            <p:grpSpPr>
              <a:xfrm>
                <a:off x="8167161" y="4114800"/>
                <a:ext cx="239177" cy="228599"/>
                <a:chOff x="8167161" y="4114800"/>
                <a:chExt cx="239177" cy="228599"/>
              </a:xfrm>
            </p:grpSpPr>
            <p:sp>
              <p:nvSpPr>
                <p:cNvPr id="126" name="Freeform 126"/>
                <p:cNvSpPr/>
                <p:nvPr/>
              </p:nvSpPr>
              <p:spPr>
                <a:xfrm>
                  <a:off x="8167161" y="411480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19050">
                  <a:solidFill>
                    <a:srgbClr val="8A1700"/>
                  </a:solidFill>
                </a:ln>
              </p:spPr>
            </p:sp>
            <p:sp>
              <p:nvSpPr>
                <p:cNvPr id="127" name="Freeform 127"/>
                <p:cNvSpPr/>
                <p:nvPr/>
              </p:nvSpPr>
              <p:spPr>
                <a:xfrm>
                  <a:off x="8274050" y="42037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9050">
                  <a:solidFill>
                    <a:srgbClr val="8A1700"/>
                  </a:solidFill>
                </a:ln>
              </p:spPr>
            </p:sp>
            <p:sp>
              <p:nvSpPr>
                <p:cNvPr id="128" name="Freeform 128"/>
                <p:cNvSpPr/>
                <p:nvPr/>
              </p:nvSpPr>
              <p:spPr>
                <a:xfrm>
                  <a:off x="8286750" y="4229100"/>
                  <a:ext cx="9525" cy="31750"/>
                </a:xfrm>
                <a:custGeom>
                  <a:avLst/>
                  <a:gdLst/>
                  <a:ahLst/>
                  <a:cxnLst/>
                  <a:rect l="l" t="t" r="r" b="b"/>
                  <a:pathLst>
                    <a:path w="9525" h="31750">
                      <a:moveTo>
                        <a:pt x="0" y="0"/>
                      </a:moveTo>
                      <a:lnTo>
                        <a:pt x="0" y="31750"/>
                      </a:lnTo>
                    </a:path>
                  </a:pathLst>
                </a:custGeom>
                <a:noFill/>
                <a:ln w="19050">
                  <a:solidFill>
                    <a:srgbClr val="8A1700"/>
                  </a:solidFill>
                </a:ln>
              </p:spPr>
            </p:sp>
          </p:grpSp>
          <p:sp>
            <p:nvSpPr>
              <p:cNvPr id="130" name="TextBox 130"/>
              <p:cNvSpPr txBox="1"/>
              <p:nvPr/>
            </p:nvSpPr>
            <p:spPr>
              <a:xfrm>
                <a:off x="8795004" y="4156710"/>
                <a:ext cx="658368"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金融安全</a:t>
                </a:r>
              </a:p>
            </p:txBody>
          </p:sp>
        </p:grpSp>
      </p:grpSp>
      <p:grpSp>
        <p:nvGrpSpPr>
          <p:cNvPr id="153" name="formula-bar"/>
          <p:cNvGrpSpPr/>
          <p:nvPr/>
        </p:nvGrpSpPr>
        <p:grpSpPr>
          <a:xfrm>
            <a:off x="228600" y="5143500"/>
            <a:ext cx="11734800" cy="590550"/>
            <a:chOff x="228600" y="5143500"/>
            <a:chExt cx="11734800" cy="590550"/>
          </a:xfrm>
        </p:grpSpPr>
        <p:sp>
          <p:nvSpPr>
            <p:cNvPr id="133" name="Rectangle 133"/>
            <p:cNvSpPr/>
            <p:nvPr/>
          </p:nvSpPr>
          <p:spPr>
            <a:xfrm>
              <a:off x="228600" y="5143500"/>
              <a:ext cx="11734800" cy="590550"/>
            </a:xfrm>
            <a:prstGeom prst="roundRect">
              <a:avLst>
                <a:gd name="adj" fmla="val 12903"/>
              </a:avLst>
            </a:prstGeom>
            <a:solidFill>
              <a:srgbClr val="FFFFFF"/>
            </a:solidFill>
            <a:ln w="14288">
              <a:solidFill>
                <a:srgbClr val="8A1700"/>
              </a:solidFill>
            </a:ln>
          </p:spPr>
        </p:sp>
        <p:sp>
          <p:nvSpPr>
            <p:cNvPr id="134" name="Rectangle 134"/>
            <p:cNvSpPr/>
            <p:nvPr/>
          </p:nvSpPr>
          <p:spPr>
            <a:xfrm>
              <a:off x="381000" y="5257800"/>
              <a:ext cx="952500" cy="361950"/>
            </a:xfrm>
            <a:prstGeom prst="roundRect">
              <a:avLst>
                <a:gd name="adj" fmla="val 15789"/>
              </a:avLst>
            </a:prstGeom>
            <a:solidFill>
              <a:srgbClr val="520E00"/>
            </a:solidFill>
            <a:ln>
              <a:noFill/>
            </a:ln>
          </p:spPr>
        </p:sp>
        <p:sp>
          <p:nvSpPr>
            <p:cNvPr id="135" name="TextBox 135"/>
            <p:cNvSpPr txBox="1"/>
            <p:nvPr/>
          </p:nvSpPr>
          <p:spPr>
            <a:xfrm>
              <a:off x="573157" y="5359718"/>
              <a:ext cx="56818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LTV=​</a:t>
              </a:r>
            </a:p>
          </p:txBody>
        </p:sp>
        <p:sp>
          <p:nvSpPr>
            <p:cNvPr id="136" name="Rectangle 136"/>
            <p:cNvSpPr/>
            <p:nvPr/>
          </p:nvSpPr>
          <p:spPr>
            <a:xfrm>
              <a:off x="1562100" y="5276850"/>
              <a:ext cx="1143000" cy="323850"/>
            </a:xfrm>
            <a:prstGeom prst="roundRect">
              <a:avLst>
                <a:gd name="adj" fmla="val 11765"/>
              </a:avLst>
            </a:prstGeom>
            <a:solidFill>
              <a:srgbClr val="FFFFFF"/>
            </a:solidFill>
            <a:ln w="9525">
              <a:solidFill>
                <a:srgbClr val="C9D5EA"/>
              </a:solidFill>
            </a:ln>
          </p:spPr>
        </p:sp>
        <p:sp>
          <p:nvSpPr>
            <p:cNvPr id="137" name="TextBox 137"/>
            <p:cNvSpPr txBox="1"/>
            <p:nvPr/>
          </p:nvSpPr>
          <p:spPr>
            <a:xfrm>
              <a:off x="1845564" y="5382578"/>
              <a:ext cx="576072"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消费贡献</a:t>
              </a:r>
            </a:p>
          </p:txBody>
        </p:sp>
        <p:sp>
          <p:nvSpPr>
            <p:cNvPr id="138" name="TextBox 138"/>
            <p:cNvSpPr txBox="1"/>
            <p:nvPr/>
          </p:nvSpPr>
          <p:spPr>
            <a:xfrm>
              <a:off x="2758942" y="5346382"/>
              <a:ext cx="273316" cy="322707"/>
            </a:xfrm>
            <a:prstGeom prst="rect">
              <a:avLst/>
            </a:prstGeom>
            <a:noFill/>
            <a:ln>
              <a:noFill/>
            </a:ln>
          </p:spPr>
          <p:txBody>
            <a:bodyPr wrap="none" lIns="0" tIns="0" rIns="0" bIns="0" anchor="t" anchorCtr="0">
              <a:spAutoFit/>
            </a:bodyPr>
            <a:lstStyle/>
            <a:p>
              <a:pPr algn="ctr"/>
              <a:r>
                <a:rPr lang="zh-CN" sz="1650" b="1" dirty="0">
                  <a:solidFill>
                    <a:srgbClr val="8A1700"/>
                  </a:solidFill>
                  <a:latin typeface="+mn-lt"/>
                  <a:ea typeface="+mn-ea"/>
                  <a:cs typeface="+mn-cs"/>
                </a:rPr>
                <a:t>+​</a:t>
              </a:r>
            </a:p>
          </p:txBody>
        </p:sp>
        <p:sp>
          <p:nvSpPr>
            <p:cNvPr id="139" name="Rectangle 139"/>
            <p:cNvSpPr/>
            <p:nvPr/>
          </p:nvSpPr>
          <p:spPr>
            <a:xfrm>
              <a:off x="3086100" y="5276850"/>
              <a:ext cx="1143000" cy="323850"/>
            </a:xfrm>
            <a:prstGeom prst="roundRect">
              <a:avLst>
                <a:gd name="adj" fmla="val 11765"/>
              </a:avLst>
            </a:prstGeom>
            <a:solidFill>
              <a:srgbClr val="FFFFFF"/>
            </a:solidFill>
            <a:ln w="9525">
              <a:solidFill>
                <a:srgbClr val="C9D5EA"/>
              </a:solidFill>
            </a:ln>
          </p:spPr>
        </p:sp>
        <p:sp>
          <p:nvSpPr>
            <p:cNvPr id="140" name="TextBox 140"/>
            <p:cNvSpPr txBox="1"/>
            <p:nvPr/>
          </p:nvSpPr>
          <p:spPr>
            <a:xfrm>
              <a:off x="3369564" y="5382578"/>
              <a:ext cx="576072"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分期收入</a:t>
              </a:r>
            </a:p>
          </p:txBody>
        </p:sp>
        <p:sp>
          <p:nvSpPr>
            <p:cNvPr id="141" name="TextBox 141"/>
            <p:cNvSpPr txBox="1"/>
            <p:nvPr/>
          </p:nvSpPr>
          <p:spPr>
            <a:xfrm>
              <a:off x="4282942" y="5346382"/>
              <a:ext cx="273316" cy="322707"/>
            </a:xfrm>
            <a:prstGeom prst="rect">
              <a:avLst/>
            </a:prstGeom>
            <a:noFill/>
            <a:ln>
              <a:noFill/>
            </a:ln>
          </p:spPr>
          <p:txBody>
            <a:bodyPr wrap="none" lIns="0" tIns="0" rIns="0" bIns="0" anchor="t" anchorCtr="0">
              <a:spAutoFit/>
            </a:bodyPr>
            <a:lstStyle/>
            <a:p>
              <a:pPr algn="ctr"/>
              <a:r>
                <a:rPr lang="zh-CN" sz="1650" b="1" dirty="0">
                  <a:solidFill>
                    <a:srgbClr val="8A1700"/>
                  </a:solidFill>
                  <a:latin typeface="+mn-lt"/>
                  <a:ea typeface="+mn-ea"/>
                  <a:cs typeface="+mn-cs"/>
                </a:rPr>
                <a:t>+​</a:t>
              </a:r>
            </a:p>
          </p:txBody>
        </p:sp>
        <p:sp>
          <p:nvSpPr>
            <p:cNvPr id="142" name="Rectangle 142"/>
            <p:cNvSpPr/>
            <p:nvPr/>
          </p:nvSpPr>
          <p:spPr>
            <a:xfrm>
              <a:off x="4610100" y="5276850"/>
              <a:ext cx="1143000" cy="323850"/>
            </a:xfrm>
            <a:prstGeom prst="roundRect">
              <a:avLst>
                <a:gd name="adj" fmla="val 11765"/>
              </a:avLst>
            </a:prstGeom>
            <a:solidFill>
              <a:srgbClr val="FFFFFF"/>
            </a:solidFill>
            <a:ln w="9525">
              <a:solidFill>
                <a:srgbClr val="C9D5EA"/>
              </a:solidFill>
            </a:ln>
          </p:spPr>
        </p:sp>
        <p:sp>
          <p:nvSpPr>
            <p:cNvPr id="143" name="TextBox 143"/>
            <p:cNvSpPr txBox="1"/>
            <p:nvPr/>
          </p:nvSpPr>
          <p:spPr>
            <a:xfrm>
              <a:off x="5034915" y="5382578"/>
              <a:ext cx="293370"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年费</a:t>
              </a:r>
            </a:p>
          </p:txBody>
        </p:sp>
        <p:sp>
          <p:nvSpPr>
            <p:cNvPr id="144" name="TextBox 144"/>
            <p:cNvSpPr txBox="1"/>
            <p:nvPr/>
          </p:nvSpPr>
          <p:spPr>
            <a:xfrm>
              <a:off x="5806942" y="5346382"/>
              <a:ext cx="273316" cy="322707"/>
            </a:xfrm>
            <a:prstGeom prst="rect">
              <a:avLst/>
            </a:prstGeom>
            <a:noFill/>
            <a:ln>
              <a:noFill/>
            </a:ln>
          </p:spPr>
          <p:txBody>
            <a:bodyPr wrap="none" lIns="0" tIns="0" rIns="0" bIns="0" anchor="t" anchorCtr="0">
              <a:spAutoFit/>
            </a:bodyPr>
            <a:lstStyle/>
            <a:p>
              <a:pPr algn="ctr"/>
              <a:r>
                <a:rPr lang="zh-CN" sz="1650" b="1" dirty="0">
                  <a:solidFill>
                    <a:srgbClr val="8A1700"/>
                  </a:solidFill>
                  <a:latin typeface="+mn-lt"/>
                  <a:ea typeface="+mn-ea"/>
                  <a:cs typeface="+mn-cs"/>
                </a:rPr>
                <a:t>+​</a:t>
              </a:r>
            </a:p>
          </p:txBody>
        </p:sp>
        <p:sp>
          <p:nvSpPr>
            <p:cNvPr id="145" name="Rectangle 145"/>
            <p:cNvSpPr/>
            <p:nvPr/>
          </p:nvSpPr>
          <p:spPr>
            <a:xfrm>
              <a:off x="6134100" y="5276850"/>
              <a:ext cx="1143000" cy="323850"/>
            </a:xfrm>
            <a:prstGeom prst="roundRect">
              <a:avLst>
                <a:gd name="adj" fmla="val 11765"/>
              </a:avLst>
            </a:prstGeom>
            <a:solidFill>
              <a:srgbClr val="FFFFFF"/>
            </a:solidFill>
            <a:ln w="9525">
              <a:solidFill>
                <a:srgbClr val="C9D5EA"/>
              </a:solidFill>
            </a:ln>
          </p:spPr>
        </p:sp>
        <p:sp>
          <p:nvSpPr>
            <p:cNvPr id="146" name="TextBox 146"/>
            <p:cNvSpPr txBox="1"/>
            <p:nvPr/>
          </p:nvSpPr>
          <p:spPr>
            <a:xfrm>
              <a:off x="6417564" y="5382578"/>
              <a:ext cx="576072"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协同价值</a:t>
              </a:r>
            </a:p>
          </p:txBody>
        </p:sp>
        <p:sp>
          <p:nvSpPr>
            <p:cNvPr id="147" name="TextBox 147"/>
            <p:cNvSpPr txBox="1"/>
            <p:nvPr/>
          </p:nvSpPr>
          <p:spPr>
            <a:xfrm>
              <a:off x="7330942" y="5346382"/>
              <a:ext cx="273316" cy="322707"/>
            </a:xfrm>
            <a:prstGeom prst="rect">
              <a:avLst/>
            </a:prstGeom>
            <a:noFill/>
            <a:ln>
              <a:noFill/>
            </a:ln>
          </p:spPr>
          <p:txBody>
            <a:bodyPr wrap="none" lIns="0" tIns="0" rIns="0" bIns="0" anchor="t" anchorCtr="0">
              <a:spAutoFit/>
            </a:bodyPr>
            <a:lstStyle/>
            <a:p>
              <a:pPr algn="ctr"/>
              <a:r>
                <a:rPr lang="zh-CN" sz="1650" b="1" dirty="0">
                  <a:solidFill>
                    <a:srgbClr val="C02C0A"/>
                  </a:solidFill>
                  <a:latin typeface="+mn-lt"/>
                  <a:ea typeface="+mn-ea"/>
                  <a:cs typeface="+mn-cs"/>
                </a:rPr>
                <a:t>−​</a:t>
              </a:r>
            </a:p>
          </p:txBody>
        </p:sp>
        <p:sp>
          <p:nvSpPr>
            <p:cNvPr id="148" name="Rectangle 148"/>
            <p:cNvSpPr/>
            <p:nvPr/>
          </p:nvSpPr>
          <p:spPr>
            <a:xfrm>
              <a:off x="7658100" y="5276850"/>
              <a:ext cx="1143000" cy="323850"/>
            </a:xfrm>
            <a:prstGeom prst="roundRect">
              <a:avLst>
                <a:gd name="adj" fmla="val 11765"/>
              </a:avLst>
            </a:prstGeom>
            <a:solidFill>
              <a:srgbClr val="FFFFFF"/>
            </a:solidFill>
            <a:ln w="9525">
              <a:solidFill>
                <a:srgbClr val="C02C0A"/>
              </a:solidFill>
            </a:ln>
          </p:spPr>
        </p:sp>
        <p:sp>
          <p:nvSpPr>
            <p:cNvPr id="149" name="TextBox 149"/>
            <p:cNvSpPr txBox="1"/>
            <p:nvPr/>
          </p:nvSpPr>
          <p:spPr>
            <a:xfrm>
              <a:off x="7941564" y="5382578"/>
              <a:ext cx="576072" cy="205359"/>
            </a:xfrm>
            <a:prstGeom prst="rect">
              <a:avLst/>
            </a:prstGeom>
            <a:noFill/>
            <a:ln>
              <a:noFill/>
            </a:ln>
          </p:spPr>
          <p:txBody>
            <a:bodyPr wrap="none" lIns="0" tIns="0" rIns="0" bIns="0" anchor="t" anchorCtr="0">
              <a:spAutoFit/>
            </a:bodyPr>
            <a:lstStyle/>
            <a:p>
              <a:pPr algn="ctr"/>
              <a:r>
                <a:rPr lang="zh-CN" sz="1050" b="1" dirty="0">
                  <a:solidFill>
                    <a:srgbClr val="C02C0A"/>
                  </a:solidFill>
                  <a:latin typeface="+mn-lt"/>
                  <a:ea typeface="+mn-ea"/>
                  <a:cs typeface="+mn-cs"/>
                </a:rPr>
                <a:t>权益成本</a:t>
              </a:r>
            </a:p>
          </p:txBody>
        </p:sp>
        <p:sp>
          <p:nvSpPr>
            <p:cNvPr id="150" name="TextBox 150"/>
            <p:cNvSpPr txBox="1"/>
            <p:nvPr/>
          </p:nvSpPr>
          <p:spPr>
            <a:xfrm>
              <a:off x="8854942" y="5346382"/>
              <a:ext cx="273316" cy="322707"/>
            </a:xfrm>
            <a:prstGeom prst="rect">
              <a:avLst/>
            </a:prstGeom>
            <a:noFill/>
            <a:ln>
              <a:noFill/>
            </a:ln>
          </p:spPr>
          <p:txBody>
            <a:bodyPr wrap="none" lIns="0" tIns="0" rIns="0" bIns="0" anchor="t" anchorCtr="0">
              <a:spAutoFit/>
            </a:bodyPr>
            <a:lstStyle/>
            <a:p>
              <a:pPr algn="ctr"/>
              <a:r>
                <a:rPr lang="zh-CN" sz="1650" b="1" dirty="0">
                  <a:solidFill>
                    <a:srgbClr val="C02C0A"/>
                  </a:solidFill>
                  <a:latin typeface="+mn-lt"/>
                  <a:ea typeface="+mn-ea"/>
                  <a:cs typeface="+mn-cs"/>
                </a:rPr>
                <a:t>−​</a:t>
              </a:r>
            </a:p>
          </p:txBody>
        </p:sp>
        <p:sp>
          <p:nvSpPr>
            <p:cNvPr id="151" name="Rectangle 151"/>
            <p:cNvSpPr/>
            <p:nvPr/>
          </p:nvSpPr>
          <p:spPr>
            <a:xfrm>
              <a:off x="9182100" y="5276850"/>
              <a:ext cx="1143000" cy="323850"/>
            </a:xfrm>
            <a:prstGeom prst="roundRect">
              <a:avLst>
                <a:gd name="adj" fmla="val 11765"/>
              </a:avLst>
            </a:prstGeom>
            <a:solidFill>
              <a:srgbClr val="FFFFFF"/>
            </a:solidFill>
            <a:ln w="9525">
              <a:solidFill>
                <a:srgbClr val="C02C0A"/>
              </a:solidFill>
            </a:ln>
          </p:spPr>
        </p:sp>
        <p:sp>
          <p:nvSpPr>
            <p:cNvPr id="152" name="TextBox 152"/>
            <p:cNvSpPr txBox="1"/>
            <p:nvPr/>
          </p:nvSpPr>
          <p:spPr>
            <a:xfrm>
              <a:off x="9465564" y="5382578"/>
              <a:ext cx="576072" cy="205359"/>
            </a:xfrm>
            <a:prstGeom prst="rect">
              <a:avLst/>
            </a:prstGeom>
            <a:noFill/>
            <a:ln>
              <a:noFill/>
            </a:ln>
          </p:spPr>
          <p:txBody>
            <a:bodyPr wrap="none" lIns="0" tIns="0" rIns="0" bIns="0" anchor="t" anchorCtr="0">
              <a:spAutoFit/>
            </a:bodyPr>
            <a:lstStyle/>
            <a:p>
              <a:pPr algn="ctr"/>
              <a:r>
                <a:rPr lang="zh-CN" sz="1050" b="1" dirty="0">
                  <a:solidFill>
                    <a:srgbClr val="C02C0A"/>
                  </a:solidFill>
                  <a:latin typeface="+mn-lt"/>
                  <a:ea typeface="+mn-ea"/>
                  <a:cs typeface="+mn-cs"/>
                </a:rPr>
                <a:t>风险成本</a:t>
              </a:r>
            </a:p>
          </p:txBody>
        </p:sp>
      </p:grpSp>
      <p:grpSp>
        <p:nvGrpSpPr>
          <p:cNvPr id="160" name="goal-banner"/>
          <p:cNvGrpSpPr/>
          <p:nvPr/>
        </p:nvGrpSpPr>
        <p:grpSpPr>
          <a:xfrm>
            <a:off x="228600" y="5848350"/>
            <a:ext cx="11734800" cy="609600"/>
            <a:chOff x="228600" y="5848350"/>
            <a:chExt cx="11734800" cy="609600"/>
          </a:xfrm>
        </p:grpSpPr>
        <p:sp>
          <p:nvSpPr>
            <p:cNvPr id="154" name="Rectangle 154"/>
            <p:cNvSpPr/>
            <p:nvPr/>
          </p:nvSpPr>
          <p:spPr>
            <a:xfrm>
              <a:off x="228600" y="5848350"/>
              <a:ext cx="11734800" cy="609600"/>
            </a:xfrm>
            <a:prstGeom prst="roundRect">
              <a:avLst>
                <a:gd name="adj" fmla="val 12500"/>
              </a:avLst>
            </a:prstGeom>
            <a:solidFill>
              <a:srgbClr val="671200"/>
            </a:solidFill>
            <a:ln>
              <a:noFill/>
            </a:ln>
          </p:spPr>
        </p:sp>
        <p:grpSp>
          <p:nvGrpSpPr>
            <p:cNvPr id="158" name="Group 158"/>
            <p:cNvGrpSpPr/>
            <p:nvPr/>
          </p:nvGrpSpPr>
          <p:grpSpPr>
            <a:xfrm>
              <a:off x="3776662" y="6024562"/>
              <a:ext cx="257175" cy="257175"/>
              <a:chOff x="3776662" y="6024562"/>
              <a:chExt cx="257175" cy="257175"/>
            </a:xfrm>
          </p:grpSpPr>
          <p:sp>
            <p:nvSpPr>
              <p:cNvPr id="155" name="Freeform 155"/>
              <p:cNvSpPr/>
              <p:nvPr/>
            </p:nvSpPr>
            <p:spPr>
              <a:xfrm>
                <a:off x="3890962" y="613886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1431">
                <a:solidFill>
                  <a:srgbClr val="FFFFFF"/>
                </a:solidFill>
              </a:ln>
            </p:spPr>
          </p:sp>
          <p:sp>
            <p:nvSpPr>
              <p:cNvPr id="156" name="Freeform 156"/>
              <p:cNvSpPr/>
              <p:nvPr/>
            </p:nvSpPr>
            <p:spPr>
              <a:xfrm>
                <a:off x="3833812" y="6081712"/>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1431">
                <a:solidFill>
                  <a:srgbClr val="FFFFFF"/>
                </a:solidFill>
              </a:ln>
            </p:spPr>
          </p:sp>
          <p:sp>
            <p:nvSpPr>
              <p:cNvPr id="157" name="Freeform 157"/>
              <p:cNvSpPr/>
              <p:nvPr/>
            </p:nvSpPr>
            <p:spPr>
              <a:xfrm>
                <a:off x="3776662" y="602456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1431">
                <a:solidFill>
                  <a:srgbClr val="FFFFFF"/>
                </a:solidFill>
              </a:ln>
            </p:spPr>
          </p:sp>
        </p:grpSp>
        <p:sp>
          <p:nvSpPr>
            <p:cNvPr id="159" name="TextBox 159"/>
            <p:cNvSpPr txBox="1"/>
            <p:nvPr/>
          </p:nvSpPr>
          <p:spPr>
            <a:xfrm>
              <a:off x="4219956" y="6063615"/>
              <a:ext cx="4178248"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mn-lt"/>
                  <a:ea typeface="+mn-ea"/>
                  <a:cs typeface="+mn-cs"/>
                </a:rPr>
                <a:t>目标：高价值客户综合贡献提升</a:t>
              </a:r>
              <a:r>
                <a:rPr lang="zh-CN" sz="2400" b="1" dirty="0">
                  <a:solidFill>
                    <a:srgbClr val="FF6F57"/>
                  </a:solidFill>
                  <a:latin typeface="+mn-lt"/>
                  <a:ea typeface="+mn-ea"/>
                  <a:cs typeface="+mn-cs"/>
                </a:rPr>
                <a:t>15%</a:t>
              </a:r>
              <a:r>
                <a:rPr lang="zh-CN" sz="1800" b="1" dirty="0">
                  <a:solidFill>
                    <a:srgbClr val="FFFFFF"/>
                  </a:solidFill>
                  <a:latin typeface="+mn-lt"/>
                  <a:ea typeface="+mn-ea"/>
                  <a:cs typeface="+mn-cs"/>
                </a:rPr>
                <a:t>​</a:t>
              </a:r>
            </a:p>
          </p:txBody>
        </p:sp>
      </p:gr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14​</a:t>
              </a:r>
            </a:p>
          </p:txBody>
        </p:sp>
        <p:sp>
          <p:nvSpPr>
            <p:cNvPr id="4" name="TextBox 4"/>
            <p:cNvSpPr txBox="1"/>
            <p:nvPr/>
          </p:nvSpPr>
          <p:spPr>
            <a:xfrm>
              <a:off x="942594" y="151448"/>
              <a:ext cx="4735068"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沉默唤醒：识别不想用与忘了用的差别</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60" name="silent-reasons"/>
          <p:cNvGrpSpPr/>
          <p:nvPr/>
        </p:nvGrpSpPr>
        <p:grpSpPr>
          <a:xfrm>
            <a:off x="228600" y="800100"/>
            <a:ext cx="3810000" cy="4629150"/>
            <a:chOff x="228600" y="800100"/>
            <a:chExt cx="3810000" cy="4629150"/>
          </a:xfrm>
        </p:grpSpPr>
        <p:sp>
          <p:nvSpPr>
            <p:cNvPr id="7" name="Rectangle 7"/>
            <p:cNvSpPr/>
            <p:nvPr/>
          </p:nvSpPr>
          <p:spPr>
            <a:xfrm>
              <a:off x="228600" y="800100"/>
              <a:ext cx="3810000" cy="4629150"/>
            </a:xfrm>
            <a:prstGeom prst="roundRect">
              <a:avLst>
                <a:gd name="adj" fmla="val 2000"/>
              </a:avLst>
            </a:prstGeom>
            <a:solidFill>
              <a:srgbClr val="FFFFFF"/>
            </a:solidFill>
            <a:ln w="9525">
              <a:solidFill>
                <a:srgbClr val="C9D5EA"/>
              </a:solidFill>
            </a:ln>
          </p:spPr>
        </p:sp>
        <p:sp>
          <p:nvSpPr>
            <p:cNvPr id="8" name="Rectangle 8"/>
            <p:cNvSpPr/>
            <p:nvPr/>
          </p:nvSpPr>
          <p:spPr>
            <a:xfrm>
              <a:off x="228600" y="800100"/>
              <a:ext cx="3810000" cy="495300"/>
            </a:xfrm>
            <a:prstGeom prst="roundRect">
              <a:avLst>
                <a:gd name="adj" fmla="val 15385"/>
              </a:avLst>
            </a:prstGeom>
            <a:solidFill>
              <a:srgbClr val="520E00"/>
            </a:solidFill>
            <a:ln>
              <a:noFill/>
            </a:ln>
          </p:spPr>
        </p:sp>
        <p:sp>
          <p:nvSpPr>
            <p:cNvPr id="9" name="Rectangle 9"/>
            <p:cNvSpPr/>
            <p:nvPr/>
          </p:nvSpPr>
          <p:spPr>
            <a:xfrm>
              <a:off x="228600" y="1143000"/>
              <a:ext cx="3810000" cy="152400"/>
            </a:xfrm>
            <a:prstGeom prst="rect">
              <a:avLst/>
            </a:prstGeom>
            <a:solidFill>
              <a:srgbClr val="520E00"/>
            </a:solidFill>
            <a:ln>
              <a:noFill/>
            </a:ln>
          </p:spPr>
        </p:sp>
        <p:sp>
          <p:nvSpPr>
            <p:cNvPr id="10" name="TextBox 10"/>
            <p:cNvSpPr txBox="1"/>
            <p:nvPr/>
          </p:nvSpPr>
          <p:spPr>
            <a:xfrm>
              <a:off x="1070737" y="904399"/>
              <a:ext cx="2125726" cy="362141"/>
            </a:xfrm>
            <a:prstGeom prst="rect">
              <a:avLst/>
            </a:prstGeom>
            <a:noFill/>
            <a:ln>
              <a:noFill/>
            </a:ln>
          </p:spPr>
          <p:txBody>
            <a:bodyPr wrap="none" lIns="0" tIns="0" rIns="0" bIns="0" anchor="t" anchorCtr="0">
              <a:spAutoFit/>
            </a:bodyPr>
            <a:lstStyle/>
            <a:p>
              <a:pPr algn="ctr">
                <a:lnSpc>
                  <a:spcPts val="1350"/>
                </a:lnSpc>
              </a:pPr>
              <a:r>
                <a:rPr lang="zh-CN" sz="980" b="1" dirty="0">
                  <a:solidFill>
                    <a:srgbClr val="FFFFFF"/>
                  </a:solidFill>
                  <a:latin typeface="+mn-lt"/>
                  <a:ea typeface="+mn-ea"/>
                  <a:cs typeface="+mn-cs"/>
                </a:rPr>
                <a:t>沉默原因：权益弱感知、场景不匹配、</a:t>
              </a:r>
              <a:br/>
              <a:r>
                <a:rPr lang="zh-CN" sz="980" b="1" dirty="0">
                  <a:solidFill>
                    <a:srgbClr val="FFFFFF"/>
                  </a:solidFill>
                  <a:latin typeface="+mn-lt"/>
                  <a:ea typeface="+mn-ea"/>
                  <a:cs typeface="+mn-cs"/>
                </a:rPr>
                <a:t>体验差、额度不足、竞品替代</a:t>
              </a:r>
            </a:p>
          </p:txBody>
        </p:sp>
        <p:grpSp>
          <p:nvGrpSpPr>
            <p:cNvPr id="20" name="reason-1"/>
            <p:cNvGrpSpPr/>
            <p:nvPr/>
          </p:nvGrpSpPr>
          <p:grpSpPr>
            <a:xfrm>
              <a:off x="381000" y="1409700"/>
              <a:ext cx="3505200" cy="704850"/>
              <a:chOff x="381000" y="1409700"/>
              <a:chExt cx="3505200" cy="704850"/>
            </a:xfrm>
          </p:grpSpPr>
          <p:sp>
            <p:nvSpPr>
              <p:cNvPr id="11" name="Rectangle 11"/>
              <p:cNvSpPr/>
              <p:nvPr/>
            </p:nvSpPr>
            <p:spPr>
              <a:xfrm>
                <a:off x="381000" y="1409700"/>
                <a:ext cx="3505200" cy="704850"/>
              </a:xfrm>
              <a:prstGeom prst="roundRect">
                <a:avLst>
                  <a:gd name="adj" fmla="val 8108"/>
                </a:avLst>
              </a:prstGeom>
              <a:solidFill>
                <a:srgbClr val="F5F8FE"/>
              </a:solidFill>
              <a:ln w="9525">
                <a:solidFill>
                  <a:srgbClr val="C9D5EA"/>
                </a:solidFill>
              </a:ln>
            </p:spPr>
          </p:sp>
          <p:grpSp>
            <p:nvGrpSpPr>
              <p:cNvPr id="16" name="Group 16"/>
              <p:cNvGrpSpPr/>
              <p:nvPr/>
            </p:nvGrpSpPr>
            <p:grpSpPr>
              <a:xfrm>
                <a:off x="538162" y="1633046"/>
                <a:ext cx="257175" cy="257667"/>
                <a:chOff x="538162" y="1633046"/>
                <a:chExt cx="257175" cy="257667"/>
              </a:xfrm>
            </p:grpSpPr>
            <p:sp>
              <p:nvSpPr>
                <p:cNvPr id="12" name="Freeform 12"/>
                <p:cNvSpPr/>
                <p:nvPr/>
              </p:nvSpPr>
              <p:spPr>
                <a:xfrm>
                  <a:off x="538162" y="1704975"/>
                  <a:ext cx="257175" cy="57150"/>
                </a:xfrm>
                <a:custGeom>
                  <a:avLst/>
                  <a:gdLst/>
                  <a:ahLst/>
                  <a:cxnLst/>
                  <a:rect l="l" t="t" r="r" b="b"/>
                  <a:pathLst>
                    <a:path w="257175" h="57150">
                      <a:moveTo>
                        <a:pt x="0" y="14288"/>
                      </a:moveTo>
                      <a:cubicBezTo>
                        <a:pt x="0" y="6397"/>
                        <a:pt x="6397" y="0"/>
                        <a:pt x="14288" y="0"/>
                      </a:cubicBezTo>
                      <a:lnTo>
                        <a:pt x="242888" y="0"/>
                      </a:lnTo>
                      <a:cubicBezTo>
                        <a:pt x="250778" y="0"/>
                        <a:pt x="257175" y="6397"/>
                        <a:pt x="257175" y="14288"/>
                      </a:cubicBezTo>
                      <a:lnTo>
                        <a:pt x="257175" y="42862"/>
                      </a:lnTo>
                      <a:cubicBezTo>
                        <a:pt x="257175" y="50753"/>
                        <a:pt x="250778" y="57150"/>
                        <a:pt x="242888" y="57150"/>
                      </a:cubicBezTo>
                      <a:lnTo>
                        <a:pt x="14288" y="57150"/>
                      </a:lnTo>
                      <a:cubicBezTo>
                        <a:pt x="6397" y="57150"/>
                        <a:pt x="0" y="50753"/>
                        <a:pt x="0" y="42862"/>
                      </a:cubicBezTo>
                      <a:lnTo>
                        <a:pt x="0" y="14288"/>
                      </a:lnTo>
                    </a:path>
                  </a:pathLst>
                </a:custGeom>
                <a:noFill/>
                <a:ln w="21431">
                  <a:solidFill>
                    <a:srgbClr val="8A1700"/>
                  </a:solidFill>
                </a:ln>
              </p:spPr>
            </p:sp>
            <p:sp>
              <p:nvSpPr>
                <p:cNvPr id="13" name="Freeform 13"/>
                <p:cNvSpPr/>
                <p:nvPr/>
              </p:nvSpPr>
              <p:spPr>
                <a:xfrm>
                  <a:off x="666750" y="1704975"/>
                  <a:ext cx="9525" cy="185738"/>
                </a:xfrm>
                <a:custGeom>
                  <a:avLst/>
                  <a:gdLst/>
                  <a:ahLst/>
                  <a:cxnLst/>
                  <a:rect l="l" t="t" r="r" b="b"/>
                  <a:pathLst>
                    <a:path w="9525" h="185738">
                      <a:moveTo>
                        <a:pt x="0" y="0"/>
                      </a:moveTo>
                      <a:lnTo>
                        <a:pt x="0" y="185738"/>
                      </a:lnTo>
                    </a:path>
                  </a:pathLst>
                </a:custGeom>
                <a:noFill/>
                <a:ln w="21431">
                  <a:solidFill>
                    <a:srgbClr val="8A1700"/>
                  </a:solidFill>
                </a:ln>
              </p:spPr>
            </p:sp>
            <p:sp>
              <p:nvSpPr>
                <p:cNvPr id="14" name="Freeform 14"/>
                <p:cNvSpPr/>
                <p:nvPr/>
              </p:nvSpPr>
              <p:spPr>
                <a:xfrm>
                  <a:off x="566738" y="1762125"/>
                  <a:ext cx="200025" cy="128588"/>
                </a:xfrm>
                <a:custGeom>
                  <a:avLst/>
                  <a:gdLst/>
                  <a:ahLst/>
                  <a:cxnLst/>
                  <a:rect l="l" t="t" r="r" b="b"/>
                  <a:pathLst>
                    <a:path w="200025" h="128588">
                      <a:moveTo>
                        <a:pt x="200025" y="0"/>
                      </a:moveTo>
                      <a:lnTo>
                        <a:pt x="200025" y="100012"/>
                      </a:lnTo>
                      <a:cubicBezTo>
                        <a:pt x="200025" y="115794"/>
                        <a:pt x="187232" y="128588"/>
                        <a:pt x="171450" y="128588"/>
                      </a:cubicBezTo>
                      <a:lnTo>
                        <a:pt x="28575" y="128588"/>
                      </a:lnTo>
                      <a:cubicBezTo>
                        <a:pt x="12793" y="128588"/>
                        <a:pt x="0" y="115794"/>
                        <a:pt x="0" y="100012"/>
                      </a:cubicBezTo>
                      <a:lnTo>
                        <a:pt x="0" y="0"/>
                      </a:lnTo>
                    </a:path>
                  </a:pathLst>
                </a:custGeom>
                <a:noFill/>
                <a:ln w="21431">
                  <a:solidFill>
                    <a:srgbClr val="8A1700"/>
                  </a:solidFill>
                </a:ln>
              </p:spPr>
            </p:sp>
            <p:sp>
              <p:nvSpPr>
                <p:cNvPr id="15" name="Freeform 15"/>
                <p:cNvSpPr/>
                <p:nvPr/>
              </p:nvSpPr>
              <p:spPr>
                <a:xfrm>
                  <a:off x="566738" y="1633046"/>
                  <a:ext cx="200025" cy="71929"/>
                </a:xfrm>
                <a:custGeom>
                  <a:avLst/>
                  <a:gdLst/>
                  <a:ahLst/>
                  <a:cxnLst/>
                  <a:rect l="l" t="t" r="r" b="b"/>
                  <a:pathLst>
                    <a:path w="200025" h="71929">
                      <a:moveTo>
                        <a:pt x="35719" y="71929"/>
                      </a:moveTo>
                      <a:cubicBezTo>
                        <a:pt x="15992" y="71929"/>
                        <a:pt x="0" y="55937"/>
                        <a:pt x="0" y="36210"/>
                      </a:cubicBezTo>
                      <a:cubicBezTo>
                        <a:pt x="0" y="16483"/>
                        <a:pt x="15992" y="491"/>
                        <a:pt x="35719" y="491"/>
                      </a:cubicBezTo>
                      <a:cubicBezTo>
                        <a:pt x="63926" y="0"/>
                        <a:pt x="89436" y="28345"/>
                        <a:pt x="100012" y="71929"/>
                      </a:cubicBezTo>
                      <a:cubicBezTo>
                        <a:pt x="110589" y="28345"/>
                        <a:pt x="136099" y="0"/>
                        <a:pt x="164306" y="491"/>
                      </a:cubicBezTo>
                      <a:cubicBezTo>
                        <a:pt x="184033" y="491"/>
                        <a:pt x="200025" y="16483"/>
                        <a:pt x="200025" y="36210"/>
                      </a:cubicBezTo>
                      <a:cubicBezTo>
                        <a:pt x="200025" y="55937"/>
                        <a:pt x="184033" y="71929"/>
                        <a:pt x="164306" y="71929"/>
                      </a:cubicBezTo>
                    </a:path>
                  </a:pathLst>
                </a:custGeom>
                <a:noFill/>
                <a:ln w="21431">
                  <a:solidFill>
                    <a:srgbClr val="8A1700"/>
                  </a:solidFill>
                </a:ln>
              </p:spPr>
            </p:sp>
          </p:grpSp>
          <p:sp>
            <p:nvSpPr>
              <p:cNvPr id="17" name="Rectangle 17"/>
              <p:cNvSpPr/>
              <p:nvPr/>
            </p:nvSpPr>
            <p:spPr>
              <a:xfrm>
                <a:off x="952500" y="1619250"/>
                <a:ext cx="933450" cy="285750"/>
              </a:xfrm>
              <a:prstGeom prst="roundRect">
                <a:avLst>
                  <a:gd name="adj" fmla="val 13333"/>
                </a:avLst>
              </a:prstGeom>
              <a:solidFill>
                <a:srgbClr val="DCE6F5"/>
              </a:solidFill>
              <a:ln>
                <a:noFill/>
              </a:ln>
            </p:spPr>
          </p:sp>
          <p:sp>
            <p:nvSpPr>
              <p:cNvPr id="18" name="TextBox 18"/>
              <p:cNvSpPr txBox="1"/>
              <p:nvPr/>
            </p:nvSpPr>
            <p:spPr>
              <a:xfrm>
                <a:off x="1074166" y="1700451"/>
                <a:ext cx="690118" cy="198025"/>
              </a:xfrm>
              <a:prstGeom prst="rect">
                <a:avLst/>
              </a:prstGeom>
              <a:noFill/>
              <a:ln>
                <a:noFill/>
              </a:ln>
            </p:spPr>
            <p:txBody>
              <a:bodyPr wrap="none" lIns="0" tIns="0" rIns="0" bIns="0" anchor="t" anchorCtr="0">
                <a:spAutoFit/>
              </a:bodyPr>
              <a:lstStyle/>
              <a:p>
                <a:pPr algn="ctr"/>
                <a:r>
                  <a:rPr lang="zh-CN" sz="1010" b="1" dirty="0">
                    <a:solidFill>
                      <a:srgbClr val="520E00"/>
                    </a:solidFill>
                    <a:latin typeface="+mn-lt"/>
                    <a:ea typeface="+mn-ea"/>
                    <a:cs typeface="+mn-cs"/>
                  </a:rPr>
                  <a:t>权益弱感知</a:t>
                </a:r>
              </a:p>
            </p:txBody>
          </p:sp>
          <p:sp>
            <p:nvSpPr>
              <p:cNvPr id="19" name="TextBox 19"/>
              <p:cNvSpPr txBox="1"/>
              <p:nvPr/>
            </p:nvSpPr>
            <p:spPr>
              <a:xfrm>
                <a:off x="2033588" y="1633538"/>
                <a:ext cx="96202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60403A"/>
                    </a:solidFill>
                    <a:latin typeface="+mn-lt"/>
                    <a:ea typeface="+mn-ea"/>
                    <a:cs typeface="+mn-cs"/>
                  </a:rPr>
                  <a:t>客户不了解或感知不到</a:t>
                </a:r>
                <a:br/>
                <a:r>
                  <a:rPr lang="zh-CN" sz="750" dirty="0">
                    <a:solidFill>
                      <a:srgbClr val="60403A"/>
                    </a:solidFill>
                    <a:latin typeface="+mn-lt"/>
                    <a:ea typeface="+mn-ea"/>
                    <a:cs typeface="+mn-cs"/>
                  </a:rPr>
                  <a:t>权益价值，吸引力不足</a:t>
                </a:r>
              </a:p>
            </p:txBody>
          </p:sp>
        </p:grpSp>
        <p:grpSp>
          <p:nvGrpSpPr>
            <p:cNvPr id="28" name="reason-2"/>
            <p:cNvGrpSpPr/>
            <p:nvPr/>
          </p:nvGrpSpPr>
          <p:grpSpPr>
            <a:xfrm>
              <a:off x="381000" y="2190750"/>
              <a:ext cx="3505200" cy="704850"/>
              <a:chOff x="381000" y="2190750"/>
              <a:chExt cx="3505200" cy="704850"/>
            </a:xfrm>
          </p:grpSpPr>
          <p:sp>
            <p:nvSpPr>
              <p:cNvPr id="21" name="Rectangle 21"/>
              <p:cNvSpPr/>
              <p:nvPr/>
            </p:nvSpPr>
            <p:spPr>
              <a:xfrm>
                <a:off x="381000" y="2190750"/>
                <a:ext cx="3505200" cy="704850"/>
              </a:xfrm>
              <a:prstGeom prst="roundRect">
                <a:avLst>
                  <a:gd name="adj" fmla="val 8108"/>
                </a:avLst>
              </a:prstGeom>
              <a:solidFill>
                <a:srgbClr val="F5F8FE"/>
              </a:solidFill>
              <a:ln w="9525">
                <a:solidFill>
                  <a:srgbClr val="C9D5EA"/>
                </a:solidFill>
              </a:ln>
            </p:spPr>
          </p:sp>
          <p:grpSp>
            <p:nvGrpSpPr>
              <p:cNvPr id="24" name="Group 24"/>
              <p:cNvGrpSpPr/>
              <p:nvPr/>
            </p:nvGrpSpPr>
            <p:grpSpPr>
              <a:xfrm>
                <a:off x="541290" y="2403433"/>
                <a:ext cx="250919" cy="278047"/>
                <a:chOff x="541290" y="2403433"/>
                <a:chExt cx="250919" cy="278047"/>
              </a:xfrm>
            </p:grpSpPr>
            <p:sp>
              <p:nvSpPr>
                <p:cNvPr id="22" name="Freeform 22"/>
                <p:cNvSpPr/>
                <p:nvPr/>
              </p:nvSpPr>
              <p:spPr>
                <a:xfrm>
                  <a:off x="623888" y="2486025"/>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21431">
                  <a:solidFill>
                    <a:srgbClr val="8A1700"/>
                  </a:solidFill>
                </a:ln>
              </p:spPr>
            </p:sp>
            <p:sp>
              <p:nvSpPr>
                <p:cNvPr id="23" name="Freeform 23"/>
                <p:cNvSpPr/>
                <p:nvPr/>
              </p:nvSpPr>
              <p:spPr>
                <a:xfrm>
                  <a:off x="541290" y="2403433"/>
                  <a:ext cx="250919" cy="278047"/>
                </a:xfrm>
                <a:custGeom>
                  <a:avLst/>
                  <a:gdLst/>
                  <a:ahLst/>
                  <a:cxnLst/>
                  <a:rect l="l" t="t" r="r" b="b"/>
                  <a:pathLst>
                    <a:path w="250919" h="278047">
                      <a:moveTo>
                        <a:pt x="206284" y="206279"/>
                      </a:moveTo>
                      <a:lnTo>
                        <a:pt x="145662" y="266901"/>
                      </a:lnTo>
                      <a:cubicBezTo>
                        <a:pt x="134505" y="278047"/>
                        <a:pt x="116428" y="278047"/>
                        <a:pt x="105271" y="266901"/>
                      </a:cubicBezTo>
                      <a:lnTo>
                        <a:pt x="44635" y="206279"/>
                      </a:lnTo>
                      <a:cubicBezTo>
                        <a:pt x="0" y="161642"/>
                        <a:pt x="1" y="89272"/>
                        <a:pt x="44638" y="44636"/>
                      </a:cubicBezTo>
                      <a:cubicBezTo>
                        <a:pt x="89275" y="0"/>
                        <a:pt x="161644" y="0"/>
                        <a:pt x="206281" y="44636"/>
                      </a:cubicBezTo>
                      <a:cubicBezTo>
                        <a:pt x="250918" y="89272"/>
                        <a:pt x="250919" y="161642"/>
                        <a:pt x="206284" y="206279"/>
                      </a:cubicBezTo>
                    </a:path>
                  </a:pathLst>
                </a:custGeom>
                <a:noFill/>
                <a:ln w="21431">
                  <a:solidFill>
                    <a:srgbClr val="8A1700"/>
                  </a:solidFill>
                </a:ln>
              </p:spPr>
            </p:sp>
          </p:grpSp>
          <p:sp>
            <p:nvSpPr>
              <p:cNvPr id="25" name="Rectangle 25"/>
              <p:cNvSpPr/>
              <p:nvPr/>
            </p:nvSpPr>
            <p:spPr>
              <a:xfrm>
                <a:off x="952500" y="2400300"/>
                <a:ext cx="933450" cy="285750"/>
              </a:xfrm>
              <a:prstGeom prst="roundRect">
                <a:avLst>
                  <a:gd name="adj" fmla="val 13333"/>
                </a:avLst>
              </a:prstGeom>
              <a:solidFill>
                <a:srgbClr val="DCE6F5"/>
              </a:solidFill>
              <a:ln>
                <a:noFill/>
              </a:ln>
            </p:spPr>
          </p:sp>
          <p:sp>
            <p:nvSpPr>
              <p:cNvPr id="26" name="TextBox 26"/>
              <p:cNvSpPr txBox="1"/>
              <p:nvPr/>
            </p:nvSpPr>
            <p:spPr>
              <a:xfrm>
                <a:off x="1074166" y="2481501"/>
                <a:ext cx="690118" cy="198025"/>
              </a:xfrm>
              <a:prstGeom prst="rect">
                <a:avLst/>
              </a:prstGeom>
              <a:noFill/>
              <a:ln>
                <a:noFill/>
              </a:ln>
            </p:spPr>
            <p:txBody>
              <a:bodyPr wrap="none" lIns="0" tIns="0" rIns="0" bIns="0" anchor="t" anchorCtr="0">
                <a:spAutoFit/>
              </a:bodyPr>
              <a:lstStyle/>
              <a:p>
                <a:pPr algn="ctr"/>
                <a:r>
                  <a:rPr lang="zh-CN" sz="1010" b="1" dirty="0">
                    <a:solidFill>
                      <a:srgbClr val="520E00"/>
                    </a:solidFill>
                    <a:latin typeface="+mn-lt"/>
                    <a:ea typeface="+mn-ea"/>
                    <a:cs typeface="+mn-cs"/>
                  </a:rPr>
                  <a:t>场景不匹配</a:t>
                </a:r>
              </a:p>
            </p:txBody>
          </p:sp>
          <p:sp>
            <p:nvSpPr>
              <p:cNvPr id="27" name="TextBox 27"/>
              <p:cNvSpPr txBox="1"/>
              <p:nvPr/>
            </p:nvSpPr>
            <p:spPr>
              <a:xfrm>
                <a:off x="2033588" y="2414588"/>
                <a:ext cx="105727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60403A"/>
                    </a:solidFill>
                    <a:latin typeface="+mn-lt"/>
                    <a:ea typeface="+mn-ea"/>
                    <a:cs typeface="+mn-cs"/>
                  </a:rPr>
                  <a:t>产品与客户生活或消费</a:t>
                </a:r>
                <a:br/>
                <a:r>
                  <a:rPr lang="zh-CN" sz="750" dirty="0">
                    <a:solidFill>
                      <a:srgbClr val="60403A"/>
                    </a:solidFill>
                    <a:latin typeface="+mn-lt"/>
                    <a:ea typeface="+mn-ea"/>
                    <a:cs typeface="+mn-cs"/>
                  </a:rPr>
                  <a:t>场景不契合，使用意愿低</a:t>
                </a:r>
              </a:p>
            </p:txBody>
          </p:sp>
        </p:grpSp>
        <p:grpSp>
          <p:nvGrpSpPr>
            <p:cNvPr id="38" name="reason-3"/>
            <p:cNvGrpSpPr/>
            <p:nvPr/>
          </p:nvGrpSpPr>
          <p:grpSpPr>
            <a:xfrm>
              <a:off x="381000" y="2971800"/>
              <a:ext cx="3505200" cy="704850"/>
              <a:chOff x="381000" y="2971800"/>
              <a:chExt cx="3505200" cy="704850"/>
            </a:xfrm>
          </p:grpSpPr>
          <p:sp>
            <p:nvSpPr>
              <p:cNvPr id="29" name="Rectangle 29"/>
              <p:cNvSpPr/>
              <p:nvPr/>
            </p:nvSpPr>
            <p:spPr>
              <a:xfrm>
                <a:off x="381000" y="2971800"/>
                <a:ext cx="3505200" cy="704850"/>
              </a:xfrm>
              <a:prstGeom prst="roundRect">
                <a:avLst>
                  <a:gd name="adj" fmla="val 8108"/>
                </a:avLst>
              </a:prstGeom>
              <a:solidFill>
                <a:srgbClr val="F5F8FE"/>
              </a:solidFill>
              <a:ln w="9525">
                <a:solidFill>
                  <a:srgbClr val="C9D5EA"/>
                </a:solidFill>
              </a:ln>
            </p:spPr>
          </p:sp>
          <p:grpSp>
            <p:nvGrpSpPr>
              <p:cNvPr id="34" name="Group 34"/>
              <p:cNvGrpSpPr/>
              <p:nvPr/>
            </p:nvGrpSpPr>
            <p:grpSpPr>
              <a:xfrm>
                <a:off x="538162" y="3195638"/>
                <a:ext cx="257175" cy="257175"/>
                <a:chOff x="538162" y="3195638"/>
                <a:chExt cx="257175" cy="257175"/>
              </a:xfrm>
            </p:grpSpPr>
            <p:sp>
              <p:nvSpPr>
                <p:cNvPr id="30" name="Freeform 30"/>
                <p:cNvSpPr/>
                <p:nvPr/>
              </p:nvSpPr>
              <p:spPr>
                <a:xfrm>
                  <a:off x="538162" y="3195638"/>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1431">
                  <a:solidFill>
                    <a:srgbClr val="8A1700"/>
                  </a:solidFill>
                </a:ln>
              </p:spPr>
            </p:sp>
            <p:sp>
              <p:nvSpPr>
                <p:cNvPr id="31" name="Freeform 31"/>
                <p:cNvSpPr/>
                <p:nvPr/>
              </p:nvSpPr>
              <p:spPr>
                <a:xfrm>
                  <a:off x="623888" y="3295650"/>
                  <a:ext cx="9525" cy="9525"/>
                </a:xfrm>
                <a:custGeom>
                  <a:avLst/>
                  <a:gdLst/>
                  <a:ahLst/>
                  <a:cxnLst/>
                  <a:rect l="l" t="t" r="r" b="b"/>
                  <a:pathLst>
                    <a:path w="9525" h="9525">
                      <a:moveTo>
                        <a:pt x="0" y="0"/>
                      </a:moveTo>
                      <a:lnTo>
                        <a:pt x="143" y="0"/>
                      </a:lnTo>
                    </a:path>
                  </a:pathLst>
                </a:custGeom>
                <a:noFill/>
                <a:ln w="21431">
                  <a:solidFill>
                    <a:srgbClr val="8A1700"/>
                  </a:solidFill>
                </a:ln>
              </p:spPr>
            </p:sp>
            <p:sp>
              <p:nvSpPr>
                <p:cNvPr id="32" name="Freeform 32"/>
                <p:cNvSpPr/>
                <p:nvPr/>
              </p:nvSpPr>
              <p:spPr>
                <a:xfrm>
                  <a:off x="709612" y="3295650"/>
                  <a:ext cx="9525" cy="9525"/>
                </a:xfrm>
                <a:custGeom>
                  <a:avLst/>
                  <a:gdLst/>
                  <a:ahLst/>
                  <a:cxnLst/>
                  <a:rect l="l" t="t" r="r" b="b"/>
                  <a:pathLst>
                    <a:path w="9525" h="9525">
                      <a:moveTo>
                        <a:pt x="0" y="0"/>
                      </a:moveTo>
                      <a:lnTo>
                        <a:pt x="143" y="0"/>
                      </a:lnTo>
                    </a:path>
                  </a:pathLst>
                </a:custGeom>
                <a:noFill/>
                <a:ln w="21431">
                  <a:solidFill>
                    <a:srgbClr val="8A1700"/>
                  </a:solidFill>
                </a:ln>
              </p:spPr>
            </p:sp>
            <p:sp>
              <p:nvSpPr>
                <p:cNvPr id="33" name="Freeform 33"/>
                <p:cNvSpPr/>
                <p:nvPr/>
              </p:nvSpPr>
              <p:spPr>
                <a:xfrm>
                  <a:off x="631031" y="3367088"/>
                  <a:ext cx="71438" cy="15009"/>
                </a:xfrm>
                <a:custGeom>
                  <a:avLst/>
                  <a:gdLst/>
                  <a:ahLst/>
                  <a:cxnLst/>
                  <a:rect l="l" t="t" r="r" b="b"/>
                  <a:pathLst>
                    <a:path w="71438" h="15009">
                      <a:moveTo>
                        <a:pt x="0" y="0"/>
                      </a:moveTo>
                      <a:cubicBezTo>
                        <a:pt x="9406" y="9600"/>
                        <a:pt x="22279" y="15009"/>
                        <a:pt x="35719" y="15009"/>
                      </a:cubicBezTo>
                      <a:cubicBezTo>
                        <a:pt x="49158" y="15009"/>
                        <a:pt x="62032" y="9600"/>
                        <a:pt x="71438" y="0"/>
                      </a:cubicBezTo>
                    </a:path>
                  </a:pathLst>
                </a:custGeom>
                <a:noFill/>
                <a:ln w="21431">
                  <a:solidFill>
                    <a:srgbClr val="8A1700"/>
                  </a:solidFill>
                </a:ln>
              </p:spPr>
            </p:sp>
          </p:grpSp>
          <p:sp>
            <p:nvSpPr>
              <p:cNvPr id="35" name="Rectangle 35"/>
              <p:cNvSpPr/>
              <p:nvPr/>
            </p:nvSpPr>
            <p:spPr>
              <a:xfrm>
                <a:off x="952500" y="3181350"/>
                <a:ext cx="933450" cy="285750"/>
              </a:xfrm>
              <a:prstGeom prst="roundRect">
                <a:avLst>
                  <a:gd name="adj" fmla="val 13333"/>
                </a:avLst>
              </a:prstGeom>
              <a:solidFill>
                <a:srgbClr val="DCE6F5"/>
              </a:solidFill>
              <a:ln>
                <a:noFill/>
              </a:ln>
            </p:spPr>
          </p:sp>
          <p:sp>
            <p:nvSpPr>
              <p:cNvPr id="36" name="TextBox 36"/>
              <p:cNvSpPr txBox="1"/>
              <p:nvPr/>
            </p:nvSpPr>
            <p:spPr>
              <a:xfrm>
                <a:off x="1210132" y="3262551"/>
                <a:ext cx="418186" cy="198025"/>
              </a:xfrm>
              <a:prstGeom prst="rect">
                <a:avLst/>
              </a:prstGeom>
              <a:noFill/>
              <a:ln>
                <a:noFill/>
              </a:ln>
            </p:spPr>
            <p:txBody>
              <a:bodyPr wrap="none" lIns="0" tIns="0" rIns="0" bIns="0" anchor="t" anchorCtr="0">
                <a:spAutoFit/>
              </a:bodyPr>
              <a:lstStyle/>
              <a:p>
                <a:pPr algn="ctr"/>
                <a:r>
                  <a:rPr lang="zh-CN" sz="1010" b="1" dirty="0">
                    <a:solidFill>
                      <a:srgbClr val="520E00"/>
                    </a:solidFill>
                    <a:latin typeface="+mn-lt"/>
                    <a:ea typeface="+mn-ea"/>
                    <a:cs typeface="+mn-cs"/>
                  </a:rPr>
                  <a:t>体验差</a:t>
                </a:r>
              </a:p>
            </p:txBody>
          </p:sp>
          <p:sp>
            <p:nvSpPr>
              <p:cNvPr id="37" name="TextBox 37"/>
              <p:cNvSpPr txBox="1"/>
              <p:nvPr/>
            </p:nvSpPr>
            <p:spPr>
              <a:xfrm>
                <a:off x="2033588" y="3195638"/>
                <a:ext cx="105727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60403A"/>
                    </a:solidFill>
                    <a:latin typeface="+mn-lt"/>
                    <a:ea typeface="+mn-ea"/>
                    <a:cs typeface="+mn-cs"/>
                  </a:rPr>
                  <a:t>流程繁琐、功能不好用、</a:t>
                </a:r>
                <a:br/>
                <a:r>
                  <a:rPr lang="zh-CN" sz="750" dirty="0">
                    <a:solidFill>
                      <a:srgbClr val="60403A"/>
                    </a:solidFill>
                    <a:latin typeface="+mn-lt"/>
                    <a:ea typeface="+mn-ea"/>
                    <a:cs typeface="+mn-cs"/>
                  </a:rPr>
                  <a:t>服务响应慢，体验不佳</a:t>
                </a:r>
              </a:p>
            </p:txBody>
          </p:sp>
        </p:grpSp>
        <p:grpSp>
          <p:nvGrpSpPr>
            <p:cNvPr id="49" name="reason-4"/>
            <p:cNvGrpSpPr/>
            <p:nvPr/>
          </p:nvGrpSpPr>
          <p:grpSpPr>
            <a:xfrm>
              <a:off x="381000" y="3752850"/>
              <a:ext cx="3505200" cy="704850"/>
              <a:chOff x="381000" y="3752850"/>
              <a:chExt cx="3505200" cy="704850"/>
            </a:xfrm>
          </p:grpSpPr>
          <p:sp>
            <p:nvSpPr>
              <p:cNvPr id="39" name="Rectangle 39"/>
              <p:cNvSpPr/>
              <p:nvPr/>
            </p:nvSpPr>
            <p:spPr>
              <a:xfrm>
                <a:off x="381000" y="3752850"/>
                <a:ext cx="3505200" cy="704850"/>
              </a:xfrm>
              <a:prstGeom prst="roundRect">
                <a:avLst>
                  <a:gd name="adj" fmla="val 8108"/>
                </a:avLst>
              </a:prstGeom>
              <a:solidFill>
                <a:srgbClr val="F5F8FE"/>
              </a:solidFill>
              <a:ln w="9525">
                <a:solidFill>
                  <a:srgbClr val="C9D5EA"/>
                </a:solidFill>
              </a:ln>
            </p:spPr>
          </p:sp>
          <p:grpSp>
            <p:nvGrpSpPr>
              <p:cNvPr id="45" name="Group 45"/>
              <p:cNvGrpSpPr/>
              <p:nvPr/>
            </p:nvGrpSpPr>
            <p:grpSpPr>
              <a:xfrm>
                <a:off x="538162" y="3974773"/>
                <a:ext cx="257176" cy="259089"/>
                <a:chOff x="538162" y="3974773"/>
                <a:chExt cx="257176" cy="259089"/>
              </a:xfrm>
            </p:grpSpPr>
            <p:sp>
              <p:nvSpPr>
                <p:cNvPr id="40" name="Freeform 40"/>
                <p:cNvSpPr/>
                <p:nvPr/>
              </p:nvSpPr>
              <p:spPr>
                <a:xfrm>
                  <a:off x="623888" y="4090988"/>
                  <a:ext cx="171450" cy="85725"/>
                </a:xfrm>
                <a:custGeom>
                  <a:avLst/>
                  <a:gdLst/>
                  <a:ahLst/>
                  <a:cxnLst/>
                  <a:rect l="l" t="t" r="r" b="b"/>
                  <a:pathLst>
                    <a:path w="171450" h="85725">
                      <a:moveTo>
                        <a:pt x="0" y="42862"/>
                      </a:moveTo>
                      <a:cubicBezTo>
                        <a:pt x="0" y="66537"/>
                        <a:pt x="38376" y="85725"/>
                        <a:pt x="85725" y="85725"/>
                      </a:cubicBezTo>
                      <a:cubicBezTo>
                        <a:pt x="133074" y="85725"/>
                        <a:pt x="171450" y="66537"/>
                        <a:pt x="171450" y="42862"/>
                      </a:cubicBezTo>
                      <a:cubicBezTo>
                        <a:pt x="171450" y="19188"/>
                        <a:pt x="133074" y="0"/>
                        <a:pt x="85725" y="0"/>
                      </a:cubicBezTo>
                      <a:cubicBezTo>
                        <a:pt x="38376" y="0"/>
                        <a:pt x="0" y="19188"/>
                        <a:pt x="0" y="42862"/>
                      </a:cubicBezTo>
                    </a:path>
                  </a:pathLst>
                </a:custGeom>
                <a:noFill/>
                <a:ln w="21431">
                  <a:solidFill>
                    <a:srgbClr val="8A1700"/>
                  </a:solidFill>
                </a:ln>
              </p:spPr>
            </p:sp>
            <p:sp>
              <p:nvSpPr>
                <p:cNvPr id="41" name="Freeform 41"/>
                <p:cNvSpPr/>
                <p:nvPr/>
              </p:nvSpPr>
              <p:spPr>
                <a:xfrm>
                  <a:off x="623888" y="4133850"/>
                  <a:ext cx="171450" cy="100012"/>
                </a:xfrm>
                <a:custGeom>
                  <a:avLst/>
                  <a:gdLst/>
                  <a:ahLst/>
                  <a:cxnLst/>
                  <a:rect l="l" t="t" r="r" b="b"/>
                  <a:pathLst>
                    <a:path w="171450" h="100012">
                      <a:moveTo>
                        <a:pt x="0" y="0"/>
                      </a:moveTo>
                      <a:lnTo>
                        <a:pt x="0" y="57150"/>
                      </a:lnTo>
                      <a:cubicBezTo>
                        <a:pt x="0" y="80810"/>
                        <a:pt x="38376" y="100012"/>
                        <a:pt x="85725" y="100012"/>
                      </a:cubicBezTo>
                      <a:cubicBezTo>
                        <a:pt x="133074" y="100012"/>
                        <a:pt x="171450" y="80810"/>
                        <a:pt x="171450" y="57150"/>
                      </a:cubicBezTo>
                      <a:lnTo>
                        <a:pt x="171450" y="0"/>
                      </a:lnTo>
                    </a:path>
                  </a:pathLst>
                </a:custGeom>
                <a:noFill/>
                <a:ln w="21431">
                  <a:solidFill>
                    <a:srgbClr val="8A1700"/>
                  </a:solidFill>
                </a:ln>
              </p:spPr>
            </p:sp>
            <p:sp>
              <p:nvSpPr>
                <p:cNvPr id="42" name="Freeform 42"/>
                <p:cNvSpPr/>
                <p:nvPr/>
              </p:nvSpPr>
              <p:spPr>
                <a:xfrm>
                  <a:off x="538162" y="3974773"/>
                  <a:ext cx="171450" cy="89554"/>
                </a:xfrm>
                <a:custGeom>
                  <a:avLst/>
                  <a:gdLst/>
                  <a:ahLst/>
                  <a:cxnLst/>
                  <a:rect l="l" t="t" r="r" b="b"/>
                  <a:pathLst>
                    <a:path w="171450" h="89554">
                      <a:moveTo>
                        <a:pt x="0" y="44777"/>
                      </a:moveTo>
                      <a:cubicBezTo>
                        <a:pt x="0" y="60093"/>
                        <a:pt x="16345" y="74238"/>
                        <a:pt x="42862" y="81896"/>
                      </a:cubicBezTo>
                      <a:cubicBezTo>
                        <a:pt x="69380" y="89554"/>
                        <a:pt x="102070" y="89554"/>
                        <a:pt x="128588" y="81896"/>
                      </a:cubicBezTo>
                      <a:cubicBezTo>
                        <a:pt x="155105" y="74238"/>
                        <a:pt x="171450" y="60093"/>
                        <a:pt x="171450" y="44777"/>
                      </a:cubicBezTo>
                      <a:cubicBezTo>
                        <a:pt x="171450" y="29461"/>
                        <a:pt x="155105" y="15316"/>
                        <a:pt x="128588" y="7658"/>
                      </a:cubicBezTo>
                      <a:cubicBezTo>
                        <a:pt x="102070" y="0"/>
                        <a:pt x="69380" y="0"/>
                        <a:pt x="42862" y="7658"/>
                      </a:cubicBezTo>
                      <a:cubicBezTo>
                        <a:pt x="16345" y="15316"/>
                        <a:pt x="0" y="29461"/>
                        <a:pt x="0" y="44777"/>
                      </a:cubicBezTo>
                    </a:path>
                  </a:pathLst>
                </a:custGeom>
                <a:noFill/>
                <a:ln w="21431">
                  <a:solidFill>
                    <a:srgbClr val="8A1700"/>
                  </a:solidFill>
                </a:ln>
              </p:spPr>
            </p:sp>
            <p:sp>
              <p:nvSpPr>
                <p:cNvPr id="43" name="Freeform 43"/>
                <p:cNvSpPr/>
                <p:nvPr/>
              </p:nvSpPr>
              <p:spPr>
                <a:xfrm>
                  <a:off x="538162" y="4019550"/>
                  <a:ext cx="28575" cy="171450"/>
                </a:xfrm>
                <a:custGeom>
                  <a:avLst/>
                  <a:gdLst/>
                  <a:ahLst/>
                  <a:cxnLst/>
                  <a:rect l="l" t="t" r="r" b="b"/>
                  <a:pathLst>
                    <a:path w="28575" h="171450">
                      <a:moveTo>
                        <a:pt x="0" y="0"/>
                      </a:moveTo>
                      <a:lnTo>
                        <a:pt x="0" y="142875"/>
                      </a:lnTo>
                      <a:cubicBezTo>
                        <a:pt x="0" y="155562"/>
                        <a:pt x="11030" y="163592"/>
                        <a:pt x="28575" y="171450"/>
                      </a:cubicBezTo>
                    </a:path>
                  </a:pathLst>
                </a:custGeom>
                <a:noFill/>
                <a:ln w="21431">
                  <a:solidFill>
                    <a:srgbClr val="8A1700"/>
                  </a:solidFill>
                </a:ln>
              </p:spPr>
            </p:sp>
            <p:sp>
              <p:nvSpPr>
                <p:cNvPr id="44" name="Freeform 44"/>
                <p:cNvSpPr/>
                <p:nvPr/>
              </p:nvSpPr>
              <p:spPr>
                <a:xfrm>
                  <a:off x="538162" y="4090988"/>
                  <a:ext cx="28575" cy="28575"/>
                </a:xfrm>
                <a:custGeom>
                  <a:avLst/>
                  <a:gdLst/>
                  <a:ahLst/>
                  <a:cxnLst/>
                  <a:rect l="l" t="t" r="r" b="b"/>
                  <a:pathLst>
                    <a:path w="28575" h="28575">
                      <a:moveTo>
                        <a:pt x="0" y="0"/>
                      </a:moveTo>
                      <a:cubicBezTo>
                        <a:pt x="0" y="12687"/>
                        <a:pt x="11030" y="20717"/>
                        <a:pt x="28575" y="28575"/>
                      </a:cubicBezTo>
                    </a:path>
                  </a:pathLst>
                </a:custGeom>
                <a:noFill/>
                <a:ln w="21431">
                  <a:solidFill>
                    <a:srgbClr val="8A1700"/>
                  </a:solidFill>
                </a:ln>
              </p:spPr>
            </p:sp>
          </p:grpSp>
          <p:sp>
            <p:nvSpPr>
              <p:cNvPr id="46" name="Rectangle 46"/>
              <p:cNvSpPr/>
              <p:nvPr/>
            </p:nvSpPr>
            <p:spPr>
              <a:xfrm>
                <a:off x="952500" y="3962400"/>
                <a:ext cx="933450" cy="285750"/>
              </a:xfrm>
              <a:prstGeom prst="roundRect">
                <a:avLst>
                  <a:gd name="adj" fmla="val 13333"/>
                </a:avLst>
              </a:prstGeom>
              <a:solidFill>
                <a:srgbClr val="DCE6F5"/>
              </a:solidFill>
              <a:ln>
                <a:noFill/>
              </a:ln>
            </p:spPr>
          </p:sp>
          <p:sp>
            <p:nvSpPr>
              <p:cNvPr id="47" name="TextBox 47"/>
              <p:cNvSpPr txBox="1"/>
              <p:nvPr/>
            </p:nvSpPr>
            <p:spPr>
              <a:xfrm>
                <a:off x="1142149" y="4043601"/>
                <a:ext cx="554152" cy="198025"/>
              </a:xfrm>
              <a:prstGeom prst="rect">
                <a:avLst/>
              </a:prstGeom>
              <a:noFill/>
              <a:ln>
                <a:noFill/>
              </a:ln>
            </p:spPr>
            <p:txBody>
              <a:bodyPr wrap="none" lIns="0" tIns="0" rIns="0" bIns="0" anchor="t" anchorCtr="0">
                <a:spAutoFit/>
              </a:bodyPr>
              <a:lstStyle/>
              <a:p>
                <a:pPr algn="ctr"/>
                <a:r>
                  <a:rPr lang="zh-CN" sz="1010" b="1" dirty="0">
                    <a:solidFill>
                      <a:srgbClr val="520E00"/>
                    </a:solidFill>
                    <a:latin typeface="+mn-lt"/>
                    <a:ea typeface="+mn-ea"/>
                    <a:cs typeface="+mn-cs"/>
                  </a:rPr>
                  <a:t>额度不足</a:t>
                </a:r>
              </a:p>
            </p:txBody>
          </p:sp>
          <p:sp>
            <p:nvSpPr>
              <p:cNvPr id="48" name="TextBox 48"/>
              <p:cNvSpPr txBox="1"/>
              <p:nvPr/>
            </p:nvSpPr>
            <p:spPr>
              <a:xfrm>
                <a:off x="2033588" y="3976688"/>
                <a:ext cx="96202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60403A"/>
                    </a:solidFill>
                    <a:latin typeface="+mn-lt"/>
                    <a:ea typeface="+mn-ea"/>
                    <a:cs typeface="+mn-cs"/>
                  </a:rPr>
                  <a:t>可用额度低，无法满足</a:t>
                </a:r>
                <a:br/>
                <a:r>
                  <a:rPr lang="zh-CN" sz="750" dirty="0">
                    <a:solidFill>
                      <a:srgbClr val="60403A"/>
                    </a:solidFill>
                    <a:latin typeface="+mn-lt"/>
                    <a:ea typeface="+mn-ea"/>
                    <a:cs typeface="+mn-cs"/>
                  </a:rPr>
                  <a:t>需求，影响使用</a:t>
                </a:r>
              </a:p>
            </p:txBody>
          </p:sp>
        </p:grpSp>
        <p:grpSp>
          <p:nvGrpSpPr>
            <p:cNvPr id="59" name="reason-5"/>
            <p:cNvGrpSpPr/>
            <p:nvPr/>
          </p:nvGrpSpPr>
          <p:grpSpPr>
            <a:xfrm>
              <a:off x="381000" y="4533900"/>
              <a:ext cx="3505200" cy="704850"/>
              <a:chOff x="381000" y="4533900"/>
              <a:chExt cx="3505200" cy="704850"/>
            </a:xfrm>
          </p:grpSpPr>
          <p:sp>
            <p:nvSpPr>
              <p:cNvPr id="50" name="Rectangle 50"/>
              <p:cNvSpPr/>
              <p:nvPr/>
            </p:nvSpPr>
            <p:spPr>
              <a:xfrm>
                <a:off x="381000" y="4533900"/>
                <a:ext cx="3505200" cy="704850"/>
              </a:xfrm>
              <a:prstGeom prst="roundRect">
                <a:avLst>
                  <a:gd name="adj" fmla="val 8108"/>
                </a:avLst>
              </a:prstGeom>
              <a:solidFill>
                <a:srgbClr val="F5F8FE"/>
              </a:solidFill>
              <a:ln w="9525">
                <a:solidFill>
                  <a:srgbClr val="C9D5EA"/>
                </a:solidFill>
              </a:ln>
            </p:spPr>
          </p:sp>
          <p:grpSp>
            <p:nvGrpSpPr>
              <p:cNvPr id="55" name="Group 55"/>
              <p:cNvGrpSpPr/>
              <p:nvPr/>
            </p:nvGrpSpPr>
            <p:grpSpPr>
              <a:xfrm>
                <a:off x="538162" y="4757738"/>
                <a:ext cx="257175" cy="257175"/>
                <a:chOff x="538162" y="4757738"/>
                <a:chExt cx="257175" cy="257175"/>
              </a:xfrm>
            </p:grpSpPr>
            <p:sp>
              <p:nvSpPr>
                <p:cNvPr id="51" name="Freeform 51"/>
                <p:cNvSpPr/>
                <p:nvPr/>
              </p:nvSpPr>
              <p:spPr>
                <a:xfrm>
                  <a:off x="566738" y="4757738"/>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1431">
                  <a:solidFill>
                    <a:srgbClr val="8A1700"/>
                  </a:solidFill>
                </a:ln>
              </p:spPr>
            </p:sp>
            <p:sp>
              <p:nvSpPr>
                <p:cNvPr id="52" name="Freeform 52"/>
                <p:cNvSpPr/>
                <p:nvPr/>
              </p:nvSpPr>
              <p:spPr>
                <a:xfrm>
                  <a:off x="538162" y="4929188"/>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1431">
                  <a:solidFill>
                    <a:srgbClr val="8A1700"/>
                  </a:solidFill>
                </a:ln>
              </p:spPr>
            </p:sp>
            <p:sp>
              <p:nvSpPr>
                <p:cNvPr id="53" name="Freeform 53"/>
                <p:cNvSpPr/>
                <p:nvPr/>
              </p:nvSpPr>
              <p:spPr>
                <a:xfrm>
                  <a:off x="723900" y="4759595"/>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1431">
                  <a:solidFill>
                    <a:srgbClr val="8A1700"/>
                  </a:solidFill>
                </a:ln>
              </p:spPr>
            </p:sp>
            <p:sp>
              <p:nvSpPr>
                <p:cNvPr id="54" name="Freeform 54"/>
                <p:cNvSpPr/>
                <p:nvPr/>
              </p:nvSpPr>
              <p:spPr>
                <a:xfrm>
                  <a:off x="752475" y="4931331"/>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1431">
                  <a:solidFill>
                    <a:srgbClr val="8A1700"/>
                  </a:solidFill>
                </a:ln>
              </p:spPr>
            </p:sp>
          </p:grpSp>
          <p:sp>
            <p:nvSpPr>
              <p:cNvPr id="56" name="Rectangle 56"/>
              <p:cNvSpPr/>
              <p:nvPr/>
            </p:nvSpPr>
            <p:spPr>
              <a:xfrm>
                <a:off x="952500" y="4743450"/>
                <a:ext cx="933450" cy="285750"/>
              </a:xfrm>
              <a:prstGeom prst="roundRect">
                <a:avLst>
                  <a:gd name="adj" fmla="val 13333"/>
                </a:avLst>
              </a:prstGeom>
              <a:solidFill>
                <a:srgbClr val="DCE6F5"/>
              </a:solidFill>
              <a:ln>
                <a:noFill/>
              </a:ln>
            </p:spPr>
          </p:sp>
          <p:sp>
            <p:nvSpPr>
              <p:cNvPr id="57" name="TextBox 57"/>
              <p:cNvSpPr txBox="1"/>
              <p:nvPr/>
            </p:nvSpPr>
            <p:spPr>
              <a:xfrm>
                <a:off x="1142149" y="4824651"/>
                <a:ext cx="554152" cy="198025"/>
              </a:xfrm>
              <a:prstGeom prst="rect">
                <a:avLst/>
              </a:prstGeom>
              <a:noFill/>
              <a:ln>
                <a:noFill/>
              </a:ln>
            </p:spPr>
            <p:txBody>
              <a:bodyPr wrap="none" lIns="0" tIns="0" rIns="0" bIns="0" anchor="t" anchorCtr="0">
                <a:spAutoFit/>
              </a:bodyPr>
              <a:lstStyle/>
              <a:p>
                <a:pPr algn="ctr"/>
                <a:r>
                  <a:rPr lang="zh-CN" sz="1010" b="1" dirty="0">
                    <a:solidFill>
                      <a:srgbClr val="520E00"/>
                    </a:solidFill>
                    <a:latin typeface="+mn-lt"/>
                    <a:ea typeface="+mn-ea"/>
                    <a:cs typeface="+mn-cs"/>
                  </a:rPr>
                  <a:t>竞品替代</a:t>
                </a:r>
              </a:p>
            </p:txBody>
          </p:sp>
          <p:sp>
            <p:nvSpPr>
              <p:cNvPr id="58" name="TextBox 58"/>
              <p:cNvSpPr txBox="1"/>
              <p:nvPr/>
            </p:nvSpPr>
            <p:spPr>
              <a:xfrm>
                <a:off x="2033588" y="4757738"/>
                <a:ext cx="1057275"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60403A"/>
                    </a:solidFill>
                    <a:latin typeface="+mn-lt"/>
                    <a:ea typeface="+mn-ea"/>
                    <a:cs typeface="+mn-cs"/>
                  </a:rPr>
                  <a:t>被竞品权益、价格或体验</a:t>
                </a:r>
                <a:br/>
                <a:r>
                  <a:rPr lang="zh-CN" sz="750" dirty="0">
                    <a:solidFill>
                      <a:srgbClr val="60403A"/>
                    </a:solidFill>
                    <a:latin typeface="+mn-lt"/>
                    <a:ea typeface="+mn-ea"/>
                    <a:cs typeface="+mn-cs"/>
                  </a:rPr>
                  <a:t>吸引，导致流失</a:t>
                </a:r>
              </a:p>
            </p:txBody>
          </p:sp>
        </p:grpSp>
      </p:grpSp>
      <p:grpSp>
        <p:nvGrpSpPr>
          <p:cNvPr id="96" name="wakeup-ladder"/>
          <p:cNvGrpSpPr/>
          <p:nvPr/>
        </p:nvGrpSpPr>
        <p:grpSpPr>
          <a:xfrm>
            <a:off x="4152900" y="800100"/>
            <a:ext cx="3886200" cy="4629150"/>
            <a:chOff x="4152900" y="800100"/>
            <a:chExt cx="3886200" cy="4629150"/>
          </a:xfrm>
        </p:grpSpPr>
        <p:sp>
          <p:nvSpPr>
            <p:cNvPr id="61" name="Rectangle 61"/>
            <p:cNvSpPr/>
            <p:nvPr/>
          </p:nvSpPr>
          <p:spPr>
            <a:xfrm>
              <a:off x="4152900" y="800100"/>
              <a:ext cx="3886200" cy="4629150"/>
            </a:xfrm>
            <a:prstGeom prst="roundRect">
              <a:avLst>
                <a:gd name="adj" fmla="val 1961"/>
              </a:avLst>
            </a:prstGeom>
            <a:solidFill>
              <a:srgbClr val="FFFFFF"/>
            </a:solidFill>
            <a:ln w="9525">
              <a:solidFill>
                <a:srgbClr val="C9D5EA"/>
              </a:solidFill>
            </a:ln>
          </p:spPr>
        </p:sp>
        <p:sp>
          <p:nvSpPr>
            <p:cNvPr id="62" name="Rectangle 62"/>
            <p:cNvSpPr/>
            <p:nvPr/>
          </p:nvSpPr>
          <p:spPr>
            <a:xfrm>
              <a:off x="4152900" y="800100"/>
              <a:ext cx="3886200" cy="381000"/>
            </a:xfrm>
            <a:prstGeom prst="roundRect">
              <a:avLst>
                <a:gd name="adj" fmla="val 20000"/>
              </a:avLst>
            </a:prstGeom>
            <a:solidFill>
              <a:srgbClr val="520E00"/>
            </a:solidFill>
            <a:ln>
              <a:noFill/>
            </a:ln>
          </p:spPr>
        </p:sp>
        <p:sp>
          <p:nvSpPr>
            <p:cNvPr id="63" name="Rectangle 63"/>
            <p:cNvSpPr/>
            <p:nvPr/>
          </p:nvSpPr>
          <p:spPr>
            <a:xfrm>
              <a:off x="4152900" y="1028700"/>
              <a:ext cx="3886200" cy="152400"/>
            </a:xfrm>
            <a:prstGeom prst="rect">
              <a:avLst/>
            </a:prstGeom>
            <a:solidFill>
              <a:srgbClr val="520E00"/>
            </a:solidFill>
            <a:ln>
              <a:noFill/>
            </a:ln>
          </p:spPr>
        </p:sp>
        <p:sp>
          <p:nvSpPr>
            <p:cNvPr id="64" name="TextBox 64"/>
            <p:cNvSpPr txBox="1"/>
            <p:nvPr/>
          </p:nvSpPr>
          <p:spPr>
            <a:xfrm>
              <a:off x="4768968" y="942499"/>
              <a:ext cx="265406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30天轻提醒、60天场景唤醒、90天重点挽回​</a:t>
              </a:r>
            </a:p>
          </p:txBody>
        </p:sp>
        <p:sp>
          <p:nvSpPr>
            <p:cNvPr id="65" name="Freeform 65"/>
            <p:cNvSpPr/>
            <p:nvPr/>
          </p:nvSpPr>
          <p:spPr>
            <a:xfrm>
              <a:off x="4476750" y="1485900"/>
              <a:ext cx="2571750" cy="1657350"/>
            </a:xfrm>
            <a:custGeom>
              <a:avLst/>
              <a:gdLst/>
              <a:ahLst/>
              <a:cxnLst/>
              <a:rect l="l" t="t" r="r" b="b"/>
              <a:pathLst>
                <a:path w="2571750" h="1657350">
                  <a:moveTo>
                    <a:pt x="0" y="1657350"/>
                  </a:moveTo>
                  <a:cubicBezTo>
                    <a:pt x="571500" y="768350"/>
                    <a:pt x="1428750" y="215900"/>
                    <a:pt x="2571750" y="0"/>
                  </a:cubicBezTo>
                </a:path>
              </a:pathLst>
            </a:custGeom>
            <a:noFill/>
            <a:ln w="28575">
              <a:solidFill>
                <a:srgbClr val="8A1700"/>
              </a:solidFill>
              <a:tailEnd type="triangle" w="lg" len="lg"/>
            </a:ln>
          </p:spPr>
        </p:sp>
        <p:grpSp>
          <p:nvGrpSpPr>
            <p:cNvPr id="72" name="ladder-30"/>
            <p:cNvGrpSpPr/>
            <p:nvPr/>
          </p:nvGrpSpPr>
          <p:grpSpPr>
            <a:xfrm>
              <a:off x="4400550" y="3190875"/>
              <a:ext cx="952500" cy="1228725"/>
              <a:chOff x="4400550" y="3190875"/>
              <a:chExt cx="952500" cy="1228725"/>
            </a:xfrm>
          </p:grpSpPr>
          <p:sp>
            <p:nvSpPr>
              <p:cNvPr id="66" name="TextBox 66"/>
              <p:cNvSpPr txBox="1"/>
              <p:nvPr/>
            </p:nvSpPr>
            <p:spPr>
              <a:xfrm>
                <a:off x="4593293" y="3190875"/>
                <a:ext cx="567014" cy="293370"/>
              </a:xfrm>
              <a:prstGeom prst="rect">
                <a:avLst/>
              </a:prstGeom>
              <a:noFill/>
              <a:ln>
                <a:noFill/>
              </a:ln>
            </p:spPr>
            <p:txBody>
              <a:bodyPr wrap="none" lIns="0" tIns="0" rIns="0" bIns="0" anchor="t" anchorCtr="0">
                <a:spAutoFit/>
              </a:bodyPr>
              <a:lstStyle/>
              <a:p>
                <a:pPr algn="ctr"/>
                <a:r>
                  <a:rPr lang="zh-CN" sz="1500" b="1" dirty="0">
                    <a:solidFill>
                      <a:srgbClr val="60403A"/>
                    </a:solidFill>
                    <a:latin typeface="+mn-lt"/>
                    <a:ea typeface="+mn-ea"/>
                    <a:cs typeface="+mn-cs"/>
                  </a:rPr>
                  <a:t>30天​</a:t>
                </a:r>
              </a:p>
            </p:txBody>
          </p:sp>
          <p:sp>
            <p:nvSpPr>
              <p:cNvPr id="67" name="Rectangle 67"/>
              <p:cNvSpPr/>
              <p:nvPr/>
            </p:nvSpPr>
            <p:spPr>
              <a:xfrm>
                <a:off x="4400550" y="3467100"/>
                <a:ext cx="952500" cy="952500"/>
              </a:xfrm>
              <a:prstGeom prst="roundRect">
                <a:avLst>
                  <a:gd name="adj" fmla="val 4000"/>
                </a:avLst>
              </a:prstGeom>
              <a:solidFill>
                <a:srgbClr val="E4EAF4"/>
              </a:solidFill>
              <a:ln>
                <a:noFill/>
              </a:ln>
            </p:spPr>
          </p:sp>
          <p:sp>
            <p:nvSpPr>
              <p:cNvPr id="68" name="TextBox 68"/>
              <p:cNvSpPr txBox="1"/>
              <p:nvPr/>
            </p:nvSpPr>
            <p:spPr>
              <a:xfrm>
                <a:off x="4673956" y="3590449"/>
                <a:ext cx="405689" cy="190690"/>
              </a:xfrm>
              <a:prstGeom prst="rect">
                <a:avLst/>
              </a:prstGeom>
              <a:noFill/>
              <a:ln>
                <a:noFill/>
              </a:ln>
            </p:spPr>
            <p:txBody>
              <a:bodyPr wrap="none" lIns="0" tIns="0" rIns="0" bIns="0" anchor="t" anchorCtr="0">
                <a:spAutoFit/>
              </a:bodyPr>
              <a:lstStyle/>
              <a:p>
                <a:pPr algn="ctr"/>
                <a:r>
                  <a:rPr lang="zh-CN" sz="980" b="1" dirty="0">
                    <a:solidFill>
                      <a:srgbClr val="520E00"/>
                    </a:solidFill>
                    <a:latin typeface="+mn-lt"/>
                    <a:ea typeface="+mn-ea"/>
                    <a:cs typeface="+mn-cs"/>
                  </a:rPr>
                  <a:t>轻提醒</a:t>
                </a:r>
              </a:p>
            </p:txBody>
          </p:sp>
          <p:grpSp>
            <p:nvGrpSpPr>
              <p:cNvPr id="71" name="Group 71"/>
              <p:cNvGrpSpPr/>
              <p:nvPr/>
            </p:nvGrpSpPr>
            <p:grpSpPr>
              <a:xfrm>
                <a:off x="4749800" y="3857625"/>
                <a:ext cx="254001" cy="285751"/>
                <a:chOff x="4749800" y="3857625"/>
                <a:chExt cx="254001" cy="285751"/>
              </a:xfrm>
            </p:grpSpPr>
            <p:sp>
              <p:nvSpPr>
                <p:cNvPr id="69" name="Freeform 69"/>
                <p:cNvSpPr/>
                <p:nvPr/>
              </p:nvSpPr>
              <p:spPr>
                <a:xfrm>
                  <a:off x="4749800" y="3857625"/>
                  <a:ext cx="254001" cy="222250"/>
                </a:xfrm>
                <a:custGeom>
                  <a:avLst/>
                  <a:gdLst/>
                  <a:ahLst/>
                  <a:cxnLst/>
                  <a:rect l="l" t="t" r="r" b="b"/>
                  <a:pathLst>
                    <a:path w="254001" h="222250">
                      <a:moveTo>
                        <a:pt x="95250" y="31750"/>
                      </a:moveTo>
                      <a:cubicBezTo>
                        <a:pt x="95250" y="14215"/>
                        <a:pt x="109465" y="0"/>
                        <a:pt x="127000" y="0"/>
                      </a:cubicBezTo>
                      <a:cubicBezTo>
                        <a:pt x="144535" y="0"/>
                        <a:pt x="158750" y="14215"/>
                        <a:pt x="158750" y="31750"/>
                      </a:cubicBezTo>
                      <a:cubicBezTo>
                        <a:pt x="195901" y="49317"/>
                        <a:pt x="220324" y="85951"/>
                        <a:pt x="222250" y="127000"/>
                      </a:cubicBezTo>
                      <a:lnTo>
                        <a:pt x="222250" y="174625"/>
                      </a:lnTo>
                      <a:cubicBezTo>
                        <a:pt x="224673" y="194641"/>
                        <a:pt x="236457" y="212316"/>
                        <a:pt x="254001" y="222250"/>
                      </a:cubicBezTo>
                      <a:lnTo>
                        <a:pt x="0" y="222250"/>
                      </a:lnTo>
                      <a:cubicBezTo>
                        <a:pt x="17544" y="212316"/>
                        <a:pt x="29327" y="194641"/>
                        <a:pt x="31750" y="174625"/>
                      </a:cubicBezTo>
                      <a:lnTo>
                        <a:pt x="31750" y="127000"/>
                      </a:lnTo>
                      <a:cubicBezTo>
                        <a:pt x="33677" y="85951"/>
                        <a:pt x="58100" y="49317"/>
                        <a:pt x="95250" y="31750"/>
                      </a:cubicBezTo>
                    </a:path>
                  </a:pathLst>
                </a:custGeom>
                <a:noFill/>
                <a:ln w="23813">
                  <a:solidFill>
                    <a:srgbClr val="6B7280"/>
                  </a:solidFill>
                </a:ln>
              </p:spPr>
            </p:sp>
            <p:sp>
              <p:nvSpPr>
                <p:cNvPr id="70" name="Freeform 70"/>
                <p:cNvSpPr/>
                <p:nvPr/>
              </p:nvSpPr>
              <p:spPr>
                <a:xfrm>
                  <a:off x="4829175" y="4079876"/>
                  <a:ext cx="95250" cy="63500"/>
                </a:xfrm>
                <a:custGeom>
                  <a:avLst/>
                  <a:gdLst/>
                  <a:ahLst/>
                  <a:cxnLst/>
                  <a:rect l="l" t="t" r="r" b="b"/>
                  <a:pathLst>
                    <a:path w="95250" h="63500">
                      <a:moveTo>
                        <a:pt x="0" y="0"/>
                      </a:moveTo>
                      <a:lnTo>
                        <a:pt x="0" y="15875"/>
                      </a:lnTo>
                      <a:cubicBezTo>
                        <a:pt x="0" y="42178"/>
                        <a:pt x="21322" y="63500"/>
                        <a:pt x="47625" y="63500"/>
                      </a:cubicBezTo>
                      <a:cubicBezTo>
                        <a:pt x="73928" y="63500"/>
                        <a:pt x="95250" y="42178"/>
                        <a:pt x="95250" y="15875"/>
                      </a:cubicBezTo>
                      <a:lnTo>
                        <a:pt x="95250" y="0"/>
                      </a:lnTo>
                    </a:path>
                  </a:pathLst>
                </a:custGeom>
                <a:noFill/>
                <a:ln w="23813">
                  <a:solidFill>
                    <a:srgbClr val="6B7280"/>
                  </a:solidFill>
                </a:ln>
              </p:spPr>
            </p:sp>
          </p:grpSp>
        </p:grpSp>
        <p:grpSp>
          <p:nvGrpSpPr>
            <p:cNvPr id="79" name="ladder-60"/>
            <p:cNvGrpSpPr/>
            <p:nvPr/>
          </p:nvGrpSpPr>
          <p:grpSpPr>
            <a:xfrm>
              <a:off x="5486400" y="2619375"/>
              <a:ext cx="1066800" cy="1800225"/>
              <a:chOff x="5486400" y="2619375"/>
              <a:chExt cx="1066800" cy="1800225"/>
            </a:xfrm>
          </p:grpSpPr>
          <p:sp>
            <p:nvSpPr>
              <p:cNvPr id="73" name="TextBox 73"/>
              <p:cNvSpPr txBox="1"/>
              <p:nvPr/>
            </p:nvSpPr>
            <p:spPr>
              <a:xfrm>
                <a:off x="5736293" y="2619375"/>
                <a:ext cx="567014" cy="293370"/>
              </a:xfrm>
              <a:prstGeom prst="rect">
                <a:avLst/>
              </a:prstGeom>
              <a:noFill/>
              <a:ln>
                <a:noFill/>
              </a:ln>
            </p:spPr>
            <p:txBody>
              <a:bodyPr wrap="none" lIns="0" tIns="0" rIns="0" bIns="0" anchor="t" anchorCtr="0">
                <a:spAutoFit/>
              </a:bodyPr>
              <a:lstStyle/>
              <a:p>
                <a:pPr algn="ctr"/>
                <a:r>
                  <a:rPr lang="zh-CN" sz="1500" b="1" dirty="0">
                    <a:solidFill>
                      <a:srgbClr val="8A1700"/>
                    </a:solidFill>
                    <a:latin typeface="+mn-lt"/>
                    <a:ea typeface="+mn-ea"/>
                    <a:cs typeface="+mn-cs"/>
                  </a:rPr>
                  <a:t>60天​</a:t>
                </a:r>
              </a:p>
            </p:txBody>
          </p:sp>
          <p:sp>
            <p:nvSpPr>
              <p:cNvPr id="74" name="Rectangle 74"/>
              <p:cNvSpPr/>
              <p:nvPr/>
            </p:nvSpPr>
            <p:spPr>
              <a:xfrm>
                <a:off x="5486400" y="2895600"/>
                <a:ext cx="1066800" cy="1524000"/>
              </a:xfrm>
              <a:prstGeom prst="roundRect">
                <a:avLst>
                  <a:gd name="adj" fmla="val 3571"/>
                </a:avLst>
              </a:prstGeom>
              <a:solidFill>
                <a:srgbClr val="DCE6F5"/>
              </a:solidFill>
              <a:ln>
                <a:noFill/>
              </a:ln>
            </p:spPr>
          </p:sp>
          <p:sp>
            <p:nvSpPr>
              <p:cNvPr id="75" name="TextBox 75"/>
              <p:cNvSpPr txBox="1"/>
              <p:nvPr/>
            </p:nvSpPr>
            <p:spPr>
              <a:xfrm>
                <a:off x="5750992" y="3037999"/>
                <a:ext cx="537616" cy="190690"/>
              </a:xfrm>
              <a:prstGeom prst="rect">
                <a:avLst/>
              </a:prstGeom>
              <a:noFill/>
              <a:ln>
                <a:noFill/>
              </a:ln>
            </p:spPr>
            <p:txBody>
              <a:bodyPr wrap="none" lIns="0" tIns="0" rIns="0" bIns="0" anchor="t" anchorCtr="0">
                <a:spAutoFit/>
              </a:bodyPr>
              <a:lstStyle/>
              <a:p>
                <a:pPr algn="ctr"/>
                <a:r>
                  <a:rPr lang="zh-CN" sz="980" b="1" dirty="0">
                    <a:solidFill>
                      <a:srgbClr val="520E00"/>
                    </a:solidFill>
                    <a:latin typeface="+mn-lt"/>
                    <a:ea typeface="+mn-ea"/>
                    <a:cs typeface="+mn-cs"/>
                  </a:rPr>
                  <a:t>场景唤醒</a:t>
                </a:r>
              </a:p>
            </p:txBody>
          </p:sp>
          <p:grpSp>
            <p:nvGrpSpPr>
              <p:cNvPr id="78" name="Group 78"/>
              <p:cNvGrpSpPr/>
              <p:nvPr/>
            </p:nvGrpSpPr>
            <p:grpSpPr>
              <a:xfrm>
                <a:off x="5872454" y="3486150"/>
                <a:ext cx="294711" cy="342908"/>
                <a:chOff x="5872454" y="3486150"/>
                <a:chExt cx="294711" cy="342908"/>
              </a:xfrm>
            </p:grpSpPr>
            <p:sp>
              <p:nvSpPr>
                <p:cNvPr id="76" name="Freeform 76"/>
                <p:cNvSpPr/>
                <p:nvPr/>
              </p:nvSpPr>
              <p:spPr>
                <a:xfrm>
                  <a:off x="5872454" y="3581399"/>
                  <a:ext cx="294711" cy="247659"/>
                </a:xfrm>
                <a:custGeom>
                  <a:avLst/>
                  <a:gdLst/>
                  <a:ahLst/>
                  <a:cxnLst/>
                  <a:rect l="l" t="t" r="r" b="b"/>
                  <a:pathLst>
                    <a:path w="294711" h="247659">
                      <a:moveTo>
                        <a:pt x="39352" y="1"/>
                      </a:moveTo>
                      <a:lnTo>
                        <a:pt x="255360" y="1"/>
                      </a:lnTo>
                      <a:cubicBezTo>
                        <a:pt x="266476" y="0"/>
                        <a:pt x="277039" y="4854"/>
                        <a:pt x="284278" y="13291"/>
                      </a:cubicBezTo>
                      <a:cubicBezTo>
                        <a:pt x="291518" y="21727"/>
                        <a:pt x="294711" y="32905"/>
                        <a:pt x="293021" y="43893"/>
                      </a:cubicBezTo>
                      <a:lnTo>
                        <a:pt x="269114" y="199188"/>
                      </a:lnTo>
                      <a:cubicBezTo>
                        <a:pt x="264825" y="227075"/>
                        <a:pt x="240826" y="247659"/>
                        <a:pt x="212611" y="247651"/>
                      </a:cubicBezTo>
                      <a:lnTo>
                        <a:pt x="82081" y="247651"/>
                      </a:lnTo>
                      <a:cubicBezTo>
                        <a:pt x="53873" y="247650"/>
                        <a:pt x="29885" y="227068"/>
                        <a:pt x="25598" y="199188"/>
                      </a:cubicBezTo>
                      <a:lnTo>
                        <a:pt x="1690" y="43893"/>
                      </a:lnTo>
                      <a:cubicBezTo>
                        <a:pt x="0" y="32905"/>
                        <a:pt x="3193" y="21727"/>
                        <a:pt x="10433" y="13291"/>
                      </a:cubicBezTo>
                      <a:cubicBezTo>
                        <a:pt x="17672" y="4854"/>
                        <a:pt x="28235" y="0"/>
                        <a:pt x="39352" y="1"/>
                      </a:cubicBezTo>
                    </a:path>
                  </a:pathLst>
                </a:custGeom>
                <a:noFill/>
                <a:ln w="28575">
                  <a:solidFill>
                    <a:srgbClr val="8A1700"/>
                  </a:solidFill>
                </a:ln>
              </p:spPr>
            </p:sp>
            <p:sp>
              <p:nvSpPr>
                <p:cNvPr id="77" name="Freeform 77"/>
                <p:cNvSpPr/>
                <p:nvPr/>
              </p:nvSpPr>
              <p:spPr>
                <a:xfrm>
                  <a:off x="5962650" y="3486150"/>
                  <a:ext cx="114300" cy="152400"/>
                </a:xfrm>
                <a:custGeom>
                  <a:avLst/>
                  <a:gdLst/>
                  <a:ahLst/>
                  <a:cxnLst/>
                  <a:rect l="l" t="t" r="r" b="b"/>
                  <a:pathLst>
                    <a:path w="114300" h="152400">
                      <a:moveTo>
                        <a:pt x="0" y="152400"/>
                      </a:moveTo>
                      <a:lnTo>
                        <a:pt x="0" y="57150"/>
                      </a:lnTo>
                      <a:cubicBezTo>
                        <a:pt x="0" y="25587"/>
                        <a:pt x="25587" y="0"/>
                        <a:pt x="57150" y="0"/>
                      </a:cubicBezTo>
                      <a:cubicBezTo>
                        <a:pt x="88713" y="0"/>
                        <a:pt x="114300" y="25587"/>
                        <a:pt x="114300" y="57150"/>
                      </a:cubicBezTo>
                      <a:lnTo>
                        <a:pt x="114300" y="152400"/>
                      </a:lnTo>
                    </a:path>
                  </a:pathLst>
                </a:custGeom>
                <a:noFill/>
                <a:ln w="28575">
                  <a:solidFill>
                    <a:srgbClr val="8A1700"/>
                  </a:solidFill>
                </a:ln>
              </p:spPr>
            </p:sp>
          </p:grpSp>
        </p:grpSp>
        <p:grpSp>
          <p:nvGrpSpPr>
            <p:cNvPr id="88" name="ladder-90"/>
            <p:cNvGrpSpPr/>
            <p:nvPr/>
          </p:nvGrpSpPr>
          <p:grpSpPr>
            <a:xfrm>
              <a:off x="6686550" y="2047875"/>
              <a:ext cx="1104900" cy="2371725"/>
              <a:chOff x="6686550" y="2047875"/>
              <a:chExt cx="1104900" cy="2371725"/>
            </a:xfrm>
          </p:grpSpPr>
          <p:sp>
            <p:nvSpPr>
              <p:cNvPr id="80" name="TextBox 80"/>
              <p:cNvSpPr txBox="1"/>
              <p:nvPr/>
            </p:nvSpPr>
            <p:spPr>
              <a:xfrm>
                <a:off x="6955493" y="2047875"/>
                <a:ext cx="567014" cy="293370"/>
              </a:xfrm>
              <a:prstGeom prst="rect">
                <a:avLst/>
              </a:prstGeom>
              <a:noFill/>
              <a:ln>
                <a:noFill/>
              </a:ln>
            </p:spPr>
            <p:txBody>
              <a:bodyPr wrap="none" lIns="0" tIns="0" rIns="0" bIns="0" anchor="t" anchorCtr="0">
                <a:spAutoFit/>
              </a:bodyPr>
              <a:lstStyle/>
              <a:p>
                <a:pPr algn="ctr"/>
                <a:r>
                  <a:rPr lang="zh-CN" sz="1500" b="1" dirty="0">
                    <a:solidFill>
                      <a:srgbClr val="8A1700"/>
                    </a:solidFill>
                    <a:latin typeface="+mn-lt"/>
                    <a:ea typeface="+mn-ea"/>
                    <a:cs typeface="+mn-cs"/>
                  </a:rPr>
                  <a:t>90天​</a:t>
                </a:r>
              </a:p>
            </p:txBody>
          </p:sp>
          <p:sp>
            <p:nvSpPr>
              <p:cNvPr id="81" name="Rectangle 81"/>
              <p:cNvSpPr/>
              <p:nvPr/>
            </p:nvSpPr>
            <p:spPr>
              <a:xfrm>
                <a:off x="6686550" y="2324100"/>
                <a:ext cx="1104900" cy="2095500"/>
              </a:xfrm>
              <a:prstGeom prst="roundRect">
                <a:avLst>
                  <a:gd name="adj" fmla="val 3448"/>
                </a:avLst>
              </a:prstGeom>
              <a:solidFill>
                <a:srgbClr val="8A1700"/>
              </a:solidFill>
              <a:ln>
                <a:noFill/>
              </a:ln>
            </p:spPr>
          </p:sp>
          <p:sp>
            <p:nvSpPr>
              <p:cNvPr id="82" name="TextBox 82"/>
              <p:cNvSpPr txBox="1"/>
              <p:nvPr/>
            </p:nvSpPr>
            <p:spPr>
              <a:xfrm>
                <a:off x="6970192" y="24855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重点挽回</a:t>
                </a:r>
              </a:p>
            </p:txBody>
          </p:sp>
          <p:grpSp>
            <p:nvGrpSpPr>
              <p:cNvPr id="87" name="Group 87"/>
              <p:cNvGrpSpPr/>
              <p:nvPr/>
            </p:nvGrpSpPr>
            <p:grpSpPr>
              <a:xfrm>
                <a:off x="7031279" y="3131198"/>
                <a:ext cx="415039" cy="361301"/>
                <a:chOff x="7031279" y="3131198"/>
                <a:chExt cx="415039" cy="361301"/>
              </a:xfrm>
            </p:grpSpPr>
            <p:sp>
              <p:nvSpPr>
                <p:cNvPr id="83" name="Freeform 83"/>
                <p:cNvSpPr/>
                <p:nvPr/>
              </p:nvSpPr>
              <p:spPr>
                <a:xfrm>
                  <a:off x="7031279" y="3131198"/>
                  <a:ext cx="415039" cy="361301"/>
                </a:xfrm>
                <a:custGeom>
                  <a:avLst/>
                  <a:gdLst/>
                  <a:ahLst/>
                  <a:cxnLst/>
                  <a:rect l="l" t="t" r="r" b="b"/>
                  <a:pathLst>
                    <a:path w="415039" h="361301">
                      <a:moveTo>
                        <a:pt x="374408" y="196214"/>
                      </a:moveTo>
                      <a:lnTo>
                        <a:pt x="207721" y="361301"/>
                      </a:lnTo>
                      <a:lnTo>
                        <a:pt x="41033" y="196214"/>
                      </a:lnTo>
                      <a:cubicBezTo>
                        <a:pt x="11058" y="167046"/>
                        <a:pt x="0" y="123517"/>
                        <a:pt x="12418" y="83579"/>
                      </a:cubicBezTo>
                      <a:cubicBezTo>
                        <a:pt x="24836" y="43640"/>
                        <a:pt x="58628" y="14057"/>
                        <a:pt x="99858" y="7029"/>
                      </a:cubicBezTo>
                      <a:cubicBezTo>
                        <a:pt x="141087" y="0"/>
                        <a:pt x="182771" y="16717"/>
                        <a:pt x="207721" y="50285"/>
                      </a:cubicBezTo>
                      <a:cubicBezTo>
                        <a:pt x="232774" y="16965"/>
                        <a:pt x="274369" y="470"/>
                        <a:pt x="315450" y="7565"/>
                      </a:cubicBezTo>
                      <a:cubicBezTo>
                        <a:pt x="356530" y="14659"/>
                        <a:pt x="390184" y="44149"/>
                        <a:pt x="402611" y="83941"/>
                      </a:cubicBezTo>
                      <a:cubicBezTo>
                        <a:pt x="415039" y="123734"/>
                        <a:pt x="404149" y="167135"/>
                        <a:pt x="374408" y="196347"/>
                      </a:cubicBezTo>
                    </a:path>
                  </a:pathLst>
                </a:custGeom>
                <a:noFill/>
                <a:ln w="33337">
                  <a:solidFill>
                    <a:srgbClr val="FFFFFF"/>
                  </a:solidFill>
                </a:ln>
              </p:spPr>
            </p:sp>
            <p:sp>
              <p:nvSpPr>
                <p:cNvPr id="84" name="Freeform 84"/>
                <p:cNvSpPr/>
                <p:nvPr/>
              </p:nvSpPr>
              <p:spPr>
                <a:xfrm>
                  <a:off x="7157137" y="3181350"/>
                  <a:ext cx="248550" cy="144462"/>
                </a:xfrm>
                <a:custGeom>
                  <a:avLst/>
                  <a:gdLst/>
                  <a:ahLst/>
                  <a:cxnLst/>
                  <a:rect l="l" t="t" r="r" b="b"/>
                  <a:pathLst>
                    <a:path w="248550" h="144462">
                      <a:moveTo>
                        <a:pt x="81863" y="0"/>
                      </a:moveTo>
                      <a:lnTo>
                        <a:pt x="8676" y="73187"/>
                      </a:lnTo>
                      <a:cubicBezTo>
                        <a:pt x="0" y="81866"/>
                        <a:pt x="0" y="95934"/>
                        <a:pt x="8676" y="104613"/>
                      </a:cubicBezTo>
                      <a:lnTo>
                        <a:pt x="20744" y="116681"/>
                      </a:lnTo>
                      <a:cubicBezTo>
                        <a:pt x="36080" y="132016"/>
                        <a:pt x="60972" y="132016"/>
                        <a:pt x="76307" y="116681"/>
                      </a:cubicBezTo>
                      <a:lnTo>
                        <a:pt x="98532" y="94456"/>
                      </a:lnTo>
                      <a:cubicBezTo>
                        <a:pt x="126150" y="66839"/>
                        <a:pt x="170926" y="66839"/>
                        <a:pt x="198544" y="94456"/>
                      </a:cubicBezTo>
                      <a:lnTo>
                        <a:pt x="248550" y="144462"/>
                      </a:lnTo>
                    </a:path>
                  </a:pathLst>
                </a:custGeom>
                <a:noFill/>
                <a:ln w="33337">
                  <a:solidFill>
                    <a:srgbClr val="FFFFFF"/>
                  </a:solidFill>
                </a:ln>
              </p:spPr>
            </p:sp>
            <p:sp>
              <p:nvSpPr>
                <p:cNvPr id="85" name="Freeform 85"/>
                <p:cNvSpPr/>
                <p:nvPr/>
              </p:nvSpPr>
              <p:spPr>
                <a:xfrm>
                  <a:off x="7250112" y="3392487"/>
                  <a:ext cx="44450" cy="44450"/>
                </a:xfrm>
                <a:custGeom>
                  <a:avLst/>
                  <a:gdLst/>
                  <a:ahLst/>
                  <a:cxnLst/>
                  <a:rect l="l" t="t" r="r" b="b"/>
                  <a:pathLst>
                    <a:path w="44450" h="44450">
                      <a:moveTo>
                        <a:pt x="0" y="0"/>
                      </a:moveTo>
                      <a:lnTo>
                        <a:pt x="44450" y="44450"/>
                      </a:lnTo>
                    </a:path>
                  </a:pathLst>
                </a:custGeom>
                <a:noFill/>
                <a:ln w="33337">
                  <a:solidFill>
                    <a:srgbClr val="FFFFFF"/>
                  </a:solidFill>
                </a:ln>
              </p:spPr>
            </p:sp>
            <p:sp>
              <p:nvSpPr>
                <p:cNvPr id="86" name="Freeform 86"/>
                <p:cNvSpPr/>
                <p:nvPr/>
              </p:nvSpPr>
              <p:spPr>
                <a:xfrm>
                  <a:off x="7305675" y="3336925"/>
                  <a:ext cx="44450" cy="44450"/>
                </a:xfrm>
                <a:custGeom>
                  <a:avLst/>
                  <a:gdLst/>
                  <a:ahLst/>
                  <a:cxnLst/>
                  <a:rect l="l" t="t" r="r" b="b"/>
                  <a:pathLst>
                    <a:path w="44450" h="44450">
                      <a:moveTo>
                        <a:pt x="0" y="0"/>
                      </a:moveTo>
                      <a:lnTo>
                        <a:pt x="44450" y="44450"/>
                      </a:lnTo>
                    </a:path>
                  </a:pathLst>
                </a:custGeom>
                <a:noFill/>
                <a:ln w="33337">
                  <a:solidFill>
                    <a:srgbClr val="FFFFFF"/>
                  </a:solidFill>
                </a:ln>
              </p:spPr>
            </p:sp>
          </p:grpSp>
        </p:grpSp>
        <p:grpSp>
          <p:nvGrpSpPr>
            <p:cNvPr id="95" name="ladder-strategy"/>
            <p:cNvGrpSpPr/>
            <p:nvPr/>
          </p:nvGrpSpPr>
          <p:grpSpPr>
            <a:xfrm>
              <a:off x="4305300" y="4591050"/>
              <a:ext cx="3581400" cy="685800"/>
              <a:chOff x="4305300" y="4591050"/>
              <a:chExt cx="3581400" cy="685800"/>
            </a:xfrm>
          </p:grpSpPr>
          <p:sp>
            <p:nvSpPr>
              <p:cNvPr id="89" name="Rectangle 89"/>
              <p:cNvSpPr/>
              <p:nvPr/>
            </p:nvSpPr>
            <p:spPr>
              <a:xfrm>
                <a:off x="4305300" y="4591050"/>
                <a:ext cx="3581400" cy="685800"/>
              </a:xfrm>
              <a:prstGeom prst="roundRect">
                <a:avLst>
                  <a:gd name="adj" fmla="val 8333"/>
                </a:avLst>
              </a:prstGeom>
              <a:solidFill>
                <a:srgbClr val="F5F8FE"/>
              </a:solidFill>
              <a:ln w="11430">
                <a:solidFill>
                  <a:srgbClr val="E84E2F"/>
                </a:solidFill>
                <a:custDash>
                  <a:ds d="333333" sp="250000"/>
                </a:custDash>
              </a:ln>
            </p:spPr>
          </p:sp>
          <p:grpSp>
            <p:nvGrpSpPr>
              <p:cNvPr id="93" name="Group 93"/>
              <p:cNvGrpSpPr/>
              <p:nvPr/>
            </p:nvGrpSpPr>
            <p:grpSpPr>
              <a:xfrm>
                <a:off x="4500562" y="4805362"/>
                <a:ext cx="257175" cy="257175"/>
                <a:chOff x="4500562" y="4805362"/>
                <a:chExt cx="257175" cy="257175"/>
              </a:xfrm>
            </p:grpSpPr>
            <p:sp>
              <p:nvSpPr>
                <p:cNvPr id="90" name="Freeform 90"/>
                <p:cNvSpPr/>
                <p:nvPr/>
              </p:nvSpPr>
              <p:spPr>
                <a:xfrm>
                  <a:off x="4614862" y="491966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1431">
                  <a:solidFill>
                    <a:srgbClr val="8A1700"/>
                  </a:solidFill>
                </a:ln>
              </p:spPr>
            </p:sp>
            <p:sp>
              <p:nvSpPr>
                <p:cNvPr id="91" name="Freeform 91"/>
                <p:cNvSpPr/>
                <p:nvPr/>
              </p:nvSpPr>
              <p:spPr>
                <a:xfrm>
                  <a:off x="4557712" y="4862512"/>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1431">
                  <a:solidFill>
                    <a:srgbClr val="8A1700"/>
                  </a:solidFill>
                </a:ln>
              </p:spPr>
            </p:sp>
            <p:sp>
              <p:nvSpPr>
                <p:cNvPr id="92" name="Freeform 92"/>
                <p:cNvSpPr/>
                <p:nvPr/>
              </p:nvSpPr>
              <p:spPr>
                <a:xfrm>
                  <a:off x="4500562" y="480536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1431">
                  <a:solidFill>
                    <a:srgbClr val="8A1700"/>
                  </a:solidFill>
                </a:ln>
              </p:spPr>
            </p:sp>
          </p:grpSp>
          <p:sp>
            <p:nvSpPr>
              <p:cNvPr id="94" name="TextBox 94"/>
              <p:cNvSpPr txBox="1"/>
              <p:nvPr/>
            </p:nvSpPr>
            <p:spPr>
              <a:xfrm>
                <a:off x="4948238" y="4775597"/>
                <a:ext cx="1561465" cy="373856"/>
              </a:xfrm>
              <a:prstGeom prst="rect">
                <a:avLst/>
              </a:prstGeom>
              <a:noFill/>
              <a:ln>
                <a:noFill/>
              </a:ln>
            </p:spPr>
            <p:txBody>
              <a:bodyPr wrap="none" lIns="0" tIns="0" rIns="0" bIns="0" anchor="t" anchorCtr="0">
                <a:spAutoFit/>
              </a:bodyPr>
              <a:lstStyle/>
              <a:p>
                <a:pPr algn="l">
                  <a:lnSpc>
                    <a:spcPts val="1500"/>
                  </a:lnSpc>
                </a:pPr>
                <a:r>
                  <a:rPr lang="zh-CN" sz="940" b="1" dirty="0">
                    <a:solidFill>
                      <a:srgbClr val="520E00"/>
                    </a:solidFill>
                    <a:latin typeface="+mn-lt"/>
                    <a:ea typeface="+mn-ea"/>
                    <a:cs typeface="+mn-cs"/>
                  </a:rPr>
                  <a:t>策略：权益提醒、场景优惠、</a:t>
                </a:r>
                <a:br/>
                <a:r>
                  <a:rPr lang="zh-CN" sz="940" b="1" dirty="0">
                    <a:solidFill>
                      <a:srgbClr val="520E00"/>
                    </a:solidFill>
                    <a:latin typeface="+mn-lt"/>
                    <a:ea typeface="+mn-ea"/>
                    <a:cs typeface="+mn-cs"/>
                  </a:rPr>
                  <a:t>额度服务、金融健康诊断</a:t>
                </a:r>
              </a:p>
            </p:txBody>
          </p:sp>
        </p:grpSp>
      </p:grpSp>
      <p:grpSp>
        <p:nvGrpSpPr>
          <p:cNvPr id="124" name="ab-test"/>
          <p:cNvGrpSpPr/>
          <p:nvPr/>
        </p:nvGrpSpPr>
        <p:grpSpPr>
          <a:xfrm>
            <a:off x="7930079" y="800100"/>
            <a:ext cx="4033321" cy="4629150"/>
            <a:chOff x="7930079" y="800100"/>
            <a:chExt cx="4033321" cy="4629150"/>
          </a:xfrm>
        </p:grpSpPr>
        <p:sp>
          <p:nvSpPr>
            <p:cNvPr id="97" name="Rectangle 97"/>
            <p:cNvSpPr/>
            <p:nvPr/>
          </p:nvSpPr>
          <p:spPr>
            <a:xfrm>
              <a:off x="8153400" y="800100"/>
              <a:ext cx="3810000" cy="4629150"/>
            </a:xfrm>
            <a:prstGeom prst="roundRect">
              <a:avLst>
                <a:gd name="adj" fmla="val 2000"/>
              </a:avLst>
            </a:prstGeom>
            <a:solidFill>
              <a:srgbClr val="FFFFFF"/>
            </a:solidFill>
            <a:ln w="9525">
              <a:solidFill>
                <a:srgbClr val="C9D5EA"/>
              </a:solidFill>
            </a:ln>
          </p:spPr>
        </p:sp>
        <p:sp>
          <p:nvSpPr>
            <p:cNvPr id="98" name="Rectangle 98"/>
            <p:cNvSpPr/>
            <p:nvPr/>
          </p:nvSpPr>
          <p:spPr>
            <a:xfrm>
              <a:off x="8153400" y="800100"/>
              <a:ext cx="3810000" cy="381000"/>
            </a:xfrm>
            <a:prstGeom prst="roundRect">
              <a:avLst>
                <a:gd name="adj" fmla="val 20000"/>
              </a:avLst>
            </a:prstGeom>
            <a:solidFill>
              <a:srgbClr val="520E00"/>
            </a:solidFill>
            <a:ln>
              <a:noFill/>
            </a:ln>
          </p:spPr>
        </p:sp>
        <p:sp>
          <p:nvSpPr>
            <p:cNvPr id="99" name="Rectangle 99"/>
            <p:cNvSpPr/>
            <p:nvPr/>
          </p:nvSpPr>
          <p:spPr>
            <a:xfrm>
              <a:off x="8153400" y="1028700"/>
              <a:ext cx="3810000" cy="152400"/>
            </a:xfrm>
            <a:prstGeom prst="rect">
              <a:avLst/>
            </a:prstGeom>
            <a:solidFill>
              <a:srgbClr val="520E00"/>
            </a:solidFill>
            <a:ln>
              <a:noFill/>
            </a:ln>
          </p:spPr>
        </p:sp>
        <p:sp>
          <p:nvSpPr>
            <p:cNvPr id="100" name="TextBox 100"/>
            <p:cNvSpPr txBox="1"/>
            <p:nvPr/>
          </p:nvSpPr>
          <p:spPr>
            <a:xfrm>
              <a:off x="9261881" y="942499"/>
              <a:ext cx="159303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设置对照组，评价真实增量</a:t>
              </a:r>
            </a:p>
          </p:txBody>
        </p:sp>
        <p:sp>
          <p:nvSpPr>
            <p:cNvPr id="101" name="Line 101"/>
            <p:cNvSpPr/>
            <p:nvPr/>
          </p:nvSpPr>
          <p:spPr>
            <a:xfrm>
              <a:off x="8572500" y="1409700"/>
              <a:ext cx="342900" cy="9525"/>
            </a:xfrm>
            <a:custGeom>
              <a:avLst/>
              <a:gdLst/>
              <a:ahLst/>
              <a:cxnLst/>
              <a:rect l="l" t="t" r="r" b="b"/>
              <a:pathLst>
                <a:path w="342900" h="9525">
                  <a:moveTo>
                    <a:pt x="0" y="0"/>
                  </a:moveTo>
                  <a:lnTo>
                    <a:pt x="342900" y="0"/>
                  </a:lnTo>
                </a:path>
              </a:pathLst>
            </a:custGeom>
            <a:noFill/>
            <a:ln w="28575">
              <a:solidFill>
                <a:srgbClr val="8A1700"/>
              </a:solidFill>
            </a:ln>
          </p:spPr>
        </p:sp>
        <p:sp>
          <p:nvSpPr>
            <p:cNvPr id="102" name="TextBox 102"/>
            <p:cNvSpPr txBox="1"/>
            <p:nvPr/>
          </p:nvSpPr>
          <p:spPr>
            <a:xfrm>
              <a:off x="9005888" y="1358741"/>
              <a:ext cx="1003021" cy="161925"/>
            </a:xfrm>
            <a:prstGeom prst="rect">
              <a:avLst/>
            </a:prstGeom>
            <a:noFill/>
            <a:ln>
              <a:noFill/>
            </a:ln>
          </p:spPr>
          <p:txBody>
            <a:bodyPr wrap="none" lIns="0" tIns="0" rIns="0" bIns="0" anchor="t" anchorCtr="0">
              <a:spAutoFit/>
            </a:bodyPr>
            <a:lstStyle/>
            <a:p>
              <a:pPr algn="l"/>
              <a:r>
                <a:rPr lang="zh-CN" sz="820" dirty="0">
                  <a:solidFill>
                    <a:srgbClr val="60403A"/>
                  </a:solidFill>
                  <a:latin typeface="+mn-lt"/>
                  <a:ea typeface="+mn-ea"/>
                  <a:cs typeface="+mn-cs"/>
                </a:rPr>
                <a:t>处理组（唤醒策略）</a:t>
              </a:r>
            </a:p>
          </p:txBody>
        </p:sp>
        <p:sp>
          <p:nvSpPr>
            <p:cNvPr id="103" name="Line 103"/>
            <p:cNvSpPr/>
            <p:nvPr/>
          </p:nvSpPr>
          <p:spPr>
            <a:xfrm>
              <a:off x="8572500" y="1638300"/>
              <a:ext cx="342900" cy="9525"/>
            </a:xfrm>
            <a:custGeom>
              <a:avLst/>
              <a:gdLst/>
              <a:ahLst/>
              <a:cxnLst/>
              <a:rect l="l" t="t" r="r" b="b"/>
              <a:pathLst>
                <a:path w="342900" h="9525">
                  <a:moveTo>
                    <a:pt x="0" y="0"/>
                  </a:moveTo>
                  <a:lnTo>
                    <a:pt x="342900" y="0"/>
                  </a:lnTo>
                </a:path>
              </a:pathLst>
            </a:custGeom>
            <a:noFill/>
            <a:ln w="23812">
              <a:solidFill>
                <a:srgbClr val="8A94A8"/>
              </a:solidFill>
              <a:custDash>
                <a:ds d="200000" sp="120000"/>
              </a:custDash>
            </a:ln>
          </p:spPr>
        </p:sp>
        <p:sp>
          <p:nvSpPr>
            <p:cNvPr id="104" name="TextBox 104"/>
            <p:cNvSpPr txBox="1"/>
            <p:nvPr/>
          </p:nvSpPr>
          <p:spPr>
            <a:xfrm>
              <a:off x="9005888" y="1587341"/>
              <a:ext cx="1003021" cy="161925"/>
            </a:xfrm>
            <a:prstGeom prst="rect">
              <a:avLst/>
            </a:prstGeom>
            <a:noFill/>
            <a:ln>
              <a:noFill/>
            </a:ln>
          </p:spPr>
          <p:txBody>
            <a:bodyPr wrap="none" lIns="0" tIns="0" rIns="0" bIns="0" anchor="t" anchorCtr="0">
              <a:spAutoFit/>
            </a:bodyPr>
            <a:lstStyle/>
            <a:p>
              <a:pPr algn="l"/>
              <a:r>
                <a:rPr lang="zh-CN" sz="820" dirty="0">
                  <a:solidFill>
                    <a:srgbClr val="60403A"/>
                  </a:solidFill>
                  <a:latin typeface="+mn-lt"/>
                  <a:ea typeface="+mn-ea"/>
                  <a:cs typeface="+mn-cs"/>
                </a:rPr>
                <a:t>对照组（常规触达）</a:t>
              </a:r>
            </a:p>
          </p:txBody>
        </p:sp>
        <p:sp>
          <p:nvSpPr>
            <p:cNvPr id="105" name="Line 105"/>
            <p:cNvSpPr/>
            <p:nvPr/>
          </p:nvSpPr>
          <p:spPr>
            <a:xfrm>
              <a:off x="8763000" y="1905000"/>
              <a:ext cx="9525" cy="2571750"/>
            </a:xfrm>
            <a:custGeom>
              <a:avLst/>
              <a:gdLst/>
              <a:ahLst/>
              <a:cxnLst/>
              <a:rect l="l" t="t" r="r" b="b"/>
              <a:pathLst>
                <a:path w="9525" h="2571750">
                  <a:moveTo>
                    <a:pt x="0" y="0"/>
                  </a:moveTo>
                  <a:lnTo>
                    <a:pt x="0" y="2571750"/>
                  </a:lnTo>
                </a:path>
              </a:pathLst>
            </a:custGeom>
            <a:noFill/>
            <a:ln w="14288">
              <a:solidFill>
                <a:srgbClr val="8A94A8"/>
              </a:solidFill>
            </a:ln>
          </p:spPr>
        </p:sp>
        <p:sp>
          <p:nvSpPr>
            <p:cNvPr id="106" name="Line 106"/>
            <p:cNvSpPr/>
            <p:nvPr/>
          </p:nvSpPr>
          <p:spPr>
            <a:xfrm>
              <a:off x="8763000" y="4476750"/>
              <a:ext cx="2857500" cy="9525"/>
            </a:xfrm>
            <a:custGeom>
              <a:avLst/>
              <a:gdLst/>
              <a:ahLst/>
              <a:cxnLst/>
              <a:rect l="l" t="t" r="r" b="b"/>
              <a:pathLst>
                <a:path w="2857500" h="9525">
                  <a:moveTo>
                    <a:pt x="0" y="0"/>
                  </a:moveTo>
                  <a:lnTo>
                    <a:pt x="2857500" y="0"/>
                  </a:lnTo>
                </a:path>
              </a:pathLst>
            </a:custGeom>
            <a:noFill/>
            <a:ln w="14288">
              <a:solidFill>
                <a:srgbClr val="8A94A8"/>
              </a:solidFill>
            </a:ln>
          </p:spPr>
        </p:sp>
        <p:sp>
          <p:nvSpPr>
            <p:cNvPr id="107" name="TextBox 107"/>
            <p:cNvSpPr txBox="1"/>
            <p:nvPr/>
          </p:nvSpPr>
          <p:spPr>
            <a:xfrm rot="-5400000">
              <a:off x="7930079" y="3062288"/>
              <a:ext cx="925749"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唤醒率提升（%）​</a:t>
              </a:r>
            </a:p>
          </p:txBody>
        </p:sp>
        <p:sp>
          <p:nvSpPr>
            <p:cNvPr id="108" name="TextBox 108"/>
            <p:cNvSpPr txBox="1"/>
            <p:nvPr/>
          </p:nvSpPr>
          <p:spPr>
            <a:xfrm>
              <a:off x="8702707" y="4586288"/>
              <a:ext cx="120586" cy="147638"/>
            </a:xfrm>
            <a:prstGeom prst="rect">
              <a:avLst/>
            </a:prstGeom>
            <a:noFill/>
            <a:ln>
              <a:noFill/>
            </a:ln>
          </p:spPr>
          <p:txBody>
            <a:bodyPr wrap="none" lIns="0" tIns="0" rIns="0" bIns="0" anchor="t" anchorCtr="0">
              <a:spAutoFit/>
            </a:bodyPr>
            <a:lstStyle/>
            <a:p>
              <a:pPr algn="ctr"/>
              <a:r>
                <a:rPr lang="zh-CN" sz="750" dirty="0">
                  <a:solidFill>
                    <a:srgbClr val="60403A"/>
                  </a:solidFill>
                  <a:latin typeface="+mn-lt"/>
                  <a:ea typeface="+mn-ea"/>
                  <a:cs typeface="+mn-cs"/>
                </a:rPr>
                <a:t>0​</a:t>
              </a:r>
            </a:p>
          </p:txBody>
        </p:sp>
        <p:sp>
          <p:nvSpPr>
            <p:cNvPr id="109" name="TextBox 109"/>
            <p:cNvSpPr txBox="1"/>
            <p:nvPr/>
          </p:nvSpPr>
          <p:spPr>
            <a:xfrm>
              <a:off x="9532191" y="4586288"/>
              <a:ext cx="176117" cy="147638"/>
            </a:xfrm>
            <a:prstGeom prst="rect">
              <a:avLst/>
            </a:prstGeom>
            <a:noFill/>
            <a:ln>
              <a:noFill/>
            </a:ln>
          </p:spPr>
          <p:txBody>
            <a:bodyPr wrap="none" lIns="0" tIns="0" rIns="0" bIns="0" anchor="t" anchorCtr="0">
              <a:spAutoFit/>
            </a:bodyPr>
            <a:lstStyle/>
            <a:p>
              <a:pPr algn="ctr"/>
              <a:r>
                <a:rPr lang="zh-CN" sz="750" dirty="0">
                  <a:solidFill>
                    <a:srgbClr val="60403A"/>
                  </a:solidFill>
                  <a:latin typeface="+mn-lt"/>
                  <a:ea typeface="+mn-ea"/>
                  <a:cs typeface="+mn-cs"/>
                </a:rPr>
                <a:t>30​</a:t>
              </a:r>
            </a:p>
          </p:txBody>
        </p:sp>
        <p:sp>
          <p:nvSpPr>
            <p:cNvPr id="110" name="TextBox 110"/>
            <p:cNvSpPr txBox="1"/>
            <p:nvPr/>
          </p:nvSpPr>
          <p:spPr>
            <a:xfrm>
              <a:off x="10389441" y="4586288"/>
              <a:ext cx="176117" cy="147638"/>
            </a:xfrm>
            <a:prstGeom prst="rect">
              <a:avLst/>
            </a:prstGeom>
            <a:noFill/>
            <a:ln>
              <a:noFill/>
            </a:ln>
          </p:spPr>
          <p:txBody>
            <a:bodyPr wrap="none" lIns="0" tIns="0" rIns="0" bIns="0" anchor="t" anchorCtr="0">
              <a:spAutoFit/>
            </a:bodyPr>
            <a:lstStyle/>
            <a:p>
              <a:pPr algn="ctr"/>
              <a:r>
                <a:rPr lang="zh-CN" sz="750" dirty="0">
                  <a:solidFill>
                    <a:srgbClr val="60403A"/>
                  </a:solidFill>
                  <a:latin typeface="+mn-lt"/>
                  <a:ea typeface="+mn-ea"/>
                  <a:cs typeface="+mn-cs"/>
                </a:rPr>
                <a:t>60​</a:t>
              </a:r>
            </a:p>
          </p:txBody>
        </p:sp>
        <p:sp>
          <p:nvSpPr>
            <p:cNvPr id="111" name="TextBox 111"/>
            <p:cNvSpPr txBox="1"/>
            <p:nvPr/>
          </p:nvSpPr>
          <p:spPr>
            <a:xfrm>
              <a:off x="11246691" y="4586288"/>
              <a:ext cx="176117" cy="147638"/>
            </a:xfrm>
            <a:prstGeom prst="rect">
              <a:avLst/>
            </a:prstGeom>
            <a:noFill/>
            <a:ln>
              <a:noFill/>
            </a:ln>
          </p:spPr>
          <p:txBody>
            <a:bodyPr wrap="none" lIns="0" tIns="0" rIns="0" bIns="0" anchor="t" anchorCtr="0">
              <a:spAutoFit/>
            </a:bodyPr>
            <a:lstStyle/>
            <a:p>
              <a:pPr algn="ctr"/>
              <a:r>
                <a:rPr lang="zh-CN" sz="750" dirty="0">
                  <a:solidFill>
                    <a:srgbClr val="60403A"/>
                  </a:solidFill>
                  <a:latin typeface="+mn-lt"/>
                  <a:ea typeface="+mn-ea"/>
                  <a:cs typeface="+mn-cs"/>
                </a:rPr>
                <a:t>90​</a:t>
              </a:r>
            </a:p>
          </p:txBody>
        </p:sp>
        <p:sp>
          <p:nvSpPr>
            <p:cNvPr id="112" name="TextBox 112"/>
            <p:cNvSpPr txBox="1"/>
            <p:nvPr/>
          </p:nvSpPr>
          <p:spPr>
            <a:xfrm>
              <a:off x="9911016" y="4806791"/>
              <a:ext cx="561467"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时间（天）</a:t>
              </a:r>
            </a:p>
          </p:txBody>
        </p:sp>
        <p:sp>
          <p:nvSpPr>
            <p:cNvPr id="113" name="Polyline 113"/>
            <p:cNvSpPr/>
            <p:nvPr/>
          </p:nvSpPr>
          <p:spPr>
            <a:xfrm>
              <a:off x="8763000" y="3676650"/>
              <a:ext cx="2571750" cy="800100"/>
            </a:xfrm>
            <a:custGeom>
              <a:avLst/>
              <a:gdLst/>
              <a:ahLst/>
              <a:cxnLst/>
              <a:rect l="l" t="t" r="r" b="b"/>
              <a:pathLst>
                <a:path w="2571750" h="800100">
                  <a:moveTo>
                    <a:pt x="0" y="800100"/>
                  </a:moveTo>
                  <a:lnTo>
                    <a:pt x="857250" y="571500"/>
                  </a:lnTo>
                  <a:lnTo>
                    <a:pt x="1714500" y="342900"/>
                  </a:lnTo>
                  <a:lnTo>
                    <a:pt x="2571750" y="0"/>
                  </a:lnTo>
                </a:path>
              </a:pathLst>
            </a:custGeom>
            <a:noFill/>
            <a:ln w="23812">
              <a:solidFill>
                <a:srgbClr val="8A94A8"/>
              </a:solidFill>
              <a:custDash>
                <a:ds d="200000" sp="120000"/>
              </a:custDash>
            </a:ln>
          </p:spPr>
        </p:sp>
        <p:sp>
          <p:nvSpPr>
            <p:cNvPr id="114" name="Polyline 114"/>
            <p:cNvSpPr/>
            <p:nvPr/>
          </p:nvSpPr>
          <p:spPr>
            <a:xfrm>
              <a:off x="8763000" y="2190750"/>
              <a:ext cx="2571750" cy="2286000"/>
            </a:xfrm>
            <a:custGeom>
              <a:avLst/>
              <a:gdLst/>
              <a:ahLst/>
              <a:cxnLst/>
              <a:rect l="l" t="t" r="r" b="b"/>
              <a:pathLst>
                <a:path w="2571750" h="2286000">
                  <a:moveTo>
                    <a:pt x="0" y="2286000"/>
                  </a:moveTo>
                  <a:lnTo>
                    <a:pt x="857250" y="1828800"/>
                  </a:lnTo>
                  <a:lnTo>
                    <a:pt x="1714500" y="1143000"/>
                  </a:lnTo>
                  <a:lnTo>
                    <a:pt x="2571750" y="0"/>
                  </a:lnTo>
                </a:path>
              </a:pathLst>
            </a:custGeom>
            <a:noFill/>
            <a:ln w="28575">
              <a:solidFill>
                <a:srgbClr val="8A1700"/>
              </a:solidFill>
            </a:ln>
          </p:spPr>
        </p:sp>
        <p:sp>
          <p:nvSpPr>
            <p:cNvPr id="115" name="Ellipse 115"/>
            <p:cNvSpPr/>
            <p:nvPr/>
          </p:nvSpPr>
          <p:spPr>
            <a:xfrm>
              <a:off x="8724900" y="4438650"/>
              <a:ext cx="76200" cy="76200"/>
            </a:xfrm>
            <a:prstGeom prst="ellipse">
              <a:avLst/>
            </a:prstGeom>
            <a:solidFill>
              <a:srgbClr val="8A1700"/>
            </a:solidFill>
            <a:ln>
              <a:noFill/>
            </a:ln>
          </p:spPr>
        </p:sp>
        <p:sp>
          <p:nvSpPr>
            <p:cNvPr id="116" name="Ellipse 116"/>
            <p:cNvSpPr/>
            <p:nvPr/>
          </p:nvSpPr>
          <p:spPr>
            <a:xfrm>
              <a:off x="9582150" y="3981450"/>
              <a:ext cx="76200" cy="76200"/>
            </a:xfrm>
            <a:prstGeom prst="ellipse">
              <a:avLst/>
            </a:prstGeom>
            <a:solidFill>
              <a:srgbClr val="8A1700"/>
            </a:solidFill>
            <a:ln>
              <a:noFill/>
            </a:ln>
          </p:spPr>
        </p:sp>
        <p:sp>
          <p:nvSpPr>
            <p:cNvPr id="117" name="Ellipse 117"/>
            <p:cNvSpPr/>
            <p:nvPr/>
          </p:nvSpPr>
          <p:spPr>
            <a:xfrm>
              <a:off x="10439400" y="3295650"/>
              <a:ext cx="76200" cy="76200"/>
            </a:xfrm>
            <a:prstGeom prst="ellipse">
              <a:avLst/>
            </a:prstGeom>
            <a:solidFill>
              <a:srgbClr val="8A1700"/>
            </a:solidFill>
            <a:ln>
              <a:noFill/>
            </a:ln>
          </p:spPr>
        </p:sp>
        <p:sp>
          <p:nvSpPr>
            <p:cNvPr id="118" name="Ellipse 118"/>
            <p:cNvSpPr/>
            <p:nvPr/>
          </p:nvSpPr>
          <p:spPr>
            <a:xfrm>
              <a:off x="11296650" y="2152650"/>
              <a:ext cx="76200" cy="76200"/>
            </a:xfrm>
            <a:prstGeom prst="ellipse">
              <a:avLst/>
            </a:prstGeom>
            <a:solidFill>
              <a:srgbClr val="8A1700"/>
            </a:solidFill>
            <a:ln>
              <a:noFill/>
            </a:ln>
          </p:spPr>
        </p:sp>
        <p:sp>
          <p:nvSpPr>
            <p:cNvPr id="119" name="Ellipse 119"/>
            <p:cNvSpPr/>
            <p:nvPr/>
          </p:nvSpPr>
          <p:spPr>
            <a:xfrm>
              <a:off x="9586912" y="4214812"/>
              <a:ext cx="66675" cy="66675"/>
            </a:xfrm>
            <a:prstGeom prst="ellipse">
              <a:avLst/>
            </a:prstGeom>
            <a:solidFill>
              <a:srgbClr val="8A94A8"/>
            </a:solidFill>
            <a:ln>
              <a:noFill/>
            </a:ln>
          </p:spPr>
        </p:sp>
        <p:sp>
          <p:nvSpPr>
            <p:cNvPr id="120" name="Ellipse 120"/>
            <p:cNvSpPr/>
            <p:nvPr/>
          </p:nvSpPr>
          <p:spPr>
            <a:xfrm>
              <a:off x="10444162" y="3986212"/>
              <a:ext cx="66675" cy="66675"/>
            </a:xfrm>
            <a:prstGeom prst="ellipse">
              <a:avLst/>
            </a:prstGeom>
            <a:solidFill>
              <a:srgbClr val="8A94A8"/>
            </a:solidFill>
            <a:ln>
              <a:noFill/>
            </a:ln>
          </p:spPr>
        </p:sp>
        <p:sp>
          <p:nvSpPr>
            <p:cNvPr id="121" name="Ellipse 121"/>
            <p:cNvSpPr/>
            <p:nvPr/>
          </p:nvSpPr>
          <p:spPr>
            <a:xfrm>
              <a:off x="11301412" y="3643312"/>
              <a:ext cx="66675" cy="66675"/>
            </a:xfrm>
            <a:prstGeom prst="ellipse">
              <a:avLst/>
            </a:prstGeom>
            <a:solidFill>
              <a:srgbClr val="8A94A8"/>
            </a:solidFill>
            <a:ln>
              <a:noFill/>
            </a:ln>
          </p:spPr>
        </p:sp>
        <p:sp>
          <p:nvSpPr>
            <p:cNvPr id="122" name="Line 122"/>
            <p:cNvSpPr/>
            <p:nvPr/>
          </p:nvSpPr>
          <p:spPr>
            <a:xfrm>
              <a:off x="11430000" y="2305050"/>
              <a:ext cx="1" cy="1257300"/>
            </a:xfrm>
            <a:prstGeom prst="line">
              <a:avLst/>
            </a:prstGeom>
            <a:noFill/>
            <a:ln w="19050">
              <a:solidFill>
                <a:srgbClr val="C02C0A"/>
              </a:solidFill>
              <a:headEnd type="triangle" w="lg" len="lg"/>
              <a:tailEnd type="triangle" w="lg" len="lg"/>
            </a:ln>
          </p:spPr>
        </p:sp>
        <p:sp>
          <p:nvSpPr>
            <p:cNvPr id="123" name="TextBox 123"/>
            <p:cNvSpPr txBox="1"/>
            <p:nvPr/>
          </p:nvSpPr>
          <p:spPr>
            <a:xfrm>
              <a:off x="11558588" y="2798445"/>
              <a:ext cx="238125" cy="328612"/>
            </a:xfrm>
            <a:prstGeom prst="rect">
              <a:avLst/>
            </a:prstGeom>
            <a:noFill/>
            <a:ln>
              <a:noFill/>
            </a:ln>
          </p:spPr>
          <p:txBody>
            <a:bodyPr wrap="none" lIns="0" tIns="0" rIns="0" bIns="0" anchor="t" anchorCtr="0">
              <a:spAutoFit/>
            </a:bodyPr>
            <a:lstStyle/>
            <a:p>
              <a:pPr algn="ctr">
                <a:lnSpc>
                  <a:spcPts val="1200"/>
                </a:lnSpc>
              </a:pPr>
              <a:r>
                <a:rPr lang="zh-CN" sz="900" b="1" dirty="0">
                  <a:solidFill>
                    <a:srgbClr val="C02C0A"/>
                  </a:solidFill>
                  <a:latin typeface="+mn-lt"/>
                  <a:ea typeface="+mn-ea"/>
                  <a:cs typeface="+mn-cs"/>
                </a:rPr>
                <a:t>真实</a:t>
              </a:r>
              <a:br/>
              <a:r>
                <a:rPr lang="zh-CN" sz="900" b="1" dirty="0">
                  <a:solidFill>
                    <a:srgbClr val="C02C0A"/>
                  </a:solidFill>
                  <a:latin typeface="+mn-lt"/>
                  <a:ea typeface="+mn-ea"/>
                  <a:cs typeface="+mn-cs"/>
                </a:rPr>
                <a:t>增量</a:t>
              </a:r>
            </a:p>
          </p:txBody>
        </p:sp>
      </p:grpSp>
      <p:grpSp>
        <p:nvGrpSpPr>
          <p:cNvPr id="131" name="goal-banner"/>
          <p:cNvGrpSpPr/>
          <p:nvPr/>
        </p:nvGrpSpPr>
        <p:grpSpPr>
          <a:xfrm>
            <a:off x="228600" y="5581650"/>
            <a:ext cx="11734800" cy="857250"/>
            <a:chOff x="228600" y="5581650"/>
            <a:chExt cx="11734800" cy="857250"/>
          </a:xfrm>
        </p:grpSpPr>
        <p:sp>
          <p:nvSpPr>
            <p:cNvPr id="125" name="Rectangle 125"/>
            <p:cNvSpPr/>
            <p:nvPr/>
          </p:nvSpPr>
          <p:spPr>
            <a:xfrm>
              <a:off x="228600" y="5581650"/>
              <a:ext cx="11734800" cy="857250"/>
            </a:xfrm>
            <a:prstGeom prst="roundRect">
              <a:avLst>
                <a:gd name="adj" fmla="val 8889"/>
              </a:avLst>
            </a:prstGeom>
            <a:solidFill>
              <a:srgbClr val="FFFFFF"/>
            </a:solidFill>
            <a:ln w="19050">
              <a:solidFill>
                <a:srgbClr val="8A1700"/>
              </a:solidFill>
            </a:ln>
          </p:spPr>
        </p:sp>
        <p:grpSp>
          <p:nvGrpSpPr>
            <p:cNvPr id="129" name="Group 129"/>
            <p:cNvGrpSpPr/>
            <p:nvPr/>
          </p:nvGrpSpPr>
          <p:grpSpPr>
            <a:xfrm>
              <a:off x="2921794" y="5817394"/>
              <a:ext cx="385762" cy="385762"/>
              <a:chOff x="2921794" y="5817394"/>
              <a:chExt cx="385762" cy="385762"/>
            </a:xfrm>
          </p:grpSpPr>
          <p:sp>
            <p:nvSpPr>
              <p:cNvPr id="126" name="Freeform 126"/>
              <p:cNvSpPr/>
              <p:nvPr/>
            </p:nvSpPr>
            <p:spPr>
              <a:xfrm>
                <a:off x="3093244" y="5988844"/>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32147">
                <a:solidFill>
                  <a:srgbClr val="8A1700"/>
                </a:solidFill>
              </a:ln>
            </p:spPr>
          </p:sp>
          <p:sp>
            <p:nvSpPr>
              <p:cNvPr id="127" name="Freeform 127"/>
              <p:cNvSpPr/>
              <p:nvPr/>
            </p:nvSpPr>
            <p:spPr>
              <a:xfrm>
                <a:off x="3007519" y="59031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32147">
                <a:solidFill>
                  <a:srgbClr val="8A1700"/>
                </a:solidFill>
              </a:ln>
            </p:spPr>
          </p:sp>
          <p:sp>
            <p:nvSpPr>
              <p:cNvPr id="128" name="Freeform 128"/>
              <p:cNvSpPr/>
              <p:nvPr/>
            </p:nvSpPr>
            <p:spPr>
              <a:xfrm>
                <a:off x="2921794" y="5817394"/>
                <a:ext cx="385762" cy="385762"/>
              </a:xfrm>
              <a:custGeom>
                <a:avLst/>
                <a:gdLst/>
                <a:ahLst/>
                <a:cxnLst/>
                <a:rect l="l" t="t" r="r" b="b"/>
                <a:pathLst>
                  <a:path w="385762" h="385762">
                    <a:moveTo>
                      <a:pt x="0" y="192881"/>
                    </a:moveTo>
                    <a:cubicBezTo>
                      <a:pt x="0" y="299407"/>
                      <a:pt x="86356" y="385762"/>
                      <a:pt x="192881" y="385762"/>
                    </a:cubicBezTo>
                    <a:cubicBezTo>
                      <a:pt x="299407" y="385762"/>
                      <a:pt x="385762" y="299407"/>
                      <a:pt x="385762" y="192881"/>
                    </a:cubicBezTo>
                    <a:cubicBezTo>
                      <a:pt x="385762" y="86356"/>
                      <a:pt x="299407" y="0"/>
                      <a:pt x="192881" y="0"/>
                    </a:cubicBezTo>
                    <a:cubicBezTo>
                      <a:pt x="86356" y="0"/>
                      <a:pt x="0" y="86356"/>
                      <a:pt x="0" y="192881"/>
                    </a:cubicBezTo>
                  </a:path>
                </a:pathLst>
              </a:custGeom>
              <a:noFill/>
              <a:ln w="32147">
                <a:solidFill>
                  <a:srgbClr val="8A1700"/>
                </a:solidFill>
              </a:ln>
            </p:spPr>
          </p:sp>
        </p:grpSp>
        <p:sp>
          <p:nvSpPr>
            <p:cNvPr id="130" name="TextBox 130"/>
            <p:cNvSpPr txBox="1"/>
            <p:nvPr/>
          </p:nvSpPr>
          <p:spPr>
            <a:xfrm>
              <a:off x="3608070" y="5929312"/>
              <a:ext cx="3579302" cy="440055"/>
            </a:xfrm>
            <a:prstGeom prst="rect">
              <a:avLst/>
            </a:prstGeom>
            <a:noFill/>
            <a:ln>
              <a:noFill/>
            </a:ln>
          </p:spPr>
          <p:txBody>
            <a:bodyPr wrap="none" lIns="0" tIns="0" rIns="0" bIns="0" anchor="t" anchorCtr="0">
              <a:spAutoFit/>
            </a:bodyPr>
            <a:lstStyle/>
            <a:p>
              <a:pPr algn="l"/>
              <a:r>
                <a:rPr lang="zh-CN" sz="2250" b="1" dirty="0">
                  <a:solidFill>
                    <a:srgbClr val="520E00"/>
                  </a:solidFill>
                  <a:latin typeface="+mn-lt"/>
                  <a:ea typeface="+mn-ea"/>
                  <a:cs typeface="+mn-cs"/>
                </a:rPr>
                <a:t xml:space="preserve">目标：沉默唤醒率 </a:t>
              </a:r>
              <a:r>
                <a:rPr lang="zh-CN" sz="3300" b="1" dirty="0">
                  <a:solidFill>
                    <a:srgbClr val="C02C0A"/>
                  </a:solidFill>
                  <a:latin typeface="+mn-lt"/>
                  <a:ea typeface="+mn-ea"/>
                  <a:cs typeface="+mn-cs"/>
                </a:rPr>
                <a:t>15%</a:t>
              </a:r>
              <a:r>
                <a:rPr lang="zh-CN" sz="2250" b="1" dirty="0">
                  <a:solidFill>
                    <a:srgbClr val="520E00"/>
                  </a:solidFill>
                  <a:latin typeface="+mn-lt"/>
                  <a:ea typeface="+mn-ea"/>
                  <a:cs typeface="+mn-cs"/>
                </a:rPr>
                <a:t>​</a:t>
              </a:r>
            </a:p>
          </p:txBody>
        </p:sp>
      </p:gr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15​</a:t>
              </a:r>
            </a:p>
          </p:txBody>
        </p:sp>
        <p:sp>
          <p:nvSpPr>
            <p:cNvPr id="4" name="TextBox 4"/>
            <p:cNvSpPr txBox="1"/>
            <p:nvPr/>
          </p:nvSpPr>
          <p:spPr>
            <a:xfrm>
              <a:off x="942594" y="151448"/>
              <a:ext cx="7508748"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流失预警与挽回：高价值客户需要服务修复，而不是单纯补贴</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62" name="signal-radar"/>
          <p:cNvGrpSpPr/>
          <p:nvPr/>
        </p:nvGrpSpPr>
        <p:grpSpPr>
          <a:xfrm>
            <a:off x="228600" y="800100"/>
            <a:ext cx="3486150" cy="3752850"/>
            <a:chOff x="228600" y="800100"/>
            <a:chExt cx="3486150" cy="3752850"/>
          </a:xfrm>
        </p:grpSpPr>
        <p:sp>
          <p:nvSpPr>
            <p:cNvPr id="7" name="Rectangle 7"/>
            <p:cNvSpPr/>
            <p:nvPr/>
          </p:nvSpPr>
          <p:spPr>
            <a:xfrm>
              <a:off x="228600" y="800100"/>
              <a:ext cx="3486150" cy="3752850"/>
            </a:xfrm>
            <a:prstGeom prst="roundRect">
              <a:avLst>
                <a:gd name="adj" fmla="val 2186"/>
              </a:avLst>
            </a:prstGeom>
            <a:solidFill>
              <a:srgbClr val="FFFFFF"/>
            </a:solidFill>
            <a:ln w="9525">
              <a:solidFill>
                <a:srgbClr val="C9D5EA"/>
              </a:solidFill>
            </a:ln>
          </p:spPr>
        </p:sp>
        <p:sp>
          <p:nvSpPr>
            <p:cNvPr id="8" name="Rectangle 8"/>
            <p:cNvSpPr/>
            <p:nvPr/>
          </p:nvSpPr>
          <p:spPr>
            <a:xfrm>
              <a:off x="228600" y="800100"/>
              <a:ext cx="3486150" cy="495300"/>
            </a:xfrm>
            <a:prstGeom prst="roundRect">
              <a:avLst>
                <a:gd name="adj" fmla="val 15385"/>
              </a:avLst>
            </a:prstGeom>
            <a:solidFill>
              <a:srgbClr val="C02C0A"/>
            </a:solidFill>
            <a:ln>
              <a:noFill/>
            </a:ln>
          </p:spPr>
        </p:sp>
        <p:sp>
          <p:nvSpPr>
            <p:cNvPr id="9" name="Rectangle 9"/>
            <p:cNvSpPr/>
            <p:nvPr/>
          </p:nvSpPr>
          <p:spPr>
            <a:xfrm>
              <a:off x="228600" y="1143000"/>
              <a:ext cx="3486150" cy="152400"/>
            </a:xfrm>
            <a:prstGeom prst="rect">
              <a:avLst/>
            </a:prstGeom>
            <a:solidFill>
              <a:srgbClr val="C02C0A"/>
            </a:solidFill>
            <a:ln>
              <a:noFill/>
            </a:ln>
          </p:spPr>
        </p:sp>
        <p:sp>
          <p:nvSpPr>
            <p:cNvPr id="10" name="TextBox 10"/>
            <p:cNvSpPr txBox="1"/>
            <p:nvPr/>
          </p:nvSpPr>
          <p:spPr>
            <a:xfrm>
              <a:off x="1011872" y="908447"/>
              <a:ext cx="1919605" cy="354806"/>
            </a:xfrm>
            <a:prstGeom prst="rect">
              <a:avLst/>
            </a:prstGeom>
            <a:noFill/>
            <a:ln>
              <a:noFill/>
            </a:ln>
          </p:spPr>
          <p:txBody>
            <a:bodyPr wrap="none" lIns="0" tIns="0" rIns="0" bIns="0" anchor="t" anchorCtr="0">
              <a:spAutoFit/>
            </a:bodyPr>
            <a:lstStyle/>
            <a:p>
              <a:pPr algn="ctr">
                <a:lnSpc>
                  <a:spcPts val="1350"/>
                </a:lnSpc>
              </a:pPr>
              <a:r>
                <a:rPr lang="zh-CN" sz="940" b="1" dirty="0">
                  <a:solidFill>
                    <a:srgbClr val="FFFFFF"/>
                  </a:solidFill>
                  <a:latin typeface="+mn-lt"/>
                  <a:ea typeface="+mn-ea"/>
                  <a:cs typeface="+mn-cs"/>
                </a:rPr>
                <a:t>预流失信号：活跃下降、权益中断、</a:t>
              </a:r>
              <a:br/>
              <a:r>
                <a:rPr lang="zh-CN" sz="940" b="1" dirty="0">
                  <a:solidFill>
                    <a:srgbClr val="FFFFFF"/>
                  </a:solidFill>
                  <a:latin typeface="+mn-lt"/>
                  <a:ea typeface="+mn-ea"/>
                  <a:cs typeface="+mn-cs"/>
                </a:rPr>
                <a:t>投诉增加、额度闲置、销卡咨询</a:t>
              </a:r>
            </a:p>
          </p:txBody>
        </p:sp>
        <p:sp>
          <p:nvSpPr>
            <p:cNvPr id="11" name="Ellipse 11"/>
            <p:cNvSpPr/>
            <p:nvPr/>
          </p:nvSpPr>
          <p:spPr>
            <a:xfrm>
              <a:off x="847725" y="2019300"/>
              <a:ext cx="2247900" cy="2247900"/>
            </a:xfrm>
            <a:prstGeom prst="ellipse">
              <a:avLst/>
            </a:prstGeom>
            <a:noFill/>
            <a:ln w="9525">
              <a:solidFill>
                <a:srgbClr val="F0CAC4"/>
              </a:solidFill>
              <a:custDash>
                <a:ds d="300000" sp="300000"/>
              </a:custDash>
            </a:ln>
          </p:spPr>
        </p:sp>
        <p:sp>
          <p:nvSpPr>
            <p:cNvPr id="12" name="Ellipse 12"/>
            <p:cNvSpPr/>
            <p:nvPr/>
          </p:nvSpPr>
          <p:spPr>
            <a:xfrm>
              <a:off x="1209675" y="2381250"/>
              <a:ext cx="1524000" cy="1524000"/>
            </a:xfrm>
            <a:prstGeom prst="ellipse">
              <a:avLst/>
            </a:prstGeom>
            <a:noFill/>
            <a:ln w="9525">
              <a:solidFill>
                <a:srgbClr val="F0CAC4"/>
              </a:solidFill>
              <a:custDash>
                <a:ds d="300000" sp="300000"/>
              </a:custDash>
            </a:ln>
          </p:spPr>
        </p:sp>
        <p:sp>
          <p:nvSpPr>
            <p:cNvPr id="13" name="Ellipse 13"/>
            <p:cNvSpPr/>
            <p:nvPr/>
          </p:nvSpPr>
          <p:spPr>
            <a:xfrm>
              <a:off x="1571625" y="2743200"/>
              <a:ext cx="800100" cy="800100"/>
            </a:xfrm>
            <a:prstGeom prst="ellipse">
              <a:avLst/>
            </a:prstGeom>
            <a:noFill/>
            <a:ln w="9525">
              <a:solidFill>
                <a:srgbClr val="F0CAC4"/>
              </a:solidFill>
              <a:custDash>
                <a:ds d="300000" sp="300000"/>
              </a:custDash>
            </a:ln>
          </p:spPr>
        </p:sp>
        <p:sp>
          <p:nvSpPr>
            <p:cNvPr id="14" name="Freeform 14"/>
            <p:cNvSpPr/>
            <p:nvPr/>
          </p:nvSpPr>
          <p:spPr>
            <a:xfrm>
              <a:off x="1114425" y="2238375"/>
              <a:ext cx="1714500" cy="1638300"/>
            </a:xfrm>
            <a:prstGeom prst="pentagon">
              <a:avLst/>
            </a:prstGeom>
            <a:solidFill>
              <a:srgbClr val="F5BEB5">
                <a:alpha val="55000"/>
              </a:srgbClr>
            </a:solidFill>
            <a:ln w="19050">
              <a:solidFill>
                <a:srgbClr val="C02C0A"/>
              </a:solidFill>
            </a:ln>
          </p:spPr>
        </p:sp>
        <p:sp>
          <p:nvSpPr>
            <p:cNvPr id="15" name="Line 15"/>
            <p:cNvSpPr/>
            <p:nvPr/>
          </p:nvSpPr>
          <p:spPr>
            <a:xfrm>
              <a:off x="1971675" y="2238375"/>
              <a:ext cx="9525" cy="904875"/>
            </a:xfrm>
            <a:custGeom>
              <a:avLst/>
              <a:gdLst/>
              <a:ahLst/>
              <a:cxnLst/>
              <a:rect l="l" t="t" r="r" b="b"/>
              <a:pathLst>
                <a:path w="9525" h="904875">
                  <a:moveTo>
                    <a:pt x="0" y="904875"/>
                  </a:moveTo>
                  <a:lnTo>
                    <a:pt x="0" y="0"/>
                  </a:lnTo>
                </a:path>
              </a:pathLst>
            </a:custGeom>
            <a:noFill/>
            <a:ln w="9525">
              <a:solidFill>
                <a:srgbClr val="C02C0A">
                  <a:alpha val="50000"/>
                </a:srgbClr>
              </a:solidFill>
            </a:ln>
          </p:spPr>
        </p:sp>
        <p:sp>
          <p:nvSpPr>
            <p:cNvPr id="16" name="Line 16"/>
            <p:cNvSpPr/>
            <p:nvPr/>
          </p:nvSpPr>
          <p:spPr>
            <a:xfrm>
              <a:off x="1971675" y="2864168"/>
              <a:ext cx="857250" cy="279083"/>
            </a:xfrm>
            <a:custGeom>
              <a:avLst/>
              <a:gdLst/>
              <a:ahLst/>
              <a:cxnLst/>
              <a:rect l="l" t="t" r="r" b="b"/>
              <a:pathLst>
                <a:path w="857250" h="279083">
                  <a:moveTo>
                    <a:pt x="0" y="279083"/>
                  </a:moveTo>
                  <a:lnTo>
                    <a:pt x="857250" y="0"/>
                  </a:lnTo>
                </a:path>
              </a:pathLst>
            </a:custGeom>
            <a:noFill/>
            <a:ln w="9525">
              <a:solidFill>
                <a:srgbClr val="C02C0A">
                  <a:alpha val="50000"/>
                </a:srgbClr>
              </a:solidFill>
            </a:ln>
          </p:spPr>
        </p:sp>
        <p:sp>
          <p:nvSpPr>
            <p:cNvPr id="17" name="Line 17"/>
            <p:cNvSpPr/>
            <p:nvPr/>
          </p:nvSpPr>
          <p:spPr>
            <a:xfrm>
              <a:off x="1971675" y="3143250"/>
              <a:ext cx="529590" cy="733425"/>
            </a:xfrm>
            <a:custGeom>
              <a:avLst/>
              <a:gdLst/>
              <a:ahLst/>
              <a:cxnLst/>
              <a:rect l="l" t="t" r="r" b="b"/>
              <a:pathLst>
                <a:path w="529590" h="733425">
                  <a:moveTo>
                    <a:pt x="0" y="0"/>
                  </a:moveTo>
                  <a:lnTo>
                    <a:pt x="529590" y="733425"/>
                  </a:lnTo>
                </a:path>
              </a:pathLst>
            </a:custGeom>
            <a:noFill/>
            <a:ln w="9525">
              <a:solidFill>
                <a:srgbClr val="C02C0A">
                  <a:alpha val="50000"/>
                </a:srgbClr>
              </a:solidFill>
            </a:ln>
          </p:spPr>
        </p:sp>
        <p:sp>
          <p:nvSpPr>
            <p:cNvPr id="18" name="Line 18"/>
            <p:cNvSpPr/>
            <p:nvPr/>
          </p:nvSpPr>
          <p:spPr>
            <a:xfrm>
              <a:off x="1442085" y="3143250"/>
              <a:ext cx="529590" cy="733425"/>
            </a:xfrm>
            <a:custGeom>
              <a:avLst/>
              <a:gdLst/>
              <a:ahLst/>
              <a:cxnLst/>
              <a:rect l="l" t="t" r="r" b="b"/>
              <a:pathLst>
                <a:path w="529590" h="733425">
                  <a:moveTo>
                    <a:pt x="529590" y="0"/>
                  </a:moveTo>
                  <a:lnTo>
                    <a:pt x="0" y="733425"/>
                  </a:lnTo>
                </a:path>
              </a:pathLst>
            </a:custGeom>
            <a:noFill/>
            <a:ln w="9525">
              <a:solidFill>
                <a:srgbClr val="C02C0A">
                  <a:alpha val="50000"/>
                </a:srgbClr>
              </a:solidFill>
            </a:ln>
          </p:spPr>
        </p:sp>
        <p:sp>
          <p:nvSpPr>
            <p:cNvPr id="19" name="Line 19"/>
            <p:cNvSpPr/>
            <p:nvPr/>
          </p:nvSpPr>
          <p:spPr>
            <a:xfrm>
              <a:off x="1114425" y="2864168"/>
              <a:ext cx="857250" cy="279083"/>
            </a:xfrm>
            <a:custGeom>
              <a:avLst/>
              <a:gdLst/>
              <a:ahLst/>
              <a:cxnLst/>
              <a:rect l="l" t="t" r="r" b="b"/>
              <a:pathLst>
                <a:path w="857250" h="279083">
                  <a:moveTo>
                    <a:pt x="857250" y="279083"/>
                  </a:moveTo>
                  <a:lnTo>
                    <a:pt x="0" y="0"/>
                  </a:lnTo>
                </a:path>
              </a:pathLst>
            </a:custGeom>
            <a:noFill/>
            <a:ln w="9525">
              <a:solidFill>
                <a:srgbClr val="C02C0A">
                  <a:alpha val="50000"/>
                </a:srgbClr>
              </a:solidFill>
            </a:ln>
          </p:spPr>
        </p:sp>
        <p:sp>
          <p:nvSpPr>
            <p:cNvPr id="20" name="Ellipse 20"/>
            <p:cNvSpPr/>
            <p:nvPr/>
          </p:nvSpPr>
          <p:spPr>
            <a:xfrm>
              <a:off x="1743075" y="2914650"/>
              <a:ext cx="457200" cy="457200"/>
            </a:xfrm>
            <a:prstGeom prst="ellipse">
              <a:avLst/>
            </a:prstGeom>
            <a:solidFill>
              <a:srgbClr val="C02C0A"/>
            </a:solidFill>
            <a:ln>
              <a:noFill/>
            </a:ln>
          </p:spPr>
        </p:sp>
        <p:sp>
          <p:nvSpPr>
            <p:cNvPr id="21" name="TextBox 21"/>
            <p:cNvSpPr txBox="1"/>
            <p:nvPr/>
          </p:nvSpPr>
          <p:spPr>
            <a:xfrm>
              <a:off x="1920424" y="3027998"/>
              <a:ext cx="102502"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a:t>
              </a:r>
            </a:p>
          </p:txBody>
        </p:sp>
        <p:grpSp>
          <p:nvGrpSpPr>
            <p:cNvPr id="28" name="signal-activity"/>
            <p:cNvGrpSpPr/>
            <p:nvPr/>
          </p:nvGrpSpPr>
          <p:grpSpPr>
            <a:xfrm>
              <a:off x="1746136" y="1587341"/>
              <a:ext cx="451079" cy="708184"/>
              <a:chOff x="1746136" y="1587341"/>
              <a:chExt cx="451079" cy="708184"/>
            </a:xfrm>
          </p:grpSpPr>
          <p:sp>
            <p:nvSpPr>
              <p:cNvPr id="22" name="Ellipse 22"/>
              <p:cNvSpPr/>
              <p:nvPr/>
            </p:nvSpPr>
            <p:spPr>
              <a:xfrm>
                <a:off x="1914525" y="2181225"/>
                <a:ext cx="114300" cy="114300"/>
              </a:xfrm>
              <a:prstGeom prst="ellipse">
                <a:avLst/>
              </a:prstGeom>
              <a:solidFill>
                <a:srgbClr val="C02C0A"/>
              </a:solidFill>
              <a:ln>
                <a:noFill/>
              </a:ln>
            </p:spPr>
          </p:sp>
          <p:sp>
            <p:nvSpPr>
              <p:cNvPr id="23" name="Ellipse 23"/>
              <p:cNvSpPr/>
              <p:nvPr/>
            </p:nvSpPr>
            <p:spPr>
              <a:xfrm>
                <a:off x="1809750" y="1743075"/>
                <a:ext cx="323850" cy="323850"/>
              </a:xfrm>
              <a:prstGeom prst="ellipse">
                <a:avLst/>
              </a:prstGeom>
              <a:solidFill>
                <a:srgbClr val="FFFFFF"/>
              </a:solidFill>
              <a:ln w="14288">
                <a:solidFill>
                  <a:srgbClr val="C02C0A"/>
                </a:solidFill>
              </a:ln>
            </p:spPr>
          </p:sp>
          <p:grpSp>
            <p:nvGrpSpPr>
              <p:cNvPr id="26" name="Group 26"/>
              <p:cNvGrpSpPr/>
              <p:nvPr/>
            </p:nvGrpSpPr>
            <p:grpSpPr>
              <a:xfrm>
                <a:off x="1931987" y="1865312"/>
                <a:ext cx="79375" cy="79375"/>
                <a:chOff x="1931987" y="1865312"/>
                <a:chExt cx="79375" cy="79375"/>
              </a:xfrm>
            </p:grpSpPr>
            <p:sp>
              <p:nvSpPr>
                <p:cNvPr id="24" name="Freeform 24"/>
                <p:cNvSpPr/>
                <p:nvPr/>
              </p:nvSpPr>
              <p:spPr>
                <a:xfrm>
                  <a:off x="1931987" y="1865312"/>
                  <a:ext cx="79375" cy="79375"/>
                </a:xfrm>
                <a:custGeom>
                  <a:avLst/>
                  <a:gdLst/>
                  <a:ahLst/>
                  <a:cxnLst/>
                  <a:rect l="l" t="t" r="r" b="b"/>
                  <a:pathLst>
                    <a:path w="79375" h="79375">
                      <a:moveTo>
                        <a:pt x="0" y="0"/>
                      </a:moveTo>
                      <a:lnTo>
                        <a:pt x="79375" y="79375"/>
                      </a:lnTo>
                    </a:path>
                  </a:pathLst>
                </a:custGeom>
                <a:noFill/>
                <a:ln w="15875">
                  <a:solidFill>
                    <a:srgbClr val="C02C0A"/>
                  </a:solidFill>
                </a:ln>
              </p:spPr>
            </p:sp>
            <p:sp>
              <p:nvSpPr>
                <p:cNvPr id="25" name="Freeform 25"/>
                <p:cNvSpPr/>
                <p:nvPr/>
              </p:nvSpPr>
              <p:spPr>
                <a:xfrm>
                  <a:off x="1939925" y="1873250"/>
                  <a:ext cx="71437" cy="71437"/>
                </a:xfrm>
                <a:custGeom>
                  <a:avLst/>
                  <a:gdLst/>
                  <a:ahLst/>
                  <a:cxnLst/>
                  <a:rect l="l" t="t" r="r" b="b"/>
                  <a:pathLst>
                    <a:path w="71437" h="71437">
                      <a:moveTo>
                        <a:pt x="71437" y="0"/>
                      </a:moveTo>
                      <a:lnTo>
                        <a:pt x="71437" y="71437"/>
                      </a:lnTo>
                      <a:lnTo>
                        <a:pt x="0" y="71437"/>
                      </a:lnTo>
                    </a:path>
                  </a:pathLst>
                </a:custGeom>
                <a:noFill/>
                <a:ln w="15875">
                  <a:solidFill>
                    <a:srgbClr val="C02C0A"/>
                  </a:solidFill>
                </a:ln>
              </p:spPr>
            </p:sp>
          </p:grpSp>
          <p:sp>
            <p:nvSpPr>
              <p:cNvPr id="27" name="TextBox 27"/>
              <p:cNvSpPr txBox="1"/>
              <p:nvPr/>
            </p:nvSpPr>
            <p:spPr>
              <a:xfrm>
                <a:off x="1746136" y="1587341"/>
                <a:ext cx="451079"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活跃下降</a:t>
                </a:r>
              </a:p>
            </p:txBody>
          </p:sp>
        </p:grpSp>
        <p:grpSp>
          <p:nvGrpSpPr>
            <p:cNvPr id="36" name="signal-benefit"/>
            <p:cNvGrpSpPr/>
            <p:nvPr/>
          </p:nvGrpSpPr>
          <p:grpSpPr>
            <a:xfrm>
              <a:off x="2771775" y="2600325"/>
              <a:ext cx="654165" cy="577691"/>
              <a:chOff x="2771775" y="2600325"/>
              <a:chExt cx="654165" cy="577691"/>
            </a:xfrm>
          </p:grpSpPr>
          <p:sp>
            <p:nvSpPr>
              <p:cNvPr id="29" name="Ellipse 29"/>
              <p:cNvSpPr/>
              <p:nvPr/>
            </p:nvSpPr>
            <p:spPr>
              <a:xfrm>
                <a:off x="2771775" y="2807018"/>
                <a:ext cx="114300" cy="114300"/>
              </a:xfrm>
              <a:prstGeom prst="ellipse">
                <a:avLst/>
              </a:prstGeom>
              <a:solidFill>
                <a:srgbClr val="C02C0A"/>
              </a:solidFill>
              <a:ln>
                <a:noFill/>
              </a:ln>
            </p:spPr>
          </p:sp>
          <p:sp>
            <p:nvSpPr>
              <p:cNvPr id="30" name="Ellipse 30"/>
              <p:cNvSpPr/>
              <p:nvPr/>
            </p:nvSpPr>
            <p:spPr>
              <a:xfrm>
                <a:off x="2981325" y="2600325"/>
                <a:ext cx="323850" cy="323850"/>
              </a:xfrm>
              <a:prstGeom prst="ellipse">
                <a:avLst/>
              </a:prstGeom>
              <a:solidFill>
                <a:srgbClr val="FFFFFF"/>
              </a:solidFill>
              <a:ln w="14288">
                <a:solidFill>
                  <a:srgbClr val="C02C0A"/>
                </a:solidFill>
              </a:ln>
            </p:spPr>
          </p:sp>
          <p:grpSp>
            <p:nvGrpSpPr>
              <p:cNvPr id="34" name="Group 34"/>
              <p:cNvGrpSpPr/>
              <p:nvPr/>
            </p:nvGrpSpPr>
            <p:grpSpPr>
              <a:xfrm>
                <a:off x="3079749" y="2694872"/>
                <a:ext cx="130867" cy="134739"/>
                <a:chOff x="3079749" y="2694872"/>
                <a:chExt cx="130867" cy="134739"/>
              </a:xfrm>
            </p:grpSpPr>
            <p:sp>
              <p:nvSpPr>
                <p:cNvPr id="31" name="Freeform 31"/>
                <p:cNvSpPr/>
                <p:nvPr/>
              </p:nvSpPr>
              <p:spPr>
                <a:xfrm>
                  <a:off x="3119437" y="2738437"/>
                  <a:ext cx="47625" cy="47625"/>
                </a:xfrm>
                <a:custGeom>
                  <a:avLst/>
                  <a:gdLst/>
                  <a:ahLst/>
                  <a:cxnLst/>
                  <a:rect l="l" t="t" r="r" b="b"/>
                  <a:pathLst>
                    <a:path w="47625" h="47625">
                      <a:moveTo>
                        <a:pt x="0" y="47625"/>
                      </a:moveTo>
                      <a:lnTo>
                        <a:pt x="47625" y="0"/>
                      </a:lnTo>
                    </a:path>
                  </a:pathLst>
                </a:custGeom>
                <a:noFill/>
                <a:ln w="15875">
                  <a:solidFill>
                    <a:srgbClr val="C02C0A"/>
                  </a:solidFill>
                </a:ln>
              </p:spPr>
            </p:sp>
            <p:sp>
              <p:nvSpPr>
                <p:cNvPr id="32" name="Freeform 32"/>
                <p:cNvSpPr/>
                <p:nvPr/>
              </p:nvSpPr>
              <p:spPr>
                <a:xfrm>
                  <a:off x="3135312" y="2694872"/>
                  <a:ext cx="75304" cy="75316"/>
                </a:xfrm>
                <a:custGeom>
                  <a:avLst/>
                  <a:gdLst/>
                  <a:ahLst/>
                  <a:cxnLst/>
                  <a:rect l="l" t="t" r="r" b="b"/>
                  <a:pathLst>
                    <a:path w="75304" h="75316">
                      <a:moveTo>
                        <a:pt x="0" y="19753"/>
                      </a:moveTo>
                      <a:lnTo>
                        <a:pt x="3675" y="15499"/>
                      </a:lnTo>
                      <a:cubicBezTo>
                        <a:pt x="19176" y="0"/>
                        <a:pt x="44306" y="2"/>
                        <a:pt x="59805" y="15503"/>
                      </a:cubicBezTo>
                      <a:cubicBezTo>
                        <a:pt x="75304" y="31004"/>
                        <a:pt x="75302" y="56134"/>
                        <a:pt x="59801" y="71633"/>
                      </a:cubicBezTo>
                      <a:lnTo>
                        <a:pt x="55562" y="75316"/>
                      </a:lnTo>
                    </a:path>
                  </a:pathLst>
                </a:custGeom>
                <a:noFill/>
                <a:ln w="15875">
                  <a:solidFill>
                    <a:srgbClr val="C02C0A"/>
                  </a:solidFill>
                </a:ln>
              </p:spPr>
            </p:sp>
            <p:sp>
              <p:nvSpPr>
                <p:cNvPr id="33" name="Freeform 33"/>
                <p:cNvSpPr/>
                <p:nvPr/>
              </p:nvSpPr>
              <p:spPr>
                <a:xfrm>
                  <a:off x="3079749" y="2754312"/>
                  <a:ext cx="71439" cy="75299"/>
                </a:xfrm>
                <a:custGeom>
                  <a:avLst/>
                  <a:gdLst/>
                  <a:ahLst/>
                  <a:cxnLst/>
                  <a:rect l="l" t="t" r="r" b="b"/>
                  <a:pathLst>
                    <a:path w="71439" h="75299">
                      <a:moveTo>
                        <a:pt x="71439" y="55562"/>
                      </a:moveTo>
                      <a:lnTo>
                        <a:pt x="68287" y="59801"/>
                      </a:lnTo>
                      <a:cubicBezTo>
                        <a:pt x="52615" y="75299"/>
                        <a:pt x="27389" y="75299"/>
                        <a:pt x="11717" y="59801"/>
                      </a:cubicBezTo>
                      <a:cubicBezTo>
                        <a:pt x="4219" y="52388"/>
                        <a:pt x="0" y="42282"/>
                        <a:pt x="0" y="31738"/>
                      </a:cubicBezTo>
                      <a:cubicBezTo>
                        <a:pt x="0" y="21194"/>
                        <a:pt x="4219" y="11089"/>
                        <a:pt x="11717" y="3675"/>
                      </a:cubicBezTo>
                      <a:lnTo>
                        <a:pt x="15876" y="0"/>
                      </a:lnTo>
                    </a:path>
                  </a:pathLst>
                </a:custGeom>
                <a:noFill/>
                <a:ln w="15875">
                  <a:solidFill>
                    <a:srgbClr val="C02C0A"/>
                  </a:solidFill>
                </a:ln>
              </p:spPr>
            </p:sp>
          </p:grpSp>
          <p:sp>
            <p:nvSpPr>
              <p:cNvPr id="35" name="TextBox 35"/>
              <p:cNvSpPr txBox="1"/>
              <p:nvPr/>
            </p:nvSpPr>
            <p:spPr>
              <a:xfrm>
                <a:off x="2974861" y="3016091"/>
                <a:ext cx="451079"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权益中断</a:t>
                </a:r>
              </a:p>
            </p:txBody>
          </p:sp>
        </p:grpSp>
        <p:grpSp>
          <p:nvGrpSpPr>
            <p:cNvPr id="44" name="signal-complaint"/>
            <p:cNvGrpSpPr/>
            <p:nvPr/>
          </p:nvGrpSpPr>
          <p:grpSpPr>
            <a:xfrm>
              <a:off x="2444115" y="3819525"/>
              <a:ext cx="505575" cy="672941"/>
              <a:chOff x="2444115" y="3819525"/>
              <a:chExt cx="505575" cy="672941"/>
            </a:xfrm>
          </p:grpSpPr>
          <p:sp>
            <p:nvSpPr>
              <p:cNvPr id="37" name="Ellipse 37"/>
              <p:cNvSpPr/>
              <p:nvPr/>
            </p:nvSpPr>
            <p:spPr>
              <a:xfrm>
                <a:off x="2444115" y="3819525"/>
                <a:ext cx="114300" cy="114300"/>
              </a:xfrm>
              <a:prstGeom prst="ellipse">
                <a:avLst/>
              </a:prstGeom>
              <a:solidFill>
                <a:srgbClr val="C02C0A"/>
              </a:solidFill>
              <a:ln>
                <a:noFill/>
              </a:ln>
            </p:spPr>
          </p:sp>
          <p:sp>
            <p:nvSpPr>
              <p:cNvPr id="38" name="Ellipse 38"/>
              <p:cNvSpPr/>
              <p:nvPr/>
            </p:nvSpPr>
            <p:spPr>
              <a:xfrm>
                <a:off x="2562225" y="3914775"/>
                <a:ext cx="323850" cy="323850"/>
              </a:xfrm>
              <a:prstGeom prst="ellipse">
                <a:avLst/>
              </a:prstGeom>
              <a:solidFill>
                <a:srgbClr val="FFFFFF"/>
              </a:solidFill>
              <a:ln w="14288">
                <a:solidFill>
                  <a:srgbClr val="C02C0A"/>
                </a:solidFill>
              </a:ln>
            </p:spPr>
          </p:sp>
          <p:grpSp>
            <p:nvGrpSpPr>
              <p:cNvPr id="42" name="Group 42"/>
              <p:cNvGrpSpPr/>
              <p:nvPr/>
            </p:nvGrpSpPr>
            <p:grpSpPr>
              <a:xfrm>
                <a:off x="2652712" y="4013200"/>
                <a:ext cx="142875" cy="134937"/>
                <a:chOff x="2652712" y="4013200"/>
                <a:chExt cx="142875" cy="134937"/>
              </a:xfrm>
            </p:grpSpPr>
            <p:sp>
              <p:nvSpPr>
                <p:cNvPr id="39" name="Freeform 39"/>
                <p:cNvSpPr/>
                <p:nvPr/>
              </p:nvSpPr>
              <p:spPr>
                <a:xfrm>
                  <a:off x="2652712" y="4013200"/>
                  <a:ext cx="142875" cy="134937"/>
                </a:xfrm>
                <a:custGeom>
                  <a:avLst/>
                  <a:gdLst/>
                  <a:ahLst/>
                  <a:cxnLst/>
                  <a:rect l="l" t="t" r="r" b="b"/>
                  <a:pathLst>
                    <a:path w="142875" h="134937">
                      <a:moveTo>
                        <a:pt x="119062" y="0"/>
                      </a:moveTo>
                      <a:cubicBezTo>
                        <a:pt x="132214" y="0"/>
                        <a:pt x="142875" y="10661"/>
                        <a:pt x="142875" y="23812"/>
                      </a:cubicBezTo>
                      <a:lnTo>
                        <a:pt x="142875" y="87312"/>
                      </a:lnTo>
                      <a:cubicBezTo>
                        <a:pt x="142875" y="100464"/>
                        <a:pt x="132214" y="111125"/>
                        <a:pt x="119062" y="111125"/>
                      </a:cubicBezTo>
                      <a:lnTo>
                        <a:pt x="79375" y="111125"/>
                      </a:lnTo>
                      <a:lnTo>
                        <a:pt x="39687" y="134937"/>
                      </a:lnTo>
                      <a:lnTo>
                        <a:pt x="39687" y="111125"/>
                      </a:lnTo>
                      <a:lnTo>
                        <a:pt x="23812" y="111125"/>
                      </a:lnTo>
                      <a:cubicBezTo>
                        <a:pt x="10661" y="111125"/>
                        <a:pt x="0" y="100464"/>
                        <a:pt x="0" y="87312"/>
                      </a:cubicBezTo>
                      <a:lnTo>
                        <a:pt x="0" y="23812"/>
                      </a:lnTo>
                      <a:cubicBezTo>
                        <a:pt x="0" y="10661"/>
                        <a:pt x="10661" y="0"/>
                        <a:pt x="23812" y="0"/>
                      </a:cubicBezTo>
                      <a:lnTo>
                        <a:pt x="119062" y="0"/>
                      </a:lnTo>
                    </a:path>
                  </a:pathLst>
                </a:custGeom>
                <a:noFill/>
                <a:ln w="15875">
                  <a:solidFill>
                    <a:srgbClr val="C02C0A"/>
                  </a:solidFill>
                </a:ln>
              </p:spPr>
            </p:sp>
            <p:sp>
              <p:nvSpPr>
                <p:cNvPr id="40" name="Freeform 40"/>
                <p:cNvSpPr/>
                <p:nvPr/>
              </p:nvSpPr>
              <p:spPr>
                <a:xfrm>
                  <a:off x="2724150" y="4044950"/>
                  <a:ext cx="9525" cy="23812"/>
                </a:xfrm>
                <a:custGeom>
                  <a:avLst/>
                  <a:gdLst/>
                  <a:ahLst/>
                  <a:cxnLst/>
                  <a:rect l="l" t="t" r="r" b="b"/>
                  <a:pathLst>
                    <a:path w="9525" h="23812">
                      <a:moveTo>
                        <a:pt x="0" y="0"/>
                      </a:moveTo>
                      <a:lnTo>
                        <a:pt x="0" y="23812"/>
                      </a:lnTo>
                    </a:path>
                  </a:pathLst>
                </a:custGeom>
                <a:noFill/>
                <a:ln w="15875">
                  <a:solidFill>
                    <a:srgbClr val="C02C0A"/>
                  </a:solidFill>
                </a:ln>
              </p:spPr>
            </p:sp>
            <p:sp>
              <p:nvSpPr>
                <p:cNvPr id="41" name="Freeform 41"/>
                <p:cNvSpPr/>
                <p:nvPr/>
              </p:nvSpPr>
              <p:spPr>
                <a:xfrm>
                  <a:off x="2724150" y="4092575"/>
                  <a:ext cx="9525" cy="9525"/>
                </a:xfrm>
                <a:custGeom>
                  <a:avLst/>
                  <a:gdLst/>
                  <a:ahLst/>
                  <a:cxnLst/>
                  <a:rect l="l" t="t" r="r" b="b"/>
                  <a:pathLst>
                    <a:path w="9525" h="9525">
                      <a:moveTo>
                        <a:pt x="0" y="0"/>
                      </a:moveTo>
                      <a:lnTo>
                        <a:pt x="0" y="79"/>
                      </a:lnTo>
                    </a:path>
                  </a:pathLst>
                </a:custGeom>
                <a:noFill/>
                <a:ln w="15875">
                  <a:solidFill>
                    <a:srgbClr val="C02C0A"/>
                  </a:solidFill>
                </a:ln>
              </p:spPr>
            </p:sp>
          </p:grpSp>
          <p:sp>
            <p:nvSpPr>
              <p:cNvPr id="43" name="TextBox 43"/>
              <p:cNvSpPr txBox="1"/>
              <p:nvPr/>
            </p:nvSpPr>
            <p:spPr>
              <a:xfrm>
                <a:off x="2498611" y="4330541"/>
                <a:ext cx="451079"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投诉增加</a:t>
                </a:r>
              </a:p>
            </p:txBody>
          </p:sp>
        </p:grpSp>
        <p:grpSp>
          <p:nvGrpSpPr>
            <p:cNvPr id="53" name="signal-limit"/>
            <p:cNvGrpSpPr/>
            <p:nvPr/>
          </p:nvGrpSpPr>
          <p:grpSpPr>
            <a:xfrm>
              <a:off x="993661" y="3819525"/>
              <a:ext cx="505574" cy="672941"/>
              <a:chOff x="993661" y="3819525"/>
              <a:chExt cx="505574" cy="672941"/>
            </a:xfrm>
          </p:grpSpPr>
          <p:sp>
            <p:nvSpPr>
              <p:cNvPr id="45" name="Ellipse 45"/>
              <p:cNvSpPr/>
              <p:nvPr/>
            </p:nvSpPr>
            <p:spPr>
              <a:xfrm>
                <a:off x="1384935" y="3819525"/>
                <a:ext cx="114300" cy="114300"/>
              </a:xfrm>
              <a:prstGeom prst="ellipse">
                <a:avLst/>
              </a:prstGeom>
              <a:solidFill>
                <a:srgbClr val="C02C0A"/>
              </a:solidFill>
              <a:ln>
                <a:noFill/>
              </a:ln>
            </p:spPr>
          </p:sp>
          <p:sp>
            <p:nvSpPr>
              <p:cNvPr id="46" name="Ellipse 46"/>
              <p:cNvSpPr/>
              <p:nvPr/>
            </p:nvSpPr>
            <p:spPr>
              <a:xfrm>
                <a:off x="1057275" y="3914775"/>
                <a:ext cx="323850" cy="323850"/>
              </a:xfrm>
              <a:prstGeom prst="ellipse">
                <a:avLst/>
              </a:prstGeom>
              <a:solidFill>
                <a:srgbClr val="FFFFFF"/>
              </a:solidFill>
              <a:ln w="14288">
                <a:solidFill>
                  <a:srgbClr val="C02C0A"/>
                </a:solidFill>
              </a:ln>
            </p:spPr>
          </p:sp>
          <p:grpSp>
            <p:nvGrpSpPr>
              <p:cNvPr id="51" name="Group 51"/>
              <p:cNvGrpSpPr/>
              <p:nvPr/>
            </p:nvGrpSpPr>
            <p:grpSpPr>
              <a:xfrm>
                <a:off x="1147762" y="4021137"/>
                <a:ext cx="142875" cy="111125"/>
                <a:chOff x="1147762" y="4021137"/>
                <a:chExt cx="142875" cy="111125"/>
              </a:xfrm>
            </p:grpSpPr>
            <p:sp>
              <p:nvSpPr>
                <p:cNvPr id="47" name="Freeform 47"/>
                <p:cNvSpPr/>
                <p:nvPr/>
              </p:nvSpPr>
              <p:spPr>
                <a:xfrm>
                  <a:off x="1147762" y="402113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C02C0A"/>
                  </a:solidFill>
                </a:ln>
              </p:spPr>
            </p:sp>
            <p:sp>
              <p:nvSpPr>
                <p:cNvPr id="48" name="Freeform 48"/>
                <p:cNvSpPr/>
                <p:nvPr/>
              </p:nvSpPr>
              <p:spPr>
                <a:xfrm>
                  <a:off x="1147762" y="4060825"/>
                  <a:ext cx="142875" cy="9525"/>
                </a:xfrm>
                <a:custGeom>
                  <a:avLst/>
                  <a:gdLst/>
                  <a:ahLst/>
                  <a:cxnLst/>
                  <a:rect l="l" t="t" r="r" b="b"/>
                  <a:pathLst>
                    <a:path w="142875" h="9525">
                      <a:moveTo>
                        <a:pt x="0" y="0"/>
                      </a:moveTo>
                      <a:lnTo>
                        <a:pt x="142875" y="0"/>
                      </a:lnTo>
                    </a:path>
                  </a:pathLst>
                </a:custGeom>
                <a:noFill/>
                <a:ln w="15875">
                  <a:solidFill>
                    <a:srgbClr val="C02C0A"/>
                  </a:solidFill>
                </a:ln>
              </p:spPr>
            </p:sp>
            <p:sp>
              <p:nvSpPr>
                <p:cNvPr id="49" name="Freeform 49"/>
                <p:cNvSpPr/>
                <p:nvPr/>
              </p:nvSpPr>
              <p:spPr>
                <a:xfrm>
                  <a:off x="1179512" y="4100512"/>
                  <a:ext cx="9525" cy="9525"/>
                </a:xfrm>
                <a:custGeom>
                  <a:avLst/>
                  <a:gdLst/>
                  <a:ahLst/>
                  <a:cxnLst/>
                  <a:rect l="l" t="t" r="r" b="b"/>
                  <a:pathLst>
                    <a:path w="9525" h="9525">
                      <a:moveTo>
                        <a:pt x="0" y="0"/>
                      </a:moveTo>
                      <a:lnTo>
                        <a:pt x="79" y="0"/>
                      </a:lnTo>
                    </a:path>
                  </a:pathLst>
                </a:custGeom>
                <a:noFill/>
                <a:ln w="15875">
                  <a:solidFill>
                    <a:srgbClr val="C02C0A"/>
                  </a:solidFill>
                </a:ln>
              </p:spPr>
            </p:sp>
            <p:sp>
              <p:nvSpPr>
                <p:cNvPr id="50" name="Freeform 50"/>
                <p:cNvSpPr/>
                <p:nvPr/>
              </p:nvSpPr>
              <p:spPr>
                <a:xfrm>
                  <a:off x="1211262" y="4100512"/>
                  <a:ext cx="15875" cy="9525"/>
                </a:xfrm>
                <a:custGeom>
                  <a:avLst/>
                  <a:gdLst/>
                  <a:ahLst/>
                  <a:cxnLst/>
                  <a:rect l="l" t="t" r="r" b="b"/>
                  <a:pathLst>
                    <a:path w="15875" h="9525">
                      <a:moveTo>
                        <a:pt x="0" y="0"/>
                      </a:moveTo>
                      <a:lnTo>
                        <a:pt x="15875" y="0"/>
                      </a:lnTo>
                    </a:path>
                  </a:pathLst>
                </a:custGeom>
                <a:noFill/>
                <a:ln w="15875">
                  <a:solidFill>
                    <a:srgbClr val="C02C0A"/>
                  </a:solidFill>
                </a:ln>
              </p:spPr>
            </p:sp>
          </p:grpSp>
          <p:sp>
            <p:nvSpPr>
              <p:cNvPr id="52" name="TextBox 52"/>
              <p:cNvSpPr txBox="1"/>
              <p:nvPr/>
            </p:nvSpPr>
            <p:spPr>
              <a:xfrm>
                <a:off x="993661" y="4330541"/>
                <a:ext cx="451079"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额度闲置</a:t>
                </a:r>
              </a:p>
            </p:txBody>
          </p:sp>
        </p:grpSp>
        <p:grpSp>
          <p:nvGrpSpPr>
            <p:cNvPr id="61" name="signal-cancel"/>
            <p:cNvGrpSpPr/>
            <p:nvPr/>
          </p:nvGrpSpPr>
          <p:grpSpPr>
            <a:xfrm>
              <a:off x="517411" y="2600325"/>
              <a:ext cx="654164" cy="577691"/>
              <a:chOff x="517411" y="2600325"/>
              <a:chExt cx="654164" cy="577691"/>
            </a:xfrm>
          </p:grpSpPr>
          <p:sp>
            <p:nvSpPr>
              <p:cNvPr id="54" name="Ellipse 54"/>
              <p:cNvSpPr/>
              <p:nvPr/>
            </p:nvSpPr>
            <p:spPr>
              <a:xfrm>
                <a:off x="1057275" y="2807018"/>
                <a:ext cx="114300" cy="114300"/>
              </a:xfrm>
              <a:prstGeom prst="ellipse">
                <a:avLst/>
              </a:prstGeom>
              <a:solidFill>
                <a:srgbClr val="C02C0A"/>
              </a:solidFill>
              <a:ln>
                <a:noFill/>
              </a:ln>
            </p:spPr>
          </p:sp>
          <p:sp>
            <p:nvSpPr>
              <p:cNvPr id="55" name="Ellipse 55"/>
              <p:cNvSpPr/>
              <p:nvPr/>
            </p:nvSpPr>
            <p:spPr>
              <a:xfrm>
                <a:off x="638175" y="2600325"/>
                <a:ext cx="323850" cy="323850"/>
              </a:xfrm>
              <a:prstGeom prst="ellipse">
                <a:avLst/>
              </a:prstGeom>
              <a:solidFill>
                <a:srgbClr val="FFFFFF"/>
              </a:solidFill>
              <a:ln w="14288">
                <a:solidFill>
                  <a:srgbClr val="C02C0A"/>
                </a:solidFill>
              </a:ln>
            </p:spPr>
          </p:sp>
          <p:grpSp>
            <p:nvGrpSpPr>
              <p:cNvPr id="59" name="Group 59"/>
              <p:cNvGrpSpPr/>
              <p:nvPr/>
            </p:nvGrpSpPr>
            <p:grpSpPr>
              <a:xfrm>
                <a:off x="728662" y="2690812"/>
                <a:ext cx="142875" cy="142875"/>
                <a:chOff x="728662" y="2690812"/>
                <a:chExt cx="142875" cy="142875"/>
              </a:xfrm>
            </p:grpSpPr>
            <p:sp>
              <p:nvSpPr>
                <p:cNvPr id="56" name="Freeform 56"/>
                <p:cNvSpPr/>
                <p:nvPr/>
              </p:nvSpPr>
              <p:spPr>
                <a:xfrm>
                  <a:off x="728662" y="26908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C02C0A"/>
                  </a:solidFill>
                </a:ln>
              </p:spPr>
            </p:sp>
            <p:sp>
              <p:nvSpPr>
                <p:cNvPr id="57" name="Freeform 57"/>
                <p:cNvSpPr/>
                <p:nvPr/>
              </p:nvSpPr>
              <p:spPr>
                <a:xfrm>
                  <a:off x="800100" y="2794000"/>
                  <a:ext cx="9525" cy="9525"/>
                </a:xfrm>
                <a:custGeom>
                  <a:avLst/>
                  <a:gdLst/>
                  <a:ahLst/>
                  <a:cxnLst/>
                  <a:rect l="l" t="t" r="r" b="b"/>
                  <a:pathLst>
                    <a:path w="9525" h="9525">
                      <a:moveTo>
                        <a:pt x="0" y="0"/>
                      </a:moveTo>
                      <a:lnTo>
                        <a:pt x="0" y="79"/>
                      </a:lnTo>
                    </a:path>
                  </a:pathLst>
                </a:custGeom>
                <a:noFill/>
                <a:ln w="15875">
                  <a:solidFill>
                    <a:srgbClr val="C02C0A"/>
                  </a:solidFill>
                </a:ln>
              </p:spPr>
            </p:sp>
            <p:sp>
              <p:nvSpPr>
                <p:cNvPr id="58" name="Freeform 58"/>
                <p:cNvSpPr/>
                <p:nvPr/>
              </p:nvSpPr>
              <p:spPr>
                <a:xfrm>
                  <a:off x="788194" y="2736837"/>
                  <a:ext cx="29111" cy="33372"/>
                </a:xfrm>
                <a:custGeom>
                  <a:avLst/>
                  <a:gdLst/>
                  <a:ahLst/>
                  <a:cxnLst/>
                  <a:rect l="l" t="t" r="r" b="b"/>
                  <a:pathLst>
                    <a:path w="29111" h="33372">
                      <a:moveTo>
                        <a:pt x="11906" y="33350"/>
                      </a:moveTo>
                      <a:cubicBezTo>
                        <a:pt x="19255" y="33372"/>
                        <a:pt x="25658" y="28348"/>
                        <a:pt x="27385" y="21204"/>
                      </a:cubicBezTo>
                      <a:cubicBezTo>
                        <a:pt x="29111" y="14061"/>
                        <a:pt x="25709" y="6667"/>
                        <a:pt x="19161" y="3331"/>
                      </a:cubicBezTo>
                      <a:cubicBezTo>
                        <a:pt x="12659" y="0"/>
                        <a:pt x="4720" y="1589"/>
                        <a:pt x="0" y="7164"/>
                      </a:cubicBezTo>
                    </a:path>
                  </a:pathLst>
                </a:custGeom>
                <a:noFill/>
                <a:ln w="15875">
                  <a:solidFill>
                    <a:srgbClr val="C02C0A"/>
                  </a:solidFill>
                </a:ln>
              </p:spPr>
            </p:sp>
          </p:grpSp>
          <p:sp>
            <p:nvSpPr>
              <p:cNvPr id="60" name="TextBox 60"/>
              <p:cNvSpPr txBox="1"/>
              <p:nvPr/>
            </p:nvSpPr>
            <p:spPr>
              <a:xfrm>
                <a:off x="517411" y="3016091"/>
                <a:ext cx="451079" cy="161925"/>
              </a:xfrm>
              <a:prstGeom prst="rect">
                <a:avLst/>
              </a:prstGeom>
              <a:noFill/>
              <a:ln>
                <a:noFill/>
              </a:ln>
            </p:spPr>
            <p:txBody>
              <a:bodyPr wrap="none" lIns="0" tIns="0" rIns="0" bIns="0" anchor="t" anchorCtr="0">
                <a:spAutoFit/>
              </a:bodyPr>
              <a:lstStyle/>
              <a:p>
                <a:pPr algn="ctr"/>
                <a:r>
                  <a:rPr lang="zh-CN" sz="820" b="1" dirty="0">
                    <a:solidFill>
                      <a:srgbClr val="520E00"/>
                    </a:solidFill>
                    <a:latin typeface="+mn-lt"/>
                    <a:ea typeface="+mn-ea"/>
                    <a:cs typeface="+mn-cs"/>
                  </a:rPr>
                  <a:t>销卡咨询</a:t>
                </a:r>
              </a:p>
            </p:txBody>
          </p:sp>
        </p:grpSp>
      </p:grpSp>
      <p:grpSp>
        <p:nvGrpSpPr>
          <p:cNvPr id="106" name="four-steps"/>
          <p:cNvGrpSpPr/>
          <p:nvPr/>
        </p:nvGrpSpPr>
        <p:grpSpPr>
          <a:xfrm>
            <a:off x="3829050" y="800100"/>
            <a:ext cx="4743450" cy="3695700"/>
            <a:chOff x="3829050" y="800100"/>
            <a:chExt cx="4743450" cy="3695700"/>
          </a:xfrm>
        </p:grpSpPr>
        <p:sp>
          <p:nvSpPr>
            <p:cNvPr id="63" name="Rectangle 63"/>
            <p:cNvSpPr/>
            <p:nvPr/>
          </p:nvSpPr>
          <p:spPr>
            <a:xfrm>
              <a:off x="3829050" y="800100"/>
              <a:ext cx="4743450" cy="495300"/>
            </a:xfrm>
            <a:prstGeom prst="roundRect">
              <a:avLst>
                <a:gd name="adj" fmla="val 15385"/>
              </a:avLst>
            </a:prstGeom>
            <a:solidFill>
              <a:srgbClr val="520E00"/>
            </a:solidFill>
            <a:ln>
              <a:noFill/>
            </a:ln>
          </p:spPr>
        </p:sp>
        <p:sp>
          <p:nvSpPr>
            <p:cNvPr id="64" name="TextBox 64"/>
            <p:cNvSpPr txBox="1"/>
            <p:nvPr/>
          </p:nvSpPr>
          <p:spPr>
            <a:xfrm>
              <a:off x="4548270" y="1011793"/>
              <a:ext cx="3305009"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四步挽回：识别原因—解决问题—金融健康诊断—重配服务计划​​​</a:t>
              </a:r>
            </a:p>
          </p:txBody>
        </p:sp>
        <p:grpSp>
          <p:nvGrpSpPr>
            <p:cNvPr id="72" name="step-1"/>
            <p:cNvGrpSpPr/>
            <p:nvPr/>
          </p:nvGrpSpPr>
          <p:grpSpPr>
            <a:xfrm>
              <a:off x="3829050" y="1428750"/>
              <a:ext cx="1104900" cy="3067050"/>
              <a:chOff x="3829050" y="1428750"/>
              <a:chExt cx="1104900" cy="3067050"/>
            </a:xfrm>
          </p:grpSpPr>
          <p:sp>
            <p:nvSpPr>
              <p:cNvPr id="65" name="Rectangle 65"/>
              <p:cNvSpPr/>
              <p:nvPr/>
            </p:nvSpPr>
            <p:spPr>
              <a:xfrm>
                <a:off x="3829050" y="1428750"/>
                <a:ext cx="1104900" cy="3067050"/>
              </a:xfrm>
              <a:prstGeom prst="roundRect">
                <a:avLst>
                  <a:gd name="adj" fmla="val 6897"/>
                </a:avLst>
              </a:prstGeom>
              <a:solidFill>
                <a:srgbClr val="EEF3FB"/>
              </a:solidFill>
              <a:ln>
                <a:noFill/>
              </a:ln>
            </p:spPr>
          </p:sp>
          <p:sp>
            <p:nvSpPr>
              <p:cNvPr id="66" name="Ellipse 66"/>
              <p:cNvSpPr/>
              <p:nvPr/>
            </p:nvSpPr>
            <p:spPr>
              <a:xfrm>
                <a:off x="4210050" y="1657350"/>
                <a:ext cx="342900" cy="342900"/>
              </a:xfrm>
              <a:prstGeom prst="ellipse">
                <a:avLst/>
              </a:prstGeom>
              <a:solidFill>
                <a:srgbClr val="8A1700"/>
              </a:solidFill>
              <a:ln>
                <a:noFill/>
              </a:ln>
            </p:spPr>
          </p:sp>
          <p:sp>
            <p:nvSpPr>
              <p:cNvPr id="67" name="TextBox 67"/>
              <p:cNvSpPr txBox="1"/>
              <p:nvPr/>
            </p:nvSpPr>
            <p:spPr>
              <a:xfrm>
                <a:off x="4282112" y="175641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grpSp>
            <p:nvGrpSpPr>
              <p:cNvPr id="70" name="Group 70"/>
              <p:cNvGrpSpPr/>
              <p:nvPr/>
            </p:nvGrpSpPr>
            <p:grpSpPr>
              <a:xfrm>
                <a:off x="4167188" y="2547938"/>
                <a:ext cx="428625" cy="428625"/>
                <a:chOff x="4167188" y="2547938"/>
                <a:chExt cx="428625" cy="428625"/>
              </a:xfrm>
            </p:grpSpPr>
            <p:sp>
              <p:nvSpPr>
                <p:cNvPr id="68" name="Freeform 68"/>
                <p:cNvSpPr/>
                <p:nvPr/>
              </p:nvSpPr>
              <p:spPr>
                <a:xfrm>
                  <a:off x="4167188" y="2547938"/>
                  <a:ext cx="333375" cy="333375"/>
                </a:xfrm>
                <a:custGeom>
                  <a:avLst/>
                  <a:gdLst/>
                  <a:ahLst/>
                  <a:cxnLst/>
                  <a:rect l="l" t="t" r="r" b="b"/>
                  <a:pathLst>
                    <a:path w="333375" h="333375">
                      <a:moveTo>
                        <a:pt x="0" y="166688"/>
                      </a:moveTo>
                      <a:cubicBezTo>
                        <a:pt x="0" y="258746"/>
                        <a:pt x="74629" y="333375"/>
                        <a:pt x="166688" y="333375"/>
                      </a:cubicBezTo>
                      <a:cubicBezTo>
                        <a:pt x="258746" y="333375"/>
                        <a:pt x="333375" y="258746"/>
                        <a:pt x="333375" y="166688"/>
                      </a:cubicBezTo>
                      <a:cubicBezTo>
                        <a:pt x="333375" y="74629"/>
                        <a:pt x="258746" y="0"/>
                        <a:pt x="166688" y="0"/>
                      </a:cubicBezTo>
                      <a:cubicBezTo>
                        <a:pt x="74629" y="0"/>
                        <a:pt x="0" y="74629"/>
                        <a:pt x="0" y="166688"/>
                      </a:cubicBezTo>
                    </a:path>
                  </a:pathLst>
                </a:custGeom>
                <a:noFill/>
                <a:ln w="35719">
                  <a:solidFill>
                    <a:srgbClr val="8A1700"/>
                  </a:solidFill>
                </a:ln>
              </p:spPr>
            </p:sp>
            <p:sp>
              <p:nvSpPr>
                <p:cNvPr id="69" name="Freeform 69"/>
                <p:cNvSpPr/>
                <p:nvPr/>
              </p:nvSpPr>
              <p:spPr>
                <a:xfrm>
                  <a:off x="4452938" y="2833688"/>
                  <a:ext cx="142875" cy="142875"/>
                </a:xfrm>
                <a:custGeom>
                  <a:avLst/>
                  <a:gdLst/>
                  <a:ahLst/>
                  <a:cxnLst/>
                  <a:rect l="l" t="t" r="r" b="b"/>
                  <a:pathLst>
                    <a:path w="142875" h="142875">
                      <a:moveTo>
                        <a:pt x="142875" y="142875"/>
                      </a:moveTo>
                      <a:lnTo>
                        <a:pt x="0" y="0"/>
                      </a:lnTo>
                    </a:path>
                  </a:pathLst>
                </a:custGeom>
                <a:noFill/>
                <a:ln w="35719">
                  <a:solidFill>
                    <a:srgbClr val="8A1700"/>
                  </a:solidFill>
                </a:ln>
              </p:spPr>
            </p:sp>
          </p:grpSp>
          <p:sp>
            <p:nvSpPr>
              <p:cNvPr id="71" name="TextBox 71"/>
              <p:cNvSpPr txBox="1"/>
              <p:nvPr/>
            </p:nvSpPr>
            <p:spPr>
              <a:xfrm>
                <a:off x="4093464" y="3696652"/>
                <a:ext cx="576072"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识别原因</a:t>
                </a:r>
              </a:p>
            </p:txBody>
          </p:sp>
        </p:grpSp>
        <p:sp>
          <p:nvSpPr>
            <p:cNvPr id="73" name="Freeform 73"/>
            <p:cNvSpPr/>
            <p:nvPr/>
          </p:nvSpPr>
          <p:spPr>
            <a:xfrm>
              <a:off x="4895850" y="2876550"/>
              <a:ext cx="304800" cy="171450"/>
            </a:xfrm>
            <a:prstGeom prst="rightArrow">
              <a:avLst/>
            </a:prstGeom>
            <a:solidFill>
              <a:srgbClr val="E84E2F"/>
            </a:solidFill>
            <a:ln>
              <a:noFill/>
            </a:ln>
          </p:spPr>
        </p:sp>
        <p:grpSp>
          <p:nvGrpSpPr>
            <p:cNvPr id="85" name="step-2"/>
            <p:cNvGrpSpPr/>
            <p:nvPr/>
          </p:nvGrpSpPr>
          <p:grpSpPr>
            <a:xfrm>
              <a:off x="5048250" y="1428750"/>
              <a:ext cx="1104900" cy="3067050"/>
              <a:chOff x="5048250" y="1428750"/>
              <a:chExt cx="1104900" cy="3067050"/>
            </a:xfrm>
          </p:grpSpPr>
          <p:sp>
            <p:nvSpPr>
              <p:cNvPr id="74" name="Rectangle 74"/>
              <p:cNvSpPr/>
              <p:nvPr/>
            </p:nvSpPr>
            <p:spPr>
              <a:xfrm>
                <a:off x="5048250" y="1428750"/>
                <a:ext cx="1104900" cy="3067050"/>
              </a:xfrm>
              <a:prstGeom prst="roundRect">
                <a:avLst>
                  <a:gd name="adj" fmla="val 6897"/>
                </a:avLst>
              </a:prstGeom>
              <a:solidFill>
                <a:srgbClr val="EEF3FB"/>
              </a:solidFill>
              <a:ln>
                <a:noFill/>
              </a:ln>
            </p:spPr>
          </p:sp>
          <p:sp>
            <p:nvSpPr>
              <p:cNvPr id="75" name="Ellipse 75"/>
              <p:cNvSpPr/>
              <p:nvPr/>
            </p:nvSpPr>
            <p:spPr>
              <a:xfrm>
                <a:off x="5429250" y="1657350"/>
                <a:ext cx="342900" cy="342900"/>
              </a:xfrm>
              <a:prstGeom prst="ellipse">
                <a:avLst/>
              </a:prstGeom>
              <a:solidFill>
                <a:srgbClr val="8A1700"/>
              </a:solidFill>
              <a:ln>
                <a:noFill/>
              </a:ln>
            </p:spPr>
          </p:sp>
          <p:sp>
            <p:nvSpPr>
              <p:cNvPr id="76" name="TextBox 76"/>
              <p:cNvSpPr txBox="1"/>
              <p:nvPr/>
            </p:nvSpPr>
            <p:spPr>
              <a:xfrm>
                <a:off x="5501312" y="175641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grpSp>
            <p:nvGrpSpPr>
              <p:cNvPr id="83" name="Group 83"/>
              <p:cNvGrpSpPr/>
              <p:nvPr/>
            </p:nvGrpSpPr>
            <p:grpSpPr>
              <a:xfrm>
                <a:off x="5386388" y="2545447"/>
                <a:ext cx="431115" cy="431115"/>
                <a:chOff x="5386388" y="2545447"/>
                <a:chExt cx="431115" cy="431115"/>
              </a:xfrm>
            </p:grpSpPr>
            <p:sp>
              <p:nvSpPr>
                <p:cNvPr id="77" name="Freeform 77"/>
                <p:cNvSpPr/>
                <p:nvPr/>
              </p:nvSpPr>
              <p:spPr>
                <a:xfrm>
                  <a:off x="5386388" y="2545447"/>
                  <a:ext cx="431115" cy="431115"/>
                </a:xfrm>
                <a:custGeom>
                  <a:avLst/>
                  <a:gdLst/>
                  <a:ahLst/>
                  <a:cxnLst/>
                  <a:rect l="l" t="t" r="r" b="b"/>
                  <a:pathLst>
                    <a:path w="431115" h="431115">
                      <a:moveTo>
                        <a:pt x="0" y="431115"/>
                      </a:moveTo>
                      <a:lnTo>
                        <a:pt x="95250" y="431115"/>
                      </a:lnTo>
                      <a:lnTo>
                        <a:pt x="404812" y="121553"/>
                      </a:lnTo>
                      <a:cubicBezTo>
                        <a:pt x="431115" y="95250"/>
                        <a:pt x="431115" y="52605"/>
                        <a:pt x="404812" y="26303"/>
                      </a:cubicBezTo>
                      <a:cubicBezTo>
                        <a:pt x="378510" y="0"/>
                        <a:pt x="335865" y="0"/>
                        <a:pt x="309562" y="26303"/>
                      </a:cubicBezTo>
                      <a:lnTo>
                        <a:pt x="0" y="335865"/>
                      </a:lnTo>
                      <a:lnTo>
                        <a:pt x="0" y="431115"/>
                      </a:lnTo>
                    </a:path>
                  </a:pathLst>
                </a:custGeom>
                <a:noFill/>
                <a:ln w="35719">
                  <a:solidFill>
                    <a:srgbClr val="8A1700"/>
                  </a:solidFill>
                </a:ln>
              </p:spPr>
            </p:sp>
            <p:sp>
              <p:nvSpPr>
                <p:cNvPr id="78" name="Freeform 78"/>
                <p:cNvSpPr/>
                <p:nvPr/>
              </p:nvSpPr>
              <p:spPr>
                <a:xfrm>
                  <a:off x="5660231" y="2607469"/>
                  <a:ext cx="95250" cy="95250"/>
                </a:xfrm>
                <a:custGeom>
                  <a:avLst/>
                  <a:gdLst/>
                  <a:ahLst/>
                  <a:cxnLst/>
                  <a:rect l="l" t="t" r="r" b="b"/>
                  <a:pathLst>
                    <a:path w="95250" h="95250">
                      <a:moveTo>
                        <a:pt x="0" y="0"/>
                      </a:moveTo>
                      <a:lnTo>
                        <a:pt x="95250" y="95250"/>
                      </a:lnTo>
                    </a:path>
                  </a:pathLst>
                </a:custGeom>
                <a:noFill/>
                <a:ln w="35719">
                  <a:solidFill>
                    <a:srgbClr val="8A1700"/>
                  </a:solidFill>
                </a:ln>
              </p:spPr>
            </p:sp>
            <p:sp>
              <p:nvSpPr>
                <p:cNvPr id="79" name="Freeform 79"/>
                <p:cNvSpPr/>
                <p:nvPr/>
              </p:nvSpPr>
              <p:spPr>
                <a:xfrm>
                  <a:off x="5386388" y="2547938"/>
                  <a:ext cx="214312" cy="214312"/>
                </a:xfrm>
                <a:custGeom>
                  <a:avLst/>
                  <a:gdLst/>
                  <a:ahLst/>
                  <a:cxnLst/>
                  <a:rect l="l" t="t" r="r" b="b"/>
                  <a:pathLst>
                    <a:path w="214312" h="214312">
                      <a:moveTo>
                        <a:pt x="214312" y="119062"/>
                      </a:moveTo>
                      <a:lnTo>
                        <a:pt x="95250" y="0"/>
                      </a:lnTo>
                      <a:lnTo>
                        <a:pt x="0" y="95250"/>
                      </a:lnTo>
                      <a:lnTo>
                        <a:pt x="119062" y="214312"/>
                      </a:lnTo>
                    </a:path>
                  </a:pathLst>
                </a:custGeom>
                <a:noFill/>
                <a:ln w="35719">
                  <a:solidFill>
                    <a:srgbClr val="8A1700"/>
                  </a:solidFill>
                </a:ln>
              </p:spPr>
            </p:sp>
            <p:sp>
              <p:nvSpPr>
                <p:cNvPr id="80" name="Freeform 80"/>
                <p:cNvSpPr/>
                <p:nvPr/>
              </p:nvSpPr>
              <p:spPr>
                <a:xfrm>
                  <a:off x="5445919" y="2667000"/>
                  <a:ext cx="35719" cy="35719"/>
                </a:xfrm>
                <a:custGeom>
                  <a:avLst/>
                  <a:gdLst/>
                  <a:ahLst/>
                  <a:cxnLst/>
                  <a:rect l="l" t="t" r="r" b="b"/>
                  <a:pathLst>
                    <a:path w="35719" h="35719">
                      <a:moveTo>
                        <a:pt x="35719" y="0"/>
                      </a:moveTo>
                      <a:lnTo>
                        <a:pt x="0" y="35719"/>
                      </a:lnTo>
                    </a:path>
                  </a:pathLst>
                </a:custGeom>
                <a:noFill/>
                <a:ln w="35719">
                  <a:solidFill>
                    <a:srgbClr val="8A1700"/>
                  </a:solidFill>
                </a:ln>
              </p:spPr>
            </p:sp>
            <p:sp>
              <p:nvSpPr>
                <p:cNvPr id="81" name="Freeform 81"/>
                <p:cNvSpPr/>
                <p:nvPr/>
              </p:nvSpPr>
              <p:spPr>
                <a:xfrm>
                  <a:off x="5600700" y="2762250"/>
                  <a:ext cx="214312" cy="214312"/>
                </a:xfrm>
                <a:custGeom>
                  <a:avLst/>
                  <a:gdLst/>
                  <a:ahLst/>
                  <a:cxnLst/>
                  <a:rect l="l" t="t" r="r" b="b"/>
                  <a:pathLst>
                    <a:path w="214312" h="214312">
                      <a:moveTo>
                        <a:pt x="95250" y="0"/>
                      </a:moveTo>
                      <a:lnTo>
                        <a:pt x="214312" y="119062"/>
                      </a:lnTo>
                      <a:lnTo>
                        <a:pt x="119062" y="214312"/>
                      </a:lnTo>
                      <a:lnTo>
                        <a:pt x="0" y="95250"/>
                      </a:lnTo>
                    </a:path>
                  </a:pathLst>
                </a:custGeom>
                <a:noFill/>
                <a:ln w="35719">
                  <a:solidFill>
                    <a:srgbClr val="8A1700"/>
                  </a:solidFill>
                </a:ln>
              </p:spPr>
            </p:sp>
            <p:sp>
              <p:nvSpPr>
                <p:cNvPr id="82" name="Freeform 82"/>
                <p:cNvSpPr/>
                <p:nvPr/>
              </p:nvSpPr>
              <p:spPr>
                <a:xfrm>
                  <a:off x="5660231" y="2881312"/>
                  <a:ext cx="35719" cy="35719"/>
                </a:xfrm>
                <a:custGeom>
                  <a:avLst/>
                  <a:gdLst/>
                  <a:ahLst/>
                  <a:cxnLst/>
                  <a:rect l="l" t="t" r="r" b="b"/>
                  <a:pathLst>
                    <a:path w="35719" h="35719">
                      <a:moveTo>
                        <a:pt x="35719" y="0"/>
                      </a:moveTo>
                      <a:lnTo>
                        <a:pt x="0" y="35719"/>
                      </a:lnTo>
                    </a:path>
                  </a:pathLst>
                </a:custGeom>
                <a:noFill/>
                <a:ln w="35719">
                  <a:solidFill>
                    <a:srgbClr val="8A1700"/>
                  </a:solidFill>
                </a:ln>
              </p:spPr>
            </p:sp>
          </p:grpSp>
          <p:sp>
            <p:nvSpPr>
              <p:cNvPr id="84" name="TextBox 84"/>
              <p:cNvSpPr txBox="1"/>
              <p:nvPr/>
            </p:nvSpPr>
            <p:spPr>
              <a:xfrm>
                <a:off x="5312664" y="3696652"/>
                <a:ext cx="576072" cy="205359"/>
              </a:xfrm>
              <a:prstGeom prst="rect">
                <a:avLst/>
              </a:prstGeom>
              <a:noFill/>
              <a:ln>
                <a:noFill/>
              </a:ln>
            </p:spPr>
            <p:txBody>
              <a:bodyPr wrap="none" lIns="0" tIns="0" rIns="0" bIns="0" anchor="t" anchorCtr="0">
                <a:spAutoFit/>
              </a:bodyPr>
              <a:lstStyle/>
              <a:p>
                <a:pPr algn="ctr"/>
                <a:r>
                  <a:rPr lang="zh-CN" sz="1050" b="1" dirty="0">
                    <a:solidFill>
                      <a:srgbClr val="520E00"/>
                    </a:solidFill>
                    <a:latin typeface="+mn-lt"/>
                    <a:ea typeface="+mn-ea"/>
                    <a:cs typeface="+mn-cs"/>
                  </a:rPr>
                  <a:t>解决问题</a:t>
                </a:r>
              </a:p>
            </p:txBody>
          </p:sp>
        </p:grpSp>
        <p:sp>
          <p:nvSpPr>
            <p:cNvPr id="86" name="Freeform 86"/>
            <p:cNvSpPr/>
            <p:nvPr/>
          </p:nvSpPr>
          <p:spPr>
            <a:xfrm>
              <a:off x="6115050" y="2876550"/>
              <a:ext cx="304800" cy="171450"/>
            </a:xfrm>
            <a:prstGeom prst="rightArrow">
              <a:avLst/>
            </a:prstGeom>
            <a:solidFill>
              <a:srgbClr val="E84E2F"/>
            </a:solidFill>
            <a:ln>
              <a:noFill/>
            </a:ln>
          </p:spPr>
        </p:sp>
        <p:grpSp>
          <p:nvGrpSpPr>
            <p:cNvPr id="94" name="step-3"/>
            <p:cNvGrpSpPr/>
            <p:nvPr/>
          </p:nvGrpSpPr>
          <p:grpSpPr>
            <a:xfrm>
              <a:off x="6267450" y="1428750"/>
              <a:ext cx="1104900" cy="3067050"/>
              <a:chOff x="6267450" y="1428750"/>
              <a:chExt cx="1104900" cy="3067050"/>
            </a:xfrm>
          </p:grpSpPr>
          <p:sp>
            <p:nvSpPr>
              <p:cNvPr id="87" name="Rectangle 87"/>
              <p:cNvSpPr/>
              <p:nvPr/>
            </p:nvSpPr>
            <p:spPr>
              <a:xfrm>
                <a:off x="6267450" y="1428750"/>
                <a:ext cx="1104900" cy="3067050"/>
              </a:xfrm>
              <a:prstGeom prst="roundRect">
                <a:avLst>
                  <a:gd name="adj" fmla="val 6897"/>
                </a:avLst>
              </a:prstGeom>
              <a:solidFill>
                <a:srgbClr val="EEF3FB"/>
              </a:solidFill>
              <a:ln>
                <a:noFill/>
              </a:ln>
            </p:spPr>
          </p:sp>
          <p:sp>
            <p:nvSpPr>
              <p:cNvPr id="88" name="Ellipse 88"/>
              <p:cNvSpPr/>
              <p:nvPr/>
            </p:nvSpPr>
            <p:spPr>
              <a:xfrm>
                <a:off x="6648450" y="1657350"/>
                <a:ext cx="342900" cy="342900"/>
              </a:xfrm>
              <a:prstGeom prst="ellipse">
                <a:avLst/>
              </a:prstGeom>
              <a:solidFill>
                <a:srgbClr val="8A1700"/>
              </a:solidFill>
              <a:ln>
                <a:noFill/>
              </a:ln>
            </p:spPr>
          </p:sp>
          <p:sp>
            <p:nvSpPr>
              <p:cNvPr id="89" name="TextBox 89"/>
              <p:cNvSpPr txBox="1"/>
              <p:nvPr/>
            </p:nvSpPr>
            <p:spPr>
              <a:xfrm>
                <a:off x="6720512" y="175641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grpSp>
            <p:nvGrpSpPr>
              <p:cNvPr id="92" name="Group 92"/>
              <p:cNvGrpSpPr/>
              <p:nvPr/>
            </p:nvGrpSpPr>
            <p:grpSpPr>
              <a:xfrm>
                <a:off x="6604870" y="2585085"/>
                <a:ext cx="437157" cy="391478"/>
                <a:chOff x="6604870" y="2585085"/>
                <a:chExt cx="437157" cy="391478"/>
              </a:xfrm>
            </p:grpSpPr>
            <p:sp>
              <p:nvSpPr>
                <p:cNvPr id="90" name="Freeform 90"/>
                <p:cNvSpPr/>
                <p:nvPr/>
              </p:nvSpPr>
              <p:spPr>
                <a:xfrm>
                  <a:off x="6604870" y="2585085"/>
                  <a:ext cx="437157" cy="391478"/>
                </a:xfrm>
                <a:custGeom>
                  <a:avLst/>
                  <a:gdLst/>
                  <a:ahLst/>
                  <a:cxnLst/>
                  <a:rect l="l" t="t" r="r" b="b"/>
                  <a:pathLst>
                    <a:path w="437157" h="391478">
                      <a:moveTo>
                        <a:pt x="393624" y="214599"/>
                      </a:moveTo>
                      <a:lnTo>
                        <a:pt x="215030" y="391478"/>
                      </a:lnTo>
                      <a:lnTo>
                        <a:pt x="146069" y="323184"/>
                      </a:lnTo>
                      <a:moveTo>
                        <a:pt x="408" y="130207"/>
                      </a:moveTo>
                      <a:cubicBezTo>
                        <a:pt x="0" y="78691"/>
                        <a:pt x="32771" y="32755"/>
                        <a:pt x="81617" y="16378"/>
                      </a:cubicBezTo>
                      <a:cubicBezTo>
                        <a:pt x="130463" y="0"/>
                        <a:pt x="184301" y="16896"/>
                        <a:pt x="215030" y="58246"/>
                      </a:cubicBezTo>
                      <a:cubicBezTo>
                        <a:pt x="241874" y="22546"/>
                        <a:pt x="286440" y="4873"/>
                        <a:pt x="330454" y="12474"/>
                      </a:cubicBezTo>
                      <a:cubicBezTo>
                        <a:pt x="374469" y="20075"/>
                        <a:pt x="410527" y="51671"/>
                        <a:pt x="423842" y="94306"/>
                      </a:cubicBezTo>
                      <a:cubicBezTo>
                        <a:pt x="437157" y="136941"/>
                        <a:pt x="425490" y="183443"/>
                        <a:pt x="393624" y="214742"/>
                      </a:cubicBezTo>
                    </a:path>
                  </a:pathLst>
                </a:custGeom>
                <a:noFill/>
                <a:ln w="35719">
                  <a:solidFill>
                    <a:srgbClr val="8A1700"/>
                  </a:solidFill>
                </a:ln>
              </p:spPr>
            </p:sp>
            <p:sp>
              <p:nvSpPr>
                <p:cNvPr id="91" name="Freeform 91"/>
                <p:cNvSpPr/>
                <p:nvPr/>
              </p:nvSpPr>
              <p:spPr>
                <a:xfrm>
                  <a:off x="6605588" y="2714625"/>
                  <a:ext cx="238125" cy="142875"/>
                </a:xfrm>
                <a:custGeom>
                  <a:avLst/>
                  <a:gdLst/>
                  <a:ahLst/>
                  <a:cxnLst/>
                  <a:rect l="l" t="t" r="r" b="b"/>
                  <a:pathLst>
                    <a:path w="238125" h="142875">
                      <a:moveTo>
                        <a:pt x="0" y="71438"/>
                      </a:moveTo>
                      <a:lnTo>
                        <a:pt x="47625" y="71438"/>
                      </a:lnTo>
                      <a:lnTo>
                        <a:pt x="95250" y="142875"/>
                      </a:lnTo>
                      <a:lnTo>
                        <a:pt x="142875" y="0"/>
                      </a:lnTo>
                      <a:lnTo>
                        <a:pt x="166688" y="71438"/>
                      </a:lnTo>
                      <a:lnTo>
                        <a:pt x="238125" y="71438"/>
                      </a:lnTo>
                    </a:path>
                  </a:pathLst>
                </a:custGeom>
                <a:noFill/>
                <a:ln w="35719">
                  <a:solidFill>
                    <a:srgbClr val="8A1700"/>
                  </a:solidFill>
                </a:ln>
              </p:spPr>
            </p:sp>
          </p:grpSp>
          <p:sp>
            <p:nvSpPr>
              <p:cNvPr id="93" name="TextBox 93"/>
              <p:cNvSpPr txBox="1"/>
              <p:nvPr/>
            </p:nvSpPr>
            <p:spPr>
              <a:xfrm>
                <a:off x="6547866" y="3620452"/>
                <a:ext cx="544068" cy="395859"/>
              </a:xfrm>
              <a:prstGeom prst="rect">
                <a:avLst/>
              </a:prstGeom>
              <a:noFill/>
              <a:ln>
                <a:noFill/>
              </a:ln>
            </p:spPr>
            <p:txBody>
              <a:bodyPr wrap="none" lIns="0" tIns="0" rIns="0" bIns="0" anchor="t" anchorCtr="0">
                <a:spAutoFit/>
              </a:bodyPr>
              <a:lstStyle/>
              <a:p>
                <a:pPr algn="ctr">
                  <a:lnSpc>
                    <a:spcPts val="1500"/>
                  </a:lnSpc>
                </a:pPr>
                <a:r>
                  <a:rPr lang="zh-CN" sz="1050" b="1" dirty="0">
                    <a:solidFill>
                      <a:srgbClr val="520E00"/>
                    </a:solidFill>
                    <a:latin typeface="+mn-lt"/>
                    <a:ea typeface="+mn-ea"/>
                    <a:cs typeface="+mn-cs"/>
                  </a:rPr>
                  <a:t>金融健康</a:t>
                </a:r>
                <a:br/>
                <a:r>
                  <a:rPr lang="zh-CN" sz="1050" b="1" dirty="0">
                    <a:solidFill>
                      <a:srgbClr val="520E00"/>
                    </a:solidFill>
                    <a:latin typeface="+mn-lt"/>
                    <a:ea typeface="+mn-ea"/>
                    <a:cs typeface="+mn-cs"/>
                  </a:rPr>
                  <a:t>诊断</a:t>
                </a:r>
              </a:p>
            </p:txBody>
          </p:sp>
        </p:grpSp>
        <p:sp>
          <p:nvSpPr>
            <p:cNvPr id="95" name="Freeform 95"/>
            <p:cNvSpPr/>
            <p:nvPr/>
          </p:nvSpPr>
          <p:spPr>
            <a:xfrm>
              <a:off x="7334250" y="2876550"/>
              <a:ext cx="304800" cy="171450"/>
            </a:xfrm>
            <a:prstGeom prst="rightArrow">
              <a:avLst/>
            </a:prstGeom>
            <a:solidFill>
              <a:srgbClr val="E84E2F"/>
            </a:solidFill>
            <a:ln>
              <a:noFill/>
            </a:ln>
          </p:spPr>
        </p:sp>
        <p:grpSp>
          <p:nvGrpSpPr>
            <p:cNvPr id="105" name="step-4"/>
            <p:cNvGrpSpPr/>
            <p:nvPr/>
          </p:nvGrpSpPr>
          <p:grpSpPr>
            <a:xfrm>
              <a:off x="7486650" y="1428750"/>
              <a:ext cx="1085850" cy="3067050"/>
              <a:chOff x="7486650" y="1428750"/>
              <a:chExt cx="1085850" cy="3067050"/>
            </a:xfrm>
          </p:grpSpPr>
          <p:sp>
            <p:nvSpPr>
              <p:cNvPr id="96" name="Rectangle 96"/>
              <p:cNvSpPr/>
              <p:nvPr/>
            </p:nvSpPr>
            <p:spPr>
              <a:xfrm>
                <a:off x="7486650" y="1428750"/>
                <a:ext cx="1085850" cy="3067050"/>
              </a:xfrm>
              <a:prstGeom prst="roundRect">
                <a:avLst>
                  <a:gd name="adj" fmla="val 7018"/>
                </a:avLst>
              </a:prstGeom>
              <a:solidFill>
                <a:srgbClr val="EEF3FB"/>
              </a:solidFill>
              <a:ln>
                <a:noFill/>
              </a:ln>
            </p:spPr>
          </p:sp>
          <p:sp>
            <p:nvSpPr>
              <p:cNvPr id="97" name="Ellipse 97"/>
              <p:cNvSpPr/>
              <p:nvPr/>
            </p:nvSpPr>
            <p:spPr>
              <a:xfrm>
                <a:off x="7858125" y="1657350"/>
                <a:ext cx="342900" cy="342900"/>
              </a:xfrm>
              <a:prstGeom prst="ellipse">
                <a:avLst/>
              </a:prstGeom>
              <a:solidFill>
                <a:srgbClr val="8A1700"/>
              </a:solidFill>
              <a:ln>
                <a:noFill/>
              </a:ln>
            </p:spPr>
          </p:sp>
          <p:sp>
            <p:nvSpPr>
              <p:cNvPr id="98" name="TextBox 98"/>
              <p:cNvSpPr txBox="1"/>
              <p:nvPr/>
            </p:nvSpPr>
            <p:spPr>
              <a:xfrm>
                <a:off x="7930187" y="1756410"/>
                <a:ext cx="19877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4​</a:t>
                </a:r>
              </a:p>
            </p:txBody>
          </p:sp>
          <p:grpSp>
            <p:nvGrpSpPr>
              <p:cNvPr id="103" name="Group 103"/>
              <p:cNvGrpSpPr/>
              <p:nvPr/>
            </p:nvGrpSpPr>
            <p:grpSpPr>
              <a:xfrm>
                <a:off x="7862888" y="2571750"/>
                <a:ext cx="357187" cy="404812"/>
                <a:chOff x="7862888" y="2571750"/>
                <a:chExt cx="357187" cy="404812"/>
              </a:xfrm>
            </p:grpSpPr>
            <p:sp>
              <p:nvSpPr>
                <p:cNvPr id="99" name="Freeform 99"/>
                <p:cNvSpPr/>
                <p:nvPr/>
              </p:nvSpPr>
              <p:spPr>
                <a:xfrm>
                  <a:off x="7862888" y="2571750"/>
                  <a:ext cx="285750" cy="381000"/>
                </a:xfrm>
                <a:custGeom>
                  <a:avLst/>
                  <a:gdLst/>
                  <a:ahLst/>
                  <a:cxnLst/>
                  <a:rect l="l" t="t" r="r" b="b"/>
                  <a:pathLst>
                    <a:path w="285750" h="381000">
                      <a:moveTo>
                        <a:pt x="109895" y="381000"/>
                      </a:moveTo>
                      <a:lnTo>
                        <a:pt x="47625" y="381000"/>
                      </a:lnTo>
                      <a:cubicBezTo>
                        <a:pt x="21322" y="381000"/>
                        <a:pt x="0" y="359678"/>
                        <a:pt x="0" y="333375"/>
                      </a:cubicBezTo>
                      <a:lnTo>
                        <a:pt x="0" y="47625"/>
                      </a:lnTo>
                      <a:cubicBezTo>
                        <a:pt x="0" y="21322"/>
                        <a:pt x="21322" y="0"/>
                        <a:pt x="47625" y="0"/>
                      </a:cubicBezTo>
                      <a:lnTo>
                        <a:pt x="238125" y="0"/>
                      </a:lnTo>
                      <a:cubicBezTo>
                        <a:pt x="264428" y="0"/>
                        <a:pt x="285750" y="21322"/>
                        <a:pt x="285750" y="47625"/>
                      </a:cubicBezTo>
                      <a:lnTo>
                        <a:pt x="285750" y="238125"/>
                      </a:lnTo>
                    </a:path>
                  </a:pathLst>
                </a:custGeom>
                <a:noFill/>
                <a:ln w="35719">
                  <a:solidFill>
                    <a:srgbClr val="8A1700"/>
                  </a:solidFill>
                </a:ln>
              </p:spPr>
            </p:sp>
            <p:sp>
              <p:nvSpPr>
                <p:cNvPr id="100" name="Freeform 100"/>
                <p:cNvSpPr/>
                <p:nvPr/>
              </p:nvSpPr>
              <p:spPr>
                <a:xfrm>
                  <a:off x="8077200" y="2881312"/>
                  <a:ext cx="142875" cy="95250"/>
                </a:xfrm>
                <a:custGeom>
                  <a:avLst/>
                  <a:gdLst/>
                  <a:ahLst/>
                  <a:cxnLst/>
                  <a:rect l="l" t="t" r="r" b="b"/>
                  <a:pathLst>
                    <a:path w="142875" h="95250">
                      <a:moveTo>
                        <a:pt x="0" y="47625"/>
                      </a:moveTo>
                      <a:lnTo>
                        <a:pt x="47625" y="95250"/>
                      </a:lnTo>
                      <a:lnTo>
                        <a:pt x="142875" y="0"/>
                      </a:lnTo>
                    </a:path>
                  </a:pathLst>
                </a:custGeom>
                <a:noFill/>
                <a:ln w="35719">
                  <a:solidFill>
                    <a:srgbClr val="8A1700"/>
                  </a:solidFill>
                </a:ln>
              </p:spPr>
            </p:sp>
            <p:sp>
              <p:nvSpPr>
                <p:cNvPr id="101" name="Freeform 101"/>
                <p:cNvSpPr/>
                <p:nvPr/>
              </p:nvSpPr>
              <p:spPr>
                <a:xfrm>
                  <a:off x="7958138" y="2667000"/>
                  <a:ext cx="95250" cy="9525"/>
                </a:xfrm>
                <a:custGeom>
                  <a:avLst/>
                  <a:gdLst/>
                  <a:ahLst/>
                  <a:cxnLst/>
                  <a:rect l="l" t="t" r="r" b="b"/>
                  <a:pathLst>
                    <a:path w="95250" h="9525">
                      <a:moveTo>
                        <a:pt x="0" y="0"/>
                      </a:moveTo>
                      <a:lnTo>
                        <a:pt x="95250" y="0"/>
                      </a:lnTo>
                    </a:path>
                  </a:pathLst>
                </a:custGeom>
                <a:noFill/>
                <a:ln w="35719">
                  <a:solidFill>
                    <a:srgbClr val="8A1700"/>
                  </a:solidFill>
                </a:ln>
              </p:spPr>
            </p:sp>
            <p:sp>
              <p:nvSpPr>
                <p:cNvPr id="102" name="Freeform 102"/>
                <p:cNvSpPr/>
                <p:nvPr/>
              </p:nvSpPr>
              <p:spPr>
                <a:xfrm>
                  <a:off x="7958138" y="2762250"/>
                  <a:ext cx="47625" cy="9525"/>
                </a:xfrm>
                <a:custGeom>
                  <a:avLst/>
                  <a:gdLst/>
                  <a:ahLst/>
                  <a:cxnLst/>
                  <a:rect l="l" t="t" r="r" b="b"/>
                  <a:pathLst>
                    <a:path w="47625" h="9525">
                      <a:moveTo>
                        <a:pt x="0" y="0"/>
                      </a:moveTo>
                      <a:lnTo>
                        <a:pt x="47625" y="0"/>
                      </a:lnTo>
                    </a:path>
                  </a:pathLst>
                </a:custGeom>
                <a:noFill/>
                <a:ln w="35719">
                  <a:solidFill>
                    <a:srgbClr val="8A1700"/>
                  </a:solidFill>
                </a:ln>
              </p:spPr>
            </p:sp>
          </p:grpSp>
          <p:sp>
            <p:nvSpPr>
              <p:cNvPr id="104" name="TextBox 104"/>
              <p:cNvSpPr txBox="1"/>
              <p:nvPr/>
            </p:nvSpPr>
            <p:spPr>
              <a:xfrm>
                <a:off x="7757541" y="3620452"/>
                <a:ext cx="544068" cy="395859"/>
              </a:xfrm>
              <a:prstGeom prst="rect">
                <a:avLst/>
              </a:prstGeom>
              <a:noFill/>
              <a:ln>
                <a:noFill/>
              </a:ln>
            </p:spPr>
            <p:txBody>
              <a:bodyPr wrap="none" lIns="0" tIns="0" rIns="0" bIns="0" anchor="t" anchorCtr="0">
                <a:spAutoFit/>
              </a:bodyPr>
              <a:lstStyle/>
              <a:p>
                <a:pPr algn="ctr">
                  <a:lnSpc>
                    <a:spcPts val="1500"/>
                  </a:lnSpc>
                </a:pPr>
                <a:r>
                  <a:rPr lang="zh-CN" sz="1050" b="1" dirty="0">
                    <a:solidFill>
                      <a:srgbClr val="520E00"/>
                    </a:solidFill>
                    <a:latin typeface="+mn-lt"/>
                    <a:ea typeface="+mn-ea"/>
                    <a:cs typeface="+mn-cs"/>
                  </a:rPr>
                  <a:t>重配服务</a:t>
                </a:r>
                <a:br/>
                <a:r>
                  <a:rPr lang="zh-CN" sz="1050" b="1" dirty="0">
                    <a:solidFill>
                      <a:srgbClr val="520E00"/>
                    </a:solidFill>
                    <a:latin typeface="+mn-lt"/>
                    <a:ea typeface="+mn-ea"/>
                    <a:cs typeface="+mn-cs"/>
                  </a:rPr>
                  <a:t>计划</a:t>
                </a:r>
              </a:p>
            </p:txBody>
          </p:sp>
        </p:grpSp>
      </p:grpSp>
      <p:grpSp>
        <p:nvGrpSpPr>
          <p:cNvPr id="140" name="tier-strategy"/>
          <p:cNvGrpSpPr/>
          <p:nvPr/>
        </p:nvGrpSpPr>
        <p:grpSpPr>
          <a:xfrm>
            <a:off x="8686800" y="914400"/>
            <a:ext cx="3276600" cy="3429000"/>
            <a:chOff x="8686800" y="914400"/>
            <a:chExt cx="3276600" cy="3429000"/>
          </a:xfrm>
        </p:grpSpPr>
        <p:grpSp>
          <p:nvGrpSpPr>
            <p:cNvPr id="114" name="tier-high"/>
            <p:cNvGrpSpPr/>
            <p:nvPr/>
          </p:nvGrpSpPr>
          <p:grpSpPr>
            <a:xfrm>
              <a:off x="8686800" y="914400"/>
              <a:ext cx="3276600" cy="1066800"/>
              <a:chOff x="8686800" y="914400"/>
              <a:chExt cx="3276600" cy="1066800"/>
            </a:xfrm>
          </p:grpSpPr>
          <p:sp>
            <p:nvSpPr>
              <p:cNvPr id="107" name="Rectangle 107"/>
              <p:cNvSpPr/>
              <p:nvPr/>
            </p:nvSpPr>
            <p:spPr>
              <a:xfrm>
                <a:off x="8686800" y="914400"/>
                <a:ext cx="3276600" cy="1066800"/>
              </a:xfrm>
              <a:prstGeom prst="roundRect">
                <a:avLst>
                  <a:gd name="adj" fmla="val 7143"/>
                </a:avLst>
              </a:prstGeom>
              <a:solidFill>
                <a:srgbClr val="F5F8FE"/>
              </a:solidFill>
              <a:ln w="9525">
                <a:solidFill>
                  <a:srgbClr val="C9D5EA"/>
                </a:solidFill>
              </a:ln>
            </p:spPr>
          </p:sp>
          <p:sp>
            <p:nvSpPr>
              <p:cNvPr id="108" name="Rectangle 108"/>
              <p:cNvSpPr/>
              <p:nvPr/>
            </p:nvSpPr>
            <p:spPr>
              <a:xfrm>
                <a:off x="8686800" y="914400"/>
                <a:ext cx="1047750" cy="1066800"/>
              </a:xfrm>
              <a:prstGeom prst="roundRect">
                <a:avLst>
                  <a:gd name="adj" fmla="val 7273"/>
                </a:avLst>
              </a:prstGeom>
              <a:solidFill>
                <a:srgbClr val="DCE6F5"/>
              </a:solidFill>
              <a:ln>
                <a:noFill/>
              </a:ln>
            </p:spPr>
          </p:sp>
          <p:grpSp>
            <p:nvGrpSpPr>
              <p:cNvPr id="111" name="Group 111"/>
              <p:cNvGrpSpPr/>
              <p:nvPr/>
            </p:nvGrpSpPr>
            <p:grpSpPr>
              <a:xfrm>
                <a:off x="9077325" y="1247775"/>
                <a:ext cx="266700" cy="400050"/>
                <a:chOff x="9077325" y="1247775"/>
                <a:chExt cx="266700" cy="400050"/>
              </a:xfrm>
            </p:grpSpPr>
            <p:sp>
              <p:nvSpPr>
                <p:cNvPr id="109" name="Freeform 109"/>
                <p:cNvSpPr/>
                <p:nvPr/>
              </p:nvSpPr>
              <p:spPr>
                <a:xfrm>
                  <a:off x="9121775" y="1247775"/>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26670">
                  <a:solidFill>
                    <a:srgbClr val="8A1700"/>
                  </a:solidFill>
                </a:ln>
              </p:spPr>
            </p:sp>
            <p:sp>
              <p:nvSpPr>
                <p:cNvPr id="110" name="Freeform 110"/>
                <p:cNvSpPr/>
                <p:nvPr/>
              </p:nvSpPr>
              <p:spPr>
                <a:xfrm>
                  <a:off x="9077325" y="1514475"/>
                  <a:ext cx="266700" cy="133350"/>
                </a:xfrm>
                <a:custGeom>
                  <a:avLst/>
                  <a:gdLst/>
                  <a:ahLst/>
                  <a:cxnLst/>
                  <a:rect l="l" t="t" r="r" b="b"/>
                  <a:pathLst>
                    <a:path w="266700" h="133350">
                      <a:moveTo>
                        <a:pt x="0" y="133350"/>
                      </a:moveTo>
                      <a:lnTo>
                        <a:pt x="0" y="88900"/>
                      </a:lnTo>
                      <a:cubicBezTo>
                        <a:pt x="0" y="39802"/>
                        <a:pt x="39802" y="0"/>
                        <a:pt x="88900" y="0"/>
                      </a:cubicBezTo>
                      <a:lnTo>
                        <a:pt x="177800" y="0"/>
                      </a:lnTo>
                      <a:cubicBezTo>
                        <a:pt x="226898" y="0"/>
                        <a:pt x="266700" y="39802"/>
                        <a:pt x="266700" y="88900"/>
                      </a:cubicBezTo>
                      <a:lnTo>
                        <a:pt x="266700" y="133350"/>
                      </a:lnTo>
                    </a:path>
                  </a:pathLst>
                </a:custGeom>
                <a:noFill/>
                <a:ln w="26670">
                  <a:solidFill>
                    <a:srgbClr val="8A1700"/>
                  </a:solidFill>
                </a:ln>
              </p:spPr>
            </p:sp>
          </p:grpSp>
          <p:sp>
            <p:nvSpPr>
              <p:cNvPr id="112" name="TextBox 112"/>
              <p:cNvSpPr txBox="1"/>
              <p:nvPr/>
            </p:nvSpPr>
            <p:spPr>
              <a:xfrm>
                <a:off x="9899904" y="1242060"/>
                <a:ext cx="981456"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高价值客户：</a:t>
                </a:r>
              </a:p>
            </p:txBody>
          </p:sp>
          <p:sp>
            <p:nvSpPr>
              <p:cNvPr id="113" name="TextBox 113"/>
              <p:cNvSpPr txBox="1"/>
              <p:nvPr/>
            </p:nvSpPr>
            <p:spPr>
              <a:xfrm>
                <a:off x="9900666" y="1524952"/>
                <a:ext cx="1000125" cy="205359"/>
              </a:xfrm>
              <a:prstGeom prst="rect">
                <a:avLst/>
              </a:prstGeom>
              <a:noFill/>
              <a:ln>
                <a:noFill/>
              </a:ln>
            </p:spPr>
            <p:txBody>
              <a:bodyPr wrap="none" lIns="0" tIns="0" rIns="0" bIns="0" anchor="t" anchorCtr="0">
                <a:spAutoFit/>
              </a:bodyPr>
              <a:lstStyle/>
              <a:p>
                <a:pPr algn="l"/>
                <a:r>
                  <a:rPr lang="zh-CN" sz="1050" dirty="0">
                    <a:solidFill>
                      <a:srgbClr val="60403A"/>
                    </a:solidFill>
                    <a:latin typeface="+mn-lt"/>
                    <a:ea typeface="+mn-ea"/>
                    <a:cs typeface="+mn-cs"/>
                  </a:rPr>
                  <a:t>一对一人工挽回</a:t>
                </a:r>
              </a:p>
            </p:txBody>
          </p:sp>
        </p:grpSp>
        <p:grpSp>
          <p:nvGrpSpPr>
            <p:cNvPr id="124" name="tier-potential"/>
            <p:cNvGrpSpPr/>
            <p:nvPr/>
          </p:nvGrpSpPr>
          <p:grpSpPr>
            <a:xfrm>
              <a:off x="8686800" y="2095500"/>
              <a:ext cx="3276600" cy="1066800"/>
              <a:chOff x="8686800" y="2095500"/>
              <a:chExt cx="3276600" cy="1066800"/>
            </a:xfrm>
          </p:grpSpPr>
          <p:sp>
            <p:nvSpPr>
              <p:cNvPr id="115" name="Rectangle 115"/>
              <p:cNvSpPr/>
              <p:nvPr/>
            </p:nvSpPr>
            <p:spPr>
              <a:xfrm>
                <a:off x="8686800" y="2095500"/>
                <a:ext cx="3276600" cy="1066800"/>
              </a:xfrm>
              <a:prstGeom prst="roundRect">
                <a:avLst>
                  <a:gd name="adj" fmla="val 7143"/>
                </a:avLst>
              </a:prstGeom>
              <a:solidFill>
                <a:srgbClr val="F5F8FE"/>
              </a:solidFill>
              <a:ln w="9525">
                <a:solidFill>
                  <a:srgbClr val="C9D5EA"/>
                </a:solidFill>
              </a:ln>
            </p:spPr>
          </p:sp>
          <p:sp>
            <p:nvSpPr>
              <p:cNvPr id="116" name="Rectangle 116"/>
              <p:cNvSpPr/>
              <p:nvPr/>
            </p:nvSpPr>
            <p:spPr>
              <a:xfrm>
                <a:off x="8686800" y="2095500"/>
                <a:ext cx="1047750" cy="1066800"/>
              </a:xfrm>
              <a:prstGeom prst="roundRect">
                <a:avLst>
                  <a:gd name="adj" fmla="val 7273"/>
                </a:avLst>
              </a:prstGeom>
              <a:solidFill>
                <a:srgbClr val="DCE6F5"/>
              </a:solidFill>
              <a:ln>
                <a:noFill/>
              </a:ln>
            </p:spPr>
          </p:sp>
          <p:grpSp>
            <p:nvGrpSpPr>
              <p:cNvPr id="121" name="Group 121"/>
              <p:cNvGrpSpPr/>
              <p:nvPr/>
            </p:nvGrpSpPr>
            <p:grpSpPr>
              <a:xfrm>
                <a:off x="9032875" y="2428875"/>
                <a:ext cx="355600" cy="422274"/>
                <a:chOff x="9032875" y="2428875"/>
                <a:chExt cx="355600" cy="422274"/>
              </a:xfrm>
            </p:grpSpPr>
            <p:sp>
              <p:nvSpPr>
                <p:cNvPr id="117" name="Freeform 117"/>
                <p:cNvSpPr/>
                <p:nvPr/>
              </p:nvSpPr>
              <p:spPr>
                <a:xfrm>
                  <a:off x="9032875" y="2428875"/>
                  <a:ext cx="355599" cy="244475"/>
                </a:xfrm>
                <a:custGeom>
                  <a:avLst/>
                  <a:gdLst/>
                  <a:ahLst/>
                  <a:cxnLst/>
                  <a:rect l="l" t="t" r="r" b="b"/>
                  <a:pathLst>
                    <a:path w="355599" h="244475">
                      <a:moveTo>
                        <a:pt x="0" y="244475"/>
                      </a:moveTo>
                      <a:lnTo>
                        <a:pt x="0" y="177800"/>
                      </a:lnTo>
                      <a:cubicBezTo>
                        <a:pt x="0" y="79604"/>
                        <a:pt x="79604" y="0"/>
                        <a:pt x="177800" y="0"/>
                      </a:cubicBezTo>
                      <a:cubicBezTo>
                        <a:pt x="275996" y="0"/>
                        <a:pt x="355599" y="79604"/>
                        <a:pt x="355599" y="177800"/>
                      </a:cubicBezTo>
                      <a:lnTo>
                        <a:pt x="355599" y="244475"/>
                      </a:lnTo>
                    </a:path>
                  </a:pathLst>
                </a:custGeom>
                <a:noFill/>
                <a:ln w="26670">
                  <a:solidFill>
                    <a:srgbClr val="8A1700"/>
                  </a:solidFill>
                </a:ln>
              </p:spPr>
            </p:sp>
            <p:sp>
              <p:nvSpPr>
                <p:cNvPr id="118" name="Freeform 118"/>
                <p:cNvSpPr/>
                <p:nvPr/>
              </p:nvSpPr>
              <p:spPr>
                <a:xfrm>
                  <a:off x="9210675" y="2784474"/>
                  <a:ext cx="133350" cy="66675"/>
                </a:xfrm>
                <a:custGeom>
                  <a:avLst/>
                  <a:gdLst/>
                  <a:ahLst/>
                  <a:cxnLst/>
                  <a:rect l="l" t="t" r="r" b="b"/>
                  <a:pathLst>
                    <a:path w="133350" h="66675">
                      <a:moveTo>
                        <a:pt x="133350" y="0"/>
                      </a:moveTo>
                      <a:cubicBezTo>
                        <a:pt x="133350" y="36827"/>
                        <a:pt x="73654" y="66675"/>
                        <a:pt x="0" y="66675"/>
                      </a:cubicBezTo>
                    </a:path>
                  </a:pathLst>
                </a:custGeom>
                <a:noFill/>
                <a:ln w="26670">
                  <a:solidFill>
                    <a:srgbClr val="8A1700"/>
                  </a:solidFill>
                </a:ln>
              </p:spPr>
            </p:sp>
            <p:sp>
              <p:nvSpPr>
                <p:cNvPr id="119" name="Freeform 119"/>
                <p:cNvSpPr/>
                <p:nvPr/>
              </p:nvSpPr>
              <p:spPr>
                <a:xfrm>
                  <a:off x="9032875" y="2628900"/>
                  <a:ext cx="111125" cy="155575"/>
                </a:xfrm>
                <a:custGeom>
                  <a:avLst/>
                  <a:gdLst/>
                  <a:ahLst/>
                  <a:cxnLst/>
                  <a:rect l="l" t="t" r="r" b="b"/>
                  <a:pathLst>
                    <a:path w="111125" h="155575">
                      <a:moveTo>
                        <a:pt x="0" y="44450"/>
                      </a:moveTo>
                      <a:cubicBezTo>
                        <a:pt x="0" y="19901"/>
                        <a:pt x="19901" y="0"/>
                        <a:pt x="44450" y="0"/>
                      </a:cubicBezTo>
                      <a:lnTo>
                        <a:pt x="66675" y="0"/>
                      </a:lnTo>
                      <a:cubicBezTo>
                        <a:pt x="91224" y="0"/>
                        <a:pt x="111125" y="19901"/>
                        <a:pt x="111125" y="44450"/>
                      </a:cubicBezTo>
                      <a:lnTo>
                        <a:pt x="111125" y="111125"/>
                      </a:lnTo>
                      <a:cubicBezTo>
                        <a:pt x="111125" y="135674"/>
                        <a:pt x="91224" y="155575"/>
                        <a:pt x="66675" y="155575"/>
                      </a:cubicBezTo>
                      <a:lnTo>
                        <a:pt x="44450" y="155575"/>
                      </a:lnTo>
                      <a:cubicBezTo>
                        <a:pt x="19901" y="155575"/>
                        <a:pt x="0" y="135674"/>
                        <a:pt x="0" y="111125"/>
                      </a:cubicBezTo>
                      <a:lnTo>
                        <a:pt x="0" y="44450"/>
                      </a:lnTo>
                    </a:path>
                  </a:pathLst>
                </a:custGeom>
                <a:noFill/>
                <a:ln w="26670">
                  <a:solidFill>
                    <a:srgbClr val="8A1700"/>
                  </a:solidFill>
                </a:ln>
              </p:spPr>
            </p:sp>
            <p:sp>
              <p:nvSpPr>
                <p:cNvPr id="120" name="Freeform 120"/>
                <p:cNvSpPr/>
                <p:nvPr/>
              </p:nvSpPr>
              <p:spPr>
                <a:xfrm>
                  <a:off x="9277350" y="2628900"/>
                  <a:ext cx="111125" cy="155575"/>
                </a:xfrm>
                <a:custGeom>
                  <a:avLst/>
                  <a:gdLst/>
                  <a:ahLst/>
                  <a:cxnLst/>
                  <a:rect l="l" t="t" r="r" b="b"/>
                  <a:pathLst>
                    <a:path w="111125" h="155575">
                      <a:moveTo>
                        <a:pt x="0" y="44450"/>
                      </a:moveTo>
                      <a:cubicBezTo>
                        <a:pt x="0" y="19901"/>
                        <a:pt x="19901" y="0"/>
                        <a:pt x="44450" y="0"/>
                      </a:cubicBezTo>
                      <a:lnTo>
                        <a:pt x="66675" y="0"/>
                      </a:lnTo>
                      <a:cubicBezTo>
                        <a:pt x="91224" y="0"/>
                        <a:pt x="111125" y="19901"/>
                        <a:pt x="111125" y="44450"/>
                      </a:cubicBezTo>
                      <a:lnTo>
                        <a:pt x="111125" y="111125"/>
                      </a:lnTo>
                      <a:cubicBezTo>
                        <a:pt x="111125" y="135674"/>
                        <a:pt x="91224" y="155575"/>
                        <a:pt x="66675" y="155575"/>
                      </a:cubicBezTo>
                      <a:lnTo>
                        <a:pt x="44450" y="155575"/>
                      </a:lnTo>
                      <a:cubicBezTo>
                        <a:pt x="19901" y="155575"/>
                        <a:pt x="0" y="135674"/>
                        <a:pt x="0" y="111125"/>
                      </a:cubicBezTo>
                      <a:lnTo>
                        <a:pt x="0" y="44450"/>
                      </a:lnTo>
                    </a:path>
                  </a:pathLst>
                </a:custGeom>
                <a:noFill/>
                <a:ln w="26670">
                  <a:solidFill>
                    <a:srgbClr val="8A1700"/>
                  </a:solidFill>
                </a:ln>
              </p:spPr>
            </p:sp>
          </p:grpSp>
          <p:sp>
            <p:nvSpPr>
              <p:cNvPr id="122" name="TextBox 122"/>
              <p:cNvSpPr txBox="1"/>
              <p:nvPr/>
            </p:nvSpPr>
            <p:spPr>
              <a:xfrm>
                <a:off x="9899904" y="2423160"/>
                <a:ext cx="819912"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高潜客户：</a:t>
                </a:r>
              </a:p>
            </p:txBody>
          </p:sp>
          <p:sp>
            <p:nvSpPr>
              <p:cNvPr id="123" name="TextBox 123"/>
              <p:cNvSpPr txBox="1"/>
              <p:nvPr/>
            </p:nvSpPr>
            <p:spPr>
              <a:xfrm>
                <a:off x="9900666" y="2706052"/>
                <a:ext cx="957720" cy="205359"/>
              </a:xfrm>
              <a:prstGeom prst="rect">
                <a:avLst/>
              </a:prstGeom>
              <a:noFill/>
              <a:ln>
                <a:noFill/>
              </a:ln>
            </p:spPr>
            <p:txBody>
              <a:bodyPr wrap="none" lIns="0" tIns="0" rIns="0" bIns="0" anchor="t" anchorCtr="0">
                <a:spAutoFit/>
              </a:bodyPr>
              <a:lstStyle/>
              <a:p>
                <a:pPr algn="l"/>
                <a:r>
                  <a:rPr lang="zh-CN" sz="1050" dirty="0">
                    <a:solidFill>
                      <a:srgbClr val="60403A"/>
                    </a:solidFill>
                    <a:latin typeface="+mn-lt"/>
                    <a:ea typeface="+mn-ea"/>
                    <a:cs typeface="+mn-cs"/>
                  </a:rPr>
                  <a:t>人工 + 自动化​</a:t>
                </a:r>
              </a:p>
            </p:txBody>
          </p:sp>
        </p:grpSp>
        <p:grpSp>
          <p:nvGrpSpPr>
            <p:cNvPr id="139" name="tier-normal"/>
            <p:cNvGrpSpPr/>
            <p:nvPr/>
          </p:nvGrpSpPr>
          <p:grpSpPr>
            <a:xfrm>
              <a:off x="8686800" y="3276600"/>
              <a:ext cx="3276600" cy="1066800"/>
              <a:chOff x="8686800" y="3276600"/>
              <a:chExt cx="3276600" cy="1066800"/>
            </a:xfrm>
          </p:grpSpPr>
          <p:sp>
            <p:nvSpPr>
              <p:cNvPr id="125" name="Rectangle 125"/>
              <p:cNvSpPr/>
              <p:nvPr/>
            </p:nvSpPr>
            <p:spPr>
              <a:xfrm>
                <a:off x="8686800" y="3276600"/>
                <a:ext cx="3276600" cy="1066800"/>
              </a:xfrm>
              <a:prstGeom prst="roundRect">
                <a:avLst>
                  <a:gd name="adj" fmla="val 7143"/>
                </a:avLst>
              </a:prstGeom>
              <a:solidFill>
                <a:srgbClr val="F5F8FE"/>
              </a:solidFill>
              <a:ln w="9525">
                <a:solidFill>
                  <a:srgbClr val="C9D5EA"/>
                </a:solidFill>
              </a:ln>
            </p:spPr>
          </p:sp>
          <p:sp>
            <p:nvSpPr>
              <p:cNvPr id="126" name="Rectangle 126"/>
              <p:cNvSpPr/>
              <p:nvPr/>
            </p:nvSpPr>
            <p:spPr>
              <a:xfrm>
                <a:off x="8686800" y="3276600"/>
                <a:ext cx="1047750" cy="1066800"/>
              </a:xfrm>
              <a:prstGeom prst="roundRect">
                <a:avLst>
                  <a:gd name="adj" fmla="val 7273"/>
                </a:avLst>
              </a:prstGeom>
              <a:solidFill>
                <a:srgbClr val="DCE6F5"/>
              </a:solidFill>
              <a:ln>
                <a:noFill/>
              </a:ln>
            </p:spPr>
          </p:sp>
          <p:grpSp>
            <p:nvGrpSpPr>
              <p:cNvPr id="136" name="Group 136"/>
              <p:cNvGrpSpPr/>
              <p:nvPr/>
            </p:nvGrpSpPr>
            <p:grpSpPr>
              <a:xfrm>
                <a:off x="9055100" y="3587750"/>
                <a:ext cx="311150" cy="422275"/>
                <a:chOff x="9055100" y="3587750"/>
                <a:chExt cx="311150" cy="422275"/>
              </a:xfrm>
            </p:grpSpPr>
            <p:sp>
              <p:nvSpPr>
                <p:cNvPr id="127" name="Freeform 127"/>
                <p:cNvSpPr/>
                <p:nvPr/>
              </p:nvSpPr>
              <p:spPr>
                <a:xfrm>
                  <a:off x="9077325" y="3632200"/>
                  <a:ext cx="266700" cy="177800"/>
                </a:xfrm>
                <a:custGeom>
                  <a:avLst/>
                  <a:gdLst/>
                  <a:ahLst/>
                  <a:cxnLst/>
                  <a:rect l="l" t="t" r="r" b="b"/>
                  <a:pathLst>
                    <a:path w="266700" h="177800">
                      <a:moveTo>
                        <a:pt x="0" y="44450"/>
                      </a:moveTo>
                      <a:cubicBezTo>
                        <a:pt x="0" y="19901"/>
                        <a:pt x="19901" y="0"/>
                        <a:pt x="44450" y="0"/>
                      </a:cubicBezTo>
                      <a:lnTo>
                        <a:pt x="222250" y="0"/>
                      </a:lnTo>
                      <a:cubicBezTo>
                        <a:pt x="246799" y="0"/>
                        <a:pt x="266700" y="19901"/>
                        <a:pt x="266700" y="44450"/>
                      </a:cubicBezTo>
                      <a:lnTo>
                        <a:pt x="266700" y="133350"/>
                      </a:lnTo>
                      <a:cubicBezTo>
                        <a:pt x="266700" y="157899"/>
                        <a:pt x="246799" y="177800"/>
                        <a:pt x="222250" y="177800"/>
                      </a:cubicBezTo>
                      <a:lnTo>
                        <a:pt x="44450" y="177800"/>
                      </a:lnTo>
                      <a:cubicBezTo>
                        <a:pt x="19901" y="177800"/>
                        <a:pt x="0" y="157899"/>
                        <a:pt x="0" y="133350"/>
                      </a:cubicBezTo>
                      <a:lnTo>
                        <a:pt x="0" y="44450"/>
                      </a:lnTo>
                    </a:path>
                  </a:pathLst>
                </a:custGeom>
                <a:noFill/>
                <a:ln w="26670">
                  <a:solidFill>
                    <a:srgbClr val="8A1700"/>
                  </a:solidFill>
                </a:ln>
              </p:spPr>
            </p:sp>
            <p:sp>
              <p:nvSpPr>
                <p:cNvPr id="128" name="Freeform 128"/>
                <p:cNvSpPr/>
                <p:nvPr/>
              </p:nvSpPr>
              <p:spPr>
                <a:xfrm>
                  <a:off x="9210675" y="3587750"/>
                  <a:ext cx="9525" cy="44450"/>
                </a:xfrm>
                <a:custGeom>
                  <a:avLst/>
                  <a:gdLst/>
                  <a:ahLst/>
                  <a:cxnLst/>
                  <a:rect l="l" t="t" r="r" b="b"/>
                  <a:pathLst>
                    <a:path w="9525" h="44450">
                      <a:moveTo>
                        <a:pt x="0" y="0"/>
                      </a:moveTo>
                      <a:lnTo>
                        <a:pt x="0" y="44450"/>
                      </a:lnTo>
                    </a:path>
                  </a:pathLst>
                </a:custGeom>
                <a:noFill/>
                <a:ln w="26670">
                  <a:solidFill>
                    <a:srgbClr val="8A1700"/>
                  </a:solidFill>
                </a:ln>
              </p:spPr>
            </p:sp>
            <p:sp>
              <p:nvSpPr>
                <p:cNvPr id="129" name="Freeform 129"/>
                <p:cNvSpPr/>
                <p:nvPr/>
              </p:nvSpPr>
              <p:spPr>
                <a:xfrm>
                  <a:off x="9144000" y="3810000"/>
                  <a:ext cx="9525" cy="200025"/>
                </a:xfrm>
                <a:custGeom>
                  <a:avLst/>
                  <a:gdLst/>
                  <a:ahLst/>
                  <a:cxnLst/>
                  <a:rect l="l" t="t" r="r" b="b"/>
                  <a:pathLst>
                    <a:path w="9525" h="200025">
                      <a:moveTo>
                        <a:pt x="0" y="0"/>
                      </a:moveTo>
                      <a:lnTo>
                        <a:pt x="0" y="200025"/>
                      </a:lnTo>
                    </a:path>
                  </a:pathLst>
                </a:custGeom>
                <a:noFill/>
                <a:ln w="26670">
                  <a:solidFill>
                    <a:srgbClr val="8A1700"/>
                  </a:solidFill>
                </a:ln>
              </p:spPr>
            </p:sp>
            <p:sp>
              <p:nvSpPr>
                <p:cNvPr id="130" name="Freeform 130"/>
                <p:cNvSpPr/>
                <p:nvPr/>
              </p:nvSpPr>
              <p:spPr>
                <a:xfrm>
                  <a:off x="9277350" y="3810000"/>
                  <a:ext cx="9525" cy="200025"/>
                </a:xfrm>
                <a:custGeom>
                  <a:avLst/>
                  <a:gdLst/>
                  <a:ahLst/>
                  <a:cxnLst/>
                  <a:rect l="l" t="t" r="r" b="b"/>
                  <a:pathLst>
                    <a:path w="9525" h="200025">
                      <a:moveTo>
                        <a:pt x="0" y="0"/>
                      </a:moveTo>
                      <a:lnTo>
                        <a:pt x="0" y="200025"/>
                      </a:lnTo>
                    </a:path>
                  </a:pathLst>
                </a:custGeom>
                <a:noFill/>
                <a:ln w="26670">
                  <a:solidFill>
                    <a:srgbClr val="8A1700"/>
                  </a:solidFill>
                </a:ln>
              </p:spPr>
            </p:sp>
            <p:sp>
              <p:nvSpPr>
                <p:cNvPr id="131" name="Freeform 131"/>
                <p:cNvSpPr/>
                <p:nvPr/>
              </p:nvSpPr>
              <p:spPr>
                <a:xfrm>
                  <a:off x="9055100" y="3854450"/>
                  <a:ext cx="88900" cy="44450"/>
                </a:xfrm>
                <a:custGeom>
                  <a:avLst/>
                  <a:gdLst/>
                  <a:ahLst/>
                  <a:cxnLst/>
                  <a:rect l="l" t="t" r="r" b="b"/>
                  <a:pathLst>
                    <a:path w="88900" h="44450">
                      <a:moveTo>
                        <a:pt x="0" y="44450"/>
                      </a:moveTo>
                      <a:lnTo>
                        <a:pt x="88900" y="0"/>
                      </a:lnTo>
                    </a:path>
                  </a:pathLst>
                </a:custGeom>
                <a:noFill/>
                <a:ln w="26670">
                  <a:solidFill>
                    <a:srgbClr val="8A1700"/>
                  </a:solidFill>
                </a:ln>
              </p:spPr>
            </p:sp>
            <p:sp>
              <p:nvSpPr>
                <p:cNvPr id="132" name="Freeform 132"/>
                <p:cNvSpPr/>
                <p:nvPr/>
              </p:nvSpPr>
              <p:spPr>
                <a:xfrm>
                  <a:off x="9277350" y="3854450"/>
                  <a:ext cx="88900" cy="44450"/>
                </a:xfrm>
                <a:custGeom>
                  <a:avLst/>
                  <a:gdLst/>
                  <a:ahLst/>
                  <a:cxnLst/>
                  <a:rect l="l" t="t" r="r" b="b"/>
                  <a:pathLst>
                    <a:path w="88900" h="44450">
                      <a:moveTo>
                        <a:pt x="0" y="0"/>
                      </a:moveTo>
                      <a:lnTo>
                        <a:pt x="88900" y="44450"/>
                      </a:lnTo>
                    </a:path>
                  </a:pathLst>
                </a:custGeom>
                <a:noFill/>
                <a:ln w="26670">
                  <a:solidFill>
                    <a:srgbClr val="8A1700"/>
                  </a:solidFill>
                </a:ln>
              </p:spPr>
            </p:sp>
            <p:sp>
              <p:nvSpPr>
                <p:cNvPr id="133" name="Freeform 133"/>
                <p:cNvSpPr/>
                <p:nvPr/>
              </p:nvSpPr>
              <p:spPr>
                <a:xfrm>
                  <a:off x="9144000" y="3943349"/>
                  <a:ext cx="133350" cy="9525"/>
                </a:xfrm>
                <a:custGeom>
                  <a:avLst/>
                  <a:gdLst/>
                  <a:ahLst/>
                  <a:cxnLst/>
                  <a:rect l="l" t="t" r="r" b="b"/>
                  <a:pathLst>
                    <a:path w="133350" h="9525">
                      <a:moveTo>
                        <a:pt x="0" y="0"/>
                      </a:moveTo>
                      <a:lnTo>
                        <a:pt x="133350" y="0"/>
                      </a:lnTo>
                    </a:path>
                  </a:pathLst>
                </a:custGeom>
                <a:noFill/>
                <a:ln w="26670">
                  <a:solidFill>
                    <a:srgbClr val="8A1700"/>
                  </a:solidFill>
                </a:ln>
              </p:spPr>
            </p:sp>
            <p:sp>
              <p:nvSpPr>
                <p:cNvPr id="134" name="Freeform 134"/>
                <p:cNvSpPr/>
                <p:nvPr/>
              </p:nvSpPr>
              <p:spPr>
                <a:xfrm>
                  <a:off x="9166225" y="3721100"/>
                  <a:ext cx="9525" cy="9525"/>
                </a:xfrm>
                <a:custGeom>
                  <a:avLst/>
                  <a:gdLst/>
                  <a:ahLst/>
                  <a:cxnLst/>
                  <a:rect l="l" t="t" r="r" b="b"/>
                  <a:pathLst>
                    <a:path w="9525" h="9525">
                      <a:moveTo>
                        <a:pt x="0" y="0"/>
                      </a:moveTo>
                      <a:lnTo>
                        <a:pt x="0" y="222"/>
                      </a:lnTo>
                    </a:path>
                  </a:pathLst>
                </a:custGeom>
                <a:noFill/>
                <a:ln w="26670">
                  <a:solidFill>
                    <a:srgbClr val="8A1700"/>
                  </a:solidFill>
                </a:ln>
              </p:spPr>
            </p:sp>
            <p:sp>
              <p:nvSpPr>
                <p:cNvPr id="135" name="Freeform 135"/>
                <p:cNvSpPr/>
                <p:nvPr/>
              </p:nvSpPr>
              <p:spPr>
                <a:xfrm>
                  <a:off x="9255125" y="3721100"/>
                  <a:ext cx="9525" cy="9525"/>
                </a:xfrm>
                <a:custGeom>
                  <a:avLst/>
                  <a:gdLst/>
                  <a:ahLst/>
                  <a:cxnLst/>
                  <a:rect l="l" t="t" r="r" b="b"/>
                  <a:pathLst>
                    <a:path w="9525" h="9525">
                      <a:moveTo>
                        <a:pt x="0" y="0"/>
                      </a:moveTo>
                      <a:lnTo>
                        <a:pt x="0" y="222"/>
                      </a:lnTo>
                    </a:path>
                  </a:pathLst>
                </a:custGeom>
                <a:noFill/>
                <a:ln w="26670">
                  <a:solidFill>
                    <a:srgbClr val="8A1700"/>
                  </a:solidFill>
                </a:ln>
              </p:spPr>
            </p:sp>
          </p:grpSp>
          <p:sp>
            <p:nvSpPr>
              <p:cNvPr id="137" name="TextBox 137"/>
              <p:cNvSpPr txBox="1"/>
              <p:nvPr/>
            </p:nvSpPr>
            <p:spPr>
              <a:xfrm>
                <a:off x="9899904" y="3604260"/>
                <a:ext cx="819912" cy="234696"/>
              </a:xfrm>
              <a:prstGeom prst="rect">
                <a:avLst/>
              </a:prstGeom>
              <a:noFill/>
              <a:ln>
                <a:noFill/>
              </a:ln>
            </p:spPr>
            <p:txBody>
              <a:bodyPr wrap="none" lIns="0" tIns="0" rIns="0" bIns="0" anchor="t" anchorCtr="0">
                <a:spAutoFit/>
              </a:bodyPr>
              <a:lstStyle/>
              <a:p>
                <a:pPr algn="l"/>
                <a:r>
                  <a:rPr lang="zh-CN" sz="1200" b="1" dirty="0">
                    <a:solidFill>
                      <a:srgbClr val="520E00"/>
                    </a:solidFill>
                    <a:latin typeface="+mn-lt"/>
                    <a:ea typeface="+mn-ea"/>
                    <a:cs typeface="+mn-cs"/>
                  </a:rPr>
                  <a:t>普通客户：</a:t>
                </a:r>
              </a:p>
            </p:txBody>
          </p:sp>
          <p:sp>
            <p:nvSpPr>
              <p:cNvPr id="138" name="TextBox 138"/>
              <p:cNvSpPr txBox="1"/>
              <p:nvPr/>
            </p:nvSpPr>
            <p:spPr>
              <a:xfrm>
                <a:off x="9900666" y="3887152"/>
                <a:ext cx="717423" cy="205359"/>
              </a:xfrm>
              <a:prstGeom prst="rect">
                <a:avLst/>
              </a:prstGeom>
              <a:noFill/>
              <a:ln>
                <a:noFill/>
              </a:ln>
            </p:spPr>
            <p:txBody>
              <a:bodyPr wrap="none" lIns="0" tIns="0" rIns="0" bIns="0" anchor="t" anchorCtr="0">
                <a:spAutoFit/>
              </a:bodyPr>
              <a:lstStyle/>
              <a:p>
                <a:pPr algn="l"/>
                <a:r>
                  <a:rPr lang="zh-CN" sz="1050" dirty="0">
                    <a:solidFill>
                      <a:srgbClr val="60403A"/>
                    </a:solidFill>
                    <a:latin typeface="+mn-lt"/>
                    <a:ea typeface="+mn-ea"/>
                    <a:cs typeface="+mn-cs"/>
                  </a:rPr>
                  <a:t>自动化旅程</a:t>
                </a:r>
              </a:p>
            </p:txBody>
          </p:sp>
        </p:grpSp>
      </p:grpSp>
      <p:grpSp>
        <p:nvGrpSpPr>
          <p:cNvPr id="148" name="goal-banner"/>
          <p:cNvGrpSpPr/>
          <p:nvPr/>
        </p:nvGrpSpPr>
        <p:grpSpPr>
          <a:xfrm>
            <a:off x="228600" y="4705350"/>
            <a:ext cx="11734800" cy="1066800"/>
            <a:chOff x="228600" y="4705350"/>
            <a:chExt cx="11734800" cy="1066800"/>
          </a:xfrm>
        </p:grpSpPr>
        <p:sp>
          <p:nvSpPr>
            <p:cNvPr id="141" name="Rectangle 141"/>
            <p:cNvSpPr/>
            <p:nvPr/>
          </p:nvSpPr>
          <p:spPr>
            <a:xfrm>
              <a:off x="228600" y="4705350"/>
              <a:ext cx="11734800" cy="1066800"/>
            </a:xfrm>
            <a:prstGeom prst="roundRect">
              <a:avLst>
                <a:gd name="adj" fmla="val 7143"/>
              </a:avLst>
            </a:prstGeom>
            <a:solidFill>
              <a:srgbClr val="FFFFFF"/>
            </a:solidFill>
            <a:ln w="19050">
              <a:solidFill>
                <a:srgbClr val="8A1700"/>
              </a:solidFill>
            </a:ln>
          </p:spPr>
        </p:sp>
        <p:grpSp>
          <p:nvGrpSpPr>
            <p:cNvPr id="145" name="Group 145"/>
            <p:cNvGrpSpPr/>
            <p:nvPr/>
          </p:nvGrpSpPr>
          <p:grpSpPr>
            <a:xfrm>
              <a:off x="1214438" y="5024438"/>
              <a:ext cx="428625" cy="428625"/>
              <a:chOff x="1214438" y="5024438"/>
              <a:chExt cx="428625" cy="428625"/>
            </a:xfrm>
          </p:grpSpPr>
          <p:sp>
            <p:nvSpPr>
              <p:cNvPr id="142" name="Freeform 142"/>
              <p:cNvSpPr/>
              <p:nvPr/>
            </p:nvSpPr>
            <p:spPr>
              <a:xfrm>
                <a:off x="1404938" y="5214938"/>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35719">
                <a:solidFill>
                  <a:srgbClr val="8A1700"/>
                </a:solidFill>
              </a:ln>
            </p:spPr>
          </p:sp>
          <p:sp>
            <p:nvSpPr>
              <p:cNvPr id="143" name="Freeform 143"/>
              <p:cNvSpPr/>
              <p:nvPr/>
            </p:nvSpPr>
            <p:spPr>
              <a:xfrm>
                <a:off x="1309688" y="5119688"/>
                <a:ext cx="238125" cy="238125"/>
              </a:xfrm>
              <a:custGeom>
                <a:avLst/>
                <a:gdLst/>
                <a:ahLst/>
                <a:cxnLst/>
                <a:rect l="l" t="t" r="r" b="b"/>
                <a:pathLst>
                  <a:path w="238125" h="238125">
                    <a:moveTo>
                      <a:pt x="0" y="119062"/>
                    </a:moveTo>
                    <a:cubicBezTo>
                      <a:pt x="0" y="184819"/>
                      <a:pt x="53306" y="238125"/>
                      <a:pt x="119062" y="238125"/>
                    </a:cubicBezTo>
                    <a:cubicBezTo>
                      <a:pt x="184819" y="238125"/>
                      <a:pt x="238125" y="184819"/>
                      <a:pt x="238125" y="119062"/>
                    </a:cubicBezTo>
                    <a:cubicBezTo>
                      <a:pt x="238125" y="53306"/>
                      <a:pt x="184819" y="0"/>
                      <a:pt x="119062" y="0"/>
                    </a:cubicBezTo>
                    <a:cubicBezTo>
                      <a:pt x="53306" y="0"/>
                      <a:pt x="0" y="53306"/>
                      <a:pt x="0" y="119062"/>
                    </a:cubicBezTo>
                  </a:path>
                </a:pathLst>
              </a:custGeom>
              <a:noFill/>
              <a:ln w="35719">
                <a:solidFill>
                  <a:srgbClr val="8A1700"/>
                </a:solidFill>
              </a:ln>
            </p:spPr>
          </p:sp>
          <p:sp>
            <p:nvSpPr>
              <p:cNvPr id="144" name="Freeform 144"/>
              <p:cNvSpPr/>
              <p:nvPr/>
            </p:nvSpPr>
            <p:spPr>
              <a:xfrm>
                <a:off x="1214438" y="5024438"/>
                <a:ext cx="428625" cy="428625"/>
              </a:xfrm>
              <a:custGeom>
                <a:avLst/>
                <a:gdLst/>
                <a:ahLst/>
                <a:cxnLst/>
                <a:rect l="l" t="t" r="r" b="b"/>
                <a:pathLst>
                  <a:path w="428625" h="428625">
                    <a:moveTo>
                      <a:pt x="0" y="214312"/>
                    </a:moveTo>
                    <a:cubicBezTo>
                      <a:pt x="0" y="332674"/>
                      <a:pt x="95951" y="428625"/>
                      <a:pt x="214312" y="428625"/>
                    </a:cubicBezTo>
                    <a:cubicBezTo>
                      <a:pt x="332674" y="428625"/>
                      <a:pt x="428625" y="332674"/>
                      <a:pt x="428625" y="214312"/>
                    </a:cubicBezTo>
                    <a:cubicBezTo>
                      <a:pt x="428625" y="95951"/>
                      <a:pt x="332674" y="0"/>
                      <a:pt x="214312" y="0"/>
                    </a:cubicBezTo>
                    <a:cubicBezTo>
                      <a:pt x="95951" y="0"/>
                      <a:pt x="0" y="95951"/>
                      <a:pt x="0" y="214312"/>
                    </a:cubicBezTo>
                  </a:path>
                </a:pathLst>
              </a:custGeom>
              <a:noFill/>
              <a:ln w="35719">
                <a:solidFill>
                  <a:srgbClr val="8A1700"/>
                </a:solidFill>
              </a:ln>
            </p:spPr>
          </p:sp>
        </p:grpSp>
        <p:sp>
          <p:nvSpPr>
            <p:cNvPr id="146" name="Line 146"/>
            <p:cNvSpPr/>
            <p:nvPr/>
          </p:nvSpPr>
          <p:spPr>
            <a:xfrm>
              <a:off x="2190750" y="4914900"/>
              <a:ext cx="9525" cy="647700"/>
            </a:xfrm>
            <a:custGeom>
              <a:avLst/>
              <a:gdLst/>
              <a:ahLst/>
              <a:cxnLst/>
              <a:rect l="l" t="t" r="r" b="b"/>
              <a:pathLst>
                <a:path w="9525" h="647700">
                  <a:moveTo>
                    <a:pt x="0" y="0"/>
                  </a:moveTo>
                  <a:lnTo>
                    <a:pt x="0" y="647700"/>
                  </a:lnTo>
                </a:path>
              </a:pathLst>
            </a:custGeom>
            <a:noFill/>
            <a:ln w="14288">
              <a:solidFill>
                <a:srgbClr val="C9D5EA"/>
              </a:solidFill>
            </a:ln>
          </p:spPr>
        </p:sp>
        <p:sp>
          <p:nvSpPr>
            <p:cNvPr id="147" name="TextBox 147"/>
            <p:cNvSpPr txBox="1"/>
            <p:nvPr/>
          </p:nvSpPr>
          <p:spPr>
            <a:xfrm>
              <a:off x="2844546" y="5115878"/>
              <a:ext cx="4706494" cy="498729"/>
            </a:xfrm>
            <a:prstGeom prst="rect">
              <a:avLst/>
            </a:prstGeom>
            <a:noFill/>
            <a:ln>
              <a:noFill/>
            </a:ln>
          </p:spPr>
          <p:txBody>
            <a:bodyPr wrap="none" lIns="0" tIns="0" rIns="0" bIns="0" anchor="t" anchorCtr="0">
              <a:spAutoFit/>
            </a:bodyPr>
            <a:lstStyle/>
            <a:p>
              <a:pPr algn="l"/>
              <a:r>
                <a:rPr lang="zh-CN" sz="2550" b="1" dirty="0">
                  <a:solidFill>
                    <a:srgbClr val="520E00"/>
                  </a:solidFill>
                  <a:latin typeface="+mn-lt"/>
                  <a:ea typeface="+mn-ea"/>
                  <a:cs typeface="+mn-cs"/>
                </a:rPr>
                <a:t xml:space="preserve">目标：客户流失率下降 </a:t>
              </a:r>
              <a:r>
                <a:rPr lang="zh-CN" sz="3600" b="1" dirty="0">
                  <a:solidFill>
                    <a:srgbClr val="C02C0A"/>
                  </a:solidFill>
                  <a:latin typeface="+mn-lt"/>
                  <a:ea typeface="+mn-ea"/>
                  <a:cs typeface="+mn-cs"/>
                </a:rPr>
                <a:t>20%</a:t>
              </a:r>
              <a:r>
                <a:rPr lang="zh-CN" sz="2550" b="1" dirty="0">
                  <a:solidFill>
                    <a:srgbClr val="520E00"/>
                  </a:solidFill>
                  <a:latin typeface="+mn-lt"/>
                  <a:ea typeface="+mn-ea"/>
                  <a:cs typeface="+mn-cs"/>
                </a:rPr>
                <a:t>​</a:t>
              </a:r>
            </a:p>
          </p:txBody>
        </p:sp>
      </p:gr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16​</a:t>
              </a:r>
            </a:p>
          </p:txBody>
        </p:sp>
        <p:sp>
          <p:nvSpPr>
            <p:cNvPr id="4" name="TextBox 4"/>
            <p:cNvSpPr txBox="1"/>
            <p:nvPr/>
          </p:nvSpPr>
          <p:spPr>
            <a:xfrm>
              <a:off x="942594" y="151448"/>
              <a:ext cx="5567172"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自动化运营：让每个客户进入适合自己的旅程</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51" name="flow-bands"/>
          <p:cNvGrpSpPr/>
          <p:nvPr/>
        </p:nvGrpSpPr>
        <p:grpSpPr>
          <a:xfrm>
            <a:off x="228600" y="800100"/>
            <a:ext cx="11734800" cy="666750"/>
            <a:chOff x="228600" y="800100"/>
            <a:chExt cx="11734800" cy="666750"/>
          </a:xfrm>
        </p:grpSpPr>
        <p:grpSp>
          <p:nvGrpSpPr>
            <p:cNvPr id="17" name="band-trigger"/>
            <p:cNvGrpSpPr/>
            <p:nvPr/>
          </p:nvGrpSpPr>
          <p:grpSpPr>
            <a:xfrm>
              <a:off x="228600" y="800100"/>
              <a:ext cx="2438400" cy="666750"/>
              <a:chOff x="228600" y="800100"/>
              <a:chExt cx="2438400" cy="666750"/>
            </a:xfrm>
          </p:grpSpPr>
          <p:sp>
            <p:nvSpPr>
              <p:cNvPr id="7" name="Rectangle 7"/>
              <p:cNvSpPr/>
              <p:nvPr/>
            </p:nvSpPr>
            <p:spPr>
              <a:xfrm>
                <a:off x="228600" y="800100"/>
                <a:ext cx="2438400" cy="666750"/>
              </a:xfrm>
              <a:prstGeom prst="roundRect">
                <a:avLst>
                  <a:gd name="adj" fmla="val 8571"/>
                </a:avLst>
              </a:prstGeom>
              <a:solidFill>
                <a:srgbClr val="520E00"/>
              </a:solidFill>
              <a:ln>
                <a:noFill/>
              </a:ln>
            </p:spPr>
          </p:sp>
          <p:grpSp>
            <p:nvGrpSpPr>
              <p:cNvPr id="14" name="Group 14"/>
              <p:cNvGrpSpPr/>
              <p:nvPr/>
            </p:nvGrpSpPr>
            <p:grpSpPr>
              <a:xfrm>
                <a:off x="377825" y="1012031"/>
                <a:ext cx="215901" cy="242889"/>
                <a:chOff x="377825" y="1012031"/>
                <a:chExt cx="215901" cy="242889"/>
              </a:xfrm>
            </p:grpSpPr>
            <p:sp>
              <p:nvSpPr>
                <p:cNvPr id="8" name="Freeform 8"/>
                <p:cNvSpPr/>
                <p:nvPr/>
              </p:nvSpPr>
              <p:spPr>
                <a:xfrm>
                  <a:off x="377825" y="1039019"/>
                  <a:ext cx="215901" cy="215901"/>
                </a:xfrm>
                <a:custGeom>
                  <a:avLst/>
                  <a:gdLst/>
                  <a:ahLst/>
                  <a:cxnLst/>
                  <a:rect l="l" t="t" r="r" b="b"/>
                  <a:pathLst>
                    <a:path w="215901" h="215901">
                      <a:moveTo>
                        <a:pt x="0" y="26988"/>
                      </a:moveTo>
                      <a:cubicBezTo>
                        <a:pt x="0" y="12083"/>
                        <a:pt x="12083" y="0"/>
                        <a:pt x="26988" y="0"/>
                      </a:cubicBezTo>
                      <a:lnTo>
                        <a:pt x="188913" y="0"/>
                      </a:lnTo>
                      <a:cubicBezTo>
                        <a:pt x="203818" y="0"/>
                        <a:pt x="215901" y="12083"/>
                        <a:pt x="215901" y="26988"/>
                      </a:cubicBezTo>
                      <a:lnTo>
                        <a:pt x="215901" y="188913"/>
                      </a:lnTo>
                      <a:cubicBezTo>
                        <a:pt x="215901" y="203818"/>
                        <a:pt x="203818" y="215901"/>
                        <a:pt x="188913" y="215901"/>
                      </a:cubicBezTo>
                      <a:lnTo>
                        <a:pt x="26988" y="215901"/>
                      </a:lnTo>
                      <a:cubicBezTo>
                        <a:pt x="12083" y="215901"/>
                        <a:pt x="0" y="203818"/>
                        <a:pt x="0" y="188913"/>
                      </a:cubicBezTo>
                      <a:lnTo>
                        <a:pt x="0" y="26988"/>
                      </a:lnTo>
                    </a:path>
                  </a:pathLst>
                </a:custGeom>
                <a:noFill/>
                <a:ln w="20241">
                  <a:solidFill>
                    <a:srgbClr val="FFFFFF"/>
                  </a:solidFill>
                </a:ln>
              </p:spPr>
            </p:sp>
            <p:sp>
              <p:nvSpPr>
                <p:cNvPr id="9" name="Freeform 9"/>
                <p:cNvSpPr/>
                <p:nvPr/>
              </p:nvSpPr>
              <p:spPr>
                <a:xfrm>
                  <a:off x="539751" y="1012031"/>
                  <a:ext cx="9525" cy="53975"/>
                </a:xfrm>
                <a:custGeom>
                  <a:avLst/>
                  <a:gdLst/>
                  <a:ahLst/>
                  <a:cxnLst/>
                  <a:rect l="l" t="t" r="r" b="b"/>
                  <a:pathLst>
                    <a:path w="9525" h="53975">
                      <a:moveTo>
                        <a:pt x="0" y="0"/>
                      </a:moveTo>
                      <a:lnTo>
                        <a:pt x="0" y="53975"/>
                      </a:lnTo>
                    </a:path>
                  </a:pathLst>
                </a:custGeom>
                <a:noFill/>
                <a:ln w="20241">
                  <a:solidFill>
                    <a:srgbClr val="FFFFFF"/>
                  </a:solidFill>
                </a:ln>
              </p:spPr>
            </p:sp>
            <p:sp>
              <p:nvSpPr>
                <p:cNvPr id="10" name="Freeform 10"/>
                <p:cNvSpPr/>
                <p:nvPr/>
              </p:nvSpPr>
              <p:spPr>
                <a:xfrm>
                  <a:off x="431800" y="1012031"/>
                  <a:ext cx="9525" cy="53975"/>
                </a:xfrm>
                <a:custGeom>
                  <a:avLst/>
                  <a:gdLst/>
                  <a:ahLst/>
                  <a:cxnLst/>
                  <a:rect l="l" t="t" r="r" b="b"/>
                  <a:pathLst>
                    <a:path w="9525" h="53975">
                      <a:moveTo>
                        <a:pt x="0" y="0"/>
                      </a:moveTo>
                      <a:lnTo>
                        <a:pt x="0" y="53975"/>
                      </a:lnTo>
                    </a:path>
                  </a:pathLst>
                </a:custGeom>
                <a:noFill/>
                <a:ln w="20241">
                  <a:solidFill>
                    <a:srgbClr val="FFFFFF"/>
                  </a:solidFill>
                </a:ln>
              </p:spPr>
            </p:sp>
            <p:sp>
              <p:nvSpPr>
                <p:cNvPr id="11" name="Freeform 11"/>
                <p:cNvSpPr/>
                <p:nvPr/>
              </p:nvSpPr>
              <p:spPr>
                <a:xfrm>
                  <a:off x="377825" y="1119982"/>
                  <a:ext cx="215901" cy="9525"/>
                </a:xfrm>
                <a:custGeom>
                  <a:avLst/>
                  <a:gdLst/>
                  <a:ahLst/>
                  <a:cxnLst/>
                  <a:rect l="l" t="t" r="r" b="b"/>
                  <a:pathLst>
                    <a:path w="215901" h="9525">
                      <a:moveTo>
                        <a:pt x="0" y="0"/>
                      </a:moveTo>
                      <a:lnTo>
                        <a:pt x="215901" y="0"/>
                      </a:lnTo>
                    </a:path>
                  </a:pathLst>
                </a:custGeom>
                <a:noFill/>
                <a:ln w="20241">
                  <a:solidFill>
                    <a:srgbClr val="FFFFFF"/>
                  </a:solidFill>
                </a:ln>
              </p:spPr>
            </p:sp>
            <p:sp>
              <p:nvSpPr>
                <p:cNvPr id="12" name="Freeform 12"/>
                <p:cNvSpPr/>
                <p:nvPr/>
              </p:nvSpPr>
              <p:spPr>
                <a:xfrm>
                  <a:off x="472282" y="1173957"/>
                  <a:ext cx="13494" cy="9525"/>
                </a:xfrm>
                <a:custGeom>
                  <a:avLst/>
                  <a:gdLst/>
                  <a:ahLst/>
                  <a:cxnLst/>
                  <a:rect l="l" t="t" r="r" b="b"/>
                  <a:pathLst>
                    <a:path w="13494" h="9525">
                      <a:moveTo>
                        <a:pt x="0" y="0"/>
                      </a:moveTo>
                      <a:lnTo>
                        <a:pt x="13494" y="0"/>
                      </a:lnTo>
                    </a:path>
                  </a:pathLst>
                </a:custGeom>
                <a:noFill/>
                <a:ln w="20241">
                  <a:solidFill>
                    <a:srgbClr val="FFFFFF"/>
                  </a:solidFill>
                </a:ln>
              </p:spPr>
            </p:sp>
            <p:sp>
              <p:nvSpPr>
                <p:cNvPr id="13" name="Freeform 13"/>
                <p:cNvSpPr/>
                <p:nvPr/>
              </p:nvSpPr>
              <p:spPr>
                <a:xfrm>
                  <a:off x="485775" y="1173957"/>
                  <a:ext cx="9525" cy="40481"/>
                </a:xfrm>
                <a:custGeom>
                  <a:avLst/>
                  <a:gdLst/>
                  <a:ahLst/>
                  <a:cxnLst/>
                  <a:rect l="l" t="t" r="r" b="b"/>
                  <a:pathLst>
                    <a:path w="9525" h="40481">
                      <a:moveTo>
                        <a:pt x="0" y="0"/>
                      </a:moveTo>
                      <a:lnTo>
                        <a:pt x="0" y="40481"/>
                      </a:lnTo>
                    </a:path>
                  </a:pathLst>
                </a:custGeom>
                <a:noFill/>
                <a:ln w="20241">
                  <a:solidFill>
                    <a:srgbClr val="FFFFFF"/>
                  </a:solidFill>
                </a:ln>
              </p:spPr>
            </p:sp>
          </p:grpSp>
          <p:sp>
            <p:nvSpPr>
              <p:cNvPr id="15" name="TextBox 15"/>
              <p:cNvSpPr txBox="1"/>
              <p:nvPr/>
            </p:nvSpPr>
            <p:spPr>
              <a:xfrm>
                <a:off x="737997" y="866299"/>
                <a:ext cx="66954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事件触发：</a:t>
                </a:r>
              </a:p>
            </p:txBody>
          </p:sp>
          <p:sp>
            <p:nvSpPr>
              <p:cNvPr id="16" name="TextBox 16"/>
              <p:cNvSpPr txBox="1"/>
              <p:nvPr/>
            </p:nvSpPr>
            <p:spPr>
              <a:xfrm>
                <a:off x="738188" y="1047036"/>
                <a:ext cx="1181735" cy="407194"/>
              </a:xfrm>
              <a:prstGeom prst="rect">
                <a:avLst/>
              </a:prstGeom>
              <a:noFill/>
              <a:ln>
                <a:noFill/>
              </a:ln>
            </p:spPr>
            <p:txBody>
              <a:bodyPr wrap="none" lIns="0" tIns="0" rIns="0" bIns="0" anchor="t" anchorCtr="0">
                <a:spAutoFit/>
              </a:bodyPr>
              <a:lstStyle/>
              <a:p>
                <a:pPr algn="l">
                  <a:lnSpc>
                    <a:spcPts val="1050"/>
                  </a:lnSpc>
                </a:pPr>
                <a:r>
                  <a:rPr lang="zh-CN" sz="710" dirty="0">
                    <a:solidFill>
                      <a:srgbClr val="FFFFFF"/>
                    </a:solidFill>
                    <a:latin typeface="+mn-lt"/>
                    <a:ea typeface="+mn-ea"/>
                    <a:cs typeface="+mn-cs"/>
                  </a:rPr>
                  <a:t>核卡、激活、首刷、账单、</a:t>
                </a:r>
                <a:br/>
                <a:r>
                  <a:rPr lang="zh-CN" sz="710" dirty="0">
                    <a:solidFill>
                      <a:srgbClr val="FFFFFF"/>
                    </a:solidFill>
                    <a:latin typeface="+mn-lt"/>
                    <a:ea typeface="+mn-ea"/>
                    <a:cs typeface="+mn-cs"/>
                  </a:rPr>
                  <a:t>还款、权益到期、消费下降、</a:t>
                </a:r>
                <a:br/>
                <a:r>
                  <a:rPr lang="zh-CN" sz="710" dirty="0">
                    <a:solidFill>
                      <a:srgbClr val="FFFFFF"/>
                    </a:solidFill>
                    <a:latin typeface="+mn-lt"/>
                    <a:ea typeface="+mn-ea"/>
                    <a:cs typeface="+mn-cs"/>
                  </a:rPr>
                  <a:t>投诉、风险预警</a:t>
                </a:r>
              </a:p>
            </p:txBody>
          </p:sp>
        </p:grpSp>
        <p:sp>
          <p:nvSpPr>
            <p:cNvPr id="18" name="Freeform 18"/>
            <p:cNvSpPr/>
            <p:nvPr/>
          </p:nvSpPr>
          <p:spPr>
            <a:xfrm>
              <a:off x="2705100" y="1009650"/>
              <a:ext cx="209550" cy="190500"/>
            </a:xfrm>
            <a:prstGeom prst="rightArrow">
              <a:avLst/>
            </a:prstGeom>
            <a:solidFill>
              <a:srgbClr val="E84E2F"/>
            </a:solidFill>
            <a:ln>
              <a:noFill/>
            </a:ln>
          </p:spPr>
        </p:sp>
        <p:grpSp>
          <p:nvGrpSpPr>
            <p:cNvPr id="32" name="band-engine"/>
            <p:cNvGrpSpPr/>
            <p:nvPr/>
          </p:nvGrpSpPr>
          <p:grpSpPr>
            <a:xfrm>
              <a:off x="2952750" y="800100"/>
              <a:ext cx="2381250" cy="666750"/>
              <a:chOff x="2952750" y="800100"/>
              <a:chExt cx="2381250" cy="666750"/>
            </a:xfrm>
          </p:grpSpPr>
          <p:sp>
            <p:nvSpPr>
              <p:cNvPr id="19" name="Rectangle 19"/>
              <p:cNvSpPr/>
              <p:nvPr/>
            </p:nvSpPr>
            <p:spPr>
              <a:xfrm>
                <a:off x="2952750" y="800100"/>
                <a:ext cx="2381250" cy="666750"/>
              </a:xfrm>
              <a:prstGeom prst="roundRect">
                <a:avLst>
                  <a:gd name="adj" fmla="val 8571"/>
                </a:avLst>
              </a:prstGeom>
              <a:solidFill>
                <a:srgbClr val="520E00"/>
              </a:solidFill>
              <a:ln>
                <a:noFill/>
              </a:ln>
            </p:spPr>
          </p:sp>
          <p:grpSp>
            <p:nvGrpSpPr>
              <p:cNvPr id="29" name="Group 29"/>
              <p:cNvGrpSpPr/>
              <p:nvPr/>
            </p:nvGrpSpPr>
            <p:grpSpPr>
              <a:xfrm>
                <a:off x="3115469" y="998538"/>
                <a:ext cx="188913" cy="256381"/>
                <a:chOff x="3115469" y="998538"/>
                <a:chExt cx="188913" cy="256381"/>
              </a:xfrm>
            </p:grpSpPr>
            <p:sp>
              <p:nvSpPr>
                <p:cNvPr id="20" name="Freeform 20"/>
                <p:cNvSpPr/>
                <p:nvPr/>
              </p:nvSpPr>
              <p:spPr>
                <a:xfrm>
                  <a:off x="3128963" y="1025525"/>
                  <a:ext cx="161925" cy="107950"/>
                </a:xfrm>
                <a:custGeom>
                  <a:avLst/>
                  <a:gdLst/>
                  <a:ahLst/>
                  <a:cxnLst/>
                  <a:rect l="l" t="t" r="r" b="b"/>
                  <a:pathLst>
                    <a:path w="161925" h="107950">
                      <a:moveTo>
                        <a:pt x="0" y="26988"/>
                      </a:moveTo>
                      <a:cubicBezTo>
                        <a:pt x="0" y="12083"/>
                        <a:pt x="12083" y="0"/>
                        <a:pt x="26988" y="0"/>
                      </a:cubicBezTo>
                      <a:lnTo>
                        <a:pt x="134938" y="0"/>
                      </a:lnTo>
                      <a:cubicBezTo>
                        <a:pt x="149843" y="0"/>
                        <a:pt x="161925" y="12083"/>
                        <a:pt x="161925" y="26988"/>
                      </a:cubicBezTo>
                      <a:lnTo>
                        <a:pt x="161925" y="80963"/>
                      </a:lnTo>
                      <a:cubicBezTo>
                        <a:pt x="161925" y="95868"/>
                        <a:pt x="149843" y="107950"/>
                        <a:pt x="134938" y="107950"/>
                      </a:cubicBezTo>
                      <a:lnTo>
                        <a:pt x="26988" y="107950"/>
                      </a:lnTo>
                      <a:cubicBezTo>
                        <a:pt x="12083" y="107950"/>
                        <a:pt x="0" y="95868"/>
                        <a:pt x="0" y="80963"/>
                      </a:cubicBezTo>
                      <a:lnTo>
                        <a:pt x="0" y="26988"/>
                      </a:lnTo>
                    </a:path>
                  </a:pathLst>
                </a:custGeom>
                <a:noFill/>
                <a:ln w="20241">
                  <a:solidFill>
                    <a:srgbClr val="FFFFFF"/>
                  </a:solidFill>
                </a:ln>
              </p:spPr>
            </p:sp>
            <p:sp>
              <p:nvSpPr>
                <p:cNvPr id="21" name="Freeform 21"/>
                <p:cNvSpPr/>
                <p:nvPr/>
              </p:nvSpPr>
              <p:spPr>
                <a:xfrm>
                  <a:off x="3209925" y="998538"/>
                  <a:ext cx="9525" cy="26988"/>
                </a:xfrm>
                <a:custGeom>
                  <a:avLst/>
                  <a:gdLst/>
                  <a:ahLst/>
                  <a:cxnLst/>
                  <a:rect l="l" t="t" r="r" b="b"/>
                  <a:pathLst>
                    <a:path w="9525" h="26988">
                      <a:moveTo>
                        <a:pt x="0" y="0"/>
                      </a:moveTo>
                      <a:lnTo>
                        <a:pt x="0" y="26988"/>
                      </a:lnTo>
                    </a:path>
                  </a:pathLst>
                </a:custGeom>
                <a:noFill/>
                <a:ln w="20241">
                  <a:solidFill>
                    <a:srgbClr val="FFFFFF"/>
                  </a:solidFill>
                </a:ln>
              </p:spPr>
            </p:sp>
            <p:sp>
              <p:nvSpPr>
                <p:cNvPr id="22" name="Freeform 22"/>
                <p:cNvSpPr/>
                <p:nvPr/>
              </p:nvSpPr>
              <p:spPr>
                <a:xfrm>
                  <a:off x="3169444" y="1133475"/>
                  <a:ext cx="9525" cy="121444"/>
                </a:xfrm>
                <a:custGeom>
                  <a:avLst/>
                  <a:gdLst/>
                  <a:ahLst/>
                  <a:cxnLst/>
                  <a:rect l="l" t="t" r="r" b="b"/>
                  <a:pathLst>
                    <a:path w="9525" h="121444">
                      <a:moveTo>
                        <a:pt x="0" y="0"/>
                      </a:moveTo>
                      <a:lnTo>
                        <a:pt x="0" y="121444"/>
                      </a:lnTo>
                    </a:path>
                  </a:pathLst>
                </a:custGeom>
                <a:noFill/>
                <a:ln w="20241">
                  <a:solidFill>
                    <a:srgbClr val="FFFFFF"/>
                  </a:solidFill>
                </a:ln>
              </p:spPr>
            </p:sp>
            <p:sp>
              <p:nvSpPr>
                <p:cNvPr id="23" name="Freeform 23"/>
                <p:cNvSpPr/>
                <p:nvPr/>
              </p:nvSpPr>
              <p:spPr>
                <a:xfrm>
                  <a:off x="3250407" y="1133475"/>
                  <a:ext cx="9525" cy="121444"/>
                </a:xfrm>
                <a:custGeom>
                  <a:avLst/>
                  <a:gdLst/>
                  <a:ahLst/>
                  <a:cxnLst/>
                  <a:rect l="l" t="t" r="r" b="b"/>
                  <a:pathLst>
                    <a:path w="9525" h="121444">
                      <a:moveTo>
                        <a:pt x="0" y="0"/>
                      </a:moveTo>
                      <a:lnTo>
                        <a:pt x="0" y="121444"/>
                      </a:lnTo>
                    </a:path>
                  </a:pathLst>
                </a:custGeom>
                <a:noFill/>
                <a:ln w="20241">
                  <a:solidFill>
                    <a:srgbClr val="FFFFFF"/>
                  </a:solidFill>
                </a:ln>
              </p:spPr>
            </p:sp>
            <p:sp>
              <p:nvSpPr>
                <p:cNvPr id="24" name="Freeform 24"/>
                <p:cNvSpPr/>
                <p:nvPr/>
              </p:nvSpPr>
              <p:spPr>
                <a:xfrm>
                  <a:off x="3115469" y="1160463"/>
                  <a:ext cx="53975" cy="26988"/>
                </a:xfrm>
                <a:custGeom>
                  <a:avLst/>
                  <a:gdLst/>
                  <a:ahLst/>
                  <a:cxnLst/>
                  <a:rect l="l" t="t" r="r" b="b"/>
                  <a:pathLst>
                    <a:path w="53975" h="26988">
                      <a:moveTo>
                        <a:pt x="0" y="26988"/>
                      </a:moveTo>
                      <a:lnTo>
                        <a:pt x="53975" y="0"/>
                      </a:lnTo>
                    </a:path>
                  </a:pathLst>
                </a:custGeom>
                <a:noFill/>
                <a:ln w="20241">
                  <a:solidFill>
                    <a:srgbClr val="FFFFFF"/>
                  </a:solidFill>
                </a:ln>
              </p:spPr>
            </p:sp>
            <p:sp>
              <p:nvSpPr>
                <p:cNvPr id="25" name="Freeform 25"/>
                <p:cNvSpPr/>
                <p:nvPr/>
              </p:nvSpPr>
              <p:spPr>
                <a:xfrm>
                  <a:off x="3250407" y="1160463"/>
                  <a:ext cx="53975" cy="26988"/>
                </a:xfrm>
                <a:custGeom>
                  <a:avLst/>
                  <a:gdLst/>
                  <a:ahLst/>
                  <a:cxnLst/>
                  <a:rect l="l" t="t" r="r" b="b"/>
                  <a:pathLst>
                    <a:path w="53975" h="26988">
                      <a:moveTo>
                        <a:pt x="0" y="0"/>
                      </a:moveTo>
                      <a:lnTo>
                        <a:pt x="53975" y="26988"/>
                      </a:lnTo>
                    </a:path>
                  </a:pathLst>
                </a:custGeom>
                <a:noFill/>
                <a:ln w="20241">
                  <a:solidFill>
                    <a:srgbClr val="FFFFFF"/>
                  </a:solidFill>
                </a:ln>
              </p:spPr>
            </p:sp>
            <p:sp>
              <p:nvSpPr>
                <p:cNvPr id="26" name="Freeform 26"/>
                <p:cNvSpPr/>
                <p:nvPr/>
              </p:nvSpPr>
              <p:spPr>
                <a:xfrm>
                  <a:off x="3169444" y="1214438"/>
                  <a:ext cx="80963" cy="9525"/>
                </a:xfrm>
                <a:custGeom>
                  <a:avLst/>
                  <a:gdLst/>
                  <a:ahLst/>
                  <a:cxnLst/>
                  <a:rect l="l" t="t" r="r" b="b"/>
                  <a:pathLst>
                    <a:path w="80963" h="9525">
                      <a:moveTo>
                        <a:pt x="0" y="0"/>
                      </a:moveTo>
                      <a:lnTo>
                        <a:pt x="80963" y="0"/>
                      </a:lnTo>
                    </a:path>
                  </a:pathLst>
                </a:custGeom>
                <a:noFill/>
                <a:ln w="20241">
                  <a:solidFill>
                    <a:srgbClr val="FFFFFF"/>
                  </a:solidFill>
                </a:ln>
              </p:spPr>
            </p:sp>
            <p:sp>
              <p:nvSpPr>
                <p:cNvPr id="27" name="Freeform 27"/>
                <p:cNvSpPr/>
                <p:nvPr/>
              </p:nvSpPr>
              <p:spPr>
                <a:xfrm>
                  <a:off x="3182938" y="1079500"/>
                  <a:ext cx="9525" cy="9525"/>
                </a:xfrm>
                <a:custGeom>
                  <a:avLst/>
                  <a:gdLst/>
                  <a:ahLst/>
                  <a:cxnLst/>
                  <a:rect l="l" t="t" r="r" b="b"/>
                  <a:pathLst>
                    <a:path w="9525" h="9525">
                      <a:moveTo>
                        <a:pt x="0" y="0"/>
                      </a:moveTo>
                      <a:lnTo>
                        <a:pt x="0" y="135"/>
                      </a:lnTo>
                    </a:path>
                  </a:pathLst>
                </a:custGeom>
                <a:noFill/>
                <a:ln w="20241">
                  <a:solidFill>
                    <a:srgbClr val="FFFFFF"/>
                  </a:solidFill>
                </a:ln>
              </p:spPr>
            </p:sp>
            <p:sp>
              <p:nvSpPr>
                <p:cNvPr id="28" name="Freeform 28"/>
                <p:cNvSpPr/>
                <p:nvPr/>
              </p:nvSpPr>
              <p:spPr>
                <a:xfrm>
                  <a:off x="3236913" y="1079500"/>
                  <a:ext cx="9525" cy="9525"/>
                </a:xfrm>
                <a:custGeom>
                  <a:avLst/>
                  <a:gdLst/>
                  <a:ahLst/>
                  <a:cxnLst/>
                  <a:rect l="l" t="t" r="r" b="b"/>
                  <a:pathLst>
                    <a:path w="9525" h="9525">
                      <a:moveTo>
                        <a:pt x="0" y="0"/>
                      </a:moveTo>
                      <a:lnTo>
                        <a:pt x="0" y="135"/>
                      </a:lnTo>
                    </a:path>
                  </a:pathLst>
                </a:custGeom>
                <a:noFill/>
                <a:ln w="20241">
                  <a:solidFill>
                    <a:srgbClr val="FFFFFF"/>
                  </a:solidFill>
                </a:ln>
              </p:spPr>
            </p:sp>
          </p:grpSp>
          <p:sp>
            <p:nvSpPr>
              <p:cNvPr id="30" name="TextBox 30"/>
              <p:cNvSpPr txBox="1"/>
              <p:nvPr/>
            </p:nvSpPr>
            <p:spPr>
              <a:xfrm>
                <a:off x="3462147" y="904399"/>
                <a:ext cx="933399"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策略引擎决定：</a:t>
                </a:r>
              </a:p>
            </p:txBody>
          </p:sp>
          <p:sp>
            <p:nvSpPr>
              <p:cNvPr id="31" name="TextBox 31"/>
              <p:cNvSpPr txBox="1"/>
              <p:nvPr/>
            </p:nvSpPr>
            <p:spPr>
              <a:xfrm>
                <a:off x="3462338" y="1100138"/>
                <a:ext cx="1057275" cy="290512"/>
              </a:xfrm>
              <a:prstGeom prst="rect">
                <a:avLst/>
              </a:prstGeom>
              <a:noFill/>
              <a:ln>
                <a:noFill/>
              </a:ln>
            </p:spPr>
            <p:txBody>
              <a:bodyPr wrap="none" lIns="0" tIns="0" rIns="0" bIns="0" anchor="t" anchorCtr="0">
                <a:spAutoFit/>
              </a:bodyPr>
              <a:lstStyle/>
              <a:p>
                <a:pPr algn="l">
                  <a:lnSpc>
                    <a:spcPts val="1125"/>
                  </a:lnSpc>
                </a:pPr>
                <a:r>
                  <a:rPr lang="zh-CN" sz="750" dirty="0">
                    <a:solidFill>
                      <a:srgbClr val="FFFFFF"/>
                    </a:solidFill>
                    <a:latin typeface="+mn-lt"/>
                    <a:ea typeface="+mn-ea"/>
                    <a:cs typeface="+mn-cs"/>
                  </a:rPr>
                  <a:t>对谁、何时、什么渠道、</a:t>
                </a:r>
                <a:br/>
                <a:r>
                  <a:rPr lang="zh-CN" sz="750" dirty="0">
                    <a:solidFill>
                      <a:srgbClr val="FFFFFF"/>
                    </a:solidFill>
                    <a:latin typeface="+mn-lt"/>
                    <a:ea typeface="+mn-ea"/>
                    <a:cs typeface="+mn-cs"/>
                  </a:rPr>
                  <a:t>什么内容</a:t>
                </a:r>
              </a:p>
            </p:txBody>
          </p:sp>
        </p:grpSp>
        <p:sp>
          <p:nvSpPr>
            <p:cNvPr id="33" name="Freeform 33"/>
            <p:cNvSpPr/>
            <p:nvPr/>
          </p:nvSpPr>
          <p:spPr>
            <a:xfrm>
              <a:off x="5372100" y="1009650"/>
              <a:ext cx="209550" cy="190500"/>
            </a:xfrm>
            <a:prstGeom prst="rightArrow">
              <a:avLst/>
            </a:prstGeom>
            <a:solidFill>
              <a:srgbClr val="E84E2F"/>
            </a:solidFill>
            <a:ln>
              <a:noFill/>
            </a:ln>
          </p:spPr>
        </p:sp>
        <p:grpSp>
          <p:nvGrpSpPr>
            <p:cNvPr id="43" name="band-priority"/>
            <p:cNvGrpSpPr/>
            <p:nvPr/>
          </p:nvGrpSpPr>
          <p:grpSpPr>
            <a:xfrm>
              <a:off x="5619750" y="800100"/>
              <a:ext cx="2381250" cy="666750"/>
              <a:chOff x="5619750" y="800100"/>
              <a:chExt cx="2381250" cy="666750"/>
            </a:xfrm>
          </p:grpSpPr>
          <p:sp>
            <p:nvSpPr>
              <p:cNvPr id="34" name="Rectangle 34"/>
              <p:cNvSpPr/>
              <p:nvPr/>
            </p:nvSpPr>
            <p:spPr>
              <a:xfrm>
                <a:off x="5619750" y="800100"/>
                <a:ext cx="2381250" cy="666750"/>
              </a:xfrm>
              <a:prstGeom prst="roundRect">
                <a:avLst>
                  <a:gd name="adj" fmla="val 8571"/>
                </a:avLst>
              </a:prstGeom>
              <a:solidFill>
                <a:srgbClr val="520E00"/>
              </a:solidFill>
              <a:ln>
                <a:noFill/>
              </a:ln>
            </p:spPr>
          </p:sp>
          <p:grpSp>
            <p:nvGrpSpPr>
              <p:cNvPr id="40" name="Group 40"/>
              <p:cNvGrpSpPr/>
              <p:nvPr/>
            </p:nvGrpSpPr>
            <p:grpSpPr>
              <a:xfrm>
                <a:off x="5755481" y="1012031"/>
                <a:ext cx="242889" cy="242889"/>
                <a:chOff x="5755481" y="1012031"/>
                <a:chExt cx="242889" cy="242889"/>
              </a:xfrm>
            </p:grpSpPr>
            <p:sp>
              <p:nvSpPr>
                <p:cNvPr id="35" name="Freeform 35"/>
                <p:cNvSpPr/>
                <p:nvPr/>
              </p:nvSpPr>
              <p:spPr>
                <a:xfrm>
                  <a:off x="5755481" y="1173957"/>
                  <a:ext cx="80963" cy="80963"/>
                </a:xfrm>
                <a:custGeom>
                  <a:avLst/>
                  <a:gdLst/>
                  <a:ahLst/>
                  <a:cxnLst/>
                  <a:rect l="l" t="t" r="r" b="b"/>
                  <a:pathLst>
                    <a:path w="80963" h="80963">
                      <a:moveTo>
                        <a:pt x="0" y="26988"/>
                      </a:moveTo>
                      <a:cubicBezTo>
                        <a:pt x="0" y="12083"/>
                        <a:pt x="12083" y="0"/>
                        <a:pt x="26988" y="0"/>
                      </a:cubicBezTo>
                      <a:lnTo>
                        <a:pt x="53975" y="0"/>
                      </a:lnTo>
                      <a:cubicBezTo>
                        <a:pt x="68880" y="0"/>
                        <a:pt x="80963" y="12083"/>
                        <a:pt x="80963" y="26988"/>
                      </a:cubicBezTo>
                      <a:lnTo>
                        <a:pt x="80963" y="53975"/>
                      </a:lnTo>
                      <a:cubicBezTo>
                        <a:pt x="80963" y="68880"/>
                        <a:pt x="68880" y="80963"/>
                        <a:pt x="53975" y="80963"/>
                      </a:cubicBezTo>
                      <a:lnTo>
                        <a:pt x="26988" y="80963"/>
                      </a:lnTo>
                      <a:cubicBezTo>
                        <a:pt x="12083" y="80963"/>
                        <a:pt x="0" y="68880"/>
                        <a:pt x="0" y="53975"/>
                      </a:cubicBezTo>
                      <a:lnTo>
                        <a:pt x="0" y="26988"/>
                      </a:lnTo>
                    </a:path>
                  </a:pathLst>
                </a:custGeom>
                <a:noFill/>
                <a:ln w="20241">
                  <a:solidFill>
                    <a:srgbClr val="FFFFFF"/>
                  </a:solidFill>
                </a:ln>
              </p:spPr>
            </p:sp>
            <p:sp>
              <p:nvSpPr>
                <p:cNvPr id="36" name="Freeform 36"/>
                <p:cNvSpPr/>
                <p:nvPr/>
              </p:nvSpPr>
              <p:spPr>
                <a:xfrm>
                  <a:off x="5917407" y="1173957"/>
                  <a:ext cx="80963" cy="80963"/>
                </a:xfrm>
                <a:custGeom>
                  <a:avLst/>
                  <a:gdLst/>
                  <a:ahLst/>
                  <a:cxnLst/>
                  <a:rect l="l" t="t" r="r" b="b"/>
                  <a:pathLst>
                    <a:path w="80963" h="80963">
                      <a:moveTo>
                        <a:pt x="0" y="26988"/>
                      </a:moveTo>
                      <a:cubicBezTo>
                        <a:pt x="0" y="12083"/>
                        <a:pt x="12083" y="0"/>
                        <a:pt x="26988" y="0"/>
                      </a:cubicBezTo>
                      <a:lnTo>
                        <a:pt x="53975" y="0"/>
                      </a:lnTo>
                      <a:cubicBezTo>
                        <a:pt x="68880" y="0"/>
                        <a:pt x="80963" y="12083"/>
                        <a:pt x="80963" y="26988"/>
                      </a:cubicBezTo>
                      <a:lnTo>
                        <a:pt x="80963" y="53975"/>
                      </a:lnTo>
                      <a:cubicBezTo>
                        <a:pt x="80963" y="68880"/>
                        <a:pt x="68880" y="80963"/>
                        <a:pt x="53975" y="80963"/>
                      </a:cubicBezTo>
                      <a:lnTo>
                        <a:pt x="26988" y="80963"/>
                      </a:lnTo>
                      <a:cubicBezTo>
                        <a:pt x="12083" y="80963"/>
                        <a:pt x="0" y="68880"/>
                        <a:pt x="0" y="53975"/>
                      </a:cubicBezTo>
                      <a:lnTo>
                        <a:pt x="0" y="26988"/>
                      </a:lnTo>
                    </a:path>
                  </a:pathLst>
                </a:custGeom>
                <a:noFill/>
                <a:ln w="20241">
                  <a:solidFill>
                    <a:srgbClr val="FFFFFF"/>
                  </a:solidFill>
                </a:ln>
              </p:spPr>
            </p:sp>
            <p:sp>
              <p:nvSpPr>
                <p:cNvPr id="37" name="Freeform 37"/>
                <p:cNvSpPr/>
                <p:nvPr/>
              </p:nvSpPr>
              <p:spPr>
                <a:xfrm>
                  <a:off x="5836444" y="1012031"/>
                  <a:ext cx="80963" cy="80963"/>
                </a:xfrm>
                <a:custGeom>
                  <a:avLst/>
                  <a:gdLst/>
                  <a:ahLst/>
                  <a:cxnLst/>
                  <a:rect l="l" t="t" r="r" b="b"/>
                  <a:pathLst>
                    <a:path w="80963" h="80963">
                      <a:moveTo>
                        <a:pt x="0" y="26988"/>
                      </a:moveTo>
                      <a:cubicBezTo>
                        <a:pt x="0" y="12083"/>
                        <a:pt x="12083" y="0"/>
                        <a:pt x="26988" y="0"/>
                      </a:cubicBezTo>
                      <a:lnTo>
                        <a:pt x="53975" y="0"/>
                      </a:lnTo>
                      <a:cubicBezTo>
                        <a:pt x="68880" y="0"/>
                        <a:pt x="80963" y="12083"/>
                        <a:pt x="80963" y="26988"/>
                      </a:cubicBezTo>
                      <a:lnTo>
                        <a:pt x="80963" y="53975"/>
                      </a:lnTo>
                      <a:cubicBezTo>
                        <a:pt x="80963" y="68880"/>
                        <a:pt x="68880" y="80963"/>
                        <a:pt x="53975" y="80963"/>
                      </a:cubicBezTo>
                      <a:lnTo>
                        <a:pt x="26988" y="80963"/>
                      </a:lnTo>
                      <a:cubicBezTo>
                        <a:pt x="12083" y="80963"/>
                        <a:pt x="0" y="68880"/>
                        <a:pt x="0" y="53975"/>
                      </a:cubicBezTo>
                      <a:lnTo>
                        <a:pt x="0" y="26988"/>
                      </a:lnTo>
                    </a:path>
                  </a:pathLst>
                </a:custGeom>
                <a:noFill/>
                <a:ln w="20241">
                  <a:solidFill>
                    <a:srgbClr val="FFFFFF"/>
                  </a:solidFill>
                </a:ln>
              </p:spPr>
            </p:sp>
            <p:sp>
              <p:nvSpPr>
                <p:cNvPr id="38" name="Freeform 38"/>
                <p:cNvSpPr/>
                <p:nvPr/>
              </p:nvSpPr>
              <p:spPr>
                <a:xfrm>
                  <a:off x="5795963" y="1133475"/>
                  <a:ext cx="161925" cy="40481"/>
                </a:xfrm>
                <a:custGeom>
                  <a:avLst/>
                  <a:gdLst/>
                  <a:ahLst/>
                  <a:cxnLst/>
                  <a:rect l="l" t="t" r="r" b="b"/>
                  <a:pathLst>
                    <a:path w="161925" h="40481">
                      <a:moveTo>
                        <a:pt x="0" y="40481"/>
                      </a:moveTo>
                      <a:lnTo>
                        <a:pt x="0" y="26988"/>
                      </a:lnTo>
                      <a:cubicBezTo>
                        <a:pt x="0" y="12083"/>
                        <a:pt x="12083" y="0"/>
                        <a:pt x="26988" y="0"/>
                      </a:cubicBezTo>
                      <a:lnTo>
                        <a:pt x="134938" y="0"/>
                      </a:lnTo>
                      <a:cubicBezTo>
                        <a:pt x="149843" y="0"/>
                        <a:pt x="161925" y="12083"/>
                        <a:pt x="161925" y="26988"/>
                      </a:cubicBezTo>
                      <a:lnTo>
                        <a:pt x="161925" y="40481"/>
                      </a:lnTo>
                    </a:path>
                  </a:pathLst>
                </a:custGeom>
                <a:noFill/>
                <a:ln w="20241">
                  <a:solidFill>
                    <a:srgbClr val="FFFFFF"/>
                  </a:solidFill>
                </a:ln>
              </p:spPr>
            </p:sp>
            <p:sp>
              <p:nvSpPr>
                <p:cNvPr id="39" name="Freeform 39"/>
                <p:cNvSpPr/>
                <p:nvPr/>
              </p:nvSpPr>
              <p:spPr>
                <a:xfrm>
                  <a:off x="5876925" y="1092994"/>
                  <a:ext cx="9525" cy="40481"/>
                </a:xfrm>
                <a:custGeom>
                  <a:avLst/>
                  <a:gdLst/>
                  <a:ahLst/>
                  <a:cxnLst/>
                  <a:rect l="l" t="t" r="r" b="b"/>
                  <a:pathLst>
                    <a:path w="9525" h="40481">
                      <a:moveTo>
                        <a:pt x="0" y="0"/>
                      </a:moveTo>
                      <a:lnTo>
                        <a:pt x="0" y="40481"/>
                      </a:lnTo>
                    </a:path>
                  </a:pathLst>
                </a:custGeom>
                <a:noFill/>
                <a:ln w="20241">
                  <a:solidFill>
                    <a:srgbClr val="FFFFFF"/>
                  </a:solidFill>
                </a:ln>
              </p:spPr>
            </p:sp>
          </p:grpSp>
          <p:sp>
            <p:nvSpPr>
              <p:cNvPr id="41" name="TextBox 41"/>
              <p:cNvSpPr txBox="1"/>
              <p:nvPr/>
            </p:nvSpPr>
            <p:spPr>
              <a:xfrm>
                <a:off x="6129147" y="866299"/>
                <a:ext cx="933399"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服务优先路径：</a:t>
                </a:r>
              </a:p>
            </p:txBody>
          </p:sp>
          <p:sp>
            <p:nvSpPr>
              <p:cNvPr id="42" name="TextBox 42"/>
              <p:cNvSpPr txBox="1"/>
              <p:nvPr/>
            </p:nvSpPr>
            <p:spPr>
              <a:xfrm>
                <a:off x="6129338" y="1047036"/>
                <a:ext cx="830072" cy="407194"/>
              </a:xfrm>
              <a:prstGeom prst="rect">
                <a:avLst/>
              </a:prstGeom>
              <a:noFill/>
              <a:ln>
                <a:noFill/>
              </a:ln>
            </p:spPr>
            <p:txBody>
              <a:bodyPr wrap="none" lIns="0" tIns="0" rIns="0" bIns="0" anchor="t" anchorCtr="0">
                <a:spAutoFit/>
              </a:bodyPr>
              <a:lstStyle/>
              <a:p>
                <a:pPr algn="l">
                  <a:lnSpc>
                    <a:spcPts val="1050"/>
                  </a:lnSpc>
                </a:pPr>
                <a:r>
                  <a:rPr lang="zh-CN" sz="710" dirty="0">
                    <a:solidFill>
                      <a:srgbClr val="FFFFFF"/>
                    </a:solidFill>
                    <a:latin typeface="+mn-lt"/>
                    <a:ea typeface="+mn-ea"/>
                    <a:cs typeface="+mn-cs"/>
                  </a:rPr>
                  <a:t>风险提醒—工具支持​</a:t>
                </a:r>
                <a:br/>
                <a:r>
                  <a:rPr lang="zh-CN" sz="710" dirty="0">
                    <a:solidFill>
                      <a:srgbClr val="FFFFFF"/>
                    </a:solidFill>
                    <a:latin typeface="+mn-lt"/>
                    <a:ea typeface="+mn-ea"/>
                    <a:cs typeface="+mn-cs"/>
                  </a:rPr>
                  <a:t>人工咨询—权益匹配​</a:t>
                </a:r>
                <a:br/>
                <a:r>
                  <a:rPr lang="zh-CN" sz="710" dirty="0">
                    <a:solidFill>
                      <a:srgbClr val="FFFFFF"/>
                    </a:solidFill>
                    <a:latin typeface="+mn-lt"/>
                    <a:ea typeface="+mn-ea"/>
                    <a:cs typeface="+mn-cs"/>
                  </a:rPr>
                  <a:t>业务转化</a:t>
                </a:r>
              </a:p>
            </p:txBody>
          </p:sp>
        </p:grpSp>
        <p:sp>
          <p:nvSpPr>
            <p:cNvPr id="44" name="Freeform 44"/>
            <p:cNvSpPr/>
            <p:nvPr/>
          </p:nvSpPr>
          <p:spPr>
            <a:xfrm>
              <a:off x="8039100" y="1009650"/>
              <a:ext cx="209550" cy="190500"/>
            </a:xfrm>
            <a:prstGeom prst="rightArrow">
              <a:avLst/>
            </a:prstGeom>
            <a:solidFill>
              <a:srgbClr val="E84E2F"/>
            </a:solidFill>
            <a:ln>
              <a:noFill/>
            </a:ln>
          </p:spPr>
        </p:sp>
        <p:grpSp>
          <p:nvGrpSpPr>
            <p:cNvPr id="50" name="band-journey"/>
            <p:cNvGrpSpPr/>
            <p:nvPr/>
          </p:nvGrpSpPr>
          <p:grpSpPr>
            <a:xfrm>
              <a:off x="8286750" y="800100"/>
              <a:ext cx="3676650" cy="666750"/>
              <a:chOff x="8286750" y="800100"/>
              <a:chExt cx="3676650" cy="666750"/>
            </a:xfrm>
          </p:grpSpPr>
          <p:sp>
            <p:nvSpPr>
              <p:cNvPr id="45" name="Rectangle 45"/>
              <p:cNvSpPr/>
              <p:nvPr/>
            </p:nvSpPr>
            <p:spPr>
              <a:xfrm>
                <a:off x="8286750" y="800100"/>
                <a:ext cx="3676650" cy="666750"/>
              </a:xfrm>
              <a:prstGeom prst="roundRect">
                <a:avLst>
                  <a:gd name="adj" fmla="val 8571"/>
                </a:avLst>
              </a:prstGeom>
              <a:solidFill>
                <a:srgbClr val="520E00"/>
              </a:solidFill>
              <a:ln>
                <a:noFill/>
              </a:ln>
            </p:spPr>
          </p:sp>
          <p:grpSp>
            <p:nvGrpSpPr>
              <p:cNvPr id="48" name="Group 48"/>
              <p:cNvGrpSpPr/>
              <p:nvPr/>
            </p:nvGrpSpPr>
            <p:grpSpPr>
              <a:xfrm>
                <a:off x="8462963" y="1012031"/>
                <a:ext cx="161925" cy="242889"/>
                <a:chOff x="8462963" y="1012031"/>
                <a:chExt cx="161925" cy="242889"/>
              </a:xfrm>
            </p:grpSpPr>
            <p:sp>
              <p:nvSpPr>
                <p:cNvPr id="46" name="Freeform 46"/>
                <p:cNvSpPr/>
                <p:nvPr/>
              </p:nvSpPr>
              <p:spPr>
                <a:xfrm>
                  <a:off x="8489950" y="1012031"/>
                  <a:ext cx="107950" cy="107950"/>
                </a:xfrm>
                <a:custGeom>
                  <a:avLst/>
                  <a:gdLst/>
                  <a:ahLst/>
                  <a:cxnLst/>
                  <a:rect l="l" t="t" r="r" b="b"/>
                  <a:pathLst>
                    <a:path w="107950" h="107950">
                      <a:moveTo>
                        <a:pt x="0" y="53975"/>
                      </a:moveTo>
                      <a:cubicBezTo>
                        <a:pt x="0" y="83785"/>
                        <a:pt x="24165" y="107950"/>
                        <a:pt x="53975" y="107950"/>
                      </a:cubicBezTo>
                      <a:cubicBezTo>
                        <a:pt x="83785" y="107950"/>
                        <a:pt x="107950" y="83785"/>
                        <a:pt x="107950" y="53975"/>
                      </a:cubicBezTo>
                      <a:cubicBezTo>
                        <a:pt x="107950" y="24165"/>
                        <a:pt x="83785" y="0"/>
                        <a:pt x="53975" y="0"/>
                      </a:cubicBezTo>
                      <a:cubicBezTo>
                        <a:pt x="24165" y="0"/>
                        <a:pt x="0" y="24165"/>
                        <a:pt x="0" y="53975"/>
                      </a:cubicBezTo>
                    </a:path>
                  </a:pathLst>
                </a:custGeom>
                <a:noFill/>
                <a:ln w="20241">
                  <a:solidFill>
                    <a:srgbClr val="FFFFFF"/>
                  </a:solidFill>
                </a:ln>
              </p:spPr>
            </p:sp>
            <p:sp>
              <p:nvSpPr>
                <p:cNvPr id="47" name="Freeform 47"/>
                <p:cNvSpPr/>
                <p:nvPr/>
              </p:nvSpPr>
              <p:spPr>
                <a:xfrm>
                  <a:off x="8462963" y="1173957"/>
                  <a:ext cx="161925" cy="80963"/>
                </a:xfrm>
                <a:custGeom>
                  <a:avLst/>
                  <a:gdLst/>
                  <a:ahLst/>
                  <a:cxnLst/>
                  <a:rect l="l" t="t" r="r" b="b"/>
                  <a:pathLst>
                    <a:path w="161925" h="80963">
                      <a:moveTo>
                        <a:pt x="0" y="80963"/>
                      </a:moveTo>
                      <a:lnTo>
                        <a:pt x="0" y="53975"/>
                      </a:lnTo>
                      <a:cubicBezTo>
                        <a:pt x="0" y="24165"/>
                        <a:pt x="24165" y="0"/>
                        <a:pt x="53975" y="0"/>
                      </a:cubicBezTo>
                      <a:lnTo>
                        <a:pt x="107950" y="0"/>
                      </a:lnTo>
                      <a:cubicBezTo>
                        <a:pt x="137760" y="0"/>
                        <a:pt x="161925" y="24165"/>
                        <a:pt x="161925" y="53975"/>
                      </a:cubicBezTo>
                      <a:lnTo>
                        <a:pt x="161925" y="80963"/>
                      </a:lnTo>
                    </a:path>
                  </a:pathLst>
                </a:custGeom>
                <a:noFill/>
                <a:ln w="20241">
                  <a:solidFill>
                    <a:srgbClr val="FFFFFF"/>
                  </a:solidFill>
                </a:ln>
              </p:spPr>
            </p:sp>
          </p:grpSp>
          <p:sp>
            <p:nvSpPr>
              <p:cNvPr id="49" name="TextBox 49"/>
              <p:cNvSpPr txBox="1"/>
              <p:nvPr/>
            </p:nvSpPr>
            <p:spPr>
              <a:xfrm>
                <a:off x="8796147" y="961549"/>
                <a:ext cx="1254506" cy="381191"/>
              </a:xfrm>
              <a:prstGeom prst="rect">
                <a:avLst/>
              </a:prstGeom>
              <a:noFill/>
              <a:ln>
                <a:noFill/>
              </a:ln>
            </p:spPr>
            <p:txBody>
              <a:bodyPr wrap="none" lIns="0" tIns="0" rIns="0" bIns="0" anchor="t" anchorCtr="0">
                <a:spAutoFit/>
              </a:bodyPr>
              <a:lstStyle/>
              <a:p>
                <a:pPr algn="l">
                  <a:lnSpc>
                    <a:spcPts val="1500"/>
                  </a:lnSpc>
                </a:pPr>
                <a:r>
                  <a:rPr lang="zh-CN" sz="980" b="1" dirty="0">
                    <a:solidFill>
                      <a:srgbClr val="FFFFFF"/>
                    </a:solidFill>
                    <a:latin typeface="+mn-lt"/>
                    <a:ea typeface="+mn-ea"/>
                    <a:cs typeface="+mn-cs"/>
                  </a:rPr>
                  <a:t>规则旅程＋模型旅程，</a:t>
                </a:r>
                <a:br/>
                <a:r>
                  <a:rPr lang="zh-CN" sz="980" b="1" dirty="0">
                    <a:solidFill>
                      <a:srgbClr val="FFFFFF"/>
                    </a:solidFill>
                    <a:latin typeface="+mn-lt"/>
                    <a:ea typeface="+mn-ea"/>
                    <a:cs typeface="+mn-cs"/>
                  </a:rPr>
                  <a:t>异常自动转人工</a:t>
                </a:r>
              </a:p>
            </p:txBody>
          </p:sp>
        </p:grpSp>
      </p:grpSp>
      <p:grpSp>
        <p:nvGrpSpPr>
          <p:cNvPr id="105" name="event-grid"/>
          <p:cNvGrpSpPr/>
          <p:nvPr/>
        </p:nvGrpSpPr>
        <p:grpSpPr>
          <a:xfrm>
            <a:off x="228600" y="1562100"/>
            <a:ext cx="2438400" cy="3028950"/>
            <a:chOff x="228600" y="1562100"/>
            <a:chExt cx="2438400" cy="3028950"/>
          </a:xfrm>
        </p:grpSpPr>
        <p:sp>
          <p:nvSpPr>
            <p:cNvPr id="52" name="Rectangle 52"/>
            <p:cNvSpPr/>
            <p:nvPr/>
          </p:nvSpPr>
          <p:spPr>
            <a:xfrm>
              <a:off x="228600" y="1562100"/>
              <a:ext cx="2438400" cy="3028950"/>
            </a:xfrm>
            <a:prstGeom prst="roundRect">
              <a:avLst>
                <a:gd name="adj" fmla="val 2344"/>
              </a:avLst>
            </a:prstGeom>
            <a:solidFill>
              <a:srgbClr val="F5F8FE"/>
            </a:solidFill>
            <a:ln w="9525">
              <a:solidFill>
                <a:srgbClr val="C9D5EA"/>
              </a:solidFill>
            </a:ln>
          </p:spPr>
        </p:sp>
        <p:sp>
          <p:nvSpPr>
            <p:cNvPr id="53" name="Line 53"/>
            <p:cNvSpPr/>
            <p:nvPr/>
          </p:nvSpPr>
          <p:spPr>
            <a:xfrm>
              <a:off x="1038225" y="1638300"/>
              <a:ext cx="9525" cy="2876550"/>
            </a:xfrm>
            <a:custGeom>
              <a:avLst/>
              <a:gdLst/>
              <a:ahLst/>
              <a:cxnLst/>
              <a:rect l="l" t="t" r="r" b="b"/>
              <a:pathLst>
                <a:path w="9525" h="2876550">
                  <a:moveTo>
                    <a:pt x="0" y="0"/>
                  </a:moveTo>
                  <a:lnTo>
                    <a:pt x="0" y="2876550"/>
                  </a:lnTo>
                </a:path>
              </a:pathLst>
            </a:custGeom>
            <a:noFill/>
            <a:ln w="9525">
              <a:solidFill>
                <a:srgbClr val="DCE6F5"/>
              </a:solidFill>
            </a:ln>
          </p:spPr>
        </p:sp>
        <p:sp>
          <p:nvSpPr>
            <p:cNvPr id="54" name="Line 54"/>
            <p:cNvSpPr/>
            <p:nvPr/>
          </p:nvSpPr>
          <p:spPr>
            <a:xfrm>
              <a:off x="1857375" y="1638300"/>
              <a:ext cx="9525" cy="2876550"/>
            </a:xfrm>
            <a:custGeom>
              <a:avLst/>
              <a:gdLst/>
              <a:ahLst/>
              <a:cxnLst/>
              <a:rect l="l" t="t" r="r" b="b"/>
              <a:pathLst>
                <a:path w="9525" h="2876550">
                  <a:moveTo>
                    <a:pt x="0" y="0"/>
                  </a:moveTo>
                  <a:lnTo>
                    <a:pt x="0" y="2876550"/>
                  </a:lnTo>
                </a:path>
              </a:pathLst>
            </a:custGeom>
            <a:noFill/>
            <a:ln w="9525">
              <a:solidFill>
                <a:srgbClr val="DCE6F5"/>
              </a:solidFill>
            </a:ln>
          </p:spPr>
        </p:sp>
        <p:sp>
          <p:nvSpPr>
            <p:cNvPr id="55" name="Line 55"/>
            <p:cNvSpPr/>
            <p:nvPr/>
          </p:nvSpPr>
          <p:spPr>
            <a:xfrm>
              <a:off x="304800" y="2571750"/>
              <a:ext cx="2286000" cy="9525"/>
            </a:xfrm>
            <a:custGeom>
              <a:avLst/>
              <a:gdLst/>
              <a:ahLst/>
              <a:cxnLst/>
              <a:rect l="l" t="t" r="r" b="b"/>
              <a:pathLst>
                <a:path w="2286000" h="9525">
                  <a:moveTo>
                    <a:pt x="0" y="0"/>
                  </a:moveTo>
                  <a:lnTo>
                    <a:pt x="2286000" y="0"/>
                  </a:lnTo>
                </a:path>
              </a:pathLst>
            </a:custGeom>
            <a:noFill/>
            <a:ln w="9525">
              <a:solidFill>
                <a:srgbClr val="DCE6F5"/>
              </a:solidFill>
            </a:ln>
          </p:spPr>
        </p:sp>
        <p:sp>
          <p:nvSpPr>
            <p:cNvPr id="56" name="Line 56"/>
            <p:cNvSpPr/>
            <p:nvPr/>
          </p:nvSpPr>
          <p:spPr>
            <a:xfrm>
              <a:off x="304800" y="3581400"/>
              <a:ext cx="2286000" cy="9525"/>
            </a:xfrm>
            <a:custGeom>
              <a:avLst/>
              <a:gdLst/>
              <a:ahLst/>
              <a:cxnLst/>
              <a:rect l="l" t="t" r="r" b="b"/>
              <a:pathLst>
                <a:path w="2286000" h="9525">
                  <a:moveTo>
                    <a:pt x="0" y="0"/>
                  </a:moveTo>
                  <a:lnTo>
                    <a:pt x="2286000" y="0"/>
                  </a:lnTo>
                </a:path>
              </a:pathLst>
            </a:custGeom>
            <a:noFill/>
            <a:ln w="9525">
              <a:solidFill>
                <a:srgbClr val="DCE6F5"/>
              </a:solidFill>
            </a:ln>
          </p:spPr>
        </p:sp>
        <p:grpSp>
          <p:nvGrpSpPr>
            <p:cNvPr id="61" name="Group 61"/>
            <p:cNvGrpSpPr/>
            <p:nvPr/>
          </p:nvGrpSpPr>
          <p:grpSpPr>
            <a:xfrm>
              <a:off x="509588" y="1824038"/>
              <a:ext cx="257175" cy="200025"/>
              <a:chOff x="509588" y="1824038"/>
              <a:chExt cx="257175" cy="200025"/>
            </a:xfrm>
          </p:grpSpPr>
          <p:sp>
            <p:nvSpPr>
              <p:cNvPr id="57" name="Freeform 57"/>
              <p:cNvSpPr/>
              <p:nvPr/>
            </p:nvSpPr>
            <p:spPr>
              <a:xfrm>
                <a:off x="509588" y="1824038"/>
                <a:ext cx="257175" cy="200025"/>
              </a:xfrm>
              <a:custGeom>
                <a:avLst/>
                <a:gdLst/>
                <a:ahLst/>
                <a:cxnLst/>
                <a:rect l="l" t="t" r="r" b="b"/>
                <a:pathLst>
                  <a:path w="257175" h="200025">
                    <a:moveTo>
                      <a:pt x="0" y="42862"/>
                    </a:moveTo>
                    <a:cubicBezTo>
                      <a:pt x="0" y="19190"/>
                      <a:pt x="19190" y="0"/>
                      <a:pt x="42862" y="0"/>
                    </a:cubicBezTo>
                    <a:lnTo>
                      <a:pt x="214312" y="0"/>
                    </a:lnTo>
                    <a:cubicBezTo>
                      <a:pt x="237985" y="0"/>
                      <a:pt x="257175" y="19190"/>
                      <a:pt x="257175" y="42862"/>
                    </a:cubicBezTo>
                    <a:lnTo>
                      <a:pt x="257175" y="157162"/>
                    </a:lnTo>
                    <a:cubicBezTo>
                      <a:pt x="257175" y="180835"/>
                      <a:pt x="237985" y="200025"/>
                      <a:pt x="214312" y="200025"/>
                    </a:cubicBezTo>
                    <a:lnTo>
                      <a:pt x="42862" y="200025"/>
                    </a:lnTo>
                    <a:cubicBezTo>
                      <a:pt x="19190" y="200025"/>
                      <a:pt x="0" y="180835"/>
                      <a:pt x="0" y="157162"/>
                    </a:cubicBezTo>
                    <a:lnTo>
                      <a:pt x="0" y="42862"/>
                    </a:lnTo>
                  </a:path>
                </a:pathLst>
              </a:custGeom>
              <a:noFill/>
              <a:ln w="21431">
                <a:solidFill>
                  <a:srgbClr val="8A1700"/>
                </a:solidFill>
              </a:ln>
            </p:spPr>
          </p:sp>
          <p:sp>
            <p:nvSpPr>
              <p:cNvPr id="58" name="Freeform 58"/>
              <p:cNvSpPr/>
              <p:nvPr/>
            </p:nvSpPr>
            <p:spPr>
              <a:xfrm>
                <a:off x="509588" y="1895475"/>
                <a:ext cx="257175" cy="9525"/>
              </a:xfrm>
              <a:custGeom>
                <a:avLst/>
                <a:gdLst/>
                <a:ahLst/>
                <a:cxnLst/>
                <a:rect l="l" t="t" r="r" b="b"/>
                <a:pathLst>
                  <a:path w="257175" h="9525">
                    <a:moveTo>
                      <a:pt x="0" y="0"/>
                    </a:moveTo>
                    <a:lnTo>
                      <a:pt x="257175" y="0"/>
                    </a:lnTo>
                  </a:path>
                </a:pathLst>
              </a:custGeom>
              <a:noFill/>
              <a:ln w="21431">
                <a:solidFill>
                  <a:srgbClr val="8A1700"/>
                </a:solidFill>
              </a:ln>
            </p:spPr>
          </p:sp>
          <p:sp>
            <p:nvSpPr>
              <p:cNvPr id="59" name="Freeform 59"/>
              <p:cNvSpPr/>
              <p:nvPr/>
            </p:nvSpPr>
            <p:spPr>
              <a:xfrm>
                <a:off x="566738" y="1966912"/>
                <a:ext cx="9525" cy="9525"/>
              </a:xfrm>
              <a:custGeom>
                <a:avLst/>
                <a:gdLst/>
                <a:ahLst/>
                <a:cxnLst/>
                <a:rect l="l" t="t" r="r" b="b"/>
                <a:pathLst>
                  <a:path w="9525" h="9525">
                    <a:moveTo>
                      <a:pt x="0" y="0"/>
                    </a:moveTo>
                    <a:lnTo>
                      <a:pt x="143" y="0"/>
                    </a:lnTo>
                  </a:path>
                </a:pathLst>
              </a:custGeom>
              <a:noFill/>
              <a:ln w="21431">
                <a:solidFill>
                  <a:srgbClr val="8A1700"/>
                </a:solidFill>
              </a:ln>
            </p:spPr>
          </p:sp>
          <p:sp>
            <p:nvSpPr>
              <p:cNvPr id="60" name="Freeform 60"/>
              <p:cNvSpPr/>
              <p:nvPr/>
            </p:nvSpPr>
            <p:spPr>
              <a:xfrm>
                <a:off x="623888" y="1966912"/>
                <a:ext cx="28575" cy="9525"/>
              </a:xfrm>
              <a:custGeom>
                <a:avLst/>
                <a:gdLst/>
                <a:ahLst/>
                <a:cxnLst/>
                <a:rect l="l" t="t" r="r" b="b"/>
                <a:pathLst>
                  <a:path w="28575" h="9525">
                    <a:moveTo>
                      <a:pt x="0" y="0"/>
                    </a:moveTo>
                    <a:lnTo>
                      <a:pt x="28575" y="0"/>
                    </a:lnTo>
                  </a:path>
                </a:pathLst>
              </a:custGeom>
              <a:noFill/>
              <a:ln w="21431">
                <a:solidFill>
                  <a:srgbClr val="8A1700"/>
                </a:solidFill>
              </a:ln>
            </p:spPr>
          </p:sp>
        </p:grpSp>
        <p:sp>
          <p:nvSpPr>
            <p:cNvPr id="62" name="TextBox 62"/>
            <p:cNvSpPr txBox="1"/>
            <p:nvPr/>
          </p:nvSpPr>
          <p:spPr>
            <a:xfrm>
              <a:off x="523024" y="2254091"/>
              <a:ext cx="230302" cy="161925"/>
            </a:xfrm>
            <a:prstGeom prst="rect">
              <a:avLst/>
            </a:prstGeom>
            <a:noFill/>
            <a:ln>
              <a:noFill/>
            </a:ln>
          </p:spPr>
          <p:txBody>
            <a:bodyPr wrap="none" lIns="0" tIns="0" rIns="0" bIns="0" anchor="t" anchorCtr="0">
              <a:spAutoFit/>
            </a:bodyPr>
            <a:lstStyle/>
            <a:p>
              <a:pPr algn="ctr"/>
              <a:r>
                <a:rPr lang="zh-CN" sz="820" dirty="0">
                  <a:solidFill>
                    <a:srgbClr val="520E00"/>
                  </a:solidFill>
                  <a:latin typeface="+mn-lt"/>
                  <a:ea typeface="+mn-ea"/>
                  <a:cs typeface="+mn-cs"/>
                </a:rPr>
                <a:t>核卡</a:t>
              </a:r>
            </a:p>
          </p:txBody>
        </p:sp>
        <p:grpSp>
          <p:nvGrpSpPr>
            <p:cNvPr id="65" name="Group 65"/>
            <p:cNvGrpSpPr/>
            <p:nvPr/>
          </p:nvGrpSpPr>
          <p:grpSpPr>
            <a:xfrm>
              <a:off x="1319212" y="1795462"/>
              <a:ext cx="257175" cy="257175"/>
              <a:chOff x="1319212" y="1795462"/>
              <a:chExt cx="257175" cy="257175"/>
            </a:xfrm>
          </p:grpSpPr>
          <p:sp>
            <p:nvSpPr>
              <p:cNvPr id="63" name="Freeform 63"/>
              <p:cNvSpPr/>
              <p:nvPr/>
            </p:nvSpPr>
            <p:spPr>
              <a:xfrm>
                <a:off x="1319212" y="179546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1431">
                <a:solidFill>
                  <a:srgbClr val="8A1700"/>
                </a:solidFill>
              </a:ln>
            </p:spPr>
          </p:sp>
          <p:sp>
            <p:nvSpPr>
              <p:cNvPr id="64" name="Freeform 64"/>
              <p:cNvSpPr/>
              <p:nvPr/>
            </p:nvSpPr>
            <p:spPr>
              <a:xfrm>
                <a:off x="1404938" y="1895475"/>
                <a:ext cx="85725" cy="57150"/>
              </a:xfrm>
              <a:custGeom>
                <a:avLst/>
                <a:gdLst/>
                <a:ahLst/>
                <a:cxnLst/>
                <a:rect l="l" t="t" r="r" b="b"/>
                <a:pathLst>
                  <a:path w="85725" h="57150">
                    <a:moveTo>
                      <a:pt x="0" y="28575"/>
                    </a:moveTo>
                    <a:lnTo>
                      <a:pt x="28575" y="57150"/>
                    </a:lnTo>
                    <a:lnTo>
                      <a:pt x="85725" y="0"/>
                    </a:lnTo>
                  </a:path>
                </a:pathLst>
              </a:custGeom>
              <a:noFill/>
              <a:ln w="21431">
                <a:solidFill>
                  <a:srgbClr val="8A1700"/>
                </a:solidFill>
              </a:ln>
            </p:spPr>
          </p:sp>
        </p:grpSp>
        <p:sp>
          <p:nvSpPr>
            <p:cNvPr id="66" name="TextBox 66"/>
            <p:cNvSpPr txBox="1"/>
            <p:nvPr/>
          </p:nvSpPr>
          <p:spPr>
            <a:xfrm>
              <a:off x="1332649" y="2254091"/>
              <a:ext cx="230302" cy="161925"/>
            </a:xfrm>
            <a:prstGeom prst="rect">
              <a:avLst/>
            </a:prstGeom>
            <a:noFill/>
            <a:ln>
              <a:noFill/>
            </a:ln>
          </p:spPr>
          <p:txBody>
            <a:bodyPr wrap="none" lIns="0" tIns="0" rIns="0" bIns="0" anchor="t" anchorCtr="0">
              <a:spAutoFit/>
            </a:bodyPr>
            <a:lstStyle/>
            <a:p>
              <a:pPr algn="ctr"/>
              <a:r>
                <a:rPr lang="zh-CN" sz="820" dirty="0">
                  <a:solidFill>
                    <a:srgbClr val="520E00"/>
                  </a:solidFill>
                  <a:latin typeface="+mn-lt"/>
                  <a:ea typeface="+mn-ea"/>
                  <a:cs typeface="+mn-cs"/>
                </a:rPr>
                <a:t>激活</a:t>
              </a:r>
            </a:p>
          </p:txBody>
        </p:sp>
        <p:grpSp>
          <p:nvGrpSpPr>
            <p:cNvPr id="69" name="Group 69"/>
            <p:cNvGrpSpPr/>
            <p:nvPr/>
          </p:nvGrpSpPr>
          <p:grpSpPr>
            <a:xfrm>
              <a:off x="2143125" y="1809750"/>
              <a:ext cx="228600" cy="228600"/>
              <a:chOff x="2143125" y="1809750"/>
              <a:chExt cx="228600" cy="228600"/>
            </a:xfrm>
          </p:grpSpPr>
          <p:sp>
            <p:nvSpPr>
              <p:cNvPr id="67" name="Freeform 67"/>
              <p:cNvSpPr/>
              <p:nvPr/>
            </p:nvSpPr>
            <p:spPr>
              <a:xfrm>
                <a:off x="2143125" y="1809750"/>
                <a:ext cx="214312" cy="228600"/>
              </a:xfrm>
              <a:custGeom>
                <a:avLst/>
                <a:gdLst/>
                <a:ahLst/>
                <a:cxnLst/>
                <a:rect l="l" t="t" r="r" b="b"/>
                <a:pathLst>
                  <a:path w="214312" h="228600">
                    <a:moveTo>
                      <a:pt x="185738" y="57150"/>
                    </a:moveTo>
                    <a:lnTo>
                      <a:pt x="185738" y="14288"/>
                    </a:lnTo>
                    <a:cubicBezTo>
                      <a:pt x="185738" y="6397"/>
                      <a:pt x="179341" y="0"/>
                      <a:pt x="171450" y="0"/>
                    </a:cubicBezTo>
                    <a:lnTo>
                      <a:pt x="28575" y="0"/>
                    </a:lnTo>
                    <a:cubicBezTo>
                      <a:pt x="12793" y="0"/>
                      <a:pt x="0" y="12793"/>
                      <a:pt x="0" y="28575"/>
                    </a:cubicBezTo>
                    <a:cubicBezTo>
                      <a:pt x="0" y="44357"/>
                      <a:pt x="12793" y="57150"/>
                      <a:pt x="28575" y="57150"/>
                    </a:cubicBezTo>
                    <a:lnTo>
                      <a:pt x="200025" y="57150"/>
                    </a:lnTo>
                    <a:cubicBezTo>
                      <a:pt x="207916" y="57150"/>
                      <a:pt x="214312" y="63547"/>
                      <a:pt x="214312" y="71438"/>
                    </a:cubicBezTo>
                    <a:lnTo>
                      <a:pt x="214312" y="114300"/>
                    </a:lnTo>
                    <a:moveTo>
                      <a:pt x="214312" y="171450"/>
                    </a:moveTo>
                    <a:lnTo>
                      <a:pt x="214312" y="214312"/>
                    </a:lnTo>
                    <a:cubicBezTo>
                      <a:pt x="214312" y="222203"/>
                      <a:pt x="207916" y="228600"/>
                      <a:pt x="200025" y="228600"/>
                    </a:cubicBezTo>
                    <a:lnTo>
                      <a:pt x="28575" y="228600"/>
                    </a:lnTo>
                    <a:cubicBezTo>
                      <a:pt x="12793" y="228600"/>
                      <a:pt x="0" y="215807"/>
                      <a:pt x="0" y="200025"/>
                    </a:cubicBezTo>
                    <a:lnTo>
                      <a:pt x="0" y="28575"/>
                    </a:lnTo>
                  </a:path>
                </a:pathLst>
              </a:custGeom>
              <a:noFill/>
              <a:ln w="21431">
                <a:solidFill>
                  <a:srgbClr val="8A1700"/>
                </a:solidFill>
              </a:ln>
            </p:spPr>
          </p:sp>
          <p:sp>
            <p:nvSpPr>
              <p:cNvPr id="68" name="Freeform 68"/>
              <p:cNvSpPr/>
              <p:nvPr/>
            </p:nvSpPr>
            <p:spPr>
              <a:xfrm>
                <a:off x="2286000" y="1924050"/>
                <a:ext cx="85725" cy="57150"/>
              </a:xfrm>
              <a:custGeom>
                <a:avLst/>
                <a:gdLst/>
                <a:ahLst/>
                <a:cxnLst/>
                <a:rect l="l" t="t" r="r" b="b"/>
                <a:pathLst>
                  <a:path w="85725" h="57150">
                    <a:moveTo>
                      <a:pt x="85725" y="0"/>
                    </a:moveTo>
                    <a:lnTo>
                      <a:pt x="85725" y="57150"/>
                    </a:lnTo>
                    <a:lnTo>
                      <a:pt x="28575" y="57150"/>
                    </a:lnTo>
                    <a:cubicBezTo>
                      <a:pt x="12793" y="57150"/>
                      <a:pt x="0" y="44357"/>
                      <a:pt x="0" y="28575"/>
                    </a:cubicBezTo>
                    <a:cubicBezTo>
                      <a:pt x="0" y="12793"/>
                      <a:pt x="12793" y="0"/>
                      <a:pt x="28575" y="0"/>
                    </a:cubicBezTo>
                    <a:lnTo>
                      <a:pt x="85725" y="0"/>
                    </a:lnTo>
                  </a:path>
                </a:pathLst>
              </a:custGeom>
              <a:noFill/>
              <a:ln w="21431">
                <a:solidFill>
                  <a:srgbClr val="8A1700"/>
                </a:solidFill>
              </a:ln>
            </p:spPr>
          </p:sp>
        </p:grpSp>
        <p:sp>
          <p:nvSpPr>
            <p:cNvPr id="70" name="TextBox 70"/>
            <p:cNvSpPr txBox="1"/>
            <p:nvPr/>
          </p:nvSpPr>
          <p:spPr>
            <a:xfrm>
              <a:off x="2142274" y="2254091"/>
              <a:ext cx="230302" cy="161925"/>
            </a:xfrm>
            <a:prstGeom prst="rect">
              <a:avLst/>
            </a:prstGeom>
            <a:noFill/>
            <a:ln>
              <a:noFill/>
            </a:ln>
          </p:spPr>
          <p:txBody>
            <a:bodyPr wrap="none" lIns="0" tIns="0" rIns="0" bIns="0" anchor="t" anchorCtr="0">
              <a:spAutoFit/>
            </a:bodyPr>
            <a:lstStyle/>
            <a:p>
              <a:pPr algn="ctr"/>
              <a:r>
                <a:rPr lang="zh-CN" sz="820" dirty="0">
                  <a:solidFill>
                    <a:srgbClr val="520E00"/>
                  </a:solidFill>
                  <a:latin typeface="+mn-lt"/>
                  <a:ea typeface="+mn-ea"/>
                  <a:cs typeface="+mn-cs"/>
                </a:rPr>
                <a:t>首刷</a:t>
              </a:r>
            </a:p>
          </p:txBody>
        </p:sp>
        <p:grpSp>
          <p:nvGrpSpPr>
            <p:cNvPr id="76" name="Group 76"/>
            <p:cNvGrpSpPr/>
            <p:nvPr/>
          </p:nvGrpSpPr>
          <p:grpSpPr>
            <a:xfrm>
              <a:off x="538162" y="2805112"/>
              <a:ext cx="200026" cy="257175"/>
              <a:chOff x="538162" y="2805112"/>
              <a:chExt cx="200026" cy="257175"/>
            </a:xfrm>
          </p:grpSpPr>
          <p:sp>
            <p:nvSpPr>
              <p:cNvPr id="71" name="Freeform 71"/>
              <p:cNvSpPr/>
              <p:nvPr/>
            </p:nvSpPr>
            <p:spPr>
              <a:xfrm>
                <a:off x="666750" y="2805112"/>
                <a:ext cx="71438" cy="71438"/>
              </a:xfrm>
              <a:custGeom>
                <a:avLst/>
                <a:gdLst/>
                <a:ahLst/>
                <a:cxnLst/>
                <a:rect l="l" t="t" r="r" b="b"/>
                <a:pathLst>
                  <a:path w="71438" h="71438">
                    <a:moveTo>
                      <a:pt x="0" y="0"/>
                    </a:moveTo>
                    <a:lnTo>
                      <a:pt x="0" y="57150"/>
                    </a:lnTo>
                    <a:cubicBezTo>
                      <a:pt x="0" y="65041"/>
                      <a:pt x="6397" y="71438"/>
                      <a:pt x="14288" y="71438"/>
                    </a:cubicBezTo>
                    <a:lnTo>
                      <a:pt x="71438" y="71438"/>
                    </a:lnTo>
                  </a:path>
                </a:pathLst>
              </a:custGeom>
              <a:noFill/>
              <a:ln w="21431">
                <a:solidFill>
                  <a:srgbClr val="8A1700"/>
                </a:solidFill>
              </a:ln>
            </p:spPr>
          </p:sp>
          <p:sp>
            <p:nvSpPr>
              <p:cNvPr id="72" name="Freeform 72"/>
              <p:cNvSpPr/>
              <p:nvPr/>
            </p:nvSpPr>
            <p:spPr>
              <a:xfrm>
                <a:off x="538162" y="2805112"/>
                <a:ext cx="200025" cy="257175"/>
              </a:xfrm>
              <a:custGeom>
                <a:avLst/>
                <a:gdLst/>
                <a:ahLst/>
                <a:cxnLst/>
                <a:rect l="l" t="t" r="r" b="b"/>
                <a:pathLst>
                  <a:path w="200025" h="257175">
                    <a:moveTo>
                      <a:pt x="171450" y="257175"/>
                    </a:moveTo>
                    <a:lnTo>
                      <a:pt x="28575" y="257175"/>
                    </a:lnTo>
                    <a:cubicBezTo>
                      <a:pt x="12793" y="257175"/>
                      <a:pt x="0" y="244382"/>
                      <a:pt x="0" y="228600"/>
                    </a:cubicBezTo>
                    <a:lnTo>
                      <a:pt x="0" y="28575"/>
                    </a:lnTo>
                    <a:cubicBezTo>
                      <a:pt x="0" y="12793"/>
                      <a:pt x="12793" y="0"/>
                      <a:pt x="28575" y="0"/>
                    </a:cubicBezTo>
                    <a:lnTo>
                      <a:pt x="128588" y="0"/>
                    </a:lnTo>
                    <a:lnTo>
                      <a:pt x="200025" y="71438"/>
                    </a:lnTo>
                    <a:lnTo>
                      <a:pt x="200025" y="228600"/>
                    </a:lnTo>
                    <a:cubicBezTo>
                      <a:pt x="200025" y="244382"/>
                      <a:pt x="187232" y="257175"/>
                      <a:pt x="171450" y="257175"/>
                    </a:cubicBezTo>
                  </a:path>
                </a:pathLst>
              </a:custGeom>
              <a:noFill/>
              <a:ln w="21431">
                <a:solidFill>
                  <a:srgbClr val="8A1700"/>
                </a:solidFill>
              </a:ln>
            </p:spPr>
          </p:sp>
          <p:sp>
            <p:nvSpPr>
              <p:cNvPr id="73" name="Freeform 73"/>
              <p:cNvSpPr/>
              <p:nvPr/>
            </p:nvSpPr>
            <p:spPr>
              <a:xfrm>
                <a:off x="595312" y="2890838"/>
                <a:ext cx="14288" cy="9525"/>
              </a:xfrm>
              <a:custGeom>
                <a:avLst/>
                <a:gdLst/>
                <a:ahLst/>
                <a:cxnLst/>
                <a:rect l="l" t="t" r="r" b="b"/>
                <a:pathLst>
                  <a:path w="14288" h="9525">
                    <a:moveTo>
                      <a:pt x="0" y="0"/>
                    </a:moveTo>
                    <a:lnTo>
                      <a:pt x="14288" y="0"/>
                    </a:lnTo>
                  </a:path>
                </a:pathLst>
              </a:custGeom>
              <a:noFill/>
              <a:ln w="21431">
                <a:solidFill>
                  <a:srgbClr val="8A1700"/>
                </a:solidFill>
              </a:ln>
            </p:spPr>
          </p:sp>
          <p:sp>
            <p:nvSpPr>
              <p:cNvPr id="74" name="Freeform 74"/>
              <p:cNvSpPr/>
              <p:nvPr/>
            </p:nvSpPr>
            <p:spPr>
              <a:xfrm>
                <a:off x="595312" y="2947988"/>
                <a:ext cx="85725" cy="9525"/>
              </a:xfrm>
              <a:custGeom>
                <a:avLst/>
                <a:gdLst/>
                <a:ahLst/>
                <a:cxnLst/>
                <a:rect l="l" t="t" r="r" b="b"/>
                <a:pathLst>
                  <a:path w="85725" h="9525">
                    <a:moveTo>
                      <a:pt x="0" y="0"/>
                    </a:moveTo>
                    <a:lnTo>
                      <a:pt x="85725" y="0"/>
                    </a:lnTo>
                  </a:path>
                </a:pathLst>
              </a:custGeom>
              <a:noFill/>
              <a:ln w="21431">
                <a:solidFill>
                  <a:srgbClr val="8A1700"/>
                </a:solidFill>
              </a:ln>
            </p:spPr>
          </p:sp>
          <p:sp>
            <p:nvSpPr>
              <p:cNvPr id="75" name="Freeform 75"/>
              <p:cNvSpPr/>
              <p:nvPr/>
            </p:nvSpPr>
            <p:spPr>
              <a:xfrm>
                <a:off x="595312" y="3005138"/>
                <a:ext cx="85725" cy="9525"/>
              </a:xfrm>
              <a:custGeom>
                <a:avLst/>
                <a:gdLst/>
                <a:ahLst/>
                <a:cxnLst/>
                <a:rect l="l" t="t" r="r" b="b"/>
                <a:pathLst>
                  <a:path w="85725" h="9525">
                    <a:moveTo>
                      <a:pt x="0" y="0"/>
                    </a:moveTo>
                    <a:lnTo>
                      <a:pt x="85725" y="0"/>
                    </a:lnTo>
                  </a:path>
                </a:pathLst>
              </a:custGeom>
              <a:noFill/>
              <a:ln w="21431">
                <a:solidFill>
                  <a:srgbClr val="8A1700"/>
                </a:solidFill>
              </a:ln>
            </p:spPr>
          </p:sp>
        </p:grpSp>
        <p:sp>
          <p:nvSpPr>
            <p:cNvPr id="77" name="TextBox 77"/>
            <p:cNvSpPr txBox="1"/>
            <p:nvPr/>
          </p:nvSpPr>
          <p:spPr>
            <a:xfrm>
              <a:off x="523024" y="3263741"/>
              <a:ext cx="230302" cy="161925"/>
            </a:xfrm>
            <a:prstGeom prst="rect">
              <a:avLst/>
            </a:prstGeom>
            <a:noFill/>
            <a:ln>
              <a:noFill/>
            </a:ln>
          </p:spPr>
          <p:txBody>
            <a:bodyPr wrap="none" lIns="0" tIns="0" rIns="0" bIns="0" anchor="t" anchorCtr="0">
              <a:spAutoFit/>
            </a:bodyPr>
            <a:lstStyle/>
            <a:p>
              <a:pPr algn="ctr"/>
              <a:r>
                <a:rPr lang="zh-CN" sz="820" dirty="0">
                  <a:solidFill>
                    <a:srgbClr val="520E00"/>
                  </a:solidFill>
                  <a:latin typeface="+mn-lt"/>
                  <a:ea typeface="+mn-ea"/>
                  <a:cs typeface="+mn-cs"/>
                </a:rPr>
                <a:t>账单</a:t>
              </a:r>
            </a:p>
          </p:txBody>
        </p:sp>
        <p:grpSp>
          <p:nvGrpSpPr>
            <p:cNvPr id="81" name="Group 81"/>
            <p:cNvGrpSpPr/>
            <p:nvPr/>
          </p:nvGrpSpPr>
          <p:grpSpPr>
            <a:xfrm>
              <a:off x="1319212" y="2833688"/>
              <a:ext cx="257175" cy="200025"/>
              <a:chOff x="1319212" y="2833688"/>
              <a:chExt cx="257175" cy="200025"/>
            </a:xfrm>
          </p:grpSpPr>
          <p:sp>
            <p:nvSpPr>
              <p:cNvPr id="78" name="Freeform 78"/>
              <p:cNvSpPr/>
              <p:nvPr/>
            </p:nvSpPr>
            <p:spPr>
              <a:xfrm>
                <a:off x="1319212" y="2833688"/>
                <a:ext cx="200025" cy="142875"/>
              </a:xfrm>
              <a:custGeom>
                <a:avLst/>
                <a:gdLst/>
                <a:ahLst/>
                <a:cxnLst/>
                <a:rect l="l" t="t" r="r" b="b"/>
                <a:pathLst>
                  <a:path w="200025" h="142875">
                    <a:moveTo>
                      <a:pt x="57150" y="142875"/>
                    </a:moveTo>
                    <a:lnTo>
                      <a:pt x="14288" y="142875"/>
                    </a:lnTo>
                    <a:cubicBezTo>
                      <a:pt x="6397" y="142875"/>
                      <a:pt x="0" y="136478"/>
                      <a:pt x="0" y="128588"/>
                    </a:cubicBezTo>
                    <a:lnTo>
                      <a:pt x="0" y="14288"/>
                    </a:lnTo>
                    <a:cubicBezTo>
                      <a:pt x="0" y="6397"/>
                      <a:pt x="6397" y="0"/>
                      <a:pt x="14288" y="0"/>
                    </a:cubicBezTo>
                    <a:lnTo>
                      <a:pt x="185738" y="0"/>
                    </a:lnTo>
                    <a:cubicBezTo>
                      <a:pt x="193628" y="0"/>
                      <a:pt x="200025" y="6397"/>
                      <a:pt x="200025" y="14288"/>
                    </a:cubicBezTo>
                    <a:lnTo>
                      <a:pt x="200025" y="57150"/>
                    </a:lnTo>
                  </a:path>
                </a:pathLst>
              </a:custGeom>
              <a:noFill/>
              <a:ln w="21431">
                <a:solidFill>
                  <a:srgbClr val="8A1700"/>
                </a:solidFill>
              </a:ln>
            </p:spPr>
          </p:sp>
          <p:sp>
            <p:nvSpPr>
              <p:cNvPr id="79" name="Freeform 79"/>
              <p:cNvSpPr/>
              <p:nvPr/>
            </p:nvSpPr>
            <p:spPr>
              <a:xfrm>
                <a:off x="1376362" y="2890838"/>
                <a:ext cx="200025" cy="142875"/>
              </a:xfrm>
              <a:custGeom>
                <a:avLst/>
                <a:gdLst/>
                <a:ahLst/>
                <a:cxnLst/>
                <a:rect l="l" t="t" r="r" b="b"/>
                <a:pathLst>
                  <a:path w="200025" h="142875">
                    <a:moveTo>
                      <a:pt x="0" y="14288"/>
                    </a:moveTo>
                    <a:cubicBezTo>
                      <a:pt x="0" y="6397"/>
                      <a:pt x="6397" y="0"/>
                      <a:pt x="14288" y="0"/>
                    </a:cubicBezTo>
                    <a:lnTo>
                      <a:pt x="185738" y="0"/>
                    </a:lnTo>
                    <a:cubicBezTo>
                      <a:pt x="193628" y="0"/>
                      <a:pt x="200025" y="6397"/>
                      <a:pt x="200025" y="14288"/>
                    </a:cubicBezTo>
                    <a:lnTo>
                      <a:pt x="200025" y="128588"/>
                    </a:lnTo>
                    <a:cubicBezTo>
                      <a:pt x="200025" y="136478"/>
                      <a:pt x="193628" y="142875"/>
                      <a:pt x="185738" y="142875"/>
                    </a:cubicBezTo>
                    <a:lnTo>
                      <a:pt x="14288" y="142875"/>
                    </a:lnTo>
                    <a:cubicBezTo>
                      <a:pt x="6397" y="142875"/>
                      <a:pt x="0" y="136478"/>
                      <a:pt x="0" y="128588"/>
                    </a:cubicBezTo>
                    <a:lnTo>
                      <a:pt x="0" y="14288"/>
                    </a:lnTo>
                  </a:path>
                </a:pathLst>
              </a:custGeom>
              <a:noFill/>
              <a:ln w="21431">
                <a:solidFill>
                  <a:srgbClr val="8A1700"/>
                </a:solidFill>
              </a:ln>
            </p:spPr>
          </p:sp>
          <p:sp>
            <p:nvSpPr>
              <p:cNvPr id="80" name="Freeform 80"/>
              <p:cNvSpPr/>
              <p:nvPr/>
            </p:nvSpPr>
            <p:spPr>
              <a:xfrm>
                <a:off x="1447800" y="2933700"/>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1431">
                <a:solidFill>
                  <a:srgbClr val="8A1700"/>
                </a:solidFill>
              </a:ln>
            </p:spPr>
          </p:sp>
        </p:grpSp>
        <p:sp>
          <p:nvSpPr>
            <p:cNvPr id="82" name="TextBox 82"/>
            <p:cNvSpPr txBox="1"/>
            <p:nvPr/>
          </p:nvSpPr>
          <p:spPr>
            <a:xfrm>
              <a:off x="1332649" y="3263741"/>
              <a:ext cx="230302" cy="161925"/>
            </a:xfrm>
            <a:prstGeom prst="rect">
              <a:avLst/>
            </a:prstGeom>
            <a:noFill/>
            <a:ln>
              <a:noFill/>
            </a:ln>
          </p:spPr>
          <p:txBody>
            <a:bodyPr wrap="none" lIns="0" tIns="0" rIns="0" bIns="0" anchor="t" anchorCtr="0">
              <a:spAutoFit/>
            </a:bodyPr>
            <a:lstStyle/>
            <a:p>
              <a:pPr algn="ctr"/>
              <a:r>
                <a:rPr lang="zh-CN" sz="820" dirty="0">
                  <a:solidFill>
                    <a:srgbClr val="520E00"/>
                  </a:solidFill>
                  <a:latin typeface="+mn-lt"/>
                  <a:ea typeface="+mn-ea"/>
                  <a:cs typeface="+mn-cs"/>
                </a:rPr>
                <a:t>还款</a:t>
              </a:r>
            </a:p>
          </p:txBody>
        </p:sp>
        <p:grpSp>
          <p:nvGrpSpPr>
            <p:cNvPr id="86" name="Group 86"/>
            <p:cNvGrpSpPr/>
            <p:nvPr/>
          </p:nvGrpSpPr>
          <p:grpSpPr>
            <a:xfrm>
              <a:off x="2134581" y="2805112"/>
              <a:ext cx="245659" cy="255604"/>
              <a:chOff x="2134581" y="2805112"/>
              <a:chExt cx="245659" cy="255604"/>
            </a:xfrm>
          </p:grpSpPr>
          <p:sp>
            <p:nvSpPr>
              <p:cNvPr id="83" name="Freeform 83"/>
              <p:cNvSpPr/>
              <p:nvPr/>
            </p:nvSpPr>
            <p:spPr>
              <a:xfrm>
                <a:off x="2171700" y="2805112"/>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21431">
                <a:solidFill>
                  <a:srgbClr val="8A1700"/>
                </a:solidFill>
              </a:ln>
            </p:spPr>
          </p:sp>
          <p:sp>
            <p:nvSpPr>
              <p:cNvPr id="84" name="Freeform 84"/>
              <p:cNvSpPr/>
              <p:nvPr/>
            </p:nvSpPr>
            <p:spPr>
              <a:xfrm>
                <a:off x="2257425" y="2933700"/>
                <a:ext cx="122815" cy="127016"/>
              </a:xfrm>
              <a:custGeom>
                <a:avLst/>
                <a:gdLst/>
                <a:ahLst/>
                <a:cxnLst/>
                <a:rect l="l" t="t" r="r" b="b"/>
                <a:pathLst>
                  <a:path w="122815" h="127016">
                    <a:moveTo>
                      <a:pt x="0" y="42862"/>
                    </a:moveTo>
                    <a:lnTo>
                      <a:pt x="48577" y="127016"/>
                    </a:lnTo>
                    <a:lnTo>
                      <a:pt x="71409" y="80824"/>
                    </a:lnTo>
                    <a:lnTo>
                      <a:pt x="122815" y="84139"/>
                    </a:lnTo>
                    <a:lnTo>
                      <a:pt x="74238" y="0"/>
                    </a:lnTo>
                  </a:path>
                </a:pathLst>
              </a:custGeom>
              <a:noFill/>
              <a:ln w="21431">
                <a:solidFill>
                  <a:srgbClr val="8A1700"/>
                </a:solidFill>
              </a:ln>
            </p:spPr>
          </p:sp>
          <p:sp>
            <p:nvSpPr>
              <p:cNvPr id="85" name="Freeform 85"/>
              <p:cNvSpPr/>
              <p:nvPr/>
            </p:nvSpPr>
            <p:spPr>
              <a:xfrm>
                <a:off x="2134581" y="2933700"/>
                <a:ext cx="122815" cy="127002"/>
              </a:xfrm>
              <a:custGeom>
                <a:avLst/>
                <a:gdLst/>
                <a:ahLst/>
                <a:cxnLst/>
                <a:rect l="l" t="t" r="r" b="b"/>
                <a:pathLst>
                  <a:path w="122815" h="127002">
                    <a:moveTo>
                      <a:pt x="48577" y="0"/>
                    </a:moveTo>
                    <a:lnTo>
                      <a:pt x="0" y="84153"/>
                    </a:lnTo>
                    <a:lnTo>
                      <a:pt x="51406" y="80824"/>
                    </a:lnTo>
                    <a:lnTo>
                      <a:pt x="74238" y="127002"/>
                    </a:lnTo>
                    <a:lnTo>
                      <a:pt x="122815" y="42862"/>
                    </a:lnTo>
                  </a:path>
                </a:pathLst>
              </a:custGeom>
              <a:noFill/>
              <a:ln w="21431">
                <a:solidFill>
                  <a:srgbClr val="8A1700"/>
                </a:solidFill>
              </a:ln>
            </p:spPr>
          </p:sp>
        </p:grpSp>
        <p:sp>
          <p:nvSpPr>
            <p:cNvPr id="87" name="TextBox 87"/>
            <p:cNvSpPr txBox="1"/>
            <p:nvPr/>
          </p:nvSpPr>
          <p:spPr>
            <a:xfrm>
              <a:off x="2031886" y="3263741"/>
              <a:ext cx="451079" cy="161925"/>
            </a:xfrm>
            <a:prstGeom prst="rect">
              <a:avLst/>
            </a:prstGeom>
            <a:noFill/>
            <a:ln>
              <a:noFill/>
            </a:ln>
          </p:spPr>
          <p:txBody>
            <a:bodyPr wrap="none" lIns="0" tIns="0" rIns="0" bIns="0" anchor="t" anchorCtr="0">
              <a:spAutoFit/>
            </a:bodyPr>
            <a:lstStyle/>
            <a:p>
              <a:pPr algn="ctr"/>
              <a:r>
                <a:rPr lang="zh-CN" sz="820" dirty="0">
                  <a:solidFill>
                    <a:srgbClr val="520E00"/>
                  </a:solidFill>
                  <a:latin typeface="+mn-lt"/>
                  <a:ea typeface="+mn-ea"/>
                  <a:cs typeface="+mn-cs"/>
                </a:rPr>
                <a:t>权益到期</a:t>
              </a:r>
            </a:p>
          </p:txBody>
        </p:sp>
        <p:grpSp>
          <p:nvGrpSpPr>
            <p:cNvPr id="92" name="Group 92"/>
            <p:cNvGrpSpPr/>
            <p:nvPr/>
          </p:nvGrpSpPr>
          <p:grpSpPr>
            <a:xfrm>
              <a:off x="509588" y="3829050"/>
              <a:ext cx="257175" cy="238125"/>
              <a:chOff x="509588" y="3829050"/>
              <a:chExt cx="257175" cy="238125"/>
            </a:xfrm>
          </p:grpSpPr>
          <p:sp>
            <p:nvSpPr>
              <p:cNvPr id="88" name="Freeform 88"/>
              <p:cNvSpPr/>
              <p:nvPr/>
            </p:nvSpPr>
            <p:spPr>
              <a:xfrm>
                <a:off x="509588" y="3943350"/>
                <a:ext cx="85725" cy="114300"/>
              </a:xfrm>
              <a:custGeom>
                <a:avLst/>
                <a:gdLst/>
                <a:ahLst/>
                <a:cxnLst/>
                <a:rect l="l" t="t" r="r" b="b"/>
                <a:pathLst>
                  <a:path w="85725" h="114300">
                    <a:moveTo>
                      <a:pt x="0" y="14288"/>
                    </a:moveTo>
                    <a:cubicBezTo>
                      <a:pt x="0" y="6397"/>
                      <a:pt x="6397" y="0"/>
                      <a:pt x="14288" y="0"/>
                    </a:cubicBezTo>
                    <a:lnTo>
                      <a:pt x="71438" y="0"/>
                    </a:lnTo>
                    <a:cubicBezTo>
                      <a:pt x="79328" y="0"/>
                      <a:pt x="85725" y="6397"/>
                      <a:pt x="85725" y="14288"/>
                    </a:cubicBezTo>
                    <a:lnTo>
                      <a:pt x="85725" y="100012"/>
                    </a:lnTo>
                    <a:cubicBezTo>
                      <a:pt x="85725" y="107903"/>
                      <a:pt x="79328" y="114300"/>
                      <a:pt x="71438" y="114300"/>
                    </a:cubicBezTo>
                    <a:lnTo>
                      <a:pt x="14288" y="114300"/>
                    </a:lnTo>
                    <a:cubicBezTo>
                      <a:pt x="6397" y="114300"/>
                      <a:pt x="0" y="107903"/>
                      <a:pt x="0" y="100012"/>
                    </a:cubicBezTo>
                    <a:lnTo>
                      <a:pt x="0" y="14288"/>
                    </a:lnTo>
                  </a:path>
                </a:pathLst>
              </a:custGeom>
              <a:noFill/>
              <a:ln w="21431">
                <a:solidFill>
                  <a:srgbClr val="8A1700"/>
                </a:solidFill>
              </a:ln>
            </p:spPr>
          </p:sp>
          <p:sp>
            <p:nvSpPr>
              <p:cNvPr id="89" name="Freeform 89"/>
              <p:cNvSpPr/>
              <p:nvPr/>
            </p:nvSpPr>
            <p:spPr>
              <a:xfrm>
                <a:off x="681038" y="3886200"/>
                <a:ext cx="85725" cy="171450"/>
              </a:xfrm>
              <a:custGeom>
                <a:avLst/>
                <a:gdLst/>
                <a:ahLst/>
                <a:cxnLst/>
                <a:rect l="l" t="t" r="r" b="b"/>
                <a:pathLst>
                  <a:path w="85725" h="171450">
                    <a:moveTo>
                      <a:pt x="0" y="14288"/>
                    </a:moveTo>
                    <a:cubicBezTo>
                      <a:pt x="0" y="6397"/>
                      <a:pt x="6397" y="0"/>
                      <a:pt x="14288" y="0"/>
                    </a:cubicBezTo>
                    <a:lnTo>
                      <a:pt x="71438" y="0"/>
                    </a:lnTo>
                    <a:cubicBezTo>
                      <a:pt x="79328" y="0"/>
                      <a:pt x="85725" y="6397"/>
                      <a:pt x="85725" y="14288"/>
                    </a:cubicBezTo>
                    <a:lnTo>
                      <a:pt x="85725" y="157162"/>
                    </a:lnTo>
                    <a:cubicBezTo>
                      <a:pt x="85725" y="165053"/>
                      <a:pt x="79328" y="171450"/>
                      <a:pt x="71438" y="171450"/>
                    </a:cubicBezTo>
                    <a:lnTo>
                      <a:pt x="14288" y="171450"/>
                    </a:lnTo>
                    <a:cubicBezTo>
                      <a:pt x="6397" y="171450"/>
                      <a:pt x="0" y="165053"/>
                      <a:pt x="0" y="157162"/>
                    </a:cubicBezTo>
                    <a:lnTo>
                      <a:pt x="0" y="14288"/>
                    </a:lnTo>
                  </a:path>
                </a:pathLst>
              </a:custGeom>
              <a:noFill/>
              <a:ln w="21431">
                <a:solidFill>
                  <a:srgbClr val="8A1700"/>
                </a:solidFill>
              </a:ln>
            </p:spPr>
          </p:sp>
          <p:sp>
            <p:nvSpPr>
              <p:cNvPr id="90" name="Freeform 90"/>
              <p:cNvSpPr/>
              <p:nvPr/>
            </p:nvSpPr>
            <p:spPr>
              <a:xfrm>
                <a:off x="595312" y="3829050"/>
                <a:ext cx="85725" cy="228600"/>
              </a:xfrm>
              <a:custGeom>
                <a:avLst/>
                <a:gdLst/>
                <a:ahLst/>
                <a:cxnLst/>
                <a:rect l="l" t="t" r="r" b="b"/>
                <a:pathLst>
                  <a:path w="85725" h="228600">
                    <a:moveTo>
                      <a:pt x="0" y="14288"/>
                    </a:moveTo>
                    <a:cubicBezTo>
                      <a:pt x="0" y="6397"/>
                      <a:pt x="6397" y="0"/>
                      <a:pt x="14288" y="0"/>
                    </a:cubicBezTo>
                    <a:lnTo>
                      <a:pt x="71438" y="0"/>
                    </a:lnTo>
                    <a:cubicBezTo>
                      <a:pt x="79328" y="0"/>
                      <a:pt x="85725" y="6397"/>
                      <a:pt x="85725" y="14288"/>
                    </a:cubicBezTo>
                    <a:lnTo>
                      <a:pt x="85725" y="214312"/>
                    </a:lnTo>
                    <a:cubicBezTo>
                      <a:pt x="85725" y="222203"/>
                      <a:pt x="79328" y="228600"/>
                      <a:pt x="71438" y="228600"/>
                    </a:cubicBezTo>
                    <a:lnTo>
                      <a:pt x="14288" y="228600"/>
                    </a:lnTo>
                    <a:cubicBezTo>
                      <a:pt x="6397" y="228600"/>
                      <a:pt x="0" y="222203"/>
                      <a:pt x="0" y="214312"/>
                    </a:cubicBezTo>
                    <a:lnTo>
                      <a:pt x="0" y="14288"/>
                    </a:lnTo>
                  </a:path>
                </a:pathLst>
              </a:custGeom>
              <a:noFill/>
              <a:ln w="21431">
                <a:solidFill>
                  <a:srgbClr val="8A1700"/>
                </a:solidFill>
              </a:ln>
            </p:spPr>
          </p:sp>
          <p:sp>
            <p:nvSpPr>
              <p:cNvPr id="91" name="Freeform 91"/>
              <p:cNvSpPr/>
              <p:nvPr/>
            </p:nvSpPr>
            <p:spPr>
              <a:xfrm>
                <a:off x="523875" y="4057650"/>
                <a:ext cx="200025" cy="9525"/>
              </a:xfrm>
              <a:custGeom>
                <a:avLst/>
                <a:gdLst/>
                <a:ahLst/>
                <a:cxnLst/>
                <a:rect l="l" t="t" r="r" b="b"/>
                <a:pathLst>
                  <a:path w="200025" h="9525">
                    <a:moveTo>
                      <a:pt x="0" y="0"/>
                    </a:moveTo>
                    <a:lnTo>
                      <a:pt x="200025" y="0"/>
                    </a:lnTo>
                  </a:path>
                </a:pathLst>
              </a:custGeom>
              <a:noFill/>
              <a:ln w="21431">
                <a:solidFill>
                  <a:srgbClr val="8A1700"/>
                </a:solidFill>
              </a:ln>
            </p:spPr>
          </p:sp>
        </p:grpSp>
        <p:sp>
          <p:nvSpPr>
            <p:cNvPr id="93" name="TextBox 93"/>
            <p:cNvSpPr txBox="1"/>
            <p:nvPr/>
          </p:nvSpPr>
          <p:spPr>
            <a:xfrm>
              <a:off x="412636" y="4273391"/>
              <a:ext cx="451079" cy="161925"/>
            </a:xfrm>
            <a:prstGeom prst="rect">
              <a:avLst/>
            </a:prstGeom>
            <a:noFill/>
            <a:ln>
              <a:noFill/>
            </a:ln>
          </p:spPr>
          <p:txBody>
            <a:bodyPr wrap="none" lIns="0" tIns="0" rIns="0" bIns="0" anchor="t" anchorCtr="0">
              <a:spAutoFit/>
            </a:bodyPr>
            <a:lstStyle/>
            <a:p>
              <a:pPr algn="ctr"/>
              <a:r>
                <a:rPr lang="zh-CN" sz="820" dirty="0">
                  <a:solidFill>
                    <a:srgbClr val="520E00"/>
                  </a:solidFill>
                  <a:latin typeface="+mn-lt"/>
                  <a:ea typeface="+mn-ea"/>
                  <a:cs typeface="+mn-cs"/>
                </a:rPr>
                <a:t>消费下降</a:t>
              </a:r>
            </a:p>
          </p:txBody>
        </p:sp>
        <p:grpSp>
          <p:nvGrpSpPr>
            <p:cNvPr id="98" name="Group 98"/>
            <p:cNvGrpSpPr/>
            <p:nvPr/>
          </p:nvGrpSpPr>
          <p:grpSpPr>
            <a:xfrm>
              <a:off x="1333500" y="3814762"/>
              <a:ext cx="228600" cy="271462"/>
              <a:chOff x="1333500" y="3814762"/>
              <a:chExt cx="228600" cy="271462"/>
            </a:xfrm>
          </p:grpSpPr>
          <p:sp>
            <p:nvSpPr>
              <p:cNvPr id="94" name="Freeform 94"/>
              <p:cNvSpPr/>
              <p:nvPr/>
            </p:nvSpPr>
            <p:spPr>
              <a:xfrm>
                <a:off x="1333500" y="3814762"/>
                <a:ext cx="228600" cy="157162"/>
              </a:xfrm>
              <a:custGeom>
                <a:avLst/>
                <a:gdLst/>
                <a:ahLst/>
                <a:cxnLst/>
                <a:rect l="l" t="t" r="r" b="b"/>
                <a:pathLst>
                  <a:path w="228600" h="157162">
                    <a:moveTo>
                      <a:pt x="0" y="157162"/>
                    </a:moveTo>
                    <a:lnTo>
                      <a:pt x="0" y="114300"/>
                    </a:lnTo>
                    <a:cubicBezTo>
                      <a:pt x="0" y="51174"/>
                      <a:pt x="51174" y="0"/>
                      <a:pt x="114300" y="0"/>
                    </a:cubicBezTo>
                    <a:cubicBezTo>
                      <a:pt x="177426" y="0"/>
                      <a:pt x="228600" y="51174"/>
                      <a:pt x="228600" y="114300"/>
                    </a:cubicBezTo>
                    <a:lnTo>
                      <a:pt x="228600" y="157162"/>
                    </a:lnTo>
                  </a:path>
                </a:pathLst>
              </a:custGeom>
              <a:noFill/>
              <a:ln w="21431">
                <a:solidFill>
                  <a:srgbClr val="8A1700"/>
                </a:solidFill>
              </a:ln>
            </p:spPr>
          </p:sp>
          <p:sp>
            <p:nvSpPr>
              <p:cNvPr id="95" name="Freeform 95"/>
              <p:cNvSpPr/>
              <p:nvPr/>
            </p:nvSpPr>
            <p:spPr>
              <a:xfrm>
                <a:off x="1447800" y="4043362"/>
                <a:ext cx="85725" cy="42862"/>
              </a:xfrm>
              <a:custGeom>
                <a:avLst/>
                <a:gdLst/>
                <a:ahLst/>
                <a:cxnLst/>
                <a:rect l="l" t="t" r="r" b="b"/>
                <a:pathLst>
                  <a:path w="85725" h="42862">
                    <a:moveTo>
                      <a:pt x="85725" y="0"/>
                    </a:moveTo>
                    <a:cubicBezTo>
                      <a:pt x="85725" y="23674"/>
                      <a:pt x="47349" y="42862"/>
                      <a:pt x="0" y="42862"/>
                    </a:cubicBezTo>
                  </a:path>
                </a:pathLst>
              </a:custGeom>
              <a:noFill/>
              <a:ln w="21431">
                <a:solidFill>
                  <a:srgbClr val="8A1700"/>
                </a:solidFill>
              </a:ln>
            </p:spPr>
          </p:sp>
          <p:sp>
            <p:nvSpPr>
              <p:cNvPr id="96" name="Freeform 96"/>
              <p:cNvSpPr/>
              <p:nvPr/>
            </p:nvSpPr>
            <p:spPr>
              <a:xfrm>
                <a:off x="1333500" y="3943350"/>
                <a:ext cx="71438" cy="100012"/>
              </a:xfrm>
              <a:custGeom>
                <a:avLst/>
                <a:gdLst/>
                <a:ahLst/>
                <a:cxnLst/>
                <a:rect l="l" t="t" r="r" b="b"/>
                <a:pathLst>
                  <a:path w="71438" h="100012">
                    <a:moveTo>
                      <a:pt x="0" y="28575"/>
                    </a:moveTo>
                    <a:cubicBezTo>
                      <a:pt x="0" y="12793"/>
                      <a:pt x="12793" y="0"/>
                      <a:pt x="28575" y="0"/>
                    </a:cubicBezTo>
                    <a:lnTo>
                      <a:pt x="42862" y="0"/>
                    </a:lnTo>
                    <a:cubicBezTo>
                      <a:pt x="58644" y="0"/>
                      <a:pt x="71438" y="12793"/>
                      <a:pt x="71438" y="28575"/>
                    </a:cubicBezTo>
                    <a:lnTo>
                      <a:pt x="71438" y="71438"/>
                    </a:lnTo>
                    <a:cubicBezTo>
                      <a:pt x="71438" y="87219"/>
                      <a:pt x="58644" y="100012"/>
                      <a:pt x="42862" y="100012"/>
                    </a:cubicBezTo>
                    <a:lnTo>
                      <a:pt x="28575" y="100012"/>
                    </a:lnTo>
                    <a:cubicBezTo>
                      <a:pt x="12793" y="100012"/>
                      <a:pt x="0" y="87219"/>
                      <a:pt x="0" y="71438"/>
                    </a:cubicBezTo>
                    <a:lnTo>
                      <a:pt x="0" y="28575"/>
                    </a:lnTo>
                  </a:path>
                </a:pathLst>
              </a:custGeom>
              <a:noFill/>
              <a:ln w="21431">
                <a:solidFill>
                  <a:srgbClr val="8A1700"/>
                </a:solidFill>
              </a:ln>
            </p:spPr>
          </p:sp>
          <p:sp>
            <p:nvSpPr>
              <p:cNvPr id="97" name="Freeform 97"/>
              <p:cNvSpPr/>
              <p:nvPr/>
            </p:nvSpPr>
            <p:spPr>
              <a:xfrm>
                <a:off x="1490662" y="3943350"/>
                <a:ext cx="71438" cy="100012"/>
              </a:xfrm>
              <a:custGeom>
                <a:avLst/>
                <a:gdLst/>
                <a:ahLst/>
                <a:cxnLst/>
                <a:rect l="l" t="t" r="r" b="b"/>
                <a:pathLst>
                  <a:path w="71438" h="100012">
                    <a:moveTo>
                      <a:pt x="0" y="28575"/>
                    </a:moveTo>
                    <a:cubicBezTo>
                      <a:pt x="0" y="12793"/>
                      <a:pt x="12793" y="0"/>
                      <a:pt x="28575" y="0"/>
                    </a:cubicBezTo>
                    <a:lnTo>
                      <a:pt x="42862" y="0"/>
                    </a:lnTo>
                    <a:cubicBezTo>
                      <a:pt x="58644" y="0"/>
                      <a:pt x="71438" y="12793"/>
                      <a:pt x="71438" y="28575"/>
                    </a:cubicBezTo>
                    <a:lnTo>
                      <a:pt x="71438" y="71438"/>
                    </a:lnTo>
                    <a:cubicBezTo>
                      <a:pt x="71438" y="87219"/>
                      <a:pt x="58644" y="100012"/>
                      <a:pt x="42862" y="100012"/>
                    </a:cubicBezTo>
                    <a:lnTo>
                      <a:pt x="28575" y="100012"/>
                    </a:lnTo>
                    <a:cubicBezTo>
                      <a:pt x="12793" y="100012"/>
                      <a:pt x="0" y="87219"/>
                      <a:pt x="0" y="71438"/>
                    </a:cubicBezTo>
                    <a:lnTo>
                      <a:pt x="0" y="28575"/>
                    </a:lnTo>
                  </a:path>
                </a:pathLst>
              </a:custGeom>
              <a:noFill/>
              <a:ln w="21431">
                <a:solidFill>
                  <a:srgbClr val="8A1700"/>
                </a:solidFill>
              </a:ln>
            </p:spPr>
          </p:sp>
        </p:grpSp>
        <p:sp>
          <p:nvSpPr>
            <p:cNvPr id="99" name="TextBox 99"/>
            <p:cNvSpPr txBox="1"/>
            <p:nvPr/>
          </p:nvSpPr>
          <p:spPr>
            <a:xfrm>
              <a:off x="1332649" y="4273391"/>
              <a:ext cx="230302" cy="161925"/>
            </a:xfrm>
            <a:prstGeom prst="rect">
              <a:avLst/>
            </a:prstGeom>
            <a:noFill/>
            <a:ln>
              <a:noFill/>
            </a:ln>
          </p:spPr>
          <p:txBody>
            <a:bodyPr wrap="none" lIns="0" tIns="0" rIns="0" bIns="0" anchor="t" anchorCtr="0">
              <a:spAutoFit/>
            </a:bodyPr>
            <a:lstStyle/>
            <a:p>
              <a:pPr algn="ctr"/>
              <a:r>
                <a:rPr lang="zh-CN" sz="820" dirty="0">
                  <a:solidFill>
                    <a:srgbClr val="520E00"/>
                  </a:solidFill>
                  <a:latin typeface="+mn-lt"/>
                  <a:ea typeface="+mn-ea"/>
                  <a:cs typeface="+mn-cs"/>
                </a:rPr>
                <a:t>投诉</a:t>
              </a:r>
            </a:p>
          </p:txBody>
        </p:sp>
        <p:grpSp>
          <p:nvGrpSpPr>
            <p:cNvPr id="103" name="Group 103"/>
            <p:cNvGrpSpPr/>
            <p:nvPr/>
          </p:nvGrpSpPr>
          <p:grpSpPr>
            <a:xfrm>
              <a:off x="2113334" y="3810016"/>
              <a:ext cx="288171" cy="247577"/>
              <a:chOff x="2113334" y="3810016"/>
              <a:chExt cx="288171" cy="247577"/>
            </a:xfrm>
          </p:grpSpPr>
          <p:sp>
            <p:nvSpPr>
              <p:cNvPr id="100" name="Freeform 100"/>
              <p:cNvSpPr/>
              <p:nvPr/>
            </p:nvSpPr>
            <p:spPr>
              <a:xfrm>
                <a:off x="2257425" y="3900488"/>
                <a:ext cx="9525" cy="57150"/>
              </a:xfrm>
              <a:custGeom>
                <a:avLst/>
                <a:gdLst/>
                <a:ahLst/>
                <a:cxnLst/>
                <a:rect l="l" t="t" r="r" b="b"/>
                <a:pathLst>
                  <a:path w="9525" h="57150">
                    <a:moveTo>
                      <a:pt x="0" y="0"/>
                    </a:moveTo>
                    <a:lnTo>
                      <a:pt x="0" y="57150"/>
                    </a:lnTo>
                  </a:path>
                </a:pathLst>
              </a:custGeom>
              <a:noFill/>
              <a:ln w="21431">
                <a:solidFill>
                  <a:srgbClr val="8A1700"/>
                </a:solidFill>
              </a:ln>
            </p:spPr>
          </p:sp>
          <p:sp>
            <p:nvSpPr>
              <p:cNvPr id="101" name="Freeform 101"/>
              <p:cNvSpPr/>
              <p:nvPr/>
            </p:nvSpPr>
            <p:spPr>
              <a:xfrm>
                <a:off x="2113334" y="3810016"/>
                <a:ext cx="288171" cy="247577"/>
              </a:xfrm>
              <a:custGeom>
                <a:avLst/>
                <a:gdLst/>
                <a:ahLst/>
                <a:cxnLst/>
                <a:rect l="l" t="t" r="r" b="b"/>
                <a:pathLst>
                  <a:path w="288171" h="247577">
                    <a:moveTo>
                      <a:pt x="120702" y="13191"/>
                    </a:moveTo>
                    <a:lnTo>
                      <a:pt x="4888" y="206558"/>
                    </a:lnTo>
                    <a:cubicBezTo>
                      <a:pt x="30" y="214971"/>
                      <a:pt x="0" y="225330"/>
                      <a:pt x="4810" y="233771"/>
                    </a:cubicBezTo>
                    <a:cubicBezTo>
                      <a:pt x="9620" y="242213"/>
                      <a:pt x="18548" y="247468"/>
                      <a:pt x="28262" y="247577"/>
                    </a:cubicBezTo>
                    <a:lnTo>
                      <a:pt x="259920" y="247577"/>
                    </a:lnTo>
                    <a:cubicBezTo>
                      <a:pt x="269630" y="247465"/>
                      <a:pt x="278553" y="242212"/>
                      <a:pt x="283362" y="233775"/>
                    </a:cubicBezTo>
                    <a:cubicBezTo>
                      <a:pt x="288171" y="225339"/>
                      <a:pt x="288145" y="214984"/>
                      <a:pt x="283294" y="206572"/>
                    </a:cubicBezTo>
                    <a:lnTo>
                      <a:pt x="167480" y="13176"/>
                    </a:lnTo>
                    <a:cubicBezTo>
                      <a:pt x="162524" y="4996"/>
                      <a:pt x="153655" y="0"/>
                      <a:pt x="144091" y="0"/>
                    </a:cubicBezTo>
                    <a:cubicBezTo>
                      <a:pt x="134527" y="0"/>
                      <a:pt x="125658" y="4996"/>
                      <a:pt x="120702" y="13176"/>
                    </a:cubicBezTo>
                  </a:path>
                </a:pathLst>
              </a:custGeom>
              <a:noFill/>
              <a:ln w="21431">
                <a:solidFill>
                  <a:srgbClr val="8A1700"/>
                </a:solidFill>
              </a:ln>
            </p:spPr>
          </p:sp>
          <p:sp>
            <p:nvSpPr>
              <p:cNvPr id="102" name="Freeform 102"/>
              <p:cNvSpPr/>
              <p:nvPr/>
            </p:nvSpPr>
            <p:spPr>
              <a:xfrm>
                <a:off x="2257425" y="4000500"/>
                <a:ext cx="9525" cy="9525"/>
              </a:xfrm>
              <a:custGeom>
                <a:avLst/>
                <a:gdLst/>
                <a:ahLst/>
                <a:cxnLst/>
                <a:rect l="l" t="t" r="r" b="b"/>
                <a:pathLst>
                  <a:path w="9525" h="9525">
                    <a:moveTo>
                      <a:pt x="0" y="0"/>
                    </a:moveTo>
                    <a:lnTo>
                      <a:pt x="143" y="0"/>
                    </a:lnTo>
                  </a:path>
                </a:pathLst>
              </a:custGeom>
              <a:noFill/>
              <a:ln w="21431">
                <a:solidFill>
                  <a:srgbClr val="8A1700"/>
                </a:solidFill>
              </a:ln>
            </p:spPr>
          </p:sp>
        </p:grpSp>
        <p:sp>
          <p:nvSpPr>
            <p:cNvPr id="104" name="TextBox 104"/>
            <p:cNvSpPr txBox="1"/>
            <p:nvPr/>
          </p:nvSpPr>
          <p:spPr>
            <a:xfrm>
              <a:off x="2031886" y="4273391"/>
              <a:ext cx="451079" cy="161925"/>
            </a:xfrm>
            <a:prstGeom prst="rect">
              <a:avLst/>
            </a:prstGeom>
            <a:noFill/>
            <a:ln>
              <a:noFill/>
            </a:ln>
          </p:spPr>
          <p:txBody>
            <a:bodyPr wrap="none" lIns="0" tIns="0" rIns="0" bIns="0" anchor="t" anchorCtr="0">
              <a:spAutoFit/>
            </a:bodyPr>
            <a:lstStyle/>
            <a:p>
              <a:pPr algn="ctr"/>
              <a:r>
                <a:rPr lang="zh-CN" sz="820" dirty="0">
                  <a:solidFill>
                    <a:srgbClr val="520E00"/>
                  </a:solidFill>
                  <a:latin typeface="+mn-lt"/>
                  <a:ea typeface="+mn-ea"/>
                  <a:cs typeface="+mn-cs"/>
                </a:rPr>
                <a:t>风险预警</a:t>
              </a:r>
            </a:p>
          </p:txBody>
        </p:sp>
      </p:grpSp>
      <p:grpSp>
        <p:nvGrpSpPr>
          <p:cNvPr id="195" name="engine-diagram"/>
          <p:cNvGrpSpPr/>
          <p:nvPr/>
        </p:nvGrpSpPr>
        <p:grpSpPr>
          <a:xfrm>
            <a:off x="2952750" y="1562100"/>
            <a:ext cx="2381250" cy="3028950"/>
            <a:chOff x="2952750" y="1562100"/>
            <a:chExt cx="2381250" cy="3028950"/>
          </a:xfrm>
        </p:grpSpPr>
        <p:sp>
          <p:nvSpPr>
            <p:cNvPr id="106" name="Rectangle 106"/>
            <p:cNvSpPr/>
            <p:nvPr/>
          </p:nvSpPr>
          <p:spPr>
            <a:xfrm>
              <a:off x="2952750" y="1562100"/>
              <a:ext cx="2381250" cy="3028950"/>
            </a:xfrm>
            <a:prstGeom prst="roundRect">
              <a:avLst>
                <a:gd name="adj" fmla="val 2400"/>
              </a:avLst>
            </a:prstGeom>
            <a:solidFill>
              <a:srgbClr val="F5F8FE"/>
            </a:solidFill>
            <a:ln w="9525">
              <a:solidFill>
                <a:srgbClr val="C9D5EA"/>
              </a:solidFill>
            </a:ln>
          </p:spPr>
        </p:sp>
        <p:grpSp>
          <p:nvGrpSpPr>
            <p:cNvPr id="136" name="engine-inputs"/>
            <p:cNvGrpSpPr/>
            <p:nvPr/>
          </p:nvGrpSpPr>
          <p:grpSpPr>
            <a:xfrm>
              <a:off x="3028950" y="1676400"/>
              <a:ext cx="914400" cy="2190750"/>
              <a:chOff x="3028950" y="1676400"/>
              <a:chExt cx="914400" cy="2190750"/>
            </a:xfrm>
          </p:grpSpPr>
          <p:sp>
            <p:nvSpPr>
              <p:cNvPr id="107" name="Rectangle 107"/>
              <p:cNvSpPr/>
              <p:nvPr/>
            </p:nvSpPr>
            <p:spPr>
              <a:xfrm>
                <a:off x="3028950" y="1676400"/>
                <a:ext cx="914400" cy="285750"/>
              </a:xfrm>
              <a:prstGeom prst="roundRect">
                <a:avLst>
                  <a:gd name="adj" fmla="val 13333"/>
                </a:avLst>
              </a:prstGeom>
              <a:solidFill>
                <a:srgbClr val="FFFFFF"/>
              </a:solidFill>
              <a:ln w="9525">
                <a:solidFill>
                  <a:srgbClr val="C9D5EA"/>
                </a:solidFill>
              </a:ln>
            </p:spPr>
          </p:sp>
          <p:grpSp>
            <p:nvGrpSpPr>
              <p:cNvPr id="110" name="Group 110"/>
              <p:cNvGrpSpPr/>
              <p:nvPr/>
            </p:nvGrpSpPr>
            <p:grpSpPr>
              <a:xfrm>
                <a:off x="3124200" y="1762125"/>
                <a:ext cx="76200" cy="114300"/>
                <a:chOff x="3124200" y="1762125"/>
                <a:chExt cx="76200" cy="114300"/>
              </a:xfrm>
            </p:grpSpPr>
            <p:sp>
              <p:nvSpPr>
                <p:cNvPr id="108" name="Freeform 108"/>
                <p:cNvSpPr/>
                <p:nvPr/>
              </p:nvSpPr>
              <p:spPr>
                <a:xfrm>
                  <a:off x="3136900" y="17621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8A1700"/>
                  </a:solidFill>
                </a:ln>
              </p:spPr>
            </p:sp>
            <p:sp>
              <p:nvSpPr>
                <p:cNvPr id="109" name="Freeform 109"/>
                <p:cNvSpPr/>
                <p:nvPr/>
              </p:nvSpPr>
              <p:spPr>
                <a:xfrm>
                  <a:off x="3124200" y="183832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8A1700"/>
                  </a:solidFill>
                </a:ln>
              </p:spPr>
            </p:sp>
          </p:grpSp>
          <p:sp>
            <p:nvSpPr>
              <p:cNvPr id="111" name="TextBox 111"/>
              <p:cNvSpPr txBox="1"/>
              <p:nvPr/>
            </p:nvSpPr>
            <p:spPr>
              <a:xfrm>
                <a:off x="3290888" y="1789986"/>
                <a:ext cx="391846" cy="140494"/>
              </a:xfrm>
              <a:prstGeom prst="rect">
                <a:avLst/>
              </a:prstGeom>
              <a:noFill/>
              <a:ln>
                <a:noFill/>
              </a:ln>
            </p:spPr>
            <p:txBody>
              <a:bodyPr wrap="none" lIns="0" tIns="0" rIns="0" bIns="0" anchor="t" anchorCtr="0">
                <a:spAutoFit/>
              </a:bodyPr>
              <a:lstStyle/>
              <a:p>
                <a:pPr algn="l"/>
                <a:r>
                  <a:rPr lang="zh-CN" sz="710" dirty="0">
                    <a:solidFill>
                      <a:srgbClr val="520E00"/>
                    </a:solidFill>
                    <a:latin typeface="+mn-lt"/>
                    <a:ea typeface="+mn-ea"/>
                    <a:cs typeface="+mn-cs"/>
                  </a:rPr>
                  <a:t>客户画像</a:t>
                </a:r>
              </a:p>
            </p:txBody>
          </p:sp>
          <p:sp>
            <p:nvSpPr>
              <p:cNvPr id="112" name="Rectangle 112"/>
              <p:cNvSpPr/>
              <p:nvPr/>
            </p:nvSpPr>
            <p:spPr>
              <a:xfrm>
                <a:off x="3028950" y="2152650"/>
                <a:ext cx="914400" cy="285750"/>
              </a:xfrm>
              <a:prstGeom prst="roundRect">
                <a:avLst>
                  <a:gd name="adj" fmla="val 13333"/>
                </a:avLst>
              </a:prstGeom>
              <a:solidFill>
                <a:srgbClr val="FFFFFF"/>
              </a:solidFill>
              <a:ln w="9525">
                <a:solidFill>
                  <a:srgbClr val="C9D5EA"/>
                </a:solidFill>
              </a:ln>
            </p:spPr>
          </p:sp>
          <p:grpSp>
            <p:nvGrpSpPr>
              <p:cNvPr id="116" name="Group 116"/>
              <p:cNvGrpSpPr/>
              <p:nvPr/>
            </p:nvGrpSpPr>
            <p:grpSpPr>
              <a:xfrm>
                <a:off x="3111500" y="2238375"/>
                <a:ext cx="101600" cy="114300"/>
                <a:chOff x="3111500" y="2238375"/>
                <a:chExt cx="101600" cy="114300"/>
              </a:xfrm>
            </p:grpSpPr>
            <p:sp>
              <p:nvSpPr>
                <p:cNvPr id="113" name="Freeform 113"/>
                <p:cNvSpPr/>
                <p:nvPr/>
              </p:nvSpPr>
              <p:spPr>
                <a:xfrm>
                  <a:off x="3111500" y="2238375"/>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8A1700"/>
                  </a:solidFill>
                </a:ln>
              </p:spPr>
            </p:sp>
            <p:sp>
              <p:nvSpPr>
                <p:cNvPr id="114" name="Freeform 114"/>
                <p:cNvSpPr/>
                <p:nvPr/>
              </p:nvSpPr>
              <p:spPr>
                <a:xfrm>
                  <a:off x="3111500" y="225742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8A1700"/>
                  </a:solidFill>
                </a:ln>
              </p:spPr>
            </p:sp>
            <p:sp>
              <p:nvSpPr>
                <p:cNvPr id="115" name="Freeform 115"/>
                <p:cNvSpPr/>
                <p:nvPr/>
              </p:nvSpPr>
              <p:spPr>
                <a:xfrm>
                  <a:off x="3111500" y="229552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8A1700"/>
                  </a:solidFill>
                </a:ln>
              </p:spPr>
            </p:sp>
          </p:grpSp>
          <p:sp>
            <p:nvSpPr>
              <p:cNvPr id="117" name="TextBox 117"/>
              <p:cNvSpPr txBox="1"/>
              <p:nvPr/>
            </p:nvSpPr>
            <p:spPr>
              <a:xfrm>
                <a:off x="3290888" y="2266236"/>
                <a:ext cx="391846" cy="140494"/>
              </a:xfrm>
              <a:prstGeom prst="rect">
                <a:avLst/>
              </a:prstGeom>
              <a:noFill/>
              <a:ln>
                <a:noFill/>
              </a:ln>
            </p:spPr>
            <p:txBody>
              <a:bodyPr wrap="none" lIns="0" tIns="0" rIns="0" bIns="0" anchor="t" anchorCtr="0">
                <a:spAutoFit/>
              </a:bodyPr>
              <a:lstStyle/>
              <a:p>
                <a:pPr algn="l"/>
                <a:r>
                  <a:rPr lang="zh-CN" sz="710" dirty="0">
                    <a:solidFill>
                      <a:srgbClr val="520E00"/>
                    </a:solidFill>
                    <a:latin typeface="+mn-lt"/>
                    <a:ea typeface="+mn-ea"/>
                    <a:cs typeface="+mn-cs"/>
                  </a:rPr>
                  <a:t>行为数据</a:t>
                </a:r>
              </a:p>
            </p:txBody>
          </p:sp>
          <p:sp>
            <p:nvSpPr>
              <p:cNvPr id="118" name="Rectangle 118"/>
              <p:cNvSpPr/>
              <p:nvPr/>
            </p:nvSpPr>
            <p:spPr>
              <a:xfrm>
                <a:off x="3028950" y="2628900"/>
                <a:ext cx="914400" cy="285750"/>
              </a:xfrm>
              <a:prstGeom prst="roundRect">
                <a:avLst>
                  <a:gd name="adj" fmla="val 13333"/>
                </a:avLst>
              </a:prstGeom>
              <a:solidFill>
                <a:srgbClr val="FFFFFF"/>
              </a:solidFill>
              <a:ln w="9525">
                <a:solidFill>
                  <a:srgbClr val="C9D5EA"/>
                </a:solidFill>
              </a:ln>
            </p:spPr>
          </p:sp>
          <p:grpSp>
            <p:nvGrpSpPr>
              <p:cNvPr id="123" name="Group 123"/>
              <p:cNvGrpSpPr/>
              <p:nvPr/>
            </p:nvGrpSpPr>
            <p:grpSpPr>
              <a:xfrm>
                <a:off x="3105150" y="2720975"/>
                <a:ext cx="114300" cy="111125"/>
                <a:chOff x="3105150" y="2720975"/>
                <a:chExt cx="114300" cy="111125"/>
              </a:xfrm>
            </p:grpSpPr>
            <p:sp>
              <p:nvSpPr>
                <p:cNvPr id="119" name="Freeform 119"/>
                <p:cNvSpPr/>
                <p:nvPr/>
              </p:nvSpPr>
              <p:spPr>
                <a:xfrm>
                  <a:off x="3105150" y="2771775"/>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8A1700"/>
                  </a:solidFill>
                </a:ln>
              </p:spPr>
            </p:sp>
            <p:sp>
              <p:nvSpPr>
                <p:cNvPr id="120" name="Freeform 120"/>
                <p:cNvSpPr/>
                <p:nvPr/>
              </p:nvSpPr>
              <p:spPr>
                <a:xfrm>
                  <a:off x="3181350" y="2746375"/>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8A1700"/>
                  </a:solidFill>
                </a:ln>
              </p:spPr>
            </p:sp>
            <p:sp>
              <p:nvSpPr>
                <p:cNvPr id="121" name="Freeform 121"/>
                <p:cNvSpPr/>
                <p:nvPr/>
              </p:nvSpPr>
              <p:spPr>
                <a:xfrm>
                  <a:off x="3143250" y="2720975"/>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8A1700"/>
                  </a:solidFill>
                </a:ln>
              </p:spPr>
            </p:sp>
            <p:sp>
              <p:nvSpPr>
                <p:cNvPr id="122" name="Freeform 122"/>
                <p:cNvSpPr/>
                <p:nvPr/>
              </p:nvSpPr>
              <p:spPr>
                <a:xfrm>
                  <a:off x="3111500" y="2822575"/>
                  <a:ext cx="88900" cy="9525"/>
                </a:xfrm>
                <a:custGeom>
                  <a:avLst/>
                  <a:gdLst/>
                  <a:ahLst/>
                  <a:cxnLst/>
                  <a:rect l="l" t="t" r="r" b="b"/>
                  <a:pathLst>
                    <a:path w="88900" h="9525">
                      <a:moveTo>
                        <a:pt x="0" y="0"/>
                      </a:moveTo>
                      <a:lnTo>
                        <a:pt x="88900" y="0"/>
                      </a:lnTo>
                    </a:path>
                  </a:pathLst>
                </a:custGeom>
                <a:noFill/>
                <a:ln w="12700">
                  <a:solidFill>
                    <a:srgbClr val="8A1700"/>
                  </a:solidFill>
                </a:ln>
              </p:spPr>
            </p:sp>
          </p:grpSp>
          <p:sp>
            <p:nvSpPr>
              <p:cNvPr id="124" name="TextBox 124"/>
              <p:cNvSpPr txBox="1"/>
              <p:nvPr/>
            </p:nvSpPr>
            <p:spPr>
              <a:xfrm>
                <a:off x="3290888" y="2742486"/>
                <a:ext cx="391846" cy="140494"/>
              </a:xfrm>
              <a:prstGeom prst="rect">
                <a:avLst/>
              </a:prstGeom>
              <a:noFill/>
              <a:ln>
                <a:noFill/>
              </a:ln>
            </p:spPr>
            <p:txBody>
              <a:bodyPr wrap="none" lIns="0" tIns="0" rIns="0" bIns="0" anchor="t" anchorCtr="0">
                <a:spAutoFit/>
              </a:bodyPr>
              <a:lstStyle/>
              <a:p>
                <a:pPr algn="l"/>
                <a:r>
                  <a:rPr lang="zh-CN" sz="710" dirty="0">
                    <a:solidFill>
                      <a:srgbClr val="520E00"/>
                    </a:solidFill>
                    <a:latin typeface="+mn-lt"/>
                    <a:ea typeface="+mn-ea"/>
                    <a:cs typeface="+mn-cs"/>
                  </a:rPr>
                  <a:t>业务数据</a:t>
                </a:r>
              </a:p>
            </p:txBody>
          </p:sp>
          <p:sp>
            <p:nvSpPr>
              <p:cNvPr id="125" name="Rectangle 125"/>
              <p:cNvSpPr/>
              <p:nvPr/>
            </p:nvSpPr>
            <p:spPr>
              <a:xfrm>
                <a:off x="3028950" y="3105150"/>
                <a:ext cx="914400" cy="285750"/>
              </a:xfrm>
              <a:prstGeom prst="roundRect">
                <a:avLst>
                  <a:gd name="adj" fmla="val 13333"/>
                </a:avLst>
              </a:prstGeom>
              <a:solidFill>
                <a:srgbClr val="FFFFFF"/>
              </a:solidFill>
              <a:ln w="9525">
                <a:solidFill>
                  <a:srgbClr val="C9D5EA"/>
                </a:solidFill>
              </a:ln>
            </p:spPr>
          </p:sp>
          <p:grpSp>
            <p:nvGrpSpPr>
              <p:cNvPr id="129" name="Group 129"/>
              <p:cNvGrpSpPr/>
              <p:nvPr/>
            </p:nvGrpSpPr>
            <p:grpSpPr>
              <a:xfrm>
                <a:off x="3098260" y="3188765"/>
                <a:ext cx="128076" cy="110034"/>
                <a:chOff x="3098260" y="3188765"/>
                <a:chExt cx="128076" cy="110034"/>
              </a:xfrm>
            </p:grpSpPr>
            <p:sp>
              <p:nvSpPr>
                <p:cNvPr id="126" name="Freeform 126"/>
                <p:cNvSpPr/>
                <p:nvPr/>
              </p:nvSpPr>
              <p:spPr>
                <a:xfrm>
                  <a:off x="3162300" y="3228975"/>
                  <a:ext cx="9525" cy="25400"/>
                </a:xfrm>
                <a:custGeom>
                  <a:avLst/>
                  <a:gdLst/>
                  <a:ahLst/>
                  <a:cxnLst/>
                  <a:rect l="l" t="t" r="r" b="b"/>
                  <a:pathLst>
                    <a:path w="9525" h="25400">
                      <a:moveTo>
                        <a:pt x="0" y="0"/>
                      </a:moveTo>
                      <a:lnTo>
                        <a:pt x="0" y="25400"/>
                      </a:lnTo>
                    </a:path>
                  </a:pathLst>
                </a:custGeom>
                <a:noFill/>
                <a:ln w="12700">
                  <a:solidFill>
                    <a:srgbClr val="8A1700"/>
                  </a:solidFill>
                </a:ln>
              </p:spPr>
            </p:sp>
            <p:sp>
              <p:nvSpPr>
                <p:cNvPr id="127" name="Freeform 127"/>
                <p:cNvSpPr/>
                <p:nvPr/>
              </p:nvSpPr>
              <p:spPr>
                <a:xfrm>
                  <a:off x="3098260" y="3188765"/>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8A1700"/>
                  </a:solidFill>
                </a:ln>
              </p:spPr>
            </p:sp>
            <p:sp>
              <p:nvSpPr>
                <p:cNvPr id="128" name="Freeform 128"/>
                <p:cNvSpPr/>
                <p:nvPr/>
              </p:nvSpPr>
              <p:spPr>
                <a:xfrm>
                  <a:off x="3162300" y="3273425"/>
                  <a:ext cx="9525" cy="9525"/>
                </a:xfrm>
                <a:custGeom>
                  <a:avLst/>
                  <a:gdLst/>
                  <a:ahLst/>
                  <a:cxnLst/>
                  <a:rect l="l" t="t" r="r" b="b"/>
                  <a:pathLst>
                    <a:path w="9525" h="9525">
                      <a:moveTo>
                        <a:pt x="0" y="0"/>
                      </a:moveTo>
                      <a:lnTo>
                        <a:pt x="64" y="0"/>
                      </a:lnTo>
                    </a:path>
                  </a:pathLst>
                </a:custGeom>
                <a:noFill/>
                <a:ln w="12700">
                  <a:solidFill>
                    <a:srgbClr val="8A1700"/>
                  </a:solidFill>
                </a:ln>
              </p:spPr>
            </p:sp>
          </p:grpSp>
          <p:sp>
            <p:nvSpPr>
              <p:cNvPr id="130" name="TextBox 130"/>
              <p:cNvSpPr txBox="1"/>
              <p:nvPr/>
            </p:nvSpPr>
            <p:spPr>
              <a:xfrm>
                <a:off x="3290888" y="3218736"/>
                <a:ext cx="391846" cy="140494"/>
              </a:xfrm>
              <a:prstGeom prst="rect">
                <a:avLst/>
              </a:prstGeom>
              <a:noFill/>
              <a:ln>
                <a:noFill/>
              </a:ln>
            </p:spPr>
            <p:txBody>
              <a:bodyPr wrap="none" lIns="0" tIns="0" rIns="0" bIns="0" anchor="t" anchorCtr="0">
                <a:spAutoFit/>
              </a:bodyPr>
              <a:lstStyle/>
              <a:p>
                <a:pPr algn="l"/>
                <a:r>
                  <a:rPr lang="zh-CN" sz="710" dirty="0">
                    <a:solidFill>
                      <a:srgbClr val="520E00"/>
                    </a:solidFill>
                    <a:latin typeface="+mn-lt"/>
                    <a:ea typeface="+mn-ea"/>
                    <a:cs typeface="+mn-cs"/>
                  </a:rPr>
                  <a:t>风险信号</a:t>
                </a:r>
              </a:p>
            </p:txBody>
          </p:sp>
          <p:sp>
            <p:nvSpPr>
              <p:cNvPr id="131" name="Rectangle 131"/>
              <p:cNvSpPr/>
              <p:nvPr/>
            </p:nvSpPr>
            <p:spPr>
              <a:xfrm>
                <a:off x="3028950" y="3581400"/>
                <a:ext cx="914400" cy="285750"/>
              </a:xfrm>
              <a:prstGeom prst="roundRect">
                <a:avLst>
                  <a:gd name="adj" fmla="val 13333"/>
                </a:avLst>
              </a:prstGeom>
              <a:solidFill>
                <a:srgbClr val="FFFFFF"/>
              </a:solidFill>
              <a:ln w="9525">
                <a:solidFill>
                  <a:srgbClr val="C9D5EA"/>
                </a:solidFill>
              </a:ln>
            </p:spPr>
          </p:sp>
          <p:grpSp>
            <p:nvGrpSpPr>
              <p:cNvPr id="134" name="Group 134"/>
              <p:cNvGrpSpPr/>
              <p:nvPr/>
            </p:nvGrpSpPr>
            <p:grpSpPr>
              <a:xfrm>
                <a:off x="3105150" y="3667125"/>
                <a:ext cx="115805" cy="115805"/>
                <a:chOff x="3105150" y="3667125"/>
                <a:chExt cx="115805" cy="115805"/>
              </a:xfrm>
            </p:grpSpPr>
            <p:sp>
              <p:nvSpPr>
                <p:cNvPr id="132" name="Freeform 132"/>
                <p:cNvSpPr/>
                <p:nvPr/>
              </p:nvSpPr>
              <p:spPr>
                <a:xfrm>
                  <a:off x="3127375" y="36893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8A1700"/>
                  </a:solidFill>
                </a:ln>
              </p:spPr>
            </p:sp>
            <p:sp>
              <p:nvSpPr>
                <p:cNvPr id="133" name="Freeform 133"/>
                <p:cNvSpPr/>
                <p:nvPr/>
              </p:nvSpPr>
              <p:spPr>
                <a:xfrm>
                  <a:off x="3105150" y="3667125"/>
                  <a:ext cx="115805" cy="115805"/>
                </a:xfrm>
                <a:custGeom>
                  <a:avLst/>
                  <a:gdLst/>
                  <a:ahLst/>
                  <a:cxnLst/>
                  <a:rect l="l" t="t" r="r" b="b"/>
                  <a:pathLst>
                    <a:path w="115805" h="115805">
                      <a:moveTo>
                        <a:pt x="0" y="19050"/>
                      </a:moveTo>
                      <a:lnTo>
                        <a:pt x="0" y="51892"/>
                      </a:lnTo>
                      <a:cubicBezTo>
                        <a:pt x="1" y="55260"/>
                        <a:pt x="1339" y="58490"/>
                        <a:pt x="3721" y="60871"/>
                      </a:cubicBezTo>
                      <a:lnTo>
                        <a:pt x="52680" y="109830"/>
                      </a:lnTo>
                      <a:cubicBezTo>
                        <a:pt x="58656" y="115805"/>
                        <a:pt x="68344" y="115805"/>
                        <a:pt x="74320" y="109830"/>
                      </a:cubicBezTo>
                      <a:lnTo>
                        <a:pt x="109830" y="74320"/>
                      </a:lnTo>
                      <a:cubicBezTo>
                        <a:pt x="115805" y="68344"/>
                        <a:pt x="115805" y="58656"/>
                        <a:pt x="109830" y="52680"/>
                      </a:cubicBezTo>
                      <a:lnTo>
                        <a:pt x="60871" y="3721"/>
                      </a:lnTo>
                      <a:cubicBezTo>
                        <a:pt x="58490" y="1339"/>
                        <a:pt x="55260" y="1"/>
                        <a:pt x="51892" y="0"/>
                      </a:cubicBezTo>
                      <a:lnTo>
                        <a:pt x="19050" y="0"/>
                      </a:lnTo>
                      <a:cubicBezTo>
                        <a:pt x="13998" y="0"/>
                        <a:pt x="9152" y="2007"/>
                        <a:pt x="5580" y="5580"/>
                      </a:cubicBezTo>
                      <a:cubicBezTo>
                        <a:pt x="2007" y="9152"/>
                        <a:pt x="0" y="13998"/>
                        <a:pt x="0" y="19050"/>
                      </a:cubicBezTo>
                    </a:path>
                  </a:pathLst>
                </a:custGeom>
                <a:noFill/>
                <a:ln w="12700">
                  <a:solidFill>
                    <a:srgbClr val="8A1700"/>
                  </a:solidFill>
                </a:ln>
              </p:spPr>
            </p:sp>
          </p:grpSp>
          <p:sp>
            <p:nvSpPr>
              <p:cNvPr id="135" name="TextBox 135"/>
              <p:cNvSpPr txBox="1"/>
              <p:nvPr/>
            </p:nvSpPr>
            <p:spPr>
              <a:xfrm>
                <a:off x="3290888" y="3694986"/>
                <a:ext cx="487426" cy="140494"/>
              </a:xfrm>
              <a:prstGeom prst="rect">
                <a:avLst/>
              </a:prstGeom>
              <a:noFill/>
              <a:ln>
                <a:noFill/>
              </a:ln>
            </p:spPr>
            <p:txBody>
              <a:bodyPr wrap="none" lIns="0" tIns="0" rIns="0" bIns="0" anchor="t" anchorCtr="0">
                <a:spAutoFit/>
              </a:bodyPr>
              <a:lstStyle/>
              <a:p>
                <a:pPr algn="l"/>
                <a:r>
                  <a:rPr lang="zh-CN" sz="710" dirty="0">
                    <a:solidFill>
                      <a:srgbClr val="520E00"/>
                    </a:solidFill>
                    <a:latin typeface="+mn-lt"/>
                    <a:ea typeface="+mn-ea"/>
                    <a:cs typeface="+mn-cs"/>
                  </a:rPr>
                  <a:t>权益与产品</a:t>
                </a:r>
              </a:p>
            </p:txBody>
          </p:sp>
        </p:grpSp>
        <p:sp>
          <p:nvSpPr>
            <p:cNvPr id="137" name="Line 137"/>
            <p:cNvSpPr/>
            <p:nvPr/>
          </p:nvSpPr>
          <p:spPr>
            <a:xfrm>
              <a:off x="3943350" y="1819275"/>
              <a:ext cx="114300" cy="9525"/>
            </a:xfrm>
            <a:custGeom>
              <a:avLst/>
              <a:gdLst/>
              <a:ahLst/>
              <a:cxnLst/>
              <a:rect l="l" t="t" r="r" b="b"/>
              <a:pathLst>
                <a:path w="114300" h="9525">
                  <a:moveTo>
                    <a:pt x="0" y="0"/>
                  </a:moveTo>
                  <a:lnTo>
                    <a:pt x="114300" y="0"/>
                  </a:lnTo>
                </a:path>
              </a:pathLst>
            </a:custGeom>
            <a:noFill/>
            <a:ln w="11430">
              <a:solidFill>
                <a:srgbClr val="E84E2F"/>
              </a:solidFill>
            </a:ln>
          </p:spPr>
        </p:sp>
        <p:sp>
          <p:nvSpPr>
            <p:cNvPr id="138" name="Line 138"/>
            <p:cNvSpPr/>
            <p:nvPr/>
          </p:nvSpPr>
          <p:spPr>
            <a:xfrm>
              <a:off x="3943350" y="2295525"/>
              <a:ext cx="114300" cy="9525"/>
            </a:xfrm>
            <a:custGeom>
              <a:avLst/>
              <a:gdLst/>
              <a:ahLst/>
              <a:cxnLst/>
              <a:rect l="l" t="t" r="r" b="b"/>
              <a:pathLst>
                <a:path w="114300" h="9525">
                  <a:moveTo>
                    <a:pt x="0" y="0"/>
                  </a:moveTo>
                  <a:lnTo>
                    <a:pt x="114300" y="0"/>
                  </a:lnTo>
                </a:path>
              </a:pathLst>
            </a:custGeom>
            <a:noFill/>
            <a:ln w="11430">
              <a:solidFill>
                <a:srgbClr val="E84E2F"/>
              </a:solidFill>
            </a:ln>
          </p:spPr>
        </p:sp>
        <p:sp>
          <p:nvSpPr>
            <p:cNvPr id="139" name="Line 139"/>
            <p:cNvSpPr/>
            <p:nvPr/>
          </p:nvSpPr>
          <p:spPr>
            <a:xfrm>
              <a:off x="3943350" y="2771775"/>
              <a:ext cx="114300" cy="9525"/>
            </a:xfrm>
            <a:custGeom>
              <a:avLst/>
              <a:gdLst/>
              <a:ahLst/>
              <a:cxnLst/>
              <a:rect l="l" t="t" r="r" b="b"/>
              <a:pathLst>
                <a:path w="114300" h="9525">
                  <a:moveTo>
                    <a:pt x="0" y="0"/>
                  </a:moveTo>
                  <a:lnTo>
                    <a:pt x="114300" y="0"/>
                  </a:lnTo>
                </a:path>
              </a:pathLst>
            </a:custGeom>
            <a:noFill/>
            <a:ln w="11430">
              <a:solidFill>
                <a:srgbClr val="E84E2F"/>
              </a:solidFill>
            </a:ln>
          </p:spPr>
        </p:sp>
        <p:sp>
          <p:nvSpPr>
            <p:cNvPr id="140" name="Line 140"/>
            <p:cNvSpPr/>
            <p:nvPr/>
          </p:nvSpPr>
          <p:spPr>
            <a:xfrm>
              <a:off x="3943350" y="3248025"/>
              <a:ext cx="114300" cy="9525"/>
            </a:xfrm>
            <a:custGeom>
              <a:avLst/>
              <a:gdLst/>
              <a:ahLst/>
              <a:cxnLst/>
              <a:rect l="l" t="t" r="r" b="b"/>
              <a:pathLst>
                <a:path w="114300" h="9525">
                  <a:moveTo>
                    <a:pt x="0" y="0"/>
                  </a:moveTo>
                  <a:lnTo>
                    <a:pt x="114300" y="0"/>
                  </a:lnTo>
                </a:path>
              </a:pathLst>
            </a:custGeom>
            <a:noFill/>
            <a:ln w="11430">
              <a:solidFill>
                <a:srgbClr val="E84E2F"/>
              </a:solidFill>
            </a:ln>
          </p:spPr>
        </p:sp>
        <p:sp>
          <p:nvSpPr>
            <p:cNvPr id="141" name="Line 141"/>
            <p:cNvSpPr/>
            <p:nvPr/>
          </p:nvSpPr>
          <p:spPr>
            <a:xfrm>
              <a:off x="3943350" y="3724275"/>
              <a:ext cx="114300" cy="9525"/>
            </a:xfrm>
            <a:custGeom>
              <a:avLst/>
              <a:gdLst/>
              <a:ahLst/>
              <a:cxnLst/>
              <a:rect l="l" t="t" r="r" b="b"/>
              <a:pathLst>
                <a:path w="114300" h="9525">
                  <a:moveTo>
                    <a:pt x="0" y="0"/>
                  </a:moveTo>
                  <a:lnTo>
                    <a:pt x="114300" y="0"/>
                  </a:lnTo>
                </a:path>
              </a:pathLst>
            </a:custGeom>
            <a:noFill/>
            <a:ln w="11430">
              <a:solidFill>
                <a:srgbClr val="E84E2F"/>
              </a:solidFill>
            </a:ln>
          </p:spPr>
        </p:sp>
        <p:sp>
          <p:nvSpPr>
            <p:cNvPr id="142" name="Line 142"/>
            <p:cNvSpPr/>
            <p:nvPr/>
          </p:nvSpPr>
          <p:spPr>
            <a:xfrm>
              <a:off x="4057650" y="1819275"/>
              <a:ext cx="9525" cy="1905000"/>
            </a:xfrm>
            <a:custGeom>
              <a:avLst/>
              <a:gdLst/>
              <a:ahLst/>
              <a:cxnLst/>
              <a:rect l="l" t="t" r="r" b="b"/>
              <a:pathLst>
                <a:path w="9525" h="1905000">
                  <a:moveTo>
                    <a:pt x="0" y="0"/>
                  </a:moveTo>
                  <a:lnTo>
                    <a:pt x="0" y="1905000"/>
                  </a:lnTo>
                </a:path>
              </a:pathLst>
            </a:custGeom>
            <a:noFill/>
            <a:ln w="11430">
              <a:solidFill>
                <a:srgbClr val="E84E2F"/>
              </a:solidFill>
            </a:ln>
          </p:spPr>
        </p:sp>
        <p:sp>
          <p:nvSpPr>
            <p:cNvPr id="143" name="Line 143"/>
            <p:cNvSpPr/>
            <p:nvPr/>
          </p:nvSpPr>
          <p:spPr>
            <a:xfrm>
              <a:off x="4057650" y="2771775"/>
              <a:ext cx="95250" cy="9525"/>
            </a:xfrm>
            <a:custGeom>
              <a:avLst/>
              <a:gdLst/>
              <a:ahLst/>
              <a:cxnLst/>
              <a:rect l="l" t="t" r="r" b="b"/>
              <a:pathLst>
                <a:path w="95250" h="9525">
                  <a:moveTo>
                    <a:pt x="0" y="0"/>
                  </a:moveTo>
                  <a:lnTo>
                    <a:pt x="95250" y="0"/>
                  </a:lnTo>
                </a:path>
              </a:pathLst>
            </a:custGeom>
            <a:noFill/>
            <a:ln w="11430">
              <a:solidFill>
                <a:srgbClr val="E84E2F"/>
              </a:solidFill>
            </a:ln>
          </p:spPr>
        </p:sp>
        <p:grpSp>
          <p:nvGrpSpPr>
            <p:cNvPr id="156" name="engine-core"/>
            <p:cNvGrpSpPr/>
            <p:nvPr/>
          </p:nvGrpSpPr>
          <p:grpSpPr>
            <a:xfrm>
              <a:off x="4076700" y="2486025"/>
              <a:ext cx="571500" cy="571500"/>
              <a:chOff x="4076700" y="2486025"/>
              <a:chExt cx="571500" cy="571500"/>
            </a:xfrm>
          </p:grpSpPr>
          <p:sp>
            <p:nvSpPr>
              <p:cNvPr id="144" name="Ellipse 144"/>
              <p:cNvSpPr/>
              <p:nvPr/>
            </p:nvSpPr>
            <p:spPr>
              <a:xfrm>
                <a:off x="4076700" y="2486025"/>
                <a:ext cx="571500" cy="571500"/>
              </a:xfrm>
              <a:prstGeom prst="ellipse">
                <a:avLst/>
              </a:prstGeom>
              <a:solidFill>
                <a:srgbClr val="520E00"/>
              </a:solidFill>
              <a:ln>
                <a:noFill/>
              </a:ln>
            </p:spPr>
          </p:sp>
          <p:grpSp>
            <p:nvGrpSpPr>
              <p:cNvPr id="154" name="Group 154"/>
              <p:cNvGrpSpPr/>
              <p:nvPr/>
            </p:nvGrpSpPr>
            <p:grpSpPr>
              <a:xfrm>
                <a:off x="4284663" y="2593975"/>
                <a:ext cx="155575" cy="211138"/>
                <a:chOff x="4284663" y="2593975"/>
                <a:chExt cx="155575" cy="211138"/>
              </a:xfrm>
            </p:grpSpPr>
            <p:sp>
              <p:nvSpPr>
                <p:cNvPr id="145" name="Freeform 145"/>
                <p:cNvSpPr/>
                <p:nvPr/>
              </p:nvSpPr>
              <p:spPr>
                <a:xfrm>
                  <a:off x="4295775" y="2616200"/>
                  <a:ext cx="133350" cy="88900"/>
                </a:xfrm>
                <a:custGeom>
                  <a:avLst/>
                  <a:gdLst/>
                  <a:ahLst/>
                  <a:cxnLst/>
                  <a:rect l="l" t="t" r="r" b="b"/>
                  <a:pathLst>
                    <a:path w="133350" h="88900">
                      <a:moveTo>
                        <a:pt x="0" y="22225"/>
                      </a:moveTo>
                      <a:cubicBezTo>
                        <a:pt x="0" y="9950"/>
                        <a:pt x="9950" y="0"/>
                        <a:pt x="22225" y="0"/>
                      </a:cubicBezTo>
                      <a:lnTo>
                        <a:pt x="111125" y="0"/>
                      </a:lnTo>
                      <a:cubicBezTo>
                        <a:pt x="123400" y="0"/>
                        <a:pt x="133350" y="9950"/>
                        <a:pt x="133350" y="22225"/>
                      </a:cubicBezTo>
                      <a:lnTo>
                        <a:pt x="133350" y="66675"/>
                      </a:lnTo>
                      <a:cubicBezTo>
                        <a:pt x="133350" y="78950"/>
                        <a:pt x="123400" y="88900"/>
                        <a:pt x="111125" y="88900"/>
                      </a:cubicBezTo>
                      <a:lnTo>
                        <a:pt x="22225" y="88900"/>
                      </a:lnTo>
                      <a:cubicBezTo>
                        <a:pt x="9950" y="88900"/>
                        <a:pt x="0" y="78950"/>
                        <a:pt x="0" y="66675"/>
                      </a:cubicBezTo>
                      <a:lnTo>
                        <a:pt x="0" y="22225"/>
                      </a:lnTo>
                    </a:path>
                  </a:pathLst>
                </a:custGeom>
                <a:noFill/>
                <a:ln w="16669">
                  <a:solidFill>
                    <a:srgbClr val="FFFFFF"/>
                  </a:solidFill>
                </a:ln>
              </p:spPr>
            </p:sp>
            <p:sp>
              <p:nvSpPr>
                <p:cNvPr id="146" name="Freeform 146"/>
                <p:cNvSpPr/>
                <p:nvPr/>
              </p:nvSpPr>
              <p:spPr>
                <a:xfrm>
                  <a:off x="4362450" y="2593975"/>
                  <a:ext cx="9525" cy="22225"/>
                </a:xfrm>
                <a:custGeom>
                  <a:avLst/>
                  <a:gdLst/>
                  <a:ahLst/>
                  <a:cxnLst/>
                  <a:rect l="l" t="t" r="r" b="b"/>
                  <a:pathLst>
                    <a:path w="9525" h="22225">
                      <a:moveTo>
                        <a:pt x="0" y="0"/>
                      </a:moveTo>
                      <a:lnTo>
                        <a:pt x="0" y="22225"/>
                      </a:lnTo>
                    </a:path>
                  </a:pathLst>
                </a:custGeom>
                <a:noFill/>
                <a:ln w="16669">
                  <a:solidFill>
                    <a:srgbClr val="FFFFFF"/>
                  </a:solidFill>
                </a:ln>
              </p:spPr>
            </p:sp>
            <p:sp>
              <p:nvSpPr>
                <p:cNvPr id="147" name="Freeform 147"/>
                <p:cNvSpPr/>
                <p:nvPr/>
              </p:nvSpPr>
              <p:spPr>
                <a:xfrm>
                  <a:off x="4329113" y="2705100"/>
                  <a:ext cx="9525" cy="100013"/>
                </a:xfrm>
                <a:custGeom>
                  <a:avLst/>
                  <a:gdLst/>
                  <a:ahLst/>
                  <a:cxnLst/>
                  <a:rect l="l" t="t" r="r" b="b"/>
                  <a:pathLst>
                    <a:path w="9525" h="100013">
                      <a:moveTo>
                        <a:pt x="0" y="0"/>
                      </a:moveTo>
                      <a:lnTo>
                        <a:pt x="0" y="100013"/>
                      </a:lnTo>
                    </a:path>
                  </a:pathLst>
                </a:custGeom>
                <a:noFill/>
                <a:ln w="16669">
                  <a:solidFill>
                    <a:srgbClr val="FFFFFF"/>
                  </a:solidFill>
                </a:ln>
              </p:spPr>
            </p:sp>
            <p:sp>
              <p:nvSpPr>
                <p:cNvPr id="148" name="Freeform 148"/>
                <p:cNvSpPr/>
                <p:nvPr/>
              </p:nvSpPr>
              <p:spPr>
                <a:xfrm>
                  <a:off x="4395788" y="2705100"/>
                  <a:ext cx="9525" cy="100013"/>
                </a:xfrm>
                <a:custGeom>
                  <a:avLst/>
                  <a:gdLst/>
                  <a:ahLst/>
                  <a:cxnLst/>
                  <a:rect l="l" t="t" r="r" b="b"/>
                  <a:pathLst>
                    <a:path w="9525" h="100013">
                      <a:moveTo>
                        <a:pt x="0" y="0"/>
                      </a:moveTo>
                      <a:lnTo>
                        <a:pt x="0" y="100013"/>
                      </a:lnTo>
                    </a:path>
                  </a:pathLst>
                </a:custGeom>
                <a:noFill/>
                <a:ln w="16669">
                  <a:solidFill>
                    <a:srgbClr val="FFFFFF"/>
                  </a:solidFill>
                </a:ln>
              </p:spPr>
            </p:sp>
            <p:sp>
              <p:nvSpPr>
                <p:cNvPr id="149" name="Freeform 149"/>
                <p:cNvSpPr/>
                <p:nvPr/>
              </p:nvSpPr>
              <p:spPr>
                <a:xfrm>
                  <a:off x="4284663" y="2727325"/>
                  <a:ext cx="44450" cy="22225"/>
                </a:xfrm>
                <a:custGeom>
                  <a:avLst/>
                  <a:gdLst/>
                  <a:ahLst/>
                  <a:cxnLst/>
                  <a:rect l="l" t="t" r="r" b="b"/>
                  <a:pathLst>
                    <a:path w="44450" h="22225">
                      <a:moveTo>
                        <a:pt x="0" y="22225"/>
                      </a:moveTo>
                      <a:lnTo>
                        <a:pt x="44450" y="0"/>
                      </a:lnTo>
                    </a:path>
                  </a:pathLst>
                </a:custGeom>
                <a:noFill/>
                <a:ln w="16669">
                  <a:solidFill>
                    <a:srgbClr val="FFFFFF"/>
                  </a:solidFill>
                </a:ln>
              </p:spPr>
            </p:sp>
            <p:sp>
              <p:nvSpPr>
                <p:cNvPr id="150" name="Freeform 150"/>
                <p:cNvSpPr/>
                <p:nvPr/>
              </p:nvSpPr>
              <p:spPr>
                <a:xfrm>
                  <a:off x="4395788" y="2727325"/>
                  <a:ext cx="44450" cy="22225"/>
                </a:xfrm>
                <a:custGeom>
                  <a:avLst/>
                  <a:gdLst/>
                  <a:ahLst/>
                  <a:cxnLst/>
                  <a:rect l="l" t="t" r="r" b="b"/>
                  <a:pathLst>
                    <a:path w="44450" h="22225">
                      <a:moveTo>
                        <a:pt x="0" y="0"/>
                      </a:moveTo>
                      <a:lnTo>
                        <a:pt x="44450" y="22225"/>
                      </a:lnTo>
                    </a:path>
                  </a:pathLst>
                </a:custGeom>
                <a:noFill/>
                <a:ln w="16669">
                  <a:solidFill>
                    <a:srgbClr val="FFFFFF"/>
                  </a:solidFill>
                </a:ln>
              </p:spPr>
            </p:sp>
            <p:sp>
              <p:nvSpPr>
                <p:cNvPr id="151" name="Freeform 151"/>
                <p:cNvSpPr/>
                <p:nvPr/>
              </p:nvSpPr>
              <p:spPr>
                <a:xfrm>
                  <a:off x="4329113" y="2771776"/>
                  <a:ext cx="66675" cy="9525"/>
                </a:xfrm>
                <a:custGeom>
                  <a:avLst/>
                  <a:gdLst/>
                  <a:ahLst/>
                  <a:cxnLst/>
                  <a:rect l="l" t="t" r="r" b="b"/>
                  <a:pathLst>
                    <a:path w="66675" h="9525">
                      <a:moveTo>
                        <a:pt x="0" y="0"/>
                      </a:moveTo>
                      <a:lnTo>
                        <a:pt x="66675" y="0"/>
                      </a:lnTo>
                    </a:path>
                  </a:pathLst>
                </a:custGeom>
                <a:noFill/>
                <a:ln w="16669">
                  <a:solidFill>
                    <a:srgbClr val="FFFFFF"/>
                  </a:solidFill>
                </a:ln>
              </p:spPr>
            </p:sp>
            <p:sp>
              <p:nvSpPr>
                <p:cNvPr id="152" name="Freeform 152"/>
                <p:cNvSpPr/>
                <p:nvPr/>
              </p:nvSpPr>
              <p:spPr>
                <a:xfrm>
                  <a:off x="4340225" y="2660650"/>
                  <a:ext cx="9525" cy="9525"/>
                </a:xfrm>
                <a:custGeom>
                  <a:avLst/>
                  <a:gdLst/>
                  <a:ahLst/>
                  <a:cxnLst/>
                  <a:rect l="l" t="t" r="r" b="b"/>
                  <a:pathLst>
                    <a:path w="9525" h="9525">
                      <a:moveTo>
                        <a:pt x="0" y="0"/>
                      </a:moveTo>
                      <a:lnTo>
                        <a:pt x="0" y="111"/>
                      </a:lnTo>
                    </a:path>
                  </a:pathLst>
                </a:custGeom>
                <a:noFill/>
                <a:ln w="16669">
                  <a:solidFill>
                    <a:srgbClr val="FFFFFF"/>
                  </a:solidFill>
                </a:ln>
              </p:spPr>
            </p:sp>
            <p:sp>
              <p:nvSpPr>
                <p:cNvPr id="153" name="Freeform 153"/>
                <p:cNvSpPr/>
                <p:nvPr/>
              </p:nvSpPr>
              <p:spPr>
                <a:xfrm>
                  <a:off x="4384675" y="2660650"/>
                  <a:ext cx="9525" cy="9525"/>
                </a:xfrm>
                <a:custGeom>
                  <a:avLst/>
                  <a:gdLst/>
                  <a:ahLst/>
                  <a:cxnLst/>
                  <a:rect l="l" t="t" r="r" b="b"/>
                  <a:pathLst>
                    <a:path w="9525" h="9525">
                      <a:moveTo>
                        <a:pt x="0" y="0"/>
                      </a:moveTo>
                      <a:lnTo>
                        <a:pt x="0" y="111"/>
                      </a:lnTo>
                    </a:path>
                  </a:pathLst>
                </a:custGeom>
                <a:noFill/>
                <a:ln w="16669">
                  <a:solidFill>
                    <a:srgbClr val="FFFFFF"/>
                  </a:solidFill>
                </a:ln>
              </p:spPr>
            </p:sp>
          </p:grpSp>
          <p:sp>
            <p:nvSpPr>
              <p:cNvPr id="155" name="TextBox 155"/>
              <p:cNvSpPr txBox="1"/>
              <p:nvPr/>
            </p:nvSpPr>
            <p:spPr>
              <a:xfrm>
                <a:off x="4185374" y="28934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策略引擎</a:t>
                </a:r>
              </a:p>
            </p:txBody>
          </p:sp>
        </p:grpSp>
        <p:sp>
          <p:nvSpPr>
            <p:cNvPr id="157" name="Line 157"/>
            <p:cNvSpPr/>
            <p:nvPr/>
          </p:nvSpPr>
          <p:spPr>
            <a:xfrm>
              <a:off x="4648200" y="2771775"/>
              <a:ext cx="76200" cy="9525"/>
            </a:xfrm>
            <a:custGeom>
              <a:avLst/>
              <a:gdLst/>
              <a:ahLst/>
              <a:cxnLst/>
              <a:rect l="l" t="t" r="r" b="b"/>
              <a:pathLst>
                <a:path w="76200" h="9525">
                  <a:moveTo>
                    <a:pt x="0" y="0"/>
                  </a:moveTo>
                  <a:lnTo>
                    <a:pt x="76200" y="0"/>
                  </a:lnTo>
                </a:path>
              </a:pathLst>
            </a:custGeom>
            <a:noFill/>
            <a:ln w="11430">
              <a:solidFill>
                <a:srgbClr val="E84E2F"/>
              </a:solidFill>
            </a:ln>
          </p:spPr>
        </p:sp>
        <p:sp>
          <p:nvSpPr>
            <p:cNvPr id="158" name="Line 158"/>
            <p:cNvSpPr/>
            <p:nvPr/>
          </p:nvSpPr>
          <p:spPr>
            <a:xfrm>
              <a:off x="4724400" y="2009775"/>
              <a:ext cx="9525" cy="1524000"/>
            </a:xfrm>
            <a:custGeom>
              <a:avLst/>
              <a:gdLst/>
              <a:ahLst/>
              <a:cxnLst/>
              <a:rect l="l" t="t" r="r" b="b"/>
              <a:pathLst>
                <a:path w="9525" h="1524000">
                  <a:moveTo>
                    <a:pt x="0" y="0"/>
                  </a:moveTo>
                  <a:lnTo>
                    <a:pt x="0" y="1524000"/>
                  </a:lnTo>
                </a:path>
              </a:pathLst>
            </a:custGeom>
            <a:noFill/>
            <a:ln w="11430">
              <a:solidFill>
                <a:srgbClr val="E84E2F"/>
              </a:solidFill>
            </a:ln>
          </p:spPr>
        </p:sp>
        <p:sp>
          <p:nvSpPr>
            <p:cNvPr id="159" name="Line 159"/>
            <p:cNvSpPr/>
            <p:nvPr/>
          </p:nvSpPr>
          <p:spPr>
            <a:xfrm>
              <a:off x="4724400" y="2009775"/>
              <a:ext cx="57150" cy="9525"/>
            </a:xfrm>
            <a:custGeom>
              <a:avLst/>
              <a:gdLst/>
              <a:ahLst/>
              <a:cxnLst/>
              <a:rect l="l" t="t" r="r" b="b"/>
              <a:pathLst>
                <a:path w="57150" h="9525">
                  <a:moveTo>
                    <a:pt x="0" y="0"/>
                  </a:moveTo>
                  <a:lnTo>
                    <a:pt x="57150" y="0"/>
                  </a:lnTo>
                </a:path>
              </a:pathLst>
            </a:custGeom>
            <a:noFill/>
            <a:ln w="11430">
              <a:solidFill>
                <a:srgbClr val="E84E2F"/>
              </a:solidFill>
            </a:ln>
          </p:spPr>
        </p:sp>
        <p:sp>
          <p:nvSpPr>
            <p:cNvPr id="160" name="Line 160"/>
            <p:cNvSpPr/>
            <p:nvPr/>
          </p:nvSpPr>
          <p:spPr>
            <a:xfrm>
              <a:off x="4724400" y="2514600"/>
              <a:ext cx="57150" cy="9525"/>
            </a:xfrm>
            <a:custGeom>
              <a:avLst/>
              <a:gdLst/>
              <a:ahLst/>
              <a:cxnLst/>
              <a:rect l="l" t="t" r="r" b="b"/>
              <a:pathLst>
                <a:path w="57150" h="9525">
                  <a:moveTo>
                    <a:pt x="0" y="0"/>
                  </a:moveTo>
                  <a:lnTo>
                    <a:pt x="57150" y="0"/>
                  </a:lnTo>
                </a:path>
              </a:pathLst>
            </a:custGeom>
            <a:noFill/>
            <a:ln w="11430">
              <a:solidFill>
                <a:srgbClr val="E84E2F"/>
              </a:solidFill>
            </a:ln>
          </p:spPr>
        </p:sp>
        <p:sp>
          <p:nvSpPr>
            <p:cNvPr id="161" name="Line 161"/>
            <p:cNvSpPr/>
            <p:nvPr/>
          </p:nvSpPr>
          <p:spPr>
            <a:xfrm>
              <a:off x="4724400" y="3028950"/>
              <a:ext cx="57150" cy="9525"/>
            </a:xfrm>
            <a:custGeom>
              <a:avLst/>
              <a:gdLst/>
              <a:ahLst/>
              <a:cxnLst/>
              <a:rect l="l" t="t" r="r" b="b"/>
              <a:pathLst>
                <a:path w="57150" h="9525">
                  <a:moveTo>
                    <a:pt x="0" y="0"/>
                  </a:moveTo>
                  <a:lnTo>
                    <a:pt x="57150" y="0"/>
                  </a:lnTo>
                </a:path>
              </a:pathLst>
            </a:custGeom>
            <a:noFill/>
            <a:ln w="11430">
              <a:solidFill>
                <a:srgbClr val="E84E2F"/>
              </a:solidFill>
            </a:ln>
          </p:spPr>
        </p:sp>
        <p:sp>
          <p:nvSpPr>
            <p:cNvPr id="162" name="Line 162"/>
            <p:cNvSpPr/>
            <p:nvPr/>
          </p:nvSpPr>
          <p:spPr>
            <a:xfrm>
              <a:off x="4724400" y="3533775"/>
              <a:ext cx="57150" cy="9525"/>
            </a:xfrm>
            <a:custGeom>
              <a:avLst/>
              <a:gdLst/>
              <a:ahLst/>
              <a:cxnLst/>
              <a:rect l="l" t="t" r="r" b="b"/>
              <a:pathLst>
                <a:path w="57150" h="9525">
                  <a:moveTo>
                    <a:pt x="0" y="0"/>
                  </a:moveTo>
                  <a:lnTo>
                    <a:pt x="57150" y="0"/>
                  </a:lnTo>
                </a:path>
              </a:pathLst>
            </a:custGeom>
            <a:noFill/>
            <a:ln w="11430">
              <a:solidFill>
                <a:srgbClr val="E84E2F"/>
              </a:solidFill>
            </a:ln>
          </p:spPr>
        </p:sp>
        <p:grpSp>
          <p:nvGrpSpPr>
            <p:cNvPr id="187" name="engine-outputs"/>
            <p:cNvGrpSpPr/>
            <p:nvPr/>
          </p:nvGrpSpPr>
          <p:grpSpPr>
            <a:xfrm>
              <a:off x="4743450" y="1866900"/>
              <a:ext cx="571500" cy="1809750"/>
              <a:chOff x="4743450" y="1866900"/>
              <a:chExt cx="571500" cy="1809750"/>
            </a:xfrm>
          </p:grpSpPr>
          <p:sp>
            <p:nvSpPr>
              <p:cNvPr id="163" name="Rectangle 163"/>
              <p:cNvSpPr/>
              <p:nvPr/>
            </p:nvSpPr>
            <p:spPr>
              <a:xfrm>
                <a:off x="4781550" y="1866900"/>
                <a:ext cx="495300" cy="285750"/>
              </a:xfrm>
              <a:prstGeom prst="roundRect">
                <a:avLst>
                  <a:gd name="adj" fmla="val 13333"/>
                </a:avLst>
              </a:prstGeom>
              <a:solidFill>
                <a:srgbClr val="FFFFFF"/>
              </a:solidFill>
              <a:ln w="9525">
                <a:solidFill>
                  <a:srgbClr val="C9D5EA"/>
                </a:solidFill>
              </a:ln>
            </p:spPr>
          </p:sp>
          <p:grpSp>
            <p:nvGrpSpPr>
              <p:cNvPr id="166" name="Group 166"/>
              <p:cNvGrpSpPr/>
              <p:nvPr/>
            </p:nvGrpSpPr>
            <p:grpSpPr>
              <a:xfrm>
                <a:off x="4852987" y="1950244"/>
                <a:ext cx="66675" cy="100012"/>
                <a:chOff x="4852987" y="1950244"/>
                <a:chExt cx="66675" cy="100012"/>
              </a:xfrm>
            </p:grpSpPr>
            <p:sp>
              <p:nvSpPr>
                <p:cNvPr id="164" name="Freeform 164"/>
                <p:cNvSpPr/>
                <p:nvPr/>
              </p:nvSpPr>
              <p:spPr>
                <a:xfrm>
                  <a:off x="4864100" y="195024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8A1700"/>
                  </a:solidFill>
                </a:ln>
              </p:spPr>
            </p:sp>
            <p:sp>
              <p:nvSpPr>
                <p:cNvPr id="165" name="Freeform 165"/>
                <p:cNvSpPr/>
                <p:nvPr/>
              </p:nvSpPr>
              <p:spPr>
                <a:xfrm>
                  <a:off x="4852987" y="201691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8A1700"/>
                  </a:solidFill>
                </a:ln>
              </p:spPr>
            </p:sp>
          </p:grpSp>
          <p:sp>
            <p:nvSpPr>
              <p:cNvPr id="167" name="TextBox 167"/>
              <p:cNvSpPr txBox="1"/>
              <p:nvPr/>
            </p:nvSpPr>
            <p:spPr>
              <a:xfrm>
                <a:off x="4986338" y="1975009"/>
                <a:ext cx="192608" cy="133350"/>
              </a:xfrm>
              <a:prstGeom prst="rect">
                <a:avLst/>
              </a:prstGeom>
              <a:noFill/>
              <a:ln>
                <a:noFill/>
              </a:ln>
            </p:spPr>
            <p:txBody>
              <a:bodyPr wrap="none" lIns="0" tIns="0" rIns="0" bIns="0" anchor="t" anchorCtr="0">
                <a:spAutoFit/>
              </a:bodyPr>
              <a:lstStyle/>
              <a:p>
                <a:pPr algn="l"/>
                <a:r>
                  <a:rPr lang="zh-CN" sz="680" dirty="0">
                    <a:solidFill>
                      <a:srgbClr val="520E00"/>
                    </a:solidFill>
                    <a:latin typeface="+mn-lt"/>
                    <a:ea typeface="+mn-ea"/>
                    <a:cs typeface="+mn-cs"/>
                  </a:rPr>
                  <a:t>对谁</a:t>
                </a:r>
              </a:p>
            </p:txBody>
          </p:sp>
          <p:sp>
            <p:nvSpPr>
              <p:cNvPr id="168" name="Rectangle 168"/>
              <p:cNvSpPr/>
              <p:nvPr/>
            </p:nvSpPr>
            <p:spPr>
              <a:xfrm>
                <a:off x="4781550" y="2371725"/>
                <a:ext cx="495300" cy="285750"/>
              </a:xfrm>
              <a:prstGeom prst="roundRect">
                <a:avLst>
                  <a:gd name="adj" fmla="val 13333"/>
                </a:avLst>
              </a:prstGeom>
              <a:solidFill>
                <a:srgbClr val="FFFFFF"/>
              </a:solidFill>
              <a:ln w="9525">
                <a:solidFill>
                  <a:srgbClr val="C9D5EA"/>
                </a:solidFill>
              </a:ln>
            </p:spPr>
          </p:sp>
          <p:grpSp>
            <p:nvGrpSpPr>
              <p:cNvPr id="171" name="Group 171"/>
              <p:cNvGrpSpPr/>
              <p:nvPr/>
            </p:nvGrpSpPr>
            <p:grpSpPr>
              <a:xfrm>
                <a:off x="4836319" y="2455069"/>
                <a:ext cx="100012" cy="100012"/>
                <a:chOff x="4836319" y="2455069"/>
                <a:chExt cx="100012" cy="100012"/>
              </a:xfrm>
            </p:grpSpPr>
            <p:sp>
              <p:nvSpPr>
                <p:cNvPr id="169" name="Freeform 169"/>
                <p:cNvSpPr/>
                <p:nvPr/>
              </p:nvSpPr>
              <p:spPr>
                <a:xfrm>
                  <a:off x="4836319" y="24550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8A1700"/>
                  </a:solidFill>
                </a:ln>
              </p:spPr>
            </p:sp>
            <p:sp>
              <p:nvSpPr>
                <p:cNvPr id="170" name="Freeform 170"/>
                <p:cNvSpPr/>
                <p:nvPr/>
              </p:nvSpPr>
              <p:spPr>
                <a:xfrm>
                  <a:off x="4886325" y="2477294"/>
                  <a:ext cx="16669" cy="44450"/>
                </a:xfrm>
                <a:custGeom>
                  <a:avLst/>
                  <a:gdLst/>
                  <a:ahLst/>
                  <a:cxnLst/>
                  <a:rect l="l" t="t" r="r" b="b"/>
                  <a:pathLst>
                    <a:path w="16669" h="44450">
                      <a:moveTo>
                        <a:pt x="0" y="0"/>
                      </a:moveTo>
                      <a:lnTo>
                        <a:pt x="0" y="27781"/>
                      </a:lnTo>
                      <a:lnTo>
                        <a:pt x="16669" y="44450"/>
                      </a:lnTo>
                    </a:path>
                  </a:pathLst>
                </a:custGeom>
                <a:noFill/>
                <a:ln w="11112">
                  <a:solidFill>
                    <a:srgbClr val="8A1700"/>
                  </a:solidFill>
                </a:ln>
              </p:spPr>
            </p:sp>
          </p:grpSp>
          <p:sp>
            <p:nvSpPr>
              <p:cNvPr id="172" name="TextBox 172"/>
              <p:cNvSpPr txBox="1"/>
              <p:nvPr/>
            </p:nvSpPr>
            <p:spPr>
              <a:xfrm>
                <a:off x="4986338" y="2479834"/>
                <a:ext cx="192608" cy="133350"/>
              </a:xfrm>
              <a:prstGeom prst="rect">
                <a:avLst/>
              </a:prstGeom>
              <a:noFill/>
              <a:ln>
                <a:noFill/>
              </a:ln>
            </p:spPr>
            <p:txBody>
              <a:bodyPr wrap="none" lIns="0" tIns="0" rIns="0" bIns="0" anchor="t" anchorCtr="0">
                <a:spAutoFit/>
              </a:bodyPr>
              <a:lstStyle/>
              <a:p>
                <a:pPr algn="l"/>
                <a:r>
                  <a:rPr lang="zh-CN" sz="680" dirty="0">
                    <a:solidFill>
                      <a:srgbClr val="520E00"/>
                    </a:solidFill>
                    <a:latin typeface="+mn-lt"/>
                    <a:ea typeface="+mn-ea"/>
                    <a:cs typeface="+mn-cs"/>
                  </a:rPr>
                  <a:t>何时</a:t>
                </a:r>
              </a:p>
            </p:txBody>
          </p:sp>
          <p:sp>
            <p:nvSpPr>
              <p:cNvPr id="173" name="Rectangle 173"/>
              <p:cNvSpPr/>
              <p:nvPr/>
            </p:nvSpPr>
            <p:spPr>
              <a:xfrm>
                <a:off x="4743450" y="2886075"/>
                <a:ext cx="571500" cy="285750"/>
              </a:xfrm>
              <a:prstGeom prst="roundRect">
                <a:avLst>
                  <a:gd name="adj" fmla="val 13333"/>
                </a:avLst>
              </a:prstGeom>
              <a:solidFill>
                <a:srgbClr val="FFFFFF"/>
              </a:solidFill>
              <a:ln w="9525">
                <a:solidFill>
                  <a:srgbClr val="C9D5EA"/>
                </a:solidFill>
              </a:ln>
            </p:spPr>
          </p:sp>
          <p:grpSp>
            <p:nvGrpSpPr>
              <p:cNvPr id="177" name="Group 177"/>
              <p:cNvGrpSpPr/>
              <p:nvPr/>
            </p:nvGrpSpPr>
            <p:grpSpPr>
              <a:xfrm>
                <a:off x="4814887" y="2978944"/>
                <a:ext cx="66675" cy="100012"/>
                <a:chOff x="4814887" y="2978944"/>
                <a:chExt cx="66675" cy="100012"/>
              </a:xfrm>
            </p:grpSpPr>
            <p:sp>
              <p:nvSpPr>
                <p:cNvPr id="174" name="Freeform 174"/>
                <p:cNvSpPr/>
                <p:nvPr/>
              </p:nvSpPr>
              <p:spPr>
                <a:xfrm>
                  <a:off x="4814887" y="297894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8A1700"/>
                  </a:solidFill>
                </a:ln>
              </p:spPr>
            </p:sp>
            <p:sp>
              <p:nvSpPr>
                <p:cNvPr id="175" name="Freeform 175"/>
                <p:cNvSpPr/>
                <p:nvPr/>
              </p:nvSpPr>
              <p:spPr>
                <a:xfrm>
                  <a:off x="4842669" y="2984500"/>
                  <a:ext cx="11112" cy="9525"/>
                </a:xfrm>
                <a:custGeom>
                  <a:avLst/>
                  <a:gdLst/>
                  <a:ahLst/>
                  <a:cxnLst/>
                  <a:rect l="l" t="t" r="r" b="b"/>
                  <a:pathLst>
                    <a:path w="11112" h="9525">
                      <a:moveTo>
                        <a:pt x="0" y="0"/>
                      </a:moveTo>
                      <a:lnTo>
                        <a:pt x="11112" y="0"/>
                      </a:lnTo>
                    </a:path>
                  </a:pathLst>
                </a:custGeom>
                <a:noFill/>
                <a:ln w="11112">
                  <a:solidFill>
                    <a:srgbClr val="8A1700"/>
                  </a:solidFill>
                </a:ln>
              </p:spPr>
            </p:sp>
            <p:sp>
              <p:nvSpPr>
                <p:cNvPr id="176" name="Freeform 176"/>
                <p:cNvSpPr/>
                <p:nvPr/>
              </p:nvSpPr>
              <p:spPr>
                <a:xfrm>
                  <a:off x="4848225" y="3056731"/>
                  <a:ext cx="9525" cy="9525"/>
                </a:xfrm>
                <a:custGeom>
                  <a:avLst/>
                  <a:gdLst/>
                  <a:ahLst/>
                  <a:cxnLst/>
                  <a:rect l="l" t="t" r="r" b="b"/>
                  <a:pathLst>
                    <a:path w="9525" h="9525">
                      <a:moveTo>
                        <a:pt x="0" y="0"/>
                      </a:moveTo>
                      <a:lnTo>
                        <a:pt x="0" y="56"/>
                      </a:lnTo>
                    </a:path>
                  </a:pathLst>
                </a:custGeom>
                <a:noFill/>
                <a:ln w="11112">
                  <a:solidFill>
                    <a:srgbClr val="8A1700"/>
                  </a:solidFill>
                </a:ln>
              </p:spPr>
            </p:sp>
          </p:grpSp>
          <p:sp>
            <p:nvSpPr>
              <p:cNvPr id="178" name="TextBox 178"/>
              <p:cNvSpPr txBox="1"/>
              <p:nvPr/>
            </p:nvSpPr>
            <p:spPr>
              <a:xfrm>
                <a:off x="4948238" y="3011805"/>
                <a:ext cx="332613" cy="119062"/>
              </a:xfrm>
              <a:prstGeom prst="rect">
                <a:avLst/>
              </a:prstGeom>
              <a:noFill/>
              <a:ln>
                <a:noFill/>
              </a:ln>
            </p:spPr>
            <p:txBody>
              <a:bodyPr wrap="none" lIns="0" tIns="0" rIns="0" bIns="0" anchor="t" anchorCtr="0">
                <a:spAutoFit/>
              </a:bodyPr>
              <a:lstStyle/>
              <a:p>
                <a:pPr algn="l"/>
                <a:r>
                  <a:rPr lang="zh-CN" sz="600" dirty="0">
                    <a:solidFill>
                      <a:srgbClr val="520E00"/>
                    </a:solidFill>
                    <a:latin typeface="+mn-lt"/>
                    <a:ea typeface="+mn-ea"/>
                    <a:cs typeface="+mn-cs"/>
                  </a:rPr>
                  <a:t>什么渠道</a:t>
                </a:r>
              </a:p>
            </p:txBody>
          </p:sp>
          <p:sp>
            <p:nvSpPr>
              <p:cNvPr id="179" name="Rectangle 179"/>
              <p:cNvSpPr/>
              <p:nvPr/>
            </p:nvSpPr>
            <p:spPr>
              <a:xfrm>
                <a:off x="4743450" y="3390900"/>
                <a:ext cx="571500" cy="285750"/>
              </a:xfrm>
              <a:prstGeom prst="roundRect">
                <a:avLst>
                  <a:gd name="adj" fmla="val 13333"/>
                </a:avLst>
              </a:prstGeom>
              <a:solidFill>
                <a:srgbClr val="FFFFFF"/>
              </a:solidFill>
              <a:ln w="9525">
                <a:solidFill>
                  <a:srgbClr val="C9D5EA"/>
                </a:solidFill>
              </a:ln>
            </p:spPr>
          </p:sp>
          <p:grpSp>
            <p:nvGrpSpPr>
              <p:cNvPr id="185" name="Group 185"/>
              <p:cNvGrpSpPr/>
              <p:nvPr/>
            </p:nvGrpSpPr>
            <p:grpSpPr>
              <a:xfrm>
                <a:off x="4809331" y="3483769"/>
                <a:ext cx="77787" cy="100012"/>
                <a:chOff x="4809331" y="3483769"/>
                <a:chExt cx="77787" cy="100012"/>
              </a:xfrm>
            </p:grpSpPr>
            <p:sp>
              <p:nvSpPr>
                <p:cNvPr id="180" name="Freeform 180"/>
                <p:cNvSpPr/>
                <p:nvPr/>
              </p:nvSpPr>
              <p:spPr>
                <a:xfrm>
                  <a:off x="4859337" y="34837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8A1700"/>
                  </a:solidFill>
                </a:ln>
              </p:spPr>
            </p:sp>
            <p:sp>
              <p:nvSpPr>
                <p:cNvPr id="181" name="Freeform 181"/>
                <p:cNvSpPr/>
                <p:nvPr/>
              </p:nvSpPr>
              <p:spPr>
                <a:xfrm>
                  <a:off x="4809331" y="34837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8A1700"/>
                  </a:solidFill>
                </a:ln>
              </p:spPr>
            </p:sp>
            <p:sp>
              <p:nvSpPr>
                <p:cNvPr id="182" name="Freeform 182"/>
                <p:cNvSpPr/>
                <p:nvPr/>
              </p:nvSpPr>
              <p:spPr>
                <a:xfrm>
                  <a:off x="4831556" y="3517106"/>
                  <a:ext cx="9525" cy="9525"/>
                </a:xfrm>
                <a:custGeom>
                  <a:avLst/>
                  <a:gdLst/>
                  <a:ahLst/>
                  <a:cxnLst/>
                  <a:rect l="l" t="t" r="r" b="b"/>
                  <a:pathLst>
                    <a:path w="9525" h="9525">
                      <a:moveTo>
                        <a:pt x="0" y="0"/>
                      </a:moveTo>
                      <a:lnTo>
                        <a:pt x="5556" y="0"/>
                      </a:lnTo>
                    </a:path>
                  </a:pathLst>
                </a:custGeom>
                <a:noFill/>
                <a:ln w="11112">
                  <a:solidFill>
                    <a:srgbClr val="8A1700"/>
                  </a:solidFill>
                </a:ln>
              </p:spPr>
            </p:sp>
            <p:sp>
              <p:nvSpPr>
                <p:cNvPr id="183" name="Freeform 183"/>
                <p:cNvSpPr/>
                <p:nvPr/>
              </p:nvSpPr>
              <p:spPr>
                <a:xfrm>
                  <a:off x="4831556" y="3539331"/>
                  <a:ext cx="33337" cy="9525"/>
                </a:xfrm>
                <a:custGeom>
                  <a:avLst/>
                  <a:gdLst/>
                  <a:ahLst/>
                  <a:cxnLst/>
                  <a:rect l="l" t="t" r="r" b="b"/>
                  <a:pathLst>
                    <a:path w="33337" h="9525">
                      <a:moveTo>
                        <a:pt x="0" y="0"/>
                      </a:moveTo>
                      <a:lnTo>
                        <a:pt x="33337" y="0"/>
                      </a:lnTo>
                    </a:path>
                  </a:pathLst>
                </a:custGeom>
                <a:noFill/>
                <a:ln w="11112">
                  <a:solidFill>
                    <a:srgbClr val="8A1700"/>
                  </a:solidFill>
                </a:ln>
              </p:spPr>
            </p:sp>
            <p:sp>
              <p:nvSpPr>
                <p:cNvPr id="184" name="Freeform 184"/>
                <p:cNvSpPr/>
                <p:nvPr/>
              </p:nvSpPr>
              <p:spPr>
                <a:xfrm>
                  <a:off x="4831556" y="3561556"/>
                  <a:ext cx="33337" cy="9525"/>
                </a:xfrm>
                <a:custGeom>
                  <a:avLst/>
                  <a:gdLst/>
                  <a:ahLst/>
                  <a:cxnLst/>
                  <a:rect l="l" t="t" r="r" b="b"/>
                  <a:pathLst>
                    <a:path w="33337" h="9525">
                      <a:moveTo>
                        <a:pt x="0" y="0"/>
                      </a:moveTo>
                      <a:lnTo>
                        <a:pt x="33337" y="0"/>
                      </a:lnTo>
                    </a:path>
                  </a:pathLst>
                </a:custGeom>
                <a:noFill/>
                <a:ln w="11112">
                  <a:solidFill>
                    <a:srgbClr val="8A1700"/>
                  </a:solidFill>
                </a:ln>
              </p:spPr>
            </p:sp>
          </p:grpSp>
          <p:sp>
            <p:nvSpPr>
              <p:cNvPr id="186" name="TextBox 186"/>
              <p:cNvSpPr txBox="1"/>
              <p:nvPr/>
            </p:nvSpPr>
            <p:spPr>
              <a:xfrm>
                <a:off x="4948238" y="3516630"/>
                <a:ext cx="332613" cy="119062"/>
              </a:xfrm>
              <a:prstGeom prst="rect">
                <a:avLst/>
              </a:prstGeom>
              <a:noFill/>
              <a:ln>
                <a:noFill/>
              </a:ln>
            </p:spPr>
            <p:txBody>
              <a:bodyPr wrap="none" lIns="0" tIns="0" rIns="0" bIns="0" anchor="t" anchorCtr="0">
                <a:spAutoFit/>
              </a:bodyPr>
              <a:lstStyle/>
              <a:p>
                <a:pPr algn="l"/>
                <a:r>
                  <a:rPr lang="zh-CN" sz="600" dirty="0">
                    <a:solidFill>
                      <a:srgbClr val="520E00"/>
                    </a:solidFill>
                    <a:latin typeface="+mn-lt"/>
                    <a:ea typeface="+mn-ea"/>
                    <a:cs typeface="+mn-cs"/>
                  </a:rPr>
                  <a:t>什么内容</a:t>
                </a:r>
              </a:p>
            </p:txBody>
          </p:sp>
        </p:grpSp>
        <p:sp>
          <p:nvSpPr>
            <p:cNvPr id="188" name="Rectangle 188"/>
            <p:cNvSpPr/>
            <p:nvPr/>
          </p:nvSpPr>
          <p:spPr>
            <a:xfrm>
              <a:off x="3067050" y="4095750"/>
              <a:ext cx="2152650" cy="342900"/>
            </a:xfrm>
            <a:prstGeom prst="roundRect">
              <a:avLst>
                <a:gd name="adj" fmla="val 50000"/>
              </a:avLst>
            </a:prstGeom>
            <a:solidFill>
              <a:srgbClr val="FFFFFF"/>
            </a:solidFill>
            <a:ln w="9525">
              <a:solidFill>
                <a:srgbClr val="C9D5EA"/>
              </a:solidFill>
            </a:ln>
          </p:spPr>
        </p:sp>
        <p:grpSp>
          <p:nvGrpSpPr>
            <p:cNvPr id="193" name="Group 193"/>
            <p:cNvGrpSpPr/>
            <p:nvPr/>
          </p:nvGrpSpPr>
          <p:grpSpPr>
            <a:xfrm>
              <a:off x="3183731" y="4202906"/>
              <a:ext cx="128588" cy="128588"/>
              <a:chOff x="3183731" y="4202906"/>
              <a:chExt cx="128588" cy="128588"/>
            </a:xfrm>
          </p:grpSpPr>
          <p:sp>
            <p:nvSpPr>
              <p:cNvPr id="189" name="Freeform 189"/>
              <p:cNvSpPr/>
              <p:nvPr/>
            </p:nvSpPr>
            <p:spPr>
              <a:xfrm>
                <a:off x="3183731" y="4202906"/>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8A1700"/>
                </a:solidFill>
              </a:ln>
            </p:spPr>
          </p:sp>
          <p:sp>
            <p:nvSpPr>
              <p:cNvPr id="190" name="Freeform 190"/>
              <p:cNvSpPr/>
              <p:nvPr/>
            </p:nvSpPr>
            <p:spPr>
              <a:xfrm>
                <a:off x="3255169" y="4202906"/>
                <a:ext cx="57150" cy="57150"/>
              </a:xfrm>
              <a:custGeom>
                <a:avLst/>
                <a:gdLst/>
                <a:ahLst/>
                <a:cxnLst/>
                <a:rect l="l" t="t" r="r" b="b"/>
                <a:pathLst>
                  <a:path w="57150" h="57150">
                    <a:moveTo>
                      <a:pt x="57150" y="57150"/>
                    </a:moveTo>
                    <a:lnTo>
                      <a:pt x="57150" y="35719"/>
                    </a:lnTo>
                    <a:cubicBezTo>
                      <a:pt x="57150" y="27828"/>
                      <a:pt x="50753" y="21431"/>
                      <a:pt x="42862" y="21431"/>
                    </a:cubicBezTo>
                    <a:lnTo>
                      <a:pt x="0" y="21431"/>
                    </a:lnTo>
                    <a:lnTo>
                      <a:pt x="21431" y="42862"/>
                    </a:lnTo>
                    <a:moveTo>
                      <a:pt x="21431" y="0"/>
                    </a:moveTo>
                    <a:lnTo>
                      <a:pt x="0" y="21431"/>
                    </a:lnTo>
                  </a:path>
                </a:pathLst>
              </a:custGeom>
              <a:noFill/>
              <a:ln w="14288">
                <a:solidFill>
                  <a:srgbClr val="8A1700"/>
                </a:solidFill>
              </a:ln>
            </p:spPr>
          </p:sp>
          <p:sp>
            <p:nvSpPr>
              <p:cNvPr id="191" name="Freeform 191"/>
              <p:cNvSpPr/>
              <p:nvPr/>
            </p:nvSpPr>
            <p:spPr>
              <a:xfrm>
                <a:off x="3183731" y="4274344"/>
                <a:ext cx="57150" cy="57150"/>
              </a:xfrm>
              <a:custGeom>
                <a:avLst/>
                <a:gdLst/>
                <a:ahLst/>
                <a:cxnLst/>
                <a:rect l="l" t="t" r="r" b="b"/>
                <a:pathLst>
                  <a:path w="57150" h="57150">
                    <a:moveTo>
                      <a:pt x="0" y="0"/>
                    </a:moveTo>
                    <a:lnTo>
                      <a:pt x="0" y="21431"/>
                    </a:lnTo>
                    <a:cubicBezTo>
                      <a:pt x="0" y="29322"/>
                      <a:pt x="6397" y="35719"/>
                      <a:pt x="14288" y="35719"/>
                    </a:cubicBezTo>
                    <a:lnTo>
                      <a:pt x="57150" y="35719"/>
                    </a:lnTo>
                    <a:lnTo>
                      <a:pt x="35719" y="14288"/>
                    </a:lnTo>
                    <a:moveTo>
                      <a:pt x="35719" y="57150"/>
                    </a:moveTo>
                    <a:lnTo>
                      <a:pt x="57150" y="35719"/>
                    </a:lnTo>
                  </a:path>
                </a:pathLst>
              </a:custGeom>
              <a:noFill/>
              <a:ln w="14288">
                <a:solidFill>
                  <a:srgbClr val="8A1700"/>
                </a:solidFill>
              </a:ln>
            </p:spPr>
          </p:sp>
          <p:sp>
            <p:nvSpPr>
              <p:cNvPr id="192" name="Freeform 192"/>
              <p:cNvSpPr/>
              <p:nvPr/>
            </p:nvSpPr>
            <p:spPr>
              <a:xfrm>
                <a:off x="3269456" y="4288631"/>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8A1700"/>
                </a:solidFill>
              </a:ln>
            </p:spPr>
          </p:sp>
        </p:grpSp>
        <p:sp>
          <p:nvSpPr>
            <p:cNvPr id="194" name="TextBox 194"/>
            <p:cNvSpPr txBox="1"/>
            <p:nvPr/>
          </p:nvSpPr>
          <p:spPr>
            <a:xfrm>
              <a:off x="3386138" y="4233862"/>
              <a:ext cx="1523243"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实时决策 + 持续学习 + 效果预估​</a:t>
              </a:r>
            </a:p>
          </p:txBody>
        </p:sp>
      </p:grpSp>
      <p:grpSp>
        <p:nvGrpSpPr>
          <p:cNvPr id="250" name="priority-path"/>
          <p:cNvGrpSpPr/>
          <p:nvPr/>
        </p:nvGrpSpPr>
        <p:grpSpPr>
          <a:xfrm>
            <a:off x="5619750" y="1562100"/>
            <a:ext cx="2381250" cy="3028950"/>
            <a:chOff x="5619750" y="1562100"/>
            <a:chExt cx="2381250" cy="3028950"/>
          </a:xfrm>
        </p:grpSpPr>
        <p:sp>
          <p:nvSpPr>
            <p:cNvPr id="196" name="Rectangle 196"/>
            <p:cNvSpPr/>
            <p:nvPr/>
          </p:nvSpPr>
          <p:spPr>
            <a:xfrm>
              <a:off x="5619750" y="1562100"/>
              <a:ext cx="2381250" cy="3028950"/>
            </a:xfrm>
            <a:prstGeom prst="roundRect">
              <a:avLst>
                <a:gd name="adj" fmla="val 2400"/>
              </a:avLst>
            </a:prstGeom>
            <a:solidFill>
              <a:srgbClr val="F5F8FE"/>
            </a:solidFill>
            <a:ln w="9525">
              <a:solidFill>
                <a:srgbClr val="C9D5EA"/>
              </a:solidFill>
            </a:ln>
          </p:spPr>
        </p:sp>
        <p:grpSp>
          <p:nvGrpSpPr>
            <p:cNvPr id="205" name="prio-1"/>
            <p:cNvGrpSpPr/>
            <p:nvPr/>
          </p:nvGrpSpPr>
          <p:grpSpPr>
            <a:xfrm>
              <a:off x="5695950" y="1638300"/>
              <a:ext cx="2228850" cy="419100"/>
              <a:chOff x="5695950" y="1638300"/>
              <a:chExt cx="2228850" cy="419100"/>
            </a:xfrm>
          </p:grpSpPr>
          <p:sp>
            <p:nvSpPr>
              <p:cNvPr id="197" name="Rectangle 197"/>
              <p:cNvSpPr/>
              <p:nvPr/>
            </p:nvSpPr>
            <p:spPr>
              <a:xfrm>
                <a:off x="5695950" y="1638300"/>
                <a:ext cx="2228850" cy="419100"/>
              </a:xfrm>
              <a:prstGeom prst="roundRect">
                <a:avLst>
                  <a:gd name="adj" fmla="val 13636"/>
                </a:avLst>
              </a:prstGeom>
              <a:solidFill>
                <a:srgbClr val="FFFFFF"/>
              </a:solidFill>
              <a:ln w="9525">
                <a:solidFill>
                  <a:srgbClr val="C9D5EA"/>
                </a:solidFill>
              </a:ln>
            </p:spPr>
          </p:sp>
          <p:grpSp>
            <p:nvGrpSpPr>
              <p:cNvPr id="201" name="Group 201"/>
              <p:cNvGrpSpPr/>
              <p:nvPr/>
            </p:nvGrpSpPr>
            <p:grpSpPr>
              <a:xfrm>
                <a:off x="5807919" y="1766368"/>
                <a:ext cx="176105" cy="151297"/>
                <a:chOff x="5807919" y="1766368"/>
                <a:chExt cx="176105" cy="151297"/>
              </a:xfrm>
            </p:grpSpPr>
            <p:sp>
              <p:nvSpPr>
                <p:cNvPr id="198" name="Freeform 198"/>
                <p:cNvSpPr/>
                <p:nvPr/>
              </p:nvSpPr>
              <p:spPr>
                <a:xfrm>
                  <a:off x="5895975" y="1821656"/>
                  <a:ext cx="9525" cy="34925"/>
                </a:xfrm>
                <a:custGeom>
                  <a:avLst/>
                  <a:gdLst/>
                  <a:ahLst/>
                  <a:cxnLst/>
                  <a:rect l="l" t="t" r="r" b="b"/>
                  <a:pathLst>
                    <a:path w="9525" h="34925">
                      <a:moveTo>
                        <a:pt x="0" y="0"/>
                      </a:moveTo>
                      <a:lnTo>
                        <a:pt x="0" y="34925"/>
                      </a:lnTo>
                    </a:path>
                  </a:pathLst>
                </a:custGeom>
                <a:noFill/>
                <a:ln w="15716">
                  <a:solidFill>
                    <a:srgbClr val="8A1700"/>
                  </a:solidFill>
                </a:ln>
              </p:spPr>
            </p:sp>
            <p:sp>
              <p:nvSpPr>
                <p:cNvPr id="199" name="Freeform 199"/>
                <p:cNvSpPr/>
                <p:nvPr/>
              </p:nvSpPr>
              <p:spPr>
                <a:xfrm>
                  <a:off x="5807919" y="1766368"/>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5716">
                  <a:solidFill>
                    <a:srgbClr val="8A1700"/>
                  </a:solidFill>
                </a:ln>
              </p:spPr>
            </p:sp>
            <p:sp>
              <p:nvSpPr>
                <p:cNvPr id="200" name="Freeform 200"/>
                <p:cNvSpPr/>
                <p:nvPr/>
              </p:nvSpPr>
              <p:spPr>
                <a:xfrm>
                  <a:off x="5895975" y="1882775"/>
                  <a:ext cx="9525" cy="9525"/>
                </a:xfrm>
                <a:custGeom>
                  <a:avLst/>
                  <a:gdLst/>
                  <a:ahLst/>
                  <a:cxnLst/>
                  <a:rect l="l" t="t" r="r" b="b"/>
                  <a:pathLst>
                    <a:path w="9525" h="9525">
                      <a:moveTo>
                        <a:pt x="0" y="0"/>
                      </a:moveTo>
                      <a:lnTo>
                        <a:pt x="87" y="0"/>
                      </a:lnTo>
                    </a:path>
                  </a:pathLst>
                </a:custGeom>
                <a:noFill/>
                <a:ln w="15716">
                  <a:solidFill>
                    <a:srgbClr val="8A1700"/>
                  </a:solidFill>
                </a:ln>
              </p:spPr>
            </p:sp>
          </p:grpSp>
          <p:sp>
            <p:nvSpPr>
              <p:cNvPr id="202" name="Ellipse 202"/>
              <p:cNvSpPr/>
              <p:nvPr/>
            </p:nvSpPr>
            <p:spPr>
              <a:xfrm>
                <a:off x="6124575" y="1724025"/>
                <a:ext cx="247650" cy="247650"/>
              </a:xfrm>
              <a:prstGeom prst="ellipse">
                <a:avLst/>
              </a:prstGeom>
              <a:solidFill>
                <a:srgbClr val="8A1700"/>
              </a:solidFill>
              <a:ln>
                <a:noFill/>
              </a:ln>
            </p:spPr>
          </p:sp>
          <p:sp>
            <p:nvSpPr>
              <p:cNvPr id="203" name="TextBox 203"/>
              <p:cNvSpPr txBox="1"/>
              <p:nvPr/>
            </p:nvSpPr>
            <p:spPr>
              <a:xfrm>
                <a:off x="6173669" y="17983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a:t>
                </a:r>
              </a:p>
            </p:txBody>
          </p:sp>
          <p:sp>
            <p:nvSpPr>
              <p:cNvPr id="204" name="TextBox 204"/>
              <p:cNvSpPr txBox="1"/>
              <p:nvPr/>
            </p:nvSpPr>
            <p:spPr>
              <a:xfrm>
                <a:off x="6490716" y="1782128"/>
                <a:ext cx="576072"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风险提醒</a:t>
                </a:r>
              </a:p>
            </p:txBody>
          </p:sp>
        </p:grpSp>
        <p:sp>
          <p:nvSpPr>
            <p:cNvPr id="206" name="TextBox 206"/>
            <p:cNvSpPr txBox="1"/>
            <p:nvPr/>
          </p:nvSpPr>
          <p:spPr>
            <a:xfrm>
              <a:off x="6732862" y="2104549"/>
              <a:ext cx="155026" cy="190690"/>
            </a:xfrm>
            <a:prstGeom prst="rect">
              <a:avLst/>
            </a:prstGeom>
            <a:noFill/>
            <a:ln>
              <a:noFill/>
            </a:ln>
          </p:spPr>
          <p:txBody>
            <a:bodyPr wrap="none" lIns="0" tIns="0" rIns="0" bIns="0" anchor="t" anchorCtr="0">
              <a:spAutoFit/>
            </a:bodyPr>
            <a:lstStyle/>
            <a:p>
              <a:pPr algn="ctr"/>
              <a:r>
                <a:rPr lang="zh-CN" sz="980" dirty="0">
                  <a:solidFill>
                    <a:srgbClr val="E84E2F"/>
                  </a:solidFill>
                  <a:latin typeface="+mn-lt"/>
                  <a:ea typeface="+mn-ea"/>
                  <a:cs typeface="+mn-cs"/>
                </a:rPr>
                <a:t>↓​</a:t>
              </a:r>
            </a:p>
          </p:txBody>
        </p:sp>
        <p:grpSp>
          <p:nvGrpSpPr>
            <p:cNvPr id="218" name="prio-2"/>
            <p:cNvGrpSpPr/>
            <p:nvPr/>
          </p:nvGrpSpPr>
          <p:grpSpPr>
            <a:xfrm>
              <a:off x="5695950" y="2228850"/>
              <a:ext cx="2228850" cy="419100"/>
              <a:chOff x="5695950" y="2228850"/>
              <a:chExt cx="2228850" cy="419100"/>
            </a:xfrm>
          </p:grpSpPr>
          <p:sp>
            <p:nvSpPr>
              <p:cNvPr id="207" name="Rectangle 207"/>
              <p:cNvSpPr/>
              <p:nvPr/>
            </p:nvSpPr>
            <p:spPr>
              <a:xfrm>
                <a:off x="5695950" y="2228850"/>
                <a:ext cx="2228850" cy="419100"/>
              </a:xfrm>
              <a:prstGeom prst="roundRect">
                <a:avLst>
                  <a:gd name="adj" fmla="val 13636"/>
                </a:avLst>
              </a:prstGeom>
              <a:solidFill>
                <a:srgbClr val="FFFFFF"/>
              </a:solidFill>
              <a:ln w="9525">
                <a:solidFill>
                  <a:srgbClr val="C9D5EA"/>
                </a:solidFill>
              </a:ln>
            </p:spPr>
          </p:sp>
          <p:grpSp>
            <p:nvGrpSpPr>
              <p:cNvPr id="214" name="Group 214"/>
              <p:cNvGrpSpPr/>
              <p:nvPr/>
            </p:nvGrpSpPr>
            <p:grpSpPr>
              <a:xfrm>
                <a:off x="5817394" y="2358906"/>
                <a:ext cx="158076" cy="158076"/>
                <a:chOff x="5817394" y="2358906"/>
                <a:chExt cx="158076" cy="158076"/>
              </a:xfrm>
            </p:grpSpPr>
            <p:sp>
              <p:nvSpPr>
                <p:cNvPr id="208" name="Freeform 208"/>
                <p:cNvSpPr/>
                <p:nvPr/>
              </p:nvSpPr>
              <p:spPr>
                <a:xfrm>
                  <a:off x="5817394" y="2358906"/>
                  <a:ext cx="158076" cy="158076"/>
                </a:xfrm>
                <a:custGeom>
                  <a:avLst/>
                  <a:gdLst/>
                  <a:ahLst/>
                  <a:cxnLst/>
                  <a:rect l="l" t="t" r="r" b="b"/>
                  <a:pathLst>
                    <a:path w="158076" h="158076">
                      <a:moveTo>
                        <a:pt x="0" y="158076"/>
                      </a:moveTo>
                      <a:lnTo>
                        <a:pt x="34925" y="158076"/>
                      </a:lnTo>
                      <a:lnTo>
                        <a:pt x="148431" y="44569"/>
                      </a:lnTo>
                      <a:cubicBezTo>
                        <a:pt x="158076" y="34925"/>
                        <a:pt x="158076" y="19289"/>
                        <a:pt x="148431" y="9644"/>
                      </a:cubicBezTo>
                      <a:cubicBezTo>
                        <a:pt x="138787" y="0"/>
                        <a:pt x="123151" y="0"/>
                        <a:pt x="113506" y="9644"/>
                      </a:cubicBezTo>
                      <a:lnTo>
                        <a:pt x="0" y="123151"/>
                      </a:lnTo>
                      <a:lnTo>
                        <a:pt x="0" y="158076"/>
                      </a:lnTo>
                    </a:path>
                  </a:pathLst>
                </a:custGeom>
                <a:noFill/>
                <a:ln w="15716">
                  <a:solidFill>
                    <a:srgbClr val="8A1700"/>
                  </a:solidFill>
                </a:ln>
              </p:spPr>
            </p:sp>
            <p:sp>
              <p:nvSpPr>
                <p:cNvPr id="209" name="Freeform 209"/>
                <p:cNvSpPr/>
                <p:nvPr/>
              </p:nvSpPr>
              <p:spPr>
                <a:xfrm>
                  <a:off x="5917803" y="2381647"/>
                  <a:ext cx="34925" cy="34925"/>
                </a:xfrm>
                <a:custGeom>
                  <a:avLst/>
                  <a:gdLst/>
                  <a:ahLst/>
                  <a:cxnLst/>
                  <a:rect l="l" t="t" r="r" b="b"/>
                  <a:pathLst>
                    <a:path w="34925" h="34925">
                      <a:moveTo>
                        <a:pt x="0" y="0"/>
                      </a:moveTo>
                      <a:lnTo>
                        <a:pt x="34925" y="34925"/>
                      </a:lnTo>
                    </a:path>
                  </a:pathLst>
                </a:custGeom>
                <a:noFill/>
                <a:ln w="15716">
                  <a:solidFill>
                    <a:srgbClr val="8A1700"/>
                  </a:solidFill>
                </a:ln>
              </p:spPr>
            </p:sp>
            <p:sp>
              <p:nvSpPr>
                <p:cNvPr id="210" name="Freeform 210"/>
                <p:cNvSpPr/>
                <p:nvPr/>
              </p:nvSpPr>
              <p:spPr>
                <a:xfrm>
                  <a:off x="5817394" y="2359819"/>
                  <a:ext cx="78581" cy="78581"/>
                </a:xfrm>
                <a:custGeom>
                  <a:avLst/>
                  <a:gdLst/>
                  <a:ahLst/>
                  <a:cxnLst/>
                  <a:rect l="l" t="t" r="r" b="b"/>
                  <a:pathLst>
                    <a:path w="78581" h="78581">
                      <a:moveTo>
                        <a:pt x="78581" y="43656"/>
                      </a:moveTo>
                      <a:lnTo>
                        <a:pt x="34925" y="0"/>
                      </a:lnTo>
                      <a:lnTo>
                        <a:pt x="0" y="34925"/>
                      </a:lnTo>
                      <a:lnTo>
                        <a:pt x="43656" y="78581"/>
                      </a:lnTo>
                    </a:path>
                  </a:pathLst>
                </a:custGeom>
                <a:noFill/>
                <a:ln w="15716">
                  <a:solidFill>
                    <a:srgbClr val="8A1700"/>
                  </a:solidFill>
                </a:ln>
              </p:spPr>
            </p:sp>
            <p:sp>
              <p:nvSpPr>
                <p:cNvPr id="211" name="Freeform 211"/>
                <p:cNvSpPr/>
                <p:nvPr/>
              </p:nvSpPr>
              <p:spPr>
                <a:xfrm>
                  <a:off x="5839222" y="2403475"/>
                  <a:ext cx="13097" cy="13097"/>
                </a:xfrm>
                <a:custGeom>
                  <a:avLst/>
                  <a:gdLst/>
                  <a:ahLst/>
                  <a:cxnLst/>
                  <a:rect l="l" t="t" r="r" b="b"/>
                  <a:pathLst>
                    <a:path w="13097" h="13097">
                      <a:moveTo>
                        <a:pt x="13097" y="0"/>
                      </a:moveTo>
                      <a:lnTo>
                        <a:pt x="0" y="13097"/>
                      </a:lnTo>
                    </a:path>
                  </a:pathLst>
                </a:custGeom>
                <a:noFill/>
                <a:ln w="15716">
                  <a:solidFill>
                    <a:srgbClr val="8A1700"/>
                  </a:solidFill>
                </a:ln>
              </p:spPr>
            </p:sp>
            <p:sp>
              <p:nvSpPr>
                <p:cNvPr id="212" name="Freeform 212"/>
                <p:cNvSpPr/>
                <p:nvPr/>
              </p:nvSpPr>
              <p:spPr>
                <a:xfrm>
                  <a:off x="5895975" y="2438400"/>
                  <a:ext cx="78581" cy="78581"/>
                </a:xfrm>
                <a:custGeom>
                  <a:avLst/>
                  <a:gdLst/>
                  <a:ahLst/>
                  <a:cxnLst/>
                  <a:rect l="l" t="t" r="r" b="b"/>
                  <a:pathLst>
                    <a:path w="78581" h="78581">
                      <a:moveTo>
                        <a:pt x="34925" y="0"/>
                      </a:moveTo>
                      <a:lnTo>
                        <a:pt x="78581" y="43656"/>
                      </a:lnTo>
                      <a:lnTo>
                        <a:pt x="43656" y="78581"/>
                      </a:lnTo>
                      <a:lnTo>
                        <a:pt x="0" y="34925"/>
                      </a:lnTo>
                    </a:path>
                  </a:pathLst>
                </a:custGeom>
                <a:noFill/>
                <a:ln w="15716">
                  <a:solidFill>
                    <a:srgbClr val="8A1700"/>
                  </a:solidFill>
                </a:ln>
              </p:spPr>
            </p:sp>
            <p:sp>
              <p:nvSpPr>
                <p:cNvPr id="213" name="Freeform 213"/>
                <p:cNvSpPr/>
                <p:nvPr/>
              </p:nvSpPr>
              <p:spPr>
                <a:xfrm>
                  <a:off x="5917803" y="2482056"/>
                  <a:ext cx="13097" cy="13097"/>
                </a:xfrm>
                <a:custGeom>
                  <a:avLst/>
                  <a:gdLst/>
                  <a:ahLst/>
                  <a:cxnLst/>
                  <a:rect l="l" t="t" r="r" b="b"/>
                  <a:pathLst>
                    <a:path w="13097" h="13097">
                      <a:moveTo>
                        <a:pt x="13097" y="0"/>
                      </a:moveTo>
                      <a:lnTo>
                        <a:pt x="0" y="13097"/>
                      </a:lnTo>
                    </a:path>
                  </a:pathLst>
                </a:custGeom>
                <a:noFill/>
                <a:ln w="15716">
                  <a:solidFill>
                    <a:srgbClr val="8A1700"/>
                  </a:solidFill>
                </a:ln>
              </p:spPr>
            </p:sp>
          </p:grpSp>
          <p:sp>
            <p:nvSpPr>
              <p:cNvPr id="215" name="Ellipse 215"/>
              <p:cNvSpPr/>
              <p:nvPr/>
            </p:nvSpPr>
            <p:spPr>
              <a:xfrm>
                <a:off x="6124575" y="2314575"/>
                <a:ext cx="247650" cy="247650"/>
              </a:xfrm>
              <a:prstGeom prst="ellipse">
                <a:avLst/>
              </a:prstGeom>
              <a:solidFill>
                <a:srgbClr val="8A1700"/>
              </a:solidFill>
              <a:ln>
                <a:noFill/>
              </a:ln>
            </p:spPr>
          </p:sp>
          <p:sp>
            <p:nvSpPr>
              <p:cNvPr id="216" name="TextBox 216"/>
              <p:cNvSpPr txBox="1"/>
              <p:nvPr/>
            </p:nvSpPr>
            <p:spPr>
              <a:xfrm>
                <a:off x="6173669" y="238887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a:t>
                </a:r>
              </a:p>
            </p:txBody>
          </p:sp>
          <p:sp>
            <p:nvSpPr>
              <p:cNvPr id="217" name="TextBox 217"/>
              <p:cNvSpPr txBox="1"/>
              <p:nvPr/>
            </p:nvSpPr>
            <p:spPr>
              <a:xfrm>
                <a:off x="6490716" y="2372678"/>
                <a:ext cx="576072"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工具支持</a:t>
                </a:r>
              </a:p>
            </p:txBody>
          </p:sp>
        </p:grpSp>
        <p:sp>
          <p:nvSpPr>
            <p:cNvPr id="219" name="TextBox 219"/>
            <p:cNvSpPr txBox="1"/>
            <p:nvPr/>
          </p:nvSpPr>
          <p:spPr>
            <a:xfrm>
              <a:off x="6732862" y="2695099"/>
              <a:ext cx="155026" cy="190690"/>
            </a:xfrm>
            <a:prstGeom prst="rect">
              <a:avLst/>
            </a:prstGeom>
            <a:noFill/>
            <a:ln>
              <a:noFill/>
            </a:ln>
          </p:spPr>
          <p:txBody>
            <a:bodyPr wrap="none" lIns="0" tIns="0" rIns="0" bIns="0" anchor="t" anchorCtr="0">
              <a:spAutoFit/>
            </a:bodyPr>
            <a:lstStyle/>
            <a:p>
              <a:pPr algn="ctr"/>
              <a:r>
                <a:rPr lang="zh-CN" sz="980" dirty="0">
                  <a:solidFill>
                    <a:srgbClr val="E84E2F"/>
                  </a:solidFill>
                  <a:latin typeface="+mn-lt"/>
                  <a:ea typeface="+mn-ea"/>
                  <a:cs typeface="+mn-cs"/>
                </a:rPr>
                <a:t>↓​</a:t>
              </a:r>
            </a:p>
          </p:txBody>
        </p:sp>
        <p:grpSp>
          <p:nvGrpSpPr>
            <p:cNvPr id="229" name="prio-3"/>
            <p:cNvGrpSpPr/>
            <p:nvPr/>
          </p:nvGrpSpPr>
          <p:grpSpPr>
            <a:xfrm>
              <a:off x="5695950" y="2819400"/>
              <a:ext cx="2228850" cy="419100"/>
              <a:chOff x="5695950" y="2819400"/>
              <a:chExt cx="2228850" cy="419100"/>
            </a:xfrm>
          </p:grpSpPr>
          <p:sp>
            <p:nvSpPr>
              <p:cNvPr id="220" name="Rectangle 220"/>
              <p:cNvSpPr/>
              <p:nvPr/>
            </p:nvSpPr>
            <p:spPr>
              <a:xfrm>
                <a:off x="5695950" y="2819400"/>
                <a:ext cx="2228850" cy="419100"/>
              </a:xfrm>
              <a:prstGeom prst="roundRect">
                <a:avLst>
                  <a:gd name="adj" fmla="val 13636"/>
                </a:avLst>
              </a:prstGeom>
              <a:solidFill>
                <a:srgbClr val="FFFFFF"/>
              </a:solidFill>
              <a:ln w="9525">
                <a:solidFill>
                  <a:srgbClr val="C9D5EA"/>
                </a:solidFill>
              </a:ln>
            </p:spPr>
          </p:sp>
          <p:grpSp>
            <p:nvGrpSpPr>
              <p:cNvPr id="225" name="Group 225"/>
              <p:cNvGrpSpPr/>
              <p:nvPr/>
            </p:nvGrpSpPr>
            <p:grpSpPr>
              <a:xfrm>
                <a:off x="5826125" y="2950369"/>
                <a:ext cx="139700" cy="165894"/>
                <a:chOff x="5826125" y="2950369"/>
                <a:chExt cx="139700" cy="165894"/>
              </a:xfrm>
            </p:grpSpPr>
            <p:sp>
              <p:nvSpPr>
                <p:cNvPr id="221" name="Freeform 221"/>
                <p:cNvSpPr/>
                <p:nvPr/>
              </p:nvSpPr>
              <p:spPr>
                <a:xfrm>
                  <a:off x="5826125" y="2950369"/>
                  <a:ext cx="139700" cy="96044"/>
                </a:xfrm>
                <a:custGeom>
                  <a:avLst/>
                  <a:gdLst/>
                  <a:ahLst/>
                  <a:cxnLst/>
                  <a:rect l="l" t="t" r="r" b="b"/>
                  <a:pathLst>
                    <a:path w="139700" h="96044">
                      <a:moveTo>
                        <a:pt x="0" y="96044"/>
                      </a:moveTo>
                      <a:lnTo>
                        <a:pt x="0" y="69850"/>
                      </a:lnTo>
                      <a:cubicBezTo>
                        <a:pt x="0" y="31273"/>
                        <a:pt x="31273" y="0"/>
                        <a:pt x="69850" y="0"/>
                      </a:cubicBezTo>
                      <a:cubicBezTo>
                        <a:pt x="108427" y="0"/>
                        <a:pt x="139700" y="31273"/>
                        <a:pt x="139700" y="69850"/>
                      </a:cubicBezTo>
                      <a:lnTo>
                        <a:pt x="139700" y="96044"/>
                      </a:lnTo>
                    </a:path>
                  </a:pathLst>
                </a:custGeom>
                <a:noFill/>
                <a:ln w="15716">
                  <a:solidFill>
                    <a:srgbClr val="8A1700"/>
                  </a:solidFill>
                </a:ln>
              </p:spPr>
            </p:sp>
            <p:sp>
              <p:nvSpPr>
                <p:cNvPr id="222" name="Freeform 222"/>
                <p:cNvSpPr/>
                <p:nvPr/>
              </p:nvSpPr>
              <p:spPr>
                <a:xfrm>
                  <a:off x="5895975" y="3090069"/>
                  <a:ext cx="52388" cy="26194"/>
                </a:xfrm>
                <a:custGeom>
                  <a:avLst/>
                  <a:gdLst/>
                  <a:ahLst/>
                  <a:cxnLst/>
                  <a:rect l="l" t="t" r="r" b="b"/>
                  <a:pathLst>
                    <a:path w="52388" h="26194">
                      <a:moveTo>
                        <a:pt x="52388" y="0"/>
                      </a:moveTo>
                      <a:cubicBezTo>
                        <a:pt x="52388" y="14468"/>
                        <a:pt x="28935" y="26194"/>
                        <a:pt x="0" y="26194"/>
                      </a:cubicBezTo>
                    </a:path>
                  </a:pathLst>
                </a:custGeom>
                <a:noFill/>
                <a:ln w="15716">
                  <a:solidFill>
                    <a:srgbClr val="8A1700"/>
                  </a:solidFill>
                </a:ln>
              </p:spPr>
            </p:sp>
            <p:sp>
              <p:nvSpPr>
                <p:cNvPr id="223" name="Freeform 223"/>
                <p:cNvSpPr/>
                <p:nvPr/>
              </p:nvSpPr>
              <p:spPr>
                <a:xfrm>
                  <a:off x="5826125" y="3028950"/>
                  <a:ext cx="43656" cy="61119"/>
                </a:xfrm>
                <a:custGeom>
                  <a:avLst/>
                  <a:gdLst/>
                  <a:ahLst/>
                  <a:cxnLst/>
                  <a:rect l="l" t="t" r="r" b="b"/>
                  <a:pathLst>
                    <a:path w="43656" h="61119">
                      <a:moveTo>
                        <a:pt x="0" y="17463"/>
                      </a:moveTo>
                      <a:cubicBezTo>
                        <a:pt x="0" y="7818"/>
                        <a:pt x="7818" y="0"/>
                        <a:pt x="17463" y="0"/>
                      </a:cubicBezTo>
                      <a:lnTo>
                        <a:pt x="26194" y="0"/>
                      </a:lnTo>
                      <a:cubicBezTo>
                        <a:pt x="35838" y="0"/>
                        <a:pt x="43656" y="7818"/>
                        <a:pt x="43656" y="17463"/>
                      </a:cubicBezTo>
                      <a:lnTo>
                        <a:pt x="43656" y="43656"/>
                      </a:lnTo>
                      <a:cubicBezTo>
                        <a:pt x="43656" y="53301"/>
                        <a:pt x="35838" y="61119"/>
                        <a:pt x="26194" y="61119"/>
                      </a:cubicBezTo>
                      <a:lnTo>
                        <a:pt x="17463" y="61119"/>
                      </a:lnTo>
                      <a:cubicBezTo>
                        <a:pt x="7818" y="61119"/>
                        <a:pt x="0" y="53301"/>
                        <a:pt x="0" y="43656"/>
                      </a:cubicBezTo>
                      <a:lnTo>
                        <a:pt x="0" y="17463"/>
                      </a:lnTo>
                    </a:path>
                  </a:pathLst>
                </a:custGeom>
                <a:noFill/>
                <a:ln w="15716">
                  <a:solidFill>
                    <a:srgbClr val="8A1700"/>
                  </a:solidFill>
                </a:ln>
              </p:spPr>
            </p:sp>
            <p:sp>
              <p:nvSpPr>
                <p:cNvPr id="224" name="Freeform 224"/>
                <p:cNvSpPr/>
                <p:nvPr/>
              </p:nvSpPr>
              <p:spPr>
                <a:xfrm>
                  <a:off x="5922169" y="3028950"/>
                  <a:ext cx="43656" cy="61119"/>
                </a:xfrm>
                <a:custGeom>
                  <a:avLst/>
                  <a:gdLst/>
                  <a:ahLst/>
                  <a:cxnLst/>
                  <a:rect l="l" t="t" r="r" b="b"/>
                  <a:pathLst>
                    <a:path w="43656" h="61119">
                      <a:moveTo>
                        <a:pt x="0" y="17463"/>
                      </a:moveTo>
                      <a:cubicBezTo>
                        <a:pt x="0" y="7818"/>
                        <a:pt x="7818" y="0"/>
                        <a:pt x="17463" y="0"/>
                      </a:cubicBezTo>
                      <a:lnTo>
                        <a:pt x="26194" y="0"/>
                      </a:lnTo>
                      <a:cubicBezTo>
                        <a:pt x="35838" y="0"/>
                        <a:pt x="43656" y="7818"/>
                        <a:pt x="43656" y="17463"/>
                      </a:cubicBezTo>
                      <a:lnTo>
                        <a:pt x="43656" y="43656"/>
                      </a:lnTo>
                      <a:cubicBezTo>
                        <a:pt x="43656" y="53301"/>
                        <a:pt x="35838" y="61119"/>
                        <a:pt x="26194" y="61119"/>
                      </a:cubicBezTo>
                      <a:lnTo>
                        <a:pt x="17463" y="61119"/>
                      </a:lnTo>
                      <a:cubicBezTo>
                        <a:pt x="7818" y="61119"/>
                        <a:pt x="0" y="53301"/>
                        <a:pt x="0" y="43656"/>
                      </a:cubicBezTo>
                      <a:lnTo>
                        <a:pt x="0" y="17463"/>
                      </a:lnTo>
                    </a:path>
                  </a:pathLst>
                </a:custGeom>
                <a:noFill/>
                <a:ln w="15716">
                  <a:solidFill>
                    <a:srgbClr val="8A1700"/>
                  </a:solidFill>
                </a:ln>
              </p:spPr>
            </p:sp>
          </p:grpSp>
          <p:sp>
            <p:nvSpPr>
              <p:cNvPr id="226" name="Ellipse 226"/>
              <p:cNvSpPr/>
              <p:nvPr/>
            </p:nvSpPr>
            <p:spPr>
              <a:xfrm>
                <a:off x="6124575" y="2905125"/>
                <a:ext cx="247650" cy="247650"/>
              </a:xfrm>
              <a:prstGeom prst="ellipse">
                <a:avLst/>
              </a:prstGeom>
              <a:solidFill>
                <a:srgbClr val="8A1700"/>
              </a:solidFill>
              <a:ln>
                <a:noFill/>
              </a:ln>
            </p:spPr>
          </p:sp>
          <p:sp>
            <p:nvSpPr>
              <p:cNvPr id="227" name="TextBox 227"/>
              <p:cNvSpPr txBox="1"/>
              <p:nvPr/>
            </p:nvSpPr>
            <p:spPr>
              <a:xfrm>
                <a:off x="6173669" y="29794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a:t>
                </a:r>
              </a:p>
            </p:txBody>
          </p:sp>
          <p:sp>
            <p:nvSpPr>
              <p:cNvPr id="228" name="TextBox 228"/>
              <p:cNvSpPr txBox="1"/>
              <p:nvPr/>
            </p:nvSpPr>
            <p:spPr>
              <a:xfrm>
                <a:off x="6490716" y="2963228"/>
                <a:ext cx="576072"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人工咨询</a:t>
                </a:r>
              </a:p>
            </p:txBody>
          </p:sp>
        </p:grpSp>
        <p:sp>
          <p:nvSpPr>
            <p:cNvPr id="230" name="TextBox 230"/>
            <p:cNvSpPr txBox="1"/>
            <p:nvPr/>
          </p:nvSpPr>
          <p:spPr>
            <a:xfrm>
              <a:off x="6732862" y="3285649"/>
              <a:ext cx="155026" cy="190690"/>
            </a:xfrm>
            <a:prstGeom prst="rect">
              <a:avLst/>
            </a:prstGeom>
            <a:noFill/>
            <a:ln>
              <a:noFill/>
            </a:ln>
          </p:spPr>
          <p:txBody>
            <a:bodyPr wrap="none" lIns="0" tIns="0" rIns="0" bIns="0" anchor="t" anchorCtr="0">
              <a:spAutoFit/>
            </a:bodyPr>
            <a:lstStyle/>
            <a:p>
              <a:pPr algn="ctr"/>
              <a:r>
                <a:rPr lang="zh-CN" sz="980" dirty="0">
                  <a:solidFill>
                    <a:srgbClr val="E84E2F"/>
                  </a:solidFill>
                  <a:latin typeface="+mn-lt"/>
                  <a:ea typeface="+mn-ea"/>
                  <a:cs typeface="+mn-cs"/>
                </a:rPr>
                <a:t>↓​</a:t>
              </a:r>
            </a:p>
          </p:txBody>
        </p:sp>
        <p:grpSp>
          <p:nvGrpSpPr>
            <p:cNvPr id="240" name="prio-4"/>
            <p:cNvGrpSpPr/>
            <p:nvPr/>
          </p:nvGrpSpPr>
          <p:grpSpPr>
            <a:xfrm>
              <a:off x="5695950" y="3409950"/>
              <a:ext cx="2228850" cy="419100"/>
              <a:chOff x="5695950" y="3409950"/>
              <a:chExt cx="2228850" cy="419100"/>
            </a:xfrm>
          </p:grpSpPr>
          <p:sp>
            <p:nvSpPr>
              <p:cNvPr id="231" name="Rectangle 231"/>
              <p:cNvSpPr/>
              <p:nvPr/>
            </p:nvSpPr>
            <p:spPr>
              <a:xfrm>
                <a:off x="5695950" y="3409950"/>
                <a:ext cx="2228850" cy="419100"/>
              </a:xfrm>
              <a:prstGeom prst="roundRect">
                <a:avLst>
                  <a:gd name="adj" fmla="val 13636"/>
                </a:avLst>
              </a:prstGeom>
              <a:solidFill>
                <a:srgbClr val="FFFFFF"/>
              </a:solidFill>
              <a:ln w="9525">
                <a:solidFill>
                  <a:srgbClr val="C9D5EA"/>
                </a:solidFill>
              </a:ln>
            </p:spPr>
          </p:sp>
          <p:grpSp>
            <p:nvGrpSpPr>
              <p:cNvPr id="236" name="Group 236"/>
              <p:cNvGrpSpPr/>
              <p:nvPr/>
            </p:nvGrpSpPr>
            <p:grpSpPr>
              <a:xfrm>
                <a:off x="5817394" y="3540618"/>
                <a:ext cx="157163" cy="157463"/>
                <a:chOff x="5817394" y="3540618"/>
                <a:chExt cx="157163" cy="157463"/>
              </a:xfrm>
            </p:grpSpPr>
            <p:sp>
              <p:nvSpPr>
                <p:cNvPr id="232" name="Freeform 232"/>
                <p:cNvSpPr/>
                <p:nvPr/>
              </p:nvSpPr>
              <p:spPr>
                <a:xfrm>
                  <a:off x="5817394" y="3584575"/>
                  <a:ext cx="157163" cy="34925"/>
                </a:xfrm>
                <a:custGeom>
                  <a:avLst/>
                  <a:gdLst/>
                  <a:ahLst/>
                  <a:cxnLst/>
                  <a:rect l="l" t="t" r="r" b="b"/>
                  <a:pathLst>
                    <a:path w="157163" h="34925">
                      <a:moveTo>
                        <a:pt x="0" y="8731"/>
                      </a:moveTo>
                      <a:cubicBezTo>
                        <a:pt x="0" y="3909"/>
                        <a:pt x="3909" y="0"/>
                        <a:pt x="8731" y="0"/>
                      </a:cubicBezTo>
                      <a:lnTo>
                        <a:pt x="148431" y="0"/>
                      </a:lnTo>
                      <a:cubicBezTo>
                        <a:pt x="153253" y="0"/>
                        <a:pt x="157163" y="3909"/>
                        <a:pt x="157163" y="8731"/>
                      </a:cubicBezTo>
                      <a:lnTo>
                        <a:pt x="157163" y="26194"/>
                      </a:lnTo>
                      <a:cubicBezTo>
                        <a:pt x="157163" y="31016"/>
                        <a:pt x="153253" y="34925"/>
                        <a:pt x="148431" y="34925"/>
                      </a:cubicBezTo>
                      <a:lnTo>
                        <a:pt x="8731" y="34925"/>
                      </a:lnTo>
                      <a:cubicBezTo>
                        <a:pt x="3909" y="34925"/>
                        <a:pt x="0" y="31016"/>
                        <a:pt x="0" y="26194"/>
                      </a:cubicBezTo>
                      <a:lnTo>
                        <a:pt x="0" y="8731"/>
                      </a:lnTo>
                    </a:path>
                  </a:pathLst>
                </a:custGeom>
                <a:noFill/>
                <a:ln w="15716">
                  <a:solidFill>
                    <a:srgbClr val="8A1700"/>
                  </a:solidFill>
                </a:ln>
              </p:spPr>
            </p:sp>
            <p:sp>
              <p:nvSpPr>
                <p:cNvPr id="233" name="Freeform 233"/>
                <p:cNvSpPr/>
                <p:nvPr/>
              </p:nvSpPr>
              <p:spPr>
                <a:xfrm>
                  <a:off x="5895975" y="3584575"/>
                  <a:ext cx="9525" cy="113506"/>
                </a:xfrm>
                <a:custGeom>
                  <a:avLst/>
                  <a:gdLst/>
                  <a:ahLst/>
                  <a:cxnLst/>
                  <a:rect l="l" t="t" r="r" b="b"/>
                  <a:pathLst>
                    <a:path w="9525" h="113506">
                      <a:moveTo>
                        <a:pt x="0" y="0"/>
                      </a:moveTo>
                      <a:lnTo>
                        <a:pt x="0" y="113506"/>
                      </a:lnTo>
                    </a:path>
                  </a:pathLst>
                </a:custGeom>
                <a:noFill/>
                <a:ln w="15716">
                  <a:solidFill>
                    <a:srgbClr val="8A1700"/>
                  </a:solidFill>
                </a:ln>
              </p:spPr>
            </p:sp>
            <p:sp>
              <p:nvSpPr>
                <p:cNvPr id="234" name="Freeform 234"/>
                <p:cNvSpPr/>
                <p:nvPr/>
              </p:nvSpPr>
              <p:spPr>
                <a:xfrm>
                  <a:off x="5834856" y="3619500"/>
                  <a:ext cx="122238" cy="78581"/>
                </a:xfrm>
                <a:custGeom>
                  <a:avLst/>
                  <a:gdLst/>
                  <a:ahLst/>
                  <a:cxnLst/>
                  <a:rect l="l" t="t" r="r" b="b"/>
                  <a:pathLst>
                    <a:path w="122238" h="78581">
                      <a:moveTo>
                        <a:pt x="122238" y="0"/>
                      </a:moveTo>
                      <a:lnTo>
                        <a:pt x="122238" y="61119"/>
                      </a:lnTo>
                      <a:cubicBezTo>
                        <a:pt x="122238" y="70763"/>
                        <a:pt x="114419" y="78581"/>
                        <a:pt x="104775" y="78581"/>
                      </a:cubicBezTo>
                      <a:lnTo>
                        <a:pt x="17463" y="78581"/>
                      </a:lnTo>
                      <a:cubicBezTo>
                        <a:pt x="7818" y="78581"/>
                        <a:pt x="0" y="70763"/>
                        <a:pt x="0" y="61119"/>
                      </a:cubicBezTo>
                      <a:lnTo>
                        <a:pt x="0" y="0"/>
                      </a:lnTo>
                    </a:path>
                  </a:pathLst>
                </a:custGeom>
                <a:noFill/>
                <a:ln w="15716">
                  <a:solidFill>
                    <a:srgbClr val="8A1700"/>
                  </a:solidFill>
                </a:ln>
              </p:spPr>
            </p:sp>
            <p:sp>
              <p:nvSpPr>
                <p:cNvPr id="235" name="Freeform 235"/>
                <p:cNvSpPr/>
                <p:nvPr/>
              </p:nvSpPr>
              <p:spPr>
                <a:xfrm>
                  <a:off x="5834856" y="3540618"/>
                  <a:ext cx="122238" cy="43957"/>
                </a:xfrm>
                <a:custGeom>
                  <a:avLst/>
                  <a:gdLst/>
                  <a:ahLst/>
                  <a:cxnLst/>
                  <a:rect l="l" t="t" r="r" b="b"/>
                  <a:pathLst>
                    <a:path w="122238" h="43957">
                      <a:moveTo>
                        <a:pt x="21828" y="43957"/>
                      </a:moveTo>
                      <a:cubicBezTo>
                        <a:pt x="9773" y="43957"/>
                        <a:pt x="0" y="34184"/>
                        <a:pt x="0" y="22128"/>
                      </a:cubicBezTo>
                      <a:cubicBezTo>
                        <a:pt x="0" y="10073"/>
                        <a:pt x="9773" y="300"/>
                        <a:pt x="21828" y="300"/>
                      </a:cubicBezTo>
                      <a:cubicBezTo>
                        <a:pt x="39066" y="0"/>
                        <a:pt x="54655" y="17322"/>
                        <a:pt x="61119" y="43957"/>
                      </a:cubicBezTo>
                      <a:cubicBezTo>
                        <a:pt x="67582" y="17322"/>
                        <a:pt x="83172" y="0"/>
                        <a:pt x="100409" y="300"/>
                      </a:cubicBezTo>
                      <a:cubicBezTo>
                        <a:pt x="112465" y="300"/>
                        <a:pt x="122238" y="10073"/>
                        <a:pt x="122238" y="22128"/>
                      </a:cubicBezTo>
                      <a:cubicBezTo>
                        <a:pt x="122238" y="34184"/>
                        <a:pt x="112465" y="43957"/>
                        <a:pt x="100409" y="43957"/>
                      </a:cubicBezTo>
                    </a:path>
                  </a:pathLst>
                </a:custGeom>
                <a:noFill/>
                <a:ln w="15716">
                  <a:solidFill>
                    <a:srgbClr val="8A1700"/>
                  </a:solidFill>
                </a:ln>
              </p:spPr>
            </p:sp>
          </p:grpSp>
          <p:sp>
            <p:nvSpPr>
              <p:cNvPr id="237" name="Ellipse 237"/>
              <p:cNvSpPr/>
              <p:nvPr/>
            </p:nvSpPr>
            <p:spPr>
              <a:xfrm>
                <a:off x="6124575" y="3495675"/>
                <a:ext cx="247650" cy="247650"/>
              </a:xfrm>
              <a:prstGeom prst="ellipse">
                <a:avLst/>
              </a:prstGeom>
              <a:solidFill>
                <a:srgbClr val="8A1700"/>
              </a:solidFill>
              <a:ln>
                <a:noFill/>
              </a:ln>
            </p:spPr>
          </p:sp>
          <p:sp>
            <p:nvSpPr>
              <p:cNvPr id="238" name="TextBox 238"/>
              <p:cNvSpPr txBox="1"/>
              <p:nvPr/>
            </p:nvSpPr>
            <p:spPr>
              <a:xfrm>
                <a:off x="6173669" y="356997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4​</a:t>
                </a:r>
              </a:p>
            </p:txBody>
          </p:sp>
          <p:sp>
            <p:nvSpPr>
              <p:cNvPr id="239" name="TextBox 239"/>
              <p:cNvSpPr txBox="1"/>
              <p:nvPr/>
            </p:nvSpPr>
            <p:spPr>
              <a:xfrm>
                <a:off x="6490716" y="3553778"/>
                <a:ext cx="576072"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权益匹配</a:t>
                </a:r>
              </a:p>
            </p:txBody>
          </p:sp>
        </p:grpSp>
        <p:sp>
          <p:nvSpPr>
            <p:cNvPr id="241" name="TextBox 241"/>
            <p:cNvSpPr txBox="1"/>
            <p:nvPr/>
          </p:nvSpPr>
          <p:spPr>
            <a:xfrm>
              <a:off x="6732862" y="3876199"/>
              <a:ext cx="155026" cy="190690"/>
            </a:xfrm>
            <a:prstGeom prst="rect">
              <a:avLst/>
            </a:prstGeom>
            <a:noFill/>
            <a:ln>
              <a:noFill/>
            </a:ln>
          </p:spPr>
          <p:txBody>
            <a:bodyPr wrap="none" lIns="0" tIns="0" rIns="0" bIns="0" anchor="t" anchorCtr="0">
              <a:spAutoFit/>
            </a:bodyPr>
            <a:lstStyle/>
            <a:p>
              <a:pPr algn="ctr"/>
              <a:r>
                <a:rPr lang="zh-CN" sz="980" dirty="0">
                  <a:solidFill>
                    <a:srgbClr val="E84E2F"/>
                  </a:solidFill>
                  <a:latin typeface="+mn-lt"/>
                  <a:ea typeface="+mn-ea"/>
                  <a:cs typeface="+mn-cs"/>
                </a:rPr>
                <a:t>↓​</a:t>
              </a:r>
            </a:p>
          </p:txBody>
        </p:sp>
        <p:grpSp>
          <p:nvGrpSpPr>
            <p:cNvPr id="249" name="prio-5"/>
            <p:cNvGrpSpPr/>
            <p:nvPr/>
          </p:nvGrpSpPr>
          <p:grpSpPr>
            <a:xfrm>
              <a:off x="5695950" y="4000500"/>
              <a:ext cx="2228850" cy="419100"/>
              <a:chOff x="5695950" y="4000500"/>
              <a:chExt cx="2228850" cy="419100"/>
            </a:xfrm>
          </p:grpSpPr>
          <p:sp>
            <p:nvSpPr>
              <p:cNvPr id="242" name="Rectangle 242"/>
              <p:cNvSpPr/>
              <p:nvPr/>
            </p:nvSpPr>
            <p:spPr>
              <a:xfrm>
                <a:off x="5695950" y="4000500"/>
                <a:ext cx="2228850" cy="419100"/>
              </a:xfrm>
              <a:prstGeom prst="roundRect">
                <a:avLst>
                  <a:gd name="adj" fmla="val 13636"/>
                </a:avLst>
              </a:prstGeom>
              <a:solidFill>
                <a:srgbClr val="FFFFFF"/>
              </a:solidFill>
              <a:ln w="9525">
                <a:solidFill>
                  <a:srgbClr val="C9D5EA"/>
                </a:solidFill>
              </a:ln>
            </p:spPr>
          </p:sp>
          <p:grpSp>
            <p:nvGrpSpPr>
              <p:cNvPr id="245" name="Group 245"/>
              <p:cNvGrpSpPr/>
              <p:nvPr/>
            </p:nvGrpSpPr>
            <p:grpSpPr>
              <a:xfrm>
                <a:off x="5817394" y="4166394"/>
                <a:ext cx="157163" cy="87313"/>
                <a:chOff x="5817394" y="4166394"/>
                <a:chExt cx="157163" cy="87313"/>
              </a:xfrm>
            </p:grpSpPr>
            <p:sp>
              <p:nvSpPr>
                <p:cNvPr id="243" name="Freeform 243"/>
                <p:cNvSpPr/>
                <p:nvPr/>
              </p:nvSpPr>
              <p:spPr>
                <a:xfrm>
                  <a:off x="5817394" y="4166394"/>
                  <a:ext cx="157163" cy="87313"/>
                </a:xfrm>
                <a:custGeom>
                  <a:avLst/>
                  <a:gdLst/>
                  <a:ahLst/>
                  <a:cxnLst/>
                  <a:rect l="l" t="t" r="r" b="b"/>
                  <a:pathLst>
                    <a:path w="157163" h="87313">
                      <a:moveTo>
                        <a:pt x="0" y="87313"/>
                      </a:moveTo>
                      <a:lnTo>
                        <a:pt x="52388" y="34925"/>
                      </a:lnTo>
                      <a:lnTo>
                        <a:pt x="87313" y="69850"/>
                      </a:lnTo>
                      <a:lnTo>
                        <a:pt x="157163" y="0"/>
                      </a:lnTo>
                    </a:path>
                  </a:pathLst>
                </a:custGeom>
                <a:noFill/>
                <a:ln w="15716">
                  <a:solidFill>
                    <a:srgbClr val="8A1700"/>
                  </a:solidFill>
                </a:ln>
              </p:spPr>
            </p:sp>
            <p:sp>
              <p:nvSpPr>
                <p:cNvPr id="244" name="Freeform 244"/>
                <p:cNvSpPr/>
                <p:nvPr/>
              </p:nvSpPr>
              <p:spPr>
                <a:xfrm>
                  <a:off x="5913438" y="4166394"/>
                  <a:ext cx="61119" cy="61119"/>
                </a:xfrm>
                <a:custGeom>
                  <a:avLst/>
                  <a:gdLst/>
                  <a:ahLst/>
                  <a:cxnLst/>
                  <a:rect l="l" t="t" r="r" b="b"/>
                  <a:pathLst>
                    <a:path w="61119" h="61119">
                      <a:moveTo>
                        <a:pt x="0" y="0"/>
                      </a:moveTo>
                      <a:lnTo>
                        <a:pt x="61119" y="0"/>
                      </a:lnTo>
                      <a:lnTo>
                        <a:pt x="61119" y="61119"/>
                      </a:lnTo>
                    </a:path>
                  </a:pathLst>
                </a:custGeom>
                <a:noFill/>
                <a:ln w="15716">
                  <a:solidFill>
                    <a:srgbClr val="8A1700"/>
                  </a:solidFill>
                </a:ln>
              </p:spPr>
            </p:sp>
          </p:grpSp>
          <p:sp>
            <p:nvSpPr>
              <p:cNvPr id="246" name="Ellipse 246"/>
              <p:cNvSpPr/>
              <p:nvPr/>
            </p:nvSpPr>
            <p:spPr>
              <a:xfrm>
                <a:off x="6124575" y="4086225"/>
                <a:ext cx="247650" cy="247650"/>
              </a:xfrm>
              <a:prstGeom prst="ellipse">
                <a:avLst/>
              </a:prstGeom>
              <a:solidFill>
                <a:srgbClr val="8A1700"/>
              </a:solidFill>
              <a:ln>
                <a:noFill/>
              </a:ln>
            </p:spPr>
          </p:sp>
          <p:sp>
            <p:nvSpPr>
              <p:cNvPr id="247" name="TextBox 247"/>
              <p:cNvSpPr txBox="1"/>
              <p:nvPr/>
            </p:nvSpPr>
            <p:spPr>
              <a:xfrm>
                <a:off x="6173669" y="41605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5​</a:t>
                </a:r>
              </a:p>
            </p:txBody>
          </p:sp>
          <p:sp>
            <p:nvSpPr>
              <p:cNvPr id="248" name="TextBox 248"/>
              <p:cNvSpPr txBox="1"/>
              <p:nvPr/>
            </p:nvSpPr>
            <p:spPr>
              <a:xfrm>
                <a:off x="6490716" y="4144328"/>
                <a:ext cx="576072" cy="205359"/>
              </a:xfrm>
              <a:prstGeom prst="rect">
                <a:avLst/>
              </a:prstGeom>
              <a:noFill/>
              <a:ln>
                <a:noFill/>
              </a:ln>
            </p:spPr>
            <p:txBody>
              <a:bodyPr wrap="none" lIns="0" tIns="0" rIns="0" bIns="0" anchor="t" anchorCtr="0">
                <a:spAutoFit/>
              </a:bodyPr>
              <a:lstStyle/>
              <a:p>
                <a:pPr algn="l"/>
                <a:r>
                  <a:rPr lang="zh-CN" sz="1050" b="1" dirty="0">
                    <a:solidFill>
                      <a:srgbClr val="520E00"/>
                    </a:solidFill>
                    <a:latin typeface="+mn-lt"/>
                    <a:ea typeface="+mn-ea"/>
                    <a:cs typeface="+mn-cs"/>
                  </a:rPr>
                  <a:t>业务转化</a:t>
                </a:r>
              </a:p>
            </p:txBody>
          </p:sp>
        </p:grpSp>
      </p:grpSp>
      <p:grpSp>
        <p:nvGrpSpPr>
          <p:cNvPr id="292" name="loop-diagram"/>
          <p:cNvGrpSpPr/>
          <p:nvPr/>
        </p:nvGrpSpPr>
        <p:grpSpPr>
          <a:xfrm>
            <a:off x="8286750" y="1562100"/>
            <a:ext cx="3676650" cy="3028950"/>
            <a:chOff x="8286750" y="1562100"/>
            <a:chExt cx="3676650" cy="3028950"/>
          </a:xfrm>
        </p:grpSpPr>
        <p:sp>
          <p:nvSpPr>
            <p:cNvPr id="251" name="Rectangle 251"/>
            <p:cNvSpPr/>
            <p:nvPr/>
          </p:nvSpPr>
          <p:spPr>
            <a:xfrm>
              <a:off x="8286750" y="1562100"/>
              <a:ext cx="3676650" cy="3028950"/>
            </a:xfrm>
            <a:prstGeom prst="roundRect">
              <a:avLst>
                <a:gd name="adj" fmla="val 1887"/>
              </a:avLst>
            </a:prstGeom>
            <a:solidFill>
              <a:srgbClr val="F5F8FE"/>
            </a:solidFill>
            <a:ln w="9525">
              <a:solidFill>
                <a:srgbClr val="C9D5EA"/>
              </a:solidFill>
            </a:ln>
          </p:spPr>
        </p:sp>
        <p:sp>
          <p:nvSpPr>
            <p:cNvPr id="252" name="Ellipse 252"/>
            <p:cNvSpPr/>
            <p:nvPr/>
          </p:nvSpPr>
          <p:spPr>
            <a:xfrm>
              <a:off x="9753600" y="2057400"/>
              <a:ext cx="1257300" cy="1257300"/>
            </a:xfrm>
            <a:prstGeom prst="ellipse">
              <a:avLst/>
            </a:prstGeom>
            <a:noFill/>
            <a:ln w="11430">
              <a:solidFill>
                <a:srgbClr val="E84E2F"/>
              </a:solidFill>
              <a:custDash>
                <a:ds d="333333" sp="250000"/>
              </a:custDash>
            </a:ln>
          </p:spPr>
        </p:sp>
        <p:sp>
          <p:nvSpPr>
            <p:cNvPr id="253" name="Freeform 253"/>
            <p:cNvSpPr/>
            <p:nvPr/>
          </p:nvSpPr>
          <p:spPr>
            <a:xfrm>
              <a:off x="10610850" y="2171700"/>
              <a:ext cx="461597" cy="800100"/>
            </a:xfrm>
            <a:custGeom>
              <a:avLst/>
              <a:gdLst/>
              <a:ahLst/>
              <a:cxnLst/>
              <a:rect l="l" t="t" r="r" b="b"/>
              <a:pathLst>
                <a:path w="461597" h="800100">
                  <a:moveTo>
                    <a:pt x="0" y="0"/>
                  </a:moveTo>
                  <a:cubicBezTo>
                    <a:pt x="310325" y="131633"/>
                    <a:pt x="461597" y="484600"/>
                    <a:pt x="342900" y="800100"/>
                  </a:cubicBezTo>
                </a:path>
              </a:pathLst>
            </a:custGeom>
            <a:noFill/>
            <a:ln w="17145">
              <a:solidFill>
                <a:srgbClr val="8A1700"/>
              </a:solidFill>
              <a:tailEnd type="triangle" w="lg" len="lg"/>
            </a:ln>
          </p:spPr>
        </p:sp>
        <p:sp>
          <p:nvSpPr>
            <p:cNvPr id="254" name="Freeform 254"/>
            <p:cNvSpPr/>
            <p:nvPr/>
          </p:nvSpPr>
          <p:spPr>
            <a:xfrm>
              <a:off x="10077450" y="3257550"/>
              <a:ext cx="609600" cy="105112"/>
            </a:xfrm>
            <a:custGeom>
              <a:avLst/>
              <a:gdLst/>
              <a:ahLst/>
              <a:cxnLst/>
              <a:rect l="l" t="t" r="r" b="b"/>
              <a:pathLst>
                <a:path w="609600" h="105112">
                  <a:moveTo>
                    <a:pt x="609600" y="0"/>
                  </a:moveTo>
                  <a:cubicBezTo>
                    <a:pt x="419993" y="105112"/>
                    <a:pt x="189607" y="105112"/>
                    <a:pt x="0" y="0"/>
                  </a:cubicBezTo>
                </a:path>
              </a:pathLst>
            </a:custGeom>
            <a:noFill/>
            <a:ln w="17145">
              <a:solidFill>
                <a:srgbClr val="8A1700"/>
              </a:solidFill>
              <a:tailEnd type="triangle" w="lg" len="lg"/>
            </a:ln>
          </p:spPr>
        </p:sp>
        <p:sp>
          <p:nvSpPr>
            <p:cNvPr id="255" name="Freeform 255"/>
            <p:cNvSpPr/>
            <p:nvPr/>
          </p:nvSpPr>
          <p:spPr>
            <a:xfrm>
              <a:off x="9692053" y="2171700"/>
              <a:ext cx="461597" cy="800100"/>
            </a:xfrm>
            <a:custGeom>
              <a:avLst/>
              <a:gdLst/>
              <a:ahLst/>
              <a:cxnLst/>
              <a:rect l="l" t="t" r="r" b="b"/>
              <a:pathLst>
                <a:path w="461597" h="800100">
                  <a:moveTo>
                    <a:pt x="118697" y="800100"/>
                  </a:moveTo>
                  <a:cubicBezTo>
                    <a:pt x="0" y="484600"/>
                    <a:pt x="151272" y="131633"/>
                    <a:pt x="461597" y="0"/>
                  </a:cubicBezTo>
                </a:path>
              </a:pathLst>
            </a:custGeom>
            <a:noFill/>
            <a:ln w="17145">
              <a:solidFill>
                <a:srgbClr val="8A1700"/>
              </a:solidFill>
              <a:tailEnd type="triangle" w="lg" len="lg"/>
            </a:ln>
          </p:spPr>
        </p:sp>
        <p:grpSp>
          <p:nvGrpSpPr>
            <p:cNvPr id="261" name="loop-node-monitor"/>
            <p:cNvGrpSpPr/>
            <p:nvPr/>
          </p:nvGrpSpPr>
          <p:grpSpPr>
            <a:xfrm>
              <a:off x="10042957" y="1713786"/>
              <a:ext cx="678586" cy="591264"/>
              <a:chOff x="10042957" y="1713786"/>
              <a:chExt cx="678586" cy="591264"/>
            </a:xfrm>
          </p:grpSpPr>
          <p:sp>
            <p:nvSpPr>
              <p:cNvPr id="256" name="Ellipse 256"/>
              <p:cNvSpPr/>
              <p:nvPr/>
            </p:nvSpPr>
            <p:spPr>
              <a:xfrm>
                <a:off x="10134600" y="1809750"/>
                <a:ext cx="495300" cy="495300"/>
              </a:xfrm>
              <a:prstGeom prst="ellipse">
                <a:avLst/>
              </a:prstGeom>
              <a:solidFill>
                <a:srgbClr val="FFFFFF"/>
              </a:solidFill>
              <a:ln w="14288">
                <a:solidFill>
                  <a:srgbClr val="8A1700"/>
                </a:solidFill>
              </a:ln>
            </p:spPr>
          </p:sp>
          <p:grpSp>
            <p:nvGrpSpPr>
              <p:cNvPr id="259" name="Group 259"/>
              <p:cNvGrpSpPr/>
              <p:nvPr/>
            </p:nvGrpSpPr>
            <p:grpSpPr>
              <a:xfrm>
                <a:off x="10299700" y="1995487"/>
                <a:ext cx="165099" cy="143669"/>
                <a:chOff x="10299700" y="1995487"/>
                <a:chExt cx="165099" cy="143669"/>
              </a:xfrm>
            </p:grpSpPr>
            <p:sp>
              <p:nvSpPr>
                <p:cNvPr id="257" name="Freeform 257"/>
                <p:cNvSpPr/>
                <p:nvPr/>
              </p:nvSpPr>
              <p:spPr>
                <a:xfrm>
                  <a:off x="10299700" y="2129631"/>
                  <a:ext cx="165099" cy="9525"/>
                </a:xfrm>
                <a:custGeom>
                  <a:avLst/>
                  <a:gdLst/>
                  <a:ahLst/>
                  <a:cxnLst/>
                  <a:rect l="l" t="t" r="r" b="b"/>
                  <a:pathLst>
                    <a:path w="165099" h="9525">
                      <a:moveTo>
                        <a:pt x="0" y="0"/>
                      </a:moveTo>
                      <a:lnTo>
                        <a:pt x="165099" y="0"/>
                      </a:lnTo>
                    </a:path>
                  </a:pathLst>
                </a:custGeom>
                <a:noFill/>
                <a:ln w="15478">
                  <a:solidFill>
                    <a:srgbClr val="8A1700"/>
                  </a:solidFill>
                </a:ln>
              </p:spPr>
            </p:sp>
            <p:sp>
              <p:nvSpPr>
                <p:cNvPr id="258" name="Freeform 258"/>
                <p:cNvSpPr/>
                <p:nvPr/>
              </p:nvSpPr>
              <p:spPr>
                <a:xfrm>
                  <a:off x="10299700" y="1995487"/>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15478">
                  <a:solidFill>
                    <a:srgbClr val="8A1700"/>
                  </a:solidFill>
                </a:ln>
              </p:spPr>
            </p:sp>
          </p:grpSp>
          <p:sp>
            <p:nvSpPr>
              <p:cNvPr id="260" name="TextBox 260"/>
              <p:cNvSpPr txBox="1"/>
              <p:nvPr/>
            </p:nvSpPr>
            <p:spPr>
              <a:xfrm>
                <a:off x="10042957" y="1713786"/>
                <a:ext cx="678586"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效果监控与评估</a:t>
                </a:r>
              </a:p>
            </p:txBody>
          </p:sp>
        </p:grpSp>
        <p:grpSp>
          <p:nvGrpSpPr>
            <p:cNvPr id="268" name="loop-node-data"/>
            <p:cNvGrpSpPr/>
            <p:nvPr/>
          </p:nvGrpSpPr>
          <p:grpSpPr>
            <a:xfrm>
              <a:off x="10687050" y="2895600"/>
              <a:ext cx="936943" cy="495300"/>
              <a:chOff x="10687050" y="2895600"/>
              <a:chExt cx="936943" cy="495300"/>
            </a:xfrm>
          </p:grpSpPr>
          <p:sp>
            <p:nvSpPr>
              <p:cNvPr id="262" name="Ellipse 262"/>
              <p:cNvSpPr/>
              <p:nvPr/>
            </p:nvSpPr>
            <p:spPr>
              <a:xfrm>
                <a:off x="10687050" y="2895600"/>
                <a:ext cx="495300" cy="495300"/>
              </a:xfrm>
              <a:prstGeom prst="ellipse">
                <a:avLst/>
              </a:prstGeom>
              <a:solidFill>
                <a:srgbClr val="FFFFFF"/>
              </a:solidFill>
              <a:ln w="14288">
                <a:solidFill>
                  <a:srgbClr val="8A1700"/>
                </a:solidFill>
              </a:ln>
            </p:spPr>
          </p:sp>
          <p:grpSp>
            <p:nvGrpSpPr>
              <p:cNvPr id="266" name="Group 266"/>
              <p:cNvGrpSpPr/>
              <p:nvPr/>
            </p:nvGrpSpPr>
            <p:grpSpPr>
              <a:xfrm>
                <a:off x="10852150" y="3050381"/>
                <a:ext cx="165099" cy="185737"/>
                <a:chOff x="10852150" y="3050381"/>
                <a:chExt cx="165099" cy="185737"/>
              </a:xfrm>
            </p:grpSpPr>
            <p:sp>
              <p:nvSpPr>
                <p:cNvPr id="263" name="Freeform 263"/>
                <p:cNvSpPr/>
                <p:nvPr/>
              </p:nvSpPr>
              <p:spPr>
                <a:xfrm>
                  <a:off x="10852150" y="3050381"/>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15478">
                  <a:solidFill>
                    <a:srgbClr val="8A1700"/>
                  </a:solidFill>
                </a:ln>
              </p:spPr>
            </p:sp>
            <p:sp>
              <p:nvSpPr>
                <p:cNvPr id="264" name="Freeform 264"/>
                <p:cNvSpPr/>
                <p:nvPr/>
              </p:nvSpPr>
              <p:spPr>
                <a:xfrm>
                  <a:off x="10852150" y="3081337"/>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15478">
                  <a:solidFill>
                    <a:srgbClr val="8A1700"/>
                  </a:solidFill>
                </a:ln>
              </p:spPr>
            </p:sp>
            <p:sp>
              <p:nvSpPr>
                <p:cNvPr id="265" name="Freeform 265"/>
                <p:cNvSpPr/>
                <p:nvPr/>
              </p:nvSpPr>
              <p:spPr>
                <a:xfrm>
                  <a:off x="10852150" y="3143250"/>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15478">
                  <a:solidFill>
                    <a:srgbClr val="8A1700"/>
                  </a:solidFill>
                </a:ln>
              </p:spPr>
            </p:sp>
          </p:grpSp>
          <p:sp>
            <p:nvSpPr>
              <p:cNvPr id="267" name="TextBox 267"/>
              <p:cNvSpPr txBox="1"/>
              <p:nvPr/>
            </p:nvSpPr>
            <p:spPr>
              <a:xfrm>
                <a:off x="11253788" y="3028236"/>
                <a:ext cx="370205" cy="264319"/>
              </a:xfrm>
              <a:prstGeom prst="rect">
                <a:avLst/>
              </a:prstGeom>
              <a:noFill/>
              <a:ln>
                <a:noFill/>
              </a:ln>
            </p:spPr>
            <p:txBody>
              <a:bodyPr wrap="none" lIns="0" tIns="0" rIns="0" bIns="0" anchor="t" anchorCtr="0">
                <a:spAutoFit/>
              </a:bodyPr>
              <a:lstStyle/>
              <a:p>
                <a:pPr algn="l">
                  <a:lnSpc>
                    <a:spcPts val="975"/>
                  </a:lnSpc>
                </a:pPr>
                <a:r>
                  <a:rPr lang="zh-CN" sz="710" b="1" dirty="0">
                    <a:solidFill>
                      <a:srgbClr val="520E00"/>
                    </a:solidFill>
                    <a:latin typeface="+mn-lt"/>
                    <a:ea typeface="+mn-ea"/>
                    <a:cs typeface="+mn-cs"/>
                  </a:rPr>
                  <a:t>数据回流</a:t>
                </a:r>
                <a:br/>
                <a:r>
                  <a:rPr lang="zh-CN" sz="710" b="1" dirty="0">
                    <a:solidFill>
                      <a:srgbClr val="520E00"/>
                    </a:solidFill>
                    <a:latin typeface="+mn-lt"/>
                    <a:ea typeface="+mn-ea"/>
                    <a:cs typeface="+mn-cs"/>
                  </a:rPr>
                  <a:t>与学习</a:t>
                </a:r>
              </a:p>
            </p:txBody>
          </p:sp>
        </p:grpSp>
        <p:grpSp>
          <p:nvGrpSpPr>
            <p:cNvPr id="274" name="loop-node-optimize"/>
            <p:cNvGrpSpPr/>
            <p:nvPr/>
          </p:nvGrpSpPr>
          <p:grpSpPr>
            <a:xfrm>
              <a:off x="9490507" y="2895600"/>
              <a:ext cx="678586" cy="749380"/>
              <a:chOff x="9490507" y="2895600"/>
              <a:chExt cx="678586" cy="749380"/>
            </a:xfrm>
          </p:grpSpPr>
          <p:sp>
            <p:nvSpPr>
              <p:cNvPr id="269" name="Ellipse 269"/>
              <p:cNvSpPr/>
              <p:nvPr/>
            </p:nvSpPr>
            <p:spPr>
              <a:xfrm>
                <a:off x="9582150" y="2895600"/>
                <a:ext cx="495300" cy="495300"/>
              </a:xfrm>
              <a:prstGeom prst="ellipse">
                <a:avLst/>
              </a:prstGeom>
              <a:solidFill>
                <a:srgbClr val="FFFFFF"/>
              </a:solidFill>
              <a:ln w="14288">
                <a:solidFill>
                  <a:srgbClr val="8A1700"/>
                </a:solidFill>
              </a:ln>
            </p:spPr>
          </p:sp>
          <p:grpSp>
            <p:nvGrpSpPr>
              <p:cNvPr id="272" name="Group 272"/>
              <p:cNvGrpSpPr/>
              <p:nvPr/>
            </p:nvGrpSpPr>
            <p:grpSpPr>
              <a:xfrm>
                <a:off x="9732401" y="3045851"/>
                <a:ext cx="194797" cy="194797"/>
                <a:chOff x="9732401" y="3045851"/>
                <a:chExt cx="194797" cy="194797"/>
              </a:xfrm>
            </p:grpSpPr>
            <p:sp>
              <p:nvSpPr>
                <p:cNvPr id="270" name="Freeform 270"/>
                <p:cNvSpPr/>
                <p:nvPr/>
              </p:nvSpPr>
              <p:spPr>
                <a:xfrm>
                  <a:off x="9732401" y="3045851"/>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15478">
                  <a:solidFill>
                    <a:srgbClr val="8A1700"/>
                  </a:solidFill>
                </a:ln>
              </p:spPr>
            </p:sp>
            <p:sp>
              <p:nvSpPr>
                <p:cNvPr id="271" name="Freeform 271"/>
                <p:cNvSpPr/>
                <p:nvPr/>
              </p:nvSpPr>
              <p:spPr>
                <a:xfrm>
                  <a:off x="9798843" y="3112293"/>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15478">
                  <a:solidFill>
                    <a:srgbClr val="8A1700"/>
                  </a:solidFill>
                </a:ln>
              </p:spPr>
            </p:sp>
          </p:grpSp>
          <p:sp>
            <p:nvSpPr>
              <p:cNvPr id="273" name="TextBox 273"/>
              <p:cNvSpPr txBox="1"/>
              <p:nvPr/>
            </p:nvSpPr>
            <p:spPr>
              <a:xfrm>
                <a:off x="9490507" y="3504486"/>
                <a:ext cx="678586" cy="140494"/>
              </a:xfrm>
              <a:prstGeom prst="rect">
                <a:avLst/>
              </a:prstGeom>
              <a:noFill/>
              <a:ln>
                <a:noFill/>
              </a:ln>
            </p:spPr>
            <p:txBody>
              <a:bodyPr wrap="none" lIns="0" tIns="0" rIns="0" bIns="0" anchor="t" anchorCtr="0">
                <a:spAutoFit/>
              </a:bodyPr>
              <a:lstStyle/>
              <a:p>
                <a:pPr algn="ctr"/>
                <a:r>
                  <a:rPr lang="zh-CN" sz="710" b="1" dirty="0">
                    <a:solidFill>
                      <a:srgbClr val="520E00"/>
                    </a:solidFill>
                    <a:latin typeface="+mn-lt"/>
                    <a:ea typeface="+mn-ea"/>
                    <a:cs typeface="+mn-cs"/>
                  </a:rPr>
                  <a:t>策略优化与迭代</a:t>
                </a:r>
              </a:p>
            </p:txBody>
          </p:sp>
        </p:grpSp>
        <p:sp>
          <p:nvSpPr>
            <p:cNvPr id="275" name="Line 275"/>
            <p:cNvSpPr/>
            <p:nvPr/>
          </p:nvSpPr>
          <p:spPr>
            <a:xfrm>
              <a:off x="9258300" y="2686050"/>
              <a:ext cx="266700" cy="9525"/>
            </a:xfrm>
            <a:custGeom>
              <a:avLst/>
              <a:gdLst/>
              <a:ahLst/>
              <a:cxnLst/>
              <a:rect l="l" t="t" r="r" b="b"/>
              <a:pathLst>
                <a:path w="266700" h="9525">
                  <a:moveTo>
                    <a:pt x="266700" y="0"/>
                  </a:moveTo>
                  <a:lnTo>
                    <a:pt x="0" y="0"/>
                  </a:lnTo>
                </a:path>
              </a:pathLst>
            </a:custGeom>
            <a:noFill/>
            <a:ln w="14288">
              <a:solidFill>
                <a:srgbClr val="C02C0A"/>
              </a:solidFill>
              <a:custDash>
                <a:ds d="200000" sp="200000"/>
              </a:custDash>
            </a:ln>
          </p:spPr>
        </p:sp>
        <p:grpSp>
          <p:nvGrpSpPr>
            <p:cNvPr id="282" name="loop-exception"/>
            <p:cNvGrpSpPr/>
            <p:nvPr/>
          </p:nvGrpSpPr>
          <p:grpSpPr>
            <a:xfrm>
              <a:off x="8458200" y="2286000"/>
              <a:ext cx="800100" cy="800100"/>
              <a:chOff x="8458200" y="2286000"/>
              <a:chExt cx="800100" cy="800100"/>
            </a:xfrm>
          </p:grpSpPr>
          <p:sp>
            <p:nvSpPr>
              <p:cNvPr id="276" name="Ellipse 276"/>
              <p:cNvSpPr/>
              <p:nvPr/>
            </p:nvSpPr>
            <p:spPr>
              <a:xfrm>
                <a:off x="8458200" y="2286000"/>
                <a:ext cx="800100" cy="800100"/>
              </a:xfrm>
              <a:prstGeom prst="ellipse">
                <a:avLst/>
              </a:prstGeom>
              <a:solidFill>
                <a:srgbClr val="C02C0A"/>
              </a:solidFill>
              <a:ln>
                <a:noFill/>
              </a:ln>
            </p:spPr>
          </p:sp>
          <p:grpSp>
            <p:nvGrpSpPr>
              <p:cNvPr id="280" name="Group 280"/>
              <p:cNvGrpSpPr/>
              <p:nvPr/>
            </p:nvGrpSpPr>
            <p:grpSpPr>
              <a:xfrm>
                <a:off x="8770194" y="2442643"/>
                <a:ext cx="176105" cy="151297"/>
                <a:chOff x="8770194" y="2442643"/>
                <a:chExt cx="176105" cy="151297"/>
              </a:xfrm>
            </p:grpSpPr>
            <p:sp>
              <p:nvSpPr>
                <p:cNvPr id="277" name="Freeform 277"/>
                <p:cNvSpPr/>
                <p:nvPr/>
              </p:nvSpPr>
              <p:spPr>
                <a:xfrm>
                  <a:off x="8858250" y="2497931"/>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278" name="Freeform 278"/>
                <p:cNvSpPr/>
                <p:nvPr/>
              </p:nvSpPr>
              <p:spPr>
                <a:xfrm>
                  <a:off x="8770194" y="2442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FFFFFF"/>
                  </a:solidFill>
                </a:ln>
              </p:spPr>
            </p:sp>
            <p:sp>
              <p:nvSpPr>
                <p:cNvPr id="279" name="Freeform 279"/>
                <p:cNvSpPr/>
                <p:nvPr/>
              </p:nvSpPr>
              <p:spPr>
                <a:xfrm>
                  <a:off x="8858250" y="2559050"/>
                  <a:ext cx="9525" cy="9525"/>
                </a:xfrm>
                <a:custGeom>
                  <a:avLst/>
                  <a:gdLst/>
                  <a:ahLst/>
                  <a:cxnLst/>
                  <a:rect l="l" t="t" r="r" b="b"/>
                  <a:pathLst>
                    <a:path w="9525" h="9525">
                      <a:moveTo>
                        <a:pt x="0" y="0"/>
                      </a:moveTo>
                      <a:lnTo>
                        <a:pt x="87" y="0"/>
                      </a:lnTo>
                    </a:path>
                  </a:pathLst>
                </a:custGeom>
                <a:noFill/>
                <a:ln w="17463">
                  <a:solidFill>
                    <a:srgbClr val="FFFFFF"/>
                  </a:solidFill>
                </a:ln>
              </p:spPr>
            </p:sp>
          </p:grpSp>
          <p:sp>
            <p:nvSpPr>
              <p:cNvPr id="281" name="TextBox 281"/>
              <p:cNvSpPr txBox="1"/>
              <p:nvPr/>
            </p:nvSpPr>
            <p:spPr>
              <a:xfrm>
                <a:off x="8628062" y="2685336"/>
                <a:ext cx="460375" cy="264319"/>
              </a:xfrm>
              <a:prstGeom prst="rect">
                <a:avLst/>
              </a:prstGeom>
              <a:noFill/>
              <a:ln>
                <a:noFill/>
              </a:ln>
            </p:spPr>
            <p:txBody>
              <a:bodyPr wrap="none" lIns="0" tIns="0" rIns="0" bIns="0" anchor="t" anchorCtr="0">
                <a:spAutoFit/>
              </a:bodyPr>
              <a:lstStyle/>
              <a:p>
                <a:pPr algn="ctr">
                  <a:lnSpc>
                    <a:spcPts val="975"/>
                  </a:lnSpc>
                </a:pPr>
                <a:r>
                  <a:rPr lang="zh-CN" sz="710" b="1" dirty="0">
                    <a:solidFill>
                      <a:srgbClr val="FFFFFF"/>
                    </a:solidFill>
                    <a:latin typeface="+mn-lt"/>
                    <a:ea typeface="+mn-ea"/>
                    <a:cs typeface="+mn-cs"/>
                  </a:rPr>
                  <a:t>异常识别</a:t>
                </a:r>
                <a:br/>
                <a:r>
                  <a:rPr lang="zh-CN" sz="710" b="1" dirty="0">
                    <a:solidFill>
                      <a:srgbClr val="FFFFFF"/>
                    </a:solidFill>
                    <a:latin typeface="+mn-lt"/>
                    <a:ea typeface="+mn-ea"/>
                    <a:cs typeface="+mn-cs"/>
                  </a:rPr>
                  <a:t>自动转人工</a:t>
                </a:r>
              </a:p>
            </p:txBody>
          </p:sp>
        </p:grpSp>
        <p:grpSp>
          <p:nvGrpSpPr>
            <p:cNvPr id="291" name="loop-manual"/>
            <p:cNvGrpSpPr/>
            <p:nvPr/>
          </p:nvGrpSpPr>
          <p:grpSpPr>
            <a:xfrm>
              <a:off x="8401050" y="3848100"/>
              <a:ext cx="3448050" cy="628650"/>
              <a:chOff x="8401050" y="3848100"/>
              <a:chExt cx="3448050" cy="628650"/>
            </a:xfrm>
          </p:grpSpPr>
          <p:sp>
            <p:nvSpPr>
              <p:cNvPr id="283" name="Rectangle 283"/>
              <p:cNvSpPr/>
              <p:nvPr/>
            </p:nvSpPr>
            <p:spPr>
              <a:xfrm>
                <a:off x="8401050" y="3848100"/>
                <a:ext cx="3448050" cy="628650"/>
              </a:xfrm>
              <a:prstGeom prst="roundRect">
                <a:avLst>
                  <a:gd name="adj" fmla="val 9091"/>
                </a:avLst>
              </a:prstGeom>
              <a:solidFill>
                <a:srgbClr val="FFFFFF"/>
              </a:solidFill>
              <a:ln w="11430">
                <a:solidFill>
                  <a:srgbClr val="C02C0A"/>
                </a:solidFill>
                <a:custDash>
                  <a:ds d="333333" sp="250000"/>
                </a:custDash>
              </a:ln>
            </p:spPr>
          </p:sp>
          <p:grpSp>
            <p:nvGrpSpPr>
              <p:cNvPr id="288" name="Group 288"/>
              <p:cNvGrpSpPr/>
              <p:nvPr/>
            </p:nvGrpSpPr>
            <p:grpSpPr>
              <a:xfrm>
                <a:off x="8566150" y="4048125"/>
                <a:ext cx="203200" cy="241299"/>
                <a:chOff x="8566150" y="4048125"/>
                <a:chExt cx="203200" cy="241299"/>
              </a:xfrm>
            </p:grpSpPr>
            <p:sp>
              <p:nvSpPr>
                <p:cNvPr id="284" name="Freeform 284"/>
                <p:cNvSpPr/>
                <p:nvPr/>
              </p:nvSpPr>
              <p:spPr>
                <a:xfrm>
                  <a:off x="8566150" y="4048125"/>
                  <a:ext cx="203199" cy="139700"/>
                </a:xfrm>
                <a:custGeom>
                  <a:avLst/>
                  <a:gdLst/>
                  <a:ahLst/>
                  <a:cxnLst/>
                  <a:rect l="l" t="t" r="r" b="b"/>
                  <a:pathLst>
                    <a:path w="203199" h="139700">
                      <a:moveTo>
                        <a:pt x="0" y="139700"/>
                      </a:moveTo>
                      <a:lnTo>
                        <a:pt x="0" y="101600"/>
                      </a:lnTo>
                      <a:cubicBezTo>
                        <a:pt x="0" y="45488"/>
                        <a:pt x="45488" y="0"/>
                        <a:pt x="101600" y="0"/>
                      </a:cubicBezTo>
                      <a:cubicBezTo>
                        <a:pt x="157712" y="0"/>
                        <a:pt x="203199" y="45488"/>
                        <a:pt x="203199" y="101600"/>
                      </a:cubicBezTo>
                      <a:lnTo>
                        <a:pt x="203199" y="139700"/>
                      </a:lnTo>
                    </a:path>
                  </a:pathLst>
                </a:custGeom>
                <a:noFill/>
                <a:ln w="19050">
                  <a:solidFill>
                    <a:srgbClr val="C02C0A"/>
                  </a:solidFill>
                </a:ln>
              </p:spPr>
            </p:sp>
            <p:sp>
              <p:nvSpPr>
                <p:cNvPr id="285" name="Freeform 285"/>
                <p:cNvSpPr/>
                <p:nvPr/>
              </p:nvSpPr>
              <p:spPr>
                <a:xfrm>
                  <a:off x="8667750" y="4251324"/>
                  <a:ext cx="76200" cy="38100"/>
                </a:xfrm>
                <a:custGeom>
                  <a:avLst/>
                  <a:gdLst/>
                  <a:ahLst/>
                  <a:cxnLst/>
                  <a:rect l="l" t="t" r="r" b="b"/>
                  <a:pathLst>
                    <a:path w="76200" h="38100">
                      <a:moveTo>
                        <a:pt x="76200" y="0"/>
                      </a:moveTo>
                      <a:cubicBezTo>
                        <a:pt x="76200" y="21044"/>
                        <a:pt x="42088" y="38100"/>
                        <a:pt x="0" y="38100"/>
                      </a:cubicBezTo>
                    </a:path>
                  </a:pathLst>
                </a:custGeom>
                <a:noFill/>
                <a:ln w="19050">
                  <a:solidFill>
                    <a:srgbClr val="C02C0A"/>
                  </a:solidFill>
                </a:ln>
              </p:spPr>
            </p:sp>
            <p:sp>
              <p:nvSpPr>
                <p:cNvPr id="286" name="Freeform 286"/>
                <p:cNvSpPr/>
                <p:nvPr/>
              </p:nvSpPr>
              <p:spPr>
                <a:xfrm>
                  <a:off x="8566150" y="4162425"/>
                  <a:ext cx="63500" cy="88900"/>
                </a:xfrm>
                <a:custGeom>
                  <a:avLst/>
                  <a:gdLst/>
                  <a:ahLst/>
                  <a:cxnLst/>
                  <a:rect l="l" t="t" r="r" b="b"/>
                  <a:pathLst>
                    <a:path w="63500" h="88900">
                      <a:moveTo>
                        <a:pt x="0" y="25400"/>
                      </a:moveTo>
                      <a:cubicBezTo>
                        <a:pt x="0" y="11372"/>
                        <a:pt x="11372" y="0"/>
                        <a:pt x="25400" y="0"/>
                      </a:cubicBezTo>
                      <a:lnTo>
                        <a:pt x="38100" y="0"/>
                      </a:lnTo>
                      <a:cubicBezTo>
                        <a:pt x="52128" y="0"/>
                        <a:pt x="63500" y="11372"/>
                        <a:pt x="63500" y="25400"/>
                      </a:cubicBezTo>
                      <a:lnTo>
                        <a:pt x="63500" y="63500"/>
                      </a:lnTo>
                      <a:cubicBezTo>
                        <a:pt x="63500" y="77528"/>
                        <a:pt x="52128" y="88900"/>
                        <a:pt x="38100" y="88900"/>
                      </a:cubicBezTo>
                      <a:lnTo>
                        <a:pt x="25400" y="88900"/>
                      </a:lnTo>
                      <a:cubicBezTo>
                        <a:pt x="11372" y="88900"/>
                        <a:pt x="0" y="77528"/>
                        <a:pt x="0" y="63500"/>
                      </a:cubicBezTo>
                      <a:lnTo>
                        <a:pt x="0" y="25400"/>
                      </a:lnTo>
                    </a:path>
                  </a:pathLst>
                </a:custGeom>
                <a:noFill/>
                <a:ln w="19050">
                  <a:solidFill>
                    <a:srgbClr val="C02C0A"/>
                  </a:solidFill>
                </a:ln>
              </p:spPr>
            </p:sp>
            <p:sp>
              <p:nvSpPr>
                <p:cNvPr id="287" name="Freeform 287"/>
                <p:cNvSpPr/>
                <p:nvPr/>
              </p:nvSpPr>
              <p:spPr>
                <a:xfrm>
                  <a:off x="8705850" y="4162425"/>
                  <a:ext cx="63500" cy="88900"/>
                </a:xfrm>
                <a:custGeom>
                  <a:avLst/>
                  <a:gdLst/>
                  <a:ahLst/>
                  <a:cxnLst/>
                  <a:rect l="l" t="t" r="r" b="b"/>
                  <a:pathLst>
                    <a:path w="63500" h="88900">
                      <a:moveTo>
                        <a:pt x="0" y="25400"/>
                      </a:moveTo>
                      <a:cubicBezTo>
                        <a:pt x="0" y="11372"/>
                        <a:pt x="11372" y="0"/>
                        <a:pt x="25400" y="0"/>
                      </a:cubicBezTo>
                      <a:lnTo>
                        <a:pt x="38100" y="0"/>
                      </a:lnTo>
                      <a:cubicBezTo>
                        <a:pt x="52128" y="0"/>
                        <a:pt x="63500" y="11372"/>
                        <a:pt x="63500" y="25400"/>
                      </a:cubicBezTo>
                      <a:lnTo>
                        <a:pt x="63500" y="63500"/>
                      </a:lnTo>
                      <a:cubicBezTo>
                        <a:pt x="63500" y="77528"/>
                        <a:pt x="52128" y="88900"/>
                        <a:pt x="38100" y="88900"/>
                      </a:cubicBezTo>
                      <a:lnTo>
                        <a:pt x="25400" y="88900"/>
                      </a:lnTo>
                      <a:cubicBezTo>
                        <a:pt x="11372" y="88900"/>
                        <a:pt x="0" y="77528"/>
                        <a:pt x="0" y="63500"/>
                      </a:cubicBezTo>
                      <a:lnTo>
                        <a:pt x="0" y="25400"/>
                      </a:lnTo>
                    </a:path>
                  </a:pathLst>
                </a:custGeom>
                <a:noFill/>
                <a:ln w="19050">
                  <a:solidFill>
                    <a:srgbClr val="C02C0A"/>
                  </a:solidFill>
                </a:ln>
              </p:spPr>
            </p:sp>
          </p:grpSp>
          <p:sp>
            <p:nvSpPr>
              <p:cNvPr id="289" name="TextBox 289"/>
              <p:cNvSpPr txBox="1"/>
              <p:nvPr/>
            </p:nvSpPr>
            <p:spPr>
              <a:xfrm>
                <a:off x="8948738" y="3960495"/>
                <a:ext cx="978789" cy="176212"/>
              </a:xfrm>
              <a:prstGeom prst="rect">
                <a:avLst/>
              </a:prstGeom>
              <a:noFill/>
              <a:ln>
                <a:noFill/>
              </a:ln>
            </p:spPr>
            <p:txBody>
              <a:bodyPr wrap="none" lIns="0" tIns="0" rIns="0" bIns="0" anchor="t" anchorCtr="0">
                <a:spAutoFit/>
              </a:bodyPr>
              <a:lstStyle/>
              <a:p>
                <a:pPr algn="l"/>
                <a:r>
                  <a:rPr lang="zh-CN" sz="900" b="1" dirty="0">
                    <a:solidFill>
                      <a:srgbClr val="C02C0A"/>
                    </a:solidFill>
                    <a:latin typeface="+mn-lt"/>
                    <a:ea typeface="+mn-ea"/>
                    <a:cs typeface="+mn-cs"/>
                  </a:rPr>
                  <a:t>人工接管与服务：</a:t>
                </a:r>
              </a:p>
            </p:txBody>
          </p:sp>
          <p:sp>
            <p:nvSpPr>
              <p:cNvPr id="290" name="TextBox 290"/>
              <p:cNvSpPr txBox="1"/>
              <p:nvPr/>
            </p:nvSpPr>
            <p:spPr>
              <a:xfrm>
                <a:off x="8948738" y="4148138"/>
                <a:ext cx="1152525"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60403A"/>
                    </a:solidFill>
                    <a:latin typeface="+mn-lt"/>
                    <a:ea typeface="+mn-ea"/>
                    <a:cs typeface="+mn-cs"/>
                  </a:rPr>
                  <a:t>专业坐席介入，妥善处理，</a:t>
                </a:r>
                <a:br/>
                <a:r>
                  <a:rPr lang="zh-CN" sz="750" dirty="0">
                    <a:solidFill>
                      <a:srgbClr val="60403A"/>
                    </a:solidFill>
                    <a:latin typeface="+mn-lt"/>
                    <a:ea typeface="+mn-ea"/>
                    <a:cs typeface="+mn-cs"/>
                  </a:rPr>
                  <a:t>完善记录，闭环跟进</a:t>
                </a:r>
              </a:p>
            </p:txBody>
          </p:sp>
        </p:grpSp>
      </p:grpSp>
      <p:grpSp>
        <p:nvGrpSpPr>
          <p:cNvPr id="324" name="value-cards"/>
          <p:cNvGrpSpPr/>
          <p:nvPr/>
        </p:nvGrpSpPr>
        <p:grpSpPr>
          <a:xfrm>
            <a:off x="228600" y="4705350"/>
            <a:ext cx="11734800" cy="1257300"/>
            <a:chOff x="228600" y="4705350"/>
            <a:chExt cx="11734800" cy="1257300"/>
          </a:xfrm>
        </p:grpSpPr>
        <p:sp>
          <p:nvSpPr>
            <p:cNvPr id="293" name="Rectangle 293"/>
            <p:cNvSpPr/>
            <p:nvPr/>
          </p:nvSpPr>
          <p:spPr>
            <a:xfrm>
              <a:off x="228600" y="4705350"/>
              <a:ext cx="11734800" cy="1257300"/>
            </a:xfrm>
            <a:prstGeom prst="roundRect">
              <a:avLst>
                <a:gd name="adj" fmla="val 6061"/>
              </a:avLst>
            </a:prstGeom>
            <a:solidFill>
              <a:srgbClr val="F5F8FE"/>
            </a:solidFill>
            <a:ln w="9525">
              <a:solidFill>
                <a:srgbClr val="C9D5EA"/>
              </a:solidFill>
            </a:ln>
          </p:spPr>
        </p:sp>
        <p:sp>
          <p:nvSpPr>
            <p:cNvPr id="294" name="Line 294"/>
            <p:cNvSpPr/>
            <p:nvPr/>
          </p:nvSpPr>
          <p:spPr>
            <a:xfrm>
              <a:off x="3162300" y="4857750"/>
              <a:ext cx="9525" cy="952500"/>
            </a:xfrm>
            <a:custGeom>
              <a:avLst/>
              <a:gdLst/>
              <a:ahLst/>
              <a:cxnLst/>
              <a:rect l="l" t="t" r="r" b="b"/>
              <a:pathLst>
                <a:path w="9525" h="952500">
                  <a:moveTo>
                    <a:pt x="0" y="0"/>
                  </a:moveTo>
                  <a:lnTo>
                    <a:pt x="0" y="952500"/>
                  </a:lnTo>
                </a:path>
              </a:pathLst>
            </a:custGeom>
            <a:noFill/>
            <a:ln w="9525">
              <a:solidFill>
                <a:srgbClr val="DCE6F5"/>
              </a:solidFill>
            </a:ln>
          </p:spPr>
        </p:sp>
        <p:sp>
          <p:nvSpPr>
            <p:cNvPr id="295" name="Line 295"/>
            <p:cNvSpPr/>
            <p:nvPr/>
          </p:nvSpPr>
          <p:spPr>
            <a:xfrm>
              <a:off x="6096000" y="4857750"/>
              <a:ext cx="9525" cy="952500"/>
            </a:xfrm>
            <a:custGeom>
              <a:avLst/>
              <a:gdLst/>
              <a:ahLst/>
              <a:cxnLst/>
              <a:rect l="l" t="t" r="r" b="b"/>
              <a:pathLst>
                <a:path w="9525" h="952500">
                  <a:moveTo>
                    <a:pt x="0" y="0"/>
                  </a:moveTo>
                  <a:lnTo>
                    <a:pt x="0" y="952500"/>
                  </a:lnTo>
                </a:path>
              </a:pathLst>
            </a:custGeom>
            <a:noFill/>
            <a:ln w="9525">
              <a:solidFill>
                <a:srgbClr val="DCE6F5"/>
              </a:solidFill>
            </a:ln>
          </p:spPr>
        </p:sp>
        <p:sp>
          <p:nvSpPr>
            <p:cNvPr id="296" name="Line 296"/>
            <p:cNvSpPr/>
            <p:nvPr/>
          </p:nvSpPr>
          <p:spPr>
            <a:xfrm>
              <a:off x="9029700" y="4857750"/>
              <a:ext cx="9525" cy="952500"/>
            </a:xfrm>
            <a:custGeom>
              <a:avLst/>
              <a:gdLst/>
              <a:ahLst/>
              <a:cxnLst/>
              <a:rect l="l" t="t" r="r" b="b"/>
              <a:pathLst>
                <a:path w="9525" h="952500">
                  <a:moveTo>
                    <a:pt x="0" y="0"/>
                  </a:moveTo>
                  <a:lnTo>
                    <a:pt x="0" y="952500"/>
                  </a:lnTo>
                </a:path>
              </a:pathLst>
            </a:custGeom>
            <a:noFill/>
            <a:ln w="9525">
              <a:solidFill>
                <a:srgbClr val="DCE6F5"/>
              </a:solidFill>
            </a:ln>
          </p:spPr>
        </p:sp>
        <p:grpSp>
          <p:nvGrpSpPr>
            <p:cNvPr id="304" name="value-precise"/>
            <p:cNvGrpSpPr/>
            <p:nvPr/>
          </p:nvGrpSpPr>
          <p:grpSpPr>
            <a:xfrm>
              <a:off x="457200" y="5029200"/>
              <a:ext cx="2485190" cy="609600"/>
              <a:chOff x="457200" y="5029200"/>
              <a:chExt cx="2485190" cy="609600"/>
            </a:xfrm>
          </p:grpSpPr>
          <p:sp>
            <p:nvSpPr>
              <p:cNvPr id="297" name="Ellipse 297"/>
              <p:cNvSpPr/>
              <p:nvPr/>
            </p:nvSpPr>
            <p:spPr>
              <a:xfrm>
                <a:off x="457200" y="5029200"/>
                <a:ext cx="609600" cy="609600"/>
              </a:xfrm>
              <a:prstGeom prst="ellipse">
                <a:avLst/>
              </a:prstGeom>
              <a:solidFill>
                <a:srgbClr val="FFFFFF"/>
              </a:solidFill>
              <a:ln w="14288">
                <a:solidFill>
                  <a:srgbClr val="E84E2F"/>
                </a:solidFill>
              </a:ln>
            </p:spPr>
          </p:sp>
          <p:grpSp>
            <p:nvGrpSpPr>
              <p:cNvPr id="301" name="Group 301"/>
              <p:cNvGrpSpPr/>
              <p:nvPr/>
            </p:nvGrpSpPr>
            <p:grpSpPr>
              <a:xfrm>
                <a:off x="619125" y="5191125"/>
                <a:ext cx="285751" cy="285751"/>
                <a:chOff x="619125" y="5191125"/>
                <a:chExt cx="285751" cy="285751"/>
              </a:xfrm>
            </p:grpSpPr>
            <p:sp>
              <p:nvSpPr>
                <p:cNvPr id="298" name="Freeform 298"/>
                <p:cNvSpPr/>
                <p:nvPr/>
              </p:nvSpPr>
              <p:spPr>
                <a:xfrm>
                  <a:off x="746125" y="531812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23813">
                  <a:solidFill>
                    <a:srgbClr val="8A1700"/>
                  </a:solidFill>
                </a:ln>
              </p:spPr>
            </p:sp>
            <p:sp>
              <p:nvSpPr>
                <p:cNvPr id="299" name="Freeform 299"/>
                <p:cNvSpPr/>
                <p:nvPr/>
              </p:nvSpPr>
              <p:spPr>
                <a:xfrm>
                  <a:off x="682625" y="5254625"/>
                  <a:ext cx="158750" cy="158750"/>
                </a:xfrm>
                <a:custGeom>
                  <a:avLst/>
                  <a:gdLst/>
                  <a:ahLst/>
                  <a:cxnLst/>
                  <a:rect l="l" t="t" r="r" b="b"/>
                  <a:pathLst>
                    <a:path w="158750" h="158750">
                      <a:moveTo>
                        <a:pt x="0" y="79375"/>
                      </a:moveTo>
                      <a:cubicBezTo>
                        <a:pt x="0" y="123213"/>
                        <a:pt x="35537" y="158750"/>
                        <a:pt x="79375" y="158750"/>
                      </a:cubicBezTo>
                      <a:cubicBezTo>
                        <a:pt x="123213" y="158750"/>
                        <a:pt x="158750" y="123213"/>
                        <a:pt x="158750" y="79375"/>
                      </a:cubicBezTo>
                      <a:cubicBezTo>
                        <a:pt x="158750" y="35537"/>
                        <a:pt x="123213" y="0"/>
                        <a:pt x="79375" y="0"/>
                      </a:cubicBezTo>
                      <a:cubicBezTo>
                        <a:pt x="35537" y="0"/>
                        <a:pt x="0" y="35537"/>
                        <a:pt x="0" y="79375"/>
                      </a:cubicBezTo>
                    </a:path>
                  </a:pathLst>
                </a:custGeom>
                <a:noFill/>
                <a:ln w="23813">
                  <a:solidFill>
                    <a:srgbClr val="8A1700"/>
                  </a:solidFill>
                </a:ln>
              </p:spPr>
            </p:sp>
            <p:sp>
              <p:nvSpPr>
                <p:cNvPr id="300" name="Freeform 300"/>
                <p:cNvSpPr/>
                <p:nvPr/>
              </p:nvSpPr>
              <p:spPr>
                <a:xfrm>
                  <a:off x="619125" y="5191125"/>
                  <a:ext cx="285751" cy="285751"/>
                </a:xfrm>
                <a:custGeom>
                  <a:avLst/>
                  <a:gdLst/>
                  <a:ahLst/>
                  <a:cxnLst/>
                  <a:rect l="l" t="t" r="r" b="b"/>
                  <a:pathLst>
                    <a:path w="285751" h="285751">
                      <a:moveTo>
                        <a:pt x="0" y="142875"/>
                      </a:moveTo>
                      <a:cubicBezTo>
                        <a:pt x="0" y="221783"/>
                        <a:pt x="63967" y="285751"/>
                        <a:pt x="142875" y="285751"/>
                      </a:cubicBezTo>
                      <a:cubicBezTo>
                        <a:pt x="221783" y="285751"/>
                        <a:pt x="285751" y="221783"/>
                        <a:pt x="285751" y="142875"/>
                      </a:cubicBezTo>
                      <a:cubicBezTo>
                        <a:pt x="285751" y="63967"/>
                        <a:pt x="221783" y="0"/>
                        <a:pt x="142875" y="0"/>
                      </a:cubicBezTo>
                      <a:cubicBezTo>
                        <a:pt x="63967" y="0"/>
                        <a:pt x="0" y="63967"/>
                        <a:pt x="0" y="142875"/>
                      </a:cubicBezTo>
                    </a:path>
                  </a:pathLst>
                </a:custGeom>
                <a:noFill/>
                <a:ln w="23813">
                  <a:solidFill>
                    <a:srgbClr val="8A1700"/>
                  </a:solidFill>
                </a:ln>
              </p:spPr>
            </p:sp>
          </p:grpSp>
          <p:sp>
            <p:nvSpPr>
              <p:cNvPr id="302" name="TextBox 302"/>
              <p:cNvSpPr txBox="1"/>
              <p:nvPr/>
            </p:nvSpPr>
            <p:spPr>
              <a:xfrm>
                <a:off x="1250823" y="5120164"/>
                <a:ext cx="529895" cy="249364"/>
              </a:xfrm>
              <a:prstGeom prst="rect">
                <a:avLst/>
              </a:prstGeom>
              <a:noFill/>
              <a:ln>
                <a:noFill/>
              </a:ln>
            </p:spPr>
            <p:txBody>
              <a:bodyPr wrap="none" lIns="0" tIns="0" rIns="0" bIns="0" anchor="t" anchorCtr="0">
                <a:spAutoFit/>
              </a:bodyPr>
              <a:lstStyle/>
              <a:p>
                <a:pPr algn="l"/>
                <a:r>
                  <a:rPr lang="zh-CN" sz="1280" b="1" dirty="0">
                    <a:solidFill>
                      <a:srgbClr val="520E00"/>
                    </a:solidFill>
                    <a:latin typeface="+mn-lt"/>
                    <a:ea typeface="+mn-ea"/>
                    <a:cs typeface="+mn-cs"/>
                  </a:rPr>
                  <a:t>更精准</a:t>
                </a:r>
              </a:p>
            </p:txBody>
          </p:sp>
          <p:sp>
            <p:nvSpPr>
              <p:cNvPr id="303" name="TextBox 303"/>
              <p:cNvSpPr txBox="1"/>
              <p:nvPr/>
            </p:nvSpPr>
            <p:spPr>
              <a:xfrm>
                <a:off x="1252538" y="5420439"/>
                <a:ext cx="1689852" cy="154781"/>
              </a:xfrm>
              <a:prstGeom prst="rect">
                <a:avLst/>
              </a:prstGeom>
              <a:noFill/>
              <a:ln>
                <a:noFill/>
              </a:ln>
            </p:spPr>
            <p:txBody>
              <a:bodyPr wrap="none" lIns="0" tIns="0" rIns="0" bIns="0" anchor="t" anchorCtr="0">
                <a:spAutoFit/>
              </a:bodyPr>
              <a:lstStyle/>
              <a:p>
                <a:pPr algn="l"/>
                <a:r>
                  <a:rPr lang="zh-CN" sz="790" dirty="0">
                    <a:solidFill>
                      <a:srgbClr val="60403A"/>
                    </a:solidFill>
                    <a:latin typeface="+mn-lt"/>
                    <a:ea typeface="+mn-ea"/>
                    <a:cs typeface="+mn-cs"/>
                  </a:rPr>
                  <a:t>合适的人 | 合适的时机 | 合适的内容</a:t>
                </a:r>
              </a:p>
            </p:txBody>
          </p:sp>
        </p:grpSp>
        <p:grpSp>
          <p:nvGrpSpPr>
            <p:cNvPr id="309" name="value-efficient"/>
            <p:cNvGrpSpPr/>
            <p:nvPr/>
          </p:nvGrpSpPr>
          <p:grpSpPr>
            <a:xfrm>
              <a:off x="3390900" y="5029200"/>
              <a:ext cx="2804239" cy="609600"/>
              <a:chOff x="3390900" y="5029200"/>
              <a:chExt cx="2804239" cy="609600"/>
            </a:xfrm>
          </p:grpSpPr>
          <p:sp>
            <p:nvSpPr>
              <p:cNvPr id="305" name="Ellipse 305"/>
              <p:cNvSpPr/>
              <p:nvPr/>
            </p:nvSpPr>
            <p:spPr>
              <a:xfrm>
                <a:off x="3390900" y="5029200"/>
                <a:ext cx="609600" cy="609600"/>
              </a:xfrm>
              <a:prstGeom prst="ellipse">
                <a:avLst/>
              </a:prstGeom>
              <a:solidFill>
                <a:srgbClr val="FFFFFF"/>
              </a:solidFill>
              <a:ln w="14288">
                <a:solidFill>
                  <a:srgbClr val="E84E2F"/>
                </a:solidFill>
              </a:ln>
            </p:spPr>
          </p:sp>
          <p:sp>
            <p:nvSpPr>
              <p:cNvPr id="306" name="Freeform 306"/>
              <p:cNvSpPr/>
              <p:nvPr/>
            </p:nvSpPr>
            <p:spPr>
              <a:xfrm>
                <a:off x="3584575" y="5191125"/>
                <a:ext cx="222250" cy="285751"/>
              </a:xfrm>
              <a:custGeom>
                <a:avLst/>
                <a:gdLst/>
                <a:ahLst/>
                <a:cxnLst/>
                <a:rect l="l" t="t" r="r" b="b"/>
                <a:pathLst>
                  <a:path w="222250" h="285751">
                    <a:moveTo>
                      <a:pt x="127000" y="0"/>
                    </a:moveTo>
                    <a:lnTo>
                      <a:pt x="127000" y="111125"/>
                    </a:lnTo>
                    <a:lnTo>
                      <a:pt x="222250" y="111125"/>
                    </a:lnTo>
                    <a:lnTo>
                      <a:pt x="95250" y="285751"/>
                    </a:lnTo>
                    <a:lnTo>
                      <a:pt x="95250" y="174625"/>
                    </a:lnTo>
                    <a:lnTo>
                      <a:pt x="0" y="174625"/>
                    </a:lnTo>
                    <a:lnTo>
                      <a:pt x="127000" y="0"/>
                    </a:lnTo>
                  </a:path>
                </a:pathLst>
              </a:custGeom>
              <a:noFill/>
              <a:ln w="23813">
                <a:solidFill>
                  <a:srgbClr val="8A1700"/>
                </a:solidFill>
              </a:ln>
            </p:spPr>
          </p:sp>
          <p:sp>
            <p:nvSpPr>
              <p:cNvPr id="307" name="TextBox 307"/>
              <p:cNvSpPr txBox="1"/>
              <p:nvPr/>
            </p:nvSpPr>
            <p:spPr>
              <a:xfrm>
                <a:off x="4184523" y="5120164"/>
                <a:ext cx="529895" cy="249364"/>
              </a:xfrm>
              <a:prstGeom prst="rect">
                <a:avLst/>
              </a:prstGeom>
              <a:noFill/>
              <a:ln>
                <a:noFill/>
              </a:ln>
            </p:spPr>
            <p:txBody>
              <a:bodyPr wrap="none" lIns="0" tIns="0" rIns="0" bIns="0" anchor="t" anchorCtr="0">
                <a:spAutoFit/>
              </a:bodyPr>
              <a:lstStyle/>
              <a:p>
                <a:pPr algn="l"/>
                <a:r>
                  <a:rPr lang="zh-CN" sz="1280" b="1" dirty="0">
                    <a:solidFill>
                      <a:srgbClr val="520E00"/>
                    </a:solidFill>
                    <a:latin typeface="+mn-lt"/>
                    <a:ea typeface="+mn-ea"/>
                    <a:cs typeface="+mn-cs"/>
                  </a:rPr>
                  <a:t>更高效</a:t>
                </a:r>
              </a:p>
            </p:txBody>
          </p:sp>
          <p:sp>
            <p:nvSpPr>
              <p:cNvPr id="308" name="TextBox 308"/>
              <p:cNvSpPr txBox="1"/>
              <p:nvPr/>
            </p:nvSpPr>
            <p:spPr>
              <a:xfrm>
                <a:off x="4186238" y="5420439"/>
                <a:ext cx="2008901" cy="154781"/>
              </a:xfrm>
              <a:prstGeom prst="rect">
                <a:avLst/>
              </a:prstGeom>
              <a:noFill/>
              <a:ln>
                <a:noFill/>
              </a:ln>
            </p:spPr>
            <p:txBody>
              <a:bodyPr wrap="none" lIns="0" tIns="0" rIns="0" bIns="0" anchor="t" anchorCtr="0">
                <a:spAutoFit/>
              </a:bodyPr>
              <a:lstStyle/>
              <a:p>
                <a:pPr algn="l"/>
                <a:r>
                  <a:rPr lang="zh-CN" sz="790" dirty="0">
                    <a:solidFill>
                      <a:srgbClr val="60403A"/>
                    </a:solidFill>
                    <a:latin typeface="+mn-lt"/>
                    <a:ea typeface="+mn-ea"/>
                    <a:cs typeface="+mn-cs"/>
                  </a:rPr>
                  <a:t>自动化执行 | 减少人工操作 | 提升响应速度</a:t>
                </a:r>
              </a:p>
            </p:txBody>
          </p:sp>
        </p:grpSp>
        <p:grpSp>
          <p:nvGrpSpPr>
            <p:cNvPr id="316" name="value-compliant"/>
            <p:cNvGrpSpPr/>
            <p:nvPr/>
          </p:nvGrpSpPr>
          <p:grpSpPr>
            <a:xfrm>
              <a:off x="6324600" y="5029200"/>
              <a:ext cx="2272490" cy="609600"/>
              <a:chOff x="6324600" y="5029200"/>
              <a:chExt cx="2272490" cy="609600"/>
            </a:xfrm>
          </p:grpSpPr>
          <p:sp>
            <p:nvSpPr>
              <p:cNvPr id="310" name="Ellipse 310"/>
              <p:cNvSpPr/>
              <p:nvPr/>
            </p:nvSpPr>
            <p:spPr>
              <a:xfrm>
                <a:off x="6324600" y="5029200"/>
                <a:ext cx="609600" cy="609600"/>
              </a:xfrm>
              <a:prstGeom prst="ellipse">
                <a:avLst/>
              </a:prstGeom>
              <a:solidFill>
                <a:srgbClr val="FFFFFF"/>
              </a:solidFill>
              <a:ln w="14288">
                <a:solidFill>
                  <a:srgbClr val="E84E2F"/>
                </a:solidFill>
              </a:ln>
            </p:spPr>
          </p:sp>
          <p:grpSp>
            <p:nvGrpSpPr>
              <p:cNvPr id="313" name="Group 313"/>
              <p:cNvGrpSpPr/>
              <p:nvPr/>
            </p:nvGrpSpPr>
            <p:grpSpPr>
              <a:xfrm>
                <a:off x="6465101" y="5191125"/>
                <a:ext cx="310011" cy="285751"/>
                <a:chOff x="6465101" y="5191125"/>
                <a:chExt cx="310011" cy="285751"/>
              </a:xfrm>
            </p:grpSpPr>
            <p:sp>
              <p:nvSpPr>
                <p:cNvPr id="311" name="Freeform 311"/>
                <p:cNvSpPr/>
                <p:nvPr/>
              </p:nvSpPr>
              <p:spPr>
                <a:xfrm>
                  <a:off x="6465101" y="5191125"/>
                  <a:ext cx="310011" cy="283306"/>
                </a:xfrm>
                <a:custGeom>
                  <a:avLst/>
                  <a:gdLst/>
                  <a:ahLst/>
                  <a:cxnLst/>
                  <a:rect l="l" t="t" r="r" b="b"/>
                  <a:pathLst>
                    <a:path w="310011" h="283306">
                      <a:moveTo>
                        <a:pt x="155727" y="283306"/>
                      </a:moveTo>
                      <a:cubicBezTo>
                        <a:pt x="56277" y="252479"/>
                        <a:pt x="0" y="147517"/>
                        <a:pt x="29362" y="47625"/>
                      </a:cubicBezTo>
                      <a:cubicBezTo>
                        <a:pt x="78821" y="49888"/>
                        <a:pt x="127218" y="32807"/>
                        <a:pt x="164299" y="0"/>
                      </a:cubicBezTo>
                      <a:cubicBezTo>
                        <a:pt x="201381" y="32807"/>
                        <a:pt x="249778" y="49888"/>
                        <a:pt x="299237" y="47625"/>
                      </a:cubicBezTo>
                      <a:cubicBezTo>
                        <a:pt x="310011" y="84282"/>
                        <a:pt x="309513" y="123332"/>
                        <a:pt x="297808" y="159703"/>
                      </a:cubicBezTo>
                    </a:path>
                  </a:pathLst>
                </a:custGeom>
                <a:noFill/>
                <a:ln w="23813">
                  <a:solidFill>
                    <a:srgbClr val="8A1700"/>
                  </a:solidFill>
                </a:ln>
              </p:spPr>
            </p:sp>
            <p:sp>
              <p:nvSpPr>
                <p:cNvPr id="312" name="Freeform 312"/>
                <p:cNvSpPr/>
                <p:nvPr/>
              </p:nvSpPr>
              <p:spPr>
                <a:xfrm>
                  <a:off x="6677025" y="5413376"/>
                  <a:ext cx="95250" cy="63500"/>
                </a:xfrm>
                <a:custGeom>
                  <a:avLst/>
                  <a:gdLst/>
                  <a:ahLst/>
                  <a:cxnLst/>
                  <a:rect l="l" t="t" r="r" b="b"/>
                  <a:pathLst>
                    <a:path w="95250" h="63500">
                      <a:moveTo>
                        <a:pt x="0" y="31750"/>
                      </a:moveTo>
                      <a:lnTo>
                        <a:pt x="31750" y="63500"/>
                      </a:lnTo>
                      <a:lnTo>
                        <a:pt x="95250" y="0"/>
                      </a:lnTo>
                    </a:path>
                  </a:pathLst>
                </a:custGeom>
                <a:noFill/>
                <a:ln w="23813">
                  <a:solidFill>
                    <a:srgbClr val="8A1700"/>
                  </a:solidFill>
                </a:ln>
              </p:spPr>
            </p:sp>
          </p:grpSp>
          <p:sp>
            <p:nvSpPr>
              <p:cNvPr id="314" name="TextBox 314"/>
              <p:cNvSpPr txBox="1"/>
              <p:nvPr/>
            </p:nvSpPr>
            <p:spPr>
              <a:xfrm>
                <a:off x="7118223" y="5120164"/>
                <a:ext cx="529895" cy="249364"/>
              </a:xfrm>
              <a:prstGeom prst="rect">
                <a:avLst/>
              </a:prstGeom>
              <a:noFill/>
              <a:ln>
                <a:noFill/>
              </a:ln>
            </p:spPr>
            <p:txBody>
              <a:bodyPr wrap="none" lIns="0" tIns="0" rIns="0" bIns="0" anchor="t" anchorCtr="0">
                <a:spAutoFit/>
              </a:bodyPr>
              <a:lstStyle/>
              <a:p>
                <a:pPr algn="l"/>
                <a:r>
                  <a:rPr lang="zh-CN" sz="1280" b="1" dirty="0">
                    <a:solidFill>
                      <a:srgbClr val="520E00"/>
                    </a:solidFill>
                    <a:latin typeface="+mn-lt"/>
                    <a:ea typeface="+mn-ea"/>
                    <a:cs typeface="+mn-cs"/>
                  </a:rPr>
                  <a:t>更合规</a:t>
                </a:r>
              </a:p>
            </p:txBody>
          </p:sp>
          <p:sp>
            <p:nvSpPr>
              <p:cNvPr id="315" name="TextBox 315"/>
              <p:cNvSpPr txBox="1"/>
              <p:nvPr/>
            </p:nvSpPr>
            <p:spPr>
              <a:xfrm>
                <a:off x="7119938" y="5420439"/>
                <a:ext cx="1477152" cy="154781"/>
              </a:xfrm>
              <a:prstGeom prst="rect">
                <a:avLst/>
              </a:prstGeom>
              <a:noFill/>
              <a:ln>
                <a:noFill/>
              </a:ln>
            </p:spPr>
            <p:txBody>
              <a:bodyPr wrap="none" lIns="0" tIns="0" rIns="0" bIns="0" anchor="t" anchorCtr="0">
                <a:spAutoFit/>
              </a:bodyPr>
              <a:lstStyle/>
              <a:p>
                <a:pPr algn="l"/>
                <a:r>
                  <a:rPr lang="zh-CN" sz="790" dirty="0">
                    <a:solidFill>
                      <a:srgbClr val="60403A"/>
                    </a:solidFill>
                    <a:latin typeface="+mn-lt"/>
                    <a:ea typeface="+mn-ea"/>
                    <a:cs typeface="+mn-cs"/>
                  </a:rPr>
                  <a:t>规则驱动 | 风险可控 | 全程留痕</a:t>
                </a:r>
              </a:p>
            </p:txBody>
          </p:sp>
        </p:grpSp>
        <p:grpSp>
          <p:nvGrpSpPr>
            <p:cNvPr id="323" name="value-growth"/>
            <p:cNvGrpSpPr/>
            <p:nvPr/>
          </p:nvGrpSpPr>
          <p:grpSpPr>
            <a:xfrm>
              <a:off x="9258300" y="5029200"/>
              <a:ext cx="2272490" cy="609600"/>
              <a:chOff x="9258300" y="5029200"/>
              <a:chExt cx="2272490" cy="609600"/>
            </a:xfrm>
          </p:grpSpPr>
          <p:sp>
            <p:nvSpPr>
              <p:cNvPr id="317" name="Ellipse 317"/>
              <p:cNvSpPr/>
              <p:nvPr/>
            </p:nvSpPr>
            <p:spPr>
              <a:xfrm>
                <a:off x="9258300" y="5029200"/>
                <a:ext cx="609600" cy="609600"/>
              </a:xfrm>
              <a:prstGeom prst="ellipse">
                <a:avLst/>
              </a:prstGeom>
              <a:solidFill>
                <a:srgbClr val="FFFFFF"/>
              </a:solidFill>
              <a:ln w="14288">
                <a:solidFill>
                  <a:srgbClr val="E84E2F"/>
                </a:solidFill>
              </a:ln>
            </p:spPr>
          </p:sp>
          <p:grpSp>
            <p:nvGrpSpPr>
              <p:cNvPr id="320" name="Group 320"/>
              <p:cNvGrpSpPr/>
              <p:nvPr/>
            </p:nvGrpSpPr>
            <p:grpSpPr>
              <a:xfrm>
                <a:off x="9420225" y="5254625"/>
                <a:ext cx="285751" cy="158750"/>
                <a:chOff x="9420225" y="5254625"/>
                <a:chExt cx="285751" cy="158750"/>
              </a:xfrm>
            </p:grpSpPr>
            <p:sp>
              <p:nvSpPr>
                <p:cNvPr id="318" name="Freeform 318"/>
                <p:cNvSpPr/>
                <p:nvPr/>
              </p:nvSpPr>
              <p:spPr>
                <a:xfrm>
                  <a:off x="9420225" y="5254625"/>
                  <a:ext cx="285751" cy="158750"/>
                </a:xfrm>
                <a:custGeom>
                  <a:avLst/>
                  <a:gdLst/>
                  <a:ahLst/>
                  <a:cxnLst/>
                  <a:rect l="l" t="t" r="r" b="b"/>
                  <a:pathLst>
                    <a:path w="285751" h="158750">
                      <a:moveTo>
                        <a:pt x="0" y="158750"/>
                      </a:moveTo>
                      <a:lnTo>
                        <a:pt x="95250" y="63500"/>
                      </a:lnTo>
                      <a:lnTo>
                        <a:pt x="158750" y="127000"/>
                      </a:lnTo>
                      <a:lnTo>
                        <a:pt x="285751" y="0"/>
                      </a:lnTo>
                    </a:path>
                  </a:pathLst>
                </a:custGeom>
                <a:noFill/>
                <a:ln w="23813">
                  <a:solidFill>
                    <a:srgbClr val="C02C0A"/>
                  </a:solidFill>
                </a:ln>
              </p:spPr>
            </p:sp>
            <p:sp>
              <p:nvSpPr>
                <p:cNvPr id="319" name="Freeform 319"/>
                <p:cNvSpPr/>
                <p:nvPr/>
              </p:nvSpPr>
              <p:spPr>
                <a:xfrm>
                  <a:off x="9594850" y="5254625"/>
                  <a:ext cx="111125" cy="111125"/>
                </a:xfrm>
                <a:custGeom>
                  <a:avLst/>
                  <a:gdLst/>
                  <a:ahLst/>
                  <a:cxnLst/>
                  <a:rect l="l" t="t" r="r" b="b"/>
                  <a:pathLst>
                    <a:path w="111125" h="111125">
                      <a:moveTo>
                        <a:pt x="0" y="0"/>
                      </a:moveTo>
                      <a:lnTo>
                        <a:pt x="111125" y="0"/>
                      </a:lnTo>
                      <a:lnTo>
                        <a:pt x="111125" y="111125"/>
                      </a:lnTo>
                    </a:path>
                  </a:pathLst>
                </a:custGeom>
                <a:noFill/>
                <a:ln w="23813">
                  <a:solidFill>
                    <a:srgbClr val="C02C0A"/>
                  </a:solidFill>
                </a:ln>
              </p:spPr>
            </p:sp>
          </p:grpSp>
          <p:sp>
            <p:nvSpPr>
              <p:cNvPr id="321" name="TextBox 321"/>
              <p:cNvSpPr txBox="1"/>
              <p:nvPr/>
            </p:nvSpPr>
            <p:spPr>
              <a:xfrm>
                <a:off x="10051923" y="5120164"/>
                <a:ext cx="529895" cy="249364"/>
              </a:xfrm>
              <a:prstGeom prst="rect">
                <a:avLst/>
              </a:prstGeom>
              <a:noFill/>
              <a:ln>
                <a:noFill/>
              </a:ln>
            </p:spPr>
            <p:txBody>
              <a:bodyPr wrap="none" lIns="0" tIns="0" rIns="0" bIns="0" anchor="t" anchorCtr="0">
                <a:spAutoFit/>
              </a:bodyPr>
              <a:lstStyle/>
              <a:p>
                <a:pPr algn="l"/>
                <a:r>
                  <a:rPr lang="zh-CN" sz="1280" b="1" dirty="0">
                    <a:solidFill>
                      <a:srgbClr val="C02C0A"/>
                    </a:solidFill>
                    <a:latin typeface="+mn-lt"/>
                    <a:ea typeface="+mn-ea"/>
                    <a:cs typeface="+mn-cs"/>
                  </a:rPr>
                  <a:t>更增长</a:t>
                </a:r>
              </a:p>
            </p:txBody>
          </p:sp>
          <p:sp>
            <p:nvSpPr>
              <p:cNvPr id="322" name="TextBox 322"/>
              <p:cNvSpPr txBox="1"/>
              <p:nvPr/>
            </p:nvSpPr>
            <p:spPr>
              <a:xfrm>
                <a:off x="10053638" y="5420439"/>
                <a:ext cx="1477152" cy="154781"/>
              </a:xfrm>
              <a:prstGeom prst="rect">
                <a:avLst/>
              </a:prstGeom>
              <a:noFill/>
              <a:ln>
                <a:noFill/>
              </a:ln>
            </p:spPr>
            <p:txBody>
              <a:bodyPr wrap="none" lIns="0" tIns="0" rIns="0" bIns="0" anchor="t" anchorCtr="0">
                <a:spAutoFit/>
              </a:bodyPr>
              <a:lstStyle/>
              <a:p>
                <a:pPr algn="l"/>
                <a:r>
                  <a:rPr lang="zh-CN" sz="790" dirty="0">
                    <a:solidFill>
                      <a:srgbClr val="60403A"/>
                    </a:solidFill>
                    <a:latin typeface="+mn-lt"/>
                    <a:ea typeface="+mn-ea"/>
                    <a:cs typeface="+mn-cs"/>
                  </a:rPr>
                  <a:t>提升转化 | 增强粘性 | 提高价值</a:t>
                </a:r>
              </a:p>
            </p:txBody>
          </p:sp>
        </p:grpSp>
      </p:gr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17​</a:t>
              </a:r>
            </a:p>
          </p:txBody>
        </p:sp>
        <p:sp>
          <p:nvSpPr>
            <p:cNvPr id="4" name="TextBox 4"/>
            <p:cNvSpPr txBox="1"/>
            <p:nvPr/>
          </p:nvSpPr>
          <p:spPr>
            <a:xfrm>
              <a:off x="942594" y="151448"/>
              <a:ext cx="6399276"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数据平台：打通客户、交易、权益、渠道和服务数据</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57" name="data-sources"/>
          <p:cNvGrpSpPr/>
          <p:nvPr/>
        </p:nvGrpSpPr>
        <p:grpSpPr>
          <a:xfrm>
            <a:off x="228600" y="800100"/>
            <a:ext cx="11734800" cy="1219200"/>
            <a:chOff x="228600" y="800100"/>
            <a:chExt cx="11734800" cy="1219200"/>
          </a:xfrm>
        </p:grpSpPr>
        <p:grpSp>
          <p:nvGrpSpPr>
            <p:cNvPr id="14" name="source-customer"/>
            <p:cNvGrpSpPr/>
            <p:nvPr/>
          </p:nvGrpSpPr>
          <p:grpSpPr>
            <a:xfrm>
              <a:off x="228600" y="800100"/>
              <a:ext cx="2152650" cy="914400"/>
              <a:chOff x="228600" y="800100"/>
              <a:chExt cx="2152650" cy="914400"/>
            </a:xfrm>
          </p:grpSpPr>
          <p:sp>
            <p:nvSpPr>
              <p:cNvPr id="7" name="Rectangle 7"/>
              <p:cNvSpPr/>
              <p:nvPr/>
            </p:nvSpPr>
            <p:spPr>
              <a:xfrm>
                <a:off x="228600" y="800100"/>
                <a:ext cx="2152650" cy="914400"/>
              </a:xfrm>
              <a:prstGeom prst="roundRect">
                <a:avLst>
                  <a:gd name="adj" fmla="val 8333"/>
                </a:avLst>
              </a:prstGeom>
              <a:solidFill>
                <a:srgbClr val="F5F8FE"/>
              </a:solidFill>
              <a:ln w="9525">
                <a:solidFill>
                  <a:srgbClr val="C9D5EA"/>
                </a:solidFill>
              </a:ln>
            </p:spPr>
          </p:sp>
          <p:grpSp>
            <p:nvGrpSpPr>
              <p:cNvPr id="12" name="Group 12"/>
              <p:cNvGrpSpPr/>
              <p:nvPr/>
            </p:nvGrpSpPr>
            <p:grpSpPr>
              <a:xfrm>
                <a:off x="1147762" y="966787"/>
                <a:ext cx="314324" cy="314325"/>
                <a:chOff x="1147762" y="966787"/>
                <a:chExt cx="314324" cy="314325"/>
              </a:xfrm>
            </p:grpSpPr>
            <p:sp>
              <p:nvSpPr>
                <p:cNvPr id="8" name="Freeform 8"/>
                <p:cNvSpPr/>
                <p:nvPr/>
              </p:nvSpPr>
              <p:spPr>
                <a:xfrm>
                  <a:off x="1182687" y="96678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26194">
                  <a:solidFill>
                    <a:srgbClr val="8A1700"/>
                  </a:solidFill>
                </a:ln>
              </p:spPr>
            </p:sp>
            <p:sp>
              <p:nvSpPr>
                <p:cNvPr id="9" name="Freeform 9"/>
                <p:cNvSpPr/>
                <p:nvPr/>
              </p:nvSpPr>
              <p:spPr>
                <a:xfrm>
                  <a:off x="1147762" y="1176337"/>
                  <a:ext cx="209550" cy="104775"/>
                </a:xfrm>
                <a:custGeom>
                  <a:avLst/>
                  <a:gdLst/>
                  <a:ahLst/>
                  <a:cxnLst/>
                  <a:rect l="l" t="t" r="r" b="b"/>
                  <a:pathLst>
                    <a:path w="209550" h="104775">
                      <a:moveTo>
                        <a:pt x="0" y="104775"/>
                      </a:moveTo>
                      <a:lnTo>
                        <a:pt x="0" y="69850"/>
                      </a:lnTo>
                      <a:cubicBezTo>
                        <a:pt x="0" y="31273"/>
                        <a:pt x="31273" y="0"/>
                        <a:pt x="69850" y="0"/>
                      </a:cubicBezTo>
                      <a:lnTo>
                        <a:pt x="139700" y="0"/>
                      </a:lnTo>
                      <a:cubicBezTo>
                        <a:pt x="178277" y="0"/>
                        <a:pt x="209550" y="31273"/>
                        <a:pt x="209550" y="69850"/>
                      </a:cubicBezTo>
                      <a:lnTo>
                        <a:pt x="209550" y="104775"/>
                      </a:lnTo>
                    </a:path>
                  </a:pathLst>
                </a:custGeom>
                <a:noFill/>
                <a:ln w="26194">
                  <a:solidFill>
                    <a:srgbClr val="8A1700"/>
                  </a:solidFill>
                </a:ln>
              </p:spPr>
            </p:sp>
            <p:sp>
              <p:nvSpPr>
                <p:cNvPr id="10" name="Freeform 10"/>
                <p:cNvSpPr/>
                <p:nvPr/>
              </p:nvSpPr>
              <p:spPr>
                <a:xfrm>
                  <a:off x="1374774" y="969058"/>
                  <a:ext cx="52524" cy="135334"/>
                </a:xfrm>
                <a:custGeom>
                  <a:avLst/>
                  <a:gdLst/>
                  <a:ahLst/>
                  <a:cxnLst/>
                  <a:rect l="l" t="t" r="r" b="b"/>
                  <a:pathLst>
                    <a:path w="52524" h="135334">
                      <a:moveTo>
                        <a:pt x="0" y="0"/>
                      </a:moveTo>
                      <a:cubicBezTo>
                        <a:pt x="30907" y="7913"/>
                        <a:pt x="52524" y="35763"/>
                        <a:pt x="52524" y="67667"/>
                      </a:cubicBezTo>
                      <a:cubicBezTo>
                        <a:pt x="52524" y="99571"/>
                        <a:pt x="30907" y="127421"/>
                        <a:pt x="0" y="135334"/>
                      </a:cubicBezTo>
                    </a:path>
                  </a:pathLst>
                </a:custGeom>
                <a:noFill/>
                <a:ln w="26194">
                  <a:solidFill>
                    <a:srgbClr val="8A1700"/>
                  </a:solidFill>
                </a:ln>
              </p:spPr>
            </p:sp>
            <p:sp>
              <p:nvSpPr>
                <p:cNvPr id="11" name="Freeform 11"/>
                <p:cNvSpPr/>
                <p:nvPr/>
              </p:nvSpPr>
              <p:spPr>
                <a:xfrm>
                  <a:off x="1409699" y="1178956"/>
                  <a:ext cx="52387" cy="102155"/>
                </a:xfrm>
                <a:custGeom>
                  <a:avLst/>
                  <a:gdLst/>
                  <a:ahLst/>
                  <a:cxnLst/>
                  <a:rect l="l" t="t" r="r" b="b"/>
                  <a:pathLst>
                    <a:path w="52387" h="102155">
                      <a:moveTo>
                        <a:pt x="52387" y="102155"/>
                      </a:moveTo>
                      <a:lnTo>
                        <a:pt x="52387" y="67231"/>
                      </a:lnTo>
                      <a:cubicBezTo>
                        <a:pt x="52205" y="35529"/>
                        <a:pt x="30696" y="7925"/>
                        <a:pt x="0" y="0"/>
                      </a:cubicBezTo>
                    </a:path>
                  </a:pathLst>
                </a:custGeom>
                <a:noFill/>
                <a:ln w="26194">
                  <a:solidFill>
                    <a:srgbClr val="8A1700"/>
                  </a:solidFill>
                </a:ln>
              </p:spPr>
            </p:sp>
          </p:grpSp>
          <p:sp>
            <p:nvSpPr>
              <p:cNvPr id="13" name="TextBox 13"/>
              <p:cNvSpPr txBox="1"/>
              <p:nvPr/>
            </p:nvSpPr>
            <p:spPr>
              <a:xfrm>
                <a:off x="997661" y="1459706"/>
                <a:ext cx="614528"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客户数据</a:t>
                </a:r>
              </a:p>
            </p:txBody>
          </p:sp>
        </p:grpSp>
        <p:grpSp>
          <p:nvGrpSpPr>
            <p:cNvPr id="21" name="source-transaction"/>
            <p:cNvGrpSpPr/>
            <p:nvPr/>
          </p:nvGrpSpPr>
          <p:grpSpPr>
            <a:xfrm>
              <a:off x="2619375" y="800100"/>
              <a:ext cx="2152650" cy="914400"/>
              <a:chOff x="2619375" y="800100"/>
              <a:chExt cx="2152650" cy="914400"/>
            </a:xfrm>
          </p:grpSpPr>
          <p:sp>
            <p:nvSpPr>
              <p:cNvPr id="15" name="Rectangle 15"/>
              <p:cNvSpPr/>
              <p:nvPr/>
            </p:nvSpPr>
            <p:spPr>
              <a:xfrm>
                <a:off x="2619375" y="800100"/>
                <a:ext cx="2152650" cy="914400"/>
              </a:xfrm>
              <a:prstGeom prst="roundRect">
                <a:avLst>
                  <a:gd name="adj" fmla="val 8333"/>
                </a:avLst>
              </a:prstGeom>
              <a:solidFill>
                <a:srgbClr val="F5F8FE"/>
              </a:solidFill>
              <a:ln w="9525">
                <a:solidFill>
                  <a:srgbClr val="C9D5EA"/>
                </a:solidFill>
              </a:ln>
            </p:spPr>
          </p:sp>
          <p:grpSp>
            <p:nvGrpSpPr>
              <p:cNvPr id="19" name="Group 19"/>
              <p:cNvGrpSpPr/>
              <p:nvPr/>
            </p:nvGrpSpPr>
            <p:grpSpPr>
              <a:xfrm>
                <a:off x="3556000" y="966787"/>
                <a:ext cx="279399" cy="314325"/>
                <a:chOff x="3556000" y="966787"/>
                <a:chExt cx="279399" cy="314325"/>
              </a:xfrm>
            </p:grpSpPr>
            <p:sp>
              <p:nvSpPr>
                <p:cNvPr id="16" name="Freeform 16"/>
                <p:cNvSpPr/>
                <p:nvPr/>
              </p:nvSpPr>
              <p:spPr>
                <a:xfrm>
                  <a:off x="3556000" y="966787"/>
                  <a:ext cx="279399" cy="104775"/>
                </a:xfrm>
                <a:custGeom>
                  <a:avLst/>
                  <a:gdLst/>
                  <a:ahLst/>
                  <a:cxnLst/>
                  <a:rect l="l" t="t" r="r" b="b"/>
                  <a:pathLst>
                    <a:path w="279399" h="104775">
                      <a:moveTo>
                        <a:pt x="0" y="52387"/>
                      </a:moveTo>
                      <a:cubicBezTo>
                        <a:pt x="0" y="81320"/>
                        <a:pt x="62546" y="104775"/>
                        <a:pt x="139700" y="104775"/>
                      </a:cubicBezTo>
                      <a:cubicBezTo>
                        <a:pt x="216854" y="104775"/>
                        <a:pt x="279399" y="81320"/>
                        <a:pt x="279399" y="52387"/>
                      </a:cubicBezTo>
                      <a:cubicBezTo>
                        <a:pt x="279399" y="23455"/>
                        <a:pt x="216854" y="0"/>
                        <a:pt x="139700" y="0"/>
                      </a:cubicBezTo>
                      <a:cubicBezTo>
                        <a:pt x="62546" y="0"/>
                        <a:pt x="0" y="23455"/>
                        <a:pt x="0" y="52387"/>
                      </a:cubicBezTo>
                    </a:path>
                  </a:pathLst>
                </a:custGeom>
                <a:noFill/>
                <a:ln w="26194">
                  <a:solidFill>
                    <a:srgbClr val="8A1700"/>
                  </a:solidFill>
                </a:ln>
              </p:spPr>
            </p:sp>
            <p:sp>
              <p:nvSpPr>
                <p:cNvPr id="17" name="Freeform 17"/>
                <p:cNvSpPr/>
                <p:nvPr/>
              </p:nvSpPr>
              <p:spPr>
                <a:xfrm>
                  <a:off x="3556000" y="1019175"/>
                  <a:ext cx="279399" cy="157162"/>
                </a:xfrm>
                <a:custGeom>
                  <a:avLst/>
                  <a:gdLst/>
                  <a:ahLst/>
                  <a:cxnLst/>
                  <a:rect l="l" t="t" r="r" b="b"/>
                  <a:pathLst>
                    <a:path w="279399" h="157162">
                      <a:moveTo>
                        <a:pt x="0" y="0"/>
                      </a:moveTo>
                      <a:lnTo>
                        <a:pt x="0" y="104775"/>
                      </a:lnTo>
                      <a:cubicBezTo>
                        <a:pt x="0" y="133708"/>
                        <a:pt x="62546" y="157162"/>
                        <a:pt x="139700" y="157162"/>
                      </a:cubicBezTo>
                      <a:cubicBezTo>
                        <a:pt x="216854" y="157162"/>
                        <a:pt x="279399" y="133708"/>
                        <a:pt x="279399" y="104775"/>
                      </a:cubicBezTo>
                      <a:lnTo>
                        <a:pt x="279399" y="0"/>
                      </a:lnTo>
                    </a:path>
                  </a:pathLst>
                </a:custGeom>
                <a:noFill/>
                <a:ln w="26194">
                  <a:solidFill>
                    <a:srgbClr val="8A1700"/>
                  </a:solidFill>
                </a:ln>
              </p:spPr>
            </p:sp>
            <p:sp>
              <p:nvSpPr>
                <p:cNvPr id="18" name="Freeform 18"/>
                <p:cNvSpPr/>
                <p:nvPr/>
              </p:nvSpPr>
              <p:spPr>
                <a:xfrm>
                  <a:off x="3556000" y="1123950"/>
                  <a:ext cx="279399" cy="157162"/>
                </a:xfrm>
                <a:custGeom>
                  <a:avLst/>
                  <a:gdLst/>
                  <a:ahLst/>
                  <a:cxnLst/>
                  <a:rect l="l" t="t" r="r" b="b"/>
                  <a:pathLst>
                    <a:path w="279399" h="157162">
                      <a:moveTo>
                        <a:pt x="0" y="0"/>
                      </a:moveTo>
                      <a:lnTo>
                        <a:pt x="0" y="104775"/>
                      </a:lnTo>
                      <a:cubicBezTo>
                        <a:pt x="0" y="133708"/>
                        <a:pt x="62546" y="157162"/>
                        <a:pt x="139700" y="157162"/>
                      </a:cubicBezTo>
                      <a:cubicBezTo>
                        <a:pt x="216854" y="157162"/>
                        <a:pt x="279399" y="133708"/>
                        <a:pt x="279399" y="104775"/>
                      </a:cubicBezTo>
                      <a:lnTo>
                        <a:pt x="279399" y="0"/>
                      </a:lnTo>
                    </a:path>
                  </a:pathLst>
                </a:custGeom>
                <a:noFill/>
                <a:ln w="26194">
                  <a:solidFill>
                    <a:srgbClr val="8A1700"/>
                  </a:solidFill>
                </a:ln>
              </p:spPr>
            </p:sp>
          </p:grpSp>
          <p:sp>
            <p:nvSpPr>
              <p:cNvPr id="20" name="TextBox 20"/>
              <p:cNvSpPr txBox="1"/>
              <p:nvPr/>
            </p:nvSpPr>
            <p:spPr>
              <a:xfrm>
                <a:off x="3388436" y="1459706"/>
                <a:ext cx="614528"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交易数据</a:t>
                </a:r>
              </a:p>
            </p:txBody>
          </p:sp>
        </p:grpSp>
        <p:grpSp>
          <p:nvGrpSpPr>
            <p:cNvPr id="29" name="source-benefit"/>
            <p:cNvGrpSpPr/>
            <p:nvPr/>
          </p:nvGrpSpPr>
          <p:grpSpPr>
            <a:xfrm>
              <a:off x="5019675" y="800100"/>
              <a:ext cx="2152650" cy="914400"/>
              <a:chOff x="5019675" y="800100"/>
              <a:chExt cx="2152650" cy="914400"/>
            </a:xfrm>
          </p:grpSpPr>
          <p:sp>
            <p:nvSpPr>
              <p:cNvPr id="22" name="Rectangle 22"/>
              <p:cNvSpPr/>
              <p:nvPr/>
            </p:nvSpPr>
            <p:spPr>
              <a:xfrm>
                <a:off x="5019675" y="800100"/>
                <a:ext cx="2152650" cy="914400"/>
              </a:xfrm>
              <a:prstGeom prst="roundRect">
                <a:avLst>
                  <a:gd name="adj" fmla="val 8333"/>
                </a:avLst>
              </a:prstGeom>
              <a:solidFill>
                <a:srgbClr val="F5F8FE"/>
              </a:solidFill>
              <a:ln w="9525">
                <a:solidFill>
                  <a:srgbClr val="C9D5EA"/>
                </a:solidFill>
              </a:ln>
            </p:spPr>
          </p:sp>
          <p:grpSp>
            <p:nvGrpSpPr>
              <p:cNvPr id="27" name="Group 27"/>
              <p:cNvGrpSpPr/>
              <p:nvPr/>
            </p:nvGrpSpPr>
            <p:grpSpPr>
              <a:xfrm>
                <a:off x="5938837" y="966187"/>
                <a:ext cx="314324" cy="314925"/>
                <a:chOff x="5938837" y="966187"/>
                <a:chExt cx="314324" cy="314925"/>
              </a:xfrm>
            </p:grpSpPr>
            <p:sp>
              <p:nvSpPr>
                <p:cNvPr id="23" name="Freeform 23"/>
                <p:cNvSpPr/>
                <p:nvPr/>
              </p:nvSpPr>
              <p:spPr>
                <a:xfrm>
                  <a:off x="5938837" y="1054100"/>
                  <a:ext cx="314324" cy="69850"/>
                </a:xfrm>
                <a:custGeom>
                  <a:avLst/>
                  <a:gdLst/>
                  <a:ahLst/>
                  <a:cxnLst/>
                  <a:rect l="l" t="t" r="r" b="b"/>
                  <a:pathLst>
                    <a:path w="314324" h="69850">
                      <a:moveTo>
                        <a:pt x="0" y="17462"/>
                      </a:moveTo>
                      <a:cubicBezTo>
                        <a:pt x="0" y="7818"/>
                        <a:pt x="7818" y="0"/>
                        <a:pt x="17462" y="0"/>
                      </a:cubicBezTo>
                      <a:lnTo>
                        <a:pt x="296862" y="0"/>
                      </a:lnTo>
                      <a:cubicBezTo>
                        <a:pt x="306506" y="0"/>
                        <a:pt x="314324" y="7818"/>
                        <a:pt x="314324" y="17462"/>
                      </a:cubicBezTo>
                      <a:lnTo>
                        <a:pt x="314324" y="52387"/>
                      </a:lnTo>
                      <a:cubicBezTo>
                        <a:pt x="314324" y="62032"/>
                        <a:pt x="306506" y="69850"/>
                        <a:pt x="296862" y="69850"/>
                      </a:cubicBezTo>
                      <a:lnTo>
                        <a:pt x="17462" y="69850"/>
                      </a:lnTo>
                      <a:cubicBezTo>
                        <a:pt x="7818" y="69850"/>
                        <a:pt x="0" y="62032"/>
                        <a:pt x="0" y="52387"/>
                      </a:cubicBezTo>
                      <a:lnTo>
                        <a:pt x="0" y="17462"/>
                      </a:lnTo>
                    </a:path>
                  </a:pathLst>
                </a:custGeom>
                <a:noFill/>
                <a:ln w="26194">
                  <a:solidFill>
                    <a:srgbClr val="8A1700"/>
                  </a:solidFill>
                </a:ln>
              </p:spPr>
            </p:sp>
            <p:sp>
              <p:nvSpPr>
                <p:cNvPr id="24" name="Freeform 24"/>
                <p:cNvSpPr/>
                <p:nvPr/>
              </p:nvSpPr>
              <p:spPr>
                <a:xfrm>
                  <a:off x="6096000" y="1054100"/>
                  <a:ext cx="9525" cy="227012"/>
                </a:xfrm>
                <a:custGeom>
                  <a:avLst/>
                  <a:gdLst/>
                  <a:ahLst/>
                  <a:cxnLst/>
                  <a:rect l="l" t="t" r="r" b="b"/>
                  <a:pathLst>
                    <a:path w="9525" h="227012">
                      <a:moveTo>
                        <a:pt x="0" y="0"/>
                      </a:moveTo>
                      <a:lnTo>
                        <a:pt x="0" y="227012"/>
                      </a:lnTo>
                    </a:path>
                  </a:pathLst>
                </a:custGeom>
                <a:noFill/>
                <a:ln w="26194">
                  <a:solidFill>
                    <a:srgbClr val="8A1700"/>
                  </a:solidFill>
                </a:ln>
              </p:spPr>
            </p:sp>
            <p:sp>
              <p:nvSpPr>
                <p:cNvPr id="25" name="Freeform 25"/>
                <p:cNvSpPr/>
                <p:nvPr/>
              </p:nvSpPr>
              <p:spPr>
                <a:xfrm>
                  <a:off x="5973762" y="1123950"/>
                  <a:ext cx="244475" cy="157162"/>
                </a:xfrm>
                <a:custGeom>
                  <a:avLst/>
                  <a:gdLst/>
                  <a:ahLst/>
                  <a:cxnLst/>
                  <a:rect l="l" t="t" r="r" b="b"/>
                  <a:pathLst>
                    <a:path w="244475" h="157162">
                      <a:moveTo>
                        <a:pt x="244475" y="0"/>
                      </a:moveTo>
                      <a:lnTo>
                        <a:pt x="244475" y="122237"/>
                      </a:lnTo>
                      <a:cubicBezTo>
                        <a:pt x="244475" y="141526"/>
                        <a:pt x="228838" y="157162"/>
                        <a:pt x="209550" y="157162"/>
                      </a:cubicBezTo>
                      <a:lnTo>
                        <a:pt x="34925" y="157162"/>
                      </a:lnTo>
                      <a:cubicBezTo>
                        <a:pt x="15636" y="157162"/>
                        <a:pt x="0" y="141526"/>
                        <a:pt x="0" y="122237"/>
                      </a:cubicBezTo>
                      <a:lnTo>
                        <a:pt x="0" y="0"/>
                      </a:lnTo>
                    </a:path>
                  </a:pathLst>
                </a:custGeom>
                <a:noFill/>
                <a:ln w="26194">
                  <a:solidFill>
                    <a:srgbClr val="8A1700"/>
                  </a:solidFill>
                </a:ln>
              </p:spPr>
            </p:sp>
            <p:sp>
              <p:nvSpPr>
                <p:cNvPr id="26" name="Freeform 26"/>
                <p:cNvSpPr/>
                <p:nvPr/>
              </p:nvSpPr>
              <p:spPr>
                <a:xfrm>
                  <a:off x="5973762" y="966187"/>
                  <a:ext cx="244475" cy="87913"/>
                </a:xfrm>
                <a:custGeom>
                  <a:avLst/>
                  <a:gdLst/>
                  <a:ahLst/>
                  <a:cxnLst/>
                  <a:rect l="l" t="t" r="r" b="b"/>
                  <a:pathLst>
                    <a:path w="244475" h="87913">
                      <a:moveTo>
                        <a:pt x="43656" y="87913"/>
                      </a:moveTo>
                      <a:cubicBezTo>
                        <a:pt x="19546" y="87913"/>
                        <a:pt x="0" y="68367"/>
                        <a:pt x="0" y="44257"/>
                      </a:cubicBezTo>
                      <a:cubicBezTo>
                        <a:pt x="0" y="20146"/>
                        <a:pt x="19546" y="601"/>
                        <a:pt x="43656" y="601"/>
                      </a:cubicBezTo>
                      <a:cubicBezTo>
                        <a:pt x="78131" y="0"/>
                        <a:pt x="109310" y="34644"/>
                        <a:pt x="122237" y="87913"/>
                      </a:cubicBezTo>
                      <a:cubicBezTo>
                        <a:pt x="135164" y="34644"/>
                        <a:pt x="166343" y="0"/>
                        <a:pt x="200818" y="601"/>
                      </a:cubicBezTo>
                      <a:cubicBezTo>
                        <a:pt x="224929" y="601"/>
                        <a:pt x="244475" y="20146"/>
                        <a:pt x="244475" y="44257"/>
                      </a:cubicBezTo>
                      <a:cubicBezTo>
                        <a:pt x="244475" y="68367"/>
                        <a:pt x="224929" y="87913"/>
                        <a:pt x="200818" y="87913"/>
                      </a:cubicBezTo>
                    </a:path>
                  </a:pathLst>
                </a:custGeom>
                <a:noFill/>
                <a:ln w="26194">
                  <a:solidFill>
                    <a:srgbClr val="8A1700"/>
                  </a:solidFill>
                </a:ln>
              </p:spPr>
            </p:sp>
          </p:grpSp>
          <p:sp>
            <p:nvSpPr>
              <p:cNvPr id="28" name="TextBox 28"/>
              <p:cNvSpPr txBox="1"/>
              <p:nvPr/>
            </p:nvSpPr>
            <p:spPr>
              <a:xfrm>
                <a:off x="5788736" y="1459706"/>
                <a:ext cx="614528"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权益数据</a:t>
                </a:r>
              </a:p>
            </p:txBody>
          </p:sp>
        </p:grpSp>
        <p:grpSp>
          <p:nvGrpSpPr>
            <p:cNvPr id="41" name="source-channel"/>
            <p:cNvGrpSpPr/>
            <p:nvPr/>
          </p:nvGrpSpPr>
          <p:grpSpPr>
            <a:xfrm>
              <a:off x="7419975" y="800100"/>
              <a:ext cx="2152650" cy="914400"/>
              <a:chOff x="7419975" y="800100"/>
              <a:chExt cx="2152650" cy="914400"/>
            </a:xfrm>
          </p:grpSpPr>
          <p:sp>
            <p:nvSpPr>
              <p:cNvPr id="30" name="Rectangle 30"/>
              <p:cNvSpPr/>
              <p:nvPr/>
            </p:nvSpPr>
            <p:spPr>
              <a:xfrm>
                <a:off x="7419975" y="800100"/>
                <a:ext cx="2152650" cy="914400"/>
              </a:xfrm>
              <a:prstGeom prst="roundRect">
                <a:avLst>
                  <a:gd name="adj" fmla="val 8333"/>
                </a:avLst>
              </a:prstGeom>
              <a:solidFill>
                <a:srgbClr val="F5F8FE"/>
              </a:solidFill>
              <a:ln w="9525">
                <a:solidFill>
                  <a:srgbClr val="C9D5EA"/>
                </a:solidFill>
              </a:ln>
            </p:spPr>
          </p:sp>
          <p:grpSp>
            <p:nvGrpSpPr>
              <p:cNvPr id="39" name="Group 39"/>
              <p:cNvGrpSpPr/>
              <p:nvPr/>
            </p:nvGrpSpPr>
            <p:grpSpPr>
              <a:xfrm>
                <a:off x="8339137" y="966787"/>
                <a:ext cx="314324" cy="323850"/>
                <a:chOff x="8339137" y="966787"/>
                <a:chExt cx="314324" cy="323850"/>
              </a:xfrm>
            </p:grpSpPr>
            <p:sp>
              <p:nvSpPr>
                <p:cNvPr id="31" name="Freeform 31"/>
                <p:cNvSpPr/>
                <p:nvPr/>
              </p:nvSpPr>
              <p:spPr>
                <a:xfrm>
                  <a:off x="8339137" y="1281112"/>
                  <a:ext cx="314324" cy="9525"/>
                </a:xfrm>
                <a:custGeom>
                  <a:avLst/>
                  <a:gdLst/>
                  <a:ahLst/>
                  <a:cxnLst/>
                  <a:rect l="l" t="t" r="r" b="b"/>
                  <a:pathLst>
                    <a:path w="314324" h="9525">
                      <a:moveTo>
                        <a:pt x="0" y="0"/>
                      </a:moveTo>
                      <a:lnTo>
                        <a:pt x="314324" y="0"/>
                      </a:lnTo>
                    </a:path>
                  </a:pathLst>
                </a:custGeom>
                <a:noFill/>
                <a:ln w="26194">
                  <a:solidFill>
                    <a:srgbClr val="8A1700"/>
                  </a:solidFill>
                </a:ln>
              </p:spPr>
            </p:sp>
            <p:sp>
              <p:nvSpPr>
                <p:cNvPr id="32" name="Freeform 32"/>
                <p:cNvSpPr/>
                <p:nvPr/>
              </p:nvSpPr>
              <p:spPr>
                <a:xfrm>
                  <a:off x="8339137" y="1089025"/>
                  <a:ext cx="314324" cy="9525"/>
                </a:xfrm>
                <a:custGeom>
                  <a:avLst/>
                  <a:gdLst/>
                  <a:ahLst/>
                  <a:cxnLst/>
                  <a:rect l="l" t="t" r="r" b="b"/>
                  <a:pathLst>
                    <a:path w="314324" h="9525">
                      <a:moveTo>
                        <a:pt x="0" y="0"/>
                      </a:moveTo>
                      <a:lnTo>
                        <a:pt x="314324" y="0"/>
                      </a:lnTo>
                    </a:path>
                  </a:pathLst>
                </a:custGeom>
                <a:noFill/>
                <a:ln w="26194">
                  <a:solidFill>
                    <a:srgbClr val="8A1700"/>
                  </a:solidFill>
                </a:ln>
              </p:spPr>
            </p:sp>
            <p:sp>
              <p:nvSpPr>
                <p:cNvPr id="33" name="Freeform 33"/>
                <p:cNvSpPr/>
                <p:nvPr/>
              </p:nvSpPr>
              <p:spPr>
                <a:xfrm>
                  <a:off x="8374062" y="966787"/>
                  <a:ext cx="244475" cy="52387"/>
                </a:xfrm>
                <a:custGeom>
                  <a:avLst/>
                  <a:gdLst/>
                  <a:ahLst/>
                  <a:cxnLst/>
                  <a:rect l="l" t="t" r="r" b="b"/>
                  <a:pathLst>
                    <a:path w="244475" h="52387">
                      <a:moveTo>
                        <a:pt x="0" y="52387"/>
                      </a:moveTo>
                      <a:lnTo>
                        <a:pt x="122237" y="0"/>
                      </a:lnTo>
                      <a:lnTo>
                        <a:pt x="244475" y="52387"/>
                      </a:lnTo>
                    </a:path>
                  </a:pathLst>
                </a:custGeom>
                <a:noFill/>
                <a:ln w="26194">
                  <a:solidFill>
                    <a:srgbClr val="8A1700"/>
                  </a:solidFill>
                </a:ln>
              </p:spPr>
            </p:sp>
            <p:sp>
              <p:nvSpPr>
                <p:cNvPr id="34" name="Freeform 34"/>
                <p:cNvSpPr/>
                <p:nvPr/>
              </p:nvSpPr>
              <p:spPr>
                <a:xfrm>
                  <a:off x="8356600" y="1089025"/>
                  <a:ext cx="9525" cy="192087"/>
                </a:xfrm>
                <a:custGeom>
                  <a:avLst/>
                  <a:gdLst/>
                  <a:ahLst/>
                  <a:cxnLst/>
                  <a:rect l="l" t="t" r="r" b="b"/>
                  <a:pathLst>
                    <a:path w="9525" h="192087">
                      <a:moveTo>
                        <a:pt x="0" y="0"/>
                      </a:moveTo>
                      <a:lnTo>
                        <a:pt x="0" y="192087"/>
                      </a:lnTo>
                    </a:path>
                  </a:pathLst>
                </a:custGeom>
                <a:noFill/>
                <a:ln w="26194">
                  <a:solidFill>
                    <a:srgbClr val="8A1700"/>
                  </a:solidFill>
                </a:ln>
              </p:spPr>
            </p:sp>
            <p:sp>
              <p:nvSpPr>
                <p:cNvPr id="35" name="Freeform 35"/>
                <p:cNvSpPr/>
                <p:nvPr/>
              </p:nvSpPr>
              <p:spPr>
                <a:xfrm>
                  <a:off x="8635999" y="1089025"/>
                  <a:ext cx="9525" cy="192087"/>
                </a:xfrm>
                <a:custGeom>
                  <a:avLst/>
                  <a:gdLst/>
                  <a:ahLst/>
                  <a:cxnLst/>
                  <a:rect l="l" t="t" r="r" b="b"/>
                  <a:pathLst>
                    <a:path w="9525" h="192087">
                      <a:moveTo>
                        <a:pt x="0" y="0"/>
                      </a:moveTo>
                      <a:lnTo>
                        <a:pt x="0" y="192087"/>
                      </a:lnTo>
                    </a:path>
                  </a:pathLst>
                </a:custGeom>
                <a:noFill/>
                <a:ln w="26194">
                  <a:solidFill>
                    <a:srgbClr val="8A1700"/>
                  </a:solidFill>
                </a:ln>
              </p:spPr>
            </p:sp>
            <p:sp>
              <p:nvSpPr>
                <p:cNvPr id="36" name="Freeform 36"/>
                <p:cNvSpPr/>
                <p:nvPr/>
              </p:nvSpPr>
              <p:spPr>
                <a:xfrm>
                  <a:off x="8426450" y="1158875"/>
                  <a:ext cx="9525" cy="52387"/>
                </a:xfrm>
                <a:custGeom>
                  <a:avLst/>
                  <a:gdLst/>
                  <a:ahLst/>
                  <a:cxnLst/>
                  <a:rect l="l" t="t" r="r" b="b"/>
                  <a:pathLst>
                    <a:path w="9525" h="52387">
                      <a:moveTo>
                        <a:pt x="0" y="0"/>
                      </a:moveTo>
                      <a:lnTo>
                        <a:pt x="0" y="52387"/>
                      </a:lnTo>
                    </a:path>
                  </a:pathLst>
                </a:custGeom>
                <a:noFill/>
                <a:ln w="26194">
                  <a:solidFill>
                    <a:srgbClr val="8A1700"/>
                  </a:solidFill>
                </a:ln>
              </p:spPr>
            </p:sp>
            <p:sp>
              <p:nvSpPr>
                <p:cNvPr id="37" name="Freeform 37"/>
                <p:cNvSpPr/>
                <p:nvPr/>
              </p:nvSpPr>
              <p:spPr>
                <a:xfrm>
                  <a:off x="8496300" y="1158875"/>
                  <a:ext cx="9525" cy="52387"/>
                </a:xfrm>
                <a:custGeom>
                  <a:avLst/>
                  <a:gdLst/>
                  <a:ahLst/>
                  <a:cxnLst/>
                  <a:rect l="l" t="t" r="r" b="b"/>
                  <a:pathLst>
                    <a:path w="9525" h="52387">
                      <a:moveTo>
                        <a:pt x="0" y="0"/>
                      </a:moveTo>
                      <a:lnTo>
                        <a:pt x="0" y="52387"/>
                      </a:lnTo>
                    </a:path>
                  </a:pathLst>
                </a:custGeom>
                <a:noFill/>
                <a:ln w="26194">
                  <a:solidFill>
                    <a:srgbClr val="8A1700"/>
                  </a:solidFill>
                </a:ln>
              </p:spPr>
            </p:sp>
            <p:sp>
              <p:nvSpPr>
                <p:cNvPr id="38" name="Freeform 38"/>
                <p:cNvSpPr/>
                <p:nvPr/>
              </p:nvSpPr>
              <p:spPr>
                <a:xfrm>
                  <a:off x="8566149" y="1158875"/>
                  <a:ext cx="9525" cy="52387"/>
                </a:xfrm>
                <a:custGeom>
                  <a:avLst/>
                  <a:gdLst/>
                  <a:ahLst/>
                  <a:cxnLst/>
                  <a:rect l="l" t="t" r="r" b="b"/>
                  <a:pathLst>
                    <a:path w="9525" h="52387">
                      <a:moveTo>
                        <a:pt x="0" y="0"/>
                      </a:moveTo>
                      <a:lnTo>
                        <a:pt x="0" y="52387"/>
                      </a:lnTo>
                    </a:path>
                  </a:pathLst>
                </a:custGeom>
                <a:noFill/>
                <a:ln w="26194">
                  <a:solidFill>
                    <a:srgbClr val="8A1700"/>
                  </a:solidFill>
                </a:ln>
              </p:spPr>
            </p:sp>
          </p:grpSp>
          <p:sp>
            <p:nvSpPr>
              <p:cNvPr id="40" name="TextBox 40"/>
              <p:cNvSpPr txBox="1"/>
              <p:nvPr/>
            </p:nvSpPr>
            <p:spPr>
              <a:xfrm>
                <a:off x="8189036" y="1459706"/>
                <a:ext cx="614528"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渠道数据</a:t>
                </a:r>
              </a:p>
            </p:txBody>
          </p:sp>
        </p:grpSp>
        <p:grpSp>
          <p:nvGrpSpPr>
            <p:cNvPr id="49" name="source-service"/>
            <p:cNvGrpSpPr/>
            <p:nvPr/>
          </p:nvGrpSpPr>
          <p:grpSpPr>
            <a:xfrm>
              <a:off x="9810750" y="800100"/>
              <a:ext cx="2152650" cy="914400"/>
              <a:chOff x="9810750" y="800100"/>
              <a:chExt cx="2152650" cy="914400"/>
            </a:xfrm>
          </p:grpSpPr>
          <p:sp>
            <p:nvSpPr>
              <p:cNvPr id="42" name="Rectangle 42"/>
              <p:cNvSpPr/>
              <p:nvPr/>
            </p:nvSpPr>
            <p:spPr>
              <a:xfrm>
                <a:off x="9810750" y="800100"/>
                <a:ext cx="2152650" cy="914400"/>
              </a:xfrm>
              <a:prstGeom prst="roundRect">
                <a:avLst>
                  <a:gd name="adj" fmla="val 8333"/>
                </a:avLst>
              </a:prstGeom>
              <a:solidFill>
                <a:srgbClr val="F5F8FE"/>
              </a:solidFill>
              <a:ln w="9525">
                <a:solidFill>
                  <a:srgbClr val="C9D5EA"/>
                </a:solidFill>
              </a:ln>
            </p:spPr>
          </p:sp>
          <p:grpSp>
            <p:nvGrpSpPr>
              <p:cNvPr id="47" name="Group 47"/>
              <p:cNvGrpSpPr/>
              <p:nvPr/>
            </p:nvGrpSpPr>
            <p:grpSpPr>
              <a:xfrm>
                <a:off x="10747375" y="966787"/>
                <a:ext cx="279399" cy="331787"/>
                <a:chOff x="10747375" y="966787"/>
                <a:chExt cx="279399" cy="331787"/>
              </a:xfrm>
            </p:grpSpPr>
            <p:sp>
              <p:nvSpPr>
                <p:cNvPr id="43" name="Freeform 43"/>
                <p:cNvSpPr/>
                <p:nvPr/>
              </p:nvSpPr>
              <p:spPr>
                <a:xfrm>
                  <a:off x="10747375" y="966787"/>
                  <a:ext cx="279399" cy="192087"/>
                </a:xfrm>
                <a:custGeom>
                  <a:avLst/>
                  <a:gdLst/>
                  <a:ahLst/>
                  <a:cxnLst/>
                  <a:rect l="l" t="t" r="r" b="b"/>
                  <a:pathLst>
                    <a:path w="279399" h="192087">
                      <a:moveTo>
                        <a:pt x="0" y="192087"/>
                      </a:moveTo>
                      <a:lnTo>
                        <a:pt x="0" y="139700"/>
                      </a:lnTo>
                      <a:cubicBezTo>
                        <a:pt x="0" y="62546"/>
                        <a:pt x="62546" y="0"/>
                        <a:pt x="139700" y="0"/>
                      </a:cubicBezTo>
                      <a:cubicBezTo>
                        <a:pt x="216854" y="0"/>
                        <a:pt x="279399" y="62546"/>
                        <a:pt x="279399" y="139700"/>
                      </a:cubicBezTo>
                      <a:lnTo>
                        <a:pt x="279399" y="192087"/>
                      </a:lnTo>
                    </a:path>
                  </a:pathLst>
                </a:custGeom>
                <a:noFill/>
                <a:ln w="26194">
                  <a:solidFill>
                    <a:srgbClr val="8A1700"/>
                  </a:solidFill>
                </a:ln>
              </p:spPr>
            </p:sp>
            <p:sp>
              <p:nvSpPr>
                <p:cNvPr id="44" name="Freeform 44"/>
                <p:cNvSpPr/>
                <p:nvPr/>
              </p:nvSpPr>
              <p:spPr>
                <a:xfrm>
                  <a:off x="10887075" y="1246187"/>
                  <a:ext cx="104775" cy="52387"/>
                </a:xfrm>
                <a:custGeom>
                  <a:avLst/>
                  <a:gdLst/>
                  <a:ahLst/>
                  <a:cxnLst/>
                  <a:rect l="l" t="t" r="r" b="b"/>
                  <a:pathLst>
                    <a:path w="104775" h="52387">
                      <a:moveTo>
                        <a:pt x="104775" y="0"/>
                      </a:moveTo>
                      <a:cubicBezTo>
                        <a:pt x="104775" y="28935"/>
                        <a:pt x="57871" y="52387"/>
                        <a:pt x="0" y="52387"/>
                      </a:cubicBezTo>
                    </a:path>
                  </a:pathLst>
                </a:custGeom>
                <a:noFill/>
                <a:ln w="26194">
                  <a:solidFill>
                    <a:srgbClr val="8A1700"/>
                  </a:solidFill>
                </a:ln>
              </p:spPr>
            </p:sp>
            <p:sp>
              <p:nvSpPr>
                <p:cNvPr id="45" name="Freeform 45"/>
                <p:cNvSpPr/>
                <p:nvPr/>
              </p:nvSpPr>
              <p:spPr>
                <a:xfrm>
                  <a:off x="10747375" y="1123950"/>
                  <a:ext cx="87312" cy="122237"/>
                </a:xfrm>
                <a:custGeom>
                  <a:avLst/>
                  <a:gdLst/>
                  <a:ahLst/>
                  <a:cxnLst/>
                  <a:rect l="l" t="t" r="r" b="b"/>
                  <a:pathLst>
                    <a:path w="87312" h="122237">
                      <a:moveTo>
                        <a:pt x="0" y="34925"/>
                      </a:moveTo>
                      <a:cubicBezTo>
                        <a:pt x="0" y="15636"/>
                        <a:pt x="15636" y="0"/>
                        <a:pt x="34925" y="0"/>
                      </a:cubicBezTo>
                      <a:lnTo>
                        <a:pt x="52387" y="0"/>
                      </a:lnTo>
                      <a:cubicBezTo>
                        <a:pt x="71676" y="0"/>
                        <a:pt x="87312" y="15636"/>
                        <a:pt x="87312" y="34925"/>
                      </a:cubicBezTo>
                      <a:lnTo>
                        <a:pt x="87312" y="87312"/>
                      </a:lnTo>
                      <a:cubicBezTo>
                        <a:pt x="87312" y="106601"/>
                        <a:pt x="71676" y="122237"/>
                        <a:pt x="52387" y="122237"/>
                      </a:cubicBezTo>
                      <a:lnTo>
                        <a:pt x="34925" y="122237"/>
                      </a:lnTo>
                      <a:cubicBezTo>
                        <a:pt x="15636" y="122237"/>
                        <a:pt x="0" y="106601"/>
                        <a:pt x="0" y="87312"/>
                      </a:cubicBezTo>
                      <a:lnTo>
                        <a:pt x="0" y="34925"/>
                      </a:lnTo>
                    </a:path>
                  </a:pathLst>
                </a:custGeom>
                <a:noFill/>
                <a:ln w="26194">
                  <a:solidFill>
                    <a:srgbClr val="8A1700"/>
                  </a:solidFill>
                </a:ln>
              </p:spPr>
            </p:sp>
            <p:sp>
              <p:nvSpPr>
                <p:cNvPr id="46" name="Freeform 46"/>
                <p:cNvSpPr/>
                <p:nvPr/>
              </p:nvSpPr>
              <p:spPr>
                <a:xfrm>
                  <a:off x="10939462" y="1123950"/>
                  <a:ext cx="87312" cy="122237"/>
                </a:xfrm>
                <a:custGeom>
                  <a:avLst/>
                  <a:gdLst/>
                  <a:ahLst/>
                  <a:cxnLst/>
                  <a:rect l="l" t="t" r="r" b="b"/>
                  <a:pathLst>
                    <a:path w="87312" h="122237">
                      <a:moveTo>
                        <a:pt x="0" y="34925"/>
                      </a:moveTo>
                      <a:cubicBezTo>
                        <a:pt x="0" y="15636"/>
                        <a:pt x="15636" y="0"/>
                        <a:pt x="34925" y="0"/>
                      </a:cubicBezTo>
                      <a:lnTo>
                        <a:pt x="52387" y="0"/>
                      </a:lnTo>
                      <a:cubicBezTo>
                        <a:pt x="71676" y="0"/>
                        <a:pt x="87312" y="15636"/>
                        <a:pt x="87312" y="34925"/>
                      </a:cubicBezTo>
                      <a:lnTo>
                        <a:pt x="87312" y="87312"/>
                      </a:lnTo>
                      <a:cubicBezTo>
                        <a:pt x="87312" y="106601"/>
                        <a:pt x="71676" y="122237"/>
                        <a:pt x="52387" y="122237"/>
                      </a:cubicBezTo>
                      <a:lnTo>
                        <a:pt x="34925" y="122237"/>
                      </a:lnTo>
                      <a:cubicBezTo>
                        <a:pt x="15636" y="122237"/>
                        <a:pt x="0" y="106601"/>
                        <a:pt x="0" y="87312"/>
                      </a:cubicBezTo>
                      <a:lnTo>
                        <a:pt x="0" y="34925"/>
                      </a:lnTo>
                    </a:path>
                  </a:pathLst>
                </a:custGeom>
                <a:noFill/>
                <a:ln w="26194">
                  <a:solidFill>
                    <a:srgbClr val="8A1700"/>
                  </a:solidFill>
                </a:ln>
              </p:spPr>
            </p:sp>
          </p:grpSp>
          <p:sp>
            <p:nvSpPr>
              <p:cNvPr id="48" name="TextBox 48"/>
              <p:cNvSpPr txBox="1"/>
              <p:nvPr/>
            </p:nvSpPr>
            <p:spPr>
              <a:xfrm>
                <a:off x="10579811" y="1459706"/>
                <a:ext cx="614528"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服务数据</a:t>
                </a:r>
              </a:p>
            </p:txBody>
          </p:sp>
        </p:grpSp>
        <p:sp>
          <p:nvSpPr>
            <p:cNvPr id="50" name="Line 50"/>
            <p:cNvSpPr/>
            <p:nvPr/>
          </p:nvSpPr>
          <p:spPr>
            <a:xfrm>
              <a:off x="1304925" y="1714500"/>
              <a:ext cx="9525" cy="114300"/>
            </a:xfrm>
            <a:custGeom>
              <a:avLst/>
              <a:gdLst/>
              <a:ahLst/>
              <a:cxnLst/>
              <a:rect l="l" t="t" r="r" b="b"/>
              <a:pathLst>
                <a:path w="9525" h="114300">
                  <a:moveTo>
                    <a:pt x="0" y="0"/>
                  </a:moveTo>
                  <a:lnTo>
                    <a:pt x="0" y="114300"/>
                  </a:lnTo>
                </a:path>
              </a:pathLst>
            </a:custGeom>
            <a:noFill/>
            <a:ln w="14288">
              <a:solidFill>
                <a:srgbClr val="8A1700"/>
              </a:solidFill>
            </a:ln>
          </p:spPr>
        </p:sp>
        <p:sp>
          <p:nvSpPr>
            <p:cNvPr id="51" name="Line 51"/>
            <p:cNvSpPr/>
            <p:nvPr/>
          </p:nvSpPr>
          <p:spPr>
            <a:xfrm>
              <a:off x="3695700" y="1714500"/>
              <a:ext cx="9525" cy="114300"/>
            </a:xfrm>
            <a:custGeom>
              <a:avLst/>
              <a:gdLst/>
              <a:ahLst/>
              <a:cxnLst/>
              <a:rect l="l" t="t" r="r" b="b"/>
              <a:pathLst>
                <a:path w="9525" h="114300">
                  <a:moveTo>
                    <a:pt x="0" y="0"/>
                  </a:moveTo>
                  <a:lnTo>
                    <a:pt x="0" y="114300"/>
                  </a:lnTo>
                </a:path>
              </a:pathLst>
            </a:custGeom>
            <a:noFill/>
            <a:ln w="14288">
              <a:solidFill>
                <a:srgbClr val="8A1700"/>
              </a:solidFill>
            </a:ln>
          </p:spPr>
        </p:sp>
        <p:sp>
          <p:nvSpPr>
            <p:cNvPr id="52" name="Line 52"/>
            <p:cNvSpPr/>
            <p:nvPr/>
          </p:nvSpPr>
          <p:spPr>
            <a:xfrm>
              <a:off x="6096000" y="1714500"/>
              <a:ext cx="9525" cy="114300"/>
            </a:xfrm>
            <a:custGeom>
              <a:avLst/>
              <a:gdLst/>
              <a:ahLst/>
              <a:cxnLst/>
              <a:rect l="l" t="t" r="r" b="b"/>
              <a:pathLst>
                <a:path w="9525" h="114300">
                  <a:moveTo>
                    <a:pt x="0" y="0"/>
                  </a:moveTo>
                  <a:lnTo>
                    <a:pt x="0" y="114300"/>
                  </a:lnTo>
                </a:path>
              </a:pathLst>
            </a:custGeom>
            <a:noFill/>
            <a:ln w="14288">
              <a:solidFill>
                <a:srgbClr val="8A1700"/>
              </a:solidFill>
            </a:ln>
          </p:spPr>
        </p:sp>
        <p:sp>
          <p:nvSpPr>
            <p:cNvPr id="53" name="Line 53"/>
            <p:cNvSpPr/>
            <p:nvPr/>
          </p:nvSpPr>
          <p:spPr>
            <a:xfrm>
              <a:off x="8496300" y="1714500"/>
              <a:ext cx="9525" cy="114300"/>
            </a:xfrm>
            <a:custGeom>
              <a:avLst/>
              <a:gdLst/>
              <a:ahLst/>
              <a:cxnLst/>
              <a:rect l="l" t="t" r="r" b="b"/>
              <a:pathLst>
                <a:path w="9525" h="114300">
                  <a:moveTo>
                    <a:pt x="0" y="0"/>
                  </a:moveTo>
                  <a:lnTo>
                    <a:pt x="0" y="114300"/>
                  </a:lnTo>
                </a:path>
              </a:pathLst>
            </a:custGeom>
            <a:noFill/>
            <a:ln w="14288">
              <a:solidFill>
                <a:srgbClr val="8A1700"/>
              </a:solidFill>
            </a:ln>
          </p:spPr>
        </p:sp>
        <p:sp>
          <p:nvSpPr>
            <p:cNvPr id="54" name="Line 54"/>
            <p:cNvSpPr/>
            <p:nvPr/>
          </p:nvSpPr>
          <p:spPr>
            <a:xfrm>
              <a:off x="10887075" y="1714500"/>
              <a:ext cx="9525" cy="114300"/>
            </a:xfrm>
            <a:custGeom>
              <a:avLst/>
              <a:gdLst/>
              <a:ahLst/>
              <a:cxnLst/>
              <a:rect l="l" t="t" r="r" b="b"/>
              <a:pathLst>
                <a:path w="9525" h="114300">
                  <a:moveTo>
                    <a:pt x="0" y="0"/>
                  </a:moveTo>
                  <a:lnTo>
                    <a:pt x="0" y="114300"/>
                  </a:lnTo>
                </a:path>
              </a:pathLst>
            </a:custGeom>
            <a:noFill/>
            <a:ln w="14288">
              <a:solidFill>
                <a:srgbClr val="8A1700"/>
              </a:solidFill>
            </a:ln>
          </p:spPr>
        </p:sp>
        <p:sp>
          <p:nvSpPr>
            <p:cNvPr id="55" name="Line 55"/>
            <p:cNvSpPr/>
            <p:nvPr/>
          </p:nvSpPr>
          <p:spPr>
            <a:xfrm>
              <a:off x="1304925" y="1828800"/>
              <a:ext cx="9582150" cy="9525"/>
            </a:xfrm>
            <a:custGeom>
              <a:avLst/>
              <a:gdLst/>
              <a:ahLst/>
              <a:cxnLst/>
              <a:rect l="l" t="t" r="r" b="b"/>
              <a:pathLst>
                <a:path w="9582150" h="9525">
                  <a:moveTo>
                    <a:pt x="0" y="0"/>
                  </a:moveTo>
                  <a:lnTo>
                    <a:pt x="9582150" y="0"/>
                  </a:lnTo>
                </a:path>
              </a:pathLst>
            </a:custGeom>
            <a:noFill/>
            <a:ln w="14288">
              <a:solidFill>
                <a:srgbClr val="8A1700"/>
              </a:solidFill>
            </a:ln>
          </p:spPr>
        </p:sp>
        <p:sp>
          <p:nvSpPr>
            <p:cNvPr id="56" name="Freeform 56"/>
            <p:cNvSpPr/>
            <p:nvPr/>
          </p:nvSpPr>
          <p:spPr>
            <a:xfrm>
              <a:off x="6096000" y="1847850"/>
              <a:ext cx="190500" cy="171450"/>
            </a:xfrm>
            <a:prstGeom prst="downArrow">
              <a:avLst/>
            </a:prstGeom>
            <a:solidFill>
              <a:srgbClr val="8A1700"/>
            </a:solidFill>
            <a:ln>
              <a:noFill/>
            </a:ln>
          </p:spPr>
        </p:sp>
      </p:grpSp>
      <p:grpSp>
        <p:nvGrpSpPr>
          <p:cNvPr id="64" name="one-id-band"/>
          <p:cNvGrpSpPr/>
          <p:nvPr/>
        </p:nvGrpSpPr>
        <p:grpSpPr>
          <a:xfrm>
            <a:off x="228600" y="2114550"/>
            <a:ext cx="11734800" cy="590550"/>
            <a:chOff x="228600" y="2114550"/>
            <a:chExt cx="11734800" cy="590550"/>
          </a:xfrm>
        </p:grpSpPr>
        <p:sp>
          <p:nvSpPr>
            <p:cNvPr id="58" name="Rectangle 58"/>
            <p:cNvSpPr/>
            <p:nvPr/>
          </p:nvSpPr>
          <p:spPr>
            <a:xfrm>
              <a:off x="228600" y="2114550"/>
              <a:ext cx="11734800" cy="590550"/>
            </a:xfrm>
            <a:prstGeom prst="roundRect">
              <a:avLst>
                <a:gd name="adj" fmla="val 12903"/>
              </a:avLst>
            </a:prstGeom>
            <a:solidFill>
              <a:srgbClr val="520E00"/>
            </a:solidFill>
            <a:ln>
              <a:noFill/>
            </a:ln>
          </p:spPr>
        </p:sp>
        <p:sp>
          <p:nvSpPr>
            <p:cNvPr id="59" name="Rectangle 59"/>
            <p:cNvSpPr/>
            <p:nvPr/>
          </p:nvSpPr>
          <p:spPr>
            <a:xfrm>
              <a:off x="3810000" y="2209800"/>
              <a:ext cx="533400" cy="400050"/>
            </a:xfrm>
            <a:prstGeom prst="roundRect">
              <a:avLst>
                <a:gd name="adj" fmla="val 9524"/>
              </a:avLst>
            </a:prstGeom>
            <a:noFill/>
            <a:ln w="14288">
              <a:solidFill>
                <a:srgbClr val="FFFFFF"/>
              </a:solidFill>
            </a:ln>
          </p:spPr>
        </p:sp>
        <p:grpSp>
          <p:nvGrpSpPr>
            <p:cNvPr id="62" name="Group 62"/>
            <p:cNvGrpSpPr/>
            <p:nvPr/>
          </p:nvGrpSpPr>
          <p:grpSpPr>
            <a:xfrm>
              <a:off x="3953476" y="2302669"/>
              <a:ext cx="232508" cy="214312"/>
              <a:chOff x="3953476" y="2302669"/>
              <a:chExt cx="232508" cy="214312"/>
            </a:xfrm>
          </p:grpSpPr>
          <p:sp>
            <p:nvSpPr>
              <p:cNvPr id="60" name="Freeform 60"/>
              <p:cNvSpPr/>
              <p:nvPr/>
            </p:nvSpPr>
            <p:spPr>
              <a:xfrm>
                <a:off x="3953476" y="23026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1431">
                <a:solidFill>
                  <a:srgbClr val="FFFFFF"/>
                </a:solidFill>
              </a:ln>
            </p:spPr>
          </p:sp>
          <p:sp>
            <p:nvSpPr>
              <p:cNvPr id="61" name="Freeform 61"/>
              <p:cNvSpPr/>
              <p:nvPr/>
            </p:nvSpPr>
            <p:spPr>
              <a:xfrm>
                <a:off x="4112419" y="2469356"/>
                <a:ext cx="71438" cy="47625"/>
              </a:xfrm>
              <a:custGeom>
                <a:avLst/>
                <a:gdLst/>
                <a:ahLst/>
                <a:cxnLst/>
                <a:rect l="l" t="t" r="r" b="b"/>
                <a:pathLst>
                  <a:path w="71438" h="47625">
                    <a:moveTo>
                      <a:pt x="0" y="23812"/>
                    </a:moveTo>
                    <a:lnTo>
                      <a:pt x="23812" y="47625"/>
                    </a:lnTo>
                    <a:lnTo>
                      <a:pt x="71438" y="0"/>
                    </a:lnTo>
                  </a:path>
                </a:pathLst>
              </a:custGeom>
              <a:noFill/>
              <a:ln w="21431">
                <a:solidFill>
                  <a:srgbClr val="FFFFFF"/>
                </a:solidFill>
              </a:ln>
            </p:spPr>
          </p:sp>
        </p:grpSp>
        <p:sp>
          <p:nvSpPr>
            <p:cNvPr id="63" name="TextBox 63"/>
            <p:cNvSpPr txBox="1"/>
            <p:nvPr/>
          </p:nvSpPr>
          <p:spPr>
            <a:xfrm>
              <a:off x="4523994" y="2285048"/>
              <a:ext cx="2601452" cy="381381"/>
            </a:xfrm>
            <a:prstGeom prst="rect">
              <a:avLst/>
            </a:prstGeom>
            <a:noFill/>
            <a:ln>
              <a:noFill/>
            </a:ln>
          </p:spPr>
          <p:txBody>
            <a:bodyPr wrap="none" lIns="0" tIns="0" rIns="0" bIns="0" anchor="t" anchorCtr="0">
              <a:spAutoFit/>
            </a:bodyPr>
            <a:lstStyle/>
            <a:p>
              <a:pPr algn="l"/>
              <a:r>
                <a:rPr lang="zh-CN" sz="1950" b="1" dirty="0">
                  <a:solidFill>
                    <a:srgbClr val="FFFFFF"/>
                  </a:solidFill>
                  <a:latin typeface="+mn-lt"/>
                  <a:ea typeface="+mn-ea"/>
                  <a:cs typeface="+mn-cs"/>
                </a:rPr>
                <a:t>One ID统一客户身份​</a:t>
              </a:r>
            </a:p>
          </p:txBody>
        </p:sp>
      </p:grpSp>
      <p:grpSp>
        <p:nvGrpSpPr>
          <p:cNvPr id="111" name="data-centers"/>
          <p:cNvGrpSpPr/>
          <p:nvPr/>
        </p:nvGrpSpPr>
        <p:grpSpPr>
          <a:xfrm>
            <a:off x="228600" y="2800350"/>
            <a:ext cx="11734800" cy="1943100"/>
            <a:chOff x="228600" y="2800350"/>
            <a:chExt cx="11734800" cy="1943100"/>
          </a:xfrm>
        </p:grpSpPr>
        <p:sp>
          <p:nvSpPr>
            <p:cNvPr id="65" name="Freeform 65"/>
            <p:cNvSpPr/>
            <p:nvPr/>
          </p:nvSpPr>
          <p:spPr>
            <a:xfrm>
              <a:off x="6096000" y="2800350"/>
              <a:ext cx="190500" cy="190500"/>
            </a:xfrm>
            <a:prstGeom prst="downArrow">
              <a:avLst/>
            </a:prstGeom>
            <a:solidFill>
              <a:srgbClr val="8A1700"/>
            </a:solidFill>
            <a:ln>
              <a:noFill/>
            </a:ln>
          </p:spPr>
        </p:sp>
        <p:grpSp>
          <p:nvGrpSpPr>
            <p:cNvPr id="72" name="center-customer"/>
            <p:cNvGrpSpPr/>
            <p:nvPr/>
          </p:nvGrpSpPr>
          <p:grpSpPr>
            <a:xfrm>
              <a:off x="228600" y="3048000"/>
              <a:ext cx="3714750" cy="800100"/>
              <a:chOff x="228600" y="3048000"/>
              <a:chExt cx="3714750" cy="800100"/>
            </a:xfrm>
          </p:grpSpPr>
          <p:sp>
            <p:nvSpPr>
              <p:cNvPr id="66" name="Rectangle 66"/>
              <p:cNvSpPr/>
              <p:nvPr/>
            </p:nvSpPr>
            <p:spPr>
              <a:xfrm>
                <a:off x="228600" y="3048000"/>
                <a:ext cx="3714750" cy="800100"/>
              </a:xfrm>
              <a:prstGeom prst="roundRect">
                <a:avLst>
                  <a:gd name="adj" fmla="val 9524"/>
                </a:avLst>
              </a:prstGeom>
              <a:solidFill>
                <a:srgbClr val="F5F8FE"/>
              </a:solidFill>
              <a:ln w="9525">
                <a:solidFill>
                  <a:srgbClr val="C9D5EA"/>
                </a:solidFill>
              </a:ln>
            </p:spPr>
          </p:sp>
          <p:grpSp>
            <p:nvGrpSpPr>
              <p:cNvPr id="70" name="Group 70"/>
              <p:cNvGrpSpPr/>
              <p:nvPr/>
            </p:nvGrpSpPr>
            <p:grpSpPr>
              <a:xfrm>
                <a:off x="552450" y="3276600"/>
                <a:ext cx="304800" cy="342900"/>
                <a:chOff x="552450" y="3276600"/>
                <a:chExt cx="304800" cy="342900"/>
              </a:xfrm>
            </p:grpSpPr>
            <p:sp>
              <p:nvSpPr>
                <p:cNvPr id="67" name="Freeform 67"/>
                <p:cNvSpPr/>
                <p:nvPr/>
              </p:nvSpPr>
              <p:spPr>
                <a:xfrm>
                  <a:off x="552450" y="3276600"/>
                  <a:ext cx="304800" cy="114300"/>
                </a:xfrm>
                <a:custGeom>
                  <a:avLst/>
                  <a:gdLst/>
                  <a:ahLst/>
                  <a:cxnLst/>
                  <a:rect l="l" t="t" r="r" b="b"/>
                  <a:pathLst>
                    <a:path w="304800" h="114300">
                      <a:moveTo>
                        <a:pt x="0" y="57150"/>
                      </a:moveTo>
                      <a:cubicBezTo>
                        <a:pt x="0" y="88713"/>
                        <a:pt x="68232" y="114300"/>
                        <a:pt x="152400" y="114300"/>
                      </a:cubicBezTo>
                      <a:cubicBezTo>
                        <a:pt x="236568" y="114300"/>
                        <a:pt x="304800" y="88713"/>
                        <a:pt x="304800" y="57150"/>
                      </a:cubicBezTo>
                      <a:cubicBezTo>
                        <a:pt x="304800" y="25587"/>
                        <a:pt x="236568" y="0"/>
                        <a:pt x="152400" y="0"/>
                      </a:cubicBezTo>
                      <a:cubicBezTo>
                        <a:pt x="68232" y="0"/>
                        <a:pt x="0" y="25587"/>
                        <a:pt x="0" y="57150"/>
                      </a:cubicBezTo>
                    </a:path>
                  </a:pathLst>
                </a:custGeom>
                <a:noFill/>
                <a:ln w="28575">
                  <a:solidFill>
                    <a:srgbClr val="8A1700"/>
                  </a:solidFill>
                </a:ln>
              </p:spPr>
            </p:sp>
            <p:sp>
              <p:nvSpPr>
                <p:cNvPr id="68" name="Freeform 68"/>
                <p:cNvSpPr/>
                <p:nvPr/>
              </p:nvSpPr>
              <p:spPr>
                <a:xfrm>
                  <a:off x="552450" y="333375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28575">
                  <a:solidFill>
                    <a:srgbClr val="8A1700"/>
                  </a:solidFill>
                </a:ln>
              </p:spPr>
            </p:sp>
            <p:sp>
              <p:nvSpPr>
                <p:cNvPr id="69" name="Freeform 69"/>
                <p:cNvSpPr/>
                <p:nvPr/>
              </p:nvSpPr>
              <p:spPr>
                <a:xfrm>
                  <a:off x="552450" y="344805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28575">
                  <a:solidFill>
                    <a:srgbClr val="8A1700"/>
                  </a:solidFill>
                </a:ln>
              </p:spPr>
            </p:sp>
          </p:grpSp>
          <p:sp>
            <p:nvSpPr>
              <p:cNvPr id="71" name="TextBox 71"/>
              <p:cNvSpPr txBox="1"/>
              <p:nvPr/>
            </p:nvSpPr>
            <p:spPr>
              <a:xfrm>
                <a:off x="1116711" y="3370421"/>
                <a:ext cx="1161440" cy="278702"/>
              </a:xfrm>
              <a:prstGeom prst="rect">
                <a:avLst/>
              </a:prstGeom>
              <a:noFill/>
              <a:ln>
                <a:noFill/>
              </a:ln>
            </p:spPr>
            <p:txBody>
              <a:bodyPr wrap="none" lIns="0" tIns="0" rIns="0" bIns="0" anchor="t" anchorCtr="0">
                <a:spAutoFit/>
              </a:bodyPr>
              <a:lstStyle/>
              <a:p>
                <a:pPr algn="l"/>
                <a:r>
                  <a:rPr lang="zh-CN" sz="1420" b="1" dirty="0">
                    <a:solidFill>
                      <a:srgbClr val="520E00"/>
                    </a:solidFill>
                    <a:latin typeface="+mn-lt"/>
                    <a:ea typeface="+mn-ea"/>
                    <a:cs typeface="+mn-cs"/>
                  </a:rPr>
                  <a:t>客户数据中心</a:t>
                </a:r>
              </a:p>
            </p:txBody>
          </p:sp>
        </p:grpSp>
        <p:grpSp>
          <p:nvGrpSpPr>
            <p:cNvPr id="78" name="center-tag"/>
            <p:cNvGrpSpPr/>
            <p:nvPr/>
          </p:nvGrpSpPr>
          <p:grpSpPr>
            <a:xfrm>
              <a:off x="4238625" y="3048000"/>
              <a:ext cx="3714750" cy="800100"/>
              <a:chOff x="4238625" y="3048000"/>
              <a:chExt cx="3714750" cy="800100"/>
            </a:xfrm>
          </p:grpSpPr>
          <p:sp>
            <p:nvSpPr>
              <p:cNvPr id="73" name="Rectangle 73"/>
              <p:cNvSpPr/>
              <p:nvPr/>
            </p:nvSpPr>
            <p:spPr>
              <a:xfrm>
                <a:off x="4238625" y="3048000"/>
                <a:ext cx="3714750" cy="800100"/>
              </a:xfrm>
              <a:prstGeom prst="roundRect">
                <a:avLst>
                  <a:gd name="adj" fmla="val 9524"/>
                </a:avLst>
              </a:prstGeom>
              <a:solidFill>
                <a:srgbClr val="F5F8FE"/>
              </a:solidFill>
              <a:ln w="9525">
                <a:solidFill>
                  <a:srgbClr val="C9D5EA"/>
                </a:solidFill>
              </a:ln>
            </p:spPr>
          </p:sp>
          <p:grpSp>
            <p:nvGrpSpPr>
              <p:cNvPr id="76" name="Group 76"/>
              <p:cNvGrpSpPr/>
              <p:nvPr/>
            </p:nvGrpSpPr>
            <p:grpSpPr>
              <a:xfrm>
                <a:off x="4543425" y="3276600"/>
                <a:ext cx="347415" cy="347415"/>
                <a:chOff x="4543425" y="3276600"/>
                <a:chExt cx="347415" cy="347415"/>
              </a:xfrm>
            </p:grpSpPr>
            <p:sp>
              <p:nvSpPr>
                <p:cNvPr id="74" name="Freeform 74"/>
                <p:cNvSpPr/>
                <p:nvPr/>
              </p:nvSpPr>
              <p:spPr>
                <a:xfrm>
                  <a:off x="4610100" y="33432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28575">
                  <a:solidFill>
                    <a:srgbClr val="8A1700"/>
                  </a:solidFill>
                </a:ln>
              </p:spPr>
            </p:sp>
            <p:sp>
              <p:nvSpPr>
                <p:cNvPr id="75" name="Freeform 75"/>
                <p:cNvSpPr/>
                <p:nvPr/>
              </p:nvSpPr>
              <p:spPr>
                <a:xfrm>
                  <a:off x="4543425" y="3276600"/>
                  <a:ext cx="347415" cy="347415"/>
                </a:xfrm>
                <a:custGeom>
                  <a:avLst/>
                  <a:gdLst/>
                  <a:ahLst/>
                  <a:cxnLst/>
                  <a:rect l="l" t="t" r="r" b="b"/>
                  <a:pathLst>
                    <a:path w="347415" h="347415">
                      <a:moveTo>
                        <a:pt x="0" y="57150"/>
                      </a:moveTo>
                      <a:lnTo>
                        <a:pt x="0" y="155677"/>
                      </a:lnTo>
                      <a:cubicBezTo>
                        <a:pt x="2" y="165781"/>
                        <a:pt x="4018" y="175470"/>
                        <a:pt x="11163" y="182613"/>
                      </a:cubicBezTo>
                      <a:lnTo>
                        <a:pt x="158039" y="329489"/>
                      </a:lnTo>
                      <a:cubicBezTo>
                        <a:pt x="175967" y="347415"/>
                        <a:pt x="205033" y="347415"/>
                        <a:pt x="222961" y="329489"/>
                      </a:cubicBezTo>
                      <a:lnTo>
                        <a:pt x="329489" y="222961"/>
                      </a:lnTo>
                      <a:cubicBezTo>
                        <a:pt x="347415" y="205033"/>
                        <a:pt x="347415" y="175967"/>
                        <a:pt x="329489" y="158039"/>
                      </a:cubicBezTo>
                      <a:lnTo>
                        <a:pt x="182613" y="11163"/>
                      </a:lnTo>
                      <a:cubicBezTo>
                        <a:pt x="175470" y="4018"/>
                        <a:pt x="165781" y="2"/>
                        <a:pt x="155677" y="0"/>
                      </a:cubicBezTo>
                      <a:lnTo>
                        <a:pt x="57150" y="0"/>
                      </a:lnTo>
                      <a:cubicBezTo>
                        <a:pt x="41993" y="0"/>
                        <a:pt x="27457" y="6021"/>
                        <a:pt x="16739" y="16739"/>
                      </a:cubicBezTo>
                      <a:cubicBezTo>
                        <a:pt x="6021" y="27457"/>
                        <a:pt x="0" y="41993"/>
                        <a:pt x="0" y="57150"/>
                      </a:cubicBezTo>
                    </a:path>
                  </a:pathLst>
                </a:custGeom>
                <a:noFill/>
                <a:ln w="28575">
                  <a:solidFill>
                    <a:srgbClr val="8A1700"/>
                  </a:solidFill>
                </a:ln>
              </p:spPr>
            </p:sp>
          </p:grpSp>
          <p:sp>
            <p:nvSpPr>
              <p:cNvPr id="77" name="TextBox 77"/>
              <p:cNvSpPr txBox="1"/>
              <p:nvPr/>
            </p:nvSpPr>
            <p:spPr>
              <a:xfrm>
                <a:off x="5126736" y="3370421"/>
                <a:ext cx="1161440" cy="278702"/>
              </a:xfrm>
              <a:prstGeom prst="rect">
                <a:avLst/>
              </a:prstGeom>
              <a:noFill/>
              <a:ln>
                <a:noFill/>
              </a:ln>
            </p:spPr>
            <p:txBody>
              <a:bodyPr wrap="none" lIns="0" tIns="0" rIns="0" bIns="0" anchor="t" anchorCtr="0">
                <a:spAutoFit/>
              </a:bodyPr>
              <a:lstStyle/>
              <a:p>
                <a:pPr algn="l"/>
                <a:r>
                  <a:rPr lang="zh-CN" sz="1420" b="1" dirty="0">
                    <a:solidFill>
                      <a:srgbClr val="520E00"/>
                    </a:solidFill>
                    <a:latin typeface="+mn-lt"/>
                    <a:ea typeface="+mn-ea"/>
                    <a:cs typeface="+mn-cs"/>
                  </a:rPr>
                  <a:t>标签画像中心</a:t>
                </a:r>
              </a:p>
            </p:txBody>
          </p:sp>
        </p:grpSp>
        <p:grpSp>
          <p:nvGrpSpPr>
            <p:cNvPr id="87" name="center-journey"/>
            <p:cNvGrpSpPr/>
            <p:nvPr/>
          </p:nvGrpSpPr>
          <p:grpSpPr>
            <a:xfrm>
              <a:off x="8248650" y="3048000"/>
              <a:ext cx="3714750" cy="800100"/>
              <a:chOff x="8248650" y="3048000"/>
              <a:chExt cx="3714750" cy="800100"/>
            </a:xfrm>
          </p:grpSpPr>
          <p:sp>
            <p:nvSpPr>
              <p:cNvPr id="79" name="Rectangle 79"/>
              <p:cNvSpPr/>
              <p:nvPr/>
            </p:nvSpPr>
            <p:spPr>
              <a:xfrm>
                <a:off x="8248650" y="3048000"/>
                <a:ext cx="3714750" cy="800100"/>
              </a:xfrm>
              <a:prstGeom prst="roundRect">
                <a:avLst>
                  <a:gd name="adj" fmla="val 9524"/>
                </a:avLst>
              </a:prstGeom>
              <a:solidFill>
                <a:srgbClr val="F5F8FE"/>
              </a:solidFill>
              <a:ln w="9525">
                <a:solidFill>
                  <a:srgbClr val="C9D5EA"/>
                </a:solidFill>
              </a:ln>
            </p:spPr>
          </p:sp>
          <p:grpSp>
            <p:nvGrpSpPr>
              <p:cNvPr id="85" name="Group 85"/>
              <p:cNvGrpSpPr/>
              <p:nvPr/>
            </p:nvGrpSpPr>
            <p:grpSpPr>
              <a:xfrm>
                <a:off x="8553450" y="3276600"/>
                <a:ext cx="342900" cy="342900"/>
                <a:chOff x="8553450" y="3276600"/>
                <a:chExt cx="342900" cy="342900"/>
              </a:xfrm>
            </p:grpSpPr>
            <p:sp>
              <p:nvSpPr>
                <p:cNvPr id="80" name="Freeform 80"/>
                <p:cNvSpPr/>
                <p:nvPr/>
              </p:nvSpPr>
              <p:spPr>
                <a:xfrm>
                  <a:off x="8553450" y="3505200"/>
                  <a:ext cx="114300" cy="114300"/>
                </a:xfrm>
                <a:custGeom>
                  <a:avLst/>
                  <a:gdLst/>
                  <a:ahLst/>
                  <a:cxnLst/>
                  <a:rect l="l" t="t" r="r" b="b"/>
                  <a:pathLst>
                    <a:path w="114300" h="114300">
                      <a:moveTo>
                        <a:pt x="0" y="38100"/>
                      </a:moveTo>
                      <a:cubicBezTo>
                        <a:pt x="0" y="17058"/>
                        <a:pt x="17058" y="0"/>
                        <a:pt x="38100" y="0"/>
                      </a:cubicBezTo>
                      <a:lnTo>
                        <a:pt x="76200" y="0"/>
                      </a:lnTo>
                      <a:cubicBezTo>
                        <a:pt x="97242" y="0"/>
                        <a:pt x="114300" y="17058"/>
                        <a:pt x="114300" y="38100"/>
                      </a:cubicBezTo>
                      <a:lnTo>
                        <a:pt x="114300" y="76200"/>
                      </a:lnTo>
                      <a:cubicBezTo>
                        <a:pt x="114300" y="97242"/>
                        <a:pt x="97242" y="114300"/>
                        <a:pt x="76200" y="114300"/>
                      </a:cubicBezTo>
                      <a:lnTo>
                        <a:pt x="38100" y="114300"/>
                      </a:lnTo>
                      <a:cubicBezTo>
                        <a:pt x="17058" y="114300"/>
                        <a:pt x="0" y="97242"/>
                        <a:pt x="0" y="76200"/>
                      </a:cubicBezTo>
                      <a:lnTo>
                        <a:pt x="0" y="38100"/>
                      </a:lnTo>
                    </a:path>
                  </a:pathLst>
                </a:custGeom>
                <a:noFill/>
                <a:ln w="28575">
                  <a:solidFill>
                    <a:srgbClr val="8A1700"/>
                  </a:solidFill>
                </a:ln>
              </p:spPr>
            </p:sp>
            <p:sp>
              <p:nvSpPr>
                <p:cNvPr id="81" name="Freeform 81"/>
                <p:cNvSpPr/>
                <p:nvPr/>
              </p:nvSpPr>
              <p:spPr>
                <a:xfrm>
                  <a:off x="8782050" y="3505200"/>
                  <a:ext cx="114300" cy="114300"/>
                </a:xfrm>
                <a:custGeom>
                  <a:avLst/>
                  <a:gdLst/>
                  <a:ahLst/>
                  <a:cxnLst/>
                  <a:rect l="l" t="t" r="r" b="b"/>
                  <a:pathLst>
                    <a:path w="114300" h="114300">
                      <a:moveTo>
                        <a:pt x="0" y="38100"/>
                      </a:moveTo>
                      <a:cubicBezTo>
                        <a:pt x="0" y="17058"/>
                        <a:pt x="17058" y="0"/>
                        <a:pt x="38100" y="0"/>
                      </a:cubicBezTo>
                      <a:lnTo>
                        <a:pt x="76200" y="0"/>
                      </a:lnTo>
                      <a:cubicBezTo>
                        <a:pt x="97242" y="0"/>
                        <a:pt x="114300" y="17058"/>
                        <a:pt x="114300" y="38100"/>
                      </a:cubicBezTo>
                      <a:lnTo>
                        <a:pt x="114300" y="76200"/>
                      </a:lnTo>
                      <a:cubicBezTo>
                        <a:pt x="114300" y="97242"/>
                        <a:pt x="97242" y="114300"/>
                        <a:pt x="76200" y="114300"/>
                      </a:cubicBezTo>
                      <a:lnTo>
                        <a:pt x="38100" y="114300"/>
                      </a:lnTo>
                      <a:cubicBezTo>
                        <a:pt x="17058" y="114300"/>
                        <a:pt x="0" y="97242"/>
                        <a:pt x="0" y="76200"/>
                      </a:cubicBezTo>
                      <a:lnTo>
                        <a:pt x="0" y="38100"/>
                      </a:lnTo>
                    </a:path>
                  </a:pathLst>
                </a:custGeom>
                <a:noFill/>
                <a:ln w="28575">
                  <a:solidFill>
                    <a:srgbClr val="8A1700"/>
                  </a:solidFill>
                </a:ln>
              </p:spPr>
            </p:sp>
            <p:sp>
              <p:nvSpPr>
                <p:cNvPr id="82" name="Freeform 82"/>
                <p:cNvSpPr/>
                <p:nvPr/>
              </p:nvSpPr>
              <p:spPr>
                <a:xfrm>
                  <a:off x="8667750" y="3276600"/>
                  <a:ext cx="114300" cy="114300"/>
                </a:xfrm>
                <a:custGeom>
                  <a:avLst/>
                  <a:gdLst/>
                  <a:ahLst/>
                  <a:cxnLst/>
                  <a:rect l="l" t="t" r="r" b="b"/>
                  <a:pathLst>
                    <a:path w="114300" h="114300">
                      <a:moveTo>
                        <a:pt x="0" y="38100"/>
                      </a:moveTo>
                      <a:cubicBezTo>
                        <a:pt x="0" y="17058"/>
                        <a:pt x="17058" y="0"/>
                        <a:pt x="38100" y="0"/>
                      </a:cubicBezTo>
                      <a:lnTo>
                        <a:pt x="76200" y="0"/>
                      </a:lnTo>
                      <a:cubicBezTo>
                        <a:pt x="97242" y="0"/>
                        <a:pt x="114300" y="17058"/>
                        <a:pt x="114300" y="38100"/>
                      </a:cubicBezTo>
                      <a:lnTo>
                        <a:pt x="114300" y="76200"/>
                      </a:lnTo>
                      <a:cubicBezTo>
                        <a:pt x="114300" y="97242"/>
                        <a:pt x="97242" y="114300"/>
                        <a:pt x="76200" y="114300"/>
                      </a:cubicBezTo>
                      <a:lnTo>
                        <a:pt x="38100" y="114300"/>
                      </a:lnTo>
                      <a:cubicBezTo>
                        <a:pt x="17058" y="114300"/>
                        <a:pt x="0" y="97242"/>
                        <a:pt x="0" y="76200"/>
                      </a:cubicBezTo>
                      <a:lnTo>
                        <a:pt x="0" y="38100"/>
                      </a:lnTo>
                    </a:path>
                  </a:pathLst>
                </a:custGeom>
                <a:noFill/>
                <a:ln w="28575">
                  <a:solidFill>
                    <a:srgbClr val="8A1700"/>
                  </a:solidFill>
                </a:ln>
              </p:spPr>
            </p:sp>
            <p:sp>
              <p:nvSpPr>
                <p:cNvPr id="83" name="Freeform 83"/>
                <p:cNvSpPr/>
                <p:nvPr/>
              </p:nvSpPr>
              <p:spPr>
                <a:xfrm>
                  <a:off x="8610600" y="3448050"/>
                  <a:ext cx="228600" cy="57150"/>
                </a:xfrm>
                <a:custGeom>
                  <a:avLst/>
                  <a:gdLst/>
                  <a:ahLst/>
                  <a:cxnLst/>
                  <a:rect l="l" t="t" r="r" b="b"/>
                  <a:pathLst>
                    <a:path w="228600" h="57150">
                      <a:moveTo>
                        <a:pt x="0" y="57150"/>
                      </a:moveTo>
                      <a:lnTo>
                        <a:pt x="0" y="38100"/>
                      </a:lnTo>
                      <a:cubicBezTo>
                        <a:pt x="0" y="17058"/>
                        <a:pt x="17058" y="0"/>
                        <a:pt x="38100" y="0"/>
                      </a:cubicBezTo>
                      <a:lnTo>
                        <a:pt x="190500" y="0"/>
                      </a:lnTo>
                      <a:cubicBezTo>
                        <a:pt x="211542" y="0"/>
                        <a:pt x="228600" y="17058"/>
                        <a:pt x="228600" y="38100"/>
                      </a:cubicBezTo>
                      <a:lnTo>
                        <a:pt x="228600" y="57150"/>
                      </a:lnTo>
                    </a:path>
                  </a:pathLst>
                </a:custGeom>
                <a:noFill/>
                <a:ln w="28575">
                  <a:solidFill>
                    <a:srgbClr val="8A1700"/>
                  </a:solidFill>
                </a:ln>
              </p:spPr>
            </p:sp>
            <p:sp>
              <p:nvSpPr>
                <p:cNvPr id="84" name="Freeform 84"/>
                <p:cNvSpPr/>
                <p:nvPr/>
              </p:nvSpPr>
              <p:spPr>
                <a:xfrm>
                  <a:off x="8724900" y="3390900"/>
                  <a:ext cx="9525" cy="57150"/>
                </a:xfrm>
                <a:custGeom>
                  <a:avLst/>
                  <a:gdLst/>
                  <a:ahLst/>
                  <a:cxnLst/>
                  <a:rect l="l" t="t" r="r" b="b"/>
                  <a:pathLst>
                    <a:path w="9525" h="57150">
                      <a:moveTo>
                        <a:pt x="0" y="0"/>
                      </a:moveTo>
                      <a:lnTo>
                        <a:pt x="0" y="57150"/>
                      </a:lnTo>
                    </a:path>
                  </a:pathLst>
                </a:custGeom>
                <a:noFill/>
                <a:ln w="28575">
                  <a:solidFill>
                    <a:srgbClr val="8A1700"/>
                  </a:solidFill>
                </a:ln>
              </p:spPr>
            </p:sp>
          </p:grpSp>
          <p:sp>
            <p:nvSpPr>
              <p:cNvPr id="86" name="TextBox 86"/>
              <p:cNvSpPr txBox="1"/>
              <p:nvPr/>
            </p:nvSpPr>
            <p:spPr>
              <a:xfrm>
                <a:off x="9136761" y="3370421"/>
                <a:ext cx="1161440" cy="278702"/>
              </a:xfrm>
              <a:prstGeom prst="rect">
                <a:avLst/>
              </a:prstGeom>
              <a:noFill/>
              <a:ln>
                <a:noFill/>
              </a:ln>
            </p:spPr>
            <p:txBody>
              <a:bodyPr wrap="none" lIns="0" tIns="0" rIns="0" bIns="0" anchor="t" anchorCtr="0">
                <a:spAutoFit/>
              </a:bodyPr>
              <a:lstStyle/>
              <a:p>
                <a:pPr algn="l"/>
                <a:r>
                  <a:rPr lang="zh-CN" sz="1420" b="1" dirty="0">
                    <a:solidFill>
                      <a:srgbClr val="520E00"/>
                    </a:solidFill>
                    <a:latin typeface="+mn-lt"/>
                    <a:ea typeface="+mn-ea"/>
                    <a:cs typeface="+mn-cs"/>
                  </a:rPr>
                  <a:t>策略旅程中心</a:t>
                </a:r>
              </a:p>
            </p:txBody>
          </p:sp>
        </p:grpSp>
        <p:grpSp>
          <p:nvGrpSpPr>
            <p:cNvPr id="95" name="center-content"/>
            <p:cNvGrpSpPr/>
            <p:nvPr/>
          </p:nvGrpSpPr>
          <p:grpSpPr>
            <a:xfrm>
              <a:off x="228600" y="3943350"/>
              <a:ext cx="3714750" cy="800100"/>
              <a:chOff x="228600" y="3943350"/>
              <a:chExt cx="3714750" cy="800100"/>
            </a:xfrm>
          </p:grpSpPr>
          <p:sp>
            <p:nvSpPr>
              <p:cNvPr id="88" name="Rectangle 88"/>
              <p:cNvSpPr/>
              <p:nvPr/>
            </p:nvSpPr>
            <p:spPr>
              <a:xfrm>
                <a:off x="228600" y="3943350"/>
                <a:ext cx="3714750" cy="800100"/>
              </a:xfrm>
              <a:prstGeom prst="roundRect">
                <a:avLst>
                  <a:gd name="adj" fmla="val 9524"/>
                </a:avLst>
              </a:prstGeom>
              <a:solidFill>
                <a:srgbClr val="F5F8FE"/>
              </a:solidFill>
              <a:ln w="9525">
                <a:solidFill>
                  <a:srgbClr val="C9D5EA"/>
                </a:solidFill>
              </a:ln>
            </p:spPr>
          </p:sp>
          <p:grpSp>
            <p:nvGrpSpPr>
              <p:cNvPr id="93" name="Group 93"/>
              <p:cNvGrpSpPr/>
              <p:nvPr/>
            </p:nvGrpSpPr>
            <p:grpSpPr>
              <a:xfrm>
                <a:off x="533400" y="4171295"/>
                <a:ext cx="342900" cy="343555"/>
                <a:chOff x="533400" y="4171295"/>
                <a:chExt cx="342900" cy="343555"/>
              </a:xfrm>
            </p:grpSpPr>
            <p:sp>
              <p:nvSpPr>
                <p:cNvPr id="89" name="Freeform 89"/>
                <p:cNvSpPr/>
                <p:nvPr/>
              </p:nvSpPr>
              <p:spPr>
                <a:xfrm>
                  <a:off x="533400" y="4267200"/>
                  <a:ext cx="342900" cy="76200"/>
                </a:xfrm>
                <a:custGeom>
                  <a:avLst/>
                  <a:gdLst/>
                  <a:ahLst/>
                  <a:cxnLst/>
                  <a:rect l="l" t="t" r="r" b="b"/>
                  <a:pathLst>
                    <a:path w="342900" h="76200">
                      <a:moveTo>
                        <a:pt x="0" y="19050"/>
                      </a:moveTo>
                      <a:cubicBezTo>
                        <a:pt x="0" y="8529"/>
                        <a:pt x="8529" y="0"/>
                        <a:pt x="19050" y="0"/>
                      </a:cubicBezTo>
                      <a:lnTo>
                        <a:pt x="323850" y="0"/>
                      </a:lnTo>
                      <a:cubicBezTo>
                        <a:pt x="334371" y="0"/>
                        <a:pt x="342900" y="8529"/>
                        <a:pt x="342900" y="19050"/>
                      </a:cubicBezTo>
                      <a:lnTo>
                        <a:pt x="342900" y="57150"/>
                      </a:lnTo>
                      <a:cubicBezTo>
                        <a:pt x="342900" y="67671"/>
                        <a:pt x="334371" y="76200"/>
                        <a:pt x="323850" y="76200"/>
                      </a:cubicBezTo>
                      <a:lnTo>
                        <a:pt x="19050" y="76200"/>
                      </a:lnTo>
                      <a:cubicBezTo>
                        <a:pt x="8529" y="76200"/>
                        <a:pt x="0" y="67671"/>
                        <a:pt x="0" y="57150"/>
                      </a:cubicBezTo>
                      <a:lnTo>
                        <a:pt x="0" y="19050"/>
                      </a:lnTo>
                    </a:path>
                  </a:pathLst>
                </a:custGeom>
                <a:noFill/>
                <a:ln w="28575">
                  <a:solidFill>
                    <a:srgbClr val="8A1700"/>
                  </a:solidFill>
                </a:ln>
              </p:spPr>
            </p:sp>
            <p:sp>
              <p:nvSpPr>
                <p:cNvPr id="90" name="Freeform 90"/>
                <p:cNvSpPr/>
                <p:nvPr/>
              </p:nvSpPr>
              <p:spPr>
                <a:xfrm>
                  <a:off x="704850" y="4267200"/>
                  <a:ext cx="9525" cy="247650"/>
                </a:xfrm>
                <a:custGeom>
                  <a:avLst/>
                  <a:gdLst/>
                  <a:ahLst/>
                  <a:cxnLst/>
                  <a:rect l="l" t="t" r="r" b="b"/>
                  <a:pathLst>
                    <a:path w="9525" h="247650">
                      <a:moveTo>
                        <a:pt x="0" y="0"/>
                      </a:moveTo>
                      <a:lnTo>
                        <a:pt x="0" y="247650"/>
                      </a:lnTo>
                    </a:path>
                  </a:pathLst>
                </a:custGeom>
                <a:noFill/>
                <a:ln w="28575">
                  <a:solidFill>
                    <a:srgbClr val="8A1700"/>
                  </a:solidFill>
                </a:ln>
              </p:spPr>
            </p:sp>
            <p:sp>
              <p:nvSpPr>
                <p:cNvPr id="91" name="Freeform 91"/>
                <p:cNvSpPr/>
                <p:nvPr/>
              </p:nvSpPr>
              <p:spPr>
                <a:xfrm>
                  <a:off x="571500" y="4343400"/>
                  <a:ext cx="266700" cy="171450"/>
                </a:xfrm>
                <a:custGeom>
                  <a:avLst/>
                  <a:gdLst/>
                  <a:ahLst/>
                  <a:cxnLst/>
                  <a:rect l="l" t="t" r="r" b="b"/>
                  <a:pathLst>
                    <a:path w="266700" h="171450">
                      <a:moveTo>
                        <a:pt x="266700" y="0"/>
                      </a:moveTo>
                      <a:lnTo>
                        <a:pt x="266700" y="133350"/>
                      </a:lnTo>
                      <a:cubicBezTo>
                        <a:pt x="266700" y="154392"/>
                        <a:pt x="249642" y="171450"/>
                        <a:pt x="228600" y="171450"/>
                      </a:cubicBezTo>
                      <a:lnTo>
                        <a:pt x="38100" y="171450"/>
                      </a:lnTo>
                      <a:cubicBezTo>
                        <a:pt x="17058" y="171450"/>
                        <a:pt x="0" y="154392"/>
                        <a:pt x="0" y="133350"/>
                      </a:cubicBezTo>
                      <a:lnTo>
                        <a:pt x="0" y="0"/>
                      </a:lnTo>
                    </a:path>
                  </a:pathLst>
                </a:custGeom>
                <a:noFill/>
                <a:ln w="28575">
                  <a:solidFill>
                    <a:srgbClr val="8A1700"/>
                  </a:solidFill>
                </a:ln>
              </p:spPr>
            </p:sp>
            <p:sp>
              <p:nvSpPr>
                <p:cNvPr id="92" name="Freeform 92"/>
                <p:cNvSpPr/>
                <p:nvPr/>
              </p:nvSpPr>
              <p:spPr>
                <a:xfrm>
                  <a:off x="571500" y="4171295"/>
                  <a:ext cx="266700" cy="95905"/>
                </a:xfrm>
                <a:custGeom>
                  <a:avLst/>
                  <a:gdLst/>
                  <a:ahLst/>
                  <a:cxnLst/>
                  <a:rect l="l" t="t" r="r" b="b"/>
                  <a:pathLst>
                    <a:path w="266700" h="95905">
                      <a:moveTo>
                        <a:pt x="47625" y="95905"/>
                      </a:moveTo>
                      <a:cubicBezTo>
                        <a:pt x="21322" y="95905"/>
                        <a:pt x="0" y="74583"/>
                        <a:pt x="0" y="48280"/>
                      </a:cubicBezTo>
                      <a:cubicBezTo>
                        <a:pt x="0" y="21978"/>
                        <a:pt x="21322" y="655"/>
                        <a:pt x="47625" y="655"/>
                      </a:cubicBezTo>
                      <a:cubicBezTo>
                        <a:pt x="85234" y="0"/>
                        <a:pt x="119248" y="37793"/>
                        <a:pt x="133350" y="95905"/>
                      </a:cubicBezTo>
                      <a:cubicBezTo>
                        <a:pt x="147452" y="37793"/>
                        <a:pt x="181466" y="0"/>
                        <a:pt x="219075" y="655"/>
                      </a:cubicBezTo>
                      <a:cubicBezTo>
                        <a:pt x="245378" y="655"/>
                        <a:pt x="266700" y="21978"/>
                        <a:pt x="266700" y="48280"/>
                      </a:cubicBezTo>
                      <a:cubicBezTo>
                        <a:pt x="266700" y="74583"/>
                        <a:pt x="245378" y="95905"/>
                        <a:pt x="219075" y="95905"/>
                      </a:cubicBezTo>
                    </a:path>
                  </a:pathLst>
                </a:custGeom>
                <a:noFill/>
                <a:ln w="28575">
                  <a:solidFill>
                    <a:srgbClr val="8A1700"/>
                  </a:solidFill>
                </a:ln>
              </p:spPr>
            </p:sp>
          </p:grpSp>
          <p:sp>
            <p:nvSpPr>
              <p:cNvPr id="94" name="TextBox 94"/>
              <p:cNvSpPr txBox="1"/>
              <p:nvPr/>
            </p:nvSpPr>
            <p:spPr>
              <a:xfrm>
                <a:off x="1116711" y="4265771"/>
                <a:ext cx="1161440" cy="278702"/>
              </a:xfrm>
              <a:prstGeom prst="rect">
                <a:avLst/>
              </a:prstGeom>
              <a:noFill/>
              <a:ln>
                <a:noFill/>
              </a:ln>
            </p:spPr>
            <p:txBody>
              <a:bodyPr wrap="none" lIns="0" tIns="0" rIns="0" bIns="0" anchor="t" anchorCtr="0">
                <a:spAutoFit/>
              </a:bodyPr>
              <a:lstStyle/>
              <a:p>
                <a:pPr algn="l"/>
                <a:r>
                  <a:rPr lang="zh-CN" sz="1420" b="1" dirty="0">
                    <a:solidFill>
                      <a:srgbClr val="520E00"/>
                    </a:solidFill>
                    <a:latin typeface="+mn-lt"/>
                    <a:ea typeface="+mn-ea"/>
                    <a:cs typeface="+mn-cs"/>
                  </a:rPr>
                  <a:t>内容权益中心</a:t>
                </a:r>
              </a:p>
            </p:txBody>
          </p:sp>
        </p:grpSp>
        <p:grpSp>
          <p:nvGrpSpPr>
            <p:cNvPr id="102" name="center-health"/>
            <p:cNvGrpSpPr/>
            <p:nvPr/>
          </p:nvGrpSpPr>
          <p:grpSpPr>
            <a:xfrm>
              <a:off x="4238625" y="3943350"/>
              <a:ext cx="3714750" cy="800100"/>
              <a:chOff x="4238625" y="3943350"/>
              <a:chExt cx="3714750" cy="800100"/>
            </a:xfrm>
          </p:grpSpPr>
          <p:sp>
            <p:nvSpPr>
              <p:cNvPr id="96" name="Rectangle 96"/>
              <p:cNvSpPr/>
              <p:nvPr/>
            </p:nvSpPr>
            <p:spPr>
              <a:xfrm>
                <a:off x="4238625" y="3943350"/>
                <a:ext cx="3714750" cy="800100"/>
              </a:xfrm>
              <a:prstGeom prst="roundRect">
                <a:avLst>
                  <a:gd name="adj" fmla="val 9524"/>
                </a:avLst>
              </a:prstGeom>
              <a:solidFill>
                <a:srgbClr val="F5F8FE"/>
              </a:solidFill>
              <a:ln w="9525">
                <a:solidFill>
                  <a:srgbClr val="C9D5EA"/>
                </a:solidFill>
              </a:ln>
            </p:spPr>
          </p:sp>
          <p:grpSp>
            <p:nvGrpSpPr>
              <p:cNvPr id="99" name="Group 99"/>
              <p:cNvGrpSpPr/>
              <p:nvPr/>
            </p:nvGrpSpPr>
            <p:grpSpPr>
              <a:xfrm>
                <a:off x="4542851" y="4201668"/>
                <a:ext cx="349726" cy="313182"/>
                <a:chOff x="4542851" y="4201668"/>
                <a:chExt cx="349726" cy="313182"/>
              </a:xfrm>
            </p:grpSpPr>
            <p:sp>
              <p:nvSpPr>
                <p:cNvPr id="97" name="Freeform 97"/>
                <p:cNvSpPr/>
                <p:nvPr/>
              </p:nvSpPr>
              <p:spPr>
                <a:xfrm>
                  <a:off x="4542851" y="4201668"/>
                  <a:ext cx="349726" cy="313182"/>
                </a:xfrm>
                <a:custGeom>
                  <a:avLst/>
                  <a:gdLst/>
                  <a:ahLst/>
                  <a:cxnLst/>
                  <a:rect l="l" t="t" r="r" b="b"/>
                  <a:pathLst>
                    <a:path w="349726" h="313182">
                      <a:moveTo>
                        <a:pt x="314899" y="171679"/>
                      </a:moveTo>
                      <a:lnTo>
                        <a:pt x="172024" y="313182"/>
                      </a:lnTo>
                      <a:lnTo>
                        <a:pt x="116855" y="258547"/>
                      </a:lnTo>
                      <a:moveTo>
                        <a:pt x="327" y="104166"/>
                      </a:moveTo>
                      <a:cubicBezTo>
                        <a:pt x="0" y="62952"/>
                        <a:pt x="26217" y="26204"/>
                        <a:pt x="65294" y="13102"/>
                      </a:cubicBezTo>
                      <a:cubicBezTo>
                        <a:pt x="104370" y="0"/>
                        <a:pt x="147441" y="13517"/>
                        <a:pt x="172024" y="46597"/>
                      </a:cubicBezTo>
                      <a:cubicBezTo>
                        <a:pt x="193499" y="18037"/>
                        <a:pt x="229152" y="3898"/>
                        <a:pt x="264364" y="9979"/>
                      </a:cubicBezTo>
                      <a:cubicBezTo>
                        <a:pt x="299575" y="16060"/>
                        <a:pt x="328421" y="41337"/>
                        <a:pt x="339074" y="75445"/>
                      </a:cubicBezTo>
                      <a:cubicBezTo>
                        <a:pt x="349726" y="109553"/>
                        <a:pt x="340392" y="146754"/>
                        <a:pt x="314899" y="171793"/>
                      </a:cubicBezTo>
                    </a:path>
                  </a:pathLst>
                </a:custGeom>
                <a:noFill/>
                <a:ln w="28575">
                  <a:solidFill>
                    <a:srgbClr val="8A1700"/>
                  </a:solidFill>
                </a:ln>
              </p:spPr>
            </p:sp>
            <p:sp>
              <p:nvSpPr>
                <p:cNvPr id="98" name="Freeform 98"/>
                <p:cNvSpPr/>
                <p:nvPr/>
              </p:nvSpPr>
              <p:spPr>
                <a:xfrm>
                  <a:off x="4543425" y="4305300"/>
                  <a:ext cx="190500" cy="114300"/>
                </a:xfrm>
                <a:custGeom>
                  <a:avLst/>
                  <a:gdLst/>
                  <a:ahLst/>
                  <a:cxnLst/>
                  <a:rect l="l" t="t" r="r" b="b"/>
                  <a:pathLst>
                    <a:path w="190500" h="114300">
                      <a:moveTo>
                        <a:pt x="0" y="57150"/>
                      </a:moveTo>
                      <a:lnTo>
                        <a:pt x="38100" y="57150"/>
                      </a:lnTo>
                      <a:lnTo>
                        <a:pt x="76200" y="114300"/>
                      </a:lnTo>
                      <a:lnTo>
                        <a:pt x="114300" y="0"/>
                      </a:lnTo>
                      <a:lnTo>
                        <a:pt x="133350" y="57150"/>
                      </a:lnTo>
                      <a:lnTo>
                        <a:pt x="190500" y="57150"/>
                      </a:lnTo>
                    </a:path>
                  </a:pathLst>
                </a:custGeom>
                <a:noFill/>
                <a:ln w="28575">
                  <a:solidFill>
                    <a:srgbClr val="8A1700"/>
                  </a:solidFill>
                </a:ln>
              </p:spPr>
            </p:sp>
          </p:grpSp>
          <p:sp>
            <p:nvSpPr>
              <p:cNvPr id="100" name="TextBox 100"/>
              <p:cNvSpPr txBox="1"/>
              <p:nvPr/>
            </p:nvSpPr>
            <p:spPr>
              <a:xfrm>
                <a:off x="5127498" y="4110514"/>
                <a:ext cx="1391463" cy="249364"/>
              </a:xfrm>
              <a:prstGeom prst="rect">
                <a:avLst/>
              </a:prstGeom>
              <a:noFill/>
              <a:ln>
                <a:noFill/>
              </a:ln>
            </p:spPr>
            <p:txBody>
              <a:bodyPr wrap="none" lIns="0" tIns="0" rIns="0" bIns="0" anchor="t" anchorCtr="0">
                <a:spAutoFit/>
              </a:bodyPr>
              <a:lstStyle/>
              <a:p>
                <a:pPr algn="l"/>
                <a:r>
                  <a:rPr lang="zh-CN" sz="1280" b="1" dirty="0">
                    <a:solidFill>
                      <a:srgbClr val="520E00"/>
                    </a:solidFill>
                    <a:latin typeface="+mn-lt"/>
                    <a:ea typeface="+mn-ea"/>
                    <a:cs typeface="+mn-cs"/>
                  </a:rPr>
                  <a:t>金融健康服务中心</a:t>
                </a:r>
              </a:p>
            </p:txBody>
          </p:sp>
          <p:sp>
            <p:nvSpPr>
              <p:cNvPr id="101" name="TextBox 101"/>
              <p:cNvSpPr txBox="1"/>
              <p:nvPr/>
            </p:nvSpPr>
            <p:spPr>
              <a:xfrm>
                <a:off x="5129212" y="4361736"/>
                <a:ext cx="154241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0403A"/>
                    </a:solidFill>
                    <a:latin typeface="+mn-lt"/>
                    <a:ea typeface="+mn-ea"/>
                    <a:cs typeface="+mn-cs"/>
                  </a:rPr>
                  <a:t>金融健康服务中心：评分、账单分析、</a:t>
                </a:r>
                <a:br/>
                <a:r>
                  <a:rPr lang="zh-CN" sz="710" dirty="0">
                    <a:solidFill>
                      <a:srgbClr val="60403A"/>
                    </a:solidFill>
                    <a:latin typeface="+mn-lt"/>
                    <a:ea typeface="+mn-ea"/>
                    <a:cs typeface="+mn-cs"/>
                  </a:rPr>
                  <a:t>权益提醒、风险预警、年度报告</a:t>
                </a:r>
              </a:p>
            </p:txBody>
          </p:sp>
        </p:grpSp>
        <p:grpSp>
          <p:nvGrpSpPr>
            <p:cNvPr id="110" name="center-metrics"/>
            <p:cNvGrpSpPr/>
            <p:nvPr/>
          </p:nvGrpSpPr>
          <p:grpSpPr>
            <a:xfrm>
              <a:off x="8248650" y="3943350"/>
              <a:ext cx="3714750" cy="800100"/>
              <a:chOff x="8248650" y="3943350"/>
              <a:chExt cx="3714750" cy="800100"/>
            </a:xfrm>
          </p:grpSpPr>
          <p:sp>
            <p:nvSpPr>
              <p:cNvPr id="103" name="Rectangle 103"/>
              <p:cNvSpPr/>
              <p:nvPr/>
            </p:nvSpPr>
            <p:spPr>
              <a:xfrm>
                <a:off x="8248650" y="3943350"/>
                <a:ext cx="3714750" cy="800100"/>
              </a:xfrm>
              <a:prstGeom prst="roundRect">
                <a:avLst>
                  <a:gd name="adj" fmla="val 9524"/>
                </a:avLst>
              </a:prstGeom>
              <a:solidFill>
                <a:srgbClr val="F5F8FE"/>
              </a:solidFill>
              <a:ln w="9525">
                <a:solidFill>
                  <a:srgbClr val="C9D5EA"/>
                </a:solidFill>
              </a:ln>
            </p:spPr>
          </p:sp>
          <p:grpSp>
            <p:nvGrpSpPr>
              <p:cNvPr id="108" name="Group 108"/>
              <p:cNvGrpSpPr/>
              <p:nvPr/>
            </p:nvGrpSpPr>
            <p:grpSpPr>
              <a:xfrm>
                <a:off x="8553450" y="4191000"/>
                <a:ext cx="342900" cy="314325"/>
                <a:chOff x="8553450" y="4191000"/>
                <a:chExt cx="342900" cy="314325"/>
              </a:xfrm>
            </p:grpSpPr>
            <p:sp>
              <p:nvSpPr>
                <p:cNvPr id="104" name="Freeform 104"/>
                <p:cNvSpPr/>
                <p:nvPr/>
              </p:nvSpPr>
              <p:spPr>
                <a:xfrm>
                  <a:off x="8553450" y="4343400"/>
                  <a:ext cx="114300" cy="152400"/>
                </a:xfrm>
                <a:custGeom>
                  <a:avLst/>
                  <a:gdLst/>
                  <a:ahLst/>
                  <a:cxnLst/>
                  <a:rect l="l" t="t" r="r" b="b"/>
                  <a:pathLst>
                    <a:path w="114300" h="152400">
                      <a:moveTo>
                        <a:pt x="0" y="19050"/>
                      </a:moveTo>
                      <a:cubicBezTo>
                        <a:pt x="0" y="8529"/>
                        <a:pt x="8529" y="0"/>
                        <a:pt x="19050" y="0"/>
                      </a:cubicBezTo>
                      <a:lnTo>
                        <a:pt x="95250" y="0"/>
                      </a:lnTo>
                      <a:cubicBezTo>
                        <a:pt x="105771" y="0"/>
                        <a:pt x="114300" y="8529"/>
                        <a:pt x="114300" y="19050"/>
                      </a:cubicBezTo>
                      <a:lnTo>
                        <a:pt x="114300" y="133350"/>
                      </a:lnTo>
                      <a:cubicBezTo>
                        <a:pt x="114300" y="143871"/>
                        <a:pt x="105771" y="152400"/>
                        <a:pt x="95250" y="152400"/>
                      </a:cubicBezTo>
                      <a:lnTo>
                        <a:pt x="19050" y="152400"/>
                      </a:lnTo>
                      <a:cubicBezTo>
                        <a:pt x="8529" y="152400"/>
                        <a:pt x="0" y="143871"/>
                        <a:pt x="0" y="133350"/>
                      </a:cubicBezTo>
                      <a:lnTo>
                        <a:pt x="0" y="19050"/>
                      </a:lnTo>
                    </a:path>
                  </a:pathLst>
                </a:custGeom>
                <a:noFill/>
                <a:ln w="28575">
                  <a:solidFill>
                    <a:srgbClr val="8A1700"/>
                  </a:solidFill>
                </a:ln>
              </p:spPr>
            </p:sp>
            <p:sp>
              <p:nvSpPr>
                <p:cNvPr id="105" name="Freeform 105"/>
                <p:cNvSpPr/>
                <p:nvPr/>
              </p:nvSpPr>
              <p:spPr>
                <a:xfrm>
                  <a:off x="8782050" y="4267200"/>
                  <a:ext cx="114300" cy="228600"/>
                </a:xfrm>
                <a:custGeom>
                  <a:avLst/>
                  <a:gdLst/>
                  <a:ahLst/>
                  <a:cxnLst/>
                  <a:rect l="l" t="t" r="r" b="b"/>
                  <a:pathLst>
                    <a:path w="114300" h="228600">
                      <a:moveTo>
                        <a:pt x="0" y="19050"/>
                      </a:moveTo>
                      <a:cubicBezTo>
                        <a:pt x="0" y="8529"/>
                        <a:pt x="8529" y="0"/>
                        <a:pt x="19050" y="0"/>
                      </a:cubicBezTo>
                      <a:lnTo>
                        <a:pt x="95250" y="0"/>
                      </a:lnTo>
                      <a:cubicBezTo>
                        <a:pt x="105771" y="0"/>
                        <a:pt x="114300" y="8529"/>
                        <a:pt x="114300" y="19050"/>
                      </a:cubicBezTo>
                      <a:lnTo>
                        <a:pt x="114300" y="209550"/>
                      </a:lnTo>
                      <a:cubicBezTo>
                        <a:pt x="114300" y="220071"/>
                        <a:pt x="105771" y="228600"/>
                        <a:pt x="95250" y="228600"/>
                      </a:cubicBezTo>
                      <a:lnTo>
                        <a:pt x="19050" y="228600"/>
                      </a:lnTo>
                      <a:cubicBezTo>
                        <a:pt x="8529" y="228600"/>
                        <a:pt x="0" y="220071"/>
                        <a:pt x="0" y="209550"/>
                      </a:cubicBezTo>
                      <a:lnTo>
                        <a:pt x="0" y="19050"/>
                      </a:lnTo>
                    </a:path>
                  </a:pathLst>
                </a:custGeom>
                <a:noFill/>
                <a:ln w="28575">
                  <a:solidFill>
                    <a:srgbClr val="8A1700"/>
                  </a:solidFill>
                </a:ln>
              </p:spPr>
            </p:sp>
            <p:sp>
              <p:nvSpPr>
                <p:cNvPr id="106" name="Freeform 106"/>
                <p:cNvSpPr/>
                <p:nvPr/>
              </p:nvSpPr>
              <p:spPr>
                <a:xfrm>
                  <a:off x="8667750" y="4191000"/>
                  <a:ext cx="114300" cy="304800"/>
                </a:xfrm>
                <a:custGeom>
                  <a:avLst/>
                  <a:gdLst/>
                  <a:ahLst/>
                  <a:cxnLst/>
                  <a:rect l="l" t="t" r="r" b="b"/>
                  <a:pathLst>
                    <a:path w="114300" h="304800">
                      <a:moveTo>
                        <a:pt x="0" y="19050"/>
                      </a:moveTo>
                      <a:cubicBezTo>
                        <a:pt x="0" y="8529"/>
                        <a:pt x="8529" y="0"/>
                        <a:pt x="19050" y="0"/>
                      </a:cubicBezTo>
                      <a:lnTo>
                        <a:pt x="95250" y="0"/>
                      </a:lnTo>
                      <a:cubicBezTo>
                        <a:pt x="105771" y="0"/>
                        <a:pt x="114300" y="8529"/>
                        <a:pt x="114300" y="19050"/>
                      </a:cubicBezTo>
                      <a:lnTo>
                        <a:pt x="114300" y="285750"/>
                      </a:lnTo>
                      <a:cubicBezTo>
                        <a:pt x="114300" y="296271"/>
                        <a:pt x="105771" y="304800"/>
                        <a:pt x="95250" y="304800"/>
                      </a:cubicBezTo>
                      <a:lnTo>
                        <a:pt x="19050" y="304800"/>
                      </a:lnTo>
                      <a:cubicBezTo>
                        <a:pt x="8529" y="304800"/>
                        <a:pt x="0" y="296271"/>
                        <a:pt x="0" y="285750"/>
                      </a:cubicBezTo>
                      <a:lnTo>
                        <a:pt x="0" y="19050"/>
                      </a:lnTo>
                    </a:path>
                  </a:pathLst>
                </a:custGeom>
                <a:noFill/>
                <a:ln w="28575">
                  <a:solidFill>
                    <a:srgbClr val="8A1700"/>
                  </a:solidFill>
                </a:ln>
              </p:spPr>
            </p:sp>
            <p:sp>
              <p:nvSpPr>
                <p:cNvPr id="107" name="Freeform 107"/>
                <p:cNvSpPr/>
                <p:nvPr/>
              </p:nvSpPr>
              <p:spPr>
                <a:xfrm>
                  <a:off x="8572500" y="4495800"/>
                  <a:ext cx="266700" cy="9525"/>
                </a:xfrm>
                <a:custGeom>
                  <a:avLst/>
                  <a:gdLst/>
                  <a:ahLst/>
                  <a:cxnLst/>
                  <a:rect l="l" t="t" r="r" b="b"/>
                  <a:pathLst>
                    <a:path w="266700" h="9525">
                      <a:moveTo>
                        <a:pt x="0" y="0"/>
                      </a:moveTo>
                      <a:lnTo>
                        <a:pt x="266700" y="0"/>
                      </a:lnTo>
                    </a:path>
                  </a:pathLst>
                </a:custGeom>
                <a:noFill/>
                <a:ln w="28575">
                  <a:solidFill>
                    <a:srgbClr val="8A1700"/>
                  </a:solidFill>
                </a:ln>
              </p:spPr>
            </p:sp>
          </p:grpSp>
          <p:sp>
            <p:nvSpPr>
              <p:cNvPr id="109" name="TextBox 109"/>
              <p:cNvSpPr txBox="1"/>
              <p:nvPr/>
            </p:nvSpPr>
            <p:spPr>
              <a:xfrm>
                <a:off x="9136761" y="4265771"/>
                <a:ext cx="1161440" cy="278702"/>
              </a:xfrm>
              <a:prstGeom prst="rect">
                <a:avLst/>
              </a:prstGeom>
              <a:noFill/>
              <a:ln>
                <a:noFill/>
              </a:ln>
            </p:spPr>
            <p:txBody>
              <a:bodyPr wrap="none" lIns="0" tIns="0" rIns="0" bIns="0" anchor="t" anchorCtr="0">
                <a:spAutoFit/>
              </a:bodyPr>
              <a:lstStyle/>
              <a:p>
                <a:pPr algn="l"/>
                <a:r>
                  <a:rPr lang="zh-CN" sz="1420" b="1" dirty="0">
                    <a:solidFill>
                      <a:srgbClr val="520E00"/>
                    </a:solidFill>
                    <a:latin typeface="+mn-lt"/>
                    <a:ea typeface="+mn-ea"/>
                    <a:cs typeface="+mn-cs"/>
                  </a:rPr>
                  <a:t>指标评价中心</a:t>
                </a:r>
              </a:p>
            </p:txBody>
          </p:sp>
        </p:grpSp>
      </p:grpSp>
      <p:grpSp>
        <p:nvGrpSpPr>
          <p:cNvPr id="118" name="update-mechanism"/>
          <p:cNvGrpSpPr/>
          <p:nvPr/>
        </p:nvGrpSpPr>
        <p:grpSpPr>
          <a:xfrm>
            <a:off x="228600" y="4838700"/>
            <a:ext cx="11734800" cy="800100"/>
            <a:chOff x="228600" y="4838700"/>
            <a:chExt cx="11734800" cy="800100"/>
          </a:xfrm>
        </p:grpSpPr>
        <p:sp>
          <p:nvSpPr>
            <p:cNvPr id="112" name="Freeform 112"/>
            <p:cNvSpPr/>
            <p:nvPr/>
          </p:nvSpPr>
          <p:spPr>
            <a:xfrm>
              <a:off x="6096000" y="4838700"/>
              <a:ext cx="190500" cy="171450"/>
            </a:xfrm>
            <a:prstGeom prst="downArrow">
              <a:avLst/>
            </a:prstGeom>
            <a:solidFill>
              <a:srgbClr val="8A1700"/>
            </a:solidFill>
            <a:ln>
              <a:noFill/>
            </a:ln>
          </p:spPr>
        </p:sp>
        <p:sp>
          <p:nvSpPr>
            <p:cNvPr id="113" name="Rectangle 113"/>
            <p:cNvSpPr/>
            <p:nvPr/>
          </p:nvSpPr>
          <p:spPr>
            <a:xfrm>
              <a:off x="228600" y="5067300"/>
              <a:ext cx="11734800" cy="571500"/>
            </a:xfrm>
            <a:prstGeom prst="roundRect">
              <a:avLst>
                <a:gd name="adj" fmla="val 13333"/>
              </a:avLst>
            </a:prstGeom>
            <a:solidFill>
              <a:srgbClr val="FFFFFF"/>
            </a:solidFill>
            <a:ln w="14288">
              <a:solidFill>
                <a:srgbClr val="8A1700"/>
              </a:solidFill>
            </a:ln>
          </p:spPr>
        </p:sp>
        <p:grpSp>
          <p:nvGrpSpPr>
            <p:cNvPr id="116" name="Group 116"/>
            <p:cNvGrpSpPr/>
            <p:nvPr/>
          </p:nvGrpSpPr>
          <p:grpSpPr>
            <a:xfrm>
              <a:off x="4213225" y="5226581"/>
              <a:ext cx="241299" cy="252937"/>
              <a:chOff x="4213225" y="5226581"/>
              <a:chExt cx="241299" cy="252937"/>
            </a:xfrm>
          </p:grpSpPr>
          <p:sp>
            <p:nvSpPr>
              <p:cNvPr id="114" name="Freeform 114"/>
              <p:cNvSpPr/>
              <p:nvPr/>
            </p:nvSpPr>
            <p:spPr>
              <a:xfrm>
                <a:off x="4213225" y="5226581"/>
                <a:ext cx="241299" cy="111387"/>
              </a:xfrm>
              <a:custGeom>
                <a:avLst/>
                <a:gdLst/>
                <a:ahLst/>
                <a:cxnLst/>
                <a:rect l="l" t="t" r="r" b="b"/>
                <a:pathLst>
                  <a:path w="241299" h="111387">
                    <a:moveTo>
                      <a:pt x="241299" y="111387"/>
                    </a:moveTo>
                    <a:cubicBezTo>
                      <a:pt x="233718" y="56832"/>
                      <a:pt x="190564" y="14097"/>
                      <a:pt x="135937" y="7049"/>
                    </a:cubicBezTo>
                    <a:cubicBezTo>
                      <a:pt x="81310" y="0"/>
                      <a:pt x="28722" y="30381"/>
                      <a:pt x="7541" y="81225"/>
                    </a:cubicBezTo>
                    <a:moveTo>
                      <a:pt x="0" y="20900"/>
                    </a:moveTo>
                    <a:lnTo>
                      <a:pt x="0" y="81225"/>
                    </a:lnTo>
                    <a:lnTo>
                      <a:pt x="60325" y="81225"/>
                    </a:lnTo>
                  </a:path>
                </a:pathLst>
              </a:custGeom>
              <a:noFill/>
              <a:ln w="27146">
                <a:solidFill>
                  <a:srgbClr val="8A1700"/>
                </a:solidFill>
              </a:ln>
            </p:spPr>
          </p:sp>
          <p:sp>
            <p:nvSpPr>
              <p:cNvPr id="115" name="Freeform 115"/>
              <p:cNvSpPr/>
              <p:nvPr/>
            </p:nvSpPr>
            <p:spPr>
              <a:xfrm>
                <a:off x="4213225" y="5368131"/>
                <a:ext cx="241299" cy="111387"/>
              </a:xfrm>
              <a:custGeom>
                <a:avLst/>
                <a:gdLst/>
                <a:ahLst/>
                <a:cxnLst/>
                <a:rect l="l" t="t" r="r" b="b"/>
                <a:pathLst>
                  <a:path w="241299" h="111387">
                    <a:moveTo>
                      <a:pt x="0" y="0"/>
                    </a:moveTo>
                    <a:cubicBezTo>
                      <a:pt x="7582" y="54556"/>
                      <a:pt x="50735" y="97290"/>
                      <a:pt x="105362" y="104339"/>
                    </a:cubicBezTo>
                    <a:cubicBezTo>
                      <a:pt x="159990" y="111387"/>
                      <a:pt x="212577" y="81007"/>
                      <a:pt x="233759" y="30162"/>
                    </a:cubicBezTo>
                    <a:moveTo>
                      <a:pt x="241299" y="90487"/>
                    </a:moveTo>
                    <a:lnTo>
                      <a:pt x="241299" y="30162"/>
                    </a:lnTo>
                    <a:lnTo>
                      <a:pt x="180975" y="30162"/>
                    </a:lnTo>
                  </a:path>
                </a:pathLst>
              </a:custGeom>
              <a:noFill/>
              <a:ln w="27146">
                <a:solidFill>
                  <a:srgbClr val="8A1700"/>
                </a:solidFill>
              </a:ln>
            </p:spPr>
          </p:sp>
        </p:grpSp>
        <p:sp>
          <p:nvSpPr>
            <p:cNvPr id="117" name="TextBox 117"/>
            <p:cNvSpPr txBox="1"/>
            <p:nvPr/>
          </p:nvSpPr>
          <p:spPr>
            <a:xfrm>
              <a:off x="4657344" y="5237798"/>
              <a:ext cx="3169920" cy="381381"/>
            </a:xfrm>
            <a:prstGeom prst="rect">
              <a:avLst/>
            </a:prstGeom>
            <a:noFill/>
            <a:ln>
              <a:noFill/>
            </a:ln>
          </p:spPr>
          <p:txBody>
            <a:bodyPr wrap="none" lIns="0" tIns="0" rIns="0" bIns="0" anchor="t" anchorCtr="0">
              <a:spAutoFit/>
            </a:bodyPr>
            <a:lstStyle/>
            <a:p>
              <a:pPr algn="l"/>
              <a:r>
                <a:rPr lang="zh-CN" sz="1950" b="1" dirty="0">
                  <a:solidFill>
                    <a:srgbClr val="C02C0A"/>
                  </a:solidFill>
                  <a:latin typeface="+mn-lt"/>
                  <a:ea typeface="+mn-ea"/>
                  <a:cs typeface="+mn-cs"/>
                </a:rPr>
                <a:t>实时、日级、月级</a:t>
              </a:r>
              <a:r>
                <a:rPr lang="zh-CN" sz="1950" b="1" dirty="0">
                  <a:solidFill>
                    <a:srgbClr val="520E00"/>
                  </a:solidFill>
                  <a:latin typeface="+mn-lt"/>
                  <a:ea typeface="+mn-ea"/>
                  <a:cs typeface="+mn-cs"/>
                </a:rPr>
                <a:t>更新机制</a:t>
              </a:r>
            </a:p>
          </p:txBody>
        </p:sp>
      </p:gr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18​</a:t>
              </a:r>
            </a:p>
          </p:txBody>
        </p:sp>
        <p:sp>
          <p:nvSpPr>
            <p:cNvPr id="4" name="TextBox 4"/>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组织与合规：增长必须建立在客户信任之上</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66" name="org-structure"/>
          <p:cNvGrpSpPr/>
          <p:nvPr/>
        </p:nvGrpSpPr>
        <p:grpSpPr>
          <a:xfrm>
            <a:off x="400050" y="952500"/>
            <a:ext cx="5410200" cy="4213384"/>
            <a:chOff x="400050" y="952500"/>
            <a:chExt cx="5410200" cy="4213384"/>
          </a:xfrm>
        </p:grpSpPr>
        <p:grpSp>
          <p:nvGrpSpPr>
            <p:cNvPr id="27" name="org-hq"/>
            <p:cNvGrpSpPr/>
            <p:nvPr/>
          </p:nvGrpSpPr>
          <p:grpSpPr>
            <a:xfrm>
              <a:off x="400050" y="952500"/>
              <a:ext cx="5410200" cy="1165384"/>
              <a:chOff x="400050" y="952500"/>
              <a:chExt cx="5410200" cy="1165384"/>
            </a:xfrm>
          </p:grpSpPr>
          <p:sp>
            <p:nvSpPr>
              <p:cNvPr id="7" name="Ellipse 7"/>
              <p:cNvSpPr/>
              <p:nvPr/>
            </p:nvSpPr>
            <p:spPr>
              <a:xfrm>
                <a:off x="400050" y="1066800"/>
                <a:ext cx="723900" cy="723900"/>
              </a:xfrm>
              <a:prstGeom prst="ellipse">
                <a:avLst/>
              </a:prstGeom>
              <a:solidFill>
                <a:srgbClr val="520E00"/>
              </a:solidFill>
              <a:ln>
                <a:noFill/>
              </a:ln>
            </p:spPr>
          </p:sp>
          <p:grpSp>
            <p:nvGrpSpPr>
              <p:cNvPr id="16" name="Group 16"/>
              <p:cNvGrpSpPr/>
              <p:nvPr/>
            </p:nvGrpSpPr>
            <p:grpSpPr>
              <a:xfrm>
                <a:off x="633412" y="1300162"/>
                <a:ext cx="257175" cy="266701"/>
                <a:chOff x="633412" y="1300162"/>
                <a:chExt cx="257175" cy="266701"/>
              </a:xfrm>
            </p:grpSpPr>
            <p:sp>
              <p:nvSpPr>
                <p:cNvPr id="8" name="Freeform 8"/>
                <p:cNvSpPr/>
                <p:nvPr/>
              </p:nvSpPr>
              <p:spPr>
                <a:xfrm>
                  <a:off x="633412" y="1557338"/>
                  <a:ext cx="257175" cy="9525"/>
                </a:xfrm>
                <a:custGeom>
                  <a:avLst/>
                  <a:gdLst/>
                  <a:ahLst/>
                  <a:cxnLst/>
                  <a:rect l="l" t="t" r="r" b="b"/>
                  <a:pathLst>
                    <a:path w="257175" h="9525">
                      <a:moveTo>
                        <a:pt x="0" y="0"/>
                      </a:moveTo>
                      <a:lnTo>
                        <a:pt x="257175" y="0"/>
                      </a:lnTo>
                    </a:path>
                  </a:pathLst>
                </a:custGeom>
                <a:noFill/>
                <a:ln w="21431">
                  <a:solidFill>
                    <a:srgbClr val="FFFFFF"/>
                  </a:solidFill>
                </a:ln>
              </p:spPr>
            </p:sp>
            <p:sp>
              <p:nvSpPr>
                <p:cNvPr id="9" name="Freeform 9"/>
                <p:cNvSpPr/>
                <p:nvPr/>
              </p:nvSpPr>
              <p:spPr>
                <a:xfrm>
                  <a:off x="633412" y="1400175"/>
                  <a:ext cx="257175" cy="9525"/>
                </a:xfrm>
                <a:custGeom>
                  <a:avLst/>
                  <a:gdLst/>
                  <a:ahLst/>
                  <a:cxnLst/>
                  <a:rect l="l" t="t" r="r" b="b"/>
                  <a:pathLst>
                    <a:path w="257175" h="9525">
                      <a:moveTo>
                        <a:pt x="0" y="0"/>
                      </a:moveTo>
                      <a:lnTo>
                        <a:pt x="257175" y="0"/>
                      </a:lnTo>
                    </a:path>
                  </a:pathLst>
                </a:custGeom>
                <a:noFill/>
                <a:ln w="21431">
                  <a:solidFill>
                    <a:srgbClr val="FFFFFF"/>
                  </a:solidFill>
                </a:ln>
              </p:spPr>
            </p:sp>
            <p:sp>
              <p:nvSpPr>
                <p:cNvPr id="10" name="Freeform 10"/>
                <p:cNvSpPr/>
                <p:nvPr/>
              </p:nvSpPr>
              <p:spPr>
                <a:xfrm>
                  <a:off x="661988" y="1300162"/>
                  <a:ext cx="200025" cy="42862"/>
                </a:xfrm>
                <a:custGeom>
                  <a:avLst/>
                  <a:gdLst/>
                  <a:ahLst/>
                  <a:cxnLst/>
                  <a:rect l="l" t="t" r="r" b="b"/>
                  <a:pathLst>
                    <a:path w="200025" h="42862">
                      <a:moveTo>
                        <a:pt x="0" y="42862"/>
                      </a:moveTo>
                      <a:lnTo>
                        <a:pt x="100012" y="0"/>
                      </a:lnTo>
                      <a:lnTo>
                        <a:pt x="200025" y="42862"/>
                      </a:lnTo>
                    </a:path>
                  </a:pathLst>
                </a:custGeom>
                <a:noFill/>
                <a:ln w="21431">
                  <a:solidFill>
                    <a:srgbClr val="FFFFFF"/>
                  </a:solidFill>
                </a:ln>
              </p:spPr>
            </p:sp>
            <p:sp>
              <p:nvSpPr>
                <p:cNvPr id="11" name="Freeform 11"/>
                <p:cNvSpPr/>
                <p:nvPr/>
              </p:nvSpPr>
              <p:spPr>
                <a:xfrm>
                  <a:off x="647700" y="1400175"/>
                  <a:ext cx="9525" cy="157162"/>
                </a:xfrm>
                <a:custGeom>
                  <a:avLst/>
                  <a:gdLst/>
                  <a:ahLst/>
                  <a:cxnLst/>
                  <a:rect l="l" t="t" r="r" b="b"/>
                  <a:pathLst>
                    <a:path w="9525" h="157162">
                      <a:moveTo>
                        <a:pt x="0" y="0"/>
                      </a:moveTo>
                      <a:lnTo>
                        <a:pt x="0" y="157162"/>
                      </a:lnTo>
                    </a:path>
                  </a:pathLst>
                </a:custGeom>
                <a:noFill/>
                <a:ln w="21431">
                  <a:solidFill>
                    <a:srgbClr val="FFFFFF"/>
                  </a:solidFill>
                </a:ln>
              </p:spPr>
            </p:sp>
            <p:sp>
              <p:nvSpPr>
                <p:cNvPr id="12" name="Freeform 12"/>
                <p:cNvSpPr/>
                <p:nvPr/>
              </p:nvSpPr>
              <p:spPr>
                <a:xfrm>
                  <a:off x="876300" y="1400175"/>
                  <a:ext cx="9525" cy="157162"/>
                </a:xfrm>
                <a:custGeom>
                  <a:avLst/>
                  <a:gdLst/>
                  <a:ahLst/>
                  <a:cxnLst/>
                  <a:rect l="l" t="t" r="r" b="b"/>
                  <a:pathLst>
                    <a:path w="9525" h="157162">
                      <a:moveTo>
                        <a:pt x="0" y="0"/>
                      </a:moveTo>
                      <a:lnTo>
                        <a:pt x="0" y="157162"/>
                      </a:lnTo>
                    </a:path>
                  </a:pathLst>
                </a:custGeom>
                <a:noFill/>
                <a:ln w="21431">
                  <a:solidFill>
                    <a:srgbClr val="FFFFFF"/>
                  </a:solidFill>
                </a:ln>
              </p:spPr>
            </p:sp>
            <p:sp>
              <p:nvSpPr>
                <p:cNvPr id="13" name="Freeform 13"/>
                <p:cNvSpPr/>
                <p:nvPr/>
              </p:nvSpPr>
              <p:spPr>
                <a:xfrm>
                  <a:off x="704850" y="1457325"/>
                  <a:ext cx="9525" cy="42862"/>
                </a:xfrm>
                <a:custGeom>
                  <a:avLst/>
                  <a:gdLst/>
                  <a:ahLst/>
                  <a:cxnLst/>
                  <a:rect l="l" t="t" r="r" b="b"/>
                  <a:pathLst>
                    <a:path w="9525" h="42862">
                      <a:moveTo>
                        <a:pt x="0" y="0"/>
                      </a:moveTo>
                      <a:lnTo>
                        <a:pt x="0" y="42862"/>
                      </a:lnTo>
                    </a:path>
                  </a:pathLst>
                </a:custGeom>
                <a:noFill/>
                <a:ln w="21431">
                  <a:solidFill>
                    <a:srgbClr val="FFFFFF"/>
                  </a:solidFill>
                </a:ln>
              </p:spPr>
            </p:sp>
            <p:sp>
              <p:nvSpPr>
                <p:cNvPr id="14" name="Freeform 14"/>
                <p:cNvSpPr/>
                <p:nvPr/>
              </p:nvSpPr>
              <p:spPr>
                <a:xfrm>
                  <a:off x="762000" y="1457325"/>
                  <a:ext cx="9525" cy="42862"/>
                </a:xfrm>
                <a:custGeom>
                  <a:avLst/>
                  <a:gdLst/>
                  <a:ahLst/>
                  <a:cxnLst/>
                  <a:rect l="l" t="t" r="r" b="b"/>
                  <a:pathLst>
                    <a:path w="9525" h="42862">
                      <a:moveTo>
                        <a:pt x="0" y="0"/>
                      </a:moveTo>
                      <a:lnTo>
                        <a:pt x="0" y="42862"/>
                      </a:lnTo>
                    </a:path>
                  </a:pathLst>
                </a:custGeom>
                <a:noFill/>
                <a:ln w="21431">
                  <a:solidFill>
                    <a:srgbClr val="FFFFFF"/>
                  </a:solidFill>
                </a:ln>
              </p:spPr>
            </p:sp>
            <p:sp>
              <p:nvSpPr>
                <p:cNvPr id="15" name="Freeform 15"/>
                <p:cNvSpPr/>
                <p:nvPr/>
              </p:nvSpPr>
              <p:spPr>
                <a:xfrm>
                  <a:off x="819150" y="1457325"/>
                  <a:ext cx="9525" cy="42862"/>
                </a:xfrm>
                <a:custGeom>
                  <a:avLst/>
                  <a:gdLst/>
                  <a:ahLst/>
                  <a:cxnLst/>
                  <a:rect l="l" t="t" r="r" b="b"/>
                  <a:pathLst>
                    <a:path w="9525" h="42862">
                      <a:moveTo>
                        <a:pt x="0" y="0"/>
                      </a:moveTo>
                      <a:lnTo>
                        <a:pt x="0" y="42862"/>
                      </a:lnTo>
                    </a:path>
                  </a:pathLst>
                </a:custGeom>
                <a:noFill/>
                <a:ln w="21431">
                  <a:solidFill>
                    <a:srgbClr val="FFFFFF"/>
                  </a:solidFill>
                </a:ln>
              </p:spPr>
            </p:sp>
          </p:grpSp>
          <p:sp>
            <p:nvSpPr>
              <p:cNvPr id="17" name="TextBox 17"/>
              <p:cNvSpPr txBox="1"/>
              <p:nvPr/>
            </p:nvSpPr>
            <p:spPr>
              <a:xfrm>
                <a:off x="605511" y="1897856"/>
                <a:ext cx="312979"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总行</a:t>
                </a:r>
              </a:p>
            </p:txBody>
          </p:sp>
          <p:sp>
            <p:nvSpPr>
              <p:cNvPr id="18" name="Rectangle 18"/>
              <p:cNvSpPr/>
              <p:nvPr/>
            </p:nvSpPr>
            <p:spPr>
              <a:xfrm>
                <a:off x="1428750" y="952500"/>
                <a:ext cx="4381500" cy="952500"/>
              </a:xfrm>
              <a:prstGeom prst="roundRect">
                <a:avLst>
                  <a:gd name="adj" fmla="val 8000"/>
                </a:avLst>
              </a:prstGeom>
              <a:solidFill>
                <a:srgbClr val="F5F8FE"/>
              </a:solidFill>
              <a:ln w="9525">
                <a:solidFill>
                  <a:srgbClr val="C9D5EA"/>
                </a:solidFill>
              </a:ln>
            </p:spPr>
          </p:sp>
          <p:grpSp>
            <p:nvGrpSpPr>
              <p:cNvPr id="25" name="Group 25"/>
              <p:cNvGrpSpPr/>
              <p:nvPr/>
            </p:nvGrpSpPr>
            <p:grpSpPr>
              <a:xfrm>
                <a:off x="1733550" y="1257300"/>
                <a:ext cx="342900" cy="342900"/>
                <a:chOff x="1733550" y="1257300"/>
                <a:chExt cx="342900" cy="342900"/>
              </a:xfrm>
            </p:grpSpPr>
            <p:sp>
              <p:nvSpPr>
                <p:cNvPr id="19" name="Freeform 19"/>
                <p:cNvSpPr/>
                <p:nvPr/>
              </p:nvSpPr>
              <p:spPr>
                <a:xfrm>
                  <a:off x="1866900" y="14097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8575">
                  <a:solidFill>
                    <a:srgbClr val="8A1700"/>
                  </a:solidFill>
                </a:ln>
              </p:spPr>
            </p:sp>
            <p:sp>
              <p:nvSpPr>
                <p:cNvPr id="20" name="Freeform 20"/>
                <p:cNvSpPr/>
                <p:nvPr/>
              </p:nvSpPr>
              <p:spPr>
                <a:xfrm>
                  <a:off x="1828800" y="1543050"/>
                  <a:ext cx="152400" cy="57150"/>
                </a:xfrm>
                <a:custGeom>
                  <a:avLst/>
                  <a:gdLst/>
                  <a:ahLst/>
                  <a:cxnLst/>
                  <a:rect l="l" t="t" r="r" b="b"/>
                  <a:pathLst>
                    <a:path w="152400" h="57150">
                      <a:moveTo>
                        <a:pt x="0" y="57150"/>
                      </a:moveTo>
                      <a:lnTo>
                        <a:pt x="0" y="38100"/>
                      </a:lnTo>
                      <a:cubicBezTo>
                        <a:pt x="0" y="17058"/>
                        <a:pt x="17058" y="0"/>
                        <a:pt x="38100" y="0"/>
                      </a:cubicBezTo>
                      <a:lnTo>
                        <a:pt x="114300" y="0"/>
                      </a:lnTo>
                      <a:cubicBezTo>
                        <a:pt x="135342" y="0"/>
                        <a:pt x="152400" y="17058"/>
                        <a:pt x="152400" y="38100"/>
                      </a:cubicBezTo>
                      <a:lnTo>
                        <a:pt x="152400" y="57150"/>
                      </a:lnTo>
                    </a:path>
                  </a:pathLst>
                </a:custGeom>
                <a:noFill/>
                <a:ln w="28575">
                  <a:solidFill>
                    <a:srgbClr val="8A1700"/>
                  </a:solidFill>
                </a:ln>
              </p:spPr>
            </p:sp>
            <p:sp>
              <p:nvSpPr>
                <p:cNvPr id="21" name="Freeform 21"/>
                <p:cNvSpPr/>
                <p:nvPr/>
              </p:nvSpPr>
              <p:spPr>
                <a:xfrm>
                  <a:off x="1962150" y="12573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8575">
                  <a:solidFill>
                    <a:srgbClr val="8A1700"/>
                  </a:solidFill>
                </a:ln>
              </p:spPr>
            </p:sp>
            <p:sp>
              <p:nvSpPr>
                <p:cNvPr id="22" name="Freeform 22"/>
                <p:cNvSpPr/>
                <p:nvPr/>
              </p:nvSpPr>
              <p:spPr>
                <a:xfrm>
                  <a:off x="2000250" y="1390650"/>
                  <a:ext cx="76200" cy="57150"/>
                </a:xfrm>
                <a:custGeom>
                  <a:avLst/>
                  <a:gdLst/>
                  <a:ahLst/>
                  <a:cxnLst/>
                  <a:rect l="l" t="t" r="r" b="b"/>
                  <a:pathLst>
                    <a:path w="76200" h="57150">
                      <a:moveTo>
                        <a:pt x="0" y="0"/>
                      </a:moveTo>
                      <a:lnTo>
                        <a:pt x="38100" y="0"/>
                      </a:lnTo>
                      <a:cubicBezTo>
                        <a:pt x="59142" y="0"/>
                        <a:pt x="76200" y="17058"/>
                        <a:pt x="76200" y="38100"/>
                      </a:cubicBezTo>
                      <a:lnTo>
                        <a:pt x="76200" y="57150"/>
                      </a:lnTo>
                    </a:path>
                  </a:pathLst>
                </a:custGeom>
                <a:noFill/>
                <a:ln w="28575">
                  <a:solidFill>
                    <a:srgbClr val="8A1700"/>
                  </a:solidFill>
                </a:ln>
              </p:spPr>
            </p:sp>
            <p:sp>
              <p:nvSpPr>
                <p:cNvPr id="23" name="Freeform 23"/>
                <p:cNvSpPr/>
                <p:nvPr/>
              </p:nvSpPr>
              <p:spPr>
                <a:xfrm>
                  <a:off x="1771650" y="12573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8575">
                  <a:solidFill>
                    <a:srgbClr val="8A1700"/>
                  </a:solidFill>
                </a:ln>
              </p:spPr>
            </p:sp>
            <p:sp>
              <p:nvSpPr>
                <p:cNvPr id="24" name="Freeform 24"/>
                <p:cNvSpPr/>
                <p:nvPr/>
              </p:nvSpPr>
              <p:spPr>
                <a:xfrm>
                  <a:off x="1733550" y="1390650"/>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28575">
                  <a:solidFill>
                    <a:srgbClr val="8A1700"/>
                  </a:solidFill>
                </a:ln>
              </p:spPr>
            </p:sp>
          </p:grpSp>
          <p:sp>
            <p:nvSpPr>
              <p:cNvPr id="26" name="TextBox 26"/>
              <p:cNvSpPr txBox="1"/>
              <p:nvPr/>
            </p:nvSpPr>
            <p:spPr>
              <a:xfrm>
                <a:off x="2356485" y="1383506"/>
                <a:ext cx="2876144"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三级组织：总行统筹、分行执行、支行协同</a:t>
                </a:r>
              </a:p>
            </p:txBody>
          </p:sp>
        </p:grpSp>
        <p:sp>
          <p:nvSpPr>
            <p:cNvPr id="28" name="Freeform 28"/>
            <p:cNvSpPr/>
            <p:nvPr/>
          </p:nvSpPr>
          <p:spPr>
            <a:xfrm>
              <a:off x="666750" y="2133600"/>
              <a:ext cx="190500" cy="228600"/>
            </a:xfrm>
            <a:prstGeom prst="downArrow">
              <a:avLst/>
            </a:prstGeom>
            <a:solidFill>
              <a:srgbClr val="E84E2F"/>
            </a:solidFill>
            <a:ln>
              <a:noFill/>
            </a:ln>
          </p:spPr>
        </p:sp>
        <p:grpSp>
          <p:nvGrpSpPr>
            <p:cNvPr id="47" name="org-branch"/>
            <p:cNvGrpSpPr/>
            <p:nvPr/>
          </p:nvGrpSpPr>
          <p:grpSpPr>
            <a:xfrm>
              <a:off x="400050" y="2476500"/>
              <a:ext cx="5410200" cy="1165384"/>
              <a:chOff x="400050" y="2476500"/>
              <a:chExt cx="5410200" cy="1165384"/>
            </a:xfrm>
          </p:grpSpPr>
          <p:sp>
            <p:nvSpPr>
              <p:cNvPr id="29" name="Ellipse 29"/>
              <p:cNvSpPr/>
              <p:nvPr/>
            </p:nvSpPr>
            <p:spPr>
              <a:xfrm>
                <a:off x="400050" y="2590800"/>
                <a:ext cx="723900" cy="723900"/>
              </a:xfrm>
              <a:prstGeom prst="ellipse">
                <a:avLst/>
              </a:prstGeom>
              <a:solidFill>
                <a:srgbClr val="520E00"/>
              </a:solidFill>
              <a:ln>
                <a:noFill/>
              </a:ln>
            </p:spPr>
          </p:sp>
          <p:grpSp>
            <p:nvGrpSpPr>
              <p:cNvPr id="38" name="Group 38"/>
              <p:cNvGrpSpPr/>
              <p:nvPr/>
            </p:nvGrpSpPr>
            <p:grpSpPr>
              <a:xfrm>
                <a:off x="633412" y="2824162"/>
                <a:ext cx="257175" cy="266701"/>
                <a:chOff x="633412" y="2824162"/>
                <a:chExt cx="257175" cy="266701"/>
              </a:xfrm>
            </p:grpSpPr>
            <p:sp>
              <p:nvSpPr>
                <p:cNvPr id="30" name="Freeform 30"/>
                <p:cNvSpPr/>
                <p:nvPr/>
              </p:nvSpPr>
              <p:spPr>
                <a:xfrm>
                  <a:off x="633412" y="3081338"/>
                  <a:ext cx="257175" cy="9525"/>
                </a:xfrm>
                <a:custGeom>
                  <a:avLst/>
                  <a:gdLst/>
                  <a:ahLst/>
                  <a:cxnLst/>
                  <a:rect l="l" t="t" r="r" b="b"/>
                  <a:pathLst>
                    <a:path w="257175" h="9525">
                      <a:moveTo>
                        <a:pt x="0" y="0"/>
                      </a:moveTo>
                      <a:lnTo>
                        <a:pt x="257175" y="0"/>
                      </a:lnTo>
                    </a:path>
                  </a:pathLst>
                </a:custGeom>
                <a:noFill/>
                <a:ln w="21431">
                  <a:solidFill>
                    <a:srgbClr val="FFFFFF"/>
                  </a:solidFill>
                </a:ln>
              </p:spPr>
            </p:sp>
            <p:sp>
              <p:nvSpPr>
                <p:cNvPr id="31" name="Freeform 31"/>
                <p:cNvSpPr/>
                <p:nvPr/>
              </p:nvSpPr>
              <p:spPr>
                <a:xfrm>
                  <a:off x="719138" y="2895600"/>
                  <a:ext cx="14288" cy="9525"/>
                </a:xfrm>
                <a:custGeom>
                  <a:avLst/>
                  <a:gdLst/>
                  <a:ahLst/>
                  <a:cxnLst/>
                  <a:rect l="l" t="t" r="r" b="b"/>
                  <a:pathLst>
                    <a:path w="14288" h="9525">
                      <a:moveTo>
                        <a:pt x="0" y="0"/>
                      </a:moveTo>
                      <a:lnTo>
                        <a:pt x="14288" y="0"/>
                      </a:lnTo>
                    </a:path>
                  </a:pathLst>
                </a:custGeom>
                <a:noFill/>
                <a:ln w="21431">
                  <a:solidFill>
                    <a:srgbClr val="FFFFFF"/>
                  </a:solidFill>
                </a:ln>
              </p:spPr>
            </p:sp>
            <p:sp>
              <p:nvSpPr>
                <p:cNvPr id="32" name="Freeform 32"/>
                <p:cNvSpPr/>
                <p:nvPr/>
              </p:nvSpPr>
              <p:spPr>
                <a:xfrm>
                  <a:off x="719138" y="2952750"/>
                  <a:ext cx="14288" cy="9525"/>
                </a:xfrm>
                <a:custGeom>
                  <a:avLst/>
                  <a:gdLst/>
                  <a:ahLst/>
                  <a:cxnLst/>
                  <a:rect l="l" t="t" r="r" b="b"/>
                  <a:pathLst>
                    <a:path w="14288" h="9525">
                      <a:moveTo>
                        <a:pt x="0" y="0"/>
                      </a:moveTo>
                      <a:lnTo>
                        <a:pt x="14288" y="0"/>
                      </a:lnTo>
                    </a:path>
                  </a:pathLst>
                </a:custGeom>
                <a:noFill/>
                <a:ln w="21431">
                  <a:solidFill>
                    <a:srgbClr val="FFFFFF"/>
                  </a:solidFill>
                </a:ln>
              </p:spPr>
            </p:sp>
            <p:sp>
              <p:nvSpPr>
                <p:cNvPr id="33" name="Freeform 33"/>
                <p:cNvSpPr/>
                <p:nvPr/>
              </p:nvSpPr>
              <p:spPr>
                <a:xfrm>
                  <a:off x="719138" y="3009900"/>
                  <a:ext cx="14288" cy="9525"/>
                </a:xfrm>
                <a:custGeom>
                  <a:avLst/>
                  <a:gdLst/>
                  <a:ahLst/>
                  <a:cxnLst/>
                  <a:rect l="l" t="t" r="r" b="b"/>
                  <a:pathLst>
                    <a:path w="14288" h="9525">
                      <a:moveTo>
                        <a:pt x="0" y="0"/>
                      </a:moveTo>
                      <a:lnTo>
                        <a:pt x="14288" y="0"/>
                      </a:lnTo>
                    </a:path>
                  </a:pathLst>
                </a:custGeom>
                <a:noFill/>
                <a:ln w="21431">
                  <a:solidFill>
                    <a:srgbClr val="FFFFFF"/>
                  </a:solidFill>
                </a:ln>
              </p:spPr>
            </p:sp>
            <p:sp>
              <p:nvSpPr>
                <p:cNvPr id="34" name="Freeform 34"/>
                <p:cNvSpPr/>
                <p:nvPr/>
              </p:nvSpPr>
              <p:spPr>
                <a:xfrm>
                  <a:off x="790575" y="2895600"/>
                  <a:ext cx="14288" cy="9525"/>
                </a:xfrm>
                <a:custGeom>
                  <a:avLst/>
                  <a:gdLst/>
                  <a:ahLst/>
                  <a:cxnLst/>
                  <a:rect l="l" t="t" r="r" b="b"/>
                  <a:pathLst>
                    <a:path w="14288" h="9525">
                      <a:moveTo>
                        <a:pt x="0" y="0"/>
                      </a:moveTo>
                      <a:lnTo>
                        <a:pt x="14288" y="0"/>
                      </a:lnTo>
                    </a:path>
                  </a:pathLst>
                </a:custGeom>
                <a:noFill/>
                <a:ln w="21431">
                  <a:solidFill>
                    <a:srgbClr val="FFFFFF"/>
                  </a:solidFill>
                </a:ln>
              </p:spPr>
            </p:sp>
            <p:sp>
              <p:nvSpPr>
                <p:cNvPr id="35" name="Freeform 35"/>
                <p:cNvSpPr/>
                <p:nvPr/>
              </p:nvSpPr>
              <p:spPr>
                <a:xfrm>
                  <a:off x="790575" y="2952750"/>
                  <a:ext cx="14288" cy="9525"/>
                </a:xfrm>
                <a:custGeom>
                  <a:avLst/>
                  <a:gdLst/>
                  <a:ahLst/>
                  <a:cxnLst/>
                  <a:rect l="l" t="t" r="r" b="b"/>
                  <a:pathLst>
                    <a:path w="14288" h="9525">
                      <a:moveTo>
                        <a:pt x="0" y="0"/>
                      </a:moveTo>
                      <a:lnTo>
                        <a:pt x="14288" y="0"/>
                      </a:lnTo>
                    </a:path>
                  </a:pathLst>
                </a:custGeom>
                <a:noFill/>
                <a:ln w="21431">
                  <a:solidFill>
                    <a:srgbClr val="FFFFFF"/>
                  </a:solidFill>
                </a:ln>
              </p:spPr>
            </p:sp>
            <p:sp>
              <p:nvSpPr>
                <p:cNvPr id="36" name="Freeform 36"/>
                <p:cNvSpPr/>
                <p:nvPr/>
              </p:nvSpPr>
              <p:spPr>
                <a:xfrm>
                  <a:off x="790575" y="3009900"/>
                  <a:ext cx="14288" cy="9525"/>
                </a:xfrm>
                <a:custGeom>
                  <a:avLst/>
                  <a:gdLst/>
                  <a:ahLst/>
                  <a:cxnLst/>
                  <a:rect l="l" t="t" r="r" b="b"/>
                  <a:pathLst>
                    <a:path w="14288" h="9525">
                      <a:moveTo>
                        <a:pt x="0" y="0"/>
                      </a:moveTo>
                      <a:lnTo>
                        <a:pt x="14288" y="0"/>
                      </a:lnTo>
                    </a:path>
                  </a:pathLst>
                </a:custGeom>
                <a:noFill/>
                <a:ln w="21431">
                  <a:solidFill>
                    <a:srgbClr val="FFFFFF"/>
                  </a:solidFill>
                </a:ln>
              </p:spPr>
            </p:sp>
            <p:sp>
              <p:nvSpPr>
                <p:cNvPr id="37" name="Freeform 37"/>
                <p:cNvSpPr/>
                <p:nvPr/>
              </p:nvSpPr>
              <p:spPr>
                <a:xfrm>
                  <a:off x="661988" y="2824162"/>
                  <a:ext cx="200025" cy="257175"/>
                </a:xfrm>
                <a:custGeom>
                  <a:avLst/>
                  <a:gdLst/>
                  <a:ahLst/>
                  <a:cxnLst/>
                  <a:rect l="l" t="t" r="r" b="b"/>
                  <a:pathLst>
                    <a:path w="200025" h="257175">
                      <a:moveTo>
                        <a:pt x="0" y="257175"/>
                      </a:moveTo>
                      <a:lnTo>
                        <a:pt x="0" y="28575"/>
                      </a:lnTo>
                      <a:cubicBezTo>
                        <a:pt x="0" y="12793"/>
                        <a:pt x="12793" y="0"/>
                        <a:pt x="28575" y="0"/>
                      </a:cubicBezTo>
                      <a:lnTo>
                        <a:pt x="171450" y="0"/>
                      </a:lnTo>
                      <a:cubicBezTo>
                        <a:pt x="187232" y="0"/>
                        <a:pt x="200025" y="12793"/>
                        <a:pt x="200025" y="28575"/>
                      </a:cubicBezTo>
                      <a:lnTo>
                        <a:pt x="200025" y="257175"/>
                      </a:lnTo>
                    </a:path>
                  </a:pathLst>
                </a:custGeom>
                <a:noFill/>
                <a:ln w="21431">
                  <a:solidFill>
                    <a:srgbClr val="FFFFFF"/>
                  </a:solidFill>
                </a:ln>
              </p:spPr>
            </p:sp>
          </p:grpSp>
          <p:sp>
            <p:nvSpPr>
              <p:cNvPr id="39" name="TextBox 39"/>
              <p:cNvSpPr txBox="1"/>
              <p:nvPr/>
            </p:nvSpPr>
            <p:spPr>
              <a:xfrm>
                <a:off x="605511" y="3421856"/>
                <a:ext cx="312979"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分行</a:t>
                </a:r>
              </a:p>
            </p:txBody>
          </p:sp>
          <p:sp>
            <p:nvSpPr>
              <p:cNvPr id="40" name="Rectangle 40"/>
              <p:cNvSpPr/>
              <p:nvPr/>
            </p:nvSpPr>
            <p:spPr>
              <a:xfrm>
                <a:off x="1428750" y="2476500"/>
                <a:ext cx="4381500" cy="952500"/>
              </a:xfrm>
              <a:prstGeom prst="roundRect">
                <a:avLst>
                  <a:gd name="adj" fmla="val 8000"/>
                </a:avLst>
              </a:prstGeom>
              <a:solidFill>
                <a:srgbClr val="F5F8FE"/>
              </a:solidFill>
              <a:ln w="9525">
                <a:solidFill>
                  <a:srgbClr val="C9D5EA"/>
                </a:solidFill>
              </a:ln>
            </p:spPr>
          </p:sp>
          <p:grpSp>
            <p:nvGrpSpPr>
              <p:cNvPr id="45" name="Group 45"/>
              <p:cNvGrpSpPr/>
              <p:nvPr/>
            </p:nvGrpSpPr>
            <p:grpSpPr>
              <a:xfrm>
                <a:off x="1733550" y="2781300"/>
                <a:ext cx="342900" cy="342900"/>
                <a:chOff x="1733550" y="2781300"/>
                <a:chExt cx="342900" cy="342900"/>
              </a:xfrm>
            </p:grpSpPr>
            <p:sp>
              <p:nvSpPr>
                <p:cNvPr id="41" name="Freeform 41"/>
                <p:cNvSpPr/>
                <p:nvPr/>
              </p:nvSpPr>
              <p:spPr>
                <a:xfrm>
                  <a:off x="1771650" y="2781300"/>
                  <a:ext cx="152400" cy="152400"/>
                </a:xfrm>
                <a:custGeom>
                  <a:avLst/>
                  <a:gdLst/>
                  <a:ahLst/>
                  <a:cxnLst/>
                  <a:rect l="l" t="t" r="r" b="b"/>
                  <a:pathLst>
                    <a:path w="152400" h="152400">
                      <a:moveTo>
                        <a:pt x="0" y="76200"/>
                      </a:moveTo>
                      <a:cubicBezTo>
                        <a:pt x="0" y="118284"/>
                        <a:pt x="34116" y="152400"/>
                        <a:pt x="76200" y="152400"/>
                      </a:cubicBezTo>
                      <a:cubicBezTo>
                        <a:pt x="118284" y="152400"/>
                        <a:pt x="152400" y="118284"/>
                        <a:pt x="152400" y="76200"/>
                      </a:cubicBezTo>
                      <a:cubicBezTo>
                        <a:pt x="152400" y="34116"/>
                        <a:pt x="118284" y="0"/>
                        <a:pt x="76200" y="0"/>
                      </a:cubicBezTo>
                      <a:cubicBezTo>
                        <a:pt x="34116" y="0"/>
                        <a:pt x="0" y="34116"/>
                        <a:pt x="0" y="76200"/>
                      </a:cubicBezTo>
                    </a:path>
                  </a:pathLst>
                </a:custGeom>
                <a:noFill/>
                <a:ln w="28575">
                  <a:solidFill>
                    <a:srgbClr val="8A1700"/>
                  </a:solidFill>
                </a:ln>
              </p:spPr>
            </p:sp>
            <p:sp>
              <p:nvSpPr>
                <p:cNvPr id="42" name="Freeform 42"/>
                <p:cNvSpPr/>
                <p:nvPr/>
              </p:nvSpPr>
              <p:spPr>
                <a:xfrm>
                  <a:off x="1733550" y="3009900"/>
                  <a:ext cx="228600" cy="114300"/>
                </a:xfrm>
                <a:custGeom>
                  <a:avLst/>
                  <a:gdLst/>
                  <a:ahLst/>
                  <a:cxnLst/>
                  <a:rect l="l" t="t" r="r" b="b"/>
                  <a:pathLst>
                    <a:path w="228600" h="114300">
                      <a:moveTo>
                        <a:pt x="0" y="114300"/>
                      </a:moveTo>
                      <a:lnTo>
                        <a:pt x="0" y="76200"/>
                      </a:lnTo>
                      <a:cubicBezTo>
                        <a:pt x="0" y="34116"/>
                        <a:pt x="34116" y="0"/>
                        <a:pt x="76200" y="0"/>
                      </a:cubicBezTo>
                      <a:lnTo>
                        <a:pt x="152400" y="0"/>
                      </a:lnTo>
                      <a:cubicBezTo>
                        <a:pt x="194484" y="0"/>
                        <a:pt x="228600" y="34116"/>
                        <a:pt x="228600" y="76200"/>
                      </a:cubicBezTo>
                      <a:lnTo>
                        <a:pt x="228600" y="114300"/>
                      </a:lnTo>
                    </a:path>
                  </a:pathLst>
                </a:custGeom>
                <a:noFill/>
                <a:ln w="28575">
                  <a:solidFill>
                    <a:srgbClr val="8A1700"/>
                  </a:solidFill>
                </a:ln>
              </p:spPr>
            </p:sp>
            <p:sp>
              <p:nvSpPr>
                <p:cNvPr id="43" name="Freeform 43"/>
                <p:cNvSpPr/>
                <p:nvPr/>
              </p:nvSpPr>
              <p:spPr>
                <a:xfrm>
                  <a:off x="1981200" y="2783776"/>
                  <a:ext cx="57299" cy="147638"/>
                </a:xfrm>
                <a:custGeom>
                  <a:avLst/>
                  <a:gdLst/>
                  <a:ahLst/>
                  <a:cxnLst/>
                  <a:rect l="l" t="t" r="r" b="b"/>
                  <a:pathLst>
                    <a:path w="57299" h="147638">
                      <a:moveTo>
                        <a:pt x="0" y="0"/>
                      </a:moveTo>
                      <a:cubicBezTo>
                        <a:pt x="33717" y="8633"/>
                        <a:pt x="57299" y="39014"/>
                        <a:pt x="57299" y="73819"/>
                      </a:cubicBezTo>
                      <a:cubicBezTo>
                        <a:pt x="57299" y="108623"/>
                        <a:pt x="33717" y="139005"/>
                        <a:pt x="0" y="147638"/>
                      </a:cubicBezTo>
                    </a:path>
                  </a:pathLst>
                </a:custGeom>
                <a:noFill/>
                <a:ln w="28575">
                  <a:solidFill>
                    <a:srgbClr val="8A1700"/>
                  </a:solidFill>
                </a:ln>
              </p:spPr>
            </p:sp>
            <p:sp>
              <p:nvSpPr>
                <p:cNvPr id="44" name="Freeform 44"/>
                <p:cNvSpPr/>
                <p:nvPr/>
              </p:nvSpPr>
              <p:spPr>
                <a:xfrm>
                  <a:off x="2019300" y="3012758"/>
                  <a:ext cx="57150" cy="111442"/>
                </a:xfrm>
                <a:custGeom>
                  <a:avLst/>
                  <a:gdLst/>
                  <a:ahLst/>
                  <a:cxnLst/>
                  <a:rect l="l" t="t" r="r" b="b"/>
                  <a:pathLst>
                    <a:path w="57150" h="111442">
                      <a:moveTo>
                        <a:pt x="57150" y="111442"/>
                      </a:moveTo>
                      <a:lnTo>
                        <a:pt x="57150" y="73342"/>
                      </a:lnTo>
                      <a:cubicBezTo>
                        <a:pt x="56951" y="38759"/>
                        <a:pt x="33486" y="8646"/>
                        <a:pt x="0" y="0"/>
                      </a:cubicBezTo>
                    </a:path>
                  </a:pathLst>
                </a:custGeom>
                <a:noFill/>
                <a:ln w="28575">
                  <a:solidFill>
                    <a:srgbClr val="8A1700"/>
                  </a:solidFill>
                </a:ln>
              </p:spPr>
            </p:sp>
          </p:grpSp>
          <p:sp>
            <p:nvSpPr>
              <p:cNvPr id="46" name="TextBox 46"/>
              <p:cNvSpPr txBox="1"/>
              <p:nvPr/>
            </p:nvSpPr>
            <p:spPr>
              <a:xfrm>
                <a:off x="2356485" y="2736056"/>
                <a:ext cx="2002790" cy="448628"/>
              </a:xfrm>
              <a:prstGeom prst="rect">
                <a:avLst/>
              </a:prstGeom>
              <a:noFill/>
              <a:ln>
                <a:noFill/>
              </a:ln>
            </p:spPr>
            <p:txBody>
              <a:bodyPr wrap="none" lIns="0" tIns="0" rIns="0" bIns="0" anchor="t" anchorCtr="0">
                <a:spAutoFit/>
              </a:bodyPr>
              <a:lstStyle/>
              <a:p>
                <a:pPr algn="l">
                  <a:lnSpc>
                    <a:spcPts val="1800"/>
                  </a:lnSpc>
                </a:pPr>
                <a:r>
                  <a:rPr lang="zh-CN" sz="1120" b="1" dirty="0">
                    <a:solidFill>
                      <a:srgbClr val="520E00"/>
                    </a:solidFill>
                    <a:latin typeface="+mn-lt"/>
                    <a:ea typeface="+mn-ea"/>
                    <a:cs typeface="+mn-cs"/>
                  </a:rPr>
                  <a:t>联合团队：业务、数据、科技、</a:t>
                </a:r>
                <a:br/>
                <a:r>
                  <a:rPr lang="zh-CN" sz="1120" b="1" dirty="0">
                    <a:solidFill>
                      <a:srgbClr val="520E00"/>
                    </a:solidFill>
                    <a:latin typeface="+mn-lt"/>
                    <a:ea typeface="+mn-ea"/>
                    <a:cs typeface="+mn-cs"/>
                  </a:rPr>
                  <a:t>客服、风险、合规、渠道</a:t>
                </a:r>
              </a:p>
            </p:txBody>
          </p:sp>
        </p:grpSp>
        <p:sp>
          <p:nvSpPr>
            <p:cNvPr id="48" name="Freeform 48"/>
            <p:cNvSpPr/>
            <p:nvPr/>
          </p:nvSpPr>
          <p:spPr>
            <a:xfrm>
              <a:off x="666750" y="3657600"/>
              <a:ext cx="190500" cy="228600"/>
            </a:xfrm>
            <a:prstGeom prst="downArrow">
              <a:avLst/>
            </a:prstGeom>
            <a:solidFill>
              <a:srgbClr val="E84E2F"/>
            </a:solidFill>
            <a:ln>
              <a:noFill/>
            </a:ln>
          </p:spPr>
        </p:sp>
        <p:grpSp>
          <p:nvGrpSpPr>
            <p:cNvPr id="65" name="org-sub"/>
            <p:cNvGrpSpPr/>
            <p:nvPr/>
          </p:nvGrpSpPr>
          <p:grpSpPr>
            <a:xfrm>
              <a:off x="400050" y="4000500"/>
              <a:ext cx="5410200" cy="1165384"/>
              <a:chOff x="400050" y="4000500"/>
              <a:chExt cx="5410200" cy="1165384"/>
            </a:xfrm>
          </p:grpSpPr>
          <p:sp>
            <p:nvSpPr>
              <p:cNvPr id="49" name="Ellipse 49"/>
              <p:cNvSpPr/>
              <p:nvPr/>
            </p:nvSpPr>
            <p:spPr>
              <a:xfrm>
                <a:off x="400050" y="4114800"/>
                <a:ext cx="723900" cy="723900"/>
              </a:xfrm>
              <a:prstGeom prst="ellipse">
                <a:avLst/>
              </a:prstGeom>
              <a:solidFill>
                <a:srgbClr val="520E00"/>
              </a:solidFill>
              <a:ln>
                <a:noFill/>
              </a:ln>
            </p:spPr>
          </p:sp>
          <p:grpSp>
            <p:nvGrpSpPr>
              <p:cNvPr id="55" name="Group 55"/>
              <p:cNvGrpSpPr/>
              <p:nvPr/>
            </p:nvGrpSpPr>
            <p:grpSpPr>
              <a:xfrm>
                <a:off x="633412" y="4348162"/>
                <a:ext cx="257175" cy="266701"/>
                <a:chOff x="633412" y="4348162"/>
                <a:chExt cx="257175" cy="266701"/>
              </a:xfrm>
            </p:grpSpPr>
            <p:sp>
              <p:nvSpPr>
                <p:cNvPr id="50" name="Freeform 50"/>
                <p:cNvSpPr/>
                <p:nvPr/>
              </p:nvSpPr>
              <p:spPr>
                <a:xfrm>
                  <a:off x="633412" y="4605338"/>
                  <a:ext cx="257175" cy="9525"/>
                </a:xfrm>
                <a:custGeom>
                  <a:avLst/>
                  <a:gdLst/>
                  <a:ahLst/>
                  <a:cxnLst/>
                  <a:rect l="l" t="t" r="r" b="b"/>
                  <a:pathLst>
                    <a:path w="257175" h="9525">
                      <a:moveTo>
                        <a:pt x="0" y="0"/>
                      </a:moveTo>
                      <a:lnTo>
                        <a:pt x="257175" y="0"/>
                      </a:lnTo>
                    </a:path>
                  </a:pathLst>
                </a:custGeom>
                <a:noFill/>
                <a:ln w="21431">
                  <a:solidFill>
                    <a:srgbClr val="FFFFFF"/>
                  </a:solidFill>
                </a:ln>
              </p:spPr>
            </p:sp>
            <p:sp>
              <p:nvSpPr>
                <p:cNvPr id="51" name="Freeform 51"/>
                <p:cNvSpPr/>
                <p:nvPr/>
              </p:nvSpPr>
              <p:spPr>
                <a:xfrm>
                  <a:off x="633412" y="4348162"/>
                  <a:ext cx="257175" cy="114300"/>
                </a:xfrm>
                <a:custGeom>
                  <a:avLst/>
                  <a:gdLst/>
                  <a:ahLst/>
                  <a:cxnLst/>
                  <a:rect l="l" t="t" r="r" b="b"/>
                  <a:pathLst>
                    <a:path w="257175" h="114300">
                      <a:moveTo>
                        <a:pt x="0" y="57150"/>
                      </a:moveTo>
                      <a:lnTo>
                        <a:pt x="0" y="71438"/>
                      </a:lnTo>
                      <a:cubicBezTo>
                        <a:pt x="0" y="95110"/>
                        <a:pt x="19190" y="114300"/>
                        <a:pt x="42862" y="114300"/>
                      </a:cubicBezTo>
                      <a:cubicBezTo>
                        <a:pt x="66535" y="114300"/>
                        <a:pt x="85725" y="95110"/>
                        <a:pt x="85725" y="71438"/>
                      </a:cubicBezTo>
                      <a:lnTo>
                        <a:pt x="85725" y="57150"/>
                      </a:lnTo>
                      <a:moveTo>
                        <a:pt x="85725" y="71438"/>
                      </a:moveTo>
                      <a:cubicBezTo>
                        <a:pt x="85725" y="95110"/>
                        <a:pt x="104915" y="114300"/>
                        <a:pt x="128588" y="114300"/>
                      </a:cubicBezTo>
                      <a:cubicBezTo>
                        <a:pt x="152260" y="114300"/>
                        <a:pt x="171450" y="95110"/>
                        <a:pt x="171450" y="71438"/>
                      </a:cubicBezTo>
                      <a:lnTo>
                        <a:pt x="171450" y="57150"/>
                      </a:lnTo>
                      <a:moveTo>
                        <a:pt x="171450" y="71438"/>
                      </a:moveTo>
                      <a:cubicBezTo>
                        <a:pt x="171450" y="95110"/>
                        <a:pt x="190640" y="114300"/>
                        <a:pt x="214312" y="114300"/>
                      </a:cubicBezTo>
                      <a:cubicBezTo>
                        <a:pt x="237985" y="114300"/>
                        <a:pt x="257175" y="95110"/>
                        <a:pt x="257175" y="71438"/>
                      </a:cubicBezTo>
                      <a:lnTo>
                        <a:pt x="257175" y="57150"/>
                      </a:lnTo>
                      <a:lnTo>
                        <a:pt x="0" y="57150"/>
                      </a:lnTo>
                      <a:lnTo>
                        <a:pt x="28575" y="0"/>
                      </a:lnTo>
                      <a:lnTo>
                        <a:pt x="228600" y="0"/>
                      </a:lnTo>
                      <a:lnTo>
                        <a:pt x="257175" y="57150"/>
                      </a:lnTo>
                    </a:path>
                  </a:pathLst>
                </a:custGeom>
                <a:noFill/>
                <a:ln w="21431">
                  <a:solidFill>
                    <a:srgbClr val="FFFFFF"/>
                  </a:solidFill>
                </a:ln>
              </p:spPr>
            </p:sp>
            <p:sp>
              <p:nvSpPr>
                <p:cNvPr id="52" name="Freeform 52"/>
                <p:cNvSpPr/>
                <p:nvPr/>
              </p:nvSpPr>
              <p:spPr>
                <a:xfrm>
                  <a:off x="661988" y="4460319"/>
                  <a:ext cx="9525" cy="145018"/>
                </a:xfrm>
                <a:custGeom>
                  <a:avLst/>
                  <a:gdLst/>
                  <a:ahLst/>
                  <a:cxnLst/>
                  <a:rect l="l" t="t" r="r" b="b"/>
                  <a:pathLst>
                    <a:path w="9525" h="145018">
                      <a:moveTo>
                        <a:pt x="0" y="145018"/>
                      </a:moveTo>
                      <a:lnTo>
                        <a:pt x="0" y="0"/>
                      </a:lnTo>
                    </a:path>
                  </a:pathLst>
                </a:custGeom>
                <a:noFill/>
                <a:ln w="21431">
                  <a:solidFill>
                    <a:srgbClr val="FFFFFF"/>
                  </a:solidFill>
                </a:ln>
              </p:spPr>
            </p:sp>
            <p:sp>
              <p:nvSpPr>
                <p:cNvPr id="53" name="Freeform 53"/>
                <p:cNvSpPr/>
                <p:nvPr/>
              </p:nvSpPr>
              <p:spPr>
                <a:xfrm>
                  <a:off x="862012" y="4460319"/>
                  <a:ext cx="9525" cy="145018"/>
                </a:xfrm>
                <a:custGeom>
                  <a:avLst/>
                  <a:gdLst/>
                  <a:ahLst/>
                  <a:cxnLst/>
                  <a:rect l="l" t="t" r="r" b="b"/>
                  <a:pathLst>
                    <a:path w="9525" h="145018">
                      <a:moveTo>
                        <a:pt x="0" y="145018"/>
                      </a:moveTo>
                      <a:lnTo>
                        <a:pt x="0" y="0"/>
                      </a:lnTo>
                    </a:path>
                  </a:pathLst>
                </a:custGeom>
                <a:noFill/>
                <a:ln w="21431">
                  <a:solidFill>
                    <a:srgbClr val="FFFFFF"/>
                  </a:solidFill>
                </a:ln>
              </p:spPr>
            </p:sp>
            <p:sp>
              <p:nvSpPr>
                <p:cNvPr id="54" name="Freeform 54"/>
                <p:cNvSpPr/>
                <p:nvPr/>
              </p:nvSpPr>
              <p:spPr>
                <a:xfrm>
                  <a:off x="719138" y="4519612"/>
                  <a:ext cx="85725" cy="85725"/>
                </a:xfrm>
                <a:custGeom>
                  <a:avLst/>
                  <a:gdLst/>
                  <a:ahLst/>
                  <a:cxnLst/>
                  <a:rect l="l" t="t" r="r" b="b"/>
                  <a:pathLst>
                    <a:path w="85725" h="85725">
                      <a:moveTo>
                        <a:pt x="0" y="85725"/>
                      </a:moveTo>
                      <a:lnTo>
                        <a:pt x="0" y="28575"/>
                      </a:lnTo>
                      <a:cubicBezTo>
                        <a:pt x="0" y="12793"/>
                        <a:pt x="12793" y="0"/>
                        <a:pt x="28575" y="0"/>
                      </a:cubicBezTo>
                      <a:lnTo>
                        <a:pt x="57150" y="0"/>
                      </a:lnTo>
                      <a:cubicBezTo>
                        <a:pt x="72932" y="0"/>
                        <a:pt x="85725" y="12793"/>
                        <a:pt x="85725" y="28575"/>
                      </a:cubicBezTo>
                      <a:lnTo>
                        <a:pt x="85725" y="85725"/>
                      </a:lnTo>
                    </a:path>
                  </a:pathLst>
                </a:custGeom>
                <a:noFill/>
                <a:ln w="21431">
                  <a:solidFill>
                    <a:srgbClr val="FFFFFF"/>
                  </a:solidFill>
                </a:ln>
              </p:spPr>
            </p:sp>
          </p:grpSp>
          <p:sp>
            <p:nvSpPr>
              <p:cNvPr id="56" name="TextBox 56"/>
              <p:cNvSpPr txBox="1"/>
              <p:nvPr/>
            </p:nvSpPr>
            <p:spPr>
              <a:xfrm>
                <a:off x="605511" y="4945856"/>
                <a:ext cx="312979"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支行</a:t>
                </a:r>
              </a:p>
            </p:txBody>
          </p:sp>
          <p:sp>
            <p:nvSpPr>
              <p:cNvPr id="57" name="Rectangle 57"/>
              <p:cNvSpPr/>
              <p:nvPr/>
            </p:nvSpPr>
            <p:spPr>
              <a:xfrm>
                <a:off x="1428750" y="4000500"/>
                <a:ext cx="4381500" cy="952500"/>
              </a:xfrm>
              <a:prstGeom prst="roundRect">
                <a:avLst>
                  <a:gd name="adj" fmla="val 8000"/>
                </a:avLst>
              </a:prstGeom>
              <a:solidFill>
                <a:srgbClr val="F5F8FE"/>
              </a:solidFill>
              <a:ln w="9525">
                <a:solidFill>
                  <a:srgbClr val="C9D5EA"/>
                </a:solidFill>
              </a:ln>
            </p:spPr>
          </p:sp>
          <p:grpSp>
            <p:nvGrpSpPr>
              <p:cNvPr id="63" name="Group 63"/>
              <p:cNvGrpSpPr/>
              <p:nvPr/>
            </p:nvGrpSpPr>
            <p:grpSpPr>
              <a:xfrm>
                <a:off x="1733550" y="4305300"/>
                <a:ext cx="342900" cy="342900"/>
                <a:chOff x="1733550" y="4305300"/>
                <a:chExt cx="342900" cy="342900"/>
              </a:xfrm>
            </p:grpSpPr>
            <p:sp>
              <p:nvSpPr>
                <p:cNvPr id="58" name="Freeform 58"/>
                <p:cNvSpPr/>
                <p:nvPr/>
              </p:nvSpPr>
              <p:spPr>
                <a:xfrm>
                  <a:off x="1866900" y="43053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8575">
                  <a:solidFill>
                    <a:srgbClr val="8A1700"/>
                  </a:solidFill>
                </a:ln>
              </p:spPr>
            </p:sp>
            <p:sp>
              <p:nvSpPr>
                <p:cNvPr id="59" name="Freeform 59"/>
                <p:cNvSpPr/>
                <p:nvPr/>
              </p:nvSpPr>
              <p:spPr>
                <a:xfrm>
                  <a:off x="1733550" y="45720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8575">
                  <a:solidFill>
                    <a:srgbClr val="8A1700"/>
                  </a:solidFill>
                </a:ln>
              </p:spPr>
            </p:sp>
            <p:sp>
              <p:nvSpPr>
                <p:cNvPr id="60" name="Freeform 60"/>
                <p:cNvSpPr/>
                <p:nvPr/>
              </p:nvSpPr>
              <p:spPr>
                <a:xfrm>
                  <a:off x="2000250" y="45720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8575">
                  <a:solidFill>
                    <a:srgbClr val="8A1700"/>
                  </a:solidFill>
                </a:ln>
              </p:spPr>
            </p:sp>
            <p:sp>
              <p:nvSpPr>
                <p:cNvPr id="61" name="Freeform 61"/>
                <p:cNvSpPr/>
                <p:nvPr/>
              </p:nvSpPr>
              <p:spPr>
                <a:xfrm>
                  <a:off x="1800225" y="4495800"/>
                  <a:ext cx="209550" cy="85725"/>
                </a:xfrm>
                <a:custGeom>
                  <a:avLst/>
                  <a:gdLst/>
                  <a:ahLst/>
                  <a:cxnLst/>
                  <a:rect l="l" t="t" r="r" b="b"/>
                  <a:pathLst>
                    <a:path w="209550" h="85725">
                      <a:moveTo>
                        <a:pt x="0" y="85725"/>
                      </a:moveTo>
                      <a:lnTo>
                        <a:pt x="104775" y="0"/>
                      </a:lnTo>
                      <a:lnTo>
                        <a:pt x="209550" y="85725"/>
                      </a:lnTo>
                    </a:path>
                  </a:pathLst>
                </a:custGeom>
                <a:noFill/>
                <a:ln w="28575">
                  <a:solidFill>
                    <a:srgbClr val="8A1700"/>
                  </a:solidFill>
                </a:ln>
              </p:spPr>
            </p:sp>
            <p:sp>
              <p:nvSpPr>
                <p:cNvPr id="62" name="Freeform 62"/>
                <p:cNvSpPr/>
                <p:nvPr/>
              </p:nvSpPr>
              <p:spPr>
                <a:xfrm>
                  <a:off x="1905000" y="4381500"/>
                  <a:ext cx="9525" cy="114300"/>
                </a:xfrm>
                <a:custGeom>
                  <a:avLst/>
                  <a:gdLst/>
                  <a:ahLst/>
                  <a:cxnLst/>
                  <a:rect l="l" t="t" r="r" b="b"/>
                  <a:pathLst>
                    <a:path w="9525" h="114300">
                      <a:moveTo>
                        <a:pt x="0" y="0"/>
                      </a:moveTo>
                      <a:lnTo>
                        <a:pt x="0" y="114300"/>
                      </a:lnTo>
                    </a:path>
                  </a:pathLst>
                </a:custGeom>
                <a:noFill/>
                <a:ln w="28575">
                  <a:solidFill>
                    <a:srgbClr val="8A1700"/>
                  </a:solidFill>
                </a:ln>
              </p:spPr>
            </p:sp>
          </p:grpSp>
          <p:sp>
            <p:nvSpPr>
              <p:cNvPr id="64" name="TextBox 64"/>
              <p:cNvSpPr txBox="1"/>
              <p:nvPr/>
            </p:nvSpPr>
            <p:spPr>
              <a:xfrm>
                <a:off x="2356485" y="4431506"/>
                <a:ext cx="2574595" cy="220028"/>
              </a:xfrm>
              <a:prstGeom prst="rect">
                <a:avLst/>
              </a:prstGeom>
              <a:noFill/>
              <a:ln>
                <a:noFill/>
              </a:ln>
            </p:spPr>
            <p:txBody>
              <a:bodyPr wrap="none" lIns="0" tIns="0" rIns="0" bIns="0" anchor="t" anchorCtr="0">
                <a:spAutoFit/>
              </a:bodyPr>
              <a:lstStyle/>
              <a:p>
                <a:pPr algn="l"/>
                <a:r>
                  <a:rPr lang="zh-CN" sz="1120" b="1" dirty="0">
                    <a:solidFill>
                      <a:srgbClr val="520E00"/>
                    </a:solidFill>
                    <a:latin typeface="+mn-lt"/>
                    <a:ea typeface="+mn-ea"/>
                    <a:cs typeface="+mn-cs"/>
                  </a:rPr>
                  <a:t>机制：周运营、月复盘、季度策略校准</a:t>
                </a:r>
              </a:p>
            </p:txBody>
          </p:sp>
        </p:grpSp>
      </p:grpSp>
      <p:grpSp>
        <p:nvGrpSpPr>
          <p:cNvPr id="110" name="compliance-boundary"/>
          <p:cNvGrpSpPr/>
          <p:nvPr/>
        </p:nvGrpSpPr>
        <p:grpSpPr>
          <a:xfrm>
            <a:off x="5962650" y="857250"/>
            <a:ext cx="6000750" cy="2133600"/>
            <a:chOff x="5962650" y="857250"/>
            <a:chExt cx="6000750" cy="2133600"/>
          </a:xfrm>
        </p:grpSpPr>
        <p:sp>
          <p:nvSpPr>
            <p:cNvPr id="67" name="Rectangle 67"/>
            <p:cNvSpPr/>
            <p:nvPr/>
          </p:nvSpPr>
          <p:spPr>
            <a:xfrm>
              <a:off x="5962650" y="857250"/>
              <a:ext cx="6000750" cy="2133600"/>
            </a:xfrm>
            <a:prstGeom prst="roundRect">
              <a:avLst>
                <a:gd name="adj" fmla="val 3571"/>
              </a:avLst>
            </a:prstGeom>
            <a:solidFill>
              <a:srgbClr val="FFFFFF"/>
            </a:solidFill>
            <a:ln w="9525">
              <a:solidFill>
                <a:srgbClr val="C9D5EA"/>
              </a:solidFill>
            </a:ln>
          </p:spPr>
        </p:sp>
        <p:sp>
          <p:nvSpPr>
            <p:cNvPr id="68" name="Rectangle 68"/>
            <p:cNvSpPr/>
            <p:nvPr/>
          </p:nvSpPr>
          <p:spPr>
            <a:xfrm>
              <a:off x="5962650" y="857250"/>
              <a:ext cx="6000750" cy="381000"/>
            </a:xfrm>
            <a:prstGeom prst="roundRect">
              <a:avLst>
                <a:gd name="adj" fmla="val 20000"/>
              </a:avLst>
            </a:prstGeom>
            <a:solidFill>
              <a:srgbClr val="520E00"/>
            </a:solidFill>
            <a:ln>
              <a:noFill/>
            </a:ln>
          </p:spPr>
        </p:sp>
        <p:sp>
          <p:nvSpPr>
            <p:cNvPr id="69" name="Rectangle 69"/>
            <p:cNvSpPr/>
            <p:nvPr/>
          </p:nvSpPr>
          <p:spPr>
            <a:xfrm>
              <a:off x="5962650" y="1085850"/>
              <a:ext cx="6000750" cy="152400"/>
            </a:xfrm>
            <a:prstGeom prst="rect">
              <a:avLst/>
            </a:prstGeom>
            <a:solidFill>
              <a:srgbClr val="520E00"/>
            </a:solidFill>
            <a:ln>
              <a:noFill/>
            </a:ln>
          </p:spPr>
        </p:sp>
        <p:sp>
          <p:nvSpPr>
            <p:cNvPr id="70" name="TextBox 70"/>
            <p:cNvSpPr txBox="1"/>
            <p:nvPr/>
          </p:nvSpPr>
          <p:spPr>
            <a:xfrm>
              <a:off x="6850405" y="995601"/>
              <a:ext cx="4225239"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合规边界：客户授权、个人信息保护、频控退订、敏感数据、商户管理</a:t>
              </a:r>
            </a:p>
          </p:txBody>
        </p:sp>
        <p:sp>
          <p:nvSpPr>
            <p:cNvPr id="71" name="Line 71"/>
            <p:cNvSpPr/>
            <p:nvPr/>
          </p:nvSpPr>
          <p:spPr>
            <a:xfrm>
              <a:off x="7162800" y="1333500"/>
              <a:ext cx="9525" cy="1581150"/>
            </a:xfrm>
            <a:custGeom>
              <a:avLst/>
              <a:gdLst/>
              <a:ahLst/>
              <a:cxnLst/>
              <a:rect l="l" t="t" r="r" b="b"/>
              <a:pathLst>
                <a:path w="9525" h="1581150">
                  <a:moveTo>
                    <a:pt x="0" y="0"/>
                  </a:moveTo>
                  <a:lnTo>
                    <a:pt x="0" y="1581150"/>
                  </a:lnTo>
                </a:path>
              </a:pathLst>
            </a:custGeom>
            <a:noFill/>
            <a:ln w="9525">
              <a:solidFill>
                <a:srgbClr val="DCE6F5"/>
              </a:solidFill>
            </a:ln>
          </p:spPr>
        </p:sp>
        <p:sp>
          <p:nvSpPr>
            <p:cNvPr id="72" name="Line 72"/>
            <p:cNvSpPr/>
            <p:nvPr/>
          </p:nvSpPr>
          <p:spPr>
            <a:xfrm>
              <a:off x="8362950" y="1333500"/>
              <a:ext cx="9525" cy="1581150"/>
            </a:xfrm>
            <a:custGeom>
              <a:avLst/>
              <a:gdLst/>
              <a:ahLst/>
              <a:cxnLst/>
              <a:rect l="l" t="t" r="r" b="b"/>
              <a:pathLst>
                <a:path w="9525" h="1581150">
                  <a:moveTo>
                    <a:pt x="0" y="0"/>
                  </a:moveTo>
                  <a:lnTo>
                    <a:pt x="0" y="1581150"/>
                  </a:lnTo>
                </a:path>
              </a:pathLst>
            </a:custGeom>
            <a:noFill/>
            <a:ln w="9525">
              <a:solidFill>
                <a:srgbClr val="DCE6F5"/>
              </a:solidFill>
            </a:ln>
          </p:spPr>
        </p:sp>
        <p:sp>
          <p:nvSpPr>
            <p:cNvPr id="73" name="Line 73"/>
            <p:cNvSpPr/>
            <p:nvPr/>
          </p:nvSpPr>
          <p:spPr>
            <a:xfrm>
              <a:off x="9563100" y="1333500"/>
              <a:ext cx="9525" cy="1581150"/>
            </a:xfrm>
            <a:custGeom>
              <a:avLst/>
              <a:gdLst/>
              <a:ahLst/>
              <a:cxnLst/>
              <a:rect l="l" t="t" r="r" b="b"/>
              <a:pathLst>
                <a:path w="9525" h="1581150">
                  <a:moveTo>
                    <a:pt x="0" y="0"/>
                  </a:moveTo>
                  <a:lnTo>
                    <a:pt x="0" y="1581150"/>
                  </a:lnTo>
                </a:path>
              </a:pathLst>
            </a:custGeom>
            <a:noFill/>
            <a:ln w="9525">
              <a:solidFill>
                <a:srgbClr val="DCE6F5"/>
              </a:solidFill>
            </a:ln>
          </p:spPr>
        </p:sp>
        <p:sp>
          <p:nvSpPr>
            <p:cNvPr id="74" name="Line 74"/>
            <p:cNvSpPr/>
            <p:nvPr/>
          </p:nvSpPr>
          <p:spPr>
            <a:xfrm>
              <a:off x="10763250" y="1333500"/>
              <a:ext cx="9525" cy="1581150"/>
            </a:xfrm>
            <a:custGeom>
              <a:avLst/>
              <a:gdLst/>
              <a:ahLst/>
              <a:cxnLst/>
              <a:rect l="l" t="t" r="r" b="b"/>
              <a:pathLst>
                <a:path w="9525" h="1581150">
                  <a:moveTo>
                    <a:pt x="0" y="0"/>
                  </a:moveTo>
                  <a:lnTo>
                    <a:pt x="0" y="1581150"/>
                  </a:lnTo>
                </a:path>
              </a:pathLst>
            </a:custGeom>
            <a:noFill/>
            <a:ln w="9525">
              <a:solidFill>
                <a:srgbClr val="DCE6F5"/>
              </a:solidFill>
            </a:ln>
          </p:spPr>
        </p:sp>
        <p:grpSp>
          <p:nvGrpSpPr>
            <p:cNvPr id="80" name="cb-1"/>
            <p:cNvGrpSpPr/>
            <p:nvPr/>
          </p:nvGrpSpPr>
          <p:grpSpPr>
            <a:xfrm>
              <a:off x="6276975" y="1543050"/>
              <a:ext cx="571500" cy="939403"/>
              <a:chOff x="6276975" y="1543050"/>
              <a:chExt cx="571500" cy="939403"/>
            </a:xfrm>
          </p:grpSpPr>
          <p:sp>
            <p:nvSpPr>
              <p:cNvPr id="75" name="Ellipse 75"/>
              <p:cNvSpPr/>
              <p:nvPr/>
            </p:nvSpPr>
            <p:spPr>
              <a:xfrm>
                <a:off x="6276975" y="1543050"/>
                <a:ext cx="571500" cy="571500"/>
              </a:xfrm>
              <a:prstGeom prst="ellipse">
                <a:avLst/>
              </a:prstGeom>
              <a:solidFill>
                <a:srgbClr val="EEF3FB"/>
              </a:solidFill>
              <a:ln>
                <a:noFill/>
              </a:ln>
            </p:spPr>
          </p:sp>
          <p:grpSp>
            <p:nvGrpSpPr>
              <p:cNvPr id="78" name="Group 78"/>
              <p:cNvGrpSpPr/>
              <p:nvPr/>
            </p:nvGrpSpPr>
            <p:grpSpPr>
              <a:xfrm>
                <a:off x="6414856" y="1700212"/>
                <a:ext cx="279010" cy="257176"/>
                <a:chOff x="6414856" y="1700212"/>
                <a:chExt cx="279010" cy="257176"/>
              </a:xfrm>
            </p:grpSpPr>
            <p:sp>
              <p:nvSpPr>
                <p:cNvPr id="76" name="Freeform 76"/>
                <p:cNvSpPr/>
                <p:nvPr/>
              </p:nvSpPr>
              <p:spPr>
                <a:xfrm>
                  <a:off x="6414856" y="17002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21431">
                  <a:solidFill>
                    <a:srgbClr val="8A1700"/>
                  </a:solidFill>
                </a:ln>
              </p:spPr>
            </p:sp>
            <p:sp>
              <p:nvSpPr>
                <p:cNvPr id="77" name="Freeform 77"/>
                <p:cNvSpPr/>
                <p:nvPr/>
              </p:nvSpPr>
              <p:spPr>
                <a:xfrm>
                  <a:off x="6605588" y="1900238"/>
                  <a:ext cx="85725" cy="57150"/>
                </a:xfrm>
                <a:custGeom>
                  <a:avLst/>
                  <a:gdLst/>
                  <a:ahLst/>
                  <a:cxnLst/>
                  <a:rect l="l" t="t" r="r" b="b"/>
                  <a:pathLst>
                    <a:path w="85725" h="57150">
                      <a:moveTo>
                        <a:pt x="0" y="28575"/>
                      </a:moveTo>
                      <a:lnTo>
                        <a:pt x="28575" y="57150"/>
                      </a:lnTo>
                      <a:lnTo>
                        <a:pt x="85725" y="0"/>
                      </a:lnTo>
                    </a:path>
                  </a:pathLst>
                </a:custGeom>
                <a:noFill/>
                <a:ln w="21431">
                  <a:solidFill>
                    <a:srgbClr val="8A1700"/>
                  </a:solidFill>
                </a:ln>
              </p:spPr>
            </p:sp>
          </p:grpSp>
          <p:sp>
            <p:nvSpPr>
              <p:cNvPr id="79" name="TextBox 79"/>
              <p:cNvSpPr txBox="1"/>
              <p:nvPr/>
            </p:nvSpPr>
            <p:spPr>
              <a:xfrm>
                <a:off x="6304877" y="2299097"/>
                <a:ext cx="515696" cy="183356"/>
              </a:xfrm>
              <a:prstGeom prst="rect">
                <a:avLst/>
              </a:prstGeom>
              <a:noFill/>
              <a:ln>
                <a:noFill/>
              </a:ln>
            </p:spPr>
            <p:txBody>
              <a:bodyPr wrap="none" lIns="0" tIns="0" rIns="0" bIns="0" anchor="t" anchorCtr="0">
                <a:spAutoFit/>
              </a:bodyPr>
              <a:lstStyle/>
              <a:p>
                <a:pPr algn="ctr"/>
                <a:r>
                  <a:rPr lang="zh-CN" sz="940" b="1" dirty="0">
                    <a:solidFill>
                      <a:srgbClr val="520E00"/>
                    </a:solidFill>
                    <a:latin typeface="+mn-lt"/>
                    <a:ea typeface="+mn-ea"/>
                    <a:cs typeface="+mn-cs"/>
                  </a:rPr>
                  <a:t>客户授权</a:t>
                </a:r>
              </a:p>
            </p:txBody>
          </p:sp>
        </p:grpSp>
        <p:grpSp>
          <p:nvGrpSpPr>
            <p:cNvPr id="87" name="cb-2"/>
            <p:cNvGrpSpPr/>
            <p:nvPr/>
          </p:nvGrpSpPr>
          <p:grpSpPr>
            <a:xfrm>
              <a:off x="7378484" y="1543050"/>
              <a:ext cx="768782" cy="939403"/>
              <a:chOff x="7378484" y="1543050"/>
              <a:chExt cx="768782" cy="939403"/>
            </a:xfrm>
          </p:grpSpPr>
          <p:sp>
            <p:nvSpPr>
              <p:cNvPr id="81" name="Ellipse 81"/>
              <p:cNvSpPr/>
              <p:nvPr/>
            </p:nvSpPr>
            <p:spPr>
              <a:xfrm>
                <a:off x="7477125" y="1543050"/>
                <a:ext cx="571500" cy="571500"/>
              </a:xfrm>
              <a:prstGeom prst="ellipse">
                <a:avLst/>
              </a:prstGeom>
              <a:solidFill>
                <a:srgbClr val="EEF3FB"/>
              </a:solidFill>
              <a:ln>
                <a:noFill/>
              </a:ln>
            </p:spPr>
          </p:sp>
          <p:grpSp>
            <p:nvGrpSpPr>
              <p:cNvPr id="85" name="Group 85"/>
              <p:cNvGrpSpPr/>
              <p:nvPr/>
            </p:nvGrpSpPr>
            <p:grpSpPr>
              <a:xfrm>
                <a:off x="7662862" y="1700212"/>
                <a:ext cx="200025" cy="257175"/>
                <a:chOff x="7662862" y="1700212"/>
                <a:chExt cx="200025" cy="257175"/>
              </a:xfrm>
            </p:grpSpPr>
            <p:sp>
              <p:nvSpPr>
                <p:cNvPr id="82" name="Freeform 82"/>
                <p:cNvSpPr/>
                <p:nvPr/>
              </p:nvSpPr>
              <p:spPr>
                <a:xfrm>
                  <a:off x="7662862" y="1814512"/>
                  <a:ext cx="200025" cy="142875"/>
                </a:xfrm>
                <a:custGeom>
                  <a:avLst/>
                  <a:gdLst/>
                  <a:ahLst/>
                  <a:cxnLst/>
                  <a:rect l="l" t="t" r="r" b="b"/>
                  <a:pathLst>
                    <a:path w="200025" h="142875">
                      <a:moveTo>
                        <a:pt x="0" y="28575"/>
                      </a:moveTo>
                      <a:cubicBezTo>
                        <a:pt x="0" y="12793"/>
                        <a:pt x="12793" y="0"/>
                        <a:pt x="28575" y="0"/>
                      </a:cubicBezTo>
                      <a:lnTo>
                        <a:pt x="171450" y="0"/>
                      </a:lnTo>
                      <a:cubicBezTo>
                        <a:pt x="187232" y="0"/>
                        <a:pt x="200025" y="12793"/>
                        <a:pt x="200025" y="28575"/>
                      </a:cubicBezTo>
                      <a:lnTo>
                        <a:pt x="200025" y="114300"/>
                      </a:lnTo>
                      <a:cubicBezTo>
                        <a:pt x="200025" y="130082"/>
                        <a:pt x="187232" y="142875"/>
                        <a:pt x="171450" y="142875"/>
                      </a:cubicBezTo>
                      <a:lnTo>
                        <a:pt x="28575" y="142875"/>
                      </a:lnTo>
                      <a:cubicBezTo>
                        <a:pt x="12793" y="142875"/>
                        <a:pt x="0" y="130082"/>
                        <a:pt x="0" y="114300"/>
                      </a:cubicBezTo>
                      <a:lnTo>
                        <a:pt x="0" y="28575"/>
                      </a:lnTo>
                    </a:path>
                  </a:pathLst>
                </a:custGeom>
                <a:noFill/>
                <a:ln w="21431">
                  <a:solidFill>
                    <a:srgbClr val="8A1700"/>
                  </a:solidFill>
                </a:ln>
              </p:spPr>
            </p:sp>
            <p:sp>
              <p:nvSpPr>
                <p:cNvPr id="83" name="Freeform 83"/>
                <p:cNvSpPr/>
                <p:nvPr/>
              </p:nvSpPr>
              <p:spPr>
                <a:xfrm>
                  <a:off x="7748588" y="187166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1431">
                  <a:solidFill>
                    <a:srgbClr val="8A1700"/>
                  </a:solidFill>
                </a:ln>
              </p:spPr>
            </p:sp>
            <p:sp>
              <p:nvSpPr>
                <p:cNvPr id="84" name="Freeform 84"/>
                <p:cNvSpPr/>
                <p:nvPr/>
              </p:nvSpPr>
              <p:spPr>
                <a:xfrm>
                  <a:off x="7705725" y="1700212"/>
                  <a:ext cx="114300" cy="114300"/>
                </a:xfrm>
                <a:custGeom>
                  <a:avLst/>
                  <a:gdLst/>
                  <a:ahLst/>
                  <a:cxnLst/>
                  <a:rect l="l" t="t" r="r" b="b"/>
                  <a:pathLst>
                    <a:path w="114300" h="114300">
                      <a:moveTo>
                        <a:pt x="0" y="114300"/>
                      </a:moveTo>
                      <a:lnTo>
                        <a:pt x="0" y="57150"/>
                      </a:lnTo>
                      <a:cubicBezTo>
                        <a:pt x="0" y="25587"/>
                        <a:pt x="25587" y="0"/>
                        <a:pt x="57150" y="0"/>
                      </a:cubicBezTo>
                      <a:cubicBezTo>
                        <a:pt x="88713" y="0"/>
                        <a:pt x="114300" y="25587"/>
                        <a:pt x="114300" y="57150"/>
                      </a:cubicBezTo>
                      <a:lnTo>
                        <a:pt x="114300" y="114300"/>
                      </a:lnTo>
                    </a:path>
                  </a:pathLst>
                </a:custGeom>
                <a:noFill/>
                <a:ln w="21431">
                  <a:solidFill>
                    <a:srgbClr val="8A1700"/>
                  </a:solidFill>
                </a:ln>
              </p:spPr>
            </p:sp>
          </p:grpSp>
          <p:sp>
            <p:nvSpPr>
              <p:cNvPr id="86" name="TextBox 86"/>
              <p:cNvSpPr txBox="1"/>
              <p:nvPr/>
            </p:nvSpPr>
            <p:spPr>
              <a:xfrm>
                <a:off x="7378484" y="2299097"/>
                <a:ext cx="768782" cy="183356"/>
              </a:xfrm>
              <a:prstGeom prst="rect">
                <a:avLst/>
              </a:prstGeom>
              <a:noFill/>
              <a:ln>
                <a:noFill/>
              </a:ln>
            </p:spPr>
            <p:txBody>
              <a:bodyPr wrap="none" lIns="0" tIns="0" rIns="0" bIns="0" anchor="t" anchorCtr="0">
                <a:spAutoFit/>
              </a:bodyPr>
              <a:lstStyle/>
              <a:p>
                <a:pPr algn="ctr"/>
                <a:r>
                  <a:rPr lang="zh-CN" sz="940" b="1" dirty="0">
                    <a:solidFill>
                      <a:srgbClr val="520E00"/>
                    </a:solidFill>
                    <a:latin typeface="+mn-lt"/>
                    <a:ea typeface="+mn-ea"/>
                    <a:cs typeface="+mn-cs"/>
                  </a:rPr>
                  <a:t>个人信息保护</a:t>
                </a:r>
              </a:p>
            </p:txBody>
          </p:sp>
        </p:grpSp>
        <p:grpSp>
          <p:nvGrpSpPr>
            <p:cNvPr id="93" name="cb-3"/>
            <p:cNvGrpSpPr/>
            <p:nvPr/>
          </p:nvGrpSpPr>
          <p:grpSpPr>
            <a:xfrm>
              <a:off x="8677275" y="1543050"/>
              <a:ext cx="571500" cy="939403"/>
              <a:chOff x="8677275" y="1543050"/>
              <a:chExt cx="571500" cy="939403"/>
            </a:xfrm>
          </p:grpSpPr>
          <p:sp>
            <p:nvSpPr>
              <p:cNvPr id="88" name="Ellipse 88"/>
              <p:cNvSpPr/>
              <p:nvPr/>
            </p:nvSpPr>
            <p:spPr>
              <a:xfrm>
                <a:off x="8677275" y="1543050"/>
                <a:ext cx="571500" cy="571500"/>
              </a:xfrm>
              <a:prstGeom prst="ellipse">
                <a:avLst/>
              </a:prstGeom>
              <a:solidFill>
                <a:srgbClr val="EEF3FB"/>
              </a:solidFill>
              <a:ln>
                <a:noFill/>
              </a:ln>
            </p:spPr>
          </p:sp>
          <p:grpSp>
            <p:nvGrpSpPr>
              <p:cNvPr id="91" name="Group 91"/>
              <p:cNvGrpSpPr/>
              <p:nvPr/>
            </p:nvGrpSpPr>
            <p:grpSpPr>
              <a:xfrm>
                <a:off x="8848725" y="1700212"/>
                <a:ext cx="228600" cy="257176"/>
                <a:chOff x="8848725" y="1700212"/>
                <a:chExt cx="228600" cy="257176"/>
              </a:xfrm>
            </p:grpSpPr>
            <p:sp>
              <p:nvSpPr>
                <p:cNvPr id="89" name="Freeform 89"/>
                <p:cNvSpPr/>
                <p:nvPr/>
              </p:nvSpPr>
              <p:spPr>
                <a:xfrm>
                  <a:off x="8848725" y="1700212"/>
                  <a:ext cx="228600" cy="200025"/>
                </a:xfrm>
                <a:custGeom>
                  <a:avLst/>
                  <a:gdLst/>
                  <a:ahLst/>
                  <a:cxnLst/>
                  <a:rect l="l" t="t" r="r" b="b"/>
                  <a:pathLst>
                    <a:path w="228600" h="200025">
                      <a:moveTo>
                        <a:pt x="85725" y="28575"/>
                      </a:moveTo>
                      <a:cubicBezTo>
                        <a:pt x="85725" y="12793"/>
                        <a:pt x="98518" y="0"/>
                        <a:pt x="114300" y="0"/>
                      </a:cubicBezTo>
                      <a:cubicBezTo>
                        <a:pt x="130082" y="0"/>
                        <a:pt x="142875" y="12793"/>
                        <a:pt x="142875" y="28575"/>
                      </a:cubicBezTo>
                      <a:cubicBezTo>
                        <a:pt x="176310" y="44385"/>
                        <a:pt x="198291" y="77356"/>
                        <a:pt x="200025" y="114300"/>
                      </a:cubicBezTo>
                      <a:lnTo>
                        <a:pt x="200025" y="157162"/>
                      </a:lnTo>
                      <a:cubicBezTo>
                        <a:pt x="202205" y="175176"/>
                        <a:pt x="212811" y="191084"/>
                        <a:pt x="228600" y="200025"/>
                      </a:cubicBezTo>
                      <a:lnTo>
                        <a:pt x="0" y="200025"/>
                      </a:lnTo>
                      <a:cubicBezTo>
                        <a:pt x="15789" y="191084"/>
                        <a:pt x="26395" y="175176"/>
                        <a:pt x="28575" y="157162"/>
                      </a:cubicBezTo>
                      <a:lnTo>
                        <a:pt x="28575" y="114300"/>
                      </a:lnTo>
                      <a:cubicBezTo>
                        <a:pt x="30309" y="77356"/>
                        <a:pt x="52290" y="44385"/>
                        <a:pt x="85725" y="28575"/>
                      </a:cubicBezTo>
                    </a:path>
                  </a:pathLst>
                </a:custGeom>
                <a:noFill/>
                <a:ln w="21431">
                  <a:solidFill>
                    <a:srgbClr val="8A1700"/>
                  </a:solidFill>
                </a:ln>
              </p:spPr>
            </p:sp>
            <p:sp>
              <p:nvSpPr>
                <p:cNvPr id="90" name="Freeform 90"/>
                <p:cNvSpPr/>
                <p:nvPr/>
              </p:nvSpPr>
              <p:spPr>
                <a:xfrm>
                  <a:off x="8920162" y="1900238"/>
                  <a:ext cx="85725" cy="57150"/>
                </a:xfrm>
                <a:custGeom>
                  <a:avLst/>
                  <a:gdLst/>
                  <a:ahLst/>
                  <a:cxnLst/>
                  <a:rect l="l" t="t" r="r" b="b"/>
                  <a:pathLst>
                    <a:path w="85725" h="57150">
                      <a:moveTo>
                        <a:pt x="0" y="0"/>
                      </a:moveTo>
                      <a:lnTo>
                        <a:pt x="0" y="14288"/>
                      </a:lnTo>
                      <a:cubicBezTo>
                        <a:pt x="0" y="37960"/>
                        <a:pt x="19190" y="57150"/>
                        <a:pt x="42862" y="57150"/>
                      </a:cubicBezTo>
                      <a:cubicBezTo>
                        <a:pt x="66535" y="57150"/>
                        <a:pt x="85725" y="37960"/>
                        <a:pt x="85725" y="14288"/>
                      </a:cubicBezTo>
                      <a:lnTo>
                        <a:pt x="85725" y="0"/>
                      </a:lnTo>
                    </a:path>
                  </a:pathLst>
                </a:custGeom>
                <a:noFill/>
                <a:ln w="21431">
                  <a:solidFill>
                    <a:srgbClr val="8A1700"/>
                  </a:solidFill>
                </a:ln>
              </p:spPr>
            </p:sp>
          </p:grpSp>
          <p:sp>
            <p:nvSpPr>
              <p:cNvPr id="92" name="TextBox 92"/>
              <p:cNvSpPr txBox="1"/>
              <p:nvPr/>
            </p:nvSpPr>
            <p:spPr>
              <a:xfrm>
                <a:off x="8705177" y="2299097"/>
                <a:ext cx="515696" cy="183356"/>
              </a:xfrm>
              <a:prstGeom prst="rect">
                <a:avLst/>
              </a:prstGeom>
              <a:noFill/>
              <a:ln>
                <a:noFill/>
              </a:ln>
            </p:spPr>
            <p:txBody>
              <a:bodyPr wrap="none" lIns="0" tIns="0" rIns="0" bIns="0" anchor="t" anchorCtr="0">
                <a:spAutoFit/>
              </a:bodyPr>
              <a:lstStyle/>
              <a:p>
                <a:pPr algn="ctr"/>
                <a:r>
                  <a:rPr lang="zh-CN" sz="940" b="1" dirty="0">
                    <a:solidFill>
                      <a:srgbClr val="520E00"/>
                    </a:solidFill>
                    <a:latin typeface="+mn-lt"/>
                    <a:ea typeface="+mn-ea"/>
                    <a:cs typeface="+mn-cs"/>
                  </a:rPr>
                  <a:t>频控退订</a:t>
                </a:r>
              </a:p>
            </p:txBody>
          </p:sp>
        </p:grpSp>
        <p:grpSp>
          <p:nvGrpSpPr>
            <p:cNvPr id="100" name="cb-4"/>
            <p:cNvGrpSpPr/>
            <p:nvPr/>
          </p:nvGrpSpPr>
          <p:grpSpPr>
            <a:xfrm>
              <a:off x="9877425" y="1543050"/>
              <a:ext cx="571500" cy="939403"/>
              <a:chOff x="9877425" y="1543050"/>
              <a:chExt cx="571500" cy="939403"/>
            </a:xfrm>
          </p:grpSpPr>
          <p:sp>
            <p:nvSpPr>
              <p:cNvPr id="94" name="Ellipse 94"/>
              <p:cNvSpPr/>
              <p:nvPr/>
            </p:nvSpPr>
            <p:spPr>
              <a:xfrm>
                <a:off x="9877425" y="1543050"/>
                <a:ext cx="571500" cy="571500"/>
              </a:xfrm>
              <a:prstGeom prst="ellipse">
                <a:avLst/>
              </a:prstGeom>
              <a:solidFill>
                <a:srgbClr val="EEF3FB"/>
              </a:solidFill>
              <a:ln>
                <a:noFill/>
              </a:ln>
            </p:spPr>
          </p:sp>
          <p:grpSp>
            <p:nvGrpSpPr>
              <p:cNvPr id="98" name="Group 98"/>
              <p:cNvGrpSpPr/>
              <p:nvPr/>
            </p:nvGrpSpPr>
            <p:grpSpPr>
              <a:xfrm>
                <a:off x="10048875" y="1700212"/>
                <a:ext cx="228600" cy="257176"/>
                <a:chOff x="10048875" y="1700212"/>
                <a:chExt cx="228600" cy="257176"/>
              </a:xfrm>
            </p:grpSpPr>
            <p:sp>
              <p:nvSpPr>
                <p:cNvPr id="95" name="Freeform 95"/>
                <p:cNvSpPr/>
                <p:nvPr/>
              </p:nvSpPr>
              <p:spPr>
                <a:xfrm>
                  <a:off x="10048875" y="1700212"/>
                  <a:ext cx="228600" cy="85725"/>
                </a:xfrm>
                <a:custGeom>
                  <a:avLst/>
                  <a:gdLst/>
                  <a:ahLst/>
                  <a:cxnLst/>
                  <a:rect l="l" t="t" r="r" b="b"/>
                  <a:pathLst>
                    <a:path w="228600" h="85725">
                      <a:moveTo>
                        <a:pt x="0" y="42862"/>
                      </a:moveTo>
                      <a:cubicBezTo>
                        <a:pt x="0" y="66535"/>
                        <a:pt x="51174" y="85725"/>
                        <a:pt x="114300" y="85725"/>
                      </a:cubicBezTo>
                      <a:cubicBezTo>
                        <a:pt x="177426" y="85725"/>
                        <a:pt x="228600" y="66535"/>
                        <a:pt x="228600" y="42862"/>
                      </a:cubicBezTo>
                      <a:cubicBezTo>
                        <a:pt x="228600" y="19190"/>
                        <a:pt x="177426" y="0"/>
                        <a:pt x="114300" y="0"/>
                      </a:cubicBezTo>
                      <a:cubicBezTo>
                        <a:pt x="51174" y="0"/>
                        <a:pt x="0" y="19190"/>
                        <a:pt x="0" y="42862"/>
                      </a:cubicBezTo>
                    </a:path>
                  </a:pathLst>
                </a:custGeom>
                <a:noFill/>
                <a:ln w="21431">
                  <a:solidFill>
                    <a:srgbClr val="8A1700"/>
                  </a:solidFill>
                </a:ln>
              </p:spPr>
            </p:sp>
            <p:sp>
              <p:nvSpPr>
                <p:cNvPr id="96" name="Freeform 96"/>
                <p:cNvSpPr/>
                <p:nvPr/>
              </p:nvSpPr>
              <p:spPr>
                <a:xfrm>
                  <a:off x="10048875" y="1743075"/>
                  <a:ext cx="228600" cy="128588"/>
                </a:xfrm>
                <a:custGeom>
                  <a:avLst/>
                  <a:gdLst/>
                  <a:ahLst/>
                  <a:cxnLst/>
                  <a:rect l="l" t="t" r="r" b="b"/>
                  <a:pathLst>
                    <a:path w="228600" h="128588">
                      <a:moveTo>
                        <a:pt x="0" y="0"/>
                      </a:moveTo>
                      <a:lnTo>
                        <a:pt x="0" y="85725"/>
                      </a:lnTo>
                      <a:cubicBezTo>
                        <a:pt x="0" y="109397"/>
                        <a:pt x="51174" y="128588"/>
                        <a:pt x="114300" y="128588"/>
                      </a:cubicBezTo>
                      <a:cubicBezTo>
                        <a:pt x="177426" y="128588"/>
                        <a:pt x="228600" y="109397"/>
                        <a:pt x="228600" y="85725"/>
                      </a:cubicBezTo>
                      <a:lnTo>
                        <a:pt x="228600" y="0"/>
                      </a:lnTo>
                    </a:path>
                  </a:pathLst>
                </a:custGeom>
                <a:noFill/>
                <a:ln w="21431">
                  <a:solidFill>
                    <a:srgbClr val="8A1700"/>
                  </a:solidFill>
                </a:ln>
              </p:spPr>
            </p:sp>
            <p:sp>
              <p:nvSpPr>
                <p:cNvPr id="97" name="Freeform 97"/>
                <p:cNvSpPr/>
                <p:nvPr/>
              </p:nvSpPr>
              <p:spPr>
                <a:xfrm>
                  <a:off x="10048875" y="1828800"/>
                  <a:ext cx="228600" cy="128588"/>
                </a:xfrm>
                <a:custGeom>
                  <a:avLst/>
                  <a:gdLst/>
                  <a:ahLst/>
                  <a:cxnLst/>
                  <a:rect l="l" t="t" r="r" b="b"/>
                  <a:pathLst>
                    <a:path w="228600" h="128588">
                      <a:moveTo>
                        <a:pt x="0" y="0"/>
                      </a:moveTo>
                      <a:lnTo>
                        <a:pt x="0" y="85725"/>
                      </a:lnTo>
                      <a:cubicBezTo>
                        <a:pt x="0" y="109397"/>
                        <a:pt x="51174" y="128588"/>
                        <a:pt x="114300" y="128588"/>
                      </a:cubicBezTo>
                      <a:cubicBezTo>
                        <a:pt x="177426" y="128588"/>
                        <a:pt x="228600" y="109397"/>
                        <a:pt x="228600" y="85725"/>
                      </a:cubicBezTo>
                      <a:lnTo>
                        <a:pt x="228600" y="0"/>
                      </a:lnTo>
                    </a:path>
                  </a:pathLst>
                </a:custGeom>
                <a:noFill/>
                <a:ln w="21431">
                  <a:solidFill>
                    <a:srgbClr val="8A1700"/>
                  </a:solidFill>
                </a:ln>
              </p:spPr>
            </p:sp>
          </p:grpSp>
          <p:sp>
            <p:nvSpPr>
              <p:cNvPr id="99" name="TextBox 99"/>
              <p:cNvSpPr txBox="1"/>
              <p:nvPr/>
            </p:nvSpPr>
            <p:spPr>
              <a:xfrm>
                <a:off x="9905327" y="2299097"/>
                <a:ext cx="515696" cy="183356"/>
              </a:xfrm>
              <a:prstGeom prst="rect">
                <a:avLst/>
              </a:prstGeom>
              <a:noFill/>
              <a:ln>
                <a:noFill/>
              </a:ln>
            </p:spPr>
            <p:txBody>
              <a:bodyPr wrap="none" lIns="0" tIns="0" rIns="0" bIns="0" anchor="t" anchorCtr="0">
                <a:spAutoFit/>
              </a:bodyPr>
              <a:lstStyle/>
              <a:p>
                <a:pPr algn="ctr"/>
                <a:r>
                  <a:rPr lang="zh-CN" sz="940" b="1" dirty="0">
                    <a:solidFill>
                      <a:srgbClr val="520E00"/>
                    </a:solidFill>
                    <a:latin typeface="+mn-lt"/>
                    <a:ea typeface="+mn-ea"/>
                    <a:cs typeface="+mn-cs"/>
                  </a:rPr>
                  <a:t>敏感数据</a:t>
                </a:r>
              </a:p>
            </p:txBody>
          </p:sp>
        </p:grpSp>
        <p:grpSp>
          <p:nvGrpSpPr>
            <p:cNvPr id="109" name="cb-5"/>
            <p:cNvGrpSpPr/>
            <p:nvPr/>
          </p:nvGrpSpPr>
          <p:grpSpPr>
            <a:xfrm>
              <a:off x="11077575" y="1543050"/>
              <a:ext cx="571500" cy="939403"/>
              <a:chOff x="11077575" y="1543050"/>
              <a:chExt cx="571500" cy="939403"/>
            </a:xfrm>
          </p:grpSpPr>
          <p:sp>
            <p:nvSpPr>
              <p:cNvPr id="101" name="Ellipse 101"/>
              <p:cNvSpPr/>
              <p:nvPr/>
            </p:nvSpPr>
            <p:spPr>
              <a:xfrm>
                <a:off x="11077575" y="1543050"/>
                <a:ext cx="571500" cy="571500"/>
              </a:xfrm>
              <a:prstGeom prst="ellipse">
                <a:avLst/>
              </a:prstGeom>
              <a:solidFill>
                <a:srgbClr val="EEF3FB"/>
              </a:solidFill>
              <a:ln>
                <a:noFill/>
              </a:ln>
            </p:spPr>
          </p:sp>
          <p:grpSp>
            <p:nvGrpSpPr>
              <p:cNvPr id="107" name="Group 107"/>
              <p:cNvGrpSpPr/>
              <p:nvPr/>
            </p:nvGrpSpPr>
            <p:grpSpPr>
              <a:xfrm>
                <a:off x="11234738" y="1700212"/>
                <a:ext cx="257175" cy="266701"/>
                <a:chOff x="11234738" y="1700212"/>
                <a:chExt cx="257175" cy="266701"/>
              </a:xfrm>
            </p:grpSpPr>
            <p:sp>
              <p:nvSpPr>
                <p:cNvPr id="102" name="Freeform 102"/>
                <p:cNvSpPr/>
                <p:nvPr/>
              </p:nvSpPr>
              <p:spPr>
                <a:xfrm>
                  <a:off x="11234738" y="1957388"/>
                  <a:ext cx="257175" cy="9525"/>
                </a:xfrm>
                <a:custGeom>
                  <a:avLst/>
                  <a:gdLst/>
                  <a:ahLst/>
                  <a:cxnLst/>
                  <a:rect l="l" t="t" r="r" b="b"/>
                  <a:pathLst>
                    <a:path w="257175" h="9525">
                      <a:moveTo>
                        <a:pt x="0" y="0"/>
                      </a:moveTo>
                      <a:lnTo>
                        <a:pt x="257175" y="0"/>
                      </a:lnTo>
                    </a:path>
                  </a:pathLst>
                </a:custGeom>
                <a:noFill/>
                <a:ln w="21431">
                  <a:solidFill>
                    <a:srgbClr val="8A1700"/>
                  </a:solidFill>
                </a:ln>
              </p:spPr>
            </p:sp>
            <p:sp>
              <p:nvSpPr>
                <p:cNvPr id="103" name="Freeform 103"/>
                <p:cNvSpPr/>
                <p:nvPr/>
              </p:nvSpPr>
              <p:spPr>
                <a:xfrm>
                  <a:off x="11234738" y="1700212"/>
                  <a:ext cx="257175" cy="114300"/>
                </a:xfrm>
                <a:custGeom>
                  <a:avLst/>
                  <a:gdLst/>
                  <a:ahLst/>
                  <a:cxnLst/>
                  <a:rect l="l" t="t" r="r" b="b"/>
                  <a:pathLst>
                    <a:path w="257175" h="114300">
                      <a:moveTo>
                        <a:pt x="0" y="57150"/>
                      </a:moveTo>
                      <a:lnTo>
                        <a:pt x="0" y="71438"/>
                      </a:lnTo>
                      <a:cubicBezTo>
                        <a:pt x="0" y="95110"/>
                        <a:pt x="19190" y="114300"/>
                        <a:pt x="42862" y="114300"/>
                      </a:cubicBezTo>
                      <a:cubicBezTo>
                        <a:pt x="66535" y="114300"/>
                        <a:pt x="85725" y="95110"/>
                        <a:pt x="85725" y="71438"/>
                      </a:cubicBezTo>
                      <a:lnTo>
                        <a:pt x="85725" y="57150"/>
                      </a:lnTo>
                      <a:moveTo>
                        <a:pt x="85725" y="71438"/>
                      </a:moveTo>
                      <a:cubicBezTo>
                        <a:pt x="85725" y="95110"/>
                        <a:pt x="104915" y="114300"/>
                        <a:pt x="128588" y="114300"/>
                      </a:cubicBezTo>
                      <a:cubicBezTo>
                        <a:pt x="152260" y="114300"/>
                        <a:pt x="171450" y="95110"/>
                        <a:pt x="171450" y="71438"/>
                      </a:cubicBezTo>
                      <a:lnTo>
                        <a:pt x="171450" y="57150"/>
                      </a:lnTo>
                      <a:moveTo>
                        <a:pt x="171450" y="71438"/>
                      </a:moveTo>
                      <a:cubicBezTo>
                        <a:pt x="171450" y="95110"/>
                        <a:pt x="190640" y="114300"/>
                        <a:pt x="214312" y="114300"/>
                      </a:cubicBezTo>
                      <a:cubicBezTo>
                        <a:pt x="237985" y="114300"/>
                        <a:pt x="257175" y="95110"/>
                        <a:pt x="257175" y="71438"/>
                      </a:cubicBezTo>
                      <a:lnTo>
                        <a:pt x="257175" y="57150"/>
                      </a:lnTo>
                      <a:lnTo>
                        <a:pt x="0" y="57150"/>
                      </a:lnTo>
                      <a:lnTo>
                        <a:pt x="28575" y="0"/>
                      </a:lnTo>
                      <a:lnTo>
                        <a:pt x="228600" y="0"/>
                      </a:lnTo>
                      <a:lnTo>
                        <a:pt x="257175" y="57150"/>
                      </a:lnTo>
                    </a:path>
                  </a:pathLst>
                </a:custGeom>
                <a:noFill/>
                <a:ln w="21431">
                  <a:solidFill>
                    <a:srgbClr val="8A1700"/>
                  </a:solidFill>
                </a:ln>
              </p:spPr>
            </p:sp>
            <p:sp>
              <p:nvSpPr>
                <p:cNvPr id="104" name="Freeform 104"/>
                <p:cNvSpPr/>
                <p:nvPr/>
              </p:nvSpPr>
              <p:spPr>
                <a:xfrm>
                  <a:off x="11263312" y="1812369"/>
                  <a:ext cx="9525" cy="145018"/>
                </a:xfrm>
                <a:custGeom>
                  <a:avLst/>
                  <a:gdLst/>
                  <a:ahLst/>
                  <a:cxnLst/>
                  <a:rect l="l" t="t" r="r" b="b"/>
                  <a:pathLst>
                    <a:path w="9525" h="145018">
                      <a:moveTo>
                        <a:pt x="0" y="145018"/>
                      </a:moveTo>
                      <a:lnTo>
                        <a:pt x="0" y="0"/>
                      </a:lnTo>
                    </a:path>
                  </a:pathLst>
                </a:custGeom>
                <a:noFill/>
                <a:ln w="21431">
                  <a:solidFill>
                    <a:srgbClr val="8A1700"/>
                  </a:solidFill>
                </a:ln>
              </p:spPr>
            </p:sp>
            <p:sp>
              <p:nvSpPr>
                <p:cNvPr id="105" name="Freeform 105"/>
                <p:cNvSpPr/>
                <p:nvPr/>
              </p:nvSpPr>
              <p:spPr>
                <a:xfrm>
                  <a:off x="11463338" y="1812369"/>
                  <a:ext cx="9525" cy="145018"/>
                </a:xfrm>
                <a:custGeom>
                  <a:avLst/>
                  <a:gdLst/>
                  <a:ahLst/>
                  <a:cxnLst/>
                  <a:rect l="l" t="t" r="r" b="b"/>
                  <a:pathLst>
                    <a:path w="9525" h="145018">
                      <a:moveTo>
                        <a:pt x="0" y="145018"/>
                      </a:moveTo>
                      <a:lnTo>
                        <a:pt x="0" y="0"/>
                      </a:lnTo>
                    </a:path>
                  </a:pathLst>
                </a:custGeom>
                <a:noFill/>
                <a:ln w="21431">
                  <a:solidFill>
                    <a:srgbClr val="8A1700"/>
                  </a:solidFill>
                </a:ln>
              </p:spPr>
            </p:sp>
            <p:sp>
              <p:nvSpPr>
                <p:cNvPr id="106" name="Freeform 106"/>
                <p:cNvSpPr/>
                <p:nvPr/>
              </p:nvSpPr>
              <p:spPr>
                <a:xfrm>
                  <a:off x="11320462" y="1871662"/>
                  <a:ext cx="85725" cy="85725"/>
                </a:xfrm>
                <a:custGeom>
                  <a:avLst/>
                  <a:gdLst/>
                  <a:ahLst/>
                  <a:cxnLst/>
                  <a:rect l="l" t="t" r="r" b="b"/>
                  <a:pathLst>
                    <a:path w="85725" h="85725">
                      <a:moveTo>
                        <a:pt x="0" y="85725"/>
                      </a:moveTo>
                      <a:lnTo>
                        <a:pt x="0" y="28575"/>
                      </a:lnTo>
                      <a:cubicBezTo>
                        <a:pt x="0" y="12793"/>
                        <a:pt x="12793" y="0"/>
                        <a:pt x="28575" y="0"/>
                      </a:cubicBezTo>
                      <a:lnTo>
                        <a:pt x="57150" y="0"/>
                      </a:lnTo>
                      <a:cubicBezTo>
                        <a:pt x="72932" y="0"/>
                        <a:pt x="85725" y="12793"/>
                        <a:pt x="85725" y="28575"/>
                      </a:cubicBezTo>
                      <a:lnTo>
                        <a:pt x="85725" y="85725"/>
                      </a:lnTo>
                    </a:path>
                  </a:pathLst>
                </a:custGeom>
                <a:noFill/>
                <a:ln w="21431">
                  <a:solidFill>
                    <a:srgbClr val="8A1700"/>
                  </a:solidFill>
                </a:ln>
              </p:spPr>
            </p:sp>
          </p:grpSp>
          <p:sp>
            <p:nvSpPr>
              <p:cNvPr id="108" name="TextBox 108"/>
              <p:cNvSpPr txBox="1"/>
              <p:nvPr/>
            </p:nvSpPr>
            <p:spPr>
              <a:xfrm>
                <a:off x="11105477" y="2299097"/>
                <a:ext cx="515696" cy="183356"/>
              </a:xfrm>
              <a:prstGeom prst="rect">
                <a:avLst/>
              </a:prstGeom>
              <a:noFill/>
              <a:ln>
                <a:noFill/>
              </a:ln>
            </p:spPr>
            <p:txBody>
              <a:bodyPr wrap="none" lIns="0" tIns="0" rIns="0" bIns="0" anchor="t" anchorCtr="0">
                <a:spAutoFit/>
              </a:bodyPr>
              <a:lstStyle/>
              <a:p>
                <a:pPr algn="ctr"/>
                <a:r>
                  <a:rPr lang="zh-CN" sz="940" b="1" dirty="0">
                    <a:solidFill>
                      <a:srgbClr val="520E00"/>
                    </a:solidFill>
                    <a:latin typeface="+mn-lt"/>
                    <a:ea typeface="+mn-ea"/>
                    <a:cs typeface="+mn-cs"/>
                  </a:rPr>
                  <a:t>商户管理</a:t>
                </a:r>
              </a:p>
            </p:txBody>
          </p:sp>
        </p:grpSp>
      </p:grpSp>
      <p:grpSp>
        <p:nvGrpSpPr>
          <p:cNvPr id="142" name="three-defenses"/>
          <p:cNvGrpSpPr/>
          <p:nvPr/>
        </p:nvGrpSpPr>
        <p:grpSpPr>
          <a:xfrm>
            <a:off x="5962650" y="3162300"/>
            <a:ext cx="6000750" cy="2362200"/>
            <a:chOff x="5962650" y="3162300"/>
            <a:chExt cx="6000750" cy="2362200"/>
          </a:xfrm>
        </p:grpSpPr>
        <p:sp>
          <p:nvSpPr>
            <p:cNvPr id="111" name="Rectangle 111"/>
            <p:cNvSpPr/>
            <p:nvPr/>
          </p:nvSpPr>
          <p:spPr>
            <a:xfrm>
              <a:off x="5962650" y="3162300"/>
              <a:ext cx="6000750" cy="2362200"/>
            </a:xfrm>
            <a:prstGeom prst="roundRect">
              <a:avLst>
                <a:gd name="adj" fmla="val 3226"/>
              </a:avLst>
            </a:prstGeom>
            <a:solidFill>
              <a:srgbClr val="FFFFFF"/>
            </a:solidFill>
            <a:ln w="9525">
              <a:solidFill>
                <a:srgbClr val="C9D5EA"/>
              </a:solidFill>
            </a:ln>
          </p:spPr>
        </p:sp>
        <p:sp>
          <p:nvSpPr>
            <p:cNvPr id="112" name="Rectangle 112"/>
            <p:cNvSpPr/>
            <p:nvPr/>
          </p:nvSpPr>
          <p:spPr>
            <a:xfrm>
              <a:off x="5962650" y="3162300"/>
              <a:ext cx="6000750" cy="381000"/>
            </a:xfrm>
            <a:prstGeom prst="roundRect">
              <a:avLst>
                <a:gd name="adj" fmla="val 20000"/>
              </a:avLst>
            </a:prstGeom>
            <a:solidFill>
              <a:srgbClr val="520E00"/>
            </a:solidFill>
            <a:ln>
              <a:noFill/>
            </a:ln>
          </p:spPr>
        </p:sp>
        <p:sp>
          <p:nvSpPr>
            <p:cNvPr id="113" name="Rectangle 113"/>
            <p:cNvSpPr/>
            <p:nvPr/>
          </p:nvSpPr>
          <p:spPr>
            <a:xfrm>
              <a:off x="5962650" y="3390900"/>
              <a:ext cx="6000750" cy="152400"/>
            </a:xfrm>
            <a:prstGeom prst="rect">
              <a:avLst/>
            </a:prstGeom>
            <a:solidFill>
              <a:srgbClr val="520E00"/>
            </a:solidFill>
            <a:ln>
              <a:noFill/>
            </a:ln>
          </p:spPr>
        </p:sp>
        <p:sp>
          <p:nvSpPr>
            <p:cNvPr id="114" name="TextBox 114"/>
            <p:cNvSpPr txBox="1"/>
            <p:nvPr/>
          </p:nvSpPr>
          <p:spPr>
            <a:xfrm>
              <a:off x="7645128" y="3300651"/>
              <a:ext cx="263579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三道防线：规则校验—频率控制—投诉监测​​</a:t>
              </a:r>
            </a:p>
          </p:txBody>
        </p:sp>
        <p:grpSp>
          <p:nvGrpSpPr>
            <p:cNvPr id="123" name="def-rule"/>
            <p:cNvGrpSpPr/>
            <p:nvPr/>
          </p:nvGrpSpPr>
          <p:grpSpPr>
            <a:xfrm>
              <a:off x="6096000" y="3695700"/>
              <a:ext cx="1866900" cy="1638300"/>
              <a:chOff x="6096000" y="3695700"/>
              <a:chExt cx="1866900" cy="1638300"/>
            </a:xfrm>
          </p:grpSpPr>
          <p:sp>
            <p:nvSpPr>
              <p:cNvPr id="115" name="Rectangle 115"/>
              <p:cNvSpPr/>
              <p:nvPr/>
            </p:nvSpPr>
            <p:spPr>
              <a:xfrm>
                <a:off x="6096000" y="3695700"/>
                <a:ext cx="1866900" cy="1638300"/>
              </a:xfrm>
              <a:prstGeom prst="roundRect">
                <a:avLst>
                  <a:gd name="adj" fmla="val 4651"/>
                </a:avLst>
              </a:prstGeom>
              <a:solidFill>
                <a:srgbClr val="F5F8FE"/>
              </a:solidFill>
              <a:ln w="9525">
                <a:solidFill>
                  <a:srgbClr val="C9D5EA"/>
                </a:solidFill>
              </a:ln>
            </p:spPr>
          </p:sp>
          <p:grpSp>
            <p:nvGrpSpPr>
              <p:cNvPr id="120" name="Group 120"/>
              <p:cNvGrpSpPr/>
              <p:nvPr/>
            </p:nvGrpSpPr>
            <p:grpSpPr>
              <a:xfrm>
                <a:off x="6896100" y="3943350"/>
                <a:ext cx="285750" cy="323850"/>
                <a:chOff x="6896100" y="3943350"/>
                <a:chExt cx="285750" cy="323850"/>
              </a:xfrm>
            </p:grpSpPr>
            <p:sp>
              <p:nvSpPr>
                <p:cNvPr id="116" name="Freeform 116"/>
                <p:cNvSpPr/>
                <p:nvPr/>
              </p:nvSpPr>
              <p:spPr>
                <a:xfrm>
                  <a:off x="6896100" y="3943350"/>
                  <a:ext cx="228600" cy="304800"/>
                </a:xfrm>
                <a:custGeom>
                  <a:avLst/>
                  <a:gdLst/>
                  <a:ahLst/>
                  <a:cxnLst/>
                  <a:rect l="l" t="t" r="r" b="b"/>
                  <a:pathLst>
                    <a:path w="228600" h="304800">
                      <a:moveTo>
                        <a:pt x="87916" y="304800"/>
                      </a:moveTo>
                      <a:lnTo>
                        <a:pt x="38100" y="304800"/>
                      </a:lnTo>
                      <a:cubicBezTo>
                        <a:pt x="17058" y="304800"/>
                        <a:pt x="0" y="287742"/>
                        <a:pt x="0" y="266700"/>
                      </a:cubicBezTo>
                      <a:lnTo>
                        <a:pt x="0" y="38100"/>
                      </a:lnTo>
                      <a:cubicBezTo>
                        <a:pt x="0" y="17058"/>
                        <a:pt x="17058" y="0"/>
                        <a:pt x="38100" y="0"/>
                      </a:cubicBezTo>
                      <a:lnTo>
                        <a:pt x="190500" y="0"/>
                      </a:lnTo>
                      <a:cubicBezTo>
                        <a:pt x="211542" y="0"/>
                        <a:pt x="228600" y="17058"/>
                        <a:pt x="228600" y="38100"/>
                      </a:cubicBezTo>
                      <a:lnTo>
                        <a:pt x="228600" y="190500"/>
                      </a:lnTo>
                    </a:path>
                  </a:pathLst>
                </a:custGeom>
                <a:noFill/>
                <a:ln w="28575">
                  <a:solidFill>
                    <a:srgbClr val="8A1700"/>
                  </a:solidFill>
                </a:ln>
              </p:spPr>
            </p:sp>
            <p:sp>
              <p:nvSpPr>
                <p:cNvPr id="117" name="Freeform 117"/>
                <p:cNvSpPr/>
                <p:nvPr/>
              </p:nvSpPr>
              <p:spPr>
                <a:xfrm>
                  <a:off x="7067550" y="4191000"/>
                  <a:ext cx="114300" cy="76200"/>
                </a:xfrm>
                <a:custGeom>
                  <a:avLst/>
                  <a:gdLst/>
                  <a:ahLst/>
                  <a:cxnLst/>
                  <a:rect l="l" t="t" r="r" b="b"/>
                  <a:pathLst>
                    <a:path w="114300" h="76200">
                      <a:moveTo>
                        <a:pt x="0" y="38100"/>
                      </a:moveTo>
                      <a:lnTo>
                        <a:pt x="38100" y="76200"/>
                      </a:lnTo>
                      <a:lnTo>
                        <a:pt x="114300" y="0"/>
                      </a:lnTo>
                    </a:path>
                  </a:pathLst>
                </a:custGeom>
                <a:noFill/>
                <a:ln w="28575">
                  <a:solidFill>
                    <a:srgbClr val="8A1700"/>
                  </a:solidFill>
                </a:ln>
              </p:spPr>
            </p:sp>
            <p:sp>
              <p:nvSpPr>
                <p:cNvPr id="118" name="Freeform 118"/>
                <p:cNvSpPr/>
                <p:nvPr/>
              </p:nvSpPr>
              <p:spPr>
                <a:xfrm>
                  <a:off x="6972300" y="4019550"/>
                  <a:ext cx="76200" cy="9525"/>
                </a:xfrm>
                <a:custGeom>
                  <a:avLst/>
                  <a:gdLst/>
                  <a:ahLst/>
                  <a:cxnLst/>
                  <a:rect l="l" t="t" r="r" b="b"/>
                  <a:pathLst>
                    <a:path w="76200" h="9525">
                      <a:moveTo>
                        <a:pt x="0" y="0"/>
                      </a:moveTo>
                      <a:lnTo>
                        <a:pt x="76200" y="0"/>
                      </a:lnTo>
                    </a:path>
                  </a:pathLst>
                </a:custGeom>
                <a:noFill/>
                <a:ln w="28575">
                  <a:solidFill>
                    <a:srgbClr val="8A1700"/>
                  </a:solidFill>
                </a:ln>
              </p:spPr>
            </p:sp>
            <p:sp>
              <p:nvSpPr>
                <p:cNvPr id="119" name="Freeform 119"/>
                <p:cNvSpPr/>
                <p:nvPr/>
              </p:nvSpPr>
              <p:spPr>
                <a:xfrm>
                  <a:off x="6972300" y="4095750"/>
                  <a:ext cx="38100" cy="9525"/>
                </a:xfrm>
                <a:custGeom>
                  <a:avLst/>
                  <a:gdLst/>
                  <a:ahLst/>
                  <a:cxnLst/>
                  <a:rect l="l" t="t" r="r" b="b"/>
                  <a:pathLst>
                    <a:path w="38100" h="9525">
                      <a:moveTo>
                        <a:pt x="0" y="0"/>
                      </a:moveTo>
                      <a:lnTo>
                        <a:pt x="38100" y="0"/>
                      </a:lnTo>
                    </a:path>
                  </a:pathLst>
                </a:custGeom>
                <a:noFill/>
                <a:ln w="28575">
                  <a:solidFill>
                    <a:srgbClr val="8A1700"/>
                  </a:solidFill>
                </a:ln>
              </p:spPr>
            </p:sp>
          </p:grpSp>
          <p:sp>
            <p:nvSpPr>
              <p:cNvPr id="121" name="TextBox 121"/>
              <p:cNvSpPr txBox="1"/>
              <p:nvPr/>
            </p:nvSpPr>
            <p:spPr>
              <a:xfrm>
                <a:off x="6722186" y="4602956"/>
                <a:ext cx="614528"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规则校验</a:t>
                </a:r>
              </a:p>
            </p:txBody>
          </p:sp>
          <p:sp>
            <p:nvSpPr>
              <p:cNvPr id="122" name="TextBox 122"/>
              <p:cNvSpPr txBox="1"/>
              <p:nvPr/>
            </p:nvSpPr>
            <p:spPr>
              <a:xfrm>
                <a:off x="6368415" y="4872038"/>
                <a:ext cx="1322070" cy="147638"/>
              </a:xfrm>
              <a:prstGeom prst="rect">
                <a:avLst/>
              </a:prstGeom>
              <a:noFill/>
              <a:ln>
                <a:noFill/>
              </a:ln>
            </p:spPr>
            <p:txBody>
              <a:bodyPr wrap="none" lIns="0" tIns="0" rIns="0" bIns="0" anchor="t" anchorCtr="0">
                <a:spAutoFit/>
              </a:bodyPr>
              <a:lstStyle/>
              <a:p>
                <a:pPr algn="ctr"/>
                <a:r>
                  <a:rPr lang="zh-CN" sz="750" dirty="0">
                    <a:solidFill>
                      <a:srgbClr val="60403A"/>
                    </a:solidFill>
                    <a:latin typeface="+mn-lt"/>
                    <a:ea typeface="+mn-ea"/>
                    <a:cs typeface="+mn-cs"/>
                  </a:rPr>
                  <a:t>自动校验合规规则与黑白名单</a:t>
                </a:r>
              </a:p>
            </p:txBody>
          </p:sp>
        </p:grpSp>
        <p:sp>
          <p:nvSpPr>
            <p:cNvPr id="124" name="Freeform 124"/>
            <p:cNvSpPr/>
            <p:nvPr/>
          </p:nvSpPr>
          <p:spPr>
            <a:xfrm>
              <a:off x="7981950" y="4362450"/>
              <a:ext cx="209550" cy="228600"/>
            </a:xfrm>
            <a:prstGeom prst="rightArrow">
              <a:avLst/>
            </a:prstGeom>
            <a:solidFill>
              <a:srgbClr val="E84E2F"/>
            </a:solidFill>
            <a:ln>
              <a:noFill/>
            </a:ln>
          </p:spPr>
        </p:sp>
        <p:grpSp>
          <p:nvGrpSpPr>
            <p:cNvPr id="131" name="def-freq"/>
            <p:cNvGrpSpPr/>
            <p:nvPr/>
          </p:nvGrpSpPr>
          <p:grpSpPr>
            <a:xfrm>
              <a:off x="8210550" y="3695700"/>
              <a:ext cx="1714500" cy="1638300"/>
              <a:chOff x="8210550" y="3695700"/>
              <a:chExt cx="1714500" cy="1638300"/>
            </a:xfrm>
          </p:grpSpPr>
          <p:sp>
            <p:nvSpPr>
              <p:cNvPr id="125" name="Rectangle 125"/>
              <p:cNvSpPr/>
              <p:nvPr/>
            </p:nvSpPr>
            <p:spPr>
              <a:xfrm>
                <a:off x="8210550" y="3695700"/>
                <a:ext cx="1714500" cy="1638300"/>
              </a:xfrm>
              <a:prstGeom prst="roundRect">
                <a:avLst>
                  <a:gd name="adj" fmla="val 4651"/>
                </a:avLst>
              </a:prstGeom>
              <a:solidFill>
                <a:srgbClr val="F5F8FE"/>
              </a:solidFill>
              <a:ln w="9525">
                <a:solidFill>
                  <a:srgbClr val="C9D5EA"/>
                </a:solidFill>
              </a:ln>
            </p:spPr>
          </p:sp>
          <p:grpSp>
            <p:nvGrpSpPr>
              <p:cNvPr id="128" name="Group 128"/>
              <p:cNvGrpSpPr/>
              <p:nvPr/>
            </p:nvGrpSpPr>
            <p:grpSpPr>
              <a:xfrm>
                <a:off x="8896350" y="3924300"/>
                <a:ext cx="342900" cy="342900"/>
                <a:chOff x="8896350" y="3924300"/>
                <a:chExt cx="342900" cy="342900"/>
              </a:xfrm>
            </p:grpSpPr>
            <p:sp>
              <p:nvSpPr>
                <p:cNvPr id="126" name="Freeform 126"/>
                <p:cNvSpPr/>
                <p:nvPr/>
              </p:nvSpPr>
              <p:spPr>
                <a:xfrm>
                  <a:off x="8896350" y="3924300"/>
                  <a:ext cx="342900" cy="342900"/>
                </a:xfrm>
                <a:custGeom>
                  <a:avLst/>
                  <a:gdLst/>
                  <a:ahLst/>
                  <a:cxnLst/>
                  <a:rect l="l" t="t" r="r" b="b"/>
                  <a:pathLst>
                    <a:path w="342900" h="342900">
                      <a:moveTo>
                        <a:pt x="0" y="171450"/>
                      </a:moveTo>
                      <a:cubicBezTo>
                        <a:pt x="0" y="266139"/>
                        <a:pt x="76761" y="342900"/>
                        <a:pt x="171450" y="342900"/>
                      </a:cubicBezTo>
                      <a:cubicBezTo>
                        <a:pt x="266139" y="342900"/>
                        <a:pt x="342900" y="266139"/>
                        <a:pt x="342900" y="171450"/>
                      </a:cubicBezTo>
                      <a:cubicBezTo>
                        <a:pt x="342900" y="76761"/>
                        <a:pt x="266139" y="0"/>
                        <a:pt x="171450" y="0"/>
                      </a:cubicBezTo>
                      <a:cubicBezTo>
                        <a:pt x="76761" y="0"/>
                        <a:pt x="0" y="76761"/>
                        <a:pt x="0" y="171450"/>
                      </a:cubicBezTo>
                    </a:path>
                  </a:pathLst>
                </a:custGeom>
                <a:noFill/>
                <a:ln w="28575">
                  <a:solidFill>
                    <a:srgbClr val="8A1700"/>
                  </a:solidFill>
                </a:ln>
              </p:spPr>
            </p:sp>
            <p:sp>
              <p:nvSpPr>
                <p:cNvPr id="127" name="Freeform 127"/>
                <p:cNvSpPr/>
                <p:nvPr/>
              </p:nvSpPr>
              <p:spPr>
                <a:xfrm>
                  <a:off x="9067800" y="4000500"/>
                  <a:ext cx="57150" cy="152400"/>
                </a:xfrm>
                <a:custGeom>
                  <a:avLst/>
                  <a:gdLst/>
                  <a:ahLst/>
                  <a:cxnLst/>
                  <a:rect l="l" t="t" r="r" b="b"/>
                  <a:pathLst>
                    <a:path w="57150" h="152400">
                      <a:moveTo>
                        <a:pt x="0" y="0"/>
                      </a:moveTo>
                      <a:lnTo>
                        <a:pt x="0" y="95250"/>
                      </a:lnTo>
                      <a:lnTo>
                        <a:pt x="57150" y="152400"/>
                      </a:lnTo>
                    </a:path>
                  </a:pathLst>
                </a:custGeom>
                <a:noFill/>
                <a:ln w="28575">
                  <a:solidFill>
                    <a:srgbClr val="8A1700"/>
                  </a:solidFill>
                </a:ln>
              </p:spPr>
            </p:sp>
          </p:grpSp>
          <p:sp>
            <p:nvSpPr>
              <p:cNvPr id="129" name="TextBox 129"/>
              <p:cNvSpPr txBox="1"/>
              <p:nvPr/>
            </p:nvSpPr>
            <p:spPr>
              <a:xfrm>
                <a:off x="8760536" y="4602956"/>
                <a:ext cx="614528"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频率控制</a:t>
                </a:r>
              </a:p>
            </p:txBody>
          </p:sp>
          <p:sp>
            <p:nvSpPr>
              <p:cNvPr id="130" name="TextBox 130"/>
              <p:cNvSpPr txBox="1"/>
              <p:nvPr/>
            </p:nvSpPr>
            <p:spPr>
              <a:xfrm>
                <a:off x="8406765" y="4872038"/>
                <a:ext cx="1322070" cy="147638"/>
              </a:xfrm>
              <a:prstGeom prst="rect">
                <a:avLst/>
              </a:prstGeom>
              <a:noFill/>
              <a:ln>
                <a:noFill/>
              </a:ln>
            </p:spPr>
            <p:txBody>
              <a:bodyPr wrap="none" lIns="0" tIns="0" rIns="0" bIns="0" anchor="t" anchorCtr="0">
                <a:spAutoFit/>
              </a:bodyPr>
              <a:lstStyle/>
              <a:p>
                <a:pPr algn="ctr"/>
                <a:r>
                  <a:rPr lang="zh-CN" sz="750" dirty="0">
                    <a:solidFill>
                      <a:srgbClr val="60403A"/>
                    </a:solidFill>
                    <a:latin typeface="+mn-lt"/>
                    <a:ea typeface="+mn-ea"/>
                    <a:cs typeface="+mn-cs"/>
                  </a:rPr>
                  <a:t>控制触达频率，避免过度打扰</a:t>
                </a:r>
              </a:p>
            </p:txBody>
          </p:sp>
        </p:grpSp>
        <p:sp>
          <p:nvSpPr>
            <p:cNvPr id="132" name="Freeform 132"/>
            <p:cNvSpPr/>
            <p:nvPr/>
          </p:nvSpPr>
          <p:spPr>
            <a:xfrm>
              <a:off x="9944100" y="4362450"/>
              <a:ext cx="209550" cy="228600"/>
            </a:xfrm>
            <a:prstGeom prst="rightArrow">
              <a:avLst/>
            </a:prstGeom>
            <a:solidFill>
              <a:srgbClr val="E84E2F"/>
            </a:solidFill>
            <a:ln>
              <a:noFill/>
            </a:ln>
          </p:spPr>
        </p:sp>
        <p:grpSp>
          <p:nvGrpSpPr>
            <p:cNvPr id="141" name="def-complaint"/>
            <p:cNvGrpSpPr/>
            <p:nvPr/>
          </p:nvGrpSpPr>
          <p:grpSpPr>
            <a:xfrm>
              <a:off x="10172700" y="3695700"/>
              <a:ext cx="1714500" cy="1638300"/>
              <a:chOff x="10172700" y="3695700"/>
              <a:chExt cx="1714500" cy="1638300"/>
            </a:xfrm>
          </p:grpSpPr>
          <p:sp>
            <p:nvSpPr>
              <p:cNvPr id="133" name="Rectangle 133"/>
              <p:cNvSpPr/>
              <p:nvPr/>
            </p:nvSpPr>
            <p:spPr>
              <a:xfrm>
                <a:off x="10172700" y="3695700"/>
                <a:ext cx="1714500" cy="1638300"/>
              </a:xfrm>
              <a:prstGeom prst="roundRect">
                <a:avLst>
                  <a:gd name="adj" fmla="val 4651"/>
                </a:avLst>
              </a:prstGeom>
              <a:solidFill>
                <a:srgbClr val="F5F8FE"/>
              </a:solidFill>
              <a:ln w="9525">
                <a:solidFill>
                  <a:srgbClr val="C9D5EA"/>
                </a:solidFill>
              </a:ln>
            </p:spPr>
          </p:sp>
          <p:grpSp>
            <p:nvGrpSpPr>
              <p:cNvPr id="138" name="Group 138"/>
              <p:cNvGrpSpPr/>
              <p:nvPr/>
            </p:nvGrpSpPr>
            <p:grpSpPr>
              <a:xfrm>
                <a:off x="10877550" y="3924300"/>
                <a:ext cx="304800" cy="361950"/>
                <a:chOff x="10877550" y="3924300"/>
                <a:chExt cx="304800" cy="361950"/>
              </a:xfrm>
            </p:grpSpPr>
            <p:sp>
              <p:nvSpPr>
                <p:cNvPr id="134" name="Freeform 134"/>
                <p:cNvSpPr/>
                <p:nvPr/>
              </p:nvSpPr>
              <p:spPr>
                <a:xfrm>
                  <a:off x="10877550" y="3924300"/>
                  <a:ext cx="304800" cy="209550"/>
                </a:xfrm>
                <a:custGeom>
                  <a:avLst/>
                  <a:gdLst/>
                  <a:ahLst/>
                  <a:cxnLst/>
                  <a:rect l="l" t="t" r="r" b="b"/>
                  <a:pathLst>
                    <a:path w="304800" h="209550">
                      <a:moveTo>
                        <a:pt x="0" y="209550"/>
                      </a:moveTo>
                      <a:lnTo>
                        <a:pt x="0" y="152400"/>
                      </a:lnTo>
                      <a:cubicBezTo>
                        <a:pt x="0" y="68232"/>
                        <a:pt x="68232" y="0"/>
                        <a:pt x="152400" y="0"/>
                      </a:cubicBezTo>
                      <a:cubicBezTo>
                        <a:pt x="236568" y="0"/>
                        <a:pt x="304800" y="68232"/>
                        <a:pt x="304800" y="152400"/>
                      </a:cubicBezTo>
                      <a:lnTo>
                        <a:pt x="304800" y="209550"/>
                      </a:lnTo>
                    </a:path>
                  </a:pathLst>
                </a:custGeom>
                <a:noFill/>
                <a:ln w="28575">
                  <a:solidFill>
                    <a:srgbClr val="8A1700"/>
                  </a:solidFill>
                </a:ln>
              </p:spPr>
            </p:sp>
            <p:sp>
              <p:nvSpPr>
                <p:cNvPr id="135" name="Freeform 135"/>
                <p:cNvSpPr/>
                <p:nvPr/>
              </p:nvSpPr>
              <p:spPr>
                <a:xfrm>
                  <a:off x="11029950" y="4229100"/>
                  <a:ext cx="114300" cy="57150"/>
                </a:xfrm>
                <a:custGeom>
                  <a:avLst/>
                  <a:gdLst/>
                  <a:ahLst/>
                  <a:cxnLst/>
                  <a:rect l="l" t="t" r="r" b="b"/>
                  <a:pathLst>
                    <a:path w="114300" h="57150">
                      <a:moveTo>
                        <a:pt x="114300" y="0"/>
                      </a:moveTo>
                      <a:cubicBezTo>
                        <a:pt x="114300" y="31566"/>
                        <a:pt x="63132" y="57150"/>
                        <a:pt x="0" y="57150"/>
                      </a:cubicBezTo>
                    </a:path>
                  </a:pathLst>
                </a:custGeom>
                <a:noFill/>
                <a:ln w="28575">
                  <a:solidFill>
                    <a:srgbClr val="8A1700"/>
                  </a:solidFill>
                </a:ln>
              </p:spPr>
            </p:sp>
            <p:sp>
              <p:nvSpPr>
                <p:cNvPr id="136" name="Freeform 136"/>
                <p:cNvSpPr/>
                <p:nvPr/>
              </p:nvSpPr>
              <p:spPr>
                <a:xfrm>
                  <a:off x="10877550" y="4095750"/>
                  <a:ext cx="95250" cy="133350"/>
                </a:xfrm>
                <a:custGeom>
                  <a:avLst/>
                  <a:gdLst/>
                  <a:ahLst/>
                  <a:cxnLst/>
                  <a:rect l="l" t="t" r="r" b="b"/>
                  <a:pathLst>
                    <a:path w="95250" h="133350">
                      <a:moveTo>
                        <a:pt x="0" y="38100"/>
                      </a:moveTo>
                      <a:cubicBezTo>
                        <a:pt x="0" y="17058"/>
                        <a:pt x="17058" y="0"/>
                        <a:pt x="38100" y="0"/>
                      </a:cubicBezTo>
                      <a:lnTo>
                        <a:pt x="57150" y="0"/>
                      </a:lnTo>
                      <a:cubicBezTo>
                        <a:pt x="78192" y="0"/>
                        <a:pt x="95250" y="17058"/>
                        <a:pt x="95250" y="38100"/>
                      </a:cubicBezTo>
                      <a:lnTo>
                        <a:pt x="95250" y="95250"/>
                      </a:lnTo>
                      <a:cubicBezTo>
                        <a:pt x="95250" y="116292"/>
                        <a:pt x="78192" y="133350"/>
                        <a:pt x="57150" y="133350"/>
                      </a:cubicBezTo>
                      <a:lnTo>
                        <a:pt x="38100" y="133350"/>
                      </a:lnTo>
                      <a:cubicBezTo>
                        <a:pt x="17058" y="133350"/>
                        <a:pt x="0" y="116292"/>
                        <a:pt x="0" y="95250"/>
                      </a:cubicBezTo>
                      <a:lnTo>
                        <a:pt x="0" y="38100"/>
                      </a:lnTo>
                    </a:path>
                  </a:pathLst>
                </a:custGeom>
                <a:noFill/>
                <a:ln w="28575">
                  <a:solidFill>
                    <a:srgbClr val="8A1700"/>
                  </a:solidFill>
                </a:ln>
              </p:spPr>
            </p:sp>
            <p:sp>
              <p:nvSpPr>
                <p:cNvPr id="137" name="Freeform 137"/>
                <p:cNvSpPr/>
                <p:nvPr/>
              </p:nvSpPr>
              <p:spPr>
                <a:xfrm>
                  <a:off x="11087100" y="4095750"/>
                  <a:ext cx="95250" cy="133350"/>
                </a:xfrm>
                <a:custGeom>
                  <a:avLst/>
                  <a:gdLst/>
                  <a:ahLst/>
                  <a:cxnLst/>
                  <a:rect l="l" t="t" r="r" b="b"/>
                  <a:pathLst>
                    <a:path w="95250" h="133350">
                      <a:moveTo>
                        <a:pt x="0" y="38100"/>
                      </a:moveTo>
                      <a:cubicBezTo>
                        <a:pt x="0" y="17058"/>
                        <a:pt x="17058" y="0"/>
                        <a:pt x="38100" y="0"/>
                      </a:cubicBezTo>
                      <a:lnTo>
                        <a:pt x="57150" y="0"/>
                      </a:lnTo>
                      <a:cubicBezTo>
                        <a:pt x="78192" y="0"/>
                        <a:pt x="95250" y="17058"/>
                        <a:pt x="95250" y="38100"/>
                      </a:cubicBezTo>
                      <a:lnTo>
                        <a:pt x="95250" y="95250"/>
                      </a:lnTo>
                      <a:cubicBezTo>
                        <a:pt x="95250" y="116292"/>
                        <a:pt x="78192" y="133350"/>
                        <a:pt x="57150" y="133350"/>
                      </a:cubicBezTo>
                      <a:lnTo>
                        <a:pt x="38100" y="133350"/>
                      </a:lnTo>
                      <a:cubicBezTo>
                        <a:pt x="17058" y="133350"/>
                        <a:pt x="0" y="116292"/>
                        <a:pt x="0" y="95250"/>
                      </a:cubicBezTo>
                      <a:lnTo>
                        <a:pt x="0" y="38100"/>
                      </a:lnTo>
                    </a:path>
                  </a:pathLst>
                </a:custGeom>
                <a:noFill/>
                <a:ln w="28575">
                  <a:solidFill>
                    <a:srgbClr val="8A1700"/>
                  </a:solidFill>
                </a:ln>
              </p:spPr>
            </p:sp>
          </p:grpSp>
          <p:sp>
            <p:nvSpPr>
              <p:cNvPr id="139" name="TextBox 139"/>
              <p:cNvSpPr txBox="1"/>
              <p:nvPr/>
            </p:nvSpPr>
            <p:spPr>
              <a:xfrm>
                <a:off x="10722686" y="4602956"/>
                <a:ext cx="614528" cy="220028"/>
              </a:xfrm>
              <a:prstGeom prst="rect">
                <a:avLst/>
              </a:prstGeom>
              <a:noFill/>
              <a:ln>
                <a:noFill/>
              </a:ln>
            </p:spPr>
            <p:txBody>
              <a:bodyPr wrap="none" lIns="0" tIns="0" rIns="0" bIns="0" anchor="t" anchorCtr="0">
                <a:spAutoFit/>
              </a:bodyPr>
              <a:lstStyle/>
              <a:p>
                <a:pPr algn="ctr"/>
                <a:r>
                  <a:rPr lang="zh-CN" sz="1120" b="1" dirty="0">
                    <a:solidFill>
                      <a:srgbClr val="520E00"/>
                    </a:solidFill>
                    <a:latin typeface="+mn-lt"/>
                    <a:ea typeface="+mn-ea"/>
                    <a:cs typeface="+mn-cs"/>
                  </a:rPr>
                  <a:t>投诉监测</a:t>
                </a:r>
              </a:p>
            </p:txBody>
          </p:sp>
          <p:sp>
            <p:nvSpPr>
              <p:cNvPr id="140" name="TextBox 140"/>
              <p:cNvSpPr txBox="1"/>
              <p:nvPr/>
            </p:nvSpPr>
            <p:spPr>
              <a:xfrm>
                <a:off x="10368915" y="4872038"/>
                <a:ext cx="1322070" cy="147638"/>
              </a:xfrm>
              <a:prstGeom prst="rect">
                <a:avLst/>
              </a:prstGeom>
              <a:noFill/>
              <a:ln>
                <a:noFill/>
              </a:ln>
            </p:spPr>
            <p:txBody>
              <a:bodyPr wrap="none" lIns="0" tIns="0" rIns="0" bIns="0" anchor="t" anchorCtr="0">
                <a:spAutoFit/>
              </a:bodyPr>
              <a:lstStyle/>
              <a:p>
                <a:pPr algn="ctr"/>
                <a:r>
                  <a:rPr lang="zh-CN" sz="750" dirty="0">
                    <a:solidFill>
                      <a:srgbClr val="60403A"/>
                    </a:solidFill>
                    <a:latin typeface="+mn-lt"/>
                    <a:ea typeface="+mn-ea"/>
                    <a:cs typeface="+mn-cs"/>
                  </a:rPr>
                  <a:t>实时监测投诉，闭环处置改进</a:t>
                </a:r>
              </a:p>
            </p:txBody>
          </p:sp>
        </p:grpSp>
      </p:grpSp>
      <p:grpSp>
        <p:nvGrpSpPr>
          <p:cNvPr id="149" name="red-banner"/>
          <p:cNvGrpSpPr/>
          <p:nvPr/>
        </p:nvGrpSpPr>
        <p:grpSpPr>
          <a:xfrm>
            <a:off x="228600" y="5695950"/>
            <a:ext cx="11734800" cy="762000"/>
            <a:chOff x="228600" y="5695950"/>
            <a:chExt cx="11734800" cy="762000"/>
          </a:xfrm>
        </p:grpSpPr>
        <p:sp>
          <p:nvSpPr>
            <p:cNvPr id="143" name="Rectangle 143"/>
            <p:cNvSpPr/>
            <p:nvPr/>
          </p:nvSpPr>
          <p:spPr>
            <a:xfrm>
              <a:off x="228600" y="5695950"/>
              <a:ext cx="11734800" cy="762000"/>
            </a:xfrm>
            <a:prstGeom prst="roundRect">
              <a:avLst>
                <a:gd name="adj" fmla="val 10000"/>
              </a:avLst>
            </a:prstGeom>
            <a:solidFill>
              <a:srgbClr val="C02C0A"/>
            </a:solidFill>
            <a:ln>
              <a:noFill/>
            </a:ln>
          </p:spPr>
        </p:sp>
        <p:sp>
          <p:nvSpPr>
            <p:cNvPr id="144" name="Ellipse 144"/>
            <p:cNvSpPr/>
            <p:nvPr/>
          </p:nvSpPr>
          <p:spPr>
            <a:xfrm>
              <a:off x="609600" y="5829300"/>
              <a:ext cx="495300" cy="495300"/>
            </a:xfrm>
            <a:prstGeom prst="ellipse">
              <a:avLst/>
            </a:prstGeom>
            <a:noFill/>
            <a:ln w="19050">
              <a:solidFill>
                <a:srgbClr val="FFFFFF"/>
              </a:solidFill>
            </a:ln>
          </p:spPr>
        </p:sp>
        <p:grpSp>
          <p:nvGrpSpPr>
            <p:cNvPr id="147" name="Group 147"/>
            <p:cNvGrpSpPr/>
            <p:nvPr/>
          </p:nvGrpSpPr>
          <p:grpSpPr>
            <a:xfrm>
              <a:off x="742241" y="5976938"/>
              <a:ext cx="217008" cy="200025"/>
              <a:chOff x="742241" y="5976938"/>
              <a:chExt cx="217008" cy="200025"/>
            </a:xfrm>
          </p:grpSpPr>
          <p:sp>
            <p:nvSpPr>
              <p:cNvPr id="145" name="Freeform 145"/>
              <p:cNvSpPr/>
              <p:nvPr/>
            </p:nvSpPr>
            <p:spPr>
              <a:xfrm>
                <a:off x="742241" y="59769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0003">
                <a:solidFill>
                  <a:srgbClr val="FFFFFF"/>
                </a:solidFill>
              </a:ln>
            </p:spPr>
          </p:sp>
          <p:sp>
            <p:nvSpPr>
              <p:cNvPr id="146" name="Freeform 146"/>
              <p:cNvSpPr/>
              <p:nvPr/>
            </p:nvSpPr>
            <p:spPr>
              <a:xfrm>
                <a:off x="890588" y="6132513"/>
                <a:ext cx="66675" cy="44450"/>
              </a:xfrm>
              <a:custGeom>
                <a:avLst/>
                <a:gdLst/>
                <a:ahLst/>
                <a:cxnLst/>
                <a:rect l="l" t="t" r="r" b="b"/>
                <a:pathLst>
                  <a:path w="66675" h="44450">
                    <a:moveTo>
                      <a:pt x="0" y="22225"/>
                    </a:moveTo>
                    <a:lnTo>
                      <a:pt x="22225" y="44450"/>
                    </a:lnTo>
                    <a:lnTo>
                      <a:pt x="66675" y="0"/>
                    </a:lnTo>
                  </a:path>
                </a:pathLst>
              </a:custGeom>
              <a:noFill/>
              <a:ln w="20003">
                <a:solidFill>
                  <a:srgbClr val="FFFFFF"/>
                </a:solidFill>
              </a:ln>
            </p:spPr>
          </p:sp>
        </p:grpSp>
        <p:sp>
          <p:nvSpPr>
            <p:cNvPr id="148" name="TextBox 148"/>
            <p:cNvSpPr txBox="1"/>
            <p:nvPr/>
          </p:nvSpPr>
          <p:spPr>
            <a:xfrm>
              <a:off x="1421511" y="6008846"/>
              <a:ext cx="8234375"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以组织保障执行，以合规守护边界，以机制驱动持续优化，赢得客户长期信任，支撑高质量增长。</a:t>
              </a:r>
            </a:p>
          </p:txBody>
        </p:sp>
      </p:gr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963400" cy="581025"/>
            <a:chOff x="0" y="0"/>
            <a:chExt cx="11963400" cy="5810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20E00"/>
            </a:solidFill>
            <a:ln>
              <a:noFill/>
            </a:ln>
          </p:spPr>
        </p:sp>
        <p:sp>
          <p:nvSpPr>
            <p:cNvPr id="3" name="TextBox 3"/>
            <p:cNvSpPr txBox="1"/>
            <p:nvPr/>
          </p:nvSpPr>
          <p:spPr>
            <a:xfrm>
              <a:off x="199263" y="162401"/>
              <a:ext cx="518364" cy="396050"/>
            </a:xfrm>
            <a:prstGeom prst="rect">
              <a:avLst/>
            </a:prstGeom>
            <a:noFill/>
            <a:ln>
              <a:noFill/>
            </a:ln>
          </p:spPr>
          <p:txBody>
            <a:bodyPr wrap="none" lIns="0" tIns="0" rIns="0" bIns="0" anchor="t" anchorCtr="0">
              <a:spAutoFit/>
            </a:bodyPr>
            <a:lstStyle/>
            <a:p>
              <a:pPr algn="l"/>
              <a:r>
                <a:rPr lang="zh-CN" sz="2020" b="1" i="1" dirty="0">
                  <a:solidFill>
                    <a:srgbClr val="FFFFFF"/>
                  </a:solidFill>
                  <a:latin typeface="SimSun"/>
                  <a:ea typeface="SimSun"/>
                  <a:cs typeface="SimSun"/>
                </a:rPr>
                <a:t>19​</a:t>
              </a:r>
            </a:p>
          </p:txBody>
        </p:sp>
        <p:sp>
          <p:nvSpPr>
            <p:cNvPr id="4" name="TextBox 4"/>
            <p:cNvSpPr txBox="1"/>
            <p:nvPr/>
          </p:nvSpPr>
          <p:spPr>
            <a:xfrm>
              <a:off x="942594" y="151448"/>
              <a:ext cx="7508748" cy="381381"/>
            </a:xfrm>
            <a:prstGeom prst="rect">
              <a:avLst/>
            </a:prstGeom>
            <a:noFill/>
            <a:ln>
              <a:noFill/>
            </a:ln>
          </p:spPr>
          <p:txBody>
            <a:bodyPr wrap="none" lIns="0" tIns="0" rIns="0" bIns="0" anchor="t" anchorCtr="0">
              <a:spAutoFit/>
            </a:bodyPr>
            <a:lstStyle/>
            <a:p>
              <a:pPr algn="l"/>
              <a:r>
                <a:rPr lang="zh-CN" sz="1950" b="1" dirty="0">
                  <a:solidFill>
                    <a:srgbClr val="520E00"/>
                  </a:solidFill>
                  <a:latin typeface="SimSun"/>
                  <a:ea typeface="SimSun"/>
                  <a:cs typeface="SimSun"/>
                </a:rPr>
                <a:t>实施路线：三个阶段沉淀可复制、可衡量、可持续的经营能力</a:t>
              </a:r>
            </a:p>
          </p:txBody>
        </p:sp>
        <p:sp>
          <p:nvSpPr>
            <p:cNvPr id="5" name="Line 5"/>
            <p:cNvSpPr/>
            <p:nvPr/>
          </p:nvSpPr>
          <p:spPr>
            <a:xfrm>
              <a:off x="228600" y="571500"/>
              <a:ext cx="11734800" cy="9525"/>
            </a:xfrm>
            <a:custGeom>
              <a:avLst/>
              <a:gdLst/>
              <a:ahLst/>
              <a:cxnLst/>
              <a:rect l="l" t="t" r="r" b="b"/>
              <a:pathLst>
                <a:path w="11734800" h="9525">
                  <a:moveTo>
                    <a:pt x="0" y="0"/>
                  </a:moveTo>
                  <a:lnTo>
                    <a:pt x="11734800" y="0"/>
                  </a:lnTo>
                </a:path>
              </a:pathLst>
            </a:custGeom>
            <a:noFill/>
            <a:ln w="19050">
              <a:solidFill>
                <a:srgbClr val="8A1700"/>
              </a:solidFill>
            </a:ln>
          </p:spPr>
        </p:sp>
      </p:grpSp>
      <p:grpSp>
        <p:nvGrpSpPr>
          <p:cNvPr id="40" name="stage-1"/>
          <p:cNvGrpSpPr/>
          <p:nvPr/>
        </p:nvGrpSpPr>
        <p:grpSpPr>
          <a:xfrm>
            <a:off x="228600" y="800100"/>
            <a:ext cx="3810000" cy="2105026"/>
            <a:chOff x="228600" y="800100"/>
            <a:chExt cx="3810000" cy="2105026"/>
          </a:xfrm>
        </p:grpSpPr>
        <p:sp>
          <p:nvSpPr>
            <p:cNvPr id="7" name="Freeform 7"/>
            <p:cNvSpPr/>
            <p:nvPr/>
          </p:nvSpPr>
          <p:spPr>
            <a:xfrm>
              <a:off x="228600" y="800100"/>
              <a:ext cx="3810000" cy="457200"/>
            </a:xfrm>
            <a:prstGeom prst="chevron">
              <a:avLst/>
            </a:prstGeom>
            <a:solidFill>
              <a:srgbClr val="520E00"/>
            </a:solidFill>
            <a:ln>
              <a:noFill/>
            </a:ln>
          </p:spPr>
        </p:sp>
        <p:grpSp>
          <p:nvGrpSpPr>
            <p:cNvPr id="11" name="Group 11"/>
            <p:cNvGrpSpPr/>
            <p:nvPr/>
          </p:nvGrpSpPr>
          <p:grpSpPr>
            <a:xfrm>
              <a:off x="657225" y="942975"/>
              <a:ext cx="171450" cy="171450"/>
              <a:chOff x="657225" y="942975"/>
              <a:chExt cx="171450" cy="171450"/>
            </a:xfrm>
          </p:grpSpPr>
          <p:sp>
            <p:nvSpPr>
              <p:cNvPr id="8" name="Freeform 8"/>
              <p:cNvSpPr/>
              <p:nvPr/>
            </p:nvSpPr>
            <p:spPr>
              <a:xfrm>
                <a:off x="733425" y="10191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7145">
                <a:solidFill>
                  <a:srgbClr val="FFFFFF"/>
                </a:solidFill>
              </a:ln>
            </p:spPr>
          </p:sp>
          <p:sp>
            <p:nvSpPr>
              <p:cNvPr id="9" name="Freeform 9"/>
              <p:cNvSpPr/>
              <p:nvPr/>
            </p:nvSpPr>
            <p:spPr>
              <a:xfrm>
                <a:off x="695325" y="98107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7145">
                <a:solidFill>
                  <a:srgbClr val="FFFFFF"/>
                </a:solidFill>
              </a:ln>
            </p:spPr>
          </p:sp>
          <p:sp>
            <p:nvSpPr>
              <p:cNvPr id="10" name="Freeform 10"/>
              <p:cNvSpPr/>
              <p:nvPr/>
            </p:nvSpPr>
            <p:spPr>
              <a:xfrm>
                <a:off x="657225" y="9429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7145">
                <a:solidFill>
                  <a:srgbClr val="FFFFFF"/>
                </a:solidFill>
              </a:ln>
            </p:spPr>
          </p:sp>
        </p:grpSp>
        <p:sp>
          <p:nvSpPr>
            <p:cNvPr id="12" name="TextBox 12"/>
            <p:cNvSpPr txBox="1"/>
            <p:nvPr/>
          </p:nvSpPr>
          <p:spPr>
            <a:xfrm>
              <a:off x="985838" y="889397"/>
              <a:ext cx="2158365" cy="345281"/>
            </a:xfrm>
            <a:prstGeom prst="rect">
              <a:avLst/>
            </a:prstGeom>
            <a:noFill/>
            <a:ln>
              <a:noFill/>
            </a:ln>
          </p:spPr>
          <p:txBody>
            <a:bodyPr wrap="none" lIns="0" tIns="0" rIns="0" bIns="0" anchor="t" anchorCtr="0">
              <a:spAutoFit/>
            </a:bodyPr>
            <a:lstStyle/>
            <a:p>
              <a:pPr algn="l">
                <a:lnSpc>
                  <a:spcPts val="1275"/>
                </a:lnSpc>
              </a:pPr>
              <a:r>
                <a:rPr lang="zh-CN" sz="940" b="1" dirty="0">
                  <a:solidFill>
                    <a:srgbClr val="FFFFFF"/>
                  </a:solidFill>
                  <a:latin typeface="+mn-lt"/>
                  <a:ea typeface="+mn-ea"/>
                  <a:cs typeface="+mn-cs"/>
                </a:rPr>
                <a:t>阶段一 0—3个月：​</a:t>
              </a:r>
              <a:br/>
              <a:r>
                <a:rPr lang="zh-CN" sz="940" b="1" dirty="0">
                  <a:solidFill>
                    <a:srgbClr val="FFFFFF"/>
                  </a:solidFill>
                  <a:latin typeface="+mn-lt"/>
                  <a:ea typeface="+mn-ea"/>
                  <a:cs typeface="+mn-cs"/>
                </a:rPr>
                <a:t>统一客户池、标签、指标，上线新客旅程</a:t>
              </a:r>
            </a:p>
          </p:txBody>
        </p:sp>
        <p:sp>
          <p:nvSpPr>
            <p:cNvPr id="13" name="Rectangle 13"/>
            <p:cNvSpPr/>
            <p:nvPr/>
          </p:nvSpPr>
          <p:spPr>
            <a:xfrm>
              <a:off x="228600" y="1333500"/>
              <a:ext cx="3810000" cy="1543050"/>
            </a:xfrm>
            <a:prstGeom prst="roundRect">
              <a:avLst>
                <a:gd name="adj" fmla="val 3704"/>
              </a:avLst>
            </a:prstGeom>
            <a:solidFill>
              <a:srgbClr val="F5F8FE"/>
            </a:solidFill>
            <a:ln w="9525">
              <a:solidFill>
                <a:srgbClr val="C9D5EA"/>
              </a:solidFill>
            </a:ln>
          </p:spPr>
        </p:sp>
        <p:grpSp>
          <p:nvGrpSpPr>
            <p:cNvPr id="17" name="Group 17"/>
            <p:cNvGrpSpPr/>
            <p:nvPr/>
          </p:nvGrpSpPr>
          <p:grpSpPr>
            <a:xfrm>
              <a:off x="393700" y="1452562"/>
              <a:ext cx="127000" cy="142875"/>
              <a:chOff x="393700" y="1452562"/>
              <a:chExt cx="127000" cy="142875"/>
            </a:xfrm>
          </p:grpSpPr>
          <p:sp>
            <p:nvSpPr>
              <p:cNvPr id="14" name="Freeform 14"/>
              <p:cNvSpPr/>
              <p:nvPr/>
            </p:nvSpPr>
            <p:spPr>
              <a:xfrm>
                <a:off x="393700" y="14525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4287">
                <a:solidFill>
                  <a:srgbClr val="8A1700"/>
                </a:solidFill>
              </a:ln>
            </p:spPr>
          </p:sp>
          <p:sp>
            <p:nvSpPr>
              <p:cNvPr id="15" name="Freeform 15"/>
              <p:cNvSpPr/>
              <p:nvPr/>
            </p:nvSpPr>
            <p:spPr>
              <a:xfrm>
                <a:off x="393700" y="14763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4287">
                <a:solidFill>
                  <a:srgbClr val="8A1700"/>
                </a:solidFill>
              </a:ln>
            </p:spPr>
          </p:sp>
          <p:sp>
            <p:nvSpPr>
              <p:cNvPr id="16" name="Freeform 16"/>
              <p:cNvSpPr/>
              <p:nvPr/>
            </p:nvSpPr>
            <p:spPr>
              <a:xfrm>
                <a:off x="393700" y="15240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4287">
                <a:solidFill>
                  <a:srgbClr val="8A1700"/>
                </a:solidFill>
              </a:ln>
            </p:spPr>
          </p:sp>
        </p:grpSp>
        <p:sp>
          <p:nvSpPr>
            <p:cNvPr id="18" name="TextBox 18"/>
            <p:cNvSpPr txBox="1"/>
            <p:nvPr/>
          </p:nvSpPr>
          <p:spPr>
            <a:xfrm>
              <a:off x="623888" y="1490662"/>
              <a:ext cx="2028825"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统一客户池：</a:t>
              </a:r>
              <a:r>
                <a:rPr lang="zh-CN" sz="750" dirty="0">
                  <a:solidFill>
                    <a:srgbClr val="60403A"/>
                  </a:solidFill>
                  <a:latin typeface="+mn-lt"/>
                  <a:ea typeface="+mn-ea"/>
                  <a:cs typeface="+mn-cs"/>
                </a:rPr>
                <a:t>打通数据源，构建唯一客户视图</a:t>
              </a:r>
            </a:p>
          </p:txBody>
        </p:sp>
        <p:grpSp>
          <p:nvGrpSpPr>
            <p:cNvPr id="21" name="Group 21"/>
            <p:cNvGrpSpPr/>
            <p:nvPr/>
          </p:nvGrpSpPr>
          <p:grpSpPr>
            <a:xfrm>
              <a:off x="385762" y="1776412"/>
              <a:ext cx="144756" cy="144756"/>
              <a:chOff x="385762" y="1776412"/>
              <a:chExt cx="144756" cy="144756"/>
            </a:xfrm>
          </p:grpSpPr>
          <p:sp>
            <p:nvSpPr>
              <p:cNvPr id="19" name="Freeform 19"/>
              <p:cNvSpPr/>
              <p:nvPr/>
            </p:nvSpPr>
            <p:spPr>
              <a:xfrm>
                <a:off x="413544" y="1804194"/>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4287">
                <a:solidFill>
                  <a:srgbClr val="8A1700"/>
                </a:solidFill>
              </a:ln>
            </p:spPr>
          </p:sp>
          <p:sp>
            <p:nvSpPr>
              <p:cNvPr id="20" name="Freeform 20"/>
              <p:cNvSpPr/>
              <p:nvPr/>
            </p:nvSpPr>
            <p:spPr>
              <a:xfrm>
                <a:off x="385762" y="1776412"/>
                <a:ext cx="144756" cy="144756"/>
              </a:xfrm>
              <a:custGeom>
                <a:avLst/>
                <a:gdLst/>
                <a:ahLst/>
                <a:cxnLst/>
                <a:rect l="l" t="t" r="r" b="b"/>
                <a:pathLst>
                  <a:path w="144756" h="144756">
                    <a:moveTo>
                      <a:pt x="0" y="23812"/>
                    </a:moveTo>
                    <a:lnTo>
                      <a:pt x="0" y="64865"/>
                    </a:lnTo>
                    <a:cubicBezTo>
                      <a:pt x="1" y="69075"/>
                      <a:pt x="1674" y="73112"/>
                      <a:pt x="4651" y="76089"/>
                    </a:cubicBezTo>
                    <a:lnTo>
                      <a:pt x="65849" y="137287"/>
                    </a:lnTo>
                    <a:cubicBezTo>
                      <a:pt x="73320" y="144756"/>
                      <a:pt x="85430" y="144756"/>
                      <a:pt x="92900" y="137287"/>
                    </a:cubicBezTo>
                    <a:lnTo>
                      <a:pt x="137287" y="92900"/>
                    </a:lnTo>
                    <a:cubicBezTo>
                      <a:pt x="144756" y="85430"/>
                      <a:pt x="144756" y="73320"/>
                      <a:pt x="137287" y="65849"/>
                    </a:cubicBezTo>
                    <a:lnTo>
                      <a:pt x="76089" y="4651"/>
                    </a:lnTo>
                    <a:cubicBezTo>
                      <a:pt x="73112" y="1674"/>
                      <a:pt x="69075" y="1"/>
                      <a:pt x="64865" y="0"/>
                    </a:cubicBezTo>
                    <a:lnTo>
                      <a:pt x="23812" y="0"/>
                    </a:lnTo>
                    <a:cubicBezTo>
                      <a:pt x="17497" y="0"/>
                      <a:pt x="11440" y="2509"/>
                      <a:pt x="6975" y="6975"/>
                    </a:cubicBezTo>
                    <a:cubicBezTo>
                      <a:pt x="2509" y="11440"/>
                      <a:pt x="0" y="17497"/>
                      <a:pt x="0" y="23812"/>
                    </a:cubicBezTo>
                  </a:path>
                </a:pathLst>
              </a:custGeom>
              <a:noFill/>
              <a:ln w="14287">
                <a:solidFill>
                  <a:srgbClr val="8A1700"/>
                </a:solidFill>
              </a:ln>
            </p:spPr>
          </p:sp>
        </p:grpSp>
        <p:sp>
          <p:nvSpPr>
            <p:cNvPr id="22" name="TextBox 22"/>
            <p:cNvSpPr txBox="1"/>
            <p:nvPr/>
          </p:nvSpPr>
          <p:spPr>
            <a:xfrm>
              <a:off x="623888" y="1814512"/>
              <a:ext cx="2129790"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统一标签体系：</a:t>
              </a:r>
              <a:r>
                <a:rPr lang="zh-CN" sz="750" dirty="0">
                  <a:solidFill>
                    <a:srgbClr val="60403A"/>
                  </a:solidFill>
                  <a:latin typeface="+mn-lt"/>
                  <a:ea typeface="+mn-ea"/>
                  <a:cs typeface="+mn-cs"/>
                </a:rPr>
                <a:t>标准化客户标签，支撑精细运营</a:t>
              </a:r>
            </a:p>
          </p:txBody>
        </p:sp>
        <p:grpSp>
          <p:nvGrpSpPr>
            <p:cNvPr id="27" name="Group 27"/>
            <p:cNvGrpSpPr/>
            <p:nvPr/>
          </p:nvGrpSpPr>
          <p:grpSpPr>
            <a:xfrm>
              <a:off x="385762" y="2108200"/>
              <a:ext cx="142875" cy="136525"/>
              <a:chOff x="385762" y="2108200"/>
              <a:chExt cx="142875" cy="136525"/>
            </a:xfrm>
          </p:grpSpPr>
          <p:sp>
            <p:nvSpPr>
              <p:cNvPr id="23" name="Freeform 23"/>
              <p:cNvSpPr/>
              <p:nvPr/>
            </p:nvSpPr>
            <p:spPr>
              <a:xfrm>
                <a:off x="385762" y="21717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4287">
                <a:solidFill>
                  <a:srgbClr val="8A1700"/>
                </a:solidFill>
              </a:ln>
            </p:spPr>
          </p:sp>
          <p:sp>
            <p:nvSpPr>
              <p:cNvPr id="24" name="Freeform 24"/>
              <p:cNvSpPr/>
              <p:nvPr/>
            </p:nvSpPr>
            <p:spPr>
              <a:xfrm>
                <a:off x="481012" y="21399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4287">
                <a:solidFill>
                  <a:srgbClr val="8A1700"/>
                </a:solidFill>
              </a:ln>
            </p:spPr>
          </p:sp>
          <p:sp>
            <p:nvSpPr>
              <p:cNvPr id="25" name="Freeform 25"/>
              <p:cNvSpPr/>
              <p:nvPr/>
            </p:nvSpPr>
            <p:spPr>
              <a:xfrm>
                <a:off x="433387" y="21082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4287">
                <a:solidFill>
                  <a:srgbClr val="8A1700"/>
                </a:solidFill>
              </a:ln>
            </p:spPr>
          </p:sp>
          <p:sp>
            <p:nvSpPr>
              <p:cNvPr id="26" name="Freeform 26"/>
              <p:cNvSpPr/>
              <p:nvPr/>
            </p:nvSpPr>
            <p:spPr>
              <a:xfrm>
                <a:off x="393700" y="2235200"/>
                <a:ext cx="111125" cy="9525"/>
              </a:xfrm>
              <a:custGeom>
                <a:avLst/>
                <a:gdLst/>
                <a:ahLst/>
                <a:cxnLst/>
                <a:rect l="l" t="t" r="r" b="b"/>
                <a:pathLst>
                  <a:path w="111125" h="9525">
                    <a:moveTo>
                      <a:pt x="0" y="0"/>
                    </a:moveTo>
                    <a:lnTo>
                      <a:pt x="111125" y="0"/>
                    </a:lnTo>
                  </a:path>
                </a:pathLst>
              </a:custGeom>
              <a:noFill/>
              <a:ln w="14287">
                <a:solidFill>
                  <a:srgbClr val="8A1700"/>
                </a:solidFill>
              </a:ln>
            </p:spPr>
          </p:sp>
        </p:grpSp>
        <p:sp>
          <p:nvSpPr>
            <p:cNvPr id="28" name="TextBox 28"/>
            <p:cNvSpPr txBox="1"/>
            <p:nvPr/>
          </p:nvSpPr>
          <p:spPr>
            <a:xfrm>
              <a:off x="623888" y="2138362"/>
              <a:ext cx="2028825"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统一指标体系：</a:t>
              </a:r>
              <a:r>
                <a:rPr lang="zh-CN" sz="750" dirty="0">
                  <a:solidFill>
                    <a:srgbClr val="60403A"/>
                  </a:solidFill>
                  <a:latin typeface="+mn-lt"/>
                  <a:ea typeface="+mn-ea"/>
                  <a:cs typeface="+mn-cs"/>
                </a:rPr>
                <a:t>建立核心指标口径与监控看板</a:t>
              </a:r>
            </a:p>
          </p:txBody>
        </p:sp>
        <p:grpSp>
          <p:nvGrpSpPr>
            <p:cNvPr id="33" name="Group 33"/>
            <p:cNvGrpSpPr/>
            <p:nvPr/>
          </p:nvGrpSpPr>
          <p:grpSpPr>
            <a:xfrm>
              <a:off x="409575" y="2424112"/>
              <a:ext cx="127000" cy="150813"/>
              <a:chOff x="409575" y="2424112"/>
              <a:chExt cx="127000" cy="150813"/>
            </a:xfrm>
          </p:grpSpPr>
          <p:sp>
            <p:nvSpPr>
              <p:cNvPr id="29" name="Freeform 29"/>
              <p:cNvSpPr/>
              <p:nvPr/>
            </p:nvSpPr>
            <p:spPr>
              <a:xfrm>
                <a:off x="425450" y="24241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4287">
                <a:solidFill>
                  <a:srgbClr val="8A1700"/>
                </a:solidFill>
              </a:ln>
            </p:spPr>
          </p:sp>
          <p:sp>
            <p:nvSpPr>
              <p:cNvPr id="30" name="Freeform 30"/>
              <p:cNvSpPr/>
              <p:nvPr/>
            </p:nvSpPr>
            <p:spPr>
              <a:xfrm>
                <a:off x="488950" y="2551112"/>
                <a:ext cx="47625" cy="9525"/>
              </a:xfrm>
              <a:custGeom>
                <a:avLst/>
                <a:gdLst/>
                <a:ahLst/>
                <a:cxnLst/>
                <a:rect l="l" t="t" r="r" b="b"/>
                <a:pathLst>
                  <a:path w="47625" h="9525">
                    <a:moveTo>
                      <a:pt x="0" y="0"/>
                    </a:moveTo>
                    <a:lnTo>
                      <a:pt x="47625" y="0"/>
                    </a:lnTo>
                  </a:path>
                </a:pathLst>
              </a:custGeom>
              <a:noFill/>
              <a:ln w="14287">
                <a:solidFill>
                  <a:srgbClr val="8A1700"/>
                </a:solidFill>
              </a:ln>
            </p:spPr>
          </p:sp>
          <p:sp>
            <p:nvSpPr>
              <p:cNvPr id="31" name="Freeform 31"/>
              <p:cNvSpPr/>
              <p:nvPr/>
            </p:nvSpPr>
            <p:spPr>
              <a:xfrm>
                <a:off x="512762" y="2527300"/>
                <a:ext cx="9525" cy="47625"/>
              </a:xfrm>
              <a:custGeom>
                <a:avLst/>
                <a:gdLst/>
                <a:ahLst/>
                <a:cxnLst/>
                <a:rect l="l" t="t" r="r" b="b"/>
                <a:pathLst>
                  <a:path w="9525" h="47625">
                    <a:moveTo>
                      <a:pt x="0" y="0"/>
                    </a:moveTo>
                    <a:lnTo>
                      <a:pt x="0" y="47625"/>
                    </a:lnTo>
                  </a:path>
                </a:pathLst>
              </a:custGeom>
              <a:noFill/>
              <a:ln w="14287">
                <a:solidFill>
                  <a:srgbClr val="8A1700"/>
                </a:solidFill>
              </a:ln>
            </p:spPr>
          </p:sp>
          <p:sp>
            <p:nvSpPr>
              <p:cNvPr id="32" name="Freeform 32"/>
              <p:cNvSpPr/>
              <p:nvPr/>
            </p:nvSpPr>
            <p:spPr>
              <a:xfrm>
                <a:off x="409575" y="25193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4287">
                <a:solidFill>
                  <a:srgbClr val="8A1700"/>
                </a:solidFill>
              </a:ln>
            </p:spPr>
          </p:sp>
        </p:grpSp>
        <p:sp>
          <p:nvSpPr>
            <p:cNvPr id="34" name="TextBox 34"/>
            <p:cNvSpPr txBox="1"/>
            <p:nvPr/>
          </p:nvSpPr>
          <p:spPr>
            <a:xfrm>
              <a:off x="623888" y="2462212"/>
              <a:ext cx="1725930"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上线新客旅程：</a:t>
              </a:r>
              <a:r>
                <a:rPr lang="zh-CN" sz="750" dirty="0">
                  <a:solidFill>
                    <a:srgbClr val="60403A"/>
                  </a:solidFill>
                  <a:latin typeface="+mn-lt"/>
                  <a:ea typeface="+mn-ea"/>
                  <a:cs typeface="+mn-cs"/>
                </a:rPr>
                <a:t>标准化触达与转化流程</a:t>
              </a:r>
            </a:p>
          </p:txBody>
        </p:sp>
        <p:sp>
          <p:nvSpPr>
            <p:cNvPr id="35" name="Line 35"/>
            <p:cNvSpPr/>
            <p:nvPr/>
          </p:nvSpPr>
          <p:spPr>
            <a:xfrm>
              <a:off x="342900" y="2667000"/>
              <a:ext cx="3581400" cy="9525"/>
            </a:xfrm>
            <a:custGeom>
              <a:avLst/>
              <a:gdLst/>
              <a:ahLst/>
              <a:cxnLst/>
              <a:rect l="l" t="t" r="r" b="b"/>
              <a:pathLst>
                <a:path w="3581400" h="9525">
                  <a:moveTo>
                    <a:pt x="0" y="0"/>
                  </a:moveTo>
                  <a:lnTo>
                    <a:pt x="3581400" y="0"/>
                  </a:lnTo>
                </a:path>
              </a:pathLst>
            </a:custGeom>
            <a:noFill/>
            <a:ln w="9525">
              <a:solidFill>
                <a:srgbClr val="DCE6F5"/>
              </a:solidFill>
            </a:ln>
          </p:spPr>
        </p:sp>
        <p:grpSp>
          <p:nvGrpSpPr>
            <p:cNvPr id="38" name="Group 38"/>
            <p:cNvGrpSpPr/>
            <p:nvPr/>
          </p:nvGrpSpPr>
          <p:grpSpPr>
            <a:xfrm>
              <a:off x="397669" y="2746255"/>
              <a:ext cx="100012" cy="127913"/>
              <a:chOff x="397669" y="2746255"/>
              <a:chExt cx="100012" cy="127913"/>
            </a:xfrm>
          </p:grpSpPr>
          <p:sp>
            <p:nvSpPr>
              <p:cNvPr id="36" name="Freeform 36"/>
              <p:cNvSpPr/>
              <p:nvPr/>
            </p:nvSpPr>
            <p:spPr>
              <a:xfrm>
                <a:off x="397669" y="2746255"/>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2859">
                <a:solidFill>
                  <a:srgbClr val="C02C0A"/>
                </a:solidFill>
              </a:ln>
            </p:spPr>
          </p:sp>
          <p:sp>
            <p:nvSpPr>
              <p:cNvPr id="37" name="Freeform 37"/>
              <p:cNvSpPr/>
              <p:nvPr/>
            </p:nvSpPr>
            <p:spPr>
              <a:xfrm>
                <a:off x="397669" y="2824162"/>
                <a:ext cx="9525" cy="50006"/>
              </a:xfrm>
              <a:custGeom>
                <a:avLst/>
                <a:gdLst/>
                <a:ahLst/>
                <a:cxnLst/>
                <a:rect l="l" t="t" r="r" b="b"/>
                <a:pathLst>
                  <a:path w="9525" h="50006">
                    <a:moveTo>
                      <a:pt x="0" y="50006"/>
                    </a:moveTo>
                    <a:lnTo>
                      <a:pt x="0" y="0"/>
                    </a:lnTo>
                  </a:path>
                </a:pathLst>
              </a:custGeom>
              <a:noFill/>
              <a:ln w="12859">
                <a:solidFill>
                  <a:srgbClr val="C02C0A"/>
                </a:solidFill>
              </a:ln>
            </p:spPr>
          </p:sp>
        </p:grpSp>
        <p:sp>
          <p:nvSpPr>
            <p:cNvPr id="39" name="TextBox 39"/>
            <p:cNvSpPr txBox="1"/>
            <p:nvPr/>
          </p:nvSpPr>
          <p:spPr>
            <a:xfrm>
              <a:off x="604838" y="2757488"/>
              <a:ext cx="2331720" cy="147638"/>
            </a:xfrm>
            <a:prstGeom prst="rect">
              <a:avLst/>
            </a:prstGeom>
            <a:noFill/>
            <a:ln>
              <a:noFill/>
            </a:ln>
          </p:spPr>
          <p:txBody>
            <a:bodyPr wrap="none" lIns="0" tIns="0" rIns="0" bIns="0" anchor="t" anchorCtr="0">
              <a:spAutoFit/>
            </a:bodyPr>
            <a:lstStyle/>
            <a:p>
              <a:pPr algn="l"/>
              <a:r>
                <a:rPr lang="zh-CN" sz="750" b="1" dirty="0">
                  <a:solidFill>
                    <a:srgbClr val="C02C0A"/>
                  </a:solidFill>
                  <a:latin typeface="+mn-lt"/>
                  <a:ea typeface="+mn-ea"/>
                  <a:cs typeface="+mn-cs"/>
                </a:rPr>
                <a:t>里程碑：</a:t>
              </a:r>
              <a:r>
                <a:rPr lang="zh-CN" sz="750" b="1" dirty="0">
                  <a:solidFill>
                    <a:srgbClr val="520E00"/>
                  </a:solidFill>
                  <a:latin typeface="+mn-lt"/>
                  <a:ea typeface="+mn-ea"/>
                  <a:cs typeface="+mn-cs"/>
                </a:rPr>
                <a:t>客户数据与指标系统一落地，新客旅程上线</a:t>
              </a:r>
            </a:p>
          </p:txBody>
        </p:sp>
      </p:grpSp>
      <p:grpSp>
        <p:nvGrpSpPr>
          <p:cNvPr id="76" name="stage-2"/>
          <p:cNvGrpSpPr/>
          <p:nvPr/>
        </p:nvGrpSpPr>
        <p:grpSpPr>
          <a:xfrm>
            <a:off x="4152900" y="800100"/>
            <a:ext cx="3810000" cy="2105026"/>
            <a:chOff x="4152900" y="800100"/>
            <a:chExt cx="3810000" cy="2105026"/>
          </a:xfrm>
        </p:grpSpPr>
        <p:sp>
          <p:nvSpPr>
            <p:cNvPr id="41" name="Freeform 41"/>
            <p:cNvSpPr/>
            <p:nvPr/>
          </p:nvSpPr>
          <p:spPr>
            <a:xfrm>
              <a:off x="4152900" y="800100"/>
              <a:ext cx="3810000" cy="457200"/>
            </a:xfrm>
            <a:prstGeom prst="chevron">
              <a:avLst/>
            </a:prstGeom>
            <a:solidFill>
              <a:srgbClr val="520E00"/>
            </a:solidFill>
            <a:ln>
              <a:noFill/>
            </a:ln>
          </p:spPr>
        </p:sp>
        <p:grpSp>
          <p:nvGrpSpPr>
            <p:cNvPr id="46" name="Group 46"/>
            <p:cNvGrpSpPr/>
            <p:nvPr/>
          </p:nvGrpSpPr>
          <p:grpSpPr>
            <a:xfrm>
              <a:off x="4581525" y="942975"/>
              <a:ext cx="171450" cy="171450"/>
              <a:chOff x="4581525" y="942975"/>
              <a:chExt cx="171450" cy="171450"/>
            </a:xfrm>
          </p:grpSpPr>
          <p:sp>
            <p:nvSpPr>
              <p:cNvPr id="42" name="Freeform 42"/>
              <p:cNvSpPr/>
              <p:nvPr/>
            </p:nvSpPr>
            <p:spPr>
              <a:xfrm>
                <a:off x="4600575" y="9429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7145">
                <a:solidFill>
                  <a:srgbClr val="FFFFFF"/>
                </a:solidFill>
              </a:ln>
            </p:spPr>
          </p:sp>
          <p:sp>
            <p:nvSpPr>
              <p:cNvPr id="43" name="Freeform 43"/>
              <p:cNvSpPr/>
              <p:nvPr/>
            </p:nvSpPr>
            <p:spPr>
              <a:xfrm>
                <a:off x="4581525" y="10572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7145">
                <a:solidFill>
                  <a:srgbClr val="FFFFFF"/>
                </a:solidFill>
              </a:ln>
            </p:spPr>
          </p:sp>
          <p:sp>
            <p:nvSpPr>
              <p:cNvPr id="44" name="Freeform 44"/>
              <p:cNvSpPr/>
              <p:nvPr/>
            </p:nvSpPr>
            <p:spPr>
              <a:xfrm>
                <a:off x="4705350" y="9442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7145">
                <a:solidFill>
                  <a:srgbClr val="FFFFFF"/>
                </a:solidFill>
              </a:ln>
            </p:spPr>
          </p:sp>
          <p:sp>
            <p:nvSpPr>
              <p:cNvPr id="45" name="Freeform 45"/>
              <p:cNvSpPr/>
              <p:nvPr/>
            </p:nvSpPr>
            <p:spPr>
              <a:xfrm>
                <a:off x="4724400" y="10587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7145">
                <a:solidFill>
                  <a:srgbClr val="FFFFFF"/>
                </a:solidFill>
              </a:ln>
            </p:spPr>
          </p:sp>
        </p:grpSp>
        <p:sp>
          <p:nvSpPr>
            <p:cNvPr id="47" name="TextBox 47"/>
            <p:cNvSpPr txBox="1"/>
            <p:nvPr/>
          </p:nvSpPr>
          <p:spPr>
            <a:xfrm>
              <a:off x="4910138" y="889397"/>
              <a:ext cx="2038985" cy="345281"/>
            </a:xfrm>
            <a:prstGeom prst="rect">
              <a:avLst/>
            </a:prstGeom>
            <a:noFill/>
            <a:ln>
              <a:noFill/>
            </a:ln>
          </p:spPr>
          <p:txBody>
            <a:bodyPr wrap="none" lIns="0" tIns="0" rIns="0" bIns="0" anchor="t" anchorCtr="0">
              <a:spAutoFit/>
            </a:bodyPr>
            <a:lstStyle/>
            <a:p>
              <a:pPr algn="l">
                <a:lnSpc>
                  <a:spcPts val="1275"/>
                </a:lnSpc>
              </a:pPr>
              <a:r>
                <a:rPr lang="zh-CN" sz="940" b="1" dirty="0">
                  <a:solidFill>
                    <a:srgbClr val="FFFFFF"/>
                  </a:solidFill>
                  <a:latin typeface="+mn-lt"/>
                  <a:ea typeface="+mn-ea"/>
                  <a:cs typeface="+mn-cs"/>
                </a:rPr>
                <a:t>阶段二 4—6个月：​</a:t>
              </a:r>
              <a:br/>
              <a:r>
                <a:rPr lang="zh-CN" sz="940" b="1" dirty="0">
                  <a:solidFill>
                    <a:srgbClr val="FFFFFF"/>
                  </a:solidFill>
                  <a:latin typeface="+mn-lt"/>
                  <a:ea typeface="+mn-ea"/>
                  <a:cs typeface="+mn-cs"/>
                </a:rPr>
                <a:t>落地活跃、沉默、高价值金融服务场景</a:t>
              </a:r>
            </a:p>
          </p:txBody>
        </p:sp>
        <p:sp>
          <p:nvSpPr>
            <p:cNvPr id="48" name="Rectangle 48"/>
            <p:cNvSpPr/>
            <p:nvPr/>
          </p:nvSpPr>
          <p:spPr>
            <a:xfrm>
              <a:off x="4152900" y="1333500"/>
              <a:ext cx="3810000" cy="1543050"/>
            </a:xfrm>
            <a:prstGeom prst="roundRect">
              <a:avLst>
                <a:gd name="adj" fmla="val 3704"/>
              </a:avLst>
            </a:prstGeom>
            <a:solidFill>
              <a:srgbClr val="F5F8FE"/>
            </a:solidFill>
            <a:ln w="9525">
              <a:solidFill>
                <a:srgbClr val="C9D5EA"/>
              </a:solidFill>
            </a:ln>
          </p:spPr>
        </p:sp>
        <p:grpSp>
          <p:nvGrpSpPr>
            <p:cNvPr id="51" name="Group 51"/>
            <p:cNvGrpSpPr/>
            <p:nvPr/>
          </p:nvGrpSpPr>
          <p:grpSpPr>
            <a:xfrm>
              <a:off x="4318000" y="1476375"/>
              <a:ext cx="127000" cy="112712"/>
              <a:chOff x="4318000" y="1476375"/>
              <a:chExt cx="127000" cy="112712"/>
            </a:xfrm>
          </p:grpSpPr>
          <p:sp>
            <p:nvSpPr>
              <p:cNvPr id="49" name="Freeform 49"/>
              <p:cNvSpPr/>
              <p:nvPr/>
            </p:nvSpPr>
            <p:spPr>
              <a:xfrm>
                <a:off x="4318000" y="1579562"/>
                <a:ext cx="127000" cy="9525"/>
              </a:xfrm>
              <a:custGeom>
                <a:avLst/>
                <a:gdLst/>
                <a:ahLst/>
                <a:cxnLst/>
                <a:rect l="l" t="t" r="r" b="b"/>
                <a:pathLst>
                  <a:path w="127000" h="9525">
                    <a:moveTo>
                      <a:pt x="0" y="0"/>
                    </a:moveTo>
                    <a:lnTo>
                      <a:pt x="127000" y="0"/>
                    </a:lnTo>
                  </a:path>
                </a:pathLst>
              </a:custGeom>
              <a:noFill/>
              <a:ln w="14287">
                <a:solidFill>
                  <a:srgbClr val="8A1700"/>
                </a:solidFill>
              </a:ln>
            </p:spPr>
          </p:sp>
          <p:sp>
            <p:nvSpPr>
              <p:cNvPr id="50" name="Freeform 50"/>
              <p:cNvSpPr/>
              <p:nvPr/>
            </p:nvSpPr>
            <p:spPr>
              <a:xfrm>
                <a:off x="4318000" y="147637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4287">
                <a:solidFill>
                  <a:srgbClr val="8A1700"/>
                </a:solidFill>
              </a:ln>
            </p:spPr>
          </p:sp>
        </p:grpSp>
        <p:sp>
          <p:nvSpPr>
            <p:cNvPr id="52" name="TextBox 52"/>
            <p:cNvSpPr txBox="1"/>
            <p:nvPr/>
          </p:nvSpPr>
          <p:spPr>
            <a:xfrm>
              <a:off x="4548188" y="1490662"/>
              <a:ext cx="1927860"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活跃客户运营：</a:t>
              </a:r>
              <a:r>
                <a:rPr lang="zh-CN" sz="750" dirty="0">
                  <a:solidFill>
                    <a:srgbClr val="60403A"/>
                  </a:solidFill>
                  <a:latin typeface="+mn-lt"/>
                  <a:ea typeface="+mn-ea"/>
                  <a:cs typeface="+mn-cs"/>
                </a:rPr>
                <a:t>提升频次、额度与交叉销售</a:t>
              </a:r>
            </a:p>
          </p:txBody>
        </p:sp>
        <p:grpSp>
          <p:nvGrpSpPr>
            <p:cNvPr id="55" name="Group 55"/>
            <p:cNvGrpSpPr/>
            <p:nvPr/>
          </p:nvGrpSpPr>
          <p:grpSpPr>
            <a:xfrm>
              <a:off x="4318000" y="1776412"/>
              <a:ext cx="127000" cy="142875"/>
              <a:chOff x="4318000" y="1776412"/>
              <a:chExt cx="127000" cy="142875"/>
            </a:xfrm>
          </p:grpSpPr>
          <p:sp>
            <p:nvSpPr>
              <p:cNvPr id="53" name="Freeform 53"/>
              <p:cNvSpPr/>
              <p:nvPr/>
            </p:nvSpPr>
            <p:spPr>
              <a:xfrm>
                <a:off x="4318000" y="1776412"/>
                <a:ext cx="127000" cy="111125"/>
              </a:xfrm>
              <a:custGeom>
                <a:avLst/>
                <a:gdLst/>
                <a:ahLst/>
                <a:cxnLst/>
                <a:rect l="l" t="t" r="r" b="b"/>
                <a:pathLst>
                  <a:path w="127000" h="111125">
                    <a:moveTo>
                      <a:pt x="47625" y="15875"/>
                    </a:moveTo>
                    <a:cubicBezTo>
                      <a:pt x="47625" y="7107"/>
                      <a:pt x="54732" y="0"/>
                      <a:pt x="63500" y="0"/>
                    </a:cubicBezTo>
                    <a:cubicBezTo>
                      <a:pt x="72267" y="0"/>
                      <a:pt x="79375" y="7107"/>
                      <a:pt x="79375" y="15875"/>
                    </a:cubicBezTo>
                    <a:cubicBezTo>
                      <a:pt x="97950" y="24658"/>
                      <a:pt x="110162" y="42976"/>
                      <a:pt x="111125" y="63500"/>
                    </a:cubicBezTo>
                    <a:lnTo>
                      <a:pt x="111125" y="87312"/>
                    </a:lnTo>
                    <a:cubicBezTo>
                      <a:pt x="112336" y="97320"/>
                      <a:pt x="118228" y="106158"/>
                      <a:pt x="127000" y="111125"/>
                    </a:cubicBezTo>
                    <a:lnTo>
                      <a:pt x="0" y="111125"/>
                    </a:lnTo>
                    <a:cubicBezTo>
                      <a:pt x="8772" y="106158"/>
                      <a:pt x="14664" y="97320"/>
                      <a:pt x="15875" y="87312"/>
                    </a:cubicBezTo>
                    <a:lnTo>
                      <a:pt x="15875" y="63500"/>
                    </a:lnTo>
                    <a:cubicBezTo>
                      <a:pt x="16838" y="42976"/>
                      <a:pt x="29050" y="24658"/>
                      <a:pt x="47625" y="15875"/>
                    </a:cubicBezTo>
                  </a:path>
                </a:pathLst>
              </a:custGeom>
              <a:noFill/>
              <a:ln w="14287">
                <a:solidFill>
                  <a:srgbClr val="8A1700"/>
                </a:solidFill>
              </a:ln>
            </p:spPr>
          </p:sp>
          <p:sp>
            <p:nvSpPr>
              <p:cNvPr id="54" name="Freeform 54"/>
              <p:cNvSpPr/>
              <p:nvPr/>
            </p:nvSpPr>
            <p:spPr>
              <a:xfrm>
                <a:off x="4357687" y="1887537"/>
                <a:ext cx="47625" cy="31750"/>
              </a:xfrm>
              <a:custGeom>
                <a:avLst/>
                <a:gdLst/>
                <a:ahLst/>
                <a:cxnLst/>
                <a:rect l="l" t="t" r="r" b="b"/>
                <a:pathLst>
                  <a:path w="47625" h="31750">
                    <a:moveTo>
                      <a:pt x="0" y="0"/>
                    </a:moveTo>
                    <a:lnTo>
                      <a:pt x="0" y="7937"/>
                    </a:lnTo>
                    <a:cubicBezTo>
                      <a:pt x="0" y="21089"/>
                      <a:pt x="10661" y="31750"/>
                      <a:pt x="23812" y="31750"/>
                    </a:cubicBezTo>
                    <a:cubicBezTo>
                      <a:pt x="36964" y="31750"/>
                      <a:pt x="47625" y="21089"/>
                      <a:pt x="47625" y="7937"/>
                    </a:cubicBezTo>
                    <a:lnTo>
                      <a:pt x="47625" y="0"/>
                    </a:lnTo>
                  </a:path>
                </a:pathLst>
              </a:custGeom>
              <a:noFill/>
              <a:ln w="14287">
                <a:solidFill>
                  <a:srgbClr val="8A1700"/>
                </a:solidFill>
              </a:ln>
            </p:spPr>
          </p:sp>
        </p:grpSp>
        <p:sp>
          <p:nvSpPr>
            <p:cNvPr id="56" name="TextBox 56"/>
            <p:cNvSpPr txBox="1"/>
            <p:nvPr/>
          </p:nvSpPr>
          <p:spPr>
            <a:xfrm>
              <a:off x="4548188" y="1814512"/>
              <a:ext cx="1927860"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沉默客户唤醒：</a:t>
              </a:r>
              <a:r>
                <a:rPr lang="zh-CN" sz="750" dirty="0">
                  <a:solidFill>
                    <a:srgbClr val="60403A"/>
                  </a:solidFill>
                  <a:latin typeface="+mn-lt"/>
                  <a:ea typeface="+mn-ea"/>
                  <a:cs typeface="+mn-cs"/>
                </a:rPr>
                <a:t>识别原因，个性化触达激活</a:t>
              </a:r>
            </a:p>
          </p:txBody>
        </p:sp>
        <p:grpSp>
          <p:nvGrpSpPr>
            <p:cNvPr id="59" name="Group 59"/>
            <p:cNvGrpSpPr/>
            <p:nvPr/>
          </p:nvGrpSpPr>
          <p:grpSpPr>
            <a:xfrm>
              <a:off x="4310062" y="2116137"/>
              <a:ext cx="142875" cy="116761"/>
              <a:chOff x="4310062" y="2116137"/>
              <a:chExt cx="142875" cy="116761"/>
            </a:xfrm>
          </p:grpSpPr>
          <p:sp>
            <p:nvSpPr>
              <p:cNvPr id="57" name="Freeform 57"/>
              <p:cNvSpPr/>
              <p:nvPr/>
            </p:nvSpPr>
            <p:spPr>
              <a:xfrm>
                <a:off x="4310062" y="2116137"/>
                <a:ext cx="142875" cy="116761"/>
              </a:xfrm>
              <a:custGeom>
                <a:avLst/>
                <a:gdLst/>
                <a:ahLst/>
                <a:cxnLst/>
                <a:rect l="l" t="t" r="r" b="b"/>
                <a:pathLst>
                  <a:path w="142875" h="116761">
                    <a:moveTo>
                      <a:pt x="23812" y="0"/>
                    </a:moveTo>
                    <a:lnTo>
                      <a:pt x="119062" y="0"/>
                    </a:lnTo>
                    <a:lnTo>
                      <a:pt x="142875" y="39687"/>
                    </a:lnTo>
                    <a:lnTo>
                      <a:pt x="75406" y="115094"/>
                    </a:lnTo>
                    <a:cubicBezTo>
                      <a:pt x="74361" y="116160"/>
                      <a:pt x="72931" y="116761"/>
                      <a:pt x="71437" y="116761"/>
                    </a:cubicBezTo>
                    <a:cubicBezTo>
                      <a:pt x="69944" y="116761"/>
                      <a:pt x="68514" y="116160"/>
                      <a:pt x="67469" y="115094"/>
                    </a:cubicBezTo>
                    <a:lnTo>
                      <a:pt x="0" y="39687"/>
                    </a:lnTo>
                    <a:lnTo>
                      <a:pt x="23812" y="0"/>
                    </a:lnTo>
                  </a:path>
                </a:pathLst>
              </a:custGeom>
              <a:noFill/>
              <a:ln w="14287">
                <a:solidFill>
                  <a:srgbClr val="8A1700"/>
                </a:solidFill>
              </a:ln>
            </p:spPr>
          </p:sp>
          <p:sp>
            <p:nvSpPr>
              <p:cNvPr id="58" name="Freeform 58"/>
              <p:cNvSpPr/>
              <p:nvPr/>
            </p:nvSpPr>
            <p:spPr>
              <a:xfrm>
                <a:off x="4349750" y="2146300"/>
                <a:ext cx="15875" cy="25400"/>
              </a:xfrm>
              <a:custGeom>
                <a:avLst/>
                <a:gdLst/>
                <a:ahLst/>
                <a:cxnLst/>
                <a:rect l="l" t="t" r="r" b="b"/>
                <a:pathLst>
                  <a:path w="15875" h="25400">
                    <a:moveTo>
                      <a:pt x="15875" y="25400"/>
                    </a:moveTo>
                    <a:lnTo>
                      <a:pt x="0" y="7937"/>
                    </a:lnTo>
                    <a:lnTo>
                      <a:pt x="4762" y="0"/>
                    </a:lnTo>
                  </a:path>
                </a:pathLst>
              </a:custGeom>
              <a:noFill/>
              <a:ln w="14287">
                <a:solidFill>
                  <a:srgbClr val="8A1700"/>
                </a:solidFill>
              </a:ln>
            </p:spPr>
          </p:sp>
        </p:grpSp>
        <p:sp>
          <p:nvSpPr>
            <p:cNvPr id="60" name="TextBox 60"/>
            <p:cNvSpPr txBox="1"/>
            <p:nvPr/>
          </p:nvSpPr>
          <p:spPr>
            <a:xfrm>
              <a:off x="4548188" y="2138362"/>
              <a:ext cx="2028825"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高价值客户经营：</a:t>
              </a:r>
              <a:r>
                <a:rPr lang="zh-CN" sz="750" dirty="0">
                  <a:solidFill>
                    <a:srgbClr val="60403A"/>
                  </a:solidFill>
                  <a:latin typeface="+mn-lt"/>
                  <a:ea typeface="+mn-ea"/>
                  <a:cs typeface="+mn-cs"/>
                </a:rPr>
                <a:t>专属服务与权益，提升贡献</a:t>
              </a:r>
            </a:p>
          </p:txBody>
        </p:sp>
        <p:grpSp>
          <p:nvGrpSpPr>
            <p:cNvPr id="69" name="Group 69"/>
            <p:cNvGrpSpPr/>
            <p:nvPr/>
          </p:nvGrpSpPr>
          <p:grpSpPr>
            <a:xfrm>
              <a:off x="4310062" y="2424112"/>
              <a:ext cx="144463" cy="152400"/>
              <a:chOff x="4310062" y="2424112"/>
              <a:chExt cx="144463" cy="152400"/>
            </a:xfrm>
          </p:grpSpPr>
          <p:sp>
            <p:nvSpPr>
              <p:cNvPr id="61" name="Freeform 61"/>
              <p:cNvSpPr/>
              <p:nvPr/>
            </p:nvSpPr>
            <p:spPr>
              <a:xfrm>
                <a:off x="4310062" y="2566987"/>
                <a:ext cx="142875" cy="9525"/>
              </a:xfrm>
              <a:custGeom>
                <a:avLst/>
                <a:gdLst/>
                <a:ahLst/>
                <a:cxnLst/>
                <a:rect l="l" t="t" r="r" b="b"/>
                <a:pathLst>
                  <a:path w="142875" h="9525">
                    <a:moveTo>
                      <a:pt x="0" y="0"/>
                    </a:moveTo>
                    <a:lnTo>
                      <a:pt x="142875" y="0"/>
                    </a:lnTo>
                  </a:path>
                </a:pathLst>
              </a:custGeom>
              <a:noFill/>
              <a:ln w="14287">
                <a:solidFill>
                  <a:srgbClr val="8A1700"/>
                </a:solidFill>
              </a:ln>
            </p:spPr>
          </p:sp>
          <p:sp>
            <p:nvSpPr>
              <p:cNvPr id="62" name="Freeform 62"/>
              <p:cNvSpPr/>
              <p:nvPr/>
            </p:nvSpPr>
            <p:spPr>
              <a:xfrm>
                <a:off x="4310062" y="2479675"/>
                <a:ext cx="142875" cy="9525"/>
              </a:xfrm>
              <a:custGeom>
                <a:avLst/>
                <a:gdLst/>
                <a:ahLst/>
                <a:cxnLst/>
                <a:rect l="l" t="t" r="r" b="b"/>
                <a:pathLst>
                  <a:path w="142875" h="9525">
                    <a:moveTo>
                      <a:pt x="0" y="0"/>
                    </a:moveTo>
                    <a:lnTo>
                      <a:pt x="142875" y="0"/>
                    </a:lnTo>
                  </a:path>
                </a:pathLst>
              </a:custGeom>
              <a:noFill/>
              <a:ln w="14287">
                <a:solidFill>
                  <a:srgbClr val="8A1700"/>
                </a:solidFill>
              </a:ln>
            </p:spPr>
          </p:sp>
          <p:sp>
            <p:nvSpPr>
              <p:cNvPr id="63" name="Freeform 63"/>
              <p:cNvSpPr/>
              <p:nvPr/>
            </p:nvSpPr>
            <p:spPr>
              <a:xfrm>
                <a:off x="4325937" y="2424112"/>
                <a:ext cx="111125" cy="23812"/>
              </a:xfrm>
              <a:custGeom>
                <a:avLst/>
                <a:gdLst/>
                <a:ahLst/>
                <a:cxnLst/>
                <a:rect l="l" t="t" r="r" b="b"/>
                <a:pathLst>
                  <a:path w="111125" h="23812">
                    <a:moveTo>
                      <a:pt x="0" y="23812"/>
                    </a:moveTo>
                    <a:lnTo>
                      <a:pt x="55562" y="0"/>
                    </a:lnTo>
                    <a:lnTo>
                      <a:pt x="111125" y="23812"/>
                    </a:lnTo>
                  </a:path>
                </a:pathLst>
              </a:custGeom>
              <a:noFill/>
              <a:ln w="14287">
                <a:solidFill>
                  <a:srgbClr val="8A1700"/>
                </a:solidFill>
              </a:ln>
            </p:spPr>
          </p:sp>
          <p:sp>
            <p:nvSpPr>
              <p:cNvPr id="64" name="Freeform 64"/>
              <p:cNvSpPr/>
              <p:nvPr/>
            </p:nvSpPr>
            <p:spPr>
              <a:xfrm>
                <a:off x="4318000" y="2479675"/>
                <a:ext cx="9525" cy="87312"/>
              </a:xfrm>
              <a:custGeom>
                <a:avLst/>
                <a:gdLst/>
                <a:ahLst/>
                <a:cxnLst/>
                <a:rect l="l" t="t" r="r" b="b"/>
                <a:pathLst>
                  <a:path w="9525" h="87312">
                    <a:moveTo>
                      <a:pt x="0" y="0"/>
                    </a:moveTo>
                    <a:lnTo>
                      <a:pt x="0" y="87312"/>
                    </a:lnTo>
                  </a:path>
                </a:pathLst>
              </a:custGeom>
              <a:noFill/>
              <a:ln w="14287">
                <a:solidFill>
                  <a:srgbClr val="8A1700"/>
                </a:solidFill>
              </a:ln>
            </p:spPr>
          </p:sp>
          <p:sp>
            <p:nvSpPr>
              <p:cNvPr id="65" name="Freeform 65"/>
              <p:cNvSpPr/>
              <p:nvPr/>
            </p:nvSpPr>
            <p:spPr>
              <a:xfrm>
                <a:off x="4445000" y="2479675"/>
                <a:ext cx="9525" cy="87312"/>
              </a:xfrm>
              <a:custGeom>
                <a:avLst/>
                <a:gdLst/>
                <a:ahLst/>
                <a:cxnLst/>
                <a:rect l="l" t="t" r="r" b="b"/>
                <a:pathLst>
                  <a:path w="9525" h="87312">
                    <a:moveTo>
                      <a:pt x="0" y="0"/>
                    </a:moveTo>
                    <a:lnTo>
                      <a:pt x="0" y="87312"/>
                    </a:lnTo>
                  </a:path>
                </a:pathLst>
              </a:custGeom>
              <a:noFill/>
              <a:ln w="14287">
                <a:solidFill>
                  <a:srgbClr val="8A1700"/>
                </a:solidFill>
              </a:ln>
            </p:spPr>
          </p:sp>
          <p:sp>
            <p:nvSpPr>
              <p:cNvPr id="66" name="Freeform 66"/>
              <p:cNvSpPr/>
              <p:nvPr/>
            </p:nvSpPr>
            <p:spPr>
              <a:xfrm>
                <a:off x="4349750" y="2511425"/>
                <a:ext cx="9525" cy="23812"/>
              </a:xfrm>
              <a:custGeom>
                <a:avLst/>
                <a:gdLst/>
                <a:ahLst/>
                <a:cxnLst/>
                <a:rect l="l" t="t" r="r" b="b"/>
                <a:pathLst>
                  <a:path w="9525" h="23812">
                    <a:moveTo>
                      <a:pt x="0" y="0"/>
                    </a:moveTo>
                    <a:lnTo>
                      <a:pt x="0" y="23812"/>
                    </a:lnTo>
                  </a:path>
                </a:pathLst>
              </a:custGeom>
              <a:noFill/>
              <a:ln w="14287">
                <a:solidFill>
                  <a:srgbClr val="8A1700"/>
                </a:solidFill>
              </a:ln>
            </p:spPr>
          </p:sp>
          <p:sp>
            <p:nvSpPr>
              <p:cNvPr id="67" name="Freeform 67"/>
              <p:cNvSpPr/>
              <p:nvPr/>
            </p:nvSpPr>
            <p:spPr>
              <a:xfrm>
                <a:off x="4381500" y="2511425"/>
                <a:ext cx="9525" cy="23812"/>
              </a:xfrm>
              <a:custGeom>
                <a:avLst/>
                <a:gdLst/>
                <a:ahLst/>
                <a:cxnLst/>
                <a:rect l="l" t="t" r="r" b="b"/>
                <a:pathLst>
                  <a:path w="9525" h="23812">
                    <a:moveTo>
                      <a:pt x="0" y="0"/>
                    </a:moveTo>
                    <a:lnTo>
                      <a:pt x="0" y="23812"/>
                    </a:lnTo>
                  </a:path>
                </a:pathLst>
              </a:custGeom>
              <a:noFill/>
              <a:ln w="14287">
                <a:solidFill>
                  <a:srgbClr val="8A1700"/>
                </a:solidFill>
              </a:ln>
            </p:spPr>
          </p:sp>
          <p:sp>
            <p:nvSpPr>
              <p:cNvPr id="68" name="Freeform 68"/>
              <p:cNvSpPr/>
              <p:nvPr/>
            </p:nvSpPr>
            <p:spPr>
              <a:xfrm>
                <a:off x="4413250" y="2511425"/>
                <a:ext cx="9525" cy="23812"/>
              </a:xfrm>
              <a:custGeom>
                <a:avLst/>
                <a:gdLst/>
                <a:ahLst/>
                <a:cxnLst/>
                <a:rect l="l" t="t" r="r" b="b"/>
                <a:pathLst>
                  <a:path w="9525" h="23812">
                    <a:moveTo>
                      <a:pt x="0" y="0"/>
                    </a:moveTo>
                    <a:lnTo>
                      <a:pt x="0" y="23812"/>
                    </a:lnTo>
                  </a:path>
                </a:pathLst>
              </a:custGeom>
              <a:noFill/>
              <a:ln w="14287">
                <a:solidFill>
                  <a:srgbClr val="8A1700"/>
                </a:solidFill>
              </a:ln>
            </p:spPr>
          </p:sp>
        </p:grpSp>
        <p:sp>
          <p:nvSpPr>
            <p:cNvPr id="70" name="TextBox 70"/>
            <p:cNvSpPr txBox="1"/>
            <p:nvPr/>
          </p:nvSpPr>
          <p:spPr>
            <a:xfrm>
              <a:off x="4548188" y="2462212"/>
              <a:ext cx="2129790"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金融服务场景落地：</a:t>
              </a:r>
              <a:r>
                <a:rPr lang="zh-CN" sz="750" dirty="0">
                  <a:solidFill>
                    <a:srgbClr val="60403A"/>
                  </a:solidFill>
                  <a:latin typeface="+mn-lt"/>
                  <a:ea typeface="+mn-ea"/>
                  <a:cs typeface="+mn-cs"/>
                </a:rPr>
                <a:t>信贷、理财、支付、保险等</a:t>
              </a:r>
            </a:p>
          </p:txBody>
        </p:sp>
        <p:sp>
          <p:nvSpPr>
            <p:cNvPr id="71" name="Line 71"/>
            <p:cNvSpPr/>
            <p:nvPr/>
          </p:nvSpPr>
          <p:spPr>
            <a:xfrm>
              <a:off x="4267200" y="2667000"/>
              <a:ext cx="3581400" cy="9525"/>
            </a:xfrm>
            <a:custGeom>
              <a:avLst/>
              <a:gdLst/>
              <a:ahLst/>
              <a:cxnLst/>
              <a:rect l="l" t="t" r="r" b="b"/>
              <a:pathLst>
                <a:path w="3581400" h="9525">
                  <a:moveTo>
                    <a:pt x="0" y="0"/>
                  </a:moveTo>
                  <a:lnTo>
                    <a:pt x="3581400" y="0"/>
                  </a:lnTo>
                </a:path>
              </a:pathLst>
            </a:custGeom>
            <a:noFill/>
            <a:ln w="9525">
              <a:solidFill>
                <a:srgbClr val="DCE6F5"/>
              </a:solidFill>
            </a:ln>
          </p:spPr>
        </p:sp>
        <p:grpSp>
          <p:nvGrpSpPr>
            <p:cNvPr id="74" name="Group 74"/>
            <p:cNvGrpSpPr/>
            <p:nvPr/>
          </p:nvGrpSpPr>
          <p:grpSpPr>
            <a:xfrm>
              <a:off x="4321969" y="2746255"/>
              <a:ext cx="100012" cy="127913"/>
              <a:chOff x="4321969" y="2746255"/>
              <a:chExt cx="100012" cy="127913"/>
            </a:xfrm>
          </p:grpSpPr>
          <p:sp>
            <p:nvSpPr>
              <p:cNvPr id="72" name="Freeform 72"/>
              <p:cNvSpPr/>
              <p:nvPr/>
            </p:nvSpPr>
            <p:spPr>
              <a:xfrm>
                <a:off x="4321969" y="2746255"/>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2859">
                <a:solidFill>
                  <a:srgbClr val="C02C0A"/>
                </a:solidFill>
              </a:ln>
            </p:spPr>
          </p:sp>
          <p:sp>
            <p:nvSpPr>
              <p:cNvPr id="73" name="Freeform 73"/>
              <p:cNvSpPr/>
              <p:nvPr/>
            </p:nvSpPr>
            <p:spPr>
              <a:xfrm>
                <a:off x="4321969" y="2824162"/>
                <a:ext cx="9525" cy="50006"/>
              </a:xfrm>
              <a:custGeom>
                <a:avLst/>
                <a:gdLst/>
                <a:ahLst/>
                <a:cxnLst/>
                <a:rect l="l" t="t" r="r" b="b"/>
                <a:pathLst>
                  <a:path w="9525" h="50006">
                    <a:moveTo>
                      <a:pt x="0" y="50006"/>
                    </a:moveTo>
                    <a:lnTo>
                      <a:pt x="0" y="0"/>
                    </a:lnTo>
                  </a:path>
                </a:pathLst>
              </a:custGeom>
              <a:noFill/>
              <a:ln w="12859">
                <a:solidFill>
                  <a:srgbClr val="C02C0A"/>
                </a:solidFill>
              </a:ln>
            </p:spPr>
          </p:sp>
        </p:grpSp>
        <p:sp>
          <p:nvSpPr>
            <p:cNvPr id="75" name="TextBox 75"/>
            <p:cNvSpPr txBox="1"/>
            <p:nvPr/>
          </p:nvSpPr>
          <p:spPr>
            <a:xfrm>
              <a:off x="4529138" y="2757488"/>
              <a:ext cx="2129790" cy="147638"/>
            </a:xfrm>
            <a:prstGeom prst="rect">
              <a:avLst/>
            </a:prstGeom>
            <a:noFill/>
            <a:ln>
              <a:noFill/>
            </a:ln>
          </p:spPr>
          <p:txBody>
            <a:bodyPr wrap="none" lIns="0" tIns="0" rIns="0" bIns="0" anchor="t" anchorCtr="0">
              <a:spAutoFit/>
            </a:bodyPr>
            <a:lstStyle/>
            <a:p>
              <a:pPr algn="l"/>
              <a:r>
                <a:rPr lang="zh-CN" sz="750" b="1" dirty="0">
                  <a:solidFill>
                    <a:srgbClr val="C02C0A"/>
                  </a:solidFill>
                  <a:latin typeface="+mn-lt"/>
                  <a:ea typeface="+mn-ea"/>
                  <a:cs typeface="+mn-cs"/>
                </a:rPr>
                <a:t>里程碑：</a:t>
              </a:r>
              <a:r>
                <a:rPr lang="zh-CN" sz="750" b="1" dirty="0">
                  <a:solidFill>
                    <a:srgbClr val="520E00"/>
                  </a:solidFill>
                  <a:latin typeface="+mn-lt"/>
                  <a:ea typeface="+mn-ea"/>
                  <a:cs typeface="+mn-cs"/>
                </a:rPr>
                <a:t>重点场景规模落地，客户价值显著提升</a:t>
              </a:r>
            </a:p>
          </p:txBody>
        </p:sp>
      </p:grpSp>
      <p:grpSp>
        <p:nvGrpSpPr>
          <p:cNvPr id="119" name="stage-3"/>
          <p:cNvGrpSpPr/>
          <p:nvPr/>
        </p:nvGrpSpPr>
        <p:grpSpPr>
          <a:xfrm>
            <a:off x="8077200" y="800100"/>
            <a:ext cx="3810000" cy="2105026"/>
            <a:chOff x="8077200" y="800100"/>
            <a:chExt cx="3810000" cy="2105026"/>
          </a:xfrm>
        </p:grpSpPr>
        <p:sp>
          <p:nvSpPr>
            <p:cNvPr id="77" name="Freeform 77"/>
            <p:cNvSpPr/>
            <p:nvPr/>
          </p:nvSpPr>
          <p:spPr>
            <a:xfrm>
              <a:off x="8077200" y="800100"/>
              <a:ext cx="3810000" cy="457200"/>
            </a:xfrm>
            <a:prstGeom prst="chevron">
              <a:avLst/>
            </a:prstGeom>
            <a:solidFill>
              <a:srgbClr val="520E00"/>
            </a:solidFill>
            <a:ln>
              <a:noFill/>
            </a:ln>
          </p:spPr>
        </p:sp>
        <p:grpSp>
          <p:nvGrpSpPr>
            <p:cNvPr id="87" name="Group 87"/>
            <p:cNvGrpSpPr/>
            <p:nvPr/>
          </p:nvGrpSpPr>
          <p:grpSpPr>
            <a:xfrm>
              <a:off x="8524875" y="933450"/>
              <a:ext cx="133350" cy="180975"/>
              <a:chOff x="8524875" y="933450"/>
              <a:chExt cx="133350" cy="180975"/>
            </a:xfrm>
          </p:grpSpPr>
          <p:sp>
            <p:nvSpPr>
              <p:cNvPr id="78" name="Freeform 78"/>
              <p:cNvSpPr/>
              <p:nvPr/>
            </p:nvSpPr>
            <p:spPr>
              <a:xfrm>
                <a:off x="8534400" y="952500"/>
                <a:ext cx="114300" cy="76200"/>
              </a:xfrm>
              <a:custGeom>
                <a:avLst/>
                <a:gdLst/>
                <a:ahLst/>
                <a:cxnLst/>
                <a:rect l="l" t="t" r="r" b="b"/>
                <a:pathLst>
                  <a:path w="114300" h="76200">
                    <a:moveTo>
                      <a:pt x="0" y="19050"/>
                    </a:moveTo>
                    <a:cubicBezTo>
                      <a:pt x="0" y="8529"/>
                      <a:pt x="8529" y="0"/>
                      <a:pt x="19050" y="0"/>
                    </a:cubicBezTo>
                    <a:lnTo>
                      <a:pt x="95250" y="0"/>
                    </a:lnTo>
                    <a:cubicBezTo>
                      <a:pt x="105771" y="0"/>
                      <a:pt x="114300" y="8529"/>
                      <a:pt x="114300" y="19050"/>
                    </a:cubicBezTo>
                    <a:lnTo>
                      <a:pt x="114300" y="57150"/>
                    </a:lnTo>
                    <a:cubicBezTo>
                      <a:pt x="114300" y="67671"/>
                      <a:pt x="105771" y="76200"/>
                      <a:pt x="95250" y="76200"/>
                    </a:cubicBezTo>
                    <a:lnTo>
                      <a:pt x="19050" y="76200"/>
                    </a:lnTo>
                    <a:cubicBezTo>
                      <a:pt x="8529" y="76200"/>
                      <a:pt x="0" y="67671"/>
                      <a:pt x="0" y="57150"/>
                    </a:cubicBezTo>
                    <a:lnTo>
                      <a:pt x="0" y="19050"/>
                    </a:lnTo>
                  </a:path>
                </a:pathLst>
              </a:custGeom>
              <a:noFill/>
              <a:ln w="17145">
                <a:solidFill>
                  <a:srgbClr val="FFFFFF"/>
                </a:solidFill>
              </a:ln>
            </p:spPr>
          </p:sp>
          <p:sp>
            <p:nvSpPr>
              <p:cNvPr id="79" name="Freeform 79"/>
              <p:cNvSpPr/>
              <p:nvPr/>
            </p:nvSpPr>
            <p:spPr>
              <a:xfrm>
                <a:off x="8591550" y="933450"/>
                <a:ext cx="9525" cy="19050"/>
              </a:xfrm>
              <a:custGeom>
                <a:avLst/>
                <a:gdLst/>
                <a:ahLst/>
                <a:cxnLst/>
                <a:rect l="l" t="t" r="r" b="b"/>
                <a:pathLst>
                  <a:path w="9525" h="19050">
                    <a:moveTo>
                      <a:pt x="0" y="0"/>
                    </a:moveTo>
                    <a:lnTo>
                      <a:pt x="0" y="19050"/>
                    </a:lnTo>
                  </a:path>
                </a:pathLst>
              </a:custGeom>
              <a:noFill/>
              <a:ln w="17145">
                <a:solidFill>
                  <a:srgbClr val="FFFFFF"/>
                </a:solidFill>
              </a:ln>
            </p:spPr>
          </p:sp>
          <p:sp>
            <p:nvSpPr>
              <p:cNvPr id="80" name="Freeform 80"/>
              <p:cNvSpPr/>
              <p:nvPr/>
            </p:nvSpPr>
            <p:spPr>
              <a:xfrm>
                <a:off x="8562975" y="1028700"/>
                <a:ext cx="9525" cy="85725"/>
              </a:xfrm>
              <a:custGeom>
                <a:avLst/>
                <a:gdLst/>
                <a:ahLst/>
                <a:cxnLst/>
                <a:rect l="l" t="t" r="r" b="b"/>
                <a:pathLst>
                  <a:path w="9525" h="85725">
                    <a:moveTo>
                      <a:pt x="0" y="0"/>
                    </a:moveTo>
                    <a:lnTo>
                      <a:pt x="0" y="85725"/>
                    </a:lnTo>
                  </a:path>
                </a:pathLst>
              </a:custGeom>
              <a:noFill/>
              <a:ln w="17145">
                <a:solidFill>
                  <a:srgbClr val="FFFFFF"/>
                </a:solidFill>
              </a:ln>
            </p:spPr>
          </p:sp>
          <p:sp>
            <p:nvSpPr>
              <p:cNvPr id="81" name="Freeform 81"/>
              <p:cNvSpPr/>
              <p:nvPr/>
            </p:nvSpPr>
            <p:spPr>
              <a:xfrm>
                <a:off x="8620125" y="1028700"/>
                <a:ext cx="9525" cy="85725"/>
              </a:xfrm>
              <a:custGeom>
                <a:avLst/>
                <a:gdLst/>
                <a:ahLst/>
                <a:cxnLst/>
                <a:rect l="l" t="t" r="r" b="b"/>
                <a:pathLst>
                  <a:path w="9525" h="85725">
                    <a:moveTo>
                      <a:pt x="0" y="0"/>
                    </a:moveTo>
                    <a:lnTo>
                      <a:pt x="0" y="85725"/>
                    </a:lnTo>
                  </a:path>
                </a:pathLst>
              </a:custGeom>
              <a:noFill/>
              <a:ln w="17145">
                <a:solidFill>
                  <a:srgbClr val="FFFFFF"/>
                </a:solidFill>
              </a:ln>
            </p:spPr>
          </p:sp>
          <p:sp>
            <p:nvSpPr>
              <p:cNvPr id="82" name="Freeform 82"/>
              <p:cNvSpPr/>
              <p:nvPr/>
            </p:nvSpPr>
            <p:spPr>
              <a:xfrm>
                <a:off x="8524875" y="1047750"/>
                <a:ext cx="38100" cy="19050"/>
              </a:xfrm>
              <a:custGeom>
                <a:avLst/>
                <a:gdLst/>
                <a:ahLst/>
                <a:cxnLst/>
                <a:rect l="l" t="t" r="r" b="b"/>
                <a:pathLst>
                  <a:path w="38100" h="19050">
                    <a:moveTo>
                      <a:pt x="0" y="19050"/>
                    </a:moveTo>
                    <a:lnTo>
                      <a:pt x="38100" y="0"/>
                    </a:lnTo>
                  </a:path>
                </a:pathLst>
              </a:custGeom>
              <a:noFill/>
              <a:ln w="17145">
                <a:solidFill>
                  <a:srgbClr val="FFFFFF"/>
                </a:solidFill>
              </a:ln>
            </p:spPr>
          </p:sp>
          <p:sp>
            <p:nvSpPr>
              <p:cNvPr id="83" name="Freeform 83"/>
              <p:cNvSpPr/>
              <p:nvPr/>
            </p:nvSpPr>
            <p:spPr>
              <a:xfrm>
                <a:off x="8620125" y="1047750"/>
                <a:ext cx="38100" cy="19050"/>
              </a:xfrm>
              <a:custGeom>
                <a:avLst/>
                <a:gdLst/>
                <a:ahLst/>
                <a:cxnLst/>
                <a:rect l="l" t="t" r="r" b="b"/>
                <a:pathLst>
                  <a:path w="38100" h="19050">
                    <a:moveTo>
                      <a:pt x="0" y="0"/>
                    </a:moveTo>
                    <a:lnTo>
                      <a:pt x="38100" y="19050"/>
                    </a:lnTo>
                  </a:path>
                </a:pathLst>
              </a:custGeom>
              <a:noFill/>
              <a:ln w="17145">
                <a:solidFill>
                  <a:srgbClr val="FFFFFF"/>
                </a:solidFill>
              </a:ln>
            </p:spPr>
          </p:sp>
          <p:sp>
            <p:nvSpPr>
              <p:cNvPr id="84" name="Freeform 84"/>
              <p:cNvSpPr/>
              <p:nvPr/>
            </p:nvSpPr>
            <p:spPr>
              <a:xfrm>
                <a:off x="8562975" y="1085850"/>
                <a:ext cx="57150" cy="9525"/>
              </a:xfrm>
              <a:custGeom>
                <a:avLst/>
                <a:gdLst/>
                <a:ahLst/>
                <a:cxnLst/>
                <a:rect l="l" t="t" r="r" b="b"/>
                <a:pathLst>
                  <a:path w="57150" h="9525">
                    <a:moveTo>
                      <a:pt x="0" y="0"/>
                    </a:moveTo>
                    <a:lnTo>
                      <a:pt x="57150" y="0"/>
                    </a:lnTo>
                  </a:path>
                </a:pathLst>
              </a:custGeom>
              <a:noFill/>
              <a:ln w="17145">
                <a:solidFill>
                  <a:srgbClr val="FFFFFF"/>
                </a:solidFill>
              </a:ln>
            </p:spPr>
          </p:sp>
          <p:sp>
            <p:nvSpPr>
              <p:cNvPr id="85" name="Freeform 85"/>
              <p:cNvSpPr/>
              <p:nvPr/>
            </p:nvSpPr>
            <p:spPr>
              <a:xfrm>
                <a:off x="8572500" y="990600"/>
                <a:ext cx="9525" cy="9525"/>
              </a:xfrm>
              <a:custGeom>
                <a:avLst/>
                <a:gdLst/>
                <a:ahLst/>
                <a:cxnLst/>
                <a:rect l="l" t="t" r="r" b="b"/>
                <a:pathLst>
                  <a:path w="9525" h="9525">
                    <a:moveTo>
                      <a:pt x="0" y="0"/>
                    </a:moveTo>
                    <a:lnTo>
                      <a:pt x="0" y="95"/>
                    </a:lnTo>
                  </a:path>
                </a:pathLst>
              </a:custGeom>
              <a:noFill/>
              <a:ln w="17145">
                <a:solidFill>
                  <a:srgbClr val="FFFFFF"/>
                </a:solidFill>
              </a:ln>
            </p:spPr>
          </p:sp>
          <p:sp>
            <p:nvSpPr>
              <p:cNvPr id="86" name="Freeform 86"/>
              <p:cNvSpPr/>
              <p:nvPr/>
            </p:nvSpPr>
            <p:spPr>
              <a:xfrm>
                <a:off x="8610600" y="990600"/>
                <a:ext cx="9525" cy="9525"/>
              </a:xfrm>
              <a:custGeom>
                <a:avLst/>
                <a:gdLst/>
                <a:ahLst/>
                <a:cxnLst/>
                <a:rect l="l" t="t" r="r" b="b"/>
                <a:pathLst>
                  <a:path w="9525" h="9525">
                    <a:moveTo>
                      <a:pt x="0" y="0"/>
                    </a:moveTo>
                    <a:lnTo>
                      <a:pt x="0" y="95"/>
                    </a:lnTo>
                  </a:path>
                </a:pathLst>
              </a:custGeom>
              <a:noFill/>
              <a:ln w="17145">
                <a:solidFill>
                  <a:srgbClr val="FFFFFF"/>
                </a:solidFill>
              </a:ln>
            </p:spPr>
          </p:sp>
        </p:grpSp>
        <p:sp>
          <p:nvSpPr>
            <p:cNvPr id="88" name="TextBox 88"/>
            <p:cNvSpPr txBox="1"/>
            <p:nvPr/>
          </p:nvSpPr>
          <p:spPr>
            <a:xfrm>
              <a:off x="8834438" y="889397"/>
              <a:ext cx="1800225" cy="345281"/>
            </a:xfrm>
            <a:prstGeom prst="rect">
              <a:avLst/>
            </a:prstGeom>
            <a:noFill/>
            <a:ln>
              <a:noFill/>
            </a:ln>
          </p:spPr>
          <p:txBody>
            <a:bodyPr wrap="none" lIns="0" tIns="0" rIns="0" bIns="0" anchor="t" anchorCtr="0">
              <a:spAutoFit/>
            </a:bodyPr>
            <a:lstStyle/>
            <a:p>
              <a:pPr algn="l">
                <a:lnSpc>
                  <a:spcPts val="1275"/>
                </a:lnSpc>
              </a:pPr>
              <a:r>
                <a:rPr lang="zh-CN" sz="940" b="1" dirty="0">
                  <a:solidFill>
                    <a:srgbClr val="FFFFFF"/>
                  </a:solidFill>
                  <a:latin typeface="+mn-lt"/>
                  <a:ea typeface="+mn-ea"/>
                  <a:cs typeface="+mn-cs"/>
                </a:rPr>
                <a:t>阶段三 7—12个月：​</a:t>
              </a:r>
              <a:br/>
              <a:r>
                <a:rPr lang="zh-CN" sz="940" b="1" dirty="0">
                  <a:solidFill>
                    <a:srgbClr val="FFFFFF"/>
                  </a:solidFill>
                  <a:latin typeface="+mn-lt"/>
                  <a:ea typeface="+mn-ea"/>
                  <a:cs typeface="+mn-cs"/>
                </a:rPr>
                <a:t>模型驱动、自动化运营、规模复制</a:t>
              </a:r>
            </a:p>
          </p:txBody>
        </p:sp>
        <p:sp>
          <p:nvSpPr>
            <p:cNvPr id="89" name="Rectangle 89"/>
            <p:cNvSpPr/>
            <p:nvPr/>
          </p:nvSpPr>
          <p:spPr>
            <a:xfrm>
              <a:off x="8077200" y="1333500"/>
              <a:ext cx="3810000" cy="1543050"/>
            </a:xfrm>
            <a:prstGeom prst="roundRect">
              <a:avLst>
                <a:gd name="adj" fmla="val 3704"/>
              </a:avLst>
            </a:prstGeom>
            <a:solidFill>
              <a:srgbClr val="F5F8FE"/>
            </a:solidFill>
            <a:ln w="9525">
              <a:solidFill>
                <a:srgbClr val="C9D5EA"/>
              </a:solidFill>
            </a:ln>
          </p:spPr>
        </p:sp>
        <p:grpSp>
          <p:nvGrpSpPr>
            <p:cNvPr id="99" name="Group 99"/>
            <p:cNvGrpSpPr/>
            <p:nvPr/>
          </p:nvGrpSpPr>
          <p:grpSpPr>
            <a:xfrm>
              <a:off x="8250237" y="1444625"/>
              <a:ext cx="111125" cy="150812"/>
              <a:chOff x="8250237" y="1444625"/>
              <a:chExt cx="111125" cy="150812"/>
            </a:xfrm>
          </p:grpSpPr>
          <p:sp>
            <p:nvSpPr>
              <p:cNvPr id="90" name="Freeform 90"/>
              <p:cNvSpPr/>
              <p:nvPr/>
            </p:nvSpPr>
            <p:spPr>
              <a:xfrm>
                <a:off x="8258175" y="1460500"/>
                <a:ext cx="95250" cy="63500"/>
              </a:xfrm>
              <a:custGeom>
                <a:avLst/>
                <a:gdLst/>
                <a:ahLst/>
                <a:cxnLst/>
                <a:rect l="l" t="t" r="r" b="b"/>
                <a:pathLst>
                  <a:path w="95250" h="63500">
                    <a:moveTo>
                      <a:pt x="0" y="15875"/>
                    </a:moveTo>
                    <a:cubicBezTo>
                      <a:pt x="0" y="7107"/>
                      <a:pt x="7107" y="0"/>
                      <a:pt x="15875" y="0"/>
                    </a:cubicBezTo>
                    <a:lnTo>
                      <a:pt x="79375" y="0"/>
                    </a:lnTo>
                    <a:cubicBezTo>
                      <a:pt x="88142" y="0"/>
                      <a:pt x="95250" y="7107"/>
                      <a:pt x="95250" y="15875"/>
                    </a:cubicBezTo>
                    <a:lnTo>
                      <a:pt x="95250" y="47625"/>
                    </a:lnTo>
                    <a:cubicBezTo>
                      <a:pt x="95250" y="56392"/>
                      <a:pt x="88142" y="63500"/>
                      <a:pt x="79375" y="63500"/>
                    </a:cubicBezTo>
                    <a:lnTo>
                      <a:pt x="15875" y="63500"/>
                    </a:lnTo>
                    <a:cubicBezTo>
                      <a:pt x="7107" y="63500"/>
                      <a:pt x="0" y="56392"/>
                      <a:pt x="0" y="47625"/>
                    </a:cubicBezTo>
                    <a:lnTo>
                      <a:pt x="0" y="15875"/>
                    </a:lnTo>
                  </a:path>
                </a:pathLst>
              </a:custGeom>
              <a:noFill/>
              <a:ln w="14287">
                <a:solidFill>
                  <a:srgbClr val="8A1700"/>
                </a:solidFill>
              </a:ln>
            </p:spPr>
          </p:sp>
          <p:sp>
            <p:nvSpPr>
              <p:cNvPr id="91" name="Freeform 91"/>
              <p:cNvSpPr/>
              <p:nvPr/>
            </p:nvSpPr>
            <p:spPr>
              <a:xfrm>
                <a:off x="8305800" y="1444625"/>
                <a:ext cx="9525" cy="15875"/>
              </a:xfrm>
              <a:custGeom>
                <a:avLst/>
                <a:gdLst/>
                <a:ahLst/>
                <a:cxnLst/>
                <a:rect l="l" t="t" r="r" b="b"/>
                <a:pathLst>
                  <a:path w="9525" h="15875">
                    <a:moveTo>
                      <a:pt x="0" y="0"/>
                    </a:moveTo>
                    <a:lnTo>
                      <a:pt x="0" y="15875"/>
                    </a:lnTo>
                  </a:path>
                </a:pathLst>
              </a:custGeom>
              <a:noFill/>
              <a:ln w="14287">
                <a:solidFill>
                  <a:srgbClr val="8A1700"/>
                </a:solidFill>
              </a:ln>
            </p:spPr>
          </p:sp>
          <p:sp>
            <p:nvSpPr>
              <p:cNvPr id="92" name="Freeform 92"/>
              <p:cNvSpPr/>
              <p:nvPr/>
            </p:nvSpPr>
            <p:spPr>
              <a:xfrm>
                <a:off x="8281987" y="1524000"/>
                <a:ext cx="9525" cy="71437"/>
              </a:xfrm>
              <a:custGeom>
                <a:avLst/>
                <a:gdLst/>
                <a:ahLst/>
                <a:cxnLst/>
                <a:rect l="l" t="t" r="r" b="b"/>
                <a:pathLst>
                  <a:path w="9525" h="71437">
                    <a:moveTo>
                      <a:pt x="0" y="0"/>
                    </a:moveTo>
                    <a:lnTo>
                      <a:pt x="0" y="71437"/>
                    </a:lnTo>
                  </a:path>
                </a:pathLst>
              </a:custGeom>
              <a:noFill/>
              <a:ln w="14287">
                <a:solidFill>
                  <a:srgbClr val="8A1700"/>
                </a:solidFill>
              </a:ln>
            </p:spPr>
          </p:sp>
          <p:sp>
            <p:nvSpPr>
              <p:cNvPr id="93" name="Freeform 93"/>
              <p:cNvSpPr/>
              <p:nvPr/>
            </p:nvSpPr>
            <p:spPr>
              <a:xfrm>
                <a:off x="8329612" y="1524000"/>
                <a:ext cx="9525" cy="71437"/>
              </a:xfrm>
              <a:custGeom>
                <a:avLst/>
                <a:gdLst/>
                <a:ahLst/>
                <a:cxnLst/>
                <a:rect l="l" t="t" r="r" b="b"/>
                <a:pathLst>
                  <a:path w="9525" h="71437">
                    <a:moveTo>
                      <a:pt x="0" y="0"/>
                    </a:moveTo>
                    <a:lnTo>
                      <a:pt x="0" y="71437"/>
                    </a:lnTo>
                  </a:path>
                </a:pathLst>
              </a:custGeom>
              <a:noFill/>
              <a:ln w="14287">
                <a:solidFill>
                  <a:srgbClr val="8A1700"/>
                </a:solidFill>
              </a:ln>
            </p:spPr>
          </p:sp>
          <p:sp>
            <p:nvSpPr>
              <p:cNvPr id="94" name="Freeform 94"/>
              <p:cNvSpPr/>
              <p:nvPr/>
            </p:nvSpPr>
            <p:spPr>
              <a:xfrm>
                <a:off x="8250237" y="1539875"/>
                <a:ext cx="31750" cy="15875"/>
              </a:xfrm>
              <a:custGeom>
                <a:avLst/>
                <a:gdLst/>
                <a:ahLst/>
                <a:cxnLst/>
                <a:rect l="l" t="t" r="r" b="b"/>
                <a:pathLst>
                  <a:path w="31750" h="15875">
                    <a:moveTo>
                      <a:pt x="0" y="15875"/>
                    </a:moveTo>
                    <a:lnTo>
                      <a:pt x="31750" y="0"/>
                    </a:lnTo>
                  </a:path>
                </a:pathLst>
              </a:custGeom>
              <a:noFill/>
              <a:ln w="14287">
                <a:solidFill>
                  <a:srgbClr val="8A1700"/>
                </a:solidFill>
              </a:ln>
            </p:spPr>
          </p:sp>
          <p:sp>
            <p:nvSpPr>
              <p:cNvPr id="95" name="Freeform 95"/>
              <p:cNvSpPr/>
              <p:nvPr/>
            </p:nvSpPr>
            <p:spPr>
              <a:xfrm>
                <a:off x="8329612" y="1539875"/>
                <a:ext cx="31750" cy="15875"/>
              </a:xfrm>
              <a:custGeom>
                <a:avLst/>
                <a:gdLst/>
                <a:ahLst/>
                <a:cxnLst/>
                <a:rect l="l" t="t" r="r" b="b"/>
                <a:pathLst>
                  <a:path w="31750" h="15875">
                    <a:moveTo>
                      <a:pt x="0" y="0"/>
                    </a:moveTo>
                    <a:lnTo>
                      <a:pt x="31750" y="15875"/>
                    </a:lnTo>
                  </a:path>
                </a:pathLst>
              </a:custGeom>
              <a:noFill/>
              <a:ln w="14287">
                <a:solidFill>
                  <a:srgbClr val="8A1700"/>
                </a:solidFill>
              </a:ln>
            </p:spPr>
          </p:sp>
          <p:sp>
            <p:nvSpPr>
              <p:cNvPr id="96" name="Freeform 96"/>
              <p:cNvSpPr/>
              <p:nvPr/>
            </p:nvSpPr>
            <p:spPr>
              <a:xfrm>
                <a:off x="8281987" y="1571625"/>
                <a:ext cx="47625" cy="9525"/>
              </a:xfrm>
              <a:custGeom>
                <a:avLst/>
                <a:gdLst/>
                <a:ahLst/>
                <a:cxnLst/>
                <a:rect l="l" t="t" r="r" b="b"/>
                <a:pathLst>
                  <a:path w="47625" h="9525">
                    <a:moveTo>
                      <a:pt x="0" y="0"/>
                    </a:moveTo>
                    <a:lnTo>
                      <a:pt x="47625" y="0"/>
                    </a:lnTo>
                  </a:path>
                </a:pathLst>
              </a:custGeom>
              <a:noFill/>
              <a:ln w="14287">
                <a:solidFill>
                  <a:srgbClr val="8A1700"/>
                </a:solidFill>
              </a:ln>
            </p:spPr>
          </p:sp>
          <p:sp>
            <p:nvSpPr>
              <p:cNvPr id="97" name="Freeform 97"/>
              <p:cNvSpPr/>
              <p:nvPr/>
            </p:nvSpPr>
            <p:spPr>
              <a:xfrm>
                <a:off x="8289925" y="1492250"/>
                <a:ext cx="9525" cy="9525"/>
              </a:xfrm>
              <a:custGeom>
                <a:avLst/>
                <a:gdLst/>
                <a:ahLst/>
                <a:cxnLst/>
                <a:rect l="l" t="t" r="r" b="b"/>
                <a:pathLst>
                  <a:path w="9525" h="9525">
                    <a:moveTo>
                      <a:pt x="0" y="0"/>
                    </a:moveTo>
                    <a:lnTo>
                      <a:pt x="0" y="79"/>
                    </a:lnTo>
                  </a:path>
                </a:pathLst>
              </a:custGeom>
              <a:noFill/>
              <a:ln w="14287">
                <a:solidFill>
                  <a:srgbClr val="8A1700"/>
                </a:solidFill>
              </a:ln>
            </p:spPr>
          </p:sp>
          <p:sp>
            <p:nvSpPr>
              <p:cNvPr id="98" name="Freeform 98"/>
              <p:cNvSpPr/>
              <p:nvPr/>
            </p:nvSpPr>
            <p:spPr>
              <a:xfrm>
                <a:off x="8321675" y="1492250"/>
                <a:ext cx="9525" cy="9525"/>
              </a:xfrm>
              <a:custGeom>
                <a:avLst/>
                <a:gdLst/>
                <a:ahLst/>
                <a:cxnLst/>
                <a:rect l="l" t="t" r="r" b="b"/>
                <a:pathLst>
                  <a:path w="9525" h="9525">
                    <a:moveTo>
                      <a:pt x="0" y="0"/>
                    </a:moveTo>
                    <a:lnTo>
                      <a:pt x="0" y="79"/>
                    </a:lnTo>
                  </a:path>
                </a:pathLst>
              </a:custGeom>
              <a:noFill/>
              <a:ln w="14287">
                <a:solidFill>
                  <a:srgbClr val="8A1700"/>
                </a:solidFill>
              </a:ln>
            </p:spPr>
          </p:sp>
        </p:grpSp>
        <p:sp>
          <p:nvSpPr>
            <p:cNvPr id="100" name="TextBox 100"/>
            <p:cNvSpPr txBox="1"/>
            <p:nvPr/>
          </p:nvSpPr>
          <p:spPr>
            <a:xfrm>
              <a:off x="8472488" y="1490662"/>
              <a:ext cx="2129790"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模型驱动决策：</a:t>
              </a:r>
              <a:r>
                <a:rPr lang="zh-CN" sz="750" dirty="0">
                  <a:solidFill>
                    <a:srgbClr val="60403A"/>
                  </a:solidFill>
                  <a:latin typeface="+mn-lt"/>
                  <a:ea typeface="+mn-ea"/>
                  <a:cs typeface="+mn-cs"/>
                </a:rPr>
                <a:t>价值评分、预测、推荐全面应用</a:t>
              </a:r>
            </a:p>
          </p:txBody>
        </p:sp>
        <p:grpSp>
          <p:nvGrpSpPr>
            <p:cNvPr id="103" name="Group 103"/>
            <p:cNvGrpSpPr/>
            <p:nvPr/>
          </p:nvGrpSpPr>
          <p:grpSpPr>
            <a:xfrm>
              <a:off x="8230878" y="1772928"/>
              <a:ext cx="149844" cy="149844"/>
              <a:chOff x="8230878" y="1772928"/>
              <a:chExt cx="149844" cy="149844"/>
            </a:xfrm>
          </p:grpSpPr>
          <p:sp>
            <p:nvSpPr>
              <p:cNvPr id="101" name="Freeform 101"/>
              <p:cNvSpPr/>
              <p:nvPr/>
            </p:nvSpPr>
            <p:spPr>
              <a:xfrm>
                <a:off x="8230878" y="177292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4287">
                <a:solidFill>
                  <a:srgbClr val="8A1700"/>
                </a:solidFill>
              </a:ln>
            </p:spPr>
          </p:sp>
          <p:sp>
            <p:nvSpPr>
              <p:cNvPr id="102" name="Freeform 102"/>
              <p:cNvSpPr/>
              <p:nvPr/>
            </p:nvSpPr>
            <p:spPr>
              <a:xfrm>
                <a:off x="8281987" y="182403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4287">
                <a:solidFill>
                  <a:srgbClr val="8A1700"/>
                </a:solidFill>
              </a:ln>
            </p:spPr>
          </p:sp>
        </p:grpSp>
        <p:sp>
          <p:nvSpPr>
            <p:cNvPr id="104" name="TextBox 104"/>
            <p:cNvSpPr txBox="1"/>
            <p:nvPr/>
          </p:nvSpPr>
          <p:spPr>
            <a:xfrm>
              <a:off x="8472488" y="1814512"/>
              <a:ext cx="2028825"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自动化运营：</a:t>
              </a:r>
              <a:r>
                <a:rPr lang="zh-CN" sz="750" dirty="0">
                  <a:solidFill>
                    <a:srgbClr val="60403A"/>
                  </a:solidFill>
                  <a:latin typeface="+mn-lt"/>
                  <a:ea typeface="+mn-ea"/>
                  <a:cs typeface="+mn-cs"/>
                </a:rPr>
                <a:t>智能触达，流程自动化降本增效</a:t>
              </a:r>
            </a:p>
          </p:txBody>
        </p:sp>
        <p:grpSp>
          <p:nvGrpSpPr>
            <p:cNvPr id="108" name="Group 108"/>
            <p:cNvGrpSpPr/>
            <p:nvPr/>
          </p:nvGrpSpPr>
          <p:grpSpPr>
            <a:xfrm>
              <a:off x="8250237" y="2100262"/>
              <a:ext cx="111125" cy="142875"/>
              <a:chOff x="8250237" y="2100262"/>
              <a:chExt cx="111125" cy="142875"/>
            </a:xfrm>
          </p:grpSpPr>
          <p:sp>
            <p:nvSpPr>
              <p:cNvPr id="105" name="Freeform 105"/>
              <p:cNvSpPr/>
              <p:nvPr/>
            </p:nvSpPr>
            <p:spPr>
              <a:xfrm>
                <a:off x="8250237" y="214788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4287">
                <a:solidFill>
                  <a:srgbClr val="8A1700"/>
                </a:solidFill>
              </a:ln>
            </p:spPr>
          </p:sp>
          <p:sp>
            <p:nvSpPr>
              <p:cNvPr id="106" name="Freeform 106"/>
              <p:cNvSpPr/>
              <p:nvPr/>
            </p:nvSpPr>
            <p:spPr>
              <a:xfrm>
                <a:off x="8305800" y="2100262"/>
                <a:ext cx="9525" cy="87312"/>
              </a:xfrm>
              <a:custGeom>
                <a:avLst/>
                <a:gdLst/>
                <a:ahLst/>
                <a:cxnLst/>
                <a:rect l="l" t="t" r="r" b="b"/>
                <a:pathLst>
                  <a:path w="9525" h="87312">
                    <a:moveTo>
                      <a:pt x="0" y="87312"/>
                    </a:moveTo>
                    <a:lnTo>
                      <a:pt x="0" y="0"/>
                    </a:lnTo>
                  </a:path>
                </a:pathLst>
              </a:custGeom>
              <a:noFill/>
              <a:ln w="14287">
                <a:solidFill>
                  <a:srgbClr val="8A1700"/>
                </a:solidFill>
              </a:ln>
            </p:spPr>
          </p:sp>
          <p:sp>
            <p:nvSpPr>
              <p:cNvPr id="107" name="Freeform 107"/>
              <p:cNvSpPr/>
              <p:nvPr/>
            </p:nvSpPr>
            <p:spPr>
              <a:xfrm>
                <a:off x="8281987" y="2100262"/>
                <a:ext cx="47625" cy="23812"/>
              </a:xfrm>
              <a:custGeom>
                <a:avLst/>
                <a:gdLst/>
                <a:ahLst/>
                <a:cxnLst/>
                <a:rect l="l" t="t" r="r" b="b"/>
                <a:pathLst>
                  <a:path w="47625" h="23812">
                    <a:moveTo>
                      <a:pt x="0" y="23812"/>
                    </a:moveTo>
                    <a:lnTo>
                      <a:pt x="23812" y="0"/>
                    </a:lnTo>
                    <a:lnTo>
                      <a:pt x="47625" y="23812"/>
                    </a:lnTo>
                  </a:path>
                </a:pathLst>
              </a:custGeom>
              <a:noFill/>
              <a:ln w="14287">
                <a:solidFill>
                  <a:srgbClr val="8A1700"/>
                </a:solidFill>
              </a:ln>
            </p:spPr>
          </p:sp>
        </p:grpSp>
        <p:sp>
          <p:nvSpPr>
            <p:cNvPr id="109" name="TextBox 109"/>
            <p:cNvSpPr txBox="1"/>
            <p:nvPr/>
          </p:nvSpPr>
          <p:spPr>
            <a:xfrm>
              <a:off x="8472488" y="2138362"/>
              <a:ext cx="2139887"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规模复制扩展：</a:t>
              </a:r>
              <a:r>
                <a:rPr lang="zh-CN" sz="750" dirty="0">
                  <a:solidFill>
                    <a:srgbClr val="60403A"/>
                  </a:solidFill>
                  <a:latin typeface="+mn-lt"/>
                  <a:ea typeface="+mn-ea"/>
                  <a:cs typeface="+mn-cs"/>
                </a:rPr>
                <a:t>方法论沉淀，跨区域/客群复制​</a:t>
              </a:r>
            </a:p>
          </p:txBody>
        </p:sp>
        <p:grpSp>
          <p:nvGrpSpPr>
            <p:cNvPr id="112" name="Group 112"/>
            <p:cNvGrpSpPr/>
            <p:nvPr/>
          </p:nvGrpSpPr>
          <p:grpSpPr>
            <a:xfrm>
              <a:off x="8242300" y="2428987"/>
              <a:ext cx="127000" cy="133125"/>
              <a:chOff x="8242300" y="2428987"/>
              <a:chExt cx="127000" cy="133125"/>
            </a:xfrm>
          </p:grpSpPr>
          <p:sp>
            <p:nvSpPr>
              <p:cNvPr id="110" name="Freeform 110"/>
              <p:cNvSpPr/>
              <p:nvPr/>
            </p:nvSpPr>
            <p:spPr>
              <a:xfrm>
                <a:off x="8242300" y="242898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4287">
                <a:solidFill>
                  <a:srgbClr val="8A1700"/>
                </a:solidFill>
              </a:ln>
            </p:spPr>
          </p:sp>
          <p:sp>
            <p:nvSpPr>
              <p:cNvPr id="111" name="Freeform 111"/>
              <p:cNvSpPr/>
              <p:nvPr/>
            </p:nvSpPr>
            <p:spPr>
              <a:xfrm>
                <a:off x="8242300" y="250348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4287">
                <a:solidFill>
                  <a:srgbClr val="8A1700"/>
                </a:solidFill>
              </a:ln>
            </p:spPr>
          </p:sp>
        </p:grpSp>
        <p:sp>
          <p:nvSpPr>
            <p:cNvPr id="113" name="TextBox 113"/>
            <p:cNvSpPr txBox="1"/>
            <p:nvPr/>
          </p:nvSpPr>
          <p:spPr>
            <a:xfrm>
              <a:off x="8472488" y="2462212"/>
              <a:ext cx="2028825" cy="147638"/>
            </a:xfrm>
            <a:prstGeom prst="rect">
              <a:avLst/>
            </a:prstGeom>
            <a:noFill/>
            <a:ln>
              <a:noFill/>
            </a:ln>
          </p:spPr>
          <p:txBody>
            <a:bodyPr wrap="none" lIns="0" tIns="0" rIns="0" bIns="0" anchor="t" anchorCtr="0">
              <a:spAutoFit/>
            </a:bodyPr>
            <a:lstStyle/>
            <a:p>
              <a:pPr algn="l"/>
              <a:r>
                <a:rPr lang="zh-CN" sz="750" b="1" dirty="0">
                  <a:solidFill>
                    <a:srgbClr val="520E00"/>
                  </a:solidFill>
                  <a:latin typeface="+mn-lt"/>
                  <a:ea typeface="+mn-ea"/>
                  <a:cs typeface="+mn-cs"/>
                </a:rPr>
                <a:t>持续迭代优化：</a:t>
              </a:r>
              <a:r>
                <a:rPr lang="zh-CN" sz="750" dirty="0">
                  <a:solidFill>
                    <a:srgbClr val="60403A"/>
                  </a:solidFill>
                  <a:latin typeface="+mn-lt"/>
                  <a:ea typeface="+mn-ea"/>
                  <a:cs typeface="+mn-cs"/>
                </a:rPr>
                <a:t>数据闭环，持续提升经营效果</a:t>
              </a:r>
            </a:p>
          </p:txBody>
        </p:sp>
        <p:sp>
          <p:nvSpPr>
            <p:cNvPr id="114" name="Line 114"/>
            <p:cNvSpPr/>
            <p:nvPr/>
          </p:nvSpPr>
          <p:spPr>
            <a:xfrm>
              <a:off x="8191500" y="2667000"/>
              <a:ext cx="3581400" cy="9525"/>
            </a:xfrm>
            <a:custGeom>
              <a:avLst/>
              <a:gdLst/>
              <a:ahLst/>
              <a:cxnLst/>
              <a:rect l="l" t="t" r="r" b="b"/>
              <a:pathLst>
                <a:path w="3581400" h="9525">
                  <a:moveTo>
                    <a:pt x="0" y="0"/>
                  </a:moveTo>
                  <a:lnTo>
                    <a:pt x="3581400" y="0"/>
                  </a:lnTo>
                </a:path>
              </a:pathLst>
            </a:custGeom>
            <a:noFill/>
            <a:ln w="9525">
              <a:solidFill>
                <a:srgbClr val="DCE6F5"/>
              </a:solidFill>
            </a:ln>
          </p:spPr>
        </p:sp>
        <p:grpSp>
          <p:nvGrpSpPr>
            <p:cNvPr id="117" name="Group 117"/>
            <p:cNvGrpSpPr/>
            <p:nvPr/>
          </p:nvGrpSpPr>
          <p:grpSpPr>
            <a:xfrm>
              <a:off x="8246269" y="2746255"/>
              <a:ext cx="100012" cy="127913"/>
              <a:chOff x="8246269" y="2746255"/>
              <a:chExt cx="100012" cy="127913"/>
            </a:xfrm>
          </p:grpSpPr>
          <p:sp>
            <p:nvSpPr>
              <p:cNvPr id="115" name="Freeform 115"/>
              <p:cNvSpPr/>
              <p:nvPr/>
            </p:nvSpPr>
            <p:spPr>
              <a:xfrm>
                <a:off x="8246269" y="2746255"/>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2859">
                <a:solidFill>
                  <a:srgbClr val="C02C0A"/>
                </a:solidFill>
              </a:ln>
            </p:spPr>
          </p:sp>
          <p:sp>
            <p:nvSpPr>
              <p:cNvPr id="116" name="Freeform 116"/>
              <p:cNvSpPr/>
              <p:nvPr/>
            </p:nvSpPr>
            <p:spPr>
              <a:xfrm>
                <a:off x="8246269" y="2824162"/>
                <a:ext cx="9525" cy="50006"/>
              </a:xfrm>
              <a:custGeom>
                <a:avLst/>
                <a:gdLst/>
                <a:ahLst/>
                <a:cxnLst/>
                <a:rect l="l" t="t" r="r" b="b"/>
                <a:pathLst>
                  <a:path w="9525" h="50006">
                    <a:moveTo>
                      <a:pt x="0" y="50006"/>
                    </a:moveTo>
                    <a:lnTo>
                      <a:pt x="0" y="0"/>
                    </a:lnTo>
                  </a:path>
                </a:pathLst>
              </a:custGeom>
              <a:noFill/>
              <a:ln w="12859">
                <a:solidFill>
                  <a:srgbClr val="C02C0A"/>
                </a:solidFill>
              </a:ln>
            </p:spPr>
          </p:sp>
        </p:grpSp>
        <p:sp>
          <p:nvSpPr>
            <p:cNvPr id="118" name="TextBox 118"/>
            <p:cNvSpPr txBox="1"/>
            <p:nvPr/>
          </p:nvSpPr>
          <p:spPr>
            <a:xfrm>
              <a:off x="8453438" y="2757488"/>
              <a:ext cx="2129790" cy="147638"/>
            </a:xfrm>
            <a:prstGeom prst="rect">
              <a:avLst/>
            </a:prstGeom>
            <a:noFill/>
            <a:ln>
              <a:noFill/>
            </a:ln>
          </p:spPr>
          <p:txBody>
            <a:bodyPr wrap="none" lIns="0" tIns="0" rIns="0" bIns="0" anchor="t" anchorCtr="0">
              <a:spAutoFit/>
            </a:bodyPr>
            <a:lstStyle/>
            <a:p>
              <a:pPr algn="l"/>
              <a:r>
                <a:rPr lang="zh-CN" sz="750" b="1" dirty="0">
                  <a:solidFill>
                    <a:srgbClr val="C02C0A"/>
                  </a:solidFill>
                  <a:latin typeface="+mn-lt"/>
                  <a:ea typeface="+mn-ea"/>
                  <a:cs typeface="+mn-cs"/>
                </a:rPr>
                <a:t>里程碑：</a:t>
              </a:r>
              <a:r>
                <a:rPr lang="zh-CN" sz="750" b="1" dirty="0">
                  <a:solidFill>
                    <a:srgbClr val="520E00"/>
                  </a:solidFill>
                  <a:latin typeface="+mn-lt"/>
                  <a:ea typeface="+mn-ea"/>
                  <a:cs typeface="+mn-cs"/>
                </a:rPr>
                <a:t>模型与自动化平台稳定运行，规模复制</a:t>
              </a:r>
            </a:p>
          </p:txBody>
        </p:sp>
      </p:grpSp>
      <p:grpSp>
        <p:nvGrpSpPr>
          <p:cNvPr id="166" name="investment"/>
          <p:cNvGrpSpPr/>
          <p:nvPr/>
        </p:nvGrpSpPr>
        <p:grpSpPr>
          <a:xfrm>
            <a:off x="228600" y="3048000"/>
            <a:ext cx="5619750" cy="2667000"/>
            <a:chOff x="228600" y="3048000"/>
            <a:chExt cx="5619750" cy="2667000"/>
          </a:xfrm>
        </p:grpSpPr>
        <p:sp>
          <p:nvSpPr>
            <p:cNvPr id="120" name="Rectangle 120"/>
            <p:cNvSpPr/>
            <p:nvPr/>
          </p:nvSpPr>
          <p:spPr>
            <a:xfrm>
              <a:off x="228600" y="3048000"/>
              <a:ext cx="5619750" cy="2667000"/>
            </a:xfrm>
            <a:prstGeom prst="roundRect">
              <a:avLst>
                <a:gd name="adj" fmla="val 2857"/>
              </a:avLst>
            </a:prstGeom>
            <a:solidFill>
              <a:srgbClr val="FFFFFF"/>
            </a:solidFill>
            <a:ln w="9525">
              <a:solidFill>
                <a:srgbClr val="C9D5EA"/>
              </a:solidFill>
            </a:ln>
          </p:spPr>
        </p:sp>
        <p:sp>
          <p:nvSpPr>
            <p:cNvPr id="121" name="Rectangle 121"/>
            <p:cNvSpPr/>
            <p:nvPr/>
          </p:nvSpPr>
          <p:spPr>
            <a:xfrm>
              <a:off x="228600" y="3048000"/>
              <a:ext cx="5619750" cy="361950"/>
            </a:xfrm>
            <a:prstGeom prst="roundRect">
              <a:avLst>
                <a:gd name="adj" fmla="val 21053"/>
              </a:avLst>
            </a:prstGeom>
            <a:solidFill>
              <a:srgbClr val="520E00"/>
            </a:solidFill>
            <a:ln>
              <a:noFill/>
            </a:ln>
          </p:spPr>
        </p:sp>
        <p:sp>
          <p:nvSpPr>
            <p:cNvPr id="122" name="Rectangle 122"/>
            <p:cNvSpPr/>
            <p:nvPr/>
          </p:nvSpPr>
          <p:spPr>
            <a:xfrm>
              <a:off x="228600" y="3257550"/>
              <a:ext cx="5619750" cy="152400"/>
            </a:xfrm>
            <a:prstGeom prst="rect">
              <a:avLst/>
            </a:prstGeom>
            <a:solidFill>
              <a:srgbClr val="520E00"/>
            </a:solidFill>
            <a:ln>
              <a:noFill/>
            </a:ln>
          </p:spPr>
        </p:sp>
        <p:grpSp>
          <p:nvGrpSpPr>
            <p:cNvPr id="126" name="Group 126"/>
            <p:cNvGrpSpPr/>
            <p:nvPr/>
          </p:nvGrpSpPr>
          <p:grpSpPr>
            <a:xfrm>
              <a:off x="400050" y="3143250"/>
              <a:ext cx="152400" cy="171450"/>
              <a:chOff x="400050" y="3143250"/>
              <a:chExt cx="152400" cy="171450"/>
            </a:xfrm>
          </p:grpSpPr>
          <p:sp>
            <p:nvSpPr>
              <p:cNvPr id="123" name="Freeform 123"/>
              <p:cNvSpPr/>
              <p:nvPr/>
            </p:nvSpPr>
            <p:spPr>
              <a:xfrm>
                <a:off x="400050" y="3143250"/>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7145">
                <a:solidFill>
                  <a:srgbClr val="FFFFFF"/>
                </a:solidFill>
              </a:ln>
            </p:spPr>
          </p:sp>
          <p:sp>
            <p:nvSpPr>
              <p:cNvPr id="124" name="Freeform 124"/>
              <p:cNvSpPr/>
              <p:nvPr/>
            </p:nvSpPr>
            <p:spPr>
              <a:xfrm>
                <a:off x="400050" y="3171825"/>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7145">
                <a:solidFill>
                  <a:srgbClr val="FFFFFF"/>
                </a:solidFill>
              </a:ln>
            </p:spPr>
          </p:sp>
          <p:sp>
            <p:nvSpPr>
              <p:cNvPr id="125" name="Freeform 125"/>
              <p:cNvSpPr/>
              <p:nvPr/>
            </p:nvSpPr>
            <p:spPr>
              <a:xfrm>
                <a:off x="400050" y="3228975"/>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7145">
                <a:solidFill>
                  <a:srgbClr val="FFFFFF"/>
                </a:solidFill>
              </a:ln>
            </p:spPr>
          </p:sp>
        </p:grpSp>
        <p:sp>
          <p:nvSpPr>
            <p:cNvPr id="127" name="TextBox 127"/>
            <p:cNvSpPr txBox="1"/>
            <p:nvPr/>
          </p:nvSpPr>
          <p:spPr>
            <a:xfrm>
              <a:off x="680847" y="3180874"/>
              <a:ext cx="4069978"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示例投入：平台工具280万元，内容权益320万元，运营团队180万元​</a:t>
              </a:r>
            </a:p>
          </p:txBody>
        </p:sp>
        <p:grpSp>
          <p:nvGrpSpPr>
            <p:cNvPr id="136" name="inv-1"/>
            <p:cNvGrpSpPr/>
            <p:nvPr/>
          </p:nvGrpSpPr>
          <p:grpSpPr>
            <a:xfrm>
              <a:off x="419100" y="3581400"/>
              <a:ext cx="1143000" cy="1428750"/>
              <a:chOff x="419100" y="3581400"/>
              <a:chExt cx="1143000" cy="1428750"/>
            </a:xfrm>
          </p:grpSpPr>
          <p:sp>
            <p:nvSpPr>
              <p:cNvPr id="128" name="Rectangle 128"/>
              <p:cNvSpPr/>
              <p:nvPr/>
            </p:nvSpPr>
            <p:spPr>
              <a:xfrm>
                <a:off x="419100" y="3581400"/>
                <a:ext cx="1143000" cy="1428750"/>
              </a:xfrm>
              <a:prstGeom prst="roundRect">
                <a:avLst>
                  <a:gd name="adj" fmla="val 6667"/>
                </a:avLst>
              </a:prstGeom>
              <a:solidFill>
                <a:srgbClr val="F5F8FE"/>
              </a:solidFill>
              <a:ln w="9525">
                <a:solidFill>
                  <a:srgbClr val="C9D5EA"/>
                </a:solidFill>
              </a:ln>
            </p:spPr>
          </p:sp>
          <p:grpSp>
            <p:nvGrpSpPr>
              <p:cNvPr id="132" name="Group 132"/>
              <p:cNvGrpSpPr/>
              <p:nvPr/>
            </p:nvGrpSpPr>
            <p:grpSpPr>
              <a:xfrm>
                <a:off x="895350" y="3762375"/>
                <a:ext cx="190500" cy="285751"/>
                <a:chOff x="895350" y="3762375"/>
                <a:chExt cx="190500" cy="285751"/>
              </a:xfrm>
            </p:grpSpPr>
            <p:sp>
              <p:nvSpPr>
                <p:cNvPr id="129" name="Freeform 129"/>
                <p:cNvSpPr/>
                <p:nvPr/>
              </p:nvSpPr>
              <p:spPr>
                <a:xfrm>
                  <a:off x="895350" y="3762375"/>
                  <a:ext cx="190500" cy="285751"/>
                </a:xfrm>
                <a:custGeom>
                  <a:avLst/>
                  <a:gdLst/>
                  <a:ahLst/>
                  <a:cxnLst/>
                  <a:rect l="l" t="t" r="r" b="b"/>
                  <a:pathLst>
                    <a:path w="190500" h="285751">
                      <a:moveTo>
                        <a:pt x="0" y="31750"/>
                      </a:moveTo>
                      <a:cubicBezTo>
                        <a:pt x="0" y="14215"/>
                        <a:pt x="14215" y="0"/>
                        <a:pt x="31750" y="0"/>
                      </a:cubicBezTo>
                      <a:lnTo>
                        <a:pt x="158750" y="0"/>
                      </a:lnTo>
                      <a:cubicBezTo>
                        <a:pt x="176285" y="0"/>
                        <a:pt x="190500" y="14215"/>
                        <a:pt x="190500" y="31750"/>
                      </a:cubicBezTo>
                      <a:lnTo>
                        <a:pt x="190500" y="254001"/>
                      </a:lnTo>
                      <a:cubicBezTo>
                        <a:pt x="190500" y="271536"/>
                        <a:pt x="176285" y="285751"/>
                        <a:pt x="158750" y="285751"/>
                      </a:cubicBezTo>
                      <a:lnTo>
                        <a:pt x="31750" y="285751"/>
                      </a:lnTo>
                      <a:cubicBezTo>
                        <a:pt x="14215" y="285751"/>
                        <a:pt x="0" y="271536"/>
                        <a:pt x="0" y="254001"/>
                      </a:cubicBezTo>
                      <a:lnTo>
                        <a:pt x="0" y="31750"/>
                      </a:lnTo>
                    </a:path>
                  </a:pathLst>
                </a:custGeom>
                <a:noFill/>
                <a:ln w="23813">
                  <a:solidFill>
                    <a:srgbClr val="8A1700"/>
                  </a:solidFill>
                </a:ln>
              </p:spPr>
            </p:sp>
            <p:sp>
              <p:nvSpPr>
                <p:cNvPr id="130" name="Freeform 130"/>
                <p:cNvSpPr/>
                <p:nvPr/>
              </p:nvSpPr>
              <p:spPr>
                <a:xfrm>
                  <a:off x="974725" y="3778250"/>
                  <a:ext cx="31750" cy="9525"/>
                </a:xfrm>
                <a:custGeom>
                  <a:avLst/>
                  <a:gdLst/>
                  <a:ahLst/>
                  <a:cxnLst/>
                  <a:rect l="l" t="t" r="r" b="b"/>
                  <a:pathLst>
                    <a:path w="31750" h="9525">
                      <a:moveTo>
                        <a:pt x="0" y="0"/>
                      </a:moveTo>
                      <a:lnTo>
                        <a:pt x="31750" y="0"/>
                      </a:lnTo>
                    </a:path>
                  </a:pathLst>
                </a:custGeom>
                <a:noFill/>
                <a:ln w="23813">
                  <a:solidFill>
                    <a:srgbClr val="8A1700"/>
                  </a:solidFill>
                </a:ln>
              </p:spPr>
            </p:sp>
            <p:sp>
              <p:nvSpPr>
                <p:cNvPr id="131" name="Freeform 131"/>
                <p:cNvSpPr/>
                <p:nvPr/>
              </p:nvSpPr>
              <p:spPr>
                <a:xfrm>
                  <a:off x="990600" y="3984626"/>
                  <a:ext cx="9525" cy="9525"/>
                </a:xfrm>
                <a:custGeom>
                  <a:avLst/>
                  <a:gdLst/>
                  <a:ahLst/>
                  <a:cxnLst/>
                  <a:rect l="l" t="t" r="r" b="b"/>
                  <a:pathLst>
                    <a:path w="9525" h="9525">
                      <a:moveTo>
                        <a:pt x="0" y="0"/>
                      </a:moveTo>
                      <a:lnTo>
                        <a:pt x="0" y="159"/>
                      </a:lnTo>
                    </a:path>
                  </a:pathLst>
                </a:custGeom>
                <a:noFill/>
                <a:ln w="23813">
                  <a:solidFill>
                    <a:srgbClr val="8A1700"/>
                  </a:solidFill>
                </a:ln>
              </p:spPr>
            </p:sp>
          </p:grpSp>
          <p:sp>
            <p:nvSpPr>
              <p:cNvPr id="133" name="TextBox 133"/>
              <p:cNvSpPr txBox="1"/>
              <p:nvPr/>
            </p:nvSpPr>
            <p:spPr>
              <a:xfrm>
                <a:off x="743522" y="4246245"/>
                <a:ext cx="494157" cy="176212"/>
              </a:xfrm>
              <a:prstGeom prst="rect">
                <a:avLst/>
              </a:prstGeom>
              <a:noFill/>
              <a:ln>
                <a:noFill/>
              </a:ln>
            </p:spPr>
            <p:txBody>
              <a:bodyPr wrap="none" lIns="0" tIns="0" rIns="0" bIns="0" anchor="t" anchorCtr="0">
                <a:spAutoFit/>
              </a:bodyPr>
              <a:lstStyle/>
              <a:p>
                <a:pPr algn="ctr"/>
                <a:r>
                  <a:rPr lang="zh-CN" sz="900" b="1" dirty="0">
                    <a:solidFill>
                      <a:srgbClr val="520E00"/>
                    </a:solidFill>
                    <a:latin typeface="+mn-lt"/>
                    <a:ea typeface="+mn-ea"/>
                    <a:cs typeface="+mn-cs"/>
                  </a:rPr>
                  <a:t>平台工具</a:t>
                </a:r>
              </a:p>
            </p:txBody>
          </p:sp>
          <p:sp>
            <p:nvSpPr>
              <p:cNvPr id="134" name="TextBox 134"/>
              <p:cNvSpPr txBox="1"/>
              <p:nvPr/>
            </p:nvSpPr>
            <p:spPr>
              <a:xfrm>
                <a:off x="612787" y="4453414"/>
                <a:ext cx="755626" cy="249364"/>
              </a:xfrm>
              <a:prstGeom prst="rect">
                <a:avLst/>
              </a:prstGeom>
              <a:noFill/>
              <a:ln>
                <a:noFill/>
              </a:ln>
            </p:spPr>
            <p:txBody>
              <a:bodyPr wrap="none" lIns="0" tIns="0" rIns="0" bIns="0" anchor="t" anchorCtr="0">
                <a:spAutoFit/>
              </a:bodyPr>
              <a:lstStyle/>
              <a:p>
                <a:pPr algn="ctr"/>
                <a:r>
                  <a:rPr lang="zh-CN" sz="1280" b="1" dirty="0">
                    <a:solidFill>
                      <a:srgbClr val="520E00"/>
                    </a:solidFill>
                    <a:latin typeface="+mn-lt"/>
                    <a:ea typeface="+mn-ea"/>
                    <a:cs typeface="+mn-cs"/>
                  </a:rPr>
                  <a:t>280万元​</a:t>
                </a:r>
              </a:p>
            </p:txBody>
          </p:sp>
          <p:sp>
            <p:nvSpPr>
              <p:cNvPr id="135" name="TextBox 135"/>
              <p:cNvSpPr txBox="1"/>
              <p:nvPr/>
            </p:nvSpPr>
            <p:spPr>
              <a:xfrm>
                <a:off x="726425" y="4768691"/>
                <a:ext cx="528350"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占比 28%​</a:t>
                </a:r>
              </a:p>
            </p:txBody>
          </p:sp>
        </p:grpSp>
        <p:grpSp>
          <p:nvGrpSpPr>
            <p:cNvPr id="146" name="inv-2"/>
            <p:cNvGrpSpPr/>
            <p:nvPr/>
          </p:nvGrpSpPr>
          <p:grpSpPr>
            <a:xfrm>
              <a:off x="1695450" y="3581400"/>
              <a:ext cx="1143000" cy="1428750"/>
              <a:chOff x="1695450" y="3581400"/>
              <a:chExt cx="1143000" cy="1428750"/>
            </a:xfrm>
          </p:grpSpPr>
          <p:sp>
            <p:nvSpPr>
              <p:cNvPr id="137" name="Rectangle 137"/>
              <p:cNvSpPr/>
              <p:nvPr/>
            </p:nvSpPr>
            <p:spPr>
              <a:xfrm>
                <a:off x="1695450" y="3581400"/>
                <a:ext cx="1143000" cy="1428750"/>
              </a:xfrm>
              <a:prstGeom prst="roundRect">
                <a:avLst>
                  <a:gd name="adj" fmla="val 6667"/>
                </a:avLst>
              </a:prstGeom>
              <a:solidFill>
                <a:srgbClr val="FDE8E8"/>
              </a:solidFill>
              <a:ln w="9525">
                <a:solidFill>
                  <a:srgbClr val="C02C0A"/>
                </a:solidFill>
              </a:ln>
            </p:spPr>
          </p:sp>
          <p:grpSp>
            <p:nvGrpSpPr>
              <p:cNvPr id="142" name="Group 142"/>
              <p:cNvGrpSpPr/>
              <p:nvPr/>
            </p:nvGrpSpPr>
            <p:grpSpPr>
              <a:xfrm>
                <a:off x="2124075" y="3761829"/>
                <a:ext cx="285751" cy="286296"/>
                <a:chOff x="2124075" y="3761829"/>
                <a:chExt cx="285751" cy="286296"/>
              </a:xfrm>
            </p:grpSpPr>
            <p:sp>
              <p:nvSpPr>
                <p:cNvPr id="138" name="Freeform 138"/>
                <p:cNvSpPr/>
                <p:nvPr/>
              </p:nvSpPr>
              <p:spPr>
                <a:xfrm>
                  <a:off x="2124075" y="3841750"/>
                  <a:ext cx="285751" cy="63500"/>
                </a:xfrm>
                <a:custGeom>
                  <a:avLst/>
                  <a:gdLst/>
                  <a:ahLst/>
                  <a:cxnLst/>
                  <a:rect l="l" t="t" r="r" b="b"/>
                  <a:pathLst>
                    <a:path w="285751" h="63500">
                      <a:moveTo>
                        <a:pt x="0" y="15875"/>
                      </a:moveTo>
                      <a:cubicBezTo>
                        <a:pt x="0" y="7107"/>
                        <a:pt x="7107" y="0"/>
                        <a:pt x="15875" y="0"/>
                      </a:cubicBezTo>
                      <a:lnTo>
                        <a:pt x="269876" y="0"/>
                      </a:lnTo>
                      <a:cubicBezTo>
                        <a:pt x="278643" y="0"/>
                        <a:pt x="285751" y="7107"/>
                        <a:pt x="285751" y="15875"/>
                      </a:cubicBezTo>
                      <a:lnTo>
                        <a:pt x="285751" y="47625"/>
                      </a:lnTo>
                      <a:cubicBezTo>
                        <a:pt x="285751" y="56393"/>
                        <a:pt x="278643" y="63500"/>
                        <a:pt x="269876" y="63500"/>
                      </a:cubicBezTo>
                      <a:lnTo>
                        <a:pt x="15875" y="63500"/>
                      </a:lnTo>
                      <a:cubicBezTo>
                        <a:pt x="7107" y="63500"/>
                        <a:pt x="0" y="56393"/>
                        <a:pt x="0" y="47625"/>
                      </a:cubicBezTo>
                      <a:lnTo>
                        <a:pt x="0" y="15875"/>
                      </a:lnTo>
                    </a:path>
                  </a:pathLst>
                </a:custGeom>
                <a:noFill/>
                <a:ln w="23813">
                  <a:solidFill>
                    <a:srgbClr val="C02C0A"/>
                  </a:solidFill>
                </a:ln>
              </p:spPr>
            </p:sp>
            <p:sp>
              <p:nvSpPr>
                <p:cNvPr id="139" name="Freeform 139"/>
                <p:cNvSpPr/>
                <p:nvPr/>
              </p:nvSpPr>
              <p:spPr>
                <a:xfrm>
                  <a:off x="2266950" y="3841750"/>
                  <a:ext cx="9525" cy="206375"/>
                </a:xfrm>
                <a:custGeom>
                  <a:avLst/>
                  <a:gdLst/>
                  <a:ahLst/>
                  <a:cxnLst/>
                  <a:rect l="l" t="t" r="r" b="b"/>
                  <a:pathLst>
                    <a:path w="9525" h="206375">
                      <a:moveTo>
                        <a:pt x="0" y="0"/>
                      </a:moveTo>
                      <a:lnTo>
                        <a:pt x="0" y="206375"/>
                      </a:lnTo>
                    </a:path>
                  </a:pathLst>
                </a:custGeom>
                <a:noFill/>
                <a:ln w="23813">
                  <a:solidFill>
                    <a:srgbClr val="C02C0A"/>
                  </a:solidFill>
                </a:ln>
              </p:spPr>
            </p:sp>
            <p:sp>
              <p:nvSpPr>
                <p:cNvPr id="140" name="Freeform 140"/>
                <p:cNvSpPr/>
                <p:nvPr/>
              </p:nvSpPr>
              <p:spPr>
                <a:xfrm>
                  <a:off x="2155825" y="3905250"/>
                  <a:ext cx="222250" cy="142875"/>
                </a:xfrm>
                <a:custGeom>
                  <a:avLst/>
                  <a:gdLst/>
                  <a:ahLst/>
                  <a:cxnLst/>
                  <a:rect l="l" t="t" r="r" b="b"/>
                  <a:pathLst>
                    <a:path w="222250" h="142875">
                      <a:moveTo>
                        <a:pt x="222250" y="0"/>
                      </a:moveTo>
                      <a:lnTo>
                        <a:pt x="222250" y="111125"/>
                      </a:lnTo>
                      <a:cubicBezTo>
                        <a:pt x="222250" y="128660"/>
                        <a:pt x="208035" y="142875"/>
                        <a:pt x="190500" y="142875"/>
                      </a:cubicBezTo>
                      <a:lnTo>
                        <a:pt x="31750" y="142875"/>
                      </a:lnTo>
                      <a:cubicBezTo>
                        <a:pt x="14215" y="142875"/>
                        <a:pt x="0" y="128660"/>
                        <a:pt x="0" y="111125"/>
                      </a:cubicBezTo>
                      <a:lnTo>
                        <a:pt x="0" y="0"/>
                      </a:lnTo>
                    </a:path>
                  </a:pathLst>
                </a:custGeom>
                <a:noFill/>
                <a:ln w="23813">
                  <a:solidFill>
                    <a:srgbClr val="C02C0A"/>
                  </a:solidFill>
                </a:ln>
              </p:spPr>
            </p:sp>
            <p:sp>
              <p:nvSpPr>
                <p:cNvPr id="141" name="Freeform 141"/>
                <p:cNvSpPr/>
                <p:nvPr/>
              </p:nvSpPr>
              <p:spPr>
                <a:xfrm>
                  <a:off x="2155825" y="3761829"/>
                  <a:ext cx="222250" cy="79921"/>
                </a:xfrm>
                <a:custGeom>
                  <a:avLst/>
                  <a:gdLst/>
                  <a:ahLst/>
                  <a:cxnLst/>
                  <a:rect l="l" t="t" r="r" b="b"/>
                  <a:pathLst>
                    <a:path w="222250" h="79921">
                      <a:moveTo>
                        <a:pt x="39688" y="79921"/>
                      </a:moveTo>
                      <a:cubicBezTo>
                        <a:pt x="17769" y="79921"/>
                        <a:pt x="0" y="62152"/>
                        <a:pt x="0" y="40234"/>
                      </a:cubicBezTo>
                      <a:cubicBezTo>
                        <a:pt x="0" y="18315"/>
                        <a:pt x="17769" y="546"/>
                        <a:pt x="39688" y="546"/>
                      </a:cubicBezTo>
                      <a:cubicBezTo>
                        <a:pt x="71029" y="0"/>
                        <a:pt x="99373" y="31494"/>
                        <a:pt x="111125" y="79921"/>
                      </a:cubicBezTo>
                      <a:cubicBezTo>
                        <a:pt x="122877" y="31494"/>
                        <a:pt x="151222" y="0"/>
                        <a:pt x="182563" y="546"/>
                      </a:cubicBezTo>
                      <a:cubicBezTo>
                        <a:pt x="204482" y="546"/>
                        <a:pt x="222250" y="18315"/>
                        <a:pt x="222250" y="40234"/>
                      </a:cubicBezTo>
                      <a:cubicBezTo>
                        <a:pt x="222250" y="62152"/>
                        <a:pt x="204482" y="79921"/>
                        <a:pt x="182563" y="79921"/>
                      </a:cubicBezTo>
                    </a:path>
                  </a:pathLst>
                </a:custGeom>
                <a:noFill/>
                <a:ln w="23813">
                  <a:solidFill>
                    <a:srgbClr val="C02C0A"/>
                  </a:solidFill>
                </a:ln>
              </p:spPr>
            </p:sp>
          </p:grpSp>
          <p:sp>
            <p:nvSpPr>
              <p:cNvPr id="143" name="TextBox 143"/>
              <p:cNvSpPr txBox="1"/>
              <p:nvPr/>
            </p:nvSpPr>
            <p:spPr>
              <a:xfrm>
                <a:off x="2019872" y="4246245"/>
                <a:ext cx="494157" cy="176212"/>
              </a:xfrm>
              <a:prstGeom prst="rect">
                <a:avLst/>
              </a:prstGeom>
              <a:noFill/>
              <a:ln>
                <a:noFill/>
              </a:ln>
            </p:spPr>
            <p:txBody>
              <a:bodyPr wrap="none" lIns="0" tIns="0" rIns="0" bIns="0" anchor="t" anchorCtr="0">
                <a:spAutoFit/>
              </a:bodyPr>
              <a:lstStyle/>
              <a:p>
                <a:pPr algn="ctr"/>
                <a:r>
                  <a:rPr lang="zh-CN" sz="900" b="1" dirty="0">
                    <a:solidFill>
                      <a:srgbClr val="520E00"/>
                    </a:solidFill>
                    <a:latin typeface="+mn-lt"/>
                    <a:ea typeface="+mn-ea"/>
                    <a:cs typeface="+mn-cs"/>
                  </a:rPr>
                  <a:t>内容权益</a:t>
                </a:r>
              </a:p>
            </p:txBody>
          </p:sp>
          <p:sp>
            <p:nvSpPr>
              <p:cNvPr id="144" name="TextBox 144"/>
              <p:cNvSpPr txBox="1"/>
              <p:nvPr/>
            </p:nvSpPr>
            <p:spPr>
              <a:xfrm>
                <a:off x="1889137" y="4453414"/>
                <a:ext cx="755626" cy="249364"/>
              </a:xfrm>
              <a:prstGeom prst="rect">
                <a:avLst/>
              </a:prstGeom>
              <a:noFill/>
              <a:ln>
                <a:noFill/>
              </a:ln>
            </p:spPr>
            <p:txBody>
              <a:bodyPr wrap="none" lIns="0" tIns="0" rIns="0" bIns="0" anchor="t" anchorCtr="0">
                <a:spAutoFit/>
              </a:bodyPr>
              <a:lstStyle/>
              <a:p>
                <a:pPr algn="ctr"/>
                <a:r>
                  <a:rPr lang="zh-CN" sz="1280" b="1" dirty="0">
                    <a:solidFill>
                      <a:srgbClr val="C02C0A"/>
                    </a:solidFill>
                    <a:latin typeface="+mn-lt"/>
                    <a:ea typeface="+mn-ea"/>
                    <a:cs typeface="+mn-cs"/>
                  </a:rPr>
                  <a:t>320万元​</a:t>
                </a:r>
              </a:p>
            </p:txBody>
          </p:sp>
          <p:sp>
            <p:nvSpPr>
              <p:cNvPr id="145" name="TextBox 145"/>
              <p:cNvSpPr txBox="1"/>
              <p:nvPr/>
            </p:nvSpPr>
            <p:spPr>
              <a:xfrm>
                <a:off x="2002775" y="4768691"/>
                <a:ext cx="528350"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占比 32%​</a:t>
                </a:r>
              </a:p>
            </p:txBody>
          </p:sp>
        </p:grpSp>
        <p:grpSp>
          <p:nvGrpSpPr>
            <p:cNvPr id="156" name="inv-3"/>
            <p:cNvGrpSpPr/>
            <p:nvPr/>
          </p:nvGrpSpPr>
          <p:grpSpPr>
            <a:xfrm>
              <a:off x="2971800" y="3581400"/>
              <a:ext cx="1143000" cy="1428750"/>
              <a:chOff x="2971800" y="3581400"/>
              <a:chExt cx="1143000" cy="1428750"/>
            </a:xfrm>
          </p:grpSpPr>
          <p:sp>
            <p:nvSpPr>
              <p:cNvPr id="147" name="Rectangle 147"/>
              <p:cNvSpPr/>
              <p:nvPr/>
            </p:nvSpPr>
            <p:spPr>
              <a:xfrm>
                <a:off x="2971800" y="3581400"/>
                <a:ext cx="1143000" cy="1428750"/>
              </a:xfrm>
              <a:prstGeom prst="roundRect">
                <a:avLst>
                  <a:gd name="adj" fmla="val 6667"/>
                </a:avLst>
              </a:prstGeom>
              <a:solidFill>
                <a:srgbClr val="F5F8FE"/>
              </a:solidFill>
              <a:ln w="9525">
                <a:solidFill>
                  <a:srgbClr val="C9D5EA"/>
                </a:solidFill>
              </a:ln>
            </p:spPr>
          </p:sp>
          <p:grpSp>
            <p:nvGrpSpPr>
              <p:cNvPr id="152" name="Group 152"/>
              <p:cNvGrpSpPr/>
              <p:nvPr/>
            </p:nvGrpSpPr>
            <p:grpSpPr>
              <a:xfrm>
                <a:off x="3400425" y="3762375"/>
                <a:ext cx="285751" cy="285751"/>
                <a:chOff x="3400425" y="3762375"/>
                <a:chExt cx="285751" cy="285751"/>
              </a:xfrm>
            </p:grpSpPr>
            <p:sp>
              <p:nvSpPr>
                <p:cNvPr id="148" name="Freeform 148"/>
                <p:cNvSpPr/>
                <p:nvPr/>
              </p:nvSpPr>
              <p:spPr>
                <a:xfrm>
                  <a:off x="3432175" y="37623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3813">
                  <a:solidFill>
                    <a:srgbClr val="8A1700"/>
                  </a:solidFill>
                </a:ln>
              </p:spPr>
            </p:sp>
            <p:sp>
              <p:nvSpPr>
                <p:cNvPr id="149" name="Freeform 149"/>
                <p:cNvSpPr/>
                <p:nvPr/>
              </p:nvSpPr>
              <p:spPr>
                <a:xfrm>
                  <a:off x="3400425" y="3952875"/>
                  <a:ext cx="190500" cy="95250"/>
                </a:xfrm>
                <a:custGeom>
                  <a:avLst/>
                  <a:gdLst/>
                  <a:ahLst/>
                  <a:cxnLst/>
                  <a:rect l="l" t="t" r="r" b="b"/>
                  <a:pathLst>
                    <a:path w="190500" h="95250">
                      <a:moveTo>
                        <a:pt x="0" y="95250"/>
                      </a:moveTo>
                      <a:lnTo>
                        <a:pt x="0" y="63500"/>
                      </a:lnTo>
                      <a:cubicBezTo>
                        <a:pt x="0" y="28430"/>
                        <a:pt x="28430" y="0"/>
                        <a:pt x="63500" y="0"/>
                      </a:cubicBezTo>
                      <a:lnTo>
                        <a:pt x="127000" y="0"/>
                      </a:lnTo>
                      <a:cubicBezTo>
                        <a:pt x="162070" y="0"/>
                        <a:pt x="190500" y="28430"/>
                        <a:pt x="190500" y="63500"/>
                      </a:cubicBezTo>
                      <a:lnTo>
                        <a:pt x="190500" y="95250"/>
                      </a:lnTo>
                    </a:path>
                  </a:pathLst>
                </a:custGeom>
                <a:noFill/>
                <a:ln w="23813">
                  <a:solidFill>
                    <a:srgbClr val="8A1700"/>
                  </a:solidFill>
                </a:ln>
              </p:spPr>
            </p:sp>
            <p:sp>
              <p:nvSpPr>
                <p:cNvPr id="150" name="Freeform 150"/>
                <p:cNvSpPr/>
                <p:nvPr/>
              </p:nvSpPr>
              <p:spPr>
                <a:xfrm>
                  <a:off x="3606801" y="3764439"/>
                  <a:ext cx="47750" cy="123031"/>
                </a:xfrm>
                <a:custGeom>
                  <a:avLst/>
                  <a:gdLst/>
                  <a:ahLst/>
                  <a:cxnLst/>
                  <a:rect l="l" t="t" r="r" b="b"/>
                  <a:pathLst>
                    <a:path w="47750" h="123031">
                      <a:moveTo>
                        <a:pt x="0" y="0"/>
                      </a:moveTo>
                      <a:cubicBezTo>
                        <a:pt x="28097" y="7194"/>
                        <a:pt x="47750" y="32512"/>
                        <a:pt x="47750" y="61516"/>
                      </a:cubicBezTo>
                      <a:cubicBezTo>
                        <a:pt x="47750" y="90520"/>
                        <a:pt x="28097" y="115837"/>
                        <a:pt x="0" y="123031"/>
                      </a:cubicBezTo>
                    </a:path>
                  </a:pathLst>
                </a:custGeom>
                <a:noFill/>
                <a:ln w="23813">
                  <a:solidFill>
                    <a:srgbClr val="8A1700"/>
                  </a:solidFill>
                </a:ln>
              </p:spPr>
            </p:sp>
            <p:sp>
              <p:nvSpPr>
                <p:cNvPr id="151" name="Freeform 151"/>
                <p:cNvSpPr/>
                <p:nvPr/>
              </p:nvSpPr>
              <p:spPr>
                <a:xfrm>
                  <a:off x="3638551" y="3955257"/>
                  <a:ext cx="47625" cy="92869"/>
                </a:xfrm>
                <a:custGeom>
                  <a:avLst/>
                  <a:gdLst/>
                  <a:ahLst/>
                  <a:cxnLst/>
                  <a:rect l="l" t="t" r="r" b="b"/>
                  <a:pathLst>
                    <a:path w="47625" h="92869">
                      <a:moveTo>
                        <a:pt x="47625" y="92869"/>
                      </a:moveTo>
                      <a:lnTo>
                        <a:pt x="47625" y="61119"/>
                      </a:lnTo>
                      <a:cubicBezTo>
                        <a:pt x="47459" y="32299"/>
                        <a:pt x="27905" y="7205"/>
                        <a:pt x="0" y="0"/>
                      </a:cubicBezTo>
                    </a:path>
                  </a:pathLst>
                </a:custGeom>
                <a:noFill/>
                <a:ln w="23813">
                  <a:solidFill>
                    <a:srgbClr val="8A1700"/>
                  </a:solidFill>
                </a:ln>
              </p:spPr>
            </p:sp>
          </p:grpSp>
          <p:sp>
            <p:nvSpPr>
              <p:cNvPr id="153" name="TextBox 153"/>
              <p:cNvSpPr txBox="1"/>
              <p:nvPr/>
            </p:nvSpPr>
            <p:spPr>
              <a:xfrm>
                <a:off x="3296222" y="4246245"/>
                <a:ext cx="494157" cy="176212"/>
              </a:xfrm>
              <a:prstGeom prst="rect">
                <a:avLst/>
              </a:prstGeom>
              <a:noFill/>
              <a:ln>
                <a:noFill/>
              </a:ln>
            </p:spPr>
            <p:txBody>
              <a:bodyPr wrap="none" lIns="0" tIns="0" rIns="0" bIns="0" anchor="t" anchorCtr="0">
                <a:spAutoFit/>
              </a:bodyPr>
              <a:lstStyle/>
              <a:p>
                <a:pPr algn="ctr"/>
                <a:r>
                  <a:rPr lang="zh-CN" sz="900" b="1" dirty="0">
                    <a:solidFill>
                      <a:srgbClr val="520E00"/>
                    </a:solidFill>
                    <a:latin typeface="+mn-lt"/>
                    <a:ea typeface="+mn-ea"/>
                    <a:cs typeface="+mn-cs"/>
                  </a:rPr>
                  <a:t>运营团队</a:t>
                </a:r>
              </a:p>
            </p:txBody>
          </p:sp>
          <p:sp>
            <p:nvSpPr>
              <p:cNvPr id="154" name="TextBox 154"/>
              <p:cNvSpPr txBox="1"/>
              <p:nvPr/>
            </p:nvSpPr>
            <p:spPr>
              <a:xfrm>
                <a:off x="3165487" y="4453414"/>
                <a:ext cx="755626" cy="249364"/>
              </a:xfrm>
              <a:prstGeom prst="rect">
                <a:avLst/>
              </a:prstGeom>
              <a:noFill/>
              <a:ln>
                <a:noFill/>
              </a:ln>
            </p:spPr>
            <p:txBody>
              <a:bodyPr wrap="none" lIns="0" tIns="0" rIns="0" bIns="0" anchor="t" anchorCtr="0">
                <a:spAutoFit/>
              </a:bodyPr>
              <a:lstStyle/>
              <a:p>
                <a:pPr algn="ctr"/>
                <a:r>
                  <a:rPr lang="zh-CN" sz="1280" b="1" dirty="0">
                    <a:solidFill>
                      <a:srgbClr val="520E00"/>
                    </a:solidFill>
                    <a:latin typeface="+mn-lt"/>
                    <a:ea typeface="+mn-ea"/>
                    <a:cs typeface="+mn-cs"/>
                  </a:rPr>
                  <a:t>180万元​</a:t>
                </a:r>
              </a:p>
            </p:txBody>
          </p:sp>
          <p:sp>
            <p:nvSpPr>
              <p:cNvPr id="155" name="TextBox 155"/>
              <p:cNvSpPr txBox="1"/>
              <p:nvPr/>
            </p:nvSpPr>
            <p:spPr>
              <a:xfrm>
                <a:off x="3279125" y="4768691"/>
                <a:ext cx="528350" cy="161925"/>
              </a:xfrm>
              <a:prstGeom prst="rect">
                <a:avLst/>
              </a:prstGeom>
              <a:noFill/>
              <a:ln>
                <a:noFill/>
              </a:ln>
            </p:spPr>
            <p:txBody>
              <a:bodyPr wrap="none" lIns="0" tIns="0" rIns="0" bIns="0" anchor="t" anchorCtr="0">
                <a:spAutoFit/>
              </a:bodyPr>
              <a:lstStyle/>
              <a:p>
                <a:pPr algn="ctr"/>
                <a:r>
                  <a:rPr lang="zh-CN" sz="820" dirty="0">
                    <a:solidFill>
                      <a:srgbClr val="60403A"/>
                    </a:solidFill>
                    <a:latin typeface="+mn-lt"/>
                    <a:ea typeface="+mn-ea"/>
                    <a:cs typeface="+mn-cs"/>
                  </a:rPr>
                  <a:t>占比 18%​</a:t>
                </a:r>
              </a:p>
            </p:txBody>
          </p:sp>
        </p:grpSp>
        <p:grpSp>
          <p:nvGrpSpPr>
            <p:cNvPr id="165" name="inv-donut"/>
            <p:cNvGrpSpPr/>
            <p:nvPr/>
          </p:nvGrpSpPr>
          <p:grpSpPr>
            <a:xfrm>
              <a:off x="4059148" y="3809832"/>
              <a:ext cx="1395866" cy="1370554"/>
              <a:chOff x="4059148" y="3809832"/>
              <a:chExt cx="1395866" cy="1370554"/>
            </a:xfrm>
          </p:grpSpPr>
          <p:sp>
            <p:nvSpPr>
              <p:cNvPr id="157" name="Freeform 157"/>
              <p:cNvSpPr/>
              <p:nvPr/>
            </p:nvSpPr>
            <p:spPr>
              <a:xfrm>
                <a:off x="4762500" y="3809896"/>
                <a:ext cx="692514" cy="791632"/>
              </a:xfrm>
              <a:custGeom>
                <a:avLst/>
                <a:gdLst/>
                <a:ahLst/>
                <a:cxnLst/>
                <a:rect l="l" t="t" r="r" b="b"/>
                <a:pathLst>
                  <a:path w="692514" h="791632">
                    <a:moveTo>
                      <a:pt x="0" y="104"/>
                    </a:moveTo>
                    <a:cubicBezTo>
                      <a:pt x="198748" y="0"/>
                      <a:pt x="387181" y="88565"/>
                      <a:pt x="513926" y="241655"/>
                    </a:cubicBezTo>
                    <a:cubicBezTo>
                      <a:pt x="640672" y="394744"/>
                      <a:pt x="692514" y="596395"/>
                      <a:pt x="655320" y="791632"/>
                    </a:cubicBezTo>
                    <a:lnTo>
                      <a:pt x="374332" y="738292"/>
                    </a:lnTo>
                    <a:cubicBezTo>
                      <a:pt x="395628" y="626731"/>
                      <a:pt x="366042" y="511486"/>
                      <a:pt x="293641" y="423979"/>
                    </a:cubicBezTo>
                    <a:cubicBezTo>
                      <a:pt x="221241" y="336472"/>
                      <a:pt x="113575" y="285827"/>
                      <a:pt x="0" y="285854"/>
                    </a:cubicBezTo>
                    <a:close/>
                  </a:path>
                </a:pathLst>
              </a:custGeom>
              <a:solidFill>
                <a:srgbClr val="520E00"/>
              </a:solidFill>
              <a:ln>
                <a:noFill/>
              </a:ln>
            </p:spPr>
          </p:sp>
          <p:sp>
            <p:nvSpPr>
              <p:cNvPr id="158" name="Freeform 158"/>
              <p:cNvSpPr/>
              <p:nvPr/>
            </p:nvSpPr>
            <p:spPr>
              <a:xfrm>
                <a:off x="4371022" y="4548188"/>
                <a:ext cx="1046798" cy="632198"/>
              </a:xfrm>
              <a:custGeom>
                <a:avLst/>
                <a:gdLst/>
                <a:ahLst/>
                <a:cxnLst/>
                <a:rect l="l" t="t" r="r" b="b"/>
                <a:pathLst>
                  <a:path w="1046798" h="632198">
                    <a:moveTo>
                      <a:pt x="1046798" y="53340"/>
                    </a:moveTo>
                    <a:cubicBezTo>
                      <a:pt x="1003980" y="277512"/>
                      <a:pt x="849479" y="464210"/>
                      <a:pt x="637273" y="548204"/>
                    </a:cubicBezTo>
                    <a:cubicBezTo>
                      <a:pt x="425066" y="632198"/>
                      <a:pt x="184642" y="601818"/>
                      <a:pt x="0" y="467678"/>
                    </a:cubicBezTo>
                    <a:lnTo>
                      <a:pt x="167640" y="237172"/>
                    </a:lnTo>
                    <a:cubicBezTo>
                      <a:pt x="273207" y="313830"/>
                      <a:pt x="410658" y="331142"/>
                      <a:pt x="531936" y="283055"/>
                    </a:cubicBezTo>
                    <a:cubicBezTo>
                      <a:pt x="653215" y="234969"/>
                      <a:pt x="741457" y="128171"/>
                      <a:pt x="765810" y="0"/>
                    </a:cubicBezTo>
                    <a:close/>
                  </a:path>
                </a:pathLst>
              </a:custGeom>
              <a:solidFill>
                <a:srgbClr val="C02C0A"/>
              </a:solidFill>
              <a:ln>
                <a:noFill/>
              </a:ln>
            </p:spPr>
          </p:sp>
          <p:sp>
            <p:nvSpPr>
              <p:cNvPr id="159" name="Freeform 159"/>
              <p:cNvSpPr/>
              <p:nvPr/>
            </p:nvSpPr>
            <p:spPr>
              <a:xfrm>
                <a:off x="4059148" y="4351972"/>
                <a:ext cx="479514" cy="663893"/>
              </a:xfrm>
              <a:custGeom>
                <a:avLst/>
                <a:gdLst/>
                <a:ahLst/>
                <a:cxnLst/>
                <a:rect l="l" t="t" r="r" b="b"/>
                <a:pathLst>
                  <a:path w="479514" h="663893">
                    <a:moveTo>
                      <a:pt x="311874" y="663893"/>
                    </a:moveTo>
                    <a:cubicBezTo>
                      <a:pt x="102788" y="512358"/>
                      <a:pt x="0" y="253718"/>
                      <a:pt x="48032" y="0"/>
                    </a:cubicBezTo>
                    <a:lnTo>
                      <a:pt x="329019" y="53340"/>
                    </a:lnTo>
                    <a:cubicBezTo>
                      <a:pt x="301231" y="198489"/>
                      <a:pt x="359887" y="346614"/>
                      <a:pt x="479514" y="433388"/>
                    </a:cubicBezTo>
                    <a:close/>
                  </a:path>
                </a:pathLst>
              </a:custGeom>
              <a:solidFill>
                <a:srgbClr val="E84E2F"/>
              </a:solidFill>
              <a:ln>
                <a:noFill/>
              </a:ln>
            </p:spPr>
          </p:sp>
          <p:sp>
            <p:nvSpPr>
              <p:cNvPr id="160" name="Freeform 160"/>
              <p:cNvSpPr/>
              <p:nvPr/>
            </p:nvSpPr>
            <p:spPr>
              <a:xfrm>
                <a:off x="4107180" y="3809832"/>
                <a:ext cx="655320" cy="595480"/>
              </a:xfrm>
              <a:custGeom>
                <a:avLst/>
                <a:gdLst/>
                <a:ahLst/>
                <a:cxnLst/>
                <a:rect l="l" t="t" r="r" b="b"/>
                <a:pathLst>
                  <a:path w="655320" h="595480">
                    <a:moveTo>
                      <a:pt x="0" y="542140"/>
                    </a:moveTo>
                    <a:cubicBezTo>
                      <a:pt x="59933" y="227546"/>
                      <a:pt x="335068" y="0"/>
                      <a:pt x="655320" y="168"/>
                    </a:cubicBezTo>
                    <a:lnTo>
                      <a:pt x="655320" y="285918"/>
                    </a:lnTo>
                    <a:cubicBezTo>
                      <a:pt x="472412" y="285875"/>
                      <a:pt x="315283" y="415817"/>
                      <a:pt x="280988" y="595480"/>
                    </a:cubicBezTo>
                    <a:close/>
                  </a:path>
                </a:pathLst>
              </a:custGeom>
              <a:solidFill>
                <a:srgbClr val="F5CDC5"/>
              </a:solidFill>
              <a:ln>
                <a:noFill/>
              </a:ln>
            </p:spPr>
          </p:sp>
          <p:sp>
            <p:nvSpPr>
              <p:cNvPr id="161" name="TextBox 161"/>
              <p:cNvSpPr txBox="1"/>
              <p:nvPr/>
            </p:nvSpPr>
            <p:spPr>
              <a:xfrm>
                <a:off x="5030572" y="411003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28%​</a:t>
                </a:r>
              </a:p>
            </p:txBody>
          </p:sp>
          <p:sp>
            <p:nvSpPr>
              <p:cNvPr id="162" name="TextBox 162"/>
              <p:cNvSpPr txBox="1"/>
              <p:nvPr/>
            </p:nvSpPr>
            <p:spPr>
              <a:xfrm>
                <a:off x="4821022" y="489108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32%​</a:t>
                </a:r>
              </a:p>
            </p:txBody>
          </p:sp>
          <p:sp>
            <p:nvSpPr>
              <p:cNvPr id="163" name="TextBox 163"/>
              <p:cNvSpPr txBox="1"/>
              <p:nvPr/>
            </p:nvSpPr>
            <p:spPr>
              <a:xfrm>
                <a:off x="4144747" y="4605338"/>
                <a:ext cx="26395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18%​</a:t>
                </a:r>
              </a:p>
            </p:txBody>
          </p:sp>
          <p:sp>
            <p:nvSpPr>
              <p:cNvPr id="164" name="TextBox 164"/>
              <p:cNvSpPr txBox="1"/>
              <p:nvPr/>
            </p:nvSpPr>
            <p:spPr>
              <a:xfrm>
                <a:off x="4533316" y="4273391"/>
                <a:ext cx="458368" cy="295275"/>
              </a:xfrm>
              <a:prstGeom prst="rect">
                <a:avLst/>
              </a:prstGeom>
              <a:noFill/>
              <a:ln>
                <a:noFill/>
              </a:ln>
            </p:spPr>
            <p:txBody>
              <a:bodyPr wrap="none" lIns="0" tIns="0" rIns="0" bIns="0" anchor="t" anchorCtr="0">
                <a:spAutoFit/>
              </a:bodyPr>
              <a:lstStyle/>
              <a:p>
                <a:pPr algn="ctr">
                  <a:lnSpc>
                    <a:spcPts val="1050"/>
                  </a:lnSpc>
                </a:pPr>
                <a:r>
                  <a:rPr lang="zh-CN" sz="820" b="1" dirty="0">
                    <a:solidFill>
                      <a:srgbClr val="520E00"/>
                    </a:solidFill>
                    <a:latin typeface="+mn-lt"/>
                    <a:ea typeface="+mn-ea"/>
                    <a:cs typeface="+mn-cs"/>
                  </a:rPr>
                  <a:t>合计</a:t>
                </a:r>
                <a:br/>
                <a:r>
                  <a:rPr lang="zh-CN" sz="820" b="1" dirty="0">
                    <a:solidFill>
                      <a:srgbClr val="520E00"/>
                    </a:solidFill>
                    <a:latin typeface="+mn-lt"/>
                    <a:ea typeface="+mn-ea"/>
                    <a:cs typeface="+mn-cs"/>
                  </a:rPr>
                  <a:t>780万元​</a:t>
                </a:r>
              </a:p>
            </p:txBody>
          </p:sp>
        </p:grpSp>
      </p:grpSp>
      <p:grpSp>
        <p:nvGrpSpPr>
          <p:cNvPr id="212" name="expectation"/>
          <p:cNvGrpSpPr/>
          <p:nvPr/>
        </p:nvGrpSpPr>
        <p:grpSpPr>
          <a:xfrm>
            <a:off x="5885476" y="3048000"/>
            <a:ext cx="6077924" cy="2667000"/>
            <a:chOff x="5885476" y="3048000"/>
            <a:chExt cx="6077924" cy="2667000"/>
          </a:xfrm>
        </p:grpSpPr>
        <p:sp>
          <p:nvSpPr>
            <p:cNvPr id="167" name="Rectangle 167"/>
            <p:cNvSpPr/>
            <p:nvPr/>
          </p:nvSpPr>
          <p:spPr>
            <a:xfrm>
              <a:off x="5962650" y="3048000"/>
              <a:ext cx="6000750" cy="2667000"/>
            </a:xfrm>
            <a:prstGeom prst="roundRect">
              <a:avLst>
                <a:gd name="adj" fmla="val 2857"/>
              </a:avLst>
            </a:prstGeom>
            <a:solidFill>
              <a:srgbClr val="FFFFFF"/>
            </a:solidFill>
            <a:ln w="9525">
              <a:solidFill>
                <a:srgbClr val="C9D5EA"/>
              </a:solidFill>
            </a:ln>
          </p:spPr>
        </p:sp>
        <p:sp>
          <p:nvSpPr>
            <p:cNvPr id="168" name="Rectangle 168"/>
            <p:cNvSpPr/>
            <p:nvPr/>
          </p:nvSpPr>
          <p:spPr>
            <a:xfrm>
              <a:off x="5962650" y="3048000"/>
              <a:ext cx="6000750" cy="361950"/>
            </a:xfrm>
            <a:prstGeom prst="roundRect">
              <a:avLst>
                <a:gd name="adj" fmla="val 21053"/>
              </a:avLst>
            </a:prstGeom>
            <a:solidFill>
              <a:srgbClr val="520E00"/>
            </a:solidFill>
            <a:ln>
              <a:noFill/>
            </a:ln>
          </p:spPr>
        </p:sp>
        <p:sp>
          <p:nvSpPr>
            <p:cNvPr id="169" name="Rectangle 169"/>
            <p:cNvSpPr/>
            <p:nvPr/>
          </p:nvSpPr>
          <p:spPr>
            <a:xfrm>
              <a:off x="5962650" y="3257550"/>
              <a:ext cx="6000750" cy="152400"/>
            </a:xfrm>
            <a:prstGeom prst="rect">
              <a:avLst/>
            </a:prstGeom>
            <a:solidFill>
              <a:srgbClr val="520E00"/>
            </a:solidFill>
            <a:ln>
              <a:noFill/>
            </a:ln>
          </p:spPr>
        </p:sp>
        <p:grpSp>
          <p:nvGrpSpPr>
            <p:cNvPr id="174" name="Group 174"/>
            <p:cNvGrpSpPr/>
            <p:nvPr/>
          </p:nvGrpSpPr>
          <p:grpSpPr>
            <a:xfrm>
              <a:off x="6124575" y="3152775"/>
              <a:ext cx="171450" cy="161925"/>
              <a:chOff x="6124575" y="3152775"/>
              <a:chExt cx="171450" cy="161925"/>
            </a:xfrm>
          </p:grpSpPr>
          <p:sp>
            <p:nvSpPr>
              <p:cNvPr id="170" name="Freeform 170"/>
              <p:cNvSpPr/>
              <p:nvPr/>
            </p:nvSpPr>
            <p:spPr>
              <a:xfrm>
                <a:off x="6124575" y="3228975"/>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7145">
                <a:solidFill>
                  <a:srgbClr val="FFFFFF"/>
                </a:solidFill>
              </a:ln>
            </p:spPr>
          </p:sp>
          <p:sp>
            <p:nvSpPr>
              <p:cNvPr id="171" name="Freeform 171"/>
              <p:cNvSpPr/>
              <p:nvPr/>
            </p:nvSpPr>
            <p:spPr>
              <a:xfrm>
                <a:off x="6238875" y="3190875"/>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7145">
                <a:solidFill>
                  <a:srgbClr val="FFFFFF"/>
                </a:solidFill>
              </a:ln>
            </p:spPr>
          </p:sp>
          <p:sp>
            <p:nvSpPr>
              <p:cNvPr id="172" name="Freeform 172"/>
              <p:cNvSpPr/>
              <p:nvPr/>
            </p:nvSpPr>
            <p:spPr>
              <a:xfrm>
                <a:off x="6181725" y="3152775"/>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7145">
                <a:solidFill>
                  <a:srgbClr val="FFFFFF"/>
                </a:solidFill>
              </a:ln>
            </p:spPr>
          </p:sp>
          <p:sp>
            <p:nvSpPr>
              <p:cNvPr id="173" name="Freeform 173"/>
              <p:cNvSpPr/>
              <p:nvPr/>
            </p:nvSpPr>
            <p:spPr>
              <a:xfrm>
                <a:off x="6134100" y="3305175"/>
                <a:ext cx="133350" cy="9525"/>
              </a:xfrm>
              <a:custGeom>
                <a:avLst/>
                <a:gdLst/>
                <a:ahLst/>
                <a:cxnLst/>
                <a:rect l="l" t="t" r="r" b="b"/>
                <a:pathLst>
                  <a:path w="133350" h="9525">
                    <a:moveTo>
                      <a:pt x="0" y="0"/>
                    </a:moveTo>
                    <a:lnTo>
                      <a:pt x="133350" y="0"/>
                    </a:lnTo>
                  </a:path>
                </a:pathLst>
              </a:custGeom>
              <a:noFill/>
              <a:ln w="17145">
                <a:solidFill>
                  <a:srgbClr val="FFFFFF"/>
                </a:solidFill>
              </a:ln>
            </p:spPr>
          </p:sp>
        </p:grpSp>
        <p:sp>
          <p:nvSpPr>
            <p:cNvPr id="175" name="TextBox 175"/>
            <p:cNvSpPr txBox="1"/>
            <p:nvPr/>
          </p:nvSpPr>
          <p:spPr>
            <a:xfrm>
              <a:off x="6414897" y="3180874"/>
              <a:ext cx="3681121"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预期：有效客户增长12%，消费额增长8%，运营成本下降15%​</a:t>
              </a:r>
            </a:p>
          </p:txBody>
        </p:sp>
        <p:grpSp>
          <p:nvGrpSpPr>
            <p:cNvPr id="187" name="gauge-1"/>
            <p:cNvGrpSpPr/>
            <p:nvPr/>
          </p:nvGrpSpPr>
          <p:grpSpPr>
            <a:xfrm>
              <a:off x="5885476" y="3542586"/>
              <a:ext cx="1987729" cy="1619393"/>
              <a:chOff x="5885476" y="3542586"/>
              <a:chExt cx="1987729" cy="1619393"/>
            </a:xfrm>
          </p:grpSpPr>
          <p:sp>
            <p:nvSpPr>
              <p:cNvPr id="176" name="TextBox 176"/>
              <p:cNvSpPr txBox="1"/>
              <p:nvPr/>
            </p:nvSpPr>
            <p:spPr>
              <a:xfrm>
                <a:off x="6514414" y="3552349"/>
                <a:ext cx="801472" cy="190690"/>
              </a:xfrm>
              <a:prstGeom prst="rect">
                <a:avLst/>
              </a:prstGeom>
              <a:noFill/>
              <a:ln>
                <a:noFill/>
              </a:ln>
            </p:spPr>
            <p:txBody>
              <a:bodyPr wrap="none" lIns="0" tIns="0" rIns="0" bIns="0" anchor="t" anchorCtr="0">
                <a:spAutoFit/>
              </a:bodyPr>
              <a:lstStyle/>
              <a:p>
                <a:pPr algn="ctr"/>
                <a:r>
                  <a:rPr lang="zh-CN" sz="980" b="1" dirty="0">
                    <a:solidFill>
                      <a:srgbClr val="520E00"/>
                    </a:solidFill>
                    <a:latin typeface="+mn-lt"/>
                    <a:ea typeface="+mn-ea"/>
                    <a:cs typeface="+mn-cs"/>
                  </a:rPr>
                  <a:t>有效客户增长</a:t>
                </a:r>
              </a:p>
            </p:txBody>
          </p:sp>
          <p:sp>
            <p:nvSpPr>
              <p:cNvPr id="177" name="Freeform 177"/>
              <p:cNvSpPr/>
              <p:nvPr/>
            </p:nvSpPr>
            <p:spPr>
              <a:xfrm>
                <a:off x="6248400" y="3771900"/>
                <a:ext cx="666750" cy="666750"/>
              </a:xfrm>
              <a:custGeom>
                <a:avLst/>
                <a:gdLst/>
                <a:ahLst/>
                <a:cxnLst/>
                <a:rect l="l" t="t" r="r" b="b"/>
                <a:pathLst>
                  <a:path w="666750" h="666750">
                    <a:moveTo>
                      <a:pt x="0" y="666750"/>
                    </a:moveTo>
                    <a:cubicBezTo>
                      <a:pt x="0" y="298514"/>
                      <a:pt x="298514" y="0"/>
                      <a:pt x="666750" y="0"/>
                    </a:cubicBezTo>
                  </a:path>
                </a:pathLst>
              </a:custGeom>
              <a:noFill/>
              <a:ln w="133350">
                <a:solidFill>
                  <a:srgbClr val="F3AC9D"/>
                </a:solidFill>
              </a:ln>
            </p:spPr>
          </p:sp>
          <p:sp>
            <p:nvSpPr>
              <p:cNvPr id="178" name="Freeform 178"/>
              <p:cNvSpPr/>
              <p:nvPr/>
            </p:nvSpPr>
            <p:spPr>
              <a:xfrm>
                <a:off x="6915150" y="3771900"/>
                <a:ext cx="666750" cy="666750"/>
              </a:xfrm>
              <a:custGeom>
                <a:avLst/>
                <a:gdLst/>
                <a:ahLst/>
                <a:cxnLst/>
                <a:rect l="l" t="t" r="r" b="b"/>
                <a:pathLst>
                  <a:path w="666750" h="666750">
                    <a:moveTo>
                      <a:pt x="0" y="0"/>
                    </a:moveTo>
                    <a:cubicBezTo>
                      <a:pt x="368236" y="0"/>
                      <a:pt x="666750" y="298514"/>
                      <a:pt x="666750" y="666750"/>
                    </a:cubicBezTo>
                  </a:path>
                </a:pathLst>
              </a:custGeom>
              <a:noFill/>
              <a:ln w="133350">
                <a:solidFill>
                  <a:srgbClr val="C02C0A"/>
                </a:solidFill>
              </a:ln>
            </p:spPr>
          </p:sp>
          <p:sp>
            <p:nvSpPr>
              <p:cNvPr id="179" name="Line 179"/>
              <p:cNvSpPr/>
              <p:nvPr/>
            </p:nvSpPr>
            <p:spPr>
              <a:xfrm>
                <a:off x="6915150" y="4048125"/>
                <a:ext cx="542925" cy="390525"/>
              </a:xfrm>
              <a:custGeom>
                <a:avLst/>
                <a:gdLst/>
                <a:ahLst/>
                <a:cxnLst/>
                <a:rect l="l" t="t" r="r" b="b"/>
                <a:pathLst>
                  <a:path w="542925" h="390525">
                    <a:moveTo>
                      <a:pt x="0" y="390525"/>
                    </a:moveTo>
                    <a:lnTo>
                      <a:pt x="542925" y="0"/>
                    </a:lnTo>
                  </a:path>
                </a:pathLst>
              </a:custGeom>
              <a:noFill/>
              <a:ln w="38100">
                <a:solidFill>
                  <a:srgbClr val="520E00"/>
                </a:solidFill>
              </a:ln>
            </p:spPr>
          </p:sp>
          <p:sp>
            <p:nvSpPr>
              <p:cNvPr id="180" name="Ellipse 180"/>
              <p:cNvSpPr/>
              <p:nvPr/>
            </p:nvSpPr>
            <p:spPr>
              <a:xfrm>
                <a:off x="6848475" y="4371975"/>
                <a:ext cx="133350" cy="133350"/>
              </a:xfrm>
              <a:prstGeom prst="ellipse">
                <a:avLst/>
              </a:prstGeom>
              <a:solidFill>
                <a:srgbClr val="520E00"/>
              </a:solidFill>
              <a:ln>
                <a:noFill/>
              </a:ln>
            </p:spPr>
          </p:sp>
          <p:sp>
            <p:nvSpPr>
              <p:cNvPr id="181" name="TextBox 181"/>
              <p:cNvSpPr txBox="1"/>
              <p:nvPr/>
            </p:nvSpPr>
            <p:spPr>
              <a:xfrm>
                <a:off x="5885476" y="4552236"/>
                <a:ext cx="291487" cy="140494"/>
              </a:xfrm>
              <a:prstGeom prst="rect">
                <a:avLst/>
              </a:prstGeom>
              <a:noFill/>
              <a:ln>
                <a:noFill/>
              </a:ln>
            </p:spPr>
            <p:txBody>
              <a:bodyPr wrap="none" lIns="0" tIns="0" rIns="0" bIns="0" anchor="t" anchorCtr="0">
                <a:spAutoFit/>
              </a:bodyPr>
              <a:lstStyle/>
              <a:p>
                <a:pPr algn="r"/>
                <a:r>
                  <a:rPr lang="zh-CN" sz="710" dirty="0">
                    <a:solidFill>
                      <a:srgbClr val="6B7280"/>
                    </a:solidFill>
                    <a:latin typeface="+mn-lt"/>
                    <a:ea typeface="+mn-ea"/>
                    <a:cs typeface="+mn-cs"/>
                  </a:rPr>
                  <a:t>-20%​</a:t>
                </a:r>
              </a:p>
            </p:txBody>
          </p:sp>
          <p:sp>
            <p:nvSpPr>
              <p:cNvPr id="182" name="TextBox 182"/>
              <p:cNvSpPr txBox="1"/>
              <p:nvPr/>
            </p:nvSpPr>
            <p:spPr>
              <a:xfrm>
                <a:off x="7634288" y="4552236"/>
                <a:ext cx="238917" cy="140494"/>
              </a:xfrm>
              <a:prstGeom prst="rect">
                <a:avLst/>
              </a:prstGeom>
              <a:noFill/>
              <a:ln>
                <a:noFill/>
              </a:ln>
            </p:spPr>
            <p:txBody>
              <a:bodyPr wrap="none" lIns="0" tIns="0" rIns="0" bIns="0" anchor="t" anchorCtr="0">
                <a:spAutoFit/>
              </a:bodyPr>
              <a:lstStyle/>
              <a:p>
                <a:pPr algn="l"/>
                <a:r>
                  <a:rPr lang="zh-CN" sz="710" dirty="0">
                    <a:solidFill>
                      <a:srgbClr val="6B7280"/>
                    </a:solidFill>
                    <a:latin typeface="+mn-lt"/>
                    <a:ea typeface="+mn-ea"/>
                    <a:cs typeface="+mn-cs"/>
                  </a:rPr>
                  <a:t>20%​</a:t>
                </a:r>
              </a:p>
            </p:txBody>
          </p:sp>
          <p:sp>
            <p:nvSpPr>
              <p:cNvPr id="183" name="TextBox 183"/>
              <p:cNvSpPr txBox="1"/>
              <p:nvPr/>
            </p:nvSpPr>
            <p:spPr>
              <a:xfrm>
                <a:off x="5961676" y="3904536"/>
                <a:ext cx="291487" cy="140494"/>
              </a:xfrm>
              <a:prstGeom prst="rect">
                <a:avLst/>
              </a:prstGeom>
              <a:noFill/>
              <a:ln>
                <a:noFill/>
              </a:ln>
            </p:spPr>
            <p:txBody>
              <a:bodyPr wrap="none" lIns="0" tIns="0" rIns="0" bIns="0" anchor="t" anchorCtr="0">
                <a:spAutoFit/>
              </a:bodyPr>
              <a:lstStyle/>
              <a:p>
                <a:pPr algn="r"/>
                <a:r>
                  <a:rPr lang="zh-CN" sz="710" dirty="0">
                    <a:solidFill>
                      <a:srgbClr val="6B7280"/>
                    </a:solidFill>
                    <a:latin typeface="+mn-lt"/>
                    <a:ea typeface="+mn-ea"/>
                    <a:cs typeface="+mn-cs"/>
                  </a:rPr>
                  <a:t>-10%​</a:t>
                </a:r>
              </a:p>
            </p:txBody>
          </p:sp>
          <p:sp>
            <p:nvSpPr>
              <p:cNvPr id="184" name="TextBox 184"/>
              <p:cNvSpPr txBox="1"/>
              <p:nvPr/>
            </p:nvSpPr>
            <p:spPr>
              <a:xfrm>
                <a:off x="7577138" y="3904536"/>
                <a:ext cx="238917" cy="140494"/>
              </a:xfrm>
              <a:prstGeom prst="rect">
                <a:avLst/>
              </a:prstGeom>
              <a:noFill/>
              <a:ln>
                <a:noFill/>
              </a:ln>
            </p:spPr>
            <p:txBody>
              <a:bodyPr wrap="none" lIns="0" tIns="0" rIns="0" bIns="0" anchor="t" anchorCtr="0">
                <a:spAutoFit/>
              </a:bodyPr>
              <a:lstStyle/>
              <a:p>
                <a:pPr algn="l"/>
                <a:r>
                  <a:rPr lang="zh-CN" sz="710" dirty="0">
                    <a:solidFill>
                      <a:srgbClr val="6B7280"/>
                    </a:solidFill>
                    <a:latin typeface="+mn-lt"/>
                    <a:ea typeface="+mn-ea"/>
                    <a:cs typeface="+mn-cs"/>
                  </a:rPr>
                  <a:t>10%​</a:t>
                </a:r>
              </a:p>
            </p:txBody>
          </p:sp>
          <p:sp>
            <p:nvSpPr>
              <p:cNvPr id="185" name="TextBox 185"/>
              <p:cNvSpPr txBox="1"/>
              <p:nvPr/>
            </p:nvSpPr>
            <p:spPr>
              <a:xfrm>
                <a:off x="6821976" y="3542586"/>
                <a:ext cx="186348" cy="140494"/>
              </a:xfrm>
              <a:prstGeom prst="rect">
                <a:avLst/>
              </a:prstGeom>
              <a:noFill/>
              <a:ln>
                <a:noFill/>
              </a:ln>
            </p:spPr>
            <p:txBody>
              <a:bodyPr wrap="none" lIns="0" tIns="0" rIns="0" bIns="0" anchor="t" anchorCtr="0">
                <a:spAutoFit/>
              </a:bodyPr>
              <a:lstStyle/>
              <a:p>
                <a:pPr algn="ctr"/>
                <a:r>
                  <a:rPr lang="zh-CN" sz="710" dirty="0">
                    <a:solidFill>
                      <a:srgbClr val="6B7280"/>
                    </a:solidFill>
                    <a:latin typeface="+mn-lt"/>
                    <a:ea typeface="+mn-ea"/>
                    <a:cs typeface="+mn-cs"/>
                  </a:rPr>
                  <a:t>0%​</a:t>
                </a:r>
              </a:p>
            </p:txBody>
          </p:sp>
          <p:sp>
            <p:nvSpPr>
              <p:cNvPr id="186" name="TextBox 186"/>
              <p:cNvSpPr txBox="1"/>
              <p:nvPr/>
            </p:nvSpPr>
            <p:spPr>
              <a:xfrm>
                <a:off x="6522006" y="4780598"/>
                <a:ext cx="786288" cy="381381"/>
              </a:xfrm>
              <a:prstGeom prst="rect">
                <a:avLst/>
              </a:prstGeom>
              <a:noFill/>
              <a:ln>
                <a:noFill/>
              </a:ln>
            </p:spPr>
            <p:txBody>
              <a:bodyPr wrap="none" lIns="0" tIns="0" rIns="0" bIns="0" anchor="t" anchorCtr="0">
                <a:spAutoFit/>
              </a:bodyPr>
              <a:lstStyle/>
              <a:p>
                <a:pPr algn="ctr"/>
                <a:r>
                  <a:rPr lang="zh-CN" sz="1950" b="1" dirty="0">
                    <a:solidFill>
                      <a:srgbClr val="C02C0A"/>
                    </a:solidFill>
                    <a:latin typeface="+mn-lt"/>
                    <a:ea typeface="+mn-ea"/>
                    <a:cs typeface="+mn-cs"/>
                  </a:rPr>
                  <a:t>12%</a:t>
                </a:r>
                <a:r>
                  <a:rPr lang="zh-CN" sz="1350" b="1" dirty="0">
                    <a:solidFill>
                      <a:srgbClr val="C02C0A"/>
                    </a:solidFill>
                    <a:latin typeface="+mn-lt"/>
                    <a:ea typeface="+mn-ea"/>
                    <a:cs typeface="+mn-cs"/>
                  </a:rPr>
                  <a:t>↑</a:t>
                </a:r>
                <a:r>
                  <a:rPr lang="zh-CN" sz="1950" b="1" dirty="0">
                    <a:solidFill>
                      <a:srgbClr val="C02C0A"/>
                    </a:solidFill>
                    <a:latin typeface="+mn-lt"/>
                    <a:ea typeface="+mn-ea"/>
                    <a:cs typeface="+mn-cs"/>
                  </a:rPr>
                  <a:t>​</a:t>
                </a:r>
              </a:p>
            </p:txBody>
          </p:sp>
        </p:grpSp>
        <p:grpSp>
          <p:nvGrpSpPr>
            <p:cNvPr id="199" name="gauge-2"/>
            <p:cNvGrpSpPr/>
            <p:nvPr/>
          </p:nvGrpSpPr>
          <p:grpSpPr>
            <a:xfrm>
              <a:off x="7885726" y="3542586"/>
              <a:ext cx="1987729" cy="1619393"/>
              <a:chOff x="7885726" y="3542586"/>
              <a:chExt cx="1987729" cy="1619393"/>
            </a:xfrm>
          </p:grpSpPr>
          <p:sp>
            <p:nvSpPr>
              <p:cNvPr id="188" name="TextBox 188"/>
              <p:cNvSpPr txBox="1"/>
              <p:nvPr/>
            </p:nvSpPr>
            <p:spPr>
              <a:xfrm>
                <a:off x="8580628" y="3552349"/>
                <a:ext cx="669544" cy="190690"/>
              </a:xfrm>
              <a:prstGeom prst="rect">
                <a:avLst/>
              </a:prstGeom>
              <a:noFill/>
              <a:ln>
                <a:noFill/>
              </a:ln>
            </p:spPr>
            <p:txBody>
              <a:bodyPr wrap="none" lIns="0" tIns="0" rIns="0" bIns="0" anchor="t" anchorCtr="0">
                <a:spAutoFit/>
              </a:bodyPr>
              <a:lstStyle/>
              <a:p>
                <a:pPr algn="ctr"/>
                <a:r>
                  <a:rPr lang="zh-CN" sz="980" b="1" dirty="0">
                    <a:solidFill>
                      <a:srgbClr val="520E00"/>
                    </a:solidFill>
                    <a:latin typeface="+mn-lt"/>
                    <a:ea typeface="+mn-ea"/>
                    <a:cs typeface="+mn-cs"/>
                  </a:rPr>
                  <a:t>消费额增长</a:t>
                </a:r>
              </a:p>
            </p:txBody>
          </p:sp>
          <p:sp>
            <p:nvSpPr>
              <p:cNvPr id="189" name="Freeform 189"/>
              <p:cNvSpPr/>
              <p:nvPr/>
            </p:nvSpPr>
            <p:spPr>
              <a:xfrm>
                <a:off x="8248650" y="3771900"/>
                <a:ext cx="666750" cy="666750"/>
              </a:xfrm>
              <a:custGeom>
                <a:avLst/>
                <a:gdLst/>
                <a:ahLst/>
                <a:cxnLst/>
                <a:rect l="l" t="t" r="r" b="b"/>
                <a:pathLst>
                  <a:path w="666750" h="666750">
                    <a:moveTo>
                      <a:pt x="0" y="666750"/>
                    </a:moveTo>
                    <a:cubicBezTo>
                      <a:pt x="0" y="298514"/>
                      <a:pt x="298514" y="0"/>
                      <a:pt x="666750" y="0"/>
                    </a:cubicBezTo>
                  </a:path>
                </a:pathLst>
              </a:custGeom>
              <a:noFill/>
              <a:ln w="133350">
                <a:solidFill>
                  <a:srgbClr val="F3AC9D"/>
                </a:solidFill>
              </a:ln>
            </p:spPr>
          </p:sp>
          <p:sp>
            <p:nvSpPr>
              <p:cNvPr id="190" name="Freeform 190"/>
              <p:cNvSpPr/>
              <p:nvPr/>
            </p:nvSpPr>
            <p:spPr>
              <a:xfrm>
                <a:off x="8915400" y="3771900"/>
                <a:ext cx="666750" cy="666750"/>
              </a:xfrm>
              <a:custGeom>
                <a:avLst/>
                <a:gdLst/>
                <a:ahLst/>
                <a:cxnLst/>
                <a:rect l="l" t="t" r="r" b="b"/>
                <a:pathLst>
                  <a:path w="666750" h="666750">
                    <a:moveTo>
                      <a:pt x="0" y="0"/>
                    </a:moveTo>
                    <a:cubicBezTo>
                      <a:pt x="368236" y="0"/>
                      <a:pt x="666750" y="298514"/>
                      <a:pt x="666750" y="666750"/>
                    </a:cubicBezTo>
                  </a:path>
                </a:pathLst>
              </a:custGeom>
              <a:noFill/>
              <a:ln w="133350">
                <a:solidFill>
                  <a:srgbClr val="C02C0A"/>
                </a:solidFill>
              </a:ln>
            </p:spPr>
          </p:sp>
          <p:sp>
            <p:nvSpPr>
              <p:cNvPr id="191" name="Line 191"/>
              <p:cNvSpPr/>
              <p:nvPr/>
            </p:nvSpPr>
            <p:spPr>
              <a:xfrm>
                <a:off x="8915400" y="3905250"/>
                <a:ext cx="323850" cy="533400"/>
              </a:xfrm>
              <a:custGeom>
                <a:avLst/>
                <a:gdLst/>
                <a:ahLst/>
                <a:cxnLst/>
                <a:rect l="l" t="t" r="r" b="b"/>
                <a:pathLst>
                  <a:path w="323850" h="533400">
                    <a:moveTo>
                      <a:pt x="0" y="533400"/>
                    </a:moveTo>
                    <a:lnTo>
                      <a:pt x="323850" y="0"/>
                    </a:lnTo>
                  </a:path>
                </a:pathLst>
              </a:custGeom>
              <a:noFill/>
              <a:ln w="38100">
                <a:solidFill>
                  <a:srgbClr val="520E00"/>
                </a:solidFill>
              </a:ln>
            </p:spPr>
          </p:sp>
          <p:sp>
            <p:nvSpPr>
              <p:cNvPr id="192" name="Ellipse 192"/>
              <p:cNvSpPr/>
              <p:nvPr/>
            </p:nvSpPr>
            <p:spPr>
              <a:xfrm>
                <a:off x="8848725" y="4371975"/>
                <a:ext cx="133350" cy="133350"/>
              </a:xfrm>
              <a:prstGeom prst="ellipse">
                <a:avLst/>
              </a:prstGeom>
              <a:solidFill>
                <a:srgbClr val="520E00"/>
              </a:solidFill>
              <a:ln>
                <a:noFill/>
              </a:ln>
            </p:spPr>
          </p:sp>
          <p:sp>
            <p:nvSpPr>
              <p:cNvPr id="193" name="TextBox 193"/>
              <p:cNvSpPr txBox="1"/>
              <p:nvPr/>
            </p:nvSpPr>
            <p:spPr>
              <a:xfrm>
                <a:off x="7885726" y="4552236"/>
                <a:ext cx="291487" cy="140494"/>
              </a:xfrm>
              <a:prstGeom prst="rect">
                <a:avLst/>
              </a:prstGeom>
              <a:noFill/>
              <a:ln>
                <a:noFill/>
              </a:ln>
            </p:spPr>
            <p:txBody>
              <a:bodyPr wrap="none" lIns="0" tIns="0" rIns="0" bIns="0" anchor="t" anchorCtr="0">
                <a:spAutoFit/>
              </a:bodyPr>
              <a:lstStyle/>
              <a:p>
                <a:pPr algn="r"/>
                <a:r>
                  <a:rPr lang="zh-CN" sz="710" dirty="0">
                    <a:solidFill>
                      <a:srgbClr val="6B7280"/>
                    </a:solidFill>
                    <a:latin typeface="+mn-lt"/>
                    <a:ea typeface="+mn-ea"/>
                    <a:cs typeface="+mn-cs"/>
                  </a:rPr>
                  <a:t>-20%​</a:t>
                </a:r>
              </a:p>
            </p:txBody>
          </p:sp>
          <p:sp>
            <p:nvSpPr>
              <p:cNvPr id="194" name="TextBox 194"/>
              <p:cNvSpPr txBox="1"/>
              <p:nvPr/>
            </p:nvSpPr>
            <p:spPr>
              <a:xfrm>
                <a:off x="9634538" y="4552236"/>
                <a:ext cx="238917" cy="140494"/>
              </a:xfrm>
              <a:prstGeom prst="rect">
                <a:avLst/>
              </a:prstGeom>
              <a:noFill/>
              <a:ln>
                <a:noFill/>
              </a:ln>
            </p:spPr>
            <p:txBody>
              <a:bodyPr wrap="none" lIns="0" tIns="0" rIns="0" bIns="0" anchor="t" anchorCtr="0">
                <a:spAutoFit/>
              </a:bodyPr>
              <a:lstStyle/>
              <a:p>
                <a:pPr algn="l"/>
                <a:r>
                  <a:rPr lang="zh-CN" sz="710" dirty="0">
                    <a:solidFill>
                      <a:srgbClr val="6B7280"/>
                    </a:solidFill>
                    <a:latin typeface="+mn-lt"/>
                    <a:ea typeface="+mn-ea"/>
                    <a:cs typeface="+mn-cs"/>
                  </a:rPr>
                  <a:t>20%​</a:t>
                </a:r>
              </a:p>
            </p:txBody>
          </p:sp>
          <p:sp>
            <p:nvSpPr>
              <p:cNvPr id="195" name="TextBox 195"/>
              <p:cNvSpPr txBox="1"/>
              <p:nvPr/>
            </p:nvSpPr>
            <p:spPr>
              <a:xfrm>
                <a:off x="7961926" y="3904536"/>
                <a:ext cx="291487" cy="140494"/>
              </a:xfrm>
              <a:prstGeom prst="rect">
                <a:avLst/>
              </a:prstGeom>
              <a:noFill/>
              <a:ln>
                <a:noFill/>
              </a:ln>
            </p:spPr>
            <p:txBody>
              <a:bodyPr wrap="none" lIns="0" tIns="0" rIns="0" bIns="0" anchor="t" anchorCtr="0">
                <a:spAutoFit/>
              </a:bodyPr>
              <a:lstStyle/>
              <a:p>
                <a:pPr algn="r"/>
                <a:r>
                  <a:rPr lang="zh-CN" sz="710" dirty="0">
                    <a:solidFill>
                      <a:srgbClr val="6B7280"/>
                    </a:solidFill>
                    <a:latin typeface="+mn-lt"/>
                    <a:ea typeface="+mn-ea"/>
                    <a:cs typeface="+mn-cs"/>
                  </a:rPr>
                  <a:t>-10%​</a:t>
                </a:r>
              </a:p>
            </p:txBody>
          </p:sp>
          <p:sp>
            <p:nvSpPr>
              <p:cNvPr id="196" name="TextBox 196"/>
              <p:cNvSpPr txBox="1"/>
              <p:nvPr/>
            </p:nvSpPr>
            <p:spPr>
              <a:xfrm>
                <a:off x="9577388" y="3904536"/>
                <a:ext cx="238917" cy="140494"/>
              </a:xfrm>
              <a:prstGeom prst="rect">
                <a:avLst/>
              </a:prstGeom>
              <a:noFill/>
              <a:ln>
                <a:noFill/>
              </a:ln>
            </p:spPr>
            <p:txBody>
              <a:bodyPr wrap="none" lIns="0" tIns="0" rIns="0" bIns="0" anchor="t" anchorCtr="0">
                <a:spAutoFit/>
              </a:bodyPr>
              <a:lstStyle/>
              <a:p>
                <a:pPr algn="l"/>
                <a:r>
                  <a:rPr lang="zh-CN" sz="710" dirty="0">
                    <a:solidFill>
                      <a:srgbClr val="6B7280"/>
                    </a:solidFill>
                    <a:latin typeface="+mn-lt"/>
                    <a:ea typeface="+mn-ea"/>
                    <a:cs typeface="+mn-cs"/>
                  </a:rPr>
                  <a:t>10%​</a:t>
                </a:r>
              </a:p>
            </p:txBody>
          </p:sp>
          <p:sp>
            <p:nvSpPr>
              <p:cNvPr id="197" name="TextBox 197"/>
              <p:cNvSpPr txBox="1"/>
              <p:nvPr/>
            </p:nvSpPr>
            <p:spPr>
              <a:xfrm>
                <a:off x="8822226" y="3542586"/>
                <a:ext cx="186348" cy="140494"/>
              </a:xfrm>
              <a:prstGeom prst="rect">
                <a:avLst/>
              </a:prstGeom>
              <a:noFill/>
              <a:ln>
                <a:noFill/>
              </a:ln>
            </p:spPr>
            <p:txBody>
              <a:bodyPr wrap="none" lIns="0" tIns="0" rIns="0" bIns="0" anchor="t" anchorCtr="0">
                <a:spAutoFit/>
              </a:bodyPr>
              <a:lstStyle/>
              <a:p>
                <a:pPr algn="ctr"/>
                <a:r>
                  <a:rPr lang="zh-CN" sz="710" dirty="0">
                    <a:solidFill>
                      <a:srgbClr val="6B7280"/>
                    </a:solidFill>
                    <a:latin typeface="+mn-lt"/>
                    <a:ea typeface="+mn-ea"/>
                    <a:cs typeface="+mn-cs"/>
                  </a:rPr>
                  <a:t>0%​</a:t>
                </a:r>
              </a:p>
            </p:txBody>
          </p:sp>
          <p:sp>
            <p:nvSpPr>
              <p:cNvPr id="198" name="TextBox 198"/>
              <p:cNvSpPr txBox="1"/>
              <p:nvPr/>
            </p:nvSpPr>
            <p:spPr>
              <a:xfrm>
                <a:off x="8598056" y="4780598"/>
                <a:ext cx="634689" cy="381381"/>
              </a:xfrm>
              <a:prstGeom prst="rect">
                <a:avLst/>
              </a:prstGeom>
              <a:noFill/>
              <a:ln>
                <a:noFill/>
              </a:ln>
            </p:spPr>
            <p:txBody>
              <a:bodyPr wrap="none" lIns="0" tIns="0" rIns="0" bIns="0" anchor="t" anchorCtr="0">
                <a:spAutoFit/>
              </a:bodyPr>
              <a:lstStyle/>
              <a:p>
                <a:pPr algn="ctr"/>
                <a:r>
                  <a:rPr lang="zh-CN" sz="1950" b="1" dirty="0">
                    <a:solidFill>
                      <a:srgbClr val="C02C0A"/>
                    </a:solidFill>
                    <a:latin typeface="+mn-lt"/>
                    <a:ea typeface="+mn-ea"/>
                    <a:cs typeface="+mn-cs"/>
                  </a:rPr>
                  <a:t>8%</a:t>
                </a:r>
                <a:r>
                  <a:rPr lang="zh-CN" sz="1350" b="1" dirty="0">
                    <a:solidFill>
                      <a:srgbClr val="C02C0A"/>
                    </a:solidFill>
                    <a:latin typeface="+mn-lt"/>
                    <a:ea typeface="+mn-ea"/>
                    <a:cs typeface="+mn-cs"/>
                  </a:rPr>
                  <a:t>↑</a:t>
                </a:r>
                <a:r>
                  <a:rPr lang="zh-CN" sz="1950" b="1" dirty="0">
                    <a:solidFill>
                      <a:srgbClr val="C02C0A"/>
                    </a:solidFill>
                    <a:latin typeface="+mn-lt"/>
                    <a:ea typeface="+mn-ea"/>
                    <a:cs typeface="+mn-cs"/>
                  </a:rPr>
                  <a:t>​</a:t>
                </a:r>
              </a:p>
            </p:txBody>
          </p:sp>
        </p:grpSp>
        <p:grpSp>
          <p:nvGrpSpPr>
            <p:cNvPr id="211" name="gauge-3"/>
            <p:cNvGrpSpPr/>
            <p:nvPr/>
          </p:nvGrpSpPr>
          <p:grpSpPr>
            <a:xfrm>
              <a:off x="9885976" y="3542586"/>
              <a:ext cx="1987729" cy="1619393"/>
              <a:chOff x="9885976" y="3542586"/>
              <a:chExt cx="1987729" cy="1619393"/>
            </a:xfrm>
          </p:grpSpPr>
          <p:sp>
            <p:nvSpPr>
              <p:cNvPr id="200" name="TextBox 200"/>
              <p:cNvSpPr txBox="1"/>
              <p:nvPr/>
            </p:nvSpPr>
            <p:spPr>
              <a:xfrm>
                <a:off x="10514914" y="3552349"/>
                <a:ext cx="801472" cy="190690"/>
              </a:xfrm>
              <a:prstGeom prst="rect">
                <a:avLst/>
              </a:prstGeom>
              <a:noFill/>
              <a:ln>
                <a:noFill/>
              </a:ln>
            </p:spPr>
            <p:txBody>
              <a:bodyPr wrap="none" lIns="0" tIns="0" rIns="0" bIns="0" anchor="t" anchorCtr="0">
                <a:spAutoFit/>
              </a:bodyPr>
              <a:lstStyle/>
              <a:p>
                <a:pPr algn="ctr"/>
                <a:r>
                  <a:rPr lang="zh-CN" sz="980" b="1" dirty="0">
                    <a:solidFill>
                      <a:srgbClr val="520E00"/>
                    </a:solidFill>
                    <a:latin typeface="+mn-lt"/>
                    <a:ea typeface="+mn-ea"/>
                    <a:cs typeface="+mn-cs"/>
                  </a:rPr>
                  <a:t>运营成本下降</a:t>
                </a:r>
              </a:p>
            </p:txBody>
          </p:sp>
          <p:sp>
            <p:nvSpPr>
              <p:cNvPr id="201" name="Freeform 201"/>
              <p:cNvSpPr/>
              <p:nvPr/>
            </p:nvSpPr>
            <p:spPr>
              <a:xfrm>
                <a:off x="10248900" y="3771900"/>
                <a:ext cx="666750" cy="666750"/>
              </a:xfrm>
              <a:custGeom>
                <a:avLst/>
                <a:gdLst/>
                <a:ahLst/>
                <a:cxnLst/>
                <a:rect l="l" t="t" r="r" b="b"/>
                <a:pathLst>
                  <a:path w="666750" h="666750">
                    <a:moveTo>
                      <a:pt x="0" y="666750"/>
                    </a:moveTo>
                    <a:cubicBezTo>
                      <a:pt x="0" y="298514"/>
                      <a:pt x="298514" y="0"/>
                      <a:pt x="666750" y="0"/>
                    </a:cubicBezTo>
                  </a:path>
                </a:pathLst>
              </a:custGeom>
              <a:noFill/>
              <a:ln w="133350">
                <a:solidFill>
                  <a:srgbClr val="F3AC9D"/>
                </a:solidFill>
              </a:ln>
            </p:spPr>
          </p:sp>
          <p:sp>
            <p:nvSpPr>
              <p:cNvPr id="202" name="Freeform 202"/>
              <p:cNvSpPr/>
              <p:nvPr/>
            </p:nvSpPr>
            <p:spPr>
              <a:xfrm>
                <a:off x="10915650" y="3771900"/>
                <a:ext cx="666750" cy="666750"/>
              </a:xfrm>
              <a:custGeom>
                <a:avLst/>
                <a:gdLst/>
                <a:ahLst/>
                <a:cxnLst/>
                <a:rect l="l" t="t" r="r" b="b"/>
                <a:pathLst>
                  <a:path w="666750" h="666750">
                    <a:moveTo>
                      <a:pt x="0" y="0"/>
                    </a:moveTo>
                    <a:cubicBezTo>
                      <a:pt x="368236" y="0"/>
                      <a:pt x="666750" y="298514"/>
                      <a:pt x="666750" y="666750"/>
                    </a:cubicBezTo>
                  </a:path>
                </a:pathLst>
              </a:custGeom>
              <a:noFill/>
              <a:ln w="133350">
                <a:solidFill>
                  <a:srgbClr val="9E331E"/>
                </a:solidFill>
              </a:ln>
            </p:spPr>
          </p:sp>
          <p:sp>
            <p:nvSpPr>
              <p:cNvPr id="203" name="Line 203"/>
              <p:cNvSpPr/>
              <p:nvPr/>
            </p:nvSpPr>
            <p:spPr>
              <a:xfrm>
                <a:off x="10915650" y="4114800"/>
                <a:ext cx="419100" cy="323850"/>
              </a:xfrm>
              <a:custGeom>
                <a:avLst/>
                <a:gdLst/>
                <a:ahLst/>
                <a:cxnLst/>
                <a:rect l="l" t="t" r="r" b="b"/>
                <a:pathLst>
                  <a:path w="419100" h="323850">
                    <a:moveTo>
                      <a:pt x="0" y="323850"/>
                    </a:moveTo>
                    <a:lnTo>
                      <a:pt x="419100" y="0"/>
                    </a:lnTo>
                  </a:path>
                </a:pathLst>
              </a:custGeom>
              <a:noFill/>
              <a:ln w="38100">
                <a:solidFill>
                  <a:srgbClr val="520E00"/>
                </a:solidFill>
              </a:ln>
            </p:spPr>
          </p:sp>
          <p:sp>
            <p:nvSpPr>
              <p:cNvPr id="204" name="Ellipse 204"/>
              <p:cNvSpPr/>
              <p:nvPr/>
            </p:nvSpPr>
            <p:spPr>
              <a:xfrm>
                <a:off x="10848975" y="4371975"/>
                <a:ext cx="133350" cy="133350"/>
              </a:xfrm>
              <a:prstGeom prst="ellipse">
                <a:avLst/>
              </a:prstGeom>
              <a:solidFill>
                <a:srgbClr val="520E00"/>
              </a:solidFill>
              <a:ln>
                <a:noFill/>
              </a:ln>
            </p:spPr>
          </p:sp>
          <p:sp>
            <p:nvSpPr>
              <p:cNvPr id="205" name="TextBox 205"/>
              <p:cNvSpPr txBox="1"/>
              <p:nvPr/>
            </p:nvSpPr>
            <p:spPr>
              <a:xfrm>
                <a:off x="9885976" y="4552236"/>
                <a:ext cx="291487" cy="140494"/>
              </a:xfrm>
              <a:prstGeom prst="rect">
                <a:avLst/>
              </a:prstGeom>
              <a:noFill/>
              <a:ln>
                <a:noFill/>
              </a:ln>
            </p:spPr>
            <p:txBody>
              <a:bodyPr wrap="none" lIns="0" tIns="0" rIns="0" bIns="0" anchor="t" anchorCtr="0">
                <a:spAutoFit/>
              </a:bodyPr>
              <a:lstStyle/>
              <a:p>
                <a:pPr algn="r"/>
                <a:r>
                  <a:rPr lang="zh-CN" sz="710" dirty="0">
                    <a:solidFill>
                      <a:srgbClr val="6B7280"/>
                    </a:solidFill>
                    <a:latin typeface="+mn-lt"/>
                    <a:ea typeface="+mn-ea"/>
                    <a:cs typeface="+mn-cs"/>
                  </a:rPr>
                  <a:t>-20%​</a:t>
                </a:r>
              </a:p>
            </p:txBody>
          </p:sp>
          <p:sp>
            <p:nvSpPr>
              <p:cNvPr id="206" name="TextBox 206"/>
              <p:cNvSpPr txBox="1"/>
              <p:nvPr/>
            </p:nvSpPr>
            <p:spPr>
              <a:xfrm>
                <a:off x="11634788" y="4552236"/>
                <a:ext cx="238917" cy="140494"/>
              </a:xfrm>
              <a:prstGeom prst="rect">
                <a:avLst/>
              </a:prstGeom>
              <a:noFill/>
              <a:ln>
                <a:noFill/>
              </a:ln>
            </p:spPr>
            <p:txBody>
              <a:bodyPr wrap="none" lIns="0" tIns="0" rIns="0" bIns="0" anchor="t" anchorCtr="0">
                <a:spAutoFit/>
              </a:bodyPr>
              <a:lstStyle/>
              <a:p>
                <a:pPr algn="l"/>
                <a:r>
                  <a:rPr lang="zh-CN" sz="710" dirty="0">
                    <a:solidFill>
                      <a:srgbClr val="6B7280"/>
                    </a:solidFill>
                    <a:latin typeface="+mn-lt"/>
                    <a:ea typeface="+mn-ea"/>
                    <a:cs typeface="+mn-cs"/>
                  </a:rPr>
                  <a:t>20%​</a:t>
                </a:r>
              </a:p>
            </p:txBody>
          </p:sp>
          <p:sp>
            <p:nvSpPr>
              <p:cNvPr id="207" name="TextBox 207"/>
              <p:cNvSpPr txBox="1"/>
              <p:nvPr/>
            </p:nvSpPr>
            <p:spPr>
              <a:xfrm>
                <a:off x="9962176" y="3904536"/>
                <a:ext cx="291487" cy="140494"/>
              </a:xfrm>
              <a:prstGeom prst="rect">
                <a:avLst/>
              </a:prstGeom>
              <a:noFill/>
              <a:ln>
                <a:noFill/>
              </a:ln>
            </p:spPr>
            <p:txBody>
              <a:bodyPr wrap="none" lIns="0" tIns="0" rIns="0" bIns="0" anchor="t" anchorCtr="0">
                <a:spAutoFit/>
              </a:bodyPr>
              <a:lstStyle/>
              <a:p>
                <a:pPr algn="r"/>
                <a:r>
                  <a:rPr lang="zh-CN" sz="710" dirty="0">
                    <a:solidFill>
                      <a:srgbClr val="6B7280"/>
                    </a:solidFill>
                    <a:latin typeface="+mn-lt"/>
                    <a:ea typeface="+mn-ea"/>
                    <a:cs typeface="+mn-cs"/>
                  </a:rPr>
                  <a:t>-10%​</a:t>
                </a:r>
              </a:p>
            </p:txBody>
          </p:sp>
          <p:sp>
            <p:nvSpPr>
              <p:cNvPr id="208" name="TextBox 208"/>
              <p:cNvSpPr txBox="1"/>
              <p:nvPr/>
            </p:nvSpPr>
            <p:spPr>
              <a:xfrm>
                <a:off x="11577638" y="3904536"/>
                <a:ext cx="238917" cy="140494"/>
              </a:xfrm>
              <a:prstGeom prst="rect">
                <a:avLst/>
              </a:prstGeom>
              <a:noFill/>
              <a:ln>
                <a:noFill/>
              </a:ln>
            </p:spPr>
            <p:txBody>
              <a:bodyPr wrap="none" lIns="0" tIns="0" rIns="0" bIns="0" anchor="t" anchorCtr="0">
                <a:spAutoFit/>
              </a:bodyPr>
              <a:lstStyle/>
              <a:p>
                <a:pPr algn="l"/>
                <a:r>
                  <a:rPr lang="zh-CN" sz="710" dirty="0">
                    <a:solidFill>
                      <a:srgbClr val="6B7280"/>
                    </a:solidFill>
                    <a:latin typeface="+mn-lt"/>
                    <a:ea typeface="+mn-ea"/>
                    <a:cs typeface="+mn-cs"/>
                  </a:rPr>
                  <a:t>10%​</a:t>
                </a:r>
              </a:p>
            </p:txBody>
          </p:sp>
          <p:sp>
            <p:nvSpPr>
              <p:cNvPr id="209" name="TextBox 209"/>
              <p:cNvSpPr txBox="1"/>
              <p:nvPr/>
            </p:nvSpPr>
            <p:spPr>
              <a:xfrm>
                <a:off x="10822476" y="3542586"/>
                <a:ext cx="186348" cy="140494"/>
              </a:xfrm>
              <a:prstGeom prst="rect">
                <a:avLst/>
              </a:prstGeom>
              <a:noFill/>
              <a:ln>
                <a:noFill/>
              </a:ln>
            </p:spPr>
            <p:txBody>
              <a:bodyPr wrap="none" lIns="0" tIns="0" rIns="0" bIns="0" anchor="t" anchorCtr="0">
                <a:spAutoFit/>
              </a:bodyPr>
              <a:lstStyle/>
              <a:p>
                <a:pPr algn="ctr"/>
                <a:r>
                  <a:rPr lang="zh-CN" sz="710" dirty="0">
                    <a:solidFill>
                      <a:srgbClr val="6B7280"/>
                    </a:solidFill>
                    <a:latin typeface="+mn-lt"/>
                    <a:ea typeface="+mn-ea"/>
                    <a:cs typeface="+mn-cs"/>
                  </a:rPr>
                  <a:t>0%​</a:t>
                </a:r>
              </a:p>
            </p:txBody>
          </p:sp>
          <p:sp>
            <p:nvSpPr>
              <p:cNvPr id="210" name="TextBox 210"/>
              <p:cNvSpPr txBox="1"/>
              <p:nvPr/>
            </p:nvSpPr>
            <p:spPr>
              <a:xfrm>
                <a:off x="10522506" y="4780598"/>
                <a:ext cx="786288" cy="381381"/>
              </a:xfrm>
              <a:prstGeom prst="rect">
                <a:avLst/>
              </a:prstGeom>
              <a:noFill/>
              <a:ln>
                <a:noFill/>
              </a:ln>
            </p:spPr>
            <p:txBody>
              <a:bodyPr wrap="none" lIns="0" tIns="0" rIns="0" bIns="0" anchor="t" anchorCtr="0">
                <a:spAutoFit/>
              </a:bodyPr>
              <a:lstStyle/>
              <a:p>
                <a:pPr algn="ctr"/>
                <a:r>
                  <a:rPr lang="zh-CN" sz="1950" b="1" dirty="0">
                    <a:solidFill>
                      <a:srgbClr val="9E331E"/>
                    </a:solidFill>
                    <a:latin typeface="+mn-lt"/>
                    <a:ea typeface="+mn-ea"/>
                    <a:cs typeface="+mn-cs"/>
                  </a:rPr>
                  <a:t>15%</a:t>
                </a:r>
                <a:r>
                  <a:rPr lang="zh-CN" sz="1350" b="1" dirty="0">
                    <a:solidFill>
                      <a:srgbClr val="9E331E"/>
                    </a:solidFill>
                    <a:latin typeface="+mn-lt"/>
                    <a:ea typeface="+mn-ea"/>
                    <a:cs typeface="+mn-cs"/>
                  </a:rPr>
                  <a:t>↓</a:t>
                </a:r>
                <a:r>
                  <a:rPr lang="zh-CN" sz="1950" b="1" dirty="0">
                    <a:solidFill>
                      <a:srgbClr val="9E331E"/>
                    </a:solidFill>
                    <a:latin typeface="+mn-lt"/>
                    <a:ea typeface="+mn-ea"/>
                    <a:cs typeface="+mn-cs"/>
                  </a:rPr>
                  <a:t>​</a:t>
                </a:r>
              </a:p>
            </p:txBody>
          </p:sp>
        </p:grpSp>
      </p:grpSp>
      <p:grpSp>
        <p:nvGrpSpPr>
          <p:cNvPr id="220" name="formula-banner"/>
          <p:cNvGrpSpPr/>
          <p:nvPr/>
        </p:nvGrpSpPr>
        <p:grpSpPr>
          <a:xfrm>
            <a:off x="228600" y="5848350"/>
            <a:ext cx="11734800" cy="609600"/>
            <a:chOff x="228600" y="5848350"/>
            <a:chExt cx="11734800" cy="609600"/>
          </a:xfrm>
        </p:grpSpPr>
        <p:sp>
          <p:nvSpPr>
            <p:cNvPr id="213" name="Rectangle 213"/>
            <p:cNvSpPr/>
            <p:nvPr/>
          </p:nvSpPr>
          <p:spPr>
            <a:xfrm>
              <a:off x="228600" y="5848350"/>
              <a:ext cx="11734800" cy="609600"/>
            </a:xfrm>
            <a:prstGeom prst="roundRect">
              <a:avLst>
                <a:gd name="adj" fmla="val 12500"/>
              </a:avLst>
            </a:prstGeom>
            <a:solidFill>
              <a:srgbClr val="671200"/>
            </a:solidFill>
            <a:ln>
              <a:noFill/>
            </a:ln>
          </p:spPr>
        </p:sp>
        <p:sp>
          <p:nvSpPr>
            <p:cNvPr id="214" name="Ellipse 214"/>
            <p:cNvSpPr/>
            <p:nvPr/>
          </p:nvSpPr>
          <p:spPr>
            <a:xfrm>
              <a:off x="590550" y="5924550"/>
              <a:ext cx="457200" cy="457200"/>
            </a:xfrm>
            <a:prstGeom prst="ellipse">
              <a:avLst/>
            </a:prstGeom>
            <a:solidFill>
              <a:srgbClr val="FFFFFF"/>
            </a:solidFill>
            <a:ln>
              <a:noFill/>
            </a:ln>
          </p:spPr>
        </p:sp>
        <p:grpSp>
          <p:nvGrpSpPr>
            <p:cNvPr id="218" name="Group 218"/>
            <p:cNvGrpSpPr/>
            <p:nvPr/>
          </p:nvGrpSpPr>
          <p:grpSpPr>
            <a:xfrm>
              <a:off x="709955" y="6057900"/>
              <a:ext cx="218364" cy="227203"/>
              <a:chOff x="709955" y="6057900"/>
              <a:chExt cx="218364" cy="227203"/>
            </a:xfrm>
          </p:grpSpPr>
          <p:sp>
            <p:nvSpPr>
              <p:cNvPr id="215" name="Freeform 215"/>
              <p:cNvSpPr/>
              <p:nvPr/>
            </p:nvSpPr>
            <p:spPr>
              <a:xfrm>
                <a:off x="742950" y="6057900"/>
                <a:ext cx="152400" cy="152400"/>
              </a:xfrm>
              <a:custGeom>
                <a:avLst/>
                <a:gdLst/>
                <a:ahLst/>
                <a:cxnLst/>
                <a:rect l="l" t="t" r="r" b="b"/>
                <a:pathLst>
                  <a:path w="152400" h="152400">
                    <a:moveTo>
                      <a:pt x="0" y="76200"/>
                    </a:moveTo>
                    <a:cubicBezTo>
                      <a:pt x="0" y="118284"/>
                      <a:pt x="34116" y="152400"/>
                      <a:pt x="76200" y="152400"/>
                    </a:cubicBezTo>
                    <a:cubicBezTo>
                      <a:pt x="118284" y="152400"/>
                      <a:pt x="152400" y="118284"/>
                      <a:pt x="152400" y="76200"/>
                    </a:cubicBezTo>
                    <a:cubicBezTo>
                      <a:pt x="152400" y="34116"/>
                      <a:pt x="118284" y="0"/>
                      <a:pt x="76200" y="0"/>
                    </a:cubicBezTo>
                    <a:cubicBezTo>
                      <a:pt x="34116" y="0"/>
                      <a:pt x="0" y="34116"/>
                      <a:pt x="0" y="76200"/>
                    </a:cubicBezTo>
                  </a:path>
                </a:pathLst>
              </a:custGeom>
              <a:noFill/>
              <a:ln w="22860">
                <a:solidFill>
                  <a:srgbClr val="671200"/>
                </a:solidFill>
              </a:ln>
            </p:spPr>
          </p:sp>
          <p:sp>
            <p:nvSpPr>
              <p:cNvPr id="216" name="Freeform 216"/>
              <p:cNvSpPr/>
              <p:nvPr/>
            </p:nvSpPr>
            <p:spPr>
              <a:xfrm>
                <a:off x="819150" y="6172200"/>
                <a:ext cx="109169" cy="112903"/>
              </a:xfrm>
              <a:custGeom>
                <a:avLst/>
                <a:gdLst/>
                <a:ahLst/>
                <a:cxnLst/>
                <a:rect l="l" t="t" r="r" b="b"/>
                <a:pathLst>
                  <a:path w="109169" h="112903">
                    <a:moveTo>
                      <a:pt x="0" y="38100"/>
                    </a:moveTo>
                    <a:lnTo>
                      <a:pt x="43180" y="112903"/>
                    </a:lnTo>
                    <a:lnTo>
                      <a:pt x="63474" y="71844"/>
                    </a:lnTo>
                    <a:lnTo>
                      <a:pt x="109169" y="74790"/>
                    </a:lnTo>
                    <a:lnTo>
                      <a:pt x="65989" y="0"/>
                    </a:lnTo>
                  </a:path>
                </a:pathLst>
              </a:custGeom>
              <a:noFill/>
              <a:ln w="22860">
                <a:solidFill>
                  <a:srgbClr val="671200"/>
                </a:solidFill>
              </a:ln>
            </p:spPr>
          </p:sp>
          <p:sp>
            <p:nvSpPr>
              <p:cNvPr id="217" name="Freeform 217"/>
              <p:cNvSpPr/>
              <p:nvPr/>
            </p:nvSpPr>
            <p:spPr>
              <a:xfrm>
                <a:off x="709955" y="6172200"/>
                <a:ext cx="109169" cy="112890"/>
              </a:xfrm>
              <a:custGeom>
                <a:avLst/>
                <a:gdLst/>
                <a:ahLst/>
                <a:cxnLst/>
                <a:rect l="l" t="t" r="r" b="b"/>
                <a:pathLst>
                  <a:path w="109169" h="112890">
                    <a:moveTo>
                      <a:pt x="43180" y="0"/>
                    </a:moveTo>
                    <a:lnTo>
                      <a:pt x="0" y="74803"/>
                    </a:lnTo>
                    <a:lnTo>
                      <a:pt x="45694" y="71844"/>
                    </a:lnTo>
                    <a:lnTo>
                      <a:pt x="65989" y="112890"/>
                    </a:lnTo>
                    <a:lnTo>
                      <a:pt x="109169" y="38100"/>
                    </a:lnTo>
                  </a:path>
                </a:pathLst>
              </a:custGeom>
              <a:noFill/>
              <a:ln w="22860">
                <a:solidFill>
                  <a:srgbClr val="671200"/>
                </a:solidFill>
              </a:ln>
            </p:spPr>
          </p:sp>
        </p:grpSp>
        <p:sp>
          <p:nvSpPr>
            <p:cNvPr id="219" name="TextBox 219"/>
            <p:cNvSpPr txBox="1"/>
            <p:nvPr/>
          </p:nvSpPr>
          <p:spPr>
            <a:xfrm>
              <a:off x="2465347" y="6060758"/>
              <a:ext cx="7261306"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客户综合价值 = 直接收益 + 协同贡献 + 留存价值 + 风险减少 − 运营成本​</a:t>
              </a:r>
            </a:p>
          </p:txBody>
        </p:sp>
      </p:gr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ave-1"/>
          <p:cNvSpPr/>
          <p:nvPr/>
        </p:nvSpPr>
        <p:spPr>
          <a:xfrm>
            <a:off x="0" y="4714875"/>
            <a:ext cx="12192000" cy="2143125"/>
          </a:xfrm>
          <a:custGeom>
            <a:avLst/>
            <a:gdLst/>
            <a:ahLst/>
            <a:cxnLst/>
            <a:rect l="l" t="t" r="r" b="b"/>
            <a:pathLst>
              <a:path w="12192000" h="2143125">
                <a:moveTo>
                  <a:pt x="0" y="476250"/>
                </a:moveTo>
                <a:cubicBezTo>
                  <a:pt x="2286000" y="0"/>
                  <a:pt x="4095750" y="1333500"/>
                  <a:pt x="6953250" y="952500"/>
                </a:cubicBezTo>
                <a:cubicBezTo>
                  <a:pt x="9334500" y="638175"/>
                  <a:pt x="10763250" y="1381125"/>
                  <a:pt x="12192000" y="962025"/>
                </a:cubicBezTo>
                <a:lnTo>
                  <a:pt x="12192000" y="2143125"/>
                </a:lnTo>
                <a:lnTo>
                  <a:pt x="0" y="2143125"/>
                </a:lnTo>
                <a:close/>
              </a:path>
            </a:pathLst>
          </a:custGeom>
          <a:solidFill>
            <a:srgbClr val="E4F3F0">
              <a:alpha val="85000"/>
            </a:srgbClr>
          </a:solidFill>
          <a:ln>
            <a:noFill/>
          </a:ln>
        </p:spPr>
      </p:sp>
      <p:sp>
        <p:nvSpPr>
          <p:cNvPr id="3" name="wave-2"/>
          <p:cNvSpPr/>
          <p:nvPr/>
        </p:nvSpPr>
        <p:spPr>
          <a:xfrm>
            <a:off x="0" y="5381625"/>
            <a:ext cx="12192000" cy="1476375"/>
          </a:xfrm>
          <a:custGeom>
            <a:avLst/>
            <a:gdLst/>
            <a:ahLst/>
            <a:cxnLst/>
            <a:rect l="l" t="t" r="r" b="b"/>
            <a:pathLst>
              <a:path w="12192000" h="1476375">
                <a:moveTo>
                  <a:pt x="0" y="476250"/>
                </a:moveTo>
                <a:cubicBezTo>
                  <a:pt x="2857500" y="0"/>
                  <a:pt x="5334000" y="1171575"/>
                  <a:pt x="8477250" y="790575"/>
                </a:cubicBezTo>
                <a:cubicBezTo>
                  <a:pt x="10287000" y="561975"/>
                  <a:pt x="11430000" y="981075"/>
                  <a:pt x="12192000" y="790575"/>
                </a:cubicBezTo>
                <a:lnTo>
                  <a:pt x="12192000" y="1476375"/>
                </a:lnTo>
                <a:lnTo>
                  <a:pt x="0" y="1476375"/>
                </a:lnTo>
                <a:close/>
              </a:path>
            </a:pathLst>
          </a:custGeom>
          <a:solidFill>
            <a:srgbClr val="CDE9E3">
              <a:alpha val="90000"/>
            </a:srgbClr>
          </a:solidFill>
          <a:ln>
            <a:noFill/>
          </a:ln>
        </p:spPr>
      </p:sp>
      <p:sp>
        <p:nvSpPr>
          <p:cNvPr id="4" name="ribbon"/>
          <p:cNvSpPr/>
          <p:nvPr/>
        </p:nvSpPr>
        <p:spPr>
          <a:xfrm>
            <a:off x="4572000" y="2952750"/>
            <a:ext cx="3733800" cy="2476500"/>
          </a:xfrm>
          <a:custGeom>
            <a:avLst/>
            <a:gdLst/>
            <a:ahLst/>
            <a:cxnLst/>
            <a:rect l="l" t="t" r="r" b="b"/>
            <a:pathLst>
              <a:path w="3733800" h="2476500">
                <a:moveTo>
                  <a:pt x="0" y="1619250"/>
                </a:moveTo>
                <a:cubicBezTo>
                  <a:pt x="1524000" y="0"/>
                  <a:pt x="2095500" y="2476500"/>
                  <a:pt x="3733800" y="552450"/>
                </a:cubicBezTo>
              </a:path>
            </a:pathLst>
          </a:custGeom>
          <a:noFill/>
          <a:ln w="419100" cap="rnd">
            <a:gradFill>
              <a:gsLst>
                <a:gs pos="0">
                  <a:srgbClr val="BFE4DD">
                    <a:alpha val="22500"/>
                  </a:srgbClr>
                </a:gs>
                <a:gs pos="55000">
                  <a:srgbClr val="BF6F5F">
                    <a:alpha val="35000"/>
                  </a:srgbClr>
                </a:gs>
                <a:gs pos="100000">
                  <a:srgbClr val="76200F">
                    <a:alpha val="40000"/>
                  </a:srgbClr>
                </a:gs>
              </a:gsLst>
              <a:lin ang="0" scaled="1"/>
            </a:gradFill>
          </a:ln>
        </p:spPr>
      </p:sp>
      <p:grpSp>
        <p:nvGrpSpPr>
          <p:cNvPr id="8" name="title-block"/>
          <p:cNvGrpSpPr/>
          <p:nvPr/>
        </p:nvGrpSpPr>
        <p:grpSpPr>
          <a:xfrm>
            <a:off x="363474" y="484822"/>
            <a:ext cx="6537198" cy="1120712"/>
            <a:chOff x="363474" y="484822"/>
            <a:chExt cx="6537198" cy="1120712"/>
          </a:xfrm>
        </p:grpSpPr>
        <p:sp>
          <p:nvSpPr>
            <p:cNvPr id="5" name="TextBox 5"/>
            <p:cNvSpPr txBox="1"/>
            <p:nvPr/>
          </p:nvSpPr>
          <p:spPr>
            <a:xfrm>
              <a:off x="363474" y="484822"/>
              <a:ext cx="6537198" cy="674751"/>
            </a:xfrm>
            <a:prstGeom prst="rect">
              <a:avLst/>
            </a:prstGeom>
            <a:noFill/>
            <a:ln>
              <a:noFill/>
            </a:ln>
          </p:spPr>
          <p:txBody>
            <a:bodyPr wrap="none" lIns="0" tIns="0" rIns="0" bIns="0" anchor="t" anchorCtr="0">
              <a:spAutoFit/>
            </a:bodyPr>
            <a:lstStyle/>
            <a:p>
              <a:pPr algn="l"/>
              <a:r>
                <a:rPr lang="zh-CN" sz="3450" b="1" dirty="0">
                  <a:solidFill>
                    <a:srgbClr val="331712"/>
                  </a:solidFill>
                  <a:latin typeface="+mn-lt"/>
                  <a:ea typeface="+mn-ea"/>
                  <a:cs typeface="+mn-cs"/>
                </a:rPr>
                <a:t>银行生态营销活动同业调研报告</a:t>
              </a:r>
            </a:p>
          </p:txBody>
        </p:sp>
        <p:sp>
          <p:nvSpPr>
            <p:cNvPr id="6" name="Rectangle 6"/>
            <p:cNvSpPr/>
            <p:nvPr/>
          </p:nvSpPr>
          <p:spPr>
            <a:xfrm>
              <a:off x="400050" y="1047750"/>
              <a:ext cx="723900" cy="47625"/>
            </a:xfrm>
            <a:prstGeom prst="rect">
              <a:avLst/>
            </a:prstGeom>
            <a:solidFill>
              <a:srgbClr val="76200F"/>
            </a:solidFill>
            <a:ln>
              <a:noFill/>
            </a:ln>
          </p:spPr>
        </p:sp>
        <p:sp>
          <p:nvSpPr>
            <p:cNvPr id="7" name="TextBox 7"/>
            <p:cNvSpPr txBox="1"/>
            <p:nvPr/>
          </p:nvSpPr>
          <p:spPr>
            <a:xfrm>
              <a:off x="390906" y="1253490"/>
              <a:ext cx="2655898" cy="352044"/>
            </a:xfrm>
            <a:prstGeom prst="rect">
              <a:avLst/>
            </a:prstGeom>
            <a:noFill/>
            <a:ln>
              <a:noFill/>
            </a:ln>
          </p:spPr>
          <p:txBody>
            <a:bodyPr wrap="none" lIns="0" tIns="0" rIns="0" bIns="0" anchor="t" anchorCtr="0">
              <a:spAutoFit/>
            </a:bodyPr>
            <a:lstStyle/>
            <a:p>
              <a:pPr algn="l"/>
              <a:r>
                <a:rPr lang="zh-CN" sz="1800" b="1" dirty="0">
                  <a:solidFill>
                    <a:srgbClr val="76200F"/>
                  </a:solidFill>
                  <a:latin typeface="+mn-lt"/>
                  <a:ea typeface="+mn-ea"/>
                  <a:cs typeface="+mn-cs"/>
                </a:rPr>
                <a:t>线下展位 ​</a:t>
              </a:r>
              <a:r>
                <a:rPr lang="zh-CN" sz="1800" dirty="0">
                  <a:solidFill>
                    <a:srgbClr val="748683"/>
                  </a:solidFill>
                  <a:latin typeface="+mn-lt"/>
                  <a:ea typeface="+mn-ea"/>
                  <a:cs typeface="+mn-cs"/>
                </a:rPr>
                <a:t>×​</a:t>
              </a:r>
              <a:r>
                <a:rPr lang="zh-CN" sz="1800" b="1" dirty="0">
                  <a:solidFill>
                    <a:srgbClr val="76200F"/>
                  </a:solidFill>
                  <a:latin typeface="+mn-lt"/>
                  <a:ea typeface="+mn-ea"/>
                  <a:cs typeface="+mn-cs"/>
                </a:rPr>
                <a:t xml:space="preserve"> 线上联动​</a:t>
              </a:r>
            </a:p>
          </p:txBody>
        </p:sp>
      </p:grpSp>
      <p:grpSp>
        <p:nvGrpSpPr>
          <p:cNvPr id="13" name="slogan-right"/>
          <p:cNvGrpSpPr/>
          <p:nvPr/>
        </p:nvGrpSpPr>
        <p:grpSpPr>
          <a:xfrm>
            <a:off x="9182100" y="463550"/>
            <a:ext cx="2057400" cy="688975"/>
            <a:chOff x="9182100" y="463550"/>
            <a:chExt cx="2057400" cy="688975"/>
          </a:xfrm>
        </p:grpSpPr>
        <p:sp>
          <p:nvSpPr>
            <p:cNvPr id="9" name="TextBox 9"/>
            <p:cNvSpPr txBox="1"/>
            <p:nvPr/>
          </p:nvSpPr>
          <p:spPr>
            <a:xfrm>
              <a:off x="9364599" y="553879"/>
              <a:ext cx="1292200" cy="308039"/>
            </a:xfrm>
            <a:prstGeom prst="rect">
              <a:avLst/>
            </a:prstGeom>
            <a:noFill/>
            <a:ln>
              <a:noFill/>
            </a:ln>
          </p:spPr>
          <p:txBody>
            <a:bodyPr wrap="none" lIns="0" tIns="0" rIns="0" bIns="0" anchor="t" anchorCtr="0">
              <a:spAutoFit/>
            </a:bodyPr>
            <a:lstStyle/>
            <a:p>
              <a:pPr algn="l"/>
              <a:r>
                <a:rPr lang="zh-CN" sz="1580" b="1" dirty="0">
                  <a:solidFill>
                    <a:srgbClr val="5D190B"/>
                  </a:solidFill>
                  <a:latin typeface="+mn-lt"/>
                  <a:ea typeface="+mn-ea"/>
                  <a:cs typeface="+mn-cs"/>
                </a:rPr>
                <a:t>数字融入生活</a:t>
              </a:r>
            </a:p>
          </p:txBody>
        </p:sp>
        <p:sp>
          <p:nvSpPr>
            <p:cNvPr id="10" name="TextBox 10"/>
            <p:cNvSpPr txBox="1"/>
            <p:nvPr/>
          </p:nvSpPr>
          <p:spPr>
            <a:xfrm>
              <a:off x="9364599" y="839629"/>
              <a:ext cx="1504899" cy="308039"/>
            </a:xfrm>
            <a:prstGeom prst="rect">
              <a:avLst/>
            </a:prstGeom>
            <a:noFill/>
            <a:ln>
              <a:noFill/>
            </a:ln>
          </p:spPr>
          <p:txBody>
            <a:bodyPr wrap="none" lIns="0" tIns="0" rIns="0" bIns="0" anchor="t" anchorCtr="0">
              <a:spAutoFit/>
            </a:bodyPr>
            <a:lstStyle/>
            <a:p>
              <a:pPr algn="l"/>
              <a:r>
                <a:rPr lang="zh-CN" sz="1580" b="1" dirty="0">
                  <a:solidFill>
                    <a:srgbClr val="5D190B"/>
                  </a:solidFill>
                  <a:latin typeface="+mn-lt"/>
                  <a:ea typeface="+mn-ea"/>
                  <a:cs typeface="+mn-cs"/>
                </a:rPr>
                <a:t>金融让美好发生</a:t>
              </a:r>
            </a:p>
          </p:txBody>
        </p:sp>
        <p:sp>
          <p:nvSpPr>
            <p:cNvPr id="11" name="Line 11"/>
            <p:cNvSpPr/>
            <p:nvPr/>
          </p:nvSpPr>
          <p:spPr>
            <a:xfrm>
              <a:off x="9372600" y="1143000"/>
              <a:ext cx="1866900" cy="9525"/>
            </a:xfrm>
            <a:custGeom>
              <a:avLst/>
              <a:gdLst/>
              <a:ahLst/>
              <a:cxnLst/>
              <a:rect l="l" t="t" r="r" b="b"/>
              <a:pathLst>
                <a:path w="1866900" h="9525">
                  <a:moveTo>
                    <a:pt x="0" y="0"/>
                  </a:moveTo>
                  <a:lnTo>
                    <a:pt x="1866900" y="0"/>
                  </a:lnTo>
                </a:path>
              </a:pathLst>
            </a:custGeom>
            <a:noFill/>
            <a:ln w="14288">
              <a:solidFill>
                <a:srgbClr val="A3422F"/>
              </a:solidFill>
            </a:ln>
          </p:spPr>
        </p:sp>
        <p:sp>
          <p:nvSpPr>
            <p:cNvPr id="12" name="Freeform 12"/>
            <p:cNvSpPr/>
            <p:nvPr/>
          </p:nvSpPr>
          <p:spPr>
            <a:xfrm>
              <a:off x="9182100" y="463550"/>
              <a:ext cx="495300" cy="88900"/>
            </a:xfrm>
            <a:custGeom>
              <a:avLst/>
              <a:gdLst/>
              <a:ahLst/>
              <a:cxnLst/>
              <a:rect l="l" t="t" r="r" b="b"/>
              <a:pathLst>
                <a:path w="495300" h="88900">
                  <a:moveTo>
                    <a:pt x="0" y="88900"/>
                  </a:moveTo>
                  <a:cubicBezTo>
                    <a:pt x="165100" y="0"/>
                    <a:pt x="330200" y="0"/>
                    <a:pt x="495300" y="88900"/>
                  </a:cubicBezTo>
                </a:path>
              </a:pathLst>
            </a:custGeom>
            <a:noFill/>
            <a:ln w="19050">
              <a:solidFill>
                <a:srgbClr val="A3422F"/>
              </a:solidFill>
            </a:ln>
          </p:spPr>
        </p:sp>
      </p:grpSp>
      <p:grpSp>
        <p:nvGrpSpPr>
          <p:cNvPr id="67" name="booth"/>
          <p:cNvGrpSpPr/>
          <p:nvPr/>
        </p:nvGrpSpPr>
        <p:grpSpPr>
          <a:xfrm>
            <a:off x="438150" y="2400300"/>
            <a:ext cx="4686300" cy="3752850"/>
            <a:chOff x="438150" y="2400300"/>
            <a:chExt cx="4686300" cy="3752850"/>
          </a:xfrm>
        </p:grpSpPr>
        <p:sp>
          <p:nvSpPr>
            <p:cNvPr id="14" name="Ellipse 14"/>
            <p:cNvSpPr/>
            <p:nvPr/>
          </p:nvSpPr>
          <p:spPr>
            <a:xfrm>
              <a:off x="609600" y="5848350"/>
              <a:ext cx="4495800" cy="304800"/>
            </a:xfrm>
            <a:prstGeom prst="ellipse">
              <a:avLst/>
            </a:prstGeom>
            <a:solidFill>
              <a:srgbClr val="76200F">
                <a:alpha val="8000"/>
              </a:srgbClr>
            </a:solidFill>
            <a:ln>
              <a:noFill/>
            </a:ln>
          </p:spPr>
        </p:sp>
        <p:sp>
          <p:nvSpPr>
            <p:cNvPr id="15" name="Rectangle 15"/>
            <p:cNvSpPr/>
            <p:nvPr/>
          </p:nvSpPr>
          <p:spPr>
            <a:xfrm>
              <a:off x="914400" y="2857500"/>
              <a:ext cx="3771900" cy="2914650"/>
            </a:xfrm>
            <a:prstGeom prst="rect">
              <a:avLst/>
            </a:prstGeom>
            <a:solidFill>
              <a:srgbClr val="FFFFFF"/>
            </a:solidFill>
            <a:ln w="14288">
              <a:solidFill>
                <a:srgbClr val="C2E0DA"/>
              </a:solidFill>
            </a:ln>
          </p:spPr>
        </p:sp>
        <p:sp>
          <p:nvSpPr>
            <p:cNvPr id="16" name="Polygon 16"/>
            <p:cNvSpPr/>
            <p:nvPr/>
          </p:nvSpPr>
          <p:spPr>
            <a:xfrm>
              <a:off x="685800" y="2400300"/>
              <a:ext cx="4229100" cy="457200"/>
            </a:xfrm>
            <a:custGeom>
              <a:avLst/>
              <a:gdLst/>
              <a:ahLst/>
              <a:cxnLst/>
              <a:rect l="l" t="t" r="r" b="b"/>
              <a:pathLst>
                <a:path w="4229100" h="457200">
                  <a:moveTo>
                    <a:pt x="0" y="457200"/>
                  </a:moveTo>
                  <a:lnTo>
                    <a:pt x="4229100" y="457200"/>
                  </a:lnTo>
                  <a:lnTo>
                    <a:pt x="4076700" y="0"/>
                  </a:lnTo>
                  <a:lnTo>
                    <a:pt x="152400" y="0"/>
                  </a:lnTo>
                  <a:close/>
                </a:path>
              </a:pathLst>
            </a:custGeom>
            <a:gradFill>
              <a:gsLst>
                <a:gs pos="0">
                  <a:srgbClr val="852512"/>
                </a:gs>
                <a:gs pos="100000">
                  <a:srgbClr val="5D190B"/>
                </a:gs>
              </a:gsLst>
              <a:lin ang="5400000" scaled="1"/>
            </a:gradFill>
            <a:ln>
              <a:noFill/>
            </a:ln>
          </p:spPr>
        </p:sp>
        <p:sp>
          <p:nvSpPr>
            <p:cNvPr id="17" name="Polygon 17"/>
            <p:cNvSpPr/>
            <p:nvPr/>
          </p:nvSpPr>
          <p:spPr>
            <a:xfrm>
              <a:off x="1371600" y="2400300"/>
              <a:ext cx="438150" cy="457200"/>
            </a:xfrm>
            <a:custGeom>
              <a:avLst/>
              <a:gdLst/>
              <a:ahLst/>
              <a:cxnLst/>
              <a:rect l="l" t="t" r="r" b="b"/>
              <a:pathLst>
                <a:path w="438150" h="457200">
                  <a:moveTo>
                    <a:pt x="57150" y="457200"/>
                  </a:moveTo>
                  <a:lnTo>
                    <a:pt x="438150" y="457200"/>
                  </a:lnTo>
                  <a:lnTo>
                    <a:pt x="381000" y="0"/>
                  </a:lnTo>
                  <a:lnTo>
                    <a:pt x="0" y="0"/>
                  </a:lnTo>
                  <a:close/>
                </a:path>
              </a:pathLst>
            </a:custGeom>
            <a:solidFill>
              <a:srgbClr val="FFFFFF">
                <a:alpha val="25000"/>
              </a:srgbClr>
            </a:solidFill>
            <a:ln>
              <a:noFill/>
            </a:ln>
          </p:spPr>
        </p:sp>
        <p:sp>
          <p:nvSpPr>
            <p:cNvPr id="18" name="Polygon 18"/>
            <p:cNvSpPr/>
            <p:nvPr/>
          </p:nvSpPr>
          <p:spPr>
            <a:xfrm>
              <a:off x="2324100" y="2400300"/>
              <a:ext cx="438150" cy="457200"/>
            </a:xfrm>
            <a:custGeom>
              <a:avLst/>
              <a:gdLst/>
              <a:ahLst/>
              <a:cxnLst/>
              <a:rect l="l" t="t" r="r" b="b"/>
              <a:pathLst>
                <a:path w="438150" h="457200">
                  <a:moveTo>
                    <a:pt x="57150" y="457200"/>
                  </a:moveTo>
                  <a:lnTo>
                    <a:pt x="438150" y="457200"/>
                  </a:lnTo>
                  <a:lnTo>
                    <a:pt x="381000" y="0"/>
                  </a:lnTo>
                  <a:lnTo>
                    <a:pt x="0" y="0"/>
                  </a:lnTo>
                  <a:close/>
                </a:path>
              </a:pathLst>
            </a:custGeom>
            <a:solidFill>
              <a:srgbClr val="FFFFFF">
                <a:alpha val="25000"/>
              </a:srgbClr>
            </a:solidFill>
            <a:ln>
              <a:noFill/>
            </a:ln>
          </p:spPr>
        </p:sp>
        <p:sp>
          <p:nvSpPr>
            <p:cNvPr id="19" name="Polygon 19"/>
            <p:cNvSpPr/>
            <p:nvPr/>
          </p:nvSpPr>
          <p:spPr>
            <a:xfrm>
              <a:off x="3276600" y="2400300"/>
              <a:ext cx="438150" cy="457200"/>
            </a:xfrm>
            <a:custGeom>
              <a:avLst/>
              <a:gdLst/>
              <a:ahLst/>
              <a:cxnLst/>
              <a:rect l="l" t="t" r="r" b="b"/>
              <a:pathLst>
                <a:path w="438150" h="457200">
                  <a:moveTo>
                    <a:pt x="57150" y="457200"/>
                  </a:moveTo>
                  <a:lnTo>
                    <a:pt x="438150" y="457200"/>
                  </a:lnTo>
                  <a:lnTo>
                    <a:pt x="381000" y="0"/>
                  </a:lnTo>
                  <a:lnTo>
                    <a:pt x="0" y="0"/>
                  </a:lnTo>
                  <a:close/>
                </a:path>
              </a:pathLst>
            </a:custGeom>
            <a:solidFill>
              <a:srgbClr val="FFFFFF">
                <a:alpha val="25000"/>
              </a:srgbClr>
            </a:solidFill>
            <a:ln>
              <a:noFill/>
            </a:ln>
          </p:spPr>
        </p:sp>
        <p:sp>
          <p:nvSpPr>
            <p:cNvPr id="20" name="Polygon 20"/>
            <p:cNvSpPr/>
            <p:nvPr/>
          </p:nvSpPr>
          <p:spPr>
            <a:xfrm>
              <a:off x="4229100" y="2400300"/>
              <a:ext cx="438150" cy="457200"/>
            </a:xfrm>
            <a:custGeom>
              <a:avLst/>
              <a:gdLst/>
              <a:ahLst/>
              <a:cxnLst/>
              <a:rect l="l" t="t" r="r" b="b"/>
              <a:pathLst>
                <a:path w="438150" h="457200">
                  <a:moveTo>
                    <a:pt x="57150" y="457200"/>
                  </a:moveTo>
                  <a:lnTo>
                    <a:pt x="438150" y="457200"/>
                  </a:lnTo>
                  <a:lnTo>
                    <a:pt x="381000" y="0"/>
                  </a:lnTo>
                  <a:lnTo>
                    <a:pt x="0" y="0"/>
                  </a:lnTo>
                  <a:close/>
                </a:path>
              </a:pathLst>
            </a:custGeom>
            <a:solidFill>
              <a:srgbClr val="FFFFFF">
                <a:alpha val="25000"/>
              </a:srgbClr>
            </a:solidFill>
            <a:ln>
              <a:noFill/>
            </a:ln>
          </p:spPr>
        </p:sp>
        <p:sp>
          <p:nvSpPr>
            <p:cNvPr id="21" name="Rectangle 21"/>
            <p:cNvSpPr/>
            <p:nvPr/>
          </p:nvSpPr>
          <p:spPr>
            <a:xfrm>
              <a:off x="838200" y="2400300"/>
              <a:ext cx="3924300" cy="57150"/>
            </a:xfrm>
            <a:prstGeom prst="rect">
              <a:avLst/>
            </a:prstGeom>
            <a:solidFill>
              <a:srgbClr val="C4887C"/>
            </a:solidFill>
            <a:ln>
              <a:noFill/>
            </a:ln>
          </p:spPr>
        </p:sp>
        <p:sp>
          <p:nvSpPr>
            <p:cNvPr id="22" name="Rectangle 22"/>
            <p:cNvSpPr/>
            <p:nvPr/>
          </p:nvSpPr>
          <p:spPr>
            <a:xfrm>
              <a:off x="1143000" y="3924300"/>
              <a:ext cx="781050" cy="1847850"/>
            </a:xfrm>
            <a:prstGeom prst="rect">
              <a:avLst/>
            </a:prstGeom>
            <a:solidFill>
              <a:srgbClr val="EFF8F6"/>
            </a:solidFill>
            <a:ln w="9525">
              <a:solidFill>
                <a:srgbClr val="C2E0DA"/>
              </a:solidFill>
            </a:ln>
          </p:spPr>
        </p:sp>
        <p:sp>
          <p:nvSpPr>
            <p:cNvPr id="23" name="TextBox 23"/>
            <p:cNvSpPr txBox="1"/>
            <p:nvPr/>
          </p:nvSpPr>
          <p:spPr>
            <a:xfrm>
              <a:off x="1377036" y="4279106"/>
              <a:ext cx="312979" cy="220028"/>
            </a:xfrm>
            <a:prstGeom prst="rect">
              <a:avLst/>
            </a:prstGeom>
            <a:noFill/>
            <a:ln>
              <a:noFill/>
            </a:ln>
          </p:spPr>
          <p:txBody>
            <a:bodyPr wrap="none" lIns="0" tIns="0" rIns="0" bIns="0" anchor="t" anchorCtr="0">
              <a:spAutoFit/>
            </a:bodyPr>
            <a:lstStyle/>
            <a:p>
              <a:pPr algn="ctr"/>
              <a:r>
                <a:rPr lang="zh-CN" sz="1120" b="1" dirty="0">
                  <a:solidFill>
                    <a:srgbClr val="5D190B"/>
                  </a:solidFill>
                  <a:latin typeface="+mn-lt"/>
                  <a:ea typeface="+mn-ea"/>
                  <a:cs typeface="+mn-cs"/>
                </a:rPr>
                <a:t>美好</a:t>
              </a:r>
            </a:p>
          </p:txBody>
        </p:sp>
        <p:sp>
          <p:nvSpPr>
            <p:cNvPr id="24" name="TextBox 24"/>
            <p:cNvSpPr txBox="1"/>
            <p:nvPr/>
          </p:nvSpPr>
          <p:spPr>
            <a:xfrm>
              <a:off x="1226261" y="4488656"/>
              <a:ext cx="614528" cy="220028"/>
            </a:xfrm>
            <a:prstGeom prst="rect">
              <a:avLst/>
            </a:prstGeom>
            <a:noFill/>
            <a:ln>
              <a:noFill/>
            </a:ln>
          </p:spPr>
          <p:txBody>
            <a:bodyPr wrap="none" lIns="0" tIns="0" rIns="0" bIns="0" anchor="t" anchorCtr="0">
              <a:spAutoFit/>
            </a:bodyPr>
            <a:lstStyle/>
            <a:p>
              <a:pPr algn="ctr"/>
              <a:r>
                <a:rPr lang="zh-CN" sz="1120" b="1" dirty="0">
                  <a:solidFill>
                    <a:srgbClr val="5D190B"/>
                  </a:solidFill>
                  <a:latin typeface="+mn-lt"/>
                  <a:ea typeface="+mn-ea"/>
                  <a:cs typeface="+mn-cs"/>
                </a:rPr>
                <a:t>与您同行</a:t>
              </a:r>
            </a:p>
          </p:txBody>
        </p:sp>
        <p:sp>
          <p:nvSpPr>
            <p:cNvPr id="25" name="Line 25"/>
            <p:cNvSpPr/>
            <p:nvPr/>
          </p:nvSpPr>
          <p:spPr>
            <a:xfrm>
              <a:off x="1362075" y="4762500"/>
              <a:ext cx="342900" cy="9525"/>
            </a:xfrm>
            <a:custGeom>
              <a:avLst/>
              <a:gdLst/>
              <a:ahLst/>
              <a:cxnLst/>
              <a:rect l="l" t="t" r="r" b="b"/>
              <a:pathLst>
                <a:path w="342900" h="9525">
                  <a:moveTo>
                    <a:pt x="0" y="0"/>
                  </a:moveTo>
                  <a:lnTo>
                    <a:pt x="342900" y="0"/>
                  </a:lnTo>
                </a:path>
              </a:pathLst>
            </a:custGeom>
            <a:noFill/>
            <a:ln w="14288">
              <a:solidFill>
                <a:srgbClr val="A3422F"/>
              </a:solidFill>
            </a:ln>
          </p:spPr>
        </p:sp>
        <p:sp>
          <p:nvSpPr>
            <p:cNvPr id="26" name="Rectangle 26"/>
            <p:cNvSpPr/>
            <p:nvPr/>
          </p:nvSpPr>
          <p:spPr>
            <a:xfrm>
              <a:off x="2057400" y="3028950"/>
              <a:ext cx="1447800" cy="323850"/>
            </a:xfrm>
            <a:prstGeom prst="roundRect">
              <a:avLst>
                <a:gd name="adj" fmla="val 17647"/>
              </a:avLst>
            </a:prstGeom>
            <a:solidFill>
              <a:srgbClr val="76200F"/>
            </a:solidFill>
            <a:ln>
              <a:noFill/>
            </a:ln>
          </p:spPr>
        </p:sp>
        <p:sp>
          <p:nvSpPr>
            <p:cNvPr id="27" name="TextBox 27"/>
            <p:cNvSpPr txBox="1"/>
            <p:nvPr/>
          </p:nvSpPr>
          <p:spPr>
            <a:xfrm>
              <a:off x="2323262" y="312658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银行金融服务</a:t>
              </a:r>
            </a:p>
          </p:txBody>
        </p:sp>
        <p:sp>
          <p:nvSpPr>
            <p:cNvPr id="28" name="Rectangle 28"/>
            <p:cNvSpPr/>
            <p:nvPr/>
          </p:nvSpPr>
          <p:spPr>
            <a:xfrm>
              <a:off x="2057400" y="3486150"/>
              <a:ext cx="1123950" cy="590550"/>
            </a:xfrm>
            <a:prstGeom prst="roundRect">
              <a:avLst>
                <a:gd name="adj" fmla="val 9677"/>
              </a:avLst>
            </a:prstGeom>
            <a:solidFill>
              <a:srgbClr val="F6FBFA"/>
            </a:solidFill>
            <a:ln w="9525">
              <a:solidFill>
                <a:srgbClr val="C2E0DA"/>
              </a:solidFill>
            </a:ln>
          </p:spPr>
        </p:sp>
        <p:grpSp>
          <p:nvGrpSpPr>
            <p:cNvPr id="34" name="Group 34"/>
            <p:cNvGrpSpPr/>
            <p:nvPr/>
          </p:nvGrpSpPr>
          <p:grpSpPr>
            <a:xfrm>
              <a:off x="2195512" y="3623199"/>
              <a:ext cx="142875" cy="143938"/>
              <a:chOff x="2195512" y="3623199"/>
              <a:chExt cx="142875" cy="143938"/>
            </a:xfrm>
          </p:grpSpPr>
          <p:sp>
            <p:nvSpPr>
              <p:cNvPr id="29" name="Freeform 29"/>
              <p:cNvSpPr/>
              <p:nvPr/>
            </p:nvSpPr>
            <p:spPr>
              <a:xfrm>
                <a:off x="2243137" y="36877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76200F"/>
                </a:solidFill>
              </a:ln>
            </p:spPr>
          </p:sp>
          <p:sp>
            <p:nvSpPr>
              <p:cNvPr id="30" name="Freeform 30"/>
              <p:cNvSpPr/>
              <p:nvPr/>
            </p:nvSpPr>
            <p:spPr>
              <a:xfrm>
                <a:off x="2243137" y="37115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76200F"/>
                </a:solidFill>
              </a:ln>
            </p:spPr>
          </p:sp>
          <p:sp>
            <p:nvSpPr>
              <p:cNvPr id="31" name="Freeform 31"/>
              <p:cNvSpPr/>
              <p:nvPr/>
            </p:nvSpPr>
            <p:spPr>
              <a:xfrm>
                <a:off x="2195512" y="36231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76200F"/>
                </a:solidFill>
              </a:ln>
            </p:spPr>
          </p:sp>
          <p:sp>
            <p:nvSpPr>
              <p:cNvPr id="32" name="Freeform 32"/>
              <p:cNvSpPr/>
              <p:nvPr/>
            </p:nvSpPr>
            <p:spPr>
              <a:xfrm>
                <a:off x="2195512" y="36480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76200F"/>
                </a:solidFill>
              </a:ln>
            </p:spPr>
          </p:sp>
          <p:sp>
            <p:nvSpPr>
              <p:cNvPr id="33" name="Freeform 33"/>
              <p:cNvSpPr/>
              <p:nvPr/>
            </p:nvSpPr>
            <p:spPr>
              <a:xfrm>
                <a:off x="2195512" y="36877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76200F"/>
                </a:solidFill>
              </a:ln>
            </p:spPr>
          </p:sp>
        </p:grpSp>
        <p:sp>
          <p:nvSpPr>
            <p:cNvPr id="35" name="TextBox 35"/>
            <p:cNvSpPr txBox="1"/>
            <p:nvPr/>
          </p:nvSpPr>
          <p:spPr>
            <a:xfrm>
              <a:off x="2433638" y="3625691"/>
              <a:ext cx="451079"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金融服务</a:t>
              </a:r>
            </a:p>
          </p:txBody>
        </p:sp>
        <p:sp>
          <p:nvSpPr>
            <p:cNvPr id="36" name="TextBox 36"/>
            <p:cNvSpPr txBox="1"/>
            <p:nvPr/>
          </p:nvSpPr>
          <p:spPr>
            <a:xfrm>
              <a:off x="2433638" y="3790236"/>
              <a:ext cx="391846"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更近一步</a:t>
              </a:r>
            </a:p>
          </p:txBody>
        </p:sp>
        <p:sp>
          <p:nvSpPr>
            <p:cNvPr id="37" name="Rectangle 37"/>
            <p:cNvSpPr/>
            <p:nvPr/>
          </p:nvSpPr>
          <p:spPr>
            <a:xfrm>
              <a:off x="3257550" y="3486150"/>
              <a:ext cx="1123950" cy="590550"/>
            </a:xfrm>
            <a:prstGeom prst="roundRect">
              <a:avLst>
                <a:gd name="adj" fmla="val 9677"/>
              </a:avLst>
            </a:prstGeom>
            <a:solidFill>
              <a:srgbClr val="F6FBFA"/>
            </a:solidFill>
            <a:ln w="9525">
              <a:solidFill>
                <a:srgbClr val="C2E0DA"/>
              </a:solidFill>
            </a:ln>
          </p:spPr>
        </p:sp>
        <p:grpSp>
          <p:nvGrpSpPr>
            <p:cNvPr id="42" name="Group 42"/>
            <p:cNvGrpSpPr/>
            <p:nvPr/>
          </p:nvGrpSpPr>
          <p:grpSpPr>
            <a:xfrm>
              <a:off x="3395662" y="3624262"/>
              <a:ext cx="142875" cy="142875"/>
              <a:chOff x="3395662" y="3624262"/>
              <a:chExt cx="142875" cy="142875"/>
            </a:xfrm>
          </p:grpSpPr>
          <p:sp>
            <p:nvSpPr>
              <p:cNvPr id="38" name="Freeform 38"/>
              <p:cNvSpPr/>
              <p:nvPr/>
            </p:nvSpPr>
            <p:spPr>
              <a:xfrm>
                <a:off x="3411537" y="36242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76200F"/>
                </a:solidFill>
              </a:ln>
            </p:spPr>
          </p:sp>
          <p:sp>
            <p:nvSpPr>
              <p:cNvPr id="39" name="Freeform 39"/>
              <p:cNvSpPr/>
              <p:nvPr/>
            </p:nvSpPr>
            <p:spPr>
              <a:xfrm>
                <a:off x="3395662" y="37195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76200F"/>
                </a:solidFill>
              </a:ln>
            </p:spPr>
          </p:sp>
          <p:sp>
            <p:nvSpPr>
              <p:cNvPr id="40" name="Freeform 40"/>
              <p:cNvSpPr/>
              <p:nvPr/>
            </p:nvSpPr>
            <p:spPr>
              <a:xfrm>
                <a:off x="3498850" y="36252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76200F"/>
                </a:solidFill>
              </a:ln>
            </p:spPr>
          </p:sp>
          <p:sp>
            <p:nvSpPr>
              <p:cNvPr id="41" name="Freeform 41"/>
              <p:cNvSpPr/>
              <p:nvPr/>
            </p:nvSpPr>
            <p:spPr>
              <a:xfrm>
                <a:off x="3514725" y="37207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76200F"/>
                </a:solidFill>
              </a:ln>
            </p:spPr>
          </p:sp>
        </p:grpSp>
        <p:sp>
          <p:nvSpPr>
            <p:cNvPr id="43" name="TextBox 43"/>
            <p:cNvSpPr txBox="1"/>
            <p:nvPr/>
          </p:nvSpPr>
          <p:spPr>
            <a:xfrm>
              <a:off x="3633788" y="3625691"/>
              <a:ext cx="451079"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生活场景</a:t>
              </a:r>
            </a:p>
          </p:txBody>
        </p:sp>
        <p:sp>
          <p:nvSpPr>
            <p:cNvPr id="44" name="TextBox 44"/>
            <p:cNvSpPr txBox="1"/>
            <p:nvPr/>
          </p:nvSpPr>
          <p:spPr>
            <a:xfrm>
              <a:off x="3633788" y="3790236"/>
              <a:ext cx="391846"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更多可能</a:t>
              </a:r>
            </a:p>
          </p:txBody>
        </p:sp>
        <p:sp>
          <p:nvSpPr>
            <p:cNvPr id="45" name="Rectangle 45"/>
            <p:cNvSpPr/>
            <p:nvPr/>
          </p:nvSpPr>
          <p:spPr>
            <a:xfrm>
              <a:off x="2057400" y="4171950"/>
              <a:ext cx="1123950" cy="590550"/>
            </a:xfrm>
            <a:prstGeom prst="roundRect">
              <a:avLst>
                <a:gd name="adj" fmla="val 9677"/>
              </a:avLst>
            </a:prstGeom>
            <a:solidFill>
              <a:srgbClr val="F6FBFA"/>
            </a:solidFill>
            <a:ln w="9525">
              <a:solidFill>
                <a:srgbClr val="C2E0DA"/>
              </a:solidFill>
            </a:ln>
          </p:spPr>
        </p:sp>
        <p:grpSp>
          <p:nvGrpSpPr>
            <p:cNvPr id="49" name="Group 49"/>
            <p:cNvGrpSpPr/>
            <p:nvPr/>
          </p:nvGrpSpPr>
          <p:grpSpPr>
            <a:xfrm>
              <a:off x="2203449" y="4314122"/>
              <a:ext cx="130867" cy="134739"/>
              <a:chOff x="2203449" y="4314122"/>
              <a:chExt cx="130867" cy="134739"/>
            </a:xfrm>
          </p:grpSpPr>
          <p:sp>
            <p:nvSpPr>
              <p:cNvPr id="46" name="Freeform 46"/>
              <p:cNvSpPr/>
              <p:nvPr/>
            </p:nvSpPr>
            <p:spPr>
              <a:xfrm>
                <a:off x="2243137" y="4357687"/>
                <a:ext cx="47625" cy="47625"/>
              </a:xfrm>
              <a:custGeom>
                <a:avLst/>
                <a:gdLst/>
                <a:ahLst/>
                <a:cxnLst/>
                <a:rect l="l" t="t" r="r" b="b"/>
                <a:pathLst>
                  <a:path w="47625" h="47625">
                    <a:moveTo>
                      <a:pt x="0" y="47625"/>
                    </a:moveTo>
                    <a:lnTo>
                      <a:pt x="47625" y="0"/>
                    </a:lnTo>
                  </a:path>
                </a:pathLst>
              </a:custGeom>
              <a:noFill/>
              <a:ln w="15875">
                <a:solidFill>
                  <a:srgbClr val="76200F"/>
                </a:solidFill>
              </a:ln>
            </p:spPr>
          </p:sp>
          <p:sp>
            <p:nvSpPr>
              <p:cNvPr id="47" name="Freeform 47"/>
              <p:cNvSpPr/>
              <p:nvPr/>
            </p:nvSpPr>
            <p:spPr>
              <a:xfrm>
                <a:off x="2259012" y="4314122"/>
                <a:ext cx="75304" cy="75316"/>
              </a:xfrm>
              <a:custGeom>
                <a:avLst/>
                <a:gdLst/>
                <a:ahLst/>
                <a:cxnLst/>
                <a:rect l="l" t="t" r="r" b="b"/>
                <a:pathLst>
                  <a:path w="75304" h="75316">
                    <a:moveTo>
                      <a:pt x="0" y="19753"/>
                    </a:moveTo>
                    <a:lnTo>
                      <a:pt x="3675" y="15499"/>
                    </a:lnTo>
                    <a:cubicBezTo>
                      <a:pt x="19176" y="0"/>
                      <a:pt x="44306" y="2"/>
                      <a:pt x="59805" y="15503"/>
                    </a:cubicBezTo>
                    <a:cubicBezTo>
                      <a:pt x="75304" y="31004"/>
                      <a:pt x="75302" y="56134"/>
                      <a:pt x="59801" y="71633"/>
                    </a:cubicBezTo>
                    <a:lnTo>
                      <a:pt x="55562" y="75316"/>
                    </a:lnTo>
                  </a:path>
                </a:pathLst>
              </a:custGeom>
              <a:noFill/>
              <a:ln w="15875">
                <a:solidFill>
                  <a:srgbClr val="76200F"/>
                </a:solidFill>
              </a:ln>
            </p:spPr>
          </p:sp>
          <p:sp>
            <p:nvSpPr>
              <p:cNvPr id="48" name="Freeform 48"/>
              <p:cNvSpPr/>
              <p:nvPr/>
            </p:nvSpPr>
            <p:spPr>
              <a:xfrm>
                <a:off x="2203449" y="4373562"/>
                <a:ext cx="71439" cy="75299"/>
              </a:xfrm>
              <a:custGeom>
                <a:avLst/>
                <a:gdLst/>
                <a:ahLst/>
                <a:cxnLst/>
                <a:rect l="l" t="t" r="r" b="b"/>
                <a:pathLst>
                  <a:path w="71439" h="75299">
                    <a:moveTo>
                      <a:pt x="71439" y="55562"/>
                    </a:moveTo>
                    <a:lnTo>
                      <a:pt x="68287" y="59801"/>
                    </a:lnTo>
                    <a:cubicBezTo>
                      <a:pt x="52615" y="75299"/>
                      <a:pt x="27389" y="75299"/>
                      <a:pt x="11717" y="59801"/>
                    </a:cubicBezTo>
                    <a:cubicBezTo>
                      <a:pt x="4219" y="52388"/>
                      <a:pt x="0" y="42282"/>
                      <a:pt x="0" y="31738"/>
                    </a:cubicBezTo>
                    <a:cubicBezTo>
                      <a:pt x="0" y="21194"/>
                      <a:pt x="4219" y="11089"/>
                      <a:pt x="11717" y="3675"/>
                    </a:cubicBezTo>
                    <a:lnTo>
                      <a:pt x="15876" y="0"/>
                    </a:lnTo>
                  </a:path>
                </a:pathLst>
              </a:custGeom>
              <a:noFill/>
              <a:ln w="15875">
                <a:solidFill>
                  <a:srgbClr val="76200F"/>
                </a:solidFill>
              </a:ln>
            </p:spPr>
          </p:sp>
        </p:grpSp>
        <p:sp>
          <p:nvSpPr>
            <p:cNvPr id="50" name="TextBox 50"/>
            <p:cNvSpPr txBox="1"/>
            <p:nvPr/>
          </p:nvSpPr>
          <p:spPr>
            <a:xfrm>
              <a:off x="2433638" y="4311491"/>
              <a:ext cx="451079"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生态共建</a:t>
              </a:r>
            </a:p>
          </p:txBody>
        </p:sp>
        <p:sp>
          <p:nvSpPr>
            <p:cNvPr id="51" name="TextBox 51"/>
            <p:cNvSpPr txBox="1"/>
            <p:nvPr/>
          </p:nvSpPr>
          <p:spPr>
            <a:xfrm>
              <a:off x="2433638" y="4476036"/>
              <a:ext cx="391846"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更大价值</a:t>
              </a:r>
            </a:p>
          </p:txBody>
        </p:sp>
        <p:sp>
          <p:nvSpPr>
            <p:cNvPr id="52" name="Rectangle 52"/>
            <p:cNvSpPr/>
            <p:nvPr/>
          </p:nvSpPr>
          <p:spPr>
            <a:xfrm>
              <a:off x="4629150" y="4305300"/>
              <a:ext cx="495300" cy="1466850"/>
            </a:xfrm>
            <a:prstGeom prst="roundRect">
              <a:avLst>
                <a:gd name="adj" fmla="val 11538"/>
              </a:avLst>
            </a:prstGeom>
            <a:solidFill>
              <a:srgbClr val="5D190B"/>
            </a:solidFill>
            <a:ln>
              <a:noFill/>
            </a:ln>
          </p:spPr>
        </p:sp>
        <p:sp>
          <p:nvSpPr>
            <p:cNvPr id="53" name="TextBox 53"/>
            <p:cNvSpPr txBox="1"/>
            <p:nvPr/>
          </p:nvSpPr>
          <p:spPr>
            <a:xfrm>
              <a:off x="4761649" y="45781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开放</a:t>
              </a:r>
            </a:p>
          </p:txBody>
        </p:sp>
        <p:sp>
          <p:nvSpPr>
            <p:cNvPr id="54" name="TextBox 54"/>
            <p:cNvSpPr txBox="1"/>
            <p:nvPr/>
          </p:nvSpPr>
          <p:spPr>
            <a:xfrm>
              <a:off x="4761649" y="48067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连接</a:t>
              </a:r>
            </a:p>
          </p:txBody>
        </p:sp>
        <p:sp>
          <p:nvSpPr>
            <p:cNvPr id="55" name="TextBox 55"/>
            <p:cNvSpPr txBox="1"/>
            <p:nvPr/>
          </p:nvSpPr>
          <p:spPr>
            <a:xfrm>
              <a:off x="4761649" y="50353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共享</a:t>
              </a:r>
            </a:p>
          </p:txBody>
        </p:sp>
        <p:sp>
          <p:nvSpPr>
            <p:cNvPr id="56" name="Rectangle 56"/>
            <p:cNvSpPr/>
            <p:nvPr/>
          </p:nvSpPr>
          <p:spPr>
            <a:xfrm>
              <a:off x="1866900" y="5143500"/>
              <a:ext cx="2667000" cy="590550"/>
            </a:xfrm>
            <a:prstGeom prst="roundRect">
              <a:avLst>
                <a:gd name="adj" fmla="val 12903"/>
              </a:avLst>
            </a:prstGeom>
            <a:gradFill>
              <a:gsLst>
                <a:gs pos="0">
                  <a:srgbClr val="A3422F"/>
                </a:gs>
                <a:gs pos="100000">
                  <a:srgbClr val="76200F"/>
                </a:gs>
              </a:gsLst>
              <a:lin ang="5400000" scaled="1"/>
            </a:gradFill>
            <a:ln>
              <a:noFill/>
            </a:ln>
          </p:spPr>
        </p:sp>
        <p:sp>
          <p:nvSpPr>
            <p:cNvPr id="57" name="Rectangle 57"/>
            <p:cNvSpPr/>
            <p:nvPr/>
          </p:nvSpPr>
          <p:spPr>
            <a:xfrm>
              <a:off x="2057400" y="5257800"/>
              <a:ext cx="666750" cy="361950"/>
            </a:xfrm>
            <a:prstGeom prst="roundRect">
              <a:avLst>
                <a:gd name="adj" fmla="val 10526"/>
              </a:avLst>
            </a:prstGeom>
            <a:solidFill>
              <a:srgbClr val="FFFFFF">
                <a:alpha val="85000"/>
              </a:srgbClr>
            </a:solidFill>
            <a:ln>
              <a:noFill/>
            </a:ln>
          </p:spPr>
        </p:sp>
        <p:sp>
          <p:nvSpPr>
            <p:cNvPr id="58" name="Rectangle 58"/>
            <p:cNvSpPr/>
            <p:nvPr/>
          </p:nvSpPr>
          <p:spPr>
            <a:xfrm>
              <a:off x="2857500" y="5257800"/>
              <a:ext cx="666750" cy="361950"/>
            </a:xfrm>
            <a:prstGeom prst="roundRect">
              <a:avLst>
                <a:gd name="adj" fmla="val 10526"/>
              </a:avLst>
            </a:prstGeom>
            <a:solidFill>
              <a:srgbClr val="FFFFFF">
                <a:alpha val="60000"/>
              </a:srgbClr>
            </a:solidFill>
            <a:ln>
              <a:noFill/>
            </a:ln>
          </p:spPr>
        </p:sp>
        <p:sp>
          <p:nvSpPr>
            <p:cNvPr id="59" name="Rectangle 59"/>
            <p:cNvSpPr/>
            <p:nvPr/>
          </p:nvSpPr>
          <p:spPr>
            <a:xfrm>
              <a:off x="3657600" y="5257800"/>
              <a:ext cx="666750" cy="361950"/>
            </a:xfrm>
            <a:prstGeom prst="roundRect">
              <a:avLst>
                <a:gd name="adj" fmla="val 10526"/>
              </a:avLst>
            </a:prstGeom>
            <a:solidFill>
              <a:srgbClr val="FFFFFF">
                <a:alpha val="40000"/>
              </a:srgbClr>
            </a:solidFill>
            <a:ln>
              <a:noFill/>
            </a:ln>
          </p:spPr>
        </p:sp>
        <p:sp>
          <p:nvSpPr>
            <p:cNvPr id="60" name="Ellipse 60"/>
            <p:cNvSpPr/>
            <p:nvPr/>
          </p:nvSpPr>
          <p:spPr>
            <a:xfrm>
              <a:off x="1304925" y="5553075"/>
              <a:ext cx="247650" cy="247650"/>
            </a:xfrm>
            <a:prstGeom prst="ellipse">
              <a:avLst/>
            </a:prstGeom>
            <a:solidFill>
              <a:srgbClr val="5D190B"/>
            </a:solidFill>
            <a:ln>
              <a:noFill/>
            </a:ln>
          </p:spPr>
        </p:sp>
        <p:sp>
          <p:nvSpPr>
            <p:cNvPr id="61" name="Rectangle 61"/>
            <p:cNvSpPr/>
            <p:nvPr/>
          </p:nvSpPr>
          <p:spPr>
            <a:xfrm>
              <a:off x="1323975" y="5810250"/>
              <a:ext cx="209550" cy="247650"/>
            </a:xfrm>
            <a:prstGeom prst="roundRect">
              <a:avLst>
                <a:gd name="adj" fmla="val 36364"/>
              </a:avLst>
            </a:prstGeom>
            <a:solidFill>
              <a:srgbClr val="A3422F"/>
            </a:solidFill>
            <a:ln>
              <a:noFill/>
            </a:ln>
          </p:spPr>
        </p:sp>
        <p:sp>
          <p:nvSpPr>
            <p:cNvPr id="62" name="Ellipse 62"/>
            <p:cNvSpPr/>
            <p:nvPr/>
          </p:nvSpPr>
          <p:spPr>
            <a:xfrm>
              <a:off x="1752600" y="5600700"/>
              <a:ext cx="228600" cy="228600"/>
            </a:xfrm>
            <a:prstGeom prst="ellipse">
              <a:avLst/>
            </a:prstGeom>
            <a:solidFill>
              <a:srgbClr val="76200F"/>
            </a:solidFill>
            <a:ln>
              <a:noFill/>
            </a:ln>
          </p:spPr>
        </p:sp>
        <p:sp>
          <p:nvSpPr>
            <p:cNvPr id="63" name="Rectangle 63"/>
            <p:cNvSpPr/>
            <p:nvPr/>
          </p:nvSpPr>
          <p:spPr>
            <a:xfrm>
              <a:off x="1771650" y="5838825"/>
              <a:ext cx="190500" cy="219075"/>
            </a:xfrm>
            <a:prstGeom prst="roundRect">
              <a:avLst>
                <a:gd name="adj" fmla="val 40000"/>
              </a:avLst>
            </a:prstGeom>
            <a:solidFill>
              <a:srgbClr val="C4887C"/>
            </a:solidFill>
            <a:ln>
              <a:noFill/>
            </a:ln>
          </p:spPr>
        </p:sp>
        <p:sp>
          <p:nvSpPr>
            <p:cNvPr id="64" name="Ellipse 64"/>
            <p:cNvSpPr/>
            <p:nvPr/>
          </p:nvSpPr>
          <p:spPr>
            <a:xfrm>
              <a:off x="4076700" y="5581650"/>
              <a:ext cx="228600" cy="228600"/>
            </a:xfrm>
            <a:prstGeom prst="ellipse">
              <a:avLst/>
            </a:prstGeom>
            <a:solidFill>
              <a:srgbClr val="76200F"/>
            </a:solidFill>
            <a:ln>
              <a:noFill/>
            </a:ln>
          </p:spPr>
        </p:sp>
        <p:sp>
          <p:nvSpPr>
            <p:cNvPr id="65" name="Rectangle 65"/>
            <p:cNvSpPr/>
            <p:nvPr/>
          </p:nvSpPr>
          <p:spPr>
            <a:xfrm>
              <a:off x="4095750" y="5819775"/>
              <a:ext cx="190500" cy="238125"/>
            </a:xfrm>
            <a:prstGeom prst="roundRect">
              <a:avLst>
                <a:gd name="adj" fmla="val 40000"/>
              </a:avLst>
            </a:prstGeom>
            <a:solidFill>
              <a:srgbClr val="BF6F5F"/>
            </a:solidFill>
            <a:ln>
              <a:noFill/>
            </a:ln>
          </p:spPr>
        </p:sp>
        <p:sp>
          <p:nvSpPr>
            <p:cNvPr id="66" name="Freeform 66"/>
            <p:cNvSpPr/>
            <p:nvPr/>
          </p:nvSpPr>
          <p:spPr>
            <a:xfrm>
              <a:off x="438150" y="3943350"/>
              <a:ext cx="190500" cy="1104900"/>
            </a:xfrm>
            <a:custGeom>
              <a:avLst/>
              <a:gdLst/>
              <a:ahLst/>
              <a:cxnLst/>
              <a:rect l="l" t="t" r="r" b="b"/>
              <a:pathLst>
                <a:path w="190500" h="1104900">
                  <a:moveTo>
                    <a:pt x="95250" y="0"/>
                  </a:moveTo>
                  <a:lnTo>
                    <a:pt x="95250" y="1104900"/>
                  </a:lnTo>
                  <a:moveTo>
                    <a:pt x="95250" y="0"/>
                  </a:moveTo>
                  <a:lnTo>
                    <a:pt x="190500" y="76200"/>
                  </a:lnTo>
                  <a:moveTo>
                    <a:pt x="95250" y="0"/>
                  </a:moveTo>
                  <a:lnTo>
                    <a:pt x="0" y="76200"/>
                  </a:lnTo>
                </a:path>
              </a:pathLst>
            </a:custGeom>
            <a:noFill/>
            <a:ln>
              <a:noFill/>
            </a:ln>
          </p:spPr>
        </p:sp>
      </p:grpSp>
      <p:grpSp>
        <p:nvGrpSpPr>
          <p:cNvPr id="81" name="ribbon-chips"/>
          <p:cNvGrpSpPr/>
          <p:nvPr/>
        </p:nvGrpSpPr>
        <p:grpSpPr>
          <a:xfrm>
            <a:off x="6000750" y="3790950"/>
            <a:ext cx="1962150" cy="1279207"/>
            <a:chOff x="6000750" y="3790950"/>
            <a:chExt cx="1962150" cy="1279207"/>
          </a:xfrm>
        </p:grpSpPr>
        <p:sp>
          <p:nvSpPr>
            <p:cNvPr id="68" name="Ellipse 68"/>
            <p:cNvSpPr/>
            <p:nvPr/>
          </p:nvSpPr>
          <p:spPr>
            <a:xfrm>
              <a:off x="6000750" y="3790950"/>
              <a:ext cx="571500" cy="571500"/>
            </a:xfrm>
            <a:prstGeom prst="ellipse">
              <a:avLst/>
            </a:prstGeom>
            <a:solidFill>
              <a:srgbClr val="FFFFFF"/>
            </a:solidFill>
            <a:ln w="19050">
              <a:solidFill>
                <a:srgbClr val="D6A59C"/>
              </a:solidFill>
            </a:ln>
          </p:spPr>
        </p:sp>
        <p:grpSp>
          <p:nvGrpSpPr>
            <p:cNvPr id="73" name="Group 73"/>
            <p:cNvGrpSpPr/>
            <p:nvPr/>
          </p:nvGrpSpPr>
          <p:grpSpPr>
            <a:xfrm>
              <a:off x="6184900" y="3962400"/>
              <a:ext cx="203200" cy="228599"/>
              <a:chOff x="6184900" y="3962400"/>
              <a:chExt cx="203200" cy="228599"/>
            </a:xfrm>
          </p:grpSpPr>
          <p:sp>
            <p:nvSpPr>
              <p:cNvPr id="69" name="Freeform 69"/>
              <p:cNvSpPr/>
              <p:nvPr/>
            </p:nvSpPr>
            <p:spPr>
              <a:xfrm>
                <a:off x="6184900" y="414019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76200F"/>
                </a:solidFill>
              </a:ln>
            </p:spPr>
          </p:sp>
          <p:sp>
            <p:nvSpPr>
              <p:cNvPr id="70" name="Freeform 70"/>
              <p:cNvSpPr/>
              <p:nvPr/>
            </p:nvSpPr>
            <p:spPr>
              <a:xfrm>
                <a:off x="6324600" y="414019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76200F"/>
                </a:solidFill>
              </a:ln>
            </p:spPr>
          </p:sp>
          <p:sp>
            <p:nvSpPr>
              <p:cNvPr id="71" name="Freeform 71"/>
              <p:cNvSpPr/>
              <p:nvPr/>
            </p:nvSpPr>
            <p:spPr>
              <a:xfrm>
                <a:off x="6184900" y="3962400"/>
                <a:ext cx="165100" cy="177800"/>
              </a:xfrm>
              <a:custGeom>
                <a:avLst/>
                <a:gdLst/>
                <a:ahLst/>
                <a:cxnLst/>
                <a:rect l="l" t="t" r="r" b="b"/>
                <a:pathLst>
                  <a:path w="165100" h="177800">
                    <a:moveTo>
                      <a:pt x="165100" y="177800"/>
                    </a:moveTo>
                    <a:lnTo>
                      <a:pt x="25400" y="177800"/>
                    </a:lnTo>
                    <a:lnTo>
                      <a:pt x="25400" y="0"/>
                    </a:lnTo>
                    <a:lnTo>
                      <a:pt x="0" y="0"/>
                    </a:lnTo>
                  </a:path>
                </a:pathLst>
              </a:custGeom>
              <a:noFill/>
              <a:ln w="25400">
                <a:solidFill>
                  <a:srgbClr val="76200F"/>
                </a:solidFill>
              </a:ln>
            </p:spPr>
          </p:sp>
          <p:sp>
            <p:nvSpPr>
              <p:cNvPr id="72" name="Freeform 72"/>
              <p:cNvSpPr/>
              <p:nvPr/>
            </p:nvSpPr>
            <p:spPr>
              <a:xfrm>
                <a:off x="6210300" y="3987800"/>
                <a:ext cx="177800" cy="101600"/>
              </a:xfrm>
              <a:custGeom>
                <a:avLst/>
                <a:gdLst/>
                <a:ahLst/>
                <a:cxnLst/>
                <a:rect l="l" t="t" r="r" b="b"/>
                <a:pathLst>
                  <a:path w="177800" h="101600">
                    <a:moveTo>
                      <a:pt x="0" y="0"/>
                    </a:moveTo>
                    <a:lnTo>
                      <a:pt x="177800" y="12700"/>
                    </a:lnTo>
                    <a:lnTo>
                      <a:pt x="165100" y="101600"/>
                    </a:lnTo>
                    <a:lnTo>
                      <a:pt x="0" y="101600"/>
                    </a:lnTo>
                  </a:path>
                </a:pathLst>
              </a:custGeom>
              <a:noFill/>
              <a:ln w="25400">
                <a:solidFill>
                  <a:srgbClr val="76200F"/>
                </a:solidFill>
              </a:ln>
            </p:spPr>
          </p:sp>
        </p:grpSp>
        <p:sp>
          <p:nvSpPr>
            <p:cNvPr id="74" name="TextBox 74"/>
            <p:cNvSpPr txBox="1"/>
            <p:nvPr/>
          </p:nvSpPr>
          <p:spPr>
            <a:xfrm>
              <a:off x="6160580" y="4455795"/>
              <a:ext cx="251841"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消费</a:t>
              </a:r>
            </a:p>
          </p:txBody>
        </p:sp>
        <p:sp>
          <p:nvSpPr>
            <p:cNvPr id="75" name="Ellipse 75"/>
            <p:cNvSpPr/>
            <p:nvPr/>
          </p:nvSpPr>
          <p:spPr>
            <a:xfrm>
              <a:off x="7391400" y="4229100"/>
              <a:ext cx="571500" cy="571500"/>
            </a:xfrm>
            <a:prstGeom prst="ellipse">
              <a:avLst/>
            </a:prstGeom>
            <a:solidFill>
              <a:srgbClr val="FFFFFF"/>
            </a:solidFill>
            <a:ln w="19050">
              <a:solidFill>
                <a:srgbClr val="D6A59C"/>
              </a:solidFill>
            </a:ln>
          </p:spPr>
        </p:sp>
        <p:grpSp>
          <p:nvGrpSpPr>
            <p:cNvPr id="79" name="Group 79"/>
            <p:cNvGrpSpPr/>
            <p:nvPr/>
          </p:nvGrpSpPr>
          <p:grpSpPr>
            <a:xfrm>
              <a:off x="7571538" y="4413250"/>
              <a:ext cx="207211" cy="207211"/>
              <a:chOff x="7571538" y="4413250"/>
              <a:chExt cx="207211" cy="207211"/>
            </a:xfrm>
          </p:grpSpPr>
          <p:sp>
            <p:nvSpPr>
              <p:cNvPr id="76" name="Freeform 76"/>
              <p:cNvSpPr/>
              <p:nvPr/>
            </p:nvSpPr>
            <p:spPr>
              <a:xfrm>
                <a:off x="7575550" y="4413250"/>
                <a:ext cx="203199" cy="203199"/>
              </a:xfrm>
              <a:custGeom>
                <a:avLst/>
                <a:gdLst/>
                <a:ahLst/>
                <a:cxnLst/>
                <a:rect l="l" t="t" r="r" b="b"/>
                <a:pathLst>
                  <a:path w="203199" h="203199">
                    <a:moveTo>
                      <a:pt x="0" y="114300"/>
                    </a:moveTo>
                    <a:cubicBezTo>
                      <a:pt x="46611" y="119839"/>
                      <a:pt x="83360" y="156588"/>
                      <a:pt x="88900" y="203199"/>
                    </a:cubicBezTo>
                    <a:cubicBezTo>
                      <a:pt x="111723" y="190042"/>
                      <a:pt x="126130" y="166029"/>
                      <a:pt x="127000" y="139700"/>
                    </a:cubicBezTo>
                    <a:cubicBezTo>
                      <a:pt x="170608" y="124359"/>
                      <a:pt x="200683" y="84260"/>
                      <a:pt x="203199" y="38100"/>
                    </a:cubicBezTo>
                    <a:cubicBezTo>
                      <a:pt x="203199" y="17058"/>
                      <a:pt x="186142" y="0"/>
                      <a:pt x="165100" y="0"/>
                    </a:cubicBezTo>
                    <a:cubicBezTo>
                      <a:pt x="118940" y="2517"/>
                      <a:pt x="78841" y="32591"/>
                      <a:pt x="63500" y="76200"/>
                    </a:cubicBezTo>
                    <a:cubicBezTo>
                      <a:pt x="37170" y="77069"/>
                      <a:pt x="13158" y="91477"/>
                      <a:pt x="0" y="114300"/>
                    </a:cubicBezTo>
                  </a:path>
                </a:pathLst>
              </a:custGeom>
              <a:noFill/>
              <a:ln w="25400">
                <a:solidFill>
                  <a:srgbClr val="76200F"/>
                </a:solidFill>
              </a:ln>
            </p:spPr>
          </p:sp>
          <p:sp>
            <p:nvSpPr>
              <p:cNvPr id="77" name="Freeform 77"/>
              <p:cNvSpPr/>
              <p:nvPr/>
            </p:nvSpPr>
            <p:spPr>
              <a:xfrm>
                <a:off x="7571538" y="4540250"/>
                <a:ext cx="80211" cy="80211"/>
              </a:xfrm>
              <a:custGeom>
                <a:avLst/>
                <a:gdLst/>
                <a:ahLst/>
                <a:cxnLst/>
                <a:rect l="l" t="t" r="r" b="b"/>
                <a:pathLst>
                  <a:path w="80211" h="80211">
                    <a:moveTo>
                      <a:pt x="42111" y="0"/>
                    </a:moveTo>
                    <a:cubicBezTo>
                      <a:pt x="15072" y="15265"/>
                      <a:pt x="0" y="45410"/>
                      <a:pt x="4011" y="76200"/>
                    </a:cubicBezTo>
                    <a:cubicBezTo>
                      <a:pt x="34802" y="80211"/>
                      <a:pt x="64946" y="65139"/>
                      <a:pt x="80211" y="38100"/>
                    </a:cubicBezTo>
                  </a:path>
                </a:pathLst>
              </a:custGeom>
              <a:noFill/>
              <a:ln w="25400">
                <a:solidFill>
                  <a:srgbClr val="76200F"/>
                </a:solidFill>
              </a:ln>
            </p:spPr>
          </p:sp>
          <p:sp>
            <p:nvSpPr>
              <p:cNvPr id="78" name="Freeform 78"/>
              <p:cNvSpPr/>
              <p:nvPr/>
            </p:nvSpPr>
            <p:spPr>
              <a:xfrm>
                <a:off x="7702550" y="44640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76200F"/>
                </a:solidFill>
              </a:ln>
            </p:spPr>
          </p:sp>
        </p:grpSp>
        <p:sp>
          <p:nvSpPr>
            <p:cNvPr id="80" name="TextBox 80"/>
            <p:cNvSpPr txBox="1"/>
            <p:nvPr/>
          </p:nvSpPr>
          <p:spPr>
            <a:xfrm>
              <a:off x="7551230" y="4893945"/>
              <a:ext cx="251841"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出行</a:t>
              </a:r>
            </a:p>
          </p:txBody>
        </p:sp>
      </p:grpSp>
      <p:grpSp>
        <p:nvGrpSpPr>
          <p:cNvPr id="155" name="phone"/>
          <p:cNvGrpSpPr/>
          <p:nvPr/>
        </p:nvGrpSpPr>
        <p:grpSpPr>
          <a:xfrm>
            <a:off x="8229600" y="1581150"/>
            <a:ext cx="2476500" cy="4191000"/>
            <a:chOff x="8229600" y="1581150"/>
            <a:chExt cx="2476500" cy="4191000"/>
          </a:xfrm>
        </p:grpSpPr>
        <p:sp>
          <p:nvSpPr>
            <p:cNvPr id="82" name="Ellipse 82"/>
            <p:cNvSpPr/>
            <p:nvPr/>
          </p:nvSpPr>
          <p:spPr>
            <a:xfrm>
              <a:off x="8229600" y="5581650"/>
              <a:ext cx="2476500" cy="190500"/>
            </a:xfrm>
            <a:prstGeom prst="ellipse">
              <a:avLst/>
            </a:prstGeom>
            <a:solidFill>
              <a:srgbClr val="76200F">
                <a:alpha val="8000"/>
              </a:srgbClr>
            </a:solidFill>
            <a:ln>
              <a:noFill/>
            </a:ln>
          </p:spPr>
        </p:sp>
        <p:sp>
          <p:nvSpPr>
            <p:cNvPr id="83" name="Rectangle 83"/>
            <p:cNvSpPr/>
            <p:nvPr/>
          </p:nvSpPr>
          <p:spPr>
            <a:xfrm>
              <a:off x="8248650" y="1581150"/>
              <a:ext cx="2400300" cy="4076700"/>
            </a:xfrm>
            <a:prstGeom prst="roundRect">
              <a:avLst>
                <a:gd name="adj" fmla="val 13492"/>
              </a:avLst>
            </a:prstGeom>
            <a:solidFill>
              <a:srgbClr val="5D190B"/>
            </a:solidFill>
            <a:ln>
              <a:noFill/>
            </a:ln>
          </p:spPr>
        </p:sp>
        <p:sp>
          <p:nvSpPr>
            <p:cNvPr id="84" name="Rectangle 84"/>
            <p:cNvSpPr/>
            <p:nvPr/>
          </p:nvSpPr>
          <p:spPr>
            <a:xfrm>
              <a:off x="8343900" y="1676400"/>
              <a:ext cx="2209800" cy="3886200"/>
            </a:xfrm>
            <a:prstGeom prst="roundRect">
              <a:avLst>
                <a:gd name="adj" fmla="val 11207"/>
              </a:avLst>
            </a:prstGeom>
            <a:solidFill>
              <a:srgbClr val="FFFFFF"/>
            </a:solidFill>
            <a:ln>
              <a:noFill/>
            </a:ln>
          </p:spPr>
        </p:sp>
        <p:sp>
          <p:nvSpPr>
            <p:cNvPr id="85" name="Rectangle 85"/>
            <p:cNvSpPr/>
            <p:nvPr/>
          </p:nvSpPr>
          <p:spPr>
            <a:xfrm>
              <a:off x="8858250" y="1752600"/>
              <a:ext cx="1181100" cy="85725"/>
            </a:xfrm>
            <a:prstGeom prst="roundRect">
              <a:avLst>
                <a:gd name="adj" fmla="val 50000"/>
              </a:avLst>
            </a:prstGeom>
            <a:solidFill>
              <a:srgbClr val="5D190B"/>
            </a:solidFill>
            <a:ln>
              <a:noFill/>
            </a:ln>
          </p:spPr>
        </p:sp>
        <p:sp>
          <p:nvSpPr>
            <p:cNvPr id="86" name="TextBox 86"/>
            <p:cNvSpPr txBox="1"/>
            <p:nvPr/>
          </p:nvSpPr>
          <p:spPr>
            <a:xfrm>
              <a:off x="8915375" y="1993106"/>
              <a:ext cx="1066851" cy="220028"/>
            </a:xfrm>
            <a:prstGeom prst="rect">
              <a:avLst/>
            </a:prstGeom>
            <a:noFill/>
            <a:ln>
              <a:noFill/>
            </a:ln>
          </p:spPr>
          <p:txBody>
            <a:bodyPr wrap="none" lIns="0" tIns="0" rIns="0" bIns="0" anchor="t" anchorCtr="0">
              <a:spAutoFit/>
            </a:bodyPr>
            <a:lstStyle/>
            <a:p>
              <a:pPr algn="ctr"/>
              <a:r>
                <a:rPr lang="zh-CN" sz="1120" b="1" dirty="0">
                  <a:solidFill>
                    <a:srgbClr val="5D190B"/>
                  </a:solidFill>
                  <a:latin typeface="+mn-lt"/>
                  <a:ea typeface="+mn-ea"/>
                  <a:cs typeface="+mn-cs"/>
                </a:rPr>
                <a:t>一站式金融生态</a:t>
              </a:r>
            </a:p>
          </p:txBody>
        </p:sp>
        <p:sp>
          <p:nvSpPr>
            <p:cNvPr id="87" name="TextBox 87"/>
            <p:cNvSpPr txBox="1"/>
            <p:nvPr/>
          </p:nvSpPr>
          <p:spPr>
            <a:xfrm>
              <a:off x="8839987" y="2183606"/>
              <a:ext cx="1217625" cy="220028"/>
            </a:xfrm>
            <a:prstGeom prst="rect">
              <a:avLst/>
            </a:prstGeom>
            <a:noFill/>
            <a:ln>
              <a:noFill/>
            </a:ln>
          </p:spPr>
          <p:txBody>
            <a:bodyPr wrap="none" lIns="0" tIns="0" rIns="0" bIns="0" anchor="t" anchorCtr="0">
              <a:spAutoFit/>
            </a:bodyPr>
            <a:lstStyle/>
            <a:p>
              <a:pPr algn="ctr"/>
              <a:r>
                <a:rPr lang="zh-CN" sz="1120" b="1" dirty="0">
                  <a:solidFill>
                    <a:srgbClr val="5D190B"/>
                  </a:solidFill>
                  <a:latin typeface="+mn-lt"/>
                  <a:ea typeface="+mn-ea"/>
                  <a:cs typeface="+mn-cs"/>
                </a:rPr>
                <a:t>美好生活触手可及</a:t>
              </a:r>
            </a:p>
          </p:txBody>
        </p:sp>
        <p:sp>
          <p:nvSpPr>
            <p:cNvPr id="88" name="Rectangle 88"/>
            <p:cNvSpPr/>
            <p:nvPr/>
          </p:nvSpPr>
          <p:spPr>
            <a:xfrm>
              <a:off x="8458200" y="2419350"/>
              <a:ext cx="1981200" cy="495300"/>
            </a:xfrm>
            <a:prstGeom prst="roundRect">
              <a:avLst>
                <a:gd name="adj" fmla="val 15385"/>
              </a:avLst>
            </a:prstGeom>
            <a:solidFill>
              <a:srgbClr val="E8F4F1"/>
            </a:solidFill>
            <a:ln>
              <a:noFill/>
            </a:ln>
          </p:spPr>
        </p:sp>
        <p:grpSp>
          <p:nvGrpSpPr>
            <p:cNvPr id="91" name="Group 91"/>
            <p:cNvGrpSpPr/>
            <p:nvPr/>
          </p:nvGrpSpPr>
          <p:grpSpPr>
            <a:xfrm>
              <a:off x="8620125" y="2619375"/>
              <a:ext cx="171450" cy="95250"/>
              <a:chOff x="8620125" y="2619375"/>
              <a:chExt cx="171450" cy="95250"/>
            </a:xfrm>
          </p:grpSpPr>
          <p:sp>
            <p:nvSpPr>
              <p:cNvPr id="89" name="Freeform 89"/>
              <p:cNvSpPr/>
              <p:nvPr/>
            </p:nvSpPr>
            <p:spPr>
              <a:xfrm>
                <a:off x="8620125" y="261937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76200F"/>
                </a:solidFill>
              </a:ln>
            </p:spPr>
          </p:sp>
          <p:sp>
            <p:nvSpPr>
              <p:cNvPr id="90" name="Freeform 90"/>
              <p:cNvSpPr/>
              <p:nvPr/>
            </p:nvSpPr>
            <p:spPr>
              <a:xfrm>
                <a:off x="8724900" y="2619375"/>
                <a:ext cx="66675" cy="66675"/>
              </a:xfrm>
              <a:custGeom>
                <a:avLst/>
                <a:gdLst/>
                <a:ahLst/>
                <a:cxnLst/>
                <a:rect l="l" t="t" r="r" b="b"/>
                <a:pathLst>
                  <a:path w="66675" h="66675">
                    <a:moveTo>
                      <a:pt x="0" y="0"/>
                    </a:moveTo>
                    <a:lnTo>
                      <a:pt x="66675" y="0"/>
                    </a:lnTo>
                    <a:lnTo>
                      <a:pt x="66675" y="66675"/>
                    </a:lnTo>
                  </a:path>
                </a:pathLst>
              </a:custGeom>
              <a:noFill/>
              <a:ln w="19050">
                <a:solidFill>
                  <a:srgbClr val="76200F"/>
                </a:solidFill>
              </a:ln>
            </p:spPr>
          </p:sp>
        </p:grpSp>
        <p:grpSp>
          <p:nvGrpSpPr>
            <p:cNvPr id="94" name="Group 94"/>
            <p:cNvGrpSpPr/>
            <p:nvPr/>
          </p:nvGrpSpPr>
          <p:grpSpPr>
            <a:xfrm>
              <a:off x="8960370" y="2582913"/>
              <a:ext cx="172200" cy="172467"/>
              <a:chOff x="8960370" y="2582913"/>
              <a:chExt cx="172200" cy="172467"/>
            </a:xfrm>
          </p:grpSpPr>
          <p:sp>
            <p:nvSpPr>
              <p:cNvPr id="92" name="Freeform 92"/>
              <p:cNvSpPr/>
              <p:nvPr/>
            </p:nvSpPr>
            <p:spPr>
              <a:xfrm>
                <a:off x="8960370" y="2582913"/>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9050">
                <a:solidFill>
                  <a:srgbClr val="A3422F"/>
                </a:solidFill>
              </a:ln>
            </p:spPr>
          </p:sp>
          <p:sp>
            <p:nvSpPr>
              <p:cNvPr id="93" name="Freeform 93"/>
              <p:cNvSpPr/>
              <p:nvPr/>
            </p:nvSpPr>
            <p:spPr>
              <a:xfrm>
                <a:off x="9077325" y="2586038"/>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9050">
                <a:solidFill>
                  <a:srgbClr val="A3422F"/>
                </a:solidFill>
              </a:ln>
            </p:spPr>
          </p:sp>
        </p:grpSp>
        <p:grpSp>
          <p:nvGrpSpPr>
            <p:cNvPr id="97" name="Group 97"/>
            <p:cNvGrpSpPr/>
            <p:nvPr/>
          </p:nvGrpSpPr>
          <p:grpSpPr>
            <a:xfrm>
              <a:off x="9315450" y="2590800"/>
              <a:ext cx="152400" cy="152400"/>
              <a:chOff x="9315450" y="2590800"/>
              <a:chExt cx="152400" cy="152400"/>
            </a:xfrm>
          </p:grpSpPr>
          <p:sp>
            <p:nvSpPr>
              <p:cNvPr id="95" name="Freeform 95"/>
              <p:cNvSpPr/>
              <p:nvPr/>
            </p:nvSpPr>
            <p:spPr>
              <a:xfrm>
                <a:off x="9315450" y="2590800"/>
                <a:ext cx="142875" cy="152400"/>
              </a:xfrm>
              <a:custGeom>
                <a:avLst/>
                <a:gdLst/>
                <a:ahLst/>
                <a:cxnLst/>
                <a:rect l="l" t="t" r="r" b="b"/>
                <a:pathLst>
                  <a:path w="142875" h="152400">
                    <a:moveTo>
                      <a:pt x="123825" y="38100"/>
                    </a:moveTo>
                    <a:lnTo>
                      <a:pt x="123825" y="9525"/>
                    </a:lnTo>
                    <a:cubicBezTo>
                      <a:pt x="123825" y="4264"/>
                      <a:pt x="119561" y="0"/>
                      <a:pt x="114300" y="0"/>
                    </a:cubicBezTo>
                    <a:lnTo>
                      <a:pt x="19050" y="0"/>
                    </a:lnTo>
                    <a:cubicBezTo>
                      <a:pt x="8529" y="0"/>
                      <a:pt x="0" y="8529"/>
                      <a:pt x="0" y="19050"/>
                    </a:cubicBezTo>
                    <a:cubicBezTo>
                      <a:pt x="0" y="29571"/>
                      <a:pt x="8529" y="38100"/>
                      <a:pt x="19050" y="38100"/>
                    </a:cubicBezTo>
                    <a:lnTo>
                      <a:pt x="133350" y="38100"/>
                    </a:lnTo>
                    <a:cubicBezTo>
                      <a:pt x="138611" y="38100"/>
                      <a:pt x="142875" y="42364"/>
                      <a:pt x="142875" y="47625"/>
                    </a:cubicBezTo>
                    <a:lnTo>
                      <a:pt x="142875" y="76200"/>
                    </a:lnTo>
                    <a:moveTo>
                      <a:pt x="142875" y="114300"/>
                    </a:moveTo>
                    <a:lnTo>
                      <a:pt x="142875" y="142875"/>
                    </a:lnTo>
                    <a:cubicBezTo>
                      <a:pt x="142875" y="148136"/>
                      <a:pt x="138611" y="152400"/>
                      <a:pt x="133350" y="152400"/>
                    </a:cubicBezTo>
                    <a:lnTo>
                      <a:pt x="19050" y="152400"/>
                    </a:lnTo>
                    <a:cubicBezTo>
                      <a:pt x="8529" y="152400"/>
                      <a:pt x="0" y="143871"/>
                      <a:pt x="0" y="133350"/>
                    </a:cubicBezTo>
                    <a:lnTo>
                      <a:pt x="0" y="19050"/>
                    </a:lnTo>
                  </a:path>
                </a:pathLst>
              </a:custGeom>
              <a:noFill/>
              <a:ln w="19050">
                <a:solidFill>
                  <a:srgbClr val="76200F"/>
                </a:solidFill>
              </a:ln>
            </p:spPr>
          </p:sp>
          <p:sp>
            <p:nvSpPr>
              <p:cNvPr id="96" name="Freeform 96"/>
              <p:cNvSpPr/>
              <p:nvPr/>
            </p:nvSpPr>
            <p:spPr>
              <a:xfrm>
                <a:off x="9410700" y="2667000"/>
                <a:ext cx="57150" cy="38100"/>
              </a:xfrm>
              <a:custGeom>
                <a:avLst/>
                <a:gdLst/>
                <a:ahLst/>
                <a:cxnLst/>
                <a:rect l="l" t="t" r="r" b="b"/>
                <a:pathLst>
                  <a:path w="57150" h="38100">
                    <a:moveTo>
                      <a:pt x="57150" y="0"/>
                    </a:moveTo>
                    <a:lnTo>
                      <a:pt x="57150" y="38100"/>
                    </a:lnTo>
                    <a:lnTo>
                      <a:pt x="19050" y="38100"/>
                    </a:lnTo>
                    <a:cubicBezTo>
                      <a:pt x="8529" y="38100"/>
                      <a:pt x="0" y="29571"/>
                      <a:pt x="0" y="19050"/>
                    </a:cubicBezTo>
                    <a:cubicBezTo>
                      <a:pt x="0" y="8529"/>
                      <a:pt x="8529" y="0"/>
                      <a:pt x="19050" y="0"/>
                    </a:cubicBezTo>
                    <a:lnTo>
                      <a:pt x="57150" y="0"/>
                    </a:lnTo>
                  </a:path>
                </a:pathLst>
              </a:custGeom>
              <a:noFill/>
              <a:ln w="19050">
                <a:solidFill>
                  <a:srgbClr val="76200F"/>
                </a:solidFill>
              </a:ln>
            </p:spPr>
          </p:sp>
        </p:grpSp>
        <p:grpSp>
          <p:nvGrpSpPr>
            <p:cNvPr id="100" name="Group 100"/>
            <p:cNvGrpSpPr/>
            <p:nvPr/>
          </p:nvGrpSpPr>
          <p:grpSpPr>
            <a:xfrm>
              <a:off x="9635971" y="2581275"/>
              <a:ext cx="186006" cy="171450"/>
              <a:chOff x="9635971" y="2581275"/>
              <a:chExt cx="186006" cy="171450"/>
            </a:xfrm>
          </p:grpSpPr>
          <p:sp>
            <p:nvSpPr>
              <p:cNvPr id="98" name="Freeform 98"/>
              <p:cNvSpPr/>
              <p:nvPr/>
            </p:nvSpPr>
            <p:spPr>
              <a:xfrm>
                <a:off x="9635971" y="25812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A3422F"/>
                </a:solidFill>
              </a:ln>
            </p:spPr>
          </p:sp>
          <p:sp>
            <p:nvSpPr>
              <p:cNvPr id="99" name="Freeform 99"/>
              <p:cNvSpPr/>
              <p:nvPr/>
            </p:nvSpPr>
            <p:spPr>
              <a:xfrm>
                <a:off x="9763125" y="2714625"/>
                <a:ext cx="57150" cy="38100"/>
              </a:xfrm>
              <a:custGeom>
                <a:avLst/>
                <a:gdLst/>
                <a:ahLst/>
                <a:cxnLst/>
                <a:rect l="l" t="t" r="r" b="b"/>
                <a:pathLst>
                  <a:path w="57150" h="38100">
                    <a:moveTo>
                      <a:pt x="0" y="19050"/>
                    </a:moveTo>
                    <a:lnTo>
                      <a:pt x="19050" y="38100"/>
                    </a:lnTo>
                    <a:lnTo>
                      <a:pt x="57150" y="0"/>
                    </a:lnTo>
                  </a:path>
                </a:pathLst>
              </a:custGeom>
              <a:noFill/>
              <a:ln w="19050">
                <a:solidFill>
                  <a:srgbClr val="A3422F"/>
                </a:solidFill>
              </a:ln>
            </p:spPr>
          </p:sp>
        </p:grpSp>
        <p:grpSp>
          <p:nvGrpSpPr>
            <p:cNvPr id="106" name="Group 106"/>
            <p:cNvGrpSpPr/>
            <p:nvPr/>
          </p:nvGrpSpPr>
          <p:grpSpPr>
            <a:xfrm>
              <a:off x="9991725" y="2579999"/>
              <a:ext cx="171450" cy="172726"/>
              <a:chOff x="9991725" y="2579999"/>
              <a:chExt cx="171450" cy="172726"/>
            </a:xfrm>
          </p:grpSpPr>
          <p:sp>
            <p:nvSpPr>
              <p:cNvPr id="101" name="Freeform 101"/>
              <p:cNvSpPr/>
              <p:nvPr/>
            </p:nvSpPr>
            <p:spPr>
              <a:xfrm>
                <a:off x="10048875" y="265747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76200F"/>
                </a:solidFill>
              </a:ln>
            </p:spPr>
          </p:sp>
          <p:sp>
            <p:nvSpPr>
              <p:cNvPr id="102" name="Freeform 102"/>
              <p:cNvSpPr/>
              <p:nvPr/>
            </p:nvSpPr>
            <p:spPr>
              <a:xfrm>
                <a:off x="10048875" y="268605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76200F"/>
                </a:solidFill>
              </a:ln>
            </p:spPr>
          </p:sp>
          <p:sp>
            <p:nvSpPr>
              <p:cNvPr id="103" name="Freeform 103"/>
              <p:cNvSpPr/>
              <p:nvPr/>
            </p:nvSpPr>
            <p:spPr>
              <a:xfrm>
                <a:off x="9991725" y="257999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76200F"/>
                </a:solidFill>
              </a:ln>
            </p:spPr>
          </p:sp>
          <p:sp>
            <p:nvSpPr>
              <p:cNvPr id="104" name="Freeform 104"/>
              <p:cNvSpPr/>
              <p:nvPr/>
            </p:nvSpPr>
            <p:spPr>
              <a:xfrm>
                <a:off x="9991725" y="260985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76200F"/>
                </a:solidFill>
              </a:ln>
            </p:spPr>
          </p:sp>
          <p:sp>
            <p:nvSpPr>
              <p:cNvPr id="105" name="Freeform 105"/>
              <p:cNvSpPr/>
              <p:nvPr/>
            </p:nvSpPr>
            <p:spPr>
              <a:xfrm>
                <a:off x="9991725" y="265747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76200F"/>
                </a:solidFill>
              </a:ln>
            </p:spPr>
          </p:sp>
        </p:grpSp>
        <p:grpSp>
          <p:nvGrpSpPr>
            <p:cNvPr id="151" name="phone-grid"/>
            <p:cNvGrpSpPr/>
            <p:nvPr/>
          </p:nvGrpSpPr>
          <p:grpSpPr>
            <a:xfrm>
              <a:off x="8543925" y="3114675"/>
              <a:ext cx="1846237" cy="1450895"/>
              <a:chOff x="8543925" y="3114675"/>
              <a:chExt cx="1846237" cy="1450895"/>
            </a:xfrm>
          </p:grpSpPr>
          <p:sp>
            <p:nvSpPr>
              <p:cNvPr id="107" name="Ellipse 107"/>
              <p:cNvSpPr/>
              <p:nvPr/>
            </p:nvSpPr>
            <p:spPr>
              <a:xfrm>
                <a:off x="8543925" y="3114675"/>
                <a:ext cx="400050" cy="400050"/>
              </a:xfrm>
              <a:prstGeom prst="ellipse">
                <a:avLst/>
              </a:prstGeom>
              <a:solidFill>
                <a:srgbClr val="E8F4F1"/>
              </a:solidFill>
              <a:ln>
                <a:noFill/>
              </a:ln>
            </p:spPr>
          </p:sp>
          <p:grpSp>
            <p:nvGrpSpPr>
              <p:cNvPr id="110" name="Group 110"/>
              <p:cNvGrpSpPr/>
              <p:nvPr/>
            </p:nvGrpSpPr>
            <p:grpSpPr>
              <a:xfrm>
                <a:off x="8667750" y="3238500"/>
                <a:ext cx="152400" cy="152400"/>
                <a:chOff x="8667750" y="3238500"/>
                <a:chExt cx="152400" cy="152400"/>
              </a:xfrm>
            </p:grpSpPr>
            <p:sp>
              <p:nvSpPr>
                <p:cNvPr id="108" name="Freeform 108"/>
                <p:cNvSpPr/>
                <p:nvPr/>
              </p:nvSpPr>
              <p:spPr>
                <a:xfrm>
                  <a:off x="8667750" y="3238500"/>
                  <a:ext cx="142875" cy="152400"/>
                </a:xfrm>
                <a:custGeom>
                  <a:avLst/>
                  <a:gdLst/>
                  <a:ahLst/>
                  <a:cxnLst/>
                  <a:rect l="l" t="t" r="r" b="b"/>
                  <a:pathLst>
                    <a:path w="142875" h="152400">
                      <a:moveTo>
                        <a:pt x="123825" y="38100"/>
                      </a:moveTo>
                      <a:lnTo>
                        <a:pt x="123825" y="9525"/>
                      </a:lnTo>
                      <a:cubicBezTo>
                        <a:pt x="123825" y="4264"/>
                        <a:pt x="119561" y="0"/>
                        <a:pt x="114300" y="0"/>
                      </a:cubicBezTo>
                      <a:lnTo>
                        <a:pt x="19050" y="0"/>
                      </a:lnTo>
                      <a:cubicBezTo>
                        <a:pt x="8529" y="0"/>
                        <a:pt x="0" y="8529"/>
                        <a:pt x="0" y="19050"/>
                      </a:cubicBezTo>
                      <a:cubicBezTo>
                        <a:pt x="0" y="29571"/>
                        <a:pt x="8529" y="38100"/>
                        <a:pt x="19050" y="38100"/>
                      </a:cubicBezTo>
                      <a:lnTo>
                        <a:pt x="133350" y="38100"/>
                      </a:lnTo>
                      <a:cubicBezTo>
                        <a:pt x="138611" y="38100"/>
                        <a:pt x="142875" y="42364"/>
                        <a:pt x="142875" y="47625"/>
                      </a:cubicBezTo>
                      <a:lnTo>
                        <a:pt x="142875" y="76200"/>
                      </a:lnTo>
                      <a:moveTo>
                        <a:pt x="142875" y="114300"/>
                      </a:moveTo>
                      <a:lnTo>
                        <a:pt x="142875" y="142875"/>
                      </a:lnTo>
                      <a:cubicBezTo>
                        <a:pt x="142875" y="148136"/>
                        <a:pt x="138611" y="152400"/>
                        <a:pt x="133350" y="152400"/>
                      </a:cubicBezTo>
                      <a:lnTo>
                        <a:pt x="19050" y="152400"/>
                      </a:lnTo>
                      <a:cubicBezTo>
                        <a:pt x="8529" y="152400"/>
                        <a:pt x="0" y="143871"/>
                        <a:pt x="0" y="133350"/>
                      </a:cubicBezTo>
                      <a:lnTo>
                        <a:pt x="0" y="19050"/>
                      </a:lnTo>
                    </a:path>
                  </a:pathLst>
                </a:custGeom>
                <a:noFill/>
                <a:ln w="19050">
                  <a:solidFill>
                    <a:srgbClr val="76200F"/>
                  </a:solidFill>
                </a:ln>
              </p:spPr>
            </p:sp>
            <p:sp>
              <p:nvSpPr>
                <p:cNvPr id="109" name="Freeform 109"/>
                <p:cNvSpPr/>
                <p:nvPr/>
              </p:nvSpPr>
              <p:spPr>
                <a:xfrm>
                  <a:off x="8763000" y="3314700"/>
                  <a:ext cx="57150" cy="38100"/>
                </a:xfrm>
                <a:custGeom>
                  <a:avLst/>
                  <a:gdLst/>
                  <a:ahLst/>
                  <a:cxnLst/>
                  <a:rect l="l" t="t" r="r" b="b"/>
                  <a:pathLst>
                    <a:path w="57150" h="38100">
                      <a:moveTo>
                        <a:pt x="57150" y="0"/>
                      </a:moveTo>
                      <a:lnTo>
                        <a:pt x="57150" y="38100"/>
                      </a:lnTo>
                      <a:lnTo>
                        <a:pt x="19050" y="38100"/>
                      </a:lnTo>
                      <a:cubicBezTo>
                        <a:pt x="8529" y="38100"/>
                        <a:pt x="0" y="29571"/>
                        <a:pt x="0" y="19050"/>
                      </a:cubicBezTo>
                      <a:cubicBezTo>
                        <a:pt x="0" y="8529"/>
                        <a:pt x="8529" y="0"/>
                        <a:pt x="19050" y="0"/>
                      </a:cubicBezTo>
                      <a:lnTo>
                        <a:pt x="57150" y="0"/>
                      </a:lnTo>
                    </a:path>
                  </a:pathLst>
                </a:custGeom>
                <a:noFill/>
                <a:ln w="19050">
                  <a:solidFill>
                    <a:srgbClr val="76200F"/>
                  </a:solidFill>
                </a:ln>
              </p:spPr>
            </p:sp>
          </p:grpSp>
          <p:sp>
            <p:nvSpPr>
              <p:cNvPr id="111" name="TextBox 111"/>
              <p:cNvSpPr txBox="1"/>
              <p:nvPr/>
            </p:nvSpPr>
            <p:spPr>
              <a:xfrm>
                <a:off x="8632838" y="3591639"/>
                <a:ext cx="222225" cy="154781"/>
              </a:xfrm>
              <a:prstGeom prst="rect">
                <a:avLst/>
              </a:prstGeom>
              <a:noFill/>
              <a:ln>
                <a:noFill/>
              </a:ln>
            </p:spPr>
            <p:txBody>
              <a:bodyPr wrap="none" lIns="0" tIns="0" rIns="0" bIns="0" anchor="t" anchorCtr="0">
                <a:spAutoFit/>
              </a:bodyPr>
              <a:lstStyle/>
              <a:p>
                <a:pPr algn="ctr"/>
                <a:r>
                  <a:rPr lang="zh-CN" sz="790" dirty="0">
                    <a:solidFill>
                      <a:srgbClr val="514340"/>
                    </a:solidFill>
                    <a:latin typeface="+mn-lt"/>
                    <a:ea typeface="+mn-ea"/>
                    <a:cs typeface="+mn-cs"/>
                  </a:rPr>
                  <a:t>餐饮</a:t>
                </a:r>
              </a:p>
            </p:txBody>
          </p:sp>
          <p:sp>
            <p:nvSpPr>
              <p:cNvPr id="112" name="Ellipse 112"/>
              <p:cNvSpPr/>
              <p:nvPr/>
            </p:nvSpPr>
            <p:spPr>
              <a:xfrm>
                <a:off x="9020175" y="3114675"/>
                <a:ext cx="400050" cy="400050"/>
              </a:xfrm>
              <a:prstGeom prst="ellipse">
                <a:avLst/>
              </a:prstGeom>
              <a:solidFill>
                <a:srgbClr val="E8F4F1"/>
              </a:solidFill>
              <a:ln>
                <a:noFill/>
              </a:ln>
            </p:spPr>
          </p:sp>
          <p:grpSp>
            <p:nvGrpSpPr>
              <p:cNvPr id="121" name="Group 121"/>
              <p:cNvGrpSpPr/>
              <p:nvPr/>
            </p:nvGrpSpPr>
            <p:grpSpPr>
              <a:xfrm>
                <a:off x="9134475" y="3228975"/>
                <a:ext cx="171450" cy="180975"/>
                <a:chOff x="9134475" y="3228975"/>
                <a:chExt cx="171450" cy="180975"/>
              </a:xfrm>
            </p:grpSpPr>
            <p:sp>
              <p:nvSpPr>
                <p:cNvPr id="113" name="Freeform 113"/>
                <p:cNvSpPr/>
                <p:nvPr/>
              </p:nvSpPr>
              <p:spPr>
                <a:xfrm>
                  <a:off x="9134475" y="3400425"/>
                  <a:ext cx="171450" cy="9525"/>
                </a:xfrm>
                <a:custGeom>
                  <a:avLst/>
                  <a:gdLst/>
                  <a:ahLst/>
                  <a:cxnLst/>
                  <a:rect l="l" t="t" r="r" b="b"/>
                  <a:pathLst>
                    <a:path w="171450" h="9525">
                      <a:moveTo>
                        <a:pt x="0" y="0"/>
                      </a:moveTo>
                      <a:lnTo>
                        <a:pt x="171450" y="0"/>
                      </a:lnTo>
                    </a:path>
                  </a:pathLst>
                </a:custGeom>
                <a:noFill/>
                <a:ln w="19050">
                  <a:solidFill>
                    <a:srgbClr val="76200F"/>
                  </a:solidFill>
                </a:ln>
              </p:spPr>
            </p:sp>
            <p:sp>
              <p:nvSpPr>
                <p:cNvPr id="114" name="Freeform 114"/>
                <p:cNvSpPr/>
                <p:nvPr/>
              </p:nvSpPr>
              <p:spPr>
                <a:xfrm>
                  <a:off x="9134475" y="3295650"/>
                  <a:ext cx="171450" cy="9525"/>
                </a:xfrm>
                <a:custGeom>
                  <a:avLst/>
                  <a:gdLst/>
                  <a:ahLst/>
                  <a:cxnLst/>
                  <a:rect l="l" t="t" r="r" b="b"/>
                  <a:pathLst>
                    <a:path w="171450" h="9525">
                      <a:moveTo>
                        <a:pt x="0" y="0"/>
                      </a:moveTo>
                      <a:lnTo>
                        <a:pt x="171450" y="0"/>
                      </a:lnTo>
                    </a:path>
                  </a:pathLst>
                </a:custGeom>
                <a:noFill/>
                <a:ln w="19050">
                  <a:solidFill>
                    <a:srgbClr val="76200F"/>
                  </a:solidFill>
                </a:ln>
              </p:spPr>
            </p:sp>
            <p:sp>
              <p:nvSpPr>
                <p:cNvPr id="115" name="Freeform 115"/>
                <p:cNvSpPr/>
                <p:nvPr/>
              </p:nvSpPr>
              <p:spPr>
                <a:xfrm>
                  <a:off x="9153525" y="3228975"/>
                  <a:ext cx="133350" cy="28575"/>
                </a:xfrm>
                <a:custGeom>
                  <a:avLst/>
                  <a:gdLst/>
                  <a:ahLst/>
                  <a:cxnLst/>
                  <a:rect l="l" t="t" r="r" b="b"/>
                  <a:pathLst>
                    <a:path w="133350" h="28575">
                      <a:moveTo>
                        <a:pt x="0" y="28575"/>
                      </a:moveTo>
                      <a:lnTo>
                        <a:pt x="66675" y="0"/>
                      </a:lnTo>
                      <a:lnTo>
                        <a:pt x="133350" y="28575"/>
                      </a:lnTo>
                    </a:path>
                  </a:pathLst>
                </a:custGeom>
                <a:noFill/>
                <a:ln w="19050">
                  <a:solidFill>
                    <a:srgbClr val="76200F"/>
                  </a:solidFill>
                </a:ln>
              </p:spPr>
            </p:sp>
            <p:sp>
              <p:nvSpPr>
                <p:cNvPr id="116" name="Freeform 116"/>
                <p:cNvSpPr/>
                <p:nvPr/>
              </p:nvSpPr>
              <p:spPr>
                <a:xfrm>
                  <a:off x="9144000" y="3295650"/>
                  <a:ext cx="9525" cy="104775"/>
                </a:xfrm>
                <a:custGeom>
                  <a:avLst/>
                  <a:gdLst/>
                  <a:ahLst/>
                  <a:cxnLst/>
                  <a:rect l="l" t="t" r="r" b="b"/>
                  <a:pathLst>
                    <a:path w="9525" h="104775">
                      <a:moveTo>
                        <a:pt x="0" y="0"/>
                      </a:moveTo>
                      <a:lnTo>
                        <a:pt x="0" y="104775"/>
                      </a:lnTo>
                    </a:path>
                  </a:pathLst>
                </a:custGeom>
                <a:noFill/>
                <a:ln w="19050">
                  <a:solidFill>
                    <a:srgbClr val="76200F"/>
                  </a:solidFill>
                </a:ln>
              </p:spPr>
            </p:sp>
            <p:sp>
              <p:nvSpPr>
                <p:cNvPr id="117" name="Freeform 117"/>
                <p:cNvSpPr/>
                <p:nvPr/>
              </p:nvSpPr>
              <p:spPr>
                <a:xfrm>
                  <a:off x="9296400" y="3295650"/>
                  <a:ext cx="9525" cy="104775"/>
                </a:xfrm>
                <a:custGeom>
                  <a:avLst/>
                  <a:gdLst/>
                  <a:ahLst/>
                  <a:cxnLst/>
                  <a:rect l="l" t="t" r="r" b="b"/>
                  <a:pathLst>
                    <a:path w="9525" h="104775">
                      <a:moveTo>
                        <a:pt x="0" y="0"/>
                      </a:moveTo>
                      <a:lnTo>
                        <a:pt x="0" y="104775"/>
                      </a:lnTo>
                    </a:path>
                  </a:pathLst>
                </a:custGeom>
                <a:noFill/>
                <a:ln w="19050">
                  <a:solidFill>
                    <a:srgbClr val="76200F"/>
                  </a:solidFill>
                </a:ln>
              </p:spPr>
            </p:sp>
            <p:sp>
              <p:nvSpPr>
                <p:cNvPr id="118" name="Freeform 118"/>
                <p:cNvSpPr/>
                <p:nvPr/>
              </p:nvSpPr>
              <p:spPr>
                <a:xfrm>
                  <a:off x="9182100" y="3333750"/>
                  <a:ext cx="9525" cy="28575"/>
                </a:xfrm>
                <a:custGeom>
                  <a:avLst/>
                  <a:gdLst/>
                  <a:ahLst/>
                  <a:cxnLst/>
                  <a:rect l="l" t="t" r="r" b="b"/>
                  <a:pathLst>
                    <a:path w="9525" h="28575">
                      <a:moveTo>
                        <a:pt x="0" y="0"/>
                      </a:moveTo>
                      <a:lnTo>
                        <a:pt x="0" y="28575"/>
                      </a:lnTo>
                    </a:path>
                  </a:pathLst>
                </a:custGeom>
                <a:noFill/>
                <a:ln w="19050">
                  <a:solidFill>
                    <a:srgbClr val="76200F"/>
                  </a:solidFill>
                </a:ln>
              </p:spPr>
            </p:sp>
            <p:sp>
              <p:nvSpPr>
                <p:cNvPr id="119" name="Freeform 119"/>
                <p:cNvSpPr/>
                <p:nvPr/>
              </p:nvSpPr>
              <p:spPr>
                <a:xfrm>
                  <a:off x="9220200" y="3333750"/>
                  <a:ext cx="9525" cy="28575"/>
                </a:xfrm>
                <a:custGeom>
                  <a:avLst/>
                  <a:gdLst/>
                  <a:ahLst/>
                  <a:cxnLst/>
                  <a:rect l="l" t="t" r="r" b="b"/>
                  <a:pathLst>
                    <a:path w="9525" h="28575">
                      <a:moveTo>
                        <a:pt x="0" y="0"/>
                      </a:moveTo>
                      <a:lnTo>
                        <a:pt x="0" y="28575"/>
                      </a:lnTo>
                    </a:path>
                  </a:pathLst>
                </a:custGeom>
                <a:noFill/>
                <a:ln w="19050">
                  <a:solidFill>
                    <a:srgbClr val="76200F"/>
                  </a:solidFill>
                </a:ln>
              </p:spPr>
            </p:sp>
            <p:sp>
              <p:nvSpPr>
                <p:cNvPr id="120" name="Freeform 120"/>
                <p:cNvSpPr/>
                <p:nvPr/>
              </p:nvSpPr>
              <p:spPr>
                <a:xfrm>
                  <a:off x="9258300" y="3333750"/>
                  <a:ext cx="9525" cy="28575"/>
                </a:xfrm>
                <a:custGeom>
                  <a:avLst/>
                  <a:gdLst/>
                  <a:ahLst/>
                  <a:cxnLst/>
                  <a:rect l="l" t="t" r="r" b="b"/>
                  <a:pathLst>
                    <a:path w="9525" h="28575">
                      <a:moveTo>
                        <a:pt x="0" y="0"/>
                      </a:moveTo>
                      <a:lnTo>
                        <a:pt x="0" y="28575"/>
                      </a:lnTo>
                    </a:path>
                  </a:pathLst>
                </a:custGeom>
                <a:noFill/>
                <a:ln w="19050">
                  <a:solidFill>
                    <a:srgbClr val="76200F"/>
                  </a:solidFill>
                </a:ln>
              </p:spPr>
            </p:sp>
          </p:grpSp>
          <p:sp>
            <p:nvSpPr>
              <p:cNvPr id="122" name="TextBox 122"/>
              <p:cNvSpPr txBox="1"/>
              <p:nvPr/>
            </p:nvSpPr>
            <p:spPr>
              <a:xfrm>
                <a:off x="9109088" y="3591639"/>
                <a:ext cx="222225" cy="154781"/>
              </a:xfrm>
              <a:prstGeom prst="rect">
                <a:avLst/>
              </a:prstGeom>
              <a:noFill/>
              <a:ln>
                <a:noFill/>
              </a:ln>
            </p:spPr>
            <p:txBody>
              <a:bodyPr wrap="none" lIns="0" tIns="0" rIns="0" bIns="0" anchor="t" anchorCtr="0">
                <a:spAutoFit/>
              </a:bodyPr>
              <a:lstStyle/>
              <a:p>
                <a:pPr algn="ctr"/>
                <a:r>
                  <a:rPr lang="zh-CN" sz="790" dirty="0">
                    <a:solidFill>
                      <a:srgbClr val="514340"/>
                    </a:solidFill>
                    <a:latin typeface="+mn-lt"/>
                    <a:ea typeface="+mn-ea"/>
                    <a:cs typeface="+mn-cs"/>
                  </a:rPr>
                  <a:t>商圈</a:t>
                </a:r>
              </a:p>
            </p:txBody>
          </p:sp>
          <p:sp>
            <p:nvSpPr>
              <p:cNvPr id="123" name="Ellipse 123"/>
              <p:cNvSpPr/>
              <p:nvPr/>
            </p:nvSpPr>
            <p:spPr>
              <a:xfrm>
                <a:off x="9496425" y="3114675"/>
                <a:ext cx="400050" cy="400050"/>
              </a:xfrm>
              <a:prstGeom prst="ellipse">
                <a:avLst/>
              </a:prstGeom>
              <a:solidFill>
                <a:srgbClr val="E8F4F1"/>
              </a:solidFill>
              <a:ln>
                <a:noFill/>
              </a:ln>
            </p:spPr>
          </p:sp>
          <p:grpSp>
            <p:nvGrpSpPr>
              <p:cNvPr id="126" name="Group 126"/>
              <p:cNvGrpSpPr/>
              <p:nvPr/>
            </p:nvGrpSpPr>
            <p:grpSpPr>
              <a:xfrm>
                <a:off x="9601200" y="3248025"/>
                <a:ext cx="190500" cy="133350"/>
                <a:chOff x="9601200" y="3248025"/>
                <a:chExt cx="190500" cy="133350"/>
              </a:xfrm>
            </p:grpSpPr>
            <p:sp>
              <p:nvSpPr>
                <p:cNvPr id="124" name="Freeform 124"/>
                <p:cNvSpPr/>
                <p:nvPr/>
              </p:nvSpPr>
              <p:spPr>
                <a:xfrm>
                  <a:off x="9601200" y="3248025"/>
                  <a:ext cx="190500" cy="95250"/>
                </a:xfrm>
                <a:custGeom>
                  <a:avLst/>
                  <a:gdLst/>
                  <a:ahLst/>
                  <a:cxnLst/>
                  <a:rect l="l" t="t" r="r" b="b"/>
                  <a:pathLst>
                    <a:path w="190500" h="95250">
                      <a:moveTo>
                        <a:pt x="190500" y="38100"/>
                      </a:moveTo>
                      <a:lnTo>
                        <a:pt x="95250" y="0"/>
                      </a:lnTo>
                      <a:lnTo>
                        <a:pt x="0" y="38100"/>
                      </a:lnTo>
                      <a:lnTo>
                        <a:pt x="95250" y="76200"/>
                      </a:lnTo>
                      <a:lnTo>
                        <a:pt x="190500" y="38100"/>
                      </a:lnTo>
                      <a:lnTo>
                        <a:pt x="190500" y="95250"/>
                      </a:lnTo>
                    </a:path>
                  </a:pathLst>
                </a:custGeom>
                <a:noFill/>
                <a:ln w="19050">
                  <a:solidFill>
                    <a:srgbClr val="76200F"/>
                  </a:solidFill>
                </a:ln>
              </p:spPr>
            </p:sp>
            <p:sp>
              <p:nvSpPr>
                <p:cNvPr id="125" name="Freeform 125"/>
                <p:cNvSpPr/>
                <p:nvPr/>
              </p:nvSpPr>
              <p:spPr>
                <a:xfrm>
                  <a:off x="9639300" y="3301365"/>
                  <a:ext cx="114300" cy="80010"/>
                </a:xfrm>
                <a:custGeom>
                  <a:avLst/>
                  <a:gdLst/>
                  <a:ahLst/>
                  <a:cxnLst/>
                  <a:rect l="l" t="t" r="r" b="b"/>
                  <a:pathLst>
                    <a:path w="114300" h="80010">
                      <a:moveTo>
                        <a:pt x="0" y="0"/>
                      </a:moveTo>
                      <a:lnTo>
                        <a:pt x="0" y="51435"/>
                      </a:lnTo>
                      <a:cubicBezTo>
                        <a:pt x="0" y="67217"/>
                        <a:pt x="25587" y="80010"/>
                        <a:pt x="57150" y="80010"/>
                      </a:cubicBezTo>
                      <a:cubicBezTo>
                        <a:pt x="88713" y="80010"/>
                        <a:pt x="114300" y="67217"/>
                        <a:pt x="114300" y="51435"/>
                      </a:cubicBezTo>
                      <a:lnTo>
                        <a:pt x="114300" y="0"/>
                      </a:lnTo>
                    </a:path>
                  </a:pathLst>
                </a:custGeom>
                <a:noFill/>
                <a:ln w="19050">
                  <a:solidFill>
                    <a:srgbClr val="76200F"/>
                  </a:solidFill>
                </a:ln>
              </p:spPr>
            </p:sp>
          </p:grpSp>
          <p:sp>
            <p:nvSpPr>
              <p:cNvPr id="127" name="TextBox 127"/>
              <p:cNvSpPr txBox="1"/>
              <p:nvPr/>
            </p:nvSpPr>
            <p:spPr>
              <a:xfrm>
                <a:off x="9585338" y="3591639"/>
                <a:ext cx="222225" cy="154781"/>
              </a:xfrm>
              <a:prstGeom prst="rect">
                <a:avLst/>
              </a:prstGeom>
              <a:noFill/>
              <a:ln>
                <a:noFill/>
              </a:ln>
            </p:spPr>
            <p:txBody>
              <a:bodyPr wrap="none" lIns="0" tIns="0" rIns="0" bIns="0" anchor="t" anchorCtr="0">
                <a:spAutoFit/>
              </a:bodyPr>
              <a:lstStyle/>
              <a:p>
                <a:pPr algn="ctr"/>
                <a:r>
                  <a:rPr lang="zh-CN" sz="790" dirty="0">
                    <a:solidFill>
                      <a:srgbClr val="514340"/>
                    </a:solidFill>
                    <a:latin typeface="+mn-lt"/>
                    <a:ea typeface="+mn-ea"/>
                    <a:cs typeface="+mn-cs"/>
                  </a:rPr>
                  <a:t>教育</a:t>
                </a:r>
              </a:p>
            </p:txBody>
          </p:sp>
          <p:sp>
            <p:nvSpPr>
              <p:cNvPr id="128" name="Ellipse 128"/>
              <p:cNvSpPr/>
              <p:nvPr/>
            </p:nvSpPr>
            <p:spPr>
              <a:xfrm>
                <a:off x="9972675" y="3114675"/>
                <a:ext cx="400050" cy="400050"/>
              </a:xfrm>
              <a:prstGeom prst="ellipse">
                <a:avLst/>
              </a:prstGeom>
              <a:solidFill>
                <a:srgbClr val="E8F4F1"/>
              </a:solidFill>
              <a:ln>
                <a:noFill/>
              </a:ln>
            </p:spPr>
          </p:sp>
          <p:grpSp>
            <p:nvGrpSpPr>
              <p:cNvPr id="132" name="Group 132"/>
              <p:cNvGrpSpPr/>
              <p:nvPr/>
            </p:nvGrpSpPr>
            <p:grpSpPr>
              <a:xfrm>
                <a:off x="10086975" y="3228975"/>
                <a:ext cx="171450" cy="171450"/>
                <a:chOff x="10086975" y="3228975"/>
                <a:chExt cx="171450" cy="171450"/>
              </a:xfrm>
            </p:grpSpPr>
            <p:sp>
              <p:nvSpPr>
                <p:cNvPr id="129" name="Freeform 129"/>
                <p:cNvSpPr/>
                <p:nvPr/>
              </p:nvSpPr>
              <p:spPr>
                <a:xfrm>
                  <a:off x="10086975" y="322897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76200F"/>
                  </a:solidFill>
                </a:ln>
              </p:spPr>
            </p:sp>
            <p:sp>
              <p:nvSpPr>
                <p:cNvPr id="130" name="Freeform 130"/>
                <p:cNvSpPr/>
                <p:nvPr/>
              </p:nvSpPr>
              <p:spPr>
                <a:xfrm>
                  <a:off x="10106025" y="331470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76200F"/>
                  </a:solidFill>
                </a:ln>
              </p:spPr>
            </p:sp>
            <p:sp>
              <p:nvSpPr>
                <p:cNvPr id="131" name="Freeform 131"/>
                <p:cNvSpPr/>
                <p:nvPr/>
              </p:nvSpPr>
              <p:spPr>
                <a:xfrm>
                  <a:off x="10144125" y="332422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76200F"/>
                  </a:solidFill>
                </a:ln>
              </p:spPr>
            </p:sp>
          </p:grpSp>
          <p:sp>
            <p:nvSpPr>
              <p:cNvPr id="133" name="TextBox 133"/>
              <p:cNvSpPr txBox="1"/>
              <p:nvPr/>
            </p:nvSpPr>
            <p:spPr>
              <a:xfrm>
                <a:off x="10061588" y="3591639"/>
                <a:ext cx="222225" cy="154781"/>
              </a:xfrm>
              <a:prstGeom prst="rect">
                <a:avLst/>
              </a:prstGeom>
              <a:noFill/>
              <a:ln>
                <a:noFill/>
              </a:ln>
            </p:spPr>
            <p:txBody>
              <a:bodyPr wrap="none" lIns="0" tIns="0" rIns="0" bIns="0" anchor="t" anchorCtr="0">
                <a:spAutoFit/>
              </a:bodyPr>
              <a:lstStyle/>
              <a:p>
                <a:pPr algn="ctr"/>
                <a:r>
                  <a:rPr lang="zh-CN" sz="790" dirty="0">
                    <a:solidFill>
                      <a:srgbClr val="514340"/>
                    </a:solidFill>
                    <a:latin typeface="+mn-lt"/>
                    <a:ea typeface="+mn-ea"/>
                    <a:cs typeface="+mn-cs"/>
                  </a:rPr>
                  <a:t>社区</a:t>
                </a:r>
              </a:p>
            </p:txBody>
          </p:sp>
          <p:sp>
            <p:nvSpPr>
              <p:cNvPr id="134" name="Ellipse 134"/>
              <p:cNvSpPr/>
              <p:nvPr/>
            </p:nvSpPr>
            <p:spPr>
              <a:xfrm>
                <a:off x="8543925" y="3933825"/>
                <a:ext cx="400050" cy="400050"/>
              </a:xfrm>
              <a:prstGeom prst="ellipse">
                <a:avLst/>
              </a:prstGeom>
              <a:solidFill>
                <a:srgbClr val="E8F4F1"/>
              </a:solidFill>
              <a:ln>
                <a:noFill/>
              </a:ln>
            </p:spPr>
          </p:sp>
          <p:grpSp>
            <p:nvGrpSpPr>
              <p:cNvPr id="137" name="Group 137"/>
              <p:cNvGrpSpPr/>
              <p:nvPr/>
            </p:nvGrpSpPr>
            <p:grpSpPr>
              <a:xfrm>
                <a:off x="8645371" y="4048125"/>
                <a:ext cx="186006" cy="171450"/>
                <a:chOff x="8645371" y="4048125"/>
                <a:chExt cx="186006" cy="171450"/>
              </a:xfrm>
            </p:grpSpPr>
            <p:sp>
              <p:nvSpPr>
                <p:cNvPr id="135" name="Freeform 135"/>
                <p:cNvSpPr/>
                <p:nvPr/>
              </p:nvSpPr>
              <p:spPr>
                <a:xfrm>
                  <a:off x="8645371" y="40481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76200F"/>
                  </a:solidFill>
                </a:ln>
              </p:spPr>
            </p:sp>
            <p:sp>
              <p:nvSpPr>
                <p:cNvPr id="136" name="Freeform 136"/>
                <p:cNvSpPr/>
                <p:nvPr/>
              </p:nvSpPr>
              <p:spPr>
                <a:xfrm>
                  <a:off x="8772525" y="4181475"/>
                  <a:ext cx="57150" cy="38100"/>
                </a:xfrm>
                <a:custGeom>
                  <a:avLst/>
                  <a:gdLst/>
                  <a:ahLst/>
                  <a:cxnLst/>
                  <a:rect l="l" t="t" r="r" b="b"/>
                  <a:pathLst>
                    <a:path w="57150" h="38100">
                      <a:moveTo>
                        <a:pt x="0" y="19050"/>
                      </a:moveTo>
                      <a:lnTo>
                        <a:pt x="19050" y="38100"/>
                      </a:lnTo>
                      <a:lnTo>
                        <a:pt x="57150" y="0"/>
                      </a:lnTo>
                    </a:path>
                  </a:pathLst>
                </a:custGeom>
                <a:noFill/>
                <a:ln w="19050">
                  <a:solidFill>
                    <a:srgbClr val="76200F"/>
                  </a:solidFill>
                </a:ln>
              </p:spPr>
            </p:sp>
          </p:grpSp>
          <p:sp>
            <p:nvSpPr>
              <p:cNvPr id="138" name="TextBox 138"/>
              <p:cNvSpPr txBox="1"/>
              <p:nvPr/>
            </p:nvSpPr>
            <p:spPr>
              <a:xfrm>
                <a:off x="8632838" y="4410789"/>
                <a:ext cx="222225" cy="154781"/>
              </a:xfrm>
              <a:prstGeom prst="rect">
                <a:avLst/>
              </a:prstGeom>
              <a:noFill/>
              <a:ln>
                <a:noFill/>
              </a:ln>
            </p:spPr>
            <p:txBody>
              <a:bodyPr wrap="none" lIns="0" tIns="0" rIns="0" bIns="0" anchor="t" anchorCtr="0">
                <a:spAutoFit/>
              </a:bodyPr>
              <a:lstStyle/>
              <a:p>
                <a:pPr algn="ctr"/>
                <a:r>
                  <a:rPr lang="zh-CN" sz="790" dirty="0">
                    <a:solidFill>
                      <a:srgbClr val="514340"/>
                    </a:solidFill>
                    <a:latin typeface="+mn-lt"/>
                    <a:ea typeface="+mn-ea"/>
                    <a:cs typeface="+mn-cs"/>
                  </a:rPr>
                  <a:t>健康</a:t>
                </a:r>
              </a:p>
            </p:txBody>
          </p:sp>
          <p:sp>
            <p:nvSpPr>
              <p:cNvPr id="139" name="Ellipse 139"/>
              <p:cNvSpPr/>
              <p:nvPr/>
            </p:nvSpPr>
            <p:spPr>
              <a:xfrm>
                <a:off x="9020175" y="3933825"/>
                <a:ext cx="400050" cy="400050"/>
              </a:xfrm>
              <a:prstGeom prst="ellipse">
                <a:avLst/>
              </a:prstGeom>
              <a:solidFill>
                <a:srgbClr val="E8F4F1"/>
              </a:solidFill>
              <a:ln>
                <a:noFill/>
              </a:ln>
            </p:spPr>
          </p:sp>
          <p:sp>
            <p:nvSpPr>
              <p:cNvPr id="140" name="Freeform 140"/>
              <p:cNvSpPr/>
              <p:nvPr/>
            </p:nvSpPr>
            <p:spPr>
              <a:xfrm>
                <a:off x="9134475" y="4048125"/>
                <a:ext cx="171450" cy="171450"/>
              </a:xfrm>
              <a:custGeom>
                <a:avLst/>
                <a:gdLst/>
                <a:ahLst/>
                <a:cxnLst/>
                <a:rect l="l" t="t" r="r" b="b"/>
                <a:pathLst>
                  <a:path w="171450" h="171450">
                    <a:moveTo>
                      <a:pt x="9525" y="38100"/>
                    </a:moveTo>
                    <a:lnTo>
                      <a:pt x="38100" y="38100"/>
                    </a:lnTo>
                    <a:cubicBezTo>
                      <a:pt x="43361" y="38100"/>
                      <a:pt x="47625" y="33836"/>
                      <a:pt x="47625" y="28575"/>
                    </a:cubicBezTo>
                    <a:lnTo>
                      <a:pt x="47625" y="19050"/>
                    </a:lnTo>
                    <a:cubicBezTo>
                      <a:pt x="47625" y="8529"/>
                      <a:pt x="56154" y="0"/>
                      <a:pt x="66675" y="0"/>
                    </a:cubicBezTo>
                    <a:cubicBezTo>
                      <a:pt x="77196" y="0"/>
                      <a:pt x="85725" y="8529"/>
                      <a:pt x="85725" y="19050"/>
                    </a:cubicBezTo>
                    <a:lnTo>
                      <a:pt x="85725" y="28575"/>
                    </a:lnTo>
                    <a:cubicBezTo>
                      <a:pt x="85725" y="33836"/>
                      <a:pt x="89989" y="38100"/>
                      <a:pt x="95250" y="38100"/>
                    </a:cubicBezTo>
                    <a:lnTo>
                      <a:pt x="123825" y="38100"/>
                    </a:lnTo>
                    <a:cubicBezTo>
                      <a:pt x="129086" y="38100"/>
                      <a:pt x="133350" y="42364"/>
                      <a:pt x="133350" y="47625"/>
                    </a:cubicBezTo>
                    <a:lnTo>
                      <a:pt x="133350" y="76200"/>
                    </a:lnTo>
                    <a:cubicBezTo>
                      <a:pt x="133350" y="81461"/>
                      <a:pt x="137614" y="85725"/>
                      <a:pt x="142875" y="85725"/>
                    </a:cubicBezTo>
                    <a:lnTo>
                      <a:pt x="152400" y="85725"/>
                    </a:lnTo>
                    <a:cubicBezTo>
                      <a:pt x="162921" y="85725"/>
                      <a:pt x="171450" y="94254"/>
                      <a:pt x="171450" y="104775"/>
                    </a:cubicBezTo>
                    <a:cubicBezTo>
                      <a:pt x="171450" y="115296"/>
                      <a:pt x="162921" y="123825"/>
                      <a:pt x="152400" y="123825"/>
                    </a:cubicBezTo>
                    <a:lnTo>
                      <a:pt x="142875" y="123825"/>
                    </a:lnTo>
                    <a:cubicBezTo>
                      <a:pt x="137614" y="123825"/>
                      <a:pt x="133350" y="128089"/>
                      <a:pt x="133350" y="133350"/>
                    </a:cubicBezTo>
                    <a:lnTo>
                      <a:pt x="133350" y="161925"/>
                    </a:lnTo>
                    <a:cubicBezTo>
                      <a:pt x="133350" y="167186"/>
                      <a:pt x="129086" y="171450"/>
                      <a:pt x="123825" y="171450"/>
                    </a:cubicBezTo>
                    <a:lnTo>
                      <a:pt x="95250" y="171450"/>
                    </a:lnTo>
                    <a:cubicBezTo>
                      <a:pt x="89989" y="171450"/>
                      <a:pt x="85725" y="167186"/>
                      <a:pt x="85725" y="161925"/>
                    </a:cubicBezTo>
                    <a:lnTo>
                      <a:pt x="85725" y="152400"/>
                    </a:lnTo>
                    <a:cubicBezTo>
                      <a:pt x="85725" y="141879"/>
                      <a:pt x="77196" y="133350"/>
                      <a:pt x="66675" y="133350"/>
                    </a:cubicBezTo>
                    <a:cubicBezTo>
                      <a:pt x="56154" y="133350"/>
                      <a:pt x="47625" y="141879"/>
                      <a:pt x="47625" y="152400"/>
                    </a:cubicBezTo>
                    <a:lnTo>
                      <a:pt x="47625" y="161925"/>
                    </a:lnTo>
                    <a:cubicBezTo>
                      <a:pt x="47625" y="167186"/>
                      <a:pt x="43361" y="171450"/>
                      <a:pt x="38100" y="171450"/>
                    </a:cubicBezTo>
                    <a:lnTo>
                      <a:pt x="9525" y="171450"/>
                    </a:lnTo>
                    <a:cubicBezTo>
                      <a:pt x="4264" y="171450"/>
                      <a:pt x="0" y="167186"/>
                      <a:pt x="0" y="161925"/>
                    </a:cubicBezTo>
                    <a:lnTo>
                      <a:pt x="0" y="133350"/>
                    </a:lnTo>
                    <a:cubicBezTo>
                      <a:pt x="0" y="128089"/>
                      <a:pt x="4264" y="123825"/>
                      <a:pt x="9525" y="123825"/>
                    </a:cubicBezTo>
                    <a:lnTo>
                      <a:pt x="19050" y="123825"/>
                    </a:lnTo>
                    <a:cubicBezTo>
                      <a:pt x="29571" y="123825"/>
                      <a:pt x="38100" y="115296"/>
                      <a:pt x="38100" y="104775"/>
                    </a:cubicBezTo>
                    <a:cubicBezTo>
                      <a:pt x="38100" y="94254"/>
                      <a:pt x="29571" y="85725"/>
                      <a:pt x="19050" y="85725"/>
                    </a:cubicBezTo>
                    <a:lnTo>
                      <a:pt x="9525" y="85725"/>
                    </a:lnTo>
                    <a:cubicBezTo>
                      <a:pt x="4264" y="85725"/>
                      <a:pt x="0" y="81461"/>
                      <a:pt x="0" y="76200"/>
                    </a:cubicBezTo>
                    <a:lnTo>
                      <a:pt x="0" y="47625"/>
                    </a:lnTo>
                    <a:cubicBezTo>
                      <a:pt x="0" y="42364"/>
                      <a:pt x="4264" y="38100"/>
                      <a:pt x="9525" y="38100"/>
                    </a:cubicBezTo>
                  </a:path>
                </a:pathLst>
              </a:custGeom>
              <a:noFill/>
              <a:ln w="19050">
                <a:solidFill>
                  <a:srgbClr val="76200F"/>
                </a:solidFill>
              </a:ln>
            </p:spPr>
          </p:sp>
          <p:sp>
            <p:nvSpPr>
              <p:cNvPr id="141" name="TextBox 141"/>
              <p:cNvSpPr txBox="1"/>
              <p:nvPr/>
            </p:nvSpPr>
            <p:spPr>
              <a:xfrm>
                <a:off x="9109088" y="4410789"/>
                <a:ext cx="222225" cy="154781"/>
              </a:xfrm>
              <a:prstGeom prst="rect">
                <a:avLst/>
              </a:prstGeom>
              <a:noFill/>
              <a:ln>
                <a:noFill/>
              </a:ln>
            </p:spPr>
            <p:txBody>
              <a:bodyPr wrap="none" lIns="0" tIns="0" rIns="0" bIns="0" anchor="t" anchorCtr="0">
                <a:spAutoFit/>
              </a:bodyPr>
              <a:lstStyle/>
              <a:p>
                <a:pPr algn="ctr"/>
                <a:r>
                  <a:rPr lang="zh-CN" sz="790" dirty="0">
                    <a:solidFill>
                      <a:srgbClr val="514340"/>
                    </a:solidFill>
                    <a:latin typeface="+mn-lt"/>
                    <a:ea typeface="+mn-ea"/>
                    <a:cs typeface="+mn-cs"/>
                  </a:rPr>
                  <a:t>更多</a:t>
                </a:r>
              </a:p>
            </p:txBody>
          </p:sp>
          <p:sp>
            <p:nvSpPr>
              <p:cNvPr id="142" name="Ellipse 142"/>
              <p:cNvSpPr/>
              <p:nvPr/>
            </p:nvSpPr>
            <p:spPr>
              <a:xfrm>
                <a:off x="9496425" y="3933825"/>
                <a:ext cx="400050" cy="400050"/>
              </a:xfrm>
              <a:prstGeom prst="ellipse">
                <a:avLst/>
              </a:prstGeom>
              <a:solidFill>
                <a:srgbClr val="E8F4F1"/>
              </a:solidFill>
              <a:ln>
                <a:noFill/>
              </a:ln>
            </p:spPr>
          </p:sp>
          <p:grpSp>
            <p:nvGrpSpPr>
              <p:cNvPr id="146" name="Group 146"/>
              <p:cNvGrpSpPr/>
              <p:nvPr/>
            </p:nvGrpSpPr>
            <p:grpSpPr>
              <a:xfrm>
                <a:off x="9639300" y="4048125"/>
                <a:ext cx="114300" cy="171450"/>
                <a:chOff x="9639300" y="4048125"/>
                <a:chExt cx="114300" cy="171450"/>
              </a:xfrm>
            </p:grpSpPr>
            <p:sp>
              <p:nvSpPr>
                <p:cNvPr id="143" name="Freeform 143"/>
                <p:cNvSpPr/>
                <p:nvPr/>
              </p:nvSpPr>
              <p:spPr>
                <a:xfrm>
                  <a:off x="9639300" y="404812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76200F"/>
                  </a:solidFill>
                </a:ln>
              </p:spPr>
            </p:sp>
            <p:sp>
              <p:nvSpPr>
                <p:cNvPr id="144" name="Freeform 144"/>
                <p:cNvSpPr/>
                <p:nvPr/>
              </p:nvSpPr>
              <p:spPr>
                <a:xfrm>
                  <a:off x="9686925" y="4057650"/>
                  <a:ext cx="19050" cy="9525"/>
                </a:xfrm>
                <a:custGeom>
                  <a:avLst/>
                  <a:gdLst/>
                  <a:ahLst/>
                  <a:cxnLst/>
                  <a:rect l="l" t="t" r="r" b="b"/>
                  <a:pathLst>
                    <a:path w="19050" h="9525">
                      <a:moveTo>
                        <a:pt x="0" y="0"/>
                      </a:moveTo>
                      <a:lnTo>
                        <a:pt x="19050" y="0"/>
                      </a:lnTo>
                    </a:path>
                  </a:pathLst>
                </a:custGeom>
                <a:noFill/>
                <a:ln w="19050">
                  <a:solidFill>
                    <a:srgbClr val="76200F"/>
                  </a:solidFill>
                </a:ln>
              </p:spPr>
            </p:sp>
            <p:sp>
              <p:nvSpPr>
                <p:cNvPr id="145" name="Freeform 145"/>
                <p:cNvSpPr/>
                <p:nvPr/>
              </p:nvSpPr>
              <p:spPr>
                <a:xfrm>
                  <a:off x="9696450" y="4181475"/>
                  <a:ext cx="9525" cy="9525"/>
                </a:xfrm>
                <a:custGeom>
                  <a:avLst/>
                  <a:gdLst/>
                  <a:ahLst/>
                  <a:cxnLst/>
                  <a:rect l="l" t="t" r="r" b="b"/>
                  <a:pathLst>
                    <a:path w="9525" h="9525">
                      <a:moveTo>
                        <a:pt x="0" y="0"/>
                      </a:moveTo>
                      <a:lnTo>
                        <a:pt x="0" y="95"/>
                      </a:lnTo>
                    </a:path>
                  </a:pathLst>
                </a:custGeom>
                <a:noFill/>
                <a:ln w="19050">
                  <a:solidFill>
                    <a:srgbClr val="76200F"/>
                  </a:solidFill>
                </a:ln>
              </p:spPr>
            </p:sp>
          </p:grpSp>
          <p:sp>
            <p:nvSpPr>
              <p:cNvPr id="147" name="TextBox 147"/>
              <p:cNvSpPr txBox="1"/>
              <p:nvPr/>
            </p:nvSpPr>
            <p:spPr>
              <a:xfrm>
                <a:off x="9478988" y="4410789"/>
                <a:ext cx="434924" cy="154781"/>
              </a:xfrm>
              <a:prstGeom prst="rect">
                <a:avLst/>
              </a:prstGeom>
              <a:noFill/>
              <a:ln>
                <a:noFill/>
              </a:ln>
            </p:spPr>
            <p:txBody>
              <a:bodyPr wrap="none" lIns="0" tIns="0" rIns="0" bIns="0" anchor="t" anchorCtr="0">
                <a:spAutoFit/>
              </a:bodyPr>
              <a:lstStyle/>
              <a:p>
                <a:pPr algn="ctr"/>
                <a:r>
                  <a:rPr lang="zh-CN" sz="790" dirty="0">
                    <a:solidFill>
                      <a:srgbClr val="514340"/>
                    </a:solidFill>
                    <a:latin typeface="+mn-lt"/>
                    <a:ea typeface="+mn-ea"/>
                    <a:cs typeface="+mn-cs"/>
                  </a:rPr>
                  <a:t>生活缴费</a:t>
                </a:r>
              </a:p>
            </p:txBody>
          </p:sp>
          <p:sp>
            <p:nvSpPr>
              <p:cNvPr id="148" name="Ellipse 148"/>
              <p:cNvSpPr/>
              <p:nvPr/>
            </p:nvSpPr>
            <p:spPr>
              <a:xfrm>
                <a:off x="9972675" y="3933825"/>
                <a:ext cx="400050" cy="400050"/>
              </a:xfrm>
              <a:prstGeom prst="ellipse">
                <a:avLst/>
              </a:prstGeom>
              <a:solidFill>
                <a:srgbClr val="E8F4F1"/>
              </a:solidFill>
              <a:ln>
                <a:noFill/>
              </a:ln>
            </p:spPr>
          </p:sp>
          <p:sp>
            <p:nvSpPr>
              <p:cNvPr id="149" name="Freeform 149"/>
              <p:cNvSpPr/>
              <p:nvPr/>
            </p:nvSpPr>
            <p:spPr>
              <a:xfrm>
                <a:off x="10086975" y="4076700"/>
                <a:ext cx="171450" cy="114300"/>
              </a:xfrm>
              <a:custGeom>
                <a:avLst/>
                <a:gdLst/>
                <a:ahLst/>
                <a:cxnLst/>
                <a:rect l="l" t="t" r="r" b="b"/>
                <a:pathLst>
                  <a:path w="171450" h="114300">
                    <a:moveTo>
                      <a:pt x="85725" y="0"/>
                    </a:moveTo>
                    <a:lnTo>
                      <a:pt x="123825" y="57150"/>
                    </a:lnTo>
                    <a:lnTo>
                      <a:pt x="171450" y="19050"/>
                    </a:lnTo>
                    <a:lnTo>
                      <a:pt x="152400" y="114300"/>
                    </a:lnTo>
                    <a:lnTo>
                      <a:pt x="19050" y="114300"/>
                    </a:lnTo>
                    <a:lnTo>
                      <a:pt x="0" y="19050"/>
                    </a:lnTo>
                    <a:lnTo>
                      <a:pt x="47625" y="57150"/>
                    </a:lnTo>
                    <a:lnTo>
                      <a:pt x="85725" y="0"/>
                    </a:lnTo>
                  </a:path>
                </a:pathLst>
              </a:custGeom>
              <a:noFill/>
              <a:ln w="19050">
                <a:solidFill>
                  <a:srgbClr val="76200F"/>
                </a:solidFill>
              </a:ln>
            </p:spPr>
          </p:sp>
          <p:sp>
            <p:nvSpPr>
              <p:cNvPr id="150" name="TextBox 150"/>
              <p:cNvSpPr txBox="1"/>
              <p:nvPr/>
            </p:nvSpPr>
            <p:spPr>
              <a:xfrm>
                <a:off x="9955238" y="4410789"/>
                <a:ext cx="434924" cy="154781"/>
              </a:xfrm>
              <a:prstGeom prst="rect">
                <a:avLst/>
              </a:prstGeom>
              <a:noFill/>
              <a:ln>
                <a:noFill/>
              </a:ln>
            </p:spPr>
            <p:txBody>
              <a:bodyPr wrap="none" lIns="0" tIns="0" rIns="0" bIns="0" anchor="t" anchorCtr="0">
                <a:spAutoFit/>
              </a:bodyPr>
              <a:lstStyle/>
              <a:p>
                <a:pPr algn="ctr"/>
                <a:r>
                  <a:rPr lang="zh-CN" sz="790" dirty="0">
                    <a:solidFill>
                      <a:srgbClr val="514340"/>
                    </a:solidFill>
                    <a:latin typeface="+mn-lt"/>
                    <a:ea typeface="+mn-ea"/>
                    <a:cs typeface="+mn-cs"/>
                  </a:rPr>
                  <a:t>会员权益</a:t>
                </a:r>
              </a:p>
            </p:txBody>
          </p:sp>
        </p:grpSp>
        <p:sp>
          <p:nvSpPr>
            <p:cNvPr id="152" name="Rectangle 152"/>
            <p:cNvSpPr/>
            <p:nvPr/>
          </p:nvSpPr>
          <p:spPr>
            <a:xfrm>
              <a:off x="8458200" y="4686300"/>
              <a:ext cx="1981200" cy="628650"/>
            </a:xfrm>
            <a:prstGeom prst="roundRect">
              <a:avLst>
                <a:gd name="adj" fmla="val 12121"/>
              </a:avLst>
            </a:prstGeom>
            <a:solidFill>
              <a:srgbClr val="F0FAF8"/>
            </a:solidFill>
            <a:ln w="9525">
              <a:solidFill>
                <a:srgbClr val="C2E0DA"/>
              </a:solidFill>
            </a:ln>
          </p:spPr>
        </p:sp>
        <p:sp>
          <p:nvSpPr>
            <p:cNvPr id="153" name="TextBox 153"/>
            <p:cNvSpPr txBox="1"/>
            <p:nvPr/>
          </p:nvSpPr>
          <p:spPr>
            <a:xfrm>
              <a:off x="9168066" y="4844891"/>
              <a:ext cx="561467" cy="161925"/>
            </a:xfrm>
            <a:prstGeom prst="rect">
              <a:avLst/>
            </a:prstGeom>
            <a:noFill/>
            <a:ln>
              <a:noFill/>
            </a:ln>
          </p:spPr>
          <p:txBody>
            <a:bodyPr wrap="none" lIns="0" tIns="0" rIns="0" bIns="0" anchor="t" anchorCtr="0">
              <a:spAutoFit/>
            </a:bodyPr>
            <a:lstStyle/>
            <a:p>
              <a:pPr algn="ctr"/>
              <a:r>
                <a:rPr lang="zh-CN" sz="820" b="1" dirty="0">
                  <a:solidFill>
                    <a:srgbClr val="5D190B"/>
                  </a:solidFill>
                  <a:latin typeface="+mn-lt"/>
                  <a:ea typeface="+mn-ea"/>
                  <a:cs typeface="+mn-cs"/>
                </a:rPr>
                <a:t>从线下相遇</a:t>
              </a:r>
            </a:p>
          </p:txBody>
        </p:sp>
        <p:sp>
          <p:nvSpPr>
            <p:cNvPr id="154" name="TextBox 154"/>
            <p:cNvSpPr txBox="1"/>
            <p:nvPr/>
          </p:nvSpPr>
          <p:spPr>
            <a:xfrm>
              <a:off x="9168066" y="5054441"/>
              <a:ext cx="561467" cy="161925"/>
            </a:xfrm>
            <a:prstGeom prst="rect">
              <a:avLst/>
            </a:prstGeom>
            <a:noFill/>
            <a:ln>
              <a:noFill/>
            </a:ln>
          </p:spPr>
          <p:txBody>
            <a:bodyPr wrap="none" lIns="0" tIns="0" rIns="0" bIns="0" anchor="t" anchorCtr="0">
              <a:spAutoFit/>
            </a:bodyPr>
            <a:lstStyle/>
            <a:p>
              <a:pPr algn="ctr"/>
              <a:r>
                <a:rPr lang="zh-CN" sz="820" b="1" dirty="0">
                  <a:solidFill>
                    <a:srgbClr val="5D190B"/>
                  </a:solidFill>
                  <a:latin typeface="+mn-lt"/>
                  <a:ea typeface="+mn-ea"/>
                  <a:cs typeface="+mn-cs"/>
                </a:rPr>
                <a:t>到线上常在</a:t>
              </a:r>
            </a:p>
          </p:txBody>
        </p:sp>
      </p:grpSp>
      <p:grpSp>
        <p:nvGrpSpPr>
          <p:cNvPr id="159" name="slogan-bottom"/>
          <p:cNvGrpSpPr/>
          <p:nvPr/>
        </p:nvGrpSpPr>
        <p:grpSpPr>
          <a:xfrm>
            <a:off x="6278880" y="5857875"/>
            <a:ext cx="1245870" cy="579120"/>
            <a:chOff x="6278880" y="5857875"/>
            <a:chExt cx="1245870" cy="579120"/>
          </a:xfrm>
        </p:grpSpPr>
        <p:sp>
          <p:nvSpPr>
            <p:cNvPr id="156" name="TextBox 156"/>
            <p:cNvSpPr txBox="1"/>
            <p:nvPr/>
          </p:nvSpPr>
          <p:spPr>
            <a:xfrm>
              <a:off x="6278880" y="5857875"/>
              <a:ext cx="1024890" cy="293370"/>
            </a:xfrm>
            <a:prstGeom prst="rect">
              <a:avLst/>
            </a:prstGeom>
            <a:noFill/>
            <a:ln>
              <a:noFill/>
            </a:ln>
          </p:spPr>
          <p:txBody>
            <a:bodyPr wrap="none" lIns="0" tIns="0" rIns="0" bIns="0" anchor="t" anchorCtr="0">
              <a:spAutoFit/>
            </a:bodyPr>
            <a:lstStyle/>
            <a:p>
              <a:pPr algn="l"/>
              <a:r>
                <a:rPr lang="zh-CN" sz="1500" b="1" dirty="0">
                  <a:solidFill>
                    <a:srgbClr val="5D190B"/>
                  </a:solidFill>
                  <a:latin typeface="+mn-lt"/>
                  <a:ea typeface="+mn-ea"/>
                  <a:cs typeface="+mn-cs"/>
                </a:rPr>
                <a:t>从线下相遇</a:t>
              </a:r>
            </a:p>
          </p:txBody>
        </p:sp>
        <p:sp>
          <p:nvSpPr>
            <p:cNvPr id="157" name="TextBox 157"/>
            <p:cNvSpPr txBox="1"/>
            <p:nvPr/>
          </p:nvSpPr>
          <p:spPr>
            <a:xfrm>
              <a:off x="6278880" y="6143625"/>
              <a:ext cx="1024890" cy="293370"/>
            </a:xfrm>
            <a:prstGeom prst="rect">
              <a:avLst/>
            </a:prstGeom>
            <a:noFill/>
            <a:ln>
              <a:noFill/>
            </a:ln>
          </p:spPr>
          <p:txBody>
            <a:bodyPr wrap="none" lIns="0" tIns="0" rIns="0" bIns="0" anchor="t" anchorCtr="0">
              <a:spAutoFit/>
            </a:bodyPr>
            <a:lstStyle/>
            <a:p>
              <a:pPr algn="l"/>
              <a:r>
                <a:rPr lang="zh-CN" sz="1500" b="1" dirty="0">
                  <a:solidFill>
                    <a:srgbClr val="5D190B"/>
                  </a:solidFill>
                  <a:latin typeface="+mn-lt"/>
                  <a:ea typeface="+mn-ea"/>
                  <a:cs typeface="+mn-cs"/>
                </a:rPr>
                <a:t>到线上常在</a:t>
              </a:r>
            </a:p>
          </p:txBody>
        </p:sp>
        <p:sp>
          <p:nvSpPr>
            <p:cNvPr id="158" name="Line 158"/>
            <p:cNvSpPr/>
            <p:nvPr/>
          </p:nvSpPr>
          <p:spPr>
            <a:xfrm>
              <a:off x="6286500" y="6400800"/>
              <a:ext cx="1238250" cy="9525"/>
            </a:xfrm>
            <a:custGeom>
              <a:avLst/>
              <a:gdLst/>
              <a:ahLst/>
              <a:cxnLst/>
              <a:rect l="l" t="t" r="r" b="b"/>
              <a:pathLst>
                <a:path w="1238250" h="9525">
                  <a:moveTo>
                    <a:pt x="0" y="0"/>
                  </a:moveTo>
                  <a:lnTo>
                    <a:pt x="1238250" y="0"/>
                  </a:lnTo>
                </a:path>
              </a:pathLst>
            </a:custGeom>
            <a:noFill/>
            <a:ln w="14288">
              <a:solidFill>
                <a:srgbClr val="A3422F"/>
              </a:solidFill>
            </a:ln>
          </p:spPr>
        </p:sp>
      </p:grpSp>
      <p:grpSp>
        <p:nvGrpSpPr>
          <p:cNvPr id="162" name="cover-nav"/>
          <p:cNvGrpSpPr/>
          <p:nvPr/>
        </p:nvGrpSpPr>
        <p:grpSpPr>
          <a:xfrm>
            <a:off x="342900" y="6362700"/>
            <a:ext cx="5048250" cy="323850"/>
            <a:chOff x="342900" y="6362700"/>
            <a:chExt cx="5048250" cy="323850"/>
          </a:xfrm>
        </p:grpSpPr>
        <p:sp>
          <p:nvSpPr>
            <p:cNvPr id="160" name="Rectangle 160"/>
            <p:cNvSpPr/>
            <p:nvPr/>
          </p:nvSpPr>
          <p:spPr>
            <a:xfrm>
              <a:off x="342900" y="6362700"/>
              <a:ext cx="5048250" cy="323850"/>
            </a:xfrm>
            <a:prstGeom prst="roundRect">
              <a:avLst>
                <a:gd name="adj" fmla="val 50000"/>
              </a:avLst>
            </a:prstGeom>
            <a:solidFill>
              <a:srgbClr val="5D190B"/>
            </a:solidFill>
            <a:ln>
              <a:noFill/>
            </a:ln>
          </p:spPr>
        </p:sp>
        <p:sp>
          <p:nvSpPr>
            <p:cNvPr id="161" name="TextBox 161"/>
            <p:cNvSpPr txBox="1"/>
            <p:nvPr/>
          </p:nvSpPr>
          <p:spPr>
            <a:xfrm>
              <a:off x="1275972" y="6466999"/>
              <a:ext cx="318210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同业实践扫描 ｜ 模式拆解 ｜ 指标体系 ｜ 落地蓝图​​</a:t>
              </a:r>
            </a:p>
          </p:txBody>
        </p:sp>
      </p:gr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02​</a:t>
              </a:r>
            </a:p>
          </p:txBody>
        </p:sp>
        <p:sp>
          <p:nvSpPr>
            <p:cNvPr id="4" name="TextBox 4"/>
            <p:cNvSpPr txBox="1"/>
            <p:nvPr/>
          </p:nvSpPr>
          <p:spPr>
            <a:xfrm>
              <a:off x="904494" y="170498"/>
              <a:ext cx="5795010"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调研总览</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银行营销正从单点促销转向生态化经营</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02​</a:t>
              </a:r>
            </a:p>
          </p:txBody>
        </p:sp>
      </p:grpSp>
      <p:grpSp>
        <p:nvGrpSpPr>
          <p:cNvPr id="47" name="kpi-band"/>
          <p:cNvGrpSpPr/>
          <p:nvPr/>
        </p:nvGrpSpPr>
        <p:grpSpPr>
          <a:xfrm>
            <a:off x="342900" y="685800"/>
            <a:ext cx="11430000" cy="590550"/>
            <a:chOff x="342900" y="685800"/>
            <a:chExt cx="11430000" cy="590550"/>
          </a:xfrm>
        </p:grpSpPr>
        <p:sp>
          <p:nvSpPr>
            <p:cNvPr id="8" name="Rectangle 8"/>
            <p:cNvSpPr/>
            <p:nvPr/>
          </p:nvSpPr>
          <p:spPr>
            <a:xfrm>
              <a:off x="342900" y="685800"/>
              <a:ext cx="2800350" cy="590550"/>
            </a:xfrm>
            <a:prstGeom prst="roundRect">
              <a:avLst>
                <a:gd name="adj" fmla="val 12903"/>
              </a:avLst>
            </a:prstGeom>
            <a:solidFill>
              <a:srgbClr val="F0FAF8"/>
            </a:solidFill>
            <a:ln w="9525">
              <a:solidFill>
                <a:srgbClr val="C2E0DA"/>
              </a:solidFill>
            </a:ln>
          </p:spPr>
        </p:sp>
        <p:grpSp>
          <p:nvGrpSpPr>
            <p:cNvPr id="15" name="Group 15"/>
            <p:cNvGrpSpPr/>
            <p:nvPr/>
          </p:nvGrpSpPr>
          <p:grpSpPr>
            <a:xfrm>
              <a:off x="507206" y="888206"/>
              <a:ext cx="185737" cy="185737"/>
              <a:chOff x="507206" y="888206"/>
              <a:chExt cx="185737" cy="185737"/>
            </a:xfrm>
          </p:grpSpPr>
          <p:sp>
            <p:nvSpPr>
              <p:cNvPr id="9" name="Freeform 9"/>
              <p:cNvSpPr/>
              <p:nvPr/>
            </p:nvSpPr>
            <p:spPr>
              <a:xfrm>
                <a:off x="579437" y="9707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76200F"/>
                </a:solidFill>
              </a:ln>
            </p:spPr>
          </p:sp>
          <p:sp>
            <p:nvSpPr>
              <p:cNvPr id="10" name="Freeform 10"/>
              <p:cNvSpPr/>
              <p:nvPr/>
            </p:nvSpPr>
            <p:spPr>
              <a:xfrm>
                <a:off x="558800" y="104298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76200F"/>
                </a:solidFill>
              </a:ln>
            </p:spPr>
          </p:sp>
          <p:sp>
            <p:nvSpPr>
              <p:cNvPr id="11" name="Freeform 11"/>
              <p:cNvSpPr/>
              <p:nvPr/>
            </p:nvSpPr>
            <p:spPr>
              <a:xfrm>
                <a:off x="631031" y="8882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76200F"/>
                </a:solidFill>
              </a:ln>
            </p:spPr>
          </p:sp>
          <p:sp>
            <p:nvSpPr>
              <p:cNvPr id="12" name="Freeform 12"/>
              <p:cNvSpPr/>
              <p:nvPr/>
            </p:nvSpPr>
            <p:spPr>
              <a:xfrm>
                <a:off x="651668" y="96043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76200F"/>
                </a:solidFill>
              </a:ln>
            </p:spPr>
          </p:sp>
          <p:sp>
            <p:nvSpPr>
              <p:cNvPr id="13" name="Freeform 13"/>
              <p:cNvSpPr/>
              <p:nvPr/>
            </p:nvSpPr>
            <p:spPr>
              <a:xfrm>
                <a:off x="527844" y="8882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76200F"/>
                </a:solidFill>
              </a:ln>
            </p:spPr>
          </p:sp>
          <p:sp>
            <p:nvSpPr>
              <p:cNvPr id="14" name="Freeform 14"/>
              <p:cNvSpPr/>
              <p:nvPr/>
            </p:nvSpPr>
            <p:spPr>
              <a:xfrm>
                <a:off x="507206" y="96043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76200F"/>
                </a:solidFill>
              </a:ln>
            </p:spPr>
          </p:sp>
        </p:grpSp>
        <p:sp>
          <p:nvSpPr>
            <p:cNvPr id="16" name="TextBox 16"/>
            <p:cNvSpPr txBox="1"/>
            <p:nvPr/>
          </p:nvSpPr>
          <p:spPr>
            <a:xfrm>
              <a:off x="833438" y="806291"/>
              <a:ext cx="451079" cy="161925"/>
            </a:xfrm>
            <a:prstGeom prst="rect">
              <a:avLst/>
            </a:prstGeom>
            <a:noFill/>
            <a:ln>
              <a:noFill/>
            </a:ln>
          </p:spPr>
          <p:txBody>
            <a:bodyPr wrap="none" lIns="0" tIns="0" rIns="0" bIns="0" anchor="t" anchorCtr="0">
              <a:spAutoFit/>
            </a:bodyPr>
            <a:lstStyle/>
            <a:p>
              <a:pPr algn="l"/>
              <a:r>
                <a:rPr lang="zh-CN" sz="820" dirty="0">
                  <a:solidFill>
                    <a:srgbClr val="73615E"/>
                  </a:solidFill>
                  <a:latin typeface="+mn-lt"/>
                  <a:ea typeface="+mn-ea"/>
                  <a:cs typeface="+mn-cs"/>
                </a:rPr>
                <a:t>调研对象</a:t>
              </a:r>
            </a:p>
          </p:txBody>
        </p:sp>
        <p:sp>
          <p:nvSpPr>
            <p:cNvPr id="17" name="TextBox 17"/>
            <p:cNvSpPr txBox="1"/>
            <p:nvPr/>
          </p:nvSpPr>
          <p:spPr>
            <a:xfrm>
              <a:off x="830580" y="981075"/>
              <a:ext cx="450399" cy="293370"/>
            </a:xfrm>
            <a:prstGeom prst="rect">
              <a:avLst/>
            </a:prstGeom>
            <a:noFill/>
            <a:ln>
              <a:noFill/>
            </a:ln>
          </p:spPr>
          <p:txBody>
            <a:bodyPr wrap="none" lIns="0" tIns="0" rIns="0" bIns="0" anchor="t" anchorCtr="0">
              <a:spAutoFit/>
            </a:bodyPr>
            <a:lstStyle/>
            <a:p>
              <a:pPr algn="l"/>
              <a:r>
                <a:rPr lang="zh-CN" sz="1500" b="1" dirty="0">
                  <a:solidFill>
                    <a:srgbClr val="76200F"/>
                  </a:solidFill>
                  <a:latin typeface="+mn-lt"/>
                  <a:ea typeface="+mn-ea"/>
                  <a:cs typeface="+mn-cs"/>
                </a:rPr>
                <a:t>6类​</a:t>
              </a:r>
            </a:p>
          </p:txBody>
        </p:sp>
        <p:sp>
          <p:nvSpPr>
            <p:cNvPr id="18" name="TextBox 18"/>
            <p:cNvSpPr txBox="1"/>
            <p:nvPr/>
          </p:nvSpPr>
          <p:spPr>
            <a:xfrm>
              <a:off x="1423988" y="818436"/>
              <a:ext cx="678586"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覆盖主流银行与</a:t>
              </a:r>
            </a:p>
          </p:txBody>
        </p:sp>
        <p:sp>
          <p:nvSpPr>
            <p:cNvPr id="19" name="TextBox 19"/>
            <p:cNvSpPr txBox="1"/>
            <p:nvPr/>
          </p:nvSpPr>
          <p:spPr>
            <a:xfrm>
              <a:off x="1423988" y="951786"/>
              <a:ext cx="391846"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生态平台</a:t>
              </a:r>
            </a:p>
          </p:txBody>
        </p:sp>
        <p:sp>
          <p:nvSpPr>
            <p:cNvPr id="20" name="TextBox 20"/>
            <p:cNvSpPr txBox="1"/>
            <p:nvPr/>
          </p:nvSpPr>
          <p:spPr>
            <a:xfrm>
              <a:off x="1423988" y="1085136"/>
              <a:ext cx="583006"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多维对比分析</a:t>
              </a:r>
            </a:p>
          </p:txBody>
        </p:sp>
        <p:sp>
          <p:nvSpPr>
            <p:cNvPr id="21" name="Rectangle 21"/>
            <p:cNvSpPr/>
            <p:nvPr/>
          </p:nvSpPr>
          <p:spPr>
            <a:xfrm>
              <a:off x="3219450" y="685800"/>
              <a:ext cx="2800350" cy="590550"/>
            </a:xfrm>
            <a:prstGeom prst="roundRect">
              <a:avLst>
                <a:gd name="adj" fmla="val 12903"/>
              </a:avLst>
            </a:prstGeom>
            <a:solidFill>
              <a:srgbClr val="F0FAF8"/>
            </a:solidFill>
            <a:ln w="9525">
              <a:solidFill>
                <a:srgbClr val="C2E0DA"/>
              </a:solidFill>
            </a:ln>
          </p:spPr>
        </p:sp>
        <p:grpSp>
          <p:nvGrpSpPr>
            <p:cNvPr id="25" name="Group 25"/>
            <p:cNvGrpSpPr/>
            <p:nvPr/>
          </p:nvGrpSpPr>
          <p:grpSpPr>
            <a:xfrm>
              <a:off x="3383756" y="888206"/>
              <a:ext cx="185737" cy="185737"/>
              <a:chOff x="3383756" y="888206"/>
              <a:chExt cx="185737" cy="185737"/>
            </a:xfrm>
          </p:grpSpPr>
          <p:sp>
            <p:nvSpPr>
              <p:cNvPr id="22" name="Freeform 22"/>
              <p:cNvSpPr/>
              <p:nvPr/>
            </p:nvSpPr>
            <p:spPr>
              <a:xfrm>
                <a:off x="3466306" y="97075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76200F"/>
                </a:solidFill>
              </a:ln>
            </p:spPr>
          </p:sp>
          <p:sp>
            <p:nvSpPr>
              <p:cNvPr id="23" name="Freeform 23"/>
              <p:cNvSpPr/>
              <p:nvPr/>
            </p:nvSpPr>
            <p:spPr>
              <a:xfrm>
                <a:off x="3425031" y="92948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76200F"/>
                </a:solidFill>
              </a:ln>
            </p:spPr>
          </p:sp>
          <p:sp>
            <p:nvSpPr>
              <p:cNvPr id="24" name="Freeform 24"/>
              <p:cNvSpPr/>
              <p:nvPr/>
            </p:nvSpPr>
            <p:spPr>
              <a:xfrm>
                <a:off x="3383756" y="888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76200F"/>
                </a:solidFill>
              </a:ln>
            </p:spPr>
          </p:sp>
        </p:grpSp>
        <p:sp>
          <p:nvSpPr>
            <p:cNvPr id="26" name="TextBox 26"/>
            <p:cNvSpPr txBox="1"/>
            <p:nvPr/>
          </p:nvSpPr>
          <p:spPr>
            <a:xfrm>
              <a:off x="3709988" y="806291"/>
              <a:ext cx="451079" cy="161925"/>
            </a:xfrm>
            <a:prstGeom prst="rect">
              <a:avLst/>
            </a:prstGeom>
            <a:noFill/>
            <a:ln>
              <a:noFill/>
            </a:ln>
          </p:spPr>
          <p:txBody>
            <a:bodyPr wrap="none" lIns="0" tIns="0" rIns="0" bIns="0" anchor="t" anchorCtr="0">
              <a:spAutoFit/>
            </a:bodyPr>
            <a:lstStyle/>
            <a:p>
              <a:pPr algn="l"/>
              <a:r>
                <a:rPr lang="zh-CN" sz="820" dirty="0">
                  <a:solidFill>
                    <a:srgbClr val="73615E"/>
                  </a:solidFill>
                  <a:latin typeface="+mn-lt"/>
                  <a:ea typeface="+mn-ea"/>
                  <a:cs typeface="+mn-cs"/>
                </a:rPr>
                <a:t>典型场景</a:t>
              </a:r>
            </a:p>
          </p:txBody>
        </p:sp>
        <p:sp>
          <p:nvSpPr>
            <p:cNvPr id="27" name="TextBox 27"/>
            <p:cNvSpPr txBox="1"/>
            <p:nvPr/>
          </p:nvSpPr>
          <p:spPr>
            <a:xfrm>
              <a:off x="3707130" y="981075"/>
              <a:ext cx="450399" cy="293370"/>
            </a:xfrm>
            <a:prstGeom prst="rect">
              <a:avLst/>
            </a:prstGeom>
            <a:noFill/>
            <a:ln>
              <a:noFill/>
            </a:ln>
          </p:spPr>
          <p:txBody>
            <a:bodyPr wrap="none" lIns="0" tIns="0" rIns="0" bIns="0" anchor="t" anchorCtr="0">
              <a:spAutoFit/>
            </a:bodyPr>
            <a:lstStyle/>
            <a:p>
              <a:pPr algn="l"/>
              <a:r>
                <a:rPr lang="zh-CN" sz="1500" b="1" dirty="0">
                  <a:solidFill>
                    <a:srgbClr val="76200F"/>
                  </a:solidFill>
                  <a:latin typeface="+mn-lt"/>
                  <a:ea typeface="+mn-ea"/>
                  <a:cs typeface="+mn-cs"/>
                </a:rPr>
                <a:t>8类​</a:t>
              </a:r>
            </a:p>
          </p:txBody>
        </p:sp>
        <p:sp>
          <p:nvSpPr>
            <p:cNvPr id="28" name="TextBox 28"/>
            <p:cNvSpPr txBox="1"/>
            <p:nvPr/>
          </p:nvSpPr>
          <p:spPr>
            <a:xfrm>
              <a:off x="4300538" y="818436"/>
              <a:ext cx="730885" cy="407194"/>
            </a:xfrm>
            <a:prstGeom prst="rect">
              <a:avLst/>
            </a:prstGeom>
            <a:noFill/>
            <a:ln>
              <a:noFill/>
            </a:ln>
          </p:spPr>
          <p:txBody>
            <a:bodyPr wrap="none" lIns="0" tIns="0" rIns="0" bIns="0" anchor="t" anchorCtr="0">
              <a:spAutoFit/>
            </a:bodyPr>
            <a:lstStyle/>
            <a:p>
              <a:pPr algn="l">
                <a:lnSpc>
                  <a:spcPts val="1050"/>
                </a:lnSpc>
              </a:pPr>
              <a:r>
                <a:rPr lang="zh-CN" sz="710" dirty="0">
                  <a:solidFill>
                    <a:srgbClr val="73615E"/>
                  </a:solidFill>
                  <a:latin typeface="+mn-lt"/>
                  <a:ea typeface="+mn-ea"/>
                  <a:cs typeface="+mn-cs"/>
                </a:rPr>
                <a:t>覆盖高频生活与</a:t>
              </a:r>
              <a:br/>
              <a:r>
                <a:rPr lang="zh-CN" sz="710" dirty="0">
                  <a:solidFill>
                    <a:srgbClr val="73615E"/>
                  </a:solidFill>
                  <a:latin typeface="+mn-lt"/>
                  <a:ea typeface="+mn-ea"/>
                  <a:cs typeface="+mn-cs"/>
                </a:rPr>
                <a:t>产业场景</a:t>
              </a:r>
              <a:br/>
              <a:r>
                <a:rPr lang="zh-CN" sz="710" dirty="0">
                  <a:solidFill>
                    <a:srgbClr val="73615E"/>
                  </a:solidFill>
                  <a:latin typeface="+mn-lt"/>
                  <a:ea typeface="+mn-ea"/>
                  <a:cs typeface="+mn-cs"/>
                </a:rPr>
                <a:t>线上线下一体调研</a:t>
              </a:r>
            </a:p>
          </p:txBody>
        </p:sp>
        <p:sp>
          <p:nvSpPr>
            <p:cNvPr id="29" name="Rectangle 29"/>
            <p:cNvSpPr/>
            <p:nvPr/>
          </p:nvSpPr>
          <p:spPr>
            <a:xfrm>
              <a:off x="6096000" y="685800"/>
              <a:ext cx="2800350" cy="590550"/>
            </a:xfrm>
            <a:prstGeom prst="roundRect">
              <a:avLst>
                <a:gd name="adj" fmla="val 12903"/>
              </a:avLst>
            </a:prstGeom>
            <a:solidFill>
              <a:srgbClr val="F0FAF8"/>
            </a:solidFill>
            <a:ln w="9525">
              <a:solidFill>
                <a:srgbClr val="C2E0DA"/>
              </a:solidFill>
            </a:ln>
          </p:spPr>
        </p:sp>
        <p:grpSp>
          <p:nvGrpSpPr>
            <p:cNvPr id="32" name="Group 32"/>
            <p:cNvGrpSpPr/>
            <p:nvPr/>
          </p:nvGrpSpPr>
          <p:grpSpPr>
            <a:xfrm>
              <a:off x="6255776" y="883676"/>
              <a:ext cx="194797" cy="194797"/>
              <a:chOff x="6255776" y="883676"/>
              <a:chExt cx="194797" cy="194797"/>
            </a:xfrm>
          </p:grpSpPr>
          <p:sp>
            <p:nvSpPr>
              <p:cNvPr id="30" name="Freeform 30"/>
              <p:cNvSpPr/>
              <p:nvPr/>
            </p:nvSpPr>
            <p:spPr>
              <a:xfrm>
                <a:off x="6255776" y="883676"/>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76200F"/>
                </a:solidFill>
              </a:ln>
            </p:spPr>
          </p:sp>
          <p:sp>
            <p:nvSpPr>
              <p:cNvPr id="31" name="Freeform 31"/>
              <p:cNvSpPr/>
              <p:nvPr/>
            </p:nvSpPr>
            <p:spPr>
              <a:xfrm>
                <a:off x="6322218" y="950118"/>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76200F"/>
                </a:solidFill>
              </a:ln>
            </p:spPr>
          </p:sp>
        </p:grpSp>
        <p:sp>
          <p:nvSpPr>
            <p:cNvPr id="33" name="TextBox 33"/>
            <p:cNvSpPr txBox="1"/>
            <p:nvPr/>
          </p:nvSpPr>
          <p:spPr>
            <a:xfrm>
              <a:off x="6586538" y="806291"/>
              <a:ext cx="451079" cy="161925"/>
            </a:xfrm>
            <a:prstGeom prst="rect">
              <a:avLst/>
            </a:prstGeom>
            <a:noFill/>
            <a:ln>
              <a:noFill/>
            </a:ln>
          </p:spPr>
          <p:txBody>
            <a:bodyPr wrap="none" lIns="0" tIns="0" rIns="0" bIns="0" anchor="t" anchorCtr="0">
              <a:spAutoFit/>
            </a:bodyPr>
            <a:lstStyle/>
            <a:p>
              <a:pPr algn="l"/>
              <a:r>
                <a:rPr lang="zh-CN" sz="820" dirty="0">
                  <a:solidFill>
                    <a:srgbClr val="73615E"/>
                  </a:solidFill>
                  <a:latin typeface="+mn-lt"/>
                  <a:ea typeface="+mn-ea"/>
                  <a:cs typeface="+mn-cs"/>
                </a:rPr>
                <a:t>关键机制</a:t>
              </a:r>
            </a:p>
          </p:txBody>
        </p:sp>
        <p:sp>
          <p:nvSpPr>
            <p:cNvPr id="34" name="TextBox 34"/>
            <p:cNvSpPr txBox="1"/>
            <p:nvPr/>
          </p:nvSpPr>
          <p:spPr>
            <a:xfrm>
              <a:off x="6583680" y="981075"/>
              <a:ext cx="567014" cy="293370"/>
            </a:xfrm>
            <a:prstGeom prst="rect">
              <a:avLst/>
            </a:prstGeom>
            <a:noFill/>
            <a:ln>
              <a:noFill/>
            </a:ln>
          </p:spPr>
          <p:txBody>
            <a:bodyPr wrap="none" lIns="0" tIns="0" rIns="0" bIns="0" anchor="t" anchorCtr="0">
              <a:spAutoFit/>
            </a:bodyPr>
            <a:lstStyle/>
            <a:p>
              <a:pPr algn="l"/>
              <a:r>
                <a:rPr lang="zh-CN" sz="1500" b="1" dirty="0">
                  <a:solidFill>
                    <a:srgbClr val="76200F"/>
                  </a:solidFill>
                  <a:latin typeface="+mn-lt"/>
                  <a:ea typeface="+mn-ea"/>
                  <a:cs typeface="+mn-cs"/>
                </a:rPr>
                <a:t>12项​</a:t>
              </a:r>
            </a:p>
          </p:txBody>
        </p:sp>
        <p:sp>
          <p:nvSpPr>
            <p:cNvPr id="35" name="TextBox 35"/>
            <p:cNvSpPr txBox="1"/>
            <p:nvPr/>
          </p:nvSpPr>
          <p:spPr>
            <a:xfrm>
              <a:off x="7177088" y="818436"/>
              <a:ext cx="583006"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从获客到复购</a:t>
              </a:r>
            </a:p>
          </p:txBody>
        </p:sp>
        <p:sp>
          <p:nvSpPr>
            <p:cNvPr id="36" name="TextBox 36"/>
            <p:cNvSpPr txBox="1"/>
            <p:nvPr/>
          </p:nvSpPr>
          <p:spPr>
            <a:xfrm>
              <a:off x="7177088" y="951786"/>
              <a:ext cx="487426"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全链路拆解</a:t>
              </a:r>
            </a:p>
          </p:txBody>
        </p:sp>
        <p:sp>
          <p:nvSpPr>
            <p:cNvPr id="37" name="TextBox 37"/>
            <p:cNvSpPr txBox="1"/>
            <p:nvPr/>
          </p:nvSpPr>
          <p:spPr>
            <a:xfrm>
              <a:off x="7177088" y="1085136"/>
              <a:ext cx="583006"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提炼共性机制</a:t>
              </a:r>
            </a:p>
          </p:txBody>
        </p:sp>
        <p:sp>
          <p:nvSpPr>
            <p:cNvPr id="38" name="Rectangle 38"/>
            <p:cNvSpPr/>
            <p:nvPr/>
          </p:nvSpPr>
          <p:spPr>
            <a:xfrm>
              <a:off x="8972550" y="685800"/>
              <a:ext cx="2800350" cy="590550"/>
            </a:xfrm>
            <a:prstGeom prst="roundRect">
              <a:avLst>
                <a:gd name="adj" fmla="val 12903"/>
              </a:avLst>
            </a:prstGeom>
            <a:solidFill>
              <a:srgbClr val="F0FAF8"/>
            </a:solidFill>
            <a:ln w="9525">
              <a:solidFill>
                <a:srgbClr val="C2E0DA"/>
              </a:solidFill>
            </a:ln>
          </p:spPr>
        </p:sp>
        <p:grpSp>
          <p:nvGrpSpPr>
            <p:cNvPr id="43" name="Group 43"/>
            <p:cNvGrpSpPr/>
            <p:nvPr/>
          </p:nvGrpSpPr>
          <p:grpSpPr>
            <a:xfrm>
              <a:off x="9136856" y="898525"/>
              <a:ext cx="185737" cy="174624"/>
              <a:chOff x="9136856" y="898525"/>
              <a:chExt cx="185737" cy="174624"/>
            </a:xfrm>
          </p:grpSpPr>
          <p:sp>
            <p:nvSpPr>
              <p:cNvPr id="39" name="Freeform 39"/>
              <p:cNvSpPr/>
              <p:nvPr/>
            </p:nvSpPr>
            <p:spPr>
              <a:xfrm>
                <a:off x="9136856" y="98107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76200F"/>
                </a:solidFill>
              </a:ln>
            </p:spPr>
          </p:sp>
          <p:sp>
            <p:nvSpPr>
              <p:cNvPr id="40" name="Freeform 40"/>
              <p:cNvSpPr/>
              <p:nvPr/>
            </p:nvSpPr>
            <p:spPr>
              <a:xfrm>
                <a:off x="9260681" y="93980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76200F"/>
                </a:solidFill>
              </a:ln>
            </p:spPr>
          </p:sp>
          <p:sp>
            <p:nvSpPr>
              <p:cNvPr id="41" name="Freeform 41"/>
              <p:cNvSpPr/>
              <p:nvPr/>
            </p:nvSpPr>
            <p:spPr>
              <a:xfrm>
                <a:off x="9198768" y="89852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76200F"/>
                </a:solidFill>
              </a:ln>
            </p:spPr>
          </p:sp>
          <p:sp>
            <p:nvSpPr>
              <p:cNvPr id="42" name="Freeform 42"/>
              <p:cNvSpPr/>
              <p:nvPr/>
            </p:nvSpPr>
            <p:spPr>
              <a:xfrm>
                <a:off x="9147175" y="1063624"/>
                <a:ext cx="144462" cy="9525"/>
              </a:xfrm>
              <a:custGeom>
                <a:avLst/>
                <a:gdLst/>
                <a:ahLst/>
                <a:cxnLst/>
                <a:rect l="l" t="t" r="r" b="b"/>
                <a:pathLst>
                  <a:path w="144462" h="9525">
                    <a:moveTo>
                      <a:pt x="0" y="0"/>
                    </a:moveTo>
                    <a:lnTo>
                      <a:pt x="144462" y="0"/>
                    </a:lnTo>
                  </a:path>
                </a:pathLst>
              </a:custGeom>
              <a:noFill/>
              <a:ln w="20637">
                <a:solidFill>
                  <a:srgbClr val="76200F"/>
                </a:solidFill>
              </a:ln>
            </p:spPr>
          </p:sp>
        </p:grpSp>
        <p:sp>
          <p:nvSpPr>
            <p:cNvPr id="44" name="TextBox 44"/>
            <p:cNvSpPr txBox="1"/>
            <p:nvPr/>
          </p:nvSpPr>
          <p:spPr>
            <a:xfrm>
              <a:off x="9463088" y="806291"/>
              <a:ext cx="451079" cy="161925"/>
            </a:xfrm>
            <a:prstGeom prst="rect">
              <a:avLst/>
            </a:prstGeom>
            <a:noFill/>
            <a:ln>
              <a:noFill/>
            </a:ln>
          </p:spPr>
          <p:txBody>
            <a:bodyPr wrap="none" lIns="0" tIns="0" rIns="0" bIns="0" anchor="t" anchorCtr="0">
              <a:spAutoFit/>
            </a:bodyPr>
            <a:lstStyle/>
            <a:p>
              <a:pPr algn="l"/>
              <a:r>
                <a:rPr lang="zh-CN" sz="820" dirty="0">
                  <a:solidFill>
                    <a:srgbClr val="73615E"/>
                  </a:solidFill>
                  <a:latin typeface="+mn-lt"/>
                  <a:ea typeface="+mn-ea"/>
                  <a:cs typeface="+mn-cs"/>
                </a:rPr>
                <a:t>评价指标</a:t>
              </a:r>
            </a:p>
          </p:txBody>
        </p:sp>
        <p:sp>
          <p:nvSpPr>
            <p:cNvPr id="45" name="TextBox 45"/>
            <p:cNvSpPr txBox="1"/>
            <p:nvPr/>
          </p:nvSpPr>
          <p:spPr>
            <a:xfrm>
              <a:off x="9460230" y="981075"/>
              <a:ext cx="450399" cy="293370"/>
            </a:xfrm>
            <a:prstGeom prst="rect">
              <a:avLst/>
            </a:prstGeom>
            <a:noFill/>
            <a:ln>
              <a:noFill/>
            </a:ln>
          </p:spPr>
          <p:txBody>
            <a:bodyPr wrap="none" lIns="0" tIns="0" rIns="0" bIns="0" anchor="t" anchorCtr="0">
              <a:spAutoFit/>
            </a:bodyPr>
            <a:lstStyle/>
            <a:p>
              <a:pPr algn="l"/>
              <a:r>
                <a:rPr lang="zh-CN" sz="1500" b="1" dirty="0">
                  <a:solidFill>
                    <a:srgbClr val="76200F"/>
                  </a:solidFill>
                  <a:latin typeface="+mn-lt"/>
                  <a:ea typeface="+mn-ea"/>
                  <a:cs typeface="+mn-cs"/>
                </a:rPr>
                <a:t>9级​</a:t>
              </a:r>
            </a:p>
          </p:txBody>
        </p:sp>
        <p:sp>
          <p:nvSpPr>
            <p:cNvPr id="46" name="TextBox 46"/>
            <p:cNvSpPr txBox="1"/>
            <p:nvPr/>
          </p:nvSpPr>
          <p:spPr>
            <a:xfrm>
              <a:off x="10053638" y="818436"/>
              <a:ext cx="730885" cy="407194"/>
            </a:xfrm>
            <a:prstGeom prst="rect">
              <a:avLst/>
            </a:prstGeom>
            <a:noFill/>
            <a:ln>
              <a:noFill/>
            </a:ln>
          </p:spPr>
          <p:txBody>
            <a:bodyPr wrap="none" lIns="0" tIns="0" rIns="0" bIns="0" anchor="t" anchorCtr="0">
              <a:spAutoFit/>
            </a:bodyPr>
            <a:lstStyle/>
            <a:p>
              <a:pPr algn="l">
                <a:lnSpc>
                  <a:spcPts val="1050"/>
                </a:lnSpc>
              </a:pPr>
              <a:r>
                <a:rPr lang="zh-CN" sz="710" dirty="0">
                  <a:solidFill>
                    <a:srgbClr val="73615E"/>
                  </a:solidFill>
                  <a:latin typeface="+mn-lt"/>
                  <a:ea typeface="+mn-ea"/>
                  <a:cs typeface="+mn-cs"/>
                </a:rPr>
                <a:t>构建分级评价体系</a:t>
              </a:r>
              <a:br/>
              <a:r>
                <a:rPr lang="zh-CN" sz="710" dirty="0">
                  <a:solidFill>
                    <a:srgbClr val="73615E"/>
                  </a:solidFill>
                  <a:latin typeface="+mn-lt"/>
                  <a:ea typeface="+mn-ea"/>
                  <a:cs typeface="+mn-cs"/>
                </a:rPr>
                <a:t>量化对标</a:t>
              </a:r>
              <a:br/>
              <a:r>
                <a:rPr lang="zh-CN" sz="710" dirty="0">
                  <a:solidFill>
                    <a:srgbClr val="73615E"/>
                  </a:solidFill>
                  <a:latin typeface="+mn-lt"/>
                  <a:ea typeface="+mn-ea"/>
                  <a:cs typeface="+mn-cs"/>
                </a:rPr>
                <a:t>识别最佳实践</a:t>
              </a:r>
            </a:p>
          </p:txBody>
        </p:sp>
      </p:grpSp>
      <p:grpSp>
        <p:nvGrpSpPr>
          <p:cNvPr id="170" name="scope-table"/>
          <p:cNvGrpSpPr/>
          <p:nvPr/>
        </p:nvGrpSpPr>
        <p:grpSpPr>
          <a:xfrm>
            <a:off x="342900" y="1390650"/>
            <a:ext cx="5334000" cy="3028950"/>
            <a:chOff x="342900" y="1390650"/>
            <a:chExt cx="5334000" cy="3028950"/>
          </a:xfrm>
        </p:grpSpPr>
        <p:sp>
          <p:nvSpPr>
            <p:cNvPr id="48" name="Rectangle 48"/>
            <p:cNvSpPr/>
            <p:nvPr/>
          </p:nvSpPr>
          <p:spPr>
            <a:xfrm>
              <a:off x="342900" y="1390650"/>
              <a:ext cx="5334000" cy="304800"/>
            </a:xfrm>
            <a:prstGeom prst="roundRect">
              <a:avLst>
                <a:gd name="adj" fmla="val 18750"/>
              </a:avLst>
            </a:prstGeom>
            <a:gradFill>
              <a:gsLst>
                <a:gs pos="0">
                  <a:srgbClr val="5D190B"/>
                </a:gs>
                <a:gs pos="100000">
                  <a:srgbClr val="902915"/>
                </a:gs>
              </a:gsLst>
              <a:lin ang="0" scaled="1"/>
            </a:gradFill>
            <a:ln>
              <a:noFill/>
            </a:ln>
          </p:spPr>
        </p:sp>
        <p:sp>
          <p:nvSpPr>
            <p:cNvPr id="49" name="TextBox 49"/>
            <p:cNvSpPr txBox="1"/>
            <p:nvPr/>
          </p:nvSpPr>
          <p:spPr>
            <a:xfrm>
              <a:off x="470916" y="1486852"/>
              <a:ext cx="1867616"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调研范围</a:t>
              </a:r>
              <a:r>
                <a:rPr lang="zh-CN" sz="820" dirty="0">
                  <a:solidFill>
                    <a:srgbClr val="BFE4DD"/>
                  </a:solidFill>
                  <a:latin typeface="+mn-lt"/>
                  <a:ea typeface="+mn-ea"/>
                  <a:cs typeface="+mn-cs"/>
                </a:rPr>
                <a:t>｜多类机构 × 多维度对比​</a:t>
              </a:r>
            </a:p>
          </p:txBody>
        </p:sp>
        <p:sp>
          <p:nvSpPr>
            <p:cNvPr id="50" name="Rectangle 50"/>
            <p:cNvSpPr/>
            <p:nvPr/>
          </p:nvSpPr>
          <p:spPr>
            <a:xfrm>
              <a:off x="400050" y="1752600"/>
              <a:ext cx="990600" cy="323850"/>
            </a:xfrm>
            <a:prstGeom prst="rect">
              <a:avLst/>
            </a:prstGeom>
            <a:solidFill>
              <a:srgbClr val="E4F1EE"/>
            </a:solidFill>
            <a:ln>
              <a:noFill/>
            </a:ln>
          </p:spPr>
        </p:sp>
        <p:sp>
          <p:nvSpPr>
            <p:cNvPr id="51" name="TextBox 51"/>
            <p:cNvSpPr txBox="1"/>
            <p:nvPr/>
          </p:nvSpPr>
          <p:spPr>
            <a:xfrm>
              <a:off x="669811" y="1863566"/>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银行类型</a:t>
              </a:r>
            </a:p>
          </p:txBody>
        </p:sp>
        <p:sp>
          <p:nvSpPr>
            <p:cNvPr id="52" name="Rectangle 52"/>
            <p:cNvSpPr/>
            <p:nvPr/>
          </p:nvSpPr>
          <p:spPr>
            <a:xfrm>
              <a:off x="1390650" y="1752600"/>
              <a:ext cx="857250" cy="323850"/>
            </a:xfrm>
            <a:prstGeom prst="rect">
              <a:avLst/>
            </a:prstGeom>
            <a:solidFill>
              <a:srgbClr val="76200F"/>
            </a:solidFill>
            <a:ln>
              <a:noFill/>
            </a:ln>
          </p:spPr>
        </p:sp>
        <p:sp>
          <p:nvSpPr>
            <p:cNvPr id="53" name="TextBox 53"/>
            <p:cNvSpPr txBox="1"/>
            <p:nvPr/>
          </p:nvSpPr>
          <p:spPr>
            <a:xfrm>
              <a:off x="1704124" y="17968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场景</a:t>
              </a:r>
            </a:p>
          </p:txBody>
        </p:sp>
        <p:sp>
          <p:nvSpPr>
            <p:cNvPr id="54" name="TextBox 54"/>
            <p:cNvSpPr txBox="1"/>
            <p:nvPr/>
          </p:nvSpPr>
          <p:spPr>
            <a:xfrm>
              <a:off x="1531810" y="1954530"/>
              <a:ext cx="574929" cy="119062"/>
            </a:xfrm>
            <a:prstGeom prst="rect">
              <a:avLst/>
            </a:prstGeom>
            <a:noFill/>
            <a:ln>
              <a:noFill/>
            </a:ln>
          </p:spPr>
          <p:txBody>
            <a:bodyPr wrap="none" lIns="0" tIns="0" rIns="0" bIns="0" anchor="t" anchorCtr="0">
              <a:spAutoFit/>
            </a:bodyPr>
            <a:lstStyle/>
            <a:p>
              <a:pPr algn="ctr"/>
              <a:r>
                <a:rPr lang="zh-CN" sz="600" dirty="0">
                  <a:solidFill>
                    <a:srgbClr val="BFE4DD"/>
                  </a:solidFill>
                  <a:latin typeface="+mn-lt"/>
                  <a:ea typeface="+mn-ea"/>
                  <a:cs typeface="+mn-cs"/>
                </a:rPr>
                <a:t>适用场景与客群</a:t>
              </a:r>
            </a:p>
          </p:txBody>
        </p:sp>
        <p:sp>
          <p:nvSpPr>
            <p:cNvPr id="55" name="Rectangle 55"/>
            <p:cNvSpPr/>
            <p:nvPr/>
          </p:nvSpPr>
          <p:spPr>
            <a:xfrm>
              <a:off x="2247900" y="1752600"/>
              <a:ext cx="857250" cy="323850"/>
            </a:xfrm>
            <a:prstGeom prst="rect">
              <a:avLst/>
            </a:prstGeom>
            <a:solidFill>
              <a:srgbClr val="852512"/>
            </a:solidFill>
            <a:ln>
              <a:noFill/>
            </a:ln>
          </p:spPr>
        </p:sp>
        <p:sp>
          <p:nvSpPr>
            <p:cNvPr id="56" name="TextBox 56"/>
            <p:cNvSpPr txBox="1"/>
            <p:nvPr/>
          </p:nvSpPr>
          <p:spPr>
            <a:xfrm>
              <a:off x="2561374" y="17968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渠道</a:t>
              </a:r>
            </a:p>
          </p:txBody>
        </p:sp>
        <p:sp>
          <p:nvSpPr>
            <p:cNvPr id="57" name="TextBox 57"/>
            <p:cNvSpPr txBox="1"/>
            <p:nvPr/>
          </p:nvSpPr>
          <p:spPr>
            <a:xfrm>
              <a:off x="2385022" y="1954530"/>
              <a:ext cx="583006" cy="119062"/>
            </a:xfrm>
            <a:prstGeom prst="rect">
              <a:avLst/>
            </a:prstGeom>
            <a:noFill/>
            <a:ln>
              <a:noFill/>
            </a:ln>
          </p:spPr>
          <p:txBody>
            <a:bodyPr wrap="none" lIns="0" tIns="0" rIns="0" bIns="0" anchor="t" anchorCtr="0">
              <a:spAutoFit/>
            </a:bodyPr>
            <a:lstStyle/>
            <a:p>
              <a:pPr algn="ctr"/>
              <a:r>
                <a:rPr lang="zh-CN" sz="600" dirty="0">
                  <a:solidFill>
                    <a:srgbClr val="BFE4DD"/>
                  </a:solidFill>
                  <a:latin typeface="+mn-lt"/>
                  <a:ea typeface="+mn-ea"/>
                  <a:cs typeface="+mn-cs"/>
                </a:rPr>
                <a:t>线下展位/线上​</a:t>
              </a:r>
            </a:p>
          </p:txBody>
        </p:sp>
        <p:sp>
          <p:nvSpPr>
            <p:cNvPr id="58" name="Rectangle 58"/>
            <p:cNvSpPr/>
            <p:nvPr/>
          </p:nvSpPr>
          <p:spPr>
            <a:xfrm>
              <a:off x="3105150" y="1752600"/>
              <a:ext cx="857250" cy="323850"/>
            </a:xfrm>
            <a:prstGeom prst="rect">
              <a:avLst/>
            </a:prstGeom>
            <a:solidFill>
              <a:srgbClr val="76200F"/>
            </a:solidFill>
            <a:ln>
              <a:noFill/>
            </a:ln>
          </p:spPr>
        </p:sp>
        <p:sp>
          <p:nvSpPr>
            <p:cNvPr id="59" name="TextBox 59"/>
            <p:cNvSpPr txBox="1"/>
            <p:nvPr/>
          </p:nvSpPr>
          <p:spPr>
            <a:xfrm>
              <a:off x="3418624" y="17968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权益</a:t>
              </a:r>
            </a:p>
          </p:txBody>
        </p:sp>
        <p:sp>
          <p:nvSpPr>
            <p:cNvPr id="60" name="TextBox 60"/>
            <p:cNvSpPr txBox="1"/>
            <p:nvPr/>
          </p:nvSpPr>
          <p:spPr>
            <a:xfrm>
              <a:off x="3327082" y="1954530"/>
              <a:ext cx="413385" cy="119062"/>
            </a:xfrm>
            <a:prstGeom prst="rect">
              <a:avLst/>
            </a:prstGeom>
            <a:noFill/>
            <a:ln>
              <a:noFill/>
            </a:ln>
          </p:spPr>
          <p:txBody>
            <a:bodyPr wrap="none" lIns="0" tIns="0" rIns="0" bIns="0" anchor="t" anchorCtr="0">
              <a:spAutoFit/>
            </a:bodyPr>
            <a:lstStyle/>
            <a:p>
              <a:pPr algn="ctr"/>
              <a:r>
                <a:rPr lang="zh-CN" sz="600" dirty="0">
                  <a:solidFill>
                    <a:srgbClr val="BFE4DD"/>
                  </a:solidFill>
                  <a:latin typeface="+mn-lt"/>
                  <a:ea typeface="+mn-ea"/>
                  <a:cs typeface="+mn-cs"/>
                </a:rPr>
                <a:t>产品与优惠</a:t>
              </a:r>
            </a:p>
          </p:txBody>
        </p:sp>
        <p:sp>
          <p:nvSpPr>
            <p:cNvPr id="61" name="Rectangle 61"/>
            <p:cNvSpPr/>
            <p:nvPr/>
          </p:nvSpPr>
          <p:spPr>
            <a:xfrm>
              <a:off x="3962400" y="1752600"/>
              <a:ext cx="857250" cy="323850"/>
            </a:xfrm>
            <a:prstGeom prst="rect">
              <a:avLst/>
            </a:prstGeom>
            <a:solidFill>
              <a:srgbClr val="852512"/>
            </a:solidFill>
            <a:ln>
              <a:noFill/>
            </a:ln>
          </p:spPr>
        </p:sp>
        <p:sp>
          <p:nvSpPr>
            <p:cNvPr id="62" name="TextBox 62"/>
            <p:cNvSpPr txBox="1"/>
            <p:nvPr/>
          </p:nvSpPr>
          <p:spPr>
            <a:xfrm>
              <a:off x="4275874" y="17968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数据</a:t>
              </a:r>
            </a:p>
          </p:txBody>
        </p:sp>
        <p:sp>
          <p:nvSpPr>
            <p:cNvPr id="63" name="TextBox 63"/>
            <p:cNvSpPr txBox="1"/>
            <p:nvPr/>
          </p:nvSpPr>
          <p:spPr>
            <a:xfrm>
              <a:off x="4224718" y="1954530"/>
              <a:ext cx="332613" cy="119062"/>
            </a:xfrm>
            <a:prstGeom prst="rect">
              <a:avLst/>
            </a:prstGeom>
            <a:noFill/>
            <a:ln>
              <a:noFill/>
            </a:ln>
          </p:spPr>
          <p:txBody>
            <a:bodyPr wrap="none" lIns="0" tIns="0" rIns="0" bIns="0" anchor="t" anchorCtr="0">
              <a:spAutoFit/>
            </a:bodyPr>
            <a:lstStyle/>
            <a:p>
              <a:pPr algn="ctr"/>
              <a:r>
                <a:rPr lang="zh-CN" sz="600" dirty="0">
                  <a:solidFill>
                    <a:srgbClr val="BFE4DD"/>
                  </a:solidFill>
                  <a:latin typeface="+mn-lt"/>
                  <a:ea typeface="+mn-ea"/>
                  <a:cs typeface="+mn-cs"/>
                </a:rPr>
                <a:t>数据能力</a:t>
              </a:r>
            </a:p>
          </p:txBody>
        </p:sp>
        <p:sp>
          <p:nvSpPr>
            <p:cNvPr id="64" name="Rectangle 64"/>
            <p:cNvSpPr/>
            <p:nvPr/>
          </p:nvSpPr>
          <p:spPr>
            <a:xfrm>
              <a:off x="4819650" y="1752600"/>
              <a:ext cx="857250" cy="323850"/>
            </a:xfrm>
            <a:prstGeom prst="rect">
              <a:avLst/>
            </a:prstGeom>
            <a:solidFill>
              <a:srgbClr val="76200F"/>
            </a:solidFill>
            <a:ln>
              <a:noFill/>
            </a:ln>
          </p:spPr>
        </p:sp>
        <p:sp>
          <p:nvSpPr>
            <p:cNvPr id="65" name="TextBox 65"/>
            <p:cNvSpPr txBox="1"/>
            <p:nvPr/>
          </p:nvSpPr>
          <p:spPr>
            <a:xfrm>
              <a:off x="5133124" y="17968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组织</a:t>
              </a:r>
            </a:p>
          </p:txBody>
        </p:sp>
        <p:sp>
          <p:nvSpPr>
            <p:cNvPr id="66" name="TextBox 66"/>
            <p:cNvSpPr txBox="1"/>
            <p:nvPr/>
          </p:nvSpPr>
          <p:spPr>
            <a:xfrm>
              <a:off x="5041582" y="1954530"/>
              <a:ext cx="413385" cy="119062"/>
            </a:xfrm>
            <a:prstGeom prst="rect">
              <a:avLst/>
            </a:prstGeom>
            <a:noFill/>
            <a:ln>
              <a:noFill/>
            </a:ln>
          </p:spPr>
          <p:txBody>
            <a:bodyPr wrap="none" lIns="0" tIns="0" rIns="0" bIns="0" anchor="t" anchorCtr="0">
              <a:spAutoFit/>
            </a:bodyPr>
            <a:lstStyle/>
            <a:p>
              <a:pPr algn="ctr"/>
              <a:r>
                <a:rPr lang="zh-CN" sz="600" dirty="0">
                  <a:solidFill>
                    <a:srgbClr val="BFE4DD"/>
                  </a:solidFill>
                  <a:latin typeface="+mn-lt"/>
                  <a:ea typeface="+mn-ea"/>
                  <a:cs typeface="+mn-cs"/>
                </a:rPr>
                <a:t>协同与考核</a:t>
              </a:r>
            </a:p>
          </p:txBody>
        </p:sp>
        <p:grpSp>
          <p:nvGrpSpPr>
            <p:cNvPr id="169" name="scope-rows"/>
            <p:cNvGrpSpPr/>
            <p:nvPr/>
          </p:nvGrpSpPr>
          <p:grpSpPr>
            <a:xfrm>
              <a:off x="400050" y="2076450"/>
              <a:ext cx="5276850" cy="2343150"/>
              <a:chOff x="400050" y="2076450"/>
              <a:chExt cx="5276850" cy="2343150"/>
            </a:xfrm>
          </p:grpSpPr>
          <p:sp>
            <p:nvSpPr>
              <p:cNvPr id="67" name="Rectangle 67"/>
              <p:cNvSpPr/>
              <p:nvPr/>
            </p:nvSpPr>
            <p:spPr>
              <a:xfrm>
                <a:off x="400050" y="2076450"/>
                <a:ext cx="5276850" cy="390525"/>
              </a:xfrm>
              <a:prstGeom prst="rect">
                <a:avLst/>
              </a:prstGeom>
              <a:solidFill>
                <a:srgbClr val="FFFFFF"/>
              </a:solidFill>
              <a:ln w="9525">
                <a:solidFill>
                  <a:srgbClr val="E2EEEB"/>
                </a:solidFill>
              </a:ln>
            </p:spPr>
          </p:sp>
          <p:sp>
            <p:nvSpPr>
              <p:cNvPr id="68" name="TextBox 68"/>
              <p:cNvSpPr txBox="1"/>
              <p:nvPr/>
            </p:nvSpPr>
            <p:spPr>
              <a:xfrm>
                <a:off x="490538" y="2217420"/>
                <a:ext cx="372999" cy="176212"/>
              </a:xfrm>
              <a:prstGeom prst="rect">
                <a:avLst/>
              </a:prstGeom>
              <a:noFill/>
              <a:ln>
                <a:noFill/>
              </a:ln>
            </p:spPr>
            <p:txBody>
              <a:bodyPr wrap="none" lIns="0" tIns="0" rIns="0" bIns="0" anchor="t" anchorCtr="0">
                <a:spAutoFit/>
              </a:bodyPr>
              <a:lstStyle/>
              <a:p>
                <a:pPr algn="l"/>
                <a:r>
                  <a:rPr lang="zh-CN" sz="900" b="1" dirty="0">
                    <a:solidFill>
                      <a:srgbClr val="331712"/>
                    </a:solidFill>
                    <a:latin typeface="+mn-lt"/>
                    <a:ea typeface="+mn-ea"/>
                    <a:cs typeface="+mn-cs"/>
                  </a:rPr>
                  <a:t>国有行</a:t>
                </a:r>
              </a:p>
            </p:txBody>
          </p:sp>
          <p:grpSp>
            <p:nvGrpSpPr>
              <p:cNvPr id="71" name="Group 71"/>
              <p:cNvGrpSpPr/>
              <p:nvPr/>
            </p:nvGrpSpPr>
            <p:grpSpPr>
              <a:xfrm>
                <a:off x="1754981" y="2212181"/>
                <a:ext cx="128588" cy="128588"/>
                <a:chOff x="1754981" y="2212181"/>
                <a:chExt cx="128588" cy="128588"/>
              </a:xfrm>
            </p:grpSpPr>
            <p:sp>
              <p:nvSpPr>
                <p:cNvPr id="69" name="Freeform 69"/>
                <p:cNvSpPr/>
                <p:nvPr/>
              </p:nvSpPr>
              <p:spPr>
                <a:xfrm>
                  <a:off x="1754981" y="22121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70" name="Freeform 70"/>
                <p:cNvSpPr/>
                <p:nvPr/>
              </p:nvSpPr>
              <p:spPr>
                <a:xfrm>
                  <a:off x="1797844" y="22621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74" name="Group 74"/>
              <p:cNvGrpSpPr/>
              <p:nvPr/>
            </p:nvGrpSpPr>
            <p:grpSpPr>
              <a:xfrm>
                <a:off x="2612231" y="2212181"/>
                <a:ext cx="128588" cy="128588"/>
                <a:chOff x="2612231" y="2212181"/>
                <a:chExt cx="128588" cy="128588"/>
              </a:xfrm>
            </p:grpSpPr>
            <p:sp>
              <p:nvSpPr>
                <p:cNvPr id="72" name="Freeform 72"/>
                <p:cNvSpPr/>
                <p:nvPr/>
              </p:nvSpPr>
              <p:spPr>
                <a:xfrm>
                  <a:off x="2612231" y="22121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73" name="Freeform 73"/>
                <p:cNvSpPr/>
                <p:nvPr/>
              </p:nvSpPr>
              <p:spPr>
                <a:xfrm>
                  <a:off x="2655094" y="22621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77" name="Group 77"/>
              <p:cNvGrpSpPr/>
              <p:nvPr/>
            </p:nvGrpSpPr>
            <p:grpSpPr>
              <a:xfrm>
                <a:off x="3469481" y="2212181"/>
                <a:ext cx="128588" cy="128588"/>
                <a:chOff x="3469481" y="2212181"/>
                <a:chExt cx="128588" cy="128588"/>
              </a:xfrm>
            </p:grpSpPr>
            <p:sp>
              <p:nvSpPr>
                <p:cNvPr id="75" name="Freeform 75"/>
                <p:cNvSpPr/>
                <p:nvPr/>
              </p:nvSpPr>
              <p:spPr>
                <a:xfrm>
                  <a:off x="3469481" y="22121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76" name="Freeform 76"/>
                <p:cNvSpPr/>
                <p:nvPr/>
              </p:nvSpPr>
              <p:spPr>
                <a:xfrm>
                  <a:off x="3512344" y="22621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80" name="Group 80"/>
              <p:cNvGrpSpPr/>
              <p:nvPr/>
            </p:nvGrpSpPr>
            <p:grpSpPr>
              <a:xfrm>
                <a:off x="4326731" y="2212181"/>
                <a:ext cx="128588" cy="128588"/>
                <a:chOff x="4326731" y="2212181"/>
                <a:chExt cx="128588" cy="128588"/>
              </a:xfrm>
            </p:grpSpPr>
            <p:sp>
              <p:nvSpPr>
                <p:cNvPr id="78" name="Freeform 78"/>
                <p:cNvSpPr/>
                <p:nvPr/>
              </p:nvSpPr>
              <p:spPr>
                <a:xfrm>
                  <a:off x="4326731" y="22121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79" name="Freeform 79"/>
                <p:cNvSpPr/>
                <p:nvPr/>
              </p:nvSpPr>
              <p:spPr>
                <a:xfrm>
                  <a:off x="4369594" y="22621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83" name="Group 83"/>
              <p:cNvGrpSpPr/>
              <p:nvPr/>
            </p:nvGrpSpPr>
            <p:grpSpPr>
              <a:xfrm>
                <a:off x="5183981" y="2212181"/>
                <a:ext cx="128588" cy="128588"/>
                <a:chOff x="5183981" y="2212181"/>
                <a:chExt cx="128588" cy="128588"/>
              </a:xfrm>
            </p:grpSpPr>
            <p:sp>
              <p:nvSpPr>
                <p:cNvPr id="81" name="Freeform 81"/>
                <p:cNvSpPr/>
                <p:nvPr/>
              </p:nvSpPr>
              <p:spPr>
                <a:xfrm>
                  <a:off x="5183981" y="22121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82" name="Freeform 82"/>
                <p:cNvSpPr/>
                <p:nvPr/>
              </p:nvSpPr>
              <p:spPr>
                <a:xfrm>
                  <a:off x="5226844" y="22621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sp>
            <p:nvSpPr>
              <p:cNvPr id="84" name="Rectangle 84"/>
              <p:cNvSpPr/>
              <p:nvPr/>
            </p:nvSpPr>
            <p:spPr>
              <a:xfrm>
                <a:off x="400050" y="2466975"/>
                <a:ext cx="5276850" cy="390525"/>
              </a:xfrm>
              <a:prstGeom prst="rect">
                <a:avLst/>
              </a:prstGeom>
              <a:solidFill>
                <a:srgbClr val="EFF8F6"/>
              </a:solidFill>
              <a:ln w="9525">
                <a:solidFill>
                  <a:srgbClr val="E2EEEB"/>
                </a:solidFill>
              </a:ln>
            </p:spPr>
          </p:sp>
          <p:sp>
            <p:nvSpPr>
              <p:cNvPr id="85" name="TextBox 85"/>
              <p:cNvSpPr txBox="1"/>
              <p:nvPr/>
            </p:nvSpPr>
            <p:spPr>
              <a:xfrm>
                <a:off x="490538" y="2607945"/>
                <a:ext cx="372999" cy="176212"/>
              </a:xfrm>
              <a:prstGeom prst="rect">
                <a:avLst/>
              </a:prstGeom>
              <a:noFill/>
              <a:ln>
                <a:noFill/>
              </a:ln>
            </p:spPr>
            <p:txBody>
              <a:bodyPr wrap="none" lIns="0" tIns="0" rIns="0" bIns="0" anchor="t" anchorCtr="0">
                <a:spAutoFit/>
              </a:bodyPr>
              <a:lstStyle/>
              <a:p>
                <a:pPr algn="l"/>
                <a:r>
                  <a:rPr lang="zh-CN" sz="900" b="1" dirty="0">
                    <a:solidFill>
                      <a:srgbClr val="331712"/>
                    </a:solidFill>
                    <a:latin typeface="+mn-lt"/>
                    <a:ea typeface="+mn-ea"/>
                    <a:cs typeface="+mn-cs"/>
                  </a:rPr>
                  <a:t>股份行</a:t>
                </a:r>
              </a:p>
            </p:txBody>
          </p:sp>
          <p:grpSp>
            <p:nvGrpSpPr>
              <p:cNvPr id="88" name="Group 88"/>
              <p:cNvGrpSpPr/>
              <p:nvPr/>
            </p:nvGrpSpPr>
            <p:grpSpPr>
              <a:xfrm>
                <a:off x="1754981" y="2602706"/>
                <a:ext cx="128588" cy="128588"/>
                <a:chOff x="1754981" y="2602706"/>
                <a:chExt cx="128588" cy="128588"/>
              </a:xfrm>
            </p:grpSpPr>
            <p:sp>
              <p:nvSpPr>
                <p:cNvPr id="86" name="Freeform 86"/>
                <p:cNvSpPr/>
                <p:nvPr/>
              </p:nvSpPr>
              <p:spPr>
                <a:xfrm>
                  <a:off x="1754981" y="26027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87" name="Freeform 87"/>
                <p:cNvSpPr/>
                <p:nvPr/>
              </p:nvSpPr>
              <p:spPr>
                <a:xfrm>
                  <a:off x="1797844" y="26527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91" name="Group 91"/>
              <p:cNvGrpSpPr/>
              <p:nvPr/>
            </p:nvGrpSpPr>
            <p:grpSpPr>
              <a:xfrm>
                <a:off x="2612231" y="2602706"/>
                <a:ext cx="128588" cy="128588"/>
                <a:chOff x="2612231" y="2602706"/>
                <a:chExt cx="128588" cy="128588"/>
              </a:xfrm>
            </p:grpSpPr>
            <p:sp>
              <p:nvSpPr>
                <p:cNvPr id="89" name="Freeform 89"/>
                <p:cNvSpPr/>
                <p:nvPr/>
              </p:nvSpPr>
              <p:spPr>
                <a:xfrm>
                  <a:off x="2612231" y="26027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90" name="Freeform 90"/>
                <p:cNvSpPr/>
                <p:nvPr/>
              </p:nvSpPr>
              <p:spPr>
                <a:xfrm>
                  <a:off x="2655094" y="26527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94" name="Group 94"/>
              <p:cNvGrpSpPr/>
              <p:nvPr/>
            </p:nvGrpSpPr>
            <p:grpSpPr>
              <a:xfrm>
                <a:off x="3469481" y="2602706"/>
                <a:ext cx="128588" cy="128588"/>
                <a:chOff x="3469481" y="2602706"/>
                <a:chExt cx="128588" cy="128588"/>
              </a:xfrm>
            </p:grpSpPr>
            <p:sp>
              <p:nvSpPr>
                <p:cNvPr id="92" name="Freeform 92"/>
                <p:cNvSpPr/>
                <p:nvPr/>
              </p:nvSpPr>
              <p:spPr>
                <a:xfrm>
                  <a:off x="3469481" y="26027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93" name="Freeform 93"/>
                <p:cNvSpPr/>
                <p:nvPr/>
              </p:nvSpPr>
              <p:spPr>
                <a:xfrm>
                  <a:off x="3512344" y="26527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97" name="Group 97"/>
              <p:cNvGrpSpPr/>
              <p:nvPr/>
            </p:nvGrpSpPr>
            <p:grpSpPr>
              <a:xfrm>
                <a:off x="4326731" y="2602706"/>
                <a:ext cx="128588" cy="128588"/>
                <a:chOff x="4326731" y="2602706"/>
                <a:chExt cx="128588" cy="128588"/>
              </a:xfrm>
            </p:grpSpPr>
            <p:sp>
              <p:nvSpPr>
                <p:cNvPr id="95" name="Freeform 95"/>
                <p:cNvSpPr/>
                <p:nvPr/>
              </p:nvSpPr>
              <p:spPr>
                <a:xfrm>
                  <a:off x="4326731" y="26027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96" name="Freeform 96"/>
                <p:cNvSpPr/>
                <p:nvPr/>
              </p:nvSpPr>
              <p:spPr>
                <a:xfrm>
                  <a:off x="4369594" y="26527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00" name="Group 100"/>
              <p:cNvGrpSpPr/>
              <p:nvPr/>
            </p:nvGrpSpPr>
            <p:grpSpPr>
              <a:xfrm>
                <a:off x="5183981" y="2602706"/>
                <a:ext cx="128588" cy="128588"/>
                <a:chOff x="5183981" y="2602706"/>
                <a:chExt cx="128588" cy="128588"/>
              </a:xfrm>
            </p:grpSpPr>
            <p:sp>
              <p:nvSpPr>
                <p:cNvPr id="98" name="Freeform 98"/>
                <p:cNvSpPr/>
                <p:nvPr/>
              </p:nvSpPr>
              <p:spPr>
                <a:xfrm>
                  <a:off x="5183981" y="26027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99" name="Freeform 99"/>
                <p:cNvSpPr/>
                <p:nvPr/>
              </p:nvSpPr>
              <p:spPr>
                <a:xfrm>
                  <a:off x="5226844" y="26527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sp>
            <p:nvSpPr>
              <p:cNvPr id="101" name="Rectangle 101"/>
              <p:cNvSpPr/>
              <p:nvPr/>
            </p:nvSpPr>
            <p:spPr>
              <a:xfrm>
                <a:off x="400050" y="2857500"/>
                <a:ext cx="5276850" cy="390525"/>
              </a:xfrm>
              <a:prstGeom prst="rect">
                <a:avLst/>
              </a:prstGeom>
              <a:solidFill>
                <a:srgbClr val="FFFFFF"/>
              </a:solidFill>
              <a:ln w="9525">
                <a:solidFill>
                  <a:srgbClr val="E2EEEB"/>
                </a:solidFill>
              </a:ln>
            </p:spPr>
          </p:sp>
          <p:sp>
            <p:nvSpPr>
              <p:cNvPr id="102" name="TextBox 102"/>
              <p:cNvSpPr txBox="1"/>
              <p:nvPr/>
            </p:nvSpPr>
            <p:spPr>
              <a:xfrm>
                <a:off x="490538" y="2998470"/>
                <a:ext cx="372999" cy="176212"/>
              </a:xfrm>
              <a:prstGeom prst="rect">
                <a:avLst/>
              </a:prstGeom>
              <a:noFill/>
              <a:ln>
                <a:noFill/>
              </a:ln>
            </p:spPr>
            <p:txBody>
              <a:bodyPr wrap="none" lIns="0" tIns="0" rIns="0" bIns="0" anchor="t" anchorCtr="0">
                <a:spAutoFit/>
              </a:bodyPr>
              <a:lstStyle/>
              <a:p>
                <a:pPr algn="l"/>
                <a:r>
                  <a:rPr lang="zh-CN" sz="900" b="1" dirty="0">
                    <a:solidFill>
                      <a:srgbClr val="331712"/>
                    </a:solidFill>
                    <a:latin typeface="+mn-lt"/>
                    <a:ea typeface="+mn-ea"/>
                    <a:cs typeface="+mn-cs"/>
                  </a:rPr>
                  <a:t>城商行</a:t>
                </a:r>
              </a:p>
            </p:txBody>
          </p:sp>
          <p:grpSp>
            <p:nvGrpSpPr>
              <p:cNvPr id="105" name="Group 105"/>
              <p:cNvGrpSpPr/>
              <p:nvPr/>
            </p:nvGrpSpPr>
            <p:grpSpPr>
              <a:xfrm>
                <a:off x="1754981" y="2993231"/>
                <a:ext cx="128588" cy="128588"/>
                <a:chOff x="1754981" y="2993231"/>
                <a:chExt cx="128588" cy="128588"/>
              </a:xfrm>
            </p:grpSpPr>
            <p:sp>
              <p:nvSpPr>
                <p:cNvPr id="103" name="Freeform 103"/>
                <p:cNvSpPr/>
                <p:nvPr/>
              </p:nvSpPr>
              <p:spPr>
                <a:xfrm>
                  <a:off x="1754981" y="29932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04" name="Freeform 104"/>
                <p:cNvSpPr/>
                <p:nvPr/>
              </p:nvSpPr>
              <p:spPr>
                <a:xfrm>
                  <a:off x="1797844" y="304323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08" name="Group 108"/>
              <p:cNvGrpSpPr/>
              <p:nvPr/>
            </p:nvGrpSpPr>
            <p:grpSpPr>
              <a:xfrm>
                <a:off x="2612231" y="2993231"/>
                <a:ext cx="128588" cy="128588"/>
                <a:chOff x="2612231" y="2993231"/>
                <a:chExt cx="128588" cy="128588"/>
              </a:xfrm>
            </p:grpSpPr>
            <p:sp>
              <p:nvSpPr>
                <p:cNvPr id="106" name="Freeform 106"/>
                <p:cNvSpPr/>
                <p:nvPr/>
              </p:nvSpPr>
              <p:spPr>
                <a:xfrm>
                  <a:off x="2612231" y="29932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07" name="Freeform 107"/>
                <p:cNvSpPr/>
                <p:nvPr/>
              </p:nvSpPr>
              <p:spPr>
                <a:xfrm>
                  <a:off x="2655094" y="304323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11" name="Group 111"/>
              <p:cNvGrpSpPr/>
              <p:nvPr/>
            </p:nvGrpSpPr>
            <p:grpSpPr>
              <a:xfrm>
                <a:off x="3469481" y="2993231"/>
                <a:ext cx="128588" cy="128588"/>
                <a:chOff x="3469481" y="2993231"/>
                <a:chExt cx="128588" cy="128588"/>
              </a:xfrm>
            </p:grpSpPr>
            <p:sp>
              <p:nvSpPr>
                <p:cNvPr id="109" name="Freeform 109"/>
                <p:cNvSpPr/>
                <p:nvPr/>
              </p:nvSpPr>
              <p:spPr>
                <a:xfrm>
                  <a:off x="3469481" y="29932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10" name="Freeform 110"/>
                <p:cNvSpPr/>
                <p:nvPr/>
              </p:nvSpPr>
              <p:spPr>
                <a:xfrm>
                  <a:off x="3512344" y="304323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14" name="Group 114"/>
              <p:cNvGrpSpPr/>
              <p:nvPr/>
            </p:nvGrpSpPr>
            <p:grpSpPr>
              <a:xfrm>
                <a:off x="4326731" y="2993231"/>
                <a:ext cx="128588" cy="128588"/>
                <a:chOff x="4326731" y="2993231"/>
                <a:chExt cx="128588" cy="128588"/>
              </a:xfrm>
            </p:grpSpPr>
            <p:sp>
              <p:nvSpPr>
                <p:cNvPr id="112" name="Freeform 112"/>
                <p:cNvSpPr/>
                <p:nvPr/>
              </p:nvSpPr>
              <p:spPr>
                <a:xfrm>
                  <a:off x="4326731" y="29932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13" name="Freeform 113"/>
                <p:cNvSpPr/>
                <p:nvPr/>
              </p:nvSpPr>
              <p:spPr>
                <a:xfrm>
                  <a:off x="4369594" y="304323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17" name="Group 117"/>
              <p:cNvGrpSpPr/>
              <p:nvPr/>
            </p:nvGrpSpPr>
            <p:grpSpPr>
              <a:xfrm>
                <a:off x="5183981" y="2993231"/>
                <a:ext cx="128588" cy="128588"/>
                <a:chOff x="5183981" y="2993231"/>
                <a:chExt cx="128588" cy="128588"/>
              </a:xfrm>
            </p:grpSpPr>
            <p:sp>
              <p:nvSpPr>
                <p:cNvPr id="115" name="Freeform 115"/>
                <p:cNvSpPr/>
                <p:nvPr/>
              </p:nvSpPr>
              <p:spPr>
                <a:xfrm>
                  <a:off x="5183981" y="29932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16" name="Freeform 116"/>
                <p:cNvSpPr/>
                <p:nvPr/>
              </p:nvSpPr>
              <p:spPr>
                <a:xfrm>
                  <a:off x="5226844" y="304323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sp>
            <p:nvSpPr>
              <p:cNvPr id="118" name="Rectangle 118"/>
              <p:cNvSpPr/>
              <p:nvPr/>
            </p:nvSpPr>
            <p:spPr>
              <a:xfrm>
                <a:off x="400050" y="3248025"/>
                <a:ext cx="5276850" cy="390525"/>
              </a:xfrm>
              <a:prstGeom prst="rect">
                <a:avLst/>
              </a:prstGeom>
              <a:solidFill>
                <a:srgbClr val="EFF8F6"/>
              </a:solidFill>
              <a:ln w="9525">
                <a:solidFill>
                  <a:srgbClr val="E2EEEB"/>
                </a:solidFill>
              </a:ln>
            </p:spPr>
          </p:sp>
          <p:sp>
            <p:nvSpPr>
              <p:cNvPr id="119" name="TextBox 119"/>
              <p:cNvSpPr txBox="1"/>
              <p:nvPr/>
            </p:nvSpPr>
            <p:spPr>
              <a:xfrm>
                <a:off x="490538" y="3388995"/>
                <a:ext cx="372999" cy="176212"/>
              </a:xfrm>
              <a:prstGeom prst="rect">
                <a:avLst/>
              </a:prstGeom>
              <a:noFill/>
              <a:ln>
                <a:noFill/>
              </a:ln>
            </p:spPr>
            <p:txBody>
              <a:bodyPr wrap="none" lIns="0" tIns="0" rIns="0" bIns="0" anchor="t" anchorCtr="0">
                <a:spAutoFit/>
              </a:bodyPr>
              <a:lstStyle/>
              <a:p>
                <a:pPr algn="l"/>
                <a:r>
                  <a:rPr lang="zh-CN" sz="900" b="1" dirty="0">
                    <a:solidFill>
                      <a:srgbClr val="331712"/>
                    </a:solidFill>
                    <a:latin typeface="+mn-lt"/>
                    <a:ea typeface="+mn-ea"/>
                    <a:cs typeface="+mn-cs"/>
                  </a:rPr>
                  <a:t>农商行</a:t>
                </a:r>
              </a:p>
            </p:txBody>
          </p:sp>
          <p:grpSp>
            <p:nvGrpSpPr>
              <p:cNvPr id="122" name="Group 122"/>
              <p:cNvGrpSpPr/>
              <p:nvPr/>
            </p:nvGrpSpPr>
            <p:grpSpPr>
              <a:xfrm>
                <a:off x="1754981" y="3383756"/>
                <a:ext cx="128588" cy="128588"/>
                <a:chOff x="1754981" y="3383756"/>
                <a:chExt cx="128588" cy="128588"/>
              </a:xfrm>
            </p:grpSpPr>
            <p:sp>
              <p:nvSpPr>
                <p:cNvPr id="120" name="Freeform 120"/>
                <p:cNvSpPr/>
                <p:nvPr/>
              </p:nvSpPr>
              <p:spPr>
                <a:xfrm>
                  <a:off x="1754981" y="33837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21" name="Freeform 121"/>
                <p:cNvSpPr/>
                <p:nvPr/>
              </p:nvSpPr>
              <p:spPr>
                <a:xfrm>
                  <a:off x="1797844" y="343376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25" name="Group 125"/>
              <p:cNvGrpSpPr/>
              <p:nvPr/>
            </p:nvGrpSpPr>
            <p:grpSpPr>
              <a:xfrm>
                <a:off x="2612231" y="3383756"/>
                <a:ext cx="128588" cy="128588"/>
                <a:chOff x="2612231" y="3383756"/>
                <a:chExt cx="128588" cy="128588"/>
              </a:xfrm>
            </p:grpSpPr>
            <p:sp>
              <p:nvSpPr>
                <p:cNvPr id="123" name="Freeform 123"/>
                <p:cNvSpPr/>
                <p:nvPr/>
              </p:nvSpPr>
              <p:spPr>
                <a:xfrm>
                  <a:off x="2612231" y="33837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24" name="Freeform 124"/>
                <p:cNvSpPr/>
                <p:nvPr/>
              </p:nvSpPr>
              <p:spPr>
                <a:xfrm>
                  <a:off x="2655094" y="343376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28" name="Group 128"/>
              <p:cNvGrpSpPr/>
              <p:nvPr/>
            </p:nvGrpSpPr>
            <p:grpSpPr>
              <a:xfrm>
                <a:off x="3469481" y="3383756"/>
                <a:ext cx="128588" cy="128588"/>
                <a:chOff x="3469481" y="3383756"/>
                <a:chExt cx="128588" cy="128588"/>
              </a:xfrm>
            </p:grpSpPr>
            <p:sp>
              <p:nvSpPr>
                <p:cNvPr id="126" name="Freeform 126"/>
                <p:cNvSpPr/>
                <p:nvPr/>
              </p:nvSpPr>
              <p:spPr>
                <a:xfrm>
                  <a:off x="3469481" y="33837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27" name="Freeform 127"/>
                <p:cNvSpPr/>
                <p:nvPr/>
              </p:nvSpPr>
              <p:spPr>
                <a:xfrm>
                  <a:off x="3512344" y="343376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31" name="Group 131"/>
              <p:cNvGrpSpPr/>
              <p:nvPr/>
            </p:nvGrpSpPr>
            <p:grpSpPr>
              <a:xfrm>
                <a:off x="4326731" y="3383756"/>
                <a:ext cx="128588" cy="128588"/>
                <a:chOff x="4326731" y="3383756"/>
                <a:chExt cx="128588" cy="128588"/>
              </a:xfrm>
            </p:grpSpPr>
            <p:sp>
              <p:nvSpPr>
                <p:cNvPr id="129" name="Freeform 129"/>
                <p:cNvSpPr/>
                <p:nvPr/>
              </p:nvSpPr>
              <p:spPr>
                <a:xfrm>
                  <a:off x="4326731" y="33837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30" name="Freeform 130"/>
                <p:cNvSpPr/>
                <p:nvPr/>
              </p:nvSpPr>
              <p:spPr>
                <a:xfrm>
                  <a:off x="4369594" y="343376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34" name="Group 134"/>
              <p:cNvGrpSpPr/>
              <p:nvPr/>
            </p:nvGrpSpPr>
            <p:grpSpPr>
              <a:xfrm>
                <a:off x="5183981" y="3383756"/>
                <a:ext cx="128588" cy="128588"/>
                <a:chOff x="5183981" y="3383756"/>
                <a:chExt cx="128588" cy="128588"/>
              </a:xfrm>
            </p:grpSpPr>
            <p:sp>
              <p:nvSpPr>
                <p:cNvPr id="132" name="Freeform 132"/>
                <p:cNvSpPr/>
                <p:nvPr/>
              </p:nvSpPr>
              <p:spPr>
                <a:xfrm>
                  <a:off x="5183981" y="33837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33" name="Freeform 133"/>
                <p:cNvSpPr/>
                <p:nvPr/>
              </p:nvSpPr>
              <p:spPr>
                <a:xfrm>
                  <a:off x="5226844" y="343376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sp>
            <p:nvSpPr>
              <p:cNvPr id="135" name="Rectangle 135"/>
              <p:cNvSpPr/>
              <p:nvPr/>
            </p:nvSpPr>
            <p:spPr>
              <a:xfrm>
                <a:off x="400050" y="3638550"/>
                <a:ext cx="5276850" cy="390525"/>
              </a:xfrm>
              <a:prstGeom prst="rect">
                <a:avLst/>
              </a:prstGeom>
              <a:solidFill>
                <a:srgbClr val="FFFFFF"/>
              </a:solidFill>
              <a:ln w="9525">
                <a:solidFill>
                  <a:srgbClr val="E2EEEB"/>
                </a:solidFill>
              </a:ln>
            </p:spPr>
          </p:sp>
          <p:sp>
            <p:nvSpPr>
              <p:cNvPr id="136" name="TextBox 136"/>
              <p:cNvSpPr txBox="1"/>
              <p:nvPr/>
            </p:nvSpPr>
            <p:spPr>
              <a:xfrm>
                <a:off x="490538" y="3779520"/>
                <a:ext cx="615315" cy="176212"/>
              </a:xfrm>
              <a:prstGeom prst="rect">
                <a:avLst/>
              </a:prstGeom>
              <a:noFill/>
              <a:ln>
                <a:noFill/>
              </a:ln>
            </p:spPr>
            <p:txBody>
              <a:bodyPr wrap="none" lIns="0" tIns="0" rIns="0" bIns="0" anchor="t" anchorCtr="0">
                <a:spAutoFit/>
              </a:bodyPr>
              <a:lstStyle/>
              <a:p>
                <a:pPr algn="l"/>
                <a:r>
                  <a:rPr lang="zh-CN" sz="900" b="1" dirty="0">
                    <a:solidFill>
                      <a:srgbClr val="331712"/>
                    </a:solidFill>
                    <a:latin typeface="+mn-lt"/>
                    <a:ea typeface="+mn-ea"/>
                    <a:cs typeface="+mn-cs"/>
                  </a:rPr>
                  <a:t>互联网银行</a:t>
                </a:r>
              </a:p>
            </p:txBody>
          </p:sp>
          <p:grpSp>
            <p:nvGrpSpPr>
              <p:cNvPr id="139" name="Group 139"/>
              <p:cNvGrpSpPr/>
              <p:nvPr/>
            </p:nvGrpSpPr>
            <p:grpSpPr>
              <a:xfrm>
                <a:off x="1754981" y="3774281"/>
                <a:ext cx="128588" cy="128588"/>
                <a:chOff x="1754981" y="3774281"/>
                <a:chExt cx="128588" cy="128588"/>
              </a:xfrm>
            </p:grpSpPr>
            <p:sp>
              <p:nvSpPr>
                <p:cNvPr id="137" name="Freeform 137"/>
                <p:cNvSpPr/>
                <p:nvPr/>
              </p:nvSpPr>
              <p:spPr>
                <a:xfrm>
                  <a:off x="1754981" y="37742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38" name="Freeform 138"/>
                <p:cNvSpPr/>
                <p:nvPr/>
              </p:nvSpPr>
              <p:spPr>
                <a:xfrm>
                  <a:off x="1797844" y="38242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42" name="Group 142"/>
              <p:cNvGrpSpPr/>
              <p:nvPr/>
            </p:nvGrpSpPr>
            <p:grpSpPr>
              <a:xfrm>
                <a:off x="2612231" y="3774281"/>
                <a:ext cx="128588" cy="128588"/>
                <a:chOff x="2612231" y="3774281"/>
                <a:chExt cx="128588" cy="128588"/>
              </a:xfrm>
            </p:grpSpPr>
            <p:sp>
              <p:nvSpPr>
                <p:cNvPr id="140" name="Freeform 140"/>
                <p:cNvSpPr/>
                <p:nvPr/>
              </p:nvSpPr>
              <p:spPr>
                <a:xfrm>
                  <a:off x="2612231" y="37742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41" name="Freeform 141"/>
                <p:cNvSpPr/>
                <p:nvPr/>
              </p:nvSpPr>
              <p:spPr>
                <a:xfrm>
                  <a:off x="2655094" y="38242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45" name="Group 145"/>
              <p:cNvGrpSpPr/>
              <p:nvPr/>
            </p:nvGrpSpPr>
            <p:grpSpPr>
              <a:xfrm>
                <a:off x="3469481" y="3774281"/>
                <a:ext cx="128588" cy="128588"/>
                <a:chOff x="3469481" y="3774281"/>
                <a:chExt cx="128588" cy="128588"/>
              </a:xfrm>
            </p:grpSpPr>
            <p:sp>
              <p:nvSpPr>
                <p:cNvPr id="143" name="Freeform 143"/>
                <p:cNvSpPr/>
                <p:nvPr/>
              </p:nvSpPr>
              <p:spPr>
                <a:xfrm>
                  <a:off x="3469481" y="37742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44" name="Freeform 144"/>
                <p:cNvSpPr/>
                <p:nvPr/>
              </p:nvSpPr>
              <p:spPr>
                <a:xfrm>
                  <a:off x="3512344" y="38242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48" name="Group 148"/>
              <p:cNvGrpSpPr/>
              <p:nvPr/>
            </p:nvGrpSpPr>
            <p:grpSpPr>
              <a:xfrm>
                <a:off x="4326731" y="3774281"/>
                <a:ext cx="128588" cy="128588"/>
                <a:chOff x="4326731" y="3774281"/>
                <a:chExt cx="128588" cy="128588"/>
              </a:xfrm>
            </p:grpSpPr>
            <p:sp>
              <p:nvSpPr>
                <p:cNvPr id="146" name="Freeform 146"/>
                <p:cNvSpPr/>
                <p:nvPr/>
              </p:nvSpPr>
              <p:spPr>
                <a:xfrm>
                  <a:off x="4326731" y="37742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47" name="Freeform 147"/>
                <p:cNvSpPr/>
                <p:nvPr/>
              </p:nvSpPr>
              <p:spPr>
                <a:xfrm>
                  <a:off x="4369594" y="38242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51" name="Group 151"/>
              <p:cNvGrpSpPr/>
              <p:nvPr/>
            </p:nvGrpSpPr>
            <p:grpSpPr>
              <a:xfrm>
                <a:off x="5183981" y="3774281"/>
                <a:ext cx="128588" cy="128588"/>
                <a:chOff x="5183981" y="3774281"/>
                <a:chExt cx="128588" cy="128588"/>
              </a:xfrm>
            </p:grpSpPr>
            <p:sp>
              <p:nvSpPr>
                <p:cNvPr id="149" name="Freeform 149"/>
                <p:cNvSpPr/>
                <p:nvPr/>
              </p:nvSpPr>
              <p:spPr>
                <a:xfrm>
                  <a:off x="5183981" y="37742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50" name="Freeform 150"/>
                <p:cNvSpPr/>
                <p:nvPr/>
              </p:nvSpPr>
              <p:spPr>
                <a:xfrm>
                  <a:off x="5226844" y="3824288"/>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sp>
            <p:nvSpPr>
              <p:cNvPr id="152" name="Rectangle 152"/>
              <p:cNvSpPr/>
              <p:nvPr/>
            </p:nvSpPr>
            <p:spPr>
              <a:xfrm>
                <a:off x="400050" y="4029075"/>
                <a:ext cx="5276850" cy="390525"/>
              </a:xfrm>
              <a:prstGeom prst="rect">
                <a:avLst/>
              </a:prstGeom>
              <a:solidFill>
                <a:srgbClr val="EFF8F6"/>
              </a:solidFill>
              <a:ln w="9525">
                <a:solidFill>
                  <a:srgbClr val="E2EEEB"/>
                </a:solidFill>
              </a:ln>
            </p:spPr>
          </p:sp>
          <p:sp>
            <p:nvSpPr>
              <p:cNvPr id="153" name="TextBox 153"/>
              <p:cNvSpPr txBox="1"/>
              <p:nvPr/>
            </p:nvSpPr>
            <p:spPr>
              <a:xfrm>
                <a:off x="490538" y="4170045"/>
                <a:ext cx="494157" cy="176212"/>
              </a:xfrm>
              <a:prstGeom prst="rect">
                <a:avLst/>
              </a:prstGeom>
              <a:noFill/>
              <a:ln>
                <a:noFill/>
              </a:ln>
            </p:spPr>
            <p:txBody>
              <a:bodyPr wrap="none" lIns="0" tIns="0" rIns="0" bIns="0" anchor="t" anchorCtr="0">
                <a:spAutoFit/>
              </a:bodyPr>
              <a:lstStyle/>
              <a:p>
                <a:pPr algn="l"/>
                <a:r>
                  <a:rPr lang="zh-CN" sz="900" b="1" dirty="0">
                    <a:solidFill>
                      <a:srgbClr val="331712"/>
                    </a:solidFill>
                    <a:latin typeface="+mn-lt"/>
                    <a:ea typeface="+mn-ea"/>
                    <a:cs typeface="+mn-cs"/>
                  </a:rPr>
                  <a:t>支付平台</a:t>
                </a:r>
              </a:p>
            </p:txBody>
          </p:sp>
          <p:grpSp>
            <p:nvGrpSpPr>
              <p:cNvPr id="156" name="Group 156"/>
              <p:cNvGrpSpPr/>
              <p:nvPr/>
            </p:nvGrpSpPr>
            <p:grpSpPr>
              <a:xfrm>
                <a:off x="1754981" y="4164806"/>
                <a:ext cx="128588" cy="128588"/>
                <a:chOff x="1754981" y="4164806"/>
                <a:chExt cx="128588" cy="128588"/>
              </a:xfrm>
            </p:grpSpPr>
            <p:sp>
              <p:nvSpPr>
                <p:cNvPr id="154" name="Freeform 154"/>
                <p:cNvSpPr/>
                <p:nvPr/>
              </p:nvSpPr>
              <p:spPr>
                <a:xfrm>
                  <a:off x="1754981" y="41648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55" name="Freeform 155"/>
                <p:cNvSpPr/>
                <p:nvPr/>
              </p:nvSpPr>
              <p:spPr>
                <a:xfrm>
                  <a:off x="1797844" y="42148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59" name="Group 159"/>
              <p:cNvGrpSpPr/>
              <p:nvPr/>
            </p:nvGrpSpPr>
            <p:grpSpPr>
              <a:xfrm>
                <a:off x="2612231" y="4164806"/>
                <a:ext cx="128588" cy="128588"/>
                <a:chOff x="2612231" y="4164806"/>
                <a:chExt cx="128588" cy="128588"/>
              </a:xfrm>
            </p:grpSpPr>
            <p:sp>
              <p:nvSpPr>
                <p:cNvPr id="157" name="Freeform 157"/>
                <p:cNvSpPr/>
                <p:nvPr/>
              </p:nvSpPr>
              <p:spPr>
                <a:xfrm>
                  <a:off x="2612231" y="41648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58" name="Freeform 158"/>
                <p:cNvSpPr/>
                <p:nvPr/>
              </p:nvSpPr>
              <p:spPr>
                <a:xfrm>
                  <a:off x="2655094" y="42148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62" name="Group 162"/>
              <p:cNvGrpSpPr/>
              <p:nvPr/>
            </p:nvGrpSpPr>
            <p:grpSpPr>
              <a:xfrm>
                <a:off x="3469481" y="4164806"/>
                <a:ext cx="128588" cy="128588"/>
                <a:chOff x="3469481" y="4164806"/>
                <a:chExt cx="128588" cy="128588"/>
              </a:xfrm>
            </p:grpSpPr>
            <p:sp>
              <p:nvSpPr>
                <p:cNvPr id="160" name="Freeform 160"/>
                <p:cNvSpPr/>
                <p:nvPr/>
              </p:nvSpPr>
              <p:spPr>
                <a:xfrm>
                  <a:off x="3469481" y="41648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61" name="Freeform 161"/>
                <p:cNvSpPr/>
                <p:nvPr/>
              </p:nvSpPr>
              <p:spPr>
                <a:xfrm>
                  <a:off x="3512344" y="42148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65" name="Group 165"/>
              <p:cNvGrpSpPr/>
              <p:nvPr/>
            </p:nvGrpSpPr>
            <p:grpSpPr>
              <a:xfrm>
                <a:off x="4326731" y="4164806"/>
                <a:ext cx="128588" cy="128588"/>
                <a:chOff x="4326731" y="4164806"/>
                <a:chExt cx="128588" cy="128588"/>
              </a:xfrm>
            </p:grpSpPr>
            <p:sp>
              <p:nvSpPr>
                <p:cNvPr id="163" name="Freeform 163"/>
                <p:cNvSpPr/>
                <p:nvPr/>
              </p:nvSpPr>
              <p:spPr>
                <a:xfrm>
                  <a:off x="4326731" y="41648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64" name="Freeform 164"/>
                <p:cNvSpPr/>
                <p:nvPr/>
              </p:nvSpPr>
              <p:spPr>
                <a:xfrm>
                  <a:off x="4369594" y="42148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nvGrpSpPr>
              <p:cNvPr id="168" name="Group 168"/>
              <p:cNvGrpSpPr/>
              <p:nvPr/>
            </p:nvGrpSpPr>
            <p:grpSpPr>
              <a:xfrm>
                <a:off x="5183981" y="4164806"/>
                <a:ext cx="128588" cy="128588"/>
                <a:chOff x="5183981" y="4164806"/>
                <a:chExt cx="128588" cy="128588"/>
              </a:xfrm>
            </p:grpSpPr>
            <p:sp>
              <p:nvSpPr>
                <p:cNvPr id="166" name="Freeform 166"/>
                <p:cNvSpPr/>
                <p:nvPr/>
              </p:nvSpPr>
              <p:spPr>
                <a:xfrm>
                  <a:off x="5183981" y="41648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167" name="Freeform 167"/>
                <p:cNvSpPr/>
                <p:nvPr/>
              </p:nvSpPr>
              <p:spPr>
                <a:xfrm>
                  <a:off x="5226844" y="4214812"/>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grpSp>
      </p:grpSp>
      <p:grpSp>
        <p:nvGrpSpPr>
          <p:cNvPr id="259" name="loop-model"/>
          <p:cNvGrpSpPr/>
          <p:nvPr/>
        </p:nvGrpSpPr>
        <p:grpSpPr>
          <a:xfrm>
            <a:off x="5810250" y="1390650"/>
            <a:ext cx="6019800" cy="2724150"/>
            <a:chOff x="5810250" y="1390650"/>
            <a:chExt cx="6019800" cy="2724150"/>
          </a:xfrm>
        </p:grpSpPr>
        <p:sp>
          <p:nvSpPr>
            <p:cNvPr id="171" name="Rectangle 171"/>
            <p:cNvSpPr/>
            <p:nvPr/>
          </p:nvSpPr>
          <p:spPr>
            <a:xfrm>
              <a:off x="5810250" y="1390650"/>
              <a:ext cx="6019800" cy="304800"/>
            </a:xfrm>
            <a:prstGeom prst="roundRect">
              <a:avLst>
                <a:gd name="adj" fmla="val 18750"/>
              </a:avLst>
            </a:prstGeom>
            <a:gradFill>
              <a:gsLst>
                <a:gs pos="0">
                  <a:srgbClr val="5D190B"/>
                </a:gs>
                <a:gs pos="100000">
                  <a:srgbClr val="902915"/>
                </a:gs>
              </a:gsLst>
              <a:lin ang="0" scaled="1"/>
            </a:gradFill>
            <a:ln>
              <a:noFill/>
            </a:ln>
          </p:spPr>
        </p:sp>
        <p:sp>
          <p:nvSpPr>
            <p:cNvPr id="172" name="TextBox 172"/>
            <p:cNvSpPr txBox="1"/>
            <p:nvPr/>
          </p:nvSpPr>
          <p:spPr>
            <a:xfrm>
              <a:off x="5938266" y="1486852"/>
              <a:ext cx="2888036"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生态化营销的闭环运营模型</a:t>
              </a:r>
              <a:r>
                <a:rPr lang="zh-CN" sz="820" dirty="0">
                  <a:solidFill>
                    <a:srgbClr val="BFE4DD"/>
                  </a:solidFill>
                  <a:latin typeface="+mn-lt"/>
                  <a:ea typeface="+mn-ea"/>
                  <a:cs typeface="+mn-cs"/>
                </a:rPr>
                <a:t>｜线下展位 + 线上联动​</a:t>
              </a:r>
            </a:p>
          </p:txBody>
        </p:sp>
        <p:grpSp>
          <p:nvGrpSpPr>
            <p:cNvPr id="224" name="loop-diagram"/>
            <p:cNvGrpSpPr/>
            <p:nvPr/>
          </p:nvGrpSpPr>
          <p:grpSpPr>
            <a:xfrm>
              <a:off x="6305550" y="1819275"/>
              <a:ext cx="2400300" cy="2295525"/>
              <a:chOff x="6305550" y="1819275"/>
              <a:chExt cx="2400300" cy="2295525"/>
            </a:xfrm>
          </p:grpSpPr>
          <p:sp>
            <p:nvSpPr>
              <p:cNvPr id="173" name="Ellipse 173"/>
              <p:cNvSpPr/>
              <p:nvPr/>
            </p:nvSpPr>
            <p:spPr>
              <a:xfrm>
                <a:off x="7010400" y="2571750"/>
                <a:ext cx="990600" cy="990600"/>
              </a:xfrm>
              <a:prstGeom prst="ellipse">
                <a:avLst/>
              </a:prstGeom>
              <a:gradFill>
                <a:gsLst>
                  <a:gs pos="0">
                    <a:srgbClr val="5D190B"/>
                  </a:gs>
                  <a:gs pos="100000">
                    <a:srgbClr val="902915"/>
                  </a:gs>
                </a:gsLst>
                <a:lin ang="0" scaled="1"/>
              </a:gradFill>
              <a:ln>
                <a:noFill/>
              </a:ln>
            </p:spPr>
          </p:sp>
          <p:grpSp>
            <p:nvGrpSpPr>
              <p:cNvPr id="178" name="Group 178"/>
              <p:cNvGrpSpPr/>
              <p:nvPr/>
            </p:nvGrpSpPr>
            <p:grpSpPr>
              <a:xfrm>
                <a:off x="7419975" y="2771775"/>
                <a:ext cx="171450" cy="171450"/>
                <a:chOff x="7419975" y="2771775"/>
                <a:chExt cx="171450" cy="171450"/>
              </a:xfrm>
            </p:grpSpPr>
            <p:sp>
              <p:nvSpPr>
                <p:cNvPr id="174" name="Freeform 174"/>
                <p:cNvSpPr/>
                <p:nvPr/>
              </p:nvSpPr>
              <p:spPr>
                <a:xfrm>
                  <a:off x="7439025" y="27717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75" name="Freeform 175"/>
                <p:cNvSpPr/>
                <p:nvPr/>
              </p:nvSpPr>
              <p:spPr>
                <a:xfrm>
                  <a:off x="7419975" y="28860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176" name="Freeform 176"/>
                <p:cNvSpPr/>
                <p:nvPr/>
              </p:nvSpPr>
              <p:spPr>
                <a:xfrm>
                  <a:off x="7543800" y="27730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177" name="Freeform 177"/>
                <p:cNvSpPr/>
                <p:nvPr/>
              </p:nvSpPr>
              <p:spPr>
                <a:xfrm>
                  <a:off x="7562850" y="28875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179" name="TextBox 179"/>
              <p:cNvSpPr txBox="1"/>
              <p:nvPr/>
            </p:nvSpPr>
            <p:spPr>
              <a:xfrm>
                <a:off x="7169772" y="3054191"/>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以客户为中心</a:t>
                </a:r>
              </a:p>
            </p:txBody>
          </p:sp>
          <p:sp>
            <p:nvSpPr>
              <p:cNvPr id="180" name="TextBox 180"/>
              <p:cNvSpPr txBox="1"/>
              <p:nvPr/>
            </p:nvSpPr>
            <p:spPr>
              <a:xfrm>
                <a:off x="7169772" y="3206591"/>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的生态化经营</a:t>
                </a:r>
              </a:p>
            </p:txBody>
          </p:sp>
          <p:sp>
            <p:nvSpPr>
              <p:cNvPr id="181" name="Ellipse 181"/>
              <p:cNvSpPr/>
              <p:nvPr/>
            </p:nvSpPr>
            <p:spPr>
              <a:xfrm>
                <a:off x="7210425" y="1819275"/>
                <a:ext cx="590550" cy="590550"/>
              </a:xfrm>
              <a:prstGeom prst="ellipse">
                <a:avLst/>
              </a:prstGeom>
              <a:solidFill>
                <a:srgbClr val="5D190B"/>
              </a:solidFill>
              <a:ln>
                <a:noFill/>
              </a:ln>
            </p:spPr>
          </p:sp>
          <p:grpSp>
            <p:nvGrpSpPr>
              <p:cNvPr id="186" name="Group 186"/>
              <p:cNvGrpSpPr/>
              <p:nvPr/>
            </p:nvGrpSpPr>
            <p:grpSpPr>
              <a:xfrm>
                <a:off x="7434262" y="1909762"/>
                <a:ext cx="142875" cy="142875"/>
                <a:chOff x="7434262" y="1909762"/>
                <a:chExt cx="142875" cy="142875"/>
              </a:xfrm>
            </p:grpSpPr>
            <p:sp>
              <p:nvSpPr>
                <p:cNvPr id="182" name="Freeform 182"/>
                <p:cNvSpPr/>
                <p:nvPr/>
              </p:nvSpPr>
              <p:spPr>
                <a:xfrm>
                  <a:off x="7450137" y="19097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183" name="Freeform 183"/>
                <p:cNvSpPr/>
                <p:nvPr/>
              </p:nvSpPr>
              <p:spPr>
                <a:xfrm>
                  <a:off x="7434262" y="20050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184" name="Freeform 184"/>
                <p:cNvSpPr/>
                <p:nvPr/>
              </p:nvSpPr>
              <p:spPr>
                <a:xfrm>
                  <a:off x="7537450" y="19107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185" name="Freeform 185"/>
                <p:cNvSpPr/>
                <p:nvPr/>
              </p:nvSpPr>
              <p:spPr>
                <a:xfrm>
                  <a:off x="7553325" y="20062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187" name="TextBox 187"/>
              <p:cNvSpPr txBox="1"/>
              <p:nvPr/>
            </p:nvSpPr>
            <p:spPr>
              <a:xfrm>
                <a:off x="7390549" y="212074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流量</a:t>
                </a:r>
              </a:p>
            </p:txBody>
          </p:sp>
          <p:sp>
            <p:nvSpPr>
              <p:cNvPr id="188" name="TextBox 188"/>
              <p:cNvSpPr txBox="1"/>
              <p:nvPr/>
            </p:nvSpPr>
            <p:spPr>
              <a:xfrm>
                <a:off x="7312470" y="2263378"/>
                <a:ext cx="386461" cy="111919"/>
              </a:xfrm>
              <a:prstGeom prst="rect">
                <a:avLst/>
              </a:prstGeom>
              <a:noFill/>
              <a:ln>
                <a:noFill/>
              </a:ln>
            </p:spPr>
            <p:txBody>
              <a:bodyPr wrap="none" lIns="0" tIns="0" rIns="0" bIns="0" anchor="t" anchorCtr="0">
                <a:spAutoFit/>
              </a:bodyPr>
              <a:lstStyle/>
              <a:p>
                <a:pPr algn="ctr"/>
                <a:r>
                  <a:rPr lang="zh-CN" sz="560" dirty="0">
                    <a:solidFill>
                      <a:srgbClr val="BFE4DD"/>
                    </a:solidFill>
                    <a:latin typeface="+mn-lt"/>
                    <a:ea typeface="+mn-ea"/>
                    <a:cs typeface="+mn-cs"/>
                  </a:rPr>
                  <a:t>多场景引流</a:t>
                </a:r>
              </a:p>
            </p:txBody>
          </p:sp>
          <p:sp>
            <p:nvSpPr>
              <p:cNvPr id="189" name="Ellipse 189"/>
              <p:cNvSpPr/>
              <p:nvPr/>
            </p:nvSpPr>
            <p:spPr>
              <a:xfrm>
                <a:off x="8115300" y="2457450"/>
                <a:ext cx="590550" cy="590550"/>
              </a:xfrm>
              <a:prstGeom prst="ellipse">
                <a:avLst/>
              </a:prstGeom>
              <a:solidFill>
                <a:srgbClr val="852512"/>
              </a:solidFill>
              <a:ln>
                <a:noFill/>
              </a:ln>
            </p:spPr>
          </p:sp>
          <p:grpSp>
            <p:nvGrpSpPr>
              <p:cNvPr id="193" name="Group 193"/>
              <p:cNvGrpSpPr/>
              <p:nvPr/>
            </p:nvGrpSpPr>
            <p:grpSpPr>
              <a:xfrm>
                <a:off x="8339137" y="2547937"/>
                <a:ext cx="142875" cy="142875"/>
                <a:chOff x="8339137" y="2547937"/>
                <a:chExt cx="142875" cy="142875"/>
              </a:xfrm>
            </p:grpSpPr>
            <p:sp>
              <p:nvSpPr>
                <p:cNvPr id="190" name="Freeform 190"/>
                <p:cNvSpPr/>
                <p:nvPr/>
              </p:nvSpPr>
              <p:spPr>
                <a:xfrm>
                  <a:off x="8339137" y="2547937"/>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FFFFFF"/>
                  </a:solidFill>
                </a:ln>
              </p:spPr>
            </p:sp>
            <p:sp>
              <p:nvSpPr>
                <p:cNvPr id="191" name="Freeform 191"/>
                <p:cNvSpPr/>
                <p:nvPr/>
              </p:nvSpPr>
              <p:spPr>
                <a:xfrm>
                  <a:off x="8367522" y="2579687"/>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FFFFFF"/>
                  </a:solidFill>
                </a:ln>
              </p:spPr>
            </p:sp>
            <p:sp>
              <p:nvSpPr>
                <p:cNvPr id="192" name="Freeform 192"/>
                <p:cNvSpPr/>
                <p:nvPr/>
              </p:nvSpPr>
              <p:spPr>
                <a:xfrm>
                  <a:off x="8392319" y="2659062"/>
                  <a:ext cx="36512" cy="9525"/>
                </a:xfrm>
                <a:custGeom>
                  <a:avLst/>
                  <a:gdLst/>
                  <a:ahLst/>
                  <a:cxnLst/>
                  <a:rect l="l" t="t" r="r" b="b"/>
                  <a:pathLst>
                    <a:path w="36512" h="9525">
                      <a:moveTo>
                        <a:pt x="0" y="0"/>
                      </a:moveTo>
                      <a:lnTo>
                        <a:pt x="36512" y="0"/>
                      </a:lnTo>
                    </a:path>
                  </a:pathLst>
                </a:custGeom>
                <a:noFill/>
                <a:ln w="15875">
                  <a:solidFill>
                    <a:srgbClr val="FFFFFF"/>
                  </a:solidFill>
                </a:ln>
              </p:spPr>
            </p:sp>
          </p:grpSp>
          <p:sp>
            <p:nvSpPr>
              <p:cNvPr id="194" name="TextBox 194"/>
              <p:cNvSpPr txBox="1"/>
              <p:nvPr/>
            </p:nvSpPr>
            <p:spPr>
              <a:xfrm>
                <a:off x="8295424" y="2758916"/>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体验</a:t>
                </a:r>
              </a:p>
            </p:txBody>
          </p:sp>
          <p:sp>
            <p:nvSpPr>
              <p:cNvPr id="195" name="TextBox 195"/>
              <p:cNvSpPr txBox="1"/>
              <p:nvPr/>
            </p:nvSpPr>
            <p:spPr>
              <a:xfrm>
                <a:off x="8217344" y="2901553"/>
                <a:ext cx="386461" cy="111919"/>
              </a:xfrm>
              <a:prstGeom prst="rect">
                <a:avLst/>
              </a:prstGeom>
              <a:noFill/>
              <a:ln>
                <a:noFill/>
              </a:ln>
            </p:spPr>
            <p:txBody>
              <a:bodyPr wrap="none" lIns="0" tIns="0" rIns="0" bIns="0" anchor="t" anchorCtr="0">
                <a:spAutoFit/>
              </a:bodyPr>
              <a:lstStyle/>
              <a:p>
                <a:pPr algn="ctr"/>
                <a:r>
                  <a:rPr lang="zh-CN" sz="560" dirty="0">
                    <a:solidFill>
                      <a:srgbClr val="BFE4DD"/>
                    </a:solidFill>
                    <a:latin typeface="+mn-lt"/>
                    <a:ea typeface="+mn-ea"/>
                    <a:cs typeface="+mn-cs"/>
                  </a:rPr>
                  <a:t>场景化互动</a:t>
                </a:r>
              </a:p>
            </p:txBody>
          </p:sp>
          <p:sp>
            <p:nvSpPr>
              <p:cNvPr id="196" name="Ellipse 196"/>
              <p:cNvSpPr/>
              <p:nvPr/>
            </p:nvSpPr>
            <p:spPr>
              <a:xfrm>
                <a:off x="7772400" y="3524250"/>
                <a:ext cx="590550" cy="590550"/>
              </a:xfrm>
              <a:prstGeom prst="ellipse">
                <a:avLst/>
              </a:prstGeom>
              <a:solidFill>
                <a:srgbClr val="76200F"/>
              </a:solidFill>
              <a:ln>
                <a:noFill/>
              </a:ln>
            </p:spPr>
          </p:sp>
          <p:grpSp>
            <p:nvGrpSpPr>
              <p:cNvPr id="202" name="Group 202"/>
              <p:cNvGrpSpPr/>
              <p:nvPr/>
            </p:nvGrpSpPr>
            <p:grpSpPr>
              <a:xfrm>
                <a:off x="8012112" y="3614737"/>
                <a:ext cx="111125" cy="142875"/>
                <a:chOff x="8012112" y="3614737"/>
                <a:chExt cx="111125" cy="142875"/>
              </a:xfrm>
            </p:grpSpPr>
            <p:sp>
              <p:nvSpPr>
                <p:cNvPr id="197" name="Freeform 197"/>
                <p:cNvSpPr/>
                <p:nvPr/>
              </p:nvSpPr>
              <p:spPr>
                <a:xfrm>
                  <a:off x="8083550" y="3614737"/>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198" name="Freeform 198"/>
                <p:cNvSpPr/>
                <p:nvPr/>
              </p:nvSpPr>
              <p:spPr>
                <a:xfrm>
                  <a:off x="8012112" y="3614737"/>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199" name="Freeform 199"/>
                <p:cNvSpPr/>
                <p:nvPr/>
              </p:nvSpPr>
              <p:spPr>
                <a:xfrm>
                  <a:off x="8043862" y="3662362"/>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200" name="Freeform 200"/>
                <p:cNvSpPr/>
                <p:nvPr/>
              </p:nvSpPr>
              <p:spPr>
                <a:xfrm>
                  <a:off x="8043862" y="3694112"/>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201" name="Freeform 201"/>
                <p:cNvSpPr/>
                <p:nvPr/>
              </p:nvSpPr>
              <p:spPr>
                <a:xfrm>
                  <a:off x="8043862" y="3725862"/>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203" name="TextBox 203"/>
              <p:cNvSpPr txBox="1"/>
              <p:nvPr/>
            </p:nvSpPr>
            <p:spPr>
              <a:xfrm>
                <a:off x="7952524" y="3825716"/>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留资</a:t>
                </a:r>
              </a:p>
            </p:txBody>
          </p:sp>
          <p:sp>
            <p:nvSpPr>
              <p:cNvPr id="204" name="TextBox 204"/>
              <p:cNvSpPr txBox="1"/>
              <p:nvPr/>
            </p:nvSpPr>
            <p:spPr>
              <a:xfrm>
                <a:off x="7874444" y="3968353"/>
                <a:ext cx="386461" cy="111919"/>
              </a:xfrm>
              <a:prstGeom prst="rect">
                <a:avLst/>
              </a:prstGeom>
              <a:noFill/>
              <a:ln>
                <a:noFill/>
              </a:ln>
            </p:spPr>
            <p:txBody>
              <a:bodyPr wrap="none" lIns="0" tIns="0" rIns="0" bIns="0" anchor="t" anchorCtr="0">
                <a:spAutoFit/>
              </a:bodyPr>
              <a:lstStyle/>
              <a:p>
                <a:pPr algn="ctr"/>
                <a:r>
                  <a:rPr lang="zh-CN" sz="560" dirty="0">
                    <a:solidFill>
                      <a:srgbClr val="BFE4DD"/>
                    </a:solidFill>
                    <a:latin typeface="+mn-lt"/>
                    <a:ea typeface="+mn-ea"/>
                    <a:cs typeface="+mn-cs"/>
                  </a:rPr>
                  <a:t>多触点沉淀</a:t>
                </a:r>
              </a:p>
            </p:txBody>
          </p:sp>
          <p:sp>
            <p:nvSpPr>
              <p:cNvPr id="205" name="Ellipse 205"/>
              <p:cNvSpPr/>
              <p:nvPr/>
            </p:nvSpPr>
            <p:spPr>
              <a:xfrm>
                <a:off x="6648450" y="3524250"/>
                <a:ext cx="590550" cy="590550"/>
              </a:xfrm>
              <a:prstGeom prst="ellipse">
                <a:avLst/>
              </a:prstGeom>
              <a:solidFill>
                <a:srgbClr val="852512"/>
              </a:solidFill>
              <a:ln>
                <a:noFill/>
              </a:ln>
            </p:spPr>
          </p:sp>
          <p:grpSp>
            <p:nvGrpSpPr>
              <p:cNvPr id="210" name="Group 210"/>
              <p:cNvGrpSpPr/>
              <p:nvPr/>
            </p:nvGrpSpPr>
            <p:grpSpPr>
              <a:xfrm>
                <a:off x="6872287" y="3622675"/>
                <a:ext cx="142875" cy="136525"/>
                <a:chOff x="6872287" y="3622675"/>
                <a:chExt cx="142875" cy="136525"/>
              </a:xfrm>
            </p:grpSpPr>
            <p:sp>
              <p:nvSpPr>
                <p:cNvPr id="206" name="Freeform 206"/>
                <p:cNvSpPr/>
                <p:nvPr/>
              </p:nvSpPr>
              <p:spPr>
                <a:xfrm>
                  <a:off x="6872287" y="3686175"/>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207" name="Freeform 207"/>
                <p:cNvSpPr/>
                <p:nvPr/>
              </p:nvSpPr>
              <p:spPr>
                <a:xfrm>
                  <a:off x="6967537" y="3654425"/>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208" name="Freeform 208"/>
                <p:cNvSpPr/>
                <p:nvPr/>
              </p:nvSpPr>
              <p:spPr>
                <a:xfrm>
                  <a:off x="6919912" y="3622675"/>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209" name="Freeform 209"/>
                <p:cNvSpPr/>
                <p:nvPr/>
              </p:nvSpPr>
              <p:spPr>
                <a:xfrm>
                  <a:off x="6880225" y="3749675"/>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211" name="TextBox 211"/>
              <p:cNvSpPr txBox="1"/>
              <p:nvPr/>
            </p:nvSpPr>
            <p:spPr>
              <a:xfrm>
                <a:off x="6828574" y="3825716"/>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转化</a:t>
                </a:r>
              </a:p>
            </p:txBody>
          </p:sp>
          <p:sp>
            <p:nvSpPr>
              <p:cNvPr id="212" name="TextBox 212"/>
              <p:cNvSpPr txBox="1"/>
              <p:nvPr/>
            </p:nvSpPr>
            <p:spPr>
              <a:xfrm>
                <a:off x="6750494" y="3968353"/>
                <a:ext cx="386461" cy="111919"/>
              </a:xfrm>
              <a:prstGeom prst="rect">
                <a:avLst/>
              </a:prstGeom>
              <a:noFill/>
              <a:ln>
                <a:noFill/>
              </a:ln>
            </p:spPr>
            <p:txBody>
              <a:bodyPr wrap="none" lIns="0" tIns="0" rIns="0" bIns="0" anchor="t" anchorCtr="0">
                <a:spAutoFit/>
              </a:bodyPr>
              <a:lstStyle/>
              <a:p>
                <a:pPr algn="ctr"/>
                <a:r>
                  <a:rPr lang="zh-CN" sz="560" dirty="0">
                    <a:solidFill>
                      <a:srgbClr val="BFE4DD"/>
                    </a:solidFill>
                    <a:latin typeface="+mn-lt"/>
                    <a:ea typeface="+mn-ea"/>
                    <a:cs typeface="+mn-cs"/>
                  </a:rPr>
                  <a:t>产品与服务</a:t>
                </a:r>
              </a:p>
            </p:txBody>
          </p:sp>
          <p:sp>
            <p:nvSpPr>
              <p:cNvPr id="213" name="Ellipse 213"/>
              <p:cNvSpPr/>
              <p:nvPr/>
            </p:nvSpPr>
            <p:spPr>
              <a:xfrm>
                <a:off x="6305550" y="2457450"/>
                <a:ext cx="590550" cy="590550"/>
              </a:xfrm>
              <a:prstGeom prst="ellipse">
                <a:avLst/>
              </a:prstGeom>
              <a:solidFill>
                <a:srgbClr val="5D190B"/>
              </a:solidFill>
              <a:ln>
                <a:noFill/>
              </a:ln>
            </p:spPr>
          </p:sp>
          <p:grpSp>
            <p:nvGrpSpPr>
              <p:cNvPr id="216" name="Group 216"/>
              <p:cNvGrpSpPr/>
              <p:nvPr/>
            </p:nvGrpSpPr>
            <p:grpSpPr>
              <a:xfrm>
                <a:off x="6537325" y="2552812"/>
                <a:ext cx="127000" cy="133125"/>
                <a:chOff x="6537325" y="2552812"/>
                <a:chExt cx="127000" cy="133125"/>
              </a:xfrm>
            </p:grpSpPr>
            <p:sp>
              <p:nvSpPr>
                <p:cNvPr id="214" name="Freeform 214"/>
                <p:cNvSpPr/>
                <p:nvPr/>
              </p:nvSpPr>
              <p:spPr>
                <a:xfrm>
                  <a:off x="6537325" y="2552812"/>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FFFFFF"/>
                  </a:solidFill>
                </a:ln>
              </p:spPr>
            </p:sp>
            <p:sp>
              <p:nvSpPr>
                <p:cNvPr id="215" name="Freeform 215"/>
                <p:cNvSpPr/>
                <p:nvPr/>
              </p:nvSpPr>
              <p:spPr>
                <a:xfrm>
                  <a:off x="6537325" y="2627312"/>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FFFFFF"/>
                  </a:solidFill>
                </a:ln>
              </p:spPr>
            </p:sp>
          </p:grpSp>
          <p:sp>
            <p:nvSpPr>
              <p:cNvPr id="217" name="TextBox 217"/>
              <p:cNvSpPr txBox="1"/>
              <p:nvPr/>
            </p:nvSpPr>
            <p:spPr>
              <a:xfrm>
                <a:off x="6485674" y="2758916"/>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复购</a:t>
                </a:r>
              </a:p>
            </p:txBody>
          </p:sp>
          <p:sp>
            <p:nvSpPr>
              <p:cNvPr id="218" name="TextBox 218"/>
              <p:cNvSpPr txBox="1"/>
              <p:nvPr/>
            </p:nvSpPr>
            <p:spPr>
              <a:xfrm>
                <a:off x="6369901" y="2901553"/>
                <a:ext cx="461848" cy="111919"/>
              </a:xfrm>
              <a:prstGeom prst="rect">
                <a:avLst/>
              </a:prstGeom>
              <a:noFill/>
              <a:ln>
                <a:noFill/>
              </a:ln>
            </p:spPr>
            <p:txBody>
              <a:bodyPr wrap="none" lIns="0" tIns="0" rIns="0" bIns="0" anchor="t" anchorCtr="0">
                <a:spAutoFit/>
              </a:bodyPr>
              <a:lstStyle/>
              <a:p>
                <a:pPr algn="ctr"/>
                <a:r>
                  <a:rPr lang="zh-CN" sz="560" dirty="0">
                    <a:solidFill>
                      <a:srgbClr val="BFE4DD"/>
                    </a:solidFill>
                    <a:latin typeface="+mn-lt"/>
                    <a:ea typeface="+mn-ea"/>
                    <a:cs typeface="+mn-cs"/>
                  </a:rPr>
                  <a:t>长期关系经营</a:t>
                </a:r>
              </a:p>
            </p:txBody>
          </p:sp>
          <p:sp>
            <p:nvSpPr>
              <p:cNvPr id="219" name="Freeform 219"/>
              <p:cNvSpPr/>
              <p:nvPr/>
            </p:nvSpPr>
            <p:spPr>
              <a:xfrm>
                <a:off x="7850505" y="2152650"/>
                <a:ext cx="424815" cy="308610"/>
              </a:xfrm>
              <a:custGeom>
                <a:avLst/>
                <a:gdLst/>
                <a:ahLst/>
                <a:cxnLst/>
                <a:rect l="l" t="t" r="r" b="b"/>
                <a:pathLst>
                  <a:path w="424815" h="308610">
                    <a:moveTo>
                      <a:pt x="0" y="0"/>
                    </a:moveTo>
                    <a:cubicBezTo>
                      <a:pt x="167722" y="61036"/>
                      <a:pt x="314921" y="167970"/>
                      <a:pt x="424815" y="308610"/>
                    </a:cubicBezTo>
                  </a:path>
                </a:pathLst>
              </a:custGeom>
              <a:noFill/>
              <a:ln w="23812">
                <a:solidFill>
                  <a:srgbClr val="A3422F"/>
                </a:solidFill>
                <a:tailEnd type="triangle" w="lg" len="lg"/>
              </a:ln>
            </p:spPr>
          </p:sp>
          <p:sp>
            <p:nvSpPr>
              <p:cNvPr id="220" name="Freeform 220"/>
              <p:cNvSpPr/>
              <p:nvPr/>
            </p:nvSpPr>
            <p:spPr>
              <a:xfrm>
                <a:off x="8314373" y="3081338"/>
                <a:ext cx="161925" cy="499110"/>
              </a:xfrm>
              <a:custGeom>
                <a:avLst/>
                <a:gdLst/>
                <a:ahLst/>
                <a:cxnLst/>
                <a:rect l="l" t="t" r="r" b="b"/>
                <a:pathLst>
                  <a:path w="161925" h="499110">
                    <a:moveTo>
                      <a:pt x="161925" y="0"/>
                    </a:moveTo>
                    <a:cubicBezTo>
                      <a:pt x="155744" y="178249"/>
                      <a:pt x="99640" y="351182"/>
                      <a:pt x="0" y="499110"/>
                    </a:cubicBezTo>
                  </a:path>
                </a:pathLst>
              </a:custGeom>
              <a:noFill/>
              <a:ln w="23812">
                <a:solidFill>
                  <a:srgbClr val="A3422F"/>
                </a:solidFill>
                <a:tailEnd type="triangle" w="lg" len="lg"/>
              </a:ln>
            </p:spPr>
          </p:sp>
          <p:sp>
            <p:nvSpPr>
              <p:cNvPr id="221" name="Freeform 221"/>
              <p:cNvSpPr/>
              <p:nvPr/>
            </p:nvSpPr>
            <p:spPr>
              <a:xfrm>
                <a:off x="7261860" y="3963352"/>
                <a:ext cx="525780" cy="49330"/>
              </a:xfrm>
              <a:custGeom>
                <a:avLst/>
                <a:gdLst/>
                <a:ahLst/>
                <a:cxnLst/>
                <a:rect l="l" t="t" r="r" b="b"/>
                <a:pathLst>
                  <a:path w="525780" h="49330">
                    <a:moveTo>
                      <a:pt x="525780" y="0"/>
                    </a:moveTo>
                    <a:cubicBezTo>
                      <a:pt x="353991" y="49330"/>
                      <a:pt x="171789" y="49330"/>
                      <a:pt x="0" y="0"/>
                    </a:cubicBezTo>
                  </a:path>
                </a:pathLst>
              </a:custGeom>
              <a:noFill/>
              <a:ln w="23812">
                <a:solidFill>
                  <a:srgbClr val="A3422F"/>
                </a:solidFill>
                <a:tailEnd type="triangle" w="lg" len="lg"/>
              </a:ln>
            </p:spPr>
          </p:sp>
          <p:sp>
            <p:nvSpPr>
              <p:cNvPr id="222" name="Freeform 222"/>
              <p:cNvSpPr/>
              <p:nvPr/>
            </p:nvSpPr>
            <p:spPr>
              <a:xfrm>
                <a:off x="6573202" y="3081338"/>
                <a:ext cx="161925" cy="499110"/>
              </a:xfrm>
              <a:custGeom>
                <a:avLst/>
                <a:gdLst/>
                <a:ahLst/>
                <a:cxnLst/>
                <a:rect l="l" t="t" r="r" b="b"/>
                <a:pathLst>
                  <a:path w="161925" h="499110">
                    <a:moveTo>
                      <a:pt x="161925" y="499110"/>
                    </a:moveTo>
                    <a:cubicBezTo>
                      <a:pt x="62285" y="351182"/>
                      <a:pt x="6181" y="178249"/>
                      <a:pt x="0" y="0"/>
                    </a:cubicBezTo>
                  </a:path>
                </a:pathLst>
              </a:custGeom>
              <a:noFill/>
              <a:ln w="23812">
                <a:solidFill>
                  <a:srgbClr val="A3422F"/>
                </a:solidFill>
                <a:tailEnd type="triangle" w="lg" len="lg"/>
              </a:ln>
            </p:spPr>
          </p:sp>
          <p:sp>
            <p:nvSpPr>
              <p:cNvPr id="223" name="Freeform 223"/>
              <p:cNvSpPr/>
              <p:nvPr/>
            </p:nvSpPr>
            <p:spPr>
              <a:xfrm>
                <a:off x="6774180" y="2152650"/>
                <a:ext cx="424815" cy="308610"/>
              </a:xfrm>
              <a:custGeom>
                <a:avLst/>
                <a:gdLst/>
                <a:ahLst/>
                <a:cxnLst/>
                <a:rect l="l" t="t" r="r" b="b"/>
                <a:pathLst>
                  <a:path w="424815" h="308610">
                    <a:moveTo>
                      <a:pt x="0" y="308610"/>
                    </a:moveTo>
                    <a:cubicBezTo>
                      <a:pt x="109894" y="167970"/>
                      <a:pt x="257093" y="61036"/>
                      <a:pt x="424815" y="0"/>
                    </a:cubicBezTo>
                  </a:path>
                </a:pathLst>
              </a:custGeom>
              <a:noFill/>
              <a:ln w="23812">
                <a:solidFill>
                  <a:srgbClr val="A3422F"/>
                </a:solidFill>
                <a:tailEnd type="triangle" w="lg" len="lg"/>
              </a:ln>
            </p:spPr>
          </p:sp>
        </p:grpSp>
        <p:grpSp>
          <p:nvGrpSpPr>
            <p:cNvPr id="258" name="loop-points"/>
            <p:cNvGrpSpPr/>
            <p:nvPr/>
          </p:nvGrpSpPr>
          <p:grpSpPr>
            <a:xfrm>
              <a:off x="9029700" y="1790700"/>
              <a:ext cx="2743200" cy="2124313"/>
              <a:chOff x="9029700" y="1790700"/>
              <a:chExt cx="2743200" cy="2124313"/>
            </a:xfrm>
          </p:grpSpPr>
          <p:sp>
            <p:nvSpPr>
              <p:cNvPr id="225" name="Rectangle 225"/>
              <p:cNvSpPr/>
              <p:nvPr/>
            </p:nvSpPr>
            <p:spPr>
              <a:xfrm>
                <a:off x="9029700" y="1790700"/>
                <a:ext cx="2743200" cy="247650"/>
              </a:xfrm>
              <a:prstGeom prst="roundRect">
                <a:avLst>
                  <a:gd name="adj" fmla="val 15385"/>
                </a:avLst>
              </a:prstGeom>
              <a:solidFill>
                <a:srgbClr val="76200F"/>
              </a:solidFill>
              <a:ln>
                <a:noFill/>
              </a:ln>
            </p:spPr>
          </p:sp>
          <p:sp>
            <p:nvSpPr>
              <p:cNvPr id="226" name="TextBox 226"/>
              <p:cNvSpPr txBox="1"/>
              <p:nvPr/>
            </p:nvSpPr>
            <p:spPr>
              <a:xfrm>
                <a:off x="9158288" y="1864995"/>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关键要点</a:t>
                </a:r>
              </a:p>
            </p:txBody>
          </p:sp>
          <p:grpSp>
            <p:nvGrpSpPr>
              <p:cNvPr id="233" name="Group 233"/>
              <p:cNvGrpSpPr/>
              <p:nvPr/>
            </p:nvGrpSpPr>
            <p:grpSpPr>
              <a:xfrm>
                <a:off x="9089231" y="2193131"/>
                <a:ext cx="128588" cy="128588"/>
                <a:chOff x="9089231" y="2193131"/>
                <a:chExt cx="128588" cy="128588"/>
              </a:xfrm>
            </p:grpSpPr>
            <p:sp>
              <p:nvSpPr>
                <p:cNvPr id="227" name="Freeform 227"/>
                <p:cNvSpPr/>
                <p:nvPr/>
              </p:nvSpPr>
              <p:spPr>
                <a:xfrm>
                  <a:off x="9139238" y="22502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228" name="Freeform 228"/>
                <p:cNvSpPr/>
                <p:nvPr/>
              </p:nvSpPr>
              <p:spPr>
                <a:xfrm>
                  <a:off x="9124950" y="230028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76200F"/>
                  </a:solidFill>
                </a:ln>
              </p:spPr>
            </p:sp>
            <p:sp>
              <p:nvSpPr>
                <p:cNvPr id="229" name="Freeform 229"/>
                <p:cNvSpPr/>
                <p:nvPr/>
              </p:nvSpPr>
              <p:spPr>
                <a:xfrm>
                  <a:off x="9174956" y="21931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230" name="Freeform 230"/>
                <p:cNvSpPr/>
                <p:nvPr/>
              </p:nvSpPr>
              <p:spPr>
                <a:xfrm>
                  <a:off x="9189244" y="224313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76200F"/>
                  </a:solidFill>
                </a:ln>
              </p:spPr>
            </p:sp>
            <p:sp>
              <p:nvSpPr>
                <p:cNvPr id="231" name="Freeform 231"/>
                <p:cNvSpPr/>
                <p:nvPr/>
              </p:nvSpPr>
              <p:spPr>
                <a:xfrm>
                  <a:off x="9103519" y="21931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232" name="Freeform 232"/>
                <p:cNvSpPr/>
                <p:nvPr/>
              </p:nvSpPr>
              <p:spPr>
                <a:xfrm>
                  <a:off x="9089231" y="224313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76200F"/>
                  </a:solidFill>
                </a:ln>
              </p:spPr>
            </p:sp>
          </p:grpSp>
          <p:sp>
            <p:nvSpPr>
              <p:cNvPr id="234" name="TextBox 234"/>
              <p:cNvSpPr txBox="1"/>
              <p:nvPr/>
            </p:nvSpPr>
            <p:spPr>
              <a:xfrm>
                <a:off x="9310688" y="2177891"/>
                <a:ext cx="671855"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多源流量整合</a:t>
                </a:r>
              </a:p>
            </p:txBody>
          </p:sp>
          <p:sp>
            <p:nvSpPr>
              <p:cNvPr id="235" name="TextBox 235"/>
              <p:cNvSpPr txBox="1"/>
              <p:nvPr/>
            </p:nvSpPr>
            <p:spPr>
              <a:xfrm>
                <a:off x="9310688" y="2341007"/>
                <a:ext cx="1792971"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线下展位引流 + 线上平台联动，公私联动引流​</a:t>
                </a:r>
              </a:p>
            </p:txBody>
          </p:sp>
          <p:grpSp>
            <p:nvGrpSpPr>
              <p:cNvPr id="239" name="Group 239"/>
              <p:cNvGrpSpPr/>
              <p:nvPr/>
            </p:nvGrpSpPr>
            <p:grpSpPr>
              <a:xfrm>
                <a:off x="9089231" y="2555081"/>
                <a:ext cx="128588" cy="128587"/>
                <a:chOff x="9089231" y="2555081"/>
                <a:chExt cx="128588" cy="128587"/>
              </a:xfrm>
            </p:grpSpPr>
            <p:sp>
              <p:nvSpPr>
                <p:cNvPr id="236" name="Freeform 236"/>
                <p:cNvSpPr/>
                <p:nvPr/>
              </p:nvSpPr>
              <p:spPr>
                <a:xfrm>
                  <a:off x="9089231" y="2555081"/>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76200F"/>
                  </a:solidFill>
                </a:ln>
              </p:spPr>
            </p:sp>
            <p:sp>
              <p:nvSpPr>
                <p:cNvPr id="237" name="Freeform 237"/>
                <p:cNvSpPr/>
                <p:nvPr/>
              </p:nvSpPr>
              <p:spPr>
                <a:xfrm>
                  <a:off x="9114777" y="2583656"/>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76200F"/>
                  </a:solidFill>
                </a:ln>
              </p:spPr>
            </p:sp>
            <p:sp>
              <p:nvSpPr>
                <p:cNvPr id="238" name="Freeform 238"/>
                <p:cNvSpPr/>
                <p:nvPr/>
              </p:nvSpPr>
              <p:spPr>
                <a:xfrm>
                  <a:off x="9137094" y="2655094"/>
                  <a:ext cx="32861" cy="9525"/>
                </a:xfrm>
                <a:custGeom>
                  <a:avLst/>
                  <a:gdLst/>
                  <a:ahLst/>
                  <a:cxnLst/>
                  <a:rect l="l" t="t" r="r" b="b"/>
                  <a:pathLst>
                    <a:path w="32861" h="9525">
                      <a:moveTo>
                        <a:pt x="0" y="0"/>
                      </a:moveTo>
                      <a:lnTo>
                        <a:pt x="32861" y="0"/>
                      </a:lnTo>
                    </a:path>
                  </a:pathLst>
                </a:custGeom>
                <a:noFill/>
                <a:ln w="14288">
                  <a:solidFill>
                    <a:srgbClr val="76200F"/>
                  </a:solidFill>
                </a:ln>
              </p:spPr>
            </p:sp>
          </p:grpSp>
          <p:sp>
            <p:nvSpPr>
              <p:cNvPr id="240" name="TextBox 240"/>
              <p:cNvSpPr txBox="1"/>
              <p:nvPr/>
            </p:nvSpPr>
            <p:spPr>
              <a:xfrm>
                <a:off x="9310688" y="2539841"/>
                <a:ext cx="782244"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沉浸式客户体验</a:t>
                </a:r>
              </a:p>
            </p:txBody>
          </p:sp>
          <p:sp>
            <p:nvSpPr>
              <p:cNvPr id="241" name="TextBox 241"/>
              <p:cNvSpPr txBox="1"/>
              <p:nvPr/>
            </p:nvSpPr>
            <p:spPr>
              <a:xfrm>
                <a:off x="9310688" y="2702957"/>
                <a:ext cx="1818818"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场景化互动、数字化工具，提升参与度与好评度</a:t>
                </a:r>
              </a:p>
            </p:txBody>
          </p:sp>
          <p:grpSp>
            <p:nvGrpSpPr>
              <p:cNvPr id="245" name="Group 245"/>
              <p:cNvGrpSpPr/>
              <p:nvPr/>
            </p:nvGrpSpPr>
            <p:grpSpPr>
              <a:xfrm>
                <a:off x="9096375" y="2917031"/>
                <a:ext cx="114300" cy="128588"/>
                <a:chOff x="9096375" y="2917031"/>
                <a:chExt cx="114300" cy="128588"/>
              </a:xfrm>
            </p:grpSpPr>
            <p:sp>
              <p:nvSpPr>
                <p:cNvPr id="242" name="Freeform 242"/>
                <p:cNvSpPr/>
                <p:nvPr/>
              </p:nvSpPr>
              <p:spPr>
                <a:xfrm>
                  <a:off x="9096375" y="291703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6200F"/>
                  </a:solidFill>
                </a:ln>
              </p:spPr>
            </p:sp>
            <p:sp>
              <p:nvSpPr>
                <p:cNvPr id="243" name="Freeform 243"/>
                <p:cNvSpPr/>
                <p:nvPr/>
              </p:nvSpPr>
              <p:spPr>
                <a:xfrm>
                  <a:off x="9096375" y="293846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sp>
              <p:nvSpPr>
                <p:cNvPr id="244" name="Freeform 244"/>
                <p:cNvSpPr/>
                <p:nvPr/>
              </p:nvSpPr>
              <p:spPr>
                <a:xfrm>
                  <a:off x="9096375" y="298132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grpSp>
          <p:sp>
            <p:nvSpPr>
              <p:cNvPr id="246" name="TextBox 246"/>
              <p:cNvSpPr txBox="1"/>
              <p:nvPr/>
            </p:nvSpPr>
            <p:spPr>
              <a:xfrm>
                <a:off x="9310688" y="2901791"/>
                <a:ext cx="782244"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全渠道资产沉淀</a:t>
                </a:r>
              </a:p>
            </p:txBody>
          </p:sp>
          <p:sp>
            <p:nvSpPr>
              <p:cNvPr id="247" name="TextBox 247"/>
              <p:cNvSpPr txBox="1"/>
              <p:nvPr/>
            </p:nvSpPr>
            <p:spPr>
              <a:xfrm>
                <a:off x="9310688" y="3064907"/>
                <a:ext cx="1474191"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打通线上线下数据，构建统一客户视图</a:t>
                </a:r>
              </a:p>
            </p:txBody>
          </p:sp>
          <p:grpSp>
            <p:nvGrpSpPr>
              <p:cNvPr id="250" name="Group 250"/>
              <p:cNvGrpSpPr/>
              <p:nvPr/>
            </p:nvGrpSpPr>
            <p:grpSpPr>
              <a:xfrm>
                <a:off x="9096375" y="3300412"/>
                <a:ext cx="114300" cy="102394"/>
                <a:chOff x="9096375" y="3300412"/>
                <a:chExt cx="114300" cy="102394"/>
              </a:xfrm>
            </p:grpSpPr>
            <p:sp>
              <p:nvSpPr>
                <p:cNvPr id="248" name="Freeform 248"/>
                <p:cNvSpPr/>
                <p:nvPr/>
              </p:nvSpPr>
              <p:spPr>
                <a:xfrm>
                  <a:off x="9096375" y="3393281"/>
                  <a:ext cx="114300" cy="9525"/>
                </a:xfrm>
                <a:custGeom>
                  <a:avLst/>
                  <a:gdLst/>
                  <a:ahLst/>
                  <a:cxnLst/>
                  <a:rect l="l" t="t" r="r" b="b"/>
                  <a:pathLst>
                    <a:path w="114300" h="9525">
                      <a:moveTo>
                        <a:pt x="0" y="0"/>
                      </a:moveTo>
                      <a:lnTo>
                        <a:pt x="114300" y="0"/>
                      </a:lnTo>
                    </a:path>
                  </a:pathLst>
                </a:custGeom>
                <a:noFill/>
                <a:ln w="14288">
                  <a:solidFill>
                    <a:srgbClr val="76200F"/>
                  </a:solidFill>
                </a:ln>
              </p:spPr>
            </p:sp>
            <p:sp>
              <p:nvSpPr>
                <p:cNvPr id="249" name="Freeform 249"/>
                <p:cNvSpPr/>
                <p:nvPr/>
              </p:nvSpPr>
              <p:spPr>
                <a:xfrm>
                  <a:off x="9096375" y="3300412"/>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76200F"/>
                  </a:solidFill>
                </a:ln>
              </p:spPr>
            </p:sp>
          </p:grpSp>
          <p:sp>
            <p:nvSpPr>
              <p:cNvPr id="251" name="TextBox 251"/>
              <p:cNvSpPr txBox="1"/>
              <p:nvPr/>
            </p:nvSpPr>
            <p:spPr>
              <a:xfrm>
                <a:off x="9310688" y="3263741"/>
                <a:ext cx="782244"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精细化转化运营</a:t>
                </a:r>
              </a:p>
            </p:txBody>
          </p:sp>
          <p:sp>
            <p:nvSpPr>
              <p:cNvPr id="252" name="TextBox 252"/>
              <p:cNvSpPr txBox="1"/>
              <p:nvPr/>
            </p:nvSpPr>
            <p:spPr>
              <a:xfrm>
                <a:off x="9310688" y="3426857"/>
                <a:ext cx="1646504"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基于标签的产品推荐，动态匹配服务与转化</a:t>
                </a:r>
              </a:p>
            </p:txBody>
          </p:sp>
          <p:grpSp>
            <p:nvGrpSpPr>
              <p:cNvPr id="255" name="Group 255"/>
              <p:cNvGrpSpPr/>
              <p:nvPr/>
            </p:nvGrpSpPr>
            <p:grpSpPr>
              <a:xfrm>
                <a:off x="9096375" y="3645319"/>
                <a:ext cx="114300" cy="119813"/>
                <a:chOff x="9096375" y="3645319"/>
                <a:chExt cx="114300" cy="119813"/>
              </a:xfrm>
            </p:grpSpPr>
            <p:sp>
              <p:nvSpPr>
                <p:cNvPr id="253" name="Freeform 253"/>
                <p:cNvSpPr/>
                <p:nvPr/>
              </p:nvSpPr>
              <p:spPr>
                <a:xfrm>
                  <a:off x="9096375" y="3645319"/>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76200F"/>
                  </a:solidFill>
                </a:ln>
              </p:spPr>
            </p:sp>
            <p:sp>
              <p:nvSpPr>
                <p:cNvPr id="254" name="Freeform 254"/>
                <p:cNvSpPr/>
                <p:nvPr/>
              </p:nvSpPr>
              <p:spPr>
                <a:xfrm>
                  <a:off x="9096375" y="3712369"/>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76200F"/>
                  </a:solidFill>
                </a:ln>
              </p:spPr>
            </p:sp>
          </p:grpSp>
          <p:sp>
            <p:nvSpPr>
              <p:cNvPr id="256" name="TextBox 256"/>
              <p:cNvSpPr txBox="1"/>
              <p:nvPr/>
            </p:nvSpPr>
            <p:spPr>
              <a:xfrm>
                <a:off x="9310688" y="3625691"/>
                <a:ext cx="782244"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会员化复购经营</a:t>
                </a:r>
              </a:p>
            </p:txBody>
          </p:sp>
          <p:sp>
            <p:nvSpPr>
              <p:cNvPr id="257" name="TextBox 257"/>
              <p:cNvSpPr txBox="1"/>
              <p:nvPr/>
            </p:nvSpPr>
            <p:spPr>
              <a:xfrm>
                <a:off x="9310688" y="3788807"/>
                <a:ext cx="1792971"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权益体系 + 内容运营，提升客户生命周期价值​</a:t>
                </a:r>
              </a:p>
            </p:txBody>
          </p:sp>
        </p:grpSp>
      </p:grpSp>
      <p:grpSp>
        <p:nvGrpSpPr>
          <p:cNvPr id="304" name="core-questions"/>
          <p:cNvGrpSpPr/>
          <p:nvPr/>
        </p:nvGrpSpPr>
        <p:grpSpPr>
          <a:xfrm>
            <a:off x="342900" y="4648200"/>
            <a:ext cx="11487150" cy="1943100"/>
            <a:chOff x="342900" y="4648200"/>
            <a:chExt cx="11487150" cy="1943100"/>
          </a:xfrm>
        </p:grpSpPr>
        <p:sp>
          <p:nvSpPr>
            <p:cNvPr id="260" name="Rectangle 260"/>
            <p:cNvSpPr/>
            <p:nvPr/>
          </p:nvSpPr>
          <p:spPr>
            <a:xfrm>
              <a:off x="342900" y="4648200"/>
              <a:ext cx="2286000" cy="266700"/>
            </a:xfrm>
            <a:prstGeom prst="roundRect">
              <a:avLst>
                <a:gd name="adj" fmla="val 21429"/>
              </a:avLst>
            </a:prstGeom>
            <a:solidFill>
              <a:srgbClr val="76200F"/>
            </a:solidFill>
            <a:ln>
              <a:noFill/>
            </a:ln>
          </p:spPr>
        </p:sp>
        <p:sp>
          <p:nvSpPr>
            <p:cNvPr id="261" name="TextBox 261"/>
            <p:cNvSpPr txBox="1"/>
            <p:nvPr/>
          </p:nvSpPr>
          <p:spPr>
            <a:xfrm>
              <a:off x="471297" y="4723924"/>
              <a:ext cx="1724965"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本次调研聚焦的三大核心问题</a:t>
              </a:r>
            </a:p>
          </p:txBody>
        </p:sp>
        <p:sp>
          <p:nvSpPr>
            <p:cNvPr id="262" name="Rectangle 262"/>
            <p:cNvSpPr/>
            <p:nvPr/>
          </p:nvSpPr>
          <p:spPr>
            <a:xfrm>
              <a:off x="342900" y="4972050"/>
              <a:ext cx="3733800" cy="1619250"/>
            </a:xfrm>
            <a:prstGeom prst="roundRect">
              <a:avLst>
                <a:gd name="adj" fmla="val 4706"/>
              </a:avLst>
            </a:prstGeom>
            <a:solidFill>
              <a:srgbClr val="FFFFFF"/>
            </a:solidFill>
            <a:ln w="14288">
              <a:solidFill>
                <a:srgbClr val="C2E0DA"/>
              </a:solidFill>
            </a:ln>
          </p:spPr>
        </p:sp>
        <p:sp>
          <p:nvSpPr>
            <p:cNvPr id="263" name="Ellipse 263"/>
            <p:cNvSpPr/>
            <p:nvPr/>
          </p:nvSpPr>
          <p:spPr>
            <a:xfrm>
              <a:off x="495300" y="5105400"/>
              <a:ext cx="266700" cy="266700"/>
            </a:xfrm>
            <a:prstGeom prst="ellipse">
              <a:avLst/>
            </a:prstGeom>
            <a:solidFill>
              <a:srgbClr val="76200F"/>
            </a:solidFill>
            <a:ln>
              <a:noFill/>
            </a:ln>
          </p:spPr>
        </p:sp>
        <p:sp>
          <p:nvSpPr>
            <p:cNvPr id="264" name="TextBox 264"/>
            <p:cNvSpPr txBox="1"/>
            <p:nvPr/>
          </p:nvSpPr>
          <p:spPr>
            <a:xfrm>
              <a:off x="509415" y="5181124"/>
              <a:ext cx="23847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01​</a:t>
              </a:r>
            </a:p>
          </p:txBody>
        </p:sp>
        <p:sp>
          <p:nvSpPr>
            <p:cNvPr id="265" name="TextBox 265"/>
            <p:cNvSpPr txBox="1"/>
            <p:nvPr/>
          </p:nvSpPr>
          <p:spPr>
            <a:xfrm>
              <a:off x="833056" y="5177076"/>
              <a:ext cx="1505915" cy="198025"/>
            </a:xfrm>
            <a:prstGeom prst="rect">
              <a:avLst/>
            </a:prstGeom>
            <a:noFill/>
            <a:ln>
              <a:noFill/>
            </a:ln>
          </p:spPr>
          <p:txBody>
            <a:bodyPr wrap="none" lIns="0" tIns="0" rIns="0" bIns="0" anchor="t" anchorCtr="0">
              <a:spAutoFit/>
            </a:bodyPr>
            <a:lstStyle/>
            <a:p>
              <a:pPr algn="l"/>
              <a:r>
                <a:rPr lang="zh-CN" sz="1010" b="1" dirty="0">
                  <a:solidFill>
                    <a:srgbClr val="331712"/>
                  </a:solidFill>
                  <a:latin typeface="+mn-lt"/>
                  <a:ea typeface="+mn-ea"/>
                  <a:cs typeface="+mn-cs"/>
                </a:rPr>
                <a:t>展位如何吸引并识别客户</a:t>
              </a:r>
            </a:p>
          </p:txBody>
        </p:sp>
        <p:sp>
          <p:nvSpPr>
            <p:cNvPr id="266" name="Ellipse 266"/>
            <p:cNvSpPr/>
            <p:nvPr/>
          </p:nvSpPr>
          <p:spPr>
            <a:xfrm>
              <a:off x="3219450" y="5124450"/>
              <a:ext cx="419100" cy="419100"/>
            </a:xfrm>
            <a:prstGeom prst="ellipse">
              <a:avLst/>
            </a:prstGeom>
            <a:solidFill>
              <a:srgbClr val="EFF8F6"/>
            </a:solidFill>
            <a:ln>
              <a:noFill/>
            </a:ln>
          </p:spPr>
        </p:sp>
        <p:grpSp>
          <p:nvGrpSpPr>
            <p:cNvPr id="270" name="Group 270"/>
            <p:cNvGrpSpPr/>
            <p:nvPr/>
          </p:nvGrpSpPr>
          <p:grpSpPr>
            <a:xfrm>
              <a:off x="3343275" y="5248275"/>
              <a:ext cx="171450" cy="171450"/>
              <a:chOff x="3343275" y="5248275"/>
              <a:chExt cx="171450" cy="171450"/>
            </a:xfrm>
          </p:grpSpPr>
          <p:sp>
            <p:nvSpPr>
              <p:cNvPr id="267" name="Freeform 267"/>
              <p:cNvSpPr/>
              <p:nvPr/>
            </p:nvSpPr>
            <p:spPr>
              <a:xfrm>
                <a:off x="3343275" y="524827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76200F"/>
                </a:solidFill>
              </a:ln>
            </p:spPr>
          </p:sp>
          <p:sp>
            <p:nvSpPr>
              <p:cNvPr id="268" name="Freeform 268"/>
              <p:cNvSpPr/>
              <p:nvPr/>
            </p:nvSpPr>
            <p:spPr>
              <a:xfrm>
                <a:off x="3362325" y="533400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76200F"/>
                </a:solidFill>
              </a:ln>
            </p:spPr>
          </p:sp>
          <p:sp>
            <p:nvSpPr>
              <p:cNvPr id="269" name="Freeform 269"/>
              <p:cNvSpPr/>
              <p:nvPr/>
            </p:nvSpPr>
            <p:spPr>
              <a:xfrm>
                <a:off x="3400425" y="534352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76200F"/>
                </a:solidFill>
              </a:ln>
            </p:spPr>
          </p:sp>
        </p:grpSp>
        <p:sp>
          <p:nvSpPr>
            <p:cNvPr id="271" name="Ellipse 271"/>
            <p:cNvSpPr/>
            <p:nvPr/>
          </p:nvSpPr>
          <p:spPr>
            <a:xfrm>
              <a:off x="604838" y="5595938"/>
              <a:ext cx="47625" cy="47625"/>
            </a:xfrm>
            <a:prstGeom prst="ellipse">
              <a:avLst/>
            </a:prstGeom>
            <a:solidFill>
              <a:srgbClr val="A3422F"/>
            </a:solidFill>
            <a:ln>
              <a:noFill/>
            </a:ln>
          </p:spPr>
        </p:sp>
        <p:sp>
          <p:nvSpPr>
            <p:cNvPr id="272" name="TextBox 272"/>
            <p:cNvSpPr txBox="1"/>
            <p:nvPr/>
          </p:nvSpPr>
          <p:spPr>
            <a:xfrm>
              <a:off x="719138" y="5576888"/>
              <a:ext cx="1423035"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哪些展位形式与活动玩法最有效</a:t>
              </a:r>
            </a:p>
          </p:txBody>
        </p:sp>
        <p:sp>
          <p:nvSpPr>
            <p:cNvPr id="273" name="Ellipse 273"/>
            <p:cNvSpPr/>
            <p:nvPr/>
          </p:nvSpPr>
          <p:spPr>
            <a:xfrm>
              <a:off x="604838" y="5824538"/>
              <a:ext cx="47625" cy="47625"/>
            </a:xfrm>
            <a:prstGeom prst="ellipse">
              <a:avLst/>
            </a:prstGeom>
            <a:solidFill>
              <a:srgbClr val="A3422F"/>
            </a:solidFill>
            <a:ln>
              <a:noFill/>
            </a:ln>
          </p:spPr>
        </p:sp>
        <p:sp>
          <p:nvSpPr>
            <p:cNvPr id="274" name="TextBox 274"/>
            <p:cNvSpPr txBox="1"/>
            <p:nvPr/>
          </p:nvSpPr>
          <p:spPr>
            <a:xfrm>
              <a:off x="719138" y="5805488"/>
              <a:ext cx="1322070"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如何快速识别客户需求与价值</a:t>
              </a:r>
            </a:p>
          </p:txBody>
        </p:sp>
        <p:sp>
          <p:nvSpPr>
            <p:cNvPr id="275" name="Ellipse 275"/>
            <p:cNvSpPr/>
            <p:nvPr/>
          </p:nvSpPr>
          <p:spPr>
            <a:xfrm>
              <a:off x="604838" y="6053138"/>
              <a:ext cx="47625" cy="47625"/>
            </a:xfrm>
            <a:prstGeom prst="ellipse">
              <a:avLst/>
            </a:prstGeom>
            <a:solidFill>
              <a:srgbClr val="A3422F"/>
            </a:solidFill>
            <a:ln>
              <a:noFill/>
            </a:ln>
          </p:spPr>
        </p:sp>
        <p:sp>
          <p:nvSpPr>
            <p:cNvPr id="276" name="TextBox 276"/>
            <p:cNvSpPr txBox="1"/>
            <p:nvPr/>
          </p:nvSpPr>
          <p:spPr>
            <a:xfrm>
              <a:off x="719138" y="6034088"/>
              <a:ext cx="1423035"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如何实现线下到线上的顺畅引导</a:t>
              </a:r>
            </a:p>
          </p:txBody>
        </p:sp>
        <p:sp>
          <p:nvSpPr>
            <p:cNvPr id="277" name="Rectangle 277"/>
            <p:cNvSpPr/>
            <p:nvPr/>
          </p:nvSpPr>
          <p:spPr>
            <a:xfrm>
              <a:off x="4210050" y="4972050"/>
              <a:ext cx="3733800" cy="1619250"/>
            </a:xfrm>
            <a:prstGeom prst="roundRect">
              <a:avLst>
                <a:gd name="adj" fmla="val 4706"/>
              </a:avLst>
            </a:prstGeom>
            <a:solidFill>
              <a:srgbClr val="FFFFFF"/>
            </a:solidFill>
            <a:ln w="14288">
              <a:solidFill>
                <a:srgbClr val="C2E0DA"/>
              </a:solidFill>
            </a:ln>
          </p:spPr>
        </p:sp>
        <p:sp>
          <p:nvSpPr>
            <p:cNvPr id="278" name="Ellipse 278"/>
            <p:cNvSpPr/>
            <p:nvPr/>
          </p:nvSpPr>
          <p:spPr>
            <a:xfrm>
              <a:off x="4362450" y="5105400"/>
              <a:ext cx="266700" cy="266700"/>
            </a:xfrm>
            <a:prstGeom prst="ellipse">
              <a:avLst/>
            </a:prstGeom>
            <a:solidFill>
              <a:srgbClr val="76200F"/>
            </a:solidFill>
            <a:ln>
              <a:noFill/>
            </a:ln>
          </p:spPr>
        </p:sp>
        <p:sp>
          <p:nvSpPr>
            <p:cNvPr id="279" name="TextBox 279"/>
            <p:cNvSpPr txBox="1"/>
            <p:nvPr/>
          </p:nvSpPr>
          <p:spPr>
            <a:xfrm>
              <a:off x="4376565" y="5181124"/>
              <a:ext cx="23847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02​</a:t>
              </a:r>
            </a:p>
          </p:txBody>
        </p:sp>
        <p:sp>
          <p:nvSpPr>
            <p:cNvPr id="280" name="TextBox 280"/>
            <p:cNvSpPr txBox="1"/>
            <p:nvPr/>
          </p:nvSpPr>
          <p:spPr>
            <a:xfrm>
              <a:off x="4700206" y="5177076"/>
              <a:ext cx="1505915" cy="198025"/>
            </a:xfrm>
            <a:prstGeom prst="rect">
              <a:avLst/>
            </a:prstGeom>
            <a:noFill/>
            <a:ln>
              <a:noFill/>
            </a:ln>
          </p:spPr>
          <p:txBody>
            <a:bodyPr wrap="none" lIns="0" tIns="0" rIns="0" bIns="0" anchor="t" anchorCtr="0">
              <a:spAutoFit/>
            </a:bodyPr>
            <a:lstStyle/>
            <a:p>
              <a:pPr algn="l"/>
              <a:r>
                <a:rPr lang="zh-CN" sz="1010" b="1" dirty="0">
                  <a:solidFill>
                    <a:srgbClr val="331712"/>
                  </a:solidFill>
                  <a:latin typeface="+mn-lt"/>
                  <a:ea typeface="+mn-ea"/>
                  <a:cs typeface="+mn-cs"/>
                </a:rPr>
                <a:t>线上如何承接并持续运营</a:t>
              </a:r>
            </a:p>
          </p:txBody>
        </p:sp>
        <p:sp>
          <p:nvSpPr>
            <p:cNvPr id="281" name="Ellipse 281"/>
            <p:cNvSpPr/>
            <p:nvPr/>
          </p:nvSpPr>
          <p:spPr>
            <a:xfrm>
              <a:off x="7086600" y="5124450"/>
              <a:ext cx="419100" cy="419100"/>
            </a:xfrm>
            <a:prstGeom prst="ellipse">
              <a:avLst/>
            </a:prstGeom>
            <a:solidFill>
              <a:srgbClr val="EFF8F6"/>
            </a:solidFill>
            <a:ln>
              <a:noFill/>
            </a:ln>
          </p:spPr>
        </p:sp>
        <p:grpSp>
          <p:nvGrpSpPr>
            <p:cNvPr id="285" name="Group 285"/>
            <p:cNvGrpSpPr/>
            <p:nvPr/>
          </p:nvGrpSpPr>
          <p:grpSpPr>
            <a:xfrm>
              <a:off x="7239000" y="5248275"/>
              <a:ext cx="114300" cy="171450"/>
              <a:chOff x="7239000" y="5248275"/>
              <a:chExt cx="114300" cy="171450"/>
            </a:xfrm>
          </p:grpSpPr>
          <p:sp>
            <p:nvSpPr>
              <p:cNvPr id="282" name="Freeform 282"/>
              <p:cNvSpPr/>
              <p:nvPr/>
            </p:nvSpPr>
            <p:spPr>
              <a:xfrm>
                <a:off x="7239000" y="524827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76200F"/>
                </a:solidFill>
              </a:ln>
            </p:spPr>
          </p:sp>
          <p:sp>
            <p:nvSpPr>
              <p:cNvPr id="283" name="Freeform 283"/>
              <p:cNvSpPr/>
              <p:nvPr/>
            </p:nvSpPr>
            <p:spPr>
              <a:xfrm>
                <a:off x="7286625" y="5257800"/>
                <a:ext cx="19050" cy="9525"/>
              </a:xfrm>
              <a:custGeom>
                <a:avLst/>
                <a:gdLst/>
                <a:ahLst/>
                <a:cxnLst/>
                <a:rect l="l" t="t" r="r" b="b"/>
                <a:pathLst>
                  <a:path w="19050" h="9525">
                    <a:moveTo>
                      <a:pt x="0" y="0"/>
                    </a:moveTo>
                    <a:lnTo>
                      <a:pt x="19050" y="0"/>
                    </a:lnTo>
                  </a:path>
                </a:pathLst>
              </a:custGeom>
              <a:noFill/>
              <a:ln w="19050">
                <a:solidFill>
                  <a:srgbClr val="76200F"/>
                </a:solidFill>
              </a:ln>
            </p:spPr>
          </p:sp>
          <p:sp>
            <p:nvSpPr>
              <p:cNvPr id="284" name="Freeform 284"/>
              <p:cNvSpPr/>
              <p:nvPr/>
            </p:nvSpPr>
            <p:spPr>
              <a:xfrm>
                <a:off x="7296150" y="5381625"/>
                <a:ext cx="9525" cy="9525"/>
              </a:xfrm>
              <a:custGeom>
                <a:avLst/>
                <a:gdLst/>
                <a:ahLst/>
                <a:cxnLst/>
                <a:rect l="l" t="t" r="r" b="b"/>
                <a:pathLst>
                  <a:path w="9525" h="9525">
                    <a:moveTo>
                      <a:pt x="0" y="0"/>
                    </a:moveTo>
                    <a:lnTo>
                      <a:pt x="0" y="95"/>
                    </a:lnTo>
                  </a:path>
                </a:pathLst>
              </a:custGeom>
              <a:noFill/>
              <a:ln w="19050">
                <a:solidFill>
                  <a:srgbClr val="76200F"/>
                </a:solidFill>
              </a:ln>
            </p:spPr>
          </p:sp>
        </p:grpSp>
        <p:sp>
          <p:nvSpPr>
            <p:cNvPr id="286" name="Ellipse 286"/>
            <p:cNvSpPr/>
            <p:nvPr/>
          </p:nvSpPr>
          <p:spPr>
            <a:xfrm>
              <a:off x="4471988" y="5595938"/>
              <a:ext cx="47625" cy="47625"/>
            </a:xfrm>
            <a:prstGeom prst="ellipse">
              <a:avLst/>
            </a:prstGeom>
            <a:solidFill>
              <a:srgbClr val="A3422F"/>
            </a:solidFill>
            <a:ln>
              <a:noFill/>
            </a:ln>
          </p:spPr>
        </p:sp>
        <p:sp>
          <p:nvSpPr>
            <p:cNvPr id="287" name="TextBox 287"/>
            <p:cNvSpPr txBox="1"/>
            <p:nvPr/>
          </p:nvSpPr>
          <p:spPr>
            <a:xfrm>
              <a:off x="4586288" y="5576888"/>
              <a:ext cx="1423035"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如何实现展位活动的线上化延续</a:t>
              </a:r>
            </a:p>
          </p:txBody>
        </p:sp>
        <p:sp>
          <p:nvSpPr>
            <p:cNvPr id="288" name="Ellipse 288"/>
            <p:cNvSpPr/>
            <p:nvPr/>
          </p:nvSpPr>
          <p:spPr>
            <a:xfrm>
              <a:off x="4471988" y="5824538"/>
              <a:ext cx="47625" cy="47625"/>
            </a:xfrm>
            <a:prstGeom prst="ellipse">
              <a:avLst/>
            </a:prstGeom>
            <a:solidFill>
              <a:srgbClr val="A3422F"/>
            </a:solidFill>
            <a:ln>
              <a:noFill/>
            </a:ln>
          </p:spPr>
        </p:sp>
        <p:sp>
          <p:nvSpPr>
            <p:cNvPr id="289" name="TextBox 289"/>
            <p:cNvSpPr txBox="1"/>
            <p:nvPr/>
          </p:nvSpPr>
          <p:spPr>
            <a:xfrm>
              <a:off x="4586288" y="5805488"/>
              <a:ext cx="1624965"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哪些运营机制能提升用户活跃与留存</a:t>
              </a:r>
            </a:p>
          </p:txBody>
        </p:sp>
        <p:sp>
          <p:nvSpPr>
            <p:cNvPr id="290" name="Ellipse 290"/>
            <p:cNvSpPr/>
            <p:nvPr/>
          </p:nvSpPr>
          <p:spPr>
            <a:xfrm>
              <a:off x="4471988" y="6053138"/>
              <a:ext cx="47625" cy="47625"/>
            </a:xfrm>
            <a:prstGeom prst="ellipse">
              <a:avLst/>
            </a:prstGeom>
            <a:solidFill>
              <a:srgbClr val="A3422F"/>
            </a:solidFill>
            <a:ln>
              <a:noFill/>
            </a:ln>
          </p:spPr>
        </p:sp>
        <p:sp>
          <p:nvSpPr>
            <p:cNvPr id="291" name="TextBox 291"/>
            <p:cNvSpPr txBox="1"/>
            <p:nvPr/>
          </p:nvSpPr>
          <p:spPr>
            <a:xfrm>
              <a:off x="4586288" y="6034088"/>
              <a:ext cx="1524000"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如何通过内容与权益实现长期运营</a:t>
              </a:r>
            </a:p>
          </p:txBody>
        </p:sp>
        <p:sp>
          <p:nvSpPr>
            <p:cNvPr id="292" name="Rectangle 292"/>
            <p:cNvSpPr/>
            <p:nvPr/>
          </p:nvSpPr>
          <p:spPr>
            <a:xfrm>
              <a:off x="8077200" y="4972050"/>
              <a:ext cx="3752850" cy="1619250"/>
            </a:xfrm>
            <a:prstGeom prst="roundRect">
              <a:avLst>
                <a:gd name="adj" fmla="val 4706"/>
              </a:avLst>
            </a:prstGeom>
            <a:solidFill>
              <a:srgbClr val="FFFFFF"/>
            </a:solidFill>
            <a:ln w="14288">
              <a:solidFill>
                <a:srgbClr val="C2E0DA"/>
              </a:solidFill>
            </a:ln>
          </p:spPr>
        </p:sp>
        <p:sp>
          <p:nvSpPr>
            <p:cNvPr id="293" name="Ellipse 293"/>
            <p:cNvSpPr/>
            <p:nvPr/>
          </p:nvSpPr>
          <p:spPr>
            <a:xfrm>
              <a:off x="8229600" y="5105400"/>
              <a:ext cx="266700" cy="266700"/>
            </a:xfrm>
            <a:prstGeom prst="ellipse">
              <a:avLst/>
            </a:prstGeom>
            <a:solidFill>
              <a:srgbClr val="76200F"/>
            </a:solidFill>
            <a:ln>
              <a:noFill/>
            </a:ln>
          </p:spPr>
        </p:sp>
        <p:sp>
          <p:nvSpPr>
            <p:cNvPr id="294" name="TextBox 294"/>
            <p:cNvSpPr txBox="1"/>
            <p:nvPr/>
          </p:nvSpPr>
          <p:spPr>
            <a:xfrm>
              <a:off x="8243715" y="5181124"/>
              <a:ext cx="23847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03​</a:t>
              </a:r>
            </a:p>
          </p:txBody>
        </p:sp>
        <p:sp>
          <p:nvSpPr>
            <p:cNvPr id="295" name="TextBox 295"/>
            <p:cNvSpPr txBox="1"/>
            <p:nvPr/>
          </p:nvSpPr>
          <p:spPr>
            <a:xfrm>
              <a:off x="8567356" y="5177076"/>
              <a:ext cx="2049780" cy="198025"/>
            </a:xfrm>
            <a:prstGeom prst="rect">
              <a:avLst/>
            </a:prstGeom>
            <a:noFill/>
            <a:ln>
              <a:noFill/>
            </a:ln>
          </p:spPr>
          <p:txBody>
            <a:bodyPr wrap="none" lIns="0" tIns="0" rIns="0" bIns="0" anchor="t" anchorCtr="0">
              <a:spAutoFit/>
            </a:bodyPr>
            <a:lstStyle/>
            <a:p>
              <a:pPr algn="l"/>
              <a:r>
                <a:rPr lang="zh-CN" sz="1010" b="1" dirty="0">
                  <a:solidFill>
                    <a:srgbClr val="331712"/>
                  </a:solidFill>
                  <a:latin typeface="+mn-lt"/>
                  <a:ea typeface="+mn-ea"/>
                  <a:cs typeface="+mn-cs"/>
                </a:rPr>
                <a:t>生态伙伴如何共同投入与分配价值</a:t>
              </a:r>
            </a:p>
          </p:txBody>
        </p:sp>
        <p:sp>
          <p:nvSpPr>
            <p:cNvPr id="296" name="Ellipse 296"/>
            <p:cNvSpPr/>
            <p:nvPr/>
          </p:nvSpPr>
          <p:spPr>
            <a:xfrm>
              <a:off x="11010900" y="5124450"/>
              <a:ext cx="419100" cy="419100"/>
            </a:xfrm>
            <a:prstGeom prst="ellipse">
              <a:avLst/>
            </a:prstGeom>
            <a:solidFill>
              <a:srgbClr val="EFF8F6"/>
            </a:solidFill>
            <a:ln>
              <a:noFill/>
            </a:ln>
          </p:spPr>
        </p:sp>
        <p:sp>
          <p:nvSpPr>
            <p:cNvPr id="297" name="Freeform 297"/>
            <p:cNvSpPr/>
            <p:nvPr/>
          </p:nvSpPr>
          <p:spPr>
            <a:xfrm>
              <a:off x="11134725" y="5248275"/>
              <a:ext cx="171450" cy="171450"/>
            </a:xfrm>
            <a:custGeom>
              <a:avLst/>
              <a:gdLst/>
              <a:ahLst/>
              <a:cxnLst/>
              <a:rect l="l" t="t" r="r" b="b"/>
              <a:pathLst>
                <a:path w="171450" h="171450">
                  <a:moveTo>
                    <a:pt x="9525" y="38100"/>
                  </a:moveTo>
                  <a:lnTo>
                    <a:pt x="38100" y="38100"/>
                  </a:lnTo>
                  <a:cubicBezTo>
                    <a:pt x="43361" y="38100"/>
                    <a:pt x="47625" y="33836"/>
                    <a:pt x="47625" y="28575"/>
                  </a:cubicBezTo>
                  <a:lnTo>
                    <a:pt x="47625" y="19050"/>
                  </a:lnTo>
                  <a:cubicBezTo>
                    <a:pt x="47625" y="8529"/>
                    <a:pt x="56154" y="0"/>
                    <a:pt x="66675" y="0"/>
                  </a:cubicBezTo>
                  <a:cubicBezTo>
                    <a:pt x="77196" y="0"/>
                    <a:pt x="85725" y="8529"/>
                    <a:pt x="85725" y="19050"/>
                  </a:cubicBezTo>
                  <a:lnTo>
                    <a:pt x="85725" y="28575"/>
                  </a:lnTo>
                  <a:cubicBezTo>
                    <a:pt x="85725" y="33836"/>
                    <a:pt x="89989" y="38100"/>
                    <a:pt x="95250" y="38100"/>
                  </a:cubicBezTo>
                  <a:lnTo>
                    <a:pt x="123825" y="38100"/>
                  </a:lnTo>
                  <a:cubicBezTo>
                    <a:pt x="129086" y="38100"/>
                    <a:pt x="133350" y="42364"/>
                    <a:pt x="133350" y="47625"/>
                  </a:cubicBezTo>
                  <a:lnTo>
                    <a:pt x="133350" y="76200"/>
                  </a:lnTo>
                  <a:cubicBezTo>
                    <a:pt x="133350" y="81461"/>
                    <a:pt x="137614" y="85725"/>
                    <a:pt x="142875" y="85725"/>
                  </a:cubicBezTo>
                  <a:lnTo>
                    <a:pt x="152400" y="85725"/>
                  </a:lnTo>
                  <a:cubicBezTo>
                    <a:pt x="162921" y="85725"/>
                    <a:pt x="171450" y="94254"/>
                    <a:pt x="171450" y="104775"/>
                  </a:cubicBezTo>
                  <a:cubicBezTo>
                    <a:pt x="171450" y="115296"/>
                    <a:pt x="162921" y="123825"/>
                    <a:pt x="152400" y="123825"/>
                  </a:cubicBezTo>
                  <a:lnTo>
                    <a:pt x="142875" y="123825"/>
                  </a:lnTo>
                  <a:cubicBezTo>
                    <a:pt x="137614" y="123825"/>
                    <a:pt x="133350" y="128089"/>
                    <a:pt x="133350" y="133350"/>
                  </a:cubicBezTo>
                  <a:lnTo>
                    <a:pt x="133350" y="161925"/>
                  </a:lnTo>
                  <a:cubicBezTo>
                    <a:pt x="133350" y="167186"/>
                    <a:pt x="129086" y="171450"/>
                    <a:pt x="123825" y="171450"/>
                  </a:cubicBezTo>
                  <a:lnTo>
                    <a:pt x="95250" y="171450"/>
                  </a:lnTo>
                  <a:cubicBezTo>
                    <a:pt x="89989" y="171450"/>
                    <a:pt x="85725" y="167186"/>
                    <a:pt x="85725" y="161925"/>
                  </a:cubicBezTo>
                  <a:lnTo>
                    <a:pt x="85725" y="152400"/>
                  </a:lnTo>
                  <a:cubicBezTo>
                    <a:pt x="85725" y="141879"/>
                    <a:pt x="77196" y="133350"/>
                    <a:pt x="66675" y="133350"/>
                  </a:cubicBezTo>
                  <a:cubicBezTo>
                    <a:pt x="56154" y="133350"/>
                    <a:pt x="47625" y="141879"/>
                    <a:pt x="47625" y="152400"/>
                  </a:cubicBezTo>
                  <a:lnTo>
                    <a:pt x="47625" y="161925"/>
                  </a:lnTo>
                  <a:cubicBezTo>
                    <a:pt x="47625" y="167186"/>
                    <a:pt x="43361" y="171450"/>
                    <a:pt x="38100" y="171450"/>
                  </a:cubicBezTo>
                  <a:lnTo>
                    <a:pt x="9525" y="171450"/>
                  </a:lnTo>
                  <a:cubicBezTo>
                    <a:pt x="4264" y="171450"/>
                    <a:pt x="0" y="167186"/>
                    <a:pt x="0" y="161925"/>
                  </a:cubicBezTo>
                  <a:lnTo>
                    <a:pt x="0" y="133350"/>
                  </a:lnTo>
                  <a:cubicBezTo>
                    <a:pt x="0" y="128089"/>
                    <a:pt x="4264" y="123825"/>
                    <a:pt x="9525" y="123825"/>
                  </a:cubicBezTo>
                  <a:lnTo>
                    <a:pt x="19050" y="123825"/>
                  </a:lnTo>
                  <a:cubicBezTo>
                    <a:pt x="29571" y="123825"/>
                    <a:pt x="38100" y="115296"/>
                    <a:pt x="38100" y="104775"/>
                  </a:cubicBezTo>
                  <a:cubicBezTo>
                    <a:pt x="38100" y="94254"/>
                    <a:pt x="29571" y="85725"/>
                    <a:pt x="19050" y="85725"/>
                  </a:cubicBezTo>
                  <a:lnTo>
                    <a:pt x="9525" y="85725"/>
                  </a:lnTo>
                  <a:cubicBezTo>
                    <a:pt x="4264" y="85725"/>
                    <a:pt x="0" y="81461"/>
                    <a:pt x="0" y="76200"/>
                  </a:cubicBezTo>
                  <a:lnTo>
                    <a:pt x="0" y="47625"/>
                  </a:lnTo>
                  <a:cubicBezTo>
                    <a:pt x="0" y="42364"/>
                    <a:pt x="4264" y="38100"/>
                    <a:pt x="9525" y="38100"/>
                  </a:cubicBezTo>
                </a:path>
              </a:pathLst>
            </a:custGeom>
            <a:noFill/>
            <a:ln w="19050">
              <a:solidFill>
                <a:srgbClr val="76200F"/>
              </a:solidFill>
            </a:ln>
          </p:spPr>
        </p:sp>
        <p:sp>
          <p:nvSpPr>
            <p:cNvPr id="298" name="Ellipse 298"/>
            <p:cNvSpPr/>
            <p:nvPr/>
          </p:nvSpPr>
          <p:spPr>
            <a:xfrm>
              <a:off x="8339138" y="5595938"/>
              <a:ext cx="47625" cy="47625"/>
            </a:xfrm>
            <a:prstGeom prst="ellipse">
              <a:avLst/>
            </a:prstGeom>
            <a:solidFill>
              <a:srgbClr val="A3422F"/>
            </a:solidFill>
            <a:ln>
              <a:noFill/>
            </a:ln>
          </p:spPr>
        </p:sp>
        <p:sp>
          <p:nvSpPr>
            <p:cNvPr id="299" name="TextBox 299"/>
            <p:cNvSpPr txBox="1"/>
            <p:nvPr/>
          </p:nvSpPr>
          <p:spPr>
            <a:xfrm>
              <a:off x="8453438" y="5576888"/>
              <a:ext cx="1322070"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如何选择与管理生态合作伙伴</a:t>
              </a:r>
            </a:p>
          </p:txBody>
        </p:sp>
        <p:sp>
          <p:nvSpPr>
            <p:cNvPr id="300" name="Ellipse 300"/>
            <p:cNvSpPr/>
            <p:nvPr/>
          </p:nvSpPr>
          <p:spPr>
            <a:xfrm>
              <a:off x="8339138" y="5824538"/>
              <a:ext cx="47625" cy="47625"/>
            </a:xfrm>
            <a:prstGeom prst="ellipse">
              <a:avLst/>
            </a:prstGeom>
            <a:solidFill>
              <a:srgbClr val="A3422F"/>
            </a:solidFill>
            <a:ln>
              <a:noFill/>
            </a:ln>
          </p:spPr>
        </p:sp>
        <p:sp>
          <p:nvSpPr>
            <p:cNvPr id="301" name="TextBox 301"/>
            <p:cNvSpPr txBox="1"/>
            <p:nvPr/>
          </p:nvSpPr>
          <p:spPr>
            <a:xfrm>
              <a:off x="8453438" y="5805488"/>
              <a:ext cx="1725930"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各方在资源、成本与权益上的投入方式</a:t>
              </a:r>
            </a:p>
          </p:txBody>
        </p:sp>
        <p:sp>
          <p:nvSpPr>
            <p:cNvPr id="302" name="Ellipse 302"/>
            <p:cNvSpPr/>
            <p:nvPr/>
          </p:nvSpPr>
          <p:spPr>
            <a:xfrm>
              <a:off x="8339138" y="6053138"/>
              <a:ext cx="47625" cy="47625"/>
            </a:xfrm>
            <a:prstGeom prst="ellipse">
              <a:avLst/>
            </a:prstGeom>
            <a:solidFill>
              <a:srgbClr val="A3422F"/>
            </a:solidFill>
            <a:ln>
              <a:noFill/>
            </a:ln>
          </p:spPr>
        </p:sp>
        <p:sp>
          <p:nvSpPr>
            <p:cNvPr id="303" name="TextBox 303"/>
            <p:cNvSpPr txBox="1"/>
            <p:nvPr/>
          </p:nvSpPr>
          <p:spPr>
            <a:xfrm>
              <a:off x="8453438" y="6034088"/>
              <a:ext cx="1624965"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如何衡量与分配生态合作的长期价值</a:t>
              </a:r>
            </a:p>
          </p:txBody>
        </p:sp>
      </p:gr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03​</a:t>
              </a:r>
            </a:p>
          </p:txBody>
        </p:sp>
        <p:sp>
          <p:nvSpPr>
            <p:cNvPr id="4" name="TextBox 4"/>
            <p:cNvSpPr txBox="1"/>
            <p:nvPr/>
          </p:nvSpPr>
          <p:spPr>
            <a:xfrm>
              <a:off x="904494" y="170498"/>
              <a:ext cx="5007483"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行业演进</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银行营销正在经历三次能力升级</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03​</a:t>
              </a:r>
            </a:p>
          </p:txBody>
        </p:sp>
      </p:grpSp>
      <p:grpSp>
        <p:nvGrpSpPr>
          <p:cNvPr id="51" name="stage-1"/>
          <p:cNvGrpSpPr/>
          <p:nvPr/>
        </p:nvGrpSpPr>
        <p:grpSpPr>
          <a:xfrm>
            <a:off x="342900" y="685800"/>
            <a:ext cx="2705100" cy="2647950"/>
            <a:chOff x="342900" y="685800"/>
            <a:chExt cx="2705100" cy="2647950"/>
          </a:xfrm>
        </p:grpSpPr>
        <p:sp>
          <p:nvSpPr>
            <p:cNvPr id="8" name="Rectangle 8"/>
            <p:cNvSpPr/>
            <p:nvPr/>
          </p:nvSpPr>
          <p:spPr>
            <a:xfrm>
              <a:off x="342900" y="685800"/>
              <a:ext cx="2705100" cy="2647950"/>
            </a:xfrm>
            <a:prstGeom prst="roundRect">
              <a:avLst>
                <a:gd name="adj" fmla="val 2878"/>
              </a:avLst>
            </a:prstGeom>
            <a:solidFill>
              <a:srgbClr val="F2FAF8"/>
            </a:solidFill>
            <a:ln w="9525">
              <a:solidFill>
                <a:srgbClr val="C2E0DA"/>
              </a:solidFill>
            </a:ln>
          </p:spPr>
        </p:sp>
        <p:sp>
          <p:nvSpPr>
            <p:cNvPr id="9" name="Rectangle 9"/>
            <p:cNvSpPr/>
            <p:nvPr/>
          </p:nvSpPr>
          <p:spPr>
            <a:xfrm>
              <a:off x="342900" y="685800"/>
              <a:ext cx="2705100" cy="323850"/>
            </a:xfrm>
            <a:prstGeom prst="roundRect">
              <a:avLst>
                <a:gd name="adj" fmla="val 23529"/>
              </a:avLst>
            </a:prstGeom>
            <a:solidFill>
              <a:srgbClr val="BF7C6F"/>
            </a:solidFill>
            <a:ln>
              <a:noFill/>
            </a:ln>
          </p:spPr>
        </p:sp>
        <p:sp>
          <p:nvSpPr>
            <p:cNvPr id="10" name="Rectangle 10"/>
            <p:cNvSpPr/>
            <p:nvPr/>
          </p:nvSpPr>
          <p:spPr>
            <a:xfrm>
              <a:off x="457200" y="752475"/>
              <a:ext cx="361950" cy="190500"/>
            </a:xfrm>
            <a:prstGeom prst="roundRect">
              <a:avLst>
                <a:gd name="adj" fmla="val 20000"/>
              </a:avLst>
            </a:prstGeom>
            <a:solidFill>
              <a:srgbClr val="FFFFFF"/>
            </a:solidFill>
            <a:ln>
              <a:noFill/>
            </a:ln>
          </p:spPr>
        </p:sp>
        <p:sp>
          <p:nvSpPr>
            <p:cNvPr id="11" name="TextBox 11"/>
            <p:cNvSpPr txBox="1"/>
            <p:nvPr/>
          </p:nvSpPr>
          <p:spPr>
            <a:xfrm>
              <a:off x="493475" y="798195"/>
              <a:ext cx="289400"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1.0​</a:t>
              </a:r>
            </a:p>
          </p:txBody>
        </p:sp>
        <p:sp>
          <p:nvSpPr>
            <p:cNvPr id="12" name="TextBox 12"/>
            <p:cNvSpPr txBox="1"/>
            <p:nvPr/>
          </p:nvSpPr>
          <p:spPr>
            <a:xfrm>
              <a:off x="908304" y="77533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产品摆摊</a:t>
              </a:r>
            </a:p>
          </p:txBody>
        </p:sp>
        <p:grpSp>
          <p:nvGrpSpPr>
            <p:cNvPr id="16" name="Group 16"/>
            <p:cNvGrpSpPr/>
            <p:nvPr/>
          </p:nvGrpSpPr>
          <p:grpSpPr>
            <a:xfrm>
              <a:off x="497681" y="1145381"/>
              <a:ext cx="128588" cy="128588"/>
              <a:chOff x="497681" y="1145381"/>
              <a:chExt cx="128588" cy="128588"/>
            </a:xfrm>
          </p:grpSpPr>
          <p:sp>
            <p:nvSpPr>
              <p:cNvPr id="13" name="Freeform 13"/>
              <p:cNvSpPr/>
              <p:nvPr/>
            </p:nvSpPr>
            <p:spPr>
              <a:xfrm>
                <a:off x="554831" y="12025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6200F"/>
                </a:solidFill>
              </a:ln>
            </p:spPr>
          </p:sp>
          <p:sp>
            <p:nvSpPr>
              <p:cNvPr id="14" name="Freeform 14"/>
              <p:cNvSpPr/>
              <p:nvPr/>
            </p:nvSpPr>
            <p:spPr>
              <a:xfrm>
                <a:off x="526256" y="117395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76200F"/>
                </a:solidFill>
              </a:ln>
            </p:spPr>
          </p:sp>
          <p:sp>
            <p:nvSpPr>
              <p:cNvPr id="15" name="Freeform 15"/>
              <p:cNvSpPr/>
              <p:nvPr/>
            </p:nvSpPr>
            <p:spPr>
              <a:xfrm>
                <a:off x="497681" y="11453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grpSp>
        <p:sp>
          <p:nvSpPr>
            <p:cNvPr id="17" name="TextBox 17"/>
            <p:cNvSpPr txBox="1"/>
            <p:nvPr/>
          </p:nvSpPr>
          <p:spPr>
            <a:xfrm>
              <a:off x="719138" y="11110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目标</a:t>
              </a:r>
            </a:p>
          </p:txBody>
        </p:sp>
        <p:sp>
          <p:nvSpPr>
            <p:cNvPr id="18" name="TextBox 18"/>
            <p:cNvSpPr txBox="1"/>
            <p:nvPr/>
          </p:nvSpPr>
          <p:spPr>
            <a:xfrm>
              <a:off x="719138" y="1266111"/>
              <a:ext cx="39184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销售产品</a:t>
              </a:r>
            </a:p>
          </p:txBody>
        </p:sp>
        <p:grpSp>
          <p:nvGrpSpPr>
            <p:cNvPr id="24" name="Group 24"/>
            <p:cNvGrpSpPr/>
            <p:nvPr/>
          </p:nvGrpSpPr>
          <p:grpSpPr>
            <a:xfrm>
              <a:off x="511969" y="1488281"/>
              <a:ext cx="100012" cy="128588"/>
              <a:chOff x="511969" y="1488281"/>
              <a:chExt cx="100012" cy="128588"/>
            </a:xfrm>
          </p:grpSpPr>
          <p:sp>
            <p:nvSpPr>
              <p:cNvPr id="19" name="Freeform 19"/>
              <p:cNvSpPr/>
              <p:nvPr/>
            </p:nvSpPr>
            <p:spPr>
              <a:xfrm>
                <a:off x="576262" y="14882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76200F"/>
                </a:solidFill>
              </a:ln>
            </p:spPr>
          </p:sp>
          <p:sp>
            <p:nvSpPr>
              <p:cNvPr id="20" name="Freeform 20"/>
              <p:cNvSpPr/>
              <p:nvPr/>
            </p:nvSpPr>
            <p:spPr>
              <a:xfrm>
                <a:off x="511969" y="14882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76200F"/>
                </a:solidFill>
              </a:ln>
            </p:spPr>
          </p:sp>
          <p:sp>
            <p:nvSpPr>
              <p:cNvPr id="21" name="Freeform 21"/>
              <p:cNvSpPr/>
              <p:nvPr/>
            </p:nvSpPr>
            <p:spPr>
              <a:xfrm>
                <a:off x="540544" y="1531144"/>
                <a:ext cx="9525" cy="9525"/>
              </a:xfrm>
              <a:custGeom>
                <a:avLst/>
                <a:gdLst/>
                <a:ahLst/>
                <a:cxnLst/>
                <a:rect l="l" t="t" r="r" b="b"/>
                <a:pathLst>
                  <a:path w="9525" h="9525">
                    <a:moveTo>
                      <a:pt x="0" y="0"/>
                    </a:moveTo>
                    <a:lnTo>
                      <a:pt x="7144" y="0"/>
                    </a:lnTo>
                  </a:path>
                </a:pathLst>
              </a:custGeom>
              <a:noFill/>
              <a:ln w="14288">
                <a:solidFill>
                  <a:srgbClr val="76200F"/>
                </a:solidFill>
              </a:ln>
            </p:spPr>
          </p:sp>
          <p:sp>
            <p:nvSpPr>
              <p:cNvPr id="22" name="Freeform 22"/>
              <p:cNvSpPr/>
              <p:nvPr/>
            </p:nvSpPr>
            <p:spPr>
              <a:xfrm>
                <a:off x="540544" y="1559719"/>
                <a:ext cx="42862" cy="9525"/>
              </a:xfrm>
              <a:custGeom>
                <a:avLst/>
                <a:gdLst/>
                <a:ahLst/>
                <a:cxnLst/>
                <a:rect l="l" t="t" r="r" b="b"/>
                <a:pathLst>
                  <a:path w="42862" h="9525">
                    <a:moveTo>
                      <a:pt x="0" y="0"/>
                    </a:moveTo>
                    <a:lnTo>
                      <a:pt x="42862" y="0"/>
                    </a:lnTo>
                  </a:path>
                </a:pathLst>
              </a:custGeom>
              <a:noFill/>
              <a:ln w="14288">
                <a:solidFill>
                  <a:srgbClr val="76200F"/>
                </a:solidFill>
              </a:ln>
            </p:spPr>
          </p:sp>
          <p:sp>
            <p:nvSpPr>
              <p:cNvPr id="23" name="Freeform 23"/>
              <p:cNvSpPr/>
              <p:nvPr/>
            </p:nvSpPr>
            <p:spPr>
              <a:xfrm>
                <a:off x="540544" y="1588294"/>
                <a:ext cx="42862" cy="9525"/>
              </a:xfrm>
              <a:custGeom>
                <a:avLst/>
                <a:gdLst/>
                <a:ahLst/>
                <a:cxnLst/>
                <a:rect l="l" t="t" r="r" b="b"/>
                <a:pathLst>
                  <a:path w="42862" h="9525">
                    <a:moveTo>
                      <a:pt x="0" y="0"/>
                    </a:moveTo>
                    <a:lnTo>
                      <a:pt x="42862" y="0"/>
                    </a:lnTo>
                  </a:path>
                </a:pathLst>
              </a:custGeom>
              <a:noFill/>
              <a:ln w="14288">
                <a:solidFill>
                  <a:srgbClr val="76200F"/>
                </a:solidFill>
              </a:ln>
            </p:spPr>
          </p:sp>
        </p:grpSp>
        <p:sp>
          <p:nvSpPr>
            <p:cNvPr id="25" name="TextBox 25"/>
            <p:cNvSpPr txBox="1"/>
            <p:nvPr/>
          </p:nvSpPr>
          <p:spPr>
            <a:xfrm>
              <a:off x="719138" y="14539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载体</a:t>
              </a:r>
            </a:p>
          </p:txBody>
        </p:sp>
        <p:sp>
          <p:nvSpPr>
            <p:cNvPr id="26" name="TextBox 26"/>
            <p:cNvSpPr txBox="1"/>
            <p:nvPr/>
          </p:nvSpPr>
          <p:spPr>
            <a:xfrm>
              <a:off x="719138" y="1609011"/>
              <a:ext cx="649912"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宣传单 / 赠品​</a:t>
              </a:r>
            </a:p>
          </p:txBody>
        </p:sp>
        <p:grpSp>
          <p:nvGrpSpPr>
            <p:cNvPr id="30" name="Group 30"/>
            <p:cNvGrpSpPr/>
            <p:nvPr/>
          </p:nvGrpSpPr>
          <p:grpSpPr>
            <a:xfrm>
              <a:off x="504825" y="1831181"/>
              <a:ext cx="114300" cy="128588"/>
              <a:chOff x="504825" y="1831181"/>
              <a:chExt cx="114300" cy="128588"/>
            </a:xfrm>
          </p:grpSpPr>
          <p:sp>
            <p:nvSpPr>
              <p:cNvPr id="27" name="Freeform 27"/>
              <p:cNvSpPr/>
              <p:nvPr/>
            </p:nvSpPr>
            <p:spPr>
              <a:xfrm>
                <a:off x="504825" y="183118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6200F"/>
                </a:solidFill>
              </a:ln>
            </p:spPr>
          </p:sp>
          <p:sp>
            <p:nvSpPr>
              <p:cNvPr id="28" name="Freeform 28"/>
              <p:cNvSpPr/>
              <p:nvPr/>
            </p:nvSpPr>
            <p:spPr>
              <a:xfrm>
                <a:off x="504825" y="185261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sp>
            <p:nvSpPr>
              <p:cNvPr id="29" name="Freeform 29"/>
              <p:cNvSpPr/>
              <p:nvPr/>
            </p:nvSpPr>
            <p:spPr>
              <a:xfrm>
                <a:off x="504825" y="189547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grpSp>
        <p:sp>
          <p:nvSpPr>
            <p:cNvPr id="31" name="TextBox 31"/>
            <p:cNvSpPr txBox="1"/>
            <p:nvPr/>
          </p:nvSpPr>
          <p:spPr>
            <a:xfrm>
              <a:off x="719138" y="17968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数据</a:t>
              </a:r>
            </a:p>
          </p:txBody>
        </p:sp>
        <p:sp>
          <p:nvSpPr>
            <p:cNvPr id="32" name="TextBox 32"/>
            <p:cNvSpPr txBox="1"/>
            <p:nvPr/>
          </p:nvSpPr>
          <p:spPr>
            <a:xfrm>
              <a:off x="719138" y="1951911"/>
              <a:ext cx="39184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手工登记</a:t>
              </a:r>
            </a:p>
          </p:txBody>
        </p:sp>
        <p:grpSp>
          <p:nvGrpSpPr>
            <p:cNvPr id="35" name="Group 35"/>
            <p:cNvGrpSpPr/>
            <p:nvPr/>
          </p:nvGrpSpPr>
          <p:grpSpPr>
            <a:xfrm>
              <a:off x="497681" y="2202656"/>
              <a:ext cx="128588" cy="71438"/>
              <a:chOff x="497681" y="2202656"/>
              <a:chExt cx="128588" cy="71438"/>
            </a:xfrm>
          </p:grpSpPr>
          <p:sp>
            <p:nvSpPr>
              <p:cNvPr id="33" name="Freeform 33"/>
              <p:cNvSpPr/>
              <p:nvPr/>
            </p:nvSpPr>
            <p:spPr>
              <a:xfrm>
                <a:off x="497681" y="22026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76200F"/>
                </a:solidFill>
              </a:ln>
            </p:spPr>
          </p:sp>
          <p:sp>
            <p:nvSpPr>
              <p:cNvPr id="34" name="Freeform 34"/>
              <p:cNvSpPr/>
              <p:nvPr/>
            </p:nvSpPr>
            <p:spPr>
              <a:xfrm>
                <a:off x="576262" y="2202656"/>
                <a:ext cx="50006" cy="50006"/>
              </a:xfrm>
              <a:custGeom>
                <a:avLst/>
                <a:gdLst/>
                <a:ahLst/>
                <a:cxnLst/>
                <a:rect l="l" t="t" r="r" b="b"/>
                <a:pathLst>
                  <a:path w="50006" h="50006">
                    <a:moveTo>
                      <a:pt x="0" y="0"/>
                    </a:moveTo>
                    <a:lnTo>
                      <a:pt x="50006" y="0"/>
                    </a:lnTo>
                    <a:lnTo>
                      <a:pt x="50006" y="50006"/>
                    </a:lnTo>
                  </a:path>
                </a:pathLst>
              </a:custGeom>
              <a:noFill/>
              <a:ln w="14288">
                <a:solidFill>
                  <a:srgbClr val="76200F"/>
                </a:solidFill>
              </a:ln>
            </p:spPr>
          </p:sp>
        </p:grpSp>
        <p:sp>
          <p:nvSpPr>
            <p:cNvPr id="36" name="TextBox 36"/>
            <p:cNvSpPr txBox="1"/>
            <p:nvPr/>
          </p:nvSpPr>
          <p:spPr>
            <a:xfrm>
              <a:off x="719138" y="21397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转化</a:t>
              </a:r>
            </a:p>
          </p:txBody>
        </p:sp>
        <p:sp>
          <p:nvSpPr>
            <p:cNvPr id="37" name="TextBox 37"/>
            <p:cNvSpPr txBox="1"/>
            <p:nvPr/>
          </p:nvSpPr>
          <p:spPr>
            <a:xfrm>
              <a:off x="719138" y="2294811"/>
              <a:ext cx="200685"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单次</a:t>
              </a:r>
            </a:p>
          </p:txBody>
        </p:sp>
        <p:sp>
          <p:nvSpPr>
            <p:cNvPr id="38" name="Rectangle 38"/>
            <p:cNvSpPr/>
            <p:nvPr/>
          </p:nvSpPr>
          <p:spPr>
            <a:xfrm>
              <a:off x="457200" y="2533650"/>
              <a:ext cx="2476500" cy="323850"/>
            </a:xfrm>
            <a:prstGeom prst="roundRect">
              <a:avLst>
                <a:gd name="adj" fmla="val 17647"/>
              </a:avLst>
            </a:prstGeom>
            <a:solidFill>
              <a:srgbClr val="E4F1EE"/>
            </a:solidFill>
            <a:ln>
              <a:noFill/>
            </a:ln>
          </p:spPr>
        </p:sp>
        <p:sp>
          <p:nvSpPr>
            <p:cNvPr id="39" name="TextBox 39"/>
            <p:cNvSpPr txBox="1"/>
            <p:nvPr/>
          </p:nvSpPr>
          <p:spPr>
            <a:xfrm>
              <a:off x="937997" y="2648664"/>
              <a:ext cx="1514906" cy="154781"/>
            </a:xfrm>
            <a:prstGeom prst="rect">
              <a:avLst/>
            </a:prstGeom>
            <a:noFill/>
            <a:ln>
              <a:noFill/>
            </a:ln>
          </p:spPr>
          <p:txBody>
            <a:bodyPr wrap="none" lIns="0" tIns="0" rIns="0" bIns="0" anchor="t" anchorCtr="0">
              <a:spAutoFit/>
            </a:bodyPr>
            <a:lstStyle/>
            <a:p>
              <a:pPr algn="ctr"/>
              <a:r>
                <a:rPr lang="zh-CN" sz="790" b="1" dirty="0">
                  <a:solidFill>
                    <a:srgbClr val="5D190B"/>
                  </a:solidFill>
                  <a:latin typeface="+mn-lt"/>
                  <a:ea typeface="+mn-ea"/>
                  <a:cs typeface="+mn-cs"/>
                </a:rPr>
                <a:t>“以产品为中心，线下单点触达”</a:t>
              </a:r>
            </a:p>
          </p:txBody>
        </p:sp>
        <p:sp>
          <p:nvSpPr>
            <p:cNvPr id="40" name="Rectangle 40"/>
            <p:cNvSpPr/>
            <p:nvPr/>
          </p:nvSpPr>
          <p:spPr>
            <a:xfrm>
              <a:off x="571500" y="2971800"/>
              <a:ext cx="2247900" cy="247650"/>
            </a:xfrm>
            <a:prstGeom prst="roundRect">
              <a:avLst>
                <a:gd name="adj" fmla="val 15385"/>
              </a:avLst>
            </a:prstGeom>
            <a:solidFill>
              <a:srgbClr val="FFFFFF"/>
            </a:solidFill>
            <a:ln w="9525">
              <a:solidFill>
                <a:srgbClr val="C2E0DA"/>
              </a:solidFill>
            </a:ln>
          </p:spPr>
        </p:sp>
        <p:grpSp>
          <p:nvGrpSpPr>
            <p:cNvPr id="49" name="Group 49"/>
            <p:cNvGrpSpPr/>
            <p:nvPr/>
          </p:nvGrpSpPr>
          <p:grpSpPr>
            <a:xfrm>
              <a:off x="685800" y="3038475"/>
              <a:ext cx="117475" cy="123825"/>
              <a:chOff x="685800" y="3038475"/>
              <a:chExt cx="117475" cy="123825"/>
            </a:xfrm>
          </p:grpSpPr>
          <p:sp>
            <p:nvSpPr>
              <p:cNvPr id="41" name="Freeform 41"/>
              <p:cNvSpPr/>
              <p:nvPr/>
            </p:nvSpPr>
            <p:spPr>
              <a:xfrm>
                <a:off x="685800" y="3152775"/>
                <a:ext cx="114300" cy="9525"/>
              </a:xfrm>
              <a:custGeom>
                <a:avLst/>
                <a:gdLst/>
                <a:ahLst/>
                <a:cxnLst/>
                <a:rect l="l" t="t" r="r" b="b"/>
                <a:pathLst>
                  <a:path w="114300" h="9525">
                    <a:moveTo>
                      <a:pt x="0" y="0"/>
                    </a:moveTo>
                    <a:lnTo>
                      <a:pt x="114300" y="0"/>
                    </a:lnTo>
                  </a:path>
                </a:pathLst>
              </a:custGeom>
              <a:noFill/>
              <a:ln w="12700">
                <a:solidFill>
                  <a:srgbClr val="A3422F"/>
                </a:solidFill>
              </a:ln>
            </p:spPr>
          </p:sp>
          <p:sp>
            <p:nvSpPr>
              <p:cNvPr id="42" name="Freeform 42"/>
              <p:cNvSpPr/>
              <p:nvPr/>
            </p:nvSpPr>
            <p:spPr>
              <a:xfrm>
                <a:off x="685800" y="3082925"/>
                <a:ext cx="114300" cy="9525"/>
              </a:xfrm>
              <a:custGeom>
                <a:avLst/>
                <a:gdLst/>
                <a:ahLst/>
                <a:cxnLst/>
                <a:rect l="l" t="t" r="r" b="b"/>
                <a:pathLst>
                  <a:path w="114300" h="9525">
                    <a:moveTo>
                      <a:pt x="0" y="0"/>
                    </a:moveTo>
                    <a:lnTo>
                      <a:pt x="114300" y="0"/>
                    </a:lnTo>
                  </a:path>
                </a:pathLst>
              </a:custGeom>
              <a:noFill/>
              <a:ln w="12700">
                <a:solidFill>
                  <a:srgbClr val="A3422F"/>
                </a:solidFill>
              </a:ln>
            </p:spPr>
          </p:sp>
          <p:sp>
            <p:nvSpPr>
              <p:cNvPr id="43" name="Freeform 43"/>
              <p:cNvSpPr/>
              <p:nvPr/>
            </p:nvSpPr>
            <p:spPr>
              <a:xfrm>
                <a:off x="698500" y="3038475"/>
                <a:ext cx="88900" cy="19050"/>
              </a:xfrm>
              <a:custGeom>
                <a:avLst/>
                <a:gdLst/>
                <a:ahLst/>
                <a:cxnLst/>
                <a:rect l="l" t="t" r="r" b="b"/>
                <a:pathLst>
                  <a:path w="88900" h="19050">
                    <a:moveTo>
                      <a:pt x="0" y="19050"/>
                    </a:moveTo>
                    <a:lnTo>
                      <a:pt x="44450" y="0"/>
                    </a:lnTo>
                    <a:lnTo>
                      <a:pt x="88900" y="19050"/>
                    </a:lnTo>
                  </a:path>
                </a:pathLst>
              </a:custGeom>
              <a:noFill/>
              <a:ln w="12700">
                <a:solidFill>
                  <a:srgbClr val="A3422F"/>
                </a:solidFill>
              </a:ln>
            </p:spPr>
          </p:sp>
          <p:sp>
            <p:nvSpPr>
              <p:cNvPr id="44" name="Freeform 44"/>
              <p:cNvSpPr/>
              <p:nvPr/>
            </p:nvSpPr>
            <p:spPr>
              <a:xfrm>
                <a:off x="692150" y="3082925"/>
                <a:ext cx="9525" cy="69850"/>
              </a:xfrm>
              <a:custGeom>
                <a:avLst/>
                <a:gdLst/>
                <a:ahLst/>
                <a:cxnLst/>
                <a:rect l="l" t="t" r="r" b="b"/>
                <a:pathLst>
                  <a:path w="9525" h="69850">
                    <a:moveTo>
                      <a:pt x="0" y="0"/>
                    </a:moveTo>
                    <a:lnTo>
                      <a:pt x="0" y="69850"/>
                    </a:lnTo>
                  </a:path>
                </a:pathLst>
              </a:custGeom>
              <a:noFill/>
              <a:ln w="12700">
                <a:solidFill>
                  <a:srgbClr val="A3422F"/>
                </a:solidFill>
              </a:ln>
            </p:spPr>
          </p:sp>
          <p:sp>
            <p:nvSpPr>
              <p:cNvPr id="45" name="Freeform 45"/>
              <p:cNvSpPr/>
              <p:nvPr/>
            </p:nvSpPr>
            <p:spPr>
              <a:xfrm>
                <a:off x="793750" y="3082925"/>
                <a:ext cx="9525" cy="69850"/>
              </a:xfrm>
              <a:custGeom>
                <a:avLst/>
                <a:gdLst/>
                <a:ahLst/>
                <a:cxnLst/>
                <a:rect l="l" t="t" r="r" b="b"/>
                <a:pathLst>
                  <a:path w="9525" h="69850">
                    <a:moveTo>
                      <a:pt x="0" y="0"/>
                    </a:moveTo>
                    <a:lnTo>
                      <a:pt x="0" y="69850"/>
                    </a:lnTo>
                  </a:path>
                </a:pathLst>
              </a:custGeom>
              <a:noFill/>
              <a:ln w="12700">
                <a:solidFill>
                  <a:srgbClr val="A3422F"/>
                </a:solidFill>
              </a:ln>
            </p:spPr>
          </p:sp>
          <p:sp>
            <p:nvSpPr>
              <p:cNvPr id="46" name="Freeform 46"/>
              <p:cNvSpPr/>
              <p:nvPr/>
            </p:nvSpPr>
            <p:spPr>
              <a:xfrm>
                <a:off x="717550" y="3108325"/>
                <a:ext cx="9525" cy="19050"/>
              </a:xfrm>
              <a:custGeom>
                <a:avLst/>
                <a:gdLst/>
                <a:ahLst/>
                <a:cxnLst/>
                <a:rect l="l" t="t" r="r" b="b"/>
                <a:pathLst>
                  <a:path w="9525" h="19050">
                    <a:moveTo>
                      <a:pt x="0" y="0"/>
                    </a:moveTo>
                    <a:lnTo>
                      <a:pt x="0" y="19050"/>
                    </a:lnTo>
                  </a:path>
                </a:pathLst>
              </a:custGeom>
              <a:noFill/>
              <a:ln w="12700">
                <a:solidFill>
                  <a:srgbClr val="A3422F"/>
                </a:solidFill>
              </a:ln>
            </p:spPr>
          </p:sp>
          <p:sp>
            <p:nvSpPr>
              <p:cNvPr id="47" name="Freeform 47"/>
              <p:cNvSpPr/>
              <p:nvPr/>
            </p:nvSpPr>
            <p:spPr>
              <a:xfrm>
                <a:off x="742950" y="3108325"/>
                <a:ext cx="9525" cy="19050"/>
              </a:xfrm>
              <a:custGeom>
                <a:avLst/>
                <a:gdLst/>
                <a:ahLst/>
                <a:cxnLst/>
                <a:rect l="l" t="t" r="r" b="b"/>
                <a:pathLst>
                  <a:path w="9525" h="19050">
                    <a:moveTo>
                      <a:pt x="0" y="0"/>
                    </a:moveTo>
                    <a:lnTo>
                      <a:pt x="0" y="19050"/>
                    </a:lnTo>
                  </a:path>
                </a:pathLst>
              </a:custGeom>
              <a:noFill/>
              <a:ln w="12700">
                <a:solidFill>
                  <a:srgbClr val="A3422F"/>
                </a:solidFill>
              </a:ln>
            </p:spPr>
          </p:sp>
          <p:sp>
            <p:nvSpPr>
              <p:cNvPr id="48" name="Freeform 48"/>
              <p:cNvSpPr/>
              <p:nvPr/>
            </p:nvSpPr>
            <p:spPr>
              <a:xfrm>
                <a:off x="768350" y="3108325"/>
                <a:ext cx="9525" cy="19050"/>
              </a:xfrm>
              <a:custGeom>
                <a:avLst/>
                <a:gdLst/>
                <a:ahLst/>
                <a:cxnLst/>
                <a:rect l="l" t="t" r="r" b="b"/>
                <a:pathLst>
                  <a:path w="9525" h="19050">
                    <a:moveTo>
                      <a:pt x="0" y="0"/>
                    </a:moveTo>
                    <a:lnTo>
                      <a:pt x="0" y="19050"/>
                    </a:lnTo>
                  </a:path>
                </a:pathLst>
              </a:custGeom>
              <a:noFill/>
              <a:ln w="12700">
                <a:solidFill>
                  <a:srgbClr val="A3422F"/>
                </a:solidFill>
              </a:ln>
            </p:spPr>
          </p:sp>
        </p:grpSp>
        <p:sp>
          <p:nvSpPr>
            <p:cNvPr id="50" name="TextBox 50"/>
            <p:cNvSpPr txBox="1"/>
            <p:nvPr/>
          </p:nvSpPr>
          <p:spPr>
            <a:xfrm>
              <a:off x="871538" y="3056811"/>
              <a:ext cx="1572261"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银行金融服务 · 存款/理财/信用卡​​</a:t>
              </a:r>
            </a:p>
          </p:txBody>
        </p:sp>
      </p:grpSp>
      <p:grpSp>
        <p:nvGrpSpPr>
          <p:cNvPr id="56" name="arrow-gap-1"/>
          <p:cNvGrpSpPr/>
          <p:nvPr/>
        </p:nvGrpSpPr>
        <p:grpSpPr>
          <a:xfrm>
            <a:off x="3067050" y="1485186"/>
            <a:ext cx="342900" cy="1150144"/>
            <a:chOff x="3067050" y="1485186"/>
            <a:chExt cx="342900" cy="1150144"/>
          </a:xfrm>
        </p:grpSpPr>
        <p:sp>
          <p:nvSpPr>
            <p:cNvPr id="52" name="Freeform 52"/>
            <p:cNvSpPr/>
            <p:nvPr/>
          </p:nvSpPr>
          <p:spPr>
            <a:xfrm>
              <a:off x="3067050" y="1943100"/>
              <a:ext cx="342900" cy="419100"/>
            </a:xfrm>
            <a:prstGeom prst="rightArrow">
              <a:avLst/>
            </a:prstGeom>
            <a:solidFill>
              <a:srgbClr val="A3422F"/>
            </a:solidFill>
            <a:ln>
              <a:noFill/>
            </a:ln>
          </p:spPr>
        </p:sp>
        <p:sp>
          <p:nvSpPr>
            <p:cNvPr id="53" name="TextBox 53"/>
            <p:cNvSpPr txBox="1"/>
            <p:nvPr/>
          </p:nvSpPr>
          <p:spPr>
            <a:xfrm>
              <a:off x="3090367" y="1485186"/>
              <a:ext cx="296266" cy="140494"/>
            </a:xfrm>
            <a:prstGeom prst="rect">
              <a:avLst/>
            </a:prstGeom>
            <a:noFill/>
            <a:ln>
              <a:noFill/>
            </a:ln>
          </p:spPr>
          <p:txBody>
            <a:bodyPr wrap="none" lIns="0" tIns="0" rIns="0" bIns="0" anchor="t" anchorCtr="0">
              <a:spAutoFit/>
            </a:bodyPr>
            <a:lstStyle/>
            <a:p>
              <a:pPr algn="ctr"/>
              <a:r>
                <a:rPr lang="zh-CN" sz="710" b="1" dirty="0">
                  <a:solidFill>
                    <a:srgbClr val="5D190B"/>
                  </a:solidFill>
                  <a:latin typeface="+mn-lt"/>
                  <a:ea typeface="+mn-ea"/>
                  <a:cs typeface="+mn-cs"/>
                </a:rPr>
                <a:t>从产品</a:t>
              </a:r>
            </a:p>
          </p:txBody>
        </p:sp>
        <p:sp>
          <p:nvSpPr>
            <p:cNvPr id="54" name="TextBox 54"/>
            <p:cNvSpPr txBox="1"/>
            <p:nvPr/>
          </p:nvSpPr>
          <p:spPr>
            <a:xfrm>
              <a:off x="3090367" y="1618536"/>
              <a:ext cx="296266" cy="140494"/>
            </a:xfrm>
            <a:prstGeom prst="rect">
              <a:avLst/>
            </a:prstGeom>
            <a:noFill/>
            <a:ln>
              <a:noFill/>
            </a:ln>
          </p:spPr>
          <p:txBody>
            <a:bodyPr wrap="none" lIns="0" tIns="0" rIns="0" bIns="0" anchor="t" anchorCtr="0">
              <a:spAutoFit/>
            </a:bodyPr>
            <a:lstStyle/>
            <a:p>
              <a:pPr algn="ctr"/>
              <a:r>
                <a:rPr lang="zh-CN" sz="710" b="1" dirty="0">
                  <a:solidFill>
                    <a:srgbClr val="5D190B"/>
                  </a:solidFill>
                  <a:latin typeface="+mn-lt"/>
                  <a:ea typeface="+mn-ea"/>
                  <a:cs typeface="+mn-cs"/>
                </a:rPr>
                <a:t>到获客</a:t>
              </a:r>
            </a:p>
          </p:txBody>
        </p:sp>
        <p:sp>
          <p:nvSpPr>
            <p:cNvPr id="55" name="TextBox 55"/>
            <p:cNvSpPr txBox="1"/>
            <p:nvPr/>
          </p:nvSpPr>
          <p:spPr>
            <a:xfrm>
              <a:off x="3090367" y="2494836"/>
              <a:ext cx="296266" cy="140494"/>
            </a:xfrm>
            <a:prstGeom prst="rect">
              <a:avLst/>
            </a:prstGeom>
            <a:noFill/>
            <a:ln>
              <a:noFill/>
            </a:ln>
          </p:spPr>
          <p:txBody>
            <a:bodyPr wrap="none" lIns="0" tIns="0" rIns="0" bIns="0" anchor="t" anchorCtr="0">
              <a:spAutoFit/>
            </a:bodyPr>
            <a:lstStyle/>
            <a:p>
              <a:pPr algn="ctr"/>
              <a:r>
                <a:rPr lang="zh-CN" sz="710" b="1" dirty="0">
                  <a:solidFill>
                    <a:srgbClr val="5D190B"/>
                  </a:solidFill>
                  <a:latin typeface="+mn-lt"/>
                  <a:ea typeface="+mn-ea"/>
                  <a:cs typeface="+mn-cs"/>
                </a:rPr>
                <a:t>获客户</a:t>
              </a:r>
            </a:p>
          </p:txBody>
        </p:sp>
      </p:grpSp>
      <p:grpSp>
        <p:nvGrpSpPr>
          <p:cNvPr id="92" name="stage-2"/>
          <p:cNvGrpSpPr/>
          <p:nvPr/>
        </p:nvGrpSpPr>
        <p:grpSpPr>
          <a:xfrm>
            <a:off x="3429000" y="685800"/>
            <a:ext cx="2705100" cy="2647950"/>
            <a:chOff x="3429000" y="685800"/>
            <a:chExt cx="2705100" cy="2647950"/>
          </a:xfrm>
        </p:grpSpPr>
        <p:sp>
          <p:nvSpPr>
            <p:cNvPr id="57" name="Rectangle 57"/>
            <p:cNvSpPr/>
            <p:nvPr/>
          </p:nvSpPr>
          <p:spPr>
            <a:xfrm>
              <a:off x="3429000" y="685800"/>
              <a:ext cx="2705100" cy="2647950"/>
            </a:xfrm>
            <a:prstGeom prst="roundRect">
              <a:avLst>
                <a:gd name="adj" fmla="val 2878"/>
              </a:avLst>
            </a:prstGeom>
            <a:solidFill>
              <a:srgbClr val="EAF6F3"/>
            </a:solidFill>
            <a:ln w="9525">
              <a:solidFill>
                <a:srgbClr val="C2E0DA"/>
              </a:solidFill>
            </a:ln>
          </p:spPr>
        </p:sp>
        <p:sp>
          <p:nvSpPr>
            <p:cNvPr id="58" name="Rectangle 58"/>
            <p:cNvSpPr/>
            <p:nvPr/>
          </p:nvSpPr>
          <p:spPr>
            <a:xfrm>
              <a:off x="3429000" y="685800"/>
              <a:ext cx="2705100" cy="323850"/>
            </a:xfrm>
            <a:prstGeom prst="roundRect">
              <a:avLst>
                <a:gd name="adj" fmla="val 23529"/>
              </a:avLst>
            </a:prstGeom>
            <a:solidFill>
              <a:srgbClr val="A3422F"/>
            </a:solidFill>
            <a:ln>
              <a:noFill/>
            </a:ln>
          </p:spPr>
        </p:sp>
        <p:sp>
          <p:nvSpPr>
            <p:cNvPr id="59" name="Rectangle 59"/>
            <p:cNvSpPr/>
            <p:nvPr/>
          </p:nvSpPr>
          <p:spPr>
            <a:xfrm>
              <a:off x="3543300" y="752475"/>
              <a:ext cx="361950" cy="190500"/>
            </a:xfrm>
            <a:prstGeom prst="roundRect">
              <a:avLst>
                <a:gd name="adj" fmla="val 20000"/>
              </a:avLst>
            </a:prstGeom>
            <a:solidFill>
              <a:srgbClr val="FFFFFF"/>
            </a:solidFill>
            <a:ln>
              <a:noFill/>
            </a:ln>
          </p:spPr>
        </p:sp>
        <p:sp>
          <p:nvSpPr>
            <p:cNvPr id="60" name="TextBox 60"/>
            <p:cNvSpPr txBox="1"/>
            <p:nvPr/>
          </p:nvSpPr>
          <p:spPr>
            <a:xfrm>
              <a:off x="3579575" y="798195"/>
              <a:ext cx="289400"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2.0​</a:t>
              </a:r>
            </a:p>
          </p:txBody>
        </p:sp>
        <p:sp>
          <p:nvSpPr>
            <p:cNvPr id="61" name="TextBox 61"/>
            <p:cNvSpPr txBox="1"/>
            <p:nvPr/>
          </p:nvSpPr>
          <p:spPr>
            <a:xfrm>
              <a:off x="3994404" y="77533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场景获客</a:t>
              </a:r>
            </a:p>
          </p:txBody>
        </p:sp>
        <p:grpSp>
          <p:nvGrpSpPr>
            <p:cNvPr id="65" name="Group 65"/>
            <p:cNvGrpSpPr/>
            <p:nvPr/>
          </p:nvGrpSpPr>
          <p:grpSpPr>
            <a:xfrm>
              <a:off x="3583781" y="1145381"/>
              <a:ext cx="128588" cy="128588"/>
              <a:chOff x="3583781" y="1145381"/>
              <a:chExt cx="128588" cy="128588"/>
            </a:xfrm>
          </p:grpSpPr>
          <p:sp>
            <p:nvSpPr>
              <p:cNvPr id="62" name="Freeform 62"/>
              <p:cNvSpPr/>
              <p:nvPr/>
            </p:nvSpPr>
            <p:spPr>
              <a:xfrm>
                <a:off x="3640931" y="12025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6200F"/>
                </a:solidFill>
              </a:ln>
            </p:spPr>
          </p:sp>
          <p:sp>
            <p:nvSpPr>
              <p:cNvPr id="63" name="Freeform 63"/>
              <p:cNvSpPr/>
              <p:nvPr/>
            </p:nvSpPr>
            <p:spPr>
              <a:xfrm>
                <a:off x="3612356" y="117395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76200F"/>
                </a:solidFill>
              </a:ln>
            </p:spPr>
          </p:sp>
          <p:sp>
            <p:nvSpPr>
              <p:cNvPr id="64" name="Freeform 64"/>
              <p:cNvSpPr/>
              <p:nvPr/>
            </p:nvSpPr>
            <p:spPr>
              <a:xfrm>
                <a:off x="3583781" y="11453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grpSp>
        <p:sp>
          <p:nvSpPr>
            <p:cNvPr id="66" name="TextBox 66"/>
            <p:cNvSpPr txBox="1"/>
            <p:nvPr/>
          </p:nvSpPr>
          <p:spPr>
            <a:xfrm>
              <a:off x="3805238" y="11110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目标</a:t>
              </a:r>
            </a:p>
          </p:txBody>
        </p:sp>
        <p:sp>
          <p:nvSpPr>
            <p:cNvPr id="67" name="TextBox 67"/>
            <p:cNvSpPr txBox="1"/>
            <p:nvPr/>
          </p:nvSpPr>
          <p:spPr>
            <a:xfrm>
              <a:off x="3805238" y="1266111"/>
              <a:ext cx="39184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拉新激活</a:t>
              </a:r>
            </a:p>
          </p:txBody>
        </p:sp>
        <p:grpSp>
          <p:nvGrpSpPr>
            <p:cNvPr id="71" name="Group 71"/>
            <p:cNvGrpSpPr/>
            <p:nvPr/>
          </p:nvGrpSpPr>
          <p:grpSpPr>
            <a:xfrm>
              <a:off x="3605212" y="1488281"/>
              <a:ext cx="85725" cy="128588"/>
              <a:chOff x="3605212" y="1488281"/>
              <a:chExt cx="85725" cy="128588"/>
            </a:xfrm>
          </p:grpSpPr>
          <p:sp>
            <p:nvSpPr>
              <p:cNvPr id="68" name="Freeform 68"/>
              <p:cNvSpPr/>
              <p:nvPr/>
            </p:nvSpPr>
            <p:spPr>
              <a:xfrm>
                <a:off x="3605212" y="1488281"/>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76200F"/>
                </a:solidFill>
              </a:ln>
            </p:spPr>
          </p:sp>
          <p:sp>
            <p:nvSpPr>
              <p:cNvPr id="69" name="Freeform 69"/>
              <p:cNvSpPr/>
              <p:nvPr/>
            </p:nvSpPr>
            <p:spPr>
              <a:xfrm>
                <a:off x="3640931" y="1495425"/>
                <a:ext cx="14288" cy="9525"/>
              </a:xfrm>
              <a:custGeom>
                <a:avLst/>
                <a:gdLst/>
                <a:ahLst/>
                <a:cxnLst/>
                <a:rect l="l" t="t" r="r" b="b"/>
                <a:pathLst>
                  <a:path w="14288" h="9525">
                    <a:moveTo>
                      <a:pt x="0" y="0"/>
                    </a:moveTo>
                    <a:lnTo>
                      <a:pt x="14288" y="0"/>
                    </a:lnTo>
                  </a:path>
                </a:pathLst>
              </a:custGeom>
              <a:noFill/>
              <a:ln w="14288">
                <a:solidFill>
                  <a:srgbClr val="76200F"/>
                </a:solidFill>
              </a:ln>
            </p:spPr>
          </p:sp>
          <p:sp>
            <p:nvSpPr>
              <p:cNvPr id="70" name="Freeform 70"/>
              <p:cNvSpPr/>
              <p:nvPr/>
            </p:nvSpPr>
            <p:spPr>
              <a:xfrm>
                <a:off x="3648075" y="1588294"/>
                <a:ext cx="9525" cy="9525"/>
              </a:xfrm>
              <a:custGeom>
                <a:avLst/>
                <a:gdLst/>
                <a:ahLst/>
                <a:cxnLst/>
                <a:rect l="l" t="t" r="r" b="b"/>
                <a:pathLst>
                  <a:path w="9525" h="9525">
                    <a:moveTo>
                      <a:pt x="0" y="0"/>
                    </a:moveTo>
                    <a:lnTo>
                      <a:pt x="0" y="71"/>
                    </a:lnTo>
                  </a:path>
                </a:pathLst>
              </a:custGeom>
              <a:noFill/>
              <a:ln w="14288">
                <a:solidFill>
                  <a:srgbClr val="76200F"/>
                </a:solidFill>
              </a:ln>
            </p:spPr>
          </p:sp>
        </p:grpSp>
        <p:sp>
          <p:nvSpPr>
            <p:cNvPr id="72" name="TextBox 72"/>
            <p:cNvSpPr txBox="1"/>
            <p:nvPr/>
          </p:nvSpPr>
          <p:spPr>
            <a:xfrm>
              <a:off x="3805238" y="14539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载体</a:t>
              </a:r>
            </a:p>
          </p:txBody>
        </p:sp>
        <p:sp>
          <p:nvSpPr>
            <p:cNvPr id="73" name="TextBox 73"/>
            <p:cNvSpPr txBox="1"/>
            <p:nvPr/>
          </p:nvSpPr>
          <p:spPr>
            <a:xfrm>
              <a:off x="3805238" y="1609011"/>
              <a:ext cx="841073"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互动设施 + 二维码​</a:t>
              </a:r>
            </a:p>
          </p:txBody>
        </p:sp>
        <p:grpSp>
          <p:nvGrpSpPr>
            <p:cNvPr id="77" name="Group 77"/>
            <p:cNvGrpSpPr/>
            <p:nvPr/>
          </p:nvGrpSpPr>
          <p:grpSpPr>
            <a:xfrm>
              <a:off x="3590925" y="1831181"/>
              <a:ext cx="114300" cy="128588"/>
              <a:chOff x="3590925" y="1831181"/>
              <a:chExt cx="114300" cy="128588"/>
            </a:xfrm>
          </p:grpSpPr>
          <p:sp>
            <p:nvSpPr>
              <p:cNvPr id="74" name="Freeform 74"/>
              <p:cNvSpPr/>
              <p:nvPr/>
            </p:nvSpPr>
            <p:spPr>
              <a:xfrm>
                <a:off x="3590925" y="183118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6200F"/>
                </a:solidFill>
              </a:ln>
            </p:spPr>
          </p:sp>
          <p:sp>
            <p:nvSpPr>
              <p:cNvPr id="75" name="Freeform 75"/>
              <p:cNvSpPr/>
              <p:nvPr/>
            </p:nvSpPr>
            <p:spPr>
              <a:xfrm>
                <a:off x="3590925" y="185261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sp>
            <p:nvSpPr>
              <p:cNvPr id="76" name="Freeform 76"/>
              <p:cNvSpPr/>
              <p:nvPr/>
            </p:nvSpPr>
            <p:spPr>
              <a:xfrm>
                <a:off x="3590925" y="189547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grpSp>
        <p:sp>
          <p:nvSpPr>
            <p:cNvPr id="78" name="TextBox 78"/>
            <p:cNvSpPr txBox="1"/>
            <p:nvPr/>
          </p:nvSpPr>
          <p:spPr>
            <a:xfrm>
              <a:off x="3805238" y="17968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数据</a:t>
              </a:r>
            </a:p>
          </p:txBody>
        </p:sp>
        <p:sp>
          <p:nvSpPr>
            <p:cNvPr id="79" name="TextBox 79"/>
            <p:cNvSpPr txBox="1"/>
            <p:nvPr/>
          </p:nvSpPr>
          <p:spPr>
            <a:xfrm>
              <a:off x="3805238" y="1951911"/>
              <a:ext cx="39184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客户标签</a:t>
              </a:r>
            </a:p>
          </p:txBody>
        </p:sp>
        <p:sp>
          <p:nvSpPr>
            <p:cNvPr id="80" name="Freeform 80"/>
            <p:cNvSpPr/>
            <p:nvPr/>
          </p:nvSpPr>
          <p:spPr>
            <a:xfrm>
              <a:off x="3590925" y="2181225"/>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76200F"/>
              </a:solidFill>
            </a:ln>
          </p:spPr>
        </p:sp>
        <p:sp>
          <p:nvSpPr>
            <p:cNvPr id="81" name="TextBox 81"/>
            <p:cNvSpPr txBox="1"/>
            <p:nvPr/>
          </p:nvSpPr>
          <p:spPr>
            <a:xfrm>
              <a:off x="3805238" y="21397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转化</a:t>
              </a:r>
            </a:p>
          </p:txBody>
        </p:sp>
        <p:sp>
          <p:nvSpPr>
            <p:cNvPr id="82" name="TextBox 82"/>
            <p:cNvSpPr txBox="1"/>
            <p:nvPr/>
          </p:nvSpPr>
          <p:spPr>
            <a:xfrm>
              <a:off x="3805238" y="2294811"/>
              <a:ext cx="39184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活动漏斗</a:t>
              </a:r>
            </a:p>
          </p:txBody>
        </p:sp>
        <p:sp>
          <p:nvSpPr>
            <p:cNvPr id="83" name="Rectangle 83"/>
            <p:cNvSpPr/>
            <p:nvPr/>
          </p:nvSpPr>
          <p:spPr>
            <a:xfrm>
              <a:off x="3543300" y="2533650"/>
              <a:ext cx="2476500" cy="323850"/>
            </a:xfrm>
            <a:prstGeom prst="roundRect">
              <a:avLst>
                <a:gd name="adj" fmla="val 17647"/>
              </a:avLst>
            </a:prstGeom>
            <a:solidFill>
              <a:srgbClr val="D9EEEA"/>
            </a:solidFill>
            <a:ln>
              <a:noFill/>
            </a:ln>
          </p:spPr>
        </p:sp>
        <p:sp>
          <p:nvSpPr>
            <p:cNvPr id="84" name="TextBox 84"/>
            <p:cNvSpPr txBox="1"/>
            <p:nvPr/>
          </p:nvSpPr>
          <p:spPr>
            <a:xfrm>
              <a:off x="4024097" y="2648664"/>
              <a:ext cx="1514906" cy="154781"/>
            </a:xfrm>
            <a:prstGeom prst="rect">
              <a:avLst/>
            </a:prstGeom>
            <a:noFill/>
            <a:ln>
              <a:noFill/>
            </a:ln>
          </p:spPr>
          <p:txBody>
            <a:bodyPr wrap="none" lIns="0" tIns="0" rIns="0" bIns="0" anchor="t" anchorCtr="0">
              <a:spAutoFit/>
            </a:bodyPr>
            <a:lstStyle/>
            <a:p>
              <a:pPr algn="ctr"/>
              <a:r>
                <a:rPr lang="zh-CN" sz="790" b="1" dirty="0">
                  <a:solidFill>
                    <a:srgbClr val="5D190B"/>
                  </a:solidFill>
                  <a:latin typeface="+mn-lt"/>
                  <a:ea typeface="+mn-ea"/>
                  <a:cs typeface="+mn-cs"/>
                </a:rPr>
                <a:t>“以场景为纽带，线上线下联动”</a:t>
              </a:r>
            </a:p>
          </p:txBody>
        </p:sp>
        <p:sp>
          <p:nvSpPr>
            <p:cNvPr id="85" name="Rectangle 85"/>
            <p:cNvSpPr/>
            <p:nvPr/>
          </p:nvSpPr>
          <p:spPr>
            <a:xfrm>
              <a:off x="3657600" y="2971800"/>
              <a:ext cx="2247900" cy="247650"/>
            </a:xfrm>
            <a:prstGeom prst="roundRect">
              <a:avLst>
                <a:gd name="adj" fmla="val 15385"/>
              </a:avLst>
            </a:prstGeom>
            <a:solidFill>
              <a:srgbClr val="FFFFFF"/>
            </a:solidFill>
            <a:ln w="9525">
              <a:solidFill>
                <a:srgbClr val="C2E0DA"/>
              </a:solidFill>
            </a:ln>
          </p:spPr>
        </p:sp>
        <p:grpSp>
          <p:nvGrpSpPr>
            <p:cNvPr id="90" name="Group 90"/>
            <p:cNvGrpSpPr/>
            <p:nvPr/>
          </p:nvGrpSpPr>
          <p:grpSpPr>
            <a:xfrm>
              <a:off x="3778250" y="3038475"/>
              <a:ext cx="101600" cy="114300"/>
              <a:chOff x="3778250" y="3038475"/>
              <a:chExt cx="101600" cy="114300"/>
            </a:xfrm>
          </p:grpSpPr>
          <p:sp>
            <p:nvSpPr>
              <p:cNvPr id="86" name="Freeform 86"/>
              <p:cNvSpPr/>
              <p:nvPr/>
            </p:nvSpPr>
            <p:spPr>
              <a:xfrm>
                <a:off x="3778250" y="31273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3422F"/>
                </a:solidFill>
              </a:ln>
            </p:spPr>
          </p:sp>
          <p:sp>
            <p:nvSpPr>
              <p:cNvPr id="87" name="Freeform 87"/>
              <p:cNvSpPr/>
              <p:nvPr/>
            </p:nvSpPr>
            <p:spPr>
              <a:xfrm>
                <a:off x="3848100" y="31273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3422F"/>
                </a:solidFill>
              </a:ln>
            </p:spPr>
          </p:sp>
          <p:sp>
            <p:nvSpPr>
              <p:cNvPr id="88" name="Freeform 88"/>
              <p:cNvSpPr/>
              <p:nvPr/>
            </p:nvSpPr>
            <p:spPr>
              <a:xfrm>
                <a:off x="3778250" y="3038475"/>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A3422F"/>
                </a:solidFill>
              </a:ln>
            </p:spPr>
          </p:sp>
          <p:sp>
            <p:nvSpPr>
              <p:cNvPr id="89" name="Freeform 89"/>
              <p:cNvSpPr/>
              <p:nvPr/>
            </p:nvSpPr>
            <p:spPr>
              <a:xfrm>
                <a:off x="3790950" y="3051175"/>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A3422F"/>
                </a:solidFill>
              </a:ln>
            </p:spPr>
          </p:sp>
        </p:grpSp>
        <p:sp>
          <p:nvSpPr>
            <p:cNvPr id="91" name="TextBox 91"/>
            <p:cNvSpPr txBox="1"/>
            <p:nvPr/>
          </p:nvSpPr>
          <p:spPr>
            <a:xfrm>
              <a:off x="3957638" y="3056811"/>
              <a:ext cx="1796875"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美好生活 · 与您同行（扫码即领体验礼）​</a:t>
              </a:r>
            </a:p>
          </p:txBody>
        </p:sp>
      </p:grpSp>
      <p:grpSp>
        <p:nvGrpSpPr>
          <p:cNvPr id="97" name="arrow-gap-2"/>
          <p:cNvGrpSpPr/>
          <p:nvPr/>
        </p:nvGrpSpPr>
        <p:grpSpPr>
          <a:xfrm>
            <a:off x="6136754" y="1485186"/>
            <a:ext cx="375691" cy="1147048"/>
            <a:chOff x="6136754" y="1485186"/>
            <a:chExt cx="375691" cy="1147048"/>
          </a:xfrm>
        </p:grpSpPr>
        <p:sp>
          <p:nvSpPr>
            <p:cNvPr id="93" name="Freeform 93"/>
            <p:cNvSpPr/>
            <p:nvPr/>
          </p:nvSpPr>
          <p:spPr>
            <a:xfrm>
              <a:off x="6153150" y="1943100"/>
              <a:ext cx="342900" cy="419100"/>
            </a:xfrm>
            <a:prstGeom prst="rightArrow">
              <a:avLst/>
            </a:prstGeom>
            <a:solidFill>
              <a:srgbClr val="76200F"/>
            </a:solidFill>
            <a:ln>
              <a:noFill/>
            </a:ln>
          </p:spPr>
        </p:sp>
        <p:sp>
          <p:nvSpPr>
            <p:cNvPr id="94" name="TextBox 94"/>
            <p:cNvSpPr txBox="1"/>
            <p:nvPr/>
          </p:nvSpPr>
          <p:spPr>
            <a:xfrm>
              <a:off x="6176467" y="1485186"/>
              <a:ext cx="296266" cy="140494"/>
            </a:xfrm>
            <a:prstGeom prst="rect">
              <a:avLst/>
            </a:prstGeom>
            <a:noFill/>
            <a:ln>
              <a:noFill/>
            </a:ln>
          </p:spPr>
          <p:txBody>
            <a:bodyPr wrap="none" lIns="0" tIns="0" rIns="0" bIns="0" anchor="t" anchorCtr="0">
              <a:spAutoFit/>
            </a:bodyPr>
            <a:lstStyle/>
            <a:p>
              <a:pPr algn="ctr"/>
              <a:r>
                <a:rPr lang="zh-CN" sz="710" b="1" dirty="0">
                  <a:solidFill>
                    <a:srgbClr val="5D190B"/>
                  </a:solidFill>
                  <a:latin typeface="+mn-lt"/>
                  <a:ea typeface="+mn-ea"/>
                  <a:cs typeface="+mn-cs"/>
                </a:rPr>
                <a:t>从获客</a:t>
              </a:r>
            </a:p>
          </p:txBody>
        </p:sp>
        <p:sp>
          <p:nvSpPr>
            <p:cNvPr id="95" name="TextBox 95"/>
            <p:cNvSpPr txBox="1"/>
            <p:nvPr/>
          </p:nvSpPr>
          <p:spPr>
            <a:xfrm>
              <a:off x="6176467" y="1618536"/>
              <a:ext cx="296266" cy="140494"/>
            </a:xfrm>
            <a:prstGeom prst="rect">
              <a:avLst/>
            </a:prstGeom>
            <a:noFill/>
            <a:ln>
              <a:noFill/>
            </a:ln>
          </p:spPr>
          <p:txBody>
            <a:bodyPr wrap="none" lIns="0" tIns="0" rIns="0" bIns="0" anchor="t" anchorCtr="0">
              <a:spAutoFit/>
            </a:bodyPr>
            <a:lstStyle/>
            <a:p>
              <a:pPr algn="ctr"/>
              <a:r>
                <a:rPr lang="zh-CN" sz="710" b="1" dirty="0">
                  <a:solidFill>
                    <a:srgbClr val="5D190B"/>
                  </a:solidFill>
                  <a:latin typeface="+mn-lt"/>
                  <a:ea typeface="+mn-ea"/>
                  <a:cs typeface="+mn-cs"/>
                </a:rPr>
                <a:t>到经营</a:t>
              </a:r>
            </a:p>
          </p:txBody>
        </p:sp>
        <p:sp>
          <p:nvSpPr>
            <p:cNvPr id="96" name="TextBox 96"/>
            <p:cNvSpPr txBox="1"/>
            <p:nvPr/>
          </p:nvSpPr>
          <p:spPr>
            <a:xfrm>
              <a:off x="6136754" y="2498884"/>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经营客户</a:t>
              </a:r>
            </a:p>
          </p:txBody>
        </p:sp>
      </p:grpSp>
      <p:grpSp>
        <p:nvGrpSpPr>
          <p:cNvPr id="138" name="stage-3"/>
          <p:cNvGrpSpPr/>
          <p:nvPr/>
        </p:nvGrpSpPr>
        <p:grpSpPr>
          <a:xfrm>
            <a:off x="6515100" y="685800"/>
            <a:ext cx="2705100" cy="2647950"/>
            <a:chOff x="6515100" y="685800"/>
            <a:chExt cx="2705100" cy="2647950"/>
          </a:xfrm>
        </p:grpSpPr>
        <p:sp>
          <p:nvSpPr>
            <p:cNvPr id="98" name="Rectangle 98"/>
            <p:cNvSpPr/>
            <p:nvPr/>
          </p:nvSpPr>
          <p:spPr>
            <a:xfrm>
              <a:off x="6515100" y="685800"/>
              <a:ext cx="2705100" cy="2647950"/>
            </a:xfrm>
            <a:prstGeom prst="roundRect">
              <a:avLst>
                <a:gd name="adj" fmla="val 2878"/>
              </a:avLst>
            </a:prstGeom>
            <a:solidFill>
              <a:srgbClr val="E2F2EE"/>
            </a:solidFill>
            <a:ln w="9525">
              <a:solidFill>
                <a:srgbClr val="C2E0DA"/>
              </a:solidFill>
            </a:ln>
          </p:spPr>
        </p:sp>
        <p:sp>
          <p:nvSpPr>
            <p:cNvPr id="99" name="Rectangle 99"/>
            <p:cNvSpPr/>
            <p:nvPr/>
          </p:nvSpPr>
          <p:spPr>
            <a:xfrm>
              <a:off x="6515100" y="685800"/>
              <a:ext cx="2705100" cy="323850"/>
            </a:xfrm>
            <a:prstGeom prst="roundRect">
              <a:avLst>
                <a:gd name="adj" fmla="val 23529"/>
              </a:avLst>
            </a:prstGeom>
            <a:solidFill>
              <a:srgbClr val="76200F"/>
            </a:solidFill>
            <a:ln>
              <a:noFill/>
            </a:ln>
          </p:spPr>
        </p:sp>
        <p:sp>
          <p:nvSpPr>
            <p:cNvPr id="100" name="Rectangle 100"/>
            <p:cNvSpPr/>
            <p:nvPr/>
          </p:nvSpPr>
          <p:spPr>
            <a:xfrm>
              <a:off x="6629400" y="752475"/>
              <a:ext cx="361950" cy="190500"/>
            </a:xfrm>
            <a:prstGeom prst="roundRect">
              <a:avLst>
                <a:gd name="adj" fmla="val 20000"/>
              </a:avLst>
            </a:prstGeom>
            <a:solidFill>
              <a:srgbClr val="FFFFFF"/>
            </a:solidFill>
            <a:ln>
              <a:noFill/>
            </a:ln>
          </p:spPr>
        </p:sp>
        <p:sp>
          <p:nvSpPr>
            <p:cNvPr id="101" name="TextBox 101"/>
            <p:cNvSpPr txBox="1"/>
            <p:nvPr/>
          </p:nvSpPr>
          <p:spPr>
            <a:xfrm>
              <a:off x="6665675" y="798195"/>
              <a:ext cx="289400"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3.0​</a:t>
              </a:r>
            </a:p>
          </p:txBody>
        </p:sp>
        <p:sp>
          <p:nvSpPr>
            <p:cNvPr id="102" name="TextBox 102"/>
            <p:cNvSpPr txBox="1"/>
            <p:nvPr/>
          </p:nvSpPr>
          <p:spPr>
            <a:xfrm>
              <a:off x="7080504" y="77533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生态经营</a:t>
              </a:r>
            </a:p>
          </p:txBody>
        </p:sp>
        <p:grpSp>
          <p:nvGrpSpPr>
            <p:cNvPr id="106" name="Group 106"/>
            <p:cNvGrpSpPr/>
            <p:nvPr/>
          </p:nvGrpSpPr>
          <p:grpSpPr>
            <a:xfrm>
              <a:off x="6669881" y="1145381"/>
              <a:ext cx="128588" cy="128588"/>
              <a:chOff x="6669881" y="1145381"/>
              <a:chExt cx="128588" cy="128588"/>
            </a:xfrm>
          </p:grpSpPr>
          <p:sp>
            <p:nvSpPr>
              <p:cNvPr id="103" name="Freeform 103"/>
              <p:cNvSpPr/>
              <p:nvPr/>
            </p:nvSpPr>
            <p:spPr>
              <a:xfrm>
                <a:off x="6727031" y="12025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6200F"/>
                </a:solidFill>
              </a:ln>
            </p:spPr>
          </p:sp>
          <p:sp>
            <p:nvSpPr>
              <p:cNvPr id="104" name="Freeform 104"/>
              <p:cNvSpPr/>
              <p:nvPr/>
            </p:nvSpPr>
            <p:spPr>
              <a:xfrm>
                <a:off x="6698456" y="117395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76200F"/>
                </a:solidFill>
              </a:ln>
            </p:spPr>
          </p:sp>
          <p:sp>
            <p:nvSpPr>
              <p:cNvPr id="105" name="Freeform 105"/>
              <p:cNvSpPr/>
              <p:nvPr/>
            </p:nvSpPr>
            <p:spPr>
              <a:xfrm>
                <a:off x="6669881" y="11453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grpSp>
        <p:sp>
          <p:nvSpPr>
            <p:cNvPr id="107" name="TextBox 107"/>
            <p:cNvSpPr txBox="1"/>
            <p:nvPr/>
          </p:nvSpPr>
          <p:spPr>
            <a:xfrm>
              <a:off x="6891338" y="11110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目标</a:t>
              </a:r>
            </a:p>
          </p:txBody>
        </p:sp>
        <p:sp>
          <p:nvSpPr>
            <p:cNvPr id="108" name="TextBox 108"/>
            <p:cNvSpPr txBox="1"/>
            <p:nvPr/>
          </p:nvSpPr>
          <p:spPr>
            <a:xfrm>
              <a:off x="6891338" y="1266111"/>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客户终身价值</a:t>
              </a:r>
            </a:p>
          </p:txBody>
        </p:sp>
        <p:grpSp>
          <p:nvGrpSpPr>
            <p:cNvPr id="114" name="Group 114"/>
            <p:cNvGrpSpPr/>
            <p:nvPr/>
          </p:nvGrpSpPr>
          <p:grpSpPr>
            <a:xfrm>
              <a:off x="6669881" y="1488281"/>
              <a:ext cx="128587" cy="128587"/>
              <a:chOff x="6669881" y="1488281"/>
              <a:chExt cx="128587" cy="128587"/>
            </a:xfrm>
          </p:grpSpPr>
          <p:sp>
            <p:nvSpPr>
              <p:cNvPr id="109" name="Freeform 109"/>
              <p:cNvSpPr/>
              <p:nvPr/>
            </p:nvSpPr>
            <p:spPr>
              <a:xfrm>
                <a:off x="6669881" y="157400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6200F"/>
                </a:solidFill>
              </a:ln>
            </p:spPr>
          </p:sp>
          <p:sp>
            <p:nvSpPr>
              <p:cNvPr id="110" name="Freeform 110"/>
              <p:cNvSpPr/>
              <p:nvPr/>
            </p:nvSpPr>
            <p:spPr>
              <a:xfrm>
                <a:off x="6755606" y="157400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6200F"/>
                </a:solidFill>
              </a:ln>
            </p:spPr>
          </p:sp>
          <p:sp>
            <p:nvSpPr>
              <p:cNvPr id="111" name="Freeform 111"/>
              <p:cNvSpPr/>
              <p:nvPr/>
            </p:nvSpPr>
            <p:spPr>
              <a:xfrm>
                <a:off x="6712744" y="148828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6200F"/>
                </a:solidFill>
              </a:ln>
            </p:spPr>
          </p:sp>
          <p:sp>
            <p:nvSpPr>
              <p:cNvPr id="112" name="Freeform 112"/>
              <p:cNvSpPr/>
              <p:nvPr/>
            </p:nvSpPr>
            <p:spPr>
              <a:xfrm>
                <a:off x="6691312" y="1552575"/>
                <a:ext cx="85725" cy="21431"/>
              </a:xfrm>
              <a:custGeom>
                <a:avLst/>
                <a:gdLst/>
                <a:ahLst/>
                <a:cxnLst/>
                <a:rect l="l" t="t" r="r" b="b"/>
                <a:pathLst>
                  <a:path w="85725" h="21431">
                    <a:moveTo>
                      <a:pt x="0" y="21431"/>
                    </a:moveTo>
                    <a:lnTo>
                      <a:pt x="0" y="14288"/>
                    </a:lnTo>
                    <a:cubicBezTo>
                      <a:pt x="0" y="6397"/>
                      <a:pt x="6397" y="0"/>
                      <a:pt x="14288" y="0"/>
                    </a:cubicBezTo>
                    <a:lnTo>
                      <a:pt x="71438" y="0"/>
                    </a:lnTo>
                    <a:cubicBezTo>
                      <a:pt x="79328" y="0"/>
                      <a:pt x="85725" y="6397"/>
                      <a:pt x="85725" y="14288"/>
                    </a:cubicBezTo>
                    <a:lnTo>
                      <a:pt x="85725" y="21431"/>
                    </a:lnTo>
                  </a:path>
                </a:pathLst>
              </a:custGeom>
              <a:noFill/>
              <a:ln w="14288">
                <a:solidFill>
                  <a:srgbClr val="76200F"/>
                </a:solidFill>
              </a:ln>
            </p:spPr>
          </p:sp>
          <p:sp>
            <p:nvSpPr>
              <p:cNvPr id="113" name="Freeform 113"/>
              <p:cNvSpPr/>
              <p:nvPr/>
            </p:nvSpPr>
            <p:spPr>
              <a:xfrm>
                <a:off x="6734175" y="1531144"/>
                <a:ext cx="9525" cy="21431"/>
              </a:xfrm>
              <a:custGeom>
                <a:avLst/>
                <a:gdLst/>
                <a:ahLst/>
                <a:cxnLst/>
                <a:rect l="l" t="t" r="r" b="b"/>
                <a:pathLst>
                  <a:path w="9525" h="21431">
                    <a:moveTo>
                      <a:pt x="0" y="0"/>
                    </a:moveTo>
                    <a:lnTo>
                      <a:pt x="0" y="21431"/>
                    </a:lnTo>
                  </a:path>
                </a:pathLst>
              </a:custGeom>
              <a:noFill/>
              <a:ln w="14288">
                <a:solidFill>
                  <a:srgbClr val="76200F"/>
                </a:solidFill>
              </a:ln>
            </p:spPr>
          </p:sp>
        </p:grpSp>
        <p:sp>
          <p:nvSpPr>
            <p:cNvPr id="115" name="TextBox 115"/>
            <p:cNvSpPr txBox="1"/>
            <p:nvPr/>
          </p:nvSpPr>
          <p:spPr>
            <a:xfrm>
              <a:off x="6891338" y="14539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载体</a:t>
              </a:r>
            </a:p>
          </p:txBody>
        </p:sp>
        <p:sp>
          <p:nvSpPr>
            <p:cNvPr id="116" name="TextBox 116"/>
            <p:cNvSpPr txBox="1"/>
            <p:nvPr/>
          </p:nvSpPr>
          <p:spPr>
            <a:xfrm>
              <a:off x="6891338" y="1609011"/>
              <a:ext cx="1099139"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商圈 / 平台 / 伙伴网络​​</a:t>
              </a:r>
            </a:p>
          </p:txBody>
        </p:sp>
        <p:grpSp>
          <p:nvGrpSpPr>
            <p:cNvPr id="120" name="Group 120"/>
            <p:cNvGrpSpPr/>
            <p:nvPr/>
          </p:nvGrpSpPr>
          <p:grpSpPr>
            <a:xfrm>
              <a:off x="6677025" y="1831181"/>
              <a:ext cx="114300" cy="128588"/>
              <a:chOff x="6677025" y="1831181"/>
              <a:chExt cx="114300" cy="128588"/>
            </a:xfrm>
          </p:grpSpPr>
          <p:sp>
            <p:nvSpPr>
              <p:cNvPr id="117" name="Freeform 117"/>
              <p:cNvSpPr/>
              <p:nvPr/>
            </p:nvSpPr>
            <p:spPr>
              <a:xfrm>
                <a:off x="6677025" y="183118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6200F"/>
                </a:solidFill>
              </a:ln>
            </p:spPr>
          </p:sp>
          <p:sp>
            <p:nvSpPr>
              <p:cNvPr id="118" name="Freeform 118"/>
              <p:cNvSpPr/>
              <p:nvPr/>
            </p:nvSpPr>
            <p:spPr>
              <a:xfrm>
                <a:off x="6677025" y="185261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sp>
            <p:nvSpPr>
              <p:cNvPr id="119" name="Freeform 119"/>
              <p:cNvSpPr/>
              <p:nvPr/>
            </p:nvSpPr>
            <p:spPr>
              <a:xfrm>
                <a:off x="6677025" y="189547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grpSp>
        <p:sp>
          <p:nvSpPr>
            <p:cNvPr id="121" name="TextBox 121"/>
            <p:cNvSpPr txBox="1"/>
            <p:nvPr/>
          </p:nvSpPr>
          <p:spPr>
            <a:xfrm>
              <a:off x="6891338" y="17968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数据</a:t>
              </a:r>
            </a:p>
          </p:txBody>
        </p:sp>
        <p:sp>
          <p:nvSpPr>
            <p:cNvPr id="122" name="TextBox 122"/>
            <p:cNvSpPr txBox="1"/>
            <p:nvPr/>
          </p:nvSpPr>
          <p:spPr>
            <a:xfrm>
              <a:off x="6891338" y="1951911"/>
              <a:ext cx="48742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跨场景行为</a:t>
              </a:r>
            </a:p>
          </p:txBody>
        </p:sp>
        <p:grpSp>
          <p:nvGrpSpPr>
            <p:cNvPr id="125" name="Group 125"/>
            <p:cNvGrpSpPr/>
            <p:nvPr/>
          </p:nvGrpSpPr>
          <p:grpSpPr>
            <a:xfrm>
              <a:off x="6677025" y="2174081"/>
              <a:ext cx="114300" cy="128588"/>
              <a:chOff x="6677025" y="2174081"/>
              <a:chExt cx="114300" cy="128588"/>
            </a:xfrm>
          </p:grpSpPr>
          <p:sp>
            <p:nvSpPr>
              <p:cNvPr id="123" name="Freeform 123"/>
              <p:cNvSpPr/>
              <p:nvPr/>
            </p:nvSpPr>
            <p:spPr>
              <a:xfrm>
                <a:off x="6677025" y="2174081"/>
                <a:ext cx="114300" cy="64294"/>
              </a:xfrm>
              <a:custGeom>
                <a:avLst/>
                <a:gdLst/>
                <a:ahLst/>
                <a:cxnLst/>
                <a:rect l="l" t="t" r="r" b="b"/>
                <a:pathLst>
                  <a:path w="114300" h="64294">
                    <a:moveTo>
                      <a:pt x="0" y="64294"/>
                    </a:moveTo>
                    <a:lnTo>
                      <a:pt x="0" y="42862"/>
                    </a:lnTo>
                    <a:cubicBezTo>
                      <a:pt x="0" y="31026"/>
                      <a:pt x="9595" y="21431"/>
                      <a:pt x="21431" y="21431"/>
                    </a:cubicBezTo>
                    <a:lnTo>
                      <a:pt x="114300" y="21431"/>
                    </a:lnTo>
                    <a:moveTo>
                      <a:pt x="92869" y="0"/>
                    </a:moveTo>
                    <a:lnTo>
                      <a:pt x="114300" y="21431"/>
                    </a:lnTo>
                    <a:lnTo>
                      <a:pt x="92869" y="42862"/>
                    </a:lnTo>
                  </a:path>
                </a:pathLst>
              </a:custGeom>
              <a:noFill/>
              <a:ln w="14288">
                <a:solidFill>
                  <a:srgbClr val="76200F"/>
                </a:solidFill>
              </a:ln>
            </p:spPr>
          </p:sp>
          <p:sp>
            <p:nvSpPr>
              <p:cNvPr id="124" name="Freeform 124"/>
              <p:cNvSpPr/>
              <p:nvPr/>
            </p:nvSpPr>
            <p:spPr>
              <a:xfrm>
                <a:off x="6677025" y="2238375"/>
                <a:ext cx="114300" cy="64294"/>
              </a:xfrm>
              <a:custGeom>
                <a:avLst/>
                <a:gdLst/>
                <a:ahLst/>
                <a:cxnLst/>
                <a:rect l="l" t="t" r="r" b="b"/>
                <a:pathLst>
                  <a:path w="114300" h="64294">
                    <a:moveTo>
                      <a:pt x="114300" y="0"/>
                    </a:moveTo>
                    <a:lnTo>
                      <a:pt x="114300" y="21431"/>
                    </a:lnTo>
                    <a:cubicBezTo>
                      <a:pt x="114300" y="33267"/>
                      <a:pt x="104705" y="42862"/>
                      <a:pt x="92869" y="42862"/>
                    </a:cubicBezTo>
                    <a:lnTo>
                      <a:pt x="0" y="42862"/>
                    </a:lnTo>
                    <a:moveTo>
                      <a:pt x="21431" y="64294"/>
                    </a:moveTo>
                    <a:lnTo>
                      <a:pt x="0" y="42862"/>
                    </a:lnTo>
                    <a:lnTo>
                      <a:pt x="21431" y="21431"/>
                    </a:lnTo>
                  </a:path>
                </a:pathLst>
              </a:custGeom>
              <a:noFill/>
              <a:ln w="14288">
                <a:solidFill>
                  <a:srgbClr val="76200F"/>
                </a:solidFill>
              </a:ln>
            </p:spPr>
          </p:sp>
        </p:grpSp>
        <p:sp>
          <p:nvSpPr>
            <p:cNvPr id="126" name="TextBox 126"/>
            <p:cNvSpPr txBox="1"/>
            <p:nvPr/>
          </p:nvSpPr>
          <p:spPr>
            <a:xfrm>
              <a:off x="6891338" y="2139791"/>
              <a:ext cx="230302"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转化</a:t>
              </a:r>
            </a:p>
          </p:txBody>
        </p:sp>
        <p:sp>
          <p:nvSpPr>
            <p:cNvPr id="127" name="TextBox 127"/>
            <p:cNvSpPr txBox="1"/>
            <p:nvPr/>
          </p:nvSpPr>
          <p:spPr>
            <a:xfrm>
              <a:off x="6891338" y="2294811"/>
              <a:ext cx="39184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持续运营</a:t>
              </a:r>
            </a:p>
          </p:txBody>
        </p:sp>
        <p:sp>
          <p:nvSpPr>
            <p:cNvPr id="128" name="Rectangle 128"/>
            <p:cNvSpPr/>
            <p:nvPr/>
          </p:nvSpPr>
          <p:spPr>
            <a:xfrm>
              <a:off x="6629400" y="2533650"/>
              <a:ext cx="2476500" cy="323850"/>
            </a:xfrm>
            <a:prstGeom prst="roundRect">
              <a:avLst>
                <a:gd name="adj" fmla="val 17647"/>
              </a:avLst>
            </a:prstGeom>
            <a:solidFill>
              <a:srgbClr val="D2EAE4"/>
            </a:solidFill>
            <a:ln>
              <a:noFill/>
            </a:ln>
          </p:spPr>
        </p:sp>
        <p:sp>
          <p:nvSpPr>
            <p:cNvPr id="129" name="TextBox 129"/>
            <p:cNvSpPr txBox="1"/>
            <p:nvPr/>
          </p:nvSpPr>
          <p:spPr>
            <a:xfrm>
              <a:off x="7110197" y="2648664"/>
              <a:ext cx="1514906" cy="154781"/>
            </a:xfrm>
            <a:prstGeom prst="rect">
              <a:avLst/>
            </a:prstGeom>
            <a:noFill/>
            <a:ln>
              <a:noFill/>
            </a:ln>
          </p:spPr>
          <p:txBody>
            <a:bodyPr wrap="none" lIns="0" tIns="0" rIns="0" bIns="0" anchor="t" anchorCtr="0">
              <a:spAutoFit/>
            </a:bodyPr>
            <a:lstStyle/>
            <a:p>
              <a:pPr algn="ctr"/>
              <a:r>
                <a:rPr lang="zh-CN" sz="790" b="1" dirty="0">
                  <a:solidFill>
                    <a:srgbClr val="5D190B"/>
                  </a:solidFill>
                  <a:latin typeface="+mn-lt"/>
                  <a:ea typeface="+mn-ea"/>
                  <a:cs typeface="+mn-cs"/>
                </a:rPr>
                <a:t>“以生态为平台，构建长期价值”</a:t>
              </a:r>
            </a:p>
          </p:txBody>
        </p:sp>
        <p:sp>
          <p:nvSpPr>
            <p:cNvPr id="130" name="Rectangle 130"/>
            <p:cNvSpPr/>
            <p:nvPr/>
          </p:nvSpPr>
          <p:spPr>
            <a:xfrm>
              <a:off x="6743700" y="2971800"/>
              <a:ext cx="2247900" cy="247650"/>
            </a:xfrm>
            <a:prstGeom prst="roundRect">
              <a:avLst>
                <a:gd name="adj" fmla="val 15385"/>
              </a:avLst>
            </a:prstGeom>
            <a:solidFill>
              <a:srgbClr val="FFFFFF"/>
            </a:solidFill>
            <a:ln w="9525">
              <a:solidFill>
                <a:srgbClr val="C2E0DA"/>
              </a:solidFill>
            </a:ln>
          </p:spPr>
        </p:sp>
        <p:grpSp>
          <p:nvGrpSpPr>
            <p:cNvPr id="136" name="Group 136"/>
            <p:cNvGrpSpPr/>
            <p:nvPr/>
          </p:nvGrpSpPr>
          <p:grpSpPr>
            <a:xfrm>
              <a:off x="6858000" y="3038475"/>
              <a:ext cx="114300" cy="114300"/>
              <a:chOff x="6858000" y="3038475"/>
              <a:chExt cx="114300" cy="114300"/>
            </a:xfrm>
          </p:grpSpPr>
          <p:sp>
            <p:nvSpPr>
              <p:cNvPr id="131" name="Freeform 131"/>
              <p:cNvSpPr/>
              <p:nvPr/>
            </p:nvSpPr>
            <p:spPr>
              <a:xfrm>
                <a:off x="6858000" y="31146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76200F"/>
                </a:solidFill>
              </a:ln>
            </p:spPr>
          </p:sp>
          <p:sp>
            <p:nvSpPr>
              <p:cNvPr id="132" name="Freeform 132"/>
              <p:cNvSpPr/>
              <p:nvPr/>
            </p:nvSpPr>
            <p:spPr>
              <a:xfrm>
                <a:off x="6934200" y="31146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76200F"/>
                </a:solidFill>
              </a:ln>
            </p:spPr>
          </p:sp>
          <p:sp>
            <p:nvSpPr>
              <p:cNvPr id="133" name="Freeform 133"/>
              <p:cNvSpPr/>
              <p:nvPr/>
            </p:nvSpPr>
            <p:spPr>
              <a:xfrm>
                <a:off x="6896100" y="30384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76200F"/>
                </a:solidFill>
              </a:ln>
            </p:spPr>
          </p:sp>
          <p:sp>
            <p:nvSpPr>
              <p:cNvPr id="134" name="Freeform 134"/>
              <p:cNvSpPr/>
              <p:nvPr/>
            </p:nvSpPr>
            <p:spPr>
              <a:xfrm>
                <a:off x="6877050" y="3095625"/>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76200F"/>
                </a:solidFill>
              </a:ln>
            </p:spPr>
          </p:sp>
          <p:sp>
            <p:nvSpPr>
              <p:cNvPr id="135" name="Freeform 135"/>
              <p:cNvSpPr/>
              <p:nvPr/>
            </p:nvSpPr>
            <p:spPr>
              <a:xfrm>
                <a:off x="6915150" y="3076575"/>
                <a:ext cx="9525" cy="19050"/>
              </a:xfrm>
              <a:custGeom>
                <a:avLst/>
                <a:gdLst/>
                <a:ahLst/>
                <a:cxnLst/>
                <a:rect l="l" t="t" r="r" b="b"/>
                <a:pathLst>
                  <a:path w="9525" h="19050">
                    <a:moveTo>
                      <a:pt x="0" y="0"/>
                    </a:moveTo>
                    <a:lnTo>
                      <a:pt x="0" y="19050"/>
                    </a:lnTo>
                  </a:path>
                </a:pathLst>
              </a:custGeom>
              <a:noFill/>
              <a:ln w="12700">
                <a:solidFill>
                  <a:srgbClr val="76200F"/>
                </a:solidFill>
              </a:ln>
            </p:spPr>
          </p:sp>
        </p:grpSp>
        <p:sp>
          <p:nvSpPr>
            <p:cNvPr id="137" name="TextBox 137"/>
            <p:cNvSpPr txBox="1"/>
            <p:nvPr/>
          </p:nvSpPr>
          <p:spPr>
            <a:xfrm>
              <a:off x="7043738" y="3056811"/>
              <a:ext cx="1572261" cy="140494"/>
            </a:xfrm>
            <a:prstGeom prst="rect">
              <a:avLst/>
            </a:prstGeom>
            <a:noFill/>
            <a:ln>
              <a:noFill/>
            </a:ln>
          </p:spPr>
          <p:txBody>
            <a:bodyPr wrap="none" lIns="0" tIns="0" rIns="0" bIns="0" anchor="t" anchorCtr="0">
              <a:spAutoFit/>
            </a:bodyPr>
            <a:lstStyle/>
            <a:p>
              <a:pPr algn="l"/>
              <a:r>
                <a:rPr lang="zh-CN" sz="710" dirty="0">
                  <a:solidFill>
                    <a:srgbClr val="73615E"/>
                  </a:solidFill>
                  <a:latin typeface="+mn-lt"/>
                  <a:ea typeface="+mn-ea"/>
                  <a:cs typeface="+mn-cs"/>
                </a:rPr>
                <a:t>商圈·平台·伙伴 · 多入口互通运营​​</a:t>
              </a:r>
            </a:p>
          </p:txBody>
        </p:sp>
      </p:grpSp>
      <p:grpSp>
        <p:nvGrpSpPr>
          <p:cNvPr id="175" name="capability-gaps"/>
          <p:cNvGrpSpPr/>
          <p:nvPr/>
        </p:nvGrpSpPr>
        <p:grpSpPr>
          <a:xfrm>
            <a:off x="9258300" y="685800"/>
            <a:ext cx="2571750" cy="2647950"/>
            <a:chOff x="9258300" y="685800"/>
            <a:chExt cx="2571750" cy="2647950"/>
          </a:xfrm>
        </p:grpSpPr>
        <p:sp>
          <p:nvSpPr>
            <p:cNvPr id="139" name="Rectangle 139"/>
            <p:cNvSpPr/>
            <p:nvPr/>
          </p:nvSpPr>
          <p:spPr>
            <a:xfrm>
              <a:off x="9258300" y="685800"/>
              <a:ext cx="2571750" cy="2647950"/>
            </a:xfrm>
            <a:prstGeom prst="roundRect">
              <a:avLst>
                <a:gd name="adj" fmla="val 2963"/>
              </a:avLst>
            </a:prstGeom>
            <a:solidFill>
              <a:srgbClr val="5D190B"/>
            </a:solidFill>
            <a:ln>
              <a:noFill/>
            </a:ln>
          </p:spPr>
        </p:sp>
        <p:sp>
          <p:nvSpPr>
            <p:cNvPr id="140" name="TextBox 140"/>
            <p:cNvSpPr txBox="1"/>
            <p:nvPr/>
          </p:nvSpPr>
          <p:spPr>
            <a:xfrm>
              <a:off x="9405366" y="801052"/>
              <a:ext cx="128282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能力跃迁的关键差距</a:t>
              </a:r>
            </a:p>
          </p:txBody>
        </p:sp>
        <p:sp>
          <p:nvSpPr>
            <p:cNvPr id="141" name="Line 141"/>
            <p:cNvSpPr/>
            <p:nvPr/>
          </p:nvSpPr>
          <p:spPr>
            <a:xfrm>
              <a:off x="9410700" y="1009650"/>
              <a:ext cx="2266950" cy="9525"/>
            </a:xfrm>
            <a:custGeom>
              <a:avLst/>
              <a:gdLst/>
              <a:ahLst/>
              <a:cxnLst/>
              <a:rect l="l" t="t" r="r" b="b"/>
              <a:pathLst>
                <a:path w="2266950" h="9525">
                  <a:moveTo>
                    <a:pt x="0" y="0"/>
                  </a:moveTo>
                  <a:lnTo>
                    <a:pt x="2266950" y="0"/>
                  </a:lnTo>
                </a:path>
              </a:pathLst>
            </a:custGeom>
            <a:noFill/>
            <a:ln w="9525">
              <a:solidFill>
                <a:srgbClr val="A3422F"/>
              </a:solidFill>
            </a:ln>
          </p:spPr>
        </p:sp>
        <p:grpSp>
          <p:nvGrpSpPr>
            <p:cNvPr id="146" name="Group 146"/>
            <p:cNvGrpSpPr/>
            <p:nvPr/>
          </p:nvGrpSpPr>
          <p:grpSpPr>
            <a:xfrm>
              <a:off x="9429750" y="1162050"/>
              <a:ext cx="114300" cy="114301"/>
              <a:chOff x="9429750" y="1162050"/>
              <a:chExt cx="114300" cy="114301"/>
            </a:xfrm>
          </p:grpSpPr>
          <p:sp>
            <p:nvSpPr>
              <p:cNvPr id="142" name="Freeform 142"/>
              <p:cNvSpPr/>
              <p:nvPr/>
            </p:nvSpPr>
            <p:spPr>
              <a:xfrm>
                <a:off x="9442450" y="11620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4887C"/>
                </a:solidFill>
              </a:ln>
            </p:spPr>
          </p:sp>
          <p:sp>
            <p:nvSpPr>
              <p:cNvPr id="143" name="Freeform 143"/>
              <p:cNvSpPr/>
              <p:nvPr/>
            </p:nvSpPr>
            <p:spPr>
              <a:xfrm>
                <a:off x="9429750" y="12382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C4887C"/>
                </a:solidFill>
              </a:ln>
            </p:spPr>
          </p:sp>
          <p:sp>
            <p:nvSpPr>
              <p:cNvPr id="144" name="Freeform 144"/>
              <p:cNvSpPr/>
              <p:nvPr/>
            </p:nvSpPr>
            <p:spPr>
              <a:xfrm>
                <a:off x="9512300" y="11628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C4887C"/>
                </a:solidFill>
              </a:ln>
            </p:spPr>
          </p:sp>
          <p:sp>
            <p:nvSpPr>
              <p:cNvPr id="145" name="Freeform 145"/>
              <p:cNvSpPr/>
              <p:nvPr/>
            </p:nvSpPr>
            <p:spPr>
              <a:xfrm>
                <a:off x="9525000" y="12392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C4887C"/>
                </a:solidFill>
              </a:ln>
            </p:spPr>
          </p:sp>
        </p:grpSp>
        <p:sp>
          <p:nvSpPr>
            <p:cNvPr id="147" name="TextBox 147"/>
            <p:cNvSpPr txBox="1"/>
            <p:nvPr/>
          </p:nvSpPr>
          <p:spPr>
            <a:xfrm>
              <a:off x="9634538" y="11491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客户视角</a:t>
              </a:r>
            </a:p>
          </p:txBody>
        </p:sp>
        <p:sp>
          <p:nvSpPr>
            <p:cNvPr id="148" name="TextBox 148"/>
            <p:cNvSpPr txBox="1"/>
            <p:nvPr/>
          </p:nvSpPr>
          <p:spPr>
            <a:xfrm>
              <a:off x="9634538" y="1308259"/>
              <a:ext cx="1355187" cy="133350"/>
            </a:xfrm>
            <a:prstGeom prst="rect">
              <a:avLst/>
            </a:prstGeom>
            <a:noFill/>
            <a:ln>
              <a:noFill/>
            </a:ln>
          </p:spPr>
          <p:txBody>
            <a:bodyPr wrap="none" lIns="0" tIns="0" rIns="0" bIns="0" anchor="t" anchorCtr="0">
              <a:spAutoFit/>
            </a:bodyPr>
            <a:lstStyle/>
            <a:p>
              <a:pPr algn="l"/>
              <a:r>
                <a:rPr lang="zh-CN" sz="680" dirty="0">
                  <a:solidFill>
                    <a:srgbClr val="BFE4DD"/>
                  </a:solidFill>
                  <a:latin typeface="+mn-lt"/>
                  <a:ea typeface="+mn-ea"/>
                  <a:cs typeface="+mn-cs"/>
                </a:rPr>
                <a:t>从产品思维 → 客户生命周期赋能​</a:t>
              </a:r>
            </a:p>
          </p:txBody>
        </p:sp>
        <p:grpSp>
          <p:nvGrpSpPr>
            <p:cNvPr id="152" name="Group 152"/>
            <p:cNvGrpSpPr/>
            <p:nvPr/>
          </p:nvGrpSpPr>
          <p:grpSpPr>
            <a:xfrm>
              <a:off x="9429750" y="1524000"/>
              <a:ext cx="114300" cy="114300"/>
              <a:chOff x="9429750" y="1524000"/>
              <a:chExt cx="114300" cy="114300"/>
            </a:xfrm>
          </p:grpSpPr>
          <p:sp>
            <p:nvSpPr>
              <p:cNvPr id="149" name="Freeform 149"/>
              <p:cNvSpPr/>
              <p:nvPr/>
            </p:nvSpPr>
            <p:spPr>
              <a:xfrm>
                <a:off x="9480550" y="15748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C4887C"/>
                </a:solidFill>
              </a:ln>
            </p:spPr>
          </p:sp>
          <p:sp>
            <p:nvSpPr>
              <p:cNvPr id="150" name="Freeform 150"/>
              <p:cNvSpPr/>
              <p:nvPr/>
            </p:nvSpPr>
            <p:spPr>
              <a:xfrm>
                <a:off x="9455150" y="15494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C4887C"/>
                </a:solidFill>
              </a:ln>
            </p:spPr>
          </p:sp>
          <p:sp>
            <p:nvSpPr>
              <p:cNvPr id="151" name="Freeform 151"/>
              <p:cNvSpPr/>
              <p:nvPr/>
            </p:nvSpPr>
            <p:spPr>
              <a:xfrm>
                <a:off x="9429750" y="15240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4887C"/>
                </a:solidFill>
              </a:ln>
            </p:spPr>
          </p:sp>
        </p:grpSp>
        <p:sp>
          <p:nvSpPr>
            <p:cNvPr id="153" name="TextBox 153"/>
            <p:cNvSpPr txBox="1"/>
            <p:nvPr/>
          </p:nvSpPr>
          <p:spPr>
            <a:xfrm>
              <a:off x="9634538" y="151114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场景背书</a:t>
              </a:r>
            </a:p>
          </p:txBody>
        </p:sp>
        <p:sp>
          <p:nvSpPr>
            <p:cNvPr id="154" name="TextBox 154"/>
            <p:cNvSpPr txBox="1"/>
            <p:nvPr/>
          </p:nvSpPr>
          <p:spPr>
            <a:xfrm>
              <a:off x="9634538" y="1670209"/>
              <a:ext cx="1263645" cy="133350"/>
            </a:xfrm>
            <a:prstGeom prst="rect">
              <a:avLst/>
            </a:prstGeom>
            <a:noFill/>
            <a:ln>
              <a:noFill/>
            </a:ln>
          </p:spPr>
          <p:txBody>
            <a:bodyPr wrap="none" lIns="0" tIns="0" rIns="0" bIns="0" anchor="t" anchorCtr="0">
              <a:spAutoFit/>
            </a:bodyPr>
            <a:lstStyle/>
            <a:p>
              <a:pPr algn="l"/>
              <a:r>
                <a:rPr lang="zh-CN" sz="680" dirty="0">
                  <a:solidFill>
                    <a:srgbClr val="BFE4DD"/>
                  </a:solidFill>
                  <a:latin typeface="+mn-lt"/>
                  <a:ea typeface="+mn-ea"/>
                  <a:cs typeface="+mn-cs"/>
                </a:rPr>
                <a:t>从单点活动 → 多场景整合运营​</a:t>
              </a:r>
            </a:p>
          </p:txBody>
        </p:sp>
        <p:grpSp>
          <p:nvGrpSpPr>
            <p:cNvPr id="158" name="Group 158"/>
            <p:cNvGrpSpPr/>
            <p:nvPr/>
          </p:nvGrpSpPr>
          <p:grpSpPr>
            <a:xfrm>
              <a:off x="9436100" y="1885950"/>
              <a:ext cx="101600" cy="114300"/>
              <a:chOff x="9436100" y="1885950"/>
              <a:chExt cx="101600" cy="114300"/>
            </a:xfrm>
          </p:grpSpPr>
          <p:sp>
            <p:nvSpPr>
              <p:cNvPr id="155" name="Freeform 155"/>
              <p:cNvSpPr/>
              <p:nvPr/>
            </p:nvSpPr>
            <p:spPr>
              <a:xfrm>
                <a:off x="9436100" y="18859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C4887C"/>
                </a:solidFill>
              </a:ln>
            </p:spPr>
          </p:sp>
          <p:sp>
            <p:nvSpPr>
              <p:cNvPr id="156" name="Freeform 156"/>
              <p:cNvSpPr/>
              <p:nvPr/>
            </p:nvSpPr>
            <p:spPr>
              <a:xfrm>
                <a:off x="9436100" y="19050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4887C"/>
                </a:solidFill>
              </a:ln>
            </p:spPr>
          </p:sp>
          <p:sp>
            <p:nvSpPr>
              <p:cNvPr id="157" name="Freeform 157"/>
              <p:cNvSpPr/>
              <p:nvPr/>
            </p:nvSpPr>
            <p:spPr>
              <a:xfrm>
                <a:off x="9436100" y="19431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4887C"/>
                </a:solidFill>
              </a:ln>
            </p:spPr>
          </p:sp>
        </p:grpSp>
        <p:sp>
          <p:nvSpPr>
            <p:cNvPr id="159" name="TextBox 159"/>
            <p:cNvSpPr txBox="1"/>
            <p:nvPr/>
          </p:nvSpPr>
          <p:spPr>
            <a:xfrm>
              <a:off x="9634538" y="18730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数据能力</a:t>
              </a:r>
            </a:p>
          </p:txBody>
        </p:sp>
        <p:sp>
          <p:nvSpPr>
            <p:cNvPr id="160" name="TextBox 160"/>
            <p:cNvSpPr txBox="1"/>
            <p:nvPr/>
          </p:nvSpPr>
          <p:spPr>
            <a:xfrm>
              <a:off x="9634538" y="2032159"/>
              <a:ext cx="1263645" cy="133350"/>
            </a:xfrm>
            <a:prstGeom prst="rect">
              <a:avLst/>
            </a:prstGeom>
            <a:noFill/>
            <a:ln>
              <a:noFill/>
            </a:ln>
          </p:spPr>
          <p:txBody>
            <a:bodyPr wrap="none" lIns="0" tIns="0" rIns="0" bIns="0" anchor="t" anchorCtr="0">
              <a:spAutoFit/>
            </a:bodyPr>
            <a:lstStyle/>
            <a:p>
              <a:pPr algn="l"/>
              <a:r>
                <a:rPr lang="zh-CN" sz="680" dirty="0">
                  <a:solidFill>
                    <a:srgbClr val="BFE4DD"/>
                  </a:solidFill>
                  <a:latin typeface="+mn-lt"/>
                  <a:ea typeface="+mn-ea"/>
                  <a:cs typeface="+mn-cs"/>
                </a:rPr>
                <a:t>从手工登记 → 跨场景数据洞察​</a:t>
              </a:r>
            </a:p>
          </p:txBody>
        </p:sp>
        <p:grpSp>
          <p:nvGrpSpPr>
            <p:cNvPr id="166" name="Group 166"/>
            <p:cNvGrpSpPr/>
            <p:nvPr/>
          </p:nvGrpSpPr>
          <p:grpSpPr>
            <a:xfrm>
              <a:off x="9429750" y="2247900"/>
              <a:ext cx="114300" cy="114300"/>
              <a:chOff x="9429750" y="2247900"/>
              <a:chExt cx="114300" cy="114300"/>
            </a:xfrm>
          </p:grpSpPr>
          <p:sp>
            <p:nvSpPr>
              <p:cNvPr id="161" name="Freeform 161"/>
              <p:cNvSpPr/>
              <p:nvPr/>
            </p:nvSpPr>
            <p:spPr>
              <a:xfrm>
                <a:off x="9429750" y="232410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C4887C"/>
                </a:solidFill>
              </a:ln>
            </p:spPr>
          </p:sp>
          <p:sp>
            <p:nvSpPr>
              <p:cNvPr id="162" name="Freeform 162"/>
              <p:cNvSpPr/>
              <p:nvPr/>
            </p:nvSpPr>
            <p:spPr>
              <a:xfrm>
                <a:off x="9505950" y="232410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C4887C"/>
                </a:solidFill>
              </a:ln>
            </p:spPr>
          </p:sp>
          <p:sp>
            <p:nvSpPr>
              <p:cNvPr id="163" name="Freeform 163"/>
              <p:cNvSpPr/>
              <p:nvPr/>
            </p:nvSpPr>
            <p:spPr>
              <a:xfrm>
                <a:off x="9467850" y="224790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C4887C"/>
                </a:solidFill>
              </a:ln>
            </p:spPr>
          </p:sp>
          <p:sp>
            <p:nvSpPr>
              <p:cNvPr id="164" name="Freeform 164"/>
              <p:cNvSpPr/>
              <p:nvPr/>
            </p:nvSpPr>
            <p:spPr>
              <a:xfrm>
                <a:off x="9448800" y="2305050"/>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C4887C"/>
                </a:solidFill>
              </a:ln>
            </p:spPr>
          </p:sp>
          <p:sp>
            <p:nvSpPr>
              <p:cNvPr id="165" name="Freeform 165"/>
              <p:cNvSpPr/>
              <p:nvPr/>
            </p:nvSpPr>
            <p:spPr>
              <a:xfrm>
                <a:off x="9486900" y="2286000"/>
                <a:ext cx="9525" cy="19050"/>
              </a:xfrm>
              <a:custGeom>
                <a:avLst/>
                <a:gdLst/>
                <a:ahLst/>
                <a:cxnLst/>
                <a:rect l="l" t="t" r="r" b="b"/>
                <a:pathLst>
                  <a:path w="9525" h="19050">
                    <a:moveTo>
                      <a:pt x="0" y="0"/>
                    </a:moveTo>
                    <a:lnTo>
                      <a:pt x="0" y="19050"/>
                    </a:lnTo>
                  </a:path>
                </a:pathLst>
              </a:custGeom>
              <a:noFill/>
              <a:ln w="12700">
                <a:solidFill>
                  <a:srgbClr val="C4887C"/>
                </a:solidFill>
              </a:ln>
            </p:spPr>
          </p:sp>
        </p:grpSp>
        <p:sp>
          <p:nvSpPr>
            <p:cNvPr id="167" name="TextBox 167"/>
            <p:cNvSpPr txBox="1"/>
            <p:nvPr/>
          </p:nvSpPr>
          <p:spPr>
            <a:xfrm>
              <a:off x="9634538" y="223504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组织能力</a:t>
              </a:r>
            </a:p>
          </p:txBody>
        </p:sp>
        <p:sp>
          <p:nvSpPr>
            <p:cNvPr id="168" name="TextBox 168"/>
            <p:cNvSpPr txBox="1"/>
            <p:nvPr/>
          </p:nvSpPr>
          <p:spPr>
            <a:xfrm>
              <a:off x="9634538" y="2394109"/>
              <a:ext cx="1172103" cy="133350"/>
            </a:xfrm>
            <a:prstGeom prst="rect">
              <a:avLst/>
            </a:prstGeom>
            <a:noFill/>
            <a:ln>
              <a:noFill/>
            </a:ln>
          </p:spPr>
          <p:txBody>
            <a:bodyPr wrap="none" lIns="0" tIns="0" rIns="0" bIns="0" anchor="t" anchorCtr="0">
              <a:spAutoFit/>
            </a:bodyPr>
            <a:lstStyle/>
            <a:p>
              <a:pPr algn="l"/>
              <a:r>
                <a:rPr lang="zh-CN" sz="680" dirty="0">
                  <a:solidFill>
                    <a:srgbClr val="BFE4DD"/>
                  </a:solidFill>
                  <a:latin typeface="+mn-lt"/>
                  <a:ea typeface="+mn-ea"/>
                  <a:cs typeface="+mn-cs"/>
                </a:rPr>
                <a:t>从线下执行 → 生态协同作战​</a:t>
              </a:r>
            </a:p>
          </p:txBody>
        </p:sp>
        <p:grpSp>
          <p:nvGrpSpPr>
            <p:cNvPr id="171" name="Group 171"/>
            <p:cNvGrpSpPr/>
            <p:nvPr/>
          </p:nvGrpSpPr>
          <p:grpSpPr>
            <a:xfrm>
              <a:off x="9436100" y="2613750"/>
              <a:ext cx="101600" cy="106500"/>
              <a:chOff x="9436100" y="2613750"/>
              <a:chExt cx="101600" cy="106500"/>
            </a:xfrm>
          </p:grpSpPr>
          <p:sp>
            <p:nvSpPr>
              <p:cNvPr id="169" name="Freeform 169"/>
              <p:cNvSpPr/>
              <p:nvPr/>
            </p:nvSpPr>
            <p:spPr>
              <a:xfrm>
                <a:off x="9436100" y="261375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C4887C"/>
                </a:solidFill>
              </a:ln>
            </p:spPr>
          </p:sp>
          <p:sp>
            <p:nvSpPr>
              <p:cNvPr id="170" name="Freeform 170"/>
              <p:cNvSpPr/>
              <p:nvPr/>
            </p:nvSpPr>
            <p:spPr>
              <a:xfrm>
                <a:off x="9436100" y="267335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C4887C"/>
                </a:solidFill>
              </a:ln>
            </p:spPr>
          </p:sp>
        </p:grpSp>
        <p:sp>
          <p:nvSpPr>
            <p:cNvPr id="172" name="TextBox 172"/>
            <p:cNvSpPr txBox="1"/>
            <p:nvPr/>
          </p:nvSpPr>
          <p:spPr>
            <a:xfrm>
              <a:off x="9634538" y="25969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运营能力</a:t>
              </a:r>
            </a:p>
          </p:txBody>
        </p:sp>
        <p:sp>
          <p:nvSpPr>
            <p:cNvPr id="173" name="TextBox 173"/>
            <p:cNvSpPr txBox="1"/>
            <p:nvPr/>
          </p:nvSpPr>
          <p:spPr>
            <a:xfrm>
              <a:off x="9634538" y="2756059"/>
              <a:ext cx="1355187" cy="133350"/>
            </a:xfrm>
            <a:prstGeom prst="rect">
              <a:avLst/>
            </a:prstGeom>
            <a:noFill/>
            <a:ln>
              <a:noFill/>
            </a:ln>
          </p:spPr>
          <p:txBody>
            <a:bodyPr wrap="none" lIns="0" tIns="0" rIns="0" bIns="0" anchor="t" anchorCtr="0">
              <a:spAutoFit/>
            </a:bodyPr>
            <a:lstStyle/>
            <a:p>
              <a:pPr algn="l"/>
              <a:r>
                <a:rPr lang="zh-CN" sz="680" dirty="0">
                  <a:solidFill>
                    <a:srgbClr val="BFE4DD"/>
                  </a:solidFill>
                  <a:latin typeface="+mn-lt"/>
                  <a:ea typeface="+mn-ea"/>
                  <a:cs typeface="+mn-cs"/>
                </a:rPr>
                <a:t>从一次性活动 → 持续精细化运营​</a:t>
              </a:r>
            </a:p>
          </p:txBody>
        </p:sp>
        <p:sp>
          <p:nvSpPr>
            <p:cNvPr id="174" name="TextBox 174"/>
            <p:cNvSpPr txBox="1"/>
            <p:nvPr/>
          </p:nvSpPr>
          <p:spPr>
            <a:xfrm>
              <a:off x="9405938" y="3070384"/>
              <a:ext cx="1474191" cy="133350"/>
            </a:xfrm>
            <a:prstGeom prst="rect">
              <a:avLst/>
            </a:prstGeom>
            <a:noFill/>
            <a:ln>
              <a:noFill/>
            </a:ln>
          </p:spPr>
          <p:txBody>
            <a:bodyPr wrap="none" lIns="0" tIns="0" rIns="0" bIns="0" anchor="t" anchorCtr="0">
              <a:spAutoFit/>
            </a:bodyPr>
            <a:lstStyle/>
            <a:p>
              <a:pPr algn="l"/>
              <a:r>
                <a:rPr lang="zh-CN" sz="680" dirty="0">
                  <a:solidFill>
                    <a:srgbClr val="C4887C"/>
                  </a:solidFill>
                  <a:latin typeface="+mn-lt"/>
                  <a:ea typeface="+mn-ea"/>
                  <a:cs typeface="+mn-cs"/>
                </a:rPr>
                <a:t>差距即升级方向：五项能力逐阶跃迁</a:t>
              </a:r>
            </a:p>
          </p:txBody>
        </p:sp>
      </p:grpSp>
      <p:grpSp>
        <p:nvGrpSpPr>
          <p:cNvPr id="217" name="compare-table"/>
          <p:cNvGrpSpPr/>
          <p:nvPr/>
        </p:nvGrpSpPr>
        <p:grpSpPr>
          <a:xfrm>
            <a:off x="342900" y="3409950"/>
            <a:ext cx="11487150" cy="2486026"/>
            <a:chOff x="342900" y="3409950"/>
            <a:chExt cx="11487150" cy="2486026"/>
          </a:xfrm>
        </p:grpSpPr>
        <p:sp>
          <p:nvSpPr>
            <p:cNvPr id="176" name="Rectangle 176"/>
            <p:cNvSpPr/>
            <p:nvPr/>
          </p:nvSpPr>
          <p:spPr>
            <a:xfrm>
              <a:off x="342900" y="3409950"/>
              <a:ext cx="11487150" cy="266700"/>
            </a:xfrm>
            <a:prstGeom prst="rect">
              <a:avLst/>
            </a:prstGeom>
            <a:solidFill>
              <a:srgbClr val="5D190B"/>
            </a:solidFill>
            <a:ln>
              <a:noFill/>
            </a:ln>
          </p:spPr>
        </p:sp>
        <p:sp>
          <p:nvSpPr>
            <p:cNvPr id="177" name="TextBox 177"/>
            <p:cNvSpPr txBox="1"/>
            <p:nvPr/>
          </p:nvSpPr>
          <p:spPr>
            <a:xfrm>
              <a:off x="1076896" y="34937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对比维度</a:t>
              </a:r>
            </a:p>
          </p:txBody>
        </p:sp>
        <p:sp>
          <p:nvSpPr>
            <p:cNvPr id="178" name="TextBox 178"/>
            <p:cNvSpPr txBox="1"/>
            <p:nvPr/>
          </p:nvSpPr>
          <p:spPr>
            <a:xfrm>
              <a:off x="2768842" y="3493770"/>
              <a:ext cx="88216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1.0 产品摆摊​​</a:t>
              </a:r>
            </a:p>
          </p:txBody>
        </p:sp>
        <p:sp>
          <p:nvSpPr>
            <p:cNvPr id="179" name="TextBox 179"/>
            <p:cNvSpPr txBox="1"/>
            <p:nvPr/>
          </p:nvSpPr>
          <p:spPr>
            <a:xfrm>
              <a:off x="6216892" y="3493770"/>
              <a:ext cx="88216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2.0 场景获客​​</a:t>
              </a:r>
            </a:p>
          </p:txBody>
        </p:sp>
        <p:sp>
          <p:nvSpPr>
            <p:cNvPr id="180" name="TextBox 180"/>
            <p:cNvSpPr txBox="1"/>
            <p:nvPr/>
          </p:nvSpPr>
          <p:spPr>
            <a:xfrm>
              <a:off x="9664942" y="3493770"/>
              <a:ext cx="88216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3.0 生态经营​​</a:t>
              </a:r>
            </a:p>
          </p:txBody>
        </p:sp>
        <p:grpSp>
          <p:nvGrpSpPr>
            <p:cNvPr id="216" name="compare-rows"/>
            <p:cNvGrpSpPr/>
            <p:nvPr/>
          </p:nvGrpSpPr>
          <p:grpSpPr>
            <a:xfrm>
              <a:off x="342900" y="3676650"/>
              <a:ext cx="11487150" cy="2219326"/>
              <a:chOff x="342900" y="3676650"/>
              <a:chExt cx="11487150" cy="2219326"/>
            </a:xfrm>
          </p:grpSpPr>
          <p:sp>
            <p:nvSpPr>
              <p:cNvPr id="181" name="Rectangle 181"/>
              <p:cNvSpPr/>
              <p:nvPr/>
            </p:nvSpPr>
            <p:spPr>
              <a:xfrm>
                <a:off x="342900" y="3676650"/>
                <a:ext cx="11487150" cy="314325"/>
              </a:xfrm>
              <a:prstGeom prst="rect">
                <a:avLst/>
              </a:prstGeom>
              <a:solidFill>
                <a:srgbClr val="FFFFFF"/>
              </a:solidFill>
              <a:ln w="9525">
                <a:solidFill>
                  <a:srgbClr val="E2EEEB"/>
                </a:solidFill>
              </a:ln>
            </p:spPr>
          </p:sp>
          <p:sp>
            <p:nvSpPr>
              <p:cNvPr id="182" name="TextBox 182"/>
              <p:cNvSpPr txBox="1"/>
              <p:nvPr/>
            </p:nvSpPr>
            <p:spPr>
              <a:xfrm>
                <a:off x="433388" y="3791664"/>
                <a:ext cx="222225" cy="154781"/>
              </a:xfrm>
              <a:prstGeom prst="rect">
                <a:avLst/>
              </a:prstGeom>
              <a:noFill/>
              <a:ln>
                <a:noFill/>
              </a:ln>
            </p:spPr>
            <p:txBody>
              <a:bodyPr wrap="none" lIns="0" tIns="0" rIns="0" bIns="0" anchor="t" anchorCtr="0">
                <a:spAutoFit/>
              </a:bodyPr>
              <a:lstStyle/>
              <a:p>
                <a:pPr algn="l"/>
                <a:r>
                  <a:rPr lang="zh-CN" sz="790" b="1" dirty="0">
                    <a:solidFill>
                      <a:srgbClr val="5D190B"/>
                    </a:solidFill>
                    <a:latin typeface="+mn-lt"/>
                    <a:ea typeface="+mn-ea"/>
                    <a:cs typeface="+mn-cs"/>
                  </a:rPr>
                  <a:t>目标</a:t>
                </a:r>
              </a:p>
            </p:txBody>
          </p:sp>
          <p:sp>
            <p:nvSpPr>
              <p:cNvPr id="183" name="TextBox 183"/>
              <p:cNvSpPr txBox="1"/>
              <p:nvPr/>
            </p:nvSpPr>
            <p:spPr>
              <a:xfrm>
                <a:off x="3003232" y="3795712"/>
                <a:ext cx="413385"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销售产品</a:t>
                </a:r>
              </a:p>
            </p:txBody>
          </p:sp>
          <p:sp>
            <p:nvSpPr>
              <p:cNvPr id="184" name="TextBox 184"/>
              <p:cNvSpPr txBox="1"/>
              <p:nvPr/>
            </p:nvSpPr>
            <p:spPr>
              <a:xfrm>
                <a:off x="6451282" y="3795712"/>
                <a:ext cx="413385"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拉新激活</a:t>
                </a:r>
              </a:p>
            </p:txBody>
          </p:sp>
          <p:sp>
            <p:nvSpPr>
              <p:cNvPr id="185" name="TextBox 185"/>
              <p:cNvSpPr txBox="1"/>
              <p:nvPr/>
            </p:nvSpPr>
            <p:spPr>
              <a:xfrm>
                <a:off x="9798368" y="3795712"/>
                <a:ext cx="615315"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客户终身价值</a:t>
                </a:r>
              </a:p>
            </p:txBody>
          </p:sp>
          <p:sp>
            <p:nvSpPr>
              <p:cNvPr id="186" name="Rectangle 186"/>
              <p:cNvSpPr/>
              <p:nvPr/>
            </p:nvSpPr>
            <p:spPr>
              <a:xfrm>
                <a:off x="342900" y="3990975"/>
                <a:ext cx="11487150" cy="314325"/>
              </a:xfrm>
              <a:prstGeom prst="rect">
                <a:avLst/>
              </a:prstGeom>
              <a:solidFill>
                <a:srgbClr val="EFF8F6"/>
              </a:solidFill>
              <a:ln w="9525">
                <a:solidFill>
                  <a:srgbClr val="E2EEEB"/>
                </a:solidFill>
              </a:ln>
            </p:spPr>
          </p:sp>
          <p:sp>
            <p:nvSpPr>
              <p:cNvPr id="187" name="TextBox 187"/>
              <p:cNvSpPr txBox="1"/>
              <p:nvPr/>
            </p:nvSpPr>
            <p:spPr>
              <a:xfrm>
                <a:off x="433388" y="4105989"/>
                <a:ext cx="222225" cy="154781"/>
              </a:xfrm>
              <a:prstGeom prst="rect">
                <a:avLst/>
              </a:prstGeom>
              <a:noFill/>
              <a:ln>
                <a:noFill/>
              </a:ln>
            </p:spPr>
            <p:txBody>
              <a:bodyPr wrap="none" lIns="0" tIns="0" rIns="0" bIns="0" anchor="t" anchorCtr="0">
                <a:spAutoFit/>
              </a:bodyPr>
              <a:lstStyle/>
              <a:p>
                <a:pPr algn="l"/>
                <a:r>
                  <a:rPr lang="zh-CN" sz="790" b="1" dirty="0">
                    <a:solidFill>
                      <a:srgbClr val="5D190B"/>
                    </a:solidFill>
                    <a:latin typeface="+mn-lt"/>
                    <a:ea typeface="+mn-ea"/>
                    <a:cs typeface="+mn-cs"/>
                  </a:rPr>
                  <a:t>入口</a:t>
                </a:r>
              </a:p>
            </p:txBody>
          </p:sp>
          <p:sp>
            <p:nvSpPr>
              <p:cNvPr id="188" name="TextBox 188"/>
              <p:cNvSpPr txBox="1"/>
              <p:nvPr/>
            </p:nvSpPr>
            <p:spPr>
              <a:xfrm>
                <a:off x="2750820" y="4110038"/>
                <a:ext cx="918210"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线下展位、宣传单页</a:t>
                </a:r>
              </a:p>
            </p:txBody>
          </p:sp>
          <p:sp>
            <p:nvSpPr>
              <p:cNvPr id="189" name="TextBox 189"/>
              <p:cNvSpPr txBox="1"/>
              <p:nvPr/>
            </p:nvSpPr>
            <p:spPr>
              <a:xfrm>
                <a:off x="5709190" y="4110038"/>
                <a:ext cx="1897571"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线下互动展位 + 二维码（线上活动入口）​</a:t>
                </a:r>
              </a:p>
            </p:txBody>
          </p:sp>
          <p:sp>
            <p:nvSpPr>
              <p:cNvPr id="190" name="TextBox 190"/>
              <p:cNvSpPr txBox="1"/>
              <p:nvPr/>
            </p:nvSpPr>
            <p:spPr>
              <a:xfrm>
                <a:off x="9558338" y="4043362"/>
                <a:ext cx="109537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14340"/>
                    </a:solidFill>
                    <a:latin typeface="+mn-lt"/>
                    <a:ea typeface="+mn-ea"/>
                    <a:cs typeface="+mn-cs"/>
                  </a:rPr>
                  <a:t>商圈 / 平台 / 伙伴网络​​</a:t>
                </a:r>
                <a:br/>
                <a:r>
                  <a:rPr lang="zh-CN" sz="750" dirty="0">
                    <a:solidFill>
                      <a:srgbClr val="514340"/>
                    </a:solidFill>
                    <a:latin typeface="+mn-lt"/>
                    <a:ea typeface="+mn-ea"/>
                    <a:cs typeface="+mn-cs"/>
                  </a:rPr>
                  <a:t>（多入口互通）</a:t>
                </a:r>
              </a:p>
            </p:txBody>
          </p:sp>
          <p:sp>
            <p:nvSpPr>
              <p:cNvPr id="191" name="Rectangle 191"/>
              <p:cNvSpPr/>
              <p:nvPr/>
            </p:nvSpPr>
            <p:spPr>
              <a:xfrm>
                <a:off x="342900" y="4305300"/>
                <a:ext cx="11487150" cy="314325"/>
              </a:xfrm>
              <a:prstGeom prst="rect">
                <a:avLst/>
              </a:prstGeom>
              <a:solidFill>
                <a:srgbClr val="FFFFFF"/>
              </a:solidFill>
              <a:ln w="9525">
                <a:solidFill>
                  <a:srgbClr val="E2EEEB"/>
                </a:solidFill>
              </a:ln>
            </p:spPr>
          </p:sp>
          <p:sp>
            <p:nvSpPr>
              <p:cNvPr id="192" name="TextBox 192"/>
              <p:cNvSpPr txBox="1"/>
              <p:nvPr/>
            </p:nvSpPr>
            <p:spPr>
              <a:xfrm>
                <a:off x="433388" y="4420314"/>
                <a:ext cx="222225" cy="154781"/>
              </a:xfrm>
              <a:prstGeom prst="rect">
                <a:avLst/>
              </a:prstGeom>
              <a:noFill/>
              <a:ln>
                <a:noFill/>
              </a:ln>
            </p:spPr>
            <p:txBody>
              <a:bodyPr wrap="none" lIns="0" tIns="0" rIns="0" bIns="0" anchor="t" anchorCtr="0">
                <a:spAutoFit/>
              </a:bodyPr>
              <a:lstStyle/>
              <a:p>
                <a:pPr algn="l"/>
                <a:r>
                  <a:rPr lang="zh-CN" sz="790" b="1" dirty="0">
                    <a:solidFill>
                      <a:srgbClr val="5D190B"/>
                    </a:solidFill>
                    <a:latin typeface="+mn-lt"/>
                    <a:ea typeface="+mn-ea"/>
                    <a:cs typeface="+mn-cs"/>
                  </a:rPr>
                  <a:t>权益</a:t>
                </a:r>
              </a:p>
            </p:txBody>
          </p:sp>
          <p:sp>
            <p:nvSpPr>
              <p:cNvPr id="193" name="TextBox 193"/>
              <p:cNvSpPr txBox="1"/>
              <p:nvPr/>
            </p:nvSpPr>
            <p:spPr>
              <a:xfrm>
                <a:off x="2245995" y="4424362"/>
                <a:ext cx="1927860"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标准化产品权益（存款、理财、信用卡等）</a:t>
                </a:r>
              </a:p>
            </p:txBody>
          </p:sp>
          <p:sp>
            <p:nvSpPr>
              <p:cNvPr id="194" name="TextBox 194"/>
              <p:cNvSpPr txBox="1"/>
              <p:nvPr/>
            </p:nvSpPr>
            <p:spPr>
              <a:xfrm>
                <a:off x="5643562" y="4424362"/>
                <a:ext cx="2028825"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活动专属权益（礼品、优惠券、体验权益等）</a:t>
                </a:r>
              </a:p>
            </p:txBody>
          </p:sp>
          <p:sp>
            <p:nvSpPr>
              <p:cNvPr id="195" name="TextBox 195"/>
              <p:cNvSpPr txBox="1"/>
              <p:nvPr/>
            </p:nvSpPr>
            <p:spPr>
              <a:xfrm>
                <a:off x="9434512" y="4357688"/>
                <a:ext cx="1343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14340"/>
                    </a:solidFill>
                    <a:latin typeface="+mn-lt"/>
                    <a:ea typeface="+mn-ea"/>
                    <a:cs typeface="+mn-cs"/>
                  </a:rPr>
                  <a:t>生态融合权益</a:t>
                </a:r>
                <a:br/>
                <a:r>
                  <a:rPr lang="zh-CN" sz="750" dirty="0">
                    <a:solidFill>
                      <a:srgbClr val="514340"/>
                    </a:solidFill>
                    <a:latin typeface="+mn-lt"/>
                    <a:ea typeface="+mn-ea"/>
                    <a:cs typeface="+mn-cs"/>
                  </a:rPr>
                  <a:t>（跨品牌、跨场景、会员体系）</a:t>
                </a:r>
              </a:p>
            </p:txBody>
          </p:sp>
          <p:sp>
            <p:nvSpPr>
              <p:cNvPr id="196" name="Rectangle 196"/>
              <p:cNvSpPr/>
              <p:nvPr/>
            </p:nvSpPr>
            <p:spPr>
              <a:xfrm>
                <a:off x="342900" y="4619625"/>
                <a:ext cx="11487150" cy="314325"/>
              </a:xfrm>
              <a:prstGeom prst="rect">
                <a:avLst/>
              </a:prstGeom>
              <a:solidFill>
                <a:srgbClr val="EFF8F6"/>
              </a:solidFill>
              <a:ln w="9525">
                <a:solidFill>
                  <a:srgbClr val="E2EEEB"/>
                </a:solidFill>
              </a:ln>
            </p:spPr>
          </p:sp>
          <p:sp>
            <p:nvSpPr>
              <p:cNvPr id="197" name="TextBox 197"/>
              <p:cNvSpPr txBox="1"/>
              <p:nvPr/>
            </p:nvSpPr>
            <p:spPr>
              <a:xfrm>
                <a:off x="433388" y="4734639"/>
                <a:ext cx="222225" cy="154781"/>
              </a:xfrm>
              <a:prstGeom prst="rect">
                <a:avLst/>
              </a:prstGeom>
              <a:noFill/>
              <a:ln>
                <a:noFill/>
              </a:ln>
            </p:spPr>
            <p:txBody>
              <a:bodyPr wrap="none" lIns="0" tIns="0" rIns="0" bIns="0" anchor="t" anchorCtr="0">
                <a:spAutoFit/>
              </a:bodyPr>
              <a:lstStyle/>
              <a:p>
                <a:pPr algn="l"/>
                <a:r>
                  <a:rPr lang="zh-CN" sz="790" b="1" dirty="0">
                    <a:solidFill>
                      <a:srgbClr val="5D190B"/>
                    </a:solidFill>
                    <a:latin typeface="+mn-lt"/>
                    <a:ea typeface="+mn-ea"/>
                    <a:cs typeface="+mn-cs"/>
                  </a:rPr>
                  <a:t>触点</a:t>
                </a:r>
              </a:p>
            </p:txBody>
          </p:sp>
          <p:sp>
            <p:nvSpPr>
              <p:cNvPr id="198" name="TextBox 198"/>
              <p:cNvSpPr txBox="1"/>
              <p:nvPr/>
            </p:nvSpPr>
            <p:spPr>
              <a:xfrm>
                <a:off x="2902268" y="4738688"/>
                <a:ext cx="615315"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单一线下触点</a:t>
                </a:r>
              </a:p>
            </p:txBody>
          </p:sp>
          <p:sp>
            <p:nvSpPr>
              <p:cNvPr id="199" name="TextBox 199"/>
              <p:cNvSpPr txBox="1"/>
              <p:nvPr/>
            </p:nvSpPr>
            <p:spPr>
              <a:xfrm>
                <a:off x="5487067" y="4738688"/>
                <a:ext cx="2341817"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线下展位 + 线上活动（公众号 / 小程序 / 社群）​​​</a:t>
                </a:r>
              </a:p>
            </p:txBody>
          </p:sp>
          <p:sp>
            <p:nvSpPr>
              <p:cNvPr id="200" name="TextBox 200"/>
              <p:cNvSpPr txBox="1"/>
              <p:nvPr/>
            </p:nvSpPr>
            <p:spPr>
              <a:xfrm>
                <a:off x="9482138" y="4672012"/>
                <a:ext cx="124777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14340"/>
                    </a:solidFill>
                    <a:latin typeface="+mn-lt"/>
                    <a:ea typeface="+mn-ea"/>
                    <a:cs typeface="+mn-cs"/>
                  </a:rPr>
                  <a:t>多场景触点（商圈、平台、</a:t>
                </a:r>
                <a:br/>
                <a:r>
                  <a:rPr lang="zh-CN" sz="750" dirty="0">
                    <a:solidFill>
                      <a:srgbClr val="514340"/>
                    </a:solidFill>
                    <a:latin typeface="+mn-lt"/>
                    <a:ea typeface="+mn-ea"/>
                    <a:cs typeface="+mn-cs"/>
                  </a:rPr>
                  <a:t>社区、企业、线上线下联动）</a:t>
                </a:r>
              </a:p>
            </p:txBody>
          </p:sp>
          <p:sp>
            <p:nvSpPr>
              <p:cNvPr id="201" name="Rectangle 201"/>
              <p:cNvSpPr/>
              <p:nvPr/>
            </p:nvSpPr>
            <p:spPr>
              <a:xfrm>
                <a:off x="342900" y="4933950"/>
                <a:ext cx="11487150" cy="314325"/>
              </a:xfrm>
              <a:prstGeom prst="rect">
                <a:avLst/>
              </a:prstGeom>
              <a:solidFill>
                <a:srgbClr val="FFFFFF"/>
              </a:solidFill>
              <a:ln w="9525">
                <a:solidFill>
                  <a:srgbClr val="E2EEEB"/>
                </a:solidFill>
              </a:ln>
            </p:spPr>
          </p:sp>
          <p:sp>
            <p:nvSpPr>
              <p:cNvPr id="202" name="TextBox 202"/>
              <p:cNvSpPr txBox="1"/>
              <p:nvPr/>
            </p:nvSpPr>
            <p:spPr>
              <a:xfrm>
                <a:off x="433388" y="5048964"/>
                <a:ext cx="222225" cy="154781"/>
              </a:xfrm>
              <a:prstGeom prst="rect">
                <a:avLst/>
              </a:prstGeom>
              <a:noFill/>
              <a:ln>
                <a:noFill/>
              </a:ln>
            </p:spPr>
            <p:txBody>
              <a:bodyPr wrap="none" lIns="0" tIns="0" rIns="0" bIns="0" anchor="t" anchorCtr="0">
                <a:spAutoFit/>
              </a:bodyPr>
              <a:lstStyle/>
              <a:p>
                <a:pPr algn="l"/>
                <a:r>
                  <a:rPr lang="zh-CN" sz="790" b="1" dirty="0">
                    <a:solidFill>
                      <a:srgbClr val="5D190B"/>
                    </a:solidFill>
                    <a:latin typeface="+mn-lt"/>
                    <a:ea typeface="+mn-ea"/>
                    <a:cs typeface="+mn-cs"/>
                  </a:rPr>
                  <a:t>数据</a:t>
                </a:r>
              </a:p>
            </p:txBody>
          </p:sp>
          <p:sp>
            <p:nvSpPr>
              <p:cNvPr id="203" name="TextBox 203"/>
              <p:cNvSpPr txBox="1"/>
              <p:nvPr/>
            </p:nvSpPr>
            <p:spPr>
              <a:xfrm>
                <a:off x="2750820" y="5053012"/>
                <a:ext cx="918210"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手工登记、分散记录</a:t>
                </a:r>
              </a:p>
            </p:txBody>
          </p:sp>
          <p:sp>
            <p:nvSpPr>
              <p:cNvPr id="204" name="TextBox 204"/>
              <p:cNvSpPr txBox="1"/>
              <p:nvPr/>
            </p:nvSpPr>
            <p:spPr>
              <a:xfrm>
                <a:off x="6097905" y="5053012"/>
                <a:ext cx="1120140"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客户标签、活动行为数据</a:t>
                </a:r>
              </a:p>
            </p:txBody>
          </p:sp>
          <p:sp>
            <p:nvSpPr>
              <p:cNvPr id="205" name="TextBox 205"/>
              <p:cNvSpPr txBox="1"/>
              <p:nvPr/>
            </p:nvSpPr>
            <p:spPr>
              <a:xfrm>
                <a:off x="9720262" y="4986338"/>
                <a:ext cx="771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14340"/>
                    </a:solidFill>
                    <a:latin typeface="+mn-lt"/>
                    <a:ea typeface="+mn-ea"/>
                    <a:cs typeface="+mn-cs"/>
                  </a:rPr>
                  <a:t>跨场景行为数据、</a:t>
                </a:r>
                <a:br/>
                <a:r>
                  <a:rPr lang="zh-CN" sz="750" dirty="0">
                    <a:solidFill>
                      <a:srgbClr val="514340"/>
                    </a:solidFill>
                    <a:latin typeface="+mn-lt"/>
                    <a:ea typeface="+mn-ea"/>
                    <a:cs typeface="+mn-cs"/>
                  </a:rPr>
                  <a:t>客户全景画像</a:t>
                </a:r>
              </a:p>
            </p:txBody>
          </p:sp>
          <p:sp>
            <p:nvSpPr>
              <p:cNvPr id="206" name="Rectangle 206"/>
              <p:cNvSpPr/>
              <p:nvPr/>
            </p:nvSpPr>
            <p:spPr>
              <a:xfrm>
                <a:off x="342900" y="5248275"/>
                <a:ext cx="11487150" cy="314325"/>
              </a:xfrm>
              <a:prstGeom prst="rect">
                <a:avLst/>
              </a:prstGeom>
              <a:solidFill>
                <a:srgbClr val="EFF8F6"/>
              </a:solidFill>
              <a:ln w="9525">
                <a:solidFill>
                  <a:srgbClr val="E2EEEB"/>
                </a:solidFill>
              </a:ln>
            </p:spPr>
          </p:sp>
          <p:sp>
            <p:nvSpPr>
              <p:cNvPr id="207" name="TextBox 207"/>
              <p:cNvSpPr txBox="1"/>
              <p:nvPr/>
            </p:nvSpPr>
            <p:spPr>
              <a:xfrm>
                <a:off x="433388" y="5363289"/>
                <a:ext cx="222225" cy="154781"/>
              </a:xfrm>
              <a:prstGeom prst="rect">
                <a:avLst/>
              </a:prstGeom>
              <a:noFill/>
              <a:ln>
                <a:noFill/>
              </a:ln>
            </p:spPr>
            <p:txBody>
              <a:bodyPr wrap="none" lIns="0" tIns="0" rIns="0" bIns="0" anchor="t" anchorCtr="0">
                <a:spAutoFit/>
              </a:bodyPr>
              <a:lstStyle/>
              <a:p>
                <a:pPr algn="l"/>
                <a:r>
                  <a:rPr lang="zh-CN" sz="790" b="1" dirty="0">
                    <a:solidFill>
                      <a:srgbClr val="5D190B"/>
                    </a:solidFill>
                    <a:latin typeface="+mn-lt"/>
                    <a:ea typeface="+mn-ea"/>
                    <a:cs typeface="+mn-cs"/>
                  </a:rPr>
                  <a:t>组织</a:t>
                </a:r>
              </a:p>
            </p:txBody>
          </p:sp>
          <p:sp>
            <p:nvSpPr>
              <p:cNvPr id="208" name="TextBox 208"/>
              <p:cNvSpPr txBox="1"/>
              <p:nvPr/>
            </p:nvSpPr>
            <p:spPr>
              <a:xfrm>
                <a:off x="2750820" y="5367338"/>
                <a:ext cx="918210"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网点主导、临时执行</a:t>
                </a:r>
              </a:p>
            </p:txBody>
          </p:sp>
          <p:sp>
            <p:nvSpPr>
              <p:cNvPr id="209" name="TextBox 209"/>
              <p:cNvSpPr txBox="1"/>
              <p:nvPr/>
            </p:nvSpPr>
            <p:spPr>
              <a:xfrm>
                <a:off x="6113050" y="5367338"/>
                <a:ext cx="1089850"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网点 + 总行市场部协同​</a:t>
                </a:r>
              </a:p>
            </p:txBody>
          </p:sp>
          <p:sp>
            <p:nvSpPr>
              <p:cNvPr id="210" name="TextBox 210"/>
              <p:cNvSpPr txBox="1"/>
              <p:nvPr/>
            </p:nvSpPr>
            <p:spPr>
              <a:xfrm>
                <a:off x="9529762" y="5300662"/>
                <a:ext cx="1152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14340"/>
                    </a:solidFill>
                    <a:latin typeface="+mn-lt"/>
                    <a:ea typeface="+mn-ea"/>
                    <a:cs typeface="+mn-cs"/>
                  </a:rPr>
                  <a:t>总行统筹、生态伙伴共建、</a:t>
                </a:r>
                <a:br/>
                <a:r>
                  <a:rPr lang="zh-CN" sz="750" dirty="0">
                    <a:solidFill>
                      <a:srgbClr val="514340"/>
                    </a:solidFill>
                    <a:latin typeface="+mn-lt"/>
                    <a:ea typeface="+mn-ea"/>
                    <a:cs typeface="+mn-cs"/>
                  </a:rPr>
                  <a:t>敏捷团队运作</a:t>
                </a:r>
              </a:p>
            </p:txBody>
          </p:sp>
          <p:sp>
            <p:nvSpPr>
              <p:cNvPr id="211" name="Rectangle 211"/>
              <p:cNvSpPr/>
              <p:nvPr/>
            </p:nvSpPr>
            <p:spPr>
              <a:xfrm>
                <a:off x="342900" y="5562600"/>
                <a:ext cx="11487150" cy="314325"/>
              </a:xfrm>
              <a:prstGeom prst="rect">
                <a:avLst/>
              </a:prstGeom>
              <a:solidFill>
                <a:srgbClr val="FFFFFF"/>
              </a:solidFill>
              <a:ln w="9525">
                <a:solidFill>
                  <a:srgbClr val="E2EEEB"/>
                </a:solidFill>
              </a:ln>
            </p:spPr>
          </p:sp>
          <p:sp>
            <p:nvSpPr>
              <p:cNvPr id="212" name="TextBox 212"/>
              <p:cNvSpPr txBox="1"/>
              <p:nvPr/>
            </p:nvSpPr>
            <p:spPr>
              <a:xfrm>
                <a:off x="433388" y="5677614"/>
                <a:ext cx="222225" cy="154781"/>
              </a:xfrm>
              <a:prstGeom prst="rect">
                <a:avLst/>
              </a:prstGeom>
              <a:noFill/>
              <a:ln>
                <a:noFill/>
              </a:ln>
            </p:spPr>
            <p:txBody>
              <a:bodyPr wrap="none" lIns="0" tIns="0" rIns="0" bIns="0" anchor="t" anchorCtr="0">
                <a:spAutoFit/>
              </a:bodyPr>
              <a:lstStyle/>
              <a:p>
                <a:pPr algn="l"/>
                <a:r>
                  <a:rPr lang="zh-CN" sz="790" b="1" dirty="0">
                    <a:solidFill>
                      <a:srgbClr val="5D190B"/>
                    </a:solidFill>
                    <a:latin typeface="+mn-lt"/>
                    <a:ea typeface="+mn-ea"/>
                    <a:cs typeface="+mn-cs"/>
                  </a:rPr>
                  <a:t>复盘</a:t>
                </a:r>
              </a:p>
            </p:txBody>
          </p:sp>
          <p:sp>
            <p:nvSpPr>
              <p:cNvPr id="213" name="TextBox 213"/>
              <p:cNvSpPr txBox="1"/>
              <p:nvPr/>
            </p:nvSpPr>
            <p:spPr>
              <a:xfrm>
                <a:off x="2801302" y="5681662"/>
                <a:ext cx="817245"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活动效果简单统计</a:t>
                </a:r>
              </a:p>
            </p:txBody>
          </p:sp>
          <p:sp>
            <p:nvSpPr>
              <p:cNvPr id="214" name="TextBox 214"/>
              <p:cNvSpPr txBox="1"/>
              <p:nvPr/>
            </p:nvSpPr>
            <p:spPr>
              <a:xfrm>
                <a:off x="5734431" y="5681662"/>
                <a:ext cx="1847088"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活动漏斗分析（曝光-参与-留资-转化）​</a:t>
                </a:r>
              </a:p>
            </p:txBody>
          </p:sp>
          <p:sp>
            <p:nvSpPr>
              <p:cNvPr id="215" name="TextBox 215"/>
              <p:cNvSpPr txBox="1"/>
              <p:nvPr/>
            </p:nvSpPr>
            <p:spPr>
              <a:xfrm>
                <a:off x="9424988" y="5614988"/>
                <a:ext cx="136207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514340"/>
                    </a:solidFill>
                    <a:latin typeface="+mn-lt"/>
                    <a:ea typeface="+mn-ea"/>
                    <a:cs typeface="+mn-cs"/>
                  </a:rPr>
                  <a:t>长期价值评估</a:t>
                </a:r>
                <a:br/>
                <a:r>
                  <a:rPr lang="zh-CN" sz="750" dirty="0">
                    <a:solidFill>
                      <a:srgbClr val="514340"/>
                    </a:solidFill>
                    <a:latin typeface="+mn-lt"/>
                    <a:ea typeface="+mn-ea"/>
                    <a:cs typeface="+mn-cs"/>
                  </a:rPr>
                  <a:t>（LTV、复购率、生态贡献度）​</a:t>
                </a:r>
              </a:p>
            </p:txBody>
          </p:sp>
        </p:grpSp>
      </p:grpSp>
      <p:grpSp>
        <p:nvGrpSpPr>
          <p:cNvPr id="230" name="upgrade-path"/>
          <p:cNvGrpSpPr/>
          <p:nvPr/>
        </p:nvGrpSpPr>
        <p:grpSpPr>
          <a:xfrm>
            <a:off x="342900" y="6000750"/>
            <a:ext cx="11487150" cy="571500"/>
            <a:chOff x="342900" y="6000750"/>
            <a:chExt cx="11487150" cy="571500"/>
          </a:xfrm>
        </p:grpSpPr>
        <p:sp>
          <p:nvSpPr>
            <p:cNvPr id="218" name="Rectangle 218"/>
            <p:cNvSpPr/>
            <p:nvPr/>
          </p:nvSpPr>
          <p:spPr>
            <a:xfrm>
              <a:off x="342900" y="6000750"/>
              <a:ext cx="1143000" cy="571500"/>
            </a:xfrm>
            <a:prstGeom prst="roundRect">
              <a:avLst>
                <a:gd name="adj" fmla="val 13333"/>
              </a:avLst>
            </a:prstGeom>
            <a:solidFill>
              <a:srgbClr val="5D190B"/>
            </a:solidFill>
            <a:ln>
              <a:noFill/>
            </a:ln>
          </p:spPr>
        </p:sp>
        <p:sp>
          <p:nvSpPr>
            <p:cNvPr id="219" name="TextBox 219"/>
            <p:cNvSpPr txBox="1"/>
            <p:nvPr/>
          </p:nvSpPr>
          <p:spPr>
            <a:xfrm>
              <a:off x="645592" y="61336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能力升级</a:t>
              </a:r>
            </a:p>
          </p:txBody>
        </p:sp>
        <p:sp>
          <p:nvSpPr>
            <p:cNvPr id="220" name="TextBox 220"/>
            <p:cNvSpPr txBox="1"/>
            <p:nvPr/>
          </p:nvSpPr>
          <p:spPr>
            <a:xfrm>
              <a:off x="777519" y="63145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路径</a:t>
              </a:r>
            </a:p>
          </p:txBody>
        </p:sp>
        <p:sp>
          <p:nvSpPr>
            <p:cNvPr id="221" name="Freeform 221"/>
            <p:cNvSpPr/>
            <p:nvPr/>
          </p:nvSpPr>
          <p:spPr>
            <a:xfrm>
              <a:off x="1562100" y="6000750"/>
              <a:ext cx="3238500" cy="571500"/>
            </a:xfrm>
            <a:prstGeom prst="chevron">
              <a:avLst/>
            </a:prstGeom>
            <a:solidFill>
              <a:srgbClr val="C4887C"/>
            </a:solidFill>
            <a:ln>
              <a:noFill/>
            </a:ln>
          </p:spPr>
        </p:sp>
        <p:sp>
          <p:nvSpPr>
            <p:cNvPr id="222" name="TextBox 222"/>
            <p:cNvSpPr txBox="1"/>
            <p:nvPr/>
          </p:nvSpPr>
          <p:spPr>
            <a:xfrm>
              <a:off x="2839187" y="6143149"/>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夯实线下执行能力</a:t>
              </a:r>
            </a:p>
          </p:txBody>
        </p:sp>
        <p:sp>
          <p:nvSpPr>
            <p:cNvPr id="223" name="TextBox 223"/>
            <p:cNvSpPr txBox="1"/>
            <p:nvPr/>
          </p:nvSpPr>
          <p:spPr>
            <a:xfrm>
              <a:off x="2984767" y="6342936"/>
              <a:ext cx="774167" cy="140494"/>
            </a:xfrm>
            <a:prstGeom prst="rect">
              <a:avLst/>
            </a:prstGeom>
            <a:noFill/>
            <a:ln>
              <a:noFill/>
            </a:ln>
          </p:spPr>
          <p:txBody>
            <a:bodyPr wrap="none" lIns="0" tIns="0" rIns="0" bIns="0" anchor="t" anchorCtr="0">
              <a:spAutoFit/>
            </a:bodyPr>
            <a:lstStyle/>
            <a:p>
              <a:pPr algn="ctr"/>
              <a:r>
                <a:rPr lang="zh-CN" sz="710" dirty="0">
                  <a:solidFill>
                    <a:srgbClr val="F0FAF8"/>
                  </a:solidFill>
                  <a:latin typeface="+mn-lt"/>
                  <a:ea typeface="+mn-ea"/>
                  <a:cs typeface="+mn-cs"/>
                </a:rPr>
                <a:t>产品、渠道、人员</a:t>
              </a:r>
            </a:p>
          </p:txBody>
        </p:sp>
        <p:sp>
          <p:nvSpPr>
            <p:cNvPr id="224" name="Freeform 224"/>
            <p:cNvSpPr/>
            <p:nvPr/>
          </p:nvSpPr>
          <p:spPr>
            <a:xfrm>
              <a:off x="4876800" y="6000750"/>
              <a:ext cx="3238500" cy="571500"/>
            </a:xfrm>
            <a:prstGeom prst="chevron">
              <a:avLst/>
            </a:prstGeom>
            <a:solidFill>
              <a:srgbClr val="A3422F"/>
            </a:solidFill>
            <a:ln>
              <a:noFill/>
            </a:ln>
          </p:spPr>
        </p:sp>
        <p:sp>
          <p:nvSpPr>
            <p:cNvPr id="225" name="TextBox 225"/>
            <p:cNvSpPr txBox="1"/>
            <p:nvPr/>
          </p:nvSpPr>
          <p:spPr>
            <a:xfrm>
              <a:off x="6087923" y="6143149"/>
              <a:ext cx="119725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构建场景化营销能力</a:t>
              </a:r>
            </a:p>
          </p:txBody>
        </p:sp>
        <p:sp>
          <p:nvSpPr>
            <p:cNvPr id="226" name="TextBox 226"/>
            <p:cNvSpPr txBox="1"/>
            <p:nvPr/>
          </p:nvSpPr>
          <p:spPr>
            <a:xfrm>
              <a:off x="6012726" y="6342936"/>
              <a:ext cx="1347648" cy="140494"/>
            </a:xfrm>
            <a:prstGeom prst="rect">
              <a:avLst/>
            </a:prstGeom>
            <a:noFill/>
            <a:ln>
              <a:noFill/>
            </a:ln>
          </p:spPr>
          <p:txBody>
            <a:bodyPr wrap="none" lIns="0" tIns="0" rIns="0" bIns="0" anchor="t" anchorCtr="0">
              <a:spAutoFit/>
            </a:bodyPr>
            <a:lstStyle/>
            <a:p>
              <a:pPr algn="ctr"/>
              <a:r>
                <a:rPr lang="zh-CN" sz="710" dirty="0">
                  <a:solidFill>
                    <a:srgbClr val="F0FAF8"/>
                  </a:solidFill>
                  <a:latin typeface="+mn-lt"/>
                  <a:ea typeface="+mn-ea"/>
                  <a:cs typeface="+mn-cs"/>
                </a:rPr>
                <a:t>活动设计、数据运营、线上联动</a:t>
              </a:r>
            </a:p>
          </p:txBody>
        </p:sp>
        <p:sp>
          <p:nvSpPr>
            <p:cNvPr id="227" name="Freeform 227"/>
            <p:cNvSpPr/>
            <p:nvPr/>
          </p:nvSpPr>
          <p:spPr>
            <a:xfrm>
              <a:off x="8191500" y="6000750"/>
              <a:ext cx="3638550" cy="571500"/>
            </a:xfrm>
            <a:prstGeom prst="chevron">
              <a:avLst/>
            </a:prstGeom>
            <a:solidFill>
              <a:srgbClr val="76200F"/>
            </a:solidFill>
            <a:ln>
              <a:noFill/>
            </a:ln>
          </p:spPr>
        </p:sp>
        <p:sp>
          <p:nvSpPr>
            <p:cNvPr id="228" name="TextBox 228"/>
            <p:cNvSpPr txBox="1"/>
            <p:nvPr/>
          </p:nvSpPr>
          <p:spPr>
            <a:xfrm>
              <a:off x="9602648" y="6143149"/>
              <a:ext cx="119725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打造生态化经营能力</a:t>
              </a:r>
            </a:p>
          </p:txBody>
        </p:sp>
        <p:sp>
          <p:nvSpPr>
            <p:cNvPr id="229" name="TextBox 229"/>
            <p:cNvSpPr txBox="1"/>
            <p:nvPr/>
          </p:nvSpPr>
          <p:spPr>
            <a:xfrm>
              <a:off x="9288501" y="6342936"/>
              <a:ext cx="1825549" cy="140494"/>
            </a:xfrm>
            <a:prstGeom prst="rect">
              <a:avLst/>
            </a:prstGeom>
            <a:noFill/>
            <a:ln>
              <a:noFill/>
            </a:ln>
          </p:spPr>
          <p:txBody>
            <a:bodyPr wrap="none" lIns="0" tIns="0" rIns="0" bIns="0" anchor="t" anchorCtr="0">
              <a:spAutoFit/>
            </a:bodyPr>
            <a:lstStyle/>
            <a:p>
              <a:pPr algn="ctr"/>
              <a:r>
                <a:rPr lang="zh-CN" sz="710" dirty="0">
                  <a:solidFill>
                    <a:srgbClr val="F0FAF8"/>
                  </a:solidFill>
                  <a:latin typeface="+mn-lt"/>
                  <a:ea typeface="+mn-ea"/>
                  <a:cs typeface="+mn-cs"/>
                </a:rPr>
                <a:t>平台整合、数据中台、生态协同、长期运营</a:t>
              </a:r>
            </a:p>
          </p:txBody>
        </p:sp>
      </p:gr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04​</a:t>
              </a:r>
            </a:p>
          </p:txBody>
        </p:sp>
        <p:sp>
          <p:nvSpPr>
            <p:cNvPr id="4" name="TextBox 4"/>
            <p:cNvSpPr txBox="1"/>
            <p:nvPr/>
          </p:nvSpPr>
          <p:spPr>
            <a:xfrm>
              <a:off x="904494" y="170498"/>
              <a:ext cx="5269992"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同业图谱</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六类机构形成差异化生态营销路径</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04​</a:t>
              </a:r>
            </a:p>
          </p:txBody>
        </p:sp>
      </p:grpSp>
      <p:grpSp>
        <p:nvGrpSpPr>
          <p:cNvPr id="186" name="peer-table"/>
          <p:cNvGrpSpPr/>
          <p:nvPr/>
        </p:nvGrpSpPr>
        <p:grpSpPr>
          <a:xfrm>
            <a:off x="342900" y="685800"/>
            <a:ext cx="8081485" cy="4248150"/>
            <a:chOff x="342900" y="685800"/>
            <a:chExt cx="8081485" cy="4248150"/>
          </a:xfrm>
        </p:grpSpPr>
        <p:sp>
          <p:nvSpPr>
            <p:cNvPr id="8" name="Rectangle 8"/>
            <p:cNvSpPr/>
            <p:nvPr/>
          </p:nvSpPr>
          <p:spPr>
            <a:xfrm>
              <a:off x="342900" y="685800"/>
              <a:ext cx="876300" cy="381000"/>
            </a:xfrm>
            <a:prstGeom prst="rect">
              <a:avLst/>
            </a:prstGeom>
            <a:solidFill>
              <a:srgbClr val="5D190B"/>
            </a:solidFill>
            <a:ln>
              <a:noFill/>
            </a:ln>
          </p:spPr>
        </p:sp>
        <p:sp>
          <p:nvSpPr>
            <p:cNvPr id="9" name="TextBox 9"/>
            <p:cNvSpPr txBox="1"/>
            <p:nvPr/>
          </p:nvSpPr>
          <p:spPr>
            <a:xfrm>
              <a:off x="533972" y="8267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对比维度</a:t>
              </a:r>
            </a:p>
          </p:txBody>
        </p:sp>
        <p:sp>
          <p:nvSpPr>
            <p:cNvPr id="10" name="Rectangle 10"/>
            <p:cNvSpPr/>
            <p:nvPr/>
          </p:nvSpPr>
          <p:spPr>
            <a:xfrm>
              <a:off x="1219200" y="685800"/>
              <a:ext cx="1200150" cy="381000"/>
            </a:xfrm>
            <a:prstGeom prst="rect">
              <a:avLst/>
            </a:prstGeom>
            <a:solidFill>
              <a:srgbClr val="5D190B"/>
            </a:solidFill>
            <a:ln>
              <a:noFill/>
            </a:ln>
          </p:spPr>
        </p:sp>
        <p:grpSp>
          <p:nvGrpSpPr>
            <p:cNvPr id="19" name="Group 19"/>
            <p:cNvGrpSpPr/>
            <p:nvPr/>
          </p:nvGrpSpPr>
          <p:grpSpPr>
            <a:xfrm>
              <a:off x="1408509" y="779859"/>
              <a:ext cx="110728" cy="116682"/>
              <a:chOff x="1408509" y="779859"/>
              <a:chExt cx="110728" cy="116682"/>
            </a:xfrm>
          </p:grpSpPr>
          <p:sp>
            <p:nvSpPr>
              <p:cNvPr id="11" name="Freeform 11"/>
              <p:cNvSpPr/>
              <p:nvPr/>
            </p:nvSpPr>
            <p:spPr>
              <a:xfrm>
                <a:off x="1408509" y="887016"/>
                <a:ext cx="107156" cy="9525"/>
              </a:xfrm>
              <a:custGeom>
                <a:avLst/>
                <a:gdLst/>
                <a:ahLst/>
                <a:cxnLst/>
                <a:rect l="l" t="t" r="r" b="b"/>
                <a:pathLst>
                  <a:path w="107156" h="9525">
                    <a:moveTo>
                      <a:pt x="0" y="0"/>
                    </a:moveTo>
                    <a:lnTo>
                      <a:pt x="107156" y="0"/>
                    </a:lnTo>
                  </a:path>
                </a:pathLst>
              </a:custGeom>
              <a:noFill/>
              <a:ln w="11906">
                <a:solidFill>
                  <a:srgbClr val="FFFFFF"/>
                </a:solidFill>
              </a:ln>
            </p:spPr>
          </p:sp>
          <p:sp>
            <p:nvSpPr>
              <p:cNvPr id="12" name="Freeform 12"/>
              <p:cNvSpPr/>
              <p:nvPr/>
            </p:nvSpPr>
            <p:spPr>
              <a:xfrm>
                <a:off x="1408509" y="821531"/>
                <a:ext cx="107156" cy="9525"/>
              </a:xfrm>
              <a:custGeom>
                <a:avLst/>
                <a:gdLst/>
                <a:ahLst/>
                <a:cxnLst/>
                <a:rect l="l" t="t" r="r" b="b"/>
                <a:pathLst>
                  <a:path w="107156" h="9525">
                    <a:moveTo>
                      <a:pt x="0" y="0"/>
                    </a:moveTo>
                    <a:lnTo>
                      <a:pt x="107156" y="0"/>
                    </a:lnTo>
                  </a:path>
                </a:pathLst>
              </a:custGeom>
              <a:noFill/>
              <a:ln w="11906">
                <a:solidFill>
                  <a:srgbClr val="FFFFFF"/>
                </a:solidFill>
              </a:ln>
            </p:spPr>
          </p:sp>
          <p:sp>
            <p:nvSpPr>
              <p:cNvPr id="13" name="Freeform 13"/>
              <p:cNvSpPr/>
              <p:nvPr/>
            </p:nvSpPr>
            <p:spPr>
              <a:xfrm>
                <a:off x="1420416" y="779859"/>
                <a:ext cx="83344" cy="17859"/>
              </a:xfrm>
              <a:custGeom>
                <a:avLst/>
                <a:gdLst/>
                <a:ahLst/>
                <a:cxnLst/>
                <a:rect l="l" t="t" r="r" b="b"/>
                <a:pathLst>
                  <a:path w="83344" h="17859">
                    <a:moveTo>
                      <a:pt x="0" y="17859"/>
                    </a:moveTo>
                    <a:lnTo>
                      <a:pt x="41672" y="0"/>
                    </a:lnTo>
                    <a:lnTo>
                      <a:pt x="83344" y="17859"/>
                    </a:lnTo>
                  </a:path>
                </a:pathLst>
              </a:custGeom>
              <a:noFill/>
              <a:ln w="11906">
                <a:solidFill>
                  <a:srgbClr val="FFFFFF"/>
                </a:solidFill>
              </a:ln>
            </p:spPr>
          </p:sp>
          <p:sp>
            <p:nvSpPr>
              <p:cNvPr id="14" name="Freeform 14"/>
              <p:cNvSpPr/>
              <p:nvPr/>
            </p:nvSpPr>
            <p:spPr>
              <a:xfrm>
                <a:off x="1414462" y="821531"/>
                <a:ext cx="9525" cy="65484"/>
              </a:xfrm>
              <a:custGeom>
                <a:avLst/>
                <a:gdLst/>
                <a:ahLst/>
                <a:cxnLst/>
                <a:rect l="l" t="t" r="r" b="b"/>
                <a:pathLst>
                  <a:path w="9525" h="65484">
                    <a:moveTo>
                      <a:pt x="0" y="0"/>
                    </a:moveTo>
                    <a:lnTo>
                      <a:pt x="0" y="65484"/>
                    </a:lnTo>
                  </a:path>
                </a:pathLst>
              </a:custGeom>
              <a:noFill/>
              <a:ln w="11906">
                <a:solidFill>
                  <a:srgbClr val="FFFFFF"/>
                </a:solidFill>
              </a:ln>
            </p:spPr>
          </p:sp>
          <p:sp>
            <p:nvSpPr>
              <p:cNvPr id="15" name="Freeform 15"/>
              <p:cNvSpPr/>
              <p:nvPr/>
            </p:nvSpPr>
            <p:spPr>
              <a:xfrm>
                <a:off x="1509712" y="821531"/>
                <a:ext cx="9525" cy="65484"/>
              </a:xfrm>
              <a:custGeom>
                <a:avLst/>
                <a:gdLst/>
                <a:ahLst/>
                <a:cxnLst/>
                <a:rect l="l" t="t" r="r" b="b"/>
                <a:pathLst>
                  <a:path w="9525" h="65484">
                    <a:moveTo>
                      <a:pt x="0" y="0"/>
                    </a:moveTo>
                    <a:lnTo>
                      <a:pt x="0" y="65484"/>
                    </a:lnTo>
                  </a:path>
                </a:pathLst>
              </a:custGeom>
              <a:noFill/>
              <a:ln w="11906">
                <a:solidFill>
                  <a:srgbClr val="FFFFFF"/>
                </a:solidFill>
              </a:ln>
            </p:spPr>
          </p:sp>
          <p:sp>
            <p:nvSpPr>
              <p:cNvPr id="16" name="Freeform 16"/>
              <p:cNvSpPr/>
              <p:nvPr/>
            </p:nvSpPr>
            <p:spPr>
              <a:xfrm>
                <a:off x="1438275" y="845344"/>
                <a:ext cx="9525" cy="17859"/>
              </a:xfrm>
              <a:custGeom>
                <a:avLst/>
                <a:gdLst/>
                <a:ahLst/>
                <a:cxnLst/>
                <a:rect l="l" t="t" r="r" b="b"/>
                <a:pathLst>
                  <a:path w="9525" h="17859">
                    <a:moveTo>
                      <a:pt x="0" y="0"/>
                    </a:moveTo>
                    <a:lnTo>
                      <a:pt x="0" y="17859"/>
                    </a:lnTo>
                  </a:path>
                </a:pathLst>
              </a:custGeom>
              <a:noFill/>
              <a:ln w="11906">
                <a:solidFill>
                  <a:srgbClr val="FFFFFF"/>
                </a:solidFill>
              </a:ln>
            </p:spPr>
          </p:sp>
          <p:sp>
            <p:nvSpPr>
              <p:cNvPr id="17" name="Freeform 17"/>
              <p:cNvSpPr/>
              <p:nvPr/>
            </p:nvSpPr>
            <p:spPr>
              <a:xfrm>
                <a:off x="1462088" y="845344"/>
                <a:ext cx="9525" cy="17859"/>
              </a:xfrm>
              <a:custGeom>
                <a:avLst/>
                <a:gdLst/>
                <a:ahLst/>
                <a:cxnLst/>
                <a:rect l="l" t="t" r="r" b="b"/>
                <a:pathLst>
                  <a:path w="9525" h="17859">
                    <a:moveTo>
                      <a:pt x="0" y="0"/>
                    </a:moveTo>
                    <a:lnTo>
                      <a:pt x="0" y="17859"/>
                    </a:lnTo>
                  </a:path>
                </a:pathLst>
              </a:custGeom>
              <a:noFill/>
              <a:ln w="11906">
                <a:solidFill>
                  <a:srgbClr val="FFFFFF"/>
                </a:solidFill>
              </a:ln>
            </p:spPr>
          </p:sp>
          <p:sp>
            <p:nvSpPr>
              <p:cNvPr id="18" name="Freeform 18"/>
              <p:cNvSpPr/>
              <p:nvPr/>
            </p:nvSpPr>
            <p:spPr>
              <a:xfrm>
                <a:off x="1485900" y="845344"/>
                <a:ext cx="9525" cy="17859"/>
              </a:xfrm>
              <a:custGeom>
                <a:avLst/>
                <a:gdLst/>
                <a:ahLst/>
                <a:cxnLst/>
                <a:rect l="l" t="t" r="r" b="b"/>
                <a:pathLst>
                  <a:path w="9525" h="17859">
                    <a:moveTo>
                      <a:pt x="0" y="0"/>
                    </a:moveTo>
                    <a:lnTo>
                      <a:pt x="0" y="17859"/>
                    </a:lnTo>
                  </a:path>
                </a:pathLst>
              </a:custGeom>
              <a:noFill/>
              <a:ln w="11906">
                <a:solidFill>
                  <a:srgbClr val="FFFFFF"/>
                </a:solidFill>
              </a:ln>
            </p:spPr>
          </p:sp>
        </p:grpSp>
        <p:sp>
          <p:nvSpPr>
            <p:cNvPr id="20" name="TextBox 20"/>
            <p:cNvSpPr txBox="1"/>
            <p:nvPr/>
          </p:nvSpPr>
          <p:spPr>
            <a:xfrm>
              <a:off x="1708975" y="826770"/>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国有行</a:t>
              </a:r>
            </a:p>
          </p:txBody>
        </p:sp>
        <p:sp>
          <p:nvSpPr>
            <p:cNvPr id="21" name="Rectangle 21"/>
            <p:cNvSpPr/>
            <p:nvPr/>
          </p:nvSpPr>
          <p:spPr>
            <a:xfrm>
              <a:off x="2419350" y="685800"/>
              <a:ext cx="1200150" cy="381000"/>
            </a:xfrm>
            <a:prstGeom prst="rect">
              <a:avLst/>
            </a:prstGeom>
            <a:solidFill>
              <a:srgbClr val="76200F"/>
            </a:solidFill>
            <a:ln>
              <a:noFill/>
            </a:ln>
          </p:spPr>
        </p:sp>
        <p:grpSp>
          <p:nvGrpSpPr>
            <p:cNvPr id="26" name="Group 26"/>
            <p:cNvGrpSpPr/>
            <p:nvPr/>
          </p:nvGrpSpPr>
          <p:grpSpPr>
            <a:xfrm>
              <a:off x="2608659" y="779859"/>
              <a:ext cx="107156" cy="101204"/>
              <a:chOff x="2608659" y="779859"/>
              <a:chExt cx="107156" cy="101204"/>
            </a:xfrm>
          </p:grpSpPr>
          <p:sp>
            <p:nvSpPr>
              <p:cNvPr id="22" name="Freeform 22"/>
              <p:cNvSpPr/>
              <p:nvPr/>
            </p:nvSpPr>
            <p:spPr>
              <a:xfrm>
                <a:off x="2608659" y="803672"/>
                <a:ext cx="107156" cy="77391"/>
              </a:xfrm>
              <a:custGeom>
                <a:avLst/>
                <a:gdLst/>
                <a:ahLst/>
                <a:cxnLst/>
                <a:rect l="l" t="t" r="r" b="b"/>
                <a:pathLst>
                  <a:path w="107156" h="77391">
                    <a:moveTo>
                      <a:pt x="0" y="11906"/>
                    </a:moveTo>
                    <a:cubicBezTo>
                      <a:pt x="0" y="5331"/>
                      <a:pt x="5331" y="0"/>
                      <a:pt x="11906" y="0"/>
                    </a:cubicBezTo>
                    <a:lnTo>
                      <a:pt x="95250" y="0"/>
                    </a:lnTo>
                    <a:cubicBezTo>
                      <a:pt x="101826" y="0"/>
                      <a:pt x="107156" y="5331"/>
                      <a:pt x="107156" y="11906"/>
                    </a:cubicBezTo>
                    <a:lnTo>
                      <a:pt x="107156" y="65484"/>
                    </a:lnTo>
                    <a:cubicBezTo>
                      <a:pt x="107156" y="72060"/>
                      <a:pt x="101826" y="77391"/>
                      <a:pt x="95250" y="77391"/>
                    </a:cubicBezTo>
                    <a:lnTo>
                      <a:pt x="11906" y="77391"/>
                    </a:lnTo>
                    <a:cubicBezTo>
                      <a:pt x="5331" y="77391"/>
                      <a:pt x="0" y="72060"/>
                      <a:pt x="0" y="65484"/>
                    </a:cubicBezTo>
                    <a:lnTo>
                      <a:pt x="0" y="11906"/>
                    </a:lnTo>
                  </a:path>
                </a:pathLst>
              </a:custGeom>
              <a:noFill/>
              <a:ln w="11906">
                <a:solidFill>
                  <a:srgbClr val="FFFFFF"/>
                </a:solidFill>
              </a:ln>
            </p:spPr>
          </p:sp>
          <p:sp>
            <p:nvSpPr>
              <p:cNvPr id="23" name="Freeform 23"/>
              <p:cNvSpPr/>
              <p:nvPr/>
            </p:nvSpPr>
            <p:spPr>
              <a:xfrm>
                <a:off x="2638425" y="779859"/>
                <a:ext cx="47625" cy="23812"/>
              </a:xfrm>
              <a:custGeom>
                <a:avLst/>
                <a:gdLst/>
                <a:ahLst/>
                <a:cxnLst/>
                <a:rect l="l" t="t" r="r" b="b"/>
                <a:pathLst>
                  <a:path w="47625" h="23812">
                    <a:moveTo>
                      <a:pt x="0" y="23812"/>
                    </a:moveTo>
                    <a:lnTo>
                      <a:pt x="0" y="11906"/>
                    </a:lnTo>
                    <a:cubicBezTo>
                      <a:pt x="0" y="5331"/>
                      <a:pt x="5331" y="0"/>
                      <a:pt x="11906" y="0"/>
                    </a:cubicBezTo>
                    <a:lnTo>
                      <a:pt x="35719" y="0"/>
                    </a:lnTo>
                    <a:cubicBezTo>
                      <a:pt x="42294" y="0"/>
                      <a:pt x="47625" y="5331"/>
                      <a:pt x="47625" y="11906"/>
                    </a:cubicBezTo>
                    <a:lnTo>
                      <a:pt x="47625" y="23812"/>
                    </a:lnTo>
                  </a:path>
                </a:pathLst>
              </a:custGeom>
              <a:noFill/>
              <a:ln w="11906">
                <a:solidFill>
                  <a:srgbClr val="FFFFFF"/>
                </a:solidFill>
              </a:ln>
            </p:spPr>
          </p:sp>
          <p:sp>
            <p:nvSpPr>
              <p:cNvPr id="24" name="Freeform 24"/>
              <p:cNvSpPr/>
              <p:nvPr/>
            </p:nvSpPr>
            <p:spPr>
              <a:xfrm>
                <a:off x="2662238" y="833438"/>
                <a:ext cx="9525" cy="9525"/>
              </a:xfrm>
              <a:custGeom>
                <a:avLst/>
                <a:gdLst/>
                <a:ahLst/>
                <a:cxnLst/>
                <a:rect l="l" t="t" r="r" b="b"/>
                <a:pathLst>
                  <a:path w="9525" h="9525">
                    <a:moveTo>
                      <a:pt x="0" y="0"/>
                    </a:moveTo>
                    <a:lnTo>
                      <a:pt x="0" y="60"/>
                    </a:lnTo>
                  </a:path>
                </a:pathLst>
              </a:custGeom>
              <a:noFill/>
              <a:ln w="11906">
                <a:solidFill>
                  <a:srgbClr val="FFFFFF"/>
                </a:solidFill>
              </a:ln>
            </p:spPr>
          </p:sp>
          <p:sp>
            <p:nvSpPr>
              <p:cNvPr id="25" name="Freeform 25"/>
              <p:cNvSpPr/>
              <p:nvPr/>
            </p:nvSpPr>
            <p:spPr>
              <a:xfrm>
                <a:off x="2608659" y="839391"/>
                <a:ext cx="107156" cy="16982"/>
              </a:xfrm>
              <a:custGeom>
                <a:avLst/>
                <a:gdLst/>
                <a:ahLst/>
                <a:cxnLst/>
                <a:rect l="l" t="t" r="r" b="b"/>
                <a:pathLst>
                  <a:path w="107156" h="16982">
                    <a:moveTo>
                      <a:pt x="0" y="0"/>
                    </a:moveTo>
                    <a:cubicBezTo>
                      <a:pt x="33700" y="16982"/>
                      <a:pt x="73456" y="16982"/>
                      <a:pt x="107156" y="0"/>
                    </a:cubicBezTo>
                  </a:path>
                </a:pathLst>
              </a:custGeom>
              <a:noFill/>
              <a:ln w="11906">
                <a:solidFill>
                  <a:srgbClr val="FFFFFF"/>
                </a:solidFill>
              </a:ln>
            </p:spPr>
          </p:sp>
        </p:grpSp>
        <p:sp>
          <p:nvSpPr>
            <p:cNvPr id="27" name="TextBox 27"/>
            <p:cNvSpPr txBox="1"/>
            <p:nvPr/>
          </p:nvSpPr>
          <p:spPr>
            <a:xfrm>
              <a:off x="2909126" y="826770"/>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股份行</a:t>
              </a:r>
            </a:p>
          </p:txBody>
        </p:sp>
        <p:sp>
          <p:nvSpPr>
            <p:cNvPr id="28" name="Rectangle 28"/>
            <p:cNvSpPr/>
            <p:nvPr/>
          </p:nvSpPr>
          <p:spPr>
            <a:xfrm>
              <a:off x="3619500" y="685800"/>
              <a:ext cx="1200150" cy="381000"/>
            </a:xfrm>
            <a:prstGeom prst="rect">
              <a:avLst/>
            </a:prstGeom>
            <a:solidFill>
              <a:srgbClr val="852512"/>
            </a:solidFill>
            <a:ln>
              <a:noFill/>
            </a:ln>
          </p:spPr>
        </p:sp>
        <p:grpSp>
          <p:nvGrpSpPr>
            <p:cNvPr id="32" name="Group 32"/>
            <p:cNvGrpSpPr/>
            <p:nvPr/>
          </p:nvGrpSpPr>
          <p:grpSpPr>
            <a:xfrm>
              <a:off x="3808809" y="779859"/>
              <a:ext cx="107156" cy="107157"/>
              <a:chOff x="3808809" y="779859"/>
              <a:chExt cx="107156" cy="107157"/>
            </a:xfrm>
          </p:grpSpPr>
          <p:sp>
            <p:nvSpPr>
              <p:cNvPr id="29" name="Freeform 29"/>
              <p:cNvSpPr/>
              <p:nvPr/>
            </p:nvSpPr>
            <p:spPr>
              <a:xfrm>
                <a:off x="3808809" y="779859"/>
                <a:ext cx="107156" cy="53578"/>
              </a:xfrm>
              <a:custGeom>
                <a:avLst/>
                <a:gdLst/>
                <a:ahLst/>
                <a:cxnLst/>
                <a:rect l="l" t="t" r="r" b="b"/>
                <a:pathLst>
                  <a:path w="107156" h="53578">
                    <a:moveTo>
                      <a:pt x="11906" y="53578"/>
                    </a:moveTo>
                    <a:lnTo>
                      <a:pt x="0" y="53578"/>
                    </a:lnTo>
                    <a:lnTo>
                      <a:pt x="53578" y="0"/>
                    </a:lnTo>
                    <a:lnTo>
                      <a:pt x="107156" y="53578"/>
                    </a:lnTo>
                    <a:lnTo>
                      <a:pt x="95250" y="53578"/>
                    </a:lnTo>
                  </a:path>
                </a:pathLst>
              </a:custGeom>
              <a:noFill/>
              <a:ln w="11906">
                <a:solidFill>
                  <a:srgbClr val="FFFFFF"/>
                </a:solidFill>
              </a:ln>
            </p:spPr>
          </p:sp>
          <p:sp>
            <p:nvSpPr>
              <p:cNvPr id="30" name="Freeform 30"/>
              <p:cNvSpPr/>
              <p:nvPr/>
            </p:nvSpPr>
            <p:spPr>
              <a:xfrm>
                <a:off x="3820716" y="833438"/>
                <a:ext cx="83344" cy="53578"/>
              </a:xfrm>
              <a:custGeom>
                <a:avLst/>
                <a:gdLst/>
                <a:ahLst/>
                <a:cxnLst/>
                <a:rect l="l" t="t" r="r" b="b"/>
                <a:pathLst>
                  <a:path w="83344" h="53578">
                    <a:moveTo>
                      <a:pt x="0" y="0"/>
                    </a:moveTo>
                    <a:lnTo>
                      <a:pt x="0" y="41672"/>
                    </a:lnTo>
                    <a:cubicBezTo>
                      <a:pt x="0" y="48248"/>
                      <a:pt x="5331" y="53578"/>
                      <a:pt x="11906" y="53578"/>
                    </a:cubicBezTo>
                    <a:lnTo>
                      <a:pt x="71438" y="53578"/>
                    </a:lnTo>
                    <a:cubicBezTo>
                      <a:pt x="78013" y="53578"/>
                      <a:pt x="83344" y="48248"/>
                      <a:pt x="83344" y="41672"/>
                    </a:cubicBezTo>
                    <a:lnTo>
                      <a:pt x="83344" y="0"/>
                    </a:lnTo>
                  </a:path>
                </a:pathLst>
              </a:custGeom>
              <a:noFill/>
              <a:ln w="11906">
                <a:solidFill>
                  <a:srgbClr val="FFFFFF"/>
                </a:solidFill>
              </a:ln>
            </p:spPr>
          </p:sp>
          <p:sp>
            <p:nvSpPr>
              <p:cNvPr id="31" name="Freeform 31"/>
              <p:cNvSpPr/>
              <p:nvPr/>
            </p:nvSpPr>
            <p:spPr>
              <a:xfrm>
                <a:off x="3844528" y="839391"/>
                <a:ext cx="35719" cy="47625"/>
              </a:xfrm>
              <a:custGeom>
                <a:avLst/>
                <a:gdLst/>
                <a:ahLst/>
                <a:cxnLst/>
                <a:rect l="l" t="t" r="r" b="b"/>
                <a:pathLst>
                  <a:path w="35719" h="47625">
                    <a:moveTo>
                      <a:pt x="0" y="47625"/>
                    </a:moveTo>
                    <a:lnTo>
                      <a:pt x="0" y="11906"/>
                    </a:lnTo>
                    <a:cubicBezTo>
                      <a:pt x="0" y="5331"/>
                      <a:pt x="5331" y="0"/>
                      <a:pt x="11906" y="0"/>
                    </a:cubicBezTo>
                    <a:lnTo>
                      <a:pt x="23812" y="0"/>
                    </a:lnTo>
                    <a:cubicBezTo>
                      <a:pt x="30388" y="0"/>
                      <a:pt x="35719" y="5331"/>
                      <a:pt x="35719" y="11906"/>
                    </a:cubicBezTo>
                    <a:lnTo>
                      <a:pt x="35719" y="47625"/>
                    </a:lnTo>
                  </a:path>
                </a:pathLst>
              </a:custGeom>
              <a:noFill/>
              <a:ln w="11906">
                <a:solidFill>
                  <a:srgbClr val="FFFFFF"/>
                </a:solidFill>
              </a:ln>
            </p:spPr>
          </p:sp>
        </p:grpSp>
        <p:sp>
          <p:nvSpPr>
            <p:cNvPr id="33" name="TextBox 33"/>
            <p:cNvSpPr txBox="1"/>
            <p:nvPr/>
          </p:nvSpPr>
          <p:spPr>
            <a:xfrm>
              <a:off x="4109276" y="826770"/>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城商行</a:t>
              </a:r>
            </a:p>
          </p:txBody>
        </p:sp>
        <p:sp>
          <p:nvSpPr>
            <p:cNvPr id="34" name="Rectangle 34"/>
            <p:cNvSpPr/>
            <p:nvPr/>
          </p:nvSpPr>
          <p:spPr>
            <a:xfrm>
              <a:off x="4819650" y="685800"/>
              <a:ext cx="1200150" cy="381000"/>
            </a:xfrm>
            <a:prstGeom prst="rect">
              <a:avLst/>
            </a:prstGeom>
            <a:solidFill>
              <a:srgbClr val="5D190B"/>
            </a:solidFill>
            <a:ln>
              <a:noFill/>
            </a:ln>
          </p:spPr>
        </p:sp>
        <p:grpSp>
          <p:nvGrpSpPr>
            <p:cNvPr id="38" name="Group 38"/>
            <p:cNvGrpSpPr/>
            <p:nvPr/>
          </p:nvGrpSpPr>
          <p:grpSpPr>
            <a:xfrm>
              <a:off x="5008959" y="779859"/>
              <a:ext cx="107156" cy="107156"/>
              <a:chOff x="5008959" y="779859"/>
              <a:chExt cx="107156" cy="107156"/>
            </a:xfrm>
          </p:grpSpPr>
          <p:sp>
            <p:nvSpPr>
              <p:cNvPr id="35" name="Freeform 35"/>
              <p:cNvSpPr/>
              <p:nvPr/>
            </p:nvSpPr>
            <p:spPr>
              <a:xfrm>
                <a:off x="5056584" y="827484"/>
                <a:ext cx="11906" cy="11906"/>
              </a:xfrm>
              <a:custGeom>
                <a:avLst/>
                <a:gdLst/>
                <a:ahLst/>
                <a:cxnLst/>
                <a:rect l="l" t="t" r="r" b="b"/>
                <a:pathLst>
                  <a:path w="11906" h="11906">
                    <a:moveTo>
                      <a:pt x="0" y="5953"/>
                    </a:moveTo>
                    <a:cubicBezTo>
                      <a:pt x="0" y="9241"/>
                      <a:pt x="2665" y="11906"/>
                      <a:pt x="5953" y="11906"/>
                    </a:cubicBezTo>
                    <a:cubicBezTo>
                      <a:pt x="9241" y="11906"/>
                      <a:pt x="11906" y="9241"/>
                      <a:pt x="11906" y="5953"/>
                    </a:cubicBezTo>
                    <a:cubicBezTo>
                      <a:pt x="11906" y="2665"/>
                      <a:pt x="9241" y="0"/>
                      <a:pt x="5953" y="0"/>
                    </a:cubicBezTo>
                    <a:cubicBezTo>
                      <a:pt x="2665" y="0"/>
                      <a:pt x="0" y="2665"/>
                      <a:pt x="0" y="5953"/>
                    </a:cubicBezTo>
                  </a:path>
                </a:pathLst>
              </a:custGeom>
              <a:noFill/>
              <a:ln w="11906">
                <a:solidFill>
                  <a:srgbClr val="FFFFFF"/>
                </a:solidFill>
              </a:ln>
            </p:spPr>
          </p:sp>
          <p:sp>
            <p:nvSpPr>
              <p:cNvPr id="36" name="Freeform 36"/>
              <p:cNvSpPr/>
              <p:nvPr/>
            </p:nvSpPr>
            <p:spPr>
              <a:xfrm>
                <a:off x="5032772" y="803672"/>
                <a:ext cx="59531" cy="59531"/>
              </a:xfrm>
              <a:custGeom>
                <a:avLst/>
                <a:gdLst/>
                <a:ahLst/>
                <a:cxnLst/>
                <a:rect l="l" t="t" r="r" b="b"/>
                <a:pathLst>
                  <a:path w="59531" h="59531">
                    <a:moveTo>
                      <a:pt x="0" y="29766"/>
                    </a:moveTo>
                    <a:cubicBezTo>
                      <a:pt x="0" y="46205"/>
                      <a:pt x="13327" y="59531"/>
                      <a:pt x="29766" y="59531"/>
                    </a:cubicBezTo>
                    <a:cubicBezTo>
                      <a:pt x="46205" y="59531"/>
                      <a:pt x="59531" y="46205"/>
                      <a:pt x="59531" y="29766"/>
                    </a:cubicBezTo>
                    <a:cubicBezTo>
                      <a:pt x="59531" y="13327"/>
                      <a:pt x="46205" y="0"/>
                      <a:pt x="29766" y="0"/>
                    </a:cubicBezTo>
                    <a:cubicBezTo>
                      <a:pt x="13327" y="0"/>
                      <a:pt x="0" y="13327"/>
                      <a:pt x="0" y="29766"/>
                    </a:cubicBezTo>
                  </a:path>
                </a:pathLst>
              </a:custGeom>
              <a:noFill/>
              <a:ln w="11906">
                <a:solidFill>
                  <a:srgbClr val="FFFFFF"/>
                </a:solidFill>
              </a:ln>
            </p:spPr>
          </p:sp>
          <p:sp>
            <p:nvSpPr>
              <p:cNvPr id="37" name="Freeform 37"/>
              <p:cNvSpPr/>
              <p:nvPr/>
            </p:nvSpPr>
            <p:spPr>
              <a:xfrm>
                <a:off x="5008959" y="779859"/>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11906">
                <a:solidFill>
                  <a:srgbClr val="FFFFFF"/>
                </a:solidFill>
              </a:ln>
            </p:spPr>
          </p:sp>
        </p:grpSp>
        <p:sp>
          <p:nvSpPr>
            <p:cNvPr id="39" name="TextBox 39"/>
            <p:cNvSpPr txBox="1"/>
            <p:nvPr/>
          </p:nvSpPr>
          <p:spPr>
            <a:xfrm>
              <a:off x="5309426" y="826770"/>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农商行</a:t>
              </a:r>
            </a:p>
          </p:txBody>
        </p:sp>
        <p:sp>
          <p:nvSpPr>
            <p:cNvPr id="40" name="Rectangle 40"/>
            <p:cNvSpPr/>
            <p:nvPr/>
          </p:nvSpPr>
          <p:spPr>
            <a:xfrm>
              <a:off x="6019800" y="685800"/>
              <a:ext cx="1200150" cy="381000"/>
            </a:xfrm>
            <a:prstGeom prst="rect">
              <a:avLst/>
            </a:prstGeom>
            <a:solidFill>
              <a:srgbClr val="76200F"/>
            </a:solidFill>
            <a:ln>
              <a:noFill/>
            </a:ln>
          </p:spPr>
        </p:sp>
        <p:grpSp>
          <p:nvGrpSpPr>
            <p:cNvPr id="44" name="Group 44"/>
            <p:cNvGrpSpPr/>
            <p:nvPr/>
          </p:nvGrpSpPr>
          <p:grpSpPr>
            <a:xfrm>
              <a:off x="6226969" y="779859"/>
              <a:ext cx="71438" cy="107156"/>
              <a:chOff x="6226969" y="779859"/>
              <a:chExt cx="71438" cy="107156"/>
            </a:xfrm>
          </p:grpSpPr>
          <p:sp>
            <p:nvSpPr>
              <p:cNvPr id="41" name="Freeform 41"/>
              <p:cNvSpPr/>
              <p:nvPr/>
            </p:nvSpPr>
            <p:spPr>
              <a:xfrm>
                <a:off x="6226969" y="779859"/>
                <a:ext cx="71438" cy="107156"/>
              </a:xfrm>
              <a:custGeom>
                <a:avLst/>
                <a:gdLst/>
                <a:ahLst/>
                <a:cxnLst/>
                <a:rect l="l" t="t" r="r" b="b"/>
                <a:pathLst>
                  <a:path w="71438" h="107156">
                    <a:moveTo>
                      <a:pt x="0" y="11906"/>
                    </a:moveTo>
                    <a:cubicBezTo>
                      <a:pt x="0" y="5331"/>
                      <a:pt x="5331" y="0"/>
                      <a:pt x="11906" y="0"/>
                    </a:cubicBezTo>
                    <a:lnTo>
                      <a:pt x="59531" y="0"/>
                    </a:lnTo>
                    <a:cubicBezTo>
                      <a:pt x="66107" y="0"/>
                      <a:pt x="71438" y="5331"/>
                      <a:pt x="71438" y="11906"/>
                    </a:cubicBezTo>
                    <a:lnTo>
                      <a:pt x="71438" y="95250"/>
                    </a:lnTo>
                    <a:cubicBezTo>
                      <a:pt x="71438" y="101826"/>
                      <a:pt x="66107" y="107156"/>
                      <a:pt x="59531" y="107156"/>
                    </a:cubicBezTo>
                    <a:lnTo>
                      <a:pt x="11906" y="107156"/>
                    </a:lnTo>
                    <a:cubicBezTo>
                      <a:pt x="5331" y="107156"/>
                      <a:pt x="0" y="101826"/>
                      <a:pt x="0" y="95250"/>
                    </a:cubicBezTo>
                    <a:lnTo>
                      <a:pt x="0" y="11906"/>
                    </a:lnTo>
                  </a:path>
                </a:pathLst>
              </a:custGeom>
              <a:noFill/>
              <a:ln w="11906">
                <a:solidFill>
                  <a:srgbClr val="FFFFFF"/>
                </a:solidFill>
              </a:ln>
            </p:spPr>
          </p:sp>
          <p:sp>
            <p:nvSpPr>
              <p:cNvPr id="42" name="Freeform 42"/>
              <p:cNvSpPr/>
              <p:nvPr/>
            </p:nvSpPr>
            <p:spPr>
              <a:xfrm>
                <a:off x="6256734" y="785812"/>
                <a:ext cx="11906" cy="9525"/>
              </a:xfrm>
              <a:custGeom>
                <a:avLst/>
                <a:gdLst/>
                <a:ahLst/>
                <a:cxnLst/>
                <a:rect l="l" t="t" r="r" b="b"/>
                <a:pathLst>
                  <a:path w="11906" h="9525">
                    <a:moveTo>
                      <a:pt x="0" y="0"/>
                    </a:moveTo>
                    <a:lnTo>
                      <a:pt x="11906" y="0"/>
                    </a:lnTo>
                  </a:path>
                </a:pathLst>
              </a:custGeom>
              <a:noFill/>
              <a:ln w="11906">
                <a:solidFill>
                  <a:srgbClr val="FFFFFF"/>
                </a:solidFill>
              </a:ln>
            </p:spPr>
          </p:sp>
          <p:sp>
            <p:nvSpPr>
              <p:cNvPr id="43" name="Freeform 43"/>
              <p:cNvSpPr/>
              <p:nvPr/>
            </p:nvSpPr>
            <p:spPr>
              <a:xfrm>
                <a:off x="6262688" y="863203"/>
                <a:ext cx="9525" cy="9525"/>
              </a:xfrm>
              <a:custGeom>
                <a:avLst/>
                <a:gdLst/>
                <a:ahLst/>
                <a:cxnLst/>
                <a:rect l="l" t="t" r="r" b="b"/>
                <a:pathLst>
                  <a:path w="9525" h="9525">
                    <a:moveTo>
                      <a:pt x="0" y="0"/>
                    </a:moveTo>
                    <a:lnTo>
                      <a:pt x="0" y="60"/>
                    </a:lnTo>
                  </a:path>
                </a:pathLst>
              </a:custGeom>
              <a:noFill/>
              <a:ln w="11906">
                <a:solidFill>
                  <a:srgbClr val="FFFFFF"/>
                </a:solidFill>
              </a:ln>
            </p:spPr>
          </p:sp>
        </p:grpSp>
        <p:sp>
          <p:nvSpPr>
            <p:cNvPr id="45" name="TextBox 45"/>
            <p:cNvSpPr txBox="1"/>
            <p:nvPr/>
          </p:nvSpPr>
          <p:spPr>
            <a:xfrm>
              <a:off x="6388418" y="826770"/>
              <a:ext cx="61531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互联网银行</a:t>
              </a:r>
            </a:p>
          </p:txBody>
        </p:sp>
        <p:sp>
          <p:nvSpPr>
            <p:cNvPr id="46" name="Rectangle 46"/>
            <p:cNvSpPr/>
            <p:nvPr/>
          </p:nvSpPr>
          <p:spPr>
            <a:xfrm>
              <a:off x="7219950" y="685800"/>
              <a:ext cx="1200150" cy="381000"/>
            </a:xfrm>
            <a:prstGeom prst="rect">
              <a:avLst/>
            </a:prstGeom>
            <a:solidFill>
              <a:srgbClr val="852512"/>
            </a:solidFill>
            <a:ln>
              <a:noFill/>
            </a:ln>
          </p:spPr>
        </p:sp>
        <p:grpSp>
          <p:nvGrpSpPr>
            <p:cNvPr id="51" name="Group 51"/>
            <p:cNvGrpSpPr/>
            <p:nvPr/>
          </p:nvGrpSpPr>
          <p:grpSpPr>
            <a:xfrm>
              <a:off x="7409259" y="791766"/>
              <a:ext cx="107156" cy="83344"/>
              <a:chOff x="7409259" y="791766"/>
              <a:chExt cx="107156" cy="83344"/>
            </a:xfrm>
          </p:grpSpPr>
          <p:sp>
            <p:nvSpPr>
              <p:cNvPr id="47" name="Freeform 47"/>
              <p:cNvSpPr/>
              <p:nvPr/>
            </p:nvSpPr>
            <p:spPr>
              <a:xfrm>
                <a:off x="7409259" y="791766"/>
                <a:ext cx="107156" cy="83344"/>
              </a:xfrm>
              <a:custGeom>
                <a:avLst/>
                <a:gdLst/>
                <a:ahLst/>
                <a:cxnLst/>
                <a:rect l="l" t="t" r="r" b="b"/>
                <a:pathLst>
                  <a:path w="107156" h="83344">
                    <a:moveTo>
                      <a:pt x="0" y="17859"/>
                    </a:moveTo>
                    <a:cubicBezTo>
                      <a:pt x="0" y="7996"/>
                      <a:pt x="7996" y="0"/>
                      <a:pt x="17859" y="0"/>
                    </a:cubicBezTo>
                    <a:lnTo>
                      <a:pt x="89297" y="0"/>
                    </a:lnTo>
                    <a:cubicBezTo>
                      <a:pt x="99160" y="0"/>
                      <a:pt x="107156" y="7996"/>
                      <a:pt x="107156" y="17859"/>
                    </a:cubicBezTo>
                    <a:lnTo>
                      <a:pt x="107156" y="65484"/>
                    </a:lnTo>
                    <a:cubicBezTo>
                      <a:pt x="107156" y="75348"/>
                      <a:pt x="99160" y="83344"/>
                      <a:pt x="89297" y="83344"/>
                    </a:cubicBezTo>
                    <a:lnTo>
                      <a:pt x="17859" y="83344"/>
                    </a:lnTo>
                    <a:cubicBezTo>
                      <a:pt x="7996" y="83344"/>
                      <a:pt x="0" y="75348"/>
                      <a:pt x="0" y="65484"/>
                    </a:cubicBezTo>
                    <a:lnTo>
                      <a:pt x="0" y="17859"/>
                    </a:lnTo>
                  </a:path>
                </a:pathLst>
              </a:custGeom>
              <a:noFill/>
              <a:ln w="11906">
                <a:solidFill>
                  <a:srgbClr val="FFFFFF"/>
                </a:solidFill>
              </a:ln>
            </p:spPr>
          </p:sp>
          <p:sp>
            <p:nvSpPr>
              <p:cNvPr id="48" name="Freeform 48"/>
              <p:cNvSpPr/>
              <p:nvPr/>
            </p:nvSpPr>
            <p:spPr>
              <a:xfrm>
                <a:off x="7409259" y="821531"/>
                <a:ext cx="107156" cy="9525"/>
              </a:xfrm>
              <a:custGeom>
                <a:avLst/>
                <a:gdLst/>
                <a:ahLst/>
                <a:cxnLst/>
                <a:rect l="l" t="t" r="r" b="b"/>
                <a:pathLst>
                  <a:path w="107156" h="9525">
                    <a:moveTo>
                      <a:pt x="0" y="0"/>
                    </a:moveTo>
                    <a:lnTo>
                      <a:pt x="107156" y="0"/>
                    </a:lnTo>
                  </a:path>
                </a:pathLst>
              </a:custGeom>
              <a:noFill/>
              <a:ln w="11906">
                <a:solidFill>
                  <a:srgbClr val="FFFFFF"/>
                </a:solidFill>
              </a:ln>
            </p:spPr>
          </p:sp>
          <p:sp>
            <p:nvSpPr>
              <p:cNvPr id="49" name="Freeform 49"/>
              <p:cNvSpPr/>
              <p:nvPr/>
            </p:nvSpPr>
            <p:spPr>
              <a:xfrm>
                <a:off x="7433072" y="851297"/>
                <a:ext cx="9525" cy="9525"/>
              </a:xfrm>
              <a:custGeom>
                <a:avLst/>
                <a:gdLst/>
                <a:ahLst/>
                <a:cxnLst/>
                <a:rect l="l" t="t" r="r" b="b"/>
                <a:pathLst>
                  <a:path w="9525" h="9525">
                    <a:moveTo>
                      <a:pt x="0" y="0"/>
                    </a:moveTo>
                    <a:lnTo>
                      <a:pt x="60" y="0"/>
                    </a:lnTo>
                  </a:path>
                </a:pathLst>
              </a:custGeom>
              <a:noFill/>
              <a:ln w="11906">
                <a:solidFill>
                  <a:srgbClr val="FFFFFF"/>
                </a:solidFill>
              </a:ln>
            </p:spPr>
          </p:sp>
          <p:sp>
            <p:nvSpPr>
              <p:cNvPr id="50" name="Freeform 50"/>
              <p:cNvSpPr/>
              <p:nvPr/>
            </p:nvSpPr>
            <p:spPr>
              <a:xfrm>
                <a:off x="7456884" y="851297"/>
                <a:ext cx="11906" cy="9525"/>
              </a:xfrm>
              <a:custGeom>
                <a:avLst/>
                <a:gdLst/>
                <a:ahLst/>
                <a:cxnLst/>
                <a:rect l="l" t="t" r="r" b="b"/>
                <a:pathLst>
                  <a:path w="11906" h="9525">
                    <a:moveTo>
                      <a:pt x="0" y="0"/>
                    </a:moveTo>
                    <a:lnTo>
                      <a:pt x="11906" y="0"/>
                    </a:lnTo>
                  </a:path>
                </a:pathLst>
              </a:custGeom>
              <a:noFill/>
              <a:ln w="11906">
                <a:solidFill>
                  <a:srgbClr val="FFFFFF"/>
                </a:solidFill>
              </a:ln>
            </p:spPr>
          </p:sp>
        </p:grpSp>
        <p:sp>
          <p:nvSpPr>
            <p:cNvPr id="52" name="TextBox 52"/>
            <p:cNvSpPr txBox="1"/>
            <p:nvPr/>
          </p:nvSpPr>
          <p:spPr>
            <a:xfrm>
              <a:off x="7649146" y="8267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支付平台</a:t>
              </a:r>
            </a:p>
          </p:txBody>
        </p:sp>
        <p:grpSp>
          <p:nvGrpSpPr>
            <p:cNvPr id="185" name="peer-rows"/>
            <p:cNvGrpSpPr/>
            <p:nvPr/>
          </p:nvGrpSpPr>
          <p:grpSpPr>
            <a:xfrm>
              <a:off x="342900" y="1066800"/>
              <a:ext cx="8081485" cy="3867150"/>
              <a:chOff x="342900" y="1066800"/>
              <a:chExt cx="8081485" cy="3867150"/>
            </a:xfrm>
          </p:grpSpPr>
          <p:sp>
            <p:nvSpPr>
              <p:cNvPr id="53" name="Rectangle 53"/>
              <p:cNvSpPr/>
              <p:nvPr/>
            </p:nvSpPr>
            <p:spPr>
              <a:xfrm>
                <a:off x="342900" y="1066800"/>
                <a:ext cx="8077200" cy="552450"/>
              </a:xfrm>
              <a:prstGeom prst="rect">
                <a:avLst/>
              </a:prstGeom>
              <a:solidFill>
                <a:srgbClr val="FFFFFF"/>
              </a:solidFill>
              <a:ln w="9525">
                <a:solidFill>
                  <a:srgbClr val="E2EEEB"/>
                </a:solidFill>
              </a:ln>
            </p:spPr>
          </p:sp>
          <p:grpSp>
            <p:nvGrpSpPr>
              <p:cNvPr id="57" name="Group 57"/>
              <p:cNvGrpSpPr/>
              <p:nvPr/>
            </p:nvGrpSpPr>
            <p:grpSpPr>
              <a:xfrm>
                <a:off x="398859" y="1218009"/>
                <a:ext cx="107156" cy="107156"/>
                <a:chOff x="398859" y="1218009"/>
                <a:chExt cx="107156" cy="107156"/>
              </a:xfrm>
            </p:grpSpPr>
            <p:sp>
              <p:nvSpPr>
                <p:cNvPr id="54" name="Freeform 54"/>
                <p:cNvSpPr/>
                <p:nvPr/>
              </p:nvSpPr>
              <p:spPr>
                <a:xfrm>
                  <a:off x="446484" y="1265634"/>
                  <a:ext cx="11906" cy="11906"/>
                </a:xfrm>
                <a:custGeom>
                  <a:avLst/>
                  <a:gdLst/>
                  <a:ahLst/>
                  <a:cxnLst/>
                  <a:rect l="l" t="t" r="r" b="b"/>
                  <a:pathLst>
                    <a:path w="11906" h="11906">
                      <a:moveTo>
                        <a:pt x="0" y="5953"/>
                      </a:moveTo>
                      <a:cubicBezTo>
                        <a:pt x="0" y="9241"/>
                        <a:pt x="2665" y="11906"/>
                        <a:pt x="5953" y="11906"/>
                      </a:cubicBezTo>
                      <a:cubicBezTo>
                        <a:pt x="9241" y="11906"/>
                        <a:pt x="11906" y="9241"/>
                        <a:pt x="11906" y="5953"/>
                      </a:cubicBezTo>
                      <a:cubicBezTo>
                        <a:pt x="11906" y="2665"/>
                        <a:pt x="9241" y="0"/>
                        <a:pt x="5953" y="0"/>
                      </a:cubicBezTo>
                      <a:cubicBezTo>
                        <a:pt x="2665" y="0"/>
                        <a:pt x="0" y="2665"/>
                        <a:pt x="0" y="5953"/>
                      </a:cubicBezTo>
                    </a:path>
                  </a:pathLst>
                </a:custGeom>
                <a:noFill/>
                <a:ln w="11906">
                  <a:solidFill>
                    <a:srgbClr val="76200F"/>
                  </a:solidFill>
                </a:ln>
              </p:spPr>
            </p:sp>
            <p:sp>
              <p:nvSpPr>
                <p:cNvPr id="55" name="Freeform 55"/>
                <p:cNvSpPr/>
                <p:nvPr/>
              </p:nvSpPr>
              <p:spPr>
                <a:xfrm>
                  <a:off x="422672" y="1241822"/>
                  <a:ext cx="59531" cy="59531"/>
                </a:xfrm>
                <a:custGeom>
                  <a:avLst/>
                  <a:gdLst/>
                  <a:ahLst/>
                  <a:cxnLst/>
                  <a:rect l="l" t="t" r="r" b="b"/>
                  <a:pathLst>
                    <a:path w="59531" h="59531">
                      <a:moveTo>
                        <a:pt x="0" y="29766"/>
                      </a:moveTo>
                      <a:cubicBezTo>
                        <a:pt x="0" y="46205"/>
                        <a:pt x="13327" y="59531"/>
                        <a:pt x="29766" y="59531"/>
                      </a:cubicBezTo>
                      <a:cubicBezTo>
                        <a:pt x="46205" y="59531"/>
                        <a:pt x="59531" y="46205"/>
                        <a:pt x="59531" y="29766"/>
                      </a:cubicBezTo>
                      <a:cubicBezTo>
                        <a:pt x="59531" y="13327"/>
                        <a:pt x="46205" y="0"/>
                        <a:pt x="29766" y="0"/>
                      </a:cubicBezTo>
                      <a:cubicBezTo>
                        <a:pt x="13327" y="0"/>
                        <a:pt x="0" y="13327"/>
                        <a:pt x="0" y="29766"/>
                      </a:cubicBezTo>
                    </a:path>
                  </a:pathLst>
                </a:custGeom>
                <a:noFill/>
                <a:ln w="11906">
                  <a:solidFill>
                    <a:srgbClr val="76200F"/>
                  </a:solidFill>
                </a:ln>
              </p:spPr>
            </p:sp>
            <p:sp>
              <p:nvSpPr>
                <p:cNvPr id="56" name="Freeform 56"/>
                <p:cNvSpPr/>
                <p:nvPr/>
              </p:nvSpPr>
              <p:spPr>
                <a:xfrm>
                  <a:off x="398859" y="1218009"/>
                  <a:ext cx="107156" cy="107156"/>
                </a:xfrm>
                <a:custGeom>
                  <a:avLst/>
                  <a:gdLst/>
                  <a:ahLst/>
                  <a:cxnLst/>
                  <a:rect l="l" t="t" r="r" b="b"/>
                  <a:pathLst>
                    <a:path w="107156" h="107156">
                      <a:moveTo>
                        <a:pt x="0" y="53578"/>
                      </a:moveTo>
                      <a:cubicBezTo>
                        <a:pt x="0" y="83169"/>
                        <a:pt x="23988" y="107156"/>
                        <a:pt x="53578" y="107156"/>
                      </a:cubicBezTo>
                      <a:cubicBezTo>
                        <a:pt x="83169" y="107156"/>
                        <a:pt x="107156" y="83169"/>
                        <a:pt x="107156" y="53578"/>
                      </a:cubicBezTo>
                      <a:cubicBezTo>
                        <a:pt x="107156" y="23988"/>
                        <a:pt x="83169" y="0"/>
                        <a:pt x="53578" y="0"/>
                      </a:cubicBezTo>
                      <a:cubicBezTo>
                        <a:pt x="23988" y="0"/>
                        <a:pt x="0" y="23988"/>
                        <a:pt x="0" y="53578"/>
                      </a:cubicBezTo>
                    </a:path>
                  </a:pathLst>
                </a:custGeom>
                <a:noFill/>
                <a:ln w="11906">
                  <a:solidFill>
                    <a:srgbClr val="76200F"/>
                  </a:solidFill>
                </a:ln>
              </p:spPr>
            </p:sp>
          </p:grpSp>
          <p:sp>
            <p:nvSpPr>
              <p:cNvPr id="58" name="TextBox 58"/>
              <p:cNvSpPr txBox="1"/>
              <p:nvPr/>
            </p:nvSpPr>
            <p:spPr>
              <a:xfrm>
                <a:off x="620738" y="1305639"/>
                <a:ext cx="434924" cy="154781"/>
              </a:xfrm>
              <a:prstGeom prst="rect">
                <a:avLst/>
              </a:prstGeom>
              <a:noFill/>
              <a:ln>
                <a:noFill/>
              </a:ln>
            </p:spPr>
            <p:txBody>
              <a:bodyPr wrap="none" lIns="0" tIns="0" rIns="0" bIns="0" anchor="t" anchorCtr="0">
                <a:spAutoFit/>
              </a:bodyPr>
              <a:lstStyle/>
              <a:p>
                <a:pPr algn="ctr"/>
                <a:r>
                  <a:rPr lang="zh-CN" sz="790" b="1" dirty="0">
                    <a:solidFill>
                      <a:srgbClr val="5D190B"/>
                    </a:solidFill>
                    <a:latin typeface="+mn-lt"/>
                    <a:ea typeface="+mn-ea"/>
                    <a:cs typeface="+mn-cs"/>
                  </a:rPr>
                  <a:t>核心场景</a:t>
                </a:r>
              </a:p>
            </p:txBody>
          </p:sp>
          <p:sp>
            <p:nvSpPr>
              <p:cNvPr id="59" name="TextBox 59"/>
              <p:cNvSpPr txBox="1"/>
              <p:nvPr/>
            </p:nvSpPr>
            <p:spPr>
              <a:xfrm>
                <a:off x="1539888" y="122253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城市综合生活</a:t>
                </a:r>
              </a:p>
            </p:txBody>
          </p:sp>
          <p:sp>
            <p:nvSpPr>
              <p:cNvPr id="60" name="TextBox 60"/>
              <p:cNvSpPr txBox="1"/>
              <p:nvPr/>
            </p:nvSpPr>
            <p:spPr>
              <a:xfrm>
                <a:off x="1539888" y="13558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政务民生服务</a:t>
                </a:r>
              </a:p>
            </p:txBody>
          </p:sp>
          <p:sp>
            <p:nvSpPr>
              <p:cNvPr id="61" name="TextBox 61"/>
              <p:cNvSpPr txBox="1"/>
              <p:nvPr/>
            </p:nvSpPr>
            <p:spPr>
              <a:xfrm>
                <a:off x="2831579" y="12225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商圈消费</a:t>
                </a:r>
              </a:p>
            </p:txBody>
          </p:sp>
          <p:sp>
            <p:nvSpPr>
              <p:cNvPr id="62" name="TextBox 62"/>
              <p:cNvSpPr txBox="1"/>
              <p:nvPr/>
            </p:nvSpPr>
            <p:spPr>
              <a:xfrm>
                <a:off x="2831579" y="13558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品质生活</a:t>
                </a:r>
              </a:p>
            </p:txBody>
          </p:sp>
          <p:sp>
            <p:nvSpPr>
              <p:cNvPr id="63" name="TextBox 63"/>
              <p:cNvSpPr txBox="1"/>
              <p:nvPr/>
            </p:nvSpPr>
            <p:spPr>
              <a:xfrm>
                <a:off x="4031729" y="12225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本地生活</a:t>
                </a:r>
              </a:p>
            </p:txBody>
          </p:sp>
          <p:sp>
            <p:nvSpPr>
              <p:cNvPr id="64" name="TextBox 64"/>
              <p:cNvSpPr txBox="1"/>
              <p:nvPr/>
            </p:nvSpPr>
            <p:spPr>
              <a:xfrm>
                <a:off x="3940188" y="13558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城市特色场景</a:t>
                </a:r>
              </a:p>
            </p:txBody>
          </p:sp>
          <p:sp>
            <p:nvSpPr>
              <p:cNvPr id="65" name="TextBox 65"/>
              <p:cNvSpPr txBox="1"/>
              <p:nvPr/>
            </p:nvSpPr>
            <p:spPr>
              <a:xfrm>
                <a:off x="5231879" y="12225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县城乡镇</a:t>
                </a:r>
              </a:p>
            </p:txBody>
          </p:sp>
          <p:sp>
            <p:nvSpPr>
              <p:cNvPr id="66" name="TextBox 66"/>
              <p:cNvSpPr txBox="1"/>
              <p:nvPr/>
            </p:nvSpPr>
            <p:spPr>
              <a:xfrm>
                <a:off x="5140338" y="13558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乡村振兴场景</a:t>
                </a:r>
              </a:p>
            </p:txBody>
          </p:sp>
          <p:sp>
            <p:nvSpPr>
              <p:cNvPr id="67" name="TextBox 67"/>
              <p:cNvSpPr txBox="1"/>
              <p:nvPr/>
            </p:nvSpPr>
            <p:spPr>
              <a:xfrm>
                <a:off x="6340488" y="122253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线上数字生活</a:t>
                </a:r>
              </a:p>
            </p:txBody>
          </p:sp>
          <p:sp>
            <p:nvSpPr>
              <p:cNvPr id="68" name="TextBox 68"/>
              <p:cNvSpPr txBox="1"/>
              <p:nvPr/>
            </p:nvSpPr>
            <p:spPr>
              <a:xfrm>
                <a:off x="6432029" y="13558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场景服务</a:t>
                </a:r>
              </a:p>
            </p:txBody>
          </p:sp>
          <p:sp>
            <p:nvSpPr>
              <p:cNvPr id="69" name="TextBox 69"/>
              <p:cNvSpPr txBox="1"/>
              <p:nvPr/>
            </p:nvSpPr>
            <p:spPr>
              <a:xfrm>
                <a:off x="7632179" y="12225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全域支付</a:t>
                </a:r>
              </a:p>
            </p:txBody>
          </p:sp>
          <p:sp>
            <p:nvSpPr>
              <p:cNvPr id="70" name="TextBox 70"/>
              <p:cNvSpPr txBox="1"/>
              <p:nvPr/>
            </p:nvSpPr>
            <p:spPr>
              <a:xfrm>
                <a:off x="7540638" y="13558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高频生活场景</a:t>
                </a:r>
              </a:p>
            </p:txBody>
          </p:sp>
          <p:sp>
            <p:nvSpPr>
              <p:cNvPr id="71" name="Rectangle 71"/>
              <p:cNvSpPr/>
              <p:nvPr/>
            </p:nvSpPr>
            <p:spPr>
              <a:xfrm>
                <a:off x="342900" y="1619250"/>
                <a:ext cx="8077200" cy="552450"/>
              </a:xfrm>
              <a:prstGeom prst="rect">
                <a:avLst/>
              </a:prstGeom>
              <a:solidFill>
                <a:srgbClr val="EFF8F6"/>
              </a:solidFill>
              <a:ln w="9525">
                <a:solidFill>
                  <a:srgbClr val="E2EEEB"/>
                </a:solidFill>
              </a:ln>
            </p:spPr>
          </p:sp>
          <p:grpSp>
            <p:nvGrpSpPr>
              <p:cNvPr id="78" name="Group 78"/>
              <p:cNvGrpSpPr/>
              <p:nvPr/>
            </p:nvGrpSpPr>
            <p:grpSpPr>
              <a:xfrm>
                <a:off x="398859" y="1770459"/>
                <a:ext cx="107156" cy="107156"/>
                <a:chOff x="398859" y="1770459"/>
                <a:chExt cx="107156" cy="107156"/>
              </a:xfrm>
            </p:grpSpPr>
            <p:sp>
              <p:nvSpPr>
                <p:cNvPr id="72" name="Freeform 72"/>
                <p:cNvSpPr/>
                <p:nvPr/>
              </p:nvSpPr>
              <p:spPr>
                <a:xfrm>
                  <a:off x="440531" y="181808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sp>
              <p:nvSpPr>
                <p:cNvPr id="73" name="Freeform 73"/>
                <p:cNvSpPr/>
                <p:nvPr/>
              </p:nvSpPr>
              <p:spPr>
                <a:xfrm>
                  <a:off x="428625" y="1859756"/>
                  <a:ext cx="47625" cy="17859"/>
                </a:xfrm>
                <a:custGeom>
                  <a:avLst/>
                  <a:gdLst/>
                  <a:ahLst/>
                  <a:cxnLst/>
                  <a:rect l="l" t="t" r="r" b="b"/>
                  <a:pathLst>
                    <a:path w="47625" h="17859">
                      <a:moveTo>
                        <a:pt x="0" y="17859"/>
                      </a:moveTo>
                      <a:lnTo>
                        <a:pt x="0" y="11906"/>
                      </a:lnTo>
                      <a:cubicBezTo>
                        <a:pt x="0" y="5331"/>
                        <a:pt x="5331" y="0"/>
                        <a:pt x="11906" y="0"/>
                      </a:cubicBezTo>
                      <a:lnTo>
                        <a:pt x="35719" y="0"/>
                      </a:lnTo>
                      <a:cubicBezTo>
                        <a:pt x="42294" y="0"/>
                        <a:pt x="47625" y="5331"/>
                        <a:pt x="47625" y="11906"/>
                      </a:cubicBezTo>
                      <a:lnTo>
                        <a:pt x="47625" y="17859"/>
                      </a:lnTo>
                    </a:path>
                  </a:pathLst>
                </a:custGeom>
                <a:noFill/>
                <a:ln w="11906">
                  <a:solidFill>
                    <a:srgbClr val="76200F"/>
                  </a:solidFill>
                </a:ln>
              </p:spPr>
            </p:sp>
            <p:sp>
              <p:nvSpPr>
                <p:cNvPr id="74" name="Freeform 74"/>
                <p:cNvSpPr/>
                <p:nvPr/>
              </p:nvSpPr>
              <p:spPr>
                <a:xfrm>
                  <a:off x="470297" y="177045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sp>
              <p:nvSpPr>
                <p:cNvPr id="75" name="Freeform 75"/>
                <p:cNvSpPr/>
                <p:nvPr/>
              </p:nvSpPr>
              <p:spPr>
                <a:xfrm>
                  <a:off x="482203" y="1812131"/>
                  <a:ext cx="23812" cy="17859"/>
                </a:xfrm>
                <a:custGeom>
                  <a:avLst/>
                  <a:gdLst/>
                  <a:ahLst/>
                  <a:cxnLst/>
                  <a:rect l="l" t="t" r="r" b="b"/>
                  <a:pathLst>
                    <a:path w="23812" h="17859">
                      <a:moveTo>
                        <a:pt x="0" y="0"/>
                      </a:moveTo>
                      <a:lnTo>
                        <a:pt x="11906" y="0"/>
                      </a:lnTo>
                      <a:cubicBezTo>
                        <a:pt x="18482" y="0"/>
                        <a:pt x="23812" y="5331"/>
                        <a:pt x="23812" y="11906"/>
                      </a:cubicBezTo>
                      <a:lnTo>
                        <a:pt x="23812" y="17859"/>
                      </a:lnTo>
                    </a:path>
                  </a:pathLst>
                </a:custGeom>
                <a:noFill/>
                <a:ln w="11906">
                  <a:solidFill>
                    <a:srgbClr val="76200F"/>
                  </a:solidFill>
                </a:ln>
              </p:spPr>
            </p:sp>
            <p:sp>
              <p:nvSpPr>
                <p:cNvPr id="76" name="Freeform 76"/>
                <p:cNvSpPr/>
                <p:nvPr/>
              </p:nvSpPr>
              <p:spPr>
                <a:xfrm>
                  <a:off x="410766" y="177045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sp>
              <p:nvSpPr>
                <p:cNvPr id="77" name="Freeform 77"/>
                <p:cNvSpPr/>
                <p:nvPr/>
              </p:nvSpPr>
              <p:spPr>
                <a:xfrm>
                  <a:off x="398859" y="1812131"/>
                  <a:ext cx="23812" cy="17859"/>
                </a:xfrm>
                <a:custGeom>
                  <a:avLst/>
                  <a:gdLst/>
                  <a:ahLst/>
                  <a:cxnLst/>
                  <a:rect l="l" t="t" r="r" b="b"/>
                  <a:pathLst>
                    <a:path w="23812" h="17859">
                      <a:moveTo>
                        <a:pt x="0" y="17859"/>
                      </a:moveTo>
                      <a:lnTo>
                        <a:pt x="0" y="11906"/>
                      </a:lnTo>
                      <a:cubicBezTo>
                        <a:pt x="0" y="5331"/>
                        <a:pt x="5331" y="0"/>
                        <a:pt x="11906" y="0"/>
                      </a:cubicBezTo>
                      <a:lnTo>
                        <a:pt x="23812" y="0"/>
                      </a:lnTo>
                    </a:path>
                  </a:pathLst>
                </a:custGeom>
                <a:noFill/>
                <a:ln w="11906">
                  <a:solidFill>
                    <a:srgbClr val="76200F"/>
                  </a:solidFill>
                </a:ln>
              </p:spPr>
            </p:sp>
          </p:grpSp>
          <p:sp>
            <p:nvSpPr>
              <p:cNvPr id="79" name="TextBox 79"/>
              <p:cNvSpPr txBox="1"/>
              <p:nvPr/>
            </p:nvSpPr>
            <p:spPr>
              <a:xfrm>
                <a:off x="620738" y="1858089"/>
                <a:ext cx="434924" cy="154781"/>
              </a:xfrm>
              <a:prstGeom prst="rect">
                <a:avLst/>
              </a:prstGeom>
              <a:noFill/>
              <a:ln>
                <a:noFill/>
              </a:ln>
            </p:spPr>
            <p:txBody>
              <a:bodyPr wrap="none" lIns="0" tIns="0" rIns="0" bIns="0" anchor="t" anchorCtr="0">
                <a:spAutoFit/>
              </a:bodyPr>
              <a:lstStyle/>
              <a:p>
                <a:pPr algn="ctr"/>
                <a:r>
                  <a:rPr lang="zh-CN" sz="790" b="1" dirty="0">
                    <a:solidFill>
                      <a:srgbClr val="5D190B"/>
                    </a:solidFill>
                    <a:latin typeface="+mn-lt"/>
                    <a:ea typeface="+mn-ea"/>
                    <a:cs typeface="+mn-cs"/>
                  </a:rPr>
                  <a:t>主导客群</a:t>
                </a:r>
              </a:p>
            </p:txBody>
          </p:sp>
          <p:sp>
            <p:nvSpPr>
              <p:cNvPr id="80" name="TextBox 80"/>
              <p:cNvSpPr txBox="1"/>
              <p:nvPr/>
            </p:nvSpPr>
            <p:spPr>
              <a:xfrm>
                <a:off x="1631429" y="17749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大众客群</a:t>
                </a:r>
              </a:p>
            </p:txBody>
          </p:sp>
          <p:sp>
            <p:nvSpPr>
              <p:cNvPr id="81" name="TextBox 81"/>
              <p:cNvSpPr txBox="1"/>
              <p:nvPr/>
            </p:nvSpPr>
            <p:spPr>
              <a:xfrm>
                <a:off x="1494117" y="190833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（全客群覆盖）</a:t>
                </a:r>
              </a:p>
            </p:txBody>
          </p:sp>
          <p:sp>
            <p:nvSpPr>
              <p:cNvPr id="82" name="TextBox 82"/>
              <p:cNvSpPr txBox="1"/>
              <p:nvPr/>
            </p:nvSpPr>
            <p:spPr>
              <a:xfrm>
                <a:off x="2740038" y="17749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中高价值客群</a:t>
                </a:r>
              </a:p>
            </p:txBody>
          </p:sp>
          <p:sp>
            <p:nvSpPr>
              <p:cNvPr id="83" name="TextBox 83"/>
              <p:cNvSpPr txBox="1"/>
              <p:nvPr/>
            </p:nvSpPr>
            <p:spPr>
              <a:xfrm>
                <a:off x="2831579" y="19083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年轻客群</a:t>
                </a:r>
              </a:p>
            </p:txBody>
          </p:sp>
          <p:sp>
            <p:nvSpPr>
              <p:cNvPr id="84" name="TextBox 84"/>
              <p:cNvSpPr txBox="1"/>
              <p:nvPr/>
            </p:nvSpPr>
            <p:spPr>
              <a:xfrm>
                <a:off x="3940188" y="17749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本地城市居民</a:t>
                </a:r>
              </a:p>
            </p:txBody>
          </p:sp>
          <p:sp>
            <p:nvSpPr>
              <p:cNvPr id="85" name="TextBox 85"/>
              <p:cNvSpPr txBox="1"/>
              <p:nvPr/>
            </p:nvSpPr>
            <p:spPr>
              <a:xfrm>
                <a:off x="3940188" y="190833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中小微企业主</a:t>
                </a:r>
              </a:p>
            </p:txBody>
          </p:sp>
          <p:sp>
            <p:nvSpPr>
              <p:cNvPr id="86" name="TextBox 86"/>
              <p:cNvSpPr txBox="1"/>
              <p:nvPr/>
            </p:nvSpPr>
            <p:spPr>
              <a:xfrm>
                <a:off x="4957254" y="1774984"/>
                <a:ext cx="92494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县域居民、农业从业者</a:t>
                </a:r>
              </a:p>
            </p:txBody>
          </p:sp>
          <p:sp>
            <p:nvSpPr>
              <p:cNvPr id="87" name="TextBox 87"/>
              <p:cNvSpPr txBox="1"/>
              <p:nvPr/>
            </p:nvSpPr>
            <p:spPr>
              <a:xfrm>
                <a:off x="5231879" y="19083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小微商户</a:t>
                </a:r>
              </a:p>
            </p:txBody>
          </p:sp>
          <p:sp>
            <p:nvSpPr>
              <p:cNvPr id="88" name="TextBox 88"/>
              <p:cNvSpPr txBox="1"/>
              <p:nvPr/>
            </p:nvSpPr>
            <p:spPr>
              <a:xfrm>
                <a:off x="6432029" y="17749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年轻客群</a:t>
                </a:r>
              </a:p>
            </p:txBody>
          </p:sp>
          <p:sp>
            <p:nvSpPr>
              <p:cNvPr id="89" name="TextBox 89"/>
              <p:cNvSpPr txBox="1"/>
              <p:nvPr/>
            </p:nvSpPr>
            <p:spPr>
              <a:xfrm>
                <a:off x="6294717" y="190833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互联网原生用户</a:t>
                </a:r>
              </a:p>
            </p:txBody>
          </p:sp>
          <p:sp>
            <p:nvSpPr>
              <p:cNvPr id="90" name="TextBox 90"/>
              <p:cNvSpPr txBox="1"/>
              <p:nvPr/>
            </p:nvSpPr>
            <p:spPr>
              <a:xfrm>
                <a:off x="7632179" y="17749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大众客群</a:t>
                </a:r>
              </a:p>
            </p:txBody>
          </p:sp>
          <p:sp>
            <p:nvSpPr>
              <p:cNvPr id="91" name="TextBox 91"/>
              <p:cNvSpPr txBox="1"/>
              <p:nvPr/>
            </p:nvSpPr>
            <p:spPr>
              <a:xfrm>
                <a:off x="7540638" y="190833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高频支付用户</a:t>
                </a:r>
              </a:p>
            </p:txBody>
          </p:sp>
          <p:sp>
            <p:nvSpPr>
              <p:cNvPr id="92" name="Rectangle 92"/>
              <p:cNvSpPr/>
              <p:nvPr/>
            </p:nvSpPr>
            <p:spPr>
              <a:xfrm>
                <a:off x="342900" y="2171700"/>
                <a:ext cx="8077200" cy="552450"/>
              </a:xfrm>
              <a:prstGeom prst="rect">
                <a:avLst/>
              </a:prstGeom>
              <a:solidFill>
                <a:srgbClr val="FFFFFF"/>
              </a:solidFill>
              <a:ln w="9525">
                <a:solidFill>
                  <a:srgbClr val="E2EEEB"/>
                </a:solidFill>
              </a:ln>
            </p:spPr>
          </p:sp>
          <p:grpSp>
            <p:nvGrpSpPr>
              <p:cNvPr id="97" name="Group 97"/>
              <p:cNvGrpSpPr/>
              <p:nvPr/>
            </p:nvGrpSpPr>
            <p:grpSpPr>
              <a:xfrm>
                <a:off x="404812" y="2322909"/>
                <a:ext cx="95251" cy="107156"/>
                <a:chOff x="404812" y="2322909"/>
                <a:chExt cx="95251" cy="107156"/>
              </a:xfrm>
            </p:grpSpPr>
            <p:sp>
              <p:nvSpPr>
                <p:cNvPr id="93" name="Freeform 93"/>
                <p:cNvSpPr/>
                <p:nvPr/>
              </p:nvSpPr>
              <p:spPr>
                <a:xfrm>
                  <a:off x="404812" y="2406253"/>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sp>
              <p:nvSpPr>
                <p:cNvPr id="94" name="Freeform 94"/>
                <p:cNvSpPr/>
                <p:nvPr/>
              </p:nvSpPr>
              <p:spPr>
                <a:xfrm>
                  <a:off x="470297" y="2406253"/>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sp>
              <p:nvSpPr>
                <p:cNvPr id="95" name="Freeform 95"/>
                <p:cNvSpPr/>
                <p:nvPr/>
              </p:nvSpPr>
              <p:spPr>
                <a:xfrm>
                  <a:off x="404812" y="2322909"/>
                  <a:ext cx="77391" cy="83344"/>
                </a:xfrm>
                <a:custGeom>
                  <a:avLst/>
                  <a:gdLst/>
                  <a:ahLst/>
                  <a:cxnLst/>
                  <a:rect l="l" t="t" r="r" b="b"/>
                  <a:pathLst>
                    <a:path w="77391" h="83344">
                      <a:moveTo>
                        <a:pt x="77391" y="83344"/>
                      </a:moveTo>
                      <a:lnTo>
                        <a:pt x="11906" y="83344"/>
                      </a:lnTo>
                      <a:lnTo>
                        <a:pt x="11906" y="0"/>
                      </a:lnTo>
                      <a:lnTo>
                        <a:pt x="0" y="0"/>
                      </a:lnTo>
                    </a:path>
                  </a:pathLst>
                </a:custGeom>
                <a:noFill/>
                <a:ln w="11906">
                  <a:solidFill>
                    <a:srgbClr val="76200F"/>
                  </a:solidFill>
                </a:ln>
              </p:spPr>
            </p:sp>
            <p:sp>
              <p:nvSpPr>
                <p:cNvPr id="96" name="Freeform 96"/>
                <p:cNvSpPr/>
                <p:nvPr/>
              </p:nvSpPr>
              <p:spPr>
                <a:xfrm>
                  <a:off x="416719" y="2334816"/>
                  <a:ext cx="83344" cy="47625"/>
                </a:xfrm>
                <a:custGeom>
                  <a:avLst/>
                  <a:gdLst/>
                  <a:ahLst/>
                  <a:cxnLst/>
                  <a:rect l="l" t="t" r="r" b="b"/>
                  <a:pathLst>
                    <a:path w="83344" h="47625">
                      <a:moveTo>
                        <a:pt x="0" y="0"/>
                      </a:moveTo>
                      <a:lnTo>
                        <a:pt x="83344" y="5953"/>
                      </a:lnTo>
                      <a:lnTo>
                        <a:pt x="77391" y="47625"/>
                      </a:lnTo>
                      <a:lnTo>
                        <a:pt x="0" y="47625"/>
                      </a:lnTo>
                    </a:path>
                  </a:pathLst>
                </a:custGeom>
                <a:noFill/>
                <a:ln w="11906">
                  <a:solidFill>
                    <a:srgbClr val="76200F"/>
                  </a:solidFill>
                </a:ln>
              </p:spPr>
            </p:sp>
          </p:grpSp>
          <p:sp>
            <p:nvSpPr>
              <p:cNvPr id="98" name="TextBox 98"/>
              <p:cNvSpPr txBox="1"/>
              <p:nvPr/>
            </p:nvSpPr>
            <p:spPr>
              <a:xfrm>
                <a:off x="620738" y="2410539"/>
                <a:ext cx="434924" cy="154781"/>
              </a:xfrm>
              <a:prstGeom prst="rect">
                <a:avLst/>
              </a:prstGeom>
              <a:noFill/>
              <a:ln>
                <a:noFill/>
              </a:ln>
            </p:spPr>
            <p:txBody>
              <a:bodyPr wrap="none" lIns="0" tIns="0" rIns="0" bIns="0" anchor="t" anchorCtr="0">
                <a:spAutoFit/>
              </a:bodyPr>
              <a:lstStyle/>
              <a:p>
                <a:pPr algn="ctr"/>
                <a:r>
                  <a:rPr lang="zh-CN" sz="790" b="1" dirty="0">
                    <a:solidFill>
                      <a:srgbClr val="5D190B"/>
                    </a:solidFill>
                    <a:latin typeface="+mn-lt"/>
                    <a:ea typeface="+mn-ea"/>
                    <a:cs typeface="+mn-cs"/>
                  </a:rPr>
                  <a:t>线下抓手</a:t>
                </a:r>
              </a:p>
            </p:txBody>
          </p:sp>
          <p:sp>
            <p:nvSpPr>
              <p:cNvPr id="99" name="TextBox 99"/>
              <p:cNvSpPr txBox="1"/>
              <p:nvPr/>
            </p:nvSpPr>
            <p:spPr>
              <a:xfrm>
                <a:off x="1311034" y="2289334"/>
                <a:ext cx="101648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大型展会、城市地标联动</a:t>
                </a:r>
              </a:p>
            </p:txBody>
          </p:sp>
          <p:sp>
            <p:nvSpPr>
              <p:cNvPr id="100" name="TextBox 100"/>
              <p:cNvSpPr txBox="1"/>
              <p:nvPr/>
            </p:nvSpPr>
            <p:spPr>
              <a:xfrm>
                <a:off x="1462077" y="2422684"/>
                <a:ext cx="71439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政务 / 社区联动​</a:t>
                </a:r>
              </a:p>
            </p:txBody>
          </p:sp>
          <p:sp>
            <p:nvSpPr>
              <p:cNvPr id="101" name="TextBox 101"/>
              <p:cNvSpPr txBox="1"/>
              <p:nvPr/>
            </p:nvSpPr>
            <p:spPr>
              <a:xfrm>
                <a:off x="2465413" y="2289334"/>
                <a:ext cx="1108024"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核心商圈快闪、品牌主题展</a:t>
                </a:r>
              </a:p>
            </p:txBody>
          </p:sp>
          <p:sp>
            <p:nvSpPr>
              <p:cNvPr id="102" name="TextBox 102"/>
              <p:cNvSpPr txBox="1"/>
              <p:nvPr/>
            </p:nvSpPr>
            <p:spPr>
              <a:xfrm>
                <a:off x="2740038" y="24226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高端圈层活动</a:t>
                </a:r>
              </a:p>
            </p:txBody>
          </p:sp>
          <p:sp>
            <p:nvSpPr>
              <p:cNvPr id="103" name="TextBox 103"/>
              <p:cNvSpPr txBox="1"/>
              <p:nvPr/>
            </p:nvSpPr>
            <p:spPr>
              <a:xfrm>
                <a:off x="3711334" y="2289334"/>
                <a:ext cx="101648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本地商圈展位、社区市集</a:t>
                </a:r>
              </a:p>
            </p:txBody>
          </p:sp>
          <p:sp>
            <p:nvSpPr>
              <p:cNvPr id="104" name="TextBox 104"/>
              <p:cNvSpPr txBox="1"/>
              <p:nvPr/>
            </p:nvSpPr>
            <p:spPr>
              <a:xfrm>
                <a:off x="3940188" y="24226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城市活动赞助</a:t>
                </a:r>
              </a:p>
            </p:txBody>
          </p:sp>
          <p:sp>
            <p:nvSpPr>
              <p:cNvPr id="105" name="TextBox 105"/>
              <p:cNvSpPr txBox="1"/>
              <p:nvPr/>
            </p:nvSpPr>
            <p:spPr>
              <a:xfrm>
                <a:off x="4957254" y="2289334"/>
                <a:ext cx="92494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乡镇集市、农产品展会</a:t>
                </a:r>
              </a:p>
            </p:txBody>
          </p:sp>
          <p:sp>
            <p:nvSpPr>
              <p:cNvPr id="106" name="TextBox 106"/>
              <p:cNvSpPr txBox="1"/>
              <p:nvPr/>
            </p:nvSpPr>
            <p:spPr>
              <a:xfrm>
                <a:off x="5140338" y="24226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下乡金融服务</a:t>
                </a:r>
              </a:p>
            </p:txBody>
          </p:sp>
          <p:sp>
            <p:nvSpPr>
              <p:cNvPr id="107" name="TextBox 107"/>
              <p:cNvSpPr txBox="1"/>
              <p:nvPr/>
            </p:nvSpPr>
            <p:spPr>
              <a:xfrm>
                <a:off x="5969744" y="2289334"/>
                <a:ext cx="1300262"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线下快闪体验、校园/园区活动​</a:t>
                </a:r>
              </a:p>
            </p:txBody>
          </p:sp>
          <p:sp>
            <p:nvSpPr>
              <p:cNvPr id="108" name="TextBox 108"/>
              <p:cNvSpPr txBox="1"/>
              <p:nvPr/>
            </p:nvSpPr>
            <p:spPr>
              <a:xfrm>
                <a:off x="6340488" y="24226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异业联合展位</a:t>
                </a:r>
              </a:p>
            </p:txBody>
          </p:sp>
          <p:sp>
            <p:nvSpPr>
              <p:cNvPr id="109" name="TextBox 109"/>
              <p:cNvSpPr txBox="1"/>
              <p:nvPr/>
            </p:nvSpPr>
            <p:spPr>
              <a:xfrm>
                <a:off x="7215665" y="2289334"/>
                <a:ext cx="1208720"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商户联合展位、生活节/市集​</a:t>
                </a:r>
              </a:p>
            </p:txBody>
          </p:sp>
          <p:sp>
            <p:nvSpPr>
              <p:cNvPr id="110" name="TextBox 110"/>
              <p:cNvSpPr txBox="1"/>
              <p:nvPr/>
            </p:nvSpPr>
            <p:spPr>
              <a:xfrm>
                <a:off x="7586408" y="242268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扫码体验区</a:t>
                </a:r>
              </a:p>
            </p:txBody>
          </p:sp>
          <p:sp>
            <p:nvSpPr>
              <p:cNvPr id="111" name="Rectangle 111"/>
              <p:cNvSpPr/>
              <p:nvPr/>
            </p:nvSpPr>
            <p:spPr>
              <a:xfrm>
                <a:off x="342900" y="2724150"/>
                <a:ext cx="8077200" cy="552450"/>
              </a:xfrm>
              <a:prstGeom prst="rect">
                <a:avLst/>
              </a:prstGeom>
              <a:solidFill>
                <a:srgbClr val="EFF8F6"/>
              </a:solidFill>
              <a:ln w="9525">
                <a:solidFill>
                  <a:srgbClr val="E2EEEB"/>
                </a:solidFill>
              </a:ln>
            </p:spPr>
          </p:sp>
          <p:grpSp>
            <p:nvGrpSpPr>
              <p:cNvPr id="115" name="Group 115"/>
              <p:cNvGrpSpPr/>
              <p:nvPr/>
            </p:nvGrpSpPr>
            <p:grpSpPr>
              <a:xfrm>
                <a:off x="416719" y="2875359"/>
                <a:ext cx="71438" cy="107156"/>
                <a:chOff x="416719" y="2875359"/>
                <a:chExt cx="71438" cy="107156"/>
              </a:xfrm>
            </p:grpSpPr>
            <p:sp>
              <p:nvSpPr>
                <p:cNvPr id="112" name="Freeform 112"/>
                <p:cNvSpPr/>
                <p:nvPr/>
              </p:nvSpPr>
              <p:spPr>
                <a:xfrm>
                  <a:off x="416719" y="2875359"/>
                  <a:ext cx="71438" cy="107156"/>
                </a:xfrm>
                <a:custGeom>
                  <a:avLst/>
                  <a:gdLst/>
                  <a:ahLst/>
                  <a:cxnLst/>
                  <a:rect l="l" t="t" r="r" b="b"/>
                  <a:pathLst>
                    <a:path w="71438" h="107156">
                      <a:moveTo>
                        <a:pt x="0" y="11906"/>
                      </a:moveTo>
                      <a:cubicBezTo>
                        <a:pt x="0" y="5331"/>
                        <a:pt x="5331" y="0"/>
                        <a:pt x="11906" y="0"/>
                      </a:cubicBezTo>
                      <a:lnTo>
                        <a:pt x="59531" y="0"/>
                      </a:lnTo>
                      <a:cubicBezTo>
                        <a:pt x="66107" y="0"/>
                        <a:pt x="71438" y="5331"/>
                        <a:pt x="71438" y="11906"/>
                      </a:cubicBezTo>
                      <a:lnTo>
                        <a:pt x="71438" y="95250"/>
                      </a:lnTo>
                      <a:cubicBezTo>
                        <a:pt x="71438" y="101826"/>
                        <a:pt x="66107" y="107156"/>
                        <a:pt x="59531" y="107156"/>
                      </a:cubicBezTo>
                      <a:lnTo>
                        <a:pt x="11906" y="107156"/>
                      </a:lnTo>
                      <a:cubicBezTo>
                        <a:pt x="5331" y="107156"/>
                        <a:pt x="0" y="101826"/>
                        <a:pt x="0" y="95250"/>
                      </a:cubicBezTo>
                      <a:lnTo>
                        <a:pt x="0" y="11906"/>
                      </a:lnTo>
                    </a:path>
                  </a:pathLst>
                </a:custGeom>
                <a:noFill/>
                <a:ln w="11906">
                  <a:solidFill>
                    <a:srgbClr val="76200F"/>
                  </a:solidFill>
                </a:ln>
              </p:spPr>
            </p:sp>
            <p:sp>
              <p:nvSpPr>
                <p:cNvPr id="113" name="Freeform 113"/>
                <p:cNvSpPr/>
                <p:nvPr/>
              </p:nvSpPr>
              <p:spPr>
                <a:xfrm>
                  <a:off x="446484" y="2881312"/>
                  <a:ext cx="11906" cy="9525"/>
                </a:xfrm>
                <a:custGeom>
                  <a:avLst/>
                  <a:gdLst/>
                  <a:ahLst/>
                  <a:cxnLst/>
                  <a:rect l="l" t="t" r="r" b="b"/>
                  <a:pathLst>
                    <a:path w="11906" h="9525">
                      <a:moveTo>
                        <a:pt x="0" y="0"/>
                      </a:moveTo>
                      <a:lnTo>
                        <a:pt x="11906" y="0"/>
                      </a:lnTo>
                    </a:path>
                  </a:pathLst>
                </a:custGeom>
                <a:noFill/>
                <a:ln w="11906">
                  <a:solidFill>
                    <a:srgbClr val="76200F"/>
                  </a:solidFill>
                </a:ln>
              </p:spPr>
            </p:sp>
            <p:sp>
              <p:nvSpPr>
                <p:cNvPr id="114" name="Freeform 114"/>
                <p:cNvSpPr/>
                <p:nvPr/>
              </p:nvSpPr>
              <p:spPr>
                <a:xfrm>
                  <a:off x="452438" y="2958703"/>
                  <a:ext cx="9525" cy="9525"/>
                </a:xfrm>
                <a:custGeom>
                  <a:avLst/>
                  <a:gdLst/>
                  <a:ahLst/>
                  <a:cxnLst/>
                  <a:rect l="l" t="t" r="r" b="b"/>
                  <a:pathLst>
                    <a:path w="9525" h="9525">
                      <a:moveTo>
                        <a:pt x="0" y="0"/>
                      </a:moveTo>
                      <a:lnTo>
                        <a:pt x="0" y="60"/>
                      </a:lnTo>
                    </a:path>
                  </a:pathLst>
                </a:custGeom>
                <a:noFill/>
                <a:ln w="11906">
                  <a:solidFill>
                    <a:srgbClr val="76200F"/>
                  </a:solidFill>
                </a:ln>
              </p:spPr>
            </p:sp>
          </p:grpSp>
          <p:sp>
            <p:nvSpPr>
              <p:cNvPr id="116" name="TextBox 116"/>
              <p:cNvSpPr txBox="1"/>
              <p:nvPr/>
            </p:nvSpPr>
            <p:spPr>
              <a:xfrm>
                <a:off x="620738" y="2962989"/>
                <a:ext cx="434924" cy="154781"/>
              </a:xfrm>
              <a:prstGeom prst="rect">
                <a:avLst/>
              </a:prstGeom>
              <a:noFill/>
              <a:ln>
                <a:noFill/>
              </a:ln>
            </p:spPr>
            <p:txBody>
              <a:bodyPr wrap="none" lIns="0" tIns="0" rIns="0" bIns="0" anchor="t" anchorCtr="0">
                <a:spAutoFit/>
              </a:bodyPr>
              <a:lstStyle/>
              <a:p>
                <a:pPr algn="ctr"/>
                <a:r>
                  <a:rPr lang="zh-CN" sz="790" b="1" dirty="0">
                    <a:solidFill>
                      <a:srgbClr val="5D190B"/>
                    </a:solidFill>
                    <a:latin typeface="+mn-lt"/>
                    <a:ea typeface="+mn-ea"/>
                    <a:cs typeface="+mn-cs"/>
                  </a:rPr>
                  <a:t>线上阵地</a:t>
                </a:r>
              </a:p>
            </p:txBody>
          </p:sp>
          <p:sp>
            <p:nvSpPr>
              <p:cNvPr id="117" name="TextBox 117"/>
              <p:cNvSpPr txBox="1"/>
              <p:nvPr/>
            </p:nvSpPr>
            <p:spPr>
              <a:xfrm>
                <a:off x="1525034" y="2841784"/>
                <a:ext cx="588482"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手机银行APP​</a:t>
                </a:r>
              </a:p>
            </p:txBody>
          </p:sp>
          <p:sp>
            <p:nvSpPr>
              <p:cNvPr id="118" name="TextBox 118"/>
              <p:cNvSpPr txBox="1"/>
              <p:nvPr/>
            </p:nvSpPr>
            <p:spPr>
              <a:xfrm>
                <a:off x="1397998" y="2975134"/>
                <a:ext cx="842554"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官方公众号/视频号​</a:t>
                </a:r>
              </a:p>
            </p:txBody>
          </p:sp>
          <p:sp>
            <p:nvSpPr>
              <p:cNvPr id="119" name="TextBox 119"/>
              <p:cNvSpPr txBox="1"/>
              <p:nvPr/>
            </p:nvSpPr>
            <p:spPr>
              <a:xfrm>
                <a:off x="2691590" y="2841784"/>
                <a:ext cx="65567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APP + 小程序​​</a:t>
                </a:r>
              </a:p>
            </p:txBody>
          </p:sp>
          <p:sp>
            <p:nvSpPr>
              <p:cNvPr id="120" name="TextBox 120"/>
              <p:cNvSpPr txBox="1"/>
              <p:nvPr/>
            </p:nvSpPr>
            <p:spPr>
              <a:xfrm>
                <a:off x="2740038" y="297513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社交媒体矩阵</a:t>
                </a:r>
              </a:p>
            </p:txBody>
          </p:sp>
          <p:sp>
            <p:nvSpPr>
              <p:cNvPr id="121" name="TextBox 121"/>
              <p:cNvSpPr txBox="1"/>
              <p:nvPr/>
            </p:nvSpPr>
            <p:spPr>
              <a:xfrm>
                <a:off x="3940188" y="28417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本地生活平台</a:t>
                </a:r>
              </a:p>
            </p:txBody>
          </p:sp>
          <p:sp>
            <p:nvSpPr>
              <p:cNvPr id="122" name="TextBox 122"/>
              <p:cNvSpPr txBox="1"/>
              <p:nvPr/>
            </p:nvSpPr>
            <p:spPr>
              <a:xfrm>
                <a:off x="3985958" y="29751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区域公众号</a:t>
                </a:r>
              </a:p>
            </p:txBody>
          </p:sp>
          <p:sp>
            <p:nvSpPr>
              <p:cNvPr id="123" name="TextBox 123"/>
              <p:cNvSpPr txBox="1"/>
              <p:nvPr/>
            </p:nvSpPr>
            <p:spPr>
              <a:xfrm>
                <a:off x="5003025" y="28417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手机银行、村镇社群</a:t>
                </a:r>
              </a:p>
            </p:txBody>
          </p:sp>
          <p:sp>
            <p:nvSpPr>
              <p:cNvPr id="124" name="TextBox 124"/>
              <p:cNvSpPr txBox="1"/>
              <p:nvPr/>
            </p:nvSpPr>
            <p:spPr>
              <a:xfrm>
                <a:off x="5186108" y="29751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本地新媒体</a:t>
                </a:r>
              </a:p>
            </p:txBody>
          </p:sp>
          <p:sp>
            <p:nvSpPr>
              <p:cNvPr id="125" name="TextBox 125"/>
              <p:cNvSpPr txBox="1"/>
              <p:nvPr/>
            </p:nvSpPr>
            <p:spPr>
              <a:xfrm>
                <a:off x="5971644" y="2841784"/>
                <a:ext cx="1296462"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APP / 小程序、线上活动专区​​</a:t>
                </a:r>
              </a:p>
            </p:txBody>
          </p:sp>
          <p:sp>
            <p:nvSpPr>
              <p:cNvPr id="126" name="TextBox 126"/>
              <p:cNvSpPr txBox="1"/>
              <p:nvPr/>
            </p:nvSpPr>
            <p:spPr>
              <a:xfrm>
                <a:off x="6340488" y="297513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社交平台运营</a:t>
                </a:r>
              </a:p>
            </p:txBody>
          </p:sp>
          <p:sp>
            <p:nvSpPr>
              <p:cNvPr id="127" name="TextBox 127"/>
              <p:cNvSpPr txBox="1"/>
              <p:nvPr/>
            </p:nvSpPr>
            <p:spPr>
              <a:xfrm>
                <a:off x="7263336" y="2841784"/>
                <a:ext cx="111337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APP / 小程序、生活频道​​</a:t>
                </a:r>
              </a:p>
            </p:txBody>
          </p:sp>
          <p:sp>
            <p:nvSpPr>
              <p:cNvPr id="128" name="TextBox 128"/>
              <p:cNvSpPr txBox="1"/>
              <p:nvPr/>
            </p:nvSpPr>
            <p:spPr>
              <a:xfrm>
                <a:off x="7632179" y="29751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商户平台</a:t>
                </a:r>
              </a:p>
            </p:txBody>
          </p:sp>
          <p:sp>
            <p:nvSpPr>
              <p:cNvPr id="129" name="Rectangle 129"/>
              <p:cNvSpPr/>
              <p:nvPr/>
            </p:nvSpPr>
            <p:spPr>
              <a:xfrm>
                <a:off x="342900" y="3276600"/>
                <a:ext cx="8077200" cy="552450"/>
              </a:xfrm>
              <a:prstGeom prst="rect">
                <a:avLst/>
              </a:prstGeom>
              <a:solidFill>
                <a:srgbClr val="FFFFFF"/>
              </a:solidFill>
              <a:ln w="9525">
                <a:solidFill>
                  <a:srgbClr val="E2EEEB"/>
                </a:solidFill>
              </a:ln>
            </p:spPr>
          </p:sp>
          <p:grpSp>
            <p:nvGrpSpPr>
              <p:cNvPr id="133" name="Group 133"/>
              <p:cNvGrpSpPr/>
              <p:nvPr/>
            </p:nvGrpSpPr>
            <p:grpSpPr>
              <a:xfrm>
                <a:off x="401253" y="3427809"/>
                <a:ext cx="102358" cy="106502"/>
                <a:chOff x="401253" y="3427809"/>
                <a:chExt cx="102358" cy="106502"/>
              </a:xfrm>
            </p:grpSpPr>
            <p:sp>
              <p:nvSpPr>
                <p:cNvPr id="130" name="Freeform 130"/>
                <p:cNvSpPr/>
                <p:nvPr/>
              </p:nvSpPr>
              <p:spPr>
                <a:xfrm>
                  <a:off x="416719" y="3427809"/>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1906">
                  <a:solidFill>
                    <a:srgbClr val="76200F"/>
                  </a:solidFill>
                </a:ln>
              </p:spPr>
            </p:sp>
            <p:sp>
              <p:nvSpPr>
                <p:cNvPr id="131" name="Freeform 131"/>
                <p:cNvSpPr/>
                <p:nvPr/>
              </p:nvSpPr>
              <p:spPr>
                <a:xfrm>
                  <a:off x="452438" y="3481388"/>
                  <a:ext cx="51173" cy="52923"/>
                </a:xfrm>
                <a:custGeom>
                  <a:avLst/>
                  <a:gdLst/>
                  <a:ahLst/>
                  <a:cxnLst/>
                  <a:rect l="l" t="t" r="r" b="b"/>
                  <a:pathLst>
                    <a:path w="51173" h="52923">
                      <a:moveTo>
                        <a:pt x="0" y="17859"/>
                      </a:moveTo>
                      <a:lnTo>
                        <a:pt x="20241" y="52923"/>
                      </a:lnTo>
                      <a:lnTo>
                        <a:pt x="29754" y="33677"/>
                      </a:lnTo>
                      <a:lnTo>
                        <a:pt x="51173" y="35058"/>
                      </a:lnTo>
                      <a:lnTo>
                        <a:pt x="30932" y="0"/>
                      </a:lnTo>
                    </a:path>
                  </a:pathLst>
                </a:custGeom>
                <a:noFill/>
                <a:ln w="11906">
                  <a:solidFill>
                    <a:srgbClr val="76200F"/>
                  </a:solidFill>
                </a:ln>
              </p:spPr>
            </p:sp>
            <p:sp>
              <p:nvSpPr>
                <p:cNvPr id="132" name="Freeform 132"/>
                <p:cNvSpPr/>
                <p:nvPr/>
              </p:nvSpPr>
              <p:spPr>
                <a:xfrm>
                  <a:off x="401253" y="3481388"/>
                  <a:ext cx="51173" cy="52917"/>
                </a:xfrm>
                <a:custGeom>
                  <a:avLst/>
                  <a:gdLst/>
                  <a:ahLst/>
                  <a:cxnLst/>
                  <a:rect l="l" t="t" r="r" b="b"/>
                  <a:pathLst>
                    <a:path w="51173" h="52917">
                      <a:moveTo>
                        <a:pt x="20241" y="0"/>
                      </a:moveTo>
                      <a:lnTo>
                        <a:pt x="0" y="35064"/>
                      </a:lnTo>
                      <a:lnTo>
                        <a:pt x="21419" y="33677"/>
                      </a:lnTo>
                      <a:lnTo>
                        <a:pt x="30932" y="52917"/>
                      </a:lnTo>
                      <a:lnTo>
                        <a:pt x="51173" y="17859"/>
                      </a:lnTo>
                    </a:path>
                  </a:pathLst>
                </a:custGeom>
                <a:noFill/>
                <a:ln w="11906">
                  <a:solidFill>
                    <a:srgbClr val="76200F"/>
                  </a:solidFill>
                </a:ln>
              </p:spPr>
            </p:sp>
          </p:grpSp>
          <p:sp>
            <p:nvSpPr>
              <p:cNvPr id="134" name="TextBox 134"/>
              <p:cNvSpPr txBox="1"/>
              <p:nvPr/>
            </p:nvSpPr>
            <p:spPr>
              <a:xfrm>
                <a:off x="620738" y="3515439"/>
                <a:ext cx="434924" cy="154781"/>
              </a:xfrm>
              <a:prstGeom prst="rect">
                <a:avLst/>
              </a:prstGeom>
              <a:noFill/>
              <a:ln>
                <a:noFill/>
              </a:ln>
            </p:spPr>
            <p:txBody>
              <a:bodyPr wrap="none" lIns="0" tIns="0" rIns="0" bIns="0" anchor="t" anchorCtr="0">
                <a:spAutoFit/>
              </a:bodyPr>
              <a:lstStyle/>
              <a:p>
                <a:pPr algn="ctr"/>
                <a:r>
                  <a:rPr lang="zh-CN" sz="790" b="1" dirty="0">
                    <a:solidFill>
                      <a:srgbClr val="5D190B"/>
                    </a:solidFill>
                    <a:latin typeface="+mn-lt"/>
                    <a:ea typeface="+mn-ea"/>
                    <a:cs typeface="+mn-cs"/>
                  </a:rPr>
                  <a:t>权益机制</a:t>
                </a:r>
              </a:p>
            </p:txBody>
          </p:sp>
          <p:sp>
            <p:nvSpPr>
              <p:cNvPr id="135" name="TextBox 135"/>
              <p:cNvSpPr txBox="1"/>
              <p:nvPr/>
            </p:nvSpPr>
            <p:spPr>
              <a:xfrm>
                <a:off x="1311034" y="3394234"/>
                <a:ext cx="101648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综合权益包（消费立减、</a:t>
                </a:r>
              </a:p>
            </p:txBody>
          </p:sp>
          <p:sp>
            <p:nvSpPr>
              <p:cNvPr id="136" name="TextBox 136"/>
              <p:cNvSpPr txBox="1"/>
              <p:nvPr/>
            </p:nvSpPr>
            <p:spPr>
              <a:xfrm>
                <a:off x="1356804" y="3527584"/>
                <a:ext cx="92494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积分、公共服务权益）</a:t>
                </a:r>
              </a:p>
            </p:txBody>
          </p:sp>
          <p:sp>
            <p:nvSpPr>
              <p:cNvPr id="137" name="TextBox 137"/>
              <p:cNvSpPr txBox="1"/>
              <p:nvPr/>
            </p:nvSpPr>
            <p:spPr>
              <a:xfrm>
                <a:off x="2602725" y="33942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消费折扣、积分兑换</a:t>
                </a:r>
              </a:p>
            </p:txBody>
          </p:sp>
          <p:sp>
            <p:nvSpPr>
              <p:cNvPr id="138" name="TextBox 138"/>
              <p:cNvSpPr txBox="1"/>
              <p:nvPr/>
            </p:nvSpPr>
            <p:spPr>
              <a:xfrm>
                <a:off x="2831579" y="35275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联名会员</a:t>
                </a:r>
              </a:p>
            </p:txBody>
          </p:sp>
          <p:sp>
            <p:nvSpPr>
              <p:cNvPr id="139" name="TextBox 139"/>
              <p:cNvSpPr txBox="1"/>
              <p:nvPr/>
            </p:nvSpPr>
            <p:spPr>
              <a:xfrm>
                <a:off x="3619792" y="3394234"/>
                <a:ext cx="119956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本地商户优惠、生活缴费减免</a:t>
                </a:r>
              </a:p>
            </p:txBody>
          </p:sp>
          <p:sp>
            <p:nvSpPr>
              <p:cNvPr id="140" name="TextBox 140"/>
              <p:cNvSpPr txBox="1"/>
              <p:nvPr/>
            </p:nvSpPr>
            <p:spPr>
              <a:xfrm>
                <a:off x="4031729" y="35275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特色权益</a:t>
                </a:r>
              </a:p>
            </p:txBody>
          </p:sp>
          <p:sp>
            <p:nvSpPr>
              <p:cNvPr id="141" name="TextBox 141"/>
              <p:cNvSpPr txBox="1"/>
              <p:nvPr/>
            </p:nvSpPr>
            <p:spPr>
              <a:xfrm>
                <a:off x="5003025" y="33942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助农优惠、农资补贴</a:t>
                </a:r>
              </a:p>
            </p:txBody>
          </p:sp>
          <p:sp>
            <p:nvSpPr>
              <p:cNvPr id="142" name="TextBox 142"/>
              <p:cNvSpPr txBox="1"/>
              <p:nvPr/>
            </p:nvSpPr>
            <p:spPr>
              <a:xfrm>
                <a:off x="5231879" y="35275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积分兑换</a:t>
                </a:r>
              </a:p>
            </p:txBody>
          </p:sp>
          <p:sp>
            <p:nvSpPr>
              <p:cNvPr id="143" name="TextBox 143"/>
              <p:cNvSpPr txBox="1"/>
              <p:nvPr/>
            </p:nvSpPr>
            <p:spPr>
              <a:xfrm>
                <a:off x="6203175" y="33942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新客礼包、任务激励</a:t>
                </a:r>
              </a:p>
            </p:txBody>
          </p:sp>
          <p:sp>
            <p:nvSpPr>
              <p:cNvPr id="144" name="TextBox 144"/>
              <p:cNvSpPr txBox="1"/>
              <p:nvPr/>
            </p:nvSpPr>
            <p:spPr>
              <a:xfrm>
                <a:off x="6340488" y="35275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会员成长体系</a:t>
                </a:r>
              </a:p>
            </p:txBody>
          </p:sp>
          <p:sp>
            <p:nvSpPr>
              <p:cNvPr id="145" name="TextBox 145"/>
              <p:cNvSpPr txBox="1"/>
              <p:nvPr/>
            </p:nvSpPr>
            <p:spPr>
              <a:xfrm>
                <a:off x="7403325" y="33942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支付立减、平台券包</a:t>
                </a:r>
              </a:p>
            </p:txBody>
          </p:sp>
          <p:sp>
            <p:nvSpPr>
              <p:cNvPr id="146" name="TextBox 146"/>
              <p:cNvSpPr txBox="1"/>
              <p:nvPr/>
            </p:nvSpPr>
            <p:spPr>
              <a:xfrm>
                <a:off x="7540638" y="35275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商户联合权益</a:t>
                </a:r>
              </a:p>
            </p:txBody>
          </p:sp>
          <p:sp>
            <p:nvSpPr>
              <p:cNvPr id="147" name="Rectangle 147"/>
              <p:cNvSpPr/>
              <p:nvPr/>
            </p:nvSpPr>
            <p:spPr>
              <a:xfrm>
                <a:off x="342900" y="3829050"/>
                <a:ext cx="8077200" cy="552450"/>
              </a:xfrm>
              <a:prstGeom prst="rect">
                <a:avLst/>
              </a:prstGeom>
              <a:solidFill>
                <a:srgbClr val="EFF8F6"/>
              </a:solidFill>
              <a:ln w="9525">
                <a:solidFill>
                  <a:srgbClr val="E2EEEB"/>
                </a:solidFill>
              </a:ln>
            </p:spPr>
          </p:sp>
          <p:grpSp>
            <p:nvGrpSpPr>
              <p:cNvPr id="153" name="Group 153"/>
              <p:cNvGrpSpPr/>
              <p:nvPr/>
            </p:nvGrpSpPr>
            <p:grpSpPr>
              <a:xfrm>
                <a:off x="398859" y="3980259"/>
                <a:ext cx="107157" cy="107157"/>
                <a:chOff x="398859" y="3980259"/>
                <a:chExt cx="107157" cy="107157"/>
              </a:xfrm>
            </p:grpSpPr>
            <p:sp>
              <p:nvSpPr>
                <p:cNvPr id="148" name="Freeform 148"/>
                <p:cNvSpPr/>
                <p:nvPr/>
              </p:nvSpPr>
              <p:spPr>
                <a:xfrm>
                  <a:off x="398859" y="4051697"/>
                  <a:ext cx="35719" cy="35719"/>
                </a:xfrm>
                <a:custGeom>
                  <a:avLst/>
                  <a:gdLst/>
                  <a:ahLst/>
                  <a:cxnLst/>
                  <a:rect l="l" t="t" r="r" b="b"/>
                  <a:pathLst>
                    <a:path w="35719" h="35719">
                      <a:moveTo>
                        <a:pt x="0" y="11906"/>
                      </a:moveTo>
                      <a:cubicBezTo>
                        <a:pt x="0" y="5331"/>
                        <a:pt x="5331" y="0"/>
                        <a:pt x="11906" y="0"/>
                      </a:cubicBezTo>
                      <a:lnTo>
                        <a:pt x="23812" y="0"/>
                      </a:lnTo>
                      <a:cubicBezTo>
                        <a:pt x="30388" y="0"/>
                        <a:pt x="35719" y="5331"/>
                        <a:pt x="35719" y="11906"/>
                      </a:cubicBezTo>
                      <a:lnTo>
                        <a:pt x="35719" y="23812"/>
                      </a:lnTo>
                      <a:cubicBezTo>
                        <a:pt x="35719" y="30388"/>
                        <a:pt x="30388" y="35719"/>
                        <a:pt x="23812" y="35719"/>
                      </a:cubicBezTo>
                      <a:lnTo>
                        <a:pt x="11906" y="35719"/>
                      </a:lnTo>
                      <a:cubicBezTo>
                        <a:pt x="5331" y="35719"/>
                        <a:pt x="0" y="30388"/>
                        <a:pt x="0" y="23812"/>
                      </a:cubicBezTo>
                      <a:lnTo>
                        <a:pt x="0" y="11906"/>
                      </a:lnTo>
                    </a:path>
                  </a:pathLst>
                </a:custGeom>
                <a:noFill/>
                <a:ln w="11906">
                  <a:solidFill>
                    <a:srgbClr val="76200F"/>
                  </a:solidFill>
                </a:ln>
              </p:spPr>
            </p:sp>
            <p:sp>
              <p:nvSpPr>
                <p:cNvPr id="149" name="Freeform 149"/>
                <p:cNvSpPr/>
                <p:nvPr/>
              </p:nvSpPr>
              <p:spPr>
                <a:xfrm>
                  <a:off x="470297" y="4051697"/>
                  <a:ext cx="35719" cy="35719"/>
                </a:xfrm>
                <a:custGeom>
                  <a:avLst/>
                  <a:gdLst/>
                  <a:ahLst/>
                  <a:cxnLst/>
                  <a:rect l="l" t="t" r="r" b="b"/>
                  <a:pathLst>
                    <a:path w="35719" h="35719">
                      <a:moveTo>
                        <a:pt x="0" y="11906"/>
                      </a:moveTo>
                      <a:cubicBezTo>
                        <a:pt x="0" y="5331"/>
                        <a:pt x="5331" y="0"/>
                        <a:pt x="11906" y="0"/>
                      </a:cubicBezTo>
                      <a:lnTo>
                        <a:pt x="23812" y="0"/>
                      </a:lnTo>
                      <a:cubicBezTo>
                        <a:pt x="30388" y="0"/>
                        <a:pt x="35719" y="5331"/>
                        <a:pt x="35719" y="11906"/>
                      </a:cubicBezTo>
                      <a:lnTo>
                        <a:pt x="35719" y="23812"/>
                      </a:lnTo>
                      <a:cubicBezTo>
                        <a:pt x="35719" y="30388"/>
                        <a:pt x="30388" y="35719"/>
                        <a:pt x="23812" y="35719"/>
                      </a:cubicBezTo>
                      <a:lnTo>
                        <a:pt x="11906" y="35719"/>
                      </a:lnTo>
                      <a:cubicBezTo>
                        <a:pt x="5331" y="35719"/>
                        <a:pt x="0" y="30388"/>
                        <a:pt x="0" y="23812"/>
                      </a:cubicBezTo>
                      <a:lnTo>
                        <a:pt x="0" y="11906"/>
                      </a:lnTo>
                    </a:path>
                  </a:pathLst>
                </a:custGeom>
                <a:noFill/>
                <a:ln w="11906">
                  <a:solidFill>
                    <a:srgbClr val="76200F"/>
                  </a:solidFill>
                </a:ln>
              </p:spPr>
            </p:sp>
            <p:sp>
              <p:nvSpPr>
                <p:cNvPr id="150" name="Freeform 150"/>
                <p:cNvSpPr/>
                <p:nvPr/>
              </p:nvSpPr>
              <p:spPr>
                <a:xfrm>
                  <a:off x="434578" y="3980259"/>
                  <a:ext cx="35719" cy="35719"/>
                </a:xfrm>
                <a:custGeom>
                  <a:avLst/>
                  <a:gdLst/>
                  <a:ahLst/>
                  <a:cxnLst/>
                  <a:rect l="l" t="t" r="r" b="b"/>
                  <a:pathLst>
                    <a:path w="35719" h="35719">
                      <a:moveTo>
                        <a:pt x="0" y="11906"/>
                      </a:moveTo>
                      <a:cubicBezTo>
                        <a:pt x="0" y="5331"/>
                        <a:pt x="5331" y="0"/>
                        <a:pt x="11906" y="0"/>
                      </a:cubicBezTo>
                      <a:lnTo>
                        <a:pt x="23812" y="0"/>
                      </a:lnTo>
                      <a:cubicBezTo>
                        <a:pt x="30388" y="0"/>
                        <a:pt x="35719" y="5331"/>
                        <a:pt x="35719" y="11906"/>
                      </a:cubicBezTo>
                      <a:lnTo>
                        <a:pt x="35719" y="23812"/>
                      </a:lnTo>
                      <a:cubicBezTo>
                        <a:pt x="35719" y="30388"/>
                        <a:pt x="30388" y="35719"/>
                        <a:pt x="23812" y="35719"/>
                      </a:cubicBezTo>
                      <a:lnTo>
                        <a:pt x="11906" y="35719"/>
                      </a:lnTo>
                      <a:cubicBezTo>
                        <a:pt x="5331" y="35719"/>
                        <a:pt x="0" y="30388"/>
                        <a:pt x="0" y="23812"/>
                      </a:cubicBezTo>
                      <a:lnTo>
                        <a:pt x="0" y="11906"/>
                      </a:lnTo>
                    </a:path>
                  </a:pathLst>
                </a:custGeom>
                <a:noFill/>
                <a:ln w="11906">
                  <a:solidFill>
                    <a:srgbClr val="76200F"/>
                  </a:solidFill>
                </a:ln>
              </p:spPr>
            </p:sp>
            <p:sp>
              <p:nvSpPr>
                <p:cNvPr id="151" name="Freeform 151"/>
                <p:cNvSpPr/>
                <p:nvPr/>
              </p:nvSpPr>
              <p:spPr>
                <a:xfrm>
                  <a:off x="416719" y="4033838"/>
                  <a:ext cx="71438" cy="17859"/>
                </a:xfrm>
                <a:custGeom>
                  <a:avLst/>
                  <a:gdLst/>
                  <a:ahLst/>
                  <a:cxnLst/>
                  <a:rect l="l" t="t" r="r" b="b"/>
                  <a:pathLst>
                    <a:path w="71438" h="17859">
                      <a:moveTo>
                        <a:pt x="0" y="17859"/>
                      </a:moveTo>
                      <a:lnTo>
                        <a:pt x="0" y="11906"/>
                      </a:lnTo>
                      <a:cubicBezTo>
                        <a:pt x="0" y="5331"/>
                        <a:pt x="5331" y="0"/>
                        <a:pt x="11906" y="0"/>
                      </a:cubicBezTo>
                      <a:lnTo>
                        <a:pt x="59531" y="0"/>
                      </a:lnTo>
                      <a:cubicBezTo>
                        <a:pt x="66107" y="0"/>
                        <a:pt x="71438" y="5331"/>
                        <a:pt x="71438" y="11906"/>
                      </a:cubicBezTo>
                      <a:lnTo>
                        <a:pt x="71438" y="17859"/>
                      </a:lnTo>
                    </a:path>
                  </a:pathLst>
                </a:custGeom>
                <a:noFill/>
                <a:ln w="11906">
                  <a:solidFill>
                    <a:srgbClr val="76200F"/>
                  </a:solidFill>
                </a:ln>
              </p:spPr>
            </p:sp>
            <p:sp>
              <p:nvSpPr>
                <p:cNvPr id="152" name="Freeform 152"/>
                <p:cNvSpPr/>
                <p:nvPr/>
              </p:nvSpPr>
              <p:spPr>
                <a:xfrm>
                  <a:off x="452438" y="4015978"/>
                  <a:ext cx="9525" cy="17859"/>
                </a:xfrm>
                <a:custGeom>
                  <a:avLst/>
                  <a:gdLst/>
                  <a:ahLst/>
                  <a:cxnLst/>
                  <a:rect l="l" t="t" r="r" b="b"/>
                  <a:pathLst>
                    <a:path w="9525" h="17859">
                      <a:moveTo>
                        <a:pt x="0" y="0"/>
                      </a:moveTo>
                      <a:lnTo>
                        <a:pt x="0" y="17859"/>
                      </a:lnTo>
                    </a:path>
                  </a:pathLst>
                </a:custGeom>
                <a:noFill/>
                <a:ln w="11906">
                  <a:solidFill>
                    <a:srgbClr val="76200F"/>
                  </a:solidFill>
                </a:ln>
              </p:spPr>
            </p:sp>
          </p:grpSp>
          <p:sp>
            <p:nvSpPr>
              <p:cNvPr id="154" name="TextBox 154"/>
              <p:cNvSpPr txBox="1"/>
              <p:nvPr/>
            </p:nvSpPr>
            <p:spPr>
              <a:xfrm>
                <a:off x="620738" y="4067889"/>
                <a:ext cx="434924" cy="154781"/>
              </a:xfrm>
              <a:prstGeom prst="rect">
                <a:avLst/>
              </a:prstGeom>
              <a:noFill/>
              <a:ln>
                <a:noFill/>
              </a:ln>
            </p:spPr>
            <p:txBody>
              <a:bodyPr wrap="none" lIns="0" tIns="0" rIns="0" bIns="0" anchor="t" anchorCtr="0">
                <a:spAutoFit/>
              </a:bodyPr>
              <a:lstStyle/>
              <a:p>
                <a:pPr algn="ctr"/>
                <a:r>
                  <a:rPr lang="zh-CN" sz="790" b="1" dirty="0">
                    <a:solidFill>
                      <a:srgbClr val="5D190B"/>
                    </a:solidFill>
                    <a:latin typeface="+mn-lt"/>
                    <a:ea typeface="+mn-ea"/>
                    <a:cs typeface="+mn-cs"/>
                  </a:rPr>
                  <a:t>组织优势</a:t>
                </a:r>
              </a:p>
            </p:txBody>
          </p:sp>
          <p:sp>
            <p:nvSpPr>
              <p:cNvPr id="155" name="TextBox 155"/>
              <p:cNvSpPr txBox="1"/>
              <p:nvPr/>
            </p:nvSpPr>
            <p:spPr>
              <a:xfrm>
                <a:off x="1539888" y="39466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品牌影响力强</a:t>
                </a:r>
              </a:p>
            </p:txBody>
          </p:sp>
          <p:sp>
            <p:nvSpPr>
              <p:cNvPr id="156" name="TextBox 156"/>
              <p:cNvSpPr txBox="1"/>
              <p:nvPr/>
            </p:nvSpPr>
            <p:spPr>
              <a:xfrm>
                <a:off x="1448346" y="408003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资源整合能力突出</a:t>
                </a:r>
              </a:p>
            </p:txBody>
          </p:sp>
          <p:sp>
            <p:nvSpPr>
              <p:cNvPr id="157" name="TextBox 157"/>
              <p:cNvSpPr txBox="1"/>
              <p:nvPr/>
            </p:nvSpPr>
            <p:spPr>
              <a:xfrm>
                <a:off x="2740038" y="39466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市场机制灵活</a:t>
                </a:r>
              </a:p>
            </p:txBody>
          </p:sp>
          <p:sp>
            <p:nvSpPr>
              <p:cNvPr id="158" name="TextBox 158"/>
              <p:cNvSpPr txBox="1"/>
              <p:nvPr/>
            </p:nvSpPr>
            <p:spPr>
              <a:xfrm>
                <a:off x="2694267" y="408003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产品创新能力强</a:t>
                </a:r>
              </a:p>
            </p:txBody>
          </p:sp>
          <p:sp>
            <p:nvSpPr>
              <p:cNvPr id="159" name="TextBox 159"/>
              <p:cNvSpPr txBox="1"/>
              <p:nvPr/>
            </p:nvSpPr>
            <p:spPr>
              <a:xfrm>
                <a:off x="3940188" y="39466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本地资源深厚</a:t>
                </a:r>
              </a:p>
            </p:txBody>
          </p:sp>
          <p:sp>
            <p:nvSpPr>
              <p:cNvPr id="160" name="TextBox 160"/>
              <p:cNvSpPr txBox="1"/>
              <p:nvPr/>
            </p:nvSpPr>
            <p:spPr>
              <a:xfrm>
                <a:off x="3985958" y="40800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决策链条短</a:t>
                </a:r>
              </a:p>
            </p:txBody>
          </p:sp>
          <p:sp>
            <p:nvSpPr>
              <p:cNvPr id="161" name="TextBox 161"/>
              <p:cNvSpPr txBox="1"/>
              <p:nvPr/>
            </p:nvSpPr>
            <p:spPr>
              <a:xfrm>
                <a:off x="4957254" y="3946684"/>
                <a:ext cx="92494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深耕基层、网点覆盖广</a:t>
                </a:r>
              </a:p>
            </p:txBody>
          </p:sp>
          <p:sp>
            <p:nvSpPr>
              <p:cNvPr id="162" name="TextBox 162"/>
              <p:cNvSpPr txBox="1"/>
              <p:nvPr/>
            </p:nvSpPr>
            <p:spPr>
              <a:xfrm>
                <a:off x="5140338" y="408003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客户关系紧密</a:t>
                </a:r>
              </a:p>
            </p:txBody>
          </p:sp>
          <p:sp>
            <p:nvSpPr>
              <p:cNvPr id="163" name="TextBox 163"/>
              <p:cNvSpPr txBox="1"/>
              <p:nvPr/>
            </p:nvSpPr>
            <p:spPr>
              <a:xfrm>
                <a:off x="6340488" y="39466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技术能力领先</a:t>
                </a:r>
              </a:p>
            </p:txBody>
          </p:sp>
          <p:sp>
            <p:nvSpPr>
              <p:cNvPr id="164" name="TextBox 164"/>
              <p:cNvSpPr txBox="1"/>
              <p:nvPr/>
            </p:nvSpPr>
            <p:spPr>
              <a:xfrm>
                <a:off x="6294717" y="408003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数据运营能力强</a:t>
                </a:r>
              </a:p>
            </p:txBody>
          </p:sp>
          <p:sp>
            <p:nvSpPr>
              <p:cNvPr id="165" name="TextBox 165"/>
              <p:cNvSpPr txBox="1"/>
              <p:nvPr/>
            </p:nvSpPr>
            <p:spPr>
              <a:xfrm>
                <a:off x="7266013" y="3946684"/>
                <a:ext cx="1108024"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场景生态丰富、商户覆盖广</a:t>
                </a:r>
              </a:p>
            </p:txBody>
          </p:sp>
          <p:sp>
            <p:nvSpPr>
              <p:cNvPr id="166" name="TextBox 166"/>
              <p:cNvSpPr txBox="1"/>
              <p:nvPr/>
            </p:nvSpPr>
            <p:spPr>
              <a:xfrm>
                <a:off x="7586408" y="40800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用户规模大</a:t>
                </a:r>
              </a:p>
            </p:txBody>
          </p:sp>
          <p:sp>
            <p:nvSpPr>
              <p:cNvPr id="167" name="Rectangle 167"/>
              <p:cNvSpPr/>
              <p:nvPr/>
            </p:nvSpPr>
            <p:spPr>
              <a:xfrm>
                <a:off x="342900" y="4381500"/>
                <a:ext cx="8077200" cy="552450"/>
              </a:xfrm>
              <a:prstGeom prst="rect">
                <a:avLst/>
              </a:prstGeom>
              <a:solidFill>
                <a:srgbClr val="FFFFFF"/>
              </a:solidFill>
              <a:ln w="9525">
                <a:solidFill>
                  <a:srgbClr val="E2EEEB"/>
                </a:solidFill>
              </a:ln>
            </p:spPr>
          </p:sp>
          <p:grpSp>
            <p:nvGrpSpPr>
              <p:cNvPr id="171" name="Group 171"/>
              <p:cNvGrpSpPr/>
              <p:nvPr/>
            </p:nvGrpSpPr>
            <p:grpSpPr>
              <a:xfrm>
                <a:off x="392400" y="4530732"/>
                <a:ext cx="120071" cy="103157"/>
                <a:chOff x="392400" y="4530732"/>
                <a:chExt cx="120071" cy="103157"/>
              </a:xfrm>
            </p:grpSpPr>
            <p:sp>
              <p:nvSpPr>
                <p:cNvPr id="168" name="Freeform 168"/>
                <p:cNvSpPr/>
                <p:nvPr/>
              </p:nvSpPr>
              <p:spPr>
                <a:xfrm>
                  <a:off x="452438" y="4568428"/>
                  <a:ext cx="9525" cy="23812"/>
                </a:xfrm>
                <a:custGeom>
                  <a:avLst/>
                  <a:gdLst/>
                  <a:ahLst/>
                  <a:cxnLst/>
                  <a:rect l="l" t="t" r="r" b="b"/>
                  <a:pathLst>
                    <a:path w="9525" h="23812">
                      <a:moveTo>
                        <a:pt x="0" y="0"/>
                      </a:moveTo>
                      <a:lnTo>
                        <a:pt x="0" y="23812"/>
                      </a:lnTo>
                    </a:path>
                  </a:pathLst>
                </a:custGeom>
                <a:noFill/>
                <a:ln w="11906">
                  <a:solidFill>
                    <a:srgbClr val="C0412B"/>
                  </a:solidFill>
                </a:ln>
              </p:spPr>
            </p:sp>
            <p:sp>
              <p:nvSpPr>
                <p:cNvPr id="169" name="Freeform 169"/>
                <p:cNvSpPr/>
                <p:nvPr/>
              </p:nvSpPr>
              <p:spPr>
                <a:xfrm>
                  <a:off x="392400" y="4530732"/>
                  <a:ext cx="120071" cy="103157"/>
                </a:xfrm>
                <a:custGeom>
                  <a:avLst/>
                  <a:gdLst/>
                  <a:ahLst/>
                  <a:cxnLst/>
                  <a:rect l="l" t="t" r="r" b="b"/>
                  <a:pathLst>
                    <a:path w="120071" h="103157">
                      <a:moveTo>
                        <a:pt x="50293" y="5496"/>
                      </a:moveTo>
                      <a:lnTo>
                        <a:pt x="2037" y="86066"/>
                      </a:lnTo>
                      <a:cubicBezTo>
                        <a:pt x="12" y="89571"/>
                        <a:pt x="0" y="93888"/>
                        <a:pt x="2004" y="97405"/>
                      </a:cubicBezTo>
                      <a:cubicBezTo>
                        <a:pt x="4008" y="100922"/>
                        <a:pt x="7728" y="103112"/>
                        <a:pt x="11776" y="103157"/>
                      </a:cubicBezTo>
                      <a:lnTo>
                        <a:pt x="108300" y="103157"/>
                      </a:lnTo>
                      <a:cubicBezTo>
                        <a:pt x="112346" y="103110"/>
                        <a:pt x="116064" y="100922"/>
                        <a:pt x="118067" y="97406"/>
                      </a:cubicBezTo>
                      <a:cubicBezTo>
                        <a:pt x="120071" y="93891"/>
                        <a:pt x="120061" y="89577"/>
                        <a:pt x="118039" y="86072"/>
                      </a:cubicBezTo>
                      <a:lnTo>
                        <a:pt x="69783" y="5490"/>
                      </a:lnTo>
                      <a:cubicBezTo>
                        <a:pt x="67718" y="2082"/>
                        <a:pt x="64023" y="0"/>
                        <a:pt x="60038" y="0"/>
                      </a:cubicBezTo>
                      <a:cubicBezTo>
                        <a:pt x="56053" y="0"/>
                        <a:pt x="52358" y="2082"/>
                        <a:pt x="50293" y="5490"/>
                      </a:cubicBezTo>
                    </a:path>
                  </a:pathLst>
                </a:custGeom>
                <a:noFill/>
                <a:ln w="11906">
                  <a:solidFill>
                    <a:srgbClr val="C0412B"/>
                  </a:solidFill>
                </a:ln>
              </p:spPr>
            </p:sp>
            <p:sp>
              <p:nvSpPr>
                <p:cNvPr id="170" name="Freeform 170"/>
                <p:cNvSpPr/>
                <p:nvPr/>
              </p:nvSpPr>
              <p:spPr>
                <a:xfrm>
                  <a:off x="452438" y="4610100"/>
                  <a:ext cx="9525" cy="9525"/>
                </a:xfrm>
                <a:custGeom>
                  <a:avLst/>
                  <a:gdLst/>
                  <a:ahLst/>
                  <a:cxnLst/>
                  <a:rect l="l" t="t" r="r" b="b"/>
                  <a:pathLst>
                    <a:path w="9525" h="9525">
                      <a:moveTo>
                        <a:pt x="0" y="0"/>
                      </a:moveTo>
                      <a:lnTo>
                        <a:pt x="60" y="0"/>
                      </a:lnTo>
                    </a:path>
                  </a:pathLst>
                </a:custGeom>
                <a:noFill/>
                <a:ln w="11906">
                  <a:solidFill>
                    <a:srgbClr val="C0412B"/>
                  </a:solidFill>
                </a:ln>
              </p:spPr>
            </p:sp>
          </p:grpSp>
          <p:sp>
            <p:nvSpPr>
              <p:cNvPr id="172" name="TextBox 172"/>
              <p:cNvSpPr txBox="1"/>
              <p:nvPr/>
            </p:nvSpPr>
            <p:spPr>
              <a:xfrm>
                <a:off x="620738" y="4620339"/>
                <a:ext cx="434924" cy="154781"/>
              </a:xfrm>
              <a:prstGeom prst="rect">
                <a:avLst/>
              </a:prstGeom>
              <a:noFill/>
              <a:ln>
                <a:noFill/>
              </a:ln>
            </p:spPr>
            <p:txBody>
              <a:bodyPr wrap="none" lIns="0" tIns="0" rIns="0" bIns="0" anchor="t" anchorCtr="0">
                <a:spAutoFit/>
              </a:bodyPr>
              <a:lstStyle/>
              <a:p>
                <a:pPr algn="ctr"/>
                <a:r>
                  <a:rPr lang="zh-CN" sz="790" b="1" dirty="0">
                    <a:solidFill>
                      <a:srgbClr val="C0412B"/>
                    </a:solidFill>
                    <a:latin typeface="+mn-lt"/>
                    <a:ea typeface="+mn-ea"/>
                    <a:cs typeface="+mn-cs"/>
                  </a:rPr>
                  <a:t>典型短板</a:t>
                </a:r>
              </a:p>
            </p:txBody>
          </p:sp>
          <p:sp>
            <p:nvSpPr>
              <p:cNvPr id="173" name="TextBox 173"/>
              <p:cNvSpPr txBox="1"/>
              <p:nvPr/>
            </p:nvSpPr>
            <p:spPr>
              <a:xfrm>
                <a:off x="1494117" y="449913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活动灵活性不足</a:t>
                </a:r>
              </a:p>
            </p:txBody>
          </p:sp>
          <p:sp>
            <p:nvSpPr>
              <p:cNvPr id="174" name="TextBox 174"/>
              <p:cNvSpPr txBox="1"/>
              <p:nvPr/>
            </p:nvSpPr>
            <p:spPr>
              <a:xfrm>
                <a:off x="1539888" y="46324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决策链条较长</a:t>
                </a:r>
              </a:p>
            </p:txBody>
          </p:sp>
          <p:sp>
            <p:nvSpPr>
              <p:cNvPr id="175" name="TextBox 175"/>
              <p:cNvSpPr txBox="1"/>
              <p:nvPr/>
            </p:nvSpPr>
            <p:spPr>
              <a:xfrm>
                <a:off x="2648496" y="449913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线下覆盖广度有限</a:t>
                </a:r>
              </a:p>
            </p:txBody>
          </p:sp>
          <p:sp>
            <p:nvSpPr>
              <p:cNvPr id="176" name="TextBox 176"/>
              <p:cNvSpPr txBox="1"/>
              <p:nvPr/>
            </p:nvSpPr>
            <p:spPr>
              <a:xfrm>
                <a:off x="2602725" y="46324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对下沉市场渗透不足</a:t>
                </a:r>
              </a:p>
            </p:txBody>
          </p:sp>
          <p:sp>
            <p:nvSpPr>
              <p:cNvPr id="177" name="TextBox 177"/>
              <p:cNvSpPr txBox="1"/>
              <p:nvPr/>
            </p:nvSpPr>
            <p:spPr>
              <a:xfrm>
                <a:off x="3894417" y="449913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品牌影响力有限</a:t>
                </a:r>
              </a:p>
            </p:txBody>
          </p:sp>
          <p:sp>
            <p:nvSpPr>
              <p:cNvPr id="178" name="TextBox 178"/>
              <p:cNvSpPr txBox="1"/>
              <p:nvPr/>
            </p:nvSpPr>
            <p:spPr>
              <a:xfrm>
                <a:off x="3894417" y="463248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生态资源积累少</a:t>
                </a:r>
              </a:p>
            </p:txBody>
          </p:sp>
          <p:sp>
            <p:nvSpPr>
              <p:cNvPr id="179" name="TextBox 179"/>
              <p:cNvSpPr txBox="1"/>
              <p:nvPr/>
            </p:nvSpPr>
            <p:spPr>
              <a:xfrm>
                <a:off x="5003025" y="44991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数字化能力相对薄弱</a:t>
                </a:r>
              </a:p>
            </p:txBody>
          </p:sp>
          <p:sp>
            <p:nvSpPr>
              <p:cNvPr id="180" name="TextBox 180"/>
              <p:cNvSpPr txBox="1"/>
              <p:nvPr/>
            </p:nvSpPr>
            <p:spPr>
              <a:xfrm>
                <a:off x="5094567" y="463248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活动形式较传统</a:t>
                </a:r>
              </a:p>
            </p:txBody>
          </p:sp>
          <p:sp>
            <p:nvSpPr>
              <p:cNvPr id="181" name="TextBox 181"/>
              <p:cNvSpPr txBox="1"/>
              <p:nvPr/>
            </p:nvSpPr>
            <p:spPr>
              <a:xfrm>
                <a:off x="6340488" y="449913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线下触点不足</a:t>
                </a:r>
              </a:p>
            </p:txBody>
          </p:sp>
          <p:sp>
            <p:nvSpPr>
              <p:cNvPr id="182" name="TextBox 182"/>
              <p:cNvSpPr txBox="1"/>
              <p:nvPr/>
            </p:nvSpPr>
            <p:spPr>
              <a:xfrm>
                <a:off x="6248946" y="463248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本地资源相对较弱</a:t>
                </a:r>
              </a:p>
            </p:txBody>
          </p:sp>
          <p:sp>
            <p:nvSpPr>
              <p:cNvPr id="183" name="TextBox 183"/>
              <p:cNvSpPr txBox="1"/>
              <p:nvPr/>
            </p:nvSpPr>
            <p:spPr>
              <a:xfrm>
                <a:off x="7449096" y="449913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金融服务深度有限</a:t>
                </a:r>
              </a:p>
            </p:txBody>
          </p:sp>
          <p:sp>
            <p:nvSpPr>
              <p:cNvPr id="184" name="TextBox 184"/>
              <p:cNvSpPr txBox="1"/>
              <p:nvPr/>
            </p:nvSpPr>
            <p:spPr>
              <a:xfrm>
                <a:off x="7449096" y="463248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用户粘性相对较低</a:t>
                </a:r>
              </a:p>
            </p:txBody>
          </p:sp>
        </p:grpSp>
      </p:grpSp>
      <p:grpSp>
        <p:nvGrpSpPr>
          <p:cNvPr id="222" name="radar-chart"/>
          <p:cNvGrpSpPr/>
          <p:nvPr/>
        </p:nvGrpSpPr>
        <p:grpSpPr>
          <a:xfrm>
            <a:off x="8534400" y="685800"/>
            <a:ext cx="3295650" cy="2349580"/>
            <a:chOff x="8534400" y="685800"/>
            <a:chExt cx="3295650" cy="2349580"/>
          </a:xfrm>
        </p:grpSpPr>
        <p:sp>
          <p:nvSpPr>
            <p:cNvPr id="187" name="Rectangle 187"/>
            <p:cNvSpPr/>
            <p:nvPr/>
          </p:nvSpPr>
          <p:spPr>
            <a:xfrm>
              <a:off x="8534400" y="685800"/>
              <a:ext cx="3295650" cy="247650"/>
            </a:xfrm>
            <a:prstGeom prst="roundRect">
              <a:avLst>
                <a:gd name="adj" fmla="val 23077"/>
              </a:avLst>
            </a:prstGeom>
            <a:solidFill>
              <a:srgbClr val="76200F"/>
            </a:solidFill>
            <a:ln>
              <a:noFill/>
            </a:ln>
          </p:spPr>
        </p:sp>
        <p:sp>
          <p:nvSpPr>
            <p:cNvPr id="188" name="TextBox 188"/>
            <p:cNvSpPr txBox="1"/>
            <p:nvPr/>
          </p:nvSpPr>
          <p:spPr>
            <a:xfrm>
              <a:off x="8662797" y="751999"/>
              <a:ext cx="159303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六类机构能力对比（定性）</a:t>
              </a:r>
            </a:p>
          </p:txBody>
        </p:sp>
        <p:sp>
          <p:nvSpPr>
            <p:cNvPr id="189" name="Polygon 189"/>
            <p:cNvSpPr/>
            <p:nvPr/>
          </p:nvSpPr>
          <p:spPr>
            <a:xfrm>
              <a:off x="9553575" y="1238250"/>
              <a:ext cx="1123950" cy="1068705"/>
            </a:xfrm>
            <a:custGeom>
              <a:avLst/>
              <a:gdLst/>
              <a:ahLst/>
              <a:cxnLst/>
              <a:rect l="l" t="t" r="r" b="b"/>
              <a:pathLst>
                <a:path w="1123950" h="1068705">
                  <a:moveTo>
                    <a:pt x="561975" y="0"/>
                  </a:moveTo>
                  <a:lnTo>
                    <a:pt x="1123950" y="407670"/>
                  </a:lnTo>
                  <a:lnTo>
                    <a:pt x="909638" y="1068705"/>
                  </a:lnTo>
                  <a:lnTo>
                    <a:pt x="214312" y="1068705"/>
                  </a:lnTo>
                  <a:lnTo>
                    <a:pt x="0" y="407670"/>
                  </a:lnTo>
                  <a:close/>
                </a:path>
              </a:pathLst>
            </a:custGeom>
            <a:solidFill>
              <a:srgbClr val="F0FAF8"/>
            </a:solidFill>
            <a:ln w="9525">
              <a:solidFill>
                <a:srgbClr val="D5E8E4"/>
              </a:solidFill>
            </a:ln>
          </p:spPr>
        </p:sp>
        <p:sp>
          <p:nvSpPr>
            <p:cNvPr id="190" name="Polygon 190"/>
            <p:cNvSpPr/>
            <p:nvPr/>
          </p:nvSpPr>
          <p:spPr>
            <a:xfrm>
              <a:off x="9724072" y="1356360"/>
              <a:ext cx="841058" cy="759142"/>
            </a:xfrm>
            <a:custGeom>
              <a:avLst/>
              <a:gdLst/>
              <a:ahLst/>
              <a:cxnLst/>
              <a:rect l="l" t="t" r="r" b="b"/>
              <a:pathLst>
                <a:path w="841058" h="759142">
                  <a:moveTo>
                    <a:pt x="391478" y="0"/>
                  </a:moveTo>
                  <a:lnTo>
                    <a:pt x="841058" y="326707"/>
                  </a:lnTo>
                  <a:lnTo>
                    <a:pt x="600075" y="759142"/>
                  </a:lnTo>
                  <a:lnTo>
                    <a:pt x="147638" y="759142"/>
                  </a:lnTo>
                  <a:lnTo>
                    <a:pt x="0" y="362902"/>
                  </a:lnTo>
                  <a:close/>
                </a:path>
              </a:pathLst>
            </a:custGeom>
            <a:noFill/>
            <a:ln w="9525">
              <a:solidFill>
                <a:srgbClr val="D5E8E4"/>
              </a:solidFill>
            </a:ln>
          </p:spPr>
        </p:sp>
        <p:sp>
          <p:nvSpPr>
            <p:cNvPr id="191" name="Polygon 191"/>
            <p:cNvSpPr/>
            <p:nvPr/>
          </p:nvSpPr>
          <p:spPr>
            <a:xfrm>
              <a:off x="9778365" y="1474470"/>
              <a:ext cx="674370" cy="783907"/>
            </a:xfrm>
            <a:custGeom>
              <a:avLst/>
              <a:gdLst/>
              <a:ahLst/>
              <a:cxnLst/>
              <a:rect l="l" t="t" r="r" b="b"/>
              <a:pathLst>
                <a:path w="674370" h="783907">
                  <a:moveTo>
                    <a:pt x="337185" y="0"/>
                  </a:moveTo>
                  <a:lnTo>
                    <a:pt x="674370" y="244792"/>
                  </a:lnTo>
                  <a:lnTo>
                    <a:pt x="649605" y="783907"/>
                  </a:lnTo>
                  <a:lnTo>
                    <a:pt x="59055" y="736282"/>
                  </a:lnTo>
                  <a:lnTo>
                    <a:pt x="0" y="244792"/>
                  </a:lnTo>
                  <a:close/>
                </a:path>
              </a:pathLst>
            </a:custGeom>
            <a:noFill/>
            <a:ln w="9525">
              <a:solidFill>
                <a:srgbClr val="D5E8E4"/>
              </a:solidFill>
            </a:ln>
          </p:spPr>
        </p:sp>
        <p:sp>
          <p:nvSpPr>
            <p:cNvPr id="192" name="Polygon 192"/>
            <p:cNvSpPr/>
            <p:nvPr/>
          </p:nvSpPr>
          <p:spPr>
            <a:xfrm>
              <a:off x="9837420" y="1590675"/>
              <a:ext cx="590550" cy="667702"/>
            </a:xfrm>
            <a:custGeom>
              <a:avLst/>
              <a:gdLst/>
              <a:ahLst/>
              <a:cxnLst/>
              <a:rect l="l" t="t" r="r" b="b"/>
              <a:pathLst>
                <a:path w="590550" h="667702">
                  <a:moveTo>
                    <a:pt x="278130" y="0"/>
                  </a:moveTo>
                  <a:lnTo>
                    <a:pt x="559118" y="146685"/>
                  </a:lnTo>
                  <a:lnTo>
                    <a:pt x="590550" y="667702"/>
                  </a:lnTo>
                  <a:lnTo>
                    <a:pt x="3810" y="146685"/>
                  </a:lnTo>
                  <a:lnTo>
                    <a:pt x="0" y="620078"/>
                  </a:lnTo>
                  <a:close/>
                </a:path>
              </a:pathLst>
            </a:custGeom>
            <a:noFill/>
            <a:ln w="9525">
              <a:solidFill>
                <a:srgbClr val="D5E8E4"/>
              </a:solidFill>
            </a:ln>
          </p:spPr>
        </p:sp>
        <p:sp>
          <p:nvSpPr>
            <p:cNvPr id="193" name="Line 193"/>
            <p:cNvSpPr/>
            <p:nvPr/>
          </p:nvSpPr>
          <p:spPr>
            <a:xfrm>
              <a:off x="10115550" y="1238250"/>
              <a:ext cx="9525" cy="590550"/>
            </a:xfrm>
            <a:custGeom>
              <a:avLst/>
              <a:gdLst/>
              <a:ahLst/>
              <a:cxnLst/>
              <a:rect l="l" t="t" r="r" b="b"/>
              <a:pathLst>
                <a:path w="9525" h="590550">
                  <a:moveTo>
                    <a:pt x="0" y="590550"/>
                  </a:moveTo>
                  <a:lnTo>
                    <a:pt x="0" y="0"/>
                  </a:lnTo>
                </a:path>
              </a:pathLst>
            </a:custGeom>
            <a:noFill/>
            <a:ln w="9525">
              <a:solidFill>
                <a:srgbClr val="C2E0DA"/>
              </a:solidFill>
            </a:ln>
          </p:spPr>
        </p:sp>
        <p:sp>
          <p:nvSpPr>
            <p:cNvPr id="194" name="Line 194"/>
            <p:cNvSpPr/>
            <p:nvPr/>
          </p:nvSpPr>
          <p:spPr>
            <a:xfrm>
              <a:off x="10115550" y="1645920"/>
              <a:ext cx="561975" cy="182880"/>
            </a:xfrm>
            <a:custGeom>
              <a:avLst/>
              <a:gdLst/>
              <a:ahLst/>
              <a:cxnLst/>
              <a:rect l="l" t="t" r="r" b="b"/>
              <a:pathLst>
                <a:path w="561975" h="182880">
                  <a:moveTo>
                    <a:pt x="0" y="182880"/>
                  </a:moveTo>
                  <a:lnTo>
                    <a:pt x="561975" y="0"/>
                  </a:lnTo>
                </a:path>
              </a:pathLst>
            </a:custGeom>
            <a:noFill/>
            <a:ln w="9525">
              <a:solidFill>
                <a:srgbClr val="C2E0DA"/>
              </a:solidFill>
            </a:ln>
          </p:spPr>
        </p:sp>
        <p:sp>
          <p:nvSpPr>
            <p:cNvPr id="195" name="Line 195"/>
            <p:cNvSpPr/>
            <p:nvPr/>
          </p:nvSpPr>
          <p:spPr>
            <a:xfrm>
              <a:off x="10115550" y="1828800"/>
              <a:ext cx="347662" cy="478155"/>
            </a:xfrm>
            <a:custGeom>
              <a:avLst/>
              <a:gdLst/>
              <a:ahLst/>
              <a:cxnLst/>
              <a:rect l="l" t="t" r="r" b="b"/>
              <a:pathLst>
                <a:path w="347662" h="478155">
                  <a:moveTo>
                    <a:pt x="0" y="0"/>
                  </a:moveTo>
                  <a:lnTo>
                    <a:pt x="347662" y="478155"/>
                  </a:lnTo>
                </a:path>
              </a:pathLst>
            </a:custGeom>
            <a:noFill/>
            <a:ln w="9525">
              <a:solidFill>
                <a:srgbClr val="C2E0DA"/>
              </a:solidFill>
            </a:ln>
          </p:spPr>
        </p:sp>
        <p:sp>
          <p:nvSpPr>
            <p:cNvPr id="196" name="Line 196"/>
            <p:cNvSpPr/>
            <p:nvPr/>
          </p:nvSpPr>
          <p:spPr>
            <a:xfrm>
              <a:off x="9767888" y="1828800"/>
              <a:ext cx="347662" cy="478155"/>
            </a:xfrm>
            <a:custGeom>
              <a:avLst/>
              <a:gdLst/>
              <a:ahLst/>
              <a:cxnLst/>
              <a:rect l="l" t="t" r="r" b="b"/>
              <a:pathLst>
                <a:path w="347662" h="478155">
                  <a:moveTo>
                    <a:pt x="347662" y="0"/>
                  </a:moveTo>
                  <a:lnTo>
                    <a:pt x="0" y="478155"/>
                  </a:lnTo>
                </a:path>
              </a:pathLst>
            </a:custGeom>
            <a:noFill/>
            <a:ln w="9525">
              <a:solidFill>
                <a:srgbClr val="C2E0DA"/>
              </a:solidFill>
            </a:ln>
          </p:spPr>
        </p:sp>
        <p:sp>
          <p:nvSpPr>
            <p:cNvPr id="197" name="Line 197"/>
            <p:cNvSpPr/>
            <p:nvPr/>
          </p:nvSpPr>
          <p:spPr>
            <a:xfrm>
              <a:off x="9553575" y="1645920"/>
              <a:ext cx="561975" cy="182880"/>
            </a:xfrm>
            <a:custGeom>
              <a:avLst/>
              <a:gdLst/>
              <a:ahLst/>
              <a:cxnLst/>
              <a:rect l="l" t="t" r="r" b="b"/>
              <a:pathLst>
                <a:path w="561975" h="182880">
                  <a:moveTo>
                    <a:pt x="561975" y="182880"/>
                  </a:moveTo>
                  <a:lnTo>
                    <a:pt x="0" y="0"/>
                  </a:lnTo>
                </a:path>
              </a:pathLst>
            </a:custGeom>
            <a:noFill/>
            <a:ln w="9525">
              <a:solidFill>
                <a:srgbClr val="C2E0DA"/>
              </a:solidFill>
            </a:ln>
          </p:spPr>
        </p:sp>
        <p:sp>
          <p:nvSpPr>
            <p:cNvPr id="198" name="Polyline 198"/>
            <p:cNvSpPr/>
            <p:nvPr/>
          </p:nvSpPr>
          <p:spPr>
            <a:xfrm>
              <a:off x="9724072" y="1238250"/>
              <a:ext cx="728663" cy="924878"/>
            </a:xfrm>
            <a:custGeom>
              <a:avLst/>
              <a:gdLst/>
              <a:ahLst/>
              <a:cxnLst/>
              <a:rect l="l" t="t" r="r" b="b"/>
              <a:pathLst>
                <a:path w="728663" h="924878">
                  <a:moveTo>
                    <a:pt x="391478" y="0"/>
                  </a:moveTo>
                  <a:lnTo>
                    <a:pt x="728663" y="481012"/>
                  </a:lnTo>
                  <a:lnTo>
                    <a:pt x="634365" y="924878"/>
                  </a:lnTo>
                  <a:lnTo>
                    <a:pt x="181928" y="924878"/>
                  </a:lnTo>
                  <a:lnTo>
                    <a:pt x="0" y="481012"/>
                  </a:lnTo>
                </a:path>
              </a:pathLst>
            </a:custGeom>
            <a:noFill/>
            <a:ln w="17145">
              <a:solidFill>
                <a:srgbClr val="4F160B"/>
              </a:solidFill>
            </a:ln>
          </p:spPr>
        </p:sp>
        <p:sp>
          <p:nvSpPr>
            <p:cNvPr id="199" name="Polyline 199"/>
            <p:cNvSpPr/>
            <p:nvPr/>
          </p:nvSpPr>
          <p:spPr>
            <a:xfrm>
              <a:off x="9724072" y="1356360"/>
              <a:ext cx="841058" cy="759142"/>
            </a:xfrm>
            <a:custGeom>
              <a:avLst/>
              <a:gdLst/>
              <a:ahLst/>
              <a:cxnLst/>
              <a:rect l="l" t="t" r="r" b="b"/>
              <a:pathLst>
                <a:path w="841058" h="759142">
                  <a:moveTo>
                    <a:pt x="391478" y="0"/>
                  </a:moveTo>
                  <a:lnTo>
                    <a:pt x="841058" y="326707"/>
                  </a:lnTo>
                  <a:lnTo>
                    <a:pt x="600075" y="759142"/>
                  </a:lnTo>
                  <a:lnTo>
                    <a:pt x="147638" y="759142"/>
                  </a:lnTo>
                  <a:lnTo>
                    <a:pt x="0" y="362902"/>
                  </a:lnTo>
                </a:path>
              </a:pathLst>
            </a:custGeom>
            <a:noFill/>
            <a:ln w="17145">
              <a:solidFill>
                <a:srgbClr val="76200F"/>
              </a:solidFill>
            </a:ln>
          </p:spPr>
        </p:sp>
        <p:sp>
          <p:nvSpPr>
            <p:cNvPr id="200" name="Polyline 200"/>
            <p:cNvSpPr/>
            <p:nvPr/>
          </p:nvSpPr>
          <p:spPr>
            <a:xfrm>
              <a:off x="9778365" y="1474470"/>
              <a:ext cx="674370" cy="783907"/>
            </a:xfrm>
            <a:custGeom>
              <a:avLst/>
              <a:gdLst/>
              <a:ahLst/>
              <a:cxnLst/>
              <a:rect l="l" t="t" r="r" b="b"/>
              <a:pathLst>
                <a:path w="674370" h="783907">
                  <a:moveTo>
                    <a:pt x="337185" y="0"/>
                  </a:moveTo>
                  <a:lnTo>
                    <a:pt x="674370" y="244792"/>
                  </a:lnTo>
                  <a:lnTo>
                    <a:pt x="649605" y="783907"/>
                  </a:lnTo>
                  <a:lnTo>
                    <a:pt x="59055" y="736282"/>
                  </a:lnTo>
                  <a:lnTo>
                    <a:pt x="0" y="244792"/>
                  </a:lnTo>
                </a:path>
              </a:pathLst>
            </a:custGeom>
            <a:noFill/>
            <a:ln w="17145">
              <a:solidFill>
                <a:srgbClr val="A02B14"/>
              </a:solidFill>
            </a:ln>
          </p:spPr>
        </p:sp>
        <p:sp>
          <p:nvSpPr>
            <p:cNvPr id="201" name="Polyline 201"/>
            <p:cNvSpPr/>
            <p:nvPr/>
          </p:nvSpPr>
          <p:spPr>
            <a:xfrm>
              <a:off x="9837420" y="1533525"/>
              <a:ext cx="590550" cy="724852"/>
            </a:xfrm>
            <a:custGeom>
              <a:avLst/>
              <a:gdLst/>
              <a:ahLst/>
              <a:cxnLst/>
              <a:rect l="l" t="t" r="r" b="b"/>
              <a:pathLst>
                <a:path w="590550" h="724852">
                  <a:moveTo>
                    <a:pt x="278130" y="0"/>
                  </a:moveTo>
                  <a:lnTo>
                    <a:pt x="559118" y="203835"/>
                  </a:lnTo>
                  <a:lnTo>
                    <a:pt x="590550" y="724852"/>
                  </a:lnTo>
                  <a:lnTo>
                    <a:pt x="0" y="677228"/>
                  </a:lnTo>
                  <a:lnTo>
                    <a:pt x="3810" y="203835"/>
                  </a:lnTo>
                </a:path>
              </a:pathLst>
            </a:custGeom>
            <a:noFill/>
            <a:ln w="17145">
              <a:solidFill>
                <a:srgbClr val="B8513D"/>
              </a:solidFill>
            </a:ln>
          </p:spPr>
        </p:sp>
        <p:sp>
          <p:nvSpPr>
            <p:cNvPr id="202" name="Polyline 202"/>
            <p:cNvSpPr/>
            <p:nvPr/>
          </p:nvSpPr>
          <p:spPr>
            <a:xfrm>
              <a:off x="9648825" y="1474470"/>
              <a:ext cx="1028700" cy="736282"/>
            </a:xfrm>
            <a:custGeom>
              <a:avLst/>
              <a:gdLst/>
              <a:ahLst/>
              <a:cxnLst/>
              <a:rect l="l" t="t" r="r" b="b"/>
              <a:pathLst>
                <a:path w="1028700" h="736282">
                  <a:moveTo>
                    <a:pt x="466725" y="0"/>
                  </a:moveTo>
                  <a:lnTo>
                    <a:pt x="1028700" y="171450"/>
                  </a:lnTo>
                  <a:lnTo>
                    <a:pt x="605790" y="545782"/>
                  </a:lnTo>
                  <a:lnTo>
                    <a:pt x="188595" y="736282"/>
                  </a:lnTo>
                  <a:lnTo>
                    <a:pt x="0" y="208597"/>
                  </a:lnTo>
                </a:path>
              </a:pathLst>
            </a:custGeom>
            <a:noFill/>
            <a:ln w="17145">
              <a:solidFill>
                <a:srgbClr val="CC8779"/>
              </a:solidFill>
            </a:ln>
          </p:spPr>
        </p:sp>
        <p:sp>
          <p:nvSpPr>
            <p:cNvPr id="203" name="Polyline 203"/>
            <p:cNvSpPr/>
            <p:nvPr/>
          </p:nvSpPr>
          <p:spPr>
            <a:xfrm>
              <a:off x="9610725" y="1297305"/>
              <a:ext cx="1010602" cy="913448"/>
            </a:xfrm>
            <a:custGeom>
              <a:avLst/>
              <a:gdLst/>
              <a:ahLst/>
              <a:cxnLst/>
              <a:rect l="l" t="t" r="r" b="b"/>
              <a:pathLst>
                <a:path w="1010602" h="913448">
                  <a:moveTo>
                    <a:pt x="504825" y="0"/>
                  </a:moveTo>
                  <a:lnTo>
                    <a:pt x="1010602" y="367665"/>
                  </a:lnTo>
                  <a:lnTo>
                    <a:pt x="713423" y="818198"/>
                  </a:lnTo>
                  <a:lnTo>
                    <a:pt x="226695" y="913448"/>
                  </a:lnTo>
                  <a:lnTo>
                    <a:pt x="0" y="367665"/>
                  </a:lnTo>
                </a:path>
              </a:pathLst>
            </a:custGeom>
            <a:noFill/>
            <a:ln w="17145">
              <a:solidFill>
                <a:srgbClr val="E2BEB7"/>
              </a:solidFill>
            </a:ln>
          </p:spPr>
        </p:sp>
        <p:sp>
          <p:nvSpPr>
            <p:cNvPr id="204" name="TextBox 204"/>
            <p:cNvSpPr txBox="1"/>
            <p:nvPr/>
          </p:nvSpPr>
          <p:spPr>
            <a:xfrm>
              <a:off x="9919627" y="1085136"/>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场景广度</a:t>
              </a:r>
            </a:p>
          </p:txBody>
        </p:sp>
        <p:sp>
          <p:nvSpPr>
            <p:cNvPr id="205" name="TextBox 205"/>
            <p:cNvSpPr txBox="1"/>
            <p:nvPr/>
          </p:nvSpPr>
          <p:spPr>
            <a:xfrm>
              <a:off x="10720388" y="1542336"/>
              <a:ext cx="29626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数字化</a:t>
              </a:r>
            </a:p>
          </p:txBody>
        </p:sp>
        <p:sp>
          <p:nvSpPr>
            <p:cNvPr id="206" name="TextBox 206"/>
            <p:cNvSpPr txBox="1"/>
            <p:nvPr/>
          </p:nvSpPr>
          <p:spPr>
            <a:xfrm>
              <a:off x="10510838" y="236148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本地资源</a:t>
              </a:r>
            </a:p>
          </p:txBody>
        </p:sp>
        <p:sp>
          <p:nvSpPr>
            <p:cNvPr id="207" name="TextBox 207"/>
            <p:cNvSpPr txBox="1"/>
            <p:nvPr/>
          </p:nvSpPr>
          <p:spPr>
            <a:xfrm>
              <a:off x="9328417" y="2361486"/>
              <a:ext cx="391846" cy="140494"/>
            </a:xfrm>
            <a:prstGeom prst="rect">
              <a:avLst/>
            </a:prstGeom>
            <a:noFill/>
            <a:ln>
              <a:noFill/>
            </a:ln>
          </p:spPr>
          <p:txBody>
            <a:bodyPr wrap="none" lIns="0" tIns="0" rIns="0" bIns="0" anchor="t" anchorCtr="0">
              <a:spAutoFit/>
            </a:bodyPr>
            <a:lstStyle/>
            <a:p>
              <a:pPr algn="r"/>
              <a:r>
                <a:rPr lang="zh-CN" sz="710" b="1" dirty="0">
                  <a:solidFill>
                    <a:srgbClr val="331712"/>
                  </a:solidFill>
                  <a:latin typeface="+mn-lt"/>
                  <a:ea typeface="+mn-ea"/>
                  <a:cs typeface="+mn-cs"/>
                </a:rPr>
                <a:t>转化效率</a:t>
              </a:r>
            </a:p>
          </p:txBody>
        </p:sp>
        <p:sp>
          <p:nvSpPr>
            <p:cNvPr id="208" name="TextBox 208"/>
            <p:cNvSpPr txBox="1"/>
            <p:nvPr/>
          </p:nvSpPr>
          <p:spPr>
            <a:xfrm>
              <a:off x="9118867" y="1542336"/>
              <a:ext cx="391846" cy="140494"/>
            </a:xfrm>
            <a:prstGeom prst="rect">
              <a:avLst/>
            </a:prstGeom>
            <a:noFill/>
            <a:ln>
              <a:noFill/>
            </a:ln>
          </p:spPr>
          <p:txBody>
            <a:bodyPr wrap="none" lIns="0" tIns="0" rIns="0" bIns="0" anchor="t" anchorCtr="0">
              <a:spAutoFit/>
            </a:bodyPr>
            <a:lstStyle/>
            <a:p>
              <a:pPr algn="r"/>
              <a:r>
                <a:rPr lang="zh-CN" sz="710" b="1" dirty="0">
                  <a:solidFill>
                    <a:srgbClr val="331712"/>
                  </a:solidFill>
                  <a:latin typeface="+mn-lt"/>
                  <a:ea typeface="+mn-ea"/>
                  <a:cs typeface="+mn-cs"/>
                </a:rPr>
                <a:t>生态开放</a:t>
              </a:r>
            </a:p>
          </p:txBody>
        </p:sp>
        <p:grpSp>
          <p:nvGrpSpPr>
            <p:cNvPr id="221" name="radar-legend"/>
            <p:cNvGrpSpPr/>
            <p:nvPr/>
          </p:nvGrpSpPr>
          <p:grpSpPr>
            <a:xfrm>
              <a:off x="8686800" y="2685336"/>
              <a:ext cx="2139684" cy="350044"/>
              <a:chOff x="8686800" y="2685336"/>
              <a:chExt cx="2139684" cy="350044"/>
            </a:xfrm>
          </p:grpSpPr>
          <p:sp>
            <p:nvSpPr>
              <p:cNvPr id="209" name="Line 209"/>
              <p:cNvSpPr/>
              <p:nvPr/>
            </p:nvSpPr>
            <p:spPr>
              <a:xfrm>
                <a:off x="8686800" y="2724150"/>
                <a:ext cx="171450" cy="9525"/>
              </a:xfrm>
              <a:custGeom>
                <a:avLst/>
                <a:gdLst/>
                <a:ahLst/>
                <a:cxnLst/>
                <a:rect l="l" t="t" r="r" b="b"/>
                <a:pathLst>
                  <a:path w="171450" h="9525">
                    <a:moveTo>
                      <a:pt x="0" y="0"/>
                    </a:moveTo>
                    <a:lnTo>
                      <a:pt x="171450" y="0"/>
                    </a:lnTo>
                  </a:path>
                </a:pathLst>
              </a:custGeom>
              <a:noFill/>
              <a:ln w="23812">
                <a:solidFill>
                  <a:srgbClr val="4F160B"/>
                </a:solidFill>
              </a:ln>
            </p:spPr>
          </p:sp>
          <p:sp>
            <p:nvSpPr>
              <p:cNvPr id="210" name="TextBox 210"/>
              <p:cNvSpPr txBox="1"/>
              <p:nvPr/>
            </p:nvSpPr>
            <p:spPr>
              <a:xfrm>
                <a:off x="8910638" y="2685336"/>
                <a:ext cx="29626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国有行</a:t>
                </a:r>
              </a:p>
            </p:txBody>
          </p:sp>
          <p:sp>
            <p:nvSpPr>
              <p:cNvPr id="211" name="Line 211"/>
              <p:cNvSpPr/>
              <p:nvPr/>
            </p:nvSpPr>
            <p:spPr>
              <a:xfrm>
                <a:off x="9448800" y="2724150"/>
                <a:ext cx="171450" cy="9525"/>
              </a:xfrm>
              <a:custGeom>
                <a:avLst/>
                <a:gdLst/>
                <a:ahLst/>
                <a:cxnLst/>
                <a:rect l="l" t="t" r="r" b="b"/>
                <a:pathLst>
                  <a:path w="171450" h="9525">
                    <a:moveTo>
                      <a:pt x="0" y="0"/>
                    </a:moveTo>
                    <a:lnTo>
                      <a:pt x="171450" y="0"/>
                    </a:lnTo>
                  </a:path>
                </a:pathLst>
              </a:custGeom>
              <a:noFill/>
              <a:ln w="23812">
                <a:solidFill>
                  <a:srgbClr val="76200F"/>
                </a:solidFill>
              </a:ln>
            </p:spPr>
          </p:sp>
          <p:sp>
            <p:nvSpPr>
              <p:cNvPr id="212" name="TextBox 212"/>
              <p:cNvSpPr txBox="1"/>
              <p:nvPr/>
            </p:nvSpPr>
            <p:spPr>
              <a:xfrm>
                <a:off x="9672638" y="2685336"/>
                <a:ext cx="29626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股份行</a:t>
                </a:r>
              </a:p>
            </p:txBody>
          </p:sp>
          <p:sp>
            <p:nvSpPr>
              <p:cNvPr id="213" name="Line 213"/>
              <p:cNvSpPr/>
              <p:nvPr/>
            </p:nvSpPr>
            <p:spPr>
              <a:xfrm>
                <a:off x="10210800" y="2724150"/>
                <a:ext cx="171450" cy="9525"/>
              </a:xfrm>
              <a:custGeom>
                <a:avLst/>
                <a:gdLst/>
                <a:ahLst/>
                <a:cxnLst/>
                <a:rect l="l" t="t" r="r" b="b"/>
                <a:pathLst>
                  <a:path w="171450" h="9525">
                    <a:moveTo>
                      <a:pt x="0" y="0"/>
                    </a:moveTo>
                    <a:lnTo>
                      <a:pt x="171450" y="0"/>
                    </a:lnTo>
                  </a:path>
                </a:pathLst>
              </a:custGeom>
              <a:noFill/>
              <a:ln w="23812">
                <a:solidFill>
                  <a:srgbClr val="A02B14"/>
                </a:solidFill>
              </a:ln>
            </p:spPr>
          </p:sp>
          <p:sp>
            <p:nvSpPr>
              <p:cNvPr id="214" name="TextBox 214"/>
              <p:cNvSpPr txBox="1"/>
              <p:nvPr/>
            </p:nvSpPr>
            <p:spPr>
              <a:xfrm>
                <a:off x="10434638" y="2685336"/>
                <a:ext cx="29626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城商行</a:t>
                </a:r>
              </a:p>
            </p:txBody>
          </p:sp>
          <p:sp>
            <p:nvSpPr>
              <p:cNvPr id="215" name="Line 215"/>
              <p:cNvSpPr/>
              <p:nvPr/>
            </p:nvSpPr>
            <p:spPr>
              <a:xfrm>
                <a:off x="8686800" y="2933700"/>
                <a:ext cx="171450" cy="9525"/>
              </a:xfrm>
              <a:custGeom>
                <a:avLst/>
                <a:gdLst/>
                <a:ahLst/>
                <a:cxnLst/>
                <a:rect l="l" t="t" r="r" b="b"/>
                <a:pathLst>
                  <a:path w="171450" h="9525">
                    <a:moveTo>
                      <a:pt x="0" y="0"/>
                    </a:moveTo>
                    <a:lnTo>
                      <a:pt x="171450" y="0"/>
                    </a:lnTo>
                  </a:path>
                </a:pathLst>
              </a:custGeom>
              <a:noFill/>
              <a:ln w="23812">
                <a:solidFill>
                  <a:srgbClr val="B8513D"/>
                </a:solidFill>
              </a:ln>
            </p:spPr>
          </p:sp>
          <p:sp>
            <p:nvSpPr>
              <p:cNvPr id="216" name="TextBox 216"/>
              <p:cNvSpPr txBox="1"/>
              <p:nvPr/>
            </p:nvSpPr>
            <p:spPr>
              <a:xfrm>
                <a:off x="8910638" y="2894886"/>
                <a:ext cx="29626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农商行</a:t>
                </a:r>
              </a:p>
            </p:txBody>
          </p:sp>
          <p:sp>
            <p:nvSpPr>
              <p:cNvPr id="217" name="Line 217"/>
              <p:cNvSpPr/>
              <p:nvPr/>
            </p:nvSpPr>
            <p:spPr>
              <a:xfrm>
                <a:off x="9448800" y="2933700"/>
                <a:ext cx="171450" cy="9525"/>
              </a:xfrm>
              <a:custGeom>
                <a:avLst/>
                <a:gdLst/>
                <a:ahLst/>
                <a:cxnLst/>
                <a:rect l="l" t="t" r="r" b="b"/>
                <a:pathLst>
                  <a:path w="171450" h="9525">
                    <a:moveTo>
                      <a:pt x="0" y="0"/>
                    </a:moveTo>
                    <a:lnTo>
                      <a:pt x="171450" y="0"/>
                    </a:lnTo>
                  </a:path>
                </a:pathLst>
              </a:custGeom>
              <a:noFill/>
              <a:ln w="23812">
                <a:solidFill>
                  <a:srgbClr val="CC8779"/>
                </a:solidFill>
              </a:ln>
            </p:spPr>
          </p:sp>
          <p:sp>
            <p:nvSpPr>
              <p:cNvPr id="218" name="TextBox 218"/>
              <p:cNvSpPr txBox="1"/>
              <p:nvPr/>
            </p:nvSpPr>
            <p:spPr>
              <a:xfrm>
                <a:off x="9672638" y="2894886"/>
                <a:ext cx="48742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互联网银行</a:t>
                </a:r>
              </a:p>
            </p:txBody>
          </p:sp>
          <p:sp>
            <p:nvSpPr>
              <p:cNvPr id="219" name="Line 219"/>
              <p:cNvSpPr/>
              <p:nvPr/>
            </p:nvSpPr>
            <p:spPr>
              <a:xfrm>
                <a:off x="10210800" y="2933700"/>
                <a:ext cx="171450" cy="9525"/>
              </a:xfrm>
              <a:custGeom>
                <a:avLst/>
                <a:gdLst/>
                <a:ahLst/>
                <a:cxnLst/>
                <a:rect l="l" t="t" r="r" b="b"/>
                <a:pathLst>
                  <a:path w="171450" h="9525">
                    <a:moveTo>
                      <a:pt x="0" y="0"/>
                    </a:moveTo>
                    <a:lnTo>
                      <a:pt x="171450" y="0"/>
                    </a:lnTo>
                  </a:path>
                </a:pathLst>
              </a:custGeom>
              <a:noFill/>
              <a:ln w="23812">
                <a:solidFill>
                  <a:srgbClr val="E2BEB7"/>
                </a:solidFill>
              </a:ln>
            </p:spPr>
          </p:sp>
          <p:sp>
            <p:nvSpPr>
              <p:cNvPr id="220" name="TextBox 220"/>
              <p:cNvSpPr txBox="1"/>
              <p:nvPr/>
            </p:nvSpPr>
            <p:spPr>
              <a:xfrm>
                <a:off x="10434638" y="2894886"/>
                <a:ext cx="39184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支付平台</a:t>
                </a:r>
              </a:p>
            </p:txBody>
          </p:sp>
        </p:grpSp>
      </p:grpSp>
      <p:grpSp>
        <p:nvGrpSpPr>
          <p:cNvPr id="234" name="key-observations"/>
          <p:cNvGrpSpPr/>
          <p:nvPr/>
        </p:nvGrpSpPr>
        <p:grpSpPr>
          <a:xfrm>
            <a:off x="8534400" y="3352800"/>
            <a:ext cx="3295650" cy="1501855"/>
            <a:chOff x="8534400" y="3352800"/>
            <a:chExt cx="3295650" cy="1501855"/>
          </a:xfrm>
        </p:grpSpPr>
        <p:sp>
          <p:nvSpPr>
            <p:cNvPr id="223" name="Rectangle 223"/>
            <p:cNvSpPr/>
            <p:nvPr/>
          </p:nvSpPr>
          <p:spPr>
            <a:xfrm>
              <a:off x="8534400" y="3352800"/>
              <a:ext cx="3295650" cy="247650"/>
            </a:xfrm>
            <a:prstGeom prst="roundRect">
              <a:avLst>
                <a:gd name="adj" fmla="val 23077"/>
              </a:avLst>
            </a:prstGeom>
            <a:solidFill>
              <a:srgbClr val="76200F"/>
            </a:solidFill>
            <a:ln>
              <a:noFill/>
            </a:ln>
          </p:spPr>
        </p:sp>
        <p:sp>
          <p:nvSpPr>
            <p:cNvPr id="224" name="TextBox 224"/>
            <p:cNvSpPr txBox="1"/>
            <p:nvPr/>
          </p:nvSpPr>
          <p:spPr>
            <a:xfrm>
              <a:off x="8662797" y="3418999"/>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关键观察</a:t>
              </a:r>
            </a:p>
          </p:txBody>
        </p:sp>
        <p:sp>
          <p:nvSpPr>
            <p:cNvPr id="225" name="Ellipse 225"/>
            <p:cNvSpPr/>
            <p:nvPr/>
          </p:nvSpPr>
          <p:spPr>
            <a:xfrm>
              <a:off x="8648700" y="3714750"/>
              <a:ext cx="190500" cy="190500"/>
            </a:xfrm>
            <a:prstGeom prst="ellipse">
              <a:avLst/>
            </a:prstGeom>
            <a:solidFill>
              <a:srgbClr val="E4F1EE"/>
            </a:solidFill>
            <a:ln>
              <a:noFill/>
            </a:ln>
          </p:spPr>
        </p:sp>
        <p:sp>
          <p:nvSpPr>
            <p:cNvPr id="226" name="TextBox 226"/>
            <p:cNvSpPr txBox="1"/>
            <p:nvPr/>
          </p:nvSpPr>
          <p:spPr>
            <a:xfrm>
              <a:off x="8680880" y="3767138"/>
              <a:ext cx="126140"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1​</a:t>
              </a:r>
            </a:p>
          </p:txBody>
        </p:sp>
        <p:sp>
          <p:nvSpPr>
            <p:cNvPr id="227" name="TextBox 227"/>
            <p:cNvSpPr txBox="1"/>
            <p:nvPr/>
          </p:nvSpPr>
          <p:spPr>
            <a:xfrm>
              <a:off x="8910638" y="3704511"/>
              <a:ext cx="16325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514340"/>
                  </a:solidFill>
                  <a:latin typeface="+mn-lt"/>
                  <a:ea typeface="+mn-ea"/>
                  <a:cs typeface="+mn-cs"/>
                </a:rPr>
                <a:t>六类机构在场景广度、数字化与本地资源</a:t>
              </a:r>
              <a:br/>
              <a:r>
                <a:rPr lang="zh-CN" sz="710" dirty="0">
                  <a:solidFill>
                    <a:srgbClr val="514340"/>
                  </a:solidFill>
                  <a:latin typeface="+mn-lt"/>
                  <a:ea typeface="+mn-ea"/>
                  <a:cs typeface="+mn-cs"/>
                </a:rPr>
                <a:t>等维度各有侧重，形成差异化竞争格局。</a:t>
              </a:r>
            </a:p>
          </p:txBody>
        </p:sp>
        <p:sp>
          <p:nvSpPr>
            <p:cNvPr id="228" name="Ellipse 228"/>
            <p:cNvSpPr/>
            <p:nvPr/>
          </p:nvSpPr>
          <p:spPr>
            <a:xfrm>
              <a:off x="8648700" y="4076700"/>
              <a:ext cx="190500" cy="190500"/>
            </a:xfrm>
            <a:prstGeom prst="ellipse">
              <a:avLst/>
            </a:prstGeom>
            <a:solidFill>
              <a:srgbClr val="E4F1EE"/>
            </a:solidFill>
            <a:ln>
              <a:noFill/>
            </a:ln>
          </p:spPr>
        </p:sp>
        <p:sp>
          <p:nvSpPr>
            <p:cNvPr id="229" name="TextBox 229"/>
            <p:cNvSpPr txBox="1"/>
            <p:nvPr/>
          </p:nvSpPr>
          <p:spPr>
            <a:xfrm>
              <a:off x="8680880" y="4129088"/>
              <a:ext cx="126140"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2​</a:t>
              </a:r>
            </a:p>
          </p:txBody>
        </p:sp>
        <p:sp>
          <p:nvSpPr>
            <p:cNvPr id="230" name="TextBox 230"/>
            <p:cNvSpPr txBox="1"/>
            <p:nvPr/>
          </p:nvSpPr>
          <p:spPr>
            <a:xfrm>
              <a:off x="8910638" y="4066461"/>
              <a:ext cx="1632585" cy="407194"/>
            </a:xfrm>
            <a:prstGeom prst="rect">
              <a:avLst/>
            </a:prstGeom>
            <a:noFill/>
            <a:ln>
              <a:noFill/>
            </a:ln>
          </p:spPr>
          <p:txBody>
            <a:bodyPr wrap="none" lIns="0" tIns="0" rIns="0" bIns="0" anchor="t" anchorCtr="0">
              <a:spAutoFit/>
            </a:bodyPr>
            <a:lstStyle/>
            <a:p>
              <a:pPr algn="l">
                <a:lnSpc>
                  <a:spcPts val="1050"/>
                </a:lnSpc>
              </a:pPr>
              <a:r>
                <a:rPr lang="zh-CN" sz="710" dirty="0">
                  <a:solidFill>
                    <a:srgbClr val="514340"/>
                  </a:solidFill>
                  <a:latin typeface="+mn-lt"/>
                  <a:ea typeface="+mn-ea"/>
                  <a:cs typeface="+mn-cs"/>
                </a:rPr>
                <a:t>互联网银行与支付平台在数字化、生态开</a:t>
              </a:r>
              <a:br/>
              <a:r>
                <a:rPr lang="zh-CN" sz="710" dirty="0">
                  <a:solidFill>
                    <a:srgbClr val="514340"/>
                  </a:solidFill>
                  <a:latin typeface="+mn-lt"/>
                  <a:ea typeface="+mn-ea"/>
                  <a:cs typeface="+mn-cs"/>
                </a:rPr>
                <a:t>放方面表现突出，国有行在场景广度上优</a:t>
              </a:r>
              <a:br/>
              <a:r>
                <a:rPr lang="zh-CN" sz="710" dirty="0">
                  <a:solidFill>
                    <a:srgbClr val="514340"/>
                  </a:solidFill>
                  <a:latin typeface="+mn-lt"/>
                  <a:ea typeface="+mn-ea"/>
                  <a:cs typeface="+mn-cs"/>
                </a:rPr>
                <a:t>势明显。</a:t>
              </a:r>
            </a:p>
          </p:txBody>
        </p:sp>
        <p:sp>
          <p:nvSpPr>
            <p:cNvPr id="231" name="Ellipse 231"/>
            <p:cNvSpPr/>
            <p:nvPr/>
          </p:nvSpPr>
          <p:spPr>
            <a:xfrm>
              <a:off x="8648700" y="4591050"/>
              <a:ext cx="190500" cy="190500"/>
            </a:xfrm>
            <a:prstGeom prst="ellipse">
              <a:avLst/>
            </a:prstGeom>
            <a:solidFill>
              <a:srgbClr val="E4F1EE"/>
            </a:solidFill>
            <a:ln>
              <a:noFill/>
            </a:ln>
          </p:spPr>
        </p:sp>
        <p:sp>
          <p:nvSpPr>
            <p:cNvPr id="232" name="TextBox 232"/>
            <p:cNvSpPr txBox="1"/>
            <p:nvPr/>
          </p:nvSpPr>
          <p:spPr>
            <a:xfrm>
              <a:off x="8680880" y="4643438"/>
              <a:ext cx="126140"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3​</a:t>
              </a:r>
            </a:p>
          </p:txBody>
        </p:sp>
        <p:sp>
          <p:nvSpPr>
            <p:cNvPr id="233" name="TextBox 233"/>
            <p:cNvSpPr txBox="1"/>
            <p:nvPr/>
          </p:nvSpPr>
          <p:spPr>
            <a:xfrm>
              <a:off x="8910638" y="4580811"/>
              <a:ext cx="16325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514340"/>
                  </a:solidFill>
                  <a:latin typeface="+mn-lt"/>
                  <a:ea typeface="+mn-ea"/>
                  <a:cs typeface="+mn-cs"/>
                </a:rPr>
                <a:t>本地化机构（城商行、农商行）在本地资</a:t>
              </a:r>
              <a:br/>
              <a:r>
                <a:rPr lang="zh-CN" sz="710" dirty="0">
                  <a:solidFill>
                    <a:srgbClr val="514340"/>
                  </a:solidFill>
                  <a:latin typeface="+mn-lt"/>
                  <a:ea typeface="+mn-ea"/>
                  <a:cs typeface="+mn-cs"/>
                </a:rPr>
                <a:t>源与转化效率上更具特色。</a:t>
              </a:r>
            </a:p>
          </p:txBody>
        </p:sp>
      </p:grpSp>
      <p:grpSp>
        <p:nvGrpSpPr>
          <p:cNvPr id="238" name="strategy-label"/>
          <p:cNvGrpSpPr/>
          <p:nvPr/>
        </p:nvGrpSpPr>
        <p:grpSpPr>
          <a:xfrm>
            <a:off x="342900" y="5086350"/>
            <a:ext cx="1066800" cy="1504950"/>
            <a:chOff x="342900" y="5086350"/>
            <a:chExt cx="1066800" cy="1504950"/>
          </a:xfrm>
        </p:grpSpPr>
        <p:sp>
          <p:nvSpPr>
            <p:cNvPr id="235" name="Rectangle 235"/>
            <p:cNvSpPr/>
            <p:nvPr/>
          </p:nvSpPr>
          <p:spPr>
            <a:xfrm>
              <a:off x="342900" y="5086350"/>
              <a:ext cx="1066800" cy="1504950"/>
            </a:xfrm>
            <a:prstGeom prst="roundRect">
              <a:avLst>
                <a:gd name="adj" fmla="val 7143"/>
              </a:avLst>
            </a:prstGeom>
            <a:solidFill>
              <a:srgbClr val="5D190B"/>
            </a:solidFill>
            <a:ln>
              <a:noFill/>
            </a:ln>
          </p:spPr>
        </p:sp>
        <p:sp>
          <p:nvSpPr>
            <p:cNvPr id="236" name="TextBox 236"/>
            <p:cNvSpPr txBox="1"/>
            <p:nvPr/>
          </p:nvSpPr>
          <p:spPr>
            <a:xfrm>
              <a:off x="588264" y="56016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生态营销</a:t>
              </a:r>
            </a:p>
          </p:txBody>
        </p:sp>
        <p:sp>
          <p:nvSpPr>
            <p:cNvPr id="237" name="TextBox 237"/>
            <p:cNvSpPr txBox="1"/>
            <p:nvPr/>
          </p:nvSpPr>
          <p:spPr>
            <a:xfrm>
              <a:off x="588264" y="58302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策略方向</a:t>
              </a:r>
            </a:p>
          </p:txBody>
        </p:sp>
      </p:grpSp>
      <p:grpSp>
        <p:nvGrpSpPr>
          <p:cNvPr id="303" name="strategy-cards"/>
          <p:cNvGrpSpPr/>
          <p:nvPr/>
        </p:nvGrpSpPr>
        <p:grpSpPr>
          <a:xfrm>
            <a:off x="1466850" y="5086350"/>
            <a:ext cx="10210800" cy="1504950"/>
            <a:chOff x="1466850" y="5086350"/>
            <a:chExt cx="10210800" cy="1504950"/>
          </a:xfrm>
        </p:grpSpPr>
        <p:sp>
          <p:nvSpPr>
            <p:cNvPr id="239" name="Rectangle 239"/>
            <p:cNvSpPr/>
            <p:nvPr/>
          </p:nvSpPr>
          <p:spPr>
            <a:xfrm>
              <a:off x="1466850" y="5086350"/>
              <a:ext cx="1638300" cy="1504950"/>
            </a:xfrm>
            <a:prstGeom prst="roundRect">
              <a:avLst>
                <a:gd name="adj" fmla="val 5063"/>
              </a:avLst>
            </a:prstGeom>
            <a:solidFill>
              <a:srgbClr val="F0FAF8"/>
            </a:solidFill>
            <a:ln w="9525">
              <a:solidFill>
                <a:srgbClr val="C2E0DA"/>
              </a:solidFill>
            </a:ln>
          </p:spPr>
        </p:sp>
        <p:sp>
          <p:nvSpPr>
            <p:cNvPr id="240" name="TextBox 240"/>
            <p:cNvSpPr txBox="1"/>
            <p:nvPr/>
          </p:nvSpPr>
          <p:spPr>
            <a:xfrm>
              <a:off x="1595438" y="5198745"/>
              <a:ext cx="219431" cy="176212"/>
            </a:xfrm>
            <a:prstGeom prst="rect">
              <a:avLst/>
            </a:prstGeom>
            <a:noFill/>
            <a:ln>
              <a:noFill/>
            </a:ln>
          </p:spPr>
          <p:txBody>
            <a:bodyPr wrap="none" lIns="0" tIns="0" rIns="0" bIns="0" anchor="t" anchorCtr="0">
              <a:spAutoFit/>
            </a:bodyPr>
            <a:lstStyle/>
            <a:p>
              <a:pPr algn="l"/>
              <a:r>
                <a:rPr lang="zh-CN" sz="900" b="1" dirty="0">
                  <a:solidFill>
                    <a:srgbClr val="76200F"/>
                  </a:solidFill>
                  <a:latin typeface="+mn-lt"/>
                  <a:ea typeface="+mn-ea"/>
                  <a:cs typeface="+mn-cs"/>
                </a:rPr>
                <a:t>01​</a:t>
              </a:r>
            </a:p>
          </p:txBody>
        </p:sp>
        <p:sp>
          <p:nvSpPr>
            <p:cNvPr id="241" name="TextBox 241"/>
            <p:cNvSpPr txBox="1"/>
            <p:nvPr/>
          </p:nvSpPr>
          <p:spPr>
            <a:xfrm>
              <a:off x="1824038" y="5194697"/>
              <a:ext cx="5156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全域融合</a:t>
              </a:r>
            </a:p>
          </p:txBody>
        </p:sp>
        <p:grpSp>
          <p:nvGrpSpPr>
            <p:cNvPr id="247" name="Group 247"/>
            <p:cNvGrpSpPr/>
            <p:nvPr/>
          </p:nvGrpSpPr>
          <p:grpSpPr>
            <a:xfrm>
              <a:off x="1626394" y="5436394"/>
              <a:ext cx="157163" cy="157163"/>
              <a:chOff x="1626394" y="5436394"/>
              <a:chExt cx="157163" cy="157163"/>
            </a:xfrm>
          </p:grpSpPr>
          <p:sp>
            <p:nvSpPr>
              <p:cNvPr id="242" name="Freeform 242"/>
              <p:cNvSpPr/>
              <p:nvPr/>
            </p:nvSpPr>
            <p:spPr>
              <a:xfrm>
                <a:off x="1626394" y="554116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A3422F"/>
                </a:solidFill>
              </a:ln>
            </p:spPr>
          </p:sp>
          <p:sp>
            <p:nvSpPr>
              <p:cNvPr id="243" name="Freeform 243"/>
              <p:cNvSpPr/>
              <p:nvPr/>
            </p:nvSpPr>
            <p:spPr>
              <a:xfrm>
                <a:off x="1731169" y="554116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A3422F"/>
                </a:solidFill>
              </a:ln>
            </p:spPr>
          </p:sp>
          <p:sp>
            <p:nvSpPr>
              <p:cNvPr id="244" name="Freeform 244"/>
              <p:cNvSpPr/>
              <p:nvPr/>
            </p:nvSpPr>
            <p:spPr>
              <a:xfrm>
                <a:off x="1678781" y="5436394"/>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A3422F"/>
                </a:solidFill>
              </a:ln>
            </p:spPr>
          </p:sp>
          <p:sp>
            <p:nvSpPr>
              <p:cNvPr id="245" name="Freeform 245"/>
              <p:cNvSpPr/>
              <p:nvPr/>
            </p:nvSpPr>
            <p:spPr>
              <a:xfrm>
                <a:off x="1652588" y="5514975"/>
                <a:ext cx="104775" cy="26194"/>
              </a:xfrm>
              <a:custGeom>
                <a:avLst/>
                <a:gdLst/>
                <a:ahLst/>
                <a:cxnLst/>
                <a:rect l="l" t="t" r="r" b="b"/>
                <a:pathLst>
                  <a:path w="104775" h="26194">
                    <a:moveTo>
                      <a:pt x="0" y="26194"/>
                    </a:moveTo>
                    <a:lnTo>
                      <a:pt x="0" y="17463"/>
                    </a:lnTo>
                    <a:cubicBezTo>
                      <a:pt x="0" y="7818"/>
                      <a:pt x="7818" y="0"/>
                      <a:pt x="17463" y="0"/>
                    </a:cubicBezTo>
                    <a:lnTo>
                      <a:pt x="87313" y="0"/>
                    </a:lnTo>
                    <a:cubicBezTo>
                      <a:pt x="96957" y="0"/>
                      <a:pt x="104775" y="7818"/>
                      <a:pt x="104775" y="17463"/>
                    </a:cubicBezTo>
                    <a:lnTo>
                      <a:pt x="104775" y="26194"/>
                    </a:lnTo>
                  </a:path>
                </a:pathLst>
              </a:custGeom>
              <a:noFill/>
              <a:ln w="17463">
                <a:solidFill>
                  <a:srgbClr val="A3422F"/>
                </a:solidFill>
              </a:ln>
            </p:spPr>
          </p:sp>
          <p:sp>
            <p:nvSpPr>
              <p:cNvPr id="246" name="Freeform 246"/>
              <p:cNvSpPr/>
              <p:nvPr/>
            </p:nvSpPr>
            <p:spPr>
              <a:xfrm>
                <a:off x="1704975" y="5488781"/>
                <a:ext cx="9525" cy="26194"/>
              </a:xfrm>
              <a:custGeom>
                <a:avLst/>
                <a:gdLst/>
                <a:ahLst/>
                <a:cxnLst/>
                <a:rect l="l" t="t" r="r" b="b"/>
                <a:pathLst>
                  <a:path w="9525" h="26194">
                    <a:moveTo>
                      <a:pt x="0" y="0"/>
                    </a:moveTo>
                    <a:lnTo>
                      <a:pt x="0" y="26194"/>
                    </a:lnTo>
                  </a:path>
                </a:pathLst>
              </a:custGeom>
              <a:noFill/>
              <a:ln w="17463">
                <a:solidFill>
                  <a:srgbClr val="A3422F"/>
                </a:solidFill>
              </a:ln>
            </p:spPr>
          </p:sp>
        </p:grpSp>
        <p:sp>
          <p:nvSpPr>
            <p:cNvPr id="248" name="TextBox 248"/>
            <p:cNvSpPr txBox="1"/>
            <p:nvPr/>
          </p:nvSpPr>
          <p:spPr>
            <a:xfrm>
              <a:off x="1595438" y="57714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政银场景联动</a:t>
              </a:r>
            </a:p>
          </p:txBody>
        </p:sp>
        <p:sp>
          <p:nvSpPr>
            <p:cNvPr id="249" name="TextBox 249"/>
            <p:cNvSpPr txBox="1"/>
            <p:nvPr/>
          </p:nvSpPr>
          <p:spPr>
            <a:xfrm>
              <a:off x="1595438" y="59238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打造综合生态</a:t>
              </a:r>
            </a:p>
          </p:txBody>
        </p:sp>
        <p:sp>
          <p:nvSpPr>
            <p:cNvPr id="250" name="Rectangle 250"/>
            <p:cNvSpPr/>
            <p:nvPr/>
          </p:nvSpPr>
          <p:spPr>
            <a:xfrm>
              <a:off x="3181350" y="5086350"/>
              <a:ext cx="1638300" cy="1504950"/>
            </a:xfrm>
            <a:prstGeom prst="roundRect">
              <a:avLst>
                <a:gd name="adj" fmla="val 5063"/>
              </a:avLst>
            </a:prstGeom>
            <a:solidFill>
              <a:srgbClr val="F0FAF8"/>
            </a:solidFill>
            <a:ln w="9525">
              <a:solidFill>
                <a:srgbClr val="C2E0DA"/>
              </a:solidFill>
            </a:ln>
          </p:spPr>
        </p:sp>
        <p:sp>
          <p:nvSpPr>
            <p:cNvPr id="251" name="TextBox 251"/>
            <p:cNvSpPr txBox="1"/>
            <p:nvPr/>
          </p:nvSpPr>
          <p:spPr>
            <a:xfrm>
              <a:off x="3309938" y="5198745"/>
              <a:ext cx="219431" cy="176212"/>
            </a:xfrm>
            <a:prstGeom prst="rect">
              <a:avLst/>
            </a:prstGeom>
            <a:noFill/>
            <a:ln>
              <a:noFill/>
            </a:ln>
          </p:spPr>
          <p:txBody>
            <a:bodyPr wrap="none" lIns="0" tIns="0" rIns="0" bIns="0" anchor="t" anchorCtr="0">
              <a:spAutoFit/>
            </a:bodyPr>
            <a:lstStyle/>
            <a:p>
              <a:pPr algn="l"/>
              <a:r>
                <a:rPr lang="zh-CN" sz="900" b="1" dirty="0">
                  <a:solidFill>
                    <a:srgbClr val="76200F"/>
                  </a:solidFill>
                  <a:latin typeface="+mn-lt"/>
                  <a:ea typeface="+mn-ea"/>
                  <a:cs typeface="+mn-cs"/>
                </a:rPr>
                <a:t>02​</a:t>
              </a:r>
            </a:p>
          </p:txBody>
        </p:sp>
        <p:sp>
          <p:nvSpPr>
            <p:cNvPr id="252" name="TextBox 252"/>
            <p:cNvSpPr txBox="1"/>
            <p:nvPr/>
          </p:nvSpPr>
          <p:spPr>
            <a:xfrm>
              <a:off x="3538538" y="5194697"/>
              <a:ext cx="5156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品质引领</a:t>
              </a:r>
            </a:p>
          </p:txBody>
        </p:sp>
        <p:grpSp>
          <p:nvGrpSpPr>
            <p:cNvPr id="255" name="Group 255"/>
            <p:cNvGrpSpPr/>
            <p:nvPr/>
          </p:nvGrpSpPr>
          <p:grpSpPr>
            <a:xfrm>
              <a:off x="3340894" y="5453856"/>
              <a:ext cx="157163" cy="128438"/>
              <a:chOff x="3340894" y="5453856"/>
              <a:chExt cx="157163" cy="128438"/>
            </a:xfrm>
          </p:grpSpPr>
          <p:sp>
            <p:nvSpPr>
              <p:cNvPr id="253" name="Freeform 253"/>
              <p:cNvSpPr/>
              <p:nvPr/>
            </p:nvSpPr>
            <p:spPr>
              <a:xfrm>
                <a:off x="3340894" y="5453856"/>
                <a:ext cx="157163" cy="128438"/>
              </a:xfrm>
              <a:custGeom>
                <a:avLst/>
                <a:gdLst/>
                <a:ahLst/>
                <a:cxnLst/>
                <a:rect l="l" t="t" r="r" b="b"/>
                <a:pathLst>
                  <a:path w="157163" h="128438">
                    <a:moveTo>
                      <a:pt x="26194" y="0"/>
                    </a:moveTo>
                    <a:lnTo>
                      <a:pt x="130969" y="0"/>
                    </a:lnTo>
                    <a:lnTo>
                      <a:pt x="157163" y="43656"/>
                    </a:lnTo>
                    <a:lnTo>
                      <a:pt x="82947" y="126603"/>
                    </a:lnTo>
                    <a:cubicBezTo>
                      <a:pt x="81797" y="127776"/>
                      <a:pt x="80224" y="128438"/>
                      <a:pt x="78581" y="128438"/>
                    </a:cubicBezTo>
                    <a:cubicBezTo>
                      <a:pt x="76939" y="128438"/>
                      <a:pt x="75365" y="127776"/>
                      <a:pt x="74216" y="126603"/>
                    </a:cubicBezTo>
                    <a:lnTo>
                      <a:pt x="0" y="43656"/>
                    </a:lnTo>
                    <a:lnTo>
                      <a:pt x="26194" y="0"/>
                    </a:lnTo>
                  </a:path>
                </a:pathLst>
              </a:custGeom>
              <a:noFill/>
              <a:ln w="17463">
                <a:solidFill>
                  <a:srgbClr val="A3422F"/>
                </a:solidFill>
              </a:ln>
            </p:spPr>
          </p:sp>
          <p:sp>
            <p:nvSpPr>
              <p:cNvPr id="254" name="Freeform 254"/>
              <p:cNvSpPr/>
              <p:nvPr/>
            </p:nvSpPr>
            <p:spPr>
              <a:xfrm>
                <a:off x="3384550" y="5487035"/>
                <a:ext cx="17463" cy="27940"/>
              </a:xfrm>
              <a:custGeom>
                <a:avLst/>
                <a:gdLst/>
                <a:ahLst/>
                <a:cxnLst/>
                <a:rect l="l" t="t" r="r" b="b"/>
                <a:pathLst>
                  <a:path w="17463" h="27940">
                    <a:moveTo>
                      <a:pt x="17463" y="27940"/>
                    </a:moveTo>
                    <a:lnTo>
                      <a:pt x="0" y="8731"/>
                    </a:lnTo>
                    <a:lnTo>
                      <a:pt x="5239" y="0"/>
                    </a:lnTo>
                  </a:path>
                </a:pathLst>
              </a:custGeom>
              <a:noFill/>
              <a:ln w="17463">
                <a:solidFill>
                  <a:srgbClr val="A3422F"/>
                </a:solidFill>
              </a:ln>
            </p:spPr>
          </p:sp>
        </p:grpSp>
        <p:sp>
          <p:nvSpPr>
            <p:cNvPr id="256" name="TextBox 256"/>
            <p:cNvSpPr txBox="1"/>
            <p:nvPr/>
          </p:nvSpPr>
          <p:spPr>
            <a:xfrm>
              <a:off x="3309938" y="57714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商圈场景深耕</a:t>
              </a:r>
            </a:p>
          </p:txBody>
        </p:sp>
        <p:sp>
          <p:nvSpPr>
            <p:cNvPr id="257" name="TextBox 257"/>
            <p:cNvSpPr txBox="1"/>
            <p:nvPr/>
          </p:nvSpPr>
          <p:spPr>
            <a:xfrm>
              <a:off x="3309938" y="59238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强化品牌价值</a:t>
              </a:r>
            </a:p>
          </p:txBody>
        </p:sp>
        <p:sp>
          <p:nvSpPr>
            <p:cNvPr id="258" name="Rectangle 258"/>
            <p:cNvSpPr/>
            <p:nvPr/>
          </p:nvSpPr>
          <p:spPr>
            <a:xfrm>
              <a:off x="4895850" y="5086350"/>
              <a:ext cx="1638300" cy="1504950"/>
            </a:xfrm>
            <a:prstGeom prst="roundRect">
              <a:avLst>
                <a:gd name="adj" fmla="val 5063"/>
              </a:avLst>
            </a:prstGeom>
            <a:solidFill>
              <a:srgbClr val="F0FAF8"/>
            </a:solidFill>
            <a:ln w="9525">
              <a:solidFill>
                <a:srgbClr val="C2E0DA"/>
              </a:solidFill>
            </a:ln>
          </p:spPr>
        </p:sp>
        <p:sp>
          <p:nvSpPr>
            <p:cNvPr id="259" name="TextBox 259"/>
            <p:cNvSpPr txBox="1"/>
            <p:nvPr/>
          </p:nvSpPr>
          <p:spPr>
            <a:xfrm>
              <a:off x="5024438" y="5198745"/>
              <a:ext cx="219431" cy="176212"/>
            </a:xfrm>
            <a:prstGeom prst="rect">
              <a:avLst/>
            </a:prstGeom>
            <a:noFill/>
            <a:ln>
              <a:noFill/>
            </a:ln>
          </p:spPr>
          <p:txBody>
            <a:bodyPr wrap="none" lIns="0" tIns="0" rIns="0" bIns="0" anchor="t" anchorCtr="0">
              <a:spAutoFit/>
            </a:bodyPr>
            <a:lstStyle/>
            <a:p>
              <a:pPr algn="l"/>
              <a:r>
                <a:rPr lang="zh-CN" sz="900" b="1" dirty="0">
                  <a:solidFill>
                    <a:srgbClr val="76200F"/>
                  </a:solidFill>
                  <a:latin typeface="+mn-lt"/>
                  <a:ea typeface="+mn-ea"/>
                  <a:cs typeface="+mn-cs"/>
                </a:rPr>
                <a:t>03​</a:t>
              </a:r>
            </a:p>
          </p:txBody>
        </p:sp>
        <p:sp>
          <p:nvSpPr>
            <p:cNvPr id="260" name="TextBox 260"/>
            <p:cNvSpPr txBox="1"/>
            <p:nvPr/>
          </p:nvSpPr>
          <p:spPr>
            <a:xfrm>
              <a:off x="5253038" y="5194697"/>
              <a:ext cx="5156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本地深耕</a:t>
              </a:r>
            </a:p>
          </p:txBody>
        </p:sp>
        <p:grpSp>
          <p:nvGrpSpPr>
            <p:cNvPr id="264" name="Group 264"/>
            <p:cNvGrpSpPr/>
            <p:nvPr/>
          </p:nvGrpSpPr>
          <p:grpSpPr>
            <a:xfrm>
              <a:off x="5055394" y="5436394"/>
              <a:ext cx="157163" cy="157162"/>
              <a:chOff x="5055394" y="5436394"/>
              <a:chExt cx="157163" cy="157162"/>
            </a:xfrm>
          </p:grpSpPr>
          <p:sp>
            <p:nvSpPr>
              <p:cNvPr id="261" name="Freeform 261"/>
              <p:cNvSpPr/>
              <p:nvPr/>
            </p:nvSpPr>
            <p:spPr>
              <a:xfrm>
                <a:off x="5055394" y="5436394"/>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A3422F"/>
                </a:solidFill>
              </a:ln>
            </p:spPr>
          </p:sp>
          <p:sp>
            <p:nvSpPr>
              <p:cNvPr id="262" name="Freeform 262"/>
              <p:cNvSpPr/>
              <p:nvPr/>
            </p:nvSpPr>
            <p:spPr>
              <a:xfrm>
                <a:off x="5072856" y="5514975"/>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A3422F"/>
                </a:solidFill>
              </a:ln>
            </p:spPr>
          </p:sp>
          <p:sp>
            <p:nvSpPr>
              <p:cNvPr id="263" name="Freeform 263"/>
              <p:cNvSpPr/>
              <p:nvPr/>
            </p:nvSpPr>
            <p:spPr>
              <a:xfrm>
                <a:off x="5107781" y="5523706"/>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A3422F"/>
                </a:solidFill>
              </a:ln>
            </p:spPr>
          </p:sp>
        </p:grpSp>
        <p:sp>
          <p:nvSpPr>
            <p:cNvPr id="265" name="TextBox 265"/>
            <p:cNvSpPr txBox="1"/>
            <p:nvPr/>
          </p:nvSpPr>
          <p:spPr>
            <a:xfrm>
              <a:off x="5024438" y="57714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立足本地特色</a:t>
              </a:r>
            </a:p>
          </p:txBody>
        </p:sp>
        <p:sp>
          <p:nvSpPr>
            <p:cNvPr id="266" name="TextBox 266"/>
            <p:cNvSpPr txBox="1"/>
            <p:nvPr/>
          </p:nvSpPr>
          <p:spPr>
            <a:xfrm>
              <a:off x="5024438" y="59238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激活本地生态</a:t>
              </a:r>
            </a:p>
          </p:txBody>
        </p:sp>
        <p:sp>
          <p:nvSpPr>
            <p:cNvPr id="267" name="Rectangle 267"/>
            <p:cNvSpPr/>
            <p:nvPr/>
          </p:nvSpPr>
          <p:spPr>
            <a:xfrm>
              <a:off x="6610350" y="5086350"/>
              <a:ext cx="1638300" cy="1504950"/>
            </a:xfrm>
            <a:prstGeom prst="roundRect">
              <a:avLst>
                <a:gd name="adj" fmla="val 5063"/>
              </a:avLst>
            </a:prstGeom>
            <a:solidFill>
              <a:srgbClr val="F0FAF8"/>
            </a:solidFill>
            <a:ln w="9525">
              <a:solidFill>
                <a:srgbClr val="C2E0DA"/>
              </a:solidFill>
            </a:ln>
          </p:spPr>
        </p:sp>
        <p:sp>
          <p:nvSpPr>
            <p:cNvPr id="268" name="TextBox 268"/>
            <p:cNvSpPr txBox="1"/>
            <p:nvPr/>
          </p:nvSpPr>
          <p:spPr>
            <a:xfrm>
              <a:off x="6738938" y="5198745"/>
              <a:ext cx="219431" cy="176212"/>
            </a:xfrm>
            <a:prstGeom prst="rect">
              <a:avLst/>
            </a:prstGeom>
            <a:noFill/>
            <a:ln>
              <a:noFill/>
            </a:ln>
          </p:spPr>
          <p:txBody>
            <a:bodyPr wrap="none" lIns="0" tIns="0" rIns="0" bIns="0" anchor="t" anchorCtr="0">
              <a:spAutoFit/>
            </a:bodyPr>
            <a:lstStyle/>
            <a:p>
              <a:pPr algn="l"/>
              <a:r>
                <a:rPr lang="zh-CN" sz="900" b="1" dirty="0">
                  <a:solidFill>
                    <a:srgbClr val="76200F"/>
                  </a:solidFill>
                  <a:latin typeface="+mn-lt"/>
                  <a:ea typeface="+mn-ea"/>
                  <a:cs typeface="+mn-cs"/>
                </a:rPr>
                <a:t>04​</a:t>
              </a:r>
            </a:p>
          </p:txBody>
        </p:sp>
        <p:sp>
          <p:nvSpPr>
            <p:cNvPr id="269" name="TextBox 269"/>
            <p:cNvSpPr txBox="1"/>
            <p:nvPr/>
          </p:nvSpPr>
          <p:spPr>
            <a:xfrm>
              <a:off x="6967538" y="5194697"/>
              <a:ext cx="5156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乡村共富</a:t>
              </a:r>
            </a:p>
          </p:txBody>
        </p:sp>
        <p:grpSp>
          <p:nvGrpSpPr>
            <p:cNvPr id="276" name="Group 276"/>
            <p:cNvGrpSpPr/>
            <p:nvPr/>
          </p:nvGrpSpPr>
          <p:grpSpPr>
            <a:xfrm>
              <a:off x="6769894" y="5436394"/>
              <a:ext cx="157162" cy="157163"/>
              <a:chOff x="6769894" y="5436394"/>
              <a:chExt cx="157162" cy="157163"/>
            </a:xfrm>
          </p:grpSpPr>
          <p:sp>
            <p:nvSpPr>
              <p:cNvPr id="270" name="Freeform 270"/>
              <p:cNvSpPr/>
              <p:nvPr/>
            </p:nvSpPr>
            <p:spPr>
              <a:xfrm>
                <a:off x="6831013" y="55062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3422F"/>
                </a:solidFill>
              </a:ln>
            </p:spPr>
          </p:sp>
          <p:sp>
            <p:nvSpPr>
              <p:cNvPr id="271" name="Freeform 271"/>
              <p:cNvSpPr/>
              <p:nvPr/>
            </p:nvSpPr>
            <p:spPr>
              <a:xfrm>
                <a:off x="6813550" y="556736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A3422F"/>
                </a:solidFill>
              </a:ln>
            </p:spPr>
          </p:sp>
          <p:sp>
            <p:nvSpPr>
              <p:cNvPr id="272" name="Freeform 272"/>
              <p:cNvSpPr/>
              <p:nvPr/>
            </p:nvSpPr>
            <p:spPr>
              <a:xfrm>
                <a:off x="6874669" y="54363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3422F"/>
                </a:solidFill>
              </a:ln>
            </p:spPr>
          </p:sp>
          <p:sp>
            <p:nvSpPr>
              <p:cNvPr id="273" name="Freeform 273"/>
              <p:cNvSpPr/>
              <p:nvPr/>
            </p:nvSpPr>
            <p:spPr>
              <a:xfrm>
                <a:off x="6892131" y="549751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A3422F"/>
                </a:solidFill>
              </a:ln>
            </p:spPr>
          </p:sp>
          <p:sp>
            <p:nvSpPr>
              <p:cNvPr id="274" name="Freeform 274"/>
              <p:cNvSpPr/>
              <p:nvPr/>
            </p:nvSpPr>
            <p:spPr>
              <a:xfrm>
                <a:off x="6787356" y="54363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3422F"/>
                </a:solidFill>
              </a:ln>
            </p:spPr>
          </p:sp>
          <p:sp>
            <p:nvSpPr>
              <p:cNvPr id="275" name="Freeform 275"/>
              <p:cNvSpPr/>
              <p:nvPr/>
            </p:nvSpPr>
            <p:spPr>
              <a:xfrm>
                <a:off x="6769894" y="549751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A3422F"/>
                </a:solidFill>
              </a:ln>
            </p:spPr>
          </p:sp>
        </p:grpSp>
        <p:sp>
          <p:nvSpPr>
            <p:cNvPr id="277" name="TextBox 277"/>
            <p:cNvSpPr txBox="1"/>
            <p:nvPr/>
          </p:nvSpPr>
          <p:spPr>
            <a:xfrm>
              <a:off x="6738938" y="57714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服务县域乡村</a:t>
              </a:r>
            </a:p>
          </p:txBody>
        </p:sp>
        <p:sp>
          <p:nvSpPr>
            <p:cNvPr id="278" name="TextBox 278"/>
            <p:cNvSpPr txBox="1"/>
            <p:nvPr/>
          </p:nvSpPr>
          <p:spPr>
            <a:xfrm>
              <a:off x="6738938" y="59238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助力普惠发展</a:t>
              </a:r>
            </a:p>
          </p:txBody>
        </p:sp>
        <p:sp>
          <p:nvSpPr>
            <p:cNvPr id="279" name="Rectangle 279"/>
            <p:cNvSpPr/>
            <p:nvPr/>
          </p:nvSpPr>
          <p:spPr>
            <a:xfrm>
              <a:off x="8324850" y="5086350"/>
              <a:ext cx="1638300" cy="1504950"/>
            </a:xfrm>
            <a:prstGeom prst="roundRect">
              <a:avLst>
                <a:gd name="adj" fmla="val 5063"/>
              </a:avLst>
            </a:prstGeom>
            <a:solidFill>
              <a:srgbClr val="F0FAF8"/>
            </a:solidFill>
            <a:ln w="9525">
              <a:solidFill>
                <a:srgbClr val="C2E0DA"/>
              </a:solidFill>
            </a:ln>
          </p:spPr>
        </p:sp>
        <p:sp>
          <p:nvSpPr>
            <p:cNvPr id="280" name="TextBox 280"/>
            <p:cNvSpPr txBox="1"/>
            <p:nvPr/>
          </p:nvSpPr>
          <p:spPr>
            <a:xfrm>
              <a:off x="8453438" y="5198745"/>
              <a:ext cx="219431" cy="176212"/>
            </a:xfrm>
            <a:prstGeom prst="rect">
              <a:avLst/>
            </a:prstGeom>
            <a:noFill/>
            <a:ln>
              <a:noFill/>
            </a:ln>
          </p:spPr>
          <p:txBody>
            <a:bodyPr wrap="none" lIns="0" tIns="0" rIns="0" bIns="0" anchor="t" anchorCtr="0">
              <a:spAutoFit/>
            </a:bodyPr>
            <a:lstStyle/>
            <a:p>
              <a:pPr algn="l"/>
              <a:r>
                <a:rPr lang="zh-CN" sz="900" b="1" dirty="0">
                  <a:solidFill>
                    <a:srgbClr val="76200F"/>
                  </a:solidFill>
                  <a:latin typeface="+mn-lt"/>
                  <a:ea typeface="+mn-ea"/>
                  <a:cs typeface="+mn-cs"/>
                </a:rPr>
                <a:t>05​</a:t>
              </a:r>
            </a:p>
          </p:txBody>
        </p:sp>
        <p:sp>
          <p:nvSpPr>
            <p:cNvPr id="281" name="TextBox 281"/>
            <p:cNvSpPr txBox="1"/>
            <p:nvPr/>
          </p:nvSpPr>
          <p:spPr>
            <a:xfrm>
              <a:off x="8682038" y="5194697"/>
              <a:ext cx="5156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数智驱动</a:t>
              </a:r>
            </a:p>
          </p:txBody>
        </p:sp>
        <p:grpSp>
          <p:nvGrpSpPr>
            <p:cNvPr id="291" name="Group 291"/>
            <p:cNvGrpSpPr/>
            <p:nvPr/>
          </p:nvGrpSpPr>
          <p:grpSpPr>
            <a:xfrm>
              <a:off x="8501856" y="5427663"/>
              <a:ext cx="122238" cy="165893"/>
              <a:chOff x="8501856" y="5427663"/>
              <a:chExt cx="122238" cy="165893"/>
            </a:xfrm>
          </p:grpSpPr>
          <p:sp>
            <p:nvSpPr>
              <p:cNvPr id="282" name="Freeform 282"/>
              <p:cNvSpPr/>
              <p:nvPr/>
            </p:nvSpPr>
            <p:spPr>
              <a:xfrm>
                <a:off x="8510588" y="5445125"/>
                <a:ext cx="104775" cy="69850"/>
              </a:xfrm>
              <a:custGeom>
                <a:avLst/>
                <a:gdLst/>
                <a:ahLst/>
                <a:cxnLst/>
                <a:rect l="l" t="t" r="r" b="b"/>
                <a:pathLst>
                  <a:path w="104775" h="69850">
                    <a:moveTo>
                      <a:pt x="0" y="17463"/>
                    </a:moveTo>
                    <a:cubicBezTo>
                      <a:pt x="0" y="7818"/>
                      <a:pt x="7818" y="0"/>
                      <a:pt x="17463" y="0"/>
                    </a:cubicBezTo>
                    <a:lnTo>
                      <a:pt x="87313" y="0"/>
                    </a:lnTo>
                    <a:cubicBezTo>
                      <a:pt x="96957" y="0"/>
                      <a:pt x="104775" y="7818"/>
                      <a:pt x="104775" y="17463"/>
                    </a:cubicBezTo>
                    <a:lnTo>
                      <a:pt x="104775" y="52388"/>
                    </a:lnTo>
                    <a:cubicBezTo>
                      <a:pt x="104775" y="62032"/>
                      <a:pt x="96957" y="69850"/>
                      <a:pt x="87313" y="69850"/>
                    </a:cubicBezTo>
                    <a:lnTo>
                      <a:pt x="17463" y="69850"/>
                    </a:lnTo>
                    <a:cubicBezTo>
                      <a:pt x="7818" y="69850"/>
                      <a:pt x="0" y="62032"/>
                      <a:pt x="0" y="52388"/>
                    </a:cubicBezTo>
                    <a:lnTo>
                      <a:pt x="0" y="17463"/>
                    </a:lnTo>
                  </a:path>
                </a:pathLst>
              </a:custGeom>
              <a:noFill/>
              <a:ln w="17463">
                <a:solidFill>
                  <a:srgbClr val="A3422F"/>
                </a:solidFill>
              </a:ln>
            </p:spPr>
          </p:sp>
          <p:sp>
            <p:nvSpPr>
              <p:cNvPr id="283" name="Freeform 283"/>
              <p:cNvSpPr/>
              <p:nvPr/>
            </p:nvSpPr>
            <p:spPr>
              <a:xfrm>
                <a:off x="8562975" y="5427663"/>
                <a:ext cx="9525" cy="17463"/>
              </a:xfrm>
              <a:custGeom>
                <a:avLst/>
                <a:gdLst/>
                <a:ahLst/>
                <a:cxnLst/>
                <a:rect l="l" t="t" r="r" b="b"/>
                <a:pathLst>
                  <a:path w="9525" h="17463">
                    <a:moveTo>
                      <a:pt x="0" y="0"/>
                    </a:moveTo>
                    <a:lnTo>
                      <a:pt x="0" y="17463"/>
                    </a:lnTo>
                  </a:path>
                </a:pathLst>
              </a:custGeom>
              <a:noFill/>
              <a:ln w="17463">
                <a:solidFill>
                  <a:srgbClr val="A3422F"/>
                </a:solidFill>
              </a:ln>
            </p:spPr>
          </p:sp>
          <p:sp>
            <p:nvSpPr>
              <p:cNvPr id="284" name="Freeform 284"/>
              <p:cNvSpPr/>
              <p:nvPr/>
            </p:nvSpPr>
            <p:spPr>
              <a:xfrm>
                <a:off x="8536781" y="5514975"/>
                <a:ext cx="9525" cy="78581"/>
              </a:xfrm>
              <a:custGeom>
                <a:avLst/>
                <a:gdLst/>
                <a:ahLst/>
                <a:cxnLst/>
                <a:rect l="l" t="t" r="r" b="b"/>
                <a:pathLst>
                  <a:path w="9525" h="78581">
                    <a:moveTo>
                      <a:pt x="0" y="0"/>
                    </a:moveTo>
                    <a:lnTo>
                      <a:pt x="0" y="78581"/>
                    </a:lnTo>
                  </a:path>
                </a:pathLst>
              </a:custGeom>
              <a:noFill/>
              <a:ln w="17463">
                <a:solidFill>
                  <a:srgbClr val="A3422F"/>
                </a:solidFill>
              </a:ln>
            </p:spPr>
          </p:sp>
          <p:sp>
            <p:nvSpPr>
              <p:cNvPr id="285" name="Freeform 285"/>
              <p:cNvSpPr/>
              <p:nvPr/>
            </p:nvSpPr>
            <p:spPr>
              <a:xfrm>
                <a:off x="8589169" y="5514975"/>
                <a:ext cx="9525" cy="78581"/>
              </a:xfrm>
              <a:custGeom>
                <a:avLst/>
                <a:gdLst/>
                <a:ahLst/>
                <a:cxnLst/>
                <a:rect l="l" t="t" r="r" b="b"/>
                <a:pathLst>
                  <a:path w="9525" h="78581">
                    <a:moveTo>
                      <a:pt x="0" y="0"/>
                    </a:moveTo>
                    <a:lnTo>
                      <a:pt x="0" y="78581"/>
                    </a:lnTo>
                  </a:path>
                </a:pathLst>
              </a:custGeom>
              <a:noFill/>
              <a:ln w="17463">
                <a:solidFill>
                  <a:srgbClr val="A3422F"/>
                </a:solidFill>
              </a:ln>
            </p:spPr>
          </p:sp>
          <p:sp>
            <p:nvSpPr>
              <p:cNvPr id="286" name="Freeform 286"/>
              <p:cNvSpPr/>
              <p:nvPr/>
            </p:nvSpPr>
            <p:spPr>
              <a:xfrm>
                <a:off x="8501856" y="5532438"/>
                <a:ext cx="34925" cy="17463"/>
              </a:xfrm>
              <a:custGeom>
                <a:avLst/>
                <a:gdLst/>
                <a:ahLst/>
                <a:cxnLst/>
                <a:rect l="l" t="t" r="r" b="b"/>
                <a:pathLst>
                  <a:path w="34925" h="17463">
                    <a:moveTo>
                      <a:pt x="0" y="17463"/>
                    </a:moveTo>
                    <a:lnTo>
                      <a:pt x="34925" y="0"/>
                    </a:lnTo>
                  </a:path>
                </a:pathLst>
              </a:custGeom>
              <a:noFill/>
              <a:ln w="17463">
                <a:solidFill>
                  <a:srgbClr val="A3422F"/>
                </a:solidFill>
              </a:ln>
            </p:spPr>
          </p:sp>
          <p:sp>
            <p:nvSpPr>
              <p:cNvPr id="287" name="Freeform 287"/>
              <p:cNvSpPr/>
              <p:nvPr/>
            </p:nvSpPr>
            <p:spPr>
              <a:xfrm>
                <a:off x="8589169" y="5532438"/>
                <a:ext cx="34925" cy="17463"/>
              </a:xfrm>
              <a:custGeom>
                <a:avLst/>
                <a:gdLst/>
                <a:ahLst/>
                <a:cxnLst/>
                <a:rect l="l" t="t" r="r" b="b"/>
                <a:pathLst>
                  <a:path w="34925" h="17463">
                    <a:moveTo>
                      <a:pt x="0" y="0"/>
                    </a:moveTo>
                    <a:lnTo>
                      <a:pt x="34925" y="17463"/>
                    </a:lnTo>
                  </a:path>
                </a:pathLst>
              </a:custGeom>
              <a:noFill/>
              <a:ln w="17463">
                <a:solidFill>
                  <a:srgbClr val="A3422F"/>
                </a:solidFill>
              </a:ln>
            </p:spPr>
          </p:sp>
          <p:sp>
            <p:nvSpPr>
              <p:cNvPr id="288" name="Freeform 288"/>
              <p:cNvSpPr/>
              <p:nvPr/>
            </p:nvSpPr>
            <p:spPr>
              <a:xfrm>
                <a:off x="8536781" y="5567363"/>
                <a:ext cx="52388" cy="9525"/>
              </a:xfrm>
              <a:custGeom>
                <a:avLst/>
                <a:gdLst/>
                <a:ahLst/>
                <a:cxnLst/>
                <a:rect l="l" t="t" r="r" b="b"/>
                <a:pathLst>
                  <a:path w="52388" h="9525">
                    <a:moveTo>
                      <a:pt x="0" y="0"/>
                    </a:moveTo>
                    <a:lnTo>
                      <a:pt x="52388" y="0"/>
                    </a:lnTo>
                  </a:path>
                </a:pathLst>
              </a:custGeom>
              <a:noFill/>
              <a:ln w="17463">
                <a:solidFill>
                  <a:srgbClr val="A3422F"/>
                </a:solidFill>
              </a:ln>
            </p:spPr>
          </p:sp>
          <p:sp>
            <p:nvSpPr>
              <p:cNvPr id="289" name="Freeform 289"/>
              <p:cNvSpPr/>
              <p:nvPr/>
            </p:nvSpPr>
            <p:spPr>
              <a:xfrm>
                <a:off x="8545513" y="5480050"/>
                <a:ext cx="9525" cy="9525"/>
              </a:xfrm>
              <a:custGeom>
                <a:avLst/>
                <a:gdLst/>
                <a:ahLst/>
                <a:cxnLst/>
                <a:rect l="l" t="t" r="r" b="b"/>
                <a:pathLst>
                  <a:path w="9525" h="9525">
                    <a:moveTo>
                      <a:pt x="0" y="0"/>
                    </a:moveTo>
                    <a:lnTo>
                      <a:pt x="0" y="87"/>
                    </a:lnTo>
                  </a:path>
                </a:pathLst>
              </a:custGeom>
              <a:noFill/>
              <a:ln w="17463">
                <a:solidFill>
                  <a:srgbClr val="A3422F"/>
                </a:solidFill>
              </a:ln>
            </p:spPr>
          </p:sp>
          <p:sp>
            <p:nvSpPr>
              <p:cNvPr id="290" name="Freeform 290"/>
              <p:cNvSpPr/>
              <p:nvPr/>
            </p:nvSpPr>
            <p:spPr>
              <a:xfrm>
                <a:off x="8580438" y="5480050"/>
                <a:ext cx="9525" cy="9525"/>
              </a:xfrm>
              <a:custGeom>
                <a:avLst/>
                <a:gdLst/>
                <a:ahLst/>
                <a:cxnLst/>
                <a:rect l="l" t="t" r="r" b="b"/>
                <a:pathLst>
                  <a:path w="9525" h="9525">
                    <a:moveTo>
                      <a:pt x="0" y="0"/>
                    </a:moveTo>
                    <a:lnTo>
                      <a:pt x="0" y="87"/>
                    </a:lnTo>
                  </a:path>
                </a:pathLst>
              </a:custGeom>
              <a:noFill/>
              <a:ln w="17463">
                <a:solidFill>
                  <a:srgbClr val="A3422F"/>
                </a:solidFill>
              </a:ln>
            </p:spPr>
          </p:sp>
        </p:grpSp>
        <p:sp>
          <p:nvSpPr>
            <p:cNvPr id="292" name="TextBox 292"/>
            <p:cNvSpPr txBox="1"/>
            <p:nvPr/>
          </p:nvSpPr>
          <p:spPr>
            <a:xfrm>
              <a:off x="8453438" y="57714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线上线下联动</a:t>
              </a:r>
            </a:p>
          </p:txBody>
        </p:sp>
        <p:sp>
          <p:nvSpPr>
            <p:cNvPr id="293" name="TextBox 293"/>
            <p:cNvSpPr txBox="1"/>
            <p:nvPr/>
          </p:nvSpPr>
          <p:spPr>
            <a:xfrm>
              <a:off x="8453438" y="59238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拓展边缘生态</a:t>
              </a:r>
            </a:p>
          </p:txBody>
        </p:sp>
        <p:sp>
          <p:nvSpPr>
            <p:cNvPr id="294" name="Rectangle 294"/>
            <p:cNvSpPr/>
            <p:nvPr/>
          </p:nvSpPr>
          <p:spPr>
            <a:xfrm>
              <a:off x="10039350" y="5086350"/>
              <a:ext cx="1638300" cy="1504950"/>
            </a:xfrm>
            <a:prstGeom prst="roundRect">
              <a:avLst>
                <a:gd name="adj" fmla="val 5063"/>
              </a:avLst>
            </a:prstGeom>
            <a:solidFill>
              <a:srgbClr val="F0FAF8"/>
            </a:solidFill>
            <a:ln w="9525">
              <a:solidFill>
                <a:srgbClr val="C2E0DA"/>
              </a:solidFill>
            </a:ln>
          </p:spPr>
        </p:sp>
        <p:sp>
          <p:nvSpPr>
            <p:cNvPr id="295" name="TextBox 295"/>
            <p:cNvSpPr txBox="1"/>
            <p:nvPr/>
          </p:nvSpPr>
          <p:spPr>
            <a:xfrm>
              <a:off x="10167938" y="5198745"/>
              <a:ext cx="219431" cy="176212"/>
            </a:xfrm>
            <a:prstGeom prst="rect">
              <a:avLst/>
            </a:prstGeom>
            <a:noFill/>
            <a:ln>
              <a:noFill/>
            </a:ln>
          </p:spPr>
          <p:txBody>
            <a:bodyPr wrap="none" lIns="0" tIns="0" rIns="0" bIns="0" anchor="t" anchorCtr="0">
              <a:spAutoFit/>
            </a:bodyPr>
            <a:lstStyle/>
            <a:p>
              <a:pPr algn="l"/>
              <a:r>
                <a:rPr lang="zh-CN" sz="900" b="1" dirty="0">
                  <a:solidFill>
                    <a:srgbClr val="76200F"/>
                  </a:solidFill>
                  <a:latin typeface="+mn-lt"/>
                  <a:ea typeface="+mn-ea"/>
                  <a:cs typeface="+mn-cs"/>
                </a:rPr>
                <a:t>06​</a:t>
              </a:r>
            </a:p>
          </p:txBody>
        </p:sp>
        <p:sp>
          <p:nvSpPr>
            <p:cNvPr id="296" name="TextBox 296"/>
            <p:cNvSpPr txBox="1"/>
            <p:nvPr/>
          </p:nvSpPr>
          <p:spPr>
            <a:xfrm>
              <a:off x="10396538" y="5194697"/>
              <a:ext cx="5156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开放共生</a:t>
              </a:r>
            </a:p>
          </p:txBody>
        </p:sp>
        <p:grpSp>
          <p:nvGrpSpPr>
            <p:cNvPr id="300" name="Group 300"/>
            <p:cNvGrpSpPr/>
            <p:nvPr/>
          </p:nvGrpSpPr>
          <p:grpSpPr>
            <a:xfrm>
              <a:off x="10207624" y="5440859"/>
              <a:ext cx="143954" cy="148214"/>
              <a:chOff x="10207624" y="5440859"/>
              <a:chExt cx="143954" cy="148214"/>
            </a:xfrm>
          </p:grpSpPr>
          <p:sp>
            <p:nvSpPr>
              <p:cNvPr id="297" name="Freeform 297"/>
              <p:cNvSpPr/>
              <p:nvPr/>
            </p:nvSpPr>
            <p:spPr>
              <a:xfrm>
                <a:off x="10251281" y="5488781"/>
                <a:ext cx="52388" cy="52388"/>
              </a:xfrm>
              <a:custGeom>
                <a:avLst/>
                <a:gdLst/>
                <a:ahLst/>
                <a:cxnLst/>
                <a:rect l="l" t="t" r="r" b="b"/>
                <a:pathLst>
                  <a:path w="52388" h="52388">
                    <a:moveTo>
                      <a:pt x="0" y="52388"/>
                    </a:moveTo>
                    <a:lnTo>
                      <a:pt x="52388" y="0"/>
                    </a:lnTo>
                  </a:path>
                </a:pathLst>
              </a:custGeom>
              <a:noFill/>
              <a:ln w="17463">
                <a:solidFill>
                  <a:srgbClr val="A3422F"/>
                </a:solidFill>
              </a:ln>
            </p:spPr>
          </p:sp>
          <p:sp>
            <p:nvSpPr>
              <p:cNvPr id="298" name="Freeform 298"/>
              <p:cNvSpPr/>
              <p:nvPr/>
            </p:nvSpPr>
            <p:spPr>
              <a:xfrm>
                <a:off x="10268744" y="5440859"/>
                <a:ext cx="82834" cy="82847"/>
              </a:xfrm>
              <a:custGeom>
                <a:avLst/>
                <a:gdLst/>
                <a:ahLst/>
                <a:cxnLst/>
                <a:rect l="l" t="t" r="r" b="b"/>
                <a:pathLst>
                  <a:path w="82834" h="82847">
                    <a:moveTo>
                      <a:pt x="0" y="21729"/>
                    </a:moveTo>
                    <a:lnTo>
                      <a:pt x="4043" y="17049"/>
                    </a:lnTo>
                    <a:cubicBezTo>
                      <a:pt x="21094" y="0"/>
                      <a:pt x="48737" y="2"/>
                      <a:pt x="65786" y="17053"/>
                    </a:cubicBezTo>
                    <a:cubicBezTo>
                      <a:pt x="82834" y="34104"/>
                      <a:pt x="82832" y="61747"/>
                      <a:pt x="65781" y="78796"/>
                    </a:cubicBezTo>
                    <a:lnTo>
                      <a:pt x="61119" y="82847"/>
                    </a:lnTo>
                  </a:path>
                </a:pathLst>
              </a:custGeom>
              <a:noFill/>
              <a:ln w="17463">
                <a:solidFill>
                  <a:srgbClr val="A3422F"/>
                </a:solidFill>
              </a:ln>
            </p:spPr>
          </p:sp>
          <p:sp>
            <p:nvSpPr>
              <p:cNvPr id="299" name="Freeform 299"/>
              <p:cNvSpPr/>
              <p:nvPr/>
            </p:nvSpPr>
            <p:spPr>
              <a:xfrm>
                <a:off x="10207624" y="5506244"/>
                <a:ext cx="78583" cy="82829"/>
              </a:xfrm>
              <a:custGeom>
                <a:avLst/>
                <a:gdLst/>
                <a:ahLst/>
                <a:cxnLst/>
                <a:rect l="l" t="t" r="r" b="b"/>
                <a:pathLst>
                  <a:path w="78583" h="82829">
                    <a:moveTo>
                      <a:pt x="78583" y="61119"/>
                    </a:moveTo>
                    <a:lnTo>
                      <a:pt x="75116" y="65781"/>
                    </a:lnTo>
                    <a:cubicBezTo>
                      <a:pt x="57876" y="82829"/>
                      <a:pt x="30128" y="82829"/>
                      <a:pt x="12889" y="65781"/>
                    </a:cubicBezTo>
                    <a:cubicBezTo>
                      <a:pt x="4641" y="57626"/>
                      <a:pt x="0" y="46510"/>
                      <a:pt x="0" y="34912"/>
                    </a:cubicBezTo>
                    <a:cubicBezTo>
                      <a:pt x="0" y="23314"/>
                      <a:pt x="4641" y="12197"/>
                      <a:pt x="12889" y="4043"/>
                    </a:cubicBezTo>
                    <a:lnTo>
                      <a:pt x="17464" y="0"/>
                    </a:lnTo>
                  </a:path>
                </a:pathLst>
              </a:custGeom>
              <a:noFill/>
              <a:ln w="17463">
                <a:solidFill>
                  <a:srgbClr val="A3422F"/>
                </a:solidFill>
              </a:ln>
            </p:spPr>
          </p:sp>
        </p:grpSp>
        <p:sp>
          <p:nvSpPr>
            <p:cNvPr id="301" name="TextBox 301"/>
            <p:cNvSpPr txBox="1"/>
            <p:nvPr/>
          </p:nvSpPr>
          <p:spPr>
            <a:xfrm>
              <a:off x="10167938" y="57714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连接多元场景</a:t>
              </a:r>
            </a:p>
          </p:txBody>
        </p:sp>
        <p:sp>
          <p:nvSpPr>
            <p:cNvPr id="302" name="TextBox 302"/>
            <p:cNvSpPr txBox="1"/>
            <p:nvPr/>
          </p:nvSpPr>
          <p:spPr>
            <a:xfrm>
              <a:off x="10167938" y="5923836"/>
              <a:ext cx="583006"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构建开放平台</a:t>
              </a:r>
            </a:p>
          </p:txBody>
        </p:sp>
      </p:gr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05​</a:t>
              </a:r>
            </a:p>
          </p:txBody>
        </p:sp>
        <p:sp>
          <p:nvSpPr>
            <p:cNvPr id="4" name="TextBox 4"/>
            <p:cNvSpPr txBox="1"/>
            <p:nvPr/>
          </p:nvSpPr>
          <p:spPr>
            <a:xfrm>
              <a:off x="904494" y="170498"/>
              <a:ext cx="5007483"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标杆扫描</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八类线上线下联动模式同台对比</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05​</a:t>
              </a:r>
            </a:p>
          </p:txBody>
        </p:sp>
      </p:grpSp>
      <p:grpSp>
        <p:nvGrpSpPr>
          <p:cNvPr id="49" name="survey-stats"/>
          <p:cNvGrpSpPr/>
          <p:nvPr/>
        </p:nvGrpSpPr>
        <p:grpSpPr>
          <a:xfrm>
            <a:off x="342900" y="704850"/>
            <a:ext cx="6629400" cy="800100"/>
            <a:chOff x="342900" y="704850"/>
            <a:chExt cx="6629400" cy="800100"/>
          </a:xfrm>
        </p:grpSpPr>
        <p:sp>
          <p:nvSpPr>
            <p:cNvPr id="8" name="Rectangle 8"/>
            <p:cNvSpPr/>
            <p:nvPr/>
          </p:nvSpPr>
          <p:spPr>
            <a:xfrm>
              <a:off x="342900" y="704850"/>
              <a:ext cx="1600200" cy="800100"/>
            </a:xfrm>
            <a:prstGeom prst="roundRect">
              <a:avLst>
                <a:gd name="adj" fmla="val 9524"/>
              </a:avLst>
            </a:prstGeom>
            <a:solidFill>
              <a:srgbClr val="F0FAF8"/>
            </a:solidFill>
            <a:ln w="9525">
              <a:solidFill>
                <a:srgbClr val="C2E0DA"/>
              </a:solidFill>
            </a:ln>
          </p:spPr>
        </p:sp>
        <p:grpSp>
          <p:nvGrpSpPr>
            <p:cNvPr id="15" name="Group 15"/>
            <p:cNvGrpSpPr/>
            <p:nvPr/>
          </p:nvGrpSpPr>
          <p:grpSpPr>
            <a:xfrm>
              <a:off x="504825" y="885825"/>
              <a:ext cx="171450" cy="171450"/>
              <a:chOff x="504825" y="885825"/>
              <a:chExt cx="171450" cy="171450"/>
            </a:xfrm>
          </p:grpSpPr>
          <p:sp>
            <p:nvSpPr>
              <p:cNvPr id="9" name="Freeform 9"/>
              <p:cNvSpPr/>
              <p:nvPr/>
            </p:nvSpPr>
            <p:spPr>
              <a:xfrm>
                <a:off x="571500" y="9620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6200F"/>
                </a:solidFill>
              </a:ln>
            </p:spPr>
          </p:sp>
          <p:sp>
            <p:nvSpPr>
              <p:cNvPr id="10" name="Freeform 10"/>
              <p:cNvSpPr/>
              <p:nvPr/>
            </p:nvSpPr>
            <p:spPr>
              <a:xfrm>
                <a:off x="552450" y="102870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76200F"/>
                </a:solidFill>
              </a:ln>
            </p:spPr>
          </p:sp>
          <p:sp>
            <p:nvSpPr>
              <p:cNvPr id="11" name="Freeform 11"/>
              <p:cNvSpPr/>
              <p:nvPr/>
            </p:nvSpPr>
            <p:spPr>
              <a:xfrm>
                <a:off x="619125" y="8858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6200F"/>
                </a:solidFill>
              </a:ln>
            </p:spPr>
          </p:sp>
          <p:sp>
            <p:nvSpPr>
              <p:cNvPr id="12" name="Freeform 12"/>
              <p:cNvSpPr/>
              <p:nvPr/>
            </p:nvSpPr>
            <p:spPr>
              <a:xfrm>
                <a:off x="638175" y="95250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76200F"/>
                </a:solidFill>
              </a:ln>
            </p:spPr>
          </p:sp>
          <p:sp>
            <p:nvSpPr>
              <p:cNvPr id="13" name="Freeform 13"/>
              <p:cNvSpPr/>
              <p:nvPr/>
            </p:nvSpPr>
            <p:spPr>
              <a:xfrm>
                <a:off x="523875" y="8858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6200F"/>
                </a:solidFill>
              </a:ln>
            </p:spPr>
          </p:sp>
          <p:sp>
            <p:nvSpPr>
              <p:cNvPr id="14" name="Freeform 14"/>
              <p:cNvSpPr/>
              <p:nvPr/>
            </p:nvSpPr>
            <p:spPr>
              <a:xfrm>
                <a:off x="504825" y="95250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76200F"/>
                </a:solidFill>
              </a:ln>
            </p:spPr>
          </p:sp>
        </p:grpSp>
        <p:sp>
          <p:nvSpPr>
            <p:cNvPr id="16" name="TextBox 16"/>
            <p:cNvSpPr txBox="1"/>
            <p:nvPr/>
          </p:nvSpPr>
          <p:spPr>
            <a:xfrm>
              <a:off x="793623" y="833914"/>
              <a:ext cx="641663" cy="249364"/>
            </a:xfrm>
            <a:prstGeom prst="rect">
              <a:avLst/>
            </a:prstGeom>
            <a:noFill/>
            <a:ln>
              <a:noFill/>
            </a:ln>
          </p:spPr>
          <p:txBody>
            <a:bodyPr wrap="none" lIns="0" tIns="0" rIns="0" bIns="0" anchor="t" anchorCtr="0">
              <a:spAutoFit/>
            </a:bodyPr>
            <a:lstStyle/>
            <a:p>
              <a:pPr algn="l"/>
              <a:r>
                <a:rPr lang="zh-CN" sz="1280" b="1" dirty="0">
                  <a:solidFill>
                    <a:srgbClr val="76200F"/>
                  </a:solidFill>
                  <a:latin typeface="+mn-lt"/>
                  <a:ea typeface="+mn-ea"/>
                  <a:cs typeface="+mn-cs"/>
                </a:rPr>
                <a:t>8​</a:t>
              </a:r>
              <a:r>
                <a:rPr lang="zh-CN" sz="820" b="1" dirty="0">
                  <a:solidFill>
                    <a:srgbClr val="76200F"/>
                  </a:solidFill>
                  <a:latin typeface="+mn-lt"/>
                  <a:ea typeface="+mn-ea"/>
                  <a:cs typeface="+mn-cs"/>
                </a:rPr>
                <a:t xml:space="preserve"> 大场景​</a:t>
              </a:r>
            </a:p>
          </p:txBody>
        </p:sp>
        <p:sp>
          <p:nvSpPr>
            <p:cNvPr id="17" name="TextBox 17"/>
            <p:cNvSpPr txBox="1"/>
            <p:nvPr/>
          </p:nvSpPr>
          <p:spPr>
            <a:xfrm>
              <a:off x="471488" y="1195388"/>
              <a:ext cx="413385"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对标调研</a:t>
              </a:r>
            </a:p>
          </p:txBody>
        </p:sp>
        <p:sp>
          <p:nvSpPr>
            <p:cNvPr id="18" name="Rectangle 18"/>
            <p:cNvSpPr/>
            <p:nvPr/>
          </p:nvSpPr>
          <p:spPr>
            <a:xfrm>
              <a:off x="2019300" y="704850"/>
              <a:ext cx="1600200" cy="800100"/>
            </a:xfrm>
            <a:prstGeom prst="roundRect">
              <a:avLst>
                <a:gd name="adj" fmla="val 9524"/>
              </a:avLst>
            </a:prstGeom>
            <a:solidFill>
              <a:srgbClr val="F0FAF8"/>
            </a:solidFill>
            <a:ln w="9525">
              <a:solidFill>
                <a:srgbClr val="C2E0DA"/>
              </a:solidFill>
            </a:ln>
          </p:spPr>
        </p:sp>
        <p:grpSp>
          <p:nvGrpSpPr>
            <p:cNvPr id="27" name="Group 27"/>
            <p:cNvGrpSpPr/>
            <p:nvPr/>
          </p:nvGrpSpPr>
          <p:grpSpPr>
            <a:xfrm>
              <a:off x="2181225" y="885825"/>
              <a:ext cx="171450" cy="180975"/>
              <a:chOff x="2181225" y="885825"/>
              <a:chExt cx="171450" cy="180975"/>
            </a:xfrm>
          </p:grpSpPr>
          <p:sp>
            <p:nvSpPr>
              <p:cNvPr id="19" name="Freeform 19"/>
              <p:cNvSpPr/>
              <p:nvPr/>
            </p:nvSpPr>
            <p:spPr>
              <a:xfrm>
                <a:off x="2181225" y="1057275"/>
                <a:ext cx="171450" cy="9525"/>
              </a:xfrm>
              <a:custGeom>
                <a:avLst/>
                <a:gdLst/>
                <a:ahLst/>
                <a:cxnLst/>
                <a:rect l="l" t="t" r="r" b="b"/>
                <a:pathLst>
                  <a:path w="171450" h="9525">
                    <a:moveTo>
                      <a:pt x="0" y="0"/>
                    </a:moveTo>
                    <a:lnTo>
                      <a:pt x="171450" y="0"/>
                    </a:lnTo>
                  </a:path>
                </a:pathLst>
              </a:custGeom>
              <a:noFill/>
              <a:ln w="19050">
                <a:solidFill>
                  <a:srgbClr val="76200F"/>
                </a:solidFill>
              </a:ln>
            </p:spPr>
          </p:sp>
          <p:sp>
            <p:nvSpPr>
              <p:cNvPr id="20" name="Freeform 20"/>
              <p:cNvSpPr/>
              <p:nvPr/>
            </p:nvSpPr>
            <p:spPr>
              <a:xfrm>
                <a:off x="2181225" y="952500"/>
                <a:ext cx="171450" cy="9525"/>
              </a:xfrm>
              <a:custGeom>
                <a:avLst/>
                <a:gdLst/>
                <a:ahLst/>
                <a:cxnLst/>
                <a:rect l="l" t="t" r="r" b="b"/>
                <a:pathLst>
                  <a:path w="171450" h="9525">
                    <a:moveTo>
                      <a:pt x="0" y="0"/>
                    </a:moveTo>
                    <a:lnTo>
                      <a:pt x="171450" y="0"/>
                    </a:lnTo>
                  </a:path>
                </a:pathLst>
              </a:custGeom>
              <a:noFill/>
              <a:ln w="19050">
                <a:solidFill>
                  <a:srgbClr val="76200F"/>
                </a:solidFill>
              </a:ln>
            </p:spPr>
          </p:sp>
          <p:sp>
            <p:nvSpPr>
              <p:cNvPr id="21" name="Freeform 21"/>
              <p:cNvSpPr/>
              <p:nvPr/>
            </p:nvSpPr>
            <p:spPr>
              <a:xfrm>
                <a:off x="2200275" y="885825"/>
                <a:ext cx="133350" cy="28575"/>
              </a:xfrm>
              <a:custGeom>
                <a:avLst/>
                <a:gdLst/>
                <a:ahLst/>
                <a:cxnLst/>
                <a:rect l="l" t="t" r="r" b="b"/>
                <a:pathLst>
                  <a:path w="133350" h="28575">
                    <a:moveTo>
                      <a:pt x="0" y="28575"/>
                    </a:moveTo>
                    <a:lnTo>
                      <a:pt x="66675" y="0"/>
                    </a:lnTo>
                    <a:lnTo>
                      <a:pt x="133350" y="28575"/>
                    </a:lnTo>
                  </a:path>
                </a:pathLst>
              </a:custGeom>
              <a:noFill/>
              <a:ln w="19050">
                <a:solidFill>
                  <a:srgbClr val="76200F"/>
                </a:solidFill>
              </a:ln>
            </p:spPr>
          </p:sp>
          <p:sp>
            <p:nvSpPr>
              <p:cNvPr id="22" name="Freeform 22"/>
              <p:cNvSpPr/>
              <p:nvPr/>
            </p:nvSpPr>
            <p:spPr>
              <a:xfrm>
                <a:off x="2190750" y="952500"/>
                <a:ext cx="9525" cy="104775"/>
              </a:xfrm>
              <a:custGeom>
                <a:avLst/>
                <a:gdLst/>
                <a:ahLst/>
                <a:cxnLst/>
                <a:rect l="l" t="t" r="r" b="b"/>
                <a:pathLst>
                  <a:path w="9525" h="104775">
                    <a:moveTo>
                      <a:pt x="0" y="0"/>
                    </a:moveTo>
                    <a:lnTo>
                      <a:pt x="0" y="104775"/>
                    </a:lnTo>
                  </a:path>
                </a:pathLst>
              </a:custGeom>
              <a:noFill/>
              <a:ln w="19050">
                <a:solidFill>
                  <a:srgbClr val="76200F"/>
                </a:solidFill>
              </a:ln>
            </p:spPr>
          </p:sp>
          <p:sp>
            <p:nvSpPr>
              <p:cNvPr id="23" name="Freeform 23"/>
              <p:cNvSpPr/>
              <p:nvPr/>
            </p:nvSpPr>
            <p:spPr>
              <a:xfrm>
                <a:off x="2343150" y="952500"/>
                <a:ext cx="9525" cy="104775"/>
              </a:xfrm>
              <a:custGeom>
                <a:avLst/>
                <a:gdLst/>
                <a:ahLst/>
                <a:cxnLst/>
                <a:rect l="l" t="t" r="r" b="b"/>
                <a:pathLst>
                  <a:path w="9525" h="104775">
                    <a:moveTo>
                      <a:pt x="0" y="0"/>
                    </a:moveTo>
                    <a:lnTo>
                      <a:pt x="0" y="104775"/>
                    </a:lnTo>
                  </a:path>
                </a:pathLst>
              </a:custGeom>
              <a:noFill/>
              <a:ln w="19050">
                <a:solidFill>
                  <a:srgbClr val="76200F"/>
                </a:solidFill>
              </a:ln>
            </p:spPr>
          </p:sp>
          <p:sp>
            <p:nvSpPr>
              <p:cNvPr id="24" name="Freeform 24"/>
              <p:cNvSpPr/>
              <p:nvPr/>
            </p:nvSpPr>
            <p:spPr>
              <a:xfrm>
                <a:off x="2228850" y="990600"/>
                <a:ext cx="9525" cy="28575"/>
              </a:xfrm>
              <a:custGeom>
                <a:avLst/>
                <a:gdLst/>
                <a:ahLst/>
                <a:cxnLst/>
                <a:rect l="l" t="t" r="r" b="b"/>
                <a:pathLst>
                  <a:path w="9525" h="28575">
                    <a:moveTo>
                      <a:pt x="0" y="0"/>
                    </a:moveTo>
                    <a:lnTo>
                      <a:pt x="0" y="28575"/>
                    </a:lnTo>
                  </a:path>
                </a:pathLst>
              </a:custGeom>
              <a:noFill/>
              <a:ln w="19050">
                <a:solidFill>
                  <a:srgbClr val="76200F"/>
                </a:solidFill>
              </a:ln>
            </p:spPr>
          </p:sp>
          <p:sp>
            <p:nvSpPr>
              <p:cNvPr id="25" name="Freeform 25"/>
              <p:cNvSpPr/>
              <p:nvPr/>
            </p:nvSpPr>
            <p:spPr>
              <a:xfrm>
                <a:off x="2266950" y="990600"/>
                <a:ext cx="9525" cy="28575"/>
              </a:xfrm>
              <a:custGeom>
                <a:avLst/>
                <a:gdLst/>
                <a:ahLst/>
                <a:cxnLst/>
                <a:rect l="l" t="t" r="r" b="b"/>
                <a:pathLst>
                  <a:path w="9525" h="28575">
                    <a:moveTo>
                      <a:pt x="0" y="0"/>
                    </a:moveTo>
                    <a:lnTo>
                      <a:pt x="0" y="28575"/>
                    </a:lnTo>
                  </a:path>
                </a:pathLst>
              </a:custGeom>
              <a:noFill/>
              <a:ln w="19050">
                <a:solidFill>
                  <a:srgbClr val="76200F"/>
                </a:solidFill>
              </a:ln>
            </p:spPr>
          </p:sp>
          <p:sp>
            <p:nvSpPr>
              <p:cNvPr id="26" name="Freeform 26"/>
              <p:cNvSpPr/>
              <p:nvPr/>
            </p:nvSpPr>
            <p:spPr>
              <a:xfrm>
                <a:off x="2305050" y="990600"/>
                <a:ext cx="9525" cy="28575"/>
              </a:xfrm>
              <a:custGeom>
                <a:avLst/>
                <a:gdLst/>
                <a:ahLst/>
                <a:cxnLst/>
                <a:rect l="l" t="t" r="r" b="b"/>
                <a:pathLst>
                  <a:path w="9525" h="28575">
                    <a:moveTo>
                      <a:pt x="0" y="0"/>
                    </a:moveTo>
                    <a:lnTo>
                      <a:pt x="0" y="28575"/>
                    </a:lnTo>
                  </a:path>
                </a:pathLst>
              </a:custGeom>
              <a:noFill/>
              <a:ln w="19050">
                <a:solidFill>
                  <a:srgbClr val="76200F"/>
                </a:solidFill>
              </a:ln>
            </p:spPr>
          </p:sp>
        </p:grpSp>
        <p:sp>
          <p:nvSpPr>
            <p:cNvPr id="28" name="TextBox 28"/>
            <p:cNvSpPr txBox="1"/>
            <p:nvPr/>
          </p:nvSpPr>
          <p:spPr>
            <a:xfrm>
              <a:off x="2470023" y="833914"/>
              <a:ext cx="961951" cy="249364"/>
            </a:xfrm>
            <a:prstGeom prst="rect">
              <a:avLst/>
            </a:prstGeom>
            <a:noFill/>
            <a:ln>
              <a:noFill/>
            </a:ln>
          </p:spPr>
          <p:txBody>
            <a:bodyPr wrap="none" lIns="0" tIns="0" rIns="0" bIns="0" anchor="t" anchorCtr="0">
              <a:spAutoFit/>
            </a:bodyPr>
            <a:lstStyle/>
            <a:p>
              <a:pPr algn="l"/>
              <a:r>
                <a:rPr lang="zh-CN" sz="1280" b="1" dirty="0">
                  <a:solidFill>
                    <a:srgbClr val="76200F"/>
                  </a:solidFill>
                  <a:latin typeface="+mn-lt"/>
                  <a:ea typeface="+mn-ea"/>
                  <a:cs typeface="+mn-cs"/>
                </a:rPr>
                <a:t>32​</a:t>
              </a:r>
              <a:r>
                <a:rPr lang="zh-CN" sz="820" b="1" dirty="0">
                  <a:solidFill>
                    <a:srgbClr val="76200F"/>
                  </a:solidFill>
                  <a:latin typeface="+mn-lt"/>
                  <a:ea typeface="+mn-ea"/>
                  <a:cs typeface="+mn-cs"/>
                </a:rPr>
                <a:t xml:space="preserve"> 家同业银行​</a:t>
              </a:r>
            </a:p>
          </p:txBody>
        </p:sp>
        <p:sp>
          <p:nvSpPr>
            <p:cNvPr id="29" name="TextBox 29"/>
            <p:cNvSpPr txBox="1"/>
            <p:nvPr/>
          </p:nvSpPr>
          <p:spPr>
            <a:xfrm>
              <a:off x="2147888" y="1195388"/>
              <a:ext cx="413385"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典型案例</a:t>
              </a:r>
            </a:p>
          </p:txBody>
        </p:sp>
        <p:sp>
          <p:nvSpPr>
            <p:cNvPr id="30" name="Rectangle 30"/>
            <p:cNvSpPr/>
            <p:nvPr/>
          </p:nvSpPr>
          <p:spPr>
            <a:xfrm>
              <a:off x="3695700" y="704850"/>
              <a:ext cx="1600200" cy="800100"/>
            </a:xfrm>
            <a:prstGeom prst="roundRect">
              <a:avLst>
                <a:gd name="adj" fmla="val 9524"/>
              </a:avLst>
            </a:prstGeom>
            <a:solidFill>
              <a:srgbClr val="F0FAF8"/>
            </a:solidFill>
            <a:ln w="9525">
              <a:solidFill>
                <a:srgbClr val="C2E0DA"/>
              </a:solidFill>
            </a:ln>
          </p:spPr>
        </p:sp>
        <p:grpSp>
          <p:nvGrpSpPr>
            <p:cNvPr id="36" name="Group 36"/>
            <p:cNvGrpSpPr/>
            <p:nvPr/>
          </p:nvGrpSpPr>
          <p:grpSpPr>
            <a:xfrm>
              <a:off x="3876675" y="885825"/>
              <a:ext cx="133350" cy="171450"/>
              <a:chOff x="3876675" y="885825"/>
              <a:chExt cx="133350" cy="171450"/>
            </a:xfrm>
          </p:grpSpPr>
          <p:sp>
            <p:nvSpPr>
              <p:cNvPr id="31" name="Freeform 31"/>
              <p:cNvSpPr/>
              <p:nvPr/>
            </p:nvSpPr>
            <p:spPr>
              <a:xfrm>
                <a:off x="3962400" y="88582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76200F"/>
                </a:solidFill>
              </a:ln>
            </p:spPr>
          </p:sp>
          <p:sp>
            <p:nvSpPr>
              <p:cNvPr id="32" name="Freeform 32"/>
              <p:cNvSpPr/>
              <p:nvPr/>
            </p:nvSpPr>
            <p:spPr>
              <a:xfrm>
                <a:off x="3876675" y="88582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76200F"/>
                </a:solidFill>
              </a:ln>
            </p:spPr>
          </p:sp>
          <p:sp>
            <p:nvSpPr>
              <p:cNvPr id="33" name="Freeform 33"/>
              <p:cNvSpPr/>
              <p:nvPr/>
            </p:nvSpPr>
            <p:spPr>
              <a:xfrm>
                <a:off x="3914775" y="942975"/>
                <a:ext cx="9525" cy="9525"/>
              </a:xfrm>
              <a:custGeom>
                <a:avLst/>
                <a:gdLst/>
                <a:ahLst/>
                <a:cxnLst/>
                <a:rect l="l" t="t" r="r" b="b"/>
                <a:pathLst>
                  <a:path w="9525" h="9525">
                    <a:moveTo>
                      <a:pt x="0" y="0"/>
                    </a:moveTo>
                    <a:lnTo>
                      <a:pt x="9525" y="0"/>
                    </a:lnTo>
                  </a:path>
                </a:pathLst>
              </a:custGeom>
              <a:noFill/>
              <a:ln w="19050">
                <a:solidFill>
                  <a:srgbClr val="76200F"/>
                </a:solidFill>
              </a:ln>
            </p:spPr>
          </p:sp>
          <p:sp>
            <p:nvSpPr>
              <p:cNvPr id="34" name="Freeform 34"/>
              <p:cNvSpPr/>
              <p:nvPr/>
            </p:nvSpPr>
            <p:spPr>
              <a:xfrm>
                <a:off x="3914775" y="981075"/>
                <a:ext cx="57150" cy="9525"/>
              </a:xfrm>
              <a:custGeom>
                <a:avLst/>
                <a:gdLst/>
                <a:ahLst/>
                <a:cxnLst/>
                <a:rect l="l" t="t" r="r" b="b"/>
                <a:pathLst>
                  <a:path w="57150" h="9525">
                    <a:moveTo>
                      <a:pt x="0" y="0"/>
                    </a:moveTo>
                    <a:lnTo>
                      <a:pt x="57150" y="0"/>
                    </a:lnTo>
                  </a:path>
                </a:pathLst>
              </a:custGeom>
              <a:noFill/>
              <a:ln w="19050">
                <a:solidFill>
                  <a:srgbClr val="76200F"/>
                </a:solidFill>
              </a:ln>
            </p:spPr>
          </p:sp>
          <p:sp>
            <p:nvSpPr>
              <p:cNvPr id="35" name="Freeform 35"/>
              <p:cNvSpPr/>
              <p:nvPr/>
            </p:nvSpPr>
            <p:spPr>
              <a:xfrm>
                <a:off x="3914775" y="1019175"/>
                <a:ext cx="57150" cy="9525"/>
              </a:xfrm>
              <a:custGeom>
                <a:avLst/>
                <a:gdLst/>
                <a:ahLst/>
                <a:cxnLst/>
                <a:rect l="l" t="t" r="r" b="b"/>
                <a:pathLst>
                  <a:path w="57150" h="9525">
                    <a:moveTo>
                      <a:pt x="0" y="0"/>
                    </a:moveTo>
                    <a:lnTo>
                      <a:pt x="57150" y="0"/>
                    </a:lnTo>
                  </a:path>
                </a:pathLst>
              </a:custGeom>
              <a:noFill/>
              <a:ln w="19050">
                <a:solidFill>
                  <a:srgbClr val="76200F"/>
                </a:solidFill>
              </a:ln>
            </p:spPr>
          </p:sp>
        </p:grpSp>
        <p:sp>
          <p:nvSpPr>
            <p:cNvPr id="37" name="TextBox 37"/>
            <p:cNvSpPr txBox="1"/>
            <p:nvPr/>
          </p:nvSpPr>
          <p:spPr>
            <a:xfrm>
              <a:off x="4146423" y="833914"/>
              <a:ext cx="1260484" cy="249364"/>
            </a:xfrm>
            <a:prstGeom prst="rect">
              <a:avLst/>
            </a:prstGeom>
            <a:noFill/>
            <a:ln>
              <a:noFill/>
            </a:ln>
          </p:spPr>
          <p:txBody>
            <a:bodyPr wrap="none" lIns="0" tIns="0" rIns="0" bIns="0" anchor="t" anchorCtr="0">
              <a:spAutoFit/>
            </a:bodyPr>
            <a:lstStyle/>
            <a:p>
              <a:pPr algn="l"/>
              <a:r>
                <a:rPr lang="zh-CN" sz="1280" b="1" dirty="0">
                  <a:solidFill>
                    <a:srgbClr val="76200F"/>
                  </a:solidFill>
                  <a:latin typeface="+mn-lt"/>
                  <a:ea typeface="+mn-ea"/>
                  <a:cs typeface="+mn-cs"/>
                </a:rPr>
                <a:t>120+​​</a:t>
              </a:r>
              <a:r>
                <a:rPr lang="zh-CN" sz="820" b="1" dirty="0">
                  <a:solidFill>
                    <a:srgbClr val="76200F"/>
                  </a:solidFill>
                  <a:latin typeface="+mn-lt"/>
                  <a:ea typeface="+mn-ea"/>
                  <a:cs typeface="+mn-cs"/>
                </a:rPr>
                <a:t xml:space="preserve"> 个活动样本​</a:t>
              </a:r>
            </a:p>
          </p:txBody>
        </p:sp>
        <p:sp>
          <p:nvSpPr>
            <p:cNvPr id="38" name="TextBox 38"/>
            <p:cNvSpPr txBox="1"/>
            <p:nvPr/>
          </p:nvSpPr>
          <p:spPr>
            <a:xfrm>
              <a:off x="3824288" y="1195388"/>
              <a:ext cx="675894"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2023-2024​​​</a:t>
              </a:r>
            </a:p>
          </p:txBody>
        </p:sp>
        <p:sp>
          <p:nvSpPr>
            <p:cNvPr id="39" name="Rectangle 39"/>
            <p:cNvSpPr/>
            <p:nvPr/>
          </p:nvSpPr>
          <p:spPr>
            <a:xfrm>
              <a:off x="5372100" y="704850"/>
              <a:ext cx="1600200" cy="800100"/>
            </a:xfrm>
            <a:prstGeom prst="roundRect">
              <a:avLst>
                <a:gd name="adj" fmla="val 9524"/>
              </a:avLst>
            </a:prstGeom>
            <a:solidFill>
              <a:srgbClr val="F0FAF8"/>
            </a:solidFill>
            <a:ln w="9525">
              <a:solidFill>
                <a:srgbClr val="C2E0DA"/>
              </a:solidFill>
            </a:ln>
          </p:spPr>
        </p:sp>
        <p:grpSp>
          <p:nvGrpSpPr>
            <p:cNvPr id="46" name="Group 46"/>
            <p:cNvGrpSpPr/>
            <p:nvPr/>
          </p:nvGrpSpPr>
          <p:grpSpPr>
            <a:xfrm>
              <a:off x="5538788" y="900112"/>
              <a:ext cx="157162" cy="138113"/>
              <a:chOff x="5538788" y="900112"/>
              <a:chExt cx="157162" cy="138113"/>
            </a:xfrm>
          </p:grpSpPr>
          <p:sp>
            <p:nvSpPr>
              <p:cNvPr id="40" name="Freeform 40"/>
              <p:cNvSpPr/>
              <p:nvPr/>
            </p:nvSpPr>
            <p:spPr>
              <a:xfrm>
                <a:off x="5538788" y="900112"/>
                <a:ext cx="38100" cy="23812"/>
              </a:xfrm>
              <a:custGeom>
                <a:avLst/>
                <a:gdLst/>
                <a:ahLst/>
                <a:cxnLst/>
                <a:rect l="l" t="t" r="r" b="b"/>
                <a:pathLst>
                  <a:path w="38100" h="23812">
                    <a:moveTo>
                      <a:pt x="0" y="9525"/>
                    </a:moveTo>
                    <a:lnTo>
                      <a:pt x="14288" y="23812"/>
                    </a:lnTo>
                    <a:lnTo>
                      <a:pt x="38100" y="0"/>
                    </a:lnTo>
                  </a:path>
                </a:pathLst>
              </a:custGeom>
              <a:noFill/>
              <a:ln w="19050">
                <a:solidFill>
                  <a:srgbClr val="76200F"/>
                </a:solidFill>
              </a:ln>
            </p:spPr>
          </p:sp>
          <p:sp>
            <p:nvSpPr>
              <p:cNvPr id="41" name="Freeform 41"/>
              <p:cNvSpPr/>
              <p:nvPr/>
            </p:nvSpPr>
            <p:spPr>
              <a:xfrm>
                <a:off x="5538788" y="957262"/>
                <a:ext cx="38100" cy="23812"/>
              </a:xfrm>
              <a:custGeom>
                <a:avLst/>
                <a:gdLst/>
                <a:ahLst/>
                <a:cxnLst/>
                <a:rect l="l" t="t" r="r" b="b"/>
                <a:pathLst>
                  <a:path w="38100" h="23812">
                    <a:moveTo>
                      <a:pt x="0" y="9525"/>
                    </a:moveTo>
                    <a:lnTo>
                      <a:pt x="14288" y="23812"/>
                    </a:lnTo>
                    <a:lnTo>
                      <a:pt x="38100" y="0"/>
                    </a:lnTo>
                  </a:path>
                </a:pathLst>
              </a:custGeom>
              <a:noFill/>
              <a:ln w="19050">
                <a:solidFill>
                  <a:srgbClr val="76200F"/>
                </a:solidFill>
              </a:ln>
            </p:spPr>
          </p:sp>
          <p:sp>
            <p:nvSpPr>
              <p:cNvPr id="42" name="Freeform 42"/>
              <p:cNvSpPr/>
              <p:nvPr/>
            </p:nvSpPr>
            <p:spPr>
              <a:xfrm>
                <a:off x="5538788" y="1014412"/>
                <a:ext cx="38100" cy="23812"/>
              </a:xfrm>
              <a:custGeom>
                <a:avLst/>
                <a:gdLst/>
                <a:ahLst/>
                <a:cxnLst/>
                <a:rect l="l" t="t" r="r" b="b"/>
                <a:pathLst>
                  <a:path w="38100" h="23812">
                    <a:moveTo>
                      <a:pt x="0" y="9525"/>
                    </a:moveTo>
                    <a:lnTo>
                      <a:pt x="14288" y="23812"/>
                    </a:lnTo>
                    <a:lnTo>
                      <a:pt x="38100" y="0"/>
                    </a:lnTo>
                  </a:path>
                </a:pathLst>
              </a:custGeom>
              <a:noFill/>
              <a:ln w="19050">
                <a:solidFill>
                  <a:srgbClr val="76200F"/>
                </a:solidFill>
              </a:ln>
            </p:spPr>
          </p:sp>
          <p:sp>
            <p:nvSpPr>
              <p:cNvPr id="43" name="Freeform 43"/>
              <p:cNvSpPr/>
              <p:nvPr/>
            </p:nvSpPr>
            <p:spPr>
              <a:xfrm>
                <a:off x="5610225" y="914400"/>
                <a:ext cx="85725" cy="9525"/>
              </a:xfrm>
              <a:custGeom>
                <a:avLst/>
                <a:gdLst/>
                <a:ahLst/>
                <a:cxnLst/>
                <a:rect l="l" t="t" r="r" b="b"/>
                <a:pathLst>
                  <a:path w="85725" h="9525">
                    <a:moveTo>
                      <a:pt x="0" y="0"/>
                    </a:moveTo>
                    <a:lnTo>
                      <a:pt x="85725" y="0"/>
                    </a:lnTo>
                  </a:path>
                </a:pathLst>
              </a:custGeom>
              <a:noFill/>
              <a:ln w="19050">
                <a:solidFill>
                  <a:srgbClr val="76200F"/>
                </a:solidFill>
              </a:ln>
            </p:spPr>
          </p:sp>
          <p:sp>
            <p:nvSpPr>
              <p:cNvPr id="44" name="Freeform 44"/>
              <p:cNvSpPr/>
              <p:nvPr/>
            </p:nvSpPr>
            <p:spPr>
              <a:xfrm>
                <a:off x="5610225" y="971550"/>
                <a:ext cx="85725" cy="9525"/>
              </a:xfrm>
              <a:custGeom>
                <a:avLst/>
                <a:gdLst/>
                <a:ahLst/>
                <a:cxnLst/>
                <a:rect l="l" t="t" r="r" b="b"/>
                <a:pathLst>
                  <a:path w="85725" h="9525">
                    <a:moveTo>
                      <a:pt x="0" y="0"/>
                    </a:moveTo>
                    <a:lnTo>
                      <a:pt x="85725" y="0"/>
                    </a:lnTo>
                  </a:path>
                </a:pathLst>
              </a:custGeom>
              <a:noFill/>
              <a:ln w="19050">
                <a:solidFill>
                  <a:srgbClr val="76200F"/>
                </a:solidFill>
              </a:ln>
            </p:spPr>
          </p:sp>
          <p:sp>
            <p:nvSpPr>
              <p:cNvPr id="45" name="Freeform 45"/>
              <p:cNvSpPr/>
              <p:nvPr/>
            </p:nvSpPr>
            <p:spPr>
              <a:xfrm>
                <a:off x="5610225" y="1028700"/>
                <a:ext cx="85725" cy="9525"/>
              </a:xfrm>
              <a:custGeom>
                <a:avLst/>
                <a:gdLst/>
                <a:ahLst/>
                <a:cxnLst/>
                <a:rect l="l" t="t" r="r" b="b"/>
                <a:pathLst>
                  <a:path w="85725" h="9525">
                    <a:moveTo>
                      <a:pt x="0" y="0"/>
                    </a:moveTo>
                    <a:lnTo>
                      <a:pt x="85725" y="0"/>
                    </a:lnTo>
                  </a:path>
                </a:pathLst>
              </a:custGeom>
              <a:noFill/>
              <a:ln w="19050">
                <a:solidFill>
                  <a:srgbClr val="76200F"/>
                </a:solidFill>
              </a:ln>
            </p:spPr>
          </p:sp>
        </p:grpSp>
        <p:sp>
          <p:nvSpPr>
            <p:cNvPr id="47" name="TextBox 47"/>
            <p:cNvSpPr txBox="1"/>
            <p:nvPr/>
          </p:nvSpPr>
          <p:spPr>
            <a:xfrm>
              <a:off x="5822823" y="833914"/>
              <a:ext cx="641663" cy="249364"/>
            </a:xfrm>
            <a:prstGeom prst="rect">
              <a:avLst/>
            </a:prstGeom>
            <a:noFill/>
            <a:ln>
              <a:noFill/>
            </a:ln>
          </p:spPr>
          <p:txBody>
            <a:bodyPr wrap="none" lIns="0" tIns="0" rIns="0" bIns="0" anchor="t" anchorCtr="0">
              <a:spAutoFit/>
            </a:bodyPr>
            <a:lstStyle/>
            <a:p>
              <a:pPr algn="l"/>
              <a:r>
                <a:rPr lang="zh-CN" sz="1280" b="1" dirty="0">
                  <a:solidFill>
                    <a:srgbClr val="76200F"/>
                  </a:solidFill>
                  <a:latin typeface="+mn-lt"/>
                  <a:ea typeface="+mn-ea"/>
                  <a:cs typeface="+mn-cs"/>
                </a:rPr>
                <a:t>7​</a:t>
              </a:r>
              <a:r>
                <a:rPr lang="zh-CN" sz="820" b="1" dirty="0">
                  <a:solidFill>
                    <a:srgbClr val="76200F"/>
                  </a:solidFill>
                  <a:latin typeface="+mn-lt"/>
                  <a:ea typeface="+mn-ea"/>
                  <a:cs typeface="+mn-cs"/>
                </a:rPr>
                <a:t xml:space="preserve"> 项维度​</a:t>
              </a:r>
            </a:p>
          </p:txBody>
        </p:sp>
        <p:sp>
          <p:nvSpPr>
            <p:cNvPr id="48" name="TextBox 48"/>
            <p:cNvSpPr txBox="1"/>
            <p:nvPr/>
          </p:nvSpPr>
          <p:spPr>
            <a:xfrm>
              <a:off x="5500688" y="1195388"/>
              <a:ext cx="413385" cy="147638"/>
            </a:xfrm>
            <a:prstGeom prst="rect">
              <a:avLst/>
            </a:prstGeom>
            <a:noFill/>
            <a:ln>
              <a:noFill/>
            </a:ln>
          </p:spPr>
          <p:txBody>
            <a:bodyPr wrap="none" lIns="0" tIns="0" rIns="0" bIns="0" anchor="t" anchorCtr="0">
              <a:spAutoFit/>
            </a:bodyPr>
            <a:lstStyle/>
            <a:p>
              <a:pPr algn="l"/>
              <a:r>
                <a:rPr lang="zh-CN" sz="750" dirty="0">
                  <a:solidFill>
                    <a:srgbClr val="514340"/>
                  </a:solidFill>
                  <a:latin typeface="+mn-lt"/>
                  <a:ea typeface="+mn-ea"/>
                  <a:cs typeface="+mn-cs"/>
                </a:rPr>
                <a:t>系统对比</a:t>
              </a:r>
            </a:p>
          </p:txBody>
        </p:sp>
      </p:grpSp>
      <p:grpSp>
        <p:nvGrpSpPr>
          <p:cNvPr id="83" name="scatter-chart"/>
          <p:cNvGrpSpPr/>
          <p:nvPr/>
        </p:nvGrpSpPr>
        <p:grpSpPr>
          <a:xfrm>
            <a:off x="6960210" y="721995"/>
            <a:ext cx="3998303" cy="1703785"/>
            <a:chOff x="6960210" y="721995"/>
            <a:chExt cx="3998303" cy="1703785"/>
          </a:xfrm>
        </p:grpSpPr>
        <p:sp>
          <p:nvSpPr>
            <p:cNvPr id="50" name="TextBox 50"/>
            <p:cNvSpPr txBox="1"/>
            <p:nvPr/>
          </p:nvSpPr>
          <p:spPr>
            <a:xfrm>
              <a:off x="7119938" y="721995"/>
              <a:ext cx="1922004" cy="176212"/>
            </a:xfrm>
            <a:prstGeom prst="rect">
              <a:avLst/>
            </a:prstGeom>
            <a:noFill/>
            <a:ln>
              <a:noFill/>
            </a:ln>
          </p:spPr>
          <p:txBody>
            <a:bodyPr wrap="none" lIns="0" tIns="0" rIns="0" bIns="0" anchor="t" anchorCtr="0">
              <a:spAutoFit/>
            </a:bodyPr>
            <a:lstStyle/>
            <a:p>
              <a:pPr algn="l"/>
              <a:r>
                <a:rPr lang="zh-CN" sz="900" b="1" dirty="0">
                  <a:solidFill>
                    <a:srgbClr val="331712"/>
                  </a:solidFill>
                  <a:latin typeface="+mn-lt"/>
                  <a:ea typeface="+mn-ea"/>
                  <a:cs typeface="+mn-cs"/>
                </a:rPr>
                <a:t>场景分布：客流规模 × 金融关联度​</a:t>
              </a:r>
            </a:p>
          </p:txBody>
        </p:sp>
        <p:sp>
          <p:nvSpPr>
            <p:cNvPr id="51" name="Rectangle 51"/>
            <p:cNvSpPr/>
            <p:nvPr/>
          </p:nvSpPr>
          <p:spPr>
            <a:xfrm>
              <a:off x="9124950" y="933450"/>
              <a:ext cx="1828800" cy="600075"/>
            </a:xfrm>
            <a:prstGeom prst="rect">
              <a:avLst/>
            </a:prstGeom>
            <a:solidFill>
              <a:srgbClr val="E4F3F0">
                <a:alpha val="80000"/>
              </a:srgbClr>
            </a:solidFill>
            <a:ln>
              <a:noFill/>
            </a:ln>
          </p:spPr>
        </p:sp>
        <p:sp>
          <p:nvSpPr>
            <p:cNvPr id="52" name="Rectangle 52"/>
            <p:cNvSpPr/>
            <p:nvPr/>
          </p:nvSpPr>
          <p:spPr>
            <a:xfrm>
              <a:off x="7296150" y="933450"/>
              <a:ext cx="3657600" cy="1181100"/>
            </a:xfrm>
            <a:prstGeom prst="rect">
              <a:avLst/>
            </a:prstGeom>
            <a:noFill/>
            <a:ln w="9525">
              <a:solidFill>
                <a:srgbClr val="C2E0DA"/>
              </a:solidFill>
            </a:ln>
          </p:spPr>
        </p:sp>
        <p:sp>
          <p:nvSpPr>
            <p:cNvPr id="53" name="Line 53"/>
            <p:cNvSpPr/>
            <p:nvPr/>
          </p:nvSpPr>
          <p:spPr>
            <a:xfrm>
              <a:off x="7296150" y="1524000"/>
              <a:ext cx="3657600" cy="9525"/>
            </a:xfrm>
            <a:custGeom>
              <a:avLst/>
              <a:gdLst/>
              <a:ahLst/>
              <a:cxnLst/>
              <a:rect l="l" t="t" r="r" b="b"/>
              <a:pathLst>
                <a:path w="3657600" h="9525">
                  <a:moveTo>
                    <a:pt x="0" y="0"/>
                  </a:moveTo>
                  <a:lnTo>
                    <a:pt x="3657600" y="0"/>
                  </a:lnTo>
                </a:path>
              </a:pathLst>
            </a:custGeom>
            <a:noFill/>
            <a:ln w="9525">
              <a:solidFill>
                <a:srgbClr val="E2EEEB"/>
              </a:solidFill>
            </a:ln>
          </p:spPr>
        </p:sp>
        <p:sp>
          <p:nvSpPr>
            <p:cNvPr id="54" name="Line 54"/>
            <p:cNvSpPr/>
            <p:nvPr/>
          </p:nvSpPr>
          <p:spPr>
            <a:xfrm>
              <a:off x="9124950" y="933450"/>
              <a:ext cx="9525" cy="1181100"/>
            </a:xfrm>
            <a:custGeom>
              <a:avLst/>
              <a:gdLst/>
              <a:ahLst/>
              <a:cxnLst/>
              <a:rect l="l" t="t" r="r" b="b"/>
              <a:pathLst>
                <a:path w="9525" h="1181100">
                  <a:moveTo>
                    <a:pt x="0" y="0"/>
                  </a:moveTo>
                  <a:lnTo>
                    <a:pt x="0" y="1181100"/>
                  </a:lnTo>
                </a:path>
              </a:pathLst>
            </a:custGeom>
            <a:noFill/>
            <a:ln w="9525">
              <a:solidFill>
                <a:srgbClr val="E2EEEB"/>
              </a:solidFill>
            </a:ln>
          </p:spPr>
        </p:sp>
        <p:sp>
          <p:nvSpPr>
            <p:cNvPr id="55" name="TextBox 55"/>
            <p:cNvSpPr txBox="1"/>
            <p:nvPr/>
          </p:nvSpPr>
          <p:spPr>
            <a:xfrm>
              <a:off x="7123646" y="917734"/>
              <a:ext cx="101067" cy="133350"/>
            </a:xfrm>
            <a:prstGeom prst="rect">
              <a:avLst/>
            </a:prstGeom>
            <a:noFill/>
            <a:ln>
              <a:noFill/>
            </a:ln>
          </p:spPr>
          <p:txBody>
            <a:bodyPr wrap="none" lIns="0" tIns="0" rIns="0" bIns="0" anchor="t" anchorCtr="0">
              <a:spAutoFit/>
            </a:bodyPr>
            <a:lstStyle/>
            <a:p>
              <a:pPr algn="r"/>
              <a:r>
                <a:rPr lang="zh-CN" sz="680" dirty="0">
                  <a:solidFill>
                    <a:srgbClr val="73615E"/>
                  </a:solidFill>
                  <a:latin typeface="+mn-lt"/>
                  <a:ea typeface="+mn-ea"/>
                  <a:cs typeface="+mn-cs"/>
                </a:rPr>
                <a:t>高</a:t>
              </a:r>
            </a:p>
          </p:txBody>
        </p:sp>
        <p:sp>
          <p:nvSpPr>
            <p:cNvPr id="56" name="TextBox 56"/>
            <p:cNvSpPr txBox="1"/>
            <p:nvPr/>
          </p:nvSpPr>
          <p:spPr>
            <a:xfrm>
              <a:off x="7123646" y="1489234"/>
              <a:ext cx="101067" cy="133350"/>
            </a:xfrm>
            <a:prstGeom prst="rect">
              <a:avLst/>
            </a:prstGeom>
            <a:noFill/>
            <a:ln>
              <a:noFill/>
            </a:ln>
          </p:spPr>
          <p:txBody>
            <a:bodyPr wrap="none" lIns="0" tIns="0" rIns="0" bIns="0" anchor="t" anchorCtr="0">
              <a:spAutoFit/>
            </a:bodyPr>
            <a:lstStyle/>
            <a:p>
              <a:pPr algn="r"/>
              <a:r>
                <a:rPr lang="zh-CN" sz="680" dirty="0">
                  <a:solidFill>
                    <a:srgbClr val="73615E"/>
                  </a:solidFill>
                  <a:latin typeface="+mn-lt"/>
                  <a:ea typeface="+mn-ea"/>
                  <a:cs typeface="+mn-cs"/>
                </a:rPr>
                <a:t>中</a:t>
              </a:r>
            </a:p>
          </p:txBody>
        </p:sp>
        <p:sp>
          <p:nvSpPr>
            <p:cNvPr id="57" name="TextBox 57"/>
            <p:cNvSpPr txBox="1"/>
            <p:nvPr/>
          </p:nvSpPr>
          <p:spPr>
            <a:xfrm>
              <a:off x="7123646" y="2060734"/>
              <a:ext cx="101067" cy="133350"/>
            </a:xfrm>
            <a:prstGeom prst="rect">
              <a:avLst/>
            </a:prstGeom>
            <a:noFill/>
            <a:ln>
              <a:noFill/>
            </a:ln>
          </p:spPr>
          <p:txBody>
            <a:bodyPr wrap="none" lIns="0" tIns="0" rIns="0" bIns="0" anchor="t" anchorCtr="0">
              <a:spAutoFit/>
            </a:bodyPr>
            <a:lstStyle/>
            <a:p>
              <a:pPr algn="r"/>
              <a:r>
                <a:rPr lang="zh-CN" sz="680" dirty="0">
                  <a:solidFill>
                    <a:srgbClr val="73615E"/>
                  </a:solidFill>
                  <a:latin typeface="+mn-lt"/>
                  <a:ea typeface="+mn-ea"/>
                  <a:cs typeface="+mn-cs"/>
                </a:rPr>
                <a:t>低</a:t>
              </a:r>
            </a:p>
          </p:txBody>
        </p:sp>
        <p:sp>
          <p:nvSpPr>
            <p:cNvPr id="58" name="TextBox 58"/>
            <p:cNvSpPr txBox="1"/>
            <p:nvPr/>
          </p:nvSpPr>
          <p:spPr>
            <a:xfrm>
              <a:off x="7291388" y="2175034"/>
              <a:ext cx="101067" cy="133350"/>
            </a:xfrm>
            <a:prstGeom prst="rect">
              <a:avLst/>
            </a:prstGeom>
            <a:noFill/>
            <a:ln>
              <a:noFill/>
            </a:ln>
          </p:spPr>
          <p:txBody>
            <a:bodyPr wrap="none" lIns="0" tIns="0" rIns="0" bIns="0" anchor="t" anchorCtr="0">
              <a:spAutoFit/>
            </a:bodyPr>
            <a:lstStyle/>
            <a:p>
              <a:pPr algn="l"/>
              <a:r>
                <a:rPr lang="zh-CN" sz="680" dirty="0">
                  <a:solidFill>
                    <a:srgbClr val="73615E"/>
                  </a:solidFill>
                  <a:latin typeface="+mn-lt"/>
                  <a:ea typeface="+mn-ea"/>
                  <a:cs typeface="+mn-cs"/>
                </a:rPr>
                <a:t>低</a:t>
              </a:r>
            </a:p>
          </p:txBody>
        </p:sp>
        <p:sp>
          <p:nvSpPr>
            <p:cNvPr id="59" name="TextBox 59"/>
            <p:cNvSpPr txBox="1"/>
            <p:nvPr/>
          </p:nvSpPr>
          <p:spPr>
            <a:xfrm>
              <a:off x="9074417" y="2175034"/>
              <a:ext cx="101067" cy="133350"/>
            </a:xfrm>
            <a:prstGeom prst="rect">
              <a:avLst/>
            </a:prstGeom>
            <a:noFill/>
            <a:ln>
              <a:noFill/>
            </a:ln>
          </p:spPr>
          <p:txBody>
            <a:bodyPr wrap="none" lIns="0" tIns="0" rIns="0" bIns="0" anchor="t" anchorCtr="0">
              <a:spAutoFit/>
            </a:bodyPr>
            <a:lstStyle/>
            <a:p>
              <a:pPr algn="ctr"/>
              <a:r>
                <a:rPr lang="zh-CN" sz="680" dirty="0">
                  <a:solidFill>
                    <a:srgbClr val="73615E"/>
                  </a:solidFill>
                  <a:latin typeface="+mn-lt"/>
                  <a:ea typeface="+mn-ea"/>
                  <a:cs typeface="+mn-cs"/>
                </a:rPr>
                <a:t>中</a:t>
              </a:r>
            </a:p>
          </p:txBody>
        </p:sp>
        <p:sp>
          <p:nvSpPr>
            <p:cNvPr id="60" name="TextBox 60"/>
            <p:cNvSpPr txBox="1"/>
            <p:nvPr/>
          </p:nvSpPr>
          <p:spPr>
            <a:xfrm>
              <a:off x="10857446" y="2175034"/>
              <a:ext cx="101067" cy="133350"/>
            </a:xfrm>
            <a:prstGeom prst="rect">
              <a:avLst/>
            </a:prstGeom>
            <a:noFill/>
            <a:ln>
              <a:noFill/>
            </a:ln>
          </p:spPr>
          <p:txBody>
            <a:bodyPr wrap="none" lIns="0" tIns="0" rIns="0" bIns="0" anchor="t" anchorCtr="0">
              <a:spAutoFit/>
            </a:bodyPr>
            <a:lstStyle/>
            <a:p>
              <a:pPr algn="r"/>
              <a:r>
                <a:rPr lang="zh-CN" sz="680" dirty="0">
                  <a:solidFill>
                    <a:srgbClr val="73615E"/>
                  </a:solidFill>
                  <a:latin typeface="+mn-lt"/>
                  <a:ea typeface="+mn-ea"/>
                  <a:cs typeface="+mn-cs"/>
                </a:rPr>
                <a:t>高</a:t>
              </a:r>
            </a:p>
          </p:txBody>
        </p:sp>
        <p:sp>
          <p:nvSpPr>
            <p:cNvPr id="61" name="TextBox 61"/>
            <p:cNvSpPr txBox="1"/>
            <p:nvPr/>
          </p:nvSpPr>
          <p:spPr>
            <a:xfrm>
              <a:off x="8881237" y="2285286"/>
              <a:ext cx="48742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金融关联度</a:t>
              </a:r>
            </a:p>
          </p:txBody>
        </p:sp>
        <p:sp>
          <p:nvSpPr>
            <p:cNvPr id="62" name="TextBox 62"/>
            <p:cNvSpPr txBox="1"/>
            <p:nvPr/>
          </p:nvSpPr>
          <p:spPr>
            <a:xfrm rot="-5400000">
              <a:off x="6960210" y="1453753"/>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客流规模</a:t>
              </a:r>
            </a:p>
          </p:txBody>
        </p:sp>
        <p:sp>
          <p:nvSpPr>
            <p:cNvPr id="63" name="Ellipse 63"/>
            <p:cNvSpPr/>
            <p:nvPr/>
          </p:nvSpPr>
          <p:spPr>
            <a:xfrm>
              <a:off x="7572375" y="1057275"/>
              <a:ext cx="95250" cy="95250"/>
            </a:xfrm>
            <a:prstGeom prst="ellipse">
              <a:avLst/>
            </a:prstGeom>
            <a:solidFill>
              <a:srgbClr val="76200F"/>
            </a:solidFill>
            <a:ln>
              <a:noFill/>
            </a:ln>
          </p:spPr>
        </p:sp>
        <p:sp>
          <p:nvSpPr>
            <p:cNvPr id="64" name="TextBox 64"/>
            <p:cNvSpPr txBox="1"/>
            <p:nvPr/>
          </p:nvSpPr>
          <p:spPr>
            <a:xfrm>
              <a:off x="7710488" y="1060609"/>
              <a:ext cx="375691"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商园市集</a:t>
              </a:r>
            </a:p>
          </p:txBody>
        </p:sp>
        <p:sp>
          <p:nvSpPr>
            <p:cNvPr id="65" name="Ellipse 65"/>
            <p:cNvSpPr/>
            <p:nvPr/>
          </p:nvSpPr>
          <p:spPr>
            <a:xfrm>
              <a:off x="8334375" y="1152525"/>
              <a:ext cx="95250" cy="95250"/>
            </a:xfrm>
            <a:prstGeom prst="ellipse">
              <a:avLst/>
            </a:prstGeom>
            <a:solidFill>
              <a:srgbClr val="76200F"/>
            </a:solidFill>
            <a:ln>
              <a:noFill/>
            </a:ln>
          </p:spPr>
        </p:sp>
        <p:sp>
          <p:nvSpPr>
            <p:cNvPr id="66" name="TextBox 66"/>
            <p:cNvSpPr txBox="1"/>
            <p:nvPr/>
          </p:nvSpPr>
          <p:spPr>
            <a:xfrm>
              <a:off x="8472488" y="1155859"/>
              <a:ext cx="375691"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文旅节庆</a:t>
              </a:r>
            </a:p>
          </p:txBody>
        </p:sp>
        <p:sp>
          <p:nvSpPr>
            <p:cNvPr id="67" name="Ellipse 67"/>
            <p:cNvSpPr/>
            <p:nvPr/>
          </p:nvSpPr>
          <p:spPr>
            <a:xfrm>
              <a:off x="10334625" y="981075"/>
              <a:ext cx="95250" cy="95250"/>
            </a:xfrm>
            <a:prstGeom prst="ellipse">
              <a:avLst/>
            </a:prstGeom>
            <a:solidFill>
              <a:srgbClr val="76200F"/>
            </a:solidFill>
            <a:ln>
              <a:noFill/>
            </a:ln>
          </p:spPr>
        </p:sp>
        <p:sp>
          <p:nvSpPr>
            <p:cNvPr id="68" name="TextBox 68"/>
            <p:cNvSpPr txBox="1"/>
            <p:nvPr/>
          </p:nvSpPr>
          <p:spPr>
            <a:xfrm>
              <a:off x="10472738" y="984409"/>
              <a:ext cx="375691"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体育赛事</a:t>
              </a:r>
            </a:p>
          </p:txBody>
        </p:sp>
        <p:sp>
          <p:nvSpPr>
            <p:cNvPr id="69" name="Ellipse 69"/>
            <p:cNvSpPr/>
            <p:nvPr/>
          </p:nvSpPr>
          <p:spPr>
            <a:xfrm>
              <a:off x="9972675" y="1381125"/>
              <a:ext cx="95250" cy="95250"/>
            </a:xfrm>
            <a:prstGeom prst="ellipse">
              <a:avLst/>
            </a:prstGeom>
            <a:solidFill>
              <a:srgbClr val="76200F"/>
            </a:solidFill>
            <a:ln>
              <a:noFill/>
            </a:ln>
          </p:spPr>
        </p:sp>
        <p:sp>
          <p:nvSpPr>
            <p:cNvPr id="70" name="TextBox 70"/>
            <p:cNvSpPr txBox="1"/>
            <p:nvPr/>
          </p:nvSpPr>
          <p:spPr>
            <a:xfrm>
              <a:off x="9382671" y="1384459"/>
              <a:ext cx="375691" cy="133350"/>
            </a:xfrm>
            <a:prstGeom prst="rect">
              <a:avLst/>
            </a:prstGeom>
            <a:noFill/>
            <a:ln>
              <a:noFill/>
            </a:ln>
          </p:spPr>
          <p:txBody>
            <a:bodyPr wrap="none" lIns="0" tIns="0" rIns="0" bIns="0" anchor="t" anchorCtr="0">
              <a:spAutoFit/>
            </a:bodyPr>
            <a:lstStyle/>
            <a:p>
              <a:pPr algn="r"/>
              <a:r>
                <a:rPr lang="zh-CN" sz="680" dirty="0">
                  <a:solidFill>
                    <a:srgbClr val="514340"/>
                  </a:solidFill>
                  <a:latin typeface="+mn-lt"/>
                  <a:ea typeface="+mn-ea"/>
                  <a:cs typeface="+mn-cs"/>
                </a:rPr>
                <a:t>园区企业</a:t>
              </a:r>
            </a:p>
          </p:txBody>
        </p:sp>
        <p:sp>
          <p:nvSpPr>
            <p:cNvPr id="71" name="Ellipse 71"/>
            <p:cNvSpPr/>
            <p:nvPr/>
          </p:nvSpPr>
          <p:spPr>
            <a:xfrm>
              <a:off x="7572375" y="1514475"/>
              <a:ext cx="95250" cy="95250"/>
            </a:xfrm>
            <a:prstGeom prst="ellipse">
              <a:avLst/>
            </a:prstGeom>
            <a:solidFill>
              <a:srgbClr val="76200F"/>
            </a:solidFill>
            <a:ln>
              <a:noFill/>
            </a:ln>
          </p:spPr>
        </p:sp>
        <p:sp>
          <p:nvSpPr>
            <p:cNvPr id="72" name="TextBox 72"/>
            <p:cNvSpPr txBox="1"/>
            <p:nvPr/>
          </p:nvSpPr>
          <p:spPr>
            <a:xfrm>
              <a:off x="7710488" y="1517809"/>
              <a:ext cx="375691"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社区生活</a:t>
              </a:r>
            </a:p>
          </p:txBody>
        </p:sp>
        <p:sp>
          <p:nvSpPr>
            <p:cNvPr id="73" name="Ellipse 73"/>
            <p:cNvSpPr/>
            <p:nvPr/>
          </p:nvSpPr>
          <p:spPr>
            <a:xfrm>
              <a:off x="8715375" y="1590675"/>
              <a:ext cx="95250" cy="95250"/>
            </a:xfrm>
            <a:prstGeom prst="ellipse">
              <a:avLst/>
            </a:prstGeom>
            <a:solidFill>
              <a:srgbClr val="76200F"/>
            </a:solidFill>
            <a:ln>
              <a:noFill/>
            </a:ln>
          </p:spPr>
        </p:sp>
        <p:sp>
          <p:nvSpPr>
            <p:cNvPr id="74" name="TextBox 74"/>
            <p:cNvSpPr txBox="1"/>
            <p:nvPr/>
          </p:nvSpPr>
          <p:spPr>
            <a:xfrm>
              <a:off x="8853488" y="1594009"/>
              <a:ext cx="375691"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校园青春</a:t>
              </a:r>
            </a:p>
          </p:txBody>
        </p:sp>
        <p:sp>
          <p:nvSpPr>
            <p:cNvPr id="75" name="Ellipse 75"/>
            <p:cNvSpPr/>
            <p:nvPr/>
          </p:nvSpPr>
          <p:spPr>
            <a:xfrm>
              <a:off x="8429625" y="1876425"/>
              <a:ext cx="95250" cy="95250"/>
            </a:xfrm>
            <a:prstGeom prst="ellipse">
              <a:avLst/>
            </a:prstGeom>
            <a:solidFill>
              <a:srgbClr val="76200F"/>
            </a:solidFill>
            <a:ln>
              <a:noFill/>
            </a:ln>
          </p:spPr>
        </p:sp>
        <p:sp>
          <p:nvSpPr>
            <p:cNvPr id="76" name="TextBox 76"/>
            <p:cNvSpPr txBox="1"/>
            <p:nvPr/>
          </p:nvSpPr>
          <p:spPr>
            <a:xfrm>
              <a:off x="8567738" y="1879759"/>
              <a:ext cx="375691"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汽车出行</a:t>
              </a:r>
            </a:p>
          </p:txBody>
        </p:sp>
        <p:sp>
          <p:nvSpPr>
            <p:cNvPr id="77" name="Ellipse 77"/>
            <p:cNvSpPr/>
            <p:nvPr/>
          </p:nvSpPr>
          <p:spPr>
            <a:xfrm>
              <a:off x="9363075" y="1952625"/>
              <a:ext cx="95250" cy="95250"/>
            </a:xfrm>
            <a:prstGeom prst="ellipse">
              <a:avLst/>
            </a:prstGeom>
            <a:solidFill>
              <a:srgbClr val="76200F"/>
            </a:solidFill>
            <a:ln>
              <a:noFill/>
            </a:ln>
          </p:spPr>
        </p:sp>
        <p:sp>
          <p:nvSpPr>
            <p:cNvPr id="78" name="TextBox 78"/>
            <p:cNvSpPr txBox="1"/>
            <p:nvPr/>
          </p:nvSpPr>
          <p:spPr>
            <a:xfrm>
              <a:off x="8944521" y="1955959"/>
              <a:ext cx="375691" cy="133350"/>
            </a:xfrm>
            <a:prstGeom prst="rect">
              <a:avLst/>
            </a:prstGeom>
            <a:noFill/>
            <a:ln>
              <a:noFill/>
            </a:ln>
          </p:spPr>
          <p:txBody>
            <a:bodyPr wrap="none" lIns="0" tIns="0" rIns="0" bIns="0" anchor="t" anchorCtr="0">
              <a:spAutoFit/>
            </a:bodyPr>
            <a:lstStyle/>
            <a:p>
              <a:pPr algn="r"/>
              <a:r>
                <a:rPr lang="zh-CN" sz="680" dirty="0">
                  <a:solidFill>
                    <a:srgbClr val="514340"/>
                  </a:solidFill>
                  <a:latin typeface="+mn-lt"/>
                  <a:ea typeface="+mn-ea"/>
                  <a:cs typeface="+mn-cs"/>
                </a:rPr>
                <a:t>养老康养</a:t>
              </a:r>
            </a:p>
          </p:txBody>
        </p:sp>
        <p:sp>
          <p:nvSpPr>
            <p:cNvPr id="79" name="Rectangle 79"/>
            <p:cNvSpPr/>
            <p:nvPr/>
          </p:nvSpPr>
          <p:spPr>
            <a:xfrm>
              <a:off x="9925050" y="1695450"/>
              <a:ext cx="1028700" cy="419100"/>
            </a:xfrm>
            <a:prstGeom prst="roundRect">
              <a:avLst>
                <a:gd name="adj" fmla="val 11364"/>
              </a:avLst>
            </a:prstGeom>
            <a:solidFill>
              <a:srgbClr val="5D190B"/>
            </a:solidFill>
            <a:ln>
              <a:noFill/>
            </a:ln>
          </p:spPr>
        </p:sp>
        <p:sp>
          <p:nvSpPr>
            <p:cNvPr id="80" name="TextBox 80"/>
            <p:cNvSpPr txBox="1"/>
            <p:nvPr/>
          </p:nvSpPr>
          <p:spPr>
            <a:xfrm>
              <a:off x="10151936" y="1783080"/>
              <a:ext cx="574929"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同一客流规模下</a:t>
              </a:r>
            </a:p>
          </p:txBody>
        </p:sp>
        <p:sp>
          <p:nvSpPr>
            <p:cNvPr id="81" name="TextBox 81"/>
            <p:cNvSpPr txBox="1"/>
            <p:nvPr/>
          </p:nvSpPr>
          <p:spPr>
            <a:xfrm>
              <a:off x="10071164" y="1887855"/>
              <a:ext cx="736473" cy="119062"/>
            </a:xfrm>
            <a:prstGeom prst="rect">
              <a:avLst/>
            </a:prstGeom>
            <a:noFill/>
            <a:ln>
              <a:noFill/>
            </a:ln>
          </p:spPr>
          <p:txBody>
            <a:bodyPr wrap="none" lIns="0" tIns="0" rIns="0" bIns="0" anchor="t" anchorCtr="0">
              <a:spAutoFit/>
            </a:bodyPr>
            <a:lstStyle/>
            <a:p>
              <a:pPr algn="ctr"/>
              <a:r>
                <a:rPr lang="zh-CN" sz="600" dirty="0">
                  <a:solidFill>
                    <a:srgbClr val="BFE4DD"/>
                  </a:solidFill>
                  <a:latin typeface="+mn-lt"/>
                  <a:ea typeface="+mn-ea"/>
                  <a:cs typeface="+mn-cs"/>
                </a:rPr>
                <a:t>金融关联度差异显著</a:t>
              </a:r>
            </a:p>
          </p:txBody>
        </p:sp>
        <p:sp>
          <p:nvSpPr>
            <p:cNvPr id="82" name="TextBox 82"/>
            <p:cNvSpPr txBox="1"/>
            <p:nvPr/>
          </p:nvSpPr>
          <p:spPr>
            <a:xfrm>
              <a:off x="10079846" y="1992630"/>
              <a:ext cx="71910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高潜客流 ≠ 高价值​</a:t>
              </a:r>
            </a:p>
          </p:txBody>
        </p:sp>
      </p:grpSp>
      <p:grpSp>
        <p:nvGrpSpPr>
          <p:cNvPr id="281" name="scene-table"/>
          <p:cNvGrpSpPr/>
          <p:nvPr/>
        </p:nvGrpSpPr>
        <p:grpSpPr>
          <a:xfrm>
            <a:off x="342900" y="2419350"/>
            <a:ext cx="11487150" cy="4248150"/>
            <a:chOff x="342900" y="2419350"/>
            <a:chExt cx="11487150" cy="4248150"/>
          </a:xfrm>
        </p:grpSpPr>
        <p:sp>
          <p:nvSpPr>
            <p:cNvPr id="84" name="Rectangle 84"/>
            <p:cNvSpPr/>
            <p:nvPr/>
          </p:nvSpPr>
          <p:spPr>
            <a:xfrm>
              <a:off x="342900" y="2419350"/>
              <a:ext cx="11487150" cy="285750"/>
            </a:xfrm>
            <a:prstGeom prst="rect">
              <a:avLst/>
            </a:prstGeom>
            <a:solidFill>
              <a:srgbClr val="5D190B"/>
            </a:solidFill>
            <a:ln>
              <a:noFill/>
            </a:ln>
          </p:spPr>
        </p:sp>
        <p:sp>
          <p:nvSpPr>
            <p:cNvPr id="85" name="TextBox 85"/>
            <p:cNvSpPr txBox="1"/>
            <p:nvPr/>
          </p:nvSpPr>
          <p:spPr>
            <a:xfrm>
              <a:off x="716191" y="25167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场景类型</a:t>
              </a:r>
            </a:p>
          </p:txBody>
        </p:sp>
        <p:sp>
          <p:nvSpPr>
            <p:cNvPr id="86" name="TextBox 86"/>
            <p:cNvSpPr txBox="1"/>
            <p:nvPr/>
          </p:nvSpPr>
          <p:spPr>
            <a:xfrm>
              <a:off x="1897291" y="25167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典型客群</a:t>
              </a:r>
            </a:p>
          </p:txBody>
        </p:sp>
        <p:sp>
          <p:nvSpPr>
            <p:cNvPr id="87" name="TextBox 87"/>
            <p:cNvSpPr txBox="1"/>
            <p:nvPr/>
          </p:nvSpPr>
          <p:spPr>
            <a:xfrm>
              <a:off x="3238843" y="251674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线下展位任务</a:t>
              </a:r>
            </a:p>
          </p:txBody>
        </p:sp>
        <p:sp>
          <p:nvSpPr>
            <p:cNvPr id="88" name="TextBox 88"/>
            <p:cNvSpPr txBox="1"/>
            <p:nvPr/>
          </p:nvSpPr>
          <p:spPr>
            <a:xfrm>
              <a:off x="4905718" y="251674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线上承接入口</a:t>
              </a:r>
            </a:p>
          </p:txBody>
        </p:sp>
        <p:sp>
          <p:nvSpPr>
            <p:cNvPr id="89" name="TextBox 89"/>
            <p:cNvSpPr txBox="1"/>
            <p:nvPr/>
          </p:nvSpPr>
          <p:spPr>
            <a:xfrm>
              <a:off x="6544018" y="251674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核心金融产品</a:t>
              </a:r>
            </a:p>
          </p:txBody>
        </p:sp>
        <p:sp>
          <p:nvSpPr>
            <p:cNvPr id="90" name="TextBox 90"/>
            <p:cNvSpPr txBox="1"/>
            <p:nvPr/>
          </p:nvSpPr>
          <p:spPr>
            <a:xfrm>
              <a:off x="8107591" y="25167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合作伙伴</a:t>
              </a:r>
            </a:p>
          </p:txBody>
        </p:sp>
        <p:sp>
          <p:nvSpPr>
            <p:cNvPr id="91" name="TextBox 91"/>
            <p:cNvSpPr txBox="1"/>
            <p:nvPr/>
          </p:nvSpPr>
          <p:spPr>
            <a:xfrm>
              <a:off x="9412516" y="25167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转化周期</a:t>
              </a:r>
            </a:p>
          </p:txBody>
        </p:sp>
        <p:sp>
          <p:nvSpPr>
            <p:cNvPr id="92" name="TextBox 92"/>
            <p:cNvSpPr txBox="1"/>
            <p:nvPr/>
          </p:nvSpPr>
          <p:spPr>
            <a:xfrm>
              <a:off x="10860316" y="25167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复制难度</a:t>
              </a:r>
            </a:p>
          </p:txBody>
        </p:sp>
        <p:grpSp>
          <p:nvGrpSpPr>
            <p:cNvPr id="280" name="scene-rows"/>
            <p:cNvGrpSpPr/>
            <p:nvPr/>
          </p:nvGrpSpPr>
          <p:grpSpPr>
            <a:xfrm>
              <a:off x="342900" y="2705100"/>
              <a:ext cx="11487150" cy="3962400"/>
              <a:chOff x="342900" y="2705100"/>
              <a:chExt cx="11487150" cy="3962400"/>
            </a:xfrm>
          </p:grpSpPr>
          <p:sp>
            <p:nvSpPr>
              <p:cNvPr id="93" name="Rectangle 93"/>
              <p:cNvSpPr/>
              <p:nvPr/>
            </p:nvSpPr>
            <p:spPr>
              <a:xfrm>
                <a:off x="342900" y="2705100"/>
                <a:ext cx="11487150" cy="495300"/>
              </a:xfrm>
              <a:prstGeom prst="rect">
                <a:avLst/>
              </a:prstGeom>
              <a:solidFill>
                <a:srgbClr val="FFFFFF"/>
              </a:solidFill>
              <a:ln w="9525">
                <a:solidFill>
                  <a:srgbClr val="E2EEEB"/>
                </a:solidFill>
              </a:ln>
            </p:spPr>
          </p:sp>
          <p:grpSp>
            <p:nvGrpSpPr>
              <p:cNvPr id="98" name="Group 98"/>
              <p:cNvGrpSpPr/>
              <p:nvPr/>
            </p:nvGrpSpPr>
            <p:grpSpPr>
              <a:xfrm>
                <a:off x="466725" y="2859881"/>
                <a:ext cx="114299" cy="128588"/>
                <a:chOff x="466725" y="2859881"/>
                <a:chExt cx="114299" cy="128588"/>
              </a:xfrm>
            </p:grpSpPr>
            <p:sp>
              <p:nvSpPr>
                <p:cNvPr id="94" name="Freeform 94"/>
                <p:cNvSpPr/>
                <p:nvPr/>
              </p:nvSpPr>
              <p:spPr>
                <a:xfrm>
                  <a:off x="466725" y="29598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95" name="Freeform 95"/>
                <p:cNvSpPr/>
                <p:nvPr/>
              </p:nvSpPr>
              <p:spPr>
                <a:xfrm>
                  <a:off x="545306" y="29598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96" name="Freeform 96"/>
                <p:cNvSpPr/>
                <p:nvPr/>
              </p:nvSpPr>
              <p:spPr>
                <a:xfrm>
                  <a:off x="466725" y="2859881"/>
                  <a:ext cx="92869" cy="100012"/>
                </a:xfrm>
                <a:custGeom>
                  <a:avLst/>
                  <a:gdLst/>
                  <a:ahLst/>
                  <a:cxnLst/>
                  <a:rect l="l" t="t" r="r" b="b"/>
                  <a:pathLst>
                    <a:path w="92869" h="100012">
                      <a:moveTo>
                        <a:pt x="92869" y="100012"/>
                      </a:moveTo>
                      <a:lnTo>
                        <a:pt x="14288" y="100012"/>
                      </a:lnTo>
                      <a:lnTo>
                        <a:pt x="14288" y="0"/>
                      </a:lnTo>
                      <a:lnTo>
                        <a:pt x="0" y="0"/>
                      </a:lnTo>
                    </a:path>
                  </a:pathLst>
                </a:custGeom>
                <a:noFill/>
                <a:ln w="14288">
                  <a:solidFill>
                    <a:srgbClr val="76200F"/>
                  </a:solidFill>
                </a:ln>
              </p:spPr>
            </p:sp>
            <p:sp>
              <p:nvSpPr>
                <p:cNvPr id="97" name="Freeform 97"/>
                <p:cNvSpPr/>
                <p:nvPr/>
              </p:nvSpPr>
              <p:spPr>
                <a:xfrm>
                  <a:off x="481012" y="2874169"/>
                  <a:ext cx="100012" cy="57150"/>
                </a:xfrm>
                <a:custGeom>
                  <a:avLst/>
                  <a:gdLst/>
                  <a:ahLst/>
                  <a:cxnLst/>
                  <a:rect l="l" t="t" r="r" b="b"/>
                  <a:pathLst>
                    <a:path w="100012" h="57150">
                      <a:moveTo>
                        <a:pt x="0" y="0"/>
                      </a:moveTo>
                      <a:lnTo>
                        <a:pt x="100012" y="7144"/>
                      </a:lnTo>
                      <a:lnTo>
                        <a:pt x="92869" y="57150"/>
                      </a:lnTo>
                      <a:lnTo>
                        <a:pt x="0" y="57150"/>
                      </a:lnTo>
                    </a:path>
                  </a:pathLst>
                </a:custGeom>
                <a:noFill/>
                <a:ln w="14288">
                  <a:solidFill>
                    <a:srgbClr val="76200F"/>
                  </a:solidFill>
                </a:ln>
              </p:spPr>
            </p:sp>
          </p:grpSp>
          <p:sp>
            <p:nvSpPr>
              <p:cNvPr id="99" name="TextBox 99"/>
              <p:cNvSpPr txBox="1"/>
              <p:nvPr/>
            </p:nvSpPr>
            <p:spPr>
              <a:xfrm>
                <a:off x="784111" y="29017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商园市集</a:t>
                </a:r>
              </a:p>
            </p:txBody>
          </p:sp>
          <p:sp>
            <p:nvSpPr>
              <p:cNvPr id="100" name="TextBox 100"/>
              <p:cNvSpPr txBox="1"/>
              <p:nvPr/>
            </p:nvSpPr>
            <p:spPr>
              <a:xfrm>
                <a:off x="1716900" y="28417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年轻白领、家庭客群</a:t>
                </a:r>
              </a:p>
            </p:txBody>
          </p:sp>
          <p:sp>
            <p:nvSpPr>
              <p:cNvPr id="101" name="TextBox 101"/>
              <p:cNvSpPr txBox="1"/>
              <p:nvPr/>
            </p:nvSpPr>
            <p:spPr>
              <a:xfrm>
                <a:off x="3174225" y="28417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品牌快闪、互动打卡</a:t>
                </a:r>
              </a:p>
            </p:txBody>
          </p:sp>
          <p:sp>
            <p:nvSpPr>
              <p:cNvPr id="102" name="TextBox 102"/>
              <p:cNvSpPr txBox="1"/>
              <p:nvPr/>
            </p:nvSpPr>
            <p:spPr>
              <a:xfrm>
                <a:off x="3174225" y="29751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消费满减、开卡有礼</a:t>
                </a:r>
              </a:p>
            </p:txBody>
          </p:sp>
          <p:sp>
            <p:nvSpPr>
              <p:cNvPr id="103" name="TextBox 103"/>
              <p:cNvSpPr txBox="1"/>
              <p:nvPr/>
            </p:nvSpPr>
            <p:spPr>
              <a:xfrm>
                <a:off x="4932642" y="284178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手机银行活动页</a:t>
                </a:r>
              </a:p>
            </p:txBody>
          </p:sp>
          <p:sp>
            <p:nvSpPr>
              <p:cNvPr id="104" name="TextBox 104"/>
              <p:cNvSpPr txBox="1"/>
              <p:nvPr/>
            </p:nvSpPr>
            <p:spPr>
              <a:xfrm>
                <a:off x="5024184" y="29751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微信小程序</a:t>
                </a:r>
              </a:p>
            </p:txBody>
          </p:sp>
          <p:sp>
            <p:nvSpPr>
              <p:cNvPr id="105" name="TextBox 105"/>
              <p:cNvSpPr txBox="1"/>
              <p:nvPr/>
            </p:nvSpPr>
            <p:spPr>
              <a:xfrm>
                <a:off x="6479400" y="28417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信用卡、数字人民币</a:t>
                </a:r>
              </a:p>
            </p:txBody>
          </p:sp>
          <p:sp>
            <p:nvSpPr>
              <p:cNvPr id="106" name="TextBox 106"/>
              <p:cNvSpPr txBox="1"/>
              <p:nvPr/>
            </p:nvSpPr>
            <p:spPr>
              <a:xfrm>
                <a:off x="6708254" y="29751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消费分期</a:t>
                </a:r>
              </a:p>
            </p:txBody>
          </p:sp>
          <p:sp>
            <p:nvSpPr>
              <p:cNvPr id="107" name="TextBox 107"/>
              <p:cNvSpPr txBox="1"/>
              <p:nvPr/>
            </p:nvSpPr>
            <p:spPr>
              <a:xfrm>
                <a:off x="8110284" y="284178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商业综合体</a:t>
                </a:r>
              </a:p>
            </p:txBody>
          </p:sp>
          <p:sp>
            <p:nvSpPr>
              <p:cNvPr id="108" name="TextBox 108"/>
              <p:cNvSpPr txBox="1"/>
              <p:nvPr/>
            </p:nvSpPr>
            <p:spPr>
              <a:xfrm>
                <a:off x="8156054" y="29751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连锁品牌</a:t>
                </a:r>
              </a:p>
            </p:txBody>
          </p:sp>
          <p:sp>
            <p:nvSpPr>
              <p:cNvPr id="109" name="TextBox 109"/>
              <p:cNvSpPr txBox="1"/>
              <p:nvPr/>
            </p:nvSpPr>
            <p:spPr>
              <a:xfrm>
                <a:off x="9958388" y="2837736"/>
                <a:ext cx="325895" cy="140494"/>
              </a:xfrm>
              <a:prstGeom prst="rect">
                <a:avLst/>
              </a:prstGeom>
              <a:noFill/>
              <a:ln>
                <a:noFill/>
              </a:ln>
            </p:spPr>
            <p:txBody>
              <a:bodyPr wrap="none" lIns="0" tIns="0" rIns="0" bIns="0" anchor="t" anchorCtr="0">
                <a:spAutoFit/>
              </a:bodyPr>
              <a:lstStyle/>
              <a:p>
                <a:pPr algn="l"/>
                <a:r>
                  <a:rPr lang="zh-CN" sz="710" b="1" dirty="0">
                    <a:solidFill>
                      <a:srgbClr val="5D190B"/>
                    </a:solidFill>
                    <a:latin typeface="+mn-lt"/>
                    <a:ea typeface="+mn-ea"/>
                    <a:cs typeface="+mn-cs"/>
                  </a:rPr>
                  <a:t>1-7天​</a:t>
                </a:r>
              </a:p>
            </p:txBody>
          </p:sp>
          <p:sp>
            <p:nvSpPr>
              <p:cNvPr id="110" name="Rectangle 110"/>
              <p:cNvSpPr/>
              <p:nvPr/>
            </p:nvSpPr>
            <p:spPr>
              <a:xfrm>
                <a:off x="9963150" y="2990850"/>
                <a:ext cx="819150" cy="66675"/>
              </a:xfrm>
              <a:prstGeom prst="roundRect">
                <a:avLst>
                  <a:gd name="adj" fmla="val 50000"/>
                </a:avLst>
              </a:prstGeom>
              <a:solidFill>
                <a:srgbClr val="E4F1EE"/>
              </a:solidFill>
              <a:ln>
                <a:noFill/>
              </a:ln>
            </p:spPr>
          </p:sp>
          <p:sp>
            <p:nvSpPr>
              <p:cNvPr id="111" name="Rectangle 111"/>
              <p:cNvSpPr/>
              <p:nvPr/>
            </p:nvSpPr>
            <p:spPr>
              <a:xfrm>
                <a:off x="9963150" y="2990850"/>
                <a:ext cx="85725" cy="66675"/>
              </a:xfrm>
              <a:prstGeom prst="roundRect">
                <a:avLst>
                  <a:gd name="adj" fmla="val 50000"/>
                </a:avLst>
              </a:prstGeom>
              <a:solidFill>
                <a:srgbClr val="76200F"/>
              </a:solidFill>
              <a:ln>
                <a:noFill/>
              </a:ln>
            </p:spPr>
          </p:sp>
          <p:sp>
            <p:nvSpPr>
              <p:cNvPr id="112" name="TextBox 112"/>
              <p:cNvSpPr txBox="1"/>
              <p:nvPr/>
            </p:nvSpPr>
            <p:spPr>
              <a:xfrm>
                <a:off x="10593705" y="2909888"/>
                <a:ext cx="110490" cy="147638"/>
              </a:xfrm>
              <a:prstGeom prst="rect">
                <a:avLst/>
              </a:prstGeom>
              <a:noFill/>
              <a:ln>
                <a:noFill/>
              </a:ln>
            </p:spPr>
            <p:txBody>
              <a:bodyPr wrap="none" lIns="0" tIns="0" rIns="0" bIns="0" anchor="t" anchorCtr="0">
                <a:spAutoFit/>
              </a:bodyPr>
              <a:lstStyle/>
              <a:p>
                <a:pPr algn="ctr"/>
                <a:r>
                  <a:rPr lang="zh-CN" sz="750" b="1" dirty="0">
                    <a:solidFill>
                      <a:srgbClr val="76200F"/>
                    </a:solidFill>
                    <a:latin typeface="+mn-lt"/>
                    <a:ea typeface="+mn-ea"/>
                    <a:cs typeface="+mn-cs"/>
                  </a:rPr>
                  <a:t>低</a:t>
                </a:r>
              </a:p>
            </p:txBody>
          </p:sp>
          <p:sp>
            <p:nvSpPr>
              <p:cNvPr id="113" name="Ellipse 113"/>
              <p:cNvSpPr/>
              <p:nvPr/>
            </p:nvSpPr>
            <p:spPr>
              <a:xfrm>
                <a:off x="10868025" y="2914650"/>
                <a:ext cx="95250" cy="95250"/>
              </a:xfrm>
              <a:prstGeom prst="ellipse">
                <a:avLst/>
              </a:prstGeom>
              <a:solidFill>
                <a:srgbClr val="76200F"/>
              </a:solidFill>
              <a:ln>
                <a:noFill/>
              </a:ln>
            </p:spPr>
          </p:sp>
          <p:sp>
            <p:nvSpPr>
              <p:cNvPr id="114" name="Ellipse 114"/>
              <p:cNvSpPr/>
              <p:nvPr/>
            </p:nvSpPr>
            <p:spPr>
              <a:xfrm>
                <a:off x="11020425" y="2914650"/>
                <a:ext cx="95250" cy="95250"/>
              </a:xfrm>
              <a:prstGeom prst="ellipse">
                <a:avLst/>
              </a:prstGeom>
              <a:noFill/>
              <a:ln w="9525">
                <a:solidFill>
                  <a:srgbClr val="D6A59C"/>
                </a:solidFill>
              </a:ln>
            </p:spPr>
          </p:sp>
          <p:sp>
            <p:nvSpPr>
              <p:cNvPr id="115" name="Ellipse 115"/>
              <p:cNvSpPr/>
              <p:nvPr/>
            </p:nvSpPr>
            <p:spPr>
              <a:xfrm>
                <a:off x="11172825" y="2914650"/>
                <a:ext cx="95250" cy="95250"/>
              </a:xfrm>
              <a:prstGeom prst="ellipse">
                <a:avLst/>
              </a:prstGeom>
              <a:noFill/>
              <a:ln w="9525">
                <a:solidFill>
                  <a:srgbClr val="D6A59C"/>
                </a:solidFill>
              </a:ln>
            </p:spPr>
          </p:sp>
          <p:sp>
            <p:nvSpPr>
              <p:cNvPr id="116" name="Rectangle 116"/>
              <p:cNvSpPr/>
              <p:nvPr/>
            </p:nvSpPr>
            <p:spPr>
              <a:xfrm>
                <a:off x="342900" y="3200400"/>
                <a:ext cx="11487150" cy="495300"/>
              </a:xfrm>
              <a:prstGeom prst="rect">
                <a:avLst/>
              </a:prstGeom>
              <a:solidFill>
                <a:srgbClr val="EFF8F6"/>
              </a:solidFill>
              <a:ln w="9525">
                <a:solidFill>
                  <a:srgbClr val="E2EEEB"/>
                </a:solidFill>
              </a:ln>
            </p:spPr>
          </p:sp>
          <p:grpSp>
            <p:nvGrpSpPr>
              <p:cNvPr id="119" name="Group 119"/>
              <p:cNvGrpSpPr/>
              <p:nvPr/>
            </p:nvGrpSpPr>
            <p:grpSpPr>
              <a:xfrm>
                <a:off x="473869" y="3355855"/>
                <a:ext cx="100012" cy="127913"/>
                <a:chOff x="473869" y="3355855"/>
                <a:chExt cx="100012" cy="127913"/>
              </a:xfrm>
            </p:grpSpPr>
            <p:sp>
              <p:nvSpPr>
                <p:cNvPr id="117" name="Freeform 117"/>
                <p:cNvSpPr/>
                <p:nvPr/>
              </p:nvSpPr>
              <p:spPr>
                <a:xfrm>
                  <a:off x="473869" y="3355855"/>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4288">
                  <a:solidFill>
                    <a:srgbClr val="76200F"/>
                  </a:solidFill>
                </a:ln>
              </p:spPr>
            </p:sp>
            <p:sp>
              <p:nvSpPr>
                <p:cNvPr id="118" name="Freeform 118"/>
                <p:cNvSpPr/>
                <p:nvPr/>
              </p:nvSpPr>
              <p:spPr>
                <a:xfrm>
                  <a:off x="473869" y="3433762"/>
                  <a:ext cx="9525" cy="50006"/>
                </a:xfrm>
                <a:custGeom>
                  <a:avLst/>
                  <a:gdLst/>
                  <a:ahLst/>
                  <a:cxnLst/>
                  <a:rect l="l" t="t" r="r" b="b"/>
                  <a:pathLst>
                    <a:path w="9525" h="50006">
                      <a:moveTo>
                        <a:pt x="0" y="50006"/>
                      </a:moveTo>
                      <a:lnTo>
                        <a:pt x="0" y="0"/>
                      </a:lnTo>
                    </a:path>
                  </a:pathLst>
                </a:custGeom>
                <a:noFill/>
                <a:ln w="14288">
                  <a:solidFill>
                    <a:srgbClr val="76200F"/>
                  </a:solidFill>
                </a:ln>
              </p:spPr>
            </p:sp>
          </p:grpSp>
          <p:sp>
            <p:nvSpPr>
              <p:cNvPr id="120" name="TextBox 120"/>
              <p:cNvSpPr txBox="1"/>
              <p:nvPr/>
            </p:nvSpPr>
            <p:spPr>
              <a:xfrm>
                <a:off x="784111" y="33970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文旅节庆</a:t>
                </a:r>
              </a:p>
            </p:txBody>
          </p:sp>
          <p:sp>
            <p:nvSpPr>
              <p:cNvPr id="121" name="TextBox 121"/>
              <p:cNvSpPr txBox="1"/>
              <p:nvPr/>
            </p:nvSpPr>
            <p:spPr>
              <a:xfrm>
                <a:off x="1808442" y="333708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游客、亲子家庭</a:t>
                </a:r>
              </a:p>
            </p:txBody>
          </p:sp>
          <p:sp>
            <p:nvSpPr>
              <p:cNvPr id="122" name="TextBox 122"/>
              <p:cNvSpPr txBox="1"/>
              <p:nvPr/>
            </p:nvSpPr>
            <p:spPr>
              <a:xfrm>
                <a:off x="1945754" y="34704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本地居民</a:t>
                </a:r>
              </a:p>
            </p:txBody>
          </p:sp>
          <p:sp>
            <p:nvSpPr>
              <p:cNvPr id="123" name="TextBox 123"/>
              <p:cNvSpPr txBox="1"/>
              <p:nvPr/>
            </p:nvSpPr>
            <p:spPr>
              <a:xfrm>
                <a:off x="3174225" y="33370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主题展位、文创集章</a:t>
                </a:r>
              </a:p>
            </p:txBody>
          </p:sp>
          <p:sp>
            <p:nvSpPr>
              <p:cNvPr id="124" name="TextBox 124"/>
              <p:cNvSpPr txBox="1"/>
              <p:nvPr/>
            </p:nvSpPr>
            <p:spPr>
              <a:xfrm>
                <a:off x="3174225" y="34704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景区权益、支付优惠</a:t>
                </a:r>
              </a:p>
            </p:txBody>
          </p:sp>
          <p:sp>
            <p:nvSpPr>
              <p:cNvPr id="125" name="TextBox 125"/>
              <p:cNvSpPr txBox="1"/>
              <p:nvPr/>
            </p:nvSpPr>
            <p:spPr>
              <a:xfrm>
                <a:off x="5069954" y="33370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文旅专区</a:t>
                </a:r>
              </a:p>
            </p:txBody>
          </p:sp>
          <p:sp>
            <p:nvSpPr>
              <p:cNvPr id="126" name="TextBox 126"/>
              <p:cNvSpPr txBox="1"/>
              <p:nvPr/>
            </p:nvSpPr>
            <p:spPr>
              <a:xfrm>
                <a:off x="4653440" y="3470434"/>
                <a:ext cx="1208720"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微信生态（公众号/小程序）​</a:t>
                </a:r>
              </a:p>
            </p:txBody>
          </p:sp>
          <p:sp>
            <p:nvSpPr>
              <p:cNvPr id="127" name="TextBox 127"/>
              <p:cNvSpPr txBox="1"/>
              <p:nvPr/>
            </p:nvSpPr>
            <p:spPr>
              <a:xfrm>
                <a:off x="6570942" y="333708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借记卡、文旅卡</a:t>
                </a:r>
              </a:p>
            </p:txBody>
          </p:sp>
          <p:sp>
            <p:nvSpPr>
              <p:cNvPr id="128" name="TextBox 128"/>
              <p:cNvSpPr txBox="1"/>
              <p:nvPr/>
            </p:nvSpPr>
            <p:spPr>
              <a:xfrm>
                <a:off x="6479400" y="34704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旅游分期、贵宾权益</a:t>
                </a:r>
              </a:p>
            </p:txBody>
          </p:sp>
          <p:sp>
            <p:nvSpPr>
              <p:cNvPr id="129" name="TextBox 129"/>
              <p:cNvSpPr txBox="1"/>
              <p:nvPr/>
            </p:nvSpPr>
            <p:spPr>
              <a:xfrm>
                <a:off x="8156054" y="33370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文旅集团</a:t>
                </a:r>
              </a:p>
            </p:txBody>
          </p:sp>
          <p:sp>
            <p:nvSpPr>
              <p:cNvPr id="130" name="TextBox 130"/>
              <p:cNvSpPr txBox="1"/>
              <p:nvPr/>
            </p:nvSpPr>
            <p:spPr>
              <a:xfrm>
                <a:off x="8032473" y="3470434"/>
                <a:ext cx="622854"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景区 / 文旅局​</a:t>
                </a:r>
              </a:p>
            </p:txBody>
          </p:sp>
          <p:sp>
            <p:nvSpPr>
              <p:cNvPr id="131" name="TextBox 131"/>
              <p:cNvSpPr txBox="1"/>
              <p:nvPr/>
            </p:nvSpPr>
            <p:spPr>
              <a:xfrm>
                <a:off x="9958388" y="3333036"/>
                <a:ext cx="436291" cy="140494"/>
              </a:xfrm>
              <a:prstGeom prst="rect">
                <a:avLst/>
              </a:prstGeom>
              <a:noFill/>
              <a:ln>
                <a:noFill/>
              </a:ln>
            </p:spPr>
            <p:txBody>
              <a:bodyPr wrap="none" lIns="0" tIns="0" rIns="0" bIns="0" anchor="t" anchorCtr="0">
                <a:spAutoFit/>
              </a:bodyPr>
              <a:lstStyle/>
              <a:p>
                <a:pPr algn="l"/>
                <a:r>
                  <a:rPr lang="zh-CN" sz="710" b="1" dirty="0">
                    <a:solidFill>
                      <a:srgbClr val="5D190B"/>
                    </a:solidFill>
                    <a:latin typeface="+mn-lt"/>
                    <a:ea typeface="+mn-ea"/>
                    <a:cs typeface="+mn-cs"/>
                  </a:rPr>
                  <a:t>7-30天​​</a:t>
                </a:r>
              </a:p>
            </p:txBody>
          </p:sp>
          <p:sp>
            <p:nvSpPr>
              <p:cNvPr id="132" name="Rectangle 132"/>
              <p:cNvSpPr/>
              <p:nvPr/>
            </p:nvSpPr>
            <p:spPr>
              <a:xfrm>
                <a:off x="9963150" y="3486150"/>
                <a:ext cx="819150" cy="66675"/>
              </a:xfrm>
              <a:prstGeom prst="roundRect">
                <a:avLst>
                  <a:gd name="adj" fmla="val 50000"/>
                </a:avLst>
              </a:prstGeom>
              <a:solidFill>
                <a:srgbClr val="E4F1EE"/>
              </a:solidFill>
              <a:ln>
                <a:noFill/>
              </a:ln>
            </p:spPr>
          </p:sp>
          <p:sp>
            <p:nvSpPr>
              <p:cNvPr id="133" name="Rectangle 133"/>
              <p:cNvSpPr/>
              <p:nvPr/>
            </p:nvSpPr>
            <p:spPr>
              <a:xfrm>
                <a:off x="9963150" y="3486150"/>
                <a:ext cx="371475" cy="66675"/>
              </a:xfrm>
              <a:prstGeom prst="roundRect">
                <a:avLst>
                  <a:gd name="adj" fmla="val 50000"/>
                </a:avLst>
              </a:prstGeom>
              <a:solidFill>
                <a:srgbClr val="76200F"/>
              </a:solidFill>
              <a:ln>
                <a:noFill/>
              </a:ln>
            </p:spPr>
          </p:sp>
          <p:sp>
            <p:nvSpPr>
              <p:cNvPr id="134" name="TextBox 134"/>
              <p:cNvSpPr txBox="1"/>
              <p:nvPr/>
            </p:nvSpPr>
            <p:spPr>
              <a:xfrm>
                <a:off x="10593705" y="3405188"/>
                <a:ext cx="110490" cy="147638"/>
              </a:xfrm>
              <a:prstGeom prst="rect">
                <a:avLst/>
              </a:prstGeom>
              <a:noFill/>
              <a:ln>
                <a:noFill/>
              </a:ln>
            </p:spPr>
            <p:txBody>
              <a:bodyPr wrap="none" lIns="0" tIns="0" rIns="0" bIns="0" anchor="t" anchorCtr="0">
                <a:spAutoFit/>
              </a:bodyPr>
              <a:lstStyle/>
              <a:p>
                <a:pPr algn="ctr"/>
                <a:r>
                  <a:rPr lang="zh-CN" sz="750" b="1" dirty="0">
                    <a:solidFill>
                      <a:srgbClr val="76200F"/>
                    </a:solidFill>
                    <a:latin typeface="+mn-lt"/>
                    <a:ea typeface="+mn-ea"/>
                    <a:cs typeface="+mn-cs"/>
                  </a:rPr>
                  <a:t>中</a:t>
                </a:r>
              </a:p>
            </p:txBody>
          </p:sp>
          <p:sp>
            <p:nvSpPr>
              <p:cNvPr id="135" name="Ellipse 135"/>
              <p:cNvSpPr/>
              <p:nvPr/>
            </p:nvSpPr>
            <p:spPr>
              <a:xfrm>
                <a:off x="10868025" y="3409950"/>
                <a:ext cx="95250" cy="95250"/>
              </a:xfrm>
              <a:prstGeom prst="ellipse">
                <a:avLst/>
              </a:prstGeom>
              <a:solidFill>
                <a:srgbClr val="76200F"/>
              </a:solidFill>
              <a:ln>
                <a:noFill/>
              </a:ln>
            </p:spPr>
          </p:sp>
          <p:sp>
            <p:nvSpPr>
              <p:cNvPr id="136" name="Ellipse 136"/>
              <p:cNvSpPr/>
              <p:nvPr/>
            </p:nvSpPr>
            <p:spPr>
              <a:xfrm>
                <a:off x="11020425" y="3409950"/>
                <a:ext cx="95250" cy="95250"/>
              </a:xfrm>
              <a:prstGeom prst="ellipse">
                <a:avLst/>
              </a:prstGeom>
              <a:solidFill>
                <a:srgbClr val="76200F"/>
              </a:solidFill>
              <a:ln>
                <a:noFill/>
              </a:ln>
            </p:spPr>
          </p:sp>
          <p:sp>
            <p:nvSpPr>
              <p:cNvPr id="137" name="Ellipse 137"/>
              <p:cNvSpPr/>
              <p:nvPr/>
            </p:nvSpPr>
            <p:spPr>
              <a:xfrm>
                <a:off x="11172825" y="3409950"/>
                <a:ext cx="95250" cy="95250"/>
              </a:xfrm>
              <a:prstGeom prst="ellipse">
                <a:avLst/>
              </a:prstGeom>
              <a:noFill/>
              <a:ln w="9525">
                <a:solidFill>
                  <a:srgbClr val="D6A59C"/>
                </a:solidFill>
              </a:ln>
            </p:spPr>
          </p:sp>
          <p:sp>
            <p:nvSpPr>
              <p:cNvPr id="138" name="Rectangle 138"/>
              <p:cNvSpPr/>
              <p:nvPr/>
            </p:nvSpPr>
            <p:spPr>
              <a:xfrm>
                <a:off x="342900" y="3695700"/>
                <a:ext cx="11487150" cy="495300"/>
              </a:xfrm>
              <a:prstGeom prst="rect">
                <a:avLst/>
              </a:prstGeom>
              <a:solidFill>
                <a:srgbClr val="FFFFFF"/>
              </a:solidFill>
              <a:ln w="9525">
                <a:solidFill>
                  <a:srgbClr val="E2EEEB"/>
                </a:solidFill>
              </a:ln>
            </p:spPr>
          </p:sp>
          <p:grpSp>
            <p:nvGrpSpPr>
              <p:cNvPr id="142" name="Group 142"/>
              <p:cNvGrpSpPr/>
              <p:nvPr/>
            </p:nvGrpSpPr>
            <p:grpSpPr>
              <a:xfrm>
                <a:off x="462453" y="3850481"/>
                <a:ext cx="122830" cy="127802"/>
                <a:chOff x="462453" y="3850481"/>
                <a:chExt cx="122830" cy="127802"/>
              </a:xfrm>
            </p:grpSpPr>
            <p:sp>
              <p:nvSpPr>
                <p:cNvPr id="139" name="Freeform 139"/>
                <p:cNvSpPr/>
                <p:nvPr/>
              </p:nvSpPr>
              <p:spPr>
                <a:xfrm>
                  <a:off x="481012" y="3850481"/>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76200F"/>
                  </a:solidFill>
                </a:ln>
              </p:spPr>
            </p:sp>
            <p:sp>
              <p:nvSpPr>
                <p:cNvPr id="140" name="Freeform 140"/>
                <p:cNvSpPr/>
                <p:nvPr/>
              </p:nvSpPr>
              <p:spPr>
                <a:xfrm>
                  <a:off x="523875" y="3914775"/>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76200F"/>
                  </a:solidFill>
                </a:ln>
              </p:spPr>
            </p:sp>
            <p:sp>
              <p:nvSpPr>
                <p:cNvPr id="141" name="Freeform 141"/>
                <p:cNvSpPr/>
                <p:nvPr/>
              </p:nvSpPr>
              <p:spPr>
                <a:xfrm>
                  <a:off x="462453" y="3914775"/>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76200F"/>
                  </a:solidFill>
                </a:ln>
              </p:spPr>
            </p:sp>
          </p:grpSp>
          <p:sp>
            <p:nvSpPr>
              <p:cNvPr id="143" name="TextBox 143"/>
              <p:cNvSpPr txBox="1"/>
              <p:nvPr/>
            </p:nvSpPr>
            <p:spPr>
              <a:xfrm>
                <a:off x="784111" y="38923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体育赛事</a:t>
                </a:r>
              </a:p>
            </p:txBody>
          </p:sp>
          <p:sp>
            <p:nvSpPr>
              <p:cNvPr id="144" name="TextBox 144"/>
              <p:cNvSpPr txBox="1"/>
              <p:nvPr/>
            </p:nvSpPr>
            <p:spPr>
              <a:xfrm>
                <a:off x="1899984" y="383238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体育爱好者</a:t>
                </a:r>
              </a:p>
            </p:txBody>
          </p:sp>
          <p:sp>
            <p:nvSpPr>
              <p:cNvPr id="145" name="TextBox 145"/>
              <p:cNvSpPr txBox="1"/>
              <p:nvPr/>
            </p:nvSpPr>
            <p:spPr>
              <a:xfrm>
                <a:off x="1945754" y="39657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年轻男性</a:t>
                </a:r>
              </a:p>
            </p:txBody>
          </p:sp>
          <p:sp>
            <p:nvSpPr>
              <p:cNvPr id="146" name="TextBox 146"/>
              <p:cNvSpPr txBox="1"/>
              <p:nvPr/>
            </p:nvSpPr>
            <p:spPr>
              <a:xfrm>
                <a:off x="3174225" y="38323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赛事互动、合影打卡</a:t>
                </a:r>
              </a:p>
            </p:txBody>
          </p:sp>
          <p:sp>
            <p:nvSpPr>
              <p:cNvPr id="147" name="TextBox 147"/>
              <p:cNvSpPr txBox="1"/>
              <p:nvPr/>
            </p:nvSpPr>
            <p:spPr>
              <a:xfrm>
                <a:off x="3174225" y="39657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周边礼品、积分兑换</a:t>
                </a:r>
              </a:p>
            </p:txBody>
          </p:sp>
          <p:sp>
            <p:nvSpPr>
              <p:cNvPr id="148" name="TextBox 148"/>
              <p:cNvSpPr txBox="1"/>
              <p:nvPr/>
            </p:nvSpPr>
            <p:spPr>
              <a:xfrm>
                <a:off x="5069954" y="38323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直播平台</a:t>
                </a:r>
              </a:p>
            </p:txBody>
          </p:sp>
          <p:sp>
            <p:nvSpPr>
              <p:cNvPr id="149" name="TextBox 149"/>
              <p:cNvSpPr txBox="1"/>
              <p:nvPr/>
            </p:nvSpPr>
            <p:spPr>
              <a:xfrm>
                <a:off x="5024184" y="39657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赛事专属页</a:t>
                </a:r>
              </a:p>
            </p:txBody>
          </p:sp>
          <p:sp>
            <p:nvSpPr>
              <p:cNvPr id="150" name="TextBox 150"/>
              <p:cNvSpPr txBox="1"/>
              <p:nvPr/>
            </p:nvSpPr>
            <p:spPr>
              <a:xfrm>
                <a:off x="6479400" y="38323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信用卡、运动主题卡</a:t>
                </a:r>
              </a:p>
            </p:txBody>
          </p:sp>
          <p:sp>
            <p:nvSpPr>
              <p:cNvPr id="151" name="TextBox 151"/>
              <p:cNvSpPr txBox="1"/>
              <p:nvPr/>
            </p:nvSpPr>
            <p:spPr>
              <a:xfrm>
                <a:off x="6570942" y="396573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分期、积分权益</a:t>
                </a:r>
              </a:p>
            </p:txBody>
          </p:sp>
          <p:sp>
            <p:nvSpPr>
              <p:cNvPr id="152" name="TextBox 152"/>
              <p:cNvSpPr txBox="1"/>
              <p:nvPr/>
            </p:nvSpPr>
            <p:spPr>
              <a:xfrm>
                <a:off x="8156054" y="38323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体育协会</a:t>
                </a:r>
              </a:p>
            </p:txBody>
          </p:sp>
          <p:sp>
            <p:nvSpPr>
              <p:cNvPr id="153" name="TextBox 153"/>
              <p:cNvSpPr txBox="1"/>
              <p:nvPr/>
            </p:nvSpPr>
            <p:spPr>
              <a:xfrm>
                <a:off x="8110284" y="39657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赛事运营方</a:t>
                </a:r>
              </a:p>
            </p:txBody>
          </p:sp>
          <p:sp>
            <p:nvSpPr>
              <p:cNvPr id="154" name="TextBox 154"/>
              <p:cNvSpPr txBox="1"/>
              <p:nvPr/>
            </p:nvSpPr>
            <p:spPr>
              <a:xfrm>
                <a:off x="9958388" y="3828336"/>
                <a:ext cx="436291" cy="140494"/>
              </a:xfrm>
              <a:prstGeom prst="rect">
                <a:avLst/>
              </a:prstGeom>
              <a:noFill/>
              <a:ln>
                <a:noFill/>
              </a:ln>
            </p:spPr>
            <p:txBody>
              <a:bodyPr wrap="none" lIns="0" tIns="0" rIns="0" bIns="0" anchor="t" anchorCtr="0">
                <a:spAutoFit/>
              </a:bodyPr>
              <a:lstStyle/>
              <a:p>
                <a:pPr algn="l"/>
                <a:r>
                  <a:rPr lang="zh-CN" sz="710" b="1" dirty="0">
                    <a:solidFill>
                      <a:srgbClr val="5D190B"/>
                    </a:solidFill>
                    <a:latin typeface="+mn-lt"/>
                    <a:ea typeface="+mn-ea"/>
                    <a:cs typeface="+mn-cs"/>
                  </a:rPr>
                  <a:t>7-30天​​</a:t>
                </a:r>
              </a:p>
            </p:txBody>
          </p:sp>
          <p:sp>
            <p:nvSpPr>
              <p:cNvPr id="155" name="Rectangle 155"/>
              <p:cNvSpPr/>
              <p:nvPr/>
            </p:nvSpPr>
            <p:spPr>
              <a:xfrm>
                <a:off x="9963150" y="3981450"/>
                <a:ext cx="819150" cy="66675"/>
              </a:xfrm>
              <a:prstGeom prst="roundRect">
                <a:avLst>
                  <a:gd name="adj" fmla="val 50000"/>
                </a:avLst>
              </a:prstGeom>
              <a:solidFill>
                <a:srgbClr val="E4F1EE"/>
              </a:solidFill>
              <a:ln>
                <a:noFill/>
              </a:ln>
            </p:spPr>
          </p:sp>
          <p:sp>
            <p:nvSpPr>
              <p:cNvPr id="156" name="Rectangle 156"/>
              <p:cNvSpPr/>
              <p:nvPr/>
            </p:nvSpPr>
            <p:spPr>
              <a:xfrm>
                <a:off x="9963150" y="3981450"/>
                <a:ext cx="371475" cy="66675"/>
              </a:xfrm>
              <a:prstGeom prst="roundRect">
                <a:avLst>
                  <a:gd name="adj" fmla="val 50000"/>
                </a:avLst>
              </a:prstGeom>
              <a:solidFill>
                <a:srgbClr val="76200F"/>
              </a:solidFill>
              <a:ln>
                <a:noFill/>
              </a:ln>
            </p:spPr>
          </p:sp>
          <p:sp>
            <p:nvSpPr>
              <p:cNvPr id="157" name="TextBox 157"/>
              <p:cNvSpPr txBox="1"/>
              <p:nvPr/>
            </p:nvSpPr>
            <p:spPr>
              <a:xfrm>
                <a:off x="10593705" y="3900488"/>
                <a:ext cx="110490" cy="147638"/>
              </a:xfrm>
              <a:prstGeom prst="rect">
                <a:avLst/>
              </a:prstGeom>
              <a:noFill/>
              <a:ln>
                <a:noFill/>
              </a:ln>
            </p:spPr>
            <p:txBody>
              <a:bodyPr wrap="none" lIns="0" tIns="0" rIns="0" bIns="0" anchor="t" anchorCtr="0">
                <a:spAutoFit/>
              </a:bodyPr>
              <a:lstStyle/>
              <a:p>
                <a:pPr algn="ctr"/>
                <a:r>
                  <a:rPr lang="zh-CN" sz="750" b="1" dirty="0">
                    <a:solidFill>
                      <a:srgbClr val="76200F"/>
                    </a:solidFill>
                    <a:latin typeface="+mn-lt"/>
                    <a:ea typeface="+mn-ea"/>
                    <a:cs typeface="+mn-cs"/>
                  </a:rPr>
                  <a:t>中</a:t>
                </a:r>
              </a:p>
            </p:txBody>
          </p:sp>
          <p:sp>
            <p:nvSpPr>
              <p:cNvPr id="158" name="Ellipse 158"/>
              <p:cNvSpPr/>
              <p:nvPr/>
            </p:nvSpPr>
            <p:spPr>
              <a:xfrm>
                <a:off x="10868025" y="3905250"/>
                <a:ext cx="95250" cy="95250"/>
              </a:xfrm>
              <a:prstGeom prst="ellipse">
                <a:avLst/>
              </a:prstGeom>
              <a:solidFill>
                <a:srgbClr val="76200F"/>
              </a:solidFill>
              <a:ln>
                <a:noFill/>
              </a:ln>
            </p:spPr>
          </p:sp>
          <p:sp>
            <p:nvSpPr>
              <p:cNvPr id="159" name="Ellipse 159"/>
              <p:cNvSpPr/>
              <p:nvPr/>
            </p:nvSpPr>
            <p:spPr>
              <a:xfrm>
                <a:off x="11020425" y="3905250"/>
                <a:ext cx="95250" cy="95250"/>
              </a:xfrm>
              <a:prstGeom prst="ellipse">
                <a:avLst/>
              </a:prstGeom>
              <a:solidFill>
                <a:srgbClr val="76200F"/>
              </a:solidFill>
              <a:ln>
                <a:noFill/>
              </a:ln>
            </p:spPr>
          </p:sp>
          <p:sp>
            <p:nvSpPr>
              <p:cNvPr id="160" name="Ellipse 160"/>
              <p:cNvSpPr/>
              <p:nvPr/>
            </p:nvSpPr>
            <p:spPr>
              <a:xfrm>
                <a:off x="11172825" y="3905250"/>
                <a:ext cx="95250" cy="95250"/>
              </a:xfrm>
              <a:prstGeom prst="ellipse">
                <a:avLst/>
              </a:prstGeom>
              <a:noFill/>
              <a:ln w="9525">
                <a:solidFill>
                  <a:srgbClr val="D6A59C"/>
                </a:solidFill>
              </a:ln>
            </p:spPr>
          </p:sp>
          <p:sp>
            <p:nvSpPr>
              <p:cNvPr id="161" name="Rectangle 161"/>
              <p:cNvSpPr/>
              <p:nvPr/>
            </p:nvSpPr>
            <p:spPr>
              <a:xfrm>
                <a:off x="342900" y="4191000"/>
                <a:ext cx="11487150" cy="495300"/>
              </a:xfrm>
              <a:prstGeom prst="rect">
                <a:avLst/>
              </a:prstGeom>
              <a:solidFill>
                <a:srgbClr val="EFF8F6"/>
              </a:solidFill>
              <a:ln w="9525">
                <a:solidFill>
                  <a:srgbClr val="E2EEEB"/>
                </a:solidFill>
              </a:ln>
            </p:spPr>
          </p:sp>
          <p:grpSp>
            <p:nvGrpSpPr>
              <p:cNvPr id="170" name="Group 170"/>
              <p:cNvGrpSpPr/>
              <p:nvPr/>
            </p:nvGrpSpPr>
            <p:grpSpPr>
              <a:xfrm>
                <a:off x="459581" y="4345781"/>
                <a:ext cx="130969" cy="138113"/>
                <a:chOff x="459581" y="4345781"/>
                <a:chExt cx="130969" cy="138113"/>
              </a:xfrm>
            </p:grpSpPr>
            <p:sp>
              <p:nvSpPr>
                <p:cNvPr id="162" name="Freeform 162"/>
                <p:cNvSpPr/>
                <p:nvPr/>
              </p:nvSpPr>
              <p:spPr>
                <a:xfrm>
                  <a:off x="459581" y="4474369"/>
                  <a:ext cx="128588" cy="9525"/>
                </a:xfrm>
                <a:custGeom>
                  <a:avLst/>
                  <a:gdLst/>
                  <a:ahLst/>
                  <a:cxnLst/>
                  <a:rect l="l" t="t" r="r" b="b"/>
                  <a:pathLst>
                    <a:path w="128588" h="9525">
                      <a:moveTo>
                        <a:pt x="0" y="0"/>
                      </a:moveTo>
                      <a:lnTo>
                        <a:pt x="128588" y="0"/>
                      </a:lnTo>
                    </a:path>
                  </a:pathLst>
                </a:custGeom>
                <a:noFill/>
                <a:ln w="14288">
                  <a:solidFill>
                    <a:srgbClr val="76200F"/>
                  </a:solidFill>
                </a:ln>
              </p:spPr>
            </p:sp>
            <p:sp>
              <p:nvSpPr>
                <p:cNvPr id="163" name="Freeform 163"/>
                <p:cNvSpPr/>
                <p:nvPr/>
              </p:nvSpPr>
              <p:spPr>
                <a:xfrm>
                  <a:off x="459581" y="4395788"/>
                  <a:ext cx="128588" cy="9525"/>
                </a:xfrm>
                <a:custGeom>
                  <a:avLst/>
                  <a:gdLst/>
                  <a:ahLst/>
                  <a:cxnLst/>
                  <a:rect l="l" t="t" r="r" b="b"/>
                  <a:pathLst>
                    <a:path w="128588" h="9525">
                      <a:moveTo>
                        <a:pt x="0" y="0"/>
                      </a:moveTo>
                      <a:lnTo>
                        <a:pt x="128588" y="0"/>
                      </a:lnTo>
                    </a:path>
                  </a:pathLst>
                </a:custGeom>
                <a:noFill/>
                <a:ln w="14288">
                  <a:solidFill>
                    <a:srgbClr val="76200F"/>
                  </a:solidFill>
                </a:ln>
              </p:spPr>
            </p:sp>
            <p:sp>
              <p:nvSpPr>
                <p:cNvPr id="164" name="Freeform 164"/>
                <p:cNvSpPr/>
                <p:nvPr/>
              </p:nvSpPr>
              <p:spPr>
                <a:xfrm>
                  <a:off x="473869" y="4345781"/>
                  <a:ext cx="100012" cy="21431"/>
                </a:xfrm>
                <a:custGeom>
                  <a:avLst/>
                  <a:gdLst/>
                  <a:ahLst/>
                  <a:cxnLst/>
                  <a:rect l="l" t="t" r="r" b="b"/>
                  <a:pathLst>
                    <a:path w="100012" h="21431">
                      <a:moveTo>
                        <a:pt x="0" y="21431"/>
                      </a:moveTo>
                      <a:lnTo>
                        <a:pt x="50006" y="0"/>
                      </a:lnTo>
                      <a:lnTo>
                        <a:pt x="100012" y="21431"/>
                      </a:lnTo>
                    </a:path>
                  </a:pathLst>
                </a:custGeom>
                <a:noFill/>
                <a:ln w="14288">
                  <a:solidFill>
                    <a:srgbClr val="76200F"/>
                  </a:solidFill>
                </a:ln>
              </p:spPr>
            </p:sp>
            <p:sp>
              <p:nvSpPr>
                <p:cNvPr id="165" name="Freeform 165"/>
                <p:cNvSpPr/>
                <p:nvPr/>
              </p:nvSpPr>
              <p:spPr>
                <a:xfrm>
                  <a:off x="466725" y="4395788"/>
                  <a:ext cx="9525" cy="78581"/>
                </a:xfrm>
                <a:custGeom>
                  <a:avLst/>
                  <a:gdLst/>
                  <a:ahLst/>
                  <a:cxnLst/>
                  <a:rect l="l" t="t" r="r" b="b"/>
                  <a:pathLst>
                    <a:path w="9525" h="78581">
                      <a:moveTo>
                        <a:pt x="0" y="0"/>
                      </a:moveTo>
                      <a:lnTo>
                        <a:pt x="0" y="78581"/>
                      </a:lnTo>
                    </a:path>
                  </a:pathLst>
                </a:custGeom>
                <a:noFill/>
                <a:ln w="14288">
                  <a:solidFill>
                    <a:srgbClr val="76200F"/>
                  </a:solidFill>
                </a:ln>
              </p:spPr>
            </p:sp>
            <p:sp>
              <p:nvSpPr>
                <p:cNvPr id="166" name="Freeform 166"/>
                <p:cNvSpPr/>
                <p:nvPr/>
              </p:nvSpPr>
              <p:spPr>
                <a:xfrm>
                  <a:off x="581025" y="4395788"/>
                  <a:ext cx="9525" cy="78581"/>
                </a:xfrm>
                <a:custGeom>
                  <a:avLst/>
                  <a:gdLst/>
                  <a:ahLst/>
                  <a:cxnLst/>
                  <a:rect l="l" t="t" r="r" b="b"/>
                  <a:pathLst>
                    <a:path w="9525" h="78581">
                      <a:moveTo>
                        <a:pt x="0" y="0"/>
                      </a:moveTo>
                      <a:lnTo>
                        <a:pt x="0" y="78581"/>
                      </a:lnTo>
                    </a:path>
                  </a:pathLst>
                </a:custGeom>
                <a:noFill/>
                <a:ln w="14288">
                  <a:solidFill>
                    <a:srgbClr val="76200F"/>
                  </a:solidFill>
                </a:ln>
              </p:spPr>
            </p:sp>
            <p:sp>
              <p:nvSpPr>
                <p:cNvPr id="167" name="Freeform 167"/>
                <p:cNvSpPr/>
                <p:nvPr/>
              </p:nvSpPr>
              <p:spPr>
                <a:xfrm>
                  <a:off x="495300" y="4424362"/>
                  <a:ext cx="9525" cy="21431"/>
                </a:xfrm>
                <a:custGeom>
                  <a:avLst/>
                  <a:gdLst/>
                  <a:ahLst/>
                  <a:cxnLst/>
                  <a:rect l="l" t="t" r="r" b="b"/>
                  <a:pathLst>
                    <a:path w="9525" h="21431">
                      <a:moveTo>
                        <a:pt x="0" y="0"/>
                      </a:moveTo>
                      <a:lnTo>
                        <a:pt x="0" y="21431"/>
                      </a:lnTo>
                    </a:path>
                  </a:pathLst>
                </a:custGeom>
                <a:noFill/>
                <a:ln w="14288">
                  <a:solidFill>
                    <a:srgbClr val="76200F"/>
                  </a:solidFill>
                </a:ln>
              </p:spPr>
            </p:sp>
            <p:sp>
              <p:nvSpPr>
                <p:cNvPr id="168" name="Freeform 168"/>
                <p:cNvSpPr/>
                <p:nvPr/>
              </p:nvSpPr>
              <p:spPr>
                <a:xfrm>
                  <a:off x="523875" y="4424362"/>
                  <a:ext cx="9525" cy="21431"/>
                </a:xfrm>
                <a:custGeom>
                  <a:avLst/>
                  <a:gdLst/>
                  <a:ahLst/>
                  <a:cxnLst/>
                  <a:rect l="l" t="t" r="r" b="b"/>
                  <a:pathLst>
                    <a:path w="9525" h="21431">
                      <a:moveTo>
                        <a:pt x="0" y="0"/>
                      </a:moveTo>
                      <a:lnTo>
                        <a:pt x="0" y="21431"/>
                      </a:lnTo>
                    </a:path>
                  </a:pathLst>
                </a:custGeom>
                <a:noFill/>
                <a:ln w="14288">
                  <a:solidFill>
                    <a:srgbClr val="76200F"/>
                  </a:solidFill>
                </a:ln>
              </p:spPr>
            </p:sp>
            <p:sp>
              <p:nvSpPr>
                <p:cNvPr id="169" name="Freeform 169"/>
                <p:cNvSpPr/>
                <p:nvPr/>
              </p:nvSpPr>
              <p:spPr>
                <a:xfrm>
                  <a:off x="552450" y="4424362"/>
                  <a:ext cx="9525" cy="21431"/>
                </a:xfrm>
                <a:custGeom>
                  <a:avLst/>
                  <a:gdLst/>
                  <a:ahLst/>
                  <a:cxnLst/>
                  <a:rect l="l" t="t" r="r" b="b"/>
                  <a:pathLst>
                    <a:path w="9525" h="21431">
                      <a:moveTo>
                        <a:pt x="0" y="0"/>
                      </a:moveTo>
                      <a:lnTo>
                        <a:pt x="0" y="21431"/>
                      </a:lnTo>
                    </a:path>
                  </a:pathLst>
                </a:custGeom>
                <a:noFill/>
                <a:ln w="14288">
                  <a:solidFill>
                    <a:srgbClr val="76200F"/>
                  </a:solidFill>
                </a:ln>
              </p:spPr>
            </p:sp>
          </p:grpSp>
          <p:sp>
            <p:nvSpPr>
              <p:cNvPr id="171" name="TextBox 171"/>
              <p:cNvSpPr txBox="1"/>
              <p:nvPr/>
            </p:nvSpPr>
            <p:spPr>
              <a:xfrm>
                <a:off x="784111" y="43876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园区企业</a:t>
                </a:r>
              </a:p>
            </p:txBody>
          </p:sp>
          <p:sp>
            <p:nvSpPr>
              <p:cNvPr id="172" name="TextBox 172"/>
              <p:cNvSpPr txBox="1"/>
              <p:nvPr/>
            </p:nvSpPr>
            <p:spPr>
              <a:xfrm>
                <a:off x="1945754" y="43276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企业员工</a:t>
                </a:r>
              </a:p>
            </p:txBody>
          </p:sp>
          <p:sp>
            <p:nvSpPr>
              <p:cNvPr id="173" name="TextBox 173"/>
              <p:cNvSpPr txBox="1"/>
              <p:nvPr/>
            </p:nvSpPr>
            <p:spPr>
              <a:xfrm>
                <a:off x="1945754" y="44610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园区商户</a:t>
                </a:r>
              </a:p>
            </p:txBody>
          </p:sp>
          <p:sp>
            <p:nvSpPr>
              <p:cNvPr id="174" name="TextBox 174"/>
              <p:cNvSpPr txBox="1"/>
              <p:nvPr/>
            </p:nvSpPr>
            <p:spPr>
              <a:xfrm>
                <a:off x="3174225" y="43276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金融咨询、薪酬服务</a:t>
                </a:r>
              </a:p>
            </p:txBody>
          </p:sp>
          <p:sp>
            <p:nvSpPr>
              <p:cNvPr id="175" name="TextBox 175"/>
              <p:cNvSpPr txBox="1"/>
              <p:nvPr/>
            </p:nvSpPr>
            <p:spPr>
              <a:xfrm>
                <a:off x="3174225" y="44610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员工福利、企业开户</a:t>
                </a:r>
              </a:p>
            </p:txBody>
          </p:sp>
          <p:sp>
            <p:nvSpPr>
              <p:cNvPr id="176" name="TextBox 176"/>
              <p:cNvSpPr txBox="1"/>
              <p:nvPr/>
            </p:nvSpPr>
            <p:spPr>
              <a:xfrm>
                <a:off x="5069954" y="43276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企业微信</a:t>
                </a:r>
              </a:p>
            </p:txBody>
          </p:sp>
          <p:sp>
            <p:nvSpPr>
              <p:cNvPr id="177" name="TextBox 177"/>
              <p:cNvSpPr txBox="1"/>
              <p:nvPr/>
            </p:nvSpPr>
            <p:spPr>
              <a:xfrm>
                <a:off x="4932642" y="446103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手机银行企业版</a:t>
                </a:r>
              </a:p>
            </p:txBody>
          </p:sp>
          <p:sp>
            <p:nvSpPr>
              <p:cNvPr id="178" name="TextBox 178"/>
              <p:cNvSpPr txBox="1"/>
              <p:nvPr/>
            </p:nvSpPr>
            <p:spPr>
              <a:xfrm>
                <a:off x="6525171" y="432768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代发工资、企业贷</a:t>
                </a:r>
              </a:p>
            </p:txBody>
          </p:sp>
          <p:sp>
            <p:nvSpPr>
              <p:cNvPr id="179" name="TextBox 179"/>
              <p:cNvSpPr txBox="1"/>
              <p:nvPr/>
            </p:nvSpPr>
            <p:spPr>
              <a:xfrm>
                <a:off x="6479400" y="44610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供应链金融、员工卡</a:t>
                </a:r>
              </a:p>
            </p:txBody>
          </p:sp>
          <p:sp>
            <p:nvSpPr>
              <p:cNvPr id="180" name="TextBox 180"/>
              <p:cNvSpPr txBox="1"/>
              <p:nvPr/>
            </p:nvSpPr>
            <p:spPr>
              <a:xfrm>
                <a:off x="8156054" y="43276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产业园区</a:t>
                </a:r>
              </a:p>
            </p:txBody>
          </p:sp>
          <p:sp>
            <p:nvSpPr>
              <p:cNvPr id="181" name="TextBox 181"/>
              <p:cNvSpPr txBox="1"/>
              <p:nvPr/>
            </p:nvSpPr>
            <p:spPr>
              <a:xfrm>
                <a:off x="8156054" y="44610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龙头企业</a:t>
                </a:r>
              </a:p>
            </p:txBody>
          </p:sp>
          <p:sp>
            <p:nvSpPr>
              <p:cNvPr id="182" name="TextBox 182"/>
              <p:cNvSpPr txBox="1"/>
              <p:nvPr/>
            </p:nvSpPr>
            <p:spPr>
              <a:xfrm>
                <a:off x="9958388" y="4323636"/>
                <a:ext cx="491488" cy="140494"/>
              </a:xfrm>
              <a:prstGeom prst="rect">
                <a:avLst/>
              </a:prstGeom>
              <a:noFill/>
              <a:ln>
                <a:noFill/>
              </a:ln>
            </p:spPr>
            <p:txBody>
              <a:bodyPr wrap="none" lIns="0" tIns="0" rIns="0" bIns="0" anchor="t" anchorCtr="0">
                <a:spAutoFit/>
              </a:bodyPr>
              <a:lstStyle/>
              <a:p>
                <a:pPr algn="l"/>
                <a:r>
                  <a:rPr lang="zh-CN" sz="710" b="1" dirty="0">
                    <a:solidFill>
                      <a:srgbClr val="5D190B"/>
                    </a:solidFill>
                    <a:latin typeface="+mn-lt"/>
                    <a:ea typeface="+mn-ea"/>
                    <a:cs typeface="+mn-cs"/>
                  </a:rPr>
                  <a:t>30-90天​​</a:t>
                </a:r>
              </a:p>
            </p:txBody>
          </p:sp>
          <p:sp>
            <p:nvSpPr>
              <p:cNvPr id="183" name="Rectangle 183"/>
              <p:cNvSpPr/>
              <p:nvPr/>
            </p:nvSpPr>
            <p:spPr>
              <a:xfrm>
                <a:off x="9963150" y="4476750"/>
                <a:ext cx="819150" cy="66675"/>
              </a:xfrm>
              <a:prstGeom prst="roundRect">
                <a:avLst>
                  <a:gd name="adj" fmla="val 50000"/>
                </a:avLst>
              </a:prstGeom>
              <a:solidFill>
                <a:srgbClr val="E4F1EE"/>
              </a:solidFill>
              <a:ln>
                <a:noFill/>
              </a:ln>
            </p:spPr>
          </p:sp>
          <p:sp>
            <p:nvSpPr>
              <p:cNvPr id="184" name="Rectangle 184"/>
              <p:cNvSpPr/>
              <p:nvPr/>
            </p:nvSpPr>
            <p:spPr>
              <a:xfrm>
                <a:off x="9963150" y="4476750"/>
                <a:ext cx="695325" cy="66675"/>
              </a:xfrm>
              <a:prstGeom prst="roundRect">
                <a:avLst>
                  <a:gd name="adj" fmla="val 50000"/>
                </a:avLst>
              </a:prstGeom>
              <a:solidFill>
                <a:srgbClr val="76200F"/>
              </a:solidFill>
              <a:ln>
                <a:noFill/>
              </a:ln>
            </p:spPr>
          </p:sp>
          <p:sp>
            <p:nvSpPr>
              <p:cNvPr id="185" name="TextBox 185"/>
              <p:cNvSpPr txBox="1"/>
              <p:nvPr/>
            </p:nvSpPr>
            <p:spPr>
              <a:xfrm>
                <a:off x="10593705" y="4395788"/>
                <a:ext cx="110490" cy="147638"/>
              </a:xfrm>
              <a:prstGeom prst="rect">
                <a:avLst/>
              </a:prstGeom>
              <a:noFill/>
              <a:ln>
                <a:noFill/>
              </a:ln>
            </p:spPr>
            <p:txBody>
              <a:bodyPr wrap="none" lIns="0" tIns="0" rIns="0" bIns="0" anchor="t" anchorCtr="0">
                <a:spAutoFit/>
              </a:bodyPr>
              <a:lstStyle/>
              <a:p>
                <a:pPr algn="ctr"/>
                <a:r>
                  <a:rPr lang="zh-CN" sz="750" b="1" dirty="0">
                    <a:solidFill>
                      <a:srgbClr val="76200F"/>
                    </a:solidFill>
                    <a:latin typeface="+mn-lt"/>
                    <a:ea typeface="+mn-ea"/>
                    <a:cs typeface="+mn-cs"/>
                  </a:rPr>
                  <a:t>高</a:t>
                </a:r>
              </a:p>
            </p:txBody>
          </p:sp>
          <p:sp>
            <p:nvSpPr>
              <p:cNvPr id="186" name="Ellipse 186"/>
              <p:cNvSpPr/>
              <p:nvPr/>
            </p:nvSpPr>
            <p:spPr>
              <a:xfrm>
                <a:off x="10868025" y="4400550"/>
                <a:ext cx="95250" cy="95250"/>
              </a:xfrm>
              <a:prstGeom prst="ellipse">
                <a:avLst/>
              </a:prstGeom>
              <a:solidFill>
                <a:srgbClr val="76200F"/>
              </a:solidFill>
              <a:ln>
                <a:noFill/>
              </a:ln>
            </p:spPr>
          </p:sp>
          <p:sp>
            <p:nvSpPr>
              <p:cNvPr id="187" name="Ellipse 187"/>
              <p:cNvSpPr/>
              <p:nvPr/>
            </p:nvSpPr>
            <p:spPr>
              <a:xfrm>
                <a:off x="11020425" y="4400550"/>
                <a:ext cx="95250" cy="95250"/>
              </a:xfrm>
              <a:prstGeom prst="ellipse">
                <a:avLst/>
              </a:prstGeom>
              <a:solidFill>
                <a:srgbClr val="76200F"/>
              </a:solidFill>
              <a:ln>
                <a:noFill/>
              </a:ln>
            </p:spPr>
          </p:sp>
          <p:sp>
            <p:nvSpPr>
              <p:cNvPr id="188" name="Ellipse 188"/>
              <p:cNvSpPr/>
              <p:nvPr/>
            </p:nvSpPr>
            <p:spPr>
              <a:xfrm>
                <a:off x="11172825" y="4400550"/>
                <a:ext cx="95250" cy="95250"/>
              </a:xfrm>
              <a:prstGeom prst="ellipse">
                <a:avLst/>
              </a:prstGeom>
              <a:solidFill>
                <a:srgbClr val="76200F"/>
              </a:solidFill>
              <a:ln>
                <a:noFill/>
              </a:ln>
            </p:spPr>
          </p:sp>
          <p:sp>
            <p:nvSpPr>
              <p:cNvPr id="189" name="Rectangle 189"/>
              <p:cNvSpPr/>
              <p:nvPr/>
            </p:nvSpPr>
            <p:spPr>
              <a:xfrm>
                <a:off x="342900" y="4686300"/>
                <a:ext cx="11487150" cy="495300"/>
              </a:xfrm>
              <a:prstGeom prst="rect">
                <a:avLst/>
              </a:prstGeom>
              <a:solidFill>
                <a:srgbClr val="FFFFFF"/>
              </a:solidFill>
              <a:ln w="9525">
                <a:solidFill>
                  <a:srgbClr val="E2EEEB"/>
                </a:solidFill>
              </a:ln>
            </p:spPr>
          </p:sp>
          <p:grpSp>
            <p:nvGrpSpPr>
              <p:cNvPr id="193" name="Group 193"/>
              <p:cNvGrpSpPr/>
              <p:nvPr/>
            </p:nvGrpSpPr>
            <p:grpSpPr>
              <a:xfrm>
                <a:off x="459581" y="4841081"/>
                <a:ext cx="128588" cy="128588"/>
                <a:chOff x="459581" y="4841081"/>
                <a:chExt cx="128588" cy="128588"/>
              </a:xfrm>
            </p:grpSpPr>
            <p:sp>
              <p:nvSpPr>
                <p:cNvPr id="190" name="Freeform 190"/>
                <p:cNvSpPr/>
                <p:nvPr/>
              </p:nvSpPr>
              <p:spPr>
                <a:xfrm>
                  <a:off x="459581" y="48410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76200F"/>
                  </a:solidFill>
                </a:ln>
              </p:spPr>
            </p:sp>
            <p:sp>
              <p:nvSpPr>
                <p:cNvPr id="191" name="Freeform 191"/>
                <p:cNvSpPr/>
                <p:nvPr/>
              </p:nvSpPr>
              <p:spPr>
                <a:xfrm>
                  <a:off x="473869" y="49053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76200F"/>
                  </a:solidFill>
                </a:ln>
              </p:spPr>
            </p:sp>
            <p:sp>
              <p:nvSpPr>
                <p:cNvPr id="192" name="Freeform 192"/>
                <p:cNvSpPr/>
                <p:nvPr/>
              </p:nvSpPr>
              <p:spPr>
                <a:xfrm>
                  <a:off x="502444" y="49125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76200F"/>
                  </a:solidFill>
                </a:ln>
              </p:spPr>
            </p:sp>
          </p:grpSp>
          <p:sp>
            <p:nvSpPr>
              <p:cNvPr id="194" name="TextBox 194"/>
              <p:cNvSpPr txBox="1"/>
              <p:nvPr/>
            </p:nvSpPr>
            <p:spPr>
              <a:xfrm>
                <a:off x="784111" y="48829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社区生活</a:t>
                </a:r>
              </a:p>
            </p:txBody>
          </p:sp>
          <p:sp>
            <p:nvSpPr>
              <p:cNvPr id="195" name="TextBox 195"/>
              <p:cNvSpPr txBox="1"/>
              <p:nvPr/>
            </p:nvSpPr>
            <p:spPr>
              <a:xfrm>
                <a:off x="1945754" y="48229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社区居民</a:t>
                </a:r>
              </a:p>
            </p:txBody>
          </p:sp>
          <p:sp>
            <p:nvSpPr>
              <p:cNvPr id="196" name="TextBox 196"/>
              <p:cNvSpPr txBox="1"/>
              <p:nvPr/>
            </p:nvSpPr>
            <p:spPr>
              <a:xfrm>
                <a:off x="1899984" y="49563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中老年家庭</a:t>
                </a:r>
              </a:p>
            </p:txBody>
          </p:sp>
          <p:sp>
            <p:nvSpPr>
              <p:cNvPr id="197" name="TextBox 197"/>
              <p:cNvSpPr txBox="1"/>
              <p:nvPr/>
            </p:nvSpPr>
            <p:spPr>
              <a:xfrm>
                <a:off x="3174225" y="48229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便民服务、金融知识</a:t>
                </a:r>
              </a:p>
            </p:txBody>
          </p:sp>
          <p:sp>
            <p:nvSpPr>
              <p:cNvPr id="198" name="TextBox 198"/>
              <p:cNvSpPr txBox="1"/>
              <p:nvPr/>
            </p:nvSpPr>
            <p:spPr>
              <a:xfrm>
                <a:off x="3174225" y="49563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生活缴费、社区团购</a:t>
                </a:r>
              </a:p>
            </p:txBody>
          </p:sp>
          <p:sp>
            <p:nvSpPr>
              <p:cNvPr id="199" name="TextBox 199"/>
              <p:cNvSpPr txBox="1"/>
              <p:nvPr/>
            </p:nvSpPr>
            <p:spPr>
              <a:xfrm>
                <a:off x="4932642" y="4822984"/>
                <a:ext cx="650316"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社区生活小程序</a:t>
                </a:r>
              </a:p>
            </p:txBody>
          </p:sp>
          <p:sp>
            <p:nvSpPr>
              <p:cNvPr id="200" name="TextBox 200"/>
              <p:cNvSpPr txBox="1"/>
              <p:nvPr/>
            </p:nvSpPr>
            <p:spPr>
              <a:xfrm>
                <a:off x="5069954" y="49563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社群运营</a:t>
                </a:r>
              </a:p>
            </p:txBody>
          </p:sp>
          <p:sp>
            <p:nvSpPr>
              <p:cNvPr id="201" name="TextBox 201"/>
              <p:cNvSpPr txBox="1"/>
              <p:nvPr/>
            </p:nvSpPr>
            <p:spPr>
              <a:xfrm>
                <a:off x="6525171" y="482298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借记卡、存储理财</a:t>
                </a:r>
              </a:p>
            </p:txBody>
          </p:sp>
          <p:sp>
            <p:nvSpPr>
              <p:cNvPr id="202" name="TextBox 202"/>
              <p:cNvSpPr txBox="1"/>
              <p:nvPr/>
            </p:nvSpPr>
            <p:spPr>
              <a:xfrm>
                <a:off x="6479400" y="49563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家政缴费、保险保障</a:t>
                </a:r>
              </a:p>
            </p:txBody>
          </p:sp>
          <p:sp>
            <p:nvSpPr>
              <p:cNvPr id="203" name="TextBox 203"/>
              <p:cNvSpPr txBox="1"/>
              <p:nvPr/>
            </p:nvSpPr>
            <p:spPr>
              <a:xfrm>
                <a:off x="8156054" y="48229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街道社区</a:t>
                </a:r>
              </a:p>
            </p:txBody>
          </p:sp>
          <p:sp>
            <p:nvSpPr>
              <p:cNvPr id="204" name="TextBox 204"/>
              <p:cNvSpPr txBox="1"/>
              <p:nvPr/>
            </p:nvSpPr>
            <p:spPr>
              <a:xfrm>
                <a:off x="8156054" y="49563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物业公司</a:t>
                </a:r>
              </a:p>
            </p:txBody>
          </p:sp>
          <p:sp>
            <p:nvSpPr>
              <p:cNvPr id="205" name="TextBox 205"/>
              <p:cNvSpPr txBox="1"/>
              <p:nvPr/>
            </p:nvSpPr>
            <p:spPr>
              <a:xfrm>
                <a:off x="9958388" y="4818936"/>
                <a:ext cx="436291" cy="140494"/>
              </a:xfrm>
              <a:prstGeom prst="rect">
                <a:avLst/>
              </a:prstGeom>
              <a:noFill/>
              <a:ln>
                <a:noFill/>
              </a:ln>
            </p:spPr>
            <p:txBody>
              <a:bodyPr wrap="none" lIns="0" tIns="0" rIns="0" bIns="0" anchor="t" anchorCtr="0">
                <a:spAutoFit/>
              </a:bodyPr>
              <a:lstStyle/>
              <a:p>
                <a:pPr algn="l"/>
                <a:r>
                  <a:rPr lang="zh-CN" sz="710" b="1" dirty="0">
                    <a:solidFill>
                      <a:srgbClr val="5D190B"/>
                    </a:solidFill>
                    <a:latin typeface="+mn-lt"/>
                    <a:ea typeface="+mn-ea"/>
                    <a:cs typeface="+mn-cs"/>
                  </a:rPr>
                  <a:t>7-30天​​</a:t>
                </a:r>
              </a:p>
            </p:txBody>
          </p:sp>
          <p:sp>
            <p:nvSpPr>
              <p:cNvPr id="206" name="Rectangle 206"/>
              <p:cNvSpPr/>
              <p:nvPr/>
            </p:nvSpPr>
            <p:spPr>
              <a:xfrm>
                <a:off x="9963150" y="4972050"/>
                <a:ext cx="819150" cy="66675"/>
              </a:xfrm>
              <a:prstGeom prst="roundRect">
                <a:avLst>
                  <a:gd name="adj" fmla="val 50000"/>
                </a:avLst>
              </a:prstGeom>
              <a:solidFill>
                <a:srgbClr val="E4F1EE"/>
              </a:solidFill>
              <a:ln>
                <a:noFill/>
              </a:ln>
            </p:spPr>
          </p:sp>
          <p:sp>
            <p:nvSpPr>
              <p:cNvPr id="207" name="Rectangle 207"/>
              <p:cNvSpPr/>
              <p:nvPr/>
            </p:nvSpPr>
            <p:spPr>
              <a:xfrm>
                <a:off x="9963150" y="4972050"/>
                <a:ext cx="371475" cy="66675"/>
              </a:xfrm>
              <a:prstGeom prst="roundRect">
                <a:avLst>
                  <a:gd name="adj" fmla="val 50000"/>
                </a:avLst>
              </a:prstGeom>
              <a:solidFill>
                <a:srgbClr val="76200F"/>
              </a:solidFill>
              <a:ln>
                <a:noFill/>
              </a:ln>
            </p:spPr>
          </p:sp>
          <p:sp>
            <p:nvSpPr>
              <p:cNvPr id="208" name="TextBox 208"/>
              <p:cNvSpPr txBox="1"/>
              <p:nvPr/>
            </p:nvSpPr>
            <p:spPr>
              <a:xfrm>
                <a:off x="10593705" y="4891088"/>
                <a:ext cx="110490" cy="147638"/>
              </a:xfrm>
              <a:prstGeom prst="rect">
                <a:avLst/>
              </a:prstGeom>
              <a:noFill/>
              <a:ln>
                <a:noFill/>
              </a:ln>
            </p:spPr>
            <p:txBody>
              <a:bodyPr wrap="none" lIns="0" tIns="0" rIns="0" bIns="0" anchor="t" anchorCtr="0">
                <a:spAutoFit/>
              </a:bodyPr>
              <a:lstStyle/>
              <a:p>
                <a:pPr algn="ctr"/>
                <a:r>
                  <a:rPr lang="zh-CN" sz="750" b="1" dirty="0">
                    <a:solidFill>
                      <a:srgbClr val="76200F"/>
                    </a:solidFill>
                    <a:latin typeface="+mn-lt"/>
                    <a:ea typeface="+mn-ea"/>
                    <a:cs typeface="+mn-cs"/>
                  </a:rPr>
                  <a:t>低</a:t>
                </a:r>
              </a:p>
            </p:txBody>
          </p:sp>
          <p:sp>
            <p:nvSpPr>
              <p:cNvPr id="209" name="Ellipse 209"/>
              <p:cNvSpPr/>
              <p:nvPr/>
            </p:nvSpPr>
            <p:spPr>
              <a:xfrm>
                <a:off x="10868025" y="4895850"/>
                <a:ext cx="95250" cy="95250"/>
              </a:xfrm>
              <a:prstGeom prst="ellipse">
                <a:avLst/>
              </a:prstGeom>
              <a:solidFill>
                <a:srgbClr val="76200F"/>
              </a:solidFill>
              <a:ln>
                <a:noFill/>
              </a:ln>
            </p:spPr>
          </p:sp>
          <p:sp>
            <p:nvSpPr>
              <p:cNvPr id="210" name="Ellipse 210"/>
              <p:cNvSpPr/>
              <p:nvPr/>
            </p:nvSpPr>
            <p:spPr>
              <a:xfrm>
                <a:off x="11020425" y="4895850"/>
                <a:ext cx="95250" cy="95250"/>
              </a:xfrm>
              <a:prstGeom prst="ellipse">
                <a:avLst/>
              </a:prstGeom>
              <a:noFill/>
              <a:ln w="9525">
                <a:solidFill>
                  <a:srgbClr val="D6A59C"/>
                </a:solidFill>
              </a:ln>
            </p:spPr>
          </p:sp>
          <p:sp>
            <p:nvSpPr>
              <p:cNvPr id="211" name="Ellipse 211"/>
              <p:cNvSpPr/>
              <p:nvPr/>
            </p:nvSpPr>
            <p:spPr>
              <a:xfrm>
                <a:off x="11172825" y="4895850"/>
                <a:ext cx="95250" cy="95250"/>
              </a:xfrm>
              <a:prstGeom prst="ellipse">
                <a:avLst/>
              </a:prstGeom>
              <a:noFill/>
              <a:ln w="9525">
                <a:solidFill>
                  <a:srgbClr val="D6A59C"/>
                </a:solidFill>
              </a:ln>
            </p:spPr>
          </p:sp>
          <p:sp>
            <p:nvSpPr>
              <p:cNvPr id="212" name="Rectangle 212"/>
              <p:cNvSpPr/>
              <p:nvPr/>
            </p:nvSpPr>
            <p:spPr>
              <a:xfrm>
                <a:off x="342900" y="5181600"/>
                <a:ext cx="11487150" cy="495300"/>
              </a:xfrm>
              <a:prstGeom prst="rect">
                <a:avLst/>
              </a:prstGeom>
              <a:solidFill>
                <a:srgbClr val="EFF8F6"/>
              </a:solidFill>
              <a:ln w="9525">
                <a:solidFill>
                  <a:srgbClr val="E2EEEB"/>
                </a:solidFill>
              </a:ln>
            </p:spPr>
          </p:sp>
          <p:grpSp>
            <p:nvGrpSpPr>
              <p:cNvPr id="215" name="Group 215"/>
              <p:cNvGrpSpPr/>
              <p:nvPr/>
            </p:nvGrpSpPr>
            <p:grpSpPr>
              <a:xfrm>
                <a:off x="452438" y="5350669"/>
                <a:ext cx="142875" cy="100012"/>
                <a:chOff x="452438" y="5350669"/>
                <a:chExt cx="142875" cy="100012"/>
              </a:xfrm>
            </p:grpSpPr>
            <p:sp>
              <p:nvSpPr>
                <p:cNvPr id="213" name="Freeform 213"/>
                <p:cNvSpPr/>
                <p:nvPr/>
              </p:nvSpPr>
              <p:spPr>
                <a:xfrm>
                  <a:off x="452438" y="5350669"/>
                  <a:ext cx="142875" cy="71438"/>
                </a:xfrm>
                <a:custGeom>
                  <a:avLst/>
                  <a:gdLst/>
                  <a:ahLst/>
                  <a:cxnLst/>
                  <a:rect l="l" t="t" r="r" b="b"/>
                  <a:pathLst>
                    <a:path w="142875" h="71438">
                      <a:moveTo>
                        <a:pt x="142875" y="28575"/>
                      </a:moveTo>
                      <a:lnTo>
                        <a:pt x="71438" y="0"/>
                      </a:lnTo>
                      <a:lnTo>
                        <a:pt x="0" y="28575"/>
                      </a:lnTo>
                      <a:lnTo>
                        <a:pt x="71438" y="57150"/>
                      </a:lnTo>
                      <a:lnTo>
                        <a:pt x="142875" y="28575"/>
                      </a:lnTo>
                      <a:lnTo>
                        <a:pt x="142875" y="71438"/>
                      </a:lnTo>
                    </a:path>
                  </a:pathLst>
                </a:custGeom>
                <a:noFill/>
                <a:ln w="14288">
                  <a:solidFill>
                    <a:srgbClr val="76200F"/>
                  </a:solidFill>
                </a:ln>
              </p:spPr>
            </p:sp>
            <p:sp>
              <p:nvSpPr>
                <p:cNvPr id="214" name="Freeform 214"/>
                <p:cNvSpPr/>
                <p:nvPr/>
              </p:nvSpPr>
              <p:spPr>
                <a:xfrm>
                  <a:off x="481012" y="5390674"/>
                  <a:ext cx="85725" cy="60007"/>
                </a:xfrm>
                <a:custGeom>
                  <a:avLst/>
                  <a:gdLst/>
                  <a:ahLst/>
                  <a:cxnLst/>
                  <a:rect l="l" t="t" r="r" b="b"/>
                  <a:pathLst>
                    <a:path w="85725" h="60007">
                      <a:moveTo>
                        <a:pt x="0" y="0"/>
                      </a:moveTo>
                      <a:lnTo>
                        <a:pt x="0" y="38576"/>
                      </a:lnTo>
                      <a:cubicBezTo>
                        <a:pt x="0" y="50412"/>
                        <a:pt x="19190" y="60007"/>
                        <a:pt x="42862" y="60007"/>
                      </a:cubicBezTo>
                      <a:cubicBezTo>
                        <a:pt x="66535" y="60007"/>
                        <a:pt x="85725" y="50412"/>
                        <a:pt x="85725" y="38576"/>
                      </a:cubicBezTo>
                      <a:lnTo>
                        <a:pt x="85725" y="0"/>
                      </a:lnTo>
                    </a:path>
                  </a:pathLst>
                </a:custGeom>
                <a:noFill/>
                <a:ln w="14288">
                  <a:solidFill>
                    <a:srgbClr val="76200F"/>
                  </a:solidFill>
                </a:ln>
              </p:spPr>
            </p:sp>
          </p:grpSp>
          <p:sp>
            <p:nvSpPr>
              <p:cNvPr id="216" name="TextBox 216"/>
              <p:cNvSpPr txBox="1"/>
              <p:nvPr/>
            </p:nvSpPr>
            <p:spPr>
              <a:xfrm>
                <a:off x="784111" y="53782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校园青春</a:t>
                </a:r>
              </a:p>
            </p:txBody>
          </p:sp>
          <p:sp>
            <p:nvSpPr>
              <p:cNvPr id="217" name="TextBox 217"/>
              <p:cNvSpPr txBox="1"/>
              <p:nvPr/>
            </p:nvSpPr>
            <p:spPr>
              <a:xfrm>
                <a:off x="1945754" y="53182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在校学生</a:t>
                </a:r>
              </a:p>
            </p:txBody>
          </p:sp>
          <p:sp>
            <p:nvSpPr>
              <p:cNvPr id="218" name="TextBox 218"/>
              <p:cNvSpPr txBox="1"/>
              <p:nvPr/>
            </p:nvSpPr>
            <p:spPr>
              <a:xfrm>
                <a:off x="1899984" y="54516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应届毕业生</a:t>
                </a:r>
              </a:p>
            </p:txBody>
          </p:sp>
          <p:sp>
            <p:nvSpPr>
              <p:cNvPr id="219" name="TextBox 219"/>
              <p:cNvSpPr txBox="1"/>
              <p:nvPr/>
            </p:nvSpPr>
            <p:spPr>
              <a:xfrm>
                <a:off x="3128454" y="5318284"/>
                <a:ext cx="92494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开学季展位、互动游戏</a:t>
                </a:r>
              </a:p>
            </p:txBody>
          </p:sp>
          <p:sp>
            <p:nvSpPr>
              <p:cNvPr id="220" name="TextBox 220"/>
              <p:cNvSpPr txBox="1"/>
              <p:nvPr/>
            </p:nvSpPr>
            <p:spPr>
              <a:xfrm>
                <a:off x="3174225" y="54516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新生礼包、实习就业</a:t>
                </a:r>
              </a:p>
            </p:txBody>
          </p:sp>
          <p:sp>
            <p:nvSpPr>
              <p:cNvPr id="221" name="TextBox 221"/>
              <p:cNvSpPr txBox="1"/>
              <p:nvPr/>
            </p:nvSpPr>
            <p:spPr>
              <a:xfrm>
                <a:off x="5069954" y="53182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校园专区</a:t>
                </a:r>
              </a:p>
            </p:txBody>
          </p:sp>
          <p:sp>
            <p:nvSpPr>
              <p:cNvPr id="222" name="TextBox 222"/>
              <p:cNvSpPr txBox="1"/>
              <p:nvPr/>
            </p:nvSpPr>
            <p:spPr>
              <a:xfrm>
                <a:off x="4972886" y="5451634"/>
                <a:ext cx="56982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微信 / APP​​</a:t>
                </a:r>
              </a:p>
            </p:txBody>
          </p:sp>
          <p:sp>
            <p:nvSpPr>
              <p:cNvPr id="223" name="TextBox 223"/>
              <p:cNvSpPr txBox="1"/>
              <p:nvPr/>
            </p:nvSpPr>
            <p:spPr>
              <a:xfrm>
                <a:off x="6525171" y="531828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学生卡、消费分期</a:t>
                </a:r>
              </a:p>
            </p:txBody>
          </p:sp>
          <p:sp>
            <p:nvSpPr>
              <p:cNvPr id="224" name="TextBox 224"/>
              <p:cNvSpPr txBox="1"/>
              <p:nvPr/>
            </p:nvSpPr>
            <p:spPr>
              <a:xfrm>
                <a:off x="6525171" y="545163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实习贷、就业服务</a:t>
                </a:r>
              </a:p>
            </p:txBody>
          </p:sp>
          <p:sp>
            <p:nvSpPr>
              <p:cNvPr id="225" name="TextBox 225"/>
              <p:cNvSpPr txBox="1"/>
              <p:nvPr/>
            </p:nvSpPr>
            <p:spPr>
              <a:xfrm>
                <a:off x="8247596" y="5318284"/>
                <a:ext cx="19260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高校</a:t>
                </a:r>
              </a:p>
            </p:txBody>
          </p:sp>
          <p:sp>
            <p:nvSpPr>
              <p:cNvPr id="226" name="TextBox 226"/>
              <p:cNvSpPr txBox="1"/>
              <p:nvPr/>
            </p:nvSpPr>
            <p:spPr>
              <a:xfrm>
                <a:off x="8156054" y="54516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教育机构</a:t>
                </a:r>
              </a:p>
            </p:txBody>
          </p:sp>
          <p:sp>
            <p:nvSpPr>
              <p:cNvPr id="227" name="TextBox 227"/>
              <p:cNvSpPr txBox="1"/>
              <p:nvPr/>
            </p:nvSpPr>
            <p:spPr>
              <a:xfrm>
                <a:off x="9958388" y="5314236"/>
                <a:ext cx="436291" cy="140494"/>
              </a:xfrm>
              <a:prstGeom prst="rect">
                <a:avLst/>
              </a:prstGeom>
              <a:noFill/>
              <a:ln>
                <a:noFill/>
              </a:ln>
            </p:spPr>
            <p:txBody>
              <a:bodyPr wrap="none" lIns="0" tIns="0" rIns="0" bIns="0" anchor="t" anchorCtr="0">
                <a:spAutoFit/>
              </a:bodyPr>
              <a:lstStyle/>
              <a:p>
                <a:pPr algn="l"/>
                <a:r>
                  <a:rPr lang="zh-CN" sz="710" b="1" dirty="0">
                    <a:solidFill>
                      <a:srgbClr val="5D190B"/>
                    </a:solidFill>
                    <a:latin typeface="+mn-lt"/>
                    <a:ea typeface="+mn-ea"/>
                    <a:cs typeface="+mn-cs"/>
                  </a:rPr>
                  <a:t>7-30天​​</a:t>
                </a:r>
              </a:p>
            </p:txBody>
          </p:sp>
          <p:sp>
            <p:nvSpPr>
              <p:cNvPr id="228" name="Rectangle 228"/>
              <p:cNvSpPr/>
              <p:nvPr/>
            </p:nvSpPr>
            <p:spPr>
              <a:xfrm>
                <a:off x="9963150" y="5467350"/>
                <a:ext cx="819150" cy="66675"/>
              </a:xfrm>
              <a:prstGeom prst="roundRect">
                <a:avLst>
                  <a:gd name="adj" fmla="val 50000"/>
                </a:avLst>
              </a:prstGeom>
              <a:solidFill>
                <a:srgbClr val="E4F1EE"/>
              </a:solidFill>
              <a:ln>
                <a:noFill/>
              </a:ln>
            </p:spPr>
          </p:sp>
          <p:sp>
            <p:nvSpPr>
              <p:cNvPr id="229" name="Rectangle 229"/>
              <p:cNvSpPr/>
              <p:nvPr/>
            </p:nvSpPr>
            <p:spPr>
              <a:xfrm>
                <a:off x="9963150" y="5467350"/>
                <a:ext cx="371475" cy="66675"/>
              </a:xfrm>
              <a:prstGeom prst="roundRect">
                <a:avLst>
                  <a:gd name="adj" fmla="val 50000"/>
                </a:avLst>
              </a:prstGeom>
              <a:solidFill>
                <a:srgbClr val="76200F"/>
              </a:solidFill>
              <a:ln>
                <a:noFill/>
              </a:ln>
            </p:spPr>
          </p:sp>
          <p:sp>
            <p:nvSpPr>
              <p:cNvPr id="230" name="TextBox 230"/>
              <p:cNvSpPr txBox="1"/>
              <p:nvPr/>
            </p:nvSpPr>
            <p:spPr>
              <a:xfrm>
                <a:off x="10593705" y="5386388"/>
                <a:ext cx="110490" cy="147638"/>
              </a:xfrm>
              <a:prstGeom prst="rect">
                <a:avLst/>
              </a:prstGeom>
              <a:noFill/>
              <a:ln>
                <a:noFill/>
              </a:ln>
            </p:spPr>
            <p:txBody>
              <a:bodyPr wrap="none" lIns="0" tIns="0" rIns="0" bIns="0" anchor="t" anchorCtr="0">
                <a:spAutoFit/>
              </a:bodyPr>
              <a:lstStyle/>
              <a:p>
                <a:pPr algn="ctr"/>
                <a:r>
                  <a:rPr lang="zh-CN" sz="750" b="1" dirty="0">
                    <a:solidFill>
                      <a:srgbClr val="76200F"/>
                    </a:solidFill>
                    <a:latin typeface="+mn-lt"/>
                    <a:ea typeface="+mn-ea"/>
                    <a:cs typeface="+mn-cs"/>
                  </a:rPr>
                  <a:t>中</a:t>
                </a:r>
              </a:p>
            </p:txBody>
          </p:sp>
          <p:sp>
            <p:nvSpPr>
              <p:cNvPr id="231" name="Ellipse 231"/>
              <p:cNvSpPr/>
              <p:nvPr/>
            </p:nvSpPr>
            <p:spPr>
              <a:xfrm>
                <a:off x="10868025" y="5391150"/>
                <a:ext cx="95250" cy="95250"/>
              </a:xfrm>
              <a:prstGeom prst="ellipse">
                <a:avLst/>
              </a:prstGeom>
              <a:solidFill>
                <a:srgbClr val="76200F"/>
              </a:solidFill>
              <a:ln>
                <a:noFill/>
              </a:ln>
            </p:spPr>
          </p:sp>
          <p:sp>
            <p:nvSpPr>
              <p:cNvPr id="232" name="Ellipse 232"/>
              <p:cNvSpPr/>
              <p:nvPr/>
            </p:nvSpPr>
            <p:spPr>
              <a:xfrm>
                <a:off x="11020425" y="5391150"/>
                <a:ext cx="95250" cy="95250"/>
              </a:xfrm>
              <a:prstGeom prst="ellipse">
                <a:avLst/>
              </a:prstGeom>
              <a:solidFill>
                <a:srgbClr val="76200F"/>
              </a:solidFill>
              <a:ln>
                <a:noFill/>
              </a:ln>
            </p:spPr>
          </p:sp>
          <p:sp>
            <p:nvSpPr>
              <p:cNvPr id="233" name="Ellipse 233"/>
              <p:cNvSpPr/>
              <p:nvPr/>
            </p:nvSpPr>
            <p:spPr>
              <a:xfrm>
                <a:off x="11172825" y="5391150"/>
                <a:ext cx="95250" cy="95250"/>
              </a:xfrm>
              <a:prstGeom prst="ellipse">
                <a:avLst/>
              </a:prstGeom>
              <a:noFill/>
              <a:ln w="9525">
                <a:solidFill>
                  <a:srgbClr val="D6A59C"/>
                </a:solidFill>
              </a:ln>
            </p:spPr>
          </p:sp>
          <p:sp>
            <p:nvSpPr>
              <p:cNvPr id="234" name="Rectangle 234"/>
              <p:cNvSpPr/>
              <p:nvPr/>
            </p:nvSpPr>
            <p:spPr>
              <a:xfrm>
                <a:off x="342900" y="5676900"/>
                <a:ext cx="11487150" cy="495300"/>
              </a:xfrm>
              <a:prstGeom prst="rect">
                <a:avLst/>
              </a:prstGeom>
              <a:solidFill>
                <a:srgbClr val="FFFFFF"/>
              </a:solidFill>
              <a:ln w="9525">
                <a:solidFill>
                  <a:srgbClr val="E2EEEB"/>
                </a:solidFill>
              </a:ln>
            </p:spPr>
          </p:sp>
          <p:grpSp>
            <p:nvGrpSpPr>
              <p:cNvPr id="237" name="Group 237"/>
              <p:cNvGrpSpPr/>
              <p:nvPr/>
            </p:nvGrpSpPr>
            <p:grpSpPr>
              <a:xfrm>
                <a:off x="456445" y="5828545"/>
                <a:ext cx="134860" cy="134860"/>
                <a:chOff x="456445" y="5828545"/>
                <a:chExt cx="134860" cy="134860"/>
              </a:xfrm>
            </p:grpSpPr>
            <p:sp>
              <p:nvSpPr>
                <p:cNvPr id="235" name="Freeform 235"/>
                <p:cNvSpPr/>
                <p:nvPr/>
              </p:nvSpPr>
              <p:spPr>
                <a:xfrm>
                  <a:off x="456445" y="5828545"/>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76200F"/>
                  </a:solidFill>
                </a:ln>
              </p:spPr>
            </p:sp>
            <p:sp>
              <p:nvSpPr>
                <p:cNvPr id="236" name="Freeform 236"/>
                <p:cNvSpPr/>
                <p:nvPr/>
              </p:nvSpPr>
              <p:spPr>
                <a:xfrm>
                  <a:off x="502444" y="5874544"/>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76200F"/>
                  </a:solidFill>
                </a:ln>
              </p:spPr>
            </p:sp>
          </p:grpSp>
          <p:sp>
            <p:nvSpPr>
              <p:cNvPr id="238" name="TextBox 238"/>
              <p:cNvSpPr txBox="1"/>
              <p:nvPr/>
            </p:nvSpPr>
            <p:spPr>
              <a:xfrm>
                <a:off x="784111" y="58735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汽车出行</a:t>
                </a:r>
              </a:p>
            </p:txBody>
          </p:sp>
          <p:sp>
            <p:nvSpPr>
              <p:cNvPr id="239" name="TextBox 239"/>
              <p:cNvSpPr txBox="1"/>
              <p:nvPr/>
            </p:nvSpPr>
            <p:spPr>
              <a:xfrm>
                <a:off x="1945754" y="58135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有车一族</a:t>
                </a:r>
              </a:p>
            </p:txBody>
          </p:sp>
          <p:sp>
            <p:nvSpPr>
              <p:cNvPr id="240" name="TextBox 240"/>
              <p:cNvSpPr txBox="1"/>
              <p:nvPr/>
            </p:nvSpPr>
            <p:spPr>
              <a:xfrm>
                <a:off x="1854213" y="594693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购车意向人群</a:t>
                </a:r>
              </a:p>
            </p:txBody>
          </p:sp>
          <p:sp>
            <p:nvSpPr>
              <p:cNvPr id="241" name="TextBox 241"/>
              <p:cNvSpPr txBox="1"/>
              <p:nvPr/>
            </p:nvSpPr>
            <p:spPr>
              <a:xfrm>
                <a:off x="3174225" y="58135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车型展示、试驾体验</a:t>
                </a:r>
              </a:p>
            </p:txBody>
          </p:sp>
          <p:sp>
            <p:nvSpPr>
              <p:cNvPr id="242" name="TextBox 242"/>
              <p:cNvSpPr txBox="1"/>
              <p:nvPr/>
            </p:nvSpPr>
            <p:spPr>
              <a:xfrm>
                <a:off x="3174225" y="59469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购车金融、充电权益</a:t>
                </a:r>
              </a:p>
            </p:txBody>
          </p:sp>
          <p:sp>
            <p:nvSpPr>
              <p:cNvPr id="243" name="TextBox 243"/>
              <p:cNvSpPr txBox="1"/>
              <p:nvPr/>
            </p:nvSpPr>
            <p:spPr>
              <a:xfrm>
                <a:off x="4978413" y="5813584"/>
                <a:ext cx="558775"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汽车生活专区</a:t>
                </a:r>
              </a:p>
            </p:txBody>
          </p:sp>
          <p:sp>
            <p:nvSpPr>
              <p:cNvPr id="244" name="TextBox 244"/>
              <p:cNvSpPr txBox="1"/>
              <p:nvPr/>
            </p:nvSpPr>
            <p:spPr>
              <a:xfrm>
                <a:off x="4929965" y="5946934"/>
                <a:ext cx="65567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APP / 小程序​​</a:t>
                </a:r>
              </a:p>
            </p:txBody>
          </p:sp>
          <p:sp>
            <p:nvSpPr>
              <p:cNvPr id="245" name="TextBox 245"/>
              <p:cNvSpPr txBox="1"/>
              <p:nvPr/>
            </p:nvSpPr>
            <p:spPr>
              <a:xfrm>
                <a:off x="6525171" y="581358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汽车分期、车主卡</a:t>
                </a:r>
              </a:p>
            </p:txBody>
          </p:sp>
          <p:sp>
            <p:nvSpPr>
              <p:cNvPr id="246" name="TextBox 246"/>
              <p:cNvSpPr txBox="1"/>
              <p:nvPr/>
            </p:nvSpPr>
            <p:spPr>
              <a:xfrm>
                <a:off x="6649055" y="5946934"/>
                <a:ext cx="4940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ETC、车险​</a:t>
                </a:r>
              </a:p>
            </p:txBody>
          </p:sp>
          <p:sp>
            <p:nvSpPr>
              <p:cNvPr id="247" name="TextBox 247"/>
              <p:cNvSpPr txBox="1"/>
              <p:nvPr/>
            </p:nvSpPr>
            <p:spPr>
              <a:xfrm>
                <a:off x="8156054" y="58135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汽车品牌</a:t>
                </a:r>
              </a:p>
            </p:txBody>
          </p:sp>
          <p:sp>
            <p:nvSpPr>
              <p:cNvPr id="248" name="TextBox 248"/>
              <p:cNvSpPr txBox="1"/>
              <p:nvPr/>
            </p:nvSpPr>
            <p:spPr>
              <a:xfrm>
                <a:off x="8110284" y="5946934"/>
                <a:ext cx="467233"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经销商集团</a:t>
                </a:r>
              </a:p>
            </p:txBody>
          </p:sp>
          <p:sp>
            <p:nvSpPr>
              <p:cNvPr id="249" name="TextBox 249"/>
              <p:cNvSpPr txBox="1"/>
              <p:nvPr/>
            </p:nvSpPr>
            <p:spPr>
              <a:xfrm>
                <a:off x="9958388" y="5809536"/>
                <a:ext cx="491488" cy="140494"/>
              </a:xfrm>
              <a:prstGeom prst="rect">
                <a:avLst/>
              </a:prstGeom>
              <a:noFill/>
              <a:ln>
                <a:noFill/>
              </a:ln>
            </p:spPr>
            <p:txBody>
              <a:bodyPr wrap="none" lIns="0" tIns="0" rIns="0" bIns="0" anchor="t" anchorCtr="0">
                <a:spAutoFit/>
              </a:bodyPr>
              <a:lstStyle/>
              <a:p>
                <a:pPr algn="l"/>
                <a:r>
                  <a:rPr lang="zh-CN" sz="710" b="1" dirty="0">
                    <a:solidFill>
                      <a:srgbClr val="5D190B"/>
                    </a:solidFill>
                    <a:latin typeface="+mn-lt"/>
                    <a:ea typeface="+mn-ea"/>
                    <a:cs typeface="+mn-cs"/>
                  </a:rPr>
                  <a:t>30-90天​​</a:t>
                </a:r>
              </a:p>
            </p:txBody>
          </p:sp>
          <p:sp>
            <p:nvSpPr>
              <p:cNvPr id="250" name="Rectangle 250"/>
              <p:cNvSpPr/>
              <p:nvPr/>
            </p:nvSpPr>
            <p:spPr>
              <a:xfrm>
                <a:off x="9963150" y="5962650"/>
                <a:ext cx="819150" cy="66675"/>
              </a:xfrm>
              <a:prstGeom prst="roundRect">
                <a:avLst>
                  <a:gd name="adj" fmla="val 50000"/>
                </a:avLst>
              </a:prstGeom>
              <a:solidFill>
                <a:srgbClr val="E4F1EE"/>
              </a:solidFill>
              <a:ln>
                <a:noFill/>
              </a:ln>
            </p:spPr>
          </p:sp>
          <p:sp>
            <p:nvSpPr>
              <p:cNvPr id="251" name="Rectangle 251"/>
              <p:cNvSpPr/>
              <p:nvPr/>
            </p:nvSpPr>
            <p:spPr>
              <a:xfrm>
                <a:off x="9963150" y="5962650"/>
                <a:ext cx="695325" cy="66675"/>
              </a:xfrm>
              <a:prstGeom prst="roundRect">
                <a:avLst>
                  <a:gd name="adj" fmla="val 50000"/>
                </a:avLst>
              </a:prstGeom>
              <a:solidFill>
                <a:srgbClr val="76200F"/>
              </a:solidFill>
              <a:ln>
                <a:noFill/>
              </a:ln>
            </p:spPr>
          </p:sp>
          <p:sp>
            <p:nvSpPr>
              <p:cNvPr id="252" name="TextBox 252"/>
              <p:cNvSpPr txBox="1"/>
              <p:nvPr/>
            </p:nvSpPr>
            <p:spPr>
              <a:xfrm>
                <a:off x="10593705" y="5881688"/>
                <a:ext cx="110490" cy="147638"/>
              </a:xfrm>
              <a:prstGeom prst="rect">
                <a:avLst/>
              </a:prstGeom>
              <a:noFill/>
              <a:ln>
                <a:noFill/>
              </a:ln>
            </p:spPr>
            <p:txBody>
              <a:bodyPr wrap="none" lIns="0" tIns="0" rIns="0" bIns="0" anchor="t" anchorCtr="0">
                <a:spAutoFit/>
              </a:bodyPr>
              <a:lstStyle/>
              <a:p>
                <a:pPr algn="ctr"/>
                <a:r>
                  <a:rPr lang="zh-CN" sz="750" b="1" dirty="0">
                    <a:solidFill>
                      <a:srgbClr val="76200F"/>
                    </a:solidFill>
                    <a:latin typeface="+mn-lt"/>
                    <a:ea typeface="+mn-ea"/>
                    <a:cs typeface="+mn-cs"/>
                  </a:rPr>
                  <a:t>高</a:t>
                </a:r>
              </a:p>
            </p:txBody>
          </p:sp>
          <p:sp>
            <p:nvSpPr>
              <p:cNvPr id="253" name="Ellipse 253"/>
              <p:cNvSpPr/>
              <p:nvPr/>
            </p:nvSpPr>
            <p:spPr>
              <a:xfrm>
                <a:off x="10868025" y="5886450"/>
                <a:ext cx="95250" cy="95250"/>
              </a:xfrm>
              <a:prstGeom prst="ellipse">
                <a:avLst/>
              </a:prstGeom>
              <a:solidFill>
                <a:srgbClr val="76200F"/>
              </a:solidFill>
              <a:ln>
                <a:noFill/>
              </a:ln>
            </p:spPr>
          </p:sp>
          <p:sp>
            <p:nvSpPr>
              <p:cNvPr id="254" name="Ellipse 254"/>
              <p:cNvSpPr/>
              <p:nvPr/>
            </p:nvSpPr>
            <p:spPr>
              <a:xfrm>
                <a:off x="11020425" y="5886450"/>
                <a:ext cx="95250" cy="95250"/>
              </a:xfrm>
              <a:prstGeom prst="ellipse">
                <a:avLst/>
              </a:prstGeom>
              <a:solidFill>
                <a:srgbClr val="76200F"/>
              </a:solidFill>
              <a:ln>
                <a:noFill/>
              </a:ln>
            </p:spPr>
          </p:sp>
          <p:sp>
            <p:nvSpPr>
              <p:cNvPr id="255" name="Ellipse 255"/>
              <p:cNvSpPr/>
              <p:nvPr/>
            </p:nvSpPr>
            <p:spPr>
              <a:xfrm>
                <a:off x="11172825" y="5886450"/>
                <a:ext cx="95250" cy="95250"/>
              </a:xfrm>
              <a:prstGeom prst="ellipse">
                <a:avLst/>
              </a:prstGeom>
              <a:solidFill>
                <a:srgbClr val="76200F"/>
              </a:solidFill>
              <a:ln>
                <a:noFill/>
              </a:ln>
            </p:spPr>
          </p:sp>
          <p:sp>
            <p:nvSpPr>
              <p:cNvPr id="256" name="Rectangle 256"/>
              <p:cNvSpPr/>
              <p:nvPr/>
            </p:nvSpPr>
            <p:spPr>
              <a:xfrm>
                <a:off x="342900" y="6172200"/>
                <a:ext cx="11487150" cy="495300"/>
              </a:xfrm>
              <a:prstGeom prst="rect">
                <a:avLst/>
              </a:prstGeom>
              <a:solidFill>
                <a:srgbClr val="EFF8F6"/>
              </a:solidFill>
              <a:ln w="9525">
                <a:solidFill>
                  <a:srgbClr val="E2EEEB"/>
                </a:solidFill>
              </a:ln>
            </p:spPr>
          </p:sp>
          <p:grpSp>
            <p:nvGrpSpPr>
              <p:cNvPr id="261" name="Group 261"/>
              <p:cNvGrpSpPr/>
              <p:nvPr/>
            </p:nvGrpSpPr>
            <p:grpSpPr>
              <a:xfrm>
                <a:off x="459581" y="6326981"/>
                <a:ext cx="128588" cy="128588"/>
                <a:chOff x="459581" y="6326981"/>
                <a:chExt cx="128588" cy="128588"/>
              </a:xfrm>
            </p:grpSpPr>
            <p:sp>
              <p:nvSpPr>
                <p:cNvPr id="257" name="Freeform 257"/>
                <p:cNvSpPr/>
                <p:nvPr/>
              </p:nvSpPr>
              <p:spPr>
                <a:xfrm>
                  <a:off x="473869" y="63269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6200F"/>
                  </a:solidFill>
                </a:ln>
              </p:spPr>
            </p:sp>
            <p:sp>
              <p:nvSpPr>
                <p:cNvPr id="258" name="Freeform 258"/>
                <p:cNvSpPr/>
                <p:nvPr/>
              </p:nvSpPr>
              <p:spPr>
                <a:xfrm>
                  <a:off x="459581" y="64127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76200F"/>
                  </a:solidFill>
                </a:ln>
              </p:spPr>
            </p:sp>
            <p:sp>
              <p:nvSpPr>
                <p:cNvPr id="259" name="Freeform 259"/>
                <p:cNvSpPr/>
                <p:nvPr/>
              </p:nvSpPr>
              <p:spPr>
                <a:xfrm>
                  <a:off x="552450" y="63279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76200F"/>
                  </a:solidFill>
                </a:ln>
              </p:spPr>
            </p:sp>
            <p:sp>
              <p:nvSpPr>
                <p:cNvPr id="260" name="Freeform 260"/>
                <p:cNvSpPr/>
                <p:nvPr/>
              </p:nvSpPr>
              <p:spPr>
                <a:xfrm>
                  <a:off x="566738" y="641377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76200F"/>
                  </a:solidFill>
                </a:ln>
              </p:spPr>
            </p:sp>
          </p:grpSp>
          <p:sp>
            <p:nvSpPr>
              <p:cNvPr id="262" name="TextBox 262"/>
              <p:cNvSpPr txBox="1"/>
              <p:nvPr/>
            </p:nvSpPr>
            <p:spPr>
              <a:xfrm>
                <a:off x="784111" y="63688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养老康养</a:t>
                </a:r>
              </a:p>
            </p:txBody>
          </p:sp>
          <p:sp>
            <p:nvSpPr>
              <p:cNvPr id="263" name="TextBox 263"/>
              <p:cNvSpPr txBox="1"/>
              <p:nvPr/>
            </p:nvSpPr>
            <p:spPr>
              <a:xfrm>
                <a:off x="1945754" y="63088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中老年人</a:t>
                </a:r>
              </a:p>
            </p:txBody>
          </p:sp>
          <p:sp>
            <p:nvSpPr>
              <p:cNvPr id="264" name="TextBox 264"/>
              <p:cNvSpPr txBox="1"/>
              <p:nvPr/>
            </p:nvSpPr>
            <p:spPr>
              <a:xfrm>
                <a:off x="1945754" y="64422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银发家庭</a:t>
                </a:r>
              </a:p>
            </p:txBody>
          </p:sp>
          <p:sp>
            <p:nvSpPr>
              <p:cNvPr id="265" name="TextBox 265"/>
              <p:cNvSpPr txBox="1"/>
              <p:nvPr/>
            </p:nvSpPr>
            <p:spPr>
              <a:xfrm>
                <a:off x="3174225" y="63088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健康义诊、养老咨询</a:t>
                </a:r>
              </a:p>
            </p:txBody>
          </p:sp>
          <p:sp>
            <p:nvSpPr>
              <p:cNvPr id="266" name="TextBox 266"/>
              <p:cNvSpPr txBox="1"/>
              <p:nvPr/>
            </p:nvSpPr>
            <p:spPr>
              <a:xfrm>
                <a:off x="3174225" y="644223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适老服务、权益体验</a:t>
                </a:r>
              </a:p>
            </p:txBody>
          </p:sp>
          <p:sp>
            <p:nvSpPr>
              <p:cNvPr id="267" name="TextBox 267"/>
              <p:cNvSpPr txBox="1"/>
              <p:nvPr/>
            </p:nvSpPr>
            <p:spPr>
              <a:xfrm>
                <a:off x="5069954" y="63088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养老专区</a:t>
                </a:r>
              </a:p>
            </p:txBody>
          </p:sp>
          <p:sp>
            <p:nvSpPr>
              <p:cNvPr id="268" name="TextBox 268"/>
              <p:cNvSpPr txBox="1"/>
              <p:nvPr/>
            </p:nvSpPr>
            <p:spPr>
              <a:xfrm>
                <a:off x="4854832" y="6442234"/>
                <a:ext cx="805937"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电话客服 / 小程序​</a:t>
                </a:r>
              </a:p>
            </p:txBody>
          </p:sp>
          <p:sp>
            <p:nvSpPr>
              <p:cNvPr id="269" name="TextBox 269"/>
              <p:cNvSpPr txBox="1"/>
              <p:nvPr/>
            </p:nvSpPr>
            <p:spPr>
              <a:xfrm>
                <a:off x="6479400" y="6308884"/>
                <a:ext cx="833399"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养老理财、保险保障</a:t>
                </a:r>
              </a:p>
            </p:txBody>
          </p:sp>
          <p:sp>
            <p:nvSpPr>
              <p:cNvPr id="270" name="TextBox 270"/>
              <p:cNvSpPr txBox="1"/>
              <p:nvPr/>
            </p:nvSpPr>
            <p:spPr>
              <a:xfrm>
                <a:off x="6525171" y="6442234"/>
                <a:ext cx="741858"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银发卡、家庭信托</a:t>
                </a:r>
              </a:p>
            </p:txBody>
          </p:sp>
          <p:sp>
            <p:nvSpPr>
              <p:cNvPr id="271" name="TextBox 271"/>
              <p:cNvSpPr txBox="1"/>
              <p:nvPr/>
            </p:nvSpPr>
            <p:spPr>
              <a:xfrm>
                <a:off x="8156054" y="630888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医疗机构</a:t>
                </a:r>
              </a:p>
            </p:txBody>
          </p:sp>
          <p:sp>
            <p:nvSpPr>
              <p:cNvPr id="272" name="TextBox 272"/>
              <p:cNvSpPr txBox="1"/>
              <p:nvPr/>
            </p:nvSpPr>
            <p:spPr>
              <a:xfrm>
                <a:off x="8156054" y="6442234"/>
                <a:ext cx="375691" cy="133350"/>
              </a:xfrm>
              <a:prstGeom prst="rect">
                <a:avLst/>
              </a:prstGeom>
              <a:noFill/>
              <a:ln>
                <a:noFill/>
              </a:ln>
            </p:spPr>
            <p:txBody>
              <a:bodyPr wrap="none" lIns="0" tIns="0" rIns="0" bIns="0" anchor="t" anchorCtr="0">
                <a:spAutoFit/>
              </a:bodyPr>
              <a:lstStyle/>
              <a:p>
                <a:pPr algn="ctr"/>
                <a:r>
                  <a:rPr lang="zh-CN" sz="680" dirty="0">
                    <a:solidFill>
                      <a:srgbClr val="514340"/>
                    </a:solidFill>
                    <a:latin typeface="+mn-lt"/>
                    <a:ea typeface="+mn-ea"/>
                    <a:cs typeface="+mn-cs"/>
                  </a:rPr>
                  <a:t>养老社区</a:t>
                </a:r>
              </a:p>
            </p:txBody>
          </p:sp>
          <p:sp>
            <p:nvSpPr>
              <p:cNvPr id="273" name="TextBox 273"/>
              <p:cNvSpPr txBox="1"/>
              <p:nvPr/>
            </p:nvSpPr>
            <p:spPr>
              <a:xfrm>
                <a:off x="9958388" y="6304836"/>
                <a:ext cx="491488" cy="140494"/>
              </a:xfrm>
              <a:prstGeom prst="rect">
                <a:avLst/>
              </a:prstGeom>
              <a:noFill/>
              <a:ln>
                <a:noFill/>
              </a:ln>
            </p:spPr>
            <p:txBody>
              <a:bodyPr wrap="none" lIns="0" tIns="0" rIns="0" bIns="0" anchor="t" anchorCtr="0">
                <a:spAutoFit/>
              </a:bodyPr>
              <a:lstStyle/>
              <a:p>
                <a:pPr algn="l"/>
                <a:r>
                  <a:rPr lang="zh-CN" sz="710" b="1" dirty="0">
                    <a:solidFill>
                      <a:srgbClr val="5D190B"/>
                    </a:solidFill>
                    <a:latin typeface="+mn-lt"/>
                    <a:ea typeface="+mn-ea"/>
                    <a:cs typeface="+mn-cs"/>
                  </a:rPr>
                  <a:t>30-90天​​</a:t>
                </a:r>
              </a:p>
            </p:txBody>
          </p:sp>
          <p:sp>
            <p:nvSpPr>
              <p:cNvPr id="274" name="Rectangle 274"/>
              <p:cNvSpPr/>
              <p:nvPr/>
            </p:nvSpPr>
            <p:spPr>
              <a:xfrm>
                <a:off x="9963150" y="6457950"/>
                <a:ext cx="819150" cy="66675"/>
              </a:xfrm>
              <a:prstGeom prst="roundRect">
                <a:avLst>
                  <a:gd name="adj" fmla="val 50000"/>
                </a:avLst>
              </a:prstGeom>
              <a:solidFill>
                <a:srgbClr val="E4F1EE"/>
              </a:solidFill>
              <a:ln>
                <a:noFill/>
              </a:ln>
            </p:spPr>
          </p:sp>
          <p:sp>
            <p:nvSpPr>
              <p:cNvPr id="275" name="Rectangle 275"/>
              <p:cNvSpPr/>
              <p:nvPr/>
            </p:nvSpPr>
            <p:spPr>
              <a:xfrm>
                <a:off x="9963150" y="6457950"/>
                <a:ext cx="695325" cy="66675"/>
              </a:xfrm>
              <a:prstGeom prst="roundRect">
                <a:avLst>
                  <a:gd name="adj" fmla="val 50000"/>
                </a:avLst>
              </a:prstGeom>
              <a:solidFill>
                <a:srgbClr val="76200F"/>
              </a:solidFill>
              <a:ln>
                <a:noFill/>
              </a:ln>
            </p:spPr>
          </p:sp>
          <p:sp>
            <p:nvSpPr>
              <p:cNvPr id="276" name="TextBox 276"/>
              <p:cNvSpPr txBox="1"/>
              <p:nvPr/>
            </p:nvSpPr>
            <p:spPr>
              <a:xfrm>
                <a:off x="10593705" y="6376988"/>
                <a:ext cx="110490" cy="147638"/>
              </a:xfrm>
              <a:prstGeom prst="rect">
                <a:avLst/>
              </a:prstGeom>
              <a:noFill/>
              <a:ln>
                <a:noFill/>
              </a:ln>
            </p:spPr>
            <p:txBody>
              <a:bodyPr wrap="none" lIns="0" tIns="0" rIns="0" bIns="0" anchor="t" anchorCtr="0">
                <a:spAutoFit/>
              </a:bodyPr>
              <a:lstStyle/>
              <a:p>
                <a:pPr algn="ctr"/>
                <a:r>
                  <a:rPr lang="zh-CN" sz="750" b="1" dirty="0">
                    <a:solidFill>
                      <a:srgbClr val="76200F"/>
                    </a:solidFill>
                    <a:latin typeface="+mn-lt"/>
                    <a:ea typeface="+mn-ea"/>
                    <a:cs typeface="+mn-cs"/>
                  </a:rPr>
                  <a:t>高</a:t>
                </a:r>
              </a:p>
            </p:txBody>
          </p:sp>
          <p:sp>
            <p:nvSpPr>
              <p:cNvPr id="277" name="Ellipse 277"/>
              <p:cNvSpPr/>
              <p:nvPr/>
            </p:nvSpPr>
            <p:spPr>
              <a:xfrm>
                <a:off x="10868025" y="6381750"/>
                <a:ext cx="95250" cy="95250"/>
              </a:xfrm>
              <a:prstGeom prst="ellipse">
                <a:avLst/>
              </a:prstGeom>
              <a:solidFill>
                <a:srgbClr val="76200F"/>
              </a:solidFill>
              <a:ln>
                <a:noFill/>
              </a:ln>
            </p:spPr>
          </p:sp>
          <p:sp>
            <p:nvSpPr>
              <p:cNvPr id="278" name="Ellipse 278"/>
              <p:cNvSpPr/>
              <p:nvPr/>
            </p:nvSpPr>
            <p:spPr>
              <a:xfrm>
                <a:off x="11020425" y="6381750"/>
                <a:ext cx="95250" cy="95250"/>
              </a:xfrm>
              <a:prstGeom prst="ellipse">
                <a:avLst/>
              </a:prstGeom>
              <a:solidFill>
                <a:srgbClr val="76200F"/>
              </a:solidFill>
              <a:ln>
                <a:noFill/>
              </a:ln>
            </p:spPr>
          </p:sp>
          <p:sp>
            <p:nvSpPr>
              <p:cNvPr id="279" name="Ellipse 279"/>
              <p:cNvSpPr/>
              <p:nvPr/>
            </p:nvSpPr>
            <p:spPr>
              <a:xfrm>
                <a:off x="11172825" y="6381750"/>
                <a:ext cx="95250" cy="95250"/>
              </a:xfrm>
              <a:prstGeom prst="ellipse">
                <a:avLst/>
              </a:prstGeom>
              <a:solidFill>
                <a:srgbClr val="76200F"/>
              </a:solidFill>
              <a:ln>
                <a:noFill/>
              </a:ln>
            </p:spPr>
          </p:sp>
        </p:grpSp>
      </p:gr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06​</a:t>
              </a:r>
            </a:p>
          </p:txBody>
        </p:sp>
        <p:sp>
          <p:nvSpPr>
            <p:cNvPr id="4" name="TextBox 4"/>
            <p:cNvSpPr txBox="1"/>
            <p:nvPr/>
          </p:nvSpPr>
          <p:spPr>
            <a:xfrm>
              <a:off x="904494" y="170498"/>
              <a:ext cx="5007483"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场景选择</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高价值活动并不等于高客流活动</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06​</a:t>
              </a:r>
            </a:p>
          </p:txBody>
        </p:sp>
      </p:grpSp>
      <p:grpSp>
        <p:nvGrpSpPr>
          <p:cNvPr id="74" name="weight-model"/>
          <p:cNvGrpSpPr/>
          <p:nvPr/>
        </p:nvGrpSpPr>
        <p:grpSpPr>
          <a:xfrm>
            <a:off x="342900" y="685800"/>
            <a:ext cx="6667500" cy="1466850"/>
            <a:chOff x="342900" y="685800"/>
            <a:chExt cx="6667500" cy="1466850"/>
          </a:xfrm>
        </p:grpSpPr>
        <p:sp>
          <p:nvSpPr>
            <p:cNvPr id="8" name="Rectangle 8"/>
            <p:cNvSpPr/>
            <p:nvPr/>
          </p:nvSpPr>
          <p:spPr>
            <a:xfrm>
              <a:off x="342900" y="685800"/>
              <a:ext cx="1219200" cy="228600"/>
            </a:xfrm>
            <a:prstGeom prst="roundRect">
              <a:avLst>
                <a:gd name="adj" fmla="val 20833"/>
              </a:avLst>
            </a:prstGeom>
            <a:solidFill>
              <a:srgbClr val="76200F"/>
            </a:solidFill>
            <a:ln>
              <a:noFill/>
            </a:ln>
          </p:spPr>
        </p:sp>
        <p:sp>
          <p:nvSpPr>
            <p:cNvPr id="9" name="TextBox 9"/>
            <p:cNvSpPr txBox="1"/>
            <p:nvPr/>
          </p:nvSpPr>
          <p:spPr>
            <a:xfrm>
              <a:off x="452438" y="746522"/>
              <a:ext cx="895325"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六维度评分模型</a:t>
              </a:r>
            </a:p>
          </p:txBody>
        </p:sp>
        <p:sp>
          <p:nvSpPr>
            <p:cNvPr id="10" name="Rectangle 10"/>
            <p:cNvSpPr/>
            <p:nvPr/>
          </p:nvSpPr>
          <p:spPr>
            <a:xfrm>
              <a:off x="4762500" y="685800"/>
              <a:ext cx="2247900" cy="228600"/>
            </a:xfrm>
            <a:prstGeom prst="roundRect">
              <a:avLst>
                <a:gd name="adj" fmla="val 50000"/>
              </a:avLst>
            </a:prstGeom>
            <a:solidFill>
              <a:srgbClr val="E4F1EE"/>
            </a:solidFill>
            <a:ln>
              <a:noFill/>
            </a:ln>
          </p:spPr>
        </p:sp>
        <p:sp>
          <p:nvSpPr>
            <p:cNvPr id="11" name="TextBox 11"/>
            <p:cNvSpPr txBox="1"/>
            <p:nvPr/>
          </p:nvSpPr>
          <p:spPr>
            <a:xfrm>
              <a:off x="5139595" y="766762"/>
              <a:ext cx="1493711" cy="147638"/>
            </a:xfrm>
            <a:prstGeom prst="rect">
              <a:avLst/>
            </a:prstGeom>
            <a:noFill/>
            <a:ln>
              <a:noFill/>
            </a:ln>
          </p:spPr>
          <p:txBody>
            <a:bodyPr wrap="none" lIns="0" tIns="0" rIns="0" bIns="0" anchor="t" anchorCtr="0">
              <a:spAutoFit/>
            </a:bodyPr>
            <a:lstStyle/>
            <a:p>
              <a:pPr algn="ctr"/>
              <a:r>
                <a:rPr lang="zh-CN" sz="750" dirty="0">
                  <a:solidFill>
                    <a:srgbClr val="5D190B"/>
                  </a:solidFill>
                  <a:latin typeface="+mn-lt"/>
                  <a:ea typeface="+mn-ea"/>
                  <a:cs typeface="+mn-cs"/>
                </a:rPr>
                <a:t>满分 5 分，按权重计算综合得分​</a:t>
              </a:r>
            </a:p>
          </p:txBody>
        </p:sp>
        <p:sp>
          <p:nvSpPr>
            <p:cNvPr id="12" name="Rectangle 12"/>
            <p:cNvSpPr/>
            <p:nvPr/>
          </p:nvSpPr>
          <p:spPr>
            <a:xfrm>
              <a:off x="342900" y="990600"/>
              <a:ext cx="1028700" cy="1162050"/>
            </a:xfrm>
            <a:prstGeom prst="roundRect">
              <a:avLst>
                <a:gd name="adj" fmla="val 7407"/>
              </a:avLst>
            </a:prstGeom>
            <a:solidFill>
              <a:srgbClr val="F0FAF8"/>
            </a:solidFill>
            <a:ln w="9525">
              <a:solidFill>
                <a:srgbClr val="C2E0DA"/>
              </a:solidFill>
            </a:ln>
          </p:spPr>
        </p:sp>
        <p:grpSp>
          <p:nvGrpSpPr>
            <p:cNvPr id="19" name="Group 19"/>
            <p:cNvGrpSpPr/>
            <p:nvPr/>
          </p:nvGrpSpPr>
          <p:grpSpPr>
            <a:xfrm>
              <a:off x="714375" y="1114425"/>
              <a:ext cx="171450" cy="171450"/>
              <a:chOff x="714375" y="1114425"/>
              <a:chExt cx="171450" cy="171450"/>
            </a:xfrm>
          </p:grpSpPr>
          <p:sp>
            <p:nvSpPr>
              <p:cNvPr id="13" name="Freeform 13"/>
              <p:cNvSpPr/>
              <p:nvPr/>
            </p:nvSpPr>
            <p:spPr>
              <a:xfrm>
                <a:off x="781050" y="1190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6200F"/>
                </a:solidFill>
              </a:ln>
            </p:spPr>
          </p:sp>
          <p:sp>
            <p:nvSpPr>
              <p:cNvPr id="14" name="Freeform 14"/>
              <p:cNvSpPr/>
              <p:nvPr/>
            </p:nvSpPr>
            <p:spPr>
              <a:xfrm>
                <a:off x="762000" y="125730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76200F"/>
                </a:solidFill>
              </a:ln>
            </p:spPr>
          </p:sp>
          <p:sp>
            <p:nvSpPr>
              <p:cNvPr id="15" name="Freeform 15"/>
              <p:cNvSpPr/>
              <p:nvPr/>
            </p:nvSpPr>
            <p:spPr>
              <a:xfrm>
                <a:off x="828675" y="11144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6200F"/>
                </a:solidFill>
              </a:ln>
            </p:spPr>
          </p:sp>
          <p:sp>
            <p:nvSpPr>
              <p:cNvPr id="16" name="Freeform 16"/>
              <p:cNvSpPr/>
              <p:nvPr/>
            </p:nvSpPr>
            <p:spPr>
              <a:xfrm>
                <a:off x="847725" y="118110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76200F"/>
                </a:solidFill>
              </a:ln>
            </p:spPr>
          </p:sp>
          <p:sp>
            <p:nvSpPr>
              <p:cNvPr id="17" name="Freeform 17"/>
              <p:cNvSpPr/>
              <p:nvPr/>
            </p:nvSpPr>
            <p:spPr>
              <a:xfrm>
                <a:off x="733425" y="11144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6200F"/>
                </a:solidFill>
              </a:ln>
            </p:spPr>
          </p:sp>
          <p:sp>
            <p:nvSpPr>
              <p:cNvPr id="18" name="Freeform 18"/>
              <p:cNvSpPr/>
              <p:nvPr/>
            </p:nvSpPr>
            <p:spPr>
              <a:xfrm>
                <a:off x="714375" y="118110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76200F"/>
                </a:solidFill>
              </a:ln>
            </p:spPr>
          </p:sp>
        </p:grpSp>
        <p:sp>
          <p:nvSpPr>
            <p:cNvPr id="20" name="TextBox 20"/>
            <p:cNvSpPr txBox="1"/>
            <p:nvPr/>
          </p:nvSpPr>
          <p:spPr>
            <a:xfrm>
              <a:off x="631711" y="14158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客群匹配</a:t>
              </a:r>
            </a:p>
          </p:txBody>
        </p:sp>
        <p:sp>
          <p:nvSpPr>
            <p:cNvPr id="21" name="TextBox 21"/>
            <p:cNvSpPr txBox="1"/>
            <p:nvPr/>
          </p:nvSpPr>
          <p:spPr>
            <a:xfrm>
              <a:off x="661559" y="1593056"/>
              <a:ext cx="391381" cy="220028"/>
            </a:xfrm>
            <a:prstGeom prst="rect">
              <a:avLst/>
            </a:prstGeom>
            <a:noFill/>
            <a:ln>
              <a:noFill/>
            </a:ln>
          </p:spPr>
          <p:txBody>
            <a:bodyPr wrap="none" lIns="0" tIns="0" rIns="0" bIns="0" anchor="t" anchorCtr="0">
              <a:spAutoFit/>
            </a:bodyPr>
            <a:lstStyle/>
            <a:p>
              <a:pPr algn="ctr"/>
              <a:r>
                <a:rPr lang="zh-CN" sz="1120" b="1" dirty="0">
                  <a:solidFill>
                    <a:srgbClr val="76200F"/>
                  </a:solidFill>
                  <a:latin typeface="+mn-lt"/>
                  <a:ea typeface="+mn-ea"/>
                  <a:cs typeface="+mn-cs"/>
                </a:rPr>
                <a:t>25%​</a:t>
              </a:r>
            </a:p>
          </p:txBody>
        </p:sp>
        <p:sp>
          <p:nvSpPr>
            <p:cNvPr id="22" name="TextBox 22"/>
            <p:cNvSpPr txBox="1"/>
            <p:nvPr/>
          </p:nvSpPr>
          <p:spPr>
            <a:xfrm>
              <a:off x="637096" y="1817132"/>
              <a:ext cx="440309"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目标客群的</a:t>
              </a:r>
            </a:p>
          </p:txBody>
        </p:sp>
        <p:sp>
          <p:nvSpPr>
            <p:cNvPr id="23" name="TextBox 23"/>
            <p:cNvSpPr txBox="1"/>
            <p:nvPr/>
          </p:nvSpPr>
          <p:spPr>
            <a:xfrm>
              <a:off x="680174" y="1940957"/>
              <a:ext cx="354152"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契合程度</a:t>
              </a:r>
            </a:p>
          </p:txBody>
        </p:sp>
        <p:sp>
          <p:nvSpPr>
            <p:cNvPr id="24" name="Rectangle 24"/>
            <p:cNvSpPr/>
            <p:nvPr/>
          </p:nvSpPr>
          <p:spPr>
            <a:xfrm>
              <a:off x="1447800" y="990600"/>
              <a:ext cx="1028700" cy="1162050"/>
            </a:xfrm>
            <a:prstGeom prst="roundRect">
              <a:avLst>
                <a:gd name="adj" fmla="val 7407"/>
              </a:avLst>
            </a:prstGeom>
            <a:solidFill>
              <a:srgbClr val="F0FAF8"/>
            </a:solidFill>
            <a:ln w="9525">
              <a:solidFill>
                <a:srgbClr val="C2E0DA"/>
              </a:solidFill>
            </a:ln>
          </p:spPr>
        </p:sp>
        <p:grpSp>
          <p:nvGrpSpPr>
            <p:cNvPr id="30" name="Group 30"/>
            <p:cNvGrpSpPr/>
            <p:nvPr/>
          </p:nvGrpSpPr>
          <p:grpSpPr>
            <a:xfrm>
              <a:off x="1819275" y="1113149"/>
              <a:ext cx="171450" cy="172726"/>
              <a:chOff x="1819275" y="1113149"/>
              <a:chExt cx="171450" cy="172726"/>
            </a:xfrm>
          </p:grpSpPr>
          <p:sp>
            <p:nvSpPr>
              <p:cNvPr id="25" name="Freeform 25"/>
              <p:cNvSpPr/>
              <p:nvPr/>
            </p:nvSpPr>
            <p:spPr>
              <a:xfrm>
                <a:off x="1876425" y="119062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76200F"/>
                </a:solidFill>
              </a:ln>
            </p:spPr>
          </p:sp>
          <p:sp>
            <p:nvSpPr>
              <p:cNvPr id="26" name="Freeform 26"/>
              <p:cNvSpPr/>
              <p:nvPr/>
            </p:nvSpPr>
            <p:spPr>
              <a:xfrm>
                <a:off x="1876425" y="121920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76200F"/>
                </a:solidFill>
              </a:ln>
            </p:spPr>
          </p:sp>
          <p:sp>
            <p:nvSpPr>
              <p:cNvPr id="27" name="Freeform 27"/>
              <p:cNvSpPr/>
              <p:nvPr/>
            </p:nvSpPr>
            <p:spPr>
              <a:xfrm>
                <a:off x="1819275" y="111314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76200F"/>
                </a:solidFill>
              </a:ln>
            </p:spPr>
          </p:sp>
          <p:sp>
            <p:nvSpPr>
              <p:cNvPr id="28" name="Freeform 28"/>
              <p:cNvSpPr/>
              <p:nvPr/>
            </p:nvSpPr>
            <p:spPr>
              <a:xfrm>
                <a:off x="1819275" y="114300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76200F"/>
                </a:solidFill>
              </a:ln>
            </p:spPr>
          </p:sp>
          <p:sp>
            <p:nvSpPr>
              <p:cNvPr id="29" name="Freeform 29"/>
              <p:cNvSpPr/>
              <p:nvPr/>
            </p:nvSpPr>
            <p:spPr>
              <a:xfrm>
                <a:off x="1819275" y="119062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76200F"/>
                </a:solidFill>
              </a:ln>
            </p:spPr>
          </p:sp>
        </p:grpSp>
        <p:sp>
          <p:nvSpPr>
            <p:cNvPr id="31" name="TextBox 31"/>
            <p:cNvSpPr txBox="1"/>
            <p:nvPr/>
          </p:nvSpPr>
          <p:spPr>
            <a:xfrm>
              <a:off x="1736611" y="14158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金融关联</a:t>
              </a:r>
            </a:p>
          </p:txBody>
        </p:sp>
        <p:sp>
          <p:nvSpPr>
            <p:cNvPr id="32" name="TextBox 32"/>
            <p:cNvSpPr txBox="1"/>
            <p:nvPr/>
          </p:nvSpPr>
          <p:spPr>
            <a:xfrm>
              <a:off x="1766459" y="1593056"/>
              <a:ext cx="391381" cy="220028"/>
            </a:xfrm>
            <a:prstGeom prst="rect">
              <a:avLst/>
            </a:prstGeom>
            <a:noFill/>
            <a:ln>
              <a:noFill/>
            </a:ln>
          </p:spPr>
          <p:txBody>
            <a:bodyPr wrap="none" lIns="0" tIns="0" rIns="0" bIns="0" anchor="t" anchorCtr="0">
              <a:spAutoFit/>
            </a:bodyPr>
            <a:lstStyle/>
            <a:p>
              <a:pPr algn="ctr"/>
              <a:r>
                <a:rPr lang="zh-CN" sz="1120" b="1" dirty="0">
                  <a:solidFill>
                    <a:srgbClr val="76200F"/>
                  </a:solidFill>
                  <a:latin typeface="+mn-lt"/>
                  <a:ea typeface="+mn-ea"/>
                  <a:cs typeface="+mn-cs"/>
                </a:rPr>
                <a:t>20%​</a:t>
              </a:r>
            </a:p>
          </p:txBody>
        </p:sp>
        <p:sp>
          <p:nvSpPr>
            <p:cNvPr id="33" name="TextBox 33"/>
            <p:cNvSpPr txBox="1"/>
            <p:nvPr/>
          </p:nvSpPr>
          <p:spPr>
            <a:xfrm>
              <a:off x="1741996" y="1817132"/>
              <a:ext cx="440309"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与我行产品</a:t>
              </a:r>
            </a:p>
          </p:txBody>
        </p:sp>
        <p:sp>
          <p:nvSpPr>
            <p:cNvPr id="34" name="TextBox 34"/>
            <p:cNvSpPr txBox="1"/>
            <p:nvPr/>
          </p:nvSpPr>
          <p:spPr>
            <a:xfrm>
              <a:off x="1698917" y="1940957"/>
              <a:ext cx="526466"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服务的关联度</a:t>
              </a:r>
            </a:p>
          </p:txBody>
        </p:sp>
        <p:sp>
          <p:nvSpPr>
            <p:cNvPr id="35" name="Rectangle 35"/>
            <p:cNvSpPr/>
            <p:nvPr/>
          </p:nvSpPr>
          <p:spPr>
            <a:xfrm>
              <a:off x="2552700" y="990600"/>
              <a:ext cx="1028700" cy="1162050"/>
            </a:xfrm>
            <a:prstGeom prst="roundRect">
              <a:avLst>
                <a:gd name="adj" fmla="val 7407"/>
              </a:avLst>
            </a:prstGeom>
            <a:solidFill>
              <a:srgbClr val="F0FAF8"/>
            </a:solidFill>
            <a:ln w="9525">
              <a:solidFill>
                <a:srgbClr val="C2E0DA"/>
              </a:solidFill>
            </a:ln>
          </p:spPr>
        </p:sp>
        <p:grpSp>
          <p:nvGrpSpPr>
            <p:cNvPr id="39" name="Group 39"/>
            <p:cNvGrpSpPr/>
            <p:nvPr/>
          </p:nvGrpSpPr>
          <p:grpSpPr>
            <a:xfrm>
              <a:off x="2933700" y="1114425"/>
              <a:ext cx="152400" cy="171450"/>
              <a:chOff x="2933700" y="1114425"/>
              <a:chExt cx="152400" cy="171450"/>
            </a:xfrm>
          </p:grpSpPr>
          <p:sp>
            <p:nvSpPr>
              <p:cNvPr id="36" name="Freeform 36"/>
              <p:cNvSpPr/>
              <p:nvPr/>
            </p:nvSpPr>
            <p:spPr>
              <a:xfrm>
                <a:off x="2933700" y="111442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76200F"/>
                </a:solidFill>
              </a:ln>
            </p:spPr>
          </p:sp>
          <p:sp>
            <p:nvSpPr>
              <p:cNvPr id="37" name="Freeform 37"/>
              <p:cNvSpPr/>
              <p:nvPr/>
            </p:nvSpPr>
            <p:spPr>
              <a:xfrm>
                <a:off x="2933700" y="11430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76200F"/>
                </a:solidFill>
              </a:ln>
            </p:spPr>
          </p:sp>
          <p:sp>
            <p:nvSpPr>
              <p:cNvPr id="38" name="Freeform 38"/>
              <p:cNvSpPr/>
              <p:nvPr/>
            </p:nvSpPr>
            <p:spPr>
              <a:xfrm>
                <a:off x="2933700" y="12001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76200F"/>
                </a:solidFill>
              </a:ln>
            </p:spPr>
          </p:sp>
        </p:grpSp>
        <p:sp>
          <p:nvSpPr>
            <p:cNvPr id="40" name="TextBox 40"/>
            <p:cNvSpPr txBox="1"/>
            <p:nvPr/>
          </p:nvSpPr>
          <p:spPr>
            <a:xfrm>
              <a:off x="2841511" y="14158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数据可得</a:t>
              </a:r>
            </a:p>
          </p:txBody>
        </p:sp>
        <p:sp>
          <p:nvSpPr>
            <p:cNvPr id="41" name="TextBox 41"/>
            <p:cNvSpPr txBox="1"/>
            <p:nvPr/>
          </p:nvSpPr>
          <p:spPr>
            <a:xfrm>
              <a:off x="2871359" y="1593056"/>
              <a:ext cx="391381" cy="220028"/>
            </a:xfrm>
            <a:prstGeom prst="rect">
              <a:avLst/>
            </a:prstGeom>
            <a:noFill/>
            <a:ln>
              <a:noFill/>
            </a:ln>
          </p:spPr>
          <p:txBody>
            <a:bodyPr wrap="none" lIns="0" tIns="0" rIns="0" bIns="0" anchor="t" anchorCtr="0">
              <a:spAutoFit/>
            </a:bodyPr>
            <a:lstStyle/>
            <a:p>
              <a:pPr algn="ctr"/>
              <a:r>
                <a:rPr lang="zh-CN" sz="1120" b="1" dirty="0">
                  <a:solidFill>
                    <a:srgbClr val="76200F"/>
                  </a:solidFill>
                  <a:latin typeface="+mn-lt"/>
                  <a:ea typeface="+mn-ea"/>
                  <a:cs typeface="+mn-cs"/>
                </a:rPr>
                <a:t>20%​</a:t>
              </a:r>
            </a:p>
          </p:txBody>
        </p:sp>
        <p:sp>
          <p:nvSpPr>
            <p:cNvPr id="42" name="TextBox 42"/>
            <p:cNvSpPr txBox="1"/>
            <p:nvPr/>
          </p:nvSpPr>
          <p:spPr>
            <a:xfrm>
              <a:off x="2803817" y="1817132"/>
              <a:ext cx="526466"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客户数据获取</a:t>
              </a:r>
            </a:p>
          </p:txBody>
        </p:sp>
        <p:sp>
          <p:nvSpPr>
            <p:cNvPr id="43" name="TextBox 43"/>
            <p:cNvSpPr txBox="1"/>
            <p:nvPr/>
          </p:nvSpPr>
          <p:spPr>
            <a:xfrm>
              <a:off x="2889974" y="1940957"/>
              <a:ext cx="354152"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的可行性</a:t>
              </a:r>
            </a:p>
          </p:txBody>
        </p:sp>
        <p:sp>
          <p:nvSpPr>
            <p:cNvPr id="44" name="Rectangle 44"/>
            <p:cNvSpPr/>
            <p:nvPr/>
          </p:nvSpPr>
          <p:spPr>
            <a:xfrm>
              <a:off x="3657600" y="990600"/>
              <a:ext cx="1028700" cy="1162050"/>
            </a:xfrm>
            <a:prstGeom prst="roundRect">
              <a:avLst>
                <a:gd name="adj" fmla="val 7407"/>
              </a:avLst>
            </a:prstGeom>
            <a:solidFill>
              <a:srgbClr val="F0FAF8"/>
            </a:solidFill>
            <a:ln w="9525">
              <a:solidFill>
                <a:srgbClr val="C2E0DA"/>
              </a:solidFill>
            </a:ln>
          </p:spPr>
        </p:sp>
        <p:grpSp>
          <p:nvGrpSpPr>
            <p:cNvPr id="49" name="Group 49"/>
            <p:cNvGrpSpPr/>
            <p:nvPr/>
          </p:nvGrpSpPr>
          <p:grpSpPr>
            <a:xfrm>
              <a:off x="4029075" y="1123950"/>
              <a:ext cx="171450" cy="152400"/>
              <a:chOff x="4029075" y="1123950"/>
              <a:chExt cx="171450" cy="152400"/>
            </a:xfrm>
          </p:grpSpPr>
          <p:sp>
            <p:nvSpPr>
              <p:cNvPr id="45" name="Freeform 45"/>
              <p:cNvSpPr/>
              <p:nvPr/>
            </p:nvSpPr>
            <p:spPr>
              <a:xfrm>
                <a:off x="4029075" y="1152525"/>
                <a:ext cx="171450" cy="9525"/>
              </a:xfrm>
              <a:custGeom>
                <a:avLst/>
                <a:gdLst/>
                <a:ahLst/>
                <a:cxnLst/>
                <a:rect l="l" t="t" r="r" b="b"/>
                <a:pathLst>
                  <a:path w="171450" h="9525">
                    <a:moveTo>
                      <a:pt x="171450" y="0"/>
                    </a:moveTo>
                    <a:lnTo>
                      <a:pt x="0" y="0"/>
                    </a:lnTo>
                  </a:path>
                </a:pathLst>
              </a:custGeom>
              <a:noFill/>
              <a:ln w="19050">
                <a:solidFill>
                  <a:srgbClr val="76200F"/>
                </a:solidFill>
              </a:ln>
            </p:spPr>
          </p:sp>
          <p:sp>
            <p:nvSpPr>
              <p:cNvPr id="46" name="Freeform 46"/>
              <p:cNvSpPr/>
              <p:nvPr/>
            </p:nvSpPr>
            <p:spPr>
              <a:xfrm>
                <a:off x="4171950" y="1123950"/>
                <a:ext cx="28575" cy="57150"/>
              </a:xfrm>
              <a:custGeom>
                <a:avLst/>
                <a:gdLst/>
                <a:ahLst/>
                <a:cxnLst/>
                <a:rect l="l" t="t" r="r" b="b"/>
                <a:pathLst>
                  <a:path w="28575" h="57150">
                    <a:moveTo>
                      <a:pt x="0" y="57150"/>
                    </a:moveTo>
                    <a:lnTo>
                      <a:pt x="28575" y="28575"/>
                    </a:lnTo>
                    <a:lnTo>
                      <a:pt x="0" y="0"/>
                    </a:lnTo>
                  </a:path>
                </a:pathLst>
              </a:custGeom>
              <a:noFill/>
              <a:ln w="19050">
                <a:solidFill>
                  <a:srgbClr val="76200F"/>
                </a:solidFill>
              </a:ln>
            </p:spPr>
          </p:sp>
          <p:sp>
            <p:nvSpPr>
              <p:cNvPr id="47" name="Freeform 47"/>
              <p:cNvSpPr/>
              <p:nvPr/>
            </p:nvSpPr>
            <p:spPr>
              <a:xfrm>
                <a:off x="4029075" y="1219200"/>
                <a:ext cx="28575" cy="57150"/>
              </a:xfrm>
              <a:custGeom>
                <a:avLst/>
                <a:gdLst/>
                <a:ahLst/>
                <a:cxnLst/>
                <a:rect l="l" t="t" r="r" b="b"/>
                <a:pathLst>
                  <a:path w="28575" h="57150">
                    <a:moveTo>
                      <a:pt x="28575" y="57150"/>
                    </a:moveTo>
                    <a:lnTo>
                      <a:pt x="0" y="28575"/>
                    </a:lnTo>
                    <a:lnTo>
                      <a:pt x="28575" y="0"/>
                    </a:lnTo>
                  </a:path>
                </a:pathLst>
              </a:custGeom>
              <a:noFill/>
              <a:ln w="19050">
                <a:solidFill>
                  <a:srgbClr val="76200F"/>
                </a:solidFill>
              </a:ln>
            </p:spPr>
          </p:sp>
          <p:sp>
            <p:nvSpPr>
              <p:cNvPr id="48" name="Freeform 48"/>
              <p:cNvSpPr/>
              <p:nvPr/>
            </p:nvSpPr>
            <p:spPr>
              <a:xfrm>
                <a:off x="4029075" y="1247775"/>
                <a:ext cx="171450" cy="9525"/>
              </a:xfrm>
              <a:custGeom>
                <a:avLst/>
                <a:gdLst/>
                <a:ahLst/>
                <a:cxnLst/>
                <a:rect l="l" t="t" r="r" b="b"/>
                <a:pathLst>
                  <a:path w="171450" h="9525">
                    <a:moveTo>
                      <a:pt x="0" y="0"/>
                    </a:moveTo>
                    <a:lnTo>
                      <a:pt x="171450" y="0"/>
                    </a:lnTo>
                  </a:path>
                </a:pathLst>
              </a:custGeom>
              <a:noFill/>
              <a:ln w="19050">
                <a:solidFill>
                  <a:srgbClr val="76200F"/>
                </a:solidFill>
              </a:ln>
            </p:spPr>
          </p:sp>
        </p:grpSp>
        <p:sp>
          <p:nvSpPr>
            <p:cNvPr id="50" name="TextBox 50"/>
            <p:cNvSpPr txBox="1"/>
            <p:nvPr/>
          </p:nvSpPr>
          <p:spPr>
            <a:xfrm>
              <a:off x="3946411" y="14158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转化路径</a:t>
              </a:r>
            </a:p>
          </p:txBody>
        </p:sp>
        <p:sp>
          <p:nvSpPr>
            <p:cNvPr id="51" name="TextBox 51"/>
            <p:cNvSpPr txBox="1"/>
            <p:nvPr/>
          </p:nvSpPr>
          <p:spPr>
            <a:xfrm>
              <a:off x="3976259" y="1593056"/>
              <a:ext cx="391381" cy="220028"/>
            </a:xfrm>
            <a:prstGeom prst="rect">
              <a:avLst/>
            </a:prstGeom>
            <a:noFill/>
            <a:ln>
              <a:noFill/>
            </a:ln>
          </p:spPr>
          <p:txBody>
            <a:bodyPr wrap="none" lIns="0" tIns="0" rIns="0" bIns="0" anchor="t" anchorCtr="0">
              <a:spAutoFit/>
            </a:bodyPr>
            <a:lstStyle/>
            <a:p>
              <a:pPr algn="ctr"/>
              <a:r>
                <a:rPr lang="zh-CN" sz="1120" b="1" dirty="0">
                  <a:solidFill>
                    <a:srgbClr val="76200F"/>
                  </a:solidFill>
                  <a:latin typeface="+mn-lt"/>
                  <a:ea typeface="+mn-ea"/>
                  <a:cs typeface="+mn-cs"/>
                </a:rPr>
                <a:t>15%​</a:t>
              </a:r>
            </a:p>
          </p:txBody>
        </p:sp>
        <p:sp>
          <p:nvSpPr>
            <p:cNvPr id="52" name="TextBox 52"/>
            <p:cNvSpPr txBox="1"/>
            <p:nvPr/>
          </p:nvSpPr>
          <p:spPr>
            <a:xfrm>
              <a:off x="3908717" y="1817132"/>
              <a:ext cx="526466"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从接触到转化</a:t>
              </a:r>
            </a:p>
          </p:txBody>
        </p:sp>
        <p:sp>
          <p:nvSpPr>
            <p:cNvPr id="53" name="TextBox 53"/>
            <p:cNvSpPr txBox="1"/>
            <p:nvPr/>
          </p:nvSpPr>
          <p:spPr>
            <a:xfrm>
              <a:off x="3908717" y="1940957"/>
              <a:ext cx="526466"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的路径清晰度</a:t>
              </a:r>
            </a:p>
          </p:txBody>
        </p:sp>
        <p:sp>
          <p:nvSpPr>
            <p:cNvPr id="54" name="Rectangle 54"/>
            <p:cNvSpPr/>
            <p:nvPr/>
          </p:nvSpPr>
          <p:spPr>
            <a:xfrm>
              <a:off x="4762500" y="990600"/>
              <a:ext cx="1028700" cy="1162050"/>
            </a:xfrm>
            <a:prstGeom prst="roundRect">
              <a:avLst>
                <a:gd name="adj" fmla="val 7407"/>
              </a:avLst>
            </a:prstGeom>
            <a:solidFill>
              <a:srgbClr val="F0FAF8"/>
            </a:solidFill>
            <a:ln w="9525">
              <a:solidFill>
                <a:srgbClr val="C2E0DA"/>
              </a:solidFill>
            </a:ln>
          </p:spPr>
        </p:sp>
        <p:grpSp>
          <p:nvGrpSpPr>
            <p:cNvPr id="59" name="Group 59"/>
            <p:cNvGrpSpPr/>
            <p:nvPr/>
          </p:nvGrpSpPr>
          <p:grpSpPr>
            <a:xfrm>
              <a:off x="5133975" y="1114425"/>
              <a:ext cx="171450" cy="161925"/>
              <a:chOff x="5133975" y="1114425"/>
              <a:chExt cx="171450" cy="161925"/>
            </a:xfrm>
          </p:grpSpPr>
          <p:sp>
            <p:nvSpPr>
              <p:cNvPr id="55" name="Freeform 55"/>
              <p:cNvSpPr/>
              <p:nvPr/>
            </p:nvSpPr>
            <p:spPr>
              <a:xfrm>
                <a:off x="5133975" y="115252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76200F"/>
                </a:solidFill>
              </a:ln>
            </p:spPr>
          </p:sp>
          <p:sp>
            <p:nvSpPr>
              <p:cNvPr id="56" name="Freeform 56"/>
              <p:cNvSpPr/>
              <p:nvPr/>
            </p:nvSpPr>
            <p:spPr>
              <a:xfrm>
                <a:off x="5181600" y="111442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76200F"/>
                </a:solidFill>
              </a:ln>
            </p:spPr>
          </p:sp>
          <p:sp>
            <p:nvSpPr>
              <p:cNvPr id="57" name="Freeform 57"/>
              <p:cNvSpPr/>
              <p:nvPr/>
            </p:nvSpPr>
            <p:spPr>
              <a:xfrm>
                <a:off x="5219700" y="1200150"/>
                <a:ext cx="9525" cy="9525"/>
              </a:xfrm>
              <a:custGeom>
                <a:avLst/>
                <a:gdLst/>
                <a:ahLst/>
                <a:cxnLst/>
                <a:rect l="l" t="t" r="r" b="b"/>
                <a:pathLst>
                  <a:path w="9525" h="9525">
                    <a:moveTo>
                      <a:pt x="0" y="0"/>
                    </a:moveTo>
                    <a:lnTo>
                      <a:pt x="0" y="95"/>
                    </a:lnTo>
                  </a:path>
                </a:pathLst>
              </a:custGeom>
              <a:noFill/>
              <a:ln w="19050">
                <a:solidFill>
                  <a:srgbClr val="76200F"/>
                </a:solidFill>
              </a:ln>
            </p:spPr>
          </p:sp>
          <p:sp>
            <p:nvSpPr>
              <p:cNvPr id="58" name="Freeform 58"/>
              <p:cNvSpPr/>
              <p:nvPr/>
            </p:nvSpPr>
            <p:spPr>
              <a:xfrm>
                <a:off x="5133975" y="120967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76200F"/>
                </a:solidFill>
              </a:ln>
            </p:spPr>
          </p:sp>
        </p:grpSp>
        <p:sp>
          <p:nvSpPr>
            <p:cNvPr id="60" name="TextBox 60"/>
            <p:cNvSpPr txBox="1"/>
            <p:nvPr/>
          </p:nvSpPr>
          <p:spPr>
            <a:xfrm>
              <a:off x="5051311" y="14158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伙伴资源</a:t>
              </a:r>
            </a:p>
          </p:txBody>
        </p:sp>
        <p:sp>
          <p:nvSpPr>
            <p:cNvPr id="61" name="TextBox 61"/>
            <p:cNvSpPr txBox="1"/>
            <p:nvPr/>
          </p:nvSpPr>
          <p:spPr>
            <a:xfrm>
              <a:off x="5081159" y="1593056"/>
              <a:ext cx="391381" cy="220028"/>
            </a:xfrm>
            <a:prstGeom prst="rect">
              <a:avLst/>
            </a:prstGeom>
            <a:noFill/>
            <a:ln>
              <a:noFill/>
            </a:ln>
          </p:spPr>
          <p:txBody>
            <a:bodyPr wrap="none" lIns="0" tIns="0" rIns="0" bIns="0" anchor="t" anchorCtr="0">
              <a:spAutoFit/>
            </a:bodyPr>
            <a:lstStyle/>
            <a:p>
              <a:pPr algn="ctr"/>
              <a:r>
                <a:rPr lang="zh-CN" sz="1120" b="1" dirty="0">
                  <a:solidFill>
                    <a:srgbClr val="76200F"/>
                  </a:solidFill>
                  <a:latin typeface="+mn-lt"/>
                  <a:ea typeface="+mn-ea"/>
                  <a:cs typeface="+mn-cs"/>
                </a:rPr>
                <a:t>10%​</a:t>
              </a:r>
            </a:p>
          </p:txBody>
        </p:sp>
        <p:sp>
          <p:nvSpPr>
            <p:cNvPr id="62" name="TextBox 62"/>
            <p:cNvSpPr txBox="1"/>
            <p:nvPr/>
          </p:nvSpPr>
          <p:spPr>
            <a:xfrm>
              <a:off x="5009309" y="1817132"/>
              <a:ext cx="535081"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场地方/生态​</a:t>
              </a:r>
            </a:p>
          </p:txBody>
        </p:sp>
        <p:sp>
          <p:nvSpPr>
            <p:cNvPr id="63" name="TextBox 63"/>
            <p:cNvSpPr txBox="1"/>
            <p:nvPr/>
          </p:nvSpPr>
          <p:spPr>
            <a:xfrm>
              <a:off x="5013617" y="1940957"/>
              <a:ext cx="526466"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伙伴的支持度</a:t>
              </a:r>
            </a:p>
          </p:txBody>
        </p:sp>
        <p:sp>
          <p:nvSpPr>
            <p:cNvPr id="64" name="Rectangle 64"/>
            <p:cNvSpPr/>
            <p:nvPr/>
          </p:nvSpPr>
          <p:spPr>
            <a:xfrm>
              <a:off x="5867400" y="990600"/>
              <a:ext cx="1028700" cy="1162050"/>
            </a:xfrm>
            <a:prstGeom prst="roundRect">
              <a:avLst>
                <a:gd name="adj" fmla="val 7407"/>
              </a:avLst>
            </a:prstGeom>
            <a:solidFill>
              <a:srgbClr val="F0FAF8"/>
            </a:solidFill>
            <a:ln w="9525">
              <a:solidFill>
                <a:srgbClr val="C2E0DA"/>
              </a:solidFill>
            </a:ln>
          </p:spPr>
        </p:sp>
        <p:grpSp>
          <p:nvGrpSpPr>
            <p:cNvPr id="69" name="Group 69"/>
            <p:cNvGrpSpPr/>
            <p:nvPr/>
          </p:nvGrpSpPr>
          <p:grpSpPr>
            <a:xfrm>
              <a:off x="6257925" y="1114425"/>
              <a:ext cx="133350" cy="171450"/>
              <a:chOff x="6257925" y="1114425"/>
              <a:chExt cx="133350" cy="171450"/>
            </a:xfrm>
          </p:grpSpPr>
          <p:sp>
            <p:nvSpPr>
              <p:cNvPr id="65" name="Freeform 65"/>
              <p:cNvSpPr/>
              <p:nvPr/>
            </p:nvSpPr>
            <p:spPr>
              <a:xfrm>
                <a:off x="6257925" y="1133475"/>
                <a:ext cx="133350" cy="152400"/>
              </a:xfrm>
              <a:custGeom>
                <a:avLst/>
                <a:gdLst/>
                <a:ahLst/>
                <a:cxnLst/>
                <a:rect l="l" t="t" r="r" b="b"/>
                <a:pathLst>
                  <a:path w="133350" h="152400">
                    <a:moveTo>
                      <a:pt x="38100" y="0"/>
                    </a:moveTo>
                    <a:lnTo>
                      <a:pt x="19050" y="0"/>
                    </a:lnTo>
                    <a:cubicBezTo>
                      <a:pt x="8529" y="0"/>
                      <a:pt x="0" y="8529"/>
                      <a:pt x="0" y="19050"/>
                    </a:cubicBezTo>
                    <a:lnTo>
                      <a:pt x="0" y="133350"/>
                    </a:lnTo>
                    <a:cubicBezTo>
                      <a:pt x="0" y="143871"/>
                      <a:pt x="8529" y="152400"/>
                      <a:pt x="19050" y="152400"/>
                    </a:cubicBezTo>
                    <a:lnTo>
                      <a:pt x="114300" y="152400"/>
                    </a:lnTo>
                    <a:cubicBezTo>
                      <a:pt x="124821" y="152400"/>
                      <a:pt x="133350" y="143871"/>
                      <a:pt x="133350" y="133350"/>
                    </a:cubicBezTo>
                    <a:lnTo>
                      <a:pt x="133350" y="19050"/>
                    </a:lnTo>
                    <a:cubicBezTo>
                      <a:pt x="133350" y="8529"/>
                      <a:pt x="124821" y="0"/>
                      <a:pt x="114300" y="0"/>
                    </a:cubicBezTo>
                    <a:lnTo>
                      <a:pt x="95250" y="0"/>
                    </a:lnTo>
                  </a:path>
                </a:pathLst>
              </a:custGeom>
              <a:noFill/>
              <a:ln w="19050">
                <a:solidFill>
                  <a:srgbClr val="76200F"/>
                </a:solidFill>
              </a:ln>
            </p:spPr>
          </p:sp>
          <p:sp>
            <p:nvSpPr>
              <p:cNvPr id="66" name="Freeform 66"/>
              <p:cNvSpPr/>
              <p:nvPr/>
            </p:nvSpPr>
            <p:spPr>
              <a:xfrm>
                <a:off x="6296025" y="1114425"/>
                <a:ext cx="57150" cy="38100"/>
              </a:xfrm>
              <a:custGeom>
                <a:avLst/>
                <a:gdLst/>
                <a:ahLst/>
                <a:cxnLst/>
                <a:rect l="l" t="t" r="r" b="b"/>
                <a:pathLst>
                  <a:path w="57150" h="38100">
                    <a:moveTo>
                      <a:pt x="0" y="19050"/>
                    </a:moveTo>
                    <a:cubicBezTo>
                      <a:pt x="0" y="8529"/>
                      <a:pt x="8529" y="0"/>
                      <a:pt x="19050" y="0"/>
                    </a:cubicBezTo>
                    <a:lnTo>
                      <a:pt x="38100" y="0"/>
                    </a:lnTo>
                    <a:cubicBezTo>
                      <a:pt x="48621" y="0"/>
                      <a:pt x="57150" y="8529"/>
                      <a:pt x="57150" y="19050"/>
                    </a:cubicBezTo>
                    <a:cubicBezTo>
                      <a:pt x="57150" y="29571"/>
                      <a:pt x="48621" y="38100"/>
                      <a:pt x="38100" y="38100"/>
                    </a:cubicBezTo>
                    <a:lnTo>
                      <a:pt x="19050" y="38100"/>
                    </a:lnTo>
                    <a:cubicBezTo>
                      <a:pt x="8529" y="38100"/>
                      <a:pt x="0" y="29571"/>
                      <a:pt x="0" y="19050"/>
                    </a:cubicBezTo>
                  </a:path>
                </a:pathLst>
              </a:custGeom>
              <a:noFill/>
              <a:ln w="19050">
                <a:solidFill>
                  <a:srgbClr val="76200F"/>
                </a:solidFill>
              </a:ln>
            </p:spPr>
          </p:sp>
          <p:sp>
            <p:nvSpPr>
              <p:cNvPr id="67" name="Freeform 67"/>
              <p:cNvSpPr/>
              <p:nvPr/>
            </p:nvSpPr>
            <p:spPr>
              <a:xfrm>
                <a:off x="6305550" y="1190625"/>
                <a:ext cx="38100" cy="57150"/>
              </a:xfrm>
              <a:custGeom>
                <a:avLst/>
                <a:gdLst/>
                <a:ahLst/>
                <a:cxnLst/>
                <a:rect l="l" t="t" r="r" b="b"/>
                <a:pathLst>
                  <a:path w="38100" h="57150">
                    <a:moveTo>
                      <a:pt x="38100" y="0"/>
                    </a:moveTo>
                    <a:lnTo>
                      <a:pt x="14288" y="0"/>
                    </a:lnTo>
                    <a:cubicBezTo>
                      <a:pt x="6397" y="0"/>
                      <a:pt x="0" y="6397"/>
                      <a:pt x="0" y="14288"/>
                    </a:cubicBezTo>
                    <a:cubicBezTo>
                      <a:pt x="0" y="22178"/>
                      <a:pt x="6397" y="28575"/>
                      <a:pt x="14288" y="28575"/>
                    </a:cubicBezTo>
                    <a:lnTo>
                      <a:pt x="23812" y="28575"/>
                    </a:lnTo>
                    <a:cubicBezTo>
                      <a:pt x="31703" y="28575"/>
                      <a:pt x="38100" y="34972"/>
                      <a:pt x="38100" y="42862"/>
                    </a:cubicBezTo>
                    <a:cubicBezTo>
                      <a:pt x="38100" y="50753"/>
                      <a:pt x="31703" y="57150"/>
                      <a:pt x="23812" y="57150"/>
                    </a:cubicBezTo>
                    <a:lnTo>
                      <a:pt x="0" y="57150"/>
                    </a:lnTo>
                  </a:path>
                </a:pathLst>
              </a:custGeom>
              <a:noFill/>
              <a:ln w="19050">
                <a:solidFill>
                  <a:srgbClr val="76200F"/>
                </a:solidFill>
              </a:ln>
            </p:spPr>
          </p:sp>
          <p:sp>
            <p:nvSpPr>
              <p:cNvPr id="68" name="Freeform 68"/>
              <p:cNvSpPr/>
              <p:nvPr/>
            </p:nvSpPr>
            <p:spPr>
              <a:xfrm>
                <a:off x="6324600" y="1181100"/>
                <a:ext cx="9525" cy="76200"/>
              </a:xfrm>
              <a:custGeom>
                <a:avLst/>
                <a:gdLst/>
                <a:ahLst/>
                <a:cxnLst/>
                <a:rect l="l" t="t" r="r" b="b"/>
                <a:pathLst>
                  <a:path w="9525" h="76200">
                    <a:moveTo>
                      <a:pt x="0" y="66675"/>
                    </a:moveTo>
                    <a:lnTo>
                      <a:pt x="0" y="76200"/>
                    </a:lnTo>
                    <a:moveTo>
                      <a:pt x="0" y="0"/>
                    </a:moveTo>
                    <a:lnTo>
                      <a:pt x="0" y="9525"/>
                    </a:lnTo>
                  </a:path>
                </a:pathLst>
              </a:custGeom>
              <a:noFill/>
              <a:ln w="19050">
                <a:solidFill>
                  <a:srgbClr val="76200F"/>
                </a:solidFill>
              </a:ln>
            </p:spPr>
          </p:sp>
        </p:grpSp>
        <p:sp>
          <p:nvSpPr>
            <p:cNvPr id="70" name="TextBox 70"/>
            <p:cNvSpPr txBox="1"/>
            <p:nvPr/>
          </p:nvSpPr>
          <p:spPr>
            <a:xfrm>
              <a:off x="6156211" y="1415891"/>
              <a:ext cx="451079" cy="161925"/>
            </a:xfrm>
            <a:prstGeom prst="rect">
              <a:avLst/>
            </a:prstGeom>
            <a:noFill/>
            <a:ln>
              <a:noFill/>
            </a:ln>
          </p:spPr>
          <p:txBody>
            <a:bodyPr wrap="none" lIns="0" tIns="0" rIns="0" bIns="0" anchor="t" anchorCtr="0">
              <a:spAutoFit/>
            </a:bodyPr>
            <a:lstStyle/>
            <a:p>
              <a:pPr algn="ctr"/>
              <a:r>
                <a:rPr lang="zh-CN" sz="820" b="1" dirty="0">
                  <a:solidFill>
                    <a:srgbClr val="331712"/>
                  </a:solidFill>
                  <a:latin typeface="+mn-lt"/>
                  <a:ea typeface="+mn-ea"/>
                  <a:cs typeface="+mn-cs"/>
                </a:rPr>
                <a:t>投入产出</a:t>
              </a:r>
            </a:p>
          </p:txBody>
        </p:sp>
        <p:sp>
          <p:nvSpPr>
            <p:cNvPr id="71" name="TextBox 71"/>
            <p:cNvSpPr txBox="1"/>
            <p:nvPr/>
          </p:nvSpPr>
          <p:spPr>
            <a:xfrm>
              <a:off x="6186059" y="1593056"/>
              <a:ext cx="391381" cy="220028"/>
            </a:xfrm>
            <a:prstGeom prst="rect">
              <a:avLst/>
            </a:prstGeom>
            <a:noFill/>
            <a:ln>
              <a:noFill/>
            </a:ln>
          </p:spPr>
          <p:txBody>
            <a:bodyPr wrap="none" lIns="0" tIns="0" rIns="0" bIns="0" anchor="t" anchorCtr="0">
              <a:spAutoFit/>
            </a:bodyPr>
            <a:lstStyle/>
            <a:p>
              <a:pPr algn="ctr"/>
              <a:r>
                <a:rPr lang="zh-CN" sz="1120" b="1" dirty="0">
                  <a:solidFill>
                    <a:srgbClr val="76200F"/>
                  </a:solidFill>
                  <a:latin typeface="+mn-lt"/>
                  <a:ea typeface="+mn-ea"/>
                  <a:cs typeface="+mn-cs"/>
                </a:rPr>
                <a:t>10%​</a:t>
              </a:r>
            </a:p>
          </p:txBody>
        </p:sp>
        <p:sp>
          <p:nvSpPr>
            <p:cNvPr id="72" name="TextBox 72"/>
            <p:cNvSpPr txBox="1"/>
            <p:nvPr/>
          </p:nvSpPr>
          <p:spPr>
            <a:xfrm>
              <a:off x="6161596" y="1817132"/>
              <a:ext cx="440309"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预期收益与</a:t>
              </a:r>
            </a:p>
          </p:txBody>
        </p:sp>
        <p:sp>
          <p:nvSpPr>
            <p:cNvPr id="73" name="TextBox 73"/>
            <p:cNvSpPr txBox="1"/>
            <p:nvPr/>
          </p:nvSpPr>
          <p:spPr>
            <a:xfrm>
              <a:off x="6161596" y="1940957"/>
              <a:ext cx="440309"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资源投入比</a:t>
              </a:r>
            </a:p>
          </p:txBody>
        </p:sp>
      </p:grpSp>
      <p:grpSp>
        <p:nvGrpSpPr>
          <p:cNvPr id="148" name="score-table"/>
          <p:cNvGrpSpPr/>
          <p:nvPr/>
        </p:nvGrpSpPr>
        <p:grpSpPr>
          <a:xfrm>
            <a:off x="342900" y="2324100"/>
            <a:ext cx="6667500" cy="1892141"/>
            <a:chOff x="342900" y="2324100"/>
            <a:chExt cx="6667500" cy="1892141"/>
          </a:xfrm>
        </p:grpSpPr>
        <p:sp>
          <p:nvSpPr>
            <p:cNvPr id="75" name="Rectangle 75"/>
            <p:cNvSpPr/>
            <p:nvPr/>
          </p:nvSpPr>
          <p:spPr>
            <a:xfrm>
              <a:off x="342900" y="2324100"/>
              <a:ext cx="1428750" cy="228600"/>
            </a:xfrm>
            <a:prstGeom prst="roundRect">
              <a:avLst>
                <a:gd name="adj" fmla="val 20833"/>
              </a:avLst>
            </a:prstGeom>
            <a:solidFill>
              <a:srgbClr val="76200F"/>
            </a:solidFill>
            <a:ln>
              <a:noFill/>
            </a:ln>
          </p:spPr>
        </p:sp>
        <p:sp>
          <p:nvSpPr>
            <p:cNvPr id="76" name="TextBox 76"/>
            <p:cNvSpPr txBox="1"/>
            <p:nvPr/>
          </p:nvSpPr>
          <p:spPr>
            <a:xfrm>
              <a:off x="452438" y="2384822"/>
              <a:ext cx="1021867"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候选场景评分结果</a:t>
              </a:r>
            </a:p>
          </p:txBody>
        </p:sp>
        <p:sp>
          <p:nvSpPr>
            <p:cNvPr id="77" name="Rectangle 77"/>
            <p:cNvSpPr/>
            <p:nvPr/>
          </p:nvSpPr>
          <p:spPr>
            <a:xfrm>
              <a:off x="342900" y="2609850"/>
              <a:ext cx="6667500" cy="285750"/>
            </a:xfrm>
            <a:prstGeom prst="rect">
              <a:avLst/>
            </a:prstGeom>
            <a:solidFill>
              <a:srgbClr val="5D190B"/>
            </a:solidFill>
            <a:ln>
              <a:noFill/>
            </a:ln>
          </p:spPr>
        </p:sp>
        <p:sp>
          <p:nvSpPr>
            <p:cNvPr id="78" name="TextBox 78"/>
            <p:cNvSpPr txBox="1"/>
            <p:nvPr/>
          </p:nvSpPr>
          <p:spPr>
            <a:xfrm>
              <a:off x="688988" y="27153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场景</a:t>
              </a:r>
            </a:p>
          </p:txBody>
        </p:sp>
        <p:sp>
          <p:nvSpPr>
            <p:cNvPr id="79" name="TextBox 79"/>
            <p:cNvSpPr txBox="1"/>
            <p:nvPr/>
          </p:nvSpPr>
          <p:spPr>
            <a:xfrm>
              <a:off x="1575118" y="2670334"/>
              <a:ext cx="35496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客群匹配</a:t>
              </a:r>
              <a:br/>
              <a:r>
                <a:rPr lang="zh-CN" sz="680" b="1" dirty="0">
                  <a:solidFill>
                    <a:srgbClr val="FFFFFF"/>
                  </a:solidFill>
                  <a:latin typeface="+mn-lt"/>
                  <a:ea typeface="+mn-ea"/>
                  <a:cs typeface="+mn-cs"/>
                </a:rPr>
                <a:t>25%​</a:t>
              </a:r>
            </a:p>
          </p:txBody>
        </p:sp>
        <p:sp>
          <p:nvSpPr>
            <p:cNvPr id="80" name="TextBox 80"/>
            <p:cNvSpPr txBox="1"/>
            <p:nvPr/>
          </p:nvSpPr>
          <p:spPr>
            <a:xfrm>
              <a:off x="2299018" y="2670334"/>
              <a:ext cx="35496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金融关联</a:t>
              </a:r>
              <a:br/>
              <a:r>
                <a:rPr lang="zh-CN" sz="680" b="1" dirty="0">
                  <a:solidFill>
                    <a:srgbClr val="FFFFFF"/>
                  </a:solidFill>
                  <a:latin typeface="+mn-lt"/>
                  <a:ea typeface="+mn-ea"/>
                  <a:cs typeface="+mn-cs"/>
                </a:rPr>
                <a:t>20%​</a:t>
              </a:r>
            </a:p>
          </p:txBody>
        </p:sp>
        <p:sp>
          <p:nvSpPr>
            <p:cNvPr id="81" name="TextBox 81"/>
            <p:cNvSpPr txBox="1"/>
            <p:nvPr/>
          </p:nvSpPr>
          <p:spPr>
            <a:xfrm>
              <a:off x="3022918" y="2670334"/>
              <a:ext cx="35496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数据可得</a:t>
              </a:r>
              <a:br/>
              <a:r>
                <a:rPr lang="zh-CN" sz="680" b="1" dirty="0">
                  <a:solidFill>
                    <a:srgbClr val="FFFFFF"/>
                  </a:solidFill>
                  <a:latin typeface="+mn-lt"/>
                  <a:ea typeface="+mn-ea"/>
                  <a:cs typeface="+mn-cs"/>
                </a:rPr>
                <a:t>20%​</a:t>
              </a:r>
            </a:p>
          </p:txBody>
        </p:sp>
        <p:sp>
          <p:nvSpPr>
            <p:cNvPr id="82" name="TextBox 82"/>
            <p:cNvSpPr txBox="1"/>
            <p:nvPr/>
          </p:nvSpPr>
          <p:spPr>
            <a:xfrm>
              <a:off x="3746818" y="2670334"/>
              <a:ext cx="35496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转化路径</a:t>
              </a:r>
              <a:br/>
              <a:r>
                <a:rPr lang="zh-CN" sz="680" b="1" dirty="0">
                  <a:solidFill>
                    <a:srgbClr val="FFFFFF"/>
                  </a:solidFill>
                  <a:latin typeface="+mn-lt"/>
                  <a:ea typeface="+mn-ea"/>
                  <a:cs typeface="+mn-cs"/>
                </a:rPr>
                <a:t>15%​</a:t>
              </a:r>
            </a:p>
          </p:txBody>
        </p:sp>
        <p:sp>
          <p:nvSpPr>
            <p:cNvPr id="83" name="TextBox 83"/>
            <p:cNvSpPr txBox="1"/>
            <p:nvPr/>
          </p:nvSpPr>
          <p:spPr>
            <a:xfrm>
              <a:off x="4470718" y="2670334"/>
              <a:ext cx="35496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伙伴资源</a:t>
              </a:r>
              <a:br/>
              <a:r>
                <a:rPr lang="zh-CN" sz="680" b="1" dirty="0">
                  <a:solidFill>
                    <a:srgbClr val="FFFFFF"/>
                  </a:solidFill>
                  <a:latin typeface="+mn-lt"/>
                  <a:ea typeface="+mn-ea"/>
                  <a:cs typeface="+mn-cs"/>
                </a:rPr>
                <a:t>10%​</a:t>
              </a:r>
            </a:p>
          </p:txBody>
        </p:sp>
        <p:sp>
          <p:nvSpPr>
            <p:cNvPr id="84" name="TextBox 84"/>
            <p:cNvSpPr txBox="1"/>
            <p:nvPr/>
          </p:nvSpPr>
          <p:spPr>
            <a:xfrm>
              <a:off x="5194618" y="2670334"/>
              <a:ext cx="35496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投入产出</a:t>
              </a:r>
              <a:br/>
              <a:r>
                <a:rPr lang="zh-CN" sz="680" b="1" dirty="0">
                  <a:solidFill>
                    <a:srgbClr val="FFFFFF"/>
                  </a:solidFill>
                  <a:latin typeface="+mn-lt"/>
                  <a:ea typeface="+mn-ea"/>
                  <a:cs typeface="+mn-cs"/>
                </a:rPr>
                <a:t>10%​</a:t>
              </a:r>
            </a:p>
          </p:txBody>
        </p:sp>
        <p:sp>
          <p:nvSpPr>
            <p:cNvPr id="85" name="TextBox 85"/>
            <p:cNvSpPr txBox="1"/>
            <p:nvPr/>
          </p:nvSpPr>
          <p:spPr>
            <a:xfrm>
              <a:off x="5935024" y="2666286"/>
              <a:ext cx="474351" cy="245269"/>
            </a:xfrm>
            <a:prstGeom prst="rect">
              <a:avLst/>
            </a:prstGeom>
            <a:noFill/>
            <a:ln>
              <a:noFill/>
            </a:ln>
          </p:spPr>
          <p:txBody>
            <a:bodyPr wrap="none" lIns="0" tIns="0" rIns="0" bIns="0" anchor="t" anchorCtr="0">
              <a:spAutoFit/>
            </a:bodyPr>
            <a:lstStyle/>
            <a:p>
              <a:pPr algn="ctr">
                <a:lnSpc>
                  <a:spcPts val="825"/>
                </a:lnSpc>
              </a:pPr>
              <a:r>
                <a:rPr lang="zh-CN" sz="710" b="1" dirty="0">
                  <a:solidFill>
                    <a:srgbClr val="FFFFFF"/>
                  </a:solidFill>
                  <a:latin typeface="+mn-lt"/>
                  <a:ea typeface="+mn-ea"/>
                  <a:cs typeface="+mn-cs"/>
                </a:rPr>
                <a:t>综合得分</a:t>
              </a:r>
              <a:br/>
              <a:r>
                <a:rPr lang="zh-CN" sz="710" b="1" dirty="0">
                  <a:solidFill>
                    <a:srgbClr val="FFFFFF"/>
                  </a:solidFill>
                  <a:latin typeface="+mn-lt"/>
                  <a:ea typeface="+mn-ea"/>
                  <a:cs typeface="+mn-cs"/>
                </a:rPr>
                <a:t>（5分制）​</a:t>
              </a:r>
            </a:p>
          </p:txBody>
        </p:sp>
        <p:sp>
          <p:nvSpPr>
            <p:cNvPr id="86" name="TextBox 86"/>
            <p:cNvSpPr txBox="1"/>
            <p:nvPr/>
          </p:nvSpPr>
          <p:spPr>
            <a:xfrm>
              <a:off x="6670688" y="271533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排序</a:t>
              </a:r>
            </a:p>
          </p:txBody>
        </p:sp>
        <p:grpSp>
          <p:nvGrpSpPr>
            <p:cNvPr id="147" name="score-rows"/>
            <p:cNvGrpSpPr/>
            <p:nvPr/>
          </p:nvGrpSpPr>
          <p:grpSpPr>
            <a:xfrm>
              <a:off x="342900" y="2895600"/>
              <a:ext cx="6667500" cy="1320641"/>
              <a:chOff x="342900" y="2895600"/>
              <a:chExt cx="6667500" cy="1320641"/>
            </a:xfrm>
          </p:grpSpPr>
          <p:sp>
            <p:nvSpPr>
              <p:cNvPr id="87" name="Rectangle 87"/>
              <p:cNvSpPr/>
              <p:nvPr/>
            </p:nvSpPr>
            <p:spPr>
              <a:xfrm>
                <a:off x="342900" y="2895600"/>
                <a:ext cx="6667500" cy="219075"/>
              </a:xfrm>
              <a:prstGeom prst="rect">
                <a:avLst/>
              </a:prstGeom>
              <a:solidFill>
                <a:srgbClr val="FFFFFF"/>
              </a:solidFill>
              <a:ln w="9525">
                <a:solidFill>
                  <a:srgbClr val="E2EEEB"/>
                </a:solidFill>
              </a:ln>
            </p:spPr>
          </p:sp>
          <p:sp>
            <p:nvSpPr>
              <p:cNvPr id="88" name="TextBox 88"/>
              <p:cNvSpPr txBox="1"/>
              <p:nvPr/>
            </p:nvSpPr>
            <p:spPr>
              <a:xfrm>
                <a:off x="694372" y="2967038"/>
                <a:ext cx="21145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商圈</a:t>
                </a:r>
              </a:p>
            </p:txBody>
          </p:sp>
          <p:sp>
            <p:nvSpPr>
              <p:cNvPr id="89" name="TextBox 89"/>
              <p:cNvSpPr txBox="1"/>
              <p:nvPr/>
            </p:nvSpPr>
            <p:spPr>
              <a:xfrm>
                <a:off x="1692307" y="29670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90" name="TextBox 90"/>
              <p:cNvSpPr txBox="1"/>
              <p:nvPr/>
            </p:nvSpPr>
            <p:spPr>
              <a:xfrm>
                <a:off x="2416207" y="29670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91" name="TextBox 91"/>
              <p:cNvSpPr txBox="1"/>
              <p:nvPr/>
            </p:nvSpPr>
            <p:spPr>
              <a:xfrm>
                <a:off x="3140107" y="29670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92" name="TextBox 92"/>
              <p:cNvSpPr txBox="1"/>
              <p:nvPr/>
            </p:nvSpPr>
            <p:spPr>
              <a:xfrm>
                <a:off x="3864007" y="29670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93" name="TextBox 93"/>
              <p:cNvSpPr txBox="1"/>
              <p:nvPr/>
            </p:nvSpPr>
            <p:spPr>
              <a:xfrm>
                <a:off x="4587907" y="29670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94" name="TextBox 94"/>
              <p:cNvSpPr txBox="1"/>
              <p:nvPr/>
            </p:nvSpPr>
            <p:spPr>
              <a:xfrm>
                <a:off x="5311807" y="29670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95" name="TextBox 95"/>
              <p:cNvSpPr txBox="1"/>
              <p:nvPr/>
            </p:nvSpPr>
            <p:spPr>
              <a:xfrm>
                <a:off x="5976190" y="2958941"/>
                <a:ext cx="392021" cy="161925"/>
              </a:xfrm>
              <a:prstGeom prst="rect">
                <a:avLst/>
              </a:prstGeom>
              <a:noFill/>
              <a:ln>
                <a:noFill/>
              </a:ln>
            </p:spPr>
            <p:txBody>
              <a:bodyPr wrap="none" lIns="0" tIns="0" rIns="0" bIns="0" anchor="t" anchorCtr="0">
                <a:spAutoFit/>
              </a:bodyPr>
              <a:lstStyle/>
              <a:p>
                <a:pPr algn="ctr"/>
                <a:r>
                  <a:rPr lang="zh-CN" sz="820" b="1" dirty="0">
                    <a:solidFill>
                      <a:srgbClr val="C93F27"/>
                    </a:solidFill>
                    <a:latin typeface="+mn-lt"/>
                    <a:ea typeface="+mn-ea"/>
                    <a:cs typeface="+mn-cs"/>
                  </a:rPr>
                  <a:t>4.00​​</a:t>
                </a:r>
              </a:p>
            </p:txBody>
          </p:sp>
          <p:sp>
            <p:nvSpPr>
              <p:cNvPr id="96" name="TextBox 96"/>
              <p:cNvSpPr txBox="1"/>
              <p:nvPr/>
            </p:nvSpPr>
            <p:spPr>
              <a:xfrm>
                <a:off x="6715620" y="2962989"/>
                <a:ext cx="132359" cy="154781"/>
              </a:xfrm>
              <a:prstGeom prst="rect">
                <a:avLst/>
              </a:prstGeom>
              <a:noFill/>
              <a:ln>
                <a:noFill/>
              </a:ln>
            </p:spPr>
            <p:txBody>
              <a:bodyPr wrap="none" lIns="0" tIns="0" rIns="0" bIns="0" anchor="t" anchorCtr="0">
                <a:spAutoFit/>
              </a:bodyPr>
              <a:lstStyle/>
              <a:p>
                <a:pPr algn="ctr"/>
                <a:r>
                  <a:rPr lang="zh-CN" sz="790" b="1" dirty="0">
                    <a:solidFill>
                      <a:srgbClr val="C93F27"/>
                    </a:solidFill>
                    <a:latin typeface="+mn-lt"/>
                    <a:ea typeface="+mn-ea"/>
                    <a:cs typeface="+mn-cs"/>
                  </a:rPr>
                  <a:t>1​</a:t>
                </a:r>
              </a:p>
            </p:txBody>
          </p:sp>
          <p:sp>
            <p:nvSpPr>
              <p:cNvPr id="97" name="Rectangle 97"/>
              <p:cNvSpPr/>
              <p:nvPr/>
            </p:nvSpPr>
            <p:spPr>
              <a:xfrm>
                <a:off x="342900" y="3114675"/>
                <a:ext cx="6667500" cy="219075"/>
              </a:xfrm>
              <a:prstGeom prst="rect">
                <a:avLst/>
              </a:prstGeom>
              <a:solidFill>
                <a:srgbClr val="EFF8F6"/>
              </a:solidFill>
              <a:ln w="9525">
                <a:solidFill>
                  <a:srgbClr val="E2EEEB"/>
                </a:solidFill>
              </a:ln>
            </p:spPr>
          </p:sp>
          <p:sp>
            <p:nvSpPr>
              <p:cNvPr id="98" name="TextBox 98"/>
              <p:cNvSpPr txBox="1"/>
              <p:nvPr/>
            </p:nvSpPr>
            <p:spPr>
              <a:xfrm>
                <a:off x="694372" y="3186112"/>
                <a:ext cx="21145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园区</a:t>
                </a:r>
              </a:p>
            </p:txBody>
          </p:sp>
          <p:sp>
            <p:nvSpPr>
              <p:cNvPr id="99" name="TextBox 99"/>
              <p:cNvSpPr txBox="1"/>
              <p:nvPr/>
            </p:nvSpPr>
            <p:spPr>
              <a:xfrm>
                <a:off x="1692307" y="31861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5​</a:t>
                </a:r>
              </a:p>
            </p:txBody>
          </p:sp>
          <p:sp>
            <p:nvSpPr>
              <p:cNvPr id="100" name="TextBox 100"/>
              <p:cNvSpPr txBox="1"/>
              <p:nvPr/>
            </p:nvSpPr>
            <p:spPr>
              <a:xfrm>
                <a:off x="2416207" y="31861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5​</a:t>
                </a:r>
              </a:p>
            </p:txBody>
          </p:sp>
          <p:sp>
            <p:nvSpPr>
              <p:cNvPr id="101" name="TextBox 101"/>
              <p:cNvSpPr txBox="1"/>
              <p:nvPr/>
            </p:nvSpPr>
            <p:spPr>
              <a:xfrm>
                <a:off x="3140107" y="31861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02" name="TextBox 102"/>
              <p:cNvSpPr txBox="1"/>
              <p:nvPr/>
            </p:nvSpPr>
            <p:spPr>
              <a:xfrm>
                <a:off x="3864007" y="31861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03" name="TextBox 103"/>
              <p:cNvSpPr txBox="1"/>
              <p:nvPr/>
            </p:nvSpPr>
            <p:spPr>
              <a:xfrm>
                <a:off x="4587907" y="31861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04" name="TextBox 104"/>
              <p:cNvSpPr txBox="1"/>
              <p:nvPr/>
            </p:nvSpPr>
            <p:spPr>
              <a:xfrm>
                <a:off x="5311807" y="31861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05" name="TextBox 105"/>
              <p:cNvSpPr txBox="1"/>
              <p:nvPr/>
            </p:nvSpPr>
            <p:spPr>
              <a:xfrm>
                <a:off x="5976190" y="3178016"/>
                <a:ext cx="392021" cy="161925"/>
              </a:xfrm>
              <a:prstGeom prst="rect">
                <a:avLst/>
              </a:prstGeom>
              <a:noFill/>
              <a:ln>
                <a:noFill/>
              </a:ln>
            </p:spPr>
            <p:txBody>
              <a:bodyPr wrap="none" lIns="0" tIns="0" rIns="0" bIns="0" anchor="t" anchorCtr="0">
                <a:spAutoFit/>
              </a:bodyPr>
              <a:lstStyle/>
              <a:p>
                <a:pPr algn="ctr"/>
                <a:r>
                  <a:rPr lang="zh-CN" sz="820" b="1" dirty="0">
                    <a:solidFill>
                      <a:srgbClr val="76200F"/>
                    </a:solidFill>
                    <a:latin typeface="+mn-lt"/>
                    <a:ea typeface="+mn-ea"/>
                    <a:cs typeface="+mn-cs"/>
                  </a:rPr>
                  <a:t>4.20​​</a:t>
                </a:r>
              </a:p>
            </p:txBody>
          </p:sp>
          <p:sp>
            <p:nvSpPr>
              <p:cNvPr id="106" name="TextBox 106"/>
              <p:cNvSpPr txBox="1"/>
              <p:nvPr/>
            </p:nvSpPr>
            <p:spPr>
              <a:xfrm>
                <a:off x="6715620" y="3182064"/>
                <a:ext cx="132359" cy="154781"/>
              </a:xfrm>
              <a:prstGeom prst="rect">
                <a:avLst/>
              </a:prstGeom>
              <a:noFill/>
              <a:ln>
                <a:noFill/>
              </a:ln>
            </p:spPr>
            <p:txBody>
              <a:bodyPr wrap="none" lIns="0" tIns="0" rIns="0" bIns="0" anchor="t" anchorCtr="0">
                <a:spAutoFit/>
              </a:bodyPr>
              <a:lstStyle/>
              <a:p>
                <a:pPr algn="ctr"/>
                <a:r>
                  <a:rPr lang="zh-CN" sz="790" b="1" dirty="0">
                    <a:solidFill>
                      <a:srgbClr val="76200F"/>
                    </a:solidFill>
                    <a:latin typeface="+mn-lt"/>
                    <a:ea typeface="+mn-ea"/>
                    <a:cs typeface="+mn-cs"/>
                  </a:rPr>
                  <a:t>2​</a:t>
                </a:r>
              </a:p>
            </p:txBody>
          </p:sp>
          <p:sp>
            <p:nvSpPr>
              <p:cNvPr id="107" name="Rectangle 107"/>
              <p:cNvSpPr/>
              <p:nvPr/>
            </p:nvSpPr>
            <p:spPr>
              <a:xfrm>
                <a:off x="342900" y="3333750"/>
                <a:ext cx="6667500" cy="219075"/>
              </a:xfrm>
              <a:prstGeom prst="rect">
                <a:avLst/>
              </a:prstGeom>
              <a:solidFill>
                <a:srgbClr val="FFFFFF"/>
              </a:solidFill>
              <a:ln w="9525">
                <a:solidFill>
                  <a:srgbClr val="E2EEEB"/>
                </a:solidFill>
              </a:ln>
            </p:spPr>
          </p:sp>
          <p:sp>
            <p:nvSpPr>
              <p:cNvPr id="108" name="TextBox 108"/>
              <p:cNvSpPr txBox="1"/>
              <p:nvPr/>
            </p:nvSpPr>
            <p:spPr>
              <a:xfrm>
                <a:off x="694372" y="3405188"/>
                <a:ext cx="21145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社区</a:t>
                </a:r>
              </a:p>
            </p:txBody>
          </p:sp>
          <p:sp>
            <p:nvSpPr>
              <p:cNvPr id="109" name="TextBox 109"/>
              <p:cNvSpPr txBox="1"/>
              <p:nvPr/>
            </p:nvSpPr>
            <p:spPr>
              <a:xfrm>
                <a:off x="1692307" y="340518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10" name="TextBox 110"/>
              <p:cNvSpPr txBox="1"/>
              <p:nvPr/>
            </p:nvSpPr>
            <p:spPr>
              <a:xfrm>
                <a:off x="2416207" y="340518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11" name="TextBox 111"/>
              <p:cNvSpPr txBox="1"/>
              <p:nvPr/>
            </p:nvSpPr>
            <p:spPr>
              <a:xfrm>
                <a:off x="3140107" y="340518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12" name="TextBox 112"/>
              <p:cNvSpPr txBox="1"/>
              <p:nvPr/>
            </p:nvSpPr>
            <p:spPr>
              <a:xfrm>
                <a:off x="3864007" y="340518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13" name="TextBox 113"/>
              <p:cNvSpPr txBox="1"/>
              <p:nvPr/>
            </p:nvSpPr>
            <p:spPr>
              <a:xfrm>
                <a:off x="4587907" y="340518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14" name="TextBox 114"/>
              <p:cNvSpPr txBox="1"/>
              <p:nvPr/>
            </p:nvSpPr>
            <p:spPr>
              <a:xfrm>
                <a:off x="5311807" y="340518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15" name="TextBox 115"/>
              <p:cNvSpPr txBox="1"/>
              <p:nvPr/>
            </p:nvSpPr>
            <p:spPr>
              <a:xfrm>
                <a:off x="5976190" y="3397091"/>
                <a:ext cx="392021" cy="161925"/>
              </a:xfrm>
              <a:prstGeom prst="rect">
                <a:avLst/>
              </a:prstGeom>
              <a:noFill/>
              <a:ln>
                <a:noFill/>
              </a:ln>
            </p:spPr>
            <p:txBody>
              <a:bodyPr wrap="none" lIns="0" tIns="0" rIns="0" bIns="0" anchor="t" anchorCtr="0">
                <a:spAutoFit/>
              </a:bodyPr>
              <a:lstStyle/>
              <a:p>
                <a:pPr algn="ctr"/>
                <a:r>
                  <a:rPr lang="zh-CN" sz="820" b="1" dirty="0">
                    <a:solidFill>
                      <a:srgbClr val="76200F"/>
                    </a:solidFill>
                    <a:latin typeface="+mn-lt"/>
                    <a:ea typeface="+mn-ea"/>
                    <a:cs typeface="+mn-cs"/>
                  </a:rPr>
                  <a:t>3.95​​</a:t>
                </a:r>
              </a:p>
            </p:txBody>
          </p:sp>
          <p:sp>
            <p:nvSpPr>
              <p:cNvPr id="116" name="TextBox 116"/>
              <p:cNvSpPr txBox="1"/>
              <p:nvPr/>
            </p:nvSpPr>
            <p:spPr>
              <a:xfrm>
                <a:off x="6715620" y="3401139"/>
                <a:ext cx="132359" cy="154781"/>
              </a:xfrm>
              <a:prstGeom prst="rect">
                <a:avLst/>
              </a:prstGeom>
              <a:noFill/>
              <a:ln>
                <a:noFill/>
              </a:ln>
            </p:spPr>
            <p:txBody>
              <a:bodyPr wrap="none" lIns="0" tIns="0" rIns="0" bIns="0" anchor="t" anchorCtr="0">
                <a:spAutoFit/>
              </a:bodyPr>
              <a:lstStyle/>
              <a:p>
                <a:pPr algn="ctr"/>
                <a:r>
                  <a:rPr lang="zh-CN" sz="790" b="1" dirty="0">
                    <a:solidFill>
                      <a:srgbClr val="76200F"/>
                    </a:solidFill>
                    <a:latin typeface="+mn-lt"/>
                    <a:ea typeface="+mn-ea"/>
                    <a:cs typeface="+mn-cs"/>
                  </a:rPr>
                  <a:t>3​</a:t>
                </a:r>
              </a:p>
            </p:txBody>
          </p:sp>
          <p:sp>
            <p:nvSpPr>
              <p:cNvPr id="117" name="Rectangle 117"/>
              <p:cNvSpPr/>
              <p:nvPr/>
            </p:nvSpPr>
            <p:spPr>
              <a:xfrm>
                <a:off x="342900" y="3552825"/>
                <a:ext cx="6667500" cy="219075"/>
              </a:xfrm>
              <a:prstGeom prst="rect">
                <a:avLst/>
              </a:prstGeom>
              <a:solidFill>
                <a:srgbClr val="EFF8F6"/>
              </a:solidFill>
              <a:ln w="9525">
                <a:solidFill>
                  <a:srgbClr val="E2EEEB"/>
                </a:solidFill>
              </a:ln>
            </p:spPr>
          </p:sp>
          <p:sp>
            <p:nvSpPr>
              <p:cNvPr id="118" name="TextBox 118"/>
              <p:cNvSpPr txBox="1"/>
              <p:nvPr/>
            </p:nvSpPr>
            <p:spPr>
              <a:xfrm>
                <a:off x="694372" y="3624262"/>
                <a:ext cx="21145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赛事</a:t>
                </a:r>
              </a:p>
            </p:txBody>
          </p:sp>
          <p:sp>
            <p:nvSpPr>
              <p:cNvPr id="119" name="TextBox 119"/>
              <p:cNvSpPr txBox="1"/>
              <p:nvPr/>
            </p:nvSpPr>
            <p:spPr>
              <a:xfrm>
                <a:off x="1692307" y="362426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20" name="TextBox 120"/>
              <p:cNvSpPr txBox="1"/>
              <p:nvPr/>
            </p:nvSpPr>
            <p:spPr>
              <a:xfrm>
                <a:off x="2416207" y="362426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21" name="TextBox 121"/>
              <p:cNvSpPr txBox="1"/>
              <p:nvPr/>
            </p:nvSpPr>
            <p:spPr>
              <a:xfrm>
                <a:off x="3140107" y="362426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2​</a:t>
                </a:r>
              </a:p>
            </p:txBody>
          </p:sp>
          <p:sp>
            <p:nvSpPr>
              <p:cNvPr id="122" name="TextBox 122"/>
              <p:cNvSpPr txBox="1"/>
              <p:nvPr/>
            </p:nvSpPr>
            <p:spPr>
              <a:xfrm>
                <a:off x="3864007" y="362426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23" name="TextBox 123"/>
              <p:cNvSpPr txBox="1"/>
              <p:nvPr/>
            </p:nvSpPr>
            <p:spPr>
              <a:xfrm>
                <a:off x="4587907" y="362426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24" name="TextBox 124"/>
              <p:cNvSpPr txBox="1"/>
              <p:nvPr/>
            </p:nvSpPr>
            <p:spPr>
              <a:xfrm>
                <a:off x="5311807" y="362426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25" name="TextBox 125"/>
              <p:cNvSpPr txBox="1"/>
              <p:nvPr/>
            </p:nvSpPr>
            <p:spPr>
              <a:xfrm>
                <a:off x="5976190" y="3616166"/>
                <a:ext cx="392021" cy="161925"/>
              </a:xfrm>
              <a:prstGeom prst="rect">
                <a:avLst/>
              </a:prstGeom>
              <a:noFill/>
              <a:ln>
                <a:noFill/>
              </a:ln>
            </p:spPr>
            <p:txBody>
              <a:bodyPr wrap="none" lIns="0" tIns="0" rIns="0" bIns="0" anchor="t" anchorCtr="0">
                <a:spAutoFit/>
              </a:bodyPr>
              <a:lstStyle/>
              <a:p>
                <a:pPr algn="ctr"/>
                <a:r>
                  <a:rPr lang="zh-CN" sz="820" b="1" dirty="0">
                    <a:solidFill>
                      <a:srgbClr val="76200F"/>
                    </a:solidFill>
                    <a:latin typeface="+mn-lt"/>
                    <a:ea typeface="+mn-ea"/>
                    <a:cs typeface="+mn-cs"/>
                  </a:rPr>
                  <a:t>3.05​​</a:t>
                </a:r>
              </a:p>
            </p:txBody>
          </p:sp>
          <p:sp>
            <p:nvSpPr>
              <p:cNvPr id="126" name="TextBox 126"/>
              <p:cNvSpPr txBox="1"/>
              <p:nvPr/>
            </p:nvSpPr>
            <p:spPr>
              <a:xfrm>
                <a:off x="6715620" y="3620214"/>
                <a:ext cx="132359" cy="154781"/>
              </a:xfrm>
              <a:prstGeom prst="rect">
                <a:avLst/>
              </a:prstGeom>
              <a:noFill/>
              <a:ln>
                <a:noFill/>
              </a:ln>
            </p:spPr>
            <p:txBody>
              <a:bodyPr wrap="none" lIns="0" tIns="0" rIns="0" bIns="0" anchor="t" anchorCtr="0">
                <a:spAutoFit/>
              </a:bodyPr>
              <a:lstStyle/>
              <a:p>
                <a:pPr algn="ctr"/>
                <a:r>
                  <a:rPr lang="zh-CN" sz="790" b="1" dirty="0">
                    <a:solidFill>
                      <a:srgbClr val="76200F"/>
                    </a:solidFill>
                    <a:latin typeface="+mn-lt"/>
                    <a:ea typeface="+mn-ea"/>
                    <a:cs typeface="+mn-cs"/>
                  </a:rPr>
                  <a:t>5​</a:t>
                </a:r>
              </a:p>
            </p:txBody>
          </p:sp>
          <p:sp>
            <p:nvSpPr>
              <p:cNvPr id="127" name="Rectangle 127"/>
              <p:cNvSpPr/>
              <p:nvPr/>
            </p:nvSpPr>
            <p:spPr>
              <a:xfrm>
                <a:off x="342900" y="3771900"/>
                <a:ext cx="6667500" cy="219075"/>
              </a:xfrm>
              <a:prstGeom prst="rect">
                <a:avLst/>
              </a:prstGeom>
              <a:solidFill>
                <a:srgbClr val="FFFFFF"/>
              </a:solidFill>
              <a:ln w="9525">
                <a:solidFill>
                  <a:srgbClr val="E2EEEB"/>
                </a:solidFill>
              </a:ln>
            </p:spPr>
          </p:sp>
          <p:sp>
            <p:nvSpPr>
              <p:cNvPr id="128" name="TextBox 128"/>
              <p:cNvSpPr txBox="1"/>
              <p:nvPr/>
            </p:nvSpPr>
            <p:spPr>
              <a:xfrm>
                <a:off x="694372" y="3843338"/>
                <a:ext cx="21145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文旅</a:t>
                </a:r>
              </a:p>
            </p:txBody>
          </p:sp>
          <p:sp>
            <p:nvSpPr>
              <p:cNvPr id="129" name="TextBox 129"/>
              <p:cNvSpPr txBox="1"/>
              <p:nvPr/>
            </p:nvSpPr>
            <p:spPr>
              <a:xfrm>
                <a:off x="1692307" y="38433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30" name="TextBox 130"/>
              <p:cNvSpPr txBox="1"/>
              <p:nvPr/>
            </p:nvSpPr>
            <p:spPr>
              <a:xfrm>
                <a:off x="2416207" y="38433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31" name="TextBox 131"/>
              <p:cNvSpPr txBox="1"/>
              <p:nvPr/>
            </p:nvSpPr>
            <p:spPr>
              <a:xfrm>
                <a:off x="3140107" y="38433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32" name="TextBox 132"/>
              <p:cNvSpPr txBox="1"/>
              <p:nvPr/>
            </p:nvSpPr>
            <p:spPr>
              <a:xfrm>
                <a:off x="3864007" y="38433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33" name="TextBox 133"/>
              <p:cNvSpPr txBox="1"/>
              <p:nvPr/>
            </p:nvSpPr>
            <p:spPr>
              <a:xfrm>
                <a:off x="4587907" y="38433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34" name="TextBox 134"/>
              <p:cNvSpPr txBox="1"/>
              <p:nvPr/>
            </p:nvSpPr>
            <p:spPr>
              <a:xfrm>
                <a:off x="5311807" y="3843338"/>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35" name="TextBox 135"/>
              <p:cNvSpPr txBox="1"/>
              <p:nvPr/>
            </p:nvSpPr>
            <p:spPr>
              <a:xfrm>
                <a:off x="5976190" y="3835241"/>
                <a:ext cx="392021" cy="161925"/>
              </a:xfrm>
              <a:prstGeom prst="rect">
                <a:avLst/>
              </a:prstGeom>
              <a:noFill/>
              <a:ln>
                <a:noFill/>
              </a:ln>
            </p:spPr>
            <p:txBody>
              <a:bodyPr wrap="none" lIns="0" tIns="0" rIns="0" bIns="0" anchor="t" anchorCtr="0">
                <a:spAutoFit/>
              </a:bodyPr>
              <a:lstStyle/>
              <a:p>
                <a:pPr algn="ctr"/>
                <a:r>
                  <a:rPr lang="zh-CN" sz="820" b="1" dirty="0">
                    <a:solidFill>
                      <a:srgbClr val="76200F"/>
                    </a:solidFill>
                    <a:latin typeface="+mn-lt"/>
                    <a:ea typeface="+mn-ea"/>
                    <a:cs typeface="+mn-cs"/>
                  </a:rPr>
                  <a:t>3.25​​</a:t>
                </a:r>
              </a:p>
            </p:txBody>
          </p:sp>
          <p:sp>
            <p:nvSpPr>
              <p:cNvPr id="136" name="TextBox 136"/>
              <p:cNvSpPr txBox="1"/>
              <p:nvPr/>
            </p:nvSpPr>
            <p:spPr>
              <a:xfrm>
                <a:off x="6715620" y="3839289"/>
                <a:ext cx="132359" cy="154781"/>
              </a:xfrm>
              <a:prstGeom prst="rect">
                <a:avLst/>
              </a:prstGeom>
              <a:noFill/>
              <a:ln>
                <a:noFill/>
              </a:ln>
            </p:spPr>
            <p:txBody>
              <a:bodyPr wrap="none" lIns="0" tIns="0" rIns="0" bIns="0" anchor="t" anchorCtr="0">
                <a:spAutoFit/>
              </a:bodyPr>
              <a:lstStyle/>
              <a:p>
                <a:pPr algn="ctr"/>
                <a:r>
                  <a:rPr lang="zh-CN" sz="790" b="1" dirty="0">
                    <a:solidFill>
                      <a:srgbClr val="76200F"/>
                    </a:solidFill>
                    <a:latin typeface="+mn-lt"/>
                    <a:ea typeface="+mn-ea"/>
                    <a:cs typeface="+mn-cs"/>
                  </a:rPr>
                  <a:t>4​</a:t>
                </a:r>
              </a:p>
            </p:txBody>
          </p:sp>
          <p:sp>
            <p:nvSpPr>
              <p:cNvPr id="137" name="Rectangle 137"/>
              <p:cNvSpPr/>
              <p:nvPr/>
            </p:nvSpPr>
            <p:spPr>
              <a:xfrm>
                <a:off x="342900" y="3990975"/>
                <a:ext cx="6667500" cy="219075"/>
              </a:xfrm>
              <a:prstGeom prst="rect">
                <a:avLst/>
              </a:prstGeom>
              <a:solidFill>
                <a:srgbClr val="EFF8F6"/>
              </a:solidFill>
              <a:ln w="9525">
                <a:solidFill>
                  <a:srgbClr val="E2EEEB"/>
                </a:solidFill>
              </a:ln>
            </p:spPr>
          </p:sp>
          <p:sp>
            <p:nvSpPr>
              <p:cNvPr id="138" name="TextBox 138"/>
              <p:cNvSpPr txBox="1"/>
              <p:nvPr/>
            </p:nvSpPr>
            <p:spPr>
              <a:xfrm>
                <a:off x="694372" y="4062412"/>
                <a:ext cx="21145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校园</a:t>
                </a:r>
              </a:p>
            </p:txBody>
          </p:sp>
          <p:sp>
            <p:nvSpPr>
              <p:cNvPr id="139" name="TextBox 139"/>
              <p:cNvSpPr txBox="1"/>
              <p:nvPr/>
            </p:nvSpPr>
            <p:spPr>
              <a:xfrm>
                <a:off x="1692307" y="40624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2​</a:t>
                </a:r>
              </a:p>
            </p:txBody>
          </p:sp>
          <p:sp>
            <p:nvSpPr>
              <p:cNvPr id="140" name="TextBox 140"/>
              <p:cNvSpPr txBox="1"/>
              <p:nvPr/>
            </p:nvSpPr>
            <p:spPr>
              <a:xfrm>
                <a:off x="2416207" y="40624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2​</a:t>
                </a:r>
              </a:p>
            </p:txBody>
          </p:sp>
          <p:sp>
            <p:nvSpPr>
              <p:cNvPr id="141" name="TextBox 141"/>
              <p:cNvSpPr txBox="1"/>
              <p:nvPr/>
            </p:nvSpPr>
            <p:spPr>
              <a:xfrm>
                <a:off x="3140107" y="40624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42" name="TextBox 142"/>
              <p:cNvSpPr txBox="1"/>
              <p:nvPr/>
            </p:nvSpPr>
            <p:spPr>
              <a:xfrm>
                <a:off x="3864007" y="40624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43" name="TextBox 143"/>
              <p:cNvSpPr txBox="1"/>
              <p:nvPr/>
            </p:nvSpPr>
            <p:spPr>
              <a:xfrm>
                <a:off x="4587907" y="40624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3​</a:t>
                </a:r>
              </a:p>
            </p:txBody>
          </p:sp>
          <p:sp>
            <p:nvSpPr>
              <p:cNvPr id="144" name="TextBox 144"/>
              <p:cNvSpPr txBox="1"/>
              <p:nvPr/>
            </p:nvSpPr>
            <p:spPr>
              <a:xfrm>
                <a:off x="5311807" y="4062412"/>
                <a:ext cx="120586" cy="147638"/>
              </a:xfrm>
              <a:prstGeom prst="rect">
                <a:avLst/>
              </a:prstGeom>
              <a:noFill/>
              <a:ln>
                <a:noFill/>
              </a:ln>
            </p:spPr>
            <p:txBody>
              <a:bodyPr wrap="none" lIns="0" tIns="0" rIns="0" bIns="0" anchor="t" anchorCtr="0">
                <a:spAutoFit/>
              </a:bodyPr>
              <a:lstStyle/>
              <a:p>
                <a:pPr algn="ctr"/>
                <a:r>
                  <a:rPr lang="zh-CN" sz="750" dirty="0">
                    <a:solidFill>
                      <a:srgbClr val="514340"/>
                    </a:solidFill>
                    <a:latin typeface="+mn-lt"/>
                    <a:ea typeface="+mn-ea"/>
                    <a:cs typeface="+mn-cs"/>
                  </a:rPr>
                  <a:t>4​</a:t>
                </a:r>
              </a:p>
            </p:txBody>
          </p:sp>
          <p:sp>
            <p:nvSpPr>
              <p:cNvPr id="145" name="TextBox 145"/>
              <p:cNvSpPr txBox="1"/>
              <p:nvPr/>
            </p:nvSpPr>
            <p:spPr>
              <a:xfrm>
                <a:off x="5976190" y="4054316"/>
                <a:ext cx="392021" cy="161925"/>
              </a:xfrm>
              <a:prstGeom prst="rect">
                <a:avLst/>
              </a:prstGeom>
              <a:noFill/>
              <a:ln>
                <a:noFill/>
              </a:ln>
            </p:spPr>
            <p:txBody>
              <a:bodyPr wrap="none" lIns="0" tIns="0" rIns="0" bIns="0" anchor="t" anchorCtr="0">
                <a:spAutoFit/>
              </a:bodyPr>
              <a:lstStyle/>
              <a:p>
                <a:pPr algn="ctr"/>
                <a:r>
                  <a:rPr lang="zh-CN" sz="820" b="1" dirty="0">
                    <a:solidFill>
                      <a:srgbClr val="76200F"/>
                    </a:solidFill>
                    <a:latin typeface="+mn-lt"/>
                    <a:ea typeface="+mn-ea"/>
                    <a:cs typeface="+mn-cs"/>
                  </a:rPr>
                  <a:t>2.65​​</a:t>
                </a:r>
              </a:p>
            </p:txBody>
          </p:sp>
          <p:sp>
            <p:nvSpPr>
              <p:cNvPr id="146" name="TextBox 146"/>
              <p:cNvSpPr txBox="1"/>
              <p:nvPr/>
            </p:nvSpPr>
            <p:spPr>
              <a:xfrm>
                <a:off x="6715620" y="4058364"/>
                <a:ext cx="132359" cy="154781"/>
              </a:xfrm>
              <a:prstGeom prst="rect">
                <a:avLst/>
              </a:prstGeom>
              <a:noFill/>
              <a:ln>
                <a:noFill/>
              </a:ln>
            </p:spPr>
            <p:txBody>
              <a:bodyPr wrap="none" lIns="0" tIns="0" rIns="0" bIns="0" anchor="t" anchorCtr="0">
                <a:spAutoFit/>
              </a:bodyPr>
              <a:lstStyle/>
              <a:p>
                <a:pPr algn="ctr"/>
                <a:r>
                  <a:rPr lang="zh-CN" sz="790" b="1" dirty="0">
                    <a:solidFill>
                      <a:srgbClr val="76200F"/>
                    </a:solidFill>
                    <a:latin typeface="+mn-lt"/>
                    <a:ea typeface="+mn-ea"/>
                    <a:cs typeface="+mn-cs"/>
                  </a:rPr>
                  <a:t>6​</a:t>
                </a:r>
              </a:p>
            </p:txBody>
          </p:sp>
        </p:grpSp>
      </p:grpSp>
      <p:grpSp>
        <p:nvGrpSpPr>
          <p:cNvPr id="198" name="feature-compare"/>
          <p:cNvGrpSpPr/>
          <p:nvPr/>
        </p:nvGrpSpPr>
        <p:grpSpPr>
          <a:xfrm>
            <a:off x="342900" y="4400550"/>
            <a:ext cx="6667500" cy="2152650"/>
            <a:chOff x="342900" y="4400550"/>
            <a:chExt cx="6667500" cy="2152650"/>
          </a:xfrm>
        </p:grpSpPr>
        <p:sp>
          <p:nvSpPr>
            <p:cNvPr id="149" name="Rectangle 149"/>
            <p:cNvSpPr/>
            <p:nvPr/>
          </p:nvSpPr>
          <p:spPr>
            <a:xfrm>
              <a:off x="342900" y="4400550"/>
              <a:ext cx="1619250" cy="228600"/>
            </a:xfrm>
            <a:prstGeom prst="roundRect">
              <a:avLst>
                <a:gd name="adj" fmla="val 20833"/>
              </a:avLst>
            </a:prstGeom>
            <a:solidFill>
              <a:srgbClr val="76200F"/>
            </a:solidFill>
            <a:ln>
              <a:noFill/>
            </a:ln>
          </p:spPr>
        </p:sp>
        <p:sp>
          <p:nvSpPr>
            <p:cNvPr id="150" name="TextBox 150"/>
            <p:cNvSpPr txBox="1"/>
            <p:nvPr/>
          </p:nvSpPr>
          <p:spPr>
            <a:xfrm>
              <a:off x="452438" y="4461272"/>
              <a:ext cx="1148410"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各场景核心特征对比</a:t>
              </a:r>
            </a:p>
          </p:txBody>
        </p:sp>
        <p:sp>
          <p:nvSpPr>
            <p:cNvPr id="151" name="Rectangle 151"/>
            <p:cNvSpPr/>
            <p:nvPr/>
          </p:nvSpPr>
          <p:spPr>
            <a:xfrm>
              <a:off x="342900" y="4686300"/>
              <a:ext cx="666750" cy="266700"/>
            </a:xfrm>
            <a:prstGeom prst="rect">
              <a:avLst/>
            </a:prstGeom>
            <a:solidFill>
              <a:srgbClr val="E4F1EE"/>
            </a:solidFill>
            <a:ln>
              <a:noFill/>
            </a:ln>
          </p:spPr>
        </p:sp>
        <p:sp>
          <p:nvSpPr>
            <p:cNvPr id="152" name="TextBox 152"/>
            <p:cNvSpPr txBox="1"/>
            <p:nvPr/>
          </p:nvSpPr>
          <p:spPr>
            <a:xfrm>
              <a:off x="570548" y="4786312"/>
              <a:ext cx="211455"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维度</a:t>
              </a:r>
            </a:p>
          </p:txBody>
        </p:sp>
        <p:sp>
          <p:nvSpPr>
            <p:cNvPr id="153" name="Rectangle 153"/>
            <p:cNvSpPr/>
            <p:nvPr/>
          </p:nvSpPr>
          <p:spPr>
            <a:xfrm>
              <a:off x="1009650" y="4686300"/>
              <a:ext cx="1000125" cy="266700"/>
            </a:xfrm>
            <a:prstGeom prst="rect">
              <a:avLst/>
            </a:prstGeom>
            <a:solidFill>
              <a:srgbClr val="5D190B"/>
            </a:solidFill>
            <a:ln>
              <a:noFill/>
            </a:ln>
          </p:spPr>
        </p:sp>
        <p:sp>
          <p:nvSpPr>
            <p:cNvPr id="154" name="TextBox 154"/>
            <p:cNvSpPr txBox="1"/>
            <p:nvPr/>
          </p:nvSpPr>
          <p:spPr>
            <a:xfrm>
              <a:off x="1399222" y="478631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商圈</a:t>
              </a:r>
            </a:p>
          </p:txBody>
        </p:sp>
        <p:sp>
          <p:nvSpPr>
            <p:cNvPr id="155" name="Rectangle 155"/>
            <p:cNvSpPr/>
            <p:nvPr/>
          </p:nvSpPr>
          <p:spPr>
            <a:xfrm>
              <a:off x="2009775" y="4686300"/>
              <a:ext cx="1000125" cy="266700"/>
            </a:xfrm>
            <a:prstGeom prst="rect">
              <a:avLst/>
            </a:prstGeom>
            <a:solidFill>
              <a:srgbClr val="76200F"/>
            </a:solidFill>
            <a:ln>
              <a:noFill/>
            </a:ln>
          </p:spPr>
        </p:sp>
        <p:sp>
          <p:nvSpPr>
            <p:cNvPr id="156" name="TextBox 156"/>
            <p:cNvSpPr txBox="1"/>
            <p:nvPr/>
          </p:nvSpPr>
          <p:spPr>
            <a:xfrm>
              <a:off x="2399348" y="478631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园区</a:t>
              </a:r>
            </a:p>
          </p:txBody>
        </p:sp>
        <p:sp>
          <p:nvSpPr>
            <p:cNvPr id="157" name="Rectangle 157"/>
            <p:cNvSpPr/>
            <p:nvPr/>
          </p:nvSpPr>
          <p:spPr>
            <a:xfrm>
              <a:off x="3009900" y="4686300"/>
              <a:ext cx="1000125" cy="266700"/>
            </a:xfrm>
            <a:prstGeom prst="rect">
              <a:avLst/>
            </a:prstGeom>
            <a:solidFill>
              <a:srgbClr val="852512"/>
            </a:solidFill>
            <a:ln>
              <a:noFill/>
            </a:ln>
          </p:spPr>
        </p:sp>
        <p:sp>
          <p:nvSpPr>
            <p:cNvPr id="158" name="TextBox 158"/>
            <p:cNvSpPr txBox="1"/>
            <p:nvPr/>
          </p:nvSpPr>
          <p:spPr>
            <a:xfrm>
              <a:off x="3399472" y="478631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社区</a:t>
              </a:r>
            </a:p>
          </p:txBody>
        </p:sp>
        <p:sp>
          <p:nvSpPr>
            <p:cNvPr id="159" name="Rectangle 159"/>
            <p:cNvSpPr/>
            <p:nvPr/>
          </p:nvSpPr>
          <p:spPr>
            <a:xfrm>
              <a:off x="4010025" y="4686300"/>
              <a:ext cx="1000125" cy="266700"/>
            </a:xfrm>
            <a:prstGeom prst="rect">
              <a:avLst/>
            </a:prstGeom>
            <a:solidFill>
              <a:srgbClr val="5D190B"/>
            </a:solidFill>
            <a:ln>
              <a:noFill/>
            </a:ln>
          </p:spPr>
        </p:sp>
        <p:sp>
          <p:nvSpPr>
            <p:cNvPr id="160" name="TextBox 160"/>
            <p:cNvSpPr txBox="1"/>
            <p:nvPr/>
          </p:nvSpPr>
          <p:spPr>
            <a:xfrm>
              <a:off x="4399598" y="478631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赛事</a:t>
              </a:r>
            </a:p>
          </p:txBody>
        </p:sp>
        <p:sp>
          <p:nvSpPr>
            <p:cNvPr id="161" name="Rectangle 161"/>
            <p:cNvSpPr/>
            <p:nvPr/>
          </p:nvSpPr>
          <p:spPr>
            <a:xfrm>
              <a:off x="5010150" y="4686300"/>
              <a:ext cx="1000125" cy="266700"/>
            </a:xfrm>
            <a:prstGeom prst="rect">
              <a:avLst/>
            </a:prstGeom>
            <a:solidFill>
              <a:srgbClr val="76200F"/>
            </a:solidFill>
            <a:ln>
              <a:noFill/>
            </a:ln>
          </p:spPr>
        </p:sp>
        <p:sp>
          <p:nvSpPr>
            <p:cNvPr id="162" name="TextBox 162"/>
            <p:cNvSpPr txBox="1"/>
            <p:nvPr/>
          </p:nvSpPr>
          <p:spPr>
            <a:xfrm>
              <a:off x="5399722" y="478631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文旅</a:t>
              </a:r>
            </a:p>
          </p:txBody>
        </p:sp>
        <p:sp>
          <p:nvSpPr>
            <p:cNvPr id="163" name="Rectangle 163"/>
            <p:cNvSpPr/>
            <p:nvPr/>
          </p:nvSpPr>
          <p:spPr>
            <a:xfrm>
              <a:off x="6010275" y="4686300"/>
              <a:ext cx="1000125" cy="266700"/>
            </a:xfrm>
            <a:prstGeom prst="rect">
              <a:avLst/>
            </a:prstGeom>
            <a:solidFill>
              <a:srgbClr val="852512"/>
            </a:solidFill>
            <a:ln>
              <a:noFill/>
            </a:ln>
          </p:spPr>
        </p:sp>
        <p:sp>
          <p:nvSpPr>
            <p:cNvPr id="164" name="TextBox 164"/>
            <p:cNvSpPr txBox="1"/>
            <p:nvPr/>
          </p:nvSpPr>
          <p:spPr>
            <a:xfrm>
              <a:off x="6399848" y="478631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校园</a:t>
              </a:r>
            </a:p>
          </p:txBody>
        </p:sp>
        <p:grpSp>
          <p:nvGrpSpPr>
            <p:cNvPr id="197" name="feature-rows"/>
            <p:cNvGrpSpPr/>
            <p:nvPr/>
          </p:nvGrpSpPr>
          <p:grpSpPr>
            <a:xfrm>
              <a:off x="342900" y="4953000"/>
              <a:ext cx="6667500" cy="1600200"/>
              <a:chOff x="342900" y="4953000"/>
              <a:chExt cx="6667500" cy="1600200"/>
            </a:xfrm>
          </p:grpSpPr>
          <p:sp>
            <p:nvSpPr>
              <p:cNvPr id="165" name="Rectangle 165"/>
              <p:cNvSpPr/>
              <p:nvPr/>
            </p:nvSpPr>
            <p:spPr>
              <a:xfrm>
                <a:off x="342900" y="4953000"/>
                <a:ext cx="6667500" cy="400050"/>
              </a:xfrm>
              <a:prstGeom prst="rect">
                <a:avLst/>
              </a:prstGeom>
              <a:solidFill>
                <a:srgbClr val="FFFFFF"/>
              </a:solidFill>
              <a:ln w="9525">
                <a:solidFill>
                  <a:srgbClr val="E2EEEB"/>
                </a:solidFill>
              </a:ln>
            </p:spPr>
          </p:sp>
          <p:sp>
            <p:nvSpPr>
              <p:cNvPr id="166" name="TextBox 166"/>
              <p:cNvSpPr txBox="1"/>
              <p:nvPr/>
            </p:nvSpPr>
            <p:spPr>
              <a:xfrm>
                <a:off x="480352" y="5114211"/>
                <a:ext cx="391846" cy="140494"/>
              </a:xfrm>
              <a:prstGeom prst="rect">
                <a:avLst/>
              </a:prstGeom>
              <a:noFill/>
              <a:ln>
                <a:noFill/>
              </a:ln>
            </p:spPr>
            <p:txBody>
              <a:bodyPr wrap="none" lIns="0" tIns="0" rIns="0" bIns="0" anchor="t" anchorCtr="0">
                <a:spAutoFit/>
              </a:bodyPr>
              <a:lstStyle/>
              <a:p>
                <a:pPr algn="ctr"/>
                <a:r>
                  <a:rPr lang="zh-CN" sz="710" b="1" dirty="0">
                    <a:solidFill>
                      <a:srgbClr val="5D190B"/>
                    </a:solidFill>
                    <a:latin typeface="+mn-lt"/>
                    <a:ea typeface="+mn-ea"/>
                    <a:cs typeface="+mn-cs"/>
                  </a:rPr>
                  <a:t>典型客群</a:t>
                </a:r>
              </a:p>
            </p:txBody>
          </p:sp>
          <p:sp>
            <p:nvSpPr>
              <p:cNvPr id="167" name="TextBox 167"/>
              <p:cNvSpPr txBox="1"/>
              <p:nvPr/>
            </p:nvSpPr>
            <p:spPr>
              <a:xfrm>
                <a:off x="1241717" y="5055632"/>
                <a:ext cx="52646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城市大众客群</a:t>
                </a:r>
              </a:p>
            </p:txBody>
          </p:sp>
          <p:sp>
            <p:nvSpPr>
              <p:cNvPr id="168" name="TextBox 168"/>
              <p:cNvSpPr txBox="1"/>
              <p:nvPr/>
            </p:nvSpPr>
            <p:spPr>
              <a:xfrm>
                <a:off x="2082452" y="5055632"/>
                <a:ext cx="84524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企业员工 / 高知人群​</a:t>
                </a:r>
              </a:p>
            </p:txBody>
          </p:sp>
          <p:sp>
            <p:nvSpPr>
              <p:cNvPr id="169" name="TextBox 169"/>
              <p:cNvSpPr txBox="1"/>
              <p:nvPr/>
            </p:nvSpPr>
            <p:spPr>
              <a:xfrm>
                <a:off x="3328124" y="5055632"/>
                <a:ext cx="354152"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家庭客群</a:t>
                </a:r>
              </a:p>
            </p:txBody>
          </p:sp>
          <p:sp>
            <p:nvSpPr>
              <p:cNvPr id="170" name="TextBox 170"/>
              <p:cNvSpPr txBox="1"/>
              <p:nvPr/>
            </p:nvSpPr>
            <p:spPr>
              <a:xfrm>
                <a:off x="4125780" y="5055632"/>
                <a:ext cx="75908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年轻 / 高净值人群​</a:t>
                </a:r>
              </a:p>
            </p:txBody>
          </p:sp>
          <p:sp>
            <p:nvSpPr>
              <p:cNvPr id="171" name="TextBox 171"/>
              <p:cNvSpPr txBox="1"/>
              <p:nvPr/>
            </p:nvSpPr>
            <p:spPr>
              <a:xfrm>
                <a:off x="5199139" y="5055632"/>
                <a:ext cx="612623"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本地及周边游客</a:t>
                </a:r>
              </a:p>
            </p:txBody>
          </p:sp>
          <p:sp>
            <p:nvSpPr>
              <p:cNvPr id="172" name="TextBox 172"/>
              <p:cNvSpPr txBox="1"/>
              <p:nvPr/>
            </p:nvSpPr>
            <p:spPr>
              <a:xfrm>
                <a:off x="6242342" y="5055632"/>
                <a:ext cx="52646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学生及教职工</a:t>
                </a:r>
              </a:p>
            </p:txBody>
          </p:sp>
          <p:sp>
            <p:nvSpPr>
              <p:cNvPr id="173" name="Rectangle 173"/>
              <p:cNvSpPr/>
              <p:nvPr/>
            </p:nvSpPr>
            <p:spPr>
              <a:xfrm>
                <a:off x="342900" y="5353050"/>
                <a:ext cx="6667500" cy="400050"/>
              </a:xfrm>
              <a:prstGeom prst="rect">
                <a:avLst/>
              </a:prstGeom>
              <a:solidFill>
                <a:srgbClr val="EFF8F6"/>
              </a:solidFill>
              <a:ln w="9525">
                <a:solidFill>
                  <a:srgbClr val="E2EEEB"/>
                </a:solidFill>
              </a:ln>
            </p:spPr>
          </p:sp>
          <p:sp>
            <p:nvSpPr>
              <p:cNvPr id="174" name="TextBox 174"/>
              <p:cNvSpPr txBox="1"/>
              <p:nvPr/>
            </p:nvSpPr>
            <p:spPr>
              <a:xfrm>
                <a:off x="480352" y="5514261"/>
                <a:ext cx="391846" cy="140494"/>
              </a:xfrm>
              <a:prstGeom prst="rect">
                <a:avLst/>
              </a:prstGeom>
              <a:noFill/>
              <a:ln>
                <a:noFill/>
              </a:ln>
            </p:spPr>
            <p:txBody>
              <a:bodyPr wrap="none" lIns="0" tIns="0" rIns="0" bIns="0" anchor="t" anchorCtr="0">
                <a:spAutoFit/>
              </a:bodyPr>
              <a:lstStyle/>
              <a:p>
                <a:pPr algn="ctr"/>
                <a:r>
                  <a:rPr lang="zh-CN" sz="710" b="1" dirty="0">
                    <a:solidFill>
                      <a:srgbClr val="5D190B"/>
                    </a:solidFill>
                    <a:latin typeface="+mn-lt"/>
                    <a:ea typeface="+mn-ea"/>
                    <a:cs typeface="+mn-cs"/>
                  </a:rPr>
                  <a:t>主要优势</a:t>
                </a:r>
              </a:p>
            </p:txBody>
          </p:sp>
          <p:sp>
            <p:nvSpPr>
              <p:cNvPr id="175" name="TextBox 175"/>
              <p:cNvSpPr txBox="1"/>
              <p:nvPr/>
            </p:nvSpPr>
            <p:spPr>
              <a:xfrm>
                <a:off x="1198639" y="5455682"/>
                <a:ext cx="612623"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客流大、覆盖广</a:t>
                </a:r>
              </a:p>
            </p:txBody>
          </p:sp>
          <p:sp>
            <p:nvSpPr>
              <p:cNvPr id="176" name="TextBox 176"/>
              <p:cNvSpPr txBox="1"/>
              <p:nvPr/>
            </p:nvSpPr>
            <p:spPr>
              <a:xfrm>
                <a:off x="2112607" y="5455682"/>
                <a:ext cx="78493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客群优质、需求明确</a:t>
                </a:r>
              </a:p>
            </p:txBody>
          </p:sp>
          <p:sp>
            <p:nvSpPr>
              <p:cNvPr id="177" name="TextBox 177"/>
              <p:cNvSpPr txBox="1"/>
              <p:nvPr/>
            </p:nvSpPr>
            <p:spPr>
              <a:xfrm>
                <a:off x="3155810" y="5455682"/>
                <a:ext cx="69877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信任度高、粘性强</a:t>
                </a:r>
              </a:p>
            </p:txBody>
          </p:sp>
          <p:sp>
            <p:nvSpPr>
              <p:cNvPr id="178" name="TextBox 178"/>
              <p:cNvSpPr txBox="1"/>
              <p:nvPr/>
            </p:nvSpPr>
            <p:spPr>
              <a:xfrm>
                <a:off x="4155935" y="5455682"/>
                <a:ext cx="69877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话题性强、易出圈</a:t>
                </a:r>
              </a:p>
            </p:txBody>
          </p:sp>
          <p:sp>
            <p:nvSpPr>
              <p:cNvPr id="179" name="TextBox 179"/>
              <p:cNvSpPr txBox="1"/>
              <p:nvPr/>
            </p:nvSpPr>
            <p:spPr>
              <a:xfrm>
                <a:off x="5156060" y="5455682"/>
                <a:ext cx="69877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场景丰富、体验强</a:t>
                </a:r>
              </a:p>
            </p:txBody>
          </p:sp>
          <p:sp>
            <p:nvSpPr>
              <p:cNvPr id="180" name="TextBox 180"/>
              <p:cNvSpPr txBox="1"/>
              <p:nvPr/>
            </p:nvSpPr>
            <p:spPr>
              <a:xfrm>
                <a:off x="6156185" y="5455682"/>
                <a:ext cx="69877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群体活跃、潜力大</a:t>
                </a:r>
              </a:p>
            </p:txBody>
          </p:sp>
          <p:sp>
            <p:nvSpPr>
              <p:cNvPr id="181" name="Rectangle 181"/>
              <p:cNvSpPr/>
              <p:nvPr/>
            </p:nvSpPr>
            <p:spPr>
              <a:xfrm>
                <a:off x="342900" y="5753100"/>
                <a:ext cx="6667500" cy="400050"/>
              </a:xfrm>
              <a:prstGeom prst="rect">
                <a:avLst/>
              </a:prstGeom>
              <a:solidFill>
                <a:srgbClr val="FFFFFF"/>
              </a:solidFill>
              <a:ln w="9525">
                <a:solidFill>
                  <a:srgbClr val="E2EEEB"/>
                </a:solidFill>
              </a:ln>
            </p:spPr>
          </p:sp>
          <p:sp>
            <p:nvSpPr>
              <p:cNvPr id="182" name="TextBox 182"/>
              <p:cNvSpPr txBox="1"/>
              <p:nvPr/>
            </p:nvSpPr>
            <p:spPr>
              <a:xfrm>
                <a:off x="480352" y="5914311"/>
                <a:ext cx="391846" cy="140494"/>
              </a:xfrm>
              <a:prstGeom prst="rect">
                <a:avLst/>
              </a:prstGeom>
              <a:noFill/>
              <a:ln>
                <a:noFill/>
              </a:ln>
            </p:spPr>
            <p:txBody>
              <a:bodyPr wrap="none" lIns="0" tIns="0" rIns="0" bIns="0" anchor="t" anchorCtr="0">
                <a:spAutoFit/>
              </a:bodyPr>
              <a:lstStyle/>
              <a:p>
                <a:pPr algn="ctr"/>
                <a:r>
                  <a:rPr lang="zh-CN" sz="710" b="1" dirty="0">
                    <a:solidFill>
                      <a:srgbClr val="5D190B"/>
                    </a:solidFill>
                    <a:latin typeface="+mn-lt"/>
                    <a:ea typeface="+mn-ea"/>
                    <a:cs typeface="+mn-cs"/>
                  </a:rPr>
                  <a:t>主要挑战</a:t>
                </a:r>
              </a:p>
            </p:txBody>
          </p:sp>
          <p:sp>
            <p:nvSpPr>
              <p:cNvPr id="183" name="TextBox 183"/>
              <p:cNvSpPr txBox="1"/>
              <p:nvPr/>
            </p:nvSpPr>
            <p:spPr>
              <a:xfrm>
                <a:off x="1241717" y="5855732"/>
                <a:ext cx="52646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同业竞争激烈</a:t>
                </a:r>
              </a:p>
            </p:txBody>
          </p:sp>
          <p:sp>
            <p:nvSpPr>
              <p:cNvPr id="184" name="TextBox 184"/>
              <p:cNvSpPr txBox="1"/>
              <p:nvPr/>
            </p:nvSpPr>
            <p:spPr>
              <a:xfrm>
                <a:off x="2241842" y="5855732"/>
                <a:ext cx="52646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准入门槛较高</a:t>
                </a:r>
              </a:p>
            </p:txBody>
          </p:sp>
          <p:sp>
            <p:nvSpPr>
              <p:cNvPr id="185" name="TextBox 185"/>
              <p:cNvSpPr txBox="1"/>
              <p:nvPr/>
            </p:nvSpPr>
            <p:spPr>
              <a:xfrm>
                <a:off x="3241967" y="5855732"/>
                <a:ext cx="52646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活动形式受限</a:t>
                </a:r>
              </a:p>
            </p:txBody>
          </p:sp>
          <p:sp>
            <p:nvSpPr>
              <p:cNvPr id="186" name="TextBox 186"/>
              <p:cNvSpPr txBox="1"/>
              <p:nvPr/>
            </p:nvSpPr>
            <p:spPr>
              <a:xfrm>
                <a:off x="4112857" y="5855732"/>
                <a:ext cx="78493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周期短、不确定性高</a:t>
                </a:r>
              </a:p>
            </p:txBody>
          </p:sp>
          <p:sp>
            <p:nvSpPr>
              <p:cNvPr id="187" name="TextBox 187"/>
              <p:cNvSpPr txBox="1"/>
              <p:nvPr/>
            </p:nvSpPr>
            <p:spPr>
              <a:xfrm>
                <a:off x="5285296" y="5855732"/>
                <a:ext cx="44030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客流波动大</a:t>
                </a:r>
              </a:p>
            </p:txBody>
          </p:sp>
          <p:sp>
            <p:nvSpPr>
              <p:cNvPr id="188" name="TextBox 188"/>
              <p:cNvSpPr txBox="1"/>
              <p:nvPr/>
            </p:nvSpPr>
            <p:spPr>
              <a:xfrm>
                <a:off x="6285420" y="5855732"/>
                <a:ext cx="44030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转化周期长</a:t>
                </a:r>
              </a:p>
            </p:txBody>
          </p:sp>
          <p:sp>
            <p:nvSpPr>
              <p:cNvPr id="189" name="Rectangle 189"/>
              <p:cNvSpPr/>
              <p:nvPr/>
            </p:nvSpPr>
            <p:spPr>
              <a:xfrm>
                <a:off x="342900" y="6153150"/>
                <a:ext cx="6667500" cy="400050"/>
              </a:xfrm>
              <a:prstGeom prst="rect">
                <a:avLst/>
              </a:prstGeom>
              <a:solidFill>
                <a:srgbClr val="EFF8F6"/>
              </a:solidFill>
              <a:ln w="9525">
                <a:solidFill>
                  <a:srgbClr val="E2EEEB"/>
                </a:solidFill>
              </a:ln>
            </p:spPr>
          </p:sp>
          <p:sp>
            <p:nvSpPr>
              <p:cNvPr id="190" name="TextBox 190"/>
              <p:cNvSpPr txBox="1"/>
              <p:nvPr/>
            </p:nvSpPr>
            <p:spPr>
              <a:xfrm>
                <a:off x="480352" y="6314361"/>
                <a:ext cx="391846" cy="140494"/>
              </a:xfrm>
              <a:prstGeom prst="rect">
                <a:avLst/>
              </a:prstGeom>
              <a:noFill/>
              <a:ln>
                <a:noFill/>
              </a:ln>
            </p:spPr>
            <p:txBody>
              <a:bodyPr wrap="none" lIns="0" tIns="0" rIns="0" bIns="0" anchor="t" anchorCtr="0">
                <a:spAutoFit/>
              </a:bodyPr>
              <a:lstStyle/>
              <a:p>
                <a:pPr algn="ctr"/>
                <a:r>
                  <a:rPr lang="zh-CN" sz="710" b="1" dirty="0">
                    <a:solidFill>
                      <a:srgbClr val="5D190B"/>
                    </a:solidFill>
                    <a:latin typeface="+mn-lt"/>
                    <a:ea typeface="+mn-ea"/>
                    <a:cs typeface="+mn-cs"/>
                  </a:rPr>
                  <a:t>适配策略</a:t>
                </a:r>
              </a:p>
            </p:txBody>
          </p:sp>
          <p:sp>
            <p:nvSpPr>
              <p:cNvPr id="191" name="TextBox 191"/>
              <p:cNvSpPr txBox="1"/>
              <p:nvPr/>
            </p:nvSpPr>
            <p:spPr>
              <a:xfrm>
                <a:off x="1082327" y="6255782"/>
                <a:ext cx="84524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品牌曝光 + 轻量获客​</a:t>
                </a:r>
              </a:p>
            </p:txBody>
          </p:sp>
          <p:sp>
            <p:nvSpPr>
              <p:cNvPr id="192" name="TextBox 192"/>
              <p:cNvSpPr txBox="1"/>
              <p:nvPr/>
            </p:nvSpPr>
            <p:spPr>
              <a:xfrm>
                <a:off x="2198764" y="6255782"/>
                <a:ext cx="612623"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定制化金融服务</a:t>
                </a:r>
              </a:p>
            </p:txBody>
          </p:sp>
          <p:sp>
            <p:nvSpPr>
              <p:cNvPr id="193" name="TextBox 193"/>
              <p:cNvSpPr txBox="1"/>
              <p:nvPr/>
            </p:nvSpPr>
            <p:spPr>
              <a:xfrm>
                <a:off x="3082577" y="6255782"/>
                <a:ext cx="84524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便民服务 + 社区经营​</a:t>
                </a:r>
              </a:p>
            </p:txBody>
          </p:sp>
          <p:sp>
            <p:nvSpPr>
              <p:cNvPr id="194" name="TextBox 194"/>
              <p:cNvSpPr txBox="1"/>
              <p:nvPr/>
            </p:nvSpPr>
            <p:spPr>
              <a:xfrm>
                <a:off x="4082702" y="6255782"/>
                <a:ext cx="84524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主题联名 + 权益转化​</a:t>
                </a:r>
              </a:p>
            </p:txBody>
          </p:sp>
          <p:sp>
            <p:nvSpPr>
              <p:cNvPr id="195" name="TextBox 195"/>
              <p:cNvSpPr txBox="1"/>
              <p:nvPr/>
            </p:nvSpPr>
            <p:spPr>
              <a:xfrm>
                <a:off x="5082827" y="6255782"/>
                <a:ext cx="84524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场景融合 + 线上联动​</a:t>
                </a:r>
              </a:p>
            </p:txBody>
          </p:sp>
          <p:sp>
            <p:nvSpPr>
              <p:cNvPr id="196" name="TextBox 196"/>
              <p:cNvSpPr txBox="1"/>
              <p:nvPr/>
            </p:nvSpPr>
            <p:spPr>
              <a:xfrm>
                <a:off x="6082952" y="6255782"/>
                <a:ext cx="84524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金融教育 + 长期培育​</a:t>
                </a:r>
              </a:p>
            </p:txBody>
          </p:sp>
        </p:grpSp>
      </p:grpSp>
      <p:grpSp>
        <p:nvGrpSpPr>
          <p:cNvPr id="235" name="quadrant"/>
          <p:cNvGrpSpPr/>
          <p:nvPr/>
        </p:nvGrpSpPr>
        <p:grpSpPr>
          <a:xfrm>
            <a:off x="7086600" y="685800"/>
            <a:ext cx="4686300" cy="2159080"/>
            <a:chOff x="7086600" y="685800"/>
            <a:chExt cx="4686300" cy="2159080"/>
          </a:xfrm>
        </p:grpSpPr>
        <p:sp>
          <p:nvSpPr>
            <p:cNvPr id="199" name="Rectangle 199"/>
            <p:cNvSpPr/>
            <p:nvPr/>
          </p:nvSpPr>
          <p:spPr>
            <a:xfrm>
              <a:off x="7086600" y="685800"/>
              <a:ext cx="1333500" cy="228600"/>
            </a:xfrm>
            <a:prstGeom prst="roundRect">
              <a:avLst>
                <a:gd name="adj" fmla="val 20833"/>
              </a:avLst>
            </a:prstGeom>
            <a:solidFill>
              <a:srgbClr val="76200F"/>
            </a:solidFill>
            <a:ln>
              <a:noFill/>
            </a:ln>
          </p:spPr>
        </p:sp>
        <p:sp>
          <p:nvSpPr>
            <p:cNvPr id="200" name="TextBox 200"/>
            <p:cNvSpPr txBox="1"/>
            <p:nvPr/>
          </p:nvSpPr>
          <p:spPr>
            <a:xfrm>
              <a:off x="7196138" y="746522"/>
              <a:ext cx="895325"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场景定位四象限</a:t>
              </a:r>
            </a:p>
          </p:txBody>
        </p:sp>
        <p:sp>
          <p:nvSpPr>
            <p:cNvPr id="201" name="Rectangle 201"/>
            <p:cNvSpPr/>
            <p:nvPr/>
          </p:nvSpPr>
          <p:spPr>
            <a:xfrm>
              <a:off x="7524750" y="990600"/>
              <a:ext cx="2095500" cy="781050"/>
            </a:xfrm>
            <a:prstGeom prst="rect">
              <a:avLst/>
            </a:prstGeom>
            <a:solidFill>
              <a:srgbClr val="EAF6F3"/>
            </a:solidFill>
            <a:ln>
              <a:noFill/>
            </a:ln>
          </p:spPr>
        </p:sp>
        <p:sp>
          <p:nvSpPr>
            <p:cNvPr id="202" name="Rectangle 202"/>
            <p:cNvSpPr/>
            <p:nvPr/>
          </p:nvSpPr>
          <p:spPr>
            <a:xfrm>
              <a:off x="9620250" y="990600"/>
              <a:ext cx="2095500" cy="781050"/>
            </a:xfrm>
            <a:prstGeom prst="rect">
              <a:avLst/>
            </a:prstGeom>
            <a:solidFill>
              <a:srgbClr val="D9EEEA"/>
            </a:solidFill>
            <a:ln>
              <a:noFill/>
            </a:ln>
          </p:spPr>
        </p:sp>
        <p:sp>
          <p:nvSpPr>
            <p:cNvPr id="203" name="Rectangle 203"/>
            <p:cNvSpPr/>
            <p:nvPr/>
          </p:nvSpPr>
          <p:spPr>
            <a:xfrm>
              <a:off x="7524750" y="1771650"/>
              <a:ext cx="2095500" cy="781050"/>
            </a:xfrm>
            <a:prstGeom prst="rect">
              <a:avLst/>
            </a:prstGeom>
            <a:solidFill>
              <a:srgbClr val="F6FBFA"/>
            </a:solidFill>
            <a:ln>
              <a:noFill/>
            </a:ln>
          </p:spPr>
        </p:sp>
        <p:sp>
          <p:nvSpPr>
            <p:cNvPr id="204" name="Rectangle 204"/>
            <p:cNvSpPr/>
            <p:nvPr/>
          </p:nvSpPr>
          <p:spPr>
            <a:xfrm>
              <a:off x="9620250" y="1771650"/>
              <a:ext cx="2095500" cy="781050"/>
            </a:xfrm>
            <a:prstGeom prst="rect">
              <a:avLst/>
            </a:prstGeom>
            <a:solidFill>
              <a:srgbClr val="F0FAF8"/>
            </a:solidFill>
            <a:ln>
              <a:noFill/>
            </a:ln>
          </p:spPr>
        </p:sp>
        <p:sp>
          <p:nvSpPr>
            <p:cNvPr id="205" name="TextBox 205"/>
            <p:cNvSpPr txBox="1"/>
            <p:nvPr/>
          </p:nvSpPr>
          <p:spPr>
            <a:xfrm>
              <a:off x="8325421" y="1102995"/>
              <a:ext cx="494157"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精准深耕</a:t>
              </a:r>
            </a:p>
          </p:txBody>
        </p:sp>
        <p:sp>
          <p:nvSpPr>
            <p:cNvPr id="206" name="TextBox 206"/>
            <p:cNvSpPr txBox="1"/>
            <p:nvPr/>
          </p:nvSpPr>
          <p:spPr>
            <a:xfrm>
              <a:off x="8149877" y="1274207"/>
              <a:ext cx="845246"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（高价值 · 低客流）​</a:t>
              </a:r>
            </a:p>
          </p:txBody>
        </p:sp>
        <p:sp>
          <p:nvSpPr>
            <p:cNvPr id="207" name="TextBox 207"/>
            <p:cNvSpPr txBox="1"/>
            <p:nvPr/>
          </p:nvSpPr>
          <p:spPr>
            <a:xfrm>
              <a:off x="10420922" y="1102995"/>
              <a:ext cx="494157"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规模转化</a:t>
              </a:r>
            </a:p>
          </p:txBody>
        </p:sp>
        <p:sp>
          <p:nvSpPr>
            <p:cNvPr id="208" name="TextBox 208"/>
            <p:cNvSpPr txBox="1"/>
            <p:nvPr/>
          </p:nvSpPr>
          <p:spPr>
            <a:xfrm>
              <a:off x="10245377" y="1274207"/>
              <a:ext cx="845246"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（高价值 · 高客流）​</a:t>
              </a:r>
            </a:p>
          </p:txBody>
        </p:sp>
        <p:sp>
          <p:nvSpPr>
            <p:cNvPr id="209" name="TextBox 209"/>
            <p:cNvSpPr txBox="1"/>
            <p:nvPr/>
          </p:nvSpPr>
          <p:spPr>
            <a:xfrm>
              <a:off x="8325421" y="1884045"/>
              <a:ext cx="494157"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谨慎投入</a:t>
              </a:r>
            </a:p>
          </p:txBody>
        </p:sp>
        <p:sp>
          <p:nvSpPr>
            <p:cNvPr id="210" name="TextBox 210"/>
            <p:cNvSpPr txBox="1"/>
            <p:nvPr/>
          </p:nvSpPr>
          <p:spPr>
            <a:xfrm>
              <a:off x="8149877" y="2055257"/>
              <a:ext cx="845246"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（低价值 · 低客流）​</a:t>
              </a:r>
            </a:p>
          </p:txBody>
        </p:sp>
        <p:sp>
          <p:nvSpPr>
            <p:cNvPr id="211" name="TextBox 211"/>
            <p:cNvSpPr txBox="1"/>
            <p:nvPr/>
          </p:nvSpPr>
          <p:spPr>
            <a:xfrm>
              <a:off x="10420922" y="1884045"/>
              <a:ext cx="494157"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品牌曝光</a:t>
              </a:r>
            </a:p>
          </p:txBody>
        </p:sp>
        <p:sp>
          <p:nvSpPr>
            <p:cNvPr id="212" name="TextBox 212"/>
            <p:cNvSpPr txBox="1"/>
            <p:nvPr/>
          </p:nvSpPr>
          <p:spPr>
            <a:xfrm>
              <a:off x="10245377" y="2055257"/>
              <a:ext cx="845246"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（低价值 · 高客流）​</a:t>
              </a:r>
            </a:p>
          </p:txBody>
        </p:sp>
        <p:sp>
          <p:nvSpPr>
            <p:cNvPr id="213" name="Ellipse 213"/>
            <p:cNvSpPr/>
            <p:nvPr/>
          </p:nvSpPr>
          <p:spPr>
            <a:xfrm>
              <a:off x="8334375" y="1438275"/>
              <a:ext cx="95250" cy="95250"/>
            </a:xfrm>
            <a:prstGeom prst="ellipse">
              <a:avLst/>
            </a:prstGeom>
            <a:solidFill>
              <a:srgbClr val="76200F"/>
            </a:solidFill>
            <a:ln>
              <a:noFill/>
            </a:ln>
          </p:spPr>
        </p:sp>
        <p:sp>
          <p:nvSpPr>
            <p:cNvPr id="214" name="TextBox 214"/>
            <p:cNvSpPr txBox="1"/>
            <p:nvPr/>
          </p:nvSpPr>
          <p:spPr>
            <a:xfrm>
              <a:off x="8491538" y="1447086"/>
              <a:ext cx="200685" cy="140494"/>
            </a:xfrm>
            <a:prstGeom prst="rect">
              <a:avLst/>
            </a:prstGeom>
            <a:noFill/>
            <a:ln>
              <a:noFill/>
            </a:ln>
          </p:spPr>
          <p:txBody>
            <a:bodyPr wrap="none" lIns="0" tIns="0" rIns="0" bIns="0" anchor="t" anchorCtr="0">
              <a:spAutoFit/>
            </a:bodyPr>
            <a:lstStyle/>
            <a:p>
              <a:pPr algn="l"/>
              <a:r>
                <a:rPr lang="zh-CN" sz="710" dirty="0">
                  <a:solidFill>
                    <a:srgbClr val="331712"/>
                  </a:solidFill>
                  <a:latin typeface="+mn-lt"/>
                  <a:ea typeface="+mn-ea"/>
                  <a:cs typeface="+mn-cs"/>
                </a:rPr>
                <a:t>园区</a:t>
              </a:r>
            </a:p>
          </p:txBody>
        </p:sp>
        <p:sp>
          <p:nvSpPr>
            <p:cNvPr id="215" name="Ellipse 215"/>
            <p:cNvSpPr/>
            <p:nvPr/>
          </p:nvSpPr>
          <p:spPr>
            <a:xfrm>
              <a:off x="9096375" y="1628775"/>
              <a:ext cx="95250" cy="95250"/>
            </a:xfrm>
            <a:prstGeom prst="ellipse">
              <a:avLst/>
            </a:prstGeom>
            <a:solidFill>
              <a:srgbClr val="76200F"/>
            </a:solidFill>
            <a:ln>
              <a:noFill/>
            </a:ln>
          </p:spPr>
        </p:sp>
        <p:sp>
          <p:nvSpPr>
            <p:cNvPr id="216" name="TextBox 216"/>
            <p:cNvSpPr txBox="1"/>
            <p:nvPr/>
          </p:nvSpPr>
          <p:spPr>
            <a:xfrm>
              <a:off x="9253538" y="1637586"/>
              <a:ext cx="200685" cy="140494"/>
            </a:xfrm>
            <a:prstGeom prst="rect">
              <a:avLst/>
            </a:prstGeom>
            <a:noFill/>
            <a:ln>
              <a:noFill/>
            </a:ln>
          </p:spPr>
          <p:txBody>
            <a:bodyPr wrap="none" lIns="0" tIns="0" rIns="0" bIns="0" anchor="t" anchorCtr="0">
              <a:spAutoFit/>
            </a:bodyPr>
            <a:lstStyle/>
            <a:p>
              <a:pPr algn="l"/>
              <a:r>
                <a:rPr lang="zh-CN" sz="710" dirty="0">
                  <a:solidFill>
                    <a:srgbClr val="331712"/>
                  </a:solidFill>
                  <a:latin typeface="+mn-lt"/>
                  <a:ea typeface="+mn-ea"/>
                  <a:cs typeface="+mn-cs"/>
                </a:rPr>
                <a:t>社区</a:t>
              </a:r>
            </a:p>
          </p:txBody>
        </p:sp>
        <p:sp>
          <p:nvSpPr>
            <p:cNvPr id="217" name="Ellipse 217"/>
            <p:cNvSpPr/>
            <p:nvPr/>
          </p:nvSpPr>
          <p:spPr>
            <a:xfrm>
              <a:off x="11001375" y="1476375"/>
              <a:ext cx="95250" cy="95250"/>
            </a:xfrm>
            <a:prstGeom prst="ellipse">
              <a:avLst/>
            </a:prstGeom>
            <a:solidFill>
              <a:srgbClr val="76200F"/>
            </a:solidFill>
            <a:ln>
              <a:noFill/>
            </a:ln>
          </p:spPr>
        </p:sp>
        <p:sp>
          <p:nvSpPr>
            <p:cNvPr id="218" name="TextBox 218"/>
            <p:cNvSpPr txBox="1"/>
            <p:nvPr/>
          </p:nvSpPr>
          <p:spPr>
            <a:xfrm>
              <a:off x="11158538" y="1485186"/>
              <a:ext cx="200685" cy="140494"/>
            </a:xfrm>
            <a:prstGeom prst="rect">
              <a:avLst/>
            </a:prstGeom>
            <a:noFill/>
            <a:ln>
              <a:noFill/>
            </a:ln>
          </p:spPr>
          <p:txBody>
            <a:bodyPr wrap="none" lIns="0" tIns="0" rIns="0" bIns="0" anchor="t" anchorCtr="0">
              <a:spAutoFit/>
            </a:bodyPr>
            <a:lstStyle/>
            <a:p>
              <a:pPr algn="l"/>
              <a:r>
                <a:rPr lang="zh-CN" sz="710" dirty="0">
                  <a:solidFill>
                    <a:srgbClr val="331712"/>
                  </a:solidFill>
                  <a:latin typeface="+mn-lt"/>
                  <a:ea typeface="+mn-ea"/>
                  <a:cs typeface="+mn-cs"/>
                </a:rPr>
                <a:t>商圈</a:t>
              </a:r>
            </a:p>
          </p:txBody>
        </p:sp>
        <p:sp>
          <p:nvSpPr>
            <p:cNvPr id="219" name="Ellipse 219"/>
            <p:cNvSpPr/>
            <p:nvPr/>
          </p:nvSpPr>
          <p:spPr>
            <a:xfrm>
              <a:off x="8258175" y="2238375"/>
              <a:ext cx="95250" cy="95250"/>
            </a:xfrm>
            <a:prstGeom prst="ellipse">
              <a:avLst/>
            </a:prstGeom>
            <a:solidFill>
              <a:srgbClr val="76200F"/>
            </a:solidFill>
            <a:ln>
              <a:noFill/>
            </a:ln>
          </p:spPr>
        </p:sp>
        <p:sp>
          <p:nvSpPr>
            <p:cNvPr id="220" name="TextBox 220"/>
            <p:cNvSpPr txBox="1"/>
            <p:nvPr/>
          </p:nvSpPr>
          <p:spPr>
            <a:xfrm>
              <a:off x="8415338" y="2247186"/>
              <a:ext cx="200685" cy="140494"/>
            </a:xfrm>
            <a:prstGeom prst="rect">
              <a:avLst/>
            </a:prstGeom>
            <a:noFill/>
            <a:ln>
              <a:noFill/>
            </a:ln>
          </p:spPr>
          <p:txBody>
            <a:bodyPr wrap="none" lIns="0" tIns="0" rIns="0" bIns="0" anchor="t" anchorCtr="0">
              <a:spAutoFit/>
            </a:bodyPr>
            <a:lstStyle/>
            <a:p>
              <a:pPr algn="l"/>
              <a:r>
                <a:rPr lang="zh-CN" sz="710" dirty="0">
                  <a:solidFill>
                    <a:srgbClr val="331712"/>
                  </a:solidFill>
                  <a:latin typeface="+mn-lt"/>
                  <a:ea typeface="+mn-ea"/>
                  <a:cs typeface="+mn-cs"/>
                </a:rPr>
                <a:t>校园</a:t>
              </a:r>
            </a:p>
          </p:txBody>
        </p:sp>
        <p:sp>
          <p:nvSpPr>
            <p:cNvPr id="221" name="Ellipse 221"/>
            <p:cNvSpPr/>
            <p:nvPr/>
          </p:nvSpPr>
          <p:spPr>
            <a:xfrm>
              <a:off x="10906125" y="2276475"/>
              <a:ext cx="95250" cy="95250"/>
            </a:xfrm>
            <a:prstGeom prst="ellipse">
              <a:avLst/>
            </a:prstGeom>
            <a:solidFill>
              <a:srgbClr val="76200F"/>
            </a:solidFill>
            <a:ln>
              <a:noFill/>
            </a:ln>
          </p:spPr>
        </p:sp>
        <p:sp>
          <p:nvSpPr>
            <p:cNvPr id="222" name="TextBox 222"/>
            <p:cNvSpPr txBox="1"/>
            <p:nvPr/>
          </p:nvSpPr>
          <p:spPr>
            <a:xfrm>
              <a:off x="11063288" y="2285286"/>
              <a:ext cx="200685" cy="140494"/>
            </a:xfrm>
            <a:prstGeom prst="rect">
              <a:avLst/>
            </a:prstGeom>
            <a:noFill/>
            <a:ln>
              <a:noFill/>
            </a:ln>
          </p:spPr>
          <p:txBody>
            <a:bodyPr wrap="none" lIns="0" tIns="0" rIns="0" bIns="0" anchor="t" anchorCtr="0">
              <a:spAutoFit/>
            </a:bodyPr>
            <a:lstStyle/>
            <a:p>
              <a:pPr algn="l"/>
              <a:r>
                <a:rPr lang="zh-CN" sz="710" dirty="0">
                  <a:solidFill>
                    <a:srgbClr val="331712"/>
                  </a:solidFill>
                  <a:latin typeface="+mn-lt"/>
                  <a:ea typeface="+mn-ea"/>
                  <a:cs typeface="+mn-cs"/>
                </a:rPr>
                <a:t>文旅</a:t>
              </a:r>
            </a:p>
          </p:txBody>
        </p:sp>
        <p:sp>
          <p:nvSpPr>
            <p:cNvPr id="223" name="Ellipse 223"/>
            <p:cNvSpPr/>
            <p:nvPr/>
          </p:nvSpPr>
          <p:spPr>
            <a:xfrm>
              <a:off x="11344275" y="2466975"/>
              <a:ext cx="95250" cy="95250"/>
            </a:xfrm>
            <a:prstGeom prst="ellipse">
              <a:avLst/>
            </a:prstGeom>
            <a:solidFill>
              <a:srgbClr val="76200F"/>
            </a:solidFill>
            <a:ln>
              <a:noFill/>
            </a:ln>
          </p:spPr>
        </p:sp>
        <p:sp>
          <p:nvSpPr>
            <p:cNvPr id="224" name="TextBox 224"/>
            <p:cNvSpPr txBox="1"/>
            <p:nvPr/>
          </p:nvSpPr>
          <p:spPr>
            <a:xfrm>
              <a:off x="11081677" y="2475786"/>
              <a:ext cx="200685" cy="140494"/>
            </a:xfrm>
            <a:prstGeom prst="rect">
              <a:avLst/>
            </a:prstGeom>
            <a:noFill/>
            <a:ln>
              <a:noFill/>
            </a:ln>
          </p:spPr>
          <p:txBody>
            <a:bodyPr wrap="none" lIns="0" tIns="0" rIns="0" bIns="0" anchor="t" anchorCtr="0">
              <a:spAutoFit/>
            </a:bodyPr>
            <a:lstStyle/>
            <a:p>
              <a:pPr algn="r"/>
              <a:r>
                <a:rPr lang="zh-CN" sz="710" dirty="0">
                  <a:solidFill>
                    <a:srgbClr val="331712"/>
                  </a:solidFill>
                  <a:latin typeface="+mn-lt"/>
                  <a:ea typeface="+mn-ea"/>
                  <a:cs typeface="+mn-cs"/>
                </a:rPr>
                <a:t>赛事</a:t>
              </a:r>
            </a:p>
          </p:txBody>
        </p:sp>
        <p:sp>
          <p:nvSpPr>
            <p:cNvPr id="225" name="Line 225"/>
            <p:cNvSpPr/>
            <p:nvPr/>
          </p:nvSpPr>
          <p:spPr>
            <a:xfrm>
              <a:off x="7448550" y="990600"/>
              <a:ext cx="9525" cy="1638300"/>
            </a:xfrm>
            <a:custGeom>
              <a:avLst/>
              <a:gdLst/>
              <a:ahLst/>
              <a:cxnLst/>
              <a:rect l="l" t="t" r="r" b="b"/>
              <a:pathLst>
                <a:path w="9525" h="1638300">
                  <a:moveTo>
                    <a:pt x="0" y="0"/>
                  </a:moveTo>
                  <a:lnTo>
                    <a:pt x="0" y="1638300"/>
                  </a:lnTo>
                </a:path>
              </a:pathLst>
            </a:custGeom>
            <a:noFill/>
            <a:ln w="14288">
              <a:solidFill>
                <a:srgbClr val="748683"/>
              </a:solidFill>
            </a:ln>
          </p:spPr>
        </p:sp>
        <p:sp>
          <p:nvSpPr>
            <p:cNvPr id="226" name="Polygon 226"/>
            <p:cNvSpPr/>
            <p:nvPr/>
          </p:nvSpPr>
          <p:spPr>
            <a:xfrm>
              <a:off x="7410450" y="971550"/>
              <a:ext cx="76200" cy="76200"/>
            </a:xfrm>
            <a:custGeom>
              <a:avLst/>
              <a:gdLst/>
              <a:ahLst/>
              <a:cxnLst/>
              <a:rect l="l" t="t" r="r" b="b"/>
              <a:pathLst>
                <a:path w="76200" h="76200">
                  <a:moveTo>
                    <a:pt x="38100" y="0"/>
                  </a:moveTo>
                  <a:lnTo>
                    <a:pt x="0" y="76200"/>
                  </a:lnTo>
                  <a:lnTo>
                    <a:pt x="76200" y="76200"/>
                  </a:lnTo>
                  <a:close/>
                </a:path>
              </a:pathLst>
            </a:custGeom>
            <a:solidFill>
              <a:srgbClr val="748683"/>
            </a:solidFill>
            <a:ln>
              <a:noFill/>
            </a:ln>
          </p:spPr>
        </p:sp>
        <p:sp>
          <p:nvSpPr>
            <p:cNvPr id="227" name="Line 227"/>
            <p:cNvSpPr/>
            <p:nvPr/>
          </p:nvSpPr>
          <p:spPr>
            <a:xfrm>
              <a:off x="7448550" y="2628900"/>
              <a:ext cx="4305300" cy="9525"/>
            </a:xfrm>
            <a:custGeom>
              <a:avLst/>
              <a:gdLst/>
              <a:ahLst/>
              <a:cxnLst/>
              <a:rect l="l" t="t" r="r" b="b"/>
              <a:pathLst>
                <a:path w="4305300" h="9525">
                  <a:moveTo>
                    <a:pt x="0" y="0"/>
                  </a:moveTo>
                  <a:lnTo>
                    <a:pt x="4305300" y="0"/>
                  </a:lnTo>
                </a:path>
              </a:pathLst>
            </a:custGeom>
            <a:noFill/>
            <a:ln w="14288">
              <a:solidFill>
                <a:srgbClr val="748683"/>
              </a:solidFill>
            </a:ln>
          </p:spPr>
        </p:sp>
        <p:sp>
          <p:nvSpPr>
            <p:cNvPr id="228" name="Polygon 228"/>
            <p:cNvSpPr/>
            <p:nvPr/>
          </p:nvSpPr>
          <p:spPr>
            <a:xfrm>
              <a:off x="11696700" y="2590800"/>
              <a:ext cx="76200" cy="76200"/>
            </a:xfrm>
            <a:custGeom>
              <a:avLst/>
              <a:gdLst/>
              <a:ahLst/>
              <a:cxnLst/>
              <a:rect l="l" t="t" r="r" b="b"/>
              <a:pathLst>
                <a:path w="76200" h="76200">
                  <a:moveTo>
                    <a:pt x="76200" y="38100"/>
                  </a:moveTo>
                  <a:lnTo>
                    <a:pt x="0" y="0"/>
                  </a:lnTo>
                  <a:lnTo>
                    <a:pt x="0" y="76200"/>
                  </a:lnTo>
                  <a:close/>
                </a:path>
              </a:pathLst>
            </a:custGeom>
            <a:solidFill>
              <a:srgbClr val="748683"/>
            </a:solidFill>
            <a:ln>
              <a:noFill/>
            </a:ln>
          </p:spPr>
        </p:sp>
        <p:sp>
          <p:nvSpPr>
            <p:cNvPr id="229" name="TextBox 229"/>
            <p:cNvSpPr txBox="1"/>
            <p:nvPr/>
          </p:nvSpPr>
          <p:spPr>
            <a:xfrm>
              <a:off x="7276046" y="993934"/>
              <a:ext cx="101067" cy="133350"/>
            </a:xfrm>
            <a:prstGeom prst="rect">
              <a:avLst/>
            </a:prstGeom>
            <a:noFill/>
            <a:ln>
              <a:noFill/>
            </a:ln>
          </p:spPr>
          <p:txBody>
            <a:bodyPr wrap="none" lIns="0" tIns="0" rIns="0" bIns="0" anchor="t" anchorCtr="0">
              <a:spAutoFit/>
            </a:bodyPr>
            <a:lstStyle/>
            <a:p>
              <a:pPr algn="r"/>
              <a:r>
                <a:rPr lang="zh-CN" sz="680" b="1" dirty="0">
                  <a:solidFill>
                    <a:srgbClr val="73615E"/>
                  </a:solidFill>
                  <a:latin typeface="+mn-lt"/>
                  <a:ea typeface="+mn-ea"/>
                  <a:cs typeface="+mn-cs"/>
                </a:rPr>
                <a:t>高</a:t>
              </a:r>
            </a:p>
          </p:txBody>
        </p:sp>
        <p:sp>
          <p:nvSpPr>
            <p:cNvPr id="230" name="TextBox 230"/>
            <p:cNvSpPr txBox="1"/>
            <p:nvPr/>
          </p:nvSpPr>
          <p:spPr>
            <a:xfrm>
              <a:off x="7276046" y="2517934"/>
              <a:ext cx="101067" cy="133350"/>
            </a:xfrm>
            <a:prstGeom prst="rect">
              <a:avLst/>
            </a:prstGeom>
            <a:noFill/>
            <a:ln>
              <a:noFill/>
            </a:ln>
          </p:spPr>
          <p:txBody>
            <a:bodyPr wrap="none" lIns="0" tIns="0" rIns="0" bIns="0" anchor="t" anchorCtr="0">
              <a:spAutoFit/>
            </a:bodyPr>
            <a:lstStyle/>
            <a:p>
              <a:pPr algn="r"/>
              <a:r>
                <a:rPr lang="zh-CN" sz="680" b="1" dirty="0">
                  <a:solidFill>
                    <a:srgbClr val="73615E"/>
                  </a:solidFill>
                  <a:latin typeface="+mn-lt"/>
                  <a:ea typeface="+mn-ea"/>
                  <a:cs typeface="+mn-cs"/>
                </a:rPr>
                <a:t>低</a:t>
              </a:r>
            </a:p>
          </p:txBody>
        </p:sp>
        <p:sp>
          <p:nvSpPr>
            <p:cNvPr id="231" name="TextBox 231"/>
            <p:cNvSpPr txBox="1"/>
            <p:nvPr/>
          </p:nvSpPr>
          <p:spPr>
            <a:xfrm>
              <a:off x="7500938" y="2498884"/>
              <a:ext cx="101067" cy="133350"/>
            </a:xfrm>
            <a:prstGeom prst="rect">
              <a:avLst/>
            </a:prstGeom>
            <a:noFill/>
            <a:ln>
              <a:noFill/>
            </a:ln>
          </p:spPr>
          <p:txBody>
            <a:bodyPr wrap="none" lIns="0" tIns="0" rIns="0" bIns="0" anchor="t" anchorCtr="0">
              <a:spAutoFit/>
            </a:bodyPr>
            <a:lstStyle/>
            <a:p>
              <a:pPr algn="l"/>
              <a:r>
                <a:rPr lang="zh-CN" sz="680" b="1" dirty="0">
                  <a:solidFill>
                    <a:srgbClr val="73615E"/>
                  </a:solidFill>
                  <a:latin typeface="+mn-lt"/>
                  <a:ea typeface="+mn-ea"/>
                  <a:cs typeface="+mn-cs"/>
                </a:rPr>
                <a:t>小</a:t>
              </a:r>
            </a:p>
          </p:txBody>
        </p:sp>
        <p:sp>
          <p:nvSpPr>
            <p:cNvPr id="232" name="TextBox 232"/>
            <p:cNvSpPr txBox="1"/>
            <p:nvPr/>
          </p:nvSpPr>
          <p:spPr>
            <a:xfrm>
              <a:off x="11581346" y="2498884"/>
              <a:ext cx="101067" cy="133350"/>
            </a:xfrm>
            <a:prstGeom prst="rect">
              <a:avLst/>
            </a:prstGeom>
            <a:noFill/>
            <a:ln>
              <a:noFill/>
            </a:ln>
          </p:spPr>
          <p:txBody>
            <a:bodyPr wrap="none" lIns="0" tIns="0" rIns="0" bIns="0" anchor="t" anchorCtr="0">
              <a:spAutoFit/>
            </a:bodyPr>
            <a:lstStyle/>
            <a:p>
              <a:pPr algn="r"/>
              <a:r>
                <a:rPr lang="zh-CN" sz="680" b="1" dirty="0">
                  <a:solidFill>
                    <a:srgbClr val="73615E"/>
                  </a:solidFill>
                  <a:latin typeface="+mn-lt"/>
                  <a:ea typeface="+mn-ea"/>
                  <a:cs typeface="+mn-cs"/>
                </a:rPr>
                <a:t>大</a:t>
              </a:r>
            </a:p>
          </p:txBody>
        </p:sp>
        <p:sp>
          <p:nvSpPr>
            <p:cNvPr id="233" name="TextBox 233"/>
            <p:cNvSpPr txBox="1"/>
            <p:nvPr/>
          </p:nvSpPr>
          <p:spPr>
            <a:xfrm>
              <a:off x="9405277" y="2704386"/>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客流规模</a:t>
              </a:r>
            </a:p>
          </p:txBody>
        </p:sp>
        <p:sp>
          <p:nvSpPr>
            <p:cNvPr id="234" name="TextBox 234"/>
            <p:cNvSpPr txBox="1"/>
            <p:nvPr/>
          </p:nvSpPr>
          <p:spPr>
            <a:xfrm rot="-5400000">
              <a:off x="7112610" y="1796653"/>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客户价值</a:t>
              </a:r>
            </a:p>
          </p:txBody>
        </p:sp>
      </p:grpSp>
      <p:grpSp>
        <p:nvGrpSpPr>
          <p:cNvPr id="257" name="decision-gate"/>
          <p:cNvGrpSpPr/>
          <p:nvPr/>
        </p:nvGrpSpPr>
        <p:grpSpPr>
          <a:xfrm>
            <a:off x="7086600" y="2857500"/>
            <a:ext cx="4743450" cy="1066800"/>
            <a:chOff x="7086600" y="2857500"/>
            <a:chExt cx="4743450" cy="1066800"/>
          </a:xfrm>
        </p:grpSpPr>
        <p:sp>
          <p:nvSpPr>
            <p:cNvPr id="236" name="Rectangle 236"/>
            <p:cNvSpPr/>
            <p:nvPr/>
          </p:nvSpPr>
          <p:spPr>
            <a:xfrm>
              <a:off x="7086600" y="2857500"/>
              <a:ext cx="1219200" cy="228600"/>
            </a:xfrm>
            <a:prstGeom prst="roundRect">
              <a:avLst>
                <a:gd name="adj" fmla="val 20833"/>
              </a:avLst>
            </a:prstGeom>
            <a:solidFill>
              <a:srgbClr val="76200F"/>
            </a:solidFill>
            <a:ln>
              <a:noFill/>
            </a:ln>
          </p:spPr>
        </p:sp>
        <p:sp>
          <p:nvSpPr>
            <p:cNvPr id="237" name="TextBox 237"/>
            <p:cNvSpPr txBox="1"/>
            <p:nvPr/>
          </p:nvSpPr>
          <p:spPr>
            <a:xfrm>
              <a:off x="7196138" y="2918222"/>
              <a:ext cx="768782"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关键决策门槛</a:t>
              </a:r>
            </a:p>
          </p:txBody>
        </p:sp>
        <p:sp>
          <p:nvSpPr>
            <p:cNvPr id="238" name="Rectangle 238"/>
            <p:cNvSpPr/>
            <p:nvPr/>
          </p:nvSpPr>
          <p:spPr>
            <a:xfrm>
              <a:off x="7086600" y="3162300"/>
              <a:ext cx="1047750" cy="762000"/>
            </a:xfrm>
            <a:prstGeom prst="roundRect">
              <a:avLst>
                <a:gd name="adj" fmla="val 10000"/>
              </a:avLst>
            </a:prstGeom>
            <a:solidFill>
              <a:srgbClr val="F0FAF8"/>
            </a:solidFill>
            <a:ln w="9525">
              <a:solidFill>
                <a:srgbClr val="C2E0DA"/>
              </a:solidFill>
            </a:ln>
          </p:spPr>
        </p:sp>
        <p:sp>
          <p:nvSpPr>
            <p:cNvPr id="239" name="TextBox 239"/>
            <p:cNvSpPr txBox="1"/>
            <p:nvPr/>
          </p:nvSpPr>
          <p:spPr>
            <a:xfrm>
              <a:off x="7196138" y="3225641"/>
              <a:ext cx="200773" cy="161925"/>
            </a:xfrm>
            <a:prstGeom prst="rect">
              <a:avLst/>
            </a:prstGeom>
            <a:noFill/>
            <a:ln>
              <a:noFill/>
            </a:ln>
          </p:spPr>
          <p:txBody>
            <a:bodyPr wrap="none" lIns="0" tIns="0" rIns="0" bIns="0" anchor="t" anchorCtr="0">
              <a:spAutoFit/>
            </a:bodyPr>
            <a:lstStyle/>
            <a:p>
              <a:pPr algn="l"/>
              <a:r>
                <a:rPr lang="zh-CN" sz="820" b="1" dirty="0">
                  <a:solidFill>
                    <a:srgbClr val="76200F"/>
                  </a:solidFill>
                  <a:latin typeface="+mn-lt"/>
                  <a:ea typeface="+mn-ea"/>
                  <a:cs typeface="+mn-cs"/>
                </a:rPr>
                <a:t>01​</a:t>
              </a:r>
            </a:p>
          </p:txBody>
        </p:sp>
        <p:sp>
          <p:nvSpPr>
            <p:cNvPr id="240" name="TextBox 240"/>
            <p:cNvSpPr txBox="1"/>
            <p:nvPr/>
          </p:nvSpPr>
          <p:spPr>
            <a:xfrm>
              <a:off x="7405052" y="3420189"/>
              <a:ext cx="41084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331712"/>
                  </a:solidFill>
                  <a:latin typeface="+mn-lt"/>
                  <a:ea typeface="+mn-ea"/>
                  <a:cs typeface="+mn-cs"/>
                </a:rPr>
                <a:t>是否有</a:t>
              </a:r>
              <a:br/>
              <a:r>
                <a:rPr lang="zh-CN" sz="790" b="1" dirty="0">
                  <a:solidFill>
                    <a:srgbClr val="331712"/>
                  </a:solidFill>
                  <a:latin typeface="+mn-lt"/>
                  <a:ea typeface="+mn-ea"/>
                  <a:cs typeface="+mn-cs"/>
                </a:rPr>
                <a:t>目标客群</a:t>
              </a:r>
            </a:p>
          </p:txBody>
        </p:sp>
        <p:sp>
          <p:nvSpPr>
            <p:cNvPr id="241" name="TextBox 241"/>
            <p:cNvSpPr txBox="1"/>
            <p:nvPr/>
          </p:nvSpPr>
          <p:spPr>
            <a:xfrm>
              <a:off x="7161466" y="3745230"/>
              <a:ext cx="898017"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与我行重点客群是否匹配</a:t>
              </a:r>
            </a:p>
          </p:txBody>
        </p:sp>
        <p:sp>
          <p:nvSpPr>
            <p:cNvPr id="242" name="Freeform 242"/>
            <p:cNvSpPr/>
            <p:nvPr/>
          </p:nvSpPr>
          <p:spPr>
            <a:xfrm>
              <a:off x="8153400" y="3295650"/>
              <a:ext cx="133350" cy="190500"/>
            </a:xfrm>
            <a:prstGeom prst="rightArrow">
              <a:avLst/>
            </a:prstGeom>
            <a:solidFill>
              <a:srgbClr val="A3422F"/>
            </a:solidFill>
            <a:ln>
              <a:noFill/>
            </a:ln>
          </p:spPr>
        </p:sp>
        <p:sp>
          <p:nvSpPr>
            <p:cNvPr id="243" name="Rectangle 243"/>
            <p:cNvSpPr/>
            <p:nvPr/>
          </p:nvSpPr>
          <p:spPr>
            <a:xfrm>
              <a:off x="8286750" y="3162300"/>
              <a:ext cx="1047750" cy="762000"/>
            </a:xfrm>
            <a:prstGeom prst="roundRect">
              <a:avLst>
                <a:gd name="adj" fmla="val 10000"/>
              </a:avLst>
            </a:prstGeom>
            <a:solidFill>
              <a:srgbClr val="F0FAF8"/>
            </a:solidFill>
            <a:ln w="9525">
              <a:solidFill>
                <a:srgbClr val="C2E0DA"/>
              </a:solidFill>
            </a:ln>
          </p:spPr>
        </p:sp>
        <p:sp>
          <p:nvSpPr>
            <p:cNvPr id="244" name="TextBox 244"/>
            <p:cNvSpPr txBox="1"/>
            <p:nvPr/>
          </p:nvSpPr>
          <p:spPr>
            <a:xfrm>
              <a:off x="8396288" y="3225641"/>
              <a:ext cx="200773" cy="161925"/>
            </a:xfrm>
            <a:prstGeom prst="rect">
              <a:avLst/>
            </a:prstGeom>
            <a:noFill/>
            <a:ln>
              <a:noFill/>
            </a:ln>
          </p:spPr>
          <p:txBody>
            <a:bodyPr wrap="none" lIns="0" tIns="0" rIns="0" bIns="0" anchor="t" anchorCtr="0">
              <a:spAutoFit/>
            </a:bodyPr>
            <a:lstStyle/>
            <a:p>
              <a:pPr algn="l"/>
              <a:r>
                <a:rPr lang="zh-CN" sz="820" b="1" dirty="0">
                  <a:solidFill>
                    <a:srgbClr val="76200F"/>
                  </a:solidFill>
                  <a:latin typeface="+mn-lt"/>
                  <a:ea typeface="+mn-ea"/>
                  <a:cs typeface="+mn-cs"/>
                </a:rPr>
                <a:t>02​</a:t>
              </a:r>
            </a:p>
          </p:txBody>
        </p:sp>
        <p:sp>
          <p:nvSpPr>
            <p:cNvPr id="245" name="TextBox 245"/>
            <p:cNvSpPr txBox="1"/>
            <p:nvPr/>
          </p:nvSpPr>
          <p:spPr>
            <a:xfrm>
              <a:off x="8605202" y="3420189"/>
              <a:ext cx="41084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331712"/>
                  </a:solidFill>
                  <a:latin typeface="+mn-lt"/>
                  <a:ea typeface="+mn-ea"/>
                  <a:cs typeface="+mn-cs"/>
                </a:rPr>
                <a:t>是否可</a:t>
              </a:r>
              <a:br/>
              <a:r>
                <a:rPr lang="zh-CN" sz="790" b="1" dirty="0">
                  <a:solidFill>
                    <a:srgbClr val="331712"/>
                  </a:solidFill>
                  <a:latin typeface="+mn-lt"/>
                  <a:ea typeface="+mn-ea"/>
                  <a:cs typeface="+mn-cs"/>
                </a:rPr>
                <a:t>积累数据</a:t>
              </a:r>
            </a:p>
          </p:txBody>
        </p:sp>
        <p:sp>
          <p:nvSpPr>
            <p:cNvPr id="246" name="TextBox 246"/>
            <p:cNvSpPr txBox="1"/>
            <p:nvPr/>
          </p:nvSpPr>
          <p:spPr>
            <a:xfrm>
              <a:off x="8402002" y="3745230"/>
              <a:ext cx="817245"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能否合规获得客户信息</a:t>
              </a:r>
            </a:p>
          </p:txBody>
        </p:sp>
        <p:sp>
          <p:nvSpPr>
            <p:cNvPr id="247" name="Freeform 247"/>
            <p:cNvSpPr/>
            <p:nvPr/>
          </p:nvSpPr>
          <p:spPr>
            <a:xfrm>
              <a:off x="9353550" y="3295650"/>
              <a:ext cx="133350" cy="190500"/>
            </a:xfrm>
            <a:prstGeom prst="rightArrow">
              <a:avLst/>
            </a:prstGeom>
            <a:solidFill>
              <a:srgbClr val="A3422F"/>
            </a:solidFill>
            <a:ln>
              <a:noFill/>
            </a:ln>
          </p:spPr>
        </p:sp>
        <p:sp>
          <p:nvSpPr>
            <p:cNvPr id="248" name="Rectangle 248"/>
            <p:cNvSpPr/>
            <p:nvPr/>
          </p:nvSpPr>
          <p:spPr>
            <a:xfrm>
              <a:off x="9486900" y="3162300"/>
              <a:ext cx="1047750" cy="762000"/>
            </a:xfrm>
            <a:prstGeom prst="roundRect">
              <a:avLst>
                <a:gd name="adj" fmla="val 10000"/>
              </a:avLst>
            </a:prstGeom>
            <a:solidFill>
              <a:srgbClr val="F0FAF8"/>
            </a:solidFill>
            <a:ln w="9525">
              <a:solidFill>
                <a:srgbClr val="C2E0DA"/>
              </a:solidFill>
            </a:ln>
          </p:spPr>
        </p:sp>
        <p:sp>
          <p:nvSpPr>
            <p:cNvPr id="249" name="TextBox 249"/>
            <p:cNvSpPr txBox="1"/>
            <p:nvPr/>
          </p:nvSpPr>
          <p:spPr>
            <a:xfrm>
              <a:off x="9596438" y="3225641"/>
              <a:ext cx="200773" cy="161925"/>
            </a:xfrm>
            <a:prstGeom prst="rect">
              <a:avLst/>
            </a:prstGeom>
            <a:noFill/>
            <a:ln>
              <a:noFill/>
            </a:ln>
          </p:spPr>
          <p:txBody>
            <a:bodyPr wrap="none" lIns="0" tIns="0" rIns="0" bIns="0" anchor="t" anchorCtr="0">
              <a:spAutoFit/>
            </a:bodyPr>
            <a:lstStyle/>
            <a:p>
              <a:pPr algn="l"/>
              <a:r>
                <a:rPr lang="zh-CN" sz="820" b="1" dirty="0">
                  <a:solidFill>
                    <a:srgbClr val="76200F"/>
                  </a:solidFill>
                  <a:latin typeface="+mn-lt"/>
                  <a:ea typeface="+mn-ea"/>
                  <a:cs typeface="+mn-cs"/>
                </a:rPr>
                <a:t>03​</a:t>
              </a:r>
            </a:p>
          </p:txBody>
        </p:sp>
        <p:sp>
          <p:nvSpPr>
            <p:cNvPr id="250" name="TextBox 250"/>
            <p:cNvSpPr txBox="1"/>
            <p:nvPr/>
          </p:nvSpPr>
          <p:spPr>
            <a:xfrm>
              <a:off x="9805352" y="3420189"/>
              <a:ext cx="41084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331712"/>
                  </a:solidFill>
                  <a:latin typeface="+mn-lt"/>
                  <a:ea typeface="+mn-ea"/>
                  <a:cs typeface="+mn-cs"/>
                </a:rPr>
                <a:t>是否能</a:t>
              </a:r>
              <a:br/>
              <a:r>
                <a:rPr lang="zh-CN" sz="790" b="1" dirty="0">
                  <a:solidFill>
                    <a:srgbClr val="331712"/>
                  </a:solidFill>
                  <a:latin typeface="+mn-lt"/>
                  <a:ea typeface="+mn-ea"/>
                  <a:cs typeface="+mn-cs"/>
                </a:rPr>
                <a:t>线上承接</a:t>
              </a:r>
            </a:p>
          </p:txBody>
        </p:sp>
        <p:sp>
          <p:nvSpPr>
            <p:cNvPr id="251" name="TextBox 251"/>
            <p:cNvSpPr txBox="1"/>
            <p:nvPr/>
          </p:nvSpPr>
          <p:spPr>
            <a:xfrm>
              <a:off x="9602152" y="3745230"/>
              <a:ext cx="817245"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有线上数字化承载体系</a:t>
              </a:r>
            </a:p>
          </p:txBody>
        </p:sp>
        <p:sp>
          <p:nvSpPr>
            <p:cNvPr id="252" name="Freeform 252"/>
            <p:cNvSpPr/>
            <p:nvPr/>
          </p:nvSpPr>
          <p:spPr>
            <a:xfrm>
              <a:off x="10553700" y="3295650"/>
              <a:ext cx="133350" cy="190500"/>
            </a:xfrm>
            <a:prstGeom prst="rightArrow">
              <a:avLst/>
            </a:prstGeom>
            <a:solidFill>
              <a:srgbClr val="A3422F"/>
            </a:solidFill>
            <a:ln>
              <a:noFill/>
            </a:ln>
          </p:spPr>
        </p:sp>
        <p:sp>
          <p:nvSpPr>
            <p:cNvPr id="253" name="Rectangle 253"/>
            <p:cNvSpPr/>
            <p:nvPr/>
          </p:nvSpPr>
          <p:spPr>
            <a:xfrm>
              <a:off x="10687050" y="3162300"/>
              <a:ext cx="1143000" cy="762000"/>
            </a:xfrm>
            <a:prstGeom prst="roundRect">
              <a:avLst>
                <a:gd name="adj" fmla="val 10000"/>
              </a:avLst>
            </a:prstGeom>
            <a:solidFill>
              <a:srgbClr val="F0FAF8"/>
            </a:solidFill>
            <a:ln w="9525">
              <a:solidFill>
                <a:srgbClr val="C2E0DA"/>
              </a:solidFill>
            </a:ln>
          </p:spPr>
        </p:sp>
        <p:sp>
          <p:nvSpPr>
            <p:cNvPr id="254" name="TextBox 254"/>
            <p:cNvSpPr txBox="1"/>
            <p:nvPr/>
          </p:nvSpPr>
          <p:spPr>
            <a:xfrm>
              <a:off x="10796588" y="3225641"/>
              <a:ext cx="200773" cy="161925"/>
            </a:xfrm>
            <a:prstGeom prst="rect">
              <a:avLst/>
            </a:prstGeom>
            <a:noFill/>
            <a:ln>
              <a:noFill/>
            </a:ln>
          </p:spPr>
          <p:txBody>
            <a:bodyPr wrap="none" lIns="0" tIns="0" rIns="0" bIns="0" anchor="t" anchorCtr="0">
              <a:spAutoFit/>
            </a:bodyPr>
            <a:lstStyle/>
            <a:p>
              <a:pPr algn="l"/>
              <a:r>
                <a:rPr lang="zh-CN" sz="820" b="1" dirty="0">
                  <a:solidFill>
                    <a:srgbClr val="76200F"/>
                  </a:solidFill>
                  <a:latin typeface="+mn-lt"/>
                  <a:ea typeface="+mn-ea"/>
                  <a:cs typeface="+mn-cs"/>
                </a:rPr>
                <a:t>04​</a:t>
              </a:r>
            </a:p>
          </p:txBody>
        </p:sp>
        <p:sp>
          <p:nvSpPr>
            <p:cNvPr id="255" name="TextBox 255"/>
            <p:cNvSpPr txBox="1"/>
            <p:nvPr/>
          </p:nvSpPr>
          <p:spPr>
            <a:xfrm>
              <a:off x="11002962" y="3420189"/>
              <a:ext cx="51117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331712"/>
                  </a:solidFill>
                  <a:latin typeface="+mn-lt"/>
                  <a:ea typeface="+mn-ea"/>
                  <a:cs typeface="+mn-cs"/>
                </a:rPr>
                <a:t>是否有后续</a:t>
              </a:r>
              <a:br/>
              <a:r>
                <a:rPr lang="zh-CN" sz="790" b="1" dirty="0">
                  <a:solidFill>
                    <a:srgbClr val="331712"/>
                  </a:solidFill>
                  <a:latin typeface="+mn-lt"/>
                  <a:ea typeface="+mn-ea"/>
                  <a:cs typeface="+mn-cs"/>
                </a:rPr>
                <a:t>经营责任人</a:t>
              </a:r>
            </a:p>
          </p:txBody>
        </p:sp>
        <p:sp>
          <p:nvSpPr>
            <p:cNvPr id="256" name="TextBox 256"/>
            <p:cNvSpPr txBox="1"/>
            <p:nvPr/>
          </p:nvSpPr>
          <p:spPr>
            <a:xfrm>
              <a:off x="10728770" y="3745230"/>
              <a:ext cx="1059561"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是否明确后续跟进与转化责任</a:t>
              </a:r>
            </a:p>
          </p:txBody>
        </p:sp>
      </p:grpSp>
      <p:grpSp>
        <p:nvGrpSpPr>
          <p:cNvPr id="283" name="decision-advice"/>
          <p:cNvGrpSpPr/>
          <p:nvPr/>
        </p:nvGrpSpPr>
        <p:grpSpPr>
          <a:xfrm>
            <a:off x="7086600" y="4057650"/>
            <a:ext cx="4743450" cy="2552700"/>
            <a:chOff x="7086600" y="4057650"/>
            <a:chExt cx="4743450" cy="2552700"/>
          </a:xfrm>
        </p:grpSpPr>
        <p:sp>
          <p:nvSpPr>
            <p:cNvPr id="258" name="Rectangle 258"/>
            <p:cNvSpPr/>
            <p:nvPr/>
          </p:nvSpPr>
          <p:spPr>
            <a:xfrm>
              <a:off x="7086600" y="4057650"/>
              <a:ext cx="1333500" cy="228600"/>
            </a:xfrm>
            <a:prstGeom prst="roundRect">
              <a:avLst>
                <a:gd name="adj" fmla="val 20833"/>
              </a:avLst>
            </a:prstGeom>
            <a:solidFill>
              <a:srgbClr val="76200F"/>
            </a:solidFill>
            <a:ln>
              <a:noFill/>
            </a:ln>
          </p:spPr>
        </p:sp>
        <p:sp>
          <p:nvSpPr>
            <p:cNvPr id="259" name="TextBox 259"/>
            <p:cNvSpPr txBox="1"/>
            <p:nvPr/>
          </p:nvSpPr>
          <p:spPr>
            <a:xfrm>
              <a:off x="7196138" y="4118372"/>
              <a:ext cx="1021867"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决策建议（示例）</a:t>
              </a:r>
            </a:p>
          </p:txBody>
        </p:sp>
        <p:sp>
          <p:nvSpPr>
            <p:cNvPr id="260" name="Rectangle 260"/>
            <p:cNvSpPr/>
            <p:nvPr/>
          </p:nvSpPr>
          <p:spPr>
            <a:xfrm>
              <a:off x="7086600" y="4343400"/>
              <a:ext cx="4743450" cy="704850"/>
            </a:xfrm>
            <a:prstGeom prst="roundRect">
              <a:avLst>
                <a:gd name="adj" fmla="val 10811"/>
              </a:avLst>
            </a:prstGeom>
            <a:solidFill>
              <a:srgbClr val="EAF6F3"/>
            </a:solidFill>
            <a:ln w="9525">
              <a:solidFill>
                <a:srgbClr val="C2E0DA"/>
              </a:solidFill>
            </a:ln>
          </p:spPr>
        </p:sp>
        <p:grpSp>
          <p:nvGrpSpPr>
            <p:cNvPr id="263" name="Group 263"/>
            <p:cNvGrpSpPr/>
            <p:nvPr/>
          </p:nvGrpSpPr>
          <p:grpSpPr>
            <a:xfrm>
              <a:off x="7267575" y="4525273"/>
              <a:ext cx="133350" cy="170552"/>
              <a:chOff x="7267575" y="4525273"/>
              <a:chExt cx="133350" cy="170552"/>
            </a:xfrm>
          </p:grpSpPr>
          <p:sp>
            <p:nvSpPr>
              <p:cNvPr id="261" name="Freeform 261"/>
              <p:cNvSpPr/>
              <p:nvPr/>
            </p:nvSpPr>
            <p:spPr>
              <a:xfrm>
                <a:off x="7267575" y="4525273"/>
                <a:ext cx="133350" cy="122029"/>
              </a:xfrm>
              <a:custGeom>
                <a:avLst/>
                <a:gdLst/>
                <a:ahLst/>
                <a:cxnLst/>
                <a:rect l="l" t="t" r="r" b="b"/>
                <a:pathLst>
                  <a:path w="133350" h="122029">
                    <a:moveTo>
                      <a:pt x="0" y="18152"/>
                    </a:moveTo>
                    <a:cubicBezTo>
                      <a:pt x="18519" y="0"/>
                      <a:pt x="48156" y="0"/>
                      <a:pt x="66675" y="18152"/>
                    </a:cubicBezTo>
                    <a:cubicBezTo>
                      <a:pt x="85194" y="36304"/>
                      <a:pt x="114831" y="36304"/>
                      <a:pt x="133350" y="18152"/>
                    </a:cubicBezTo>
                    <a:lnTo>
                      <a:pt x="133350" y="103877"/>
                    </a:lnTo>
                    <a:cubicBezTo>
                      <a:pt x="114831" y="122029"/>
                      <a:pt x="85194" y="122029"/>
                      <a:pt x="66675" y="103877"/>
                    </a:cubicBezTo>
                    <a:cubicBezTo>
                      <a:pt x="48156" y="85725"/>
                      <a:pt x="18519" y="85725"/>
                      <a:pt x="0" y="103877"/>
                    </a:cubicBezTo>
                    <a:lnTo>
                      <a:pt x="0" y="18152"/>
                    </a:lnTo>
                  </a:path>
                </a:pathLst>
              </a:custGeom>
              <a:noFill/>
              <a:ln w="19050">
                <a:solidFill>
                  <a:srgbClr val="76200F"/>
                </a:solidFill>
              </a:ln>
            </p:spPr>
          </p:sp>
          <p:sp>
            <p:nvSpPr>
              <p:cNvPr id="262" name="Freeform 262"/>
              <p:cNvSpPr/>
              <p:nvPr/>
            </p:nvSpPr>
            <p:spPr>
              <a:xfrm>
                <a:off x="7267575" y="4629150"/>
                <a:ext cx="9525" cy="66675"/>
              </a:xfrm>
              <a:custGeom>
                <a:avLst/>
                <a:gdLst/>
                <a:ahLst/>
                <a:cxnLst/>
                <a:rect l="l" t="t" r="r" b="b"/>
                <a:pathLst>
                  <a:path w="9525" h="66675">
                    <a:moveTo>
                      <a:pt x="0" y="66675"/>
                    </a:moveTo>
                    <a:lnTo>
                      <a:pt x="0" y="0"/>
                    </a:lnTo>
                  </a:path>
                </a:pathLst>
              </a:custGeom>
              <a:noFill/>
              <a:ln w="19050">
                <a:solidFill>
                  <a:srgbClr val="76200F"/>
                </a:solidFill>
              </a:ln>
            </p:spPr>
          </p:sp>
        </p:grpSp>
        <p:sp>
          <p:nvSpPr>
            <p:cNvPr id="264" name="TextBox 264"/>
            <p:cNvSpPr txBox="1"/>
            <p:nvPr/>
          </p:nvSpPr>
          <p:spPr>
            <a:xfrm>
              <a:off x="7539038" y="4474845"/>
              <a:ext cx="494157" cy="176212"/>
            </a:xfrm>
            <a:prstGeom prst="rect">
              <a:avLst/>
            </a:prstGeom>
            <a:noFill/>
            <a:ln>
              <a:noFill/>
            </a:ln>
          </p:spPr>
          <p:txBody>
            <a:bodyPr wrap="none" lIns="0" tIns="0" rIns="0" bIns="0" anchor="t" anchorCtr="0">
              <a:spAutoFit/>
            </a:bodyPr>
            <a:lstStyle/>
            <a:p>
              <a:pPr algn="l"/>
              <a:r>
                <a:rPr lang="zh-CN" sz="900" b="1" dirty="0">
                  <a:solidFill>
                    <a:srgbClr val="5D190B"/>
                  </a:solidFill>
                  <a:latin typeface="+mn-lt"/>
                  <a:ea typeface="+mn-ea"/>
                  <a:cs typeface="+mn-cs"/>
                </a:rPr>
                <a:t>优先布局</a:t>
              </a:r>
            </a:p>
          </p:txBody>
        </p:sp>
        <p:sp>
          <p:nvSpPr>
            <p:cNvPr id="265" name="TextBox 265"/>
            <p:cNvSpPr txBox="1"/>
            <p:nvPr/>
          </p:nvSpPr>
          <p:spPr>
            <a:xfrm>
              <a:off x="7539038" y="4670584"/>
              <a:ext cx="2389607"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商圈：高客流基础上具备较好转化潜力，适合打造标杆活动</a:t>
              </a:r>
            </a:p>
          </p:txBody>
        </p:sp>
        <p:sp>
          <p:nvSpPr>
            <p:cNvPr id="266" name="TextBox 266"/>
            <p:cNvSpPr txBox="1"/>
            <p:nvPr/>
          </p:nvSpPr>
          <p:spPr>
            <a:xfrm>
              <a:off x="7539038" y="4813459"/>
              <a:ext cx="2206523"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园区：高价值客群聚集，宜开展深度经营与定制化服务</a:t>
              </a:r>
            </a:p>
          </p:txBody>
        </p:sp>
        <p:sp>
          <p:nvSpPr>
            <p:cNvPr id="267" name="Rectangle 267"/>
            <p:cNvSpPr/>
            <p:nvPr/>
          </p:nvSpPr>
          <p:spPr>
            <a:xfrm>
              <a:off x="7086600" y="5124450"/>
              <a:ext cx="4743450" cy="704850"/>
            </a:xfrm>
            <a:prstGeom prst="roundRect">
              <a:avLst>
                <a:gd name="adj" fmla="val 10811"/>
              </a:avLst>
            </a:prstGeom>
            <a:solidFill>
              <a:srgbClr val="F0FAF8"/>
            </a:solidFill>
            <a:ln w="9525">
              <a:solidFill>
                <a:srgbClr val="C2E0DA"/>
              </a:solidFill>
            </a:ln>
          </p:spPr>
        </p:sp>
        <p:grpSp>
          <p:nvGrpSpPr>
            <p:cNvPr id="271" name="Group 271"/>
            <p:cNvGrpSpPr/>
            <p:nvPr/>
          </p:nvGrpSpPr>
          <p:grpSpPr>
            <a:xfrm>
              <a:off x="7248525" y="5305425"/>
              <a:ext cx="171450" cy="171450"/>
              <a:chOff x="7248525" y="5305425"/>
              <a:chExt cx="171450" cy="171450"/>
            </a:xfrm>
          </p:grpSpPr>
          <p:sp>
            <p:nvSpPr>
              <p:cNvPr id="268" name="Freeform 268"/>
              <p:cNvSpPr/>
              <p:nvPr/>
            </p:nvSpPr>
            <p:spPr>
              <a:xfrm>
                <a:off x="7324725" y="53816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A3422F"/>
                </a:solidFill>
              </a:ln>
            </p:spPr>
          </p:sp>
          <p:sp>
            <p:nvSpPr>
              <p:cNvPr id="269" name="Freeform 269"/>
              <p:cNvSpPr/>
              <p:nvPr/>
            </p:nvSpPr>
            <p:spPr>
              <a:xfrm>
                <a:off x="7286625" y="53435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A3422F"/>
                </a:solidFill>
              </a:ln>
            </p:spPr>
          </p:sp>
          <p:sp>
            <p:nvSpPr>
              <p:cNvPr id="270" name="Freeform 270"/>
              <p:cNvSpPr/>
              <p:nvPr/>
            </p:nvSpPr>
            <p:spPr>
              <a:xfrm>
                <a:off x="7248525" y="53054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A3422F"/>
                </a:solidFill>
              </a:ln>
            </p:spPr>
          </p:sp>
        </p:grpSp>
        <p:sp>
          <p:nvSpPr>
            <p:cNvPr id="272" name="TextBox 272"/>
            <p:cNvSpPr txBox="1"/>
            <p:nvPr/>
          </p:nvSpPr>
          <p:spPr>
            <a:xfrm>
              <a:off x="7539038" y="5255895"/>
              <a:ext cx="494157" cy="176212"/>
            </a:xfrm>
            <a:prstGeom prst="rect">
              <a:avLst/>
            </a:prstGeom>
            <a:noFill/>
            <a:ln>
              <a:noFill/>
            </a:ln>
          </p:spPr>
          <p:txBody>
            <a:bodyPr wrap="none" lIns="0" tIns="0" rIns="0" bIns="0" anchor="t" anchorCtr="0">
              <a:spAutoFit/>
            </a:bodyPr>
            <a:lstStyle/>
            <a:p>
              <a:pPr algn="l"/>
              <a:r>
                <a:rPr lang="zh-CN" sz="900" b="1" dirty="0">
                  <a:solidFill>
                    <a:srgbClr val="5D190B"/>
                  </a:solidFill>
                  <a:latin typeface="+mn-lt"/>
                  <a:ea typeface="+mn-ea"/>
                  <a:cs typeface="+mn-cs"/>
                </a:rPr>
                <a:t>重点优化</a:t>
              </a:r>
            </a:p>
          </p:txBody>
        </p:sp>
        <p:sp>
          <p:nvSpPr>
            <p:cNvPr id="273" name="TextBox 273"/>
            <p:cNvSpPr txBox="1"/>
            <p:nvPr/>
          </p:nvSpPr>
          <p:spPr>
            <a:xfrm>
              <a:off x="7539038" y="5451634"/>
              <a:ext cx="2755773"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社区：稳健获客，重在长期经营，建立适合社区化服务的常态化开展</a:t>
              </a:r>
            </a:p>
          </p:txBody>
        </p:sp>
        <p:sp>
          <p:nvSpPr>
            <p:cNvPr id="274" name="TextBox 274"/>
            <p:cNvSpPr txBox="1"/>
            <p:nvPr/>
          </p:nvSpPr>
          <p:spPr>
            <a:xfrm>
              <a:off x="7539038" y="5594509"/>
              <a:ext cx="2298065"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文旅：发挥场景特色、强化线上线下联动，提升转化效率</a:t>
              </a:r>
            </a:p>
          </p:txBody>
        </p:sp>
        <p:sp>
          <p:nvSpPr>
            <p:cNvPr id="275" name="Rectangle 275"/>
            <p:cNvSpPr/>
            <p:nvPr/>
          </p:nvSpPr>
          <p:spPr>
            <a:xfrm>
              <a:off x="7086600" y="5905500"/>
              <a:ext cx="4743450" cy="704850"/>
            </a:xfrm>
            <a:prstGeom prst="roundRect">
              <a:avLst>
                <a:gd name="adj" fmla="val 10811"/>
              </a:avLst>
            </a:prstGeom>
            <a:solidFill>
              <a:srgbClr val="F6FBFA"/>
            </a:solidFill>
            <a:ln w="9525">
              <a:solidFill>
                <a:srgbClr val="C2E0DA"/>
              </a:solidFill>
            </a:ln>
          </p:spPr>
        </p:sp>
        <p:grpSp>
          <p:nvGrpSpPr>
            <p:cNvPr id="279" name="Group 279"/>
            <p:cNvGrpSpPr/>
            <p:nvPr/>
          </p:nvGrpSpPr>
          <p:grpSpPr>
            <a:xfrm>
              <a:off x="7238189" y="6083311"/>
              <a:ext cx="192114" cy="165051"/>
              <a:chOff x="7238189" y="6083311"/>
              <a:chExt cx="192114" cy="165051"/>
            </a:xfrm>
          </p:grpSpPr>
          <p:sp>
            <p:nvSpPr>
              <p:cNvPr id="276" name="Freeform 276"/>
              <p:cNvSpPr/>
              <p:nvPr/>
            </p:nvSpPr>
            <p:spPr>
              <a:xfrm>
                <a:off x="7334250" y="6143625"/>
                <a:ext cx="9525" cy="38100"/>
              </a:xfrm>
              <a:custGeom>
                <a:avLst/>
                <a:gdLst/>
                <a:ahLst/>
                <a:cxnLst/>
                <a:rect l="l" t="t" r="r" b="b"/>
                <a:pathLst>
                  <a:path w="9525" h="38100">
                    <a:moveTo>
                      <a:pt x="0" y="0"/>
                    </a:moveTo>
                    <a:lnTo>
                      <a:pt x="0" y="38100"/>
                    </a:lnTo>
                  </a:path>
                </a:pathLst>
              </a:custGeom>
              <a:noFill/>
              <a:ln w="19050">
                <a:solidFill>
                  <a:srgbClr val="C93F27"/>
                </a:solidFill>
              </a:ln>
            </p:spPr>
          </p:sp>
          <p:sp>
            <p:nvSpPr>
              <p:cNvPr id="277" name="Freeform 277"/>
              <p:cNvSpPr/>
              <p:nvPr/>
            </p:nvSpPr>
            <p:spPr>
              <a:xfrm>
                <a:off x="7238189" y="60833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93F27"/>
                </a:solidFill>
              </a:ln>
            </p:spPr>
          </p:sp>
          <p:sp>
            <p:nvSpPr>
              <p:cNvPr id="278" name="Freeform 278"/>
              <p:cNvSpPr/>
              <p:nvPr/>
            </p:nvSpPr>
            <p:spPr>
              <a:xfrm>
                <a:off x="7334250" y="6210300"/>
                <a:ext cx="9525" cy="9525"/>
              </a:xfrm>
              <a:custGeom>
                <a:avLst/>
                <a:gdLst/>
                <a:ahLst/>
                <a:cxnLst/>
                <a:rect l="l" t="t" r="r" b="b"/>
                <a:pathLst>
                  <a:path w="9525" h="9525">
                    <a:moveTo>
                      <a:pt x="0" y="0"/>
                    </a:moveTo>
                    <a:lnTo>
                      <a:pt x="95" y="0"/>
                    </a:lnTo>
                  </a:path>
                </a:pathLst>
              </a:custGeom>
              <a:noFill/>
              <a:ln w="19050">
                <a:solidFill>
                  <a:srgbClr val="C93F27"/>
                </a:solidFill>
              </a:ln>
            </p:spPr>
          </p:sp>
        </p:grpSp>
        <p:sp>
          <p:nvSpPr>
            <p:cNvPr id="280" name="TextBox 280"/>
            <p:cNvSpPr txBox="1"/>
            <p:nvPr/>
          </p:nvSpPr>
          <p:spPr>
            <a:xfrm>
              <a:off x="7539038" y="6036945"/>
              <a:ext cx="494157" cy="176212"/>
            </a:xfrm>
            <a:prstGeom prst="rect">
              <a:avLst/>
            </a:prstGeom>
            <a:noFill/>
            <a:ln>
              <a:noFill/>
            </a:ln>
          </p:spPr>
          <p:txBody>
            <a:bodyPr wrap="none" lIns="0" tIns="0" rIns="0" bIns="0" anchor="t" anchorCtr="0">
              <a:spAutoFit/>
            </a:bodyPr>
            <a:lstStyle/>
            <a:p>
              <a:pPr algn="l"/>
              <a:r>
                <a:rPr lang="zh-CN" sz="900" b="1" dirty="0">
                  <a:solidFill>
                    <a:srgbClr val="5D190B"/>
                  </a:solidFill>
                  <a:latin typeface="+mn-lt"/>
                  <a:ea typeface="+mn-ea"/>
                  <a:cs typeface="+mn-cs"/>
                </a:rPr>
                <a:t>谨慎投入</a:t>
              </a:r>
            </a:p>
          </p:txBody>
        </p:sp>
        <p:sp>
          <p:nvSpPr>
            <p:cNvPr id="281" name="TextBox 281"/>
            <p:cNvSpPr txBox="1"/>
            <p:nvPr/>
          </p:nvSpPr>
          <p:spPr>
            <a:xfrm>
              <a:off x="7539038" y="6232684"/>
              <a:ext cx="1931899"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赛事：关注投入产出与优质资源，控制投入节奏</a:t>
              </a:r>
            </a:p>
          </p:txBody>
        </p:sp>
        <p:sp>
          <p:nvSpPr>
            <p:cNvPr id="282" name="TextBox 282"/>
            <p:cNvSpPr txBox="1"/>
            <p:nvPr/>
          </p:nvSpPr>
          <p:spPr>
            <a:xfrm>
              <a:off x="7539038" y="6375559"/>
              <a:ext cx="2206523" cy="133350"/>
            </a:xfrm>
            <a:prstGeom prst="rect">
              <a:avLst/>
            </a:prstGeom>
            <a:noFill/>
            <a:ln>
              <a:noFill/>
            </a:ln>
          </p:spPr>
          <p:txBody>
            <a:bodyPr wrap="none" lIns="0" tIns="0" rIns="0" bIns="0" anchor="t" anchorCtr="0">
              <a:spAutoFit/>
            </a:bodyPr>
            <a:lstStyle/>
            <a:p>
              <a:pPr algn="l"/>
              <a:r>
                <a:rPr lang="zh-CN" sz="680" dirty="0">
                  <a:solidFill>
                    <a:srgbClr val="514340"/>
                  </a:solidFill>
                  <a:latin typeface="+mn-lt"/>
                  <a:ea typeface="+mn-ea"/>
                  <a:cs typeface="+mn-cs"/>
                </a:rPr>
                <a:t>校园：以品牌传播和金融教育为主，长期培育潜力客户</a:t>
              </a:r>
            </a:p>
          </p:txBody>
        </p:sp>
      </p:gr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07​</a:t>
              </a:r>
            </a:p>
          </p:txBody>
        </p:sp>
        <p:sp>
          <p:nvSpPr>
            <p:cNvPr id="4" name="TextBox 4"/>
            <p:cNvSpPr txBox="1"/>
            <p:nvPr/>
          </p:nvSpPr>
          <p:spPr>
            <a:xfrm>
              <a:off x="904494" y="170498"/>
              <a:ext cx="5532501"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展位设计</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线下空间需要同时承担四项经营任务</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07​</a:t>
              </a:r>
            </a:p>
          </p:txBody>
        </p:sp>
      </p:grpSp>
      <p:grpSp>
        <p:nvGrpSpPr>
          <p:cNvPr id="63" name="floor-plan"/>
          <p:cNvGrpSpPr/>
          <p:nvPr/>
        </p:nvGrpSpPr>
        <p:grpSpPr>
          <a:xfrm>
            <a:off x="419100" y="742950"/>
            <a:ext cx="2895600" cy="2781300"/>
            <a:chOff x="419100" y="742950"/>
            <a:chExt cx="2895600" cy="2781300"/>
          </a:xfrm>
        </p:grpSpPr>
        <p:sp>
          <p:nvSpPr>
            <p:cNvPr id="8" name="Rectangle 8"/>
            <p:cNvSpPr/>
            <p:nvPr/>
          </p:nvSpPr>
          <p:spPr>
            <a:xfrm>
              <a:off x="419100" y="742950"/>
              <a:ext cx="2895600" cy="2781300"/>
            </a:xfrm>
            <a:prstGeom prst="roundRect">
              <a:avLst>
                <a:gd name="adj" fmla="val 3425"/>
              </a:avLst>
            </a:prstGeom>
            <a:solidFill>
              <a:srgbClr val="EFF3F2"/>
            </a:solidFill>
            <a:ln w="9525">
              <a:solidFill>
                <a:srgbClr val="C2E0DA"/>
              </a:solidFill>
            </a:ln>
          </p:spPr>
        </p:sp>
        <p:sp>
          <p:nvSpPr>
            <p:cNvPr id="9" name="Rectangle 9"/>
            <p:cNvSpPr/>
            <p:nvPr/>
          </p:nvSpPr>
          <p:spPr>
            <a:xfrm>
              <a:off x="495300" y="800100"/>
              <a:ext cx="1352550" cy="1162050"/>
            </a:xfrm>
            <a:prstGeom prst="roundRect">
              <a:avLst>
                <a:gd name="adj" fmla="val 4918"/>
              </a:avLst>
            </a:prstGeom>
            <a:solidFill>
              <a:srgbClr val="D9EEEA"/>
            </a:solidFill>
            <a:ln w="9525">
              <a:solidFill>
                <a:srgbClr val="C4887C"/>
              </a:solidFill>
            </a:ln>
          </p:spPr>
        </p:sp>
        <p:sp>
          <p:nvSpPr>
            <p:cNvPr id="10" name="TextBox 10"/>
            <p:cNvSpPr txBox="1"/>
            <p:nvPr/>
          </p:nvSpPr>
          <p:spPr>
            <a:xfrm>
              <a:off x="877380" y="897493"/>
              <a:ext cx="588391" cy="169069"/>
            </a:xfrm>
            <a:prstGeom prst="rect">
              <a:avLst/>
            </a:prstGeom>
            <a:noFill/>
            <a:ln>
              <a:noFill/>
            </a:ln>
          </p:spPr>
          <p:txBody>
            <a:bodyPr wrap="none" lIns="0" tIns="0" rIns="0" bIns="0" anchor="t" anchorCtr="0">
              <a:spAutoFit/>
            </a:bodyPr>
            <a:lstStyle/>
            <a:p>
              <a:pPr algn="ctr"/>
              <a:r>
                <a:rPr lang="zh-CN" sz="860" b="1" dirty="0">
                  <a:solidFill>
                    <a:srgbClr val="5D190B"/>
                  </a:solidFill>
                  <a:latin typeface="+mn-lt"/>
                  <a:ea typeface="+mn-ea"/>
                  <a:cs typeface="+mn-cs"/>
                </a:rPr>
                <a:t>品牌展示区</a:t>
              </a:r>
            </a:p>
          </p:txBody>
        </p:sp>
        <p:sp>
          <p:nvSpPr>
            <p:cNvPr id="11" name="Rectangle 11"/>
            <p:cNvSpPr/>
            <p:nvPr/>
          </p:nvSpPr>
          <p:spPr>
            <a:xfrm>
              <a:off x="628650" y="1104900"/>
              <a:ext cx="571500" cy="323850"/>
            </a:xfrm>
            <a:prstGeom prst="roundRect">
              <a:avLst>
                <a:gd name="adj" fmla="val 8824"/>
              </a:avLst>
            </a:prstGeom>
            <a:solidFill>
              <a:srgbClr val="76200F">
                <a:alpha val="75000"/>
              </a:srgbClr>
            </a:solidFill>
            <a:ln>
              <a:noFill/>
            </a:ln>
          </p:spPr>
        </p:sp>
        <p:sp>
          <p:nvSpPr>
            <p:cNvPr id="12" name="TextBox 12"/>
            <p:cNvSpPr txBox="1"/>
            <p:nvPr/>
          </p:nvSpPr>
          <p:spPr>
            <a:xfrm>
              <a:off x="695858" y="1249680"/>
              <a:ext cx="43708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LED主视觉​</a:t>
              </a:r>
            </a:p>
          </p:txBody>
        </p:sp>
        <p:sp>
          <p:nvSpPr>
            <p:cNvPr id="13" name="Ellipse 13"/>
            <p:cNvSpPr/>
            <p:nvPr/>
          </p:nvSpPr>
          <p:spPr>
            <a:xfrm>
              <a:off x="1409700" y="1314450"/>
              <a:ext cx="228600" cy="228600"/>
            </a:xfrm>
            <a:prstGeom prst="ellipse">
              <a:avLst/>
            </a:prstGeom>
            <a:solidFill>
              <a:srgbClr val="FFFFFF"/>
            </a:solidFill>
            <a:ln w="9525">
              <a:solidFill>
                <a:srgbClr val="C4887C"/>
              </a:solidFill>
            </a:ln>
          </p:spPr>
        </p:sp>
        <p:grpSp>
          <p:nvGrpSpPr>
            <p:cNvPr id="16" name="Group 16"/>
            <p:cNvGrpSpPr/>
            <p:nvPr/>
          </p:nvGrpSpPr>
          <p:grpSpPr>
            <a:xfrm>
              <a:off x="1466850" y="1390650"/>
              <a:ext cx="114300" cy="76200"/>
              <a:chOff x="1466850" y="1390650"/>
              <a:chExt cx="114300" cy="76200"/>
            </a:xfrm>
          </p:grpSpPr>
          <p:sp>
            <p:nvSpPr>
              <p:cNvPr id="14" name="Freeform 14"/>
              <p:cNvSpPr/>
              <p:nvPr/>
            </p:nvSpPr>
            <p:spPr>
              <a:xfrm>
                <a:off x="1511300" y="14160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15" name="Freeform 15"/>
              <p:cNvSpPr/>
              <p:nvPr/>
            </p:nvSpPr>
            <p:spPr>
              <a:xfrm>
                <a:off x="1466850" y="1390650"/>
                <a:ext cx="114300" cy="76200"/>
              </a:xfrm>
              <a:custGeom>
                <a:avLst/>
                <a:gdLst/>
                <a:ahLst/>
                <a:cxnLst/>
                <a:rect l="l" t="t" r="r" b="b"/>
                <a:pathLst>
                  <a:path w="114300" h="76200">
                    <a:moveTo>
                      <a:pt x="114300" y="38100"/>
                    </a:moveTo>
                    <a:cubicBezTo>
                      <a:pt x="99060" y="63500"/>
                      <a:pt x="80010" y="76200"/>
                      <a:pt x="57150" y="76200"/>
                    </a:cubicBezTo>
                    <a:cubicBezTo>
                      <a:pt x="34290" y="76200"/>
                      <a:pt x="15240" y="63500"/>
                      <a:pt x="0" y="38100"/>
                    </a:cubicBezTo>
                    <a:cubicBezTo>
                      <a:pt x="15240" y="12700"/>
                      <a:pt x="34290" y="0"/>
                      <a:pt x="57150" y="0"/>
                    </a:cubicBezTo>
                    <a:cubicBezTo>
                      <a:pt x="80010" y="0"/>
                      <a:pt x="99060" y="12700"/>
                      <a:pt x="114300" y="38100"/>
                    </a:cubicBezTo>
                  </a:path>
                </a:pathLst>
              </a:custGeom>
              <a:noFill/>
              <a:ln w="12700">
                <a:solidFill>
                  <a:srgbClr val="76200F"/>
                </a:solidFill>
              </a:ln>
            </p:spPr>
          </p:sp>
        </p:grpSp>
        <p:sp>
          <p:nvSpPr>
            <p:cNvPr id="17" name="Rectangle 17"/>
            <p:cNvSpPr/>
            <p:nvPr/>
          </p:nvSpPr>
          <p:spPr>
            <a:xfrm>
              <a:off x="1885950" y="800100"/>
              <a:ext cx="1352550" cy="1162050"/>
            </a:xfrm>
            <a:prstGeom prst="roundRect">
              <a:avLst>
                <a:gd name="adj" fmla="val 4918"/>
              </a:avLst>
            </a:prstGeom>
            <a:solidFill>
              <a:srgbClr val="CBE7E1"/>
            </a:solidFill>
            <a:ln w="9525">
              <a:solidFill>
                <a:srgbClr val="C4887C"/>
              </a:solidFill>
            </a:ln>
          </p:spPr>
        </p:sp>
        <p:sp>
          <p:nvSpPr>
            <p:cNvPr id="18" name="TextBox 18"/>
            <p:cNvSpPr txBox="1"/>
            <p:nvPr/>
          </p:nvSpPr>
          <p:spPr>
            <a:xfrm>
              <a:off x="2268030" y="897493"/>
              <a:ext cx="588391" cy="169069"/>
            </a:xfrm>
            <a:prstGeom prst="rect">
              <a:avLst/>
            </a:prstGeom>
            <a:noFill/>
            <a:ln>
              <a:noFill/>
            </a:ln>
          </p:spPr>
          <p:txBody>
            <a:bodyPr wrap="none" lIns="0" tIns="0" rIns="0" bIns="0" anchor="t" anchorCtr="0">
              <a:spAutoFit/>
            </a:bodyPr>
            <a:lstStyle/>
            <a:p>
              <a:pPr algn="ctr"/>
              <a:r>
                <a:rPr lang="zh-CN" sz="860" b="1" dirty="0">
                  <a:solidFill>
                    <a:srgbClr val="5D190B"/>
                  </a:solidFill>
                  <a:latin typeface="+mn-lt"/>
                  <a:ea typeface="+mn-ea"/>
                  <a:cs typeface="+mn-cs"/>
                </a:rPr>
                <a:t>互动体验区</a:t>
              </a:r>
            </a:p>
          </p:txBody>
        </p:sp>
        <p:sp>
          <p:nvSpPr>
            <p:cNvPr id="19" name="Ellipse 19"/>
            <p:cNvSpPr/>
            <p:nvPr/>
          </p:nvSpPr>
          <p:spPr>
            <a:xfrm>
              <a:off x="2314575" y="1181100"/>
              <a:ext cx="495300" cy="495300"/>
            </a:xfrm>
            <a:prstGeom prst="ellipse">
              <a:avLst/>
            </a:prstGeom>
            <a:solidFill>
              <a:srgbClr val="FFFFFF"/>
            </a:solidFill>
            <a:ln w="19050">
              <a:solidFill>
                <a:srgbClr val="A3422F"/>
              </a:solidFill>
            </a:ln>
          </p:spPr>
        </p:sp>
        <p:sp>
          <p:nvSpPr>
            <p:cNvPr id="20" name="Ellipse 20"/>
            <p:cNvSpPr/>
            <p:nvPr/>
          </p:nvSpPr>
          <p:spPr>
            <a:xfrm>
              <a:off x="2409825" y="1276350"/>
              <a:ext cx="304800" cy="304800"/>
            </a:xfrm>
            <a:prstGeom prst="ellipse">
              <a:avLst/>
            </a:prstGeom>
            <a:solidFill>
              <a:srgbClr val="E4F3F0"/>
            </a:solidFill>
            <a:ln>
              <a:noFill/>
            </a:ln>
          </p:spPr>
        </p:sp>
        <p:sp>
          <p:nvSpPr>
            <p:cNvPr id="21" name="Freeform 21"/>
            <p:cNvSpPr/>
            <p:nvPr/>
          </p:nvSpPr>
          <p:spPr>
            <a:xfrm>
              <a:off x="2490787" y="1357312"/>
              <a:ext cx="142875" cy="142875"/>
            </a:xfrm>
            <a:custGeom>
              <a:avLst/>
              <a:gdLst/>
              <a:ahLst/>
              <a:cxnLst/>
              <a:rect l="l" t="t" r="r" b="b"/>
              <a:pathLst>
                <a:path w="142875" h="142875">
                  <a:moveTo>
                    <a:pt x="7937" y="31750"/>
                  </a:moveTo>
                  <a:lnTo>
                    <a:pt x="31750" y="31750"/>
                  </a:lnTo>
                  <a:cubicBezTo>
                    <a:pt x="36134" y="31750"/>
                    <a:pt x="39687" y="28196"/>
                    <a:pt x="39687" y="23812"/>
                  </a:cubicBezTo>
                  <a:lnTo>
                    <a:pt x="39687" y="15875"/>
                  </a:lnTo>
                  <a:cubicBezTo>
                    <a:pt x="39687" y="7107"/>
                    <a:pt x="46795" y="0"/>
                    <a:pt x="55562" y="0"/>
                  </a:cubicBezTo>
                  <a:cubicBezTo>
                    <a:pt x="64330" y="0"/>
                    <a:pt x="71437" y="7107"/>
                    <a:pt x="71437" y="15875"/>
                  </a:cubicBezTo>
                  <a:lnTo>
                    <a:pt x="71437" y="23812"/>
                  </a:lnTo>
                  <a:cubicBezTo>
                    <a:pt x="71437" y="28196"/>
                    <a:pt x="74991" y="31750"/>
                    <a:pt x="79375" y="31750"/>
                  </a:cubicBezTo>
                  <a:lnTo>
                    <a:pt x="103187" y="31750"/>
                  </a:lnTo>
                  <a:cubicBezTo>
                    <a:pt x="107571" y="31750"/>
                    <a:pt x="111125" y="35304"/>
                    <a:pt x="111125" y="39687"/>
                  </a:cubicBezTo>
                  <a:lnTo>
                    <a:pt x="111125" y="63500"/>
                  </a:lnTo>
                  <a:cubicBezTo>
                    <a:pt x="111125" y="67884"/>
                    <a:pt x="114679" y="71437"/>
                    <a:pt x="119062" y="71437"/>
                  </a:cubicBezTo>
                  <a:lnTo>
                    <a:pt x="127000" y="71437"/>
                  </a:lnTo>
                  <a:cubicBezTo>
                    <a:pt x="135767" y="71437"/>
                    <a:pt x="142875" y="78545"/>
                    <a:pt x="142875" y="87312"/>
                  </a:cubicBezTo>
                  <a:cubicBezTo>
                    <a:pt x="142875" y="96080"/>
                    <a:pt x="135767" y="103187"/>
                    <a:pt x="127000" y="103187"/>
                  </a:cubicBezTo>
                  <a:lnTo>
                    <a:pt x="119062" y="103187"/>
                  </a:lnTo>
                  <a:cubicBezTo>
                    <a:pt x="114679" y="103187"/>
                    <a:pt x="111125" y="106741"/>
                    <a:pt x="111125" y="111125"/>
                  </a:cubicBezTo>
                  <a:lnTo>
                    <a:pt x="111125" y="134937"/>
                  </a:lnTo>
                  <a:cubicBezTo>
                    <a:pt x="111125" y="139321"/>
                    <a:pt x="107571" y="142875"/>
                    <a:pt x="103187" y="142875"/>
                  </a:cubicBezTo>
                  <a:lnTo>
                    <a:pt x="79375" y="142875"/>
                  </a:lnTo>
                  <a:cubicBezTo>
                    <a:pt x="74991" y="142875"/>
                    <a:pt x="71437" y="139321"/>
                    <a:pt x="71437" y="134937"/>
                  </a:cubicBezTo>
                  <a:lnTo>
                    <a:pt x="71437" y="127000"/>
                  </a:lnTo>
                  <a:cubicBezTo>
                    <a:pt x="71437" y="118232"/>
                    <a:pt x="64330" y="111125"/>
                    <a:pt x="55562" y="111125"/>
                  </a:cubicBezTo>
                  <a:cubicBezTo>
                    <a:pt x="46795" y="111125"/>
                    <a:pt x="39687" y="118232"/>
                    <a:pt x="39687" y="127000"/>
                  </a:cubicBezTo>
                  <a:lnTo>
                    <a:pt x="39687" y="134937"/>
                  </a:lnTo>
                  <a:cubicBezTo>
                    <a:pt x="39687" y="139321"/>
                    <a:pt x="36134" y="142875"/>
                    <a:pt x="31750" y="142875"/>
                  </a:cubicBezTo>
                  <a:lnTo>
                    <a:pt x="7937" y="142875"/>
                  </a:lnTo>
                  <a:cubicBezTo>
                    <a:pt x="3554" y="142875"/>
                    <a:pt x="0" y="139321"/>
                    <a:pt x="0" y="134937"/>
                  </a:cubicBezTo>
                  <a:lnTo>
                    <a:pt x="0" y="111125"/>
                  </a:lnTo>
                  <a:cubicBezTo>
                    <a:pt x="0" y="106741"/>
                    <a:pt x="3554" y="103187"/>
                    <a:pt x="7937" y="103187"/>
                  </a:cubicBezTo>
                  <a:lnTo>
                    <a:pt x="15875" y="103187"/>
                  </a:lnTo>
                  <a:cubicBezTo>
                    <a:pt x="24643" y="103187"/>
                    <a:pt x="31750" y="96080"/>
                    <a:pt x="31750" y="87312"/>
                  </a:cubicBezTo>
                  <a:cubicBezTo>
                    <a:pt x="31750" y="78545"/>
                    <a:pt x="24643" y="71437"/>
                    <a:pt x="15875" y="71437"/>
                  </a:cubicBezTo>
                  <a:lnTo>
                    <a:pt x="7937" y="71437"/>
                  </a:lnTo>
                  <a:cubicBezTo>
                    <a:pt x="3554" y="71437"/>
                    <a:pt x="0" y="67884"/>
                    <a:pt x="0" y="63500"/>
                  </a:cubicBezTo>
                  <a:lnTo>
                    <a:pt x="0" y="39687"/>
                  </a:lnTo>
                  <a:cubicBezTo>
                    <a:pt x="0" y="35304"/>
                    <a:pt x="3554" y="31750"/>
                    <a:pt x="7937" y="31750"/>
                  </a:cubicBezTo>
                </a:path>
              </a:pathLst>
            </a:custGeom>
            <a:noFill/>
            <a:ln w="15875">
              <a:solidFill>
                <a:srgbClr val="76200F"/>
              </a:solidFill>
            </a:ln>
          </p:spPr>
        </p:sp>
        <p:sp>
          <p:nvSpPr>
            <p:cNvPr id="22" name="Ellipse 22"/>
            <p:cNvSpPr/>
            <p:nvPr/>
          </p:nvSpPr>
          <p:spPr>
            <a:xfrm>
              <a:off x="2133600" y="1162050"/>
              <a:ext cx="114300" cy="114300"/>
            </a:xfrm>
            <a:prstGeom prst="ellipse">
              <a:avLst/>
            </a:prstGeom>
            <a:solidFill>
              <a:srgbClr val="FFFFFF"/>
            </a:solidFill>
            <a:ln w="9525">
              <a:solidFill>
                <a:srgbClr val="C4887C"/>
              </a:solidFill>
            </a:ln>
          </p:spPr>
        </p:sp>
        <p:sp>
          <p:nvSpPr>
            <p:cNvPr id="23" name="Ellipse 23"/>
            <p:cNvSpPr/>
            <p:nvPr/>
          </p:nvSpPr>
          <p:spPr>
            <a:xfrm>
              <a:off x="2876550" y="1162050"/>
              <a:ext cx="114300" cy="114300"/>
            </a:xfrm>
            <a:prstGeom prst="ellipse">
              <a:avLst/>
            </a:prstGeom>
            <a:solidFill>
              <a:srgbClr val="FFFFFF"/>
            </a:solidFill>
            <a:ln w="9525">
              <a:solidFill>
                <a:srgbClr val="C4887C"/>
              </a:solidFill>
            </a:ln>
          </p:spPr>
        </p:sp>
        <p:sp>
          <p:nvSpPr>
            <p:cNvPr id="24" name="Rectangle 24"/>
            <p:cNvSpPr/>
            <p:nvPr/>
          </p:nvSpPr>
          <p:spPr>
            <a:xfrm>
              <a:off x="495300" y="2038350"/>
              <a:ext cx="1352550" cy="1162050"/>
            </a:xfrm>
            <a:prstGeom prst="roundRect">
              <a:avLst>
                <a:gd name="adj" fmla="val 4918"/>
              </a:avLst>
            </a:prstGeom>
            <a:solidFill>
              <a:srgbClr val="D9EEEA"/>
            </a:solidFill>
            <a:ln w="9525">
              <a:solidFill>
                <a:srgbClr val="C4887C"/>
              </a:solidFill>
            </a:ln>
          </p:spPr>
        </p:sp>
        <p:sp>
          <p:nvSpPr>
            <p:cNvPr id="25" name="TextBox 25"/>
            <p:cNvSpPr txBox="1"/>
            <p:nvPr/>
          </p:nvSpPr>
          <p:spPr>
            <a:xfrm>
              <a:off x="877380" y="2135743"/>
              <a:ext cx="588391" cy="169069"/>
            </a:xfrm>
            <a:prstGeom prst="rect">
              <a:avLst/>
            </a:prstGeom>
            <a:noFill/>
            <a:ln>
              <a:noFill/>
            </a:ln>
          </p:spPr>
          <p:txBody>
            <a:bodyPr wrap="none" lIns="0" tIns="0" rIns="0" bIns="0" anchor="t" anchorCtr="0">
              <a:spAutoFit/>
            </a:bodyPr>
            <a:lstStyle/>
            <a:p>
              <a:pPr algn="ctr"/>
              <a:r>
                <a:rPr lang="zh-CN" sz="860" b="1" dirty="0">
                  <a:solidFill>
                    <a:srgbClr val="5D190B"/>
                  </a:solidFill>
                  <a:latin typeface="+mn-lt"/>
                  <a:ea typeface="+mn-ea"/>
                  <a:cs typeface="+mn-cs"/>
                </a:rPr>
                <a:t>咨询识别区</a:t>
              </a:r>
            </a:p>
          </p:txBody>
        </p:sp>
        <p:sp>
          <p:nvSpPr>
            <p:cNvPr id="26" name="Rectangle 26"/>
            <p:cNvSpPr/>
            <p:nvPr/>
          </p:nvSpPr>
          <p:spPr>
            <a:xfrm>
              <a:off x="628650" y="2362200"/>
              <a:ext cx="495300" cy="285750"/>
            </a:xfrm>
            <a:prstGeom prst="roundRect">
              <a:avLst>
                <a:gd name="adj" fmla="val 10000"/>
              </a:avLst>
            </a:prstGeom>
            <a:solidFill>
              <a:srgbClr val="FFFFFF"/>
            </a:solidFill>
            <a:ln w="9525">
              <a:solidFill>
                <a:srgbClr val="C4887C"/>
              </a:solidFill>
            </a:ln>
          </p:spPr>
        </p:sp>
        <p:grpSp>
          <p:nvGrpSpPr>
            <p:cNvPr id="29" name="Group 29"/>
            <p:cNvGrpSpPr/>
            <p:nvPr/>
          </p:nvGrpSpPr>
          <p:grpSpPr>
            <a:xfrm>
              <a:off x="742950" y="2447925"/>
              <a:ext cx="114300" cy="114300"/>
              <a:chOff x="742950" y="2447925"/>
              <a:chExt cx="114300" cy="114300"/>
            </a:xfrm>
          </p:grpSpPr>
          <p:sp>
            <p:nvSpPr>
              <p:cNvPr id="27" name="Freeform 27"/>
              <p:cNvSpPr/>
              <p:nvPr/>
            </p:nvSpPr>
            <p:spPr>
              <a:xfrm>
                <a:off x="742950" y="2447925"/>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76200F"/>
                </a:solidFill>
              </a:ln>
            </p:spPr>
          </p:sp>
          <p:sp>
            <p:nvSpPr>
              <p:cNvPr id="28" name="Freeform 28"/>
              <p:cNvSpPr/>
              <p:nvPr/>
            </p:nvSpPr>
            <p:spPr>
              <a:xfrm>
                <a:off x="819150" y="2524125"/>
                <a:ext cx="38100" cy="38100"/>
              </a:xfrm>
              <a:custGeom>
                <a:avLst/>
                <a:gdLst/>
                <a:ahLst/>
                <a:cxnLst/>
                <a:rect l="l" t="t" r="r" b="b"/>
                <a:pathLst>
                  <a:path w="38100" h="38100">
                    <a:moveTo>
                      <a:pt x="38100" y="38100"/>
                    </a:moveTo>
                    <a:lnTo>
                      <a:pt x="0" y="0"/>
                    </a:lnTo>
                  </a:path>
                </a:pathLst>
              </a:custGeom>
              <a:noFill/>
              <a:ln w="12700">
                <a:solidFill>
                  <a:srgbClr val="76200F"/>
                </a:solidFill>
              </a:ln>
            </p:spPr>
          </p:sp>
        </p:grpSp>
        <p:sp>
          <p:nvSpPr>
            <p:cNvPr id="30" name="Rectangle 30"/>
            <p:cNvSpPr/>
            <p:nvPr/>
          </p:nvSpPr>
          <p:spPr>
            <a:xfrm>
              <a:off x="1200150" y="2362200"/>
              <a:ext cx="495300" cy="285750"/>
            </a:xfrm>
            <a:prstGeom prst="roundRect">
              <a:avLst>
                <a:gd name="adj" fmla="val 10000"/>
              </a:avLst>
            </a:prstGeom>
            <a:solidFill>
              <a:srgbClr val="FFFFFF"/>
            </a:solidFill>
            <a:ln w="9525">
              <a:solidFill>
                <a:srgbClr val="C4887C"/>
              </a:solidFill>
            </a:ln>
          </p:spPr>
        </p:sp>
        <p:grpSp>
          <p:nvGrpSpPr>
            <p:cNvPr id="36" name="Group 36"/>
            <p:cNvGrpSpPr/>
            <p:nvPr/>
          </p:nvGrpSpPr>
          <p:grpSpPr>
            <a:xfrm>
              <a:off x="1327150" y="2447925"/>
              <a:ext cx="88900" cy="114300"/>
              <a:chOff x="1327150" y="2447925"/>
              <a:chExt cx="88900" cy="114300"/>
            </a:xfrm>
          </p:grpSpPr>
          <p:sp>
            <p:nvSpPr>
              <p:cNvPr id="31" name="Freeform 31"/>
              <p:cNvSpPr/>
              <p:nvPr/>
            </p:nvSpPr>
            <p:spPr>
              <a:xfrm>
                <a:off x="1384300" y="2447925"/>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76200F"/>
                </a:solidFill>
              </a:ln>
            </p:spPr>
          </p:sp>
          <p:sp>
            <p:nvSpPr>
              <p:cNvPr id="32" name="Freeform 32"/>
              <p:cNvSpPr/>
              <p:nvPr/>
            </p:nvSpPr>
            <p:spPr>
              <a:xfrm>
                <a:off x="1327150" y="2447925"/>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76200F"/>
                </a:solidFill>
              </a:ln>
            </p:spPr>
          </p:sp>
          <p:sp>
            <p:nvSpPr>
              <p:cNvPr id="33" name="Freeform 33"/>
              <p:cNvSpPr/>
              <p:nvPr/>
            </p:nvSpPr>
            <p:spPr>
              <a:xfrm>
                <a:off x="1352550" y="2486025"/>
                <a:ext cx="9525" cy="9525"/>
              </a:xfrm>
              <a:custGeom>
                <a:avLst/>
                <a:gdLst/>
                <a:ahLst/>
                <a:cxnLst/>
                <a:rect l="l" t="t" r="r" b="b"/>
                <a:pathLst>
                  <a:path w="9525" h="9525">
                    <a:moveTo>
                      <a:pt x="0" y="0"/>
                    </a:moveTo>
                    <a:lnTo>
                      <a:pt x="6350" y="0"/>
                    </a:lnTo>
                  </a:path>
                </a:pathLst>
              </a:custGeom>
              <a:noFill/>
              <a:ln w="12700">
                <a:solidFill>
                  <a:srgbClr val="76200F"/>
                </a:solidFill>
              </a:ln>
            </p:spPr>
          </p:sp>
          <p:sp>
            <p:nvSpPr>
              <p:cNvPr id="34" name="Freeform 34"/>
              <p:cNvSpPr/>
              <p:nvPr/>
            </p:nvSpPr>
            <p:spPr>
              <a:xfrm>
                <a:off x="1352550" y="2511425"/>
                <a:ext cx="38100" cy="9525"/>
              </a:xfrm>
              <a:custGeom>
                <a:avLst/>
                <a:gdLst/>
                <a:ahLst/>
                <a:cxnLst/>
                <a:rect l="l" t="t" r="r" b="b"/>
                <a:pathLst>
                  <a:path w="38100" h="9525">
                    <a:moveTo>
                      <a:pt x="0" y="0"/>
                    </a:moveTo>
                    <a:lnTo>
                      <a:pt x="38100" y="0"/>
                    </a:lnTo>
                  </a:path>
                </a:pathLst>
              </a:custGeom>
              <a:noFill/>
              <a:ln w="12700">
                <a:solidFill>
                  <a:srgbClr val="76200F"/>
                </a:solidFill>
              </a:ln>
            </p:spPr>
          </p:sp>
          <p:sp>
            <p:nvSpPr>
              <p:cNvPr id="35" name="Freeform 35"/>
              <p:cNvSpPr/>
              <p:nvPr/>
            </p:nvSpPr>
            <p:spPr>
              <a:xfrm>
                <a:off x="1352550" y="2536825"/>
                <a:ext cx="38100" cy="9525"/>
              </a:xfrm>
              <a:custGeom>
                <a:avLst/>
                <a:gdLst/>
                <a:ahLst/>
                <a:cxnLst/>
                <a:rect l="l" t="t" r="r" b="b"/>
                <a:pathLst>
                  <a:path w="38100" h="9525">
                    <a:moveTo>
                      <a:pt x="0" y="0"/>
                    </a:moveTo>
                    <a:lnTo>
                      <a:pt x="38100" y="0"/>
                    </a:lnTo>
                  </a:path>
                </a:pathLst>
              </a:custGeom>
              <a:noFill/>
              <a:ln w="12700">
                <a:solidFill>
                  <a:srgbClr val="76200F"/>
                </a:solidFill>
              </a:ln>
            </p:spPr>
          </p:sp>
        </p:grpSp>
        <p:sp>
          <p:nvSpPr>
            <p:cNvPr id="37" name="Ellipse 37"/>
            <p:cNvSpPr/>
            <p:nvPr/>
          </p:nvSpPr>
          <p:spPr>
            <a:xfrm>
              <a:off x="1419225" y="2828925"/>
              <a:ext cx="209550" cy="209550"/>
            </a:xfrm>
            <a:prstGeom prst="ellipse">
              <a:avLst/>
            </a:prstGeom>
            <a:solidFill>
              <a:srgbClr val="FFFFFF"/>
            </a:solidFill>
            <a:ln w="9525">
              <a:solidFill>
                <a:srgbClr val="C4887C"/>
              </a:solidFill>
            </a:ln>
          </p:spPr>
        </p:sp>
        <p:grpSp>
          <p:nvGrpSpPr>
            <p:cNvPr id="42" name="Group 42"/>
            <p:cNvGrpSpPr/>
            <p:nvPr/>
          </p:nvGrpSpPr>
          <p:grpSpPr>
            <a:xfrm>
              <a:off x="1466850" y="2876550"/>
              <a:ext cx="114300" cy="114301"/>
              <a:chOff x="1466850" y="2876550"/>
              <a:chExt cx="114300" cy="114301"/>
            </a:xfrm>
          </p:grpSpPr>
          <p:sp>
            <p:nvSpPr>
              <p:cNvPr id="38" name="Freeform 38"/>
              <p:cNvSpPr/>
              <p:nvPr/>
            </p:nvSpPr>
            <p:spPr>
              <a:xfrm>
                <a:off x="1479550" y="28765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6200F"/>
                </a:solidFill>
              </a:ln>
            </p:spPr>
          </p:sp>
          <p:sp>
            <p:nvSpPr>
              <p:cNvPr id="39" name="Freeform 39"/>
              <p:cNvSpPr/>
              <p:nvPr/>
            </p:nvSpPr>
            <p:spPr>
              <a:xfrm>
                <a:off x="1466850" y="29527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76200F"/>
                </a:solidFill>
              </a:ln>
            </p:spPr>
          </p:sp>
          <p:sp>
            <p:nvSpPr>
              <p:cNvPr id="40" name="Freeform 40"/>
              <p:cNvSpPr/>
              <p:nvPr/>
            </p:nvSpPr>
            <p:spPr>
              <a:xfrm>
                <a:off x="1549400" y="28773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76200F"/>
                </a:solidFill>
              </a:ln>
            </p:spPr>
          </p:sp>
          <p:sp>
            <p:nvSpPr>
              <p:cNvPr id="41" name="Freeform 41"/>
              <p:cNvSpPr/>
              <p:nvPr/>
            </p:nvSpPr>
            <p:spPr>
              <a:xfrm>
                <a:off x="1562100" y="29537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76200F"/>
                </a:solidFill>
              </a:ln>
            </p:spPr>
          </p:sp>
        </p:grpSp>
        <p:sp>
          <p:nvSpPr>
            <p:cNvPr id="43" name="Rectangle 43"/>
            <p:cNvSpPr/>
            <p:nvPr/>
          </p:nvSpPr>
          <p:spPr>
            <a:xfrm>
              <a:off x="1885950" y="2038350"/>
              <a:ext cx="1352550" cy="1162050"/>
            </a:xfrm>
            <a:prstGeom prst="roundRect">
              <a:avLst>
                <a:gd name="adj" fmla="val 4918"/>
              </a:avLst>
            </a:prstGeom>
            <a:solidFill>
              <a:srgbClr val="CBE7E1"/>
            </a:solidFill>
            <a:ln w="9525">
              <a:solidFill>
                <a:srgbClr val="C4887C"/>
              </a:solidFill>
            </a:ln>
          </p:spPr>
        </p:sp>
        <p:sp>
          <p:nvSpPr>
            <p:cNvPr id="44" name="TextBox 44"/>
            <p:cNvSpPr txBox="1"/>
            <p:nvPr/>
          </p:nvSpPr>
          <p:spPr>
            <a:xfrm>
              <a:off x="2268030" y="2135743"/>
              <a:ext cx="588391" cy="169069"/>
            </a:xfrm>
            <a:prstGeom prst="rect">
              <a:avLst/>
            </a:prstGeom>
            <a:noFill/>
            <a:ln>
              <a:noFill/>
            </a:ln>
          </p:spPr>
          <p:txBody>
            <a:bodyPr wrap="none" lIns="0" tIns="0" rIns="0" bIns="0" anchor="t" anchorCtr="0">
              <a:spAutoFit/>
            </a:bodyPr>
            <a:lstStyle/>
            <a:p>
              <a:pPr algn="ctr"/>
              <a:r>
                <a:rPr lang="zh-CN" sz="860" b="1" dirty="0">
                  <a:solidFill>
                    <a:srgbClr val="5D190B"/>
                  </a:solidFill>
                  <a:latin typeface="+mn-lt"/>
                  <a:ea typeface="+mn-ea"/>
                  <a:cs typeface="+mn-cs"/>
                </a:rPr>
                <a:t>转化办理区</a:t>
              </a:r>
            </a:p>
          </p:txBody>
        </p:sp>
        <p:sp>
          <p:nvSpPr>
            <p:cNvPr id="45" name="Rectangle 45"/>
            <p:cNvSpPr/>
            <p:nvPr/>
          </p:nvSpPr>
          <p:spPr>
            <a:xfrm>
              <a:off x="2019300" y="2362200"/>
              <a:ext cx="495300" cy="285750"/>
            </a:xfrm>
            <a:prstGeom prst="roundRect">
              <a:avLst>
                <a:gd name="adj" fmla="val 10000"/>
              </a:avLst>
            </a:prstGeom>
            <a:solidFill>
              <a:srgbClr val="FFFFFF"/>
            </a:solidFill>
            <a:ln w="9525">
              <a:solidFill>
                <a:srgbClr val="C4887C"/>
              </a:solidFill>
            </a:ln>
          </p:spPr>
        </p:sp>
        <p:grpSp>
          <p:nvGrpSpPr>
            <p:cNvPr id="50" name="Group 50"/>
            <p:cNvGrpSpPr/>
            <p:nvPr/>
          </p:nvGrpSpPr>
          <p:grpSpPr>
            <a:xfrm>
              <a:off x="2133600" y="2460625"/>
              <a:ext cx="114300" cy="88900"/>
              <a:chOff x="2133600" y="2460625"/>
              <a:chExt cx="114300" cy="88900"/>
            </a:xfrm>
          </p:grpSpPr>
          <p:sp>
            <p:nvSpPr>
              <p:cNvPr id="46" name="Freeform 46"/>
              <p:cNvSpPr/>
              <p:nvPr/>
            </p:nvSpPr>
            <p:spPr>
              <a:xfrm>
                <a:off x="2133600" y="2460625"/>
                <a:ext cx="114300" cy="88900"/>
              </a:xfrm>
              <a:custGeom>
                <a:avLst/>
                <a:gdLst/>
                <a:ahLst/>
                <a:cxnLst/>
                <a:rect l="l" t="t" r="r" b="b"/>
                <a:pathLst>
                  <a:path w="114300" h="88900">
                    <a:moveTo>
                      <a:pt x="0" y="19050"/>
                    </a:moveTo>
                    <a:cubicBezTo>
                      <a:pt x="0" y="8529"/>
                      <a:pt x="8529" y="0"/>
                      <a:pt x="19050" y="0"/>
                    </a:cubicBezTo>
                    <a:lnTo>
                      <a:pt x="95250" y="0"/>
                    </a:lnTo>
                    <a:cubicBezTo>
                      <a:pt x="105771" y="0"/>
                      <a:pt x="114300" y="8529"/>
                      <a:pt x="114300" y="19050"/>
                    </a:cubicBezTo>
                    <a:lnTo>
                      <a:pt x="114300" y="69850"/>
                    </a:lnTo>
                    <a:cubicBezTo>
                      <a:pt x="114300" y="80371"/>
                      <a:pt x="105771" y="88900"/>
                      <a:pt x="95250" y="88900"/>
                    </a:cubicBezTo>
                    <a:lnTo>
                      <a:pt x="19050" y="88900"/>
                    </a:lnTo>
                    <a:cubicBezTo>
                      <a:pt x="8529" y="88900"/>
                      <a:pt x="0" y="80371"/>
                      <a:pt x="0" y="69850"/>
                    </a:cubicBezTo>
                    <a:lnTo>
                      <a:pt x="0" y="19050"/>
                    </a:lnTo>
                  </a:path>
                </a:pathLst>
              </a:custGeom>
              <a:noFill/>
              <a:ln w="12700">
                <a:solidFill>
                  <a:srgbClr val="76200F"/>
                </a:solidFill>
              </a:ln>
            </p:spPr>
          </p:sp>
          <p:sp>
            <p:nvSpPr>
              <p:cNvPr id="47" name="Freeform 47"/>
              <p:cNvSpPr/>
              <p:nvPr/>
            </p:nvSpPr>
            <p:spPr>
              <a:xfrm>
                <a:off x="2133600" y="2492375"/>
                <a:ext cx="114300" cy="9525"/>
              </a:xfrm>
              <a:custGeom>
                <a:avLst/>
                <a:gdLst/>
                <a:ahLst/>
                <a:cxnLst/>
                <a:rect l="l" t="t" r="r" b="b"/>
                <a:pathLst>
                  <a:path w="114300" h="9525">
                    <a:moveTo>
                      <a:pt x="0" y="0"/>
                    </a:moveTo>
                    <a:lnTo>
                      <a:pt x="114300" y="0"/>
                    </a:lnTo>
                  </a:path>
                </a:pathLst>
              </a:custGeom>
              <a:noFill/>
              <a:ln w="12700">
                <a:solidFill>
                  <a:srgbClr val="76200F"/>
                </a:solidFill>
              </a:ln>
            </p:spPr>
          </p:sp>
          <p:sp>
            <p:nvSpPr>
              <p:cNvPr id="48" name="Freeform 48"/>
              <p:cNvSpPr/>
              <p:nvPr/>
            </p:nvSpPr>
            <p:spPr>
              <a:xfrm>
                <a:off x="2159000" y="2524125"/>
                <a:ext cx="9525" cy="9525"/>
              </a:xfrm>
              <a:custGeom>
                <a:avLst/>
                <a:gdLst/>
                <a:ahLst/>
                <a:cxnLst/>
                <a:rect l="l" t="t" r="r" b="b"/>
                <a:pathLst>
                  <a:path w="9525" h="9525">
                    <a:moveTo>
                      <a:pt x="0" y="0"/>
                    </a:moveTo>
                    <a:lnTo>
                      <a:pt x="64" y="0"/>
                    </a:lnTo>
                  </a:path>
                </a:pathLst>
              </a:custGeom>
              <a:noFill/>
              <a:ln w="12700">
                <a:solidFill>
                  <a:srgbClr val="76200F"/>
                </a:solidFill>
              </a:ln>
            </p:spPr>
          </p:sp>
          <p:sp>
            <p:nvSpPr>
              <p:cNvPr id="49" name="Freeform 49"/>
              <p:cNvSpPr/>
              <p:nvPr/>
            </p:nvSpPr>
            <p:spPr>
              <a:xfrm>
                <a:off x="2184400" y="2524125"/>
                <a:ext cx="12700" cy="9525"/>
              </a:xfrm>
              <a:custGeom>
                <a:avLst/>
                <a:gdLst/>
                <a:ahLst/>
                <a:cxnLst/>
                <a:rect l="l" t="t" r="r" b="b"/>
                <a:pathLst>
                  <a:path w="12700" h="9525">
                    <a:moveTo>
                      <a:pt x="0" y="0"/>
                    </a:moveTo>
                    <a:lnTo>
                      <a:pt x="12700" y="0"/>
                    </a:lnTo>
                  </a:path>
                </a:pathLst>
              </a:custGeom>
              <a:noFill/>
              <a:ln w="12700">
                <a:solidFill>
                  <a:srgbClr val="76200F"/>
                </a:solidFill>
              </a:ln>
            </p:spPr>
          </p:sp>
        </p:grpSp>
        <p:sp>
          <p:nvSpPr>
            <p:cNvPr id="51" name="Rectangle 51"/>
            <p:cNvSpPr/>
            <p:nvPr/>
          </p:nvSpPr>
          <p:spPr>
            <a:xfrm>
              <a:off x="2590800" y="2362200"/>
              <a:ext cx="495300" cy="285750"/>
            </a:xfrm>
            <a:prstGeom prst="roundRect">
              <a:avLst>
                <a:gd name="adj" fmla="val 10000"/>
              </a:avLst>
            </a:prstGeom>
            <a:solidFill>
              <a:srgbClr val="FFFFFF"/>
            </a:solidFill>
            <a:ln w="9525">
              <a:solidFill>
                <a:srgbClr val="C4887C"/>
              </a:solidFill>
            </a:ln>
          </p:spPr>
        </p:sp>
        <p:grpSp>
          <p:nvGrpSpPr>
            <p:cNvPr id="56" name="Group 56"/>
            <p:cNvGrpSpPr/>
            <p:nvPr/>
          </p:nvGrpSpPr>
          <p:grpSpPr>
            <a:xfrm>
              <a:off x="2717800" y="2454275"/>
              <a:ext cx="95250" cy="107950"/>
              <a:chOff x="2717800" y="2454275"/>
              <a:chExt cx="95250" cy="107950"/>
            </a:xfrm>
          </p:grpSpPr>
          <p:sp>
            <p:nvSpPr>
              <p:cNvPr id="52" name="Freeform 52"/>
              <p:cNvSpPr/>
              <p:nvPr/>
            </p:nvSpPr>
            <p:spPr>
              <a:xfrm>
                <a:off x="2717800" y="2454275"/>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76200F"/>
                </a:solidFill>
              </a:ln>
            </p:spPr>
          </p:sp>
          <p:sp>
            <p:nvSpPr>
              <p:cNvPr id="53" name="Freeform 53"/>
              <p:cNvSpPr/>
              <p:nvPr/>
            </p:nvSpPr>
            <p:spPr>
              <a:xfrm>
                <a:off x="2774950" y="2536825"/>
                <a:ext cx="38100" cy="25400"/>
              </a:xfrm>
              <a:custGeom>
                <a:avLst/>
                <a:gdLst/>
                <a:ahLst/>
                <a:cxnLst/>
                <a:rect l="l" t="t" r="r" b="b"/>
                <a:pathLst>
                  <a:path w="38100" h="25400">
                    <a:moveTo>
                      <a:pt x="0" y="12700"/>
                    </a:moveTo>
                    <a:lnTo>
                      <a:pt x="12700" y="25400"/>
                    </a:lnTo>
                    <a:lnTo>
                      <a:pt x="38100" y="0"/>
                    </a:lnTo>
                  </a:path>
                </a:pathLst>
              </a:custGeom>
              <a:noFill/>
              <a:ln w="12700">
                <a:solidFill>
                  <a:srgbClr val="76200F"/>
                </a:solidFill>
              </a:ln>
            </p:spPr>
          </p:sp>
          <p:sp>
            <p:nvSpPr>
              <p:cNvPr id="54" name="Freeform 54"/>
              <p:cNvSpPr/>
              <p:nvPr/>
            </p:nvSpPr>
            <p:spPr>
              <a:xfrm>
                <a:off x="2743200" y="2479675"/>
                <a:ext cx="25400" cy="9525"/>
              </a:xfrm>
              <a:custGeom>
                <a:avLst/>
                <a:gdLst/>
                <a:ahLst/>
                <a:cxnLst/>
                <a:rect l="l" t="t" r="r" b="b"/>
                <a:pathLst>
                  <a:path w="25400" h="9525">
                    <a:moveTo>
                      <a:pt x="0" y="0"/>
                    </a:moveTo>
                    <a:lnTo>
                      <a:pt x="25400" y="0"/>
                    </a:lnTo>
                  </a:path>
                </a:pathLst>
              </a:custGeom>
              <a:noFill/>
              <a:ln w="12700">
                <a:solidFill>
                  <a:srgbClr val="76200F"/>
                </a:solidFill>
              </a:ln>
            </p:spPr>
          </p:sp>
          <p:sp>
            <p:nvSpPr>
              <p:cNvPr id="55" name="Freeform 55"/>
              <p:cNvSpPr/>
              <p:nvPr/>
            </p:nvSpPr>
            <p:spPr>
              <a:xfrm>
                <a:off x="2743200" y="2505075"/>
                <a:ext cx="12700" cy="9525"/>
              </a:xfrm>
              <a:custGeom>
                <a:avLst/>
                <a:gdLst/>
                <a:ahLst/>
                <a:cxnLst/>
                <a:rect l="l" t="t" r="r" b="b"/>
                <a:pathLst>
                  <a:path w="12700" h="9525">
                    <a:moveTo>
                      <a:pt x="0" y="0"/>
                    </a:moveTo>
                    <a:lnTo>
                      <a:pt x="12700" y="0"/>
                    </a:lnTo>
                  </a:path>
                </a:pathLst>
              </a:custGeom>
              <a:noFill/>
              <a:ln w="12700">
                <a:solidFill>
                  <a:srgbClr val="76200F"/>
                </a:solidFill>
              </a:ln>
            </p:spPr>
          </p:sp>
        </p:grpSp>
        <p:sp>
          <p:nvSpPr>
            <p:cNvPr id="57" name="Ellipse 57"/>
            <p:cNvSpPr/>
            <p:nvPr/>
          </p:nvSpPr>
          <p:spPr>
            <a:xfrm>
              <a:off x="2457450" y="2828925"/>
              <a:ext cx="209550" cy="209550"/>
            </a:xfrm>
            <a:prstGeom prst="ellipse">
              <a:avLst/>
            </a:prstGeom>
            <a:solidFill>
              <a:srgbClr val="FFFFFF"/>
            </a:solidFill>
            <a:ln w="9525">
              <a:solidFill>
                <a:srgbClr val="C4887C"/>
              </a:solidFill>
            </a:ln>
          </p:spPr>
        </p:sp>
        <p:grpSp>
          <p:nvGrpSpPr>
            <p:cNvPr id="60" name="Group 60"/>
            <p:cNvGrpSpPr/>
            <p:nvPr/>
          </p:nvGrpSpPr>
          <p:grpSpPr>
            <a:xfrm>
              <a:off x="2505075" y="2876550"/>
              <a:ext cx="114300" cy="114300"/>
              <a:chOff x="2505075" y="2876550"/>
              <a:chExt cx="114300" cy="114300"/>
            </a:xfrm>
          </p:grpSpPr>
          <p:sp>
            <p:nvSpPr>
              <p:cNvPr id="58" name="Freeform 58"/>
              <p:cNvSpPr/>
              <p:nvPr/>
            </p:nvSpPr>
            <p:spPr>
              <a:xfrm>
                <a:off x="2505075" y="28765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6200F"/>
                </a:solidFill>
              </a:ln>
            </p:spPr>
          </p:sp>
          <p:sp>
            <p:nvSpPr>
              <p:cNvPr id="59" name="Freeform 59"/>
              <p:cNvSpPr/>
              <p:nvPr/>
            </p:nvSpPr>
            <p:spPr>
              <a:xfrm>
                <a:off x="2543175" y="2921000"/>
                <a:ext cx="38100" cy="25400"/>
              </a:xfrm>
              <a:custGeom>
                <a:avLst/>
                <a:gdLst/>
                <a:ahLst/>
                <a:cxnLst/>
                <a:rect l="l" t="t" r="r" b="b"/>
                <a:pathLst>
                  <a:path w="38100" h="25400">
                    <a:moveTo>
                      <a:pt x="0" y="12700"/>
                    </a:moveTo>
                    <a:lnTo>
                      <a:pt x="12700" y="25400"/>
                    </a:lnTo>
                    <a:lnTo>
                      <a:pt x="38100" y="0"/>
                    </a:lnTo>
                  </a:path>
                </a:pathLst>
              </a:custGeom>
              <a:noFill/>
              <a:ln w="12700">
                <a:solidFill>
                  <a:srgbClr val="76200F"/>
                </a:solidFill>
              </a:ln>
            </p:spPr>
          </p:sp>
        </p:grpSp>
        <p:sp>
          <p:nvSpPr>
            <p:cNvPr id="61" name="Freeform 61"/>
            <p:cNvSpPr/>
            <p:nvPr/>
          </p:nvSpPr>
          <p:spPr>
            <a:xfrm>
              <a:off x="1781175" y="3200400"/>
              <a:ext cx="171450" cy="209550"/>
            </a:xfrm>
            <a:prstGeom prst="upArrow">
              <a:avLst/>
            </a:prstGeom>
            <a:solidFill>
              <a:srgbClr val="76200F"/>
            </a:solidFill>
            <a:ln>
              <a:noFill/>
            </a:ln>
          </p:spPr>
        </p:sp>
        <p:sp>
          <p:nvSpPr>
            <p:cNvPr id="62" name="TextBox 62"/>
            <p:cNvSpPr txBox="1"/>
            <p:nvPr/>
          </p:nvSpPr>
          <p:spPr>
            <a:xfrm>
              <a:off x="2281238" y="3263741"/>
              <a:ext cx="340690" cy="161925"/>
            </a:xfrm>
            <a:prstGeom prst="rect">
              <a:avLst/>
            </a:prstGeom>
            <a:noFill/>
            <a:ln>
              <a:noFill/>
            </a:ln>
          </p:spPr>
          <p:txBody>
            <a:bodyPr wrap="none" lIns="0" tIns="0" rIns="0" bIns="0" anchor="t" anchorCtr="0">
              <a:spAutoFit/>
            </a:bodyPr>
            <a:lstStyle/>
            <a:p>
              <a:pPr algn="l"/>
              <a:r>
                <a:rPr lang="zh-CN" sz="820" b="1" dirty="0">
                  <a:solidFill>
                    <a:srgbClr val="5D190B"/>
                  </a:solidFill>
                  <a:latin typeface="+mn-lt"/>
                  <a:ea typeface="+mn-ea"/>
                  <a:cs typeface="+mn-cs"/>
                </a:rPr>
                <a:t>主入口</a:t>
              </a:r>
            </a:p>
          </p:txBody>
        </p:sp>
      </p:grpSp>
      <p:grpSp>
        <p:nvGrpSpPr>
          <p:cNvPr id="88" name="zone-card-1"/>
          <p:cNvGrpSpPr/>
          <p:nvPr/>
        </p:nvGrpSpPr>
        <p:grpSpPr>
          <a:xfrm>
            <a:off x="3467100" y="685800"/>
            <a:ext cx="1447800" cy="2857500"/>
            <a:chOff x="3467100" y="685800"/>
            <a:chExt cx="1447800" cy="2857500"/>
          </a:xfrm>
        </p:grpSpPr>
        <p:sp>
          <p:nvSpPr>
            <p:cNvPr id="64" name="Rectangle 64"/>
            <p:cNvSpPr/>
            <p:nvPr/>
          </p:nvSpPr>
          <p:spPr>
            <a:xfrm>
              <a:off x="3467100" y="685800"/>
              <a:ext cx="1447800" cy="2857500"/>
            </a:xfrm>
            <a:prstGeom prst="roundRect">
              <a:avLst>
                <a:gd name="adj" fmla="val 5263"/>
              </a:avLst>
            </a:prstGeom>
            <a:solidFill>
              <a:srgbClr val="FFFFFF"/>
            </a:solidFill>
            <a:ln w="14288">
              <a:solidFill>
                <a:srgbClr val="C2E0DA"/>
              </a:solidFill>
            </a:ln>
          </p:spPr>
        </p:sp>
        <p:sp>
          <p:nvSpPr>
            <p:cNvPr id="65" name="Rectangle 65"/>
            <p:cNvSpPr/>
            <p:nvPr/>
          </p:nvSpPr>
          <p:spPr>
            <a:xfrm>
              <a:off x="3467100" y="685800"/>
              <a:ext cx="1447800" cy="247650"/>
            </a:xfrm>
            <a:prstGeom prst="roundRect">
              <a:avLst>
                <a:gd name="adj" fmla="val 30769"/>
              </a:avLst>
            </a:prstGeom>
            <a:solidFill>
              <a:srgbClr val="76200F"/>
            </a:solidFill>
            <a:ln>
              <a:noFill/>
            </a:ln>
          </p:spPr>
        </p:sp>
        <p:grpSp>
          <p:nvGrpSpPr>
            <p:cNvPr id="68" name="Group 68"/>
            <p:cNvGrpSpPr/>
            <p:nvPr/>
          </p:nvGrpSpPr>
          <p:grpSpPr>
            <a:xfrm>
              <a:off x="3559969" y="776287"/>
              <a:ext cx="100012" cy="66675"/>
              <a:chOff x="3559969" y="776287"/>
              <a:chExt cx="100012" cy="66675"/>
            </a:xfrm>
          </p:grpSpPr>
          <p:sp>
            <p:nvSpPr>
              <p:cNvPr id="66" name="Freeform 66"/>
              <p:cNvSpPr/>
              <p:nvPr/>
            </p:nvSpPr>
            <p:spPr>
              <a:xfrm>
                <a:off x="3598862" y="798512"/>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FFFFFF"/>
                </a:solidFill>
              </a:ln>
            </p:spPr>
          </p:sp>
          <p:sp>
            <p:nvSpPr>
              <p:cNvPr id="67" name="Freeform 67"/>
              <p:cNvSpPr/>
              <p:nvPr/>
            </p:nvSpPr>
            <p:spPr>
              <a:xfrm>
                <a:off x="3559969" y="776287"/>
                <a:ext cx="100012" cy="66675"/>
              </a:xfrm>
              <a:custGeom>
                <a:avLst/>
                <a:gdLst/>
                <a:ahLst/>
                <a:cxnLst/>
                <a:rect l="l" t="t" r="r" b="b"/>
                <a:pathLst>
                  <a:path w="100012" h="66675">
                    <a:moveTo>
                      <a:pt x="100012" y="33337"/>
                    </a:moveTo>
                    <a:cubicBezTo>
                      <a:pt x="86677" y="55562"/>
                      <a:pt x="70009" y="66675"/>
                      <a:pt x="50006" y="66675"/>
                    </a:cubicBezTo>
                    <a:cubicBezTo>
                      <a:pt x="30004" y="66675"/>
                      <a:pt x="13335" y="55562"/>
                      <a:pt x="0" y="33337"/>
                    </a:cubicBezTo>
                    <a:cubicBezTo>
                      <a:pt x="13335" y="11112"/>
                      <a:pt x="30004" y="0"/>
                      <a:pt x="50006" y="0"/>
                    </a:cubicBezTo>
                    <a:cubicBezTo>
                      <a:pt x="70009" y="0"/>
                      <a:pt x="86677" y="11112"/>
                      <a:pt x="100012" y="33337"/>
                    </a:cubicBezTo>
                  </a:path>
                </a:pathLst>
              </a:custGeom>
              <a:noFill/>
              <a:ln w="11112">
                <a:solidFill>
                  <a:srgbClr val="FFFFFF"/>
                </a:solidFill>
              </a:ln>
            </p:spPr>
          </p:sp>
        </p:grpSp>
        <p:sp>
          <p:nvSpPr>
            <p:cNvPr id="69" name="TextBox 69"/>
            <p:cNvSpPr txBox="1"/>
            <p:nvPr/>
          </p:nvSpPr>
          <p:spPr>
            <a:xfrm>
              <a:off x="3729038" y="754618"/>
              <a:ext cx="588391"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品牌展示区</a:t>
              </a:r>
            </a:p>
          </p:txBody>
        </p:sp>
        <p:sp>
          <p:nvSpPr>
            <p:cNvPr id="70" name="TextBox 70"/>
            <p:cNvSpPr txBox="1"/>
            <p:nvPr/>
          </p:nvSpPr>
          <p:spPr>
            <a:xfrm>
              <a:off x="3538538" y="997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目标</a:t>
              </a:r>
            </a:p>
          </p:txBody>
        </p:sp>
        <p:sp>
          <p:nvSpPr>
            <p:cNvPr id="71" name="TextBox 71"/>
            <p:cNvSpPr txBox="1"/>
            <p:nvPr/>
          </p:nvSpPr>
          <p:spPr>
            <a:xfrm>
              <a:off x="3538538" y="1116330"/>
              <a:ext cx="4667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传递品牌理念</a:t>
              </a:r>
              <a:br/>
              <a:r>
                <a:rPr lang="zh-CN" sz="600" dirty="0">
                  <a:solidFill>
                    <a:srgbClr val="514340"/>
                  </a:solidFill>
                  <a:latin typeface="+mn-lt"/>
                  <a:ea typeface="+mn-ea"/>
                  <a:cs typeface="+mn-cs"/>
                </a:rPr>
                <a:t>营造活动氛围</a:t>
              </a:r>
            </a:p>
          </p:txBody>
        </p:sp>
        <p:sp>
          <p:nvSpPr>
            <p:cNvPr id="72" name="TextBox 72"/>
            <p:cNvSpPr txBox="1"/>
            <p:nvPr/>
          </p:nvSpPr>
          <p:spPr>
            <a:xfrm>
              <a:off x="3538538" y="1378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设施</a:t>
              </a:r>
            </a:p>
          </p:txBody>
        </p:sp>
        <p:sp>
          <p:nvSpPr>
            <p:cNvPr id="73" name="TextBox 73"/>
            <p:cNvSpPr txBox="1"/>
            <p:nvPr/>
          </p:nvSpPr>
          <p:spPr>
            <a:xfrm>
              <a:off x="3538538" y="1497330"/>
              <a:ext cx="71056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LED主视觉、品牌墙​</a:t>
              </a:r>
              <a:br/>
              <a:r>
                <a:rPr lang="zh-CN" sz="600" dirty="0">
                  <a:solidFill>
                    <a:srgbClr val="514340"/>
                  </a:solidFill>
                  <a:latin typeface="+mn-lt"/>
                  <a:ea typeface="+mn-ea"/>
                  <a:cs typeface="+mn-cs"/>
                </a:rPr>
                <a:t>主题展板、打卡点</a:t>
              </a:r>
            </a:p>
          </p:txBody>
        </p:sp>
        <p:sp>
          <p:nvSpPr>
            <p:cNvPr id="74" name="TextBox 74"/>
            <p:cNvSpPr txBox="1"/>
            <p:nvPr/>
          </p:nvSpPr>
          <p:spPr>
            <a:xfrm>
              <a:off x="3538538" y="1759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人员</a:t>
              </a:r>
            </a:p>
          </p:txBody>
        </p:sp>
        <p:sp>
          <p:nvSpPr>
            <p:cNvPr id="75" name="TextBox 75"/>
            <p:cNvSpPr txBox="1"/>
            <p:nvPr/>
          </p:nvSpPr>
          <p:spPr>
            <a:xfrm>
              <a:off x="3538538" y="1878330"/>
              <a:ext cx="889940"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1-2名品牌讲解 / 引导​​</a:t>
              </a:r>
            </a:p>
          </p:txBody>
        </p:sp>
        <p:sp>
          <p:nvSpPr>
            <p:cNvPr id="76" name="TextBox 76"/>
            <p:cNvSpPr txBox="1"/>
            <p:nvPr/>
          </p:nvSpPr>
          <p:spPr>
            <a:xfrm>
              <a:off x="3538538" y="206478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客户动作</a:t>
              </a:r>
            </a:p>
          </p:txBody>
        </p:sp>
        <p:sp>
          <p:nvSpPr>
            <p:cNvPr id="77" name="TextBox 77"/>
            <p:cNvSpPr txBox="1"/>
            <p:nvPr/>
          </p:nvSpPr>
          <p:spPr>
            <a:xfrm>
              <a:off x="3538538" y="2183130"/>
              <a:ext cx="6953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驻足观看、拍照打卡</a:t>
              </a:r>
              <a:br/>
              <a:r>
                <a:rPr lang="zh-CN" sz="600" dirty="0">
                  <a:solidFill>
                    <a:srgbClr val="514340"/>
                  </a:solidFill>
                  <a:latin typeface="+mn-lt"/>
                  <a:ea typeface="+mn-ea"/>
                  <a:cs typeface="+mn-cs"/>
                </a:rPr>
                <a:t>领取手册</a:t>
              </a:r>
            </a:p>
          </p:txBody>
        </p:sp>
        <p:sp>
          <p:nvSpPr>
            <p:cNvPr id="78" name="TextBox 78"/>
            <p:cNvSpPr txBox="1"/>
            <p:nvPr/>
          </p:nvSpPr>
          <p:spPr>
            <a:xfrm>
              <a:off x="3538538" y="244578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数据留痕</a:t>
              </a:r>
            </a:p>
          </p:txBody>
        </p:sp>
        <p:sp>
          <p:nvSpPr>
            <p:cNvPr id="79" name="TextBox 79"/>
            <p:cNvSpPr txBox="1"/>
            <p:nvPr/>
          </p:nvSpPr>
          <p:spPr>
            <a:xfrm>
              <a:off x="3538538" y="2564130"/>
              <a:ext cx="6953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到访人数、拍照打卡</a:t>
              </a:r>
              <a:br/>
              <a:r>
                <a:rPr lang="zh-CN" sz="600" dirty="0">
                  <a:solidFill>
                    <a:srgbClr val="514340"/>
                  </a:solidFill>
                  <a:latin typeface="+mn-lt"/>
                  <a:ea typeface="+mn-ea"/>
                  <a:cs typeface="+mn-cs"/>
                </a:rPr>
                <a:t>礼品领取数</a:t>
              </a:r>
            </a:p>
          </p:txBody>
        </p:sp>
        <p:sp>
          <p:nvSpPr>
            <p:cNvPr id="80" name="TextBox 80"/>
            <p:cNvSpPr txBox="1"/>
            <p:nvPr/>
          </p:nvSpPr>
          <p:spPr>
            <a:xfrm>
              <a:off x="3538538" y="2883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推荐面积</a:t>
              </a:r>
            </a:p>
          </p:txBody>
        </p:sp>
        <p:sp>
          <p:nvSpPr>
            <p:cNvPr id="81" name="TextBox 81"/>
            <p:cNvSpPr txBox="1"/>
            <p:nvPr/>
          </p:nvSpPr>
          <p:spPr>
            <a:xfrm>
              <a:off x="4433369" y="2855595"/>
              <a:ext cx="314843" cy="176212"/>
            </a:xfrm>
            <a:prstGeom prst="rect">
              <a:avLst/>
            </a:prstGeom>
            <a:noFill/>
            <a:ln>
              <a:noFill/>
            </a:ln>
          </p:spPr>
          <p:txBody>
            <a:bodyPr wrap="none" lIns="0" tIns="0" rIns="0" bIns="0" anchor="t" anchorCtr="0">
              <a:spAutoFit/>
            </a:bodyPr>
            <a:lstStyle/>
            <a:p>
              <a:pPr algn="r"/>
              <a:r>
                <a:rPr lang="zh-CN" sz="900" b="1" dirty="0">
                  <a:solidFill>
                    <a:srgbClr val="76200F"/>
                  </a:solidFill>
                  <a:latin typeface="+mn-lt"/>
                  <a:ea typeface="+mn-ea"/>
                  <a:cs typeface="+mn-cs"/>
                </a:rPr>
                <a:t>20%​</a:t>
              </a:r>
            </a:p>
          </p:txBody>
        </p:sp>
        <p:sp>
          <p:nvSpPr>
            <p:cNvPr id="82" name="Rectangle 82"/>
            <p:cNvSpPr/>
            <p:nvPr/>
          </p:nvSpPr>
          <p:spPr>
            <a:xfrm>
              <a:off x="3543300" y="3009900"/>
              <a:ext cx="1200150" cy="66675"/>
            </a:xfrm>
            <a:prstGeom prst="roundRect">
              <a:avLst>
                <a:gd name="adj" fmla="val 50000"/>
              </a:avLst>
            </a:prstGeom>
            <a:solidFill>
              <a:srgbClr val="E4F1EE"/>
            </a:solidFill>
            <a:ln>
              <a:noFill/>
            </a:ln>
          </p:spPr>
        </p:sp>
        <p:sp>
          <p:nvSpPr>
            <p:cNvPr id="83" name="Rectangle 83"/>
            <p:cNvSpPr/>
            <p:nvPr/>
          </p:nvSpPr>
          <p:spPr>
            <a:xfrm>
              <a:off x="3543300" y="3009900"/>
              <a:ext cx="600075" cy="66675"/>
            </a:xfrm>
            <a:prstGeom prst="roundRect">
              <a:avLst>
                <a:gd name="adj" fmla="val 50000"/>
              </a:avLst>
            </a:prstGeom>
            <a:solidFill>
              <a:srgbClr val="76200F"/>
            </a:solidFill>
            <a:ln>
              <a:noFill/>
            </a:ln>
          </p:spPr>
        </p:sp>
        <p:sp>
          <p:nvSpPr>
            <p:cNvPr id="84" name="TextBox 84"/>
            <p:cNvSpPr txBox="1"/>
            <p:nvPr/>
          </p:nvSpPr>
          <p:spPr>
            <a:xfrm>
              <a:off x="3538538" y="3192780"/>
              <a:ext cx="33261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客流人数</a:t>
              </a:r>
            </a:p>
          </p:txBody>
        </p:sp>
        <p:sp>
          <p:nvSpPr>
            <p:cNvPr id="85" name="TextBox 85"/>
            <p:cNvSpPr txBox="1"/>
            <p:nvPr/>
          </p:nvSpPr>
          <p:spPr>
            <a:xfrm>
              <a:off x="3538538" y="3313986"/>
              <a:ext cx="436291"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8-12人​​</a:t>
              </a:r>
            </a:p>
          </p:txBody>
        </p:sp>
        <p:sp>
          <p:nvSpPr>
            <p:cNvPr id="86" name="TextBox 86"/>
            <p:cNvSpPr txBox="1"/>
            <p:nvPr/>
          </p:nvSpPr>
          <p:spPr>
            <a:xfrm>
              <a:off x="4186238" y="3192780"/>
              <a:ext cx="494157"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平均停留时长</a:t>
              </a:r>
            </a:p>
          </p:txBody>
        </p:sp>
        <p:sp>
          <p:nvSpPr>
            <p:cNvPr id="87" name="TextBox 87"/>
            <p:cNvSpPr txBox="1"/>
            <p:nvPr/>
          </p:nvSpPr>
          <p:spPr>
            <a:xfrm>
              <a:off x="4186238" y="3313986"/>
              <a:ext cx="42147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1-3分钟​</a:t>
              </a:r>
            </a:p>
          </p:txBody>
        </p:sp>
      </p:grpSp>
      <p:grpSp>
        <p:nvGrpSpPr>
          <p:cNvPr id="111" name="zone-card-2"/>
          <p:cNvGrpSpPr/>
          <p:nvPr/>
        </p:nvGrpSpPr>
        <p:grpSpPr>
          <a:xfrm>
            <a:off x="4991100" y="685800"/>
            <a:ext cx="1447800" cy="2857500"/>
            <a:chOff x="4991100" y="685800"/>
            <a:chExt cx="1447800" cy="2857500"/>
          </a:xfrm>
        </p:grpSpPr>
        <p:sp>
          <p:nvSpPr>
            <p:cNvPr id="89" name="Rectangle 89"/>
            <p:cNvSpPr/>
            <p:nvPr/>
          </p:nvSpPr>
          <p:spPr>
            <a:xfrm>
              <a:off x="4991100" y="685800"/>
              <a:ext cx="1447800" cy="2857500"/>
            </a:xfrm>
            <a:prstGeom prst="roundRect">
              <a:avLst>
                <a:gd name="adj" fmla="val 5263"/>
              </a:avLst>
            </a:prstGeom>
            <a:solidFill>
              <a:srgbClr val="FFFFFF"/>
            </a:solidFill>
            <a:ln w="14288">
              <a:solidFill>
                <a:srgbClr val="C2E0DA"/>
              </a:solidFill>
            </a:ln>
          </p:spPr>
        </p:sp>
        <p:sp>
          <p:nvSpPr>
            <p:cNvPr id="90" name="Rectangle 90"/>
            <p:cNvSpPr/>
            <p:nvPr/>
          </p:nvSpPr>
          <p:spPr>
            <a:xfrm>
              <a:off x="4991100" y="685800"/>
              <a:ext cx="1447800" cy="247650"/>
            </a:xfrm>
            <a:prstGeom prst="roundRect">
              <a:avLst>
                <a:gd name="adj" fmla="val 30769"/>
              </a:avLst>
            </a:prstGeom>
            <a:solidFill>
              <a:srgbClr val="852512"/>
            </a:solidFill>
            <a:ln>
              <a:noFill/>
            </a:ln>
          </p:spPr>
        </p:sp>
        <p:sp>
          <p:nvSpPr>
            <p:cNvPr id="91" name="Freeform 91"/>
            <p:cNvSpPr/>
            <p:nvPr/>
          </p:nvSpPr>
          <p:spPr>
            <a:xfrm>
              <a:off x="5083969" y="759619"/>
              <a:ext cx="100012" cy="100012"/>
            </a:xfrm>
            <a:custGeom>
              <a:avLst/>
              <a:gdLst/>
              <a:ahLst/>
              <a:cxnLst/>
              <a:rect l="l" t="t" r="r" b="b"/>
              <a:pathLst>
                <a:path w="100012" h="100012">
                  <a:moveTo>
                    <a:pt x="5556" y="22225"/>
                  </a:moveTo>
                  <a:lnTo>
                    <a:pt x="22225" y="22225"/>
                  </a:lnTo>
                  <a:cubicBezTo>
                    <a:pt x="25294" y="22225"/>
                    <a:pt x="27781" y="19737"/>
                    <a:pt x="27781" y="16669"/>
                  </a:cubicBezTo>
                  <a:lnTo>
                    <a:pt x="27781" y="11112"/>
                  </a:lnTo>
                  <a:cubicBezTo>
                    <a:pt x="27781" y="4975"/>
                    <a:pt x="32756" y="0"/>
                    <a:pt x="38894" y="0"/>
                  </a:cubicBezTo>
                  <a:cubicBezTo>
                    <a:pt x="45031" y="0"/>
                    <a:pt x="50006" y="4975"/>
                    <a:pt x="50006" y="11112"/>
                  </a:cubicBezTo>
                  <a:lnTo>
                    <a:pt x="50006" y="16669"/>
                  </a:lnTo>
                  <a:cubicBezTo>
                    <a:pt x="50006" y="19737"/>
                    <a:pt x="52494" y="22225"/>
                    <a:pt x="55562" y="22225"/>
                  </a:cubicBezTo>
                  <a:lnTo>
                    <a:pt x="72231" y="22225"/>
                  </a:lnTo>
                  <a:cubicBezTo>
                    <a:pt x="75300" y="22225"/>
                    <a:pt x="77787" y="24713"/>
                    <a:pt x="77787" y="27781"/>
                  </a:cubicBezTo>
                  <a:lnTo>
                    <a:pt x="77787" y="44450"/>
                  </a:lnTo>
                  <a:cubicBezTo>
                    <a:pt x="77787" y="47519"/>
                    <a:pt x="80275" y="50006"/>
                    <a:pt x="83344" y="50006"/>
                  </a:cubicBezTo>
                  <a:lnTo>
                    <a:pt x="88900" y="50006"/>
                  </a:lnTo>
                  <a:cubicBezTo>
                    <a:pt x="95037" y="50006"/>
                    <a:pt x="100012" y="54981"/>
                    <a:pt x="100012" y="61119"/>
                  </a:cubicBezTo>
                  <a:cubicBezTo>
                    <a:pt x="100012" y="67256"/>
                    <a:pt x="95037" y="72231"/>
                    <a:pt x="88900" y="72231"/>
                  </a:cubicBezTo>
                  <a:lnTo>
                    <a:pt x="83344" y="72231"/>
                  </a:lnTo>
                  <a:cubicBezTo>
                    <a:pt x="80275" y="72231"/>
                    <a:pt x="77787" y="74719"/>
                    <a:pt x="77787" y="77787"/>
                  </a:cubicBezTo>
                  <a:lnTo>
                    <a:pt x="77787" y="94456"/>
                  </a:lnTo>
                  <a:cubicBezTo>
                    <a:pt x="77787" y="97525"/>
                    <a:pt x="75300" y="100012"/>
                    <a:pt x="72231" y="100012"/>
                  </a:cubicBezTo>
                  <a:lnTo>
                    <a:pt x="55562" y="100012"/>
                  </a:lnTo>
                  <a:cubicBezTo>
                    <a:pt x="52494" y="100012"/>
                    <a:pt x="50006" y="97525"/>
                    <a:pt x="50006" y="94456"/>
                  </a:cubicBezTo>
                  <a:lnTo>
                    <a:pt x="50006" y="88900"/>
                  </a:lnTo>
                  <a:cubicBezTo>
                    <a:pt x="50006" y="82763"/>
                    <a:pt x="45031" y="77787"/>
                    <a:pt x="38894" y="77787"/>
                  </a:cubicBezTo>
                  <a:cubicBezTo>
                    <a:pt x="32756" y="77787"/>
                    <a:pt x="27781" y="82763"/>
                    <a:pt x="27781" y="88900"/>
                  </a:cubicBezTo>
                  <a:lnTo>
                    <a:pt x="27781" y="94456"/>
                  </a:lnTo>
                  <a:cubicBezTo>
                    <a:pt x="27781" y="97525"/>
                    <a:pt x="25294" y="100012"/>
                    <a:pt x="22225" y="100012"/>
                  </a:cubicBezTo>
                  <a:lnTo>
                    <a:pt x="5556" y="100012"/>
                  </a:lnTo>
                  <a:cubicBezTo>
                    <a:pt x="2488" y="100012"/>
                    <a:pt x="0" y="97525"/>
                    <a:pt x="0" y="94456"/>
                  </a:cubicBezTo>
                  <a:lnTo>
                    <a:pt x="0" y="77787"/>
                  </a:lnTo>
                  <a:cubicBezTo>
                    <a:pt x="0" y="74719"/>
                    <a:pt x="2488" y="72231"/>
                    <a:pt x="5556" y="72231"/>
                  </a:cubicBezTo>
                  <a:lnTo>
                    <a:pt x="11112" y="72231"/>
                  </a:lnTo>
                  <a:cubicBezTo>
                    <a:pt x="17250" y="72231"/>
                    <a:pt x="22225" y="67256"/>
                    <a:pt x="22225" y="61119"/>
                  </a:cubicBezTo>
                  <a:cubicBezTo>
                    <a:pt x="22225" y="54981"/>
                    <a:pt x="17250" y="50006"/>
                    <a:pt x="11112" y="50006"/>
                  </a:cubicBezTo>
                  <a:lnTo>
                    <a:pt x="5556" y="50006"/>
                  </a:lnTo>
                  <a:cubicBezTo>
                    <a:pt x="2488" y="50006"/>
                    <a:pt x="0" y="47519"/>
                    <a:pt x="0" y="44450"/>
                  </a:cubicBezTo>
                  <a:lnTo>
                    <a:pt x="0" y="27781"/>
                  </a:lnTo>
                  <a:cubicBezTo>
                    <a:pt x="0" y="24713"/>
                    <a:pt x="2488" y="22225"/>
                    <a:pt x="5556" y="22225"/>
                  </a:cubicBezTo>
                </a:path>
              </a:pathLst>
            </a:custGeom>
            <a:noFill/>
            <a:ln w="11112">
              <a:solidFill>
                <a:srgbClr val="FFFFFF"/>
              </a:solidFill>
            </a:ln>
          </p:spPr>
        </p:sp>
        <p:sp>
          <p:nvSpPr>
            <p:cNvPr id="92" name="TextBox 92"/>
            <p:cNvSpPr txBox="1"/>
            <p:nvPr/>
          </p:nvSpPr>
          <p:spPr>
            <a:xfrm>
              <a:off x="5253038" y="754618"/>
              <a:ext cx="588391"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互动体验区</a:t>
              </a:r>
            </a:p>
          </p:txBody>
        </p:sp>
        <p:sp>
          <p:nvSpPr>
            <p:cNvPr id="93" name="TextBox 93"/>
            <p:cNvSpPr txBox="1"/>
            <p:nvPr/>
          </p:nvSpPr>
          <p:spPr>
            <a:xfrm>
              <a:off x="5062538" y="997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目标</a:t>
              </a:r>
            </a:p>
          </p:txBody>
        </p:sp>
        <p:sp>
          <p:nvSpPr>
            <p:cNvPr id="94" name="TextBox 94"/>
            <p:cNvSpPr txBox="1"/>
            <p:nvPr/>
          </p:nvSpPr>
          <p:spPr>
            <a:xfrm>
              <a:off x="5062538" y="1116330"/>
              <a:ext cx="4667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吸引客户参与</a:t>
              </a:r>
              <a:br/>
              <a:r>
                <a:rPr lang="zh-CN" sz="600" dirty="0">
                  <a:solidFill>
                    <a:srgbClr val="514340"/>
                  </a:solidFill>
                  <a:latin typeface="+mn-lt"/>
                  <a:ea typeface="+mn-ea"/>
                  <a:cs typeface="+mn-cs"/>
                </a:rPr>
                <a:t>加深产品认知</a:t>
              </a:r>
            </a:p>
          </p:txBody>
        </p:sp>
        <p:sp>
          <p:nvSpPr>
            <p:cNvPr id="95" name="TextBox 95"/>
            <p:cNvSpPr txBox="1"/>
            <p:nvPr/>
          </p:nvSpPr>
          <p:spPr>
            <a:xfrm>
              <a:off x="5062538" y="1378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设施</a:t>
              </a:r>
            </a:p>
          </p:txBody>
        </p:sp>
        <p:sp>
          <p:nvSpPr>
            <p:cNvPr id="96" name="TextBox 96"/>
            <p:cNvSpPr txBox="1"/>
            <p:nvPr/>
          </p:nvSpPr>
          <p:spPr>
            <a:xfrm>
              <a:off x="5062538" y="1497330"/>
              <a:ext cx="76009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互动屏、VR/AR体验​​</a:t>
              </a:r>
              <a:br/>
              <a:r>
                <a:rPr lang="zh-CN" sz="600" dirty="0">
                  <a:solidFill>
                    <a:srgbClr val="514340"/>
                  </a:solidFill>
                  <a:latin typeface="+mn-lt"/>
                  <a:ea typeface="+mn-ea"/>
                  <a:cs typeface="+mn-cs"/>
                </a:rPr>
                <a:t>游戏、产品体验机</a:t>
              </a:r>
            </a:p>
          </p:txBody>
        </p:sp>
        <p:sp>
          <p:nvSpPr>
            <p:cNvPr id="97" name="TextBox 97"/>
            <p:cNvSpPr txBox="1"/>
            <p:nvPr/>
          </p:nvSpPr>
          <p:spPr>
            <a:xfrm>
              <a:off x="5062538" y="1759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人员</a:t>
              </a:r>
            </a:p>
          </p:txBody>
        </p:sp>
        <p:sp>
          <p:nvSpPr>
            <p:cNvPr id="98" name="TextBox 98"/>
            <p:cNvSpPr txBox="1"/>
            <p:nvPr/>
          </p:nvSpPr>
          <p:spPr>
            <a:xfrm>
              <a:off x="5062538" y="1878330"/>
              <a:ext cx="889940"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2-3名体验引导 / 讲解​​</a:t>
              </a:r>
            </a:p>
          </p:txBody>
        </p:sp>
        <p:sp>
          <p:nvSpPr>
            <p:cNvPr id="99" name="TextBox 99"/>
            <p:cNvSpPr txBox="1"/>
            <p:nvPr/>
          </p:nvSpPr>
          <p:spPr>
            <a:xfrm>
              <a:off x="5062538" y="206478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客户动作</a:t>
              </a:r>
            </a:p>
          </p:txBody>
        </p:sp>
        <p:sp>
          <p:nvSpPr>
            <p:cNvPr id="100" name="TextBox 100"/>
            <p:cNvSpPr txBox="1"/>
            <p:nvPr/>
          </p:nvSpPr>
          <p:spPr>
            <a:xfrm>
              <a:off x="5062538" y="2183130"/>
              <a:ext cx="6953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参与互动、体验产品</a:t>
              </a:r>
              <a:br/>
              <a:r>
                <a:rPr lang="zh-CN" sz="600" dirty="0">
                  <a:solidFill>
                    <a:srgbClr val="514340"/>
                  </a:solidFill>
                  <a:latin typeface="+mn-lt"/>
                  <a:ea typeface="+mn-ea"/>
                  <a:cs typeface="+mn-cs"/>
                </a:rPr>
                <a:t>完成任务、领取权益</a:t>
              </a:r>
            </a:p>
          </p:txBody>
        </p:sp>
        <p:sp>
          <p:nvSpPr>
            <p:cNvPr id="101" name="TextBox 101"/>
            <p:cNvSpPr txBox="1"/>
            <p:nvPr/>
          </p:nvSpPr>
          <p:spPr>
            <a:xfrm>
              <a:off x="5062538" y="244578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数据留痕</a:t>
              </a:r>
            </a:p>
          </p:txBody>
        </p:sp>
        <p:sp>
          <p:nvSpPr>
            <p:cNvPr id="102" name="TextBox 102"/>
            <p:cNvSpPr txBox="1"/>
            <p:nvPr/>
          </p:nvSpPr>
          <p:spPr>
            <a:xfrm>
              <a:off x="5062538" y="2564130"/>
              <a:ext cx="7715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互动参与数、任务完成</a:t>
              </a:r>
              <a:br/>
              <a:r>
                <a:rPr lang="zh-CN" sz="600" dirty="0">
                  <a:solidFill>
                    <a:srgbClr val="514340"/>
                  </a:solidFill>
                  <a:latin typeface="+mn-lt"/>
                  <a:ea typeface="+mn-ea"/>
                  <a:cs typeface="+mn-cs"/>
                </a:rPr>
                <a:t>数、产品兴趣类型</a:t>
              </a:r>
            </a:p>
          </p:txBody>
        </p:sp>
        <p:sp>
          <p:nvSpPr>
            <p:cNvPr id="103" name="TextBox 103"/>
            <p:cNvSpPr txBox="1"/>
            <p:nvPr/>
          </p:nvSpPr>
          <p:spPr>
            <a:xfrm>
              <a:off x="5062538" y="2883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推荐面积</a:t>
              </a:r>
            </a:p>
          </p:txBody>
        </p:sp>
        <p:sp>
          <p:nvSpPr>
            <p:cNvPr id="104" name="TextBox 104"/>
            <p:cNvSpPr txBox="1"/>
            <p:nvPr/>
          </p:nvSpPr>
          <p:spPr>
            <a:xfrm>
              <a:off x="5957369" y="2855595"/>
              <a:ext cx="314843" cy="176212"/>
            </a:xfrm>
            <a:prstGeom prst="rect">
              <a:avLst/>
            </a:prstGeom>
            <a:noFill/>
            <a:ln>
              <a:noFill/>
            </a:ln>
          </p:spPr>
          <p:txBody>
            <a:bodyPr wrap="none" lIns="0" tIns="0" rIns="0" bIns="0" anchor="t" anchorCtr="0">
              <a:spAutoFit/>
            </a:bodyPr>
            <a:lstStyle/>
            <a:p>
              <a:pPr algn="r"/>
              <a:r>
                <a:rPr lang="zh-CN" sz="900" b="1" dirty="0">
                  <a:solidFill>
                    <a:srgbClr val="76200F"/>
                  </a:solidFill>
                  <a:latin typeface="+mn-lt"/>
                  <a:ea typeface="+mn-ea"/>
                  <a:cs typeface="+mn-cs"/>
                </a:rPr>
                <a:t>35%​</a:t>
              </a:r>
            </a:p>
          </p:txBody>
        </p:sp>
        <p:sp>
          <p:nvSpPr>
            <p:cNvPr id="105" name="Rectangle 105"/>
            <p:cNvSpPr/>
            <p:nvPr/>
          </p:nvSpPr>
          <p:spPr>
            <a:xfrm>
              <a:off x="5067300" y="3009900"/>
              <a:ext cx="1200150" cy="66675"/>
            </a:xfrm>
            <a:prstGeom prst="roundRect">
              <a:avLst>
                <a:gd name="adj" fmla="val 50000"/>
              </a:avLst>
            </a:prstGeom>
            <a:solidFill>
              <a:srgbClr val="E4F1EE"/>
            </a:solidFill>
            <a:ln>
              <a:noFill/>
            </a:ln>
          </p:spPr>
        </p:sp>
        <p:sp>
          <p:nvSpPr>
            <p:cNvPr id="106" name="Rectangle 106"/>
            <p:cNvSpPr/>
            <p:nvPr/>
          </p:nvSpPr>
          <p:spPr>
            <a:xfrm>
              <a:off x="5067300" y="3009900"/>
              <a:ext cx="1047750" cy="66675"/>
            </a:xfrm>
            <a:prstGeom prst="roundRect">
              <a:avLst>
                <a:gd name="adj" fmla="val 50000"/>
              </a:avLst>
            </a:prstGeom>
            <a:solidFill>
              <a:srgbClr val="76200F"/>
            </a:solidFill>
            <a:ln>
              <a:noFill/>
            </a:ln>
          </p:spPr>
        </p:sp>
        <p:sp>
          <p:nvSpPr>
            <p:cNvPr id="107" name="TextBox 107"/>
            <p:cNvSpPr txBox="1"/>
            <p:nvPr/>
          </p:nvSpPr>
          <p:spPr>
            <a:xfrm>
              <a:off x="5062538" y="3192780"/>
              <a:ext cx="33261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客流人数</a:t>
              </a:r>
            </a:p>
          </p:txBody>
        </p:sp>
        <p:sp>
          <p:nvSpPr>
            <p:cNvPr id="108" name="TextBox 108"/>
            <p:cNvSpPr txBox="1"/>
            <p:nvPr/>
          </p:nvSpPr>
          <p:spPr>
            <a:xfrm>
              <a:off x="5062538" y="3313986"/>
              <a:ext cx="491488"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15-25人​​</a:t>
              </a:r>
            </a:p>
          </p:txBody>
        </p:sp>
        <p:sp>
          <p:nvSpPr>
            <p:cNvPr id="109" name="TextBox 109"/>
            <p:cNvSpPr txBox="1"/>
            <p:nvPr/>
          </p:nvSpPr>
          <p:spPr>
            <a:xfrm>
              <a:off x="5710238" y="3192780"/>
              <a:ext cx="494157"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平均停留时长</a:t>
              </a:r>
            </a:p>
          </p:txBody>
        </p:sp>
        <p:sp>
          <p:nvSpPr>
            <p:cNvPr id="110" name="TextBox 110"/>
            <p:cNvSpPr txBox="1"/>
            <p:nvPr/>
          </p:nvSpPr>
          <p:spPr>
            <a:xfrm>
              <a:off x="5710238" y="3313986"/>
              <a:ext cx="42147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3-8分钟​</a:t>
              </a:r>
            </a:p>
          </p:txBody>
        </p:sp>
      </p:grpSp>
      <p:grpSp>
        <p:nvGrpSpPr>
          <p:cNvPr id="136" name="zone-card-3"/>
          <p:cNvGrpSpPr/>
          <p:nvPr/>
        </p:nvGrpSpPr>
        <p:grpSpPr>
          <a:xfrm>
            <a:off x="6515100" y="685800"/>
            <a:ext cx="1447800" cy="2857500"/>
            <a:chOff x="6515100" y="685800"/>
            <a:chExt cx="1447800" cy="2857500"/>
          </a:xfrm>
        </p:grpSpPr>
        <p:sp>
          <p:nvSpPr>
            <p:cNvPr id="112" name="Rectangle 112"/>
            <p:cNvSpPr/>
            <p:nvPr/>
          </p:nvSpPr>
          <p:spPr>
            <a:xfrm>
              <a:off x="6515100" y="685800"/>
              <a:ext cx="1447800" cy="2857500"/>
            </a:xfrm>
            <a:prstGeom prst="roundRect">
              <a:avLst>
                <a:gd name="adj" fmla="val 5263"/>
              </a:avLst>
            </a:prstGeom>
            <a:solidFill>
              <a:srgbClr val="FFFFFF"/>
            </a:solidFill>
            <a:ln w="14288">
              <a:solidFill>
                <a:srgbClr val="C2E0DA"/>
              </a:solidFill>
            </a:ln>
          </p:spPr>
        </p:sp>
        <p:sp>
          <p:nvSpPr>
            <p:cNvPr id="113" name="Rectangle 113"/>
            <p:cNvSpPr/>
            <p:nvPr/>
          </p:nvSpPr>
          <p:spPr>
            <a:xfrm>
              <a:off x="6515100" y="685800"/>
              <a:ext cx="1447800" cy="247650"/>
            </a:xfrm>
            <a:prstGeom prst="roundRect">
              <a:avLst>
                <a:gd name="adj" fmla="val 30769"/>
              </a:avLst>
            </a:prstGeom>
            <a:solidFill>
              <a:srgbClr val="5D190B"/>
            </a:solidFill>
            <a:ln>
              <a:noFill/>
            </a:ln>
          </p:spPr>
        </p:sp>
        <p:grpSp>
          <p:nvGrpSpPr>
            <p:cNvPr id="116" name="Group 116"/>
            <p:cNvGrpSpPr/>
            <p:nvPr/>
          </p:nvGrpSpPr>
          <p:grpSpPr>
            <a:xfrm>
              <a:off x="6607969" y="759619"/>
              <a:ext cx="100012" cy="100012"/>
              <a:chOff x="6607969" y="759619"/>
              <a:chExt cx="100012" cy="100012"/>
            </a:xfrm>
          </p:grpSpPr>
          <p:sp>
            <p:nvSpPr>
              <p:cNvPr id="114" name="Freeform 114"/>
              <p:cNvSpPr/>
              <p:nvPr/>
            </p:nvSpPr>
            <p:spPr>
              <a:xfrm>
                <a:off x="6607969" y="759619"/>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FFFFFF"/>
                </a:solidFill>
              </a:ln>
            </p:spPr>
          </p:sp>
          <p:sp>
            <p:nvSpPr>
              <p:cNvPr id="115" name="Freeform 115"/>
              <p:cNvSpPr/>
              <p:nvPr/>
            </p:nvSpPr>
            <p:spPr>
              <a:xfrm>
                <a:off x="6674644" y="826294"/>
                <a:ext cx="33337" cy="33337"/>
              </a:xfrm>
              <a:custGeom>
                <a:avLst/>
                <a:gdLst/>
                <a:ahLst/>
                <a:cxnLst/>
                <a:rect l="l" t="t" r="r" b="b"/>
                <a:pathLst>
                  <a:path w="33337" h="33337">
                    <a:moveTo>
                      <a:pt x="33337" y="33337"/>
                    </a:moveTo>
                    <a:lnTo>
                      <a:pt x="0" y="0"/>
                    </a:lnTo>
                  </a:path>
                </a:pathLst>
              </a:custGeom>
              <a:noFill/>
              <a:ln w="11112">
                <a:solidFill>
                  <a:srgbClr val="FFFFFF"/>
                </a:solidFill>
              </a:ln>
            </p:spPr>
          </p:sp>
        </p:grpSp>
        <p:sp>
          <p:nvSpPr>
            <p:cNvPr id="117" name="TextBox 117"/>
            <p:cNvSpPr txBox="1"/>
            <p:nvPr/>
          </p:nvSpPr>
          <p:spPr>
            <a:xfrm>
              <a:off x="6777038" y="754618"/>
              <a:ext cx="588391"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咨询识别区</a:t>
              </a:r>
            </a:p>
          </p:txBody>
        </p:sp>
        <p:sp>
          <p:nvSpPr>
            <p:cNvPr id="118" name="TextBox 118"/>
            <p:cNvSpPr txBox="1"/>
            <p:nvPr/>
          </p:nvSpPr>
          <p:spPr>
            <a:xfrm>
              <a:off x="6586538" y="997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目标</a:t>
              </a:r>
            </a:p>
          </p:txBody>
        </p:sp>
        <p:sp>
          <p:nvSpPr>
            <p:cNvPr id="119" name="TextBox 119"/>
            <p:cNvSpPr txBox="1"/>
            <p:nvPr/>
          </p:nvSpPr>
          <p:spPr>
            <a:xfrm>
              <a:off x="6586538" y="1116330"/>
              <a:ext cx="4667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了解客户需求</a:t>
              </a:r>
              <a:br/>
              <a:r>
                <a:rPr lang="zh-CN" sz="600" dirty="0">
                  <a:solidFill>
                    <a:srgbClr val="514340"/>
                  </a:solidFill>
                  <a:latin typeface="+mn-lt"/>
                  <a:ea typeface="+mn-ea"/>
                  <a:cs typeface="+mn-cs"/>
                </a:rPr>
                <a:t>识别潜在客户</a:t>
              </a:r>
            </a:p>
          </p:txBody>
        </p:sp>
        <p:sp>
          <p:nvSpPr>
            <p:cNvPr id="120" name="TextBox 120"/>
            <p:cNvSpPr txBox="1"/>
            <p:nvPr/>
          </p:nvSpPr>
          <p:spPr>
            <a:xfrm>
              <a:off x="6586538" y="1378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设施</a:t>
              </a:r>
            </a:p>
          </p:txBody>
        </p:sp>
        <p:sp>
          <p:nvSpPr>
            <p:cNvPr id="121" name="TextBox 121"/>
            <p:cNvSpPr txBox="1"/>
            <p:nvPr/>
          </p:nvSpPr>
          <p:spPr>
            <a:xfrm>
              <a:off x="6586538" y="1497330"/>
              <a:ext cx="7715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咨询桌椅、PAD登记​</a:t>
              </a:r>
              <a:br/>
              <a:r>
                <a:rPr lang="zh-CN" sz="600" dirty="0">
                  <a:solidFill>
                    <a:srgbClr val="514340"/>
                  </a:solidFill>
                  <a:latin typeface="+mn-lt"/>
                  <a:ea typeface="+mn-ea"/>
                  <a:cs typeface="+mn-cs"/>
                </a:rPr>
                <a:t>客户识别系统、资料架</a:t>
              </a:r>
            </a:p>
          </p:txBody>
        </p:sp>
        <p:sp>
          <p:nvSpPr>
            <p:cNvPr id="122" name="TextBox 122"/>
            <p:cNvSpPr txBox="1"/>
            <p:nvPr/>
          </p:nvSpPr>
          <p:spPr>
            <a:xfrm>
              <a:off x="6586538" y="1759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人员</a:t>
              </a:r>
            </a:p>
          </p:txBody>
        </p:sp>
        <p:sp>
          <p:nvSpPr>
            <p:cNvPr id="123" name="TextBox 123"/>
            <p:cNvSpPr txBox="1"/>
            <p:nvPr/>
          </p:nvSpPr>
          <p:spPr>
            <a:xfrm>
              <a:off x="6586538" y="1878330"/>
              <a:ext cx="889940"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2-3名客户经理 / 顾问​​</a:t>
              </a:r>
            </a:p>
          </p:txBody>
        </p:sp>
        <p:sp>
          <p:nvSpPr>
            <p:cNvPr id="124" name="TextBox 124"/>
            <p:cNvSpPr txBox="1"/>
            <p:nvPr/>
          </p:nvSpPr>
          <p:spPr>
            <a:xfrm>
              <a:off x="6586538" y="206478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客户动作</a:t>
              </a:r>
            </a:p>
          </p:txBody>
        </p:sp>
        <p:sp>
          <p:nvSpPr>
            <p:cNvPr id="125" name="TextBox 125"/>
            <p:cNvSpPr txBox="1"/>
            <p:nvPr/>
          </p:nvSpPr>
          <p:spPr>
            <a:xfrm>
              <a:off x="6586538" y="2183130"/>
              <a:ext cx="6953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参与沟通、需求填写</a:t>
              </a:r>
              <a:br/>
              <a:r>
                <a:rPr lang="zh-CN" sz="600" dirty="0">
                  <a:solidFill>
                    <a:srgbClr val="514340"/>
                  </a:solidFill>
                  <a:latin typeface="+mn-lt"/>
                  <a:ea typeface="+mn-ea"/>
                  <a:cs typeface="+mn-cs"/>
                </a:rPr>
                <a:t>扫码登记、初步评估</a:t>
              </a:r>
            </a:p>
          </p:txBody>
        </p:sp>
        <p:sp>
          <p:nvSpPr>
            <p:cNvPr id="126" name="TextBox 126"/>
            <p:cNvSpPr txBox="1"/>
            <p:nvPr/>
          </p:nvSpPr>
          <p:spPr>
            <a:xfrm>
              <a:off x="6586538" y="244578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数据留痕</a:t>
              </a:r>
            </a:p>
          </p:txBody>
        </p:sp>
        <p:sp>
          <p:nvSpPr>
            <p:cNvPr id="127" name="TextBox 127"/>
            <p:cNvSpPr txBox="1"/>
            <p:nvPr/>
          </p:nvSpPr>
          <p:spPr>
            <a:xfrm>
              <a:off x="6586538" y="2564130"/>
              <a:ext cx="7715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咨询人数、意向标签</a:t>
              </a:r>
              <a:br/>
              <a:r>
                <a:rPr lang="zh-CN" sz="600" dirty="0">
                  <a:solidFill>
                    <a:srgbClr val="514340"/>
                  </a:solidFill>
                  <a:latin typeface="+mn-lt"/>
                  <a:ea typeface="+mn-ea"/>
                  <a:cs typeface="+mn-cs"/>
                </a:rPr>
                <a:t>客户信息（合规采集）</a:t>
              </a:r>
            </a:p>
          </p:txBody>
        </p:sp>
        <p:sp>
          <p:nvSpPr>
            <p:cNvPr id="128" name="TextBox 128"/>
            <p:cNvSpPr txBox="1"/>
            <p:nvPr/>
          </p:nvSpPr>
          <p:spPr>
            <a:xfrm>
              <a:off x="6586538" y="2883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推荐面积</a:t>
              </a:r>
            </a:p>
          </p:txBody>
        </p:sp>
        <p:sp>
          <p:nvSpPr>
            <p:cNvPr id="129" name="TextBox 129"/>
            <p:cNvSpPr txBox="1"/>
            <p:nvPr/>
          </p:nvSpPr>
          <p:spPr>
            <a:xfrm>
              <a:off x="7481369" y="2855595"/>
              <a:ext cx="314843" cy="176212"/>
            </a:xfrm>
            <a:prstGeom prst="rect">
              <a:avLst/>
            </a:prstGeom>
            <a:noFill/>
            <a:ln>
              <a:noFill/>
            </a:ln>
          </p:spPr>
          <p:txBody>
            <a:bodyPr wrap="none" lIns="0" tIns="0" rIns="0" bIns="0" anchor="t" anchorCtr="0">
              <a:spAutoFit/>
            </a:bodyPr>
            <a:lstStyle/>
            <a:p>
              <a:pPr algn="r"/>
              <a:r>
                <a:rPr lang="zh-CN" sz="900" b="1" dirty="0">
                  <a:solidFill>
                    <a:srgbClr val="76200F"/>
                  </a:solidFill>
                  <a:latin typeface="+mn-lt"/>
                  <a:ea typeface="+mn-ea"/>
                  <a:cs typeface="+mn-cs"/>
                </a:rPr>
                <a:t>25%​</a:t>
              </a:r>
            </a:p>
          </p:txBody>
        </p:sp>
        <p:sp>
          <p:nvSpPr>
            <p:cNvPr id="130" name="Rectangle 130"/>
            <p:cNvSpPr/>
            <p:nvPr/>
          </p:nvSpPr>
          <p:spPr>
            <a:xfrm>
              <a:off x="6591300" y="3009900"/>
              <a:ext cx="1200150" cy="66675"/>
            </a:xfrm>
            <a:prstGeom prst="roundRect">
              <a:avLst>
                <a:gd name="adj" fmla="val 50000"/>
              </a:avLst>
            </a:prstGeom>
            <a:solidFill>
              <a:srgbClr val="E4F1EE"/>
            </a:solidFill>
            <a:ln>
              <a:noFill/>
            </a:ln>
          </p:spPr>
        </p:sp>
        <p:sp>
          <p:nvSpPr>
            <p:cNvPr id="131" name="Rectangle 131"/>
            <p:cNvSpPr/>
            <p:nvPr/>
          </p:nvSpPr>
          <p:spPr>
            <a:xfrm>
              <a:off x="6591300" y="3009900"/>
              <a:ext cx="752475" cy="66675"/>
            </a:xfrm>
            <a:prstGeom prst="roundRect">
              <a:avLst>
                <a:gd name="adj" fmla="val 50000"/>
              </a:avLst>
            </a:prstGeom>
            <a:solidFill>
              <a:srgbClr val="76200F"/>
            </a:solidFill>
            <a:ln>
              <a:noFill/>
            </a:ln>
          </p:spPr>
        </p:sp>
        <p:sp>
          <p:nvSpPr>
            <p:cNvPr id="132" name="TextBox 132"/>
            <p:cNvSpPr txBox="1"/>
            <p:nvPr/>
          </p:nvSpPr>
          <p:spPr>
            <a:xfrm>
              <a:off x="6586538" y="3192780"/>
              <a:ext cx="33261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客流人数</a:t>
              </a:r>
            </a:p>
          </p:txBody>
        </p:sp>
        <p:sp>
          <p:nvSpPr>
            <p:cNvPr id="133" name="TextBox 133"/>
            <p:cNvSpPr txBox="1"/>
            <p:nvPr/>
          </p:nvSpPr>
          <p:spPr>
            <a:xfrm>
              <a:off x="6586538" y="3313986"/>
              <a:ext cx="491488"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10-15人​​</a:t>
              </a:r>
            </a:p>
          </p:txBody>
        </p:sp>
        <p:sp>
          <p:nvSpPr>
            <p:cNvPr id="134" name="TextBox 134"/>
            <p:cNvSpPr txBox="1"/>
            <p:nvPr/>
          </p:nvSpPr>
          <p:spPr>
            <a:xfrm>
              <a:off x="7234238" y="3192780"/>
              <a:ext cx="494157"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平均停留时长</a:t>
              </a:r>
            </a:p>
          </p:txBody>
        </p:sp>
        <p:sp>
          <p:nvSpPr>
            <p:cNvPr id="135" name="TextBox 135"/>
            <p:cNvSpPr txBox="1"/>
            <p:nvPr/>
          </p:nvSpPr>
          <p:spPr>
            <a:xfrm>
              <a:off x="7234238" y="3313986"/>
              <a:ext cx="531871"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5-10分钟​​</a:t>
              </a:r>
            </a:p>
          </p:txBody>
        </p:sp>
      </p:grpSp>
      <p:grpSp>
        <p:nvGrpSpPr>
          <p:cNvPr id="161" name="zone-card-4"/>
          <p:cNvGrpSpPr/>
          <p:nvPr/>
        </p:nvGrpSpPr>
        <p:grpSpPr>
          <a:xfrm>
            <a:off x="8039100" y="685800"/>
            <a:ext cx="1447800" cy="2857500"/>
            <a:chOff x="8039100" y="685800"/>
            <a:chExt cx="1447800" cy="2857500"/>
          </a:xfrm>
        </p:grpSpPr>
        <p:sp>
          <p:nvSpPr>
            <p:cNvPr id="137" name="Rectangle 137"/>
            <p:cNvSpPr/>
            <p:nvPr/>
          </p:nvSpPr>
          <p:spPr>
            <a:xfrm>
              <a:off x="8039100" y="685800"/>
              <a:ext cx="1447800" cy="2857500"/>
            </a:xfrm>
            <a:prstGeom prst="roundRect">
              <a:avLst>
                <a:gd name="adj" fmla="val 5263"/>
              </a:avLst>
            </a:prstGeom>
            <a:solidFill>
              <a:srgbClr val="FFFFFF"/>
            </a:solidFill>
            <a:ln w="14288">
              <a:solidFill>
                <a:srgbClr val="C2E0DA"/>
              </a:solidFill>
            </a:ln>
          </p:spPr>
        </p:sp>
        <p:sp>
          <p:nvSpPr>
            <p:cNvPr id="138" name="Rectangle 138"/>
            <p:cNvSpPr/>
            <p:nvPr/>
          </p:nvSpPr>
          <p:spPr>
            <a:xfrm>
              <a:off x="8039100" y="685800"/>
              <a:ext cx="1447800" cy="247650"/>
            </a:xfrm>
            <a:prstGeom prst="roundRect">
              <a:avLst>
                <a:gd name="adj" fmla="val 30769"/>
              </a:avLst>
            </a:prstGeom>
            <a:solidFill>
              <a:srgbClr val="76200F"/>
            </a:solidFill>
            <a:ln>
              <a:noFill/>
            </a:ln>
          </p:spPr>
        </p:sp>
        <p:grpSp>
          <p:nvGrpSpPr>
            <p:cNvPr id="141" name="Group 141"/>
            <p:cNvGrpSpPr/>
            <p:nvPr/>
          </p:nvGrpSpPr>
          <p:grpSpPr>
            <a:xfrm>
              <a:off x="8131969" y="759619"/>
              <a:ext cx="100012" cy="100012"/>
              <a:chOff x="8131969" y="759619"/>
              <a:chExt cx="100012" cy="100012"/>
            </a:xfrm>
          </p:grpSpPr>
          <p:sp>
            <p:nvSpPr>
              <p:cNvPr id="139" name="Freeform 139"/>
              <p:cNvSpPr/>
              <p:nvPr/>
            </p:nvSpPr>
            <p:spPr>
              <a:xfrm>
                <a:off x="8131969" y="7596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sp>
            <p:nvSpPr>
              <p:cNvPr id="140" name="Freeform 140"/>
              <p:cNvSpPr/>
              <p:nvPr/>
            </p:nvSpPr>
            <p:spPr>
              <a:xfrm>
                <a:off x="8165306" y="798512"/>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142" name="TextBox 142"/>
            <p:cNvSpPr txBox="1"/>
            <p:nvPr/>
          </p:nvSpPr>
          <p:spPr>
            <a:xfrm>
              <a:off x="8301038" y="754618"/>
              <a:ext cx="588391"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转化办理区</a:t>
              </a:r>
            </a:p>
          </p:txBody>
        </p:sp>
        <p:sp>
          <p:nvSpPr>
            <p:cNvPr id="143" name="TextBox 143"/>
            <p:cNvSpPr txBox="1"/>
            <p:nvPr/>
          </p:nvSpPr>
          <p:spPr>
            <a:xfrm>
              <a:off x="8110538" y="997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目标</a:t>
              </a:r>
            </a:p>
          </p:txBody>
        </p:sp>
        <p:sp>
          <p:nvSpPr>
            <p:cNvPr id="144" name="TextBox 144"/>
            <p:cNvSpPr txBox="1"/>
            <p:nvPr/>
          </p:nvSpPr>
          <p:spPr>
            <a:xfrm>
              <a:off x="8110538" y="1116330"/>
              <a:ext cx="4667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引导客户办理</a:t>
              </a:r>
              <a:br/>
              <a:r>
                <a:rPr lang="zh-CN" sz="600" dirty="0">
                  <a:solidFill>
                    <a:srgbClr val="514340"/>
                  </a:solidFill>
                  <a:latin typeface="+mn-lt"/>
                  <a:ea typeface="+mn-ea"/>
                  <a:cs typeface="+mn-cs"/>
                </a:rPr>
                <a:t>实现业务转化</a:t>
              </a:r>
            </a:p>
          </p:txBody>
        </p:sp>
        <p:sp>
          <p:nvSpPr>
            <p:cNvPr id="145" name="TextBox 145"/>
            <p:cNvSpPr txBox="1"/>
            <p:nvPr/>
          </p:nvSpPr>
          <p:spPr>
            <a:xfrm>
              <a:off x="8110538" y="1378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设施</a:t>
              </a:r>
            </a:p>
          </p:txBody>
        </p:sp>
        <p:sp>
          <p:nvSpPr>
            <p:cNvPr id="146" name="TextBox 146"/>
            <p:cNvSpPr txBox="1"/>
            <p:nvPr/>
          </p:nvSpPr>
          <p:spPr>
            <a:xfrm>
              <a:off x="8110538" y="1497330"/>
              <a:ext cx="6953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办理台、电子签约机</a:t>
              </a:r>
              <a:br/>
              <a:r>
                <a:rPr lang="zh-CN" sz="600" dirty="0">
                  <a:solidFill>
                    <a:srgbClr val="514340"/>
                  </a:solidFill>
                  <a:latin typeface="+mn-lt"/>
                  <a:ea typeface="+mn-ea"/>
                  <a:cs typeface="+mn-cs"/>
                </a:rPr>
                <a:t>PAD、打印设备​</a:t>
              </a:r>
            </a:p>
          </p:txBody>
        </p:sp>
        <p:sp>
          <p:nvSpPr>
            <p:cNvPr id="147" name="TextBox 147"/>
            <p:cNvSpPr txBox="1"/>
            <p:nvPr/>
          </p:nvSpPr>
          <p:spPr>
            <a:xfrm>
              <a:off x="8110538" y="1759982"/>
              <a:ext cx="181839"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人员</a:t>
              </a:r>
            </a:p>
          </p:txBody>
        </p:sp>
        <p:sp>
          <p:nvSpPr>
            <p:cNvPr id="148" name="TextBox 148"/>
            <p:cNvSpPr txBox="1"/>
            <p:nvPr/>
          </p:nvSpPr>
          <p:spPr>
            <a:xfrm>
              <a:off x="8110538" y="1878330"/>
              <a:ext cx="752627"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2-4名业务办理专员​</a:t>
              </a:r>
            </a:p>
          </p:txBody>
        </p:sp>
        <p:sp>
          <p:nvSpPr>
            <p:cNvPr id="149" name="TextBox 149"/>
            <p:cNvSpPr txBox="1"/>
            <p:nvPr/>
          </p:nvSpPr>
          <p:spPr>
            <a:xfrm>
              <a:off x="8110538" y="206478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客户动作</a:t>
              </a:r>
            </a:p>
          </p:txBody>
        </p:sp>
        <p:sp>
          <p:nvSpPr>
            <p:cNvPr id="150" name="TextBox 150"/>
            <p:cNvSpPr txBox="1"/>
            <p:nvPr/>
          </p:nvSpPr>
          <p:spPr>
            <a:xfrm>
              <a:off x="8110538" y="2183130"/>
              <a:ext cx="6953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提交资料、产品办理</a:t>
              </a:r>
              <a:br/>
              <a:r>
                <a:rPr lang="zh-CN" sz="600" dirty="0">
                  <a:solidFill>
                    <a:srgbClr val="514340"/>
                  </a:solidFill>
                  <a:latin typeface="+mn-lt"/>
                  <a:ea typeface="+mn-ea"/>
                  <a:cs typeface="+mn-cs"/>
                </a:rPr>
                <a:t>扫码确认、领取权益</a:t>
              </a:r>
            </a:p>
          </p:txBody>
        </p:sp>
        <p:sp>
          <p:nvSpPr>
            <p:cNvPr id="151" name="TextBox 151"/>
            <p:cNvSpPr txBox="1"/>
            <p:nvPr/>
          </p:nvSpPr>
          <p:spPr>
            <a:xfrm>
              <a:off x="8110538" y="244578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数据留痕</a:t>
              </a:r>
            </a:p>
          </p:txBody>
        </p:sp>
        <p:sp>
          <p:nvSpPr>
            <p:cNvPr id="152" name="TextBox 152"/>
            <p:cNvSpPr txBox="1"/>
            <p:nvPr/>
          </p:nvSpPr>
          <p:spPr>
            <a:xfrm>
              <a:off x="8110538" y="2564130"/>
              <a:ext cx="6953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办理笔数、产品类型</a:t>
              </a:r>
              <a:br/>
              <a:r>
                <a:rPr lang="zh-CN" sz="600" dirty="0">
                  <a:solidFill>
                    <a:srgbClr val="514340"/>
                  </a:solidFill>
                  <a:latin typeface="+mn-lt"/>
                  <a:ea typeface="+mn-ea"/>
                  <a:cs typeface="+mn-cs"/>
                </a:rPr>
                <a:t>转化数据、客户评级</a:t>
              </a:r>
            </a:p>
          </p:txBody>
        </p:sp>
        <p:sp>
          <p:nvSpPr>
            <p:cNvPr id="153" name="TextBox 153"/>
            <p:cNvSpPr txBox="1"/>
            <p:nvPr/>
          </p:nvSpPr>
          <p:spPr>
            <a:xfrm>
              <a:off x="8110538" y="2883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推荐面积</a:t>
              </a:r>
            </a:p>
          </p:txBody>
        </p:sp>
        <p:sp>
          <p:nvSpPr>
            <p:cNvPr id="154" name="TextBox 154"/>
            <p:cNvSpPr txBox="1"/>
            <p:nvPr/>
          </p:nvSpPr>
          <p:spPr>
            <a:xfrm>
              <a:off x="9005369" y="2855595"/>
              <a:ext cx="314843" cy="176212"/>
            </a:xfrm>
            <a:prstGeom prst="rect">
              <a:avLst/>
            </a:prstGeom>
            <a:noFill/>
            <a:ln>
              <a:noFill/>
            </a:ln>
          </p:spPr>
          <p:txBody>
            <a:bodyPr wrap="none" lIns="0" tIns="0" rIns="0" bIns="0" anchor="t" anchorCtr="0">
              <a:spAutoFit/>
            </a:bodyPr>
            <a:lstStyle/>
            <a:p>
              <a:pPr algn="r"/>
              <a:r>
                <a:rPr lang="zh-CN" sz="900" b="1" dirty="0">
                  <a:solidFill>
                    <a:srgbClr val="76200F"/>
                  </a:solidFill>
                  <a:latin typeface="+mn-lt"/>
                  <a:ea typeface="+mn-ea"/>
                  <a:cs typeface="+mn-cs"/>
                </a:rPr>
                <a:t>20%​</a:t>
              </a:r>
            </a:p>
          </p:txBody>
        </p:sp>
        <p:sp>
          <p:nvSpPr>
            <p:cNvPr id="155" name="Rectangle 155"/>
            <p:cNvSpPr/>
            <p:nvPr/>
          </p:nvSpPr>
          <p:spPr>
            <a:xfrm>
              <a:off x="8115300" y="3009900"/>
              <a:ext cx="1200150" cy="66675"/>
            </a:xfrm>
            <a:prstGeom prst="roundRect">
              <a:avLst>
                <a:gd name="adj" fmla="val 50000"/>
              </a:avLst>
            </a:prstGeom>
            <a:solidFill>
              <a:srgbClr val="E4F1EE"/>
            </a:solidFill>
            <a:ln>
              <a:noFill/>
            </a:ln>
          </p:spPr>
        </p:sp>
        <p:sp>
          <p:nvSpPr>
            <p:cNvPr id="156" name="Rectangle 156"/>
            <p:cNvSpPr/>
            <p:nvPr/>
          </p:nvSpPr>
          <p:spPr>
            <a:xfrm>
              <a:off x="8115300" y="3009900"/>
              <a:ext cx="600075" cy="66675"/>
            </a:xfrm>
            <a:prstGeom prst="roundRect">
              <a:avLst>
                <a:gd name="adj" fmla="val 50000"/>
              </a:avLst>
            </a:prstGeom>
            <a:solidFill>
              <a:srgbClr val="76200F"/>
            </a:solidFill>
            <a:ln>
              <a:noFill/>
            </a:ln>
          </p:spPr>
        </p:sp>
        <p:sp>
          <p:nvSpPr>
            <p:cNvPr id="157" name="TextBox 157"/>
            <p:cNvSpPr txBox="1"/>
            <p:nvPr/>
          </p:nvSpPr>
          <p:spPr>
            <a:xfrm>
              <a:off x="8110538" y="3192780"/>
              <a:ext cx="33261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客流人数</a:t>
              </a:r>
            </a:p>
          </p:txBody>
        </p:sp>
        <p:sp>
          <p:nvSpPr>
            <p:cNvPr id="158" name="TextBox 158"/>
            <p:cNvSpPr txBox="1"/>
            <p:nvPr/>
          </p:nvSpPr>
          <p:spPr>
            <a:xfrm>
              <a:off x="8110538" y="3313986"/>
              <a:ext cx="436291"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6-10人​​</a:t>
              </a:r>
            </a:p>
          </p:txBody>
        </p:sp>
        <p:sp>
          <p:nvSpPr>
            <p:cNvPr id="159" name="TextBox 159"/>
            <p:cNvSpPr txBox="1"/>
            <p:nvPr/>
          </p:nvSpPr>
          <p:spPr>
            <a:xfrm>
              <a:off x="8758238" y="3192780"/>
              <a:ext cx="494157"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平均停留时长</a:t>
              </a:r>
            </a:p>
          </p:txBody>
        </p:sp>
        <p:sp>
          <p:nvSpPr>
            <p:cNvPr id="160" name="TextBox 160"/>
            <p:cNvSpPr txBox="1"/>
            <p:nvPr/>
          </p:nvSpPr>
          <p:spPr>
            <a:xfrm>
              <a:off x="8758238" y="3313986"/>
              <a:ext cx="531871"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8-15分钟​​</a:t>
              </a:r>
            </a:p>
          </p:txBody>
        </p:sp>
      </p:grpSp>
      <p:grpSp>
        <p:nvGrpSpPr>
          <p:cNvPr id="226" name="checklist"/>
          <p:cNvGrpSpPr/>
          <p:nvPr/>
        </p:nvGrpSpPr>
        <p:grpSpPr>
          <a:xfrm>
            <a:off x="9563100" y="685800"/>
            <a:ext cx="2266950" cy="2857500"/>
            <a:chOff x="9563100" y="685800"/>
            <a:chExt cx="2266950" cy="2857500"/>
          </a:xfrm>
        </p:grpSpPr>
        <p:sp>
          <p:nvSpPr>
            <p:cNvPr id="162" name="Rectangle 162"/>
            <p:cNvSpPr/>
            <p:nvPr/>
          </p:nvSpPr>
          <p:spPr>
            <a:xfrm>
              <a:off x="9563100" y="685800"/>
              <a:ext cx="2266950" cy="2857500"/>
            </a:xfrm>
            <a:prstGeom prst="roundRect">
              <a:avLst>
                <a:gd name="adj" fmla="val 3361"/>
              </a:avLst>
            </a:prstGeom>
            <a:solidFill>
              <a:srgbClr val="F0FAF8"/>
            </a:solidFill>
            <a:ln w="14288">
              <a:solidFill>
                <a:srgbClr val="C2E0DA"/>
              </a:solidFill>
            </a:ln>
          </p:spPr>
        </p:sp>
        <p:sp>
          <p:nvSpPr>
            <p:cNvPr id="163" name="Rectangle 163"/>
            <p:cNvSpPr/>
            <p:nvPr/>
          </p:nvSpPr>
          <p:spPr>
            <a:xfrm>
              <a:off x="9563100" y="685800"/>
              <a:ext cx="2266950" cy="247650"/>
            </a:xfrm>
            <a:prstGeom prst="roundRect">
              <a:avLst>
                <a:gd name="adj" fmla="val 30769"/>
              </a:avLst>
            </a:prstGeom>
            <a:solidFill>
              <a:srgbClr val="5D190B"/>
            </a:solidFill>
            <a:ln>
              <a:noFill/>
            </a:ln>
          </p:spPr>
        </p:sp>
        <p:grpSp>
          <p:nvGrpSpPr>
            <p:cNvPr id="168" name="Group 168"/>
            <p:cNvGrpSpPr/>
            <p:nvPr/>
          </p:nvGrpSpPr>
          <p:grpSpPr>
            <a:xfrm>
              <a:off x="9667081" y="765175"/>
              <a:ext cx="83343" cy="94456"/>
              <a:chOff x="9667081" y="765175"/>
              <a:chExt cx="83343" cy="94456"/>
            </a:xfrm>
          </p:grpSpPr>
          <p:sp>
            <p:nvSpPr>
              <p:cNvPr id="164" name="Freeform 164"/>
              <p:cNvSpPr/>
              <p:nvPr/>
            </p:nvSpPr>
            <p:spPr>
              <a:xfrm>
                <a:off x="9667081" y="765175"/>
                <a:ext cx="66675" cy="88900"/>
              </a:xfrm>
              <a:custGeom>
                <a:avLst/>
                <a:gdLst/>
                <a:ahLst/>
                <a:cxnLst/>
                <a:rect l="l" t="t" r="r" b="b"/>
                <a:pathLst>
                  <a:path w="66675" h="88900">
                    <a:moveTo>
                      <a:pt x="25642" y="88900"/>
                    </a:moveTo>
                    <a:lnTo>
                      <a:pt x="11112" y="88900"/>
                    </a:lnTo>
                    <a:cubicBezTo>
                      <a:pt x="4975" y="88900"/>
                      <a:pt x="0" y="83925"/>
                      <a:pt x="0" y="77787"/>
                    </a:cubicBezTo>
                    <a:lnTo>
                      <a:pt x="0" y="11112"/>
                    </a:lnTo>
                    <a:cubicBezTo>
                      <a:pt x="0" y="4975"/>
                      <a:pt x="4975" y="0"/>
                      <a:pt x="11112" y="0"/>
                    </a:cubicBezTo>
                    <a:lnTo>
                      <a:pt x="55562" y="0"/>
                    </a:lnTo>
                    <a:cubicBezTo>
                      <a:pt x="61700" y="0"/>
                      <a:pt x="66675" y="4975"/>
                      <a:pt x="66675" y="11112"/>
                    </a:cubicBezTo>
                    <a:lnTo>
                      <a:pt x="66675" y="55562"/>
                    </a:lnTo>
                  </a:path>
                </a:pathLst>
              </a:custGeom>
              <a:noFill/>
              <a:ln w="11112">
                <a:solidFill>
                  <a:srgbClr val="FFFFFF"/>
                </a:solidFill>
              </a:ln>
            </p:spPr>
          </p:sp>
          <p:sp>
            <p:nvSpPr>
              <p:cNvPr id="165" name="Freeform 165"/>
              <p:cNvSpPr/>
              <p:nvPr/>
            </p:nvSpPr>
            <p:spPr>
              <a:xfrm>
                <a:off x="9717087" y="837406"/>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sp>
            <p:nvSpPr>
              <p:cNvPr id="166" name="Freeform 166"/>
              <p:cNvSpPr/>
              <p:nvPr/>
            </p:nvSpPr>
            <p:spPr>
              <a:xfrm>
                <a:off x="9689306" y="787400"/>
                <a:ext cx="22225" cy="9525"/>
              </a:xfrm>
              <a:custGeom>
                <a:avLst/>
                <a:gdLst/>
                <a:ahLst/>
                <a:cxnLst/>
                <a:rect l="l" t="t" r="r" b="b"/>
                <a:pathLst>
                  <a:path w="22225" h="9525">
                    <a:moveTo>
                      <a:pt x="0" y="0"/>
                    </a:moveTo>
                    <a:lnTo>
                      <a:pt x="22225" y="0"/>
                    </a:lnTo>
                  </a:path>
                </a:pathLst>
              </a:custGeom>
              <a:noFill/>
              <a:ln w="11112">
                <a:solidFill>
                  <a:srgbClr val="FFFFFF"/>
                </a:solidFill>
              </a:ln>
            </p:spPr>
          </p:sp>
          <p:sp>
            <p:nvSpPr>
              <p:cNvPr id="167" name="Freeform 167"/>
              <p:cNvSpPr/>
              <p:nvPr/>
            </p:nvSpPr>
            <p:spPr>
              <a:xfrm>
                <a:off x="9689306" y="809625"/>
                <a:ext cx="11112" cy="9525"/>
              </a:xfrm>
              <a:custGeom>
                <a:avLst/>
                <a:gdLst/>
                <a:ahLst/>
                <a:cxnLst/>
                <a:rect l="l" t="t" r="r" b="b"/>
                <a:pathLst>
                  <a:path w="11112" h="9525">
                    <a:moveTo>
                      <a:pt x="0" y="0"/>
                    </a:moveTo>
                    <a:lnTo>
                      <a:pt x="11112" y="0"/>
                    </a:lnTo>
                  </a:path>
                </a:pathLst>
              </a:custGeom>
              <a:noFill/>
              <a:ln w="11112">
                <a:solidFill>
                  <a:srgbClr val="FFFFFF"/>
                </a:solidFill>
              </a:ln>
            </p:spPr>
          </p:sp>
        </p:grpSp>
        <p:sp>
          <p:nvSpPr>
            <p:cNvPr id="169" name="TextBox 169"/>
            <p:cNvSpPr txBox="1"/>
            <p:nvPr/>
          </p:nvSpPr>
          <p:spPr>
            <a:xfrm>
              <a:off x="9825038" y="754618"/>
              <a:ext cx="1167257"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展位运营关键检查清单</a:t>
              </a:r>
            </a:p>
          </p:txBody>
        </p:sp>
        <p:grpSp>
          <p:nvGrpSpPr>
            <p:cNvPr id="172" name="Group 172"/>
            <p:cNvGrpSpPr/>
            <p:nvPr/>
          </p:nvGrpSpPr>
          <p:grpSpPr>
            <a:xfrm>
              <a:off x="9679781" y="1090612"/>
              <a:ext cx="128588" cy="85725"/>
              <a:chOff x="9679781" y="1090612"/>
              <a:chExt cx="128588" cy="85725"/>
            </a:xfrm>
          </p:grpSpPr>
          <p:sp>
            <p:nvSpPr>
              <p:cNvPr id="170" name="Freeform 170"/>
              <p:cNvSpPr/>
              <p:nvPr/>
            </p:nvSpPr>
            <p:spPr>
              <a:xfrm>
                <a:off x="9729788" y="1119188"/>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171" name="Freeform 171"/>
              <p:cNvSpPr/>
              <p:nvPr/>
            </p:nvSpPr>
            <p:spPr>
              <a:xfrm>
                <a:off x="9679781" y="1090612"/>
                <a:ext cx="128588" cy="85725"/>
              </a:xfrm>
              <a:custGeom>
                <a:avLst/>
                <a:gdLst/>
                <a:ahLst/>
                <a:cxnLst/>
                <a:rect l="l" t="t" r="r" b="b"/>
                <a:pathLst>
                  <a:path w="128588" h="85725">
                    <a:moveTo>
                      <a:pt x="128588" y="42862"/>
                    </a:moveTo>
                    <a:cubicBezTo>
                      <a:pt x="111443" y="71438"/>
                      <a:pt x="90011" y="85725"/>
                      <a:pt x="64294" y="85725"/>
                    </a:cubicBezTo>
                    <a:cubicBezTo>
                      <a:pt x="38576" y="85725"/>
                      <a:pt x="17145" y="71438"/>
                      <a:pt x="0" y="42862"/>
                    </a:cubicBezTo>
                    <a:cubicBezTo>
                      <a:pt x="17145" y="14288"/>
                      <a:pt x="38576" y="0"/>
                      <a:pt x="64294" y="0"/>
                    </a:cubicBezTo>
                    <a:cubicBezTo>
                      <a:pt x="90011" y="0"/>
                      <a:pt x="111443" y="14288"/>
                      <a:pt x="128588" y="42862"/>
                    </a:cubicBezTo>
                  </a:path>
                </a:pathLst>
              </a:custGeom>
              <a:noFill/>
              <a:ln w="14288">
                <a:solidFill>
                  <a:srgbClr val="76200F"/>
                </a:solidFill>
              </a:ln>
            </p:spPr>
          </p:sp>
        </p:grpSp>
        <p:sp>
          <p:nvSpPr>
            <p:cNvPr id="173" name="TextBox 173"/>
            <p:cNvSpPr txBox="1"/>
            <p:nvPr/>
          </p:nvSpPr>
          <p:spPr>
            <a:xfrm>
              <a:off x="9901238" y="1042988"/>
              <a:ext cx="51435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视觉可见性</a:t>
              </a:r>
            </a:p>
          </p:txBody>
        </p:sp>
        <p:sp>
          <p:nvSpPr>
            <p:cNvPr id="174" name="TextBox 174"/>
            <p:cNvSpPr txBox="1"/>
            <p:nvPr/>
          </p:nvSpPr>
          <p:spPr>
            <a:xfrm>
              <a:off x="9901238" y="1183005"/>
              <a:ext cx="978789"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主视觉清晰、远距离可识别</a:t>
              </a:r>
            </a:p>
          </p:txBody>
        </p:sp>
        <p:grpSp>
          <p:nvGrpSpPr>
            <p:cNvPr id="177" name="Group 177"/>
            <p:cNvGrpSpPr/>
            <p:nvPr/>
          </p:nvGrpSpPr>
          <p:grpSpPr>
            <a:xfrm>
              <a:off x="11656219" y="1083469"/>
              <a:ext cx="100012" cy="100012"/>
              <a:chOff x="11656219" y="1083469"/>
              <a:chExt cx="100012" cy="100012"/>
            </a:xfrm>
          </p:grpSpPr>
          <p:sp>
            <p:nvSpPr>
              <p:cNvPr id="175" name="Freeform 175"/>
              <p:cNvSpPr/>
              <p:nvPr/>
            </p:nvSpPr>
            <p:spPr>
              <a:xfrm>
                <a:off x="11656219" y="10834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176" name="Freeform 176"/>
              <p:cNvSpPr/>
              <p:nvPr/>
            </p:nvSpPr>
            <p:spPr>
              <a:xfrm>
                <a:off x="11689556" y="1122362"/>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grpSp>
          <p:nvGrpSpPr>
            <p:cNvPr id="182" name="Group 182"/>
            <p:cNvGrpSpPr/>
            <p:nvPr/>
          </p:nvGrpSpPr>
          <p:grpSpPr>
            <a:xfrm>
              <a:off x="9679781" y="1504950"/>
              <a:ext cx="128588" cy="114300"/>
              <a:chOff x="9679781" y="1504950"/>
              <a:chExt cx="128588" cy="114300"/>
            </a:xfrm>
          </p:grpSpPr>
          <p:sp>
            <p:nvSpPr>
              <p:cNvPr id="178" name="Freeform 178"/>
              <p:cNvSpPr/>
              <p:nvPr/>
            </p:nvSpPr>
            <p:spPr>
              <a:xfrm>
                <a:off x="9679781" y="1526381"/>
                <a:ext cx="128588" cy="9525"/>
              </a:xfrm>
              <a:custGeom>
                <a:avLst/>
                <a:gdLst/>
                <a:ahLst/>
                <a:cxnLst/>
                <a:rect l="l" t="t" r="r" b="b"/>
                <a:pathLst>
                  <a:path w="128588" h="9525">
                    <a:moveTo>
                      <a:pt x="128588" y="0"/>
                    </a:moveTo>
                    <a:lnTo>
                      <a:pt x="0" y="0"/>
                    </a:lnTo>
                  </a:path>
                </a:pathLst>
              </a:custGeom>
              <a:noFill/>
              <a:ln w="14288">
                <a:solidFill>
                  <a:srgbClr val="76200F"/>
                </a:solidFill>
              </a:ln>
            </p:spPr>
          </p:sp>
          <p:sp>
            <p:nvSpPr>
              <p:cNvPr id="179" name="Freeform 179"/>
              <p:cNvSpPr/>
              <p:nvPr/>
            </p:nvSpPr>
            <p:spPr>
              <a:xfrm>
                <a:off x="9786938" y="1504950"/>
                <a:ext cx="21431" cy="42862"/>
              </a:xfrm>
              <a:custGeom>
                <a:avLst/>
                <a:gdLst/>
                <a:ahLst/>
                <a:cxnLst/>
                <a:rect l="l" t="t" r="r" b="b"/>
                <a:pathLst>
                  <a:path w="21431" h="42862">
                    <a:moveTo>
                      <a:pt x="0" y="42862"/>
                    </a:moveTo>
                    <a:lnTo>
                      <a:pt x="21431" y="21431"/>
                    </a:lnTo>
                    <a:lnTo>
                      <a:pt x="0" y="0"/>
                    </a:lnTo>
                  </a:path>
                </a:pathLst>
              </a:custGeom>
              <a:noFill/>
              <a:ln w="14288">
                <a:solidFill>
                  <a:srgbClr val="76200F"/>
                </a:solidFill>
              </a:ln>
            </p:spPr>
          </p:sp>
          <p:sp>
            <p:nvSpPr>
              <p:cNvPr id="180" name="Freeform 180"/>
              <p:cNvSpPr/>
              <p:nvPr/>
            </p:nvSpPr>
            <p:spPr>
              <a:xfrm>
                <a:off x="9679781" y="1576388"/>
                <a:ext cx="21431" cy="42862"/>
              </a:xfrm>
              <a:custGeom>
                <a:avLst/>
                <a:gdLst/>
                <a:ahLst/>
                <a:cxnLst/>
                <a:rect l="l" t="t" r="r" b="b"/>
                <a:pathLst>
                  <a:path w="21431" h="42862">
                    <a:moveTo>
                      <a:pt x="21431" y="42862"/>
                    </a:moveTo>
                    <a:lnTo>
                      <a:pt x="0" y="21431"/>
                    </a:lnTo>
                    <a:lnTo>
                      <a:pt x="21431" y="0"/>
                    </a:lnTo>
                  </a:path>
                </a:pathLst>
              </a:custGeom>
              <a:noFill/>
              <a:ln w="14288">
                <a:solidFill>
                  <a:srgbClr val="76200F"/>
                </a:solidFill>
              </a:ln>
            </p:spPr>
          </p:sp>
          <p:sp>
            <p:nvSpPr>
              <p:cNvPr id="181" name="Freeform 181"/>
              <p:cNvSpPr/>
              <p:nvPr/>
            </p:nvSpPr>
            <p:spPr>
              <a:xfrm>
                <a:off x="9679781" y="1597819"/>
                <a:ext cx="128588" cy="9525"/>
              </a:xfrm>
              <a:custGeom>
                <a:avLst/>
                <a:gdLst/>
                <a:ahLst/>
                <a:cxnLst/>
                <a:rect l="l" t="t" r="r" b="b"/>
                <a:pathLst>
                  <a:path w="128588" h="9525">
                    <a:moveTo>
                      <a:pt x="0" y="0"/>
                    </a:moveTo>
                    <a:lnTo>
                      <a:pt x="128588" y="0"/>
                    </a:lnTo>
                  </a:path>
                </a:pathLst>
              </a:custGeom>
              <a:noFill/>
              <a:ln w="14288">
                <a:solidFill>
                  <a:srgbClr val="76200F"/>
                </a:solidFill>
              </a:ln>
            </p:spPr>
          </p:sp>
        </p:grpSp>
        <p:sp>
          <p:nvSpPr>
            <p:cNvPr id="183" name="TextBox 183"/>
            <p:cNvSpPr txBox="1"/>
            <p:nvPr/>
          </p:nvSpPr>
          <p:spPr>
            <a:xfrm>
              <a:off x="9901238" y="1471612"/>
              <a:ext cx="31242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可达性</a:t>
              </a:r>
            </a:p>
          </p:txBody>
        </p:sp>
        <p:sp>
          <p:nvSpPr>
            <p:cNvPr id="184" name="TextBox 184"/>
            <p:cNvSpPr txBox="1"/>
            <p:nvPr/>
          </p:nvSpPr>
          <p:spPr>
            <a:xfrm>
              <a:off x="9901238" y="1611630"/>
              <a:ext cx="1221105"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动线顺畅、入口明显、无障碍通行</a:t>
              </a:r>
            </a:p>
          </p:txBody>
        </p:sp>
        <p:grpSp>
          <p:nvGrpSpPr>
            <p:cNvPr id="187" name="Group 187"/>
            <p:cNvGrpSpPr/>
            <p:nvPr/>
          </p:nvGrpSpPr>
          <p:grpSpPr>
            <a:xfrm>
              <a:off x="11656219" y="1512094"/>
              <a:ext cx="100012" cy="100012"/>
              <a:chOff x="11656219" y="1512094"/>
              <a:chExt cx="100012" cy="100012"/>
            </a:xfrm>
          </p:grpSpPr>
          <p:sp>
            <p:nvSpPr>
              <p:cNvPr id="185" name="Freeform 185"/>
              <p:cNvSpPr/>
              <p:nvPr/>
            </p:nvSpPr>
            <p:spPr>
              <a:xfrm>
                <a:off x="11656219" y="15120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186" name="Freeform 186"/>
              <p:cNvSpPr/>
              <p:nvPr/>
            </p:nvSpPr>
            <p:spPr>
              <a:xfrm>
                <a:off x="11689556" y="1550987"/>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grpSp>
          <p:nvGrpSpPr>
            <p:cNvPr id="191" name="Group 191"/>
            <p:cNvGrpSpPr/>
            <p:nvPr/>
          </p:nvGrpSpPr>
          <p:grpSpPr>
            <a:xfrm>
              <a:off x="9694069" y="1926431"/>
              <a:ext cx="100012" cy="128588"/>
              <a:chOff x="9694069" y="1926431"/>
              <a:chExt cx="100012" cy="128588"/>
            </a:xfrm>
          </p:grpSpPr>
          <p:sp>
            <p:nvSpPr>
              <p:cNvPr id="188" name="Freeform 188"/>
              <p:cNvSpPr/>
              <p:nvPr/>
            </p:nvSpPr>
            <p:spPr>
              <a:xfrm>
                <a:off x="9694069" y="1983581"/>
                <a:ext cx="100012" cy="71438"/>
              </a:xfrm>
              <a:custGeom>
                <a:avLst/>
                <a:gdLst/>
                <a:ahLst/>
                <a:cxnLst/>
                <a:rect l="l" t="t" r="r" b="b"/>
                <a:pathLst>
                  <a:path w="100012" h="71438">
                    <a:moveTo>
                      <a:pt x="0" y="14288"/>
                    </a:moveTo>
                    <a:cubicBezTo>
                      <a:pt x="0" y="6397"/>
                      <a:pt x="6397" y="0"/>
                      <a:pt x="14288" y="0"/>
                    </a:cubicBezTo>
                    <a:lnTo>
                      <a:pt x="85725" y="0"/>
                    </a:lnTo>
                    <a:cubicBezTo>
                      <a:pt x="93616" y="0"/>
                      <a:pt x="100012" y="6397"/>
                      <a:pt x="100012" y="14288"/>
                    </a:cubicBezTo>
                    <a:lnTo>
                      <a:pt x="100012" y="57150"/>
                    </a:lnTo>
                    <a:cubicBezTo>
                      <a:pt x="100012" y="65041"/>
                      <a:pt x="93616" y="71438"/>
                      <a:pt x="85725" y="71438"/>
                    </a:cubicBezTo>
                    <a:lnTo>
                      <a:pt x="14288" y="71438"/>
                    </a:lnTo>
                    <a:cubicBezTo>
                      <a:pt x="6397" y="71438"/>
                      <a:pt x="0" y="65041"/>
                      <a:pt x="0" y="57150"/>
                    </a:cubicBezTo>
                    <a:lnTo>
                      <a:pt x="0" y="14288"/>
                    </a:lnTo>
                  </a:path>
                </a:pathLst>
              </a:custGeom>
              <a:noFill/>
              <a:ln w="14288">
                <a:solidFill>
                  <a:srgbClr val="76200F"/>
                </a:solidFill>
              </a:ln>
            </p:spPr>
          </p:sp>
          <p:sp>
            <p:nvSpPr>
              <p:cNvPr id="189" name="Freeform 189"/>
              <p:cNvSpPr/>
              <p:nvPr/>
            </p:nvSpPr>
            <p:spPr>
              <a:xfrm>
                <a:off x="9736931" y="20121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6200F"/>
                </a:solidFill>
              </a:ln>
            </p:spPr>
          </p:sp>
          <p:sp>
            <p:nvSpPr>
              <p:cNvPr id="190" name="Freeform 190"/>
              <p:cNvSpPr/>
              <p:nvPr/>
            </p:nvSpPr>
            <p:spPr>
              <a:xfrm>
                <a:off x="9715500" y="1926431"/>
                <a:ext cx="57150" cy="57150"/>
              </a:xfrm>
              <a:custGeom>
                <a:avLst/>
                <a:gdLst/>
                <a:ahLst/>
                <a:cxnLst/>
                <a:rect l="l" t="t" r="r" b="b"/>
                <a:pathLst>
                  <a:path w="57150" h="57150">
                    <a:moveTo>
                      <a:pt x="0" y="57150"/>
                    </a:moveTo>
                    <a:lnTo>
                      <a:pt x="0" y="28575"/>
                    </a:lnTo>
                    <a:cubicBezTo>
                      <a:pt x="0" y="12793"/>
                      <a:pt x="12793" y="0"/>
                      <a:pt x="28575" y="0"/>
                    </a:cubicBezTo>
                    <a:cubicBezTo>
                      <a:pt x="44357" y="0"/>
                      <a:pt x="57150" y="12793"/>
                      <a:pt x="57150" y="28575"/>
                    </a:cubicBezTo>
                    <a:lnTo>
                      <a:pt x="57150" y="57150"/>
                    </a:lnTo>
                  </a:path>
                </a:pathLst>
              </a:custGeom>
              <a:noFill/>
              <a:ln w="14288">
                <a:solidFill>
                  <a:srgbClr val="76200F"/>
                </a:solidFill>
              </a:ln>
            </p:spPr>
          </p:sp>
        </p:grpSp>
        <p:sp>
          <p:nvSpPr>
            <p:cNvPr id="192" name="TextBox 192"/>
            <p:cNvSpPr txBox="1"/>
            <p:nvPr/>
          </p:nvSpPr>
          <p:spPr>
            <a:xfrm>
              <a:off x="9901238" y="1900238"/>
              <a:ext cx="31242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私密性</a:t>
              </a:r>
            </a:p>
          </p:txBody>
        </p:sp>
        <p:sp>
          <p:nvSpPr>
            <p:cNvPr id="193" name="TextBox 193"/>
            <p:cNvSpPr txBox="1"/>
            <p:nvPr/>
          </p:nvSpPr>
          <p:spPr>
            <a:xfrm>
              <a:off x="9901238" y="2040255"/>
              <a:ext cx="114033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办理区相对独立、保障客户隐私</a:t>
              </a:r>
            </a:p>
          </p:txBody>
        </p:sp>
        <p:grpSp>
          <p:nvGrpSpPr>
            <p:cNvPr id="196" name="Group 196"/>
            <p:cNvGrpSpPr/>
            <p:nvPr/>
          </p:nvGrpSpPr>
          <p:grpSpPr>
            <a:xfrm>
              <a:off x="11656219" y="1940719"/>
              <a:ext cx="100012" cy="100012"/>
              <a:chOff x="11656219" y="1940719"/>
              <a:chExt cx="100012" cy="100012"/>
            </a:xfrm>
          </p:grpSpPr>
          <p:sp>
            <p:nvSpPr>
              <p:cNvPr id="194" name="Freeform 194"/>
              <p:cNvSpPr/>
              <p:nvPr/>
            </p:nvSpPr>
            <p:spPr>
              <a:xfrm>
                <a:off x="11656219" y="19407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195" name="Freeform 195"/>
              <p:cNvSpPr/>
              <p:nvPr/>
            </p:nvSpPr>
            <p:spPr>
              <a:xfrm>
                <a:off x="11689556" y="1979612"/>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grpSp>
          <p:nvGrpSpPr>
            <p:cNvPr id="199" name="Group 199"/>
            <p:cNvGrpSpPr/>
            <p:nvPr/>
          </p:nvGrpSpPr>
          <p:grpSpPr>
            <a:xfrm>
              <a:off x="9676645" y="2351920"/>
              <a:ext cx="134860" cy="134860"/>
              <a:chOff x="9676645" y="2351920"/>
              <a:chExt cx="134860" cy="134860"/>
            </a:xfrm>
          </p:grpSpPr>
          <p:sp>
            <p:nvSpPr>
              <p:cNvPr id="197" name="Freeform 197"/>
              <p:cNvSpPr/>
              <p:nvPr/>
            </p:nvSpPr>
            <p:spPr>
              <a:xfrm>
                <a:off x="9676645" y="2351920"/>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76200F"/>
                </a:solidFill>
              </a:ln>
            </p:spPr>
          </p:sp>
          <p:sp>
            <p:nvSpPr>
              <p:cNvPr id="198" name="Freeform 198"/>
              <p:cNvSpPr/>
              <p:nvPr/>
            </p:nvSpPr>
            <p:spPr>
              <a:xfrm>
                <a:off x="9722644" y="2397919"/>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76200F"/>
                </a:solidFill>
              </a:ln>
            </p:spPr>
          </p:sp>
        </p:grpSp>
        <p:sp>
          <p:nvSpPr>
            <p:cNvPr id="200" name="TextBox 200"/>
            <p:cNvSpPr txBox="1"/>
            <p:nvPr/>
          </p:nvSpPr>
          <p:spPr>
            <a:xfrm>
              <a:off x="9901238" y="2328862"/>
              <a:ext cx="51435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电力与网络</a:t>
              </a:r>
            </a:p>
          </p:txBody>
        </p:sp>
        <p:sp>
          <p:nvSpPr>
            <p:cNvPr id="201" name="TextBox 201"/>
            <p:cNvSpPr txBox="1"/>
            <p:nvPr/>
          </p:nvSpPr>
          <p:spPr>
            <a:xfrm>
              <a:off x="9901238" y="2468880"/>
              <a:ext cx="1059561"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电力负载充足、网络稳定覆盖</a:t>
              </a:r>
            </a:p>
          </p:txBody>
        </p:sp>
        <p:grpSp>
          <p:nvGrpSpPr>
            <p:cNvPr id="204" name="Group 204"/>
            <p:cNvGrpSpPr/>
            <p:nvPr/>
          </p:nvGrpSpPr>
          <p:grpSpPr>
            <a:xfrm>
              <a:off x="11656219" y="2369344"/>
              <a:ext cx="100012" cy="100012"/>
              <a:chOff x="11656219" y="2369344"/>
              <a:chExt cx="100012" cy="100012"/>
            </a:xfrm>
          </p:grpSpPr>
          <p:sp>
            <p:nvSpPr>
              <p:cNvPr id="202" name="Freeform 202"/>
              <p:cNvSpPr/>
              <p:nvPr/>
            </p:nvSpPr>
            <p:spPr>
              <a:xfrm>
                <a:off x="11656219" y="236934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203" name="Freeform 203"/>
              <p:cNvSpPr/>
              <p:nvPr/>
            </p:nvSpPr>
            <p:spPr>
              <a:xfrm>
                <a:off x="11689556" y="2408237"/>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grpSp>
          <p:nvGrpSpPr>
            <p:cNvPr id="210" name="Group 210"/>
            <p:cNvGrpSpPr/>
            <p:nvPr/>
          </p:nvGrpSpPr>
          <p:grpSpPr>
            <a:xfrm>
              <a:off x="9679781" y="2783681"/>
              <a:ext cx="128587" cy="130969"/>
              <a:chOff x="9679781" y="2783681"/>
              <a:chExt cx="128587" cy="130969"/>
            </a:xfrm>
          </p:grpSpPr>
          <p:sp>
            <p:nvSpPr>
              <p:cNvPr id="205" name="Freeform 205"/>
              <p:cNvSpPr/>
              <p:nvPr/>
            </p:nvSpPr>
            <p:spPr>
              <a:xfrm>
                <a:off x="9708356" y="2905125"/>
                <a:ext cx="71438" cy="9525"/>
              </a:xfrm>
              <a:custGeom>
                <a:avLst/>
                <a:gdLst/>
                <a:ahLst/>
                <a:cxnLst/>
                <a:rect l="l" t="t" r="r" b="b"/>
                <a:pathLst>
                  <a:path w="71438" h="9525">
                    <a:moveTo>
                      <a:pt x="0" y="0"/>
                    </a:moveTo>
                    <a:lnTo>
                      <a:pt x="71438" y="0"/>
                    </a:lnTo>
                  </a:path>
                </a:pathLst>
              </a:custGeom>
              <a:noFill/>
              <a:ln w="14288">
                <a:solidFill>
                  <a:srgbClr val="76200F"/>
                </a:solidFill>
              </a:ln>
            </p:spPr>
          </p:sp>
          <p:sp>
            <p:nvSpPr>
              <p:cNvPr id="206" name="Freeform 206"/>
              <p:cNvSpPr/>
              <p:nvPr/>
            </p:nvSpPr>
            <p:spPr>
              <a:xfrm>
                <a:off x="9701212" y="2797969"/>
                <a:ext cx="85725" cy="9525"/>
              </a:xfrm>
              <a:custGeom>
                <a:avLst/>
                <a:gdLst/>
                <a:ahLst/>
                <a:cxnLst/>
                <a:rect l="l" t="t" r="r" b="b"/>
                <a:pathLst>
                  <a:path w="85725" h="9525">
                    <a:moveTo>
                      <a:pt x="0" y="7144"/>
                    </a:moveTo>
                    <a:lnTo>
                      <a:pt x="42862" y="0"/>
                    </a:lnTo>
                    <a:lnTo>
                      <a:pt x="85725" y="7144"/>
                    </a:lnTo>
                  </a:path>
                </a:pathLst>
              </a:custGeom>
              <a:noFill/>
              <a:ln w="14288">
                <a:solidFill>
                  <a:srgbClr val="76200F"/>
                </a:solidFill>
              </a:ln>
            </p:spPr>
          </p:sp>
          <p:sp>
            <p:nvSpPr>
              <p:cNvPr id="207" name="Freeform 207"/>
              <p:cNvSpPr/>
              <p:nvPr/>
            </p:nvSpPr>
            <p:spPr>
              <a:xfrm>
                <a:off x="9744075" y="2783681"/>
                <a:ext cx="9525" cy="121444"/>
              </a:xfrm>
              <a:custGeom>
                <a:avLst/>
                <a:gdLst/>
                <a:ahLst/>
                <a:cxnLst/>
                <a:rect l="l" t="t" r="r" b="b"/>
                <a:pathLst>
                  <a:path w="9525" h="121444">
                    <a:moveTo>
                      <a:pt x="0" y="0"/>
                    </a:moveTo>
                    <a:lnTo>
                      <a:pt x="0" y="121444"/>
                    </a:lnTo>
                  </a:path>
                </a:pathLst>
              </a:custGeom>
              <a:noFill/>
              <a:ln w="14288">
                <a:solidFill>
                  <a:srgbClr val="76200F"/>
                </a:solidFill>
              </a:ln>
            </p:spPr>
          </p:sp>
          <p:sp>
            <p:nvSpPr>
              <p:cNvPr id="208" name="Freeform 208"/>
              <p:cNvSpPr/>
              <p:nvPr/>
            </p:nvSpPr>
            <p:spPr>
              <a:xfrm>
                <a:off x="9679781" y="2805112"/>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76200F"/>
                </a:solidFill>
              </a:ln>
            </p:spPr>
          </p:sp>
          <p:sp>
            <p:nvSpPr>
              <p:cNvPr id="209" name="Freeform 209"/>
              <p:cNvSpPr/>
              <p:nvPr/>
            </p:nvSpPr>
            <p:spPr>
              <a:xfrm>
                <a:off x="9765506" y="2805112"/>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76200F"/>
                </a:solidFill>
              </a:ln>
            </p:spPr>
          </p:sp>
        </p:grpSp>
        <p:sp>
          <p:nvSpPr>
            <p:cNvPr id="211" name="TextBox 211"/>
            <p:cNvSpPr txBox="1"/>
            <p:nvPr/>
          </p:nvSpPr>
          <p:spPr>
            <a:xfrm>
              <a:off x="9901238" y="2757488"/>
              <a:ext cx="31242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合规性</a:t>
              </a:r>
            </a:p>
          </p:txBody>
        </p:sp>
        <p:sp>
          <p:nvSpPr>
            <p:cNvPr id="212" name="TextBox 212"/>
            <p:cNvSpPr txBox="1"/>
            <p:nvPr/>
          </p:nvSpPr>
          <p:spPr>
            <a:xfrm>
              <a:off x="9901238" y="2897505"/>
              <a:ext cx="898017"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宣传话术、数据采集合规</a:t>
              </a:r>
            </a:p>
          </p:txBody>
        </p:sp>
        <p:grpSp>
          <p:nvGrpSpPr>
            <p:cNvPr id="215" name="Group 215"/>
            <p:cNvGrpSpPr/>
            <p:nvPr/>
          </p:nvGrpSpPr>
          <p:grpSpPr>
            <a:xfrm>
              <a:off x="11656219" y="2797969"/>
              <a:ext cx="100012" cy="100012"/>
              <a:chOff x="11656219" y="2797969"/>
              <a:chExt cx="100012" cy="100012"/>
            </a:xfrm>
          </p:grpSpPr>
          <p:sp>
            <p:nvSpPr>
              <p:cNvPr id="213" name="Freeform 213"/>
              <p:cNvSpPr/>
              <p:nvPr/>
            </p:nvSpPr>
            <p:spPr>
              <a:xfrm>
                <a:off x="11656219" y="27979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214" name="Freeform 214"/>
              <p:cNvSpPr/>
              <p:nvPr/>
            </p:nvSpPr>
            <p:spPr>
              <a:xfrm>
                <a:off x="11689556" y="2836862"/>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grpSp>
          <p:nvGrpSpPr>
            <p:cNvPr id="220" name="Group 220"/>
            <p:cNvGrpSpPr/>
            <p:nvPr/>
          </p:nvGrpSpPr>
          <p:grpSpPr>
            <a:xfrm>
              <a:off x="9679781" y="3212306"/>
              <a:ext cx="128588" cy="128588"/>
              <a:chOff x="9679781" y="3212306"/>
              <a:chExt cx="128588" cy="128588"/>
            </a:xfrm>
          </p:grpSpPr>
          <p:sp>
            <p:nvSpPr>
              <p:cNvPr id="216" name="Freeform 216"/>
              <p:cNvSpPr/>
              <p:nvPr/>
            </p:nvSpPr>
            <p:spPr>
              <a:xfrm>
                <a:off x="9694069" y="32123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6200F"/>
                </a:solidFill>
              </a:ln>
            </p:spPr>
          </p:sp>
          <p:sp>
            <p:nvSpPr>
              <p:cNvPr id="217" name="Freeform 217"/>
              <p:cNvSpPr/>
              <p:nvPr/>
            </p:nvSpPr>
            <p:spPr>
              <a:xfrm>
                <a:off x="9679781" y="32980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76200F"/>
                </a:solidFill>
              </a:ln>
            </p:spPr>
          </p:sp>
          <p:sp>
            <p:nvSpPr>
              <p:cNvPr id="218" name="Freeform 218"/>
              <p:cNvSpPr/>
              <p:nvPr/>
            </p:nvSpPr>
            <p:spPr>
              <a:xfrm>
                <a:off x="9772650" y="32132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76200F"/>
                </a:solidFill>
              </a:ln>
            </p:spPr>
          </p:sp>
          <p:sp>
            <p:nvSpPr>
              <p:cNvPr id="219" name="Freeform 219"/>
              <p:cNvSpPr/>
              <p:nvPr/>
            </p:nvSpPr>
            <p:spPr>
              <a:xfrm>
                <a:off x="9786938" y="32991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76200F"/>
                </a:solidFill>
              </a:ln>
            </p:spPr>
          </p:sp>
        </p:grpSp>
        <p:sp>
          <p:nvSpPr>
            <p:cNvPr id="221" name="TextBox 221"/>
            <p:cNvSpPr txBox="1"/>
            <p:nvPr/>
          </p:nvSpPr>
          <p:spPr>
            <a:xfrm>
              <a:off x="9901238" y="3186112"/>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排队管理</a:t>
              </a:r>
            </a:p>
          </p:txBody>
        </p:sp>
        <p:sp>
          <p:nvSpPr>
            <p:cNvPr id="222" name="TextBox 222"/>
            <p:cNvSpPr txBox="1"/>
            <p:nvPr/>
          </p:nvSpPr>
          <p:spPr>
            <a:xfrm>
              <a:off x="9901238" y="3326130"/>
              <a:ext cx="1221105"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设置等候区与叫号机制、避免拥堵</a:t>
              </a:r>
            </a:p>
          </p:txBody>
        </p:sp>
        <p:grpSp>
          <p:nvGrpSpPr>
            <p:cNvPr id="225" name="Group 225"/>
            <p:cNvGrpSpPr/>
            <p:nvPr/>
          </p:nvGrpSpPr>
          <p:grpSpPr>
            <a:xfrm>
              <a:off x="11656219" y="3226594"/>
              <a:ext cx="100012" cy="100012"/>
              <a:chOff x="11656219" y="3226594"/>
              <a:chExt cx="100012" cy="100012"/>
            </a:xfrm>
          </p:grpSpPr>
          <p:sp>
            <p:nvSpPr>
              <p:cNvPr id="223" name="Freeform 223"/>
              <p:cNvSpPr/>
              <p:nvPr/>
            </p:nvSpPr>
            <p:spPr>
              <a:xfrm>
                <a:off x="11656219" y="32265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224" name="Freeform 224"/>
              <p:cNvSpPr/>
              <p:nvPr/>
            </p:nvSpPr>
            <p:spPr>
              <a:xfrm>
                <a:off x="11689556" y="3265487"/>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grpSp>
      <p:grpSp>
        <p:nvGrpSpPr>
          <p:cNvPr id="310" name="formats"/>
          <p:cNvGrpSpPr/>
          <p:nvPr/>
        </p:nvGrpSpPr>
        <p:grpSpPr>
          <a:xfrm>
            <a:off x="342900" y="3867150"/>
            <a:ext cx="11487150" cy="2705100"/>
            <a:chOff x="342900" y="3867150"/>
            <a:chExt cx="11487150" cy="2705100"/>
          </a:xfrm>
        </p:grpSpPr>
        <p:sp>
          <p:nvSpPr>
            <p:cNvPr id="227" name="Rectangle 227"/>
            <p:cNvSpPr/>
            <p:nvPr/>
          </p:nvSpPr>
          <p:spPr>
            <a:xfrm>
              <a:off x="342900" y="3867150"/>
              <a:ext cx="2190750" cy="228600"/>
            </a:xfrm>
            <a:prstGeom prst="roundRect">
              <a:avLst>
                <a:gd name="adj" fmla="val 20833"/>
              </a:avLst>
            </a:prstGeom>
            <a:solidFill>
              <a:srgbClr val="76200F"/>
            </a:solidFill>
            <a:ln>
              <a:noFill/>
            </a:ln>
          </p:spPr>
        </p:sp>
        <p:sp>
          <p:nvSpPr>
            <p:cNvPr id="228" name="TextBox 228"/>
            <p:cNvSpPr txBox="1"/>
            <p:nvPr/>
          </p:nvSpPr>
          <p:spPr>
            <a:xfrm>
              <a:off x="452438" y="3927872"/>
              <a:ext cx="14014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三种展位形式及适用场景</a:t>
              </a:r>
            </a:p>
          </p:txBody>
        </p:sp>
        <p:sp>
          <p:nvSpPr>
            <p:cNvPr id="229" name="Rectangle 229"/>
            <p:cNvSpPr/>
            <p:nvPr/>
          </p:nvSpPr>
          <p:spPr>
            <a:xfrm>
              <a:off x="342900" y="4171950"/>
              <a:ext cx="3733800" cy="2400300"/>
            </a:xfrm>
            <a:prstGeom prst="roundRect">
              <a:avLst>
                <a:gd name="adj" fmla="val 3175"/>
              </a:avLst>
            </a:prstGeom>
            <a:solidFill>
              <a:srgbClr val="FFFFFF"/>
            </a:solidFill>
            <a:ln w="14288">
              <a:solidFill>
                <a:srgbClr val="C2E0DA"/>
              </a:solidFill>
            </a:ln>
          </p:spPr>
        </p:sp>
        <p:sp>
          <p:nvSpPr>
            <p:cNvPr id="230" name="Ellipse 230"/>
            <p:cNvSpPr/>
            <p:nvPr/>
          </p:nvSpPr>
          <p:spPr>
            <a:xfrm>
              <a:off x="466725" y="4295775"/>
              <a:ext cx="209550" cy="209550"/>
            </a:xfrm>
            <a:prstGeom prst="ellipse">
              <a:avLst/>
            </a:prstGeom>
            <a:solidFill>
              <a:srgbClr val="76200F"/>
            </a:solidFill>
            <a:ln>
              <a:noFill/>
            </a:ln>
          </p:spPr>
        </p:sp>
        <p:sp>
          <p:nvSpPr>
            <p:cNvPr id="231" name="TextBox 231"/>
            <p:cNvSpPr txBox="1"/>
            <p:nvPr/>
          </p:nvSpPr>
          <p:spPr>
            <a:xfrm>
              <a:off x="474612" y="4353639"/>
              <a:ext cx="1937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01​</a:t>
              </a:r>
            </a:p>
          </p:txBody>
        </p:sp>
        <p:sp>
          <p:nvSpPr>
            <p:cNvPr id="232" name="TextBox 232"/>
            <p:cNvSpPr txBox="1"/>
            <p:nvPr/>
          </p:nvSpPr>
          <p:spPr>
            <a:xfrm>
              <a:off x="756856" y="4338876"/>
              <a:ext cx="554152" cy="198025"/>
            </a:xfrm>
            <a:prstGeom prst="rect">
              <a:avLst/>
            </a:prstGeom>
            <a:noFill/>
            <a:ln>
              <a:noFill/>
            </a:ln>
          </p:spPr>
          <p:txBody>
            <a:bodyPr wrap="none" lIns="0" tIns="0" rIns="0" bIns="0" anchor="t" anchorCtr="0">
              <a:spAutoFit/>
            </a:bodyPr>
            <a:lstStyle/>
            <a:p>
              <a:pPr algn="l"/>
              <a:r>
                <a:rPr lang="zh-CN" sz="1010" b="1" dirty="0">
                  <a:solidFill>
                    <a:srgbClr val="331712"/>
                  </a:solidFill>
                  <a:latin typeface="+mn-lt"/>
                  <a:ea typeface="+mn-ea"/>
                  <a:cs typeface="+mn-cs"/>
                </a:rPr>
                <a:t>轻量快闪</a:t>
              </a:r>
            </a:p>
          </p:txBody>
        </p:sp>
        <p:sp>
          <p:nvSpPr>
            <p:cNvPr id="233" name="Rectangle 233"/>
            <p:cNvSpPr/>
            <p:nvPr/>
          </p:nvSpPr>
          <p:spPr>
            <a:xfrm>
              <a:off x="457200" y="4610100"/>
              <a:ext cx="1143000" cy="1828800"/>
            </a:xfrm>
            <a:prstGeom prst="roundRect">
              <a:avLst>
                <a:gd name="adj" fmla="val 6667"/>
              </a:avLst>
            </a:prstGeom>
            <a:solidFill>
              <a:srgbClr val="EAF6F3"/>
            </a:solidFill>
            <a:ln>
              <a:noFill/>
            </a:ln>
          </p:spPr>
        </p:sp>
        <p:sp>
          <p:nvSpPr>
            <p:cNvPr id="234" name="Rectangle 234"/>
            <p:cNvSpPr/>
            <p:nvPr/>
          </p:nvSpPr>
          <p:spPr>
            <a:xfrm>
              <a:off x="609600" y="5143500"/>
              <a:ext cx="838200" cy="628650"/>
            </a:xfrm>
            <a:prstGeom prst="rect">
              <a:avLst/>
            </a:prstGeom>
            <a:solidFill>
              <a:srgbClr val="A3422F">
                <a:alpha val="85000"/>
              </a:srgbClr>
            </a:solidFill>
            <a:ln>
              <a:noFill/>
            </a:ln>
          </p:spPr>
        </p:sp>
        <p:sp>
          <p:nvSpPr>
            <p:cNvPr id="235" name="Rectangle 235"/>
            <p:cNvSpPr/>
            <p:nvPr/>
          </p:nvSpPr>
          <p:spPr>
            <a:xfrm>
              <a:off x="571500" y="5029200"/>
              <a:ext cx="914400" cy="133350"/>
            </a:xfrm>
            <a:prstGeom prst="rect">
              <a:avLst/>
            </a:prstGeom>
            <a:solidFill>
              <a:srgbClr val="5D190B"/>
            </a:solidFill>
            <a:ln>
              <a:noFill/>
            </a:ln>
          </p:spPr>
        </p:sp>
        <p:sp>
          <p:nvSpPr>
            <p:cNvPr id="236" name="TextBox 236"/>
            <p:cNvSpPr txBox="1"/>
            <p:nvPr/>
          </p:nvSpPr>
          <p:spPr>
            <a:xfrm>
              <a:off x="747293" y="5069205"/>
              <a:ext cx="56281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美好 与您同行​</a:t>
              </a:r>
            </a:p>
          </p:txBody>
        </p:sp>
        <p:sp>
          <p:nvSpPr>
            <p:cNvPr id="237" name="Rectangle 237"/>
            <p:cNvSpPr/>
            <p:nvPr/>
          </p:nvSpPr>
          <p:spPr>
            <a:xfrm>
              <a:off x="723900" y="5295900"/>
              <a:ext cx="609600" cy="95250"/>
            </a:xfrm>
            <a:prstGeom prst="rect">
              <a:avLst/>
            </a:prstGeom>
            <a:solidFill>
              <a:srgbClr val="FFFFFF">
                <a:alpha val="80000"/>
              </a:srgbClr>
            </a:solidFill>
            <a:ln>
              <a:noFill/>
            </a:ln>
          </p:spPr>
        </p:sp>
        <p:sp>
          <p:nvSpPr>
            <p:cNvPr id="238" name="Rectangle 238"/>
            <p:cNvSpPr/>
            <p:nvPr/>
          </p:nvSpPr>
          <p:spPr>
            <a:xfrm>
              <a:off x="723900" y="5448300"/>
              <a:ext cx="609600" cy="95250"/>
            </a:xfrm>
            <a:prstGeom prst="rect">
              <a:avLst/>
            </a:prstGeom>
            <a:solidFill>
              <a:srgbClr val="FFFFFF">
                <a:alpha val="60000"/>
              </a:srgbClr>
            </a:solidFill>
            <a:ln>
              <a:noFill/>
            </a:ln>
          </p:spPr>
        </p:sp>
        <p:sp>
          <p:nvSpPr>
            <p:cNvPr id="239" name="Rectangle 239"/>
            <p:cNvSpPr/>
            <p:nvPr/>
          </p:nvSpPr>
          <p:spPr>
            <a:xfrm>
              <a:off x="723900" y="5600700"/>
              <a:ext cx="609600" cy="95250"/>
            </a:xfrm>
            <a:prstGeom prst="rect">
              <a:avLst/>
            </a:prstGeom>
            <a:solidFill>
              <a:srgbClr val="FFFFFF">
                <a:alpha val="40000"/>
              </a:srgbClr>
            </a:solidFill>
            <a:ln>
              <a:noFill/>
            </a:ln>
          </p:spPr>
        </p:sp>
        <p:sp>
          <p:nvSpPr>
            <p:cNvPr id="240" name="Rectangle 240"/>
            <p:cNvSpPr/>
            <p:nvPr/>
          </p:nvSpPr>
          <p:spPr>
            <a:xfrm>
              <a:off x="952500" y="5772150"/>
              <a:ext cx="381000" cy="228600"/>
            </a:xfrm>
            <a:prstGeom prst="rect">
              <a:avLst/>
            </a:prstGeom>
            <a:solidFill>
              <a:srgbClr val="76200F"/>
            </a:solidFill>
            <a:ln>
              <a:noFill/>
            </a:ln>
          </p:spPr>
        </p:sp>
        <p:sp>
          <p:nvSpPr>
            <p:cNvPr id="241" name="TextBox 241"/>
            <p:cNvSpPr txBox="1"/>
            <p:nvPr/>
          </p:nvSpPr>
          <p:spPr>
            <a:xfrm>
              <a:off x="1709738" y="468963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面积建议</a:t>
              </a:r>
            </a:p>
          </p:txBody>
        </p:sp>
        <p:sp>
          <p:nvSpPr>
            <p:cNvPr id="242" name="TextBox 242"/>
            <p:cNvSpPr txBox="1"/>
            <p:nvPr/>
          </p:nvSpPr>
          <p:spPr>
            <a:xfrm>
              <a:off x="2281238" y="4677489"/>
              <a:ext cx="439444" cy="154781"/>
            </a:xfrm>
            <a:prstGeom prst="rect">
              <a:avLst/>
            </a:prstGeom>
            <a:noFill/>
            <a:ln>
              <a:noFill/>
            </a:ln>
          </p:spPr>
          <p:txBody>
            <a:bodyPr wrap="none" lIns="0" tIns="0" rIns="0" bIns="0" anchor="t" anchorCtr="0">
              <a:spAutoFit/>
            </a:bodyPr>
            <a:lstStyle/>
            <a:p>
              <a:pPr algn="l"/>
              <a:r>
                <a:rPr lang="zh-CN" sz="790" b="1" dirty="0">
                  <a:solidFill>
                    <a:srgbClr val="76200F"/>
                  </a:solidFill>
                  <a:latin typeface="+mn-lt"/>
                  <a:ea typeface="+mn-ea"/>
                  <a:cs typeface="+mn-cs"/>
                </a:rPr>
                <a:t>9-15㎡​​</a:t>
              </a:r>
            </a:p>
          </p:txBody>
        </p:sp>
        <p:sp>
          <p:nvSpPr>
            <p:cNvPr id="243" name="TextBox 243"/>
            <p:cNvSpPr txBox="1"/>
            <p:nvPr/>
          </p:nvSpPr>
          <p:spPr>
            <a:xfrm>
              <a:off x="1709738" y="497538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核心配置</a:t>
              </a:r>
            </a:p>
          </p:txBody>
        </p:sp>
        <p:sp>
          <p:nvSpPr>
            <p:cNvPr id="244" name="TextBox 244"/>
            <p:cNvSpPr txBox="1"/>
            <p:nvPr/>
          </p:nvSpPr>
          <p:spPr>
            <a:xfrm>
              <a:off x="1709738" y="5112782"/>
              <a:ext cx="1301877"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品牌展板、互动装置、移动咨询台</a:t>
              </a:r>
            </a:p>
          </p:txBody>
        </p:sp>
        <p:sp>
          <p:nvSpPr>
            <p:cNvPr id="245" name="TextBox 245"/>
            <p:cNvSpPr txBox="1"/>
            <p:nvPr/>
          </p:nvSpPr>
          <p:spPr>
            <a:xfrm>
              <a:off x="1709738" y="539448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建议人员</a:t>
              </a:r>
            </a:p>
          </p:txBody>
        </p:sp>
        <p:grpSp>
          <p:nvGrpSpPr>
            <p:cNvPr id="250" name="Group 250"/>
            <p:cNvGrpSpPr/>
            <p:nvPr/>
          </p:nvGrpSpPr>
          <p:grpSpPr>
            <a:xfrm>
              <a:off x="1733550" y="5543550"/>
              <a:ext cx="114300" cy="114301"/>
              <a:chOff x="1733550" y="5543550"/>
              <a:chExt cx="114300" cy="114301"/>
            </a:xfrm>
          </p:grpSpPr>
          <p:sp>
            <p:nvSpPr>
              <p:cNvPr id="246" name="Freeform 246"/>
              <p:cNvSpPr/>
              <p:nvPr/>
            </p:nvSpPr>
            <p:spPr>
              <a:xfrm>
                <a:off x="1746250" y="55435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6200F"/>
                </a:solidFill>
              </a:ln>
            </p:spPr>
          </p:sp>
          <p:sp>
            <p:nvSpPr>
              <p:cNvPr id="247" name="Freeform 247"/>
              <p:cNvSpPr/>
              <p:nvPr/>
            </p:nvSpPr>
            <p:spPr>
              <a:xfrm>
                <a:off x="1733550" y="56197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76200F"/>
                </a:solidFill>
              </a:ln>
            </p:spPr>
          </p:sp>
          <p:sp>
            <p:nvSpPr>
              <p:cNvPr id="248" name="Freeform 248"/>
              <p:cNvSpPr/>
              <p:nvPr/>
            </p:nvSpPr>
            <p:spPr>
              <a:xfrm>
                <a:off x="1816100" y="55443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76200F"/>
                </a:solidFill>
              </a:ln>
            </p:spPr>
          </p:sp>
          <p:sp>
            <p:nvSpPr>
              <p:cNvPr id="249" name="Freeform 249"/>
              <p:cNvSpPr/>
              <p:nvPr/>
            </p:nvSpPr>
            <p:spPr>
              <a:xfrm>
                <a:off x="1828800" y="56207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76200F"/>
                </a:solidFill>
              </a:ln>
            </p:spPr>
          </p:sp>
        </p:grpSp>
        <p:sp>
          <p:nvSpPr>
            <p:cNvPr id="251" name="TextBox 251"/>
            <p:cNvSpPr txBox="1"/>
            <p:nvPr/>
          </p:nvSpPr>
          <p:spPr>
            <a:xfrm>
              <a:off x="1919288" y="5567362"/>
              <a:ext cx="343719"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3-5人​</a:t>
              </a:r>
            </a:p>
          </p:txBody>
        </p:sp>
        <p:sp>
          <p:nvSpPr>
            <p:cNvPr id="252" name="TextBox 252"/>
            <p:cNvSpPr txBox="1"/>
            <p:nvPr/>
          </p:nvSpPr>
          <p:spPr>
            <a:xfrm>
              <a:off x="1709738" y="585168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适用场景</a:t>
              </a:r>
            </a:p>
          </p:txBody>
        </p:sp>
        <p:sp>
          <p:nvSpPr>
            <p:cNvPr id="253" name="TextBox 253"/>
            <p:cNvSpPr txBox="1"/>
            <p:nvPr/>
          </p:nvSpPr>
          <p:spPr>
            <a:xfrm>
              <a:off x="1709738" y="5989082"/>
              <a:ext cx="106616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514340"/>
                  </a:solidFill>
                  <a:latin typeface="+mn-lt"/>
                  <a:ea typeface="+mn-ea"/>
                  <a:cs typeface="+mn-cs"/>
                </a:rPr>
                <a:t>社区商圈、写字楼、校园</a:t>
              </a:r>
              <a:br/>
              <a:r>
                <a:rPr lang="zh-CN" sz="640" dirty="0">
                  <a:solidFill>
                    <a:srgbClr val="514340"/>
                  </a:solidFill>
                  <a:latin typeface="+mn-lt"/>
                  <a:ea typeface="+mn-ea"/>
                  <a:cs typeface="+mn-cs"/>
                </a:rPr>
                <a:t>短期路演快速获客、品牌曝光</a:t>
              </a:r>
            </a:p>
          </p:txBody>
        </p:sp>
        <p:sp>
          <p:nvSpPr>
            <p:cNvPr id="254" name="Rectangle 254"/>
            <p:cNvSpPr/>
            <p:nvPr/>
          </p:nvSpPr>
          <p:spPr>
            <a:xfrm>
              <a:off x="4229100" y="4171950"/>
              <a:ext cx="3733800" cy="2400300"/>
            </a:xfrm>
            <a:prstGeom prst="roundRect">
              <a:avLst>
                <a:gd name="adj" fmla="val 3175"/>
              </a:avLst>
            </a:prstGeom>
            <a:solidFill>
              <a:srgbClr val="FFFFFF"/>
            </a:solidFill>
            <a:ln w="14288">
              <a:solidFill>
                <a:srgbClr val="C2E0DA"/>
              </a:solidFill>
            </a:ln>
          </p:spPr>
        </p:sp>
        <p:sp>
          <p:nvSpPr>
            <p:cNvPr id="255" name="Ellipse 255"/>
            <p:cNvSpPr/>
            <p:nvPr/>
          </p:nvSpPr>
          <p:spPr>
            <a:xfrm>
              <a:off x="4352925" y="4295775"/>
              <a:ext cx="209550" cy="209550"/>
            </a:xfrm>
            <a:prstGeom prst="ellipse">
              <a:avLst/>
            </a:prstGeom>
            <a:solidFill>
              <a:srgbClr val="852512"/>
            </a:solidFill>
            <a:ln>
              <a:noFill/>
            </a:ln>
          </p:spPr>
        </p:sp>
        <p:sp>
          <p:nvSpPr>
            <p:cNvPr id="256" name="TextBox 256"/>
            <p:cNvSpPr txBox="1"/>
            <p:nvPr/>
          </p:nvSpPr>
          <p:spPr>
            <a:xfrm>
              <a:off x="4360812" y="4353639"/>
              <a:ext cx="1937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02​</a:t>
              </a:r>
            </a:p>
          </p:txBody>
        </p:sp>
        <p:sp>
          <p:nvSpPr>
            <p:cNvPr id="257" name="TextBox 257"/>
            <p:cNvSpPr txBox="1"/>
            <p:nvPr/>
          </p:nvSpPr>
          <p:spPr>
            <a:xfrm>
              <a:off x="4643056" y="4338876"/>
              <a:ext cx="554152" cy="198025"/>
            </a:xfrm>
            <a:prstGeom prst="rect">
              <a:avLst/>
            </a:prstGeom>
            <a:noFill/>
            <a:ln>
              <a:noFill/>
            </a:ln>
          </p:spPr>
          <p:txBody>
            <a:bodyPr wrap="none" lIns="0" tIns="0" rIns="0" bIns="0" anchor="t" anchorCtr="0">
              <a:spAutoFit/>
            </a:bodyPr>
            <a:lstStyle/>
            <a:p>
              <a:pPr algn="l"/>
              <a:r>
                <a:rPr lang="zh-CN" sz="1010" b="1" dirty="0">
                  <a:solidFill>
                    <a:srgbClr val="331712"/>
                  </a:solidFill>
                  <a:latin typeface="+mn-lt"/>
                  <a:ea typeface="+mn-ea"/>
                  <a:cs typeface="+mn-cs"/>
                </a:rPr>
                <a:t>标准展位</a:t>
              </a:r>
            </a:p>
          </p:txBody>
        </p:sp>
        <p:sp>
          <p:nvSpPr>
            <p:cNvPr id="258" name="Rectangle 258"/>
            <p:cNvSpPr/>
            <p:nvPr/>
          </p:nvSpPr>
          <p:spPr>
            <a:xfrm>
              <a:off x="4343400" y="4610100"/>
              <a:ext cx="1143000" cy="1828800"/>
            </a:xfrm>
            <a:prstGeom prst="roundRect">
              <a:avLst>
                <a:gd name="adj" fmla="val 6667"/>
              </a:avLst>
            </a:prstGeom>
            <a:solidFill>
              <a:srgbClr val="EAF6F3"/>
            </a:solidFill>
            <a:ln>
              <a:noFill/>
            </a:ln>
          </p:spPr>
        </p:sp>
        <p:sp>
          <p:nvSpPr>
            <p:cNvPr id="259" name="Rectangle 259"/>
            <p:cNvSpPr/>
            <p:nvPr/>
          </p:nvSpPr>
          <p:spPr>
            <a:xfrm>
              <a:off x="4457700" y="4953000"/>
              <a:ext cx="914400" cy="819150"/>
            </a:xfrm>
            <a:prstGeom prst="rect">
              <a:avLst/>
            </a:prstGeom>
            <a:solidFill>
              <a:srgbClr val="76200F">
                <a:alpha val="85000"/>
              </a:srgbClr>
            </a:solidFill>
            <a:ln>
              <a:noFill/>
            </a:ln>
          </p:spPr>
        </p:sp>
        <p:sp>
          <p:nvSpPr>
            <p:cNvPr id="260" name="Rectangle 260"/>
            <p:cNvSpPr/>
            <p:nvPr/>
          </p:nvSpPr>
          <p:spPr>
            <a:xfrm>
              <a:off x="4400550" y="4838700"/>
              <a:ext cx="1028700" cy="133350"/>
            </a:xfrm>
            <a:prstGeom prst="rect">
              <a:avLst/>
            </a:prstGeom>
            <a:solidFill>
              <a:srgbClr val="5D190B"/>
            </a:solidFill>
            <a:ln>
              <a:noFill/>
            </a:ln>
          </p:spPr>
        </p:sp>
        <p:sp>
          <p:nvSpPr>
            <p:cNvPr id="261" name="TextBox 261"/>
            <p:cNvSpPr txBox="1"/>
            <p:nvPr/>
          </p:nvSpPr>
          <p:spPr>
            <a:xfrm>
              <a:off x="4633493" y="4878705"/>
              <a:ext cx="56281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美好 与您同行​</a:t>
              </a:r>
            </a:p>
          </p:txBody>
        </p:sp>
        <p:sp>
          <p:nvSpPr>
            <p:cNvPr id="262" name="Rectangle 262"/>
            <p:cNvSpPr/>
            <p:nvPr/>
          </p:nvSpPr>
          <p:spPr>
            <a:xfrm>
              <a:off x="4533900" y="5086350"/>
              <a:ext cx="323850" cy="228600"/>
            </a:xfrm>
            <a:prstGeom prst="rect">
              <a:avLst/>
            </a:prstGeom>
            <a:solidFill>
              <a:srgbClr val="FFFFFF">
                <a:alpha val="80000"/>
              </a:srgbClr>
            </a:solidFill>
            <a:ln>
              <a:noFill/>
            </a:ln>
          </p:spPr>
        </p:sp>
        <p:sp>
          <p:nvSpPr>
            <p:cNvPr id="263" name="Rectangle 263"/>
            <p:cNvSpPr/>
            <p:nvPr/>
          </p:nvSpPr>
          <p:spPr>
            <a:xfrm>
              <a:off x="4933950" y="5086350"/>
              <a:ext cx="323850" cy="228600"/>
            </a:xfrm>
            <a:prstGeom prst="rect">
              <a:avLst/>
            </a:prstGeom>
            <a:solidFill>
              <a:srgbClr val="FFFFFF">
                <a:alpha val="60000"/>
              </a:srgbClr>
            </a:solidFill>
            <a:ln>
              <a:noFill/>
            </a:ln>
          </p:spPr>
        </p:sp>
        <p:sp>
          <p:nvSpPr>
            <p:cNvPr id="264" name="Rectangle 264"/>
            <p:cNvSpPr/>
            <p:nvPr/>
          </p:nvSpPr>
          <p:spPr>
            <a:xfrm>
              <a:off x="4533900" y="5391150"/>
              <a:ext cx="723900" cy="114300"/>
            </a:xfrm>
            <a:prstGeom prst="rect">
              <a:avLst/>
            </a:prstGeom>
            <a:solidFill>
              <a:srgbClr val="FFFFFF">
                <a:alpha val="50000"/>
              </a:srgbClr>
            </a:solidFill>
            <a:ln>
              <a:noFill/>
            </a:ln>
          </p:spPr>
        </p:sp>
        <p:sp>
          <p:nvSpPr>
            <p:cNvPr id="265" name="Rectangle 265"/>
            <p:cNvSpPr/>
            <p:nvPr/>
          </p:nvSpPr>
          <p:spPr>
            <a:xfrm>
              <a:off x="4533900" y="5581650"/>
              <a:ext cx="723900" cy="114300"/>
            </a:xfrm>
            <a:prstGeom prst="rect">
              <a:avLst/>
            </a:prstGeom>
            <a:solidFill>
              <a:srgbClr val="FFFFFF">
                <a:alpha val="35000"/>
              </a:srgbClr>
            </a:solidFill>
            <a:ln>
              <a:noFill/>
            </a:ln>
          </p:spPr>
        </p:sp>
        <p:sp>
          <p:nvSpPr>
            <p:cNvPr id="266" name="Rectangle 266"/>
            <p:cNvSpPr/>
            <p:nvPr/>
          </p:nvSpPr>
          <p:spPr>
            <a:xfrm>
              <a:off x="4762500" y="5848350"/>
              <a:ext cx="419100" cy="285750"/>
            </a:xfrm>
            <a:prstGeom prst="rect">
              <a:avLst/>
            </a:prstGeom>
            <a:solidFill>
              <a:srgbClr val="852512"/>
            </a:solidFill>
            <a:ln>
              <a:noFill/>
            </a:ln>
          </p:spPr>
        </p:sp>
        <p:sp>
          <p:nvSpPr>
            <p:cNvPr id="267" name="TextBox 267"/>
            <p:cNvSpPr txBox="1"/>
            <p:nvPr/>
          </p:nvSpPr>
          <p:spPr>
            <a:xfrm>
              <a:off x="5595938" y="468963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面积建议</a:t>
              </a:r>
            </a:p>
          </p:txBody>
        </p:sp>
        <p:sp>
          <p:nvSpPr>
            <p:cNvPr id="268" name="TextBox 268"/>
            <p:cNvSpPr txBox="1"/>
            <p:nvPr/>
          </p:nvSpPr>
          <p:spPr>
            <a:xfrm>
              <a:off x="6167438" y="4677489"/>
              <a:ext cx="500861" cy="154781"/>
            </a:xfrm>
            <a:prstGeom prst="rect">
              <a:avLst/>
            </a:prstGeom>
            <a:noFill/>
            <a:ln>
              <a:noFill/>
            </a:ln>
          </p:spPr>
          <p:txBody>
            <a:bodyPr wrap="none" lIns="0" tIns="0" rIns="0" bIns="0" anchor="t" anchorCtr="0">
              <a:spAutoFit/>
            </a:bodyPr>
            <a:lstStyle/>
            <a:p>
              <a:pPr algn="l"/>
              <a:r>
                <a:rPr lang="zh-CN" sz="790" b="1" dirty="0">
                  <a:solidFill>
                    <a:srgbClr val="76200F"/>
                  </a:solidFill>
                  <a:latin typeface="+mn-lt"/>
                  <a:ea typeface="+mn-ea"/>
                  <a:cs typeface="+mn-cs"/>
                </a:rPr>
                <a:t>18-36㎡​​</a:t>
              </a:r>
            </a:p>
          </p:txBody>
        </p:sp>
        <p:sp>
          <p:nvSpPr>
            <p:cNvPr id="269" name="TextBox 269"/>
            <p:cNvSpPr txBox="1"/>
            <p:nvPr/>
          </p:nvSpPr>
          <p:spPr>
            <a:xfrm>
              <a:off x="5595938" y="497538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核心配置</a:t>
              </a:r>
            </a:p>
          </p:txBody>
        </p:sp>
        <p:sp>
          <p:nvSpPr>
            <p:cNvPr id="270" name="TextBox 270"/>
            <p:cNvSpPr txBox="1"/>
            <p:nvPr/>
          </p:nvSpPr>
          <p:spPr>
            <a:xfrm>
              <a:off x="5595938" y="5112782"/>
              <a:ext cx="784936"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四大功能区完整配置</a:t>
              </a:r>
            </a:p>
          </p:txBody>
        </p:sp>
        <p:sp>
          <p:nvSpPr>
            <p:cNvPr id="271" name="TextBox 271"/>
            <p:cNvSpPr txBox="1"/>
            <p:nvPr/>
          </p:nvSpPr>
          <p:spPr>
            <a:xfrm>
              <a:off x="5595938" y="539448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建议人员</a:t>
              </a:r>
            </a:p>
          </p:txBody>
        </p:sp>
        <p:grpSp>
          <p:nvGrpSpPr>
            <p:cNvPr id="278" name="Group 278"/>
            <p:cNvGrpSpPr/>
            <p:nvPr/>
          </p:nvGrpSpPr>
          <p:grpSpPr>
            <a:xfrm>
              <a:off x="5619750" y="5543550"/>
              <a:ext cx="114300" cy="114300"/>
              <a:chOff x="5619750" y="5543550"/>
              <a:chExt cx="114300" cy="114300"/>
            </a:xfrm>
          </p:grpSpPr>
          <p:sp>
            <p:nvSpPr>
              <p:cNvPr id="272" name="Freeform 272"/>
              <p:cNvSpPr/>
              <p:nvPr/>
            </p:nvSpPr>
            <p:spPr>
              <a:xfrm>
                <a:off x="5664200" y="5594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273" name="Freeform 273"/>
              <p:cNvSpPr/>
              <p:nvPr/>
            </p:nvSpPr>
            <p:spPr>
              <a:xfrm>
                <a:off x="5651500" y="56388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76200F"/>
                </a:solidFill>
              </a:ln>
            </p:spPr>
          </p:sp>
          <p:sp>
            <p:nvSpPr>
              <p:cNvPr id="274" name="Freeform 274"/>
              <p:cNvSpPr/>
              <p:nvPr/>
            </p:nvSpPr>
            <p:spPr>
              <a:xfrm>
                <a:off x="5695950" y="55435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275" name="Freeform 275"/>
              <p:cNvSpPr/>
              <p:nvPr/>
            </p:nvSpPr>
            <p:spPr>
              <a:xfrm>
                <a:off x="5708650" y="55880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76200F"/>
                </a:solidFill>
              </a:ln>
            </p:spPr>
          </p:sp>
          <p:sp>
            <p:nvSpPr>
              <p:cNvPr id="276" name="Freeform 276"/>
              <p:cNvSpPr/>
              <p:nvPr/>
            </p:nvSpPr>
            <p:spPr>
              <a:xfrm>
                <a:off x="5632450" y="55435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277" name="Freeform 277"/>
              <p:cNvSpPr/>
              <p:nvPr/>
            </p:nvSpPr>
            <p:spPr>
              <a:xfrm>
                <a:off x="5619750" y="55880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76200F"/>
                </a:solidFill>
              </a:ln>
            </p:spPr>
          </p:sp>
        </p:grpSp>
        <p:sp>
          <p:nvSpPr>
            <p:cNvPr id="279" name="TextBox 279"/>
            <p:cNvSpPr txBox="1"/>
            <p:nvPr/>
          </p:nvSpPr>
          <p:spPr>
            <a:xfrm>
              <a:off x="5805488" y="5567362"/>
              <a:ext cx="460334"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6-10人​​</a:t>
              </a:r>
            </a:p>
          </p:txBody>
        </p:sp>
        <p:sp>
          <p:nvSpPr>
            <p:cNvPr id="280" name="TextBox 280"/>
            <p:cNvSpPr txBox="1"/>
            <p:nvPr/>
          </p:nvSpPr>
          <p:spPr>
            <a:xfrm>
              <a:off x="5595938" y="585168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适用场景</a:t>
              </a:r>
            </a:p>
          </p:txBody>
        </p:sp>
        <p:sp>
          <p:nvSpPr>
            <p:cNvPr id="281" name="TextBox 281"/>
            <p:cNvSpPr txBox="1"/>
            <p:nvPr/>
          </p:nvSpPr>
          <p:spPr>
            <a:xfrm>
              <a:off x="5595938" y="5989082"/>
              <a:ext cx="11474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514340"/>
                  </a:solidFill>
                  <a:latin typeface="+mn-lt"/>
                  <a:ea typeface="+mn-ea"/>
                  <a:cs typeface="+mn-cs"/>
                </a:rPr>
                <a:t>大型商圈、展会活动、政企合作</a:t>
              </a:r>
              <a:br/>
              <a:r>
                <a:rPr lang="zh-CN" sz="640" dirty="0">
                  <a:solidFill>
                    <a:srgbClr val="514340"/>
                  </a:solidFill>
                  <a:latin typeface="+mn-lt"/>
                  <a:ea typeface="+mn-ea"/>
                  <a:cs typeface="+mn-cs"/>
                </a:rPr>
                <a:t>兼顾品牌传播与业务转化</a:t>
              </a:r>
            </a:p>
          </p:txBody>
        </p:sp>
        <p:sp>
          <p:nvSpPr>
            <p:cNvPr id="282" name="Rectangle 282"/>
            <p:cNvSpPr/>
            <p:nvPr/>
          </p:nvSpPr>
          <p:spPr>
            <a:xfrm>
              <a:off x="8115300" y="4171950"/>
              <a:ext cx="3714750" cy="2400300"/>
            </a:xfrm>
            <a:prstGeom prst="roundRect">
              <a:avLst>
                <a:gd name="adj" fmla="val 3175"/>
              </a:avLst>
            </a:prstGeom>
            <a:solidFill>
              <a:srgbClr val="FFFFFF"/>
            </a:solidFill>
            <a:ln w="14288">
              <a:solidFill>
                <a:srgbClr val="C2E0DA"/>
              </a:solidFill>
            </a:ln>
          </p:spPr>
        </p:sp>
        <p:sp>
          <p:nvSpPr>
            <p:cNvPr id="283" name="Ellipse 283"/>
            <p:cNvSpPr/>
            <p:nvPr/>
          </p:nvSpPr>
          <p:spPr>
            <a:xfrm>
              <a:off x="8239125" y="4295775"/>
              <a:ext cx="209550" cy="209550"/>
            </a:xfrm>
            <a:prstGeom prst="ellipse">
              <a:avLst/>
            </a:prstGeom>
            <a:solidFill>
              <a:srgbClr val="5D190B"/>
            </a:solidFill>
            <a:ln>
              <a:noFill/>
            </a:ln>
          </p:spPr>
        </p:sp>
        <p:sp>
          <p:nvSpPr>
            <p:cNvPr id="284" name="TextBox 284"/>
            <p:cNvSpPr txBox="1"/>
            <p:nvPr/>
          </p:nvSpPr>
          <p:spPr>
            <a:xfrm>
              <a:off x="8247012" y="4353639"/>
              <a:ext cx="1937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03​</a:t>
              </a:r>
            </a:p>
          </p:txBody>
        </p:sp>
        <p:sp>
          <p:nvSpPr>
            <p:cNvPr id="285" name="TextBox 285"/>
            <p:cNvSpPr txBox="1"/>
            <p:nvPr/>
          </p:nvSpPr>
          <p:spPr>
            <a:xfrm>
              <a:off x="8529256" y="4338876"/>
              <a:ext cx="690118" cy="198025"/>
            </a:xfrm>
            <a:prstGeom prst="rect">
              <a:avLst/>
            </a:prstGeom>
            <a:noFill/>
            <a:ln>
              <a:noFill/>
            </a:ln>
          </p:spPr>
          <p:txBody>
            <a:bodyPr wrap="none" lIns="0" tIns="0" rIns="0" bIns="0" anchor="t" anchorCtr="0">
              <a:spAutoFit/>
            </a:bodyPr>
            <a:lstStyle/>
            <a:p>
              <a:pPr algn="l"/>
              <a:r>
                <a:rPr lang="zh-CN" sz="1010" b="1" dirty="0">
                  <a:solidFill>
                    <a:srgbClr val="331712"/>
                  </a:solidFill>
                  <a:latin typeface="+mn-lt"/>
                  <a:ea typeface="+mn-ea"/>
                  <a:cs typeface="+mn-cs"/>
                </a:rPr>
                <a:t>旗舰体验舱</a:t>
              </a:r>
            </a:p>
          </p:txBody>
        </p:sp>
        <p:sp>
          <p:nvSpPr>
            <p:cNvPr id="286" name="Rectangle 286"/>
            <p:cNvSpPr/>
            <p:nvPr/>
          </p:nvSpPr>
          <p:spPr>
            <a:xfrm>
              <a:off x="8229600" y="4610100"/>
              <a:ext cx="1143000" cy="1828800"/>
            </a:xfrm>
            <a:prstGeom prst="roundRect">
              <a:avLst>
                <a:gd name="adj" fmla="val 6667"/>
              </a:avLst>
            </a:prstGeom>
            <a:solidFill>
              <a:srgbClr val="EAF6F3"/>
            </a:solidFill>
            <a:ln>
              <a:noFill/>
            </a:ln>
          </p:spPr>
        </p:sp>
        <p:sp>
          <p:nvSpPr>
            <p:cNvPr id="287" name="Rectangle 287"/>
            <p:cNvSpPr/>
            <p:nvPr/>
          </p:nvSpPr>
          <p:spPr>
            <a:xfrm>
              <a:off x="8343900" y="4857750"/>
              <a:ext cx="933450" cy="914400"/>
            </a:xfrm>
            <a:prstGeom prst="roundRect">
              <a:avLst>
                <a:gd name="adj" fmla="val 4167"/>
              </a:avLst>
            </a:prstGeom>
            <a:solidFill>
              <a:srgbClr val="5D190B">
                <a:alpha val="90000"/>
              </a:srgbClr>
            </a:solidFill>
            <a:ln>
              <a:noFill/>
            </a:ln>
          </p:spPr>
        </p:sp>
        <p:sp>
          <p:nvSpPr>
            <p:cNvPr id="288" name="Rectangle 288"/>
            <p:cNvSpPr/>
            <p:nvPr/>
          </p:nvSpPr>
          <p:spPr>
            <a:xfrm>
              <a:off x="8286750" y="4743450"/>
              <a:ext cx="1028700" cy="133350"/>
            </a:xfrm>
            <a:prstGeom prst="rect">
              <a:avLst/>
            </a:prstGeom>
            <a:solidFill>
              <a:srgbClr val="76200F"/>
            </a:solidFill>
            <a:ln>
              <a:noFill/>
            </a:ln>
          </p:spPr>
        </p:sp>
        <p:sp>
          <p:nvSpPr>
            <p:cNvPr id="289" name="TextBox 289"/>
            <p:cNvSpPr txBox="1"/>
            <p:nvPr/>
          </p:nvSpPr>
          <p:spPr>
            <a:xfrm>
              <a:off x="8398535" y="4783455"/>
              <a:ext cx="805129"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开放金融 城市会客厅​</a:t>
              </a:r>
            </a:p>
          </p:txBody>
        </p:sp>
        <p:sp>
          <p:nvSpPr>
            <p:cNvPr id="290" name="Rectangle 290"/>
            <p:cNvSpPr/>
            <p:nvPr/>
          </p:nvSpPr>
          <p:spPr>
            <a:xfrm>
              <a:off x="8420100" y="4972050"/>
              <a:ext cx="361950" cy="247650"/>
            </a:xfrm>
            <a:prstGeom prst="rect">
              <a:avLst/>
            </a:prstGeom>
            <a:solidFill>
              <a:srgbClr val="FFFFFF">
                <a:alpha val="75000"/>
              </a:srgbClr>
            </a:solidFill>
            <a:ln>
              <a:noFill/>
            </a:ln>
          </p:spPr>
        </p:sp>
        <p:sp>
          <p:nvSpPr>
            <p:cNvPr id="291" name="Rectangle 291"/>
            <p:cNvSpPr/>
            <p:nvPr/>
          </p:nvSpPr>
          <p:spPr>
            <a:xfrm>
              <a:off x="8839200" y="4972050"/>
              <a:ext cx="361950" cy="247650"/>
            </a:xfrm>
            <a:prstGeom prst="rect">
              <a:avLst/>
            </a:prstGeom>
            <a:solidFill>
              <a:srgbClr val="FFFFFF">
                <a:alpha val="55000"/>
              </a:srgbClr>
            </a:solidFill>
            <a:ln>
              <a:noFill/>
            </a:ln>
          </p:spPr>
        </p:sp>
        <p:sp>
          <p:nvSpPr>
            <p:cNvPr id="292" name="Rectangle 292"/>
            <p:cNvSpPr/>
            <p:nvPr/>
          </p:nvSpPr>
          <p:spPr>
            <a:xfrm>
              <a:off x="8420100" y="5276850"/>
              <a:ext cx="781050" cy="114300"/>
            </a:xfrm>
            <a:prstGeom prst="rect">
              <a:avLst/>
            </a:prstGeom>
            <a:solidFill>
              <a:srgbClr val="FFFFFF">
                <a:alpha val="45000"/>
              </a:srgbClr>
            </a:solidFill>
            <a:ln>
              <a:noFill/>
            </a:ln>
          </p:spPr>
        </p:sp>
        <p:sp>
          <p:nvSpPr>
            <p:cNvPr id="293" name="Rectangle 293"/>
            <p:cNvSpPr/>
            <p:nvPr/>
          </p:nvSpPr>
          <p:spPr>
            <a:xfrm>
              <a:off x="8420100" y="5448300"/>
              <a:ext cx="781050" cy="114300"/>
            </a:xfrm>
            <a:prstGeom prst="rect">
              <a:avLst/>
            </a:prstGeom>
            <a:solidFill>
              <a:srgbClr val="FFFFFF">
                <a:alpha val="30000"/>
              </a:srgbClr>
            </a:solidFill>
            <a:ln>
              <a:noFill/>
            </a:ln>
          </p:spPr>
        </p:sp>
        <p:sp>
          <p:nvSpPr>
            <p:cNvPr id="294" name="Rectangle 294"/>
            <p:cNvSpPr/>
            <p:nvPr/>
          </p:nvSpPr>
          <p:spPr>
            <a:xfrm>
              <a:off x="8591550" y="5829300"/>
              <a:ext cx="457200" cy="304800"/>
            </a:xfrm>
            <a:prstGeom prst="roundRect">
              <a:avLst>
                <a:gd name="adj" fmla="val 9375"/>
              </a:avLst>
            </a:prstGeom>
            <a:solidFill>
              <a:srgbClr val="76200F"/>
            </a:solidFill>
            <a:ln>
              <a:noFill/>
            </a:ln>
          </p:spPr>
        </p:sp>
        <p:sp>
          <p:nvSpPr>
            <p:cNvPr id="295" name="TextBox 295"/>
            <p:cNvSpPr txBox="1"/>
            <p:nvPr/>
          </p:nvSpPr>
          <p:spPr>
            <a:xfrm>
              <a:off x="9482138" y="468963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面积建议</a:t>
              </a:r>
            </a:p>
          </p:txBody>
        </p:sp>
        <p:sp>
          <p:nvSpPr>
            <p:cNvPr id="296" name="TextBox 296"/>
            <p:cNvSpPr txBox="1"/>
            <p:nvPr/>
          </p:nvSpPr>
          <p:spPr>
            <a:xfrm>
              <a:off x="10053638" y="4677489"/>
              <a:ext cx="819910" cy="154781"/>
            </a:xfrm>
            <a:prstGeom prst="rect">
              <a:avLst/>
            </a:prstGeom>
            <a:noFill/>
            <a:ln>
              <a:noFill/>
            </a:ln>
          </p:spPr>
          <p:txBody>
            <a:bodyPr wrap="none" lIns="0" tIns="0" rIns="0" bIns="0" anchor="t" anchorCtr="0">
              <a:spAutoFit/>
            </a:bodyPr>
            <a:lstStyle/>
            <a:p>
              <a:pPr algn="l"/>
              <a:r>
                <a:rPr lang="zh-CN" sz="790" b="1" dirty="0">
                  <a:solidFill>
                    <a:srgbClr val="76200F"/>
                  </a:solidFill>
                  <a:latin typeface="+mn-lt"/>
                  <a:ea typeface="+mn-ea"/>
                  <a:cs typeface="+mn-cs"/>
                </a:rPr>
                <a:t>36-60㎡及以上​​</a:t>
              </a:r>
            </a:p>
          </p:txBody>
        </p:sp>
        <p:sp>
          <p:nvSpPr>
            <p:cNvPr id="297" name="TextBox 297"/>
            <p:cNvSpPr txBox="1"/>
            <p:nvPr/>
          </p:nvSpPr>
          <p:spPr>
            <a:xfrm>
              <a:off x="9482138" y="497538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核心配置</a:t>
              </a:r>
            </a:p>
          </p:txBody>
        </p:sp>
        <p:sp>
          <p:nvSpPr>
            <p:cNvPr id="298" name="TextBox 298"/>
            <p:cNvSpPr txBox="1"/>
            <p:nvPr/>
          </p:nvSpPr>
          <p:spPr>
            <a:xfrm>
              <a:off x="9482138" y="5112782"/>
              <a:ext cx="1476710"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沉浸式体验、VIP洽谈区、综合办理区​</a:t>
              </a:r>
            </a:p>
          </p:txBody>
        </p:sp>
        <p:sp>
          <p:nvSpPr>
            <p:cNvPr id="299" name="TextBox 299"/>
            <p:cNvSpPr txBox="1"/>
            <p:nvPr/>
          </p:nvSpPr>
          <p:spPr>
            <a:xfrm>
              <a:off x="9482138" y="539448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建议人员</a:t>
              </a:r>
            </a:p>
          </p:txBody>
        </p:sp>
        <p:grpSp>
          <p:nvGrpSpPr>
            <p:cNvPr id="306" name="Group 306"/>
            <p:cNvGrpSpPr/>
            <p:nvPr/>
          </p:nvGrpSpPr>
          <p:grpSpPr>
            <a:xfrm>
              <a:off x="9505950" y="5543550"/>
              <a:ext cx="114300" cy="114300"/>
              <a:chOff x="9505950" y="5543550"/>
              <a:chExt cx="114300" cy="114300"/>
            </a:xfrm>
          </p:grpSpPr>
          <p:sp>
            <p:nvSpPr>
              <p:cNvPr id="300" name="Freeform 300"/>
              <p:cNvSpPr/>
              <p:nvPr/>
            </p:nvSpPr>
            <p:spPr>
              <a:xfrm>
                <a:off x="9550400" y="5594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301" name="Freeform 301"/>
              <p:cNvSpPr/>
              <p:nvPr/>
            </p:nvSpPr>
            <p:spPr>
              <a:xfrm>
                <a:off x="9537700" y="56388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76200F"/>
                </a:solidFill>
              </a:ln>
            </p:spPr>
          </p:sp>
          <p:sp>
            <p:nvSpPr>
              <p:cNvPr id="302" name="Freeform 302"/>
              <p:cNvSpPr/>
              <p:nvPr/>
            </p:nvSpPr>
            <p:spPr>
              <a:xfrm>
                <a:off x="9582150" y="55435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303" name="Freeform 303"/>
              <p:cNvSpPr/>
              <p:nvPr/>
            </p:nvSpPr>
            <p:spPr>
              <a:xfrm>
                <a:off x="9594850" y="55880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76200F"/>
                </a:solidFill>
              </a:ln>
            </p:spPr>
          </p:sp>
          <p:sp>
            <p:nvSpPr>
              <p:cNvPr id="304" name="Freeform 304"/>
              <p:cNvSpPr/>
              <p:nvPr/>
            </p:nvSpPr>
            <p:spPr>
              <a:xfrm>
                <a:off x="9518650" y="55435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305" name="Freeform 305"/>
              <p:cNvSpPr/>
              <p:nvPr/>
            </p:nvSpPr>
            <p:spPr>
              <a:xfrm>
                <a:off x="9505950" y="55880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76200F"/>
                </a:solidFill>
              </a:ln>
            </p:spPr>
          </p:sp>
        </p:grpSp>
        <p:sp>
          <p:nvSpPr>
            <p:cNvPr id="307" name="TextBox 307"/>
            <p:cNvSpPr txBox="1"/>
            <p:nvPr/>
          </p:nvSpPr>
          <p:spPr>
            <a:xfrm>
              <a:off x="9691688" y="5567362"/>
              <a:ext cx="518641"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10-15人​​</a:t>
              </a:r>
            </a:p>
          </p:txBody>
        </p:sp>
        <p:sp>
          <p:nvSpPr>
            <p:cNvPr id="308" name="TextBox 308"/>
            <p:cNvSpPr txBox="1"/>
            <p:nvPr/>
          </p:nvSpPr>
          <p:spPr>
            <a:xfrm>
              <a:off x="9482138" y="5851684"/>
              <a:ext cx="375691"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适用场景</a:t>
              </a:r>
            </a:p>
          </p:txBody>
        </p:sp>
        <p:sp>
          <p:nvSpPr>
            <p:cNvPr id="309" name="TextBox 309"/>
            <p:cNvSpPr txBox="1"/>
            <p:nvPr/>
          </p:nvSpPr>
          <p:spPr>
            <a:xfrm>
              <a:off x="9482138" y="5989082"/>
              <a:ext cx="11474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514340"/>
                  </a:solidFill>
                  <a:latin typeface="+mn-lt"/>
                  <a:ea typeface="+mn-ea"/>
                  <a:cs typeface="+mn-cs"/>
                </a:rPr>
                <a:t>城市级营销活动、重要客群活动</a:t>
              </a:r>
              <a:br/>
              <a:r>
                <a:rPr lang="zh-CN" sz="640" dirty="0">
                  <a:solidFill>
                    <a:srgbClr val="514340"/>
                  </a:solidFill>
                  <a:latin typeface="+mn-lt"/>
                  <a:ea typeface="+mn-ea"/>
                  <a:cs typeface="+mn-cs"/>
                </a:rPr>
                <a:t>产品发布、生态合作展示</a:t>
              </a:r>
            </a:p>
          </p:txBody>
        </p:sp>
      </p:gr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08​</a:t>
              </a:r>
            </a:p>
          </p:txBody>
        </p:sp>
        <p:sp>
          <p:nvSpPr>
            <p:cNvPr id="4" name="TextBox 4"/>
            <p:cNvSpPr txBox="1"/>
            <p:nvPr/>
          </p:nvSpPr>
          <p:spPr>
            <a:xfrm>
              <a:off x="904494" y="170498"/>
              <a:ext cx="5532501"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触点动线</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客户停留的每一分钟都要有明确任务</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08​</a:t>
              </a:r>
            </a:p>
          </p:txBody>
        </p:sp>
      </p:grpSp>
      <p:grpSp>
        <p:nvGrpSpPr>
          <p:cNvPr id="46" name="funnel-kpi"/>
          <p:cNvGrpSpPr/>
          <p:nvPr/>
        </p:nvGrpSpPr>
        <p:grpSpPr>
          <a:xfrm>
            <a:off x="342900" y="685800"/>
            <a:ext cx="7848600" cy="876300"/>
            <a:chOff x="342900" y="685800"/>
            <a:chExt cx="7848600" cy="876300"/>
          </a:xfrm>
        </p:grpSpPr>
        <p:sp>
          <p:nvSpPr>
            <p:cNvPr id="8" name="Rectangle 8"/>
            <p:cNvSpPr/>
            <p:nvPr/>
          </p:nvSpPr>
          <p:spPr>
            <a:xfrm>
              <a:off x="342900" y="685800"/>
              <a:ext cx="1524000" cy="876300"/>
            </a:xfrm>
            <a:prstGeom prst="roundRect">
              <a:avLst>
                <a:gd name="adj" fmla="val 8696"/>
              </a:avLst>
            </a:prstGeom>
            <a:solidFill>
              <a:srgbClr val="F0FAF8"/>
            </a:solidFill>
            <a:ln w="9525">
              <a:solidFill>
                <a:srgbClr val="C2E0DA"/>
              </a:solidFill>
            </a:ln>
          </p:spPr>
        </p:sp>
        <p:grpSp>
          <p:nvGrpSpPr>
            <p:cNvPr id="13" name="Group 13"/>
            <p:cNvGrpSpPr/>
            <p:nvPr/>
          </p:nvGrpSpPr>
          <p:grpSpPr>
            <a:xfrm>
              <a:off x="457200" y="800100"/>
              <a:ext cx="114300" cy="114301"/>
              <a:chOff x="457200" y="800100"/>
              <a:chExt cx="114300" cy="114301"/>
            </a:xfrm>
          </p:grpSpPr>
          <p:sp>
            <p:nvSpPr>
              <p:cNvPr id="9" name="Freeform 9"/>
              <p:cNvSpPr/>
              <p:nvPr/>
            </p:nvSpPr>
            <p:spPr>
              <a:xfrm>
                <a:off x="469900" y="8001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6200F"/>
                </a:solidFill>
              </a:ln>
            </p:spPr>
          </p:sp>
          <p:sp>
            <p:nvSpPr>
              <p:cNvPr id="10" name="Freeform 10"/>
              <p:cNvSpPr/>
              <p:nvPr/>
            </p:nvSpPr>
            <p:spPr>
              <a:xfrm>
                <a:off x="457200" y="8763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76200F"/>
                </a:solidFill>
              </a:ln>
            </p:spPr>
          </p:sp>
          <p:sp>
            <p:nvSpPr>
              <p:cNvPr id="11" name="Freeform 11"/>
              <p:cNvSpPr/>
              <p:nvPr/>
            </p:nvSpPr>
            <p:spPr>
              <a:xfrm>
                <a:off x="539750" y="8009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76200F"/>
                </a:solidFill>
              </a:ln>
            </p:spPr>
          </p:sp>
          <p:sp>
            <p:nvSpPr>
              <p:cNvPr id="12" name="Freeform 12"/>
              <p:cNvSpPr/>
              <p:nvPr/>
            </p:nvSpPr>
            <p:spPr>
              <a:xfrm>
                <a:off x="552450" y="8772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76200F"/>
                </a:solidFill>
              </a:ln>
            </p:spPr>
          </p:sp>
        </p:grpSp>
        <p:sp>
          <p:nvSpPr>
            <p:cNvPr id="14" name="TextBox 14"/>
            <p:cNvSpPr txBox="1"/>
            <p:nvPr/>
          </p:nvSpPr>
          <p:spPr>
            <a:xfrm>
              <a:off x="642938" y="815816"/>
              <a:ext cx="451079"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进展位率</a:t>
              </a:r>
            </a:p>
          </p:txBody>
        </p:sp>
        <p:sp>
          <p:nvSpPr>
            <p:cNvPr id="15" name="TextBox 15"/>
            <p:cNvSpPr txBox="1"/>
            <p:nvPr/>
          </p:nvSpPr>
          <p:spPr>
            <a:xfrm>
              <a:off x="430530" y="1038225"/>
              <a:ext cx="524104" cy="293370"/>
            </a:xfrm>
            <a:prstGeom prst="rect">
              <a:avLst/>
            </a:prstGeom>
            <a:noFill/>
            <a:ln>
              <a:noFill/>
            </a:ln>
          </p:spPr>
          <p:txBody>
            <a:bodyPr wrap="none" lIns="0" tIns="0" rIns="0" bIns="0" anchor="t" anchorCtr="0">
              <a:spAutoFit/>
            </a:bodyPr>
            <a:lstStyle/>
            <a:p>
              <a:pPr algn="l"/>
              <a:r>
                <a:rPr lang="zh-CN" sz="1500" b="1" dirty="0">
                  <a:solidFill>
                    <a:srgbClr val="76200F"/>
                  </a:solidFill>
                  <a:latin typeface="+mn-lt"/>
                  <a:ea typeface="+mn-ea"/>
                  <a:cs typeface="+mn-cs"/>
                </a:rPr>
                <a:t>68%​</a:t>
              </a:r>
            </a:p>
          </p:txBody>
        </p:sp>
        <p:sp>
          <p:nvSpPr>
            <p:cNvPr id="16" name="TextBox 16"/>
            <p:cNvSpPr txBox="1"/>
            <p:nvPr/>
          </p:nvSpPr>
          <p:spPr>
            <a:xfrm>
              <a:off x="433388" y="1325880"/>
              <a:ext cx="1035329"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到达展位人数 / 过往人流量​</a:t>
              </a:r>
            </a:p>
          </p:txBody>
        </p:sp>
        <p:sp>
          <p:nvSpPr>
            <p:cNvPr id="17" name="Rectangle 17"/>
            <p:cNvSpPr/>
            <p:nvPr/>
          </p:nvSpPr>
          <p:spPr>
            <a:xfrm>
              <a:off x="1924050" y="685800"/>
              <a:ext cx="1524000" cy="876300"/>
            </a:xfrm>
            <a:prstGeom prst="roundRect">
              <a:avLst>
                <a:gd name="adj" fmla="val 8696"/>
              </a:avLst>
            </a:prstGeom>
            <a:solidFill>
              <a:srgbClr val="F0FAF8"/>
            </a:solidFill>
            <a:ln w="9525">
              <a:solidFill>
                <a:srgbClr val="C2E0DA"/>
              </a:solidFill>
            </a:ln>
          </p:spPr>
        </p:sp>
        <p:sp>
          <p:nvSpPr>
            <p:cNvPr id="18" name="Freeform 18"/>
            <p:cNvSpPr/>
            <p:nvPr/>
          </p:nvSpPr>
          <p:spPr>
            <a:xfrm>
              <a:off x="2038350" y="80010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76200F"/>
              </a:solidFill>
            </a:ln>
          </p:spPr>
        </p:sp>
        <p:sp>
          <p:nvSpPr>
            <p:cNvPr id="19" name="TextBox 19"/>
            <p:cNvSpPr txBox="1"/>
            <p:nvPr/>
          </p:nvSpPr>
          <p:spPr>
            <a:xfrm>
              <a:off x="2224088" y="815816"/>
              <a:ext cx="561467"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互动完成率</a:t>
              </a:r>
            </a:p>
          </p:txBody>
        </p:sp>
        <p:sp>
          <p:nvSpPr>
            <p:cNvPr id="20" name="TextBox 20"/>
            <p:cNvSpPr txBox="1"/>
            <p:nvPr/>
          </p:nvSpPr>
          <p:spPr>
            <a:xfrm>
              <a:off x="2011680" y="1038225"/>
              <a:ext cx="524104" cy="293370"/>
            </a:xfrm>
            <a:prstGeom prst="rect">
              <a:avLst/>
            </a:prstGeom>
            <a:noFill/>
            <a:ln>
              <a:noFill/>
            </a:ln>
          </p:spPr>
          <p:txBody>
            <a:bodyPr wrap="none" lIns="0" tIns="0" rIns="0" bIns="0" anchor="t" anchorCtr="0">
              <a:spAutoFit/>
            </a:bodyPr>
            <a:lstStyle/>
            <a:p>
              <a:pPr algn="l"/>
              <a:r>
                <a:rPr lang="zh-CN" sz="1500" b="1" dirty="0">
                  <a:solidFill>
                    <a:srgbClr val="76200F"/>
                  </a:solidFill>
                  <a:latin typeface="+mn-lt"/>
                  <a:ea typeface="+mn-ea"/>
                  <a:cs typeface="+mn-cs"/>
                </a:rPr>
                <a:t>52%​</a:t>
              </a:r>
            </a:p>
          </p:txBody>
        </p:sp>
        <p:sp>
          <p:nvSpPr>
            <p:cNvPr id="21" name="TextBox 21"/>
            <p:cNvSpPr txBox="1"/>
            <p:nvPr/>
          </p:nvSpPr>
          <p:spPr>
            <a:xfrm>
              <a:off x="2014538" y="1325880"/>
              <a:ext cx="1358417"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完成首个互动任务人数 / 进展位人数​</a:t>
              </a:r>
            </a:p>
          </p:txBody>
        </p:sp>
        <p:sp>
          <p:nvSpPr>
            <p:cNvPr id="22" name="Rectangle 22"/>
            <p:cNvSpPr/>
            <p:nvPr/>
          </p:nvSpPr>
          <p:spPr>
            <a:xfrm>
              <a:off x="3505200" y="685800"/>
              <a:ext cx="1524000" cy="876300"/>
            </a:xfrm>
            <a:prstGeom prst="roundRect">
              <a:avLst>
                <a:gd name="adj" fmla="val 8696"/>
              </a:avLst>
            </a:prstGeom>
            <a:solidFill>
              <a:srgbClr val="F0FAF8"/>
            </a:solidFill>
            <a:ln w="9525">
              <a:solidFill>
                <a:srgbClr val="C2E0DA"/>
              </a:solidFill>
            </a:ln>
          </p:spPr>
        </p:sp>
        <p:grpSp>
          <p:nvGrpSpPr>
            <p:cNvPr id="25" name="Group 25"/>
            <p:cNvGrpSpPr/>
            <p:nvPr/>
          </p:nvGrpSpPr>
          <p:grpSpPr>
            <a:xfrm>
              <a:off x="3610930" y="800100"/>
              <a:ext cx="124004" cy="114300"/>
              <a:chOff x="3610930" y="800100"/>
              <a:chExt cx="124004" cy="114300"/>
            </a:xfrm>
          </p:grpSpPr>
          <p:sp>
            <p:nvSpPr>
              <p:cNvPr id="23" name="Freeform 23"/>
              <p:cNvSpPr/>
              <p:nvPr/>
            </p:nvSpPr>
            <p:spPr>
              <a:xfrm>
                <a:off x="3610930" y="80010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76200F"/>
                </a:solidFill>
              </a:ln>
            </p:spPr>
          </p:sp>
          <p:sp>
            <p:nvSpPr>
              <p:cNvPr id="24" name="Freeform 24"/>
              <p:cNvSpPr/>
              <p:nvPr/>
            </p:nvSpPr>
            <p:spPr>
              <a:xfrm>
                <a:off x="3695700" y="889000"/>
                <a:ext cx="38100" cy="25400"/>
              </a:xfrm>
              <a:custGeom>
                <a:avLst/>
                <a:gdLst/>
                <a:ahLst/>
                <a:cxnLst/>
                <a:rect l="l" t="t" r="r" b="b"/>
                <a:pathLst>
                  <a:path w="38100" h="25400">
                    <a:moveTo>
                      <a:pt x="0" y="12700"/>
                    </a:moveTo>
                    <a:lnTo>
                      <a:pt x="12700" y="25400"/>
                    </a:lnTo>
                    <a:lnTo>
                      <a:pt x="38100" y="0"/>
                    </a:lnTo>
                  </a:path>
                </a:pathLst>
              </a:custGeom>
              <a:noFill/>
              <a:ln w="12700">
                <a:solidFill>
                  <a:srgbClr val="76200F"/>
                </a:solidFill>
              </a:ln>
            </p:spPr>
          </p:sp>
        </p:grpSp>
        <p:sp>
          <p:nvSpPr>
            <p:cNvPr id="26" name="TextBox 26"/>
            <p:cNvSpPr txBox="1"/>
            <p:nvPr/>
          </p:nvSpPr>
          <p:spPr>
            <a:xfrm>
              <a:off x="3805238" y="815816"/>
              <a:ext cx="340690"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授权率</a:t>
              </a:r>
            </a:p>
          </p:txBody>
        </p:sp>
        <p:sp>
          <p:nvSpPr>
            <p:cNvPr id="27" name="TextBox 27"/>
            <p:cNvSpPr txBox="1"/>
            <p:nvPr/>
          </p:nvSpPr>
          <p:spPr>
            <a:xfrm>
              <a:off x="3592830" y="1038225"/>
              <a:ext cx="524104" cy="293370"/>
            </a:xfrm>
            <a:prstGeom prst="rect">
              <a:avLst/>
            </a:prstGeom>
            <a:noFill/>
            <a:ln>
              <a:noFill/>
            </a:ln>
          </p:spPr>
          <p:txBody>
            <a:bodyPr wrap="none" lIns="0" tIns="0" rIns="0" bIns="0" anchor="t" anchorCtr="0">
              <a:spAutoFit/>
            </a:bodyPr>
            <a:lstStyle/>
            <a:p>
              <a:pPr algn="l"/>
              <a:r>
                <a:rPr lang="zh-CN" sz="1500" b="1" dirty="0">
                  <a:solidFill>
                    <a:srgbClr val="76200F"/>
                  </a:solidFill>
                  <a:latin typeface="+mn-lt"/>
                  <a:ea typeface="+mn-ea"/>
                  <a:cs typeface="+mn-cs"/>
                </a:rPr>
                <a:t>38%​</a:t>
              </a:r>
            </a:p>
          </p:txBody>
        </p:sp>
        <p:sp>
          <p:nvSpPr>
            <p:cNvPr id="28" name="TextBox 28"/>
            <p:cNvSpPr txBox="1"/>
            <p:nvPr/>
          </p:nvSpPr>
          <p:spPr>
            <a:xfrm>
              <a:off x="3595688" y="1325880"/>
              <a:ext cx="1116101"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同意授权人数 / 互动完成人数​</a:t>
              </a:r>
            </a:p>
          </p:txBody>
        </p:sp>
        <p:sp>
          <p:nvSpPr>
            <p:cNvPr id="29" name="Rectangle 29"/>
            <p:cNvSpPr/>
            <p:nvPr/>
          </p:nvSpPr>
          <p:spPr>
            <a:xfrm>
              <a:off x="5086350" y="685800"/>
              <a:ext cx="1524000" cy="876300"/>
            </a:xfrm>
            <a:prstGeom prst="roundRect">
              <a:avLst>
                <a:gd name="adj" fmla="val 8696"/>
              </a:avLst>
            </a:prstGeom>
            <a:solidFill>
              <a:srgbClr val="F0FAF8"/>
            </a:solidFill>
            <a:ln w="9525">
              <a:solidFill>
                <a:srgbClr val="C2E0DA"/>
              </a:solidFill>
            </a:ln>
          </p:spPr>
        </p:sp>
        <p:grpSp>
          <p:nvGrpSpPr>
            <p:cNvPr id="35" name="Group 35"/>
            <p:cNvGrpSpPr/>
            <p:nvPr/>
          </p:nvGrpSpPr>
          <p:grpSpPr>
            <a:xfrm>
              <a:off x="5213350" y="800100"/>
              <a:ext cx="88900" cy="114300"/>
              <a:chOff x="5213350" y="800100"/>
              <a:chExt cx="88900" cy="114300"/>
            </a:xfrm>
          </p:grpSpPr>
          <p:sp>
            <p:nvSpPr>
              <p:cNvPr id="30" name="Freeform 30"/>
              <p:cNvSpPr/>
              <p:nvPr/>
            </p:nvSpPr>
            <p:spPr>
              <a:xfrm>
                <a:off x="5270500" y="8001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76200F"/>
                </a:solidFill>
              </a:ln>
            </p:spPr>
          </p:sp>
          <p:sp>
            <p:nvSpPr>
              <p:cNvPr id="31" name="Freeform 31"/>
              <p:cNvSpPr/>
              <p:nvPr/>
            </p:nvSpPr>
            <p:spPr>
              <a:xfrm>
                <a:off x="5213350" y="8001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76200F"/>
                </a:solidFill>
              </a:ln>
            </p:spPr>
          </p:sp>
          <p:sp>
            <p:nvSpPr>
              <p:cNvPr id="32" name="Freeform 32"/>
              <p:cNvSpPr/>
              <p:nvPr/>
            </p:nvSpPr>
            <p:spPr>
              <a:xfrm>
                <a:off x="5238750" y="838200"/>
                <a:ext cx="9525" cy="9525"/>
              </a:xfrm>
              <a:custGeom>
                <a:avLst/>
                <a:gdLst/>
                <a:ahLst/>
                <a:cxnLst/>
                <a:rect l="l" t="t" r="r" b="b"/>
                <a:pathLst>
                  <a:path w="9525" h="9525">
                    <a:moveTo>
                      <a:pt x="0" y="0"/>
                    </a:moveTo>
                    <a:lnTo>
                      <a:pt x="6350" y="0"/>
                    </a:lnTo>
                  </a:path>
                </a:pathLst>
              </a:custGeom>
              <a:noFill/>
              <a:ln w="12700">
                <a:solidFill>
                  <a:srgbClr val="76200F"/>
                </a:solidFill>
              </a:ln>
            </p:spPr>
          </p:sp>
          <p:sp>
            <p:nvSpPr>
              <p:cNvPr id="33" name="Freeform 33"/>
              <p:cNvSpPr/>
              <p:nvPr/>
            </p:nvSpPr>
            <p:spPr>
              <a:xfrm>
                <a:off x="5238750" y="863600"/>
                <a:ext cx="38100" cy="9525"/>
              </a:xfrm>
              <a:custGeom>
                <a:avLst/>
                <a:gdLst/>
                <a:ahLst/>
                <a:cxnLst/>
                <a:rect l="l" t="t" r="r" b="b"/>
                <a:pathLst>
                  <a:path w="38100" h="9525">
                    <a:moveTo>
                      <a:pt x="0" y="0"/>
                    </a:moveTo>
                    <a:lnTo>
                      <a:pt x="38100" y="0"/>
                    </a:lnTo>
                  </a:path>
                </a:pathLst>
              </a:custGeom>
              <a:noFill/>
              <a:ln w="12700">
                <a:solidFill>
                  <a:srgbClr val="76200F"/>
                </a:solidFill>
              </a:ln>
            </p:spPr>
          </p:sp>
          <p:sp>
            <p:nvSpPr>
              <p:cNvPr id="34" name="Freeform 34"/>
              <p:cNvSpPr/>
              <p:nvPr/>
            </p:nvSpPr>
            <p:spPr>
              <a:xfrm>
                <a:off x="5238750" y="889000"/>
                <a:ext cx="38100" cy="9525"/>
              </a:xfrm>
              <a:custGeom>
                <a:avLst/>
                <a:gdLst/>
                <a:ahLst/>
                <a:cxnLst/>
                <a:rect l="l" t="t" r="r" b="b"/>
                <a:pathLst>
                  <a:path w="38100" h="9525">
                    <a:moveTo>
                      <a:pt x="0" y="0"/>
                    </a:moveTo>
                    <a:lnTo>
                      <a:pt x="38100" y="0"/>
                    </a:lnTo>
                  </a:path>
                </a:pathLst>
              </a:custGeom>
              <a:noFill/>
              <a:ln w="12700">
                <a:solidFill>
                  <a:srgbClr val="76200F"/>
                </a:solidFill>
              </a:ln>
            </p:spPr>
          </p:sp>
        </p:grpSp>
        <p:sp>
          <p:nvSpPr>
            <p:cNvPr id="36" name="TextBox 36"/>
            <p:cNvSpPr txBox="1"/>
            <p:nvPr/>
          </p:nvSpPr>
          <p:spPr>
            <a:xfrm>
              <a:off x="5386388" y="815816"/>
              <a:ext cx="561467"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有效留资率</a:t>
              </a:r>
            </a:p>
          </p:txBody>
        </p:sp>
        <p:sp>
          <p:nvSpPr>
            <p:cNvPr id="37" name="TextBox 37"/>
            <p:cNvSpPr txBox="1"/>
            <p:nvPr/>
          </p:nvSpPr>
          <p:spPr>
            <a:xfrm>
              <a:off x="5173980" y="1038225"/>
              <a:ext cx="524104" cy="293370"/>
            </a:xfrm>
            <a:prstGeom prst="rect">
              <a:avLst/>
            </a:prstGeom>
            <a:noFill/>
            <a:ln>
              <a:noFill/>
            </a:ln>
          </p:spPr>
          <p:txBody>
            <a:bodyPr wrap="none" lIns="0" tIns="0" rIns="0" bIns="0" anchor="t" anchorCtr="0">
              <a:spAutoFit/>
            </a:bodyPr>
            <a:lstStyle/>
            <a:p>
              <a:pPr algn="l"/>
              <a:r>
                <a:rPr lang="zh-CN" sz="1500" b="1" dirty="0">
                  <a:solidFill>
                    <a:srgbClr val="76200F"/>
                  </a:solidFill>
                  <a:latin typeface="+mn-lt"/>
                  <a:ea typeface="+mn-ea"/>
                  <a:cs typeface="+mn-cs"/>
                </a:rPr>
                <a:t>28%​</a:t>
              </a:r>
            </a:p>
          </p:txBody>
        </p:sp>
        <p:sp>
          <p:nvSpPr>
            <p:cNvPr id="38" name="TextBox 38"/>
            <p:cNvSpPr txBox="1"/>
            <p:nvPr/>
          </p:nvSpPr>
          <p:spPr>
            <a:xfrm>
              <a:off x="5176838" y="1325880"/>
              <a:ext cx="1116101"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有效留资人数 / 互动完成人数​</a:t>
              </a:r>
            </a:p>
          </p:txBody>
        </p:sp>
        <p:sp>
          <p:nvSpPr>
            <p:cNvPr id="39" name="Rectangle 39"/>
            <p:cNvSpPr/>
            <p:nvPr/>
          </p:nvSpPr>
          <p:spPr>
            <a:xfrm>
              <a:off x="6667500" y="685800"/>
              <a:ext cx="1524000" cy="876300"/>
            </a:xfrm>
            <a:prstGeom prst="roundRect">
              <a:avLst>
                <a:gd name="adj" fmla="val 8696"/>
              </a:avLst>
            </a:prstGeom>
            <a:solidFill>
              <a:srgbClr val="F0FAF8"/>
            </a:solidFill>
            <a:ln w="9525">
              <a:solidFill>
                <a:srgbClr val="C2E0DA"/>
              </a:solidFill>
            </a:ln>
          </p:spPr>
        </p:sp>
        <p:grpSp>
          <p:nvGrpSpPr>
            <p:cNvPr id="42" name="Group 42"/>
            <p:cNvGrpSpPr/>
            <p:nvPr/>
          </p:nvGrpSpPr>
          <p:grpSpPr>
            <a:xfrm>
              <a:off x="6781800" y="825500"/>
              <a:ext cx="114300" cy="63500"/>
              <a:chOff x="6781800" y="825500"/>
              <a:chExt cx="114300" cy="63500"/>
            </a:xfrm>
          </p:grpSpPr>
          <p:sp>
            <p:nvSpPr>
              <p:cNvPr id="40" name="Freeform 40"/>
              <p:cNvSpPr/>
              <p:nvPr/>
            </p:nvSpPr>
            <p:spPr>
              <a:xfrm>
                <a:off x="6781800" y="82550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76200F"/>
                </a:solidFill>
              </a:ln>
            </p:spPr>
          </p:sp>
          <p:sp>
            <p:nvSpPr>
              <p:cNvPr id="41" name="Freeform 41"/>
              <p:cNvSpPr/>
              <p:nvPr/>
            </p:nvSpPr>
            <p:spPr>
              <a:xfrm>
                <a:off x="6851650" y="825500"/>
                <a:ext cx="44450" cy="44450"/>
              </a:xfrm>
              <a:custGeom>
                <a:avLst/>
                <a:gdLst/>
                <a:ahLst/>
                <a:cxnLst/>
                <a:rect l="l" t="t" r="r" b="b"/>
                <a:pathLst>
                  <a:path w="44450" h="44450">
                    <a:moveTo>
                      <a:pt x="0" y="0"/>
                    </a:moveTo>
                    <a:lnTo>
                      <a:pt x="44450" y="0"/>
                    </a:lnTo>
                    <a:lnTo>
                      <a:pt x="44450" y="44450"/>
                    </a:lnTo>
                  </a:path>
                </a:pathLst>
              </a:custGeom>
              <a:noFill/>
              <a:ln w="12700">
                <a:solidFill>
                  <a:srgbClr val="76200F"/>
                </a:solidFill>
              </a:ln>
            </p:spPr>
          </p:sp>
        </p:grpSp>
        <p:sp>
          <p:nvSpPr>
            <p:cNvPr id="43" name="TextBox 43"/>
            <p:cNvSpPr txBox="1"/>
            <p:nvPr/>
          </p:nvSpPr>
          <p:spPr>
            <a:xfrm>
              <a:off x="6967538" y="815816"/>
              <a:ext cx="561467"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线上激活率</a:t>
              </a:r>
            </a:p>
          </p:txBody>
        </p:sp>
        <p:sp>
          <p:nvSpPr>
            <p:cNvPr id="44" name="TextBox 44"/>
            <p:cNvSpPr txBox="1"/>
            <p:nvPr/>
          </p:nvSpPr>
          <p:spPr>
            <a:xfrm>
              <a:off x="6755130" y="1038225"/>
              <a:ext cx="524104" cy="293370"/>
            </a:xfrm>
            <a:prstGeom prst="rect">
              <a:avLst/>
            </a:prstGeom>
            <a:noFill/>
            <a:ln>
              <a:noFill/>
            </a:ln>
          </p:spPr>
          <p:txBody>
            <a:bodyPr wrap="none" lIns="0" tIns="0" rIns="0" bIns="0" anchor="t" anchorCtr="0">
              <a:spAutoFit/>
            </a:bodyPr>
            <a:lstStyle/>
            <a:p>
              <a:pPr algn="l"/>
              <a:r>
                <a:rPr lang="zh-CN" sz="1500" b="1" dirty="0">
                  <a:solidFill>
                    <a:srgbClr val="76200F"/>
                  </a:solidFill>
                  <a:latin typeface="+mn-lt"/>
                  <a:ea typeface="+mn-ea"/>
                  <a:cs typeface="+mn-cs"/>
                </a:rPr>
                <a:t>18%​</a:t>
              </a:r>
            </a:p>
          </p:txBody>
        </p:sp>
        <p:sp>
          <p:nvSpPr>
            <p:cNvPr id="45" name="TextBox 45"/>
            <p:cNvSpPr txBox="1"/>
            <p:nvPr/>
          </p:nvSpPr>
          <p:spPr>
            <a:xfrm>
              <a:off x="6757988" y="1325880"/>
              <a:ext cx="1116101"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线上激活人数 / 有效留资人数​</a:t>
              </a:r>
            </a:p>
          </p:txBody>
        </p:sp>
      </p:grpSp>
      <p:grpSp>
        <p:nvGrpSpPr>
          <p:cNvPr id="151" name="flow-matrix"/>
          <p:cNvGrpSpPr/>
          <p:nvPr/>
        </p:nvGrpSpPr>
        <p:grpSpPr>
          <a:xfrm>
            <a:off x="342900" y="1695450"/>
            <a:ext cx="8001000" cy="2505456"/>
            <a:chOff x="342900" y="1695450"/>
            <a:chExt cx="8001000" cy="2505456"/>
          </a:xfrm>
        </p:grpSpPr>
        <p:sp>
          <p:nvSpPr>
            <p:cNvPr id="47" name="Freeform 47"/>
            <p:cNvSpPr/>
            <p:nvPr/>
          </p:nvSpPr>
          <p:spPr>
            <a:xfrm>
              <a:off x="914400" y="1695450"/>
              <a:ext cx="1009650" cy="285750"/>
            </a:xfrm>
            <a:prstGeom prst="chevron">
              <a:avLst/>
            </a:prstGeom>
            <a:solidFill>
              <a:srgbClr val="C68679"/>
            </a:solidFill>
            <a:ln>
              <a:noFill/>
            </a:ln>
          </p:spPr>
        </p:sp>
        <p:sp>
          <p:nvSpPr>
            <p:cNvPr id="48" name="TextBox 48"/>
            <p:cNvSpPr txBox="1"/>
            <p:nvPr/>
          </p:nvSpPr>
          <p:spPr>
            <a:xfrm>
              <a:off x="1227812" y="1724739"/>
              <a:ext cx="4399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 吸引​</a:t>
              </a:r>
            </a:p>
          </p:txBody>
        </p:sp>
        <p:sp>
          <p:nvSpPr>
            <p:cNvPr id="49" name="TextBox 49"/>
            <p:cNvSpPr txBox="1"/>
            <p:nvPr/>
          </p:nvSpPr>
          <p:spPr>
            <a:xfrm>
              <a:off x="1277455" y="1859280"/>
              <a:ext cx="340690" cy="119062"/>
            </a:xfrm>
            <a:prstGeom prst="rect">
              <a:avLst/>
            </a:prstGeom>
            <a:noFill/>
            <a:ln>
              <a:noFill/>
            </a:ln>
          </p:spPr>
          <p:txBody>
            <a:bodyPr wrap="none" lIns="0" tIns="0" rIns="0" bIns="0" anchor="t" anchorCtr="0">
              <a:spAutoFit/>
            </a:bodyPr>
            <a:lstStyle/>
            <a:p>
              <a:pPr algn="ctr"/>
              <a:r>
                <a:rPr lang="zh-CN" sz="600" dirty="0">
                  <a:solidFill>
                    <a:srgbClr val="F0FAF8"/>
                  </a:solidFill>
                  <a:latin typeface="+mn-lt"/>
                  <a:ea typeface="+mn-ea"/>
                  <a:cs typeface="+mn-cs"/>
                </a:rPr>
                <a:t>（3秒）​</a:t>
              </a:r>
            </a:p>
          </p:txBody>
        </p:sp>
        <p:sp>
          <p:nvSpPr>
            <p:cNvPr id="50" name="Freeform 50"/>
            <p:cNvSpPr/>
            <p:nvPr/>
          </p:nvSpPr>
          <p:spPr>
            <a:xfrm>
              <a:off x="1981200" y="1695450"/>
              <a:ext cx="1009650" cy="285750"/>
            </a:xfrm>
            <a:prstGeom prst="chevron">
              <a:avLst/>
            </a:prstGeom>
            <a:solidFill>
              <a:srgbClr val="BF6F5F"/>
            </a:solidFill>
            <a:ln>
              <a:noFill/>
            </a:ln>
          </p:spPr>
        </p:sp>
        <p:sp>
          <p:nvSpPr>
            <p:cNvPr id="51" name="TextBox 51"/>
            <p:cNvSpPr txBox="1"/>
            <p:nvPr/>
          </p:nvSpPr>
          <p:spPr>
            <a:xfrm>
              <a:off x="2294612" y="1724739"/>
              <a:ext cx="4399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2. 参与​</a:t>
              </a:r>
            </a:p>
          </p:txBody>
        </p:sp>
        <p:sp>
          <p:nvSpPr>
            <p:cNvPr id="52" name="TextBox 52"/>
            <p:cNvSpPr txBox="1"/>
            <p:nvPr/>
          </p:nvSpPr>
          <p:spPr>
            <a:xfrm>
              <a:off x="2303869" y="1859280"/>
              <a:ext cx="421462" cy="119062"/>
            </a:xfrm>
            <a:prstGeom prst="rect">
              <a:avLst/>
            </a:prstGeom>
            <a:noFill/>
            <a:ln>
              <a:noFill/>
            </a:ln>
          </p:spPr>
          <p:txBody>
            <a:bodyPr wrap="none" lIns="0" tIns="0" rIns="0" bIns="0" anchor="t" anchorCtr="0">
              <a:spAutoFit/>
            </a:bodyPr>
            <a:lstStyle/>
            <a:p>
              <a:pPr algn="ctr"/>
              <a:r>
                <a:rPr lang="zh-CN" sz="600" dirty="0">
                  <a:solidFill>
                    <a:srgbClr val="F0FAF8"/>
                  </a:solidFill>
                  <a:latin typeface="+mn-lt"/>
                  <a:ea typeface="+mn-ea"/>
                  <a:cs typeface="+mn-cs"/>
                </a:rPr>
                <a:t>（1分钟）​</a:t>
              </a:r>
            </a:p>
          </p:txBody>
        </p:sp>
        <p:sp>
          <p:nvSpPr>
            <p:cNvPr id="53" name="Freeform 53"/>
            <p:cNvSpPr/>
            <p:nvPr/>
          </p:nvSpPr>
          <p:spPr>
            <a:xfrm>
              <a:off x="3048000" y="1695450"/>
              <a:ext cx="1009650" cy="285750"/>
            </a:xfrm>
            <a:prstGeom prst="chevron">
              <a:avLst/>
            </a:prstGeom>
            <a:solidFill>
              <a:srgbClr val="B55745"/>
            </a:solidFill>
            <a:ln>
              <a:noFill/>
            </a:ln>
          </p:spPr>
        </p:sp>
        <p:sp>
          <p:nvSpPr>
            <p:cNvPr id="54" name="TextBox 54"/>
            <p:cNvSpPr txBox="1"/>
            <p:nvPr/>
          </p:nvSpPr>
          <p:spPr>
            <a:xfrm>
              <a:off x="3361412" y="1724739"/>
              <a:ext cx="4399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3. 授权​</a:t>
              </a:r>
            </a:p>
          </p:txBody>
        </p:sp>
        <p:sp>
          <p:nvSpPr>
            <p:cNvPr id="55" name="TextBox 55"/>
            <p:cNvSpPr txBox="1"/>
            <p:nvPr/>
          </p:nvSpPr>
          <p:spPr>
            <a:xfrm>
              <a:off x="3388843" y="1859280"/>
              <a:ext cx="385115" cy="119062"/>
            </a:xfrm>
            <a:prstGeom prst="rect">
              <a:avLst/>
            </a:prstGeom>
            <a:noFill/>
            <a:ln>
              <a:noFill/>
            </a:ln>
          </p:spPr>
          <p:txBody>
            <a:bodyPr wrap="none" lIns="0" tIns="0" rIns="0" bIns="0" anchor="t" anchorCtr="0">
              <a:spAutoFit/>
            </a:bodyPr>
            <a:lstStyle/>
            <a:p>
              <a:pPr algn="ctr"/>
              <a:r>
                <a:rPr lang="zh-CN" sz="600" dirty="0">
                  <a:solidFill>
                    <a:srgbClr val="F0FAF8"/>
                  </a:solidFill>
                  <a:latin typeface="+mn-lt"/>
                  <a:ea typeface="+mn-ea"/>
                  <a:cs typeface="+mn-cs"/>
                </a:rPr>
                <a:t>（30秒）​</a:t>
              </a:r>
            </a:p>
          </p:txBody>
        </p:sp>
        <p:sp>
          <p:nvSpPr>
            <p:cNvPr id="56" name="Freeform 56"/>
            <p:cNvSpPr/>
            <p:nvPr/>
          </p:nvSpPr>
          <p:spPr>
            <a:xfrm>
              <a:off x="4114800" y="1695450"/>
              <a:ext cx="1009650" cy="285750"/>
            </a:xfrm>
            <a:prstGeom prst="chevron">
              <a:avLst/>
            </a:prstGeom>
            <a:solidFill>
              <a:srgbClr val="A3422F"/>
            </a:solidFill>
            <a:ln>
              <a:noFill/>
            </a:ln>
          </p:spPr>
        </p:sp>
        <p:sp>
          <p:nvSpPr>
            <p:cNvPr id="57" name="TextBox 57"/>
            <p:cNvSpPr txBox="1"/>
            <p:nvPr/>
          </p:nvSpPr>
          <p:spPr>
            <a:xfrm>
              <a:off x="4428212" y="1724739"/>
              <a:ext cx="4399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4. 测评​</a:t>
              </a:r>
            </a:p>
          </p:txBody>
        </p:sp>
        <p:sp>
          <p:nvSpPr>
            <p:cNvPr id="58" name="TextBox 58"/>
            <p:cNvSpPr txBox="1"/>
            <p:nvPr/>
          </p:nvSpPr>
          <p:spPr>
            <a:xfrm>
              <a:off x="4437469" y="1859280"/>
              <a:ext cx="421462" cy="119062"/>
            </a:xfrm>
            <a:prstGeom prst="rect">
              <a:avLst/>
            </a:prstGeom>
            <a:noFill/>
            <a:ln>
              <a:noFill/>
            </a:ln>
          </p:spPr>
          <p:txBody>
            <a:bodyPr wrap="none" lIns="0" tIns="0" rIns="0" bIns="0" anchor="t" anchorCtr="0">
              <a:spAutoFit/>
            </a:bodyPr>
            <a:lstStyle/>
            <a:p>
              <a:pPr algn="ctr"/>
              <a:r>
                <a:rPr lang="zh-CN" sz="600" dirty="0">
                  <a:solidFill>
                    <a:srgbClr val="F0FAF8"/>
                  </a:solidFill>
                  <a:latin typeface="+mn-lt"/>
                  <a:ea typeface="+mn-ea"/>
                  <a:cs typeface="+mn-cs"/>
                </a:rPr>
                <a:t>（2分钟）​</a:t>
              </a:r>
            </a:p>
          </p:txBody>
        </p:sp>
        <p:sp>
          <p:nvSpPr>
            <p:cNvPr id="59" name="Freeform 59"/>
            <p:cNvSpPr/>
            <p:nvPr/>
          </p:nvSpPr>
          <p:spPr>
            <a:xfrm>
              <a:off x="5181600" y="1695450"/>
              <a:ext cx="1009650" cy="285750"/>
            </a:xfrm>
            <a:prstGeom prst="chevron">
              <a:avLst/>
            </a:prstGeom>
            <a:solidFill>
              <a:srgbClr val="94311D"/>
            </a:solidFill>
            <a:ln>
              <a:noFill/>
            </a:ln>
          </p:spPr>
        </p:sp>
        <p:sp>
          <p:nvSpPr>
            <p:cNvPr id="60" name="TextBox 60"/>
            <p:cNvSpPr txBox="1"/>
            <p:nvPr/>
          </p:nvSpPr>
          <p:spPr>
            <a:xfrm>
              <a:off x="5495012" y="1724739"/>
              <a:ext cx="4399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5. 推荐​</a:t>
              </a:r>
            </a:p>
          </p:txBody>
        </p:sp>
        <p:sp>
          <p:nvSpPr>
            <p:cNvPr id="61" name="TextBox 61"/>
            <p:cNvSpPr txBox="1"/>
            <p:nvPr/>
          </p:nvSpPr>
          <p:spPr>
            <a:xfrm>
              <a:off x="5504269" y="1859280"/>
              <a:ext cx="421462" cy="119062"/>
            </a:xfrm>
            <a:prstGeom prst="rect">
              <a:avLst/>
            </a:prstGeom>
            <a:noFill/>
            <a:ln>
              <a:noFill/>
            </a:ln>
          </p:spPr>
          <p:txBody>
            <a:bodyPr wrap="none" lIns="0" tIns="0" rIns="0" bIns="0" anchor="t" anchorCtr="0">
              <a:spAutoFit/>
            </a:bodyPr>
            <a:lstStyle/>
            <a:p>
              <a:pPr algn="ctr"/>
              <a:r>
                <a:rPr lang="zh-CN" sz="600" dirty="0">
                  <a:solidFill>
                    <a:srgbClr val="F0FAF8"/>
                  </a:solidFill>
                  <a:latin typeface="+mn-lt"/>
                  <a:ea typeface="+mn-ea"/>
                  <a:cs typeface="+mn-cs"/>
                </a:rPr>
                <a:t>（3分钟）​</a:t>
              </a:r>
            </a:p>
          </p:txBody>
        </p:sp>
        <p:sp>
          <p:nvSpPr>
            <p:cNvPr id="62" name="Freeform 62"/>
            <p:cNvSpPr/>
            <p:nvPr/>
          </p:nvSpPr>
          <p:spPr>
            <a:xfrm>
              <a:off x="6248400" y="1695450"/>
              <a:ext cx="1009650" cy="285750"/>
            </a:xfrm>
            <a:prstGeom prst="chevron">
              <a:avLst/>
            </a:prstGeom>
            <a:solidFill>
              <a:srgbClr val="852512"/>
            </a:solidFill>
            <a:ln>
              <a:noFill/>
            </a:ln>
          </p:spPr>
        </p:sp>
        <p:sp>
          <p:nvSpPr>
            <p:cNvPr id="63" name="TextBox 63"/>
            <p:cNvSpPr txBox="1"/>
            <p:nvPr/>
          </p:nvSpPr>
          <p:spPr>
            <a:xfrm>
              <a:off x="6561812" y="1724739"/>
              <a:ext cx="4399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6. 领取​</a:t>
              </a:r>
            </a:p>
          </p:txBody>
        </p:sp>
        <p:sp>
          <p:nvSpPr>
            <p:cNvPr id="64" name="TextBox 64"/>
            <p:cNvSpPr txBox="1"/>
            <p:nvPr/>
          </p:nvSpPr>
          <p:spPr>
            <a:xfrm>
              <a:off x="6589243" y="1859280"/>
              <a:ext cx="385115" cy="119062"/>
            </a:xfrm>
            <a:prstGeom prst="rect">
              <a:avLst/>
            </a:prstGeom>
            <a:noFill/>
            <a:ln>
              <a:noFill/>
            </a:ln>
          </p:spPr>
          <p:txBody>
            <a:bodyPr wrap="none" lIns="0" tIns="0" rIns="0" bIns="0" anchor="t" anchorCtr="0">
              <a:spAutoFit/>
            </a:bodyPr>
            <a:lstStyle/>
            <a:p>
              <a:pPr algn="ctr"/>
              <a:r>
                <a:rPr lang="zh-CN" sz="600" dirty="0">
                  <a:solidFill>
                    <a:srgbClr val="F0FAF8"/>
                  </a:solidFill>
                  <a:latin typeface="+mn-lt"/>
                  <a:ea typeface="+mn-ea"/>
                  <a:cs typeface="+mn-cs"/>
                </a:rPr>
                <a:t>（30秒）​</a:t>
              </a:r>
            </a:p>
          </p:txBody>
        </p:sp>
        <p:sp>
          <p:nvSpPr>
            <p:cNvPr id="65" name="Freeform 65"/>
            <p:cNvSpPr/>
            <p:nvPr/>
          </p:nvSpPr>
          <p:spPr>
            <a:xfrm>
              <a:off x="7315200" y="1695450"/>
              <a:ext cx="1009650" cy="285750"/>
            </a:xfrm>
            <a:prstGeom prst="chevron">
              <a:avLst/>
            </a:prstGeom>
            <a:solidFill>
              <a:srgbClr val="5D190B"/>
            </a:solidFill>
            <a:ln>
              <a:noFill/>
            </a:ln>
          </p:spPr>
        </p:sp>
        <p:sp>
          <p:nvSpPr>
            <p:cNvPr id="66" name="TextBox 66"/>
            <p:cNvSpPr txBox="1"/>
            <p:nvPr/>
          </p:nvSpPr>
          <p:spPr>
            <a:xfrm>
              <a:off x="7628612" y="1724739"/>
              <a:ext cx="43997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7. 分享​</a:t>
              </a:r>
            </a:p>
          </p:txBody>
        </p:sp>
        <p:sp>
          <p:nvSpPr>
            <p:cNvPr id="67" name="TextBox 67"/>
            <p:cNvSpPr txBox="1"/>
            <p:nvPr/>
          </p:nvSpPr>
          <p:spPr>
            <a:xfrm>
              <a:off x="7637869" y="1859280"/>
              <a:ext cx="421462" cy="119062"/>
            </a:xfrm>
            <a:prstGeom prst="rect">
              <a:avLst/>
            </a:prstGeom>
            <a:noFill/>
            <a:ln>
              <a:noFill/>
            </a:ln>
          </p:spPr>
          <p:txBody>
            <a:bodyPr wrap="none" lIns="0" tIns="0" rIns="0" bIns="0" anchor="t" anchorCtr="0">
              <a:spAutoFit/>
            </a:bodyPr>
            <a:lstStyle/>
            <a:p>
              <a:pPr algn="ctr"/>
              <a:r>
                <a:rPr lang="zh-CN" sz="600" dirty="0">
                  <a:solidFill>
                    <a:srgbClr val="F0FAF8"/>
                  </a:solidFill>
                  <a:latin typeface="+mn-lt"/>
                  <a:ea typeface="+mn-ea"/>
                  <a:cs typeface="+mn-cs"/>
                </a:rPr>
                <a:t>（1分钟）​</a:t>
              </a:r>
            </a:p>
          </p:txBody>
        </p:sp>
        <p:grpSp>
          <p:nvGrpSpPr>
            <p:cNvPr id="100" name="matrix-icons"/>
            <p:cNvGrpSpPr/>
            <p:nvPr/>
          </p:nvGrpSpPr>
          <p:grpSpPr>
            <a:xfrm>
              <a:off x="1276350" y="2019300"/>
              <a:ext cx="6667500" cy="266700"/>
              <a:chOff x="1276350" y="2019300"/>
              <a:chExt cx="6667500" cy="266700"/>
            </a:xfrm>
          </p:grpSpPr>
          <p:sp>
            <p:nvSpPr>
              <p:cNvPr id="68" name="Ellipse 68"/>
              <p:cNvSpPr/>
              <p:nvPr/>
            </p:nvSpPr>
            <p:spPr>
              <a:xfrm>
                <a:off x="1276350" y="2019300"/>
                <a:ext cx="266700" cy="266700"/>
              </a:xfrm>
              <a:prstGeom prst="ellipse">
                <a:avLst/>
              </a:prstGeom>
              <a:solidFill>
                <a:srgbClr val="E4F1EE"/>
              </a:solidFill>
              <a:ln>
                <a:noFill/>
              </a:ln>
            </p:spPr>
          </p:sp>
          <p:grpSp>
            <p:nvGrpSpPr>
              <p:cNvPr id="71" name="Group 71"/>
              <p:cNvGrpSpPr/>
              <p:nvPr/>
            </p:nvGrpSpPr>
            <p:grpSpPr>
              <a:xfrm>
                <a:off x="1352550" y="2114550"/>
                <a:ext cx="114300" cy="76200"/>
                <a:chOff x="1352550" y="2114550"/>
                <a:chExt cx="114300" cy="76200"/>
              </a:xfrm>
            </p:grpSpPr>
            <p:sp>
              <p:nvSpPr>
                <p:cNvPr id="69" name="Freeform 69"/>
                <p:cNvSpPr/>
                <p:nvPr/>
              </p:nvSpPr>
              <p:spPr>
                <a:xfrm>
                  <a:off x="1397000" y="21399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70" name="Freeform 70"/>
                <p:cNvSpPr/>
                <p:nvPr/>
              </p:nvSpPr>
              <p:spPr>
                <a:xfrm>
                  <a:off x="1352550" y="2114550"/>
                  <a:ext cx="114300" cy="76200"/>
                </a:xfrm>
                <a:custGeom>
                  <a:avLst/>
                  <a:gdLst/>
                  <a:ahLst/>
                  <a:cxnLst/>
                  <a:rect l="l" t="t" r="r" b="b"/>
                  <a:pathLst>
                    <a:path w="114300" h="76200">
                      <a:moveTo>
                        <a:pt x="114300" y="38100"/>
                      </a:moveTo>
                      <a:cubicBezTo>
                        <a:pt x="99060" y="63500"/>
                        <a:pt x="80010" y="76200"/>
                        <a:pt x="57150" y="76200"/>
                      </a:cubicBezTo>
                      <a:cubicBezTo>
                        <a:pt x="34290" y="76200"/>
                        <a:pt x="15240" y="63500"/>
                        <a:pt x="0" y="38100"/>
                      </a:cubicBezTo>
                      <a:cubicBezTo>
                        <a:pt x="15240" y="12700"/>
                        <a:pt x="34290" y="0"/>
                        <a:pt x="57150" y="0"/>
                      </a:cubicBezTo>
                      <a:cubicBezTo>
                        <a:pt x="80010" y="0"/>
                        <a:pt x="99060" y="12700"/>
                        <a:pt x="114300" y="38100"/>
                      </a:cubicBezTo>
                    </a:path>
                  </a:pathLst>
                </a:custGeom>
                <a:noFill/>
                <a:ln w="12700">
                  <a:solidFill>
                    <a:srgbClr val="76200F"/>
                  </a:solidFill>
                </a:ln>
              </p:spPr>
            </p:sp>
          </p:grpSp>
          <p:sp>
            <p:nvSpPr>
              <p:cNvPr id="72" name="Ellipse 72"/>
              <p:cNvSpPr/>
              <p:nvPr/>
            </p:nvSpPr>
            <p:spPr>
              <a:xfrm>
                <a:off x="2343150" y="2019300"/>
                <a:ext cx="266700" cy="266700"/>
              </a:xfrm>
              <a:prstGeom prst="ellipse">
                <a:avLst/>
              </a:prstGeom>
              <a:solidFill>
                <a:srgbClr val="E4F1EE"/>
              </a:solidFill>
              <a:ln>
                <a:noFill/>
              </a:ln>
            </p:spPr>
          </p:sp>
          <p:sp>
            <p:nvSpPr>
              <p:cNvPr id="73" name="Freeform 73"/>
              <p:cNvSpPr/>
              <p:nvPr/>
            </p:nvSpPr>
            <p:spPr>
              <a:xfrm>
                <a:off x="2419350" y="209550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76200F"/>
                </a:solidFill>
              </a:ln>
            </p:spPr>
          </p:sp>
          <p:sp>
            <p:nvSpPr>
              <p:cNvPr id="74" name="Ellipse 74"/>
              <p:cNvSpPr/>
              <p:nvPr/>
            </p:nvSpPr>
            <p:spPr>
              <a:xfrm>
                <a:off x="3409950" y="2019300"/>
                <a:ext cx="266700" cy="266700"/>
              </a:xfrm>
              <a:prstGeom prst="ellipse">
                <a:avLst/>
              </a:prstGeom>
              <a:solidFill>
                <a:srgbClr val="E4F1EE"/>
              </a:solidFill>
              <a:ln>
                <a:noFill/>
              </a:ln>
            </p:spPr>
          </p:sp>
          <p:grpSp>
            <p:nvGrpSpPr>
              <p:cNvPr id="78" name="Group 78"/>
              <p:cNvGrpSpPr/>
              <p:nvPr/>
            </p:nvGrpSpPr>
            <p:grpSpPr>
              <a:xfrm>
                <a:off x="3498850" y="2095500"/>
                <a:ext cx="88900" cy="114300"/>
                <a:chOff x="3498850" y="2095500"/>
                <a:chExt cx="88900" cy="114300"/>
              </a:xfrm>
            </p:grpSpPr>
            <p:sp>
              <p:nvSpPr>
                <p:cNvPr id="75" name="Freeform 75"/>
                <p:cNvSpPr/>
                <p:nvPr/>
              </p:nvSpPr>
              <p:spPr>
                <a:xfrm>
                  <a:off x="3498850" y="214630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76200F"/>
                  </a:solidFill>
                </a:ln>
              </p:spPr>
            </p:sp>
            <p:sp>
              <p:nvSpPr>
                <p:cNvPr id="76" name="Freeform 76"/>
                <p:cNvSpPr/>
                <p:nvPr/>
              </p:nvSpPr>
              <p:spPr>
                <a:xfrm>
                  <a:off x="3536950" y="21717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76200F"/>
                  </a:solidFill>
                </a:ln>
              </p:spPr>
            </p:sp>
            <p:sp>
              <p:nvSpPr>
                <p:cNvPr id="77" name="Freeform 77"/>
                <p:cNvSpPr/>
                <p:nvPr/>
              </p:nvSpPr>
              <p:spPr>
                <a:xfrm>
                  <a:off x="3517900" y="209550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76200F"/>
                  </a:solidFill>
                </a:ln>
              </p:spPr>
            </p:sp>
          </p:grpSp>
          <p:sp>
            <p:nvSpPr>
              <p:cNvPr id="79" name="Ellipse 79"/>
              <p:cNvSpPr/>
              <p:nvPr/>
            </p:nvSpPr>
            <p:spPr>
              <a:xfrm>
                <a:off x="4476750" y="2019300"/>
                <a:ext cx="266700" cy="266700"/>
              </a:xfrm>
              <a:prstGeom prst="ellipse">
                <a:avLst/>
              </a:prstGeom>
              <a:solidFill>
                <a:srgbClr val="E4F1EE"/>
              </a:solidFill>
              <a:ln>
                <a:noFill/>
              </a:ln>
            </p:spPr>
          </p:sp>
          <p:grpSp>
            <p:nvGrpSpPr>
              <p:cNvPr id="84" name="Group 84"/>
              <p:cNvGrpSpPr/>
              <p:nvPr/>
            </p:nvGrpSpPr>
            <p:grpSpPr>
              <a:xfrm>
                <a:off x="4565650" y="2101850"/>
                <a:ext cx="95250" cy="107950"/>
                <a:chOff x="4565650" y="2101850"/>
                <a:chExt cx="95250" cy="107950"/>
              </a:xfrm>
            </p:grpSpPr>
            <p:sp>
              <p:nvSpPr>
                <p:cNvPr id="80" name="Freeform 80"/>
                <p:cNvSpPr/>
                <p:nvPr/>
              </p:nvSpPr>
              <p:spPr>
                <a:xfrm>
                  <a:off x="4565650" y="210185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76200F"/>
                  </a:solidFill>
                </a:ln>
              </p:spPr>
            </p:sp>
            <p:sp>
              <p:nvSpPr>
                <p:cNvPr id="81" name="Freeform 81"/>
                <p:cNvSpPr/>
                <p:nvPr/>
              </p:nvSpPr>
              <p:spPr>
                <a:xfrm>
                  <a:off x="4622800" y="2184400"/>
                  <a:ext cx="38100" cy="25400"/>
                </a:xfrm>
                <a:custGeom>
                  <a:avLst/>
                  <a:gdLst/>
                  <a:ahLst/>
                  <a:cxnLst/>
                  <a:rect l="l" t="t" r="r" b="b"/>
                  <a:pathLst>
                    <a:path w="38100" h="25400">
                      <a:moveTo>
                        <a:pt x="0" y="12700"/>
                      </a:moveTo>
                      <a:lnTo>
                        <a:pt x="12700" y="25400"/>
                      </a:lnTo>
                      <a:lnTo>
                        <a:pt x="38100" y="0"/>
                      </a:lnTo>
                    </a:path>
                  </a:pathLst>
                </a:custGeom>
                <a:noFill/>
                <a:ln w="12700">
                  <a:solidFill>
                    <a:srgbClr val="76200F"/>
                  </a:solidFill>
                </a:ln>
              </p:spPr>
            </p:sp>
            <p:sp>
              <p:nvSpPr>
                <p:cNvPr id="82" name="Freeform 82"/>
                <p:cNvSpPr/>
                <p:nvPr/>
              </p:nvSpPr>
              <p:spPr>
                <a:xfrm>
                  <a:off x="4591050" y="2127250"/>
                  <a:ext cx="25400" cy="9525"/>
                </a:xfrm>
                <a:custGeom>
                  <a:avLst/>
                  <a:gdLst/>
                  <a:ahLst/>
                  <a:cxnLst/>
                  <a:rect l="l" t="t" r="r" b="b"/>
                  <a:pathLst>
                    <a:path w="25400" h="9525">
                      <a:moveTo>
                        <a:pt x="0" y="0"/>
                      </a:moveTo>
                      <a:lnTo>
                        <a:pt x="25400" y="0"/>
                      </a:lnTo>
                    </a:path>
                  </a:pathLst>
                </a:custGeom>
                <a:noFill/>
                <a:ln w="12700">
                  <a:solidFill>
                    <a:srgbClr val="76200F"/>
                  </a:solidFill>
                </a:ln>
              </p:spPr>
            </p:sp>
            <p:sp>
              <p:nvSpPr>
                <p:cNvPr id="83" name="Freeform 83"/>
                <p:cNvSpPr/>
                <p:nvPr/>
              </p:nvSpPr>
              <p:spPr>
                <a:xfrm>
                  <a:off x="4591050" y="2152650"/>
                  <a:ext cx="12700" cy="9525"/>
                </a:xfrm>
                <a:custGeom>
                  <a:avLst/>
                  <a:gdLst/>
                  <a:ahLst/>
                  <a:cxnLst/>
                  <a:rect l="l" t="t" r="r" b="b"/>
                  <a:pathLst>
                    <a:path w="12700" h="9525">
                      <a:moveTo>
                        <a:pt x="0" y="0"/>
                      </a:moveTo>
                      <a:lnTo>
                        <a:pt x="12700" y="0"/>
                      </a:lnTo>
                    </a:path>
                  </a:pathLst>
                </a:custGeom>
                <a:noFill/>
                <a:ln w="12700">
                  <a:solidFill>
                    <a:srgbClr val="76200F"/>
                  </a:solidFill>
                </a:ln>
              </p:spPr>
            </p:sp>
          </p:grpSp>
          <p:sp>
            <p:nvSpPr>
              <p:cNvPr id="85" name="Ellipse 85"/>
              <p:cNvSpPr/>
              <p:nvPr/>
            </p:nvSpPr>
            <p:spPr>
              <a:xfrm>
                <a:off x="5543550" y="2019300"/>
                <a:ext cx="266700" cy="266700"/>
              </a:xfrm>
              <a:prstGeom prst="ellipse">
                <a:avLst/>
              </a:prstGeom>
              <a:solidFill>
                <a:srgbClr val="E4F1EE"/>
              </a:solidFill>
              <a:ln>
                <a:noFill/>
              </a:ln>
            </p:spPr>
          </p:sp>
          <p:grpSp>
            <p:nvGrpSpPr>
              <p:cNvPr id="89" name="Group 89"/>
              <p:cNvGrpSpPr/>
              <p:nvPr/>
            </p:nvGrpSpPr>
            <p:grpSpPr>
              <a:xfrm>
                <a:off x="5619750" y="2095500"/>
                <a:ext cx="114300" cy="114300"/>
                <a:chOff x="5619750" y="2095500"/>
                <a:chExt cx="114300" cy="114300"/>
              </a:xfrm>
            </p:grpSpPr>
            <p:sp>
              <p:nvSpPr>
                <p:cNvPr id="86" name="Freeform 86"/>
                <p:cNvSpPr/>
                <p:nvPr/>
              </p:nvSpPr>
              <p:spPr>
                <a:xfrm>
                  <a:off x="5619750" y="209550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76200F"/>
                  </a:solidFill>
                </a:ln>
              </p:spPr>
            </p:sp>
            <p:sp>
              <p:nvSpPr>
                <p:cNvPr id="87" name="Freeform 87"/>
                <p:cNvSpPr/>
                <p:nvPr/>
              </p:nvSpPr>
              <p:spPr>
                <a:xfrm>
                  <a:off x="5642458" y="212090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76200F"/>
                  </a:solidFill>
                </a:ln>
              </p:spPr>
            </p:sp>
            <p:sp>
              <p:nvSpPr>
                <p:cNvPr id="88" name="Freeform 88"/>
                <p:cNvSpPr/>
                <p:nvPr/>
              </p:nvSpPr>
              <p:spPr>
                <a:xfrm>
                  <a:off x="5662295" y="2184400"/>
                  <a:ext cx="29210" cy="9525"/>
                </a:xfrm>
                <a:custGeom>
                  <a:avLst/>
                  <a:gdLst/>
                  <a:ahLst/>
                  <a:cxnLst/>
                  <a:rect l="l" t="t" r="r" b="b"/>
                  <a:pathLst>
                    <a:path w="29210" h="9525">
                      <a:moveTo>
                        <a:pt x="0" y="0"/>
                      </a:moveTo>
                      <a:lnTo>
                        <a:pt x="29210" y="0"/>
                      </a:lnTo>
                    </a:path>
                  </a:pathLst>
                </a:custGeom>
                <a:noFill/>
                <a:ln w="12700">
                  <a:solidFill>
                    <a:srgbClr val="76200F"/>
                  </a:solidFill>
                </a:ln>
              </p:spPr>
            </p:sp>
          </p:grpSp>
          <p:sp>
            <p:nvSpPr>
              <p:cNvPr id="90" name="Ellipse 90"/>
              <p:cNvSpPr/>
              <p:nvPr/>
            </p:nvSpPr>
            <p:spPr>
              <a:xfrm>
                <a:off x="6610350" y="2019300"/>
                <a:ext cx="266700" cy="266700"/>
              </a:xfrm>
              <a:prstGeom prst="ellipse">
                <a:avLst/>
              </a:prstGeom>
              <a:solidFill>
                <a:srgbClr val="E4F1EE"/>
              </a:solidFill>
              <a:ln>
                <a:noFill/>
              </a:ln>
            </p:spPr>
          </p:sp>
          <p:grpSp>
            <p:nvGrpSpPr>
              <p:cNvPr id="94" name="Group 94"/>
              <p:cNvGrpSpPr/>
              <p:nvPr/>
            </p:nvGrpSpPr>
            <p:grpSpPr>
              <a:xfrm>
                <a:off x="6689103" y="2095500"/>
                <a:ext cx="109182" cy="113602"/>
                <a:chOff x="6689103" y="2095500"/>
                <a:chExt cx="109182" cy="113602"/>
              </a:xfrm>
            </p:grpSpPr>
            <p:sp>
              <p:nvSpPr>
                <p:cNvPr id="91" name="Freeform 91"/>
                <p:cNvSpPr/>
                <p:nvPr/>
              </p:nvSpPr>
              <p:spPr>
                <a:xfrm>
                  <a:off x="6705600" y="20955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76200F"/>
                  </a:solidFill>
                </a:ln>
              </p:spPr>
            </p:sp>
            <p:sp>
              <p:nvSpPr>
                <p:cNvPr id="92" name="Freeform 92"/>
                <p:cNvSpPr/>
                <p:nvPr/>
              </p:nvSpPr>
              <p:spPr>
                <a:xfrm>
                  <a:off x="6743700" y="2152650"/>
                  <a:ext cx="54585" cy="56452"/>
                </a:xfrm>
                <a:custGeom>
                  <a:avLst/>
                  <a:gdLst/>
                  <a:ahLst/>
                  <a:cxnLst/>
                  <a:rect l="l" t="t" r="r" b="b"/>
                  <a:pathLst>
                    <a:path w="54585" h="56452">
                      <a:moveTo>
                        <a:pt x="0" y="19050"/>
                      </a:moveTo>
                      <a:lnTo>
                        <a:pt x="21590" y="56452"/>
                      </a:lnTo>
                      <a:lnTo>
                        <a:pt x="31737" y="35922"/>
                      </a:lnTo>
                      <a:lnTo>
                        <a:pt x="54585" y="37395"/>
                      </a:lnTo>
                      <a:lnTo>
                        <a:pt x="32995" y="0"/>
                      </a:lnTo>
                    </a:path>
                  </a:pathLst>
                </a:custGeom>
                <a:noFill/>
                <a:ln w="12700">
                  <a:solidFill>
                    <a:srgbClr val="76200F"/>
                  </a:solidFill>
                </a:ln>
              </p:spPr>
            </p:sp>
            <p:sp>
              <p:nvSpPr>
                <p:cNvPr id="93" name="Freeform 93"/>
                <p:cNvSpPr/>
                <p:nvPr/>
              </p:nvSpPr>
              <p:spPr>
                <a:xfrm>
                  <a:off x="6689103" y="2152650"/>
                  <a:ext cx="54585" cy="56445"/>
                </a:xfrm>
                <a:custGeom>
                  <a:avLst/>
                  <a:gdLst/>
                  <a:ahLst/>
                  <a:cxnLst/>
                  <a:rect l="l" t="t" r="r" b="b"/>
                  <a:pathLst>
                    <a:path w="54585" h="56445">
                      <a:moveTo>
                        <a:pt x="21590" y="0"/>
                      </a:moveTo>
                      <a:lnTo>
                        <a:pt x="0" y="37402"/>
                      </a:lnTo>
                      <a:lnTo>
                        <a:pt x="22847" y="35922"/>
                      </a:lnTo>
                      <a:lnTo>
                        <a:pt x="32995" y="56445"/>
                      </a:lnTo>
                      <a:lnTo>
                        <a:pt x="54585" y="19050"/>
                      </a:lnTo>
                    </a:path>
                  </a:pathLst>
                </a:custGeom>
                <a:noFill/>
                <a:ln w="12700">
                  <a:solidFill>
                    <a:srgbClr val="76200F"/>
                  </a:solidFill>
                </a:ln>
              </p:spPr>
            </p:sp>
          </p:grpSp>
          <p:sp>
            <p:nvSpPr>
              <p:cNvPr id="95" name="Ellipse 95"/>
              <p:cNvSpPr/>
              <p:nvPr/>
            </p:nvSpPr>
            <p:spPr>
              <a:xfrm>
                <a:off x="7677150" y="2019300"/>
                <a:ext cx="266700" cy="266700"/>
              </a:xfrm>
              <a:prstGeom prst="ellipse">
                <a:avLst/>
              </a:prstGeom>
              <a:solidFill>
                <a:srgbClr val="E4F1EE"/>
              </a:solidFill>
              <a:ln>
                <a:noFill/>
              </a:ln>
            </p:spPr>
          </p:sp>
          <p:grpSp>
            <p:nvGrpSpPr>
              <p:cNvPr id="99" name="Group 99"/>
              <p:cNvGrpSpPr/>
              <p:nvPr/>
            </p:nvGrpSpPr>
            <p:grpSpPr>
              <a:xfrm>
                <a:off x="7766050" y="2095500"/>
                <a:ext cx="88900" cy="114300"/>
                <a:chOff x="7766050" y="2095500"/>
                <a:chExt cx="88900" cy="114300"/>
              </a:xfrm>
            </p:grpSpPr>
            <p:sp>
              <p:nvSpPr>
                <p:cNvPr id="96" name="Freeform 96"/>
                <p:cNvSpPr/>
                <p:nvPr/>
              </p:nvSpPr>
              <p:spPr>
                <a:xfrm>
                  <a:off x="7766050" y="2133600"/>
                  <a:ext cx="88900" cy="76200"/>
                </a:xfrm>
                <a:custGeom>
                  <a:avLst/>
                  <a:gdLst/>
                  <a:ahLst/>
                  <a:cxnLst/>
                  <a:rect l="l" t="t" r="r" b="b"/>
                  <a:pathLst>
                    <a:path w="88900" h="76200">
                      <a:moveTo>
                        <a:pt x="19050" y="0"/>
                      </a:moveTo>
                      <a:lnTo>
                        <a:pt x="12700" y="0"/>
                      </a:lnTo>
                      <a:cubicBezTo>
                        <a:pt x="5686" y="0"/>
                        <a:pt x="0" y="5686"/>
                        <a:pt x="0" y="12700"/>
                      </a:cubicBezTo>
                      <a:lnTo>
                        <a:pt x="0" y="63500"/>
                      </a:lnTo>
                      <a:cubicBezTo>
                        <a:pt x="0" y="70514"/>
                        <a:pt x="5686" y="76200"/>
                        <a:pt x="12700" y="76200"/>
                      </a:cubicBezTo>
                      <a:lnTo>
                        <a:pt x="76200" y="76200"/>
                      </a:lnTo>
                      <a:cubicBezTo>
                        <a:pt x="83214" y="76200"/>
                        <a:pt x="88900" y="70514"/>
                        <a:pt x="88900" y="63500"/>
                      </a:cubicBezTo>
                      <a:lnTo>
                        <a:pt x="88900" y="12700"/>
                      </a:lnTo>
                      <a:cubicBezTo>
                        <a:pt x="88900" y="5686"/>
                        <a:pt x="83214" y="0"/>
                        <a:pt x="76200" y="0"/>
                      </a:cubicBezTo>
                      <a:lnTo>
                        <a:pt x="69850" y="0"/>
                      </a:lnTo>
                    </a:path>
                  </a:pathLst>
                </a:custGeom>
                <a:noFill/>
                <a:ln w="12700">
                  <a:solidFill>
                    <a:srgbClr val="76200F"/>
                  </a:solidFill>
                </a:ln>
              </p:spPr>
            </p:sp>
            <p:sp>
              <p:nvSpPr>
                <p:cNvPr id="97" name="Freeform 97"/>
                <p:cNvSpPr/>
                <p:nvPr/>
              </p:nvSpPr>
              <p:spPr>
                <a:xfrm>
                  <a:off x="7810500" y="2095500"/>
                  <a:ext cx="9525" cy="69850"/>
                </a:xfrm>
                <a:custGeom>
                  <a:avLst/>
                  <a:gdLst/>
                  <a:ahLst/>
                  <a:cxnLst/>
                  <a:rect l="l" t="t" r="r" b="b"/>
                  <a:pathLst>
                    <a:path w="9525" h="69850">
                      <a:moveTo>
                        <a:pt x="0" y="69850"/>
                      </a:moveTo>
                      <a:lnTo>
                        <a:pt x="0" y="0"/>
                      </a:lnTo>
                    </a:path>
                  </a:pathLst>
                </a:custGeom>
                <a:noFill/>
                <a:ln w="12700">
                  <a:solidFill>
                    <a:srgbClr val="76200F"/>
                  </a:solidFill>
                </a:ln>
              </p:spPr>
            </p:sp>
            <p:sp>
              <p:nvSpPr>
                <p:cNvPr id="98" name="Freeform 98"/>
                <p:cNvSpPr/>
                <p:nvPr/>
              </p:nvSpPr>
              <p:spPr>
                <a:xfrm>
                  <a:off x="7791450" y="2095500"/>
                  <a:ext cx="38100" cy="19050"/>
                </a:xfrm>
                <a:custGeom>
                  <a:avLst/>
                  <a:gdLst/>
                  <a:ahLst/>
                  <a:cxnLst/>
                  <a:rect l="l" t="t" r="r" b="b"/>
                  <a:pathLst>
                    <a:path w="38100" h="19050">
                      <a:moveTo>
                        <a:pt x="0" y="19050"/>
                      </a:moveTo>
                      <a:lnTo>
                        <a:pt x="19050" y="0"/>
                      </a:lnTo>
                      <a:lnTo>
                        <a:pt x="38100" y="19050"/>
                      </a:lnTo>
                    </a:path>
                  </a:pathLst>
                </a:custGeom>
                <a:noFill/>
                <a:ln w="12700">
                  <a:solidFill>
                    <a:srgbClr val="76200F"/>
                  </a:solidFill>
                </a:ln>
              </p:spPr>
            </p:sp>
          </p:grpSp>
        </p:grpSp>
        <p:sp>
          <p:nvSpPr>
            <p:cNvPr id="101" name="Rectangle 101"/>
            <p:cNvSpPr/>
            <p:nvPr/>
          </p:nvSpPr>
          <p:spPr>
            <a:xfrm>
              <a:off x="342900" y="2324100"/>
              <a:ext cx="8001000" cy="9525"/>
            </a:xfrm>
            <a:prstGeom prst="rect">
              <a:avLst/>
            </a:prstGeom>
            <a:solidFill>
              <a:srgbClr val="E2EEEB"/>
            </a:solidFill>
            <a:ln>
              <a:noFill/>
            </a:ln>
          </p:spPr>
        </p:sp>
        <p:sp>
          <p:nvSpPr>
            <p:cNvPr id="102" name="TextBox 102"/>
            <p:cNvSpPr txBox="1"/>
            <p:nvPr/>
          </p:nvSpPr>
          <p:spPr>
            <a:xfrm>
              <a:off x="440804" y="2479834"/>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触点形式</a:t>
              </a:r>
            </a:p>
          </p:txBody>
        </p:sp>
        <p:sp>
          <p:nvSpPr>
            <p:cNvPr id="103" name="TextBox 103"/>
            <p:cNvSpPr txBox="1"/>
            <p:nvPr/>
          </p:nvSpPr>
          <p:spPr>
            <a:xfrm>
              <a:off x="1020128" y="2392680"/>
              <a:ext cx="77914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主题展位、互动装置</a:t>
              </a:r>
              <a:br/>
              <a:r>
                <a:rPr lang="zh-CN" sz="600" dirty="0">
                  <a:solidFill>
                    <a:srgbClr val="514340"/>
                  </a:solidFill>
                  <a:latin typeface="+mn-lt"/>
                  <a:ea typeface="+mn-ea"/>
                  <a:cs typeface="+mn-cs"/>
                </a:rPr>
                <a:t>大屏/海报、品牌陈列​</a:t>
              </a:r>
            </a:p>
          </p:txBody>
        </p:sp>
        <p:sp>
          <p:nvSpPr>
            <p:cNvPr id="104" name="TextBox 104"/>
            <p:cNvSpPr txBox="1"/>
            <p:nvPr/>
          </p:nvSpPr>
          <p:spPr>
            <a:xfrm>
              <a:off x="2166938" y="2392680"/>
              <a:ext cx="6191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小游戏、打卡互动</a:t>
              </a:r>
              <a:br/>
              <a:r>
                <a:rPr lang="zh-CN" sz="600" dirty="0">
                  <a:solidFill>
                    <a:srgbClr val="514340"/>
                  </a:solidFill>
                  <a:latin typeface="+mn-lt"/>
                  <a:ea typeface="+mn-ea"/>
                  <a:cs typeface="+mn-cs"/>
                </a:rPr>
                <a:t>抽奖、拍照合影</a:t>
              </a:r>
            </a:p>
          </p:txBody>
        </p:sp>
        <p:sp>
          <p:nvSpPr>
            <p:cNvPr id="105" name="TextBox 105"/>
            <p:cNvSpPr txBox="1"/>
            <p:nvPr/>
          </p:nvSpPr>
          <p:spPr>
            <a:xfrm>
              <a:off x="3195638" y="2392680"/>
              <a:ext cx="695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扫码授权、注册会员</a:t>
              </a:r>
              <a:br/>
              <a:r>
                <a:rPr lang="zh-CN" sz="600" dirty="0">
                  <a:solidFill>
                    <a:srgbClr val="514340"/>
                  </a:solidFill>
                  <a:latin typeface="+mn-lt"/>
                  <a:ea typeface="+mn-ea"/>
                  <a:cs typeface="+mn-cs"/>
                </a:rPr>
                <a:t>同意信息使用</a:t>
              </a:r>
            </a:p>
          </p:txBody>
        </p:sp>
        <p:sp>
          <p:nvSpPr>
            <p:cNvPr id="106" name="TextBox 106"/>
            <p:cNvSpPr txBox="1"/>
            <p:nvPr/>
          </p:nvSpPr>
          <p:spPr>
            <a:xfrm>
              <a:off x="4171188" y="2392680"/>
              <a:ext cx="877824"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财富/养老/消费测评​​​</a:t>
              </a:r>
            </a:p>
          </p:txBody>
        </p:sp>
        <p:sp>
          <p:nvSpPr>
            <p:cNvPr id="107" name="TextBox 107"/>
            <p:cNvSpPr txBox="1"/>
            <p:nvPr/>
          </p:nvSpPr>
          <p:spPr>
            <a:xfrm>
              <a:off x="5287328" y="2392680"/>
              <a:ext cx="77914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个性化产品/服务推荐​</a:t>
              </a:r>
              <a:br/>
              <a:r>
                <a:rPr lang="zh-CN" sz="600" dirty="0">
                  <a:solidFill>
                    <a:srgbClr val="514340"/>
                  </a:solidFill>
                  <a:latin typeface="+mn-lt"/>
                  <a:ea typeface="+mn-ea"/>
                  <a:cs typeface="+mn-cs"/>
                </a:rPr>
                <a:t>方案讲解、权益匹配</a:t>
              </a:r>
            </a:p>
          </p:txBody>
        </p:sp>
        <p:sp>
          <p:nvSpPr>
            <p:cNvPr id="108" name="TextBox 108"/>
            <p:cNvSpPr txBox="1"/>
            <p:nvPr/>
          </p:nvSpPr>
          <p:spPr>
            <a:xfrm>
              <a:off x="6388418" y="2392680"/>
              <a:ext cx="71056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领取礼品、权益券</a:t>
              </a:r>
              <a:br/>
              <a:r>
                <a:rPr lang="zh-CN" sz="600" dirty="0">
                  <a:solidFill>
                    <a:srgbClr val="514340"/>
                  </a:solidFill>
                  <a:latin typeface="+mn-lt"/>
                  <a:ea typeface="+mn-ea"/>
                  <a:cs typeface="+mn-cs"/>
                </a:rPr>
                <a:t>加入社群、下载APP​</a:t>
              </a:r>
            </a:p>
          </p:txBody>
        </p:sp>
        <p:sp>
          <p:nvSpPr>
            <p:cNvPr id="109" name="TextBox 109"/>
            <p:cNvSpPr txBox="1"/>
            <p:nvPr/>
          </p:nvSpPr>
          <p:spPr>
            <a:xfrm>
              <a:off x="7462838" y="2392680"/>
              <a:ext cx="695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拍照分享、社交裂变</a:t>
              </a:r>
              <a:br/>
              <a:r>
                <a:rPr lang="zh-CN" sz="600" dirty="0">
                  <a:solidFill>
                    <a:srgbClr val="514340"/>
                  </a:solidFill>
                  <a:latin typeface="+mn-lt"/>
                  <a:ea typeface="+mn-ea"/>
                  <a:cs typeface="+mn-cs"/>
                </a:rPr>
                <a:t>邀请有礼、线上打卡</a:t>
              </a:r>
            </a:p>
          </p:txBody>
        </p:sp>
        <p:sp>
          <p:nvSpPr>
            <p:cNvPr id="110" name="Rectangle 110"/>
            <p:cNvSpPr/>
            <p:nvPr/>
          </p:nvSpPr>
          <p:spPr>
            <a:xfrm>
              <a:off x="342900" y="2762250"/>
              <a:ext cx="8001000" cy="9525"/>
            </a:xfrm>
            <a:prstGeom prst="rect">
              <a:avLst/>
            </a:prstGeom>
            <a:solidFill>
              <a:srgbClr val="E2EEEB"/>
            </a:solidFill>
            <a:ln>
              <a:noFill/>
            </a:ln>
          </p:spPr>
        </p:sp>
        <p:sp>
          <p:nvSpPr>
            <p:cNvPr id="111" name="TextBox 111"/>
            <p:cNvSpPr txBox="1"/>
            <p:nvPr/>
          </p:nvSpPr>
          <p:spPr>
            <a:xfrm>
              <a:off x="451168" y="2994184"/>
              <a:ext cx="354965" cy="247650"/>
            </a:xfrm>
            <a:prstGeom prst="rect">
              <a:avLst/>
            </a:prstGeom>
            <a:noFill/>
            <a:ln>
              <a:noFill/>
            </a:ln>
          </p:spPr>
          <p:txBody>
            <a:bodyPr wrap="none" lIns="0" tIns="0" rIns="0" bIns="0" anchor="t" anchorCtr="0">
              <a:spAutoFit/>
            </a:bodyPr>
            <a:lstStyle/>
            <a:p>
              <a:pPr algn="ctr">
                <a:lnSpc>
                  <a:spcPts val="900"/>
                </a:lnSpc>
              </a:pPr>
              <a:r>
                <a:rPr lang="zh-CN" sz="680" b="1" dirty="0">
                  <a:solidFill>
                    <a:srgbClr val="5D190B"/>
                  </a:solidFill>
                  <a:latin typeface="+mn-lt"/>
                  <a:ea typeface="+mn-ea"/>
                  <a:cs typeface="+mn-cs"/>
                </a:rPr>
                <a:t>工作人员</a:t>
              </a:r>
              <a:br/>
              <a:r>
                <a:rPr lang="zh-CN" sz="680" b="1" dirty="0">
                  <a:solidFill>
                    <a:srgbClr val="5D190B"/>
                  </a:solidFill>
                  <a:latin typeface="+mn-lt"/>
                  <a:ea typeface="+mn-ea"/>
                  <a:cs typeface="+mn-cs"/>
                </a:rPr>
                <a:t>角色</a:t>
              </a:r>
            </a:p>
          </p:txBody>
        </p:sp>
        <p:sp>
          <p:nvSpPr>
            <p:cNvPr id="112" name="TextBox 112"/>
            <p:cNvSpPr txBox="1"/>
            <p:nvPr/>
          </p:nvSpPr>
          <p:spPr>
            <a:xfrm>
              <a:off x="1275702" y="2902982"/>
              <a:ext cx="26799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引流员</a:t>
              </a:r>
            </a:p>
          </p:txBody>
        </p:sp>
        <p:sp>
          <p:nvSpPr>
            <p:cNvPr id="113" name="TextBox 113"/>
            <p:cNvSpPr txBox="1"/>
            <p:nvPr/>
          </p:nvSpPr>
          <p:spPr>
            <a:xfrm>
              <a:off x="1041464" y="3040380"/>
              <a:ext cx="736473"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主动邀约、讲解引导</a:t>
              </a:r>
            </a:p>
          </p:txBody>
        </p:sp>
        <p:sp>
          <p:nvSpPr>
            <p:cNvPr id="114" name="TextBox 114"/>
            <p:cNvSpPr txBox="1"/>
            <p:nvPr/>
          </p:nvSpPr>
          <p:spPr>
            <a:xfrm>
              <a:off x="2342502" y="2902982"/>
              <a:ext cx="26799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体验官</a:t>
              </a:r>
            </a:p>
          </p:txBody>
        </p:sp>
        <p:sp>
          <p:nvSpPr>
            <p:cNvPr id="115" name="TextBox 115"/>
            <p:cNvSpPr txBox="1"/>
            <p:nvPr/>
          </p:nvSpPr>
          <p:spPr>
            <a:xfrm>
              <a:off x="2108264" y="3040380"/>
              <a:ext cx="736473"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引导参与、营造氛围</a:t>
              </a:r>
            </a:p>
          </p:txBody>
        </p:sp>
        <p:sp>
          <p:nvSpPr>
            <p:cNvPr id="116" name="TextBox 116"/>
            <p:cNvSpPr txBox="1"/>
            <p:nvPr/>
          </p:nvSpPr>
          <p:spPr>
            <a:xfrm>
              <a:off x="3409302" y="2902982"/>
              <a:ext cx="26799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体验官</a:t>
              </a:r>
            </a:p>
          </p:txBody>
        </p:sp>
        <p:sp>
          <p:nvSpPr>
            <p:cNvPr id="117" name="TextBox 117"/>
            <p:cNvSpPr txBox="1"/>
            <p:nvPr/>
          </p:nvSpPr>
          <p:spPr>
            <a:xfrm>
              <a:off x="3175063" y="3040380"/>
              <a:ext cx="736473"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解释权益、消除疑虑</a:t>
              </a:r>
            </a:p>
          </p:txBody>
        </p:sp>
        <p:sp>
          <p:nvSpPr>
            <p:cNvPr id="118" name="TextBox 118"/>
            <p:cNvSpPr txBox="1"/>
            <p:nvPr/>
          </p:nvSpPr>
          <p:spPr>
            <a:xfrm>
              <a:off x="4519181" y="2902982"/>
              <a:ext cx="181839"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顾问</a:t>
              </a:r>
            </a:p>
          </p:txBody>
        </p:sp>
        <p:sp>
          <p:nvSpPr>
            <p:cNvPr id="119" name="TextBox 119"/>
            <p:cNvSpPr txBox="1"/>
            <p:nvPr/>
          </p:nvSpPr>
          <p:spPr>
            <a:xfrm>
              <a:off x="4241864" y="3040380"/>
              <a:ext cx="736473"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引导作答、讲解需求</a:t>
              </a:r>
            </a:p>
          </p:txBody>
        </p:sp>
        <p:sp>
          <p:nvSpPr>
            <p:cNvPr id="120" name="TextBox 120"/>
            <p:cNvSpPr txBox="1"/>
            <p:nvPr/>
          </p:nvSpPr>
          <p:spPr>
            <a:xfrm>
              <a:off x="5585981" y="2902982"/>
              <a:ext cx="181839"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顾问</a:t>
              </a:r>
            </a:p>
          </p:txBody>
        </p:sp>
        <p:sp>
          <p:nvSpPr>
            <p:cNvPr id="121" name="TextBox 121"/>
            <p:cNvSpPr txBox="1"/>
            <p:nvPr/>
          </p:nvSpPr>
          <p:spPr>
            <a:xfrm>
              <a:off x="5308664" y="3040380"/>
              <a:ext cx="736473"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专业讲解、方案推荐</a:t>
              </a:r>
            </a:p>
          </p:txBody>
        </p:sp>
        <p:sp>
          <p:nvSpPr>
            <p:cNvPr id="122" name="TextBox 122"/>
            <p:cNvSpPr txBox="1"/>
            <p:nvPr/>
          </p:nvSpPr>
          <p:spPr>
            <a:xfrm>
              <a:off x="6609702" y="2902982"/>
              <a:ext cx="26799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运营员</a:t>
              </a:r>
            </a:p>
          </p:txBody>
        </p:sp>
        <p:sp>
          <p:nvSpPr>
            <p:cNvPr id="123" name="TextBox 123"/>
            <p:cNvSpPr txBox="1"/>
            <p:nvPr/>
          </p:nvSpPr>
          <p:spPr>
            <a:xfrm>
              <a:off x="6375464" y="3040380"/>
              <a:ext cx="736473"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核销礼品、引导上线</a:t>
              </a:r>
            </a:p>
          </p:txBody>
        </p:sp>
        <p:sp>
          <p:nvSpPr>
            <p:cNvPr id="124" name="TextBox 124"/>
            <p:cNvSpPr txBox="1"/>
            <p:nvPr/>
          </p:nvSpPr>
          <p:spPr>
            <a:xfrm>
              <a:off x="7676502" y="2902982"/>
              <a:ext cx="26799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运营员</a:t>
              </a:r>
            </a:p>
          </p:txBody>
        </p:sp>
        <p:sp>
          <p:nvSpPr>
            <p:cNvPr id="125" name="TextBox 125"/>
            <p:cNvSpPr txBox="1"/>
            <p:nvPr/>
          </p:nvSpPr>
          <p:spPr>
            <a:xfrm>
              <a:off x="7442264" y="3040380"/>
              <a:ext cx="736473"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引导分享、发放激励</a:t>
              </a:r>
            </a:p>
          </p:txBody>
        </p:sp>
        <p:sp>
          <p:nvSpPr>
            <p:cNvPr id="126" name="Rectangle 126"/>
            <p:cNvSpPr/>
            <p:nvPr/>
          </p:nvSpPr>
          <p:spPr>
            <a:xfrm>
              <a:off x="342900" y="3219450"/>
              <a:ext cx="8001000" cy="9525"/>
            </a:xfrm>
            <a:prstGeom prst="rect">
              <a:avLst/>
            </a:prstGeom>
            <a:solidFill>
              <a:srgbClr val="E2EEEB"/>
            </a:solidFill>
            <a:ln>
              <a:noFill/>
            </a:ln>
          </p:spPr>
        </p:sp>
        <p:sp>
          <p:nvSpPr>
            <p:cNvPr id="127" name="TextBox 127"/>
            <p:cNvSpPr txBox="1"/>
            <p:nvPr/>
          </p:nvSpPr>
          <p:spPr>
            <a:xfrm>
              <a:off x="440804" y="3470434"/>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采集数据</a:t>
              </a:r>
            </a:p>
          </p:txBody>
        </p:sp>
        <p:sp>
          <p:nvSpPr>
            <p:cNvPr id="128" name="TextBox 128"/>
            <p:cNvSpPr txBox="1"/>
            <p:nvPr/>
          </p:nvSpPr>
          <p:spPr>
            <a:xfrm>
              <a:off x="1062038" y="3307080"/>
              <a:ext cx="695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到访人次、停留时长</a:t>
              </a:r>
              <a:br/>
              <a:r>
                <a:rPr lang="zh-CN" sz="600" dirty="0">
                  <a:solidFill>
                    <a:srgbClr val="514340"/>
                  </a:solidFill>
                  <a:latin typeface="+mn-lt"/>
                  <a:ea typeface="+mn-ea"/>
                  <a:cs typeface="+mn-cs"/>
                </a:rPr>
                <a:t>客流来源时段</a:t>
              </a:r>
            </a:p>
          </p:txBody>
        </p:sp>
        <p:sp>
          <p:nvSpPr>
            <p:cNvPr id="129" name="TextBox 129"/>
            <p:cNvSpPr txBox="1"/>
            <p:nvPr/>
          </p:nvSpPr>
          <p:spPr>
            <a:xfrm>
              <a:off x="2128838" y="3307080"/>
              <a:ext cx="695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互动行为、兴趣标签</a:t>
              </a:r>
              <a:br/>
              <a:r>
                <a:rPr lang="zh-CN" sz="600" dirty="0">
                  <a:solidFill>
                    <a:srgbClr val="514340"/>
                  </a:solidFill>
                  <a:latin typeface="+mn-lt"/>
                  <a:ea typeface="+mn-ea"/>
                  <a:cs typeface="+mn-cs"/>
                </a:rPr>
                <a:t>活动偏好</a:t>
              </a:r>
            </a:p>
          </p:txBody>
        </p:sp>
        <p:sp>
          <p:nvSpPr>
            <p:cNvPr id="130" name="TextBox 130"/>
            <p:cNvSpPr txBox="1"/>
            <p:nvPr/>
          </p:nvSpPr>
          <p:spPr>
            <a:xfrm>
              <a:off x="3195638" y="3307080"/>
              <a:ext cx="695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手机号、微信授权</a:t>
              </a:r>
              <a:br/>
              <a:r>
                <a:rPr lang="zh-CN" sz="600" dirty="0">
                  <a:solidFill>
                    <a:srgbClr val="514340"/>
                  </a:solidFill>
                  <a:latin typeface="+mn-lt"/>
                  <a:ea typeface="+mn-ea"/>
                  <a:cs typeface="+mn-cs"/>
                </a:rPr>
                <a:t>会员身份、同意条款</a:t>
              </a:r>
            </a:p>
          </p:txBody>
        </p:sp>
        <p:sp>
          <p:nvSpPr>
            <p:cNvPr id="131" name="TextBox 131"/>
            <p:cNvSpPr txBox="1"/>
            <p:nvPr/>
          </p:nvSpPr>
          <p:spPr>
            <a:xfrm>
              <a:off x="4262438" y="3307080"/>
              <a:ext cx="695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风险偏好、产品兴趣</a:t>
              </a:r>
              <a:br/>
              <a:r>
                <a:rPr lang="zh-CN" sz="600" dirty="0">
                  <a:solidFill>
                    <a:srgbClr val="514340"/>
                  </a:solidFill>
                  <a:latin typeface="+mn-lt"/>
                  <a:ea typeface="+mn-ea"/>
                  <a:cs typeface="+mn-cs"/>
                </a:rPr>
                <a:t>人生阶段、需求画像</a:t>
              </a:r>
            </a:p>
          </p:txBody>
        </p:sp>
        <p:sp>
          <p:nvSpPr>
            <p:cNvPr id="132" name="TextBox 132"/>
            <p:cNvSpPr txBox="1"/>
            <p:nvPr/>
          </p:nvSpPr>
          <p:spPr>
            <a:xfrm>
              <a:off x="5329238" y="3307080"/>
              <a:ext cx="695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意向产品、关注点</a:t>
              </a:r>
              <a:br/>
              <a:r>
                <a:rPr lang="zh-CN" sz="600" dirty="0">
                  <a:solidFill>
                    <a:srgbClr val="514340"/>
                  </a:solidFill>
                  <a:latin typeface="+mn-lt"/>
                  <a:ea typeface="+mn-ea"/>
                  <a:cs typeface="+mn-cs"/>
                </a:rPr>
                <a:t>沟通记录、意向等级</a:t>
              </a:r>
            </a:p>
          </p:txBody>
        </p:sp>
        <p:sp>
          <p:nvSpPr>
            <p:cNvPr id="133" name="TextBox 133"/>
            <p:cNvSpPr txBox="1"/>
            <p:nvPr/>
          </p:nvSpPr>
          <p:spPr>
            <a:xfrm>
              <a:off x="6388418" y="3307080"/>
              <a:ext cx="71056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礼品领取、券码核销</a:t>
              </a:r>
              <a:br/>
              <a:r>
                <a:rPr lang="zh-CN" sz="600" dirty="0">
                  <a:solidFill>
                    <a:srgbClr val="514340"/>
                  </a:solidFill>
                  <a:latin typeface="+mn-lt"/>
                  <a:ea typeface="+mn-ea"/>
                  <a:cs typeface="+mn-cs"/>
                </a:rPr>
                <a:t>APP下载、社群加入​</a:t>
              </a:r>
            </a:p>
          </p:txBody>
        </p:sp>
        <p:sp>
          <p:nvSpPr>
            <p:cNvPr id="134" name="TextBox 134"/>
            <p:cNvSpPr txBox="1"/>
            <p:nvPr/>
          </p:nvSpPr>
          <p:spPr>
            <a:xfrm>
              <a:off x="7462838" y="3307080"/>
              <a:ext cx="69532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514340"/>
                  </a:solidFill>
                  <a:latin typeface="+mn-lt"/>
                  <a:ea typeface="+mn-ea"/>
                  <a:cs typeface="+mn-cs"/>
                </a:rPr>
                <a:t>分享平台、分享内容</a:t>
              </a:r>
              <a:br/>
              <a:r>
                <a:rPr lang="zh-CN" sz="600" dirty="0">
                  <a:solidFill>
                    <a:srgbClr val="514340"/>
                  </a:solidFill>
                  <a:latin typeface="+mn-lt"/>
                  <a:ea typeface="+mn-ea"/>
                  <a:cs typeface="+mn-cs"/>
                </a:rPr>
                <a:t>邀请人数、裂变关系</a:t>
              </a:r>
            </a:p>
          </p:txBody>
        </p:sp>
        <p:sp>
          <p:nvSpPr>
            <p:cNvPr id="135" name="Rectangle 135"/>
            <p:cNvSpPr/>
            <p:nvPr/>
          </p:nvSpPr>
          <p:spPr>
            <a:xfrm>
              <a:off x="342900" y="3657600"/>
              <a:ext cx="8001000" cy="9525"/>
            </a:xfrm>
            <a:prstGeom prst="rect">
              <a:avLst/>
            </a:prstGeom>
            <a:solidFill>
              <a:srgbClr val="E2EEEB"/>
            </a:solidFill>
            <a:ln>
              <a:noFill/>
            </a:ln>
          </p:spPr>
        </p:sp>
        <p:sp>
          <p:nvSpPr>
            <p:cNvPr id="136" name="TextBox 136"/>
            <p:cNvSpPr txBox="1"/>
            <p:nvPr/>
          </p:nvSpPr>
          <p:spPr>
            <a:xfrm>
              <a:off x="433326" y="3965734"/>
              <a:ext cx="390649"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转化KPI​</a:t>
              </a:r>
            </a:p>
          </p:txBody>
        </p:sp>
        <p:sp>
          <p:nvSpPr>
            <p:cNvPr id="137" name="TextBox 137"/>
            <p:cNvSpPr txBox="1"/>
            <p:nvPr/>
          </p:nvSpPr>
          <p:spPr>
            <a:xfrm>
              <a:off x="1232624" y="3817382"/>
              <a:ext cx="354152"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进展位率</a:t>
              </a:r>
            </a:p>
          </p:txBody>
        </p:sp>
        <p:sp>
          <p:nvSpPr>
            <p:cNvPr id="138" name="TextBox 138"/>
            <p:cNvSpPr txBox="1"/>
            <p:nvPr/>
          </p:nvSpPr>
          <p:spPr>
            <a:xfrm>
              <a:off x="1200059" y="3966210"/>
              <a:ext cx="419283" cy="234696"/>
            </a:xfrm>
            <a:prstGeom prst="rect">
              <a:avLst/>
            </a:prstGeom>
            <a:noFill/>
            <a:ln>
              <a:noFill/>
            </a:ln>
          </p:spPr>
          <p:txBody>
            <a:bodyPr wrap="none" lIns="0" tIns="0" rIns="0" bIns="0" anchor="t" anchorCtr="0">
              <a:spAutoFit/>
            </a:bodyPr>
            <a:lstStyle/>
            <a:p>
              <a:pPr algn="ctr"/>
              <a:r>
                <a:rPr lang="zh-CN" sz="1200" b="1" dirty="0">
                  <a:solidFill>
                    <a:srgbClr val="76200F"/>
                  </a:solidFill>
                  <a:latin typeface="+mn-lt"/>
                  <a:ea typeface="+mn-ea"/>
                  <a:cs typeface="+mn-cs"/>
                </a:rPr>
                <a:t>68%​</a:t>
              </a:r>
            </a:p>
          </p:txBody>
        </p:sp>
        <p:sp>
          <p:nvSpPr>
            <p:cNvPr id="139" name="TextBox 139"/>
            <p:cNvSpPr txBox="1"/>
            <p:nvPr/>
          </p:nvSpPr>
          <p:spPr>
            <a:xfrm>
              <a:off x="2256346" y="3817382"/>
              <a:ext cx="440309"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互动完成率</a:t>
              </a:r>
            </a:p>
          </p:txBody>
        </p:sp>
        <p:sp>
          <p:nvSpPr>
            <p:cNvPr id="140" name="TextBox 140"/>
            <p:cNvSpPr txBox="1"/>
            <p:nvPr/>
          </p:nvSpPr>
          <p:spPr>
            <a:xfrm>
              <a:off x="2266859" y="3966210"/>
              <a:ext cx="419283" cy="234696"/>
            </a:xfrm>
            <a:prstGeom prst="rect">
              <a:avLst/>
            </a:prstGeom>
            <a:noFill/>
            <a:ln>
              <a:noFill/>
            </a:ln>
          </p:spPr>
          <p:txBody>
            <a:bodyPr wrap="none" lIns="0" tIns="0" rIns="0" bIns="0" anchor="t" anchorCtr="0">
              <a:spAutoFit/>
            </a:bodyPr>
            <a:lstStyle/>
            <a:p>
              <a:pPr algn="ctr"/>
              <a:r>
                <a:rPr lang="zh-CN" sz="1200" b="1" dirty="0">
                  <a:solidFill>
                    <a:srgbClr val="76200F"/>
                  </a:solidFill>
                  <a:latin typeface="+mn-lt"/>
                  <a:ea typeface="+mn-ea"/>
                  <a:cs typeface="+mn-cs"/>
                </a:rPr>
                <a:t>52%​</a:t>
              </a:r>
            </a:p>
          </p:txBody>
        </p:sp>
        <p:sp>
          <p:nvSpPr>
            <p:cNvPr id="141" name="TextBox 141"/>
            <p:cNvSpPr txBox="1"/>
            <p:nvPr/>
          </p:nvSpPr>
          <p:spPr>
            <a:xfrm>
              <a:off x="3409302" y="3817382"/>
              <a:ext cx="267995"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授权率</a:t>
              </a:r>
            </a:p>
          </p:txBody>
        </p:sp>
        <p:sp>
          <p:nvSpPr>
            <p:cNvPr id="142" name="TextBox 142"/>
            <p:cNvSpPr txBox="1"/>
            <p:nvPr/>
          </p:nvSpPr>
          <p:spPr>
            <a:xfrm>
              <a:off x="3333659" y="3966210"/>
              <a:ext cx="419283" cy="234696"/>
            </a:xfrm>
            <a:prstGeom prst="rect">
              <a:avLst/>
            </a:prstGeom>
            <a:noFill/>
            <a:ln>
              <a:noFill/>
            </a:ln>
          </p:spPr>
          <p:txBody>
            <a:bodyPr wrap="none" lIns="0" tIns="0" rIns="0" bIns="0" anchor="t" anchorCtr="0">
              <a:spAutoFit/>
            </a:bodyPr>
            <a:lstStyle/>
            <a:p>
              <a:pPr algn="ctr"/>
              <a:r>
                <a:rPr lang="zh-CN" sz="1200" b="1" dirty="0">
                  <a:solidFill>
                    <a:srgbClr val="76200F"/>
                  </a:solidFill>
                  <a:latin typeface="+mn-lt"/>
                  <a:ea typeface="+mn-ea"/>
                  <a:cs typeface="+mn-cs"/>
                </a:rPr>
                <a:t>38%​</a:t>
              </a:r>
            </a:p>
          </p:txBody>
        </p:sp>
        <p:sp>
          <p:nvSpPr>
            <p:cNvPr id="143" name="TextBox 143"/>
            <p:cNvSpPr txBox="1"/>
            <p:nvPr/>
          </p:nvSpPr>
          <p:spPr>
            <a:xfrm>
              <a:off x="4389946" y="3817382"/>
              <a:ext cx="440309"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有效留资率</a:t>
              </a:r>
            </a:p>
          </p:txBody>
        </p:sp>
        <p:sp>
          <p:nvSpPr>
            <p:cNvPr id="144" name="TextBox 144"/>
            <p:cNvSpPr txBox="1"/>
            <p:nvPr/>
          </p:nvSpPr>
          <p:spPr>
            <a:xfrm>
              <a:off x="4400459" y="3966210"/>
              <a:ext cx="419283" cy="234696"/>
            </a:xfrm>
            <a:prstGeom prst="rect">
              <a:avLst/>
            </a:prstGeom>
            <a:noFill/>
            <a:ln>
              <a:noFill/>
            </a:ln>
          </p:spPr>
          <p:txBody>
            <a:bodyPr wrap="none" lIns="0" tIns="0" rIns="0" bIns="0" anchor="t" anchorCtr="0">
              <a:spAutoFit/>
            </a:bodyPr>
            <a:lstStyle/>
            <a:p>
              <a:pPr algn="ctr"/>
              <a:r>
                <a:rPr lang="zh-CN" sz="1200" b="1" dirty="0">
                  <a:solidFill>
                    <a:srgbClr val="76200F"/>
                  </a:solidFill>
                  <a:latin typeface="+mn-lt"/>
                  <a:ea typeface="+mn-ea"/>
                  <a:cs typeface="+mn-cs"/>
                </a:rPr>
                <a:t>28%​</a:t>
              </a:r>
            </a:p>
          </p:txBody>
        </p:sp>
        <p:sp>
          <p:nvSpPr>
            <p:cNvPr id="145" name="TextBox 145"/>
            <p:cNvSpPr txBox="1"/>
            <p:nvPr/>
          </p:nvSpPr>
          <p:spPr>
            <a:xfrm>
              <a:off x="5456746" y="3817382"/>
              <a:ext cx="440309"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推荐转化率</a:t>
              </a:r>
            </a:p>
          </p:txBody>
        </p:sp>
        <p:sp>
          <p:nvSpPr>
            <p:cNvPr id="146" name="TextBox 146"/>
            <p:cNvSpPr txBox="1"/>
            <p:nvPr/>
          </p:nvSpPr>
          <p:spPr>
            <a:xfrm>
              <a:off x="5467259" y="3966210"/>
              <a:ext cx="419283" cy="234696"/>
            </a:xfrm>
            <a:prstGeom prst="rect">
              <a:avLst/>
            </a:prstGeom>
            <a:noFill/>
            <a:ln>
              <a:noFill/>
            </a:ln>
          </p:spPr>
          <p:txBody>
            <a:bodyPr wrap="none" lIns="0" tIns="0" rIns="0" bIns="0" anchor="t" anchorCtr="0">
              <a:spAutoFit/>
            </a:bodyPr>
            <a:lstStyle/>
            <a:p>
              <a:pPr algn="ctr"/>
              <a:r>
                <a:rPr lang="zh-CN" sz="1200" b="1" dirty="0">
                  <a:solidFill>
                    <a:srgbClr val="76200F"/>
                  </a:solidFill>
                  <a:latin typeface="+mn-lt"/>
                  <a:ea typeface="+mn-ea"/>
                  <a:cs typeface="+mn-cs"/>
                </a:rPr>
                <a:t>22%​</a:t>
              </a:r>
            </a:p>
          </p:txBody>
        </p:sp>
        <p:sp>
          <p:nvSpPr>
            <p:cNvPr id="147" name="TextBox 147"/>
            <p:cNvSpPr txBox="1"/>
            <p:nvPr/>
          </p:nvSpPr>
          <p:spPr>
            <a:xfrm>
              <a:off x="6523546" y="3817382"/>
              <a:ext cx="440309"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权益领取率</a:t>
              </a:r>
            </a:p>
          </p:txBody>
        </p:sp>
        <p:sp>
          <p:nvSpPr>
            <p:cNvPr id="148" name="TextBox 148"/>
            <p:cNvSpPr txBox="1"/>
            <p:nvPr/>
          </p:nvSpPr>
          <p:spPr>
            <a:xfrm>
              <a:off x="6534059" y="3966210"/>
              <a:ext cx="419283" cy="234696"/>
            </a:xfrm>
            <a:prstGeom prst="rect">
              <a:avLst/>
            </a:prstGeom>
            <a:noFill/>
            <a:ln>
              <a:noFill/>
            </a:ln>
          </p:spPr>
          <p:txBody>
            <a:bodyPr wrap="none" lIns="0" tIns="0" rIns="0" bIns="0" anchor="t" anchorCtr="0">
              <a:spAutoFit/>
            </a:bodyPr>
            <a:lstStyle/>
            <a:p>
              <a:pPr algn="ctr"/>
              <a:r>
                <a:rPr lang="zh-CN" sz="1200" b="1" dirty="0">
                  <a:solidFill>
                    <a:srgbClr val="76200F"/>
                  </a:solidFill>
                  <a:latin typeface="+mn-lt"/>
                  <a:ea typeface="+mn-ea"/>
                  <a:cs typeface="+mn-cs"/>
                </a:rPr>
                <a:t>35%​</a:t>
              </a:r>
            </a:p>
          </p:txBody>
        </p:sp>
        <p:sp>
          <p:nvSpPr>
            <p:cNvPr id="149" name="TextBox 149"/>
            <p:cNvSpPr txBox="1"/>
            <p:nvPr/>
          </p:nvSpPr>
          <p:spPr>
            <a:xfrm>
              <a:off x="7590346" y="3817382"/>
              <a:ext cx="440309"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分享转化率</a:t>
              </a:r>
            </a:p>
          </p:txBody>
        </p:sp>
        <p:sp>
          <p:nvSpPr>
            <p:cNvPr id="150" name="TextBox 150"/>
            <p:cNvSpPr txBox="1"/>
            <p:nvPr/>
          </p:nvSpPr>
          <p:spPr>
            <a:xfrm>
              <a:off x="7600859" y="3966210"/>
              <a:ext cx="419283" cy="234696"/>
            </a:xfrm>
            <a:prstGeom prst="rect">
              <a:avLst/>
            </a:prstGeom>
            <a:noFill/>
            <a:ln>
              <a:noFill/>
            </a:ln>
          </p:spPr>
          <p:txBody>
            <a:bodyPr wrap="none" lIns="0" tIns="0" rIns="0" bIns="0" anchor="t" anchorCtr="0">
              <a:spAutoFit/>
            </a:bodyPr>
            <a:lstStyle/>
            <a:p>
              <a:pPr algn="ctr"/>
              <a:r>
                <a:rPr lang="zh-CN" sz="1200" b="1" dirty="0">
                  <a:solidFill>
                    <a:srgbClr val="76200F"/>
                  </a:solidFill>
                  <a:latin typeface="+mn-lt"/>
                  <a:ea typeface="+mn-ea"/>
                  <a:cs typeface="+mn-cs"/>
                </a:rPr>
                <a:t>15%​</a:t>
              </a:r>
            </a:p>
          </p:txBody>
        </p:sp>
      </p:grpSp>
      <p:grpSp>
        <p:nvGrpSpPr>
          <p:cNvPr id="181" name="role-panel"/>
          <p:cNvGrpSpPr/>
          <p:nvPr/>
        </p:nvGrpSpPr>
        <p:grpSpPr>
          <a:xfrm>
            <a:off x="8420100" y="1676400"/>
            <a:ext cx="3409950" cy="2695813"/>
            <a:chOff x="8420100" y="1676400"/>
            <a:chExt cx="3409950" cy="2695813"/>
          </a:xfrm>
        </p:grpSpPr>
        <p:sp>
          <p:nvSpPr>
            <p:cNvPr id="152" name="Rectangle 152"/>
            <p:cNvSpPr/>
            <p:nvPr/>
          </p:nvSpPr>
          <p:spPr>
            <a:xfrm>
              <a:off x="8420100" y="1676400"/>
              <a:ext cx="3409950" cy="2667000"/>
            </a:xfrm>
            <a:prstGeom prst="roundRect">
              <a:avLst>
                <a:gd name="adj" fmla="val 2857"/>
              </a:avLst>
            </a:prstGeom>
            <a:solidFill>
              <a:srgbClr val="5D190B"/>
            </a:solidFill>
            <a:ln>
              <a:noFill/>
            </a:ln>
          </p:spPr>
        </p:sp>
        <p:sp>
          <p:nvSpPr>
            <p:cNvPr id="153" name="TextBox 153"/>
            <p:cNvSpPr txBox="1"/>
            <p:nvPr/>
          </p:nvSpPr>
          <p:spPr>
            <a:xfrm>
              <a:off x="8567547" y="1780699"/>
              <a:ext cx="106532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现场人员角色分工</a:t>
              </a:r>
            </a:p>
          </p:txBody>
        </p:sp>
        <p:sp>
          <p:nvSpPr>
            <p:cNvPr id="154" name="Line 154"/>
            <p:cNvSpPr/>
            <p:nvPr/>
          </p:nvSpPr>
          <p:spPr>
            <a:xfrm>
              <a:off x="8572500" y="1981200"/>
              <a:ext cx="3105150" cy="9525"/>
            </a:xfrm>
            <a:custGeom>
              <a:avLst/>
              <a:gdLst/>
              <a:ahLst/>
              <a:cxnLst/>
              <a:rect l="l" t="t" r="r" b="b"/>
              <a:pathLst>
                <a:path w="3105150" h="9525">
                  <a:moveTo>
                    <a:pt x="0" y="0"/>
                  </a:moveTo>
                  <a:lnTo>
                    <a:pt x="3105150" y="0"/>
                  </a:lnTo>
                </a:path>
              </a:pathLst>
            </a:custGeom>
            <a:noFill/>
            <a:ln w="9525">
              <a:solidFill>
                <a:srgbClr val="A3422F"/>
              </a:solidFill>
            </a:ln>
          </p:spPr>
        </p:sp>
        <p:grpSp>
          <p:nvGrpSpPr>
            <p:cNvPr id="157" name="Group 157"/>
            <p:cNvGrpSpPr/>
            <p:nvPr/>
          </p:nvGrpSpPr>
          <p:grpSpPr>
            <a:xfrm>
              <a:off x="8608219" y="2117605"/>
              <a:ext cx="100012" cy="127913"/>
              <a:chOff x="8608219" y="2117605"/>
              <a:chExt cx="100012" cy="127913"/>
            </a:xfrm>
          </p:grpSpPr>
          <p:sp>
            <p:nvSpPr>
              <p:cNvPr id="155" name="Freeform 155"/>
              <p:cNvSpPr/>
              <p:nvPr/>
            </p:nvSpPr>
            <p:spPr>
              <a:xfrm>
                <a:off x="8608219" y="2117605"/>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4288">
                <a:solidFill>
                  <a:srgbClr val="C4887C"/>
                </a:solidFill>
              </a:ln>
            </p:spPr>
          </p:sp>
          <p:sp>
            <p:nvSpPr>
              <p:cNvPr id="156" name="Freeform 156"/>
              <p:cNvSpPr/>
              <p:nvPr/>
            </p:nvSpPr>
            <p:spPr>
              <a:xfrm>
                <a:off x="8608219" y="2195512"/>
                <a:ext cx="9525" cy="50006"/>
              </a:xfrm>
              <a:custGeom>
                <a:avLst/>
                <a:gdLst/>
                <a:ahLst/>
                <a:cxnLst/>
                <a:rect l="l" t="t" r="r" b="b"/>
                <a:pathLst>
                  <a:path w="9525" h="50006">
                    <a:moveTo>
                      <a:pt x="0" y="50006"/>
                    </a:moveTo>
                    <a:lnTo>
                      <a:pt x="0" y="0"/>
                    </a:lnTo>
                  </a:path>
                </a:pathLst>
              </a:custGeom>
              <a:noFill/>
              <a:ln w="14288">
                <a:solidFill>
                  <a:srgbClr val="C4887C"/>
                </a:solidFill>
              </a:ln>
            </p:spPr>
          </p:sp>
        </p:grpSp>
        <p:sp>
          <p:nvSpPr>
            <p:cNvPr id="158" name="TextBox 158"/>
            <p:cNvSpPr txBox="1"/>
            <p:nvPr/>
          </p:nvSpPr>
          <p:spPr>
            <a:xfrm>
              <a:off x="8815388" y="2101691"/>
              <a:ext cx="826776"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引流员</a:t>
              </a:r>
              <a:r>
                <a:rPr lang="zh-CN" sz="680" b="1" dirty="0">
                  <a:solidFill>
                    <a:srgbClr val="BFE4DD"/>
                  </a:solidFill>
                  <a:latin typeface="+mn-lt"/>
                  <a:ea typeface="+mn-ea"/>
                  <a:cs typeface="+mn-cs"/>
                </a:rPr>
                <a:t>（2-3人）​</a:t>
              </a:r>
            </a:p>
          </p:txBody>
        </p:sp>
        <p:sp>
          <p:nvSpPr>
            <p:cNvPr id="159" name="TextBox 159"/>
            <p:cNvSpPr txBox="1"/>
            <p:nvPr/>
          </p:nvSpPr>
          <p:spPr>
            <a:xfrm>
              <a:off x="8815388" y="2264807"/>
              <a:ext cx="1818818" cy="126206"/>
            </a:xfrm>
            <a:prstGeom prst="rect">
              <a:avLst/>
            </a:prstGeom>
            <a:noFill/>
            <a:ln>
              <a:noFill/>
            </a:ln>
          </p:spPr>
          <p:txBody>
            <a:bodyPr wrap="none" lIns="0" tIns="0" rIns="0" bIns="0" anchor="t" anchorCtr="0">
              <a:spAutoFit/>
            </a:bodyPr>
            <a:lstStyle/>
            <a:p>
              <a:pPr algn="l"/>
              <a:r>
                <a:rPr lang="zh-CN" sz="640" dirty="0">
                  <a:solidFill>
                    <a:srgbClr val="BFE4DD"/>
                  </a:solidFill>
                  <a:latin typeface="+mn-lt"/>
                  <a:ea typeface="+mn-ea"/>
                  <a:cs typeface="+mn-cs"/>
                </a:rPr>
                <a:t>站位于动线、主动邀约、介绍亮点、引导进展位</a:t>
              </a:r>
            </a:p>
          </p:txBody>
        </p:sp>
        <p:sp>
          <p:nvSpPr>
            <p:cNvPr id="160" name="Freeform 160"/>
            <p:cNvSpPr/>
            <p:nvPr/>
          </p:nvSpPr>
          <p:spPr>
            <a:xfrm>
              <a:off x="8593931" y="2612231"/>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C4887C"/>
              </a:solidFill>
            </a:ln>
          </p:spPr>
        </p:sp>
        <p:sp>
          <p:nvSpPr>
            <p:cNvPr id="161" name="TextBox 161"/>
            <p:cNvSpPr txBox="1"/>
            <p:nvPr/>
          </p:nvSpPr>
          <p:spPr>
            <a:xfrm>
              <a:off x="8815388" y="2596991"/>
              <a:ext cx="826776"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体验官</a:t>
              </a:r>
              <a:r>
                <a:rPr lang="zh-CN" sz="680" b="1" dirty="0">
                  <a:solidFill>
                    <a:srgbClr val="BFE4DD"/>
                  </a:solidFill>
                  <a:latin typeface="+mn-lt"/>
                  <a:ea typeface="+mn-ea"/>
                  <a:cs typeface="+mn-cs"/>
                </a:rPr>
                <a:t>（2-3人）​</a:t>
              </a:r>
            </a:p>
          </p:txBody>
        </p:sp>
        <p:sp>
          <p:nvSpPr>
            <p:cNvPr id="162" name="TextBox 162"/>
            <p:cNvSpPr txBox="1"/>
            <p:nvPr/>
          </p:nvSpPr>
          <p:spPr>
            <a:xfrm>
              <a:off x="8815388" y="2760107"/>
              <a:ext cx="1646504" cy="126206"/>
            </a:xfrm>
            <a:prstGeom prst="rect">
              <a:avLst/>
            </a:prstGeom>
            <a:noFill/>
            <a:ln>
              <a:noFill/>
            </a:ln>
          </p:spPr>
          <p:txBody>
            <a:bodyPr wrap="none" lIns="0" tIns="0" rIns="0" bIns="0" anchor="t" anchorCtr="0">
              <a:spAutoFit/>
            </a:bodyPr>
            <a:lstStyle/>
            <a:p>
              <a:pPr algn="l"/>
              <a:r>
                <a:rPr lang="zh-CN" sz="640" dirty="0">
                  <a:solidFill>
                    <a:srgbClr val="BFE4DD"/>
                  </a:solidFill>
                  <a:latin typeface="+mn-lt"/>
                  <a:ea typeface="+mn-ea"/>
                  <a:cs typeface="+mn-cs"/>
                </a:rPr>
                <a:t>引导互动、管理秩序、讲解规则、协助授权</a:t>
              </a:r>
            </a:p>
          </p:txBody>
        </p:sp>
        <p:grpSp>
          <p:nvGrpSpPr>
            <p:cNvPr id="166" name="Group 166"/>
            <p:cNvGrpSpPr/>
            <p:nvPr/>
          </p:nvGrpSpPr>
          <p:grpSpPr>
            <a:xfrm>
              <a:off x="8615362" y="3107531"/>
              <a:ext cx="107156" cy="128588"/>
              <a:chOff x="8615362" y="3107531"/>
              <a:chExt cx="107156" cy="128588"/>
            </a:xfrm>
          </p:grpSpPr>
          <p:sp>
            <p:nvSpPr>
              <p:cNvPr id="163" name="Freeform 163"/>
              <p:cNvSpPr/>
              <p:nvPr/>
            </p:nvSpPr>
            <p:spPr>
              <a:xfrm>
                <a:off x="8629650" y="31075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C4887C"/>
                </a:solidFill>
              </a:ln>
            </p:spPr>
          </p:sp>
          <p:sp>
            <p:nvSpPr>
              <p:cNvPr id="164" name="Freeform 164"/>
              <p:cNvSpPr/>
              <p:nvPr/>
            </p:nvSpPr>
            <p:spPr>
              <a:xfrm>
                <a:off x="8615362" y="319325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C4887C"/>
                </a:solidFill>
              </a:ln>
            </p:spPr>
          </p:sp>
          <p:sp>
            <p:nvSpPr>
              <p:cNvPr id="165" name="Freeform 165"/>
              <p:cNvSpPr/>
              <p:nvPr/>
            </p:nvSpPr>
            <p:spPr>
              <a:xfrm>
                <a:off x="8679656" y="3207544"/>
                <a:ext cx="42862" cy="28575"/>
              </a:xfrm>
              <a:custGeom>
                <a:avLst/>
                <a:gdLst/>
                <a:ahLst/>
                <a:cxnLst/>
                <a:rect l="l" t="t" r="r" b="b"/>
                <a:pathLst>
                  <a:path w="42862" h="28575">
                    <a:moveTo>
                      <a:pt x="0" y="14288"/>
                    </a:moveTo>
                    <a:lnTo>
                      <a:pt x="14288" y="28575"/>
                    </a:lnTo>
                    <a:lnTo>
                      <a:pt x="42862" y="0"/>
                    </a:lnTo>
                  </a:path>
                </a:pathLst>
              </a:custGeom>
              <a:noFill/>
              <a:ln w="14288">
                <a:solidFill>
                  <a:srgbClr val="C4887C"/>
                </a:solidFill>
              </a:ln>
            </p:spPr>
          </p:sp>
        </p:grpSp>
        <p:sp>
          <p:nvSpPr>
            <p:cNvPr id="167" name="TextBox 167"/>
            <p:cNvSpPr txBox="1"/>
            <p:nvPr/>
          </p:nvSpPr>
          <p:spPr>
            <a:xfrm>
              <a:off x="8815388" y="3092291"/>
              <a:ext cx="716388"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顾问</a:t>
              </a:r>
              <a:r>
                <a:rPr lang="zh-CN" sz="680" b="1" dirty="0">
                  <a:solidFill>
                    <a:srgbClr val="BFE4DD"/>
                  </a:solidFill>
                  <a:latin typeface="+mn-lt"/>
                  <a:ea typeface="+mn-ea"/>
                  <a:cs typeface="+mn-cs"/>
                </a:rPr>
                <a:t>（2-4人）​</a:t>
              </a:r>
            </a:p>
          </p:txBody>
        </p:sp>
        <p:sp>
          <p:nvSpPr>
            <p:cNvPr id="168" name="TextBox 168"/>
            <p:cNvSpPr txBox="1"/>
            <p:nvPr/>
          </p:nvSpPr>
          <p:spPr>
            <a:xfrm>
              <a:off x="8815388" y="3255407"/>
              <a:ext cx="1646504" cy="126206"/>
            </a:xfrm>
            <a:prstGeom prst="rect">
              <a:avLst/>
            </a:prstGeom>
            <a:noFill/>
            <a:ln>
              <a:noFill/>
            </a:ln>
          </p:spPr>
          <p:txBody>
            <a:bodyPr wrap="none" lIns="0" tIns="0" rIns="0" bIns="0" anchor="t" anchorCtr="0">
              <a:spAutoFit/>
            </a:bodyPr>
            <a:lstStyle/>
            <a:p>
              <a:pPr algn="l"/>
              <a:r>
                <a:rPr lang="zh-CN" sz="640" dirty="0">
                  <a:solidFill>
                    <a:srgbClr val="BFE4DD"/>
                  </a:solidFill>
                  <a:latin typeface="+mn-lt"/>
                  <a:ea typeface="+mn-ea"/>
                  <a:cs typeface="+mn-cs"/>
                </a:rPr>
                <a:t>深度沟通、需求诊断、产品推荐、转化跟进</a:t>
              </a:r>
            </a:p>
          </p:txBody>
        </p:sp>
        <p:grpSp>
          <p:nvGrpSpPr>
            <p:cNvPr id="171" name="Group 171"/>
            <p:cNvGrpSpPr/>
            <p:nvPr/>
          </p:nvGrpSpPr>
          <p:grpSpPr>
            <a:xfrm>
              <a:off x="8590795" y="3599695"/>
              <a:ext cx="134860" cy="134860"/>
              <a:chOff x="8590795" y="3599695"/>
              <a:chExt cx="134860" cy="134860"/>
            </a:xfrm>
          </p:grpSpPr>
          <p:sp>
            <p:nvSpPr>
              <p:cNvPr id="169" name="Freeform 169"/>
              <p:cNvSpPr/>
              <p:nvPr/>
            </p:nvSpPr>
            <p:spPr>
              <a:xfrm>
                <a:off x="8590795" y="3599695"/>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C4887C"/>
                </a:solidFill>
              </a:ln>
            </p:spPr>
          </p:sp>
          <p:sp>
            <p:nvSpPr>
              <p:cNvPr id="170" name="Freeform 170"/>
              <p:cNvSpPr/>
              <p:nvPr/>
            </p:nvSpPr>
            <p:spPr>
              <a:xfrm>
                <a:off x="8636794" y="3645694"/>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C4887C"/>
                </a:solidFill>
              </a:ln>
            </p:spPr>
          </p:sp>
        </p:grpSp>
        <p:sp>
          <p:nvSpPr>
            <p:cNvPr id="172" name="TextBox 172"/>
            <p:cNvSpPr txBox="1"/>
            <p:nvPr/>
          </p:nvSpPr>
          <p:spPr>
            <a:xfrm>
              <a:off x="8815388" y="3587591"/>
              <a:ext cx="826776"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运营员</a:t>
              </a:r>
              <a:r>
                <a:rPr lang="zh-CN" sz="680" b="1" dirty="0">
                  <a:solidFill>
                    <a:srgbClr val="BFE4DD"/>
                  </a:solidFill>
                  <a:latin typeface="+mn-lt"/>
                  <a:ea typeface="+mn-ea"/>
                  <a:cs typeface="+mn-cs"/>
                </a:rPr>
                <a:t>（2-3人）​</a:t>
              </a:r>
            </a:p>
          </p:txBody>
        </p:sp>
        <p:sp>
          <p:nvSpPr>
            <p:cNvPr id="173" name="TextBox 173"/>
            <p:cNvSpPr txBox="1"/>
            <p:nvPr/>
          </p:nvSpPr>
          <p:spPr>
            <a:xfrm>
              <a:off x="8815388" y="3750707"/>
              <a:ext cx="1646504" cy="126206"/>
            </a:xfrm>
            <a:prstGeom prst="rect">
              <a:avLst/>
            </a:prstGeom>
            <a:noFill/>
            <a:ln>
              <a:noFill/>
            </a:ln>
          </p:spPr>
          <p:txBody>
            <a:bodyPr wrap="none" lIns="0" tIns="0" rIns="0" bIns="0" anchor="t" anchorCtr="0">
              <a:spAutoFit/>
            </a:bodyPr>
            <a:lstStyle/>
            <a:p>
              <a:pPr algn="l"/>
              <a:r>
                <a:rPr lang="zh-CN" sz="640" dirty="0">
                  <a:solidFill>
                    <a:srgbClr val="BFE4DD"/>
                  </a:solidFill>
                  <a:latin typeface="+mn-lt"/>
                  <a:ea typeface="+mn-ea"/>
                  <a:cs typeface="+mn-cs"/>
                </a:rPr>
                <a:t>礼品核销、社群邀请、引导下载、数据记录</a:t>
              </a:r>
            </a:p>
          </p:txBody>
        </p:sp>
        <p:grpSp>
          <p:nvGrpSpPr>
            <p:cNvPr id="178" name="Group 178"/>
            <p:cNvGrpSpPr/>
            <p:nvPr/>
          </p:nvGrpSpPr>
          <p:grpSpPr>
            <a:xfrm>
              <a:off x="8593931" y="4098131"/>
              <a:ext cx="128588" cy="128588"/>
              <a:chOff x="8593931" y="4098131"/>
              <a:chExt cx="128588" cy="128588"/>
            </a:xfrm>
          </p:grpSpPr>
          <p:sp>
            <p:nvSpPr>
              <p:cNvPr id="174" name="Freeform 174"/>
              <p:cNvSpPr/>
              <p:nvPr/>
            </p:nvSpPr>
            <p:spPr>
              <a:xfrm>
                <a:off x="8608219" y="40981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C4887C"/>
                </a:solidFill>
              </a:ln>
            </p:spPr>
          </p:sp>
          <p:sp>
            <p:nvSpPr>
              <p:cNvPr id="175" name="Freeform 175"/>
              <p:cNvSpPr/>
              <p:nvPr/>
            </p:nvSpPr>
            <p:spPr>
              <a:xfrm>
                <a:off x="8593931" y="41838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C4887C"/>
                </a:solidFill>
              </a:ln>
            </p:spPr>
          </p:sp>
          <p:sp>
            <p:nvSpPr>
              <p:cNvPr id="176" name="Freeform 176"/>
              <p:cNvSpPr/>
              <p:nvPr/>
            </p:nvSpPr>
            <p:spPr>
              <a:xfrm>
                <a:off x="8686800" y="40990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C4887C"/>
                </a:solidFill>
              </a:ln>
            </p:spPr>
          </p:sp>
          <p:sp>
            <p:nvSpPr>
              <p:cNvPr id="177" name="Freeform 177"/>
              <p:cNvSpPr/>
              <p:nvPr/>
            </p:nvSpPr>
            <p:spPr>
              <a:xfrm>
                <a:off x="8701088" y="41849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C4887C"/>
                </a:solidFill>
              </a:ln>
            </p:spPr>
          </p:sp>
        </p:grpSp>
        <p:sp>
          <p:nvSpPr>
            <p:cNvPr id="179" name="TextBox 179"/>
            <p:cNvSpPr txBox="1"/>
            <p:nvPr/>
          </p:nvSpPr>
          <p:spPr>
            <a:xfrm>
              <a:off x="8815388" y="4082891"/>
              <a:ext cx="941822"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现场负责人</a:t>
              </a:r>
              <a:r>
                <a:rPr lang="zh-CN" sz="680" b="1" dirty="0">
                  <a:solidFill>
                    <a:srgbClr val="BFE4DD"/>
                  </a:solidFill>
                  <a:latin typeface="+mn-lt"/>
                  <a:ea typeface="+mn-ea"/>
                  <a:cs typeface="+mn-cs"/>
                </a:rPr>
                <a:t>（1人）​</a:t>
              </a:r>
            </a:p>
          </p:txBody>
        </p:sp>
        <p:sp>
          <p:nvSpPr>
            <p:cNvPr id="180" name="TextBox 180"/>
            <p:cNvSpPr txBox="1"/>
            <p:nvPr/>
          </p:nvSpPr>
          <p:spPr>
            <a:xfrm>
              <a:off x="8815388" y="4246007"/>
              <a:ext cx="1646504" cy="126206"/>
            </a:xfrm>
            <a:prstGeom prst="rect">
              <a:avLst/>
            </a:prstGeom>
            <a:noFill/>
            <a:ln>
              <a:noFill/>
            </a:ln>
          </p:spPr>
          <p:txBody>
            <a:bodyPr wrap="none" lIns="0" tIns="0" rIns="0" bIns="0" anchor="t" anchorCtr="0">
              <a:spAutoFit/>
            </a:bodyPr>
            <a:lstStyle/>
            <a:p>
              <a:pPr algn="l"/>
              <a:r>
                <a:rPr lang="zh-CN" sz="640" dirty="0">
                  <a:solidFill>
                    <a:srgbClr val="BFE4DD"/>
                  </a:solidFill>
                  <a:latin typeface="+mn-lt"/>
                  <a:ea typeface="+mn-ea"/>
                  <a:cs typeface="+mn-cs"/>
                </a:rPr>
                <a:t>整体协调、资源调度、异常处理、数据监控</a:t>
              </a:r>
            </a:p>
          </p:txBody>
        </p:sp>
      </p:grpSp>
      <p:grpSp>
        <p:nvGrpSpPr>
          <p:cNvPr id="266" name="abnormal-panel"/>
          <p:cNvGrpSpPr/>
          <p:nvPr/>
        </p:nvGrpSpPr>
        <p:grpSpPr>
          <a:xfrm>
            <a:off x="342900" y="4476750"/>
            <a:ext cx="11249025" cy="2114550"/>
            <a:chOff x="342900" y="4476750"/>
            <a:chExt cx="11249025" cy="2114550"/>
          </a:xfrm>
        </p:grpSpPr>
        <p:sp>
          <p:nvSpPr>
            <p:cNvPr id="182" name="Rectangle 182"/>
            <p:cNvSpPr/>
            <p:nvPr/>
          </p:nvSpPr>
          <p:spPr>
            <a:xfrm>
              <a:off x="342900" y="4476750"/>
              <a:ext cx="1047750" cy="2114550"/>
            </a:xfrm>
            <a:prstGeom prst="roundRect">
              <a:avLst>
                <a:gd name="adj" fmla="val 7273"/>
              </a:avLst>
            </a:prstGeom>
            <a:solidFill>
              <a:srgbClr val="5D190B"/>
            </a:solidFill>
            <a:ln>
              <a:noFill/>
            </a:ln>
          </p:spPr>
        </p:sp>
        <p:grpSp>
          <p:nvGrpSpPr>
            <p:cNvPr id="186" name="Group 186"/>
            <p:cNvGrpSpPr/>
            <p:nvPr/>
          </p:nvGrpSpPr>
          <p:grpSpPr>
            <a:xfrm>
              <a:off x="778719" y="4766743"/>
              <a:ext cx="176105" cy="151297"/>
              <a:chOff x="778719" y="4766743"/>
              <a:chExt cx="176105" cy="151297"/>
            </a:xfrm>
          </p:grpSpPr>
          <p:sp>
            <p:nvSpPr>
              <p:cNvPr id="183" name="Freeform 183"/>
              <p:cNvSpPr/>
              <p:nvPr/>
            </p:nvSpPr>
            <p:spPr>
              <a:xfrm>
                <a:off x="866775" y="4822031"/>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184" name="Freeform 184"/>
              <p:cNvSpPr/>
              <p:nvPr/>
            </p:nvSpPr>
            <p:spPr>
              <a:xfrm>
                <a:off x="778719" y="47667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FFFFFF"/>
                </a:solidFill>
              </a:ln>
            </p:spPr>
          </p:sp>
          <p:sp>
            <p:nvSpPr>
              <p:cNvPr id="185" name="Freeform 185"/>
              <p:cNvSpPr/>
              <p:nvPr/>
            </p:nvSpPr>
            <p:spPr>
              <a:xfrm>
                <a:off x="866775" y="4883150"/>
                <a:ext cx="9525" cy="9525"/>
              </a:xfrm>
              <a:custGeom>
                <a:avLst/>
                <a:gdLst/>
                <a:ahLst/>
                <a:cxnLst/>
                <a:rect l="l" t="t" r="r" b="b"/>
                <a:pathLst>
                  <a:path w="9525" h="9525">
                    <a:moveTo>
                      <a:pt x="0" y="0"/>
                    </a:moveTo>
                    <a:lnTo>
                      <a:pt x="87" y="0"/>
                    </a:lnTo>
                  </a:path>
                </a:pathLst>
              </a:custGeom>
              <a:noFill/>
              <a:ln w="17463">
                <a:solidFill>
                  <a:srgbClr val="FFFFFF"/>
                </a:solidFill>
              </a:ln>
            </p:spPr>
          </p:sp>
        </p:grpSp>
        <p:sp>
          <p:nvSpPr>
            <p:cNvPr id="187" name="TextBox 187"/>
            <p:cNvSpPr txBox="1"/>
            <p:nvPr/>
          </p:nvSpPr>
          <p:spPr>
            <a:xfrm>
              <a:off x="608927" y="50994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异常场景</a:t>
              </a:r>
            </a:p>
          </p:txBody>
        </p:sp>
        <p:sp>
          <p:nvSpPr>
            <p:cNvPr id="188" name="TextBox 188"/>
            <p:cNvSpPr txBox="1"/>
            <p:nvPr/>
          </p:nvSpPr>
          <p:spPr>
            <a:xfrm>
              <a:off x="608927" y="52899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应对流程</a:t>
              </a:r>
            </a:p>
          </p:txBody>
        </p:sp>
        <p:sp>
          <p:nvSpPr>
            <p:cNvPr id="189" name="Rectangle 189"/>
            <p:cNvSpPr/>
            <p:nvPr/>
          </p:nvSpPr>
          <p:spPr>
            <a:xfrm>
              <a:off x="1466850" y="4476750"/>
              <a:ext cx="1971675" cy="2114550"/>
            </a:xfrm>
            <a:prstGeom prst="roundRect">
              <a:avLst>
                <a:gd name="adj" fmla="val 3865"/>
              </a:avLst>
            </a:prstGeom>
            <a:solidFill>
              <a:srgbClr val="FFFFFF"/>
            </a:solidFill>
            <a:ln w="14288">
              <a:solidFill>
                <a:srgbClr val="C2E0DA"/>
              </a:solidFill>
            </a:ln>
          </p:spPr>
        </p:sp>
        <p:sp>
          <p:nvSpPr>
            <p:cNvPr id="190" name="TextBox 190"/>
            <p:cNvSpPr txBox="1"/>
            <p:nvPr/>
          </p:nvSpPr>
          <p:spPr>
            <a:xfrm>
              <a:off x="1595438" y="4597241"/>
              <a:ext cx="456322" cy="161925"/>
            </a:xfrm>
            <a:prstGeom prst="rect">
              <a:avLst/>
            </a:prstGeom>
            <a:noFill/>
            <a:ln>
              <a:noFill/>
            </a:ln>
          </p:spPr>
          <p:txBody>
            <a:bodyPr wrap="none" lIns="0" tIns="0" rIns="0" bIns="0" anchor="t" anchorCtr="0">
              <a:spAutoFit/>
            </a:bodyPr>
            <a:lstStyle/>
            <a:p>
              <a:pPr algn="l"/>
              <a:r>
                <a:rPr lang="zh-CN" sz="820" b="1" dirty="0">
                  <a:solidFill>
                    <a:srgbClr val="76200F"/>
                  </a:solidFill>
                  <a:latin typeface="+mn-lt"/>
                  <a:ea typeface="+mn-ea"/>
                  <a:cs typeface="+mn-cs"/>
                </a:rPr>
                <a:t>01 排队​</a:t>
              </a:r>
            </a:p>
          </p:txBody>
        </p:sp>
        <p:grpSp>
          <p:nvGrpSpPr>
            <p:cNvPr id="195" name="Group 195"/>
            <p:cNvGrpSpPr/>
            <p:nvPr/>
          </p:nvGrpSpPr>
          <p:grpSpPr>
            <a:xfrm>
              <a:off x="3218259" y="4589859"/>
              <a:ext cx="107156" cy="107157"/>
              <a:chOff x="3218259" y="4589859"/>
              <a:chExt cx="107156" cy="107157"/>
            </a:xfrm>
          </p:grpSpPr>
          <p:sp>
            <p:nvSpPr>
              <p:cNvPr id="191" name="Freeform 191"/>
              <p:cNvSpPr/>
              <p:nvPr/>
            </p:nvSpPr>
            <p:spPr>
              <a:xfrm>
                <a:off x="3230166" y="458985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1906">
                <a:solidFill>
                  <a:srgbClr val="A3422F"/>
                </a:solidFill>
              </a:ln>
            </p:spPr>
          </p:sp>
          <p:sp>
            <p:nvSpPr>
              <p:cNvPr id="192" name="Freeform 192"/>
              <p:cNvSpPr/>
              <p:nvPr/>
            </p:nvSpPr>
            <p:spPr>
              <a:xfrm>
                <a:off x="3218259" y="4661297"/>
                <a:ext cx="71438" cy="35719"/>
              </a:xfrm>
              <a:custGeom>
                <a:avLst/>
                <a:gdLst/>
                <a:ahLst/>
                <a:cxnLst/>
                <a:rect l="l" t="t" r="r" b="b"/>
                <a:pathLst>
                  <a:path w="71438" h="35719">
                    <a:moveTo>
                      <a:pt x="0" y="35719"/>
                    </a:moveTo>
                    <a:lnTo>
                      <a:pt x="0" y="23812"/>
                    </a:lnTo>
                    <a:cubicBezTo>
                      <a:pt x="0" y="10661"/>
                      <a:pt x="10661" y="0"/>
                      <a:pt x="23812" y="0"/>
                    </a:cubicBezTo>
                    <a:lnTo>
                      <a:pt x="47625" y="0"/>
                    </a:lnTo>
                    <a:cubicBezTo>
                      <a:pt x="60776" y="0"/>
                      <a:pt x="71438" y="10661"/>
                      <a:pt x="71438" y="23812"/>
                    </a:cubicBezTo>
                    <a:lnTo>
                      <a:pt x="71438" y="35719"/>
                    </a:lnTo>
                  </a:path>
                </a:pathLst>
              </a:custGeom>
              <a:noFill/>
              <a:ln w="11906">
                <a:solidFill>
                  <a:srgbClr val="A3422F"/>
                </a:solidFill>
              </a:ln>
            </p:spPr>
          </p:sp>
          <p:sp>
            <p:nvSpPr>
              <p:cNvPr id="193" name="Freeform 193"/>
              <p:cNvSpPr/>
              <p:nvPr/>
            </p:nvSpPr>
            <p:spPr>
              <a:xfrm>
                <a:off x="3295650" y="4590633"/>
                <a:ext cx="17906" cy="46137"/>
              </a:xfrm>
              <a:custGeom>
                <a:avLst/>
                <a:gdLst/>
                <a:ahLst/>
                <a:cxnLst/>
                <a:rect l="l" t="t" r="r" b="b"/>
                <a:pathLst>
                  <a:path w="17906" h="46137">
                    <a:moveTo>
                      <a:pt x="0" y="0"/>
                    </a:moveTo>
                    <a:cubicBezTo>
                      <a:pt x="10537" y="2698"/>
                      <a:pt x="17906" y="12192"/>
                      <a:pt x="17906" y="23068"/>
                    </a:cubicBezTo>
                    <a:cubicBezTo>
                      <a:pt x="17906" y="33945"/>
                      <a:pt x="10537" y="43439"/>
                      <a:pt x="0" y="46137"/>
                    </a:cubicBezTo>
                  </a:path>
                </a:pathLst>
              </a:custGeom>
              <a:noFill/>
              <a:ln w="11906">
                <a:solidFill>
                  <a:srgbClr val="A3422F"/>
                </a:solidFill>
              </a:ln>
            </p:spPr>
          </p:sp>
          <p:sp>
            <p:nvSpPr>
              <p:cNvPr id="194" name="Freeform 194"/>
              <p:cNvSpPr/>
              <p:nvPr/>
            </p:nvSpPr>
            <p:spPr>
              <a:xfrm>
                <a:off x="3307556" y="4662190"/>
                <a:ext cx="17859" cy="34826"/>
              </a:xfrm>
              <a:custGeom>
                <a:avLst/>
                <a:gdLst/>
                <a:ahLst/>
                <a:cxnLst/>
                <a:rect l="l" t="t" r="r" b="b"/>
                <a:pathLst>
                  <a:path w="17859" h="34826">
                    <a:moveTo>
                      <a:pt x="17859" y="34826"/>
                    </a:moveTo>
                    <a:lnTo>
                      <a:pt x="17859" y="22920"/>
                    </a:lnTo>
                    <a:cubicBezTo>
                      <a:pt x="17797" y="12112"/>
                      <a:pt x="10465" y="2702"/>
                      <a:pt x="0" y="0"/>
                    </a:cubicBezTo>
                  </a:path>
                </a:pathLst>
              </a:custGeom>
              <a:noFill/>
              <a:ln w="11906">
                <a:solidFill>
                  <a:srgbClr val="A3422F"/>
                </a:solidFill>
              </a:ln>
            </p:spPr>
          </p:sp>
        </p:grpSp>
        <p:sp>
          <p:nvSpPr>
            <p:cNvPr id="196" name="Rectangle 196"/>
            <p:cNvSpPr/>
            <p:nvPr/>
          </p:nvSpPr>
          <p:spPr>
            <a:xfrm>
              <a:off x="1581150" y="4762500"/>
              <a:ext cx="285750" cy="133350"/>
            </a:xfrm>
            <a:prstGeom prst="roundRect">
              <a:avLst>
                <a:gd name="adj" fmla="val 21429"/>
              </a:avLst>
            </a:prstGeom>
            <a:solidFill>
              <a:srgbClr val="E4F1EE"/>
            </a:solidFill>
            <a:ln>
              <a:noFill/>
            </a:ln>
          </p:spPr>
        </p:sp>
        <p:sp>
          <p:nvSpPr>
            <p:cNvPr id="197" name="TextBox 197"/>
            <p:cNvSpPr txBox="1"/>
            <p:nvPr/>
          </p:nvSpPr>
          <p:spPr>
            <a:xfrm>
              <a:off x="1638490" y="48025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判断</a:t>
              </a:r>
            </a:p>
          </p:txBody>
        </p:sp>
        <p:sp>
          <p:nvSpPr>
            <p:cNvPr id="198" name="TextBox 198"/>
            <p:cNvSpPr txBox="1"/>
            <p:nvPr/>
          </p:nvSpPr>
          <p:spPr>
            <a:xfrm>
              <a:off x="1919288" y="4802505"/>
              <a:ext cx="1192835"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现场排队超过5人、等候超3分钟​</a:t>
              </a:r>
            </a:p>
          </p:txBody>
        </p:sp>
        <p:sp>
          <p:nvSpPr>
            <p:cNvPr id="199" name="Rectangle 199"/>
            <p:cNvSpPr/>
            <p:nvPr/>
          </p:nvSpPr>
          <p:spPr>
            <a:xfrm>
              <a:off x="1581150" y="4972050"/>
              <a:ext cx="285750" cy="133350"/>
            </a:xfrm>
            <a:prstGeom prst="roundRect">
              <a:avLst>
                <a:gd name="adj" fmla="val 21429"/>
              </a:avLst>
            </a:prstGeom>
            <a:solidFill>
              <a:srgbClr val="E4F1EE"/>
            </a:solidFill>
            <a:ln>
              <a:noFill/>
            </a:ln>
          </p:spPr>
        </p:sp>
        <p:sp>
          <p:nvSpPr>
            <p:cNvPr id="200" name="TextBox 200"/>
            <p:cNvSpPr txBox="1"/>
            <p:nvPr/>
          </p:nvSpPr>
          <p:spPr>
            <a:xfrm>
              <a:off x="1638490" y="50120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处理</a:t>
              </a:r>
            </a:p>
          </p:txBody>
        </p:sp>
        <p:sp>
          <p:nvSpPr>
            <p:cNvPr id="201" name="TextBox 201"/>
            <p:cNvSpPr txBox="1"/>
            <p:nvPr/>
          </p:nvSpPr>
          <p:spPr>
            <a:xfrm>
              <a:off x="1919288" y="4993005"/>
              <a:ext cx="1106805" cy="328612"/>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① 启用分流通道​</a:t>
              </a:r>
              <a:br/>
              <a:r>
                <a:rPr lang="zh-CN" sz="600" dirty="0">
                  <a:solidFill>
                    <a:srgbClr val="514340"/>
                  </a:solidFill>
                  <a:latin typeface="+mn-lt"/>
                  <a:ea typeface="+mn-ea"/>
                  <a:cs typeface="+mn-cs"/>
                </a:rPr>
                <a:t>② 发放排队小任务（扫码预热）​</a:t>
              </a:r>
              <a:br/>
              <a:r>
                <a:rPr lang="zh-CN" sz="600" dirty="0">
                  <a:solidFill>
                    <a:srgbClr val="514340"/>
                  </a:solidFill>
                  <a:latin typeface="+mn-lt"/>
                  <a:ea typeface="+mn-ea"/>
                  <a:cs typeface="+mn-cs"/>
                </a:rPr>
                <a:t>③ 增加互动体验点​</a:t>
              </a:r>
            </a:p>
          </p:txBody>
        </p:sp>
        <p:sp>
          <p:nvSpPr>
            <p:cNvPr id="202" name="Rectangle 202"/>
            <p:cNvSpPr/>
            <p:nvPr/>
          </p:nvSpPr>
          <p:spPr>
            <a:xfrm>
              <a:off x="1581150" y="5448300"/>
              <a:ext cx="285750" cy="133350"/>
            </a:xfrm>
            <a:prstGeom prst="roundRect">
              <a:avLst>
                <a:gd name="adj" fmla="val 21429"/>
              </a:avLst>
            </a:prstGeom>
            <a:solidFill>
              <a:srgbClr val="E4F1EE"/>
            </a:solidFill>
            <a:ln>
              <a:noFill/>
            </a:ln>
          </p:spPr>
        </p:sp>
        <p:sp>
          <p:nvSpPr>
            <p:cNvPr id="203" name="TextBox 203"/>
            <p:cNvSpPr txBox="1"/>
            <p:nvPr/>
          </p:nvSpPr>
          <p:spPr>
            <a:xfrm>
              <a:off x="1638490" y="54883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目标</a:t>
              </a:r>
            </a:p>
          </p:txBody>
        </p:sp>
        <p:sp>
          <p:nvSpPr>
            <p:cNvPr id="204" name="TextBox 204"/>
            <p:cNvSpPr txBox="1"/>
            <p:nvPr/>
          </p:nvSpPr>
          <p:spPr>
            <a:xfrm>
              <a:off x="1919288" y="5488305"/>
              <a:ext cx="986866"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将等待时间控制在3分钟内​</a:t>
              </a:r>
            </a:p>
          </p:txBody>
        </p:sp>
        <p:sp>
          <p:nvSpPr>
            <p:cNvPr id="205" name="Rectangle 205"/>
            <p:cNvSpPr/>
            <p:nvPr/>
          </p:nvSpPr>
          <p:spPr>
            <a:xfrm>
              <a:off x="3505200" y="4476750"/>
              <a:ext cx="1971675" cy="2114550"/>
            </a:xfrm>
            <a:prstGeom prst="roundRect">
              <a:avLst>
                <a:gd name="adj" fmla="val 3865"/>
              </a:avLst>
            </a:prstGeom>
            <a:solidFill>
              <a:srgbClr val="FFFFFF"/>
            </a:solidFill>
            <a:ln w="14288">
              <a:solidFill>
                <a:srgbClr val="C2E0DA"/>
              </a:solidFill>
            </a:ln>
          </p:spPr>
        </p:sp>
        <p:sp>
          <p:nvSpPr>
            <p:cNvPr id="206" name="TextBox 206"/>
            <p:cNvSpPr txBox="1"/>
            <p:nvPr/>
          </p:nvSpPr>
          <p:spPr>
            <a:xfrm>
              <a:off x="3633788" y="4597241"/>
              <a:ext cx="677099" cy="161925"/>
            </a:xfrm>
            <a:prstGeom prst="rect">
              <a:avLst/>
            </a:prstGeom>
            <a:noFill/>
            <a:ln>
              <a:noFill/>
            </a:ln>
          </p:spPr>
          <p:txBody>
            <a:bodyPr wrap="none" lIns="0" tIns="0" rIns="0" bIns="0" anchor="t" anchorCtr="0">
              <a:spAutoFit/>
            </a:bodyPr>
            <a:lstStyle/>
            <a:p>
              <a:pPr algn="l"/>
              <a:r>
                <a:rPr lang="zh-CN" sz="820" b="1" dirty="0">
                  <a:solidFill>
                    <a:srgbClr val="76200F"/>
                  </a:solidFill>
                  <a:latin typeface="+mn-lt"/>
                  <a:ea typeface="+mn-ea"/>
                  <a:cs typeface="+mn-cs"/>
                </a:rPr>
                <a:t>02 拒绝授权​</a:t>
              </a:r>
            </a:p>
          </p:txBody>
        </p:sp>
        <p:grpSp>
          <p:nvGrpSpPr>
            <p:cNvPr id="210" name="Group 210"/>
            <p:cNvGrpSpPr/>
            <p:nvPr/>
          </p:nvGrpSpPr>
          <p:grpSpPr>
            <a:xfrm>
              <a:off x="5268516" y="4589859"/>
              <a:ext cx="83344" cy="107156"/>
              <a:chOff x="5268516" y="4589859"/>
              <a:chExt cx="83344" cy="107156"/>
            </a:xfrm>
          </p:grpSpPr>
          <p:sp>
            <p:nvSpPr>
              <p:cNvPr id="207" name="Freeform 207"/>
              <p:cNvSpPr/>
              <p:nvPr/>
            </p:nvSpPr>
            <p:spPr>
              <a:xfrm>
                <a:off x="5268516" y="4637484"/>
                <a:ext cx="83344" cy="59531"/>
              </a:xfrm>
              <a:custGeom>
                <a:avLst/>
                <a:gdLst/>
                <a:ahLst/>
                <a:cxnLst/>
                <a:rect l="l" t="t" r="r" b="b"/>
                <a:pathLst>
                  <a:path w="83344" h="59531">
                    <a:moveTo>
                      <a:pt x="0" y="11906"/>
                    </a:moveTo>
                    <a:cubicBezTo>
                      <a:pt x="0" y="5331"/>
                      <a:pt x="5331" y="0"/>
                      <a:pt x="11906" y="0"/>
                    </a:cubicBezTo>
                    <a:lnTo>
                      <a:pt x="71438" y="0"/>
                    </a:lnTo>
                    <a:cubicBezTo>
                      <a:pt x="78013" y="0"/>
                      <a:pt x="83344" y="5331"/>
                      <a:pt x="83344" y="11906"/>
                    </a:cubicBezTo>
                    <a:lnTo>
                      <a:pt x="83344" y="47625"/>
                    </a:lnTo>
                    <a:cubicBezTo>
                      <a:pt x="83344" y="54201"/>
                      <a:pt x="78013" y="59531"/>
                      <a:pt x="71438" y="59531"/>
                    </a:cubicBezTo>
                    <a:lnTo>
                      <a:pt x="11906" y="59531"/>
                    </a:lnTo>
                    <a:cubicBezTo>
                      <a:pt x="5331" y="59531"/>
                      <a:pt x="0" y="54201"/>
                      <a:pt x="0" y="47625"/>
                    </a:cubicBezTo>
                    <a:lnTo>
                      <a:pt x="0" y="11906"/>
                    </a:lnTo>
                  </a:path>
                </a:pathLst>
              </a:custGeom>
              <a:noFill/>
              <a:ln w="11906">
                <a:solidFill>
                  <a:srgbClr val="A3422F"/>
                </a:solidFill>
              </a:ln>
            </p:spPr>
          </p:sp>
          <p:sp>
            <p:nvSpPr>
              <p:cNvPr id="208" name="Freeform 208"/>
              <p:cNvSpPr/>
              <p:nvPr/>
            </p:nvSpPr>
            <p:spPr>
              <a:xfrm>
                <a:off x="5304234" y="4661297"/>
                <a:ext cx="11906" cy="11906"/>
              </a:xfrm>
              <a:custGeom>
                <a:avLst/>
                <a:gdLst/>
                <a:ahLst/>
                <a:cxnLst/>
                <a:rect l="l" t="t" r="r" b="b"/>
                <a:pathLst>
                  <a:path w="11906" h="11906">
                    <a:moveTo>
                      <a:pt x="0" y="5953"/>
                    </a:moveTo>
                    <a:cubicBezTo>
                      <a:pt x="0" y="9241"/>
                      <a:pt x="2665" y="11906"/>
                      <a:pt x="5953" y="11906"/>
                    </a:cubicBezTo>
                    <a:cubicBezTo>
                      <a:pt x="9241" y="11906"/>
                      <a:pt x="11906" y="9241"/>
                      <a:pt x="11906" y="5953"/>
                    </a:cubicBezTo>
                    <a:cubicBezTo>
                      <a:pt x="11906" y="2665"/>
                      <a:pt x="9241" y="0"/>
                      <a:pt x="5953" y="0"/>
                    </a:cubicBezTo>
                    <a:cubicBezTo>
                      <a:pt x="2665" y="0"/>
                      <a:pt x="0" y="2665"/>
                      <a:pt x="0" y="5953"/>
                    </a:cubicBezTo>
                  </a:path>
                </a:pathLst>
              </a:custGeom>
              <a:noFill/>
              <a:ln w="11906">
                <a:solidFill>
                  <a:srgbClr val="A3422F"/>
                </a:solidFill>
              </a:ln>
            </p:spPr>
          </p:sp>
          <p:sp>
            <p:nvSpPr>
              <p:cNvPr id="209" name="Freeform 209"/>
              <p:cNvSpPr/>
              <p:nvPr/>
            </p:nvSpPr>
            <p:spPr>
              <a:xfrm>
                <a:off x="5286375" y="4589859"/>
                <a:ext cx="47625" cy="47625"/>
              </a:xfrm>
              <a:custGeom>
                <a:avLst/>
                <a:gdLst/>
                <a:ahLst/>
                <a:cxnLst/>
                <a:rect l="l" t="t" r="r" b="b"/>
                <a:pathLst>
                  <a:path w="47625" h="47625">
                    <a:moveTo>
                      <a:pt x="0" y="47625"/>
                    </a:moveTo>
                    <a:lnTo>
                      <a:pt x="0" y="23812"/>
                    </a:lnTo>
                    <a:cubicBezTo>
                      <a:pt x="0" y="10661"/>
                      <a:pt x="10661" y="0"/>
                      <a:pt x="23812" y="0"/>
                    </a:cubicBezTo>
                    <a:cubicBezTo>
                      <a:pt x="36964" y="0"/>
                      <a:pt x="47625" y="10661"/>
                      <a:pt x="47625" y="23812"/>
                    </a:cubicBezTo>
                    <a:lnTo>
                      <a:pt x="47625" y="47625"/>
                    </a:lnTo>
                  </a:path>
                </a:pathLst>
              </a:custGeom>
              <a:noFill/>
              <a:ln w="11906">
                <a:solidFill>
                  <a:srgbClr val="A3422F"/>
                </a:solidFill>
              </a:ln>
            </p:spPr>
          </p:sp>
        </p:grpSp>
        <p:sp>
          <p:nvSpPr>
            <p:cNvPr id="211" name="Rectangle 211"/>
            <p:cNvSpPr/>
            <p:nvPr/>
          </p:nvSpPr>
          <p:spPr>
            <a:xfrm>
              <a:off x="3619500" y="4762500"/>
              <a:ext cx="285750" cy="133350"/>
            </a:xfrm>
            <a:prstGeom prst="roundRect">
              <a:avLst>
                <a:gd name="adj" fmla="val 21429"/>
              </a:avLst>
            </a:prstGeom>
            <a:solidFill>
              <a:srgbClr val="E4F1EE"/>
            </a:solidFill>
            <a:ln>
              <a:noFill/>
            </a:ln>
          </p:spPr>
        </p:sp>
        <p:sp>
          <p:nvSpPr>
            <p:cNvPr id="212" name="TextBox 212"/>
            <p:cNvSpPr txBox="1"/>
            <p:nvPr/>
          </p:nvSpPr>
          <p:spPr>
            <a:xfrm>
              <a:off x="3676840" y="48025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判断</a:t>
              </a:r>
            </a:p>
          </p:txBody>
        </p:sp>
        <p:sp>
          <p:nvSpPr>
            <p:cNvPr id="213" name="TextBox 213"/>
            <p:cNvSpPr txBox="1"/>
            <p:nvPr/>
          </p:nvSpPr>
          <p:spPr>
            <a:xfrm>
              <a:off x="3957638" y="4802505"/>
              <a:ext cx="1059561"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客户不愿意提供手机号或授权</a:t>
              </a:r>
            </a:p>
          </p:txBody>
        </p:sp>
        <p:sp>
          <p:nvSpPr>
            <p:cNvPr id="214" name="Rectangle 214"/>
            <p:cNvSpPr/>
            <p:nvPr/>
          </p:nvSpPr>
          <p:spPr>
            <a:xfrm>
              <a:off x="3619500" y="4972050"/>
              <a:ext cx="285750" cy="133350"/>
            </a:xfrm>
            <a:prstGeom prst="roundRect">
              <a:avLst>
                <a:gd name="adj" fmla="val 21429"/>
              </a:avLst>
            </a:prstGeom>
            <a:solidFill>
              <a:srgbClr val="E4F1EE"/>
            </a:solidFill>
            <a:ln>
              <a:noFill/>
            </a:ln>
          </p:spPr>
        </p:sp>
        <p:sp>
          <p:nvSpPr>
            <p:cNvPr id="215" name="TextBox 215"/>
            <p:cNvSpPr txBox="1"/>
            <p:nvPr/>
          </p:nvSpPr>
          <p:spPr>
            <a:xfrm>
              <a:off x="3676840" y="50120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处理</a:t>
              </a:r>
            </a:p>
          </p:txBody>
        </p:sp>
        <p:sp>
          <p:nvSpPr>
            <p:cNvPr id="216" name="TextBox 216"/>
            <p:cNvSpPr txBox="1"/>
            <p:nvPr/>
          </p:nvSpPr>
          <p:spPr>
            <a:xfrm>
              <a:off x="3957638" y="4993005"/>
              <a:ext cx="954405" cy="328612"/>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① 强调权益价值与信息安全​</a:t>
              </a:r>
              <a:br/>
              <a:r>
                <a:rPr lang="zh-CN" sz="600" dirty="0">
                  <a:solidFill>
                    <a:srgbClr val="514340"/>
                  </a:solidFill>
                  <a:latin typeface="+mn-lt"/>
                  <a:ea typeface="+mn-ea"/>
                  <a:cs typeface="+mn-cs"/>
                </a:rPr>
                <a:t>② 提供"轻参与"前置方案​</a:t>
              </a:r>
              <a:br/>
              <a:r>
                <a:rPr lang="zh-CN" sz="600" dirty="0">
                  <a:solidFill>
                    <a:srgbClr val="514340"/>
                  </a:solidFill>
                  <a:latin typeface="+mn-lt"/>
                  <a:ea typeface="+mn-ea"/>
                  <a:cs typeface="+mn-cs"/>
                </a:rPr>
                <a:t>③ 采用微信授权等替代方式​</a:t>
              </a:r>
            </a:p>
          </p:txBody>
        </p:sp>
        <p:sp>
          <p:nvSpPr>
            <p:cNvPr id="217" name="Rectangle 217"/>
            <p:cNvSpPr/>
            <p:nvPr/>
          </p:nvSpPr>
          <p:spPr>
            <a:xfrm>
              <a:off x="3619500" y="5448300"/>
              <a:ext cx="285750" cy="133350"/>
            </a:xfrm>
            <a:prstGeom prst="roundRect">
              <a:avLst>
                <a:gd name="adj" fmla="val 21429"/>
              </a:avLst>
            </a:prstGeom>
            <a:solidFill>
              <a:srgbClr val="E4F1EE"/>
            </a:solidFill>
            <a:ln>
              <a:noFill/>
            </a:ln>
          </p:spPr>
        </p:sp>
        <p:sp>
          <p:nvSpPr>
            <p:cNvPr id="218" name="TextBox 218"/>
            <p:cNvSpPr txBox="1"/>
            <p:nvPr/>
          </p:nvSpPr>
          <p:spPr>
            <a:xfrm>
              <a:off x="3676840" y="54883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目标</a:t>
              </a:r>
            </a:p>
          </p:txBody>
        </p:sp>
        <p:sp>
          <p:nvSpPr>
            <p:cNvPr id="219" name="TextBox 219"/>
            <p:cNvSpPr txBox="1"/>
            <p:nvPr/>
          </p:nvSpPr>
          <p:spPr>
            <a:xfrm>
              <a:off x="3957638" y="5488305"/>
              <a:ext cx="898017"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提升授权意愿、降低流失</a:t>
              </a:r>
            </a:p>
          </p:txBody>
        </p:sp>
        <p:sp>
          <p:nvSpPr>
            <p:cNvPr id="220" name="Rectangle 220"/>
            <p:cNvSpPr/>
            <p:nvPr/>
          </p:nvSpPr>
          <p:spPr>
            <a:xfrm>
              <a:off x="5543550" y="4476750"/>
              <a:ext cx="1971675" cy="2114550"/>
            </a:xfrm>
            <a:prstGeom prst="roundRect">
              <a:avLst>
                <a:gd name="adj" fmla="val 3865"/>
              </a:avLst>
            </a:prstGeom>
            <a:solidFill>
              <a:srgbClr val="FFFFFF"/>
            </a:solidFill>
            <a:ln w="14288">
              <a:solidFill>
                <a:srgbClr val="C2E0DA"/>
              </a:solidFill>
            </a:ln>
          </p:spPr>
        </p:sp>
        <p:sp>
          <p:nvSpPr>
            <p:cNvPr id="221" name="TextBox 221"/>
            <p:cNvSpPr txBox="1"/>
            <p:nvPr/>
          </p:nvSpPr>
          <p:spPr>
            <a:xfrm>
              <a:off x="5672138" y="4597241"/>
              <a:ext cx="677099" cy="161925"/>
            </a:xfrm>
            <a:prstGeom prst="rect">
              <a:avLst/>
            </a:prstGeom>
            <a:noFill/>
            <a:ln>
              <a:noFill/>
            </a:ln>
          </p:spPr>
          <p:txBody>
            <a:bodyPr wrap="none" lIns="0" tIns="0" rIns="0" bIns="0" anchor="t" anchorCtr="0">
              <a:spAutoFit/>
            </a:bodyPr>
            <a:lstStyle/>
            <a:p>
              <a:pPr algn="l"/>
              <a:r>
                <a:rPr lang="zh-CN" sz="820" b="1" dirty="0">
                  <a:solidFill>
                    <a:srgbClr val="76200F"/>
                  </a:solidFill>
                  <a:latin typeface="+mn-lt"/>
                  <a:ea typeface="+mn-ea"/>
                  <a:cs typeface="+mn-cs"/>
                </a:rPr>
                <a:t>03 已有客户​</a:t>
              </a:r>
            </a:p>
          </p:txBody>
        </p:sp>
        <p:grpSp>
          <p:nvGrpSpPr>
            <p:cNvPr id="225" name="Group 225"/>
            <p:cNvGrpSpPr/>
            <p:nvPr/>
          </p:nvGrpSpPr>
          <p:grpSpPr>
            <a:xfrm>
              <a:off x="7312819" y="4589859"/>
              <a:ext cx="89297" cy="107157"/>
              <a:chOff x="7312819" y="4589859"/>
              <a:chExt cx="89297" cy="107157"/>
            </a:xfrm>
          </p:grpSpPr>
          <p:sp>
            <p:nvSpPr>
              <p:cNvPr id="222" name="Freeform 222"/>
              <p:cNvSpPr/>
              <p:nvPr/>
            </p:nvSpPr>
            <p:spPr>
              <a:xfrm>
                <a:off x="7324725" y="458985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1906">
                <a:solidFill>
                  <a:srgbClr val="A3422F"/>
                </a:solidFill>
              </a:ln>
            </p:spPr>
          </p:sp>
          <p:sp>
            <p:nvSpPr>
              <p:cNvPr id="223" name="Freeform 223"/>
              <p:cNvSpPr/>
              <p:nvPr/>
            </p:nvSpPr>
            <p:spPr>
              <a:xfrm>
                <a:off x="7312819" y="4661297"/>
                <a:ext cx="47625" cy="35719"/>
              </a:xfrm>
              <a:custGeom>
                <a:avLst/>
                <a:gdLst/>
                <a:ahLst/>
                <a:cxnLst/>
                <a:rect l="l" t="t" r="r" b="b"/>
                <a:pathLst>
                  <a:path w="47625" h="35719">
                    <a:moveTo>
                      <a:pt x="0" y="35719"/>
                    </a:moveTo>
                    <a:lnTo>
                      <a:pt x="0" y="23812"/>
                    </a:lnTo>
                    <a:cubicBezTo>
                      <a:pt x="0" y="10661"/>
                      <a:pt x="10661" y="0"/>
                      <a:pt x="23812" y="0"/>
                    </a:cubicBezTo>
                    <a:lnTo>
                      <a:pt x="47625" y="0"/>
                    </a:lnTo>
                  </a:path>
                </a:pathLst>
              </a:custGeom>
              <a:noFill/>
              <a:ln w="11906">
                <a:solidFill>
                  <a:srgbClr val="A3422F"/>
                </a:solidFill>
              </a:ln>
            </p:spPr>
          </p:sp>
          <p:sp>
            <p:nvSpPr>
              <p:cNvPr id="224" name="Freeform 224"/>
              <p:cNvSpPr/>
              <p:nvPr/>
            </p:nvSpPr>
            <p:spPr>
              <a:xfrm>
                <a:off x="7366397" y="4673203"/>
                <a:ext cx="35719" cy="23812"/>
              </a:xfrm>
              <a:custGeom>
                <a:avLst/>
                <a:gdLst/>
                <a:ahLst/>
                <a:cxnLst/>
                <a:rect l="l" t="t" r="r" b="b"/>
                <a:pathLst>
                  <a:path w="35719" h="23812">
                    <a:moveTo>
                      <a:pt x="0" y="11906"/>
                    </a:moveTo>
                    <a:lnTo>
                      <a:pt x="11906" y="23812"/>
                    </a:lnTo>
                    <a:lnTo>
                      <a:pt x="35719" y="0"/>
                    </a:lnTo>
                  </a:path>
                </a:pathLst>
              </a:custGeom>
              <a:noFill/>
              <a:ln w="11906">
                <a:solidFill>
                  <a:srgbClr val="A3422F"/>
                </a:solidFill>
              </a:ln>
            </p:spPr>
          </p:sp>
        </p:grpSp>
        <p:sp>
          <p:nvSpPr>
            <p:cNvPr id="226" name="Rectangle 226"/>
            <p:cNvSpPr/>
            <p:nvPr/>
          </p:nvSpPr>
          <p:spPr>
            <a:xfrm>
              <a:off x="5657850" y="4762500"/>
              <a:ext cx="285750" cy="133350"/>
            </a:xfrm>
            <a:prstGeom prst="roundRect">
              <a:avLst>
                <a:gd name="adj" fmla="val 21429"/>
              </a:avLst>
            </a:prstGeom>
            <a:solidFill>
              <a:srgbClr val="E4F1EE"/>
            </a:solidFill>
            <a:ln>
              <a:noFill/>
            </a:ln>
          </p:spPr>
        </p:sp>
        <p:sp>
          <p:nvSpPr>
            <p:cNvPr id="227" name="TextBox 227"/>
            <p:cNvSpPr txBox="1"/>
            <p:nvPr/>
          </p:nvSpPr>
          <p:spPr>
            <a:xfrm>
              <a:off x="5715190" y="48025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判断</a:t>
              </a:r>
            </a:p>
          </p:txBody>
        </p:sp>
        <p:sp>
          <p:nvSpPr>
            <p:cNvPr id="228" name="TextBox 228"/>
            <p:cNvSpPr txBox="1"/>
            <p:nvPr/>
          </p:nvSpPr>
          <p:spPr>
            <a:xfrm>
              <a:off x="5995988" y="4802505"/>
              <a:ext cx="817245"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客户表示已是本行客户</a:t>
              </a:r>
            </a:p>
          </p:txBody>
        </p:sp>
        <p:sp>
          <p:nvSpPr>
            <p:cNvPr id="229" name="Rectangle 229"/>
            <p:cNvSpPr/>
            <p:nvPr/>
          </p:nvSpPr>
          <p:spPr>
            <a:xfrm>
              <a:off x="5657850" y="4972050"/>
              <a:ext cx="285750" cy="133350"/>
            </a:xfrm>
            <a:prstGeom prst="roundRect">
              <a:avLst>
                <a:gd name="adj" fmla="val 21429"/>
              </a:avLst>
            </a:prstGeom>
            <a:solidFill>
              <a:srgbClr val="E4F1EE"/>
            </a:solidFill>
            <a:ln>
              <a:noFill/>
            </a:ln>
          </p:spPr>
        </p:sp>
        <p:sp>
          <p:nvSpPr>
            <p:cNvPr id="230" name="TextBox 230"/>
            <p:cNvSpPr txBox="1"/>
            <p:nvPr/>
          </p:nvSpPr>
          <p:spPr>
            <a:xfrm>
              <a:off x="5715190" y="50120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处理</a:t>
              </a:r>
            </a:p>
          </p:txBody>
        </p:sp>
        <p:sp>
          <p:nvSpPr>
            <p:cNvPr id="231" name="TextBox 231"/>
            <p:cNvSpPr txBox="1"/>
            <p:nvPr/>
          </p:nvSpPr>
          <p:spPr>
            <a:xfrm>
              <a:off x="5995988" y="4993005"/>
              <a:ext cx="954405" cy="328612"/>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① 识别客户身份、推送权益​</a:t>
              </a:r>
              <a:br/>
              <a:r>
                <a:rPr lang="zh-CN" sz="600" dirty="0">
                  <a:solidFill>
                    <a:srgbClr val="514340"/>
                  </a:solidFill>
                  <a:latin typeface="+mn-lt"/>
                  <a:ea typeface="+mn-ea"/>
                  <a:cs typeface="+mn-cs"/>
                </a:rPr>
                <a:t>② 推荐层级权益或升级服务​</a:t>
              </a:r>
              <a:br/>
              <a:r>
                <a:rPr lang="zh-CN" sz="600" dirty="0">
                  <a:solidFill>
                    <a:srgbClr val="514340"/>
                  </a:solidFill>
                  <a:latin typeface="+mn-lt"/>
                  <a:ea typeface="+mn-ea"/>
                  <a:cs typeface="+mn-cs"/>
                </a:rPr>
                <a:t>③ 引导参与老带新等活动​</a:t>
              </a:r>
            </a:p>
          </p:txBody>
        </p:sp>
        <p:sp>
          <p:nvSpPr>
            <p:cNvPr id="232" name="Rectangle 232"/>
            <p:cNvSpPr/>
            <p:nvPr/>
          </p:nvSpPr>
          <p:spPr>
            <a:xfrm>
              <a:off x="5657850" y="5448300"/>
              <a:ext cx="285750" cy="133350"/>
            </a:xfrm>
            <a:prstGeom prst="roundRect">
              <a:avLst>
                <a:gd name="adj" fmla="val 21429"/>
              </a:avLst>
            </a:prstGeom>
            <a:solidFill>
              <a:srgbClr val="E4F1EE"/>
            </a:solidFill>
            <a:ln>
              <a:noFill/>
            </a:ln>
          </p:spPr>
        </p:sp>
        <p:sp>
          <p:nvSpPr>
            <p:cNvPr id="233" name="TextBox 233"/>
            <p:cNvSpPr txBox="1"/>
            <p:nvPr/>
          </p:nvSpPr>
          <p:spPr>
            <a:xfrm>
              <a:off x="5715190" y="54883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目标</a:t>
              </a:r>
            </a:p>
          </p:txBody>
        </p:sp>
        <p:sp>
          <p:nvSpPr>
            <p:cNvPr id="234" name="TextBox 234"/>
            <p:cNvSpPr txBox="1"/>
            <p:nvPr/>
          </p:nvSpPr>
          <p:spPr>
            <a:xfrm>
              <a:off x="5995988" y="5488305"/>
              <a:ext cx="898017"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提升老客活跃度与满意度</a:t>
              </a:r>
            </a:p>
          </p:txBody>
        </p:sp>
        <p:sp>
          <p:nvSpPr>
            <p:cNvPr id="235" name="Rectangle 235"/>
            <p:cNvSpPr/>
            <p:nvPr/>
          </p:nvSpPr>
          <p:spPr>
            <a:xfrm>
              <a:off x="7581900" y="4476750"/>
              <a:ext cx="1971675" cy="2114550"/>
            </a:xfrm>
            <a:prstGeom prst="roundRect">
              <a:avLst>
                <a:gd name="adj" fmla="val 3865"/>
              </a:avLst>
            </a:prstGeom>
            <a:solidFill>
              <a:srgbClr val="FFFFFF"/>
            </a:solidFill>
            <a:ln w="14288">
              <a:solidFill>
                <a:srgbClr val="C2E0DA"/>
              </a:solidFill>
            </a:ln>
          </p:spPr>
        </p:sp>
        <p:sp>
          <p:nvSpPr>
            <p:cNvPr id="236" name="TextBox 236"/>
            <p:cNvSpPr txBox="1"/>
            <p:nvPr/>
          </p:nvSpPr>
          <p:spPr>
            <a:xfrm>
              <a:off x="7710488" y="4597241"/>
              <a:ext cx="677099" cy="161925"/>
            </a:xfrm>
            <a:prstGeom prst="rect">
              <a:avLst/>
            </a:prstGeom>
            <a:noFill/>
            <a:ln>
              <a:noFill/>
            </a:ln>
          </p:spPr>
          <p:txBody>
            <a:bodyPr wrap="none" lIns="0" tIns="0" rIns="0" bIns="0" anchor="t" anchorCtr="0">
              <a:spAutoFit/>
            </a:bodyPr>
            <a:lstStyle/>
            <a:p>
              <a:pPr algn="l"/>
              <a:r>
                <a:rPr lang="zh-CN" sz="820" b="1" dirty="0">
                  <a:solidFill>
                    <a:srgbClr val="76200F"/>
                  </a:solidFill>
                  <a:latin typeface="+mn-lt"/>
                  <a:ea typeface="+mn-ea"/>
                  <a:cs typeface="+mn-cs"/>
                </a:rPr>
                <a:t>04 老年客户​</a:t>
              </a:r>
            </a:p>
          </p:txBody>
        </p:sp>
        <p:grpSp>
          <p:nvGrpSpPr>
            <p:cNvPr id="241" name="Group 241"/>
            <p:cNvGrpSpPr/>
            <p:nvPr/>
          </p:nvGrpSpPr>
          <p:grpSpPr>
            <a:xfrm>
              <a:off x="9333309" y="4589859"/>
              <a:ext cx="107156" cy="107157"/>
              <a:chOff x="9333309" y="4589859"/>
              <a:chExt cx="107156" cy="107157"/>
            </a:xfrm>
          </p:grpSpPr>
          <p:sp>
            <p:nvSpPr>
              <p:cNvPr id="237" name="Freeform 237"/>
              <p:cNvSpPr/>
              <p:nvPr/>
            </p:nvSpPr>
            <p:spPr>
              <a:xfrm>
                <a:off x="9345216" y="458985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1906">
                <a:solidFill>
                  <a:srgbClr val="A3422F"/>
                </a:solidFill>
              </a:ln>
            </p:spPr>
          </p:sp>
          <p:sp>
            <p:nvSpPr>
              <p:cNvPr id="238" name="Freeform 238"/>
              <p:cNvSpPr/>
              <p:nvPr/>
            </p:nvSpPr>
            <p:spPr>
              <a:xfrm>
                <a:off x="9333309" y="4661297"/>
                <a:ext cx="71438" cy="35719"/>
              </a:xfrm>
              <a:custGeom>
                <a:avLst/>
                <a:gdLst/>
                <a:ahLst/>
                <a:cxnLst/>
                <a:rect l="l" t="t" r="r" b="b"/>
                <a:pathLst>
                  <a:path w="71438" h="35719">
                    <a:moveTo>
                      <a:pt x="0" y="35719"/>
                    </a:moveTo>
                    <a:lnTo>
                      <a:pt x="0" y="23812"/>
                    </a:lnTo>
                    <a:cubicBezTo>
                      <a:pt x="0" y="10661"/>
                      <a:pt x="10661" y="0"/>
                      <a:pt x="23812" y="0"/>
                    </a:cubicBezTo>
                    <a:lnTo>
                      <a:pt x="47625" y="0"/>
                    </a:lnTo>
                    <a:cubicBezTo>
                      <a:pt x="60776" y="0"/>
                      <a:pt x="71438" y="10661"/>
                      <a:pt x="71438" y="23812"/>
                    </a:cubicBezTo>
                    <a:lnTo>
                      <a:pt x="71438" y="35719"/>
                    </a:lnTo>
                  </a:path>
                </a:pathLst>
              </a:custGeom>
              <a:noFill/>
              <a:ln w="11906">
                <a:solidFill>
                  <a:srgbClr val="A3422F"/>
                </a:solidFill>
              </a:ln>
            </p:spPr>
          </p:sp>
          <p:sp>
            <p:nvSpPr>
              <p:cNvPr id="239" name="Freeform 239"/>
              <p:cNvSpPr/>
              <p:nvPr/>
            </p:nvSpPr>
            <p:spPr>
              <a:xfrm>
                <a:off x="9410700" y="4590633"/>
                <a:ext cx="17906" cy="46137"/>
              </a:xfrm>
              <a:custGeom>
                <a:avLst/>
                <a:gdLst/>
                <a:ahLst/>
                <a:cxnLst/>
                <a:rect l="l" t="t" r="r" b="b"/>
                <a:pathLst>
                  <a:path w="17906" h="46137">
                    <a:moveTo>
                      <a:pt x="0" y="0"/>
                    </a:moveTo>
                    <a:cubicBezTo>
                      <a:pt x="10537" y="2698"/>
                      <a:pt x="17906" y="12192"/>
                      <a:pt x="17906" y="23068"/>
                    </a:cubicBezTo>
                    <a:cubicBezTo>
                      <a:pt x="17906" y="33945"/>
                      <a:pt x="10537" y="43439"/>
                      <a:pt x="0" y="46137"/>
                    </a:cubicBezTo>
                  </a:path>
                </a:pathLst>
              </a:custGeom>
              <a:noFill/>
              <a:ln w="11906">
                <a:solidFill>
                  <a:srgbClr val="A3422F"/>
                </a:solidFill>
              </a:ln>
            </p:spPr>
          </p:sp>
          <p:sp>
            <p:nvSpPr>
              <p:cNvPr id="240" name="Freeform 240"/>
              <p:cNvSpPr/>
              <p:nvPr/>
            </p:nvSpPr>
            <p:spPr>
              <a:xfrm>
                <a:off x="9422606" y="4662190"/>
                <a:ext cx="17859" cy="34826"/>
              </a:xfrm>
              <a:custGeom>
                <a:avLst/>
                <a:gdLst/>
                <a:ahLst/>
                <a:cxnLst/>
                <a:rect l="l" t="t" r="r" b="b"/>
                <a:pathLst>
                  <a:path w="17859" h="34826">
                    <a:moveTo>
                      <a:pt x="17859" y="34826"/>
                    </a:moveTo>
                    <a:lnTo>
                      <a:pt x="17859" y="22920"/>
                    </a:lnTo>
                    <a:cubicBezTo>
                      <a:pt x="17797" y="12112"/>
                      <a:pt x="10465" y="2702"/>
                      <a:pt x="0" y="0"/>
                    </a:cubicBezTo>
                  </a:path>
                </a:pathLst>
              </a:custGeom>
              <a:noFill/>
              <a:ln w="11906">
                <a:solidFill>
                  <a:srgbClr val="A3422F"/>
                </a:solidFill>
              </a:ln>
            </p:spPr>
          </p:sp>
        </p:grpSp>
        <p:sp>
          <p:nvSpPr>
            <p:cNvPr id="242" name="Rectangle 242"/>
            <p:cNvSpPr/>
            <p:nvPr/>
          </p:nvSpPr>
          <p:spPr>
            <a:xfrm>
              <a:off x="7696200" y="4762500"/>
              <a:ext cx="285750" cy="133350"/>
            </a:xfrm>
            <a:prstGeom prst="roundRect">
              <a:avLst>
                <a:gd name="adj" fmla="val 21429"/>
              </a:avLst>
            </a:prstGeom>
            <a:solidFill>
              <a:srgbClr val="E4F1EE"/>
            </a:solidFill>
            <a:ln>
              <a:noFill/>
            </a:ln>
          </p:spPr>
        </p:sp>
        <p:sp>
          <p:nvSpPr>
            <p:cNvPr id="243" name="TextBox 243"/>
            <p:cNvSpPr txBox="1"/>
            <p:nvPr/>
          </p:nvSpPr>
          <p:spPr>
            <a:xfrm>
              <a:off x="7753540" y="48025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判断</a:t>
              </a:r>
            </a:p>
          </p:txBody>
        </p:sp>
        <p:sp>
          <p:nvSpPr>
            <p:cNvPr id="244" name="TextBox 244"/>
            <p:cNvSpPr txBox="1"/>
            <p:nvPr/>
          </p:nvSpPr>
          <p:spPr>
            <a:xfrm>
              <a:off x="8034338" y="4802505"/>
              <a:ext cx="1140333"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老年客户操作困难或不熟悉线上</a:t>
              </a:r>
            </a:p>
          </p:txBody>
        </p:sp>
        <p:sp>
          <p:nvSpPr>
            <p:cNvPr id="245" name="Rectangle 245"/>
            <p:cNvSpPr/>
            <p:nvPr/>
          </p:nvSpPr>
          <p:spPr>
            <a:xfrm>
              <a:off x="7696200" y="4972050"/>
              <a:ext cx="285750" cy="133350"/>
            </a:xfrm>
            <a:prstGeom prst="roundRect">
              <a:avLst>
                <a:gd name="adj" fmla="val 21429"/>
              </a:avLst>
            </a:prstGeom>
            <a:solidFill>
              <a:srgbClr val="E4F1EE"/>
            </a:solidFill>
            <a:ln>
              <a:noFill/>
            </a:ln>
          </p:spPr>
        </p:sp>
        <p:sp>
          <p:nvSpPr>
            <p:cNvPr id="246" name="TextBox 246"/>
            <p:cNvSpPr txBox="1"/>
            <p:nvPr/>
          </p:nvSpPr>
          <p:spPr>
            <a:xfrm>
              <a:off x="7753540" y="50120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处理</a:t>
              </a:r>
            </a:p>
          </p:txBody>
        </p:sp>
        <p:sp>
          <p:nvSpPr>
            <p:cNvPr id="247" name="TextBox 247"/>
            <p:cNvSpPr txBox="1"/>
            <p:nvPr/>
          </p:nvSpPr>
          <p:spPr>
            <a:xfrm>
              <a:off x="8034338" y="4993005"/>
              <a:ext cx="954405" cy="328612"/>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① 安排专人一对一协助​</a:t>
              </a:r>
              <a:br/>
              <a:r>
                <a:rPr lang="zh-CN" sz="600" dirty="0">
                  <a:solidFill>
                    <a:srgbClr val="514340"/>
                  </a:solidFill>
                  <a:latin typeface="+mn-lt"/>
                  <a:ea typeface="+mn-ea"/>
                  <a:cs typeface="+mn-cs"/>
                </a:rPr>
                <a:t>② 提供大字版、简化流程​</a:t>
              </a:r>
              <a:br/>
              <a:r>
                <a:rPr lang="zh-CN" sz="600" dirty="0">
                  <a:solidFill>
                    <a:srgbClr val="514340"/>
                  </a:solidFill>
                  <a:latin typeface="+mn-lt"/>
                  <a:ea typeface="+mn-ea"/>
                  <a:cs typeface="+mn-cs"/>
                </a:rPr>
                <a:t>③ 提供纸质资料与现场讲解​</a:t>
              </a:r>
            </a:p>
          </p:txBody>
        </p:sp>
        <p:sp>
          <p:nvSpPr>
            <p:cNvPr id="248" name="Rectangle 248"/>
            <p:cNvSpPr/>
            <p:nvPr/>
          </p:nvSpPr>
          <p:spPr>
            <a:xfrm>
              <a:off x="7696200" y="5448300"/>
              <a:ext cx="285750" cy="133350"/>
            </a:xfrm>
            <a:prstGeom prst="roundRect">
              <a:avLst>
                <a:gd name="adj" fmla="val 21429"/>
              </a:avLst>
            </a:prstGeom>
            <a:solidFill>
              <a:srgbClr val="E4F1EE"/>
            </a:solidFill>
            <a:ln>
              <a:noFill/>
            </a:ln>
          </p:spPr>
        </p:sp>
        <p:sp>
          <p:nvSpPr>
            <p:cNvPr id="249" name="TextBox 249"/>
            <p:cNvSpPr txBox="1"/>
            <p:nvPr/>
          </p:nvSpPr>
          <p:spPr>
            <a:xfrm>
              <a:off x="7753540" y="54883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目标</a:t>
              </a:r>
            </a:p>
          </p:txBody>
        </p:sp>
        <p:sp>
          <p:nvSpPr>
            <p:cNvPr id="250" name="TextBox 250"/>
            <p:cNvSpPr txBox="1"/>
            <p:nvPr/>
          </p:nvSpPr>
          <p:spPr>
            <a:xfrm>
              <a:off x="8034338" y="5488305"/>
              <a:ext cx="898017"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确保顺利参与、提升体验</a:t>
              </a:r>
            </a:p>
          </p:txBody>
        </p:sp>
        <p:sp>
          <p:nvSpPr>
            <p:cNvPr id="251" name="Rectangle 251"/>
            <p:cNvSpPr/>
            <p:nvPr/>
          </p:nvSpPr>
          <p:spPr>
            <a:xfrm>
              <a:off x="9620250" y="4476750"/>
              <a:ext cx="1971675" cy="2114550"/>
            </a:xfrm>
            <a:prstGeom prst="roundRect">
              <a:avLst>
                <a:gd name="adj" fmla="val 3865"/>
              </a:avLst>
            </a:prstGeom>
            <a:solidFill>
              <a:srgbClr val="FFFFFF"/>
            </a:solidFill>
            <a:ln w="14288">
              <a:solidFill>
                <a:srgbClr val="C2E0DA"/>
              </a:solidFill>
            </a:ln>
          </p:spPr>
        </p:sp>
        <p:sp>
          <p:nvSpPr>
            <p:cNvPr id="252" name="TextBox 252"/>
            <p:cNvSpPr txBox="1"/>
            <p:nvPr/>
          </p:nvSpPr>
          <p:spPr>
            <a:xfrm>
              <a:off x="9748838" y="4597241"/>
              <a:ext cx="677099" cy="161925"/>
            </a:xfrm>
            <a:prstGeom prst="rect">
              <a:avLst/>
            </a:prstGeom>
            <a:noFill/>
            <a:ln>
              <a:noFill/>
            </a:ln>
          </p:spPr>
          <p:txBody>
            <a:bodyPr wrap="none" lIns="0" tIns="0" rIns="0" bIns="0" anchor="t" anchorCtr="0">
              <a:spAutoFit/>
            </a:bodyPr>
            <a:lstStyle/>
            <a:p>
              <a:pPr algn="l"/>
              <a:r>
                <a:rPr lang="zh-CN" sz="820" b="1" dirty="0">
                  <a:solidFill>
                    <a:srgbClr val="76200F"/>
                  </a:solidFill>
                  <a:latin typeface="+mn-lt"/>
                  <a:ea typeface="+mn-ea"/>
                  <a:cs typeface="+mn-cs"/>
                </a:rPr>
                <a:t>05 投诉风险​</a:t>
              </a:r>
            </a:p>
          </p:txBody>
        </p:sp>
        <p:grpSp>
          <p:nvGrpSpPr>
            <p:cNvPr id="256" name="Group 256"/>
            <p:cNvGrpSpPr/>
            <p:nvPr/>
          </p:nvGrpSpPr>
          <p:grpSpPr>
            <a:xfrm>
              <a:off x="11365200" y="4587882"/>
              <a:ext cx="120071" cy="103157"/>
              <a:chOff x="11365200" y="4587882"/>
              <a:chExt cx="120071" cy="103157"/>
            </a:xfrm>
          </p:grpSpPr>
          <p:sp>
            <p:nvSpPr>
              <p:cNvPr id="253" name="Freeform 253"/>
              <p:cNvSpPr/>
              <p:nvPr/>
            </p:nvSpPr>
            <p:spPr>
              <a:xfrm>
                <a:off x="11425238" y="4625578"/>
                <a:ext cx="9525" cy="23812"/>
              </a:xfrm>
              <a:custGeom>
                <a:avLst/>
                <a:gdLst/>
                <a:ahLst/>
                <a:cxnLst/>
                <a:rect l="l" t="t" r="r" b="b"/>
                <a:pathLst>
                  <a:path w="9525" h="23812">
                    <a:moveTo>
                      <a:pt x="0" y="0"/>
                    </a:moveTo>
                    <a:lnTo>
                      <a:pt x="0" y="23812"/>
                    </a:lnTo>
                  </a:path>
                </a:pathLst>
              </a:custGeom>
              <a:noFill/>
              <a:ln w="11906">
                <a:solidFill>
                  <a:srgbClr val="C0412B"/>
                </a:solidFill>
              </a:ln>
            </p:spPr>
          </p:sp>
          <p:sp>
            <p:nvSpPr>
              <p:cNvPr id="254" name="Freeform 254"/>
              <p:cNvSpPr/>
              <p:nvPr/>
            </p:nvSpPr>
            <p:spPr>
              <a:xfrm>
                <a:off x="11365200" y="4587882"/>
                <a:ext cx="120071" cy="103157"/>
              </a:xfrm>
              <a:custGeom>
                <a:avLst/>
                <a:gdLst/>
                <a:ahLst/>
                <a:cxnLst/>
                <a:rect l="l" t="t" r="r" b="b"/>
                <a:pathLst>
                  <a:path w="120071" h="103157">
                    <a:moveTo>
                      <a:pt x="50293" y="5496"/>
                    </a:moveTo>
                    <a:lnTo>
                      <a:pt x="2037" y="86066"/>
                    </a:lnTo>
                    <a:cubicBezTo>
                      <a:pt x="12" y="89571"/>
                      <a:pt x="0" y="93888"/>
                      <a:pt x="2004" y="97405"/>
                    </a:cubicBezTo>
                    <a:cubicBezTo>
                      <a:pt x="4008" y="100922"/>
                      <a:pt x="7728" y="103112"/>
                      <a:pt x="11776" y="103157"/>
                    </a:cubicBezTo>
                    <a:lnTo>
                      <a:pt x="108300" y="103157"/>
                    </a:lnTo>
                    <a:cubicBezTo>
                      <a:pt x="112346" y="103110"/>
                      <a:pt x="116064" y="100922"/>
                      <a:pt x="118067" y="97406"/>
                    </a:cubicBezTo>
                    <a:cubicBezTo>
                      <a:pt x="120071" y="93891"/>
                      <a:pt x="120061" y="89577"/>
                      <a:pt x="118039" y="86072"/>
                    </a:cubicBezTo>
                    <a:lnTo>
                      <a:pt x="69783" y="5490"/>
                    </a:lnTo>
                    <a:cubicBezTo>
                      <a:pt x="67718" y="2082"/>
                      <a:pt x="64023" y="0"/>
                      <a:pt x="60038" y="0"/>
                    </a:cubicBezTo>
                    <a:cubicBezTo>
                      <a:pt x="56053" y="0"/>
                      <a:pt x="52358" y="2082"/>
                      <a:pt x="50293" y="5490"/>
                    </a:cubicBezTo>
                  </a:path>
                </a:pathLst>
              </a:custGeom>
              <a:noFill/>
              <a:ln w="11906">
                <a:solidFill>
                  <a:srgbClr val="C0412B"/>
                </a:solidFill>
              </a:ln>
            </p:spPr>
          </p:sp>
          <p:sp>
            <p:nvSpPr>
              <p:cNvPr id="255" name="Freeform 255"/>
              <p:cNvSpPr/>
              <p:nvPr/>
            </p:nvSpPr>
            <p:spPr>
              <a:xfrm>
                <a:off x="11425238" y="4667250"/>
                <a:ext cx="9525" cy="9525"/>
              </a:xfrm>
              <a:custGeom>
                <a:avLst/>
                <a:gdLst/>
                <a:ahLst/>
                <a:cxnLst/>
                <a:rect l="l" t="t" r="r" b="b"/>
                <a:pathLst>
                  <a:path w="9525" h="9525">
                    <a:moveTo>
                      <a:pt x="0" y="0"/>
                    </a:moveTo>
                    <a:lnTo>
                      <a:pt x="60" y="0"/>
                    </a:lnTo>
                  </a:path>
                </a:pathLst>
              </a:custGeom>
              <a:noFill/>
              <a:ln w="11906">
                <a:solidFill>
                  <a:srgbClr val="C0412B"/>
                </a:solidFill>
              </a:ln>
            </p:spPr>
          </p:sp>
        </p:grpSp>
        <p:sp>
          <p:nvSpPr>
            <p:cNvPr id="257" name="Rectangle 257"/>
            <p:cNvSpPr/>
            <p:nvPr/>
          </p:nvSpPr>
          <p:spPr>
            <a:xfrm>
              <a:off x="9734550" y="4762500"/>
              <a:ext cx="285750" cy="133350"/>
            </a:xfrm>
            <a:prstGeom prst="roundRect">
              <a:avLst>
                <a:gd name="adj" fmla="val 21429"/>
              </a:avLst>
            </a:prstGeom>
            <a:solidFill>
              <a:srgbClr val="E4F1EE"/>
            </a:solidFill>
            <a:ln>
              <a:noFill/>
            </a:ln>
          </p:spPr>
        </p:sp>
        <p:sp>
          <p:nvSpPr>
            <p:cNvPr id="258" name="TextBox 258"/>
            <p:cNvSpPr txBox="1"/>
            <p:nvPr/>
          </p:nvSpPr>
          <p:spPr>
            <a:xfrm>
              <a:off x="9791890" y="48025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判断</a:t>
              </a:r>
            </a:p>
          </p:txBody>
        </p:sp>
        <p:sp>
          <p:nvSpPr>
            <p:cNvPr id="259" name="TextBox 259"/>
            <p:cNvSpPr txBox="1"/>
            <p:nvPr/>
          </p:nvSpPr>
          <p:spPr>
            <a:xfrm>
              <a:off x="10072688" y="4802505"/>
              <a:ext cx="1221105"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客户对活动规则、礼品或服务不满</a:t>
              </a:r>
            </a:p>
          </p:txBody>
        </p:sp>
        <p:sp>
          <p:nvSpPr>
            <p:cNvPr id="260" name="Rectangle 260"/>
            <p:cNvSpPr/>
            <p:nvPr/>
          </p:nvSpPr>
          <p:spPr>
            <a:xfrm>
              <a:off x="9734550" y="4972050"/>
              <a:ext cx="285750" cy="133350"/>
            </a:xfrm>
            <a:prstGeom prst="roundRect">
              <a:avLst>
                <a:gd name="adj" fmla="val 21429"/>
              </a:avLst>
            </a:prstGeom>
            <a:solidFill>
              <a:srgbClr val="E4F1EE"/>
            </a:solidFill>
            <a:ln>
              <a:noFill/>
            </a:ln>
          </p:spPr>
        </p:sp>
        <p:sp>
          <p:nvSpPr>
            <p:cNvPr id="261" name="TextBox 261"/>
            <p:cNvSpPr txBox="1"/>
            <p:nvPr/>
          </p:nvSpPr>
          <p:spPr>
            <a:xfrm>
              <a:off x="9791890" y="50120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处理</a:t>
              </a:r>
            </a:p>
          </p:txBody>
        </p:sp>
        <p:sp>
          <p:nvSpPr>
            <p:cNvPr id="262" name="TextBox 262"/>
            <p:cNvSpPr txBox="1"/>
            <p:nvPr/>
          </p:nvSpPr>
          <p:spPr>
            <a:xfrm>
              <a:off x="10072688" y="4993005"/>
              <a:ext cx="1030605" cy="328612"/>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① 现场负责人第一时间介入​</a:t>
              </a:r>
              <a:br/>
              <a:r>
                <a:rPr lang="zh-CN" sz="600" dirty="0">
                  <a:solidFill>
                    <a:srgbClr val="514340"/>
                  </a:solidFill>
                  <a:latin typeface="+mn-lt"/>
                  <a:ea typeface="+mn-ea"/>
                  <a:cs typeface="+mn-cs"/>
                </a:rPr>
                <a:t>② 耐心倾听、解释规则​</a:t>
              </a:r>
              <a:br/>
              <a:r>
                <a:rPr lang="zh-CN" sz="600" dirty="0">
                  <a:solidFill>
                    <a:srgbClr val="514340"/>
                  </a:solidFill>
                  <a:latin typeface="+mn-lt"/>
                  <a:ea typeface="+mn-ea"/>
                  <a:cs typeface="+mn-cs"/>
                </a:rPr>
                <a:t>③ 必要时提供补偿或补救机制​</a:t>
              </a:r>
            </a:p>
          </p:txBody>
        </p:sp>
        <p:sp>
          <p:nvSpPr>
            <p:cNvPr id="263" name="Rectangle 263"/>
            <p:cNvSpPr/>
            <p:nvPr/>
          </p:nvSpPr>
          <p:spPr>
            <a:xfrm>
              <a:off x="9734550" y="5448300"/>
              <a:ext cx="285750" cy="133350"/>
            </a:xfrm>
            <a:prstGeom prst="roundRect">
              <a:avLst>
                <a:gd name="adj" fmla="val 21429"/>
              </a:avLst>
            </a:prstGeom>
            <a:solidFill>
              <a:srgbClr val="E4F1EE"/>
            </a:solidFill>
            <a:ln>
              <a:noFill/>
            </a:ln>
          </p:spPr>
        </p:sp>
        <p:sp>
          <p:nvSpPr>
            <p:cNvPr id="264" name="TextBox 264"/>
            <p:cNvSpPr txBox="1"/>
            <p:nvPr/>
          </p:nvSpPr>
          <p:spPr>
            <a:xfrm>
              <a:off x="9791890" y="548830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目标</a:t>
              </a:r>
            </a:p>
          </p:txBody>
        </p:sp>
        <p:sp>
          <p:nvSpPr>
            <p:cNvPr id="265" name="TextBox 265"/>
            <p:cNvSpPr txBox="1"/>
            <p:nvPr/>
          </p:nvSpPr>
          <p:spPr>
            <a:xfrm>
              <a:off x="10072688" y="5488305"/>
              <a:ext cx="1059561"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快速化解矛盾、维护品牌形象</a:t>
              </a:r>
            </a:p>
          </p:txBody>
        </p:sp>
      </p:gr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09​</a:t>
              </a:r>
            </a:p>
          </p:txBody>
        </p:sp>
        <p:sp>
          <p:nvSpPr>
            <p:cNvPr id="4" name="TextBox 4"/>
            <p:cNvSpPr txBox="1"/>
            <p:nvPr/>
          </p:nvSpPr>
          <p:spPr>
            <a:xfrm>
              <a:off x="904494" y="170498"/>
              <a:ext cx="5007483"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互动机制</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从发宣传单转向任务化沉浸体验</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09​</a:t>
              </a:r>
            </a:p>
          </p:txBody>
        </p:sp>
      </p:grpSp>
      <p:grpSp>
        <p:nvGrpSpPr>
          <p:cNvPr id="16" name="toolbox-intro"/>
          <p:cNvGrpSpPr/>
          <p:nvPr/>
        </p:nvGrpSpPr>
        <p:grpSpPr>
          <a:xfrm>
            <a:off x="342900" y="685800"/>
            <a:ext cx="1047750" cy="2514600"/>
            <a:chOff x="342900" y="685800"/>
            <a:chExt cx="1047750" cy="2514600"/>
          </a:xfrm>
        </p:grpSpPr>
        <p:sp>
          <p:nvSpPr>
            <p:cNvPr id="8" name="Rectangle 8"/>
            <p:cNvSpPr/>
            <p:nvPr/>
          </p:nvSpPr>
          <p:spPr>
            <a:xfrm>
              <a:off x="342900" y="685800"/>
              <a:ext cx="1047750" cy="2514600"/>
            </a:xfrm>
            <a:prstGeom prst="roundRect">
              <a:avLst>
                <a:gd name="adj" fmla="val 7273"/>
              </a:avLst>
            </a:prstGeom>
            <a:solidFill>
              <a:srgbClr val="5D190B"/>
            </a:solidFill>
            <a:ln>
              <a:noFill/>
            </a:ln>
          </p:spPr>
        </p:sp>
        <p:sp>
          <p:nvSpPr>
            <p:cNvPr id="9" name="TextBox 9"/>
            <p:cNvSpPr txBox="1"/>
            <p:nvPr/>
          </p:nvSpPr>
          <p:spPr>
            <a:xfrm>
              <a:off x="597967" y="10377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六大互动</a:t>
              </a:r>
            </a:p>
          </p:txBody>
        </p:sp>
        <p:sp>
          <p:nvSpPr>
            <p:cNvPr id="10" name="TextBox 10"/>
            <p:cNvSpPr txBox="1"/>
            <p:nvPr/>
          </p:nvSpPr>
          <p:spPr>
            <a:xfrm>
              <a:off x="532003" y="122824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机制工具箱</a:t>
              </a:r>
            </a:p>
          </p:txBody>
        </p:sp>
        <p:sp>
          <p:nvSpPr>
            <p:cNvPr id="11" name="Line 11"/>
            <p:cNvSpPr/>
            <p:nvPr/>
          </p:nvSpPr>
          <p:spPr>
            <a:xfrm>
              <a:off x="571500" y="1466850"/>
              <a:ext cx="590550" cy="9525"/>
            </a:xfrm>
            <a:custGeom>
              <a:avLst/>
              <a:gdLst/>
              <a:ahLst/>
              <a:cxnLst/>
              <a:rect l="l" t="t" r="r" b="b"/>
              <a:pathLst>
                <a:path w="590550" h="9525">
                  <a:moveTo>
                    <a:pt x="0" y="0"/>
                  </a:moveTo>
                  <a:lnTo>
                    <a:pt x="590550" y="0"/>
                  </a:lnTo>
                </a:path>
              </a:pathLst>
            </a:custGeom>
            <a:noFill/>
            <a:ln w="9525">
              <a:solidFill>
                <a:srgbClr val="A3422F"/>
              </a:solidFill>
            </a:ln>
          </p:spPr>
        </p:sp>
        <p:sp>
          <p:nvSpPr>
            <p:cNvPr id="12" name="TextBox 12"/>
            <p:cNvSpPr txBox="1"/>
            <p:nvPr/>
          </p:nvSpPr>
          <p:spPr>
            <a:xfrm>
              <a:off x="587388" y="1622584"/>
              <a:ext cx="558775" cy="133350"/>
            </a:xfrm>
            <a:prstGeom prst="rect">
              <a:avLst/>
            </a:prstGeom>
            <a:noFill/>
            <a:ln>
              <a:noFill/>
            </a:ln>
          </p:spPr>
          <p:txBody>
            <a:bodyPr wrap="none" lIns="0" tIns="0" rIns="0" bIns="0" anchor="t" anchorCtr="0">
              <a:spAutoFit/>
            </a:bodyPr>
            <a:lstStyle/>
            <a:p>
              <a:pPr algn="ctr"/>
              <a:r>
                <a:rPr lang="zh-CN" sz="680" dirty="0">
                  <a:solidFill>
                    <a:srgbClr val="BFE4DD"/>
                  </a:solidFill>
                  <a:latin typeface="+mn-lt"/>
                  <a:ea typeface="+mn-ea"/>
                  <a:cs typeface="+mn-cs"/>
                </a:rPr>
                <a:t>从单点触达到</a:t>
              </a:r>
            </a:p>
          </p:txBody>
        </p:sp>
        <p:sp>
          <p:nvSpPr>
            <p:cNvPr id="13" name="TextBox 13"/>
            <p:cNvSpPr txBox="1"/>
            <p:nvPr/>
          </p:nvSpPr>
          <p:spPr>
            <a:xfrm>
              <a:off x="633158" y="1755934"/>
              <a:ext cx="467233" cy="133350"/>
            </a:xfrm>
            <a:prstGeom prst="rect">
              <a:avLst/>
            </a:prstGeom>
            <a:noFill/>
            <a:ln>
              <a:noFill/>
            </a:ln>
          </p:spPr>
          <p:txBody>
            <a:bodyPr wrap="none" lIns="0" tIns="0" rIns="0" bIns="0" anchor="t" anchorCtr="0">
              <a:spAutoFit/>
            </a:bodyPr>
            <a:lstStyle/>
            <a:p>
              <a:pPr algn="ctr"/>
              <a:r>
                <a:rPr lang="zh-CN" sz="680" dirty="0">
                  <a:solidFill>
                    <a:srgbClr val="BFE4DD"/>
                  </a:solidFill>
                  <a:latin typeface="+mn-lt"/>
                  <a:ea typeface="+mn-ea"/>
                  <a:cs typeface="+mn-cs"/>
                </a:rPr>
                <a:t>任务驱动：</a:t>
              </a:r>
            </a:p>
          </p:txBody>
        </p:sp>
        <p:sp>
          <p:nvSpPr>
            <p:cNvPr id="14" name="TextBox 14"/>
            <p:cNvSpPr txBox="1"/>
            <p:nvPr/>
          </p:nvSpPr>
          <p:spPr>
            <a:xfrm>
              <a:off x="472284" y="1980486"/>
              <a:ext cx="788982" cy="140494"/>
            </a:xfrm>
            <a:prstGeom prst="rect">
              <a:avLst/>
            </a:prstGeom>
            <a:noFill/>
            <a:ln>
              <a:noFill/>
            </a:ln>
          </p:spPr>
          <p:txBody>
            <a:bodyPr wrap="none" lIns="0" tIns="0" rIns="0" bIns="0" anchor="t" anchorCtr="0">
              <a:spAutoFit/>
            </a:bodyPr>
            <a:lstStyle/>
            <a:p>
              <a:pPr algn="ctr"/>
              <a:r>
                <a:rPr lang="zh-CN" sz="710" b="1" dirty="0">
                  <a:solidFill>
                    <a:srgbClr val="C4887C"/>
                  </a:solidFill>
                  <a:latin typeface="+mn-lt"/>
                  <a:ea typeface="+mn-ea"/>
                  <a:cs typeface="+mn-cs"/>
                </a:rPr>
                <a:t>让客户"愿意来、​</a:t>
              </a:r>
            </a:p>
          </p:txBody>
        </p:sp>
        <p:sp>
          <p:nvSpPr>
            <p:cNvPr id="15" name="TextBox 15"/>
            <p:cNvSpPr txBox="1"/>
            <p:nvPr/>
          </p:nvSpPr>
          <p:spPr>
            <a:xfrm>
              <a:off x="472284" y="2123361"/>
              <a:ext cx="788982" cy="140494"/>
            </a:xfrm>
            <a:prstGeom prst="rect">
              <a:avLst/>
            </a:prstGeom>
            <a:noFill/>
            <a:ln>
              <a:noFill/>
            </a:ln>
          </p:spPr>
          <p:txBody>
            <a:bodyPr wrap="none" lIns="0" tIns="0" rIns="0" bIns="0" anchor="t" anchorCtr="0">
              <a:spAutoFit/>
            </a:bodyPr>
            <a:lstStyle/>
            <a:p>
              <a:pPr algn="ctr"/>
              <a:r>
                <a:rPr lang="zh-CN" sz="710" b="1" dirty="0">
                  <a:solidFill>
                    <a:srgbClr val="C4887C"/>
                  </a:solidFill>
                  <a:latin typeface="+mn-lt"/>
                  <a:ea typeface="+mn-ea"/>
                  <a:cs typeface="+mn-cs"/>
                </a:rPr>
                <a:t>玩得进、留得下"​</a:t>
              </a:r>
            </a:p>
          </p:txBody>
        </p:sp>
      </p:grpSp>
      <p:grpSp>
        <p:nvGrpSpPr>
          <p:cNvPr id="131" name="tool-cards"/>
          <p:cNvGrpSpPr/>
          <p:nvPr/>
        </p:nvGrpSpPr>
        <p:grpSpPr>
          <a:xfrm>
            <a:off x="1466850" y="685800"/>
            <a:ext cx="10115550" cy="2514600"/>
            <a:chOff x="1466850" y="685800"/>
            <a:chExt cx="10115550" cy="2514600"/>
          </a:xfrm>
        </p:grpSpPr>
        <p:sp>
          <p:nvSpPr>
            <p:cNvPr id="17" name="Rectangle 17"/>
            <p:cNvSpPr/>
            <p:nvPr/>
          </p:nvSpPr>
          <p:spPr>
            <a:xfrm>
              <a:off x="1466850" y="685800"/>
              <a:ext cx="1638300" cy="2514600"/>
            </a:xfrm>
            <a:prstGeom prst="roundRect">
              <a:avLst>
                <a:gd name="adj" fmla="val 4651"/>
              </a:avLst>
            </a:prstGeom>
            <a:solidFill>
              <a:srgbClr val="FFFFFF"/>
            </a:solidFill>
            <a:ln w="14288">
              <a:solidFill>
                <a:srgbClr val="C2E0DA"/>
              </a:solidFill>
            </a:ln>
          </p:spPr>
        </p:sp>
        <p:sp>
          <p:nvSpPr>
            <p:cNvPr id="18" name="Rectangle 18"/>
            <p:cNvSpPr/>
            <p:nvPr/>
          </p:nvSpPr>
          <p:spPr>
            <a:xfrm>
              <a:off x="1466850" y="685800"/>
              <a:ext cx="1638300" cy="285750"/>
            </a:xfrm>
            <a:prstGeom prst="roundRect">
              <a:avLst>
                <a:gd name="adj" fmla="val 26667"/>
              </a:avLst>
            </a:prstGeom>
            <a:solidFill>
              <a:srgbClr val="76200F"/>
            </a:solidFill>
            <a:ln>
              <a:noFill/>
            </a:ln>
          </p:spPr>
        </p:sp>
        <p:grpSp>
          <p:nvGrpSpPr>
            <p:cNvPr id="23" name="Group 23"/>
            <p:cNvGrpSpPr/>
            <p:nvPr/>
          </p:nvGrpSpPr>
          <p:grpSpPr>
            <a:xfrm>
              <a:off x="1574800" y="777875"/>
              <a:ext cx="95250" cy="107950"/>
              <a:chOff x="1574800" y="777875"/>
              <a:chExt cx="95250" cy="107950"/>
            </a:xfrm>
          </p:grpSpPr>
          <p:sp>
            <p:nvSpPr>
              <p:cNvPr id="19" name="Freeform 19"/>
              <p:cNvSpPr/>
              <p:nvPr/>
            </p:nvSpPr>
            <p:spPr>
              <a:xfrm>
                <a:off x="1574800" y="777875"/>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FFFFFF"/>
                </a:solidFill>
              </a:ln>
            </p:spPr>
          </p:sp>
          <p:sp>
            <p:nvSpPr>
              <p:cNvPr id="20" name="Freeform 20"/>
              <p:cNvSpPr/>
              <p:nvPr/>
            </p:nvSpPr>
            <p:spPr>
              <a:xfrm>
                <a:off x="1631950" y="860425"/>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sp>
            <p:nvSpPr>
              <p:cNvPr id="21" name="Freeform 21"/>
              <p:cNvSpPr/>
              <p:nvPr/>
            </p:nvSpPr>
            <p:spPr>
              <a:xfrm>
                <a:off x="1600200" y="803275"/>
                <a:ext cx="25400" cy="9525"/>
              </a:xfrm>
              <a:custGeom>
                <a:avLst/>
                <a:gdLst/>
                <a:ahLst/>
                <a:cxnLst/>
                <a:rect l="l" t="t" r="r" b="b"/>
                <a:pathLst>
                  <a:path w="25400" h="9525">
                    <a:moveTo>
                      <a:pt x="0" y="0"/>
                    </a:moveTo>
                    <a:lnTo>
                      <a:pt x="25400" y="0"/>
                    </a:lnTo>
                  </a:path>
                </a:pathLst>
              </a:custGeom>
              <a:noFill/>
              <a:ln w="12700">
                <a:solidFill>
                  <a:srgbClr val="FFFFFF"/>
                </a:solidFill>
              </a:ln>
            </p:spPr>
          </p:sp>
          <p:sp>
            <p:nvSpPr>
              <p:cNvPr id="22" name="Freeform 22"/>
              <p:cNvSpPr/>
              <p:nvPr/>
            </p:nvSpPr>
            <p:spPr>
              <a:xfrm>
                <a:off x="1600200" y="828675"/>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24" name="TextBox 24"/>
            <p:cNvSpPr txBox="1"/>
            <p:nvPr/>
          </p:nvSpPr>
          <p:spPr>
            <a:xfrm>
              <a:off x="1747838" y="7300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金融测评</a:t>
              </a:r>
            </a:p>
          </p:txBody>
        </p:sp>
        <p:sp>
          <p:nvSpPr>
            <p:cNvPr id="25" name="TextBox 25"/>
            <p:cNvSpPr txBox="1"/>
            <p:nvPr/>
          </p:nvSpPr>
          <p:spPr>
            <a:xfrm>
              <a:off x="1747838" y="872728"/>
              <a:ext cx="612623" cy="111919"/>
            </a:xfrm>
            <a:prstGeom prst="rect">
              <a:avLst/>
            </a:prstGeom>
            <a:noFill/>
            <a:ln>
              <a:noFill/>
            </a:ln>
          </p:spPr>
          <p:txBody>
            <a:bodyPr wrap="none" lIns="0" tIns="0" rIns="0" bIns="0" anchor="t" anchorCtr="0">
              <a:spAutoFit/>
            </a:bodyPr>
            <a:lstStyle/>
            <a:p>
              <a:pPr algn="l"/>
              <a:r>
                <a:rPr lang="zh-CN" sz="560" dirty="0">
                  <a:solidFill>
                    <a:srgbClr val="BFE4DD"/>
                  </a:solidFill>
                  <a:latin typeface="+mn-lt"/>
                  <a:ea typeface="+mn-ea"/>
                  <a:cs typeface="+mn-cs"/>
                </a:rPr>
                <a:t>测一测，更懂自己</a:t>
              </a:r>
            </a:p>
          </p:txBody>
        </p:sp>
        <p:sp>
          <p:nvSpPr>
            <p:cNvPr id="26" name="TextBox 26"/>
            <p:cNvSpPr txBox="1"/>
            <p:nvPr/>
          </p:nvSpPr>
          <p:spPr>
            <a:xfrm>
              <a:off x="1538288" y="1059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客户动机</a:t>
              </a:r>
            </a:p>
          </p:txBody>
        </p:sp>
        <p:sp>
          <p:nvSpPr>
            <p:cNvPr id="27" name="TextBox 27"/>
            <p:cNvSpPr txBox="1"/>
            <p:nvPr/>
          </p:nvSpPr>
          <p:spPr>
            <a:xfrm>
              <a:off x="1538288" y="1163955"/>
              <a:ext cx="6191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了解自身财务状况</a:t>
              </a:r>
              <a:br/>
              <a:r>
                <a:rPr lang="zh-CN" sz="600" dirty="0">
                  <a:solidFill>
                    <a:srgbClr val="514340"/>
                  </a:solidFill>
                  <a:latin typeface="+mn-lt"/>
                  <a:ea typeface="+mn-ea"/>
                  <a:cs typeface="+mn-cs"/>
                </a:rPr>
                <a:t>获取专业建议</a:t>
              </a:r>
            </a:p>
          </p:txBody>
        </p:sp>
        <p:sp>
          <p:nvSpPr>
            <p:cNvPr id="28" name="TextBox 28"/>
            <p:cNvSpPr txBox="1"/>
            <p:nvPr/>
          </p:nvSpPr>
          <p:spPr>
            <a:xfrm>
              <a:off x="153828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活动规则</a:t>
              </a:r>
            </a:p>
          </p:txBody>
        </p:sp>
        <p:sp>
          <p:nvSpPr>
            <p:cNvPr id="29" name="TextBox 29"/>
            <p:cNvSpPr txBox="1"/>
            <p:nvPr/>
          </p:nvSpPr>
          <p:spPr>
            <a:xfrm>
              <a:off x="1538288" y="1583055"/>
              <a:ext cx="77914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完成风险偏好/理财知​</a:t>
              </a:r>
              <a:br/>
              <a:r>
                <a:rPr lang="zh-CN" sz="600" dirty="0">
                  <a:solidFill>
                    <a:srgbClr val="514340"/>
                  </a:solidFill>
                  <a:latin typeface="+mn-lt"/>
                  <a:ea typeface="+mn-ea"/>
                  <a:cs typeface="+mn-cs"/>
                </a:rPr>
                <a:t>识测评，约3-5分钟​</a:t>
              </a:r>
            </a:p>
          </p:txBody>
        </p:sp>
        <p:sp>
          <p:nvSpPr>
            <p:cNvPr id="30" name="TextBox 30"/>
            <p:cNvSpPr txBox="1"/>
            <p:nvPr/>
          </p:nvSpPr>
          <p:spPr>
            <a:xfrm>
              <a:off x="1538288" y="18973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采集标签</a:t>
              </a:r>
            </a:p>
          </p:txBody>
        </p:sp>
        <p:sp>
          <p:nvSpPr>
            <p:cNvPr id="31" name="TextBox 31"/>
            <p:cNvSpPr txBox="1"/>
            <p:nvPr/>
          </p:nvSpPr>
          <p:spPr>
            <a:xfrm>
              <a:off x="1538288" y="2002155"/>
              <a:ext cx="6953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风险偏好、投资经验</a:t>
              </a:r>
              <a:br/>
              <a:r>
                <a:rPr lang="zh-CN" sz="600" dirty="0">
                  <a:solidFill>
                    <a:srgbClr val="514340"/>
                  </a:solidFill>
                  <a:latin typeface="+mn-lt"/>
                  <a:ea typeface="+mn-ea"/>
                  <a:cs typeface="+mn-cs"/>
                </a:rPr>
                <a:t>理财目标、生命周期</a:t>
              </a:r>
            </a:p>
          </p:txBody>
        </p:sp>
        <p:sp>
          <p:nvSpPr>
            <p:cNvPr id="32" name="TextBox 32"/>
            <p:cNvSpPr txBox="1"/>
            <p:nvPr/>
          </p:nvSpPr>
          <p:spPr>
            <a:xfrm>
              <a:off x="1538288" y="23164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推荐奖励</a:t>
              </a:r>
            </a:p>
          </p:txBody>
        </p:sp>
        <p:sp>
          <p:nvSpPr>
            <p:cNvPr id="33" name="TextBox 33"/>
            <p:cNvSpPr txBox="1"/>
            <p:nvPr/>
          </p:nvSpPr>
          <p:spPr>
            <a:xfrm>
              <a:off x="1538288" y="2421255"/>
              <a:ext cx="63817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测评报告 + 专属​​</a:t>
              </a:r>
              <a:br/>
              <a:r>
                <a:rPr lang="zh-CN" sz="600" dirty="0">
                  <a:solidFill>
                    <a:srgbClr val="514340"/>
                  </a:solidFill>
                  <a:latin typeface="+mn-lt"/>
                  <a:ea typeface="+mn-ea"/>
                  <a:cs typeface="+mn-cs"/>
                </a:rPr>
                <a:t>理财礼包</a:t>
              </a:r>
            </a:p>
          </p:txBody>
        </p:sp>
        <p:sp>
          <p:nvSpPr>
            <p:cNvPr id="34" name="TextBox 34"/>
            <p:cNvSpPr txBox="1"/>
            <p:nvPr/>
          </p:nvSpPr>
          <p:spPr>
            <a:xfrm>
              <a:off x="1538288" y="27355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适用场景</a:t>
              </a:r>
            </a:p>
          </p:txBody>
        </p:sp>
        <p:sp>
          <p:nvSpPr>
            <p:cNvPr id="35" name="TextBox 35"/>
            <p:cNvSpPr txBox="1"/>
            <p:nvPr/>
          </p:nvSpPr>
          <p:spPr>
            <a:xfrm>
              <a:off x="1538288" y="2840355"/>
              <a:ext cx="715747"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线下展位、线上H5​</a:t>
              </a:r>
            </a:p>
          </p:txBody>
        </p:sp>
        <p:sp>
          <p:nvSpPr>
            <p:cNvPr id="36" name="Rectangle 36"/>
            <p:cNvSpPr/>
            <p:nvPr/>
          </p:nvSpPr>
          <p:spPr>
            <a:xfrm>
              <a:off x="3162300" y="685800"/>
              <a:ext cx="1638300" cy="2514600"/>
            </a:xfrm>
            <a:prstGeom prst="roundRect">
              <a:avLst>
                <a:gd name="adj" fmla="val 4651"/>
              </a:avLst>
            </a:prstGeom>
            <a:solidFill>
              <a:srgbClr val="FFFFFF"/>
            </a:solidFill>
            <a:ln w="14288">
              <a:solidFill>
                <a:srgbClr val="C2E0DA"/>
              </a:solidFill>
            </a:ln>
          </p:spPr>
        </p:sp>
        <p:sp>
          <p:nvSpPr>
            <p:cNvPr id="37" name="Rectangle 37"/>
            <p:cNvSpPr/>
            <p:nvPr/>
          </p:nvSpPr>
          <p:spPr>
            <a:xfrm>
              <a:off x="3162300" y="685800"/>
              <a:ext cx="1638300" cy="285750"/>
            </a:xfrm>
            <a:prstGeom prst="roundRect">
              <a:avLst>
                <a:gd name="adj" fmla="val 26667"/>
              </a:avLst>
            </a:prstGeom>
            <a:solidFill>
              <a:srgbClr val="852512"/>
            </a:solidFill>
            <a:ln>
              <a:noFill/>
            </a:ln>
          </p:spPr>
        </p:sp>
        <p:grpSp>
          <p:nvGrpSpPr>
            <p:cNvPr id="41" name="Group 41"/>
            <p:cNvGrpSpPr/>
            <p:nvPr/>
          </p:nvGrpSpPr>
          <p:grpSpPr>
            <a:xfrm>
              <a:off x="3260103" y="771525"/>
              <a:ext cx="109182" cy="113602"/>
              <a:chOff x="3260103" y="771525"/>
              <a:chExt cx="109182" cy="113602"/>
            </a:xfrm>
          </p:grpSpPr>
          <p:sp>
            <p:nvSpPr>
              <p:cNvPr id="38" name="Freeform 38"/>
              <p:cNvSpPr/>
              <p:nvPr/>
            </p:nvSpPr>
            <p:spPr>
              <a:xfrm>
                <a:off x="3276600" y="7715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FFFFFF"/>
                </a:solidFill>
              </a:ln>
            </p:spPr>
          </p:sp>
          <p:sp>
            <p:nvSpPr>
              <p:cNvPr id="39" name="Freeform 39"/>
              <p:cNvSpPr/>
              <p:nvPr/>
            </p:nvSpPr>
            <p:spPr>
              <a:xfrm>
                <a:off x="3314700" y="828675"/>
                <a:ext cx="54585" cy="56452"/>
              </a:xfrm>
              <a:custGeom>
                <a:avLst/>
                <a:gdLst/>
                <a:ahLst/>
                <a:cxnLst/>
                <a:rect l="l" t="t" r="r" b="b"/>
                <a:pathLst>
                  <a:path w="54585" h="56452">
                    <a:moveTo>
                      <a:pt x="0" y="19050"/>
                    </a:moveTo>
                    <a:lnTo>
                      <a:pt x="21590" y="56452"/>
                    </a:lnTo>
                    <a:lnTo>
                      <a:pt x="31737" y="35922"/>
                    </a:lnTo>
                    <a:lnTo>
                      <a:pt x="54585" y="37395"/>
                    </a:lnTo>
                    <a:lnTo>
                      <a:pt x="32995" y="0"/>
                    </a:lnTo>
                  </a:path>
                </a:pathLst>
              </a:custGeom>
              <a:noFill/>
              <a:ln w="12700">
                <a:solidFill>
                  <a:srgbClr val="FFFFFF"/>
                </a:solidFill>
              </a:ln>
            </p:spPr>
          </p:sp>
          <p:sp>
            <p:nvSpPr>
              <p:cNvPr id="40" name="Freeform 40"/>
              <p:cNvSpPr/>
              <p:nvPr/>
            </p:nvSpPr>
            <p:spPr>
              <a:xfrm>
                <a:off x="3260103" y="828675"/>
                <a:ext cx="54585" cy="56445"/>
              </a:xfrm>
              <a:custGeom>
                <a:avLst/>
                <a:gdLst/>
                <a:ahLst/>
                <a:cxnLst/>
                <a:rect l="l" t="t" r="r" b="b"/>
                <a:pathLst>
                  <a:path w="54585" h="56445">
                    <a:moveTo>
                      <a:pt x="21590" y="0"/>
                    </a:moveTo>
                    <a:lnTo>
                      <a:pt x="0" y="37402"/>
                    </a:lnTo>
                    <a:lnTo>
                      <a:pt x="22847" y="35922"/>
                    </a:lnTo>
                    <a:lnTo>
                      <a:pt x="32995" y="56445"/>
                    </a:lnTo>
                    <a:lnTo>
                      <a:pt x="54585" y="19050"/>
                    </a:lnTo>
                  </a:path>
                </a:pathLst>
              </a:custGeom>
              <a:noFill/>
              <a:ln w="12700">
                <a:solidFill>
                  <a:srgbClr val="FFFFFF"/>
                </a:solidFill>
              </a:ln>
            </p:spPr>
          </p:sp>
        </p:grpSp>
        <p:sp>
          <p:nvSpPr>
            <p:cNvPr id="42" name="TextBox 42"/>
            <p:cNvSpPr txBox="1"/>
            <p:nvPr/>
          </p:nvSpPr>
          <p:spPr>
            <a:xfrm>
              <a:off x="3443288" y="7300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权益抽取</a:t>
              </a:r>
            </a:p>
          </p:txBody>
        </p:sp>
        <p:sp>
          <p:nvSpPr>
            <p:cNvPr id="43" name="TextBox 43"/>
            <p:cNvSpPr txBox="1"/>
            <p:nvPr/>
          </p:nvSpPr>
          <p:spPr>
            <a:xfrm>
              <a:off x="3443288" y="872728"/>
              <a:ext cx="537235" cy="111919"/>
            </a:xfrm>
            <a:prstGeom prst="rect">
              <a:avLst/>
            </a:prstGeom>
            <a:noFill/>
            <a:ln>
              <a:noFill/>
            </a:ln>
          </p:spPr>
          <p:txBody>
            <a:bodyPr wrap="none" lIns="0" tIns="0" rIns="0" bIns="0" anchor="t" anchorCtr="0">
              <a:spAutoFit/>
            </a:bodyPr>
            <a:lstStyle/>
            <a:p>
              <a:pPr algn="l"/>
              <a:r>
                <a:rPr lang="zh-CN" sz="560" dirty="0">
                  <a:solidFill>
                    <a:srgbClr val="BFE4DD"/>
                  </a:solidFill>
                  <a:latin typeface="+mn-lt"/>
                  <a:ea typeface="+mn-ea"/>
                  <a:cs typeface="+mn-cs"/>
                </a:rPr>
                <a:t>抽一抽，有惊喜</a:t>
              </a:r>
            </a:p>
          </p:txBody>
        </p:sp>
        <p:sp>
          <p:nvSpPr>
            <p:cNvPr id="44" name="TextBox 44"/>
            <p:cNvSpPr txBox="1"/>
            <p:nvPr/>
          </p:nvSpPr>
          <p:spPr>
            <a:xfrm>
              <a:off x="3233738" y="1059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客户动机</a:t>
              </a:r>
            </a:p>
          </p:txBody>
        </p:sp>
        <p:sp>
          <p:nvSpPr>
            <p:cNvPr id="45" name="TextBox 45"/>
            <p:cNvSpPr txBox="1"/>
            <p:nvPr/>
          </p:nvSpPr>
          <p:spPr>
            <a:xfrm>
              <a:off x="3233738" y="1163955"/>
              <a:ext cx="5429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获得即时惊喜</a:t>
              </a:r>
              <a:br/>
              <a:r>
                <a:rPr lang="zh-CN" sz="600" dirty="0">
                  <a:solidFill>
                    <a:srgbClr val="514340"/>
                  </a:solidFill>
                  <a:latin typeface="+mn-lt"/>
                  <a:ea typeface="+mn-ea"/>
                  <a:cs typeface="+mn-cs"/>
                </a:rPr>
                <a:t>享受乐趣与刺激</a:t>
              </a:r>
            </a:p>
          </p:txBody>
        </p:sp>
        <p:sp>
          <p:nvSpPr>
            <p:cNvPr id="46" name="TextBox 46"/>
            <p:cNvSpPr txBox="1"/>
            <p:nvPr/>
          </p:nvSpPr>
          <p:spPr>
            <a:xfrm>
              <a:off x="323373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活动规则</a:t>
              </a:r>
            </a:p>
          </p:txBody>
        </p:sp>
        <p:sp>
          <p:nvSpPr>
            <p:cNvPr id="47" name="TextBox 47"/>
            <p:cNvSpPr txBox="1"/>
            <p:nvPr/>
          </p:nvSpPr>
          <p:spPr>
            <a:xfrm>
              <a:off x="3233738" y="1583055"/>
              <a:ext cx="8477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完成指定任务获抽奖机会</a:t>
              </a:r>
              <a:br/>
              <a:r>
                <a:rPr lang="zh-CN" sz="600" dirty="0">
                  <a:solidFill>
                    <a:srgbClr val="514340"/>
                  </a:solidFill>
                  <a:latin typeface="+mn-lt"/>
                  <a:ea typeface="+mn-ea"/>
                  <a:cs typeface="+mn-cs"/>
                </a:rPr>
                <a:t>（注册 / 体验等）​​</a:t>
              </a:r>
            </a:p>
          </p:txBody>
        </p:sp>
        <p:sp>
          <p:nvSpPr>
            <p:cNvPr id="48" name="TextBox 48"/>
            <p:cNvSpPr txBox="1"/>
            <p:nvPr/>
          </p:nvSpPr>
          <p:spPr>
            <a:xfrm>
              <a:off x="3233738" y="18973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采集标签</a:t>
              </a:r>
            </a:p>
          </p:txBody>
        </p:sp>
        <p:sp>
          <p:nvSpPr>
            <p:cNvPr id="49" name="TextBox 49"/>
            <p:cNvSpPr txBox="1"/>
            <p:nvPr/>
          </p:nvSpPr>
          <p:spPr>
            <a:xfrm>
              <a:off x="3233738" y="2002155"/>
              <a:ext cx="6953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活动偏好、参与频次</a:t>
              </a:r>
              <a:br/>
              <a:r>
                <a:rPr lang="zh-CN" sz="600" dirty="0">
                  <a:solidFill>
                    <a:srgbClr val="514340"/>
                  </a:solidFill>
                  <a:latin typeface="+mn-lt"/>
                  <a:ea typeface="+mn-ea"/>
                  <a:cs typeface="+mn-cs"/>
                </a:rPr>
                <a:t>权益敏感度</a:t>
              </a:r>
            </a:p>
          </p:txBody>
        </p:sp>
        <p:sp>
          <p:nvSpPr>
            <p:cNvPr id="50" name="TextBox 50"/>
            <p:cNvSpPr txBox="1"/>
            <p:nvPr/>
          </p:nvSpPr>
          <p:spPr>
            <a:xfrm>
              <a:off x="3233738" y="23164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推荐奖励</a:t>
              </a:r>
            </a:p>
          </p:txBody>
        </p:sp>
        <p:sp>
          <p:nvSpPr>
            <p:cNvPr id="51" name="TextBox 51"/>
            <p:cNvSpPr txBox="1"/>
            <p:nvPr/>
          </p:nvSpPr>
          <p:spPr>
            <a:xfrm>
              <a:off x="3233738" y="2421255"/>
              <a:ext cx="6953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商超券、视频券、积</a:t>
              </a:r>
              <a:br/>
              <a:r>
                <a:rPr lang="zh-CN" sz="600" dirty="0">
                  <a:solidFill>
                    <a:srgbClr val="514340"/>
                  </a:solidFill>
                  <a:latin typeface="+mn-lt"/>
                  <a:ea typeface="+mn-ea"/>
                  <a:cs typeface="+mn-cs"/>
                </a:rPr>
                <a:t>分或实物小礼品</a:t>
              </a:r>
            </a:p>
          </p:txBody>
        </p:sp>
        <p:sp>
          <p:nvSpPr>
            <p:cNvPr id="52" name="TextBox 52"/>
            <p:cNvSpPr txBox="1"/>
            <p:nvPr/>
          </p:nvSpPr>
          <p:spPr>
            <a:xfrm>
              <a:off x="3233738" y="27355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适用场景</a:t>
              </a:r>
            </a:p>
          </p:txBody>
        </p:sp>
        <p:sp>
          <p:nvSpPr>
            <p:cNvPr id="53" name="TextBox 53"/>
            <p:cNvSpPr txBox="1"/>
            <p:nvPr/>
          </p:nvSpPr>
          <p:spPr>
            <a:xfrm>
              <a:off x="3233738" y="2840355"/>
              <a:ext cx="817245"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线下展位、线上小程序</a:t>
              </a:r>
            </a:p>
          </p:txBody>
        </p:sp>
        <p:sp>
          <p:nvSpPr>
            <p:cNvPr id="54" name="Rectangle 54"/>
            <p:cNvSpPr/>
            <p:nvPr/>
          </p:nvSpPr>
          <p:spPr>
            <a:xfrm>
              <a:off x="4857750" y="685800"/>
              <a:ext cx="1638300" cy="2514600"/>
            </a:xfrm>
            <a:prstGeom prst="roundRect">
              <a:avLst>
                <a:gd name="adj" fmla="val 4651"/>
              </a:avLst>
            </a:prstGeom>
            <a:solidFill>
              <a:srgbClr val="FFFFFF"/>
            </a:solidFill>
            <a:ln w="14288">
              <a:solidFill>
                <a:srgbClr val="C2E0DA"/>
              </a:solidFill>
            </a:ln>
          </p:spPr>
        </p:sp>
        <p:sp>
          <p:nvSpPr>
            <p:cNvPr id="55" name="Rectangle 55"/>
            <p:cNvSpPr/>
            <p:nvPr/>
          </p:nvSpPr>
          <p:spPr>
            <a:xfrm>
              <a:off x="4857750" y="685800"/>
              <a:ext cx="1638300" cy="285750"/>
            </a:xfrm>
            <a:prstGeom prst="roundRect">
              <a:avLst>
                <a:gd name="adj" fmla="val 26667"/>
              </a:avLst>
            </a:prstGeom>
            <a:solidFill>
              <a:srgbClr val="5D190B"/>
            </a:solidFill>
            <a:ln>
              <a:noFill/>
            </a:ln>
          </p:spPr>
        </p:sp>
        <p:grpSp>
          <p:nvGrpSpPr>
            <p:cNvPr id="62" name="Group 62"/>
            <p:cNvGrpSpPr/>
            <p:nvPr/>
          </p:nvGrpSpPr>
          <p:grpSpPr>
            <a:xfrm>
              <a:off x="4959350" y="771525"/>
              <a:ext cx="101600" cy="114300"/>
              <a:chOff x="4959350" y="771525"/>
              <a:chExt cx="101600" cy="114300"/>
            </a:xfrm>
          </p:grpSpPr>
          <p:sp>
            <p:nvSpPr>
              <p:cNvPr id="56" name="Freeform 56"/>
              <p:cNvSpPr/>
              <p:nvPr/>
            </p:nvSpPr>
            <p:spPr>
              <a:xfrm>
                <a:off x="4959350" y="784225"/>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FFFFFF"/>
                </a:solidFill>
              </a:ln>
            </p:spPr>
          </p:sp>
          <p:sp>
            <p:nvSpPr>
              <p:cNvPr id="57" name="Freeform 57"/>
              <p:cNvSpPr/>
              <p:nvPr/>
            </p:nvSpPr>
            <p:spPr>
              <a:xfrm>
                <a:off x="5035550" y="771525"/>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58" name="Freeform 58"/>
              <p:cNvSpPr/>
              <p:nvPr/>
            </p:nvSpPr>
            <p:spPr>
              <a:xfrm>
                <a:off x="4984750" y="771525"/>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59" name="Freeform 59"/>
              <p:cNvSpPr/>
              <p:nvPr/>
            </p:nvSpPr>
            <p:spPr>
              <a:xfrm>
                <a:off x="4959350" y="822325"/>
                <a:ext cx="101600" cy="9525"/>
              </a:xfrm>
              <a:custGeom>
                <a:avLst/>
                <a:gdLst/>
                <a:ahLst/>
                <a:cxnLst/>
                <a:rect l="l" t="t" r="r" b="b"/>
                <a:pathLst>
                  <a:path w="101600" h="9525">
                    <a:moveTo>
                      <a:pt x="0" y="0"/>
                    </a:moveTo>
                    <a:lnTo>
                      <a:pt x="101600" y="0"/>
                    </a:lnTo>
                  </a:path>
                </a:pathLst>
              </a:custGeom>
              <a:noFill/>
              <a:ln w="12700">
                <a:solidFill>
                  <a:srgbClr val="FFFFFF"/>
                </a:solidFill>
              </a:ln>
            </p:spPr>
          </p:sp>
          <p:sp>
            <p:nvSpPr>
              <p:cNvPr id="60" name="Freeform 60"/>
              <p:cNvSpPr/>
              <p:nvPr/>
            </p:nvSpPr>
            <p:spPr>
              <a:xfrm>
                <a:off x="5003800" y="847725"/>
                <a:ext cx="9525" cy="9525"/>
              </a:xfrm>
              <a:custGeom>
                <a:avLst/>
                <a:gdLst/>
                <a:ahLst/>
                <a:cxnLst/>
                <a:rect l="l" t="t" r="r" b="b"/>
                <a:pathLst>
                  <a:path w="9525" h="9525">
                    <a:moveTo>
                      <a:pt x="0" y="0"/>
                    </a:moveTo>
                    <a:lnTo>
                      <a:pt x="6350" y="0"/>
                    </a:lnTo>
                  </a:path>
                </a:pathLst>
              </a:custGeom>
              <a:noFill/>
              <a:ln w="12700">
                <a:solidFill>
                  <a:srgbClr val="FFFFFF"/>
                </a:solidFill>
              </a:ln>
            </p:spPr>
          </p:sp>
          <p:sp>
            <p:nvSpPr>
              <p:cNvPr id="61" name="Freeform 61"/>
              <p:cNvSpPr/>
              <p:nvPr/>
            </p:nvSpPr>
            <p:spPr>
              <a:xfrm>
                <a:off x="5010150" y="847725"/>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63" name="TextBox 63"/>
            <p:cNvSpPr txBox="1"/>
            <p:nvPr/>
          </p:nvSpPr>
          <p:spPr>
            <a:xfrm>
              <a:off x="5138738" y="7300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数字打卡</a:t>
              </a:r>
            </a:p>
          </p:txBody>
        </p:sp>
        <p:sp>
          <p:nvSpPr>
            <p:cNvPr id="64" name="TextBox 64"/>
            <p:cNvSpPr txBox="1"/>
            <p:nvPr/>
          </p:nvSpPr>
          <p:spPr>
            <a:xfrm>
              <a:off x="5138738" y="872728"/>
              <a:ext cx="537235" cy="111919"/>
            </a:xfrm>
            <a:prstGeom prst="rect">
              <a:avLst/>
            </a:prstGeom>
            <a:noFill/>
            <a:ln>
              <a:noFill/>
            </a:ln>
          </p:spPr>
          <p:txBody>
            <a:bodyPr wrap="none" lIns="0" tIns="0" rIns="0" bIns="0" anchor="t" anchorCtr="0">
              <a:spAutoFit/>
            </a:bodyPr>
            <a:lstStyle/>
            <a:p>
              <a:pPr algn="l"/>
              <a:r>
                <a:rPr lang="zh-CN" sz="560" dirty="0">
                  <a:solidFill>
                    <a:srgbClr val="BFE4DD"/>
                  </a:solidFill>
                  <a:latin typeface="+mn-lt"/>
                  <a:ea typeface="+mn-ea"/>
                  <a:cs typeface="+mn-cs"/>
                </a:rPr>
                <a:t>打卡赢解锁权益</a:t>
              </a:r>
            </a:p>
          </p:txBody>
        </p:sp>
        <p:sp>
          <p:nvSpPr>
            <p:cNvPr id="65" name="TextBox 65"/>
            <p:cNvSpPr txBox="1"/>
            <p:nvPr/>
          </p:nvSpPr>
          <p:spPr>
            <a:xfrm>
              <a:off x="4929188" y="1059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客户动机</a:t>
              </a:r>
            </a:p>
          </p:txBody>
        </p:sp>
        <p:sp>
          <p:nvSpPr>
            <p:cNvPr id="66" name="TextBox 66"/>
            <p:cNvSpPr txBox="1"/>
            <p:nvPr/>
          </p:nvSpPr>
          <p:spPr>
            <a:xfrm>
              <a:off x="4929188" y="1163955"/>
              <a:ext cx="4667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收集成就感</a:t>
              </a:r>
              <a:br/>
              <a:r>
                <a:rPr lang="zh-CN" sz="600" dirty="0">
                  <a:solidFill>
                    <a:srgbClr val="514340"/>
                  </a:solidFill>
                  <a:latin typeface="+mn-lt"/>
                  <a:ea typeface="+mn-ea"/>
                  <a:cs typeface="+mn-cs"/>
                </a:rPr>
                <a:t>兑换心仪奖励</a:t>
              </a:r>
            </a:p>
          </p:txBody>
        </p:sp>
        <p:sp>
          <p:nvSpPr>
            <p:cNvPr id="67" name="TextBox 67"/>
            <p:cNvSpPr txBox="1"/>
            <p:nvPr/>
          </p:nvSpPr>
          <p:spPr>
            <a:xfrm>
              <a:off x="492918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活动规则</a:t>
              </a:r>
            </a:p>
          </p:txBody>
        </p:sp>
        <p:sp>
          <p:nvSpPr>
            <p:cNvPr id="68" name="TextBox 68"/>
            <p:cNvSpPr txBox="1"/>
            <p:nvPr/>
          </p:nvSpPr>
          <p:spPr>
            <a:xfrm>
              <a:off x="4929188" y="1583055"/>
              <a:ext cx="59245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到访N个任务点​​</a:t>
              </a:r>
              <a:br/>
              <a:r>
                <a:rPr lang="zh-CN" sz="600" dirty="0">
                  <a:solidFill>
                    <a:srgbClr val="514340"/>
                  </a:solidFill>
                  <a:latin typeface="+mn-lt"/>
                  <a:ea typeface="+mn-ea"/>
                  <a:cs typeface="+mn-cs"/>
                </a:rPr>
                <a:t>或完成打卡任务</a:t>
              </a:r>
            </a:p>
          </p:txBody>
        </p:sp>
        <p:sp>
          <p:nvSpPr>
            <p:cNvPr id="69" name="TextBox 69"/>
            <p:cNvSpPr txBox="1"/>
            <p:nvPr/>
          </p:nvSpPr>
          <p:spPr>
            <a:xfrm>
              <a:off x="4929188" y="18973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采集标签</a:t>
              </a:r>
            </a:p>
          </p:txBody>
        </p:sp>
        <p:sp>
          <p:nvSpPr>
            <p:cNvPr id="70" name="TextBox 70"/>
            <p:cNvSpPr txBox="1"/>
            <p:nvPr/>
          </p:nvSpPr>
          <p:spPr>
            <a:xfrm>
              <a:off x="4929188" y="2002155"/>
              <a:ext cx="6953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到访频次、兴趣区域</a:t>
              </a:r>
              <a:br/>
              <a:r>
                <a:rPr lang="zh-CN" sz="600" dirty="0">
                  <a:solidFill>
                    <a:srgbClr val="514340"/>
                  </a:solidFill>
                  <a:latin typeface="+mn-lt"/>
                  <a:ea typeface="+mn-ea"/>
                  <a:cs typeface="+mn-cs"/>
                </a:rPr>
                <a:t>活动参与度</a:t>
              </a:r>
            </a:p>
          </p:txBody>
        </p:sp>
        <p:sp>
          <p:nvSpPr>
            <p:cNvPr id="71" name="TextBox 71"/>
            <p:cNvSpPr txBox="1"/>
            <p:nvPr/>
          </p:nvSpPr>
          <p:spPr>
            <a:xfrm>
              <a:off x="4929188" y="23164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推荐奖励</a:t>
              </a:r>
            </a:p>
          </p:txBody>
        </p:sp>
        <p:sp>
          <p:nvSpPr>
            <p:cNvPr id="72" name="TextBox 72"/>
            <p:cNvSpPr txBox="1"/>
            <p:nvPr/>
          </p:nvSpPr>
          <p:spPr>
            <a:xfrm>
              <a:off x="4929188" y="2421255"/>
              <a:ext cx="6953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定向周边、商圈券或</a:t>
              </a:r>
              <a:br/>
              <a:r>
                <a:rPr lang="zh-CN" sz="600" dirty="0">
                  <a:solidFill>
                    <a:srgbClr val="514340"/>
                  </a:solidFill>
                  <a:latin typeface="+mn-lt"/>
                  <a:ea typeface="+mn-ea"/>
                  <a:cs typeface="+mn-cs"/>
                </a:rPr>
                <a:t>积分加码</a:t>
              </a:r>
            </a:p>
          </p:txBody>
        </p:sp>
        <p:sp>
          <p:nvSpPr>
            <p:cNvPr id="73" name="TextBox 73"/>
            <p:cNvSpPr txBox="1"/>
            <p:nvPr/>
          </p:nvSpPr>
          <p:spPr>
            <a:xfrm>
              <a:off x="4929188" y="27355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适用场景</a:t>
              </a:r>
            </a:p>
          </p:txBody>
        </p:sp>
        <p:sp>
          <p:nvSpPr>
            <p:cNvPr id="74" name="TextBox 74"/>
            <p:cNvSpPr txBox="1"/>
            <p:nvPr/>
          </p:nvSpPr>
          <p:spPr>
            <a:xfrm>
              <a:off x="4929188" y="2840355"/>
              <a:ext cx="817245"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商圈展位、园区、社区</a:t>
              </a:r>
            </a:p>
          </p:txBody>
        </p:sp>
        <p:sp>
          <p:nvSpPr>
            <p:cNvPr id="75" name="Rectangle 75"/>
            <p:cNvSpPr/>
            <p:nvPr/>
          </p:nvSpPr>
          <p:spPr>
            <a:xfrm>
              <a:off x="6553200" y="685800"/>
              <a:ext cx="1638300" cy="2514600"/>
            </a:xfrm>
            <a:prstGeom prst="roundRect">
              <a:avLst>
                <a:gd name="adj" fmla="val 4651"/>
              </a:avLst>
            </a:prstGeom>
            <a:solidFill>
              <a:srgbClr val="FFFFFF"/>
            </a:solidFill>
            <a:ln w="14288">
              <a:solidFill>
                <a:srgbClr val="C2E0DA"/>
              </a:solidFill>
            </a:ln>
          </p:spPr>
        </p:sp>
        <p:sp>
          <p:nvSpPr>
            <p:cNvPr id="76" name="Rectangle 76"/>
            <p:cNvSpPr/>
            <p:nvPr/>
          </p:nvSpPr>
          <p:spPr>
            <a:xfrm>
              <a:off x="6553200" y="685800"/>
              <a:ext cx="1638300" cy="285750"/>
            </a:xfrm>
            <a:prstGeom prst="roundRect">
              <a:avLst>
                <a:gd name="adj" fmla="val 26667"/>
              </a:avLst>
            </a:prstGeom>
            <a:solidFill>
              <a:srgbClr val="76200F"/>
            </a:solidFill>
            <a:ln>
              <a:noFill/>
            </a:ln>
          </p:spPr>
        </p:sp>
        <p:grpSp>
          <p:nvGrpSpPr>
            <p:cNvPr id="80" name="Group 80"/>
            <p:cNvGrpSpPr/>
            <p:nvPr/>
          </p:nvGrpSpPr>
          <p:grpSpPr>
            <a:xfrm>
              <a:off x="6667500" y="771525"/>
              <a:ext cx="76200" cy="114300"/>
              <a:chOff x="6667500" y="771525"/>
              <a:chExt cx="76200" cy="114300"/>
            </a:xfrm>
          </p:grpSpPr>
          <p:sp>
            <p:nvSpPr>
              <p:cNvPr id="77" name="Freeform 77"/>
              <p:cNvSpPr/>
              <p:nvPr/>
            </p:nvSpPr>
            <p:spPr>
              <a:xfrm>
                <a:off x="6667500" y="771525"/>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FFFFFF"/>
                </a:solidFill>
              </a:ln>
            </p:spPr>
          </p:sp>
          <p:sp>
            <p:nvSpPr>
              <p:cNvPr id="78" name="Freeform 78"/>
              <p:cNvSpPr/>
              <p:nvPr/>
            </p:nvSpPr>
            <p:spPr>
              <a:xfrm>
                <a:off x="6699250" y="777875"/>
                <a:ext cx="12700" cy="9525"/>
              </a:xfrm>
              <a:custGeom>
                <a:avLst/>
                <a:gdLst/>
                <a:ahLst/>
                <a:cxnLst/>
                <a:rect l="l" t="t" r="r" b="b"/>
                <a:pathLst>
                  <a:path w="12700" h="9525">
                    <a:moveTo>
                      <a:pt x="0" y="0"/>
                    </a:moveTo>
                    <a:lnTo>
                      <a:pt x="12700" y="0"/>
                    </a:lnTo>
                  </a:path>
                </a:pathLst>
              </a:custGeom>
              <a:noFill/>
              <a:ln w="12700">
                <a:solidFill>
                  <a:srgbClr val="FFFFFF"/>
                </a:solidFill>
              </a:ln>
            </p:spPr>
          </p:sp>
          <p:sp>
            <p:nvSpPr>
              <p:cNvPr id="79" name="Freeform 79"/>
              <p:cNvSpPr/>
              <p:nvPr/>
            </p:nvSpPr>
            <p:spPr>
              <a:xfrm>
                <a:off x="6705600" y="860425"/>
                <a:ext cx="9525" cy="9525"/>
              </a:xfrm>
              <a:custGeom>
                <a:avLst/>
                <a:gdLst/>
                <a:ahLst/>
                <a:cxnLst/>
                <a:rect l="l" t="t" r="r" b="b"/>
                <a:pathLst>
                  <a:path w="9525" h="9525">
                    <a:moveTo>
                      <a:pt x="0" y="0"/>
                    </a:moveTo>
                    <a:lnTo>
                      <a:pt x="0" y="64"/>
                    </a:lnTo>
                  </a:path>
                </a:pathLst>
              </a:custGeom>
              <a:noFill/>
              <a:ln w="12700">
                <a:solidFill>
                  <a:srgbClr val="FFFFFF"/>
                </a:solidFill>
              </a:ln>
            </p:spPr>
          </p:sp>
        </p:grpSp>
        <p:sp>
          <p:nvSpPr>
            <p:cNvPr id="81" name="TextBox 81"/>
            <p:cNvSpPr txBox="1"/>
            <p:nvPr/>
          </p:nvSpPr>
          <p:spPr>
            <a:xfrm>
              <a:off x="6834188" y="7300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产品体验</a:t>
              </a:r>
            </a:p>
          </p:txBody>
        </p:sp>
        <p:sp>
          <p:nvSpPr>
            <p:cNvPr id="82" name="TextBox 82"/>
            <p:cNvSpPr txBox="1"/>
            <p:nvPr/>
          </p:nvSpPr>
          <p:spPr>
            <a:xfrm>
              <a:off x="6834188" y="872728"/>
              <a:ext cx="612623" cy="111919"/>
            </a:xfrm>
            <a:prstGeom prst="rect">
              <a:avLst/>
            </a:prstGeom>
            <a:noFill/>
            <a:ln>
              <a:noFill/>
            </a:ln>
          </p:spPr>
          <p:txBody>
            <a:bodyPr wrap="none" lIns="0" tIns="0" rIns="0" bIns="0" anchor="t" anchorCtr="0">
              <a:spAutoFit/>
            </a:bodyPr>
            <a:lstStyle/>
            <a:p>
              <a:pPr algn="l"/>
              <a:r>
                <a:rPr lang="zh-CN" sz="560" dirty="0">
                  <a:solidFill>
                    <a:srgbClr val="BFE4DD"/>
                  </a:solidFill>
                  <a:latin typeface="+mn-lt"/>
                  <a:ea typeface="+mn-ea"/>
                  <a:cs typeface="+mn-cs"/>
                </a:rPr>
                <a:t>试一试，便捷金融</a:t>
              </a:r>
            </a:p>
          </p:txBody>
        </p:sp>
        <p:sp>
          <p:nvSpPr>
            <p:cNvPr id="83" name="TextBox 83"/>
            <p:cNvSpPr txBox="1"/>
            <p:nvPr/>
          </p:nvSpPr>
          <p:spPr>
            <a:xfrm>
              <a:off x="6624638" y="1059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客户动机</a:t>
              </a:r>
            </a:p>
          </p:txBody>
        </p:sp>
        <p:sp>
          <p:nvSpPr>
            <p:cNvPr id="84" name="TextBox 84"/>
            <p:cNvSpPr txBox="1"/>
            <p:nvPr/>
          </p:nvSpPr>
          <p:spPr>
            <a:xfrm>
              <a:off x="6624638" y="1163955"/>
              <a:ext cx="6191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亲身体验产品功能</a:t>
              </a:r>
              <a:br/>
              <a:r>
                <a:rPr lang="zh-CN" sz="600" dirty="0">
                  <a:solidFill>
                    <a:srgbClr val="514340"/>
                  </a:solidFill>
                  <a:latin typeface="+mn-lt"/>
                  <a:ea typeface="+mn-ea"/>
                  <a:cs typeface="+mn-cs"/>
                </a:rPr>
                <a:t>感受便捷服务</a:t>
              </a:r>
            </a:p>
          </p:txBody>
        </p:sp>
        <p:sp>
          <p:nvSpPr>
            <p:cNvPr id="85" name="TextBox 85"/>
            <p:cNvSpPr txBox="1"/>
            <p:nvPr/>
          </p:nvSpPr>
          <p:spPr>
            <a:xfrm>
              <a:off x="662463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活动规则</a:t>
              </a:r>
            </a:p>
          </p:txBody>
        </p:sp>
        <p:sp>
          <p:nvSpPr>
            <p:cNvPr id="86" name="TextBox 86"/>
            <p:cNvSpPr txBox="1"/>
            <p:nvPr/>
          </p:nvSpPr>
          <p:spPr>
            <a:xfrm>
              <a:off x="6624638" y="1583055"/>
              <a:ext cx="77914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体验手机银行/信用卡​</a:t>
              </a:r>
              <a:br/>
              <a:r>
                <a:rPr lang="zh-CN" sz="600" dirty="0">
                  <a:solidFill>
                    <a:srgbClr val="514340"/>
                  </a:solidFill>
                  <a:latin typeface="+mn-lt"/>
                  <a:ea typeface="+mn-ea"/>
                  <a:cs typeface="+mn-cs"/>
                </a:rPr>
                <a:t>功能完成小任务</a:t>
              </a:r>
            </a:p>
          </p:txBody>
        </p:sp>
        <p:sp>
          <p:nvSpPr>
            <p:cNvPr id="87" name="TextBox 87"/>
            <p:cNvSpPr txBox="1"/>
            <p:nvPr/>
          </p:nvSpPr>
          <p:spPr>
            <a:xfrm>
              <a:off x="6624638" y="18973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采集标签</a:t>
              </a:r>
            </a:p>
          </p:txBody>
        </p:sp>
        <p:sp>
          <p:nvSpPr>
            <p:cNvPr id="88" name="TextBox 88"/>
            <p:cNvSpPr txBox="1"/>
            <p:nvPr/>
          </p:nvSpPr>
          <p:spPr>
            <a:xfrm>
              <a:off x="6624638" y="2002155"/>
              <a:ext cx="6953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产品兴趣、功能使用</a:t>
              </a:r>
              <a:br/>
              <a:r>
                <a:rPr lang="zh-CN" sz="600" dirty="0">
                  <a:solidFill>
                    <a:srgbClr val="514340"/>
                  </a:solidFill>
                  <a:latin typeface="+mn-lt"/>
                  <a:ea typeface="+mn-ea"/>
                  <a:cs typeface="+mn-cs"/>
                </a:rPr>
                <a:t>偏好、数字化接受度</a:t>
              </a:r>
            </a:p>
          </p:txBody>
        </p:sp>
        <p:sp>
          <p:nvSpPr>
            <p:cNvPr id="89" name="TextBox 89"/>
            <p:cNvSpPr txBox="1"/>
            <p:nvPr/>
          </p:nvSpPr>
          <p:spPr>
            <a:xfrm>
              <a:off x="6624638" y="23164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推荐奖励</a:t>
              </a:r>
            </a:p>
          </p:txBody>
        </p:sp>
        <p:sp>
          <p:nvSpPr>
            <p:cNvPr id="90" name="TextBox 90"/>
            <p:cNvSpPr txBox="1"/>
            <p:nvPr/>
          </p:nvSpPr>
          <p:spPr>
            <a:xfrm>
              <a:off x="6624638" y="2421255"/>
              <a:ext cx="6953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体验专属礼包、积分</a:t>
              </a:r>
              <a:br/>
              <a:r>
                <a:rPr lang="zh-CN" sz="600" dirty="0">
                  <a:solidFill>
                    <a:srgbClr val="514340"/>
                  </a:solidFill>
                  <a:latin typeface="+mn-lt"/>
                  <a:ea typeface="+mn-ea"/>
                  <a:cs typeface="+mn-cs"/>
                </a:rPr>
                <a:t>或费率立减券</a:t>
              </a:r>
            </a:p>
          </p:txBody>
        </p:sp>
        <p:sp>
          <p:nvSpPr>
            <p:cNvPr id="91" name="TextBox 91"/>
            <p:cNvSpPr txBox="1"/>
            <p:nvPr/>
          </p:nvSpPr>
          <p:spPr>
            <a:xfrm>
              <a:off x="6624638" y="27355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适用场景</a:t>
              </a:r>
            </a:p>
          </p:txBody>
        </p:sp>
        <p:sp>
          <p:nvSpPr>
            <p:cNvPr id="92" name="TextBox 92"/>
            <p:cNvSpPr txBox="1"/>
            <p:nvPr/>
          </p:nvSpPr>
          <p:spPr>
            <a:xfrm>
              <a:off x="6624638" y="2840355"/>
              <a:ext cx="840943"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线下展位、线上APP内​</a:t>
              </a:r>
            </a:p>
          </p:txBody>
        </p:sp>
        <p:sp>
          <p:nvSpPr>
            <p:cNvPr id="93" name="Rectangle 93"/>
            <p:cNvSpPr/>
            <p:nvPr/>
          </p:nvSpPr>
          <p:spPr>
            <a:xfrm>
              <a:off x="8248650" y="685800"/>
              <a:ext cx="1638300" cy="2514600"/>
            </a:xfrm>
            <a:prstGeom prst="roundRect">
              <a:avLst>
                <a:gd name="adj" fmla="val 4651"/>
              </a:avLst>
            </a:prstGeom>
            <a:solidFill>
              <a:srgbClr val="FFFFFF"/>
            </a:solidFill>
            <a:ln w="14288">
              <a:solidFill>
                <a:srgbClr val="C2E0DA"/>
              </a:solidFill>
            </a:ln>
          </p:spPr>
        </p:sp>
        <p:sp>
          <p:nvSpPr>
            <p:cNvPr id="94" name="Rectangle 94"/>
            <p:cNvSpPr/>
            <p:nvPr/>
          </p:nvSpPr>
          <p:spPr>
            <a:xfrm>
              <a:off x="8248650" y="685800"/>
              <a:ext cx="1638300" cy="285750"/>
            </a:xfrm>
            <a:prstGeom prst="roundRect">
              <a:avLst>
                <a:gd name="adj" fmla="val 26667"/>
              </a:avLst>
            </a:prstGeom>
            <a:solidFill>
              <a:srgbClr val="852512"/>
            </a:solidFill>
            <a:ln>
              <a:noFill/>
            </a:ln>
          </p:spPr>
        </p:sp>
        <p:grpSp>
          <p:nvGrpSpPr>
            <p:cNvPr id="99" name="Group 99"/>
            <p:cNvGrpSpPr/>
            <p:nvPr/>
          </p:nvGrpSpPr>
          <p:grpSpPr>
            <a:xfrm>
              <a:off x="8350250" y="771525"/>
              <a:ext cx="101600" cy="114300"/>
              <a:chOff x="8350250" y="771525"/>
              <a:chExt cx="101600" cy="114300"/>
            </a:xfrm>
          </p:grpSpPr>
          <p:sp>
            <p:nvSpPr>
              <p:cNvPr id="95" name="Freeform 95"/>
              <p:cNvSpPr/>
              <p:nvPr/>
            </p:nvSpPr>
            <p:spPr>
              <a:xfrm>
                <a:off x="8350250" y="8604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96" name="Freeform 96"/>
              <p:cNvSpPr/>
              <p:nvPr/>
            </p:nvSpPr>
            <p:spPr>
              <a:xfrm>
                <a:off x="8420100" y="8604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97" name="Freeform 97"/>
              <p:cNvSpPr/>
              <p:nvPr/>
            </p:nvSpPr>
            <p:spPr>
              <a:xfrm>
                <a:off x="8350250" y="771525"/>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FFFFFF"/>
                </a:solidFill>
              </a:ln>
            </p:spPr>
          </p:sp>
          <p:sp>
            <p:nvSpPr>
              <p:cNvPr id="98" name="Freeform 98"/>
              <p:cNvSpPr/>
              <p:nvPr/>
            </p:nvSpPr>
            <p:spPr>
              <a:xfrm>
                <a:off x="8362950" y="784225"/>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FFFFFF"/>
                </a:solidFill>
              </a:ln>
            </p:spPr>
          </p:sp>
        </p:grpSp>
        <p:sp>
          <p:nvSpPr>
            <p:cNvPr id="100" name="TextBox 100"/>
            <p:cNvSpPr txBox="1"/>
            <p:nvPr/>
          </p:nvSpPr>
          <p:spPr>
            <a:xfrm>
              <a:off x="8529638" y="7300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商户任务</a:t>
              </a:r>
            </a:p>
          </p:txBody>
        </p:sp>
        <p:sp>
          <p:nvSpPr>
            <p:cNvPr id="101" name="TextBox 101"/>
            <p:cNvSpPr txBox="1"/>
            <p:nvPr/>
          </p:nvSpPr>
          <p:spPr>
            <a:xfrm>
              <a:off x="8529638" y="872728"/>
              <a:ext cx="612623" cy="111919"/>
            </a:xfrm>
            <a:prstGeom prst="rect">
              <a:avLst/>
            </a:prstGeom>
            <a:noFill/>
            <a:ln>
              <a:noFill/>
            </a:ln>
          </p:spPr>
          <p:txBody>
            <a:bodyPr wrap="none" lIns="0" tIns="0" rIns="0" bIns="0" anchor="t" anchorCtr="0">
              <a:spAutoFit/>
            </a:bodyPr>
            <a:lstStyle/>
            <a:p>
              <a:pPr algn="l"/>
              <a:r>
                <a:rPr lang="zh-CN" sz="560" dirty="0">
                  <a:solidFill>
                    <a:srgbClr val="BFE4DD"/>
                  </a:solidFill>
                  <a:latin typeface="+mn-lt"/>
                  <a:ea typeface="+mn-ea"/>
                  <a:cs typeface="+mn-cs"/>
                </a:rPr>
                <a:t>逛一逛，惠享生活</a:t>
              </a:r>
            </a:p>
          </p:txBody>
        </p:sp>
        <p:sp>
          <p:nvSpPr>
            <p:cNvPr id="102" name="TextBox 102"/>
            <p:cNvSpPr txBox="1"/>
            <p:nvPr/>
          </p:nvSpPr>
          <p:spPr>
            <a:xfrm>
              <a:off x="8320088" y="1059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客户动机</a:t>
              </a:r>
            </a:p>
          </p:txBody>
        </p:sp>
        <p:sp>
          <p:nvSpPr>
            <p:cNvPr id="103" name="TextBox 103"/>
            <p:cNvSpPr txBox="1"/>
            <p:nvPr/>
          </p:nvSpPr>
          <p:spPr>
            <a:xfrm>
              <a:off x="8320088" y="1163955"/>
              <a:ext cx="4667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获取商户优惠</a:t>
              </a:r>
              <a:br/>
              <a:r>
                <a:rPr lang="zh-CN" sz="600" dirty="0">
                  <a:solidFill>
                    <a:srgbClr val="514340"/>
                  </a:solidFill>
                  <a:latin typeface="+mn-lt"/>
                  <a:ea typeface="+mn-ea"/>
                  <a:cs typeface="+mn-cs"/>
                </a:rPr>
                <a:t>享受生活福利</a:t>
              </a:r>
            </a:p>
          </p:txBody>
        </p:sp>
        <p:sp>
          <p:nvSpPr>
            <p:cNvPr id="104" name="TextBox 104"/>
            <p:cNvSpPr txBox="1"/>
            <p:nvPr/>
          </p:nvSpPr>
          <p:spPr>
            <a:xfrm>
              <a:off x="832008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活动规则</a:t>
              </a:r>
            </a:p>
          </p:txBody>
        </p:sp>
        <p:sp>
          <p:nvSpPr>
            <p:cNvPr id="105" name="TextBox 105"/>
            <p:cNvSpPr txBox="1"/>
            <p:nvPr/>
          </p:nvSpPr>
          <p:spPr>
            <a:xfrm>
              <a:off x="8320088" y="1583055"/>
              <a:ext cx="77914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到指定合作商户打卡/​</a:t>
              </a:r>
              <a:br/>
              <a:r>
                <a:rPr lang="zh-CN" sz="600" dirty="0">
                  <a:solidFill>
                    <a:srgbClr val="514340"/>
                  </a:solidFill>
                  <a:latin typeface="+mn-lt"/>
                  <a:ea typeface="+mn-ea"/>
                  <a:cs typeface="+mn-cs"/>
                </a:rPr>
                <a:t>消费完成任务</a:t>
              </a:r>
            </a:p>
          </p:txBody>
        </p:sp>
        <p:sp>
          <p:nvSpPr>
            <p:cNvPr id="106" name="TextBox 106"/>
            <p:cNvSpPr txBox="1"/>
            <p:nvPr/>
          </p:nvSpPr>
          <p:spPr>
            <a:xfrm>
              <a:off x="8320088" y="18973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采集标签</a:t>
              </a:r>
            </a:p>
          </p:txBody>
        </p:sp>
        <p:sp>
          <p:nvSpPr>
            <p:cNvPr id="107" name="TextBox 107"/>
            <p:cNvSpPr txBox="1"/>
            <p:nvPr/>
          </p:nvSpPr>
          <p:spPr>
            <a:xfrm>
              <a:off x="8320088" y="2002155"/>
              <a:ext cx="6953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消费偏好、商圈活动</a:t>
              </a:r>
              <a:br/>
              <a:r>
                <a:rPr lang="zh-CN" sz="600" dirty="0">
                  <a:solidFill>
                    <a:srgbClr val="514340"/>
                  </a:solidFill>
                  <a:latin typeface="+mn-lt"/>
                  <a:ea typeface="+mn-ea"/>
                  <a:cs typeface="+mn-cs"/>
                </a:rPr>
                <a:t>轨迹、生活方式标签</a:t>
              </a:r>
            </a:p>
          </p:txBody>
        </p:sp>
        <p:sp>
          <p:nvSpPr>
            <p:cNvPr id="108" name="TextBox 108"/>
            <p:cNvSpPr txBox="1"/>
            <p:nvPr/>
          </p:nvSpPr>
          <p:spPr>
            <a:xfrm>
              <a:off x="8320088" y="23164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推荐奖励</a:t>
              </a:r>
            </a:p>
          </p:txBody>
        </p:sp>
        <p:sp>
          <p:nvSpPr>
            <p:cNvPr id="109" name="TextBox 109"/>
            <p:cNvSpPr txBox="1"/>
            <p:nvPr/>
          </p:nvSpPr>
          <p:spPr>
            <a:xfrm>
              <a:off x="8320088" y="2421255"/>
              <a:ext cx="6953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商户优惠券、满减券</a:t>
              </a:r>
              <a:br/>
              <a:r>
                <a:rPr lang="zh-CN" sz="600" dirty="0">
                  <a:solidFill>
                    <a:srgbClr val="514340"/>
                  </a:solidFill>
                  <a:latin typeface="+mn-lt"/>
                  <a:ea typeface="+mn-ea"/>
                  <a:cs typeface="+mn-cs"/>
                </a:rPr>
                <a:t>或联名礼品</a:t>
              </a:r>
            </a:p>
          </p:txBody>
        </p:sp>
        <p:sp>
          <p:nvSpPr>
            <p:cNvPr id="110" name="TextBox 110"/>
            <p:cNvSpPr txBox="1"/>
            <p:nvPr/>
          </p:nvSpPr>
          <p:spPr>
            <a:xfrm>
              <a:off x="8320088" y="27355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适用场景</a:t>
              </a:r>
            </a:p>
          </p:txBody>
        </p:sp>
        <p:sp>
          <p:nvSpPr>
            <p:cNvPr id="111" name="TextBox 111"/>
            <p:cNvSpPr txBox="1"/>
            <p:nvPr/>
          </p:nvSpPr>
          <p:spPr>
            <a:xfrm>
              <a:off x="8320088" y="2840355"/>
              <a:ext cx="817245"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商圈、社区、商户门店</a:t>
              </a:r>
            </a:p>
          </p:txBody>
        </p:sp>
        <p:sp>
          <p:nvSpPr>
            <p:cNvPr id="112" name="Rectangle 112"/>
            <p:cNvSpPr/>
            <p:nvPr/>
          </p:nvSpPr>
          <p:spPr>
            <a:xfrm>
              <a:off x="9944100" y="685800"/>
              <a:ext cx="1638300" cy="2514600"/>
            </a:xfrm>
            <a:prstGeom prst="roundRect">
              <a:avLst>
                <a:gd name="adj" fmla="val 4651"/>
              </a:avLst>
            </a:prstGeom>
            <a:solidFill>
              <a:srgbClr val="FFFFFF"/>
            </a:solidFill>
            <a:ln w="14288">
              <a:solidFill>
                <a:srgbClr val="C2E0DA"/>
              </a:solidFill>
            </a:ln>
          </p:spPr>
        </p:sp>
        <p:sp>
          <p:nvSpPr>
            <p:cNvPr id="113" name="Rectangle 113"/>
            <p:cNvSpPr/>
            <p:nvPr/>
          </p:nvSpPr>
          <p:spPr>
            <a:xfrm>
              <a:off x="9944100" y="685800"/>
              <a:ext cx="1638300" cy="285750"/>
            </a:xfrm>
            <a:prstGeom prst="roundRect">
              <a:avLst>
                <a:gd name="adj" fmla="val 26667"/>
              </a:avLst>
            </a:prstGeom>
            <a:solidFill>
              <a:srgbClr val="5D190B"/>
            </a:solidFill>
            <a:ln>
              <a:noFill/>
            </a:ln>
          </p:spPr>
        </p:sp>
        <p:grpSp>
          <p:nvGrpSpPr>
            <p:cNvPr id="117" name="Group 117"/>
            <p:cNvGrpSpPr/>
            <p:nvPr/>
          </p:nvGrpSpPr>
          <p:grpSpPr>
            <a:xfrm>
              <a:off x="10052050" y="771525"/>
              <a:ext cx="88900" cy="114300"/>
              <a:chOff x="10052050" y="771525"/>
              <a:chExt cx="88900" cy="114300"/>
            </a:xfrm>
          </p:grpSpPr>
          <p:sp>
            <p:nvSpPr>
              <p:cNvPr id="114" name="Freeform 114"/>
              <p:cNvSpPr/>
              <p:nvPr/>
            </p:nvSpPr>
            <p:spPr>
              <a:xfrm>
                <a:off x="10052050" y="809625"/>
                <a:ext cx="88900" cy="76200"/>
              </a:xfrm>
              <a:custGeom>
                <a:avLst/>
                <a:gdLst/>
                <a:ahLst/>
                <a:cxnLst/>
                <a:rect l="l" t="t" r="r" b="b"/>
                <a:pathLst>
                  <a:path w="88900" h="76200">
                    <a:moveTo>
                      <a:pt x="19050" y="0"/>
                    </a:moveTo>
                    <a:lnTo>
                      <a:pt x="12700" y="0"/>
                    </a:lnTo>
                    <a:cubicBezTo>
                      <a:pt x="5686" y="0"/>
                      <a:pt x="0" y="5686"/>
                      <a:pt x="0" y="12700"/>
                    </a:cubicBezTo>
                    <a:lnTo>
                      <a:pt x="0" y="63500"/>
                    </a:lnTo>
                    <a:cubicBezTo>
                      <a:pt x="0" y="70514"/>
                      <a:pt x="5686" y="76200"/>
                      <a:pt x="12700" y="76200"/>
                    </a:cubicBezTo>
                    <a:lnTo>
                      <a:pt x="76200" y="76200"/>
                    </a:lnTo>
                    <a:cubicBezTo>
                      <a:pt x="83214" y="76200"/>
                      <a:pt x="88900" y="70514"/>
                      <a:pt x="88900" y="63500"/>
                    </a:cubicBezTo>
                    <a:lnTo>
                      <a:pt x="88900" y="12700"/>
                    </a:lnTo>
                    <a:cubicBezTo>
                      <a:pt x="88900" y="5686"/>
                      <a:pt x="83214" y="0"/>
                      <a:pt x="76200" y="0"/>
                    </a:cubicBezTo>
                    <a:lnTo>
                      <a:pt x="69850" y="0"/>
                    </a:lnTo>
                  </a:path>
                </a:pathLst>
              </a:custGeom>
              <a:noFill/>
              <a:ln w="12700">
                <a:solidFill>
                  <a:srgbClr val="FFFFFF"/>
                </a:solidFill>
              </a:ln>
            </p:spPr>
          </p:sp>
          <p:sp>
            <p:nvSpPr>
              <p:cNvPr id="115" name="Freeform 115"/>
              <p:cNvSpPr/>
              <p:nvPr/>
            </p:nvSpPr>
            <p:spPr>
              <a:xfrm>
                <a:off x="10096500" y="771525"/>
                <a:ext cx="9525" cy="69850"/>
              </a:xfrm>
              <a:custGeom>
                <a:avLst/>
                <a:gdLst/>
                <a:ahLst/>
                <a:cxnLst/>
                <a:rect l="l" t="t" r="r" b="b"/>
                <a:pathLst>
                  <a:path w="9525" h="69850">
                    <a:moveTo>
                      <a:pt x="0" y="69850"/>
                    </a:moveTo>
                    <a:lnTo>
                      <a:pt x="0" y="0"/>
                    </a:lnTo>
                  </a:path>
                </a:pathLst>
              </a:custGeom>
              <a:noFill/>
              <a:ln w="12700">
                <a:solidFill>
                  <a:srgbClr val="FFFFFF"/>
                </a:solidFill>
              </a:ln>
            </p:spPr>
          </p:sp>
          <p:sp>
            <p:nvSpPr>
              <p:cNvPr id="116" name="Freeform 116"/>
              <p:cNvSpPr/>
              <p:nvPr/>
            </p:nvSpPr>
            <p:spPr>
              <a:xfrm>
                <a:off x="10077450" y="771525"/>
                <a:ext cx="38100" cy="19050"/>
              </a:xfrm>
              <a:custGeom>
                <a:avLst/>
                <a:gdLst/>
                <a:ahLst/>
                <a:cxnLst/>
                <a:rect l="l" t="t" r="r" b="b"/>
                <a:pathLst>
                  <a:path w="38100" h="19050">
                    <a:moveTo>
                      <a:pt x="0" y="19050"/>
                    </a:moveTo>
                    <a:lnTo>
                      <a:pt x="19050" y="0"/>
                    </a:lnTo>
                    <a:lnTo>
                      <a:pt x="38100" y="19050"/>
                    </a:lnTo>
                  </a:path>
                </a:pathLst>
              </a:custGeom>
              <a:noFill/>
              <a:ln w="12700">
                <a:solidFill>
                  <a:srgbClr val="FFFFFF"/>
                </a:solidFill>
              </a:ln>
            </p:spPr>
          </p:sp>
        </p:grpSp>
        <p:sp>
          <p:nvSpPr>
            <p:cNvPr id="118" name="TextBox 118"/>
            <p:cNvSpPr txBox="1"/>
            <p:nvPr/>
          </p:nvSpPr>
          <p:spPr>
            <a:xfrm>
              <a:off x="10225088" y="7300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好友助力</a:t>
              </a:r>
            </a:p>
          </p:txBody>
        </p:sp>
        <p:sp>
          <p:nvSpPr>
            <p:cNvPr id="119" name="TextBox 119"/>
            <p:cNvSpPr txBox="1"/>
            <p:nvPr/>
          </p:nvSpPr>
          <p:spPr>
            <a:xfrm>
              <a:off x="10225088" y="872728"/>
              <a:ext cx="612623" cy="111919"/>
            </a:xfrm>
            <a:prstGeom prst="rect">
              <a:avLst/>
            </a:prstGeom>
            <a:noFill/>
            <a:ln>
              <a:noFill/>
            </a:ln>
          </p:spPr>
          <p:txBody>
            <a:bodyPr wrap="none" lIns="0" tIns="0" rIns="0" bIns="0" anchor="t" anchorCtr="0">
              <a:spAutoFit/>
            </a:bodyPr>
            <a:lstStyle/>
            <a:p>
              <a:pPr algn="l"/>
              <a:r>
                <a:rPr lang="zh-CN" sz="560" dirty="0">
                  <a:solidFill>
                    <a:srgbClr val="BFE4DD"/>
                  </a:solidFill>
                  <a:latin typeface="+mn-lt"/>
                  <a:ea typeface="+mn-ea"/>
                  <a:cs typeface="+mn-cs"/>
                </a:rPr>
                <a:t>邀一邀，共享福利</a:t>
              </a:r>
            </a:p>
          </p:txBody>
        </p:sp>
        <p:sp>
          <p:nvSpPr>
            <p:cNvPr id="120" name="TextBox 120"/>
            <p:cNvSpPr txBox="1"/>
            <p:nvPr/>
          </p:nvSpPr>
          <p:spPr>
            <a:xfrm>
              <a:off x="10015538" y="1059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客户动机</a:t>
              </a:r>
            </a:p>
          </p:txBody>
        </p:sp>
        <p:sp>
          <p:nvSpPr>
            <p:cNvPr id="121" name="TextBox 121"/>
            <p:cNvSpPr txBox="1"/>
            <p:nvPr/>
          </p:nvSpPr>
          <p:spPr>
            <a:xfrm>
              <a:off x="10015538" y="1163955"/>
              <a:ext cx="5429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与好友共享福利</a:t>
              </a:r>
              <a:br/>
              <a:r>
                <a:rPr lang="zh-CN" sz="600" dirty="0">
                  <a:solidFill>
                    <a:srgbClr val="514340"/>
                  </a:solidFill>
                  <a:latin typeface="+mn-lt"/>
                  <a:ea typeface="+mn-ea"/>
                  <a:cs typeface="+mn-cs"/>
                </a:rPr>
                <a:t>获得额外奖励</a:t>
              </a:r>
            </a:p>
          </p:txBody>
        </p:sp>
        <p:sp>
          <p:nvSpPr>
            <p:cNvPr id="122" name="TextBox 122"/>
            <p:cNvSpPr txBox="1"/>
            <p:nvPr/>
          </p:nvSpPr>
          <p:spPr>
            <a:xfrm>
              <a:off x="1001553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活动规则</a:t>
              </a:r>
            </a:p>
          </p:txBody>
        </p:sp>
        <p:sp>
          <p:nvSpPr>
            <p:cNvPr id="123" name="TextBox 123"/>
            <p:cNvSpPr txBox="1"/>
            <p:nvPr/>
          </p:nvSpPr>
          <p:spPr>
            <a:xfrm>
              <a:off x="10015538" y="1583055"/>
              <a:ext cx="6191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邀请好友助力</a:t>
              </a:r>
              <a:br/>
              <a:r>
                <a:rPr lang="zh-CN" sz="600" dirty="0">
                  <a:solidFill>
                    <a:srgbClr val="514340"/>
                  </a:solidFill>
                  <a:latin typeface="+mn-lt"/>
                  <a:ea typeface="+mn-ea"/>
                  <a:cs typeface="+mn-cs"/>
                </a:rPr>
                <a:t>双方均可获得奖励</a:t>
              </a:r>
            </a:p>
          </p:txBody>
        </p:sp>
        <p:sp>
          <p:nvSpPr>
            <p:cNvPr id="124" name="TextBox 124"/>
            <p:cNvSpPr txBox="1"/>
            <p:nvPr/>
          </p:nvSpPr>
          <p:spPr>
            <a:xfrm>
              <a:off x="10015538" y="18973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采集标签</a:t>
              </a:r>
            </a:p>
          </p:txBody>
        </p:sp>
        <p:sp>
          <p:nvSpPr>
            <p:cNvPr id="125" name="TextBox 125"/>
            <p:cNvSpPr txBox="1"/>
            <p:nvPr/>
          </p:nvSpPr>
          <p:spPr>
            <a:xfrm>
              <a:off x="10015538" y="2002155"/>
              <a:ext cx="61912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社交关系、影响力</a:t>
              </a:r>
              <a:br/>
              <a:r>
                <a:rPr lang="zh-CN" sz="600" dirty="0">
                  <a:solidFill>
                    <a:srgbClr val="514340"/>
                  </a:solidFill>
                  <a:latin typeface="+mn-lt"/>
                  <a:ea typeface="+mn-ea"/>
                  <a:cs typeface="+mn-cs"/>
                </a:rPr>
                <a:t>客户来源</a:t>
              </a:r>
            </a:p>
          </p:txBody>
        </p:sp>
        <p:sp>
          <p:nvSpPr>
            <p:cNvPr id="126" name="TextBox 126"/>
            <p:cNvSpPr txBox="1"/>
            <p:nvPr/>
          </p:nvSpPr>
          <p:spPr>
            <a:xfrm>
              <a:off x="10015538" y="23164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推荐奖励</a:t>
              </a:r>
            </a:p>
          </p:txBody>
        </p:sp>
        <p:sp>
          <p:nvSpPr>
            <p:cNvPr id="127" name="TextBox 127"/>
            <p:cNvSpPr txBox="1"/>
            <p:nvPr/>
          </p:nvSpPr>
          <p:spPr>
            <a:xfrm>
              <a:off x="10015538" y="2421255"/>
              <a:ext cx="821055" cy="214312"/>
            </a:xfrm>
            <a:prstGeom prst="rect">
              <a:avLst/>
            </a:prstGeom>
            <a:noFill/>
            <a:ln>
              <a:noFill/>
            </a:ln>
          </p:spPr>
          <p:txBody>
            <a:bodyPr wrap="none" lIns="0" tIns="0" rIns="0" bIns="0" anchor="t" anchorCtr="0">
              <a:spAutoFit/>
            </a:bodyPr>
            <a:lstStyle/>
            <a:p>
              <a:pPr algn="l">
                <a:lnSpc>
                  <a:spcPts val="750"/>
                </a:lnSpc>
              </a:pPr>
              <a:r>
                <a:rPr lang="zh-CN" sz="600" dirty="0">
                  <a:solidFill>
                    <a:srgbClr val="514340"/>
                  </a:solidFill>
                  <a:latin typeface="+mn-lt"/>
                  <a:ea typeface="+mn-ea"/>
                  <a:cs typeface="+mn-cs"/>
                </a:rPr>
                <a:t>双方各得权益券/积分​​</a:t>
              </a:r>
              <a:br/>
              <a:r>
                <a:rPr lang="zh-CN" sz="600" dirty="0">
                  <a:solidFill>
                    <a:srgbClr val="514340"/>
                  </a:solidFill>
                  <a:latin typeface="+mn-lt"/>
                  <a:ea typeface="+mn-ea"/>
                  <a:cs typeface="+mn-cs"/>
                </a:rPr>
                <a:t>或分级抽奖机会</a:t>
              </a:r>
            </a:p>
          </p:txBody>
        </p:sp>
        <p:sp>
          <p:nvSpPr>
            <p:cNvPr id="128" name="TextBox 128"/>
            <p:cNvSpPr txBox="1"/>
            <p:nvPr/>
          </p:nvSpPr>
          <p:spPr>
            <a:xfrm>
              <a:off x="10015538" y="27355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适用场景</a:t>
              </a:r>
            </a:p>
          </p:txBody>
        </p:sp>
        <p:sp>
          <p:nvSpPr>
            <p:cNvPr id="129" name="TextBox 129"/>
            <p:cNvSpPr txBox="1"/>
            <p:nvPr/>
          </p:nvSpPr>
          <p:spPr>
            <a:xfrm>
              <a:off x="10015538" y="2840355"/>
              <a:ext cx="898017" cy="119062"/>
            </a:xfrm>
            <a:prstGeom prst="rect">
              <a:avLst/>
            </a:prstGeom>
            <a:noFill/>
            <a:ln>
              <a:noFill/>
            </a:ln>
          </p:spPr>
          <p:txBody>
            <a:bodyPr wrap="none" lIns="0" tIns="0" rIns="0" bIns="0" anchor="t" anchorCtr="0">
              <a:spAutoFit/>
            </a:bodyPr>
            <a:lstStyle/>
            <a:p>
              <a:pPr algn="l"/>
              <a:r>
                <a:rPr lang="zh-CN" sz="600" dirty="0">
                  <a:solidFill>
                    <a:srgbClr val="514340"/>
                  </a:solidFill>
                  <a:latin typeface="+mn-lt"/>
                  <a:ea typeface="+mn-ea"/>
                  <a:cs typeface="+mn-cs"/>
                </a:rPr>
                <a:t>线上社交裂变、线下联动</a:t>
              </a:r>
            </a:p>
          </p:txBody>
        </p:sp>
        <p:sp>
          <p:nvSpPr>
            <p:cNvPr id="130" name="Rectangle 130"/>
            <p:cNvSpPr/>
            <p:nvPr/>
          </p:nvSpPr>
          <p:spPr>
            <a:xfrm>
              <a:off x="1466850" y="3009900"/>
              <a:ext cx="10115550" cy="9525"/>
            </a:xfrm>
            <a:prstGeom prst="rect">
              <a:avLst/>
            </a:prstGeom>
            <a:solidFill>
              <a:srgbClr val="E2EEEB"/>
            </a:solidFill>
            <a:ln>
              <a:noFill/>
            </a:ln>
          </p:spPr>
        </p:sp>
      </p:grpSp>
      <p:grpSp>
        <p:nvGrpSpPr>
          <p:cNvPr id="161" name="mech-matrix"/>
          <p:cNvGrpSpPr/>
          <p:nvPr/>
        </p:nvGrpSpPr>
        <p:grpSpPr>
          <a:xfrm>
            <a:off x="342900" y="3314700"/>
            <a:ext cx="4943691" cy="2063830"/>
            <a:chOff x="342900" y="3314700"/>
            <a:chExt cx="4943691" cy="2063830"/>
          </a:xfrm>
        </p:grpSpPr>
        <p:sp>
          <p:nvSpPr>
            <p:cNvPr id="132" name="Rectangle 132"/>
            <p:cNvSpPr/>
            <p:nvPr/>
          </p:nvSpPr>
          <p:spPr>
            <a:xfrm>
              <a:off x="342900" y="3314700"/>
              <a:ext cx="1524000" cy="228600"/>
            </a:xfrm>
            <a:prstGeom prst="roundRect">
              <a:avLst>
                <a:gd name="adj" fmla="val 20833"/>
              </a:avLst>
            </a:prstGeom>
            <a:solidFill>
              <a:srgbClr val="76200F"/>
            </a:solidFill>
            <a:ln>
              <a:noFill/>
            </a:ln>
          </p:spPr>
        </p:sp>
        <p:sp>
          <p:nvSpPr>
            <p:cNvPr id="133" name="TextBox 133"/>
            <p:cNvSpPr txBox="1"/>
            <p:nvPr/>
          </p:nvSpPr>
          <p:spPr>
            <a:xfrm>
              <a:off x="452438" y="3375422"/>
              <a:ext cx="1021867"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互动机制制定矩阵</a:t>
              </a:r>
            </a:p>
          </p:txBody>
        </p:sp>
        <p:sp>
          <p:nvSpPr>
            <p:cNvPr id="134" name="TextBox 134"/>
            <p:cNvSpPr txBox="1"/>
            <p:nvPr/>
          </p:nvSpPr>
          <p:spPr>
            <a:xfrm>
              <a:off x="1938338" y="3407807"/>
              <a:ext cx="2421915"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不同机制在参与门槛与数据价值上各有侧重，组合使用效果更佳</a:t>
              </a:r>
            </a:p>
          </p:txBody>
        </p:sp>
        <p:sp>
          <p:nvSpPr>
            <p:cNvPr id="135" name="Rectangle 135"/>
            <p:cNvSpPr/>
            <p:nvPr/>
          </p:nvSpPr>
          <p:spPr>
            <a:xfrm>
              <a:off x="666750" y="3638550"/>
              <a:ext cx="2286000" cy="762000"/>
            </a:xfrm>
            <a:prstGeom prst="rect">
              <a:avLst/>
            </a:prstGeom>
            <a:solidFill>
              <a:srgbClr val="D9EEEA"/>
            </a:solidFill>
            <a:ln>
              <a:noFill/>
            </a:ln>
          </p:spPr>
        </p:sp>
        <p:sp>
          <p:nvSpPr>
            <p:cNvPr id="136" name="TextBox 136"/>
            <p:cNvSpPr txBox="1"/>
            <p:nvPr/>
          </p:nvSpPr>
          <p:spPr>
            <a:xfrm>
              <a:off x="1109086" y="3709988"/>
              <a:ext cx="1401328"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低门槛 · 高价值（快速触达）​</a:t>
              </a:r>
            </a:p>
          </p:txBody>
        </p:sp>
        <p:sp>
          <p:nvSpPr>
            <p:cNvPr id="137" name="Rectangle 137"/>
            <p:cNvSpPr/>
            <p:nvPr/>
          </p:nvSpPr>
          <p:spPr>
            <a:xfrm>
              <a:off x="952500" y="3905250"/>
              <a:ext cx="762000" cy="228600"/>
            </a:xfrm>
            <a:prstGeom prst="roundRect">
              <a:avLst>
                <a:gd name="adj" fmla="val 50000"/>
              </a:avLst>
            </a:prstGeom>
            <a:solidFill>
              <a:srgbClr val="76200F"/>
            </a:solidFill>
            <a:ln>
              <a:noFill/>
            </a:ln>
          </p:spPr>
        </p:sp>
        <p:sp>
          <p:nvSpPr>
            <p:cNvPr id="138" name="TextBox 138"/>
            <p:cNvSpPr txBox="1"/>
            <p:nvPr/>
          </p:nvSpPr>
          <p:spPr>
            <a:xfrm>
              <a:off x="1145654" y="39847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权益抽取</a:t>
              </a:r>
            </a:p>
          </p:txBody>
        </p:sp>
        <p:sp>
          <p:nvSpPr>
            <p:cNvPr id="139" name="Rectangle 139"/>
            <p:cNvSpPr/>
            <p:nvPr/>
          </p:nvSpPr>
          <p:spPr>
            <a:xfrm>
              <a:off x="1809750" y="3905250"/>
              <a:ext cx="762000" cy="228600"/>
            </a:xfrm>
            <a:prstGeom prst="roundRect">
              <a:avLst>
                <a:gd name="adj" fmla="val 50000"/>
              </a:avLst>
            </a:prstGeom>
            <a:solidFill>
              <a:srgbClr val="76200F"/>
            </a:solidFill>
            <a:ln>
              <a:noFill/>
            </a:ln>
          </p:spPr>
        </p:sp>
        <p:sp>
          <p:nvSpPr>
            <p:cNvPr id="140" name="TextBox 140"/>
            <p:cNvSpPr txBox="1"/>
            <p:nvPr/>
          </p:nvSpPr>
          <p:spPr>
            <a:xfrm>
              <a:off x="2002904" y="398478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好友助力</a:t>
              </a:r>
            </a:p>
          </p:txBody>
        </p:sp>
        <p:sp>
          <p:nvSpPr>
            <p:cNvPr id="141" name="Rectangle 141"/>
            <p:cNvSpPr/>
            <p:nvPr/>
          </p:nvSpPr>
          <p:spPr>
            <a:xfrm>
              <a:off x="2952750" y="3638550"/>
              <a:ext cx="2286000" cy="762000"/>
            </a:xfrm>
            <a:prstGeom prst="rect">
              <a:avLst/>
            </a:prstGeom>
            <a:solidFill>
              <a:srgbClr val="5D190B"/>
            </a:solidFill>
            <a:ln>
              <a:noFill/>
            </a:ln>
          </p:spPr>
        </p:sp>
        <p:sp>
          <p:nvSpPr>
            <p:cNvPr id="142" name="TextBox 142"/>
            <p:cNvSpPr txBox="1"/>
            <p:nvPr/>
          </p:nvSpPr>
          <p:spPr>
            <a:xfrm>
              <a:off x="3395086" y="3709988"/>
              <a:ext cx="140132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高门槛 · 高价值（深度转化）​</a:t>
              </a:r>
            </a:p>
          </p:txBody>
        </p:sp>
        <p:sp>
          <p:nvSpPr>
            <p:cNvPr id="143" name="Rectangle 143"/>
            <p:cNvSpPr/>
            <p:nvPr/>
          </p:nvSpPr>
          <p:spPr>
            <a:xfrm>
              <a:off x="3238500" y="3905250"/>
              <a:ext cx="762000" cy="228600"/>
            </a:xfrm>
            <a:prstGeom prst="roundRect">
              <a:avLst>
                <a:gd name="adj" fmla="val 50000"/>
              </a:avLst>
            </a:prstGeom>
            <a:solidFill>
              <a:srgbClr val="FFFFFF"/>
            </a:solidFill>
            <a:ln>
              <a:noFill/>
            </a:ln>
          </p:spPr>
        </p:sp>
        <p:sp>
          <p:nvSpPr>
            <p:cNvPr id="144" name="TextBox 144"/>
            <p:cNvSpPr txBox="1"/>
            <p:nvPr/>
          </p:nvSpPr>
          <p:spPr>
            <a:xfrm>
              <a:off x="3431654" y="3984784"/>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金融测评</a:t>
              </a:r>
            </a:p>
          </p:txBody>
        </p:sp>
        <p:sp>
          <p:nvSpPr>
            <p:cNvPr id="145" name="Rectangle 145"/>
            <p:cNvSpPr/>
            <p:nvPr/>
          </p:nvSpPr>
          <p:spPr>
            <a:xfrm>
              <a:off x="4095750" y="3905250"/>
              <a:ext cx="762000" cy="228600"/>
            </a:xfrm>
            <a:prstGeom prst="roundRect">
              <a:avLst>
                <a:gd name="adj" fmla="val 50000"/>
              </a:avLst>
            </a:prstGeom>
            <a:solidFill>
              <a:srgbClr val="FFFFFF"/>
            </a:solidFill>
            <a:ln>
              <a:noFill/>
            </a:ln>
          </p:spPr>
        </p:sp>
        <p:sp>
          <p:nvSpPr>
            <p:cNvPr id="146" name="TextBox 146"/>
            <p:cNvSpPr txBox="1"/>
            <p:nvPr/>
          </p:nvSpPr>
          <p:spPr>
            <a:xfrm>
              <a:off x="4288904" y="3984784"/>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产品体验</a:t>
              </a:r>
            </a:p>
          </p:txBody>
        </p:sp>
        <p:sp>
          <p:nvSpPr>
            <p:cNvPr id="147" name="Rectangle 147"/>
            <p:cNvSpPr/>
            <p:nvPr/>
          </p:nvSpPr>
          <p:spPr>
            <a:xfrm>
              <a:off x="666750" y="4400550"/>
              <a:ext cx="2286000" cy="762000"/>
            </a:xfrm>
            <a:prstGeom prst="rect">
              <a:avLst/>
            </a:prstGeom>
            <a:solidFill>
              <a:srgbClr val="F0FAF8"/>
            </a:solidFill>
            <a:ln>
              <a:noFill/>
            </a:ln>
          </p:spPr>
        </p:sp>
        <p:sp>
          <p:nvSpPr>
            <p:cNvPr id="148" name="TextBox 148"/>
            <p:cNvSpPr txBox="1"/>
            <p:nvPr/>
          </p:nvSpPr>
          <p:spPr>
            <a:xfrm>
              <a:off x="1109086" y="4471988"/>
              <a:ext cx="1401328"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低门槛 · 低价值（广泛曝光）​</a:t>
              </a:r>
            </a:p>
          </p:txBody>
        </p:sp>
        <p:sp>
          <p:nvSpPr>
            <p:cNvPr id="149" name="Rectangle 149"/>
            <p:cNvSpPr/>
            <p:nvPr/>
          </p:nvSpPr>
          <p:spPr>
            <a:xfrm>
              <a:off x="1381125" y="4667250"/>
              <a:ext cx="857250" cy="228600"/>
            </a:xfrm>
            <a:prstGeom prst="roundRect">
              <a:avLst>
                <a:gd name="adj" fmla="val 50000"/>
              </a:avLst>
            </a:prstGeom>
            <a:solidFill>
              <a:srgbClr val="FFFFFF"/>
            </a:solidFill>
            <a:ln w="9525">
              <a:solidFill>
                <a:srgbClr val="C4887C"/>
              </a:solidFill>
            </a:ln>
          </p:spPr>
        </p:sp>
        <p:sp>
          <p:nvSpPr>
            <p:cNvPr id="150" name="TextBox 150"/>
            <p:cNvSpPr txBox="1"/>
            <p:nvPr/>
          </p:nvSpPr>
          <p:spPr>
            <a:xfrm>
              <a:off x="1621904" y="4746784"/>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数字打卡</a:t>
              </a:r>
            </a:p>
          </p:txBody>
        </p:sp>
        <p:sp>
          <p:nvSpPr>
            <p:cNvPr id="151" name="Rectangle 151"/>
            <p:cNvSpPr/>
            <p:nvPr/>
          </p:nvSpPr>
          <p:spPr>
            <a:xfrm>
              <a:off x="2952750" y="4400550"/>
              <a:ext cx="2286000" cy="762000"/>
            </a:xfrm>
            <a:prstGeom prst="rect">
              <a:avLst/>
            </a:prstGeom>
            <a:solidFill>
              <a:srgbClr val="E4F3F0"/>
            </a:solidFill>
            <a:ln>
              <a:noFill/>
            </a:ln>
          </p:spPr>
        </p:sp>
        <p:sp>
          <p:nvSpPr>
            <p:cNvPr id="152" name="TextBox 152"/>
            <p:cNvSpPr txBox="1"/>
            <p:nvPr/>
          </p:nvSpPr>
          <p:spPr>
            <a:xfrm>
              <a:off x="3395086" y="4471988"/>
              <a:ext cx="1401328"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高门槛 · 低价值（精准触达）​</a:t>
              </a:r>
            </a:p>
          </p:txBody>
        </p:sp>
        <p:sp>
          <p:nvSpPr>
            <p:cNvPr id="153" name="Rectangle 153"/>
            <p:cNvSpPr/>
            <p:nvPr/>
          </p:nvSpPr>
          <p:spPr>
            <a:xfrm>
              <a:off x="3667125" y="4667250"/>
              <a:ext cx="857250" cy="228600"/>
            </a:xfrm>
            <a:prstGeom prst="roundRect">
              <a:avLst>
                <a:gd name="adj" fmla="val 50000"/>
              </a:avLst>
            </a:prstGeom>
            <a:solidFill>
              <a:srgbClr val="FFFFFF"/>
            </a:solidFill>
            <a:ln w="9525">
              <a:solidFill>
                <a:srgbClr val="C4887C"/>
              </a:solidFill>
            </a:ln>
          </p:spPr>
        </p:sp>
        <p:sp>
          <p:nvSpPr>
            <p:cNvPr id="154" name="TextBox 154"/>
            <p:cNvSpPr txBox="1"/>
            <p:nvPr/>
          </p:nvSpPr>
          <p:spPr>
            <a:xfrm>
              <a:off x="3907904" y="4746784"/>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商户任务</a:t>
              </a:r>
            </a:p>
          </p:txBody>
        </p:sp>
        <p:sp>
          <p:nvSpPr>
            <p:cNvPr id="155" name="TextBox 155"/>
            <p:cNvSpPr txBox="1"/>
            <p:nvPr/>
          </p:nvSpPr>
          <p:spPr>
            <a:xfrm rot="-5400000">
              <a:off x="387960" y="3968353"/>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数据价值</a:t>
              </a:r>
            </a:p>
          </p:txBody>
        </p:sp>
        <p:sp>
          <p:nvSpPr>
            <p:cNvPr id="156" name="TextBox 156"/>
            <p:cNvSpPr txBox="1"/>
            <p:nvPr/>
          </p:nvSpPr>
          <p:spPr>
            <a:xfrm>
              <a:off x="499631" y="3607832"/>
              <a:ext cx="95682" cy="126206"/>
            </a:xfrm>
            <a:prstGeom prst="rect">
              <a:avLst/>
            </a:prstGeom>
            <a:noFill/>
            <a:ln>
              <a:noFill/>
            </a:ln>
          </p:spPr>
          <p:txBody>
            <a:bodyPr wrap="none" lIns="0" tIns="0" rIns="0" bIns="0" anchor="t" anchorCtr="0">
              <a:spAutoFit/>
            </a:bodyPr>
            <a:lstStyle/>
            <a:p>
              <a:pPr algn="r"/>
              <a:r>
                <a:rPr lang="zh-CN" sz="640" dirty="0">
                  <a:solidFill>
                    <a:srgbClr val="73615E"/>
                  </a:solidFill>
                  <a:latin typeface="+mn-lt"/>
                  <a:ea typeface="+mn-ea"/>
                  <a:cs typeface="+mn-cs"/>
                </a:rPr>
                <a:t>高</a:t>
              </a:r>
            </a:p>
          </p:txBody>
        </p:sp>
        <p:sp>
          <p:nvSpPr>
            <p:cNvPr id="157" name="TextBox 157"/>
            <p:cNvSpPr txBox="1"/>
            <p:nvPr/>
          </p:nvSpPr>
          <p:spPr>
            <a:xfrm>
              <a:off x="499631" y="5055632"/>
              <a:ext cx="95682" cy="126206"/>
            </a:xfrm>
            <a:prstGeom prst="rect">
              <a:avLst/>
            </a:prstGeom>
            <a:noFill/>
            <a:ln>
              <a:noFill/>
            </a:ln>
          </p:spPr>
          <p:txBody>
            <a:bodyPr wrap="none" lIns="0" tIns="0" rIns="0" bIns="0" anchor="t" anchorCtr="0">
              <a:spAutoFit/>
            </a:bodyPr>
            <a:lstStyle/>
            <a:p>
              <a:pPr algn="r"/>
              <a:r>
                <a:rPr lang="zh-CN" sz="640" dirty="0">
                  <a:solidFill>
                    <a:srgbClr val="73615E"/>
                  </a:solidFill>
                  <a:latin typeface="+mn-lt"/>
                  <a:ea typeface="+mn-ea"/>
                  <a:cs typeface="+mn-cs"/>
                </a:rPr>
                <a:t>低</a:t>
              </a:r>
            </a:p>
          </p:txBody>
        </p:sp>
        <p:sp>
          <p:nvSpPr>
            <p:cNvPr id="158" name="TextBox 158"/>
            <p:cNvSpPr txBox="1"/>
            <p:nvPr/>
          </p:nvSpPr>
          <p:spPr>
            <a:xfrm>
              <a:off x="1613827" y="5238036"/>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参与门槛</a:t>
              </a:r>
            </a:p>
          </p:txBody>
        </p:sp>
        <p:sp>
          <p:nvSpPr>
            <p:cNvPr id="159" name="TextBox 159"/>
            <p:cNvSpPr txBox="1"/>
            <p:nvPr/>
          </p:nvSpPr>
          <p:spPr>
            <a:xfrm>
              <a:off x="618909" y="5246132"/>
              <a:ext cx="95682"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低</a:t>
              </a:r>
            </a:p>
          </p:txBody>
        </p:sp>
        <p:sp>
          <p:nvSpPr>
            <p:cNvPr id="160" name="TextBox 160"/>
            <p:cNvSpPr txBox="1"/>
            <p:nvPr/>
          </p:nvSpPr>
          <p:spPr>
            <a:xfrm>
              <a:off x="5190909" y="5246132"/>
              <a:ext cx="95682"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高</a:t>
              </a:r>
            </a:p>
          </p:txBody>
        </p:sp>
      </p:grpSp>
      <p:grpSp>
        <p:nvGrpSpPr>
          <p:cNvPr id="229" name="task-chain"/>
          <p:cNvGrpSpPr/>
          <p:nvPr/>
        </p:nvGrpSpPr>
        <p:grpSpPr>
          <a:xfrm>
            <a:off x="5672138" y="3314700"/>
            <a:ext cx="6138862" cy="1733550"/>
            <a:chOff x="5672138" y="3314700"/>
            <a:chExt cx="6138862" cy="1733550"/>
          </a:xfrm>
        </p:grpSpPr>
        <p:sp>
          <p:nvSpPr>
            <p:cNvPr id="162" name="Rectangle 162"/>
            <p:cNvSpPr/>
            <p:nvPr/>
          </p:nvSpPr>
          <p:spPr>
            <a:xfrm>
              <a:off x="5753100" y="3314700"/>
              <a:ext cx="1333500" cy="228600"/>
            </a:xfrm>
            <a:prstGeom prst="roundRect">
              <a:avLst>
                <a:gd name="adj" fmla="val 20833"/>
              </a:avLst>
            </a:prstGeom>
            <a:solidFill>
              <a:srgbClr val="76200F"/>
            </a:solidFill>
            <a:ln>
              <a:noFill/>
            </a:ln>
          </p:spPr>
        </p:sp>
        <p:sp>
          <p:nvSpPr>
            <p:cNvPr id="163" name="TextBox 163"/>
            <p:cNvSpPr txBox="1"/>
            <p:nvPr/>
          </p:nvSpPr>
          <p:spPr>
            <a:xfrm>
              <a:off x="5862638" y="3375422"/>
              <a:ext cx="895325"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典型任务链示例</a:t>
              </a:r>
            </a:p>
          </p:txBody>
        </p:sp>
        <p:sp>
          <p:nvSpPr>
            <p:cNvPr id="164" name="TextBox 164"/>
            <p:cNvSpPr txBox="1"/>
            <p:nvPr/>
          </p:nvSpPr>
          <p:spPr>
            <a:xfrm>
              <a:off x="7158038" y="3407807"/>
              <a:ext cx="2421915"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线上线下联动、分步引导、层层递进，提升参与深度与转化效果</a:t>
              </a:r>
            </a:p>
          </p:txBody>
        </p:sp>
        <p:sp>
          <p:nvSpPr>
            <p:cNvPr id="165" name="Ellipse 165"/>
            <p:cNvSpPr/>
            <p:nvPr/>
          </p:nvSpPr>
          <p:spPr>
            <a:xfrm>
              <a:off x="5895975" y="3686175"/>
              <a:ext cx="171450" cy="171450"/>
            </a:xfrm>
            <a:prstGeom prst="ellipse">
              <a:avLst/>
            </a:prstGeom>
            <a:solidFill>
              <a:srgbClr val="76200F"/>
            </a:solidFill>
            <a:ln>
              <a:noFill/>
            </a:ln>
          </p:spPr>
        </p:sp>
        <p:sp>
          <p:nvSpPr>
            <p:cNvPr id="166" name="TextBox 166"/>
            <p:cNvSpPr txBox="1"/>
            <p:nvPr/>
          </p:nvSpPr>
          <p:spPr>
            <a:xfrm>
              <a:off x="5897640" y="3737134"/>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01​</a:t>
              </a:r>
            </a:p>
          </p:txBody>
        </p:sp>
        <p:sp>
          <p:nvSpPr>
            <p:cNvPr id="167" name="Ellipse 167"/>
            <p:cNvSpPr/>
            <p:nvPr/>
          </p:nvSpPr>
          <p:spPr>
            <a:xfrm>
              <a:off x="6905625" y="3686175"/>
              <a:ext cx="171450" cy="171450"/>
            </a:xfrm>
            <a:prstGeom prst="ellipse">
              <a:avLst/>
            </a:prstGeom>
            <a:solidFill>
              <a:srgbClr val="852512"/>
            </a:solidFill>
            <a:ln>
              <a:noFill/>
            </a:ln>
          </p:spPr>
        </p:sp>
        <p:sp>
          <p:nvSpPr>
            <p:cNvPr id="168" name="TextBox 168"/>
            <p:cNvSpPr txBox="1"/>
            <p:nvPr/>
          </p:nvSpPr>
          <p:spPr>
            <a:xfrm>
              <a:off x="6907290" y="3737134"/>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02​</a:t>
              </a:r>
            </a:p>
          </p:txBody>
        </p:sp>
        <p:sp>
          <p:nvSpPr>
            <p:cNvPr id="169" name="Ellipse 169"/>
            <p:cNvSpPr/>
            <p:nvPr/>
          </p:nvSpPr>
          <p:spPr>
            <a:xfrm>
              <a:off x="7915275" y="3686175"/>
              <a:ext cx="171450" cy="171450"/>
            </a:xfrm>
            <a:prstGeom prst="ellipse">
              <a:avLst/>
            </a:prstGeom>
            <a:solidFill>
              <a:srgbClr val="76200F"/>
            </a:solidFill>
            <a:ln>
              <a:noFill/>
            </a:ln>
          </p:spPr>
        </p:sp>
        <p:sp>
          <p:nvSpPr>
            <p:cNvPr id="170" name="TextBox 170"/>
            <p:cNvSpPr txBox="1"/>
            <p:nvPr/>
          </p:nvSpPr>
          <p:spPr>
            <a:xfrm>
              <a:off x="7916940" y="3737134"/>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03​</a:t>
              </a:r>
            </a:p>
          </p:txBody>
        </p:sp>
        <p:sp>
          <p:nvSpPr>
            <p:cNvPr id="171" name="Ellipse 171"/>
            <p:cNvSpPr/>
            <p:nvPr/>
          </p:nvSpPr>
          <p:spPr>
            <a:xfrm>
              <a:off x="8924925" y="3686175"/>
              <a:ext cx="171450" cy="171450"/>
            </a:xfrm>
            <a:prstGeom prst="ellipse">
              <a:avLst/>
            </a:prstGeom>
            <a:solidFill>
              <a:srgbClr val="852512"/>
            </a:solidFill>
            <a:ln>
              <a:noFill/>
            </a:ln>
          </p:spPr>
        </p:sp>
        <p:sp>
          <p:nvSpPr>
            <p:cNvPr id="172" name="TextBox 172"/>
            <p:cNvSpPr txBox="1"/>
            <p:nvPr/>
          </p:nvSpPr>
          <p:spPr>
            <a:xfrm>
              <a:off x="8926590" y="3737134"/>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04​</a:t>
              </a:r>
            </a:p>
          </p:txBody>
        </p:sp>
        <p:sp>
          <p:nvSpPr>
            <p:cNvPr id="173" name="Ellipse 173"/>
            <p:cNvSpPr/>
            <p:nvPr/>
          </p:nvSpPr>
          <p:spPr>
            <a:xfrm>
              <a:off x="9934575" y="3686175"/>
              <a:ext cx="171450" cy="171450"/>
            </a:xfrm>
            <a:prstGeom prst="ellipse">
              <a:avLst/>
            </a:prstGeom>
            <a:solidFill>
              <a:srgbClr val="76200F"/>
            </a:solidFill>
            <a:ln>
              <a:noFill/>
            </a:ln>
          </p:spPr>
        </p:sp>
        <p:sp>
          <p:nvSpPr>
            <p:cNvPr id="174" name="TextBox 174"/>
            <p:cNvSpPr txBox="1"/>
            <p:nvPr/>
          </p:nvSpPr>
          <p:spPr>
            <a:xfrm>
              <a:off x="9936240" y="3737134"/>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05​</a:t>
              </a:r>
            </a:p>
          </p:txBody>
        </p:sp>
        <p:sp>
          <p:nvSpPr>
            <p:cNvPr id="175" name="Ellipse 175"/>
            <p:cNvSpPr/>
            <p:nvPr/>
          </p:nvSpPr>
          <p:spPr>
            <a:xfrm>
              <a:off x="10944225" y="3686175"/>
              <a:ext cx="171450" cy="171450"/>
            </a:xfrm>
            <a:prstGeom prst="ellipse">
              <a:avLst/>
            </a:prstGeom>
            <a:solidFill>
              <a:srgbClr val="5D190B"/>
            </a:solidFill>
            <a:ln>
              <a:noFill/>
            </a:ln>
          </p:spPr>
        </p:sp>
        <p:sp>
          <p:nvSpPr>
            <p:cNvPr id="176" name="TextBox 176"/>
            <p:cNvSpPr txBox="1"/>
            <p:nvPr/>
          </p:nvSpPr>
          <p:spPr>
            <a:xfrm>
              <a:off x="10945890" y="3737134"/>
              <a:ext cx="16812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06​</a:t>
              </a:r>
            </a:p>
          </p:txBody>
        </p:sp>
        <p:grpSp>
          <p:nvGrpSpPr>
            <p:cNvPr id="179" name="Group 179"/>
            <p:cNvGrpSpPr/>
            <p:nvPr/>
          </p:nvGrpSpPr>
          <p:grpSpPr>
            <a:xfrm>
              <a:off x="5895975" y="3952875"/>
              <a:ext cx="171450" cy="171450"/>
              <a:chOff x="5895975" y="3952875"/>
              <a:chExt cx="171450" cy="171450"/>
            </a:xfrm>
          </p:grpSpPr>
          <p:sp>
            <p:nvSpPr>
              <p:cNvPr id="177" name="Freeform 177"/>
              <p:cNvSpPr/>
              <p:nvPr/>
            </p:nvSpPr>
            <p:spPr>
              <a:xfrm>
                <a:off x="5895975" y="39528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76200F"/>
                </a:solidFill>
              </a:ln>
            </p:spPr>
          </p:sp>
          <p:sp>
            <p:nvSpPr>
              <p:cNvPr id="178" name="Freeform 178"/>
              <p:cNvSpPr/>
              <p:nvPr/>
            </p:nvSpPr>
            <p:spPr>
              <a:xfrm>
                <a:off x="5953125" y="4019550"/>
                <a:ext cx="57150" cy="38100"/>
              </a:xfrm>
              <a:custGeom>
                <a:avLst/>
                <a:gdLst/>
                <a:ahLst/>
                <a:cxnLst/>
                <a:rect l="l" t="t" r="r" b="b"/>
                <a:pathLst>
                  <a:path w="57150" h="38100">
                    <a:moveTo>
                      <a:pt x="0" y="19050"/>
                    </a:moveTo>
                    <a:lnTo>
                      <a:pt x="19050" y="38100"/>
                    </a:lnTo>
                    <a:lnTo>
                      <a:pt x="57150" y="0"/>
                    </a:lnTo>
                  </a:path>
                </a:pathLst>
              </a:custGeom>
              <a:noFill/>
              <a:ln w="19050">
                <a:solidFill>
                  <a:srgbClr val="76200F"/>
                </a:solidFill>
              </a:ln>
            </p:spPr>
          </p:sp>
        </p:grpSp>
        <p:grpSp>
          <p:nvGrpSpPr>
            <p:cNvPr id="184" name="Group 184"/>
            <p:cNvGrpSpPr/>
            <p:nvPr/>
          </p:nvGrpSpPr>
          <p:grpSpPr>
            <a:xfrm>
              <a:off x="6924675" y="3962400"/>
              <a:ext cx="142875" cy="161925"/>
              <a:chOff x="6924675" y="3962400"/>
              <a:chExt cx="142875" cy="161925"/>
            </a:xfrm>
          </p:grpSpPr>
          <p:sp>
            <p:nvSpPr>
              <p:cNvPr id="180" name="Freeform 180"/>
              <p:cNvSpPr/>
              <p:nvPr/>
            </p:nvSpPr>
            <p:spPr>
              <a:xfrm>
                <a:off x="6924675" y="396240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76200F"/>
                </a:solidFill>
              </a:ln>
            </p:spPr>
          </p:sp>
          <p:sp>
            <p:nvSpPr>
              <p:cNvPr id="181" name="Freeform 181"/>
              <p:cNvSpPr/>
              <p:nvPr/>
            </p:nvSpPr>
            <p:spPr>
              <a:xfrm>
                <a:off x="7010400" y="4086225"/>
                <a:ext cx="57150" cy="38100"/>
              </a:xfrm>
              <a:custGeom>
                <a:avLst/>
                <a:gdLst/>
                <a:ahLst/>
                <a:cxnLst/>
                <a:rect l="l" t="t" r="r" b="b"/>
                <a:pathLst>
                  <a:path w="57150" h="38100">
                    <a:moveTo>
                      <a:pt x="0" y="19050"/>
                    </a:moveTo>
                    <a:lnTo>
                      <a:pt x="19050" y="38100"/>
                    </a:lnTo>
                    <a:lnTo>
                      <a:pt x="57150" y="0"/>
                    </a:lnTo>
                  </a:path>
                </a:pathLst>
              </a:custGeom>
              <a:noFill/>
              <a:ln w="19050">
                <a:solidFill>
                  <a:srgbClr val="76200F"/>
                </a:solidFill>
              </a:ln>
            </p:spPr>
          </p:sp>
          <p:sp>
            <p:nvSpPr>
              <p:cNvPr id="182" name="Freeform 182"/>
              <p:cNvSpPr/>
              <p:nvPr/>
            </p:nvSpPr>
            <p:spPr>
              <a:xfrm>
                <a:off x="6962775" y="4000500"/>
                <a:ext cx="38100" cy="9525"/>
              </a:xfrm>
              <a:custGeom>
                <a:avLst/>
                <a:gdLst/>
                <a:ahLst/>
                <a:cxnLst/>
                <a:rect l="l" t="t" r="r" b="b"/>
                <a:pathLst>
                  <a:path w="38100" h="9525">
                    <a:moveTo>
                      <a:pt x="0" y="0"/>
                    </a:moveTo>
                    <a:lnTo>
                      <a:pt x="38100" y="0"/>
                    </a:lnTo>
                  </a:path>
                </a:pathLst>
              </a:custGeom>
              <a:noFill/>
              <a:ln w="19050">
                <a:solidFill>
                  <a:srgbClr val="76200F"/>
                </a:solidFill>
              </a:ln>
            </p:spPr>
          </p:sp>
          <p:sp>
            <p:nvSpPr>
              <p:cNvPr id="183" name="Freeform 183"/>
              <p:cNvSpPr/>
              <p:nvPr/>
            </p:nvSpPr>
            <p:spPr>
              <a:xfrm>
                <a:off x="6962775" y="4038600"/>
                <a:ext cx="19050" cy="9525"/>
              </a:xfrm>
              <a:custGeom>
                <a:avLst/>
                <a:gdLst/>
                <a:ahLst/>
                <a:cxnLst/>
                <a:rect l="l" t="t" r="r" b="b"/>
                <a:pathLst>
                  <a:path w="19050" h="9525">
                    <a:moveTo>
                      <a:pt x="0" y="0"/>
                    </a:moveTo>
                    <a:lnTo>
                      <a:pt x="19050" y="0"/>
                    </a:lnTo>
                  </a:path>
                </a:pathLst>
              </a:custGeom>
              <a:noFill/>
              <a:ln w="19050">
                <a:solidFill>
                  <a:srgbClr val="76200F"/>
                </a:solidFill>
              </a:ln>
            </p:spPr>
          </p:sp>
        </p:grpSp>
        <p:grpSp>
          <p:nvGrpSpPr>
            <p:cNvPr id="188" name="Group 188"/>
            <p:cNvGrpSpPr/>
            <p:nvPr/>
          </p:nvGrpSpPr>
          <p:grpSpPr>
            <a:xfrm>
              <a:off x="7943850" y="3952875"/>
              <a:ext cx="114300" cy="171450"/>
              <a:chOff x="7943850" y="3952875"/>
              <a:chExt cx="114300" cy="171450"/>
            </a:xfrm>
          </p:grpSpPr>
          <p:sp>
            <p:nvSpPr>
              <p:cNvPr id="185" name="Freeform 185"/>
              <p:cNvSpPr/>
              <p:nvPr/>
            </p:nvSpPr>
            <p:spPr>
              <a:xfrm>
                <a:off x="7943850" y="395287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76200F"/>
                </a:solidFill>
              </a:ln>
            </p:spPr>
          </p:sp>
          <p:sp>
            <p:nvSpPr>
              <p:cNvPr id="186" name="Freeform 186"/>
              <p:cNvSpPr/>
              <p:nvPr/>
            </p:nvSpPr>
            <p:spPr>
              <a:xfrm>
                <a:off x="7991475" y="3962400"/>
                <a:ext cx="19050" cy="9525"/>
              </a:xfrm>
              <a:custGeom>
                <a:avLst/>
                <a:gdLst/>
                <a:ahLst/>
                <a:cxnLst/>
                <a:rect l="l" t="t" r="r" b="b"/>
                <a:pathLst>
                  <a:path w="19050" h="9525">
                    <a:moveTo>
                      <a:pt x="0" y="0"/>
                    </a:moveTo>
                    <a:lnTo>
                      <a:pt x="19050" y="0"/>
                    </a:lnTo>
                  </a:path>
                </a:pathLst>
              </a:custGeom>
              <a:noFill/>
              <a:ln w="19050">
                <a:solidFill>
                  <a:srgbClr val="76200F"/>
                </a:solidFill>
              </a:ln>
            </p:spPr>
          </p:sp>
          <p:sp>
            <p:nvSpPr>
              <p:cNvPr id="187" name="Freeform 187"/>
              <p:cNvSpPr/>
              <p:nvPr/>
            </p:nvSpPr>
            <p:spPr>
              <a:xfrm>
                <a:off x="8001000" y="4086225"/>
                <a:ext cx="9525" cy="9525"/>
              </a:xfrm>
              <a:custGeom>
                <a:avLst/>
                <a:gdLst/>
                <a:ahLst/>
                <a:cxnLst/>
                <a:rect l="l" t="t" r="r" b="b"/>
                <a:pathLst>
                  <a:path w="9525" h="9525">
                    <a:moveTo>
                      <a:pt x="0" y="0"/>
                    </a:moveTo>
                    <a:lnTo>
                      <a:pt x="0" y="95"/>
                    </a:lnTo>
                  </a:path>
                </a:pathLst>
              </a:custGeom>
              <a:noFill/>
              <a:ln w="19050">
                <a:solidFill>
                  <a:srgbClr val="76200F"/>
                </a:solidFill>
              </a:ln>
            </p:spPr>
          </p:sp>
        </p:grpSp>
        <p:grpSp>
          <p:nvGrpSpPr>
            <p:cNvPr id="192" name="Group 192"/>
            <p:cNvGrpSpPr/>
            <p:nvPr/>
          </p:nvGrpSpPr>
          <p:grpSpPr>
            <a:xfrm>
              <a:off x="8928754" y="3952875"/>
              <a:ext cx="163773" cy="170402"/>
              <a:chOff x="8928754" y="3952875"/>
              <a:chExt cx="163773" cy="170402"/>
            </a:xfrm>
          </p:grpSpPr>
          <p:sp>
            <p:nvSpPr>
              <p:cNvPr id="189" name="Freeform 189"/>
              <p:cNvSpPr/>
              <p:nvPr/>
            </p:nvSpPr>
            <p:spPr>
              <a:xfrm>
                <a:off x="8953500" y="395287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76200F"/>
                </a:solidFill>
              </a:ln>
            </p:spPr>
          </p:sp>
          <p:sp>
            <p:nvSpPr>
              <p:cNvPr id="190" name="Freeform 190"/>
              <p:cNvSpPr/>
              <p:nvPr/>
            </p:nvSpPr>
            <p:spPr>
              <a:xfrm>
                <a:off x="9010650" y="403860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76200F"/>
                </a:solidFill>
              </a:ln>
            </p:spPr>
          </p:sp>
          <p:sp>
            <p:nvSpPr>
              <p:cNvPr id="191" name="Freeform 191"/>
              <p:cNvSpPr/>
              <p:nvPr/>
            </p:nvSpPr>
            <p:spPr>
              <a:xfrm>
                <a:off x="8928754" y="403860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76200F"/>
                </a:solidFill>
              </a:ln>
            </p:spPr>
          </p:sp>
        </p:grpSp>
        <p:grpSp>
          <p:nvGrpSpPr>
            <p:cNvPr id="196" name="Group 196"/>
            <p:cNvGrpSpPr/>
            <p:nvPr/>
          </p:nvGrpSpPr>
          <p:grpSpPr>
            <a:xfrm>
              <a:off x="9953625" y="3952875"/>
              <a:ext cx="133350" cy="171450"/>
              <a:chOff x="9953625" y="3952875"/>
              <a:chExt cx="133350" cy="171450"/>
            </a:xfrm>
          </p:grpSpPr>
          <p:sp>
            <p:nvSpPr>
              <p:cNvPr id="193" name="Freeform 193"/>
              <p:cNvSpPr/>
              <p:nvPr/>
            </p:nvSpPr>
            <p:spPr>
              <a:xfrm>
                <a:off x="9953625" y="401002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76200F"/>
                </a:solidFill>
              </a:ln>
            </p:spPr>
          </p:sp>
          <p:sp>
            <p:nvSpPr>
              <p:cNvPr id="194" name="Freeform 194"/>
              <p:cNvSpPr/>
              <p:nvPr/>
            </p:nvSpPr>
            <p:spPr>
              <a:xfrm>
                <a:off x="10020300" y="3952875"/>
                <a:ext cx="9525" cy="104775"/>
              </a:xfrm>
              <a:custGeom>
                <a:avLst/>
                <a:gdLst/>
                <a:ahLst/>
                <a:cxnLst/>
                <a:rect l="l" t="t" r="r" b="b"/>
                <a:pathLst>
                  <a:path w="9525" h="104775">
                    <a:moveTo>
                      <a:pt x="0" y="104775"/>
                    </a:moveTo>
                    <a:lnTo>
                      <a:pt x="0" y="0"/>
                    </a:lnTo>
                  </a:path>
                </a:pathLst>
              </a:custGeom>
              <a:noFill/>
              <a:ln w="19050">
                <a:solidFill>
                  <a:srgbClr val="76200F"/>
                </a:solidFill>
              </a:ln>
            </p:spPr>
          </p:sp>
          <p:sp>
            <p:nvSpPr>
              <p:cNvPr id="195" name="Freeform 195"/>
              <p:cNvSpPr/>
              <p:nvPr/>
            </p:nvSpPr>
            <p:spPr>
              <a:xfrm>
                <a:off x="9991725" y="3952875"/>
                <a:ext cx="57150" cy="28575"/>
              </a:xfrm>
              <a:custGeom>
                <a:avLst/>
                <a:gdLst/>
                <a:ahLst/>
                <a:cxnLst/>
                <a:rect l="l" t="t" r="r" b="b"/>
                <a:pathLst>
                  <a:path w="57150" h="28575">
                    <a:moveTo>
                      <a:pt x="0" y="28575"/>
                    </a:moveTo>
                    <a:lnTo>
                      <a:pt x="28575" y="0"/>
                    </a:lnTo>
                    <a:lnTo>
                      <a:pt x="57150" y="28575"/>
                    </a:lnTo>
                  </a:path>
                </a:pathLst>
              </a:custGeom>
              <a:noFill/>
              <a:ln w="19050">
                <a:solidFill>
                  <a:srgbClr val="76200F"/>
                </a:solidFill>
              </a:ln>
            </p:spPr>
          </p:sp>
        </p:grpSp>
        <p:grpSp>
          <p:nvGrpSpPr>
            <p:cNvPr id="199" name="Group 199"/>
            <p:cNvGrpSpPr/>
            <p:nvPr/>
          </p:nvGrpSpPr>
          <p:grpSpPr>
            <a:xfrm>
              <a:off x="10953750" y="3958725"/>
              <a:ext cx="152400" cy="159750"/>
              <a:chOff x="10953750" y="3958725"/>
              <a:chExt cx="152400" cy="159750"/>
            </a:xfrm>
          </p:grpSpPr>
          <p:sp>
            <p:nvSpPr>
              <p:cNvPr id="197" name="Freeform 197"/>
              <p:cNvSpPr/>
              <p:nvPr/>
            </p:nvSpPr>
            <p:spPr>
              <a:xfrm>
                <a:off x="10953750" y="39587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76200F"/>
                </a:solidFill>
              </a:ln>
            </p:spPr>
          </p:sp>
          <p:sp>
            <p:nvSpPr>
              <p:cNvPr id="198" name="Freeform 198"/>
              <p:cNvSpPr/>
              <p:nvPr/>
            </p:nvSpPr>
            <p:spPr>
              <a:xfrm>
                <a:off x="10953750" y="40481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76200F"/>
                </a:solidFill>
              </a:ln>
            </p:spPr>
          </p:sp>
        </p:grpSp>
        <p:sp>
          <p:nvSpPr>
            <p:cNvPr id="200" name="TextBox 200"/>
            <p:cNvSpPr txBox="1"/>
            <p:nvPr/>
          </p:nvSpPr>
          <p:spPr>
            <a:xfrm>
              <a:off x="5775008" y="4281488"/>
              <a:ext cx="41338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获取参与</a:t>
              </a:r>
            </a:p>
          </p:txBody>
        </p:sp>
        <p:sp>
          <p:nvSpPr>
            <p:cNvPr id="201" name="TextBox 201"/>
            <p:cNvSpPr txBox="1"/>
            <p:nvPr/>
          </p:nvSpPr>
          <p:spPr>
            <a:xfrm>
              <a:off x="5672138" y="4440555"/>
              <a:ext cx="619125" cy="309562"/>
            </a:xfrm>
            <a:prstGeom prst="rect">
              <a:avLst/>
            </a:prstGeom>
            <a:noFill/>
            <a:ln>
              <a:noFill/>
            </a:ln>
          </p:spPr>
          <p:txBody>
            <a:bodyPr wrap="none" lIns="0" tIns="0" rIns="0" bIns="0" anchor="t" anchorCtr="0">
              <a:spAutoFit/>
            </a:bodyPr>
            <a:lstStyle/>
            <a:p>
              <a:pPr algn="ctr">
                <a:lnSpc>
                  <a:spcPts val="750"/>
                </a:lnSpc>
              </a:pPr>
              <a:r>
                <a:rPr lang="zh-CN" sz="600" dirty="0">
                  <a:solidFill>
                    <a:srgbClr val="514340"/>
                  </a:solidFill>
                  <a:latin typeface="+mn-lt"/>
                  <a:ea typeface="+mn-ea"/>
                  <a:cs typeface="+mn-cs"/>
                </a:rPr>
                <a:t>扫码签到</a:t>
              </a:r>
              <a:br/>
              <a:r>
                <a:rPr lang="zh-CN" sz="600" dirty="0">
                  <a:solidFill>
                    <a:srgbClr val="514340"/>
                  </a:solidFill>
                  <a:latin typeface="+mn-lt"/>
                  <a:ea typeface="+mn-ea"/>
                  <a:cs typeface="+mn-cs"/>
                </a:rPr>
                <a:t>线下展位扫码</a:t>
              </a:r>
              <a:br/>
              <a:r>
                <a:rPr lang="zh-CN" sz="600" dirty="0">
                  <a:solidFill>
                    <a:srgbClr val="514340"/>
                  </a:solidFill>
                  <a:latin typeface="+mn-lt"/>
                  <a:ea typeface="+mn-ea"/>
                  <a:cs typeface="+mn-cs"/>
                </a:rPr>
                <a:t>或线上活动页签到</a:t>
              </a:r>
            </a:p>
          </p:txBody>
        </p:sp>
        <p:sp>
          <p:nvSpPr>
            <p:cNvPr id="202" name="TextBox 202"/>
            <p:cNvSpPr txBox="1"/>
            <p:nvPr/>
          </p:nvSpPr>
          <p:spPr>
            <a:xfrm>
              <a:off x="6784658" y="4281488"/>
              <a:ext cx="41338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了解需求</a:t>
              </a:r>
            </a:p>
          </p:txBody>
        </p:sp>
        <p:sp>
          <p:nvSpPr>
            <p:cNvPr id="203" name="TextBox 203"/>
            <p:cNvSpPr txBox="1"/>
            <p:nvPr/>
          </p:nvSpPr>
          <p:spPr>
            <a:xfrm>
              <a:off x="6750368" y="4440555"/>
              <a:ext cx="481965" cy="309562"/>
            </a:xfrm>
            <a:prstGeom prst="rect">
              <a:avLst/>
            </a:prstGeom>
            <a:noFill/>
            <a:ln>
              <a:noFill/>
            </a:ln>
          </p:spPr>
          <p:txBody>
            <a:bodyPr wrap="none" lIns="0" tIns="0" rIns="0" bIns="0" anchor="t" anchorCtr="0">
              <a:spAutoFit/>
            </a:bodyPr>
            <a:lstStyle/>
            <a:p>
              <a:pPr algn="ctr">
                <a:lnSpc>
                  <a:spcPts val="750"/>
                </a:lnSpc>
              </a:pPr>
              <a:r>
                <a:rPr lang="zh-CN" sz="600" dirty="0">
                  <a:solidFill>
                    <a:srgbClr val="514340"/>
                  </a:solidFill>
                  <a:latin typeface="+mn-lt"/>
                  <a:ea typeface="+mn-ea"/>
                  <a:cs typeface="+mn-cs"/>
                </a:rPr>
                <a:t>风险偏好小测</a:t>
              </a:r>
              <a:br/>
              <a:r>
                <a:rPr lang="zh-CN" sz="600" dirty="0">
                  <a:solidFill>
                    <a:srgbClr val="514340"/>
                  </a:solidFill>
                  <a:latin typeface="+mn-lt"/>
                  <a:ea typeface="+mn-ea"/>
                  <a:cs typeface="+mn-cs"/>
                </a:rPr>
                <a:t>完成1-3分钟​</a:t>
              </a:r>
              <a:br/>
              <a:r>
                <a:rPr lang="zh-CN" sz="600" dirty="0">
                  <a:solidFill>
                    <a:srgbClr val="514340"/>
                  </a:solidFill>
                  <a:latin typeface="+mn-lt"/>
                  <a:ea typeface="+mn-ea"/>
                  <a:cs typeface="+mn-cs"/>
                </a:rPr>
                <a:t>金融测评</a:t>
              </a:r>
            </a:p>
          </p:txBody>
        </p:sp>
        <p:sp>
          <p:nvSpPr>
            <p:cNvPr id="204" name="TextBox 204"/>
            <p:cNvSpPr txBox="1"/>
            <p:nvPr/>
          </p:nvSpPr>
          <p:spPr>
            <a:xfrm>
              <a:off x="7794308" y="4281488"/>
              <a:ext cx="41338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体验产品</a:t>
              </a:r>
            </a:p>
          </p:txBody>
        </p:sp>
        <p:sp>
          <p:nvSpPr>
            <p:cNvPr id="205" name="TextBox 205"/>
            <p:cNvSpPr txBox="1"/>
            <p:nvPr/>
          </p:nvSpPr>
          <p:spPr>
            <a:xfrm>
              <a:off x="7611428" y="4440555"/>
              <a:ext cx="779145" cy="309562"/>
            </a:xfrm>
            <a:prstGeom prst="rect">
              <a:avLst/>
            </a:prstGeom>
            <a:noFill/>
            <a:ln>
              <a:noFill/>
            </a:ln>
          </p:spPr>
          <p:txBody>
            <a:bodyPr wrap="none" lIns="0" tIns="0" rIns="0" bIns="0" anchor="t" anchorCtr="0">
              <a:spAutoFit/>
            </a:bodyPr>
            <a:lstStyle/>
            <a:p>
              <a:pPr algn="ctr">
                <a:lnSpc>
                  <a:spcPts val="750"/>
                </a:lnSpc>
              </a:pPr>
              <a:r>
                <a:rPr lang="zh-CN" sz="600" dirty="0">
                  <a:solidFill>
                    <a:srgbClr val="514340"/>
                  </a:solidFill>
                  <a:latin typeface="+mn-lt"/>
                  <a:ea typeface="+mn-ea"/>
                  <a:cs typeface="+mn-cs"/>
                </a:rPr>
                <a:t>体验手机银行</a:t>
              </a:r>
              <a:br/>
              <a:r>
                <a:rPr lang="zh-CN" sz="600" dirty="0">
                  <a:solidFill>
                    <a:srgbClr val="514340"/>
                  </a:solidFill>
                  <a:latin typeface="+mn-lt"/>
                  <a:ea typeface="+mn-ea"/>
                  <a:cs typeface="+mn-cs"/>
                </a:rPr>
                <a:t>完成指定功能</a:t>
              </a:r>
              <a:br/>
              <a:r>
                <a:rPr lang="zh-CN" sz="600" dirty="0">
                  <a:solidFill>
                    <a:srgbClr val="514340"/>
                  </a:solidFill>
                  <a:latin typeface="+mn-lt"/>
                  <a:ea typeface="+mn-ea"/>
                  <a:cs typeface="+mn-cs"/>
                </a:rPr>
                <a:t>如开户预约/理财浏览​</a:t>
              </a:r>
            </a:p>
          </p:txBody>
        </p:sp>
        <p:sp>
          <p:nvSpPr>
            <p:cNvPr id="206" name="TextBox 206"/>
            <p:cNvSpPr txBox="1"/>
            <p:nvPr/>
          </p:nvSpPr>
          <p:spPr>
            <a:xfrm>
              <a:off x="8803958" y="4281488"/>
              <a:ext cx="41338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获取权益</a:t>
              </a:r>
            </a:p>
          </p:txBody>
        </p:sp>
        <p:sp>
          <p:nvSpPr>
            <p:cNvPr id="207" name="TextBox 207"/>
            <p:cNvSpPr txBox="1"/>
            <p:nvPr/>
          </p:nvSpPr>
          <p:spPr>
            <a:xfrm>
              <a:off x="8697278" y="4440555"/>
              <a:ext cx="626745" cy="309562"/>
            </a:xfrm>
            <a:prstGeom prst="rect">
              <a:avLst/>
            </a:prstGeom>
            <a:noFill/>
            <a:ln>
              <a:noFill/>
            </a:ln>
          </p:spPr>
          <p:txBody>
            <a:bodyPr wrap="none" lIns="0" tIns="0" rIns="0" bIns="0" anchor="t" anchorCtr="0">
              <a:spAutoFit/>
            </a:bodyPr>
            <a:lstStyle/>
            <a:p>
              <a:pPr algn="ctr">
                <a:lnSpc>
                  <a:spcPts val="750"/>
                </a:lnSpc>
              </a:pPr>
              <a:r>
                <a:rPr lang="zh-CN" sz="600" dirty="0">
                  <a:solidFill>
                    <a:srgbClr val="514340"/>
                  </a:solidFill>
                  <a:latin typeface="+mn-lt"/>
                  <a:ea typeface="+mn-ea"/>
                  <a:cs typeface="+mn-cs"/>
                </a:rPr>
                <a:t>领取商圈券</a:t>
              </a:r>
              <a:br/>
              <a:r>
                <a:rPr lang="zh-CN" sz="600" dirty="0">
                  <a:solidFill>
                    <a:srgbClr val="514340"/>
                  </a:solidFill>
                  <a:latin typeface="+mn-lt"/>
                  <a:ea typeface="+mn-ea"/>
                  <a:cs typeface="+mn-cs"/>
                </a:rPr>
                <a:t>消费+体验完成后​</a:t>
              </a:r>
              <a:br/>
              <a:r>
                <a:rPr lang="zh-CN" sz="600" dirty="0">
                  <a:solidFill>
                    <a:srgbClr val="514340"/>
                  </a:solidFill>
                  <a:latin typeface="+mn-lt"/>
                  <a:ea typeface="+mn-ea"/>
                  <a:cs typeface="+mn-cs"/>
                </a:rPr>
                <a:t>领取专属商圈券</a:t>
              </a:r>
            </a:p>
          </p:txBody>
        </p:sp>
        <p:sp>
          <p:nvSpPr>
            <p:cNvPr id="208" name="TextBox 208"/>
            <p:cNvSpPr txBox="1"/>
            <p:nvPr/>
          </p:nvSpPr>
          <p:spPr>
            <a:xfrm>
              <a:off x="9813608" y="4281488"/>
              <a:ext cx="41338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裂变传播</a:t>
              </a:r>
            </a:p>
          </p:txBody>
        </p:sp>
        <p:sp>
          <p:nvSpPr>
            <p:cNvPr id="209" name="TextBox 209"/>
            <p:cNvSpPr txBox="1"/>
            <p:nvPr/>
          </p:nvSpPr>
          <p:spPr>
            <a:xfrm>
              <a:off x="9786938" y="4440555"/>
              <a:ext cx="466725" cy="309562"/>
            </a:xfrm>
            <a:prstGeom prst="rect">
              <a:avLst/>
            </a:prstGeom>
            <a:noFill/>
            <a:ln>
              <a:noFill/>
            </a:ln>
          </p:spPr>
          <p:txBody>
            <a:bodyPr wrap="none" lIns="0" tIns="0" rIns="0" bIns="0" anchor="t" anchorCtr="0">
              <a:spAutoFit/>
            </a:bodyPr>
            <a:lstStyle/>
            <a:p>
              <a:pPr algn="ctr">
                <a:lnSpc>
                  <a:spcPts val="750"/>
                </a:lnSpc>
              </a:pPr>
              <a:r>
                <a:rPr lang="zh-CN" sz="600" dirty="0">
                  <a:solidFill>
                    <a:srgbClr val="514340"/>
                  </a:solidFill>
                  <a:latin typeface="+mn-lt"/>
                  <a:ea typeface="+mn-ea"/>
                  <a:cs typeface="+mn-cs"/>
                </a:rPr>
                <a:t>邀请好友</a:t>
              </a:r>
              <a:br/>
              <a:r>
                <a:rPr lang="zh-CN" sz="600" dirty="0">
                  <a:solidFill>
                    <a:srgbClr val="514340"/>
                  </a:solidFill>
                  <a:latin typeface="+mn-lt"/>
                  <a:ea typeface="+mn-ea"/>
                  <a:cs typeface="+mn-cs"/>
                </a:rPr>
                <a:t>生成专属海报</a:t>
              </a:r>
              <a:br/>
              <a:r>
                <a:rPr lang="zh-CN" sz="600" dirty="0">
                  <a:solidFill>
                    <a:srgbClr val="514340"/>
                  </a:solidFill>
                  <a:latin typeface="+mn-lt"/>
                  <a:ea typeface="+mn-ea"/>
                  <a:cs typeface="+mn-cs"/>
                </a:rPr>
                <a:t>邀请好友参与</a:t>
              </a:r>
            </a:p>
          </p:txBody>
        </p:sp>
        <p:sp>
          <p:nvSpPr>
            <p:cNvPr id="210" name="TextBox 210"/>
            <p:cNvSpPr txBox="1"/>
            <p:nvPr/>
          </p:nvSpPr>
          <p:spPr>
            <a:xfrm>
              <a:off x="10823258" y="4281488"/>
              <a:ext cx="41338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闭环转化</a:t>
              </a:r>
            </a:p>
          </p:txBody>
        </p:sp>
        <p:sp>
          <p:nvSpPr>
            <p:cNvPr id="211" name="TextBox 211"/>
            <p:cNvSpPr txBox="1"/>
            <p:nvPr/>
          </p:nvSpPr>
          <p:spPr>
            <a:xfrm>
              <a:off x="10720388" y="4440555"/>
              <a:ext cx="619125" cy="309562"/>
            </a:xfrm>
            <a:prstGeom prst="rect">
              <a:avLst/>
            </a:prstGeom>
            <a:noFill/>
            <a:ln>
              <a:noFill/>
            </a:ln>
          </p:spPr>
          <p:txBody>
            <a:bodyPr wrap="none" lIns="0" tIns="0" rIns="0" bIns="0" anchor="t" anchorCtr="0">
              <a:spAutoFit/>
            </a:bodyPr>
            <a:lstStyle/>
            <a:p>
              <a:pPr algn="ctr">
                <a:lnSpc>
                  <a:spcPts val="750"/>
                </a:lnSpc>
              </a:pPr>
              <a:r>
                <a:rPr lang="zh-CN" sz="600" dirty="0">
                  <a:solidFill>
                    <a:srgbClr val="514340"/>
                  </a:solidFill>
                  <a:latin typeface="+mn-lt"/>
                  <a:ea typeface="+mn-ea"/>
                  <a:cs typeface="+mn-cs"/>
                </a:rPr>
                <a:t>线上支付核销</a:t>
              </a:r>
              <a:br/>
              <a:r>
                <a:rPr lang="zh-CN" sz="600" dirty="0">
                  <a:solidFill>
                    <a:srgbClr val="514340"/>
                  </a:solidFill>
                  <a:latin typeface="+mn-lt"/>
                  <a:ea typeface="+mn-ea"/>
                  <a:cs typeface="+mn-cs"/>
                </a:rPr>
                <a:t>到合作商户消费</a:t>
              </a:r>
              <a:br/>
              <a:r>
                <a:rPr lang="zh-CN" sz="600" dirty="0">
                  <a:solidFill>
                    <a:srgbClr val="514340"/>
                  </a:solidFill>
                  <a:latin typeface="+mn-lt"/>
                  <a:ea typeface="+mn-ea"/>
                  <a:cs typeface="+mn-cs"/>
                </a:rPr>
                <a:t>使用券并完成核销</a:t>
              </a:r>
            </a:p>
          </p:txBody>
        </p:sp>
        <p:sp>
          <p:nvSpPr>
            <p:cNvPr id="212" name="Rectangle 212"/>
            <p:cNvSpPr/>
            <p:nvPr/>
          </p:nvSpPr>
          <p:spPr>
            <a:xfrm>
              <a:off x="5753100" y="4838700"/>
              <a:ext cx="1009650" cy="209550"/>
            </a:xfrm>
            <a:prstGeom prst="roundRect">
              <a:avLst>
                <a:gd name="adj" fmla="val 50000"/>
              </a:avLst>
            </a:prstGeom>
            <a:solidFill>
              <a:srgbClr val="E4F3F0"/>
            </a:solidFill>
            <a:ln>
              <a:noFill/>
            </a:ln>
          </p:spPr>
        </p:sp>
        <p:sp>
          <p:nvSpPr>
            <p:cNvPr id="213" name="TextBox 213"/>
            <p:cNvSpPr txBox="1"/>
            <p:nvPr/>
          </p:nvSpPr>
          <p:spPr>
            <a:xfrm>
              <a:off x="6115850" y="4908709"/>
              <a:ext cx="284150"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引流款</a:t>
              </a:r>
            </a:p>
          </p:txBody>
        </p:sp>
        <p:sp>
          <p:nvSpPr>
            <p:cNvPr id="214" name="Rectangle 214"/>
            <p:cNvSpPr/>
            <p:nvPr/>
          </p:nvSpPr>
          <p:spPr>
            <a:xfrm>
              <a:off x="6762750" y="4838700"/>
              <a:ext cx="1009650" cy="209550"/>
            </a:xfrm>
            <a:prstGeom prst="roundRect">
              <a:avLst>
                <a:gd name="adj" fmla="val 50000"/>
              </a:avLst>
            </a:prstGeom>
            <a:solidFill>
              <a:srgbClr val="E4F3F0"/>
            </a:solidFill>
            <a:ln>
              <a:noFill/>
            </a:ln>
          </p:spPr>
        </p:sp>
        <p:sp>
          <p:nvSpPr>
            <p:cNvPr id="215" name="TextBox 215"/>
            <p:cNvSpPr txBox="1"/>
            <p:nvPr/>
          </p:nvSpPr>
          <p:spPr>
            <a:xfrm>
              <a:off x="7079729" y="4908709"/>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兴趣激发</a:t>
              </a:r>
            </a:p>
          </p:txBody>
        </p:sp>
        <p:sp>
          <p:nvSpPr>
            <p:cNvPr id="216" name="Rectangle 216"/>
            <p:cNvSpPr/>
            <p:nvPr/>
          </p:nvSpPr>
          <p:spPr>
            <a:xfrm>
              <a:off x="7772400" y="4838700"/>
              <a:ext cx="1009650" cy="209550"/>
            </a:xfrm>
            <a:prstGeom prst="roundRect">
              <a:avLst>
                <a:gd name="adj" fmla="val 50000"/>
              </a:avLst>
            </a:prstGeom>
            <a:solidFill>
              <a:srgbClr val="E4F3F0"/>
            </a:solidFill>
            <a:ln>
              <a:noFill/>
            </a:ln>
          </p:spPr>
        </p:sp>
        <p:sp>
          <p:nvSpPr>
            <p:cNvPr id="217" name="TextBox 217"/>
            <p:cNvSpPr txBox="1"/>
            <p:nvPr/>
          </p:nvSpPr>
          <p:spPr>
            <a:xfrm>
              <a:off x="8089379" y="4908709"/>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体验转化</a:t>
              </a:r>
            </a:p>
          </p:txBody>
        </p:sp>
        <p:sp>
          <p:nvSpPr>
            <p:cNvPr id="218" name="Rectangle 218"/>
            <p:cNvSpPr/>
            <p:nvPr/>
          </p:nvSpPr>
          <p:spPr>
            <a:xfrm>
              <a:off x="8782050" y="4838700"/>
              <a:ext cx="1009650" cy="209550"/>
            </a:xfrm>
            <a:prstGeom prst="roundRect">
              <a:avLst>
                <a:gd name="adj" fmla="val 50000"/>
              </a:avLst>
            </a:prstGeom>
            <a:solidFill>
              <a:srgbClr val="E4F3F0"/>
            </a:solidFill>
            <a:ln>
              <a:noFill/>
            </a:ln>
          </p:spPr>
        </p:sp>
        <p:sp>
          <p:nvSpPr>
            <p:cNvPr id="219" name="TextBox 219"/>
            <p:cNvSpPr txBox="1"/>
            <p:nvPr/>
          </p:nvSpPr>
          <p:spPr>
            <a:xfrm>
              <a:off x="9099029" y="4908709"/>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权益回馈</a:t>
              </a:r>
            </a:p>
          </p:txBody>
        </p:sp>
        <p:sp>
          <p:nvSpPr>
            <p:cNvPr id="220" name="Rectangle 220"/>
            <p:cNvSpPr/>
            <p:nvPr/>
          </p:nvSpPr>
          <p:spPr>
            <a:xfrm>
              <a:off x="9791700" y="4838700"/>
              <a:ext cx="1009650" cy="209550"/>
            </a:xfrm>
            <a:prstGeom prst="roundRect">
              <a:avLst>
                <a:gd name="adj" fmla="val 50000"/>
              </a:avLst>
            </a:prstGeom>
            <a:solidFill>
              <a:srgbClr val="E4F3F0"/>
            </a:solidFill>
            <a:ln>
              <a:noFill/>
            </a:ln>
          </p:spPr>
        </p:sp>
        <p:sp>
          <p:nvSpPr>
            <p:cNvPr id="221" name="TextBox 221"/>
            <p:cNvSpPr txBox="1"/>
            <p:nvPr/>
          </p:nvSpPr>
          <p:spPr>
            <a:xfrm>
              <a:off x="10108679" y="4908709"/>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社交裂变</a:t>
              </a:r>
            </a:p>
          </p:txBody>
        </p:sp>
        <p:sp>
          <p:nvSpPr>
            <p:cNvPr id="222" name="Rectangle 222"/>
            <p:cNvSpPr/>
            <p:nvPr/>
          </p:nvSpPr>
          <p:spPr>
            <a:xfrm>
              <a:off x="10801350" y="4838700"/>
              <a:ext cx="1009650" cy="209550"/>
            </a:xfrm>
            <a:prstGeom prst="roundRect">
              <a:avLst>
                <a:gd name="adj" fmla="val 50000"/>
              </a:avLst>
            </a:prstGeom>
            <a:solidFill>
              <a:srgbClr val="E4F3F0"/>
            </a:solidFill>
            <a:ln>
              <a:noFill/>
            </a:ln>
          </p:spPr>
        </p:sp>
        <p:sp>
          <p:nvSpPr>
            <p:cNvPr id="223" name="TextBox 223"/>
            <p:cNvSpPr txBox="1"/>
            <p:nvPr/>
          </p:nvSpPr>
          <p:spPr>
            <a:xfrm>
              <a:off x="11118329" y="4908709"/>
              <a:ext cx="375691" cy="133350"/>
            </a:xfrm>
            <a:prstGeom prst="rect">
              <a:avLst/>
            </a:prstGeom>
            <a:noFill/>
            <a:ln>
              <a:noFill/>
            </a:ln>
          </p:spPr>
          <p:txBody>
            <a:bodyPr wrap="none" lIns="0" tIns="0" rIns="0" bIns="0" anchor="t" anchorCtr="0">
              <a:spAutoFit/>
            </a:bodyPr>
            <a:lstStyle/>
            <a:p>
              <a:pPr algn="ctr"/>
              <a:r>
                <a:rPr lang="zh-CN" sz="680" b="1" dirty="0">
                  <a:solidFill>
                    <a:srgbClr val="5D190B"/>
                  </a:solidFill>
                  <a:latin typeface="+mn-lt"/>
                  <a:ea typeface="+mn-ea"/>
                  <a:cs typeface="+mn-cs"/>
                </a:rPr>
                <a:t>消费闭环</a:t>
              </a:r>
            </a:p>
          </p:txBody>
        </p:sp>
        <p:sp>
          <p:nvSpPr>
            <p:cNvPr id="224" name="Line 224"/>
            <p:cNvSpPr/>
            <p:nvPr/>
          </p:nvSpPr>
          <p:spPr>
            <a:xfrm>
              <a:off x="6134100" y="4038600"/>
              <a:ext cx="685800" cy="9525"/>
            </a:xfrm>
            <a:custGeom>
              <a:avLst/>
              <a:gdLst/>
              <a:ahLst/>
              <a:cxnLst/>
              <a:rect l="l" t="t" r="r" b="b"/>
              <a:pathLst>
                <a:path w="685800" h="9525">
                  <a:moveTo>
                    <a:pt x="0" y="0"/>
                  </a:moveTo>
                  <a:lnTo>
                    <a:pt x="685800" y="0"/>
                  </a:lnTo>
                </a:path>
              </a:pathLst>
            </a:custGeom>
            <a:noFill/>
            <a:ln w="14288">
              <a:solidFill>
                <a:srgbClr val="D6A59C"/>
              </a:solidFill>
              <a:custDash>
                <a:ds d="266667" sp="200000"/>
              </a:custDash>
            </a:ln>
          </p:spPr>
        </p:sp>
        <p:sp>
          <p:nvSpPr>
            <p:cNvPr id="225" name="Line 225"/>
            <p:cNvSpPr/>
            <p:nvPr/>
          </p:nvSpPr>
          <p:spPr>
            <a:xfrm>
              <a:off x="7143750" y="4038600"/>
              <a:ext cx="685800" cy="9525"/>
            </a:xfrm>
            <a:custGeom>
              <a:avLst/>
              <a:gdLst/>
              <a:ahLst/>
              <a:cxnLst/>
              <a:rect l="l" t="t" r="r" b="b"/>
              <a:pathLst>
                <a:path w="685800" h="9525">
                  <a:moveTo>
                    <a:pt x="0" y="0"/>
                  </a:moveTo>
                  <a:lnTo>
                    <a:pt x="685800" y="0"/>
                  </a:lnTo>
                </a:path>
              </a:pathLst>
            </a:custGeom>
            <a:noFill/>
            <a:ln w="14288">
              <a:solidFill>
                <a:srgbClr val="D6A59C"/>
              </a:solidFill>
              <a:custDash>
                <a:ds d="266667" sp="200000"/>
              </a:custDash>
            </a:ln>
          </p:spPr>
        </p:sp>
        <p:sp>
          <p:nvSpPr>
            <p:cNvPr id="226" name="Line 226"/>
            <p:cNvSpPr/>
            <p:nvPr/>
          </p:nvSpPr>
          <p:spPr>
            <a:xfrm>
              <a:off x="8153400" y="4038600"/>
              <a:ext cx="685800" cy="9525"/>
            </a:xfrm>
            <a:custGeom>
              <a:avLst/>
              <a:gdLst/>
              <a:ahLst/>
              <a:cxnLst/>
              <a:rect l="l" t="t" r="r" b="b"/>
              <a:pathLst>
                <a:path w="685800" h="9525">
                  <a:moveTo>
                    <a:pt x="0" y="0"/>
                  </a:moveTo>
                  <a:lnTo>
                    <a:pt x="685800" y="0"/>
                  </a:lnTo>
                </a:path>
              </a:pathLst>
            </a:custGeom>
            <a:noFill/>
            <a:ln w="14288">
              <a:solidFill>
                <a:srgbClr val="D6A59C"/>
              </a:solidFill>
              <a:custDash>
                <a:ds d="266667" sp="200000"/>
              </a:custDash>
            </a:ln>
          </p:spPr>
        </p:sp>
        <p:sp>
          <p:nvSpPr>
            <p:cNvPr id="227" name="Line 227"/>
            <p:cNvSpPr/>
            <p:nvPr/>
          </p:nvSpPr>
          <p:spPr>
            <a:xfrm>
              <a:off x="9163050" y="4038600"/>
              <a:ext cx="685800" cy="9525"/>
            </a:xfrm>
            <a:custGeom>
              <a:avLst/>
              <a:gdLst/>
              <a:ahLst/>
              <a:cxnLst/>
              <a:rect l="l" t="t" r="r" b="b"/>
              <a:pathLst>
                <a:path w="685800" h="9525">
                  <a:moveTo>
                    <a:pt x="0" y="0"/>
                  </a:moveTo>
                  <a:lnTo>
                    <a:pt x="685800" y="0"/>
                  </a:lnTo>
                </a:path>
              </a:pathLst>
            </a:custGeom>
            <a:noFill/>
            <a:ln w="14288">
              <a:solidFill>
                <a:srgbClr val="D6A59C"/>
              </a:solidFill>
              <a:custDash>
                <a:ds d="266667" sp="200000"/>
              </a:custDash>
            </a:ln>
          </p:spPr>
        </p:sp>
        <p:sp>
          <p:nvSpPr>
            <p:cNvPr id="228" name="Line 228"/>
            <p:cNvSpPr/>
            <p:nvPr/>
          </p:nvSpPr>
          <p:spPr>
            <a:xfrm>
              <a:off x="10172700" y="4038600"/>
              <a:ext cx="685800" cy="9525"/>
            </a:xfrm>
            <a:custGeom>
              <a:avLst/>
              <a:gdLst/>
              <a:ahLst/>
              <a:cxnLst/>
              <a:rect l="l" t="t" r="r" b="b"/>
              <a:pathLst>
                <a:path w="685800" h="9525">
                  <a:moveTo>
                    <a:pt x="0" y="0"/>
                  </a:moveTo>
                  <a:lnTo>
                    <a:pt x="685800" y="0"/>
                  </a:lnTo>
                </a:path>
              </a:pathLst>
            </a:custGeom>
            <a:noFill/>
            <a:ln w="14288">
              <a:solidFill>
                <a:srgbClr val="D6A59C"/>
              </a:solidFill>
              <a:custDash>
                <a:ds d="266667" sp="200000"/>
              </a:custDash>
            </a:ln>
          </p:spPr>
        </p:sp>
      </p:grpSp>
      <p:grpSp>
        <p:nvGrpSpPr>
          <p:cNvPr id="274" name="compliance"/>
          <p:cNvGrpSpPr/>
          <p:nvPr/>
        </p:nvGrpSpPr>
        <p:grpSpPr>
          <a:xfrm>
            <a:off x="342900" y="5486400"/>
            <a:ext cx="11487150" cy="1123950"/>
            <a:chOff x="342900" y="5486400"/>
            <a:chExt cx="11487150" cy="1123950"/>
          </a:xfrm>
        </p:grpSpPr>
        <p:sp>
          <p:nvSpPr>
            <p:cNvPr id="230" name="Rectangle 230"/>
            <p:cNvSpPr/>
            <p:nvPr/>
          </p:nvSpPr>
          <p:spPr>
            <a:xfrm>
              <a:off x="342900" y="5486400"/>
              <a:ext cx="1905000" cy="1123950"/>
            </a:xfrm>
            <a:prstGeom prst="roundRect">
              <a:avLst>
                <a:gd name="adj" fmla="val 6780"/>
              </a:avLst>
            </a:prstGeom>
            <a:solidFill>
              <a:srgbClr val="5D190B"/>
            </a:solidFill>
            <a:ln>
              <a:noFill/>
            </a:ln>
          </p:spPr>
        </p:sp>
        <p:grpSp>
          <p:nvGrpSpPr>
            <p:cNvPr id="233" name="Group 233"/>
            <p:cNvGrpSpPr/>
            <p:nvPr/>
          </p:nvGrpSpPr>
          <p:grpSpPr>
            <a:xfrm>
              <a:off x="585910" y="5703094"/>
              <a:ext cx="170506" cy="157162"/>
              <a:chOff x="585910" y="5703094"/>
              <a:chExt cx="170506" cy="157162"/>
            </a:xfrm>
          </p:grpSpPr>
          <p:sp>
            <p:nvSpPr>
              <p:cNvPr id="231" name="Freeform 231"/>
              <p:cNvSpPr/>
              <p:nvPr/>
            </p:nvSpPr>
            <p:spPr>
              <a:xfrm>
                <a:off x="585910" y="570309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C4887C"/>
                </a:solidFill>
              </a:ln>
            </p:spPr>
          </p:sp>
          <p:sp>
            <p:nvSpPr>
              <p:cNvPr id="232" name="Freeform 232"/>
              <p:cNvSpPr/>
              <p:nvPr/>
            </p:nvSpPr>
            <p:spPr>
              <a:xfrm>
                <a:off x="702469" y="5825331"/>
                <a:ext cx="52388" cy="34925"/>
              </a:xfrm>
              <a:custGeom>
                <a:avLst/>
                <a:gdLst/>
                <a:ahLst/>
                <a:cxnLst/>
                <a:rect l="l" t="t" r="r" b="b"/>
                <a:pathLst>
                  <a:path w="52388" h="34925">
                    <a:moveTo>
                      <a:pt x="0" y="17463"/>
                    </a:moveTo>
                    <a:lnTo>
                      <a:pt x="17463" y="34925"/>
                    </a:lnTo>
                    <a:lnTo>
                      <a:pt x="52388" y="0"/>
                    </a:lnTo>
                  </a:path>
                </a:pathLst>
              </a:custGeom>
              <a:noFill/>
              <a:ln w="17463">
                <a:solidFill>
                  <a:srgbClr val="C4887C"/>
                </a:solidFill>
              </a:ln>
            </p:spPr>
          </p:sp>
        </p:grpSp>
        <p:sp>
          <p:nvSpPr>
            <p:cNvPr id="234" name="TextBox 234"/>
            <p:cNvSpPr txBox="1"/>
            <p:nvPr/>
          </p:nvSpPr>
          <p:spPr>
            <a:xfrm>
              <a:off x="911009" y="572809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合规风控护栏</a:t>
              </a:r>
            </a:p>
          </p:txBody>
        </p:sp>
        <p:sp>
          <p:nvSpPr>
            <p:cNvPr id="235" name="TextBox 235"/>
            <p:cNvSpPr txBox="1"/>
            <p:nvPr/>
          </p:nvSpPr>
          <p:spPr>
            <a:xfrm>
              <a:off x="859854" y="5989082"/>
              <a:ext cx="871093" cy="126206"/>
            </a:xfrm>
            <a:prstGeom prst="rect">
              <a:avLst/>
            </a:prstGeom>
            <a:noFill/>
            <a:ln>
              <a:noFill/>
            </a:ln>
          </p:spPr>
          <p:txBody>
            <a:bodyPr wrap="none" lIns="0" tIns="0" rIns="0" bIns="0" anchor="t" anchorCtr="0">
              <a:spAutoFit/>
            </a:bodyPr>
            <a:lstStyle/>
            <a:p>
              <a:pPr algn="ctr"/>
              <a:r>
                <a:rPr lang="zh-CN" sz="640" dirty="0">
                  <a:solidFill>
                    <a:srgbClr val="BFE4DD"/>
                  </a:solidFill>
                  <a:latin typeface="+mn-lt"/>
                  <a:ea typeface="+mn-ea"/>
                  <a:cs typeface="+mn-cs"/>
                </a:rPr>
                <a:t>在合规前提下开展活动</a:t>
              </a:r>
            </a:p>
          </p:txBody>
        </p:sp>
        <p:sp>
          <p:nvSpPr>
            <p:cNvPr id="236" name="TextBox 236"/>
            <p:cNvSpPr txBox="1"/>
            <p:nvPr/>
          </p:nvSpPr>
          <p:spPr>
            <a:xfrm>
              <a:off x="816775" y="6122432"/>
              <a:ext cx="957250" cy="126206"/>
            </a:xfrm>
            <a:prstGeom prst="rect">
              <a:avLst/>
            </a:prstGeom>
            <a:noFill/>
            <a:ln>
              <a:noFill/>
            </a:ln>
          </p:spPr>
          <p:txBody>
            <a:bodyPr wrap="none" lIns="0" tIns="0" rIns="0" bIns="0" anchor="t" anchorCtr="0">
              <a:spAutoFit/>
            </a:bodyPr>
            <a:lstStyle/>
            <a:p>
              <a:pPr algn="ctr"/>
              <a:r>
                <a:rPr lang="zh-CN" sz="640" dirty="0">
                  <a:solidFill>
                    <a:srgbClr val="BFE4DD"/>
                  </a:solidFill>
                  <a:latin typeface="+mn-lt"/>
                  <a:ea typeface="+mn-ea"/>
                  <a:cs typeface="+mn-cs"/>
                </a:rPr>
                <a:t>保障客户权益与数据安全</a:t>
              </a:r>
            </a:p>
          </p:txBody>
        </p:sp>
        <p:sp>
          <p:nvSpPr>
            <p:cNvPr id="237" name="Rectangle 237"/>
            <p:cNvSpPr/>
            <p:nvPr/>
          </p:nvSpPr>
          <p:spPr>
            <a:xfrm>
              <a:off x="2343150" y="5486400"/>
              <a:ext cx="1809750" cy="1123950"/>
            </a:xfrm>
            <a:prstGeom prst="roundRect">
              <a:avLst>
                <a:gd name="adj" fmla="val 6780"/>
              </a:avLst>
            </a:prstGeom>
            <a:solidFill>
              <a:srgbClr val="F0FAF8"/>
            </a:solidFill>
            <a:ln w="9525">
              <a:solidFill>
                <a:srgbClr val="C2E0DA"/>
              </a:solidFill>
            </a:ln>
          </p:spPr>
        </p:sp>
        <p:grpSp>
          <p:nvGrpSpPr>
            <p:cNvPr id="241" name="Group 241"/>
            <p:cNvGrpSpPr/>
            <p:nvPr/>
          </p:nvGrpSpPr>
          <p:grpSpPr>
            <a:xfrm>
              <a:off x="2493169" y="5622131"/>
              <a:ext cx="100012" cy="128588"/>
              <a:chOff x="2493169" y="5622131"/>
              <a:chExt cx="100012" cy="128588"/>
            </a:xfrm>
          </p:grpSpPr>
          <p:sp>
            <p:nvSpPr>
              <p:cNvPr id="238" name="Freeform 238"/>
              <p:cNvSpPr/>
              <p:nvPr/>
            </p:nvSpPr>
            <p:spPr>
              <a:xfrm>
                <a:off x="2493169" y="5679281"/>
                <a:ext cx="100012" cy="71438"/>
              </a:xfrm>
              <a:custGeom>
                <a:avLst/>
                <a:gdLst/>
                <a:ahLst/>
                <a:cxnLst/>
                <a:rect l="l" t="t" r="r" b="b"/>
                <a:pathLst>
                  <a:path w="100012" h="71438">
                    <a:moveTo>
                      <a:pt x="0" y="14288"/>
                    </a:moveTo>
                    <a:cubicBezTo>
                      <a:pt x="0" y="6397"/>
                      <a:pt x="6397" y="0"/>
                      <a:pt x="14288" y="0"/>
                    </a:cubicBezTo>
                    <a:lnTo>
                      <a:pt x="85725" y="0"/>
                    </a:lnTo>
                    <a:cubicBezTo>
                      <a:pt x="93616" y="0"/>
                      <a:pt x="100012" y="6397"/>
                      <a:pt x="100012" y="14288"/>
                    </a:cubicBezTo>
                    <a:lnTo>
                      <a:pt x="100012" y="57150"/>
                    </a:lnTo>
                    <a:cubicBezTo>
                      <a:pt x="100012" y="65041"/>
                      <a:pt x="93616" y="71438"/>
                      <a:pt x="85725" y="71438"/>
                    </a:cubicBezTo>
                    <a:lnTo>
                      <a:pt x="14288" y="71438"/>
                    </a:lnTo>
                    <a:cubicBezTo>
                      <a:pt x="6397" y="71438"/>
                      <a:pt x="0" y="65041"/>
                      <a:pt x="0" y="57150"/>
                    </a:cubicBezTo>
                    <a:lnTo>
                      <a:pt x="0" y="14288"/>
                    </a:lnTo>
                  </a:path>
                </a:pathLst>
              </a:custGeom>
              <a:noFill/>
              <a:ln w="14288">
                <a:solidFill>
                  <a:srgbClr val="76200F"/>
                </a:solidFill>
              </a:ln>
            </p:spPr>
          </p:sp>
          <p:sp>
            <p:nvSpPr>
              <p:cNvPr id="239" name="Freeform 239"/>
              <p:cNvSpPr/>
              <p:nvPr/>
            </p:nvSpPr>
            <p:spPr>
              <a:xfrm>
                <a:off x="2536031" y="57078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6200F"/>
                </a:solidFill>
              </a:ln>
            </p:spPr>
          </p:sp>
          <p:sp>
            <p:nvSpPr>
              <p:cNvPr id="240" name="Freeform 240"/>
              <p:cNvSpPr/>
              <p:nvPr/>
            </p:nvSpPr>
            <p:spPr>
              <a:xfrm>
                <a:off x="2514600" y="5622131"/>
                <a:ext cx="57150" cy="57150"/>
              </a:xfrm>
              <a:custGeom>
                <a:avLst/>
                <a:gdLst/>
                <a:ahLst/>
                <a:cxnLst/>
                <a:rect l="l" t="t" r="r" b="b"/>
                <a:pathLst>
                  <a:path w="57150" h="57150">
                    <a:moveTo>
                      <a:pt x="0" y="57150"/>
                    </a:moveTo>
                    <a:lnTo>
                      <a:pt x="0" y="28575"/>
                    </a:lnTo>
                    <a:cubicBezTo>
                      <a:pt x="0" y="12793"/>
                      <a:pt x="12793" y="0"/>
                      <a:pt x="28575" y="0"/>
                    </a:cubicBezTo>
                    <a:cubicBezTo>
                      <a:pt x="44357" y="0"/>
                      <a:pt x="57150" y="12793"/>
                      <a:pt x="57150" y="28575"/>
                    </a:cubicBezTo>
                    <a:lnTo>
                      <a:pt x="57150" y="57150"/>
                    </a:lnTo>
                  </a:path>
                </a:pathLst>
              </a:custGeom>
              <a:noFill/>
              <a:ln w="14288">
                <a:solidFill>
                  <a:srgbClr val="76200F"/>
                </a:solidFill>
              </a:ln>
            </p:spPr>
          </p:sp>
        </p:grpSp>
        <p:sp>
          <p:nvSpPr>
            <p:cNvPr id="242" name="TextBox 242"/>
            <p:cNvSpPr txBox="1"/>
            <p:nvPr/>
          </p:nvSpPr>
          <p:spPr>
            <a:xfrm>
              <a:off x="2700338" y="5644991"/>
              <a:ext cx="451079"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明示授权</a:t>
              </a:r>
            </a:p>
          </p:txBody>
        </p:sp>
        <p:sp>
          <p:nvSpPr>
            <p:cNvPr id="243" name="TextBox 243"/>
            <p:cNvSpPr txBox="1"/>
            <p:nvPr/>
          </p:nvSpPr>
          <p:spPr>
            <a:xfrm>
              <a:off x="2452688" y="5874782"/>
              <a:ext cx="98488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14340"/>
                  </a:solidFill>
                  <a:latin typeface="+mn-lt"/>
                  <a:ea typeface="+mn-ea"/>
                  <a:cs typeface="+mn-cs"/>
                </a:rPr>
                <a:t>活动规则清晰告知数据用途</a:t>
              </a:r>
              <a:br/>
              <a:r>
                <a:rPr lang="zh-CN" sz="640" dirty="0">
                  <a:solidFill>
                    <a:srgbClr val="514340"/>
                  </a:solidFill>
                  <a:latin typeface="+mn-lt"/>
                  <a:ea typeface="+mn-ea"/>
                  <a:cs typeface="+mn-cs"/>
                </a:rPr>
                <a:t>获得客户同意</a:t>
              </a:r>
            </a:p>
          </p:txBody>
        </p:sp>
        <p:sp>
          <p:nvSpPr>
            <p:cNvPr id="244" name="Rectangle 244"/>
            <p:cNvSpPr/>
            <p:nvPr/>
          </p:nvSpPr>
          <p:spPr>
            <a:xfrm>
              <a:off x="4248150" y="5486400"/>
              <a:ext cx="1809750" cy="1123950"/>
            </a:xfrm>
            <a:prstGeom prst="roundRect">
              <a:avLst>
                <a:gd name="adj" fmla="val 6780"/>
              </a:avLst>
            </a:prstGeom>
            <a:solidFill>
              <a:srgbClr val="F0FAF8"/>
            </a:solidFill>
            <a:ln w="9525">
              <a:solidFill>
                <a:srgbClr val="C2E0DA"/>
              </a:solidFill>
            </a:ln>
          </p:spPr>
        </p:sp>
        <p:grpSp>
          <p:nvGrpSpPr>
            <p:cNvPr id="250" name="Group 250"/>
            <p:cNvGrpSpPr/>
            <p:nvPr/>
          </p:nvGrpSpPr>
          <p:grpSpPr>
            <a:xfrm>
              <a:off x="4398169" y="5622131"/>
              <a:ext cx="100012" cy="128588"/>
              <a:chOff x="4398169" y="5622131"/>
              <a:chExt cx="100012" cy="128588"/>
            </a:xfrm>
          </p:grpSpPr>
          <p:sp>
            <p:nvSpPr>
              <p:cNvPr id="245" name="Freeform 245"/>
              <p:cNvSpPr/>
              <p:nvPr/>
            </p:nvSpPr>
            <p:spPr>
              <a:xfrm>
                <a:off x="4462462" y="562213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76200F"/>
                </a:solidFill>
              </a:ln>
            </p:spPr>
          </p:sp>
          <p:sp>
            <p:nvSpPr>
              <p:cNvPr id="246" name="Freeform 246"/>
              <p:cNvSpPr/>
              <p:nvPr/>
            </p:nvSpPr>
            <p:spPr>
              <a:xfrm>
                <a:off x="4398169" y="562213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76200F"/>
                </a:solidFill>
              </a:ln>
            </p:spPr>
          </p:sp>
          <p:sp>
            <p:nvSpPr>
              <p:cNvPr id="247" name="Freeform 247"/>
              <p:cNvSpPr/>
              <p:nvPr/>
            </p:nvSpPr>
            <p:spPr>
              <a:xfrm>
                <a:off x="4426744" y="5664994"/>
                <a:ext cx="9525" cy="9525"/>
              </a:xfrm>
              <a:custGeom>
                <a:avLst/>
                <a:gdLst/>
                <a:ahLst/>
                <a:cxnLst/>
                <a:rect l="l" t="t" r="r" b="b"/>
                <a:pathLst>
                  <a:path w="9525" h="9525">
                    <a:moveTo>
                      <a:pt x="0" y="0"/>
                    </a:moveTo>
                    <a:lnTo>
                      <a:pt x="7144" y="0"/>
                    </a:lnTo>
                  </a:path>
                </a:pathLst>
              </a:custGeom>
              <a:noFill/>
              <a:ln w="14288">
                <a:solidFill>
                  <a:srgbClr val="76200F"/>
                </a:solidFill>
              </a:ln>
            </p:spPr>
          </p:sp>
          <p:sp>
            <p:nvSpPr>
              <p:cNvPr id="248" name="Freeform 248"/>
              <p:cNvSpPr/>
              <p:nvPr/>
            </p:nvSpPr>
            <p:spPr>
              <a:xfrm>
                <a:off x="4426744" y="5693569"/>
                <a:ext cx="42862" cy="9525"/>
              </a:xfrm>
              <a:custGeom>
                <a:avLst/>
                <a:gdLst/>
                <a:ahLst/>
                <a:cxnLst/>
                <a:rect l="l" t="t" r="r" b="b"/>
                <a:pathLst>
                  <a:path w="42862" h="9525">
                    <a:moveTo>
                      <a:pt x="0" y="0"/>
                    </a:moveTo>
                    <a:lnTo>
                      <a:pt x="42862" y="0"/>
                    </a:lnTo>
                  </a:path>
                </a:pathLst>
              </a:custGeom>
              <a:noFill/>
              <a:ln w="14288">
                <a:solidFill>
                  <a:srgbClr val="76200F"/>
                </a:solidFill>
              </a:ln>
            </p:spPr>
          </p:sp>
          <p:sp>
            <p:nvSpPr>
              <p:cNvPr id="249" name="Freeform 249"/>
              <p:cNvSpPr/>
              <p:nvPr/>
            </p:nvSpPr>
            <p:spPr>
              <a:xfrm>
                <a:off x="4426744" y="5722144"/>
                <a:ext cx="42862" cy="9525"/>
              </a:xfrm>
              <a:custGeom>
                <a:avLst/>
                <a:gdLst/>
                <a:ahLst/>
                <a:cxnLst/>
                <a:rect l="l" t="t" r="r" b="b"/>
                <a:pathLst>
                  <a:path w="42862" h="9525">
                    <a:moveTo>
                      <a:pt x="0" y="0"/>
                    </a:moveTo>
                    <a:lnTo>
                      <a:pt x="42862" y="0"/>
                    </a:lnTo>
                  </a:path>
                </a:pathLst>
              </a:custGeom>
              <a:noFill/>
              <a:ln w="14288">
                <a:solidFill>
                  <a:srgbClr val="76200F"/>
                </a:solidFill>
              </a:ln>
            </p:spPr>
          </p:sp>
        </p:grpSp>
        <p:sp>
          <p:nvSpPr>
            <p:cNvPr id="251" name="TextBox 251"/>
            <p:cNvSpPr txBox="1"/>
            <p:nvPr/>
          </p:nvSpPr>
          <p:spPr>
            <a:xfrm>
              <a:off x="4605338" y="5644991"/>
              <a:ext cx="451079"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奖品规则</a:t>
              </a:r>
            </a:p>
          </p:txBody>
        </p:sp>
        <p:sp>
          <p:nvSpPr>
            <p:cNvPr id="252" name="TextBox 252"/>
            <p:cNvSpPr txBox="1"/>
            <p:nvPr/>
          </p:nvSpPr>
          <p:spPr>
            <a:xfrm>
              <a:off x="4357688" y="5874782"/>
              <a:ext cx="98488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14340"/>
                  </a:solidFill>
                  <a:latin typeface="+mn-lt"/>
                  <a:ea typeface="+mn-ea"/>
                  <a:cs typeface="+mn-cs"/>
                </a:rPr>
                <a:t>清晰公示参与条件、奖品内</a:t>
              </a:r>
              <a:br/>
              <a:r>
                <a:rPr lang="zh-CN" sz="640" dirty="0">
                  <a:solidFill>
                    <a:srgbClr val="514340"/>
                  </a:solidFill>
                  <a:latin typeface="+mn-lt"/>
                  <a:ea typeface="+mn-ea"/>
                  <a:cs typeface="+mn-cs"/>
                </a:rPr>
                <a:t>容、发放方式及效期</a:t>
              </a:r>
            </a:p>
          </p:txBody>
        </p:sp>
        <p:sp>
          <p:nvSpPr>
            <p:cNvPr id="253" name="Rectangle 253"/>
            <p:cNvSpPr/>
            <p:nvPr/>
          </p:nvSpPr>
          <p:spPr>
            <a:xfrm>
              <a:off x="6153150" y="5486400"/>
              <a:ext cx="1809750" cy="1123950"/>
            </a:xfrm>
            <a:prstGeom prst="roundRect">
              <a:avLst>
                <a:gd name="adj" fmla="val 6780"/>
              </a:avLst>
            </a:prstGeom>
            <a:solidFill>
              <a:srgbClr val="F0FAF8"/>
            </a:solidFill>
            <a:ln w="9525">
              <a:solidFill>
                <a:srgbClr val="C2E0DA"/>
              </a:solidFill>
            </a:ln>
          </p:spPr>
        </p:sp>
        <p:grpSp>
          <p:nvGrpSpPr>
            <p:cNvPr id="259" name="Group 259"/>
            <p:cNvGrpSpPr/>
            <p:nvPr/>
          </p:nvGrpSpPr>
          <p:grpSpPr>
            <a:xfrm>
              <a:off x="6288881" y="5622131"/>
              <a:ext cx="128587" cy="130969"/>
              <a:chOff x="6288881" y="5622131"/>
              <a:chExt cx="128587" cy="130969"/>
            </a:xfrm>
          </p:grpSpPr>
          <p:sp>
            <p:nvSpPr>
              <p:cNvPr id="254" name="Freeform 254"/>
              <p:cNvSpPr/>
              <p:nvPr/>
            </p:nvSpPr>
            <p:spPr>
              <a:xfrm>
                <a:off x="6317456" y="5743575"/>
                <a:ext cx="71438" cy="9525"/>
              </a:xfrm>
              <a:custGeom>
                <a:avLst/>
                <a:gdLst/>
                <a:ahLst/>
                <a:cxnLst/>
                <a:rect l="l" t="t" r="r" b="b"/>
                <a:pathLst>
                  <a:path w="71438" h="9525">
                    <a:moveTo>
                      <a:pt x="0" y="0"/>
                    </a:moveTo>
                    <a:lnTo>
                      <a:pt x="71438" y="0"/>
                    </a:lnTo>
                  </a:path>
                </a:pathLst>
              </a:custGeom>
              <a:noFill/>
              <a:ln w="14288">
                <a:solidFill>
                  <a:srgbClr val="76200F"/>
                </a:solidFill>
              </a:ln>
            </p:spPr>
          </p:sp>
          <p:sp>
            <p:nvSpPr>
              <p:cNvPr id="255" name="Freeform 255"/>
              <p:cNvSpPr/>
              <p:nvPr/>
            </p:nvSpPr>
            <p:spPr>
              <a:xfrm>
                <a:off x="6310312" y="5636419"/>
                <a:ext cx="85725" cy="9525"/>
              </a:xfrm>
              <a:custGeom>
                <a:avLst/>
                <a:gdLst/>
                <a:ahLst/>
                <a:cxnLst/>
                <a:rect l="l" t="t" r="r" b="b"/>
                <a:pathLst>
                  <a:path w="85725" h="9525">
                    <a:moveTo>
                      <a:pt x="0" y="7144"/>
                    </a:moveTo>
                    <a:lnTo>
                      <a:pt x="42862" y="0"/>
                    </a:lnTo>
                    <a:lnTo>
                      <a:pt x="85725" y="7144"/>
                    </a:lnTo>
                  </a:path>
                </a:pathLst>
              </a:custGeom>
              <a:noFill/>
              <a:ln w="14288">
                <a:solidFill>
                  <a:srgbClr val="76200F"/>
                </a:solidFill>
              </a:ln>
            </p:spPr>
          </p:sp>
          <p:sp>
            <p:nvSpPr>
              <p:cNvPr id="256" name="Freeform 256"/>
              <p:cNvSpPr/>
              <p:nvPr/>
            </p:nvSpPr>
            <p:spPr>
              <a:xfrm>
                <a:off x="6353175" y="5622131"/>
                <a:ext cx="9525" cy="121444"/>
              </a:xfrm>
              <a:custGeom>
                <a:avLst/>
                <a:gdLst/>
                <a:ahLst/>
                <a:cxnLst/>
                <a:rect l="l" t="t" r="r" b="b"/>
                <a:pathLst>
                  <a:path w="9525" h="121444">
                    <a:moveTo>
                      <a:pt x="0" y="0"/>
                    </a:moveTo>
                    <a:lnTo>
                      <a:pt x="0" y="121444"/>
                    </a:lnTo>
                  </a:path>
                </a:pathLst>
              </a:custGeom>
              <a:noFill/>
              <a:ln w="14288">
                <a:solidFill>
                  <a:srgbClr val="76200F"/>
                </a:solidFill>
              </a:ln>
            </p:spPr>
          </p:sp>
          <p:sp>
            <p:nvSpPr>
              <p:cNvPr id="257" name="Freeform 257"/>
              <p:cNvSpPr/>
              <p:nvPr/>
            </p:nvSpPr>
            <p:spPr>
              <a:xfrm>
                <a:off x="6288881" y="5643562"/>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76200F"/>
                </a:solidFill>
              </a:ln>
            </p:spPr>
          </p:sp>
          <p:sp>
            <p:nvSpPr>
              <p:cNvPr id="258" name="Freeform 258"/>
              <p:cNvSpPr/>
              <p:nvPr/>
            </p:nvSpPr>
            <p:spPr>
              <a:xfrm>
                <a:off x="6374606" y="5643562"/>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76200F"/>
                </a:solidFill>
              </a:ln>
            </p:spPr>
          </p:sp>
        </p:grpSp>
        <p:sp>
          <p:nvSpPr>
            <p:cNvPr id="260" name="TextBox 260"/>
            <p:cNvSpPr txBox="1"/>
            <p:nvPr/>
          </p:nvSpPr>
          <p:spPr>
            <a:xfrm>
              <a:off x="6510338" y="5644991"/>
              <a:ext cx="340690"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适当性</a:t>
              </a:r>
            </a:p>
          </p:txBody>
        </p:sp>
        <p:sp>
          <p:nvSpPr>
            <p:cNvPr id="261" name="TextBox 261"/>
            <p:cNvSpPr txBox="1"/>
            <p:nvPr/>
          </p:nvSpPr>
          <p:spPr>
            <a:xfrm>
              <a:off x="6262688" y="5874782"/>
              <a:ext cx="90360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14340"/>
                  </a:solidFill>
                  <a:latin typeface="+mn-lt"/>
                  <a:ea typeface="+mn-ea"/>
                  <a:cs typeface="+mn-cs"/>
                </a:rPr>
                <a:t>测评与产品推荐遵循适当</a:t>
              </a:r>
              <a:br/>
              <a:r>
                <a:rPr lang="zh-CN" sz="640" dirty="0">
                  <a:solidFill>
                    <a:srgbClr val="514340"/>
                  </a:solidFill>
                  <a:latin typeface="+mn-lt"/>
                  <a:ea typeface="+mn-ea"/>
                  <a:cs typeface="+mn-cs"/>
                </a:rPr>
                <a:t>性原则，不进行误导营销</a:t>
              </a:r>
            </a:p>
          </p:txBody>
        </p:sp>
        <p:sp>
          <p:nvSpPr>
            <p:cNvPr id="262" name="Rectangle 262"/>
            <p:cNvSpPr/>
            <p:nvPr/>
          </p:nvSpPr>
          <p:spPr>
            <a:xfrm>
              <a:off x="8058150" y="5486400"/>
              <a:ext cx="1809750" cy="1123950"/>
            </a:xfrm>
            <a:prstGeom prst="roundRect">
              <a:avLst>
                <a:gd name="adj" fmla="val 6780"/>
              </a:avLst>
            </a:prstGeom>
            <a:solidFill>
              <a:srgbClr val="F0FAF8"/>
            </a:solidFill>
            <a:ln w="9525">
              <a:solidFill>
                <a:srgbClr val="C2E0DA"/>
              </a:solidFill>
            </a:ln>
          </p:spPr>
        </p:sp>
        <p:grpSp>
          <p:nvGrpSpPr>
            <p:cNvPr id="265" name="Group 265"/>
            <p:cNvGrpSpPr/>
            <p:nvPr/>
          </p:nvGrpSpPr>
          <p:grpSpPr>
            <a:xfrm>
              <a:off x="8184240" y="5622131"/>
              <a:ext cx="139505" cy="128588"/>
              <a:chOff x="8184240" y="5622131"/>
              <a:chExt cx="139505" cy="128588"/>
            </a:xfrm>
          </p:grpSpPr>
          <p:sp>
            <p:nvSpPr>
              <p:cNvPr id="263" name="Freeform 263"/>
              <p:cNvSpPr/>
              <p:nvPr/>
            </p:nvSpPr>
            <p:spPr>
              <a:xfrm>
                <a:off x="8184240" y="562213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76200F"/>
                </a:solidFill>
              </a:ln>
            </p:spPr>
          </p:sp>
          <p:sp>
            <p:nvSpPr>
              <p:cNvPr id="264" name="Freeform 264"/>
              <p:cNvSpPr/>
              <p:nvPr/>
            </p:nvSpPr>
            <p:spPr>
              <a:xfrm>
                <a:off x="8279606" y="5722144"/>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sp>
          <p:nvSpPr>
            <p:cNvPr id="266" name="TextBox 266"/>
            <p:cNvSpPr txBox="1"/>
            <p:nvPr/>
          </p:nvSpPr>
          <p:spPr>
            <a:xfrm>
              <a:off x="8415338" y="5644991"/>
              <a:ext cx="340690"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反欺诈</a:t>
              </a:r>
            </a:p>
          </p:txBody>
        </p:sp>
        <p:sp>
          <p:nvSpPr>
            <p:cNvPr id="267" name="TextBox 267"/>
            <p:cNvSpPr txBox="1"/>
            <p:nvPr/>
          </p:nvSpPr>
          <p:spPr>
            <a:xfrm>
              <a:off x="8167688" y="5874782"/>
              <a:ext cx="106616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14340"/>
                  </a:solidFill>
                  <a:latin typeface="+mn-lt"/>
                  <a:ea typeface="+mn-ea"/>
                  <a:cs typeface="+mn-cs"/>
                </a:rPr>
                <a:t>建立风控规则、识别异常</a:t>
              </a:r>
              <a:br/>
              <a:r>
                <a:rPr lang="zh-CN" sz="640" dirty="0">
                  <a:solidFill>
                    <a:srgbClr val="514340"/>
                  </a:solidFill>
                  <a:latin typeface="+mn-lt"/>
                  <a:ea typeface="+mn-ea"/>
                  <a:cs typeface="+mn-cs"/>
                </a:rPr>
                <a:t>参与，防机器刷单、恶意套利</a:t>
              </a:r>
            </a:p>
          </p:txBody>
        </p:sp>
        <p:sp>
          <p:nvSpPr>
            <p:cNvPr id="268" name="Rectangle 268"/>
            <p:cNvSpPr/>
            <p:nvPr/>
          </p:nvSpPr>
          <p:spPr>
            <a:xfrm>
              <a:off x="9963150" y="5486400"/>
              <a:ext cx="1866900" cy="1123950"/>
            </a:xfrm>
            <a:prstGeom prst="roundRect">
              <a:avLst>
                <a:gd name="adj" fmla="val 6780"/>
              </a:avLst>
            </a:prstGeom>
            <a:solidFill>
              <a:srgbClr val="F0FAF8"/>
            </a:solidFill>
            <a:ln w="9525">
              <a:solidFill>
                <a:srgbClr val="C2E0DA"/>
              </a:solidFill>
            </a:ln>
          </p:spPr>
        </p:sp>
        <p:grpSp>
          <p:nvGrpSpPr>
            <p:cNvPr id="271" name="Group 271"/>
            <p:cNvGrpSpPr/>
            <p:nvPr/>
          </p:nvGrpSpPr>
          <p:grpSpPr>
            <a:xfrm>
              <a:off x="10098881" y="5643562"/>
              <a:ext cx="128588" cy="85725"/>
              <a:chOff x="10098881" y="5643562"/>
              <a:chExt cx="128588" cy="85725"/>
            </a:xfrm>
          </p:grpSpPr>
          <p:sp>
            <p:nvSpPr>
              <p:cNvPr id="269" name="Freeform 269"/>
              <p:cNvSpPr/>
              <p:nvPr/>
            </p:nvSpPr>
            <p:spPr>
              <a:xfrm>
                <a:off x="10148888" y="5672138"/>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270" name="Freeform 270"/>
              <p:cNvSpPr/>
              <p:nvPr/>
            </p:nvSpPr>
            <p:spPr>
              <a:xfrm>
                <a:off x="10098881" y="5643562"/>
                <a:ext cx="128588" cy="85725"/>
              </a:xfrm>
              <a:custGeom>
                <a:avLst/>
                <a:gdLst/>
                <a:ahLst/>
                <a:cxnLst/>
                <a:rect l="l" t="t" r="r" b="b"/>
                <a:pathLst>
                  <a:path w="128588" h="85725">
                    <a:moveTo>
                      <a:pt x="128588" y="42862"/>
                    </a:moveTo>
                    <a:cubicBezTo>
                      <a:pt x="111443" y="71438"/>
                      <a:pt x="90011" y="85725"/>
                      <a:pt x="64294" y="85725"/>
                    </a:cubicBezTo>
                    <a:cubicBezTo>
                      <a:pt x="38576" y="85725"/>
                      <a:pt x="17145" y="71438"/>
                      <a:pt x="0" y="42862"/>
                    </a:cubicBezTo>
                    <a:cubicBezTo>
                      <a:pt x="17145" y="14288"/>
                      <a:pt x="38576" y="0"/>
                      <a:pt x="64294" y="0"/>
                    </a:cubicBezTo>
                    <a:cubicBezTo>
                      <a:pt x="90011" y="0"/>
                      <a:pt x="111443" y="14288"/>
                      <a:pt x="128588" y="42862"/>
                    </a:cubicBezTo>
                  </a:path>
                </a:pathLst>
              </a:custGeom>
              <a:noFill/>
              <a:ln w="14288">
                <a:solidFill>
                  <a:srgbClr val="76200F"/>
                </a:solidFill>
              </a:ln>
            </p:spPr>
          </p:sp>
        </p:grpSp>
        <p:sp>
          <p:nvSpPr>
            <p:cNvPr id="272" name="TextBox 272"/>
            <p:cNvSpPr txBox="1"/>
            <p:nvPr/>
          </p:nvSpPr>
          <p:spPr>
            <a:xfrm>
              <a:off x="10320338" y="5644991"/>
              <a:ext cx="782244" cy="161925"/>
            </a:xfrm>
            <a:prstGeom prst="rect">
              <a:avLst/>
            </a:prstGeom>
            <a:noFill/>
            <a:ln>
              <a:noFill/>
            </a:ln>
          </p:spPr>
          <p:txBody>
            <a:bodyPr wrap="none" lIns="0" tIns="0" rIns="0" bIns="0" anchor="t" anchorCtr="0">
              <a:spAutoFit/>
            </a:bodyPr>
            <a:lstStyle/>
            <a:p>
              <a:pPr algn="l"/>
              <a:r>
                <a:rPr lang="zh-CN" sz="820" b="1" dirty="0">
                  <a:solidFill>
                    <a:srgbClr val="331712"/>
                  </a:solidFill>
                  <a:latin typeface="+mn-lt"/>
                  <a:ea typeface="+mn-ea"/>
                  <a:cs typeface="+mn-cs"/>
                </a:rPr>
                <a:t>个人信息最小化</a:t>
              </a:r>
            </a:p>
          </p:txBody>
        </p:sp>
        <p:sp>
          <p:nvSpPr>
            <p:cNvPr id="273" name="TextBox 273"/>
            <p:cNvSpPr txBox="1"/>
            <p:nvPr/>
          </p:nvSpPr>
          <p:spPr>
            <a:xfrm>
              <a:off x="10072688" y="5874782"/>
              <a:ext cx="98488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14340"/>
                  </a:solidFill>
                  <a:latin typeface="+mn-lt"/>
                  <a:ea typeface="+mn-ea"/>
                  <a:cs typeface="+mn-cs"/>
                </a:rPr>
                <a:t>仅采集必要数据、明确使</a:t>
              </a:r>
              <a:br/>
              <a:r>
                <a:rPr lang="zh-CN" sz="640" dirty="0">
                  <a:solidFill>
                    <a:srgbClr val="514340"/>
                  </a:solidFill>
                  <a:latin typeface="+mn-lt"/>
                  <a:ea typeface="+mn-ea"/>
                  <a:cs typeface="+mn-cs"/>
                </a:rPr>
                <a:t>用范围，按规定留存与删除</a:t>
              </a:r>
            </a:p>
          </p:txBody>
        </p:sp>
      </p:gr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10​</a:t>
              </a:r>
            </a:p>
          </p:txBody>
        </p:sp>
        <p:sp>
          <p:nvSpPr>
            <p:cNvPr id="4" name="TextBox 4"/>
            <p:cNvSpPr txBox="1"/>
            <p:nvPr/>
          </p:nvSpPr>
          <p:spPr>
            <a:xfrm>
              <a:off x="904494" y="170498"/>
              <a:ext cx="5532501"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线上承接</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二维码不是终点，而是客户旅程入口</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10​</a:t>
              </a:r>
            </a:p>
          </p:txBody>
        </p:sp>
      </p:grpSp>
      <p:grpSp>
        <p:nvGrpSpPr>
          <p:cNvPr id="39" name="offline-touchpoints"/>
          <p:cNvGrpSpPr/>
          <p:nvPr/>
        </p:nvGrpSpPr>
        <p:grpSpPr>
          <a:xfrm>
            <a:off x="342900" y="723900"/>
            <a:ext cx="1809750" cy="1485900"/>
            <a:chOff x="342900" y="723900"/>
            <a:chExt cx="1809750" cy="1485900"/>
          </a:xfrm>
        </p:grpSpPr>
        <p:sp>
          <p:nvSpPr>
            <p:cNvPr id="8" name="Rectangle 8"/>
            <p:cNvSpPr/>
            <p:nvPr/>
          </p:nvSpPr>
          <p:spPr>
            <a:xfrm>
              <a:off x="342900" y="723900"/>
              <a:ext cx="1809750" cy="1485900"/>
            </a:xfrm>
            <a:prstGeom prst="roundRect">
              <a:avLst>
                <a:gd name="adj" fmla="val 5128"/>
              </a:avLst>
            </a:prstGeom>
            <a:solidFill>
              <a:srgbClr val="FFFFFF"/>
            </a:solidFill>
            <a:ln w="14288">
              <a:solidFill>
                <a:srgbClr val="C2E0DA"/>
              </a:solidFill>
            </a:ln>
          </p:spPr>
        </p:sp>
        <p:sp>
          <p:nvSpPr>
            <p:cNvPr id="9" name="Rectangle 9"/>
            <p:cNvSpPr/>
            <p:nvPr/>
          </p:nvSpPr>
          <p:spPr>
            <a:xfrm>
              <a:off x="342900" y="723900"/>
              <a:ext cx="1809750" cy="228600"/>
            </a:xfrm>
            <a:prstGeom prst="roundRect">
              <a:avLst>
                <a:gd name="adj" fmla="val 33333"/>
              </a:avLst>
            </a:prstGeom>
            <a:solidFill>
              <a:srgbClr val="5D190B"/>
            </a:solidFill>
            <a:ln>
              <a:noFill/>
            </a:ln>
          </p:spPr>
        </p:sp>
        <p:sp>
          <p:nvSpPr>
            <p:cNvPr id="10" name="TextBox 10"/>
            <p:cNvSpPr txBox="1"/>
            <p:nvPr/>
          </p:nvSpPr>
          <p:spPr>
            <a:xfrm>
              <a:off x="433388" y="791289"/>
              <a:ext cx="15369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线下触点（展位 &amp; 合作场景）​​</a:t>
              </a:r>
            </a:p>
          </p:txBody>
        </p:sp>
        <p:grpSp>
          <p:nvGrpSpPr>
            <p:cNvPr id="14" name="Group 14"/>
            <p:cNvGrpSpPr/>
            <p:nvPr/>
          </p:nvGrpSpPr>
          <p:grpSpPr>
            <a:xfrm>
              <a:off x="457200" y="1047750"/>
              <a:ext cx="114300" cy="114300"/>
              <a:chOff x="457200" y="1047750"/>
              <a:chExt cx="114300" cy="114300"/>
            </a:xfrm>
          </p:grpSpPr>
          <p:sp>
            <p:nvSpPr>
              <p:cNvPr id="11" name="Freeform 11"/>
              <p:cNvSpPr/>
              <p:nvPr/>
            </p:nvSpPr>
            <p:spPr>
              <a:xfrm>
                <a:off x="457200" y="1047750"/>
                <a:ext cx="114300" cy="57150"/>
              </a:xfrm>
              <a:custGeom>
                <a:avLst/>
                <a:gdLst/>
                <a:ahLst/>
                <a:cxnLst/>
                <a:rect l="l" t="t" r="r" b="b"/>
                <a:pathLst>
                  <a:path w="114300" h="57150">
                    <a:moveTo>
                      <a:pt x="12700" y="57150"/>
                    </a:moveTo>
                    <a:lnTo>
                      <a:pt x="0" y="57150"/>
                    </a:lnTo>
                    <a:lnTo>
                      <a:pt x="57150" y="0"/>
                    </a:lnTo>
                    <a:lnTo>
                      <a:pt x="114300" y="57150"/>
                    </a:lnTo>
                    <a:lnTo>
                      <a:pt x="101600" y="57150"/>
                    </a:lnTo>
                  </a:path>
                </a:pathLst>
              </a:custGeom>
              <a:noFill/>
              <a:ln w="12700">
                <a:solidFill>
                  <a:srgbClr val="76200F"/>
                </a:solidFill>
              </a:ln>
            </p:spPr>
          </p:sp>
          <p:sp>
            <p:nvSpPr>
              <p:cNvPr id="12" name="Freeform 12"/>
              <p:cNvSpPr/>
              <p:nvPr/>
            </p:nvSpPr>
            <p:spPr>
              <a:xfrm>
                <a:off x="469900" y="1104900"/>
                <a:ext cx="88900" cy="57150"/>
              </a:xfrm>
              <a:custGeom>
                <a:avLst/>
                <a:gdLst/>
                <a:ahLst/>
                <a:cxnLst/>
                <a:rect l="l" t="t" r="r" b="b"/>
                <a:pathLst>
                  <a:path w="88900" h="57150">
                    <a:moveTo>
                      <a:pt x="0" y="0"/>
                    </a:moveTo>
                    <a:lnTo>
                      <a:pt x="0" y="44450"/>
                    </a:lnTo>
                    <a:cubicBezTo>
                      <a:pt x="0" y="51464"/>
                      <a:pt x="5686" y="57150"/>
                      <a:pt x="12700" y="57150"/>
                    </a:cubicBezTo>
                    <a:lnTo>
                      <a:pt x="76200" y="57150"/>
                    </a:lnTo>
                    <a:cubicBezTo>
                      <a:pt x="83214" y="57150"/>
                      <a:pt x="88900" y="51464"/>
                      <a:pt x="88900" y="44450"/>
                    </a:cubicBezTo>
                    <a:lnTo>
                      <a:pt x="88900" y="0"/>
                    </a:lnTo>
                  </a:path>
                </a:pathLst>
              </a:custGeom>
              <a:noFill/>
              <a:ln w="12700">
                <a:solidFill>
                  <a:srgbClr val="76200F"/>
                </a:solidFill>
              </a:ln>
            </p:spPr>
          </p:sp>
          <p:sp>
            <p:nvSpPr>
              <p:cNvPr id="13" name="Freeform 13"/>
              <p:cNvSpPr/>
              <p:nvPr/>
            </p:nvSpPr>
            <p:spPr>
              <a:xfrm>
                <a:off x="495300" y="1111250"/>
                <a:ext cx="38100" cy="50800"/>
              </a:xfrm>
              <a:custGeom>
                <a:avLst/>
                <a:gdLst/>
                <a:ahLst/>
                <a:cxnLst/>
                <a:rect l="l" t="t" r="r" b="b"/>
                <a:pathLst>
                  <a:path w="38100" h="50800">
                    <a:moveTo>
                      <a:pt x="0" y="50800"/>
                    </a:moveTo>
                    <a:lnTo>
                      <a:pt x="0" y="12700"/>
                    </a:lnTo>
                    <a:cubicBezTo>
                      <a:pt x="0" y="5686"/>
                      <a:pt x="5686" y="0"/>
                      <a:pt x="12700" y="0"/>
                    </a:cubicBezTo>
                    <a:lnTo>
                      <a:pt x="25400" y="0"/>
                    </a:lnTo>
                    <a:cubicBezTo>
                      <a:pt x="32414" y="0"/>
                      <a:pt x="38100" y="5686"/>
                      <a:pt x="38100" y="12700"/>
                    </a:cubicBezTo>
                    <a:lnTo>
                      <a:pt x="38100" y="50800"/>
                    </a:lnTo>
                  </a:path>
                </a:pathLst>
              </a:custGeom>
              <a:noFill/>
              <a:ln w="12700">
                <a:solidFill>
                  <a:srgbClr val="76200F"/>
                </a:solidFill>
              </a:ln>
            </p:spPr>
          </p:sp>
        </p:grpSp>
        <p:sp>
          <p:nvSpPr>
            <p:cNvPr id="15" name="TextBox 15"/>
            <p:cNvSpPr txBox="1"/>
            <p:nvPr/>
          </p:nvSpPr>
          <p:spPr>
            <a:xfrm>
              <a:off x="642938" y="102798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银行展位</a:t>
              </a:r>
            </a:p>
          </p:txBody>
        </p:sp>
        <p:sp>
          <p:nvSpPr>
            <p:cNvPr id="16" name="TextBox 16"/>
            <p:cNvSpPr txBox="1"/>
            <p:nvPr/>
          </p:nvSpPr>
          <p:spPr>
            <a:xfrm>
              <a:off x="642938" y="1158478"/>
              <a:ext cx="1038560"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产品咨询·互动体验·扫码参与​</a:t>
              </a:r>
            </a:p>
          </p:txBody>
        </p:sp>
        <p:grpSp>
          <p:nvGrpSpPr>
            <p:cNvPr id="21" name="Group 21"/>
            <p:cNvGrpSpPr/>
            <p:nvPr/>
          </p:nvGrpSpPr>
          <p:grpSpPr>
            <a:xfrm>
              <a:off x="463550" y="1333500"/>
              <a:ext cx="101600" cy="114300"/>
              <a:chOff x="463550" y="1333500"/>
              <a:chExt cx="101600" cy="114300"/>
            </a:xfrm>
          </p:grpSpPr>
          <p:sp>
            <p:nvSpPr>
              <p:cNvPr id="17" name="Freeform 17"/>
              <p:cNvSpPr/>
              <p:nvPr/>
            </p:nvSpPr>
            <p:spPr>
              <a:xfrm>
                <a:off x="463550" y="142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18" name="Freeform 18"/>
              <p:cNvSpPr/>
              <p:nvPr/>
            </p:nvSpPr>
            <p:spPr>
              <a:xfrm>
                <a:off x="533400" y="142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19" name="Freeform 19"/>
              <p:cNvSpPr/>
              <p:nvPr/>
            </p:nvSpPr>
            <p:spPr>
              <a:xfrm>
                <a:off x="463550" y="1333500"/>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76200F"/>
                </a:solidFill>
              </a:ln>
            </p:spPr>
          </p:sp>
          <p:sp>
            <p:nvSpPr>
              <p:cNvPr id="20" name="Freeform 20"/>
              <p:cNvSpPr/>
              <p:nvPr/>
            </p:nvSpPr>
            <p:spPr>
              <a:xfrm>
                <a:off x="476250" y="1346200"/>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76200F"/>
                </a:solidFill>
              </a:ln>
            </p:spPr>
          </p:sp>
        </p:grpSp>
        <p:sp>
          <p:nvSpPr>
            <p:cNvPr id="22" name="TextBox 22"/>
            <p:cNvSpPr txBox="1"/>
            <p:nvPr/>
          </p:nvSpPr>
          <p:spPr>
            <a:xfrm>
              <a:off x="642938" y="131373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合作商户</a:t>
              </a:r>
            </a:p>
          </p:txBody>
        </p:sp>
        <p:sp>
          <p:nvSpPr>
            <p:cNvPr id="23" name="TextBox 23"/>
            <p:cNvSpPr txBox="1"/>
            <p:nvPr/>
          </p:nvSpPr>
          <p:spPr>
            <a:xfrm>
              <a:off x="642938" y="1444228"/>
              <a:ext cx="910402"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商圈/园区/便民 联合推广​</a:t>
              </a:r>
            </a:p>
          </p:txBody>
        </p:sp>
        <p:grpSp>
          <p:nvGrpSpPr>
            <p:cNvPr id="30" name="Group 30"/>
            <p:cNvGrpSpPr/>
            <p:nvPr/>
          </p:nvGrpSpPr>
          <p:grpSpPr>
            <a:xfrm>
              <a:off x="463550" y="1619250"/>
              <a:ext cx="101600" cy="114300"/>
              <a:chOff x="463550" y="1619250"/>
              <a:chExt cx="101600" cy="114300"/>
            </a:xfrm>
          </p:grpSpPr>
          <p:sp>
            <p:nvSpPr>
              <p:cNvPr id="24" name="Freeform 24"/>
              <p:cNvSpPr/>
              <p:nvPr/>
            </p:nvSpPr>
            <p:spPr>
              <a:xfrm>
                <a:off x="463550" y="1631950"/>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76200F"/>
                </a:solidFill>
              </a:ln>
            </p:spPr>
          </p:sp>
          <p:sp>
            <p:nvSpPr>
              <p:cNvPr id="25" name="Freeform 25"/>
              <p:cNvSpPr/>
              <p:nvPr/>
            </p:nvSpPr>
            <p:spPr>
              <a:xfrm>
                <a:off x="539750" y="1619250"/>
                <a:ext cx="9525" cy="25400"/>
              </a:xfrm>
              <a:custGeom>
                <a:avLst/>
                <a:gdLst/>
                <a:ahLst/>
                <a:cxnLst/>
                <a:rect l="l" t="t" r="r" b="b"/>
                <a:pathLst>
                  <a:path w="9525" h="25400">
                    <a:moveTo>
                      <a:pt x="0" y="0"/>
                    </a:moveTo>
                    <a:lnTo>
                      <a:pt x="0" y="25400"/>
                    </a:lnTo>
                  </a:path>
                </a:pathLst>
              </a:custGeom>
              <a:noFill/>
              <a:ln w="12700">
                <a:solidFill>
                  <a:srgbClr val="76200F"/>
                </a:solidFill>
              </a:ln>
            </p:spPr>
          </p:sp>
          <p:sp>
            <p:nvSpPr>
              <p:cNvPr id="26" name="Freeform 26"/>
              <p:cNvSpPr/>
              <p:nvPr/>
            </p:nvSpPr>
            <p:spPr>
              <a:xfrm>
                <a:off x="488950" y="1619250"/>
                <a:ext cx="9525" cy="25400"/>
              </a:xfrm>
              <a:custGeom>
                <a:avLst/>
                <a:gdLst/>
                <a:ahLst/>
                <a:cxnLst/>
                <a:rect l="l" t="t" r="r" b="b"/>
                <a:pathLst>
                  <a:path w="9525" h="25400">
                    <a:moveTo>
                      <a:pt x="0" y="0"/>
                    </a:moveTo>
                    <a:lnTo>
                      <a:pt x="0" y="25400"/>
                    </a:lnTo>
                  </a:path>
                </a:pathLst>
              </a:custGeom>
              <a:noFill/>
              <a:ln w="12700">
                <a:solidFill>
                  <a:srgbClr val="76200F"/>
                </a:solidFill>
              </a:ln>
            </p:spPr>
          </p:sp>
          <p:sp>
            <p:nvSpPr>
              <p:cNvPr id="27" name="Freeform 27"/>
              <p:cNvSpPr/>
              <p:nvPr/>
            </p:nvSpPr>
            <p:spPr>
              <a:xfrm>
                <a:off x="463550" y="1670050"/>
                <a:ext cx="101600" cy="9525"/>
              </a:xfrm>
              <a:custGeom>
                <a:avLst/>
                <a:gdLst/>
                <a:ahLst/>
                <a:cxnLst/>
                <a:rect l="l" t="t" r="r" b="b"/>
                <a:pathLst>
                  <a:path w="101600" h="9525">
                    <a:moveTo>
                      <a:pt x="0" y="0"/>
                    </a:moveTo>
                    <a:lnTo>
                      <a:pt x="101600" y="0"/>
                    </a:lnTo>
                  </a:path>
                </a:pathLst>
              </a:custGeom>
              <a:noFill/>
              <a:ln w="12700">
                <a:solidFill>
                  <a:srgbClr val="76200F"/>
                </a:solidFill>
              </a:ln>
            </p:spPr>
          </p:sp>
          <p:sp>
            <p:nvSpPr>
              <p:cNvPr id="28" name="Freeform 28"/>
              <p:cNvSpPr/>
              <p:nvPr/>
            </p:nvSpPr>
            <p:spPr>
              <a:xfrm>
                <a:off x="508000" y="1695450"/>
                <a:ext cx="9525" cy="9525"/>
              </a:xfrm>
              <a:custGeom>
                <a:avLst/>
                <a:gdLst/>
                <a:ahLst/>
                <a:cxnLst/>
                <a:rect l="l" t="t" r="r" b="b"/>
                <a:pathLst>
                  <a:path w="9525" h="9525">
                    <a:moveTo>
                      <a:pt x="0" y="0"/>
                    </a:moveTo>
                    <a:lnTo>
                      <a:pt x="6350" y="0"/>
                    </a:lnTo>
                  </a:path>
                </a:pathLst>
              </a:custGeom>
              <a:noFill/>
              <a:ln w="12700">
                <a:solidFill>
                  <a:srgbClr val="76200F"/>
                </a:solidFill>
              </a:ln>
            </p:spPr>
          </p:sp>
          <p:sp>
            <p:nvSpPr>
              <p:cNvPr id="29" name="Freeform 29"/>
              <p:cNvSpPr/>
              <p:nvPr/>
            </p:nvSpPr>
            <p:spPr>
              <a:xfrm>
                <a:off x="514350" y="1695450"/>
                <a:ext cx="9525" cy="19050"/>
              </a:xfrm>
              <a:custGeom>
                <a:avLst/>
                <a:gdLst/>
                <a:ahLst/>
                <a:cxnLst/>
                <a:rect l="l" t="t" r="r" b="b"/>
                <a:pathLst>
                  <a:path w="9525" h="19050">
                    <a:moveTo>
                      <a:pt x="0" y="0"/>
                    </a:moveTo>
                    <a:lnTo>
                      <a:pt x="0" y="19050"/>
                    </a:lnTo>
                  </a:path>
                </a:pathLst>
              </a:custGeom>
              <a:noFill/>
              <a:ln w="12700">
                <a:solidFill>
                  <a:srgbClr val="76200F"/>
                </a:solidFill>
              </a:ln>
            </p:spPr>
          </p:sp>
        </p:grpSp>
        <p:sp>
          <p:nvSpPr>
            <p:cNvPr id="31" name="TextBox 31"/>
            <p:cNvSpPr txBox="1"/>
            <p:nvPr/>
          </p:nvSpPr>
          <p:spPr>
            <a:xfrm>
              <a:off x="642938" y="159948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活动现场</a:t>
              </a:r>
            </a:p>
          </p:txBody>
        </p:sp>
        <p:sp>
          <p:nvSpPr>
            <p:cNvPr id="32" name="TextBox 32"/>
            <p:cNvSpPr txBox="1"/>
            <p:nvPr/>
          </p:nvSpPr>
          <p:spPr>
            <a:xfrm>
              <a:off x="642938" y="1729978"/>
              <a:ext cx="887786"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主题沙龙/讲座·打卡签到​</a:t>
              </a:r>
            </a:p>
          </p:txBody>
        </p:sp>
        <p:grpSp>
          <p:nvGrpSpPr>
            <p:cNvPr id="36" name="Group 36"/>
            <p:cNvGrpSpPr/>
            <p:nvPr/>
          </p:nvGrpSpPr>
          <p:grpSpPr>
            <a:xfrm>
              <a:off x="463549" y="1908247"/>
              <a:ext cx="104694" cy="107792"/>
              <a:chOff x="463549" y="1908247"/>
              <a:chExt cx="104694" cy="107792"/>
            </a:xfrm>
          </p:grpSpPr>
          <p:sp>
            <p:nvSpPr>
              <p:cNvPr id="33" name="Freeform 33"/>
              <p:cNvSpPr/>
              <p:nvPr/>
            </p:nvSpPr>
            <p:spPr>
              <a:xfrm>
                <a:off x="495300" y="1943100"/>
                <a:ext cx="38100" cy="38100"/>
              </a:xfrm>
              <a:custGeom>
                <a:avLst/>
                <a:gdLst/>
                <a:ahLst/>
                <a:cxnLst/>
                <a:rect l="l" t="t" r="r" b="b"/>
                <a:pathLst>
                  <a:path w="38100" h="38100">
                    <a:moveTo>
                      <a:pt x="0" y="38100"/>
                    </a:moveTo>
                    <a:lnTo>
                      <a:pt x="38100" y="0"/>
                    </a:lnTo>
                  </a:path>
                </a:pathLst>
              </a:custGeom>
              <a:noFill/>
              <a:ln w="12700">
                <a:solidFill>
                  <a:srgbClr val="76200F"/>
                </a:solidFill>
              </a:ln>
            </p:spPr>
          </p:sp>
          <p:sp>
            <p:nvSpPr>
              <p:cNvPr id="34" name="Freeform 34"/>
              <p:cNvSpPr/>
              <p:nvPr/>
            </p:nvSpPr>
            <p:spPr>
              <a:xfrm>
                <a:off x="508000" y="1908247"/>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76200F"/>
                </a:solidFill>
              </a:ln>
            </p:spPr>
          </p:sp>
          <p:sp>
            <p:nvSpPr>
              <p:cNvPr id="35" name="Freeform 35"/>
              <p:cNvSpPr/>
              <p:nvPr/>
            </p:nvSpPr>
            <p:spPr>
              <a:xfrm>
                <a:off x="463549" y="1955800"/>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76200F"/>
                </a:solidFill>
              </a:ln>
            </p:spPr>
          </p:sp>
        </p:grpSp>
        <p:sp>
          <p:nvSpPr>
            <p:cNvPr id="37" name="TextBox 37"/>
            <p:cNvSpPr txBox="1"/>
            <p:nvPr/>
          </p:nvSpPr>
          <p:spPr>
            <a:xfrm>
              <a:off x="642938" y="188523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异业合作</a:t>
              </a:r>
            </a:p>
          </p:txBody>
        </p:sp>
        <p:sp>
          <p:nvSpPr>
            <p:cNvPr id="38" name="TextBox 38"/>
            <p:cNvSpPr txBox="1"/>
            <p:nvPr/>
          </p:nvSpPr>
          <p:spPr>
            <a:xfrm>
              <a:off x="642938" y="2015728"/>
              <a:ext cx="910402"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政府/协会/企业 场景导流​</a:t>
              </a:r>
            </a:p>
          </p:txBody>
        </p:sp>
      </p:grpSp>
      <p:grpSp>
        <p:nvGrpSpPr>
          <p:cNvPr id="80" name="unified-code"/>
          <p:cNvGrpSpPr/>
          <p:nvPr/>
        </p:nvGrpSpPr>
        <p:grpSpPr>
          <a:xfrm>
            <a:off x="2228850" y="723900"/>
            <a:ext cx="952500" cy="1505188"/>
            <a:chOff x="2228850" y="723900"/>
            <a:chExt cx="952500" cy="1505188"/>
          </a:xfrm>
        </p:grpSpPr>
        <p:sp>
          <p:nvSpPr>
            <p:cNvPr id="40" name="Rectangle 40"/>
            <p:cNvSpPr/>
            <p:nvPr/>
          </p:nvSpPr>
          <p:spPr>
            <a:xfrm>
              <a:off x="2228850" y="723900"/>
              <a:ext cx="952500" cy="1485900"/>
            </a:xfrm>
            <a:prstGeom prst="roundRect">
              <a:avLst>
                <a:gd name="adj" fmla="val 8000"/>
              </a:avLst>
            </a:prstGeom>
            <a:solidFill>
              <a:srgbClr val="5D190B"/>
            </a:solidFill>
            <a:ln>
              <a:noFill/>
            </a:ln>
          </p:spPr>
        </p:sp>
        <p:sp>
          <p:nvSpPr>
            <p:cNvPr id="41" name="TextBox 41"/>
            <p:cNvSpPr txBox="1"/>
            <p:nvPr/>
          </p:nvSpPr>
          <p:spPr>
            <a:xfrm>
              <a:off x="2434463" y="810339"/>
              <a:ext cx="5412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统一活动码</a:t>
              </a:r>
            </a:p>
          </p:txBody>
        </p:sp>
        <p:sp>
          <p:nvSpPr>
            <p:cNvPr id="42" name="TextBox 42"/>
            <p:cNvSpPr txBox="1"/>
            <p:nvPr/>
          </p:nvSpPr>
          <p:spPr>
            <a:xfrm>
              <a:off x="2479053" y="954405"/>
              <a:ext cx="452095" cy="119062"/>
            </a:xfrm>
            <a:prstGeom prst="rect">
              <a:avLst/>
            </a:prstGeom>
            <a:noFill/>
            <a:ln>
              <a:noFill/>
            </a:ln>
          </p:spPr>
          <p:txBody>
            <a:bodyPr wrap="none" lIns="0" tIns="0" rIns="0" bIns="0" anchor="t" anchorCtr="0">
              <a:spAutoFit/>
            </a:bodyPr>
            <a:lstStyle/>
            <a:p>
              <a:pPr algn="ctr"/>
              <a:r>
                <a:rPr lang="zh-CN" sz="600" dirty="0">
                  <a:solidFill>
                    <a:srgbClr val="BFE4DD"/>
                  </a:solidFill>
                  <a:latin typeface="+mn-lt"/>
                  <a:ea typeface="+mn-ea"/>
                  <a:cs typeface="+mn-cs"/>
                </a:rPr>
                <a:t>客户身份ID​</a:t>
              </a:r>
            </a:p>
          </p:txBody>
        </p:sp>
        <p:sp>
          <p:nvSpPr>
            <p:cNvPr id="43" name="Rectangle 43"/>
            <p:cNvSpPr/>
            <p:nvPr/>
          </p:nvSpPr>
          <p:spPr>
            <a:xfrm>
              <a:off x="2400300" y="1085850"/>
              <a:ext cx="609600" cy="609600"/>
            </a:xfrm>
            <a:prstGeom prst="roundRect">
              <a:avLst>
                <a:gd name="adj" fmla="val 6250"/>
              </a:avLst>
            </a:prstGeom>
            <a:solidFill>
              <a:srgbClr val="FFFFFF"/>
            </a:solidFill>
            <a:ln>
              <a:noFill/>
            </a:ln>
          </p:spPr>
        </p:sp>
        <p:grpSp>
          <p:nvGrpSpPr>
            <p:cNvPr id="63" name="qr-glyph"/>
            <p:cNvGrpSpPr/>
            <p:nvPr/>
          </p:nvGrpSpPr>
          <p:grpSpPr>
            <a:xfrm>
              <a:off x="2438400" y="1123950"/>
              <a:ext cx="533400" cy="533400"/>
              <a:chOff x="2438400" y="1123950"/>
              <a:chExt cx="533400" cy="533400"/>
            </a:xfrm>
          </p:grpSpPr>
          <p:sp>
            <p:nvSpPr>
              <p:cNvPr id="44" name="Rectangle 44"/>
              <p:cNvSpPr/>
              <p:nvPr/>
            </p:nvSpPr>
            <p:spPr>
              <a:xfrm>
                <a:off x="2438400" y="1123950"/>
                <a:ext cx="152400" cy="152400"/>
              </a:xfrm>
              <a:prstGeom prst="rect">
                <a:avLst/>
              </a:prstGeom>
              <a:solidFill>
                <a:srgbClr val="5D190B"/>
              </a:solidFill>
              <a:ln>
                <a:noFill/>
              </a:ln>
            </p:spPr>
          </p:sp>
          <p:sp>
            <p:nvSpPr>
              <p:cNvPr id="45" name="Rectangle 45"/>
              <p:cNvSpPr/>
              <p:nvPr/>
            </p:nvSpPr>
            <p:spPr>
              <a:xfrm>
                <a:off x="2466975" y="1152525"/>
                <a:ext cx="95250" cy="95250"/>
              </a:xfrm>
              <a:prstGeom prst="rect">
                <a:avLst/>
              </a:prstGeom>
              <a:solidFill>
                <a:srgbClr val="FFFFFF"/>
              </a:solidFill>
              <a:ln>
                <a:noFill/>
              </a:ln>
            </p:spPr>
          </p:sp>
          <p:sp>
            <p:nvSpPr>
              <p:cNvPr id="46" name="Rectangle 46"/>
              <p:cNvSpPr/>
              <p:nvPr/>
            </p:nvSpPr>
            <p:spPr>
              <a:xfrm>
                <a:off x="2486025" y="1171575"/>
                <a:ext cx="57150" cy="57150"/>
              </a:xfrm>
              <a:prstGeom prst="rect">
                <a:avLst/>
              </a:prstGeom>
              <a:solidFill>
                <a:srgbClr val="5D190B"/>
              </a:solidFill>
              <a:ln>
                <a:noFill/>
              </a:ln>
            </p:spPr>
          </p:sp>
          <p:sp>
            <p:nvSpPr>
              <p:cNvPr id="47" name="Rectangle 47"/>
              <p:cNvSpPr/>
              <p:nvPr/>
            </p:nvSpPr>
            <p:spPr>
              <a:xfrm>
                <a:off x="2819400" y="1123950"/>
                <a:ext cx="152400" cy="152400"/>
              </a:xfrm>
              <a:prstGeom prst="rect">
                <a:avLst/>
              </a:prstGeom>
              <a:solidFill>
                <a:srgbClr val="5D190B"/>
              </a:solidFill>
              <a:ln>
                <a:noFill/>
              </a:ln>
            </p:spPr>
          </p:sp>
          <p:sp>
            <p:nvSpPr>
              <p:cNvPr id="48" name="Rectangle 48"/>
              <p:cNvSpPr/>
              <p:nvPr/>
            </p:nvSpPr>
            <p:spPr>
              <a:xfrm>
                <a:off x="2847975" y="1152525"/>
                <a:ext cx="95250" cy="95250"/>
              </a:xfrm>
              <a:prstGeom prst="rect">
                <a:avLst/>
              </a:prstGeom>
              <a:solidFill>
                <a:srgbClr val="FFFFFF"/>
              </a:solidFill>
              <a:ln>
                <a:noFill/>
              </a:ln>
            </p:spPr>
          </p:sp>
          <p:sp>
            <p:nvSpPr>
              <p:cNvPr id="49" name="Rectangle 49"/>
              <p:cNvSpPr/>
              <p:nvPr/>
            </p:nvSpPr>
            <p:spPr>
              <a:xfrm>
                <a:off x="2867025" y="1171575"/>
                <a:ext cx="57150" cy="57150"/>
              </a:xfrm>
              <a:prstGeom prst="rect">
                <a:avLst/>
              </a:prstGeom>
              <a:solidFill>
                <a:srgbClr val="5D190B"/>
              </a:solidFill>
              <a:ln>
                <a:noFill/>
              </a:ln>
            </p:spPr>
          </p:sp>
          <p:sp>
            <p:nvSpPr>
              <p:cNvPr id="50" name="Rectangle 50"/>
              <p:cNvSpPr/>
              <p:nvPr/>
            </p:nvSpPr>
            <p:spPr>
              <a:xfrm>
                <a:off x="2438400" y="1504950"/>
                <a:ext cx="152400" cy="152400"/>
              </a:xfrm>
              <a:prstGeom prst="rect">
                <a:avLst/>
              </a:prstGeom>
              <a:solidFill>
                <a:srgbClr val="5D190B"/>
              </a:solidFill>
              <a:ln>
                <a:noFill/>
              </a:ln>
            </p:spPr>
          </p:sp>
          <p:sp>
            <p:nvSpPr>
              <p:cNvPr id="51" name="Rectangle 51"/>
              <p:cNvSpPr/>
              <p:nvPr/>
            </p:nvSpPr>
            <p:spPr>
              <a:xfrm>
                <a:off x="2466975" y="1533525"/>
                <a:ext cx="95250" cy="95250"/>
              </a:xfrm>
              <a:prstGeom prst="rect">
                <a:avLst/>
              </a:prstGeom>
              <a:solidFill>
                <a:srgbClr val="FFFFFF"/>
              </a:solidFill>
              <a:ln>
                <a:noFill/>
              </a:ln>
            </p:spPr>
          </p:sp>
          <p:sp>
            <p:nvSpPr>
              <p:cNvPr id="52" name="Rectangle 52"/>
              <p:cNvSpPr/>
              <p:nvPr/>
            </p:nvSpPr>
            <p:spPr>
              <a:xfrm>
                <a:off x="2486025" y="1552575"/>
                <a:ext cx="57150" cy="57150"/>
              </a:xfrm>
              <a:prstGeom prst="rect">
                <a:avLst/>
              </a:prstGeom>
              <a:solidFill>
                <a:srgbClr val="5D190B"/>
              </a:solidFill>
              <a:ln>
                <a:noFill/>
              </a:ln>
            </p:spPr>
          </p:sp>
          <p:sp>
            <p:nvSpPr>
              <p:cNvPr id="53" name="Rectangle 53"/>
              <p:cNvSpPr/>
              <p:nvPr/>
            </p:nvSpPr>
            <p:spPr>
              <a:xfrm>
                <a:off x="2628900" y="1123950"/>
                <a:ext cx="47625" cy="47625"/>
              </a:xfrm>
              <a:prstGeom prst="rect">
                <a:avLst/>
              </a:prstGeom>
              <a:solidFill>
                <a:srgbClr val="5D190B"/>
              </a:solidFill>
              <a:ln>
                <a:noFill/>
              </a:ln>
            </p:spPr>
          </p:sp>
          <p:sp>
            <p:nvSpPr>
              <p:cNvPr id="54" name="Rectangle 54"/>
              <p:cNvSpPr/>
              <p:nvPr/>
            </p:nvSpPr>
            <p:spPr>
              <a:xfrm>
                <a:off x="2705100" y="1181100"/>
                <a:ext cx="47625" cy="47625"/>
              </a:xfrm>
              <a:prstGeom prst="rect">
                <a:avLst/>
              </a:prstGeom>
              <a:solidFill>
                <a:srgbClr val="5D190B"/>
              </a:solidFill>
              <a:ln>
                <a:noFill/>
              </a:ln>
            </p:spPr>
          </p:sp>
          <p:sp>
            <p:nvSpPr>
              <p:cNvPr id="55" name="Rectangle 55"/>
              <p:cNvSpPr/>
              <p:nvPr/>
            </p:nvSpPr>
            <p:spPr>
              <a:xfrm>
                <a:off x="2647950" y="1257300"/>
                <a:ext cx="76200" cy="47625"/>
              </a:xfrm>
              <a:prstGeom prst="rect">
                <a:avLst/>
              </a:prstGeom>
              <a:solidFill>
                <a:srgbClr val="5D190B"/>
              </a:solidFill>
              <a:ln>
                <a:noFill/>
              </a:ln>
            </p:spPr>
          </p:sp>
          <p:sp>
            <p:nvSpPr>
              <p:cNvPr id="56" name="Rectangle 56"/>
              <p:cNvSpPr/>
              <p:nvPr/>
            </p:nvSpPr>
            <p:spPr>
              <a:xfrm>
                <a:off x="2800350" y="1333500"/>
                <a:ext cx="47625" cy="47625"/>
              </a:xfrm>
              <a:prstGeom prst="rect">
                <a:avLst/>
              </a:prstGeom>
              <a:solidFill>
                <a:srgbClr val="5D190B"/>
              </a:solidFill>
              <a:ln>
                <a:noFill/>
              </a:ln>
            </p:spPr>
          </p:sp>
          <p:sp>
            <p:nvSpPr>
              <p:cNvPr id="57" name="Rectangle 57"/>
              <p:cNvSpPr/>
              <p:nvPr/>
            </p:nvSpPr>
            <p:spPr>
              <a:xfrm>
                <a:off x="2876550" y="1390650"/>
                <a:ext cx="47625" cy="47625"/>
              </a:xfrm>
              <a:prstGeom prst="rect">
                <a:avLst/>
              </a:prstGeom>
              <a:solidFill>
                <a:srgbClr val="5D190B"/>
              </a:solidFill>
              <a:ln>
                <a:noFill/>
              </a:ln>
            </p:spPr>
          </p:sp>
          <p:sp>
            <p:nvSpPr>
              <p:cNvPr id="58" name="Rectangle 58"/>
              <p:cNvSpPr/>
              <p:nvPr/>
            </p:nvSpPr>
            <p:spPr>
              <a:xfrm>
                <a:off x="2628900" y="1390650"/>
                <a:ext cx="57150" cy="47625"/>
              </a:xfrm>
              <a:prstGeom prst="rect">
                <a:avLst/>
              </a:prstGeom>
              <a:solidFill>
                <a:srgbClr val="5D190B"/>
              </a:solidFill>
              <a:ln>
                <a:noFill/>
              </a:ln>
            </p:spPr>
          </p:sp>
          <p:sp>
            <p:nvSpPr>
              <p:cNvPr id="59" name="Rectangle 59"/>
              <p:cNvSpPr/>
              <p:nvPr/>
            </p:nvSpPr>
            <p:spPr>
              <a:xfrm>
                <a:off x="2647950" y="1504950"/>
                <a:ext cx="47625" cy="47625"/>
              </a:xfrm>
              <a:prstGeom prst="rect">
                <a:avLst/>
              </a:prstGeom>
              <a:solidFill>
                <a:srgbClr val="5D190B"/>
              </a:solidFill>
              <a:ln>
                <a:noFill/>
              </a:ln>
            </p:spPr>
          </p:sp>
          <p:sp>
            <p:nvSpPr>
              <p:cNvPr id="60" name="Rectangle 60"/>
              <p:cNvSpPr/>
              <p:nvPr/>
            </p:nvSpPr>
            <p:spPr>
              <a:xfrm>
                <a:off x="2743200" y="1524000"/>
                <a:ext cx="47625" cy="47625"/>
              </a:xfrm>
              <a:prstGeom prst="rect">
                <a:avLst/>
              </a:prstGeom>
              <a:solidFill>
                <a:srgbClr val="5D190B"/>
              </a:solidFill>
              <a:ln>
                <a:noFill/>
              </a:ln>
            </p:spPr>
          </p:sp>
          <p:sp>
            <p:nvSpPr>
              <p:cNvPr id="61" name="Rectangle 61"/>
              <p:cNvSpPr/>
              <p:nvPr/>
            </p:nvSpPr>
            <p:spPr>
              <a:xfrm>
                <a:off x="2838450" y="1581150"/>
                <a:ext cx="57150" cy="47625"/>
              </a:xfrm>
              <a:prstGeom prst="rect">
                <a:avLst/>
              </a:prstGeom>
              <a:solidFill>
                <a:srgbClr val="5D190B"/>
              </a:solidFill>
              <a:ln>
                <a:noFill/>
              </a:ln>
            </p:spPr>
          </p:sp>
          <p:sp>
            <p:nvSpPr>
              <p:cNvPr id="62" name="Rectangle 62"/>
              <p:cNvSpPr/>
              <p:nvPr/>
            </p:nvSpPr>
            <p:spPr>
              <a:xfrm>
                <a:off x="2647950" y="1619250"/>
                <a:ext cx="66675" cy="38100"/>
              </a:xfrm>
              <a:prstGeom prst="rect">
                <a:avLst/>
              </a:prstGeom>
              <a:solidFill>
                <a:srgbClr val="5D190B"/>
              </a:solidFill>
              <a:ln>
                <a:noFill/>
              </a:ln>
            </p:spPr>
          </p:sp>
        </p:grpSp>
        <p:grpSp>
          <p:nvGrpSpPr>
            <p:cNvPr id="66" name="Group 66"/>
            <p:cNvGrpSpPr/>
            <p:nvPr/>
          </p:nvGrpSpPr>
          <p:grpSpPr>
            <a:xfrm>
              <a:off x="2413397" y="1727597"/>
              <a:ext cx="78581" cy="78581"/>
              <a:chOff x="2413397" y="1727597"/>
              <a:chExt cx="78581" cy="78581"/>
            </a:xfrm>
          </p:grpSpPr>
          <p:sp>
            <p:nvSpPr>
              <p:cNvPr id="64" name="Freeform 64"/>
              <p:cNvSpPr/>
              <p:nvPr/>
            </p:nvSpPr>
            <p:spPr>
              <a:xfrm>
                <a:off x="2413397" y="17275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4887C"/>
                </a:solidFill>
              </a:ln>
            </p:spPr>
          </p:sp>
          <p:sp>
            <p:nvSpPr>
              <p:cNvPr id="65" name="Freeform 65"/>
              <p:cNvSpPr/>
              <p:nvPr/>
            </p:nvSpPr>
            <p:spPr>
              <a:xfrm>
                <a:off x="2439591" y="1758156"/>
                <a:ext cx="26194" cy="17462"/>
              </a:xfrm>
              <a:custGeom>
                <a:avLst/>
                <a:gdLst/>
                <a:ahLst/>
                <a:cxnLst/>
                <a:rect l="l" t="t" r="r" b="b"/>
                <a:pathLst>
                  <a:path w="26194" h="17462">
                    <a:moveTo>
                      <a:pt x="0" y="8731"/>
                    </a:moveTo>
                    <a:lnTo>
                      <a:pt x="8731" y="17462"/>
                    </a:lnTo>
                    <a:lnTo>
                      <a:pt x="26194" y="0"/>
                    </a:lnTo>
                  </a:path>
                </a:pathLst>
              </a:custGeom>
              <a:noFill/>
              <a:ln w="8731">
                <a:solidFill>
                  <a:srgbClr val="C4887C"/>
                </a:solidFill>
              </a:ln>
            </p:spPr>
          </p:sp>
        </p:grpSp>
        <p:sp>
          <p:nvSpPr>
            <p:cNvPr id="67" name="TextBox 67"/>
            <p:cNvSpPr txBox="1"/>
            <p:nvPr/>
          </p:nvSpPr>
          <p:spPr>
            <a:xfrm>
              <a:off x="2547938" y="1731407"/>
              <a:ext cx="354152" cy="126206"/>
            </a:xfrm>
            <a:prstGeom prst="rect">
              <a:avLst/>
            </a:prstGeom>
            <a:noFill/>
            <a:ln>
              <a:noFill/>
            </a:ln>
          </p:spPr>
          <p:txBody>
            <a:bodyPr wrap="none" lIns="0" tIns="0" rIns="0" bIns="0" anchor="t" anchorCtr="0">
              <a:spAutoFit/>
            </a:bodyPr>
            <a:lstStyle/>
            <a:p>
              <a:pPr algn="l"/>
              <a:r>
                <a:rPr lang="zh-CN" sz="640" dirty="0">
                  <a:solidFill>
                    <a:srgbClr val="FFFFFF"/>
                  </a:solidFill>
                  <a:latin typeface="+mn-lt"/>
                  <a:ea typeface="+mn-ea"/>
                  <a:cs typeface="+mn-cs"/>
                </a:rPr>
                <a:t>活动识别</a:t>
              </a:r>
            </a:p>
          </p:txBody>
        </p:sp>
        <p:grpSp>
          <p:nvGrpSpPr>
            <p:cNvPr id="70" name="Group 70"/>
            <p:cNvGrpSpPr/>
            <p:nvPr/>
          </p:nvGrpSpPr>
          <p:grpSpPr>
            <a:xfrm>
              <a:off x="2413397" y="1851422"/>
              <a:ext cx="78581" cy="78581"/>
              <a:chOff x="2413397" y="1851422"/>
              <a:chExt cx="78581" cy="78581"/>
            </a:xfrm>
          </p:grpSpPr>
          <p:sp>
            <p:nvSpPr>
              <p:cNvPr id="68" name="Freeform 68"/>
              <p:cNvSpPr/>
              <p:nvPr/>
            </p:nvSpPr>
            <p:spPr>
              <a:xfrm>
                <a:off x="2413397" y="185142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4887C"/>
                </a:solidFill>
              </a:ln>
            </p:spPr>
          </p:sp>
          <p:sp>
            <p:nvSpPr>
              <p:cNvPr id="69" name="Freeform 69"/>
              <p:cNvSpPr/>
              <p:nvPr/>
            </p:nvSpPr>
            <p:spPr>
              <a:xfrm>
                <a:off x="2439591" y="1881981"/>
                <a:ext cx="26194" cy="17462"/>
              </a:xfrm>
              <a:custGeom>
                <a:avLst/>
                <a:gdLst/>
                <a:ahLst/>
                <a:cxnLst/>
                <a:rect l="l" t="t" r="r" b="b"/>
                <a:pathLst>
                  <a:path w="26194" h="17462">
                    <a:moveTo>
                      <a:pt x="0" y="8731"/>
                    </a:moveTo>
                    <a:lnTo>
                      <a:pt x="8731" y="17462"/>
                    </a:lnTo>
                    <a:lnTo>
                      <a:pt x="26194" y="0"/>
                    </a:lnTo>
                  </a:path>
                </a:pathLst>
              </a:custGeom>
              <a:noFill/>
              <a:ln w="8731">
                <a:solidFill>
                  <a:srgbClr val="C4887C"/>
                </a:solidFill>
              </a:ln>
            </p:spPr>
          </p:sp>
        </p:grpSp>
        <p:sp>
          <p:nvSpPr>
            <p:cNvPr id="71" name="TextBox 71"/>
            <p:cNvSpPr txBox="1"/>
            <p:nvPr/>
          </p:nvSpPr>
          <p:spPr>
            <a:xfrm>
              <a:off x="2547938" y="1855232"/>
              <a:ext cx="354152" cy="126206"/>
            </a:xfrm>
            <a:prstGeom prst="rect">
              <a:avLst/>
            </a:prstGeom>
            <a:noFill/>
            <a:ln>
              <a:noFill/>
            </a:ln>
          </p:spPr>
          <p:txBody>
            <a:bodyPr wrap="none" lIns="0" tIns="0" rIns="0" bIns="0" anchor="t" anchorCtr="0">
              <a:spAutoFit/>
            </a:bodyPr>
            <a:lstStyle/>
            <a:p>
              <a:pPr algn="l"/>
              <a:r>
                <a:rPr lang="zh-CN" sz="640" dirty="0">
                  <a:solidFill>
                    <a:srgbClr val="FFFFFF"/>
                  </a:solidFill>
                  <a:latin typeface="+mn-lt"/>
                  <a:ea typeface="+mn-ea"/>
                  <a:cs typeface="+mn-cs"/>
                </a:rPr>
                <a:t>身份关联</a:t>
              </a:r>
            </a:p>
          </p:txBody>
        </p:sp>
        <p:grpSp>
          <p:nvGrpSpPr>
            <p:cNvPr id="74" name="Group 74"/>
            <p:cNvGrpSpPr/>
            <p:nvPr/>
          </p:nvGrpSpPr>
          <p:grpSpPr>
            <a:xfrm>
              <a:off x="2413397" y="1975247"/>
              <a:ext cx="78581" cy="78581"/>
              <a:chOff x="2413397" y="1975247"/>
              <a:chExt cx="78581" cy="78581"/>
            </a:xfrm>
          </p:grpSpPr>
          <p:sp>
            <p:nvSpPr>
              <p:cNvPr id="72" name="Freeform 72"/>
              <p:cNvSpPr/>
              <p:nvPr/>
            </p:nvSpPr>
            <p:spPr>
              <a:xfrm>
                <a:off x="2413397" y="19752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4887C"/>
                </a:solidFill>
              </a:ln>
            </p:spPr>
          </p:sp>
          <p:sp>
            <p:nvSpPr>
              <p:cNvPr id="73" name="Freeform 73"/>
              <p:cNvSpPr/>
              <p:nvPr/>
            </p:nvSpPr>
            <p:spPr>
              <a:xfrm>
                <a:off x="2439591" y="2005806"/>
                <a:ext cx="26194" cy="17462"/>
              </a:xfrm>
              <a:custGeom>
                <a:avLst/>
                <a:gdLst/>
                <a:ahLst/>
                <a:cxnLst/>
                <a:rect l="l" t="t" r="r" b="b"/>
                <a:pathLst>
                  <a:path w="26194" h="17462">
                    <a:moveTo>
                      <a:pt x="0" y="8731"/>
                    </a:moveTo>
                    <a:lnTo>
                      <a:pt x="8731" y="17462"/>
                    </a:lnTo>
                    <a:lnTo>
                      <a:pt x="26194" y="0"/>
                    </a:lnTo>
                  </a:path>
                </a:pathLst>
              </a:custGeom>
              <a:noFill/>
              <a:ln w="8731">
                <a:solidFill>
                  <a:srgbClr val="C4887C"/>
                </a:solidFill>
              </a:ln>
            </p:spPr>
          </p:sp>
        </p:grpSp>
        <p:sp>
          <p:nvSpPr>
            <p:cNvPr id="75" name="TextBox 75"/>
            <p:cNvSpPr txBox="1"/>
            <p:nvPr/>
          </p:nvSpPr>
          <p:spPr>
            <a:xfrm>
              <a:off x="2547938" y="1979057"/>
              <a:ext cx="354152" cy="126206"/>
            </a:xfrm>
            <a:prstGeom prst="rect">
              <a:avLst/>
            </a:prstGeom>
            <a:noFill/>
            <a:ln>
              <a:noFill/>
            </a:ln>
          </p:spPr>
          <p:txBody>
            <a:bodyPr wrap="none" lIns="0" tIns="0" rIns="0" bIns="0" anchor="t" anchorCtr="0">
              <a:spAutoFit/>
            </a:bodyPr>
            <a:lstStyle/>
            <a:p>
              <a:pPr algn="l"/>
              <a:r>
                <a:rPr lang="zh-CN" sz="640" dirty="0">
                  <a:solidFill>
                    <a:srgbClr val="FFFFFF"/>
                  </a:solidFill>
                  <a:latin typeface="+mn-lt"/>
                  <a:ea typeface="+mn-ea"/>
                  <a:cs typeface="+mn-cs"/>
                </a:rPr>
                <a:t>标签生成</a:t>
              </a:r>
            </a:p>
          </p:txBody>
        </p:sp>
        <p:grpSp>
          <p:nvGrpSpPr>
            <p:cNvPr id="78" name="Group 78"/>
            <p:cNvGrpSpPr/>
            <p:nvPr/>
          </p:nvGrpSpPr>
          <p:grpSpPr>
            <a:xfrm>
              <a:off x="2413397" y="2099072"/>
              <a:ext cx="78581" cy="78581"/>
              <a:chOff x="2413397" y="2099072"/>
              <a:chExt cx="78581" cy="78581"/>
            </a:xfrm>
          </p:grpSpPr>
          <p:sp>
            <p:nvSpPr>
              <p:cNvPr id="76" name="Freeform 76"/>
              <p:cNvSpPr/>
              <p:nvPr/>
            </p:nvSpPr>
            <p:spPr>
              <a:xfrm>
                <a:off x="2413397" y="2099072"/>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C4887C"/>
                </a:solidFill>
              </a:ln>
            </p:spPr>
          </p:sp>
          <p:sp>
            <p:nvSpPr>
              <p:cNvPr id="77" name="Freeform 77"/>
              <p:cNvSpPr/>
              <p:nvPr/>
            </p:nvSpPr>
            <p:spPr>
              <a:xfrm>
                <a:off x="2439591" y="2129631"/>
                <a:ext cx="26194" cy="17462"/>
              </a:xfrm>
              <a:custGeom>
                <a:avLst/>
                <a:gdLst/>
                <a:ahLst/>
                <a:cxnLst/>
                <a:rect l="l" t="t" r="r" b="b"/>
                <a:pathLst>
                  <a:path w="26194" h="17462">
                    <a:moveTo>
                      <a:pt x="0" y="8731"/>
                    </a:moveTo>
                    <a:lnTo>
                      <a:pt x="8731" y="17462"/>
                    </a:lnTo>
                    <a:lnTo>
                      <a:pt x="26194" y="0"/>
                    </a:lnTo>
                  </a:path>
                </a:pathLst>
              </a:custGeom>
              <a:noFill/>
              <a:ln w="8731">
                <a:solidFill>
                  <a:srgbClr val="C4887C"/>
                </a:solidFill>
              </a:ln>
            </p:spPr>
          </p:sp>
        </p:grpSp>
        <p:sp>
          <p:nvSpPr>
            <p:cNvPr id="79" name="TextBox 79"/>
            <p:cNvSpPr txBox="1"/>
            <p:nvPr/>
          </p:nvSpPr>
          <p:spPr>
            <a:xfrm>
              <a:off x="2547938" y="2102882"/>
              <a:ext cx="354152" cy="126206"/>
            </a:xfrm>
            <a:prstGeom prst="rect">
              <a:avLst/>
            </a:prstGeom>
            <a:noFill/>
            <a:ln>
              <a:noFill/>
            </a:ln>
          </p:spPr>
          <p:txBody>
            <a:bodyPr wrap="none" lIns="0" tIns="0" rIns="0" bIns="0" anchor="t" anchorCtr="0">
              <a:spAutoFit/>
            </a:bodyPr>
            <a:lstStyle/>
            <a:p>
              <a:pPr algn="l"/>
              <a:r>
                <a:rPr lang="zh-CN" sz="640" dirty="0">
                  <a:solidFill>
                    <a:srgbClr val="FFFFFF"/>
                  </a:solidFill>
                  <a:latin typeface="+mn-lt"/>
                  <a:ea typeface="+mn-ea"/>
                  <a:cs typeface="+mn-cs"/>
                </a:rPr>
                <a:t>渠道路由</a:t>
              </a:r>
            </a:p>
          </p:txBody>
        </p:sp>
      </p:grpSp>
      <p:grpSp>
        <p:nvGrpSpPr>
          <p:cNvPr id="129" name="online-channels"/>
          <p:cNvGrpSpPr/>
          <p:nvPr/>
        </p:nvGrpSpPr>
        <p:grpSpPr>
          <a:xfrm>
            <a:off x="3217532" y="723900"/>
            <a:ext cx="4612018" cy="1485900"/>
            <a:chOff x="3217532" y="723900"/>
            <a:chExt cx="4612018" cy="1485900"/>
          </a:xfrm>
        </p:grpSpPr>
        <p:sp>
          <p:nvSpPr>
            <p:cNvPr id="81" name="Rectangle 81"/>
            <p:cNvSpPr/>
            <p:nvPr/>
          </p:nvSpPr>
          <p:spPr>
            <a:xfrm>
              <a:off x="3257550" y="723900"/>
              <a:ext cx="4572000" cy="1485900"/>
            </a:xfrm>
            <a:prstGeom prst="roundRect">
              <a:avLst>
                <a:gd name="adj" fmla="val 5128"/>
              </a:avLst>
            </a:prstGeom>
            <a:solidFill>
              <a:srgbClr val="FFFFFF"/>
            </a:solidFill>
            <a:ln w="14288">
              <a:solidFill>
                <a:srgbClr val="C2E0DA"/>
              </a:solidFill>
            </a:ln>
          </p:spPr>
        </p:sp>
        <p:sp>
          <p:nvSpPr>
            <p:cNvPr id="82" name="Rectangle 82"/>
            <p:cNvSpPr/>
            <p:nvPr/>
          </p:nvSpPr>
          <p:spPr>
            <a:xfrm>
              <a:off x="3257550" y="723900"/>
              <a:ext cx="4572000" cy="228600"/>
            </a:xfrm>
            <a:prstGeom prst="roundRect">
              <a:avLst>
                <a:gd name="adj" fmla="val 33333"/>
              </a:avLst>
            </a:prstGeom>
            <a:solidFill>
              <a:srgbClr val="76200F"/>
            </a:solidFill>
            <a:ln>
              <a:noFill/>
            </a:ln>
          </p:spPr>
        </p:sp>
        <p:sp>
          <p:nvSpPr>
            <p:cNvPr id="83" name="TextBox 83"/>
            <p:cNvSpPr txBox="1"/>
            <p:nvPr/>
          </p:nvSpPr>
          <p:spPr>
            <a:xfrm>
              <a:off x="3348038" y="791289"/>
              <a:ext cx="7539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全渠道线上承接</a:t>
              </a:r>
            </a:p>
          </p:txBody>
        </p:sp>
        <p:grpSp>
          <p:nvGrpSpPr>
            <p:cNvPr id="128" name="channel-chips"/>
            <p:cNvGrpSpPr/>
            <p:nvPr/>
          </p:nvGrpSpPr>
          <p:grpSpPr>
            <a:xfrm>
              <a:off x="3217532" y="1076325"/>
              <a:ext cx="4575430" cy="594122"/>
              <a:chOff x="3217532" y="1076325"/>
              <a:chExt cx="4575430" cy="594122"/>
            </a:xfrm>
          </p:grpSpPr>
          <p:sp>
            <p:nvSpPr>
              <p:cNvPr id="84" name="Ellipse 84"/>
              <p:cNvSpPr/>
              <p:nvPr/>
            </p:nvSpPr>
            <p:spPr>
              <a:xfrm>
                <a:off x="3343275" y="1076325"/>
                <a:ext cx="285750" cy="285750"/>
              </a:xfrm>
              <a:prstGeom prst="ellipse">
                <a:avLst/>
              </a:prstGeom>
              <a:solidFill>
                <a:srgbClr val="E4F3F0"/>
              </a:solidFill>
              <a:ln>
                <a:noFill/>
              </a:ln>
            </p:spPr>
          </p:sp>
          <p:grpSp>
            <p:nvGrpSpPr>
              <p:cNvPr id="88" name="Group 88"/>
              <p:cNvGrpSpPr/>
              <p:nvPr/>
            </p:nvGrpSpPr>
            <p:grpSpPr>
              <a:xfrm>
                <a:off x="3443288" y="1154906"/>
                <a:ext cx="85725" cy="128588"/>
                <a:chOff x="3443288" y="1154906"/>
                <a:chExt cx="85725" cy="128588"/>
              </a:xfrm>
            </p:grpSpPr>
            <p:sp>
              <p:nvSpPr>
                <p:cNvPr id="85" name="Freeform 85"/>
                <p:cNvSpPr/>
                <p:nvPr/>
              </p:nvSpPr>
              <p:spPr>
                <a:xfrm>
                  <a:off x="3443288" y="1154906"/>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76200F"/>
                  </a:solidFill>
                </a:ln>
              </p:spPr>
            </p:sp>
            <p:sp>
              <p:nvSpPr>
                <p:cNvPr id="86" name="Freeform 86"/>
                <p:cNvSpPr/>
                <p:nvPr/>
              </p:nvSpPr>
              <p:spPr>
                <a:xfrm>
                  <a:off x="3479006" y="1162050"/>
                  <a:ext cx="14288" cy="9525"/>
                </a:xfrm>
                <a:custGeom>
                  <a:avLst/>
                  <a:gdLst/>
                  <a:ahLst/>
                  <a:cxnLst/>
                  <a:rect l="l" t="t" r="r" b="b"/>
                  <a:pathLst>
                    <a:path w="14288" h="9525">
                      <a:moveTo>
                        <a:pt x="0" y="0"/>
                      </a:moveTo>
                      <a:lnTo>
                        <a:pt x="14288" y="0"/>
                      </a:lnTo>
                    </a:path>
                  </a:pathLst>
                </a:custGeom>
                <a:noFill/>
                <a:ln w="14288">
                  <a:solidFill>
                    <a:srgbClr val="76200F"/>
                  </a:solidFill>
                </a:ln>
              </p:spPr>
            </p:sp>
            <p:sp>
              <p:nvSpPr>
                <p:cNvPr id="87" name="Freeform 87"/>
                <p:cNvSpPr/>
                <p:nvPr/>
              </p:nvSpPr>
              <p:spPr>
                <a:xfrm>
                  <a:off x="3486150" y="1254919"/>
                  <a:ext cx="9525" cy="9525"/>
                </a:xfrm>
                <a:custGeom>
                  <a:avLst/>
                  <a:gdLst/>
                  <a:ahLst/>
                  <a:cxnLst/>
                  <a:rect l="l" t="t" r="r" b="b"/>
                  <a:pathLst>
                    <a:path w="9525" h="9525">
                      <a:moveTo>
                        <a:pt x="0" y="0"/>
                      </a:moveTo>
                      <a:lnTo>
                        <a:pt x="0" y="71"/>
                      </a:lnTo>
                    </a:path>
                  </a:pathLst>
                </a:custGeom>
                <a:noFill/>
                <a:ln w="14288">
                  <a:solidFill>
                    <a:srgbClr val="76200F"/>
                  </a:solidFill>
                </a:ln>
              </p:spPr>
            </p:sp>
          </p:grpSp>
          <p:sp>
            <p:nvSpPr>
              <p:cNvPr id="89" name="TextBox 89"/>
              <p:cNvSpPr txBox="1"/>
              <p:nvPr/>
            </p:nvSpPr>
            <p:spPr>
              <a:xfrm>
                <a:off x="3298304" y="143208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手机银行</a:t>
                </a:r>
              </a:p>
            </p:txBody>
          </p:sp>
          <p:sp>
            <p:nvSpPr>
              <p:cNvPr id="90" name="TextBox 90"/>
              <p:cNvSpPr txBox="1"/>
              <p:nvPr/>
            </p:nvSpPr>
            <p:spPr>
              <a:xfrm>
                <a:off x="3217532" y="1558528"/>
                <a:ext cx="537235"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一站式金融服务</a:t>
                </a:r>
              </a:p>
            </p:txBody>
          </p:sp>
          <p:sp>
            <p:nvSpPr>
              <p:cNvPr id="91" name="Ellipse 91"/>
              <p:cNvSpPr/>
              <p:nvPr/>
            </p:nvSpPr>
            <p:spPr>
              <a:xfrm>
                <a:off x="4010025" y="1076325"/>
                <a:ext cx="285750" cy="285750"/>
              </a:xfrm>
              <a:prstGeom prst="ellipse">
                <a:avLst/>
              </a:prstGeom>
              <a:solidFill>
                <a:srgbClr val="E4F3F0"/>
              </a:solidFill>
              <a:ln>
                <a:noFill/>
              </a:ln>
            </p:spPr>
          </p:sp>
          <p:sp>
            <p:nvSpPr>
              <p:cNvPr id="92" name="Freeform 92"/>
              <p:cNvSpPr/>
              <p:nvPr/>
            </p:nvSpPr>
            <p:spPr>
              <a:xfrm>
                <a:off x="4081291" y="115651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76200F"/>
                </a:solidFill>
              </a:ln>
            </p:spPr>
          </p:sp>
          <p:sp>
            <p:nvSpPr>
              <p:cNvPr id="93" name="TextBox 93"/>
              <p:cNvSpPr txBox="1"/>
              <p:nvPr/>
            </p:nvSpPr>
            <p:spPr>
              <a:xfrm>
                <a:off x="3965054" y="143208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微信银行</a:t>
                </a:r>
              </a:p>
            </p:txBody>
          </p:sp>
          <p:sp>
            <p:nvSpPr>
              <p:cNvPr id="94" name="TextBox 94"/>
              <p:cNvSpPr txBox="1"/>
              <p:nvPr/>
            </p:nvSpPr>
            <p:spPr>
              <a:xfrm>
                <a:off x="3884282" y="1558528"/>
                <a:ext cx="537235"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轻量化便捷触达</a:t>
                </a:r>
              </a:p>
            </p:txBody>
          </p:sp>
          <p:sp>
            <p:nvSpPr>
              <p:cNvPr id="95" name="Ellipse 95"/>
              <p:cNvSpPr/>
              <p:nvPr/>
            </p:nvSpPr>
            <p:spPr>
              <a:xfrm>
                <a:off x="4676775" y="1076325"/>
                <a:ext cx="285750" cy="285750"/>
              </a:xfrm>
              <a:prstGeom prst="ellipse">
                <a:avLst/>
              </a:prstGeom>
              <a:solidFill>
                <a:srgbClr val="E4F3F0"/>
              </a:solidFill>
              <a:ln>
                <a:noFill/>
              </a:ln>
            </p:spPr>
          </p:sp>
          <p:grpSp>
            <p:nvGrpSpPr>
              <p:cNvPr id="100" name="Group 100"/>
              <p:cNvGrpSpPr/>
              <p:nvPr/>
            </p:nvGrpSpPr>
            <p:grpSpPr>
              <a:xfrm>
                <a:off x="4755356" y="1154906"/>
                <a:ext cx="128588" cy="121444"/>
                <a:chOff x="4755356" y="1154906"/>
                <a:chExt cx="128588" cy="121444"/>
              </a:xfrm>
            </p:grpSpPr>
            <p:sp>
              <p:nvSpPr>
                <p:cNvPr id="96" name="Freeform 96"/>
                <p:cNvSpPr/>
                <p:nvPr/>
              </p:nvSpPr>
              <p:spPr>
                <a:xfrm>
                  <a:off x="4755356" y="1183481"/>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76200F"/>
                  </a:solidFill>
                </a:ln>
              </p:spPr>
            </p:sp>
            <p:sp>
              <p:nvSpPr>
                <p:cNvPr id="97" name="Freeform 97"/>
                <p:cNvSpPr/>
                <p:nvPr/>
              </p:nvSpPr>
              <p:spPr>
                <a:xfrm>
                  <a:off x="4791075" y="1154906"/>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76200F"/>
                  </a:solidFill>
                </a:ln>
              </p:spPr>
            </p:sp>
            <p:sp>
              <p:nvSpPr>
                <p:cNvPr id="98" name="Freeform 98"/>
                <p:cNvSpPr/>
                <p:nvPr/>
              </p:nvSpPr>
              <p:spPr>
                <a:xfrm>
                  <a:off x="4819650" y="1219200"/>
                  <a:ext cx="9525" cy="9525"/>
                </a:xfrm>
                <a:custGeom>
                  <a:avLst/>
                  <a:gdLst/>
                  <a:ahLst/>
                  <a:cxnLst/>
                  <a:rect l="l" t="t" r="r" b="b"/>
                  <a:pathLst>
                    <a:path w="9525" h="9525">
                      <a:moveTo>
                        <a:pt x="0" y="0"/>
                      </a:moveTo>
                      <a:lnTo>
                        <a:pt x="0" y="71"/>
                      </a:lnTo>
                    </a:path>
                  </a:pathLst>
                </a:custGeom>
                <a:noFill/>
                <a:ln w="14288">
                  <a:solidFill>
                    <a:srgbClr val="76200F"/>
                  </a:solidFill>
                </a:ln>
              </p:spPr>
            </p:sp>
            <p:sp>
              <p:nvSpPr>
                <p:cNvPr id="99" name="Freeform 99"/>
                <p:cNvSpPr/>
                <p:nvPr/>
              </p:nvSpPr>
              <p:spPr>
                <a:xfrm>
                  <a:off x="4755356" y="1226344"/>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76200F"/>
                  </a:solidFill>
                </a:ln>
              </p:spPr>
            </p:sp>
          </p:grpSp>
          <p:sp>
            <p:nvSpPr>
              <p:cNvPr id="101" name="TextBox 101"/>
              <p:cNvSpPr txBox="1"/>
              <p:nvPr/>
            </p:nvSpPr>
            <p:spPr>
              <a:xfrm>
                <a:off x="4631804" y="143208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企业微信</a:t>
                </a:r>
              </a:p>
            </p:txBody>
          </p:sp>
          <p:sp>
            <p:nvSpPr>
              <p:cNvPr id="102" name="TextBox 102"/>
              <p:cNvSpPr txBox="1"/>
              <p:nvPr/>
            </p:nvSpPr>
            <p:spPr>
              <a:xfrm>
                <a:off x="4513339" y="1558528"/>
                <a:ext cx="612623"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企业客户专属服务</a:t>
                </a:r>
              </a:p>
            </p:txBody>
          </p:sp>
          <p:sp>
            <p:nvSpPr>
              <p:cNvPr id="103" name="Ellipse 103"/>
              <p:cNvSpPr/>
              <p:nvPr/>
            </p:nvSpPr>
            <p:spPr>
              <a:xfrm>
                <a:off x="5343525" y="1076325"/>
                <a:ext cx="285750" cy="285750"/>
              </a:xfrm>
              <a:prstGeom prst="ellipse">
                <a:avLst/>
              </a:prstGeom>
              <a:solidFill>
                <a:srgbClr val="E4F3F0"/>
              </a:solidFill>
              <a:ln>
                <a:noFill/>
              </a:ln>
            </p:spPr>
          </p:sp>
          <p:sp>
            <p:nvSpPr>
              <p:cNvPr id="104" name="Freeform 104"/>
              <p:cNvSpPr/>
              <p:nvPr/>
            </p:nvSpPr>
            <p:spPr>
              <a:xfrm>
                <a:off x="5422106" y="1154906"/>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76200F"/>
                </a:solidFill>
              </a:ln>
            </p:spPr>
          </p:sp>
          <p:sp>
            <p:nvSpPr>
              <p:cNvPr id="105" name="TextBox 105"/>
              <p:cNvSpPr txBox="1"/>
              <p:nvPr/>
            </p:nvSpPr>
            <p:spPr>
              <a:xfrm>
                <a:off x="5344325" y="1432084"/>
                <a:ext cx="284150"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小程序</a:t>
                </a:r>
              </a:p>
            </p:txBody>
          </p:sp>
          <p:sp>
            <p:nvSpPr>
              <p:cNvPr id="106" name="TextBox 106"/>
              <p:cNvSpPr txBox="1"/>
              <p:nvPr/>
            </p:nvSpPr>
            <p:spPr>
              <a:xfrm>
                <a:off x="5180089" y="1558528"/>
                <a:ext cx="612623"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快速参与即用即走</a:t>
                </a:r>
              </a:p>
            </p:txBody>
          </p:sp>
          <p:sp>
            <p:nvSpPr>
              <p:cNvPr id="107" name="Ellipse 107"/>
              <p:cNvSpPr/>
              <p:nvPr/>
            </p:nvSpPr>
            <p:spPr>
              <a:xfrm>
                <a:off x="6010275" y="1076325"/>
                <a:ext cx="285750" cy="285750"/>
              </a:xfrm>
              <a:prstGeom prst="ellipse">
                <a:avLst/>
              </a:prstGeom>
              <a:solidFill>
                <a:srgbClr val="E4F3F0"/>
              </a:solidFill>
              <a:ln>
                <a:noFill/>
              </a:ln>
            </p:spPr>
          </p:sp>
          <p:grpSp>
            <p:nvGrpSpPr>
              <p:cNvPr id="111" name="Group 111"/>
              <p:cNvGrpSpPr/>
              <p:nvPr/>
            </p:nvGrpSpPr>
            <p:grpSpPr>
              <a:xfrm>
                <a:off x="6088856" y="1154906"/>
                <a:ext cx="128588" cy="128588"/>
                <a:chOff x="6088856" y="1154906"/>
                <a:chExt cx="128588" cy="128588"/>
              </a:xfrm>
            </p:grpSpPr>
            <p:sp>
              <p:nvSpPr>
                <p:cNvPr id="108" name="Freeform 108"/>
                <p:cNvSpPr/>
                <p:nvPr/>
              </p:nvSpPr>
              <p:spPr>
                <a:xfrm>
                  <a:off x="6146006" y="12120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6200F"/>
                  </a:solidFill>
                </a:ln>
              </p:spPr>
            </p:sp>
            <p:sp>
              <p:nvSpPr>
                <p:cNvPr id="109" name="Freeform 109"/>
                <p:cNvSpPr/>
                <p:nvPr/>
              </p:nvSpPr>
              <p:spPr>
                <a:xfrm>
                  <a:off x="6117431" y="11834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76200F"/>
                  </a:solidFill>
                </a:ln>
              </p:spPr>
            </p:sp>
            <p:sp>
              <p:nvSpPr>
                <p:cNvPr id="110" name="Freeform 110"/>
                <p:cNvSpPr/>
                <p:nvPr/>
              </p:nvSpPr>
              <p:spPr>
                <a:xfrm>
                  <a:off x="6088856" y="11549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grpSp>
          <p:sp>
            <p:nvSpPr>
              <p:cNvPr id="112" name="TextBox 112"/>
              <p:cNvSpPr txBox="1"/>
              <p:nvPr/>
            </p:nvSpPr>
            <p:spPr>
              <a:xfrm>
                <a:off x="5965304" y="143208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活动专区</a:t>
                </a:r>
              </a:p>
            </p:txBody>
          </p:sp>
          <p:sp>
            <p:nvSpPr>
              <p:cNvPr id="113" name="TextBox 113"/>
              <p:cNvSpPr txBox="1"/>
              <p:nvPr/>
            </p:nvSpPr>
            <p:spPr>
              <a:xfrm>
                <a:off x="5846839" y="1558528"/>
                <a:ext cx="612623"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活动聚合内容展示</a:t>
                </a:r>
              </a:p>
            </p:txBody>
          </p:sp>
          <p:sp>
            <p:nvSpPr>
              <p:cNvPr id="114" name="Ellipse 114"/>
              <p:cNvSpPr/>
              <p:nvPr/>
            </p:nvSpPr>
            <p:spPr>
              <a:xfrm>
                <a:off x="6677025" y="1076325"/>
                <a:ext cx="285750" cy="285750"/>
              </a:xfrm>
              <a:prstGeom prst="ellipse">
                <a:avLst/>
              </a:prstGeom>
              <a:solidFill>
                <a:srgbClr val="E4F3F0"/>
              </a:solidFill>
              <a:ln>
                <a:noFill/>
              </a:ln>
            </p:spPr>
          </p:sp>
          <p:grpSp>
            <p:nvGrpSpPr>
              <p:cNvPr id="117" name="Group 117"/>
              <p:cNvGrpSpPr/>
              <p:nvPr/>
            </p:nvGrpSpPr>
            <p:grpSpPr>
              <a:xfrm>
                <a:off x="6755606" y="1176338"/>
                <a:ext cx="128587" cy="85725"/>
                <a:chOff x="6755606" y="1176338"/>
                <a:chExt cx="128587" cy="85725"/>
              </a:xfrm>
            </p:grpSpPr>
            <p:sp>
              <p:nvSpPr>
                <p:cNvPr id="115" name="Freeform 115"/>
                <p:cNvSpPr/>
                <p:nvPr/>
              </p:nvSpPr>
              <p:spPr>
                <a:xfrm>
                  <a:off x="6841331" y="1187547"/>
                  <a:ext cx="42862" cy="63306"/>
                </a:xfrm>
                <a:custGeom>
                  <a:avLst/>
                  <a:gdLst/>
                  <a:ahLst/>
                  <a:cxnLst/>
                  <a:rect l="l" t="t" r="r" b="b"/>
                  <a:pathLst>
                    <a:path w="42862" h="63306">
                      <a:moveTo>
                        <a:pt x="0" y="17365"/>
                      </a:moveTo>
                      <a:lnTo>
                        <a:pt x="32525" y="1106"/>
                      </a:lnTo>
                      <a:cubicBezTo>
                        <a:pt x="34739" y="0"/>
                        <a:pt x="37368" y="118"/>
                        <a:pt x="39474" y="1419"/>
                      </a:cubicBezTo>
                      <a:cubicBezTo>
                        <a:pt x="41579" y="2720"/>
                        <a:pt x="42861" y="5018"/>
                        <a:pt x="42862" y="7493"/>
                      </a:cubicBezTo>
                      <a:lnTo>
                        <a:pt x="42862" y="55813"/>
                      </a:lnTo>
                      <a:cubicBezTo>
                        <a:pt x="42861" y="58288"/>
                        <a:pt x="41579" y="60586"/>
                        <a:pt x="39474" y="61887"/>
                      </a:cubicBezTo>
                      <a:cubicBezTo>
                        <a:pt x="37368" y="63187"/>
                        <a:pt x="34739" y="63306"/>
                        <a:pt x="32525" y="62200"/>
                      </a:cubicBezTo>
                      <a:lnTo>
                        <a:pt x="0" y="45940"/>
                      </a:lnTo>
                      <a:lnTo>
                        <a:pt x="0" y="17365"/>
                      </a:lnTo>
                    </a:path>
                  </a:pathLst>
                </a:custGeom>
                <a:noFill/>
                <a:ln w="14288">
                  <a:solidFill>
                    <a:srgbClr val="76200F"/>
                  </a:solidFill>
                </a:ln>
              </p:spPr>
            </p:sp>
            <p:sp>
              <p:nvSpPr>
                <p:cNvPr id="116" name="Freeform 116"/>
                <p:cNvSpPr/>
                <p:nvPr/>
              </p:nvSpPr>
              <p:spPr>
                <a:xfrm>
                  <a:off x="6755606" y="1176338"/>
                  <a:ext cx="85725" cy="85725"/>
                </a:xfrm>
                <a:custGeom>
                  <a:avLst/>
                  <a:gdLst/>
                  <a:ahLst/>
                  <a:cxnLst/>
                  <a:rect l="l" t="t" r="r" b="b"/>
                  <a:pathLst>
                    <a:path w="85725" h="85725">
                      <a:moveTo>
                        <a:pt x="0" y="14288"/>
                      </a:moveTo>
                      <a:cubicBezTo>
                        <a:pt x="0" y="6397"/>
                        <a:pt x="6397" y="0"/>
                        <a:pt x="14288" y="0"/>
                      </a:cubicBezTo>
                      <a:lnTo>
                        <a:pt x="71438" y="0"/>
                      </a:lnTo>
                      <a:cubicBezTo>
                        <a:pt x="79328" y="0"/>
                        <a:pt x="85725" y="6397"/>
                        <a:pt x="85725" y="14288"/>
                      </a:cubicBezTo>
                      <a:lnTo>
                        <a:pt x="85725" y="71438"/>
                      </a:lnTo>
                      <a:cubicBezTo>
                        <a:pt x="85725" y="79328"/>
                        <a:pt x="79328" y="85725"/>
                        <a:pt x="71438" y="85725"/>
                      </a:cubicBezTo>
                      <a:lnTo>
                        <a:pt x="14288" y="85725"/>
                      </a:lnTo>
                      <a:cubicBezTo>
                        <a:pt x="6397" y="85725"/>
                        <a:pt x="0" y="79328"/>
                        <a:pt x="0" y="71438"/>
                      </a:cubicBezTo>
                      <a:lnTo>
                        <a:pt x="0" y="14288"/>
                      </a:lnTo>
                    </a:path>
                  </a:pathLst>
                </a:custGeom>
                <a:noFill/>
                <a:ln w="14288">
                  <a:solidFill>
                    <a:srgbClr val="76200F"/>
                  </a:solidFill>
                </a:ln>
              </p:spPr>
            </p:sp>
          </p:grpSp>
          <p:sp>
            <p:nvSpPr>
              <p:cNvPr id="118" name="TextBox 118"/>
              <p:cNvSpPr txBox="1"/>
              <p:nvPr/>
            </p:nvSpPr>
            <p:spPr>
              <a:xfrm>
                <a:off x="6677825" y="1432084"/>
                <a:ext cx="284150"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直播间</a:t>
                </a:r>
              </a:p>
            </p:txBody>
          </p:sp>
          <p:sp>
            <p:nvSpPr>
              <p:cNvPr id="119" name="TextBox 119"/>
              <p:cNvSpPr txBox="1"/>
              <p:nvPr/>
            </p:nvSpPr>
            <p:spPr>
              <a:xfrm>
                <a:off x="6513589" y="1558528"/>
                <a:ext cx="612623"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产品宣讲在线互动</a:t>
                </a:r>
              </a:p>
            </p:txBody>
          </p:sp>
          <p:sp>
            <p:nvSpPr>
              <p:cNvPr id="120" name="Ellipse 120"/>
              <p:cNvSpPr/>
              <p:nvPr/>
            </p:nvSpPr>
            <p:spPr>
              <a:xfrm>
                <a:off x="7343775" y="1076325"/>
                <a:ext cx="285750" cy="285750"/>
              </a:xfrm>
              <a:prstGeom prst="ellipse">
                <a:avLst/>
              </a:prstGeom>
              <a:solidFill>
                <a:srgbClr val="E4F3F0"/>
              </a:solidFill>
              <a:ln>
                <a:noFill/>
              </a:ln>
            </p:spPr>
          </p:sp>
          <p:grpSp>
            <p:nvGrpSpPr>
              <p:cNvPr id="125" name="Group 125"/>
              <p:cNvGrpSpPr/>
              <p:nvPr/>
            </p:nvGrpSpPr>
            <p:grpSpPr>
              <a:xfrm>
                <a:off x="7422356" y="1154906"/>
                <a:ext cx="128587" cy="128588"/>
                <a:chOff x="7422356" y="1154906"/>
                <a:chExt cx="128587" cy="128588"/>
              </a:xfrm>
            </p:grpSpPr>
            <p:sp>
              <p:nvSpPr>
                <p:cNvPr id="121" name="Freeform 121"/>
                <p:cNvSpPr/>
                <p:nvPr/>
              </p:nvSpPr>
              <p:spPr>
                <a:xfrm>
                  <a:off x="7436644" y="11549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6200F"/>
                  </a:solidFill>
                </a:ln>
              </p:spPr>
            </p:sp>
            <p:sp>
              <p:nvSpPr>
                <p:cNvPr id="122" name="Freeform 122"/>
                <p:cNvSpPr/>
                <p:nvPr/>
              </p:nvSpPr>
              <p:spPr>
                <a:xfrm>
                  <a:off x="7422356" y="12406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76200F"/>
                  </a:solidFill>
                </a:ln>
              </p:spPr>
            </p:sp>
            <p:sp>
              <p:nvSpPr>
                <p:cNvPr id="123" name="Freeform 123"/>
                <p:cNvSpPr/>
                <p:nvPr/>
              </p:nvSpPr>
              <p:spPr>
                <a:xfrm>
                  <a:off x="7515225" y="11558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76200F"/>
                  </a:solidFill>
                </a:ln>
              </p:spPr>
            </p:sp>
            <p:sp>
              <p:nvSpPr>
                <p:cNvPr id="124" name="Freeform 124"/>
                <p:cNvSpPr/>
                <p:nvPr/>
              </p:nvSpPr>
              <p:spPr>
                <a:xfrm>
                  <a:off x="7529512" y="12417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76200F"/>
                  </a:solidFill>
                </a:ln>
              </p:spPr>
            </p:sp>
          </p:grpSp>
          <p:sp>
            <p:nvSpPr>
              <p:cNvPr id="126" name="TextBox 126"/>
              <p:cNvSpPr txBox="1"/>
              <p:nvPr/>
            </p:nvSpPr>
            <p:spPr>
              <a:xfrm>
                <a:off x="7390346" y="1432084"/>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社群</a:t>
                </a:r>
              </a:p>
            </p:txBody>
          </p:sp>
          <p:sp>
            <p:nvSpPr>
              <p:cNvPr id="127" name="TextBox 127"/>
              <p:cNvSpPr txBox="1"/>
              <p:nvPr/>
            </p:nvSpPr>
            <p:spPr>
              <a:xfrm>
                <a:off x="7180339" y="1558528"/>
                <a:ext cx="612623"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批量运营专属服务</a:t>
                </a:r>
              </a:p>
            </p:txBody>
          </p:sp>
        </p:grpSp>
      </p:grpSp>
      <p:grpSp>
        <p:nvGrpSpPr>
          <p:cNvPr id="170" name="function-matrix"/>
          <p:cNvGrpSpPr/>
          <p:nvPr/>
        </p:nvGrpSpPr>
        <p:grpSpPr>
          <a:xfrm>
            <a:off x="7905750" y="723900"/>
            <a:ext cx="3924300" cy="1520905"/>
            <a:chOff x="7905750" y="723900"/>
            <a:chExt cx="3924300" cy="1520905"/>
          </a:xfrm>
        </p:grpSpPr>
        <p:sp>
          <p:nvSpPr>
            <p:cNvPr id="130" name="Rectangle 130"/>
            <p:cNvSpPr/>
            <p:nvPr/>
          </p:nvSpPr>
          <p:spPr>
            <a:xfrm>
              <a:off x="7905750" y="723900"/>
              <a:ext cx="3924300" cy="1485900"/>
            </a:xfrm>
            <a:prstGeom prst="roundRect">
              <a:avLst>
                <a:gd name="adj" fmla="val 5128"/>
              </a:avLst>
            </a:prstGeom>
            <a:solidFill>
              <a:srgbClr val="FFFFFF"/>
            </a:solidFill>
            <a:ln w="14288">
              <a:solidFill>
                <a:srgbClr val="C2E0DA"/>
              </a:solidFill>
            </a:ln>
          </p:spPr>
        </p:sp>
        <p:sp>
          <p:nvSpPr>
            <p:cNvPr id="131" name="Rectangle 131"/>
            <p:cNvSpPr/>
            <p:nvPr/>
          </p:nvSpPr>
          <p:spPr>
            <a:xfrm>
              <a:off x="7905750" y="723900"/>
              <a:ext cx="3924300" cy="228600"/>
            </a:xfrm>
            <a:prstGeom prst="roundRect">
              <a:avLst>
                <a:gd name="adj" fmla="val 33333"/>
              </a:avLst>
            </a:prstGeom>
            <a:solidFill>
              <a:srgbClr val="5D190B"/>
            </a:solidFill>
            <a:ln>
              <a:noFill/>
            </a:ln>
          </p:spPr>
        </p:sp>
        <p:sp>
          <p:nvSpPr>
            <p:cNvPr id="132" name="TextBox 132"/>
            <p:cNvSpPr txBox="1"/>
            <p:nvPr/>
          </p:nvSpPr>
          <p:spPr>
            <a:xfrm>
              <a:off x="7996238" y="791289"/>
              <a:ext cx="6476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核心功能矩阵</a:t>
              </a:r>
            </a:p>
          </p:txBody>
        </p:sp>
        <p:grpSp>
          <p:nvGrpSpPr>
            <p:cNvPr id="135" name="Group 135"/>
            <p:cNvGrpSpPr/>
            <p:nvPr/>
          </p:nvGrpSpPr>
          <p:grpSpPr>
            <a:xfrm>
              <a:off x="8029220" y="1045369"/>
              <a:ext cx="108504" cy="100012"/>
              <a:chOff x="8029220" y="1045369"/>
              <a:chExt cx="108504" cy="100012"/>
            </a:xfrm>
          </p:grpSpPr>
          <p:sp>
            <p:nvSpPr>
              <p:cNvPr id="133" name="Freeform 133"/>
              <p:cNvSpPr/>
              <p:nvPr/>
            </p:nvSpPr>
            <p:spPr>
              <a:xfrm>
                <a:off x="8029220" y="104536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76200F"/>
                </a:solidFill>
              </a:ln>
            </p:spPr>
          </p:sp>
          <p:sp>
            <p:nvSpPr>
              <p:cNvPr id="134" name="Freeform 134"/>
              <p:cNvSpPr/>
              <p:nvPr/>
            </p:nvSpPr>
            <p:spPr>
              <a:xfrm>
                <a:off x="8103394" y="1123156"/>
                <a:ext cx="33337" cy="22225"/>
              </a:xfrm>
              <a:custGeom>
                <a:avLst/>
                <a:gdLst/>
                <a:ahLst/>
                <a:cxnLst/>
                <a:rect l="l" t="t" r="r" b="b"/>
                <a:pathLst>
                  <a:path w="33337" h="22225">
                    <a:moveTo>
                      <a:pt x="0" y="11112"/>
                    </a:moveTo>
                    <a:lnTo>
                      <a:pt x="11112" y="22225"/>
                    </a:lnTo>
                    <a:lnTo>
                      <a:pt x="33337" y="0"/>
                    </a:lnTo>
                  </a:path>
                </a:pathLst>
              </a:custGeom>
              <a:noFill/>
              <a:ln w="11112">
                <a:solidFill>
                  <a:srgbClr val="76200F"/>
                </a:solidFill>
              </a:ln>
            </p:spPr>
          </p:sp>
        </p:grpSp>
        <p:sp>
          <p:nvSpPr>
            <p:cNvPr id="136" name="TextBox 136"/>
            <p:cNvSpPr txBox="1"/>
            <p:nvPr/>
          </p:nvSpPr>
          <p:spPr>
            <a:xfrm>
              <a:off x="8205788" y="1056561"/>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身份认证</a:t>
              </a:r>
            </a:p>
          </p:txBody>
        </p:sp>
        <p:sp>
          <p:nvSpPr>
            <p:cNvPr id="137" name="TextBox 137"/>
            <p:cNvSpPr txBox="1"/>
            <p:nvPr/>
          </p:nvSpPr>
          <p:spPr>
            <a:xfrm>
              <a:off x="8948738" y="1068705"/>
              <a:ext cx="73647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客户身份核验与绑定</a:t>
              </a:r>
            </a:p>
          </p:txBody>
        </p:sp>
        <p:grpSp>
          <p:nvGrpSpPr>
            <p:cNvPr id="143" name="Group 143"/>
            <p:cNvGrpSpPr/>
            <p:nvPr/>
          </p:nvGrpSpPr>
          <p:grpSpPr>
            <a:xfrm>
              <a:off x="8047831" y="1254919"/>
              <a:ext cx="77787" cy="100012"/>
              <a:chOff x="8047831" y="1254919"/>
              <a:chExt cx="77787" cy="100012"/>
            </a:xfrm>
          </p:grpSpPr>
          <p:sp>
            <p:nvSpPr>
              <p:cNvPr id="138" name="Freeform 138"/>
              <p:cNvSpPr/>
              <p:nvPr/>
            </p:nvSpPr>
            <p:spPr>
              <a:xfrm>
                <a:off x="8097837" y="125491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76200F"/>
                </a:solidFill>
              </a:ln>
            </p:spPr>
          </p:sp>
          <p:sp>
            <p:nvSpPr>
              <p:cNvPr id="139" name="Freeform 139"/>
              <p:cNvSpPr/>
              <p:nvPr/>
            </p:nvSpPr>
            <p:spPr>
              <a:xfrm>
                <a:off x="8047831" y="125491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76200F"/>
                </a:solidFill>
              </a:ln>
            </p:spPr>
          </p:sp>
          <p:sp>
            <p:nvSpPr>
              <p:cNvPr id="140" name="Freeform 140"/>
              <p:cNvSpPr/>
              <p:nvPr/>
            </p:nvSpPr>
            <p:spPr>
              <a:xfrm>
                <a:off x="8070056" y="1288256"/>
                <a:ext cx="9525" cy="9525"/>
              </a:xfrm>
              <a:custGeom>
                <a:avLst/>
                <a:gdLst/>
                <a:ahLst/>
                <a:cxnLst/>
                <a:rect l="l" t="t" r="r" b="b"/>
                <a:pathLst>
                  <a:path w="9525" h="9525">
                    <a:moveTo>
                      <a:pt x="0" y="0"/>
                    </a:moveTo>
                    <a:lnTo>
                      <a:pt x="5556" y="0"/>
                    </a:lnTo>
                  </a:path>
                </a:pathLst>
              </a:custGeom>
              <a:noFill/>
              <a:ln w="11112">
                <a:solidFill>
                  <a:srgbClr val="76200F"/>
                </a:solidFill>
              </a:ln>
            </p:spPr>
          </p:sp>
          <p:sp>
            <p:nvSpPr>
              <p:cNvPr id="141" name="Freeform 141"/>
              <p:cNvSpPr/>
              <p:nvPr/>
            </p:nvSpPr>
            <p:spPr>
              <a:xfrm>
                <a:off x="8070056" y="1310481"/>
                <a:ext cx="33337" cy="9525"/>
              </a:xfrm>
              <a:custGeom>
                <a:avLst/>
                <a:gdLst/>
                <a:ahLst/>
                <a:cxnLst/>
                <a:rect l="l" t="t" r="r" b="b"/>
                <a:pathLst>
                  <a:path w="33337" h="9525">
                    <a:moveTo>
                      <a:pt x="0" y="0"/>
                    </a:moveTo>
                    <a:lnTo>
                      <a:pt x="33337" y="0"/>
                    </a:lnTo>
                  </a:path>
                </a:pathLst>
              </a:custGeom>
              <a:noFill/>
              <a:ln w="11112">
                <a:solidFill>
                  <a:srgbClr val="76200F"/>
                </a:solidFill>
              </a:ln>
            </p:spPr>
          </p:sp>
          <p:sp>
            <p:nvSpPr>
              <p:cNvPr id="142" name="Freeform 142"/>
              <p:cNvSpPr/>
              <p:nvPr/>
            </p:nvSpPr>
            <p:spPr>
              <a:xfrm>
                <a:off x="8070056" y="1332706"/>
                <a:ext cx="33337" cy="9525"/>
              </a:xfrm>
              <a:custGeom>
                <a:avLst/>
                <a:gdLst/>
                <a:ahLst/>
                <a:cxnLst/>
                <a:rect l="l" t="t" r="r" b="b"/>
                <a:pathLst>
                  <a:path w="33337" h="9525">
                    <a:moveTo>
                      <a:pt x="0" y="0"/>
                    </a:moveTo>
                    <a:lnTo>
                      <a:pt x="33337" y="0"/>
                    </a:lnTo>
                  </a:path>
                </a:pathLst>
              </a:custGeom>
              <a:noFill/>
              <a:ln w="11112">
                <a:solidFill>
                  <a:srgbClr val="76200F"/>
                </a:solidFill>
              </a:ln>
            </p:spPr>
          </p:sp>
        </p:grpSp>
        <p:sp>
          <p:nvSpPr>
            <p:cNvPr id="144" name="TextBox 144"/>
            <p:cNvSpPr txBox="1"/>
            <p:nvPr/>
          </p:nvSpPr>
          <p:spPr>
            <a:xfrm>
              <a:off x="8205788" y="1266111"/>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内容触达</a:t>
              </a:r>
            </a:p>
          </p:txBody>
        </p:sp>
        <p:sp>
          <p:nvSpPr>
            <p:cNvPr id="145" name="TextBox 145"/>
            <p:cNvSpPr txBox="1"/>
            <p:nvPr/>
          </p:nvSpPr>
          <p:spPr>
            <a:xfrm>
              <a:off x="8948738" y="1278255"/>
              <a:ext cx="1067638"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活动信息/产品内容精准推送​</a:t>
              </a:r>
            </a:p>
          </p:txBody>
        </p:sp>
        <p:grpSp>
          <p:nvGrpSpPr>
            <p:cNvPr id="149" name="Group 149"/>
            <p:cNvGrpSpPr/>
            <p:nvPr/>
          </p:nvGrpSpPr>
          <p:grpSpPr>
            <a:xfrm>
              <a:off x="8038952" y="1464469"/>
              <a:ext cx="95534" cy="99401"/>
              <a:chOff x="8038952" y="1464469"/>
              <a:chExt cx="95534" cy="99401"/>
            </a:xfrm>
          </p:grpSpPr>
          <p:sp>
            <p:nvSpPr>
              <p:cNvPr id="146" name="Freeform 146"/>
              <p:cNvSpPr/>
              <p:nvPr/>
            </p:nvSpPr>
            <p:spPr>
              <a:xfrm>
                <a:off x="8053387" y="1464469"/>
                <a:ext cx="66675" cy="66675"/>
              </a:xfrm>
              <a:custGeom>
                <a:avLst/>
                <a:gdLst/>
                <a:ahLst/>
                <a:cxnLst/>
                <a:rect l="l" t="t" r="r" b="b"/>
                <a:pathLst>
                  <a:path w="66675" h="66675">
                    <a:moveTo>
                      <a:pt x="0" y="33337"/>
                    </a:moveTo>
                    <a:cubicBezTo>
                      <a:pt x="0" y="51749"/>
                      <a:pt x="14926" y="66675"/>
                      <a:pt x="33337" y="66675"/>
                    </a:cubicBezTo>
                    <a:cubicBezTo>
                      <a:pt x="51749" y="66675"/>
                      <a:pt x="66675" y="51749"/>
                      <a:pt x="66675" y="33337"/>
                    </a:cubicBezTo>
                    <a:cubicBezTo>
                      <a:pt x="66675" y="14926"/>
                      <a:pt x="51749" y="0"/>
                      <a:pt x="33337" y="0"/>
                    </a:cubicBezTo>
                    <a:cubicBezTo>
                      <a:pt x="14926" y="0"/>
                      <a:pt x="0" y="14926"/>
                      <a:pt x="0" y="33337"/>
                    </a:cubicBezTo>
                  </a:path>
                </a:pathLst>
              </a:custGeom>
              <a:noFill/>
              <a:ln w="11112">
                <a:solidFill>
                  <a:srgbClr val="76200F"/>
                </a:solidFill>
              </a:ln>
            </p:spPr>
          </p:sp>
          <p:sp>
            <p:nvSpPr>
              <p:cNvPr id="147" name="Freeform 147"/>
              <p:cNvSpPr/>
              <p:nvPr/>
            </p:nvSpPr>
            <p:spPr>
              <a:xfrm>
                <a:off x="8086725" y="1514475"/>
                <a:ext cx="47761" cy="49395"/>
              </a:xfrm>
              <a:custGeom>
                <a:avLst/>
                <a:gdLst/>
                <a:ahLst/>
                <a:cxnLst/>
                <a:rect l="l" t="t" r="r" b="b"/>
                <a:pathLst>
                  <a:path w="47761" h="49395">
                    <a:moveTo>
                      <a:pt x="0" y="16669"/>
                    </a:moveTo>
                    <a:lnTo>
                      <a:pt x="18891" y="49395"/>
                    </a:lnTo>
                    <a:lnTo>
                      <a:pt x="27770" y="31432"/>
                    </a:lnTo>
                    <a:lnTo>
                      <a:pt x="47761" y="32721"/>
                    </a:lnTo>
                    <a:lnTo>
                      <a:pt x="28870" y="0"/>
                    </a:lnTo>
                  </a:path>
                </a:pathLst>
              </a:custGeom>
              <a:noFill/>
              <a:ln w="11112">
                <a:solidFill>
                  <a:srgbClr val="76200F"/>
                </a:solidFill>
              </a:ln>
            </p:spPr>
          </p:sp>
          <p:sp>
            <p:nvSpPr>
              <p:cNvPr id="148" name="Freeform 148"/>
              <p:cNvSpPr/>
              <p:nvPr/>
            </p:nvSpPr>
            <p:spPr>
              <a:xfrm>
                <a:off x="8038952" y="1514475"/>
                <a:ext cx="47761" cy="49389"/>
              </a:xfrm>
              <a:custGeom>
                <a:avLst/>
                <a:gdLst/>
                <a:ahLst/>
                <a:cxnLst/>
                <a:rect l="l" t="t" r="r" b="b"/>
                <a:pathLst>
                  <a:path w="47761" h="49389">
                    <a:moveTo>
                      <a:pt x="18891" y="0"/>
                    </a:moveTo>
                    <a:lnTo>
                      <a:pt x="0" y="32726"/>
                    </a:lnTo>
                    <a:lnTo>
                      <a:pt x="19991" y="31432"/>
                    </a:lnTo>
                    <a:lnTo>
                      <a:pt x="28870" y="49389"/>
                    </a:lnTo>
                    <a:lnTo>
                      <a:pt x="47761" y="16669"/>
                    </a:lnTo>
                  </a:path>
                </a:pathLst>
              </a:custGeom>
              <a:noFill/>
              <a:ln w="11112">
                <a:solidFill>
                  <a:srgbClr val="76200F"/>
                </a:solidFill>
              </a:ln>
            </p:spPr>
          </p:sp>
        </p:grpSp>
        <p:sp>
          <p:nvSpPr>
            <p:cNvPr id="150" name="TextBox 150"/>
            <p:cNvSpPr txBox="1"/>
            <p:nvPr/>
          </p:nvSpPr>
          <p:spPr>
            <a:xfrm>
              <a:off x="8205788" y="1475661"/>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权益领取</a:t>
              </a:r>
            </a:p>
          </p:txBody>
        </p:sp>
        <p:sp>
          <p:nvSpPr>
            <p:cNvPr id="151" name="TextBox 151"/>
            <p:cNvSpPr txBox="1"/>
            <p:nvPr/>
          </p:nvSpPr>
          <p:spPr>
            <a:xfrm>
              <a:off x="8948738" y="1487805"/>
              <a:ext cx="1031291"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优惠券/积分/专属权益发放​</a:t>
              </a:r>
            </a:p>
          </p:txBody>
        </p:sp>
        <p:grpSp>
          <p:nvGrpSpPr>
            <p:cNvPr id="156" name="Group 156"/>
            <p:cNvGrpSpPr/>
            <p:nvPr/>
          </p:nvGrpSpPr>
          <p:grpSpPr>
            <a:xfrm>
              <a:off x="8036719" y="1685131"/>
              <a:ext cx="100012" cy="77787"/>
              <a:chOff x="8036719" y="1685131"/>
              <a:chExt cx="100012" cy="77787"/>
            </a:xfrm>
          </p:grpSpPr>
          <p:sp>
            <p:nvSpPr>
              <p:cNvPr id="152" name="Freeform 152"/>
              <p:cNvSpPr/>
              <p:nvPr/>
            </p:nvSpPr>
            <p:spPr>
              <a:xfrm>
                <a:off x="8036719" y="1685131"/>
                <a:ext cx="100012" cy="77787"/>
              </a:xfrm>
              <a:custGeom>
                <a:avLst/>
                <a:gdLst/>
                <a:ahLst/>
                <a:cxnLst/>
                <a:rect l="l" t="t" r="r" b="b"/>
                <a:pathLst>
                  <a:path w="100012" h="77787">
                    <a:moveTo>
                      <a:pt x="0" y="16669"/>
                    </a:moveTo>
                    <a:cubicBezTo>
                      <a:pt x="0" y="7463"/>
                      <a:pt x="7463" y="0"/>
                      <a:pt x="16669" y="0"/>
                    </a:cubicBezTo>
                    <a:lnTo>
                      <a:pt x="83344" y="0"/>
                    </a:lnTo>
                    <a:cubicBezTo>
                      <a:pt x="92550" y="0"/>
                      <a:pt x="100012" y="7463"/>
                      <a:pt x="100012" y="16669"/>
                    </a:cubicBezTo>
                    <a:lnTo>
                      <a:pt x="100012" y="61119"/>
                    </a:lnTo>
                    <a:cubicBezTo>
                      <a:pt x="100012" y="70325"/>
                      <a:pt x="92550" y="77787"/>
                      <a:pt x="83344" y="77787"/>
                    </a:cubicBezTo>
                    <a:lnTo>
                      <a:pt x="16669" y="77787"/>
                    </a:lnTo>
                    <a:cubicBezTo>
                      <a:pt x="7463" y="77787"/>
                      <a:pt x="0" y="70325"/>
                      <a:pt x="0" y="61119"/>
                    </a:cubicBezTo>
                    <a:lnTo>
                      <a:pt x="0" y="16669"/>
                    </a:lnTo>
                  </a:path>
                </a:pathLst>
              </a:custGeom>
              <a:noFill/>
              <a:ln w="11112">
                <a:solidFill>
                  <a:srgbClr val="76200F"/>
                </a:solidFill>
              </a:ln>
            </p:spPr>
          </p:sp>
          <p:sp>
            <p:nvSpPr>
              <p:cNvPr id="153" name="Freeform 153"/>
              <p:cNvSpPr/>
              <p:nvPr/>
            </p:nvSpPr>
            <p:spPr>
              <a:xfrm>
                <a:off x="8036719" y="1712912"/>
                <a:ext cx="100012" cy="9525"/>
              </a:xfrm>
              <a:custGeom>
                <a:avLst/>
                <a:gdLst/>
                <a:ahLst/>
                <a:cxnLst/>
                <a:rect l="l" t="t" r="r" b="b"/>
                <a:pathLst>
                  <a:path w="100012" h="9525">
                    <a:moveTo>
                      <a:pt x="0" y="0"/>
                    </a:moveTo>
                    <a:lnTo>
                      <a:pt x="100012" y="0"/>
                    </a:lnTo>
                  </a:path>
                </a:pathLst>
              </a:custGeom>
              <a:noFill/>
              <a:ln w="11112">
                <a:solidFill>
                  <a:srgbClr val="76200F"/>
                </a:solidFill>
              </a:ln>
            </p:spPr>
          </p:sp>
          <p:sp>
            <p:nvSpPr>
              <p:cNvPr id="154" name="Freeform 154"/>
              <p:cNvSpPr/>
              <p:nvPr/>
            </p:nvSpPr>
            <p:spPr>
              <a:xfrm>
                <a:off x="8058944" y="1740694"/>
                <a:ext cx="9525" cy="9525"/>
              </a:xfrm>
              <a:custGeom>
                <a:avLst/>
                <a:gdLst/>
                <a:ahLst/>
                <a:cxnLst/>
                <a:rect l="l" t="t" r="r" b="b"/>
                <a:pathLst>
                  <a:path w="9525" h="9525">
                    <a:moveTo>
                      <a:pt x="0" y="0"/>
                    </a:moveTo>
                    <a:lnTo>
                      <a:pt x="56" y="0"/>
                    </a:lnTo>
                  </a:path>
                </a:pathLst>
              </a:custGeom>
              <a:noFill/>
              <a:ln w="11112">
                <a:solidFill>
                  <a:srgbClr val="76200F"/>
                </a:solidFill>
              </a:ln>
            </p:spPr>
          </p:sp>
          <p:sp>
            <p:nvSpPr>
              <p:cNvPr id="155" name="Freeform 155"/>
              <p:cNvSpPr/>
              <p:nvPr/>
            </p:nvSpPr>
            <p:spPr>
              <a:xfrm>
                <a:off x="8081169" y="1740694"/>
                <a:ext cx="11112" cy="9525"/>
              </a:xfrm>
              <a:custGeom>
                <a:avLst/>
                <a:gdLst/>
                <a:ahLst/>
                <a:cxnLst/>
                <a:rect l="l" t="t" r="r" b="b"/>
                <a:pathLst>
                  <a:path w="11112" h="9525">
                    <a:moveTo>
                      <a:pt x="0" y="0"/>
                    </a:moveTo>
                    <a:lnTo>
                      <a:pt x="11112" y="0"/>
                    </a:lnTo>
                  </a:path>
                </a:pathLst>
              </a:custGeom>
              <a:noFill/>
              <a:ln w="11112">
                <a:solidFill>
                  <a:srgbClr val="76200F"/>
                </a:solidFill>
              </a:ln>
            </p:spPr>
          </p:sp>
        </p:grpSp>
        <p:sp>
          <p:nvSpPr>
            <p:cNvPr id="157" name="TextBox 157"/>
            <p:cNvSpPr txBox="1"/>
            <p:nvPr/>
          </p:nvSpPr>
          <p:spPr>
            <a:xfrm>
              <a:off x="8205788" y="1685211"/>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产品办理</a:t>
              </a:r>
            </a:p>
          </p:txBody>
        </p:sp>
        <p:sp>
          <p:nvSpPr>
            <p:cNvPr id="158" name="TextBox 158"/>
            <p:cNvSpPr txBox="1"/>
            <p:nvPr/>
          </p:nvSpPr>
          <p:spPr>
            <a:xfrm>
              <a:off x="8948738" y="1697355"/>
              <a:ext cx="1031291"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开户/理财/贷款等在线办理​</a:t>
              </a:r>
            </a:p>
          </p:txBody>
        </p:sp>
        <p:grpSp>
          <p:nvGrpSpPr>
            <p:cNvPr id="162" name="Group 162"/>
            <p:cNvGrpSpPr/>
            <p:nvPr/>
          </p:nvGrpSpPr>
          <p:grpSpPr>
            <a:xfrm>
              <a:off x="8053387" y="1883569"/>
              <a:ext cx="83344" cy="100012"/>
              <a:chOff x="8053387" y="1883569"/>
              <a:chExt cx="83344" cy="100012"/>
            </a:xfrm>
          </p:grpSpPr>
          <p:sp>
            <p:nvSpPr>
              <p:cNvPr id="159" name="Freeform 159"/>
              <p:cNvSpPr/>
              <p:nvPr/>
            </p:nvSpPr>
            <p:spPr>
              <a:xfrm>
                <a:off x="8064500" y="18835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76200F"/>
                </a:solidFill>
              </a:ln>
            </p:spPr>
          </p:sp>
          <p:sp>
            <p:nvSpPr>
              <p:cNvPr id="160" name="Freeform 160"/>
              <p:cNvSpPr/>
              <p:nvPr/>
            </p:nvSpPr>
            <p:spPr>
              <a:xfrm>
                <a:off x="8053387" y="195024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76200F"/>
                </a:solidFill>
              </a:ln>
            </p:spPr>
          </p:sp>
          <p:sp>
            <p:nvSpPr>
              <p:cNvPr id="161" name="Freeform 161"/>
              <p:cNvSpPr/>
              <p:nvPr/>
            </p:nvSpPr>
            <p:spPr>
              <a:xfrm>
                <a:off x="8103394" y="1961356"/>
                <a:ext cx="33337" cy="22225"/>
              </a:xfrm>
              <a:custGeom>
                <a:avLst/>
                <a:gdLst/>
                <a:ahLst/>
                <a:cxnLst/>
                <a:rect l="l" t="t" r="r" b="b"/>
                <a:pathLst>
                  <a:path w="33337" h="22225">
                    <a:moveTo>
                      <a:pt x="0" y="11112"/>
                    </a:moveTo>
                    <a:lnTo>
                      <a:pt x="11112" y="22225"/>
                    </a:lnTo>
                    <a:lnTo>
                      <a:pt x="33337" y="0"/>
                    </a:lnTo>
                  </a:path>
                </a:pathLst>
              </a:custGeom>
              <a:noFill/>
              <a:ln w="11112">
                <a:solidFill>
                  <a:srgbClr val="76200F"/>
                </a:solidFill>
              </a:ln>
            </p:spPr>
          </p:sp>
        </p:grpSp>
        <p:sp>
          <p:nvSpPr>
            <p:cNvPr id="163" name="TextBox 163"/>
            <p:cNvSpPr txBox="1"/>
            <p:nvPr/>
          </p:nvSpPr>
          <p:spPr>
            <a:xfrm>
              <a:off x="8205788" y="1894761"/>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顾问跟进</a:t>
              </a:r>
            </a:p>
          </p:txBody>
        </p:sp>
        <p:sp>
          <p:nvSpPr>
            <p:cNvPr id="164" name="TextBox 164"/>
            <p:cNvSpPr txBox="1"/>
            <p:nvPr/>
          </p:nvSpPr>
          <p:spPr>
            <a:xfrm>
              <a:off x="8948738" y="1906905"/>
              <a:ext cx="84094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专属客户经理1V1服务​</a:t>
              </a:r>
            </a:p>
          </p:txBody>
        </p:sp>
        <p:grpSp>
          <p:nvGrpSpPr>
            <p:cNvPr id="167" name="Group 167"/>
            <p:cNvGrpSpPr/>
            <p:nvPr/>
          </p:nvGrpSpPr>
          <p:grpSpPr>
            <a:xfrm>
              <a:off x="8036719" y="2093119"/>
              <a:ext cx="100012" cy="100012"/>
              <a:chOff x="8036719" y="2093119"/>
              <a:chExt cx="100012" cy="100012"/>
            </a:xfrm>
          </p:grpSpPr>
          <p:sp>
            <p:nvSpPr>
              <p:cNvPr id="165" name="Freeform 165"/>
              <p:cNvSpPr/>
              <p:nvPr/>
            </p:nvSpPr>
            <p:spPr>
              <a:xfrm>
                <a:off x="8036719" y="20931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6200F"/>
                </a:solidFill>
              </a:ln>
            </p:spPr>
          </p:sp>
          <p:sp>
            <p:nvSpPr>
              <p:cNvPr id="166" name="Freeform 166"/>
              <p:cNvSpPr/>
              <p:nvPr/>
            </p:nvSpPr>
            <p:spPr>
              <a:xfrm>
                <a:off x="8070056" y="2132012"/>
                <a:ext cx="33337" cy="22225"/>
              </a:xfrm>
              <a:custGeom>
                <a:avLst/>
                <a:gdLst/>
                <a:ahLst/>
                <a:cxnLst/>
                <a:rect l="l" t="t" r="r" b="b"/>
                <a:pathLst>
                  <a:path w="33337" h="22225">
                    <a:moveTo>
                      <a:pt x="0" y="11112"/>
                    </a:moveTo>
                    <a:lnTo>
                      <a:pt x="11112" y="22225"/>
                    </a:lnTo>
                    <a:lnTo>
                      <a:pt x="33337" y="0"/>
                    </a:lnTo>
                  </a:path>
                </a:pathLst>
              </a:custGeom>
              <a:noFill/>
              <a:ln w="11112">
                <a:solidFill>
                  <a:srgbClr val="76200F"/>
                </a:solidFill>
              </a:ln>
            </p:spPr>
          </p:sp>
        </p:grpSp>
        <p:sp>
          <p:nvSpPr>
            <p:cNvPr id="168" name="TextBox 168"/>
            <p:cNvSpPr txBox="1"/>
            <p:nvPr/>
          </p:nvSpPr>
          <p:spPr>
            <a:xfrm>
              <a:off x="8205788" y="2104311"/>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交易核销</a:t>
              </a:r>
            </a:p>
          </p:txBody>
        </p:sp>
        <p:sp>
          <p:nvSpPr>
            <p:cNvPr id="169" name="TextBox 169"/>
            <p:cNvSpPr txBox="1"/>
            <p:nvPr/>
          </p:nvSpPr>
          <p:spPr>
            <a:xfrm>
              <a:off x="8948738" y="2116455"/>
              <a:ext cx="906094"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线下权益/活动奖励核销​</a:t>
              </a:r>
            </a:p>
          </p:txBody>
        </p:sp>
      </p:grpSp>
      <p:grpSp>
        <p:nvGrpSpPr>
          <p:cNvPr id="254" name="router-rules"/>
          <p:cNvGrpSpPr/>
          <p:nvPr/>
        </p:nvGrpSpPr>
        <p:grpSpPr>
          <a:xfrm>
            <a:off x="342900" y="2305050"/>
            <a:ext cx="11487150" cy="2133600"/>
            <a:chOff x="342900" y="2305050"/>
            <a:chExt cx="11487150" cy="2133600"/>
          </a:xfrm>
        </p:grpSpPr>
        <p:sp>
          <p:nvSpPr>
            <p:cNvPr id="171" name="Rectangle 171"/>
            <p:cNvSpPr/>
            <p:nvPr/>
          </p:nvSpPr>
          <p:spPr>
            <a:xfrm>
              <a:off x="342900" y="2305050"/>
              <a:ext cx="11487150" cy="228600"/>
            </a:xfrm>
            <a:prstGeom prst="roundRect">
              <a:avLst>
                <a:gd name="adj" fmla="val 25000"/>
              </a:avLst>
            </a:prstGeom>
            <a:solidFill>
              <a:srgbClr val="76200F"/>
            </a:solidFill>
            <a:ln>
              <a:noFill/>
            </a:ln>
          </p:spPr>
        </p:sp>
        <p:sp>
          <p:nvSpPr>
            <p:cNvPr id="172" name="TextBox 172"/>
            <p:cNvSpPr txBox="1"/>
            <p:nvPr/>
          </p:nvSpPr>
          <p:spPr>
            <a:xfrm>
              <a:off x="452438" y="2369820"/>
              <a:ext cx="1979016"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智能路由规则</a:t>
              </a:r>
              <a:r>
                <a:rPr lang="zh-CN" sz="710" dirty="0">
                  <a:solidFill>
                    <a:srgbClr val="BFE4DD"/>
                  </a:solidFill>
                  <a:latin typeface="+mn-lt"/>
                  <a:ea typeface="+mn-ea"/>
                  <a:cs typeface="+mn-cs"/>
                </a:rPr>
                <a:t>（基于客户特征与行为意向）</a:t>
              </a:r>
            </a:p>
          </p:txBody>
        </p:sp>
        <p:sp>
          <p:nvSpPr>
            <p:cNvPr id="173" name="Rectangle 173"/>
            <p:cNvSpPr/>
            <p:nvPr/>
          </p:nvSpPr>
          <p:spPr>
            <a:xfrm>
              <a:off x="342900" y="2533650"/>
              <a:ext cx="11487150" cy="228600"/>
            </a:xfrm>
            <a:prstGeom prst="rect">
              <a:avLst/>
            </a:prstGeom>
            <a:solidFill>
              <a:srgbClr val="5D190B"/>
            </a:solidFill>
            <a:ln>
              <a:noFill/>
            </a:ln>
          </p:spPr>
        </p:sp>
        <p:sp>
          <p:nvSpPr>
            <p:cNvPr id="174" name="TextBox 174"/>
            <p:cNvSpPr txBox="1"/>
            <p:nvPr/>
          </p:nvSpPr>
          <p:spPr>
            <a:xfrm>
              <a:off x="745808" y="26146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客户类型</a:t>
              </a:r>
            </a:p>
          </p:txBody>
        </p:sp>
        <p:sp>
          <p:nvSpPr>
            <p:cNvPr id="175" name="TextBox 175"/>
            <p:cNvSpPr txBox="1"/>
            <p:nvPr/>
          </p:nvSpPr>
          <p:spPr>
            <a:xfrm>
              <a:off x="2650808" y="26146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客户细分</a:t>
              </a:r>
            </a:p>
          </p:txBody>
        </p:sp>
        <p:sp>
          <p:nvSpPr>
            <p:cNvPr id="176" name="TextBox 176"/>
            <p:cNvSpPr txBox="1"/>
            <p:nvPr/>
          </p:nvSpPr>
          <p:spPr>
            <a:xfrm>
              <a:off x="4555808" y="26146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意向判断</a:t>
              </a:r>
            </a:p>
          </p:txBody>
        </p:sp>
        <p:sp>
          <p:nvSpPr>
            <p:cNvPr id="177" name="TextBox 177"/>
            <p:cNvSpPr txBox="1"/>
            <p:nvPr/>
          </p:nvSpPr>
          <p:spPr>
            <a:xfrm>
              <a:off x="8068628" y="2614612"/>
              <a:ext cx="81724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路由策略（示例）</a:t>
              </a:r>
            </a:p>
          </p:txBody>
        </p:sp>
        <p:grpSp>
          <p:nvGrpSpPr>
            <p:cNvPr id="253" name="router-rows"/>
            <p:cNvGrpSpPr/>
            <p:nvPr/>
          </p:nvGrpSpPr>
          <p:grpSpPr>
            <a:xfrm>
              <a:off x="342900" y="2762250"/>
              <a:ext cx="11487150" cy="1676400"/>
              <a:chOff x="342900" y="2762250"/>
              <a:chExt cx="11487150" cy="1676400"/>
            </a:xfrm>
          </p:grpSpPr>
          <p:sp>
            <p:nvSpPr>
              <p:cNvPr id="178" name="Rectangle 178"/>
              <p:cNvSpPr/>
              <p:nvPr/>
            </p:nvSpPr>
            <p:spPr>
              <a:xfrm>
                <a:off x="342900" y="2762250"/>
                <a:ext cx="11487150" cy="209550"/>
              </a:xfrm>
              <a:prstGeom prst="rect">
                <a:avLst/>
              </a:prstGeom>
              <a:solidFill>
                <a:srgbClr val="FFFFFF"/>
              </a:solidFill>
              <a:ln w="9525">
                <a:solidFill>
                  <a:srgbClr val="E2EEEB"/>
                </a:solidFill>
              </a:ln>
            </p:spPr>
          </p:sp>
          <p:sp>
            <p:nvSpPr>
              <p:cNvPr id="179" name="Ellipse 179"/>
              <p:cNvSpPr/>
              <p:nvPr/>
            </p:nvSpPr>
            <p:spPr>
              <a:xfrm>
                <a:off x="647700" y="2790825"/>
                <a:ext cx="152400" cy="152400"/>
              </a:xfrm>
              <a:prstGeom prst="ellipse">
                <a:avLst/>
              </a:prstGeom>
              <a:solidFill>
                <a:srgbClr val="E4F1EE"/>
              </a:solidFill>
              <a:ln>
                <a:noFill/>
              </a:ln>
            </p:spPr>
          </p:sp>
          <p:grpSp>
            <p:nvGrpSpPr>
              <p:cNvPr id="184" name="Group 184"/>
              <p:cNvGrpSpPr/>
              <p:nvPr/>
            </p:nvGrpSpPr>
            <p:grpSpPr>
              <a:xfrm>
                <a:off x="681038" y="2824162"/>
                <a:ext cx="85724" cy="85726"/>
                <a:chOff x="681038" y="2824162"/>
                <a:chExt cx="85724" cy="85726"/>
              </a:xfrm>
            </p:grpSpPr>
            <p:sp>
              <p:nvSpPr>
                <p:cNvPr id="180" name="Freeform 180"/>
                <p:cNvSpPr/>
                <p:nvPr/>
              </p:nvSpPr>
              <p:spPr>
                <a:xfrm>
                  <a:off x="690562" y="2824162"/>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76200F"/>
                  </a:solidFill>
                </a:ln>
              </p:spPr>
            </p:sp>
            <p:sp>
              <p:nvSpPr>
                <p:cNvPr id="181" name="Freeform 181"/>
                <p:cNvSpPr/>
                <p:nvPr/>
              </p:nvSpPr>
              <p:spPr>
                <a:xfrm>
                  <a:off x="681038" y="2881312"/>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76200F"/>
                  </a:solidFill>
                </a:ln>
              </p:spPr>
            </p:sp>
            <p:sp>
              <p:nvSpPr>
                <p:cNvPr id="182" name="Freeform 182"/>
                <p:cNvSpPr/>
                <p:nvPr/>
              </p:nvSpPr>
              <p:spPr>
                <a:xfrm>
                  <a:off x="742950" y="2824782"/>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76200F"/>
                  </a:solidFill>
                </a:ln>
              </p:spPr>
            </p:sp>
            <p:sp>
              <p:nvSpPr>
                <p:cNvPr id="183" name="Freeform 183"/>
                <p:cNvSpPr/>
                <p:nvPr/>
              </p:nvSpPr>
              <p:spPr>
                <a:xfrm>
                  <a:off x="752475" y="2882027"/>
                  <a:ext cx="14287" cy="27861"/>
                </a:xfrm>
                <a:custGeom>
                  <a:avLst/>
                  <a:gdLst/>
                  <a:ahLst/>
                  <a:cxnLst/>
                  <a:rect l="l" t="t" r="r" b="b"/>
                  <a:pathLst>
                    <a:path w="14287" h="27861">
                      <a:moveTo>
                        <a:pt x="14287" y="27861"/>
                      </a:moveTo>
                      <a:lnTo>
                        <a:pt x="14287" y="18336"/>
                      </a:lnTo>
                      <a:cubicBezTo>
                        <a:pt x="14238" y="9690"/>
                        <a:pt x="8372" y="2161"/>
                        <a:pt x="0" y="0"/>
                      </a:cubicBezTo>
                    </a:path>
                  </a:pathLst>
                </a:custGeom>
                <a:noFill/>
                <a:ln w="9525">
                  <a:solidFill>
                    <a:srgbClr val="76200F"/>
                  </a:solidFill>
                </a:ln>
              </p:spPr>
            </p:sp>
          </p:grpSp>
          <p:sp>
            <p:nvSpPr>
              <p:cNvPr id="185" name="TextBox 185"/>
              <p:cNvSpPr txBox="1"/>
              <p:nvPr/>
            </p:nvSpPr>
            <p:spPr>
              <a:xfrm>
                <a:off x="856196" y="2832259"/>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新客</a:t>
                </a:r>
              </a:p>
            </p:txBody>
          </p:sp>
          <p:sp>
            <p:nvSpPr>
              <p:cNvPr id="186" name="TextBox 186"/>
              <p:cNvSpPr txBox="1"/>
              <p:nvPr/>
            </p:nvSpPr>
            <p:spPr>
              <a:xfrm>
                <a:off x="1864088" y="2836307"/>
                <a:ext cx="198682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个人客户（零售）·大众客群 / 年轻客群 / 高净值​​</a:t>
                </a:r>
              </a:p>
            </p:txBody>
          </p:sp>
          <p:sp>
            <p:nvSpPr>
              <p:cNvPr id="187" name="Rectangle 187"/>
              <p:cNvSpPr/>
              <p:nvPr/>
            </p:nvSpPr>
            <p:spPr>
              <a:xfrm>
                <a:off x="4191000" y="2809875"/>
                <a:ext cx="171450" cy="38100"/>
              </a:xfrm>
              <a:prstGeom prst="rect">
                <a:avLst/>
              </a:prstGeom>
              <a:solidFill>
                <a:srgbClr val="76200F"/>
              </a:solidFill>
              <a:ln>
                <a:noFill/>
              </a:ln>
            </p:spPr>
          </p:sp>
          <p:sp>
            <p:nvSpPr>
              <p:cNvPr id="188" name="Rectangle 188"/>
              <p:cNvSpPr/>
              <p:nvPr/>
            </p:nvSpPr>
            <p:spPr>
              <a:xfrm>
                <a:off x="4381500" y="2809875"/>
                <a:ext cx="171450" cy="38100"/>
              </a:xfrm>
              <a:prstGeom prst="rect">
                <a:avLst/>
              </a:prstGeom>
              <a:solidFill>
                <a:srgbClr val="76200F"/>
              </a:solidFill>
              <a:ln>
                <a:noFill/>
              </a:ln>
            </p:spPr>
          </p:sp>
          <p:sp>
            <p:nvSpPr>
              <p:cNvPr id="189" name="Rectangle 189"/>
              <p:cNvSpPr/>
              <p:nvPr/>
            </p:nvSpPr>
            <p:spPr>
              <a:xfrm>
                <a:off x="4572000" y="2809875"/>
                <a:ext cx="171450" cy="38100"/>
              </a:xfrm>
              <a:prstGeom prst="rect">
                <a:avLst/>
              </a:prstGeom>
              <a:solidFill>
                <a:srgbClr val="76200F"/>
              </a:solidFill>
              <a:ln>
                <a:noFill/>
              </a:ln>
            </p:spPr>
          </p:sp>
          <p:sp>
            <p:nvSpPr>
              <p:cNvPr id="190" name="TextBox 190"/>
              <p:cNvSpPr txBox="1"/>
              <p:nvPr/>
            </p:nvSpPr>
            <p:spPr>
              <a:xfrm>
                <a:off x="4628502" y="2836307"/>
                <a:ext cx="267995"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高意向</a:t>
                </a:r>
              </a:p>
            </p:txBody>
          </p:sp>
          <p:sp>
            <p:nvSpPr>
              <p:cNvPr id="191" name="TextBox 191"/>
              <p:cNvSpPr txBox="1"/>
              <p:nvPr/>
            </p:nvSpPr>
            <p:spPr>
              <a:xfrm>
                <a:off x="5043488" y="2836307"/>
                <a:ext cx="2615768"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引导至手机银行 / 小程序 → 快速开立账户 + 权益领取 → 顾问跟进​​​</a:t>
                </a:r>
              </a:p>
            </p:txBody>
          </p:sp>
          <p:sp>
            <p:nvSpPr>
              <p:cNvPr id="192" name="Rectangle 192"/>
              <p:cNvSpPr/>
              <p:nvPr/>
            </p:nvSpPr>
            <p:spPr>
              <a:xfrm>
                <a:off x="342900" y="2971800"/>
                <a:ext cx="11487150" cy="209550"/>
              </a:xfrm>
              <a:prstGeom prst="rect">
                <a:avLst/>
              </a:prstGeom>
              <a:solidFill>
                <a:srgbClr val="EFF8F6"/>
              </a:solidFill>
              <a:ln w="9525">
                <a:solidFill>
                  <a:srgbClr val="E2EEEB"/>
                </a:solidFill>
              </a:ln>
            </p:spPr>
          </p:sp>
          <p:sp>
            <p:nvSpPr>
              <p:cNvPr id="193" name="TextBox 193"/>
              <p:cNvSpPr txBox="1"/>
              <p:nvPr/>
            </p:nvSpPr>
            <p:spPr>
              <a:xfrm>
                <a:off x="856196" y="3041809"/>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新客</a:t>
                </a:r>
              </a:p>
            </p:txBody>
          </p:sp>
          <p:sp>
            <p:nvSpPr>
              <p:cNvPr id="194" name="TextBox 194"/>
              <p:cNvSpPr txBox="1"/>
              <p:nvPr/>
            </p:nvSpPr>
            <p:spPr>
              <a:xfrm>
                <a:off x="2288410" y="3045857"/>
                <a:ext cx="113817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个人客户（零售）·大众客群​</a:t>
                </a:r>
              </a:p>
            </p:txBody>
          </p:sp>
          <p:sp>
            <p:nvSpPr>
              <p:cNvPr id="195" name="Rectangle 195"/>
              <p:cNvSpPr/>
              <p:nvPr/>
            </p:nvSpPr>
            <p:spPr>
              <a:xfrm>
                <a:off x="4191000" y="3019425"/>
                <a:ext cx="171450" cy="38100"/>
              </a:xfrm>
              <a:prstGeom prst="rect">
                <a:avLst/>
              </a:prstGeom>
              <a:solidFill>
                <a:srgbClr val="C4887C"/>
              </a:solidFill>
              <a:ln>
                <a:noFill/>
              </a:ln>
            </p:spPr>
          </p:sp>
          <p:sp>
            <p:nvSpPr>
              <p:cNvPr id="196" name="Rectangle 196"/>
              <p:cNvSpPr/>
              <p:nvPr/>
            </p:nvSpPr>
            <p:spPr>
              <a:xfrm>
                <a:off x="4381500" y="3019425"/>
                <a:ext cx="171450" cy="38100"/>
              </a:xfrm>
              <a:prstGeom prst="rect">
                <a:avLst/>
              </a:prstGeom>
              <a:solidFill>
                <a:srgbClr val="D9EEEA"/>
              </a:solidFill>
              <a:ln>
                <a:noFill/>
              </a:ln>
            </p:spPr>
          </p:sp>
          <p:sp>
            <p:nvSpPr>
              <p:cNvPr id="197" name="Rectangle 197"/>
              <p:cNvSpPr/>
              <p:nvPr/>
            </p:nvSpPr>
            <p:spPr>
              <a:xfrm>
                <a:off x="4572000" y="3019425"/>
                <a:ext cx="171450" cy="38100"/>
              </a:xfrm>
              <a:prstGeom prst="rect">
                <a:avLst/>
              </a:prstGeom>
              <a:solidFill>
                <a:srgbClr val="D9EEEA"/>
              </a:solidFill>
              <a:ln>
                <a:noFill/>
              </a:ln>
            </p:spPr>
          </p:sp>
          <p:sp>
            <p:nvSpPr>
              <p:cNvPr id="198" name="TextBox 198"/>
              <p:cNvSpPr txBox="1"/>
              <p:nvPr/>
            </p:nvSpPr>
            <p:spPr>
              <a:xfrm>
                <a:off x="4628502" y="3045857"/>
                <a:ext cx="267995"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低意向</a:t>
                </a:r>
              </a:p>
            </p:txBody>
          </p:sp>
          <p:sp>
            <p:nvSpPr>
              <p:cNvPr id="199" name="TextBox 199"/>
              <p:cNvSpPr txBox="1"/>
              <p:nvPr/>
            </p:nvSpPr>
            <p:spPr>
              <a:xfrm>
                <a:off x="5043488" y="3045857"/>
                <a:ext cx="1913590"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进入活动专区 / 直播间 → 内容种草 + 权益触达​​​</a:t>
                </a:r>
              </a:p>
            </p:txBody>
          </p:sp>
          <p:sp>
            <p:nvSpPr>
              <p:cNvPr id="200" name="Rectangle 200"/>
              <p:cNvSpPr/>
              <p:nvPr/>
            </p:nvSpPr>
            <p:spPr>
              <a:xfrm>
                <a:off x="342900" y="3181350"/>
                <a:ext cx="11487150" cy="209550"/>
              </a:xfrm>
              <a:prstGeom prst="rect">
                <a:avLst/>
              </a:prstGeom>
              <a:solidFill>
                <a:srgbClr val="FFFFFF"/>
              </a:solidFill>
              <a:ln w="9525">
                <a:solidFill>
                  <a:srgbClr val="E2EEEB"/>
                </a:solidFill>
              </a:ln>
            </p:spPr>
          </p:sp>
          <p:sp>
            <p:nvSpPr>
              <p:cNvPr id="201" name="TextBox 201"/>
              <p:cNvSpPr txBox="1"/>
              <p:nvPr/>
            </p:nvSpPr>
            <p:spPr>
              <a:xfrm>
                <a:off x="856196" y="3251359"/>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新客</a:t>
                </a:r>
              </a:p>
            </p:txBody>
          </p:sp>
          <p:sp>
            <p:nvSpPr>
              <p:cNvPr id="202" name="TextBox 202"/>
              <p:cNvSpPr txBox="1"/>
              <p:nvPr/>
            </p:nvSpPr>
            <p:spPr>
              <a:xfrm>
                <a:off x="1777931" y="3255407"/>
                <a:ext cx="215913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企业客户（对公）·小微企业主 / 中型企业 / 集团客户​​</a:t>
                </a:r>
              </a:p>
            </p:txBody>
          </p:sp>
          <p:sp>
            <p:nvSpPr>
              <p:cNvPr id="203" name="Rectangle 203"/>
              <p:cNvSpPr/>
              <p:nvPr/>
            </p:nvSpPr>
            <p:spPr>
              <a:xfrm>
                <a:off x="4191000" y="3228975"/>
                <a:ext cx="171450" cy="38100"/>
              </a:xfrm>
              <a:prstGeom prst="rect">
                <a:avLst/>
              </a:prstGeom>
              <a:solidFill>
                <a:srgbClr val="76200F"/>
              </a:solidFill>
              <a:ln>
                <a:noFill/>
              </a:ln>
            </p:spPr>
          </p:sp>
          <p:sp>
            <p:nvSpPr>
              <p:cNvPr id="204" name="Rectangle 204"/>
              <p:cNvSpPr/>
              <p:nvPr/>
            </p:nvSpPr>
            <p:spPr>
              <a:xfrm>
                <a:off x="4381500" y="3228975"/>
                <a:ext cx="171450" cy="38100"/>
              </a:xfrm>
              <a:prstGeom prst="rect">
                <a:avLst/>
              </a:prstGeom>
              <a:solidFill>
                <a:srgbClr val="76200F"/>
              </a:solidFill>
              <a:ln>
                <a:noFill/>
              </a:ln>
            </p:spPr>
          </p:sp>
          <p:sp>
            <p:nvSpPr>
              <p:cNvPr id="205" name="Rectangle 205"/>
              <p:cNvSpPr/>
              <p:nvPr/>
            </p:nvSpPr>
            <p:spPr>
              <a:xfrm>
                <a:off x="4572000" y="3228975"/>
                <a:ext cx="171450" cy="38100"/>
              </a:xfrm>
              <a:prstGeom prst="rect">
                <a:avLst/>
              </a:prstGeom>
              <a:solidFill>
                <a:srgbClr val="76200F"/>
              </a:solidFill>
              <a:ln>
                <a:noFill/>
              </a:ln>
            </p:spPr>
          </p:sp>
          <p:sp>
            <p:nvSpPr>
              <p:cNvPr id="206" name="TextBox 206"/>
              <p:cNvSpPr txBox="1"/>
              <p:nvPr/>
            </p:nvSpPr>
            <p:spPr>
              <a:xfrm>
                <a:off x="4628502" y="3255407"/>
                <a:ext cx="267995"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高意向</a:t>
                </a:r>
              </a:p>
            </p:txBody>
          </p:sp>
          <p:sp>
            <p:nvSpPr>
              <p:cNvPr id="207" name="TextBox 207"/>
              <p:cNvSpPr txBox="1"/>
              <p:nvPr/>
            </p:nvSpPr>
            <p:spPr>
              <a:xfrm>
                <a:off x="5043488" y="3255407"/>
                <a:ext cx="1680967"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企业端对接 → 专属客户经理 + 定制化方案​​</a:t>
                </a:r>
              </a:p>
            </p:txBody>
          </p:sp>
          <p:sp>
            <p:nvSpPr>
              <p:cNvPr id="208" name="Rectangle 208"/>
              <p:cNvSpPr/>
              <p:nvPr/>
            </p:nvSpPr>
            <p:spPr>
              <a:xfrm>
                <a:off x="342900" y="3390900"/>
                <a:ext cx="11487150" cy="209550"/>
              </a:xfrm>
              <a:prstGeom prst="rect">
                <a:avLst/>
              </a:prstGeom>
              <a:solidFill>
                <a:srgbClr val="EFF8F6"/>
              </a:solidFill>
              <a:ln w="9525">
                <a:solidFill>
                  <a:srgbClr val="E2EEEB"/>
                </a:solidFill>
              </a:ln>
            </p:spPr>
          </p:sp>
          <p:sp>
            <p:nvSpPr>
              <p:cNvPr id="209" name="TextBox 209"/>
              <p:cNvSpPr txBox="1"/>
              <p:nvPr/>
            </p:nvSpPr>
            <p:spPr>
              <a:xfrm>
                <a:off x="856196" y="3460909"/>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新客</a:t>
                </a:r>
              </a:p>
            </p:txBody>
          </p:sp>
          <p:sp>
            <p:nvSpPr>
              <p:cNvPr id="210" name="TextBox 210"/>
              <p:cNvSpPr txBox="1"/>
              <p:nvPr/>
            </p:nvSpPr>
            <p:spPr>
              <a:xfrm>
                <a:off x="2245332" y="3464957"/>
                <a:ext cx="122433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企业客户（对公）·小微企业主​</a:t>
                </a:r>
              </a:p>
            </p:txBody>
          </p:sp>
          <p:sp>
            <p:nvSpPr>
              <p:cNvPr id="211" name="Rectangle 211"/>
              <p:cNvSpPr/>
              <p:nvPr/>
            </p:nvSpPr>
            <p:spPr>
              <a:xfrm>
                <a:off x="4191000" y="3438525"/>
                <a:ext cx="171450" cy="38100"/>
              </a:xfrm>
              <a:prstGeom prst="rect">
                <a:avLst/>
              </a:prstGeom>
              <a:solidFill>
                <a:srgbClr val="C4887C"/>
              </a:solidFill>
              <a:ln>
                <a:noFill/>
              </a:ln>
            </p:spPr>
          </p:sp>
          <p:sp>
            <p:nvSpPr>
              <p:cNvPr id="212" name="Rectangle 212"/>
              <p:cNvSpPr/>
              <p:nvPr/>
            </p:nvSpPr>
            <p:spPr>
              <a:xfrm>
                <a:off x="4381500" y="3438525"/>
                <a:ext cx="171450" cy="38100"/>
              </a:xfrm>
              <a:prstGeom prst="rect">
                <a:avLst/>
              </a:prstGeom>
              <a:solidFill>
                <a:srgbClr val="D9EEEA"/>
              </a:solidFill>
              <a:ln>
                <a:noFill/>
              </a:ln>
            </p:spPr>
          </p:sp>
          <p:sp>
            <p:nvSpPr>
              <p:cNvPr id="213" name="Rectangle 213"/>
              <p:cNvSpPr/>
              <p:nvPr/>
            </p:nvSpPr>
            <p:spPr>
              <a:xfrm>
                <a:off x="4572000" y="3438525"/>
                <a:ext cx="171450" cy="38100"/>
              </a:xfrm>
              <a:prstGeom prst="rect">
                <a:avLst/>
              </a:prstGeom>
              <a:solidFill>
                <a:srgbClr val="D9EEEA"/>
              </a:solidFill>
              <a:ln>
                <a:noFill/>
              </a:ln>
            </p:spPr>
          </p:sp>
          <p:sp>
            <p:nvSpPr>
              <p:cNvPr id="214" name="TextBox 214"/>
              <p:cNvSpPr txBox="1"/>
              <p:nvPr/>
            </p:nvSpPr>
            <p:spPr>
              <a:xfrm>
                <a:off x="4628502" y="3464957"/>
                <a:ext cx="267995"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低意向</a:t>
                </a:r>
              </a:p>
            </p:txBody>
          </p:sp>
          <p:sp>
            <p:nvSpPr>
              <p:cNvPr id="215" name="TextBox 215"/>
              <p:cNvSpPr txBox="1"/>
              <p:nvPr/>
            </p:nvSpPr>
            <p:spPr>
              <a:xfrm>
                <a:off x="5043488" y="3464957"/>
                <a:ext cx="1508653"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推送行业内容 → 预约咨询 → 持续培育​​</a:t>
                </a:r>
              </a:p>
            </p:txBody>
          </p:sp>
          <p:sp>
            <p:nvSpPr>
              <p:cNvPr id="216" name="Rectangle 216"/>
              <p:cNvSpPr/>
              <p:nvPr/>
            </p:nvSpPr>
            <p:spPr>
              <a:xfrm>
                <a:off x="342900" y="3600450"/>
                <a:ext cx="11487150" cy="209550"/>
              </a:xfrm>
              <a:prstGeom prst="rect">
                <a:avLst/>
              </a:prstGeom>
              <a:solidFill>
                <a:srgbClr val="FFFFFF"/>
              </a:solidFill>
              <a:ln w="9525">
                <a:solidFill>
                  <a:srgbClr val="E2EEEB"/>
                </a:solidFill>
              </a:ln>
            </p:spPr>
          </p:sp>
          <p:sp>
            <p:nvSpPr>
              <p:cNvPr id="217" name="Ellipse 217"/>
              <p:cNvSpPr/>
              <p:nvPr/>
            </p:nvSpPr>
            <p:spPr>
              <a:xfrm>
                <a:off x="647700" y="3629025"/>
                <a:ext cx="152400" cy="152400"/>
              </a:xfrm>
              <a:prstGeom prst="ellipse">
                <a:avLst/>
              </a:prstGeom>
              <a:solidFill>
                <a:srgbClr val="E4F1EE"/>
              </a:solidFill>
              <a:ln>
                <a:noFill/>
              </a:ln>
            </p:spPr>
          </p:sp>
          <p:grpSp>
            <p:nvGrpSpPr>
              <p:cNvPr id="221" name="Group 221"/>
              <p:cNvGrpSpPr/>
              <p:nvPr/>
            </p:nvGrpSpPr>
            <p:grpSpPr>
              <a:xfrm>
                <a:off x="695325" y="3662362"/>
                <a:ext cx="71438" cy="85726"/>
                <a:chOff x="695325" y="3662362"/>
                <a:chExt cx="71438" cy="85726"/>
              </a:xfrm>
            </p:grpSpPr>
            <p:sp>
              <p:nvSpPr>
                <p:cNvPr id="218" name="Freeform 218"/>
                <p:cNvSpPr/>
                <p:nvPr/>
              </p:nvSpPr>
              <p:spPr>
                <a:xfrm>
                  <a:off x="704850" y="3662362"/>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76200F"/>
                  </a:solidFill>
                </a:ln>
              </p:spPr>
            </p:sp>
            <p:sp>
              <p:nvSpPr>
                <p:cNvPr id="219" name="Freeform 219"/>
                <p:cNvSpPr/>
                <p:nvPr/>
              </p:nvSpPr>
              <p:spPr>
                <a:xfrm>
                  <a:off x="695325" y="3719512"/>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76200F"/>
                  </a:solidFill>
                </a:ln>
              </p:spPr>
            </p:sp>
            <p:sp>
              <p:nvSpPr>
                <p:cNvPr id="220" name="Freeform 220"/>
                <p:cNvSpPr/>
                <p:nvPr/>
              </p:nvSpPr>
              <p:spPr>
                <a:xfrm>
                  <a:off x="738188" y="3729038"/>
                  <a:ext cx="28575" cy="19050"/>
                </a:xfrm>
                <a:custGeom>
                  <a:avLst/>
                  <a:gdLst/>
                  <a:ahLst/>
                  <a:cxnLst/>
                  <a:rect l="l" t="t" r="r" b="b"/>
                  <a:pathLst>
                    <a:path w="28575" h="19050">
                      <a:moveTo>
                        <a:pt x="0" y="9525"/>
                      </a:moveTo>
                      <a:lnTo>
                        <a:pt x="9525" y="19050"/>
                      </a:lnTo>
                      <a:lnTo>
                        <a:pt x="28575" y="0"/>
                      </a:lnTo>
                    </a:path>
                  </a:pathLst>
                </a:custGeom>
                <a:noFill/>
                <a:ln w="9525">
                  <a:solidFill>
                    <a:srgbClr val="76200F"/>
                  </a:solidFill>
                </a:ln>
              </p:spPr>
            </p:sp>
          </p:grpSp>
          <p:sp>
            <p:nvSpPr>
              <p:cNvPr id="222" name="TextBox 222"/>
              <p:cNvSpPr txBox="1"/>
              <p:nvPr/>
            </p:nvSpPr>
            <p:spPr>
              <a:xfrm>
                <a:off x="764654" y="3670459"/>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存量客户</a:t>
                </a:r>
              </a:p>
            </p:txBody>
          </p:sp>
          <p:sp>
            <p:nvSpPr>
              <p:cNvPr id="223" name="TextBox 223"/>
              <p:cNvSpPr txBox="1"/>
              <p:nvPr/>
            </p:nvSpPr>
            <p:spPr>
              <a:xfrm>
                <a:off x="1864088" y="3674507"/>
                <a:ext cx="198682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个人客户（零售）·大众客群 / 年轻客群 / 高净值​​</a:t>
                </a:r>
              </a:p>
            </p:txBody>
          </p:sp>
          <p:sp>
            <p:nvSpPr>
              <p:cNvPr id="224" name="Rectangle 224"/>
              <p:cNvSpPr/>
              <p:nvPr/>
            </p:nvSpPr>
            <p:spPr>
              <a:xfrm>
                <a:off x="4191000" y="3648075"/>
                <a:ext cx="171450" cy="38100"/>
              </a:xfrm>
              <a:prstGeom prst="rect">
                <a:avLst/>
              </a:prstGeom>
              <a:solidFill>
                <a:srgbClr val="76200F"/>
              </a:solidFill>
              <a:ln>
                <a:noFill/>
              </a:ln>
            </p:spPr>
          </p:sp>
          <p:sp>
            <p:nvSpPr>
              <p:cNvPr id="225" name="Rectangle 225"/>
              <p:cNvSpPr/>
              <p:nvPr/>
            </p:nvSpPr>
            <p:spPr>
              <a:xfrm>
                <a:off x="4381500" y="3648075"/>
                <a:ext cx="171450" cy="38100"/>
              </a:xfrm>
              <a:prstGeom prst="rect">
                <a:avLst/>
              </a:prstGeom>
              <a:solidFill>
                <a:srgbClr val="76200F"/>
              </a:solidFill>
              <a:ln>
                <a:noFill/>
              </a:ln>
            </p:spPr>
          </p:sp>
          <p:sp>
            <p:nvSpPr>
              <p:cNvPr id="226" name="Rectangle 226"/>
              <p:cNvSpPr/>
              <p:nvPr/>
            </p:nvSpPr>
            <p:spPr>
              <a:xfrm>
                <a:off x="4572000" y="3648075"/>
                <a:ext cx="171450" cy="38100"/>
              </a:xfrm>
              <a:prstGeom prst="rect">
                <a:avLst/>
              </a:prstGeom>
              <a:solidFill>
                <a:srgbClr val="76200F"/>
              </a:solidFill>
              <a:ln>
                <a:noFill/>
              </a:ln>
            </p:spPr>
          </p:sp>
          <p:sp>
            <p:nvSpPr>
              <p:cNvPr id="227" name="TextBox 227"/>
              <p:cNvSpPr txBox="1"/>
              <p:nvPr/>
            </p:nvSpPr>
            <p:spPr>
              <a:xfrm>
                <a:off x="4628502" y="3674507"/>
                <a:ext cx="267995"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高意向</a:t>
                </a:r>
              </a:p>
            </p:txBody>
          </p:sp>
          <p:sp>
            <p:nvSpPr>
              <p:cNvPr id="228" name="TextBox 228"/>
              <p:cNvSpPr txBox="1"/>
              <p:nvPr/>
            </p:nvSpPr>
            <p:spPr>
              <a:xfrm>
                <a:off x="5043488" y="3674507"/>
                <a:ext cx="1680967"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推送专属产品 → 在线办理 → 客户经理跟进​​</a:t>
                </a:r>
              </a:p>
            </p:txBody>
          </p:sp>
          <p:sp>
            <p:nvSpPr>
              <p:cNvPr id="229" name="Rectangle 229"/>
              <p:cNvSpPr/>
              <p:nvPr/>
            </p:nvSpPr>
            <p:spPr>
              <a:xfrm>
                <a:off x="342900" y="3810000"/>
                <a:ext cx="11487150" cy="209550"/>
              </a:xfrm>
              <a:prstGeom prst="rect">
                <a:avLst/>
              </a:prstGeom>
              <a:solidFill>
                <a:srgbClr val="EFF8F6"/>
              </a:solidFill>
              <a:ln w="9525">
                <a:solidFill>
                  <a:srgbClr val="E2EEEB"/>
                </a:solidFill>
              </a:ln>
            </p:spPr>
          </p:sp>
          <p:sp>
            <p:nvSpPr>
              <p:cNvPr id="230" name="TextBox 230"/>
              <p:cNvSpPr txBox="1"/>
              <p:nvPr/>
            </p:nvSpPr>
            <p:spPr>
              <a:xfrm>
                <a:off x="764654" y="3880009"/>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存量客户</a:t>
                </a:r>
              </a:p>
            </p:txBody>
          </p:sp>
          <p:sp>
            <p:nvSpPr>
              <p:cNvPr id="231" name="TextBox 231"/>
              <p:cNvSpPr txBox="1"/>
              <p:nvPr/>
            </p:nvSpPr>
            <p:spPr>
              <a:xfrm>
                <a:off x="2042864" y="3884057"/>
                <a:ext cx="1629273"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个人客户（零售）·大众客群 / 年轻客群​​</a:t>
                </a:r>
              </a:p>
            </p:txBody>
          </p:sp>
          <p:sp>
            <p:nvSpPr>
              <p:cNvPr id="232" name="Rectangle 232"/>
              <p:cNvSpPr/>
              <p:nvPr/>
            </p:nvSpPr>
            <p:spPr>
              <a:xfrm>
                <a:off x="4191000" y="3857625"/>
                <a:ext cx="171450" cy="38100"/>
              </a:xfrm>
              <a:prstGeom prst="rect">
                <a:avLst/>
              </a:prstGeom>
              <a:solidFill>
                <a:srgbClr val="C4887C"/>
              </a:solidFill>
              <a:ln>
                <a:noFill/>
              </a:ln>
            </p:spPr>
          </p:sp>
          <p:sp>
            <p:nvSpPr>
              <p:cNvPr id="233" name="Rectangle 233"/>
              <p:cNvSpPr/>
              <p:nvPr/>
            </p:nvSpPr>
            <p:spPr>
              <a:xfrm>
                <a:off x="4381500" y="3857625"/>
                <a:ext cx="171450" cy="38100"/>
              </a:xfrm>
              <a:prstGeom prst="rect">
                <a:avLst/>
              </a:prstGeom>
              <a:solidFill>
                <a:srgbClr val="D9EEEA"/>
              </a:solidFill>
              <a:ln>
                <a:noFill/>
              </a:ln>
            </p:spPr>
          </p:sp>
          <p:sp>
            <p:nvSpPr>
              <p:cNvPr id="234" name="Rectangle 234"/>
              <p:cNvSpPr/>
              <p:nvPr/>
            </p:nvSpPr>
            <p:spPr>
              <a:xfrm>
                <a:off x="4572000" y="3857625"/>
                <a:ext cx="171450" cy="38100"/>
              </a:xfrm>
              <a:prstGeom prst="rect">
                <a:avLst/>
              </a:prstGeom>
              <a:solidFill>
                <a:srgbClr val="D9EEEA"/>
              </a:solidFill>
              <a:ln>
                <a:noFill/>
              </a:ln>
            </p:spPr>
          </p:sp>
          <p:sp>
            <p:nvSpPr>
              <p:cNvPr id="235" name="TextBox 235"/>
              <p:cNvSpPr txBox="1"/>
              <p:nvPr/>
            </p:nvSpPr>
            <p:spPr>
              <a:xfrm>
                <a:off x="4628502" y="3884057"/>
                <a:ext cx="267995"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低意向</a:t>
                </a:r>
              </a:p>
            </p:txBody>
          </p:sp>
          <p:sp>
            <p:nvSpPr>
              <p:cNvPr id="236" name="TextBox 236"/>
              <p:cNvSpPr txBox="1"/>
              <p:nvPr/>
            </p:nvSpPr>
            <p:spPr>
              <a:xfrm>
                <a:off x="5043488" y="3884057"/>
                <a:ext cx="1680967"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发送活动权益 → 引导上线社群 → 二次触达​​</a:t>
                </a:r>
              </a:p>
            </p:txBody>
          </p:sp>
          <p:sp>
            <p:nvSpPr>
              <p:cNvPr id="237" name="Rectangle 237"/>
              <p:cNvSpPr/>
              <p:nvPr/>
            </p:nvSpPr>
            <p:spPr>
              <a:xfrm>
                <a:off x="342900" y="4019550"/>
                <a:ext cx="11487150" cy="209550"/>
              </a:xfrm>
              <a:prstGeom prst="rect">
                <a:avLst/>
              </a:prstGeom>
              <a:solidFill>
                <a:srgbClr val="FFFFFF"/>
              </a:solidFill>
              <a:ln w="9525">
                <a:solidFill>
                  <a:srgbClr val="E2EEEB"/>
                </a:solidFill>
              </a:ln>
            </p:spPr>
          </p:sp>
          <p:sp>
            <p:nvSpPr>
              <p:cNvPr id="238" name="TextBox 238"/>
              <p:cNvSpPr txBox="1"/>
              <p:nvPr/>
            </p:nvSpPr>
            <p:spPr>
              <a:xfrm>
                <a:off x="764654" y="4089559"/>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存量客户</a:t>
                </a:r>
              </a:p>
            </p:txBody>
          </p:sp>
          <p:sp>
            <p:nvSpPr>
              <p:cNvPr id="239" name="TextBox 239"/>
              <p:cNvSpPr txBox="1"/>
              <p:nvPr/>
            </p:nvSpPr>
            <p:spPr>
              <a:xfrm>
                <a:off x="1777931" y="4093607"/>
                <a:ext cx="215913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企业客户（对公）·小微企业主 / 中型企业 / 集团客户​​</a:t>
                </a:r>
              </a:p>
            </p:txBody>
          </p:sp>
          <p:sp>
            <p:nvSpPr>
              <p:cNvPr id="240" name="Rectangle 240"/>
              <p:cNvSpPr/>
              <p:nvPr/>
            </p:nvSpPr>
            <p:spPr>
              <a:xfrm>
                <a:off x="4191000" y="4067175"/>
                <a:ext cx="171450" cy="38100"/>
              </a:xfrm>
              <a:prstGeom prst="rect">
                <a:avLst/>
              </a:prstGeom>
              <a:solidFill>
                <a:srgbClr val="76200F"/>
              </a:solidFill>
              <a:ln>
                <a:noFill/>
              </a:ln>
            </p:spPr>
          </p:sp>
          <p:sp>
            <p:nvSpPr>
              <p:cNvPr id="241" name="Rectangle 241"/>
              <p:cNvSpPr/>
              <p:nvPr/>
            </p:nvSpPr>
            <p:spPr>
              <a:xfrm>
                <a:off x="4381500" y="4067175"/>
                <a:ext cx="171450" cy="38100"/>
              </a:xfrm>
              <a:prstGeom prst="rect">
                <a:avLst/>
              </a:prstGeom>
              <a:solidFill>
                <a:srgbClr val="76200F"/>
              </a:solidFill>
              <a:ln>
                <a:noFill/>
              </a:ln>
            </p:spPr>
          </p:sp>
          <p:sp>
            <p:nvSpPr>
              <p:cNvPr id="242" name="Rectangle 242"/>
              <p:cNvSpPr/>
              <p:nvPr/>
            </p:nvSpPr>
            <p:spPr>
              <a:xfrm>
                <a:off x="4572000" y="4067175"/>
                <a:ext cx="171450" cy="38100"/>
              </a:xfrm>
              <a:prstGeom prst="rect">
                <a:avLst/>
              </a:prstGeom>
              <a:solidFill>
                <a:srgbClr val="76200F"/>
              </a:solidFill>
              <a:ln>
                <a:noFill/>
              </a:ln>
            </p:spPr>
          </p:sp>
          <p:sp>
            <p:nvSpPr>
              <p:cNvPr id="243" name="TextBox 243"/>
              <p:cNvSpPr txBox="1"/>
              <p:nvPr/>
            </p:nvSpPr>
            <p:spPr>
              <a:xfrm>
                <a:off x="4628502" y="4093607"/>
                <a:ext cx="267995"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高意向</a:t>
                </a:r>
              </a:p>
            </p:txBody>
          </p:sp>
          <p:sp>
            <p:nvSpPr>
              <p:cNvPr id="244" name="TextBox 244"/>
              <p:cNvSpPr txBox="1"/>
              <p:nvPr/>
            </p:nvSpPr>
            <p:spPr>
              <a:xfrm>
                <a:off x="5043488" y="4093607"/>
                <a:ext cx="1508653"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企业微信 → 专属服务团队 → 深度洽谈​​</a:t>
                </a:r>
              </a:p>
            </p:txBody>
          </p:sp>
          <p:sp>
            <p:nvSpPr>
              <p:cNvPr id="245" name="Rectangle 245"/>
              <p:cNvSpPr/>
              <p:nvPr/>
            </p:nvSpPr>
            <p:spPr>
              <a:xfrm>
                <a:off x="342900" y="4229100"/>
                <a:ext cx="11487150" cy="209550"/>
              </a:xfrm>
              <a:prstGeom prst="rect">
                <a:avLst/>
              </a:prstGeom>
              <a:solidFill>
                <a:srgbClr val="EFF8F6"/>
              </a:solidFill>
              <a:ln w="9525">
                <a:solidFill>
                  <a:srgbClr val="E2EEEB"/>
                </a:solidFill>
              </a:ln>
            </p:spPr>
          </p:sp>
          <p:sp>
            <p:nvSpPr>
              <p:cNvPr id="246" name="TextBox 246"/>
              <p:cNvSpPr txBox="1"/>
              <p:nvPr/>
            </p:nvSpPr>
            <p:spPr>
              <a:xfrm>
                <a:off x="764654" y="4299109"/>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存量客户</a:t>
                </a:r>
              </a:p>
            </p:txBody>
          </p:sp>
          <p:sp>
            <p:nvSpPr>
              <p:cNvPr id="247" name="TextBox 247"/>
              <p:cNvSpPr txBox="1"/>
              <p:nvPr/>
            </p:nvSpPr>
            <p:spPr>
              <a:xfrm>
                <a:off x="2245332" y="4303157"/>
                <a:ext cx="122433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企业客户（对公）·小微企业主​</a:t>
                </a:r>
              </a:p>
            </p:txBody>
          </p:sp>
          <p:sp>
            <p:nvSpPr>
              <p:cNvPr id="248" name="Rectangle 248"/>
              <p:cNvSpPr/>
              <p:nvPr/>
            </p:nvSpPr>
            <p:spPr>
              <a:xfrm>
                <a:off x="4191000" y="4276725"/>
                <a:ext cx="171450" cy="38100"/>
              </a:xfrm>
              <a:prstGeom prst="rect">
                <a:avLst/>
              </a:prstGeom>
              <a:solidFill>
                <a:srgbClr val="C4887C"/>
              </a:solidFill>
              <a:ln>
                <a:noFill/>
              </a:ln>
            </p:spPr>
          </p:sp>
          <p:sp>
            <p:nvSpPr>
              <p:cNvPr id="249" name="Rectangle 249"/>
              <p:cNvSpPr/>
              <p:nvPr/>
            </p:nvSpPr>
            <p:spPr>
              <a:xfrm>
                <a:off x="4381500" y="4276725"/>
                <a:ext cx="171450" cy="38100"/>
              </a:xfrm>
              <a:prstGeom prst="rect">
                <a:avLst/>
              </a:prstGeom>
              <a:solidFill>
                <a:srgbClr val="D9EEEA"/>
              </a:solidFill>
              <a:ln>
                <a:noFill/>
              </a:ln>
            </p:spPr>
          </p:sp>
          <p:sp>
            <p:nvSpPr>
              <p:cNvPr id="250" name="Rectangle 250"/>
              <p:cNvSpPr/>
              <p:nvPr/>
            </p:nvSpPr>
            <p:spPr>
              <a:xfrm>
                <a:off x="4572000" y="4276725"/>
                <a:ext cx="171450" cy="38100"/>
              </a:xfrm>
              <a:prstGeom prst="rect">
                <a:avLst/>
              </a:prstGeom>
              <a:solidFill>
                <a:srgbClr val="D9EEEA"/>
              </a:solidFill>
              <a:ln>
                <a:noFill/>
              </a:ln>
            </p:spPr>
          </p:sp>
          <p:sp>
            <p:nvSpPr>
              <p:cNvPr id="251" name="TextBox 251"/>
              <p:cNvSpPr txBox="1"/>
              <p:nvPr/>
            </p:nvSpPr>
            <p:spPr>
              <a:xfrm>
                <a:off x="4628502" y="4303157"/>
                <a:ext cx="267995" cy="126206"/>
              </a:xfrm>
              <a:prstGeom prst="rect">
                <a:avLst/>
              </a:prstGeom>
              <a:noFill/>
              <a:ln>
                <a:noFill/>
              </a:ln>
            </p:spPr>
            <p:txBody>
              <a:bodyPr wrap="none" lIns="0" tIns="0" rIns="0" bIns="0" anchor="t" anchorCtr="0">
                <a:spAutoFit/>
              </a:bodyPr>
              <a:lstStyle/>
              <a:p>
                <a:pPr algn="ctr"/>
                <a:r>
                  <a:rPr lang="zh-CN" sz="640" dirty="0">
                    <a:solidFill>
                      <a:srgbClr val="73615E"/>
                    </a:solidFill>
                    <a:latin typeface="+mn-lt"/>
                    <a:ea typeface="+mn-ea"/>
                    <a:cs typeface="+mn-cs"/>
                  </a:rPr>
                  <a:t>低意向</a:t>
                </a:r>
              </a:p>
            </p:txBody>
          </p:sp>
          <p:sp>
            <p:nvSpPr>
              <p:cNvPr id="252" name="TextBox 252"/>
              <p:cNvSpPr txBox="1"/>
              <p:nvPr/>
            </p:nvSpPr>
            <p:spPr>
              <a:xfrm>
                <a:off x="5043488" y="4303157"/>
                <a:ext cx="1508653"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定期内容推送 → 活动邀约 → 持续跟进​​</a:t>
                </a:r>
              </a:p>
            </p:txBody>
          </p:sp>
        </p:grpSp>
      </p:grpSp>
      <p:grpSp>
        <p:nvGrpSpPr>
          <p:cNvPr id="299" name="follow-rhythm"/>
          <p:cNvGrpSpPr/>
          <p:nvPr/>
        </p:nvGrpSpPr>
        <p:grpSpPr>
          <a:xfrm>
            <a:off x="342900" y="4572000"/>
            <a:ext cx="11487150" cy="2057400"/>
            <a:chOff x="342900" y="4572000"/>
            <a:chExt cx="11487150" cy="2057400"/>
          </a:xfrm>
        </p:grpSpPr>
        <p:sp>
          <p:nvSpPr>
            <p:cNvPr id="255" name="Rectangle 255"/>
            <p:cNvSpPr/>
            <p:nvPr/>
          </p:nvSpPr>
          <p:spPr>
            <a:xfrm>
              <a:off x="342900" y="4572000"/>
              <a:ext cx="2286000" cy="228600"/>
            </a:xfrm>
            <a:prstGeom prst="roundRect">
              <a:avLst>
                <a:gd name="adj" fmla="val 20833"/>
              </a:avLst>
            </a:prstGeom>
            <a:solidFill>
              <a:srgbClr val="76200F"/>
            </a:solidFill>
            <a:ln>
              <a:noFill/>
            </a:ln>
          </p:spPr>
        </p:sp>
        <p:sp>
          <p:nvSpPr>
            <p:cNvPr id="256" name="TextBox 256"/>
            <p:cNvSpPr txBox="1"/>
            <p:nvPr/>
          </p:nvSpPr>
          <p:spPr>
            <a:xfrm>
              <a:off x="452438" y="4636770"/>
              <a:ext cx="158457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客户跟进节奏与关键触发事件</a:t>
              </a:r>
            </a:p>
          </p:txBody>
        </p:sp>
        <p:sp>
          <p:nvSpPr>
            <p:cNvPr id="257" name="Rectangle 257"/>
            <p:cNvSpPr/>
            <p:nvPr/>
          </p:nvSpPr>
          <p:spPr>
            <a:xfrm>
              <a:off x="342900" y="4857750"/>
              <a:ext cx="3657600" cy="1428750"/>
            </a:xfrm>
            <a:prstGeom prst="roundRect">
              <a:avLst>
                <a:gd name="adj" fmla="val 5333"/>
              </a:avLst>
            </a:prstGeom>
            <a:solidFill>
              <a:srgbClr val="FFFFFF"/>
            </a:solidFill>
            <a:ln w="14288">
              <a:solidFill>
                <a:srgbClr val="C2E0DA"/>
              </a:solidFill>
            </a:ln>
          </p:spPr>
        </p:sp>
        <p:sp>
          <p:nvSpPr>
            <p:cNvPr id="258" name="Rectangle 258"/>
            <p:cNvSpPr/>
            <p:nvPr/>
          </p:nvSpPr>
          <p:spPr>
            <a:xfrm>
              <a:off x="342900" y="4857750"/>
              <a:ext cx="3657600" cy="228600"/>
            </a:xfrm>
            <a:prstGeom prst="roundRect">
              <a:avLst>
                <a:gd name="adj" fmla="val 33333"/>
              </a:avLst>
            </a:prstGeom>
            <a:solidFill>
              <a:srgbClr val="5D190B"/>
            </a:solidFill>
            <a:ln>
              <a:noFill/>
            </a:ln>
          </p:spPr>
        </p:sp>
        <p:grpSp>
          <p:nvGrpSpPr>
            <p:cNvPr id="261" name="Group 261"/>
            <p:cNvGrpSpPr/>
            <p:nvPr/>
          </p:nvGrpSpPr>
          <p:grpSpPr>
            <a:xfrm>
              <a:off x="454819" y="4922044"/>
              <a:ext cx="100012" cy="100012"/>
              <a:chOff x="454819" y="4922044"/>
              <a:chExt cx="100012" cy="100012"/>
            </a:xfrm>
          </p:grpSpPr>
          <p:sp>
            <p:nvSpPr>
              <p:cNvPr id="259" name="Freeform 259"/>
              <p:cNvSpPr/>
              <p:nvPr/>
            </p:nvSpPr>
            <p:spPr>
              <a:xfrm>
                <a:off x="454819" y="492204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sp>
            <p:nvSpPr>
              <p:cNvPr id="260" name="Freeform 260"/>
              <p:cNvSpPr/>
              <p:nvPr/>
            </p:nvSpPr>
            <p:spPr>
              <a:xfrm>
                <a:off x="504825" y="4944269"/>
                <a:ext cx="16669" cy="44450"/>
              </a:xfrm>
              <a:custGeom>
                <a:avLst/>
                <a:gdLst/>
                <a:ahLst/>
                <a:cxnLst/>
                <a:rect l="l" t="t" r="r" b="b"/>
                <a:pathLst>
                  <a:path w="16669" h="44450">
                    <a:moveTo>
                      <a:pt x="0" y="0"/>
                    </a:moveTo>
                    <a:lnTo>
                      <a:pt x="0" y="27781"/>
                    </a:lnTo>
                    <a:lnTo>
                      <a:pt x="16669" y="44450"/>
                    </a:lnTo>
                  </a:path>
                </a:pathLst>
              </a:custGeom>
              <a:noFill/>
              <a:ln w="11112">
                <a:solidFill>
                  <a:srgbClr val="FFFFFF"/>
                </a:solidFill>
              </a:ln>
            </p:spPr>
          </p:sp>
        </p:grpSp>
        <p:sp>
          <p:nvSpPr>
            <p:cNvPr id="262" name="TextBox 262"/>
            <p:cNvSpPr txBox="1"/>
            <p:nvPr/>
          </p:nvSpPr>
          <p:spPr>
            <a:xfrm>
              <a:off x="623888" y="4925139"/>
              <a:ext cx="1435676"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0-1天 快速响应 · 建立连接​​</a:t>
              </a:r>
            </a:p>
          </p:txBody>
        </p:sp>
        <p:sp>
          <p:nvSpPr>
            <p:cNvPr id="263" name="TextBox 263"/>
            <p:cNvSpPr txBox="1"/>
            <p:nvPr/>
          </p:nvSpPr>
          <p:spPr>
            <a:xfrm>
              <a:off x="452438" y="5169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关键动作</a:t>
              </a:r>
            </a:p>
          </p:txBody>
        </p:sp>
        <p:sp>
          <p:nvSpPr>
            <p:cNvPr id="264" name="TextBox 264"/>
            <p:cNvSpPr txBox="1"/>
            <p:nvPr/>
          </p:nvSpPr>
          <p:spPr>
            <a:xfrm>
              <a:off x="452438" y="5303282"/>
              <a:ext cx="1406525" cy="469106"/>
            </a:xfrm>
            <a:prstGeom prst="rect">
              <a:avLst/>
            </a:prstGeom>
            <a:noFill/>
            <a:ln>
              <a:noFill/>
            </a:ln>
          </p:spPr>
          <p:txBody>
            <a:bodyPr wrap="none" lIns="0" tIns="0" rIns="0" bIns="0" anchor="t" anchorCtr="0">
              <a:spAutoFit/>
            </a:bodyPr>
            <a:lstStyle/>
            <a:p>
              <a:pPr algn="l" marL="76200" indent="-76200">
                <a:lnSpc>
                  <a:spcPts val="900"/>
                </a:lnSpc>
                <a:buClr>
                  <a:srgbClr val="514340"/>
                </a:buClr>
                <a:buSzTx/>
                <a:buFontTx/>
                <a:buChar char="•"/>
              </a:pPr>
              <a:r>
                <a:rPr lang="zh-CN" sz="640" dirty="0">
                  <a:solidFill>
                    <a:srgbClr val="514340"/>
                  </a:solidFill>
                  <a:latin typeface="+mn-lt"/>
                  <a:ea typeface="+mn-ea"/>
                  <a:cs typeface="+mn-cs"/>
                </a:rPr>
                <a:t>欢迎消息（活动回顾 + 权益提醒）​​</a:t>
              </a:r>
            </a:p>
            <a:p>
              <a:pPr algn="l" marL="76200" indent="-76200">
                <a:lnSpc>
                  <a:spcPts val="900"/>
                </a:lnSpc>
                <a:buClr>
                  <a:srgbClr val="514340"/>
                </a:buClr>
                <a:buSzTx/>
                <a:buFontTx/>
                <a:buChar char="•"/>
              </a:pPr>
              <a:r>
                <a:rPr lang="zh-CN" sz="640" dirty="0">
                  <a:solidFill>
                    <a:srgbClr val="514340"/>
                  </a:solidFill>
                  <a:latin typeface="+mn-lt"/>
                  <a:ea typeface="+mn-ea"/>
                  <a:cs typeface="+mn-cs"/>
                </a:rPr>
                <a:t>身份关联（引导绑定信息）​</a:t>
              </a:r>
            </a:p>
            <a:p>
              <a:pPr algn="l" marL="76200" indent="-76200">
                <a:lnSpc>
                  <a:spcPts val="900"/>
                </a:lnSpc>
                <a:buClr>
                  <a:srgbClr val="514340"/>
                </a:buClr>
                <a:buSzTx/>
                <a:buFontTx/>
                <a:buChar char="•"/>
              </a:pPr>
              <a:r>
                <a:rPr lang="zh-CN" sz="640" dirty="0">
                  <a:solidFill>
                    <a:srgbClr val="514340"/>
                  </a:solidFill>
                  <a:latin typeface="+mn-lt"/>
                  <a:ea typeface="+mn-ea"/>
                  <a:cs typeface="+mn-cs"/>
                </a:rPr>
                <a:t>内容推送（相关性产品 / 活动）​​</a:t>
              </a:r>
            </a:p>
            <a:p>
              <a:pPr algn="l" marL="76200" indent="-76200">
                <a:lnSpc>
                  <a:spcPts val="900"/>
                </a:lnSpc>
                <a:buClr>
                  <a:srgbClr val="514340"/>
                </a:buClr>
                <a:buSzTx/>
                <a:buFontTx/>
                <a:buChar char="•"/>
              </a:pPr>
              <a:r>
                <a:rPr lang="zh-CN" sz="640" dirty="0">
                  <a:solidFill>
                    <a:srgbClr val="514340"/>
                  </a:solidFill>
                  <a:latin typeface="+mn-lt"/>
                  <a:ea typeface="+mn-ea"/>
                  <a:cs typeface="+mn-cs"/>
                </a:rPr>
                <a:t>顾问接入（高意向客户1V1）​​</a:t>
              </a:r>
            </a:p>
          </p:txBody>
        </p:sp>
        <p:sp>
          <p:nvSpPr>
            <p:cNvPr id="265" name="TextBox 265"/>
            <p:cNvSpPr txBox="1"/>
            <p:nvPr/>
          </p:nvSpPr>
          <p:spPr>
            <a:xfrm>
              <a:off x="2281238" y="5169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触发事件</a:t>
              </a:r>
            </a:p>
          </p:txBody>
        </p:sp>
        <p:sp>
          <p:nvSpPr>
            <p:cNvPr id="266" name="TextBox 266"/>
            <p:cNvSpPr txBox="1"/>
            <p:nvPr/>
          </p:nvSpPr>
          <p:spPr>
            <a:xfrm>
              <a:off x="2281238" y="5303282"/>
              <a:ext cx="618109" cy="469106"/>
            </a:xfrm>
            <a:prstGeom prst="rect">
              <a:avLst/>
            </a:prstGeom>
            <a:noFill/>
            <a:ln>
              <a:noFill/>
            </a:ln>
          </p:spPr>
          <p:txBody>
            <a:bodyPr wrap="none" lIns="0" tIns="0" rIns="0" bIns="0" anchor="t" anchorCtr="0">
              <a:spAutoFit/>
            </a:bodyPr>
            <a:lstStyle/>
            <a:p>
              <a:pPr algn="l" marL="76200" indent="-76200">
                <a:lnSpc>
                  <a:spcPts val="900"/>
                </a:lnSpc>
                <a:buClr>
                  <a:srgbClr val="514340"/>
                </a:buClr>
                <a:buSzTx/>
                <a:buFontTx/>
                <a:buChar char="•"/>
              </a:pPr>
              <a:r>
                <a:rPr lang="zh-CN" sz="640" dirty="0">
                  <a:solidFill>
                    <a:srgbClr val="514340"/>
                  </a:solidFill>
                  <a:latin typeface="+mn-lt"/>
                  <a:ea typeface="+mn-ea"/>
                  <a:cs typeface="+mn-cs"/>
                </a:rPr>
                <a:t>扫码参与活动​</a:t>
              </a:r>
            </a:p>
            <a:p>
              <a:pPr algn="l" marL="76200" indent="-76200">
                <a:lnSpc>
                  <a:spcPts val="900"/>
                </a:lnSpc>
                <a:buClr>
                  <a:srgbClr val="514340"/>
                </a:buClr>
                <a:buSzTx/>
                <a:buFontTx/>
                <a:buChar char="•"/>
              </a:pPr>
              <a:r>
                <a:rPr lang="zh-CN" sz="640" dirty="0">
                  <a:solidFill>
                    <a:srgbClr val="514340"/>
                  </a:solidFill>
                  <a:latin typeface="+mn-lt"/>
                  <a:ea typeface="+mn-ea"/>
                  <a:cs typeface="+mn-cs"/>
                </a:rPr>
                <a:t>完成身份认证​</a:t>
              </a:r>
            </a:p>
            <a:p>
              <a:pPr algn="l" marL="76200" indent="-76200">
                <a:lnSpc>
                  <a:spcPts val="900"/>
                </a:lnSpc>
                <a:buClr>
                  <a:srgbClr val="514340"/>
                </a:buClr>
                <a:buSzTx/>
                <a:buFontTx/>
                <a:buChar char="•"/>
              </a:pPr>
              <a:r>
                <a:rPr lang="zh-CN" sz="640" dirty="0">
                  <a:solidFill>
                    <a:srgbClr val="514340"/>
                  </a:solidFill>
                  <a:latin typeface="+mn-lt"/>
                  <a:ea typeface="+mn-ea"/>
                  <a:cs typeface="+mn-cs"/>
                </a:rPr>
                <a:t>领取权益​</a:t>
              </a:r>
            </a:p>
            <a:p>
              <a:pPr algn="l" marL="76200" indent="-76200">
                <a:lnSpc>
                  <a:spcPts val="900"/>
                </a:lnSpc>
                <a:buClr>
                  <a:srgbClr val="514340"/>
                </a:buClr>
                <a:buSzTx/>
                <a:buFontTx/>
                <a:buChar char="•"/>
              </a:pPr>
              <a:r>
                <a:rPr lang="zh-CN" sz="640" dirty="0">
                  <a:solidFill>
                    <a:srgbClr val="514340"/>
                  </a:solidFill>
                  <a:latin typeface="+mn-lt"/>
                  <a:ea typeface="+mn-ea"/>
                  <a:cs typeface="+mn-cs"/>
                </a:rPr>
                <a:t>点击产品​</a:t>
              </a:r>
            </a:p>
          </p:txBody>
        </p:sp>
        <p:sp>
          <p:nvSpPr>
            <p:cNvPr id="267" name="Rectangle 267"/>
            <p:cNvSpPr/>
            <p:nvPr/>
          </p:nvSpPr>
          <p:spPr>
            <a:xfrm>
              <a:off x="4114800" y="4857750"/>
              <a:ext cx="3657600" cy="1428750"/>
            </a:xfrm>
            <a:prstGeom prst="roundRect">
              <a:avLst>
                <a:gd name="adj" fmla="val 5333"/>
              </a:avLst>
            </a:prstGeom>
            <a:solidFill>
              <a:srgbClr val="FFFFFF"/>
            </a:solidFill>
            <a:ln w="14288">
              <a:solidFill>
                <a:srgbClr val="C2E0DA"/>
              </a:solidFill>
            </a:ln>
          </p:spPr>
        </p:sp>
        <p:sp>
          <p:nvSpPr>
            <p:cNvPr id="268" name="Rectangle 268"/>
            <p:cNvSpPr/>
            <p:nvPr/>
          </p:nvSpPr>
          <p:spPr>
            <a:xfrm>
              <a:off x="4114800" y="4857750"/>
              <a:ext cx="3657600" cy="228600"/>
            </a:xfrm>
            <a:prstGeom prst="roundRect">
              <a:avLst>
                <a:gd name="adj" fmla="val 33333"/>
              </a:avLst>
            </a:prstGeom>
            <a:solidFill>
              <a:srgbClr val="852512"/>
            </a:solidFill>
            <a:ln>
              <a:noFill/>
            </a:ln>
          </p:spPr>
        </p:sp>
        <p:grpSp>
          <p:nvGrpSpPr>
            <p:cNvPr id="275" name="Group 275"/>
            <p:cNvGrpSpPr/>
            <p:nvPr/>
          </p:nvGrpSpPr>
          <p:grpSpPr>
            <a:xfrm>
              <a:off x="4232275" y="4922044"/>
              <a:ext cx="88900" cy="100012"/>
              <a:chOff x="4232275" y="4922044"/>
              <a:chExt cx="88900" cy="100012"/>
            </a:xfrm>
          </p:grpSpPr>
          <p:sp>
            <p:nvSpPr>
              <p:cNvPr id="269" name="Freeform 269"/>
              <p:cNvSpPr/>
              <p:nvPr/>
            </p:nvSpPr>
            <p:spPr>
              <a:xfrm>
                <a:off x="4232275" y="4933156"/>
                <a:ext cx="88900" cy="88900"/>
              </a:xfrm>
              <a:custGeom>
                <a:avLst/>
                <a:gdLst/>
                <a:ahLst/>
                <a:cxnLst/>
                <a:rect l="l" t="t" r="r" b="b"/>
                <a:pathLst>
                  <a:path w="88900" h="88900">
                    <a:moveTo>
                      <a:pt x="0" y="11112"/>
                    </a:moveTo>
                    <a:cubicBezTo>
                      <a:pt x="0" y="4975"/>
                      <a:pt x="4975" y="0"/>
                      <a:pt x="11112" y="0"/>
                    </a:cubicBezTo>
                    <a:lnTo>
                      <a:pt x="77787" y="0"/>
                    </a:lnTo>
                    <a:cubicBezTo>
                      <a:pt x="83925" y="0"/>
                      <a:pt x="88900" y="4975"/>
                      <a:pt x="88900" y="11112"/>
                    </a:cubicBezTo>
                    <a:lnTo>
                      <a:pt x="88900" y="77787"/>
                    </a:lnTo>
                    <a:cubicBezTo>
                      <a:pt x="88900" y="83925"/>
                      <a:pt x="83925" y="88900"/>
                      <a:pt x="77787" y="88900"/>
                    </a:cubicBezTo>
                    <a:lnTo>
                      <a:pt x="11112" y="88900"/>
                    </a:lnTo>
                    <a:cubicBezTo>
                      <a:pt x="4975" y="88900"/>
                      <a:pt x="0" y="83925"/>
                      <a:pt x="0" y="77787"/>
                    </a:cubicBezTo>
                    <a:lnTo>
                      <a:pt x="0" y="11112"/>
                    </a:lnTo>
                  </a:path>
                </a:pathLst>
              </a:custGeom>
              <a:noFill/>
              <a:ln w="11112">
                <a:solidFill>
                  <a:srgbClr val="FFFFFF"/>
                </a:solidFill>
              </a:ln>
            </p:spPr>
          </p:sp>
          <p:sp>
            <p:nvSpPr>
              <p:cNvPr id="270" name="Freeform 270"/>
              <p:cNvSpPr/>
              <p:nvPr/>
            </p:nvSpPr>
            <p:spPr>
              <a:xfrm>
                <a:off x="4298950" y="4922044"/>
                <a:ext cx="9525" cy="22225"/>
              </a:xfrm>
              <a:custGeom>
                <a:avLst/>
                <a:gdLst/>
                <a:ahLst/>
                <a:cxnLst/>
                <a:rect l="l" t="t" r="r" b="b"/>
                <a:pathLst>
                  <a:path w="9525" h="22225">
                    <a:moveTo>
                      <a:pt x="0" y="0"/>
                    </a:moveTo>
                    <a:lnTo>
                      <a:pt x="0" y="22225"/>
                    </a:lnTo>
                  </a:path>
                </a:pathLst>
              </a:custGeom>
              <a:noFill/>
              <a:ln w="11112">
                <a:solidFill>
                  <a:srgbClr val="FFFFFF"/>
                </a:solidFill>
              </a:ln>
            </p:spPr>
          </p:sp>
          <p:sp>
            <p:nvSpPr>
              <p:cNvPr id="271" name="Freeform 271"/>
              <p:cNvSpPr/>
              <p:nvPr/>
            </p:nvSpPr>
            <p:spPr>
              <a:xfrm>
                <a:off x="4254500" y="4922044"/>
                <a:ext cx="9525" cy="22225"/>
              </a:xfrm>
              <a:custGeom>
                <a:avLst/>
                <a:gdLst/>
                <a:ahLst/>
                <a:cxnLst/>
                <a:rect l="l" t="t" r="r" b="b"/>
                <a:pathLst>
                  <a:path w="9525" h="22225">
                    <a:moveTo>
                      <a:pt x="0" y="0"/>
                    </a:moveTo>
                    <a:lnTo>
                      <a:pt x="0" y="22225"/>
                    </a:lnTo>
                  </a:path>
                </a:pathLst>
              </a:custGeom>
              <a:noFill/>
              <a:ln w="11112">
                <a:solidFill>
                  <a:srgbClr val="FFFFFF"/>
                </a:solidFill>
              </a:ln>
            </p:spPr>
          </p:sp>
          <p:sp>
            <p:nvSpPr>
              <p:cNvPr id="272" name="Freeform 272"/>
              <p:cNvSpPr/>
              <p:nvPr/>
            </p:nvSpPr>
            <p:spPr>
              <a:xfrm>
                <a:off x="4232275" y="4966494"/>
                <a:ext cx="88900" cy="9525"/>
              </a:xfrm>
              <a:custGeom>
                <a:avLst/>
                <a:gdLst/>
                <a:ahLst/>
                <a:cxnLst/>
                <a:rect l="l" t="t" r="r" b="b"/>
                <a:pathLst>
                  <a:path w="88900" h="9525">
                    <a:moveTo>
                      <a:pt x="0" y="0"/>
                    </a:moveTo>
                    <a:lnTo>
                      <a:pt x="88900" y="0"/>
                    </a:lnTo>
                  </a:path>
                </a:pathLst>
              </a:custGeom>
              <a:noFill/>
              <a:ln w="11112">
                <a:solidFill>
                  <a:srgbClr val="FFFFFF"/>
                </a:solidFill>
              </a:ln>
            </p:spPr>
          </p:sp>
          <p:sp>
            <p:nvSpPr>
              <p:cNvPr id="273" name="Freeform 273"/>
              <p:cNvSpPr/>
              <p:nvPr/>
            </p:nvSpPr>
            <p:spPr>
              <a:xfrm>
                <a:off x="4271169" y="4988719"/>
                <a:ext cx="9525" cy="9525"/>
              </a:xfrm>
              <a:custGeom>
                <a:avLst/>
                <a:gdLst/>
                <a:ahLst/>
                <a:cxnLst/>
                <a:rect l="l" t="t" r="r" b="b"/>
                <a:pathLst>
                  <a:path w="9525" h="9525">
                    <a:moveTo>
                      <a:pt x="0" y="0"/>
                    </a:moveTo>
                    <a:lnTo>
                      <a:pt x="5556" y="0"/>
                    </a:lnTo>
                  </a:path>
                </a:pathLst>
              </a:custGeom>
              <a:noFill/>
              <a:ln w="11112">
                <a:solidFill>
                  <a:srgbClr val="FFFFFF"/>
                </a:solidFill>
              </a:ln>
            </p:spPr>
          </p:sp>
          <p:sp>
            <p:nvSpPr>
              <p:cNvPr id="274" name="Freeform 274"/>
              <p:cNvSpPr/>
              <p:nvPr/>
            </p:nvSpPr>
            <p:spPr>
              <a:xfrm>
                <a:off x="4276725" y="4988719"/>
                <a:ext cx="9525" cy="16669"/>
              </a:xfrm>
              <a:custGeom>
                <a:avLst/>
                <a:gdLst/>
                <a:ahLst/>
                <a:cxnLst/>
                <a:rect l="l" t="t" r="r" b="b"/>
                <a:pathLst>
                  <a:path w="9525" h="16669">
                    <a:moveTo>
                      <a:pt x="0" y="0"/>
                    </a:moveTo>
                    <a:lnTo>
                      <a:pt x="0" y="16669"/>
                    </a:lnTo>
                  </a:path>
                </a:pathLst>
              </a:custGeom>
              <a:noFill/>
              <a:ln w="11112">
                <a:solidFill>
                  <a:srgbClr val="FFFFFF"/>
                </a:solidFill>
              </a:ln>
            </p:spPr>
          </p:sp>
        </p:grpSp>
        <p:sp>
          <p:nvSpPr>
            <p:cNvPr id="276" name="TextBox 276"/>
            <p:cNvSpPr txBox="1"/>
            <p:nvPr/>
          </p:nvSpPr>
          <p:spPr>
            <a:xfrm>
              <a:off x="4395788" y="4925139"/>
              <a:ext cx="1435676"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2-7天 深化互动 · 激发需求​​</a:t>
              </a:r>
            </a:p>
          </p:txBody>
        </p:sp>
        <p:sp>
          <p:nvSpPr>
            <p:cNvPr id="277" name="TextBox 277"/>
            <p:cNvSpPr txBox="1"/>
            <p:nvPr/>
          </p:nvSpPr>
          <p:spPr>
            <a:xfrm>
              <a:off x="4224338" y="5169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关键动作</a:t>
              </a:r>
            </a:p>
          </p:txBody>
        </p:sp>
        <p:sp>
          <p:nvSpPr>
            <p:cNvPr id="278" name="TextBox 278"/>
            <p:cNvSpPr txBox="1"/>
            <p:nvPr/>
          </p:nvSpPr>
          <p:spPr>
            <a:xfrm>
              <a:off x="4224338" y="5303282"/>
              <a:ext cx="1475613" cy="469106"/>
            </a:xfrm>
            <a:prstGeom prst="rect">
              <a:avLst/>
            </a:prstGeom>
            <a:noFill/>
            <a:ln>
              <a:noFill/>
            </a:ln>
          </p:spPr>
          <p:txBody>
            <a:bodyPr wrap="none" lIns="0" tIns="0" rIns="0" bIns="0" anchor="t" anchorCtr="0">
              <a:spAutoFit/>
            </a:bodyPr>
            <a:lstStyle/>
            <a:p>
              <a:pPr algn="l" marL="76200" indent="-76200">
                <a:lnSpc>
                  <a:spcPts val="900"/>
                </a:lnSpc>
                <a:buClr>
                  <a:srgbClr val="514340"/>
                </a:buClr>
                <a:buSzTx/>
                <a:buFontTx/>
                <a:buChar char="•"/>
              </a:pPr>
              <a:r>
                <a:rPr lang="zh-CN" sz="640" dirty="0">
                  <a:solidFill>
                    <a:srgbClr val="514340"/>
                  </a:solidFill>
                  <a:latin typeface="+mn-lt"/>
                  <a:ea typeface="+mn-ea"/>
                  <a:cs typeface="+mn-cs"/>
                </a:rPr>
                <a:t>持续内容推送（产品解读/案例分享）​</a:t>
              </a:r>
            </a:p>
            <a:p>
              <a:pPr algn="l" marL="76200" indent="-76200">
                <a:lnSpc>
                  <a:spcPts val="900"/>
                </a:lnSpc>
                <a:buClr>
                  <a:srgbClr val="514340"/>
                </a:buClr>
                <a:buSzTx/>
                <a:buFontTx/>
                <a:buChar char="•"/>
              </a:pPr>
              <a:r>
                <a:rPr lang="zh-CN" sz="640" dirty="0">
                  <a:solidFill>
                    <a:srgbClr val="514340"/>
                  </a:solidFill>
                  <a:latin typeface="+mn-lt"/>
                  <a:ea typeface="+mn-ea"/>
                  <a:cs typeface="+mn-cs"/>
                </a:rPr>
                <a:t>社群运营（参与线上讨论）​</a:t>
              </a:r>
            </a:p>
            <a:p>
              <a:pPr algn="l" marL="76200" indent="-76200">
                <a:lnSpc>
                  <a:spcPts val="900"/>
                </a:lnSpc>
                <a:buClr>
                  <a:srgbClr val="514340"/>
                </a:buClr>
                <a:buSzTx/>
                <a:buFontTx/>
                <a:buChar char="•"/>
              </a:pPr>
              <a:r>
                <a:rPr lang="zh-CN" sz="640" dirty="0">
                  <a:solidFill>
                    <a:srgbClr val="514340"/>
                  </a:solidFill>
                  <a:latin typeface="+mn-lt"/>
                  <a:ea typeface="+mn-ea"/>
                  <a:cs typeface="+mn-cs"/>
                </a:rPr>
                <a:t>专属权益提醒（限时优惠/活动权益）​</a:t>
              </a:r>
            </a:p>
            <a:p>
              <a:pPr algn="l" marL="76200" indent="-76200">
                <a:lnSpc>
                  <a:spcPts val="900"/>
                </a:lnSpc>
                <a:buClr>
                  <a:srgbClr val="514340"/>
                </a:buClr>
                <a:buSzTx/>
                <a:buFontTx/>
                <a:buChar char="•"/>
              </a:pPr>
              <a:r>
                <a:rPr lang="zh-CN" sz="640" dirty="0">
                  <a:solidFill>
                    <a:srgbClr val="514340"/>
                  </a:solidFill>
                  <a:latin typeface="+mn-lt"/>
                  <a:ea typeface="+mn-ea"/>
                  <a:cs typeface="+mn-cs"/>
                </a:rPr>
                <a:t>需求调研（收集反馈）​</a:t>
              </a:r>
            </a:p>
          </p:txBody>
        </p:sp>
        <p:sp>
          <p:nvSpPr>
            <p:cNvPr id="279" name="TextBox 279"/>
            <p:cNvSpPr txBox="1"/>
            <p:nvPr/>
          </p:nvSpPr>
          <p:spPr>
            <a:xfrm>
              <a:off x="6281738" y="5169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触发事件</a:t>
              </a:r>
            </a:p>
          </p:txBody>
        </p:sp>
        <p:sp>
          <p:nvSpPr>
            <p:cNvPr id="280" name="TextBox 280"/>
            <p:cNvSpPr txBox="1"/>
            <p:nvPr/>
          </p:nvSpPr>
          <p:spPr>
            <a:xfrm>
              <a:off x="6281738" y="5303282"/>
              <a:ext cx="1081405" cy="469106"/>
            </a:xfrm>
            <a:prstGeom prst="rect">
              <a:avLst/>
            </a:prstGeom>
            <a:noFill/>
            <a:ln>
              <a:noFill/>
            </a:ln>
          </p:spPr>
          <p:txBody>
            <a:bodyPr wrap="none" lIns="0" tIns="0" rIns="0" bIns="0" anchor="t" anchorCtr="0">
              <a:spAutoFit/>
            </a:bodyPr>
            <a:lstStyle/>
            <a:p>
              <a:pPr algn="l" marL="76200" indent="-76200">
                <a:lnSpc>
                  <a:spcPts val="900"/>
                </a:lnSpc>
                <a:buClr>
                  <a:srgbClr val="514340"/>
                </a:buClr>
                <a:buSzTx/>
                <a:buFontTx/>
                <a:buChar char="•"/>
              </a:pPr>
              <a:r>
                <a:rPr lang="zh-CN" sz="640" dirty="0">
                  <a:solidFill>
                    <a:srgbClr val="514340"/>
                  </a:solidFill>
                  <a:latin typeface="+mn-lt"/>
                  <a:ea typeface="+mn-ea"/>
                  <a:cs typeface="+mn-cs"/>
                </a:rPr>
                <a:t>打开推送内容​</a:t>
              </a:r>
            </a:p>
            <a:p>
              <a:pPr algn="l" marL="76200" indent="-76200">
                <a:lnSpc>
                  <a:spcPts val="900"/>
                </a:lnSpc>
                <a:buClr>
                  <a:srgbClr val="514340"/>
                </a:buClr>
                <a:buSzTx/>
                <a:buFontTx/>
                <a:buChar char="•"/>
              </a:pPr>
              <a:r>
                <a:rPr lang="zh-CN" sz="640" dirty="0">
                  <a:solidFill>
                    <a:srgbClr val="514340"/>
                  </a:solidFill>
                  <a:latin typeface="+mn-lt"/>
                  <a:ea typeface="+mn-ea"/>
                  <a:cs typeface="+mn-cs"/>
                </a:rPr>
                <a:t>参与直播​</a:t>
              </a:r>
            </a:p>
            <a:p>
              <a:pPr algn="l" marL="76200" indent="-76200">
                <a:lnSpc>
                  <a:spcPts val="900"/>
                </a:lnSpc>
                <a:buClr>
                  <a:srgbClr val="514340"/>
                </a:buClr>
                <a:buSzTx/>
                <a:buFontTx/>
                <a:buChar char="•"/>
              </a:pPr>
              <a:r>
                <a:rPr lang="zh-CN" sz="640" dirty="0">
                  <a:solidFill>
                    <a:srgbClr val="514340"/>
                  </a:solidFill>
                  <a:latin typeface="+mn-lt"/>
                  <a:ea typeface="+mn-ea"/>
                  <a:cs typeface="+mn-cs"/>
                </a:rPr>
                <a:t>点击产品详情 / 预约咨询​​</a:t>
              </a:r>
            </a:p>
            <a:p>
              <a:pPr algn="l" marL="76200" indent="-76200">
                <a:lnSpc>
                  <a:spcPts val="900"/>
                </a:lnSpc>
                <a:buClr>
                  <a:srgbClr val="514340"/>
                </a:buClr>
                <a:buSzTx/>
                <a:buFontTx/>
                <a:buChar char="•"/>
              </a:pPr>
              <a:r>
                <a:rPr lang="zh-CN" sz="640" dirty="0">
                  <a:solidFill>
                    <a:srgbClr val="514340"/>
                  </a:solidFill>
                  <a:latin typeface="+mn-lt"/>
                  <a:ea typeface="+mn-ea"/>
                  <a:cs typeface="+mn-cs"/>
                </a:rPr>
                <a:t>提交需求​</a:t>
              </a:r>
            </a:p>
          </p:txBody>
        </p:sp>
        <p:sp>
          <p:nvSpPr>
            <p:cNvPr id="281" name="Rectangle 281"/>
            <p:cNvSpPr/>
            <p:nvPr/>
          </p:nvSpPr>
          <p:spPr>
            <a:xfrm>
              <a:off x="7886700" y="4857750"/>
              <a:ext cx="3943350" cy="1428750"/>
            </a:xfrm>
            <a:prstGeom prst="roundRect">
              <a:avLst>
                <a:gd name="adj" fmla="val 5333"/>
              </a:avLst>
            </a:prstGeom>
            <a:solidFill>
              <a:srgbClr val="FFFFFF"/>
            </a:solidFill>
            <a:ln w="14288">
              <a:solidFill>
                <a:srgbClr val="C2E0DA"/>
              </a:solidFill>
            </a:ln>
          </p:spPr>
        </p:sp>
        <p:sp>
          <p:nvSpPr>
            <p:cNvPr id="282" name="Rectangle 282"/>
            <p:cNvSpPr/>
            <p:nvPr/>
          </p:nvSpPr>
          <p:spPr>
            <a:xfrm>
              <a:off x="7886700" y="4857750"/>
              <a:ext cx="3943350" cy="228600"/>
            </a:xfrm>
            <a:prstGeom prst="roundRect">
              <a:avLst>
                <a:gd name="adj" fmla="val 33333"/>
              </a:avLst>
            </a:prstGeom>
            <a:solidFill>
              <a:srgbClr val="76200F"/>
            </a:solidFill>
            <a:ln>
              <a:noFill/>
            </a:ln>
          </p:spPr>
        </p:sp>
        <p:grpSp>
          <p:nvGrpSpPr>
            <p:cNvPr id="285" name="Group 285"/>
            <p:cNvGrpSpPr/>
            <p:nvPr/>
          </p:nvGrpSpPr>
          <p:grpSpPr>
            <a:xfrm>
              <a:off x="7998619" y="4944269"/>
              <a:ext cx="100012" cy="55562"/>
              <a:chOff x="7998619" y="4944269"/>
              <a:chExt cx="100012" cy="55562"/>
            </a:xfrm>
          </p:grpSpPr>
          <p:sp>
            <p:nvSpPr>
              <p:cNvPr id="283" name="Freeform 283"/>
              <p:cNvSpPr/>
              <p:nvPr/>
            </p:nvSpPr>
            <p:spPr>
              <a:xfrm>
                <a:off x="7998619" y="4944269"/>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FFFFFF"/>
                </a:solidFill>
              </a:ln>
            </p:spPr>
          </p:sp>
          <p:sp>
            <p:nvSpPr>
              <p:cNvPr id="284" name="Freeform 284"/>
              <p:cNvSpPr/>
              <p:nvPr/>
            </p:nvSpPr>
            <p:spPr>
              <a:xfrm>
                <a:off x="8059737" y="4944269"/>
                <a:ext cx="38894" cy="38894"/>
              </a:xfrm>
              <a:custGeom>
                <a:avLst/>
                <a:gdLst/>
                <a:ahLst/>
                <a:cxnLst/>
                <a:rect l="l" t="t" r="r" b="b"/>
                <a:pathLst>
                  <a:path w="38894" h="38894">
                    <a:moveTo>
                      <a:pt x="0" y="0"/>
                    </a:moveTo>
                    <a:lnTo>
                      <a:pt x="38894" y="0"/>
                    </a:lnTo>
                    <a:lnTo>
                      <a:pt x="38894" y="38894"/>
                    </a:lnTo>
                  </a:path>
                </a:pathLst>
              </a:custGeom>
              <a:noFill/>
              <a:ln w="11112">
                <a:solidFill>
                  <a:srgbClr val="FFFFFF"/>
                </a:solidFill>
              </a:ln>
            </p:spPr>
          </p:sp>
        </p:grpSp>
        <p:sp>
          <p:nvSpPr>
            <p:cNvPr id="286" name="TextBox 286"/>
            <p:cNvSpPr txBox="1"/>
            <p:nvPr/>
          </p:nvSpPr>
          <p:spPr>
            <a:xfrm>
              <a:off x="8167688" y="4925139"/>
              <a:ext cx="1558510"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8-30天 转化沉淀 · 长期经营​​​</a:t>
              </a:r>
            </a:p>
          </p:txBody>
        </p:sp>
        <p:sp>
          <p:nvSpPr>
            <p:cNvPr id="287" name="TextBox 287"/>
            <p:cNvSpPr txBox="1"/>
            <p:nvPr/>
          </p:nvSpPr>
          <p:spPr>
            <a:xfrm>
              <a:off x="7996238" y="5169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关键动作</a:t>
              </a:r>
            </a:p>
          </p:txBody>
        </p:sp>
        <p:sp>
          <p:nvSpPr>
            <p:cNvPr id="288" name="TextBox 288"/>
            <p:cNvSpPr txBox="1"/>
            <p:nvPr/>
          </p:nvSpPr>
          <p:spPr>
            <a:xfrm>
              <a:off x="7996238" y="5303282"/>
              <a:ext cx="1565021" cy="469106"/>
            </a:xfrm>
            <a:prstGeom prst="rect">
              <a:avLst/>
            </a:prstGeom>
            <a:noFill/>
            <a:ln>
              <a:noFill/>
            </a:ln>
          </p:spPr>
          <p:txBody>
            <a:bodyPr wrap="none" lIns="0" tIns="0" rIns="0" bIns="0" anchor="t" anchorCtr="0">
              <a:spAutoFit/>
            </a:bodyPr>
            <a:lstStyle/>
            <a:p>
              <a:pPr algn="l" marL="76200" indent="-76200">
                <a:lnSpc>
                  <a:spcPts val="900"/>
                </a:lnSpc>
                <a:buClr>
                  <a:srgbClr val="514340"/>
                </a:buClr>
                <a:buSzTx/>
                <a:buFontTx/>
                <a:buChar char="•"/>
              </a:pPr>
              <a:r>
                <a:rPr lang="zh-CN" sz="640" dirty="0">
                  <a:solidFill>
                    <a:srgbClr val="514340"/>
                  </a:solidFill>
                  <a:latin typeface="+mn-lt"/>
                  <a:ea typeface="+mn-ea"/>
                  <a:cs typeface="+mn-cs"/>
                </a:rPr>
                <a:t>产品办理引导（开户/理财/信贷预约）​​</a:t>
              </a:r>
            </a:p>
            <a:p>
              <a:pPr algn="l" marL="76200" indent="-76200">
                <a:lnSpc>
                  <a:spcPts val="900"/>
                </a:lnSpc>
                <a:buClr>
                  <a:srgbClr val="514340"/>
                </a:buClr>
                <a:buSzTx/>
                <a:buFontTx/>
                <a:buChar char="•"/>
              </a:pPr>
              <a:r>
                <a:rPr lang="zh-CN" sz="640" dirty="0">
                  <a:solidFill>
                    <a:srgbClr val="514340"/>
                  </a:solidFill>
                  <a:latin typeface="+mn-lt"/>
                  <a:ea typeface="+mn-ea"/>
                  <a:cs typeface="+mn-cs"/>
                </a:rPr>
                <a:t>客户经理跟进（定制方案）​</a:t>
              </a:r>
            </a:p>
            <a:p>
              <a:pPr algn="l" marL="76200" indent="-76200">
                <a:lnSpc>
                  <a:spcPts val="900"/>
                </a:lnSpc>
                <a:buClr>
                  <a:srgbClr val="514340"/>
                </a:buClr>
                <a:buSzTx/>
                <a:buFontTx/>
                <a:buChar char="•"/>
              </a:pPr>
              <a:r>
                <a:rPr lang="zh-CN" sz="640" dirty="0">
                  <a:solidFill>
                    <a:srgbClr val="514340"/>
                  </a:solidFill>
                  <a:latin typeface="+mn-lt"/>
                  <a:ea typeface="+mn-ea"/>
                  <a:cs typeface="+mn-cs"/>
                </a:rPr>
                <a:t>交易核销（权益兑换/核销）​</a:t>
              </a:r>
            </a:p>
            <a:p>
              <a:pPr algn="l" marL="76200" indent="-76200">
                <a:lnSpc>
                  <a:spcPts val="900"/>
                </a:lnSpc>
                <a:buClr>
                  <a:srgbClr val="514340"/>
                </a:buClr>
                <a:buSzTx/>
                <a:buFontTx/>
                <a:buChar char="•"/>
              </a:pPr>
              <a:r>
                <a:rPr lang="zh-CN" sz="640" dirty="0">
                  <a:solidFill>
                    <a:srgbClr val="514340"/>
                  </a:solidFill>
                  <a:latin typeface="+mn-lt"/>
                  <a:ea typeface="+mn-ea"/>
                  <a:cs typeface="+mn-cs"/>
                </a:rPr>
                <a:t>会员体系（加入会员/长期关系）​</a:t>
              </a:r>
            </a:p>
          </p:txBody>
        </p:sp>
        <p:sp>
          <p:nvSpPr>
            <p:cNvPr id="289" name="TextBox 289"/>
            <p:cNvSpPr txBox="1"/>
            <p:nvPr/>
          </p:nvSpPr>
          <p:spPr>
            <a:xfrm>
              <a:off x="10186988" y="5169932"/>
              <a:ext cx="354152" cy="126206"/>
            </a:xfrm>
            <a:prstGeom prst="rect">
              <a:avLst/>
            </a:prstGeom>
            <a:noFill/>
            <a:ln>
              <a:noFill/>
            </a:ln>
          </p:spPr>
          <p:txBody>
            <a:bodyPr wrap="none" lIns="0" tIns="0" rIns="0" bIns="0" anchor="t" anchorCtr="0">
              <a:spAutoFit/>
            </a:bodyPr>
            <a:lstStyle/>
            <a:p>
              <a:pPr algn="l"/>
              <a:r>
                <a:rPr lang="zh-CN" sz="640" b="1" dirty="0">
                  <a:solidFill>
                    <a:srgbClr val="5D190B"/>
                  </a:solidFill>
                  <a:latin typeface="+mn-lt"/>
                  <a:ea typeface="+mn-ea"/>
                  <a:cs typeface="+mn-cs"/>
                </a:rPr>
                <a:t>触发事件</a:t>
              </a:r>
            </a:p>
          </p:txBody>
        </p:sp>
        <p:sp>
          <p:nvSpPr>
            <p:cNvPr id="290" name="TextBox 290"/>
            <p:cNvSpPr txBox="1"/>
            <p:nvPr/>
          </p:nvSpPr>
          <p:spPr>
            <a:xfrm>
              <a:off x="10186988" y="5303282"/>
              <a:ext cx="918845" cy="469106"/>
            </a:xfrm>
            <a:prstGeom prst="rect">
              <a:avLst/>
            </a:prstGeom>
            <a:noFill/>
            <a:ln>
              <a:noFill/>
            </a:ln>
          </p:spPr>
          <p:txBody>
            <a:bodyPr wrap="none" lIns="0" tIns="0" rIns="0" bIns="0" anchor="t" anchorCtr="0">
              <a:spAutoFit/>
            </a:bodyPr>
            <a:lstStyle/>
            <a:p>
              <a:pPr algn="l" marL="76200" indent="-76200">
                <a:lnSpc>
                  <a:spcPts val="900"/>
                </a:lnSpc>
                <a:buClr>
                  <a:srgbClr val="514340"/>
                </a:buClr>
                <a:buSzTx/>
                <a:buFontTx/>
                <a:buChar char="•"/>
              </a:pPr>
              <a:r>
                <a:rPr lang="zh-CN" sz="640" dirty="0">
                  <a:solidFill>
                    <a:srgbClr val="514340"/>
                  </a:solidFill>
                  <a:latin typeface="+mn-lt"/>
                  <a:ea typeface="+mn-ea"/>
                  <a:cs typeface="+mn-cs"/>
                </a:rPr>
                <a:t>完成产品办理​</a:t>
              </a:r>
            </a:p>
            <a:p>
              <a:pPr algn="l" marL="76200" indent="-76200">
                <a:lnSpc>
                  <a:spcPts val="900"/>
                </a:lnSpc>
                <a:buClr>
                  <a:srgbClr val="514340"/>
                </a:buClr>
                <a:buSzTx/>
                <a:buFontTx/>
                <a:buChar char="•"/>
              </a:pPr>
              <a:r>
                <a:rPr lang="zh-CN" sz="640" dirty="0">
                  <a:solidFill>
                    <a:srgbClr val="514340"/>
                  </a:solidFill>
                  <a:latin typeface="+mn-lt"/>
                  <a:ea typeface="+mn-ea"/>
                  <a:cs typeface="+mn-cs"/>
                </a:rPr>
                <a:t>发生交易 / 权益核销​​</a:t>
              </a:r>
            </a:p>
            <a:p>
              <a:pPr algn="l" marL="76200" indent="-76200">
                <a:lnSpc>
                  <a:spcPts val="900"/>
                </a:lnSpc>
                <a:buClr>
                  <a:srgbClr val="514340"/>
                </a:buClr>
                <a:buSzTx/>
                <a:buFontTx/>
                <a:buChar char="•"/>
              </a:pPr>
              <a:r>
                <a:rPr lang="zh-CN" sz="640" dirty="0">
                  <a:solidFill>
                    <a:srgbClr val="514340"/>
                  </a:solidFill>
                  <a:latin typeface="+mn-lt"/>
                  <a:ea typeface="+mn-ea"/>
                  <a:cs typeface="+mn-cs"/>
                </a:rPr>
                <a:t>加入会员​</a:t>
              </a:r>
            </a:p>
            <a:p>
              <a:pPr algn="l" marL="76200" indent="-76200">
                <a:lnSpc>
                  <a:spcPts val="900"/>
                </a:lnSpc>
                <a:buClr>
                  <a:srgbClr val="514340"/>
                </a:buClr>
                <a:buSzTx/>
                <a:buFontTx/>
                <a:buChar char="•"/>
              </a:pPr>
              <a:r>
                <a:rPr lang="zh-CN" sz="640" dirty="0">
                  <a:solidFill>
                    <a:srgbClr val="514340"/>
                  </a:solidFill>
                  <a:latin typeface="+mn-lt"/>
                  <a:ea typeface="+mn-ea"/>
                  <a:cs typeface="+mn-cs"/>
                </a:rPr>
                <a:t>长期活跃​</a:t>
              </a:r>
            </a:p>
          </p:txBody>
        </p:sp>
        <p:sp>
          <p:nvSpPr>
            <p:cNvPr id="291" name="Rectangle 291"/>
            <p:cNvSpPr/>
            <p:nvPr/>
          </p:nvSpPr>
          <p:spPr>
            <a:xfrm>
              <a:off x="342900" y="6400800"/>
              <a:ext cx="11487150" cy="228600"/>
            </a:xfrm>
            <a:prstGeom prst="roundRect">
              <a:avLst>
                <a:gd name="adj" fmla="val 50000"/>
              </a:avLst>
            </a:prstGeom>
            <a:gradFill>
              <a:gsLst>
                <a:gs pos="0">
                  <a:srgbClr val="5D190B"/>
                </a:gs>
                <a:gs pos="100000">
                  <a:srgbClr val="902915"/>
                </a:gs>
              </a:gsLst>
              <a:lin ang="0" scaled="1"/>
            </a:gradFill>
            <a:ln>
              <a:noFill/>
            </a:ln>
          </p:spPr>
        </p:sp>
        <p:sp>
          <p:nvSpPr>
            <p:cNvPr id="292" name="TextBox 292"/>
            <p:cNvSpPr txBox="1"/>
            <p:nvPr/>
          </p:nvSpPr>
          <p:spPr>
            <a:xfrm>
              <a:off x="1401788" y="64681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引流获客</a:t>
              </a:r>
            </a:p>
          </p:txBody>
        </p:sp>
        <p:sp>
          <p:nvSpPr>
            <p:cNvPr id="293" name="Line 293"/>
            <p:cNvSpPr/>
            <p:nvPr/>
          </p:nvSpPr>
          <p:spPr>
            <a:xfrm>
              <a:off x="2857500" y="6515100"/>
              <a:ext cx="762000" cy="1"/>
            </a:xfrm>
            <a:prstGeom prst="line">
              <a:avLst/>
            </a:prstGeom>
            <a:noFill/>
            <a:ln w="14288">
              <a:solidFill>
                <a:srgbClr val="FFFFFF"/>
              </a:solidFill>
              <a:tailEnd type="triangle" w="lg" len="lg"/>
            </a:ln>
          </p:spPr>
        </p:sp>
        <p:sp>
          <p:nvSpPr>
            <p:cNvPr id="294" name="TextBox 294"/>
            <p:cNvSpPr txBox="1"/>
            <p:nvPr/>
          </p:nvSpPr>
          <p:spPr>
            <a:xfrm>
              <a:off x="4259288" y="64681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激活互动</a:t>
              </a:r>
            </a:p>
          </p:txBody>
        </p:sp>
        <p:sp>
          <p:nvSpPr>
            <p:cNvPr id="295" name="Line 295"/>
            <p:cNvSpPr/>
            <p:nvPr/>
          </p:nvSpPr>
          <p:spPr>
            <a:xfrm>
              <a:off x="5715000" y="6515100"/>
              <a:ext cx="762000" cy="1"/>
            </a:xfrm>
            <a:prstGeom prst="line">
              <a:avLst/>
            </a:prstGeom>
            <a:noFill/>
            <a:ln w="14288">
              <a:solidFill>
                <a:srgbClr val="FFFFFF"/>
              </a:solidFill>
              <a:tailEnd type="triangle" w="lg" len="lg"/>
            </a:ln>
          </p:spPr>
        </p:sp>
        <p:sp>
          <p:nvSpPr>
            <p:cNvPr id="296" name="TextBox 296"/>
            <p:cNvSpPr txBox="1"/>
            <p:nvPr/>
          </p:nvSpPr>
          <p:spPr>
            <a:xfrm>
              <a:off x="7116788" y="64681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转化办理</a:t>
              </a:r>
            </a:p>
          </p:txBody>
        </p:sp>
        <p:sp>
          <p:nvSpPr>
            <p:cNvPr id="297" name="Line 297"/>
            <p:cNvSpPr/>
            <p:nvPr/>
          </p:nvSpPr>
          <p:spPr>
            <a:xfrm>
              <a:off x="8572500" y="6515100"/>
              <a:ext cx="762000" cy="1"/>
            </a:xfrm>
            <a:prstGeom prst="line">
              <a:avLst/>
            </a:prstGeom>
            <a:noFill/>
            <a:ln w="14288">
              <a:solidFill>
                <a:srgbClr val="FFFFFF"/>
              </a:solidFill>
              <a:tailEnd type="triangle" w="lg" len="lg"/>
            </a:ln>
          </p:spPr>
        </p:sp>
        <p:sp>
          <p:nvSpPr>
            <p:cNvPr id="298" name="TextBox 298"/>
            <p:cNvSpPr txBox="1"/>
            <p:nvPr/>
          </p:nvSpPr>
          <p:spPr>
            <a:xfrm>
              <a:off x="9974288" y="64681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持续经营</a:t>
              </a:r>
            </a:p>
          </p:txBody>
        </p:sp>
      </p:gr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11​</a:t>
              </a:r>
            </a:p>
          </p:txBody>
        </p:sp>
        <p:sp>
          <p:nvSpPr>
            <p:cNvPr id="4" name="TextBox 4"/>
            <p:cNvSpPr txBox="1"/>
            <p:nvPr/>
          </p:nvSpPr>
          <p:spPr>
            <a:xfrm>
              <a:off x="904494" y="170498"/>
              <a:ext cx="5269992"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权益设计</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用低成本权益驱动高价值客户行为</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11​</a:t>
              </a:r>
            </a:p>
          </p:txBody>
        </p:sp>
      </p:grpSp>
      <p:grpSp>
        <p:nvGrpSpPr>
          <p:cNvPr id="17" name="ladder-intro"/>
          <p:cNvGrpSpPr/>
          <p:nvPr/>
        </p:nvGrpSpPr>
        <p:grpSpPr>
          <a:xfrm>
            <a:off x="342900" y="685800"/>
            <a:ext cx="1047750" cy="1562100"/>
            <a:chOff x="342900" y="685800"/>
            <a:chExt cx="1047750" cy="1562100"/>
          </a:xfrm>
        </p:grpSpPr>
        <p:sp>
          <p:nvSpPr>
            <p:cNvPr id="8" name="Rectangle 8"/>
            <p:cNvSpPr/>
            <p:nvPr/>
          </p:nvSpPr>
          <p:spPr>
            <a:xfrm>
              <a:off x="342900" y="685800"/>
              <a:ext cx="1047750" cy="1562100"/>
            </a:xfrm>
            <a:prstGeom prst="roundRect">
              <a:avLst>
                <a:gd name="adj" fmla="val 7273"/>
              </a:avLst>
            </a:prstGeom>
            <a:solidFill>
              <a:srgbClr val="5D190B"/>
            </a:solidFill>
            <a:ln>
              <a:noFill/>
            </a:ln>
          </p:spPr>
        </p:sp>
        <p:sp>
          <p:nvSpPr>
            <p:cNvPr id="9" name="TextBox 9"/>
            <p:cNvSpPr txBox="1"/>
            <p:nvPr/>
          </p:nvSpPr>
          <p:spPr>
            <a:xfrm>
              <a:off x="482384" y="85129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行为激励阶梯</a:t>
              </a:r>
            </a:p>
          </p:txBody>
        </p:sp>
        <p:sp>
          <p:nvSpPr>
            <p:cNvPr id="10" name="Line 10"/>
            <p:cNvSpPr/>
            <p:nvPr/>
          </p:nvSpPr>
          <p:spPr>
            <a:xfrm>
              <a:off x="552450" y="1066800"/>
              <a:ext cx="628650" cy="9525"/>
            </a:xfrm>
            <a:custGeom>
              <a:avLst/>
              <a:gdLst/>
              <a:ahLst/>
              <a:cxnLst/>
              <a:rect l="l" t="t" r="r" b="b"/>
              <a:pathLst>
                <a:path w="628650" h="9525">
                  <a:moveTo>
                    <a:pt x="0" y="0"/>
                  </a:moveTo>
                  <a:lnTo>
                    <a:pt x="628650" y="0"/>
                  </a:lnTo>
                </a:path>
              </a:pathLst>
            </a:custGeom>
            <a:noFill/>
            <a:ln w="9525">
              <a:solidFill>
                <a:srgbClr val="A3422F"/>
              </a:solidFill>
            </a:ln>
          </p:spPr>
        </p:sp>
        <p:sp>
          <p:nvSpPr>
            <p:cNvPr id="11" name="TextBox 11"/>
            <p:cNvSpPr txBox="1"/>
            <p:nvPr/>
          </p:nvSpPr>
          <p:spPr>
            <a:xfrm>
              <a:off x="474307" y="1188482"/>
              <a:ext cx="784936" cy="126206"/>
            </a:xfrm>
            <a:prstGeom prst="rect">
              <a:avLst/>
            </a:prstGeom>
            <a:noFill/>
            <a:ln>
              <a:noFill/>
            </a:ln>
          </p:spPr>
          <p:txBody>
            <a:bodyPr wrap="none" lIns="0" tIns="0" rIns="0" bIns="0" anchor="t" anchorCtr="0">
              <a:spAutoFit/>
            </a:bodyPr>
            <a:lstStyle/>
            <a:p>
              <a:pPr algn="ctr"/>
              <a:r>
                <a:rPr lang="zh-CN" sz="640" dirty="0">
                  <a:solidFill>
                    <a:srgbClr val="BFE4DD"/>
                  </a:solidFill>
                  <a:latin typeface="+mn-lt"/>
                  <a:ea typeface="+mn-ea"/>
                  <a:cs typeface="+mn-cs"/>
                </a:rPr>
                <a:t>从轻参与到深度经营</a:t>
              </a:r>
            </a:p>
          </p:txBody>
        </p:sp>
        <p:sp>
          <p:nvSpPr>
            <p:cNvPr id="12" name="TextBox 12"/>
            <p:cNvSpPr txBox="1"/>
            <p:nvPr/>
          </p:nvSpPr>
          <p:spPr>
            <a:xfrm>
              <a:off x="603542" y="1321832"/>
              <a:ext cx="526466" cy="126206"/>
            </a:xfrm>
            <a:prstGeom prst="rect">
              <a:avLst/>
            </a:prstGeom>
            <a:noFill/>
            <a:ln>
              <a:noFill/>
            </a:ln>
          </p:spPr>
          <p:txBody>
            <a:bodyPr wrap="none" lIns="0" tIns="0" rIns="0" bIns="0" anchor="t" anchorCtr="0">
              <a:spAutoFit/>
            </a:bodyPr>
            <a:lstStyle/>
            <a:p>
              <a:pPr algn="ctr"/>
              <a:r>
                <a:rPr lang="zh-CN" sz="640" dirty="0">
                  <a:solidFill>
                    <a:srgbClr val="BFE4DD"/>
                  </a:solidFill>
                  <a:latin typeface="+mn-lt"/>
                  <a:ea typeface="+mn-ea"/>
                  <a:cs typeface="+mn-cs"/>
                </a:rPr>
                <a:t>分层权益设计</a:t>
              </a:r>
            </a:p>
          </p:txBody>
        </p:sp>
        <p:sp>
          <p:nvSpPr>
            <p:cNvPr id="13" name="TextBox 13"/>
            <p:cNvSpPr txBox="1"/>
            <p:nvPr/>
          </p:nvSpPr>
          <p:spPr>
            <a:xfrm>
              <a:off x="517385" y="1550432"/>
              <a:ext cx="698779" cy="126206"/>
            </a:xfrm>
            <a:prstGeom prst="rect">
              <a:avLst/>
            </a:prstGeom>
            <a:noFill/>
            <a:ln>
              <a:noFill/>
            </a:ln>
          </p:spPr>
          <p:txBody>
            <a:bodyPr wrap="none" lIns="0" tIns="0" rIns="0" bIns="0" anchor="t" anchorCtr="0">
              <a:spAutoFit/>
            </a:bodyPr>
            <a:lstStyle/>
            <a:p>
              <a:pPr algn="ctr"/>
              <a:r>
                <a:rPr lang="zh-CN" sz="640" dirty="0">
                  <a:solidFill>
                    <a:srgbClr val="BFE4DD"/>
                  </a:solidFill>
                  <a:latin typeface="+mn-lt"/>
                  <a:ea typeface="+mn-ea"/>
                  <a:cs typeface="+mn-cs"/>
                </a:rPr>
                <a:t>引导客户逐步进阶</a:t>
              </a:r>
            </a:p>
          </p:txBody>
        </p:sp>
        <p:grpSp>
          <p:nvGrpSpPr>
            <p:cNvPr id="16" name="Group 16"/>
            <p:cNvGrpSpPr/>
            <p:nvPr/>
          </p:nvGrpSpPr>
          <p:grpSpPr>
            <a:xfrm>
              <a:off x="781050" y="1876425"/>
              <a:ext cx="171450" cy="95250"/>
              <a:chOff x="781050" y="1876425"/>
              <a:chExt cx="171450" cy="95250"/>
            </a:xfrm>
          </p:grpSpPr>
          <p:sp>
            <p:nvSpPr>
              <p:cNvPr id="14" name="Freeform 14"/>
              <p:cNvSpPr/>
              <p:nvPr/>
            </p:nvSpPr>
            <p:spPr>
              <a:xfrm>
                <a:off x="781050" y="187642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C4887C"/>
                </a:solidFill>
              </a:ln>
            </p:spPr>
          </p:sp>
          <p:sp>
            <p:nvSpPr>
              <p:cNvPr id="15" name="Freeform 15"/>
              <p:cNvSpPr/>
              <p:nvPr/>
            </p:nvSpPr>
            <p:spPr>
              <a:xfrm>
                <a:off x="885825" y="1876425"/>
                <a:ext cx="66675" cy="66675"/>
              </a:xfrm>
              <a:custGeom>
                <a:avLst/>
                <a:gdLst/>
                <a:ahLst/>
                <a:cxnLst/>
                <a:rect l="l" t="t" r="r" b="b"/>
                <a:pathLst>
                  <a:path w="66675" h="66675">
                    <a:moveTo>
                      <a:pt x="0" y="0"/>
                    </a:moveTo>
                    <a:lnTo>
                      <a:pt x="66675" y="0"/>
                    </a:lnTo>
                    <a:lnTo>
                      <a:pt x="66675" y="66675"/>
                    </a:lnTo>
                  </a:path>
                </a:pathLst>
              </a:custGeom>
              <a:noFill/>
              <a:ln w="19050">
                <a:solidFill>
                  <a:srgbClr val="C4887C"/>
                </a:solidFill>
              </a:ln>
            </p:spPr>
          </p:sp>
        </p:grpSp>
      </p:grpSp>
      <p:grpSp>
        <p:nvGrpSpPr>
          <p:cNvPr id="66" name="ladder-cards"/>
          <p:cNvGrpSpPr/>
          <p:nvPr/>
        </p:nvGrpSpPr>
        <p:grpSpPr>
          <a:xfrm>
            <a:off x="1466850" y="723900"/>
            <a:ext cx="10067925" cy="1524000"/>
            <a:chOff x="1466850" y="723900"/>
            <a:chExt cx="10067925" cy="1524000"/>
          </a:xfrm>
        </p:grpSpPr>
        <p:sp>
          <p:nvSpPr>
            <p:cNvPr id="18" name="Freeform 18"/>
            <p:cNvSpPr/>
            <p:nvPr/>
          </p:nvSpPr>
          <p:spPr>
            <a:xfrm>
              <a:off x="1466850" y="723900"/>
              <a:ext cx="1638300" cy="247650"/>
            </a:xfrm>
            <a:prstGeom prst="chevron">
              <a:avLst/>
            </a:prstGeom>
            <a:solidFill>
              <a:srgbClr val="C68679"/>
            </a:solidFill>
            <a:ln>
              <a:noFill/>
            </a:ln>
          </p:spPr>
        </p:sp>
        <p:sp>
          <p:nvSpPr>
            <p:cNvPr id="19" name="TextBox 19"/>
            <p:cNvSpPr txBox="1"/>
            <p:nvPr/>
          </p:nvSpPr>
          <p:spPr>
            <a:xfrm>
              <a:off x="2069987" y="810339"/>
              <a:ext cx="54632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01 到场礼​</a:t>
              </a:r>
            </a:p>
          </p:txBody>
        </p:sp>
        <p:sp>
          <p:nvSpPr>
            <p:cNvPr id="20" name="Rectangle 20"/>
            <p:cNvSpPr/>
            <p:nvPr/>
          </p:nvSpPr>
          <p:spPr>
            <a:xfrm>
              <a:off x="1466850" y="1009650"/>
              <a:ext cx="1638300" cy="1238250"/>
            </a:xfrm>
            <a:prstGeom prst="rect">
              <a:avLst/>
            </a:prstGeom>
            <a:solidFill>
              <a:srgbClr val="F0FAF8"/>
            </a:solidFill>
            <a:ln>
              <a:noFill/>
            </a:ln>
          </p:spPr>
        </p:sp>
        <p:sp>
          <p:nvSpPr>
            <p:cNvPr id="21" name="TextBox 21"/>
            <p:cNvSpPr txBox="1"/>
            <p:nvPr/>
          </p:nvSpPr>
          <p:spPr>
            <a:xfrm>
              <a:off x="1538288" y="1116330"/>
              <a:ext cx="6191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线下展位到场扫码</a:t>
              </a:r>
              <a:br/>
              <a:r>
                <a:rPr lang="zh-CN" sz="600" dirty="0">
                  <a:solidFill>
                    <a:srgbClr val="514340"/>
                  </a:solidFill>
                  <a:latin typeface="+mn-lt"/>
                  <a:ea typeface="+mn-ea"/>
                  <a:cs typeface="+mn-cs"/>
                </a:rPr>
                <a:t>参与基础互动</a:t>
              </a:r>
            </a:p>
          </p:txBody>
        </p:sp>
        <p:sp>
          <p:nvSpPr>
            <p:cNvPr id="22" name="TextBox 22"/>
            <p:cNvSpPr txBox="1"/>
            <p:nvPr/>
          </p:nvSpPr>
          <p:spPr>
            <a:xfrm>
              <a:off x="1538288" y="14251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示例权益</a:t>
              </a:r>
            </a:p>
          </p:txBody>
        </p:sp>
        <p:sp>
          <p:nvSpPr>
            <p:cNvPr id="23" name="TextBox 23"/>
            <p:cNvSpPr txBox="1"/>
            <p:nvPr/>
          </p:nvSpPr>
          <p:spPr>
            <a:xfrm>
              <a:off x="1538288" y="1535430"/>
              <a:ext cx="86677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定制帆布袋 / 环保袋​​</a:t>
              </a:r>
            </a:p>
            <a:p>
              <a:pPr algn="l" marL="76200" indent="-76200">
                <a:lnSpc>
                  <a:spcPts val="825"/>
                </a:lnSpc>
                <a:buClr>
                  <a:srgbClr val="514340"/>
                </a:buClr>
                <a:buSzTx/>
                <a:buFontTx/>
                <a:buChar char="•"/>
              </a:pPr>
              <a:r>
                <a:rPr lang="zh-CN" sz="600" dirty="0">
                  <a:solidFill>
                    <a:srgbClr val="514340"/>
                  </a:solidFill>
                  <a:latin typeface="+mn-lt"/>
                  <a:ea typeface="+mn-ea"/>
                  <a:cs typeface="+mn-cs"/>
                </a:rPr>
                <a:t>品牌环保袋​</a:t>
              </a:r>
            </a:p>
            <a:p>
              <a:pPr algn="l" marL="76200" indent="-76200">
                <a:lnSpc>
                  <a:spcPts val="825"/>
                </a:lnSpc>
                <a:buClr>
                  <a:srgbClr val="514340"/>
                </a:buClr>
                <a:buSzTx/>
                <a:buFontTx/>
                <a:buChar char="•"/>
              </a:pPr>
              <a:r>
                <a:rPr lang="zh-CN" sz="600" dirty="0">
                  <a:solidFill>
                    <a:srgbClr val="514340"/>
                  </a:solidFill>
                  <a:latin typeface="+mn-lt"/>
                  <a:ea typeface="+mn-ea"/>
                  <a:cs typeface="+mn-cs"/>
                </a:rPr>
                <a:t>生活小礼品​</a:t>
              </a:r>
            </a:p>
          </p:txBody>
        </p:sp>
        <p:sp>
          <p:nvSpPr>
            <p:cNvPr id="24" name="Rectangle 24"/>
            <p:cNvSpPr/>
            <p:nvPr/>
          </p:nvSpPr>
          <p:spPr>
            <a:xfrm>
              <a:off x="1543050" y="2019300"/>
              <a:ext cx="1485900" cy="171450"/>
            </a:xfrm>
            <a:prstGeom prst="roundRect">
              <a:avLst>
                <a:gd name="adj" fmla="val 50000"/>
              </a:avLst>
            </a:prstGeom>
            <a:solidFill>
              <a:srgbClr val="76200F"/>
            </a:solidFill>
            <a:ln>
              <a:noFill/>
            </a:ln>
          </p:spPr>
        </p:sp>
        <p:sp>
          <p:nvSpPr>
            <p:cNvPr id="25" name="TextBox 25"/>
            <p:cNvSpPr txBox="1"/>
            <p:nvPr/>
          </p:nvSpPr>
          <p:spPr>
            <a:xfrm>
              <a:off x="1891486" y="2074307"/>
              <a:ext cx="78902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单人成本上限 10元​</a:t>
              </a:r>
            </a:p>
          </p:txBody>
        </p:sp>
        <p:sp>
          <p:nvSpPr>
            <p:cNvPr id="26" name="Freeform 26"/>
            <p:cNvSpPr/>
            <p:nvPr/>
          </p:nvSpPr>
          <p:spPr>
            <a:xfrm>
              <a:off x="3152775" y="723900"/>
              <a:ext cx="1638300" cy="247650"/>
            </a:xfrm>
            <a:prstGeom prst="chevron">
              <a:avLst/>
            </a:prstGeom>
            <a:solidFill>
              <a:srgbClr val="BF6F5F"/>
            </a:solidFill>
            <a:ln>
              <a:noFill/>
            </a:ln>
          </p:spPr>
        </p:sp>
        <p:sp>
          <p:nvSpPr>
            <p:cNvPr id="27" name="TextBox 27"/>
            <p:cNvSpPr txBox="1"/>
            <p:nvPr/>
          </p:nvSpPr>
          <p:spPr>
            <a:xfrm>
              <a:off x="3755912" y="810339"/>
              <a:ext cx="54632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02 任务礼​</a:t>
              </a:r>
            </a:p>
          </p:txBody>
        </p:sp>
        <p:sp>
          <p:nvSpPr>
            <p:cNvPr id="28" name="Rectangle 28"/>
            <p:cNvSpPr/>
            <p:nvPr/>
          </p:nvSpPr>
          <p:spPr>
            <a:xfrm>
              <a:off x="3152775" y="1009650"/>
              <a:ext cx="1638300" cy="1238250"/>
            </a:xfrm>
            <a:prstGeom prst="rect">
              <a:avLst/>
            </a:prstGeom>
            <a:solidFill>
              <a:srgbClr val="F0FAF8"/>
            </a:solidFill>
            <a:ln>
              <a:noFill/>
            </a:ln>
          </p:spPr>
        </p:sp>
        <p:sp>
          <p:nvSpPr>
            <p:cNvPr id="29" name="TextBox 29"/>
            <p:cNvSpPr txBox="1"/>
            <p:nvPr/>
          </p:nvSpPr>
          <p:spPr>
            <a:xfrm>
              <a:off x="3224212" y="1116330"/>
              <a:ext cx="103060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完成指定互动任务</a:t>
              </a:r>
              <a:br/>
              <a:r>
                <a:rPr lang="zh-CN" sz="600" dirty="0">
                  <a:solidFill>
                    <a:srgbClr val="514340"/>
                  </a:solidFill>
                  <a:latin typeface="+mn-lt"/>
                  <a:ea typeface="+mn-ea"/>
                  <a:cs typeface="+mn-cs"/>
                </a:rPr>
                <a:t>（如问卷 / 测评 / 小游戏）​​</a:t>
              </a:r>
            </a:p>
          </p:txBody>
        </p:sp>
        <p:sp>
          <p:nvSpPr>
            <p:cNvPr id="30" name="TextBox 30"/>
            <p:cNvSpPr txBox="1"/>
            <p:nvPr/>
          </p:nvSpPr>
          <p:spPr>
            <a:xfrm>
              <a:off x="3224212" y="14251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示例权益</a:t>
              </a:r>
            </a:p>
          </p:txBody>
        </p:sp>
        <p:sp>
          <p:nvSpPr>
            <p:cNvPr id="31" name="TextBox 31"/>
            <p:cNvSpPr txBox="1"/>
            <p:nvPr/>
          </p:nvSpPr>
          <p:spPr>
            <a:xfrm>
              <a:off x="3224212" y="1535430"/>
              <a:ext cx="55816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10元通用券​​</a:t>
              </a:r>
            </a:p>
            <a:p>
              <a:pPr algn="l" marL="76200" indent="-76200">
                <a:lnSpc>
                  <a:spcPts val="825"/>
                </a:lnSpc>
                <a:buClr>
                  <a:srgbClr val="514340"/>
                </a:buClr>
                <a:buSzTx/>
                <a:buFontTx/>
                <a:buChar char="•"/>
              </a:pPr>
              <a:r>
                <a:rPr lang="zh-CN" sz="600" dirty="0">
                  <a:solidFill>
                    <a:srgbClr val="514340"/>
                  </a:solidFill>
                  <a:latin typeface="+mn-lt"/>
                  <a:ea typeface="+mn-ea"/>
                  <a:cs typeface="+mn-cs"/>
                </a:rPr>
                <a:t>积分加码​</a:t>
              </a:r>
            </a:p>
            <a:p>
              <a:pPr algn="l" marL="76200" indent="-76200">
                <a:lnSpc>
                  <a:spcPts val="825"/>
                </a:lnSpc>
                <a:buClr>
                  <a:srgbClr val="514340"/>
                </a:buClr>
                <a:buSzTx/>
                <a:buFontTx/>
                <a:buChar char="•"/>
              </a:pPr>
              <a:r>
                <a:rPr lang="zh-CN" sz="600" dirty="0">
                  <a:solidFill>
                    <a:srgbClr val="514340"/>
                  </a:solidFill>
                  <a:latin typeface="+mn-lt"/>
                  <a:ea typeface="+mn-ea"/>
                  <a:cs typeface="+mn-cs"/>
                </a:rPr>
                <a:t>主题周边​</a:t>
              </a:r>
            </a:p>
          </p:txBody>
        </p:sp>
        <p:sp>
          <p:nvSpPr>
            <p:cNvPr id="32" name="Rectangle 32"/>
            <p:cNvSpPr/>
            <p:nvPr/>
          </p:nvSpPr>
          <p:spPr>
            <a:xfrm>
              <a:off x="3228975" y="2019300"/>
              <a:ext cx="1485900" cy="171450"/>
            </a:xfrm>
            <a:prstGeom prst="roundRect">
              <a:avLst>
                <a:gd name="adj" fmla="val 50000"/>
              </a:avLst>
            </a:prstGeom>
            <a:solidFill>
              <a:srgbClr val="76200F"/>
            </a:solidFill>
            <a:ln>
              <a:noFill/>
            </a:ln>
          </p:spPr>
        </p:sp>
        <p:sp>
          <p:nvSpPr>
            <p:cNvPr id="33" name="TextBox 33"/>
            <p:cNvSpPr txBox="1"/>
            <p:nvPr/>
          </p:nvSpPr>
          <p:spPr>
            <a:xfrm>
              <a:off x="3577411" y="2074307"/>
              <a:ext cx="78902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单人成本上限 20元​</a:t>
              </a:r>
            </a:p>
          </p:txBody>
        </p:sp>
        <p:sp>
          <p:nvSpPr>
            <p:cNvPr id="34" name="Freeform 34"/>
            <p:cNvSpPr/>
            <p:nvPr/>
          </p:nvSpPr>
          <p:spPr>
            <a:xfrm>
              <a:off x="4838700" y="723900"/>
              <a:ext cx="1638300" cy="247650"/>
            </a:xfrm>
            <a:prstGeom prst="chevron">
              <a:avLst/>
            </a:prstGeom>
            <a:solidFill>
              <a:srgbClr val="B55745"/>
            </a:solidFill>
            <a:ln>
              <a:noFill/>
            </a:ln>
          </p:spPr>
        </p:sp>
        <p:sp>
          <p:nvSpPr>
            <p:cNvPr id="35" name="TextBox 35"/>
            <p:cNvSpPr txBox="1"/>
            <p:nvPr/>
          </p:nvSpPr>
          <p:spPr>
            <a:xfrm>
              <a:off x="5441837" y="810339"/>
              <a:ext cx="54632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03 支付礼​</a:t>
              </a:r>
            </a:p>
          </p:txBody>
        </p:sp>
        <p:sp>
          <p:nvSpPr>
            <p:cNvPr id="36" name="Rectangle 36"/>
            <p:cNvSpPr/>
            <p:nvPr/>
          </p:nvSpPr>
          <p:spPr>
            <a:xfrm>
              <a:off x="4838700" y="1009650"/>
              <a:ext cx="1638300" cy="1238250"/>
            </a:xfrm>
            <a:prstGeom prst="rect">
              <a:avLst/>
            </a:prstGeom>
            <a:solidFill>
              <a:srgbClr val="F0FAF8"/>
            </a:solidFill>
            <a:ln>
              <a:noFill/>
            </a:ln>
          </p:spPr>
        </p:sp>
        <p:sp>
          <p:nvSpPr>
            <p:cNvPr id="37" name="TextBox 37"/>
            <p:cNvSpPr txBox="1"/>
            <p:nvPr/>
          </p:nvSpPr>
          <p:spPr>
            <a:xfrm>
              <a:off x="4910138" y="1116330"/>
              <a:ext cx="6191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绑定银行卡并完成</a:t>
              </a:r>
              <a:br/>
              <a:r>
                <a:rPr lang="zh-CN" sz="600" dirty="0">
                  <a:solidFill>
                    <a:srgbClr val="514340"/>
                  </a:solidFill>
                  <a:latin typeface="+mn-lt"/>
                  <a:ea typeface="+mn-ea"/>
                  <a:cs typeface="+mn-cs"/>
                </a:rPr>
                <a:t>首笔支付</a:t>
              </a:r>
            </a:p>
          </p:txBody>
        </p:sp>
        <p:sp>
          <p:nvSpPr>
            <p:cNvPr id="38" name="TextBox 38"/>
            <p:cNvSpPr txBox="1"/>
            <p:nvPr/>
          </p:nvSpPr>
          <p:spPr>
            <a:xfrm>
              <a:off x="4910138" y="14251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示例权益</a:t>
              </a:r>
            </a:p>
          </p:txBody>
        </p:sp>
        <p:sp>
          <p:nvSpPr>
            <p:cNvPr id="39" name="TextBox 39"/>
            <p:cNvSpPr txBox="1"/>
            <p:nvPr/>
          </p:nvSpPr>
          <p:spPr>
            <a:xfrm>
              <a:off x="4910138" y="1535430"/>
              <a:ext cx="55816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20元商户券​​</a:t>
              </a:r>
            </a:p>
            <a:p>
              <a:pPr algn="l" marL="76200" indent="-76200">
                <a:lnSpc>
                  <a:spcPts val="825"/>
                </a:lnSpc>
                <a:buClr>
                  <a:srgbClr val="514340"/>
                </a:buClr>
                <a:buSzTx/>
                <a:buFontTx/>
                <a:buChar char="•"/>
              </a:pPr>
              <a:r>
                <a:rPr lang="zh-CN" sz="600" dirty="0">
                  <a:solidFill>
                    <a:srgbClr val="514340"/>
                  </a:solidFill>
                  <a:latin typeface="+mn-lt"/>
                  <a:ea typeface="+mn-ea"/>
                  <a:cs typeface="+mn-cs"/>
                </a:rPr>
                <a:t>500积分​​</a:t>
              </a:r>
            </a:p>
            <a:p>
              <a:pPr algn="l" marL="76200" indent="-76200">
                <a:lnSpc>
                  <a:spcPts val="825"/>
                </a:lnSpc>
                <a:buClr>
                  <a:srgbClr val="514340"/>
                </a:buClr>
                <a:buSzTx/>
                <a:buFontTx/>
                <a:buChar char="•"/>
              </a:pPr>
              <a:r>
                <a:rPr lang="zh-CN" sz="600" dirty="0">
                  <a:solidFill>
                    <a:srgbClr val="514340"/>
                  </a:solidFill>
                  <a:latin typeface="+mn-lt"/>
                  <a:ea typeface="+mn-ea"/>
                  <a:cs typeface="+mn-cs"/>
                </a:rPr>
                <a:t>视频周卡​</a:t>
              </a:r>
            </a:p>
          </p:txBody>
        </p:sp>
        <p:sp>
          <p:nvSpPr>
            <p:cNvPr id="40" name="Rectangle 40"/>
            <p:cNvSpPr/>
            <p:nvPr/>
          </p:nvSpPr>
          <p:spPr>
            <a:xfrm>
              <a:off x="4914900" y="2019300"/>
              <a:ext cx="1485900" cy="171450"/>
            </a:xfrm>
            <a:prstGeom prst="roundRect">
              <a:avLst>
                <a:gd name="adj" fmla="val 50000"/>
              </a:avLst>
            </a:prstGeom>
            <a:solidFill>
              <a:srgbClr val="76200F"/>
            </a:solidFill>
            <a:ln>
              <a:noFill/>
            </a:ln>
          </p:spPr>
        </p:sp>
        <p:sp>
          <p:nvSpPr>
            <p:cNvPr id="41" name="TextBox 41"/>
            <p:cNvSpPr txBox="1"/>
            <p:nvPr/>
          </p:nvSpPr>
          <p:spPr>
            <a:xfrm>
              <a:off x="5263336" y="2074307"/>
              <a:ext cx="78902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单人成本上限 30元​</a:t>
              </a:r>
            </a:p>
          </p:txBody>
        </p:sp>
        <p:sp>
          <p:nvSpPr>
            <p:cNvPr id="42" name="Freeform 42"/>
            <p:cNvSpPr/>
            <p:nvPr/>
          </p:nvSpPr>
          <p:spPr>
            <a:xfrm>
              <a:off x="6524625" y="723900"/>
              <a:ext cx="1638300" cy="247650"/>
            </a:xfrm>
            <a:prstGeom prst="chevron">
              <a:avLst/>
            </a:prstGeom>
            <a:solidFill>
              <a:srgbClr val="A3422F"/>
            </a:solidFill>
            <a:ln>
              <a:noFill/>
            </a:ln>
          </p:spPr>
        </p:sp>
        <p:sp>
          <p:nvSpPr>
            <p:cNvPr id="43" name="TextBox 43"/>
            <p:cNvSpPr txBox="1"/>
            <p:nvPr/>
          </p:nvSpPr>
          <p:spPr>
            <a:xfrm>
              <a:off x="7127762" y="810339"/>
              <a:ext cx="54632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04 裂变礼​</a:t>
              </a:r>
            </a:p>
          </p:txBody>
        </p:sp>
        <p:sp>
          <p:nvSpPr>
            <p:cNvPr id="44" name="Rectangle 44"/>
            <p:cNvSpPr/>
            <p:nvPr/>
          </p:nvSpPr>
          <p:spPr>
            <a:xfrm>
              <a:off x="6524625" y="1009650"/>
              <a:ext cx="1638300" cy="1238250"/>
            </a:xfrm>
            <a:prstGeom prst="rect">
              <a:avLst/>
            </a:prstGeom>
            <a:solidFill>
              <a:srgbClr val="F0FAF8"/>
            </a:solidFill>
            <a:ln>
              <a:noFill/>
            </a:ln>
          </p:spPr>
        </p:sp>
        <p:sp>
          <p:nvSpPr>
            <p:cNvPr id="45" name="TextBox 45"/>
            <p:cNvSpPr txBox="1"/>
            <p:nvPr/>
          </p:nvSpPr>
          <p:spPr>
            <a:xfrm>
              <a:off x="6596062" y="1116330"/>
              <a:ext cx="74866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邀请好友参与活动</a:t>
              </a:r>
              <a:br/>
              <a:r>
                <a:rPr lang="zh-CN" sz="600" dirty="0">
                  <a:solidFill>
                    <a:srgbClr val="514340"/>
                  </a:solidFill>
                  <a:latin typeface="+mn-lt"/>
                  <a:ea typeface="+mn-ea"/>
                  <a:cs typeface="+mn-cs"/>
                </a:rPr>
                <a:t>（线上 / 线下均可）​</a:t>
              </a:r>
            </a:p>
          </p:txBody>
        </p:sp>
        <p:sp>
          <p:nvSpPr>
            <p:cNvPr id="46" name="TextBox 46"/>
            <p:cNvSpPr txBox="1"/>
            <p:nvPr/>
          </p:nvSpPr>
          <p:spPr>
            <a:xfrm>
              <a:off x="6596062" y="14251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示例权益</a:t>
              </a:r>
            </a:p>
          </p:txBody>
        </p:sp>
        <p:sp>
          <p:nvSpPr>
            <p:cNvPr id="47" name="TextBox 47"/>
            <p:cNvSpPr txBox="1"/>
            <p:nvPr/>
          </p:nvSpPr>
          <p:spPr>
            <a:xfrm>
              <a:off x="6596062" y="1535430"/>
              <a:ext cx="86296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邀请双方各得15元券​​</a:t>
              </a:r>
            </a:p>
            <a:p>
              <a:pPr algn="l" marL="76200" indent="-76200">
                <a:lnSpc>
                  <a:spcPts val="825"/>
                </a:lnSpc>
                <a:buClr>
                  <a:srgbClr val="514340"/>
                </a:buClr>
                <a:buSzTx/>
                <a:buFontTx/>
                <a:buChar char="•"/>
              </a:pPr>
              <a:r>
                <a:rPr lang="zh-CN" sz="600" dirty="0">
                  <a:solidFill>
                    <a:srgbClr val="514340"/>
                  </a:solidFill>
                  <a:latin typeface="+mn-lt"/>
                  <a:ea typeface="+mn-ea"/>
                  <a:cs typeface="+mn-cs"/>
                </a:rPr>
                <a:t>积分加码​</a:t>
              </a:r>
            </a:p>
            <a:p>
              <a:pPr algn="l" marL="76200" indent="-76200">
                <a:lnSpc>
                  <a:spcPts val="825"/>
                </a:lnSpc>
                <a:buClr>
                  <a:srgbClr val="514340"/>
                </a:buClr>
                <a:buSzTx/>
                <a:buFontTx/>
                <a:buChar char="•"/>
              </a:pPr>
              <a:r>
                <a:rPr lang="zh-CN" sz="600" dirty="0">
                  <a:solidFill>
                    <a:srgbClr val="514340"/>
                  </a:solidFill>
                  <a:latin typeface="+mn-lt"/>
                  <a:ea typeface="+mn-ea"/>
                  <a:cs typeface="+mn-cs"/>
                </a:rPr>
                <a:t>专属活动资格​</a:t>
              </a:r>
            </a:p>
          </p:txBody>
        </p:sp>
        <p:sp>
          <p:nvSpPr>
            <p:cNvPr id="48" name="Rectangle 48"/>
            <p:cNvSpPr/>
            <p:nvPr/>
          </p:nvSpPr>
          <p:spPr>
            <a:xfrm>
              <a:off x="6600825" y="2019300"/>
              <a:ext cx="1485900" cy="171450"/>
            </a:xfrm>
            <a:prstGeom prst="roundRect">
              <a:avLst>
                <a:gd name="adj" fmla="val 50000"/>
              </a:avLst>
            </a:prstGeom>
            <a:solidFill>
              <a:srgbClr val="76200F"/>
            </a:solidFill>
            <a:ln>
              <a:noFill/>
            </a:ln>
          </p:spPr>
        </p:sp>
        <p:sp>
          <p:nvSpPr>
            <p:cNvPr id="49" name="TextBox 49"/>
            <p:cNvSpPr txBox="1"/>
            <p:nvPr/>
          </p:nvSpPr>
          <p:spPr>
            <a:xfrm>
              <a:off x="6949261" y="2074307"/>
              <a:ext cx="78902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单人成本上限 50元​</a:t>
              </a:r>
            </a:p>
          </p:txBody>
        </p:sp>
        <p:sp>
          <p:nvSpPr>
            <p:cNvPr id="50" name="Freeform 50"/>
            <p:cNvSpPr/>
            <p:nvPr/>
          </p:nvSpPr>
          <p:spPr>
            <a:xfrm>
              <a:off x="8210550" y="723900"/>
              <a:ext cx="1638300" cy="247650"/>
            </a:xfrm>
            <a:prstGeom prst="chevron">
              <a:avLst/>
            </a:prstGeom>
            <a:solidFill>
              <a:srgbClr val="852512"/>
            </a:solidFill>
            <a:ln>
              <a:noFill/>
            </a:ln>
          </p:spPr>
        </p:sp>
        <p:sp>
          <p:nvSpPr>
            <p:cNvPr id="51" name="TextBox 51"/>
            <p:cNvSpPr txBox="1"/>
            <p:nvPr/>
          </p:nvSpPr>
          <p:spPr>
            <a:xfrm>
              <a:off x="8813687" y="810339"/>
              <a:ext cx="54632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05 转化礼​</a:t>
              </a:r>
            </a:p>
          </p:txBody>
        </p:sp>
        <p:sp>
          <p:nvSpPr>
            <p:cNvPr id="52" name="Rectangle 52"/>
            <p:cNvSpPr/>
            <p:nvPr/>
          </p:nvSpPr>
          <p:spPr>
            <a:xfrm>
              <a:off x="8210550" y="1009650"/>
              <a:ext cx="1638300" cy="1238250"/>
            </a:xfrm>
            <a:prstGeom prst="rect">
              <a:avLst/>
            </a:prstGeom>
            <a:solidFill>
              <a:srgbClr val="F0FAF8"/>
            </a:solidFill>
            <a:ln>
              <a:noFill/>
            </a:ln>
          </p:spPr>
        </p:sp>
        <p:sp>
          <p:nvSpPr>
            <p:cNvPr id="53" name="TextBox 53"/>
            <p:cNvSpPr txBox="1"/>
            <p:nvPr/>
          </p:nvSpPr>
          <p:spPr>
            <a:xfrm>
              <a:off x="8281988" y="1116330"/>
              <a:ext cx="74866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完成资产提升 / 购买​</a:t>
              </a:r>
              <a:br/>
              <a:r>
                <a:rPr lang="zh-CN" sz="600" dirty="0">
                  <a:solidFill>
                    <a:srgbClr val="514340"/>
                  </a:solidFill>
                  <a:latin typeface="+mn-lt"/>
                  <a:ea typeface="+mn-ea"/>
                  <a:cs typeface="+mn-cs"/>
                </a:rPr>
                <a:t>指定金融产品</a:t>
              </a:r>
            </a:p>
          </p:txBody>
        </p:sp>
        <p:sp>
          <p:nvSpPr>
            <p:cNvPr id="54" name="TextBox 54"/>
            <p:cNvSpPr txBox="1"/>
            <p:nvPr/>
          </p:nvSpPr>
          <p:spPr>
            <a:xfrm>
              <a:off x="8281988" y="14251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示例权益</a:t>
              </a:r>
            </a:p>
          </p:txBody>
        </p:sp>
        <p:sp>
          <p:nvSpPr>
            <p:cNvPr id="55" name="TextBox 55"/>
            <p:cNvSpPr txBox="1"/>
            <p:nvPr/>
          </p:nvSpPr>
          <p:spPr>
            <a:xfrm>
              <a:off x="8281988" y="1535430"/>
              <a:ext cx="58483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理财加息券​</a:t>
              </a:r>
            </a:p>
            <a:p>
              <a:pPr algn="l" marL="76200" indent="-76200">
                <a:lnSpc>
                  <a:spcPts val="825"/>
                </a:lnSpc>
                <a:buClr>
                  <a:srgbClr val="514340"/>
                </a:buClr>
                <a:buSzTx/>
                <a:buFontTx/>
                <a:buChar char="•"/>
              </a:pPr>
              <a:r>
                <a:rPr lang="zh-CN" sz="600" dirty="0">
                  <a:solidFill>
                    <a:srgbClr val="514340"/>
                  </a:solidFill>
                  <a:latin typeface="+mn-lt"/>
                  <a:ea typeface="+mn-ea"/>
                  <a:cs typeface="+mn-cs"/>
                </a:rPr>
                <a:t>手续费减免​</a:t>
              </a:r>
            </a:p>
            <a:p>
              <a:pPr algn="l" marL="76200" indent="-76200">
                <a:lnSpc>
                  <a:spcPts val="825"/>
                </a:lnSpc>
                <a:buClr>
                  <a:srgbClr val="514340"/>
                </a:buClr>
                <a:buSzTx/>
                <a:buFontTx/>
                <a:buChar char="•"/>
              </a:pPr>
              <a:r>
                <a:rPr lang="zh-CN" sz="600" dirty="0">
                  <a:solidFill>
                    <a:srgbClr val="514340"/>
                  </a:solidFill>
                  <a:latin typeface="+mn-lt"/>
                  <a:ea typeface="+mn-ea"/>
                  <a:cs typeface="+mn-cs"/>
                </a:rPr>
                <a:t>高端体验权益​</a:t>
              </a:r>
            </a:p>
          </p:txBody>
        </p:sp>
        <p:sp>
          <p:nvSpPr>
            <p:cNvPr id="56" name="Rectangle 56"/>
            <p:cNvSpPr/>
            <p:nvPr/>
          </p:nvSpPr>
          <p:spPr>
            <a:xfrm>
              <a:off x="8286750" y="2019300"/>
              <a:ext cx="1485900" cy="171450"/>
            </a:xfrm>
            <a:prstGeom prst="roundRect">
              <a:avLst>
                <a:gd name="adj" fmla="val 50000"/>
              </a:avLst>
            </a:prstGeom>
            <a:solidFill>
              <a:srgbClr val="76200F"/>
            </a:solidFill>
            <a:ln>
              <a:noFill/>
            </a:ln>
          </p:spPr>
        </p:sp>
        <p:sp>
          <p:nvSpPr>
            <p:cNvPr id="57" name="TextBox 57"/>
            <p:cNvSpPr txBox="1"/>
            <p:nvPr/>
          </p:nvSpPr>
          <p:spPr>
            <a:xfrm>
              <a:off x="8585430" y="2074307"/>
              <a:ext cx="888540"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单人成本上限 100元​​</a:t>
              </a:r>
            </a:p>
          </p:txBody>
        </p:sp>
        <p:sp>
          <p:nvSpPr>
            <p:cNvPr id="58" name="Freeform 58"/>
            <p:cNvSpPr/>
            <p:nvPr/>
          </p:nvSpPr>
          <p:spPr>
            <a:xfrm>
              <a:off x="9896475" y="723900"/>
              <a:ext cx="1638300" cy="247650"/>
            </a:xfrm>
            <a:prstGeom prst="chevron">
              <a:avLst/>
            </a:prstGeom>
            <a:solidFill>
              <a:srgbClr val="5D190B"/>
            </a:solidFill>
            <a:ln>
              <a:noFill/>
            </a:ln>
          </p:spPr>
        </p:sp>
        <p:sp>
          <p:nvSpPr>
            <p:cNvPr id="59" name="TextBox 59"/>
            <p:cNvSpPr txBox="1"/>
            <p:nvPr/>
          </p:nvSpPr>
          <p:spPr>
            <a:xfrm>
              <a:off x="10499612" y="810339"/>
              <a:ext cx="546326"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06 复购礼​</a:t>
              </a:r>
            </a:p>
          </p:txBody>
        </p:sp>
        <p:sp>
          <p:nvSpPr>
            <p:cNvPr id="60" name="Rectangle 60"/>
            <p:cNvSpPr/>
            <p:nvPr/>
          </p:nvSpPr>
          <p:spPr>
            <a:xfrm>
              <a:off x="9896475" y="1009650"/>
              <a:ext cx="1638300" cy="1238250"/>
            </a:xfrm>
            <a:prstGeom prst="rect">
              <a:avLst/>
            </a:prstGeom>
            <a:solidFill>
              <a:srgbClr val="F0FAF8"/>
            </a:solidFill>
            <a:ln>
              <a:noFill/>
            </a:ln>
          </p:spPr>
        </p:sp>
        <p:sp>
          <p:nvSpPr>
            <p:cNvPr id="61" name="TextBox 61"/>
            <p:cNvSpPr txBox="1"/>
            <p:nvPr/>
          </p:nvSpPr>
          <p:spPr>
            <a:xfrm>
              <a:off x="9967912" y="1116330"/>
              <a:ext cx="97726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持续使用并达标</a:t>
              </a:r>
              <a:br/>
              <a:r>
                <a:rPr lang="zh-CN" sz="600" dirty="0">
                  <a:solidFill>
                    <a:srgbClr val="514340"/>
                  </a:solidFill>
                  <a:latin typeface="+mn-lt"/>
                  <a:ea typeface="+mn-ea"/>
                  <a:cs typeface="+mn-cs"/>
                </a:rPr>
                <a:t>（如月度交易 / 资产留存）​</a:t>
              </a:r>
            </a:p>
          </p:txBody>
        </p:sp>
        <p:sp>
          <p:nvSpPr>
            <p:cNvPr id="62" name="TextBox 62"/>
            <p:cNvSpPr txBox="1"/>
            <p:nvPr/>
          </p:nvSpPr>
          <p:spPr>
            <a:xfrm>
              <a:off x="9967912" y="14251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示例权益</a:t>
              </a:r>
            </a:p>
          </p:txBody>
        </p:sp>
        <p:sp>
          <p:nvSpPr>
            <p:cNvPr id="63" name="TextBox 63"/>
            <p:cNvSpPr txBox="1"/>
            <p:nvPr/>
          </p:nvSpPr>
          <p:spPr>
            <a:xfrm>
              <a:off x="9967912" y="1535430"/>
              <a:ext cx="66103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会员权益包​</a:t>
              </a:r>
            </a:p>
            <a:p>
              <a:pPr algn="l" marL="76200" indent="-76200">
                <a:lnSpc>
                  <a:spcPts val="825"/>
                </a:lnSpc>
                <a:buClr>
                  <a:srgbClr val="514340"/>
                </a:buClr>
                <a:buSzTx/>
                <a:buFontTx/>
                <a:buChar char="•"/>
              </a:pPr>
              <a:r>
                <a:rPr lang="zh-CN" sz="600" dirty="0">
                  <a:solidFill>
                    <a:srgbClr val="514340"/>
                  </a:solidFill>
                  <a:latin typeface="+mn-lt"/>
                  <a:ea typeface="+mn-ea"/>
                  <a:cs typeface="+mn-cs"/>
                </a:rPr>
                <a:t>专属服务​</a:t>
              </a:r>
            </a:p>
            <a:p>
              <a:pPr algn="l" marL="76200" indent="-76200">
                <a:lnSpc>
                  <a:spcPts val="825"/>
                </a:lnSpc>
                <a:buClr>
                  <a:srgbClr val="514340"/>
                </a:buClr>
                <a:buSzTx/>
                <a:buFontTx/>
                <a:buChar char="•"/>
              </a:pPr>
              <a:r>
                <a:rPr lang="zh-CN" sz="600" dirty="0">
                  <a:solidFill>
                    <a:srgbClr val="514340"/>
                  </a:solidFill>
                  <a:latin typeface="+mn-lt"/>
                  <a:ea typeface="+mn-ea"/>
                  <a:cs typeface="+mn-cs"/>
                </a:rPr>
                <a:t>机场贵宾厅体验​</a:t>
              </a:r>
            </a:p>
          </p:txBody>
        </p:sp>
        <p:sp>
          <p:nvSpPr>
            <p:cNvPr id="64" name="Rectangle 64"/>
            <p:cNvSpPr/>
            <p:nvPr/>
          </p:nvSpPr>
          <p:spPr>
            <a:xfrm>
              <a:off x="9972675" y="2019300"/>
              <a:ext cx="1485900" cy="171450"/>
            </a:xfrm>
            <a:prstGeom prst="roundRect">
              <a:avLst>
                <a:gd name="adj" fmla="val 50000"/>
              </a:avLst>
            </a:prstGeom>
            <a:solidFill>
              <a:srgbClr val="76200F"/>
            </a:solidFill>
            <a:ln>
              <a:noFill/>
            </a:ln>
          </p:spPr>
        </p:sp>
        <p:sp>
          <p:nvSpPr>
            <p:cNvPr id="65" name="TextBox 65"/>
            <p:cNvSpPr txBox="1"/>
            <p:nvPr/>
          </p:nvSpPr>
          <p:spPr>
            <a:xfrm>
              <a:off x="10271355" y="2074307"/>
              <a:ext cx="888540"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单人成本上限 150元​​</a:t>
              </a:r>
            </a:p>
          </p:txBody>
        </p:sp>
      </p:grpSp>
      <p:grpSp>
        <p:nvGrpSpPr>
          <p:cNvPr id="97" name="value-chart"/>
          <p:cNvGrpSpPr/>
          <p:nvPr/>
        </p:nvGrpSpPr>
        <p:grpSpPr>
          <a:xfrm>
            <a:off x="125851" y="2381250"/>
            <a:ext cx="3593662" cy="1701880"/>
            <a:chOff x="125851" y="2381250"/>
            <a:chExt cx="3593662" cy="1701880"/>
          </a:xfrm>
        </p:grpSpPr>
        <p:sp>
          <p:nvSpPr>
            <p:cNvPr id="67" name="Rectangle 67"/>
            <p:cNvSpPr/>
            <p:nvPr/>
          </p:nvSpPr>
          <p:spPr>
            <a:xfrm>
              <a:off x="342900" y="2381250"/>
              <a:ext cx="1905000" cy="228600"/>
            </a:xfrm>
            <a:prstGeom prst="roundRect">
              <a:avLst>
                <a:gd name="adj" fmla="val 20833"/>
              </a:avLst>
            </a:prstGeom>
            <a:solidFill>
              <a:srgbClr val="76200F"/>
            </a:solidFill>
            <a:ln>
              <a:noFill/>
            </a:ln>
          </p:spPr>
        </p:sp>
        <p:sp>
          <p:nvSpPr>
            <p:cNvPr id="68" name="TextBox 68"/>
            <p:cNvSpPr txBox="1"/>
            <p:nvPr/>
          </p:nvSpPr>
          <p:spPr>
            <a:xfrm>
              <a:off x="452438" y="2446020"/>
              <a:ext cx="122110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典型客户行为价值分布</a:t>
              </a:r>
            </a:p>
          </p:txBody>
        </p:sp>
        <p:sp>
          <p:nvSpPr>
            <p:cNvPr id="69" name="Line 69"/>
            <p:cNvSpPr/>
            <p:nvPr/>
          </p:nvSpPr>
          <p:spPr>
            <a:xfrm>
              <a:off x="666750" y="2724150"/>
              <a:ext cx="3048000" cy="9525"/>
            </a:xfrm>
            <a:custGeom>
              <a:avLst/>
              <a:gdLst/>
              <a:ahLst/>
              <a:cxnLst/>
              <a:rect l="l" t="t" r="r" b="b"/>
              <a:pathLst>
                <a:path w="3048000" h="9525">
                  <a:moveTo>
                    <a:pt x="0" y="0"/>
                  </a:moveTo>
                  <a:lnTo>
                    <a:pt x="3048000" y="0"/>
                  </a:lnTo>
                </a:path>
              </a:pathLst>
            </a:custGeom>
            <a:noFill/>
            <a:ln w="9525">
              <a:solidFill>
                <a:srgbClr val="E2EEEB"/>
              </a:solidFill>
            </a:ln>
          </p:spPr>
        </p:sp>
        <p:sp>
          <p:nvSpPr>
            <p:cNvPr id="70" name="Line 70"/>
            <p:cNvSpPr/>
            <p:nvPr/>
          </p:nvSpPr>
          <p:spPr>
            <a:xfrm>
              <a:off x="666750" y="2943225"/>
              <a:ext cx="3048000" cy="9525"/>
            </a:xfrm>
            <a:custGeom>
              <a:avLst/>
              <a:gdLst/>
              <a:ahLst/>
              <a:cxnLst/>
              <a:rect l="l" t="t" r="r" b="b"/>
              <a:pathLst>
                <a:path w="3048000" h="9525">
                  <a:moveTo>
                    <a:pt x="0" y="0"/>
                  </a:moveTo>
                  <a:lnTo>
                    <a:pt x="3048000" y="0"/>
                  </a:lnTo>
                </a:path>
              </a:pathLst>
            </a:custGeom>
            <a:noFill/>
            <a:ln w="9525">
              <a:solidFill>
                <a:srgbClr val="E2EEEB"/>
              </a:solidFill>
            </a:ln>
          </p:spPr>
        </p:sp>
        <p:sp>
          <p:nvSpPr>
            <p:cNvPr id="71" name="Line 71"/>
            <p:cNvSpPr/>
            <p:nvPr/>
          </p:nvSpPr>
          <p:spPr>
            <a:xfrm>
              <a:off x="666750" y="3162300"/>
              <a:ext cx="3048000" cy="9525"/>
            </a:xfrm>
            <a:custGeom>
              <a:avLst/>
              <a:gdLst/>
              <a:ahLst/>
              <a:cxnLst/>
              <a:rect l="l" t="t" r="r" b="b"/>
              <a:pathLst>
                <a:path w="3048000" h="9525">
                  <a:moveTo>
                    <a:pt x="0" y="0"/>
                  </a:moveTo>
                  <a:lnTo>
                    <a:pt x="3048000" y="0"/>
                  </a:lnTo>
                </a:path>
              </a:pathLst>
            </a:custGeom>
            <a:noFill/>
            <a:ln w="9525">
              <a:solidFill>
                <a:srgbClr val="E2EEEB"/>
              </a:solidFill>
            </a:ln>
          </p:spPr>
        </p:sp>
        <p:sp>
          <p:nvSpPr>
            <p:cNvPr id="72" name="Line 72"/>
            <p:cNvSpPr/>
            <p:nvPr/>
          </p:nvSpPr>
          <p:spPr>
            <a:xfrm>
              <a:off x="666750" y="3381375"/>
              <a:ext cx="3048000" cy="9525"/>
            </a:xfrm>
            <a:custGeom>
              <a:avLst/>
              <a:gdLst/>
              <a:ahLst/>
              <a:cxnLst/>
              <a:rect l="l" t="t" r="r" b="b"/>
              <a:pathLst>
                <a:path w="3048000" h="9525">
                  <a:moveTo>
                    <a:pt x="0" y="0"/>
                  </a:moveTo>
                  <a:lnTo>
                    <a:pt x="3048000" y="0"/>
                  </a:lnTo>
                </a:path>
              </a:pathLst>
            </a:custGeom>
            <a:noFill/>
            <a:ln w="9525">
              <a:solidFill>
                <a:srgbClr val="E2EEEB"/>
              </a:solidFill>
            </a:ln>
          </p:spPr>
        </p:sp>
        <p:sp>
          <p:nvSpPr>
            <p:cNvPr id="73" name="Line 73"/>
            <p:cNvSpPr/>
            <p:nvPr/>
          </p:nvSpPr>
          <p:spPr>
            <a:xfrm>
              <a:off x="666750" y="3600450"/>
              <a:ext cx="3048000" cy="9525"/>
            </a:xfrm>
            <a:custGeom>
              <a:avLst/>
              <a:gdLst/>
              <a:ahLst/>
              <a:cxnLst/>
              <a:rect l="l" t="t" r="r" b="b"/>
              <a:pathLst>
                <a:path w="3048000" h="9525">
                  <a:moveTo>
                    <a:pt x="0" y="0"/>
                  </a:moveTo>
                  <a:lnTo>
                    <a:pt x="3048000" y="0"/>
                  </a:lnTo>
                </a:path>
              </a:pathLst>
            </a:custGeom>
            <a:noFill/>
            <a:ln w="9525">
              <a:solidFill>
                <a:srgbClr val="C2E0DA"/>
              </a:solidFill>
            </a:ln>
          </p:spPr>
        </p:sp>
        <p:sp>
          <p:nvSpPr>
            <p:cNvPr id="74" name="TextBox 74"/>
            <p:cNvSpPr txBox="1"/>
            <p:nvPr/>
          </p:nvSpPr>
          <p:spPr>
            <a:xfrm>
              <a:off x="446189" y="2697480"/>
              <a:ext cx="187223" cy="119062"/>
            </a:xfrm>
            <a:prstGeom prst="rect">
              <a:avLst/>
            </a:prstGeom>
            <a:noFill/>
            <a:ln>
              <a:noFill/>
            </a:ln>
          </p:spPr>
          <p:txBody>
            <a:bodyPr wrap="none" lIns="0" tIns="0" rIns="0" bIns="0" anchor="t" anchorCtr="0">
              <a:spAutoFit/>
            </a:bodyPr>
            <a:lstStyle/>
            <a:p>
              <a:pPr algn="r"/>
              <a:r>
                <a:rPr lang="zh-CN" sz="600" dirty="0">
                  <a:solidFill>
                    <a:srgbClr val="73615E"/>
                  </a:solidFill>
                  <a:latin typeface="+mn-lt"/>
                  <a:ea typeface="+mn-ea"/>
                  <a:cs typeface="+mn-cs"/>
                </a:rPr>
                <a:t>150​</a:t>
              </a:r>
            </a:p>
          </p:txBody>
        </p:sp>
        <p:sp>
          <p:nvSpPr>
            <p:cNvPr id="75" name="TextBox 75"/>
            <p:cNvSpPr txBox="1"/>
            <p:nvPr/>
          </p:nvSpPr>
          <p:spPr>
            <a:xfrm>
              <a:off x="446189" y="2916555"/>
              <a:ext cx="187223" cy="119062"/>
            </a:xfrm>
            <a:prstGeom prst="rect">
              <a:avLst/>
            </a:prstGeom>
            <a:noFill/>
            <a:ln>
              <a:noFill/>
            </a:ln>
          </p:spPr>
          <p:txBody>
            <a:bodyPr wrap="none" lIns="0" tIns="0" rIns="0" bIns="0" anchor="t" anchorCtr="0">
              <a:spAutoFit/>
            </a:bodyPr>
            <a:lstStyle/>
            <a:p>
              <a:pPr algn="r"/>
              <a:r>
                <a:rPr lang="zh-CN" sz="600" dirty="0">
                  <a:solidFill>
                    <a:srgbClr val="73615E"/>
                  </a:solidFill>
                  <a:latin typeface="+mn-lt"/>
                  <a:ea typeface="+mn-ea"/>
                  <a:cs typeface="+mn-cs"/>
                </a:rPr>
                <a:t>120​</a:t>
              </a:r>
            </a:p>
          </p:txBody>
        </p:sp>
        <p:sp>
          <p:nvSpPr>
            <p:cNvPr id="76" name="TextBox 76"/>
            <p:cNvSpPr txBox="1"/>
            <p:nvPr/>
          </p:nvSpPr>
          <p:spPr>
            <a:xfrm>
              <a:off x="490614" y="3135630"/>
              <a:ext cx="142799" cy="119062"/>
            </a:xfrm>
            <a:prstGeom prst="rect">
              <a:avLst/>
            </a:prstGeom>
            <a:noFill/>
            <a:ln>
              <a:noFill/>
            </a:ln>
          </p:spPr>
          <p:txBody>
            <a:bodyPr wrap="none" lIns="0" tIns="0" rIns="0" bIns="0" anchor="t" anchorCtr="0">
              <a:spAutoFit/>
            </a:bodyPr>
            <a:lstStyle/>
            <a:p>
              <a:pPr algn="r"/>
              <a:r>
                <a:rPr lang="zh-CN" sz="600" dirty="0">
                  <a:solidFill>
                    <a:srgbClr val="73615E"/>
                  </a:solidFill>
                  <a:latin typeface="+mn-lt"/>
                  <a:ea typeface="+mn-ea"/>
                  <a:cs typeface="+mn-cs"/>
                </a:rPr>
                <a:t>90​</a:t>
              </a:r>
            </a:p>
          </p:txBody>
        </p:sp>
        <p:sp>
          <p:nvSpPr>
            <p:cNvPr id="77" name="TextBox 77"/>
            <p:cNvSpPr txBox="1"/>
            <p:nvPr/>
          </p:nvSpPr>
          <p:spPr>
            <a:xfrm>
              <a:off x="490614" y="3354705"/>
              <a:ext cx="142799" cy="119062"/>
            </a:xfrm>
            <a:prstGeom prst="rect">
              <a:avLst/>
            </a:prstGeom>
            <a:noFill/>
            <a:ln>
              <a:noFill/>
            </a:ln>
          </p:spPr>
          <p:txBody>
            <a:bodyPr wrap="none" lIns="0" tIns="0" rIns="0" bIns="0" anchor="t" anchorCtr="0">
              <a:spAutoFit/>
            </a:bodyPr>
            <a:lstStyle/>
            <a:p>
              <a:pPr algn="r"/>
              <a:r>
                <a:rPr lang="zh-CN" sz="600" dirty="0">
                  <a:solidFill>
                    <a:srgbClr val="73615E"/>
                  </a:solidFill>
                  <a:latin typeface="+mn-lt"/>
                  <a:ea typeface="+mn-ea"/>
                  <a:cs typeface="+mn-cs"/>
                </a:rPr>
                <a:t>60​</a:t>
              </a:r>
            </a:p>
          </p:txBody>
        </p:sp>
        <p:sp>
          <p:nvSpPr>
            <p:cNvPr id="78" name="TextBox 78"/>
            <p:cNvSpPr txBox="1"/>
            <p:nvPr/>
          </p:nvSpPr>
          <p:spPr>
            <a:xfrm>
              <a:off x="490614" y="3573780"/>
              <a:ext cx="142799" cy="119062"/>
            </a:xfrm>
            <a:prstGeom prst="rect">
              <a:avLst/>
            </a:prstGeom>
            <a:noFill/>
            <a:ln>
              <a:noFill/>
            </a:ln>
          </p:spPr>
          <p:txBody>
            <a:bodyPr wrap="none" lIns="0" tIns="0" rIns="0" bIns="0" anchor="t" anchorCtr="0">
              <a:spAutoFit/>
            </a:bodyPr>
            <a:lstStyle/>
            <a:p>
              <a:pPr algn="r"/>
              <a:r>
                <a:rPr lang="zh-CN" sz="600" dirty="0">
                  <a:solidFill>
                    <a:srgbClr val="73615E"/>
                  </a:solidFill>
                  <a:latin typeface="+mn-lt"/>
                  <a:ea typeface="+mn-ea"/>
                  <a:cs typeface="+mn-cs"/>
                </a:rPr>
                <a:t>30​</a:t>
              </a:r>
            </a:p>
          </p:txBody>
        </p:sp>
        <p:sp>
          <p:nvSpPr>
            <p:cNvPr id="79" name="TextBox 79"/>
            <p:cNvSpPr txBox="1"/>
            <p:nvPr/>
          </p:nvSpPr>
          <p:spPr>
            <a:xfrm rot="-5400000">
              <a:off x="125851" y="3076575"/>
              <a:ext cx="650316"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权益价值（元）</a:t>
              </a:r>
            </a:p>
          </p:txBody>
        </p:sp>
        <p:sp>
          <p:nvSpPr>
            <p:cNvPr id="80" name="Line 80"/>
            <p:cNvSpPr/>
            <p:nvPr/>
          </p:nvSpPr>
          <p:spPr>
            <a:xfrm>
              <a:off x="666750" y="3771900"/>
              <a:ext cx="3048000" cy="9525"/>
            </a:xfrm>
            <a:custGeom>
              <a:avLst/>
              <a:gdLst/>
              <a:ahLst/>
              <a:cxnLst/>
              <a:rect l="l" t="t" r="r" b="b"/>
              <a:pathLst>
                <a:path w="3048000" h="9525">
                  <a:moveTo>
                    <a:pt x="0" y="0"/>
                  </a:moveTo>
                  <a:lnTo>
                    <a:pt x="3048000" y="0"/>
                  </a:lnTo>
                </a:path>
              </a:pathLst>
            </a:custGeom>
            <a:noFill/>
            <a:ln w="14288">
              <a:solidFill>
                <a:srgbClr val="748683"/>
              </a:solidFill>
            </a:ln>
          </p:spPr>
        </p:sp>
        <p:sp>
          <p:nvSpPr>
            <p:cNvPr id="81" name="TextBox 81"/>
            <p:cNvSpPr txBox="1"/>
            <p:nvPr/>
          </p:nvSpPr>
          <p:spPr>
            <a:xfrm>
              <a:off x="661988" y="3836432"/>
              <a:ext cx="95682"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低</a:t>
              </a:r>
            </a:p>
          </p:txBody>
        </p:sp>
        <p:sp>
          <p:nvSpPr>
            <p:cNvPr id="82" name="TextBox 82"/>
            <p:cNvSpPr txBox="1"/>
            <p:nvPr/>
          </p:nvSpPr>
          <p:spPr>
            <a:xfrm>
              <a:off x="3623831" y="3836432"/>
              <a:ext cx="95682" cy="126206"/>
            </a:xfrm>
            <a:prstGeom prst="rect">
              <a:avLst/>
            </a:prstGeom>
            <a:noFill/>
            <a:ln>
              <a:noFill/>
            </a:ln>
          </p:spPr>
          <p:txBody>
            <a:bodyPr wrap="none" lIns="0" tIns="0" rIns="0" bIns="0" anchor="t" anchorCtr="0">
              <a:spAutoFit/>
            </a:bodyPr>
            <a:lstStyle/>
            <a:p>
              <a:pPr algn="r"/>
              <a:r>
                <a:rPr lang="zh-CN" sz="640" dirty="0">
                  <a:solidFill>
                    <a:srgbClr val="73615E"/>
                  </a:solidFill>
                  <a:latin typeface="+mn-lt"/>
                  <a:ea typeface="+mn-ea"/>
                  <a:cs typeface="+mn-cs"/>
                </a:rPr>
                <a:t>高</a:t>
              </a:r>
            </a:p>
          </p:txBody>
        </p:sp>
        <p:sp>
          <p:nvSpPr>
            <p:cNvPr id="83" name="TextBox 83"/>
            <p:cNvSpPr txBox="1"/>
            <p:nvPr/>
          </p:nvSpPr>
          <p:spPr>
            <a:xfrm>
              <a:off x="1899247" y="3942636"/>
              <a:ext cx="58300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客户行为难度</a:t>
              </a:r>
            </a:p>
          </p:txBody>
        </p:sp>
        <p:sp>
          <p:nvSpPr>
            <p:cNvPr id="84" name="Polyline 84"/>
            <p:cNvSpPr/>
            <p:nvPr/>
          </p:nvSpPr>
          <p:spPr>
            <a:xfrm>
              <a:off x="1276350" y="2887980"/>
              <a:ext cx="1981200" cy="662940"/>
            </a:xfrm>
            <a:custGeom>
              <a:avLst/>
              <a:gdLst/>
              <a:ahLst/>
              <a:cxnLst/>
              <a:rect l="l" t="t" r="r" b="b"/>
              <a:pathLst>
                <a:path w="1981200" h="662940">
                  <a:moveTo>
                    <a:pt x="0" y="662940"/>
                  </a:moveTo>
                  <a:lnTo>
                    <a:pt x="361950" y="552450"/>
                  </a:lnTo>
                  <a:lnTo>
                    <a:pt x="762000" y="441960"/>
                  </a:lnTo>
                  <a:lnTo>
                    <a:pt x="1066800" y="331470"/>
                  </a:lnTo>
                  <a:lnTo>
                    <a:pt x="1524000" y="147638"/>
                  </a:lnTo>
                  <a:lnTo>
                    <a:pt x="1981200" y="0"/>
                  </a:lnTo>
                </a:path>
              </a:pathLst>
            </a:custGeom>
            <a:noFill/>
            <a:ln w="19050">
              <a:solidFill>
                <a:srgbClr val="76200F"/>
              </a:solidFill>
            </a:ln>
          </p:spPr>
        </p:sp>
        <p:sp>
          <p:nvSpPr>
            <p:cNvPr id="85" name="Ellipse 85"/>
            <p:cNvSpPr/>
            <p:nvPr/>
          </p:nvSpPr>
          <p:spPr>
            <a:xfrm>
              <a:off x="1238250" y="3512820"/>
              <a:ext cx="76200" cy="76200"/>
            </a:xfrm>
            <a:prstGeom prst="ellipse">
              <a:avLst/>
            </a:prstGeom>
            <a:solidFill>
              <a:srgbClr val="76200F"/>
            </a:solidFill>
            <a:ln>
              <a:noFill/>
            </a:ln>
          </p:spPr>
        </p:sp>
        <p:sp>
          <p:nvSpPr>
            <p:cNvPr id="86" name="TextBox 86"/>
            <p:cNvSpPr txBox="1"/>
            <p:nvPr/>
          </p:nvSpPr>
          <p:spPr>
            <a:xfrm>
              <a:off x="1029272" y="3402330"/>
              <a:ext cx="494157" cy="119062"/>
            </a:xfrm>
            <a:prstGeom prst="rect">
              <a:avLst/>
            </a:prstGeom>
            <a:noFill/>
            <a:ln>
              <a:noFill/>
            </a:ln>
          </p:spPr>
          <p:txBody>
            <a:bodyPr wrap="none" lIns="0" tIns="0" rIns="0" bIns="0" anchor="t" anchorCtr="0">
              <a:spAutoFit/>
            </a:bodyPr>
            <a:lstStyle/>
            <a:p>
              <a:pPr algn="ctr"/>
              <a:r>
                <a:rPr lang="zh-CN" sz="600" dirty="0">
                  <a:solidFill>
                    <a:srgbClr val="331712"/>
                  </a:solidFill>
                  <a:latin typeface="+mn-lt"/>
                  <a:ea typeface="+mn-ea"/>
                  <a:cs typeface="+mn-cs"/>
                </a:rPr>
                <a:t>签到（到场）</a:t>
              </a:r>
            </a:p>
          </p:txBody>
        </p:sp>
        <p:sp>
          <p:nvSpPr>
            <p:cNvPr id="87" name="Ellipse 87"/>
            <p:cNvSpPr/>
            <p:nvPr/>
          </p:nvSpPr>
          <p:spPr>
            <a:xfrm>
              <a:off x="1600200" y="3402330"/>
              <a:ext cx="76200" cy="76200"/>
            </a:xfrm>
            <a:prstGeom prst="ellipse">
              <a:avLst/>
            </a:prstGeom>
            <a:solidFill>
              <a:srgbClr val="76200F"/>
            </a:solidFill>
            <a:ln>
              <a:noFill/>
            </a:ln>
          </p:spPr>
        </p:sp>
        <p:sp>
          <p:nvSpPr>
            <p:cNvPr id="88" name="TextBox 88"/>
            <p:cNvSpPr txBox="1"/>
            <p:nvPr/>
          </p:nvSpPr>
          <p:spPr>
            <a:xfrm>
              <a:off x="1391222" y="3288030"/>
              <a:ext cx="494157" cy="119062"/>
            </a:xfrm>
            <a:prstGeom prst="rect">
              <a:avLst/>
            </a:prstGeom>
            <a:noFill/>
            <a:ln>
              <a:noFill/>
            </a:ln>
          </p:spPr>
          <p:txBody>
            <a:bodyPr wrap="none" lIns="0" tIns="0" rIns="0" bIns="0" anchor="t" anchorCtr="0">
              <a:spAutoFit/>
            </a:bodyPr>
            <a:lstStyle/>
            <a:p>
              <a:pPr algn="ctr"/>
              <a:r>
                <a:rPr lang="zh-CN" sz="600" dirty="0">
                  <a:solidFill>
                    <a:srgbClr val="331712"/>
                  </a:solidFill>
                  <a:latin typeface="+mn-lt"/>
                  <a:ea typeface="+mn-ea"/>
                  <a:cs typeface="+mn-cs"/>
                </a:rPr>
                <a:t>测评（任务）</a:t>
              </a:r>
            </a:p>
          </p:txBody>
        </p:sp>
        <p:sp>
          <p:nvSpPr>
            <p:cNvPr id="89" name="Ellipse 89"/>
            <p:cNvSpPr/>
            <p:nvPr/>
          </p:nvSpPr>
          <p:spPr>
            <a:xfrm>
              <a:off x="2000250" y="3291840"/>
              <a:ext cx="76200" cy="76200"/>
            </a:xfrm>
            <a:prstGeom prst="ellipse">
              <a:avLst/>
            </a:prstGeom>
            <a:solidFill>
              <a:srgbClr val="76200F"/>
            </a:solidFill>
            <a:ln>
              <a:noFill/>
            </a:ln>
          </p:spPr>
        </p:sp>
        <p:sp>
          <p:nvSpPr>
            <p:cNvPr id="90" name="TextBox 90"/>
            <p:cNvSpPr txBox="1"/>
            <p:nvPr/>
          </p:nvSpPr>
          <p:spPr>
            <a:xfrm>
              <a:off x="1791272" y="3173730"/>
              <a:ext cx="494157" cy="119062"/>
            </a:xfrm>
            <a:prstGeom prst="rect">
              <a:avLst/>
            </a:prstGeom>
            <a:noFill/>
            <a:ln>
              <a:noFill/>
            </a:ln>
          </p:spPr>
          <p:txBody>
            <a:bodyPr wrap="none" lIns="0" tIns="0" rIns="0" bIns="0" anchor="t" anchorCtr="0">
              <a:spAutoFit/>
            </a:bodyPr>
            <a:lstStyle/>
            <a:p>
              <a:pPr algn="ctr"/>
              <a:r>
                <a:rPr lang="zh-CN" sz="600" dirty="0">
                  <a:solidFill>
                    <a:srgbClr val="331712"/>
                  </a:solidFill>
                  <a:latin typeface="+mn-lt"/>
                  <a:ea typeface="+mn-ea"/>
                  <a:cs typeface="+mn-cs"/>
                </a:rPr>
                <a:t>绑卡（支付）</a:t>
              </a:r>
            </a:p>
          </p:txBody>
        </p:sp>
        <p:sp>
          <p:nvSpPr>
            <p:cNvPr id="91" name="Ellipse 91"/>
            <p:cNvSpPr/>
            <p:nvPr/>
          </p:nvSpPr>
          <p:spPr>
            <a:xfrm>
              <a:off x="2305050" y="3181350"/>
              <a:ext cx="76200" cy="76200"/>
            </a:xfrm>
            <a:prstGeom prst="ellipse">
              <a:avLst/>
            </a:prstGeom>
            <a:solidFill>
              <a:srgbClr val="76200F"/>
            </a:solidFill>
            <a:ln>
              <a:noFill/>
            </a:ln>
          </p:spPr>
        </p:sp>
        <p:sp>
          <p:nvSpPr>
            <p:cNvPr id="92" name="TextBox 92"/>
            <p:cNvSpPr txBox="1"/>
            <p:nvPr/>
          </p:nvSpPr>
          <p:spPr>
            <a:xfrm>
              <a:off x="2096072" y="3068955"/>
              <a:ext cx="494157" cy="119062"/>
            </a:xfrm>
            <a:prstGeom prst="rect">
              <a:avLst/>
            </a:prstGeom>
            <a:noFill/>
            <a:ln>
              <a:noFill/>
            </a:ln>
          </p:spPr>
          <p:txBody>
            <a:bodyPr wrap="none" lIns="0" tIns="0" rIns="0" bIns="0" anchor="t" anchorCtr="0">
              <a:spAutoFit/>
            </a:bodyPr>
            <a:lstStyle/>
            <a:p>
              <a:pPr algn="ctr"/>
              <a:r>
                <a:rPr lang="zh-CN" sz="600" dirty="0">
                  <a:solidFill>
                    <a:srgbClr val="331712"/>
                  </a:solidFill>
                  <a:latin typeface="+mn-lt"/>
                  <a:ea typeface="+mn-ea"/>
                  <a:cs typeface="+mn-cs"/>
                </a:rPr>
                <a:t>首刷（支付）</a:t>
              </a:r>
            </a:p>
          </p:txBody>
        </p:sp>
        <p:sp>
          <p:nvSpPr>
            <p:cNvPr id="93" name="Ellipse 93"/>
            <p:cNvSpPr/>
            <p:nvPr/>
          </p:nvSpPr>
          <p:spPr>
            <a:xfrm>
              <a:off x="2762250" y="2997518"/>
              <a:ext cx="76200" cy="76200"/>
            </a:xfrm>
            <a:prstGeom prst="ellipse">
              <a:avLst/>
            </a:prstGeom>
            <a:solidFill>
              <a:srgbClr val="76200F"/>
            </a:solidFill>
            <a:ln>
              <a:noFill/>
            </a:ln>
          </p:spPr>
        </p:sp>
        <p:sp>
          <p:nvSpPr>
            <p:cNvPr id="94" name="TextBox 94"/>
            <p:cNvSpPr txBox="1"/>
            <p:nvPr/>
          </p:nvSpPr>
          <p:spPr>
            <a:xfrm>
              <a:off x="2472500" y="2878455"/>
              <a:ext cx="655701" cy="119062"/>
            </a:xfrm>
            <a:prstGeom prst="rect">
              <a:avLst/>
            </a:prstGeom>
            <a:noFill/>
            <a:ln>
              <a:noFill/>
            </a:ln>
          </p:spPr>
          <p:txBody>
            <a:bodyPr wrap="none" lIns="0" tIns="0" rIns="0" bIns="0" anchor="t" anchorCtr="0">
              <a:spAutoFit/>
            </a:bodyPr>
            <a:lstStyle/>
            <a:p>
              <a:pPr algn="ctr"/>
              <a:r>
                <a:rPr lang="zh-CN" sz="600" dirty="0">
                  <a:solidFill>
                    <a:srgbClr val="331712"/>
                  </a:solidFill>
                  <a:latin typeface="+mn-lt"/>
                  <a:ea typeface="+mn-ea"/>
                  <a:cs typeface="+mn-cs"/>
                </a:rPr>
                <a:t>资产提升（转化）</a:t>
              </a:r>
            </a:p>
          </p:txBody>
        </p:sp>
        <p:sp>
          <p:nvSpPr>
            <p:cNvPr id="95" name="Ellipse 95"/>
            <p:cNvSpPr/>
            <p:nvPr/>
          </p:nvSpPr>
          <p:spPr>
            <a:xfrm>
              <a:off x="3219450" y="2849880"/>
              <a:ext cx="76200" cy="76200"/>
            </a:xfrm>
            <a:prstGeom prst="ellipse">
              <a:avLst/>
            </a:prstGeom>
            <a:solidFill>
              <a:srgbClr val="76200F"/>
            </a:solidFill>
            <a:ln>
              <a:noFill/>
            </a:ln>
          </p:spPr>
        </p:sp>
        <p:sp>
          <p:nvSpPr>
            <p:cNvPr id="96" name="TextBox 96"/>
            <p:cNvSpPr txBox="1"/>
            <p:nvPr/>
          </p:nvSpPr>
          <p:spPr>
            <a:xfrm>
              <a:off x="2970086" y="2735580"/>
              <a:ext cx="574929" cy="119062"/>
            </a:xfrm>
            <a:prstGeom prst="rect">
              <a:avLst/>
            </a:prstGeom>
            <a:noFill/>
            <a:ln>
              <a:noFill/>
            </a:ln>
          </p:spPr>
          <p:txBody>
            <a:bodyPr wrap="none" lIns="0" tIns="0" rIns="0" bIns="0" anchor="t" anchorCtr="0">
              <a:spAutoFit/>
            </a:bodyPr>
            <a:lstStyle/>
            <a:p>
              <a:pPr algn="ctr"/>
              <a:r>
                <a:rPr lang="zh-CN" sz="600" dirty="0">
                  <a:solidFill>
                    <a:srgbClr val="331712"/>
                  </a:solidFill>
                  <a:latin typeface="+mn-lt"/>
                  <a:ea typeface="+mn-ea"/>
                  <a:cs typeface="+mn-cs"/>
                </a:rPr>
                <a:t>转介绍（裂变）</a:t>
              </a:r>
            </a:p>
          </p:txBody>
        </p:sp>
      </p:grpSp>
      <p:grpSp>
        <p:nvGrpSpPr>
          <p:cNvPr id="125" name="roi-card"/>
          <p:cNvGrpSpPr/>
          <p:nvPr/>
        </p:nvGrpSpPr>
        <p:grpSpPr>
          <a:xfrm>
            <a:off x="4038600" y="2381250"/>
            <a:ext cx="3619500" cy="1600200"/>
            <a:chOff x="4038600" y="2381250"/>
            <a:chExt cx="3619500" cy="1600200"/>
          </a:xfrm>
        </p:grpSpPr>
        <p:sp>
          <p:nvSpPr>
            <p:cNvPr id="98" name="Rectangle 98"/>
            <p:cNvSpPr/>
            <p:nvPr/>
          </p:nvSpPr>
          <p:spPr>
            <a:xfrm>
              <a:off x="4038600" y="2381250"/>
              <a:ext cx="1524000" cy="228600"/>
            </a:xfrm>
            <a:prstGeom prst="roundRect">
              <a:avLst>
                <a:gd name="adj" fmla="val 20833"/>
              </a:avLst>
            </a:prstGeom>
            <a:solidFill>
              <a:srgbClr val="76200F"/>
            </a:solidFill>
            <a:ln>
              <a:noFill/>
            </a:ln>
          </p:spPr>
        </p:sp>
        <p:sp>
          <p:nvSpPr>
            <p:cNvPr id="99" name="TextBox 99"/>
            <p:cNvSpPr txBox="1"/>
            <p:nvPr/>
          </p:nvSpPr>
          <p:spPr>
            <a:xfrm>
              <a:off x="4148138" y="2446020"/>
              <a:ext cx="114266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权益预算与ROI测算​</a:t>
              </a:r>
            </a:p>
          </p:txBody>
        </p:sp>
        <p:sp>
          <p:nvSpPr>
            <p:cNvPr id="100" name="Rectangle 100"/>
            <p:cNvSpPr/>
            <p:nvPr/>
          </p:nvSpPr>
          <p:spPr>
            <a:xfrm>
              <a:off x="4038600" y="2705100"/>
              <a:ext cx="3619500" cy="323850"/>
            </a:xfrm>
            <a:prstGeom prst="roundRect">
              <a:avLst>
                <a:gd name="adj" fmla="val 23529"/>
              </a:avLst>
            </a:prstGeom>
            <a:solidFill>
              <a:srgbClr val="5D190B"/>
            </a:solidFill>
            <a:ln>
              <a:noFill/>
            </a:ln>
          </p:spPr>
        </p:sp>
        <p:sp>
          <p:nvSpPr>
            <p:cNvPr id="101" name="TextBox 101"/>
            <p:cNvSpPr txBox="1"/>
            <p:nvPr/>
          </p:nvSpPr>
          <p:spPr>
            <a:xfrm>
              <a:off x="4458652" y="2809399"/>
              <a:ext cx="277939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权益预算 ＝ 预期增量价值 × 目标回报率上限​​</a:t>
              </a:r>
            </a:p>
          </p:txBody>
        </p:sp>
        <p:sp>
          <p:nvSpPr>
            <p:cNvPr id="102" name="Rectangle 102"/>
            <p:cNvSpPr/>
            <p:nvPr/>
          </p:nvSpPr>
          <p:spPr>
            <a:xfrm>
              <a:off x="4038600" y="3143250"/>
              <a:ext cx="1123950" cy="838200"/>
            </a:xfrm>
            <a:prstGeom prst="roundRect">
              <a:avLst>
                <a:gd name="adj" fmla="val 9091"/>
              </a:avLst>
            </a:prstGeom>
            <a:solidFill>
              <a:srgbClr val="F0FAF8"/>
            </a:solidFill>
            <a:ln w="9525">
              <a:solidFill>
                <a:srgbClr val="C2E0DA"/>
              </a:solidFill>
            </a:ln>
          </p:spPr>
        </p:sp>
        <p:grpSp>
          <p:nvGrpSpPr>
            <p:cNvPr id="106" name="Group 106"/>
            <p:cNvGrpSpPr/>
            <p:nvPr/>
          </p:nvGrpSpPr>
          <p:grpSpPr>
            <a:xfrm>
              <a:off x="4508500" y="3243262"/>
              <a:ext cx="127000" cy="142875"/>
              <a:chOff x="4508500" y="3243262"/>
              <a:chExt cx="127000" cy="142875"/>
            </a:xfrm>
          </p:grpSpPr>
          <p:sp>
            <p:nvSpPr>
              <p:cNvPr id="103" name="Freeform 103"/>
              <p:cNvSpPr/>
              <p:nvPr/>
            </p:nvSpPr>
            <p:spPr>
              <a:xfrm>
                <a:off x="4508500" y="32432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76200F"/>
                </a:solidFill>
              </a:ln>
            </p:spPr>
          </p:sp>
          <p:sp>
            <p:nvSpPr>
              <p:cNvPr id="104" name="Freeform 104"/>
              <p:cNvSpPr/>
              <p:nvPr/>
            </p:nvSpPr>
            <p:spPr>
              <a:xfrm>
                <a:off x="4508500" y="32670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6200F"/>
                </a:solidFill>
              </a:ln>
            </p:spPr>
          </p:sp>
          <p:sp>
            <p:nvSpPr>
              <p:cNvPr id="105" name="Freeform 105"/>
              <p:cNvSpPr/>
              <p:nvPr/>
            </p:nvSpPr>
            <p:spPr>
              <a:xfrm>
                <a:off x="4508500" y="33147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76200F"/>
                </a:solidFill>
              </a:ln>
            </p:spPr>
          </p:sp>
        </p:grpSp>
        <p:sp>
          <p:nvSpPr>
            <p:cNvPr id="107" name="TextBox 107"/>
            <p:cNvSpPr txBox="1"/>
            <p:nvPr/>
          </p:nvSpPr>
          <p:spPr>
            <a:xfrm>
              <a:off x="4309072" y="3504486"/>
              <a:ext cx="58300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预期增量价值</a:t>
              </a:r>
            </a:p>
          </p:txBody>
        </p:sp>
        <p:sp>
          <p:nvSpPr>
            <p:cNvPr id="108" name="TextBox 108"/>
            <p:cNvSpPr txBox="1"/>
            <p:nvPr/>
          </p:nvSpPr>
          <p:spPr>
            <a:xfrm>
              <a:off x="4141391" y="3663553"/>
              <a:ext cx="918367"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由新增客户数 × 客户LTV​​</a:t>
              </a:r>
            </a:p>
          </p:txBody>
        </p:sp>
        <p:sp>
          <p:nvSpPr>
            <p:cNvPr id="109" name="TextBox 109"/>
            <p:cNvSpPr txBox="1"/>
            <p:nvPr/>
          </p:nvSpPr>
          <p:spPr>
            <a:xfrm>
              <a:off x="4331957" y="3777853"/>
              <a:ext cx="537235"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或产品收益测算</a:t>
              </a:r>
            </a:p>
          </p:txBody>
        </p:sp>
        <p:sp>
          <p:nvSpPr>
            <p:cNvPr id="110" name="Rectangle 110"/>
            <p:cNvSpPr/>
            <p:nvPr/>
          </p:nvSpPr>
          <p:spPr>
            <a:xfrm>
              <a:off x="5257800" y="3143250"/>
              <a:ext cx="1123950" cy="838200"/>
            </a:xfrm>
            <a:prstGeom prst="roundRect">
              <a:avLst>
                <a:gd name="adj" fmla="val 9091"/>
              </a:avLst>
            </a:prstGeom>
            <a:solidFill>
              <a:srgbClr val="F0FAF8"/>
            </a:solidFill>
            <a:ln w="9525">
              <a:solidFill>
                <a:srgbClr val="C2E0DA"/>
              </a:solidFill>
            </a:ln>
          </p:spPr>
        </p:sp>
        <p:grpSp>
          <p:nvGrpSpPr>
            <p:cNvPr id="114" name="Group 114"/>
            <p:cNvGrpSpPr/>
            <p:nvPr/>
          </p:nvGrpSpPr>
          <p:grpSpPr>
            <a:xfrm>
              <a:off x="5719762" y="3243262"/>
              <a:ext cx="142875" cy="142875"/>
              <a:chOff x="5719762" y="3243262"/>
              <a:chExt cx="142875" cy="142875"/>
            </a:xfrm>
          </p:grpSpPr>
          <p:sp>
            <p:nvSpPr>
              <p:cNvPr id="111" name="Freeform 111"/>
              <p:cNvSpPr/>
              <p:nvPr/>
            </p:nvSpPr>
            <p:spPr>
              <a:xfrm>
                <a:off x="5783262" y="33067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76200F"/>
                </a:solidFill>
              </a:ln>
            </p:spPr>
          </p:sp>
          <p:sp>
            <p:nvSpPr>
              <p:cNvPr id="112" name="Freeform 112"/>
              <p:cNvSpPr/>
              <p:nvPr/>
            </p:nvSpPr>
            <p:spPr>
              <a:xfrm>
                <a:off x="5751512" y="32750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76200F"/>
                </a:solidFill>
              </a:ln>
            </p:spPr>
          </p:sp>
          <p:sp>
            <p:nvSpPr>
              <p:cNvPr id="113" name="Freeform 113"/>
              <p:cNvSpPr/>
              <p:nvPr/>
            </p:nvSpPr>
            <p:spPr>
              <a:xfrm>
                <a:off x="5719762" y="32432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76200F"/>
                </a:solidFill>
              </a:ln>
            </p:spPr>
          </p:sp>
        </p:grpSp>
        <p:sp>
          <p:nvSpPr>
            <p:cNvPr id="115" name="TextBox 115"/>
            <p:cNvSpPr txBox="1"/>
            <p:nvPr/>
          </p:nvSpPr>
          <p:spPr>
            <a:xfrm>
              <a:off x="5480482" y="3504486"/>
              <a:ext cx="67858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目标回报率上限</a:t>
              </a:r>
            </a:p>
          </p:txBody>
        </p:sp>
        <p:sp>
          <p:nvSpPr>
            <p:cNvPr id="116" name="TextBox 116"/>
            <p:cNvSpPr txBox="1"/>
            <p:nvPr/>
          </p:nvSpPr>
          <p:spPr>
            <a:xfrm>
              <a:off x="5547388" y="3663553"/>
              <a:ext cx="544774"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建议 5%-20%​​</a:t>
              </a:r>
            </a:p>
          </p:txBody>
        </p:sp>
        <p:sp>
          <p:nvSpPr>
            <p:cNvPr id="117" name="TextBox 117"/>
            <p:cNvSpPr txBox="1"/>
            <p:nvPr/>
          </p:nvSpPr>
          <p:spPr>
            <a:xfrm>
              <a:off x="5438076" y="3777853"/>
              <a:ext cx="763397"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（根据产品类型设定）</a:t>
              </a:r>
            </a:p>
          </p:txBody>
        </p:sp>
        <p:sp>
          <p:nvSpPr>
            <p:cNvPr id="118" name="Rectangle 118"/>
            <p:cNvSpPr/>
            <p:nvPr/>
          </p:nvSpPr>
          <p:spPr>
            <a:xfrm>
              <a:off x="6477000" y="3143250"/>
              <a:ext cx="1181100" cy="838200"/>
            </a:xfrm>
            <a:prstGeom prst="roundRect">
              <a:avLst>
                <a:gd name="adj" fmla="val 9091"/>
              </a:avLst>
            </a:prstGeom>
            <a:solidFill>
              <a:srgbClr val="F0FAF8"/>
            </a:solidFill>
            <a:ln w="9525">
              <a:solidFill>
                <a:srgbClr val="C2E0DA"/>
              </a:solidFill>
            </a:ln>
          </p:spPr>
        </p:sp>
        <p:grpSp>
          <p:nvGrpSpPr>
            <p:cNvPr id="121" name="Group 121"/>
            <p:cNvGrpSpPr/>
            <p:nvPr/>
          </p:nvGrpSpPr>
          <p:grpSpPr>
            <a:xfrm>
              <a:off x="6975475" y="3251200"/>
              <a:ext cx="127000" cy="127000"/>
              <a:chOff x="6975475" y="3251200"/>
              <a:chExt cx="127000" cy="127000"/>
            </a:xfrm>
          </p:grpSpPr>
          <p:sp>
            <p:nvSpPr>
              <p:cNvPr id="119" name="Freeform 119"/>
              <p:cNvSpPr/>
              <p:nvPr/>
            </p:nvSpPr>
            <p:spPr>
              <a:xfrm>
                <a:off x="6975475" y="3251200"/>
                <a:ext cx="119062" cy="127000"/>
              </a:xfrm>
              <a:custGeom>
                <a:avLst/>
                <a:gdLst/>
                <a:ahLst/>
                <a:cxnLst/>
                <a:rect l="l" t="t" r="r" b="b"/>
                <a:pathLst>
                  <a:path w="119062" h="127000">
                    <a:moveTo>
                      <a:pt x="103187" y="31750"/>
                    </a:moveTo>
                    <a:lnTo>
                      <a:pt x="103187" y="7937"/>
                    </a:lnTo>
                    <a:cubicBezTo>
                      <a:pt x="103187" y="3554"/>
                      <a:pt x="99634" y="0"/>
                      <a:pt x="95250" y="0"/>
                    </a:cubicBezTo>
                    <a:lnTo>
                      <a:pt x="15875" y="0"/>
                    </a:lnTo>
                    <a:cubicBezTo>
                      <a:pt x="7107" y="0"/>
                      <a:pt x="0" y="7107"/>
                      <a:pt x="0" y="15875"/>
                    </a:cubicBezTo>
                    <a:cubicBezTo>
                      <a:pt x="0" y="24643"/>
                      <a:pt x="7107" y="31750"/>
                      <a:pt x="15875" y="31750"/>
                    </a:cubicBezTo>
                    <a:lnTo>
                      <a:pt x="111125" y="31750"/>
                    </a:lnTo>
                    <a:cubicBezTo>
                      <a:pt x="115509" y="31750"/>
                      <a:pt x="119062" y="35304"/>
                      <a:pt x="119062" y="39687"/>
                    </a:cubicBezTo>
                    <a:lnTo>
                      <a:pt x="119062" y="63500"/>
                    </a:lnTo>
                    <a:moveTo>
                      <a:pt x="119062" y="95250"/>
                    </a:moveTo>
                    <a:lnTo>
                      <a:pt x="119062" y="119062"/>
                    </a:lnTo>
                    <a:cubicBezTo>
                      <a:pt x="119062" y="123446"/>
                      <a:pt x="115509" y="127000"/>
                      <a:pt x="111125" y="127000"/>
                    </a:cubicBezTo>
                    <a:lnTo>
                      <a:pt x="15875" y="127000"/>
                    </a:lnTo>
                    <a:cubicBezTo>
                      <a:pt x="7107" y="127000"/>
                      <a:pt x="0" y="119892"/>
                      <a:pt x="0" y="111125"/>
                    </a:cubicBezTo>
                    <a:lnTo>
                      <a:pt x="0" y="15875"/>
                    </a:lnTo>
                  </a:path>
                </a:pathLst>
              </a:custGeom>
              <a:noFill/>
              <a:ln w="15875">
                <a:solidFill>
                  <a:srgbClr val="76200F"/>
                </a:solidFill>
              </a:ln>
            </p:spPr>
          </p:sp>
          <p:sp>
            <p:nvSpPr>
              <p:cNvPr id="120" name="Freeform 120"/>
              <p:cNvSpPr/>
              <p:nvPr/>
            </p:nvSpPr>
            <p:spPr>
              <a:xfrm>
                <a:off x="7054850" y="3314700"/>
                <a:ext cx="47625" cy="31750"/>
              </a:xfrm>
              <a:custGeom>
                <a:avLst/>
                <a:gdLst/>
                <a:ahLst/>
                <a:cxnLst/>
                <a:rect l="l" t="t" r="r" b="b"/>
                <a:pathLst>
                  <a:path w="47625" h="31750">
                    <a:moveTo>
                      <a:pt x="47625" y="0"/>
                    </a:moveTo>
                    <a:lnTo>
                      <a:pt x="47625" y="31750"/>
                    </a:lnTo>
                    <a:lnTo>
                      <a:pt x="15875" y="31750"/>
                    </a:lnTo>
                    <a:cubicBezTo>
                      <a:pt x="7107" y="31750"/>
                      <a:pt x="0" y="24643"/>
                      <a:pt x="0" y="15875"/>
                    </a:cubicBezTo>
                    <a:cubicBezTo>
                      <a:pt x="0" y="7107"/>
                      <a:pt x="7107" y="0"/>
                      <a:pt x="15875" y="0"/>
                    </a:cubicBezTo>
                    <a:lnTo>
                      <a:pt x="47625" y="0"/>
                    </a:lnTo>
                  </a:path>
                </a:pathLst>
              </a:custGeom>
              <a:noFill/>
              <a:ln w="15875">
                <a:solidFill>
                  <a:srgbClr val="76200F"/>
                </a:solidFill>
              </a:ln>
            </p:spPr>
          </p:sp>
        </p:grpSp>
        <p:sp>
          <p:nvSpPr>
            <p:cNvPr id="122" name="TextBox 122"/>
            <p:cNvSpPr txBox="1"/>
            <p:nvPr/>
          </p:nvSpPr>
          <p:spPr>
            <a:xfrm>
              <a:off x="6871627" y="3504486"/>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权益预算</a:t>
              </a:r>
            </a:p>
          </p:txBody>
        </p:sp>
        <p:sp>
          <p:nvSpPr>
            <p:cNvPr id="123" name="TextBox 123"/>
            <p:cNvSpPr txBox="1"/>
            <p:nvPr/>
          </p:nvSpPr>
          <p:spPr>
            <a:xfrm>
              <a:off x="6874320" y="3663553"/>
              <a:ext cx="386461"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控制总成本</a:t>
              </a:r>
            </a:p>
          </p:txBody>
        </p:sp>
        <p:sp>
          <p:nvSpPr>
            <p:cNvPr id="124" name="TextBox 124"/>
            <p:cNvSpPr txBox="1"/>
            <p:nvPr/>
          </p:nvSpPr>
          <p:spPr>
            <a:xfrm>
              <a:off x="6874320" y="3777853"/>
              <a:ext cx="386461"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并动态优化</a:t>
              </a:r>
            </a:p>
          </p:txBody>
        </p:sp>
      </p:grpSp>
      <p:grpSp>
        <p:nvGrpSpPr>
          <p:cNvPr id="151" name="risk-rules"/>
          <p:cNvGrpSpPr/>
          <p:nvPr/>
        </p:nvGrpSpPr>
        <p:grpSpPr>
          <a:xfrm>
            <a:off x="7734300" y="2381250"/>
            <a:ext cx="2699200" cy="1501855"/>
            <a:chOff x="7734300" y="2381250"/>
            <a:chExt cx="2699200" cy="1501855"/>
          </a:xfrm>
        </p:grpSpPr>
        <p:sp>
          <p:nvSpPr>
            <p:cNvPr id="126" name="Rectangle 126"/>
            <p:cNvSpPr/>
            <p:nvPr/>
          </p:nvSpPr>
          <p:spPr>
            <a:xfrm>
              <a:off x="7734300" y="2381250"/>
              <a:ext cx="1905000" cy="228600"/>
            </a:xfrm>
            <a:prstGeom prst="roundRect">
              <a:avLst>
                <a:gd name="adj" fmla="val 20833"/>
              </a:avLst>
            </a:prstGeom>
            <a:solidFill>
              <a:srgbClr val="5D190B"/>
            </a:solidFill>
            <a:ln>
              <a:noFill/>
            </a:ln>
          </p:spPr>
        </p:sp>
        <p:grpSp>
          <p:nvGrpSpPr>
            <p:cNvPr id="129" name="Group 129"/>
            <p:cNvGrpSpPr/>
            <p:nvPr/>
          </p:nvGrpSpPr>
          <p:grpSpPr>
            <a:xfrm>
              <a:off x="7819670" y="2445544"/>
              <a:ext cx="108504" cy="100012"/>
              <a:chOff x="7819670" y="2445544"/>
              <a:chExt cx="108504" cy="100012"/>
            </a:xfrm>
          </p:grpSpPr>
          <p:sp>
            <p:nvSpPr>
              <p:cNvPr id="127" name="Freeform 127"/>
              <p:cNvSpPr/>
              <p:nvPr/>
            </p:nvSpPr>
            <p:spPr>
              <a:xfrm>
                <a:off x="7819670" y="2445544"/>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FFFFFF"/>
                </a:solidFill>
              </a:ln>
            </p:spPr>
          </p:sp>
          <p:sp>
            <p:nvSpPr>
              <p:cNvPr id="128" name="Freeform 128"/>
              <p:cNvSpPr/>
              <p:nvPr/>
            </p:nvSpPr>
            <p:spPr>
              <a:xfrm>
                <a:off x="7893844" y="2523331"/>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130" name="TextBox 130"/>
            <p:cNvSpPr txBox="1"/>
            <p:nvPr/>
          </p:nvSpPr>
          <p:spPr>
            <a:xfrm>
              <a:off x="8015288" y="2446020"/>
              <a:ext cx="109994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风控与防薅羊毛规则</a:t>
              </a:r>
            </a:p>
          </p:txBody>
        </p:sp>
        <p:grpSp>
          <p:nvGrpSpPr>
            <p:cNvPr id="133" name="Group 133"/>
            <p:cNvGrpSpPr/>
            <p:nvPr/>
          </p:nvGrpSpPr>
          <p:grpSpPr>
            <a:xfrm>
              <a:off x="7808119" y="2740819"/>
              <a:ext cx="100012" cy="100012"/>
              <a:chOff x="7808119" y="2740819"/>
              <a:chExt cx="100012" cy="100012"/>
            </a:xfrm>
          </p:grpSpPr>
          <p:sp>
            <p:nvSpPr>
              <p:cNvPr id="131" name="Freeform 131"/>
              <p:cNvSpPr/>
              <p:nvPr/>
            </p:nvSpPr>
            <p:spPr>
              <a:xfrm>
                <a:off x="7808119" y="27408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132" name="Freeform 132"/>
              <p:cNvSpPr/>
              <p:nvPr/>
            </p:nvSpPr>
            <p:spPr>
              <a:xfrm>
                <a:off x="7841456" y="2779712"/>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sp>
          <p:nvSpPr>
            <p:cNvPr id="134" name="TextBox 134"/>
            <p:cNvSpPr txBox="1"/>
            <p:nvPr/>
          </p:nvSpPr>
          <p:spPr>
            <a:xfrm>
              <a:off x="7996238" y="2752011"/>
              <a:ext cx="2437262"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同一用户（手机号 / 身份证 / 设备）限领一次同类权益​​</a:t>
              </a:r>
            </a:p>
          </p:txBody>
        </p:sp>
        <p:grpSp>
          <p:nvGrpSpPr>
            <p:cNvPr id="137" name="Group 137"/>
            <p:cNvGrpSpPr/>
            <p:nvPr/>
          </p:nvGrpSpPr>
          <p:grpSpPr>
            <a:xfrm>
              <a:off x="7808119" y="2988469"/>
              <a:ext cx="100012" cy="100012"/>
              <a:chOff x="7808119" y="2988469"/>
              <a:chExt cx="100012" cy="100012"/>
            </a:xfrm>
          </p:grpSpPr>
          <p:sp>
            <p:nvSpPr>
              <p:cNvPr id="135" name="Freeform 135"/>
              <p:cNvSpPr/>
              <p:nvPr/>
            </p:nvSpPr>
            <p:spPr>
              <a:xfrm>
                <a:off x="7808119" y="29884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136" name="Freeform 136"/>
              <p:cNvSpPr/>
              <p:nvPr/>
            </p:nvSpPr>
            <p:spPr>
              <a:xfrm>
                <a:off x="7841456" y="3027362"/>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sp>
          <p:nvSpPr>
            <p:cNvPr id="138" name="TextBox 138"/>
            <p:cNvSpPr txBox="1"/>
            <p:nvPr/>
          </p:nvSpPr>
          <p:spPr>
            <a:xfrm>
              <a:off x="7996238" y="2999661"/>
              <a:ext cx="2303450"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裂变活动需新用户注册且完成有效行为，禁止虚假自邀</a:t>
              </a:r>
            </a:p>
          </p:txBody>
        </p:sp>
        <p:grpSp>
          <p:nvGrpSpPr>
            <p:cNvPr id="141" name="Group 141"/>
            <p:cNvGrpSpPr/>
            <p:nvPr/>
          </p:nvGrpSpPr>
          <p:grpSpPr>
            <a:xfrm>
              <a:off x="7808119" y="3236119"/>
              <a:ext cx="100012" cy="100012"/>
              <a:chOff x="7808119" y="3236119"/>
              <a:chExt cx="100012" cy="100012"/>
            </a:xfrm>
          </p:grpSpPr>
          <p:sp>
            <p:nvSpPr>
              <p:cNvPr id="139" name="Freeform 139"/>
              <p:cNvSpPr/>
              <p:nvPr/>
            </p:nvSpPr>
            <p:spPr>
              <a:xfrm>
                <a:off x="7808119" y="32361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140" name="Freeform 140"/>
              <p:cNvSpPr/>
              <p:nvPr/>
            </p:nvSpPr>
            <p:spPr>
              <a:xfrm>
                <a:off x="7841456" y="3275012"/>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sp>
          <p:nvSpPr>
            <p:cNvPr id="142" name="TextBox 142"/>
            <p:cNvSpPr txBox="1"/>
            <p:nvPr/>
          </p:nvSpPr>
          <p:spPr>
            <a:xfrm>
              <a:off x="7996238" y="3247311"/>
              <a:ext cx="1988035"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支付类权益需真实交易，剔除退款 / 异常交易​</a:t>
              </a:r>
            </a:p>
          </p:txBody>
        </p:sp>
        <p:grpSp>
          <p:nvGrpSpPr>
            <p:cNvPr id="145" name="Group 145"/>
            <p:cNvGrpSpPr/>
            <p:nvPr/>
          </p:nvGrpSpPr>
          <p:grpSpPr>
            <a:xfrm>
              <a:off x="7808119" y="3483769"/>
              <a:ext cx="100012" cy="100012"/>
              <a:chOff x="7808119" y="3483769"/>
              <a:chExt cx="100012" cy="100012"/>
            </a:xfrm>
          </p:grpSpPr>
          <p:sp>
            <p:nvSpPr>
              <p:cNvPr id="143" name="Freeform 143"/>
              <p:cNvSpPr/>
              <p:nvPr/>
            </p:nvSpPr>
            <p:spPr>
              <a:xfrm>
                <a:off x="7808119" y="34837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144" name="Freeform 144"/>
              <p:cNvSpPr/>
              <p:nvPr/>
            </p:nvSpPr>
            <p:spPr>
              <a:xfrm>
                <a:off x="7841456" y="3522662"/>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sp>
          <p:nvSpPr>
            <p:cNvPr id="146" name="TextBox 146"/>
            <p:cNvSpPr txBox="1"/>
            <p:nvPr/>
          </p:nvSpPr>
          <p:spPr>
            <a:xfrm>
              <a:off x="7996238" y="3494961"/>
              <a:ext cx="2207870"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建立黑名单库，识别异常设备、批量注册、虚假交易</a:t>
              </a:r>
            </a:p>
          </p:txBody>
        </p:sp>
        <p:grpSp>
          <p:nvGrpSpPr>
            <p:cNvPr id="149" name="Group 149"/>
            <p:cNvGrpSpPr/>
            <p:nvPr/>
          </p:nvGrpSpPr>
          <p:grpSpPr>
            <a:xfrm>
              <a:off x="7808119" y="3731419"/>
              <a:ext cx="100012" cy="100012"/>
              <a:chOff x="7808119" y="3731419"/>
              <a:chExt cx="100012" cy="100012"/>
            </a:xfrm>
          </p:grpSpPr>
          <p:sp>
            <p:nvSpPr>
              <p:cNvPr id="147" name="Freeform 147"/>
              <p:cNvSpPr/>
              <p:nvPr/>
            </p:nvSpPr>
            <p:spPr>
              <a:xfrm>
                <a:off x="7808119" y="37314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A3422F"/>
                </a:solidFill>
              </a:ln>
            </p:spPr>
          </p:sp>
          <p:sp>
            <p:nvSpPr>
              <p:cNvPr id="148" name="Freeform 148"/>
              <p:cNvSpPr/>
              <p:nvPr/>
            </p:nvSpPr>
            <p:spPr>
              <a:xfrm>
                <a:off x="7841456" y="3770312"/>
                <a:ext cx="33337" cy="22225"/>
              </a:xfrm>
              <a:custGeom>
                <a:avLst/>
                <a:gdLst/>
                <a:ahLst/>
                <a:cxnLst/>
                <a:rect l="l" t="t" r="r" b="b"/>
                <a:pathLst>
                  <a:path w="33337" h="22225">
                    <a:moveTo>
                      <a:pt x="0" y="11112"/>
                    </a:moveTo>
                    <a:lnTo>
                      <a:pt x="11112" y="22225"/>
                    </a:lnTo>
                    <a:lnTo>
                      <a:pt x="33337" y="0"/>
                    </a:lnTo>
                  </a:path>
                </a:pathLst>
              </a:custGeom>
              <a:noFill/>
              <a:ln w="11112">
                <a:solidFill>
                  <a:srgbClr val="A3422F"/>
                </a:solidFill>
              </a:ln>
            </p:spPr>
          </p:sp>
        </p:grpSp>
        <p:sp>
          <p:nvSpPr>
            <p:cNvPr id="150" name="TextBox 150"/>
            <p:cNvSpPr txBox="1"/>
            <p:nvPr/>
          </p:nvSpPr>
          <p:spPr>
            <a:xfrm>
              <a:off x="7996238" y="3742611"/>
              <a:ext cx="1921129" cy="140494"/>
            </a:xfrm>
            <a:prstGeom prst="rect">
              <a:avLst/>
            </a:prstGeom>
            <a:noFill/>
            <a:ln>
              <a:noFill/>
            </a:ln>
          </p:spPr>
          <p:txBody>
            <a:bodyPr wrap="none" lIns="0" tIns="0" rIns="0" bIns="0" anchor="t" anchorCtr="0">
              <a:spAutoFit/>
            </a:bodyPr>
            <a:lstStyle/>
            <a:p>
              <a:pPr algn="l"/>
              <a:r>
                <a:rPr lang="zh-CN" sz="710" dirty="0">
                  <a:solidFill>
                    <a:srgbClr val="514340"/>
                  </a:solidFill>
                  <a:latin typeface="+mn-lt"/>
                  <a:ea typeface="+mn-ea"/>
                  <a:cs typeface="+mn-cs"/>
                </a:rPr>
                <a:t>活动期间实时监控，设置触发阈值并人工复核</a:t>
              </a:r>
            </a:p>
          </p:txBody>
        </p:sp>
      </p:grpSp>
      <p:grpSp>
        <p:nvGrpSpPr>
          <p:cNvPr id="223" name="benefit-table"/>
          <p:cNvGrpSpPr/>
          <p:nvPr/>
        </p:nvGrpSpPr>
        <p:grpSpPr>
          <a:xfrm>
            <a:off x="342900" y="4152900"/>
            <a:ext cx="11487150" cy="2486025"/>
            <a:chOff x="342900" y="4152900"/>
            <a:chExt cx="11487150" cy="2486025"/>
          </a:xfrm>
        </p:grpSpPr>
        <p:sp>
          <p:nvSpPr>
            <p:cNvPr id="152" name="Rectangle 152"/>
            <p:cNvSpPr/>
            <p:nvPr/>
          </p:nvSpPr>
          <p:spPr>
            <a:xfrm>
              <a:off x="342900" y="4152900"/>
              <a:ext cx="1524000" cy="228600"/>
            </a:xfrm>
            <a:prstGeom prst="roundRect">
              <a:avLst>
                <a:gd name="adj" fmla="val 20833"/>
              </a:avLst>
            </a:prstGeom>
            <a:solidFill>
              <a:srgbClr val="76200F"/>
            </a:solidFill>
            <a:ln>
              <a:noFill/>
            </a:ln>
          </p:spPr>
        </p:sp>
        <p:sp>
          <p:nvSpPr>
            <p:cNvPr id="153" name="TextBox 153"/>
            <p:cNvSpPr txBox="1"/>
            <p:nvPr/>
          </p:nvSpPr>
          <p:spPr>
            <a:xfrm>
              <a:off x="452438" y="4213622"/>
              <a:ext cx="1021867"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主要权益类型对比</a:t>
              </a:r>
            </a:p>
          </p:txBody>
        </p:sp>
        <p:sp>
          <p:nvSpPr>
            <p:cNvPr id="154" name="Rectangle 154"/>
            <p:cNvSpPr/>
            <p:nvPr/>
          </p:nvSpPr>
          <p:spPr>
            <a:xfrm>
              <a:off x="342900" y="4438650"/>
              <a:ext cx="11487150" cy="247650"/>
            </a:xfrm>
            <a:prstGeom prst="rect">
              <a:avLst/>
            </a:prstGeom>
            <a:solidFill>
              <a:srgbClr val="5D190B"/>
            </a:solidFill>
            <a:ln>
              <a:noFill/>
            </a:ln>
          </p:spPr>
        </p:sp>
        <p:sp>
          <p:nvSpPr>
            <p:cNvPr id="155" name="TextBox 155"/>
            <p:cNvSpPr txBox="1"/>
            <p:nvPr/>
          </p:nvSpPr>
          <p:spPr>
            <a:xfrm>
              <a:off x="925538" y="4525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权益类型</a:t>
              </a:r>
            </a:p>
          </p:txBody>
        </p:sp>
        <p:sp>
          <p:nvSpPr>
            <p:cNvPr id="156" name="TextBox 156"/>
            <p:cNvSpPr txBox="1"/>
            <p:nvPr/>
          </p:nvSpPr>
          <p:spPr>
            <a:xfrm>
              <a:off x="2640038" y="4525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权益示例</a:t>
              </a:r>
            </a:p>
          </p:txBody>
        </p:sp>
        <p:sp>
          <p:nvSpPr>
            <p:cNvPr id="157" name="TextBox 157"/>
            <p:cNvSpPr txBox="1"/>
            <p:nvPr/>
          </p:nvSpPr>
          <p:spPr>
            <a:xfrm>
              <a:off x="3909263" y="4525089"/>
              <a:ext cx="7539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单项成本（元）</a:t>
              </a:r>
            </a:p>
          </p:txBody>
        </p:sp>
        <p:sp>
          <p:nvSpPr>
            <p:cNvPr id="158" name="TextBox 158"/>
            <p:cNvSpPr txBox="1"/>
            <p:nvPr/>
          </p:nvSpPr>
          <p:spPr>
            <a:xfrm>
              <a:off x="5041163" y="4525089"/>
              <a:ext cx="96667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用户感知价值（元）</a:t>
              </a:r>
            </a:p>
          </p:txBody>
        </p:sp>
        <p:sp>
          <p:nvSpPr>
            <p:cNvPr id="159" name="TextBox 159"/>
            <p:cNvSpPr txBox="1"/>
            <p:nvPr/>
          </p:nvSpPr>
          <p:spPr>
            <a:xfrm>
              <a:off x="6640538" y="4525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结算方式</a:t>
              </a:r>
            </a:p>
          </p:txBody>
        </p:sp>
        <p:sp>
          <p:nvSpPr>
            <p:cNvPr id="160" name="TextBox 160"/>
            <p:cNvSpPr txBox="1"/>
            <p:nvPr/>
          </p:nvSpPr>
          <p:spPr>
            <a:xfrm>
              <a:off x="7993913" y="4525089"/>
              <a:ext cx="96667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适合激励的客户行为</a:t>
              </a:r>
            </a:p>
          </p:txBody>
        </p:sp>
        <p:sp>
          <p:nvSpPr>
            <p:cNvPr id="161" name="TextBox 161"/>
            <p:cNvSpPr txBox="1"/>
            <p:nvPr/>
          </p:nvSpPr>
          <p:spPr>
            <a:xfrm>
              <a:off x="10069538" y="4525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优势说明</a:t>
              </a:r>
            </a:p>
          </p:txBody>
        </p:sp>
        <p:grpSp>
          <p:nvGrpSpPr>
            <p:cNvPr id="222" name="benefit-rows"/>
            <p:cNvGrpSpPr/>
            <p:nvPr/>
          </p:nvGrpSpPr>
          <p:grpSpPr>
            <a:xfrm>
              <a:off x="342900" y="4686300"/>
              <a:ext cx="11487150" cy="1952625"/>
              <a:chOff x="342900" y="4686300"/>
              <a:chExt cx="11487150" cy="1952625"/>
            </a:xfrm>
          </p:grpSpPr>
          <p:sp>
            <p:nvSpPr>
              <p:cNvPr id="162" name="Rectangle 162"/>
              <p:cNvSpPr/>
              <p:nvPr/>
            </p:nvSpPr>
            <p:spPr>
              <a:xfrm>
                <a:off x="342900" y="4686300"/>
                <a:ext cx="11487150" cy="390525"/>
              </a:xfrm>
              <a:prstGeom prst="rect">
                <a:avLst/>
              </a:prstGeom>
              <a:solidFill>
                <a:srgbClr val="FFFFFF"/>
              </a:solidFill>
              <a:ln w="9525">
                <a:solidFill>
                  <a:srgbClr val="E2EEEB"/>
                </a:solidFill>
              </a:ln>
            </p:spPr>
          </p:sp>
          <p:grpSp>
            <p:nvGrpSpPr>
              <p:cNvPr id="167" name="Group 167"/>
              <p:cNvGrpSpPr/>
              <p:nvPr/>
            </p:nvGrpSpPr>
            <p:grpSpPr>
              <a:xfrm>
                <a:off x="513159" y="4849416"/>
                <a:ext cx="107156" cy="83344"/>
                <a:chOff x="513159" y="4849416"/>
                <a:chExt cx="107156" cy="83344"/>
              </a:xfrm>
            </p:grpSpPr>
            <p:sp>
              <p:nvSpPr>
                <p:cNvPr id="163" name="Freeform 163"/>
                <p:cNvSpPr/>
                <p:nvPr/>
              </p:nvSpPr>
              <p:spPr>
                <a:xfrm>
                  <a:off x="513159" y="4849416"/>
                  <a:ext cx="107156" cy="83344"/>
                </a:xfrm>
                <a:custGeom>
                  <a:avLst/>
                  <a:gdLst/>
                  <a:ahLst/>
                  <a:cxnLst/>
                  <a:rect l="l" t="t" r="r" b="b"/>
                  <a:pathLst>
                    <a:path w="107156" h="83344">
                      <a:moveTo>
                        <a:pt x="0" y="17859"/>
                      </a:moveTo>
                      <a:cubicBezTo>
                        <a:pt x="0" y="7996"/>
                        <a:pt x="7996" y="0"/>
                        <a:pt x="17859" y="0"/>
                      </a:cubicBezTo>
                      <a:lnTo>
                        <a:pt x="89297" y="0"/>
                      </a:lnTo>
                      <a:cubicBezTo>
                        <a:pt x="99160" y="0"/>
                        <a:pt x="107156" y="7996"/>
                        <a:pt x="107156" y="17859"/>
                      </a:cubicBezTo>
                      <a:lnTo>
                        <a:pt x="107156" y="65484"/>
                      </a:lnTo>
                      <a:cubicBezTo>
                        <a:pt x="107156" y="75348"/>
                        <a:pt x="99160" y="83344"/>
                        <a:pt x="89297" y="83344"/>
                      </a:cubicBezTo>
                      <a:lnTo>
                        <a:pt x="17859" y="83344"/>
                      </a:lnTo>
                      <a:cubicBezTo>
                        <a:pt x="7996" y="83344"/>
                        <a:pt x="0" y="75348"/>
                        <a:pt x="0" y="65484"/>
                      </a:cubicBezTo>
                      <a:lnTo>
                        <a:pt x="0" y="17859"/>
                      </a:lnTo>
                    </a:path>
                  </a:pathLst>
                </a:custGeom>
                <a:noFill/>
                <a:ln w="11906">
                  <a:solidFill>
                    <a:srgbClr val="76200F"/>
                  </a:solidFill>
                </a:ln>
              </p:spPr>
            </p:sp>
            <p:sp>
              <p:nvSpPr>
                <p:cNvPr id="164" name="Freeform 164"/>
                <p:cNvSpPr/>
                <p:nvPr/>
              </p:nvSpPr>
              <p:spPr>
                <a:xfrm>
                  <a:off x="513159" y="4879181"/>
                  <a:ext cx="107156" cy="9525"/>
                </a:xfrm>
                <a:custGeom>
                  <a:avLst/>
                  <a:gdLst/>
                  <a:ahLst/>
                  <a:cxnLst/>
                  <a:rect l="l" t="t" r="r" b="b"/>
                  <a:pathLst>
                    <a:path w="107156" h="9525">
                      <a:moveTo>
                        <a:pt x="0" y="0"/>
                      </a:moveTo>
                      <a:lnTo>
                        <a:pt x="107156" y="0"/>
                      </a:lnTo>
                    </a:path>
                  </a:pathLst>
                </a:custGeom>
                <a:noFill/>
                <a:ln w="11906">
                  <a:solidFill>
                    <a:srgbClr val="76200F"/>
                  </a:solidFill>
                </a:ln>
              </p:spPr>
            </p:sp>
            <p:sp>
              <p:nvSpPr>
                <p:cNvPr id="165" name="Freeform 165"/>
                <p:cNvSpPr/>
                <p:nvPr/>
              </p:nvSpPr>
              <p:spPr>
                <a:xfrm>
                  <a:off x="536972" y="4908947"/>
                  <a:ext cx="9525" cy="9525"/>
                </a:xfrm>
                <a:custGeom>
                  <a:avLst/>
                  <a:gdLst/>
                  <a:ahLst/>
                  <a:cxnLst/>
                  <a:rect l="l" t="t" r="r" b="b"/>
                  <a:pathLst>
                    <a:path w="9525" h="9525">
                      <a:moveTo>
                        <a:pt x="0" y="0"/>
                      </a:moveTo>
                      <a:lnTo>
                        <a:pt x="60" y="0"/>
                      </a:lnTo>
                    </a:path>
                  </a:pathLst>
                </a:custGeom>
                <a:noFill/>
                <a:ln w="11906">
                  <a:solidFill>
                    <a:srgbClr val="76200F"/>
                  </a:solidFill>
                </a:ln>
              </p:spPr>
            </p:sp>
            <p:sp>
              <p:nvSpPr>
                <p:cNvPr id="166" name="Freeform 166"/>
                <p:cNvSpPr/>
                <p:nvPr/>
              </p:nvSpPr>
              <p:spPr>
                <a:xfrm>
                  <a:off x="560784" y="4908947"/>
                  <a:ext cx="11906" cy="9525"/>
                </a:xfrm>
                <a:custGeom>
                  <a:avLst/>
                  <a:gdLst/>
                  <a:ahLst/>
                  <a:cxnLst/>
                  <a:rect l="l" t="t" r="r" b="b"/>
                  <a:pathLst>
                    <a:path w="11906" h="9525">
                      <a:moveTo>
                        <a:pt x="0" y="0"/>
                      </a:moveTo>
                      <a:lnTo>
                        <a:pt x="11906" y="0"/>
                      </a:lnTo>
                    </a:path>
                  </a:pathLst>
                </a:custGeom>
                <a:noFill/>
                <a:ln w="11906">
                  <a:solidFill>
                    <a:srgbClr val="76200F"/>
                  </a:solidFill>
                </a:ln>
              </p:spPr>
            </p:sp>
          </p:grpSp>
          <p:sp>
            <p:nvSpPr>
              <p:cNvPr id="168" name="TextBox 168"/>
              <p:cNvSpPr txBox="1"/>
              <p:nvPr/>
            </p:nvSpPr>
            <p:spPr>
              <a:xfrm>
                <a:off x="1101090" y="4843462"/>
                <a:ext cx="312420"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通用券</a:t>
                </a:r>
              </a:p>
            </p:txBody>
          </p:sp>
          <p:sp>
            <p:nvSpPr>
              <p:cNvPr id="169" name="TextBox 169"/>
              <p:cNvSpPr txBox="1"/>
              <p:nvPr/>
            </p:nvSpPr>
            <p:spPr>
              <a:xfrm>
                <a:off x="2487143" y="4847511"/>
                <a:ext cx="740714"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10元通用消费券​</a:t>
                </a:r>
              </a:p>
            </p:txBody>
          </p:sp>
          <p:sp>
            <p:nvSpPr>
              <p:cNvPr id="170" name="TextBox 170"/>
              <p:cNvSpPr txBox="1"/>
              <p:nvPr/>
            </p:nvSpPr>
            <p:spPr>
              <a:xfrm>
                <a:off x="4123780" y="4847511"/>
                <a:ext cx="324940"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8-10​​</a:t>
                </a:r>
              </a:p>
            </p:txBody>
          </p:sp>
          <p:sp>
            <p:nvSpPr>
              <p:cNvPr id="171" name="TextBox 171"/>
              <p:cNvSpPr txBox="1"/>
              <p:nvPr/>
            </p:nvSpPr>
            <p:spPr>
              <a:xfrm>
                <a:off x="5335746" y="4847511"/>
                <a:ext cx="377509"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10-15​​</a:t>
                </a:r>
              </a:p>
            </p:txBody>
          </p:sp>
          <p:sp>
            <p:nvSpPr>
              <p:cNvPr id="172" name="TextBox 172"/>
              <p:cNvSpPr txBox="1"/>
              <p:nvPr/>
            </p:nvSpPr>
            <p:spPr>
              <a:xfrm>
                <a:off x="6409105" y="4847511"/>
                <a:ext cx="897790"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券码发放，T+1结算​</a:t>
                </a:r>
              </a:p>
            </p:txBody>
          </p:sp>
          <p:sp>
            <p:nvSpPr>
              <p:cNvPr id="173" name="TextBox 173"/>
              <p:cNvSpPr txBox="1"/>
              <p:nvPr/>
            </p:nvSpPr>
            <p:spPr>
              <a:xfrm>
                <a:off x="8090167" y="4847511"/>
                <a:ext cx="774167"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到场、任务、裂变</a:t>
                </a:r>
              </a:p>
            </p:txBody>
          </p:sp>
          <p:sp>
            <p:nvSpPr>
              <p:cNvPr id="174" name="TextBox 174"/>
              <p:cNvSpPr txBox="1"/>
              <p:nvPr/>
            </p:nvSpPr>
            <p:spPr>
              <a:xfrm>
                <a:off x="9756546" y="4847511"/>
                <a:ext cx="1060907"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适用范围广、拉新效果好</a:t>
                </a:r>
              </a:p>
            </p:txBody>
          </p:sp>
          <p:sp>
            <p:nvSpPr>
              <p:cNvPr id="175" name="Rectangle 175"/>
              <p:cNvSpPr/>
              <p:nvPr/>
            </p:nvSpPr>
            <p:spPr>
              <a:xfrm>
                <a:off x="342900" y="5076825"/>
                <a:ext cx="11487150" cy="390525"/>
              </a:xfrm>
              <a:prstGeom prst="rect">
                <a:avLst/>
              </a:prstGeom>
              <a:solidFill>
                <a:srgbClr val="EFF8F6"/>
              </a:solidFill>
              <a:ln w="9525">
                <a:solidFill>
                  <a:srgbClr val="E2EEEB"/>
                </a:solidFill>
              </a:ln>
            </p:spPr>
          </p:sp>
          <p:grpSp>
            <p:nvGrpSpPr>
              <p:cNvPr id="180" name="Group 180"/>
              <p:cNvGrpSpPr/>
              <p:nvPr/>
            </p:nvGrpSpPr>
            <p:grpSpPr>
              <a:xfrm>
                <a:off x="519112" y="5228034"/>
                <a:ext cx="95251" cy="107156"/>
                <a:chOff x="519112" y="5228034"/>
                <a:chExt cx="95251" cy="107156"/>
              </a:xfrm>
            </p:grpSpPr>
            <p:sp>
              <p:nvSpPr>
                <p:cNvPr id="176" name="Freeform 176"/>
                <p:cNvSpPr/>
                <p:nvPr/>
              </p:nvSpPr>
              <p:spPr>
                <a:xfrm>
                  <a:off x="519112" y="5311378"/>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sp>
              <p:nvSpPr>
                <p:cNvPr id="177" name="Freeform 177"/>
                <p:cNvSpPr/>
                <p:nvPr/>
              </p:nvSpPr>
              <p:spPr>
                <a:xfrm>
                  <a:off x="584597" y="5311378"/>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sp>
              <p:nvSpPr>
                <p:cNvPr id="178" name="Freeform 178"/>
                <p:cNvSpPr/>
                <p:nvPr/>
              </p:nvSpPr>
              <p:spPr>
                <a:xfrm>
                  <a:off x="519112" y="5228034"/>
                  <a:ext cx="77391" cy="83344"/>
                </a:xfrm>
                <a:custGeom>
                  <a:avLst/>
                  <a:gdLst/>
                  <a:ahLst/>
                  <a:cxnLst/>
                  <a:rect l="l" t="t" r="r" b="b"/>
                  <a:pathLst>
                    <a:path w="77391" h="83344">
                      <a:moveTo>
                        <a:pt x="77391" y="83344"/>
                      </a:moveTo>
                      <a:lnTo>
                        <a:pt x="11906" y="83344"/>
                      </a:lnTo>
                      <a:lnTo>
                        <a:pt x="11906" y="0"/>
                      </a:lnTo>
                      <a:lnTo>
                        <a:pt x="0" y="0"/>
                      </a:lnTo>
                    </a:path>
                  </a:pathLst>
                </a:custGeom>
                <a:noFill/>
                <a:ln w="11906">
                  <a:solidFill>
                    <a:srgbClr val="76200F"/>
                  </a:solidFill>
                </a:ln>
              </p:spPr>
            </p:sp>
            <p:sp>
              <p:nvSpPr>
                <p:cNvPr id="179" name="Freeform 179"/>
                <p:cNvSpPr/>
                <p:nvPr/>
              </p:nvSpPr>
              <p:spPr>
                <a:xfrm>
                  <a:off x="531019" y="5239941"/>
                  <a:ext cx="83344" cy="47625"/>
                </a:xfrm>
                <a:custGeom>
                  <a:avLst/>
                  <a:gdLst/>
                  <a:ahLst/>
                  <a:cxnLst/>
                  <a:rect l="l" t="t" r="r" b="b"/>
                  <a:pathLst>
                    <a:path w="83344" h="47625">
                      <a:moveTo>
                        <a:pt x="0" y="0"/>
                      </a:moveTo>
                      <a:lnTo>
                        <a:pt x="83344" y="5953"/>
                      </a:lnTo>
                      <a:lnTo>
                        <a:pt x="77391" y="47625"/>
                      </a:lnTo>
                      <a:lnTo>
                        <a:pt x="0" y="47625"/>
                      </a:lnTo>
                    </a:path>
                  </a:pathLst>
                </a:custGeom>
                <a:noFill/>
                <a:ln w="11906">
                  <a:solidFill>
                    <a:srgbClr val="76200F"/>
                  </a:solidFill>
                </a:ln>
              </p:spPr>
            </p:sp>
          </p:grpSp>
          <p:sp>
            <p:nvSpPr>
              <p:cNvPr id="181" name="TextBox 181"/>
              <p:cNvSpPr txBox="1"/>
              <p:nvPr/>
            </p:nvSpPr>
            <p:spPr>
              <a:xfrm>
                <a:off x="1101090" y="5233988"/>
                <a:ext cx="312420"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商户券</a:t>
                </a:r>
              </a:p>
            </p:txBody>
          </p:sp>
          <p:sp>
            <p:nvSpPr>
              <p:cNvPr id="182" name="TextBox 182"/>
              <p:cNvSpPr txBox="1"/>
              <p:nvPr/>
            </p:nvSpPr>
            <p:spPr>
              <a:xfrm>
                <a:off x="2405900" y="5238036"/>
                <a:ext cx="903200"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20元咖啡 / 餐饮券​​</a:t>
                </a:r>
              </a:p>
            </p:txBody>
          </p:sp>
          <p:sp>
            <p:nvSpPr>
              <p:cNvPr id="183" name="TextBox 183"/>
              <p:cNvSpPr txBox="1"/>
              <p:nvPr/>
            </p:nvSpPr>
            <p:spPr>
              <a:xfrm>
                <a:off x="4097496" y="5238036"/>
                <a:ext cx="377509"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15-20​​</a:t>
                </a:r>
              </a:p>
            </p:txBody>
          </p:sp>
          <p:sp>
            <p:nvSpPr>
              <p:cNvPr id="184" name="TextBox 184"/>
              <p:cNvSpPr txBox="1"/>
              <p:nvPr/>
            </p:nvSpPr>
            <p:spPr>
              <a:xfrm>
                <a:off x="5335746" y="5238036"/>
                <a:ext cx="377509"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25-30​​</a:t>
                </a:r>
              </a:p>
            </p:txBody>
          </p:sp>
          <p:sp>
            <p:nvSpPr>
              <p:cNvPr id="185" name="TextBox 185"/>
              <p:cNvSpPr txBox="1"/>
              <p:nvPr/>
            </p:nvSpPr>
            <p:spPr>
              <a:xfrm>
                <a:off x="6327546" y="5238036"/>
                <a:ext cx="1060907"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与商户分账，按核销结算</a:t>
                </a:r>
              </a:p>
            </p:txBody>
          </p:sp>
          <p:sp>
            <p:nvSpPr>
              <p:cNvPr id="186" name="TextBox 186"/>
              <p:cNvSpPr txBox="1"/>
              <p:nvPr/>
            </p:nvSpPr>
            <p:spPr>
              <a:xfrm>
                <a:off x="8233537" y="5238036"/>
                <a:ext cx="487426"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支付、首刷</a:t>
                </a:r>
              </a:p>
            </p:txBody>
          </p:sp>
          <p:sp>
            <p:nvSpPr>
              <p:cNvPr id="187" name="TextBox 187"/>
              <p:cNvSpPr txBox="1"/>
              <p:nvPr/>
            </p:nvSpPr>
            <p:spPr>
              <a:xfrm>
                <a:off x="9660966" y="5238036"/>
                <a:ext cx="1252068"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场景契合度高，提升支付转化</a:t>
                </a:r>
              </a:p>
            </p:txBody>
          </p:sp>
          <p:sp>
            <p:nvSpPr>
              <p:cNvPr id="188" name="Rectangle 188"/>
              <p:cNvSpPr/>
              <p:nvPr/>
            </p:nvSpPr>
            <p:spPr>
              <a:xfrm>
                <a:off x="342900" y="5467350"/>
                <a:ext cx="11487150" cy="390525"/>
              </a:xfrm>
              <a:prstGeom prst="rect">
                <a:avLst/>
              </a:prstGeom>
              <a:solidFill>
                <a:srgbClr val="FFFFFF"/>
              </a:solidFill>
              <a:ln w="9525">
                <a:solidFill>
                  <a:srgbClr val="E2EEEB"/>
                </a:solidFill>
              </a:ln>
            </p:spPr>
          </p:sp>
          <p:grpSp>
            <p:nvGrpSpPr>
              <p:cNvPr id="194" name="Group 194"/>
              <p:cNvGrpSpPr/>
              <p:nvPr/>
            </p:nvGrpSpPr>
            <p:grpSpPr>
              <a:xfrm>
                <a:off x="513159" y="5617762"/>
                <a:ext cx="107157" cy="107954"/>
                <a:chOff x="513159" y="5617762"/>
                <a:chExt cx="107157" cy="107954"/>
              </a:xfrm>
            </p:grpSpPr>
            <p:sp>
              <p:nvSpPr>
                <p:cNvPr id="189" name="Freeform 189"/>
                <p:cNvSpPr/>
                <p:nvPr/>
              </p:nvSpPr>
              <p:spPr>
                <a:xfrm>
                  <a:off x="548878" y="5666184"/>
                  <a:ext cx="71438" cy="35719"/>
                </a:xfrm>
                <a:custGeom>
                  <a:avLst/>
                  <a:gdLst/>
                  <a:ahLst/>
                  <a:cxnLst/>
                  <a:rect l="l" t="t" r="r" b="b"/>
                  <a:pathLst>
                    <a:path w="71438" h="35719">
                      <a:moveTo>
                        <a:pt x="0" y="17859"/>
                      </a:moveTo>
                      <a:cubicBezTo>
                        <a:pt x="0" y="27724"/>
                        <a:pt x="15990" y="35719"/>
                        <a:pt x="35719" y="35719"/>
                      </a:cubicBezTo>
                      <a:cubicBezTo>
                        <a:pt x="55447" y="35719"/>
                        <a:pt x="71438" y="27724"/>
                        <a:pt x="71438" y="17859"/>
                      </a:cubicBezTo>
                      <a:cubicBezTo>
                        <a:pt x="71438" y="7995"/>
                        <a:pt x="55447" y="0"/>
                        <a:pt x="35719" y="0"/>
                      </a:cubicBezTo>
                      <a:cubicBezTo>
                        <a:pt x="15990" y="0"/>
                        <a:pt x="0" y="7995"/>
                        <a:pt x="0" y="17859"/>
                      </a:cubicBezTo>
                    </a:path>
                  </a:pathLst>
                </a:custGeom>
                <a:noFill/>
                <a:ln w="11906">
                  <a:solidFill>
                    <a:srgbClr val="76200F"/>
                  </a:solidFill>
                </a:ln>
              </p:spPr>
            </p:sp>
            <p:sp>
              <p:nvSpPr>
                <p:cNvPr id="190" name="Freeform 190"/>
                <p:cNvSpPr/>
                <p:nvPr/>
              </p:nvSpPr>
              <p:spPr>
                <a:xfrm>
                  <a:off x="548878" y="5684044"/>
                  <a:ext cx="71438" cy="41672"/>
                </a:xfrm>
                <a:custGeom>
                  <a:avLst/>
                  <a:gdLst/>
                  <a:ahLst/>
                  <a:cxnLst/>
                  <a:rect l="l" t="t" r="r" b="b"/>
                  <a:pathLst>
                    <a:path w="71438" h="41672">
                      <a:moveTo>
                        <a:pt x="0" y="0"/>
                      </a:moveTo>
                      <a:lnTo>
                        <a:pt x="0" y="23812"/>
                      </a:lnTo>
                      <a:cubicBezTo>
                        <a:pt x="0" y="33671"/>
                        <a:pt x="15990" y="41672"/>
                        <a:pt x="35719" y="41672"/>
                      </a:cubicBezTo>
                      <a:cubicBezTo>
                        <a:pt x="55447" y="41672"/>
                        <a:pt x="71438" y="33671"/>
                        <a:pt x="71438" y="23812"/>
                      </a:cubicBezTo>
                      <a:lnTo>
                        <a:pt x="71438" y="0"/>
                      </a:lnTo>
                    </a:path>
                  </a:pathLst>
                </a:custGeom>
                <a:noFill/>
                <a:ln w="11906">
                  <a:solidFill>
                    <a:srgbClr val="76200F"/>
                  </a:solidFill>
                </a:ln>
              </p:spPr>
            </p:sp>
            <p:sp>
              <p:nvSpPr>
                <p:cNvPr id="191" name="Freeform 191"/>
                <p:cNvSpPr/>
                <p:nvPr/>
              </p:nvSpPr>
              <p:spPr>
                <a:xfrm>
                  <a:off x="513159" y="5617762"/>
                  <a:ext cx="71438" cy="37314"/>
                </a:xfrm>
                <a:custGeom>
                  <a:avLst/>
                  <a:gdLst/>
                  <a:ahLst/>
                  <a:cxnLst/>
                  <a:rect l="l" t="t" r="r" b="b"/>
                  <a:pathLst>
                    <a:path w="71438" h="37314">
                      <a:moveTo>
                        <a:pt x="0" y="18657"/>
                      </a:moveTo>
                      <a:cubicBezTo>
                        <a:pt x="0" y="25039"/>
                        <a:pt x="6810" y="30932"/>
                        <a:pt x="17859" y="34123"/>
                      </a:cubicBezTo>
                      <a:cubicBezTo>
                        <a:pt x="28908" y="37314"/>
                        <a:pt x="42529" y="37314"/>
                        <a:pt x="53578" y="34123"/>
                      </a:cubicBezTo>
                      <a:cubicBezTo>
                        <a:pt x="64627" y="30932"/>
                        <a:pt x="71438" y="25039"/>
                        <a:pt x="71438" y="18657"/>
                      </a:cubicBezTo>
                      <a:cubicBezTo>
                        <a:pt x="71438" y="12275"/>
                        <a:pt x="64627" y="6382"/>
                        <a:pt x="53578" y="3191"/>
                      </a:cubicBezTo>
                      <a:cubicBezTo>
                        <a:pt x="42529" y="0"/>
                        <a:pt x="28908" y="0"/>
                        <a:pt x="17859" y="3191"/>
                      </a:cubicBezTo>
                      <a:cubicBezTo>
                        <a:pt x="6810" y="6382"/>
                        <a:pt x="0" y="12275"/>
                        <a:pt x="0" y="18657"/>
                      </a:cubicBezTo>
                    </a:path>
                  </a:pathLst>
                </a:custGeom>
                <a:noFill/>
                <a:ln w="11906">
                  <a:solidFill>
                    <a:srgbClr val="76200F"/>
                  </a:solidFill>
                </a:ln>
              </p:spPr>
            </p:sp>
            <p:sp>
              <p:nvSpPr>
                <p:cNvPr id="192" name="Freeform 192"/>
                <p:cNvSpPr/>
                <p:nvPr/>
              </p:nvSpPr>
              <p:spPr>
                <a:xfrm>
                  <a:off x="513159" y="5636419"/>
                  <a:ext cx="11906" cy="71438"/>
                </a:xfrm>
                <a:custGeom>
                  <a:avLst/>
                  <a:gdLst/>
                  <a:ahLst/>
                  <a:cxnLst/>
                  <a:rect l="l" t="t" r="r" b="b"/>
                  <a:pathLst>
                    <a:path w="11906" h="71438">
                      <a:moveTo>
                        <a:pt x="0" y="0"/>
                      </a:moveTo>
                      <a:lnTo>
                        <a:pt x="0" y="59531"/>
                      </a:lnTo>
                      <a:cubicBezTo>
                        <a:pt x="0" y="64818"/>
                        <a:pt x="4596" y="68163"/>
                        <a:pt x="11906" y="71438"/>
                      </a:cubicBezTo>
                    </a:path>
                  </a:pathLst>
                </a:custGeom>
                <a:noFill/>
                <a:ln w="11906">
                  <a:solidFill>
                    <a:srgbClr val="76200F"/>
                  </a:solidFill>
                </a:ln>
              </p:spPr>
            </p:sp>
            <p:sp>
              <p:nvSpPr>
                <p:cNvPr id="193" name="Freeform 193"/>
                <p:cNvSpPr/>
                <p:nvPr/>
              </p:nvSpPr>
              <p:spPr>
                <a:xfrm>
                  <a:off x="513159" y="5666184"/>
                  <a:ext cx="11906" cy="11906"/>
                </a:xfrm>
                <a:custGeom>
                  <a:avLst/>
                  <a:gdLst/>
                  <a:ahLst/>
                  <a:cxnLst/>
                  <a:rect l="l" t="t" r="r" b="b"/>
                  <a:pathLst>
                    <a:path w="11906" h="11906">
                      <a:moveTo>
                        <a:pt x="0" y="0"/>
                      </a:moveTo>
                      <a:cubicBezTo>
                        <a:pt x="0" y="5286"/>
                        <a:pt x="4596" y="8632"/>
                        <a:pt x="11906" y="11906"/>
                      </a:cubicBezTo>
                    </a:path>
                  </a:pathLst>
                </a:custGeom>
                <a:noFill/>
                <a:ln w="11906">
                  <a:solidFill>
                    <a:srgbClr val="76200F"/>
                  </a:solidFill>
                </a:ln>
              </p:spPr>
            </p:sp>
          </p:grpSp>
          <p:sp>
            <p:nvSpPr>
              <p:cNvPr id="195" name="TextBox 195"/>
              <p:cNvSpPr txBox="1"/>
              <p:nvPr/>
            </p:nvSpPr>
            <p:spPr>
              <a:xfrm>
                <a:off x="1151572" y="5624512"/>
                <a:ext cx="21145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积分</a:t>
                </a:r>
              </a:p>
            </p:txBody>
          </p:sp>
          <p:sp>
            <p:nvSpPr>
              <p:cNvPr id="196" name="TextBox 196"/>
              <p:cNvSpPr txBox="1"/>
              <p:nvPr/>
            </p:nvSpPr>
            <p:spPr>
              <a:xfrm>
                <a:off x="2408290" y="5628561"/>
                <a:ext cx="898421"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500积分（约5元）​​</a:t>
                </a:r>
              </a:p>
            </p:txBody>
          </p:sp>
          <p:sp>
            <p:nvSpPr>
              <p:cNvPr id="197" name="TextBox 197"/>
              <p:cNvSpPr txBox="1"/>
              <p:nvPr/>
            </p:nvSpPr>
            <p:spPr>
              <a:xfrm>
                <a:off x="4176349" y="5628561"/>
                <a:ext cx="219801"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4-6​</a:t>
                </a:r>
              </a:p>
            </p:txBody>
          </p:sp>
          <p:sp>
            <p:nvSpPr>
              <p:cNvPr id="198" name="TextBox 198"/>
              <p:cNvSpPr txBox="1"/>
              <p:nvPr/>
            </p:nvSpPr>
            <p:spPr>
              <a:xfrm>
                <a:off x="5362030" y="5628561"/>
                <a:ext cx="324940"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8-10​​</a:t>
                </a:r>
              </a:p>
            </p:txBody>
          </p:sp>
          <p:sp>
            <p:nvSpPr>
              <p:cNvPr id="199" name="TextBox 199"/>
              <p:cNvSpPr txBox="1"/>
              <p:nvPr/>
            </p:nvSpPr>
            <p:spPr>
              <a:xfrm>
                <a:off x="6184176" y="5628561"/>
                <a:ext cx="1347648"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系统自动发放，按积分成本核算</a:t>
                </a:r>
              </a:p>
            </p:txBody>
          </p:sp>
          <p:sp>
            <p:nvSpPr>
              <p:cNvPr id="200" name="TextBox 200"/>
              <p:cNvSpPr txBox="1"/>
              <p:nvPr/>
            </p:nvSpPr>
            <p:spPr>
              <a:xfrm>
                <a:off x="8090167" y="5628561"/>
                <a:ext cx="774167"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任务、签到、复购</a:t>
                </a:r>
              </a:p>
            </p:txBody>
          </p:sp>
          <p:sp>
            <p:nvSpPr>
              <p:cNvPr id="201" name="TextBox 201"/>
              <p:cNvSpPr txBox="1"/>
              <p:nvPr/>
            </p:nvSpPr>
            <p:spPr>
              <a:xfrm>
                <a:off x="9565386" y="5628561"/>
                <a:ext cx="1443228"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成本可控、灵活组合、适用场景广</a:t>
                </a:r>
              </a:p>
            </p:txBody>
          </p:sp>
          <p:sp>
            <p:nvSpPr>
              <p:cNvPr id="202" name="Rectangle 202"/>
              <p:cNvSpPr/>
              <p:nvPr/>
            </p:nvSpPr>
            <p:spPr>
              <a:xfrm>
                <a:off x="342900" y="5857875"/>
                <a:ext cx="11487150" cy="390525"/>
              </a:xfrm>
              <a:prstGeom prst="rect">
                <a:avLst/>
              </a:prstGeom>
              <a:solidFill>
                <a:srgbClr val="EFF8F6"/>
              </a:solidFill>
              <a:ln w="9525">
                <a:solidFill>
                  <a:srgbClr val="E2EEEB"/>
                </a:solidFill>
              </a:ln>
            </p:spPr>
          </p:sp>
          <p:grpSp>
            <p:nvGrpSpPr>
              <p:cNvPr id="205" name="Group 205"/>
              <p:cNvGrpSpPr/>
              <p:nvPr/>
            </p:nvGrpSpPr>
            <p:grpSpPr>
              <a:xfrm>
                <a:off x="513159" y="6020991"/>
                <a:ext cx="107156" cy="87571"/>
                <a:chOff x="513159" y="6020991"/>
                <a:chExt cx="107156" cy="87571"/>
              </a:xfrm>
            </p:grpSpPr>
            <p:sp>
              <p:nvSpPr>
                <p:cNvPr id="203" name="Freeform 203"/>
                <p:cNvSpPr/>
                <p:nvPr/>
              </p:nvSpPr>
              <p:spPr>
                <a:xfrm>
                  <a:off x="513159" y="6020991"/>
                  <a:ext cx="107156" cy="87571"/>
                </a:xfrm>
                <a:custGeom>
                  <a:avLst/>
                  <a:gdLst/>
                  <a:ahLst/>
                  <a:cxnLst/>
                  <a:rect l="l" t="t" r="r" b="b"/>
                  <a:pathLst>
                    <a:path w="107156" h="87571">
                      <a:moveTo>
                        <a:pt x="17859" y="0"/>
                      </a:moveTo>
                      <a:lnTo>
                        <a:pt x="89297" y="0"/>
                      </a:lnTo>
                      <a:lnTo>
                        <a:pt x="107156" y="29766"/>
                      </a:lnTo>
                      <a:lnTo>
                        <a:pt x="56555" y="86320"/>
                      </a:lnTo>
                      <a:cubicBezTo>
                        <a:pt x="55771" y="87120"/>
                        <a:pt x="54698" y="87571"/>
                        <a:pt x="53578" y="87571"/>
                      </a:cubicBezTo>
                      <a:cubicBezTo>
                        <a:pt x="52458" y="87571"/>
                        <a:pt x="51385" y="87120"/>
                        <a:pt x="50602" y="86320"/>
                      </a:cubicBezTo>
                      <a:lnTo>
                        <a:pt x="0" y="29766"/>
                      </a:lnTo>
                      <a:lnTo>
                        <a:pt x="17859" y="0"/>
                      </a:lnTo>
                    </a:path>
                  </a:pathLst>
                </a:custGeom>
                <a:noFill/>
                <a:ln w="11906">
                  <a:solidFill>
                    <a:srgbClr val="76200F"/>
                  </a:solidFill>
                </a:ln>
              </p:spPr>
            </p:sp>
            <p:sp>
              <p:nvSpPr>
                <p:cNvPr id="204" name="Freeform 204"/>
                <p:cNvSpPr/>
                <p:nvPr/>
              </p:nvSpPr>
              <p:spPr>
                <a:xfrm>
                  <a:off x="542925" y="6043612"/>
                  <a:ext cx="11906" cy="19050"/>
                </a:xfrm>
                <a:custGeom>
                  <a:avLst/>
                  <a:gdLst/>
                  <a:ahLst/>
                  <a:cxnLst/>
                  <a:rect l="l" t="t" r="r" b="b"/>
                  <a:pathLst>
                    <a:path w="11906" h="19050">
                      <a:moveTo>
                        <a:pt x="11906" y="19050"/>
                      </a:moveTo>
                      <a:lnTo>
                        <a:pt x="0" y="5953"/>
                      </a:lnTo>
                      <a:lnTo>
                        <a:pt x="3572" y="0"/>
                      </a:lnTo>
                    </a:path>
                  </a:pathLst>
                </a:custGeom>
                <a:noFill/>
                <a:ln w="11906">
                  <a:solidFill>
                    <a:srgbClr val="76200F"/>
                  </a:solidFill>
                </a:ln>
              </p:spPr>
            </p:sp>
          </p:grpSp>
          <p:sp>
            <p:nvSpPr>
              <p:cNvPr id="206" name="TextBox 206"/>
              <p:cNvSpPr txBox="1"/>
              <p:nvPr/>
            </p:nvSpPr>
            <p:spPr>
              <a:xfrm>
                <a:off x="1050608" y="6015038"/>
                <a:ext cx="41338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体验权益</a:t>
                </a:r>
              </a:p>
            </p:txBody>
          </p:sp>
          <p:sp>
            <p:nvSpPr>
              <p:cNvPr id="207" name="TextBox 207"/>
              <p:cNvSpPr txBox="1"/>
              <p:nvPr/>
            </p:nvSpPr>
            <p:spPr>
              <a:xfrm>
                <a:off x="2341383" y="6019086"/>
                <a:ext cx="1032233"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机场贵宾厅 / 亲子活动​</a:t>
                </a:r>
              </a:p>
            </p:txBody>
          </p:sp>
          <p:sp>
            <p:nvSpPr>
              <p:cNvPr id="208" name="TextBox 208"/>
              <p:cNvSpPr txBox="1"/>
              <p:nvPr/>
            </p:nvSpPr>
            <p:spPr>
              <a:xfrm>
                <a:off x="4097496" y="6019086"/>
                <a:ext cx="377509"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30-80​​</a:t>
                </a:r>
              </a:p>
            </p:txBody>
          </p:sp>
          <p:sp>
            <p:nvSpPr>
              <p:cNvPr id="209" name="TextBox 209"/>
              <p:cNvSpPr txBox="1"/>
              <p:nvPr/>
            </p:nvSpPr>
            <p:spPr>
              <a:xfrm>
                <a:off x="5309461" y="6019086"/>
                <a:ext cx="430078"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50-120​​</a:t>
                </a:r>
              </a:p>
            </p:txBody>
          </p:sp>
          <p:sp>
            <p:nvSpPr>
              <p:cNvPr id="210" name="TextBox 210"/>
              <p:cNvSpPr txBox="1"/>
              <p:nvPr/>
            </p:nvSpPr>
            <p:spPr>
              <a:xfrm>
                <a:off x="6375336" y="6019086"/>
                <a:ext cx="965327"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供应商对接，按次结算</a:t>
                </a:r>
              </a:p>
            </p:txBody>
          </p:sp>
          <p:sp>
            <p:nvSpPr>
              <p:cNvPr id="211" name="TextBox 211"/>
              <p:cNvSpPr txBox="1"/>
              <p:nvPr/>
            </p:nvSpPr>
            <p:spPr>
              <a:xfrm>
                <a:off x="8233537" y="6019086"/>
                <a:ext cx="487426"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转化、复购</a:t>
                </a:r>
              </a:p>
            </p:txBody>
          </p:sp>
          <p:sp>
            <p:nvSpPr>
              <p:cNvPr id="212" name="TextBox 212"/>
              <p:cNvSpPr txBox="1"/>
              <p:nvPr/>
            </p:nvSpPr>
            <p:spPr>
              <a:xfrm>
                <a:off x="9517596" y="6019086"/>
                <a:ext cx="1538808"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提升品牌形象，增强高价值客户粘性</a:t>
                </a:r>
              </a:p>
            </p:txBody>
          </p:sp>
          <p:sp>
            <p:nvSpPr>
              <p:cNvPr id="213" name="Rectangle 213"/>
              <p:cNvSpPr/>
              <p:nvPr/>
            </p:nvSpPr>
            <p:spPr>
              <a:xfrm>
                <a:off x="342900" y="6248400"/>
                <a:ext cx="11487150" cy="390525"/>
              </a:xfrm>
              <a:prstGeom prst="rect">
                <a:avLst/>
              </a:prstGeom>
              <a:solidFill>
                <a:srgbClr val="FFFFFF"/>
              </a:solidFill>
              <a:ln w="9525">
                <a:solidFill>
                  <a:srgbClr val="E2EEEB"/>
                </a:solidFill>
              </a:ln>
            </p:spPr>
          </p:sp>
          <p:sp>
            <p:nvSpPr>
              <p:cNvPr id="214" name="Freeform 214"/>
              <p:cNvSpPr/>
              <p:nvPr/>
            </p:nvSpPr>
            <p:spPr>
              <a:xfrm>
                <a:off x="513159" y="6417469"/>
                <a:ext cx="107156" cy="71438"/>
              </a:xfrm>
              <a:custGeom>
                <a:avLst/>
                <a:gdLst/>
                <a:ahLst/>
                <a:cxnLst/>
                <a:rect l="l" t="t" r="r" b="b"/>
                <a:pathLst>
                  <a:path w="107156" h="71438">
                    <a:moveTo>
                      <a:pt x="53578" y="0"/>
                    </a:moveTo>
                    <a:lnTo>
                      <a:pt x="77391" y="35719"/>
                    </a:lnTo>
                    <a:lnTo>
                      <a:pt x="107156" y="11906"/>
                    </a:lnTo>
                    <a:lnTo>
                      <a:pt x="95250" y="71438"/>
                    </a:lnTo>
                    <a:lnTo>
                      <a:pt x="11906" y="71438"/>
                    </a:lnTo>
                    <a:lnTo>
                      <a:pt x="0" y="11906"/>
                    </a:lnTo>
                    <a:lnTo>
                      <a:pt x="29766" y="35719"/>
                    </a:lnTo>
                    <a:lnTo>
                      <a:pt x="53578" y="0"/>
                    </a:lnTo>
                  </a:path>
                </a:pathLst>
              </a:custGeom>
              <a:noFill/>
              <a:ln w="11906">
                <a:solidFill>
                  <a:srgbClr val="76200F"/>
                </a:solidFill>
              </a:ln>
            </p:spPr>
          </p:sp>
          <p:sp>
            <p:nvSpPr>
              <p:cNvPr id="215" name="TextBox 215"/>
              <p:cNvSpPr txBox="1"/>
              <p:nvPr/>
            </p:nvSpPr>
            <p:spPr>
              <a:xfrm>
                <a:off x="949642" y="6405562"/>
                <a:ext cx="615315" cy="147638"/>
              </a:xfrm>
              <a:prstGeom prst="rect">
                <a:avLst/>
              </a:prstGeom>
              <a:noFill/>
              <a:ln>
                <a:noFill/>
              </a:ln>
            </p:spPr>
            <p:txBody>
              <a:bodyPr wrap="none" lIns="0" tIns="0" rIns="0" bIns="0" anchor="t" anchorCtr="0">
                <a:spAutoFit/>
              </a:bodyPr>
              <a:lstStyle/>
              <a:p>
                <a:pPr algn="ctr"/>
                <a:r>
                  <a:rPr lang="zh-CN" sz="750" b="1" dirty="0">
                    <a:solidFill>
                      <a:srgbClr val="331712"/>
                    </a:solidFill>
                    <a:latin typeface="+mn-lt"/>
                    <a:ea typeface="+mn-ea"/>
                    <a:cs typeface="+mn-cs"/>
                  </a:rPr>
                  <a:t>金融服务特权</a:t>
                </a:r>
              </a:p>
            </p:txBody>
          </p:sp>
          <p:sp>
            <p:nvSpPr>
              <p:cNvPr id="216" name="TextBox 216"/>
              <p:cNvSpPr txBox="1"/>
              <p:nvPr/>
            </p:nvSpPr>
            <p:spPr>
              <a:xfrm>
                <a:off x="2207571" y="6409611"/>
                <a:ext cx="1299858"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理财加息0.5%或手续费减免​​</a:t>
                </a:r>
              </a:p>
            </p:txBody>
          </p:sp>
          <p:sp>
            <p:nvSpPr>
              <p:cNvPr id="217" name="TextBox 217"/>
              <p:cNvSpPr txBox="1"/>
              <p:nvPr/>
            </p:nvSpPr>
            <p:spPr>
              <a:xfrm>
                <a:off x="4071211" y="6409611"/>
                <a:ext cx="430078"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50-100​​</a:t>
                </a:r>
              </a:p>
            </p:txBody>
          </p:sp>
          <p:sp>
            <p:nvSpPr>
              <p:cNvPr id="218" name="TextBox 218"/>
              <p:cNvSpPr txBox="1"/>
              <p:nvPr/>
            </p:nvSpPr>
            <p:spPr>
              <a:xfrm>
                <a:off x="5283177" y="6409611"/>
                <a:ext cx="482647"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100-300​​</a:t>
                </a:r>
              </a:p>
            </p:txBody>
          </p:sp>
          <p:sp>
            <p:nvSpPr>
              <p:cNvPr id="219" name="TextBox 219"/>
              <p:cNvSpPr txBox="1"/>
              <p:nvPr/>
            </p:nvSpPr>
            <p:spPr>
              <a:xfrm>
                <a:off x="6423127" y="6409611"/>
                <a:ext cx="869747"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按实际发生成本结算</a:t>
                </a:r>
              </a:p>
            </p:txBody>
          </p:sp>
          <p:sp>
            <p:nvSpPr>
              <p:cNvPr id="220" name="TextBox 220"/>
              <p:cNvSpPr txBox="1"/>
              <p:nvPr/>
            </p:nvSpPr>
            <p:spPr>
              <a:xfrm>
                <a:off x="8137957" y="6409611"/>
                <a:ext cx="678586"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资产提升、转化</a:t>
                </a:r>
              </a:p>
            </p:txBody>
          </p:sp>
          <p:sp>
            <p:nvSpPr>
              <p:cNvPr id="221" name="TextBox 221"/>
              <p:cNvSpPr txBox="1"/>
              <p:nvPr/>
            </p:nvSpPr>
            <p:spPr>
              <a:xfrm>
                <a:off x="9613176" y="6409611"/>
                <a:ext cx="1347648" cy="140494"/>
              </a:xfrm>
              <a:prstGeom prst="rect">
                <a:avLst/>
              </a:prstGeom>
              <a:noFill/>
              <a:ln>
                <a:noFill/>
              </a:ln>
            </p:spPr>
            <p:txBody>
              <a:bodyPr wrap="none" lIns="0" tIns="0" rIns="0" bIns="0" anchor="t" anchorCtr="0">
                <a:spAutoFit/>
              </a:bodyPr>
              <a:lstStyle/>
              <a:p>
                <a:pPr algn="ctr"/>
                <a:r>
                  <a:rPr lang="zh-CN" sz="710" dirty="0">
                    <a:solidFill>
                      <a:srgbClr val="514340"/>
                    </a:solidFill>
                    <a:latin typeface="+mn-lt"/>
                    <a:ea typeface="+mn-ea"/>
                    <a:cs typeface="+mn-cs"/>
                  </a:rPr>
                  <a:t>高价值客户专属，促进资产沉淀</a:t>
                </a:r>
              </a:p>
            </p:txBody>
          </p:sp>
        </p:grpSp>
      </p:gr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12​</a:t>
              </a:r>
            </a:p>
          </p:txBody>
        </p:sp>
        <p:sp>
          <p:nvSpPr>
            <p:cNvPr id="4" name="TextBox 4"/>
            <p:cNvSpPr txBox="1"/>
            <p:nvPr/>
          </p:nvSpPr>
          <p:spPr>
            <a:xfrm>
              <a:off x="904494" y="170498"/>
              <a:ext cx="5532501"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公私联动</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以企业与场景资源带动个人客户转化</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12​</a:t>
              </a:r>
            </a:p>
          </p:txBody>
        </p:sp>
      </p:grpSp>
      <p:grpSp>
        <p:nvGrpSpPr>
          <p:cNvPr id="47" name="corp-side"/>
          <p:cNvGrpSpPr/>
          <p:nvPr/>
        </p:nvGrpSpPr>
        <p:grpSpPr>
          <a:xfrm>
            <a:off x="342900" y="685800"/>
            <a:ext cx="1809750" cy="2438400"/>
            <a:chOff x="342900" y="685800"/>
            <a:chExt cx="1809750" cy="2438400"/>
          </a:xfrm>
        </p:grpSpPr>
        <p:sp>
          <p:nvSpPr>
            <p:cNvPr id="8" name="Rectangle 8"/>
            <p:cNvSpPr/>
            <p:nvPr/>
          </p:nvSpPr>
          <p:spPr>
            <a:xfrm>
              <a:off x="342900" y="685800"/>
              <a:ext cx="1809750" cy="2438400"/>
            </a:xfrm>
            <a:prstGeom prst="roundRect">
              <a:avLst>
                <a:gd name="adj" fmla="val 4211"/>
              </a:avLst>
            </a:prstGeom>
            <a:solidFill>
              <a:srgbClr val="FFFFFF"/>
            </a:solidFill>
            <a:ln w="14288">
              <a:solidFill>
                <a:srgbClr val="C2E0DA"/>
              </a:solidFill>
            </a:ln>
          </p:spPr>
        </p:sp>
        <p:sp>
          <p:nvSpPr>
            <p:cNvPr id="9" name="Rectangle 9"/>
            <p:cNvSpPr/>
            <p:nvPr/>
          </p:nvSpPr>
          <p:spPr>
            <a:xfrm>
              <a:off x="342900" y="685800"/>
              <a:ext cx="1809750" cy="247650"/>
            </a:xfrm>
            <a:prstGeom prst="roundRect">
              <a:avLst>
                <a:gd name="adj" fmla="val 30769"/>
              </a:avLst>
            </a:prstGeom>
            <a:solidFill>
              <a:srgbClr val="5D190B"/>
            </a:solidFill>
            <a:ln>
              <a:noFill/>
            </a:ln>
          </p:spPr>
        </p:sp>
        <p:sp>
          <p:nvSpPr>
            <p:cNvPr id="10" name="TextBox 10"/>
            <p:cNvSpPr txBox="1"/>
            <p:nvPr/>
          </p:nvSpPr>
          <p:spPr>
            <a:xfrm>
              <a:off x="433388" y="762714"/>
              <a:ext cx="1179373"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对公侧：企业与场景资源</a:t>
              </a:r>
            </a:p>
          </p:txBody>
        </p:sp>
        <p:grpSp>
          <p:nvGrpSpPr>
            <p:cNvPr id="19" name="Group 19"/>
            <p:cNvGrpSpPr/>
            <p:nvPr/>
          </p:nvGrpSpPr>
          <p:grpSpPr>
            <a:xfrm>
              <a:off x="481012" y="1090612"/>
              <a:ext cx="144463" cy="152400"/>
              <a:chOff x="481012" y="1090612"/>
              <a:chExt cx="144463" cy="152400"/>
            </a:xfrm>
          </p:grpSpPr>
          <p:sp>
            <p:nvSpPr>
              <p:cNvPr id="11" name="Freeform 11"/>
              <p:cNvSpPr/>
              <p:nvPr/>
            </p:nvSpPr>
            <p:spPr>
              <a:xfrm>
                <a:off x="481012" y="1233487"/>
                <a:ext cx="142875" cy="9525"/>
              </a:xfrm>
              <a:custGeom>
                <a:avLst/>
                <a:gdLst/>
                <a:ahLst/>
                <a:cxnLst/>
                <a:rect l="l" t="t" r="r" b="b"/>
                <a:pathLst>
                  <a:path w="142875" h="9525">
                    <a:moveTo>
                      <a:pt x="0" y="0"/>
                    </a:moveTo>
                    <a:lnTo>
                      <a:pt x="142875" y="0"/>
                    </a:lnTo>
                  </a:path>
                </a:pathLst>
              </a:custGeom>
              <a:noFill/>
              <a:ln w="15875">
                <a:solidFill>
                  <a:srgbClr val="76200F"/>
                </a:solidFill>
              </a:ln>
            </p:spPr>
          </p:sp>
          <p:sp>
            <p:nvSpPr>
              <p:cNvPr id="12" name="Freeform 12"/>
              <p:cNvSpPr/>
              <p:nvPr/>
            </p:nvSpPr>
            <p:spPr>
              <a:xfrm>
                <a:off x="481012" y="1146175"/>
                <a:ext cx="142875" cy="9525"/>
              </a:xfrm>
              <a:custGeom>
                <a:avLst/>
                <a:gdLst/>
                <a:ahLst/>
                <a:cxnLst/>
                <a:rect l="l" t="t" r="r" b="b"/>
                <a:pathLst>
                  <a:path w="142875" h="9525">
                    <a:moveTo>
                      <a:pt x="0" y="0"/>
                    </a:moveTo>
                    <a:lnTo>
                      <a:pt x="142875" y="0"/>
                    </a:lnTo>
                  </a:path>
                </a:pathLst>
              </a:custGeom>
              <a:noFill/>
              <a:ln w="15875">
                <a:solidFill>
                  <a:srgbClr val="76200F"/>
                </a:solidFill>
              </a:ln>
            </p:spPr>
          </p:sp>
          <p:sp>
            <p:nvSpPr>
              <p:cNvPr id="13" name="Freeform 13"/>
              <p:cNvSpPr/>
              <p:nvPr/>
            </p:nvSpPr>
            <p:spPr>
              <a:xfrm>
                <a:off x="496887" y="1090612"/>
                <a:ext cx="111125" cy="23812"/>
              </a:xfrm>
              <a:custGeom>
                <a:avLst/>
                <a:gdLst/>
                <a:ahLst/>
                <a:cxnLst/>
                <a:rect l="l" t="t" r="r" b="b"/>
                <a:pathLst>
                  <a:path w="111125" h="23812">
                    <a:moveTo>
                      <a:pt x="0" y="23812"/>
                    </a:moveTo>
                    <a:lnTo>
                      <a:pt x="55562" y="0"/>
                    </a:lnTo>
                    <a:lnTo>
                      <a:pt x="111125" y="23812"/>
                    </a:lnTo>
                  </a:path>
                </a:pathLst>
              </a:custGeom>
              <a:noFill/>
              <a:ln w="15875">
                <a:solidFill>
                  <a:srgbClr val="76200F"/>
                </a:solidFill>
              </a:ln>
            </p:spPr>
          </p:sp>
          <p:sp>
            <p:nvSpPr>
              <p:cNvPr id="14" name="Freeform 14"/>
              <p:cNvSpPr/>
              <p:nvPr/>
            </p:nvSpPr>
            <p:spPr>
              <a:xfrm>
                <a:off x="488950" y="1146175"/>
                <a:ext cx="9525" cy="87312"/>
              </a:xfrm>
              <a:custGeom>
                <a:avLst/>
                <a:gdLst/>
                <a:ahLst/>
                <a:cxnLst/>
                <a:rect l="l" t="t" r="r" b="b"/>
                <a:pathLst>
                  <a:path w="9525" h="87312">
                    <a:moveTo>
                      <a:pt x="0" y="0"/>
                    </a:moveTo>
                    <a:lnTo>
                      <a:pt x="0" y="87312"/>
                    </a:lnTo>
                  </a:path>
                </a:pathLst>
              </a:custGeom>
              <a:noFill/>
              <a:ln w="15875">
                <a:solidFill>
                  <a:srgbClr val="76200F"/>
                </a:solidFill>
              </a:ln>
            </p:spPr>
          </p:sp>
          <p:sp>
            <p:nvSpPr>
              <p:cNvPr id="15" name="Freeform 15"/>
              <p:cNvSpPr/>
              <p:nvPr/>
            </p:nvSpPr>
            <p:spPr>
              <a:xfrm>
                <a:off x="615950" y="1146175"/>
                <a:ext cx="9525" cy="87312"/>
              </a:xfrm>
              <a:custGeom>
                <a:avLst/>
                <a:gdLst/>
                <a:ahLst/>
                <a:cxnLst/>
                <a:rect l="l" t="t" r="r" b="b"/>
                <a:pathLst>
                  <a:path w="9525" h="87312">
                    <a:moveTo>
                      <a:pt x="0" y="0"/>
                    </a:moveTo>
                    <a:lnTo>
                      <a:pt x="0" y="87312"/>
                    </a:lnTo>
                  </a:path>
                </a:pathLst>
              </a:custGeom>
              <a:noFill/>
              <a:ln w="15875">
                <a:solidFill>
                  <a:srgbClr val="76200F"/>
                </a:solidFill>
              </a:ln>
            </p:spPr>
          </p:sp>
          <p:sp>
            <p:nvSpPr>
              <p:cNvPr id="16" name="Freeform 16"/>
              <p:cNvSpPr/>
              <p:nvPr/>
            </p:nvSpPr>
            <p:spPr>
              <a:xfrm>
                <a:off x="520700" y="1177925"/>
                <a:ext cx="9525" cy="23812"/>
              </a:xfrm>
              <a:custGeom>
                <a:avLst/>
                <a:gdLst/>
                <a:ahLst/>
                <a:cxnLst/>
                <a:rect l="l" t="t" r="r" b="b"/>
                <a:pathLst>
                  <a:path w="9525" h="23812">
                    <a:moveTo>
                      <a:pt x="0" y="0"/>
                    </a:moveTo>
                    <a:lnTo>
                      <a:pt x="0" y="23812"/>
                    </a:lnTo>
                  </a:path>
                </a:pathLst>
              </a:custGeom>
              <a:noFill/>
              <a:ln w="15875">
                <a:solidFill>
                  <a:srgbClr val="76200F"/>
                </a:solidFill>
              </a:ln>
            </p:spPr>
          </p:sp>
          <p:sp>
            <p:nvSpPr>
              <p:cNvPr id="17" name="Freeform 17"/>
              <p:cNvSpPr/>
              <p:nvPr/>
            </p:nvSpPr>
            <p:spPr>
              <a:xfrm>
                <a:off x="552450" y="1177925"/>
                <a:ext cx="9525" cy="23812"/>
              </a:xfrm>
              <a:custGeom>
                <a:avLst/>
                <a:gdLst/>
                <a:ahLst/>
                <a:cxnLst/>
                <a:rect l="l" t="t" r="r" b="b"/>
                <a:pathLst>
                  <a:path w="9525" h="23812">
                    <a:moveTo>
                      <a:pt x="0" y="0"/>
                    </a:moveTo>
                    <a:lnTo>
                      <a:pt x="0" y="23812"/>
                    </a:lnTo>
                  </a:path>
                </a:pathLst>
              </a:custGeom>
              <a:noFill/>
              <a:ln w="15875">
                <a:solidFill>
                  <a:srgbClr val="76200F"/>
                </a:solidFill>
              </a:ln>
            </p:spPr>
          </p:sp>
          <p:sp>
            <p:nvSpPr>
              <p:cNvPr id="18" name="Freeform 18"/>
              <p:cNvSpPr/>
              <p:nvPr/>
            </p:nvSpPr>
            <p:spPr>
              <a:xfrm>
                <a:off x="584200" y="1177925"/>
                <a:ext cx="9525" cy="23812"/>
              </a:xfrm>
              <a:custGeom>
                <a:avLst/>
                <a:gdLst/>
                <a:ahLst/>
                <a:cxnLst/>
                <a:rect l="l" t="t" r="r" b="b"/>
                <a:pathLst>
                  <a:path w="9525" h="23812">
                    <a:moveTo>
                      <a:pt x="0" y="0"/>
                    </a:moveTo>
                    <a:lnTo>
                      <a:pt x="0" y="23812"/>
                    </a:lnTo>
                  </a:path>
                </a:pathLst>
              </a:custGeom>
              <a:noFill/>
              <a:ln w="15875">
                <a:solidFill>
                  <a:srgbClr val="76200F"/>
                </a:solidFill>
              </a:ln>
            </p:spPr>
          </p:sp>
        </p:grpSp>
        <p:sp>
          <p:nvSpPr>
            <p:cNvPr id="20" name="TextBox 20"/>
            <p:cNvSpPr txBox="1"/>
            <p:nvPr/>
          </p:nvSpPr>
          <p:spPr>
            <a:xfrm>
              <a:off x="719138" y="10620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产业园区</a:t>
              </a:r>
            </a:p>
          </p:txBody>
        </p:sp>
        <p:sp>
          <p:nvSpPr>
            <p:cNvPr id="21" name="TextBox 21"/>
            <p:cNvSpPr txBox="1"/>
            <p:nvPr/>
          </p:nvSpPr>
          <p:spPr>
            <a:xfrm>
              <a:off x="719138" y="1211580"/>
              <a:ext cx="79301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产业集聚 / 批量拓客​</a:t>
              </a:r>
            </a:p>
          </p:txBody>
        </p:sp>
        <p:grpSp>
          <p:nvGrpSpPr>
            <p:cNvPr id="26" name="Group 26"/>
            <p:cNvGrpSpPr/>
            <p:nvPr/>
          </p:nvGrpSpPr>
          <p:grpSpPr>
            <a:xfrm>
              <a:off x="481012" y="1585912"/>
              <a:ext cx="142875" cy="134937"/>
              <a:chOff x="481012" y="1585912"/>
              <a:chExt cx="142875" cy="134937"/>
            </a:xfrm>
          </p:grpSpPr>
          <p:sp>
            <p:nvSpPr>
              <p:cNvPr id="22" name="Freeform 22"/>
              <p:cNvSpPr/>
              <p:nvPr/>
            </p:nvSpPr>
            <p:spPr>
              <a:xfrm>
                <a:off x="481012" y="1617662"/>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76200F"/>
                </a:solidFill>
              </a:ln>
            </p:spPr>
          </p:sp>
          <p:sp>
            <p:nvSpPr>
              <p:cNvPr id="23" name="Freeform 23"/>
              <p:cNvSpPr/>
              <p:nvPr/>
            </p:nvSpPr>
            <p:spPr>
              <a:xfrm>
                <a:off x="520700" y="1585912"/>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76200F"/>
                </a:solidFill>
              </a:ln>
            </p:spPr>
          </p:sp>
          <p:sp>
            <p:nvSpPr>
              <p:cNvPr id="24" name="Freeform 24"/>
              <p:cNvSpPr/>
              <p:nvPr/>
            </p:nvSpPr>
            <p:spPr>
              <a:xfrm>
                <a:off x="552450" y="1657350"/>
                <a:ext cx="9525" cy="9525"/>
              </a:xfrm>
              <a:custGeom>
                <a:avLst/>
                <a:gdLst/>
                <a:ahLst/>
                <a:cxnLst/>
                <a:rect l="l" t="t" r="r" b="b"/>
                <a:pathLst>
                  <a:path w="9525" h="9525">
                    <a:moveTo>
                      <a:pt x="0" y="0"/>
                    </a:moveTo>
                    <a:lnTo>
                      <a:pt x="0" y="79"/>
                    </a:lnTo>
                  </a:path>
                </a:pathLst>
              </a:custGeom>
              <a:noFill/>
              <a:ln w="15875">
                <a:solidFill>
                  <a:srgbClr val="76200F"/>
                </a:solidFill>
              </a:ln>
            </p:spPr>
          </p:sp>
          <p:sp>
            <p:nvSpPr>
              <p:cNvPr id="25" name="Freeform 25"/>
              <p:cNvSpPr/>
              <p:nvPr/>
            </p:nvSpPr>
            <p:spPr>
              <a:xfrm>
                <a:off x="481012" y="1665287"/>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76200F"/>
                </a:solidFill>
              </a:ln>
            </p:spPr>
          </p:sp>
        </p:grpSp>
        <p:sp>
          <p:nvSpPr>
            <p:cNvPr id="27" name="TextBox 27"/>
            <p:cNvSpPr txBox="1"/>
            <p:nvPr/>
          </p:nvSpPr>
          <p:spPr>
            <a:xfrm>
              <a:off x="719138" y="15573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重点企业</a:t>
              </a:r>
            </a:p>
          </p:txBody>
        </p:sp>
        <p:sp>
          <p:nvSpPr>
            <p:cNvPr id="28" name="TextBox 28"/>
            <p:cNvSpPr txBox="1"/>
            <p:nvPr/>
          </p:nvSpPr>
          <p:spPr>
            <a:xfrm>
              <a:off x="719138" y="1706880"/>
              <a:ext cx="79301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龙头带动 / 链条延伸​</a:t>
              </a:r>
            </a:p>
          </p:txBody>
        </p:sp>
        <p:grpSp>
          <p:nvGrpSpPr>
            <p:cNvPr id="33" name="Group 33"/>
            <p:cNvGrpSpPr/>
            <p:nvPr/>
          </p:nvGrpSpPr>
          <p:grpSpPr>
            <a:xfrm>
              <a:off x="488950" y="2081212"/>
              <a:ext cx="127000" cy="142875"/>
              <a:chOff x="488950" y="2081212"/>
              <a:chExt cx="127000" cy="142875"/>
            </a:xfrm>
          </p:grpSpPr>
          <p:sp>
            <p:nvSpPr>
              <p:cNvPr id="29" name="Freeform 29"/>
              <p:cNvSpPr/>
              <p:nvPr/>
            </p:nvSpPr>
            <p:spPr>
              <a:xfrm>
                <a:off x="488950" y="21923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30" name="Freeform 30"/>
              <p:cNvSpPr/>
              <p:nvPr/>
            </p:nvSpPr>
            <p:spPr>
              <a:xfrm>
                <a:off x="576262" y="21923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31" name="Freeform 31"/>
              <p:cNvSpPr/>
              <p:nvPr/>
            </p:nvSpPr>
            <p:spPr>
              <a:xfrm>
                <a:off x="488950" y="2081212"/>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76200F"/>
                </a:solidFill>
              </a:ln>
            </p:spPr>
          </p:sp>
          <p:sp>
            <p:nvSpPr>
              <p:cNvPr id="32" name="Freeform 32"/>
              <p:cNvSpPr/>
              <p:nvPr/>
            </p:nvSpPr>
            <p:spPr>
              <a:xfrm>
                <a:off x="504825" y="2097087"/>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76200F"/>
                </a:solidFill>
              </a:ln>
            </p:spPr>
          </p:sp>
        </p:grpSp>
        <p:sp>
          <p:nvSpPr>
            <p:cNvPr id="34" name="TextBox 34"/>
            <p:cNvSpPr txBox="1"/>
            <p:nvPr/>
          </p:nvSpPr>
          <p:spPr>
            <a:xfrm>
              <a:off x="719138" y="20526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商户场景</a:t>
              </a:r>
            </a:p>
          </p:txBody>
        </p:sp>
        <p:sp>
          <p:nvSpPr>
            <p:cNvPr id="35" name="TextBox 35"/>
            <p:cNvSpPr txBox="1"/>
            <p:nvPr/>
          </p:nvSpPr>
          <p:spPr>
            <a:xfrm>
              <a:off x="719138" y="2202180"/>
              <a:ext cx="930326"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食堂 / 商圈 / 商户联盟​​</a:t>
              </a:r>
            </a:p>
          </p:txBody>
        </p:sp>
        <p:grpSp>
          <p:nvGrpSpPr>
            <p:cNvPr id="44" name="Group 44"/>
            <p:cNvGrpSpPr/>
            <p:nvPr/>
          </p:nvGrpSpPr>
          <p:grpSpPr>
            <a:xfrm>
              <a:off x="481012" y="2576512"/>
              <a:ext cx="144463" cy="152400"/>
              <a:chOff x="481012" y="2576512"/>
              <a:chExt cx="144463" cy="152400"/>
            </a:xfrm>
          </p:grpSpPr>
          <p:sp>
            <p:nvSpPr>
              <p:cNvPr id="36" name="Freeform 36"/>
              <p:cNvSpPr/>
              <p:nvPr/>
            </p:nvSpPr>
            <p:spPr>
              <a:xfrm>
                <a:off x="481012" y="2719387"/>
                <a:ext cx="142875" cy="9525"/>
              </a:xfrm>
              <a:custGeom>
                <a:avLst/>
                <a:gdLst/>
                <a:ahLst/>
                <a:cxnLst/>
                <a:rect l="l" t="t" r="r" b="b"/>
                <a:pathLst>
                  <a:path w="142875" h="9525">
                    <a:moveTo>
                      <a:pt x="0" y="0"/>
                    </a:moveTo>
                    <a:lnTo>
                      <a:pt x="142875" y="0"/>
                    </a:lnTo>
                  </a:path>
                </a:pathLst>
              </a:custGeom>
              <a:noFill/>
              <a:ln w="15875">
                <a:solidFill>
                  <a:srgbClr val="76200F"/>
                </a:solidFill>
              </a:ln>
            </p:spPr>
          </p:sp>
          <p:sp>
            <p:nvSpPr>
              <p:cNvPr id="37" name="Freeform 37"/>
              <p:cNvSpPr/>
              <p:nvPr/>
            </p:nvSpPr>
            <p:spPr>
              <a:xfrm>
                <a:off x="481012" y="2632075"/>
                <a:ext cx="142875" cy="9525"/>
              </a:xfrm>
              <a:custGeom>
                <a:avLst/>
                <a:gdLst/>
                <a:ahLst/>
                <a:cxnLst/>
                <a:rect l="l" t="t" r="r" b="b"/>
                <a:pathLst>
                  <a:path w="142875" h="9525">
                    <a:moveTo>
                      <a:pt x="0" y="0"/>
                    </a:moveTo>
                    <a:lnTo>
                      <a:pt x="142875" y="0"/>
                    </a:lnTo>
                  </a:path>
                </a:pathLst>
              </a:custGeom>
              <a:noFill/>
              <a:ln w="15875">
                <a:solidFill>
                  <a:srgbClr val="76200F"/>
                </a:solidFill>
              </a:ln>
            </p:spPr>
          </p:sp>
          <p:sp>
            <p:nvSpPr>
              <p:cNvPr id="38" name="Freeform 38"/>
              <p:cNvSpPr/>
              <p:nvPr/>
            </p:nvSpPr>
            <p:spPr>
              <a:xfrm>
                <a:off x="496887" y="2576512"/>
                <a:ext cx="111125" cy="23812"/>
              </a:xfrm>
              <a:custGeom>
                <a:avLst/>
                <a:gdLst/>
                <a:ahLst/>
                <a:cxnLst/>
                <a:rect l="l" t="t" r="r" b="b"/>
                <a:pathLst>
                  <a:path w="111125" h="23812">
                    <a:moveTo>
                      <a:pt x="0" y="23812"/>
                    </a:moveTo>
                    <a:lnTo>
                      <a:pt x="55562" y="0"/>
                    </a:lnTo>
                    <a:lnTo>
                      <a:pt x="111125" y="23812"/>
                    </a:lnTo>
                  </a:path>
                </a:pathLst>
              </a:custGeom>
              <a:noFill/>
              <a:ln w="15875">
                <a:solidFill>
                  <a:srgbClr val="76200F"/>
                </a:solidFill>
              </a:ln>
            </p:spPr>
          </p:sp>
          <p:sp>
            <p:nvSpPr>
              <p:cNvPr id="39" name="Freeform 39"/>
              <p:cNvSpPr/>
              <p:nvPr/>
            </p:nvSpPr>
            <p:spPr>
              <a:xfrm>
                <a:off x="488950" y="2632075"/>
                <a:ext cx="9525" cy="87312"/>
              </a:xfrm>
              <a:custGeom>
                <a:avLst/>
                <a:gdLst/>
                <a:ahLst/>
                <a:cxnLst/>
                <a:rect l="l" t="t" r="r" b="b"/>
                <a:pathLst>
                  <a:path w="9525" h="87312">
                    <a:moveTo>
                      <a:pt x="0" y="0"/>
                    </a:moveTo>
                    <a:lnTo>
                      <a:pt x="0" y="87312"/>
                    </a:lnTo>
                  </a:path>
                </a:pathLst>
              </a:custGeom>
              <a:noFill/>
              <a:ln w="15875">
                <a:solidFill>
                  <a:srgbClr val="76200F"/>
                </a:solidFill>
              </a:ln>
            </p:spPr>
          </p:sp>
          <p:sp>
            <p:nvSpPr>
              <p:cNvPr id="40" name="Freeform 40"/>
              <p:cNvSpPr/>
              <p:nvPr/>
            </p:nvSpPr>
            <p:spPr>
              <a:xfrm>
                <a:off x="615950" y="2632075"/>
                <a:ext cx="9525" cy="87312"/>
              </a:xfrm>
              <a:custGeom>
                <a:avLst/>
                <a:gdLst/>
                <a:ahLst/>
                <a:cxnLst/>
                <a:rect l="l" t="t" r="r" b="b"/>
                <a:pathLst>
                  <a:path w="9525" h="87312">
                    <a:moveTo>
                      <a:pt x="0" y="0"/>
                    </a:moveTo>
                    <a:lnTo>
                      <a:pt x="0" y="87312"/>
                    </a:lnTo>
                  </a:path>
                </a:pathLst>
              </a:custGeom>
              <a:noFill/>
              <a:ln w="15875">
                <a:solidFill>
                  <a:srgbClr val="76200F"/>
                </a:solidFill>
              </a:ln>
            </p:spPr>
          </p:sp>
          <p:sp>
            <p:nvSpPr>
              <p:cNvPr id="41" name="Freeform 41"/>
              <p:cNvSpPr/>
              <p:nvPr/>
            </p:nvSpPr>
            <p:spPr>
              <a:xfrm>
                <a:off x="520700" y="2663825"/>
                <a:ext cx="9525" cy="23812"/>
              </a:xfrm>
              <a:custGeom>
                <a:avLst/>
                <a:gdLst/>
                <a:ahLst/>
                <a:cxnLst/>
                <a:rect l="l" t="t" r="r" b="b"/>
                <a:pathLst>
                  <a:path w="9525" h="23812">
                    <a:moveTo>
                      <a:pt x="0" y="0"/>
                    </a:moveTo>
                    <a:lnTo>
                      <a:pt x="0" y="23812"/>
                    </a:lnTo>
                  </a:path>
                </a:pathLst>
              </a:custGeom>
              <a:noFill/>
              <a:ln w="15875">
                <a:solidFill>
                  <a:srgbClr val="76200F"/>
                </a:solidFill>
              </a:ln>
            </p:spPr>
          </p:sp>
          <p:sp>
            <p:nvSpPr>
              <p:cNvPr id="42" name="Freeform 42"/>
              <p:cNvSpPr/>
              <p:nvPr/>
            </p:nvSpPr>
            <p:spPr>
              <a:xfrm>
                <a:off x="552450" y="2663825"/>
                <a:ext cx="9525" cy="23812"/>
              </a:xfrm>
              <a:custGeom>
                <a:avLst/>
                <a:gdLst/>
                <a:ahLst/>
                <a:cxnLst/>
                <a:rect l="l" t="t" r="r" b="b"/>
                <a:pathLst>
                  <a:path w="9525" h="23812">
                    <a:moveTo>
                      <a:pt x="0" y="0"/>
                    </a:moveTo>
                    <a:lnTo>
                      <a:pt x="0" y="23812"/>
                    </a:lnTo>
                  </a:path>
                </a:pathLst>
              </a:custGeom>
              <a:noFill/>
              <a:ln w="15875">
                <a:solidFill>
                  <a:srgbClr val="76200F"/>
                </a:solidFill>
              </a:ln>
            </p:spPr>
          </p:sp>
          <p:sp>
            <p:nvSpPr>
              <p:cNvPr id="43" name="Freeform 43"/>
              <p:cNvSpPr/>
              <p:nvPr/>
            </p:nvSpPr>
            <p:spPr>
              <a:xfrm>
                <a:off x="584200" y="2663825"/>
                <a:ext cx="9525" cy="23812"/>
              </a:xfrm>
              <a:custGeom>
                <a:avLst/>
                <a:gdLst/>
                <a:ahLst/>
                <a:cxnLst/>
                <a:rect l="l" t="t" r="r" b="b"/>
                <a:pathLst>
                  <a:path w="9525" h="23812">
                    <a:moveTo>
                      <a:pt x="0" y="0"/>
                    </a:moveTo>
                    <a:lnTo>
                      <a:pt x="0" y="23812"/>
                    </a:lnTo>
                  </a:path>
                </a:pathLst>
              </a:custGeom>
              <a:noFill/>
              <a:ln w="15875">
                <a:solidFill>
                  <a:srgbClr val="76200F"/>
                </a:solidFill>
              </a:ln>
            </p:spPr>
          </p:sp>
        </p:grpSp>
        <p:sp>
          <p:nvSpPr>
            <p:cNvPr id="45" name="TextBox 45"/>
            <p:cNvSpPr txBox="1"/>
            <p:nvPr/>
          </p:nvSpPr>
          <p:spPr>
            <a:xfrm>
              <a:off x="719138" y="25479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政企合作</a:t>
              </a:r>
            </a:p>
          </p:txBody>
        </p:sp>
        <p:sp>
          <p:nvSpPr>
            <p:cNvPr id="46" name="TextBox 46"/>
            <p:cNvSpPr txBox="1"/>
            <p:nvPr/>
          </p:nvSpPr>
          <p:spPr>
            <a:xfrm>
              <a:off x="719138" y="2697480"/>
              <a:ext cx="873785"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园区管委会 / 行业协会​</a:t>
              </a:r>
            </a:p>
          </p:txBody>
        </p:sp>
      </p:grpSp>
      <p:grpSp>
        <p:nvGrpSpPr>
          <p:cNvPr id="140" name="dual-cycle"/>
          <p:cNvGrpSpPr/>
          <p:nvPr/>
        </p:nvGrpSpPr>
        <p:grpSpPr>
          <a:xfrm>
            <a:off x="2214349" y="798195"/>
            <a:ext cx="7429714" cy="2421255"/>
            <a:chOff x="2214349" y="798195"/>
            <a:chExt cx="7429714" cy="2421255"/>
          </a:xfrm>
        </p:grpSpPr>
        <p:sp>
          <p:nvSpPr>
            <p:cNvPr id="48" name="TextBox 48"/>
            <p:cNvSpPr txBox="1"/>
            <p:nvPr/>
          </p:nvSpPr>
          <p:spPr>
            <a:xfrm>
              <a:off x="3467672" y="798195"/>
              <a:ext cx="494157"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对公循环</a:t>
              </a:r>
            </a:p>
          </p:txBody>
        </p:sp>
        <p:sp>
          <p:nvSpPr>
            <p:cNvPr id="49" name="TextBox 49"/>
            <p:cNvSpPr txBox="1"/>
            <p:nvPr/>
          </p:nvSpPr>
          <p:spPr>
            <a:xfrm>
              <a:off x="7896796" y="798195"/>
              <a:ext cx="494157" cy="176212"/>
            </a:xfrm>
            <a:prstGeom prst="rect">
              <a:avLst/>
            </a:prstGeom>
            <a:noFill/>
            <a:ln>
              <a:noFill/>
            </a:ln>
          </p:spPr>
          <p:txBody>
            <a:bodyPr wrap="none" lIns="0" tIns="0" rIns="0" bIns="0" anchor="t" anchorCtr="0">
              <a:spAutoFit/>
            </a:bodyPr>
            <a:lstStyle/>
            <a:p>
              <a:pPr algn="ctr"/>
              <a:r>
                <a:rPr lang="zh-CN" sz="900" b="1" dirty="0">
                  <a:solidFill>
                    <a:srgbClr val="5D190B"/>
                  </a:solidFill>
                  <a:latin typeface="+mn-lt"/>
                  <a:ea typeface="+mn-ea"/>
                  <a:cs typeface="+mn-cs"/>
                </a:rPr>
                <a:t>零售循环</a:t>
              </a:r>
            </a:p>
          </p:txBody>
        </p:sp>
        <p:sp>
          <p:nvSpPr>
            <p:cNvPr id="50" name="Ellipse 50"/>
            <p:cNvSpPr/>
            <p:nvPr/>
          </p:nvSpPr>
          <p:spPr>
            <a:xfrm>
              <a:off x="5038725" y="1181100"/>
              <a:ext cx="1752600" cy="1409700"/>
            </a:xfrm>
            <a:prstGeom prst="ellipse">
              <a:avLst/>
            </a:prstGeom>
            <a:gradFill>
              <a:gsLst>
                <a:gs pos="0">
                  <a:srgbClr val="852512"/>
                </a:gs>
                <a:gs pos="100000">
                  <a:srgbClr val="5D190B"/>
                </a:gs>
              </a:gsLst>
              <a:lin ang="5400000" scaled="1"/>
            </a:gradFill>
            <a:ln>
              <a:noFill/>
            </a:ln>
          </p:spPr>
        </p:sp>
        <p:grpSp>
          <p:nvGrpSpPr>
            <p:cNvPr id="54" name="Group 54"/>
            <p:cNvGrpSpPr/>
            <p:nvPr/>
          </p:nvGrpSpPr>
          <p:grpSpPr>
            <a:xfrm>
              <a:off x="5833129" y="1362075"/>
              <a:ext cx="163773" cy="170402"/>
              <a:chOff x="5833129" y="1362075"/>
              <a:chExt cx="163773" cy="170402"/>
            </a:xfrm>
          </p:grpSpPr>
          <p:sp>
            <p:nvSpPr>
              <p:cNvPr id="51" name="Freeform 51"/>
              <p:cNvSpPr/>
              <p:nvPr/>
            </p:nvSpPr>
            <p:spPr>
              <a:xfrm>
                <a:off x="5857875" y="136207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FFFFFF"/>
                </a:solidFill>
              </a:ln>
            </p:spPr>
          </p:sp>
          <p:sp>
            <p:nvSpPr>
              <p:cNvPr id="52" name="Freeform 52"/>
              <p:cNvSpPr/>
              <p:nvPr/>
            </p:nvSpPr>
            <p:spPr>
              <a:xfrm>
                <a:off x="5915025" y="144780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FFFFFF"/>
                </a:solidFill>
              </a:ln>
            </p:spPr>
          </p:sp>
          <p:sp>
            <p:nvSpPr>
              <p:cNvPr id="53" name="Freeform 53"/>
              <p:cNvSpPr/>
              <p:nvPr/>
            </p:nvSpPr>
            <p:spPr>
              <a:xfrm>
                <a:off x="5833129" y="144780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FFFFFF"/>
                </a:solidFill>
              </a:ln>
            </p:spPr>
          </p:sp>
        </p:grpSp>
        <p:sp>
          <p:nvSpPr>
            <p:cNvPr id="55" name="TextBox 55"/>
            <p:cNvSpPr txBox="1"/>
            <p:nvPr/>
          </p:nvSpPr>
          <p:spPr>
            <a:xfrm>
              <a:off x="5646217" y="16473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生态营销</a:t>
              </a:r>
            </a:p>
          </p:txBody>
        </p:sp>
        <p:sp>
          <p:nvSpPr>
            <p:cNvPr id="56" name="TextBox 56"/>
            <p:cNvSpPr txBox="1"/>
            <p:nvPr/>
          </p:nvSpPr>
          <p:spPr>
            <a:xfrm>
              <a:off x="5646217" y="17997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活动平台</a:t>
              </a:r>
            </a:p>
          </p:txBody>
        </p:sp>
        <p:sp>
          <p:nvSpPr>
            <p:cNvPr id="57" name="TextBox 57"/>
            <p:cNvSpPr txBox="1"/>
            <p:nvPr/>
          </p:nvSpPr>
          <p:spPr>
            <a:xfrm>
              <a:off x="5492402" y="2007632"/>
              <a:ext cx="845246" cy="126206"/>
            </a:xfrm>
            <a:prstGeom prst="rect">
              <a:avLst/>
            </a:prstGeom>
            <a:noFill/>
            <a:ln>
              <a:noFill/>
            </a:ln>
          </p:spPr>
          <p:txBody>
            <a:bodyPr wrap="none" lIns="0" tIns="0" rIns="0" bIns="0" anchor="t" anchorCtr="0">
              <a:spAutoFit/>
            </a:bodyPr>
            <a:lstStyle/>
            <a:p>
              <a:pPr algn="ctr"/>
              <a:r>
                <a:rPr lang="zh-CN" sz="640" dirty="0">
                  <a:solidFill>
                    <a:srgbClr val="BFE4DD"/>
                  </a:solidFill>
                  <a:latin typeface="+mn-lt"/>
                  <a:ea typeface="+mn-ea"/>
                  <a:cs typeface="+mn-cs"/>
                </a:rPr>
                <a:t>线下展位 + 线上联动​</a:t>
              </a:r>
            </a:p>
          </p:txBody>
        </p:sp>
        <p:sp>
          <p:nvSpPr>
            <p:cNvPr id="58" name="Rectangle 58"/>
            <p:cNvSpPr/>
            <p:nvPr/>
          </p:nvSpPr>
          <p:spPr>
            <a:xfrm>
              <a:off x="5295900" y="2171700"/>
              <a:ext cx="1238250" cy="285750"/>
            </a:xfrm>
            <a:prstGeom prst="roundRect">
              <a:avLst>
                <a:gd name="adj" fmla="val 50000"/>
              </a:avLst>
            </a:prstGeom>
            <a:solidFill>
              <a:srgbClr val="FFFFFF">
                <a:alpha val="92000"/>
              </a:srgbClr>
            </a:solidFill>
            <a:ln>
              <a:noFill/>
            </a:ln>
          </p:spPr>
        </p:sp>
        <p:sp>
          <p:nvSpPr>
            <p:cNvPr id="59" name="TextBox 59"/>
            <p:cNvSpPr txBox="1"/>
            <p:nvPr/>
          </p:nvSpPr>
          <p:spPr>
            <a:xfrm>
              <a:off x="5541431" y="2225278"/>
              <a:ext cx="747189" cy="111919"/>
            </a:xfrm>
            <a:prstGeom prst="rect">
              <a:avLst/>
            </a:prstGeom>
            <a:noFill/>
            <a:ln>
              <a:noFill/>
            </a:ln>
          </p:spPr>
          <p:txBody>
            <a:bodyPr wrap="none" lIns="0" tIns="0" rIns="0" bIns="0" anchor="t" anchorCtr="0">
              <a:spAutoFit/>
            </a:bodyPr>
            <a:lstStyle/>
            <a:p>
              <a:pPr algn="ctr"/>
              <a:r>
                <a:rPr lang="zh-CN" sz="560" b="1" dirty="0">
                  <a:solidFill>
                    <a:srgbClr val="5D190B"/>
                  </a:solidFill>
                  <a:latin typeface="+mn-lt"/>
                  <a:ea typeface="+mn-ea"/>
                  <a:cs typeface="+mn-cs"/>
                </a:rPr>
                <a:t>一个活动 · 双向引流​</a:t>
              </a:r>
            </a:p>
          </p:txBody>
        </p:sp>
        <p:sp>
          <p:nvSpPr>
            <p:cNvPr id="60" name="TextBox 60"/>
            <p:cNvSpPr txBox="1"/>
            <p:nvPr/>
          </p:nvSpPr>
          <p:spPr>
            <a:xfrm>
              <a:off x="5541431" y="2339578"/>
              <a:ext cx="747189" cy="111919"/>
            </a:xfrm>
            <a:prstGeom prst="rect">
              <a:avLst/>
            </a:prstGeom>
            <a:noFill/>
            <a:ln>
              <a:noFill/>
            </a:ln>
          </p:spPr>
          <p:txBody>
            <a:bodyPr wrap="none" lIns="0" tIns="0" rIns="0" bIns="0" anchor="t" anchorCtr="0">
              <a:spAutoFit/>
            </a:bodyPr>
            <a:lstStyle/>
            <a:p>
              <a:pPr algn="ctr"/>
              <a:r>
                <a:rPr lang="zh-CN" sz="560" b="1" dirty="0">
                  <a:solidFill>
                    <a:srgbClr val="5D190B"/>
                  </a:solidFill>
                  <a:latin typeface="+mn-lt"/>
                  <a:ea typeface="+mn-ea"/>
                  <a:cs typeface="+mn-cs"/>
                </a:rPr>
                <a:t>企业赋能 · 个人转化​</a:t>
              </a:r>
            </a:p>
          </p:txBody>
        </p:sp>
        <p:grpSp>
          <p:nvGrpSpPr>
            <p:cNvPr id="93" name="corp-loop"/>
            <p:cNvGrpSpPr/>
            <p:nvPr/>
          </p:nvGrpSpPr>
          <p:grpSpPr>
            <a:xfrm>
              <a:off x="2214349" y="987028"/>
              <a:ext cx="2595078" cy="2137172"/>
              <a:chOff x="2214349" y="987028"/>
              <a:chExt cx="2595078" cy="2137172"/>
            </a:xfrm>
          </p:grpSpPr>
          <p:sp>
            <p:nvSpPr>
              <p:cNvPr id="61" name="Ellipse 61"/>
              <p:cNvSpPr/>
              <p:nvPr/>
            </p:nvSpPr>
            <p:spPr>
              <a:xfrm>
                <a:off x="3448050" y="1123950"/>
                <a:ext cx="533400" cy="533400"/>
              </a:xfrm>
              <a:prstGeom prst="ellipse">
                <a:avLst/>
              </a:prstGeom>
              <a:solidFill>
                <a:srgbClr val="FFFFFF"/>
              </a:solidFill>
              <a:ln w="19050">
                <a:solidFill>
                  <a:srgbClr val="A3422F"/>
                </a:solidFill>
              </a:ln>
            </p:spPr>
          </p:sp>
          <p:grpSp>
            <p:nvGrpSpPr>
              <p:cNvPr id="70" name="Group 70"/>
              <p:cNvGrpSpPr/>
              <p:nvPr/>
            </p:nvGrpSpPr>
            <p:grpSpPr>
              <a:xfrm>
                <a:off x="3643312" y="1204912"/>
                <a:ext cx="144463" cy="152400"/>
                <a:chOff x="3643312" y="1204912"/>
                <a:chExt cx="144463" cy="152400"/>
              </a:xfrm>
            </p:grpSpPr>
            <p:sp>
              <p:nvSpPr>
                <p:cNvPr id="62" name="Freeform 62"/>
                <p:cNvSpPr/>
                <p:nvPr/>
              </p:nvSpPr>
              <p:spPr>
                <a:xfrm>
                  <a:off x="3643312" y="1347787"/>
                  <a:ext cx="142875" cy="9525"/>
                </a:xfrm>
                <a:custGeom>
                  <a:avLst/>
                  <a:gdLst/>
                  <a:ahLst/>
                  <a:cxnLst/>
                  <a:rect l="l" t="t" r="r" b="b"/>
                  <a:pathLst>
                    <a:path w="142875" h="9525">
                      <a:moveTo>
                        <a:pt x="0" y="0"/>
                      </a:moveTo>
                      <a:lnTo>
                        <a:pt x="142875" y="0"/>
                      </a:lnTo>
                    </a:path>
                  </a:pathLst>
                </a:custGeom>
                <a:noFill/>
                <a:ln w="15875">
                  <a:solidFill>
                    <a:srgbClr val="76200F"/>
                  </a:solidFill>
                </a:ln>
              </p:spPr>
            </p:sp>
            <p:sp>
              <p:nvSpPr>
                <p:cNvPr id="63" name="Freeform 63"/>
                <p:cNvSpPr/>
                <p:nvPr/>
              </p:nvSpPr>
              <p:spPr>
                <a:xfrm>
                  <a:off x="3643312" y="1260475"/>
                  <a:ext cx="142875" cy="9525"/>
                </a:xfrm>
                <a:custGeom>
                  <a:avLst/>
                  <a:gdLst/>
                  <a:ahLst/>
                  <a:cxnLst/>
                  <a:rect l="l" t="t" r="r" b="b"/>
                  <a:pathLst>
                    <a:path w="142875" h="9525">
                      <a:moveTo>
                        <a:pt x="0" y="0"/>
                      </a:moveTo>
                      <a:lnTo>
                        <a:pt x="142875" y="0"/>
                      </a:lnTo>
                    </a:path>
                  </a:pathLst>
                </a:custGeom>
                <a:noFill/>
                <a:ln w="15875">
                  <a:solidFill>
                    <a:srgbClr val="76200F"/>
                  </a:solidFill>
                </a:ln>
              </p:spPr>
            </p:sp>
            <p:sp>
              <p:nvSpPr>
                <p:cNvPr id="64" name="Freeform 64"/>
                <p:cNvSpPr/>
                <p:nvPr/>
              </p:nvSpPr>
              <p:spPr>
                <a:xfrm>
                  <a:off x="3659187" y="1204912"/>
                  <a:ext cx="111125" cy="23812"/>
                </a:xfrm>
                <a:custGeom>
                  <a:avLst/>
                  <a:gdLst/>
                  <a:ahLst/>
                  <a:cxnLst/>
                  <a:rect l="l" t="t" r="r" b="b"/>
                  <a:pathLst>
                    <a:path w="111125" h="23812">
                      <a:moveTo>
                        <a:pt x="0" y="23812"/>
                      </a:moveTo>
                      <a:lnTo>
                        <a:pt x="55562" y="0"/>
                      </a:lnTo>
                      <a:lnTo>
                        <a:pt x="111125" y="23812"/>
                      </a:lnTo>
                    </a:path>
                  </a:pathLst>
                </a:custGeom>
                <a:noFill/>
                <a:ln w="15875">
                  <a:solidFill>
                    <a:srgbClr val="76200F"/>
                  </a:solidFill>
                </a:ln>
              </p:spPr>
            </p:sp>
            <p:sp>
              <p:nvSpPr>
                <p:cNvPr id="65" name="Freeform 65"/>
                <p:cNvSpPr/>
                <p:nvPr/>
              </p:nvSpPr>
              <p:spPr>
                <a:xfrm>
                  <a:off x="3651250" y="1260475"/>
                  <a:ext cx="9525" cy="87312"/>
                </a:xfrm>
                <a:custGeom>
                  <a:avLst/>
                  <a:gdLst/>
                  <a:ahLst/>
                  <a:cxnLst/>
                  <a:rect l="l" t="t" r="r" b="b"/>
                  <a:pathLst>
                    <a:path w="9525" h="87312">
                      <a:moveTo>
                        <a:pt x="0" y="0"/>
                      </a:moveTo>
                      <a:lnTo>
                        <a:pt x="0" y="87312"/>
                      </a:lnTo>
                    </a:path>
                  </a:pathLst>
                </a:custGeom>
                <a:noFill/>
                <a:ln w="15875">
                  <a:solidFill>
                    <a:srgbClr val="76200F"/>
                  </a:solidFill>
                </a:ln>
              </p:spPr>
            </p:sp>
            <p:sp>
              <p:nvSpPr>
                <p:cNvPr id="66" name="Freeform 66"/>
                <p:cNvSpPr/>
                <p:nvPr/>
              </p:nvSpPr>
              <p:spPr>
                <a:xfrm>
                  <a:off x="3778250" y="1260475"/>
                  <a:ext cx="9525" cy="87312"/>
                </a:xfrm>
                <a:custGeom>
                  <a:avLst/>
                  <a:gdLst/>
                  <a:ahLst/>
                  <a:cxnLst/>
                  <a:rect l="l" t="t" r="r" b="b"/>
                  <a:pathLst>
                    <a:path w="9525" h="87312">
                      <a:moveTo>
                        <a:pt x="0" y="0"/>
                      </a:moveTo>
                      <a:lnTo>
                        <a:pt x="0" y="87312"/>
                      </a:lnTo>
                    </a:path>
                  </a:pathLst>
                </a:custGeom>
                <a:noFill/>
                <a:ln w="15875">
                  <a:solidFill>
                    <a:srgbClr val="76200F"/>
                  </a:solidFill>
                </a:ln>
              </p:spPr>
            </p:sp>
            <p:sp>
              <p:nvSpPr>
                <p:cNvPr id="67" name="Freeform 67"/>
                <p:cNvSpPr/>
                <p:nvPr/>
              </p:nvSpPr>
              <p:spPr>
                <a:xfrm>
                  <a:off x="3683000" y="1292225"/>
                  <a:ext cx="9525" cy="23812"/>
                </a:xfrm>
                <a:custGeom>
                  <a:avLst/>
                  <a:gdLst/>
                  <a:ahLst/>
                  <a:cxnLst/>
                  <a:rect l="l" t="t" r="r" b="b"/>
                  <a:pathLst>
                    <a:path w="9525" h="23812">
                      <a:moveTo>
                        <a:pt x="0" y="0"/>
                      </a:moveTo>
                      <a:lnTo>
                        <a:pt x="0" y="23812"/>
                      </a:lnTo>
                    </a:path>
                  </a:pathLst>
                </a:custGeom>
                <a:noFill/>
                <a:ln w="15875">
                  <a:solidFill>
                    <a:srgbClr val="76200F"/>
                  </a:solidFill>
                </a:ln>
              </p:spPr>
            </p:sp>
            <p:sp>
              <p:nvSpPr>
                <p:cNvPr id="68" name="Freeform 68"/>
                <p:cNvSpPr/>
                <p:nvPr/>
              </p:nvSpPr>
              <p:spPr>
                <a:xfrm>
                  <a:off x="3714750" y="1292225"/>
                  <a:ext cx="9525" cy="23812"/>
                </a:xfrm>
                <a:custGeom>
                  <a:avLst/>
                  <a:gdLst/>
                  <a:ahLst/>
                  <a:cxnLst/>
                  <a:rect l="l" t="t" r="r" b="b"/>
                  <a:pathLst>
                    <a:path w="9525" h="23812">
                      <a:moveTo>
                        <a:pt x="0" y="0"/>
                      </a:moveTo>
                      <a:lnTo>
                        <a:pt x="0" y="23812"/>
                      </a:lnTo>
                    </a:path>
                  </a:pathLst>
                </a:custGeom>
                <a:noFill/>
                <a:ln w="15875">
                  <a:solidFill>
                    <a:srgbClr val="76200F"/>
                  </a:solidFill>
                </a:ln>
              </p:spPr>
            </p:sp>
            <p:sp>
              <p:nvSpPr>
                <p:cNvPr id="69" name="Freeform 69"/>
                <p:cNvSpPr/>
                <p:nvPr/>
              </p:nvSpPr>
              <p:spPr>
                <a:xfrm>
                  <a:off x="3746500" y="1292225"/>
                  <a:ext cx="9525" cy="23812"/>
                </a:xfrm>
                <a:custGeom>
                  <a:avLst/>
                  <a:gdLst/>
                  <a:ahLst/>
                  <a:cxnLst/>
                  <a:rect l="l" t="t" r="r" b="b"/>
                  <a:pathLst>
                    <a:path w="9525" h="23812">
                      <a:moveTo>
                        <a:pt x="0" y="0"/>
                      </a:moveTo>
                      <a:lnTo>
                        <a:pt x="0" y="23812"/>
                      </a:lnTo>
                    </a:path>
                  </a:pathLst>
                </a:custGeom>
                <a:noFill/>
                <a:ln w="15875">
                  <a:solidFill>
                    <a:srgbClr val="76200F"/>
                  </a:solidFill>
                </a:ln>
              </p:spPr>
            </p:sp>
          </p:grpSp>
          <p:sp>
            <p:nvSpPr>
              <p:cNvPr id="71" name="TextBox 71"/>
              <p:cNvSpPr txBox="1"/>
              <p:nvPr/>
            </p:nvSpPr>
            <p:spPr>
              <a:xfrm>
                <a:off x="3460779" y="1436132"/>
                <a:ext cx="50794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园区 / 企业​</a:t>
                </a:r>
              </a:p>
            </p:txBody>
          </p:sp>
          <p:sp>
            <p:nvSpPr>
              <p:cNvPr id="72" name="TextBox 72"/>
              <p:cNvSpPr txBox="1"/>
              <p:nvPr/>
            </p:nvSpPr>
            <p:spPr>
              <a:xfrm>
                <a:off x="3344360" y="987028"/>
                <a:ext cx="740781"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产业园区 / 重点企业​</a:t>
                </a:r>
              </a:p>
            </p:txBody>
          </p:sp>
          <p:sp>
            <p:nvSpPr>
              <p:cNvPr id="73" name="Ellipse 73"/>
              <p:cNvSpPr/>
              <p:nvPr/>
            </p:nvSpPr>
            <p:spPr>
              <a:xfrm>
                <a:off x="2686050" y="1885950"/>
                <a:ext cx="533400" cy="533400"/>
              </a:xfrm>
              <a:prstGeom prst="ellipse">
                <a:avLst/>
              </a:prstGeom>
              <a:solidFill>
                <a:srgbClr val="FFFFFF"/>
              </a:solidFill>
              <a:ln w="19050">
                <a:solidFill>
                  <a:srgbClr val="A3422F"/>
                </a:solidFill>
              </a:ln>
            </p:spPr>
          </p:sp>
          <p:grpSp>
            <p:nvGrpSpPr>
              <p:cNvPr id="78" name="Group 78"/>
              <p:cNvGrpSpPr/>
              <p:nvPr/>
            </p:nvGrpSpPr>
            <p:grpSpPr>
              <a:xfrm>
                <a:off x="2881312" y="1966912"/>
                <a:ext cx="142875" cy="142875"/>
                <a:chOff x="2881312" y="1966912"/>
                <a:chExt cx="142875" cy="142875"/>
              </a:xfrm>
            </p:grpSpPr>
            <p:sp>
              <p:nvSpPr>
                <p:cNvPr id="74" name="Freeform 74"/>
                <p:cNvSpPr/>
                <p:nvPr/>
              </p:nvSpPr>
              <p:spPr>
                <a:xfrm>
                  <a:off x="2897187" y="19669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76200F"/>
                  </a:solidFill>
                </a:ln>
              </p:spPr>
            </p:sp>
            <p:sp>
              <p:nvSpPr>
                <p:cNvPr id="75" name="Freeform 75"/>
                <p:cNvSpPr/>
                <p:nvPr/>
              </p:nvSpPr>
              <p:spPr>
                <a:xfrm>
                  <a:off x="2881312" y="20621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76200F"/>
                  </a:solidFill>
                </a:ln>
              </p:spPr>
            </p:sp>
            <p:sp>
              <p:nvSpPr>
                <p:cNvPr id="76" name="Freeform 76"/>
                <p:cNvSpPr/>
                <p:nvPr/>
              </p:nvSpPr>
              <p:spPr>
                <a:xfrm>
                  <a:off x="2984500" y="19679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76200F"/>
                  </a:solidFill>
                </a:ln>
              </p:spPr>
            </p:sp>
            <p:sp>
              <p:nvSpPr>
                <p:cNvPr id="77" name="Freeform 77"/>
                <p:cNvSpPr/>
                <p:nvPr/>
              </p:nvSpPr>
              <p:spPr>
                <a:xfrm>
                  <a:off x="3000375" y="20633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76200F"/>
                  </a:solidFill>
                </a:ln>
              </p:spPr>
            </p:sp>
          </p:grpSp>
          <p:sp>
            <p:nvSpPr>
              <p:cNvPr id="79" name="TextBox 79"/>
              <p:cNvSpPr txBox="1"/>
              <p:nvPr/>
            </p:nvSpPr>
            <p:spPr>
              <a:xfrm>
                <a:off x="2775674" y="21981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对公客户</a:t>
                </a:r>
              </a:p>
            </p:txBody>
          </p:sp>
          <p:sp>
            <p:nvSpPr>
              <p:cNvPr id="80" name="TextBox 80"/>
              <p:cNvSpPr txBox="1"/>
              <p:nvPr/>
            </p:nvSpPr>
            <p:spPr>
              <a:xfrm>
                <a:off x="2214349" y="2472928"/>
                <a:ext cx="676702"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存量维护 增量拓展​</a:t>
                </a:r>
              </a:p>
            </p:txBody>
          </p:sp>
          <p:sp>
            <p:nvSpPr>
              <p:cNvPr id="81" name="Ellipse 81"/>
              <p:cNvSpPr/>
              <p:nvPr/>
            </p:nvSpPr>
            <p:spPr>
              <a:xfrm>
                <a:off x="3448050" y="2590800"/>
                <a:ext cx="533400" cy="533400"/>
              </a:xfrm>
              <a:prstGeom prst="ellipse">
                <a:avLst/>
              </a:prstGeom>
              <a:solidFill>
                <a:srgbClr val="FFFFFF"/>
              </a:solidFill>
              <a:ln w="19050">
                <a:solidFill>
                  <a:srgbClr val="A3422F"/>
                </a:solidFill>
              </a:ln>
            </p:spPr>
          </p:sp>
          <p:grpSp>
            <p:nvGrpSpPr>
              <p:cNvPr id="87" name="Group 87"/>
              <p:cNvGrpSpPr/>
              <p:nvPr/>
            </p:nvGrpSpPr>
            <p:grpSpPr>
              <a:xfrm>
                <a:off x="3643312" y="2670699"/>
                <a:ext cx="142875" cy="143938"/>
                <a:chOff x="3643312" y="2670699"/>
                <a:chExt cx="142875" cy="143938"/>
              </a:xfrm>
            </p:grpSpPr>
            <p:sp>
              <p:nvSpPr>
                <p:cNvPr id="82" name="Freeform 82"/>
                <p:cNvSpPr/>
                <p:nvPr/>
              </p:nvSpPr>
              <p:spPr>
                <a:xfrm>
                  <a:off x="3690937" y="27352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76200F"/>
                  </a:solidFill>
                </a:ln>
              </p:spPr>
            </p:sp>
            <p:sp>
              <p:nvSpPr>
                <p:cNvPr id="83" name="Freeform 83"/>
                <p:cNvSpPr/>
                <p:nvPr/>
              </p:nvSpPr>
              <p:spPr>
                <a:xfrm>
                  <a:off x="3690937" y="27590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76200F"/>
                  </a:solidFill>
                </a:ln>
              </p:spPr>
            </p:sp>
            <p:sp>
              <p:nvSpPr>
                <p:cNvPr id="84" name="Freeform 84"/>
                <p:cNvSpPr/>
                <p:nvPr/>
              </p:nvSpPr>
              <p:spPr>
                <a:xfrm>
                  <a:off x="3643312" y="26706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76200F"/>
                  </a:solidFill>
                </a:ln>
              </p:spPr>
            </p:sp>
            <p:sp>
              <p:nvSpPr>
                <p:cNvPr id="85" name="Freeform 85"/>
                <p:cNvSpPr/>
                <p:nvPr/>
              </p:nvSpPr>
              <p:spPr>
                <a:xfrm>
                  <a:off x="3643312" y="26955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76200F"/>
                  </a:solidFill>
                </a:ln>
              </p:spPr>
            </p:sp>
            <p:sp>
              <p:nvSpPr>
                <p:cNvPr id="86" name="Freeform 86"/>
                <p:cNvSpPr/>
                <p:nvPr/>
              </p:nvSpPr>
              <p:spPr>
                <a:xfrm>
                  <a:off x="3643312" y="27352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76200F"/>
                  </a:solidFill>
                </a:ln>
              </p:spPr>
            </p:sp>
          </p:grpSp>
          <p:sp>
            <p:nvSpPr>
              <p:cNvPr id="88" name="TextBox 88"/>
              <p:cNvSpPr txBox="1"/>
              <p:nvPr/>
            </p:nvSpPr>
            <p:spPr>
              <a:xfrm>
                <a:off x="3557588" y="2878455"/>
                <a:ext cx="314325"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331712"/>
                    </a:solidFill>
                    <a:latin typeface="+mn-lt"/>
                    <a:ea typeface="+mn-ea"/>
                    <a:cs typeface="+mn-cs"/>
                  </a:rPr>
                  <a:t>工资代发</a:t>
                </a:r>
                <a:br/>
                <a:r>
                  <a:rPr lang="zh-CN" sz="600" b="1" dirty="0">
                    <a:solidFill>
                      <a:srgbClr val="331712"/>
                    </a:solidFill>
                    <a:latin typeface="+mn-lt"/>
                    <a:ea typeface="+mn-ea"/>
                    <a:cs typeface="+mn-cs"/>
                  </a:rPr>
                  <a:t>结算融资</a:t>
                </a:r>
              </a:p>
            </p:txBody>
          </p:sp>
          <p:sp>
            <p:nvSpPr>
              <p:cNvPr id="89" name="TextBox 89"/>
              <p:cNvSpPr txBox="1"/>
              <p:nvPr/>
            </p:nvSpPr>
            <p:spPr>
              <a:xfrm>
                <a:off x="4110038" y="2853928"/>
                <a:ext cx="69938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73615E"/>
                    </a:solidFill>
                    <a:latin typeface="+mn-lt"/>
                    <a:ea typeface="+mn-ea"/>
                    <a:cs typeface="+mn-cs"/>
                  </a:rPr>
                  <a:t>代发工资 / 日常结算​</a:t>
                </a:r>
                <a:br/>
                <a:r>
                  <a:rPr lang="zh-CN" sz="560" dirty="0">
                    <a:solidFill>
                      <a:srgbClr val="73615E"/>
                    </a:solidFill>
                    <a:latin typeface="+mn-lt"/>
                    <a:ea typeface="+mn-ea"/>
                    <a:cs typeface="+mn-cs"/>
                  </a:rPr>
                  <a:t>企业贷 / 供应链金融​</a:t>
                </a:r>
              </a:p>
            </p:txBody>
          </p:sp>
          <p:sp>
            <p:nvSpPr>
              <p:cNvPr id="90" name="Freeform 90"/>
              <p:cNvSpPr/>
              <p:nvPr/>
            </p:nvSpPr>
            <p:spPr>
              <a:xfrm>
                <a:off x="2983230" y="1363028"/>
                <a:ext cx="397192" cy="474345"/>
              </a:xfrm>
              <a:custGeom>
                <a:avLst/>
                <a:gdLst/>
                <a:ahLst/>
                <a:cxnLst/>
                <a:rect l="l" t="t" r="r" b="b"/>
                <a:pathLst>
                  <a:path w="397192" h="474345">
                    <a:moveTo>
                      <a:pt x="397192" y="0"/>
                    </a:moveTo>
                    <a:cubicBezTo>
                      <a:pt x="203676" y="94835"/>
                      <a:pt x="59365" y="267178"/>
                      <a:pt x="0" y="474345"/>
                    </a:cubicBezTo>
                  </a:path>
                </a:pathLst>
              </a:custGeom>
              <a:noFill/>
              <a:ln w="19050">
                <a:solidFill>
                  <a:srgbClr val="A3422F"/>
                </a:solidFill>
                <a:tailEnd type="triangle" w="lg" len="lg"/>
              </a:ln>
            </p:spPr>
          </p:sp>
          <p:sp>
            <p:nvSpPr>
              <p:cNvPr id="91" name="Freeform 91"/>
              <p:cNvSpPr/>
              <p:nvPr/>
            </p:nvSpPr>
            <p:spPr>
              <a:xfrm>
                <a:off x="2983230" y="2258378"/>
                <a:ext cx="397192" cy="474345"/>
              </a:xfrm>
              <a:custGeom>
                <a:avLst/>
                <a:gdLst/>
                <a:ahLst/>
                <a:cxnLst/>
                <a:rect l="l" t="t" r="r" b="b"/>
                <a:pathLst>
                  <a:path w="397192" h="474345">
                    <a:moveTo>
                      <a:pt x="0" y="0"/>
                    </a:moveTo>
                    <a:cubicBezTo>
                      <a:pt x="59365" y="207167"/>
                      <a:pt x="203676" y="379510"/>
                      <a:pt x="397192" y="474345"/>
                    </a:cubicBezTo>
                  </a:path>
                </a:pathLst>
              </a:custGeom>
              <a:noFill/>
              <a:ln w="19050">
                <a:solidFill>
                  <a:srgbClr val="A3422F"/>
                </a:solidFill>
                <a:tailEnd type="triangle" w="lg" len="lg"/>
              </a:ln>
            </p:spPr>
          </p:sp>
          <p:sp>
            <p:nvSpPr>
              <p:cNvPr id="92" name="Freeform 92"/>
              <p:cNvSpPr/>
              <p:nvPr/>
            </p:nvSpPr>
            <p:spPr>
              <a:xfrm>
                <a:off x="4049078" y="1363028"/>
                <a:ext cx="427892" cy="1369695"/>
              </a:xfrm>
              <a:custGeom>
                <a:avLst/>
                <a:gdLst/>
                <a:ahLst/>
                <a:cxnLst/>
                <a:rect l="l" t="t" r="r" b="b"/>
                <a:pathLst>
                  <a:path w="427892" h="1369695">
                    <a:moveTo>
                      <a:pt x="0" y="1369695"/>
                    </a:moveTo>
                    <a:cubicBezTo>
                      <a:pt x="261811" y="1241969"/>
                      <a:pt x="427892" y="976153"/>
                      <a:pt x="427892" y="684847"/>
                    </a:cubicBezTo>
                    <a:cubicBezTo>
                      <a:pt x="427892" y="393542"/>
                      <a:pt x="261811" y="127726"/>
                      <a:pt x="0" y="0"/>
                    </a:cubicBezTo>
                  </a:path>
                </a:pathLst>
              </a:custGeom>
              <a:noFill/>
              <a:ln w="19050">
                <a:solidFill>
                  <a:srgbClr val="A3422F"/>
                </a:solidFill>
                <a:tailEnd type="triangle" w="lg" len="lg"/>
              </a:ln>
            </p:spPr>
          </p:sp>
        </p:grpSp>
        <p:grpSp>
          <p:nvGrpSpPr>
            <p:cNvPr id="138" name="retail-loop"/>
            <p:cNvGrpSpPr/>
            <p:nvPr/>
          </p:nvGrpSpPr>
          <p:grpSpPr>
            <a:xfrm>
              <a:off x="6295708" y="948928"/>
              <a:ext cx="3348355" cy="2270522"/>
              <a:chOff x="6295708" y="948928"/>
              <a:chExt cx="3348355" cy="2270522"/>
            </a:xfrm>
          </p:grpSpPr>
          <p:sp>
            <p:nvSpPr>
              <p:cNvPr id="94" name="Ellipse 94"/>
              <p:cNvSpPr/>
              <p:nvPr/>
            </p:nvSpPr>
            <p:spPr>
              <a:xfrm>
                <a:off x="7877175" y="1066800"/>
                <a:ext cx="533400" cy="533400"/>
              </a:xfrm>
              <a:prstGeom prst="ellipse">
                <a:avLst/>
              </a:prstGeom>
              <a:solidFill>
                <a:srgbClr val="FFFFFF"/>
              </a:solidFill>
              <a:ln w="19050">
                <a:solidFill>
                  <a:srgbClr val="A3422F"/>
                </a:solidFill>
              </a:ln>
            </p:spPr>
          </p:sp>
          <p:grpSp>
            <p:nvGrpSpPr>
              <p:cNvPr id="101" name="Group 101"/>
              <p:cNvGrpSpPr/>
              <p:nvPr/>
            </p:nvGrpSpPr>
            <p:grpSpPr>
              <a:xfrm>
                <a:off x="8072437" y="1147762"/>
                <a:ext cx="142875" cy="142875"/>
                <a:chOff x="8072437" y="1147762"/>
                <a:chExt cx="142875" cy="142875"/>
              </a:xfrm>
            </p:grpSpPr>
            <p:sp>
              <p:nvSpPr>
                <p:cNvPr id="95" name="Freeform 95"/>
                <p:cNvSpPr/>
                <p:nvPr/>
              </p:nvSpPr>
              <p:spPr>
                <a:xfrm>
                  <a:off x="8128000" y="12112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96" name="Freeform 96"/>
                <p:cNvSpPr/>
                <p:nvPr/>
              </p:nvSpPr>
              <p:spPr>
                <a:xfrm>
                  <a:off x="8112125" y="12668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76200F"/>
                  </a:solidFill>
                </a:ln>
              </p:spPr>
            </p:sp>
            <p:sp>
              <p:nvSpPr>
                <p:cNvPr id="97" name="Freeform 97"/>
                <p:cNvSpPr/>
                <p:nvPr/>
              </p:nvSpPr>
              <p:spPr>
                <a:xfrm>
                  <a:off x="8167687" y="11477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98" name="Freeform 98"/>
                <p:cNvSpPr/>
                <p:nvPr/>
              </p:nvSpPr>
              <p:spPr>
                <a:xfrm>
                  <a:off x="8183562" y="12033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76200F"/>
                  </a:solidFill>
                </a:ln>
              </p:spPr>
            </p:sp>
            <p:sp>
              <p:nvSpPr>
                <p:cNvPr id="99" name="Freeform 99"/>
                <p:cNvSpPr/>
                <p:nvPr/>
              </p:nvSpPr>
              <p:spPr>
                <a:xfrm>
                  <a:off x="8088312" y="11477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100" name="Freeform 100"/>
                <p:cNvSpPr/>
                <p:nvPr/>
              </p:nvSpPr>
              <p:spPr>
                <a:xfrm>
                  <a:off x="8072437" y="12033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76200F"/>
                  </a:solidFill>
                </a:ln>
              </p:spPr>
            </p:sp>
          </p:grpSp>
          <p:sp>
            <p:nvSpPr>
              <p:cNvPr id="102" name="TextBox 102"/>
              <p:cNvSpPr txBox="1"/>
              <p:nvPr/>
            </p:nvSpPr>
            <p:spPr>
              <a:xfrm>
                <a:off x="7889904" y="1378982"/>
                <a:ext cx="50794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员工 / 商户​</a:t>
                </a:r>
              </a:p>
            </p:txBody>
          </p:sp>
          <p:sp>
            <p:nvSpPr>
              <p:cNvPr id="103" name="TextBox 103"/>
              <p:cNvSpPr txBox="1"/>
              <p:nvPr/>
            </p:nvSpPr>
            <p:spPr>
              <a:xfrm>
                <a:off x="7622710" y="948928"/>
                <a:ext cx="1042330"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企业员工 / 商户业主及其家庭​</a:t>
                </a:r>
              </a:p>
            </p:txBody>
          </p:sp>
          <p:sp>
            <p:nvSpPr>
              <p:cNvPr id="104" name="Ellipse 104"/>
              <p:cNvSpPr/>
              <p:nvPr/>
            </p:nvSpPr>
            <p:spPr>
              <a:xfrm>
                <a:off x="8696325" y="1524000"/>
                <a:ext cx="533400" cy="533400"/>
              </a:xfrm>
              <a:prstGeom prst="ellipse">
                <a:avLst/>
              </a:prstGeom>
              <a:solidFill>
                <a:srgbClr val="FFFFFF"/>
              </a:solidFill>
              <a:ln w="19050">
                <a:solidFill>
                  <a:srgbClr val="A3422F"/>
                </a:solidFill>
              </a:ln>
            </p:spPr>
          </p:sp>
          <p:grpSp>
            <p:nvGrpSpPr>
              <p:cNvPr id="108" name="Group 108"/>
              <p:cNvGrpSpPr/>
              <p:nvPr/>
            </p:nvGrpSpPr>
            <p:grpSpPr>
              <a:xfrm>
                <a:off x="8891587" y="1604962"/>
                <a:ext cx="142875" cy="142875"/>
                <a:chOff x="8891587" y="1604962"/>
                <a:chExt cx="142875" cy="142875"/>
              </a:xfrm>
            </p:grpSpPr>
            <p:sp>
              <p:nvSpPr>
                <p:cNvPr id="105" name="Freeform 105"/>
                <p:cNvSpPr/>
                <p:nvPr/>
              </p:nvSpPr>
              <p:spPr>
                <a:xfrm>
                  <a:off x="8891587" y="160496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76200F"/>
                  </a:solidFill>
                </a:ln>
              </p:spPr>
            </p:sp>
            <p:sp>
              <p:nvSpPr>
                <p:cNvPr id="106" name="Freeform 106"/>
                <p:cNvSpPr/>
                <p:nvPr/>
              </p:nvSpPr>
              <p:spPr>
                <a:xfrm>
                  <a:off x="8907462" y="167640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76200F"/>
                  </a:solidFill>
                </a:ln>
              </p:spPr>
            </p:sp>
            <p:sp>
              <p:nvSpPr>
                <p:cNvPr id="107" name="Freeform 107"/>
                <p:cNvSpPr/>
                <p:nvPr/>
              </p:nvSpPr>
              <p:spPr>
                <a:xfrm>
                  <a:off x="8939212" y="168433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76200F"/>
                  </a:solidFill>
                </a:ln>
              </p:spPr>
            </p:sp>
          </p:grpSp>
          <p:sp>
            <p:nvSpPr>
              <p:cNvPr id="109" name="TextBox 109"/>
              <p:cNvSpPr txBox="1"/>
              <p:nvPr/>
            </p:nvSpPr>
            <p:spPr>
              <a:xfrm>
                <a:off x="8785949" y="183618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家庭配套</a:t>
                </a:r>
              </a:p>
            </p:txBody>
          </p:sp>
          <p:sp>
            <p:nvSpPr>
              <p:cNvPr id="110" name="TextBox 110"/>
              <p:cNvSpPr txBox="1"/>
              <p:nvPr/>
            </p:nvSpPr>
            <p:spPr>
              <a:xfrm>
                <a:off x="8966010" y="1348978"/>
                <a:ext cx="678053" cy="207169"/>
              </a:xfrm>
              <a:prstGeom prst="rect">
                <a:avLst/>
              </a:prstGeom>
              <a:noFill/>
              <a:ln>
                <a:noFill/>
              </a:ln>
            </p:spPr>
            <p:txBody>
              <a:bodyPr wrap="none" lIns="0" tIns="0" rIns="0" bIns="0" anchor="t" anchorCtr="0">
                <a:spAutoFit/>
              </a:bodyPr>
              <a:lstStyle/>
              <a:p>
                <a:pPr algn="r">
                  <a:lnSpc>
                    <a:spcPts val="750"/>
                  </a:lnSpc>
                </a:pPr>
                <a:r>
                  <a:rPr lang="zh-CN" sz="560" dirty="0">
                    <a:solidFill>
                      <a:srgbClr val="73615E"/>
                    </a:solidFill>
                    <a:latin typeface="+mn-lt"/>
                    <a:ea typeface="+mn-ea"/>
                    <a:cs typeface="+mn-cs"/>
                  </a:rPr>
                  <a:t>配偶 / 子女 / 长辈​​</a:t>
                </a:r>
                <a:br/>
                <a:r>
                  <a:rPr lang="zh-CN" sz="560" dirty="0">
                    <a:solidFill>
                      <a:srgbClr val="73615E"/>
                    </a:solidFill>
                    <a:latin typeface="+mn-lt"/>
                    <a:ea typeface="+mn-ea"/>
                    <a:cs typeface="+mn-cs"/>
                  </a:rPr>
                  <a:t>综合金融服务</a:t>
                </a:r>
              </a:p>
            </p:txBody>
          </p:sp>
          <p:sp>
            <p:nvSpPr>
              <p:cNvPr id="111" name="Ellipse 111"/>
              <p:cNvSpPr/>
              <p:nvPr/>
            </p:nvSpPr>
            <p:spPr>
              <a:xfrm>
                <a:off x="8696325" y="2228850"/>
                <a:ext cx="533400" cy="533400"/>
              </a:xfrm>
              <a:prstGeom prst="ellipse">
                <a:avLst/>
              </a:prstGeom>
              <a:solidFill>
                <a:srgbClr val="FFFFFF"/>
              </a:solidFill>
              <a:ln w="19050">
                <a:solidFill>
                  <a:srgbClr val="A3422F"/>
                </a:solidFill>
              </a:ln>
            </p:spPr>
          </p:sp>
          <p:grpSp>
            <p:nvGrpSpPr>
              <p:cNvPr id="116" name="Group 116"/>
              <p:cNvGrpSpPr/>
              <p:nvPr/>
            </p:nvGrpSpPr>
            <p:grpSpPr>
              <a:xfrm>
                <a:off x="8891587" y="2325687"/>
                <a:ext cx="142875" cy="111125"/>
                <a:chOff x="8891587" y="2325687"/>
                <a:chExt cx="142875" cy="111125"/>
              </a:xfrm>
            </p:grpSpPr>
            <p:sp>
              <p:nvSpPr>
                <p:cNvPr id="112" name="Freeform 112"/>
                <p:cNvSpPr/>
                <p:nvPr/>
              </p:nvSpPr>
              <p:spPr>
                <a:xfrm>
                  <a:off x="8891587" y="232568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76200F"/>
                  </a:solidFill>
                </a:ln>
              </p:spPr>
            </p:sp>
            <p:sp>
              <p:nvSpPr>
                <p:cNvPr id="113" name="Freeform 113"/>
                <p:cNvSpPr/>
                <p:nvPr/>
              </p:nvSpPr>
              <p:spPr>
                <a:xfrm>
                  <a:off x="8891587" y="2365375"/>
                  <a:ext cx="142875" cy="9525"/>
                </a:xfrm>
                <a:custGeom>
                  <a:avLst/>
                  <a:gdLst/>
                  <a:ahLst/>
                  <a:cxnLst/>
                  <a:rect l="l" t="t" r="r" b="b"/>
                  <a:pathLst>
                    <a:path w="142875" h="9525">
                      <a:moveTo>
                        <a:pt x="0" y="0"/>
                      </a:moveTo>
                      <a:lnTo>
                        <a:pt x="142875" y="0"/>
                      </a:lnTo>
                    </a:path>
                  </a:pathLst>
                </a:custGeom>
                <a:noFill/>
                <a:ln w="15875">
                  <a:solidFill>
                    <a:srgbClr val="76200F"/>
                  </a:solidFill>
                </a:ln>
              </p:spPr>
            </p:sp>
            <p:sp>
              <p:nvSpPr>
                <p:cNvPr id="114" name="Freeform 114"/>
                <p:cNvSpPr/>
                <p:nvPr/>
              </p:nvSpPr>
              <p:spPr>
                <a:xfrm>
                  <a:off x="8923337" y="2405062"/>
                  <a:ext cx="9525" cy="9525"/>
                </a:xfrm>
                <a:custGeom>
                  <a:avLst/>
                  <a:gdLst/>
                  <a:ahLst/>
                  <a:cxnLst/>
                  <a:rect l="l" t="t" r="r" b="b"/>
                  <a:pathLst>
                    <a:path w="9525" h="9525">
                      <a:moveTo>
                        <a:pt x="0" y="0"/>
                      </a:moveTo>
                      <a:lnTo>
                        <a:pt x="79" y="0"/>
                      </a:lnTo>
                    </a:path>
                  </a:pathLst>
                </a:custGeom>
                <a:noFill/>
                <a:ln w="15875">
                  <a:solidFill>
                    <a:srgbClr val="76200F"/>
                  </a:solidFill>
                </a:ln>
              </p:spPr>
            </p:sp>
            <p:sp>
              <p:nvSpPr>
                <p:cNvPr id="115" name="Freeform 115"/>
                <p:cNvSpPr/>
                <p:nvPr/>
              </p:nvSpPr>
              <p:spPr>
                <a:xfrm>
                  <a:off x="8955087" y="2405062"/>
                  <a:ext cx="15875" cy="9525"/>
                </a:xfrm>
                <a:custGeom>
                  <a:avLst/>
                  <a:gdLst/>
                  <a:ahLst/>
                  <a:cxnLst/>
                  <a:rect l="l" t="t" r="r" b="b"/>
                  <a:pathLst>
                    <a:path w="15875" h="9525">
                      <a:moveTo>
                        <a:pt x="0" y="0"/>
                      </a:moveTo>
                      <a:lnTo>
                        <a:pt x="15875" y="0"/>
                      </a:lnTo>
                    </a:path>
                  </a:pathLst>
                </a:custGeom>
                <a:noFill/>
                <a:ln w="15875">
                  <a:solidFill>
                    <a:srgbClr val="76200F"/>
                  </a:solidFill>
                </a:ln>
              </p:spPr>
            </p:sp>
          </p:grpSp>
          <p:sp>
            <p:nvSpPr>
              <p:cNvPr id="117" name="TextBox 117"/>
              <p:cNvSpPr txBox="1"/>
              <p:nvPr/>
            </p:nvSpPr>
            <p:spPr>
              <a:xfrm>
                <a:off x="8785949" y="25410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开户绑卡</a:t>
                </a:r>
              </a:p>
            </p:txBody>
          </p:sp>
          <p:sp>
            <p:nvSpPr>
              <p:cNvPr id="118" name="TextBox 118"/>
              <p:cNvSpPr txBox="1"/>
              <p:nvPr/>
            </p:nvSpPr>
            <p:spPr>
              <a:xfrm>
                <a:off x="8613330" y="2834878"/>
                <a:ext cx="699389"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73615E"/>
                    </a:solidFill>
                    <a:latin typeface="+mn-lt"/>
                    <a:ea typeface="+mn-ea"/>
                    <a:cs typeface="+mn-cs"/>
                  </a:rPr>
                  <a:t>开立账户 / 绑定支付​</a:t>
                </a:r>
                <a:br/>
                <a:r>
                  <a:rPr lang="zh-CN" sz="560" dirty="0">
                    <a:solidFill>
                      <a:srgbClr val="73615E"/>
                    </a:solidFill>
                    <a:latin typeface="+mn-lt"/>
                    <a:ea typeface="+mn-ea"/>
                    <a:cs typeface="+mn-cs"/>
                  </a:rPr>
                  <a:t>激活代发</a:t>
                </a:r>
              </a:p>
            </p:txBody>
          </p:sp>
          <p:sp>
            <p:nvSpPr>
              <p:cNvPr id="119" name="Ellipse 119"/>
              <p:cNvSpPr/>
              <p:nvPr/>
            </p:nvSpPr>
            <p:spPr>
              <a:xfrm>
                <a:off x="7877175" y="2686050"/>
                <a:ext cx="533400" cy="533400"/>
              </a:xfrm>
              <a:prstGeom prst="ellipse">
                <a:avLst/>
              </a:prstGeom>
              <a:solidFill>
                <a:srgbClr val="FFFFFF"/>
              </a:solidFill>
              <a:ln w="19050">
                <a:solidFill>
                  <a:srgbClr val="A3422F"/>
                </a:solidFill>
              </a:ln>
            </p:spPr>
          </p:sp>
          <p:grpSp>
            <p:nvGrpSpPr>
              <p:cNvPr id="124" name="Group 124"/>
              <p:cNvGrpSpPr/>
              <p:nvPr/>
            </p:nvGrpSpPr>
            <p:grpSpPr>
              <a:xfrm>
                <a:off x="8080375" y="2767012"/>
                <a:ext cx="127000" cy="142875"/>
                <a:chOff x="8080375" y="2767012"/>
                <a:chExt cx="127000" cy="142875"/>
              </a:xfrm>
            </p:grpSpPr>
            <p:sp>
              <p:nvSpPr>
                <p:cNvPr id="120" name="Freeform 120"/>
                <p:cNvSpPr/>
                <p:nvPr/>
              </p:nvSpPr>
              <p:spPr>
                <a:xfrm>
                  <a:off x="8080375" y="28781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121" name="Freeform 121"/>
                <p:cNvSpPr/>
                <p:nvPr/>
              </p:nvSpPr>
              <p:spPr>
                <a:xfrm>
                  <a:off x="8167687" y="28781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122" name="Freeform 122"/>
                <p:cNvSpPr/>
                <p:nvPr/>
              </p:nvSpPr>
              <p:spPr>
                <a:xfrm>
                  <a:off x="8080375" y="2767012"/>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76200F"/>
                  </a:solidFill>
                </a:ln>
              </p:spPr>
            </p:sp>
            <p:sp>
              <p:nvSpPr>
                <p:cNvPr id="123" name="Freeform 123"/>
                <p:cNvSpPr/>
                <p:nvPr/>
              </p:nvSpPr>
              <p:spPr>
                <a:xfrm>
                  <a:off x="8096250" y="2782887"/>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76200F"/>
                  </a:solidFill>
                </a:ln>
              </p:spPr>
            </p:sp>
          </p:grpSp>
          <p:sp>
            <p:nvSpPr>
              <p:cNvPr id="125" name="TextBox 125"/>
              <p:cNvSpPr txBox="1"/>
              <p:nvPr/>
            </p:nvSpPr>
            <p:spPr>
              <a:xfrm>
                <a:off x="7966799" y="29982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消费支付</a:t>
                </a:r>
              </a:p>
            </p:txBody>
          </p:sp>
          <p:sp>
            <p:nvSpPr>
              <p:cNvPr id="126" name="TextBox 126"/>
              <p:cNvSpPr txBox="1"/>
              <p:nvPr/>
            </p:nvSpPr>
            <p:spPr>
              <a:xfrm>
                <a:off x="7134924" y="2853928"/>
                <a:ext cx="699389" cy="207169"/>
              </a:xfrm>
              <a:prstGeom prst="rect">
                <a:avLst/>
              </a:prstGeom>
              <a:noFill/>
              <a:ln>
                <a:noFill/>
              </a:ln>
            </p:spPr>
            <p:txBody>
              <a:bodyPr wrap="none" lIns="0" tIns="0" rIns="0" bIns="0" anchor="t" anchorCtr="0">
                <a:spAutoFit/>
              </a:bodyPr>
              <a:lstStyle/>
              <a:p>
                <a:pPr algn="r">
                  <a:lnSpc>
                    <a:spcPts val="750"/>
                  </a:lnSpc>
                </a:pPr>
                <a:r>
                  <a:rPr lang="zh-CN" sz="560" dirty="0">
                    <a:solidFill>
                      <a:srgbClr val="73615E"/>
                    </a:solidFill>
                    <a:latin typeface="+mn-lt"/>
                    <a:ea typeface="+mn-ea"/>
                    <a:cs typeface="+mn-cs"/>
                  </a:rPr>
                  <a:t>日常消费 / 场景支付​</a:t>
                </a:r>
                <a:br/>
                <a:r>
                  <a:rPr lang="zh-CN" sz="560" dirty="0">
                    <a:solidFill>
                      <a:srgbClr val="73615E"/>
                    </a:solidFill>
                    <a:latin typeface="+mn-lt"/>
                    <a:ea typeface="+mn-ea"/>
                    <a:cs typeface="+mn-cs"/>
                  </a:rPr>
                  <a:t>线上线下联动</a:t>
                </a:r>
              </a:p>
            </p:txBody>
          </p:sp>
          <p:sp>
            <p:nvSpPr>
              <p:cNvPr id="127" name="Ellipse 127"/>
              <p:cNvSpPr/>
              <p:nvPr/>
            </p:nvSpPr>
            <p:spPr>
              <a:xfrm>
                <a:off x="7058025" y="2228850"/>
                <a:ext cx="533400" cy="533400"/>
              </a:xfrm>
              <a:prstGeom prst="ellipse">
                <a:avLst/>
              </a:prstGeom>
              <a:solidFill>
                <a:srgbClr val="FFFFFF"/>
              </a:solidFill>
              <a:ln w="19050">
                <a:solidFill>
                  <a:srgbClr val="A3422F"/>
                </a:solidFill>
              </a:ln>
            </p:spPr>
          </p:sp>
          <p:grpSp>
            <p:nvGrpSpPr>
              <p:cNvPr id="130" name="Group 130"/>
              <p:cNvGrpSpPr/>
              <p:nvPr/>
            </p:nvGrpSpPr>
            <p:grpSpPr>
              <a:xfrm>
                <a:off x="7261225" y="2333625"/>
                <a:ext cx="127000" cy="112712"/>
                <a:chOff x="7261225" y="2333625"/>
                <a:chExt cx="127000" cy="112712"/>
              </a:xfrm>
            </p:grpSpPr>
            <p:sp>
              <p:nvSpPr>
                <p:cNvPr id="128" name="Freeform 128"/>
                <p:cNvSpPr/>
                <p:nvPr/>
              </p:nvSpPr>
              <p:spPr>
                <a:xfrm>
                  <a:off x="7261225" y="2436812"/>
                  <a:ext cx="127000" cy="9525"/>
                </a:xfrm>
                <a:custGeom>
                  <a:avLst/>
                  <a:gdLst/>
                  <a:ahLst/>
                  <a:cxnLst/>
                  <a:rect l="l" t="t" r="r" b="b"/>
                  <a:pathLst>
                    <a:path w="127000" h="9525">
                      <a:moveTo>
                        <a:pt x="0" y="0"/>
                      </a:moveTo>
                      <a:lnTo>
                        <a:pt x="127000" y="0"/>
                      </a:lnTo>
                    </a:path>
                  </a:pathLst>
                </a:custGeom>
                <a:noFill/>
                <a:ln w="15875">
                  <a:solidFill>
                    <a:srgbClr val="76200F"/>
                  </a:solidFill>
                </a:ln>
              </p:spPr>
            </p:sp>
            <p:sp>
              <p:nvSpPr>
                <p:cNvPr id="129" name="Freeform 129"/>
                <p:cNvSpPr/>
                <p:nvPr/>
              </p:nvSpPr>
              <p:spPr>
                <a:xfrm>
                  <a:off x="7261225" y="233362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76200F"/>
                  </a:solidFill>
                </a:ln>
              </p:spPr>
            </p:sp>
          </p:grpSp>
          <p:sp>
            <p:nvSpPr>
              <p:cNvPr id="131" name="TextBox 131"/>
              <p:cNvSpPr txBox="1"/>
              <p:nvPr/>
            </p:nvSpPr>
            <p:spPr>
              <a:xfrm>
                <a:off x="7011737" y="2541032"/>
                <a:ext cx="625977"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财富管理/信贷​</a:t>
                </a:r>
              </a:p>
            </p:txBody>
          </p:sp>
          <p:sp>
            <p:nvSpPr>
              <p:cNvPr id="132" name="TextBox 132"/>
              <p:cNvSpPr txBox="1"/>
              <p:nvPr/>
            </p:nvSpPr>
            <p:spPr>
              <a:xfrm>
                <a:off x="6295708" y="2796778"/>
                <a:ext cx="738505" cy="207169"/>
              </a:xfrm>
              <a:prstGeom prst="rect">
                <a:avLst/>
              </a:prstGeom>
              <a:noFill/>
              <a:ln>
                <a:noFill/>
              </a:ln>
            </p:spPr>
            <p:txBody>
              <a:bodyPr wrap="none" lIns="0" tIns="0" rIns="0" bIns="0" anchor="t" anchorCtr="0">
                <a:spAutoFit/>
              </a:bodyPr>
              <a:lstStyle/>
              <a:p>
                <a:pPr algn="r">
                  <a:lnSpc>
                    <a:spcPts val="750"/>
                  </a:lnSpc>
                </a:pPr>
                <a:r>
                  <a:rPr lang="zh-CN" sz="560" dirty="0">
                    <a:solidFill>
                      <a:srgbClr val="73615E"/>
                    </a:solidFill>
                    <a:latin typeface="+mn-lt"/>
                    <a:ea typeface="+mn-ea"/>
                    <a:cs typeface="+mn-cs"/>
                  </a:rPr>
                  <a:t>理财配置 / 消费信贷​​</a:t>
                </a:r>
                <a:br/>
                <a:r>
                  <a:rPr lang="zh-CN" sz="560" dirty="0">
                    <a:solidFill>
                      <a:srgbClr val="73615E"/>
                    </a:solidFill>
                    <a:latin typeface="+mn-lt"/>
                    <a:ea typeface="+mn-ea"/>
                    <a:cs typeface="+mn-cs"/>
                  </a:rPr>
                  <a:t>经营贷</a:t>
                </a:r>
              </a:p>
            </p:txBody>
          </p:sp>
          <p:sp>
            <p:nvSpPr>
              <p:cNvPr id="133" name="Freeform 133"/>
              <p:cNvSpPr/>
              <p:nvPr/>
            </p:nvSpPr>
            <p:spPr>
              <a:xfrm>
                <a:off x="8366760" y="1241108"/>
                <a:ext cx="340043" cy="196215"/>
              </a:xfrm>
              <a:custGeom>
                <a:avLst/>
                <a:gdLst/>
                <a:ahLst/>
                <a:cxnLst/>
                <a:rect l="l" t="t" r="r" b="b"/>
                <a:pathLst>
                  <a:path w="340043" h="196215">
                    <a:moveTo>
                      <a:pt x="0" y="0"/>
                    </a:moveTo>
                    <a:cubicBezTo>
                      <a:pt x="127729" y="36517"/>
                      <a:pt x="244509" y="103903"/>
                      <a:pt x="340043" y="196215"/>
                    </a:cubicBezTo>
                  </a:path>
                </a:pathLst>
              </a:custGeom>
              <a:noFill/>
              <a:ln w="19050">
                <a:solidFill>
                  <a:srgbClr val="A3422F"/>
                </a:solidFill>
                <a:tailEnd type="triangle" w="lg" len="lg"/>
              </a:ln>
            </p:spPr>
          </p:sp>
          <p:sp>
            <p:nvSpPr>
              <p:cNvPr id="134" name="Freeform 134"/>
              <p:cNvSpPr/>
              <p:nvPr/>
            </p:nvSpPr>
            <p:spPr>
              <a:xfrm>
                <a:off x="8929688" y="1823085"/>
                <a:ext cx="32182" cy="392430"/>
              </a:xfrm>
              <a:custGeom>
                <a:avLst/>
                <a:gdLst/>
                <a:ahLst/>
                <a:cxnLst/>
                <a:rect l="l" t="t" r="r" b="b"/>
                <a:pathLst>
                  <a:path w="32182" h="392430">
                    <a:moveTo>
                      <a:pt x="0" y="0"/>
                    </a:moveTo>
                    <a:cubicBezTo>
                      <a:pt x="32182" y="128831"/>
                      <a:pt x="32182" y="263599"/>
                      <a:pt x="0" y="392430"/>
                    </a:cubicBezTo>
                  </a:path>
                </a:pathLst>
              </a:custGeom>
              <a:noFill/>
              <a:ln w="19050">
                <a:solidFill>
                  <a:srgbClr val="A3422F"/>
                </a:solidFill>
                <a:tailEnd type="triangle" w="lg" len="lg"/>
              </a:ln>
            </p:spPr>
          </p:sp>
          <p:sp>
            <p:nvSpPr>
              <p:cNvPr id="135" name="Freeform 135"/>
              <p:cNvSpPr/>
              <p:nvPr/>
            </p:nvSpPr>
            <p:spPr>
              <a:xfrm>
                <a:off x="8366760" y="2601278"/>
                <a:ext cx="340043" cy="196215"/>
              </a:xfrm>
              <a:custGeom>
                <a:avLst/>
                <a:gdLst/>
                <a:ahLst/>
                <a:cxnLst/>
                <a:rect l="l" t="t" r="r" b="b"/>
                <a:pathLst>
                  <a:path w="340043" h="196215">
                    <a:moveTo>
                      <a:pt x="340043" y="0"/>
                    </a:moveTo>
                    <a:cubicBezTo>
                      <a:pt x="244509" y="92312"/>
                      <a:pt x="127729" y="159698"/>
                      <a:pt x="0" y="196215"/>
                    </a:cubicBezTo>
                  </a:path>
                </a:pathLst>
              </a:custGeom>
              <a:noFill/>
              <a:ln w="19050">
                <a:solidFill>
                  <a:srgbClr val="A3422F"/>
                </a:solidFill>
                <a:tailEnd type="triangle" w="lg" len="lg"/>
              </a:ln>
            </p:spPr>
          </p:sp>
          <p:sp>
            <p:nvSpPr>
              <p:cNvPr id="136" name="Freeform 136"/>
              <p:cNvSpPr/>
              <p:nvPr/>
            </p:nvSpPr>
            <p:spPr>
              <a:xfrm>
                <a:off x="7581900" y="2601278"/>
                <a:ext cx="339090" cy="196215"/>
              </a:xfrm>
              <a:custGeom>
                <a:avLst/>
                <a:gdLst/>
                <a:ahLst/>
                <a:cxnLst/>
                <a:rect l="l" t="t" r="r" b="b"/>
                <a:pathLst>
                  <a:path w="339090" h="196215">
                    <a:moveTo>
                      <a:pt x="339090" y="196215"/>
                    </a:moveTo>
                    <a:cubicBezTo>
                      <a:pt x="211701" y="159556"/>
                      <a:pt x="95263" y="92178"/>
                      <a:pt x="0" y="0"/>
                    </a:cubicBezTo>
                  </a:path>
                </a:pathLst>
              </a:custGeom>
              <a:noFill/>
              <a:ln w="19050">
                <a:solidFill>
                  <a:srgbClr val="A3422F"/>
                </a:solidFill>
                <a:tailEnd type="triangle" w="lg" len="lg"/>
              </a:ln>
            </p:spPr>
          </p:sp>
          <p:sp>
            <p:nvSpPr>
              <p:cNvPr id="137" name="Freeform 137"/>
              <p:cNvSpPr/>
              <p:nvPr/>
            </p:nvSpPr>
            <p:spPr>
              <a:xfrm>
                <a:off x="7325881" y="1823085"/>
                <a:ext cx="32182" cy="392430"/>
              </a:xfrm>
              <a:custGeom>
                <a:avLst/>
                <a:gdLst/>
                <a:ahLst/>
                <a:cxnLst/>
                <a:rect l="l" t="t" r="r" b="b"/>
                <a:pathLst>
                  <a:path w="32182" h="392430">
                    <a:moveTo>
                      <a:pt x="32182" y="392430"/>
                    </a:moveTo>
                    <a:cubicBezTo>
                      <a:pt x="0" y="263599"/>
                      <a:pt x="0" y="128831"/>
                      <a:pt x="32182" y="0"/>
                    </a:cubicBezTo>
                  </a:path>
                </a:pathLst>
              </a:custGeom>
              <a:noFill/>
              <a:ln w="19050">
                <a:solidFill>
                  <a:srgbClr val="A3422F"/>
                </a:solidFill>
                <a:tailEnd type="triangle" w="lg" len="lg"/>
              </a:ln>
            </p:spPr>
          </p:sp>
        </p:grpSp>
        <p:sp>
          <p:nvSpPr>
            <p:cNvPr id="139" name="TextBox 139"/>
            <p:cNvSpPr txBox="1"/>
            <p:nvPr/>
          </p:nvSpPr>
          <p:spPr>
            <a:xfrm>
              <a:off x="5506402" y="3040380"/>
              <a:ext cx="817245"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企业场景导入个人客群</a:t>
              </a:r>
            </a:p>
          </p:txBody>
        </p:sp>
      </p:grpSp>
      <p:grpSp>
        <p:nvGrpSpPr>
          <p:cNvPr id="169" name="retail-side"/>
          <p:cNvGrpSpPr/>
          <p:nvPr/>
        </p:nvGrpSpPr>
        <p:grpSpPr>
          <a:xfrm>
            <a:off x="9677400" y="685800"/>
            <a:ext cx="2152650" cy="2438400"/>
            <a:chOff x="9677400" y="685800"/>
            <a:chExt cx="2152650" cy="2438400"/>
          </a:xfrm>
        </p:grpSpPr>
        <p:sp>
          <p:nvSpPr>
            <p:cNvPr id="141" name="Rectangle 141"/>
            <p:cNvSpPr/>
            <p:nvPr/>
          </p:nvSpPr>
          <p:spPr>
            <a:xfrm>
              <a:off x="9677400" y="685800"/>
              <a:ext cx="2152650" cy="2438400"/>
            </a:xfrm>
            <a:prstGeom prst="roundRect">
              <a:avLst>
                <a:gd name="adj" fmla="val 3540"/>
              </a:avLst>
            </a:prstGeom>
            <a:solidFill>
              <a:srgbClr val="FFFFFF"/>
            </a:solidFill>
            <a:ln w="14288">
              <a:solidFill>
                <a:srgbClr val="C2E0DA"/>
              </a:solidFill>
            </a:ln>
          </p:spPr>
        </p:sp>
        <p:sp>
          <p:nvSpPr>
            <p:cNvPr id="142" name="Rectangle 142"/>
            <p:cNvSpPr/>
            <p:nvPr/>
          </p:nvSpPr>
          <p:spPr>
            <a:xfrm>
              <a:off x="9677400" y="685800"/>
              <a:ext cx="2152650" cy="247650"/>
            </a:xfrm>
            <a:prstGeom prst="roundRect">
              <a:avLst>
                <a:gd name="adj" fmla="val 30769"/>
              </a:avLst>
            </a:prstGeom>
            <a:solidFill>
              <a:srgbClr val="5D190B"/>
            </a:solidFill>
            <a:ln>
              <a:noFill/>
            </a:ln>
          </p:spPr>
        </p:sp>
        <p:sp>
          <p:nvSpPr>
            <p:cNvPr id="143" name="TextBox 143"/>
            <p:cNvSpPr txBox="1"/>
            <p:nvPr/>
          </p:nvSpPr>
          <p:spPr>
            <a:xfrm>
              <a:off x="9767888" y="762714"/>
              <a:ext cx="1073023"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个人侧：客户价值提升</a:t>
              </a:r>
            </a:p>
          </p:txBody>
        </p:sp>
        <p:grpSp>
          <p:nvGrpSpPr>
            <p:cNvPr id="148" name="Group 148"/>
            <p:cNvGrpSpPr/>
            <p:nvPr/>
          </p:nvGrpSpPr>
          <p:grpSpPr>
            <a:xfrm>
              <a:off x="9815512" y="1106487"/>
              <a:ext cx="142875" cy="111125"/>
              <a:chOff x="9815512" y="1106487"/>
              <a:chExt cx="142875" cy="111125"/>
            </a:xfrm>
          </p:grpSpPr>
          <p:sp>
            <p:nvSpPr>
              <p:cNvPr id="144" name="Freeform 144"/>
              <p:cNvSpPr/>
              <p:nvPr/>
            </p:nvSpPr>
            <p:spPr>
              <a:xfrm>
                <a:off x="9815512" y="110648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76200F"/>
                </a:solidFill>
              </a:ln>
            </p:spPr>
          </p:sp>
          <p:sp>
            <p:nvSpPr>
              <p:cNvPr id="145" name="Freeform 145"/>
              <p:cNvSpPr/>
              <p:nvPr/>
            </p:nvSpPr>
            <p:spPr>
              <a:xfrm>
                <a:off x="9815512" y="1146175"/>
                <a:ext cx="142875" cy="9525"/>
              </a:xfrm>
              <a:custGeom>
                <a:avLst/>
                <a:gdLst/>
                <a:ahLst/>
                <a:cxnLst/>
                <a:rect l="l" t="t" r="r" b="b"/>
                <a:pathLst>
                  <a:path w="142875" h="9525">
                    <a:moveTo>
                      <a:pt x="0" y="0"/>
                    </a:moveTo>
                    <a:lnTo>
                      <a:pt x="142875" y="0"/>
                    </a:lnTo>
                  </a:path>
                </a:pathLst>
              </a:custGeom>
              <a:noFill/>
              <a:ln w="15875">
                <a:solidFill>
                  <a:srgbClr val="76200F"/>
                </a:solidFill>
              </a:ln>
            </p:spPr>
          </p:sp>
          <p:sp>
            <p:nvSpPr>
              <p:cNvPr id="146" name="Freeform 146"/>
              <p:cNvSpPr/>
              <p:nvPr/>
            </p:nvSpPr>
            <p:spPr>
              <a:xfrm>
                <a:off x="9847262" y="1185862"/>
                <a:ext cx="9525" cy="9525"/>
              </a:xfrm>
              <a:custGeom>
                <a:avLst/>
                <a:gdLst/>
                <a:ahLst/>
                <a:cxnLst/>
                <a:rect l="l" t="t" r="r" b="b"/>
                <a:pathLst>
                  <a:path w="9525" h="9525">
                    <a:moveTo>
                      <a:pt x="0" y="0"/>
                    </a:moveTo>
                    <a:lnTo>
                      <a:pt x="79" y="0"/>
                    </a:lnTo>
                  </a:path>
                </a:pathLst>
              </a:custGeom>
              <a:noFill/>
              <a:ln w="15875">
                <a:solidFill>
                  <a:srgbClr val="76200F"/>
                </a:solidFill>
              </a:ln>
            </p:spPr>
          </p:sp>
          <p:sp>
            <p:nvSpPr>
              <p:cNvPr id="147" name="Freeform 147"/>
              <p:cNvSpPr/>
              <p:nvPr/>
            </p:nvSpPr>
            <p:spPr>
              <a:xfrm>
                <a:off x="9879012" y="1185862"/>
                <a:ext cx="15875" cy="9525"/>
              </a:xfrm>
              <a:custGeom>
                <a:avLst/>
                <a:gdLst/>
                <a:ahLst/>
                <a:cxnLst/>
                <a:rect l="l" t="t" r="r" b="b"/>
                <a:pathLst>
                  <a:path w="15875" h="9525">
                    <a:moveTo>
                      <a:pt x="0" y="0"/>
                    </a:moveTo>
                    <a:lnTo>
                      <a:pt x="15875" y="0"/>
                    </a:lnTo>
                  </a:path>
                </a:pathLst>
              </a:custGeom>
              <a:noFill/>
              <a:ln w="15875">
                <a:solidFill>
                  <a:srgbClr val="76200F"/>
                </a:solidFill>
              </a:ln>
            </p:spPr>
          </p:sp>
        </p:grpSp>
        <p:sp>
          <p:nvSpPr>
            <p:cNvPr id="149" name="TextBox 149"/>
            <p:cNvSpPr txBox="1"/>
            <p:nvPr/>
          </p:nvSpPr>
          <p:spPr>
            <a:xfrm>
              <a:off x="10053638" y="10620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便捷金融</a:t>
              </a:r>
            </a:p>
          </p:txBody>
        </p:sp>
        <p:sp>
          <p:nvSpPr>
            <p:cNvPr id="150" name="TextBox 150"/>
            <p:cNvSpPr txBox="1"/>
            <p:nvPr/>
          </p:nvSpPr>
          <p:spPr>
            <a:xfrm>
              <a:off x="10053638" y="1211580"/>
              <a:ext cx="873785"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开户绑卡 / 一站式服务​</a:t>
              </a:r>
            </a:p>
          </p:txBody>
        </p:sp>
        <p:grpSp>
          <p:nvGrpSpPr>
            <p:cNvPr id="155" name="Group 155"/>
            <p:cNvGrpSpPr/>
            <p:nvPr/>
          </p:nvGrpSpPr>
          <p:grpSpPr>
            <a:xfrm>
              <a:off x="9823450" y="1585912"/>
              <a:ext cx="127000" cy="142875"/>
              <a:chOff x="9823450" y="1585912"/>
              <a:chExt cx="127000" cy="142875"/>
            </a:xfrm>
          </p:grpSpPr>
          <p:sp>
            <p:nvSpPr>
              <p:cNvPr id="151" name="Freeform 151"/>
              <p:cNvSpPr/>
              <p:nvPr/>
            </p:nvSpPr>
            <p:spPr>
              <a:xfrm>
                <a:off x="9823450" y="16970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152" name="Freeform 152"/>
              <p:cNvSpPr/>
              <p:nvPr/>
            </p:nvSpPr>
            <p:spPr>
              <a:xfrm>
                <a:off x="9910762" y="16970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153" name="Freeform 153"/>
              <p:cNvSpPr/>
              <p:nvPr/>
            </p:nvSpPr>
            <p:spPr>
              <a:xfrm>
                <a:off x="9823450" y="1585912"/>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76200F"/>
                </a:solidFill>
              </a:ln>
            </p:spPr>
          </p:sp>
          <p:sp>
            <p:nvSpPr>
              <p:cNvPr id="154" name="Freeform 154"/>
              <p:cNvSpPr/>
              <p:nvPr/>
            </p:nvSpPr>
            <p:spPr>
              <a:xfrm>
                <a:off x="9839325" y="1601787"/>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76200F"/>
                </a:solidFill>
              </a:ln>
            </p:spPr>
          </p:sp>
        </p:grpSp>
        <p:sp>
          <p:nvSpPr>
            <p:cNvPr id="156" name="TextBox 156"/>
            <p:cNvSpPr txBox="1"/>
            <p:nvPr/>
          </p:nvSpPr>
          <p:spPr>
            <a:xfrm>
              <a:off x="10053638" y="15573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品质生活</a:t>
              </a:r>
            </a:p>
          </p:txBody>
        </p:sp>
        <p:sp>
          <p:nvSpPr>
            <p:cNvPr id="157" name="TextBox 157"/>
            <p:cNvSpPr txBox="1"/>
            <p:nvPr/>
          </p:nvSpPr>
          <p:spPr>
            <a:xfrm>
              <a:off x="10053638" y="1706880"/>
              <a:ext cx="79301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消费优惠 / 场景权益​</a:t>
              </a:r>
            </a:p>
          </p:txBody>
        </p:sp>
        <p:grpSp>
          <p:nvGrpSpPr>
            <p:cNvPr id="160" name="Group 160"/>
            <p:cNvGrpSpPr/>
            <p:nvPr/>
          </p:nvGrpSpPr>
          <p:grpSpPr>
            <a:xfrm>
              <a:off x="9823450" y="2105025"/>
              <a:ext cx="127000" cy="112712"/>
              <a:chOff x="9823450" y="2105025"/>
              <a:chExt cx="127000" cy="112712"/>
            </a:xfrm>
          </p:grpSpPr>
          <p:sp>
            <p:nvSpPr>
              <p:cNvPr id="158" name="Freeform 158"/>
              <p:cNvSpPr/>
              <p:nvPr/>
            </p:nvSpPr>
            <p:spPr>
              <a:xfrm>
                <a:off x="9823450" y="2208212"/>
                <a:ext cx="127000" cy="9525"/>
              </a:xfrm>
              <a:custGeom>
                <a:avLst/>
                <a:gdLst/>
                <a:ahLst/>
                <a:cxnLst/>
                <a:rect l="l" t="t" r="r" b="b"/>
                <a:pathLst>
                  <a:path w="127000" h="9525">
                    <a:moveTo>
                      <a:pt x="0" y="0"/>
                    </a:moveTo>
                    <a:lnTo>
                      <a:pt x="127000" y="0"/>
                    </a:lnTo>
                  </a:path>
                </a:pathLst>
              </a:custGeom>
              <a:noFill/>
              <a:ln w="15875">
                <a:solidFill>
                  <a:srgbClr val="76200F"/>
                </a:solidFill>
              </a:ln>
            </p:spPr>
          </p:sp>
          <p:sp>
            <p:nvSpPr>
              <p:cNvPr id="159" name="Freeform 159"/>
              <p:cNvSpPr/>
              <p:nvPr/>
            </p:nvSpPr>
            <p:spPr>
              <a:xfrm>
                <a:off x="9823450" y="210502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76200F"/>
                </a:solidFill>
              </a:ln>
            </p:spPr>
          </p:sp>
        </p:grpSp>
        <p:sp>
          <p:nvSpPr>
            <p:cNvPr id="161" name="TextBox 161"/>
            <p:cNvSpPr txBox="1"/>
            <p:nvPr/>
          </p:nvSpPr>
          <p:spPr>
            <a:xfrm>
              <a:off x="10053638" y="20526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财富增值</a:t>
              </a:r>
            </a:p>
          </p:txBody>
        </p:sp>
        <p:sp>
          <p:nvSpPr>
            <p:cNvPr id="162" name="TextBox 162"/>
            <p:cNvSpPr txBox="1"/>
            <p:nvPr/>
          </p:nvSpPr>
          <p:spPr>
            <a:xfrm>
              <a:off x="10053638" y="2202180"/>
              <a:ext cx="793013"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理财配置 / 资产提升​</a:t>
              </a:r>
            </a:p>
          </p:txBody>
        </p:sp>
        <p:grpSp>
          <p:nvGrpSpPr>
            <p:cNvPr id="166" name="Group 166"/>
            <p:cNvGrpSpPr/>
            <p:nvPr/>
          </p:nvGrpSpPr>
          <p:grpSpPr>
            <a:xfrm>
              <a:off x="9815512" y="2576512"/>
              <a:ext cx="142875" cy="142875"/>
              <a:chOff x="9815512" y="2576512"/>
              <a:chExt cx="142875" cy="142875"/>
            </a:xfrm>
          </p:grpSpPr>
          <p:sp>
            <p:nvSpPr>
              <p:cNvPr id="163" name="Freeform 163"/>
              <p:cNvSpPr/>
              <p:nvPr/>
            </p:nvSpPr>
            <p:spPr>
              <a:xfrm>
                <a:off x="9815512" y="257651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76200F"/>
                </a:solidFill>
              </a:ln>
            </p:spPr>
          </p:sp>
          <p:sp>
            <p:nvSpPr>
              <p:cNvPr id="164" name="Freeform 164"/>
              <p:cNvSpPr/>
              <p:nvPr/>
            </p:nvSpPr>
            <p:spPr>
              <a:xfrm>
                <a:off x="9831387" y="264795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76200F"/>
                </a:solidFill>
              </a:ln>
            </p:spPr>
          </p:sp>
          <p:sp>
            <p:nvSpPr>
              <p:cNvPr id="165" name="Freeform 165"/>
              <p:cNvSpPr/>
              <p:nvPr/>
            </p:nvSpPr>
            <p:spPr>
              <a:xfrm>
                <a:off x="9863137" y="265588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76200F"/>
                </a:solidFill>
              </a:ln>
            </p:spPr>
          </p:sp>
        </p:grpSp>
        <p:sp>
          <p:nvSpPr>
            <p:cNvPr id="167" name="TextBox 167"/>
            <p:cNvSpPr txBox="1"/>
            <p:nvPr/>
          </p:nvSpPr>
          <p:spPr>
            <a:xfrm>
              <a:off x="10053638" y="25479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家庭覆盖</a:t>
              </a:r>
            </a:p>
          </p:txBody>
        </p:sp>
        <p:sp>
          <p:nvSpPr>
            <p:cNvPr id="168" name="TextBox 168"/>
            <p:cNvSpPr txBox="1"/>
            <p:nvPr/>
          </p:nvSpPr>
          <p:spPr>
            <a:xfrm>
              <a:off x="10053638" y="2697480"/>
              <a:ext cx="954557"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员工延伸 / 家庭综合服务​</a:t>
              </a:r>
            </a:p>
          </p:txBody>
        </p:sp>
      </p:grpSp>
      <p:grpSp>
        <p:nvGrpSpPr>
          <p:cNvPr id="247" name="opportunity-matrix"/>
          <p:cNvGrpSpPr/>
          <p:nvPr/>
        </p:nvGrpSpPr>
        <p:grpSpPr>
          <a:xfrm>
            <a:off x="342900" y="3238500"/>
            <a:ext cx="5905500" cy="3257550"/>
            <a:chOff x="342900" y="3238500"/>
            <a:chExt cx="5905500" cy="3257550"/>
          </a:xfrm>
        </p:grpSpPr>
        <p:sp>
          <p:nvSpPr>
            <p:cNvPr id="170" name="Rectangle 170"/>
            <p:cNvSpPr/>
            <p:nvPr/>
          </p:nvSpPr>
          <p:spPr>
            <a:xfrm>
              <a:off x="342900" y="3238500"/>
              <a:ext cx="1428750" cy="228600"/>
            </a:xfrm>
            <a:prstGeom prst="roundRect">
              <a:avLst>
                <a:gd name="adj" fmla="val 20833"/>
              </a:avLst>
            </a:prstGeom>
            <a:solidFill>
              <a:srgbClr val="76200F"/>
            </a:solidFill>
            <a:ln>
              <a:noFill/>
            </a:ln>
          </p:spPr>
        </p:sp>
        <p:sp>
          <p:nvSpPr>
            <p:cNvPr id="171" name="TextBox 171"/>
            <p:cNvSpPr txBox="1"/>
            <p:nvPr/>
          </p:nvSpPr>
          <p:spPr>
            <a:xfrm>
              <a:off x="452438" y="3299222"/>
              <a:ext cx="895325"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重点机会点矩阵</a:t>
              </a:r>
            </a:p>
          </p:txBody>
        </p:sp>
        <p:sp>
          <p:nvSpPr>
            <p:cNvPr id="172" name="Rectangle 172"/>
            <p:cNvSpPr/>
            <p:nvPr/>
          </p:nvSpPr>
          <p:spPr>
            <a:xfrm>
              <a:off x="342900" y="3524250"/>
              <a:ext cx="5905500" cy="228600"/>
            </a:xfrm>
            <a:prstGeom prst="rect">
              <a:avLst/>
            </a:prstGeom>
            <a:solidFill>
              <a:srgbClr val="5D190B"/>
            </a:solidFill>
            <a:ln>
              <a:noFill/>
            </a:ln>
          </p:spPr>
        </p:sp>
        <p:sp>
          <p:nvSpPr>
            <p:cNvPr id="173" name="TextBox 173"/>
            <p:cNvSpPr txBox="1"/>
            <p:nvPr/>
          </p:nvSpPr>
          <p:spPr>
            <a:xfrm>
              <a:off x="710565" y="3605212"/>
              <a:ext cx="31242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机会点</a:t>
              </a:r>
            </a:p>
          </p:txBody>
        </p:sp>
        <p:sp>
          <p:nvSpPr>
            <p:cNvPr id="174" name="TextBox 174"/>
            <p:cNvSpPr txBox="1"/>
            <p:nvPr/>
          </p:nvSpPr>
          <p:spPr>
            <a:xfrm>
              <a:off x="2180272" y="360521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目标</a:t>
              </a:r>
            </a:p>
          </p:txBody>
        </p:sp>
        <p:sp>
          <p:nvSpPr>
            <p:cNvPr id="175" name="TextBox 175"/>
            <p:cNvSpPr txBox="1"/>
            <p:nvPr/>
          </p:nvSpPr>
          <p:spPr>
            <a:xfrm>
              <a:off x="3412808" y="36052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触发场景</a:t>
              </a:r>
            </a:p>
          </p:txBody>
        </p:sp>
        <p:sp>
          <p:nvSpPr>
            <p:cNvPr id="176" name="TextBox 176"/>
            <p:cNvSpPr txBox="1"/>
            <p:nvPr/>
          </p:nvSpPr>
          <p:spPr>
            <a:xfrm>
              <a:off x="4555808" y="36052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牵头团队</a:t>
              </a:r>
            </a:p>
          </p:txBody>
        </p:sp>
        <p:sp>
          <p:nvSpPr>
            <p:cNvPr id="177" name="TextBox 177"/>
            <p:cNvSpPr txBox="1"/>
            <p:nvPr/>
          </p:nvSpPr>
          <p:spPr>
            <a:xfrm>
              <a:off x="5610225" y="3605212"/>
              <a:ext cx="51435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下一步行动</a:t>
              </a:r>
            </a:p>
          </p:txBody>
        </p:sp>
        <p:grpSp>
          <p:nvGrpSpPr>
            <p:cNvPr id="246" name="opp-rows"/>
            <p:cNvGrpSpPr/>
            <p:nvPr/>
          </p:nvGrpSpPr>
          <p:grpSpPr>
            <a:xfrm>
              <a:off x="342900" y="3752850"/>
              <a:ext cx="5905500" cy="2743200"/>
              <a:chOff x="342900" y="3752850"/>
              <a:chExt cx="5905500" cy="2743200"/>
            </a:xfrm>
          </p:grpSpPr>
          <p:sp>
            <p:nvSpPr>
              <p:cNvPr id="178" name="Rectangle 178"/>
              <p:cNvSpPr/>
              <p:nvPr/>
            </p:nvSpPr>
            <p:spPr>
              <a:xfrm>
                <a:off x="342900" y="3752850"/>
                <a:ext cx="5905500" cy="457200"/>
              </a:xfrm>
              <a:prstGeom prst="rect">
                <a:avLst/>
              </a:prstGeom>
              <a:solidFill>
                <a:srgbClr val="FFFFFF"/>
              </a:solidFill>
              <a:ln w="9525">
                <a:solidFill>
                  <a:srgbClr val="E2EEEB"/>
                </a:solidFill>
              </a:ln>
            </p:spPr>
          </p:sp>
          <p:grpSp>
            <p:nvGrpSpPr>
              <p:cNvPr id="183" name="Group 183"/>
              <p:cNvGrpSpPr/>
              <p:nvPr/>
            </p:nvGrpSpPr>
            <p:grpSpPr>
              <a:xfrm>
                <a:off x="467916" y="3904059"/>
                <a:ext cx="83344" cy="107157"/>
                <a:chOff x="467916" y="3904059"/>
                <a:chExt cx="83344" cy="107157"/>
              </a:xfrm>
            </p:grpSpPr>
            <p:sp>
              <p:nvSpPr>
                <p:cNvPr id="179" name="Freeform 179"/>
                <p:cNvSpPr/>
                <p:nvPr/>
              </p:nvSpPr>
              <p:spPr>
                <a:xfrm>
                  <a:off x="467916" y="3915966"/>
                  <a:ext cx="83344" cy="95250"/>
                </a:xfrm>
                <a:custGeom>
                  <a:avLst/>
                  <a:gdLst/>
                  <a:ahLst/>
                  <a:cxnLst/>
                  <a:rect l="l" t="t" r="r" b="b"/>
                  <a:pathLst>
                    <a:path w="83344" h="95250">
                      <a:moveTo>
                        <a:pt x="23812" y="0"/>
                      </a:moveTo>
                      <a:lnTo>
                        <a:pt x="11906" y="0"/>
                      </a:lnTo>
                      <a:cubicBezTo>
                        <a:pt x="5331" y="0"/>
                        <a:pt x="0" y="5331"/>
                        <a:pt x="0" y="11906"/>
                      </a:cubicBezTo>
                      <a:lnTo>
                        <a:pt x="0" y="83344"/>
                      </a:lnTo>
                      <a:cubicBezTo>
                        <a:pt x="0" y="89919"/>
                        <a:pt x="5331" y="95250"/>
                        <a:pt x="11906" y="95250"/>
                      </a:cubicBezTo>
                      <a:lnTo>
                        <a:pt x="71438" y="95250"/>
                      </a:lnTo>
                      <a:cubicBezTo>
                        <a:pt x="78013" y="95250"/>
                        <a:pt x="83344" y="89919"/>
                        <a:pt x="83344" y="83344"/>
                      </a:cubicBezTo>
                      <a:lnTo>
                        <a:pt x="83344" y="11906"/>
                      </a:lnTo>
                      <a:cubicBezTo>
                        <a:pt x="83344" y="5331"/>
                        <a:pt x="78013" y="0"/>
                        <a:pt x="71438" y="0"/>
                      </a:cubicBezTo>
                      <a:lnTo>
                        <a:pt x="59531" y="0"/>
                      </a:lnTo>
                    </a:path>
                  </a:pathLst>
                </a:custGeom>
                <a:noFill/>
                <a:ln w="11906">
                  <a:solidFill>
                    <a:srgbClr val="76200F"/>
                  </a:solidFill>
                </a:ln>
              </p:spPr>
            </p:sp>
            <p:sp>
              <p:nvSpPr>
                <p:cNvPr id="180" name="Freeform 180"/>
                <p:cNvSpPr/>
                <p:nvPr/>
              </p:nvSpPr>
              <p:spPr>
                <a:xfrm>
                  <a:off x="491728" y="3904059"/>
                  <a:ext cx="35719" cy="23812"/>
                </a:xfrm>
                <a:custGeom>
                  <a:avLst/>
                  <a:gdLst/>
                  <a:ahLst/>
                  <a:cxnLst/>
                  <a:rect l="l" t="t" r="r" b="b"/>
                  <a:pathLst>
                    <a:path w="35719" h="23812">
                      <a:moveTo>
                        <a:pt x="0" y="11906"/>
                      </a:moveTo>
                      <a:cubicBezTo>
                        <a:pt x="0" y="5331"/>
                        <a:pt x="5331" y="0"/>
                        <a:pt x="11906" y="0"/>
                      </a:cubicBezTo>
                      <a:lnTo>
                        <a:pt x="23812" y="0"/>
                      </a:lnTo>
                      <a:cubicBezTo>
                        <a:pt x="30388" y="0"/>
                        <a:pt x="35719" y="5331"/>
                        <a:pt x="35719" y="11906"/>
                      </a:cubicBezTo>
                      <a:cubicBezTo>
                        <a:pt x="35719" y="18482"/>
                        <a:pt x="30388" y="23812"/>
                        <a:pt x="23812" y="23812"/>
                      </a:cubicBezTo>
                      <a:lnTo>
                        <a:pt x="11906" y="23812"/>
                      </a:lnTo>
                      <a:cubicBezTo>
                        <a:pt x="5331" y="23812"/>
                        <a:pt x="0" y="18482"/>
                        <a:pt x="0" y="11906"/>
                      </a:cubicBezTo>
                    </a:path>
                  </a:pathLst>
                </a:custGeom>
                <a:noFill/>
                <a:ln w="11906">
                  <a:solidFill>
                    <a:srgbClr val="76200F"/>
                  </a:solidFill>
                </a:ln>
              </p:spPr>
            </p:sp>
            <p:sp>
              <p:nvSpPr>
                <p:cNvPr id="181" name="Freeform 181"/>
                <p:cNvSpPr/>
                <p:nvPr/>
              </p:nvSpPr>
              <p:spPr>
                <a:xfrm>
                  <a:off x="497681" y="3951684"/>
                  <a:ext cx="23812" cy="35719"/>
                </a:xfrm>
                <a:custGeom>
                  <a:avLst/>
                  <a:gdLst/>
                  <a:ahLst/>
                  <a:cxnLst/>
                  <a:rect l="l" t="t" r="r" b="b"/>
                  <a:pathLst>
                    <a:path w="23812" h="35719">
                      <a:moveTo>
                        <a:pt x="23812" y="0"/>
                      </a:moveTo>
                      <a:lnTo>
                        <a:pt x="8930" y="0"/>
                      </a:lnTo>
                      <a:cubicBezTo>
                        <a:pt x="3998" y="0"/>
                        <a:pt x="0" y="3998"/>
                        <a:pt x="0" y="8930"/>
                      </a:cubicBezTo>
                      <a:cubicBezTo>
                        <a:pt x="0" y="13861"/>
                        <a:pt x="3998" y="17859"/>
                        <a:pt x="8930" y="17859"/>
                      </a:cubicBezTo>
                      <a:lnTo>
                        <a:pt x="14883" y="17859"/>
                      </a:lnTo>
                      <a:cubicBezTo>
                        <a:pt x="19815" y="17859"/>
                        <a:pt x="23812" y="21857"/>
                        <a:pt x="23812" y="26789"/>
                      </a:cubicBezTo>
                      <a:cubicBezTo>
                        <a:pt x="23812" y="31721"/>
                        <a:pt x="19815" y="35719"/>
                        <a:pt x="14883" y="35719"/>
                      </a:cubicBezTo>
                      <a:lnTo>
                        <a:pt x="0" y="35719"/>
                      </a:lnTo>
                    </a:path>
                  </a:pathLst>
                </a:custGeom>
                <a:noFill/>
                <a:ln w="11906">
                  <a:solidFill>
                    <a:srgbClr val="76200F"/>
                  </a:solidFill>
                </a:ln>
              </p:spPr>
            </p:sp>
            <p:sp>
              <p:nvSpPr>
                <p:cNvPr id="182" name="Freeform 182"/>
                <p:cNvSpPr/>
                <p:nvPr/>
              </p:nvSpPr>
              <p:spPr>
                <a:xfrm>
                  <a:off x="509588" y="3945731"/>
                  <a:ext cx="9525" cy="47625"/>
                </a:xfrm>
                <a:custGeom>
                  <a:avLst/>
                  <a:gdLst/>
                  <a:ahLst/>
                  <a:cxnLst/>
                  <a:rect l="l" t="t" r="r" b="b"/>
                  <a:pathLst>
                    <a:path w="9525" h="47625">
                      <a:moveTo>
                        <a:pt x="0" y="41672"/>
                      </a:moveTo>
                      <a:lnTo>
                        <a:pt x="0" y="47625"/>
                      </a:lnTo>
                      <a:moveTo>
                        <a:pt x="0" y="0"/>
                      </a:moveTo>
                      <a:lnTo>
                        <a:pt x="0" y="5953"/>
                      </a:lnTo>
                    </a:path>
                  </a:pathLst>
                </a:custGeom>
                <a:noFill/>
                <a:ln w="11906">
                  <a:solidFill>
                    <a:srgbClr val="76200F"/>
                  </a:solidFill>
                </a:ln>
              </p:spPr>
            </p:sp>
          </p:grpSp>
          <p:sp>
            <p:nvSpPr>
              <p:cNvPr id="184" name="TextBox 184"/>
              <p:cNvSpPr txBox="1"/>
              <p:nvPr/>
            </p:nvSpPr>
            <p:spPr>
              <a:xfrm>
                <a:off x="670852" y="3942636"/>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代发工资</a:t>
                </a:r>
              </a:p>
            </p:txBody>
          </p:sp>
          <p:sp>
            <p:nvSpPr>
              <p:cNvPr id="185" name="TextBox 185"/>
              <p:cNvSpPr txBox="1"/>
              <p:nvPr/>
            </p:nvSpPr>
            <p:spPr>
              <a:xfrm>
                <a:off x="2037398" y="3874532"/>
                <a:ext cx="49720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新增代发企业</a:t>
                </a:r>
                <a:br/>
                <a:r>
                  <a:rPr lang="zh-CN" sz="640" dirty="0">
                    <a:solidFill>
                      <a:srgbClr val="514340"/>
                    </a:solidFill>
                    <a:latin typeface="+mn-lt"/>
                    <a:ea typeface="+mn-ea"/>
                    <a:cs typeface="+mn-cs"/>
                  </a:rPr>
                  <a:t>覆盖工资客户</a:t>
                </a:r>
              </a:p>
            </p:txBody>
          </p:sp>
          <p:sp>
            <p:nvSpPr>
              <p:cNvPr id="186" name="TextBox 186"/>
              <p:cNvSpPr txBox="1"/>
              <p:nvPr/>
            </p:nvSpPr>
            <p:spPr>
              <a:xfrm>
                <a:off x="3220530" y="3874532"/>
                <a:ext cx="797941"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新签企业 / 续约谈判​</a:t>
                </a:r>
                <a:br/>
                <a:r>
                  <a:rPr lang="zh-CN" sz="640" dirty="0">
                    <a:solidFill>
                      <a:srgbClr val="514340"/>
                    </a:solidFill>
                    <a:latin typeface="+mn-lt"/>
                    <a:ea typeface="+mn-ea"/>
                    <a:cs typeface="+mn-cs"/>
                  </a:rPr>
                  <a:t>园区入驻</a:t>
                </a:r>
              </a:p>
            </p:txBody>
          </p:sp>
          <p:sp>
            <p:nvSpPr>
              <p:cNvPr id="187" name="TextBox 187"/>
              <p:cNvSpPr txBox="1"/>
              <p:nvPr/>
            </p:nvSpPr>
            <p:spPr>
              <a:xfrm>
                <a:off x="4426034" y="3950732"/>
                <a:ext cx="672932"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对公经理 + 网点​</a:t>
                </a:r>
              </a:p>
            </p:txBody>
          </p:sp>
          <p:sp>
            <p:nvSpPr>
              <p:cNvPr id="188" name="TextBox 188"/>
              <p:cNvSpPr txBox="1"/>
              <p:nvPr/>
            </p:nvSpPr>
            <p:spPr>
              <a:xfrm>
                <a:off x="5496878" y="3874532"/>
                <a:ext cx="74104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梳理目标企业清单</a:t>
                </a:r>
                <a:br/>
                <a:r>
                  <a:rPr lang="zh-CN" sz="640" dirty="0">
                    <a:solidFill>
                      <a:srgbClr val="514340"/>
                    </a:solidFill>
                    <a:latin typeface="+mn-lt"/>
                    <a:ea typeface="+mn-ea"/>
                    <a:cs typeface="+mn-cs"/>
                  </a:rPr>
                  <a:t>制定代发方案并上门</a:t>
                </a:r>
              </a:p>
            </p:txBody>
          </p:sp>
          <p:sp>
            <p:nvSpPr>
              <p:cNvPr id="189" name="Rectangle 189"/>
              <p:cNvSpPr/>
              <p:nvPr/>
            </p:nvSpPr>
            <p:spPr>
              <a:xfrm>
                <a:off x="342900" y="4210050"/>
                <a:ext cx="5905500" cy="457200"/>
              </a:xfrm>
              <a:prstGeom prst="rect">
                <a:avLst/>
              </a:prstGeom>
              <a:solidFill>
                <a:srgbClr val="EFF8F6"/>
              </a:solidFill>
              <a:ln w="9525">
                <a:solidFill>
                  <a:srgbClr val="E2EEEB"/>
                </a:solidFill>
              </a:ln>
            </p:spPr>
          </p:sp>
          <p:grpSp>
            <p:nvGrpSpPr>
              <p:cNvPr id="194" name="Group 194"/>
              <p:cNvGrpSpPr/>
              <p:nvPr/>
            </p:nvGrpSpPr>
            <p:grpSpPr>
              <a:xfrm>
                <a:off x="461962" y="4361259"/>
                <a:ext cx="95251" cy="107156"/>
                <a:chOff x="461962" y="4361259"/>
                <a:chExt cx="95251" cy="107156"/>
              </a:xfrm>
            </p:grpSpPr>
            <p:sp>
              <p:nvSpPr>
                <p:cNvPr id="190" name="Freeform 190"/>
                <p:cNvSpPr/>
                <p:nvPr/>
              </p:nvSpPr>
              <p:spPr>
                <a:xfrm>
                  <a:off x="461962" y="4444603"/>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sp>
              <p:nvSpPr>
                <p:cNvPr id="191" name="Freeform 191"/>
                <p:cNvSpPr/>
                <p:nvPr/>
              </p:nvSpPr>
              <p:spPr>
                <a:xfrm>
                  <a:off x="527447" y="4444603"/>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sp>
              <p:nvSpPr>
                <p:cNvPr id="192" name="Freeform 192"/>
                <p:cNvSpPr/>
                <p:nvPr/>
              </p:nvSpPr>
              <p:spPr>
                <a:xfrm>
                  <a:off x="461962" y="4361259"/>
                  <a:ext cx="77391" cy="83344"/>
                </a:xfrm>
                <a:custGeom>
                  <a:avLst/>
                  <a:gdLst/>
                  <a:ahLst/>
                  <a:cxnLst/>
                  <a:rect l="l" t="t" r="r" b="b"/>
                  <a:pathLst>
                    <a:path w="77391" h="83344">
                      <a:moveTo>
                        <a:pt x="77391" y="83344"/>
                      </a:moveTo>
                      <a:lnTo>
                        <a:pt x="11906" y="83344"/>
                      </a:lnTo>
                      <a:lnTo>
                        <a:pt x="11906" y="0"/>
                      </a:lnTo>
                      <a:lnTo>
                        <a:pt x="0" y="0"/>
                      </a:lnTo>
                    </a:path>
                  </a:pathLst>
                </a:custGeom>
                <a:noFill/>
                <a:ln w="11906">
                  <a:solidFill>
                    <a:srgbClr val="76200F"/>
                  </a:solidFill>
                </a:ln>
              </p:spPr>
            </p:sp>
            <p:sp>
              <p:nvSpPr>
                <p:cNvPr id="193" name="Freeform 193"/>
                <p:cNvSpPr/>
                <p:nvPr/>
              </p:nvSpPr>
              <p:spPr>
                <a:xfrm>
                  <a:off x="473869" y="4373166"/>
                  <a:ext cx="83344" cy="47625"/>
                </a:xfrm>
                <a:custGeom>
                  <a:avLst/>
                  <a:gdLst/>
                  <a:ahLst/>
                  <a:cxnLst/>
                  <a:rect l="l" t="t" r="r" b="b"/>
                  <a:pathLst>
                    <a:path w="83344" h="47625">
                      <a:moveTo>
                        <a:pt x="0" y="0"/>
                      </a:moveTo>
                      <a:lnTo>
                        <a:pt x="83344" y="5953"/>
                      </a:lnTo>
                      <a:lnTo>
                        <a:pt x="77391" y="47625"/>
                      </a:lnTo>
                      <a:lnTo>
                        <a:pt x="0" y="47625"/>
                      </a:lnTo>
                    </a:path>
                  </a:pathLst>
                </a:custGeom>
                <a:noFill/>
                <a:ln w="11906">
                  <a:solidFill>
                    <a:srgbClr val="76200F"/>
                  </a:solidFill>
                </a:ln>
              </p:spPr>
            </p:sp>
          </p:grpSp>
          <p:sp>
            <p:nvSpPr>
              <p:cNvPr id="195" name="TextBox 195"/>
              <p:cNvSpPr txBox="1"/>
              <p:nvPr/>
            </p:nvSpPr>
            <p:spPr>
              <a:xfrm>
                <a:off x="670852" y="4399836"/>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商户收单</a:t>
                </a:r>
              </a:p>
            </p:txBody>
          </p:sp>
          <p:sp>
            <p:nvSpPr>
              <p:cNvPr id="196" name="TextBox 196"/>
              <p:cNvSpPr txBox="1"/>
              <p:nvPr/>
            </p:nvSpPr>
            <p:spPr>
              <a:xfrm>
                <a:off x="2037398" y="4331732"/>
                <a:ext cx="49720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新增商户</a:t>
                </a:r>
                <a:br/>
                <a:r>
                  <a:rPr lang="zh-CN" sz="640" dirty="0">
                    <a:solidFill>
                      <a:srgbClr val="514340"/>
                    </a:solidFill>
                    <a:latin typeface="+mn-lt"/>
                    <a:ea typeface="+mn-ea"/>
                    <a:cs typeface="+mn-cs"/>
                  </a:rPr>
                  <a:t>提升交易规模</a:t>
                </a:r>
              </a:p>
            </p:txBody>
          </p:sp>
          <p:sp>
            <p:nvSpPr>
              <p:cNvPr id="197" name="TextBox 197"/>
              <p:cNvSpPr txBox="1"/>
              <p:nvPr/>
            </p:nvSpPr>
            <p:spPr>
              <a:xfrm>
                <a:off x="3370898" y="4331732"/>
                <a:ext cx="49720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园区商户入驻</a:t>
                </a:r>
                <a:br/>
                <a:r>
                  <a:rPr lang="zh-CN" sz="640" dirty="0">
                    <a:solidFill>
                      <a:srgbClr val="514340"/>
                    </a:solidFill>
                    <a:latin typeface="+mn-lt"/>
                    <a:ea typeface="+mn-ea"/>
                    <a:cs typeface="+mn-cs"/>
                  </a:rPr>
                  <a:t>展位活动引流</a:t>
                </a:r>
              </a:p>
            </p:txBody>
          </p:sp>
          <p:sp>
            <p:nvSpPr>
              <p:cNvPr id="198" name="TextBox 198"/>
              <p:cNvSpPr txBox="1"/>
              <p:nvPr/>
            </p:nvSpPr>
            <p:spPr>
              <a:xfrm>
                <a:off x="4426034" y="4407932"/>
                <a:ext cx="672932"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对公经理 + 运营​</a:t>
                </a:r>
              </a:p>
            </p:txBody>
          </p:sp>
          <p:sp>
            <p:nvSpPr>
              <p:cNvPr id="199" name="TextBox 199"/>
              <p:cNvSpPr txBox="1"/>
              <p:nvPr/>
            </p:nvSpPr>
            <p:spPr>
              <a:xfrm>
                <a:off x="5496878" y="4331732"/>
                <a:ext cx="74104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批量商户拓展</a:t>
                </a:r>
                <a:br/>
                <a:r>
                  <a:rPr lang="zh-CN" sz="640" dirty="0">
                    <a:solidFill>
                      <a:srgbClr val="514340"/>
                    </a:solidFill>
                    <a:latin typeface="+mn-lt"/>
                    <a:ea typeface="+mn-ea"/>
                    <a:cs typeface="+mn-cs"/>
                  </a:rPr>
                  <a:t>配置收单与营销权益</a:t>
                </a:r>
              </a:p>
            </p:txBody>
          </p:sp>
          <p:sp>
            <p:nvSpPr>
              <p:cNvPr id="200" name="Rectangle 200"/>
              <p:cNvSpPr/>
              <p:nvPr/>
            </p:nvSpPr>
            <p:spPr>
              <a:xfrm>
                <a:off x="342900" y="4667250"/>
                <a:ext cx="5905500" cy="457200"/>
              </a:xfrm>
              <a:prstGeom prst="rect">
                <a:avLst/>
              </a:prstGeom>
              <a:solidFill>
                <a:srgbClr val="FFFFFF"/>
              </a:solidFill>
              <a:ln w="9525">
                <a:solidFill>
                  <a:srgbClr val="E2EEEB"/>
                </a:solidFill>
              </a:ln>
            </p:spPr>
          </p:sp>
          <p:grpSp>
            <p:nvGrpSpPr>
              <p:cNvPr id="205" name="Group 205"/>
              <p:cNvGrpSpPr/>
              <p:nvPr/>
            </p:nvGrpSpPr>
            <p:grpSpPr>
              <a:xfrm>
                <a:off x="456009" y="4830366"/>
                <a:ext cx="107156" cy="83344"/>
                <a:chOff x="456009" y="4830366"/>
                <a:chExt cx="107156" cy="83344"/>
              </a:xfrm>
            </p:grpSpPr>
            <p:sp>
              <p:nvSpPr>
                <p:cNvPr id="201" name="Freeform 201"/>
                <p:cNvSpPr/>
                <p:nvPr/>
              </p:nvSpPr>
              <p:spPr>
                <a:xfrm>
                  <a:off x="456009" y="4830366"/>
                  <a:ext cx="107156" cy="83344"/>
                </a:xfrm>
                <a:custGeom>
                  <a:avLst/>
                  <a:gdLst/>
                  <a:ahLst/>
                  <a:cxnLst/>
                  <a:rect l="l" t="t" r="r" b="b"/>
                  <a:pathLst>
                    <a:path w="107156" h="83344">
                      <a:moveTo>
                        <a:pt x="0" y="17859"/>
                      </a:moveTo>
                      <a:cubicBezTo>
                        <a:pt x="0" y="7996"/>
                        <a:pt x="7996" y="0"/>
                        <a:pt x="17859" y="0"/>
                      </a:cubicBezTo>
                      <a:lnTo>
                        <a:pt x="89297" y="0"/>
                      </a:lnTo>
                      <a:cubicBezTo>
                        <a:pt x="99160" y="0"/>
                        <a:pt x="107156" y="7996"/>
                        <a:pt x="107156" y="17859"/>
                      </a:cubicBezTo>
                      <a:lnTo>
                        <a:pt x="107156" y="65484"/>
                      </a:lnTo>
                      <a:cubicBezTo>
                        <a:pt x="107156" y="75348"/>
                        <a:pt x="99160" y="83344"/>
                        <a:pt x="89297" y="83344"/>
                      </a:cubicBezTo>
                      <a:lnTo>
                        <a:pt x="17859" y="83344"/>
                      </a:lnTo>
                      <a:cubicBezTo>
                        <a:pt x="7996" y="83344"/>
                        <a:pt x="0" y="75348"/>
                        <a:pt x="0" y="65484"/>
                      </a:cubicBezTo>
                      <a:lnTo>
                        <a:pt x="0" y="17859"/>
                      </a:lnTo>
                    </a:path>
                  </a:pathLst>
                </a:custGeom>
                <a:noFill/>
                <a:ln w="11906">
                  <a:solidFill>
                    <a:srgbClr val="76200F"/>
                  </a:solidFill>
                </a:ln>
              </p:spPr>
            </p:sp>
            <p:sp>
              <p:nvSpPr>
                <p:cNvPr id="202" name="Freeform 202"/>
                <p:cNvSpPr/>
                <p:nvPr/>
              </p:nvSpPr>
              <p:spPr>
                <a:xfrm>
                  <a:off x="456009" y="4860131"/>
                  <a:ext cx="107156" cy="9525"/>
                </a:xfrm>
                <a:custGeom>
                  <a:avLst/>
                  <a:gdLst/>
                  <a:ahLst/>
                  <a:cxnLst/>
                  <a:rect l="l" t="t" r="r" b="b"/>
                  <a:pathLst>
                    <a:path w="107156" h="9525">
                      <a:moveTo>
                        <a:pt x="0" y="0"/>
                      </a:moveTo>
                      <a:lnTo>
                        <a:pt x="107156" y="0"/>
                      </a:lnTo>
                    </a:path>
                  </a:pathLst>
                </a:custGeom>
                <a:noFill/>
                <a:ln w="11906">
                  <a:solidFill>
                    <a:srgbClr val="76200F"/>
                  </a:solidFill>
                </a:ln>
              </p:spPr>
            </p:sp>
            <p:sp>
              <p:nvSpPr>
                <p:cNvPr id="203" name="Freeform 203"/>
                <p:cNvSpPr/>
                <p:nvPr/>
              </p:nvSpPr>
              <p:spPr>
                <a:xfrm>
                  <a:off x="479822" y="4889897"/>
                  <a:ext cx="9525" cy="9525"/>
                </a:xfrm>
                <a:custGeom>
                  <a:avLst/>
                  <a:gdLst/>
                  <a:ahLst/>
                  <a:cxnLst/>
                  <a:rect l="l" t="t" r="r" b="b"/>
                  <a:pathLst>
                    <a:path w="9525" h="9525">
                      <a:moveTo>
                        <a:pt x="0" y="0"/>
                      </a:moveTo>
                      <a:lnTo>
                        <a:pt x="60" y="0"/>
                      </a:lnTo>
                    </a:path>
                  </a:pathLst>
                </a:custGeom>
                <a:noFill/>
                <a:ln w="11906">
                  <a:solidFill>
                    <a:srgbClr val="76200F"/>
                  </a:solidFill>
                </a:ln>
              </p:spPr>
            </p:sp>
            <p:sp>
              <p:nvSpPr>
                <p:cNvPr id="204" name="Freeform 204"/>
                <p:cNvSpPr/>
                <p:nvPr/>
              </p:nvSpPr>
              <p:spPr>
                <a:xfrm>
                  <a:off x="503634" y="4889897"/>
                  <a:ext cx="11906" cy="9525"/>
                </a:xfrm>
                <a:custGeom>
                  <a:avLst/>
                  <a:gdLst/>
                  <a:ahLst/>
                  <a:cxnLst/>
                  <a:rect l="l" t="t" r="r" b="b"/>
                  <a:pathLst>
                    <a:path w="11906" h="9525">
                      <a:moveTo>
                        <a:pt x="0" y="0"/>
                      </a:moveTo>
                      <a:lnTo>
                        <a:pt x="11906" y="0"/>
                      </a:lnTo>
                    </a:path>
                  </a:pathLst>
                </a:custGeom>
                <a:noFill/>
                <a:ln w="11906">
                  <a:solidFill>
                    <a:srgbClr val="76200F"/>
                  </a:solidFill>
                </a:ln>
              </p:spPr>
            </p:sp>
          </p:grpSp>
          <p:sp>
            <p:nvSpPr>
              <p:cNvPr id="206" name="TextBox 206"/>
              <p:cNvSpPr txBox="1"/>
              <p:nvPr/>
            </p:nvSpPr>
            <p:spPr>
              <a:xfrm>
                <a:off x="718642" y="4857036"/>
                <a:ext cx="29626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员工卡</a:t>
                </a:r>
              </a:p>
            </p:txBody>
          </p:sp>
          <p:sp>
            <p:nvSpPr>
              <p:cNvPr id="207" name="TextBox 207"/>
              <p:cNvSpPr txBox="1"/>
              <p:nvPr/>
            </p:nvSpPr>
            <p:spPr>
              <a:xfrm>
                <a:off x="2078038" y="4788932"/>
                <a:ext cx="41592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员工开卡率</a:t>
                </a:r>
                <a:br/>
                <a:r>
                  <a:rPr lang="zh-CN" sz="640" dirty="0">
                    <a:solidFill>
                      <a:srgbClr val="514340"/>
                    </a:solidFill>
                    <a:latin typeface="+mn-lt"/>
                    <a:ea typeface="+mn-ea"/>
                    <a:cs typeface="+mn-cs"/>
                  </a:rPr>
                  <a:t>提升活跃率</a:t>
                </a:r>
              </a:p>
            </p:txBody>
          </p:sp>
          <p:sp>
            <p:nvSpPr>
              <p:cNvPr id="208" name="TextBox 208"/>
              <p:cNvSpPr txBox="1"/>
              <p:nvPr/>
            </p:nvSpPr>
            <p:spPr>
              <a:xfrm>
                <a:off x="3452178" y="4788932"/>
                <a:ext cx="33464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代发场景</a:t>
                </a:r>
                <a:br/>
                <a:r>
                  <a:rPr lang="zh-CN" sz="640" dirty="0">
                    <a:solidFill>
                      <a:srgbClr val="514340"/>
                    </a:solidFill>
                    <a:latin typeface="+mn-lt"/>
                    <a:ea typeface="+mn-ea"/>
                    <a:cs typeface="+mn-cs"/>
                  </a:rPr>
                  <a:t>园区活动</a:t>
                </a:r>
              </a:p>
            </p:txBody>
          </p:sp>
          <p:sp>
            <p:nvSpPr>
              <p:cNvPr id="209" name="TextBox 209"/>
              <p:cNvSpPr txBox="1"/>
              <p:nvPr/>
            </p:nvSpPr>
            <p:spPr>
              <a:xfrm>
                <a:off x="4382955" y="4865132"/>
                <a:ext cx="75908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零售经理 + 信用卡​</a:t>
                </a:r>
              </a:p>
            </p:txBody>
          </p:sp>
          <p:sp>
            <p:nvSpPr>
              <p:cNvPr id="210" name="TextBox 210"/>
              <p:cNvSpPr txBox="1"/>
              <p:nvPr/>
            </p:nvSpPr>
            <p:spPr>
              <a:xfrm>
                <a:off x="5537518" y="4788932"/>
                <a:ext cx="65976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制定开卡激励方案</a:t>
                </a:r>
                <a:br/>
                <a:r>
                  <a:rPr lang="zh-CN" sz="640" dirty="0">
                    <a:solidFill>
                      <a:srgbClr val="514340"/>
                    </a:solidFill>
                    <a:latin typeface="+mn-lt"/>
                    <a:ea typeface="+mn-ea"/>
                    <a:cs typeface="+mn-cs"/>
                  </a:rPr>
                  <a:t>团单批量集中办卡</a:t>
                </a:r>
              </a:p>
            </p:txBody>
          </p:sp>
          <p:sp>
            <p:nvSpPr>
              <p:cNvPr id="211" name="Rectangle 211"/>
              <p:cNvSpPr/>
              <p:nvPr/>
            </p:nvSpPr>
            <p:spPr>
              <a:xfrm>
                <a:off x="342900" y="5124450"/>
                <a:ext cx="5905500" cy="457200"/>
              </a:xfrm>
              <a:prstGeom prst="rect">
                <a:avLst/>
              </a:prstGeom>
              <a:solidFill>
                <a:srgbClr val="EFF8F6"/>
              </a:solidFill>
              <a:ln w="9525">
                <a:solidFill>
                  <a:srgbClr val="E2EEEB"/>
                </a:solidFill>
              </a:ln>
            </p:spPr>
          </p:sp>
          <p:grpSp>
            <p:nvGrpSpPr>
              <p:cNvPr id="215" name="Group 215"/>
              <p:cNvGrpSpPr/>
              <p:nvPr/>
            </p:nvGrpSpPr>
            <p:grpSpPr>
              <a:xfrm>
                <a:off x="456009" y="5287566"/>
                <a:ext cx="107157" cy="83343"/>
                <a:chOff x="456009" y="5287566"/>
                <a:chExt cx="107157" cy="83343"/>
              </a:xfrm>
            </p:grpSpPr>
            <p:sp>
              <p:nvSpPr>
                <p:cNvPr id="212" name="Freeform 212"/>
                <p:cNvSpPr/>
                <p:nvPr/>
              </p:nvSpPr>
              <p:spPr>
                <a:xfrm>
                  <a:off x="456009" y="5287566"/>
                  <a:ext cx="83344" cy="59531"/>
                </a:xfrm>
                <a:custGeom>
                  <a:avLst/>
                  <a:gdLst/>
                  <a:ahLst/>
                  <a:cxnLst/>
                  <a:rect l="l" t="t" r="r" b="b"/>
                  <a:pathLst>
                    <a:path w="83344" h="59531">
                      <a:moveTo>
                        <a:pt x="23812" y="59531"/>
                      </a:moveTo>
                      <a:lnTo>
                        <a:pt x="5953" y="59531"/>
                      </a:lnTo>
                      <a:cubicBezTo>
                        <a:pt x="2665" y="59531"/>
                        <a:pt x="0" y="56866"/>
                        <a:pt x="0" y="53578"/>
                      </a:cubicBezTo>
                      <a:lnTo>
                        <a:pt x="0" y="5953"/>
                      </a:lnTo>
                      <a:cubicBezTo>
                        <a:pt x="0" y="2665"/>
                        <a:pt x="2665" y="0"/>
                        <a:pt x="5953" y="0"/>
                      </a:cubicBezTo>
                      <a:lnTo>
                        <a:pt x="77391" y="0"/>
                      </a:lnTo>
                      <a:cubicBezTo>
                        <a:pt x="80678" y="0"/>
                        <a:pt x="83344" y="2665"/>
                        <a:pt x="83344" y="5953"/>
                      </a:cubicBezTo>
                      <a:lnTo>
                        <a:pt x="83344" y="23812"/>
                      </a:lnTo>
                    </a:path>
                  </a:pathLst>
                </a:custGeom>
                <a:noFill/>
                <a:ln w="11906">
                  <a:solidFill>
                    <a:srgbClr val="76200F"/>
                  </a:solidFill>
                </a:ln>
              </p:spPr>
            </p:sp>
            <p:sp>
              <p:nvSpPr>
                <p:cNvPr id="213" name="Freeform 213"/>
                <p:cNvSpPr/>
                <p:nvPr/>
              </p:nvSpPr>
              <p:spPr>
                <a:xfrm>
                  <a:off x="479822" y="5311378"/>
                  <a:ext cx="83344" cy="59531"/>
                </a:xfrm>
                <a:custGeom>
                  <a:avLst/>
                  <a:gdLst/>
                  <a:ahLst/>
                  <a:cxnLst/>
                  <a:rect l="l" t="t" r="r" b="b"/>
                  <a:pathLst>
                    <a:path w="83344" h="59531">
                      <a:moveTo>
                        <a:pt x="0" y="5953"/>
                      </a:moveTo>
                      <a:cubicBezTo>
                        <a:pt x="0" y="2665"/>
                        <a:pt x="2665" y="0"/>
                        <a:pt x="5953" y="0"/>
                      </a:cubicBezTo>
                      <a:lnTo>
                        <a:pt x="77391" y="0"/>
                      </a:lnTo>
                      <a:cubicBezTo>
                        <a:pt x="80678" y="0"/>
                        <a:pt x="83344" y="2665"/>
                        <a:pt x="83344" y="5953"/>
                      </a:cubicBezTo>
                      <a:lnTo>
                        <a:pt x="83344" y="53578"/>
                      </a:lnTo>
                      <a:cubicBezTo>
                        <a:pt x="83344" y="56866"/>
                        <a:pt x="80678" y="59531"/>
                        <a:pt x="77391" y="59531"/>
                      </a:cubicBezTo>
                      <a:lnTo>
                        <a:pt x="5953" y="59531"/>
                      </a:lnTo>
                      <a:cubicBezTo>
                        <a:pt x="2665" y="59531"/>
                        <a:pt x="0" y="56866"/>
                        <a:pt x="0" y="53578"/>
                      </a:cubicBezTo>
                      <a:lnTo>
                        <a:pt x="0" y="5953"/>
                      </a:lnTo>
                    </a:path>
                  </a:pathLst>
                </a:custGeom>
                <a:noFill/>
                <a:ln w="11906">
                  <a:solidFill>
                    <a:srgbClr val="76200F"/>
                  </a:solidFill>
                </a:ln>
              </p:spPr>
            </p:sp>
            <p:sp>
              <p:nvSpPr>
                <p:cNvPr id="214" name="Freeform 214"/>
                <p:cNvSpPr/>
                <p:nvPr/>
              </p:nvSpPr>
              <p:spPr>
                <a:xfrm>
                  <a:off x="509588" y="5329238"/>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76200F"/>
                  </a:solidFill>
                </a:ln>
              </p:spPr>
            </p:sp>
          </p:grpSp>
          <p:sp>
            <p:nvSpPr>
              <p:cNvPr id="216" name="TextBox 216"/>
              <p:cNvSpPr txBox="1"/>
              <p:nvPr/>
            </p:nvSpPr>
            <p:spPr>
              <a:xfrm>
                <a:off x="718642" y="5314236"/>
                <a:ext cx="29626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消费贷</a:t>
                </a:r>
              </a:p>
            </p:txBody>
          </p:sp>
          <p:sp>
            <p:nvSpPr>
              <p:cNvPr id="217" name="TextBox 217"/>
              <p:cNvSpPr txBox="1"/>
              <p:nvPr/>
            </p:nvSpPr>
            <p:spPr>
              <a:xfrm>
                <a:off x="1936610" y="5246132"/>
                <a:ext cx="69877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提升个人信贷规模</a:t>
                </a:r>
              </a:p>
            </p:txBody>
          </p:sp>
          <p:sp>
            <p:nvSpPr>
              <p:cNvPr id="218" name="TextBox 218"/>
              <p:cNvSpPr txBox="1"/>
              <p:nvPr/>
            </p:nvSpPr>
            <p:spPr>
              <a:xfrm>
                <a:off x="3370898" y="5246132"/>
                <a:ext cx="49720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员工消费需求</a:t>
                </a:r>
                <a:br/>
                <a:r>
                  <a:rPr lang="zh-CN" sz="640" dirty="0">
                    <a:solidFill>
                      <a:srgbClr val="514340"/>
                    </a:solidFill>
                    <a:latin typeface="+mn-lt"/>
                    <a:ea typeface="+mn-ea"/>
                    <a:cs typeface="+mn-cs"/>
                  </a:rPr>
                  <a:t>商户经营周转</a:t>
                </a:r>
              </a:p>
            </p:txBody>
          </p:sp>
          <p:sp>
            <p:nvSpPr>
              <p:cNvPr id="219" name="TextBox 219"/>
              <p:cNvSpPr txBox="1"/>
              <p:nvPr/>
            </p:nvSpPr>
            <p:spPr>
              <a:xfrm>
                <a:off x="4426034" y="5322332"/>
                <a:ext cx="672932"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零售经理 + 网点​</a:t>
                </a:r>
              </a:p>
            </p:txBody>
          </p:sp>
          <p:sp>
            <p:nvSpPr>
              <p:cNvPr id="220" name="TextBox 220"/>
              <p:cNvSpPr txBox="1"/>
              <p:nvPr/>
            </p:nvSpPr>
            <p:spPr>
              <a:xfrm>
                <a:off x="5496878" y="5246132"/>
                <a:ext cx="74104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名单筛选与精准邀约</a:t>
                </a:r>
                <a:br/>
                <a:r>
                  <a:rPr lang="zh-CN" sz="640" dirty="0">
                    <a:solidFill>
                      <a:srgbClr val="514340"/>
                    </a:solidFill>
                    <a:latin typeface="+mn-lt"/>
                    <a:ea typeface="+mn-ea"/>
                    <a:cs typeface="+mn-cs"/>
                  </a:rPr>
                  <a:t>配置利率优惠</a:t>
                </a:r>
              </a:p>
            </p:txBody>
          </p:sp>
          <p:sp>
            <p:nvSpPr>
              <p:cNvPr id="221" name="Rectangle 221"/>
              <p:cNvSpPr/>
              <p:nvPr/>
            </p:nvSpPr>
            <p:spPr>
              <a:xfrm>
                <a:off x="342900" y="5581650"/>
                <a:ext cx="5905500" cy="457200"/>
              </a:xfrm>
              <a:prstGeom prst="rect">
                <a:avLst/>
              </a:prstGeom>
              <a:solidFill>
                <a:srgbClr val="FFFFFF"/>
              </a:solidFill>
              <a:ln w="9525">
                <a:solidFill>
                  <a:srgbClr val="E2EEEB"/>
                </a:solidFill>
              </a:ln>
            </p:spPr>
          </p:sp>
          <p:grpSp>
            <p:nvGrpSpPr>
              <p:cNvPr id="230" name="Group 230"/>
              <p:cNvGrpSpPr/>
              <p:nvPr/>
            </p:nvGrpSpPr>
            <p:grpSpPr>
              <a:xfrm>
                <a:off x="456009" y="5732859"/>
                <a:ext cx="110728" cy="116682"/>
                <a:chOff x="456009" y="5732859"/>
                <a:chExt cx="110728" cy="116682"/>
              </a:xfrm>
            </p:grpSpPr>
            <p:sp>
              <p:nvSpPr>
                <p:cNvPr id="222" name="Freeform 222"/>
                <p:cNvSpPr/>
                <p:nvPr/>
              </p:nvSpPr>
              <p:spPr>
                <a:xfrm>
                  <a:off x="456009" y="5840016"/>
                  <a:ext cx="107156" cy="9525"/>
                </a:xfrm>
                <a:custGeom>
                  <a:avLst/>
                  <a:gdLst/>
                  <a:ahLst/>
                  <a:cxnLst/>
                  <a:rect l="l" t="t" r="r" b="b"/>
                  <a:pathLst>
                    <a:path w="107156" h="9525">
                      <a:moveTo>
                        <a:pt x="0" y="0"/>
                      </a:moveTo>
                      <a:lnTo>
                        <a:pt x="107156" y="0"/>
                      </a:lnTo>
                    </a:path>
                  </a:pathLst>
                </a:custGeom>
                <a:noFill/>
                <a:ln w="11906">
                  <a:solidFill>
                    <a:srgbClr val="76200F"/>
                  </a:solidFill>
                </a:ln>
              </p:spPr>
            </p:sp>
            <p:sp>
              <p:nvSpPr>
                <p:cNvPr id="223" name="Freeform 223"/>
                <p:cNvSpPr/>
                <p:nvPr/>
              </p:nvSpPr>
              <p:spPr>
                <a:xfrm>
                  <a:off x="456009" y="5774531"/>
                  <a:ext cx="107156" cy="9525"/>
                </a:xfrm>
                <a:custGeom>
                  <a:avLst/>
                  <a:gdLst/>
                  <a:ahLst/>
                  <a:cxnLst/>
                  <a:rect l="l" t="t" r="r" b="b"/>
                  <a:pathLst>
                    <a:path w="107156" h="9525">
                      <a:moveTo>
                        <a:pt x="0" y="0"/>
                      </a:moveTo>
                      <a:lnTo>
                        <a:pt x="107156" y="0"/>
                      </a:lnTo>
                    </a:path>
                  </a:pathLst>
                </a:custGeom>
                <a:noFill/>
                <a:ln w="11906">
                  <a:solidFill>
                    <a:srgbClr val="76200F"/>
                  </a:solidFill>
                </a:ln>
              </p:spPr>
            </p:sp>
            <p:sp>
              <p:nvSpPr>
                <p:cNvPr id="224" name="Freeform 224"/>
                <p:cNvSpPr/>
                <p:nvPr/>
              </p:nvSpPr>
              <p:spPr>
                <a:xfrm>
                  <a:off x="467916" y="5732859"/>
                  <a:ext cx="83344" cy="17859"/>
                </a:xfrm>
                <a:custGeom>
                  <a:avLst/>
                  <a:gdLst/>
                  <a:ahLst/>
                  <a:cxnLst/>
                  <a:rect l="l" t="t" r="r" b="b"/>
                  <a:pathLst>
                    <a:path w="83344" h="17859">
                      <a:moveTo>
                        <a:pt x="0" y="17859"/>
                      </a:moveTo>
                      <a:lnTo>
                        <a:pt x="41672" y="0"/>
                      </a:lnTo>
                      <a:lnTo>
                        <a:pt x="83344" y="17859"/>
                      </a:lnTo>
                    </a:path>
                  </a:pathLst>
                </a:custGeom>
                <a:noFill/>
                <a:ln w="11906">
                  <a:solidFill>
                    <a:srgbClr val="76200F"/>
                  </a:solidFill>
                </a:ln>
              </p:spPr>
            </p:sp>
            <p:sp>
              <p:nvSpPr>
                <p:cNvPr id="225" name="Freeform 225"/>
                <p:cNvSpPr/>
                <p:nvPr/>
              </p:nvSpPr>
              <p:spPr>
                <a:xfrm>
                  <a:off x="461962" y="5774531"/>
                  <a:ext cx="9525" cy="65484"/>
                </a:xfrm>
                <a:custGeom>
                  <a:avLst/>
                  <a:gdLst/>
                  <a:ahLst/>
                  <a:cxnLst/>
                  <a:rect l="l" t="t" r="r" b="b"/>
                  <a:pathLst>
                    <a:path w="9525" h="65484">
                      <a:moveTo>
                        <a:pt x="0" y="0"/>
                      </a:moveTo>
                      <a:lnTo>
                        <a:pt x="0" y="65484"/>
                      </a:lnTo>
                    </a:path>
                  </a:pathLst>
                </a:custGeom>
                <a:noFill/>
                <a:ln w="11906">
                  <a:solidFill>
                    <a:srgbClr val="76200F"/>
                  </a:solidFill>
                </a:ln>
              </p:spPr>
            </p:sp>
            <p:sp>
              <p:nvSpPr>
                <p:cNvPr id="226" name="Freeform 226"/>
                <p:cNvSpPr/>
                <p:nvPr/>
              </p:nvSpPr>
              <p:spPr>
                <a:xfrm>
                  <a:off x="557212" y="5774531"/>
                  <a:ext cx="9525" cy="65484"/>
                </a:xfrm>
                <a:custGeom>
                  <a:avLst/>
                  <a:gdLst/>
                  <a:ahLst/>
                  <a:cxnLst/>
                  <a:rect l="l" t="t" r="r" b="b"/>
                  <a:pathLst>
                    <a:path w="9525" h="65484">
                      <a:moveTo>
                        <a:pt x="0" y="0"/>
                      </a:moveTo>
                      <a:lnTo>
                        <a:pt x="0" y="65484"/>
                      </a:lnTo>
                    </a:path>
                  </a:pathLst>
                </a:custGeom>
                <a:noFill/>
                <a:ln w="11906">
                  <a:solidFill>
                    <a:srgbClr val="76200F"/>
                  </a:solidFill>
                </a:ln>
              </p:spPr>
            </p:sp>
            <p:sp>
              <p:nvSpPr>
                <p:cNvPr id="227" name="Freeform 227"/>
                <p:cNvSpPr/>
                <p:nvPr/>
              </p:nvSpPr>
              <p:spPr>
                <a:xfrm>
                  <a:off x="485775" y="5798344"/>
                  <a:ext cx="9525" cy="17859"/>
                </a:xfrm>
                <a:custGeom>
                  <a:avLst/>
                  <a:gdLst/>
                  <a:ahLst/>
                  <a:cxnLst/>
                  <a:rect l="l" t="t" r="r" b="b"/>
                  <a:pathLst>
                    <a:path w="9525" h="17859">
                      <a:moveTo>
                        <a:pt x="0" y="0"/>
                      </a:moveTo>
                      <a:lnTo>
                        <a:pt x="0" y="17859"/>
                      </a:lnTo>
                    </a:path>
                  </a:pathLst>
                </a:custGeom>
                <a:noFill/>
                <a:ln w="11906">
                  <a:solidFill>
                    <a:srgbClr val="76200F"/>
                  </a:solidFill>
                </a:ln>
              </p:spPr>
            </p:sp>
            <p:sp>
              <p:nvSpPr>
                <p:cNvPr id="228" name="Freeform 228"/>
                <p:cNvSpPr/>
                <p:nvPr/>
              </p:nvSpPr>
              <p:spPr>
                <a:xfrm>
                  <a:off x="509588" y="5798344"/>
                  <a:ext cx="9525" cy="17859"/>
                </a:xfrm>
                <a:custGeom>
                  <a:avLst/>
                  <a:gdLst/>
                  <a:ahLst/>
                  <a:cxnLst/>
                  <a:rect l="l" t="t" r="r" b="b"/>
                  <a:pathLst>
                    <a:path w="9525" h="17859">
                      <a:moveTo>
                        <a:pt x="0" y="0"/>
                      </a:moveTo>
                      <a:lnTo>
                        <a:pt x="0" y="17859"/>
                      </a:lnTo>
                    </a:path>
                  </a:pathLst>
                </a:custGeom>
                <a:noFill/>
                <a:ln w="11906">
                  <a:solidFill>
                    <a:srgbClr val="76200F"/>
                  </a:solidFill>
                </a:ln>
              </p:spPr>
            </p:sp>
            <p:sp>
              <p:nvSpPr>
                <p:cNvPr id="229" name="Freeform 229"/>
                <p:cNvSpPr/>
                <p:nvPr/>
              </p:nvSpPr>
              <p:spPr>
                <a:xfrm>
                  <a:off x="533400" y="5798344"/>
                  <a:ext cx="9525" cy="17859"/>
                </a:xfrm>
                <a:custGeom>
                  <a:avLst/>
                  <a:gdLst/>
                  <a:ahLst/>
                  <a:cxnLst/>
                  <a:rect l="l" t="t" r="r" b="b"/>
                  <a:pathLst>
                    <a:path w="9525" h="17859">
                      <a:moveTo>
                        <a:pt x="0" y="0"/>
                      </a:moveTo>
                      <a:lnTo>
                        <a:pt x="0" y="17859"/>
                      </a:lnTo>
                    </a:path>
                  </a:pathLst>
                </a:custGeom>
                <a:noFill/>
                <a:ln w="11906">
                  <a:solidFill>
                    <a:srgbClr val="76200F"/>
                  </a:solidFill>
                </a:ln>
              </p:spPr>
            </p:sp>
          </p:grpSp>
          <p:sp>
            <p:nvSpPr>
              <p:cNvPr id="231" name="TextBox 231"/>
              <p:cNvSpPr txBox="1"/>
              <p:nvPr/>
            </p:nvSpPr>
            <p:spPr>
              <a:xfrm>
                <a:off x="718642" y="5771436"/>
                <a:ext cx="29626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企业贷</a:t>
                </a:r>
              </a:p>
            </p:txBody>
          </p:sp>
          <p:sp>
            <p:nvSpPr>
              <p:cNvPr id="232" name="TextBox 232"/>
              <p:cNvSpPr txBox="1"/>
              <p:nvPr/>
            </p:nvSpPr>
            <p:spPr>
              <a:xfrm>
                <a:off x="2037398" y="5703332"/>
                <a:ext cx="49720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新增企业融资</a:t>
                </a:r>
                <a:br/>
                <a:r>
                  <a:rPr lang="zh-CN" sz="640" dirty="0">
                    <a:solidFill>
                      <a:srgbClr val="514340"/>
                    </a:solidFill>
                    <a:latin typeface="+mn-lt"/>
                    <a:ea typeface="+mn-ea"/>
                    <a:cs typeface="+mn-cs"/>
                  </a:rPr>
                  <a:t>提升授信规模</a:t>
                </a:r>
              </a:p>
            </p:txBody>
          </p:sp>
          <p:sp>
            <p:nvSpPr>
              <p:cNvPr id="233" name="TextBox 233"/>
              <p:cNvSpPr txBox="1"/>
              <p:nvPr/>
            </p:nvSpPr>
            <p:spPr>
              <a:xfrm>
                <a:off x="3220530" y="5703332"/>
                <a:ext cx="797941"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企业扩产 / 设备更新​</a:t>
                </a:r>
                <a:br/>
                <a:r>
                  <a:rPr lang="zh-CN" sz="640" dirty="0">
                    <a:solidFill>
                      <a:srgbClr val="514340"/>
                    </a:solidFill>
                    <a:latin typeface="+mn-lt"/>
                    <a:ea typeface="+mn-ea"/>
                    <a:cs typeface="+mn-cs"/>
                  </a:rPr>
                  <a:t>园区政策支持</a:t>
                </a:r>
              </a:p>
            </p:txBody>
          </p:sp>
          <p:sp>
            <p:nvSpPr>
              <p:cNvPr id="234" name="TextBox 234"/>
              <p:cNvSpPr txBox="1"/>
              <p:nvPr/>
            </p:nvSpPr>
            <p:spPr>
              <a:xfrm>
                <a:off x="4585424" y="5779532"/>
                <a:ext cx="354152"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对公经理</a:t>
                </a:r>
              </a:p>
            </p:txBody>
          </p:sp>
          <p:sp>
            <p:nvSpPr>
              <p:cNvPr id="235" name="TextBox 235"/>
              <p:cNvSpPr txBox="1"/>
              <p:nvPr/>
            </p:nvSpPr>
            <p:spPr>
              <a:xfrm>
                <a:off x="5537518" y="5703332"/>
                <a:ext cx="65976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梳理目标企业</a:t>
                </a:r>
                <a:br/>
                <a:r>
                  <a:rPr lang="zh-CN" sz="640" dirty="0">
                    <a:solidFill>
                      <a:srgbClr val="514340"/>
                    </a:solidFill>
                    <a:latin typeface="+mn-lt"/>
                    <a:ea typeface="+mn-ea"/>
                    <a:cs typeface="+mn-cs"/>
                  </a:rPr>
                  <a:t>联动审批绿色通道</a:t>
                </a:r>
              </a:p>
            </p:txBody>
          </p:sp>
          <p:sp>
            <p:nvSpPr>
              <p:cNvPr id="236" name="Rectangle 236"/>
              <p:cNvSpPr/>
              <p:nvPr/>
            </p:nvSpPr>
            <p:spPr>
              <a:xfrm>
                <a:off x="342900" y="6038850"/>
                <a:ext cx="5905500" cy="457200"/>
              </a:xfrm>
              <a:prstGeom prst="rect">
                <a:avLst/>
              </a:prstGeom>
              <a:solidFill>
                <a:srgbClr val="EFF8F6"/>
              </a:solidFill>
              <a:ln w="9525">
                <a:solidFill>
                  <a:srgbClr val="E2EEEB"/>
                </a:solidFill>
              </a:ln>
            </p:spPr>
          </p:sp>
          <p:grpSp>
            <p:nvGrpSpPr>
              <p:cNvPr id="240" name="Group 240"/>
              <p:cNvGrpSpPr/>
              <p:nvPr/>
            </p:nvGrpSpPr>
            <p:grpSpPr>
              <a:xfrm>
                <a:off x="461962" y="6193104"/>
                <a:ext cx="98150" cy="101054"/>
                <a:chOff x="461962" y="6193104"/>
                <a:chExt cx="98150" cy="101054"/>
              </a:xfrm>
            </p:grpSpPr>
            <p:sp>
              <p:nvSpPr>
                <p:cNvPr id="237" name="Freeform 237"/>
                <p:cNvSpPr/>
                <p:nvPr/>
              </p:nvSpPr>
              <p:spPr>
                <a:xfrm>
                  <a:off x="491728" y="6225778"/>
                  <a:ext cx="35719" cy="35719"/>
                </a:xfrm>
                <a:custGeom>
                  <a:avLst/>
                  <a:gdLst/>
                  <a:ahLst/>
                  <a:cxnLst/>
                  <a:rect l="l" t="t" r="r" b="b"/>
                  <a:pathLst>
                    <a:path w="35719" h="35719">
                      <a:moveTo>
                        <a:pt x="0" y="35719"/>
                      </a:moveTo>
                      <a:lnTo>
                        <a:pt x="35719" y="0"/>
                      </a:lnTo>
                    </a:path>
                  </a:pathLst>
                </a:custGeom>
                <a:noFill/>
                <a:ln w="11906">
                  <a:solidFill>
                    <a:srgbClr val="76200F"/>
                  </a:solidFill>
                </a:ln>
              </p:spPr>
            </p:sp>
            <p:sp>
              <p:nvSpPr>
                <p:cNvPr id="238" name="Freeform 238"/>
                <p:cNvSpPr/>
                <p:nvPr/>
              </p:nvSpPr>
              <p:spPr>
                <a:xfrm>
                  <a:off x="503634" y="6193104"/>
                  <a:ext cx="56478" cy="56487"/>
                </a:xfrm>
                <a:custGeom>
                  <a:avLst/>
                  <a:gdLst/>
                  <a:ahLst/>
                  <a:cxnLst/>
                  <a:rect l="l" t="t" r="r" b="b"/>
                  <a:pathLst>
                    <a:path w="56478" h="56487">
                      <a:moveTo>
                        <a:pt x="0" y="14815"/>
                      </a:moveTo>
                      <a:lnTo>
                        <a:pt x="2756" y="11624"/>
                      </a:lnTo>
                      <a:cubicBezTo>
                        <a:pt x="14382" y="0"/>
                        <a:pt x="33230" y="1"/>
                        <a:pt x="44854" y="11627"/>
                      </a:cubicBezTo>
                      <a:cubicBezTo>
                        <a:pt x="56478" y="23253"/>
                        <a:pt x="56477" y="42100"/>
                        <a:pt x="44851" y="53725"/>
                      </a:cubicBezTo>
                      <a:lnTo>
                        <a:pt x="41672" y="56487"/>
                      </a:lnTo>
                    </a:path>
                  </a:pathLst>
                </a:custGeom>
                <a:noFill/>
                <a:ln w="11906">
                  <a:solidFill>
                    <a:srgbClr val="76200F"/>
                  </a:solidFill>
                </a:ln>
              </p:spPr>
            </p:sp>
            <p:sp>
              <p:nvSpPr>
                <p:cNvPr id="239" name="Freeform 239"/>
                <p:cNvSpPr/>
                <p:nvPr/>
              </p:nvSpPr>
              <p:spPr>
                <a:xfrm>
                  <a:off x="461962" y="6237684"/>
                  <a:ext cx="53579" cy="56474"/>
                </a:xfrm>
                <a:custGeom>
                  <a:avLst/>
                  <a:gdLst/>
                  <a:ahLst/>
                  <a:cxnLst/>
                  <a:rect l="l" t="t" r="r" b="b"/>
                  <a:pathLst>
                    <a:path w="53579" h="56474">
                      <a:moveTo>
                        <a:pt x="53579" y="41672"/>
                      </a:moveTo>
                      <a:lnTo>
                        <a:pt x="51216" y="44851"/>
                      </a:lnTo>
                      <a:cubicBezTo>
                        <a:pt x="39461" y="56474"/>
                        <a:pt x="20542" y="56474"/>
                        <a:pt x="8788" y="44851"/>
                      </a:cubicBezTo>
                      <a:cubicBezTo>
                        <a:pt x="3164" y="39291"/>
                        <a:pt x="0" y="31712"/>
                        <a:pt x="0" y="23804"/>
                      </a:cubicBezTo>
                      <a:cubicBezTo>
                        <a:pt x="0" y="15896"/>
                        <a:pt x="3164" y="8316"/>
                        <a:pt x="8788" y="2756"/>
                      </a:cubicBezTo>
                      <a:lnTo>
                        <a:pt x="11907" y="0"/>
                      </a:lnTo>
                    </a:path>
                  </a:pathLst>
                </a:custGeom>
                <a:noFill/>
                <a:ln w="11906">
                  <a:solidFill>
                    <a:srgbClr val="76200F"/>
                  </a:solidFill>
                </a:ln>
              </p:spPr>
            </p:sp>
          </p:grpSp>
          <p:sp>
            <p:nvSpPr>
              <p:cNvPr id="241" name="TextBox 241"/>
              <p:cNvSpPr txBox="1"/>
              <p:nvPr/>
            </p:nvSpPr>
            <p:spPr>
              <a:xfrm>
                <a:off x="623062" y="6228636"/>
                <a:ext cx="48742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供应链金融</a:t>
                </a:r>
              </a:p>
            </p:txBody>
          </p:sp>
          <p:sp>
            <p:nvSpPr>
              <p:cNvPr id="242" name="TextBox 242"/>
              <p:cNvSpPr txBox="1"/>
              <p:nvPr/>
            </p:nvSpPr>
            <p:spPr>
              <a:xfrm>
                <a:off x="1956118" y="6160532"/>
                <a:ext cx="65976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拓展核心企业链条</a:t>
                </a:r>
                <a:br/>
                <a:r>
                  <a:rPr lang="zh-CN" sz="640" dirty="0">
                    <a:solidFill>
                      <a:srgbClr val="514340"/>
                    </a:solidFill>
                    <a:latin typeface="+mn-lt"/>
                    <a:ea typeface="+mn-ea"/>
                    <a:cs typeface="+mn-cs"/>
                  </a:rPr>
                  <a:t>沉淀结算资金</a:t>
                </a:r>
              </a:p>
            </p:txBody>
          </p:sp>
          <p:sp>
            <p:nvSpPr>
              <p:cNvPr id="243" name="TextBox 243"/>
              <p:cNvSpPr txBox="1"/>
              <p:nvPr/>
            </p:nvSpPr>
            <p:spPr>
              <a:xfrm>
                <a:off x="3313189" y="6160532"/>
                <a:ext cx="612623"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核心企业上下游</a:t>
                </a:r>
              </a:p>
            </p:txBody>
          </p:sp>
          <p:sp>
            <p:nvSpPr>
              <p:cNvPr id="244" name="TextBox 244"/>
              <p:cNvSpPr txBox="1"/>
              <p:nvPr/>
            </p:nvSpPr>
            <p:spPr>
              <a:xfrm>
                <a:off x="4426034" y="6236732"/>
                <a:ext cx="672932"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对公经理 + 运营​</a:t>
                </a:r>
              </a:p>
            </p:txBody>
          </p:sp>
          <p:sp>
            <p:nvSpPr>
              <p:cNvPr id="245" name="TextBox 245"/>
              <p:cNvSpPr txBox="1"/>
              <p:nvPr/>
            </p:nvSpPr>
            <p:spPr>
              <a:xfrm>
                <a:off x="5496878" y="6160532"/>
                <a:ext cx="74104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14340"/>
                    </a:solidFill>
                    <a:latin typeface="+mn-lt"/>
                    <a:ea typeface="+mn-ea"/>
                    <a:cs typeface="+mn-cs"/>
                  </a:rPr>
                  <a:t>梳理链上企业名单</a:t>
                </a:r>
                <a:br/>
                <a:r>
                  <a:rPr lang="zh-CN" sz="640" dirty="0">
                    <a:solidFill>
                      <a:srgbClr val="514340"/>
                    </a:solidFill>
                    <a:latin typeface="+mn-lt"/>
                    <a:ea typeface="+mn-ea"/>
                    <a:cs typeface="+mn-cs"/>
                  </a:rPr>
                  <a:t>设计供应链金融方案</a:t>
                </a:r>
              </a:p>
            </p:txBody>
          </p:sp>
        </p:grpSp>
      </p:grpSp>
      <p:grpSp>
        <p:nvGrpSpPr>
          <p:cNvPr id="355" name="raci-table"/>
          <p:cNvGrpSpPr/>
          <p:nvPr/>
        </p:nvGrpSpPr>
        <p:grpSpPr>
          <a:xfrm>
            <a:off x="6319838" y="3238500"/>
            <a:ext cx="5510212" cy="2914888"/>
            <a:chOff x="6319838" y="3238500"/>
            <a:chExt cx="5510212" cy="2914888"/>
          </a:xfrm>
        </p:grpSpPr>
        <p:sp>
          <p:nvSpPr>
            <p:cNvPr id="248" name="Rectangle 248"/>
            <p:cNvSpPr/>
            <p:nvPr/>
          </p:nvSpPr>
          <p:spPr>
            <a:xfrm>
              <a:off x="6324600" y="3238500"/>
              <a:ext cx="2000250" cy="228600"/>
            </a:xfrm>
            <a:prstGeom prst="roundRect">
              <a:avLst>
                <a:gd name="adj" fmla="val 20833"/>
              </a:avLst>
            </a:prstGeom>
            <a:solidFill>
              <a:srgbClr val="76200F"/>
            </a:solidFill>
            <a:ln>
              <a:noFill/>
            </a:ln>
          </p:spPr>
        </p:sp>
        <p:sp>
          <p:nvSpPr>
            <p:cNvPr id="249" name="TextBox 249"/>
            <p:cNvSpPr txBox="1"/>
            <p:nvPr/>
          </p:nvSpPr>
          <p:spPr>
            <a:xfrm>
              <a:off x="6434138" y="3299222"/>
              <a:ext cx="1526021"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公私联动团队 RACI 分工​​</a:t>
              </a:r>
            </a:p>
          </p:txBody>
        </p:sp>
        <p:sp>
          <p:nvSpPr>
            <p:cNvPr id="250" name="Rectangle 250"/>
            <p:cNvSpPr/>
            <p:nvPr/>
          </p:nvSpPr>
          <p:spPr>
            <a:xfrm>
              <a:off x="6324600" y="3524250"/>
              <a:ext cx="5505450" cy="228600"/>
            </a:xfrm>
            <a:prstGeom prst="rect">
              <a:avLst/>
            </a:prstGeom>
            <a:solidFill>
              <a:srgbClr val="5D190B"/>
            </a:solidFill>
            <a:ln>
              <a:noFill/>
            </a:ln>
          </p:spPr>
        </p:sp>
        <p:sp>
          <p:nvSpPr>
            <p:cNvPr id="251" name="TextBox 251"/>
            <p:cNvSpPr txBox="1"/>
            <p:nvPr/>
          </p:nvSpPr>
          <p:spPr>
            <a:xfrm>
              <a:off x="6976402" y="36092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目标环节</a:t>
              </a:r>
            </a:p>
          </p:txBody>
        </p:sp>
        <p:sp>
          <p:nvSpPr>
            <p:cNvPr id="252" name="TextBox 252"/>
            <p:cNvSpPr txBox="1"/>
            <p:nvPr/>
          </p:nvSpPr>
          <p:spPr>
            <a:xfrm>
              <a:off x="8203679" y="361330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对公经理</a:t>
              </a:r>
            </a:p>
          </p:txBody>
        </p:sp>
        <p:sp>
          <p:nvSpPr>
            <p:cNvPr id="253" name="TextBox 253"/>
            <p:cNvSpPr txBox="1"/>
            <p:nvPr/>
          </p:nvSpPr>
          <p:spPr>
            <a:xfrm>
              <a:off x="8965679" y="3613309"/>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零售经理</a:t>
              </a:r>
            </a:p>
          </p:txBody>
        </p:sp>
        <p:sp>
          <p:nvSpPr>
            <p:cNvPr id="254" name="TextBox 254"/>
            <p:cNvSpPr txBox="1"/>
            <p:nvPr/>
          </p:nvSpPr>
          <p:spPr>
            <a:xfrm>
              <a:off x="9819221" y="3613309"/>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网点</a:t>
              </a:r>
            </a:p>
          </p:txBody>
        </p:sp>
        <p:sp>
          <p:nvSpPr>
            <p:cNvPr id="255" name="TextBox 255"/>
            <p:cNvSpPr txBox="1"/>
            <p:nvPr/>
          </p:nvSpPr>
          <p:spPr>
            <a:xfrm>
              <a:off x="10535450" y="3613309"/>
              <a:ext cx="28415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信用卡</a:t>
              </a:r>
            </a:p>
          </p:txBody>
        </p:sp>
        <p:sp>
          <p:nvSpPr>
            <p:cNvPr id="256" name="TextBox 256"/>
            <p:cNvSpPr txBox="1"/>
            <p:nvPr/>
          </p:nvSpPr>
          <p:spPr>
            <a:xfrm>
              <a:off x="11343221" y="3613309"/>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运营</a:t>
              </a:r>
            </a:p>
          </p:txBody>
        </p:sp>
        <p:grpSp>
          <p:nvGrpSpPr>
            <p:cNvPr id="353" name="raci-rows"/>
            <p:cNvGrpSpPr/>
            <p:nvPr/>
          </p:nvGrpSpPr>
          <p:grpSpPr>
            <a:xfrm>
              <a:off x="6324600" y="3752850"/>
              <a:ext cx="5505450" cy="2133600"/>
              <a:chOff x="6324600" y="3752850"/>
              <a:chExt cx="5505450" cy="2133600"/>
            </a:xfrm>
          </p:grpSpPr>
          <p:sp>
            <p:nvSpPr>
              <p:cNvPr id="257" name="Rectangle 257"/>
              <p:cNvSpPr/>
              <p:nvPr/>
            </p:nvSpPr>
            <p:spPr>
              <a:xfrm>
                <a:off x="6324600" y="3752850"/>
                <a:ext cx="5505450" cy="266700"/>
              </a:xfrm>
              <a:prstGeom prst="rect">
                <a:avLst/>
              </a:prstGeom>
              <a:solidFill>
                <a:srgbClr val="FFFFFF"/>
              </a:solidFill>
              <a:ln w="9525">
                <a:solidFill>
                  <a:srgbClr val="E2EEEB"/>
                </a:solidFill>
              </a:ln>
            </p:spPr>
          </p:sp>
          <p:sp>
            <p:nvSpPr>
              <p:cNvPr id="258" name="TextBox 258"/>
              <p:cNvSpPr txBox="1"/>
              <p:nvPr/>
            </p:nvSpPr>
            <p:spPr>
              <a:xfrm>
                <a:off x="6892938" y="3851434"/>
                <a:ext cx="558775"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目标企业清单</a:t>
                </a:r>
              </a:p>
            </p:txBody>
          </p:sp>
          <p:sp>
            <p:nvSpPr>
              <p:cNvPr id="259" name="Rectangle 259"/>
              <p:cNvSpPr/>
              <p:nvPr/>
            </p:nvSpPr>
            <p:spPr>
              <a:xfrm>
                <a:off x="8267700" y="3800475"/>
                <a:ext cx="247650" cy="171450"/>
              </a:xfrm>
              <a:prstGeom prst="roundRect">
                <a:avLst>
                  <a:gd name="adj" fmla="val 16667"/>
                </a:avLst>
              </a:prstGeom>
              <a:solidFill>
                <a:srgbClr val="76200F"/>
              </a:solidFill>
              <a:ln>
                <a:noFill/>
              </a:ln>
            </p:spPr>
          </p:sp>
          <p:sp>
            <p:nvSpPr>
              <p:cNvPr id="260" name="TextBox 260"/>
              <p:cNvSpPr txBox="1"/>
              <p:nvPr/>
            </p:nvSpPr>
            <p:spPr>
              <a:xfrm>
                <a:off x="8328441" y="38473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61" name="Rectangle 261"/>
              <p:cNvSpPr/>
              <p:nvPr/>
            </p:nvSpPr>
            <p:spPr>
              <a:xfrm>
                <a:off x="9029700" y="3800475"/>
                <a:ext cx="247650" cy="171450"/>
              </a:xfrm>
              <a:prstGeom prst="roundRect">
                <a:avLst>
                  <a:gd name="adj" fmla="val 16667"/>
                </a:avLst>
              </a:prstGeom>
              <a:solidFill>
                <a:srgbClr val="D9EEEA"/>
              </a:solidFill>
              <a:ln>
                <a:noFill/>
              </a:ln>
            </p:spPr>
          </p:sp>
          <p:sp>
            <p:nvSpPr>
              <p:cNvPr id="262" name="TextBox 262"/>
              <p:cNvSpPr txBox="1"/>
              <p:nvPr/>
            </p:nvSpPr>
            <p:spPr>
              <a:xfrm>
                <a:off x="9093218" y="38473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263" name="Rectangle 263"/>
              <p:cNvSpPr/>
              <p:nvPr/>
            </p:nvSpPr>
            <p:spPr>
              <a:xfrm>
                <a:off x="9791700" y="3800475"/>
                <a:ext cx="247650" cy="171450"/>
              </a:xfrm>
              <a:prstGeom prst="roundRect">
                <a:avLst>
                  <a:gd name="adj" fmla="val 16667"/>
                </a:avLst>
              </a:prstGeom>
              <a:solidFill>
                <a:srgbClr val="D9EEEA"/>
              </a:solidFill>
              <a:ln>
                <a:noFill/>
              </a:ln>
            </p:spPr>
          </p:sp>
          <p:sp>
            <p:nvSpPr>
              <p:cNvPr id="264" name="TextBox 264"/>
              <p:cNvSpPr txBox="1"/>
              <p:nvPr/>
            </p:nvSpPr>
            <p:spPr>
              <a:xfrm>
                <a:off x="9855218" y="38473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265" name="Rectangle 265"/>
              <p:cNvSpPr/>
              <p:nvPr/>
            </p:nvSpPr>
            <p:spPr>
              <a:xfrm>
                <a:off x="10553700" y="3800475"/>
                <a:ext cx="247650" cy="171450"/>
              </a:xfrm>
              <a:prstGeom prst="roundRect">
                <a:avLst>
                  <a:gd name="adj" fmla="val 16667"/>
                </a:avLst>
              </a:prstGeom>
              <a:solidFill>
                <a:srgbClr val="F0FAF8"/>
              </a:solidFill>
              <a:ln>
                <a:noFill/>
              </a:ln>
            </p:spPr>
          </p:sp>
          <p:sp>
            <p:nvSpPr>
              <p:cNvPr id="266" name="TextBox 266"/>
              <p:cNvSpPr txBox="1"/>
              <p:nvPr/>
            </p:nvSpPr>
            <p:spPr>
              <a:xfrm>
                <a:off x="10629842" y="3847386"/>
                <a:ext cx="95367" cy="140494"/>
              </a:xfrm>
              <a:prstGeom prst="rect">
                <a:avLst/>
              </a:prstGeom>
              <a:noFill/>
              <a:ln>
                <a:noFill/>
              </a:ln>
            </p:spPr>
            <p:txBody>
              <a:bodyPr wrap="none" lIns="0" tIns="0" rIns="0" bIns="0" anchor="t" anchorCtr="0">
                <a:spAutoFit/>
              </a:bodyPr>
              <a:lstStyle/>
              <a:p>
                <a:pPr algn="ctr"/>
                <a:r>
                  <a:rPr lang="en-US" sz="710" dirty="0">
                    <a:solidFill>
                      <a:srgbClr val="748683"/>
                    </a:solidFill>
                    <a:latin typeface="+mn-lt"/>
                    <a:ea typeface="+mn-ea"/>
                    <a:cs typeface="+mn-cs"/>
                  </a:rPr>
                  <a:t>I​</a:t>
                </a:r>
              </a:p>
            </p:txBody>
          </p:sp>
          <p:sp>
            <p:nvSpPr>
              <p:cNvPr id="267" name="Rectangle 267"/>
              <p:cNvSpPr/>
              <p:nvPr/>
            </p:nvSpPr>
            <p:spPr>
              <a:xfrm>
                <a:off x="11315700" y="3800475"/>
                <a:ext cx="247650" cy="171450"/>
              </a:xfrm>
              <a:prstGeom prst="roundRect">
                <a:avLst>
                  <a:gd name="adj" fmla="val 16667"/>
                </a:avLst>
              </a:prstGeom>
              <a:solidFill>
                <a:srgbClr val="D9EEEA"/>
              </a:solidFill>
              <a:ln>
                <a:noFill/>
              </a:ln>
            </p:spPr>
          </p:sp>
          <p:sp>
            <p:nvSpPr>
              <p:cNvPr id="268" name="TextBox 268"/>
              <p:cNvSpPr txBox="1"/>
              <p:nvPr/>
            </p:nvSpPr>
            <p:spPr>
              <a:xfrm>
                <a:off x="11379218" y="38473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269" name="Rectangle 269"/>
              <p:cNvSpPr/>
              <p:nvPr/>
            </p:nvSpPr>
            <p:spPr>
              <a:xfrm>
                <a:off x="6324600" y="4019550"/>
                <a:ext cx="5505450" cy="266700"/>
              </a:xfrm>
              <a:prstGeom prst="rect">
                <a:avLst/>
              </a:prstGeom>
              <a:solidFill>
                <a:srgbClr val="EFF8F6"/>
              </a:solidFill>
              <a:ln w="9525">
                <a:solidFill>
                  <a:srgbClr val="E2EEEB"/>
                </a:solidFill>
              </a:ln>
            </p:spPr>
          </p:sp>
          <p:sp>
            <p:nvSpPr>
              <p:cNvPr id="270" name="TextBox 270"/>
              <p:cNvSpPr txBox="1"/>
              <p:nvPr/>
            </p:nvSpPr>
            <p:spPr>
              <a:xfrm>
                <a:off x="6847167" y="4118134"/>
                <a:ext cx="650316"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企业拜访与洽谈</a:t>
                </a:r>
              </a:p>
            </p:txBody>
          </p:sp>
          <p:sp>
            <p:nvSpPr>
              <p:cNvPr id="271" name="Rectangle 271"/>
              <p:cNvSpPr/>
              <p:nvPr/>
            </p:nvSpPr>
            <p:spPr>
              <a:xfrm>
                <a:off x="8267700" y="4067175"/>
                <a:ext cx="247650" cy="171450"/>
              </a:xfrm>
              <a:prstGeom prst="roundRect">
                <a:avLst>
                  <a:gd name="adj" fmla="val 16667"/>
                </a:avLst>
              </a:prstGeom>
              <a:solidFill>
                <a:srgbClr val="76200F"/>
              </a:solidFill>
              <a:ln>
                <a:noFill/>
              </a:ln>
            </p:spPr>
          </p:sp>
          <p:sp>
            <p:nvSpPr>
              <p:cNvPr id="272" name="TextBox 272"/>
              <p:cNvSpPr txBox="1"/>
              <p:nvPr/>
            </p:nvSpPr>
            <p:spPr>
              <a:xfrm>
                <a:off x="8328441" y="41140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73" name="Rectangle 273"/>
              <p:cNvSpPr/>
              <p:nvPr/>
            </p:nvSpPr>
            <p:spPr>
              <a:xfrm>
                <a:off x="9029700" y="4067175"/>
                <a:ext cx="247650" cy="171450"/>
              </a:xfrm>
              <a:prstGeom prst="roundRect">
                <a:avLst>
                  <a:gd name="adj" fmla="val 16667"/>
                </a:avLst>
              </a:prstGeom>
              <a:solidFill>
                <a:srgbClr val="D9EEEA"/>
              </a:solidFill>
              <a:ln>
                <a:noFill/>
              </a:ln>
            </p:spPr>
          </p:sp>
          <p:sp>
            <p:nvSpPr>
              <p:cNvPr id="274" name="TextBox 274"/>
              <p:cNvSpPr txBox="1"/>
              <p:nvPr/>
            </p:nvSpPr>
            <p:spPr>
              <a:xfrm>
                <a:off x="9093218" y="41140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275" name="Rectangle 275"/>
              <p:cNvSpPr/>
              <p:nvPr/>
            </p:nvSpPr>
            <p:spPr>
              <a:xfrm>
                <a:off x="9791700" y="4067175"/>
                <a:ext cx="247650" cy="171450"/>
              </a:xfrm>
              <a:prstGeom prst="roundRect">
                <a:avLst>
                  <a:gd name="adj" fmla="val 16667"/>
                </a:avLst>
              </a:prstGeom>
              <a:solidFill>
                <a:srgbClr val="F0FAF8"/>
              </a:solidFill>
              <a:ln>
                <a:noFill/>
              </a:ln>
            </p:spPr>
          </p:sp>
          <p:sp>
            <p:nvSpPr>
              <p:cNvPr id="276" name="TextBox 276"/>
              <p:cNvSpPr txBox="1"/>
              <p:nvPr/>
            </p:nvSpPr>
            <p:spPr>
              <a:xfrm>
                <a:off x="9867842" y="4114086"/>
                <a:ext cx="95367" cy="140494"/>
              </a:xfrm>
              <a:prstGeom prst="rect">
                <a:avLst/>
              </a:prstGeom>
              <a:noFill/>
              <a:ln>
                <a:noFill/>
              </a:ln>
            </p:spPr>
            <p:txBody>
              <a:bodyPr wrap="none" lIns="0" tIns="0" rIns="0" bIns="0" anchor="t" anchorCtr="0">
                <a:spAutoFit/>
              </a:bodyPr>
              <a:lstStyle/>
              <a:p>
                <a:pPr algn="ctr"/>
                <a:r>
                  <a:rPr lang="en-US" sz="710" dirty="0">
                    <a:solidFill>
                      <a:srgbClr val="748683"/>
                    </a:solidFill>
                    <a:latin typeface="+mn-lt"/>
                    <a:ea typeface="+mn-ea"/>
                    <a:cs typeface="+mn-cs"/>
                  </a:rPr>
                  <a:t>I​</a:t>
                </a:r>
              </a:p>
            </p:txBody>
          </p:sp>
          <p:sp>
            <p:nvSpPr>
              <p:cNvPr id="277" name="Rectangle 277"/>
              <p:cNvSpPr/>
              <p:nvPr/>
            </p:nvSpPr>
            <p:spPr>
              <a:xfrm>
                <a:off x="10553700" y="4067175"/>
                <a:ext cx="247650" cy="171450"/>
              </a:xfrm>
              <a:prstGeom prst="roundRect">
                <a:avLst>
                  <a:gd name="adj" fmla="val 16667"/>
                </a:avLst>
              </a:prstGeom>
              <a:solidFill>
                <a:srgbClr val="F0FAF8"/>
              </a:solidFill>
              <a:ln>
                <a:noFill/>
              </a:ln>
            </p:spPr>
          </p:sp>
          <p:sp>
            <p:nvSpPr>
              <p:cNvPr id="278" name="TextBox 278"/>
              <p:cNvSpPr txBox="1"/>
              <p:nvPr/>
            </p:nvSpPr>
            <p:spPr>
              <a:xfrm>
                <a:off x="10629842" y="4114086"/>
                <a:ext cx="95367" cy="140494"/>
              </a:xfrm>
              <a:prstGeom prst="rect">
                <a:avLst/>
              </a:prstGeom>
              <a:noFill/>
              <a:ln>
                <a:noFill/>
              </a:ln>
            </p:spPr>
            <p:txBody>
              <a:bodyPr wrap="none" lIns="0" tIns="0" rIns="0" bIns="0" anchor="t" anchorCtr="0">
                <a:spAutoFit/>
              </a:bodyPr>
              <a:lstStyle/>
              <a:p>
                <a:pPr algn="ctr"/>
                <a:r>
                  <a:rPr lang="en-US" sz="710" dirty="0">
                    <a:solidFill>
                      <a:srgbClr val="748683"/>
                    </a:solidFill>
                    <a:latin typeface="+mn-lt"/>
                    <a:ea typeface="+mn-ea"/>
                    <a:cs typeface="+mn-cs"/>
                  </a:rPr>
                  <a:t>I​</a:t>
                </a:r>
              </a:p>
            </p:txBody>
          </p:sp>
          <p:sp>
            <p:nvSpPr>
              <p:cNvPr id="279" name="Rectangle 279"/>
              <p:cNvSpPr/>
              <p:nvPr/>
            </p:nvSpPr>
            <p:spPr>
              <a:xfrm>
                <a:off x="11315700" y="4067175"/>
                <a:ext cx="247650" cy="171450"/>
              </a:xfrm>
              <a:prstGeom prst="roundRect">
                <a:avLst>
                  <a:gd name="adj" fmla="val 16667"/>
                </a:avLst>
              </a:prstGeom>
              <a:solidFill>
                <a:srgbClr val="D9EEEA"/>
              </a:solidFill>
              <a:ln>
                <a:noFill/>
              </a:ln>
            </p:spPr>
          </p:sp>
          <p:sp>
            <p:nvSpPr>
              <p:cNvPr id="280" name="TextBox 280"/>
              <p:cNvSpPr txBox="1"/>
              <p:nvPr/>
            </p:nvSpPr>
            <p:spPr>
              <a:xfrm>
                <a:off x="11379218" y="41140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281" name="Rectangle 281"/>
              <p:cNvSpPr/>
              <p:nvPr/>
            </p:nvSpPr>
            <p:spPr>
              <a:xfrm>
                <a:off x="6324600" y="4286250"/>
                <a:ext cx="5505450" cy="266700"/>
              </a:xfrm>
              <a:prstGeom prst="rect">
                <a:avLst/>
              </a:prstGeom>
              <a:solidFill>
                <a:srgbClr val="FFFFFF"/>
              </a:solidFill>
              <a:ln w="9525">
                <a:solidFill>
                  <a:srgbClr val="E2EEEB"/>
                </a:solidFill>
              </a:ln>
            </p:spPr>
          </p:sp>
          <p:sp>
            <p:nvSpPr>
              <p:cNvPr id="282" name="TextBox 282"/>
              <p:cNvSpPr txBox="1"/>
              <p:nvPr/>
            </p:nvSpPr>
            <p:spPr>
              <a:xfrm>
                <a:off x="6847167" y="4384834"/>
                <a:ext cx="650316"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活动策划与落地</a:t>
                </a:r>
              </a:p>
            </p:txBody>
          </p:sp>
          <p:sp>
            <p:nvSpPr>
              <p:cNvPr id="283" name="Rectangle 283"/>
              <p:cNvSpPr/>
              <p:nvPr/>
            </p:nvSpPr>
            <p:spPr>
              <a:xfrm>
                <a:off x="8267700" y="4333875"/>
                <a:ext cx="247650" cy="171450"/>
              </a:xfrm>
              <a:prstGeom prst="roundRect">
                <a:avLst>
                  <a:gd name="adj" fmla="val 16667"/>
                </a:avLst>
              </a:prstGeom>
              <a:solidFill>
                <a:srgbClr val="D9EEEA"/>
              </a:solidFill>
              <a:ln>
                <a:noFill/>
              </a:ln>
            </p:spPr>
          </p:sp>
          <p:sp>
            <p:nvSpPr>
              <p:cNvPr id="284" name="TextBox 284"/>
              <p:cNvSpPr txBox="1"/>
              <p:nvPr/>
            </p:nvSpPr>
            <p:spPr>
              <a:xfrm>
                <a:off x="8331218" y="43807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285" name="Rectangle 285"/>
              <p:cNvSpPr/>
              <p:nvPr/>
            </p:nvSpPr>
            <p:spPr>
              <a:xfrm>
                <a:off x="9029700" y="4333875"/>
                <a:ext cx="247650" cy="171450"/>
              </a:xfrm>
              <a:prstGeom prst="roundRect">
                <a:avLst>
                  <a:gd name="adj" fmla="val 16667"/>
                </a:avLst>
              </a:prstGeom>
              <a:solidFill>
                <a:srgbClr val="76200F"/>
              </a:solidFill>
              <a:ln>
                <a:noFill/>
              </a:ln>
            </p:spPr>
          </p:sp>
          <p:sp>
            <p:nvSpPr>
              <p:cNvPr id="286" name="TextBox 286"/>
              <p:cNvSpPr txBox="1"/>
              <p:nvPr/>
            </p:nvSpPr>
            <p:spPr>
              <a:xfrm>
                <a:off x="9090441" y="43807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87" name="Rectangle 287"/>
              <p:cNvSpPr/>
              <p:nvPr/>
            </p:nvSpPr>
            <p:spPr>
              <a:xfrm>
                <a:off x="9791700" y="4333875"/>
                <a:ext cx="247650" cy="171450"/>
              </a:xfrm>
              <a:prstGeom prst="roundRect">
                <a:avLst>
                  <a:gd name="adj" fmla="val 16667"/>
                </a:avLst>
              </a:prstGeom>
              <a:solidFill>
                <a:srgbClr val="76200F"/>
              </a:solidFill>
              <a:ln>
                <a:noFill/>
              </a:ln>
            </p:spPr>
          </p:sp>
          <p:sp>
            <p:nvSpPr>
              <p:cNvPr id="288" name="TextBox 288"/>
              <p:cNvSpPr txBox="1"/>
              <p:nvPr/>
            </p:nvSpPr>
            <p:spPr>
              <a:xfrm>
                <a:off x="9852441" y="43807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89" name="Rectangle 289"/>
              <p:cNvSpPr/>
              <p:nvPr/>
            </p:nvSpPr>
            <p:spPr>
              <a:xfrm>
                <a:off x="10553700" y="4333875"/>
                <a:ext cx="247650" cy="171450"/>
              </a:xfrm>
              <a:prstGeom prst="roundRect">
                <a:avLst>
                  <a:gd name="adj" fmla="val 16667"/>
                </a:avLst>
              </a:prstGeom>
              <a:solidFill>
                <a:srgbClr val="F0FAF8"/>
              </a:solidFill>
              <a:ln>
                <a:noFill/>
              </a:ln>
            </p:spPr>
          </p:sp>
          <p:sp>
            <p:nvSpPr>
              <p:cNvPr id="290" name="TextBox 290"/>
              <p:cNvSpPr txBox="1"/>
              <p:nvPr/>
            </p:nvSpPr>
            <p:spPr>
              <a:xfrm>
                <a:off x="10629842" y="4380786"/>
                <a:ext cx="95367" cy="140494"/>
              </a:xfrm>
              <a:prstGeom prst="rect">
                <a:avLst/>
              </a:prstGeom>
              <a:noFill/>
              <a:ln>
                <a:noFill/>
              </a:ln>
            </p:spPr>
            <p:txBody>
              <a:bodyPr wrap="none" lIns="0" tIns="0" rIns="0" bIns="0" anchor="t" anchorCtr="0">
                <a:spAutoFit/>
              </a:bodyPr>
              <a:lstStyle/>
              <a:p>
                <a:pPr algn="ctr"/>
                <a:r>
                  <a:rPr lang="en-US" sz="710" dirty="0">
                    <a:solidFill>
                      <a:srgbClr val="748683"/>
                    </a:solidFill>
                    <a:latin typeface="+mn-lt"/>
                    <a:ea typeface="+mn-ea"/>
                    <a:cs typeface="+mn-cs"/>
                  </a:rPr>
                  <a:t>I​</a:t>
                </a:r>
              </a:p>
            </p:txBody>
          </p:sp>
          <p:sp>
            <p:nvSpPr>
              <p:cNvPr id="291" name="Rectangle 291"/>
              <p:cNvSpPr/>
              <p:nvPr/>
            </p:nvSpPr>
            <p:spPr>
              <a:xfrm>
                <a:off x="11315700" y="4333875"/>
                <a:ext cx="247650" cy="171450"/>
              </a:xfrm>
              <a:prstGeom prst="roundRect">
                <a:avLst>
                  <a:gd name="adj" fmla="val 16667"/>
                </a:avLst>
              </a:prstGeom>
              <a:solidFill>
                <a:srgbClr val="76200F"/>
              </a:solidFill>
              <a:ln>
                <a:noFill/>
              </a:ln>
            </p:spPr>
          </p:sp>
          <p:sp>
            <p:nvSpPr>
              <p:cNvPr id="292" name="TextBox 292"/>
              <p:cNvSpPr txBox="1"/>
              <p:nvPr/>
            </p:nvSpPr>
            <p:spPr>
              <a:xfrm>
                <a:off x="11376441" y="43807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93" name="Rectangle 293"/>
              <p:cNvSpPr/>
              <p:nvPr/>
            </p:nvSpPr>
            <p:spPr>
              <a:xfrm>
                <a:off x="6324600" y="4552950"/>
                <a:ext cx="5505450" cy="266700"/>
              </a:xfrm>
              <a:prstGeom prst="rect">
                <a:avLst/>
              </a:prstGeom>
              <a:solidFill>
                <a:srgbClr val="EFF8F6"/>
              </a:solidFill>
              <a:ln w="9525">
                <a:solidFill>
                  <a:srgbClr val="E2EEEB"/>
                </a:solidFill>
              </a:ln>
            </p:spPr>
          </p:sp>
          <p:sp>
            <p:nvSpPr>
              <p:cNvPr id="294" name="TextBox 294"/>
              <p:cNvSpPr txBox="1"/>
              <p:nvPr/>
            </p:nvSpPr>
            <p:spPr>
              <a:xfrm>
                <a:off x="6811237" y="4651534"/>
                <a:ext cx="722176"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员工 / 商户开卡​</a:t>
                </a:r>
              </a:p>
            </p:txBody>
          </p:sp>
          <p:sp>
            <p:nvSpPr>
              <p:cNvPr id="295" name="Rectangle 295"/>
              <p:cNvSpPr/>
              <p:nvPr/>
            </p:nvSpPr>
            <p:spPr>
              <a:xfrm>
                <a:off x="8267700" y="4600575"/>
                <a:ext cx="247650" cy="171450"/>
              </a:xfrm>
              <a:prstGeom prst="roundRect">
                <a:avLst>
                  <a:gd name="adj" fmla="val 16667"/>
                </a:avLst>
              </a:prstGeom>
              <a:solidFill>
                <a:srgbClr val="D9EEEA"/>
              </a:solidFill>
              <a:ln>
                <a:noFill/>
              </a:ln>
            </p:spPr>
          </p:sp>
          <p:sp>
            <p:nvSpPr>
              <p:cNvPr id="296" name="TextBox 296"/>
              <p:cNvSpPr txBox="1"/>
              <p:nvPr/>
            </p:nvSpPr>
            <p:spPr>
              <a:xfrm>
                <a:off x="8331218" y="46474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297" name="Rectangle 297"/>
              <p:cNvSpPr/>
              <p:nvPr/>
            </p:nvSpPr>
            <p:spPr>
              <a:xfrm>
                <a:off x="9029700" y="4600575"/>
                <a:ext cx="247650" cy="171450"/>
              </a:xfrm>
              <a:prstGeom prst="roundRect">
                <a:avLst>
                  <a:gd name="adj" fmla="val 16667"/>
                </a:avLst>
              </a:prstGeom>
              <a:solidFill>
                <a:srgbClr val="76200F"/>
              </a:solidFill>
              <a:ln>
                <a:noFill/>
              </a:ln>
            </p:spPr>
          </p:sp>
          <p:sp>
            <p:nvSpPr>
              <p:cNvPr id="298" name="TextBox 298"/>
              <p:cNvSpPr txBox="1"/>
              <p:nvPr/>
            </p:nvSpPr>
            <p:spPr>
              <a:xfrm>
                <a:off x="9090441" y="46474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299" name="Rectangle 299"/>
              <p:cNvSpPr/>
              <p:nvPr/>
            </p:nvSpPr>
            <p:spPr>
              <a:xfrm>
                <a:off x="9791700" y="4600575"/>
                <a:ext cx="247650" cy="171450"/>
              </a:xfrm>
              <a:prstGeom prst="roundRect">
                <a:avLst>
                  <a:gd name="adj" fmla="val 16667"/>
                </a:avLst>
              </a:prstGeom>
              <a:solidFill>
                <a:srgbClr val="76200F"/>
              </a:solidFill>
              <a:ln>
                <a:noFill/>
              </a:ln>
            </p:spPr>
          </p:sp>
          <p:sp>
            <p:nvSpPr>
              <p:cNvPr id="300" name="TextBox 300"/>
              <p:cNvSpPr txBox="1"/>
              <p:nvPr/>
            </p:nvSpPr>
            <p:spPr>
              <a:xfrm>
                <a:off x="9852441" y="46474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301" name="Rectangle 301"/>
              <p:cNvSpPr/>
              <p:nvPr/>
            </p:nvSpPr>
            <p:spPr>
              <a:xfrm>
                <a:off x="10553700" y="4600575"/>
                <a:ext cx="247650" cy="171450"/>
              </a:xfrm>
              <a:prstGeom prst="roundRect">
                <a:avLst>
                  <a:gd name="adj" fmla="val 16667"/>
                </a:avLst>
              </a:prstGeom>
              <a:solidFill>
                <a:srgbClr val="76200F"/>
              </a:solidFill>
              <a:ln>
                <a:noFill/>
              </a:ln>
            </p:spPr>
          </p:sp>
          <p:sp>
            <p:nvSpPr>
              <p:cNvPr id="302" name="TextBox 302"/>
              <p:cNvSpPr txBox="1"/>
              <p:nvPr/>
            </p:nvSpPr>
            <p:spPr>
              <a:xfrm>
                <a:off x="10614441" y="46474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303" name="Rectangle 303"/>
              <p:cNvSpPr/>
              <p:nvPr/>
            </p:nvSpPr>
            <p:spPr>
              <a:xfrm>
                <a:off x="11315700" y="4600575"/>
                <a:ext cx="247650" cy="171450"/>
              </a:xfrm>
              <a:prstGeom prst="roundRect">
                <a:avLst>
                  <a:gd name="adj" fmla="val 16667"/>
                </a:avLst>
              </a:prstGeom>
              <a:solidFill>
                <a:srgbClr val="D9EEEA"/>
              </a:solidFill>
              <a:ln>
                <a:noFill/>
              </a:ln>
            </p:spPr>
          </p:sp>
          <p:sp>
            <p:nvSpPr>
              <p:cNvPr id="304" name="TextBox 304"/>
              <p:cNvSpPr txBox="1"/>
              <p:nvPr/>
            </p:nvSpPr>
            <p:spPr>
              <a:xfrm>
                <a:off x="11379218" y="46474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05" name="Rectangle 305"/>
              <p:cNvSpPr/>
              <p:nvPr/>
            </p:nvSpPr>
            <p:spPr>
              <a:xfrm>
                <a:off x="6324600" y="4819650"/>
                <a:ext cx="5505450" cy="266700"/>
              </a:xfrm>
              <a:prstGeom prst="rect">
                <a:avLst/>
              </a:prstGeom>
              <a:solidFill>
                <a:srgbClr val="FFFFFF"/>
              </a:solidFill>
              <a:ln w="9525">
                <a:solidFill>
                  <a:srgbClr val="E2EEEB"/>
                </a:solidFill>
              </a:ln>
            </p:spPr>
          </p:sp>
          <p:sp>
            <p:nvSpPr>
              <p:cNvPr id="306" name="TextBox 306"/>
              <p:cNvSpPr txBox="1"/>
              <p:nvPr/>
            </p:nvSpPr>
            <p:spPr>
              <a:xfrm>
                <a:off x="6984479" y="491823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信贷投放</a:t>
                </a:r>
              </a:p>
            </p:txBody>
          </p:sp>
          <p:sp>
            <p:nvSpPr>
              <p:cNvPr id="307" name="Rectangle 307"/>
              <p:cNvSpPr/>
              <p:nvPr/>
            </p:nvSpPr>
            <p:spPr>
              <a:xfrm>
                <a:off x="8267700" y="4867275"/>
                <a:ext cx="247650" cy="171450"/>
              </a:xfrm>
              <a:prstGeom prst="roundRect">
                <a:avLst>
                  <a:gd name="adj" fmla="val 16667"/>
                </a:avLst>
              </a:prstGeom>
              <a:solidFill>
                <a:srgbClr val="F0FAF8"/>
              </a:solidFill>
              <a:ln>
                <a:noFill/>
              </a:ln>
            </p:spPr>
          </p:sp>
          <p:sp>
            <p:nvSpPr>
              <p:cNvPr id="308" name="TextBox 308"/>
              <p:cNvSpPr txBox="1"/>
              <p:nvPr/>
            </p:nvSpPr>
            <p:spPr>
              <a:xfrm>
                <a:off x="8343842" y="4914186"/>
                <a:ext cx="95367" cy="140494"/>
              </a:xfrm>
              <a:prstGeom prst="rect">
                <a:avLst/>
              </a:prstGeom>
              <a:noFill/>
              <a:ln>
                <a:noFill/>
              </a:ln>
            </p:spPr>
            <p:txBody>
              <a:bodyPr wrap="none" lIns="0" tIns="0" rIns="0" bIns="0" anchor="t" anchorCtr="0">
                <a:spAutoFit/>
              </a:bodyPr>
              <a:lstStyle/>
              <a:p>
                <a:pPr algn="ctr"/>
                <a:r>
                  <a:rPr lang="en-US" sz="710" dirty="0">
                    <a:solidFill>
                      <a:srgbClr val="748683"/>
                    </a:solidFill>
                    <a:latin typeface="+mn-lt"/>
                    <a:ea typeface="+mn-ea"/>
                    <a:cs typeface="+mn-cs"/>
                  </a:rPr>
                  <a:t>I​</a:t>
                </a:r>
              </a:p>
            </p:txBody>
          </p:sp>
          <p:sp>
            <p:nvSpPr>
              <p:cNvPr id="309" name="Rectangle 309"/>
              <p:cNvSpPr/>
              <p:nvPr/>
            </p:nvSpPr>
            <p:spPr>
              <a:xfrm>
                <a:off x="9029700" y="4867275"/>
                <a:ext cx="247650" cy="171450"/>
              </a:xfrm>
              <a:prstGeom prst="roundRect">
                <a:avLst>
                  <a:gd name="adj" fmla="val 16667"/>
                </a:avLst>
              </a:prstGeom>
              <a:solidFill>
                <a:srgbClr val="D9EEEA"/>
              </a:solidFill>
              <a:ln>
                <a:noFill/>
              </a:ln>
            </p:spPr>
          </p:sp>
          <p:sp>
            <p:nvSpPr>
              <p:cNvPr id="310" name="TextBox 310"/>
              <p:cNvSpPr txBox="1"/>
              <p:nvPr/>
            </p:nvSpPr>
            <p:spPr>
              <a:xfrm>
                <a:off x="9093218" y="49141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11" name="Rectangle 311"/>
              <p:cNvSpPr/>
              <p:nvPr/>
            </p:nvSpPr>
            <p:spPr>
              <a:xfrm>
                <a:off x="9791700" y="4867275"/>
                <a:ext cx="247650" cy="171450"/>
              </a:xfrm>
              <a:prstGeom prst="roundRect">
                <a:avLst>
                  <a:gd name="adj" fmla="val 16667"/>
                </a:avLst>
              </a:prstGeom>
              <a:solidFill>
                <a:srgbClr val="76200F"/>
              </a:solidFill>
              <a:ln>
                <a:noFill/>
              </a:ln>
            </p:spPr>
          </p:sp>
          <p:sp>
            <p:nvSpPr>
              <p:cNvPr id="312" name="TextBox 312"/>
              <p:cNvSpPr txBox="1"/>
              <p:nvPr/>
            </p:nvSpPr>
            <p:spPr>
              <a:xfrm>
                <a:off x="9852441" y="49141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313" name="Rectangle 313"/>
              <p:cNvSpPr/>
              <p:nvPr/>
            </p:nvSpPr>
            <p:spPr>
              <a:xfrm>
                <a:off x="10553700" y="4867275"/>
                <a:ext cx="247650" cy="171450"/>
              </a:xfrm>
              <a:prstGeom prst="roundRect">
                <a:avLst>
                  <a:gd name="adj" fmla="val 16667"/>
                </a:avLst>
              </a:prstGeom>
              <a:solidFill>
                <a:srgbClr val="76200F"/>
              </a:solidFill>
              <a:ln>
                <a:noFill/>
              </a:ln>
            </p:spPr>
          </p:sp>
          <p:sp>
            <p:nvSpPr>
              <p:cNvPr id="314" name="TextBox 314"/>
              <p:cNvSpPr txBox="1"/>
              <p:nvPr/>
            </p:nvSpPr>
            <p:spPr>
              <a:xfrm>
                <a:off x="10614441" y="49141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315" name="Rectangle 315"/>
              <p:cNvSpPr/>
              <p:nvPr/>
            </p:nvSpPr>
            <p:spPr>
              <a:xfrm>
                <a:off x="11315700" y="4867275"/>
                <a:ext cx="247650" cy="171450"/>
              </a:xfrm>
              <a:prstGeom prst="roundRect">
                <a:avLst>
                  <a:gd name="adj" fmla="val 16667"/>
                </a:avLst>
              </a:prstGeom>
              <a:solidFill>
                <a:srgbClr val="D9EEEA"/>
              </a:solidFill>
              <a:ln>
                <a:noFill/>
              </a:ln>
            </p:spPr>
          </p:sp>
          <p:sp>
            <p:nvSpPr>
              <p:cNvPr id="316" name="TextBox 316"/>
              <p:cNvSpPr txBox="1"/>
              <p:nvPr/>
            </p:nvSpPr>
            <p:spPr>
              <a:xfrm>
                <a:off x="11379218" y="49141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17" name="Rectangle 317"/>
              <p:cNvSpPr/>
              <p:nvPr/>
            </p:nvSpPr>
            <p:spPr>
              <a:xfrm>
                <a:off x="6324600" y="5086350"/>
                <a:ext cx="5505450" cy="266700"/>
              </a:xfrm>
              <a:prstGeom prst="rect">
                <a:avLst/>
              </a:prstGeom>
              <a:solidFill>
                <a:srgbClr val="EFF8F6"/>
              </a:solidFill>
              <a:ln w="9525">
                <a:solidFill>
                  <a:srgbClr val="E2EEEB"/>
                </a:solidFill>
              </a:ln>
            </p:spPr>
          </p:sp>
          <p:sp>
            <p:nvSpPr>
              <p:cNvPr id="318" name="TextBox 318"/>
              <p:cNvSpPr txBox="1"/>
              <p:nvPr/>
            </p:nvSpPr>
            <p:spPr>
              <a:xfrm>
                <a:off x="6755625" y="5184934"/>
                <a:ext cx="833399"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个人信贷与财富转化</a:t>
                </a:r>
              </a:p>
            </p:txBody>
          </p:sp>
          <p:sp>
            <p:nvSpPr>
              <p:cNvPr id="319" name="Rectangle 319"/>
              <p:cNvSpPr/>
              <p:nvPr/>
            </p:nvSpPr>
            <p:spPr>
              <a:xfrm>
                <a:off x="8267700" y="5133975"/>
                <a:ext cx="247650" cy="171450"/>
              </a:xfrm>
              <a:prstGeom prst="roundRect">
                <a:avLst>
                  <a:gd name="adj" fmla="val 16667"/>
                </a:avLst>
              </a:prstGeom>
              <a:solidFill>
                <a:srgbClr val="F0FAF8"/>
              </a:solidFill>
              <a:ln>
                <a:noFill/>
              </a:ln>
            </p:spPr>
          </p:sp>
          <p:sp>
            <p:nvSpPr>
              <p:cNvPr id="320" name="TextBox 320"/>
              <p:cNvSpPr txBox="1"/>
              <p:nvPr/>
            </p:nvSpPr>
            <p:spPr>
              <a:xfrm>
                <a:off x="8343842" y="5180886"/>
                <a:ext cx="95367" cy="140494"/>
              </a:xfrm>
              <a:prstGeom prst="rect">
                <a:avLst/>
              </a:prstGeom>
              <a:noFill/>
              <a:ln>
                <a:noFill/>
              </a:ln>
            </p:spPr>
            <p:txBody>
              <a:bodyPr wrap="none" lIns="0" tIns="0" rIns="0" bIns="0" anchor="t" anchorCtr="0">
                <a:spAutoFit/>
              </a:bodyPr>
              <a:lstStyle/>
              <a:p>
                <a:pPr algn="ctr"/>
                <a:r>
                  <a:rPr lang="en-US" sz="710" dirty="0">
                    <a:solidFill>
                      <a:srgbClr val="748683"/>
                    </a:solidFill>
                    <a:latin typeface="+mn-lt"/>
                    <a:ea typeface="+mn-ea"/>
                    <a:cs typeface="+mn-cs"/>
                  </a:rPr>
                  <a:t>I​</a:t>
                </a:r>
              </a:p>
            </p:txBody>
          </p:sp>
          <p:sp>
            <p:nvSpPr>
              <p:cNvPr id="321" name="Rectangle 321"/>
              <p:cNvSpPr/>
              <p:nvPr/>
            </p:nvSpPr>
            <p:spPr>
              <a:xfrm>
                <a:off x="9029700" y="5133975"/>
                <a:ext cx="247650" cy="171450"/>
              </a:xfrm>
              <a:prstGeom prst="roundRect">
                <a:avLst>
                  <a:gd name="adj" fmla="val 16667"/>
                </a:avLst>
              </a:prstGeom>
              <a:solidFill>
                <a:srgbClr val="76200F"/>
              </a:solidFill>
              <a:ln>
                <a:noFill/>
              </a:ln>
            </p:spPr>
          </p:sp>
          <p:sp>
            <p:nvSpPr>
              <p:cNvPr id="322" name="TextBox 322"/>
              <p:cNvSpPr txBox="1"/>
              <p:nvPr/>
            </p:nvSpPr>
            <p:spPr>
              <a:xfrm>
                <a:off x="9090441" y="51808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323" name="Rectangle 323"/>
              <p:cNvSpPr/>
              <p:nvPr/>
            </p:nvSpPr>
            <p:spPr>
              <a:xfrm>
                <a:off x="9791700" y="5133975"/>
                <a:ext cx="247650" cy="171450"/>
              </a:xfrm>
              <a:prstGeom prst="roundRect">
                <a:avLst>
                  <a:gd name="adj" fmla="val 16667"/>
                </a:avLst>
              </a:prstGeom>
              <a:solidFill>
                <a:srgbClr val="76200F"/>
              </a:solidFill>
              <a:ln>
                <a:noFill/>
              </a:ln>
            </p:spPr>
          </p:sp>
          <p:sp>
            <p:nvSpPr>
              <p:cNvPr id="324" name="TextBox 324"/>
              <p:cNvSpPr txBox="1"/>
              <p:nvPr/>
            </p:nvSpPr>
            <p:spPr>
              <a:xfrm>
                <a:off x="9852441" y="51808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325" name="Rectangle 325"/>
              <p:cNvSpPr/>
              <p:nvPr/>
            </p:nvSpPr>
            <p:spPr>
              <a:xfrm>
                <a:off x="10553700" y="5133975"/>
                <a:ext cx="247650" cy="171450"/>
              </a:xfrm>
              <a:prstGeom prst="roundRect">
                <a:avLst>
                  <a:gd name="adj" fmla="val 16667"/>
                </a:avLst>
              </a:prstGeom>
              <a:solidFill>
                <a:srgbClr val="D9EEEA"/>
              </a:solidFill>
              <a:ln>
                <a:noFill/>
              </a:ln>
            </p:spPr>
          </p:sp>
          <p:sp>
            <p:nvSpPr>
              <p:cNvPr id="326" name="TextBox 326"/>
              <p:cNvSpPr txBox="1"/>
              <p:nvPr/>
            </p:nvSpPr>
            <p:spPr>
              <a:xfrm>
                <a:off x="10617218" y="51808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27" name="Rectangle 327"/>
              <p:cNvSpPr/>
              <p:nvPr/>
            </p:nvSpPr>
            <p:spPr>
              <a:xfrm>
                <a:off x="11315700" y="5133975"/>
                <a:ext cx="247650" cy="171450"/>
              </a:xfrm>
              <a:prstGeom prst="roundRect">
                <a:avLst>
                  <a:gd name="adj" fmla="val 16667"/>
                </a:avLst>
              </a:prstGeom>
              <a:solidFill>
                <a:srgbClr val="D9EEEA"/>
              </a:solidFill>
              <a:ln>
                <a:noFill/>
              </a:ln>
            </p:spPr>
          </p:sp>
          <p:sp>
            <p:nvSpPr>
              <p:cNvPr id="328" name="TextBox 328"/>
              <p:cNvSpPr txBox="1"/>
              <p:nvPr/>
            </p:nvSpPr>
            <p:spPr>
              <a:xfrm>
                <a:off x="11379218" y="51808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29" name="Rectangle 329"/>
              <p:cNvSpPr/>
              <p:nvPr/>
            </p:nvSpPr>
            <p:spPr>
              <a:xfrm>
                <a:off x="6324600" y="5353050"/>
                <a:ext cx="5505450" cy="266700"/>
              </a:xfrm>
              <a:prstGeom prst="rect">
                <a:avLst/>
              </a:prstGeom>
              <a:solidFill>
                <a:srgbClr val="FFFFFF"/>
              </a:solidFill>
              <a:ln w="9525">
                <a:solidFill>
                  <a:srgbClr val="E2EEEB"/>
                </a:solidFill>
              </a:ln>
            </p:spPr>
          </p:sp>
          <p:sp>
            <p:nvSpPr>
              <p:cNvPr id="330" name="TextBox 330"/>
              <p:cNvSpPr txBox="1"/>
              <p:nvPr/>
            </p:nvSpPr>
            <p:spPr>
              <a:xfrm>
                <a:off x="6847167" y="5451634"/>
                <a:ext cx="650316"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供应链金融推进</a:t>
                </a:r>
              </a:p>
            </p:txBody>
          </p:sp>
          <p:sp>
            <p:nvSpPr>
              <p:cNvPr id="331" name="Rectangle 331"/>
              <p:cNvSpPr/>
              <p:nvPr/>
            </p:nvSpPr>
            <p:spPr>
              <a:xfrm>
                <a:off x="8267700" y="5400675"/>
                <a:ext cx="247650" cy="171450"/>
              </a:xfrm>
              <a:prstGeom prst="roundRect">
                <a:avLst>
                  <a:gd name="adj" fmla="val 16667"/>
                </a:avLst>
              </a:prstGeom>
              <a:solidFill>
                <a:srgbClr val="76200F"/>
              </a:solidFill>
              <a:ln>
                <a:noFill/>
              </a:ln>
            </p:spPr>
          </p:sp>
          <p:sp>
            <p:nvSpPr>
              <p:cNvPr id="332" name="TextBox 332"/>
              <p:cNvSpPr txBox="1"/>
              <p:nvPr/>
            </p:nvSpPr>
            <p:spPr>
              <a:xfrm>
                <a:off x="8328441" y="54475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333" name="Rectangle 333"/>
              <p:cNvSpPr/>
              <p:nvPr/>
            </p:nvSpPr>
            <p:spPr>
              <a:xfrm>
                <a:off x="9029700" y="5400675"/>
                <a:ext cx="247650" cy="171450"/>
              </a:xfrm>
              <a:prstGeom prst="roundRect">
                <a:avLst>
                  <a:gd name="adj" fmla="val 16667"/>
                </a:avLst>
              </a:prstGeom>
              <a:solidFill>
                <a:srgbClr val="D9EEEA"/>
              </a:solidFill>
              <a:ln>
                <a:noFill/>
              </a:ln>
            </p:spPr>
          </p:sp>
          <p:sp>
            <p:nvSpPr>
              <p:cNvPr id="334" name="TextBox 334"/>
              <p:cNvSpPr txBox="1"/>
              <p:nvPr/>
            </p:nvSpPr>
            <p:spPr>
              <a:xfrm>
                <a:off x="9093218" y="54475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35" name="Rectangle 335"/>
              <p:cNvSpPr/>
              <p:nvPr/>
            </p:nvSpPr>
            <p:spPr>
              <a:xfrm>
                <a:off x="9791700" y="5400675"/>
                <a:ext cx="247650" cy="171450"/>
              </a:xfrm>
              <a:prstGeom prst="roundRect">
                <a:avLst>
                  <a:gd name="adj" fmla="val 16667"/>
                </a:avLst>
              </a:prstGeom>
              <a:solidFill>
                <a:srgbClr val="D9EEEA"/>
              </a:solidFill>
              <a:ln>
                <a:noFill/>
              </a:ln>
            </p:spPr>
          </p:sp>
          <p:sp>
            <p:nvSpPr>
              <p:cNvPr id="336" name="TextBox 336"/>
              <p:cNvSpPr txBox="1"/>
              <p:nvPr/>
            </p:nvSpPr>
            <p:spPr>
              <a:xfrm>
                <a:off x="9855218" y="54475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37" name="Rectangle 337"/>
              <p:cNvSpPr/>
              <p:nvPr/>
            </p:nvSpPr>
            <p:spPr>
              <a:xfrm>
                <a:off x="10553700" y="5400675"/>
                <a:ext cx="247650" cy="171450"/>
              </a:xfrm>
              <a:prstGeom prst="roundRect">
                <a:avLst>
                  <a:gd name="adj" fmla="val 16667"/>
                </a:avLst>
              </a:prstGeom>
              <a:solidFill>
                <a:srgbClr val="F0FAF8"/>
              </a:solidFill>
              <a:ln>
                <a:noFill/>
              </a:ln>
            </p:spPr>
          </p:sp>
          <p:sp>
            <p:nvSpPr>
              <p:cNvPr id="338" name="TextBox 338"/>
              <p:cNvSpPr txBox="1"/>
              <p:nvPr/>
            </p:nvSpPr>
            <p:spPr>
              <a:xfrm>
                <a:off x="10629842" y="5447586"/>
                <a:ext cx="95367" cy="140494"/>
              </a:xfrm>
              <a:prstGeom prst="rect">
                <a:avLst/>
              </a:prstGeom>
              <a:noFill/>
              <a:ln>
                <a:noFill/>
              </a:ln>
            </p:spPr>
            <p:txBody>
              <a:bodyPr wrap="none" lIns="0" tIns="0" rIns="0" bIns="0" anchor="t" anchorCtr="0">
                <a:spAutoFit/>
              </a:bodyPr>
              <a:lstStyle/>
              <a:p>
                <a:pPr algn="ctr"/>
                <a:r>
                  <a:rPr lang="en-US" sz="710" dirty="0">
                    <a:solidFill>
                      <a:srgbClr val="748683"/>
                    </a:solidFill>
                    <a:latin typeface="+mn-lt"/>
                    <a:ea typeface="+mn-ea"/>
                    <a:cs typeface="+mn-cs"/>
                  </a:rPr>
                  <a:t>I​</a:t>
                </a:r>
              </a:p>
            </p:txBody>
          </p:sp>
          <p:sp>
            <p:nvSpPr>
              <p:cNvPr id="339" name="Rectangle 339"/>
              <p:cNvSpPr/>
              <p:nvPr/>
            </p:nvSpPr>
            <p:spPr>
              <a:xfrm>
                <a:off x="11315700" y="5400675"/>
                <a:ext cx="247650" cy="171450"/>
              </a:xfrm>
              <a:prstGeom prst="roundRect">
                <a:avLst>
                  <a:gd name="adj" fmla="val 16667"/>
                </a:avLst>
              </a:prstGeom>
              <a:solidFill>
                <a:srgbClr val="D9EEEA"/>
              </a:solidFill>
              <a:ln>
                <a:noFill/>
              </a:ln>
            </p:spPr>
          </p:sp>
          <p:sp>
            <p:nvSpPr>
              <p:cNvPr id="340" name="TextBox 340"/>
              <p:cNvSpPr txBox="1"/>
              <p:nvPr/>
            </p:nvSpPr>
            <p:spPr>
              <a:xfrm>
                <a:off x="11379218" y="54475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41" name="Rectangle 341"/>
              <p:cNvSpPr/>
              <p:nvPr/>
            </p:nvSpPr>
            <p:spPr>
              <a:xfrm>
                <a:off x="6324600" y="5619750"/>
                <a:ext cx="5505450" cy="266700"/>
              </a:xfrm>
              <a:prstGeom prst="rect">
                <a:avLst/>
              </a:prstGeom>
              <a:solidFill>
                <a:srgbClr val="EFF8F6"/>
              </a:solidFill>
              <a:ln w="9525">
                <a:solidFill>
                  <a:srgbClr val="E2EEEB"/>
                </a:solidFill>
              </a:ln>
            </p:spPr>
          </p:sp>
          <p:sp>
            <p:nvSpPr>
              <p:cNvPr id="342" name="TextBox 342"/>
              <p:cNvSpPr txBox="1"/>
              <p:nvPr/>
            </p:nvSpPr>
            <p:spPr>
              <a:xfrm>
                <a:off x="6847167" y="5718334"/>
                <a:ext cx="650316"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效果跟踪与复盘</a:t>
                </a:r>
              </a:p>
            </p:txBody>
          </p:sp>
          <p:sp>
            <p:nvSpPr>
              <p:cNvPr id="343" name="Rectangle 343"/>
              <p:cNvSpPr/>
              <p:nvPr/>
            </p:nvSpPr>
            <p:spPr>
              <a:xfrm>
                <a:off x="8267700" y="5667375"/>
                <a:ext cx="247650" cy="171450"/>
              </a:xfrm>
              <a:prstGeom prst="roundRect">
                <a:avLst>
                  <a:gd name="adj" fmla="val 16667"/>
                </a:avLst>
              </a:prstGeom>
              <a:solidFill>
                <a:srgbClr val="D9EEEA"/>
              </a:solidFill>
              <a:ln>
                <a:noFill/>
              </a:ln>
            </p:spPr>
          </p:sp>
          <p:sp>
            <p:nvSpPr>
              <p:cNvPr id="344" name="TextBox 344"/>
              <p:cNvSpPr txBox="1"/>
              <p:nvPr/>
            </p:nvSpPr>
            <p:spPr>
              <a:xfrm>
                <a:off x="8331218" y="57142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45" name="Rectangle 345"/>
              <p:cNvSpPr/>
              <p:nvPr/>
            </p:nvSpPr>
            <p:spPr>
              <a:xfrm>
                <a:off x="9029700" y="5667375"/>
                <a:ext cx="247650" cy="171450"/>
              </a:xfrm>
              <a:prstGeom prst="roundRect">
                <a:avLst>
                  <a:gd name="adj" fmla="val 16667"/>
                </a:avLst>
              </a:prstGeom>
              <a:solidFill>
                <a:srgbClr val="D9EEEA"/>
              </a:solidFill>
              <a:ln>
                <a:noFill/>
              </a:ln>
            </p:spPr>
          </p:sp>
          <p:sp>
            <p:nvSpPr>
              <p:cNvPr id="346" name="TextBox 346"/>
              <p:cNvSpPr txBox="1"/>
              <p:nvPr/>
            </p:nvSpPr>
            <p:spPr>
              <a:xfrm>
                <a:off x="9093218" y="57142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47" name="Rectangle 347"/>
              <p:cNvSpPr/>
              <p:nvPr/>
            </p:nvSpPr>
            <p:spPr>
              <a:xfrm>
                <a:off x="9791700" y="5667375"/>
                <a:ext cx="247650" cy="171450"/>
              </a:xfrm>
              <a:prstGeom prst="roundRect">
                <a:avLst>
                  <a:gd name="adj" fmla="val 16667"/>
                </a:avLst>
              </a:prstGeom>
              <a:solidFill>
                <a:srgbClr val="76200F"/>
              </a:solidFill>
              <a:ln>
                <a:noFill/>
              </a:ln>
            </p:spPr>
          </p:sp>
          <p:sp>
            <p:nvSpPr>
              <p:cNvPr id="348" name="TextBox 348"/>
              <p:cNvSpPr txBox="1"/>
              <p:nvPr/>
            </p:nvSpPr>
            <p:spPr>
              <a:xfrm>
                <a:off x="9852441" y="57142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sp>
            <p:nvSpPr>
              <p:cNvPr id="349" name="Rectangle 349"/>
              <p:cNvSpPr/>
              <p:nvPr/>
            </p:nvSpPr>
            <p:spPr>
              <a:xfrm>
                <a:off x="10553700" y="5667375"/>
                <a:ext cx="247650" cy="171450"/>
              </a:xfrm>
              <a:prstGeom prst="roundRect">
                <a:avLst>
                  <a:gd name="adj" fmla="val 16667"/>
                </a:avLst>
              </a:prstGeom>
              <a:solidFill>
                <a:srgbClr val="D9EEEA"/>
              </a:solidFill>
              <a:ln>
                <a:noFill/>
              </a:ln>
            </p:spPr>
          </p:sp>
          <p:sp>
            <p:nvSpPr>
              <p:cNvPr id="350" name="TextBox 350"/>
              <p:cNvSpPr txBox="1"/>
              <p:nvPr/>
            </p:nvSpPr>
            <p:spPr>
              <a:xfrm>
                <a:off x="10617218" y="5714286"/>
                <a:ext cx="120614" cy="140494"/>
              </a:xfrm>
              <a:prstGeom prst="rect">
                <a:avLst/>
              </a:prstGeom>
              <a:noFill/>
              <a:ln>
                <a:noFill/>
              </a:ln>
            </p:spPr>
            <p:txBody>
              <a:bodyPr wrap="none" lIns="0" tIns="0" rIns="0" bIns="0" anchor="t" anchorCtr="0">
                <a:spAutoFit/>
              </a:bodyPr>
              <a:lstStyle/>
              <a:p>
                <a:pPr algn="ctr"/>
                <a:r>
                  <a:rPr lang="en-US" sz="710" dirty="0">
                    <a:solidFill>
                      <a:srgbClr val="5D190B"/>
                    </a:solidFill>
                    <a:latin typeface="+mn-lt"/>
                    <a:ea typeface="+mn-ea"/>
                    <a:cs typeface="+mn-cs"/>
                  </a:rPr>
                  <a:t>C​</a:t>
                </a:r>
              </a:p>
            </p:txBody>
          </p:sp>
          <p:sp>
            <p:nvSpPr>
              <p:cNvPr id="351" name="Rectangle 351"/>
              <p:cNvSpPr/>
              <p:nvPr/>
            </p:nvSpPr>
            <p:spPr>
              <a:xfrm>
                <a:off x="11315700" y="5667375"/>
                <a:ext cx="247650" cy="171450"/>
              </a:xfrm>
              <a:prstGeom prst="roundRect">
                <a:avLst>
                  <a:gd name="adj" fmla="val 16667"/>
                </a:avLst>
              </a:prstGeom>
              <a:solidFill>
                <a:srgbClr val="76200F"/>
              </a:solidFill>
              <a:ln>
                <a:noFill/>
              </a:ln>
            </p:spPr>
          </p:sp>
          <p:sp>
            <p:nvSpPr>
              <p:cNvPr id="352" name="TextBox 352"/>
              <p:cNvSpPr txBox="1"/>
              <p:nvPr/>
            </p:nvSpPr>
            <p:spPr>
              <a:xfrm>
                <a:off x="11376441" y="5714286"/>
                <a:ext cx="12616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R​</a:t>
                </a:r>
              </a:p>
            </p:txBody>
          </p:sp>
        </p:grpSp>
        <p:sp>
          <p:nvSpPr>
            <p:cNvPr id="354" name="TextBox 354"/>
            <p:cNvSpPr txBox="1"/>
            <p:nvPr/>
          </p:nvSpPr>
          <p:spPr>
            <a:xfrm>
              <a:off x="6319838" y="6027182"/>
              <a:ext cx="3902095"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R：负责（Responsible） A：审批（Accountable） C：咨询（Consulted） I：知会（Informed）​​​</a:t>
              </a:r>
            </a:p>
          </p:txBody>
        </p:sp>
      </p:gr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13​</a:t>
              </a:r>
            </a:p>
          </p:txBody>
        </p:sp>
        <p:sp>
          <p:nvSpPr>
            <p:cNvPr id="4" name="TextBox 4"/>
            <p:cNvSpPr txBox="1"/>
            <p:nvPr/>
          </p:nvSpPr>
          <p:spPr>
            <a:xfrm>
              <a:off x="904494" y="170498"/>
              <a:ext cx="5532501"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异业合作</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银行从活动主办方升级为资源连接器</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13​</a:t>
              </a:r>
            </a:p>
          </p:txBody>
        </p:sp>
      </p:grpSp>
      <p:grpSp>
        <p:nvGrpSpPr>
          <p:cNvPr id="118" name="ecosystem-map"/>
          <p:cNvGrpSpPr/>
          <p:nvPr/>
        </p:nvGrpSpPr>
        <p:grpSpPr>
          <a:xfrm>
            <a:off x="342900" y="685800"/>
            <a:ext cx="5905500" cy="3638550"/>
            <a:chOff x="342900" y="685800"/>
            <a:chExt cx="5905500" cy="3638550"/>
          </a:xfrm>
        </p:grpSpPr>
        <p:sp>
          <p:nvSpPr>
            <p:cNvPr id="8" name="Rectangle 8"/>
            <p:cNvSpPr/>
            <p:nvPr/>
          </p:nvSpPr>
          <p:spPr>
            <a:xfrm>
              <a:off x="342900" y="685800"/>
              <a:ext cx="1714500" cy="228600"/>
            </a:xfrm>
            <a:prstGeom prst="roundRect">
              <a:avLst>
                <a:gd name="adj" fmla="val 20833"/>
              </a:avLst>
            </a:prstGeom>
            <a:solidFill>
              <a:srgbClr val="76200F"/>
            </a:solidFill>
            <a:ln>
              <a:noFill/>
            </a:ln>
          </p:spPr>
        </p:sp>
        <p:sp>
          <p:nvSpPr>
            <p:cNvPr id="9" name="TextBox 9"/>
            <p:cNvSpPr txBox="1"/>
            <p:nvPr/>
          </p:nvSpPr>
          <p:spPr>
            <a:xfrm>
              <a:off x="452438" y="746522"/>
              <a:ext cx="1274953"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生态资源价值交换图谱</a:t>
              </a:r>
            </a:p>
          </p:txBody>
        </p:sp>
        <p:sp>
          <p:nvSpPr>
            <p:cNvPr id="10" name="TextBox 10"/>
            <p:cNvSpPr txBox="1"/>
            <p:nvPr/>
          </p:nvSpPr>
          <p:spPr>
            <a:xfrm>
              <a:off x="4471988" y="770811"/>
              <a:ext cx="1497709" cy="140494"/>
            </a:xfrm>
            <a:prstGeom prst="rect">
              <a:avLst/>
            </a:prstGeom>
            <a:noFill/>
            <a:ln>
              <a:noFill/>
            </a:ln>
          </p:spPr>
          <p:txBody>
            <a:bodyPr wrap="none" lIns="0" tIns="0" rIns="0" bIns="0" anchor="t" anchorCtr="0">
              <a:spAutoFit/>
            </a:bodyPr>
            <a:lstStyle/>
            <a:p>
              <a:pPr algn="l"/>
              <a:r>
                <a:rPr lang="zh-CN" sz="710" b="1" dirty="0">
                  <a:solidFill>
                    <a:srgbClr val="5D190B"/>
                  </a:solidFill>
                  <a:latin typeface="+mn-lt"/>
                  <a:ea typeface="+mn-ea"/>
                  <a:cs typeface="+mn-cs"/>
                </a:rPr>
                <a:t>资源互补 · 客群共赢 · 价值共创​​</a:t>
              </a:r>
            </a:p>
          </p:txBody>
        </p:sp>
        <p:sp>
          <p:nvSpPr>
            <p:cNvPr id="11" name="Ellipse 11"/>
            <p:cNvSpPr/>
            <p:nvPr/>
          </p:nvSpPr>
          <p:spPr>
            <a:xfrm>
              <a:off x="2771775" y="1933575"/>
              <a:ext cx="1047750" cy="1047750"/>
            </a:xfrm>
            <a:prstGeom prst="ellipse">
              <a:avLst/>
            </a:prstGeom>
            <a:solidFill>
              <a:srgbClr val="5D190B"/>
            </a:solidFill>
            <a:ln>
              <a:noFill/>
            </a:ln>
          </p:spPr>
        </p:sp>
        <p:grpSp>
          <p:nvGrpSpPr>
            <p:cNvPr id="20" name="Group 20"/>
            <p:cNvGrpSpPr/>
            <p:nvPr/>
          </p:nvGrpSpPr>
          <p:grpSpPr>
            <a:xfrm>
              <a:off x="3209925" y="2181225"/>
              <a:ext cx="171450" cy="180975"/>
              <a:chOff x="3209925" y="2181225"/>
              <a:chExt cx="171450" cy="180975"/>
            </a:xfrm>
          </p:grpSpPr>
          <p:sp>
            <p:nvSpPr>
              <p:cNvPr id="12" name="Freeform 12"/>
              <p:cNvSpPr/>
              <p:nvPr/>
            </p:nvSpPr>
            <p:spPr>
              <a:xfrm>
                <a:off x="3209925" y="235267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3" name="Freeform 13"/>
              <p:cNvSpPr/>
              <p:nvPr/>
            </p:nvSpPr>
            <p:spPr>
              <a:xfrm>
                <a:off x="3209925" y="2247900"/>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4" name="Freeform 14"/>
              <p:cNvSpPr/>
              <p:nvPr/>
            </p:nvSpPr>
            <p:spPr>
              <a:xfrm>
                <a:off x="3228975" y="2181225"/>
                <a:ext cx="133350" cy="28575"/>
              </a:xfrm>
              <a:custGeom>
                <a:avLst/>
                <a:gdLst/>
                <a:ahLst/>
                <a:cxnLst/>
                <a:rect l="l" t="t" r="r" b="b"/>
                <a:pathLst>
                  <a:path w="133350" h="28575">
                    <a:moveTo>
                      <a:pt x="0" y="28575"/>
                    </a:moveTo>
                    <a:lnTo>
                      <a:pt x="66675" y="0"/>
                    </a:lnTo>
                    <a:lnTo>
                      <a:pt x="133350" y="28575"/>
                    </a:lnTo>
                  </a:path>
                </a:pathLst>
              </a:custGeom>
              <a:noFill/>
              <a:ln w="19050">
                <a:solidFill>
                  <a:srgbClr val="FFFFFF"/>
                </a:solidFill>
              </a:ln>
            </p:spPr>
          </p:sp>
          <p:sp>
            <p:nvSpPr>
              <p:cNvPr id="15" name="Freeform 15"/>
              <p:cNvSpPr/>
              <p:nvPr/>
            </p:nvSpPr>
            <p:spPr>
              <a:xfrm>
                <a:off x="3219450" y="22479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6" name="Freeform 16"/>
              <p:cNvSpPr/>
              <p:nvPr/>
            </p:nvSpPr>
            <p:spPr>
              <a:xfrm>
                <a:off x="3371850" y="22479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7" name="Freeform 17"/>
              <p:cNvSpPr/>
              <p:nvPr/>
            </p:nvSpPr>
            <p:spPr>
              <a:xfrm>
                <a:off x="3257550" y="22860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8" name="Freeform 18"/>
              <p:cNvSpPr/>
              <p:nvPr/>
            </p:nvSpPr>
            <p:spPr>
              <a:xfrm>
                <a:off x="3295650" y="22860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9" name="Freeform 19"/>
              <p:cNvSpPr/>
              <p:nvPr/>
            </p:nvSpPr>
            <p:spPr>
              <a:xfrm>
                <a:off x="3333750" y="2286000"/>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21" name="TextBox 21"/>
            <p:cNvSpPr txBox="1"/>
            <p:nvPr/>
          </p:nvSpPr>
          <p:spPr>
            <a:xfrm>
              <a:off x="3169729" y="24555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银行</a:t>
              </a:r>
            </a:p>
          </p:txBody>
        </p:sp>
        <p:sp>
          <p:nvSpPr>
            <p:cNvPr id="22" name="TextBox 22"/>
            <p:cNvSpPr txBox="1"/>
            <p:nvPr/>
          </p:nvSpPr>
          <p:spPr>
            <a:xfrm>
              <a:off x="2957299" y="2634853"/>
              <a:ext cx="676702" cy="111919"/>
            </a:xfrm>
            <a:prstGeom prst="rect">
              <a:avLst/>
            </a:prstGeom>
            <a:noFill/>
            <a:ln>
              <a:noFill/>
            </a:ln>
          </p:spPr>
          <p:txBody>
            <a:bodyPr wrap="none" lIns="0" tIns="0" rIns="0" bIns="0" anchor="t" anchorCtr="0">
              <a:spAutoFit/>
            </a:bodyPr>
            <a:lstStyle/>
            <a:p>
              <a:pPr algn="ctr"/>
              <a:r>
                <a:rPr lang="zh-CN" sz="560" dirty="0">
                  <a:solidFill>
                    <a:srgbClr val="BFE4DD"/>
                  </a:solidFill>
                  <a:latin typeface="+mn-lt"/>
                  <a:ea typeface="+mn-ea"/>
                  <a:cs typeface="+mn-cs"/>
                </a:rPr>
                <a:t>连接资源 赋能生态​</a:t>
              </a:r>
            </a:p>
          </p:txBody>
        </p:sp>
        <p:grpSp>
          <p:nvGrpSpPr>
            <p:cNvPr id="40" name="map-cluster-gov"/>
            <p:cNvGrpSpPr/>
            <p:nvPr/>
          </p:nvGrpSpPr>
          <p:grpSpPr>
            <a:xfrm>
              <a:off x="566738" y="1006078"/>
              <a:ext cx="2377801" cy="1203722"/>
              <a:chOff x="566738" y="1006078"/>
              <a:chExt cx="2377801" cy="1203722"/>
            </a:xfrm>
          </p:grpSpPr>
          <p:sp>
            <p:nvSpPr>
              <p:cNvPr id="23" name="Ellipse 23"/>
              <p:cNvSpPr/>
              <p:nvPr/>
            </p:nvSpPr>
            <p:spPr>
              <a:xfrm>
                <a:off x="1209675" y="1162050"/>
                <a:ext cx="342900" cy="342900"/>
              </a:xfrm>
              <a:prstGeom prst="ellipse">
                <a:avLst/>
              </a:prstGeom>
              <a:solidFill>
                <a:srgbClr val="E4F3F0"/>
              </a:solidFill>
              <a:ln w="14288">
                <a:solidFill>
                  <a:srgbClr val="A3422F"/>
                </a:solidFill>
              </a:ln>
            </p:spPr>
          </p:sp>
          <p:grpSp>
            <p:nvGrpSpPr>
              <p:cNvPr id="32" name="Group 32"/>
              <p:cNvGrpSpPr/>
              <p:nvPr/>
            </p:nvGrpSpPr>
            <p:grpSpPr>
              <a:xfrm>
                <a:off x="1316831" y="1269206"/>
                <a:ext cx="130969" cy="138113"/>
                <a:chOff x="1316831" y="1269206"/>
                <a:chExt cx="130969" cy="138113"/>
              </a:xfrm>
            </p:grpSpPr>
            <p:sp>
              <p:nvSpPr>
                <p:cNvPr id="24" name="Freeform 24"/>
                <p:cNvSpPr/>
                <p:nvPr/>
              </p:nvSpPr>
              <p:spPr>
                <a:xfrm>
                  <a:off x="1316831" y="1397794"/>
                  <a:ext cx="128588" cy="9525"/>
                </a:xfrm>
                <a:custGeom>
                  <a:avLst/>
                  <a:gdLst/>
                  <a:ahLst/>
                  <a:cxnLst/>
                  <a:rect l="l" t="t" r="r" b="b"/>
                  <a:pathLst>
                    <a:path w="128588" h="9525">
                      <a:moveTo>
                        <a:pt x="0" y="0"/>
                      </a:moveTo>
                      <a:lnTo>
                        <a:pt x="128588" y="0"/>
                      </a:lnTo>
                    </a:path>
                  </a:pathLst>
                </a:custGeom>
                <a:noFill/>
                <a:ln w="14288">
                  <a:solidFill>
                    <a:srgbClr val="76200F"/>
                  </a:solidFill>
                </a:ln>
              </p:spPr>
            </p:sp>
            <p:sp>
              <p:nvSpPr>
                <p:cNvPr id="25" name="Freeform 25"/>
                <p:cNvSpPr/>
                <p:nvPr/>
              </p:nvSpPr>
              <p:spPr>
                <a:xfrm>
                  <a:off x="1316831" y="1319212"/>
                  <a:ext cx="128588" cy="9525"/>
                </a:xfrm>
                <a:custGeom>
                  <a:avLst/>
                  <a:gdLst/>
                  <a:ahLst/>
                  <a:cxnLst/>
                  <a:rect l="l" t="t" r="r" b="b"/>
                  <a:pathLst>
                    <a:path w="128588" h="9525">
                      <a:moveTo>
                        <a:pt x="0" y="0"/>
                      </a:moveTo>
                      <a:lnTo>
                        <a:pt x="128588" y="0"/>
                      </a:lnTo>
                    </a:path>
                  </a:pathLst>
                </a:custGeom>
                <a:noFill/>
                <a:ln w="14288">
                  <a:solidFill>
                    <a:srgbClr val="76200F"/>
                  </a:solidFill>
                </a:ln>
              </p:spPr>
            </p:sp>
            <p:sp>
              <p:nvSpPr>
                <p:cNvPr id="26" name="Freeform 26"/>
                <p:cNvSpPr/>
                <p:nvPr/>
              </p:nvSpPr>
              <p:spPr>
                <a:xfrm>
                  <a:off x="1331119" y="1269206"/>
                  <a:ext cx="100012" cy="21431"/>
                </a:xfrm>
                <a:custGeom>
                  <a:avLst/>
                  <a:gdLst/>
                  <a:ahLst/>
                  <a:cxnLst/>
                  <a:rect l="l" t="t" r="r" b="b"/>
                  <a:pathLst>
                    <a:path w="100012" h="21431">
                      <a:moveTo>
                        <a:pt x="0" y="21431"/>
                      </a:moveTo>
                      <a:lnTo>
                        <a:pt x="50006" y="0"/>
                      </a:lnTo>
                      <a:lnTo>
                        <a:pt x="100012" y="21431"/>
                      </a:lnTo>
                    </a:path>
                  </a:pathLst>
                </a:custGeom>
                <a:noFill/>
                <a:ln w="14288">
                  <a:solidFill>
                    <a:srgbClr val="76200F"/>
                  </a:solidFill>
                </a:ln>
              </p:spPr>
            </p:sp>
            <p:sp>
              <p:nvSpPr>
                <p:cNvPr id="27" name="Freeform 27"/>
                <p:cNvSpPr/>
                <p:nvPr/>
              </p:nvSpPr>
              <p:spPr>
                <a:xfrm>
                  <a:off x="1323975" y="1319212"/>
                  <a:ext cx="9525" cy="78581"/>
                </a:xfrm>
                <a:custGeom>
                  <a:avLst/>
                  <a:gdLst/>
                  <a:ahLst/>
                  <a:cxnLst/>
                  <a:rect l="l" t="t" r="r" b="b"/>
                  <a:pathLst>
                    <a:path w="9525" h="78581">
                      <a:moveTo>
                        <a:pt x="0" y="0"/>
                      </a:moveTo>
                      <a:lnTo>
                        <a:pt x="0" y="78581"/>
                      </a:lnTo>
                    </a:path>
                  </a:pathLst>
                </a:custGeom>
                <a:noFill/>
                <a:ln w="14288">
                  <a:solidFill>
                    <a:srgbClr val="76200F"/>
                  </a:solidFill>
                </a:ln>
              </p:spPr>
            </p:sp>
            <p:sp>
              <p:nvSpPr>
                <p:cNvPr id="28" name="Freeform 28"/>
                <p:cNvSpPr/>
                <p:nvPr/>
              </p:nvSpPr>
              <p:spPr>
                <a:xfrm>
                  <a:off x="1438275" y="1319212"/>
                  <a:ext cx="9525" cy="78581"/>
                </a:xfrm>
                <a:custGeom>
                  <a:avLst/>
                  <a:gdLst/>
                  <a:ahLst/>
                  <a:cxnLst/>
                  <a:rect l="l" t="t" r="r" b="b"/>
                  <a:pathLst>
                    <a:path w="9525" h="78581">
                      <a:moveTo>
                        <a:pt x="0" y="0"/>
                      </a:moveTo>
                      <a:lnTo>
                        <a:pt x="0" y="78581"/>
                      </a:lnTo>
                    </a:path>
                  </a:pathLst>
                </a:custGeom>
                <a:noFill/>
                <a:ln w="14288">
                  <a:solidFill>
                    <a:srgbClr val="76200F"/>
                  </a:solidFill>
                </a:ln>
              </p:spPr>
            </p:sp>
            <p:sp>
              <p:nvSpPr>
                <p:cNvPr id="29" name="Freeform 29"/>
                <p:cNvSpPr/>
                <p:nvPr/>
              </p:nvSpPr>
              <p:spPr>
                <a:xfrm>
                  <a:off x="1352550" y="1347788"/>
                  <a:ext cx="9525" cy="21431"/>
                </a:xfrm>
                <a:custGeom>
                  <a:avLst/>
                  <a:gdLst/>
                  <a:ahLst/>
                  <a:cxnLst/>
                  <a:rect l="l" t="t" r="r" b="b"/>
                  <a:pathLst>
                    <a:path w="9525" h="21431">
                      <a:moveTo>
                        <a:pt x="0" y="0"/>
                      </a:moveTo>
                      <a:lnTo>
                        <a:pt x="0" y="21431"/>
                      </a:lnTo>
                    </a:path>
                  </a:pathLst>
                </a:custGeom>
                <a:noFill/>
                <a:ln w="14288">
                  <a:solidFill>
                    <a:srgbClr val="76200F"/>
                  </a:solidFill>
                </a:ln>
              </p:spPr>
            </p:sp>
            <p:sp>
              <p:nvSpPr>
                <p:cNvPr id="30" name="Freeform 30"/>
                <p:cNvSpPr/>
                <p:nvPr/>
              </p:nvSpPr>
              <p:spPr>
                <a:xfrm>
                  <a:off x="1381125" y="1347788"/>
                  <a:ext cx="9525" cy="21431"/>
                </a:xfrm>
                <a:custGeom>
                  <a:avLst/>
                  <a:gdLst/>
                  <a:ahLst/>
                  <a:cxnLst/>
                  <a:rect l="l" t="t" r="r" b="b"/>
                  <a:pathLst>
                    <a:path w="9525" h="21431">
                      <a:moveTo>
                        <a:pt x="0" y="0"/>
                      </a:moveTo>
                      <a:lnTo>
                        <a:pt x="0" y="21431"/>
                      </a:lnTo>
                    </a:path>
                  </a:pathLst>
                </a:custGeom>
                <a:noFill/>
                <a:ln w="14288">
                  <a:solidFill>
                    <a:srgbClr val="76200F"/>
                  </a:solidFill>
                </a:ln>
              </p:spPr>
            </p:sp>
            <p:sp>
              <p:nvSpPr>
                <p:cNvPr id="31" name="Freeform 31"/>
                <p:cNvSpPr/>
                <p:nvPr/>
              </p:nvSpPr>
              <p:spPr>
                <a:xfrm>
                  <a:off x="1409700" y="1347788"/>
                  <a:ext cx="9525" cy="21431"/>
                </a:xfrm>
                <a:custGeom>
                  <a:avLst/>
                  <a:gdLst/>
                  <a:ahLst/>
                  <a:cxnLst/>
                  <a:rect l="l" t="t" r="r" b="b"/>
                  <a:pathLst>
                    <a:path w="9525" h="21431">
                      <a:moveTo>
                        <a:pt x="0" y="0"/>
                      </a:moveTo>
                      <a:lnTo>
                        <a:pt x="0" y="21431"/>
                      </a:lnTo>
                    </a:path>
                  </a:pathLst>
                </a:custGeom>
                <a:noFill/>
                <a:ln w="14288">
                  <a:solidFill>
                    <a:srgbClr val="76200F"/>
                  </a:solidFill>
                </a:ln>
              </p:spPr>
            </p:sp>
          </p:grpSp>
          <p:sp>
            <p:nvSpPr>
              <p:cNvPr id="33" name="TextBox 33"/>
              <p:cNvSpPr txBox="1"/>
              <p:nvPr/>
            </p:nvSpPr>
            <p:spPr>
              <a:xfrm>
                <a:off x="1099897" y="1542336"/>
                <a:ext cx="56245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政府 / 协会​</a:t>
                </a:r>
              </a:p>
            </p:txBody>
          </p:sp>
          <p:sp>
            <p:nvSpPr>
              <p:cNvPr id="34" name="TextBox 34"/>
              <p:cNvSpPr txBox="1"/>
              <p:nvPr/>
            </p:nvSpPr>
            <p:spPr>
              <a:xfrm>
                <a:off x="566738" y="10060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我可提供</a:t>
                </a:r>
              </a:p>
            </p:txBody>
          </p:sp>
          <p:sp>
            <p:nvSpPr>
              <p:cNvPr id="35" name="TextBox 35"/>
              <p:cNvSpPr txBox="1"/>
              <p:nvPr/>
            </p:nvSpPr>
            <p:spPr>
              <a:xfrm>
                <a:off x="566738" y="1105376"/>
                <a:ext cx="1087562"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金融服务 · 活动资源 · 数据支持​​</a:t>
                </a:r>
              </a:p>
            </p:txBody>
          </p:sp>
          <p:sp>
            <p:nvSpPr>
              <p:cNvPr id="36" name="TextBox 36"/>
              <p:cNvSpPr txBox="1"/>
              <p:nvPr/>
            </p:nvSpPr>
            <p:spPr>
              <a:xfrm>
                <a:off x="2185988" y="1006078"/>
                <a:ext cx="386461"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对方可获得</a:t>
                </a:r>
              </a:p>
            </p:txBody>
          </p:sp>
          <p:sp>
            <p:nvSpPr>
              <p:cNvPr id="37" name="TextBox 37"/>
              <p:cNvSpPr txBox="1"/>
              <p:nvPr/>
            </p:nvSpPr>
            <p:spPr>
              <a:xfrm>
                <a:off x="2185988" y="1105376"/>
                <a:ext cx="688548"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政务导流 · 政策指导​</a:t>
                </a:r>
              </a:p>
            </p:txBody>
          </p:sp>
          <p:sp>
            <p:nvSpPr>
              <p:cNvPr id="38" name="TextBox 38"/>
              <p:cNvSpPr txBox="1"/>
              <p:nvPr/>
            </p:nvSpPr>
            <p:spPr>
              <a:xfrm>
                <a:off x="2185988" y="1191101"/>
                <a:ext cx="758551"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公信力背书 · 联合宣传​</a:t>
                </a:r>
              </a:p>
            </p:txBody>
          </p:sp>
          <p:sp>
            <p:nvSpPr>
              <p:cNvPr id="39" name="Line 39"/>
              <p:cNvSpPr/>
              <p:nvPr/>
            </p:nvSpPr>
            <p:spPr>
              <a:xfrm>
                <a:off x="1762125" y="1447800"/>
                <a:ext cx="1057275" cy="762000"/>
              </a:xfrm>
              <a:prstGeom prst="line">
                <a:avLst/>
              </a:prstGeom>
              <a:noFill/>
              <a:ln w="14288">
                <a:solidFill>
                  <a:srgbClr val="A3422F"/>
                </a:solidFill>
                <a:headEnd type="triangle" w="lg" len="lg"/>
                <a:tailEnd type="triangle" w="lg" len="lg"/>
              </a:ln>
            </p:spPr>
          </p:sp>
        </p:grpSp>
        <p:grpSp>
          <p:nvGrpSpPr>
            <p:cNvPr id="53" name="map-cluster-park"/>
            <p:cNvGrpSpPr/>
            <p:nvPr/>
          </p:nvGrpSpPr>
          <p:grpSpPr>
            <a:xfrm>
              <a:off x="3790950" y="1006078"/>
              <a:ext cx="1700453" cy="1203722"/>
              <a:chOff x="3790950" y="1006078"/>
              <a:chExt cx="1700453" cy="1203722"/>
            </a:xfrm>
          </p:grpSpPr>
          <p:sp>
            <p:nvSpPr>
              <p:cNvPr id="41" name="Ellipse 41"/>
              <p:cNvSpPr/>
              <p:nvPr/>
            </p:nvSpPr>
            <p:spPr>
              <a:xfrm>
                <a:off x="5038725" y="1162050"/>
                <a:ext cx="342900" cy="342900"/>
              </a:xfrm>
              <a:prstGeom prst="ellipse">
                <a:avLst/>
              </a:prstGeom>
              <a:solidFill>
                <a:srgbClr val="E4F3F0"/>
              </a:solidFill>
              <a:ln w="14288">
                <a:solidFill>
                  <a:srgbClr val="A3422F"/>
                </a:solidFill>
              </a:ln>
            </p:spPr>
          </p:sp>
          <p:grpSp>
            <p:nvGrpSpPr>
              <p:cNvPr id="45" name="Group 45"/>
              <p:cNvGrpSpPr/>
              <p:nvPr/>
            </p:nvGrpSpPr>
            <p:grpSpPr>
              <a:xfrm>
                <a:off x="5145881" y="1269206"/>
                <a:ext cx="128588" cy="128588"/>
                <a:chOff x="5145881" y="1269206"/>
                <a:chExt cx="128588" cy="128588"/>
              </a:xfrm>
            </p:grpSpPr>
            <p:sp>
              <p:nvSpPr>
                <p:cNvPr id="42" name="Freeform 42"/>
                <p:cNvSpPr/>
                <p:nvPr/>
              </p:nvSpPr>
              <p:spPr>
                <a:xfrm>
                  <a:off x="5145881" y="1269206"/>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76200F"/>
                  </a:solidFill>
                </a:ln>
              </p:spPr>
            </p:sp>
            <p:sp>
              <p:nvSpPr>
                <p:cNvPr id="43" name="Freeform 43"/>
                <p:cNvSpPr/>
                <p:nvPr/>
              </p:nvSpPr>
              <p:spPr>
                <a:xfrm>
                  <a:off x="5160169" y="1333500"/>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76200F"/>
                  </a:solidFill>
                </a:ln>
              </p:spPr>
            </p:sp>
            <p:sp>
              <p:nvSpPr>
                <p:cNvPr id="44" name="Freeform 44"/>
                <p:cNvSpPr/>
                <p:nvPr/>
              </p:nvSpPr>
              <p:spPr>
                <a:xfrm>
                  <a:off x="5188744" y="1340644"/>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76200F"/>
                  </a:solidFill>
                </a:ln>
              </p:spPr>
            </p:sp>
          </p:grpSp>
          <p:sp>
            <p:nvSpPr>
              <p:cNvPr id="46" name="TextBox 46"/>
              <p:cNvSpPr txBox="1"/>
              <p:nvPr/>
            </p:nvSpPr>
            <p:spPr>
              <a:xfrm>
                <a:off x="4928947" y="1542336"/>
                <a:ext cx="56245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商圈 / 园区​</a:t>
                </a:r>
              </a:p>
            </p:txBody>
          </p:sp>
          <p:sp>
            <p:nvSpPr>
              <p:cNvPr id="47" name="TextBox 47"/>
              <p:cNvSpPr txBox="1"/>
              <p:nvPr/>
            </p:nvSpPr>
            <p:spPr>
              <a:xfrm>
                <a:off x="4395788" y="10060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我可提供</a:t>
                </a:r>
              </a:p>
            </p:txBody>
          </p:sp>
          <p:sp>
            <p:nvSpPr>
              <p:cNvPr id="48" name="TextBox 48"/>
              <p:cNvSpPr txBox="1"/>
              <p:nvPr/>
            </p:nvSpPr>
            <p:spPr>
              <a:xfrm>
                <a:off x="4395788" y="1105376"/>
                <a:ext cx="688548"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客群导流 · 金融服务​</a:t>
                </a:r>
              </a:p>
            </p:txBody>
          </p:sp>
          <p:sp>
            <p:nvSpPr>
              <p:cNvPr id="49" name="TextBox 49"/>
              <p:cNvSpPr txBox="1"/>
              <p:nvPr/>
            </p:nvSpPr>
            <p:spPr>
              <a:xfrm>
                <a:off x="4471988" y="1634728"/>
                <a:ext cx="386461"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对方可获得</a:t>
                </a:r>
              </a:p>
            </p:txBody>
          </p:sp>
          <p:sp>
            <p:nvSpPr>
              <p:cNvPr id="50" name="TextBox 50"/>
              <p:cNvSpPr txBox="1"/>
              <p:nvPr/>
            </p:nvSpPr>
            <p:spPr>
              <a:xfrm>
                <a:off x="4471988" y="1734026"/>
                <a:ext cx="688548"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场地资源 · 商户资源​</a:t>
                </a:r>
              </a:p>
            </p:txBody>
          </p:sp>
          <p:sp>
            <p:nvSpPr>
              <p:cNvPr id="51" name="TextBox 51"/>
              <p:cNvSpPr txBox="1"/>
              <p:nvPr/>
            </p:nvSpPr>
            <p:spPr>
              <a:xfrm>
                <a:off x="4471988" y="1819751"/>
                <a:ext cx="688548"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流量客群 · 运营配合​</a:t>
                </a:r>
              </a:p>
            </p:txBody>
          </p:sp>
          <p:sp>
            <p:nvSpPr>
              <p:cNvPr id="52" name="Line 52"/>
              <p:cNvSpPr/>
              <p:nvPr/>
            </p:nvSpPr>
            <p:spPr>
              <a:xfrm flipV="1">
                <a:off x="3790950" y="1447800"/>
                <a:ext cx="1057275" cy="762000"/>
              </a:xfrm>
              <a:prstGeom prst="line">
                <a:avLst/>
              </a:prstGeom>
              <a:noFill/>
              <a:ln w="14288">
                <a:solidFill>
                  <a:srgbClr val="A3422F"/>
                </a:solidFill>
                <a:headEnd type="triangle" w="lg" len="lg"/>
                <a:tailEnd type="triangle" w="lg" len="lg"/>
              </a:ln>
            </p:spPr>
          </p:sp>
        </p:grpSp>
        <p:grpSp>
          <p:nvGrpSpPr>
            <p:cNvPr id="68" name="map-cluster-community"/>
            <p:cNvGrpSpPr/>
            <p:nvPr/>
          </p:nvGrpSpPr>
          <p:grpSpPr>
            <a:xfrm>
              <a:off x="414338" y="2530078"/>
              <a:ext cx="2424112" cy="842248"/>
              <a:chOff x="414338" y="2530078"/>
              <a:chExt cx="2424112" cy="842248"/>
            </a:xfrm>
          </p:grpSpPr>
          <p:sp>
            <p:nvSpPr>
              <p:cNvPr id="54" name="Ellipse 54"/>
              <p:cNvSpPr/>
              <p:nvPr/>
            </p:nvSpPr>
            <p:spPr>
              <a:xfrm>
                <a:off x="971550" y="2686050"/>
                <a:ext cx="342900" cy="342900"/>
              </a:xfrm>
              <a:prstGeom prst="ellipse">
                <a:avLst/>
              </a:prstGeom>
              <a:solidFill>
                <a:srgbClr val="E4F3F0"/>
              </a:solidFill>
              <a:ln w="14288">
                <a:solidFill>
                  <a:srgbClr val="A3422F"/>
                </a:solidFill>
              </a:ln>
            </p:spPr>
          </p:sp>
          <p:grpSp>
            <p:nvGrpSpPr>
              <p:cNvPr id="59" name="Group 59"/>
              <p:cNvGrpSpPr/>
              <p:nvPr/>
            </p:nvGrpSpPr>
            <p:grpSpPr>
              <a:xfrm>
                <a:off x="1078706" y="2793206"/>
                <a:ext cx="128588" cy="128588"/>
                <a:chOff x="1078706" y="2793206"/>
                <a:chExt cx="128588" cy="128588"/>
              </a:xfrm>
            </p:grpSpPr>
            <p:sp>
              <p:nvSpPr>
                <p:cNvPr id="55" name="Freeform 55"/>
                <p:cNvSpPr/>
                <p:nvPr/>
              </p:nvSpPr>
              <p:spPr>
                <a:xfrm>
                  <a:off x="1092994" y="27932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6200F"/>
                  </a:solidFill>
                </a:ln>
              </p:spPr>
            </p:sp>
            <p:sp>
              <p:nvSpPr>
                <p:cNvPr id="56" name="Freeform 56"/>
                <p:cNvSpPr/>
                <p:nvPr/>
              </p:nvSpPr>
              <p:spPr>
                <a:xfrm>
                  <a:off x="1078706" y="28789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76200F"/>
                  </a:solidFill>
                </a:ln>
              </p:spPr>
            </p:sp>
            <p:sp>
              <p:nvSpPr>
                <p:cNvPr id="57" name="Freeform 57"/>
                <p:cNvSpPr/>
                <p:nvPr/>
              </p:nvSpPr>
              <p:spPr>
                <a:xfrm>
                  <a:off x="1171575" y="27941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76200F"/>
                  </a:solidFill>
                </a:ln>
              </p:spPr>
            </p:sp>
            <p:sp>
              <p:nvSpPr>
                <p:cNvPr id="58" name="Freeform 58"/>
                <p:cNvSpPr/>
                <p:nvPr/>
              </p:nvSpPr>
              <p:spPr>
                <a:xfrm>
                  <a:off x="1185863" y="28800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76200F"/>
                  </a:solidFill>
                </a:ln>
              </p:spPr>
            </p:sp>
          </p:grpSp>
          <p:sp>
            <p:nvSpPr>
              <p:cNvPr id="60" name="TextBox 60"/>
              <p:cNvSpPr txBox="1"/>
              <p:nvPr/>
            </p:nvSpPr>
            <p:spPr>
              <a:xfrm>
                <a:off x="947077" y="3066336"/>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社区机构</a:t>
                </a:r>
              </a:p>
            </p:txBody>
          </p:sp>
          <p:sp>
            <p:nvSpPr>
              <p:cNvPr id="61" name="TextBox 61"/>
              <p:cNvSpPr txBox="1"/>
              <p:nvPr/>
            </p:nvSpPr>
            <p:spPr>
              <a:xfrm>
                <a:off x="414338" y="25300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我可提供</a:t>
                </a:r>
              </a:p>
            </p:txBody>
          </p:sp>
          <p:sp>
            <p:nvSpPr>
              <p:cNvPr id="62" name="TextBox 62"/>
              <p:cNvSpPr txBox="1"/>
              <p:nvPr/>
            </p:nvSpPr>
            <p:spPr>
              <a:xfrm>
                <a:off x="414338" y="2629376"/>
                <a:ext cx="688548"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金融服务 · 社区活动​</a:t>
                </a:r>
              </a:p>
            </p:txBody>
          </p:sp>
          <p:sp>
            <p:nvSpPr>
              <p:cNvPr id="63" name="TextBox 63"/>
              <p:cNvSpPr txBox="1"/>
              <p:nvPr/>
            </p:nvSpPr>
            <p:spPr>
              <a:xfrm>
                <a:off x="414338" y="2715101"/>
                <a:ext cx="548543"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适老 / 普惠权益​</a:t>
                </a:r>
              </a:p>
            </p:txBody>
          </p:sp>
          <p:sp>
            <p:nvSpPr>
              <p:cNvPr id="64" name="TextBox 64"/>
              <p:cNvSpPr txBox="1"/>
              <p:nvPr/>
            </p:nvSpPr>
            <p:spPr>
              <a:xfrm>
                <a:off x="414338" y="3082528"/>
                <a:ext cx="386461"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对方可获得</a:t>
                </a:r>
              </a:p>
            </p:txBody>
          </p:sp>
          <p:sp>
            <p:nvSpPr>
              <p:cNvPr id="65" name="TextBox 65"/>
              <p:cNvSpPr txBox="1"/>
              <p:nvPr/>
            </p:nvSpPr>
            <p:spPr>
              <a:xfrm>
                <a:off x="414338" y="3181826"/>
                <a:ext cx="688548"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社区客群 · 组织动员​</a:t>
                </a:r>
              </a:p>
            </p:txBody>
          </p:sp>
          <p:sp>
            <p:nvSpPr>
              <p:cNvPr id="66" name="TextBox 66"/>
              <p:cNvSpPr txBox="1"/>
              <p:nvPr/>
            </p:nvSpPr>
            <p:spPr>
              <a:xfrm>
                <a:off x="414338" y="3267551"/>
                <a:ext cx="828553"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场地配合 · 民生服务联动​</a:t>
                </a:r>
              </a:p>
            </p:txBody>
          </p:sp>
          <p:sp>
            <p:nvSpPr>
              <p:cNvPr id="67" name="Line 67"/>
              <p:cNvSpPr/>
              <p:nvPr/>
            </p:nvSpPr>
            <p:spPr>
              <a:xfrm flipV="1">
                <a:off x="1524000" y="2533650"/>
                <a:ext cx="1314450" cy="171450"/>
              </a:xfrm>
              <a:prstGeom prst="line">
                <a:avLst/>
              </a:prstGeom>
              <a:noFill/>
              <a:ln w="14288">
                <a:solidFill>
                  <a:srgbClr val="A3422F"/>
                </a:solidFill>
                <a:headEnd type="triangle" w="lg" len="lg"/>
                <a:tailEnd type="triangle" w="lg" len="lg"/>
              </a:ln>
            </p:spPr>
          </p:sp>
        </p:grpSp>
        <p:grpSp>
          <p:nvGrpSpPr>
            <p:cNvPr id="83" name="map-cluster-brand"/>
            <p:cNvGrpSpPr/>
            <p:nvPr/>
          </p:nvGrpSpPr>
          <p:grpSpPr>
            <a:xfrm>
              <a:off x="3752850" y="2530078"/>
              <a:ext cx="1777073" cy="842248"/>
              <a:chOff x="3752850" y="2530078"/>
              <a:chExt cx="1777073" cy="842248"/>
            </a:xfrm>
          </p:grpSpPr>
          <p:sp>
            <p:nvSpPr>
              <p:cNvPr id="69" name="Ellipse 69"/>
              <p:cNvSpPr/>
              <p:nvPr/>
            </p:nvSpPr>
            <p:spPr>
              <a:xfrm>
                <a:off x="5162550" y="2686050"/>
                <a:ext cx="342900" cy="342900"/>
              </a:xfrm>
              <a:prstGeom prst="ellipse">
                <a:avLst/>
              </a:prstGeom>
              <a:solidFill>
                <a:srgbClr val="E4F3F0"/>
              </a:solidFill>
              <a:ln w="14288">
                <a:solidFill>
                  <a:srgbClr val="A3422F"/>
                </a:solidFill>
              </a:ln>
            </p:spPr>
          </p:sp>
          <p:grpSp>
            <p:nvGrpSpPr>
              <p:cNvPr id="74" name="Group 74"/>
              <p:cNvGrpSpPr/>
              <p:nvPr/>
            </p:nvGrpSpPr>
            <p:grpSpPr>
              <a:xfrm>
                <a:off x="5276850" y="2793206"/>
                <a:ext cx="114300" cy="128588"/>
                <a:chOff x="5276850" y="2793206"/>
                <a:chExt cx="114300" cy="128588"/>
              </a:xfrm>
            </p:grpSpPr>
            <p:sp>
              <p:nvSpPr>
                <p:cNvPr id="70" name="Freeform 70"/>
                <p:cNvSpPr/>
                <p:nvPr/>
              </p:nvSpPr>
              <p:spPr>
                <a:xfrm>
                  <a:off x="5276850" y="289321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71" name="Freeform 71"/>
                <p:cNvSpPr/>
                <p:nvPr/>
              </p:nvSpPr>
              <p:spPr>
                <a:xfrm>
                  <a:off x="5355431" y="289321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72" name="Freeform 72"/>
                <p:cNvSpPr/>
                <p:nvPr/>
              </p:nvSpPr>
              <p:spPr>
                <a:xfrm>
                  <a:off x="5276850" y="2793206"/>
                  <a:ext cx="92869" cy="100012"/>
                </a:xfrm>
                <a:custGeom>
                  <a:avLst/>
                  <a:gdLst/>
                  <a:ahLst/>
                  <a:cxnLst/>
                  <a:rect l="l" t="t" r="r" b="b"/>
                  <a:pathLst>
                    <a:path w="92869" h="100012">
                      <a:moveTo>
                        <a:pt x="92869" y="100012"/>
                      </a:moveTo>
                      <a:lnTo>
                        <a:pt x="14288" y="100012"/>
                      </a:lnTo>
                      <a:lnTo>
                        <a:pt x="14288" y="0"/>
                      </a:lnTo>
                      <a:lnTo>
                        <a:pt x="0" y="0"/>
                      </a:lnTo>
                    </a:path>
                  </a:pathLst>
                </a:custGeom>
                <a:noFill/>
                <a:ln w="14288">
                  <a:solidFill>
                    <a:srgbClr val="76200F"/>
                  </a:solidFill>
                </a:ln>
              </p:spPr>
            </p:sp>
            <p:sp>
              <p:nvSpPr>
                <p:cNvPr id="73" name="Freeform 73"/>
                <p:cNvSpPr/>
                <p:nvPr/>
              </p:nvSpPr>
              <p:spPr>
                <a:xfrm>
                  <a:off x="5291138" y="2807494"/>
                  <a:ext cx="100012" cy="57150"/>
                </a:xfrm>
                <a:custGeom>
                  <a:avLst/>
                  <a:gdLst/>
                  <a:ahLst/>
                  <a:cxnLst/>
                  <a:rect l="l" t="t" r="r" b="b"/>
                  <a:pathLst>
                    <a:path w="100012" h="57150">
                      <a:moveTo>
                        <a:pt x="0" y="0"/>
                      </a:moveTo>
                      <a:lnTo>
                        <a:pt x="100012" y="7144"/>
                      </a:lnTo>
                      <a:lnTo>
                        <a:pt x="92869" y="57150"/>
                      </a:lnTo>
                      <a:lnTo>
                        <a:pt x="0" y="57150"/>
                      </a:lnTo>
                    </a:path>
                  </a:pathLst>
                </a:custGeom>
                <a:noFill/>
                <a:ln w="14288">
                  <a:solidFill>
                    <a:srgbClr val="76200F"/>
                  </a:solidFill>
                </a:ln>
              </p:spPr>
            </p:sp>
          </p:grpSp>
          <p:sp>
            <p:nvSpPr>
              <p:cNvPr id="75" name="TextBox 75"/>
              <p:cNvSpPr txBox="1"/>
              <p:nvPr/>
            </p:nvSpPr>
            <p:spPr>
              <a:xfrm>
                <a:off x="5138077" y="3066336"/>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品牌商户</a:t>
                </a:r>
              </a:p>
            </p:txBody>
          </p:sp>
          <p:sp>
            <p:nvSpPr>
              <p:cNvPr id="76" name="TextBox 76"/>
              <p:cNvSpPr txBox="1"/>
              <p:nvPr/>
            </p:nvSpPr>
            <p:spPr>
              <a:xfrm>
                <a:off x="4818139" y="2530078"/>
                <a:ext cx="311074" cy="111919"/>
              </a:xfrm>
              <a:prstGeom prst="rect">
                <a:avLst/>
              </a:prstGeom>
              <a:noFill/>
              <a:ln>
                <a:noFill/>
              </a:ln>
            </p:spPr>
            <p:txBody>
              <a:bodyPr wrap="none" lIns="0" tIns="0" rIns="0" bIns="0" anchor="t" anchorCtr="0">
                <a:spAutoFit/>
              </a:bodyPr>
              <a:lstStyle/>
              <a:p>
                <a:pPr algn="r"/>
                <a:r>
                  <a:rPr lang="zh-CN" sz="560" b="1" dirty="0">
                    <a:solidFill>
                      <a:srgbClr val="5D190B"/>
                    </a:solidFill>
                    <a:latin typeface="+mn-lt"/>
                    <a:ea typeface="+mn-ea"/>
                    <a:cs typeface="+mn-cs"/>
                  </a:rPr>
                  <a:t>我可提供</a:t>
                </a:r>
              </a:p>
            </p:txBody>
          </p:sp>
          <p:sp>
            <p:nvSpPr>
              <p:cNvPr id="77" name="TextBox 77"/>
              <p:cNvSpPr txBox="1"/>
              <p:nvPr/>
            </p:nvSpPr>
            <p:spPr>
              <a:xfrm>
                <a:off x="4321660" y="2629376"/>
                <a:ext cx="807552" cy="104775"/>
              </a:xfrm>
              <a:prstGeom prst="rect">
                <a:avLst/>
              </a:prstGeom>
              <a:noFill/>
              <a:ln>
                <a:noFill/>
              </a:ln>
            </p:spPr>
            <p:txBody>
              <a:bodyPr wrap="none" lIns="0" tIns="0" rIns="0" bIns="0" anchor="t" anchorCtr="0">
                <a:spAutoFit/>
              </a:bodyPr>
              <a:lstStyle/>
              <a:p>
                <a:pPr algn="r"/>
                <a:r>
                  <a:rPr lang="zh-CN" sz="520" dirty="0">
                    <a:solidFill>
                      <a:srgbClr val="514340"/>
                    </a:solidFill>
                    <a:latin typeface="+mn-lt"/>
                    <a:ea typeface="+mn-ea"/>
                    <a:cs typeface="+mn-cs"/>
                  </a:rPr>
                  <a:t>客群共享 · 支付 / 分期​​</a:t>
                </a:r>
              </a:p>
            </p:txBody>
          </p:sp>
          <p:sp>
            <p:nvSpPr>
              <p:cNvPr id="78" name="TextBox 78"/>
              <p:cNvSpPr txBox="1"/>
              <p:nvPr/>
            </p:nvSpPr>
            <p:spPr>
              <a:xfrm>
                <a:off x="4440664" y="2715101"/>
                <a:ext cx="688548" cy="104775"/>
              </a:xfrm>
              <a:prstGeom prst="rect">
                <a:avLst/>
              </a:prstGeom>
              <a:noFill/>
              <a:ln>
                <a:noFill/>
              </a:ln>
            </p:spPr>
            <p:txBody>
              <a:bodyPr wrap="none" lIns="0" tIns="0" rIns="0" bIns="0" anchor="t" anchorCtr="0">
                <a:spAutoFit/>
              </a:bodyPr>
              <a:lstStyle/>
              <a:p>
                <a:pPr algn="r"/>
                <a:r>
                  <a:rPr lang="zh-CN" sz="520" dirty="0">
                    <a:solidFill>
                      <a:srgbClr val="514340"/>
                    </a:solidFill>
                    <a:latin typeface="+mn-lt"/>
                    <a:ea typeface="+mn-ea"/>
                    <a:cs typeface="+mn-cs"/>
                  </a:rPr>
                  <a:t>联合活动 · 数据洞察​</a:t>
                </a:r>
              </a:p>
            </p:txBody>
          </p:sp>
          <p:sp>
            <p:nvSpPr>
              <p:cNvPr id="79" name="TextBox 79"/>
              <p:cNvSpPr txBox="1"/>
              <p:nvPr/>
            </p:nvSpPr>
            <p:spPr>
              <a:xfrm>
                <a:off x="4742752" y="3082528"/>
                <a:ext cx="386461" cy="111919"/>
              </a:xfrm>
              <a:prstGeom prst="rect">
                <a:avLst/>
              </a:prstGeom>
              <a:noFill/>
              <a:ln>
                <a:noFill/>
              </a:ln>
            </p:spPr>
            <p:txBody>
              <a:bodyPr wrap="none" lIns="0" tIns="0" rIns="0" bIns="0" anchor="t" anchorCtr="0">
                <a:spAutoFit/>
              </a:bodyPr>
              <a:lstStyle/>
              <a:p>
                <a:pPr algn="r"/>
                <a:r>
                  <a:rPr lang="zh-CN" sz="560" b="1" dirty="0">
                    <a:solidFill>
                      <a:srgbClr val="5D190B"/>
                    </a:solidFill>
                    <a:latin typeface="+mn-lt"/>
                    <a:ea typeface="+mn-ea"/>
                    <a:cs typeface="+mn-cs"/>
                  </a:rPr>
                  <a:t>对方可获得</a:t>
                </a:r>
              </a:p>
            </p:txBody>
          </p:sp>
          <p:sp>
            <p:nvSpPr>
              <p:cNvPr id="80" name="TextBox 80"/>
              <p:cNvSpPr txBox="1"/>
              <p:nvPr/>
            </p:nvSpPr>
            <p:spPr>
              <a:xfrm>
                <a:off x="4440664" y="3181826"/>
                <a:ext cx="688548" cy="104775"/>
              </a:xfrm>
              <a:prstGeom prst="rect">
                <a:avLst/>
              </a:prstGeom>
              <a:noFill/>
              <a:ln>
                <a:noFill/>
              </a:ln>
            </p:spPr>
            <p:txBody>
              <a:bodyPr wrap="none" lIns="0" tIns="0" rIns="0" bIns="0" anchor="t" anchorCtr="0">
                <a:spAutoFit/>
              </a:bodyPr>
              <a:lstStyle/>
              <a:p>
                <a:pPr algn="r"/>
                <a:r>
                  <a:rPr lang="zh-CN" sz="520" dirty="0">
                    <a:solidFill>
                      <a:srgbClr val="514340"/>
                    </a:solidFill>
                    <a:latin typeface="+mn-lt"/>
                    <a:ea typeface="+mn-ea"/>
                    <a:cs typeface="+mn-cs"/>
                  </a:rPr>
                  <a:t>精准客群 · 销售增长​</a:t>
                </a:r>
              </a:p>
            </p:txBody>
          </p:sp>
          <p:sp>
            <p:nvSpPr>
              <p:cNvPr id="81" name="TextBox 81"/>
              <p:cNvSpPr txBox="1"/>
              <p:nvPr/>
            </p:nvSpPr>
            <p:spPr>
              <a:xfrm>
                <a:off x="4440664" y="3267551"/>
                <a:ext cx="688548" cy="104775"/>
              </a:xfrm>
              <a:prstGeom prst="rect">
                <a:avLst/>
              </a:prstGeom>
              <a:noFill/>
              <a:ln>
                <a:noFill/>
              </a:ln>
            </p:spPr>
            <p:txBody>
              <a:bodyPr wrap="none" lIns="0" tIns="0" rIns="0" bIns="0" anchor="t" anchorCtr="0">
                <a:spAutoFit/>
              </a:bodyPr>
              <a:lstStyle/>
              <a:p>
                <a:pPr algn="r"/>
                <a:r>
                  <a:rPr lang="zh-CN" sz="520" dirty="0">
                    <a:solidFill>
                      <a:srgbClr val="514340"/>
                    </a:solidFill>
                    <a:latin typeface="+mn-lt"/>
                    <a:ea typeface="+mn-ea"/>
                    <a:cs typeface="+mn-cs"/>
                  </a:rPr>
                  <a:t>品牌曝光 · 会员互通​</a:t>
                </a:r>
              </a:p>
            </p:txBody>
          </p:sp>
          <p:sp>
            <p:nvSpPr>
              <p:cNvPr id="82" name="Line 82"/>
              <p:cNvSpPr/>
              <p:nvPr/>
            </p:nvSpPr>
            <p:spPr>
              <a:xfrm flipH="1" flipV="1">
                <a:off x="3752850" y="2571750"/>
                <a:ext cx="533400" cy="190500"/>
              </a:xfrm>
              <a:prstGeom prst="line">
                <a:avLst/>
              </a:prstGeom>
              <a:noFill/>
              <a:ln w="14288">
                <a:solidFill>
                  <a:srgbClr val="A3422F"/>
                </a:solidFill>
                <a:headEnd type="triangle" w="lg" len="lg"/>
                <a:tailEnd type="triangle" w="lg" len="lg"/>
              </a:ln>
            </p:spPr>
          </p:sp>
        </p:grpSp>
        <p:grpSp>
          <p:nvGrpSpPr>
            <p:cNvPr id="95" name="map-cluster-media"/>
            <p:cNvGrpSpPr/>
            <p:nvPr/>
          </p:nvGrpSpPr>
          <p:grpSpPr>
            <a:xfrm>
              <a:off x="2395538" y="2990850"/>
              <a:ext cx="2263958" cy="997030"/>
              <a:chOff x="2395538" y="2990850"/>
              <a:chExt cx="2263958" cy="997030"/>
            </a:xfrm>
          </p:grpSpPr>
          <p:sp>
            <p:nvSpPr>
              <p:cNvPr id="84" name="Ellipse 84"/>
              <p:cNvSpPr/>
              <p:nvPr/>
            </p:nvSpPr>
            <p:spPr>
              <a:xfrm>
                <a:off x="3124200" y="3467100"/>
                <a:ext cx="342900" cy="342900"/>
              </a:xfrm>
              <a:prstGeom prst="ellipse">
                <a:avLst/>
              </a:prstGeom>
              <a:solidFill>
                <a:srgbClr val="E4F3F0"/>
              </a:solidFill>
              <a:ln w="14288">
                <a:solidFill>
                  <a:srgbClr val="A3422F"/>
                </a:solidFill>
              </a:ln>
            </p:spPr>
          </p:sp>
          <p:grpSp>
            <p:nvGrpSpPr>
              <p:cNvPr id="87" name="Group 87"/>
              <p:cNvGrpSpPr/>
              <p:nvPr/>
            </p:nvGrpSpPr>
            <p:grpSpPr>
              <a:xfrm>
                <a:off x="3231356" y="3595688"/>
                <a:ext cx="128587" cy="85725"/>
                <a:chOff x="3231356" y="3595688"/>
                <a:chExt cx="128587" cy="85725"/>
              </a:xfrm>
            </p:grpSpPr>
            <p:sp>
              <p:nvSpPr>
                <p:cNvPr id="85" name="Freeform 85"/>
                <p:cNvSpPr/>
                <p:nvPr/>
              </p:nvSpPr>
              <p:spPr>
                <a:xfrm>
                  <a:off x="3317081" y="3606897"/>
                  <a:ext cx="42862" cy="63306"/>
                </a:xfrm>
                <a:custGeom>
                  <a:avLst/>
                  <a:gdLst/>
                  <a:ahLst/>
                  <a:cxnLst/>
                  <a:rect l="l" t="t" r="r" b="b"/>
                  <a:pathLst>
                    <a:path w="42862" h="63306">
                      <a:moveTo>
                        <a:pt x="0" y="17365"/>
                      </a:moveTo>
                      <a:lnTo>
                        <a:pt x="32525" y="1106"/>
                      </a:lnTo>
                      <a:cubicBezTo>
                        <a:pt x="34739" y="0"/>
                        <a:pt x="37368" y="118"/>
                        <a:pt x="39474" y="1419"/>
                      </a:cubicBezTo>
                      <a:cubicBezTo>
                        <a:pt x="41579" y="2720"/>
                        <a:pt x="42861" y="5018"/>
                        <a:pt x="42862" y="7493"/>
                      </a:cubicBezTo>
                      <a:lnTo>
                        <a:pt x="42862" y="55813"/>
                      </a:lnTo>
                      <a:cubicBezTo>
                        <a:pt x="42861" y="58288"/>
                        <a:pt x="41579" y="60586"/>
                        <a:pt x="39474" y="61887"/>
                      </a:cubicBezTo>
                      <a:cubicBezTo>
                        <a:pt x="37368" y="63187"/>
                        <a:pt x="34739" y="63306"/>
                        <a:pt x="32525" y="62200"/>
                      </a:cubicBezTo>
                      <a:lnTo>
                        <a:pt x="0" y="45940"/>
                      </a:lnTo>
                      <a:lnTo>
                        <a:pt x="0" y="17365"/>
                      </a:lnTo>
                    </a:path>
                  </a:pathLst>
                </a:custGeom>
                <a:noFill/>
                <a:ln w="14288">
                  <a:solidFill>
                    <a:srgbClr val="76200F"/>
                  </a:solidFill>
                </a:ln>
              </p:spPr>
            </p:sp>
            <p:sp>
              <p:nvSpPr>
                <p:cNvPr id="86" name="Freeform 86"/>
                <p:cNvSpPr/>
                <p:nvPr/>
              </p:nvSpPr>
              <p:spPr>
                <a:xfrm>
                  <a:off x="3231356" y="3595688"/>
                  <a:ext cx="85725" cy="85725"/>
                </a:xfrm>
                <a:custGeom>
                  <a:avLst/>
                  <a:gdLst/>
                  <a:ahLst/>
                  <a:cxnLst/>
                  <a:rect l="l" t="t" r="r" b="b"/>
                  <a:pathLst>
                    <a:path w="85725" h="85725">
                      <a:moveTo>
                        <a:pt x="0" y="14288"/>
                      </a:moveTo>
                      <a:cubicBezTo>
                        <a:pt x="0" y="6397"/>
                        <a:pt x="6397" y="0"/>
                        <a:pt x="14288" y="0"/>
                      </a:cubicBezTo>
                      <a:lnTo>
                        <a:pt x="71438" y="0"/>
                      </a:lnTo>
                      <a:cubicBezTo>
                        <a:pt x="79328" y="0"/>
                        <a:pt x="85725" y="6397"/>
                        <a:pt x="85725" y="14288"/>
                      </a:cubicBezTo>
                      <a:lnTo>
                        <a:pt x="85725" y="71438"/>
                      </a:lnTo>
                      <a:cubicBezTo>
                        <a:pt x="85725" y="79328"/>
                        <a:pt x="79328" y="85725"/>
                        <a:pt x="71438" y="85725"/>
                      </a:cubicBezTo>
                      <a:lnTo>
                        <a:pt x="14288" y="85725"/>
                      </a:lnTo>
                      <a:cubicBezTo>
                        <a:pt x="6397" y="85725"/>
                        <a:pt x="0" y="79328"/>
                        <a:pt x="0" y="71438"/>
                      </a:cubicBezTo>
                      <a:lnTo>
                        <a:pt x="0" y="14288"/>
                      </a:lnTo>
                    </a:path>
                  </a:pathLst>
                </a:custGeom>
                <a:noFill/>
                <a:ln w="14288">
                  <a:solidFill>
                    <a:srgbClr val="76200F"/>
                  </a:solidFill>
                </a:ln>
              </p:spPr>
            </p:sp>
          </p:grpSp>
          <p:sp>
            <p:nvSpPr>
              <p:cNvPr id="88" name="TextBox 88"/>
              <p:cNvSpPr txBox="1"/>
              <p:nvPr/>
            </p:nvSpPr>
            <p:spPr>
              <a:xfrm>
                <a:off x="3099727" y="3847386"/>
                <a:ext cx="391846" cy="140494"/>
              </a:xfrm>
              <a:prstGeom prst="rect">
                <a:avLst/>
              </a:prstGeom>
              <a:noFill/>
              <a:ln>
                <a:noFill/>
              </a:ln>
            </p:spPr>
            <p:txBody>
              <a:bodyPr wrap="none" lIns="0" tIns="0" rIns="0" bIns="0" anchor="t" anchorCtr="0">
                <a:spAutoFit/>
              </a:bodyPr>
              <a:lstStyle/>
              <a:p>
                <a:pPr algn="ctr"/>
                <a:r>
                  <a:rPr lang="zh-CN" sz="710" b="1" dirty="0">
                    <a:solidFill>
                      <a:srgbClr val="331712"/>
                    </a:solidFill>
                    <a:latin typeface="+mn-lt"/>
                    <a:ea typeface="+mn-ea"/>
                    <a:cs typeface="+mn-cs"/>
                  </a:rPr>
                  <a:t>媒体平台</a:t>
                </a:r>
              </a:p>
            </p:txBody>
          </p:sp>
          <p:sp>
            <p:nvSpPr>
              <p:cNvPr id="89" name="TextBox 89"/>
              <p:cNvSpPr txBox="1"/>
              <p:nvPr/>
            </p:nvSpPr>
            <p:spPr>
              <a:xfrm>
                <a:off x="2395538" y="336827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我可提供</a:t>
                </a:r>
              </a:p>
            </p:txBody>
          </p:sp>
          <p:sp>
            <p:nvSpPr>
              <p:cNvPr id="90" name="TextBox 90"/>
              <p:cNvSpPr txBox="1"/>
              <p:nvPr/>
            </p:nvSpPr>
            <p:spPr>
              <a:xfrm>
                <a:off x="2395538" y="3467576"/>
                <a:ext cx="1087562"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活动内容 · 渠道资源 · 金融知识​​</a:t>
                </a:r>
              </a:p>
            </p:txBody>
          </p:sp>
          <p:sp>
            <p:nvSpPr>
              <p:cNvPr id="91" name="TextBox 91"/>
              <p:cNvSpPr txBox="1"/>
              <p:nvPr/>
            </p:nvSpPr>
            <p:spPr>
              <a:xfrm>
                <a:off x="3690938" y="3368278"/>
                <a:ext cx="386461"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对方可获得</a:t>
                </a:r>
              </a:p>
            </p:txBody>
          </p:sp>
          <p:sp>
            <p:nvSpPr>
              <p:cNvPr id="92" name="TextBox 92"/>
              <p:cNvSpPr txBox="1"/>
              <p:nvPr/>
            </p:nvSpPr>
            <p:spPr>
              <a:xfrm>
                <a:off x="3690938" y="3467576"/>
                <a:ext cx="688548"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传播素材 · 流量曝光​</a:t>
                </a:r>
              </a:p>
            </p:txBody>
          </p:sp>
          <p:sp>
            <p:nvSpPr>
              <p:cNvPr id="93" name="TextBox 93"/>
              <p:cNvSpPr txBox="1"/>
              <p:nvPr/>
            </p:nvSpPr>
            <p:spPr>
              <a:xfrm>
                <a:off x="3690938" y="3553301"/>
                <a:ext cx="968558" cy="104775"/>
              </a:xfrm>
              <a:prstGeom prst="rect">
                <a:avLst/>
              </a:prstGeom>
              <a:noFill/>
              <a:ln>
                <a:noFill/>
              </a:ln>
            </p:spPr>
            <p:txBody>
              <a:bodyPr wrap="none" lIns="0" tIns="0" rIns="0" bIns="0" anchor="t" anchorCtr="0">
                <a:spAutoFit/>
              </a:bodyPr>
              <a:lstStyle/>
              <a:p>
                <a:pPr algn="l"/>
                <a:r>
                  <a:rPr lang="zh-CN" sz="520" dirty="0">
                    <a:solidFill>
                      <a:srgbClr val="514340"/>
                    </a:solidFill>
                    <a:latin typeface="+mn-lt"/>
                    <a:ea typeface="+mn-ea"/>
                    <a:cs typeface="+mn-cs"/>
                  </a:rPr>
                  <a:t>内容共创 · 品牌合作伙伴收益​</a:t>
                </a:r>
              </a:p>
            </p:txBody>
          </p:sp>
          <p:sp>
            <p:nvSpPr>
              <p:cNvPr id="94" name="Line 94"/>
              <p:cNvSpPr/>
              <p:nvPr/>
            </p:nvSpPr>
            <p:spPr>
              <a:xfrm flipV="1">
                <a:off x="3295650" y="2990850"/>
                <a:ext cx="1" cy="476250"/>
              </a:xfrm>
              <a:prstGeom prst="line">
                <a:avLst/>
              </a:prstGeom>
              <a:noFill/>
              <a:ln w="14288">
                <a:solidFill>
                  <a:srgbClr val="A3422F"/>
                </a:solidFill>
                <a:headEnd type="triangle" w="lg" len="lg"/>
                <a:tailEnd type="triangle" w="lg" len="lg"/>
              </a:ln>
            </p:spPr>
          </p:sp>
        </p:grpSp>
        <p:grpSp>
          <p:nvGrpSpPr>
            <p:cNvPr id="117" name="map-chips"/>
            <p:cNvGrpSpPr/>
            <p:nvPr/>
          </p:nvGrpSpPr>
          <p:grpSpPr>
            <a:xfrm>
              <a:off x="342900" y="4038600"/>
              <a:ext cx="5905500" cy="285750"/>
              <a:chOff x="342900" y="4038600"/>
              <a:chExt cx="5905500" cy="285750"/>
            </a:xfrm>
          </p:grpSpPr>
          <p:sp>
            <p:nvSpPr>
              <p:cNvPr id="96" name="Rectangle 96"/>
              <p:cNvSpPr/>
              <p:nvPr/>
            </p:nvSpPr>
            <p:spPr>
              <a:xfrm>
                <a:off x="342900" y="4038600"/>
                <a:ext cx="800100" cy="285750"/>
              </a:xfrm>
              <a:prstGeom prst="roundRect">
                <a:avLst>
                  <a:gd name="adj" fmla="val 20000"/>
                </a:avLst>
              </a:prstGeom>
              <a:solidFill>
                <a:srgbClr val="E4F3F0"/>
              </a:solidFill>
              <a:ln>
                <a:noFill/>
              </a:ln>
            </p:spPr>
          </p:sp>
          <p:sp>
            <p:nvSpPr>
              <p:cNvPr id="97" name="TextBox 97"/>
              <p:cNvSpPr txBox="1"/>
              <p:nvPr/>
            </p:nvSpPr>
            <p:spPr>
              <a:xfrm>
                <a:off x="657416" y="40976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客群</a:t>
                </a:r>
              </a:p>
            </p:txBody>
          </p:sp>
          <p:sp>
            <p:nvSpPr>
              <p:cNvPr id="98" name="TextBox 98"/>
              <p:cNvSpPr txBox="1"/>
              <p:nvPr/>
            </p:nvSpPr>
            <p:spPr>
              <a:xfrm>
                <a:off x="507314" y="4214574"/>
                <a:ext cx="471272" cy="97631"/>
              </a:xfrm>
              <a:prstGeom prst="rect">
                <a:avLst/>
              </a:prstGeom>
              <a:noFill/>
              <a:ln>
                <a:noFill/>
              </a:ln>
            </p:spPr>
            <p:txBody>
              <a:bodyPr wrap="none" lIns="0" tIns="0" rIns="0" bIns="0" anchor="t" anchorCtr="0">
                <a:spAutoFit/>
              </a:bodyPr>
              <a:lstStyle/>
              <a:p>
                <a:pPr algn="ctr"/>
                <a:r>
                  <a:rPr lang="zh-CN" sz="490" dirty="0">
                    <a:solidFill>
                      <a:srgbClr val="73615E"/>
                    </a:solidFill>
                    <a:latin typeface="+mn-lt"/>
                    <a:ea typeface="+mn-ea"/>
                    <a:cs typeface="+mn-cs"/>
                  </a:rPr>
                  <a:t>扩大客户覆盖面</a:t>
                </a:r>
              </a:p>
            </p:txBody>
          </p:sp>
          <p:sp>
            <p:nvSpPr>
              <p:cNvPr id="99" name="Rectangle 99"/>
              <p:cNvSpPr/>
              <p:nvPr/>
            </p:nvSpPr>
            <p:spPr>
              <a:xfrm>
                <a:off x="1181100" y="4038600"/>
                <a:ext cx="800100" cy="285750"/>
              </a:xfrm>
              <a:prstGeom prst="roundRect">
                <a:avLst>
                  <a:gd name="adj" fmla="val 20000"/>
                </a:avLst>
              </a:prstGeom>
              <a:solidFill>
                <a:srgbClr val="E4F3F0"/>
              </a:solidFill>
              <a:ln>
                <a:noFill/>
              </a:ln>
            </p:spPr>
          </p:sp>
          <p:sp>
            <p:nvSpPr>
              <p:cNvPr id="100" name="TextBox 100"/>
              <p:cNvSpPr txBox="1"/>
              <p:nvPr/>
            </p:nvSpPr>
            <p:spPr>
              <a:xfrm>
                <a:off x="1495616" y="40976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场地</a:t>
                </a:r>
              </a:p>
            </p:txBody>
          </p:sp>
          <p:sp>
            <p:nvSpPr>
              <p:cNvPr id="101" name="TextBox 101"/>
              <p:cNvSpPr txBox="1"/>
              <p:nvPr/>
            </p:nvSpPr>
            <p:spPr>
              <a:xfrm>
                <a:off x="1378496" y="4214574"/>
                <a:ext cx="405308" cy="97631"/>
              </a:xfrm>
              <a:prstGeom prst="rect">
                <a:avLst/>
              </a:prstGeom>
              <a:noFill/>
              <a:ln>
                <a:noFill/>
              </a:ln>
            </p:spPr>
            <p:txBody>
              <a:bodyPr wrap="none" lIns="0" tIns="0" rIns="0" bIns="0" anchor="t" anchorCtr="0">
                <a:spAutoFit/>
              </a:bodyPr>
              <a:lstStyle/>
              <a:p>
                <a:pPr algn="ctr"/>
                <a:r>
                  <a:rPr lang="zh-CN" sz="490" dirty="0">
                    <a:solidFill>
                      <a:srgbClr val="73615E"/>
                    </a:solidFill>
                    <a:latin typeface="+mn-lt"/>
                    <a:ea typeface="+mn-ea"/>
                    <a:cs typeface="+mn-cs"/>
                  </a:rPr>
                  <a:t>活动场地支持</a:t>
                </a:r>
              </a:p>
            </p:txBody>
          </p:sp>
          <p:sp>
            <p:nvSpPr>
              <p:cNvPr id="102" name="Rectangle 102"/>
              <p:cNvSpPr/>
              <p:nvPr/>
            </p:nvSpPr>
            <p:spPr>
              <a:xfrm>
                <a:off x="2019300" y="4038600"/>
                <a:ext cx="800100" cy="285750"/>
              </a:xfrm>
              <a:prstGeom prst="roundRect">
                <a:avLst>
                  <a:gd name="adj" fmla="val 20000"/>
                </a:avLst>
              </a:prstGeom>
              <a:solidFill>
                <a:srgbClr val="E4F3F0"/>
              </a:solidFill>
              <a:ln>
                <a:noFill/>
              </a:ln>
            </p:spPr>
          </p:sp>
          <p:sp>
            <p:nvSpPr>
              <p:cNvPr id="103" name="TextBox 103"/>
              <p:cNvSpPr txBox="1"/>
              <p:nvPr/>
            </p:nvSpPr>
            <p:spPr>
              <a:xfrm>
                <a:off x="2333816" y="40976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权益</a:t>
                </a:r>
              </a:p>
            </p:txBody>
          </p:sp>
          <p:sp>
            <p:nvSpPr>
              <p:cNvPr id="104" name="TextBox 104"/>
              <p:cNvSpPr txBox="1"/>
              <p:nvPr/>
            </p:nvSpPr>
            <p:spPr>
              <a:xfrm>
                <a:off x="2183714" y="4214574"/>
                <a:ext cx="471272" cy="97631"/>
              </a:xfrm>
              <a:prstGeom prst="rect">
                <a:avLst/>
              </a:prstGeom>
              <a:noFill/>
              <a:ln>
                <a:noFill/>
              </a:ln>
            </p:spPr>
            <p:txBody>
              <a:bodyPr wrap="none" lIns="0" tIns="0" rIns="0" bIns="0" anchor="t" anchorCtr="0">
                <a:spAutoFit/>
              </a:bodyPr>
              <a:lstStyle/>
              <a:p>
                <a:pPr algn="ctr"/>
                <a:r>
                  <a:rPr lang="zh-CN" sz="490" dirty="0">
                    <a:solidFill>
                      <a:srgbClr val="73615E"/>
                    </a:solidFill>
                    <a:latin typeface="+mn-lt"/>
                    <a:ea typeface="+mn-ea"/>
                    <a:cs typeface="+mn-cs"/>
                  </a:rPr>
                  <a:t>优惠与专属福利</a:t>
                </a:r>
              </a:p>
            </p:txBody>
          </p:sp>
          <p:sp>
            <p:nvSpPr>
              <p:cNvPr id="105" name="Rectangle 105"/>
              <p:cNvSpPr/>
              <p:nvPr/>
            </p:nvSpPr>
            <p:spPr>
              <a:xfrm>
                <a:off x="2857500" y="4038600"/>
                <a:ext cx="800100" cy="285750"/>
              </a:xfrm>
              <a:prstGeom prst="roundRect">
                <a:avLst>
                  <a:gd name="adj" fmla="val 20000"/>
                </a:avLst>
              </a:prstGeom>
              <a:solidFill>
                <a:srgbClr val="E4F3F0"/>
              </a:solidFill>
              <a:ln>
                <a:noFill/>
              </a:ln>
            </p:spPr>
          </p:sp>
          <p:sp>
            <p:nvSpPr>
              <p:cNvPr id="106" name="TextBox 106"/>
              <p:cNvSpPr txBox="1"/>
              <p:nvPr/>
            </p:nvSpPr>
            <p:spPr>
              <a:xfrm>
                <a:off x="3172016" y="40976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内容</a:t>
                </a:r>
              </a:p>
            </p:txBody>
          </p:sp>
          <p:sp>
            <p:nvSpPr>
              <p:cNvPr id="107" name="TextBox 107"/>
              <p:cNvSpPr txBox="1"/>
              <p:nvPr/>
            </p:nvSpPr>
            <p:spPr>
              <a:xfrm>
                <a:off x="3021914" y="4214574"/>
                <a:ext cx="471272" cy="97631"/>
              </a:xfrm>
              <a:prstGeom prst="rect">
                <a:avLst/>
              </a:prstGeom>
              <a:noFill/>
              <a:ln>
                <a:noFill/>
              </a:ln>
            </p:spPr>
            <p:txBody>
              <a:bodyPr wrap="none" lIns="0" tIns="0" rIns="0" bIns="0" anchor="t" anchorCtr="0">
                <a:spAutoFit/>
              </a:bodyPr>
              <a:lstStyle/>
              <a:p>
                <a:pPr algn="ctr"/>
                <a:r>
                  <a:rPr lang="zh-CN" sz="490" dirty="0">
                    <a:solidFill>
                      <a:srgbClr val="73615E"/>
                    </a:solidFill>
                    <a:latin typeface="+mn-lt"/>
                    <a:ea typeface="+mn-ea"/>
                    <a:cs typeface="+mn-cs"/>
                  </a:rPr>
                  <a:t>知识与内容共创</a:t>
                </a:r>
              </a:p>
            </p:txBody>
          </p:sp>
          <p:sp>
            <p:nvSpPr>
              <p:cNvPr id="108" name="Rectangle 108"/>
              <p:cNvSpPr/>
              <p:nvPr/>
            </p:nvSpPr>
            <p:spPr>
              <a:xfrm>
                <a:off x="3695700" y="4038600"/>
                <a:ext cx="800100" cy="285750"/>
              </a:xfrm>
              <a:prstGeom prst="roundRect">
                <a:avLst>
                  <a:gd name="adj" fmla="val 20000"/>
                </a:avLst>
              </a:prstGeom>
              <a:solidFill>
                <a:srgbClr val="E4F3F0"/>
              </a:solidFill>
              <a:ln>
                <a:noFill/>
              </a:ln>
            </p:spPr>
          </p:sp>
          <p:sp>
            <p:nvSpPr>
              <p:cNvPr id="109" name="TextBox 109"/>
              <p:cNvSpPr txBox="1"/>
              <p:nvPr/>
            </p:nvSpPr>
            <p:spPr>
              <a:xfrm>
                <a:off x="4010216" y="40976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传播</a:t>
                </a:r>
              </a:p>
            </p:txBody>
          </p:sp>
          <p:sp>
            <p:nvSpPr>
              <p:cNvPr id="110" name="TextBox 110"/>
              <p:cNvSpPr txBox="1"/>
              <p:nvPr/>
            </p:nvSpPr>
            <p:spPr>
              <a:xfrm>
                <a:off x="3860114" y="4214574"/>
                <a:ext cx="471272" cy="97631"/>
              </a:xfrm>
              <a:prstGeom prst="rect">
                <a:avLst/>
              </a:prstGeom>
              <a:noFill/>
              <a:ln>
                <a:noFill/>
              </a:ln>
            </p:spPr>
            <p:txBody>
              <a:bodyPr wrap="none" lIns="0" tIns="0" rIns="0" bIns="0" anchor="t" anchorCtr="0">
                <a:spAutoFit/>
              </a:bodyPr>
              <a:lstStyle/>
              <a:p>
                <a:pPr algn="ctr"/>
                <a:r>
                  <a:rPr lang="zh-CN" sz="490" dirty="0">
                    <a:solidFill>
                      <a:srgbClr val="73615E"/>
                    </a:solidFill>
                    <a:latin typeface="+mn-lt"/>
                    <a:ea typeface="+mn-ea"/>
                    <a:cs typeface="+mn-cs"/>
                  </a:rPr>
                  <a:t>多渠道联合推广</a:t>
                </a:r>
              </a:p>
            </p:txBody>
          </p:sp>
          <p:sp>
            <p:nvSpPr>
              <p:cNvPr id="111" name="Rectangle 111"/>
              <p:cNvSpPr/>
              <p:nvPr/>
            </p:nvSpPr>
            <p:spPr>
              <a:xfrm>
                <a:off x="4533900" y="4038600"/>
                <a:ext cx="800100" cy="285750"/>
              </a:xfrm>
              <a:prstGeom prst="roundRect">
                <a:avLst>
                  <a:gd name="adj" fmla="val 20000"/>
                </a:avLst>
              </a:prstGeom>
              <a:solidFill>
                <a:srgbClr val="E4F3F0"/>
              </a:solidFill>
              <a:ln>
                <a:noFill/>
              </a:ln>
            </p:spPr>
          </p:sp>
          <p:sp>
            <p:nvSpPr>
              <p:cNvPr id="112" name="TextBox 112"/>
              <p:cNvSpPr txBox="1"/>
              <p:nvPr/>
            </p:nvSpPr>
            <p:spPr>
              <a:xfrm>
                <a:off x="4848416" y="4097655"/>
                <a:ext cx="171069"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数据</a:t>
                </a:r>
              </a:p>
            </p:txBody>
          </p:sp>
          <p:sp>
            <p:nvSpPr>
              <p:cNvPr id="113" name="TextBox 113"/>
              <p:cNvSpPr txBox="1"/>
              <p:nvPr/>
            </p:nvSpPr>
            <p:spPr>
              <a:xfrm>
                <a:off x="4698314" y="4214574"/>
                <a:ext cx="471272" cy="97631"/>
              </a:xfrm>
              <a:prstGeom prst="rect">
                <a:avLst/>
              </a:prstGeom>
              <a:noFill/>
              <a:ln>
                <a:noFill/>
              </a:ln>
            </p:spPr>
            <p:txBody>
              <a:bodyPr wrap="none" lIns="0" tIns="0" rIns="0" bIns="0" anchor="t" anchorCtr="0">
                <a:spAutoFit/>
              </a:bodyPr>
              <a:lstStyle/>
              <a:p>
                <a:pPr algn="ctr"/>
                <a:r>
                  <a:rPr lang="zh-CN" sz="490" dirty="0">
                    <a:solidFill>
                      <a:srgbClr val="73615E"/>
                    </a:solidFill>
                    <a:latin typeface="+mn-lt"/>
                    <a:ea typeface="+mn-ea"/>
                    <a:cs typeface="+mn-cs"/>
                  </a:rPr>
                  <a:t>洞察与精准运营</a:t>
                </a:r>
              </a:p>
            </p:txBody>
          </p:sp>
          <p:sp>
            <p:nvSpPr>
              <p:cNvPr id="114" name="Rectangle 114"/>
              <p:cNvSpPr/>
              <p:nvPr/>
            </p:nvSpPr>
            <p:spPr>
              <a:xfrm>
                <a:off x="5372100" y="4038600"/>
                <a:ext cx="876300" cy="285750"/>
              </a:xfrm>
              <a:prstGeom prst="roundRect">
                <a:avLst>
                  <a:gd name="adj" fmla="val 20000"/>
                </a:avLst>
              </a:prstGeom>
              <a:solidFill>
                <a:srgbClr val="E4F3F0"/>
              </a:solidFill>
              <a:ln>
                <a:noFill/>
              </a:ln>
            </p:spPr>
          </p:sp>
          <p:sp>
            <p:nvSpPr>
              <p:cNvPr id="115" name="TextBox 115"/>
              <p:cNvSpPr txBox="1"/>
              <p:nvPr/>
            </p:nvSpPr>
            <p:spPr>
              <a:xfrm>
                <a:off x="5643944" y="4097655"/>
                <a:ext cx="332613"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金融服务</a:t>
                </a:r>
              </a:p>
            </p:txBody>
          </p:sp>
          <p:sp>
            <p:nvSpPr>
              <p:cNvPr id="116" name="TextBox 116"/>
              <p:cNvSpPr txBox="1"/>
              <p:nvPr/>
            </p:nvSpPr>
            <p:spPr>
              <a:xfrm>
                <a:off x="5421248" y="4214574"/>
                <a:ext cx="778003" cy="97631"/>
              </a:xfrm>
              <a:prstGeom prst="rect">
                <a:avLst/>
              </a:prstGeom>
              <a:noFill/>
              <a:ln>
                <a:noFill/>
              </a:ln>
            </p:spPr>
            <p:txBody>
              <a:bodyPr wrap="none" lIns="0" tIns="0" rIns="0" bIns="0" anchor="t" anchorCtr="0">
                <a:spAutoFit/>
              </a:bodyPr>
              <a:lstStyle/>
              <a:p>
                <a:pPr algn="ctr"/>
                <a:r>
                  <a:rPr lang="zh-CN" sz="490" dirty="0">
                    <a:solidFill>
                      <a:srgbClr val="73615E"/>
                    </a:solidFill>
                    <a:latin typeface="+mn-lt"/>
                    <a:ea typeface="+mn-ea"/>
                    <a:cs typeface="+mn-cs"/>
                  </a:rPr>
                  <a:t>支付·授信·理财综合服务​</a:t>
                </a:r>
              </a:p>
            </p:txBody>
          </p:sp>
        </p:grpSp>
      </p:grpSp>
      <p:grpSp>
        <p:nvGrpSpPr>
          <p:cNvPr id="157" name="score-card"/>
          <p:cNvGrpSpPr/>
          <p:nvPr/>
        </p:nvGrpSpPr>
        <p:grpSpPr>
          <a:xfrm>
            <a:off x="6324600" y="685800"/>
            <a:ext cx="5505450" cy="1828800"/>
            <a:chOff x="6324600" y="685800"/>
            <a:chExt cx="5505450" cy="1828800"/>
          </a:xfrm>
        </p:grpSpPr>
        <p:sp>
          <p:nvSpPr>
            <p:cNvPr id="119" name="Rectangle 119"/>
            <p:cNvSpPr/>
            <p:nvPr/>
          </p:nvSpPr>
          <p:spPr>
            <a:xfrm>
              <a:off x="6324600" y="685800"/>
              <a:ext cx="1809750" cy="228600"/>
            </a:xfrm>
            <a:prstGeom prst="roundRect">
              <a:avLst>
                <a:gd name="adj" fmla="val 20833"/>
              </a:avLst>
            </a:prstGeom>
            <a:solidFill>
              <a:srgbClr val="76200F"/>
            </a:solidFill>
            <a:ln>
              <a:noFill/>
            </a:ln>
          </p:spPr>
        </p:sp>
        <p:sp>
          <p:nvSpPr>
            <p:cNvPr id="120" name="TextBox 120"/>
            <p:cNvSpPr txBox="1"/>
            <p:nvPr/>
          </p:nvSpPr>
          <p:spPr>
            <a:xfrm>
              <a:off x="6434138" y="746522"/>
              <a:ext cx="1148410"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合作伙伴遴选评分卡</a:t>
              </a:r>
            </a:p>
          </p:txBody>
        </p:sp>
        <p:sp>
          <p:nvSpPr>
            <p:cNvPr id="121" name="Rectangle 121"/>
            <p:cNvSpPr/>
            <p:nvPr/>
          </p:nvSpPr>
          <p:spPr>
            <a:xfrm>
              <a:off x="6324600" y="971550"/>
              <a:ext cx="5505450" cy="228600"/>
            </a:xfrm>
            <a:prstGeom prst="rect">
              <a:avLst/>
            </a:prstGeom>
            <a:solidFill>
              <a:srgbClr val="5D190B"/>
            </a:solidFill>
            <a:ln>
              <a:noFill/>
            </a:ln>
          </p:spPr>
        </p:sp>
        <p:sp>
          <p:nvSpPr>
            <p:cNvPr id="122" name="TextBox 122"/>
            <p:cNvSpPr txBox="1"/>
            <p:nvPr/>
          </p:nvSpPr>
          <p:spPr>
            <a:xfrm>
              <a:off x="6566827" y="10565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评估维度</a:t>
              </a:r>
            </a:p>
          </p:txBody>
        </p:sp>
        <p:sp>
          <p:nvSpPr>
            <p:cNvPr id="123" name="TextBox 123"/>
            <p:cNvSpPr txBox="1"/>
            <p:nvPr/>
          </p:nvSpPr>
          <p:spPr>
            <a:xfrm>
              <a:off x="7900327" y="105656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评估要点</a:t>
              </a:r>
            </a:p>
          </p:txBody>
        </p:sp>
        <p:sp>
          <p:nvSpPr>
            <p:cNvPr id="124" name="TextBox 124"/>
            <p:cNvSpPr txBox="1"/>
            <p:nvPr/>
          </p:nvSpPr>
          <p:spPr>
            <a:xfrm>
              <a:off x="9729457" y="105656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权重</a:t>
              </a:r>
            </a:p>
          </p:txBody>
        </p:sp>
        <p:sp>
          <p:nvSpPr>
            <p:cNvPr id="125" name="TextBox 125"/>
            <p:cNvSpPr txBox="1"/>
            <p:nvPr/>
          </p:nvSpPr>
          <p:spPr>
            <a:xfrm>
              <a:off x="10599312" y="1056561"/>
              <a:ext cx="89937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评分标准（1-5分）​</a:t>
              </a:r>
            </a:p>
          </p:txBody>
        </p:sp>
        <p:grpSp>
          <p:nvGrpSpPr>
            <p:cNvPr id="156" name="score-rows2"/>
            <p:cNvGrpSpPr/>
            <p:nvPr/>
          </p:nvGrpSpPr>
          <p:grpSpPr>
            <a:xfrm>
              <a:off x="6324600" y="1200150"/>
              <a:ext cx="5505450" cy="1314450"/>
              <a:chOff x="6324600" y="1200150"/>
              <a:chExt cx="5505450" cy="1314450"/>
            </a:xfrm>
          </p:grpSpPr>
          <p:sp>
            <p:nvSpPr>
              <p:cNvPr id="126" name="Rectangle 126"/>
              <p:cNvSpPr/>
              <p:nvPr/>
            </p:nvSpPr>
            <p:spPr>
              <a:xfrm>
                <a:off x="6324600" y="1200150"/>
                <a:ext cx="5505450" cy="219075"/>
              </a:xfrm>
              <a:prstGeom prst="rect">
                <a:avLst/>
              </a:prstGeom>
              <a:solidFill>
                <a:srgbClr val="FFFFFF"/>
              </a:solidFill>
              <a:ln w="9525">
                <a:solidFill>
                  <a:srgbClr val="E2EEEB"/>
                </a:solidFill>
              </a:ln>
            </p:spPr>
          </p:sp>
          <p:sp>
            <p:nvSpPr>
              <p:cNvPr id="127" name="TextBox 127"/>
              <p:cNvSpPr txBox="1"/>
              <p:nvPr/>
            </p:nvSpPr>
            <p:spPr>
              <a:xfrm>
                <a:off x="6574904" y="127968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客群重合</a:t>
                </a:r>
              </a:p>
            </p:txBody>
          </p:sp>
          <p:sp>
            <p:nvSpPr>
              <p:cNvPr id="128" name="TextBox 128"/>
              <p:cNvSpPr txBox="1"/>
              <p:nvPr/>
            </p:nvSpPr>
            <p:spPr>
              <a:xfrm>
                <a:off x="7402233" y="1283732"/>
                <a:ext cx="138803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目标客群匹配度、客群规模与活跃度</a:t>
                </a:r>
              </a:p>
            </p:txBody>
          </p:sp>
          <p:sp>
            <p:nvSpPr>
              <p:cNvPr id="129" name="TextBox 129"/>
              <p:cNvSpPr txBox="1"/>
              <p:nvPr/>
            </p:nvSpPr>
            <p:spPr>
              <a:xfrm>
                <a:off x="9709695" y="1279684"/>
                <a:ext cx="240210" cy="133350"/>
              </a:xfrm>
              <a:prstGeom prst="rect">
                <a:avLst/>
              </a:prstGeom>
              <a:noFill/>
              <a:ln>
                <a:noFill/>
              </a:ln>
            </p:spPr>
            <p:txBody>
              <a:bodyPr wrap="none" lIns="0" tIns="0" rIns="0" bIns="0" anchor="t" anchorCtr="0">
                <a:spAutoFit/>
              </a:bodyPr>
              <a:lstStyle/>
              <a:p>
                <a:pPr algn="ctr"/>
                <a:r>
                  <a:rPr lang="zh-CN" sz="680" b="1" dirty="0">
                    <a:solidFill>
                      <a:srgbClr val="76200F"/>
                    </a:solidFill>
                    <a:latin typeface="+mn-lt"/>
                    <a:ea typeface="+mn-ea"/>
                    <a:cs typeface="+mn-cs"/>
                  </a:rPr>
                  <a:t>25%​</a:t>
                </a:r>
              </a:p>
            </p:txBody>
          </p:sp>
          <p:sp>
            <p:nvSpPr>
              <p:cNvPr id="130" name="TextBox 130"/>
              <p:cNvSpPr txBox="1"/>
              <p:nvPr/>
            </p:nvSpPr>
            <p:spPr>
              <a:xfrm>
                <a:off x="10503604" y="1283732"/>
                <a:ext cx="1090793"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1=低 3=一般 5=高度重合​​​</a:t>
                </a:r>
              </a:p>
            </p:txBody>
          </p:sp>
          <p:sp>
            <p:nvSpPr>
              <p:cNvPr id="131" name="Rectangle 131"/>
              <p:cNvSpPr/>
              <p:nvPr/>
            </p:nvSpPr>
            <p:spPr>
              <a:xfrm>
                <a:off x="6324600" y="1419225"/>
                <a:ext cx="5505450" cy="219075"/>
              </a:xfrm>
              <a:prstGeom prst="rect">
                <a:avLst/>
              </a:prstGeom>
              <a:solidFill>
                <a:srgbClr val="EFF8F6"/>
              </a:solidFill>
              <a:ln w="9525">
                <a:solidFill>
                  <a:srgbClr val="E2EEEB"/>
                </a:solidFill>
              </a:ln>
            </p:spPr>
          </p:sp>
          <p:sp>
            <p:nvSpPr>
              <p:cNvPr id="132" name="TextBox 132"/>
              <p:cNvSpPr txBox="1"/>
              <p:nvPr/>
            </p:nvSpPr>
            <p:spPr>
              <a:xfrm>
                <a:off x="6574904" y="1498759"/>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品牌匹配</a:t>
                </a:r>
              </a:p>
            </p:txBody>
          </p:sp>
          <p:sp>
            <p:nvSpPr>
              <p:cNvPr id="133" name="TextBox 133"/>
              <p:cNvSpPr txBox="1"/>
              <p:nvPr/>
            </p:nvSpPr>
            <p:spPr>
              <a:xfrm>
                <a:off x="7488390" y="1502807"/>
                <a:ext cx="121572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品牌形象契合度、价值观一致性</a:t>
                </a:r>
              </a:p>
            </p:txBody>
          </p:sp>
          <p:sp>
            <p:nvSpPr>
              <p:cNvPr id="134" name="TextBox 134"/>
              <p:cNvSpPr txBox="1"/>
              <p:nvPr/>
            </p:nvSpPr>
            <p:spPr>
              <a:xfrm>
                <a:off x="9709695" y="1498759"/>
                <a:ext cx="240210" cy="133350"/>
              </a:xfrm>
              <a:prstGeom prst="rect">
                <a:avLst/>
              </a:prstGeom>
              <a:noFill/>
              <a:ln>
                <a:noFill/>
              </a:ln>
            </p:spPr>
            <p:txBody>
              <a:bodyPr wrap="none" lIns="0" tIns="0" rIns="0" bIns="0" anchor="t" anchorCtr="0">
                <a:spAutoFit/>
              </a:bodyPr>
              <a:lstStyle/>
              <a:p>
                <a:pPr algn="ctr"/>
                <a:r>
                  <a:rPr lang="zh-CN" sz="680" b="1" dirty="0">
                    <a:solidFill>
                      <a:srgbClr val="76200F"/>
                    </a:solidFill>
                    <a:latin typeface="+mn-lt"/>
                    <a:ea typeface="+mn-ea"/>
                    <a:cs typeface="+mn-cs"/>
                  </a:rPr>
                  <a:t>20%​</a:t>
                </a:r>
              </a:p>
            </p:txBody>
          </p:sp>
          <p:sp>
            <p:nvSpPr>
              <p:cNvPr id="135" name="TextBox 135"/>
              <p:cNvSpPr txBox="1"/>
              <p:nvPr/>
            </p:nvSpPr>
            <p:spPr>
              <a:xfrm>
                <a:off x="10417447" y="1502807"/>
                <a:ext cx="126310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1=不匹配 3=一般 5=高度匹配​​​</a:t>
                </a:r>
              </a:p>
            </p:txBody>
          </p:sp>
          <p:sp>
            <p:nvSpPr>
              <p:cNvPr id="136" name="Rectangle 136"/>
              <p:cNvSpPr/>
              <p:nvPr/>
            </p:nvSpPr>
            <p:spPr>
              <a:xfrm>
                <a:off x="6324600" y="1638300"/>
                <a:ext cx="5505450" cy="219075"/>
              </a:xfrm>
              <a:prstGeom prst="rect">
                <a:avLst/>
              </a:prstGeom>
              <a:solidFill>
                <a:srgbClr val="FFFFFF"/>
              </a:solidFill>
              <a:ln w="9525">
                <a:solidFill>
                  <a:srgbClr val="E2EEEB"/>
                </a:solidFill>
              </a:ln>
            </p:spPr>
          </p:sp>
          <p:sp>
            <p:nvSpPr>
              <p:cNvPr id="137" name="TextBox 137"/>
              <p:cNvSpPr txBox="1"/>
              <p:nvPr/>
            </p:nvSpPr>
            <p:spPr>
              <a:xfrm>
                <a:off x="6574904" y="171783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资源投入</a:t>
                </a:r>
              </a:p>
            </p:txBody>
          </p:sp>
          <p:sp>
            <p:nvSpPr>
              <p:cNvPr id="138" name="TextBox 138"/>
              <p:cNvSpPr txBox="1"/>
              <p:nvPr/>
            </p:nvSpPr>
            <p:spPr>
              <a:xfrm>
                <a:off x="7445312" y="1721882"/>
                <a:ext cx="130187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场地、资金、人员等资源支持力度</a:t>
                </a:r>
              </a:p>
            </p:txBody>
          </p:sp>
          <p:sp>
            <p:nvSpPr>
              <p:cNvPr id="139" name="TextBox 139"/>
              <p:cNvSpPr txBox="1"/>
              <p:nvPr/>
            </p:nvSpPr>
            <p:spPr>
              <a:xfrm>
                <a:off x="9709695" y="1717834"/>
                <a:ext cx="240210" cy="133350"/>
              </a:xfrm>
              <a:prstGeom prst="rect">
                <a:avLst/>
              </a:prstGeom>
              <a:noFill/>
              <a:ln>
                <a:noFill/>
              </a:ln>
            </p:spPr>
            <p:txBody>
              <a:bodyPr wrap="none" lIns="0" tIns="0" rIns="0" bIns="0" anchor="t" anchorCtr="0">
                <a:spAutoFit/>
              </a:bodyPr>
              <a:lstStyle/>
              <a:p>
                <a:pPr algn="ctr"/>
                <a:r>
                  <a:rPr lang="zh-CN" sz="680" b="1" dirty="0">
                    <a:solidFill>
                      <a:srgbClr val="76200F"/>
                    </a:solidFill>
                    <a:latin typeface="+mn-lt"/>
                    <a:ea typeface="+mn-ea"/>
                    <a:cs typeface="+mn-cs"/>
                  </a:rPr>
                  <a:t>15%​</a:t>
                </a:r>
              </a:p>
            </p:txBody>
          </p:sp>
          <p:sp>
            <p:nvSpPr>
              <p:cNvPr id="140" name="TextBox 140"/>
              <p:cNvSpPr txBox="1"/>
              <p:nvPr/>
            </p:nvSpPr>
            <p:spPr>
              <a:xfrm>
                <a:off x="10460525" y="1721882"/>
                <a:ext cx="117695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1=较少 3=一般 5=非常充足​​​</a:t>
                </a:r>
              </a:p>
            </p:txBody>
          </p:sp>
          <p:sp>
            <p:nvSpPr>
              <p:cNvPr id="141" name="Rectangle 141"/>
              <p:cNvSpPr/>
              <p:nvPr/>
            </p:nvSpPr>
            <p:spPr>
              <a:xfrm>
                <a:off x="6324600" y="1857375"/>
                <a:ext cx="5505450" cy="219075"/>
              </a:xfrm>
              <a:prstGeom prst="rect">
                <a:avLst/>
              </a:prstGeom>
              <a:solidFill>
                <a:srgbClr val="EFF8F6"/>
              </a:solidFill>
              <a:ln w="9525">
                <a:solidFill>
                  <a:srgbClr val="E2EEEB"/>
                </a:solidFill>
              </a:ln>
            </p:spPr>
          </p:sp>
          <p:sp>
            <p:nvSpPr>
              <p:cNvPr id="142" name="TextBox 142"/>
              <p:cNvSpPr txBox="1"/>
              <p:nvPr/>
            </p:nvSpPr>
            <p:spPr>
              <a:xfrm>
                <a:off x="6574904" y="1936909"/>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执行能力</a:t>
                </a:r>
              </a:p>
            </p:txBody>
          </p:sp>
          <p:sp>
            <p:nvSpPr>
              <p:cNvPr id="143" name="TextBox 143"/>
              <p:cNvSpPr txBox="1"/>
              <p:nvPr/>
            </p:nvSpPr>
            <p:spPr>
              <a:xfrm>
                <a:off x="7402233" y="1940957"/>
                <a:ext cx="138803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活动组织、落地执行、应急保障能力</a:t>
                </a:r>
              </a:p>
            </p:txBody>
          </p:sp>
          <p:sp>
            <p:nvSpPr>
              <p:cNvPr id="144" name="TextBox 144"/>
              <p:cNvSpPr txBox="1"/>
              <p:nvPr/>
            </p:nvSpPr>
            <p:spPr>
              <a:xfrm>
                <a:off x="9709695" y="1936909"/>
                <a:ext cx="240210" cy="133350"/>
              </a:xfrm>
              <a:prstGeom prst="rect">
                <a:avLst/>
              </a:prstGeom>
              <a:noFill/>
              <a:ln>
                <a:noFill/>
              </a:ln>
            </p:spPr>
            <p:txBody>
              <a:bodyPr wrap="none" lIns="0" tIns="0" rIns="0" bIns="0" anchor="t" anchorCtr="0">
                <a:spAutoFit/>
              </a:bodyPr>
              <a:lstStyle/>
              <a:p>
                <a:pPr algn="ctr"/>
                <a:r>
                  <a:rPr lang="zh-CN" sz="680" b="1" dirty="0">
                    <a:solidFill>
                      <a:srgbClr val="76200F"/>
                    </a:solidFill>
                    <a:latin typeface="+mn-lt"/>
                    <a:ea typeface="+mn-ea"/>
                    <a:cs typeface="+mn-cs"/>
                  </a:rPr>
                  <a:t>15%​</a:t>
                </a:r>
              </a:p>
            </p:txBody>
          </p:sp>
          <p:sp>
            <p:nvSpPr>
              <p:cNvPr id="145" name="TextBox 145"/>
              <p:cNvSpPr txBox="1"/>
              <p:nvPr/>
            </p:nvSpPr>
            <p:spPr>
              <a:xfrm>
                <a:off x="10503604" y="1940957"/>
                <a:ext cx="1090793"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1=较弱 3=一般 5=非常强​​​</a:t>
                </a:r>
              </a:p>
            </p:txBody>
          </p:sp>
          <p:sp>
            <p:nvSpPr>
              <p:cNvPr id="146" name="Rectangle 146"/>
              <p:cNvSpPr/>
              <p:nvPr/>
            </p:nvSpPr>
            <p:spPr>
              <a:xfrm>
                <a:off x="6324600" y="2076450"/>
                <a:ext cx="5505450" cy="219075"/>
              </a:xfrm>
              <a:prstGeom prst="rect">
                <a:avLst/>
              </a:prstGeom>
              <a:solidFill>
                <a:srgbClr val="FFFFFF"/>
              </a:solidFill>
              <a:ln w="9525">
                <a:solidFill>
                  <a:srgbClr val="E2EEEB"/>
                </a:solidFill>
              </a:ln>
            </p:spPr>
          </p:sp>
          <p:sp>
            <p:nvSpPr>
              <p:cNvPr id="147" name="TextBox 147"/>
              <p:cNvSpPr txBox="1"/>
              <p:nvPr/>
            </p:nvSpPr>
            <p:spPr>
              <a:xfrm>
                <a:off x="6574904" y="215598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数据协同</a:t>
                </a:r>
              </a:p>
            </p:txBody>
          </p:sp>
          <p:sp>
            <p:nvSpPr>
              <p:cNvPr id="148" name="TextBox 148"/>
              <p:cNvSpPr txBox="1"/>
              <p:nvPr/>
            </p:nvSpPr>
            <p:spPr>
              <a:xfrm>
                <a:off x="7445312" y="2160032"/>
                <a:ext cx="130187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数据共享意愿、数据质量与合规性</a:t>
                </a:r>
              </a:p>
            </p:txBody>
          </p:sp>
          <p:sp>
            <p:nvSpPr>
              <p:cNvPr id="149" name="TextBox 149"/>
              <p:cNvSpPr txBox="1"/>
              <p:nvPr/>
            </p:nvSpPr>
            <p:spPr>
              <a:xfrm>
                <a:off x="9709695" y="2155984"/>
                <a:ext cx="240210" cy="133350"/>
              </a:xfrm>
              <a:prstGeom prst="rect">
                <a:avLst/>
              </a:prstGeom>
              <a:noFill/>
              <a:ln>
                <a:noFill/>
              </a:ln>
            </p:spPr>
            <p:txBody>
              <a:bodyPr wrap="none" lIns="0" tIns="0" rIns="0" bIns="0" anchor="t" anchorCtr="0">
                <a:spAutoFit/>
              </a:bodyPr>
              <a:lstStyle/>
              <a:p>
                <a:pPr algn="ctr"/>
                <a:r>
                  <a:rPr lang="zh-CN" sz="680" b="1" dirty="0">
                    <a:solidFill>
                      <a:srgbClr val="76200F"/>
                    </a:solidFill>
                    <a:latin typeface="+mn-lt"/>
                    <a:ea typeface="+mn-ea"/>
                    <a:cs typeface="+mn-cs"/>
                  </a:rPr>
                  <a:t>15%​</a:t>
                </a:r>
              </a:p>
            </p:txBody>
          </p:sp>
          <p:sp>
            <p:nvSpPr>
              <p:cNvPr id="150" name="TextBox 150"/>
              <p:cNvSpPr txBox="1"/>
              <p:nvPr/>
            </p:nvSpPr>
            <p:spPr>
              <a:xfrm>
                <a:off x="10417447" y="2160032"/>
                <a:ext cx="1263106"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1=不支持 3=一般 5=高度协同​​​</a:t>
                </a:r>
              </a:p>
            </p:txBody>
          </p:sp>
          <p:sp>
            <p:nvSpPr>
              <p:cNvPr id="151" name="Rectangle 151"/>
              <p:cNvSpPr/>
              <p:nvPr/>
            </p:nvSpPr>
            <p:spPr>
              <a:xfrm>
                <a:off x="6324600" y="2295525"/>
                <a:ext cx="5505450" cy="219075"/>
              </a:xfrm>
              <a:prstGeom prst="rect">
                <a:avLst/>
              </a:prstGeom>
              <a:solidFill>
                <a:srgbClr val="EFF8F6"/>
              </a:solidFill>
              <a:ln w="9525">
                <a:solidFill>
                  <a:srgbClr val="E2EEEB"/>
                </a:solidFill>
              </a:ln>
            </p:spPr>
          </p:sp>
          <p:sp>
            <p:nvSpPr>
              <p:cNvPr id="152" name="TextBox 152"/>
              <p:cNvSpPr txBox="1"/>
              <p:nvPr/>
            </p:nvSpPr>
            <p:spPr>
              <a:xfrm>
                <a:off x="6574904" y="2375059"/>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合规风险</a:t>
                </a:r>
              </a:p>
            </p:txBody>
          </p:sp>
          <p:sp>
            <p:nvSpPr>
              <p:cNvPr id="153" name="TextBox 153"/>
              <p:cNvSpPr txBox="1"/>
              <p:nvPr/>
            </p:nvSpPr>
            <p:spPr>
              <a:xfrm>
                <a:off x="7488390" y="2379107"/>
                <a:ext cx="121572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行业资质、舆情风险、合规记录</a:t>
                </a:r>
              </a:p>
            </p:txBody>
          </p:sp>
          <p:sp>
            <p:nvSpPr>
              <p:cNvPr id="154" name="TextBox 154"/>
              <p:cNvSpPr txBox="1"/>
              <p:nvPr/>
            </p:nvSpPr>
            <p:spPr>
              <a:xfrm>
                <a:off x="9709695" y="2375059"/>
                <a:ext cx="240210" cy="133350"/>
              </a:xfrm>
              <a:prstGeom prst="rect">
                <a:avLst/>
              </a:prstGeom>
              <a:noFill/>
              <a:ln>
                <a:noFill/>
              </a:ln>
            </p:spPr>
            <p:txBody>
              <a:bodyPr wrap="none" lIns="0" tIns="0" rIns="0" bIns="0" anchor="t" anchorCtr="0">
                <a:spAutoFit/>
              </a:bodyPr>
              <a:lstStyle/>
              <a:p>
                <a:pPr algn="ctr"/>
                <a:r>
                  <a:rPr lang="zh-CN" sz="680" b="1" dirty="0">
                    <a:solidFill>
                      <a:srgbClr val="76200F"/>
                    </a:solidFill>
                    <a:latin typeface="+mn-lt"/>
                    <a:ea typeface="+mn-ea"/>
                    <a:cs typeface="+mn-cs"/>
                  </a:rPr>
                  <a:t>10%​</a:t>
                </a:r>
              </a:p>
            </p:txBody>
          </p:sp>
          <p:sp>
            <p:nvSpPr>
              <p:cNvPr id="155" name="TextBox 155"/>
              <p:cNvSpPr txBox="1"/>
              <p:nvPr/>
            </p:nvSpPr>
            <p:spPr>
              <a:xfrm>
                <a:off x="10503604" y="2379107"/>
                <a:ext cx="1090793"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1=较高 3=可控 5=风险低​​​</a:t>
                </a:r>
              </a:p>
            </p:txBody>
          </p:sp>
        </p:grpSp>
      </p:grpSp>
      <p:grpSp>
        <p:nvGrpSpPr>
          <p:cNvPr id="207" name="mode-compare"/>
          <p:cNvGrpSpPr/>
          <p:nvPr/>
        </p:nvGrpSpPr>
        <p:grpSpPr>
          <a:xfrm>
            <a:off x="6324600" y="2667000"/>
            <a:ext cx="5505450" cy="1638300"/>
            <a:chOff x="6324600" y="2667000"/>
            <a:chExt cx="5505450" cy="1638300"/>
          </a:xfrm>
        </p:grpSpPr>
        <p:sp>
          <p:nvSpPr>
            <p:cNvPr id="158" name="Rectangle 158"/>
            <p:cNvSpPr/>
            <p:nvPr/>
          </p:nvSpPr>
          <p:spPr>
            <a:xfrm>
              <a:off x="6324600" y="2667000"/>
              <a:ext cx="1238250" cy="228600"/>
            </a:xfrm>
            <a:prstGeom prst="roundRect">
              <a:avLst>
                <a:gd name="adj" fmla="val 20833"/>
              </a:avLst>
            </a:prstGeom>
            <a:solidFill>
              <a:srgbClr val="76200F"/>
            </a:solidFill>
            <a:ln>
              <a:noFill/>
            </a:ln>
          </p:spPr>
        </p:sp>
        <p:sp>
          <p:nvSpPr>
            <p:cNvPr id="159" name="TextBox 159"/>
            <p:cNvSpPr txBox="1"/>
            <p:nvPr/>
          </p:nvSpPr>
          <p:spPr>
            <a:xfrm>
              <a:off x="6434138" y="2727722"/>
              <a:ext cx="768782"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合作模式对比</a:t>
              </a:r>
            </a:p>
          </p:txBody>
        </p:sp>
        <p:sp>
          <p:nvSpPr>
            <p:cNvPr id="160" name="Rectangle 160"/>
            <p:cNvSpPr/>
            <p:nvPr/>
          </p:nvSpPr>
          <p:spPr>
            <a:xfrm>
              <a:off x="6324600" y="2952750"/>
              <a:ext cx="1047750" cy="1352550"/>
            </a:xfrm>
            <a:prstGeom prst="roundRect">
              <a:avLst>
                <a:gd name="adj" fmla="val 7273"/>
              </a:avLst>
            </a:prstGeom>
            <a:solidFill>
              <a:srgbClr val="FFFFFF"/>
            </a:solidFill>
            <a:ln w="9525">
              <a:solidFill>
                <a:srgbClr val="C2E0DA"/>
              </a:solidFill>
            </a:ln>
          </p:spPr>
        </p:sp>
        <p:grpSp>
          <p:nvGrpSpPr>
            <p:cNvPr id="165" name="Group 165"/>
            <p:cNvGrpSpPr/>
            <p:nvPr/>
          </p:nvGrpSpPr>
          <p:grpSpPr>
            <a:xfrm>
              <a:off x="6457950" y="3054350"/>
              <a:ext cx="114300" cy="101600"/>
              <a:chOff x="6457950" y="3054350"/>
              <a:chExt cx="114300" cy="101600"/>
            </a:xfrm>
          </p:grpSpPr>
          <p:sp>
            <p:nvSpPr>
              <p:cNvPr id="161" name="Freeform 161"/>
              <p:cNvSpPr/>
              <p:nvPr/>
            </p:nvSpPr>
            <p:spPr>
              <a:xfrm>
                <a:off x="6457950" y="3073400"/>
                <a:ext cx="114300" cy="9525"/>
              </a:xfrm>
              <a:custGeom>
                <a:avLst/>
                <a:gdLst/>
                <a:ahLst/>
                <a:cxnLst/>
                <a:rect l="l" t="t" r="r" b="b"/>
                <a:pathLst>
                  <a:path w="114300" h="9525">
                    <a:moveTo>
                      <a:pt x="114300" y="0"/>
                    </a:moveTo>
                    <a:lnTo>
                      <a:pt x="0" y="0"/>
                    </a:lnTo>
                  </a:path>
                </a:pathLst>
              </a:custGeom>
              <a:noFill/>
              <a:ln w="12700">
                <a:solidFill>
                  <a:srgbClr val="76200F"/>
                </a:solidFill>
              </a:ln>
            </p:spPr>
          </p:sp>
          <p:sp>
            <p:nvSpPr>
              <p:cNvPr id="162" name="Freeform 162"/>
              <p:cNvSpPr/>
              <p:nvPr/>
            </p:nvSpPr>
            <p:spPr>
              <a:xfrm>
                <a:off x="6553200" y="3054350"/>
                <a:ext cx="19050" cy="38100"/>
              </a:xfrm>
              <a:custGeom>
                <a:avLst/>
                <a:gdLst/>
                <a:ahLst/>
                <a:cxnLst/>
                <a:rect l="l" t="t" r="r" b="b"/>
                <a:pathLst>
                  <a:path w="19050" h="38100">
                    <a:moveTo>
                      <a:pt x="0" y="38100"/>
                    </a:moveTo>
                    <a:lnTo>
                      <a:pt x="19050" y="19050"/>
                    </a:lnTo>
                    <a:lnTo>
                      <a:pt x="0" y="0"/>
                    </a:lnTo>
                  </a:path>
                </a:pathLst>
              </a:custGeom>
              <a:noFill/>
              <a:ln w="12700">
                <a:solidFill>
                  <a:srgbClr val="76200F"/>
                </a:solidFill>
              </a:ln>
            </p:spPr>
          </p:sp>
          <p:sp>
            <p:nvSpPr>
              <p:cNvPr id="163" name="Freeform 163"/>
              <p:cNvSpPr/>
              <p:nvPr/>
            </p:nvSpPr>
            <p:spPr>
              <a:xfrm>
                <a:off x="6457950" y="3117850"/>
                <a:ext cx="19050" cy="38100"/>
              </a:xfrm>
              <a:custGeom>
                <a:avLst/>
                <a:gdLst/>
                <a:ahLst/>
                <a:cxnLst/>
                <a:rect l="l" t="t" r="r" b="b"/>
                <a:pathLst>
                  <a:path w="19050" h="38100">
                    <a:moveTo>
                      <a:pt x="19050" y="38100"/>
                    </a:moveTo>
                    <a:lnTo>
                      <a:pt x="0" y="19050"/>
                    </a:lnTo>
                    <a:lnTo>
                      <a:pt x="19050" y="0"/>
                    </a:lnTo>
                  </a:path>
                </a:pathLst>
              </a:custGeom>
              <a:noFill/>
              <a:ln w="12700">
                <a:solidFill>
                  <a:srgbClr val="76200F"/>
                </a:solidFill>
              </a:ln>
            </p:spPr>
          </p:sp>
          <p:sp>
            <p:nvSpPr>
              <p:cNvPr id="164" name="Freeform 164"/>
              <p:cNvSpPr/>
              <p:nvPr/>
            </p:nvSpPr>
            <p:spPr>
              <a:xfrm>
                <a:off x="6457950" y="3136900"/>
                <a:ext cx="114300" cy="9525"/>
              </a:xfrm>
              <a:custGeom>
                <a:avLst/>
                <a:gdLst/>
                <a:ahLst/>
                <a:cxnLst/>
                <a:rect l="l" t="t" r="r" b="b"/>
                <a:pathLst>
                  <a:path w="114300" h="9525">
                    <a:moveTo>
                      <a:pt x="0" y="0"/>
                    </a:moveTo>
                    <a:lnTo>
                      <a:pt x="114300" y="0"/>
                    </a:lnTo>
                  </a:path>
                </a:pathLst>
              </a:custGeom>
              <a:noFill/>
              <a:ln w="12700">
                <a:solidFill>
                  <a:srgbClr val="76200F"/>
                </a:solidFill>
              </a:ln>
            </p:spPr>
          </p:sp>
        </p:grpSp>
        <p:sp>
          <p:nvSpPr>
            <p:cNvPr id="166" name="TextBox 166"/>
            <p:cNvSpPr txBox="1"/>
            <p:nvPr/>
          </p:nvSpPr>
          <p:spPr>
            <a:xfrm>
              <a:off x="6662738" y="3071812"/>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资源互换</a:t>
              </a:r>
            </a:p>
          </p:txBody>
        </p:sp>
        <p:sp>
          <p:nvSpPr>
            <p:cNvPr id="167" name="TextBox 167"/>
            <p:cNvSpPr txBox="1"/>
            <p:nvPr/>
          </p:nvSpPr>
          <p:spPr>
            <a:xfrm>
              <a:off x="6434138" y="327302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适用场景</a:t>
              </a:r>
            </a:p>
          </p:txBody>
        </p:sp>
        <p:sp>
          <p:nvSpPr>
            <p:cNvPr id="168" name="TextBox 168"/>
            <p:cNvSpPr txBox="1"/>
            <p:nvPr/>
          </p:nvSpPr>
          <p:spPr>
            <a:xfrm>
              <a:off x="6434138" y="3387328"/>
              <a:ext cx="693801"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双方提供各自资源​</a:t>
              </a:r>
            </a:p>
            <a:p>
              <a:pPr algn="l" marL="76200" indent="-76200">
                <a:lnSpc>
                  <a:spcPts val="750"/>
                </a:lnSpc>
                <a:buClr>
                  <a:srgbClr val="514340"/>
                </a:buClr>
                <a:buSzTx/>
                <a:buFontTx/>
                <a:buChar char="•"/>
              </a:pPr>
              <a:r>
                <a:rPr lang="zh-CN" sz="560" dirty="0">
                  <a:solidFill>
                    <a:srgbClr val="514340"/>
                  </a:solidFill>
                  <a:latin typeface="+mn-lt"/>
                  <a:ea typeface="+mn-ea"/>
                  <a:cs typeface="+mn-cs"/>
                </a:rPr>
                <a:t>活动曝光共享​</a:t>
              </a:r>
            </a:p>
            <a:p>
              <a:pPr algn="l" marL="76200" indent="-76200">
                <a:lnSpc>
                  <a:spcPts val="750"/>
                </a:lnSpc>
                <a:buClr>
                  <a:srgbClr val="514340"/>
                </a:buClr>
                <a:buSzTx/>
                <a:buFontTx/>
                <a:buChar char="•"/>
              </a:pPr>
              <a:r>
                <a:rPr lang="zh-CN" sz="560" dirty="0">
                  <a:solidFill>
                    <a:srgbClr val="514340"/>
                  </a:solidFill>
                  <a:latin typeface="+mn-lt"/>
                  <a:ea typeface="+mn-ea"/>
                  <a:cs typeface="+mn-cs"/>
                </a:rPr>
                <a:t>低成本快速落地​</a:t>
              </a:r>
            </a:p>
          </p:txBody>
        </p:sp>
        <p:sp>
          <p:nvSpPr>
            <p:cNvPr id="169" name="Rectangle 169"/>
            <p:cNvSpPr/>
            <p:nvPr/>
          </p:nvSpPr>
          <p:spPr>
            <a:xfrm>
              <a:off x="7448550" y="2952750"/>
              <a:ext cx="1047750" cy="1352550"/>
            </a:xfrm>
            <a:prstGeom prst="roundRect">
              <a:avLst>
                <a:gd name="adj" fmla="val 7273"/>
              </a:avLst>
            </a:prstGeom>
            <a:solidFill>
              <a:srgbClr val="FFFFFF"/>
            </a:solidFill>
            <a:ln w="9525">
              <a:solidFill>
                <a:srgbClr val="C2E0DA"/>
              </a:solidFill>
            </a:ln>
          </p:spPr>
        </p:sp>
        <p:grpSp>
          <p:nvGrpSpPr>
            <p:cNvPr id="175" name="Group 175"/>
            <p:cNvGrpSpPr/>
            <p:nvPr/>
          </p:nvGrpSpPr>
          <p:grpSpPr>
            <a:xfrm>
              <a:off x="7581900" y="3047149"/>
              <a:ext cx="114300" cy="115151"/>
              <a:chOff x="7581900" y="3047149"/>
              <a:chExt cx="114300" cy="115151"/>
            </a:xfrm>
          </p:grpSpPr>
          <p:sp>
            <p:nvSpPr>
              <p:cNvPr id="170" name="Freeform 170"/>
              <p:cNvSpPr/>
              <p:nvPr/>
            </p:nvSpPr>
            <p:spPr>
              <a:xfrm>
                <a:off x="7620000" y="30988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76200F"/>
                </a:solidFill>
              </a:ln>
            </p:spPr>
          </p:sp>
          <p:sp>
            <p:nvSpPr>
              <p:cNvPr id="171" name="Freeform 171"/>
              <p:cNvSpPr/>
              <p:nvPr/>
            </p:nvSpPr>
            <p:spPr>
              <a:xfrm>
                <a:off x="7620000" y="31178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76200F"/>
                </a:solidFill>
              </a:ln>
            </p:spPr>
          </p:sp>
          <p:sp>
            <p:nvSpPr>
              <p:cNvPr id="172" name="Freeform 172"/>
              <p:cNvSpPr/>
              <p:nvPr/>
            </p:nvSpPr>
            <p:spPr>
              <a:xfrm>
                <a:off x="7581900" y="30471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76200F"/>
                </a:solidFill>
              </a:ln>
            </p:spPr>
          </p:sp>
          <p:sp>
            <p:nvSpPr>
              <p:cNvPr id="173" name="Freeform 173"/>
              <p:cNvSpPr/>
              <p:nvPr/>
            </p:nvSpPr>
            <p:spPr>
              <a:xfrm>
                <a:off x="7581900" y="30670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76200F"/>
                </a:solidFill>
              </a:ln>
            </p:spPr>
          </p:sp>
          <p:sp>
            <p:nvSpPr>
              <p:cNvPr id="174" name="Freeform 174"/>
              <p:cNvSpPr/>
              <p:nvPr/>
            </p:nvSpPr>
            <p:spPr>
              <a:xfrm>
                <a:off x="7581900" y="30988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76200F"/>
                </a:solidFill>
              </a:ln>
            </p:spPr>
          </p:sp>
        </p:grpSp>
        <p:sp>
          <p:nvSpPr>
            <p:cNvPr id="176" name="TextBox 176"/>
            <p:cNvSpPr txBox="1"/>
            <p:nvPr/>
          </p:nvSpPr>
          <p:spPr>
            <a:xfrm>
              <a:off x="7786688" y="3071812"/>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联合补贴</a:t>
              </a:r>
            </a:p>
          </p:txBody>
        </p:sp>
        <p:sp>
          <p:nvSpPr>
            <p:cNvPr id="177" name="TextBox 177"/>
            <p:cNvSpPr txBox="1"/>
            <p:nvPr/>
          </p:nvSpPr>
          <p:spPr>
            <a:xfrm>
              <a:off x="7558088" y="327302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适用场景</a:t>
              </a:r>
            </a:p>
          </p:txBody>
        </p:sp>
        <p:sp>
          <p:nvSpPr>
            <p:cNvPr id="178" name="TextBox 178"/>
            <p:cNvSpPr txBox="1"/>
            <p:nvPr/>
          </p:nvSpPr>
          <p:spPr>
            <a:xfrm>
              <a:off x="7558088" y="3387328"/>
              <a:ext cx="551561"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共同投入补贴​</a:t>
              </a:r>
            </a:p>
            <a:p>
              <a:pPr algn="l" marL="76200" indent="-76200">
                <a:lnSpc>
                  <a:spcPts val="750"/>
                </a:lnSpc>
                <a:buClr>
                  <a:srgbClr val="514340"/>
                </a:buClr>
                <a:buSzTx/>
                <a:buFontTx/>
                <a:buChar char="•"/>
              </a:pPr>
              <a:r>
                <a:rPr lang="zh-CN" sz="560" dirty="0">
                  <a:solidFill>
                    <a:srgbClr val="514340"/>
                  </a:solidFill>
                  <a:latin typeface="+mn-lt"/>
                  <a:ea typeface="+mn-ea"/>
                  <a:cs typeface="+mn-cs"/>
                </a:rPr>
                <a:t>消费促进活动​</a:t>
              </a:r>
            </a:p>
            <a:p>
              <a:pPr algn="l" marL="76200" indent="-76200">
                <a:lnSpc>
                  <a:spcPts val="750"/>
                </a:lnSpc>
                <a:buClr>
                  <a:srgbClr val="514340"/>
                </a:buClr>
                <a:buSzTx/>
                <a:buFontTx/>
                <a:buChar char="•"/>
              </a:pPr>
              <a:r>
                <a:rPr lang="zh-CN" sz="560" dirty="0">
                  <a:solidFill>
                    <a:srgbClr val="514340"/>
                  </a:solidFill>
                  <a:latin typeface="+mn-lt"/>
                  <a:ea typeface="+mn-ea"/>
                  <a:cs typeface="+mn-cs"/>
                </a:rPr>
                <a:t>重点产品推广​</a:t>
              </a:r>
            </a:p>
          </p:txBody>
        </p:sp>
        <p:sp>
          <p:nvSpPr>
            <p:cNvPr id="179" name="Rectangle 179"/>
            <p:cNvSpPr/>
            <p:nvPr/>
          </p:nvSpPr>
          <p:spPr>
            <a:xfrm>
              <a:off x="8572500" y="2952750"/>
              <a:ext cx="1047750" cy="1352550"/>
            </a:xfrm>
            <a:prstGeom prst="roundRect">
              <a:avLst>
                <a:gd name="adj" fmla="val 7273"/>
              </a:avLst>
            </a:prstGeom>
            <a:solidFill>
              <a:srgbClr val="FFFFFF"/>
            </a:solidFill>
            <a:ln w="9525">
              <a:solidFill>
                <a:srgbClr val="C2E0DA"/>
              </a:solidFill>
            </a:ln>
          </p:spPr>
        </p:sp>
        <p:grpSp>
          <p:nvGrpSpPr>
            <p:cNvPr id="182" name="Group 182"/>
            <p:cNvGrpSpPr/>
            <p:nvPr/>
          </p:nvGrpSpPr>
          <p:grpSpPr>
            <a:xfrm>
              <a:off x="8712200" y="3067050"/>
              <a:ext cx="101600" cy="92075"/>
              <a:chOff x="8712200" y="3067050"/>
              <a:chExt cx="101600" cy="92075"/>
            </a:xfrm>
          </p:grpSpPr>
          <p:sp>
            <p:nvSpPr>
              <p:cNvPr id="180" name="Freeform 180"/>
              <p:cNvSpPr/>
              <p:nvPr/>
            </p:nvSpPr>
            <p:spPr>
              <a:xfrm>
                <a:off x="8712200" y="3149600"/>
                <a:ext cx="101600" cy="9525"/>
              </a:xfrm>
              <a:custGeom>
                <a:avLst/>
                <a:gdLst/>
                <a:ahLst/>
                <a:cxnLst/>
                <a:rect l="l" t="t" r="r" b="b"/>
                <a:pathLst>
                  <a:path w="101600" h="9525">
                    <a:moveTo>
                      <a:pt x="0" y="0"/>
                    </a:moveTo>
                    <a:lnTo>
                      <a:pt x="101600" y="0"/>
                    </a:lnTo>
                  </a:path>
                </a:pathLst>
              </a:custGeom>
              <a:noFill/>
              <a:ln w="12700">
                <a:solidFill>
                  <a:srgbClr val="76200F"/>
                </a:solidFill>
              </a:ln>
            </p:spPr>
          </p:sp>
          <p:sp>
            <p:nvSpPr>
              <p:cNvPr id="181" name="Freeform 181"/>
              <p:cNvSpPr/>
              <p:nvPr/>
            </p:nvSpPr>
            <p:spPr>
              <a:xfrm>
                <a:off x="8712200" y="306705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76200F"/>
                </a:solidFill>
              </a:ln>
            </p:spPr>
          </p:sp>
        </p:grpSp>
        <p:sp>
          <p:nvSpPr>
            <p:cNvPr id="183" name="TextBox 183"/>
            <p:cNvSpPr txBox="1"/>
            <p:nvPr/>
          </p:nvSpPr>
          <p:spPr>
            <a:xfrm>
              <a:off x="8910638" y="3071812"/>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交易分成</a:t>
              </a:r>
            </a:p>
          </p:txBody>
        </p:sp>
        <p:sp>
          <p:nvSpPr>
            <p:cNvPr id="184" name="TextBox 184"/>
            <p:cNvSpPr txBox="1"/>
            <p:nvPr/>
          </p:nvSpPr>
          <p:spPr>
            <a:xfrm>
              <a:off x="8682038" y="327302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适用场景</a:t>
              </a:r>
            </a:p>
          </p:txBody>
        </p:sp>
        <p:sp>
          <p:nvSpPr>
            <p:cNvPr id="185" name="TextBox 185"/>
            <p:cNvSpPr txBox="1"/>
            <p:nvPr/>
          </p:nvSpPr>
          <p:spPr>
            <a:xfrm>
              <a:off x="8682038" y="3387328"/>
              <a:ext cx="661797"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按交易/贡献分成​</a:t>
              </a:r>
            </a:p>
            <a:p>
              <a:pPr algn="l" marL="76200" indent="-76200">
                <a:lnSpc>
                  <a:spcPts val="750"/>
                </a:lnSpc>
                <a:buClr>
                  <a:srgbClr val="514340"/>
                </a:buClr>
                <a:buSzTx/>
                <a:buFontTx/>
                <a:buChar char="•"/>
              </a:pPr>
              <a:r>
                <a:rPr lang="zh-CN" sz="560" dirty="0">
                  <a:solidFill>
                    <a:srgbClr val="514340"/>
                  </a:solidFill>
                  <a:latin typeface="+mn-lt"/>
                  <a:ea typeface="+mn-ea"/>
                  <a:cs typeface="+mn-cs"/>
                </a:rPr>
                <a:t>高频消费场景​</a:t>
              </a:r>
            </a:p>
            <a:p>
              <a:pPr algn="l" marL="76200" indent="-76200">
                <a:lnSpc>
                  <a:spcPts val="750"/>
                </a:lnSpc>
                <a:buClr>
                  <a:srgbClr val="514340"/>
                </a:buClr>
                <a:buSzTx/>
                <a:buFontTx/>
                <a:buChar char="•"/>
              </a:pPr>
              <a:r>
                <a:rPr lang="zh-CN" sz="560" dirty="0">
                  <a:solidFill>
                    <a:srgbClr val="514340"/>
                  </a:solidFill>
                  <a:latin typeface="+mn-lt"/>
                  <a:ea typeface="+mn-ea"/>
                  <a:cs typeface="+mn-cs"/>
                </a:rPr>
                <a:t>可量化效果合作​</a:t>
              </a:r>
            </a:p>
          </p:txBody>
        </p:sp>
        <p:sp>
          <p:nvSpPr>
            <p:cNvPr id="186" name="Rectangle 186"/>
            <p:cNvSpPr/>
            <p:nvPr/>
          </p:nvSpPr>
          <p:spPr>
            <a:xfrm>
              <a:off x="9696450" y="2952750"/>
              <a:ext cx="1047750" cy="1352550"/>
            </a:xfrm>
            <a:prstGeom prst="roundRect">
              <a:avLst>
                <a:gd name="adj" fmla="val 7273"/>
              </a:avLst>
            </a:prstGeom>
            <a:solidFill>
              <a:srgbClr val="FFFFFF"/>
            </a:solidFill>
            <a:ln w="9525">
              <a:solidFill>
                <a:srgbClr val="C2E0DA"/>
              </a:solidFill>
            </a:ln>
          </p:spPr>
        </p:sp>
        <p:grpSp>
          <p:nvGrpSpPr>
            <p:cNvPr id="193" name="Group 193"/>
            <p:cNvGrpSpPr/>
            <p:nvPr/>
          </p:nvGrpSpPr>
          <p:grpSpPr>
            <a:xfrm>
              <a:off x="9829800" y="3048000"/>
              <a:ext cx="114300" cy="114300"/>
              <a:chOff x="9829800" y="3048000"/>
              <a:chExt cx="114300" cy="114300"/>
            </a:xfrm>
          </p:grpSpPr>
          <p:sp>
            <p:nvSpPr>
              <p:cNvPr id="187" name="Freeform 187"/>
              <p:cNvSpPr/>
              <p:nvPr/>
            </p:nvSpPr>
            <p:spPr>
              <a:xfrm>
                <a:off x="9874250" y="30988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188" name="Freeform 188"/>
              <p:cNvSpPr/>
              <p:nvPr/>
            </p:nvSpPr>
            <p:spPr>
              <a:xfrm>
                <a:off x="9861550" y="31432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76200F"/>
                </a:solidFill>
              </a:ln>
            </p:spPr>
          </p:sp>
          <p:sp>
            <p:nvSpPr>
              <p:cNvPr id="189" name="Freeform 189"/>
              <p:cNvSpPr/>
              <p:nvPr/>
            </p:nvSpPr>
            <p:spPr>
              <a:xfrm>
                <a:off x="9906000" y="30480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190" name="Freeform 190"/>
              <p:cNvSpPr/>
              <p:nvPr/>
            </p:nvSpPr>
            <p:spPr>
              <a:xfrm>
                <a:off x="9918700" y="30924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76200F"/>
                </a:solidFill>
              </a:ln>
            </p:spPr>
          </p:sp>
          <p:sp>
            <p:nvSpPr>
              <p:cNvPr id="191" name="Freeform 191"/>
              <p:cNvSpPr/>
              <p:nvPr/>
            </p:nvSpPr>
            <p:spPr>
              <a:xfrm>
                <a:off x="9842500" y="30480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192" name="Freeform 192"/>
              <p:cNvSpPr/>
              <p:nvPr/>
            </p:nvSpPr>
            <p:spPr>
              <a:xfrm>
                <a:off x="9829800" y="30924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76200F"/>
                </a:solidFill>
              </a:ln>
            </p:spPr>
          </p:sp>
        </p:grpSp>
        <p:sp>
          <p:nvSpPr>
            <p:cNvPr id="194" name="TextBox 194"/>
            <p:cNvSpPr txBox="1"/>
            <p:nvPr/>
          </p:nvSpPr>
          <p:spPr>
            <a:xfrm>
              <a:off x="10034588" y="3071812"/>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会员互通</a:t>
              </a:r>
            </a:p>
          </p:txBody>
        </p:sp>
        <p:sp>
          <p:nvSpPr>
            <p:cNvPr id="195" name="TextBox 195"/>
            <p:cNvSpPr txBox="1"/>
            <p:nvPr/>
          </p:nvSpPr>
          <p:spPr>
            <a:xfrm>
              <a:off x="9805988" y="327302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适用场景</a:t>
              </a:r>
            </a:p>
          </p:txBody>
        </p:sp>
        <p:sp>
          <p:nvSpPr>
            <p:cNvPr id="196" name="TextBox 196"/>
            <p:cNvSpPr txBox="1"/>
            <p:nvPr/>
          </p:nvSpPr>
          <p:spPr>
            <a:xfrm>
              <a:off x="9805988" y="3387328"/>
              <a:ext cx="551561"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打通会员体系​</a:t>
              </a:r>
            </a:p>
            <a:p>
              <a:pPr algn="l" marL="76200" indent="-76200">
                <a:lnSpc>
                  <a:spcPts val="750"/>
                </a:lnSpc>
                <a:buClr>
                  <a:srgbClr val="514340"/>
                </a:buClr>
                <a:buSzTx/>
                <a:buFontTx/>
                <a:buChar char="•"/>
              </a:pPr>
              <a:r>
                <a:rPr lang="zh-CN" sz="560" dirty="0">
                  <a:solidFill>
                    <a:srgbClr val="514340"/>
                  </a:solidFill>
                  <a:latin typeface="+mn-lt"/>
                  <a:ea typeface="+mn-ea"/>
                  <a:cs typeface="+mn-cs"/>
                </a:rPr>
                <a:t>商圈会员平台​</a:t>
              </a:r>
            </a:p>
            <a:p>
              <a:pPr algn="l" marL="76200" indent="-76200">
                <a:lnSpc>
                  <a:spcPts val="750"/>
                </a:lnSpc>
                <a:buClr>
                  <a:srgbClr val="514340"/>
                </a:buClr>
                <a:buSzTx/>
                <a:buFontTx/>
                <a:buChar char="•"/>
              </a:pPr>
              <a:r>
                <a:rPr lang="zh-CN" sz="560" dirty="0">
                  <a:solidFill>
                    <a:srgbClr val="514340"/>
                  </a:solidFill>
                  <a:latin typeface="+mn-lt"/>
                  <a:ea typeface="+mn-ea"/>
                  <a:cs typeface="+mn-cs"/>
                </a:rPr>
                <a:t>长期客户运营​</a:t>
              </a:r>
            </a:p>
          </p:txBody>
        </p:sp>
        <p:sp>
          <p:nvSpPr>
            <p:cNvPr id="197" name="Rectangle 197"/>
            <p:cNvSpPr/>
            <p:nvPr/>
          </p:nvSpPr>
          <p:spPr>
            <a:xfrm>
              <a:off x="10820400" y="2952750"/>
              <a:ext cx="1009650" cy="1352550"/>
            </a:xfrm>
            <a:prstGeom prst="roundRect">
              <a:avLst>
                <a:gd name="adj" fmla="val 7547"/>
              </a:avLst>
            </a:prstGeom>
            <a:solidFill>
              <a:srgbClr val="FFFFFF"/>
            </a:solidFill>
            <a:ln w="9525">
              <a:solidFill>
                <a:srgbClr val="C2E0DA"/>
              </a:solidFill>
            </a:ln>
          </p:spPr>
        </p:sp>
        <p:grpSp>
          <p:nvGrpSpPr>
            <p:cNvPr id="203" name="Group 203"/>
            <p:cNvGrpSpPr/>
            <p:nvPr/>
          </p:nvGrpSpPr>
          <p:grpSpPr>
            <a:xfrm>
              <a:off x="10953750" y="3048000"/>
              <a:ext cx="114300" cy="114300"/>
              <a:chOff x="10953750" y="3048000"/>
              <a:chExt cx="114300" cy="114300"/>
            </a:xfrm>
          </p:grpSpPr>
          <p:sp>
            <p:nvSpPr>
              <p:cNvPr id="198" name="Freeform 198"/>
              <p:cNvSpPr/>
              <p:nvPr/>
            </p:nvSpPr>
            <p:spPr>
              <a:xfrm>
                <a:off x="10953750" y="312420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76200F"/>
                </a:solidFill>
              </a:ln>
            </p:spPr>
          </p:sp>
          <p:sp>
            <p:nvSpPr>
              <p:cNvPr id="199" name="Freeform 199"/>
              <p:cNvSpPr/>
              <p:nvPr/>
            </p:nvSpPr>
            <p:spPr>
              <a:xfrm>
                <a:off x="11029950" y="312420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76200F"/>
                </a:solidFill>
              </a:ln>
            </p:spPr>
          </p:sp>
          <p:sp>
            <p:nvSpPr>
              <p:cNvPr id="200" name="Freeform 200"/>
              <p:cNvSpPr/>
              <p:nvPr/>
            </p:nvSpPr>
            <p:spPr>
              <a:xfrm>
                <a:off x="10991850" y="304800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76200F"/>
                </a:solidFill>
              </a:ln>
            </p:spPr>
          </p:sp>
          <p:sp>
            <p:nvSpPr>
              <p:cNvPr id="201" name="Freeform 201"/>
              <p:cNvSpPr/>
              <p:nvPr/>
            </p:nvSpPr>
            <p:spPr>
              <a:xfrm>
                <a:off x="10972800" y="3105150"/>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76200F"/>
                </a:solidFill>
              </a:ln>
            </p:spPr>
          </p:sp>
          <p:sp>
            <p:nvSpPr>
              <p:cNvPr id="202" name="Freeform 202"/>
              <p:cNvSpPr/>
              <p:nvPr/>
            </p:nvSpPr>
            <p:spPr>
              <a:xfrm>
                <a:off x="11010900" y="3086100"/>
                <a:ext cx="9525" cy="19050"/>
              </a:xfrm>
              <a:custGeom>
                <a:avLst/>
                <a:gdLst/>
                <a:ahLst/>
                <a:cxnLst/>
                <a:rect l="l" t="t" r="r" b="b"/>
                <a:pathLst>
                  <a:path w="9525" h="19050">
                    <a:moveTo>
                      <a:pt x="0" y="0"/>
                    </a:moveTo>
                    <a:lnTo>
                      <a:pt x="0" y="19050"/>
                    </a:lnTo>
                  </a:path>
                </a:pathLst>
              </a:custGeom>
              <a:noFill/>
              <a:ln w="12700">
                <a:solidFill>
                  <a:srgbClr val="76200F"/>
                </a:solidFill>
              </a:ln>
            </p:spPr>
          </p:sp>
        </p:grpSp>
        <p:sp>
          <p:nvSpPr>
            <p:cNvPr id="204" name="TextBox 204"/>
            <p:cNvSpPr txBox="1"/>
            <p:nvPr/>
          </p:nvSpPr>
          <p:spPr>
            <a:xfrm>
              <a:off x="11158538" y="3071812"/>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平台共建</a:t>
              </a:r>
            </a:p>
          </p:txBody>
        </p:sp>
        <p:sp>
          <p:nvSpPr>
            <p:cNvPr id="205" name="TextBox 205"/>
            <p:cNvSpPr txBox="1"/>
            <p:nvPr/>
          </p:nvSpPr>
          <p:spPr>
            <a:xfrm>
              <a:off x="10929938" y="3273028"/>
              <a:ext cx="311074"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适用场景</a:t>
              </a:r>
            </a:p>
          </p:txBody>
        </p:sp>
        <p:sp>
          <p:nvSpPr>
            <p:cNvPr id="206" name="TextBox 206"/>
            <p:cNvSpPr txBox="1"/>
            <p:nvPr/>
          </p:nvSpPr>
          <p:spPr>
            <a:xfrm>
              <a:off x="10929938" y="3387328"/>
              <a:ext cx="551561"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联合场景平台​</a:t>
              </a:r>
            </a:p>
            <a:p>
              <a:pPr algn="l" marL="76200" indent="-76200">
                <a:lnSpc>
                  <a:spcPts val="750"/>
                </a:lnSpc>
                <a:buClr>
                  <a:srgbClr val="514340"/>
                </a:buClr>
                <a:buSzTx/>
                <a:buFontTx/>
                <a:buChar char="•"/>
              </a:pPr>
              <a:r>
                <a:rPr lang="zh-CN" sz="560" dirty="0">
                  <a:solidFill>
                    <a:srgbClr val="514340"/>
                  </a:solidFill>
                  <a:latin typeface="+mn-lt"/>
                  <a:ea typeface="+mn-ea"/>
                  <a:cs typeface="+mn-cs"/>
                </a:rPr>
                <a:t>生态圈建设​</a:t>
              </a:r>
            </a:p>
            <a:p>
              <a:pPr algn="l" marL="76200" indent="-76200">
                <a:lnSpc>
                  <a:spcPts val="750"/>
                </a:lnSpc>
                <a:buClr>
                  <a:srgbClr val="514340"/>
                </a:buClr>
                <a:buSzTx/>
                <a:buFontTx/>
                <a:buChar char="•"/>
              </a:pPr>
              <a:r>
                <a:rPr lang="zh-CN" sz="560" dirty="0">
                  <a:solidFill>
                    <a:srgbClr val="514340"/>
                  </a:solidFill>
                  <a:latin typeface="+mn-lt"/>
                  <a:ea typeface="+mn-ea"/>
                  <a:cs typeface="+mn-cs"/>
                </a:rPr>
                <a:t>长期价值创造​</a:t>
              </a:r>
            </a:p>
          </p:txBody>
        </p:sp>
      </p:grpSp>
      <p:grpSp>
        <p:nvGrpSpPr>
          <p:cNvPr id="248" name="clause-flow"/>
          <p:cNvGrpSpPr/>
          <p:nvPr/>
        </p:nvGrpSpPr>
        <p:grpSpPr>
          <a:xfrm>
            <a:off x="337947" y="4438650"/>
            <a:ext cx="11434953" cy="1752600"/>
            <a:chOff x="337947" y="4438650"/>
            <a:chExt cx="11434953" cy="1752600"/>
          </a:xfrm>
        </p:grpSpPr>
        <p:sp>
          <p:nvSpPr>
            <p:cNvPr id="208" name="Rectangle 208"/>
            <p:cNvSpPr/>
            <p:nvPr/>
          </p:nvSpPr>
          <p:spPr>
            <a:xfrm>
              <a:off x="342900" y="4438650"/>
              <a:ext cx="2095500" cy="133350"/>
            </a:xfrm>
            <a:prstGeom prst="rect">
              <a:avLst/>
            </a:prstGeom>
            <a:noFill/>
            <a:ln>
              <a:noFill/>
            </a:ln>
          </p:spPr>
        </p:sp>
        <p:sp>
          <p:nvSpPr>
            <p:cNvPr id="209" name="TextBox 209"/>
            <p:cNvSpPr txBox="1"/>
            <p:nvPr/>
          </p:nvSpPr>
          <p:spPr>
            <a:xfrm>
              <a:off x="337947" y="4447699"/>
              <a:ext cx="1329182" cy="190690"/>
            </a:xfrm>
            <a:prstGeom prst="rect">
              <a:avLst/>
            </a:prstGeom>
            <a:noFill/>
            <a:ln>
              <a:noFill/>
            </a:ln>
          </p:spPr>
          <p:txBody>
            <a:bodyPr wrap="none" lIns="0" tIns="0" rIns="0" bIns="0" anchor="t" anchorCtr="0">
              <a:spAutoFit/>
            </a:bodyPr>
            <a:lstStyle/>
            <a:p>
              <a:pPr algn="l"/>
              <a:r>
                <a:rPr lang="zh-CN" sz="980" b="1" dirty="0">
                  <a:solidFill>
                    <a:srgbClr val="331712"/>
                  </a:solidFill>
                  <a:latin typeface="+mn-lt"/>
                  <a:ea typeface="+mn-ea"/>
                  <a:cs typeface="+mn-cs"/>
                </a:rPr>
                <a:t>合作协议关键条款清单</a:t>
              </a:r>
            </a:p>
          </p:txBody>
        </p:sp>
        <p:sp>
          <p:nvSpPr>
            <p:cNvPr id="210" name="Freeform 210"/>
            <p:cNvSpPr/>
            <p:nvPr/>
          </p:nvSpPr>
          <p:spPr>
            <a:xfrm>
              <a:off x="342900" y="4629150"/>
              <a:ext cx="2209800" cy="285750"/>
            </a:xfrm>
            <a:prstGeom prst="chevron">
              <a:avLst/>
            </a:prstGeom>
            <a:solidFill>
              <a:srgbClr val="5D190B"/>
            </a:solidFill>
            <a:ln>
              <a:noFill/>
            </a:ln>
          </p:spPr>
        </p:sp>
        <p:sp>
          <p:nvSpPr>
            <p:cNvPr id="211" name="TextBox 211"/>
            <p:cNvSpPr txBox="1"/>
            <p:nvPr/>
          </p:nvSpPr>
          <p:spPr>
            <a:xfrm>
              <a:off x="1147351" y="4730591"/>
              <a:ext cx="67709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01 权责结算​</a:t>
              </a:r>
            </a:p>
          </p:txBody>
        </p:sp>
        <p:sp>
          <p:nvSpPr>
            <p:cNvPr id="212" name="Rectangle 212"/>
            <p:cNvSpPr/>
            <p:nvPr/>
          </p:nvSpPr>
          <p:spPr>
            <a:xfrm>
              <a:off x="342900" y="4953000"/>
              <a:ext cx="2209800" cy="1238250"/>
            </a:xfrm>
            <a:prstGeom prst="rect">
              <a:avLst/>
            </a:prstGeom>
            <a:solidFill>
              <a:srgbClr val="F0FAF8"/>
            </a:solidFill>
            <a:ln>
              <a:noFill/>
            </a:ln>
          </p:spPr>
        </p:sp>
        <p:sp>
          <p:nvSpPr>
            <p:cNvPr id="213" name="TextBox 213"/>
            <p:cNvSpPr txBox="1"/>
            <p:nvPr/>
          </p:nvSpPr>
          <p:spPr>
            <a:xfrm>
              <a:off x="452438" y="5074682"/>
              <a:ext cx="699389" cy="497681"/>
            </a:xfrm>
            <a:prstGeom prst="rect">
              <a:avLst/>
            </a:prstGeom>
            <a:noFill/>
            <a:ln>
              <a:noFill/>
            </a:ln>
          </p:spPr>
          <p:txBody>
            <a:bodyPr wrap="none" lIns="0" tIns="0" rIns="0" bIns="0" anchor="t" anchorCtr="0">
              <a:spAutoFit/>
            </a:bodyPr>
            <a:lstStyle/>
            <a:p>
              <a:pPr algn="l" marL="76200" indent="-76200">
                <a:lnSpc>
                  <a:spcPts val="975"/>
                </a:lnSpc>
                <a:buClr>
                  <a:srgbClr val="514340"/>
                </a:buClr>
                <a:buSzTx/>
                <a:buFontTx/>
                <a:buChar char="•"/>
              </a:pPr>
              <a:r>
                <a:rPr lang="zh-CN" sz="640" dirty="0">
                  <a:solidFill>
                    <a:srgbClr val="514340"/>
                  </a:solidFill>
                  <a:latin typeface="+mn-lt"/>
                  <a:ea typeface="+mn-ea"/>
                  <a:cs typeface="+mn-cs"/>
                </a:rPr>
                <a:t>权益内容与标准​</a:t>
              </a:r>
            </a:p>
            <a:p>
              <a:pPr algn="l" marL="76200" indent="-76200">
                <a:lnSpc>
                  <a:spcPts val="975"/>
                </a:lnSpc>
                <a:buClr>
                  <a:srgbClr val="514340"/>
                </a:buClr>
                <a:buSzTx/>
                <a:buFontTx/>
                <a:buChar char="•"/>
              </a:pPr>
              <a:r>
                <a:rPr lang="zh-CN" sz="640" dirty="0">
                  <a:solidFill>
                    <a:srgbClr val="514340"/>
                  </a:solidFill>
                  <a:latin typeface="+mn-lt"/>
                  <a:ea typeface="+mn-ea"/>
                  <a:cs typeface="+mn-cs"/>
                </a:rPr>
                <a:t>结算周期与方式​</a:t>
              </a:r>
            </a:p>
            <a:p>
              <a:pPr algn="l" marL="76200" indent="-76200">
                <a:lnSpc>
                  <a:spcPts val="975"/>
                </a:lnSpc>
                <a:buClr>
                  <a:srgbClr val="514340"/>
                </a:buClr>
                <a:buSzTx/>
                <a:buFontTx/>
                <a:buChar char="•"/>
              </a:pPr>
              <a:r>
                <a:rPr lang="zh-CN" sz="640" dirty="0">
                  <a:solidFill>
                    <a:srgbClr val="514340"/>
                  </a:solidFill>
                  <a:latin typeface="+mn-lt"/>
                  <a:ea typeface="+mn-ea"/>
                  <a:cs typeface="+mn-cs"/>
                </a:rPr>
                <a:t>对账机制​</a:t>
              </a:r>
            </a:p>
            <a:p>
              <a:pPr algn="l" marL="76200" indent="-76200">
                <a:lnSpc>
                  <a:spcPts val="975"/>
                </a:lnSpc>
                <a:buClr>
                  <a:srgbClr val="514340"/>
                </a:buClr>
                <a:buSzTx/>
                <a:buFontTx/>
                <a:buChar char="•"/>
              </a:pPr>
              <a:r>
                <a:rPr lang="zh-CN" sz="640" dirty="0">
                  <a:solidFill>
                    <a:srgbClr val="514340"/>
                  </a:solidFill>
                  <a:latin typeface="+mn-lt"/>
                  <a:ea typeface="+mn-ea"/>
                  <a:cs typeface="+mn-cs"/>
                </a:rPr>
                <a:t>发票与税务处理​</a:t>
              </a:r>
            </a:p>
          </p:txBody>
        </p:sp>
        <p:grpSp>
          <p:nvGrpSpPr>
            <p:cNvPr id="220" name="Group 220"/>
            <p:cNvGrpSpPr/>
            <p:nvPr/>
          </p:nvGrpSpPr>
          <p:grpSpPr>
            <a:xfrm>
              <a:off x="2202259" y="5087541"/>
              <a:ext cx="144066" cy="127397"/>
              <a:chOff x="2202259" y="5087541"/>
              <a:chExt cx="144066" cy="127397"/>
            </a:xfrm>
          </p:grpSpPr>
          <p:sp>
            <p:nvSpPr>
              <p:cNvPr id="214" name="Freeform 214"/>
              <p:cNvSpPr/>
              <p:nvPr/>
            </p:nvSpPr>
            <p:spPr>
              <a:xfrm>
                <a:off x="2202259" y="5087541"/>
                <a:ext cx="34925" cy="21828"/>
              </a:xfrm>
              <a:custGeom>
                <a:avLst/>
                <a:gdLst/>
                <a:ahLst/>
                <a:cxnLst/>
                <a:rect l="l" t="t" r="r" b="b"/>
                <a:pathLst>
                  <a:path w="34925" h="21828">
                    <a:moveTo>
                      <a:pt x="0" y="8731"/>
                    </a:moveTo>
                    <a:lnTo>
                      <a:pt x="13097" y="21828"/>
                    </a:lnTo>
                    <a:lnTo>
                      <a:pt x="34925" y="0"/>
                    </a:lnTo>
                  </a:path>
                </a:pathLst>
              </a:custGeom>
              <a:noFill/>
              <a:ln w="17463">
                <a:solidFill>
                  <a:srgbClr val="A3422F"/>
                </a:solidFill>
              </a:ln>
            </p:spPr>
          </p:sp>
          <p:sp>
            <p:nvSpPr>
              <p:cNvPr id="215" name="Freeform 215"/>
              <p:cNvSpPr/>
              <p:nvPr/>
            </p:nvSpPr>
            <p:spPr>
              <a:xfrm>
                <a:off x="2202259" y="5139928"/>
                <a:ext cx="34925" cy="21828"/>
              </a:xfrm>
              <a:custGeom>
                <a:avLst/>
                <a:gdLst/>
                <a:ahLst/>
                <a:cxnLst/>
                <a:rect l="l" t="t" r="r" b="b"/>
                <a:pathLst>
                  <a:path w="34925" h="21828">
                    <a:moveTo>
                      <a:pt x="0" y="8731"/>
                    </a:moveTo>
                    <a:lnTo>
                      <a:pt x="13097" y="21828"/>
                    </a:lnTo>
                    <a:lnTo>
                      <a:pt x="34925" y="0"/>
                    </a:lnTo>
                  </a:path>
                </a:pathLst>
              </a:custGeom>
              <a:noFill/>
              <a:ln w="17463">
                <a:solidFill>
                  <a:srgbClr val="A3422F"/>
                </a:solidFill>
              </a:ln>
            </p:spPr>
          </p:sp>
          <p:sp>
            <p:nvSpPr>
              <p:cNvPr id="216" name="Freeform 216"/>
              <p:cNvSpPr/>
              <p:nvPr/>
            </p:nvSpPr>
            <p:spPr>
              <a:xfrm>
                <a:off x="2202259" y="5192316"/>
                <a:ext cx="34925" cy="21828"/>
              </a:xfrm>
              <a:custGeom>
                <a:avLst/>
                <a:gdLst/>
                <a:ahLst/>
                <a:cxnLst/>
                <a:rect l="l" t="t" r="r" b="b"/>
                <a:pathLst>
                  <a:path w="34925" h="21828">
                    <a:moveTo>
                      <a:pt x="0" y="8731"/>
                    </a:moveTo>
                    <a:lnTo>
                      <a:pt x="13097" y="21828"/>
                    </a:lnTo>
                    <a:lnTo>
                      <a:pt x="34925" y="0"/>
                    </a:lnTo>
                  </a:path>
                </a:pathLst>
              </a:custGeom>
              <a:noFill/>
              <a:ln w="17463">
                <a:solidFill>
                  <a:srgbClr val="A3422F"/>
                </a:solidFill>
              </a:ln>
            </p:spPr>
          </p:sp>
          <p:sp>
            <p:nvSpPr>
              <p:cNvPr id="217" name="Freeform 217"/>
              <p:cNvSpPr/>
              <p:nvPr/>
            </p:nvSpPr>
            <p:spPr>
              <a:xfrm>
                <a:off x="2267744" y="5100638"/>
                <a:ext cx="78581" cy="9525"/>
              </a:xfrm>
              <a:custGeom>
                <a:avLst/>
                <a:gdLst/>
                <a:ahLst/>
                <a:cxnLst/>
                <a:rect l="l" t="t" r="r" b="b"/>
                <a:pathLst>
                  <a:path w="78581" h="9525">
                    <a:moveTo>
                      <a:pt x="0" y="0"/>
                    </a:moveTo>
                    <a:lnTo>
                      <a:pt x="78581" y="0"/>
                    </a:lnTo>
                  </a:path>
                </a:pathLst>
              </a:custGeom>
              <a:noFill/>
              <a:ln w="17463">
                <a:solidFill>
                  <a:srgbClr val="A3422F"/>
                </a:solidFill>
              </a:ln>
            </p:spPr>
          </p:sp>
          <p:sp>
            <p:nvSpPr>
              <p:cNvPr id="218" name="Freeform 218"/>
              <p:cNvSpPr/>
              <p:nvPr/>
            </p:nvSpPr>
            <p:spPr>
              <a:xfrm>
                <a:off x="2267744" y="5153025"/>
                <a:ext cx="78581" cy="9525"/>
              </a:xfrm>
              <a:custGeom>
                <a:avLst/>
                <a:gdLst/>
                <a:ahLst/>
                <a:cxnLst/>
                <a:rect l="l" t="t" r="r" b="b"/>
                <a:pathLst>
                  <a:path w="78581" h="9525">
                    <a:moveTo>
                      <a:pt x="0" y="0"/>
                    </a:moveTo>
                    <a:lnTo>
                      <a:pt x="78581" y="0"/>
                    </a:lnTo>
                  </a:path>
                </a:pathLst>
              </a:custGeom>
              <a:noFill/>
              <a:ln w="17463">
                <a:solidFill>
                  <a:srgbClr val="A3422F"/>
                </a:solidFill>
              </a:ln>
            </p:spPr>
          </p:sp>
          <p:sp>
            <p:nvSpPr>
              <p:cNvPr id="219" name="Freeform 219"/>
              <p:cNvSpPr/>
              <p:nvPr/>
            </p:nvSpPr>
            <p:spPr>
              <a:xfrm>
                <a:off x="2267744" y="5205413"/>
                <a:ext cx="78581" cy="9525"/>
              </a:xfrm>
              <a:custGeom>
                <a:avLst/>
                <a:gdLst/>
                <a:ahLst/>
                <a:cxnLst/>
                <a:rect l="l" t="t" r="r" b="b"/>
                <a:pathLst>
                  <a:path w="78581" h="9525">
                    <a:moveTo>
                      <a:pt x="0" y="0"/>
                    </a:moveTo>
                    <a:lnTo>
                      <a:pt x="78581" y="0"/>
                    </a:lnTo>
                  </a:path>
                </a:pathLst>
              </a:custGeom>
              <a:noFill/>
              <a:ln w="17463">
                <a:solidFill>
                  <a:srgbClr val="A3422F"/>
                </a:solidFill>
              </a:ln>
            </p:spPr>
          </p:sp>
        </p:grpSp>
        <p:sp>
          <p:nvSpPr>
            <p:cNvPr id="221" name="Freeform 221"/>
            <p:cNvSpPr/>
            <p:nvPr/>
          </p:nvSpPr>
          <p:spPr>
            <a:xfrm>
              <a:off x="2647950" y="4629150"/>
              <a:ext cx="2209800" cy="285750"/>
            </a:xfrm>
            <a:prstGeom prst="chevron">
              <a:avLst/>
            </a:prstGeom>
            <a:solidFill>
              <a:srgbClr val="852512"/>
            </a:solidFill>
            <a:ln>
              <a:noFill/>
            </a:ln>
          </p:spPr>
        </p:sp>
        <p:sp>
          <p:nvSpPr>
            <p:cNvPr id="222" name="TextBox 222"/>
            <p:cNvSpPr txBox="1"/>
            <p:nvPr/>
          </p:nvSpPr>
          <p:spPr>
            <a:xfrm>
              <a:off x="3452401" y="4730591"/>
              <a:ext cx="67709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02 数据边界​</a:t>
              </a:r>
            </a:p>
          </p:txBody>
        </p:sp>
        <p:sp>
          <p:nvSpPr>
            <p:cNvPr id="223" name="Rectangle 223"/>
            <p:cNvSpPr/>
            <p:nvPr/>
          </p:nvSpPr>
          <p:spPr>
            <a:xfrm>
              <a:off x="2647950" y="4953000"/>
              <a:ext cx="2209800" cy="1238250"/>
            </a:xfrm>
            <a:prstGeom prst="rect">
              <a:avLst/>
            </a:prstGeom>
            <a:solidFill>
              <a:srgbClr val="F0FAF8"/>
            </a:solidFill>
            <a:ln>
              <a:noFill/>
            </a:ln>
          </p:spPr>
        </p:sp>
        <p:sp>
          <p:nvSpPr>
            <p:cNvPr id="224" name="TextBox 224"/>
            <p:cNvSpPr txBox="1"/>
            <p:nvPr/>
          </p:nvSpPr>
          <p:spPr>
            <a:xfrm>
              <a:off x="2757488" y="5074682"/>
              <a:ext cx="699389" cy="497681"/>
            </a:xfrm>
            <a:prstGeom prst="rect">
              <a:avLst/>
            </a:prstGeom>
            <a:noFill/>
            <a:ln>
              <a:noFill/>
            </a:ln>
          </p:spPr>
          <p:txBody>
            <a:bodyPr wrap="none" lIns="0" tIns="0" rIns="0" bIns="0" anchor="t" anchorCtr="0">
              <a:spAutoFit/>
            </a:bodyPr>
            <a:lstStyle/>
            <a:p>
              <a:pPr algn="l" marL="76200" indent="-76200">
                <a:lnSpc>
                  <a:spcPts val="975"/>
                </a:lnSpc>
                <a:buClr>
                  <a:srgbClr val="514340"/>
                </a:buClr>
                <a:buSzTx/>
                <a:buFontTx/>
                <a:buChar char="•"/>
              </a:pPr>
              <a:r>
                <a:rPr lang="zh-CN" sz="640" dirty="0">
                  <a:solidFill>
                    <a:srgbClr val="514340"/>
                  </a:solidFill>
                  <a:latin typeface="+mn-lt"/>
                  <a:ea typeface="+mn-ea"/>
                  <a:cs typeface="+mn-cs"/>
                </a:rPr>
                <a:t>可共享数据范围​</a:t>
              </a:r>
            </a:p>
            <a:p>
              <a:pPr algn="l" marL="76200" indent="-76200">
                <a:lnSpc>
                  <a:spcPts val="975"/>
                </a:lnSpc>
                <a:buClr>
                  <a:srgbClr val="514340"/>
                </a:buClr>
                <a:buSzTx/>
                <a:buFontTx/>
                <a:buChar char="•"/>
              </a:pPr>
              <a:r>
                <a:rPr lang="zh-CN" sz="640" dirty="0">
                  <a:solidFill>
                    <a:srgbClr val="514340"/>
                  </a:solidFill>
                  <a:latin typeface="+mn-lt"/>
                  <a:ea typeface="+mn-ea"/>
                  <a:cs typeface="+mn-cs"/>
                </a:rPr>
                <a:t>数据使用目的​</a:t>
              </a:r>
            </a:p>
            <a:p>
              <a:pPr algn="l" marL="76200" indent="-76200">
                <a:lnSpc>
                  <a:spcPts val="975"/>
                </a:lnSpc>
                <a:buClr>
                  <a:srgbClr val="514340"/>
                </a:buClr>
                <a:buSzTx/>
                <a:buFontTx/>
                <a:buChar char="•"/>
              </a:pPr>
              <a:r>
                <a:rPr lang="zh-CN" sz="640" dirty="0">
                  <a:solidFill>
                    <a:srgbClr val="514340"/>
                  </a:solidFill>
                  <a:latin typeface="+mn-lt"/>
                  <a:ea typeface="+mn-ea"/>
                  <a:cs typeface="+mn-cs"/>
                </a:rPr>
                <a:t>数据安全要求​</a:t>
              </a:r>
            </a:p>
            <a:p>
              <a:pPr algn="l" marL="76200" indent="-76200">
                <a:lnSpc>
                  <a:spcPts val="975"/>
                </a:lnSpc>
                <a:buClr>
                  <a:srgbClr val="514340"/>
                </a:buClr>
                <a:buSzTx/>
                <a:buFontTx/>
                <a:buChar char="•"/>
              </a:pPr>
              <a:r>
                <a:rPr lang="zh-CN" sz="640" dirty="0">
                  <a:solidFill>
                    <a:srgbClr val="514340"/>
                  </a:solidFill>
                  <a:latin typeface="+mn-lt"/>
                  <a:ea typeface="+mn-ea"/>
                  <a:cs typeface="+mn-cs"/>
                </a:rPr>
                <a:t>数据留存与销毁​</a:t>
              </a:r>
            </a:p>
          </p:txBody>
        </p:sp>
        <p:grpSp>
          <p:nvGrpSpPr>
            <p:cNvPr id="228" name="Group 228"/>
            <p:cNvGrpSpPr/>
            <p:nvPr/>
          </p:nvGrpSpPr>
          <p:grpSpPr>
            <a:xfrm>
              <a:off x="4511675" y="5074444"/>
              <a:ext cx="139700" cy="157162"/>
              <a:chOff x="4511675" y="5074444"/>
              <a:chExt cx="139700" cy="157162"/>
            </a:xfrm>
          </p:grpSpPr>
          <p:sp>
            <p:nvSpPr>
              <p:cNvPr id="225" name="Freeform 225"/>
              <p:cNvSpPr/>
              <p:nvPr/>
            </p:nvSpPr>
            <p:spPr>
              <a:xfrm>
                <a:off x="4511675" y="507444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A3422F"/>
                </a:solidFill>
              </a:ln>
            </p:spPr>
          </p:sp>
          <p:sp>
            <p:nvSpPr>
              <p:cNvPr id="226" name="Freeform 226"/>
              <p:cNvSpPr/>
              <p:nvPr/>
            </p:nvSpPr>
            <p:spPr>
              <a:xfrm>
                <a:off x="4511675" y="510063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A3422F"/>
                </a:solidFill>
              </a:ln>
            </p:spPr>
          </p:sp>
          <p:sp>
            <p:nvSpPr>
              <p:cNvPr id="227" name="Freeform 227"/>
              <p:cNvSpPr/>
              <p:nvPr/>
            </p:nvSpPr>
            <p:spPr>
              <a:xfrm>
                <a:off x="4511675" y="515302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A3422F"/>
                </a:solidFill>
              </a:ln>
            </p:spPr>
          </p:sp>
        </p:grpSp>
        <p:sp>
          <p:nvSpPr>
            <p:cNvPr id="229" name="Freeform 229"/>
            <p:cNvSpPr/>
            <p:nvPr/>
          </p:nvSpPr>
          <p:spPr>
            <a:xfrm>
              <a:off x="4953000" y="4629150"/>
              <a:ext cx="2209800" cy="285750"/>
            </a:xfrm>
            <a:prstGeom prst="chevron">
              <a:avLst/>
            </a:prstGeom>
            <a:solidFill>
              <a:srgbClr val="A3422F"/>
            </a:solidFill>
            <a:ln>
              <a:noFill/>
            </a:ln>
          </p:spPr>
        </p:sp>
        <p:sp>
          <p:nvSpPr>
            <p:cNvPr id="230" name="TextBox 230"/>
            <p:cNvSpPr txBox="1"/>
            <p:nvPr/>
          </p:nvSpPr>
          <p:spPr>
            <a:xfrm>
              <a:off x="5757451" y="4730591"/>
              <a:ext cx="67709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03 宣传审核​</a:t>
              </a:r>
            </a:p>
          </p:txBody>
        </p:sp>
        <p:sp>
          <p:nvSpPr>
            <p:cNvPr id="231" name="Rectangle 231"/>
            <p:cNvSpPr/>
            <p:nvPr/>
          </p:nvSpPr>
          <p:spPr>
            <a:xfrm>
              <a:off x="4953000" y="4953000"/>
              <a:ext cx="2209800" cy="1238250"/>
            </a:xfrm>
            <a:prstGeom prst="rect">
              <a:avLst/>
            </a:prstGeom>
            <a:solidFill>
              <a:srgbClr val="F0FAF8"/>
            </a:solidFill>
            <a:ln>
              <a:noFill/>
            </a:ln>
          </p:spPr>
        </p:sp>
        <p:sp>
          <p:nvSpPr>
            <p:cNvPr id="232" name="TextBox 232"/>
            <p:cNvSpPr txBox="1"/>
            <p:nvPr/>
          </p:nvSpPr>
          <p:spPr>
            <a:xfrm>
              <a:off x="5062538" y="5074682"/>
              <a:ext cx="780669" cy="497681"/>
            </a:xfrm>
            <a:prstGeom prst="rect">
              <a:avLst/>
            </a:prstGeom>
            <a:noFill/>
            <a:ln>
              <a:noFill/>
            </a:ln>
          </p:spPr>
          <p:txBody>
            <a:bodyPr wrap="none" lIns="0" tIns="0" rIns="0" bIns="0" anchor="t" anchorCtr="0">
              <a:spAutoFit/>
            </a:bodyPr>
            <a:lstStyle/>
            <a:p>
              <a:pPr algn="l" marL="76200" indent="-76200">
                <a:lnSpc>
                  <a:spcPts val="975"/>
                </a:lnSpc>
                <a:buClr>
                  <a:srgbClr val="514340"/>
                </a:buClr>
                <a:buSzTx/>
                <a:buFontTx/>
                <a:buChar char="•"/>
              </a:pPr>
              <a:r>
                <a:rPr lang="zh-CN" sz="640" dirty="0">
                  <a:solidFill>
                    <a:srgbClr val="514340"/>
                  </a:solidFill>
                  <a:latin typeface="+mn-lt"/>
                  <a:ea typeface="+mn-ea"/>
                  <a:cs typeface="+mn-cs"/>
                </a:rPr>
                <a:t>宣传内容审核机制​</a:t>
              </a:r>
            </a:p>
            <a:p>
              <a:pPr algn="l" marL="76200" indent="-76200">
                <a:lnSpc>
                  <a:spcPts val="975"/>
                </a:lnSpc>
                <a:buClr>
                  <a:srgbClr val="514340"/>
                </a:buClr>
                <a:buSzTx/>
                <a:buFontTx/>
                <a:buChar char="•"/>
              </a:pPr>
              <a:r>
                <a:rPr lang="zh-CN" sz="640" dirty="0">
                  <a:solidFill>
                    <a:srgbClr val="514340"/>
                  </a:solidFill>
                  <a:latin typeface="+mn-lt"/>
                  <a:ea typeface="+mn-ea"/>
                  <a:cs typeface="+mn-cs"/>
                </a:rPr>
                <a:t>双方品牌使用规范​</a:t>
              </a:r>
            </a:p>
            <a:p>
              <a:pPr algn="l" marL="76200" indent="-76200">
                <a:lnSpc>
                  <a:spcPts val="975"/>
                </a:lnSpc>
                <a:buClr>
                  <a:srgbClr val="514340"/>
                </a:buClr>
                <a:buSzTx/>
                <a:buFontTx/>
                <a:buChar char="•"/>
              </a:pPr>
              <a:r>
                <a:rPr lang="zh-CN" sz="640" dirty="0">
                  <a:solidFill>
                    <a:srgbClr val="514340"/>
                  </a:solidFill>
                  <a:latin typeface="+mn-lt"/>
                  <a:ea typeface="+mn-ea"/>
                  <a:cs typeface="+mn-cs"/>
                </a:rPr>
                <a:t>合规审查​</a:t>
              </a:r>
            </a:p>
            <a:p>
              <a:pPr algn="l" marL="76200" indent="-76200">
                <a:lnSpc>
                  <a:spcPts val="975"/>
                </a:lnSpc>
                <a:buClr>
                  <a:srgbClr val="514340"/>
                </a:buClr>
                <a:buSzTx/>
                <a:buFontTx/>
                <a:buChar char="•"/>
              </a:pPr>
              <a:r>
                <a:rPr lang="zh-CN" sz="640" dirty="0">
                  <a:solidFill>
                    <a:srgbClr val="514340"/>
                  </a:solidFill>
                  <a:latin typeface="+mn-lt"/>
                  <a:ea typeface="+mn-ea"/>
                  <a:cs typeface="+mn-cs"/>
                </a:rPr>
                <a:t>舆情应对预案​</a:t>
              </a:r>
            </a:p>
          </p:txBody>
        </p:sp>
        <p:grpSp>
          <p:nvGrpSpPr>
            <p:cNvPr id="235" name="Group 235"/>
            <p:cNvGrpSpPr/>
            <p:nvPr/>
          </p:nvGrpSpPr>
          <p:grpSpPr>
            <a:xfrm>
              <a:off x="6796210" y="5074444"/>
              <a:ext cx="170506" cy="157162"/>
              <a:chOff x="6796210" y="5074444"/>
              <a:chExt cx="170506" cy="157162"/>
            </a:xfrm>
          </p:grpSpPr>
          <p:sp>
            <p:nvSpPr>
              <p:cNvPr id="233" name="Freeform 233"/>
              <p:cNvSpPr/>
              <p:nvPr/>
            </p:nvSpPr>
            <p:spPr>
              <a:xfrm>
                <a:off x="6796210" y="507444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76200F"/>
                </a:solidFill>
              </a:ln>
            </p:spPr>
          </p:sp>
          <p:sp>
            <p:nvSpPr>
              <p:cNvPr id="234" name="Freeform 234"/>
              <p:cNvSpPr/>
              <p:nvPr/>
            </p:nvSpPr>
            <p:spPr>
              <a:xfrm>
                <a:off x="6912769" y="5196681"/>
                <a:ext cx="52388" cy="34925"/>
              </a:xfrm>
              <a:custGeom>
                <a:avLst/>
                <a:gdLst/>
                <a:ahLst/>
                <a:cxnLst/>
                <a:rect l="l" t="t" r="r" b="b"/>
                <a:pathLst>
                  <a:path w="52388" h="34925">
                    <a:moveTo>
                      <a:pt x="0" y="17463"/>
                    </a:moveTo>
                    <a:lnTo>
                      <a:pt x="17463" y="34925"/>
                    </a:lnTo>
                    <a:lnTo>
                      <a:pt x="52388" y="0"/>
                    </a:lnTo>
                  </a:path>
                </a:pathLst>
              </a:custGeom>
              <a:noFill/>
              <a:ln w="17463">
                <a:solidFill>
                  <a:srgbClr val="76200F"/>
                </a:solidFill>
              </a:ln>
            </p:spPr>
          </p:sp>
        </p:grpSp>
        <p:sp>
          <p:nvSpPr>
            <p:cNvPr id="236" name="Freeform 236"/>
            <p:cNvSpPr/>
            <p:nvPr/>
          </p:nvSpPr>
          <p:spPr>
            <a:xfrm>
              <a:off x="7258050" y="4629150"/>
              <a:ext cx="2209800" cy="285750"/>
            </a:xfrm>
            <a:prstGeom prst="chevron">
              <a:avLst/>
            </a:prstGeom>
            <a:solidFill>
              <a:srgbClr val="852512"/>
            </a:solidFill>
            <a:ln>
              <a:noFill/>
            </a:ln>
          </p:spPr>
        </p:sp>
        <p:sp>
          <p:nvSpPr>
            <p:cNvPr id="237" name="TextBox 237"/>
            <p:cNvSpPr txBox="1"/>
            <p:nvPr/>
          </p:nvSpPr>
          <p:spPr>
            <a:xfrm>
              <a:off x="8062501" y="4730591"/>
              <a:ext cx="67709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04 投诉责任​</a:t>
              </a:r>
            </a:p>
          </p:txBody>
        </p:sp>
        <p:sp>
          <p:nvSpPr>
            <p:cNvPr id="238" name="Rectangle 238"/>
            <p:cNvSpPr/>
            <p:nvPr/>
          </p:nvSpPr>
          <p:spPr>
            <a:xfrm>
              <a:off x="7258050" y="4953000"/>
              <a:ext cx="2209800" cy="1238250"/>
            </a:xfrm>
            <a:prstGeom prst="rect">
              <a:avLst/>
            </a:prstGeom>
            <a:solidFill>
              <a:srgbClr val="F0FAF8"/>
            </a:solidFill>
            <a:ln>
              <a:noFill/>
            </a:ln>
          </p:spPr>
        </p:sp>
        <p:sp>
          <p:nvSpPr>
            <p:cNvPr id="239" name="TextBox 239"/>
            <p:cNvSpPr txBox="1"/>
            <p:nvPr/>
          </p:nvSpPr>
          <p:spPr>
            <a:xfrm>
              <a:off x="7367588" y="5074682"/>
              <a:ext cx="780669" cy="497681"/>
            </a:xfrm>
            <a:prstGeom prst="rect">
              <a:avLst/>
            </a:prstGeom>
            <a:noFill/>
            <a:ln>
              <a:noFill/>
            </a:ln>
          </p:spPr>
          <p:txBody>
            <a:bodyPr wrap="none" lIns="0" tIns="0" rIns="0" bIns="0" anchor="t" anchorCtr="0">
              <a:spAutoFit/>
            </a:bodyPr>
            <a:lstStyle/>
            <a:p>
              <a:pPr algn="l" marL="76200" indent="-76200">
                <a:lnSpc>
                  <a:spcPts val="975"/>
                </a:lnSpc>
                <a:buClr>
                  <a:srgbClr val="514340"/>
                </a:buClr>
                <a:buSzTx/>
                <a:buFontTx/>
                <a:buChar char="•"/>
              </a:pPr>
              <a:r>
                <a:rPr lang="zh-CN" sz="640" dirty="0">
                  <a:solidFill>
                    <a:srgbClr val="514340"/>
                  </a:solidFill>
                  <a:latin typeface="+mn-lt"/>
                  <a:ea typeface="+mn-ea"/>
                  <a:cs typeface="+mn-cs"/>
                </a:rPr>
                <a:t>客户投诉受理机制​</a:t>
              </a:r>
            </a:p>
            <a:p>
              <a:pPr algn="l" marL="76200" indent="-76200">
                <a:lnSpc>
                  <a:spcPts val="975"/>
                </a:lnSpc>
                <a:buClr>
                  <a:srgbClr val="514340"/>
                </a:buClr>
                <a:buSzTx/>
                <a:buFontTx/>
                <a:buChar char="•"/>
              </a:pPr>
              <a:r>
                <a:rPr lang="zh-CN" sz="640" dirty="0">
                  <a:solidFill>
                    <a:srgbClr val="514340"/>
                  </a:solidFill>
                  <a:latin typeface="+mn-lt"/>
                  <a:ea typeface="+mn-ea"/>
                  <a:cs typeface="+mn-cs"/>
                </a:rPr>
                <a:t>责任划分原则​</a:t>
              </a:r>
            </a:p>
            <a:p>
              <a:pPr algn="l" marL="76200" indent="-76200">
                <a:lnSpc>
                  <a:spcPts val="975"/>
                </a:lnSpc>
                <a:buClr>
                  <a:srgbClr val="514340"/>
                </a:buClr>
                <a:buSzTx/>
                <a:buFontTx/>
                <a:buChar char="•"/>
              </a:pPr>
              <a:r>
                <a:rPr lang="zh-CN" sz="640" dirty="0">
                  <a:solidFill>
                    <a:srgbClr val="514340"/>
                  </a:solidFill>
                  <a:latin typeface="+mn-lt"/>
                  <a:ea typeface="+mn-ea"/>
                  <a:cs typeface="+mn-cs"/>
                </a:rPr>
                <a:t>处理时效要求​</a:t>
              </a:r>
            </a:p>
            <a:p>
              <a:pPr algn="l" marL="76200" indent="-76200">
                <a:lnSpc>
                  <a:spcPts val="975"/>
                </a:lnSpc>
                <a:buClr>
                  <a:srgbClr val="514340"/>
                </a:buClr>
                <a:buSzTx/>
                <a:buFontTx/>
                <a:buChar char="•"/>
              </a:pPr>
              <a:r>
                <a:rPr lang="zh-CN" sz="640" dirty="0">
                  <a:solidFill>
                    <a:srgbClr val="514340"/>
                  </a:solidFill>
                  <a:latin typeface="+mn-lt"/>
                  <a:ea typeface="+mn-ea"/>
                  <a:cs typeface="+mn-cs"/>
                </a:rPr>
                <a:t>赔偿与补救措施​</a:t>
              </a:r>
            </a:p>
          </p:txBody>
        </p:sp>
        <p:sp>
          <p:nvSpPr>
            <p:cNvPr id="240" name="Freeform 240"/>
            <p:cNvSpPr/>
            <p:nvPr/>
          </p:nvSpPr>
          <p:spPr>
            <a:xfrm>
              <a:off x="9104103" y="5076408"/>
              <a:ext cx="174311" cy="154517"/>
            </a:xfrm>
            <a:custGeom>
              <a:avLst/>
              <a:gdLst/>
              <a:ahLst/>
              <a:cxnLst/>
              <a:rect l="l" t="t" r="r" b="b"/>
              <a:pathLst>
                <a:path w="174311" h="154517">
                  <a:moveTo>
                    <a:pt x="8941" y="146467"/>
                  </a:moveTo>
                  <a:lnTo>
                    <a:pt x="20291" y="112415"/>
                  </a:lnTo>
                  <a:cubicBezTo>
                    <a:pt x="0" y="82406"/>
                    <a:pt x="7841" y="43682"/>
                    <a:pt x="38627" y="21837"/>
                  </a:cubicBezTo>
                  <a:cubicBezTo>
                    <a:pt x="69413" y="0"/>
                    <a:pt x="113629" y="1790"/>
                    <a:pt x="142049" y="26028"/>
                  </a:cubicBezTo>
                  <a:cubicBezTo>
                    <a:pt x="170469" y="50275"/>
                    <a:pt x="174311" y="89469"/>
                    <a:pt x="151033" y="117715"/>
                  </a:cubicBezTo>
                  <a:cubicBezTo>
                    <a:pt x="127756" y="145960"/>
                    <a:pt x="84545" y="154517"/>
                    <a:pt x="49978" y="137736"/>
                  </a:cubicBezTo>
                  <a:lnTo>
                    <a:pt x="8941" y="146467"/>
                  </a:lnTo>
                </a:path>
              </a:pathLst>
            </a:custGeom>
            <a:noFill/>
            <a:ln w="17463">
              <a:solidFill>
                <a:srgbClr val="A3422F"/>
              </a:solidFill>
            </a:ln>
          </p:spPr>
        </p:sp>
        <p:sp>
          <p:nvSpPr>
            <p:cNvPr id="241" name="Freeform 241"/>
            <p:cNvSpPr/>
            <p:nvPr/>
          </p:nvSpPr>
          <p:spPr>
            <a:xfrm>
              <a:off x="9563100" y="4629150"/>
              <a:ext cx="2209800" cy="285750"/>
            </a:xfrm>
            <a:prstGeom prst="chevron">
              <a:avLst/>
            </a:prstGeom>
            <a:solidFill>
              <a:srgbClr val="5D190B"/>
            </a:solidFill>
            <a:ln>
              <a:noFill/>
            </a:ln>
          </p:spPr>
        </p:sp>
        <p:sp>
          <p:nvSpPr>
            <p:cNvPr id="242" name="TextBox 242"/>
            <p:cNvSpPr txBox="1"/>
            <p:nvPr/>
          </p:nvSpPr>
          <p:spPr>
            <a:xfrm>
              <a:off x="10367551" y="4730591"/>
              <a:ext cx="67709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05 退出机制​</a:t>
              </a:r>
            </a:p>
          </p:txBody>
        </p:sp>
        <p:sp>
          <p:nvSpPr>
            <p:cNvPr id="243" name="Rectangle 243"/>
            <p:cNvSpPr/>
            <p:nvPr/>
          </p:nvSpPr>
          <p:spPr>
            <a:xfrm>
              <a:off x="9563100" y="4953000"/>
              <a:ext cx="2209800" cy="1238250"/>
            </a:xfrm>
            <a:prstGeom prst="rect">
              <a:avLst/>
            </a:prstGeom>
            <a:solidFill>
              <a:srgbClr val="F0FAF8"/>
            </a:solidFill>
            <a:ln>
              <a:noFill/>
            </a:ln>
          </p:spPr>
        </p:sp>
        <p:sp>
          <p:nvSpPr>
            <p:cNvPr id="244" name="TextBox 244"/>
            <p:cNvSpPr txBox="1"/>
            <p:nvPr/>
          </p:nvSpPr>
          <p:spPr>
            <a:xfrm>
              <a:off x="9672638" y="5074682"/>
              <a:ext cx="699389" cy="497681"/>
            </a:xfrm>
            <a:prstGeom prst="rect">
              <a:avLst/>
            </a:prstGeom>
            <a:noFill/>
            <a:ln>
              <a:noFill/>
            </a:ln>
          </p:spPr>
          <p:txBody>
            <a:bodyPr wrap="none" lIns="0" tIns="0" rIns="0" bIns="0" anchor="t" anchorCtr="0">
              <a:spAutoFit/>
            </a:bodyPr>
            <a:lstStyle/>
            <a:p>
              <a:pPr algn="l" marL="76200" indent="-76200">
                <a:lnSpc>
                  <a:spcPts val="975"/>
                </a:lnSpc>
                <a:buClr>
                  <a:srgbClr val="514340"/>
                </a:buClr>
                <a:buSzTx/>
                <a:buFontTx/>
                <a:buChar char="•"/>
              </a:pPr>
              <a:r>
                <a:rPr lang="zh-CN" sz="640" dirty="0">
                  <a:solidFill>
                    <a:srgbClr val="514340"/>
                  </a:solidFill>
                  <a:latin typeface="+mn-lt"/>
                  <a:ea typeface="+mn-ea"/>
                  <a:cs typeface="+mn-cs"/>
                </a:rPr>
                <a:t>退出条件与程序​</a:t>
              </a:r>
            </a:p>
            <a:p>
              <a:pPr algn="l" marL="76200" indent="-76200">
                <a:lnSpc>
                  <a:spcPts val="975"/>
                </a:lnSpc>
                <a:buClr>
                  <a:srgbClr val="514340"/>
                </a:buClr>
                <a:buSzTx/>
                <a:buFontTx/>
                <a:buChar char="•"/>
              </a:pPr>
              <a:r>
                <a:rPr lang="zh-CN" sz="640" dirty="0">
                  <a:solidFill>
                    <a:srgbClr val="514340"/>
                  </a:solidFill>
                  <a:latin typeface="+mn-lt"/>
                  <a:ea typeface="+mn-ea"/>
                  <a:cs typeface="+mn-cs"/>
                </a:rPr>
                <a:t>未完事项处理​</a:t>
              </a:r>
            </a:p>
            <a:p>
              <a:pPr algn="l" marL="76200" indent="-76200">
                <a:lnSpc>
                  <a:spcPts val="975"/>
                </a:lnSpc>
                <a:buClr>
                  <a:srgbClr val="514340"/>
                </a:buClr>
                <a:buSzTx/>
                <a:buFontTx/>
                <a:buChar char="•"/>
              </a:pPr>
              <a:r>
                <a:rPr lang="zh-CN" sz="640" dirty="0">
                  <a:solidFill>
                    <a:srgbClr val="514340"/>
                  </a:solidFill>
                  <a:latin typeface="+mn-lt"/>
                  <a:ea typeface="+mn-ea"/>
                  <a:cs typeface="+mn-cs"/>
                </a:rPr>
                <a:t>数据与资料归还​</a:t>
              </a:r>
            </a:p>
            <a:p>
              <a:pPr algn="l" marL="76200" indent="-76200">
                <a:lnSpc>
                  <a:spcPts val="975"/>
                </a:lnSpc>
                <a:buClr>
                  <a:srgbClr val="514340"/>
                </a:buClr>
                <a:buSzTx/>
                <a:buFontTx/>
                <a:buChar char="•"/>
              </a:pPr>
              <a:r>
                <a:rPr lang="zh-CN" sz="640" dirty="0">
                  <a:solidFill>
                    <a:srgbClr val="514340"/>
                  </a:solidFill>
                  <a:latin typeface="+mn-lt"/>
                  <a:ea typeface="+mn-ea"/>
                  <a:cs typeface="+mn-cs"/>
                </a:rPr>
                <a:t>保密义务延续​</a:t>
              </a:r>
            </a:p>
          </p:txBody>
        </p:sp>
        <p:grpSp>
          <p:nvGrpSpPr>
            <p:cNvPr id="247" name="Group 247"/>
            <p:cNvGrpSpPr/>
            <p:nvPr/>
          </p:nvGrpSpPr>
          <p:grpSpPr>
            <a:xfrm>
              <a:off x="11426825" y="5079806"/>
              <a:ext cx="139700" cy="146438"/>
              <a:chOff x="11426825" y="5079806"/>
              <a:chExt cx="139700" cy="146438"/>
            </a:xfrm>
          </p:grpSpPr>
          <p:sp>
            <p:nvSpPr>
              <p:cNvPr id="245" name="Freeform 245"/>
              <p:cNvSpPr/>
              <p:nvPr/>
            </p:nvSpPr>
            <p:spPr>
              <a:xfrm>
                <a:off x="11426825" y="5079806"/>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5D190B"/>
                </a:solidFill>
              </a:ln>
            </p:spPr>
          </p:sp>
          <p:sp>
            <p:nvSpPr>
              <p:cNvPr id="246" name="Freeform 246"/>
              <p:cNvSpPr/>
              <p:nvPr/>
            </p:nvSpPr>
            <p:spPr>
              <a:xfrm>
                <a:off x="11426825" y="5161756"/>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5D190B"/>
                </a:solidFill>
              </a:ln>
            </p:spPr>
          </p:sp>
        </p:grpSp>
      </p:gr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14​</a:t>
              </a:r>
            </a:p>
          </p:txBody>
        </p:sp>
        <p:sp>
          <p:nvSpPr>
            <p:cNvPr id="4" name="TextBox 4"/>
            <p:cNvSpPr txBox="1"/>
            <p:nvPr/>
          </p:nvSpPr>
          <p:spPr>
            <a:xfrm>
              <a:off x="904494" y="170498"/>
              <a:ext cx="5532501"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数据闭环</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一次活动需要沉淀完整客户经营资产</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14​</a:t>
              </a:r>
            </a:p>
          </p:txBody>
        </p:sp>
      </p:grpSp>
      <p:grpSp>
        <p:nvGrpSpPr>
          <p:cNvPr id="102" name="funnel9"/>
          <p:cNvGrpSpPr/>
          <p:nvPr/>
        </p:nvGrpSpPr>
        <p:grpSpPr>
          <a:xfrm>
            <a:off x="342900" y="685800"/>
            <a:ext cx="5695950" cy="2022634"/>
            <a:chOff x="342900" y="685800"/>
            <a:chExt cx="5695950" cy="2022634"/>
          </a:xfrm>
        </p:grpSpPr>
        <p:sp>
          <p:nvSpPr>
            <p:cNvPr id="8" name="Rectangle 8"/>
            <p:cNvSpPr/>
            <p:nvPr/>
          </p:nvSpPr>
          <p:spPr>
            <a:xfrm>
              <a:off x="342900" y="685800"/>
              <a:ext cx="2095500" cy="190500"/>
            </a:xfrm>
            <a:prstGeom prst="roundRect">
              <a:avLst>
                <a:gd name="adj" fmla="val 25000"/>
              </a:avLst>
            </a:prstGeom>
            <a:solidFill>
              <a:srgbClr val="76200F"/>
            </a:solidFill>
            <a:ln>
              <a:noFill/>
            </a:ln>
          </p:spPr>
        </p:sp>
        <p:sp>
          <p:nvSpPr>
            <p:cNvPr id="9" name="TextBox 9"/>
            <p:cNvSpPr txBox="1"/>
            <p:nvPr/>
          </p:nvSpPr>
          <p:spPr>
            <a:xfrm>
              <a:off x="452438" y="735568"/>
              <a:ext cx="1283030"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活动全链路九层转化漏斗</a:t>
              </a:r>
            </a:p>
          </p:txBody>
        </p:sp>
        <p:grpSp>
          <p:nvGrpSpPr>
            <p:cNvPr id="92" name="funnel-bars"/>
            <p:cNvGrpSpPr/>
            <p:nvPr/>
          </p:nvGrpSpPr>
          <p:grpSpPr>
            <a:xfrm>
              <a:off x="419100" y="933450"/>
              <a:ext cx="5619750" cy="1495426"/>
              <a:chOff x="419100" y="933450"/>
              <a:chExt cx="5619750" cy="1495426"/>
            </a:xfrm>
          </p:grpSpPr>
          <p:sp>
            <p:nvSpPr>
              <p:cNvPr id="10" name="Rectangle 10"/>
              <p:cNvSpPr/>
              <p:nvPr/>
            </p:nvSpPr>
            <p:spPr>
              <a:xfrm>
                <a:off x="419100" y="933450"/>
                <a:ext cx="590550" cy="1162050"/>
              </a:xfrm>
              <a:prstGeom prst="roundRect">
                <a:avLst>
                  <a:gd name="adj" fmla="val 4839"/>
                </a:avLst>
              </a:prstGeom>
              <a:solidFill>
                <a:srgbClr val="5D190B"/>
              </a:solidFill>
              <a:ln>
                <a:noFill/>
              </a:ln>
            </p:spPr>
          </p:sp>
          <p:sp>
            <p:nvSpPr>
              <p:cNvPr id="11" name="Ellipse 11"/>
              <p:cNvSpPr/>
              <p:nvPr/>
            </p:nvSpPr>
            <p:spPr>
              <a:xfrm>
                <a:off x="647700" y="952500"/>
                <a:ext cx="133350" cy="133350"/>
              </a:xfrm>
              <a:prstGeom prst="ellipse">
                <a:avLst/>
              </a:prstGeom>
              <a:solidFill>
                <a:srgbClr val="FFFFFF"/>
              </a:solidFill>
              <a:ln>
                <a:noFill/>
              </a:ln>
            </p:spPr>
          </p:sp>
          <p:sp>
            <p:nvSpPr>
              <p:cNvPr id="12" name="TextBox 12"/>
              <p:cNvSpPr txBox="1"/>
              <p:nvPr/>
            </p:nvSpPr>
            <p:spPr>
              <a:xfrm>
                <a:off x="666076" y="987028"/>
                <a:ext cx="96597" cy="111919"/>
              </a:xfrm>
              <a:prstGeom prst="rect">
                <a:avLst/>
              </a:prstGeom>
              <a:noFill/>
              <a:ln>
                <a:noFill/>
              </a:ln>
            </p:spPr>
            <p:txBody>
              <a:bodyPr wrap="none" lIns="0" tIns="0" rIns="0" bIns="0" anchor="t" anchorCtr="0">
                <a:spAutoFit/>
              </a:bodyPr>
              <a:lstStyle/>
              <a:p>
                <a:pPr algn="ctr"/>
                <a:r>
                  <a:rPr lang="zh-CN" sz="560" b="1" dirty="0">
                    <a:solidFill>
                      <a:srgbClr val="5D190B"/>
                    </a:solidFill>
                    <a:latin typeface="+mn-lt"/>
                    <a:ea typeface="+mn-ea"/>
                    <a:cs typeface="+mn-cs"/>
                  </a:rPr>
                  <a:t>1​</a:t>
                </a:r>
              </a:p>
            </p:txBody>
          </p:sp>
          <p:grpSp>
            <p:nvGrpSpPr>
              <p:cNvPr id="15" name="Group 15"/>
              <p:cNvGrpSpPr/>
              <p:nvPr/>
            </p:nvGrpSpPr>
            <p:grpSpPr>
              <a:xfrm>
                <a:off x="657225" y="1181100"/>
                <a:ext cx="114300" cy="76200"/>
                <a:chOff x="657225" y="1181100"/>
                <a:chExt cx="114300" cy="76200"/>
              </a:xfrm>
            </p:grpSpPr>
            <p:sp>
              <p:nvSpPr>
                <p:cNvPr id="13" name="Freeform 13"/>
                <p:cNvSpPr/>
                <p:nvPr/>
              </p:nvSpPr>
              <p:spPr>
                <a:xfrm>
                  <a:off x="701675" y="12065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4" name="Freeform 14"/>
                <p:cNvSpPr/>
                <p:nvPr/>
              </p:nvSpPr>
              <p:spPr>
                <a:xfrm>
                  <a:off x="657225" y="1181100"/>
                  <a:ext cx="114300" cy="76200"/>
                </a:xfrm>
                <a:custGeom>
                  <a:avLst/>
                  <a:gdLst/>
                  <a:ahLst/>
                  <a:cxnLst/>
                  <a:rect l="l" t="t" r="r" b="b"/>
                  <a:pathLst>
                    <a:path w="114300" h="76200">
                      <a:moveTo>
                        <a:pt x="114300" y="38100"/>
                      </a:moveTo>
                      <a:cubicBezTo>
                        <a:pt x="99060" y="63500"/>
                        <a:pt x="80010" y="76200"/>
                        <a:pt x="57150" y="76200"/>
                      </a:cubicBezTo>
                      <a:cubicBezTo>
                        <a:pt x="34290" y="76200"/>
                        <a:pt x="15240" y="63500"/>
                        <a:pt x="0" y="38100"/>
                      </a:cubicBezTo>
                      <a:cubicBezTo>
                        <a:pt x="15240" y="12700"/>
                        <a:pt x="34290" y="0"/>
                        <a:pt x="57150" y="0"/>
                      </a:cubicBezTo>
                      <a:cubicBezTo>
                        <a:pt x="80010" y="0"/>
                        <a:pt x="99060" y="12700"/>
                        <a:pt x="114300" y="38100"/>
                      </a:cubicBezTo>
                    </a:path>
                  </a:pathLst>
                </a:custGeom>
                <a:noFill/>
                <a:ln w="12700">
                  <a:solidFill>
                    <a:srgbClr val="FFFFFF"/>
                  </a:solidFill>
                </a:ln>
              </p:spPr>
            </p:sp>
          </p:grpSp>
          <p:sp>
            <p:nvSpPr>
              <p:cNvPr id="16" name="TextBox 16"/>
              <p:cNvSpPr txBox="1"/>
              <p:nvPr/>
            </p:nvSpPr>
            <p:spPr>
              <a:xfrm>
                <a:off x="623456" y="2160032"/>
                <a:ext cx="181839"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曝光</a:t>
                </a:r>
              </a:p>
            </p:txBody>
          </p:sp>
          <p:sp>
            <p:nvSpPr>
              <p:cNvPr id="17" name="TextBox 17"/>
              <p:cNvSpPr txBox="1"/>
              <p:nvPr/>
            </p:nvSpPr>
            <p:spPr>
              <a:xfrm>
                <a:off x="447230" y="2281238"/>
                <a:ext cx="534291"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100,000​​</a:t>
                </a:r>
              </a:p>
            </p:txBody>
          </p:sp>
          <p:sp>
            <p:nvSpPr>
              <p:cNvPr id="18" name="Rectangle 18"/>
              <p:cNvSpPr/>
              <p:nvPr/>
            </p:nvSpPr>
            <p:spPr>
              <a:xfrm>
                <a:off x="1047750" y="1057275"/>
                <a:ext cx="590550" cy="1038225"/>
              </a:xfrm>
              <a:prstGeom prst="roundRect">
                <a:avLst>
                  <a:gd name="adj" fmla="val 4839"/>
                </a:avLst>
              </a:prstGeom>
              <a:solidFill>
                <a:srgbClr val="76200F"/>
              </a:solidFill>
              <a:ln>
                <a:noFill/>
              </a:ln>
            </p:spPr>
          </p:sp>
          <p:sp>
            <p:nvSpPr>
              <p:cNvPr id="19" name="Ellipse 19"/>
              <p:cNvSpPr/>
              <p:nvPr/>
            </p:nvSpPr>
            <p:spPr>
              <a:xfrm>
                <a:off x="1276350" y="1076325"/>
                <a:ext cx="133350" cy="133350"/>
              </a:xfrm>
              <a:prstGeom prst="ellipse">
                <a:avLst/>
              </a:prstGeom>
              <a:solidFill>
                <a:srgbClr val="FFFFFF"/>
              </a:solidFill>
              <a:ln>
                <a:noFill/>
              </a:ln>
            </p:spPr>
          </p:sp>
          <p:sp>
            <p:nvSpPr>
              <p:cNvPr id="20" name="TextBox 20"/>
              <p:cNvSpPr txBox="1"/>
              <p:nvPr/>
            </p:nvSpPr>
            <p:spPr>
              <a:xfrm>
                <a:off x="1294726" y="1110853"/>
                <a:ext cx="96597" cy="111919"/>
              </a:xfrm>
              <a:prstGeom prst="rect">
                <a:avLst/>
              </a:prstGeom>
              <a:noFill/>
              <a:ln>
                <a:noFill/>
              </a:ln>
            </p:spPr>
            <p:txBody>
              <a:bodyPr wrap="none" lIns="0" tIns="0" rIns="0" bIns="0" anchor="t" anchorCtr="0">
                <a:spAutoFit/>
              </a:bodyPr>
              <a:lstStyle/>
              <a:p>
                <a:pPr algn="ctr"/>
                <a:r>
                  <a:rPr lang="zh-CN" sz="560" b="1" dirty="0">
                    <a:solidFill>
                      <a:srgbClr val="5D190B"/>
                    </a:solidFill>
                    <a:latin typeface="+mn-lt"/>
                    <a:ea typeface="+mn-ea"/>
                    <a:cs typeface="+mn-cs"/>
                  </a:rPr>
                  <a:t>2​</a:t>
                </a:r>
              </a:p>
            </p:txBody>
          </p:sp>
          <p:grpSp>
            <p:nvGrpSpPr>
              <p:cNvPr id="25" name="Group 25"/>
              <p:cNvGrpSpPr/>
              <p:nvPr/>
            </p:nvGrpSpPr>
            <p:grpSpPr>
              <a:xfrm>
                <a:off x="1285875" y="1285875"/>
                <a:ext cx="114300" cy="114301"/>
                <a:chOff x="1285875" y="1285875"/>
                <a:chExt cx="114300" cy="114301"/>
              </a:xfrm>
            </p:grpSpPr>
            <p:sp>
              <p:nvSpPr>
                <p:cNvPr id="21" name="Freeform 21"/>
                <p:cNvSpPr/>
                <p:nvPr/>
              </p:nvSpPr>
              <p:spPr>
                <a:xfrm>
                  <a:off x="1298575" y="12858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22" name="Freeform 22"/>
                <p:cNvSpPr/>
                <p:nvPr/>
              </p:nvSpPr>
              <p:spPr>
                <a:xfrm>
                  <a:off x="1285875" y="136207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23" name="Freeform 23"/>
                <p:cNvSpPr/>
                <p:nvPr/>
              </p:nvSpPr>
              <p:spPr>
                <a:xfrm>
                  <a:off x="1368425" y="1286701"/>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24" name="Freeform 24"/>
                <p:cNvSpPr/>
                <p:nvPr/>
              </p:nvSpPr>
              <p:spPr>
                <a:xfrm>
                  <a:off x="1381125" y="1363028"/>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26" name="TextBox 26"/>
              <p:cNvSpPr txBox="1"/>
              <p:nvPr/>
            </p:nvSpPr>
            <p:spPr>
              <a:xfrm>
                <a:off x="1252106" y="2160032"/>
                <a:ext cx="181839"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到场</a:t>
                </a:r>
              </a:p>
            </p:txBody>
          </p:sp>
          <p:sp>
            <p:nvSpPr>
              <p:cNvPr id="27" name="TextBox 27"/>
              <p:cNvSpPr txBox="1"/>
              <p:nvPr/>
            </p:nvSpPr>
            <p:spPr>
              <a:xfrm>
                <a:off x="1105033" y="2281238"/>
                <a:ext cx="475983"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12,000​​</a:t>
                </a:r>
              </a:p>
            </p:txBody>
          </p:sp>
          <p:sp>
            <p:nvSpPr>
              <p:cNvPr id="28" name="Rectangle 28"/>
              <p:cNvSpPr/>
              <p:nvPr/>
            </p:nvSpPr>
            <p:spPr>
              <a:xfrm>
                <a:off x="1676400" y="1181100"/>
                <a:ext cx="590550" cy="914400"/>
              </a:xfrm>
              <a:prstGeom prst="roundRect">
                <a:avLst>
                  <a:gd name="adj" fmla="val 4839"/>
                </a:avLst>
              </a:prstGeom>
              <a:solidFill>
                <a:srgbClr val="852512"/>
              </a:solidFill>
              <a:ln>
                <a:noFill/>
              </a:ln>
            </p:spPr>
          </p:sp>
          <p:sp>
            <p:nvSpPr>
              <p:cNvPr id="29" name="Ellipse 29"/>
              <p:cNvSpPr/>
              <p:nvPr/>
            </p:nvSpPr>
            <p:spPr>
              <a:xfrm>
                <a:off x="1905000" y="1200150"/>
                <a:ext cx="133350" cy="133350"/>
              </a:xfrm>
              <a:prstGeom prst="ellipse">
                <a:avLst/>
              </a:prstGeom>
              <a:solidFill>
                <a:srgbClr val="FFFFFF"/>
              </a:solidFill>
              <a:ln>
                <a:noFill/>
              </a:ln>
            </p:spPr>
          </p:sp>
          <p:sp>
            <p:nvSpPr>
              <p:cNvPr id="30" name="TextBox 30"/>
              <p:cNvSpPr txBox="1"/>
              <p:nvPr/>
            </p:nvSpPr>
            <p:spPr>
              <a:xfrm>
                <a:off x="1923376" y="1234678"/>
                <a:ext cx="96597" cy="111919"/>
              </a:xfrm>
              <a:prstGeom prst="rect">
                <a:avLst/>
              </a:prstGeom>
              <a:noFill/>
              <a:ln>
                <a:noFill/>
              </a:ln>
            </p:spPr>
            <p:txBody>
              <a:bodyPr wrap="none" lIns="0" tIns="0" rIns="0" bIns="0" anchor="t" anchorCtr="0">
                <a:spAutoFit/>
              </a:bodyPr>
              <a:lstStyle/>
              <a:p>
                <a:pPr algn="ctr"/>
                <a:r>
                  <a:rPr lang="zh-CN" sz="560" b="1" dirty="0">
                    <a:solidFill>
                      <a:srgbClr val="5D190B"/>
                    </a:solidFill>
                    <a:latin typeface="+mn-lt"/>
                    <a:ea typeface="+mn-ea"/>
                    <a:cs typeface="+mn-cs"/>
                  </a:rPr>
                  <a:t>3​</a:t>
                </a:r>
              </a:p>
            </p:txBody>
          </p:sp>
          <p:sp>
            <p:nvSpPr>
              <p:cNvPr id="31" name="Freeform 31"/>
              <p:cNvSpPr/>
              <p:nvPr/>
            </p:nvSpPr>
            <p:spPr>
              <a:xfrm>
                <a:off x="1908023" y="141112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FFFFFF"/>
                </a:solidFill>
              </a:ln>
            </p:spPr>
          </p:sp>
          <p:sp>
            <p:nvSpPr>
              <p:cNvPr id="32" name="TextBox 32"/>
              <p:cNvSpPr txBox="1"/>
              <p:nvPr/>
            </p:nvSpPr>
            <p:spPr>
              <a:xfrm>
                <a:off x="1880756" y="2160032"/>
                <a:ext cx="181839"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互动</a:t>
                </a:r>
              </a:p>
            </p:txBody>
          </p:sp>
          <p:sp>
            <p:nvSpPr>
              <p:cNvPr id="33" name="TextBox 33"/>
              <p:cNvSpPr txBox="1"/>
              <p:nvPr/>
            </p:nvSpPr>
            <p:spPr>
              <a:xfrm>
                <a:off x="1762837" y="2281238"/>
                <a:ext cx="417676"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7,200​​</a:t>
                </a:r>
              </a:p>
            </p:txBody>
          </p:sp>
          <p:sp>
            <p:nvSpPr>
              <p:cNvPr id="34" name="Rectangle 34"/>
              <p:cNvSpPr/>
              <p:nvPr/>
            </p:nvSpPr>
            <p:spPr>
              <a:xfrm>
                <a:off x="2305050" y="1304925"/>
                <a:ext cx="590550" cy="790575"/>
              </a:xfrm>
              <a:prstGeom prst="roundRect">
                <a:avLst>
                  <a:gd name="adj" fmla="val 4839"/>
                </a:avLst>
              </a:prstGeom>
              <a:solidFill>
                <a:srgbClr val="94311D"/>
              </a:solidFill>
              <a:ln>
                <a:noFill/>
              </a:ln>
            </p:spPr>
          </p:sp>
          <p:sp>
            <p:nvSpPr>
              <p:cNvPr id="35" name="Ellipse 35"/>
              <p:cNvSpPr/>
              <p:nvPr/>
            </p:nvSpPr>
            <p:spPr>
              <a:xfrm>
                <a:off x="2533650" y="1323975"/>
                <a:ext cx="133350" cy="133350"/>
              </a:xfrm>
              <a:prstGeom prst="ellipse">
                <a:avLst/>
              </a:prstGeom>
              <a:solidFill>
                <a:srgbClr val="FFFFFF"/>
              </a:solidFill>
              <a:ln>
                <a:noFill/>
              </a:ln>
            </p:spPr>
          </p:sp>
          <p:sp>
            <p:nvSpPr>
              <p:cNvPr id="36" name="TextBox 36"/>
              <p:cNvSpPr txBox="1"/>
              <p:nvPr/>
            </p:nvSpPr>
            <p:spPr>
              <a:xfrm>
                <a:off x="2552026" y="1358503"/>
                <a:ext cx="96597" cy="111919"/>
              </a:xfrm>
              <a:prstGeom prst="rect">
                <a:avLst/>
              </a:prstGeom>
              <a:noFill/>
              <a:ln>
                <a:noFill/>
              </a:ln>
            </p:spPr>
            <p:txBody>
              <a:bodyPr wrap="none" lIns="0" tIns="0" rIns="0" bIns="0" anchor="t" anchorCtr="0">
                <a:spAutoFit/>
              </a:bodyPr>
              <a:lstStyle/>
              <a:p>
                <a:pPr algn="ctr"/>
                <a:r>
                  <a:rPr lang="zh-CN" sz="560" b="1" dirty="0">
                    <a:solidFill>
                      <a:srgbClr val="5D190B"/>
                    </a:solidFill>
                    <a:latin typeface="+mn-lt"/>
                    <a:ea typeface="+mn-ea"/>
                    <a:cs typeface="+mn-cs"/>
                  </a:rPr>
                  <a:t>4​</a:t>
                </a:r>
              </a:p>
            </p:txBody>
          </p:sp>
          <p:grpSp>
            <p:nvGrpSpPr>
              <p:cNvPr id="40" name="Group 40"/>
              <p:cNvGrpSpPr/>
              <p:nvPr/>
            </p:nvGrpSpPr>
            <p:grpSpPr>
              <a:xfrm>
                <a:off x="2555875" y="1533525"/>
                <a:ext cx="88900" cy="114300"/>
                <a:chOff x="2555875" y="1533525"/>
                <a:chExt cx="88900" cy="114300"/>
              </a:xfrm>
            </p:grpSpPr>
            <p:sp>
              <p:nvSpPr>
                <p:cNvPr id="37" name="Freeform 37"/>
                <p:cNvSpPr/>
                <p:nvPr/>
              </p:nvSpPr>
              <p:spPr>
                <a:xfrm>
                  <a:off x="2555875" y="1584325"/>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FFFFFF"/>
                  </a:solidFill>
                </a:ln>
              </p:spPr>
            </p:sp>
            <p:sp>
              <p:nvSpPr>
                <p:cNvPr id="38" name="Freeform 38"/>
                <p:cNvSpPr/>
                <p:nvPr/>
              </p:nvSpPr>
              <p:spPr>
                <a:xfrm>
                  <a:off x="2593975" y="1609725"/>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39" name="Freeform 39"/>
                <p:cNvSpPr/>
                <p:nvPr/>
              </p:nvSpPr>
              <p:spPr>
                <a:xfrm>
                  <a:off x="2574925" y="1533525"/>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FFFFFF"/>
                  </a:solidFill>
                </a:ln>
              </p:spPr>
            </p:sp>
          </p:grpSp>
          <p:sp>
            <p:nvSpPr>
              <p:cNvPr id="41" name="TextBox 41"/>
              <p:cNvSpPr txBox="1"/>
              <p:nvPr/>
            </p:nvSpPr>
            <p:spPr>
              <a:xfrm>
                <a:off x="2509406" y="2160032"/>
                <a:ext cx="181839"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授权</a:t>
                </a:r>
              </a:p>
            </p:txBody>
          </p:sp>
          <p:sp>
            <p:nvSpPr>
              <p:cNvPr id="42" name="TextBox 42"/>
              <p:cNvSpPr txBox="1"/>
              <p:nvPr/>
            </p:nvSpPr>
            <p:spPr>
              <a:xfrm>
                <a:off x="2391487" y="2281238"/>
                <a:ext cx="417676"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4,200​​</a:t>
                </a:r>
              </a:p>
            </p:txBody>
          </p:sp>
          <p:sp>
            <p:nvSpPr>
              <p:cNvPr id="43" name="Rectangle 43"/>
              <p:cNvSpPr/>
              <p:nvPr/>
            </p:nvSpPr>
            <p:spPr>
              <a:xfrm>
                <a:off x="2933700" y="1409700"/>
                <a:ext cx="590550" cy="685800"/>
              </a:xfrm>
              <a:prstGeom prst="roundRect">
                <a:avLst>
                  <a:gd name="adj" fmla="val 4839"/>
                </a:avLst>
              </a:prstGeom>
              <a:solidFill>
                <a:srgbClr val="A3422F"/>
              </a:solidFill>
              <a:ln>
                <a:noFill/>
              </a:ln>
            </p:spPr>
          </p:sp>
          <p:sp>
            <p:nvSpPr>
              <p:cNvPr id="44" name="Ellipse 44"/>
              <p:cNvSpPr/>
              <p:nvPr/>
            </p:nvSpPr>
            <p:spPr>
              <a:xfrm>
                <a:off x="3162300" y="1428750"/>
                <a:ext cx="133350" cy="133350"/>
              </a:xfrm>
              <a:prstGeom prst="ellipse">
                <a:avLst/>
              </a:prstGeom>
              <a:solidFill>
                <a:srgbClr val="FFFFFF"/>
              </a:solidFill>
              <a:ln>
                <a:noFill/>
              </a:ln>
            </p:spPr>
          </p:sp>
          <p:sp>
            <p:nvSpPr>
              <p:cNvPr id="45" name="TextBox 45"/>
              <p:cNvSpPr txBox="1"/>
              <p:nvPr/>
            </p:nvSpPr>
            <p:spPr>
              <a:xfrm>
                <a:off x="3180676" y="1463278"/>
                <a:ext cx="96597" cy="111919"/>
              </a:xfrm>
              <a:prstGeom prst="rect">
                <a:avLst/>
              </a:prstGeom>
              <a:noFill/>
              <a:ln>
                <a:noFill/>
              </a:ln>
            </p:spPr>
            <p:txBody>
              <a:bodyPr wrap="none" lIns="0" tIns="0" rIns="0" bIns="0" anchor="t" anchorCtr="0">
                <a:spAutoFit/>
              </a:bodyPr>
              <a:lstStyle/>
              <a:p>
                <a:pPr algn="ctr"/>
                <a:r>
                  <a:rPr lang="zh-CN" sz="560" b="1" dirty="0">
                    <a:solidFill>
                      <a:srgbClr val="5D190B"/>
                    </a:solidFill>
                    <a:latin typeface="+mn-lt"/>
                    <a:ea typeface="+mn-ea"/>
                    <a:cs typeface="+mn-cs"/>
                  </a:rPr>
                  <a:t>5​</a:t>
                </a:r>
              </a:p>
            </p:txBody>
          </p:sp>
          <p:grpSp>
            <p:nvGrpSpPr>
              <p:cNvPr id="51" name="Group 51"/>
              <p:cNvGrpSpPr/>
              <p:nvPr/>
            </p:nvGrpSpPr>
            <p:grpSpPr>
              <a:xfrm>
                <a:off x="3184525" y="1638300"/>
                <a:ext cx="88900" cy="114300"/>
                <a:chOff x="3184525" y="1638300"/>
                <a:chExt cx="88900" cy="114300"/>
              </a:xfrm>
            </p:grpSpPr>
            <p:sp>
              <p:nvSpPr>
                <p:cNvPr id="46" name="Freeform 46"/>
                <p:cNvSpPr/>
                <p:nvPr/>
              </p:nvSpPr>
              <p:spPr>
                <a:xfrm>
                  <a:off x="3241675" y="16383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FFFFFF"/>
                  </a:solidFill>
                </a:ln>
              </p:spPr>
            </p:sp>
            <p:sp>
              <p:nvSpPr>
                <p:cNvPr id="47" name="Freeform 47"/>
                <p:cNvSpPr/>
                <p:nvPr/>
              </p:nvSpPr>
              <p:spPr>
                <a:xfrm>
                  <a:off x="3184525" y="16383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FFFFFF"/>
                  </a:solidFill>
                </a:ln>
              </p:spPr>
            </p:sp>
            <p:sp>
              <p:nvSpPr>
                <p:cNvPr id="48" name="Freeform 48"/>
                <p:cNvSpPr/>
                <p:nvPr/>
              </p:nvSpPr>
              <p:spPr>
                <a:xfrm>
                  <a:off x="3209925" y="1676400"/>
                  <a:ext cx="9525" cy="9525"/>
                </a:xfrm>
                <a:custGeom>
                  <a:avLst/>
                  <a:gdLst/>
                  <a:ahLst/>
                  <a:cxnLst/>
                  <a:rect l="l" t="t" r="r" b="b"/>
                  <a:pathLst>
                    <a:path w="9525" h="9525">
                      <a:moveTo>
                        <a:pt x="0" y="0"/>
                      </a:moveTo>
                      <a:lnTo>
                        <a:pt x="6350" y="0"/>
                      </a:lnTo>
                    </a:path>
                  </a:pathLst>
                </a:custGeom>
                <a:noFill/>
                <a:ln w="12700">
                  <a:solidFill>
                    <a:srgbClr val="FFFFFF"/>
                  </a:solidFill>
                </a:ln>
              </p:spPr>
            </p:sp>
            <p:sp>
              <p:nvSpPr>
                <p:cNvPr id="49" name="Freeform 49"/>
                <p:cNvSpPr/>
                <p:nvPr/>
              </p:nvSpPr>
              <p:spPr>
                <a:xfrm>
                  <a:off x="3209925" y="1701800"/>
                  <a:ext cx="38100" cy="9525"/>
                </a:xfrm>
                <a:custGeom>
                  <a:avLst/>
                  <a:gdLst/>
                  <a:ahLst/>
                  <a:cxnLst/>
                  <a:rect l="l" t="t" r="r" b="b"/>
                  <a:pathLst>
                    <a:path w="38100" h="9525">
                      <a:moveTo>
                        <a:pt x="0" y="0"/>
                      </a:moveTo>
                      <a:lnTo>
                        <a:pt x="38100" y="0"/>
                      </a:lnTo>
                    </a:path>
                  </a:pathLst>
                </a:custGeom>
                <a:noFill/>
                <a:ln w="12700">
                  <a:solidFill>
                    <a:srgbClr val="FFFFFF"/>
                  </a:solidFill>
                </a:ln>
              </p:spPr>
            </p:sp>
            <p:sp>
              <p:nvSpPr>
                <p:cNvPr id="50" name="Freeform 50"/>
                <p:cNvSpPr/>
                <p:nvPr/>
              </p:nvSpPr>
              <p:spPr>
                <a:xfrm>
                  <a:off x="3209925" y="1727200"/>
                  <a:ext cx="38100" cy="9525"/>
                </a:xfrm>
                <a:custGeom>
                  <a:avLst/>
                  <a:gdLst/>
                  <a:ahLst/>
                  <a:cxnLst/>
                  <a:rect l="l" t="t" r="r" b="b"/>
                  <a:pathLst>
                    <a:path w="38100" h="9525">
                      <a:moveTo>
                        <a:pt x="0" y="0"/>
                      </a:moveTo>
                      <a:lnTo>
                        <a:pt x="38100" y="0"/>
                      </a:lnTo>
                    </a:path>
                  </a:pathLst>
                </a:custGeom>
                <a:noFill/>
                <a:ln w="12700">
                  <a:solidFill>
                    <a:srgbClr val="FFFFFF"/>
                  </a:solidFill>
                </a:ln>
              </p:spPr>
            </p:sp>
          </p:grpSp>
          <p:sp>
            <p:nvSpPr>
              <p:cNvPr id="52" name="TextBox 52"/>
              <p:cNvSpPr txBox="1"/>
              <p:nvPr/>
            </p:nvSpPr>
            <p:spPr>
              <a:xfrm>
                <a:off x="3051899" y="2160032"/>
                <a:ext cx="354152"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有效留资</a:t>
                </a:r>
              </a:p>
            </p:txBody>
          </p:sp>
          <p:sp>
            <p:nvSpPr>
              <p:cNvPr id="53" name="TextBox 53"/>
              <p:cNvSpPr txBox="1"/>
              <p:nvPr/>
            </p:nvSpPr>
            <p:spPr>
              <a:xfrm>
                <a:off x="3020137" y="2281238"/>
                <a:ext cx="417676"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3,000​​</a:t>
                </a:r>
              </a:p>
            </p:txBody>
          </p:sp>
          <p:sp>
            <p:nvSpPr>
              <p:cNvPr id="54" name="Rectangle 54"/>
              <p:cNvSpPr/>
              <p:nvPr/>
            </p:nvSpPr>
            <p:spPr>
              <a:xfrm>
                <a:off x="3562350" y="1514475"/>
                <a:ext cx="590550" cy="581025"/>
              </a:xfrm>
              <a:prstGeom prst="roundRect">
                <a:avLst>
                  <a:gd name="adj" fmla="val 4918"/>
                </a:avLst>
              </a:prstGeom>
              <a:solidFill>
                <a:srgbClr val="B55745"/>
              </a:solidFill>
              <a:ln>
                <a:noFill/>
              </a:ln>
            </p:spPr>
          </p:sp>
          <p:sp>
            <p:nvSpPr>
              <p:cNvPr id="55" name="Ellipse 55"/>
              <p:cNvSpPr/>
              <p:nvPr/>
            </p:nvSpPr>
            <p:spPr>
              <a:xfrm>
                <a:off x="3790950" y="1533525"/>
                <a:ext cx="133350" cy="133350"/>
              </a:xfrm>
              <a:prstGeom prst="ellipse">
                <a:avLst/>
              </a:prstGeom>
              <a:solidFill>
                <a:srgbClr val="5D190B"/>
              </a:solidFill>
              <a:ln>
                <a:noFill/>
              </a:ln>
            </p:spPr>
          </p:sp>
          <p:sp>
            <p:nvSpPr>
              <p:cNvPr id="56" name="TextBox 56"/>
              <p:cNvSpPr txBox="1"/>
              <p:nvPr/>
            </p:nvSpPr>
            <p:spPr>
              <a:xfrm>
                <a:off x="3809326" y="1568053"/>
                <a:ext cx="96597"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6​</a:t>
                </a:r>
              </a:p>
            </p:txBody>
          </p:sp>
          <p:grpSp>
            <p:nvGrpSpPr>
              <p:cNvPr id="65" name="Group 65"/>
              <p:cNvGrpSpPr/>
              <p:nvPr/>
            </p:nvGrpSpPr>
            <p:grpSpPr>
              <a:xfrm>
                <a:off x="3800475" y="1743075"/>
                <a:ext cx="117475" cy="123825"/>
                <a:chOff x="3800475" y="1743075"/>
                <a:chExt cx="117475" cy="123825"/>
              </a:xfrm>
            </p:grpSpPr>
            <p:sp>
              <p:nvSpPr>
                <p:cNvPr id="57" name="Freeform 57"/>
                <p:cNvSpPr/>
                <p:nvPr/>
              </p:nvSpPr>
              <p:spPr>
                <a:xfrm>
                  <a:off x="3800475" y="1857375"/>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58" name="Freeform 58"/>
                <p:cNvSpPr/>
                <p:nvPr/>
              </p:nvSpPr>
              <p:spPr>
                <a:xfrm>
                  <a:off x="3800475" y="1787525"/>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59" name="Freeform 59"/>
                <p:cNvSpPr/>
                <p:nvPr/>
              </p:nvSpPr>
              <p:spPr>
                <a:xfrm>
                  <a:off x="3813175" y="1743075"/>
                  <a:ext cx="88900" cy="19050"/>
                </a:xfrm>
                <a:custGeom>
                  <a:avLst/>
                  <a:gdLst/>
                  <a:ahLst/>
                  <a:cxnLst/>
                  <a:rect l="l" t="t" r="r" b="b"/>
                  <a:pathLst>
                    <a:path w="88900" h="19050">
                      <a:moveTo>
                        <a:pt x="0" y="19050"/>
                      </a:moveTo>
                      <a:lnTo>
                        <a:pt x="44450" y="0"/>
                      </a:lnTo>
                      <a:lnTo>
                        <a:pt x="88900" y="19050"/>
                      </a:lnTo>
                    </a:path>
                  </a:pathLst>
                </a:custGeom>
                <a:noFill/>
                <a:ln w="12700">
                  <a:solidFill>
                    <a:srgbClr val="FFFFFF"/>
                  </a:solidFill>
                </a:ln>
              </p:spPr>
            </p:sp>
            <p:sp>
              <p:nvSpPr>
                <p:cNvPr id="60" name="Freeform 60"/>
                <p:cNvSpPr/>
                <p:nvPr/>
              </p:nvSpPr>
              <p:spPr>
                <a:xfrm>
                  <a:off x="3806825" y="1787525"/>
                  <a:ext cx="9525" cy="69850"/>
                </a:xfrm>
                <a:custGeom>
                  <a:avLst/>
                  <a:gdLst/>
                  <a:ahLst/>
                  <a:cxnLst/>
                  <a:rect l="l" t="t" r="r" b="b"/>
                  <a:pathLst>
                    <a:path w="9525" h="69850">
                      <a:moveTo>
                        <a:pt x="0" y="0"/>
                      </a:moveTo>
                      <a:lnTo>
                        <a:pt x="0" y="69850"/>
                      </a:lnTo>
                    </a:path>
                  </a:pathLst>
                </a:custGeom>
                <a:noFill/>
                <a:ln w="12700">
                  <a:solidFill>
                    <a:srgbClr val="FFFFFF"/>
                  </a:solidFill>
                </a:ln>
              </p:spPr>
            </p:sp>
            <p:sp>
              <p:nvSpPr>
                <p:cNvPr id="61" name="Freeform 61"/>
                <p:cNvSpPr/>
                <p:nvPr/>
              </p:nvSpPr>
              <p:spPr>
                <a:xfrm>
                  <a:off x="3908425" y="1787525"/>
                  <a:ext cx="9525" cy="69850"/>
                </a:xfrm>
                <a:custGeom>
                  <a:avLst/>
                  <a:gdLst/>
                  <a:ahLst/>
                  <a:cxnLst/>
                  <a:rect l="l" t="t" r="r" b="b"/>
                  <a:pathLst>
                    <a:path w="9525" h="69850">
                      <a:moveTo>
                        <a:pt x="0" y="0"/>
                      </a:moveTo>
                      <a:lnTo>
                        <a:pt x="0" y="69850"/>
                      </a:lnTo>
                    </a:path>
                  </a:pathLst>
                </a:custGeom>
                <a:noFill/>
                <a:ln w="12700">
                  <a:solidFill>
                    <a:srgbClr val="FFFFFF"/>
                  </a:solidFill>
                </a:ln>
              </p:spPr>
            </p:sp>
            <p:sp>
              <p:nvSpPr>
                <p:cNvPr id="62" name="Freeform 62"/>
                <p:cNvSpPr/>
                <p:nvPr/>
              </p:nvSpPr>
              <p:spPr>
                <a:xfrm>
                  <a:off x="3832225" y="1812925"/>
                  <a:ext cx="9525" cy="19050"/>
                </a:xfrm>
                <a:custGeom>
                  <a:avLst/>
                  <a:gdLst/>
                  <a:ahLst/>
                  <a:cxnLst/>
                  <a:rect l="l" t="t" r="r" b="b"/>
                  <a:pathLst>
                    <a:path w="9525" h="19050">
                      <a:moveTo>
                        <a:pt x="0" y="0"/>
                      </a:moveTo>
                      <a:lnTo>
                        <a:pt x="0" y="19050"/>
                      </a:lnTo>
                    </a:path>
                  </a:pathLst>
                </a:custGeom>
                <a:noFill/>
                <a:ln w="12700">
                  <a:solidFill>
                    <a:srgbClr val="FFFFFF"/>
                  </a:solidFill>
                </a:ln>
              </p:spPr>
            </p:sp>
            <p:sp>
              <p:nvSpPr>
                <p:cNvPr id="63" name="Freeform 63"/>
                <p:cNvSpPr/>
                <p:nvPr/>
              </p:nvSpPr>
              <p:spPr>
                <a:xfrm>
                  <a:off x="3857625" y="1812925"/>
                  <a:ext cx="9525" cy="19050"/>
                </a:xfrm>
                <a:custGeom>
                  <a:avLst/>
                  <a:gdLst/>
                  <a:ahLst/>
                  <a:cxnLst/>
                  <a:rect l="l" t="t" r="r" b="b"/>
                  <a:pathLst>
                    <a:path w="9525" h="19050">
                      <a:moveTo>
                        <a:pt x="0" y="0"/>
                      </a:moveTo>
                      <a:lnTo>
                        <a:pt x="0" y="19050"/>
                      </a:lnTo>
                    </a:path>
                  </a:pathLst>
                </a:custGeom>
                <a:noFill/>
                <a:ln w="12700">
                  <a:solidFill>
                    <a:srgbClr val="FFFFFF"/>
                  </a:solidFill>
                </a:ln>
              </p:spPr>
            </p:sp>
            <p:sp>
              <p:nvSpPr>
                <p:cNvPr id="64" name="Freeform 64"/>
                <p:cNvSpPr/>
                <p:nvPr/>
              </p:nvSpPr>
              <p:spPr>
                <a:xfrm>
                  <a:off x="3883025" y="1812925"/>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66" name="TextBox 66"/>
              <p:cNvSpPr txBox="1"/>
              <p:nvPr/>
            </p:nvSpPr>
            <p:spPr>
              <a:xfrm>
                <a:off x="3766706" y="2160032"/>
                <a:ext cx="181839"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开户</a:t>
                </a:r>
              </a:p>
            </p:txBody>
          </p:sp>
          <p:sp>
            <p:nvSpPr>
              <p:cNvPr id="67" name="TextBox 67"/>
              <p:cNvSpPr txBox="1"/>
              <p:nvPr/>
            </p:nvSpPr>
            <p:spPr>
              <a:xfrm>
                <a:off x="3648787" y="2281238"/>
                <a:ext cx="417676"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1,800​​</a:t>
                </a:r>
              </a:p>
            </p:txBody>
          </p:sp>
          <p:sp>
            <p:nvSpPr>
              <p:cNvPr id="68" name="Rectangle 68"/>
              <p:cNvSpPr/>
              <p:nvPr/>
            </p:nvSpPr>
            <p:spPr>
              <a:xfrm>
                <a:off x="4191000" y="1619250"/>
                <a:ext cx="590550" cy="476250"/>
              </a:xfrm>
              <a:prstGeom prst="roundRect">
                <a:avLst>
                  <a:gd name="adj" fmla="val 6000"/>
                </a:avLst>
              </a:prstGeom>
              <a:solidFill>
                <a:srgbClr val="BF6F5F"/>
              </a:solidFill>
              <a:ln>
                <a:noFill/>
              </a:ln>
            </p:spPr>
          </p:sp>
          <p:sp>
            <p:nvSpPr>
              <p:cNvPr id="69" name="Ellipse 69"/>
              <p:cNvSpPr/>
              <p:nvPr/>
            </p:nvSpPr>
            <p:spPr>
              <a:xfrm>
                <a:off x="4419600" y="1638300"/>
                <a:ext cx="133350" cy="133350"/>
              </a:xfrm>
              <a:prstGeom prst="ellipse">
                <a:avLst/>
              </a:prstGeom>
              <a:solidFill>
                <a:srgbClr val="5D190B"/>
              </a:solidFill>
              <a:ln>
                <a:noFill/>
              </a:ln>
            </p:spPr>
          </p:sp>
          <p:sp>
            <p:nvSpPr>
              <p:cNvPr id="70" name="TextBox 70"/>
              <p:cNvSpPr txBox="1"/>
              <p:nvPr/>
            </p:nvSpPr>
            <p:spPr>
              <a:xfrm>
                <a:off x="4437976" y="1672828"/>
                <a:ext cx="96597"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7​</a:t>
                </a:r>
              </a:p>
            </p:txBody>
          </p:sp>
          <p:grpSp>
            <p:nvGrpSpPr>
              <p:cNvPr id="75" name="Group 75"/>
              <p:cNvGrpSpPr/>
              <p:nvPr/>
            </p:nvGrpSpPr>
            <p:grpSpPr>
              <a:xfrm>
                <a:off x="4429125" y="1860550"/>
                <a:ext cx="114300" cy="88900"/>
                <a:chOff x="4429125" y="1860550"/>
                <a:chExt cx="114300" cy="88900"/>
              </a:xfrm>
            </p:grpSpPr>
            <p:sp>
              <p:nvSpPr>
                <p:cNvPr id="71" name="Freeform 71"/>
                <p:cNvSpPr/>
                <p:nvPr/>
              </p:nvSpPr>
              <p:spPr>
                <a:xfrm>
                  <a:off x="4429125" y="1860550"/>
                  <a:ext cx="114300" cy="88900"/>
                </a:xfrm>
                <a:custGeom>
                  <a:avLst/>
                  <a:gdLst/>
                  <a:ahLst/>
                  <a:cxnLst/>
                  <a:rect l="l" t="t" r="r" b="b"/>
                  <a:pathLst>
                    <a:path w="114300" h="88900">
                      <a:moveTo>
                        <a:pt x="0" y="19050"/>
                      </a:moveTo>
                      <a:cubicBezTo>
                        <a:pt x="0" y="8529"/>
                        <a:pt x="8529" y="0"/>
                        <a:pt x="19050" y="0"/>
                      </a:cubicBezTo>
                      <a:lnTo>
                        <a:pt x="95250" y="0"/>
                      </a:lnTo>
                      <a:cubicBezTo>
                        <a:pt x="105771" y="0"/>
                        <a:pt x="114300" y="8529"/>
                        <a:pt x="114300" y="19050"/>
                      </a:cubicBezTo>
                      <a:lnTo>
                        <a:pt x="114300" y="69850"/>
                      </a:lnTo>
                      <a:cubicBezTo>
                        <a:pt x="114300" y="80371"/>
                        <a:pt x="105771" y="88900"/>
                        <a:pt x="95250" y="88900"/>
                      </a:cubicBezTo>
                      <a:lnTo>
                        <a:pt x="19050" y="88900"/>
                      </a:lnTo>
                      <a:cubicBezTo>
                        <a:pt x="8529" y="88900"/>
                        <a:pt x="0" y="80371"/>
                        <a:pt x="0" y="69850"/>
                      </a:cubicBezTo>
                      <a:lnTo>
                        <a:pt x="0" y="19050"/>
                      </a:lnTo>
                    </a:path>
                  </a:pathLst>
                </a:custGeom>
                <a:noFill/>
                <a:ln w="12700">
                  <a:solidFill>
                    <a:srgbClr val="FFFFFF"/>
                  </a:solidFill>
                </a:ln>
              </p:spPr>
            </p:sp>
            <p:sp>
              <p:nvSpPr>
                <p:cNvPr id="72" name="Freeform 72"/>
                <p:cNvSpPr/>
                <p:nvPr/>
              </p:nvSpPr>
              <p:spPr>
                <a:xfrm>
                  <a:off x="4429125" y="1892300"/>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73" name="Freeform 73"/>
                <p:cNvSpPr/>
                <p:nvPr/>
              </p:nvSpPr>
              <p:spPr>
                <a:xfrm>
                  <a:off x="4454525" y="1924050"/>
                  <a:ext cx="9525" cy="9525"/>
                </a:xfrm>
                <a:custGeom>
                  <a:avLst/>
                  <a:gdLst/>
                  <a:ahLst/>
                  <a:cxnLst/>
                  <a:rect l="l" t="t" r="r" b="b"/>
                  <a:pathLst>
                    <a:path w="9525" h="9525">
                      <a:moveTo>
                        <a:pt x="0" y="0"/>
                      </a:moveTo>
                      <a:lnTo>
                        <a:pt x="64" y="0"/>
                      </a:lnTo>
                    </a:path>
                  </a:pathLst>
                </a:custGeom>
                <a:noFill/>
                <a:ln w="12700">
                  <a:solidFill>
                    <a:srgbClr val="FFFFFF"/>
                  </a:solidFill>
                </a:ln>
              </p:spPr>
            </p:sp>
            <p:sp>
              <p:nvSpPr>
                <p:cNvPr id="74" name="Freeform 74"/>
                <p:cNvSpPr/>
                <p:nvPr/>
              </p:nvSpPr>
              <p:spPr>
                <a:xfrm>
                  <a:off x="4479925" y="1924050"/>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76" name="TextBox 76"/>
              <p:cNvSpPr txBox="1"/>
              <p:nvPr/>
            </p:nvSpPr>
            <p:spPr>
              <a:xfrm>
                <a:off x="4395356" y="2160032"/>
                <a:ext cx="181839"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绑卡</a:t>
                </a:r>
              </a:p>
            </p:txBody>
          </p:sp>
          <p:sp>
            <p:nvSpPr>
              <p:cNvPr id="77" name="TextBox 77"/>
              <p:cNvSpPr txBox="1"/>
              <p:nvPr/>
            </p:nvSpPr>
            <p:spPr>
              <a:xfrm>
                <a:off x="4277437" y="2281238"/>
                <a:ext cx="417676"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1,200​​</a:t>
                </a:r>
              </a:p>
            </p:txBody>
          </p:sp>
          <p:sp>
            <p:nvSpPr>
              <p:cNvPr id="78" name="Rectangle 78"/>
              <p:cNvSpPr/>
              <p:nvPr/>
            </p:nvSpPr>
            <p:spPr>
              <a:xfrm>
                <a:off x="4819650" y="1714500"/>
                <a:ext cx="590550" cy="381000"/>
              </a:xfrm>
              <a:prstGeom prst="roundRect">
                <a:avLst>
                  <a:gd name="adj" fmla="val 7500"/>
                </a:avLst>
              </a:prstGeom>
              <a:solidFill>
                <a:srgbClr val="C68679"/>
              </a:solidFill>
              <a:ln>
                <a:noFill/>
              </a:ln>
            </p:spPr>
          </p:sp>
          <p:sp>
            <p:nvSpPr>
              <p:cNvPr id="79" name="Ellipse 79"/>
              <p:cNvSpPr/>
              <p:nvPr/>
            </p:nvSpPr>
            <p:spPr>
              <a:xfrm>
                <a:off x="5048250" y="1733550"/>
                <a:ext cx="133350" cy="133350"/>
              </a:xfrm>
              <a:prstGeom prst="ellipse">
                <a:avLst/>
              </a:prstGeom>
              <a:solidFill>
                <a:srgbClr val="5D190B"/>
              </a:solidFill>
              <a:ln>
                <a:noFill/>
              </a:ln>
            </p:spPr>
          </p:sp>
          <p:sp>
            <p:nvSpPr>
              <p:cNvPr id="80" name="TextBox 80"/>
              <p:cNvSpPr txBox="1"/>
              <p:nvPr/>
            </p:nvSpPr>
            <p:spPr>
              <a:xfrm>
                <a:off x="5066626" y="1768078"/>
                <a:ext cx="96597"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8​</a:t>
                </a:r>
              </a:p>
            </p:txBody>
          </p:sp>
          <p:grpSp>
            <p:nvGrpSpPr>
              <p:cNvPr id="84" name="Group 84"/>
              <p:cNvGrpSpPr/>
              <p:nvPr/>
            </p:nvGrpSpPr>
            <p:grpSpPr>
              <a:xfrm>
                <a:off x="5057775" y="1955800"/>
                <a:ext cx="114300" cy="88900"/>
                <a:chOff x="5057775" y="1955800"/>
                <a:chExt cx="114300" cy="88900"/>
              </a:xfrm>
            </p:grpSpPr>
            <p:sp>
              <p:nvSpPr>
                <p:cNvPr id="81" name="Freeform 81"/>
                <p:cNvSpPr/>
                <p:nvPr/>
              </p:nvSpPr>
              <p:spPr>
                <a:xfrm>
                  <a:off x="5057775" y="1955800"/>
                  <a:ext cx="88900" cy="63500"/>
                </a:xfrm>
                <a:custGeom>
                  <a:avLst/>
                  <a:gdLst/>
                  <a:ahLst/>
                  <a:cxnLst/>
                  <a:rect l="l" t="t" r="r" b="b"/>
                  <a:pathLst>
                    <a:path w="88900" h="63500">
                      <a:moveTo>
                        <a:pt x="25400" y="63500"/>
                      </a:moveTo>
                      <a:lnTo>
                        <a:pt x="6350" y="63500"/>
                      </a:lnTo>
                      <a:cubicBezTo>
                        <a:pt x="2843" y="63500"/>
                        <a:pt x="0" y="60657"/>
                        <a:pt x="0" y="57150"/>
                      </a:cubicBezTo>
                      <a:lnTo>
                        <a:pt x="0" y="6350"/>
                      </a:lnTo>
                      <a:cubicBezTo>
                        <a:pt x="0" y="2843"/>
                        <a:pt x="2843" y="0"/>
                        <a:pt x="6350" y="0"/>
                      </a:cubicBezTo>
                      <a:lnTo>
                        <a:pt x="82550" y="0"/>
                      </a:lnTo>
                      <a:cubicBezTo>
                        <a:pt x="86057" y="0"/>
                        <a:pt x="88900" y="2843"/>
                        <a:pt x="88900" y="6350"/>
                      </a:cubicBezTo>
                      <a:lnTo>
                        <a:pt x="88900" y="25400"/>
                      </a:lnTo>
                    </a:path>
                  </a:pathLst>
                </a:custGeom>
                <a:noFill/>
                <a:ln w="12700">
                  <a:solidFill>
                    <a:srgbClr val="FFFFFF"/>
                  </a:solidFill>
                </a:ln>
              </p:spPr>
            </p:sp>
            <p:sp>
              <p:nvSpPr>
                <p:cNvPr id="82" name="Freeform 82"/>
                <p:cNvSpPr/>
                <p:nvPr/>
              </p:nvSpPr>
              <p:spPr>
                <a:xfrm>
                  <a:off x="5083175" y="1981200"/>
                  <a:ext cx="88900" cy="63500"/>
                </a:xfrm>
                <a:custGeom>
                  <a:avLst/>
                  <a:gdLst/>
                  <a:ahLst/>
                  <a:cxnLst/>
                  <a:rect l="l" t="t" r="r" b="b"/>
                  <a:pathLst>
                    <a:path w="88900" h="63500">
                      <a:moveTo>
                        <a:pt x="0" y="6350"/>
                      </a:moveTo>
                      <a:cubicBezTo>
                        <a:pt x="0" y="2843"/>
                        <a:pt x="2843" y="0"/>
                        <a:pt x="6350" y="0"/>
                      </a:cubicBezTo>
                      <a:lnTo>
                        <a:pt x="82550" y="0"/>
                      </a:lnTo>
                      <a:cubicBezTo>
                        <a:pt x="86057" y="0"/>
                        <a:pt x="88900" y="2843"/>
                        <a:pt x="88900" y="6350"/>
                      </a:cubicBezTo>
                      <a:lnTo>
                        <a:pt x="88900" y="57150"/>
                      </a:lnTo>
                      <a:cubicBezTo>
                        <a:pt x="88900" y="60657"/>
                        <a:pt x="86057" y="63500"/>
                        <a:pt x="82550" y="63500"/>
                      </a:cubicBezTo>
                      <a:lnTo>
                        <a:pt x="6350" y="63500"/>
                      </a:lnTo>
                      <a:cubicBezTo>
                        <a:pt x="2843" y="63500"/>
                        <a:pt x="0" y="60657"/>
                        <a:pt x="0" y="57150"/>
                      </a:cubicBezTo>
                      <a:lnTo>
                        <a:pt x="0" y="6350"/>
                      </a:lnTo>
                    </a:path>
                  </a:pathLst>
                </a:custGeom>
                <a:noFill/>
                <a:ln w="12700">
                  <a:solidFill>
                    <a:srgbClr val="FFFFFF"/>
                  </a:solidFill>
                </a:ln>
              </p:spPr>
            </p:sp>
            <p:sp>
              <p:nvSpPr>
                <p:cNvPr id="83" name="Freeform 83"/>
                <p:cNvSpPr/>
                <p:nvPr/>
              </p:nvSpPr>
              <p:spPr>
                <a:xfrm>
                  <a:off x="5114925" y="2000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grpSp>
          <p:sp>
            <p:nvSpPr>
              <p:cNvPr id="85" name="TextBox 85"/>
              <p:cNvSpPr txBox="1"/>
              <p:nvPr/>
            </p:nvSpPr>
            <p:spPr>
              <a:xfrm>
                <a:off x="4937849" y="2160032"/>
                <a:ext cx="354152"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首笔交易</a:t>
                </a:r>
              </a:p>
            </p:txBody>
          </p:sp>
          <p:sp>
            <p:nvSpPr>
              <p:cNvPr id="86" name="TextBox 86"/>
              <p:cNvSpPr txBox="1"/>
              <p:nvPr/>
            </p:nvSpPr>
            <p:spPr>
              <a:xfrm>
                <a:off x="4993548" y="2281238"/>
                <a:ext cx="242754"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760​</a:t>
                </a:r>
              </a:p>
            </p:txBody>
          </p:sp>
          <p:sp>
            <p:nvSpPr>
              <p:cNvPr id="87" name="Rectangle 87"/>
              <p:cNvSpPr/>
              <p:nvPr/>
            </p:nvSpPr>
            <p:spPr>
              <a:xfrm>
                <a:off x="5448300" y="1809750"/>
                <a:ext cx="590550" cy="285750"/>
              </a:xfrm>
              <a:prstGeom prst="roundRect">
                <a:avLst>
                  <a:gd name="adj" fmla="val 10000"/>
                </a:avLst>
              </a:prstGeom>
              <a:solidFill>
                <a:srgbClr val="D9B1A9"/>
              </a:solidFill>
              <a:ln>
                <a:noFill/>
              </a:ln>
            </p:spPr>
          </p:sp>
          <p:sp>
            <p:nvSpPr>
              <p:cNvPr id="88" name="Ellipse 88"/>
              <p:cNvSpPr/>
              <p:nvPr/>
            </p:nvSpPr>
            <p:spPr>
              <a:xfrm>
                <a:off x="5676900" y="1828800"/>
                <a:ext cx="133350" cy="133350"/>
              </a:xfrm>
              <a:prstGeom prst="ellipse">
                <a:avLst/>
              </a:prstGeom>
              <a:solidFill>
                <a:srgbClr val="5D190B"/>
              </a:solidFill>
              <a:ln>
                <a:noFill/>
              </a:ln>
            </p:spPr>
          </p:sp>
          <p:sp>
            <p:nvSpPr>
              <p:cNvPr id="89" name="TextBox 89"/>
              <p:cNvSpPr txBox="1"/>
              <p:nvPr/>
            </p:nvSpPr>
            <p:spPr>
              <a:xfrm>
                <a:off x="5695276" y="1863328"/>
                <a:ext cx="96597"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9​</a:t>
                </a:r>
              </a:p>
            </p:txBody>
          </p:sp>
          <p:sp>
            <p:nvSpPr>
              <p:cNvPr id="90" name="TextBox 90"/>
              <p:cNvSpPr txBox="1"/>
              <p:nvPr/>
            </p:nvSpPr>
            <p:spPr>
              <a:xfrm>
                <a:off x="5538498" y="2160032"/>
                <a:ext cx="410154"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30日复购​</a:t>
                </a:r>
              </a:p>
            </p:txBody>
          </p:sp>
          <p:sp>
            <p:nvSpPr>
              <p:cNvPr id="91" name="TextBox 91"/>
              <p:cNvSpPr txBox="1"/>
              <p:nvPr/>
            </p:nvSpPr>
            <p:spPr>
              <a:xfrm>
                <a:off x="5622198" y="2281238"/>
                <a:ext cx="242754" cy="147638"/>
              </a:xfrm>
              <a:prstGeom prst="rect">
                <a:avLst/>
              </a:prstGeom>
              <a:noFill/>
              <a:ln>
                <a:noFill/>
              </a:ln>
            </p:spPr>
            <p:txBody>
              <a:bodyPr wrap="none" lIns="0" tIns="0" rIns="0" bIns="0" anchor="t" anchorCtr="0">
                <a:spAutoFit/>
              </a:bodyPr>
              <a:lstStyle/>
              <a:p>
                <a:pPr algn="ctr"/>
                <a:r>
                  <a:rPr lang="zh-CN" sz="750" b="1" dirty="0">
                    <a:solidFill>
                      <a:srgbClr val="5D190B"/>
                    </a:solidFill>
                    <a:latin typeface="+mn-lt"/>
                    <a:ea typeface="+mn-ea"/>
                    <a:cs typeface="+mn-cs"/>
                  </a:rPr>
                  <a:t>380​</a:t>
                </a:r>
              </a:p>
            </p:txBody>
          </p:sp>
        </p:grpSp>
        <p:grpSp>
          <p:nvGrpSpPr>
            <p:cNvPr id="101" name="conv-row"/>
            <p:cNvGrpSpPr/>
            <p:nvPr/>
          </p:nvGrpSpPr>
          <p:grpSpPr>
            <a:xfrm>
              <a:off x="840315" y="2479834"/>
              <a:ext cx="4777321" cy="228600"/>
              <a:chOff x="840315" y="2479834"/>
              <a:chExt cx="4777321" cy="228600"/>
            </a:xfrm>
          </p:grpSpPr>
          <p:sp>
            <p:nvSpPr>
              <p:cNvPr id="93" name="TextBox 93"/>
              <p:cNvSpPr txBox="1"/>
              <p:nvPr/>
            </p:nvSpPr>
            <p:spPr>
              <a:xfrm>
                <a:off x="840315" y="2479834"/>
                <a:ext cx="376771"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76200F"/>
                    </a:solidFill>
                    <a:latin typeface="+mn-lt"/>
                    <a:ea typeface="+mn-ea"/>
                    <a:cs typeface="+mn-cs"/>
                  </a:rPr>
                  <a:t>12.0%​​</a:t>
                </a:r>
                <a:br/>
                <a:r>
                  <a:rPr lang="zh-CN" sz="680" b="1" dirty="0">
                    <a:solidFill>
                      <a:srgbClr val="76200F"/>
                    </a:solidFill>
                    <a:latin typeface="+mn-lt"/>
                    <a:ea typeface="+mn-ea"/>
                    <a:cs typeface="+mn-cs"/>
                  </a:rPr>
                  <a:t>转化率</a:t>
                </a:r>
              </a:p>
            </p:txBody>
          </p:sp>
          <p:sp>
            <p:nvSpPr>
              <p:cNvPr id="94" name="TextBox 94"/>
              <p:cNvSpPr txBox="1"/>
              <p:nvPr/>
            </p:nvSpPr>
            <p:spPr>
              <a:xfrm>
                <a:off x="1468965" y="2479834"/>
                <a:ext cx="376771"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76200F"/>
                    </a:solidFill>
                    <a:latin typeface="+mn-lt"/>
                    <a:ea typeface="+mn-ea"/>
                    <a:cs typeface="+mn-cs"/>
                  </a:rPr>
                  <a:t>60.0%​​</a:t>
                </a:r>
                <a:br/>
                <a:r>
                  <a:rPr lang="zh-CN" sz="680" b="1" dirty="0">
                    <a:solidFill>
                      <a:srgbClr val="76200F"/>
                    </a:solidFill>
                    <a:latin typeface="+mn-lt"/>
                    <a:ea typeface="+mn-ea"/>
                    <a:cs typeface="+mn-cs"/>
                  </a:rPr>
                  <a:t>转化率</a:t>
                </a:r>
              </a:p>
            </p:txBody>
          </p:sp>
          <p:sp>
            <p:nvSpPr>
              <p:cNvPr id="95" name="TextBox 95"/>
              <p:cNvSpPr txBox="1"/>
              <p:nvPr/>
            </p:nvSpPr>
            <p:spPr>
              <a:xfrm>
                <a:off x="2097615" y="2479834"/>
                <a:ext cx="376771"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76200F"/>
                    </a:solidFill>
                    <a:latin typeface="+mn-lt"/>
                    <a:ea typeface="+mn-ea"/>
                    <a:cs typeface="+mn-cs"/>
                  </a:rPr>
                  <a:t>58.3%​​</a:t>
                </a:r>
                <a:br/>
                <a:r>
                  <a:rPr lang="zh-CN" sz="680" b="1" dirty="0">
                    <a:solidFill>
                      <a:srgbClr val="76200F"/>
                    </a:solidFill>
                    <a:latin typeface="+mn-lt"/>
                    <a:ea typeface="+mn-ea"/>
                    <a:cs typeface="+mn-cs"/>
                  </a:rPr>
                  <a:t>转化率</a:t>
                </a:r>
              </a:p>
            </p:txBody>
          </p:sp>
          <p:sp>
            <p:nvSpPr>
              <p:cNvPr id="96" name="TextBox 96"/>
              <p:cNvSpPr txBox="1"/>
              <p:nvPr/>
            </p:nvSpPr>
            <p:spPr>
              <a:xfrm>
                <a:off x="2726265" y="2479834"/>
                <a:ext cx="376771"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76200F"/>
                    </a:solidFill>
                    <a:latin typeface="+mn-lt"/>
                    <a:ea typeface="+mn-ea"/>
                    <a:cs typeface="+mn-cs"/>
                  </a:rPr>
                  <a:t>71.4%​​</a:t>
                </a:r>
                <a:br/>
                <a:r>
                  <a:rPr lang="zh-CN" sz="680" b="1" dirty="0">
                    <a:solidFill>
                      <a:srgbClr val="76200F"/>
                    </a:solidFill>
                    <a:latin typeface="+mn-lt"/>
                    <a:ea typeface="+mn-ea"/>
                    <a:cs typeface="+mn-cs"/>
                  </a:rPr>
                  <a:t>转化率</a:t>
                </a:r>
              </a:p>
            </p:txBody>
          </p:sp>
          <p:sp>
            <p:nvSpPr>
              <p:cNvPr id="97" name="TextBox 97"/>
              <p:cNvSpPr txBox="1"/>
              <p:nvPr/>
            </p:nvSpPr>
            <p:spPr>
              <a:xfrm>
                <a:off x="3354915" y="2479834"/>
                <a:ext cx="376771"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76200F"/>
                    </a:solidFill>
                    <a:latin typeface="+mn-lt"/>
                    <a:ea typeface="+mn-ea"/>
                    <a:cs typeface="+mn-cs"/>
                  </a:rPr>
                  <a:t>60.0%​​</a:t>
                </a:r>
                <a:br/>
                <a:r>
                  <a:rPr lang="zh-CN" sz="680" b="1" dirty="0">
                    <a:solidFill>
                      <a:srgbClr val="76200F"/>
                    </a:solidFill>
                    <a:latin typeface="+mn-lt"/>
                    <a:ea typeface="+mn-ea"/>
                    <a:cs typeface="+mn-cs"/>
                  </a:rPr>
                  <a:t>转化率</a:t>
                </a:r>
              </a:p>
            </p:txBody>
          </p:sp>
          <p:sp>
            <p:nvSpPr>
              <p:cNvPr id="98" name="TextBox 98"/>
              <p:cNvSpPr txBox="1"/>
              <p:nvPr/>
            </p:nvSpPr>
            <p:spPr>
              <a:xfrm>
                <a:off x="3983565" y="2479834"/>
                <a:ext cx="376771"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76200F"/>
                    </a:solidFill>
                    <a:latin typeface="+mn-lt"/>
                    <a:ea typeface="+mn-ea"/>
                    <a:cs typeface="+mn-cs"/>
                  </a:rPr>
                  <a:t>66.7%​​</a:t>
                </a:r>
                <a:br/>
                <a:r>
                  <a:rPr lang="zh-CN" sz="680" b="1" dirty="0">
                    <a:solidFill>
                      <a:srgbClr val="76200F"/>
                    </a:solidFill>
                    <a:latin typeface="+mn-lt"/>
                    <a:ea typeface="+mn-ea"/>
                    <a:cs typeface="+mn-cs"/>
                  </a:rPr>
                  <a:t>转化率</a:t>
                </a:r>
              </a:p>
            </p:txBody>
          </p:sp>
          <p:sp>
            <p:nvSpPr>
              <p:cNvPr id="99" name="TextBox 99"/>
              <p:cNvSpPr txBox="1"/>
              <p:nvPr/>
            </p:nvSpPr>
            <p:spPr>
              <a:xfrm>
                <a:off x="4612215" y="2479834"/>
                <a:ext cx="376771"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76200F"/>
                    </a:solidFill>
                    <a:latin typeface="+mn-lt"/>
                    <a:ea typeface="+mn-ea"/>
                    <a:cs typeface="+mn-cs"/>
                  </a:rPr>
                  <a:t>63.3%​​</a:t>
                </a:r>
                <a:br/>
                <a:r>
                  <a:rPr lang="zh-CN" sz="680" b="1" dirty="0">
                    <a:solidFill>
                      <a:srgbClr val="76200F"/>
                    </a:solidFill>
                    <a:latin typeface="+mn-lt"/>
                    <a:ea typeface="+mn-ea"/>
                    <a:cs typeface="+mn-cs"/>
                  </a:rPr>
                  <a:t>转化率</a:t>
                </a:r>
              </a:p>
            </p:txBody>
          </p:sp>
          <p:sp>
            <p:nvSpPr>
              <p:cNvPr id="100" name="TextBox 100"/>
              <p:cNvSpPr txBox="1"/>
              <p:nvPr/>
            </p:nvSpPr>
            <p:spPr>
              <a:xfrm>
                <a:off x="5240865" y="2479834"/>
                <a:ext cx="376771" cy="228600"/>
              </a:xfrm>
              <a:prstGeom prst="rect">
                <a:avLst/>
              </a:prstGeom>
              <a:noFill/>
              <a:ln>
                <a:noFill/>
              </a:ln>
            </p:spPr>
            <p:txBody>
              <a:bodyPr wrap="none" lIns="0" tIns="0" rIns="0" bIns="0" anchor="t" anchorCtr="0">
                <a:spAutoFit/>
              </a:bodyPr>
              <a:lstStyle/>
              <a:p>
                <a:pPr algn="ctr">
                  <a:lnSpc>
                    <a:spcPts val="750"/>
                  </a:lnSpc>
                </a:pPr>
                <a:r>
                  <a:rPr lang="zh-CN" sz="680" b="1" dirty="0">
                    <a:solidFill>
                      <a:srgbClr val="76200F"/>
                    </a:solidFill>
                    <a:latin typeface="+mn-lt"/>
                    <a:ea typeface="+mn-ea"/>
                    <a:cs typeface="+mn-cs"/>
                  </a:rPr>
                  <a:t>50.0%​​</a:t>
                </a:r>
                <a:br/>
                <a:r>
                  <a:rPr lang="zh-CN" sz="680" b="1" dirty="0">
                    <a:solidFill>
                      <a:srgbClr val="76200F"/>
                    </a:solidFill>
                    <a:latin typeface="+mn-lt"/>
                    <a:ea typeface="+mn-ea"/>
                    <a:cs typeface="+mn-cs"/>
                  </a:rPr>
                  <a:t>转化率</a:t>
                </a:r>
              </a:p>
            </p:txBody>
          </p:sp>
        </p:grpSp>
      </p:grpSp>
      <p:grpSp>
        <p:nvGrpSpPr>
          <p:cNvPr id="129" name="kpi-board"/>
          <p:cNvGrpSpPr/>
          <p:nvPr/>
        </p:nvGrpSpPr>
        <p:grpSpPr>
          <a:xfrm>
            <a:off x="6515100" y="685800"/>
            <a:ext cx="5314950" cy="2070925"/>
            <a:chOff x="6515100" y="685800"/>
            <a:chExt cx="5314950" cy="2070925"/>
          </a:xfrm>
        </p:grpSpPr>
        <p:sp>
          <p:nvSpPr>
            <p:cNvPr id="103" name="Rectangle 103"/>
            <p:cNvSpPr/>
            <p:nvPr/>
          </p:nvSpPr>
          <p:spPr>
            <a:xfrm>
              <a:off x="6515100" y="685800"/>
              <a:ext cx="1714500" cy="190500"/>
            </a:xfrm>
            <a:prstGeom prst="roundRect">
              <a:avLst>
                <a:gd name="adj" fmla="val 25000"/>
              </a:avLst>
            </a:prstGeom>
            <a:solidFill>
              <a:srgbClr val="76200F"/>
            </a:solidFill>
            <a:ln>
              <a:noFill/>
            </a:ln>
          </p:spPr>
        </p:sp>
        <p:sp>
          <p:nvSpPr>
            <p:cNvPr id="104" name="TextBox 104"/>
            <p:cNvSpPr txBox="1"/>
            <p:nvPr/>
          </p:nvSpPr>
          <p:spPr>
            <a:xfrm>
              <a:off x="6624638" y="735568"/>
              <a:ext cx="935711"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核心经营指标看板</a:t>
              </a:r>
            </a:p>
          </p:txBody>
        </p:sp>
        <p:sp>
          <p:nvSpPr>
            <p:cNvPr id="105" name="Rectangle 105"/>
            <p:cNvSpPr/>
            <p:nvPr/>
          </p:nvSpPr>
          <p:spPr>
            <a:xfrm>
              <a:off x="9715500" y="685800"/>
              <a:ext cx="2114550" cy="190500"/>
            </a:xfrm>
            <a:prstGeom prst="roundRect">
              <a:avLst>
                <a:gd name="adj" fmla="val 50000"/>
              </a:avLst>
            </a:prstGeom>
            <a:solidFill>
              <a:srgbClr val="E4F1EE"/>
            </a:solidFill>
            <a:ln>
              <a:noFill/>
            </a:ln>
          </p:spPr>
        </p:sp>
        <p:sp>
          <p:nvSpPr>
            <p:cNvPr id="106" name="TextBox 106"/>
            <p:cNvSpPr txBox="1"/>
            <p:nvPr/>
          </p:nvSpPr>
          <p:spPr>
            <a:xfrm>
              <a:off x="9988293" y="750332"/>
              <a:ext cx="1568963" cy="126206"/>
            </a:xfrm>
            <a:prstGeom prst="rect">
              <a:avLst/>
            </a:prstGeom>
            <a:noFill/>
            <a:ln>
              <a:noFill/>
            </a:ln>
          </p:spPr>
          <p:txBody>
            <a:bodyPr wrap="none" lIns="0" tIns="0" rIns="0" bIns="0" anchor="t" anchorCtr="0">
              <a:spAutoFit/>
            </a:bodyPr>
            <a:lstStyle/>
            <a:p>
              <a:pPr algn="ctr"/>
              <a:r>
                <a:rPr lang="zh-CN" sz="640" dirty="0">
                  <a:solidFill>
                    <a:srgbClr val="5D190B"/>
                  </a:solidFill>
                  <a:latin typeface="+mn-lt"/>
                  <a:ea typeface="+mn-ea"/>
                  <a:cs typeface="+mn-cs"/>
                </a:rPr>
                <a:t>活动周期 2024.10.01 - 2024.10.31​​​</a:t>
              </a:r>
            </a:p>
          </p:txBody>
        </p:sp>
        <p:sp>
          <p:nvSpPr>
            <p:cNvPr id="107" name="Rectangle 107"/>
            <p:cNvSpPr/>
            <p:nvPr/>
          </p:nvSpPr>
          <p:spPr>
            <a:xfrm>
              <a:off x="6515100" y="914400"/>
              <a:ext cx="2590800" cy="609600"/>
            </a:xfrm>
            <a:prstGeom prst="roundRect">
              <a:avLst>
                <a:gd name="adj" fmla="val 12500"/>
              </a:avLst>
            </a:prstGeom>
            <a:solidFill>
              <a:srgbClr val="FFFFFF"/>
            </a:solidFill>
            <a:ln w="9525">
              <a:solidFill>
                <a:srgbClr val="C2E0DA"/>
              </a:solidFill>
            </a:ln>
          </p:spPr>
        </p:sp>
        <p:sp>
          <p:nvSpPr>
            <p:cNvPr id="108" name="TextBox 108"/>
            <p:cNvSpPr txBox="1"/>
            <p:nvPr/>
          </p:nvSpPr>
          <p:spPr>
            <a:xfrm>
              <a:off x="6643688" y="993934"/>
              <a:ext cx="222316" cy="133350"/>
            </a:xfrm>
            <a:prstGeom prst="rect">
              <a:avLst/>
            </a:prstGeom>
            <a:noFill/>
            <a:ln>
              <a:noFill/>
            </a:ln>
          </p:spPr>
          <p:txBody>
            <a:bodyPr wrap="none" lIns="0" tIns="0" rIns="0" bIns="0" anchor="t" anchorCtr="0">
              <a:spAutoFit/>
            </a:bodyPr>
            <a:lstStyle/>
            <a:p>
              <a:pPr algn="l"/>
              <a:r>
                <a:rPr lang="en-US" sz="680" dirty="0">
                  <a:solidFill>
                    <a:srgbClr val="73615E"/>
                  </a:solidFill>
                  <a:latin typeface="+mn-lt"/>
                  <a:ea typeface="+mn-ea"/>
                  <a:cs typeface="+mn-cs"/>
                </a:rPr>
                <a:t>CAC​</a:t>
              </a:r>
            </a:p>
          </p:txBody>
        </p:sp>
        <p:sp>
          <p:nvSpPr>
            <p:cNvPr id="109" name="TextBox 109"/>
            <p:cNvSpPr txBox="1"/>
            <p:nvPr/>
          </p:nvSpPr>
          <p:spPr>
            <a:xfrm>
              <a:off x="6641592" y="1149668"/>
              <a:ext cx="805635" cy="264033"/>
            </a:xfrm>
            <a:prstGeom prst="rect">
              <a:avLst/>
            </a:prstGeom>
            <a:noFill/>
            <a:ln>
              <a:noFill/>
            </a:ln>
          </p:spPr>
          <p:txBody>
            <a:bodyPr wrap="none" lIns="0" tIns="0" rIns="0" bIns="0" anchor="t" anchorCtr="0">
              <a:spAutoFit/>
            </a:bodyPr>
            <a:lstStyle/>
            <a:p>
              <a:pPr algn="l"/>
              <a:r>
                <a:rPr lang="zh-CN" sz="1350" b="1" dirty="0">
                  <a:solidFill>
                    <a:srgbClr val="76200F"/>
                  </a:solidFill>
                  <a:latin typeface="+mn-lt"/>
                  <a:ea typeface="+mn-ea"/>
                  <a:cs typeface="+mn-cs"/>
                </a:rPr>
                <a:t>¥ 83.6​​</a:t>
              </a:r>
            </a:p>
          </p:txBody>
        </p:sp>
        <p:sp>
          <p:nvSpPr>
            <p:cNvPr id="110" name="TextBox 110"/>
            <p:cNvSpPr txBox="1"/>
            <p:nvPr/>
          </p:nvSpPr>
          <p:spPr>
            <a:xfrm>
              <a:off x="6643688" y="1392555"/>
              <a:ext cx="1669390"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活动总成本 ¥317,680 · 新增客户数 3,800​​​</a:t>
              </a:r>
            </a:p>
          </p:txBody>
        </p:sp>
        <p:sp>
          <p:nvSpPr>
            <p:cNvPr id="111" name="Rectangle 111"/>
            <p:cNvSpPr/>
            <p:nvPr/>
          </p:nvSpPr>
          <p:spPr>
            <a:xfrm>
              <a:off x="9220200" y="914400"/>
              <a:ext cx="2609850" cy="609600"/>
            </a:xfrm>
            <a:prstGeom prst="roundRect">
              <a:avLst>
                <a:gd name="adj" fmla="val 12500"/>
              </a:avLst>
            </a:prstGeom>
            <a:solidFill>
              <a:srgbClr val="FFFFFF"/>
            </a:solidFill>
            <a:ln w="9525">
              <a:solidFill>
                <a:srgbClr val="C2E0DA"/>
              </a:solidFill>
            </a:ln>
          </p:spPr>
        </p:sp>
        <p:sp>
          <p:nvSpPr>
            <p:cNvPr id="112" name="TextBox 112"/>
            <p:cNvSpPr txBox="1"/>
            <p:nvPr/>
          </p:nvSpPr>
          <p:spPr>
            <a:xfrm>
              <a:off x="9348788" y="993934"/>
              <a:ext cx="284150" cy="133350"/>
            </a:xfrm>
            <a:prstGeom prst="rect">
              <a:avLst/>
            </a:prstGeom>
            <a:noFill/>
            <a:ln>
              <a:noFill/>
            </a:ln>
          </p:spPr>
          <p:txBody>
            <a:bodyPr wrap="none" lIns="0" tIns="0" rIns="0" bIns="0" anchor="t" anchorCtr="0">
              <a:spAutoFit/>
            </a:bodyPr>
            <a:lstStyle/>
            <a:p>
              <a:pPr algn="l"/>
              <a:r>
                <a:rPr lang="zh-CN" sz="680" dirty="0">
                  <a:solidFill>
                    <a:srgbClr val="73615E"/>
                  </a:solidFill>
                  <a:latin typeface="+mn-lt"/>
                  <a:ea typeface="+mn-ea"/>
                  <a:cs typeface="+mn-cs"/>
                </a:rPr>
                <a:t>激活率</a:t>
              </a:r>
            </a:p>
          </p:txBody>
        </p:sp>
        <p:sp>
          <p:nvSpPr>
            <p:cNvPr id="113" name="TextBox 113"/>
            <p:cNvSpPr txBox="1"/>
            <p:nvPr/>
          </p:nvSpPr>
          <p:spPr>
            <a:xfrm>
              <a:off x="9346692" y="1149668"/>
              <a:ext cx="786553" cy="264033"/>
            </a:xfrm>
            <a:prstGeom prst="rect">
              <a:avLst/>
            </a:prstGeom>
            <a:noFill/>
            <a:ln>
              <a:noFill/>
            </a:ln>
          </p:spPr>
          <p:txBody>
            <a:bodyPr wrap="none" lIns="0" tIns="0" rIns="0" bIns="0" anchor="t" anchorCtr="0">
              <a:spAutoFit/>
            </a:bodyPr>
            <a:lstStyle/>
            <a:p>
              <a:pPr algn="l"/>
              <a:r>
                <a:rPr lang="zh-CN" sz="1350" b="1" dirty="0">
                  <a:solidFill>
                    <a:srgbClr val="76200F"/>
                  </a:solidFill>
                  <a:latin typeface="+mn-lt"/>
                  <a:ea typeface="+mn-ea"/>
                  <a:cs typeface="+mn-cs"/>
                </a:rPr>
                <a:t>63.3%​​</a:t>
              </a:r>
            </a:p>
          </p:txBody>
        </p:sp>
        <p:sp>
          <p:nvSpPr>
            <p:cNvPr id="114" name="TextBox 114"/>
            <p:cNvSpPr txBox="1"/>
            <p:nvPr/>
          </p:nvSpPr>
          <p:spPr>
            <a:xfrm>
              <a:off x="9348788" y="1392555"/>
              <a:ext cx="1374572"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绑卡客户 1,200 · 开户客户 1,800​​​</a:t>
              </a:r>
            </a:p>
          </p:txBody>
        </p:sp>
        <p:sp>
          <p:nvSpPr>
            <p:cNvPr id="115" name="Rectangle 115"/>
            <p:cNvSpPr/>
            <p:nvPr/>
          </p:nvSpPr>
          <p:spPr>
            <a:xfrm>
              <a:off x="6515100" y="1581150"/>
              <a:ext cx="2590800" cy="609600"/>
            </a:xfrm>
            <a:prstGeom prst="roundRect">
              <a:avLst>
                <a:gd name="adj" fmla="val 12500"/>
              </a:avLst>
            </a:prstGeom>
            <a:solidFill>
              <a:srgbClr val="FFFFFF"/>
            </a:solidFill>
            <a:ln w="9525">
              <a:solidFill>
                <a:srgbClr val="C2E0DA"/>
              </a:solidFill>
            </a:ln>
          </p:spPr>
        </p:sp>
        <p:sp>
          <p:nvSpPr>
            <p:cNvPr id="116" name="TextBox 116"/>
            <p:cNvSpPr txBox="1"/>
            <p:nvPr/>
          </p:nvSpPr>
          <p:spPr>
            <a:xfrm>
              <a:off x="6643688" y="1660684"/>
              <a:ext cx="558775" cy="133350"/>
            </a:xfrm>
            <a:prstGeom prst="rect">
              <a:avLst/>
            </a:prstGeom>
            <a:noFill/>
            <a:ln>
              <a:noFill/>
            </a:ln>
          </p:spPr>
          <p:txBody>
            <a:bodyPr wrap="none" lIns="0" tIns="0" rIns="0" bIns="0" anchor="t" anchorCtr="0">
              <a:spAutoFit/>
            </a:bodyPr>
            <a:lstStyle/>
            <a:p>
              <a:pPr algn="l"/>
              <a:r>
                <a:rPr lang="zh-CN" sz="680" dirty="0">
                  <a:solidFill>
                    <a:srgbClr val="73615E"/>
                  </a:solidFill>
                  <a:latin typeface="+mn-lt"/>
                  <a:ea typeface="+mn-ea"/>
                  <a:cs typeface="+mn-cs"/>
                </a:rPr>
                <a:t>全链路转化率</a:t>
              </a:r>
            </a:p>
          </p:txBody>
        </p:sp>
        <p:sp>
          <p:nvSpPr>
            <p:cNvPr id="117" name="TextBox 117"/>
            <p:cNvSpPr txBox="1"/>
            <p:nvPr/>
          </p:nvSpPr>
          <p:spPr>
            <a:xfrm>
              <a:off x="6641592" y="1816418"/>
              <a:ext cx="786553" cy="264033"/>
            </a:xfrm>
            <a:prstGeom prst="rect">
              <a:avLst/>
            </a:prstGeom>
            <a:noFill/>
            <a:ln>
              <a:noFill/>
            </a:ln>
          </p:spPr>
          <p:txBody>
            <a:bodyPr wrap="none" lIns="0" tIns="0" rIns="0" bIns="0" anchor="t" anchorCtr="0">
              <a:spAutoFit/>
            </a:bodyPr>
            <a:lstStyle/>
            <a:p>
              <a:pPr algn="l"/>
              <a:r>
                <a:rPr lang="zh-CN" sz="1350" b="1" dirty="0">
                  <a:solidFill>
                    <a:srgbClr val="76200F"/>
                  </a:solidFill>
                  <a:latin typeface="+mn-lt"/>
                  <a:ea typeface="+mn-ea"/>
                  <a:cs typeface="+mn-cs"/>
                </a:rPr>
                <a:t>0.38%​​</a:t>
              </a:r>
            </a:p>
          </p:txBody>
        </p:sp>
        <p:sp>
          <p:nvSpPr>
            <p:cNvPr id="118" name="TextBox 118"/>
            <p:cNvSpPr txBox="1"/>
            <p:nvPr/>
          </p:nvSpPr>
          <p:spPr>
            <a:xfrm>
              <a:off x="6643688" y="2059305"/>
              <a:ext cx="1463421"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30日复购客户 380 · 总曝光 100,000​​​</a:t>
              </a:r>
            </a:p>
          </p:txBody>
        </p:sp>
        <p:sp>
          <p:nvSpPr>
            <p:cNvPr id="119" name="Rectangle 119"/>
            <p:cNvSpPr/>
            <p:nvPr/>
          </p:nvSpPr>
          <p:spPr>
            <a:xfrm>
              <a:off x="9220200" y="1581150"/>
              <a:ext cx="2609850" cy="609600"/>
            </a:xfrm>
            <a:prstGeom prst="roundRect">
              <a:avLst>
                <a:gd name="adj" fmla="val 12500"/>
              </a:avLst>
            </a:prstGeom>
            <a:solidFill>
              <a:srgbClr val="FFFFFF"/>
            </a:solidFill>
            <a:ln w="9525">
              <a:solidFill>
                <a:srgbClr val="C2E0DA"/>
              </a:solidFill>
            </a:ln>
          </p:spPr>
        </p:sp>
        <p:sp>
          <p:nvSpPr>
            <p:cNvPr id="120" name="TextBox 120"/>
            <p:cNvSpPr txBox="1"/>
            <p:nvPr/>
          </p:nvSpPr>
          <p:spPr>
            <a:xfrm>
              <a:off x="9348788" y="1660684"/>
              <a:ext cx="421894" cy="133350"/>
            </a:xfrm>
            <a:prstGeom prst="rect">
              <a:avLst/>
            </a:prstGeom>
            <a:noFill/>
            <a:ln>
              <a:noFill/>
            </a:ln>
          </p:spPr>
          <p:txBody>
            <a:bodyPr wrap="none" lIns="0" tIns="0" rIns="0" bIns="0" anchor="t" anchorCtr="0">
              <a:spAutoFit/>
            </a:bodyPr>
            <a:lstStyle/>
            <a:p>
              <a:pPr algn="l"/>
              <a:r>
                <a:rPr lang="zh-CN" sz="680" dirty="0">
                  <a:solidFill>
                    <a:srgbClr val="73615E"/>
                  </a:solidFill>
                  <a:latin typeface="+mn-lt"/>
                  <a:ea typeface="+mn-ea"/>
                  <a:cs typeface="+mn-cs"/>
                </a:rPr>
                <a:t>AUM提升​</a:t>
              </a:r>
            </a:p>
          </p:txBody>
        </p:sp>
        <p:sp>
          <p:nvSpPr>
            <p:cNvPr id="121" name="TextBox 121"/>
            <p:cNvSpPr txBox="1"/>
            <p:nvPr/>
          </p:nvSpPr>
          <p:spPr>
            <a:xfrm>
              <a:off x="9346692" y="1816418"/>
              <a:ext cx="1092325" cy="264033"/>
            </a:xfrm>
            <a:prstGeom prst="rect">
              <a:avLst/>
            </a:prstGeom>
            <a:noFill/>
            <a:ln>
              <a:noFill/>
            </a:ln>
          </p:spPr>
          <p:txBody>
            <a:bodyPr wrap="none" lIns="0" tIns="0" rIns="0" bIns="0" anchor="t" anchorCtr="0">
              <a:spAutoFit/>
            </a:bodyPr>
            <a:lstStyle/>
            <a:p>
              <a:pPr algn="l"/>
              <a:r>
                <a:rPr lang="zh-CN" sz="1350" b="1" dirty="0">
                  <a:solidFill>
                    <a:srgbClr val="76200F"/>
                  </a:solidFill>
                  <a:latin typeface="+mn-lt"/>
                  <a:ea typeface="+mn-ea"/>
                  <a:cs typeface="+mn-cs"/>
                </a:rPr>
                <a:t>¥ 2,850万​​</a:t>
              </a:r>
            </a:p>
          </p:txBody>
        </p:sp>
        <p:sp>
          <p:nvSpPr>
            <p:cNvPr id="122" name="TextBox 122"/>
            <p:cNvSpPr txBox="1"/>
            <p:nvPr/>
          </p:nvSpPr>
          <p:spPr>
            <a:xfrm>
              <a:off x="9348788" y="2059305"/>
              <a:ext cx="1526210"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新增AUM 2,850万 · 较活动前 +18.6%​​​</a:t>
              </a:r>
            </a:p>
          </p:txBody>
        </p:sp>
        <p:sp>
          <p:nvSpPr>
            <p:cNvPr id="123" name="Rectangle 123"/>
            <p:cNvSpPr/>
            <p:nvPr/>
          </p:nvSpPr>
          <p:spPr>
            <a:xfrm>
              <a:off x="6515100" y="2247900"/>
              <a:ext cx="5314950" cy="476250"/>
            </a:xfrm>
            <a:prstGeom prst="roundRect">
              <a:avLst>
                <a:gd name="adj" fmla="val 16000"/>
              </a:avLst>
            </a:prstGeom>
            <a:solidFill>
              <a:srgbClr val="FFFFFF"/>
            </a:solidFill>
            <a:ln w="9525">
              <a:solidFill>
                <a:srgbClr val="C2E0DA"/>
              </a:solidFill>
            </a:ln>
          </p:spPr>
        </p:sp>
        <p:sp>
          <p:nvSpPr>
            <p:cNvPr id="124" name="TextBox 124"/>
            <p:cNvSpPr txBox="1"/>
            <p:nvPr/>
          </p:nvSpPr>
          <p:spPr>
            <a:xfrm>
              <a:off x="6643688" y="2327434"/>
              <a:ext cx="768716" cy="133350"/>
            </a:xfrm>
            <a:prstGeom prst="rect">
              <a:avLst/>
            </a:prstGeom>
            <a:noFill/>
            <a:ln>
              <a:noFill/>
            </a:ln>
          </p:spPr>
          <p:txBody>
            <a:bodyPr wrap="none" lIns="0" tIns="0" rIns="0" bIns="0" anchor="t" anchorCtr="0">
              <a:spAutoFit/>
            </a:bodyPr>
            <a:lstStyle/>
            <a:p>
              <a:pPr algn="l"/>
              <a:r>
                <a:rPr lang="zh-CN" sz="680" dirty="0">
                  <a:solidFill>
                    <a:srgbClr val="73615E"/>
                  </a:solidFill>
                  <a:latin typeface="+mn-lt"/>
                  <a:ea typeface="+mn-ea"/>
                  <a:cs typeface="+mn-cs"/>
                </a:rPr>
                <a:t>客户LTV（预估）​</a:t>
              </a:r>
            </a:p>
          </p:txBody>
        </p:sp>
        <p:sp>
          <p:nvSpPr>
            <p:cNvPr id="125" name="TextBox 125"/>
            <p:cNvSpPr txBox="1"/>
            <p:nvPr/>
          </p:nvSpPr>
          <p:spPr>
            <a:xfrm>
              <a:off x="6641592" y="2492692"/>
              <a:ext cx="910588" cy="264033"/>
            </a:xfrm>
            <a:prstGeom prst="rect">
              <a:avLst/>
            </a:prstGeom>
            <a:noFill/>
            <a:ln>
              <a:noFill/>
            </a:ln>
          </p:spPr>
          <p:txBody>
            <a:bodyPr wrap="none" lIns="0" tIns="0" rIns="0" bIns="0" anchor="t" anchorCtr="0">
              <a:spAutoFit/>
            </a:bodyPr>
            <a:lstStyle/>
            <a:p>
              <a:pPr algn="l"/>
              <a:r>
                <a:rPr lang="zh-CN" sz="1350" b="1" dirty="0">
                  <a:solidFill>
                    <a:srgbClr val="76200F"/>
                  </a:solidFill>
                  <a:latin typeface="+mn-lt"/>
                  <a:ea typeface="+mn-ea"/>
                  <a:cs typeface="+mn-cs"/>
                </a:rPr>
                <a:t>¥ 6,420​​</a:t>
              </a:r>
            </a:p>
          </p:txBody>
        </p:sp>
        <p:sp>
          <p:nvSpPr>
            <p:cNvPr id="126" name="TextBox 126"/>
            <p:cNvSpPr txBox="1"/>
            <p:nvPr/>
          </p:nvSpPr>
          <p:spPr>
            <a:xfrm>
              <a:off x="7900988" y="2561511"/>
              <a:ext cx="979186" cy="140494"/>
            </a:xfrm>
            <a:prstGeom prst="rect">
              <a:avLst/>
            </a:prstGeom>
            <a:noFill/>
            <a:ln>
              <a:noFill/>
            </a:ln>
          </p:spPr>
          <p:txBody>
            <a:bodyPr wrap="none" lIns="0" tIns="0" rIns="0" bIns="0" anchor="t" anchorCtr="0">
              <a:spAutoFit/>
            </a:bodyPr>
            <a:lstStyle/>
            <a:p>
              <a:pPr algn="l"/>
              <a:r>
                <a:rPr lang="zh-CN" sz="710" b="1" dirty="0">
                  <a:solidFill>
                    <a:srgbClr val="852512"/>
                  </a:solidFill>
                  <a:latin typeface="+mn-lt"/>
                  <a:ea typeface="+mn-ea"/>
                  <a:cs typeface="+mn-cs"/>
                </a:rPr>
                <a:t>较普通客户 +42.3%​​</a:t>
              </a:r>
            </a:p>
          </p:txBody>
        </p:sp>
        <p:sp>
          <p:nvSpPr>
            <p:cNvPr id="127" name="Polyline 127"/>
            <p:cNvSpPr/>
            <p:nvPr/>
          </p:nvSpPr>
          <p:spPr>
            <a:xfrm>
              <a:off x="9525000" y="2381250"/>
              <a:ext cx="1905000" cy="209550"/>
            </a:xfrm>
            <a:custGeom>
              <a:avLst/>
              <a:gdLst/>
              <a:ahLst/>
              <a:cxnLst/>
              <a:rect l="l" t="t" r="r" b="b"/>
              <a:pathLst>
                <a:path w="1905000" h="209550">
                  <a:moveTo>
                    <a:pt x="0" y="209550"/>
                  </a:moveTo>
                  <a:lnTo>
                    <a:pt x="476250" y="133350"/>
                  </a:lnTo>
                  <a:lnTo>
                    <a:pt x="952500" y="171450"/>
                  </a:lnTo>
                  <a:lnTo>
                    <a:pt x="1428750" y="57150"/>
                  </a:lnTo>
                  <a:lnTo>
                    <a:pt x="1905000" y="0"/>
                  </a:lnTo>
                </a:path>
              </a:pathLst>
            </a:custGeom>
            <a:noFill/>
            <a:ln w="19050">
              <a:solidFill>
                <a:srgbClr val="A3422F"/>
              </a:solidFill>
            </a:ln>
          </p:spPr>
        </p:sp>
        <p:sp>
          <p:nvSpPr>
            <p:cNvPr id="128" name="Ellipse 128"/>
            <p:cNvSpPr/>
            <p:nvPr/>
          </p:nvSpPr>
          <p:spPr>
            <a:xfrm>
              <a:off x="11396662" y="2347912"/>
              <a:ext cx="66675" cy="66675"/>
            </a:xfrm>
            <a:prstGeom prst="ellipse">
              <a:avLst/>
            </a:prstGeom>
            <a:solidFill>
              <a:srgbClr val="76200F"/>
            </a:solidFill>
            <a:ln>
              <a:noFill/>
            </a:ln>
          </p:spPr>
        </p:sp>
      </p:grpSp>
      <p:grpSp>
        <p:nvGrpSpPr>
          <p:cNvPr id="207" name="attribution"/>
          <p:cNvGrpSpPr/>
          <p:nvPr/>
        </p:nvGrpSpPr>
        <p:grpSpPr>
          <a:xfrm>
            <a:off x="338138" y="2800350"/>
            <a:ext cx="3662362" cy="2686288"/>
            <a:chOff x="338138" y="2800350"/>
            <a:chExt cx="3662362" cy="2686288"/>
          </a:xfrm>
        </p:grpSpPr>
        <p:sp>
          <p:nvSpPr>
            <p:cNvPr id="130" name="Rectangle 130"/>
            <p:cNvSpPr/>
            <p:nvPr/>
          </p:nvSpPr>
          <p:spPr>
            <a:xfrm>
              <a:off x="342900" y="2800350"/>
              <a:ext cx="1428750" cy="190500"/>
            </a:xfrm>
            <a:prstGeom prst="roundRect">
              <a:avLst>
                <a:gd name="adj" fmla="val 25000"/>
              </a:avLst>
            </a:prstGeom>
            <a:solidFill>
              <a:srgbClr val="76200F"/>
            </a:solidFill>
            <a:ln>
              <a:noFill/>
            </a:ln>
          </p:spPr>
        </p:sp>
        <p:sp>
          <p:nvSpPr>
            <p:cNvPr id="131" name="TextBox 131"/>
            <p:cNvSpPr txBox="1"/>
            <p:nvPr/>
          </p:nvSpPr>
          <p:spPr>
            <a:xfrm>
              <a:off x="452438" y="2850118"/>
              <a:ext cx="704164"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渠道归因分析</a:t>
              </a:r>
            </a:p>
          </p:txBody>
        </p:sp>
        <p:sp>
          <p:nvSpPr>
            <p:cNvPr id="132" name="Rectangle 132"/>
            <p:cNvSpPr/>
            <p:nvPr/>
          </p:nvSpPr>
          <p:spPr>
            <a:xfrm>
              <a:off x="342900" y="3067050"/>
              <a:ext cx="3657600" cy="285750"/>
            </a:xfrm>
            <a:prstGeom prst="rect">
              <a:avLst/>
            </a:prstGeom>
            <a:solidFill>
              <a:srgbClr val="5D190B"/>
            </a:solidFill>
            <a:ln>
              <a:noFill/>
            </a:ln>
          </p:spPr>
        </p:sp>
        <p:sp>
          <p:nvSpPr>
            <p:cNvPr id="133" name="TextBox 133"/>
            <p:cNvSpPr txBox="1"/>
            <p:nvPr/>
          </p:nvSpPr>
          <p:spPr>
            <a:xfrm>
              <a:off x="527774" y="31887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渠道类型</a:t>
              </a:r>
            </a:p>
          </p:txBody>
        </p:sp>
        <p:sp>
          <p:nvSpPr>
            <p:cNvPr id="134" name="TextBox 134"/>
            <p:cNvSpPr txBox="1"/>
            <p:nvPr/>
          </p:nvSpPr>
          <p:spPr>
            <a:xfrm>
              <a:off x="1302830" y="3192780"/>
              <a:ext cx="25184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曝光量</a:t>
              </a:r>
            </a:p>
          </p:txBody>
        </p:sp>
        <p:sp>
          <p:nvSpPr>
            <p:cNvPr id="135" name="TextBox 135"/>
            <p:cNvSpPr txBox="1"/>
            <p:nvPr/>
          </p:nvSpPr>
          <p:spPr>
            <a:xfrm>
              <a:off x="1798130" y="3192780"/>
              <a:ext cx="25184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到场量</a:t>
              </a:r>
            </a:p>
          </p:txBody>
        </p:sp>
        <p:sp>
          <p:nvSpPr>
            <p:cNvPr id="136" name="TextBox 136"/>
            <p:cNvSpPr txBox="1"/>
            <p:nvPr/>
          </p:nvSpPr>
          <p:spPr>
            <a:xfrm>
              <a:off x="2293430" y="3192780"/>
              <a:ext cx="25184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开户量</a:t>
              </a:r>
            </a:p>
          </p:txBody>
        </p:sp>
        <p:sp>
          <p:nvSpPr>
            <p:cNvPr id="137" name="TextBox 137"/>
            <p:cNvSpPr txBox="1"/>
            <p:nvPr/>
          </p:nvSpPr>
          <p:spPr>
            <a:xfrm>
              <a:off x="2718761" y="3192780"/>
              <a:ext cx="391778"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30日复购​</a:t>
              </a:r>
            </a:p>
          </p:txBody>
        </p:sp>
        <p:sp>
          <p:nvSpPr>
            <p:cNvPr id="138" name="TextBox 138"/>
            <p:cNvSpPr txBox="1"/>
            <p:nvPr/>
          </p:nvSpPr>
          <p:spPr>
            <a:xfrm>
              <a:off x="3184208" y="3192780"/>
              <a:ext cx="413385"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开户转化率</a:t>
              </a:r>
            </a:p>
          </p:txBody>
        </p:sp>
        <p:grpSp>
          <p:nvGrpSpPr>
            <p:cNvPr id="204" name="attr-rows"/>
            <p:cNvGrpSpPr/>
            <p:nvPr/>
          </p:nvGrpSpPr>
          <p:grpSpPr>
            <a:xfrm>
              <a:off x="342900" y="3352800"/>
              <a:ext cx="3657600" cy="1714500"/>
              <a:chOff x="342900" y="3352800"/>
              <a:chExt cx="3657600" cy="1714500"/>
            </a:xfrm>
          </p:grpSpPr>
          <p:sp>
            <p:nvSpPr>
              <p:cNvPr id="139" name="Rectangle 139"/>
              <p:cNvSpPr/>
              <p:nvPr/>
            </p:nvSpPr>
            <p:spPr>
              <a:xfrm>
                <a:off x="342900" y="3352800"/>
                <a:ext cx="3657600" cy="285750"/>
              </a:xfrm>
              <a:prstGeom prst="rect">
                <a:avLst/>
              </a:prstGeom>
              <a:solidFill>
                <a:srgbClr val="FFFFFF"/>
              </a:solidFill>
              <a:ln w="9525">
                <a:solidFill>
                  <a:srgbClr val="E2EEEB"/>
                </a:solidFill>
              </a:ln>
            </p:spPr>
          </p:sp>
          <p:grpSp>
            <p:nvGrpSpPr>
              <p:cNvPr id="143" name="Group 143"/>
              <p:cNvGrpSpPr/>
              <p:nvPr/>
            </p:nvGrpSpPr>
            <p:grpSpPr>
              <a:xfrm>
                <a:off x="450056" y="3444478"/>
                <a:ext cx="61913" cy="92869"/>
                <a:chOff x="450056" y="3444478"/>
                <a:chExt cx="61913" cy="92869"/>
              </a:xfrm>
            </p:grpSpPr>
            <p:sp>
              <p:nvSpPr>
                <p:cNvPr id="140" name="Freeform 140"/>
                <p:cNvSpPr/>
                <p:nvPr/>
              </p:nvSpPr>
              <p:spPr>
                <a:xfrm>
                  <a:off x="450056" y="3444478"/>
                  <a:ext cx="61913" cy="92869"/>
                </a:xfrm>
                <a:custGeom>
                  <a:avLst/>
                  <a:gdLst/>
                  <a:ahLst/>
                  <a:cxnLst/>
                  <a:rect l="l" t="t" r="r" b="b"/>
                  <a:pathLst>
                    <a:path w="61913" h="92869">
                      <a:moveTo>
                        <a:pt x="0" y="10319"/>
                      </a:moveTo>
                      <a:cubicBezTo>
                        <a:pt x="0" y="4620"/>
                        <a:pt x="4620" y="0"/>
                        <a:pt x="10319" y="0"/>
                      </a:cubicBezTo>
                      <a:lnTo>
                        <a:pt x="51594" y="0"/>
                      </a:lnTo>
                      <a:cubicBezTo>
                        <a:pt x="57293" y="0"/>
                        <a:pt x="61913" y="4620"/>
                        <a:pt x="61913" y="10319"/>
                      </a:cubicBezTo>
                      <a:lnTo>
                        <a:pt x="61913" y="82550"/>
                      </a:lnTo>
                      <a:cubicBezTo>
                        <a:pt x="61913" y="88249"/>
                        <a:pt x="57293" y="92869"/>
                        <a:pt x="51594" y="92869"/>
                      </a:cubicBezTo>
                      <a:lnTo>
                        <a:pt x="10319" y="92869"/>
                      </a:lnTo>
                      <a:cubicBezTo>
                        <a:pt x="4620" y="92869"/>
                        <a:pt x="0" y="88249"/>
                        <a:pt x="0" y="82550"/>
                      </a:cubicBezTo>
                      <a:lnTo>
                        <a:pt x="0" y="10319"/>
                      </a:lnTo>
                    </a:path>
                  </a:pathLst>
                </a:custGeom>
                <a:noFill/>
                <a:ln w="10319">
                  <a:solidFill>
                    <a:srgbClr val="76200F"/>
                  </a:solidFill>
                </a:ln>
              </p:spPr>
            </p:sp>
            <p:sp>
              <p:nvSpPr>
                <p:cNvPr id="141" name="Freeform 141"/>
                <p:cNvSpPr/>
                <p:nvPr/>
              </p:nvSpPr>
              <p:spPr>
                <a:xfrm>
                  <a:off x="475853" y="3449638"/>
                  <a:ext cx="10319" cy="9525"/>
                </a:xfrm>
                <a:custGeom>
                  <a:avLst/>
                  <a:gdLst/>
                  <a:ahLst/>
                  <a:cxnLst/>
                  <a:rect l="l" t="t" r="r" b="b"/>
                  <a:pathLst>
                    <a:path w="10319" h="9525">
                      <a:moveTo>
                        <a:pt x="0" y="0"/>
                      </a:moveTo>
                      <a:lnTo>
                        <a:pt x="10319" y="0"/>
                      </a:lnTo>
                    </a:path>
                  </a:pathLst>
                </a:custGeom>
                <a:noFill/>
                <a:ln w="10319">
                  <a:solidFill>
                    <a:srgbClr val="76200F"/>
                  </a:solidFill>
                </a:ln>
              </p:spPr>
            </p:sp>
            <p:sp>
              <p:nvSpPr>
                <p:cNvPr id="142" name="Freeform 142"/>
                <p:cNvSpPr/>
                <p:nvPr/>
              </p:nvSpPr>
              <p:spPr>
                <a:xfrm>
                  <a:off x="481013" y="3516709"/>
                  <a:ext cx="9525" cy="9525"/>
                </a:xfrm>
                <a:custGeom>
                  <a:avLst/>
                  <a:gdLst/>
                  <a:ahLst/>
                  <a:cxnLst/>
                  <a:rect l="l" t="t" r="r" b="b"/>
                  <a:pathLst>
                    <a:path w="9525" h="9525">
                      <a:moveTo>
                        <a:pt x="0" y="0"/>
                      </a:moveTo>
                      <a:lnTo>
                        <a:pt x="0" y="52"/>
                      </a:lnTo>
                    </a:path>
                  </a:pathLst>
                </a:custGeom>
                <a:noFill/>
                <a:ln w="10319">
                  <a:solidFill>
                    <a:srgbClr val="76200F"/>
                  </a:solidFill>
                </a:ln>
              </p:spPr>
            </p:sp>
          </p:grpSp>
          <p:sp>
            <p:nvSpPr>
              <p:cNvPr id="144" name="TextBox 144"/>
              <p:cNvSpPr txBox="1"/>
              <p:nvPr/>
            </p:nvSpPr>
            <p:spPr>
              <a:xfrm>
                <a:off x="527774" y="3464957"/>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展位扫码</a:t>
                </a:r>
              </a:p>
            </p:txBody>
          </p:sp>
          <p:sp>
            <p:nvSpPr>
              <p:cNvPr id="145" name="TextBox 145"/>
              <p:cNvSpPr txBox="1"/>
              <p:nvPr/>
            </p:nvSpPr>
            <p:spPr>
              <a:xfrm>
                <a:off x="1234443" y="3464957"/>
                <a:ext cx="388615"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40,000​​</a:t>
                </a:r>
              </a:p>
            </p:txBody>
          </p:sp>
          <p:sp>
            <p:nvSpPr>
              <p:cNvPr id="146" name="TextBox 146"/>
              <p:cNvSpPr txBox="1"/>
              <p:nvPr/>
            </p:nvSpPr>
            <p:spPr>
              <a:xfrm>
                <a:off x="1753436" y="3464957"/>
                <a:ext cx="34122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5,600​​</a:t>
                </a:r>
              </a:p>
            </p:txBody>
          </p:sp>
          <p:sp>
            <p:nvSpPr>
              <p:cNvPr id="147" name="TextBox 147"/>
              <p:cNvSpPr txBox="1"/>
              <p:nvPr/>
            </p:nvSpPr>
            <p:spPr>
              <a:xfrm>
                <a:off x="2319815" y="34649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840​</a:t>
                </a:r>
              </a:p>
            </p:txBody>
          </p:sp>
          <p:sp>
            <p:nvSpPr>
              <p:cNvPr id="148" name="TextBox 148"/>
              <p:cNvSpPr txBox="1"/>
              <p:nvPr/>
            </p:nvSpPr>
            <p:spPr>
              <a:xfrm>
                <a:off x="2815115" y="34649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168​</a:t>
                </a:r>
              </a:p>
            </p:txBody>
          </p:sp>
          <p:sp>
            <p:nvSpPr>
              <p:cNvPr id="149" name="TextBox 149"/>
              <p:cNvSpPr txBox="1"/>
              <p:nvPr/>
            </p:nvSpPr>
            <p:spPr>
              <a:xfrm>
                <a:off x="3211670" y="346495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15.0%​​</a:t>
                </a:r>
              </a:p>
            </p:txBody>
          </p:sp>
          <p:sp>
            <p:nvSpPr>
              <p:cNvPr id="150" name="Rectangle 150"/>
              <p:cNvSpPr/>
              <p:nvPr/>
            </p:nvSpPr>
            <p:spPr>
              <a:xfrm>
                <a:off x="342900" y="3638550"/>
                <a:ext cx="3657600" cy="285750"/>
              </a:xfrm>
              <a:prstGeom prst="rect">
                <a:avLst/>
              </a:prstGeom>
              <a:solidFill>
                <a:srgbClr val="EFF8F6"/>
              </a:solidFill>
              <a:ln w="9525">
                <a:solidFill>
                  <a:srgbClr val="E2EEEB"/>
                </a:solidFill>
              </a:ln>
            </p:spPr>
          </p:sp>
          <p:grpSp>
            <p:nvGrpSpPr>
              <p:cNvPr id="155" name="Group 155"/>
              <p:cNvGrpSpPr/>
              <p:nvPr/>
            </p:nvGrpSpPr>
            <p:grpSpPr>
              <a:xfrm>
                <a:off x="439738" y="3730228"/>
                <a:ext cx="82549" cy="92869"/>
                <a:chOff x="439738" y="3730228"/>
                <a:chExt cx="82549" cy="92869"/>
              </a:xfrm>
            </p:grpSpPr>
            <p:sp>
              <p:nvSpPr>
                <p:cNvPr id="151" name="Freeform 151"/>
                <p:cNvSpPr/>
                <p:nvPr/>
              </p:nvSpPr>
              <p:spPr>
                <a:xfrm>
                  <a:off x="439738" y="3802459"/>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52" name="Freeform 152"/>
                <p:cNvSpPr/>
                <p:nvPr/>
              </p:nvSpPr>
              <p:spPr>
                <a:xfrm>
                  <a:off x="496491" y="3802459"/>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53" name="Freeform 153"/>
                <p:cNvSpPr/>
                <p:nvPr/>
              </p:nvSpPr>
              <p:spPr>
                <a:xfrm>
                  <a:off x="439738" y="3730228"/>
                  <a:ext cx="67072" cy="72231"/>
                </a:xfrm>
                <a:custGeom>
                  <a:avLst/>
                  <a:gdLst/>
                  <a:ahLst/>
                  <a:cxnLst/>
                  <a:rect l="l" t="t" r="r" b="b"/>
                  <a:pathLst>
                    <a:path w="67072" h="72231">
                      <a:moveTo>
                        <a:pt x="67072" y="72231"/>
                      </a:moveTo>
                      <a:lnTo>
                        <a:pt x="10319" y="72231"/>
                      </a:lnTo>
                      <a:lnTo>
                        <a:pt x="10319" y="0"/>
                      </a:lnTo>
                      <a:lnTo>
                        <a:pt x="0" y="0"/>
                      </a:lnTo>
                    </a:path>
                  </a:pathLst>
                </a:custGeom>
                <a:noFill/>
                <a:ln w="10319">
                  <a:solidFill>
                    <a:srgbClr val="76200F"/>
                  </a:solidFill>
                </a:ln>
              </p:spPr>
            </p:sp>
            <p:sp>
              <p:nvSpPr>
                <p:cNvPr id="154" name="Freeform 154"/>
                <p:cNvSpPr/>
                <p:nvPr/>
              </p:nvSpPr>
              <p:spPr>
                <a:xfrm>
                  <a:off x="450056" y="3740547"/>
                  <a:ext cx="72231" cy="41275"/>
                </a:xfrm>
                <a:custGeom>
                  <a:avLst/>
                  <a:gdLst/>
                  <a:ahLst/>
                  <a:cxnLst/>
                  <a:rect l="l" t="t" r="r" b="b"/>
                  <a:pathLst>
                    <a:path w="72231" h="41275">
                      <a:moveTo>
                        <a:pt x="0" y="0"/>
                      </a:moveTo>
                      <a:lnTo>
                        <a:pt x="72231" y="5159"/>
                      </a:lnTo>
                      <a:lnTo>
                        <a:pt x="67072" y="41275"/>
                      </a:lnTo>
                      <a:lnTo>
                        <a:pt x="0" y="41275"/>
                      </a:lnTo>
                    </a:path>
                  </a:pathLst>
                </a:custGeom>
                <a:noFill/>
                <a:ln w="10319">
                  <a:solidFill>
                    <a:srgbClr val="76200F"/>
                  </a:solidFill>
                </a:ln>
              </p:spPr>
            </p:sp>
          </p:grpSp>
          <p:sp>
            <p:nvSpPr>
              <p:cNvPr id="156" name="TextBox 156"/>
              <p:cNvSpPr txBox="1"/>
              <p:nvPr/>
            </p:nvSpPr>
            <p:spPr>
              <a:xfrm>
                <a:off x="570852" y="3750707"/>
                <a:ext cx="26799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商户码</a:t>
                </a:r>
              </a:p>
            </p:txBody>
          </p:sp>
          <p:sp>
            <p:nvSpPr>
              <p:cNvPr id="157" name="TextBox 157"/>
              <p:cNvSpPr txBox="1"/>
              <p:nvPr/>
            </p:nvSpPr>
            <p:spPr>
              <a:xfrm>
                <a:off x="1234443" y="3750707"/>
                <a:ext cx="388615"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20,000​​</a:t>
                </a:r>
              </a:p>
            </p:txBody>
          </p:sp>
          <p:sp>
            <p:nvSpPr>
              <p:cNvPr id="158" name="TextBox 158"/>
              <p:cNvSpPr txBox="1"/>
              <p:nvPr/>
            </p:nvSpPr>
            <p:spPr>
              <a:xfrm>
                <a:off x="1753436" y="3750707"/>
                <a:ext cx="34122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2,400​​</a:t>
                </a:r>
              </a:p>
            </p:txBody>
          </p:sp>
          <p:sp>
            <p:nvSpPr>
              <p:cNvPr id="159" name="TextBox 159"/>
              <p:cNvSpPr txBox="1"/>
              <p:nvPr/>
            </p:nvSpPr>
            <p:spPr>
              <a:xfrm>
                <a:off x="2319815" y="375070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360​</a:t>
                </a:r>
              </a:p>
            </p:txBody>
          </p:sp>
          <p:sp>
            <p:nvSpPr>
              <p:cNvPr id="160" name="TextBox 160"/>
              <p:cNvSpPr txBox="1"/>
              <p:nvPr/>
            </p:nvSpPr>
            <p:spPr>
              <a:xfrm>
                <a:off x="2838808" y="3750707"/>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72​</a:t>
                </a:r>
              </a:p>
            </p:txBody>
          </p:sp>
          <p:sp>
            <p:nvSpPr>
              <p:cNvPr id="161" name="TextBox 161"/>
              <p:cNvSpPr txBox="1"/>
              <p:nvPr/>
            </p:nvSpPr>
            <p:spPr>
              <a:xfrm>
                <a:off x="3211670" y="375070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15.0%​​</a:t>
                </a:r>
              </a:p>
            </p:txBody>
          </p:sp>
          <p:sp>
            <p:nvSpPr>
              <p:cNvPr id="162" name="Rectangle 162"/>
              <p:cNvSpPr/>
              <p:nvPr/>
            </p:nvSpPr>
            <p:spPr>
              <a:xfrm>
                <a:off x="342900" y="3924300"/>
                <a:ext cx="3657600" cy="285750"/>
              </a:xfrm>
              <a:prstGeom prst="rect">
                <a:avLst/>
              </a:prstGeom>
              <a:solidFill>
                <a:srgbClr val="FFFFFF"/>
              </a:solidFill>
              <a:ln w="9525">
                <a:solidFill>
                  <a:srgbClr val="E2EEEB"/>
                </a:solidFill>
              </a:ln>
            </p:spPr>
          </p:sp>
          <p:grpSp>
            <p:nvGrpSpPr>
              <p:cNvPr id="166" name="Group 166"/>
              <p:cNvGrpSpPr/>
              <p:nvPr/>
            </p:nvGrpSpPr>
            <p:grpSpPr>
              <a:xfrm>
                <a:off x="450056" y="4015978"/>
                <a:ext cx="77391" cy="92869"/>
                <a:chOff x="450056" y="4015978"/>
                <a:chExt cx="77391" cy="92869"/>
              </a:xfrm>
            </p:grpSpPr>
            <p:sp>
              <p:nvSpPr>
                <p:cNvPr id="163" name="Freeform 163"/>
                <p:cNvSpPr/>
                <p:nvPr/>
              </p:nvSpPr>
              <p:spPr>
                <a:xfrm>
                  <a:off x="460375" y="4015978"/>
                  <a:ext cx="41275" cy="41275"/>
                </a:xfrm>
                <a:custGeom>
                  <a:avLst/>
                  <a:gdLst/>
                  <a:ahLst/>
                  <a:cxnLst/>
                  <a:rect l="l" t="t" r="r" b="b"/>
                  <a:pathLst>
                    <a:path w="41275" h="41275">
                      <a:moveTo>
                        <a:pt x="0" y="20638"/>
                      </a:moveTo>
                      <a:cubicBezTo>
                        <a:pt x="0" y="32035"/>
                        <a:pt x="9240" y="41275"/>
                        <a:pt x="20638" y="41275"/>
                      </a:cubicBezTo>
                      <a:cubicBezTo>
                        <a:pt x="32035" y="41275"/>
                        <a:pt x="41275" y="32035"/>
                        <a:pt x="41275" y="20638"/>
                      </a:cubicBezTo>
                      <a:cubicBezTo>
                        <a:pt x="41275" y="9240"/>
                        <a:pt x="32035" y="0"/>
                        <a:pt x="20638" y="0"/>
                      </a:cubicBezTo>
                      <a:cubicBezTo>
                        <a:pt x="9240" y="0"/>
                        <a:pt x="0" y="9240"/>
                        <a:pt x="0" y="20638"/>
                      </a:cubicBezTo>
                    </a:path>
                  </a:pathLst>
                </a:custGeom>
                <a:noFill/>
                <a:ln w="10319">
                  <a:solidFill>
                    <a:srgbClr val="76200F"/>
                  </a:solidFill>
                </a:ln>
              </p:spPr>
            </p:sp>
            <p:sp>
              <p:nvSpPr>
                <p:cNvPr id="164" name="Freeform 164"/>
                <p:cNvSpPr/>
                <p:nvPr/>
              </p:nvSpPr>
              <p:spPr>
                <a:xfrm>
                  <a:off x="450056" y="4077891"/>
                  <a:ext cx="41275" cy="30956"/>
                </a:xfrm>
                <a:custGeom>
                  <a:avLst/>
                  <a:gdLst/>
                  <a:ahLst/>
                  <a:cxnLst/>
                  <a:rect l="l" t="t" r="r" b="b"/>
                  <a:pathLst>
                    <a:path w="41275" h="30956">
                      <a:moveTo>
                        <a:pt x="0" y="30956"/>
                      </a:moveTo>
                      <a:lnTo>
                        <a:pt x="0" y="20638"/>
                      </a:lnTo>
                      <a:cubicBezTo>
                        <a:pt x="0" y="9240"/>
                        <a:pt x="9240" y="0"/>
                        <a:pt x="20638" y="0"/>
                      </a:cubicBezTo>
                      <a:lnTo>
                        <a:pt x="41275" y="0"/>
                      </a:lnTo>
                    </a:path>
                  </a:pathLst>
                </a:custGeom>
                <a:noFill/>
                <a:ln w="10319">
                  <a:solidFill>
                    <a:srgbClr val="76200F"/>
                  </a:solidFill>
                </a:ln>
              </p:spPr>
            </p:sp>
            <p:sp>
              <p:nvSpPr>
                <p:cNvPr id="165" name="Freeform 165"/>
                <p:cNvSpPr/>
                <p:nvPr/>
              </p:nvSpPr>
              <p:spPr>
                <a:xfrm>
                  <a:off x="496491" y="4088209"/>
                  <a:ext cx="30956" cy="20638"/>
                </a:xfrm>
                <a:custGeom>
                  <a:avLst/>
                  <a:gdLst/>
                  <a:ahLst/>
                  <a:cxnLst/>
                  <a:rect l="l" t="t" r="r" b="b"/>
                  <a:pathLst>
                    <a:path w="30956" h="20638">
                      <a:moveTo>
                        <a:pt x="0" y="10319"/>
                      </a:moveTo>
                      <a:lnTo>
                        <a:pt x="10319" y="20638"/>
                      </a:lnTo>
                      <a:lnTo>
                        <a:pt x="30956" y="0"/>
                      </a:lnTo>
                    </a:path>
                  </a:pathLst>
                </a:custGeom>
                <a:noFill/>
                <a:ln w="10319">
                  <a:solidFill>
                    <a:srgbClr val="76200F"/>
                  </a:solidFill>
                </a:ln>
              </p:spPr>
            </p:sp>
          </p:grpSp>
          <p:sp>
            <p:nvSpPr>
              <p:cNvPr id="167" name="TextBox 167"/>
              <p:cNvSpPr txBox="1"/>
              <p:nvPr/>
            </p:nvSpPr>
            <p:spPr>
              <a:xfrm>
                <a:off x="570852" y="4036457"/>
                <a:ext cx="26799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员工码</a:t>
                </a:r>
              </a:p>
            </p:txBody>
          </p:sp>
          <p:sp>
            <p:nvSpPr>
              <p:cNvPr id="168" name="TextBox 168"/>
              <p:cNvSpPr txBox="1"/>
              <p:nvPr/>
            </p:nvSpPr>
            <p:spPr>
              <a:xfrm>
                <a:off x="1234443" y="4036457"/>
                <a:ext cx="388615"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15,000​​</a:t>
                </a:r>
              </a:p>
            </p:txBody>
          </p:sp>
          <p:sp>
            <p:nvSpPr>
              <p:cNvPr id="169" name="TextBox 169"/>
              <p:cNvSpPr txBox="1"/>
              <p:nvPr/>
            </p:nvSpPr>
            <p:spPr>
              <a:xfrm>
                <a:off x="1753436" y="4036457"/>
                <a:ext cx="34122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1,800​​</a:t>
                </a:r>
              </a:p>
            </p:txBody>
          </p:sp>
          <p:sp>
            <p:nvSpPr>
              <p:cNvPr id="170" name="TextBox 170"/>
              <p:cNvSpPr txBox="1"/>
              <p:nvPr/>
            </p:nvSpPr>
            <p:spPr>
              <a:xfrm>
                <a:off x="2319815" y="40364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270​</a:t>
                </a:r>
              </a:p>
            </p:txBody>
          </p:sp>
          <p:sp>
            <p:nvSpPr>
              <p:cNvPr id="171" name="TextBox 171"/>
              <p:cNvSpPr txBox="1"/>
              <p:nvPr/>
            </p:nvSpPr>
            <p:spPr>
              <a:xfrm>
                <a:off x="2838808" y="4036457"/>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54​</a:t>
                </a:r>
              </a:p>
            </p:txBody>
          </p:sp>
          <p:sp>
            <p:nvSpPr>
              <p:cNvPr id="172" name="TextBox 172"/>
              <p:cNvSpPr txBox="1"/>
              <p:nvPr/>
            </p:nvSpPr>
            <p:spPr>
              <a:xfrm>
                <a:off x="3211670" y="403645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15.0%​​</a:t>
                </a:r>
              </a:p>
            </p:txBody>
          </p:sp>
          <p:sp>
            <p:nvSpPr>
              <p:cNvPr id="173" name="Rectangle 173"/>
              <p:cNvSpPr/>
              <p:nvPr/>
            </p:nvSpPr>
            <p:spPr>
              <a:xfrm>
                <a:off x="342900" y="4210050"/>
                <a:ext cx="3657600" cy="285750"/>
              </a:xfrm>
              <a:prstGeom prst="rect">
                <a:avLst/>
              </a:prstGeom>
              <a:solidFill>
                <a:srgbClr val="EFF8F6"/>
              </a:solidFill>
              <a:ln w="9525">
                <a:solidFill>
                  <a:srgbClr val="E2EEEB"/>
                </a:solidFill>
              </a:ln>
            </p:spPr>
          </p:sp>
          <p:grpSp>
            <p:nvGrpSpPr>
              <p:cNvPr id="176" name="Group 176"/>
              <p:cNvGrpSpPr/>
              <p:nvPr/>
            </p:nvGrpSpPr>
            <p:grpSpPr>
              <a:xfrm>
                <a:off x="434578" y="4317206"/>
                <a:ext cx="92869" cy="61913"/>
                <a:chOff x="434578" y="4317206"/>
                <a:chExt cx="92869" cy="61913"/>
              </a:xfrm>
            </p:grpSpPr>
            <p:sp>
              <p:nvSpPr>
                <p:cNvPr id="174" name="Freeform 174"/>
                <p:cNvSpPr/>
                <p:nvPr/>
              </p:nvSpPr>
              <p:spPr>
                <a:xfrm>
                  <a:off x="496491" y="4325302"/>
                  <a:ext cx="30956" cy="45721"/>
                </a:xfrm>
                <a:custGeom>
                  <a:avLst/>
                  <a:gdLst/>
                  <a:ahLst/>
                  <a:cxnLst/>
                  <a:rect l="l" t="t" r="r" b="b"/>
                  <a:pathLst>
                    <a:path w="30956" h="45721">
                      <a:moveTo>
                        <a:pt x="0" y="12542"/>
                      </a:moveTo>
                      <a:lnTo>
                        <a:pt x="23491" y="799"/>
                      </a:lnTo>
                      <a:cubicBezTo>
                        <a:pt x="25090" y="0"/>
                        <a:pt x="26988" y="86"/>
                        <a:pt x="28509" y="1025"/>
                      </a:cubicBezTo>
                      <a:cubicBezTo>
                        <a:pt x="30029" y="1964"/>
                        <a:pt x="30955" y="3624"/>
                        <a:pt x="30956" y="5411"/>
                      </a:cubicBezTo>
                      <a:lnTo>
                        <a:pt x="30956" y="40309"/>
                      </a:lnTo>
                      <a:cubicBezTo>
                        <a:pt x="30955" y="42097"/>
                        <a:pt x="30029" y="43756"/>
                        <a:pt x="28509" y="44696"/>
                      </a:cubicBezTo>
                      <a:cubicBezTo>
                        <a:pt x="26988" y="45635"/>
                        <a:pt x="25090" y="45721"/>
                        <a:pt x="23491" y="44922"/>
                      </a:cubicBezTo>
                      <a:lnTo>
                        <a:pt x="0" y="33179"/>
                      </a:lnTo>
                      <a:lnTo>
                        <a:pt x="0" y="12542"/>
                      </a:lnTo>
                    </a:path>
                  </a:pathLst>
                </a:custGeom>
                <a:noFill/>
                <a:ln w="10319">
                  <a:solidFill>
                    <a:srgbClr val="76200F"/>
                  </a:solidFill>
                </a:ln>
              </p:spPr>
            </p:sp>
            <p:sp>
              <p:nvSpPr>
                <p:cNvPr id="175" name="Freeform 175"/>
                <p:cNvSpPr/>
                <p:nvPr/>
              </p:nvSpPr>
              <p:spPr>
                <a:xfrm>
                  <a:off x="434578" y="4317206"/>
                  <a:ext cx="61913" cy="61913"/>
                </a:xfrm>
                <a:custGeom>
                  <a:avLst/>
                  <a:gdLst/>
                  <a:ahLst/>
                  <a:cxnLst/>
                  <a:rect l="l" t="t" r="r" b="b"/>
                  <a:pathLst>
                    <a:path w="61913" h="61913">
                      <a:moveTo>
                        <a:pt x="0" y="10319"/>
                      </a:moveTo>
                      <a:cubicBezTo>
                        <a:pt x="0" y="4620"/>
                        <a:pt x="4620" y="0"/>
                        <a:pt x="10319" y="0"/>
                      </a:cubicBezTo>
                      <a:lnTo>
                        <a:pt x="51594" y="0"/>
                      </a:lnTo>
                      <a:cubicBezTo>
                        <a:pt x="57293" y="0"/>
                        <a:pt x="61913" y="4620"/>
                        <a:pt x="61913" y="10319"/>
                      </a:cubicBezTo>
                      <a:lnTo>
                        <a:pt x="61913" y="51594"/>
                      </a:lnTo>
                      <a:cubicBezTo>
                        <a:pt x="61913" y="57293"/>
                        <a:pt x="57293" y="61913"/>
                        <a:pt x="51594" y="61913"/>
                      </a:cubicBezTo>
                      <a:lnTo>
                        <a:pt x="10319" y="61913"/>
                      </a:lnTo>
                      <a:cubicBezTo>
                        <a:pt x="4620" y="61913"/>
                        <a:pt x="0" y="57293"/>
                        <a:pt x="0" y="51594"/>
                      </a:cubicBezTo>
                      <a:lnTo>
                        <a:pt x="0" y="10319"/>
                      </a:lnTo>
                    </a:path>
                  </a:pathLst>
                </a:custGeom>
                <a:noFill/>
                <a:ln w="10319">
                  <a:solidFill>
                    <a:srgbClr val="76200F"/>
                  </a:solidFill>
                </a:ln>
              </p:spPr>
            </p:sp>
          </p:grpSp>
          <p:sp>
            <p:nvSpPr>
              <p:cNvPr id="177" name="TextBox 177"/>
              <p:cNvSpPr txBox="1"/>
              <p:nvPr/>
            </p:nvSpPr>
            <p:spPr>
              <a:xfrm>
                <a:off x="570852" y="4322207"/>
                <a:ext cx="26799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直播码</a:t>
                </a:r>
              </a:p>
            </p:txBody>
          </p:sp>
          <p:sp>
            <p:nvSpPr>
              <p:cNvPr id="178" name="TextBox 178"/>
              <p:cNvSpPr txBox="1"/>
              <p:nvPr/>
            </p:nvSpPr>
            <p:spPr>
              <a:xfrm>
                <a:off x="1234443" y="4322207"/>
                <a:ext cx="388615"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15,000​​</a:t>
                </a:r>
              </a:p>
            </p:txBody>
          </p:sp>
          <p:sp>
            <p:nvSpPr>
              <p:cNvPr id="179" name="TextBox 179"/>
              <p:cNvSpPr txBox="1"/>
              <p:nvPr/>
            </p:nvSpPr>
            <p:spPr>
              <a:xfrm>
                <a:off x="1753436" y="4322207"/>
                <a:ext cx="34122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1,500​​</a:t>
                </a:r>
              </a:p>
            </p:txBody>
          </p:sp>
          <p:sp>
            <p:nvSpPr>
              <p:cNvPr id="180" name="TextBox 180"/>
              <p:cNvSpPr txBox="1"/>
              <p:nvPr/>
            </p:nvSpPr>
            <p:spPr>
              <a:xfrm>
                <a:off x="2319815" y="432220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210​</a:t>
                </a:r>
              </a:p>
            </p:txBody>
          </p:sp>
          <p:sp>
            <p:nvSpPr>
              <p:cNvPr id="181" name="TextBox 181"/>
              <p:cNvSpPr txBox="1"/>
              <p:nvPr/>
            </p:nvSpPr>
            <p:spPr>
              <a:xfrm>
                <a:off x="2838808" y="4322207"/>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42​</a:t>
                </a:r>
              </a:p>
            </p:txBody>
          </p:sp>
          <p:sp>
            <p:nvSpPr>
              <p:cNvPr id="182" name="TextBox 182"/>
              <p:cNvSpPr txBox="1"/>
              <p:nvPr/>
            </p:nvSpPr>
            <p:spPr>
              <a:xfrm>
                <a:off x="3211670" y="432220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14.0%​​</a:t>
                </a:r>
              </a:p>
            </p:txBody>
          </p:sp>
          <p:sp>
            <p:nvSpPr>
              <p:cNvPr id="183" name="Rectangle 183"/>
              <p:cNvSpPr/>
              <p:nvPr/>
            </p:nvSpPr>
            <p:spPr>
              <a:xfrm>
                <a:off x="342900" y="4495800"/>
                <a:ext cx="3657600" cy="285750"/>
              </a:xfrm>
              <a:prstGeom prst="rect">
                <a:avLst/>
              </a:prstGeom>
              <a:solidFill>
                <a:srgbClr val="FFFFFF"/>
              </a:solidFill>
              <a:ln w="9525">
                <a:solidFill>
                  <a:srgbClr val="E2EEEB"/>
                </a:solidFill>
              </a:ln>
            </p:spPr>
          </p:sp>
          <p:grpSp>
            <p:nvGrpSpPr>
              <p:cNvPr id="190" name="Group 190"/>
              <p:cNvGrpSpPr/>
              <p:nvPr/>
            </p:nvGrpSpPr>
            <p:grpSpPr>
              <a:xfrm>
                <a:off x="434578" y="4587478"/>
                <a:ext cx="92869" cy="92869"/>
                <a:chOff x="434578" y="4587478"/>
                <a:chExt cx="92869" cy="92869"/>
              </a:xfrm>
            </p:grpSpPr>
            <p:sp>
              <p:nvSpPr>
                <p:cNvPr id="184" name="Freeform 184"/>
                <p:cNvSpPr/>
                <p:nvPr/>
              </p:nvSpPr>
              <p:spPr>
                <a:xfrm>
                  <a:off x="470694" y="4628753"/>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85" name="Freeform 185"/>
                <p:cNvSpPr/>
                <p:nvPr/>
              </p:nvSpPr>
              <p:spPr>
                <a:xfrm>
                  <a:off x="460375" y="4664869"/>
                  <a:ext cx="41275" cy="15478"/>
                </a:xfrm>
                <a:custGeom>
                  <a:avLst/>
                  <a:gdLst/>
                  <a:ahLst/>
                  <a:cxnLst/>
                  <a:rect l="l" t="t" r="r" b="b"/>
                  <a:pathLst>
                    <a:path w="41275" h="15478">
                      <a:moveTo>
                        <a:pt x="0" y="15478"/>
                      </a:moveTo>
                      <a:lnTo>
                        <a:pt x="0" y="10319"/>
                      </a:lnTo>
                      <a:cubicBezTo>
                        <a:pt x="0" y="4620"/>
                        <a:pt x="4620" y="0"/>
                        <a:pt x="10319" y="0"/>
                      </a:cubicBezTo>
                      <a:lnTo>
                        <a:pt x="30956" y="0"/>
                      </a:lnTo>
                      <a:cubicBezTo>
                        <a:pt x="36655" y="0"/>
                        <a:pt x="41275" y="4620"/>
                        <a:pt x="41275" y="10319"/>
                      </a:cubicBezTo>
                      <a:lnTo>
                        <a:pt x="41275" y="15478"/>
                      </a:lnTo>
                    </a:path>
                  </a:pathLst>
                </a:custGeom>
                <a:noFill/>
                <a:ln w="10319">
                  <a:solidFill>
                    <a:srgbClr val="76200F"/>
                  </a:solidFill>
                </a:ln>
              </p:spPr>
            </p:sp>
            <p:sp>
              <p:nvSpPr>
                <p:cNvPr id="186" name="Freeform 186"/>
                <p:cNvSpPr/>
                <p:nvPr/>
              </p:nvSpPr>
              <p:spPr>
                <a:xfrm>
                  <a:off x="496491" y="4587478"/>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87" name="Freeform 187"/>
                <p:cNvSpPr/>
                <p:nvPr/>
              </p:nvSpPr>
              <p:spPr>
                <a:xfrm>
                  <a:off x="506809" y="4623594"/>
                  <a:ext cx="20638" cy="15478"/>
                </a:xfrm>
                <a:custGeom>
                  <a:avLst/>
                  <a:gdLst/>
                  <a:ahLst/>
                  <a:cxnLst/>
                  <a:rect l="l" t="t" r="r" b="b"/>
                  <a:pathLst>
                    <a:path w="20638" h="15478">
                      <a:moveTo>
                        <a:pt x="0" y="0"/>
                      </a:moveTo>
                      <a:lnTo>
                        <a:pt x="10319" y="0"/>
                      </a:lnTo>
                      <a:cubicBezTo>
                        <a:pt x="16018" y="0"/>
                        <a:pt x="20638" y="4620"/>
                        <a:pt x="20638" y="10319"/>
                      </a:cubicBezTo>
                      <a:lnTo>
                        <a:pt x="20638" y="15478"/>
                      </a:lnTo>
                    </a:path>
                  </a:pathLst>
                </a:custGeom>
                <a:noFill/>
                <a:ln w="10319">
                  <a:solidFill>
                    <a:srgbClr val="76200F"/>
                  </a:solidFill>
                </a:ln>
              </p:spPr>
            </p:sp>
            <p:sp>
              <p:nvSpPr>
                <p:cNvPr id="188" name="Freeform 188"/>
                <p:cNvSpPr/>
                <p:nvPr/>
              </p:nvSpPr>
              <p:spPr>
                <a:xfrm>
                  <a:off x="444897" y="4587478"/>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89" name="Freeform 189"/>
                <p:cNvSpPr/>
                <p:nvPr/>
              </p:nvSpPr>
              <p:spPr>
                <a:xfrm>
                  <a:off x="434578" y="4623594"/>
                  <a:ext cx="20638" cy="15478"/>
                </a:xfrm>
                <a:custGeom>
                  <a:avLst/>
                  <a:gdLst/>
                  <a:ahLst/>
                  <a:cxnLst/>
                  <a:rect l="l" t="t" r="r" b="b"/>
                  <a:pathLst>
                    <a:path w="20638" h="15478">
                      <a:moveTo>
                        <a:pt x="0" y="15478"/>
                      </a:moveTo>
                      <a:lnTo>
                        <a:pt x="0" y="10319"/>
                      </a:lnTo>
                      <a:cubicBezTo>
                        <a:pt x="0" y="4620"/>
                        <a:pt x="4620" y="0"/>
                        <a:pt x="10319" y="0"/>
                      </a:cubicBezTo>
                      <a:lnTo>
                        <a:pt x="20638" y="0"/>
                      </a:lnTo>
                    </a:path>
                  </a:pathLst>
                </a:custGeom>
                <a:noFill/>
                <a:ln w="10319">
                  <a:solidFill>
                    <a:srgbClr val="76200F"/>
                  </a:solidFill>
                </a:ln>
              </p:spPr>
            </p:sp>
          </p:grpSp>
          <p:sp>
            <p:nvSpPr>
              <p:cNvPr id="191" name="TextBox 191"/>
              <p:cNvSpPr txBox="1"/>
              <p:nvPr/>
            </p:nvSpPr>
            <p:spPr>
              <a:xfrm>
                <a:off x="570852" y="4607957"/>
                <a:ext cx="26799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社群码</a:t>
                </a:r>
              </a:p>
            </p:txBody>
          </p:sp>
          <p:sp>
            <p:nvSpPr>
              <p:cNvPr id="192" name="TextBox 192"/>
              <p:cNvSpPr txBox="1"/>
              <p:nvPr/>
            </p:nvSpPr>
            <p:spPr>
              <a:xfrm>
                <a:off x="1234443" y="4607957"/>
                <a:ext cx="388615"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10,000​​</a:t>
                </a:r>
              </a:p>
            </p:txBody>
          </p:sp>
          <p:sp>
            <p:nvSpPr>
              <p:cNvPr id="193" name="TextBox 193"/>
              <p:cNvSpPr txBox="1"/>
              <p:nvPr/>
            </p:nvSpPr>
            <p:spPr>
              <a:xfrm>
                <a:off x="1824515" y="46079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700​</a:t>
                </a:r>
              </a:p>
            </p:txBody>
          </p:sp>
          <p:sp>
            <p:nvSpPr>
              <p:cNvPr id="194" name="TextBox 194"/>
              <p:cNvSpPr txBox="1"/>
              <p:nvPr/>
            </p:nvSpPr>
            <p:spPr>
              <a:xfrm>
                <a:off x="2319815" y="46079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120​</a:t>
                </a:r>
              </a:p>
            </p:txBody>
          </p:sp>
          <p:sp>
            <p:nvSpPr>
              <p:cNvPr id="195" name="TextBox 195"/>
              <p:cNvSpPr txBox="1"/>
              <p:nvPr/>
            </p:nvSpPr>
            <p:spPr>
              <a:xfrm>
                <a:off x="2838808" y="4607957"/>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24​</a:t>
                </a:r>
              </a:p>
            </p:txBody>
          </p:sp>
          <p:sp>
            <p:nvSpPr>
              <p:cNvPr id="196" name="TextBox 196"/>
              <p:cNvSpPr txBox="1"/>
              <p:nvPr/>
            </p:nvSpPr>
            <p:spPr>
              <a:xfrm>
                <a:off x="3211670" y="460795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17.1%​​</a:t>
                </a:r>
              </a:p>
            </p:txBody>
          </p:sp>
          <p:sp>
            <p:nvSpPr>
              <p:cNvPr id="197" name="Rectangle 197"/>
              <p:cNvSpPr/>
              <p:nvPr/>
            </p:nvSpPr>
            <p:spPr>
              <a:xfrm>
                <a:off x="342900" y="4781550"/>
                <a:ext cx="3657600" cy="285750"/>
              </a:xfrm>
              <a:prstGeom prst="rect">
                <a:avLst/>
              </a:prstGeom>
              <a:solidFill>
                <a:srgbClr val="76200F"/>
              </a:solidFill>
              <a:ln>
                <a:noFill/>
              </a:ln>
            </p:spPr>
          </p:sp>
          <p:sp>
            <p:nvSpPr>
              <p:cNvPr id="198" name="TextBox 198"/>
              <p:cNvSpPr txBox="1"/>
              <p:nvPr/>
            </p:nvSpPr>
            <p:spPr>
              <a:xfrm>
                <a:off x="613931" y="4893707"/>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合计</a:t>
                </a:r>
              </a:p>
            </p:txBody>
          </p:sp>
          <p:sp>
            <p:nvSpPr>
              <p:cNvPr id="199" name="TextBox 199"/>
              <p:cNvSpPr txBox="1"/>
              <p:nvPr/>
            </p:nvSpPr>
            <p:spPr>
              <a:xfrm>
                <a:off x="1200088" y="4893707"/>
                <a:ext cx="45732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100,000​​</a:t>
                </a:r>
              </a:p>
            </p:txBody>
          </p:sp>
          <p:sp>
            <p:nvSpPr>
              <p:cNvPr id="200" name="TextBox 200"/>
              <p:cNvSpPr txBox="1"/>
              <p:nvPr/>
            </p:nvSpPr>
            <p:spPr>
              <a:xfrm>
                <a:off x="1720265" y="4893707"/>
                <a:ext cx="40756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12,000​​</a:t>
                </a:r>
              </a:p>
            </p:txBody>
          </p:sp>
          <p:sp>
            <p:nvSpPr>
              <p:cNvPr id="201" name="TextBox 201"/>
              <p:cNvSpPr txBox="1"/>
              <p:nvPr/>
            </p:nvSpPr>
            <p:spPr>
              <a:xfrm>
                <a:off x="2240443" y="4893707"/>
                <a:ext cx="35781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1,800​​</a:t>
                </a:r>
              </a:p>
            </p:txBody>
          </p:sp>
          <p:sp>
            <p:nvSpPr>
              <p:cNvPr id="202" name="TextBox 202"/>
              <p:cNvSpPr txBox="1"/>
              <p:nvPr/>
            </p:nvSpPr>
            <p:spPr>
              <a:xfrm>
                <a:off x="2810376" y="4893707"/>
                <a:ext cx="208547"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360​</a:t>
                </a:r>
              </a:p>
            </p:txBody>
          </p:sp>
          <p:sp>
            <p:nvSpPr>
              <p:cNvPr id="203" name="TextBox 203"/>
              <p:cNvSpPr txBox="1"/>
              <p:nvPr/>
            </p:nvSpPr>
            <p:spPr>
              <a:xfrm>
                <a:off x="3202947" y="4893707"/>
                <a:ext cx="375907"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15.0%​​</a:t>
                </a:r>
              </a:p>
            </p:txBody>
          </p:sp>
        </p:grpSp>
        <p:sp>
          <p:nvSpPr>
            <p:cNvPr id="205" name="TextBox 205"/>
            <p:cNvSpPr txBox="1"/>
            <p:nvPr/>
          </p:nvSpPr>
          <p:spPr>
            <a:xfrm>
              <a:off x="338138" y="5227082"/>
              <a:ext cx="2340066"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各渠道复购转化率均为 20.0%；展位扫码贡献曝光 40%、​​​</a:t>
              </a:r>
            </a:p>
          </p:txBody>
        </p:sp>
        <p:sp>
          <p:nvSpPr>
            <p:cNvPr id="206" name="TextBox 206"/>
            <p:cNvSpPr txBox="1"/>
            <p:nvPr/>
          </p:nvSpPr>
          <p:spPr>
            <a:xfrm>
              <a:off x="338138" y="5360432"/>
              <a:ext cx="1332032"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开户 840 笔，为第一贡献渠道。​​</a:t>
              </a:r>
            </a:p>
          </p:txBody>
        </p:sp>
      </p:grpSp>
      <p:grpSp>
        <p:nvGrpSpPr>
          <p:cNvPr id="265" name="data-model"/>
          <p:cNvGrpSpPr/>
          <p:nvPr/>
        </p:nvGrpSpPr>
        <p:grpSpPr>
          <a:xfrm>
            <a:off x="4095750" y="2800350"/>
            <a:ext cx="3562350" cy="3638550"/>
            <a:chOff x="4095750" y="2800350"/>
            <a:chExt cx="3562350" cy="3638550"/>
          </a:xfrm>
        </p:grpSpPr>
        <p:sp>
          <p:nvSpPr>
            <p:cNvPr id="208" name="Rectangle 208"/>
            <p:cNvSpPr/>
            <p:nvPr/>
          </p:nvSpPr>
          <p:spPr>
            <a:xfrm>
              <a:off x="4095750" y="2800350"/>
              <a:ext cx="2571750" cy="190500"/>
            </a:xfrm>
            <a:prstGeom prst="roundRect">
              <a:avLst>
                <a:gd name="adj" fmla="val 25000"/>
              </a:avLst>
            </a:prstGeom>
            <a:solidFill>
              <a:srgbClr val="76200F"/>
            </a:solidFill>
            <a:ln>
              <a:noFill/>
            </a:ln>
          </p:spPr>
        </p:sp>
        <p:sp>
          <p:nvSpPr>
            <p:cNvPr id="209" name="TextBox 209"/>
            <p:cNvSpPr txBox="1"/>
            <p:nvPr/>
          </p:nvSpPr>
          <p:spPr>
            <a:xfrm>
              <a:off x="4205288" y="2850118"/>
              <a:ext cx="1746123"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活动数据模型：构建客户全景画像</a:t>
              </a:r>
            </a:p>
          </p:txBody>
        </p:sp>
        <p:grpSp>
          <p:nvGrpSpPr>
            <p:cNvPr id="258" name="model-rows"/>
            <p:cNvGrpSpPr/>
            <p:nvPr/>
          </p:nvGrpSpPr>
          <p:grpSpPr>
            <a:xfrm>
              <a:off x="4095750" y="3067050"/>
              <a:ext cx="3562350" cy="3028950"/>
              <a:chOff x="4095750" y="3067050"/>
              <a:chExt cx="3562350" cy="3028950"/>
            </a:xfrm>
          </p:grpSpPr>
          <p:sp>
            <p:nvSpPr>
              <p:cNvPr id="210" name="Rectangle 210"/>
              <p:cNvSpPr/>
              <p:nvPr/>
            </p:nvSpPr>
            <p:spPr>
              <a:xfrm>
                <a:off x="4095750" y="3067050"/>
                <a:ext cx="3562350" cy="400050"/>
              </a:xfrm>
              <a:prstGeom prst="roundRect">
                <a:avLst>
                  <a:gd name="adj" fmla="val 14286"/>
                </a:avLst>
              </a:prstGeom>
              <a:solidFill>
                <a:srgbClr val="FFFFFF"/>
              </a:solidFill>
              <a:ln w="9525">
                <a:solidFill>
                  <a:srgbClr val="E2EEEB"/>
                </a:solidFill>
              </a:ln>
            </p:spPr>
          </p:sp>
          <p:grpSp>
            <p:nvGrpSpPr>
              <p:cNvPr id="215" name="Group 215"/>
              <p:cNvGrpSpPr/>
              <p:nvPr/>
            </p:nvGrpSpPr>
            <p:grpSpPr>
              <a:xfrm>
                <a:off x="4212431" y="3202781"/>
                <a:ext cx="128588" cy="128588"/>
                <a:chOff x="4212431" y="3202781"/>
                <a:chExt cx="128588" cy="128588"/>
              </a:xfrm>
            </p:grpSpPr>
            <p:sp>
              <p:nvSpPr>
                <p:cNvPr id="211" name="Freeform 211"/>
                <p:cNvSpPr/>
                <p:nvPr/>
              </p:nvSpPr>
              <p:spPr>
                <a:xfrm>
                  <a:off x="4226719" y="32027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6200F"/>
                  </a:solidFill>
                </a:ln>
              </p:spPr>
            </p:sp>
            <p:sp>
              <p:nvSpPr>
                <p:cNvPr id="212" name="Freeform 212"/>
                <p:cNvSpPr/>
                <p:nvPr/>
              </p:nvSpPr>
              <p:spPr>
                <a:xfrm>
                  <a:off x="4212431" y="32885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76200F"/>
                  </a:solidFill>
                </a:ln>
              </p:spPr>
            </p:sp>
            <p:sp>
              <p:nvSpPr>
                <p:cNvPr id="213" name="Freeform 213"/>
                <p:cNvSpPr/>
                <p:nvPr/>
              </p:nvSpPr>
              <p:spPr>
                <a:xfrm>
                  <a:off x="4305300" y="32037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76200F"/>
                  </a:solidFill>
                </a:ln>
              </p:spPr>
            </p:sp>
            <p:sp>
              <p:nvSpPr>
                <p:cNvPr id="214" name="Freeform 214"/>
                <p:cNvSpPr/>
                <p:nvPr/>
              </p:nvSpPr>
              <p:spPr>
                <a:xfrm>
                  <a:off x="4319588" y="328957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76200F"/>
                  </a:solidFill>
                </a:ln>
              </p:spPr>
            </p:sp>
          </p:grpSp>
          <p:sp>
            <p:nvSpPr>
              <p:cNvPr id="216" name="TextBox 216"/>
              <p:cNvSpPr txBox="1"/>
              <p:nvPr/>
            </p:nvSpPr>
            <p:spPr>
              <a:xfrm>
                <a:off x="4433888" y="3161586"/>
                <a:ext cx="349141"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客户ID​</a:t>
                </a:r>
              </a:p>
            </p:txBody>
          </p:sp>
          <p:sp>
            <p:nvSpPr>
              <p:cNvPr id="217" name="TextBox 217"/>
              <p:cNvSpPr txBox="1"/>
              <p:nvPr/>
            </p:nvSpPr>
            <p:spPr>
              <a:xfrm>
                <a:off x="4433888" y="3316605"/>
                <a:ext cx="1875358"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客户唯一标识 · 新老客户 · 客户分层 · 基础属性​​​</a:t>
                </a:r>
              </a:p>
            </p:txBody>
          </p:sp>
          <p:sp>
            <p:nvSpPr>
              <p:cNvPr id="218" name="Rectangle 218"/>
              <p:cNvSpPr/>
              <p:nvPr/>
            </p:nvSpPr>
            <p:spPr>
              <a:xfrm>
                <a:off x="4095750" y="3505200"/>
                <a:ext cx="3562350" cy="400050"/>
              </a:xfrm>
              <a:prstGeom prst="roundRect">
                <a:avLst>
                  <a:gd name="adj" fmla="val 14286"/>
                </a:avLst>
              </a:prstGeom>
              <a:solidFill>
                <a:srgbClr val="F0FAF8"/>
              </a:solidFill>
              <a:ln w="9525">
                <a:solidFill>
                  <a:srgbClr val="E2EEEB"/>
                </a:solidFill>
              </a:ln>
            </p:spPr>
          </p:sp>
          <p:grpSp>
            <p:nvGrpSpPr>
              <p:cNvPr id="222" name="Group 222"/>
              <p:cNvGrpSpPr/>
              <p:nvPr/>
            </p:nvGrpSpPr>
            <p:grpSpPr>
              <a:xfrm>
                <a:off x="4212431" y="3640931"/>
                <a:ext cx="128588" cy="128588"/>
                <a:chOff x="4212431" y="3640931"/>
                <a:chExt cx="128588" cy="128588"/>
              </a:xfrm>
            </p:grpSpPr>
            <p:sp>
              <p:nvSpPr>
                <p:cNvPr id="219" name="Freeform 219"/>
                <p:cNvSpPr/>
                <p:nvPr/>
              </p:nvSpPr>
              <p:spPr>
                <a:xfrm>
                  <a:off x="4269581" y="36980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6200F"/>
                  </a:solidFill>
                </a:ln>
              </p:spPr>
            </p:sp>
            <p:sp>
              <p:nvSpPr>
                <p:cNvPr id="220" name="Freeform 220"/>
                <p:cNvSpPr/>
                <p:nvPr/>
              </p:nvSpPr>
              <p:spPr>
                <a:xfrm>
                  <a:off x="4241006" y="36695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76200F"/>
                  </a:solidFill>
                </a:ln>
              </p:spPr>
            </p:sp>
            <p:sp>
              <p:nvSpPr>
                <p:cNvPr id="221" name="Freeform 221"/>
                <p:cNvSpPr/>
                <p:nvPr/>
              </p:nvSpPr>
              <p:spPr>
                <a:xfrm>
                  <a:off x="4212431" y="36409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grpSp>
          <p:sp>
            <p:nvSpPr>
              <p:cNvPr id="223" name="TextBox 223"/>
              <p:cNvSpPr txBox="1"/>
              <p:nvPr/>
            </p:nvSpPr>
            <p:spPr>
              <a:xfrm>
                <a:off x="4433888" y="359973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场景标签</a:t>
                </a:r>
              </a:p>
            </p:txBody>
          </p:sp>
          <p:sp>
            <p:nvSpPr>
              <p:cNvPr id="224" name="TextBox 224"/>
              <p:cNvSpPr txBox="1"/>
              <p:nvPr/>
            </p:nvSpPr>
            <p:spPr>
              <a:xfrm>
                <a:off x="4433888" y="3754755"/>
                <a:ext cx="1713814"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活动场景 · 展位位置 · 来源渠道 · 兴趣标签​​​</a:t>
                </a:r>
              </a:p>
            </p:txBody>
          </p:sp>
          <p:sp>
            <p:nvSpPr>
              <p:cNvPr id="225" name="Rectangle 225"/>
              <p:cNvSpPr/>
              <p:nvPr/>
            </p:nvSpPr>
            <p:spPr>
              <a:xfrm>
                <a:off x="4095750" y="3943350"/>
                <a:ext cx="3562350" cy="400050"/>
              </a:xfrm>
              <a:prstGeom prst="roundRect">
                <a:avLst>
                  <a:gd name="adj" fmla="val 14286"/>
                </a:avLst>
              </a:prstGeom>
              <a:solidFill>
                <a:srgbClr val="FFFFFF"/>
              </a:solidFill>
              <a:ln w="9525">
                <a:solidFill>
                  <a:srgbClr val="E2EEEB"/>
                </a:solidFill>
              </a:ln>
            </p:spPr>
          </p:sp>
          <p:sp>
            <p:nvSpPr>
              <p:cNvPr id="226" name="Freeform 226"/>
              <p:cNvSpPr/>
              <p:nvPr/>
            </p:nvSpPr>
            <p:spPr>
              <a:xfrm>
                <a:off x="4212431" y="4079081"/>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76200F"/>
                </a:solidFill>
              </a:ln>
            </p:spPr>
          </p:sp>
          <p:sp>
            <p:nvSpPr>
              <p:cNvPr id="227" name="TextBox 227"/>
              <p:cNvSpPr txBox="1"/>
              <p:nvPr/>
            </p:nvSpPr>
            <p:spPr>
              <a:xfrm>
                <a:off x="4433888" y="403788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行为事件</a:t>
                </a:r>
              </a:p>
            </p:txBody>
          </p:sp>
          <p:sp>
            <p:nvSpPr>
              <p:cNvPr id="228" name="TextBox 228"/>
              <p:cNvSpPr txBox="1"/>
              <p:nvPr/>
            </p:nvSpPr>
            <p:spPr>
              <a:xfrm>
                <a:off x="4433888" y="4192905"/>
                <a:ext cx="1713814"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到场打卡 · 扫码参与 · 咨询浏览 · 线上行为​​​</a:t>
                </a:r>
              </a:p>
            </p:txBody>
          </p:sp>
          <p:sp>
            <p:nvSpPr>
              <p:cNvPr id="229" name="Rectangle 229"/>
              <p:cNvSpPr/>
              <p:nvPr/>
            </p:nvSpPr>
            <p:spPr>
              <a:xfrm>
                <a:off x="4095750" y="4381500"/>
                <a:ext cx="3562350" cy="400050"/>
              </a:xfrm>
              <a:prstGeom prst="roundRect">
                <a:avLst>
                  <a:gd name="adj" fmla="val 14286"/>
                </a:avLst>
              </a:prstGeom>
              <a:solidFill>
                <a:srgbClr val="F0FAF8"/>
              </a:solidFill>
              <a:ln w="9525">
                <a:solidFill>
                  <a:srgbClr val="E2EEEB"/>
                </a:solidFill>
              </a:ln>
            </p:spPr>
          </p:sp>
          <p:grpSp>
            <p:nvGrpSpPr>
              <p:cNvPr id="233" name="Group 233"/>
              <p:cNvGrpSpPr/>
              <p:nvPr/>
            </p:nvGrpSpPr>
            <p:grpSpPr>
              <a:xfrm>
                <a:off x="4215303" y="4517231"/>
                <a:ext cx="122830" cy="127802"/>
                <a:chOff x="4215303" y="4517231"/>
                <a:chExt cx="122830" cy="127802"/>
              </a:xfrm>
            </p:grpSpPr>
            <p:sp>
              <p:nvSpPr>
                <p:cNvPr id="230" name="Freeform 230"/>
                <p:cNvSpPr/>
                <p:nvPr/>
              </p:nvSpPr>
              <p:spPr>
                <a:xfrm>
                  <a:off x="4233862" y="4517231"/>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76200F"/>
                  </a:solidFill>
                </a:ln>
              </p:spPr>
            </p:sp>
            <p:sp>
              <p:nvSpPr>
                <p:cNvPr id="231" name="Freeform 231"/>
                <p:cNvSpPr/>
                <p:nvPr/>
              </p:nvSpPr>
              <p:spPr>
                <a:xfrm>
                  <a:off x="4276725" y="4581525"/>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76200F"/>
                  </a:solidFill>
                </a:ln>
              </p:spPr>
            </p:sp>
            <p:sp>
              <p:nvSpPr>
                <p:cNvPr id="232" name="Freeform 232"/>
                <p:cNvSpPr/>
                <p:nvPr/>
              </p:nvSpPr>
              <p:spPr>
                <a:xfrm>
                  <a:off x="4215303" y="4581525"/>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76200F"/>
                  </a:solidFill>
                </a:ln>
              </p:spPr>
            </p:sp>
          </p:grpSp>
          <p:sp>
            <p:nvSpPr>
              <p:cNvPr id="234" name="TextBox 234"/>
              <p:cNvSpPr txBox="1"/>
              <p:nvPr/>
            </p:nvSpPr>
            <p:spPr>
              <a:xfrm>
                <a:off x="4433888" y="447603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权益记录</a:t>
                </a:r>
              </a:p>
            </p:txBody>
          </p:sp>
          <p:sp>
            <p:nvSpPr>
              <p:cNvPr id="235" name="TextBox 235"/>
              <p:cNvSpPr txBox="1"/>
              <p:nvPr/>
            </p:nvSpPr>
            <p:spPr>
              <a:xfrm>
                <a:off x="4433888" y="4631055"/>
                <a:ext cx="1713814"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领取权益 · 使用状态 · 核销记录 · 权益偏好​​​</a:t>
                </a:r>
              </a:p>
            </p:txBody>
          </p:sp>
          <p:sp>
            <p:nvSpPr>
              <p:cNvPr id="236" name="Rectangle 236"/>
              <p:cNvSpPr/>
              <p:nvPr/>
            </p:nvSpPr>
            <p:spPr>
              <a:xfrm>
                <a:off x="4095750" y="4819650"/>
                <a:ext cx="3562350" cy="400050"/>
              </a:xfrm>
              <a:prstGeom prst="roundRect">
                <a:avLst>
                  <a:gd name="adj" fmla="val 14286"/>
                </a:avLst>
              </a:prstGeom>
              <a:solidFill>
                <a:srgbClr val="FFFFFF"/>
              </a:solidFill>
              <a:ln w="9525">
                <a:solidFill>
                  <a:srgbClr val="E2EEEB"/>
                </a:solidFill>
              </a:ln>
            </p:spPr>
          </p:sp>
          <p:grpSp>
            <p:nvGrpSpPr>
              <p:cNvPr id="240" name="Group 240"/>
              <p:cNvGrpSpPr/>
              <p:nvPr/>
            </p:nvGrpSpPr>
            <p:grpSpPr>
              <a:xfrm>
                <a:off x="4212431" y="4955381"/>
                <a:ext cx="128588" cy="128587"/>
                <a:chOff x="4212431" y="4955381"/>
                <a:chExt cx="128588" cy="128587"/>
              </a:xfrm>
            </p:grpSpPr>
            <p:sp>
              <p:nvSpPr>
                <p:cNvPr id="237" name="Freeform 237"/>
                <p:cNvSpPr/>
                <p:nvPr/>
              </p:nvSpPr>
              <p:spPr>
                <a:xfrm>
                  <a:off x="4212431" y="4955381"/>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76200F"/>
                  </a:solidFill>
                </a:ln>
              </p:spPr>
            </p:sp>
            <p:sp>
              <p:nvSpPr>
                <p:cNvPr id="238" name="Freeform 238"/>
                <p:cNvSpPr/>
                <p:nvPr/>
              </p:nvSpPr>
              <p:spPr>
                <a:xfrm>
                  <a:off x="4237977" y="4983956"/>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76200F"/>
                  </a:solidFill>
                </a:ln>
              </p:spPr>
            </p:sp>
            <p:sp>
              <p:nvSpPr>
                <p:cNvPr id="239" name="Freeform 239"/>
                <p:cNvSpPr/>
                <p:nvPr/>
              </p:nvSpPr>
              <p:spPr>
                <a:xfrm>
                  <a:off x="4260294" y="5055394"/>
                  <a:ext cx="32861" cy="9525"/>
                </a:xfrm>
                <a:custGeom>
                  <a:avLst/>
                  <a:gdLst/>
                  <a:ahLst/>
                  <a:cxnLst/>
                  <a:rect l="l" t="t" r="r" b="b"/>
                  <a:pathLst>
                    <a:path w="32861" h="9525">
                      <a:moveTo>
                        <a:pt x="0" y="0"/>
                      </a:moveTo>
                      <a:lnTo>
                        <a:pt x="32861" y="0"/>
                      </a:lnTo>
                    </a:path>
                  </a:pathLst>
                </a:custGeom>
                <a:noFill/>
                <a:ln w="14288">
                  <a:solidFill>
                    <a:srgbClr val="76200F"/>
                  </a:solidFill>
                </a:ln>
              </p:spPr>
            </p:sp>
          </p:grpSp>
          <p:sp>
            <p:nvSpPr>
              <p:cNvPr id="241" name="TextBox 241"/>
              <p:cNvSpPr txBox="1"/>
              <p:nvPr/>
            </p:nvSpPr>
            <p:spPr>
              <a:xfrm>
                <a:off x="4433888" y="491418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产品意向</a:t>
                </a:r>
              </a:p>
            </p:txBody>
          </p:sp>
          <p:sp>
            <p:nvSpPr>
              <p:cNvPr id="242" name="TextBox 242"/>
              <p:cNvSpPr txBox="1"/>
              <p:nvPr/>
            </p:nvSpPr>
            <p:spPr>
              <a:xfrm>
                <a:off x="4433888" y="5069205"/>
                <a:ext cx="1713814"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意向产品 · 意向强度 · 需求标签 · 转化偏好​​​</a:t>
                </a:r>
              </a:p>
            </p:txBody>
          </p:sp>
          <p:sp>
            <p:nvSpPr>
              <p:cNvPr id="243" name="Rectangle 243"/>
              <p:cNvSpPr/>
              <p:nvPr/>
            </p:nvSpPr>
            <p:spPr>
              <a:xfrm>
                <a:off x="4095750" y="5257800"/>
                <a:ext cx="3562350" cy="400050"/>
              </a:xfrm>
              <a:prstGeom prst="roundRect">
                <a:avLst>
                  <a:gd name="adj" fmla="val 14286"/>
                </a:avLst>
              </a:prstGeom>
              <a:solidFill>
                <a:srgbClr val="F0FAF8"/>
              </a:solidFill>
              <a:ln w="9525">
                <a:solidFill>
                  <a:srgbClr val="E2EEEB"/>
                </a:solidFill>
              </a:ln>
            </p:spPr>
          </p:sp>
          <p:grpSp>
            <p:nvGrpSpPr>
              <p:cNvPr id="248" name="Group 248"/>
              <p:cNvGrpSpPr/>
              <p:nvPr/>
            </p:nvGrpSpPr>
            <p:grpSpPr>
              <a:xfrm>
                <a:off x="4226719" y="5400675"/>
                <a:ext cx="107155" cy="121444"/>
                <a:chOff x="4226719" y="5400675"/>
                <a:chExt cx="107155" cy="121444"/>
              </a:xfrm>
            </p:grpSpPr>
            <p:sp>
              <p:nvSpPr>
                <p:cNvPr id="244" name="Freeform 244"/>
                <p:cNvSpPr/>
                <p:nvPr/>
              </p:nvSpPr>
              <p:spPr>
                <a:xfrm>
                  <a:off x="4226719" y="5400675"/>
                  <a:ext cx="85725" cy="114300"/>
                </a:xfrm>
                <a:custGeom>
                  <a:avLst/>
                  <a:gdLst/>
                  <a:ahLst/>
                  <a:cxnLst/>
                  <a:rect l="l" t="t" r="r" b="b"/>
                  <a:pathLst>
                    <a:path w="85725" h="114300">
                      <a:moveTo>
                        <a:pt x="32968" y="114300"/>
                      </a:moveTo>
                      <a:lnTo>
                        <a:pt x="14288" y="114300"/>
                      </a:lnTo>
                      <a:cubicBezTo>
                        <a:pt x="6397" y="114300"/>
                        <a:pt x="0" y="107903"/>
                        <a:pt x="0" y="100012"/>
                      </a:cubicBezTo>
                      <a:lnTo>
                        <a:pt x="0" y="14288"/>
                      </a:lnTo>
                      <a:cubicBezTo>
                        <a:pt x="0" y="6397"/>
                        <a:pt x="6397" y="0"/>
                        <a:pt x="14288" y="0"/>
                      </a:cubicBezTo>
                      <a:lnTo>
                        <a:pt x="71438" y="0"/>
                      </a:lnTo>
                      <a:cubicBezTo>
                        <a:pt x="79328" y="0"/>
                        <a:pt x="85725" y="6397"/>
                        <a:pt x="85725" y="14288"/>
                      </a:cubicBezTo>
                      <a:lnTo>
                        <a:pt x="85725" y="71438"/>
                      </a:lnTo>
                    </a:path>
                  </a:pathLst>
                </a:custGeom>
                <a:noFill/>
                <a:ln w="14288">
                  <a:solidFill>
                    <a:srgbClr val="76200F"/>
                  </a:solidFill>
                </a:ln>
              </p:spPr>
            </p:sp>
            <p:sp>
              <p:nvSpPr>
                <p:cNvPr id="245" name="Freeform 245"/>
                <p:cNvSpPr/>
                <p:nvPr/>
              </p:nvSpPr>
              <p:spPr>
                <a:xfrm>
                  <a:off x="4291012" y="5493544"/>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sp>
              <p:nvSpPr>
                <p:cNvPr id="246" name="Freeform 246"/>
                <p:cNvSpPr/>
                <p:nvPr/>
              </p:nvSpPr>
              <p:spPr>
                <a:xfrm>
                  <a:off x="4255294" y="5429250"/>
                  <a:ext cx="28575" cy="9525"/>
                </a:xfrm>
                <a:custGeom>
                  <a:avLst/>
                  <a:gdLst/>
                  <a:ahLst/>
                  <a:cxnLst/>
                  <a:rect l="l" t="t" r="r" b="b"/>
                  <a:pathLst>
                    <a:path w="28575" h="9525">
                      <a:moveTo>
                        <a:pt x="0" y="0"/>
                      </a:moveTo>
                      <a:lnTo>
                        <a:pt x="28575" y="0"/>
                      </a:lnTo>
                    </a:path>
                  </a:pathLst>
                </a:custGeom>
                <a:noFill/>
                <a:ln w="14288">
                  <a:solidFill>
                    <a:srgbClr val="76200F"/>
                  </a:solidFill>
                </a:ln>
              </p:spPr>
            </p:sp>
            <p:sp>
              <p:nvSpPr>
                <p:cNvPr id="247" name="Freeform 247"/>
                <p:cNvSpPr/>
                <p:nvPr/>
              </p:nvSpPr>
              <p:spPr>
                <a:xfrm>
                  <a:off x="4255294" y="5457825"/>
                  <a:ext cx="14288" cy="9525"/>
                </a:xfrm>
                <a:custGeom>
                  <a:avLst/>
                  <a:gdLst/>
                  <a:ahLst/>
                  <a:cxnLst/>
                  <a:rect l="l" t="t" r="r" b="b"/>
                  <a:pathLst>
                    <a:path w="14288" h="9525">
                      <a:moveTo>
                        <a:pt x="0" y="0"/>
                      </a:moveTo>
                      <a:lnTo>
                        <a:pt x="14288" y="0"/>
                      </a:lnTo>
                    </a:path>
                  </a:pathLst>
                </a:custGeom>
                <a:noFill/>
                <a:ln w="14288">
                  <a:solidFill>
                    <a:srgbClr val="76200F"/>
                  </a:solidFill>
                </a:ln>
              </p:spPr>
            </p:sp>
          </p:grpSp>
          <p:sp>
            <p:nvSpPr>
              <p:cNvPr id="249" name="TextBox 249"/>
              <p:cNvSpPr txBox="1"/>
              <p:nvPr/>
            </p:nvSpPr>
            <p:spPr>
              <a:xfrm>
                <a:off x="4433888" y="535233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跟进任务</a:t>
                </a:r>
              </a:p>
            </p:txBody>
          </p:sp>
          <p:sp>
            <p:nvSpPr>
              <p:cNvPr id="250" name="TextBox 250"/>
              <p:cNvSpPr txBox="1"/>
              <p:nvPr/>
            </p:nvSpPr>
            <p:spPr>
              <a:xfrm>
                <a:off x="4433888" y="5507355"/>
                <a:ext cx="1633042"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负责人 · 跟进状态 · 下次动作 · 跟进记录​​​</a:t>
                </a:r>
              </a:p>
            </p:txBody>
          </p:sp>
          <p:sp>
            <p:nvSpPr>
              <p:cNvPr id="251" name="Rectangle 251"/>
              <p:cNvSpPr/>
              <p:nvPr/>
            </p:nvSpPr>
            <p:spPr>
              <a:xfrm>
                <a:off x="4095750" y="5695950"/>
                <a:ext cx="3562350" cy="400050"/>
              </a:xfrm>
              <a:prstGeom prst="roundRect">
                <a:avLst>
                  <a:gd name="adj" fmla="val 14286"/>
                </a:avLst>
              </a:prstGeom>
              <a:solidFill>
                <a:srgbClr val="FFFFFF"/>
              </a:solidFill>
              <a:ln w="9525">
                <a:solidFill>
                  <a:srgbClr val="E2EEEB"/>
                </a:solidFill>
              </a:ln>
            </p:spPr>
          </p:sp>
          <p:grpSp>
            <p:nvGrpSpPr>
              <p:cNvPr id="255" name="Group 255"/>
              <p:cNvGrpSpPr/>
              <p:nvPr/>
            </p:nvGrpSpPr>
            <p:grpSpPr>
              <a:xfrm>
                <a:off x="4212431" y="5845969"/>
                <a:ext cx="128587" cy="100013"/>
                <a:chOff x="4212431" y="5845969"/>
                <a:chExt cx="128587" cy="100013"/>
              </a:xfrm>
            </p:grpSpPr>
            <p:sp>
              <p:nvSpPr>
                <p:cNvPr id="252" name="Freeform 252"/>
                <p:cNvSpPr/>
                <p:nvPr/>
              </p:nvSpPr>
              <p:spPr>
                <a:xfrm>
                  <a:off x="4212431" y="5845969"/>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76200F"/>
                  </a:solidFill>
                </a:ln>
              </p:spPr>
            </p:sp>
            <p:sp>
              <p:nvSpPr>
                <p:cNvPr id="253" name="Freeform 253"/>
                <p:cNvSpPr/>
                <p:nvPr/>
              </p:nvSpPr>
              <p:spPr>
                <a:xfrm>
                  <a:off x="4241006" y="5874544"/>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76200F"/>
                  </a:solidFill>
                </a:ln>
              </p:spPr>
            </p:sp>
            <p:sp>
              <p:nvSpPr>
                <p:cNvPr id="254" name="Freeform 254"/>
                <p:cNvSpPr/>
                <p:nvPr/>
              </p:nvSpPr>
              <p:spPr>
                <a:xfrm>
                  <a:off x="4276725" y="589597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grpSp>
          <p:sp>
            <p:nvSpPr>
              <p:cNvPr id="256" name="TextBox 256"/>
              <p:cNvSpPr txBox="1"/>
              <p:nvPr/>
            </p:nvSpPr>
            <p:spPr>
              <a:xfrm>
                <a:off x="4433888" y="5790486"/>
                <a:ext cx="391846" cy="140494"/>
              </a:xfrm>
              <a:prstGeom prst="rect">
                <a:avLst/>
              </a:prstGeom>
              <a:noFill/>
              <a:ln>
                <a:noFill/>
              </a:ln>
            </p:spPr>
            <p:txBody>
              <a:bodyPr wrap="none" lIns="0" tIns="0" rIns="0" bIns="0" anchor="t" anchorCtr="0">
                <a:spAutoFit/>
              </a:bodyPr>
              <a:lstStyle/>
              <a:p>
                <a:pPr algn="l"/>
                <a:r>
                  <a:rPr lang="zh-CN" sz="710" b="1" dirty="0">
                    <a:solidFill>
                      <a:srgbClr val="331712"/>
                    </a:solidFill>
                    <a:latin typeface="+mn-lt"/>
                    <a:ea typeface="+mn-ea"/>
                    <a:cs typeface="+mn-cs"/>
                  </a:rPr>
                  <a:t>交易结果</a:t>
                </a:r>
              </a:p>
            </p:txBody>
          </p:sp>
          <p:sp>
            <p:nvSpPr>
              <p:cNvPr id="257" name="TextBox 257"/>
              <p:cNvSpPr txBox="1"/>
              <p:nvPr/>
            </p:nvSpPr>
            <p:spPr>
              <a:xfrm>
                <a:off x="4433888" y="5945505"/>
                <a:ext cx="1723492" cy="119062"/>
              </a:xfrm>
              <a:prstGeom prst="rect">
                <a:avLst/>
              </a:prstGeom>
              <a:noFill/>
              <a:ln>
                <a:noFill/>
              </a:ln>
            </p:spPr>
            <p:txBody>
              <a:bodyPr wrap="none" lIns="0" tIns="0" rIns="0" bIns="0" anchor="t" anchorCtr="0">
                <a:spAutoFit/>
              </a:bodyPr>
              <a:lstStyle/>
              <a:p>
                <a:pPr algn="l"/>
                <a:r>
                  <a:rPr lang="zh-CN" sz="600" dirty="0">
                    <a:solidFill>
                      <a:srgbClr val="73615E"/>
                    </a:solidFill>
                    <a:latin typeface="+mn-lt"/>
                    <a:ea typeface="+mn-ea"/>
                    <a:cs typeface="+mn-cs"/>
                  </a:rPr>
                  <a:t>开户结果 · 首笔交易 · 30日复购 · AUM贡献​​​</a:t>
                </a:r>
              </a:p>
            </p:txBody>
          </p:sp>
        </p:grpSp>
        <p:sp>
          <p:nvSpPr>
            <p:cNvPr id="259" name="Rectangle 259"/>
            <p:cNvSpPr/>
            <p:nvPr/>
          </p:nvSpPr>
          <p:spPr>
            <a:xfrm>
              <a:off x="4095750" y="6172200"/>
              <a:ext cx="3562350" cy="266700"/>
            </a:xfrm>
            <a:prstGeom prst="roundRect">
              <a:avLst>
                <a:gd name="adj" fmla="val 50000"/>
              </a:avLst>
            </a:prstGeom>
            <a:solidFill>
              <a:srgbClr val="5D190B"/>
            </a:solidFill>
            <a:ln>
              <a:noFill/>
            </a:ln>
          </p:spPr>
        </p:sp>
        <p:grpSp>
          <p:nvGrpSpPr>
            <p:cNvPr id="263" name="Group 263"/>
            <p:cNvGrpSpPr/>
            <p:nvPr/>
          </p:nvGrpSpPr>
          <p:grpSpPr>
            <a:xfrm>
              <a:off x="4270375" y="6255544"/>
              <a:ext cx="88900" cy="100012"/>
              <a:chOff x="4270375" y="6255544"/>
              <a:chExt cx="88900" cy="100012"/>
            </a:xfrm>
          </p:grpSpPr>
          <p:sp>
            <p:nvSpPr>
              <p:cNvPr id="260" name="Freeform 260"/>
              <p:cNvSpPr/>
              <p:nvPr/>
            </p:nvSpPr>
            <p:spPr>
              <a:xfrm>
                <a:off x="4270375" y="6255544"/>
                <a:ext cx="88900" cy="33337"/>
              </a:xfrm>
              <a:custGeom>
                <a:avLst/>
                <a:gdLst/>
                <a:ahLst/>
                <a:cxnLst/>
                <a:rect l="l" t="t" r="r" b="b"/>
                <a:pathLst>
                  <a:path w="88900" h="33337">
                    <a:moveTo>
                      <a:pt x="0" y="16669"/>
                    </a:moveTo>
                    <a:cubicBezTo>
                      <a:pt x="0" y="25875"/>
                      <a:pt x="19901" y="33337"/>
                      <a:pt x="44450" y="33337"/>
                    </a:cubicBezTo>
                    <a:cubicBezTo>
                      <a:pt x="68999" y="33337"/>
                      <a:pt x="88900" y="25875"/>
                      <a:pt x="88900" y="16669"/>
                    </a:cubicBezTo>
                    <a:cubicBezTo>
                      <a:pt x="88900" y="7463"/>
                      <a:pt x="68999" y="0"/>
                      <a:pt x="44450" y="0"/>
                    </a:cubicBezTo>
                    <a:cubicBezTo>
                      <a:pt x="19901" y="0"/>
                      <a:pt x="0" y="7463"/>
                      <a:pt x="0" y="16669"/>
                    </a:cubicBezTo>
                  </a:path>
                </a:pathLst>
              </a:custGeom>
              <a:noFill/>
              <a:ln w="11112">
                <a:solidFill>
                  <a:srgbClr val="C4887C"/>
                </a:solidFill>
              </a:ln>
            </p:spPr>
          </p:sp>
          <p:sp>
            <p:nvSpPr>
              <p:cNvPr id="261" name="Freeform 261"/>
              <p:cNvSpPr/>
              <p:nvPr/>
            </p:nvSpPr>
            <p:spPr>
              <a:xfrm>
                <a:off x="4270375" y="6272212"/>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C4887C"/>
                </a:solidFill>
              </a:ln>
            </p:spPr>
          </p:sp>
          <p:sp>
            <p:nvSpPr>
              <p:cNvPr id="262" name="Freeform 262"/>
              <p:cNvSpPr/>
              <p:nvPr/>
            </p:nvSpPr>
            <p:spPr>
              <a:xfrm>
                <a:off x="4270375" y="6305550"/>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C4887C"/>
                </a:solidFill>
              </a:ln>
            </p:spPr>
          </p:sp>
        </p:grpSp>
        <p:sp>
          <p:nvSpPr>
            <p:cNvPr id="264" name="TextBox 264"/>
            <p:cNvSpPr txBox="1"/>
            <p:nvPr/>
          </p:nvSpPr>
          <p:spPr>
            <a:xfrm>
              <a:off x="4878438" y="6270784"/>
              <a:ext cx="220652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数据沉淀至客户经营中台，形成可持续经营的客户资产</a:t>
              </a:r>
            </a:p>
          </p:txBody>
        </p:sp>
      </p:grpSp>
      <p:grpSp>
        <p:nvGrpSpPr>
          <p:cNvPr id="305" name="value-timeline"/>
          <p:cNvGrpSpPr/>
          <p:nvPr/>
        </p:nvGrpSpPr>
        <p:grpSpPr>
          <a:xfrm>
            <a:off x="7734300" y="2800350"/>
            <a:ext cx="4095750" cy="3257550"/>
            <a:chOff x="7734300" y="2800350"/>
            <a:chExt cx="4095750" cy="3257550"/>
          </a:xfrm>
        </p:grpSpPr>
        <p:sp>
          <p:nvSpPr>
            <p:cNvPr id="266" name="Rectangle 266"/>
            <p:cNvSpPr/>
            <p:nvPr/>
          </p:nvSpPr>
          <p:spPr>
            <a:xfrm>
              <a:off x="7734300" y="2800350"/>
              <a:ext cx="2000250" cy="190500"/>
            </a:xfrm>
            <a:prstGeom prst="roundRect">
              <a:avLst>
                <a:gd name="adj" fmla="val 25000"/>
              </a:avLst>
            </a:prstGeom>
            <a:solidFill>
              <a:srgbClr val="76200F"/>
            </a:solidFill>
            <a:ln>
              <a:noFill/>
            </a:ln>
          </p:spPr>
        </p:sp>
        <p:sp>
          <p:nvSpPr>
            <p:cNvPr id="267" name="TextBox 267"/>
            <p:cNvSpPr txBox="1"/>
            <p:nvPr/>
          </p:nvSpPr>
          <p:spPr>
            <a:xfrm>
              <a:off x="7843838" y="2850118"/>
              <a:ext cx="1398803"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客户价值成长视图（示例）</a:t>
              </a:r>
            </a:p>
          </p:txBody>
        </p:sp>
        <p:sp>
          <p:nvSpPr>
            <p:cNvPr id="268" name="Rectangle 268"/>
            <p:cNvSpPr/>
            <p:nvPr/>
          </p:nvSpPr>
          <p:spPr>
            <a:xfrm>
              <a:off x="7734300" y="3067050"/>
              <a:ext cx="952500" cy="190500"/>
            </a:xfrm>
            <a:prstGeom prst="roundRect">
              <a:avLst>
                <a:gd name="adj" fmla="val 50000"/>
              </a:avLst>
            </a:prstGeom>
            <a:solidFill>
              <a:srgbClr val="E4F1EE"/>
            </a:solidFill>
            <a:ln>
              <a:noFill/>
            </a:ln>
          </p:spPr>
        </p:sp>
        <p:sp>
          <p:nvSpPr>
            <p:cNvPr id="269" name="TextBox 269"/>
            <p:cNvSpPr txBox="1"/>
            <p:nvPr/>
          </p:nvSpPr>
          <p:spPr>
            <a:xfrm>
              <a:off x="7796632" y="3135630"/>
              <a:ext cx="827837" cy="119062"/>
            </a:xfrm>
            <a:prstGeom prst="rect">
              <a:avLst/>
            </a:prstGeom>
            <a:noFill/>
            <a:ln>
              <a:noFill/>
            </a:ln>
          </p:spPr>
          <p:txBody>
            <a:bodyPr wrap="none" lIns="0" tIns="0" rIns="0" bIns="0" anchor="t" anchorCtr="0">
              <a:spAutoFit/>
            </a:bodyPr>
            <a:lstStyle/>
            <a:p>
              <a:pPr algn="ctr"/>
              <a:r>
                <a:rPr lang="zh-CN" sz="600" dirty="0">
                  <a:solidFill>
                    <a:srgbClr val="5D190B"/>
                  </a:solidFill>
                  <a:latin typeface="+mn-lt"/>
                  <a:ea typeface="+mn-ea"/>
                  <a:cs typeface="+mn-cs"/>
                </a:rPr>
                <a:t>客户A（活动新客户）​</a:t>
              </a:r>
            </a:p>
          </p:txBody>
        </p:sp>
        <p:sp>
          <p:nvSpPr>
            <p:cNvPr id="270" name="Rectangle 270"/>
            <p:cNvSpPr/>
            <p:nvPr/>
          </p:nvSpPr>
          <p:spPr>
            <a:xfrm>
              <a:off x="8743950" y="3067050"/>
              <a:ext cx="609600" cy="190500"/>
            </a:xfrm>
            <a:prstGeom prst="roundRect">
              <a:avLst>
                <a:gd name="adj" fmla="val 50000"/>
              </a:avLst>
            </a:prstGeom>
            <a:solidFill>
              <a:srgbClr val="E4F1EE"/>
            </a:solidFill>
            <a:ln>
              <a:noFill/>
            </a:ln>
          </p:spPr>
        </p:sp>
        <p:sp>
          <p:nvSpPr>
            <p:cNvPr id="271" name="TextBox 271"/>
            <p:cNvSpPr txBox="1"/>
            <p:nvPr/>
          </p:nvSpPr>
          <p:spPr>
            <a:xfrm>
              <a:off x="8882444" y="3135630"/>
              <a:ext cx="332613" cy="119062"/>
            </a:xfrm>
            <a:prstGeom prst="rect">
              <a:avLst/>
            </a:prstGeom>
            <a:noFill/>
            <a:ln>
              <a:noFill/>
            </a:ln>
          </p:spPr>
          <p:txBody>
            <a:bodyPr wrap="none" lIns="0" tIns="0" rIns="0" bIns="0" anchor="t" anchorCtr="0">
              <a:spAutoFit/>
            </a:bodyPr>
            <a:lstStyle/>
            <a:p>
              <a:pPr algn="ctr"/>
              <a:r>
                <a:rPr lang="zh-CN" sz="600" dirty="0">
                  <a:solidFill>
                    <a:srgbClr val="5D190B"/>
                  </a:solidFill>
                  <a:latin typeface="+mn-lt"/>
                  <a:ea typeface="+mn-ea"/>
                  <a:cs typeface="+mn-cs"/>
                </a:rPr>
                <a:t>展位扫码</a:t>
              </a:r>
            </a:p>
          </p:txBody>
        </p:sp>
        <p:sp>
          <p:nvSpPr>
            <p:cNvPr id="272" name="Rectangle 272"/>
            <p:cNvSpPr/>
            <p:nvPr/>
          </p:nvSpPr>
          <p:spPr>
            <a:xfrm>
              <a:off x="9410700" y="3067050"/>
              <a:ext cx="609600" cy="190500"/>
            </a:xfrm>
            <a:prstGeom prst="roundRect">
              <a:avLst>
                <a:gd name="adj" fmla="val 50000"/>
              </a:avLst>
            </a:prstGeom>
            <a:solidFill>
              <a:srgbClr val="E4F1EE"/>
            </a:solidFill>
            <a:ln>
              <a:noFill/>
            </a:ln>
          </p:spPr>
        </p:sp>
        <p:sp>
          <p:nvSpPr>
            <p:cNvPr id="273" name="TextBox 273"/>
            <p:cNvSpPr txBox="1"/>
            <p:nvPr/>
          </p:nvSpPr>
          <p:spPr>
            <a:xfrm>
              <a:off x="9549194" y="3135630"/>
              <a:ext cx="332613" cy="119062"/>
            </a:xfrm>
            <a:prstGeom prst="rect">
              <a:avLst/>
            </a:prstGeom>
            <a:noFill/>
            <a:ln>
              <a:noFill/>
            </a:ln>
          </p:spPr>
          <p:txBody>
            <a:bodyPr wrap="none" lIns="0" tIns="0" rIns="0" bIns="0" anchor="t" anchorCtr="0">
              <a:spAutoFit/>
            </a:bodyPr>
            <a:lstStyle/>
            <a:p>
              <a:pPr algn="ctr"/>
              <a:r>
                <a:rPr lang="zh-CN" sz="600" dirty="0">
                  <a:solidFill>
                    <a:srgbClr val="5D190B"/>
                  </a:solidFill>
                  <a:latin typeface="+mn-lt"/>
                  <a:ea typeface="+mn-ea"/>
                  <a:cs typeface="+mn-cs"/>
                </a:rPr>
                <a:t>理财意向</a:t>
              </a:r>
            </a:p>
          </p:txBody>
        </p:sp>
        <p:sp>
          <p:nvSpPr>
            <p:cNvPr id="274" name="Rectangle 274"/>
            <p:cNvSpPr/>
            <p:nvPr/>
          </p:nvSpPr>
          <p:spPr>
            <a:xfrm>
              <a:off x="10077450" y="3067050"/>
              <a:ext cx="723900" cy="190500"/>
            </a:xfrm>
            <a:prstGeom prst="roundRect">
              <a:avLst>
                <a:gd name="adj" fmla="val 50000"/>
              </a:avLst>
            </a:prstGeom>
            <a:solidFill>
              <a:srgbClr val="E4F1EE"/>
            </a:solidFill>
            <a:ln>
              <a:noFill/>
            </a:ln>
          </p:spPr>
        </p:sp>
        <p:sp>
          <p:nvSpPr>
            <p:cNvPr id="275" name="TextBox 275"/>
            <p:cNvSpPr txBox="1"/>
            <p:nvPr/>
          </p:nvSpPr>
          <p:spPr>
            <a:xfrm>
              <a:off x="10232708" y="3135630"/>
              <a:ext cx="413385" cy="119062"/>
            </a:xfrm>
            <a:prstGeom prst="rect">
              <a:avLst/>
            </a:prstGeom>
            <a:noFill/>
            <a:ln>
              <a:noFill/>
            </a:ln>
          </p:spPr>
          <p:txBody>
            <a:bodyPr wrap="none" lIns="0" tIns="0" rIns="0" bIns="0" anchor="t" anchorCtr="0">
              <a:spAutoFit/>
            </a:bodyPr>
            <a:lstStyle/>
            <a:p>
              <a:pPr algn="ctr"/>
              <a:r>
                <a:rPr lang="zh-CN" sz="600" dirty="0">
                  <a:solidFill>
                    <a:srgbClr val="5D190B"/>
                  </a:solidFill>
                  <a:latin typeface="+mn-lt"/>
                  <a:ea typeface="+mn-ea"/>
                  <a:cs typeface="+mn-cs"/>
                </a:rPr>
                <a:t>高价值潜力</a:t>
              </a:r>
            </a:p>
          </p:txBody>
        </p:sp>
        <p:grpSp>
          <p:nvGrpSpPr>
            <p:cNvPr id="295" name="timeline-events"/>
            <p:cNvGrpSpPr/>
            <p:nvPr/>
          </p:nvGrpSpPr>
          <p:grpSpPr>
            <a:xfrm>
              <a:off x="7905750" y="3352800"/>
              <a:ext cx="1579228" cy="1971913"/>
              <a:chOff x="7905750" y="3352800"/>
              <a:chExt cx="1579228" cy="1971913"/>
            </a:xfrm>
          </p:grpSpPr>
          <p:sp>
            <p:nvSpPr>
              <p:cNvPr id="276" name="Line 276"/>
              <p:cNvSpPr/>
              <p:nvPr/>
            </p:nvSpPr>
            <p:spPr>
              <a:xfrm>
                <a:off x="7981950" y="3352800"/>
                <a:ext cx="9525" cy="1943100"/>
              </a:xfrm>
              <a:custGeom>
                <a:avLst/>
                <a:gdLst/>
                <a:ahLst/>
                <a:cxnLst/>
                <a:rect l="l" t="t" r="r" b="b"/>
                <a:pathLst>
                  <a:path w="9525" h="1943100">
                    <a:moveTo>
                      <a:pt x="0" y="0"/>
                    </a:moveTo>
                    <a:lnTo>
                      <a:pt x="0" y="1943100"/>
                    </a:lnTo>
                  </a:path>
                </a:pathLst>
              </a:custGeom>
              <a:noFill/>
              <a:ln w="19050">
                <a:solidFill>
                  <a:srgbClr val="C2E0DA"/>
                </a:solidFill>
              </a:ln>
            </p:spPr>
          </p:sp>
          <p:sp>
            <p:nvSpPr>
              <p:cNvPr id="277" name="Ellipse 277"/>
              <p:cNvSpPr/>
              <p:nvPr/>
            </p:nvSpPr>
            <p:spPr>
              <a:xfrm>
                <a:off x="7905750" y="3371850"/>
                <a:ext cx="152400" cy="152400"/>
              </a:xfrm>
              <a:prstGeom prst="ellipse">
                <a:avLst/>
              </a:prstGeom>
              <a:solidFill>
                <a:srgbClr val="76200F"/>
              </a:solidFill>
              <a:ln>
                <a:noFill/>
              </a:ln>
            </p:spPr>
          </p:sp>
          <p:sp>
            <p:nvSpPr>
              <p:cNvPr id="278" name="TextBox 278"/>
              <p:cNvSpPr txBox="1"/>
              <p:nvPr/>
            </p:nvSpPr>
            <p:spPr>
              <a:xfrm>
                <a:off x="8148638" y="3356134"/>
                <a:ext cx="379582"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10-01​​</a:t>
                </a:r>
              </a:p>
            </p:txBody>
          </p:sp>
          <p:sp>
            <p:nvSpPr>
              <p:cNvPr id="279" name="TextBox 279"/>
              <p:cNvSpPr txBox="1"/>
              <p:nvPr/>
            </p:nvSpPr>
            <p:spPr>
              <a:xfrm>
                <a:off x="8148638" y="3484007"/>
                <a:ext cx="1336340"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到场打卡 · 参与互动 · 领取礼品​​</a:t>
                </a:r>
              </a:p>
            </p:txBody>
          </p:sp>
          <p:sp>
            <p:nvSpPr>
              <p:cNvPr id="280" name="Ellipse 280"/>
              <p:cNvSpPr/>
              <p:nvPr/>
            </p:nvSpPr>
            <p:spPr>
              <a:xfrm>
                <a:off x="7905750" y="3714750"/>
                <a:ext cx="152400" cy="152400"/>
              </a:xfrm>
              <a:prstGeom prst="ellipse">
                <a:avLst/>
              </a:prstGeom>
              <a:solidFill>
                <a:srgbClr val="852512"/>
              </a:solidFill>
              <a:ln>
                <a:noFill/>
              </a:ln>
            </p:spPr>
          </p:sp>
          <p:sp>
            <p:nvSpPr>
              <p:cNvPr id="281" name="TextBox 281"/>
              <p:cNvSpPr txBox="1"/>
              <p:nvPr/>
            </p:nvSpPr>
            <p:spPr>
              <a:xfrm>
                <a:off x="8148638" y="3699034"/>
                <a:ext cx="379582"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10-02​​</a:t>
                </a:r>
              </a:p>
            </p:txBody>
          </p:sp>
          <p:sp>
            <p:nvSpPr>
              <p:cNvPr id="282" name="TextBox 282"/>
              <p:cNvSpPr txBox="1"/>
              <p:nvPr/>
            </p:nvSpPr>
            <p:spPr>
              <a:xfrm>
                <a:off x="8148638" y="3826907"/>
                <a:ext cx="845246"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授权留资 · 完成开户​</a:t>
                </a:r>
              </a:p>
            </p:txBody>
          </p:sp>
          <p:sp>
            <p:nvSpPr>
              <p:cNvPr id="283" name="Ellipse 283"/>
              <p:cNvSpPr/>
              <p:nvPr/>
            </p:nvSpPr>
            <p:spPr>
              <a:xfrm>
                <a:off x="7905750" y="4057650"/>
                <a:ext cx="152400" cy="152400"/>
              </a:xfrm>
              <a:prstGeom prst="ellipse">
                <a:avLst/>
              </a:prstGeom>
              <a:solidFill>
                <a:srgbClr val="852512"/>
              </a:solidFill>
              <a:ln>
                <a:noFill/>
              </a:ln>
            </p:spPr>
          </p:sp>
          <p:sp>
            <p:nvSpPr>
              <p:cNvPr id="284" name="TextBox 284"/>
              <p:cNvSpPr txBox="1"/>
              <p:nvPr/>
            </p:nvSpPr>
            <p:spPr>
              <a:xfrm>
                <a:off x="8148638" y="4041934"/>
                <a:ext cx="379582"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10-05​​</a:t>
                </a:r>
              </a:p>
            </p:txBody>
          </p:sp>
          <p:sp>
            <p:nvSpPr>
              <p:cNvPr id="285" name="TextBox 285"/>
              <p:cNvSpPr txBox="1"/>
              <p:nvPr/>
            </p:nvSpPr>
            <p:spPr>
              <a:xfrm>
                <a:off x="8148638" y="4169807"/>
                <a:ext cx="1017560"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绑卡成功 · 获得新客权益​</a:t>
                </a:r>
              </a:p>
            </p:txBody>
          </p:sp>
          <p:sp>
            <p:nvSpPr>
              <p:cNvPr id="286" name="Ellipse 286"/>
              <p:cNvSpPr/>
              <p:nvPr/>
            </p:nvSpPr>
            <p:spPr>
              <a:xfrm>
                <a:off x="7905750" y="4400550"/>
                <a:ext cx="152400" cy="152400"/>
              </a:xfrm>
              <a:prstGeom prst="ellipse">
                <a:avLst/>
              </a:prstGeom>
              <a:solidFill>
                <a:srgbClr val="A3422F"/>
              </a:solidFill>
              <a:ln>
                <a:noFill/>
              </a:ln>
            </p:spPr>
          </p:sp>
          <p:sp>
            <p:nvSpPr>
              <p:cNvPr id="287" name="TextBox 287"/>
              <p:cNvSpPr txBox="1"/>
              <p:nvPr/>
            </p:nvSpPr>
            <p:spPr>
              <a:xfrm>
                <a:off x="8148638" y="4384834"/>
                <a:ext cx="379582"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10-18​​</a:t>
                </a:r>
              </a:p>
            </p:txBody>
          </p:sp>
          <p:sp>
            <p:nvSpPr>
              <p:cNvPr id="288" name="TextBox 288"/>
              <p:cNvSpPr txBox="1"/>
              <p:nvPr/>
            </p:nvSpPr>
            <p:spPr>
              <a:xfrm>
                <a:off x="8148638" y="4512707"/>
                <a:ext cx="1103716"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首笔交易 ¥5,000（理财）​​</a:t>
                </a:r>
              </a:p>
            </p:txBody>
          </p:sp>
          <p:sp>
            <p:nvSpPr>
              <p:cNvPr id="289" name="Ellipse 289"/>
              <p:cNvSpPr/>
              <p:nvPr/>
            </p:nvSpPr>
            <p:spPr>
              <a:xfrm>
                <a:off x="7905750" y="4743450"/>
                <a:ext cx="152400" cy="152400"/>
              </a:xfrm>
              <a:prstGeom prst="ellipse">
                <a:avLst/>
              </a:prstGeom>
              <a:solidFill>
                <a:srgbClr val="A3422F"/>
              </a:solidFill>
              <a:ln>
                <a:noFill/>
              </a:ln>
            </p:spPr>
          </p:sp>
          <p:sp>
            <p:nvSpPr>
              <p:cNvPr id="290" name="TextBox 290"/>
              <p:cNvSpPr txBox="1"/>
              <p:nvPr/>
            </p:nvSpPr>
            <p:spPr>
              <a:xfrm>
                <a:off x="8148638" y="4727734"/>
                <a:ext cx="379582"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10-22​​</a:t>
                </a:r>
              </a:p>
            </p:txBody>
          </p:sp>
          <p:sp>
            <p:nvSpPr>
              <p:cNvPr id="291" name="TextBox 291"/>
              <p:cNvSpPr txBox="1"/>
              <p:nvPr/>
            </p:nvSpPr>
            <p:spPr>
              <a:xfrm>
                <a:off x="8148638" y="4855607"/>
                <a:ext cx="1323416"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二次交易 ¥10,000（基金定投）​​</a:t>
                </a:r>
              </a:p>
            </p:txBody>
          </p:sp>
          <p:sp>
            <p:nvSpPr>
              <p:cNvPr id="292" name="Ellipse 292"/>
              <p:cNvSpPr/>
              <p:nvPr/>
            </p:nvSpPr>
            <p:spPr>
              <a:xfrm>
                <a:off x="7905750" y="5086350"/>
                <a:ext cx="152400" cy="152400"/>
              </a:xfrm>
              <a:prstGeom prst="ellipse">
                <a:avLst/>
              </a:prstGeom>
              <a:solidFill>
                <a:srgbClr val="5D190B"/>
              </a:solidFill>
              <a:ln>
                <a:noFill/>
              </a:ln>
            </p:spPr>
          </p:sp>
          <p:sp>
            <p:nvSpPr>
              <p:cNvPr id="293" name="TextBox 293"/>
              <p:cNvSpPr txBox="1"/>
              <p:nvPr/>
            </p:nvSpPr>
            <p:spPr>
              <a:xfrm>
                <a:off x="8148638" y="5070634"/>
                <a:ext cx="379582" cy="133350"/>
              </a:xfrm>
              <a:prstGeom prst="rect">
                <a:avLst/>
              </a:prstGeom>
              <a:noFill/>
              <a:ln>
                <a:noFill/>
              </a:ln>
            </p:spPr>
            <p:txBody>
              <a:bodyPr wrap="none" lIns="0" tIns="0" rIns="0" bIns="0" anchor="t" anchorCtr="0">
                <a:spAutoFit/>
              </a:bodyPr>
              <a:lstStyle/>
              <a:p>
                <a:pPr algn="l"/>
                <a:r>
                  <a:rPr lang="zh-CN" sz="680" b="1" dirty="0">
                    <a:solidFill>
                      <a:srgbClr val="5D190B"/>
                    </a:solidFill>
                    <a:latin typeface="+mn-lt"/>
                    <a:ea typeface="+mn-ea"/>
                    <a:cs typeface="+mn-cs"/>
                  </a:rPr>
                  <a:t>10-28​​</a:t>
                </a:r>
              </a:p>
            </p:txBody>
          </p:sp>
          <p:sp>
            <p:nvSpPr>
              <p:cNvPr id="294" name="TextBox 294"/>
              <p:cNvSpPr txBox="1"/>
              <p:nvPr/>
            </p:nvSpPr>
            <p:spPr>
              <a:xfrm>
                <a:off x="8148638" y="5198507"/>
                <a:ext cx="892632"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资产提升至 ¥50,000​​</a:t>
                </a:r>
              </a:p>
            </p:txBody>
          </p:sp>
        </p:grpSp>
        <p:sp>
          <p:nvSpPr>
            <p:cNvPr id="296" name="Rectangle 296"/>
            <p:cNvSpPr/>
            <p:nvPr/>
          </p:nvSpPr>
          <p:spPr>
            <a:xfrm>
              <a:off x="7734300" y="5448300"/>
              <a:ext cx="1295400" cy="609600"/>
            </a:xfrm>
            <a:prstGeom prst="roundRect">
              <a:avLst>
                <a:gd name="adj" fmla="val 12500"/>
              </a:avLst>
            </a:prstGeom>
            <a:solidFill>
              <a:srgbClr val="F0FAF8"/>
            </a:solidFill>
            <a:ln w="9525">
              <a:solidFill>
                <a:srgbClr val="C2E0DA"/>
              </a:solidFill>
            </a:ln>
          </p:spPr>
        </p:sp>
        <p:sp>
          <p:nvSpPr>
            <p:cNvPr id="297" name="TextBox 297"/>
            <p:cNvSpPr txBox="1"/>
            <p:nvPr/>
          </p:nvSpPr>
          <p:spPr>
            <a:xfrm>
              <a:off x="7843838" y="5569982"/>
              <a:ext cx="440309"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累计交易额</a:t>
              </a:r>
            </a:p>
          </p:txBody>
        </p:sp>
        <p:sp>
          <p:nvSpPr>
            <p:cNvPr id="298" name="TextBox 298"/>
            <p:cNvSpPr txBox="1"/>
            <p:nvPr/>
          </p:nvSpPr>
          <p:spPr>
            <a:xfrm>
              <a:off x="7842885" y="5765006"/>
              <a:ext cx="842574" cy="220028"/>
            </a:xfrm>
            <a:prstGeom prst="rect">
              <a:avLst/>
            </a:prstGeom>
            <a:noFill/>
            <a:ln>
              <a:noFill/>
            </a:ln>
          </p:spPr>
          <p:txBody>
            <a:bodyPr wrap="none" lIns="0" tIns="0" rIns="0" bIns="0" anchor="t" anchorCtr="0">
              <a:spAutoFit/>
            </a:bodyPr>
            <a:lstStyle/>
            <a:p>
              <a:pPr algn="l"/>
              <a:r>
                <a:rPr lang="zh-CN" sz="1120" b="1" dirty="0">
                  <a:solidFill>
                    <a:srgbClr val="76200F"/>
                  </a:solidFill>
                  <a:latin typeface="+mn-lt"/>
                  <a:ea typeface="+mn-ea"/>
                  <a:cs typeface="+mn-cs"/>
                </a:rPr>
                <a:t>¥ 15,000​​</a:t>
              </a:r>
            </a:p>
          </p:txBody>
        </p:sp>
        <p:sp>
          <p:nvSpPr>
            <p:cNvPr id="299" name="Rectangle 299"/>
            <p:cNvSpPr/>
            <p:nvPr/>
          </p:nvSpPr>
          <p:spPr>
            <a:xfrm>
              <a:off x="9124950" y="5448300"/>
              <a:ext cx="1295400" cy="609600"/>
            </a:xfrm>
            <a:prstGeom prst="roundRect">
              <a:avLst>
                <a:gd name="adj" fmla="val 12500"/>
              </a:avLst>
            </a:prstGeom>
            <a:solidFill>
              <a:srgbClr val="F0FAF8"/>
            </a:solidFill>
            <a:ln w="9525">
              <a:solidFill>
                <a:srgbClr val="C2E0DA"/>
              </a:solidFill>
            </a:ln>
          </p:spPr>
        </p:sp>
        <p:sp>
          <p:nvSpPr>
            <p:cNvPr id="300" name="TextBox 300"/>
            <p:cNvSpPr txBox="1"/>
            <p:nvPr/>
          </p:nvSpPr>
          <p:spPr>
            <a:xfrm>
              <a:off x="9234488" y="5569982"/>
              <a:ext cx="400319"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当前AUM​</a:t>
              </a:r>
            </a:p>
          </p:txBody>
        </p:sp>
        <p:sp>
          <p:nvSpPr>
            <p:cNvPr id="301" name="TextBox 301"/>
            <p:cNvSpPr txBox="1"/>
            <p:nvPr/>
          </p:nvSpPr>
          <p:spPr>
            <a:xfrm>
              <a:off x="9233535" y="5765006"/>
              <a:ext cx="842574" cy="220028"/>
            </a:xfrm>
            <a:prstGeom prst="rect">
              <a:avLst/>
            </a:prstGeom>
            <a:noFill/>
            <a:ln>
              <a:noFill/>
            </a:ln>
          </p:spPr>
          <p:txBody>
            <a:bodyPr wrap="none" lIns="0" tIns="0" rIns="0" bIns="0" anchor="t" anchorCtr="0">
              <a:spAutoFit/>
            </a:bodyPr>
            <a:lstStyle/>
            <a:p>
              <a:pPr algn="l"/>
              <a:r>
                <a:rPr lang="zh-CN" sz="1120" b="1" dirty="0">
                  <a:solidFill>
                    <a:srgbClr val="76200F"/>
                  </a:solidFill>
                  <a:latin typeface="+mn-lt"/>
                  <a:ea typeface="+mn-ea"/>
                  <a:cs typeface="+mn-cs"/>
                </a:rPr>
                <a:t>¥ 50,000​​</a:t>
              </a:r>
            </a:p>
          </p:txBody>
        </p:sp>
        <p:sp>
          <p:nvSpPr>
            <p:cNvPr id="302" name="Rectangle 302"/>
            <p:cNvSpPr/>
            <p:nvPr/>
          </p:nvSpPr>
          <p:spPr>
            <a:xfrm>
              <a:off x="10515600" y="5448300"/>
              <a:ext cx="1314450" cy="609600"/>
            </a:xfrm>
            <a:prstGeom prst="roundRect">
              <a:avLst>
                <a:gd name="adj" fmla="val 12500"/>
              </a:avLst>
            </a:prstGeom>
            <a:solidFill>
              <a:srgbClr val="5D190B"/>
            </a:solidFill>
            <a:ln>
              <a:noFill/>
            </a:ln>
          </p:spPr>
        </p:sp>
        <p:sp>
          <p:nvSpPr>
            <p:cNvPr id="303" name="TextBox 303"/>
            <p:cNvSpPr txBox="1"/>
            <p:nvPr/>
          </p:nvSpPr>
          <p:spPr>
            <a:xfrm>
              <a:off x="10625138" y="5569982"/>
              <a:ext cx="382113" cy="126206"/>
            </a:xfrm>
            <a:prstGeom prst="rect">
              <a:avLst/>
            </a:prstGeom>
            <a:noFill/>
            <a:ln>
              <a:noFill/>
            </a:ln>
          </p:spPr>
          <p:txBody>
            <a:bodyPr wrap="none" lIns="0" tIns="0" rIns="0" bIns="0" anchor="t" anchorCtr="0">
              <a:spAutoFit/>
            </a:bodyPr>
            <a:lstStyle/>
            <a:p>
              <a:pPr algn="l"/>
              <a:r>
                <a:rPr lang="zh-CN" sz="640" dirty="0">
                  <a:solidFill>
                    <a:srgbClr val="BFE4DD"/>
                  </a:solidFill>
                  <a:latin typeface="+mn-lt"/>
                  <a:ea typeface="+mn-ea"/>
                  <a:cs typeface="+mn-cs"/>
                </a:rPr>
                <a:t>预估LTV​</a:t>
              </a:r>
            </a:p>
          </p:txBody>
        </p:sp>
        <p:sp>
          <p:nvSpPr>
            <p:cNvPr id="304" name="TextBox 304"/>
            <p:cNvSpPr txBox="1"/>
            <p:nvPr/>
          </p:nvSpPr>
          <p:spPr>
            <a:xfrm>
              <a:off x="10624185" y="5765006"/>
              <a:ext cx="75550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¥ 8,600​​</a:t>
              </a:r>
            </a:p>
          </p:txBody>
        </p:sp>
      </p:gr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15​</a:t>
              </a:r>
            </a:p>
          </p:txBody>
        </p:sp>
        <p:sp>
          <p:nvSpPr>
            <p:cNvPr id="4" name="TextBox 4"/>
            <p:cNvSpPr txBox="1"/>
            <p:nvPr/>
          </p:nvSpPr>
          <p:spPr>
            <a:xfrm>
              <a:off x="904494" y="170498"/>
              <a:ext cx="5269992"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客群运营</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现场结束才是线上持续经营的开始</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15​</a:t>
              </a:r>
            </a:p>
          </p:txBody>
        </p:sp>
      </p:grpSp>
      <p:grpSp>
        <p:nvGrpSpPr>
          <p:cNvPr id="104" name="segment-cards"/>
          <p:cNvGrpSpPr/>
          <p:nvPr/>
        </p:nvGrpSpPr>
        <p:grpSpPr>
          <a:xfrm>
            <a:off x="342900" y="685800"/>
            <a:ext cx="11487150" cy="2190750"/>
            <a:chOff x="342900" y="685800"/>
            <a:chExt cx="11487150" cy="2190750"/>
          </a:xfrm>
        </p:grpSpPr>
        <p:sp>
          <p:nvSpPr>
            <p:cNvPr id="8" name="Rectangle 8"/>
            <p:cNvSpPr/>
            <p:nvPr/>
          </p:nvSpPr>
          <p:spPr>
            <a:xfrm>
              <a:off x="342900" y="685800"/>
              <a:ext cx="2228850" cy="2190750"/>
            </a:xfrm>
            <a:prstGeom prst="roundRect">
              <a:avLst>
                <a:gd name="adj" fmla="val 3478"/>
              </a:avLst>
            </a:prstGeom>
            <a:solidFill>
              <a:srgbClr val="FFFFFF"/>
            </a:solidFill>
            <a:ln w="14288">
              <a:solidFill>
                <a:srgbClr val="C2E0DA"/>
              </a:solidFill>
            </a:ln>
          </p:spPr>
        </p:sp>
        <p:sp>
          <p:nvSpPr>
            <p:cNvPr id="9" name="Ellipse 9"/>
            <p:cNvSpPr/>
            <p:nvPr/>
          </p:nvSpPr>
          <p:spPr>
            <a:xfrm>
              <a:off x="438150" y="762000"/>
              <a:ext cx="266700" cy="266700"/>
            </a:xfrm>
            <a:prstGeom prst="ellipse">
              <a:avLst/>
            </a:prstGeom>
            <a:solidFill>
              <a:srgbClr val="E4F3F0"/>
            </a:solidFill>
            <a:ln>
              <a:noFill/>
            </a:ln>
          </p:spPr>
        </p:sp>
        <p:grpSp>
          <p:nvGrpSpPr>
            <p:cNvPr id="13" name="Group 13"/>
            <p:cNvGrpSpPr/>
            <p:nvPr/>
          </p:nvGrpSpPr>
          <p:grpSpPr>
            <a:xfrm>
              <a:off x="528638" y="831056"/>
              <a:ext cx="107155" cy="128588"/>
              <a:chOff x="528638" y="831056"/>
              <a:chExt cx="107155" cy="128588"/>
            </a:xfrm>
          </p:grpSpPr>
          <p:sp>
            <p:nvSpPr>
              <p:cNvPr id="10" name="Freeform 10"/>
              <p:cNvSpPr/>
              <p:nvPr/>
            </p:nvSpPr>
            <p:spPr>
              <a:xfrm>
                <a:off x="542925" y="8310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6200F"/>
                </a:solidFill>
              </a:ln>
            </p:spPr>
          </p:sp>
          <p:sp>
            <p:nvSpPr>
              <p:cNvPr id="11" name="Freeform 11"/>
              <p:cNvSpPr/>
              <p:nvPr/>
            </p:nvSpPr>
            <p:spPr>
              <a:xfrm>
                <a:off x="528638" y="916781"/>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76200F"/>
                </a:solidFill>
              </a:ln>
            </p:spPr>
          </p:sp>
          <p:sp>
            <p:nvSpPr>
              <p:cNvPr id="12" name="Freeform 12"/>
              <p:cNvSpPr/>
              <p:nvPr/>
            </p:nvSpPr>
            <p:spPr>
              <a:xfrm>
                <a:off x="592931" y="931069"/>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sp>
          <p:nvSpPr>
            <p:cNvPr id="14" name="TextBox 14"/>
            <p:cNvSpPr txBox="1"/>
            <p:nvPr/>
          </p:nvSpPr>
          <p:spPr>
            <a:xfrm>
              <a:off x="776288" y="775097"/>
              <a:ext cx="262611"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新客</a:t>
              </a:r>
            </a:p>
          </p:txBody>
        </p:sp>
        <p:sp>
          <p:nvSpPr>
            <p:cNvPr id="15" name="TextBox 15"/>
            <p:cNvSpPr txBox="1"/>
            <p:nvPr/>
          </p:nvSpPr>
          <p:spPr>
            <a:xfrm>
              <a:off x="776288" y="939403"/>
              <a:ext cx="838784"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首次接触我行的潜在客户</a:t>
              </a:r>
            </a:p>
          </p:txBody>
        </p:sp>
        <p:sp>
          <p:nvSpPr>
            <p:cNvPr id="16" name="TextBox 16"/>
            <p:cNvSpPr txBox="1"/>
            <p:nvPr/>
          </p:nvSpPr>
          <p:spPr>
            <a:xfrm>
              <a:off x="433388" y="1116330"/>
              <a:ext cx="494157"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关键识别信号</a:t>
              </a:r>
            </a:p>
          </p:txBody>
        </p:sp>
        <p:sp>
          <p:nvSpPr>
            <p:cNvPr id="17" name="TextBox 17"/>
            <p:cNvSpPr txBox="1"/>
            <p:nvPr/>
          </p:nvSpPr>
          <p:spPr>
            <a:xfrm>
              <a:off x="433388" y="1225153"/>
              <a:ext cx="69938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线下留存 / 扫码参与​</a:t>
              </a:r>
              <a:br/>
              <a:r>
                <a:rPr lang="zh-CN" sz="560" dirty="0">
                  <a:solidFill>
                    <a:srgbClr val="514340"/>
                  </a:solidFill>
                  <a:latin typeface="+mn-lt"/>
                  <a:ea typeface="+mn-ea"/>
                  <a:cs typeface="+mn-cs"/>
                </a:rPr>
                <a:t>未开立我行账户</a:t>
              </a:r>
            </a:p>
          </p:txBody>
        </p:sp>
        <p:sp>
          <p:nvSpPr>
            <p:cNvPr id="18" name="TextBox 18"/>
            <p:cNvSpPr txBox="1"/>
            <p:nvPr/>
          </p:nvSpPr>
          <p:spPr>
            <a:xfrm>
              <a:off x="43338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主要需求</a:t>
              </a:r>
            </a:p>
          </p:txBody>
        </p:sp>
        <p:sp>
          <p:nvSpPr>
            <p:cNvPr id="19" name="TextBox 19"/>
            <p:cNvSpPr txBox="1"/>
            <p:nvPr/>
          </p:nvSpPr>
          <p:spPr>
            <a:xfrm>
              <a:off x="433388" y="1587103"/>
              <a:ext cx="57848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快速了解我行特色</a:t>
              </a:r>
              <a:br/>
              <a:r>
                <a:rPr lang="zh-CN" sz="560" dirty="0">
                  <a:solidFill>
                    <a:srgbClr val="514340"/>
                  </a:solidFill>
                  <a:latin typeface="+mn-lt"/>
                  <a:ea typeface="+mn-ea"/>
                  <a:cs typeface="+mn-cs"/>
                </a:rPr>
                <a:t>获得新客权益</a:t>
              </a:r>
            </a:p>
          </p:txBody>
        </p:sp>
        <p:sp>
          <p:nvSpPr>
            <p:cNvPr id="20" name="TextBox 20"/>
            <p:cNvSpPr txBox="1"/>
            <p:nvPr/>
          </p:nvSpPr>
          <p:spPr>
            <a:xfrm>
              <a:off x="433388" y="1840230"/>
              <a:ext cx="574929"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下一步最佳动作</a:t>
              </a:r>
            </a:p>
          </p:txBody>
        </p:sp>
        <p:sp>
          <p:nvSpPr>
            <p:cNvPr id="21" name="TextBox 21"/>
            <p:cNvSpPr txBox="1"/>
            <p:nvPr/>
          </p:nvSpPr>
          <p:spPr>
            <a:xfrm>
              <a:off x="433388" y="1949053"/>
              <a:ext cx="69938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开卡绑定 · 权益领取​</a:t>
              </a:r>
              <a:br/>
              <a:r>
                <a:rPr lang="zh-CN" sz="560" dirty="0">
                  <a:solidFill>
                    <a:srgbClr val="514340"/>
                  </a:solidFill>
                  <a:latin typeface="+mn-lt"/>
                  <a:ea typeface="+mn-ea"/>
                  <a:cs typeface="+mn-cs"/>
                </a:rPr>
                <a:t>引导完成首笔交易</a:t>
              </a:r>
            </a:p>
          </p:txBody>
        </p:sp>
        <p:sp>
          <p:nvSpPr>
            <p:cNvPr id="22" name="TextBox 22"/>
            <p:cNvSpPr txBox="1"/>
            <p:nvPr/>
          </p:nvSpPr>
          <p:spPr>
            <a:xfrm>
              <a:off x="433388" y="2202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触达渠道</a:t>
              </a:r>
            </a:p>
          </p:txBody>
        </p:sp>
        <p:sp>
          <p:nvSpPr>
            <p:cNvPr id="23" name="TextBox 23"/>
            <p:cNvSpPr txBox="1"/>
            <p:nvPr/>
          </p:nvSpPr>
          <p:spPr>
            <a:xfrm>
              <a:off x="433388" y="2311003"/>
              <a:ext cx="72072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短信、公众号、小程序</a:t>
              </a:r>
              <a:br/>
              <a:r>
                <a:rPr lang="zh-CN" sz="560" dirty="0">
                  <a:solidFill>
                    <a:srgbClr val="514340"/>
                  </a:solidFill>
                  <a:latin typeface="+mn-lt"/>
                  <a:ea typeface="+mn-ea"/>
                  <a:cs typeface="+mn-cs"/>
                </a:rPr>
                <a:t>企业微信、电话</a:t>
              </a:r>
            </a:p>
          </p:txBody>
        </p:sp>
        <p:sp>
          <p:nvSpPr>
            <p:cNvPr id="24" name="TextBox 24"/>
            <p:cNvSpPr txBox="1"/>
            <p:nvPr/>
          </p:nvSpPr>
          <p:spPr>
            <a:xfrm>
              <a:off x="433388" y="2564130"/>
              <a:ext cx="251841"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责任人</a:t>
              </a:r>
            </a:p>
          </p:txBody>
        </p:sp>
        <p:sp>
          <p:nvSpPr>
            <p:cNvPr id="25" name="TextBox 25"/>
            <p:cNvSpPr txBox="1"/>
            <p:nvPr/>
          </p:nvSpPr>
          <p:spPr>
            <a:xfrm>
              <a:off x="433388" y="2672953"/>
              <a:ext cx="461848" cy="111919"/>
            </a:xfrm>
            <a:prstGeom prst="rect">
              <a:avLst/>
            </a:prstGeom>
            <a:noFill/>
            <a:ln>
              <a:noFill/>
            </a:ln>
          </p:spPr>
          <p:txBody>
            <a:bodyPr wrap="none" lIns="0" tIns="0" rIns="0" bIns="0" anchor="t" anchorCtr="0">
              <a:spAutoFit/>
            </a:bodyPr>
            <a:lstStyle/>
            <a:p>
              <a:pPr algn="l"/>
              <a:r>
                <a:rPr lang="zh-CN" sz="560" dirty="0">
                  <a:solidFill>
                    <a:srgbClr val="514340"/>
                  </a:solidFill>
                  <a:latin typeface="+mn-lt"/>
                  <a:ea typeface="+mn-ea"/>
                  <a:cs typeface="+mn-cs"/>
                </a:rPr>
                <a:t>新客运营团队</a:t>
              </a:r>
            </a:p>
          </p:txBody>
        </p:sp>
        <p:sp>
          <p:nvSpPr>
            <p:cNvPr id="26" name="Rectangle 26"/>
            <p:cNvSpPr/>
            <p:nvPr/>
          </p:nvSpPr>
          <p:spPr>
            <a:xfrm>
              <a:off x="2647950" y="685800"/>
              <a:ext cx="2228850" cy="2190750"/>
            </a:xfrm>
            <a:prstGeom prst="roundRect">
              <a:avLst>
                <a:gd name="adj" fmla="val 3478"/>
              </a:avLst>
            </a:prstGeom>
            <a:solidFill>
              <a:srgbClr val="FFFFFF"/>
            </a:solidFill>
            <a:ln w="14288">
              <a:solidFill>
                <a:srgbClr val="C2E0DA"/>
              </a:solidFill>
            </a:ln>
          </p:spPr>
        </p:sp>
        <p:sp>
          <p:nvSpPr>
            <p:cNvPr id="27" name="Ellipse 27"/>
            <p:cNvSpPr/>
            <p:nvPr/>
          </p:nvSpPr>
          <p:spPr>
            <a:xfrm>
              <a:off x="2743200" y="762000"/>
              <a:ext cx="266700" cy="266700"/>
            </a:xfrm>
            <a:prstGeom prst="ellipse">
              <a:avLst/>
            </a:prstGeom>
            <a:solidFill>
              <a:srgbClr val="E4F3F0"/>
            </a:solidFill>
            <a:ln>
              <a:noFill/>
            </a:ln>
          </p:spPr>
        </p:sp>
        <p:grpSp>
          <p:nvGrpSpPr>
            <p:cNvPr id="34" name="Group 34"/>
            <p:cNvGrpSpPr/>
            <p:nvPr/>
          </p:nvGrpSpPr>
          <p:grpSpPr>
            <a:xfrm>
              <a:off x="2812256" y="831056"/>
              <a:ext cx="128588" cy="128587"/>
              <a:chOff x="2812256" y="831056"/>
              <a:chExt cx="128588" cy="128587"/>
            </a:xfrm>
          </p:grpSpPr>
          <p:sp>
            <p:nvSpPr>
              <p:cNvPr id="28" name="Freeform 28"/>
              <p:cNvSpPr/>
              <p:nvPr/>
            </p:nvSpPr>
            <p:spPr>
              <a:xfrm>
                <a:off x="2862262" y="8882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29" name="Freeform 29"/>
              <p:cNvSpPr/>
              <p:nvPr/>
            </p:nvSpPr>
            <p:spPr>
              <a:xfrm>
                <a:off x="2847975" y="93821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76200F"/>
                </a:solidFill>
              </a:ln>
            </p:spPr>
          </p:sp>
          <p:sp>
            <p:nvSpPr>
              <p:cNvPr id="30" name="Freeform 30"/>
              <p:cNvSpPr/>
              <p:nvPr/>
            </p:nvSpPr>
            <p:spPr>
              <a:xfrm>
                <a:off x="2897981" y="8310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31" name="Freeform 31"/>
              <p:cNvSpPr/>
              <p:nvPr/>
            </p:nvSpPr>
            <p:spPr>
              <a:xfrm>
                <a:off x="2912269" y="88106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76200F"/>
                </a:solidFill>
              </a:ln>
            </p:spPr>
          </p:sp>
          <p:sp>
            <p:nvSpPr>
              <p:cNvPr id="32" name="Freeform 32"/>
              <p:cNvSpPr/>
              <p:nvPr/>
            </p:nvSpPr>
            <p:spPr>
              <a:xfrm>
                <a:off x="2826544" y="8310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33" name="Freeform 33"/>
              <p:cNvSpPr/>
              <p:nvPr/>
            </p:nvSpPr>
            <p:spPr>
              <a:xfrm>
                <a:off x="2812256" y="88106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76200F"/>
                </a:solidFill>
              </a:ln>
            </p:spPr>
          </p:sp>
        </p:grpSp>
        <p:sp>
          <p:nvSpPr>
            <p:cNvPr id="35" name="TextBox 35"/>
            <p:cNvSpPr txBox="1"/>
            <p:nvPr/>
          </p:nvSpPr>
          <p:spPr>
            <a:xfrm>
              <a:off x="3081338" y="775097"/>
              <a:ext cx="5156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存量活跃</a:t>
              </a:r>
            </a:p>
          </p:txBody>
        </p:sp>
        <p:sp>
          <p:nvSpPr>
            <p:cNvPr id="36" name="TextBox 36"/>
            <p:cNvSpPr txBox="1"/>
            <p:nvPr/>
          </p:nvSpPr>
          <p:spPr>
            <a:xfrm>
              <a:off x="3081338" y="939403"/>
              <a:ext cx="838784"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已有账户且近期活跃客户</a:t>
              </a:r>
            </a:p>
          </p:txBody>
        </p:sp>
        <p:sp>
          <p:nvSpPr>
            <p:cNvPr id="37" name="TextBox 37"/>
            <p:cNvSpPr txBox="1"/>
            <p:nvPr/>
          </p:nvSpPr>
          <p:spPr>
            <a:xfrm>
              <a:off x="2738438" y="1116330"/>
              <a:ext cx="494157"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关键识别信号</a:t>
              </a:r>
            </a:p>
          </p:txBody>
        </p:sp>
        <p:sp>
          <p:nvSpPr>
            <p:cNvPr id="38" name="TextBox 38"/>
            <p:cNvSpPr txBox="1"/>
            <p:nvPr/>
          </p:nvSpPr>
          <p:spPr>
            <a:xfrm>
              <a:off x="2738438" y="1225153"/>
              <a:ext cx="59270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近3个月有交易​</a:t>
              </a:r>
              <a:br/>
              <a:r>
                <a:rPr lang="zh-CN" sz="560" dirty="0">
                  <a:solidFill>
                    <a:srgbClr val="514340"/>
                  </a:solidFill>
                  <a:latin typeface="+mn-lt"/>
                  <a:ea typeface="+mn-ea"/>
                  <a:cs typeface="+mn-cs"/>
                </a:rPr>
                <a:t>APP登录频次较高​</a:t>
              </a:r>
            </a:p>
          </p:txBody>
        </p:sp>
        <p:sp>
          <p:nvSpPr>
            <p:cNvPr id="39" name="TextBox 39"/>
            <p:cNvSpPr txBox="1"/>
            <p:nvPr/>
          </p:nvSpPr>
          <p:spPr>
            <a:xfrm>
              <a:off x="273843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主要需求</a:t>
              </a:r>
            </a:p>
          </p:txBody>
        </p:sp>
        <p:sp>
          <p:nvSpPr>
            <p:cNvPr id="40" name="TextBox 40"/>
            <p:cNvSpPr txBox="1"/>
            <p:nvPr/>
          </p:nvSpPr>
          <p:spPr>
            <a:xfrm>
              <a:off x="2738438" y="1587103"/>
              <a:ext cx="64960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更多专属权益</a:t>
              </a:r>
              <a:br/>
              <a:r>
                <a:rPr lang="zh-CN" sz="560" dirty="0">
                  <a:solidFill>
                    <a:srgbClr val="514340"/>
                  </a:solidFill>
                  <a:latin typeface="+mn-lt"/>
                  <a:ea typeface="+mn-ea"/>
                  <a:cs typeface="+mn-cs"/>
                </a:rPr>
                <a:t>优质产品与活动信息</a:t>
              </a:r>
            </a:p>
          </p:txBody>
        </p:sp>
        <p:sp>
          <p:nvSpPr>
            <p:cNvPr id="41" name="TextBox 41"/>
            <p:cNvSpPr txBox="1"/>
            <p:nvPr/>
          </p:nvSpPr>
          <p:spPr>
            <a:xfrm>
              <a:off x="2738438" y="1840230"/>
              <a:ext cx="574929"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下一步最佳动作</a:t>
              </a:r>
            </a:p>
          </p:txBody>
        </p:sp>
        <p:sp>
          <p:nvSpPr>
            <p:cNvPr id="42" name="TextBox 42"/>
            <p:cNvSpPr txBox="1"/>
            <p:nvPr/>
          </p:nvSpPr>
          <p:spPr>
            <a:xfrm>
              <a:off x="2738438" y="1949053"/>
              <a:ext cx="84162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邀请参与线上 / 线下活动​</a:t>
              </a:r>
              <a:br/>
              <a:r>
                <a:rPr lang="zh-CN" sz="560" dirty="0">
                  <a:solidFill>
                    <a:srgbClr val="514340"/>
                  </a:solidFill>
                  <a:latin typeface="+mn-lt"/>
                  <a:ea typeface="+mn-ea"/>
                  <a:cs typeface="+mn-cs"/>
                </a:rPr>
                <a:t>推荐加码 / 交叉营销​</a:t>
              </a:r>
            </a:p>
          </p:txBody>
        </p:sp>
        <p:sp>
          <p:nvSpPr>
            <p:cNvPr id="43" name="TextBox 43"/>
            <p:cNvSpPr txBox="1"/>
            <p:nvPr/>
          </p:nvSpPr>
          <p:spPr>
            <a:xfrm>
              <a:off x="2738438" y="2202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触达渠道</a:t>
              </a:r>
            </a:p>
          </p:txBody>
        </p:sp>
        <p:sp>
          <p:nvSpPr>
            <p:cNvPr id="44" name="TextBox 44"/>
            <p:cNvSpPr txBox="1"/>
            <p:nvPr/>
          </p:nvSpPr>
          <p:spPr>
            <a:xfrm>
              <a:off x="2738438" y="2311003"/>
              <a:ext cx="59270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APP消息、公众号​</a:t>
              </a:r>
              <a:br/>
              <a:r>
                <a:rPr lang="zh-CN" sz="560" dirty="0">
                  <a:solidFill>
                    <a:srgbClr val="514340"/>
                  </a:solidFill>
                  <a:latin typeface="+mn-lt"/>
                  <a:ea typeface="+mn-ea"/>
                  <a:cs typeface="+mn-cs"/>
                </a:rPr>
                <a:t>企业微信、短信</a:t>
              </a:r>
            </a:p>
          </p:txBody>
        </p:sp>
        <p:sp>
          <p:nvSpPr>
            <p:cNvPr id="45" name="TextBox 45"/>
            <p:cNvSpPr txBox="1"/>
            <p:nvPr/>
          </p:nvSpPr>
          <p:spPr>
            <a:xfrm>
              <a:off x="2738438" y="2564130"/>
              <a:ext cx="251841"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责任人</a:t>
              </a:r>
            </a:p>
          </p:txBody>
        </p:sp>
        <p:sp>
          <p:nvSpPr>
            <p:cNvPr id="46" name="TextBox 46"/>
            <p:cNvSpPr txBox="1"/>
            <p:nvPr/>
          </p:nvSpPr>
          <p:spPr>
            <a:xfrm>
              <a:off x="2738438" y="2672953"/>
              <a:ext cx="740781" cy="111919"/>
            </a:xfrm>
            <a:prstGeom prst="rect">
              <a:avLst/>
            </a:prstGeom>
            <a:noFill/>
            <a:ln>
              <a:noFill/>
            </a:ln>
          </p:spPr>
          <p:txBody>
            <a:bodyPr wrap="none" lIns="0" tIns="0" rIns="0" bIns="0" anchor="t" anchorCtr="0">
              <a:spAutoFit/>
            </a:bodyPr>
            <a:lstStyle/>
            <a:p>
              <a:pPr algn="l"/>
              <a:r>
                <a:rPr lang="zh-CN" sz="560" dirty="0">
                  <a:solidFill>
                    <a:srgbClr val="514340"/>
                  </a:solidFill>
                  <a:latin typeface="+mn-lt"/>
                  <a:ea typeface="+mn-ea"/>
                  <a:cs typeface="+mn-cs"/>
                </a:rPr>
                <a:t>客户经营 / 运营团队​</a:t>
              </a:r>
            </a:p>
          </p:txBody>
        </p:sp>
        <p:sp>
          <p:nvSpPr>
            <p:cNvPr id="47" name="Rectangle 47"/>
            <p:cNvSpPr/>
            <p:nvPr/>
          </p:nvSpPr>
          <p:spPr>
            <a:xfrm>
              <a:off x="4953000" y="685800"/>
              <a:ext cx="2228850" cy="2190750"/>
            </a:xfrm>
            <a:prstGeom prst="roundRect">
              <a:avLst>
                <a:gd name="adj" fmla="val 3478"/>
              </a:avLst>
            </a:prstGeom>
            <a:solidFill>
              <a:srgbClr val="FFFFFF"/>
            </a:solidFill>
            <a:ln w="14288">
              <a:solidFill>
                <a:srgbClr val="C2E0DA"/>
              </a:solidFill>
            </a:ln>
          </p:spPr>
        </p:sp>
        <p:sp>
          <p:nvSpPr>
            <p:cNvPr id="48" name="Ellipse 48"/>
            <p:cNvSpPr/>
            <p:nvPr/>
          </p:nvSpPr>
          <p:spPr>
            <a:xfrm>
              <a:off x="5048250" y="762000"/>
              <a:ext cx="266700" cy="266700"/>
            </a:xfrm>
            <a:prstGeom prst="ellipse">
              <a:avLst/>
            </a:prstGeom>
            <a:solidFill>
              <a:srgbClr val="E4F3F0"/>
            </a:solidFill>
            <a:ln>
              <a:noFill/>
            </a:ln>
          </p:spPr>
        </p:sp>
        <p:grpSp>
          <p:nvGrpSpPr>
            <p:cNvPr id="51" name="Group 51"/>
            <p:cNvGrpSpPr/>
            <p:nvPr/>
          </p:nvGrpSpPr>
          <p:grpSpPr>
            <a:xfrm>
              <a:off x="5117306" y="831056"/>
              <a:ext cx="128588" cy="128588"/>
              <a:chOff x="5117306" y="831056"/>
              <a:chExt cx="128588" cy="128588"/>
            </a:xfrm>
          </p:grpSpPr>
          <p:sp>
            <p:nvSpPr>
              <p:cNvPr id="49" name="Freeform 49"/>
              <p:cNvSpPr/>
              <p:nvPr/>
            </p:nvSpPr>
            <p:spPr>
              <a:xfrm>
                <a:off x="5117306" y="8310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sp>
            <p:nvSpPr>
              <p:cNvPr id="50" name="Freeform 50"/>
              <p:cNvSpPr/>
              <p:nvPr/>
            </p:nvSpPr>
            <p:spPr>
              <a:xfrm>
                <a:off x="5181600" y="859631"/>
                <a:ext cx="21431" cy="57150"/>
              </a:xfrm>
              <a:custGeom>
                <a:avLst/>
                <a:gdLst/>
                <a:ahLst/>
                <a:cxnLst/>
                <a:rect l="l" t="t" r="r" b="b"/>
                <a:pathLst>
                  <a:path w="21431" h="57150">
                    <a:moveTo>
                      <a:pt x="0" y="0"/>
                    </a:moveTo>
                    <a:lnTo>
                      <a:pt x="0" y="35719"/>
                    </a:lnTo>
                    <a:lnTo>
                      <a:pt x="21431" y="57150"/>
                    </a:lnTo>
                  </a:path>
                </a:pathLst>
              </a:custGeom>
              <a:noFill/>
              <a:ln w="14288">
                <a:solidFill>
                  <a:srgbClr val="76200F"/>
                </a:solidFill>
              </a:ln>
            </p:spPr>
          </p:sp>
        </p:grpSp>
        <p:sp>
          <p:nvSpPr>
            <p:cNvPr id="52" name="TextBox 52"/>
            <p:cNvSpPr txBox="1"/>
            <p:nvPr/>
          </p:nvSpPr>
          <p:spPr>
            <a:xfrm>
              <a:off x="5386388" y="775097"/>
              <a:ext cx="5156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沉睡客户</a:t>
              </a:r>
            </a:p>
          </p:txBody>
        </p:sp>
        <p:sp>
          <p:nvSpPr>
            <p:cNvPr id="53" name="TextBox 53"/>
            <p:cNvSpPr txBox="1"/>
            <p:nvPr/>
          </p:nvSpPr>
          <p:spPr>
            <a:xfrm>
              <a:off x="5386388" y="939403"/>
              <a:ext cx="914171"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曾有往来但近期不活跃客户</a:t>
              </a:r>
            </a:p>
          </p:txBody>
        </p:sp>
        <p:sp>
          <p:nvSpPr>
            <p:cNvPr id="54" name="TextBox 54"/>
            <p:cNvSpPr txBox="1"/>
            <p:nvPr/>
          </p:nvSpPr>
          <p:spPr>
            <a:xfrm>
              <a:off x="5043488" y="1116330"/>
              <a:ext cx="494157"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关键识别信号</a:t>
              </a:r>
            </a:p>
          </p:txBody>
        </p:sp>
        <p:sp>
          <p:nvSpPr>
            <p:cNvPr id="55" name="TextBox 55"/>
            <p:cNvSpPr txBox="1"/>
            <p:nvPr/>
          </p:nvSpPr>
          <p:spPr>
            <a:xfrm>
              <a:off x="5043488" y="1225153"/>
              <a:ext cx="670941"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6个月以上无交易​</a:t>
              </a:r>
              <a:br/>
              <a:r>
                <a:rPr lang="zh-CN" sz="560" dirty="0">
                  <a:solidFill>
                    <a:srgbClr val="514340"/>
                  </a:solidFill>
                  <a:latin typeface="+mn-lt"/>
                  <a:ea typeface="+mn-ea"/>
                  <a:cs typeface="+mn-cs"/>
                </a:rPr>
                <a:t>近3个月未登录APP​​</a:t>
              </a:r>
            </a:p>
          </p:txBody>
        </p:sp>
        <p:sp>
          <p:nvSpPr>
            <p:cNvPr id="56" name="TextBox 56"/>
            <p:cNvSpPr txBox="1"/>
            <p:nvPr/>
          </p:nvSpPr>
          <p:spPr>
            <a:xfrm>
              <a:off x="504348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主要需求</a:t>
              </a:r>
            </a:p>
          </p:txBody>
        </p:sp>
        <p:sp>
          <p:nvSpPr>
            <p:cNvPr id="57" name="TextBox 57"/>
            <p:cNvSpPr txBox="1"/>
            <p:nvPr/>
          </p:nvSpPr>
          <p:spPr>
            <a:xfrm>
              <a:off x="5043488" y="1587103"/>
              <a:ext cx="43624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重新建立连接</a:t>
              </a:r>
              <a:br/>
              <a:r>
                <a:rPr lang="zh-CN" sz="560" dirty="0">
                  <a:solidFill>
                    <a:srgbClr val="514340"/>
                  </a:solidFill>
                  <a:latin typeface="+mn-lt"/>
                  <a:ea typeface="+mn-ea"/>
                  <a:cs typeface="+mn-cs"/>
                </a:rPr>
                <a:t>唤醒账户价值</a:t>
              </a:r>
            </a:p>
          </p:txBody>
        </p:sp>
        <p:sp>
          <p:nvSpPr>
            <p:cNvPr id="58" name="TextBox 58"/>
            <p:cNvSpPr txBox="1"/>
            <p:nvPr/>
          </p:nvSpPr>
          <p:spPr>
            <a:xfrm>
              <a:off x="5043488" y="1840230"/>
              <a:ext cx="574929"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下一步最佳动作</a:t>
              </a:r>
            </a:p>
          </p:txBody>
        </p:sp>
        <p:sp>
          <p:nvSpPr>
            <p:cNvPr id="59" name="TextBox 59"/>
            <p:cNvSpPr txBox="1"/>
            <p:nvPr/>
          </p:nvSpPr>
          <p:spPr>
            <a:xfrm>
              <a:off x="5043488" y="1949053"/>
              <a:ext cx="105498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发放唤醒权益 · 个性化内容触达​</a:t>
              </a:r>
              <a:br/>
              <a:r>
                <a:rPr lang="zh-CN" sz="560" dirty="0">
                  <a:solidFill>
                    <a:srgbClr val="514340"/>
                  </a:solidFill>
                  <a:latin typeface="+mn-lt"/>
                  <a:ea typeface="+mn-ea"/>
                  <a:cs typeface="+mn-cs"/>
                </a:rPr>
                <a:t>引导回流体验</a:t>
              </a:r>
            </a:p>
          </p:txBody>
        </p:sp>
        <p:sp>
          <p:nvSpPr>
            <p:cNvPr id="60" name="TextBox 60"/>
            <p:cNvSpPr txBox="1"/>
            <p:nvPr/>
          </p:nvSpPr>
          <p:spPr>
            <a:xfrm>
              <a:off x="5043488" y="2202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触达渠道</a:t>
              </a:r>
            </a:p>
          </p:txBody>
        </p:sp>
        <p:sp>
          <p:nvSpPr>
            <p:cNvPr id="61" name="TextBox 61"/>
            <p:cNvSpPr txBox="1"/>
            <p:nvPr/>
          </p:nvSpPr>
          <p:spPr>
            <a:xfrm>
              <a:off x="5043488" y="2311003"/>
              <a:ext cx="64960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短信、电话、公众号</a:t>
              </a:r>
              <a:br/>
              <a:r>
                <a:rPr lang="zh-CN" sz="560" dirty="0">
                  <a:solidFill>
                    <a:srgbClr val="514340"/>
                  </a:solidFill>
                  <a:latin typeface="+mn-lt"/>
                  <a:ea typeface="+mn-ea"/>
                  <a:cs typeface="+mn-cs"/>
                </a:rPr>
                <a:t>APP推送​</a:t>
              </a:r>
            </a:p>
          </p:txBody>
        </p:sp>
        <p:sp>
          <p:nvSpPr>
            <p:cNvPr id="62" name="TextBox 62"/>
            <p:cNvSpPr txBox="1"/>
            <p:nvPr/>
          </p:nvSpPr>
          <p:spPr>
            <a:xfrm>
              <a:off x="5043488" y="2564130"/>
              <a:ext cx="251841"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责任人</a:t>
              </a:r>
            </a:p>
          </p:txBody>
        </p:sp>
        <p:sp>
          <p:nvSpPr>
            <p:cNvPr id="63" name="TextBox 63"/>
            <p:cNvSpPr txBox="1"/>
            <p:nvPr/>
          </p:nvSpPr>
          <p:spPr>
            <a:xfrm>
              <a:off x="5043488" y="2672953"/>
              <a:ext cx="461848" cy="111919"/>
            </a:xfrm>
            <a:prstGeom prst="rect">
              <a:avLst/>
            </a:prstGeom>
            <a:noFill/>
            <a:ln>
              <a:noFill/>
            </a:ln>
          </p:spPr>
          <p:txBody>
            <a:bodyPr wrap="none" lIns="0" tIns="0" rIns="0" bIns="0" anchor="t" anchorCtr="0">
              <a:spAutoFit/>
            </a:bodyPr>
            <a:lstStyle/>
            <a:p>
              <a:pPr algn="l"/>
              <a:r>
                <a:rPr lang="zh-CN" sz="560" dirty="0">
                  <a:solidFill>
                    <a:srgbClr val="514340"/>
                  </a:solidFill>
                  <a:latin typeface="+mn-lt"/>
                  <a:ea typeface="+mn-ea"/>
                  <a:cs typeface="+mn-cs"/>
                </a:rPr>
                <a:t>客户唤醒团队</a:t>
              </a:r>
            </a:p>
          </p:txBody>
        </p:sp>
        <p:sp>
          <p:nvSpPr>
            <p:cNvPr id="64" name="Rectangle 64"/>
            <p:cNvSpPr/>
            <p:nvPr/>
          </p:nvSpPr>
          <p:spPr>
            <a:xfrm>
              <a:off x="7258050" y="685800"/>
              <a:ext cx="2228850" cy="2190750"/>
            </a:xfrm>
            <a:prstGeom prst="roundRect">
              <a:avLst>
                <a:gd name="adj" fmla="val 3478"/>
              </a:avLst>
            </a:prstGeom>
            <a:solidFill>
              <a:srgbClr val="FFFFFF"/>
            </a:solidFill>
            <a:ln w="14288">
              <a:solidFill>
                <a:srgbClr val="C2E0DA"/>
              </a:solidFill>
            </a:ln>
          </p:spPr>
        </p:sp>
        <p:sp>
          <p:nvSpPr>
            <p:cNvPr id="65" name="Ellipse 65"/>
            <p:cNvSpPr/>
            <p:nvPr/>
          </p:nvSpPr>
          <p:spPr>
            <a:xfrm>
              <a:off x="7353300" y="762000"/>
              <a:ext cx="266700" cy="266700"/>
            </a:xfrm>
            <a:prstGeom prst="ellipse">
              <a:avLst/>
            </a:prstGeom>
            <a:solidFill>
              <a:srgbClr val="E4F3F0"/>
            </a:solidFill>
            <a:ln>
              <a:noFill/>
            </a:ln>
          </p:spPr>
        </p:sp>
        <p:grpSp>
          <p:nvGrpSpPr>
            <p:cNvPr id="68" name="Group 68"/>
            <p:cNvGrpSpPr/>
            <p:nvPr/>
          </p:nvGrpSpPr>
          <p:grpSpPr>
            <a:xfrm>
              <a:off x="7422356" y="845344"/>
              <a:ext cx="128588" cy="105085"/>
              <a:chOff x="7422356" y="845344"/>
              <a:chExt cx="128588" cy="105085"/>
            </a:xfrm>
          </p:grpSpPr>
          <p:sp>
            <p:nvSpPr>
              <p:cNvPr id="66" name="Freeform 66"/>
              <p:cNvSpPr/>
              <p:nvPr/>
            </p:nvSpPr>
            <p:spPr>
              <a:xfrm>
                <a:off x="7422356" y="845344"/>
                <a:ext cx="128588" cy="105085"/>
              </a:xfrm>
              <a:custGeom>
                <a:avLst/>
                <a:gdLst/>
                <a:ahLst/>
                <a:cxnLst/>
                <a:rect l="l" t="t" r="r" b="b"/>
                <a:pathLst>
                  <a:path w="128588" h="105085">
                    <a:moveTo>
                      <a:pt x="21431" y="0"/>
                    </a:moveTo>
                    <a:lnTo>
                      <a:pt x="107156" y="0"/>
                    </a:lnTo>
                    <a:lnTo>
                      <a:pt x="128588" y="35719"/>
                    </a:lnTo>
                    <a:lnTo>
                      <a:pt x="67866" y="103584"/>
                    </a:lnTo>
                    <a:cubicBezTo>
                      <a:pt x="66925" y="104544"/>
                      <a:pt x="65638" y="105085"/>
                      <a:pt x="64294" y="105085"/>
                    </a:cubicBezTo>
                    <a:cubicBezTo>
                      <a:pt x="62950" y="105085"/>
                      <a:pt x="61662" y="104544"/>
                      <a:pt x="60722" y="103584"/>
                    </a:cubicBezTo>
                    <a:lnTo>
                      <a:pt x="0" y="35719"/>
                    </a:lnTo>
                    <a:lnTo>
                      <a:pt x="21431" y="0"/>
                    </a:lnTo>
                  </a:path>
                </a:pathLst>
              </a:custGeom>
              <a:noFill/>
              <a:ln w="14288">
                <a:solidFill>
                  <a:srgbClr val="76200F"/>
                </a:solidFill>
              </a:ln>
            </p:spPr>
          </p:sp>
          <p:sp>
            <p:nvSpPr>
              <p:cNvPr id="67" name="Freeform 67"/>
              <p:cNvSpPr/>
              <p:nvPr/>
            </p:nvSpPr>
            <p:spPr>
              <a:xfrm>
                <a:off x="7458075" y="872490"/>
                <a:ext cx="14288" cy="22860"/>
              </a:xfrm>
              <a:custGeom>
                <a:avLst/>
                <a:gdLst/>
                <a:ahLst/>
                <a:cxnLst/>
                <a:rect l="l" t="t" r="r" b="b"/>
                <a:pathLst>
                  <a:path w="14288" h="22860">
                    <a:moveTo>
                      <a:pt x="14288" y="22860"/>
                    </a:moveTo>
                    <a:lnTo>
                      <a:pt x="0" y="7144"/>
                    </a:lnTo>
                    <a:lnTo>
                      <a:pt x="4286" y="0"/>
                    </a:lnTo>
                  </a:path>
                </a:pathLst>
              </a:custGeom>
              <a:noFill/>
              <a:ln w="14288">
                <a:solidFill>
                  <a:srgbClr val="76200F"/>
                </a:solidFill>
              </a:ln>
            </p:spPr>
          </p:sp>
        </p:grpSp>
        <p:sp>
          <p:nvSpPr>
            <p:cNvPr id="69" name="TextBox 69"/>
            <p:cNvSpPr txBox="1"/>
            <p:nvPr/>
          </p:nvSpPr>
          <p:spPr>
            <a:xfrm>
              <a:off x="7691438" y="775097"/>
              <a:ext cx="642239"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潜力高净值</a:t>
              </a:r>
            </a:p>
          </p:txBody>
        </p:sp>
        <p:sp>
          <p:nvSpPr>
            <p:cNvPr id="70" name="TextBox 70"/>
            <p:cNvSpPr txBox="1"/>
            <p:nvPr/>
          </p:nvSpPr>
          <p:spPr>
            <a:xfrm>
              <a:off x="7691438" y="939403"/>
              <a:ext cx="838784"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资产潜力大或高价值人群</a:t>
              </a:r>
            </a:p>
          </p:txBody>
        </p:sp>
        <p:sp>
          <p:nvSpPr>
            <p:cNvPr id="71" name="TextBox 71"/>
            <p:cNvSpPr txBox="1"/>
            <p:nvPr/>
          </p:nvSpPr>
          <p:spPr>
            <a:xfrm>
              <a:off x="7348538" y="1116330"/>
              <a:ext cx="494157"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关键识别信号</a:t>
              </a:r>
            </a:p>
          </p:txBody>
        </p:sp>
        <p:sp>
          <p:nvSpPr>
            <p:cNvPr id="72" name="TextBox 72"/>
            <p:cNvSpPr txBox="1"/>
            <p:nvPr/>
          </p:nvSpPr>
          <p:spPr>
            <a:xfrm>
              <a:off x="7348538" y="1225153"/>
              <a:ext cx="1225677"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AUM达标或快速增长 · 关注理财内容​​</a:t>
              </a:r>
              <a:br/>
              <a:r>
                <a:rPr lang="zh-CN" sz="560" dirty="0">
                  <a:solidFill>
                    <a:srgbClr val="514340"/>
                  </a:solidFill>
                  <a:latin typeface="+mn-lt"/>
                  <a:ea typeface="+mn-ea"/>
                  <a:cs typeface="+mn-cs"/>
                </a:rPr>
                <a:t>线下活动深度参与</a:t>
              </a:r>
            </a:p>
          </p:txBody>
        </p:sp>
        <p:sp>
          <p:nvSpPr>
            <p:cNvPr id="73" name="TextBox 73"/>
            <p:cNvSpPr txBox="1"/>
            <p:nvPr/>
          </p:nvSpPr>
          <p:spPr>
            <a:xfrm>
              <a:off x="734853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主要需求</a:t>
              </a:r>
            </a:p>
          </p:txBody>
        </p:sp>
        <p:sp>
          <p:nvSpPr>
            <p:cNvPr id="74" name="TextBox 74"/>
            <p:cNvSpPr txBox="1"/>
            <p:nvPr/>
          </p:nvSpPr>
          <p:spPr>
            <a:xfrm>
              <a:off x="7348538" y="1587103"/>
              <a:ext cx="64960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专业资产配置建议</a:t>
              </a:r>
              <a:br/>
              <a:r>
                <a:rPr lang="zh-CN" sz="560" dirty="0">
                  <a:solidFill>
                    <a:srgbClr val="514340"/>
                  </a:solidFill>
                  <a:latin typeface="+mn-lt"/>
                  <a:ea typeface="+mn-ea"/>
                  <a:cs typeface="+mn-cs"/>
                </a:rPr>
                <a:t>专属服务与高端权益</a:t>
              </a:r>
            </a:p>
          </p:txBody>
        </p:sp>
        <p:sp>
          <p:nvSpPr>
            <p:cNvPr id="75" name="TextBox 75"/>
            <p:cNvSpPr txBox="1"/>
            <p:nvPr/>
          </p:nvSpPr>
          <p:spPr>
            <a:xfrm>
              <a:off x="7348538" y="1840230"/>
              <a:ext cx="574929"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下一步最佳动作</a:t>
              </a:r>
            </a:p>
          </p:txBody>
        </p:sp>
        <p:sp>
          <p:nvSpPr>
            <p:cNvPr id="76" name="TextBox 76"/>
            <p:cNvSpPr txBox="1"/>
            <p:nvPr/>
          </p:nvSpPr>
          <p:spPr>
            <a:xfrm>
              <a:off x="7348538" y="1949053"/>
              <a:ext cx="98386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一对一顾问沟通 · 定制化方案​</a:t>
              </a:r>
              <a:br/>
              <a:r>
                <a:rPr lang="zh-CN" sz="560" dirty="0">
                  <a:solidFill>
                    <a:srgbClr val="514340"/>
                  </a:solidFill>
                  <a:latin typeface="+mn-lt"/>
                  <a:ea typeface="+mn-ea"/>
                  <a:cs typeface="+mn-cs"/>
                </a:rPr>
                <a:t>邀请参加私享活动</a:t>
              </a:r>
            </a:p>
          </p:txBody>
        </p:sp>
        <p:sp>
          <p:nvSpPr>
            <p:cNvPr id="77" name="TextBox 77"/>
            <p:cNvSpPr txBox="1"/>
            <p:nvPr/>
          </p:nvSpPr>
          <p:spPr>
            <a:xfrm>
              <a:off x="7348538" y="2202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触达渠道</a:t>
              </a:r>
            </a:p>
          </p:txBody>
        </p:sp>
        <p:sp>
          <p:nvSpPr>
            <p:cNvPr id="78" name="TextBox 78"/>
            <p:cNvSpPr txBox="1"/>
            <p:nvPr/>
          </p:nvSpPr>
          <p:spPr>
            <a:xfrm>
              <a:off x="7348538" y="2311003"/>
              <a:ext cx="64960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客户经理、电话</a:t>
              </a:r>
              <a:br/>
              <a:r>
                <a:rPr lang="zh-CN" sz="560" dirty="0">
                  <a:solidFill>
                    <a:srgbClr val="514340"/>
                  </a:solidFill>
                  <a:latin typeface="+mn-lt"/>
                  <a:ea typeface="+mn-ea"/>
                  <a:cs typeface="+mn-cs"/>
                </a:rPr>
                <a:t>企业微信、线下邀约</a:t>
              </a:r>
            </a:p>
          </p:txBody>
        </p:sp>
        <p:sp>
          <p:nvSpPr>
            <p:cNvPr id="79" name="TextBox 79"/>
            <p:cNvSpPr txBox="1"/>
            <p:nvPr/>
          </p:nvSpPr>
          <p:spPr>
            <a:xfrm>
              <a:off x="7348538" y="2564130"/>
              <a:ext cx="251841"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责任人</a:t>
              </a:r>
            </a:p>
          </p:txBody>
        </p:sp>
        <p:sp>
          <p:nvSpPr>
            <p:cNvPr id="80" name="TextBox 80"/>
            <p:cNvSpPr txBox="1"/>
            <p:nvPr/>
          </p:nvSpPr>
          <p:spPr>
            <a:xfrm>
              <a:off x="7348538" y="2672953"/>
              <a:ext cx="461848" cy="111919"/>
            </a:xfrm>
            <a:prstGeom prst="rect">
              <a:avLst/>
            </a:prstGeom>
            <a:noFill/>
            <a:ln>
              <a:noFill/>
            </a:ln>
          </p:spPr>
          <p:txBody>
            <a:bodyPr wrap="none" lIns="0" tIns="0" rIns="0" bIns="0" anchor="t" anchorCtr="0">
              <a:spAutoFit/>
            </a:bodyPr>
            <a:lstStyle/>
            <a:p>
              <a:pPr algn="l"/>
              <a:r>
                <a:rPr lang="zh-CN" sz="560" dirty="0">
                  <a:solidFill>
                    <a:srgbClr val="514340"/>
                  </a:solidFill>
                  <a:latin typeface="+mn-lt"/>
                  <a:ea typeface="+mn-ea"/>
                  <a:cs typeface="+mn-cs"/>
                </a:rPr>
                <a:t>财富顾问团队</a:t>
              </a:r>
            </a:p>
          </p:txBody>
        </p:sp>
        <p:sp>
          <p:nvSpPr>
            <p:cNvPr id="81" name="Rectangle 81"/>
            <p:cNvSpPr/>
            <p:nvPr/>
          </p:nvSpPr>
          <p:spPr>
            <a:xfrm>
              <a:off x="9563100" y="685800"/>
              <a:ext cx="2266950" cy="2190750"/>
            </a:xfrm>
            <a:prstGeom prst="roundRect">
              <a:avLst>
                <a:gd name="adj" fmla="val 3478"/>
              </a:avLst>
            </a:prstGeom>
            <a:solidFill>
              <a:srgbClr val="FFFFFF"/>
            </a:solidFill>
            <a:ln w="14288">
              <a:solidFill>
                <a:srgbClr val="C2E0DA"/>
              </a:solidFill>
            </a:ln>
          </p:spPr>
        </p:sp>
        <p:sp>
          <p:nvSpPr>
            <p:cNvPr id="82" name="Ellipse 82"/>
            <p:cNvSpPr/>
            <p:nvPr/>
          </p:nvSpPr>
          <p:spPr>
            <a:xfrm>
              <a:off x="9658350" y="762000"/>
              <a:ext cx="266700" cy="266700"/>
            </a:xfrm>
            <a:prstGeom prst="ellipse">
              <a:avLst/>
            </a:prstGeom>
            <a:solidFill>
              <a:srgbClr val="E4F3F0"/>
            </a:solidFill>
            <a:ln>
              <a:noFill/>
            </a:ln>
          </p:spPr>
        </p:sp>
        <p:grpSp>
          <p:nvGrpSpPr>
            <p:cNvPr id="91" name="Group 91"/>
            <p:cNvGrpSpPr/>
            <p:nvPr/>
          </p:nvGrpSpPr>
          <p:grpSpPr>
            <a:xfrm>
              <a:off x="9727406" y="831056"/>
              <a:ext cx="130969" cy="138113"/>
              <a:chOff x="9727406" y="831056"/>
              <a:chExt cx="130969" cy="138113"/>
            </a:xfrm>
          </p:grpSpPr>
          <p:sp>
            <p:nvSpPr>
              <p:cNvPr id="83" name="Freeform 83"/>
              <p:cNvSpPr/>
              <p:nvPr/>
            </p:nvSpPr>
            <p:spPr>
              <a:xfrm>
                <a:off x="9727406" y="959644"/>
                <a:ext cx="128588" cy="9525"/>
              </a:xfrm>
              <a:custGeom>
                <a:avLst/>
                <a:gdLst/>
                <a:ahLst/>
                <a:cxnLst/>
                <a:rect l="l" t="t" r="r" b="b"/>
                <a:pathLst>
                  <a:path w="128588" h="9525">
                    <a:moveTo>
                      <a:pt x="0" y="0"/>
                    </a:moveTo>
                    <a:lnTo>
                      <a:pt x="128588" y="0"/>
                    </a:lnTo>
                  </a:path>
                </a:pathLst>
              </a:custGeom>
              <a:noFill/>
              <a:ln w="14288">
                <a:solidFill>
                  <a:srgbClr val="76200F"/>
                </a:solidFill>
              </a:ln>
            </p:spPr>
          </p:sp>
          <p:sp>
            <p:nvSpPr>
              <p:cNvPr id="84" name="Freeform 84"/>
              <p:cNvSpPr/>
              <p:nvPr/>
            </p:nvSpPr>
            <p:spPr>
              <a:xfrm>
                <a:off x="9727406" y="881062"/>
                <a:ext cx="128588" cy="9525"/>
              </a:xfrm>
              <a:custGeom>
                <a:avLst/>
                <a:gdLst/>
                <a:ahLst/>
                <a:cxnLst/>
                <a:rect l="l" t="t" r="r" b="b"/>
                <a:pathLst>
                  <a:path w="128588" h="9525">
                    <a:moveTo>
                      <a:pt x="0" y="0"/>
                    </a:moveTo>
                    <a:lnTo>
                      <a:pt x="128588" y="0"/>
                    </a:lnTo>
                  </a:path>
                </a:pathLst>
              </a:custGeom>
              <a:noFill/>
              <a:ln w="14288">
                <a:solidFill>
                  <a:srgbClr val="76200F"/>
                </a:solidFill>
              </a:ln>
            </p:spPr>
          </p:sp>
          <p:sp>
            <p:nvSpPr>
              <p:cNvPr id="85" name="Freeform 85"/>
              <p:cNvSpPr/>
              <p:nvPr/>
            </p:nvSpPr>
            <p:spPr>
              <a:xfrm>
                <a:off x="9741694" y="831056"/>
                <a:ext cx="100012" cy="21431"/>
              </a:xfrm>
              <a:custGeom>
                <a:avLst/>
                <a:gdLst/>
                <a:ahLst/>
                <a:cxnLst/>
                <a:rect l="l" t="t" r="r" b="b"/>
                <a:pathLst>
                  <a:path w="100012" h="21431">
                    <a:moveTo>
                      <a:pt x="0" y="21431"/>
                    </a:moveTo>
                    <a:lnTo>
                      <a:pt x="50006" y="0"/>
                    </a:lnTo>
                    <a:lnTo>
                      <a:pt x="100012" y="21431"/>
                    </a:lnTo>
                  </a:path>
                </a:pathLst>
              </a:custGeom>
              <a:noFill/>
              <a:ln w="14288">
                <a:solidFill>
                  <a:srgbClr val="76200F"/>
                </a:solidFill>
              </a:ln>
            </p:spPr>
          </p:sp>
          <p:sp>
            <p:nvSpPr>
              <p:cNvPr id="86" name="Freeform 86"/>
              <p:cNvSpPr/>
              <p:nvPr/>
            </p:nvSpPr>
            <p:spPr>
              <a:xfrm>
                <a:off x="9734550" y="881062"/>
                <a:ext cx="9525" cy="78581"/>
              </a:xfrm>
              <a:custGeom>
                <a:avLst/>
                <a:gdLst/>
                <a:ahLst/>
                <a:cxnLst/>
                <a:rect l="l" t="t" r="r" b="b"/>
                <a:pathLst>
                  <a:path w="9525" h="78581">
                    <a:moveTo>
                      <a:pt x="0" y="0"/>
                    </a:moveTo>
                    <a:lnTo>
                      <a:pt x="0" y="78581"/>
                    </a:lnTo>
                  </a:path>
                </a:pathLst>
              </a:custGeom>
              <a:noFill/>
              <a:ln w="14288">
                <a:solidFill>
                  <a:srgbClr val="76200F"/>
                </a:solidFill>
              </a:ln>
            </p:spPr>
          </p:sp>
          <p:sp>
            <p:nvSpPr>
              <p:cNvPr id="87" name="Freeform 87"/>
              <p:cNvSpPr/>
              <p:nvPr/>
            </p:nvSpPr>
            <p:spPr>
              <a:xfrm>
                <a:off x="9848850" y="881062"/>
                <a:ext cx="9525" cy="78581"/>
              </a:xfrm>
              <a:custGeom>
                <a:avLst/>
                <a:gdLst/>
                <a:ahLst/>
                <a:cxnLst/>
                <a:rect l="l" t="t" r="r" b="b"/>
                <a:pathLst>
                  <a:path w="9525" h="78581">
                    <a:moveTo>
                      <a:pt x="0" y="0"/>
                    </a:moveTo>
                    <a:lnTo>
                      <a:pt x="0" y="78581"/>
                    </a:lnTo>
                  </a:path>
                </a:pathLst>
              </a:custGeom>
              <a:noFill/>
              <a:ln w="14288">
                <a:solidFill>
                  <a:srgbClr val="76200F"/>
                </a:solidFill>
              </a:ln>
            </p:spPr>
          </p:sp>
          <p:sp>
            <p:nvSpPr>
              <p:cNvPr id="88" name="Freeform 88"/>
              <p:cNvSpPr/>
              <p:nvPr/>
            </p:nvSpPr>
            <p:spPr>
              <a:xfrm>
                <a:off x="9763125" y="909638"/>
                <a:ext cx="9525" cy="21431"/>
              </a:xfrm>
              <a:custGeom>
                <a:avLst/>
                <a:gdLst/>
                <a:ahLst/>
                <a:cxnLst/>
                <a:rect l="l" t="t" r="r" b="b"/>
                <a:pathLst>
                  <a:path w="9525" h="21431">
                    <a:moveTo>
                      <a:pt x="0" y="0"/>
                    </a:moveTo>
                    <a:lnTo>
                      <a:pt x="0" y="21431"/>
                    </a:lnTo>
                  </a:path>
                </a:pathLst>
              </a:custGeom>
              <a:noFill/>
              <a:ln w="14288">
                <a:solidFill>
                  <a:srgbClr val="76200F"/>
                </a:solidFill>
              </a:ln>
            </p:spPr>
          </p:sp>
          <p:sp>
            <p:nvSpPr>
              <p:cNvPr id="89" name="Freeform 89"/>
              <p:cNvSpPr/>
              <p:nvPr/>
            </p:nvSpPr>
            <p:spPr>
              <a:xfrm>
                <a:off x="9791700" y="909638"/>
                <a:ext cx="9525" cy="21431"/>
              </a:xfrm>
              <a:custGeom>
                <a:avLst/>
                <a:gdLst/>
                <a:ahLst/>
                <a:cxnLst/>
                <a:rect l="l" t="t" r="r" b="b"/>
                <a:pathLst>
                  <a:path w="9525" h="21431">
                    <a:moveTo>
                      <a:pt x="0" y="0"/>
                    </a:moveTo>
                    <a:lnTo>
                      <a:pt x="0" y="21431"/>
                    </a:lnTo>
                  </a:path>
                </a:pathLst>
              </a:custGeom>
              <a:noFill/>
              <a:ln w="14288">
                <a:solidFill>
                  <a:srgbClr val="76200F"/>
                </a:solidFill>
              </a:ln>
            </p:spPr>
          </p:sp>
          <p:sp>
            <p:nvSpPr>
              <p:cNvPr id="90" name="Freeform 90"/>
              <p:cNvSpPr/>
              <p:nvPr/>
            </p:nvSpPr>
            <p:spPr>
              <a:xfrm>
                <a:off x="9820275" y="909638"/>
                <a:ext cx="9525" cy="21431"/>
              </a:xfrm>
              <a:custGeom>
                <a:avLst/>
                <a:gdLst/>
                <a:ahLst/>
                <a:cxnLst/>
                <a:rect l="l" t="t" r="r" b="b"/>
                <a:pathLst>
                  <a:path w="9525" h="21431">
                    <a:moveTo>
                      <a:pt x="0" y="0"/>
                    </a:moveTo>
                    <a:lnTo>
                      <a:pt x="0" y="21431"/>
                    </a:lnTo>
                  </a:path>
                </a:pathLst>
              </a:custGeom>
              <a:noFill/>
              <a:ln w="14288">
                <a:solidFill>
                  <a:srgbClr val="76200F"/>
                </a:solidFill>
              </a:ln>
            </p:spPr>
          </p:sp>
        </p:grpSp>
        <p:sp>
          <p:nvSpPr>
            <p:cNvPr id="92" name="TextBox 92"/>
            <p:cNvSpPr txBox="1"/>
            <p:nvPr/>
          </p:nvSpPr>
          <p:spPr>
            <a:xfrm>
              <a:off x="9996488" y="775097"/>
              <a:ext cx="994661"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商户 / 企业客户​</a:t>
              </a:r>
            </a:p>
          </p:txBody>
        </p:sp>
        <p:sp>
          <p:nvSpPr>
            <p:cNvPr id="93" name="TextBox 93"/>
            <p:cNvSpPr txBox="1"/>
            <p:nvPr/>
          </p:nvSpPr>
          <p:spPr>
            <a:xfrm>
              <a:off x="9996488" y="939403"/>
              <a:ext cx="688010"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小微商户及企业客户</a:t>
              </a:r>
            </a:p>
          </p:txBody>
        </p:sp>
        <p:sp>
          <p:nvSpPr>
            <p:cNvPr id="94" name="TextBox 94"/>
            <p:cNvSpPr txBox="1"/>
            <p:nvPr/>
          </p:nvSpPr>
          <p:spPr>
            <a:xfrm>
              <a:off x="9653588" y="1116330"/>
              <a:ext cx="494157"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关键识别信号</a:t>
              </a:r>
            </a:p>
          </p:txBody>
        </p:sp>
        <p:sp>
          <p:nvSpPr>
            <p:cNvPr id="95" name="TextBox 95"/>
            <p:cNvSpPr txBox="1"/>
            <p:nvPr/>
          </p:nvSpPr>
          <p:spPr>
            <a:xfrm>
              <a:off x="9653588" y="1225153"/>
              <a:ext cx="98386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线下展位咨询 · 曾用企业服务​</a:t>
              </a:r>
              <a:br/>
              <a:r>
                <a:rPr lang="zh-CN" sz="560" dirty="0">
                  <a:solidFill>
                    <a:srgbClr val="514340"/>
                  </a:solidFill>
                  <a:latin typeface="+mn-lt"/>
                  <a:ea typeface="+mn-ea"/>
                  <a:cs typeface="+mn-cs"/>
                </a:rPr>
                <a:t>有收单 / 对公需求​</a:t>
              </a:r>
            </a:p>
          </p:txBody>
        </p:sp>
        <p:sp>
          <p:nvSpPr>
            <p:cNvPr id="96" name="TextBox 96"/>
            <p:cNvSpPr txBox="1"/>
            <p:nvPr/>
          </p:nvSpPr>
          <p:spPr>
            <a:xfrm>
              <a:off x="9653588" y="14782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主要需求</a:t>
              </a:r>
            </a:p>
          </p:txBody>
        </p:sp>
        <p:sp>
          <p:nvSpPr>
            <p:cNvPr id="97" name="TextBox 97"/>
            <p:cNvSpPr txBox="1"/>
            <p:nvPr/>
          </p:nvSpPr>
          <p:spPr>
            <a:xfrm>
              <a:off x="9653588" y="1587103"/>
              <a:ext cx="105498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便捷的收付结算 · 经营资金支持​</a:t>
              </a:r>
              <a:br/>
              <a:r>
                <a:rPr lang="zh-CN" sz="560" dirty="0">
                  <a:solidFill>
                    <a:srgbClr val="514340"/>
                  </a:solidFill>
                  <a:latin typeface="+mn-lt"/>
                  <a:ea typeface="+mn-ea"/>
                  <a:cs typeface="+mn-cs"/>
                </a:rPr>
                <a:t>数字化经营工具</a:t>
              </a:r>
            </a:p>
          </p:txBody>
        </p:sp>
        <p:sp>
          <p:nvSpPr>
            <p:cNvPr id="98" name="TextBox 98"/>
            <p:cNvSpPr txBox="1"/>
            <p:nvPr/>
          </p:nvSpPr>
          <p:spPr>
            <a:xfrm>
              <a:off x="9653588" y="1840230"/>
              <a:ext cx="574929"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下一步最佳动作</a:t>
              </a:r>
            </a:p>
          </p:txBody>
        </p:sp>
        <p:sp>
          <p:nvSpPr>
            <p:cNvPr id="99" name="TextBox 99"/>
            <p:cNvSpPr txBox="1"/>
            <p:nvPr/>
          </p:nvSpPr>
          <p:spPr>
            <a:xfrm>
              <a:off x="9653588" y="1949053"/>
              <a:ext cx="1286129"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上门 / 远程拜访 · 开通收单/对公产品​​</a:t>
              </a:r>
              <a:br/>
              <a:r>
                <a:rPr lang="zh-CN" sz="560" dirty="0">
                  <a:solidFill>
                    <a:srgbClr val="514340"/>
                  </a:solidFill>
                  <a:latin typeface="+mn-lt"/>
                  <a:ea typeface="+mn-ea"/>
                  <a:cs typeface="+mn-cs"/>
                </a:rPr>
                <a:t>推荐商户专属产品</a:t>
              </a:r>
            </a:p>
          </p:txBody>
        </p:sp>
        <p:sp>
          <p:nvSpPr>
            <p:cNvPr id="100" name="TextBox 100"/>
            <p:cNvSpPr txBox="1"/>
            <p:nvPr/>
          </p:nvSpPr>
          <p:spPr>
            <a:xfrm>
              <a:off x="9653588" y="2202180"/>
              <a:ext cx="332613"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触达渠道</a:t>
              </a:r>
            </a:p>
          </p:txBody>
        </p:sp>
        <p:sp>
          <p:nvSpPr>
            <p:cNvPr id="101" name="TextBox 101"/>
            <p:cNvSpPr txBox="1"/>
            <p:nvPr/>
          </p:nvSpPr>
          <p:spPr>
            <a:xfrm>
              <a:off x="9653588" y="2311003"/>
              <a:ext cx="50736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客户经理、电话</a:t>
              </a:r>
              <a:br/>
              <a:r>
                <a:rPr lang="zh-CN" sz="560" dirty="0">
                  <a:solidFill>
                    <a:srgbClr val="514340"/>
                  </a:solidFill>
                  <a:latin typeface="+mn-lt"/>
                  <a:ea typeface="+mn-ea"/>
                  <a:cs typeface="+mn-cs"/>
                </a:rPr>
                <a:t>企业微信、邮件</a:t>
              </a:r>
            </a:p>
          </p:txBody>
        </p:sp>
        <p:sp>
          <p:nvSpPr>
            <p:cNvPr id="102" name="TextBox 102"/>
            <p:cNvSpPr txBox="1"/>
            <p:nvPr/>
          </p:nvSpPr>
          <p:spPr>
            <a:xfrm>
              <a:off x="9653588" y="2564130"/>
              <a:ext cx="251841" cy="119062"/>
            </a:xfrm>
            <a:prstGeom prst="rect">
              <a:avLst/>
            </a:prstGeom>
            <a:noFill/>
            <a:ln>
              <a:noFill/>
            </a:ln>
          </p:spPr>
          <p:txBody>
            <a:bodyPr wrap="none" lIns="0" tIns="0" rIns="0" bIns="0" anchor="t" anchorCtr="0">
              <a:spAutoFit/>
            </a:bodyPr>
            <a:lstStyle/>
            <a:p>
              <a:pPr algn="l"/>
              <a:r>
                <a:rPr lang="zh-CN" sz="600" b="1" dirty="0">
                  <a:solidFill>
                    <a:srgbClr val="5D190B"/>
                  </a:solidFill>
                  <a:latin typeface="+mn-lt"/>
                  <a:ea typeface="+mn-ea"/>
                  <a:cs typeface="+mn-cs"/>
                </a:rPr>
                <a:t>责任人</a:t>
              </a:r>
            </a:p>
          </p:txBody>
        </p:sp>
        <p:sp>
          <p:nvSpPr>
            <p:cNvPr id="103" name="TextBox 103"/>
            <p:cNvSpPr txBox="1"/>
            <p:nvPr/>
          </p:nvSpPr>
          <p:spPr>
            <a:xfrm>
              <a:off x="9653588" y="2672953"/>
              <a:ext cx="590006" cy="111919"/>
            </a:xfrm>
            <a:prstGeom prst="rect">
              <a:avLst/>
            </a:prstGeom>
            <a:noFill/>
            <a:ln>
              <a:noFill/>
            </a:ln>
          </p:spPr>
          <p:txBody>
            <a:bodyPr wrap="none" lIns="0" tIns="0" rIns="0" bIns="0" anchor="t" anchorCtr="0">
              <a:spAutoFit/>
            </a:bodyPr>
            <a:lstStyle/>
            <a:p>
              <a:pPr algn="l"/>
              <a:r>
                <a:rPr lang="zh-CN" sz="560" dirty="0">
                  <a:solidFill>
                    <a:srgbClr val="514340"/>
                  </a:solidFill>
                  <a:latin typeface="+mn-lt"/>
                  <a:ea typeface="+mn-ea"/>
                  <a:cs typeface="+mn-cs"/>
                </a:rPr>
                <a:t>对公 / 小微团队​</a:t>
              </a:r>
            </a:p>
          </p:txBody>
        </p:sp>
      </p:grpSp>
      <p:grpSp>
        <p:nvGrpSpPr>
          <p:cNvPr id="136" name="journey30"/>
          <p:cNvGrpSpPr/>
          <p:nvPr/>
        </p:nvGrpSpPr>
        <p:grpSpPr>
          <a:xfrm>
            <a:off x="337947" y="2999899"/>
            <a:ext cx="11492103" cy="1229201"/>
            <a:chOff x="337947" y="2999899"/>
            <a:chExt cx="11492103" cy="1229201"/>
          </a:xfrm>
        </p:grpSpPr>
        <p:sp>
          <p:nvSpPr>
            <p:cNvPr id="105" name="TextBox 105"/>
            <p:cNvSpPr txBox="1"/>
            <p:nvPr/>
          </p:nvSpPr>
          <p:spPr>
            <a:xfrm>
              <a:off x="337947" y="2999899"/>
              <a:ext cx="1161964" cy="190690"/>
            </a:xfrm>
            <a:prstGeom prst="rect">
              <a:avLst/>
            </a:prstGeom>
            <a:noFill/>
            <a:ln>
              <a:noFill/>
            </a:ln>
          </p:spPr>
          <p:txBody>
            <a:bodyPr wrap="none" lIns="0" tIns="0" rIns="0" bIns="0" anchor="t" anchorCtr="0">
              <a:spAutoFit/>
            </a:bodyPr>
            <a:lstStyle/>
            <a:p>
              <a:pPr algn="l"/>
              <a:r>
                <a:rPr lang="zh-CN" sz="980" b="1" dirty="0">
                  <a:solidFill>
                    <a:srgbClr val="331712"/>
                  </a:solidFill>
                  <a:latin typeface="+mn-lt"/>
                  <a:ea typeface="+mn-ea"/>
                  <a:cs typeface="+mn-cs"/>
                </a:rPr>
                <a:t>30天客户经营旅程​</a:t>
              </a:r>
            </a:p>
          </p:txBody>
        </p:sp>
        <p:sp>
          <p:nvSpPr>
            <p:cNvPr id="106" name="Freeform 106"/>
            <p:cNvSpPr/>
            <p:nvPr/>
          </p:nvSpPr>
          <p:spPr>
            <a:xfrm>
              <a:off x="342900" y="3200400"/>
              <a:ext cx="1866900" cy="266700"/>
            </a:xfrm>
            <a:prstGeom prst="chevron">
              <a:avLst/>
            </a:prstGeom>
            <a:solidFill>
              <a:srgbClr val="5D190B"/>
            </a:solidFill>
            <a:ln>
              <a:noFill/>
            </a:ln>
          </p:spPr>
        </p:sp>
        <p:sp>
          <p:nvSpPr>
            <p:cNvPr id="107" name="TextBox 107"/>
            <p:cNvSpPr txBox="1"/>
            <p:nvPr/>
          </p:nvSpPr>
          <p:spPr>
            <a:xfrm>
              <a:off x="826681" y="3294936"/>
              <a:ext cx="93743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D0 欢迎与权益到账​​</a:t>
              </a:r>
            </a:p>
          </p:txBody>
        </p:sp>
        <p:sp>
          <p:nvSpPr>
            <p:cNvPr id="108" name="TextBox 108"/>
            <p:cNvSpPr txBox="1"/>
            <p:nvPr/>
          </p:nvSpPr>
          <p:spPr>
            <a:xfrm>
              <a:off x="414338" y="3573780"/>
              <a:ext cx="58483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发送欢迎消息​</a:t>
              </a:r>
            </a:p>
            <a:p>
              <a:pPr algn="l" marL="76200" indent="-76200">
                <a:lnSpc>
                  <a:spcPts val="825"/>
                </a:lnSpc>
                <a:buClr>
                  <a:srgbClr val="514340"/>
                </a:buClr>
                <a:buSzTx/>
                <a:buFontTx/>
                <a:buChar char="•"/>
              </a:pPr>
              <a:r>
                <a:rPr lang="zh-CN" sz="600" dirty="0">
                  <a:solidFill>
                    <a:srgbClr val="514340"/>
                  </a:solidFill>
                  <a:latin typeface="+mn-lt"/>
                  <a:ea typeface="+mn-ea"/>
                  <a:cs typeface="+mn-cs"/>
                </a:rPr>
                <a:t>权益自动到账​</a:t>
              </a:r>
            </a:p>
            <a:p>
              <a:pPr algn="l" marL="76200" indent="-76200">
                <a:lnSpc>
                  <a:spcPts val="825"/>
                </a:lnSpc>
                <a:buClr>
                  <a:srgbClr val="514340"/>
                </a:buClr>
                <a:buSzTx/>
                <a:buFontTx/>
                <a:buChar char="•"/>
              </a:pPr>
              <a:r>
                <a:rPr lang="zh-CN" sz="600" dirty="0">
                  <a:solidFill>
                    <a:srgbClr val="514340"/>
                  </a:solidFill>
                  <a:latin typeface="+mn-lt"/>
                  <a:ea typeface="+mn-ea"/>
                  <a:cs typeface="+mn-cs"/>
                </a:rPr>
                <a:t>引导绑定账户​</a:t>
              </a:r>
            </a:p>
          </p:txBody>
        </p:sp>
        <p:sp>
          <p:nvSpPr>
            <p:cNvPr id="109" name="Rectangle 109"/>
            <p:cNvSpPr/>
            <p:nvPr/>
          </p:nvSpPr>
          <p:spPr>
            <a:xfrm>
              <a:off x="419100" y="4038600"/>
              <a:ext cx="1714500" cy="190500"/>
            </a:xfrm>
            <a:prstGeom prst="roundRect">
              <a:avLst>
                <a:gd name="adj" fmla="val 20000"/>
              </a:avLst>
            </a:prstGeom>
            <a:solidFill>
              <a:srgbClr val="E4F3F0"/>
            </a:solidFill>
            <a:ln>
              <a:noFill/>
            </a:ln>
          </p:spPr>
        </p:sp>
        <p:sp>
          <p:nvSpPr>
            <p:cNvPr id="110" name="TextBox 110"/>
            <p:cNvSpPr txBox="1"/>
            <p:nvPr/>
          </p:nvSpPr>
          <p:spPr>
            <a:xfrm>
              <a:off x="490538" y="4111228"/>
              <a:ext cx="1407958"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关键目标</a:t>
              </a:r>
              <a:r>
                <a:rPr lang="zh-CN" sz="560" dirty="0">
                  <a:solidFill>
                    <a:srgbClr val="5D190B"/>
                  </a:solidFill>
                  <a:latin typeface="+mn-lt"/>
                  <a:ea typeface="+mn-ea"/>
                  <a:cs typeface="+mn-cs"/>
                </a:rPr>
                <a:t xml:space="preserve"> 完成账户绑定 · 领取首笔权益​​</a:t>
              </a:r>
            </a:p>
          </p:txBody>
        </p:sp>
        <p:sp>
          <p:nvSpPr>
            <p:cNvPr id="111" name="Freeform 111"/>
            <p:cNvSpPr/>
            <p:nvPr/>
          </p:nvSpPr>
          <p:spPr>
            <a:xfrm>
              <a:off x="2286000" y="3200400"/>
              <a:ext cx="1866900" cy="266700"/>
            </a:xfrm>
            <a:prstGeom prst="chevron">
              <a:avLst/>
            </a:prstGeom>
            <a:solidFill>
              <a:srgbClr val="852512"/>
            </a:solidFill>
            <a:ln>
              <a:noFill/>
            </a:ln>
          </p:spPr>
        </p:sp>
        <p:sp>
          <p:nvSpPr>
            <p:cNvPr id="112" name="TextBox 112"/>
            <p:cNvSpPr txBox="1"/>
            <p:nvPr/>
          </p:nvSpPr>
          <p:spPr>
            <a:xfrm>
              <a:off x="2825669" y="3294936"/>
              <a:ext cx="82566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D1-D3 内容教育​​</a:t>
              </a:r>
            </a:p>
          </p:txBody>
        </p:sp>
        <p:sp>
          <p:nvSpPr>
            <p:cNvPr id="113" name="TextBox 113"/>
            <p:cNvSpPr txBox="1"/>
            <p:nvPr/>
          </p:nvSpPr>
          <p:spPr>
            <a:xfrm>
              <a:off x="2357438" y="3573780"/>
              <a:ext cx="86677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推送产品与服务内容​</a:t>
              </a:r>
            </a:p>
            <a:p>
              <a:pPr algn="l" marL="76200" indent="-76200">
                <a:lnSpc>
                  <a:spcPts val="825"/>
                </a:lnSpc>
                <a:buClr>
                  <a:srgbClr val="514340"/>
                </a:buClr>
                <a:buSzTx/>
                <a:buFontTx/>
                <a:buChar char="•"/>
              </a:pPr>
              <a:r>
                <a:rPr lang="zh-CN" sz="600" dirty="0">
                  <a:solidFill>
                    <a:srgbClr val="514340"/>
                  </a:solidFill>
                  <a:latin typeface="+mn-lt"/>
                  <a:ea typeface="+mn-ea"/>
                  <a:cs typeface="+mn-cs"/>
                </a:rPr>
                <a:t>金融知识 / 活动回顾​​</a:t>
              </a:r>
            </a:p>
            <a:p>
              <a:pPr algn="l" marL="76200" indent="-76200">
                <a:lnSpc>
                  <a:spcPts val="825"/>
                </a:lnSpc>
                <a:buClr>
                  <a:srgbClr val="514340"/>
                </a:buClr>
                <a:buSzTx/>
                <a:buFontTx/>
                <a:buChar char="•"/>
              </a:pPr>
              <a:r>
                <a:rPr lang="zh-CN" sz="600" dirty="0">
                  <a:solidFill>
                    <a:srgbClr val="514340"/>
                  </a:solidFill>
                  <a:latin typeface="+mn-lt"/>
                  <a:ea typeface="+mn-ea"/>
                  <a:cs typeface="+mn-cs"/>
                </a:rPr>
                <a:t>个性化内容推荐​</a:t>
              </a:r>
            </a:p>
          </p:txBody>
        </p:sp>
        <p:sp>
          <p:nvSpPr>
            <p:cNvPr id="114" name="Rectangle 114"/>
            <p:cNvSpPr/>
            <p:nvPr/>
          </p:nvSpPr>
          <p:spPr>
            <a:xfrm>
              <a:off x="2362200" y="4038600"/>
              <a:ext cx="1714500" cy="190500"/>
            </a:xfrm>
            <a:prstGeom prst="roundRect">
              <a:avLst>
                <a:gd name="adj" fmla="val 20000"/>
              </a:avLst>
            </a:prstGeom>
            <a:solidFill>
              <a:srgbClr val="E4F3F0"/>
            </a:solidFill>
            <a:ln>
              <a:noFill/>
            </a:ln>
          </p:spPr>
        </p:sp>
        <p:sp>
          <p:nvSpPr>
            <p:cNvPr id="115" name="TextBox 115"/>
            <p:cNvSpPr txBox="1"/>
            <p:nvPr/>
          </p:nvSpPr>
          <p:spPr>
            <a:xfrm>
              <a:off x="2433638" y="4111228"/>
              <a:ext cx="1106409"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关键目标</a:t>
              </a:r>
              <a:r>
                <a:rPr lang="zh-CN" sz="560" dirty="0">
                  <a:solidFill>
                    <a:srgbClr val="5D190B"/>
                  </a:solidFill>
                  <a:latin typeface="+mn-lt"/>
                  <a:ea typeface="+mn-ea"/>
                  <a:cs typeface="+mn-cs"/>
                </a:rPr>
                <a:t xml:space="preserve"> 建立认知 · 建立信任​​</a:t>
              </a:r>
            </a:p>
          </p:txBody>
        </p:sp>
        <p:sp>
          <p:nvSpPr>
            <p:cNvPr id="116" name="Freeform 116"/>
            <p:cNvSpPr/>
            <p:nvPr/>
          </p:nvSpPr>
          <p:spPr>
            <a:xfrm>
              <a:off x="4229100" y="3200400"/>
              <a:ext cx="1866900" cy="266700"/>
            </a:xfrm>
            <a:prstGeom prst="chevron">
              <a:avLst/>
            </a:prstGeom>
            <a:solidFill>
              <a:srgbClr val="A3422F"/>
            </a:solidFill>
            <a:ln>
              <a:noFill/>
            </a:ln>
          </p:spPr>
        </p:sp>
        <p:sp>
          <p:nvSpPr>
            <p:cNvPr id="117" name="TextBox 117"/>
            <p:cNvSpPr txBox="1"/>
            <p:nvPr/>
          </p:nvSpPr>
          <p:spPr>
            <a:xfrm>
              <a:off x="4768769" y="3294936"/>
              <a:ext cx="82566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D4-D7 顾问触达​​</a:t>
              </a:r>
            </a:p>
          </p:txBody>
        </p:sp>
        <p:sp>
          <p:nvSpPr>
            <p:cNvPr id="118" name="TextBox 118"/>
            <p:cNvSpPr txBox="1"/>
            <p:nvPr/>
          </p:nvSpPr>
          <p:spPr>
            <a:xfrm>
              <a:off x="4300538" y="3573780"/>
              <a:ext cx="101917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客户经理 / 顾问主动联系​​</a:t>
              </a:r>
            </a:p>
            <a:p>
              <a:pPr algn="l" marL="76200" indent="-76200">
                <a:lnSpc>
                  <a:spcPts val="825"/>
                </a:lnSpc>
                <a:buClr>
                  <a:srgbClr val="514340"/>
                </a:buClr>
                <a:buSzTx/>
                <a:buFontTx/>
                <a:buChar char="•"/>
              </a:pPr>
              <a:r>
                <a:rPr lang="zh-CN" sz="600" dirty="0">
                  <a:solidFill>
                    <a:srgbClr val="514340"/>
                  </a:solidFill>
                  <a:latin typeface="+mn-lt"/>
                  <a:ea typeface="+mn-ea"/>
                  <a:cs typeface="+mn-cs"/>
                </a:rPr>
                <a:t>解答疑问 / 提供方案​​</a:t>
              </a:r>
            </a:p>
            <a:p>
              <a:pPr algn="l" marL="76200" indent="-76200">
                <a:lnSpc>
                  <a:spcPts val="825"/>
                </a:lnSpc>
                <a:buClr>
                  <a:srgbClr val="514340"/>
                </a:buClr>
                <a:buSzTx/>
                <a:buFontTx/>
                <a:buChar char="•"/>
              </a:pPr>
              <a:r>
                <a:rPr lang="zh-CN" sz="600" dirty="0">
                  <a:solidFill>
                    <a:srgbClr val="514340"/>
                  </a:solidFill>
                  <a:latin typeface="+mn-lt"/>
                  <a:ea typeface="+mn-ea"/>
                  <a:cs typeface="+mn-cs"/>
                </a:rPr>
                <a:t>邀请线上 / 线下活动​​</a:t>
              </a:r>
            </a:p>
          </p:txBody>
        </p:sp>
        <p:sp>
          <p:nvSpPr>
            <p:cNvPr id="119" name="Rectangle 119"/>
            <p:cNvSpPr/>
            <p:nvPr/>
          </p:nvSpPr>
          <p:spPr>
            <a:xfrm>
              <a:off x="4305300" y="4038600"/>
              <a:ext cx="1714500" cy="190500"/>
            </a:xfrm>
            <a:prstGeom prst="roundRect">
              <a:avLst>
                <a:gd name="adj" fmla="val 20000"/>
              </a:avLst>
            </a:prstGeom>
            <a:solidFill>
              <a:srgbClr val="E4F3F0"/>
            </a:solidFill>
            <a:ln>
              <a:noFill/>
            </a:ln>
          </p:spPr>
        </p:sp>
        <p:sp>
          <p:nvSpPr>
            <p:cNvPr id="120" name="TextBox 120"/>
            <p:cNvSpPr txBox="1"/>
            <p:nvPr/>
          </p:nvSpPr>
          <p:spPr>
            <a:xfrm>
              <a:off x="4376738" y="4111228"/>
              <a:ext cx="1053638"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关键目标</a:t>
              </a:r>
              <a:r>
                <a:rPr lang="zh-CN" sz="560" dirty="0">
                  <a:solidFill>
                    <a:srgbClr val="5D190B"/>
                  </a:solidFill>
                  <a:latin typeface="+mn-lt"/>
                  <a:ea typeface="+mn-ea"/>
                  <a:cs typeface="+mn-cs"/>
                </a:rPr>
                <a:t xml:space="preserve"> 形成个性化服务方案​</a:t>
              </a:r>
            </a:p>
          </p:txBody>
        </p:sp>
        <p:sp>
          <p:nvSpPr>
            <p:cNvPr id="121" name="Freeform 121"/>
            <p:cNvSpPr/>
            <p:nvPr/>
          </p:nvSpPr>
          <p:spPr>
            <a:xfrm>
              <a:off x="6172200" y="3200400"/>
              <a:ext cx="1866900" cy="266700"/>
            </a:xfrm>
            <a:prstGeom prst="chevron">
              <a:avLst/>
            </a:prstGeom>
            <a:solidFill>
              <a:srgbClr val="94311D"/>
            </a:solidFill>
            <a:ln>
              <a:noFill/>
            </a:ln>
          </p:spPr>
        </p:sp>
        <p:sp>
          <p:nvSpPr>
            <p:cNvPr id="122" name="TextBox 122"/>
            <p:cNvSpPr txBox="1"/>
            <p:nvPr/>
          </p:nvSpPr>
          <p:spPr>
            <a:xfrm>
              <a:off x="6682708" y="3294936"/>
              <a:ext cx="8839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D8-D14 产品体验​​</a:t>
              </a:r>
            </a:p>
          </p:txBody>
        </p:sp>
        <p:sp>
          <p:nvSpPr>
            <p:cNvPr id="123" name="TextBox 123"/>
            <p:cNvSpPr txBox="1"/>
            <p:nvPr/>
          </p:nvSpPr>
          <p:spPr>
            <a:xfrm>
              <a:off x="6243638" y="3573780"/>
              <a:ext cx="86677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引导体验核心产品​</a:t>
              </a:r>
            </a:p>
            <a:p>
              <a:pPr algn="l" marL="76200" indent="-76200">
                <a:lnSpc>
                  <a:spcPts val="825"/>
                </a:lnSpc>
                <a:buClr>
                  <a:srgbClr val="514340"/>
                </a:buClr>
                <a:buSzTx/>
                <a:buFontTx/>
                <a:buChar char="•"/>
              </a:pPr>
              <a:r>
                <a:rPr lang="zh-CN" sz="600" dirty="0">
                  <a:solidFill>
                    <a:srgbClr val="514340"/>
                  </a:solidFill>
                  <a:latin typeface="+mn-lt"/>
                  <a:ea typeface="+mn-ea"/>
                  <a:cs typeface="+mn-cs"/>
                </a:rPr>
                <a:t>参与线上主题活动​</a:t>
              </a:r>
            </a:p>
            <a:p>
              <a:pPr algn="l" marL="76200" indent="-76200">
                <a:lnSpc>
                  <a:spcPts val="825"/>
                </a:lnSpc>
                <a:buClr>
                  <a:srgbClr val="514340"/>
                </a:buClr>
                <a:buSzTx/>
                <a:buFontTx/>
                <a:buChar char="•"/>
              </a:pPr>
              <a:r>
                <a:rPr lang="zh-CN" sz="600" dirty="0">
                  <a:solidFill>
                    <a:srgbClr val="514340"/>
                  </a:solidFill>
                  <a:latin typeface="+mn-lt"/>
                  <a:ea typeface="+mn-ea"/>
                  <a:cs typeface="+mn-cs"/>
                </a:rPr>
                <a:t>收集反馈 / 优化推荐​​</a:t>
              </a:r>
            </a:p>
          </p:txBody>
        </p:sp>
        <p:sp>
          <p:nvSpPr>
            <p:cNvPr id="124" name="Rectangle 124"/>
            <p:cNvSpPr/>
            <p:nvPr/>
          </p:nvSpPr>
          <p:spPr>
            <a:xfrm>
              <a:off x="6248400" y="4038600"/>
              <a:ext cx="1714500" cy="190500"/>
            </a:xfrm>
            <a:prstGeom prst="roundRect">
              <a:avLst>
                <a:gd name="adj" fmla="val 20000"/>
              </a:avLst>
            </a:prstGeom>
            <a:solidFill>
              <a:srgbClr val="E4F3F0"/>
            </a:solidFill>
            <a:ln>
              <a:noFill/>
            </a:ln>
          </p:spPr>
        </p:sp>
        <p:sp>
          <p:nvSpPr>
            <p:cNvPr id="125" name="TextBox 125"/>
            <p:cNvSpPr txBox="1"/>
            <p:nvPr/>
          </p:nvSpPr>
          <p:spPr>
            <a:xfrm>
              <a:off x="6319838" y="4111228"/>
              <a:ext cx="1332570"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关键目标</a:t>
              </a:r>
              <a:r>
                <a:rPr lang="zh-CN" sz="560" dirty="0">
                  <a:solidFill>
                    <a:srgbClr val="5D190B"/>
                  </a:solidFill>
                  <a:latin typeface="+mn-lt"/>
                  <a:ea typeface="+mn-ea"/>
                  <a:cs typeface="+mn-cs"/>
                </a:rPr>
                <a:t xml:space="preserve"> 深度产品体验 · 提升活跃度​​</a:t>
              </a:r>
            </a:p>
          </p:txBody>
        </p:sp>
        <p:sp>
          <p:nvSpPr>
            <p:cNvPr id="126" name="Freeform 126"/>
            <p:cNvSpPr/>
            <p:nvPr/>
          </p:nvSpPr>
          <p:spPr>
            <a:xfrm>
              <a:off x="8115300" y="3200400"/>
              <a:ext cx="1866900" cy="266700"/>
            </a:xfrm>
            <a:prstGeom prst="chevron">
              <a:avLst/>
            </a:prstGeom>
            <a:solidFill>
              <a:srgbClr val="852512"/>
            </a:solidFill>
            <a:ln>
              <a:noFill/>
            </a:ln>
          </p:spPr>
        </p:sp>
        <p:sp>
          <p:nvSpPr>
            <p:cNvPr id="127" name="TextBox 127"/>
            <p:cNvSpPr txBox="1"/>
            <p:nvPr/>
          </p:nvSpPr>
          <p:spPr>
            <a:xfrm>
              <a:off x="8569048" y="3294936"/>
              <a:ext cx="997504"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D15-D21 交易转化​​​</a:t>
              </a:r>
            </a:p>
          </p:txBody>
        </p:sp>
        <p:sp>
          <p:nvSpPr>
            <p:cNvPr id="128" name="TextBox 128"/>
            <p:cNvSpPr txBox="1"/>
            <p:nvPr/>
          </p:nvSpPr>
          <p:spPr>
            <a:xfrm>
              <a:off x="8186738" y="3573780"/>
              <a:ext cx="86677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引导完成购买 / 首投​​</a:t>
              </a:r>
            </a:p>
            <a:p>
              <a:pPr algn="l" marL="76200" indent="-76200">
                <a:lnSpc>
                  <a:spcPts val="825"/>
                </a:lnSpc>
                <a:buClr>
                  <a:srgbClr val="514340"/>
                </a:buClr>
                <a:buSzTx/>
                <a:buFontTx/>
                <a:buChar char="•"/>
              </a:pPr>
              <a:r>
                <a:rPr lang="zh-CN" sz="600" dirty="0">
                  <a:solidFill>
                    <a:srgbClr val="514340"/>
                  </a:solidFill>
                  <a:latin typeface="+mn-lt"/>
                  <a:ea typeface="+mn-ea"/>
                  <a:cs typeface="+mn-cs"/>
                </a:rPr>
                <a:t>限时专属产品激励​</a:t>
              </a:r>
            </a:p>
            <a:p>
              <a:pPr algn="l" marL="76200" indent="-76200">
                <a:lnSpc>
                  <a:spcPts val="825"/>
                </a:lnSpc>
                <a:buClr>
                  <a:srgbClr val="514340"/>
                </a:buClr>
                <a:buSzTx/>
                <a:buFontTx/>
                <a:buChar char="•"/>
              </a:pPr>
              <a:r>
                <a:rPr lang="zh-CN" sz="600" dirty="0">
                  <a:solidFill>
                    <a:srgbClr val="514340"/>
                  </a:solidFill>
                  <a:latin typeface="+mn-lt"/>
                  <a:ea typeface="+mn-ea"/>
                  <a:cs typeface="+mn-cs"/>
                </a:rPr>
                <a:t>多场景交叉营销​</a:t>
              </a:r>
            </a:p>
          </p:txBody>
        </p:sp>
        <p:sp>
          <p:nvSpPr>
            <p:cNvPr id="129" name="Rectangle 129"/>
            <p:cNvSpPr/>
            <p:nvPr/>
          </p:nvSpPr>
          <p:spPr>
            <a:xfrm>
              <a:off x="8191500" y="4038600"/>
              <a:ext cx="1714500" cy="190500"/>
            </a:xfrm>
            <a:prstGeom prst="roundRect">
              <a:avLst>
                <a:gd name="adj" fmla="val 20000"/>
              </a:avLst>
            </a:prstGeom>
            <a:solidFill>
              <a:srgbClr val="E4F3F0"/>
            </a:solidFill>
            <a:ln>
              <a:noFill/>
            </a:ln>
          </p:spPr>
        </p:sp>
        <p:sp>
          <p:nvSpPr>
            <p:cNvPr id="130" name="TextBox 130"/>
            <p:cNvSpPr txBox="1"/>
            <p:nvPr/>
          </p:nvSpPr>
          <p:spPr>
            <a:xfrm>
              <a:off x="8262938" y="4111228"/>
              <a:ext cx="1257183"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关键目标</a:t>
              </a:r>
              <a:r>
                <a:rPr lang="zh-CN" sz="560" dirty="0">
                  <a:solidFill>
                    <a:srgbClr val="5D190B"/>
                  </a:solidFill>
                  <a:latin typeface="+mn-lt"/>
                  <a:ea typeface="+mn-ea"/>
                  <a:cs typeface="+mn-cs"/>
                </a:rPr>
                <a:t xml:space="preserve"> 实现首次交易 · 完成转化​​</a:t>
              </a:r>
            </a:p>
          </p:txBody>
        </p:sp>
        <p:sp>
          <p:nvSpPr>
            <p:cNvPr id="131" name="Freeform 131"/>
            <p:cNvSpPr/>
            <p:nvPr/>
          </p:nvSpPr>
          <p:spPr>
            <a:xfrm>
              <a:off x="10058400" y="3200400"/>
              <a:ext cx="1771650" cy="266700"/>
            </a:xfrm>
            <a:prstGeom prst="chevron">
              <a:avLst/>
            </a:prstGeom>
            <a:solidFill>
              <a:srgbClr val="5D190B"/>
            </a:solidFill>
            <a:ln>
              <a:noFill/>
            </a:ln>
          </p:spPr>
        </p:sp>
        <p:sp>
          <p:nvSpPr>
            <p:cNvPr id="132" name="TextBox 132"/>
            <p:cNvSpPr txBox="1"/>
            <p:nvPr/>
          </p:nvSpPr>
          <p:spPr>
            <a:xfrm>
              <a:off x="10378468" y="3294936"/>
              <a:ext cx="118866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D22-D30 复购与转介绍​​​</a:t>
              </a:r>
            </a:p>
          </p:txBody>
        </p:sp>
        <p:sp>
          <p:nvSpPr>
            <p:cNvPr id="133" name="TextBox 133"/>
            <p:cNvSpPr txBox="1"/>
            <p:nvPr/>
          </p:nvSpPr>
          <p:spPr>
            <a:xfrm>
              <a:off x="10129838" y="3573780"/>
              <a:ext cx="836295" cy="328612"/>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600" dirty="0">
                  <a:solidFill>
                    <a:srgbClr val="514340"/>
                  </a:solidFill>
                  <a:latin typeface="+mn-lt"/>
                  <a:ea typeface="+mn-ea"/>
                  <a:cs typeface="+mn-cs"/>
                </a:rPr>
                <a:t>持续内容触达​</a:t>
              </a:r>
            </a:p>
            <a:p>
              <a:pPr algn="l" marL="76200" indent="-76200">
                <a:lnSpc>
                  <a:spcPts val="825"/>
                </a:lnSpc>
                <a:buClr>
                  <a:srgbClr val="514340"/>
                </a:buClr>
                <a:buSzTx/>
                <a:buFontTx/>
                <a:buChar char="•"/>
              </a:pPr>
              <a:r>
                <a:rPr lang="zh-CN" sz="600" dirty="0">
                  <a:solidFill>
                    <a:srgbClr val="514340"/>
                  </a:solidFill>
                  <a:latin typeface="+mn-lt"/>
                  <a:ea typeface="+mn-ea"/>
                  <a:cs typeface="+mn-cs"/>
                </a:rPr>
                <a:t>推荐新产品 / 权益​​</a:t>
              </a:r>
            </a:p>
            <a:p>
              <a:pPr algn="l" marL="76200" indent="-76200">
                <a:lnSpc>
                  <a:spcPts val="825"/>
                </a:lnSpc>
                <a:buClr>
                  <a:srgbClr val="514340"/>
                </a:buClr>
                <a:buSzTx/>
                <a:buFontTx/>
                <a:buChar char="•"/>
              </a:pPr>
              <a:r>
                <a:rPr lang="zh-CN" sz="600" dirty="0">
                  <a:solidFill>
                    <a:srgbClr val="514340"/>
                  </a:solidFill>
                  <a:latin typeface="+mn-lt"/>
                  <a:ea typeface="+mn-ea"/>
                  <a:cs typeface="+mn-cs"/>
                </a:rPr>
                <a:t>引导转介绍 分享有礼​</a:t>
              </a:r>
            </a:p>
          </p:txBody>
        </p:sp>
        <p:sp>
          <p:nvSpPr>
            <p:cNvPr id="134" name="Rectangle 134"/>
            <p:cNvSpPr/>
            <p:nvPr/>
          </p:nvSpPr>
          <p:spPr>
            <a:xfrm>
              <a:off x="10134600" y="4038600"/>
              <a:ext cx="1676400" cy="190500"/>
            </a:xfrm>
            <a:prstGeom prst="roundRect">
              <a:avLst>
                <a:gd name="adj" fmla="val 20000"/>
              </a:avLst>
            </a:prstGeom>
            <a:solidFill>
              <a:srgbClr val="E4F3F0"/>
            </a:solidFill>
            <a:ln>
              <a:noFill/>
            </a:ln>
          </p:spPr>
        </p:sp>
        <p:sp>
          <p:nvSpPr>
            <p:cNvPr id="135" name="TextBox 135"/>
            <p:cNvSpPr txBox="1"/>
            <p:nvPr/>
          </p:nvSpPr>
          <p:spPr>
            <a:xfrm>
              <a:off x="10206038" y="4111228"/>
              <a:ext cx="1257183" cy="111919"/>
            </a:xfrm>
            <a:prstGeom prst="rect">
              <a:avLst/>
            </a:prstGeom>
            <a:noFill/>
            <a:ln>
              <a:noFill/>
            </a:ln>
          </p:spPr>
          <p:txBody>
            <a:bodyPr wrap="none" lIns="0" tIns="0" rIns="0" bIns="0" anchor="t" anchorCtr="0">
              <a:spAutoFit/>
            </a:bodyPr>
            <a:lstStyle/>
            <a:p>
              <a:pPr algn="l"/>
              <a:r>
                <a:rPr lang="zh-CN" sz="560" b="1" dirty="0">
                  <a:solidFill>
                    <a:srgbClr val="5D190B"/>
                  </a:solidFill>
                  <a:latin typeface="+mn-lt"/>
                  <a:ea typeface="+mn-ea"/>
                  <a:cs typeface="+mn-cs"/>
                </a:rPr>
                <a:t>关键目标</a:t>
              </a:r>
              <a:r>
                <a:rPr lang="zh-CN" sz="560" dirty="0">
                  <a:solidFill>
                    <a:srgbClr val="5D190B"/>
                  </a:solidFill>
                  <a:latin typeface="+mn-lt"/>
                  <a:ea typeface="+mn-ea"/>
                  <a:cs typeface="+mn-cs"/>
                </a:rPr>
                <a:t xml:space="preserve"> 提升复购率 · 获得转介绍​​</a:t>
              </a:r>
            </a:p>
          </p:txBody>
        </p:sp>
      </p:grpSp>
      <p:grpSp>
        <p:nvGrpSpPr>
          <p:cNvPr id="203" name="trigger-table"/>
          <p:cNvGrpSpPr/>
          <p:nvPr/>
        </p:nvGrpSpPr>
        <p:grpSpPr>
          <a:xfrm>
            <a:off x="338138" y="4432697"/>
            <a:ext cx="5338762" cy="2101453"/>
            <a:chOff x="338138" y="4432697"/>
            <a:chExt cx="5338762" cy="2101453"/>
          </a:xfrm>
        </p:grpSpPr>
        <p:sp>
          <p:nvSpPr>
            <p:cNvPr id="137" name="TextBox 137"/>
            <p:cNvSpPr txBox="1"/>
            <p:nvPr/>
          </p:nvSpPr>
          <p:spPr>
            <a:xfrm>
              <a:off x="338138" y="4432697"/>
              <a:ext cx="14014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关键事件触发自动化运营</a:t>
              </a:r>
            </a:p>
          </p:txBody>
        </p:sp>
        <p:sp>
          <p:nvSpPr>
            <p:cNvPr id="138" name="Rectangle 138"/>
            <p:cNvSpPr/>
            <p:nvPr/>
          </p:nvSpPr>
          <p:spPr>
            <a:xfrm>
              <a:off x="342900" y="4610100"/>
              <a:ext cx="5334000" cy="209550"/>
            </a:xfrm>
            <a:prstGeom prst="rect">
              <a:avLst/>
            </a:prstGeom>
            <a:solidFill>
              <a:srgbClr val="5D190B"/>
            </a:solidFill>
            <a:ln>
              <a:noFill/>
            </a:ln>
          </p:spPr>
        </p:sp>
        <p:sp>
          <p:nvSpPr>
            <p:cNvPr id="139" name="TextBox 139"/>
            <p:cNvSpPr txBox="1"/>
            <p:nvPr/>
          </p:nvSpPr>
          <p:spPr>
            <a:xfrm>
              <a:off x="508724" y="46841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触发事件</a:t>
              </a:r>
            </a:p>
          </p:txBody>
        </p:sp>
        <p:sp>
          <p:nvSpPr>
            <p:cNvPr id="140" name="TextBox 140"/>
            <p:cNvSpPr txBox="1"/>
            <p:nvPr/>
          </p:nvSpPr>
          <p:spPr>
            <a:xfrm>
              <a:off x="1480274" y="46841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识别条件</a:t>
              </a:r>
            </a:p>
          </p:txBody>
        </p:sp>
        <p:sp>
          <p:nvSpPr>
            <p:cNvPr id="141" name="TextBox 141"/>
            <p:cNvSpPr txBox="1"/>
            <p:nvPr/>
          </p:nvSpPr>
          <p:spPr>
            <a:xfrm>
              <a:off x="2870924" y="46841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触发动作</a:t>
              </a:r>
            </a:p>
          </p:txBody>
        </p:sp>
        <p:sp>
          <p:nvSpPr>
            <p:cNvPr id="142" name="TextBox 142"/>
            <p:cNvSpPr txBox="1"/>
            <p:nvPr/>
          </p:nvSpPr>
          <p:spPr>
            <a:xfrm>
              <a:off x="4071074" y="46841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触达渠道</a:t>
              </a:r>
            </a:p>
          </p:txBody>
        </p:sp>
        <p:sp>
          <p:nvSpPr>
            <p:cNvPr id="143" name="TextBox 143"/>
            <p:cNvSpPr txBox="1"/>
            <p:nvPr/>
          </p:nvSpPr>
          <p:spPr>
            <a:xfrm>
              <a:off x="4928324" y="46841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内容重点</a:t>
              </a:r>
            </a:p>
          </p:txBody>
        </p:sp>
        <p:grpSp>
          <p:nvGrpSpPr>
            <p:cNvPr id="202" name="trigger-rows"/>
            <p:cNvGrpSpPr/>
            <p:nvPr/>
          </p:nvGrpSpPr>
          <p:grpSpPr>
            <a:xfrm>
              <a:off x="342900" y="4819650"/>
              <a:ext cx="5334000" cy="1714500"/>
              <a:chOff x="342900" y="4819650"/>
              <a:chExt cx="5334000" cy="1714500"/>
            </a:xfrm>
          </p:grpSpPr>
          <p:sp>
            <p:nvSpPr>
              <p:cNvPr id="144" name="Rectangle 144"/>
              <p:cNvSpPr/>
              <p:nvPr/>
            </p:nvSpPr>
            <p:spPr>
              <a:xfrm>
                <a:off x="342900" y="4819650"/>
                <a:ext cx="5334000" cy="285750"/>
              </a:xfrm>
              <a:prstGeom prst="rect">
                <a:avLst/>
              </a:prstGeom>
              <a:solidFill>
                <a:srgbClr val="FFFFFF"/>
              </a:solidFill>
              <a:ln w="9525">
                <a:solidFill>
                  <a:srgbClr val="E2EEEB"/>
                </a:solidFill>
              </a:ln>
            </p:spPr>
          </p:sp>
          <p:grpSp>
            <p:nvGrpSpPr>
              <p:cNvPr id="149" name="Group 149"/>
              <p:cNvGrpSpPr/>
              <p:nvPr/>
            </p:nvGrpSpPr>
            <p:grpSpPr>
              <a:xfrm>
                <a:off x="414338" y="4919662"/>
                <a:ext cx="85725" cy="66675"/>
                <a:chOff x="414338" y="4919662"/>
                <a:chExt cx="85725" cy="66675"/>
              </a:xfrm>
            </p:grpSpPr>
            <p:sp>
              <p:nvSpPr>
                <p:cNvPr id="145" name="Freeform 145"/>
                <p:cNvSpPr/>
                <p:nvPr/>
              </p:nvSpPr>
              <p:spPr>
                <a:xfrm>
                  <a:off x="414338" y="4919662"/>
                  <a:ext cx="85725" cy="66675"/>
                </a:xfrm>
                <a:custGeom>
                  <a:avLst/>
                  <a:gdLst/>
                  <a:ahLst/>
                  <a:cxnLst/>
                  <a:rect l="l" t="t" r="r" b="b"/>
                  <a:pathLst>
                    <a:path w="85725" h="66675">
                      <a:moveTo>
                        <a:pt x="0" y="14288"/>
                      </a:moveTo>
                      <a:cubicBezTo>
                        <a:pt x="0" y="6397"/>
                        <a:pt x="6397" y="0"/>
                        <a:pt x="14288" y="0"/>
                      </a:cubicBezTo>
                      <a:lnTo>
                        <a:pt x="71438" y="0"/>
                      </a:lnTo>
                      <a:cubicBezTo>
                        <a:pt x="79328" y="0"/>
                        <a:pt x="85725" y="6397"/>
                        <a:pt x="85725" y="14288"/>
                      </a:cubicBezTo>
                      <a:lnTo>
                        <a:pt x="85725" y="52388"/>
                      </a:lnTo>
                      <a:cubicBezTo>
                        <a:pt x="85725" y="60278"/>
                        <a:pt x="79328" y="66675"/>
                        <a:pt x="71438" y="66675"/>
                      </a:cubicBezTo>
                      <a:lnTo>
                        <a:pt x="14288" y="66675"/>
                      </a:lnTo>
                      <a:cubicBezTo>
                        <a:pt x="6397" y="66675"/>
                        <a:pt x="0" y="60278"/>
                        <a:pt x="0" y="52388"/>
                      </a:cubicBezTo>
                      <a:lnTo>
                        <a:pt x="0" y="14288"/>
                      </a:lnTo>
                    </a:path>
                  </a:pathLst>
                </a:custGeom>
                <a:noFill/>
                <a:ln w="9525">
                  <a:solidFill>
                    <a:srgbClr val="76200F"/>
                  </a:solidFill>
                </a:ln>
              </p:spPr>
            </p:sp>
            <p:sp>
              <p:nvSpPr>
                <p:cNvPr id="146" name="Freeform 146"/>
                <p:cNvSpPr/>
                <p:nvPr/>
              </p:nvSpPr>
              <p:spPr>
                <a:xfrm>
                  <a:off x="414338" y="4943475"/>
                  <a:ext cx="85725" cy="9525"/>
                </a:xfrm>
                <a:custGeom>
                  <a:avLst/>
                  <a:gdLst/>
                  <a:ahLst/>
                  <a:cxnLst/>
                  <a:rect l="l" t="t" r="r" b="b"/>
                  <a:pathLst>
                    <a:path w="85725" h="9525">
                      <a:moveTo>
                        <a:pt x="0" y="0"/>
                      </a:moveTo>
                      <a:lnTo>
                        <a:pt x="85725" y="0"/>
                      </a:lnTo>
                    </a:path>
                  </a:pathLst>
                </a:custGeom>
                <a:noFill/>
                <a:ln w="9525">
                  <a:solidFill>
                    <a:srgbClr val="76200F"/>
                  </a:solidFill>
                </a:ln>
              </p:spPr>
            </p:sp>
            <p:sp>
              <p:nvSpPr>
                <p:cNvPr id="147" name="Freeform 147"/>
                <p:cNvSpPr/>
                <p:nvPr/>
              </p:nvSpPr>
              <p:spPr>
                <a:xfrm>
                  <a:off x="433388" y="4967288"/>
                  <a:ext cx="9525" cy="9525"/>
                </a:xfrm>
                <a:custGeom>
                  <a:avLst/>
                  <a:gdLst/>
                  <a:ahLst/>
                  <a:cxnLst/>
                  <a:rect l="l" t="t" r="r" b="b"/>
                  <a:pathLst>
                    <a:path w="9525" h="9525">
                      <a:moveTo>
                        <a:pt x="0" y="0"/>
                      </a:moveTo>
                      <a:lnTo>
                        <a:pt x="48" y="0"/>
                      </a:lnTo>
                    </a:path>
                  </a:pathLst>
                </a:custGeom>
                <a:noFill/>
                <a:ln w="9525">
                  <a:solidFill>
                    <a:srgbClr val="76200F"/>
                  </a:solidFill>
                </a:ln>
              </p:spPr>
            </p:sp>
            <p:sp>
              <p:nvSpPr>
                <p:cNvPr id="148" name="Freeform 148"/>
                <p:cNvSpPr/>
                <p:nvPr/>
              </p:nvSpPr>
              <p:spPr>
                <a:xfrm>
                  <a:off x="452438" y="4967288"/>
                  <a:ext cx="9525" cy="9525"/>
                </a:xfrm>
                <a:custGeom>
                  <a:avLst/>
                  <a:gdLst/>
                  <a:ahLst/>
                  <a:cxnLst/>
                  <a:rect l="l" t="t" r="r" b="b"/>
                  <a:pathLst>
                    <a:path w="9525" h="9525">
                      <a:moveTo>
                        <a:pt x="0" y="0"/>
                      </a:moveTo>
                      <a:lnTo>
                        <a:pt x="9525" y="0"/>
                      </a:lnTo>
                    </a:path>
                  </a:pathLst>
                </a:custGeom>
                <a:noFill/>
                <a:ln w="9525">
                  <a:solidFill>
                    <a:srgbClr val="76200F"/>
                  </a:solidFill>
                </a:ln>
              </p:spPr>
            </p:sp>
          </p:grpSp>
          <p:sp>
            <p:nvSpPr>
              <p:cNvPr id="150" name="TextBox 150"/>
              <p:cNvSpPr txBox="1"/>
              <p:nvPr/>
            </p:nvSpPr>
            <p:spPr>
              <a:xfrm>
                <a:off x="597980" y="4935855"/>
                <a:ext cx="251841"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未绑卡</a:t>
                </a:r>
              </a:p>
            </p:txBody>
          </p:sp>
          <p:sp>
            <p:nvSpPr>
              <p:cNvPr id="151" name="TextBox 151"/>
              <p:cNvSpPr txBox="1"/>
              <p:nvPr/>
            </p:nvSpPr>
            <p:spPr>
              <a:xfrm>
                <a:off x="1288844" y="4939903"/>
                <a:ext cx="737011"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活动后24小时未绑卡​</a:t>
                </a:r>
              </a:p>
            </p:txBody>
          </p:sp>
          <p:sp>
            <p:nvSpPr>
              <p:cNvPr id="152" name="TextBox 152"/>
              <p:cNvSpPr txBox="1"/>
              <p:nvPr/>
            </p:nvSpPr>
            <p:spPr>
              <a:xfrm>
                <a:off x="2602222" y="4939903"/>
                <a:ext cx="891555"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发送绑卡指引 + 权益提醒​</a:t>
                </a:r>
              </a:p>
            </p:txBody>
          </p:sp>
          <p:sp>
            <p:nvSpPr>
              <p:cNvPr id="153" name="TextBox 153"/>
              <p:cNvSpPr txBox="1"/>
              <p:nvPr/>
            </p:nvSpPr>
            <p:spPr>
              <a:xfrm>
                <a:off x="3968473" y="4939903"/>
                <a:ext cx="559354"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短信、APP推送​</a:t>
                </a:r>
              </a:p>
            </p:txBody>
          </p:sp>
          <p:sp>
            <p:nvSpPr>
              <p:cNvPr id="154" name="TextBox 154"/>
              <p:cNvSpPr txBox="1"/>
              <p:nvPr/>
            </p:nvSpPr>
            <p:spPr>
              <a:xfrm>
                <a:off x="4761395" y="4939903"/>
                <a:ext cx="688010"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操作指引、权益亮点</a:t>
                </a:r>
              </a:p>
            </p:txBody>
          </p:sp>
          <p:sp>
            <p:nvSpPr>
              <p:cNvPr id="155" name="Rectangle 155"/>
              <p:cNvSpPr/>
              <p:nvPr/>
            </p:nvSpPr>
            <p:spPr>
              <a:xfrm>
                <a:off x="342900" y="5105400"/>
                <a:ext cx="5334000" cy="285750"/>
              </a:xfrm>
              <a:prstGeom prst="rect">
                <a:avLst/>
              </a:prstGeom>
              <a:solidFill>
                <a:srgbClr val="EFF8F6"/>
              </a:solidFill>
              <a:ln w="9525">
                <a:solidFill>
                  <a:srgbClr val="E2EEEB"/>
                </a:solidFill>
              </a:ln>
            </p:spPr>
          </p:sp>
          <p:grpSp>
            <p:nvGrpSpPr>
              <p:cNvPr id="159" name="Group 159"/>
              <p:cNvGrpSpPr/>
              <p:nvPr/>
            </p:nvGrpSpPr>
            <p:grpSpPr>
              <a:xfrm>
                <a:off x="414338" y="5205412"/>
                <a:ext cx="85725" cy="66675"/>
                <a:chOff x="414338" y="5205412"/>
                <a:chExt cx="85725" cy="66675"/>
              </a:xfrm>
            </p:grpSpPr>
            <p:sp>
              <p:nvSpPr>
                <p:cNvPr id="156" name="Freeform 156"/>
                <p:cNvSpPr/>
                <p:nvPr/>
              </p:nvSpPr>
              <p:spPr>
                <a:xfrm>
                  <a:off x="414338" y="5205412"/>
                  <a:ext cx="66675" cy="47625"/>
                </a:xfrm>
                <a:custGeom>
                  <a:avLst/>
                  <a:gdLst/>
                  <a:ahLst/>
                  <a:cxnLst/>
                  <a:rect l="l" t="t" r="r" b="b"/>
                  <a:pathLst>
                    <a:path w="66675" h="47625">
                      <a:moveTo>
                        <a:pt x="19050" y="47625"/>
                      </a:moveTo>
                      <a:lnTo>
                        <a:pt x="4762" y="47625"/>
                      </a:lnTo>
                      <a:cubicBezTo>
                        <a:pt x="2132" y="47625"/>
                        <a:pt x="0" y="45493"/>
                        <a:pt x="0" y="42862"/>
                      </a:cubicBezTo>
                      <a:lnTo>
                        <a:pt x="0" y="4762"/>
                      </a:lnTo>
                      <a:cubicBezTo>
                        <a:pt x="0" y="2132"/>
                        <a:pt x="2132" y="0"/>
                        <a:pt x="4762" y="0"/>
                      </a:cubicBezTo>
                      <a:lnTo>
                        <a:pt x="61912" y="0"/>
                      </a:lnTo>
                      <a:cubicBezTo>
                        <a:pt x="64543" y="0"/>
                        <a:pt x="66675" y="2132"/>
                        <a:pt x="66675" y="4762"/>
                      </a:cubicBezTo>
                      <a:lnTo>
                        <a:pt x="66675" y="19050"/>
                      </a:lnTo>
                    </a:path>
                  </a:pathLst>
                </a:custGeom>
                <a:noFill/>
                <a:ln w="9525">
                  <a:solidFill>
                    <a:srgbClr val="76200F"/>
                  </a:solidFill>
                </a:ln>
              </p:spPr>
            </p:sp>
            <p:sp>
              <p:nvSpPr>
                <p:cNvPr id="157" name="Freeform 157"/>
                <p:cNvSpPr/>
                <p:nvPr/>
              </p:nvSpPr>
              <p:spPr>
                <a:xfrm>
                  <a:off x="433388" y="5224462"/>
                  <a:ext cx="66675" cy="47625"/>
                </a:xfrm>
                <a:custGeom>
                  <a:avLst/>
                  <a:gdLst/>
                  <a:ahLst/>
                  <a:cxnLst/>
                  <a:rect l="l" t="t" r="r" b="b"/>
                  <a:pathLst>
                    <a:path w="66675" h="47625">
                      <a:moveTo>
                        <a:pt x="0" y="4762"/>
                      </a:moveTo>
                      <a:cubicBezTo>
                        <a:pt x="0" y="2132"/>
                        <a:pt x="2132" y="0"/>
                        <a:pt x="4762" y="0"/>
                      </a:cubicBezTo>
                      <a:lnTo>
                        <a:pt x="61912" y="0"/>
                      </a:lnTo>
                      <a:cubicBezTo>
                        <a:pt x="64543" y="0"/>
                        <a:pt x="66675" y="2132"/>
                        <a:pt x="66675" y="4762"/>
                      </a:cubicBezTo>
                      <a:lnTo>
                        <a:pt x="66675" y="42862"/>
                      </a:lnTo>
                      <a:cubicBezTo>
                        <a:pt x="66675" y="45493"/>
                        <a:pt x="64543" y="47625"/>
                        <a:pt x="61912" y="47625"/>
                      </a:cubicBezTo>
                      <a:lnTo>
                        <a:pt x="4762" y="47625"/>
                      </a:lnTo>
                      <a:cubicBezTo>
                        <a:pt x="2132" y="47625"/>
                        <a:pt x="0" y="45493"/>
                        <a:pt x="0" y="42862"/>
                      </a:cubicBezTo>
                      <a:lnTo>
                        <a:pt x="0" y="4762"/>
                      </a:lnTo>
                    </a:path>
                  </a:pathLst>
                </a:custGeom>
                <a:noFill/>
                <a:ln w="9525">
                  <a:solidFill>
                    <a:srgbClr val="76200F"/>
                  </a:solidFill>
                </a:ln>
              </p:spPr>
            </p:sp>
            <p:sp>
              <p:nvSpPr>
                <p:cNvPr id="158" name="Freeform 158"/>
                <p:cNvSpPr/>
                <p:nvPr/>
              </p:nvSpPr>
              <p:spPr>
                <a:xfrm>
                  <a:off x="457200" y="523875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76200F"/>
                  </a:solidFill>
                </a:ln>
              </p:spPr>
            </p:sp>
          </p:grpSp>
          <p:sp>
            <p:nvSpPr>
              <p:cNvPr id="160" name="TextBox 160"/>
              <p:cNvSpPr txBox="1"/>
              <p:nvPr/>
            </p:nvSpPr>
            <p:spPr>
              <a:xfrm>
                <a:off x="597980" y="5221605"/>
                <a:ext cx="251841"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未首刷</a:t>
                </a:r>
              </a:p>
            </p:txBody>
          </p:sp>
          <p:sp>
            <p:nvSpPr>
              <p:cNvPr id="161" name="TextBox 161"/>
              <p:cNvSpPr txBox="1"/>
              <p:nvPr/>
            </p:nvSpPr>
            <p:spPr>
              <a:xfrm>
                <a:off x="1234189" y="5225653"/>
                <a:ext cx="846323"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绑定后7天内未首笔交易​</a:t>
                </a:r>
              </a:p>
            </p:txBody>
          </p:sp>
          <p:sp>
            <p:nvSpPr>
              <p:cNvPr id="162" name="TextBox 162"/>
              <p:cNvSpPr txBox="1"/>
              <p:nvPr/>
            </p:nvSpPr>
            <p:spPr>
              <a:xfrm>
                <a:off x="2666302" y="5225653"/>
                <a:ext cx="763397"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推送首刷礼、场景推荐</a:t>
                </a:r>
              </a:p>
            </p:txBody>
          </p:sp>
          <p:sp>
            <p:nvSpPr>
              <p:cNvPr id="163" name="TextBox 163"/>
              <p:cNvSpPr txBox="1"/>
              <p:nvPr/>
            </p:nvSpPr>
            <p:spPr>
              <a:xfrm>
                <a:off x="4017226" y="5225653"/>
                <a:ext cx="461848"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短信、公众号</a:t>
                </a:r>
              </a:p>
            </p:txBody>
          </p:sp>
          <p:sp>
            <p:nvSpPr>
              <p:cNvPr id="164" name="TextBox 164"/>
              <p:cNvSpPr txBox="1"/>
              <p:nvPr/>
            </p:nvSpPr>
            <p:spPr>
              <a:xfrm>
                <a:off x="4761395" y="5225653"/>
                <a:ext cx="688010"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优惠激励、使用场景</a:t>
                </a:r>
              </a:p>
            </p:txBody>
          </p:sp>
          <p:sp>
            <p:nvSpPr>
              <p:cNvPr id="165" name="Rectangle 165"/>
              <p:cNvSpPr/>
              <p:nvPr/>
            </p:nvSpPr>
            <p:spPr>
              <a:xfrm>
                <a:off x="342900" y="5391150"/>
                <a:ext cx="5334000" cy="285750"/>
              </a:xfrm>
              <a:prstGeom prst="rect">
                <a:avLst/>
              </a:prstGeom>
              <a:solidFill>
                <a:srgbClr val="FFFFFF"/>
              </a:solidFill>
              <a:ln w="9525">
                <a:solidFill>
                  <a:srgbClr val="E2EEEB"/>
                </a:solidFill>
              </a:ln>
            </p:spPr>
          </p:sp>
          <p:grpSp>
            <p:nvGrpSpPr>
              <p:cNvPr id="168" name="Group 168"/>
              <p:cNvGrpSpPr/>
              <p:nvPr/>
            </p:nvGrpSpPr>
            <p:grpSpPr>
              <a:xfrm>
                <a:off x="414338" y="5481638"/>
                <a:ext cx="85725" cy="85725"/>
                <a:chOff x="414338" y="5481638"/>
                <a:chExt cx="85725" cy="85725"/>
              </a:xfrm>
            </p:grpSpPr>
            <p:sp>
              <p:nvSpPr>
                <p:cNvPr id="166" name="Freeform 166"/>
                <p:cNvSpPr/>
                <p:nvPr/>
              </p:nvSpPr>
              <p:spPr>
                <a:xfrm>
                  <a:off x="414338" y="5481638"/>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76200F"/>
                  </a:solidFill>
                </a:ln>
              </p:spPr>
            </p:sp>
            <p:sp>
              <p:nvSpPr>
                <p:cNvPr id="167" name="Freeform 167"/>
                <p:cNvSpPr/>
                <p:nvPr/>
              </p:nvSpPr>
              <p:spPr>
                <a:xfrm>
                  <a:off x="457200" y="5500688"/>
                  <a:ext cx="14288" cy="38100"/>
                </a:xfrm>
                <a:custGeom>
                  <a:avLst/>
                  <a:gdLst/>
                  <a:ahLst/>
                  <a:cxnLst/>
                  <a:rect l="l" t="t" r="r" b="b"/>
                  <a:pathLst>
                    <a:path w="14288" h="38100">
                      <a:moveTo>
                        <a:pt x="0" y="0"/>
                      </a:moveTo>
                      <a:lnTo>
                        <a:pt x="0" y="23812"/>
                      </a:lnTo>
                      <a:lnTo>
                        <a:pt x="14288" y="38100"/>
                      </a:lnTo>
                    </a:path>
                  </a:pathLst>
                </a:custGeom>
                <a:noFill/>
                <a:ln w="9525">
                  <a:solidFill>
                    <a:srgbClr val="76200F"/>
                  </a:solidFill>
                </a:ln>
              </p:spPr>
            </p:sp>
          </p:grpSp>
          <p:sp>
            <p:nvSpPr>
              <p:cNvPr id="169" name="TextBox 169"/>
              <p:cNvSpPr txBox="1"/>
              <p:nvPr/>
            </p:nvSpPr>
            <p:spPr>
              <a:xfrm>
                <a:off x="517208" y="5507355"/>
                <a:ext cx="413385"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权益将过期</a:t>
                </a:r>
              </a:p>
            </p:txBody>
          </p:sp>
          <p:sp>
            <p:nvSpPr>
              <p:cNvPr id="170" name="TextBox 170"/>
              <p:cNvSpPr txBox="1"/>
              <p:nvPr/>
            </p:nvSpPr>
            <p:spPr>
              <a:xfrm>
                <a:off x="1384963" y="5511403"/>
                <a:ext cx="544774"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权益到期前3天​</a:t>
                </a:r>
              </a:p>
            </p:txBody>
          </p:sp>
          <p:sp>
            <p:nvSpPr>
              <p:cNvPr id="171" name="TextBox 171"/>
              <p:cNvSpPr txBox="1"/>
              <p:nvPr/>
            </p:nvSpPr>
            <p:spPr>
              <a:xfrm>
                <a:off x="2817076" y="5511403"/>
                <a:ext cx="461848"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发送到期提醒</a:t>
                </a:r>
              </a:p>
            </p:txBody>
          </p:sp>
          <p:sp>
            <p:nvSpPr>
              <p:cNvPr id="172" name="TextBox 172"/>
              <p:cNvSpPr txBox="1"/>
              <p:nvPr/>
            </p:nvSpPr>
            <p:spPr>
              <a:xfrm>
                <a:off x="3968473" y="5511403"/>
                <a:ext cx="559354"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短信、APP推送​</a:t>
                </a:r>
              </a:p>
            </p:txBody>
          </p:sp>
          <p:sp>
            <p:nvSpPr>
              <p:cNvPr id="173" name="TextBox 173"/>
              <p:cNvSpPr txBox="1"/>
              <p:nvPr/>
            </p:nvSpPr>
            <p:spPr>
              <a:xfrm>
                <a:off x="4761395" y="5511403"/>
                <a:ext cx="688010"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剩余权益、使用入口</a:t>
                </a:r>
              </a:p>
            </p:txBody>
          </p:sp>
          <p:sp>
            <p:nvSpPr>
              <p:cNvPr id="174" name="Rectangle 174"/>
              <p:cNvSpPr/>
              <p:nvPr/>
            </p:nvSpPr>
            <p:spPr>
              <a:xfrm>
                <a:off x="342900" y="5676900"/>
                <a:ext cx="5334000" cy="285750"/>
              </a:xfrm>
              <a:prstGeom prst="rect">
                <a:avLst/>
              </a:prstGeom>
              <a:solidFill>
                <a:srgbClr val="EFF8F6"/>
              </a:solidFill>
              <a:ln w="9525">
                <a:solidFill>
                  <a:srgbClr val="E2EEEB"/>
                </a:solidFill>
              </a:ln>
            </p:spPr>
          </p:sp>
          <p:grpSp>
            <p:nvGrpSpPr>
              <p:cNvPr id="177" name="Group 177"/>
              <p:cNvGrpSpPr/>
              <p:nvPr/>
            </p:nvGrpSpPr>
            <p:grpSpPr>
              <a:xfrm>
                <a:off x="419100" y="5781675"/>
                <a:ext cx="76200" cy="71438"/>
                <a:chOff x="419100" y="5781675"/>
                <a:chExt cx="76200" cy="71438"/>
              </a:xfrm>
            </p:grpSpPr>
            <p:sp>
              <p:nvSpPr>
                <p:cNvPr id="175" name="Freeform 175"/>
                <p:cNvSpPr/>
                <p:nvPr/>
              </p:nvSpPr>
              <p:spPr>
                <a:xfrm>
                  <a:off x="419100" y="5843588"/>
                  <a:ext cx="76200" cy="9525"/>
                </a:xfrm>
                <a:custGeom>
                  <a:avLst/>
                  <a:gdLst/>
                  <a:ahLst/>
                  <a:cxnLst/>
                  <a:rect l="l" t="t" r="r" b="b"/>
                  <a:pathLst>
                    <a:path w="76200" h="9525">
                      <a:moveTo>
                        <a:pt x="0" y="0"/>
                      </a:moveTo>
                      <a:lnTo>
                        <a:pt x="76200" y="0"/>
                      </a:lnTo>
                    </a:path>
                  </a:pathLst>
                </a:custGeom>
                <a:noFill/>
                <a:ln w="9525">
                  <a:solidFill>
                    <a:srgbClr val="76200F"/>
                  </a:solidFill>
                </a:ln>
              </p:spPr>
            </p:sp>
            <p:sp>
              <p:nvSpPr>
                <p:cNvPr id="176" name="Freeform 176"/>
                <p:cNvSpPr/>
                <p:nvPr/>
              </p:nvSpPr>
              <p:spPr>
                <a:xfrm>
                  <a:off x="419100" y="5781675"/>
                  <a:ext cx="76200" cy="42862"/>
                </a:xfrm>
                <a:custGeom>
                  <a:avLst/>
                  <a:gdLst/>
                  <a:ahLst/>
                  <a:cxnLst/>
                  <a:rect l="l" t="t" r="r" b="b"/>
                  <a:pathLst>
                    <a:path w="76200" h="42862">
                      <a:moveTo>
                        <a:pt x="0" y="42862"/>
                      </a:moveTo>
                      <a:lnTo>
                        <a:pt x="19050" y="14288"/>
                      </a:lnTo>
                      <a:lnTo>
                        <a:pt x="38100" y="23812"/>
                      </a:lnTo>
                      <a:lnTo>
                        <a:pt x="57150" y="0"/>
                      </a:lnTo>
                      <a:lnTo>
                        <a:pt x="76200" y="19050"/>
                      </a:lnTo>
                    </a:path>
                  </a:pathLst>
                </a:custGeom>
                <a:noFill/>
                <a:ln w="9525">
                  <a:solidFill>
                    <a:srgbClr val="76200F"/>
                  </a:solidFill>
                </a:ln>
              </p:spPr>
            </p:sp>
          </p:grpSp>
          <p:sp>
            <p:nvSpPr>
              <p:cNvPr id="178" name="TextBox 178"/>
              <p:cNvSpPr txBox="1"/>
              <p:nvPr/>
            </p:nvSpPr>
            <p:spPr>
              <a:xfrm>
                <a:off x="557594" y="5793105"/>
                <a:ext cx="332613"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到期理财</a:t>
                </a:r>
              </a:p>
            </p:txBody>
          </p:sp>
          <p:sp>
            <p:nvSpPr>
              <p:cNvPr id="179" name="TextBox 179"/>
              <p:cNvSpPr txBox="1"/>
              <p:nvPr/>
            </p:nvSpPr>
            <p:spPr>
              <a:xfrm>
                <a:off x="1207803" y="5797153"/>
                <a:ext cx="899094"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近期到期理财产品 ≥ 2支​​</a:t>
                </a:r>
              </a:p>
            </p:txBody>
          </p:sp>
          <p:sp>
            <p:nvSpPr>
              <p:cNvPr id="180" name="TextBox 180"/>
              <p:cNvSpPr txBox="1"/>
              <p:nvPr/>
            </p:nvSpPr>
            <p:spPr>
              <a:xfrm>
                <a:off x="2602222" y="5797153"/>
                <a:ext cx="891555"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推送产品推荐 + 顾问邀约​</a:t>
                </a:r>
              </a:p>
            </p:txBody>
          </p:sp>
          <p:sp>
            <p:nvSpPr>
              <p:cNvPr id="181" name="TextBox 181"/>
              <p:cNvSpPr txBox="1"/>
              <p:nvPr/>
            </p:nvSpPr>
            <p:spPr>
              <a:xfrm>
                <a:off x="3893086" y="5797153"/>
                <a:ext cx="710128"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APP推送、企业微信​</a:t>
                </a:r>
              </a:p>
            </p:txBody>
          </p:sp>
          <p:sp>
            <p:nvSpPr>
              <p:cNvPr id="182" name="TextBox 182"/>
              <p:cNvSpPr txBox="1"/>
              <p:nvPr/>
            </p:nvSpPr>
            <p:spPr>
              <a:xfrm>
                <a:off x="4736894" y="5797153"/>
                <a:ext cx="737011"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产品亮点、1对1咨询​</a:t>
                </a:r>
              </a:p>
            </p:txBody>
          </p:sp>
          <p:sp>
            <p:nvSpPr>
              <p:cNvPr id="183" name="Rectangle 183"/>
              <p:cNvSpPr/>
              <p:nvPr/>
            </p:nvSpPr>
            <p:spPr>
              <a:xfrm>
                <a:off x="342900" y="5962650"/>
                <a:ext cx="5334000" cy="285750"/>
              </a:xfrm>
              <a:prstGeom prst="rect">
                <a:avLst/>
              </a:prstGeom>
              <a:solidFill>
                <a:srgbClr val="FFFFFF"/>
              </a:solidFill>
              <a:ln w="9525">
                <a:solidFill>
                  <a:srgbClr val="E2EEEB"/>
                </a:solidFill>
              </a:ln>
            </p:spPr>
          </p:sp>
          <p:grpSp>
            <p:nvGrpSpPr>
              <p:cNvPr id="186" name="Group 186"/>
              <p:cNvGrpSpPr/>
              <p:nvPr/>
            </p:nvGrpSpPr>
            <p:grpSpPr>
              <a:xfrm>
                <a:off x="414338" y="6072188"/>
                <a:ext cx="85725" cy="47625"/>
                <a:chOff x="414338" y="6072188"/>
                <a:chExt cx="85725" cy="47625"/>
              </a:xfrm>
            </p:grpSpPr>
            <p:sp>
              <p:nvSpPr>
                <p:cNvPr id="184" name="Freeform 184"/>
                <p:cNvSpPr/>
                <p:nvPr/>
              </p:nvSpPr>
              <p:spPr>
                <a:xfrm>
                  <a:off x="414338" y="6072188"/>
                  <a:ext cx="85725" cy="47625"/>
                </a:xfrm>
                <a:custGeom>
                  <a:avLst/>
                  <a:gdLst/>
                  <a:ahLst/>
                  <a:cxnLst/>
                  <a:rect l="l" t="t" r="r" b="b"/>
                  <a:pathLst>
                    <a:path w="85725" h="47625">
                      <a:moveTo>
                        <a:pt x="0" y="47625"/>
                      </a:moveTo>
                      <a:lnTo>
                        <a:pt x="28575" y="19050"/>
                      </a:lnTo>
                      <a:lnTo>
                        <a:pt x="47625" y="38100"/>
                      </a:lnTo>
                      <a:lnTo>
                        <a:pt x="85725" y="0"/>
                      </a:lnTo>
                    </a:path>
                  </a:pathLst>
                </a:custGeom>
                <a:noFill/>
                <a:ln w="9525">
                  <a:solidFill>
                    <a:srgbClr val="76200F"/>
                  </a:solidFill>
                </a:ln>
              </p:spPr>
            </p:sp>
            <p:sp>
              <p:nvSpPr>
                <p:cNvPr id="185" name="Freeform 185"/>
                <p:cNvSpPr/>
                <p:nvPr/>
              </p:nvSpPr>
              <p:spPr>
                <a:xfrm>
                  <a:off x="466725" y="6072188"/>
                  <a:ext cx="33338" cy="33338"/>
                </a:xfrm>
                <a:custGeom>
                  <a:avLst/>
                  <a:gdLst/>
                  <a:ahLst/>
                  <a:cxnLst/>
                  <a:rect l="l" t="t" r="r" b="b"/>
                  <a:pathLst>
                    <a:path w="33338" h="33338">
                      <a:moveTo>
                        <a:pt x="0" y="0"/>
                      </a:moveTo>
                      <a:lnTo>
                        <a:pt x="33338" y="0"/>
                      </a:lnTo>
                      <a:lnTo>
                        <a:pt x="33338" y="33338"/>
                      </a:lnTo>
                    </a:path>
                  </a:pathLst>
                </a:custGeom>
                <a:noFill/>
                <a:ln w="9525">
                  <a:solidFill>
                    <a:srgbClr val="76200F"/>
                  </a:solidFill>
                </a:ln>
              </p:spPr>
            </p:sp>
          </p:grpSp>
          <p:sp>
            <p:nvSpPr>
              <p:cNvPr id="187" name="TextBox 187"/>
              <p:cNvSpPr txBox="1"/>
              <p:nvPr/>
            </p:nvSpPr>
            <p:spPr>
              <a:xfrm>
                <a:off x="557594" y="6078855"/>
                <a:ext cx="332613"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余额提升</a:t>
                </a:r>
              </a:p>
            </p:txBody>
          </p:sp>
          <p:sp>
            <p:nvSpPr>
              <p:cNvPr id="188" name="TextBox 188"/>
              <p:cNvSpPr txBox="1"/>
              <p:nvPr/>
            </p:nvSpPr>
            <p:spPr>
              <a:xfrm>
                <a:off x="1158801" y="6082903"/>
                <a:ext cx="997097"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账户余额较上月提升 ≥ 50%​​</a:t>
                </a:r>
              </a:p>
            </p:txBody>
          </p:sp>
          <p:sp>
            <p:nvSpPr>
              <p:cNvPr id="189" name="TextBox 189"/>
              <p:cNvSpPr txBox="1"/>
              <p:nvPr/>
            </p:nvSpPr>
            <p:spPr>
              <a:xfrm>
                <a:off x="2602222" y="6082903"/>
                <a:ext cx="891555"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发送逆升 + 产品配置建议​</a:t>
                </a:r>
              </a:p>
            </p:txBody>
          </p:sp>
          <p:sp>
            <p:nvSpPr>
              <p:cNvPr id="190" name="TextBox 190"/>
              <p:cNvSpPr txBox="1"/>
              <p:nvPr/>
            </p:nvSpPr>
            <p:spPr>
              <a:xfrm>
                <a:off x="3893086" y="6082903"/>
                <a:ext cx="710128"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APP推送、客户经理​</a:t>
                </a:r>
              </a:p>
            </p:txBody>
          </p:sp>
          <p:sp>
            <p:nvSpPr>
              <p:cNvPr id="191" name="TextBox 191"/>
              <p:cNvSpPr txBox="1"/>
              <p:nvPr/>
            </p:nvSpPr>
            <p:spPr>
              <a:xfrm>
                <a:off x="4686008" y="6082903"/>
                <a:ext cx="838784"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专属产品、资产配置建议</a:t>
                </a:r>
              </a:p>
            </p:txBody>
          </p:sp>
          <p:sp>
            <p:nvSpPr>
              <p:cNvPr id="192" name="Rectangle 192"/>
              <p:cNvSpPr/>
              <p:nvPr/>
            </p:nvSpPr>
            <p:spPr>
              <a:xfrm>
                <a:off x="342900" y="6248400"/>
                <a:ext cx="5334000" cy="285750"/>
              </a:xfrm>
              <a:prstGeom prst="rect">
                <a:avLst/>
              </a:prstGeom>
              <a:solidFill>
                <a:srgbClr val="EFF8F6"/>
              </a:solidFill>
              <a:ln w="9525">
                <a:solidFill>
                  <a:srgbClr val="E2EEEB"/>
                </a:solidFill>
              </a:ln>
            </p:spPr>
          </p:sp>
          <p:grpSp>
            <p:nvGrpSpPr>
              <p:cNvPr id="196" name="Group 196"/>
              <p:cNvGrpSpPr/>
              <p:nvPr/>
            </p:nvGrpSpPr>
            <p:grpSpPr>
              <a:xfrm>
                <a:off x="423862" y="6338888"/>
                <a:ext cx="66675" cy="85724"/>
                <a:chOff x="423862" y="6338888"/>
                <a:chExt cx="66675" cy="85724"/>
              </a:xfrm>
            </p:grpSpPr>
            <p:sp>
              <p:nvSpPr>
                <p:cNvPr id="193" name="Freeform 193"/>
                <p:cNvSpPr/>
                <p:nvPr/>
              </p:nvSpPr>
              <p:spPr>
                <a:xfrm>
                  <a:off x="423862" y="6367462"/>
                  <a:ext cx="66675" cy="57150"/>
                </a:xfrm>
                <a:custGeom>
                  <a:avLst/>
                  <a:gdLst/>
                  <a:ahLst/>
                  <a:cxnLst/>
                  <a:rect l="l" t="t" r="r" b="b"/>
                  <a:pathLst>
                    <a:path w="66675" h="57150">
                      <a:moveTo>
                        <a:pt x="14288" y="0"/>
                      </a:moveTo>
                      <a:lnTo>
                        <a:pt x="9525" y="0"/>
                      </a:lnTo>
                      <a:cubicBezTo>
                        <a:pt x="4264" y="0"/>
                        <a:pt x="0" y="4264"/>
                        <a:pt x="0" y="9525"/>
                      </a:cubicBezTo>
                      <a:lnTo>
                        <a:pt x="0" y="47625"/>
                      </a:lnTo>
                      <a:cubicBezTo>
                        <a:pt x="0" y="52886"/>
                        <a:pt x="4264" y="57150"/>
                        <a:pt x="9525" y="57150"/>
                      </a:cubicBezTo>
                      <a:lnTo>
                        <a:pt x="57150" y="57150"/>
                      </a:lnTo>
                      <a:cubicBezTo>
                        <a:pt x="62411" y="57150"/>
                        <a:pt x="66675" y="52886"/>
                        <a:pt x="66675" y="47625"/>
                      </a:cubicBezTo>
                      <a:lnTo>
                        <a:pt x="66675" y="9525"/>
                      </a:lnTo>
                      <a:cubicBezTo>
                        <a:pt x="66675" y="4264"/>
                        <a:pt x="62411" y="0"/>
                        <a:pt x="57150" y="0"/>
                      </a:cubicBezTo>
                      <a:lnTo>
                        <a:pt x="52388" y="0"/>
                      </a:lnTo>
                    </a:path>
                  </a:pathLst>
                </a:custGeom>
                <a:noFill/>
                <a:ln w="9525">
                  <a:solidFill>
                    <a:srgbClr val="76200F"/>
                  </a:solidFill>
                </a:ln>
              </p:spPr>
            </p:sp>
            <p:sp>
              <p:nvSpPr>
                <p:cNvPr id="194" name="Freeform 194"/>
                <p:cNvSpPr/>
                <p:nvPr/>
              </p:nvSpPr>
              <p:spPr>
                <a:xfrm>
                  <a:off x="457200" y="6338888"/>
                  <a:ext cx="9525" cy="52388"/>
                </a:xfrm>
                <a:custGeom>
                  <a:avLst/>
                  <a:gdLst/>
                  <a:ahLst/>
                  <a:cxnLst/>
                  <a:rect l="l" t="t" r="r" b="b"/>
                  <a:pathLst>
                    <a:path w="9525" h="52388">
                      <a:moveTo>
                        <a:pt x="0" y="52388"/>
                      </a:moveTo>
                      <a:lnTo>
                        <a:pt x="0" y="0"/>
                      </a:lnTo>
                    </a:path>
                  </a:pathLst>
                </a:custGeom>
                <a:noFill/>
                <a:ln w="9525">
                  <a:solidFill>
                    <a:srgbClr val="76200F"/>
                  </a:solidFill>
                </a:ln>
              </p:spPr>
            </p:sp>
            <p:sp>
              <p:nvSpPr>
                <p:cNvPr id="195" name="Freeform 195"/>
                <p:cNvSpPr/>
                <p:nvPr/>
              </p:nvSpPr>
              <p:spPr>
                <a:xfrm>
                  <a:off x="442912" y="6338888"/>
                  <a:ext cx="28575" cy="14288"/>
                </a:xfrm>
                <a:custGeom>
                  <a:avLst/>
                  <a:gdLst/>
                  <a:ahLst/>
                  <a:cxnLst/>
                  <a:rect l="l" t="t" r="r" b="b"/>
                  <a:pathLst>
                    <a:path w="28575" h="14288">
                      <a:moveTo>
                        <a:pt x="0" y="14288"/>
                      </a:moveTo>
                      <a:lnTo>
                        <a:pt x="14288" y="0"/>
                      </a:lnTo>
                      <a:lnTo>
                        <a:pt x="28575" y="14288"/>
                      </a:lnTo>
                    </a:path>
                  </a:pathLst>
                </a:custGeom>
                <a:noFill/>
                <a:ln w="9525">
                  <a:solidFill>
                    <a:srgbClr val="76200F"/>
                  </a:solidFill>
                </a:ln>
              </p:spPr>
            </p:sp>
          </p:grpSp>
          <p:sp>
            <p:nvSpPr>
              <p:cNvPr id="197" name="TextBox 197"/>
              <p:cNvSpPr txBox="1"/>
              <p:nvPr/>
            </p:nvSpPr>
            <p:spPr>
              <a:xfrm>
                <a:off x="557594" y="6364605"/>
                <a:ext cx="332613"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邀请成功</a:t>
                </a:r>
              </a:p>
            </p:txBody>
          </p:sp>
          <p:sp>
            <p:nvSpPr>
              <p:cNvPr id="198" name="TextBox 198"/>
              <p:cNvSpPr txBox="1"/>
              <p:nvPr/>
            </p:nvSpPr>
            <p:spPr>
              <a:xfrm>
                <a:off x="1309576" y="6368653"/>
                <a:ext cx="695549"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完成1次有效转介绍​</a:t>
                </a:r>
              </a:p>
            </p:txBody>
          </p:sp>
          <p:sp>
            <p:nvSpPr>
              <p:cNvPr id="199" name="TextBox 199"/>
              <p:cNvSpPr txBox="1"/>
              <p:nvPr/>
            </p:nvSpPr>
            <p:spPr>
              <a:xfrm>
                <a:off x="2677610" y="6368653"/>
                <a:ext cx="740781"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发放奖励 + 额外惊喜​</a:t>
                </a:r>
              </a:p>
            </p:txBody>
          </p:sp>
          <p:sp>
            <p:nvSpPr>
              <p:cNvPr id="200" name="TextBox 200"/>
              <p:cNvSpPr txBox="1"/>
              <p:nvPr/>
            </p:nvSpPr>
            <p:spPr>
              <a:xfrm>
                <a:off x="3968473" y="6368653"/>
                <a:ext cx="559354"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短信、APP推送​</a:t>
                </a:r>
              </a:p>
            </p:txBody>
          </p:sp>
          <p:sp>
            <p:nvSpPr>
              <p:cNvPr id="201" name="TextBox 201"/>
              <p:cNvSpPr txBox="1"/>
              <p:nvPr/>
            </p:nvSpPr>
            <p:spPr>
              <a:xfrm>
                <a:off x="4761395" y="6368653"/>
                <a:ext cx="688010"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感谢关注、奖励说明</a:t>
                </a:r>
              </a:p>
            </p:txBody>
          </p:sp>
        </p:grpSp>
      </p:grpSp>
      <p:grpSp>
        <p:nvGrpSpPr>
          <p:cNvPr id="257" name="frequency-table"/>
          <p:cNvGrpSpPr/>
          <p:nvPr/>
        </p:nvGrpSpPr>
        <p:grpSpPr>
          <a:xfrm>
            <a:off x="5748338" y="4432697"/>
            <a:ext cx="2862262" cy="2006203"/>
            <a:chOff x="5748338" y="4432697"/>
            <a:chExt cx="2862262" cy="2006203"/>
          </a:xfrm>
        </p:grpSpPr>
        <p:sp>
          <p:nvSpPr>
            <p:cNvPr id="204" name="TextBox 204"/>
            <p:cNvSpPr txBox="1"/>
            <p:nvPr/>
          </p:nvSpPr>
          <p:spPr>
            <a:xfrm>
              <a:off x="5748338" y="4432697"/>
              <a:ext cx="1401496"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触达频次上限（单客户）</a:t>
              </a:r>
            </a:p>
          </p:txBody>
        </p:sp>
        <p:sp>
          <p:nvSpPr>
            <p:cNvPr id="205" name="Rectangle 205"/>
            <p:cNvSpPr/>
            <p:nvPr/>
          </p:nvSpPr>
          <p:spPr>
            <a:xfrm>
              <a:off x="5753100" y="4610100"/>
              <a:ext cx="2857500" cy="209550"/>
            </a:xfrm>
            <a:prstGeom prst="rect">
              <a:avLst/>
            </a:prstGeom>
            <a:solidFill>
              <a:srgbClr val="5D190B"/>
            </a:solidFill>
            <a:ln>
              <a:noFill/>
            </a:ln>
          </p:spPr>
        </p:sp>
        <p:sp>
          <p:nvSpPr>
            <p:cNvPr id="206" name="TextBox 206"/>
            <p:cNvSpPr txBox="1"/>
            <p:nvPr/>
          </p:nvSpPr>
          <p:spPr>
            <a:xfrm>
              <a:off x="6043181" y="4684157"/>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渠道</a:t>
              </a:r>
            </a:p>
          </p:txBody>
        </p:sp>
        <p:sp>
          <p:nvSpPr>
            <p:cNvPr id="207" name="TextBox 207"/>
            <p:cNvSpPr txBox="1"/>
            <p:nvPr/>
          </p:nvSpPr>
          <p:spPr>
            <a:xfrm>
              <a:off x="6571602" y="4684157"/>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日上限</a:t>
              </a:r>
            </a:p>
          </p:txBody>
        </p:sp>
        <p:sp>
          <p:nvSpPr>
            <p:cNvPr id="208" name="TextBox 208"/>
            <p:cNvSpPr txBox="1"/>
            <p:nvPr/>
          </p:nvSpPr>
          <p:spPr>
            <a:xfrm>
              <a:off x="7047852" y="4684157"/>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周上限</a:t>
              </a:r>
            </a:p>
          </p:txBody>
        </p:sp>
        <p:sp>
          <p:nvSpPr>
            <p:cNvPr id="209" name="TextBox 209"/>
            <p:cNvSpPr txBox="1"/>
            <p:nvPr/>
          </p:nvSpPr>
          <p:spPr>
            <a:xfrm>
              <a:off x="7804874" y="46841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主要用途</a:t>
              </a:r>
            </a:p>
          </p:txBody>
        </p:sp>
        <p:grpSp>
          <p:nvGrpSpPr>
            <p:cNvPr id="256" name="freq-rows"/>
            <p:cNvGrpSpPr/>
            <p:nvPr/>
          </p:nvGrpSpPr>
          <p:grpSpPr>
            <a:xfrm>
              <a:off x="5753100" y="4819650"/>
              <a:ext cx="2857500" cy="1619250"/>
              <a:chOff x="5753100" y="4819650"/>
              <a:chExt cx="2857500" cy="1619250"/>
            </a:xfrm>
          </p:grpSpPr>
          <p:sp>
            <p:nvSpPr>
              <p:cNvPr id="210" name="Rectangle 210"/>
              <p:cNvSpPr/>
              <p:nvPr/>
            </p:nvSpPr>
            <p:spPr>
              <a:xfrm>
                <a:off x="5753100" y="4819650"/>
                <a:ext cx="2857500" cy="323850"/>
              </a:xfrm>
              <a:prstGeom prst="rect">
                <a:avLst/>
              </a:prstGeom>
              <a:solidFill>
                <a:srgbClr val="FFFFFF"/>
              </a:solidFill>
              <a:ln w="9525">
                <a:solidFill>
                  <a:srgbClr val="E2EEEB"/>
                </a:solidFill>
              </a:ln>
            </p:spPr>
          </p:sp>
          <p:sp>
            <p:nvSpPr>
              <p:cNvPr id="211" name="Freeform 211"/>
              <p:cNvSpPr/>
              <p:nvPr/>
            </p:nvSpPr>
            <p:spPr>
              <a:xfrm>
                <a:off x="5819661" y="4939784"/>
                <a:ext cx="95079" cy="84282"/>
              </a:xfrm>
              <a:custGeom>
                <a:avLst/>
                <a:gdLst/>
                <a:ahLst/>
                <a:cxnLst/>
                <a:rect l="l" t="t" r="r" b="b"/>
                <a:pathLst>
                  <a:path w="95079" h="84282">
                    <a:moveTo>
                      <a:pt x="4877" y="79891"/>
                    </a:moveTo>
                    <a:lnTo>
                      <a:pt x="11068" y="61317"/>
                    </a:lnTo>
                    <a:cubicBezTo>
                      <a:pt x="0" y="44948"/>
                      <a:pt x="4277" y="23827"/>
                      <a:pt x="21069" y="11911"/>
                    </a:cubicBezTo>
                    <a:cubicBezTo>
                      <a:pt x="37862" y="0"/>
                      <a:pt x="61979" y="976"/>
                      <a:pt x="77481" y="14197"/>
                    </a:cubicBezTo>
                    <a:cubicBezTo>
                      <a:pt x="92983" y="27422"/>
                      <a:pt x="95079" y="48801"/>
                      <a:pt x="82382" y="64208"/>
                    </a:cubicBezTo>
                    <a:cubicBezTo>
                      <a:pt x="69685" y="79615"/>
                      <a:pt x="46115" y="84282"/>
                      <a:pt x="27261" y="75128"/>
                    </a:cubicBezTo>
                    <a:lnTo>
                      <a:pt x="4877" y="79891"/>
                    </a:lnTo>
                  </a:path>
                </a:pathLst>
              </a:custGeom>
              <a:noFill/>
              <a:ln w="9525">
                <a:solidFill>
                  <a:srgbClr val="76200F"/>
                </a:solidFill>
              </a:ln>
            </p:spPr>
          </p:sp>
          <p:sp>
            <p:nvSpPr>
              <p:cNvPr id="212" name="TextBox 212"/>
              <p:cNvSpPr txBox="1"/>
              <p:nvPr/>
            </p:nvSpPr>
            <p:spPr>
              <a:xfrm>
                <a:off x="6086666" y="4954905"/>
                <a:ext cx="171069"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短信</a:t>
                </a:r>
              </a:p>
            </p:txBody>
          </p:sp>
          <p:sp>
            <p:nvSpPr>
              <p:cNvPr id="213" name="TextBox 213"/>
              <p:cNvSpPr txBox="1"/>
              <p:nvPr/>
            </p:nvSpPr>
            <p:spPr>
              <a:xfrm>
                <a:off x="6653451" y="495085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a:t>
                </a:r>
              </a:p>
            </p:txBody>
          </p:sp>
          <p:sp>
            <p:nvSpPr>
              <p:cNvPr id="214" name="TextBox 214"/>
              <p:cNvSpPr txBox="1"/>
              <p:nvPr/>
            </p:nvSpPr>
            <p:spPr>
              <a:xfrm>
                <a:off x="7129701" y="495085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3​</a:t>
                </a:r>
              </a:p>
            </p:txBody>
          </p:sp>
          <p:sp>
            <p:nvSpPr>
              <p:cNvPr id="215" name="TextBox 215"/>
              <p:cNvSpPr txBox="1"/>
              <p:nvPr/>
            </p:nvSpPr>
            <p:spPr>
              <a:xfrm>
                <a:off x="7637945" y="4958953"/>
                <a:ext cx="688010"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重要提醒、权益通知</a:t>
                </a:r>
              </a:p>
            </p:txBody>
          </p:sp>
          <p:sp>
            <p:nvSpPr>
              <p:cNvPr id="216" name="Rectangle 216"/>
              <p:cNvSpPr/>
              <p:nvPr/>
            </p:nvSpPr>
            <p:spPr>
              <a:xfrm>
                <a:off x="5753100" y="5143500"/>
                <a:ext cx="2857500" cy="323850"/>
              </a:xfrm>
              <a:prstGeom prst="rect">
                <a:avLst/>
              </a:prstGeom>
              <a:solidFill>
                <a:srgbClr val="EFF8F6"/>
              </a:solidFill>
              <a:ln w="9525">
                <a:solidFill>
                  <a:srgbClr val="E2EEEB"/>
                </a:solidFill>
              </a:ln>
            </p:spPr>
          </p:sp>
          <p:grpSp>
            <p:nvGrpSpPr>
              <p:cNvPr id="220" name="Group 220"/>
              <p:cNvGrpSpPr/>
              <p:nvPr/>
            </p:nvGrpSpPr>
            <p:grpSpPr>
              <a:xfrm>
                <a:off x="5838825" y="5262562"/>
                <a:ext cx="57150" cy="85725"/>
                <a:chOff x="5838825" y="5262562"/>
                <a:chExt cx="57150" cy="85725"/>
              </a:xfrm>
            </p:grpSpPr>
            <p:sp>
              <p:nvSpPr>
                <p:cNvPr id="217" name="Freeform 217"/>
                <p:cNvSpPr/>
                <p:nvPr/>
              </p:nvSpPr>
              <p:spPr>
                <a:xfrm>
                  <a:off x="5838825" y="5262562"/>
                  <a:ext cx="57150" cy="85725"/>
                </a:xfrm>
                <a:custGeom>
                  <a:avLst/>
                  <a:gdLst/>
                  <a:ahLst/>
                  <a:cxnLst/>
                  <a:rect l="l" t="t" r="r" b="b"/>
                  <a:pathLst>
                    <a:path w="57150" h="85725">
                      <a:moveTo>
                        <a:pt x="0" y="9525"/>
                      </a:moveTo>
                      <a:cubicBezTo>
                        <a:pt x="0" y="4264"/>
                        <a:pt x="4264" y="0"/>
                        <a:pt x="9525" y="0"/>
                      </a:cubicBezTo>
                      <a:lnTo>
                        <a:pt x="47625" y="0"/>
                      </a:lnTo>
                      <a:cubicBezTo>
                        <a:pt x="52886" y="0"/>
                        <a:pt x="57150" y="4264"/>
                        <a:pt x="57150" y="9525"/>
                      </a:cubicBezTo>
                      <a:lnTo>
                        <a:pt x="57150" y="76200"/>
                      </a:lnTo>
                      <a:cubicBezTo>
                        <a:pt x="57150" y="81461"/>
                        <a:pt x="52886" y="85725"/>
                        <a:pt x="47625" y="85725"/>
                      </a:cubicBezTo>
                      <a:lnTo>
                        <a:pt x="9525" y="85725"/>
                      </a:lnTo>
                      <a:cubicBezTo>
                        <a:pt x="4264" y="85725"/>
                        <a:pt x="0" y="81461"/>
                        <a:pt x="0" y="76200"/>
                      </a:cubicBezTo>
                      <a:lnTo>
                        <a:pt x="0" y="9525"/>
                      </a:lnTo>
                    </a:path>
                  </a:pathLst>
                </a:custGeom>
                <a:noFill/>
                <a:ln w="9525">
                  <a:solidFill>
                    <a:srgbClr val="76200F"/>
                  </a:solidFill>
                </a:ln>
              </p:spPr>
            </p:sp>
            <p:sp>
              <p:nvSpPr>
                <p:cNvPr id="218" name="Freeform 218"/>
                <p:cNvSpPr/>
                <p:nvPr/>
              </p:nvSpPr>
              <p:spPr>
                <a:xfrm>
                  <a:off x="5862638" y="5267325"/>
                  <a:ext cx="9525" cy="9525"/>
                </a:xfrm>
                <a:custGeom>
                  <a:avLst/>
                  <a:gdLst/>
                  <a:ahLst/>
                  <a:cxnLst/>
                  <a:rect l="l" t="t" r="r" b="b"/>
                  <a:pathLst>
                    <a:path w="9525" h="9525">
                      <a:moveTo>
                        <a:pt x="0" y="0"/>
                      </a:moveTo>
                      <a:lnTo>
                        <a:pt x="9525" y="0"/>
                      </a:lnTo>
                    </a:path>
                  </a:pathLst>
                </a:custGeom>
                <a:noFill/>
                <a:ln w="9525">
                  <a:solidFill>
                    <a:srgbClr val="76200F"/>
                  </a:solidFill>
                </a:ln>
              </p:spPr>
            </p:sp>
            <p:sp>
              <p:nvSpPr>
                <p:cNvPr id="219" name="Freeform 219"/>
                <p:cNvSpPr/>
                <p:nvPr/>
              </p:nvSpPr>
              <p:spPr>
                <a:xfrm>
                  <a:off x="5867400" y="5329238"/>
                  <a:ext cx="9525" cy="9525"/>
                </a:xfrm>
                <a:custGeom>
                  <a:avLst/>
                  <a:gdLst/>
                  <a:ahLst/>
                  <a:cxnLst/>
                  <a:rect l="l" t="t" r="r" b="b"/>
                  <a:pathLst>
                    <a:path w="9525" h="9525">
                      <a:moveTo>
                        <a:pt x="0" y="0"/>
                      </a:moveTo>
                      <a:lnTo>
                        <a:pt x="0" y="48"/>
                      </a:lnTo>
                    </a:path>
                  </a:pathLst>
                </a:custGeom>
                <a:noFill/>
                <a:ln w="9525">
                  <a:solidFill>
                    <a:srgbClr val="76200F"/>
                  </a:solidFill>
                </a:ln>
              </p:spPr>
            </p:sp>
          </p:grpSp>
          <p:sp>
            <p:nvSpPr>
              <p:cNvPr id="221" name="TextBox 221"/>
              <p:cNvSpPr txBox="1"/>
              <p:nvPr/>
            </p:nvSpPr>
            <p:spPr>
              <a:xfrm>
                <a:off x="5989413" y="5278755"/>
                <a:ext cx="365573"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APP推送​</a:t>
                </a:r>
              </a:p>
            </p:txBody>
          </p:sp>
          <p:sp>
            <p:nvSpPr>
              <p:cNvPr id="222" name="TextBox 222"/>
              <p:cNvSpPr txBox="1"/>
              <p:nvPr/>
            </p:nvSpPr>
            <p:spPr>
              <a:xfrm>
                <a:off x="6653451" y="527470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a:t>
                </a:r>
              </a:p>
            </p:txBody>
          </p:sp>
          <p:sp>
            <p:nvSpPr>
              <p:cNvPr id="223" name="TextBox 223"/>
              <p:cNvSpPr txBox="1"/>
              <p:nvPr/>
            </p:nvSpPr>
            <p:spPr>
              <a:xfrm>
                <a:off x="7129701" y="527470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7​</a:t>
                </a:r>
              </a:p>
            </p:txBody>
          </p:sp>
          <p:sp>
            <p:nvSpPr>
              <p:cNvPr id="224" name="TextBox 224"/>
              <p:cNvSpPr txBox="1"/>
              <p:nvPr/>
            </p:nvSpPr>
            <p:spPr>
              <a:xfrm>
                <a:off x="7637945" y="5282803"/>
                <a:ext cx="688010"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活动消息、内容推荐</a:t>
                </a:r>
              </a:p>
            </p:txBody>
          </p:sp>
          <p:sp>
            <p:nvSpPr>
              <p:cNvPr id="225" name="Rectangle 225"/>
              <p:cNvSpPr/>
              <p:nvPr/>
            </p:nvSpPr>
            <p:spPr>
              <a:xfrm>
                <a:off x="5753100" y="5467350"/>
                <a:ext cx="2857500" cy="323850"/>
              </a:xfrm>
              <a:prstGeom prst="rect">
                <a:avLst/>
              </a:prstGeom>
              <a:solidFill>
                <a:srgbClr val="FFFFFF"/>
              </a:solidFill>
              <a:ln w="9525">
                <a:solidFill>
                  <a:srgbClr val="E2EEEB"/>
                </a:solidFill>
              </a:ln>
            </p:spPr>
          </p:sp>
          <p:grpSp>
            <p:nvGrpSpPr>
              <p:cNvPr id="231" name="Group 231"/>
              <p:cNvGrpSpPr/>
              <p:nvPr/>
            </p:nvGrpSpPr>
            <p:grpSpPr>
              <a:xfrm>
                <a:off x="5834062" y="5586412"/>
                <a:ext cx="66675" cy="85725"/>
                <a:chOff x="5834062" y="5586412"/>
                <a:chExt cx="66675" cy="85725"/>
              </a:xfrm>
            </p:grpSpPr>
            <p:sp>
              <p:nvSpPr>
                <p:cNvPr id="226" name="Freeform 226"/>
                <p:cNvSpPr/>
                <p:nvPr/>
              </p:nvSpPr>
              <p:spPr>
                <a:xfrm>
                  <a:off x="5876925" y="5586412"/>
                  <a:ext cx="23812" cy="23812"/>
                </a:xfrm>
                <a:custGeom>
                  <a:avLst/>
                  <a:gdLst/>
                  <a:ahLst/>
                  <a:cxnLst/>
                  <a:rect l="l" t="t" r="r" b="b"/>
                  <a:pathLst>
                    <a:path w="23812" h="23812">
                      <a:moveTo>
                        <a:pt x="0" y="0"/>
                      </a:moveTo>
                      <a:lnTo>
                        <a:pt x="0" y="19050"/>
                      </a:lnTo>
                      <a:cubicBezTo>
                        <a:pt x="0" y="21680"/>
                        <a:pt x="2132" y="23812"/>
                        <a:pt x="4762" y="23812"/>
                      </a:cubicBezTo>
                      <a:lnTo>
                        <a:pt x="23812" y="23812"/>
                      </a:lnTo>
                    </a:path>
                  </a:pathLst>
                </a:custGeom>
                <a:noFill/>
                <a:ln w="9525">
                  <a:solidFill>
                    <a:srgbClr val="76200F"/>
                  </a:solidFill>
                </a:ln>
              </p:spPr>
            </p:sp>
            <p:sp>
              <p:nvSpPr>
                <p:cNvPr id="227" name="Freeform 227"/>
                <p:cNvSpPr/>
                <p:nvPr/>
              </p:nvSpPr>
              <p:spPr>
                <a:xfrm>
                  <a:off x="5834062" y="5586412"/>
                  <a:ext cx="66675" cy="85725"/>
                </a:xfrm>
                <a:custGeom>
                  <a:avLst/>
                  <a:gdLst/>
                  <a:ahLst/>
                  <a:cxnLst/>
                  <a:rect l="l" t="t" r="r" b="b"/>
                  <a:pathLst>
                    <a:path w="66675" h="85725">
                      <a:moveTo>
                        <a:pt x="57150" y="85725"/>
                      </a:moveTo>
                      <a:lnTo>
                        <a:pt x="9525" y="85725"/>
                      </a:lnTo>
                      <a:cubicBezTo>
                        <a:pt x="4264" y="85725"/>
                        <a:pt x="0" y="81461"/>
                        <a:pt x="0" y="76200"/>
                      </a:cubicBezTo>
                      <a:lnTo>
                        <a:pt x="0" y="9525"/>
                      </a:lnTo>
                      <a:cubicBezTo>
                        <a:pt x="0" y="4264"/>
                        <a:pt x="4264" y="0"/>
                        <a:pt x="9525" y="0"/>
                      </a:cubicBezTo>
                      <a:lnTo>
                        <a:pt x="42862" y="0"/>
                      </a:lnTo>
                      <a:lnTo>
                        <a:pt x="66675" y="23812"/>
                      </a:lnTo>
                      <a:lnTo>
                        <a:pt x="66675" y="76200"/>
                      </a:lnTo>
                      <a:cubicBezTo>
                        <a:pt x="66675" y="81461"/>
                        <a:pt x="62411" y="85725"/>
                        <a:pt x="57150" y="85725"/>
                      </a:cubicBezTo>
                    </a:path>
                  </a:pathLst>
                </a:custGeom>
                <a:noFill/>
                <a:ln w="9525">
                  <a:solidFill>
                    <a:srgbClr val="76200F"/>
                  </a:solidFill>
                </a:ln>
              </p:spPr>
            </p:sp>
            <p:sp>
              <p:nvSpPr>
                <p:cNvPr id="228" name="Freeform 228"/>
                <p:cNvSpPr/>
                <p:nvPr/>
              </p:nvSpPr>
              <p:spPr>
                <a:xfrm>
                  <a:off x="5853112" y="5614988"/>
                  <a:ext cx="9525" cy="9525"/>
                </a:xfrm>
                <a:custGeom>
                  <a:avLst/>
                  <a:gdLst/>
                  <a:ahLst/>
                  <a:cxnLst/>
                  <a:rect l="l" t="t" r="r" b="b"/>
                  <a:pathLst>
                    <a:path w="9525" h="9525">
                      <a:moveTo>
                        <a:pt x="0" y="0"/>
                      </a:moveTo>
                      <a:lnTo>
                        <a:pt x="4762" y="0"/>
                      </a:lnTo>
                    </a:path>
                  </a:pathLst>
                </a:custGeom>
                <a:noFill/>
                <a:ln w="9525">
                  <a:solidFill>
                    <a:srgbClr val="76200F"/>
                  </a:solidFill>
                </a:ln>
              </p:spPr>
            </p:sp>
            <p:sp>
              <p:nvSpPr>
                <p:cNvPr id="229" name="Freeform 229"/>
                <p:cNvSpPr/>
                <p:nvPr/>
              </p:nvSpPr>
              <p:spPr>
                <a:xfrm>
                  <a:off x="5853112" y="5634038"/>
                  <a:ext cx="28575" cy="9525"/>
                </a:xfrm>
                <a:custGeom>
                  <a:avLst/>
                  <a:gdLst/>
                  <a:ahLst/>
                  <a:cxnLst/>
                  <a:rect l="l" t="t" r="r" b="b"/>
                  <a:pathLst>
                    <a:path w="28575" h="9525">
                      <a:moveTo>
                        <a:pt x="0" y="0"/>
                      </a:moveTo>
                      <a:lnTo>
                        <a:pt x="28575" y="0"/>
                      </a:lnTo>
                    </a:path>
                  </a:pathLst>
                </a:custGeom>
                <a:noFill/>
                <a:ln w="9525">
                  <a:solidFill>
                    <a:srgbClr val="76200F"/>
                  </a:solidFill>
                </a:ln>
              </p:spPr>
            </p:sp>
            <p:sp>
              <p:nvSpPr>
                <p:cNvPr id="230" name="Freeform 230"/>
                <p:cNvSpPr/>
                <p:nvPr/>
              </p:nvSpPr>
              <p:spPr>
                <a:xfrm>
                  <a:off x="5853112" y="5653088"/>
                  <a:ext cx="28575" cy="9525"/>
                </a:xfrm>
                <a:custGeom>
                  <a:avLst/>
                  <a:gdLst/>
                  <a:ahLst/>
                  <a:cxnLst/>
                  <a:rect l="l" t="t" r="r" b="b"/>
                  <a:pathLst>
                    <a:path w="28575" h="9525">
                      <a:moveTo>
                        <a:pt x="0" y="0"/>
                      </a:moveTo>
                      <a:lnTo>
                        <a:pt x="28575" y="0"/>
                      </a:lnTo>
                    </a:path>
                  </a:pathLst>
                </a:custGeom>
                <a:noFill/>
                <a:ln w="9525">
                  <a:solidFill>
                    <a:srgbClr val="76200F"/>
                  </a:solidFill>
                </a:ln>
              </p:spPr>
            </p:sp>
          </p:grpSp>
          <p:sp>
            <p:nvSpPr>
              <p:cNvPr id="232" name="TextBox 232"/>
              <p:cNvSpPr txBox="1"/>
              <p:nvPr/>
            </p:nvSpPr>
            <p:spPr>
              <a:xfrm>
                <a:off x="5965508" y="5602605"/>
                <a:ext cx="413385"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公众号推文</a:t>
                </a:r>
              </a:p>
            </p:txBody>
          </p:sp>
          <p:sp>
            <p:nvSpPr>
              <p:cNvPr id="233" name="TextBox 233"/>
              <p:cNvSpPr txBox="1"/>
              <p:nvPr/>
            </p:nvSpPr>
            <p:spPr>
              <a:xfrm>
                <a:off x="6653451" y="559855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a:t>
                </a:r>
              </a:p>
            </p:txBody>
          </p:sp>
          <p:sp>
            <p:nvSpPr>
              <p:cNvPr id="234" name="TextBox 234"/>
              <p:cNvSpPr txBox="1"/>
              <p:nvPr/>
            </p:nvSpPr>
            <p:spPr>
              <a:xfrm>
                <a:off x="7129701" y="559855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3​</a:t>
                </a:r>
              </a:p>
            </p:txBody>
          </p:sp>
          <p:sp>
            <p:nvSpPr>
              <p:cNvPr id="235" name="TextBox 235"/>
              <p:cNvSpPr txBox="1"/>
              <p:nvPr/>
            </p:nvSpPr>
            <p:spPr>
              <a:xfrm>
                <a:off x="7637945" y="5606653"/>
                <a:ext cx="688010"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图文内容、活动邀请</a:t>
                </a:r>
              </a:p>
            </p:txBody>
          </p:sp>
          <p:sp>
            <p:nvSpPr>
              <p:cNvPr id="236" name="Rectangle 236"/>
              <p:cNvSpPr/>
              <p:nvPr/>
            </p:nvSpPr>
            <p:spPr>
              <a:xfrm>
                <a:off x="5753100" y="5791200"/>
                <a:ext cx="2857500" cy="323850"/>
              </a:xfrm>
              <a:prstGeom prst="rect">
                <a:avLst/>
              </a:prstGeom>
              <a:solidFill>
                <a:srgbClr val="EFF8F6"/>
              </a:solidFill>
              <a:ln w="9525">
                <a:solidFill>
                  <a:srgbClr val="E2EEEB"/>
                </a:solidFill>
              </a:ln>
            </p:spPr>
          </p:sp>
          <p:grpSp>
            <p:nvGrpSpPr>
              <p:cNvPr id="241" name="Group 241"/>
              <p:cNvGrpSpPr/>
              <p:nvPr/>
            </p:nvGrpSpPr>
            <p:grpSpPr>
              <a:xfrm>
                <a:off x="5824538" y="5910262"/>
                <a:ext cx="85725" cy="80962"/>
                <a:chOff x="5824538" y="5910262"/>
                <a:chExt cx="85725" cy="80962"/>
              </a:xfrm>
            </p:grpSpPr>
            <p:sp>
              <p:nvSpPr>
                <p:cNvPr id="237" name="Freeform 237"/>
                <p:cNvSpPr/>
                <p:nvPr/>
              </p:nvSpPr>
              <p:spPr>
                <a:xfrm>
                  <a:off x="5824538" y="5929312"/>
                  <a:ext cx="85725" cy="61912"/>
                </a:xfrm>
                <a:custGeom>
                  <a:avLst/>
                  <a:gdLst/>
                  <a:ahLst/>
                  <a:cxnLst/>
                  <a:rect l="l" t="t" r="r" b="b"/>
                  <a:pathLst>
                    <a:path w="85725" h="61912">
                      <a:moveTo>
                        <a:pt x="0" y="9525"/>
                      </a:moveTo>
                      <a:cubicBezTo>
                        <a:pt x="0" y="4264"/>
                        <a:pt x="4264" y="0"/>
                        <a:pt x="9525" y="0"/>
                      </a:cubicBezTo>
                      <a:lnTo>
                        <a:pt x="76200" y="0"/>
                      </a:lnTo>
                      <a:cubicBezTo>
                        <a:pt x="81461" y="0"/>
                        <a:pt x="85725" y="4264"/>
                        <a:pt x="85725" y="9525"/>
                      </a:cubicBezTo>
                      <a:lnTo>
                        <a:pt x="85725" y="52388"/>
                      </a:lnTo>
                      <a:cubicBezTo>
                        <a:pt x="85725" y="57648"/>
                        <a:pt x="81461" y="61912"/>
                        <a:pt x="76200" y="61912"/>
                      </a:cubicBezTo>
                      <a:lnTo>
                        <a:pt x="9525" y="61912"/>
                      </a:lnTo>
                      <a:cubicBezTo>
                        <a:pt x="4264" y="61912"/>
                        <a:pt x="0" y="57648"/>
                        <a:pt x="0" y="52388"/>
                      </a:cubicBezTo>
                      <a:lnTo>
                        <a:pt x="0" y="9525"/>
                      </a:lnTo>
                    </a:path>
                  </a:pathLst>
                </a:custGeom>
                <a:noFill/>
                <a:ln w="9525">
                  <a:solidFill>
                    <a:srgbClr val="76200F"/>
                  </a:solidFill>
                </a:ln>
              </p:spPr>
            </p:sp>
            <p:sp>
              <p:nvSpPr>
                <p:cNvPr id="238" name="Freeform 238"/>
                <p:cNvSpPr/>
                <p:nvPr/>
              </p:nvSpPr>
              <p:spPr>
                <a:xfrm>
                  <a:off x="5848350" y="5910262"/>
                  <a:ext cx="38100" cy="19050"/>
                </a:xfrm>
                <a:custGeom>
                  <a:avLst/>
                  <a:gdLst/>
                  <a:ahLst/>
                  <a:cxnLst/>
                  <a:rect l="l" t="t" r="r" b="b"/>
                  <a:pathLst>
                    <a:path w="38100" h="19050">
                      <a:moveTo>
                        <a:pt x="0" y="19050"/>
                      </a:moveTo>
                      <a:lnTo>
                        <a:pt x="0" y="9525"/>
                      </a:lnTo>
                      <a:cubicBezTo>
                        <a:pt x="0" y="4264"/>
                        <a:pt x="4264" y="0"/>
                        <a:pt x="9525" y="0"/>
                      </a:cubicBezTo>
                      <a:lnTo>
                        <a:pt x="28575" y="0"/>
                      </a:lnTo>
                      <a:cubicBezTo>
                        <a:pt x="33836" y="0"/>
                        <a:pt x="38100" y="4264"/>
                        <a:pt x="38100" y="9525"/>
                      </a:cubicBezTo>
                      <a:lnTo>
                        <a:pt x="38100" y="19050"/>
                      </a:lnTo>
                    </a:path>
                  </a:pathLst>
                </a:custGeom>
                <a:noFill/>
                <a:ln w="9525">
                  <a:solidFill>
                    <a:srgbClr val="76200F"/>
                  </a:solidFill>
                </a:ln>
              </p:spPr>
            </p:sp>
            <p:sp>
              <p:nvSpPr>
                <p:cNvPr id="239" name="Freeform 239"/>
                <p:cNvSpPr/>
                <p:nvPr/>
              </p:nvSpPr>
              <p:spPr>
                <a:xfrm>
                  <a:off x="5867400" y="5953125"/>
                  <a:ext cx="9525" cy="9525"/>
                </a:xfrm>
                <a:custGeom>
                  <a:avLst/>
                  <a:gdLst/>
                  <a:ahLst/>
                  <a:cxnLst/>
                  <a:rect l="l" t="t" r="r" b="b"/>
                  <a:pathLst>
                    <a:path w="9525" h="9525">
                      <a:moveTo>
                        <a:pt x="0" y="0"/>
                      </a:moveTo>
                      <a:lnTo>
                        <a:pt x="0" y="48"/>
                      </a:lnTo>
                    </a:path>
                  </a:pathLst>
                </a:custGeom>
                <a:noFill/>
                <a:ln w="9525">
                  <a:solidFill>
                    <a:srgbClr val="76200F"/>
                  </a:solidFill>
                </a:ln>
              </p:spPr>
            </p:sp>
            <p:sp>
              <p:nvSpPr>
                <p:cNvPr id="240" name="Freeform 240"/>
                <p:cNvSpPr/>
                <p:nvPr/>
              </p:nvSpPr>
              <p:spPr>
                <a:xfrm>
                  <a:off x="5824538" y="5957888"/>
                  <a:ext cx="85725" cy="13585"/>
                </a:xfrm>
                <a:custGeom>
                  <a:avLst/>
                  <a:gdLst/>
                  <a:ahLst/>
                  <a:cxnLst/>
                  <a:rect l="l" t="t" r="r" b="b"/>
                  <a:pathLst>
                    <a:path w="85725" h="13585">
                      <a:moveTo>
                        <a:pt x="0" y="0"/>
                      </a:moveTo>
                      <a:cubicBezTo>
                        <a:pt x="26960" y="13585"/>
                        <a:pt x="58765" y="13585"/>
                        <a:pt x="85725" y="0"/>
                      </a:cubicBezTo>
                    </a:path>
                  </a:pathLst>
                </a:custGeom>
                <a:noFill/>
                <a:ln w="9525">
                  <a:solidFill>
                    <a:srgbClr val="76200F"/>
                  </a:solidFill>
                </a:ln>
              </p:spPr>
            </p:sp>
          </p:grpSp>
          <p:sp>
            <p:nvSpPr>
              <p:cNvPr id="242" name="TextBox 242"/>
              <p:cNvSpPr txBox="1"/>
              <p:nvPr/>
            </p:nvSpPr>
            <p:spPr>
              <a:xfrm>
                <a:off x="6005894" y="5926455"/>
                <a:ext cx="332613"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企业微信</a:t>
                </a:r>
              </a:p>
            </p:txBody>
          </p:sp>
          <p:sp>
            <p:nvSpPr>
              <p:cNvPr id="243" name="TextBox 243"/>
              <p:cNvSpPr txBox="1"/>
              <p:nvPr/>
            </p:nvSpPr>
            <p:spPr>
              <a:xfrm>
                <a:off x="6653451" y="592240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a:t>
                </a:r>
              </a:p>
            </p:txBody>
          </p:sp>
          <p:sp>
            <p:nvSpPr>
              <p:cNvPr id="244" name="TextBox 244"/>
              <p:cNvSpPr txBox="1"/>
              <p:nvPr/>
            </p:nvSpPr>
            <p:spPr>
              <a:xfrm>
                <a:off x="7129701" y="592240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7​</a:t>
                </a:r>
              </a:p>
            </p:txBody>
          </p:sp>
          <p:sp>
            <p:nvSpPr>
              <p:cNvPr id="245" name="TextBox 245"/>
              <p:cNvSpPr txBox="1"/>
              <p:nvPr/>
            </p:nvSpPr>
            <p:spPr>
              <a:xfrm>
                <a:off x="7600252" y="5930503"/>
                <a:ext cx="763397"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顾问沟通、个性化服务</a:t>
                </a:r>
              </a:p>
            </p:txBody>
          </p:sp>
          <p:sp>
            <p:nvSpPr>
              <p:cNvPr id="246" name="Rectangle 246"/>
              <p:cNvSpPr/>
              <p:nvPr/>
            </p:nvSpPr>
            <p:spPr>
              <a:xfrm>
                <a:off x="5753100" y="6115050"/>
                <a:ext cx="2857500" cy="323850"/>
              </a:xfrm>
              <a:prstGeom prst="rect">
                <a:avLst/>
              </a:prstGeom>
              <a:solidFill>
                <a:srgbClr val="FFFFFF"/>
              </a:solidFill>
              <a:ln w="9525">
                <a:solidFill>
                  <a:srgbClr val="E2EEEB"/>
                </a:solidFill>
              </a:ln>
            </p:spPr>
          </p:sp>
          <p:grpSp>
            <p:nvGrpSpPr>
              <p:cNvPr id="251" name="Group 251"/>
              <p:cNvGrpSpPr/>
              <p:nvPr/>
            </p:nvGrpSpPr>
            <p:grpSpPr>
              <a:xfrm>
                <a:off x="5824538" y="6234112"/>
                <a:ext cx="85725" cy="85726"/>
                <a:chOff x="5824538" y="6234112"/>
                <a:chExt cx="85725" cy="85726"/>
              </a:xfrm>
            </p:grpSpPr>
            <p:sp>
              <p:nvSpPr>
                <p:cNvPr id="247" name="Freeform 247"/>
                <p:cNvSpPr/>
                <p:nvPr/>
              </p:nvSpPr>
              <p:spPr>
                <a:xfrm>
                  <a:off x="5834062" y="6234112"/>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76200F"/>
                  </a:solidFill>
                </a:ln>
              </p:spPr>
            </p:sp>
            <p:sp>
              <p:nvSpPr>
                <p:cNvPr id="248" name="Freeform 248"/>
                <p:cNvSpPr/>
                <p:nvPr/>
              </p:nvSpPr>
              <p:spPr>
                <a:xfrm>
                  <a:off x="5824538" y="6291262"/>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76200F"/>
                  </a:solidFill>
                </a:ln>
              </p:spPr>
            </p:sp>
            <p:sp>
              <p:nvSpPr>
                <p:cNvPr id="249" name="Freeform 249"/>
                <p:cNvSpPr/>
                <p:nvPr/>
              </p:nvSpPr>
              <p:spPr>
                <a:xfrm>
                  <a:off x="5886450" y="6234732"/>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76200F"/>
                  </a:solidFill>
                </a:ln>
              </p:spPr>
            </p:sp>
            <p:sp>
              <p:nvSpPr>
                <p:cNvPr id="250" name="Freeform 250"/>
                <p:cNvSpPr/>
                <p:nvPr/>
              </p:nvSpPr>
              <p:spPr>
                <a:xfrm>
                  <a:off x="5895975" y="6291977"/>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76200F"/>
                  </a:solidFill>
                </a:ln>
              </p:spPr>
            </p:sp>
          </p:grpSp>
          <p:sp>
            <p:nvSpPr>
              <p:cNvPr id="252" name="TextBox 252"/>
              <p:cNvSpPr txBox="1"/>
              <p:nvPr/>
            </p:nvSpPr>
            <p:spPr>
              <a:xfrm>
                <a:off x="6086666" y="6250305"/>
                <a:ext cx="171069"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电话</a:t>
                </a:r>
              </a:p>
            </p:txBody>
          </p:sp>
          <p:sp>
            <p:nvSpPr>
              <p:cNvPr id="253" name="TextBox 253"/>
              <p:cNvSpPr txBox="1"/>
              <p:nvPr/>
            </p:nvSpPr>
            <p:spPr>
              <a:xfrm>
                <a:off x="6653451" y="624625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a:t>
                </a:r>
              </a:p>
            </p:txBody>
          </p:sp>
          <p:sp>
            <p:nvSpPr>
              <p:cNvPr id="254" name="TextBox 254"/>
              <p:cNvSpPr txBox="1"/>
              <p:nvPr/>
            </p:nvSpPr>
            <p:spPr>
              <a:xfrm>
                <a:off x="7129701" y="624625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a:t>
                </a:r>
              </a:p>
            </p:txBody>
          </p:sp>
          <p:sp>
            <p:nvSpPr>
              <p:cNvPr id="255" name="TextBox 255"/>
              <p:cNvSpPr txBox="1"/>
              <p:nvPr/>
            </p:nvSpPr>
            <p:spPr>
              <a:xfrm>
                <a:off x="7600252" y="6254353"/>
                <a:ext cx="763397" cy="111919"/>
              </a:xfrm>
              <a:prstGeom prst="rect">
                <a:avLst/>
              </a:prstGeom>
              <a:noFill/>
              <a:ln>
                <a:noFill/>
              </a:ln>
            </p:spPr>
            <p:txBody>
              <a:bodyPr wrap="none" lIns="0" tIns="0" rIns="0" bIns="0" anchor="t" anchorCtr="0">
                <a:spAutoFit/>
              </a:bodyPr>
              <a:lstStyle/>
              <a:p>
                <a:pPr algn="ctr"/>
                <a:r>
                  <a:rPr lang="zh-CN" sz="560" dirty="0">
                    <a:solidFill>
                      <a:srgbClr val="514340"/>
                    </a:solidFill>
                    <a:latin typeface="+mn-lt"/>
                    <a:ea typeface="+mn-ea"/>
                    <a:cs typeface="+mn-cs"/>
                  </a:rPr>
                  <a:t>重要节点、高价值客户</a:t>
                </a:r>
              </a:p>
            </p:txBody>
          </p:sp>
        </p:grpSp>
      </p:grpSp>
      <p:grpSp>
        <p:nvGrpSpPr>
          <p:cNvPr id="282" name="optout-rules"/>
          <p:cNvGrpSpPr/>
          <p:nvPr/>
        </p:nvGrpSpPr>
        <p:grpSpPr>
          <a:xfrm>
            <a:off x="8682038" y="4432697"/>
            <a:ext cx="3148012" cy="2196703"/>
            <a:chOff x="8682038" y="4432697"/>
            <a:chExt cx="3148012" cy="2196703"/>
          </a:xfrm>
        </p:grpSpPr>
        <p:sp>
          <p:nvSpPr>
            <p:cNvPr id="258" name="TextBox 258"/>
            <p:cNvSpPr txBox="1"/>
            <p:nvPr/>
          </p:nvSpPr>
          <p:spPr>
            <a:xfrm>
              <a:off x="8682038" y="4432697"/>
              <a:ext cx="895325"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退订与合规规则</a:t>
              </a:r>
            </a:p>
          </p:txBody>
        </p:sp>
        <p:sp>
          <p:nvSpPr>
            <p:cNvPr id="259" name="Rectangle 259"/>
            <p:cNvSpPr/>
            <p:nvPr/>
          </p:nvSpPr>
          <p:spPr>
            <a:xfrm>
              <a:off x="8686800" y="4610100"/>
              <a:ext cx="3143250" cy="2019300"/>
            </a:xfrm>
            <a:prstGeom prst="roundRect">
              <a:avLst>
                <a:gd name="adj" fmla="val 3774"/>
              </a:avLst>
            </a:prstGeom>
            <a:solidFill>
              <a:srgbClr val="F0FAF8"/>
            </a:solidFill>
            <a:ln w="9525">
              <a:solidFill>
                <a:srgbClr val="C2E0DA"/>
              </a:solidFill>
            </a:ln>
          </p:spPr>
        </p:sp>
        <p:grpSp>
          <p:nvGrpSpPr>
            <p:cNvPr id="262" name="Group 262"/>
            <p:cNvGrpSpPr/>
            <p:nvPr/>
          </p:nvGrpSpPr>
          <p:grpSpPr>
            <a:xfrm>
              <a:off x="8801100" y="4743450"/>
              <a:ext cx="114300" cy="114300"/>
              <a:chOff x="8801100" y="4743450"/>
              <a:chExt cx="114300" cy="114300"/>
            </a:xfrm>
          </p:grpSpPr>
          <p:sp>
            <p:nvSpPr>
              <p:cNvPr id="260" name="Freeform 260"/>
              <p:cNvSpPr/>
              <p:nvPr/>
            </p:nvSpPr>
            <p:spPr>
              <a:xfrm>
                <a:off x="8801100" y="47434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6200F"/>
                </a:solidFill>
              </a:ln>
            </p:spPr>
          </p:sp>
          <p:sp>
            <p:nvSpPr>
              <p:cNvPr id="261" name="Freeform 261"/>
              <p:cNvSpPr/>
              <p:nvPr/>
            </p:nvSpPr>
            <p:spPr>
              <a:xfrm>
                <a:off x="8839200" y="4787900"/>
                <a:ext cx="38100" cy="25400"/>
              </a:xfrm>
              <a:custGeom>
                <a:avLst/>
                <a:gdLst/>
                <a:ahLst/>
                <a:cxnLst/>
                <a:rect l="l" t="t" r="r" b="b"/>
                <a:pathLst>
                  <a:path w="38100" h="25400">
                    <a:moveTo>
                      <a:pt x="0" y="12700"/>
                    </a:moveTo>
                    <a:lnTo>
                      <a:pt x="12700" y="25400"/>
                    </a:lnTo>
                    <a:lnTo>
                      <a:pt x="38100" y="0"/>
                    </a:lnTo>
                  </a:path>
                </a:pathLst>
              </a:custGeom>
              <a:noFill/>
              <a:ln w="12700">
                <a:solidFill>
                  <a:srgbClr val="76200F"/>
                </a:solidFill>
              </a:ln>
            </p:spPr>
          </p:sp>
        </p:grpSp>
        <p:sp>
          <p:nvSpPr>
            <p:cNvPr id="263" name="TextBox 263"/>
            <p:cNvSpPr txBox="1"/>
            <p:nvPr/>
          </p:nvSpPr>
          <p:spPr>
            <a:xfrm>
              <a:off x="9005888" y="47577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一键退订</a:t>
              </a:r>
            </a:p>
          </p:txBody>
        </p:sp>
        <p:sp>
          <p:nvSpPr>
            <p:cNvPr id="264" name="TextBox 264"/>
            <p:cNvSpPr txBox="1"/>
            <p:nvPr/>
          </p:nvSpPr>
          <p:spPr>
            <a:xfrm>
              <a:off x="9005888" y="4907280"/>
              <a:ext cx="143065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支持短信回复TD、APP内关闭推送​​</a:t>
              </a:r>
              <a:br/>
              <a:r>
                <a:rPr lang="zh-CN" sz="600" dirty="0">
                  <a:solidFill>
                    <a:srgbClr val="514340"/>
                  </a:solidFill>
                  <a:latin typeface="+mn-lt"/>
                  <a:ea typeface="+mn-ea"/>
                  <a:cs typeface="+mn-cs"/>
                </a:rPr>
                <a:t>退订立即生效，10天内同一渠道不再触达​</a:t>
              </a:r>
            </a:p>
          </p:txBody>
        </p:sp>
        <p:sp>
          <p:nvSpPr>
            <p:cNvPr id="265" name="Freeform 265"/>
            <p:cNvSpPr/>
            <p:nvPr/>
          </p:nvSpPr>
          <p:spPr>
            <a:xfrm>
              <a:off x="8807450" y="5226050"/>
              <a:ext cx="101600" cy="107950"/>
            </a:xfrm>
            <a:custGeom>
              <a:avLst/>
              <a:gdLst/>
              <a:ahLst/>
              <a:cxnLst/>
              <a:rect l="l" t="t" r="r" b="b"/>
              <a:pathLst>
                <a:path w="101600" h="107950">
                  <a:moveTo>
                    <a:pt x="0" y="0"/>
                  </a:moveTo>
                  <a:lnTo>
                    <a:pt x="101600" y="0"/>
                  </a:lnTo>
                  <a:lnTo>
                    <a:pt x="101600" y="13792"/>
                  </a:lnTo>
                  <a:cubicBezTo>
                    <a:pt x="101599" y="17160"/>
                    <a:pt x="100261" y="20390"/>
                    <a:pt x="97879" y="22771"/>
                  </a:cubicBezTo>
                  <a:lnTo>
                    <a:pt x="69850" y="50800"/>
                  </a:lnTo>
                  <a:lnTo>
                    <a:pt x="69850" y="95250"/>
                  </a:lnTo>
                  <a:lnTo>
                    <a:pt x="31750" y="107950"/>
                  </a:lnTo>
                  <a:lnTo>
                    <a:pt x="31750" y="53975"/>
                  </a:lnTo>
                  <a:lnTo>
                    <a:pt x="3302" y="22682"/>
                  </a:lnTo>
                  <a:cubicBezTo>
                    <a:pt x="1178" y="20345"/>
                    <a:pt x="0" y="17300"/>
                    <a:pt x="0" y="14141"/>
                  </a:cubicBezTo>
                  <a:lnTo>
                    <a:pt x="0" y="0"/>
                  </a:lnTo>
                </a:path>
              </a:pathLst>
            </a:custGeom>
            <a:noFill/>
            <a:ln w="12700">
              <a:solidFill>
                <a:srgbClr val="76200F"/>
              </a:solidFill>
            </a:ln>
          </p:spPr>
        </p:sp>
        <p:sp>
          <p:nvSpPr>
            <p:cNvPr id="266" name="TextBox 266"/>
            <p:cNvSpPr txBox="1"/>
            <p:nvPr/>
          </p:nvSpPr>
          <p:spPr>
            <a:xfrm>
              <a:off x="9005888" y="523398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频次控制</a:t>
              </a:r>
            </a:p>
          </p:txBody>
        </p:sp>
        <p:sp>
          <p:nvSpPr>
            <p:cNvPr id="267" name="TextBox 267"/>
            <p:cNvSpPr txBox="1"/>
            <p:nvPr/>
          </p:nvSpPr>
          <p:spPr>
            <a:xfrm>
              <a:off x="9005888" y="5383530"/>
              <a:ext cx="6191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严格执行触达上限</a:t>
              </a:r>
              <a:br/>
              <a:r>
                <a:rPr lang="zh-CN" sz="600" dirty="0">
                  <a:solidFill>
                    <a:srgbClr val="514340"/>
                  </a:solidFill>
                  <a:latin typeface="+mn-lt"/>
                  <a:ea typeface="+mn-ea"/>
                  <a:cs typeface="+mn-cs"/>
                </a:rPr>
                <a:t>超限自动拦截</a:t>
              </a:r>
            </a:p>
          </p:txBody>
        </p:sp>
        <p:grpSp>
          <p:nvGrpSpPr>
            <p:cNvPr id="273" name="Group 273"/>
            <p:cNvGrpSpPr/>
            <p:nvPr/>
          </p:nvGrpSpPr>
          <p:grpSpPr>
            <a:xfrm>
              <a:off x="8801100" y="5695950"/>
              <a:ext cx="114300" cy="117475"/>
              <a:chOff x="8801100" y="5695950"/>
              <a:chExt cx="114300" cy="117475"/>
            </a:xfrm>
          </p:grpSpPr>
          <p:sp>
            <p:nvSpPr>
              <p:cNvPr id="268" name="Freeform 268"/>
              <p:cNvSpPr/>
              <p:nvPr/>
            </p:nvSpPr>
            <p:spPr>
              <a:xfrm>
                <a:off x="8826500" y="5803900"/>
                <a:ext cx="63500" cy="9525"/>
              </a:xfrm>
              <a:custGeom>
                <a:avLst/>
                <a:gdLst/>
                <a:ahLst/>
                <a:cxnLst/>
                <a:rect l="l" t="t" r="r" b="b"/>
                <a:pathLst>
                  <a:path w="63500" h="9525">
                    <a:moveTo>
                      <a:pt x="0" y="0"/>
                    </a:moveTo>
                    <a:lnTo>
                      <a:pt x="63500" y="0"/>
                    </a:lnTo>
                  </a:path>
                </a:pathLst>
              </a:custGeom>
              <a:noFill/>
              <a:ln w="12700">
                <a:solidFill>
                  <a:srgbClr val="76200F"/>
                </a:solidFill>
              </a:ln>
            </p:spPr>
          </p:sp>
          <p:sp>
            <p:nvSpPr>
              <p:cNvPr id="269" name="Freeform 269"/>
              <p:cNvSpPr/>
              <p:nvPr/>
            </p:nvSpPr>
            <p:spPr>
              <a:xfrm>
                <a:off x="8820150" y="5708650"/>
                <a:ext cx="76200" cy="9525"/>
              </a:xfrm>
              <a:custGeom>
                <a:avLst/>
                <a:gdLst/>
                <a:ahLst/>
                <a:cxnLst/>
                <a:rect l="l" t="t" r="r" b="b"/>
                <a:pathLst>
                  <a:path w="76200" h="9525">
                    <a:moveTo>
                      <a:pt x="0" y="6350"/>
                    </a:moveTo>
                    <a:lnTo>
                      <a:pt x="38100" y="0"/>
                    </a:lnTo>
                    <a:lnTo>
                      <a:pt x="76200" y="6350"/>
                    </a:lnTo>
                  </a:path>
                </a:pathLst>
              </a:custGeom>
              <a:noFill/>
              <a:ln w="12700">
                <a:solidFill>
                  <a:srgbClr val="76200F"/>
                </a:solidFill>
              </a:ln>
            </p:spPr>
          </p:sp>
          <p:sp>
            <p:nvSpPr>
              <p:cNvPr id="270" name="Freeform 270"/>
              <p:cNvSpPr/>
              <p:nvPr/>
            </p:nvSpPr>
            <p:spPr>
              <a:xfrm>
                <a:off x="8858250" y="5695950"/>
                <a:ext cx="9525" cy="107950"/>
              </a:xfrm>
              <a:custGeom>
                <a:avLst/>
                <a:gdLst/>
                <a:ahLst/>
                <a:cxnLst/>
                <a:rect l="l" t="t" r="r" b="b"/>
                <a:pathLst>
                  <a:path w="9525" h="107950">
                    <a:moveTo>
                      <a:pt x="0" y="0"/>
                    </a:moveTo>
                    <a:lnTo>
                      <a:pt x="0" y="107950"/>
                    </a:lnTo>
                  </a:path>
                </a:pathLst>
              </a:custGeom>
              <a:noFill/>
              <a:ln w="12700">
                <a:solidFill>
                  <a:srgbClr val="76200F"/>
                </a:solidFill>
              </a:ln>
            </p:spPr>
          </p:sp>
          <p:sp>
            <p:nvSpPr>
              <p:cNvPr id="271" name="Freeform 271"/>
              <p:cNvSpPr/>
              <p:nvPr/>
            </p:nvSpPr>
            <p:spPr>
              <a:xfrm>
                <a:off x="8801100" y="5715000"/>
                <a:ext cx="38100" cy="57150"/>
              </a:xfrm>
              <a:custGeom>
                <a:avLst/>
                <a:gdLst/>
                <a:ahLst/>
                <a:cxnLst/>
                <a:rect l="l" t="t" r="r" b="b"/>
                <a:pathLst>
                  <a:path w="38100" h="57150">
                    <a:moveTo>
                      <a:pt x="38100" y="38100"/>
                    </a:moveTo>
                    <a:lnTo>
                      <a:pt x="19050" y="0"/>
                    </a:lnTo>
                    <a:lnTo>
                      <a:pt x="0" y="38100"/>
                    </a:lnTo>
                    <a:cubicBezTo>
                      <a:pt x="0" y="48621"/>
                      <a:pt x="8529" y="57150"/>
                      <a:pt x="19050" y="57150"/>
                    </a:cubicBezTo>
                    <a:cubicBezTo>
                      <a:pt x="29571" y="57150"/>
                      <a:pt x="38100" y="48621"/>
                      <a:pt x="38100" y="38100"/>
                    </a:cubicBezTo>
                  </a:path>
                </a:pathLst>
              </a:custGeom>
              <a:noFill/>
              <a:ln w="12700">
                <a:solidFill>
                  <a:srgbClr val="76200F"/>
                </a:solidFill>
              </a:ln>
            </p:spPr>
          </p:sp>
          <p:sp>
            <p:nvSpPr>
              <p:cNvPr id="272" name="Freeform 272"/>
              <p:cNvSpPr/>
              <p:nvPr/>
            </p:nvSpPr>
            <p:spPr>
              <a:xfrm>
                <a:off x="8877300" y="5715000"/>
                <a:ext cx="38100" cy="57150"/>
              </a:xfrm>
              <a:custGeom>
                <a:avLst/>
                <a:gdLst/>
                <a:ahLst/>
                <a:cxnLst/>
                <a:rect l="l" t="t" r="r" b="b"/>
                <a:pathLst>
                  <a:path w="38100" h="57150">
                    <a:moveTo>
                      <a:pt x="38100" y="38100"/>
                    </a:moveTo>
                    <a:lnTo>
                      <a:pt x="19050" y="0"/>
                    </a:lnTo>
                    <a:lnTo>
                      <a:pt x="0" y="38100"/>
                    </a:lnTo>
                    <a:cubicBezTo>
                      <a:pt x="0" y="48621"/>
                      <a:pt x="8529" y="57150"/>
                      <a:pt x="19050" y="57150"/>
                    </a:cubicBezTo>
                    <a:cubicBezTo>
                      <a:pt x="29571" y="57150"/>
                      <a:pt x="38100" y="48621"/>
                      <a:pt x="38100" y="38100"/>
                    </a:cubicBezTo>
                  </a:path>
                </a:pathLst>
              </a:custGeom>
              <a:noFill/>
              <a:ln w="12700">
                <a:solidFill>
                  <a:srgbClr val="76200F"/>
                </a:solidFill>
              </a:ln>
            </p:spPr>
          </p:sp>
        </p:grpSp>
        <p:sp>
          <p:nvSpPr>
            <p:cNvPr id="274" name="TextBox 274"/>
            <p:cNvSpPr txBox="1"/>
            <p:nvPr/>
          </p:nvSpPr>
          <p:spPr>
            <a:xfrm>
              <a:off x="9005888" y="57102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内容合规</a:t>
              </a:r>
            </a:p>
          </p:txBody>
        </p:sp>
        <p:sp>
          <p:nvSpPr>
            <p:cNvPr id="275" name="TextBox 275"/>
            <p:cNvSpPr txBox="1"/>
            <p:nvPr/>
          </p:nvSpPr>
          <p:spPr>
            <a:xfrm>
              <a:off x="9005888" y="5859780"/>
              <a:ext cx="14573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所有触达内容通过合规审核，不得夸大收益</a:t>
              </a:r>
              <a:br/>
              <a:r>
                <a:rPr lang="zh-CN" sz="600" dirty="0">
                  <a:solidFill>
                    <a:srgbClr val="514340"/>
                  </a:solidFill>
                  <a:latin typeface="+mn-lt"/>
                  <a:ea typeface="+mn-ea"/>
                  <a:cs typeface="+mn-cs"/>
                </a:rPr>
                <a:t>或保证收益；话术库统一管理</a:t>
              </a:r>
            </a:p>
          </p:txBody>
        </p:sp>
        <p:grpSp>
          <p:nvGrpSpPr>
            <p:cNvPr id="279" name="Group 279"/>
            <p:cNvGrpSpPr/>
            <p:nvPr/>
          </p:nvGrpSpPr>
          <p:grpSpPr>
            <a:xfrm>
              <a:off x="8813800" y="6172200"/>
              <a:ext cx="88900" cy="114300"/>
              <a:chOff x="8813800" y="6172200"/>
              <a:chExt cx="88900" cy="114300"/>
            </a:xfrm>
          </p:grpSpPr>
          <p:sp>
            <p:nvSpPr>
              <p:cNvPr id="276" name="Freeform 276"/>
              <p:cNvSpPr/>
              <p:nvPr/>
            </p:nvSpPr>
            <p:spPr>
              <a:xfrm>
                <a:off x="8813800" y="6223000"/>
                <a:ext cx="88900" cy="63500"/>
              </a:xfrm>
              <a:custGeom>
                <a:avLst/>
                <a:gdLst/>
                <a:ahLst/>
                <a:cxnLst/>
                <a:rect l="l" t="t" r="r" b="b"/>
                <a:pathLst>
                  <a:path w="88900" h="63500">
                    <a:moveTo>
                      <a:pt x="0" y="12700"/>
                    </a:moveTo>
                    <a:cubicBezTo>
                      <a:pt x="0" y="5686"/>
                      <a:pt x="5686" y="0"/>
                      <a:pt x="12700" y="0"/>
                    </a:cubicBezTo>
                    <a:lnTo>
                      <a:pt x="76200" y="0"/>
                    </a:lnTo>
                    <a:cubicBezTo>
                      <a:pt x="83214" y="0"/>
                      <a:pt x="88900" y="5686"/>
                      <a:pt x="88900" y="12700"/>
                    </a:cubicBezTo>
                    <a:lnTo>
                      <a:pt x="88900" y="50800"/>
                    </a:lnTo>
                    <a:cubicBezTo>
                      <a:pt x="88900" y="57814"/>
                      <a:pt x="83214" y="63500"/>
                      <a:pt x="76200" y="63500"/>
                    </a:cubicBezTo>
                    <a:lnTo>
                      <a:pt x="12700" y="63500"/>
                    </a:lnTo>
                    <a:cubicBezTo>
                      <a:pt x="5686" y="63500"/>
                      <a:pt x="0" y="57814"/>
                      <a:pt x="0" y="50800"/>
                    </a:cubicBezTo>
                    <a:lnTo>
                      <a:pt x="0" y="12700"/>
                    </a:lnTo>
                  </a:path>
                </a:pathLst>
              </a:custGeom>
              <a:noFill/>
              <a:ln w="12700">
                <a:solidFill>
                  <a:srgbClr val="76200F"/>
                </a:solidFill>
              </a:ln>
            </p:spPr>
          </p:sp>
          <p:sp>
            <p:nvSpPr>
              <p:cNvPr id="277" name="Freeform 277"/>
              <p:cNvSpPr/>
              <p:nvPr/>
            </p:nvSpPr>
            <p:spPr>
              <a:xfrm>
                <a:off x="8851900" y="62484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76200F"/>
                </a:solidFill>
              </a:ln>
            </p:spPr>
          </p:sp>
          <p:sp>
            <p:nvSpPr>
              <p:cNvPr id="278" name="Freeform 278"/>
              <p:cNvSpPr/>
              <p:nvPr/>
            </p:nvSpPr>
            <p:spPr>
              <a:xfrm>
                <a:off x="8832850" y="6172200"/>
                <a:ext cx="50800" cy="50800"/>
              </a:xfrm>
              <a:custGeom>
                <a:avLst/>
                <a:gdLst/>
                <a:ahLst/>
                <a:cxnLst/>
                <a:rect l="l" t="t" r="r" b="b"/>
                <a:pathLst>
                  <a:path w="50800" h="50800">
                    <a:moveTo>
                      <a:pt x="0" y="50800"/>
                    </a:moveTo>
                    <a:lnTo>
                      <a:pt x="0" y="25400"/>
                    </a:lnTo>
                    <a:cubicBezTo>
                      <a:pt x="0" y="11372"/>
                      <a:pt x="11372" y="0"/>
                      <a:pt x="25400" y="0"/>
                    </a:cubicBezTo>
                    <a:cubicBezTo>
                      <a:pt x="39428" y="0"/>
                      <a:pt x="50800" y="11372"/>
                      <a:pt x="50800" y="25400"/>
                    </a:cubicBezTo>
                    <a:lnTo>
                      <a:pt x="50800" y="50800"/>
                    </a:lnTo>
                  </a:path>
                </a:pathLst>
              </a:custGeom>
              <a:noFill/>
              <a:ln w="12700">
                <a:solidFill>
                  <a:srgbClr val="76200F"/>
                </a:solidFill>
              </a:ln>
            </p:spPr>
          </p:sp>
        </p:grpSp>
        <p:sp>
          <p:nvSpPr>
            <p:cNvPr id="280" name="TextBox 280"/>
            <p:cNvSpPr txBox="1"/>
            <p:nvPr/>
          </p:nvSpPr>
          <p:spPr>
            <a:xfrm>
              <a:off x="9005888" y="618648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数据安全</a:t>
              </a:r>
            </a:p>
          </p:txBody>
        </p:sp>
        <p:sp>
          <p:nvSpPr>
            <p:cNvPr id="281" name="TextBox 281"/>
            <p:cNvSpPr txBox="1"/>
            <p:nvPr/>
          </p:nvSpPr>
          <p:spPr>
            <a:xfrm>
              <a:off x="9005888" y="6336030"/>
              <a:ext cx="923925" cy="223838"/>
            </a:xfrm>
            <a:prstGeom prst="rect">
              <a:avLst/>
            </a:prstGeom>
            <a:noFill/>
            <a:ln>
              <a:noFill/>
            </a:ln>
          </p:spPr>
          <p:txBody>
            <a:bodyPr wrap="none" lIns="0" tIns="0" rIns="0" bIns="0" anchor="t" anchorCtr="0">
              <a:spAutoFit/>
            </a:bodyPr>
            <a:lstStyle/>
            <a:p>
              <a:pPr algn="l">
                <a:lnSpc>
                  <a:spcPts val="825"/>
                </a:lnSpc>
              </a:pPr>
              <a:r>
                <a:rPr lang="zh-CN" sz="600" dirty="0">
                  <a:solidFill>
                    <a:srgbClr val="514340"/>
                  </a:solidFill>
                  <a:latin typeface="+mn-lt"/>
                  <a:ea typeface="+mn-ea"/>
                  <a:cs typeface="+mn-cs"/>
                </a:rPr>
                <a:t>客户数据脱敏处理</a:t>
              </a:r>
              <a:br/>
              <a:r>
                <a:rPr lang="zh-CN" sz="600" dirty="0">
                  <a:solidFill>
                    <a:srgbClr val="514340"/>
                  </a:solidFill>
                  <a:latin typeface="+mn-lt"/>
                  <a:ea typeface="+mn-ea"/>
                  <a:cs typeface="+mn-cs"/>
                </a:rPr>
                <a:t>仅用于本次活动的关联运营</a:t>
              </a:r>
            </a:p>
          </p:txBody>
        </p:sp>
      </p:gr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16​</a:t>
              </a:r>
            </a:p>
          </p:txBody>
        </p:sp>
        <p:sp>
          <p:nvSpPr>
            <p:cNvPr id="4" name="TextBox 4"/>
            <p:cNvSpPr txBox="1"/>
            <p:nvPr/>
          </p:nvSpPr>
          <p:spPr>
            <a:xfrm>
              <a:off x="904494" y="170498"/>
              <a:ext cx="5007483"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组织机制</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活动效果取决于跨条线协同效率</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16​</a:t>
              </a:r>
            </a:p>
          </p:txBody>
        </p:sp>
      </p:grpSp>
      <p:grpSp>
        <p:nvGrpSpPr>
          <p:cNvPr id="110" name="org-structure"/>
          <p:cNvGrpSpPr/>
          <p:nvPr/>
        </p:nvGrpSpPr>
        <p:grpSpPr>
          <a:xfrm>
            <a:off x="342900" y="704850"/>
            <a:ext cx="7915275" cy="1181100"/>
            <a:chOff x="342900" y="704850"/>
            <a:chExt cx="7915275" cy="1181100"/>
          </a:xfrm>
        </p:grpSpPr>
        <p:sp>
          <p:nvSpPr>
            <p:cNvPr id="8" name="Rectangle 8"/>
            <p:cNvSpPr/>
            <p:nvPr/>
          </p:nvSpPr>
          <p:spPr>
            <a:xfrm>
              <a:off x="342900" y="704850"/>
              <a:ext cx="914400" cy="571500"/>
            </a:xfrm>
            <a:prstGeom prst="roundRect">
              <a:avLst>
                <a:gd name="adj" fmla="val 10000"/>
              </a:avLst>
            </a:prstGeom>
            <a:solidFill>
              <a:srgbClr val="5D190B"/>
            </a:solidFill>
            <a:ln>
              <a:noFill/>
            </a:ln>
          </p:spPr>
        </p:sp>
        <p:sp>
          <p:nvSpPr>
            <p:cNvPr id="9" name="TextBox 9"/>
            <p:cNvSpPr txBox="1"/>
            <p:nvPr/>
          </p:nvSpPr>
          <p:spPr>
            <a:xfrm>
              <a:off x="582638" y="84843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组织架构</a:t>
              </a:r>
            </a:p>
          </p:txBody>
        </p:sp>
        <p:sp>
          <p:nvSpPr>
            <p:cNvPr id="10" name="TextBox 10"/>
            <p:cNvSpPr txBox="1"/>
            <p:nvPr/>
          </p:nvSpPr>
          <p:spPr>
            <a:xfrm>
              <a:off x="536867" y="1017032"/>
              <a:ext cx="526466" cy="126206"/>
            </a:xfrm>
            <a:prstGeom prst="rect">
              <a:avLst/>
            </a:prstGeom>
            <a:noFill/>
            <a:ln>
              <a:noFill/>
            </a:ln>
          </p:spPr>
          <p:txBody>
            <a:bodyPr wrap="none" lIns="0" tIns="0" rIns="0" bIns="0" anchor="t" anchorCtr="0">
              <a:spAutoFit/>
            </a:bodyPr>
            <a:lstStyle/>
            <a:p>
              <a:pPr algn="ctr"/>
              <a:r>
                <a:rPr lang="zh-CN" sz="640" dirty="0">
                  <a:solidFill>
                    <a:srgbClr val="BFE4DD"/>
                  </a:solidFill>
                  <a:latin typeface="+mn-lt"/>
                  <a:ea typeface="+mn-ea"/>
                  <a:cs typeface="+mn-cs"/>
                </a:rPr>
                <a:t>（矩阵协同）</a:t>
              </a:r>
            </a:p>
          </p:txBody>
        </p:sp>
        <p:sp>
          <p:nvSpPr>
            <p:cNvPr id="11" name="Rectangle 11"/>
            <p:cNvSpPr/>
            <p:nvPr/>
          </p:nvSpPr>
          <p:spPr>
            <a:xfrm>
              <a:off x="1333500" y="704850"/>
              <a:ext cx="1581150" cy="571500"/>
            </a:xfrm>
            <a:prstGeom prst="roundRect">
              <a:avLst>
                <a:gd name="adj" fmla="val 10000"/>
              </a:avLst>
            </a:prstGeom>
            <a:solidFill>
              <a:srgbClr val="F0FAF8"/>
            </a:solidFill>
            <a:ln w="9525">
              <a:solidFill>
                <a:srgbClr val="C2E0DA"/>
              </a:solidFill>
            </a:ln>
          </p:spPr>
        </p:sp>
        <p:grpSp>
          <p:nvGrpSpPr>
            <p:cNvPr id="20" name="Group 20"/>
            <p:cNvGrpSpPr/>
            <p:nvPr/>
          </p:nvGrpSpPr>
          <p:grpSpPr>
            <a:xfrm>
              <a:off x="1454944" y="845344"/>
              <a:ext cx="157956" cy="166687"/>
              <a:chOff x="1454944" y="845344"/>
              <a:chExt cx="157956" cy="166687"/>
            </a:xfrm>
          </p:grpSpPr>
          <p:sp>
            <p:nvSpPr>
              <p:cNvPr id="12" name="Freeform 12"/>
              <p:cNvSpPr/>
              <p:nvPr/>
            </p:nvSpPr>
            <p:spPr>
              <a:xfrm>
                <a:off x="1454944" y="1002506"/>
                <a:ext cx="157163" cy="9525"/>
              </a:xfrm>
              <a:custGeom>
                <a:avLst/>
                <a:gdLst/>
                <a:ahLst/>
                <a:cxnLst/>
                <a:rect l="l" t="t" r="r" b="b"/>
                <a:pathLst>
                  <a:path w="157163" h="9525">
                    <a:moveTo>
                      <a:pt x="0" y="0"/>
                    </a:moveTo>
                    <a:lnTo>
                      <a:pt x="157163" y="0"/>
                    </a:lnTo>
                  </a:path>
                </a:pathLst>
              </a:custGeom>
              <a:noFill/>
              <a:ln w="17463">
                <a:solidFill>
                  <a:srgbClr val="76200F"/>
                </a:solidFill>
              </a:ln>
            </p:spPr>
          </p:sp>
          <p:sp>
            <p:nvSpPr>
              <p:cNvPr id="13" name="Freeform 13"/>
              <p:cNvSpPr/>
              <p:nvPr/>
            </p:nvSpPr>
            <p:spPr>
              <a:xfrm>
                <a:off x="1454944" y="906463"/>
                <a:ext cx="157163" cy="9525"/>
              </a:xfrm>
              <a:custGeom>
                <a:avLst/>
                <a:gdLst/>
                <a:ahLst/>
                <a:cxnLst/>
                <a:rect l="l" t="t" r="r" b="b"/>
                <a:pathLst>
                  <a:path w="157163" h="9525">
                    <a:moveTo>
                      <a:pt x="0" y="0"/>
                    </a:moveTo>
                    <a:lnTo>
                      <a:pt x="157163" y="0"/>
                    </a:lnTo>
                  </a:path>
                </a:pathLst>
              </a:custGeom>
              <a:noFill/>
              <a:ln w="17463">
                <a:solidFill>
                  <a:srgbClr val="76200F"/>
                </a:solidFill>
              </a:ln>
            </p:spPr>
          </p:sp>
          <p:sp>
            <p:nvSpPr>
              <p:cNvPr id="14" name="Freeform 14"/>
              <p:cNvSpPr/>
              <p:nvPr/>
            </p:nvSpPr>
            <p:spPr>
              <a:xfrm>
                <a:off x="1472406" y="845344"/>
                <a:ext cx="122238" cy="26194"/>
              </a:xfrm>
              <a:custGeom>
                <a:avLst/>
                <a:gdLst/>
                <a:ahLst/>
                <a:cxnLst/>
                <a:rect l="l" t="t" r="r" b="b"/>
                <a:pathLst>
                  <a:path w="122238" h="26194">
                    <a:moveTo>
                      <a:pt x="0" y="26194"/>
                    </a:moveTo>
                    <a:lnTo>
                      <a:pt x="61119" y="0"/>
                    </a:lnTo>
                    <a:lnTo>
                      <a:pt x="122238" y="26194"/>
                    </a:lnTo>
                  </a:path>
                </a:pathLst>
              </a:custGeom>
              <a:noFill/>
              <a:ln w="17463">
                <a:solidFill>
                  <a:srgbClr val="76200F"/>
                </a:solidFill>
              </a:ln>
            </p:spPr>
          </p:sp>
          <p:sp>
            <p:nvSpPr>
              <p:cNvPr id="15" name="Freeform 15"/>
              <p:cNvSpPr/>
              <p:nvPr/>
            </p:nvSpPr>
            <p:spPr>
              <a:xfrm>
                <a:off x="1463675" y="906463"/>
                <a:ext cx="9525" cy="96044"/>
              </a:xfrm>
              <a:custGeom>
                <a:avLst/>
                <a:gdLst/>
                <a:ahLst/>
                <a:cxnLst/>
                <a:rect l="l" t="t" r="r" b="b"/>
                <a:pathLst>
                  <a:path w="9525" h="96044">
                    <a:moveTo>
                      <a:pt x="0" y="0"/>
                    </a:moveTo>
                    <a:lnTo>
                      <a:pt x="0" y="96044"/>
                    </a:lnTo>
                  </a:path>
                </a:pathLst>
              </a:custGeom>
              <a:noFill/>
              <a:ln w="17463">
                <a:solidFill>
                  <a:srgbClr val="76200F"/>
                </a:solidFill>
              </a:ln>
            </p:spPr>
          </p:sp>
          <p:sp>
            <p:nvSpPr>
              <p:cNvPr id="16" name="Freeform 16"/>
              <p:cNvSpPr/>
              <p:nvPr/>
            </p:nvSpPr>
            <p:spPr>
              <a:xfrm>
                <a:off x="1603375" y="906463"/>
                <a:ext cx="9525" cy="96044"/>
              </a:xfrm>
              <a:custGeom>
                <a:avLst/>
                <a:gdLst/>
                <a:ahLst/>
                <a:cxnLst/>
                <a:rect l="l" t="t" r="r" b="b"/>
                <a:pathLst>
                  <a:path w="9525" h="96044">
                    <a:moveTo>
                      <a:pt x="0" y="0"/>
                    </a:moveTo>
                    <a:lnTo>
                      <a:pt x="0" y="96044"/>
                    </a:lnTo>
                  </a:path>
                </a:pathLst>
              </a:custGeom>
              <a:noFill/>
              <a:ln w="17463">
                <a:solidFill>
                  <a:srgbClr val="76200F"/>
                </a:solidFill>
              </a:ln>
            </p:spPr>
          </p:sp>
          <p:sp>
            <p:nvSpPr>
              <p:cNvPr id="17" name="Freeform 17"/>
              <p:cNvSpPr/>
              <p:nvPr/>
            </p:nvSpPr>
            <p:spPr>
              <a:xfrm>
                <a:off x="1498600" y="941388"/>
                <a:ext cx="9525" cy="26194"/>
              </a:xfrm>
              <a:custGeom>
                <a:avLst/>
                <a:gdLst/>
                <a:ahLst/>
                <a:cxnLst/>
                <a:rect l="l" t="t" r="r" b="b"/>
                <a:pathLst>
                  <a:path w="9525" h="26194">
                    <a:moveTo>
                      <a:pt x="0" y="0"/>
                    </a:moveTo>
                    <a:lnTo>
                      <a:pt x="0" y="26194"/>
                    </a:lnTo>
                  </a:path>
                </a:pathLst>
              </a:custGeom>
              <a:noFill/>
              <a:ln w="17463">
                <a:solidFill>
                  <a:srgbClr val="76200F"/>
                </a:solidFill>
              </a:ln>
            </p:spPr>
          </p:sp>
          <p:sp>
            <p:nvSpPr>
              <p:cNvPr id="18" name="Freeform 18"/>
              <p:cNvSpPr/>
              <p:nvPr/>
            </p:nvSpPr>
            <p:spPr>
              <a:xfrm>
                <a:off x="1533525" y="941388"/>
                <a:ext cx="9525" cy="26194"/>
              </a:xfrm>
              <a:custGeom>
                <a:avLst/>
                <a:gdLst/>
                <a:ahLst/>
                <a:cxnLst/>
                <a:rect l="l" t="t" r="r" b="b"/>
                <a:pathLst>
                  <a:path w="9525" h="26194">
                    <a:moveTo>
                      <a:pt x="0" y="0"/>
                    </a:moveTo>
                    <a:lnTo>
                      <a:pt x="0" y="26194"/>
                    </a:lnTo>
                  </a:path>
                </a:pathLst>
              </a:custGeom>
              <a:noFill/>
              <a:ln w="17463">
                <a:solidFill>
                  <a:srgbClr val="76200F"/>
                </a:solidFill>
              </a:ln>
            </p:spPr>
          </p:sp>
          <p:sp>
            <p:nvSpPr>
              <p:cNvPr id="19" name="Freeform 19"/>
              <p:cNvSpPr/>
              <p:nvPr/>
            </p:nvSpPr>
            <p:spPr>
              <a:xfrm>
                <a:off x="1568450" y="941388"/>
                <a:ext cx="9525" cy="26194"/>
              </a:xfrm>
              <a:custGeom>
                <a:avLst/>
                <a:gdLst/>
                <a:ahLst/>
                <a:cxnLst/>
                <a:rect l="l" t="t" r="r" b="b"/>
                <a:pathLst>
                  <a:path w="9525" h="26194">
                    <a:moveTo>
                      <a:pt x="0" y="0"/>
                    </a:moveTo>
                    <a:lnTo>
                      <a:pt x="0" y="26194"/>
                    </a:lnTo>
                  </a:path>
                </a:pathLst>
              </a:custGeom>
              <a:noFill/>
              <a:ln w="17463">
                <a:solidFill>
                  <a:srgbClr val="76200F"/>
                </a:solidFill>
              </a:ln>
            </p:spPr>
          </p:sp>
        </p:grpSp>
        <p:sp>
          <p:nvSpPr>
            <p:cNvPr id="21" name="TextBox 21"/>
            <p:cNvSpPr txBox="1"/>
            <p:nvPr/>
          </p:nvSpPr>
          <p:spPr>
            <a:xfrm>
              <a:off x="1709738" y="810339"/>
              <a:ext cx="222225" cy="154781"/>
            </a:xfrm>
            <a:prstGeom prst="rect">
              <a:avLst/>
            </a:prstGeom>
            <a:noFill/>
            <a:ln>
              <a:noFill/>
            </a:ln>
          </p:spPr>
          <p:txBody>
            <a:bodyPr wrap="none" lIns="0" tIns="0" rIns="0" bIns="0" anchor="t" anchorCtr="0">
              <a:spAutoFit/>
            </a:bodyPr>
            <a:lstStyle/>
            <a:p>
              <a:pPr algn="l"/>
              <a:r>
                <a:rPr lang="zh-CN" sz="790" b="1" dirty="0">
                  <a:solidFill>
                    <a:srgbClr val="331712"/>
                  </a:solidFill>
                  <a:latin typeface="+mn-lt"/>
                  <a:ea typeface="+mn-ea"/>
                  <a:cs typeface="+mn-cs"/>
                </a:rPr>
                <a:t>总行</a:t>
              </a:r>
            </a:p>
          </p:txBody>
        </p:sp>
        <p:sp>
          <p:nvSpPr>
            <p:cNvPr id="22" name="TextBox 22"/>
            <p:cNvSpPr txBox="1"/>
            <p:nvPr/>
          </p:nvSpPr>
          <p:spPr>
            <a:xfrm>
              <a:off x="1709738" y="967978"/>
              <a:ext cx="740781"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战略统筹 · 资源协调​</a:t>
              </a:r>
            </a:p>
          </p:txBody>
        </p:sp>
        <p:sp>
          <p:nvSpPr>
            <p:cNvPr id="23" name="TextBox 23"/>
            <p:cNvSpPr txBox="1"/>
            <p:nvPr/>
          </p:nvSpPr>
          <p:spPr>
            <a:xfrm>
              <a:off x="1709738" y="1082278"/>
              <a:ext cx="740781"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规则制定 · 数据洞察​</a:t>
              </a:r>
            </a:p>
          </p:txBody>
        </p:sp>
        <p:sp>
          <p:nvSpPr>
            <p:cNvPr id="24" name="Freeform 24"/>
            <p:cNvSpPr/>
            <p:nvPr/>
          </p:nvSpPr>
          <p:spPr>
            <a:xfrm>
              <a:off x="2952750" y="933450"/>
              <a:ext cx="133350" cy="171450"/>
            </a:xfrm>
            <a:prstGeom prst="rightArrow">
              <a:avLst/>
            </a:prstGeom>
            <a:solidFill>
              <a:srgbClr val="A3422F"/>
            </a:solidFill>
            <a:ln>
              <a:noFill/>
            </a:ln>
          </p:spPr>
        </p:sp>
        <p:sp>
          <p:nvSpPr>
            <p:cNvPr id="25" name="Rectangle 25"/>
            <p:cNvSpPr/>
            <p:nvPr/>
          </p:nvSpPr>
          <p:spPr>
            <a:xfrm>
              <a:off x="2990850" y="704850"/>
              <a:ext cx="1581150" cy="571500"/>
            </a:xfrm>
            <a:prstGeom prst="roundRect">
              <a:avLst>
                <a:gd name="adj" fmla="val 10000"/>
              </a:avLst>
            </a:prstGeom>
            <a:solidFill>
              <a:srgbClr val="F0FAF8"/>
            </a:solidFill>
            <a:ln w="9525">
              <a:solidFill>
                <a:srgbClr val="C2E0DA"/>
              </a:solidFill>
            </a:ln>
          </p:spPr>
        </p:sp>
        <p:grpSp>
          <p:nvGrpSpPr>
            <p:cNvPr id="31" name="Group 31"/>
            <p:cNvGrpSpPr/>
            <p:nvPr/>
          </p:nvGrpSpPr>
          <p:grpSpPr>
            <a:xfrm>
              <a:off x="3112294" y="845344"/>
              <a:ext cx="157162" cy="157162"/>
              <a:chOff x="3112294" y="845344"/>
              <a:chExt cx="157162" cy="157162"/>
            </a:xfrm>
          </p:grpSpPr>
          <p:sp>
            <p:nvSpPr>
              <p:cNvPr id="26" name="Freeform 26"/>
              <p:cNvSpPr/>
              <p:nvPr/>
            </p:nvSpPr>
            <p:spPr>
              <a:xfrm>
                <a:off x="3173413" y="8453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6200F"/>
                </a:solidFill>
              </a:ln>
            </p:spPr>
          </p:sp>
          <p:sp>
            <p:nvSpPr>
              <p:cNvPr id="27" name="Freeform 27"/>
              <p:cNvSpPr/>
              <p:nvPr/>
            </p:nvSpPr>
            <p:spPr>
              <a:xfrm>
                <a:off x="3112294" y="96758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6200F"/>
                </a:solidFill>
              </a:ln>
            </p:spPr>
          </p:sp>
          <p:sp>
            <p:nvSpPr>
              <p:cNvPr id="28" name="Freeform 28"/>
              <p:cNvSpPr/>
              <p:nvPr/>
            </p:nvSpPr>
            <p:spPr>
              <a:xfrm>
                <a:off x="3234531" y="96758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6200F"/>
                </a:solidFill>
              </a:ln>
            </p:spPr>
          </p:sp>
          <p:sp>
            <p:nvSpPr>
              <p:cNvPr id="29" name="Freeform 29"/>
              <p:cNvSpPr/>
              <p:nvPr/>
            </p:nvSpPr>
            <p:spPr>
              <a:xfrm>
                <a:off x="3142853" y="932656"/>
                <a:ext cx="96044" cy="39291"/>
              </a:xfrm>
              <a:custGeom>
                <a:avLst/>
                <a:gdLst/>
                <a:ahLst/>
                <a:cxnLst/>
                <a:rect l="l" t="t" r="r" b="b"/>
                <a:pathLst>
                  <a:path w="96044" h="39291">
                    <a:moveTo>
                      <a:pt x="0" y="39291"/>
                    </a:moveTo>
                    <a:lnTo>
                      <a:pt x="48022" y="0"/>
                    </a:lnTo>
                    <a:lnTo>
                      <a:pt x="96044" y="39291"/>
                    </a:lnTo>
                  </a:path>
                </a:pathLst>
              </a:custGeom>
              <a:noFill/>
              <a:ln w="17463">
                <a:solidFill>
                  <a:srgbClr val="76200F"/>
                </a:solidFill>
              </a:ln>
            </p:spPr>
          </p:sp>
          <p:sp>
            <p:nvSpPr>
              <p:cNvPr id="30" name="Freeform 30"/>
              <p:cNvSpPr/>
              <p:nvPr/>
            </p:nvSpPr>
            <p:spPr>
              <a:xfrm>
                <a:off x="3190875" y="880269"/>
                <a:ext cx="9525" cy="52388"/>
              </a:xfrm>
              <a:custGeom>
                <a:avLst/>
                <a:gdLst/>
                <a:ahLst/>
                <a:cxnLst/>
                <a:rect l="l" t="t" r="r" b="b"/>
                <a:pathLst>
                  <a:path w="9525" h="52388">
                    <a:moveTo>
                      <a:pt x="0" y="0"/>
                    </a:moveTo>
                    <a:lnTo>
                      <a:pt x="0" y="52388"/>
                    </a:lnTo>
                  </a:path>
                </a:pathLst>
              </a:custGeom>
              <a:noFill/>
              <a:ln w="17463">
                <a:solidFill>
                  <a:srgbClr val="76200F"/>
                </a:solidFill>
              </a:ln>
            </p:spPr>
          </p:sp>
        </p:grpSp>
        <p:sp>
          <p:nvSpPr>
            <p:cNvPr id="32" name="TextBox 32"/>
            <p:cNvSpPr txBox="1"/>
            <p:nvPr/>
          </p:nvSpPr>
          <p:spPr>
            <a:xfrm>
              <a:off x="3367088" y="810339"/>
              <a:ext cx="222225" cy="154781"/>
            </a:xfrm>
            <a:prstGeom prst="rect">
              <a:avLst/>
            </a:prstGeom>
            <a:noFill/>
            <a:ln>
              <a:noFill/>
            </a:ln>
          </p:spPr>
          <p:txBody>
            <a:bodyPr wrap="none" lIns="0" tIns="0" rIns="0" bIns="0" anchor="t" anchorCtr="0">
              <a:spAutoFit/>
            </a:bodyPr>
            <a:lstStyle/>
            <a:p>
              <a:pPr algn="l"/>
              <a:r>
                <a:rPr lang="zh-CN" sz="790" b="1" dirty="0">
                  <a:solidFill>
                    <a:srgbClr val="331712"/>
                  </a:solidFill>
                  <a:latin typeface="+mn-lt"/>
                  <a:ea typeface="+mn-ea"/>
                  <a:cs typeface="+mn-cs"/>
                </a:rPr>
                <a:t>分行</a:t>
              </a:r>
            </a:p>
          </p:txBody>
        </p:sp>
        <p:sp>
          <p:nvSpPr>
            <p:cNvPr id="33" name="TextBox 33"/>
            <p:cNvSpPr txBox="1"/>
            <p:nvPr/>
          </p:nvSpPr>
          <p:spPr>
            <a:xfrm>
              <a:off x="3367088" y="967978"/>
              <a:ext cx="740781"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落地组织 · 商圈对接​</a:t>
              </a:r>
            </a:p>
          </p:txBody>
        </p:sp>
        <p:sp>
          <p:nvSpPr>
            <p:cNvPr id="34" name="TextBox 34"/>
            <p:cNvSpPr txBox="1"/>
            <p:nvPr/>
          </p:nvSpPr>
          <p:spPr>
            <a:xfrm>
              <a:off x="3367088" y="1082278"/>
              <a:ext cx="740781"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资源整合 · 过程管控​</a:t>
              </a:r>
            </a:p>
          </p:txBody>
        </p:sp>
        <p:sp>
          <p:nvSpPr>
            <p:cNvPr id="35" name="Freeform 35"/>
            <p:cNvSpPr/>
            <p:nvPr/>
          </p:nvSpPr>
          <p:spPr>
            <a:xfrm>
              <a:off x="4610100" y="933450"/>
              <a:ext cx="133350" cy="171450"/>
            </a:xfrm>
            <a:prstGeom prst="rightArrow">
              <a:avLst/>
            </a:prstGeom>
            <a:solidFill>
              <a:srgbClr val="A3422F"/>
            </a:solidFill>
            <a:ln>
              <a:noFill/>
            </a:ln>
          </p:spPr>
        </p:sp>
        <p:sp>
          <p:nvSpPr>
            <p:cNvPr id="36" name="Rectangle 36"/>
            <p:cNvSpPr/>
            <p:nvPr/>
          </p:nvSpPr>
          <p:spPr>
            <a:xfrm>
              <a:off x="4648200" y="704850"/>
              <a:ext cx="1581150" cy="571500"/>
            </a:xfrm>
            <a:prstGeom prst="roundRect">
              <a:avLst>
                <a:gd name="adj" fmla="val 10000"/>
              </a:avLst>
            </a:prstGeom>
            <a:solidFill>
              <a:srgbClr val="F0FAF8"/>
            </a:solidFill>
            <a:ln w="9525">
              <a:solidFill>
                <a:srgbClr val="C2E0DA"/>
              </a:solidFill>
            </a:ln>
          </p:spPr>
        </p:sp>
        <p:grpSp>
          <p:nvGrpSpPr>
            <p:cNvPr id="40" name="Group 40"/>
            <p:cNvGrpSpPr/>
            <p:nvPr/>
          </p:nvGrpSpPr>
          <p:grpSpPr>
            <a:xfrm>
              <a:off x="4769644" y="845344"/>
              <a:ext cx="157163" cy="157162"/>
              <a:chOff x="4769644" y="845344"/>
              <a:chExt cx="157163" cy="157162"/>
            </a:xfrm>
          </p:grpSpPr>
          <p:sp>
            <p:nvSpPr>
              <p:cNvPr id="37" name="Freeform 37"/>
              <p:cNvSpPr/>
              <p:nvPr/>
            </p:nvSpPr>
            <p:spPr>
              <a:xfrm>
                <a:off x="4769644" y="845344"/>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76200F"/>
                </a:solidFill>
              </a:ln>
            </p:spPr>
          </p:sp>
          <p:sp>
            <p:nvSpPr>
              <p:cNvPr id="38" name="Freeform 38"/>
              <p:cNvSpPr/>
              <p:nvPr/>
            </p:nvSpPr>
            <p:spPr>
              <a:xfrm>
                <a:off x="4787106" y="923925"/>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76200F"/>
                </a:solidFill>
              </a:ln>
            </p:spPr>
          </p:sp>
          <p:sp>
            <p:nvSpPr>
              <p:cNvPr id="39" name="Freeform 39"/>
              <p:cNvSpPr/>
              <p:nvPr/>
            </p:nvSpPr>
            <p:spPr>
              <a:xfrm>
                <a:off x="4822031" y="932656"/>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76200F"/>
                </a:solidFill>
              </a:ln>
            </p:spPr>
          </p:sp>
        </p:grpSp>
        <p:sp>
          <p:nvSpPr>
            <p:cNvPr id="41" name="TextBox 41"/>
            <p:cNvSpPr txBox="1"/>
            <p:nvPr/>
          </p:nvSpPr>
          <p:spPr>
            <a:xfrm>
              <a:off x="5024438" y="810339"/>
              <a:ext cx="222225" cy="154781"/>
            </a:xfrm>
            <a:prstGeom prst="rect">
              <a:avLst/>
            </a:prstGeom>
            <a:noFill/>
            <a:ln>
              <a:noFill/>
            </a:ln>
          </p:spPr>
          <p:txBody>
            <a:bodyPr wrap="none" lIns="0" tIns="0" rIns="0" bIns="0" anchor="t" anchorCtr="0">
              <a:spAutoFit/>
            </a:bodyPr>
            <a:lstStyle/>
            <a:p>
              <a:pPr algn="l"/>
              <a:r>
                <a:rPr lang="zh-CN" sz="790" b="1" dirty="0">
                  <a:solidFill>
                    <a:srgbClr val="331712"/>
                  </a:solidFill>
                  <a:latin typeface="+mn-lt"/>
                  <a:ea typeface="+mn-ea"/>
                  <a:cs typeface="+mn-cs"/>
                </a:rPr>
                <a:t>支行</a:t>
              </a:r>
            </a:p>
          </p:txBody>
        </p:sp>
        <p:sp>
          <p:nvSpPr>
            <p:cNvPr id="42" name="TextBox 42"/>
            <p:cNvSpPr txBox="1"/>
            <p:nvPr/>
          </p:nvSpPr>
          <p:spPr>
            <a:xfrm>
              <a:off x="5024438" y="967978"/>
              <a:ext cx="740781"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活动执行 · 客户触达​</a:t>
              </a:r>
            </a:p>
          </p:txBody>
        </p:sp>
        <p:sp>
          <p:nvSpPr>
            <p:cNvPr id="43" name="TextBox 43"/>
            <p:cNvSpPr txBox="1"/>
            <p:nvPr/>
          </p:nvSpPr>
          <p:spPr>
            <a:xfrm>
              <a:off x="5024438" y="1082278"/>
              <a:ext cx="740781"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本地合作 · 效果反馈​</a:t>
              </a:r>
            </a:p>
          </p:txBody>
        </p:sp>
        <p:sp>
          <p:nvSpPr>
            <p:cNvPr id="44" name="Freeform 44"/>
            <p:cNvSpPr/>
            <p:nvPr/>
          </p:nvSpPr>
          <p:spPr>
            <a:xfrm>
              <a:off x="6267450" y="933450"/>
              <a:ext cx="133350" cy="171450"/>
            </a:xfrm>
            <a:prstGeom prst="rightArrow">
              <a:avLst/>
            </a:prstGeom>
            <a:solidFill>
              <a:srgbClr val="A3422F"/>
            </a:solidFill>
            <a:ln>
              <a:noFill/>
            </a:ln>
          </p:spPr>
        </p:sp>
        <p:sp>
          <p:nvSpPr>
            <p:cNvPr id="45" name="Rectangle 45"/>
            <p:cNvSpPr/>
            <p:nvPr/>
          </p:nvSpPr>
          <p:spPr>
            <a:xfrm>
              <a:off x="6305550" y="704850"/>
              <a:ext cx="1581150" cy="571500"/>
            </a:xfrm>
            <a:prstGeom prst="roundRect">
              <a:avLst>
                <a:gd name="adj" fmla="val 10000"/>
              </a:avLst>
            </a:prstGeom>
            <a:solidFill>
              <a:srgbClr val="F0FAF8"/>
            </a:solidFill>
            <a:ln w="9525">
              <a:solidFill>
                <a:srgbClr val="C2E0DA"/>
              </a:solidFill>
            </a:ln>
          </p:spPr>
        </p:sp>
        <p:grpSp>
          <p:nvGrpSpPr>
            <p:cNvPr id="50" name="Group 50"/>
            <p:cNvGrpSpPr/>
            <p:nvPr/>
          </p:nvGrpSpPr>
          <p:grpSpPr>
            <a:xfrm>
              <a:off x="6426994" y="845344"/>
              <a:ext cx="157163" cy="157163"/>
              <a:chOff x="6426994" y="845344"/>
              <a:chExt cx="157163" cy="157163"/>
            </a:xfrm>
          </p:grpSpPr>
          <p:sp>
            <p:nvSpPr>
              <p:cNvPr id="46" name="Freeform 46"/>
              <p:cNvSpPr/>
              <p:nvPr/>
            </p:nvSpPr>
            <p:spPr>
              <a:xfrm>
                <a:off x="6444456" y="8453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76200F"/>
                </a:solidFill>
              </a:ln>
            </p:spPr>
          </p:sp>
          <p:sp>
            <p:nvSpPr>
              <p:cNvPr id="47" name="Freeform 47"/>
              <p:cNvSpPr/>
              <p:nvPr/>
            </p:nvSpPr>
            <p:spPr>
              <a:xfrm>
                <a:off x="6426994" y="95011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76200F"/>
                </a:solidFill>
              </a:ln>
            </p:spPr>
          </p:sp>
          <p:sp>
            <p:nvSpPr>
              <p:cNvPr id="48" name="Freeform 48"/>
              <p:cNvSpPr/>
              <p:nvPr/>
            </p:nvSpPr>
            <p:spPr>
              <a:xfrm>
                <a:off x="6540500" y="84647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76200F"/>
                </a:solidFill>
              </a:ln>
            </p:spPr>
          </p:sp>
          <p:sp>
            <p:nvSpPr>
              <p:cNvPr id="49" name="Freeform 49"/>
              <p:cNvSpPr/>
              <p:nvPr/>
            </p:nvSpPr>
            <p:spPr>
              <a:xfrm>
                <a:off x="6557963" y="95142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76200F"/>
                </a:solidFill>
              </a:ln>
            </p:spPr>
          </p:sp>
        </p:grpSp>
        <p:sp>
          <p:nvSpPr>
            <p:cNvPr id="51" name="TextBox 51"/>
            <p:cNvSpPr txBox="1"/>
            <p:nvPr/>
          </p:nvSpPr>
          <p:spPr>
            <a:xfrm>
              <a:off x="6681788" y="810339"/>
              <a:ext cx="222225" cy="154781"/>
            </a:xfrm>
            <a:prstGeom prst="rect">
              <a:avLst/>
            </a:prstGeom>
            <a:noFill/>
            <a:ln>
              <a:noFill/>
            </a:ln>
          </p:spPr>
          <p:txBody>
            <a:bodyPr wrap="none" lIns="0" tIns="0" rIns="0" bIns="0" anchor="t" anchorCtr="0">
              <a:spAutoFit/>
            </a:bodyPr>
            <a:lstStyle/>
            <a:p>
              <a:pPr algn="l"/>
              <a:r>
                <a:rPr lang="zh-CN" sz="790" b="1" dirty="0">
                  <a:solidFill>
                    <a:srgbClr val="331712"/>
                  </a:solidFill>
                  <a:latin typeface="+mn-lt"/>
                  <a:ea typeface="+mn-ea"/>
                  <a:cs typeface="+mn-cs"/>
                </a:rPr>
                <a:t>网点</a:t>
              </a:r>
            </a:p>
          </p:txBody>
        </p:sp>
        <p:sp>
          <p:nvSpPr>
            <p:cNvPr id="52" name="TextBox 52"/>
            <p:cNvSpPr txBox="1"/>
            <p:nvPr/>
          </p:nvSpPr>
          <p:spPr>
            <a:xfrm>
              <a:off x="6681788" y="967978"/>
              <a:ext cx="740781"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现场执行 · 客户服务​</a:t>
              </a:r>
            </a:p>
          </p:txBody>
        </p:sp>
        <p:sp>
          <p:nvSpPr>
            <p:cNvPr id="53" name="TextBox 53"/>
            <p:cNvSpPr txBox="1"/>
            <p:nvPr/>
          </p:nvSpPr>
          <p:spPr>
            <a:xfrm>
              <a:off x="6681788" y="1082278"/>
              <a:ext cx="740781" cy="111919"/>
            </a:xfrm>
            <a:prstGeom prst="rect">
              <a:avLst/>
            </a:prstGeom>
            <a:noFill/>
            <a:ln>
              <a:noFill/>
            </a:ln>
          </p:spPr>
          <p:txBody>
            <a:bodyPr wrap="none" lIns="0" tIns="0" rIns="0" bIns="0" anchor="t" anchorCtr="0">
              <a:spAutoFit/>
            </a:bodyPr>
            <a:lstStyle/>
            <a:p>
              <a:pPr algn="l"/>
              <a:r>
                <a:rPr lang="zh-CN" sz="560" dirty="0">
                  <a:solidFill>
                    <a:srgbClr val="73615E"/>
                  </a:solidFill>
                  <a:latin typeface="+mn-lt"/>
                  <a:ea typeface="+mn-ea"/>
                  <a:cs typeface="+mn-cs"/>
                </a:rPr>
                <a:t>氛围营造 · 线索跟进​</a:t>
              </a:r>
            </a:p>
          </p:txBody>
        </p:sp>
        <p:sp>
          <p:nvSpPr>
            <p:cNvPr id="54" name="Rectangle 54"/>
            <p:cNvSpPr/>
            <p:nvPr/>
          </p:nvSpPr>
          <p:spPr>
            <a:xfrm>
              <a:off x="342900" y="1352550"/>
              <a:ext cx="914400" cy="533400"/>
            </a:xfrm>
            <a:prstGeom prst="roundRect">
              <a:avLst>
                <a:gd name="adj" fmla="val 10714"/>
              </a:avLst>
            </a:prstGeom>
            <a:solidFill>
              <a:srgbClr val="76200F"/>
            </a:solidFill>
            <a:ln>
              <a:noFill/>
            </a:ln>
          </p:spPr>
        </p:sp>
        <p:sp>
          <p:nvSpPr>
            <p:cNvPr id="55" name="TextBox 55"/>
            <p:cNvSpPr txBox="1"/>
            <p:nvPr/>
          </p:nvSpPr>
          <p:spPr>
            <a:xfrm>
              <a:off x="582638" y="14770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条线分工</a:t>
              </a:r>
            </a:p>
          </p:txBody>
        </p:sp>
        <p:sp>
          <p:nvSpPr>
            <p:cNvPr id="56" name="TextBox 56"/>
            <p:cNvSpPr txBox="1"/>
            <p:nvPr/>
          </p:nvSpPr>
          <p:spPr>
            <a:xfrm>
              <a:off x="536867" y="1645682"/>
              <a:ext cx="526466" cy="126206"/>
            </a:xfrm>
            <a:prstGeom prst="rect">
              <a:avLst/>
            </a:prstGeom>
            <a:noFill/>
            <a:ln>
              <a:noFill/>
            </a:ln>
          </p:spPr>
          <p:txBody>
            <a:bodyPr wrap="none" lIns="0" tIns="0" rIns="0" bIns="0" anchor="t" anchorCtr="0">
              <a:spAutoFit/>
            </a:bodyPr>
            <a:lstStyle/>
            <a:p>
              <a:pPr algn="ctr"/>
              <a:r>
                <a:rPr lang="zh-CN" sz="640" dirty="0">
                  <a:solidFill>
                    <a:srgbClr val="BFE4DD"/>
                  </a:solidFill>
                  <a:latin typeface="+mn-lt"/>
                  <a:ea typeface="+mn-ea"/>
                  <a:cs typeface="+mn-cs"/>
                </a:rPr>
                <a:t>（专业支撑）</a:t>
              </a:r>
            </a:p>
          </p:txBody>
        </p:sp>
        <p:grpSp>
          <p:nvGrpSpPr>
            <p:cNvPr id="109" name="line-chips"/>
            <p:cNvGrpSpPr/>
            <p:nvPr/>
          </p:nvGrpSpPr>
          <p:grpSpPr>
            <a:xfrm>
              <a:off x="1333500" y="1352550"/>
              <a:ext cx="6924675" cy="533400"/>
              <a:chOff x="1333500" y="1352550"/>
              <a:chExt cx="6924675" cy="533400"/>
            </a:xfrm>
          </p:grpSpPr>
          <p:sp>
            <p:nvSpPr>
              <p:cNvPr id="57" name="Rectangle 57"/>
              <p:cNvSpPr/>
              <p:nvPr/>
            </p:nvSpPr>
            <p:spPr>
              <a:xfrm>
                <a:off x="1333500" y="1352550"/>
                <a:ext cx="1085850" cy="533400"/>
              </a:xfrm>
              <a:prstGeom prst="roundRect">
                <a:avLst>
                  <a:gd name="adj" fmla="val 10714"/>
                </a:avLst>
              </a:prstGeom>
              <a:solidFill>
                <a:srgbClr val="FFFFFF"/>
              </a:solidFill>
              <a:ln w="9525">
                <a:solidFill>
                  <a:srgbClr val="C2E0DA"/>
                </a:solidFill>
              </a:ln>
            </p:spPr>
          </p:sp>
          <p:grpSp>
            <p:nvGrpSpPr>
              <p:cNvPr id="62" name="Group 62"/>
              <p:cNvGrpSpPr/>
              <p:nvPr/>
            </p:nvGrpSpPr>
            <p:grpSpPr>
              <a:xfrm>
                <a:off x="1426369" y="1445419"/>
                <a:ext cx="100012" cy="100012"/>
                <a:chOff x="1426369" y="1445419"/>
                <a:chExt cx="100012" cy="100012"/>
              </a:xfrm>
            </p:grpSpPr>
            <p:sp>
              <p:nvSpPr>
                <p:cNvPr id="58" name="Freeform 58"/>
                <p:cNvSpPr/>
                <p:nvPr/>
              </p:nvSpPr>
              <p:spPr>
                <a:xfrm>
                  <a:off x="1437481" y="14454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76200F"/>
                  </a:solidFill>
                </a:ln>
              </p:spPr>
            </p:sp>
            <p:sp>
              <p:nvSpPr>
                <p:cNvPr id="59" name="Freeform 59"/>
                <p:cNvSpPr/>
                <p:nvPr/>
              </p:nvSpPr>
              <p:spPr>
                <a:xfrm>
                  <a:off x="1426369" y="151209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76200F"/>
                  </a:solidFill>
                </a:ln>
              </p:spPr>
            </p:sp>
            <p:sp>
              <p:nvSpPr>
                <p:cNvPr id="60" name="Freeform 60"/>
                <p:cNvSpPr/>
                <p:nvPr/>
              </p:nvSpPr>
              <p:spPr>
                <a:xfrm>
                  <a:off x="1498600" y="144614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76200F"/>
                  </a:solidFill>
                </a:ln>
              </p:spPr>
            </p:sp>
            <p:sp>
              <p:nvSpPr>
                <p:cNvPr id="61" name="Freeform 61"/>
                <p:cNvSpPr/>
                <p:nvPr/>
              </p:nvSpPr>
              <p:spPr>
                <a:xfrm>
                  <a:off x="1509712" y="151292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76200F"/>
                  </a:solidFill>
                </a:ln>
              </p:spPr>
            </p:sp>
          </p:grpSp>
          <p:sp>
            <p:nvSpPr>
              <p:cNvPr id="63" name="TextBox 63"/>
              <p:cNvSpPr txBox="1"/>
              <p:nvPr/>
            </p:nvSpPr>
            <p:spPr>
              <a:xfrm>
                <a:off x="1595438" y="1460659"/>
                <a:ext cx="375691" cy="133350"/>
              </a:xfrm>
              <a:prstGeom prst="rect">
                <a:avLst/>
              </a:prstGeom>
              <a:noFill/>
              <a:ln>
                <a:noFill/>
              </a:ln>
            </p:spPr>
            <p:txBody>
              <a:bodyPr wrap="none" lIns="0" tIns="0" rIns="0" bIns="0" anchor="t" anchorCtr="0">
                <a:spAutoFit/>
              </a:bodyPr>
              <a:lstStyle/>
              <a:p>
                <a:pPr algn="l"/>
                <a:r>
                  <a:rPr lang="zh-CN" sz="680" b="1" dirty="0">
                    <a:solidFill>
                      <a:srgbClr val="331712"/>
                    </a:solidFill>
                    <a:latin typeface="+mn-lt"/>
                    <a:ea typeface="+mn-ea"/>
                    <a:cs typeface="+mn-cs"/>
                  </a:rPr>
                  <a:t>零售条线</a:t>
                </a:r>
              </a:p>
            </p:txBody>
          </p:sp>
          <p:sp>
            <p:nvSpPr>
              <p:cNvPr id="64" name="TextBox 64"/>
              <p:cNvSpPr txBox="1"/>
              <p:nvPr/>
            </p:nvSpPr>
            <p:spPr>
              <a:xfrm>
                <a:off x="1404938" y="16197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客群策略 · 产品权益​</a:t>
                </a:r>
              </a:p>
            </p:txBody>
          </p:sp>
          <p:sp>
            <p:nvSpPr>
              <p:cNvPr id="65" name="TextBox 65"/>
              <p:cNvSpPr txBox="1"/>
              <p:nvPr/>
            </p:nvSpPr>
            <p:spPr>
              <a:xfrm>
                <a:off x="1404938" y="17340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客户运营 · 转化提升​</a:t>
                </a:r>
              </a:p>
            </p:txBody>
          </p:sp>
          <p:sp>
            <p:nvSpPr>
              <p:cNvPr id="66" name="Rectangle 66"/>
              <p:cNvSpPr/>
              <p:nvPr/>
            </p:nvSpPr>
            <p:spPr>
              <a:xfrm>
                <a:off x="2466975" y="1352550"/>
                <a:ext cx="1085850" cy="533400"/>
              </a:xfrm>
              <a:prstGeom prst="roundRect">
                <a:avLst>
                  <a:gd name="adj" fmla="val 10714"/>
                </a:avLst>
              </a:prstGeom>
              <a:solidFill>
                <a:srgbClr val="FFFFFF"/>
              </a:solidFill>
              <a:ln w="9525">
                <a:solidFill>
                  <a:srgbClr val="C2E0DA"/>
                </a:solidFill>
              </a:ln>
            </p:spPr>
          </p:sp>
          <p:grpSp>
            <p:nvGrpSpPr>
              <p:cNvPr id="71" name="Group 71"/>
              <p:cNvGrpSpPr/>
              <p:nvPr/>
            </p:nvGrpSpPr>
            <p:grpSpPr>
              <a:xfrm>
                <a:off x="2559844" y="1445419"/>
                <a:ext cx="100012" cy="94456"/>
                <a:chOff x="2559844" y="1445419"/>
                <a:chExt cx="100012" cy="94456"/>
              </a:xfrm>
            </p:grpSpPr>
            <p:sp>
              <p:nvSpPr>
                <p:cNvPr id="67" name="Freeform 67"/>
                <p:cNvSpPr/>
                <p:nvPr/>
              </p:nvSpPr>
              <p:spPr>
                <a:xfrm>
                  <a:off x="2559844" y="1467644"/>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76200F"/>
                  </a:solidFill>
                </a:ln>
              </p:spPr>
            </p:sp>
            <p:sp>
              <p:nvSpPr>
                <p:cNvPr id="68" name="Freeform 68"/>
                <p:cNvSpPr/>
                <p:nvPr/>
              </p:nvSpPr>
              <p:spPr>
                <a:xfrm>
                  <a:off x="2587625" y="1445419"/>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76200F"/>
                  </a:solidFill>
                </a:ln>
              </p:spPr>
            </p:sp>
            <p:sp>
              <p:nvSpPr>
                <p:cNvPr id="69" name="Freeform 69"/>
                <p:cNvSpPr/>
                <p:nvPr/>
              </p:nvSpPr>
              <p:spPr>
                <a:xfrm>
                  <a:off x="2609850" y="1495425"/>
                  <a:ext cx="9525" cy="9525"/>
                </a:xfrm>
                <a:custGeom>
                  <a:avLst/>
                  <a:gdLst/>
                  <a:ahLst/>
                  <a:cxnLst/>
                  <a:rect l="l" t="t" r="r" b="b"/>
                  <a:pathLst>
                    <a:path w="9525" h="9525">
                      <a:moveTo>
                        <a:pt x="0" y="0"/>
                      </a:moveTo>
                      <a:lnTo>
                        <a:pt x="0" y="56"/>
                      </a:lnTo>
                    </a:path>
                  </a:pathLst>
                </a:custGeom>
                <a:noFill/>
                <a:ln w="11112">
                  <a:solidFill>
                    <a:srgbClr val="76200F"/>
                  </a:solidFill>
                </a:ln>
              </p:spPr>
            </p:sp>
            <p:sp>
              <p:nvSpPr>
                <p:cNvPr id="70" name="Freeform 70"/>
                <p:cNvSpPr/>
                <p:nvPr/>
              </p:nvSpPr>
              <p:spPr>
                <a:xfrm>
                  <a:off x="2559844" y="1500981"/>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76200F"/>
                  </a:solidFill>
                </a:ln>
              </p:spPr>
            </p:sp>
          </p:grpSp>
          <p:sp>
            <p:nvSpPr>
              <p:cNvPr id="72" name="TextBox 72"/>
              <p:cNvSpPr txBox="1"/>
              <p:nvPr/>
            </p:nvSpPr>
            <p:spPr>
              <a:xfrm>
                <a:off x="2728912" y="1460659"/>
                <a:ext cx="375691" cy="133350"/>
              </a:xfrm>
              <a:prstGeom prst="rect">
                <a:avLst/>
              </a:prstGeom>
              <a:noFill/>
              <a:ln>
                <a:noFill/>
              </a:ln>
            </p:spPr>
            <p:txBody>
              <a:bodyPr wrap="none" lIns="0" tIns="0" rIns="0" bIns="0" anchor="t" anchorCtr="0">
                <a:spAutoFit/>
              </a:bodyPr>
              <a:lstStyle/>
              <a:p>
                <a:pPr algn="l"/>
                <a:r>
                  <a:rPr lang="zh-CN" sz="680" b="1" dirty="0">
                    <a:solidFill>
                      <a:srgbClr val="331712"/>
                    </a:solidFill>
                    <a:latin typeface="+mn-lt"/>
                    <a:ea typeface="+mn-ea"/>
                    <a:cs typeface="+mn-cs"/>
                  </a:rPr>
                  <a:t>对公条线</a:t>
                </a:r>
              </a:p>
            </p:txBody>
          </p:sp>
          <p:sp>
            <p:nvSpPr>
              <p:cNvPr id="73" name="TextBox 73"/>
              <p:cNvSpPr txBox="1"/>
              <p:nvPr/>
            </p:nvSpPr>
            <p:spPr>
              <a:xfrm>
                <a:off x="2538412" y="16197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商户拓展 · 生态合作​</a:t>
                </a:r>
              </a:p>
            </p:txBody>
          </p:sp>
          <p:sp>
            <p:nvSpPr>
              <p:cNvPr id="74" name="TextBox 74"/>
              <p:cNvSpPr txBox="1"/>
              <p:nvPr/>
            </p:nvSpPr>
            <p:spPr>
              <a:xfrm>
                <a:off x="2538412" y="1734026"/>
                <a:ext cx="69772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B端资源 · 联合营销​​</a:t>
                </a:r>
              </a:p>
            </p:txBody>
          </p:sp>
          <p:sp>
            <p:nvSpPr>
              <p:cNvPr id="75" name="Rectangle 75"/>
              <p:cNvSpPr/>
              <p:nvPr/>
            </p:nvSpPr>
            <p:spPr>
              <a:xfrm>
                <a:off x="3600450" y="1352550"/>
                <a:ext cx="1085850" cy="533400"/>
              </a:xfrm>
              <a:prstGeom prst="roundRect">
                <a:avLst>
                  <a:gd name="adj" fmla="val 10714"/>
                </a:avLst>
              </a:prstGeom>
              <a:solidFill>
                <a:srgbClr val="FFFFFF"/>
              </a:solidFill>
              <a:ln w="9525">
                <a:solidFill>
                  <a:srgbClr val="C2E0DA"/>
                </a:solidFill>
              </a:ln>
            </p:spPr>
          </p:sp>
          <p:grpSp>
            <p:nvGrpSpPr>
              <p:cNvPr id="80" name="Group 80"/>
              <p:cNvGrpSpPr/>
              <p:nvPr/>
            </p:nvGrpSpPr>
            <p:grpSpPr>
              <a:xfrm>
                <a:off x="3693319" y="1456531"/>
                <a:ext cx="100012" cy="77787"/>
                <a:chOff x="3693319" y="1456531"/>
                <a:chExt cx="100012" cy="77787"/>
              </a:xfrm>
            </p:grpSpPr>
            <p:sp>
              <p:nvSpPr>
                <p:cNvPr id="76" name="Freeform 76"/>
                <p:cNvSpPr/>
                <p:nvPr/>
              </p:nvSpPr>
              <p:spPr>
                <a:xfrm>
                  <a:off x="3693319" y="1456531"/>
                  <a:ext cx="100012" cy="77787"/>
                </a:xfrm>
                <a:custGeom>
                  <a:avLst/>
                  <a:gdLst/>
                  <a:ahLst/>
                  <a:cxnLst/>
                  <a:rect l="l" t="t" r="r" b="b"/>
                  <a:pathLst>
                    <a:path w="100012" h="77787">
                      <a:moveTo>
                        <a:pt x="0" y="16669"/>
                      </a:moveTo>
                      <a:cubicBezTo>
                        <a:pt x="0" y="7463"/>
                        <a:pt x="7463" y="0"/>
                        <a:pt x="16669" y="0"/>
                      </a:cubicBezTo>
                      <a:lnTo>
                        <a:pt x="83344" y="0"/>
                      </a:lnTo>
                      <a:cubicBezTo>
                        <a:pt x="92550" y="0"/>
                        <a:pt x="100012" y="7463"/>
                        <a:pt x="100012" y="16669"/>
                      </a:cubicBezTo>
                      <a:lnTo>
                        <a:pt x="100012" y="61119"/>
                      </a:lnTo>
                      <a:cubicBezTo>
                        <a:pt x="100012" y="70325"/>
                        <a:pt x="92550" y="77787"/>
                        <a:pt x="83344" y="77787"/>
                      </a:cubicBezTo>
                      <a:lnTo>
                        <a:pt x="16669" y="77787"/>
                      </a:lnTo>
                      <a:cubicBezTo>
                        <a:pt x="7463" y="77787"/>
                        <a:pt x="0" y="70325"/>
                        <a:pt x="0" y="61119"/>
                      </a:cubicBezTo>
                      <a:lnTo>
                        <a:pt x="0" y="16669"/>
                      </a:lnTo>
                    </a:path>
                  </a:pathLst>
                </a:custGeom>
                <a:noFill/>
                <a:ln w="11112">
                  <a:solidFill>
                    <a:srgbClr val="76200F"/>
                  </a:solidFill>
                </a:ln>
              </p:spPr>
            </p:sp>
            <p:sp>
              <p:nvSpPr>
                <p:cNvPr id="77" name="Freeform 77"/>
                <p:cNvSpPr/>
                <p:nvPr/>
              </p:nvSpPr>
              <p:spPr>
                <a:xfrm>
                  <a:off x="3693319" y="1484312"/>
                  <a:ext cx="100012" cy="9525"/>
                </a:xfrm>
                <a:custGeom>
                  <a:avLst/>
                  <a:gdLst/>
                  <a:ahLst/>
                  <a:cxnLst/>
                  <a:rect l="l" t="t" r="r" b="b"/>
                  <a:pathLst>
                    <a:path w="100012" h="9525">
                      <a:moveTo>
                        <a:pt x="0" y="0"/>
                      </a:moveTo>
                      <a:lnTo>
                        <a:pt x="100012" y="0"/>
                      </a:lnTo>
                    </a:path>
                  </a:pathLst>
                </a:custGeom>
                <a:noFill/>
                <a:ln w="11112">
                  <a:solidFill>
                    <a:srgbClr val="76200F"/>
                  </a:solidFill>
                </a:ln>
              </p:spPr>
            </p:sp>
            <p:sp>
              <p:nvSpPr>
                <p:cNvPr id="78" name="Freeform 78"/>
                <p:cNvSpPr/>
                <p:nvPr/>
              </p:nvSpPr>
              <p:spPr>
                <a:xfrm>
                  <a:off x="3715544" y="1512094"/>
                  <a:ext cx="9525" cy="9525"/>
                </a:xfrm>
                <a:custGeom>
                  <a:avLst/>
                  <a:gdLst/>
                  <a:ahLst/>
                  <a:cxnLst/>
                  <a:rect l="l" t="t" r="r" b="b"/>
                  <a:pathLst>
                    <a:path w="9525" h="9525">
                      <a:moveTo>
                        <a:pt x="0" y="0"/>
                      </a:moveTo>
                      <a:lnTo>
                        <a:pt x="56" y="0"/>
                      </a:lnTo>
                    </a:path>
                  </a:pathLst>
                </a:custGeom>
                <a:noFill/>
                <a:ln w="11112">
                  <a:solidFill>
                    <a:srgbClr val="76200F"/>
                  </a:solidFill>
                </a:ln>
              </p:spPr>
            </p:sp>
            <p:sp>
              <p:nvSpPr>
                <p:cNvPr id="79" name="Freeform 79"/>
                <p:cNvSpPr/>
                <p:nvPr/>
              </p:nvSpPr>
              <p:spPr>
                <a:xfrm>
                  <a:off x="3737769" y="1512094"/>
                  <a:ext cx="11112" cy="9525"/>
                </a:xfrm>
                <a:custGeom>
                  <a:avLst/>
                  <a:gdLst/>
                  <a:ahLst/>
                  <a:cxnLst/>
                  <a:rect l="l" t="t" r="r" b="b"/>
                  <a:pathLst>
                    <a:path w="11112" h="9525">
                      <a:moveTo>
                        <a:pt x="0" y="0"/>
                      </a:moveTo>
                      <a:lnTo>
                        <a:pt x="11112" y="0"/>
                      </a:lnTo>
                    </a:path>
                  </a:pathLst>
                </a:custGeom>
                <a:noFill/>
                <a:ln w="11112">
                  <a:solidFill>
                    <a:srgbClr val="76200F"/>
                  </a:solidFill>
                </a:ln>
              </p:spPr>
            </p:sp>
          </p:grpSp>
          <p:sp>
            <p:nvSpPr>
              <p:cNvPr id="81" name="TextBox 81"/>
              <p:cNvSpPr txBox="1"/>
              <p:nvPr/>
            </p:nvSpPr>
            <p:spPr>
              <a:xfrm>
                <a:off x="3862388" y="1460659"/>
                <a:ext cx="467233" cy="133350"/>
              </a:xfrm>
              <a:prstGeom prst="rect">
                <a:avLst/>
              </a:prstGeom>
              <a:noFill/>
              <a:ln>
                <a:noFill/>
              </a:ln>
            </p:spPr>
            <p:txBody>
              <a:bodyPr wrap="none" lIns="0" tIns="0" rIns="0" bIns="0" anchor="t" anchorCtr="0">
                <a:spAutoFit/>
              </a:bodyPr>
              <a:lstStyle/>
              <a:p>
                <a:pPr algn="l"/>
                <a:r>
                  <a:rPr lang="zh-CN" sz="680" b="1" dirty="0">
                    <a:solidFill>
                      <a:srgbClr val="331712"/>
                    </a:solidFill>
                    <a:latin typeface="+mn-lt"/>
                    <a:ea typeface="+mn-ea"/>
                    <a:cs typeface="+mn-cs"/>
                  </a:rPr>
                  <a:t>信用卡条线</a:t>
                </a:r>
              </a:p>
            </p:txBody>
          </p:sp>
          <p:sp>
            <p:nvSpPr>
              <p:cNvPr id="82" name="TextBox 82"/>
              <p:cNvSpPr txBox="1"/>
              <p:nvPr/>
            </p:nvSpPr>
            <p:spPr>
              <a:xfrm>
                <a:off x="3671888" y="16197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支付优惠 · 消费场景​</a:t>
                </a:r>
              </a:p>
            </p:txBody>
          </p:sp>
          <p:sp>
            <p:nvSpPr>
              <p:cNvPr id="83" name="TextBox 83"/>
              <p:cNvSpPr txBox="1"/>
              <p:nvPr/>
            </p:nvSpPr>
            <p:spPr>
              <a:xfrm>
                <a:off x="3671888" y="17340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开卡激活 · 交易转化​</a:t>
                </a:r>
              </a:p>
            </p:txBody>
          </p:sp>
          <p:sp>
            <p:nvSpPr>
              <p:cNvPr id="84" name="Rectangle 84"/>
              <p:cNvSpPr/>
              <p:nvPr/>
            </p:nvSpPr>
            <p:spPr>
              <a:xfrm>
                <a:off x="4733925" y="1352550"/>
                <a:ext cx="1085850" cy="533400"/>
              </a:xfrm>
              <a:prstGeom prst="roundRect">
                <a:avLst>
                  <a:gd name="adj" fmla="val 10714"/>
                </a:avLst>
              </a:prstGeom>
              <a:solidFill>
                <a:srgbClr val="FFFFFF"/>
              </a:solidFill>
              <a:ln w="9525">
                <a:solidFill>
                  <a:srgbClr val="C2E0DA"/>
                </a:solidFill>
              </a:ln>
            </p:spPr>
          </p:sp>
          <p:grpSp>
            <p:nvGrpSpPr>
              <p:cNvPr id="87" name="Group 87"/>
              <p:cNvGrpSpPr/>
              <p:nvPr/>
            </p:nvGrpSpPr>
            <p:grpSpPr>
              <a:xfrm>
                <a:off x="4824355" y="1442980"/>
                <a:ext cx="104891" cy="104891"/>
                <a:chOff x="4824355" y="1442980"/>
                <a:chExt cx="104891" cy="104891"/>
              </a:xfrm>
            </p:grpSpPr>
            <p:sp>
              <p:nvSpPr>
                <p:cNvPr id="85" name="Freeform 85"/>
                <p:cNvSpPr/>
                <p:nvPr/>
              </p:nvSpPr>
              <p:spPr>
                <a:xfrm>
                  <a:off x="4824355" y="1442980"/>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76200F"/>
                  </a:solidFill>
                </a:ln>
              </p:spPr>
            </p:sp>
            <p:sp>
              <p:nvSpPr>
                <p:cNvPr id="86" name="Freeform 86"/>
                <p:cNvSpPr/>
                <p:nvPr/>
              </p:nvSpPr>
              <p:spPr>
                <a:xfrm>
                  <a:off x="4860131" y="1478756"/>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76200F"/>
                  </a:solidFill>
                </a:ln>
              </p:spPr>
            </p:sp>
          </p:grpSp>
          <p:sp>
            <p:nvSpPr>
              <p:cNvPr id="88" name="TextBox 88"/>
              <p:cNvSpPr txBox="1"/>
              <p:nvPr/>
            </p:nvSpPr>
            <p:spPr>
              <a:xfrm>
                <a:off x="4995862" y="1460659"/>
                <a:ext cx="375691" cy="133350"/>
              </a:xfrm>
              <a:prstGeom prst="rect">
                <a:avLst/>
              </a:prstGeom>
              <a:noFill/>
              <a:ln>
                <a:noFill/>
              </a:ln>
            </p:spPr>
            <p:txBody>
              <a:bodyPr wrap="none" lIns="0" tIns="0" rIns="0" bIns="0" anchor="t" anchorCtr="0">
                <a:spAutoFit/>
              </a:bodyPr>
              <a:lstStyle/>
              <a:p>
                <a:pPr algn="l"/>
                <a:r>
                  <a:rPr lang="zh-CN" sz="680" b="1" dirty="0">
                    <a:solidFill>
                      <a:srgbClr val="331712"/>
                    </a:solidFill>
                    <a:latin typeface="+mn-lt"/>
                    <a:ea typeface="+mn-ea"/>
                    <a:cs typeface="+mn-cs"/>
                  </a:rPr>
                  <a:t>科技条线</a:t>
                </a:r>
              </a:p>
            </p:txBody>
          </p:sp>
          <p:sp>
            <p:nvSpPr>
              <p:cNvPr id="89" name="TextBox 89"/>
              <p:cNvSpPr txBox="1"/>
              <p:nvPr/>
            </p:nvSpPr>
            <p:spPr>
              <a:xfrm>
                <a:off x="4805362" y="16197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系统支持 · 数据能力​</a:t>
                </a:r>
              </a:p>
            </p:txBody>
          </p:sp>
          <p:sp>
            <p:nvSpPr>
              <p:cNvPr id="90" name="TextBox 90"/>
              <p:cNvSpPr txBox="1"/>
              <p:nvPr/>
            </p:nvSpPr>
            <p:spPr>
              <a:xfrm>
                <a:off x="4805362" y="17340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线上联动 · 技术保障​</a:t>
                </a:r>
              </a:p>
            </p:txBody>
          </p:sp>
          <p:sp>
            <p:nvSpPr>
              <p:cNvPr id="91" name="Rectangle 91"/>
              <p:cNvSpPr/>
              <p:nvPr/>
            </p:nvSpPr>
            <p:spPr>
              <a:xfrm>
                <a:off x="5867400" y="1352550"/>
                <a:ext cx="1085850" cy="533400"/>
              </a:xfrm>
              <a:prstGeom prst="roundRect">
                <a:avLst>
                  <a:gd name="adj" fmla="val 10714"/>
                </a:avLst>
              </a:prstGeom>
              <a:solidFill>
                <a:srgbClr val="FFFFFF"/>
              </a:solidFill>
              <a:ln w="9525">
                <a:solidFill>
                  <a:srgbClr val="C2E0DA"/>
                </a:solidFill>
              </a:ln>
            </p:spPr>
          </p:sp>
          <p:grpSp>
            <p:nvGrpSpPr>
              <p:cNvPr id="98" name="Group 98"/>
              <p:cNvGrpSpPr/>
              <p:nvPr/>
            </p:nvGrpSpPr>
            <p:grpSpPr>
              <a:xfrm>
                <a:off x="5963047" y="1453753"/>
                <a:ext cx="91678" cy="84534"/>
                <a:chOff x="5963047" y="1453753"/>
                <a:chExt cx="91678" cy="84534"/>
              </a:xfrm>
            </p:grpSpPr>
            <p:sp>
              <p:nvSpPr>
                <p:cNvPr id="92" name="Freeform 92"/>
                <p:cNvSpPr/>
                <p:nvPr/>
              </p:nvSpPr>
              <p:spPr>
                <a:xfrm>
                  <a:off x="5963047" y="1453753"/>
                  <a:ext cx="22225" cy="13891"/>
                </a:xfrm>
                <a:custGeom>
                  <a:avLst/>
                  <a:gdLst/>
                  <a:ahLst/>
                  <a:cxnLst/>
                  <a:rect l="l" t="t" r="r" b="b"/>
                  <a:pathLst>
                    <a:path w="22225" h="13891">
                      <a:moveTo>
                        <a:pt x="0" y="5556"/>
                      </a:moveTo>
                      <a:lnTo>
                        <a:pt x="8334" y="13891"/>
                      </a:lnTo>
                      <a:lnTo>
                        <a:pt x="22225" y="0"/>
                      </a:lnTo>
                    </a:path>
                  </a:pathLst>
                </a:custGeom>
                <a:noFill/>
                <a:ln w="11112">
                  <a:solidFill>
                    <a:srgbClr val="76200F"/>
                  </a:solidFill>
                </a:ln>
              </p:spPr>
            </p:sp>
            <p:sp>
              <p:nvSpPr>
                <p:cNvPr id="93" name="Freeform 93"/>
                <p:cNvSpPr/>
                <p:nvPr/>
              </p:nvSpPr>
              <p:spPr>
                <a:xfrm>
                  <a:off x="5963047" y="1487091"/>
                  <a:ext cx="22225" cy="13891"/>
                </a:xfrm>
                <a:custGeom>
                  <a:avLst/>
                  <a:gdLst/>
                  <a:ahLst/>
                  <a:cxnLst/>
                  <a:rect l="l" t="t" r="r" b="b"/>
                  <a:pathLst>
                    <a:path w="22225" h="13891">
                      <a:moveTo>
                        <a:pt x="0" y="5556"/>
                      </a:moveTo>
                      <a:lnTo>
                        <a:pt x="8334" y="13891"/>
                      </a:lnTo>
                      <a:lnTo>
                        <a:pt x="22225" y="0"/>
                      </a:lnTo>
                    </a:path>
                  </a:pathLst>
                </a:custGeom>
                <a:noFill/>
                <a:ln w="11112">
                  <a:solidFill>
                    <a:srgbClr val="76200F"/>
                  </a:solidFill>
                </a:ln>
              </p:spPr>
            </p:sp>
            <p:sp>
              <p:nvSpPr>
                <p:cNvPr id="94" name="Freeform 94"/>
                <p:cNvSpPr/>
                <p:nvPr/>
              </p:nvSpPr>
              <p:spPr>
                <a:xfrm>
                  <a:off x="5963047" y="1520428"/>
                  <a:ext cx="22225" cy="13891"/>
                </a:xfrm>
                <a:custGeom>
                  <a:avLst/>
                  <a:gdLst/>
                  <a:ahLst/>
                  <a:cxnLst/>
                  <a:rect l="l" t="t" r="r" b="b"/>
                  <a:pathLst>
                    <a:path w="22225" h="13891">
                      <a:moveTo>
                        <a:pt x="0" y="5556"/>
                      </a:moveTo>
                      <a:lnTo>
                        <a:pt x="8334" y="13891"/>
                      </a:lnTo>
                      <a:lnTo>
                        <a:pt x="22225" y="0"/>
                      </a:lnTo>
                    </a:path>
                  </a:pathLst>
                </a:custGeom>
                <a:noFill/>
                <a:ln w="11112">
                  <a:solidFill>
                    <a:srgbClr val="76200F"/>
                  </a:solidFill>
                </a:ln>
              </p:spPr>
            </p:sp>
            <p:sp>
              <p:nvSpPr>
                <p:cNvPr id="95" name="Freeform 95"/>
                <p:cNvSpPr/>
                <p:nvPr/>
              </p:nvSpPr>
              <p:spPr>
                <a:xfrm>
                  <a:off x="6004719" y="1462087"/>
                  <a:ext cx="50006" cy="9525"/>
                </a:xfrm>
                <a:custGeom>
                  <a:avLst/>
                  <a:gdLst/>
                  <a:ahLst/>
                  <a:cxnLst/>
                  <a:rect l="l" t="t" r="r" b="b"/>
                  <a:pathLst>
                    <a:path w="50006" h="9525">
                      <a:moveTo>
                        <a:pt x="0" y="0"/>
                      </a:moveTo>
                      <a:lnTo>
                        <a:pt x="50006" y="0"/>
                      </a:lnTo>
                    </a:path>
                  </a:pathLst>
                </a:custGeom>
                <a:noFill/>
                <a:ln w="11112">
                  <a:solidFill>
                    <a:srgbClr val="76200F"/>
                  </a:solidFill>
                </a:ln>
              </p:spPr>
            </p:sp>
            <p:sp>
              <p:nvSpPr>
                <p:cNvPr id="96" name="Freeform 96"/>
                <p:cNvSpPr/>
                <p:nvPr/>
              </p:nvSpPr>
              <p:spPr>
                <a:xfrm>
                  <a:off x="6004719" y="1495425"/>
                  <a:ext cx="50006" cy="9525"/>
                </a:xfrm>
                <a:custGeom>
                  <a:avLst/>
                  <a:gdLst/>
                  <a:ahLst/>
                  <a:cxnLst/>
                  <a:rect l="l" t="t" r="r" b="b"/>
                  <a:pathLst>
                    <a:path w="50006" h="9525">
                      <a:moveTo>
                        <a:pt x="0" y="0"/>
                      </a:moveTo>
                      <a:lnTo>
                        <a:pt x="50006" y="0"/>
                      </a:lnTo>
                    </a:path>
                  </a:pathLst>
                </a:custGeom>
                <a:noFill/>
                <a:ln w="11112">
                  <a:solidFill>
                    <a:srgbClr val="76200F"/>
                  </a:solidFill>
                </a:ln>
              </p:spPr>
            </p:sp>
            <p:sp>
              <p:nvSpPr>
                <p:cNvPr id="97" name="Freeform 97"/>
                <p:cNvSpPr/>
                <p:nvPr/>
              </p:nvSpPr>
              <p:spPr>
                <a:xfrm>
                  <a:off x="6004719" y="1528762"/>
                  <a:ext cx="50006" cy="9525"/>
                </a:xfrm>
                <a:custGeom>
                  <a:avLst/>
                  <a:gdLst/>
                  <a:ahLst/>
                  <a:cxnLst/>
                  <a:rect l="l" t="t" r="r" b="b"/>
                  <a:pathLst>
                    <a:path w="50006" h="9525">
                      <a:moveTo>
                        <a:pt x="0" y="0"/>
                      </a:moveTo>
                      <a:lnTo>
                        <a:pt x="50006" y="0"/>
                      </a:lnTo>
                    </a:path>
                  </a:pathLst>
                </a:custGeom>
                <a:noFill/>
                <a:ln w="11112">
                  <a:solidFill>
                    <a:srgbClr val="76200F"/>
                  </a:solidFill>
                </a:ln>
              </p:spPr>
            </p:sp>
          </p:grpSp>
          <p:sp>
            <p:nvSpPr>
              <p:cNvPr id="99" name="TextBox 99"/>
              <p:cNvSpPr txBox="1"/>
              <p:nvPr/>
            </p:nvSpPr>
            <p:spPr>
              <a:xfrm>
                <a:off x="6129338" y="1460659"/>
                <a:ext cx="375691" cy="133350"/>
              </a:xfrm>
              <a:prstGeom prst="rect">
                <a:avLst/>
              </a:prstGeom>
              <a:noFill/>
              <a:ln>
                <a:noFill/>
              </a:ln>
            </p:spPr>
            <p:txBody>
              <a:bodyPr wrap="none" lIns="0" tIns="0" rIns="0" bIns="0" anchor="t" anchorCtr="0">
                <a:spAutoFit/>
              </a:bodyPr>
              <a:lstStyle/>
              <a:p>
                <a:pPr algn="l"/>
                <a:r>
                  <a:rPr lang="zh-CN" sz="680" b="1" dirty="0">
                    <a:solidFill>
                      <a:srgbClr val="331712"/>
                    </a:solidFill>
                    <a:latin typeface="+mn-lt"/>
                    <a:ea typeface="+mn-ea"/>
                    <a:cs typeface="+mn-cs"/>
                  </a:rPr>
                  <a:t>运营条线</a:t>
                </a:r>
              </a:p>
            </p:txBody>
          </p:sp>
          <p:sp>
            <p:nvSpPr>
              <p:cNvPr id="100" name="TextBox 100"/>
              <p:cNvSpPr txBox="1"/>
              <p:nvPr/>
            </p:nvSpPr>
            <p:spPr>
              <a:xfrm>
                <a:off x="5938838" y="16197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流程管理 · 资源调度​</a:t>
                </a:r>
              </a:p>
            </p:txBody>
          </p:sp>
          <p:sp>
            <p:nvSpPr>
              <p:cNvPr id="101" name="TextBox 101"/>
              <p:cNvSpPr txBox="1"/>
              <p:nvPr/>
            </p:nvSpPr>
            <p:spPr>
              <a:xfrm>
                <a:off x="5938838" y="17340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物料保障 · 现场支援​</a:t>
                </a:r>
              </a:p>
            </p:txBody>
          </p:sp>
          <p:sp>
            <p:nvSpPr>
              <p:cNvPr id="102" name="Rectangle 102"/>
              <p:cNvSpPr/>
              <p:nvPr/>
            </p:nvSpPr>
            <p:spPr>
              <a:xfrm>
                <a:off x="7000875" y="1352550"/>
                <a:ext cx="1257300" cy="533400"/>
              </a:xfrm>
              <a:prstGeom prst="roundRect">
                <a:avLst>
                  <a:gd name="adj" fmla="val 10714"/>
                </a:avLst>
              </a:prstGeom>
              <a:solidFill>
                <a:srgbClr val="FFFFFF"/>
              </a:solidFill>
              <a:ln w="9525">
                <a:solidFill>
                  <a:srgbClr val="C2E0DA"/>
                </a:solidFill>
              </a:ln>
            </p:spPr>
          </p:sp>
          <p:grpSp>
            <p:nvGrpSpPr>
              <p:cNvPr id="105" name="Group 105"/>
              <p:cNvGrpSpPr/>
              <p:nvPr/>
            </p:nvGrpSpPr>
            <p:grpSpPr>
              <a:xfrm>
                <a:off x="7086245" y="1445419"/>
                <a:ext cx="108504" cy="100012"/>
                <a:chOff x="7086245" y="1445419"/>
                <a:chExt cx="108504" cy="100012"/>
              </a:xfrm>
            </p:grpSpPr>
            <p:sp>
              <p:nvSpPr>
                <p:cNvPr id="103" name="Freeform 103"/>
                <p:cNvSpPr/>
                <p:nvPr/>
              </p:nvSpPr>
              <p:spPr>
                <a:xfrm>
                  <a:off x="7086245" y="1445419"/>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76200F"/>
                  </a:solidFill>
                </a:ln>
              </p:spPr>
            </p:sp>
            <p:sp>
              <p:nvSpPr>
                <p:cNvPr id="104" name="Freeform 104"/>
                <p:cNvSpPr/>
                <p:nvPr/>
              </p:nvSpPr>
              <p:spPr>
                <a:xfrm>
                  <a:off x="7160419" y="1523206"/>
                  <a:ext cx="33337" cy="22225"/>
                </a:xfrm>
                <a:custGeom>
                  <a:avLst/>
                  <a:gdLst/>
                  <a:ahLst/>
                  <a:cxnLst/>
                  <a:rect l="l" t="t" r="r" b="b"/>
                  <a:pathLst>
                    <a:path w="33337" h="22225">
                      <a:moveTo>
                        <a:pt x="0" y="11112"/>
                      </a:moveTo>
                      <a:lnTo>
                        <a:pt x="11112" y="22225"/>
                      </a:lnTo>
                      <a:lnTo>
                        <a:pt x="33337" y="0"/>
                      </a:lnTo>
                    </a:path>
                  </a:pathLst>
                </a:custGeom>
                <a:noFill/>
                <a:ln w="11112">
                  <a:solidFill>
                    <a:srgbClr val="76200F"/>
                  </a:solidFill>
                </a:ln>
              </p:spPr>
            </p:sp>
          </p:grpSp>
          <p:sp>
            <p:nvSpPr>
              <p:cNvPr id="106" name="TextBox 106"/>
              <p:cNvSpPr txBox="1"/>
              <p:nvPr/>
            </p:nvSpPr>
            <p:spPr>
              <a:xfrm>
                <a:off x="7262812" y="1460659"/>
                <a:ext cx="558775" cy="133350"/>
              </a:xfrm>
              <a:prstGeom prst="rect">
                <a:avLst/>
              </a:prstGeom>
              <a:noFill/>
              <a:ln>
                <a:noFill/>
              </a:ln>
            </p:spPr>
            <p:txBody>
              <a:bodyPr wrap="none" lIns="0" tIns="0" rIns="0" bIns="0" anchor="t" anchorCtr="0">
                <a:spAutoFit/>
              </a:bodyPr>
              <a:lstStyle/>
              <a:p>
                <a:pPr algn="l"/>
                <a:r>
                  <a:rPr lang="zh-CN" sz="680" b="1" dirty="0">
                    <a:solidFill>
                      <a:srgbClr val="331712"/>
                    </a:solidFill>
                    <a:latin typeface="+mn-lt"/>
                    <a:ea typeface="+mn-ea"/>
                    <a:cs typeface="+mn-cs"/>
                  </a:rPr>
                  <a:t>风险合规条线</a:t>
                </a:r>
              </a:p>
            </p:txBody>
          </p:sp>
          <p:sp>
            <p:nvSpPr>
              <p:cNvPr id="107" name="TextBox 107"/>
              <p:cNvSpPr txBox="1"/>
              <p:nvPr/>
            </p:nvSpPr>
            <p:spPr>
              <a:xfrm>
                <a:off x="7072312" y="16197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合规审核 · 风险识别​</a:t>
                </a:r>
              </a:p>
            </p:txBody>
          </p:sp>
          <p:sp>
            <p:nvSpPr>
              <p:cNvPr id="108" name="TextBox 108"/>
              <p:cNvSpPr txBox="1"/>
              <p:nvPr/>
            </p:nvSpPr>
            <p:spPr>
              <a:xfrm>
                <a:off x="7072312" y="1734026"/>
                <a:ext cx="688548"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舆情监控 · 应急处置​</a:t>
                </a:r>
              </a:p>
            </p:txBody>
          </p:sp>
        </p:grpSp>
      </p:grpSp>
      <p:grpSp>
        <p:nvGrpSpPr>
          <p:cNvPr id="323" name="raci-matrix"/>
          <p:cNvGrpSpPr/>
          <p:nvPr/>
        </p:nvGrpSpPr>
        <p:grpSpPr>
          <a:xfrm>
            <a:off x="342900" y="2019300"/>
            <a:ext cx="7924800" cy="2333863"/>
            <a:chOff x="342900" y="2019300"/>
            <a:chExt cx="7924800" cy="2333863"/>
          </a:xfrm>
        </p:grpSpPr>
        <p:sp>
          <p:nvSpPr>
            <p:cNvPr id="111" name="Rectangle 111"/>
            <p:cNvSpPr/>
            <p:nvPr/>
          </p:nvSpPr>
          <p:spPr>
            <a:xfrm>
              <a:off x="342900" y="2019300"/>
              <a:ext cx="914400" cy="2247900"/>
            </a:xfrm>
            <a:prstGeom prst="roundRect">
              <a:avLst>
                <a:gd name="adj" fmla="val 6250"/>
              </a:avLst>
            </a:prstGeom>
            <a:solidFill>
              <a:srgbClr val="5D190B"/>
            </a:solidFill>
            <a:ln>
              <a:noFill/>
            </a:ln>
          </p:spPr>
        </p:sp>
        <p:sp>
          <p:nvSpPr>
            <p:cNvPr id="112" name="TextBox 112"/>
            <p:cNvSpPr txBox="1"/>
            <p:nvPr/>
          </p:nvSpPr>
          <p:spPr>
            <a:xfrm>
              <a:off x="582638" y="298203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关键任务</a:t>
              </a:r>
            </a:p>
          </p:txBody>
        </p:sp>
        <p:sp>
          <p:nvSpPr>
            <p:cNvPr id="113" name="TextBox 113"/>
            <p:cNvSpPr txBox="1"/>
            <p:nvPr/>
          </p:nvSpPr>
          <p:spPr>
            <a:xfrm>
              <a:off x="494834" y="3153489"/>
              <a:ext cx="61053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RACI 矩阵​​</a:t>
              </a:r>
            </a:p>
          </p:txBody>
        </p:sp>
        <p:sp>
          <p:nvSpPr>
            <p:cNvPr id="114" name="Rectangle 114"/>
            <p:cNvSpPr/>
            <p:nvPr/>
          </p:nvSpPr>
          <p:spPr>
            <a:xfrm>
              <a:off x="1333500" y="2019300"/>
              <a:ext cx="6934200" cy="228600"/>
            </a:xfrm>
            <a:prstGeom prst="rect">
              <a:avLst/>
            </a:prstGeom>
            <a:solidFill>
              <a:srgbClr val="76200F"/>
            </a:solidFill>
            <a:ln>
              <a:noFill/>
            </a:ln>
          </p:spPr>
        </p:sp>
        <p:sp>
          <p:nvSpPr>
            <p:cNvPr id="115" name="TextBox 115"/>
            <p:cNvSpPr txBox="1"/>
            <p:nvPr/>
          </p:nvSpPr>
          <p:spPr>
            <a:xfrm>
              <a:off x="1632674" y="21028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关键任务</a:t>
              </a:r>
            </a:p>
          </p:txBody>
        </p:sp>
        <p:sp>
          <p:nvSpPr>
            <p:cNvPr id="116" name="TextBox 116"/>
            <p:cNvSpPr txBox="1"/>
            <p:nvPr/>
          </p:nvSpPr>
          <p:spPr>
            <a:xfrm>
              <a:off x="2499881" y="21028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总行</a:t>
              </a:r>
            </a:p>
          </p:txBody>
        </p:sp>
        <p:sp>
          <p:nvSpPr>
            <p:cNvPr id="117" name="TextBox 117"/>
            <p:cNvSpPr txBox="1"/>
            <p:nvPr/>
          </p:nvSpPr>
          <p:spPr>
            <a:xfrm>
              <a:off x="3109481" y="21028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分行</a:t>
              </a:r>
            </a:p>
          </p:txBody>
        </p:sp>
        <p:sp>
          <p:nvSpPr>
            <p:cNvPr id="118" name="TextBox 118"/>
            <p:cNvSpPr txBox="1"/>
            <p:nvPr/>
          </p:nvSpPr>
          <p:spPr>
            <a:xfrm>
              <a:off x="3719081" y="21028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支行</a:t>
              </a:r>
            </a:p>
          </p:txBody>
        </p:sp>
        <p:sp>
          <p:nvSpPr>
            <p:cNvPr id="119" name="TextBox 119"/>
            <p:cNvSpPr txBox="1"/>
            <p:nvPr/>
          </p:nvSpPr>
          <p:spPr>
            <a:xfrm>
              <a:off x="4328681" y="21028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网点</a:t>
              </a:r>
            </a:p>
          </p:txBody>
        </p:sp>
        <p:sp>
          <p:nvSpPr>
            <p:cNvPr id="120" name="TextBox 120"/>
            <p:cNvSpPr txBox="1"/>
            <p:nvPr/>
          </p:nvSpPr>
          <p:spPr>
            <a:xfrm>
              <a:off x="4938281" y="21028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零售</a:t>
              </a:r>
            </a:p>
          </p:txBody>
        </p:sp>
        <p:sp>
          <p:nvSpPr>
            <p:cNvPr id="121" name="TextBox 121"/>
            <p:cNvSpPr txBox="1"/>
            <p:nvPr/>
          </p:nvSpPr>
          <p:spPr>
            <a:xfrm>
              <a:off x="5547881" y="21028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对公</a:t>
              </a:r>
            </a:p>
          </p:txBody>
        </p:sp>
        <p:sp>
          <p:nvSpPr>
            <p:cNvPr id="122" name="TextBox 122"/>
            <p:cNvSpPr txBox="1"/>
            <p:nvPr/>
          </p:nvSpPr>
          <p:spPr>
            <a:xfrm>
              <a:off x="6114402" y="2102882"/>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信用卡</a:t>
              </a:r>
            </a:p>
          </p:txBody>
        </p:sp>
        <p:sp>
          <p:nvSpPr>
            <p:cNvPr id="123" name="TextBox 123"/>
            <p:cNvSpPr txBox="1"/>
            <p:nvPr/>
          </p:nvSpPr>
          <p:spPr>
            <a:xfrm>
              <a:off x="6767081" y="21028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科技</a:t>
              </a:r>
            </a:p>
          </p:txBody>
        </p:sp>
        <p:sp>
          <p:nvSpPr>
            <p:cNvPr id="124" name="TextBox 124"/>
            <p:cNvSpPr txBox="1"/>
            <p:nvPr/>
          </p:nvSpPr>
          <p:spPr>
            <a:xfrm>
              <a:off x="7376681" y="21028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运营</a:t>
              </a:r>
            </a:p>
          </p:txBody>
        </p:sp>
        <p:sp>
          <p:nvSpPr>
            <p:cNvPr id="125" name="TextBox 125"/>
            <p:cNvSpPr txBox="1"/>
            <p:nvPr/>
          </p:nvSpPr>
          <p:spPr>
            <a:xfrm>
              <a:off x="7834694" y="2106930"/>
              <a:ext cx="33261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风险合规</a:t>
              </a:r>
            </a:p>
          </p:txBody>
        </p:sp>
        <p:grpSp>
          <p:nvGrpSpPr>
            <p:cNvPr id="310" name="raci-rows"/>
            <p:cNvGrpSpPr/>
            <p:nvPr/>
          </p:nvGrpSpPr>
          <p:grpSpPr>
            <a:xfrm>
              <a:off x="1333500" y="2247900"/>
              <a:ext cx="6934200" cy="1866900"/>
              <a:chOff x="1333500" y="2247900"/>
              <a:chExt cx="6934200" cy="1866900"/>
            </a:xfrm>
          </p:grpSpPr>
          <p:sp>
            <p:nvSpPr>
              <p:cNvPr id="126" name="Rectangle 126"/>
              <p:cNvSpPr/>
              <p:nvPr/>
            </p:nvSpPr>
            <p:spPr>
              <a:xfrm>
                <a:off x="1333500" y="2247900"/>
                <a:ext cx="6934200" cy="266700"/>
              </a:xfrm>
              <a:prstGeom prst="rect">
                <a:avLst/>
              </a:prstGeom>
              <a:solidFill>
                <a:srgbClr val="FFFFFF"/>
              </a:solidFill>
              <a:ln w="9525">
                <a:solidFill>
                  <a:srgbClr val="E2EEEB"/>
                </a:solidFill>
              </a:ln>
            </p:spPr>
          </p:sp>
          <p:grpSp>
            <p:nvGrpSpPr>
              <p:cNvPr id="130" name="Group 130"/>
              <p:cNvGrpSpPr/>
              <p:nvPr/>
            </p:nvGrpSpPr>
            <p:grpSpPr>
              <a:xfrm>
                <a:off x="1406128" y="2330053"/>
                <a:ext cx="92869" cy="92869"/>
                <a:chOff x="1406128" y="2330053"/>
                <a:chExt cx="92869" cy="92869"/>
              </a:xfrm>
            </p:grpSpPr>
            <p:sp>
              <p:nvSpPr>
                <p:cNvPr id="127" name="Freeform 127"/>
                <p:cNvSpPr/>
                <p:nvPr/>
              </p:nvSpPr>
              <p:spPr>
                <a:xfrm>
                  <a:off x="1447403" y="2371328"/>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0319">
                  <a:solidFill>
                    <a:srgbClr val="76200F"/>
                  </a:solidFill>
                </a:ln>
              </p:spPr>
            </p:sp>
            <p:sp>
              <p:nvSpPr>
                <p:cNvPr id="128" name="Freeform 128"/>
                <p:cNvSpPr/>
                <p:nvPr/>
              </p:nvSpPr>
              <p:spPr>
                <a:xfrm>
                  <a:off x="1426766" y="2350691"/>
                  <a:ext cx="51594" cy="51594"/>
                </a:xfrm>
                <a:custGeom>
                  <a:avLst/>
                  <a:gdLst/>
                  <a:ahLst/>
                  <a:cxnLst/>
                  <a:rect l="l" t="t" r="r" b="b"/>
                  <a:pathLst>
                    <a:path w="51594" h="51594">
                      <a:moveTo>
                        <a:pt x="0" y="25797"/>
                      </a:moveTo>
                      <a:cubicBezTo>
                        <a:pt x="0" y="40044"/>
                        <a:pt x="11550" y="51594"/>
                        <a:pt x="25797" y="51594"/>
                      </a:cubicBezTo>
                      <a:cubicBezTo>
                        <a:pt x="40044" y="51594"/>
                        <a:pt x="51594" y="40044"/>
                        <a:pt x="51594" y="25797"/>
                      </a:cubicBezTo>
                      <a:cubicBezTo>
                        <a:pt x="51594" y="11550"/>
                        <a:pt x="40044" y="0"/>
                        <a:pt x="25797" y="0"/>
                      </a:cubicBezTo>
                      <a:cubicBezTo>
                        <a:pt x="11550" y="0"/>
                        <a:pt x="0" y="11550"/>
                        <a:pt x="0" y="25797"/>
                      </a:cubicBezTo>
                    </a:path>
                  </a:pathLst>
                </a:custGeom>
                <a:noFill/>
                <a:ln w="10319">
                  <a:solidFill>
                    <a:srgbClr val="76200F"/>
                  </a:solidFill>
                </a:ln>
              </p:spPr>
            </p:sp>
            <p:sp>
              <p:nvSpPr>
                <p:cNvPr id="129" name="Freeform 129"/>
                <p:cNvSpPr/>
                <p:nvPr/>
              </p:nvSpPr>
              <p:spPr>
                <a:xfrm>
                  <a:off x="1406128" y="2330053"/>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76200F"/>
                  </a:solidFill>
                </a:ln>
              </p:spPr>
            </p:sp>
          </p:grpSp>
          <p:sp>
            <p:nvSpPr>
              <p:cNvPr id="131" name="TextBox 131"/>
              <p:cNvSpPr txBox="1"/>
              <p:nvPr/>
            </p:nvSpPr>
            <p:spPr>
              <a:xfrm>
                <a:off x="1689824" y="23505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场景选择</a:t>
                </a:r>
              </a:p>
            </p:txBody>
          </p:sp>
          <p:sp>
            <p:nvSpPr>
              <p:cNvPr id="132" name="Rectangle 132"/>
              <p:cNvSpPr/>
              <p:nvPr/>
            </p:nvSpPr>
            <p:spPr>
              <a:xfrm>
                <a:off x="2476500" y="2295525"/>
                <a:ext cx="228600" cy="171450"/>
              </a:xfrm>
              <a:prstGeom prst="roundRect">
                <a:avLst>
                  <a:gd name="adj" fmla="val 16667"/>
                </a:avLst>
              </a:prstGeom>
              <a:solidFill>
                <a:srgbClr val="5D190B"/>
              </a:solidFill>
              <a:ln>
                <a:noFill/>
              </a:ln>
            </p:spPr>
          </p:sp>
          <p:sp>
            <p:nvSpPr>
              <p:cNvPr id="133" name="TextBox 133"/>
              <p:cNvSpPr txBox="1"/>
              <p:nvPr/>
            </p:nvSpPr>
            <p:spPr>
              <a:xfrm>
                <a:off x="2530180" y="23464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A​</a:t>
                </a:r>
              </a:p>
            </p:txBody>
          </p:sp>
          <p:sp>
            <p:nvSpPr>
              <p:cNvPr id="134" name="Rectangle 134"/>
              <p:cNvSpPr/>
              <p:nvPr/>
            </p:nvSpPr>
            <p:spPr>
              <a:xfrm>
                <a:off x="3086100" y="2295525"/>
                <a:ext cx="228600" cy="171450"/>
              </a:xfrm>
              <a:prstGeom prst="roundRect">
                <a:avLst>
                  <a:gd name="adj" fmla="val 16667"/>
                </a:avLst>
              </a:prstGeom>
              <a:solidFill>
                <a:srgbClr val="76200F"/>
              </a:solidFill>
              <a:ln>
                <a:noFill/>
              </a:ln>
            </p:spPr>
          </p:sp>
          <p:sp>
            <p:nvSpPr>
              <p:cNvPr id="135" name="TextBox 135"/>
              <p:cNvSpPr txBox="1"/>
              <p:nvPr/>
            </p:nvSpPr>
            <p:spPr>
              <a:xfrm>
                <a:off x="3139780" y="23464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136" name="Rectangle 136"/>
              <p:cNvSpPr/>
              <p:nvPr/>
            </p:nvSpPr>
            <p:spPr>
              <a:xfrm>
                <a:off x="3695700" y="2295525"/>
                <a:ext cx="228600" cy="171450"/>
              </a:xfrm>
              <a:prstGeom prst="roundRect">
                <a:avLst>
                  <a:gd name="adj" fmla="val 16667"/>
                </a:avLst>
              </a:prstGeom>
              <a:solidFill>
                <a:srgbClr val="D9EEEA"/>
              </a:solidFill>
              <a:ln>
                <a:noFill/>
              </a:ln>
            </p:spPr>
          </p:sp>
          <p:sp>
            <p:nvSpPr>
              <p:cNvPr id="137" name="TextBox 137"/>
              <p:cNvSpPr txBox="1"/>
              <p:nvPr/>
            </p:nvSpPr>
            <p:spPr>
              <a:xfrm>
                <a:off x="3752040" y="23464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38" name="Rectangle 138"/>
              <p:cNvSpPr/>
              <p:nvPr/>
            </p:nvSpPr>
            <p:spPr>
              <a:xfrm>
                <a:off x="4305300" y="2295525"/>
                <a:ext cx="228600" cy="171450"/>
              </a:xfrm>
              <a:prstGeom prst="roundRect">
                <a:avLst>
                  <a:gd name="adj" fmla="val 16667"/>
                </a:avLst>
              </a:prstGeom>
              <a:solidFill>
                <a:srgbClr val="F0FAF8"/>
              </a:solidFill>
              <a:ln>
                <a:noFill/>
              </a:ln>
            </p:spPr>
          </p:sp>
          <p:sp>
            <p:nvSpPr>
              <p:cNvPr id="139" name="TextBox 139"/>
              <p:cNvSpPr txBox="1"/>
              <p:nvPr/>
            </p:nvSpPr>
            <p:spPr>
              <a:xfrm>
                <a:off x="4373730" y="23464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140" name="Rectangle 140"/>
              <p:cNvSpPr/>
              <p:nvPr/>
            </p:nvSpPr>
            <p:spPr>
              <a:xfrm>
                <a:off x="4914900" y="2295525"/>
                <a:ext cx="228600" cy="171450"/>
              </a:xfrm>
              <a:prstGeom prst="roundRect">
                <a:avLst>
                  <a:gd name="adj" fmla="val 16667"/>
                </a:avLst>
              </a:prstGeom>
              <a:solidFill>
                <a:srgbClr val="76200F"/>
              </a:solidFill>
              <a:ln>
                <a:noFill/>
              </a:ln>
            </p:spPr>
          </p:sp>
          <p:sp>
            <p:nvSpPr>
              <p:cNvPr id="141" name="TextBox 141"/>
              <p:cNvSpPr txBox="1"/>
              <p:nvPr/>
            </p:nvSpPr>
            <p:spPr>
              <a:xfrm>
                <a:off x="4968580" y="23464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142" name="Rectangle 142"/>
              <p:cNvSpPr/>
              <p:nvPr/>
            </p:nvSpPr>
            <p:spPr>
              <a:xfrm>
                <a:off x="5524500" y="2295525"/>
                <a:ext cx="228600" cy="171450"/>
              </a:xfrm>
              <a:prstGeom prst="roundRect">
                <a:avLst>
                  <a:gd name="adj" fmla="val 16667"/>
                </a:avLst>
              </a:prstGeom>
              <a:solidFill>
                <a:srgbClr val="76200F"/>
              </a:solidFill>
              <a:ln>
                <a:noFill/>
              </a:ln>
            </p:spPr>
          </p:sp>
          <p:sp>
            <p:nvSpPr>
              <p:cNvPr id="143" name="TextBox 143"/>
              <p:cNvSpPr txBox="1"/>
              <p:nvPr/>
            </p:nvSpPr>
            <p:spPr>
              <a:xfrm>
                <a:off x="5578180" y="23464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144" name="Rectangle 144"/>
              <p:cNvSpPr/>
              <p:nvPr/>
            </p:nvSpPr>
            <p:spPr>
              <a:xfrm>
                <a:off x="6134100" y="2295525"/>
                <a:ext cx="228600" cy="171450"/>
              </a:xfrm>
              <a:prstGeom prst="roundRect">
                <a:avLst>
                  <a:gd name="adj" fmla="val 16667"/>
                </a:avLst>
              </a:prstGeom>
              <a:solidFill>
                <a:srgbClr val="D9EEEA"/>
              </a:solidFill>
              <a:ln>
                <a:noFill/>
              </a:ln>
            </p:spPr>
          </p:sp>
          <p:sp>
            <p:nvSpPr>
              <p:cNvPr id="145" name="TextBox 145"/>
              <p:cNvSpPr txBox="1"/>
              <p:nvPr/>
            </p:nvSpPr>
            <p:spPr>
              <a:xfrm>
                <a:off x="6190440" y="23464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46" name="Rectangle 146"/>
              <p:cNvSpPr/>
              <p:nvPr/>
            </p:nvSpPr>
            <p:spPr>
              <a:xfrm>
                <a:off x="6743700" y="2295525"/>
                <a:ext cx="228600" cy="171450"/>
              </a:xfrm>
              <a:prstGeom prst="roundRect">
                <a:avLst>
                  <a:gd name="adj" fmla="val 16667"/>
                </a:avLst>
              </a:prstGeom>
              <a:solidFill>
                <a:srgbClr val="F0FAF8"/>
              </a:solidFill>
              <a:ln>
                <a:noFill/>
              </a:ln>
            </p:spPr>
          </p:sp>
          <p:sp>
            <p:nvSpPr>
              <p:cNvPr id="147" name="TextBox 147"/>
              <p:cNvSpPr txBox="1"/>
              <p:nvPr/>
            </p:nvSpPr>
            <p:spPr>
              <a:xfrm>
                <a:off x="6812130" y="23464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148" name="Rectangle 148"/>
              <p:cNvSpPr/>
              <p:nvPr/>
            </p:nvSpPr>
            <p:spPr>
              <a:xfrm>
                <a:off x="7353300" y="2295525"/>
                <a:ext cx="228600" cy="171450"/>
              </a:xfrm>
              <a:prstGeom prst="roundRect">
                <a:avLst>
                  <a:gd name="adj" fmla="val 16667"/>
                </a:avLst>
              </a:prstGeom>
              <a:solidFill>
                <a:srgbClr val="D9EEEA"/>
              </a:solidFill>
              <a:ln>
                <a:noFill/>
              </a:ln>
            </p:spPr>
          </p:sp>
          <p:sp>
            <p:nvSpPr>
              <p:cNvPr id="149" name="TextBox 149"/>
              <p:cNvSpPr txBox="1"/>
              <p:nvPr/>
            </p:nvSpPr>
            <p:spPr>
              <a:xfrm>
                <a:off x="7409640" y="23464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50" name="Rectangle 150"/>
              <p:cNvSpPr/>
              <p:nvPr/>
            </p:nvSpPr>
            <p:spPr>
              <a:xfrm>
                <a:off x="7886700" y="2295525"/>
                <a:ext cx="228600" cy="171450"/>
              </a:xfrm>
              <a:prstGeom prst="roundRect">
                <a:avLst>
                  <a:gd name="adj" fmla="val 16667"/>
                </a:avLst>
              </a:prstGeom>
              <a:solidFill>
                <a:srgbClr val="D9EEEA"/>
              </a:solidFill>
              <a:ln>
                <a:noFill/>
              </a:ln>
            </p:spPr>
          </p:sp>
          <p:sp>
            <p:nvSpPr>
              <p:cNvPr id="151" name="TextBox 151"/>
              <p:cNvSpPr txBox="1"/>
              <p:nvPr/>
            </p:nvSpPr>
            <p:spPr>
              <a:xfrm>
                <a:off x="7943040" y="23464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52" name="Rectangle 152"/>
              <p:cNvSpPr/>
              <p:nvPr/>
            </p:nvSpPr>
            <p:spPr>
              <a:xfrm>
                <a:off x="1333500" y="2514600"/>
                <a:ext cx="6934200" cy="266700"/>
              </a:xfrm>
              <a:prstGeom prst="rect">
                <a:avLst/>
              </a:prstGeom>
              <a:solidFill>
                <a:srgbClr val="EFF8F6"/>
              </a:solidFill>
              <a:ln w="9525">
                <a:solidFill>
                  <a:srgbClr val="E2EEEB"/>
                </a:solidFill>
              </a:ln>
            </p:spPr>
          </p:sp>
          <p:grpSp>
            <p:nvGrpSpPr>
              <p:cNvPr id="159" name="Group 159"/>
              <p:cNvGrpSpPr/>
              <p:nvPr/>
            </p:nvGrpSpPr>
            <p:grpSpPr>
              <a:xfrm>
                <a:off x="1406128" y="2596753"/>
                <a:ext cx="92869" cy="92869"/>
                <a:chOff x="1406128" y="2596753"/>
                <a:chExt cx="92869" cy="92869"/>
              </a:xfrm>
            </p:grpSpPr>
            <p:sp>
              <p:nvSpPr>
                <p:cNvPr id="153" name="Freeform 153"/>
                <p:cNvSpPr/>
                <p:nvPr/>
              </p:nvSpPr>
              <p:spPr>
                <a:xfrm>
                  <a:off x="1442244" y="2638028"/>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54" name="Freeform 154"/>
                <p:cNvSpPr/>
                <p:nvPr/>
              </p:nvSpPr>
              <p:spPr>
                <a:xfrm>
                  <a:off x="1431925" y="2674144"/>
                  <a:ext cx="41275" cy="15478"/>
                </a:xfrm>
                <a:custGeom>
                  <a:avLst/>
                  <a:gdLst/>
                  <a:ahLst/>
                  <a:cxnLst/>
                  <a:rect l="l" t="t" r="r" b="b"/>
                  <a:pathLst>
                    <a:path w="41275" h="15478">
                      <a:moveTo>
                        <a:pt x="0" y="15478"/>
                      </a:moveTo>
                      <a:lnTo>
                        <a:pt x="0" y="10319"/>
                      </a:lnTo>
                      <a:cubicBezTo>
                        <a:pt x="0" y="4620"/>
                        <a:pt x="4620" y="0"/>
                        <a:pt x="10319" y="0"/>
                      </a:cubicBezTo>
                      <a:lnTo>
                        <a:pt x="30956" y="0"/>
                      </a:lnTo>
                      <a:cubicBezTo>
                        <a:pt x="36655" y="0"/>
                        <a:pt x="41275" y="4620"/>
                        <a:pt x="41275" y="10319"/>
                      </a:cubicBezTo>
                      <a:lnTo>
                        <a:pt x="41275" y="15478"/>
                      </a:lnTo>
                    </a:path>
                  </a:pathLst>
                </a:custGeom>
                <a:noFill/>
                <a:ln w="10319">
                  <a:solidFill>
                    <a:srgbClr val="76200F"/>
                  </a:solidFill>
                </a:ln>
              </p:spPr>
            </p:sp>
            <p:sp>
              <p:nvSpPr>
                <p:cNvPr id="155" name="Freeform 155"/>
                <p:cNvSpPr/>
                <p:nvPr/>
              </p:nvSpPr>
              <p:spPr>
                <a:xfrm>
                  <a:off x="1468041" y="2596753"/>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56" name="Freeform 156"/>
                <p:cNvSpPr/>
                <p:nvPr/>
              </p:nvSpPr>
              <p:spPr>
                <a:xfrm>
                  <a:off x="1478359" y="2632869"/>
                  <a:ext cx="20638" cy="15478"/>
                </a:xfrm>
                <a:custGeom>
                  <a:avLst/>
                  <a:gdLst/>
                  <a:ahLst/>
                  <a:cxnLst/>
                  <a:rect l="l" t="t" r="r" b="b"/>
                  <a:pathLst>
                    <a:path w="20638" h="15478">
                      <a:moveTo>
                        <a:pt x="0" y="0"/>
                      </a:moveTo>
                      <a:lnTo>
                        <a:pt x="10319" y="0"/>
                      </a:lnTo>
                      <a:cubicBezTo>
                        <a:pt x="16018" y="0"/>
                        <a:pt x="20638" y="4620"/>
                        <a:pt x="20638" y="10319"/>
                      </a:cubicBezTo>
                      <a:lnTo>
                        <a:pt x="20638" y="15478"/>
                      </a:lnTo>
                    </a:path>
                  </a:pathLst>
                </a:custGeom>
                <a:noFill/>
                <a:ln w="10319">
                  <a:solidFill>
                    <a:srgbClr val="76200F"/>
                  </a:solidFill>
                </a:ln>
              </p:spPr>
            </p:sp>
            <p:sp>
              <p:nvSpPr>
                <p:cNvPr id="157" name="Freeform 157"/>
                <p:cNvSpPr/>
                <p:nvPr/>
              </p:nvSpPr>
              <p:spPr>
                <a:xfrm>
                  <a:off x="1416447" y="2596753"/>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58" name="Freeform 158"/>
                <p:cNvSpPr/>
                <p:nvPr/>
              </p:nvSpPr>
              <p:spPr>
                <a:xfrm>
                  <a:off x="1406128" y="2632869"/>
                  <a:ext cx="20638" cy="15478"/>
                </a:xfrm>
                <a:custGeom>
                  <a:avLst/>
                  <a:gdLst/>
                  <a:ahLst/>
                  <a:cxnLst/>
                  <a:rect l="l" t="t" r="r" b="b"/>
                  <a:pathLst>
                    <a:path w="20638" h="15478">
                      <a:moveTo>
                        <a:pt x="0" y="15478"/>
                      </a:moveTo>
                      <a:lnTo>
                        <a:pt x="0" y="10319"/>
                      </a:lnTo>
                      <a:cubicBezTo>
                        <a:pt x="0" y="4620"/>
                        <a:pt x="4620" y="0"/>
                        <a:pt x="10319" y="0"/>
                      </a:cubicBezTo>
                      <a:lnTo>
                        <a:pt x="20638" y="0"/>
                      </a:lnTo>
                    </a:path>
                  </a:pathLst>
                </a:custGeom>
                <a:noFill/>
                <a:ln w="10319">
                  <a:solidFill>
                    <a:srgbClr val="76200F"/>
                  </a:solidFill>
                </a:ln>
              </p:spPr>
            </p:sp>
          </p:grpSp>
          <p:sp>
            <p:nvSpPr>
              <p:cNvPr id="160" name="TextBox 160"/>
              <p:cNvSpPr txBox="1"/>
              <p:nvPr/>
            </p:nvSpPr>
            <p:spPr>
              <a:xfrm>
                <a:off x="1689824" y="26172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伙伴谈判</a:t>
                </a:r>
              </a:p>
            </p:txBody>
          </p:sp>
          <p:sp>
            <p:nvSpPr>
              <p:cNvPr id="161" name="Rectangle 161"/>
              <p:cNvSpPr/>
              <p:nvPr/>
            </p:nvSpPr>
            <p:spPr>
              <a:xfrm>
                <a:off x="2476500" y="2562225"/>
                <a:ext cx="228600" cy="171450"/>
              </a:xfrm>
              <a:prstGeom prst="roundRect">
                <a:avLst>
                  <a:gd name="adj" fmla="val 16667"/>
                </a:avLst>
              </a:prstGeom>
              <a:solidFill>
                <a:srgbClr val="5D190B"/>
              </a:solidFill>
              <a:ln>
                <a:noFill/>
              </a:ln>
            </p:spPr>
          </p:sp>
          <p:sp>
            <p:nvSpPr>
              <p:cNvPr id="162" name="TextBox 162"/>
              <p:cNvSpPr txBox="1"/>
              <p:nvPr/>
            </p:nvSpPr>
            <p:spPr>
              <a:xfrm>
                <a:off x="2530180" y="26131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A​</a:t>
                </a:r>
              </a:p>
            </p:txBody>
          </p:sp>
          <p:sp>
            <p:nvSpPr>
              <p:cNvPr id="163" name="Rectangle 163"/>
              <p:cNvSpPr/>
              <p:nvPr/>
            </p:nvSpPr>
            <p:spPr>
              <a:xfrm>
                <a:off x="3086100" y="2562225"/>
                <a:ext cx="228600" cy="171450"/>
              </a:xfrm>
              <a:prstGeom prst="roundRect">
                <a:avLst>
                  <a:gd name="adj" fmla="val 16667"/>
                </a:avLst>
              </a:prstGeom>
              <a:solidFill>
                <a:srgbClr val="76200F"/>
              </a:solidFill>
              <a:ln>
                <a:noFill/>
              </a:ln>
            </p:spPr>
          </p:sp>
          <p:sp>
            <p:nvSpPr>
              <p:cNvPr id="164" name="TextBox 164"/>
              <p:cNvSpPr txBox="1"/>
              <p:nvPr/>
            </p:nvSpPr>
            <p:spPr>
              <a:xfrm>
                <a:off x="3139780" y="26131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165" name="Rectangle 165"/>
              <p:cNvSpPr/>
              <p:nvPr/>
            </p:nvSpPr>
            <p:spPr>
              <a:xfrm>
                <a:off x="3695700" y="2562225"/>
                <a:ext cx="228600" cy="171450"/>
              </a:xfrm>
              <a:prstGeom prst="roundRect">
                <a:avLst>
                  <a:gd name="adj" fmla="val 16667"/>
                </a:avLst>
              </a:prstGeom>
              <a:solidFill>
                <a:srgbClr val="D9EEEA"/>
              </a:solidFill>
              <a:ln>
                <a:noFill/>
              </a:ln>
            </p:spPr>
          </p:sp>
          <p:sp>
            <p:nvSpPr>
              <p:cNvPr id="166" name="TextBox 166"/>
              <p:cNvSpPr txBox="1"/>
              <p:nvPr/>
            </p:nvSpPr>
            <p:spPr>
              <a:xfrm>
                <a:off x="3752040" y="26131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67" name="Rectangle 167"/>
              <p:cNvSpPr/>
              <p:nvPr/>
            </p:nvSpPr>
            <p:spPr>
              <a:xfrm>
                <a:off x="4305300" y="2562225"/>
                <a:ext cx="228600" cy="171450"/>
              </a:xfrm>
              <a:prstGeom prst="roundRect">
                <a:avLst>
                  <a:gd name="adj" fmla="val 16667"/>
                </a:avLst>
              </a:prstGeom>
              <a:solidFill>
                <a:srgbClr val="F0FAF8"/>
              </a:solidFill>
              <a:ln>
                <a:noFill/>
              </a:ln>
            </p:spPr>
          </p:sp>
          <p:sp>
            <p:nvSpPr>
              <p:cNvPr id="168" name="TextBox 168"/>
              <p:cNvSpPr txBox="1"/>
              <p:nvPr/>
            </p:nvSpPr>
            <p:spPr>
              <a:xfrm>
                <a:off x="4373730" y="26131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169" name="Rectangle 169"/>
              <p:cNvSpPr/>
              <p:nvPr/>
            </p:nvSpPr>
            <p:spPr>
              <a:xfrm>
                <a:off x="4914900" y="2562225"/>
                <a:ext cx="228600" cy="171450"/>
              </a:xfrm>
              <a:prstGeom prst="roundRect">
                <a:avLst>
                  <a:gd name="adj" fmla="val 16667"/>
                </a:avLst>
              </a:prstGeom>
              <a:solidFill>
                <a:srgbClr val="D9EEEA"/>
              </a:solidFill>
              <a:ln>
                <a:noFill/>
              </a:ln>
            </p:spPr>
          </p:sp>
          <p:sp>
            <p:nvSpPr>
              <p:cNvPr id="170" name="TextBox 170"/>
              <p:cNvSpPr txBox="1"/>
              <p:nvPr/>
            </p:nvSpPr>
            <p:spPr>
              <a:xfrm>
                <a:off x="4971240" y="26131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71" name="Rectangle 171"/>
              <p:cNvSpPr/>
              <p:nvPr/>
            </p:nvSpPr>
            <p:spPr>
              <a:xfrm>
                <a:off x="5524500" y="2562225"/>
                <a:ext cx="228600" cy="171450"/>
              </a:xfrm>
              <a:prstGeom prst="roundRect">
                <a:avLst>
                  <a:gd name="adj" fmla="val 16667"/>
                </a:avLst>
              </a:prstGeom>
              <a:solidFill>
                <a:srgbClr val="76200F"/>
              </a:solidFill>
              <a:ln>
                <a:noFill/>
              </a:ln>
            </p:spPr>
          </p:sp>
          <p:sp>
            <p:nvSpPr>
              <p:cNvPr id="172" name="TextBox 172"/>
              <p:cNvSpPr txBox="1"/>
              <p:nvPr/>
            </p:nvSpPr>
            <p:spPr>
              <a:xfrm>
                <a:off x="5578180" y="26131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173" name="Rectangle 173"/>
              <p:cNvSpPr/>
              <p:nvPr/>
            </p:nvSpPr>
            <p:spPr>
              <a:xfrm>
                <a:off x="6134100" y="2562225"/>
                <a:ext cx="228600" cy="171450"/>
              </a:xfrm>
              <a:prstGeom prst="roundRect">
                <a:avLst>
                  <a:gd name="adj" fmla="val 16667"/>
                </a:avLst>
              </a:prstGeom>
              <a:solidFill>
                <a:srgbClr val="D9EEEA"/>
              </a:solidFill>
              <a:ln>
                <a:noFill/>
              </a:ln>
            </p:spPr>
          </p:sp>
          <p:sp>
            <p:nvSpPr>
              <p:cNvPr id="174" name="TextBox 174"/>
              <p:cNvSpPr txBox="1"/>
              <p:nvPr/>
            </p:nvSpPr>
            <p:spPr>
              <a:xfrm>
                <a:off x="6190440" y="26131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75" name="Rectangle 175"/>
              <p:cNvSpPr/>
              <p:nvPr/>
            </p:nvSpPr>
            <p:spPr>
              <a:xfrm>
                <a:off x="6743700" y="2562225"/>
                <a:ext cx="228600" cy="171450"/>
              </a:xfrm>
              <a:prstGeom prst="roundRect">
                <a:avLst>
                  <a:gd name="adj" fmla="val 16667"/>
                </a:avLst>
              </a:prstGeom>
              <a:solidFill>
                <a:srgbClr val="F0FAF8"/>
              </a:solidFill>
              <a:ln>
                <a:noFill/>
              </a:ln>
            </p:spPr>
          </p:sp>
          <p:sp>
            <p:nvSpPr>
              <p:cNvPr id="176" name="TextBox 176"/>
              <p:cNvSpPr txBox="1"/>
              <p:nvPr/>
            </p:nvSpPr>
            <p:spPr>
              <a:xfrm>
                <a:off x="6812130" y="26131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177" name="Rectangle 177"/>
              <p:cNvSpPr/>
              <p:nvPr/>
            </p:nvSpPr>
            <p:spPr>
              <a:xfrm>
                <a:off x="7353300" y="2562225"/>
                <a:ext cx="228600" cy="171450"/>
              </a:xfrm>
              <a:prstGeom prst="roundRect">
                <a:avLst>
                  <a:gd name="adj" fmla="val 16667"/>
                </a:avLst>
              </a:prstGeom>
              <a:solidFill>
                <a:srgbClr val="D9EEEA"/>
              </a:solidFill>
              <a:ln>
                <a:noFill/>
              </a:ln>
            </p:spPr>
          </p:sp>
          <p:sp>
            <p:nvSpPr>
              <p:cNvPr id="178" name="TextBox 178"/>
              <p:cNvSpPr txBox="1"/>
              <p:nvPr/>
            </p:nvSpPr>
            <p:spPr>
              <a:xfrm>
                <a:off x="7409640" y="26131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79" name="Rectangle 179"/>
              <p:cNvSpPr/>
              <p:nvPr/>
            </p:nvSpPr>
            <p:spPr>
              <a:xfrm>
                <a:off x="7886700" y="2562225"/>
                <a:ext cx="228600" cy="171450"/>
              </a:xfrm>
              <a:prstGeom prst="roundRect">
                <a:avLst>
                  <a:gd name="adj" fmla="val 16667"/>
                </a:avLst>
              </a:prstGeom>
              <a:solidFill>
                <a:srgbClr val="F0FAF8"/>
              </a:solidFill>
              <a:ln>
                <a:noFill/>
              </a:ln>
            </p:spPr>
          </p:sp>
          <p:sp>
            <p:nvSpPr>
              <p:cNvPr id="180" name="TextBox 180"/>
              <p:cNvSpPr txBox="1"/>
              <p:nvPr/>
            </p:nvSpPr>
            <p:spPr>
              <a:xfrm>
                <a:off x="7955130" y="26131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181" name="Rectangle 181"/>
              <p:cNvSpPr/>
              <p:nvPr/>
            </p:nvSpPr>
            <p:spPr>
              <a:xfrm>
                <a:off x="1333500" y="2781300"/>
                <a:ext cx="6934200" cy="266700"/>
              </a:xfrm>
              <a:prstGeom prst="rect">
                <a:avLst/>
              </a:prstGeom>
              <a:solidFill>
                <a:srgbClr val="FFFFFF"/>
              </a:solidFill>
              <a:ln w="9525">
                <a:solidFill>
                  <a:srgbClr val="E2EEEB"/>
                </a:solidFill>
              </a:ln>
            </p:spPr>
          </p:sp>
          <p:grpSp>
            <p:nvGrpSpPr>
              <p:cNvPr id="185" name="Group 185"/>
              <p:cNvGrpSpPr/>
              <p:nvPr/>
            </p:nvGrpSpPr>
            <p:grpSpPr>
              <a:xfrm>
                <a:off x="1406128" y="2863453"/>
                <a:ext cx="92869" cy="92869"/>
                <a:chOff x="1406128" y="2863453"/>
                <a:chExt cx="92869" cy="92869"/>
              </a:xfrm>
            </p:grpSpPr>
            <p:sp>
              <p:nvSpPr>
                <p:cNvPr id="182" name="Freeform 182"/>
                <p:cNvSpPr/>
                <p:nvPr/>
              </p:nvSpPr>
              <p:spPr>
                <a:xfrm>
                  <a:off x="1406128" y="2863453"/>
                  <a:ext cx="92869" cy="46434"/>
                </a:xfrm>
                <a:custGeom>
                  <a:avLst/>
                  <a:gdLst/>
                  <a:ahLst/>
                  <a:cxnLst/>
                  <a:rect l="l" t="t" r="r" b="b"/>
                  <a:pathLst>
                    <a:path w="92869" h="46434">
                      <a:moveTo>
                        <a:pt x="0" y="46434"/>
                      </a:moveTo>
                      <a:lnTo>
                        <a:pt x="5159" y="46434"/>
                      </a:lnTo>
                      <a:moveTo>
                        <a:pt x="46434" y="0"/>
                      </a:moveTo>
                      <a:lnTo>
                        <a:pt x="46434" y="5159"/>
                      </a:lnTo>
                      <a:moveTo>
                        <a:pt x="87709" y="46434"/>
                      </a:moveTo>
                      <a:lnTo>
                        <a:pt x="92869" y="46434"/>
                      </a:lnTo>
                      <a:moveTo>
                        <a:pt x="13414" y="13414"/>
                      </a:moveTo>
                      <a:lnTo>
                        <a:pt x="17026" y="17026"/>
                      </a:lnTo>
                      <a:moveTo>
                        <a:pt x="79454" y="13414"/>
                      </a:moveTo>
                      <a:lnTo>
                        <a:pt x="75843" y="17026"/>
                      </a:lnTo>
                    </a:path>
                  </a:pathLst>
                </a:custGeom>
                <a:noFill/>
                <a:ln w="10319">
                  <a:solidFill>
                    <a:srgbClr val="76200F"/>
                  </a:solidFill>
                </a:ln>
              </p:spPr>
            </p:sp>
            <p:sp>
              <p:nvSpPr>
                <p:cNvPr id="183" name="Freeform 183"/>
                <p:cNvSpPr/>
                <p:nvPr/>
              </p:nvSpPr>
              <p:spPr>
                <a:xfrm>
                  <a:off x="1424578" y="2884091"/>
                  <a:ext cx="55969" cy="72231"/>
                </a:xfrm>
                <a:custGeom>
                  <a:avLst/>
                  <a:gdLst/>
                  <a:ahLst/>
                  <a:cxnLst/>
                  <a:rect l="l" t="t" r="r" b="b"/>
                  <a:pathLst>
                    <a:path w="55969" h="72231">
                      <a:moveTo>
                        <a:pt x="12506" y="46434"/>
                      </a:moveTo>
                      <a:cubicBezTo>
                        <a:pt x="3623" y="39772"/>
                        <a:pt x="0" y="28173"/>
                        <a:pt x="3511" y="17639"/>
                      </a:cubicBezTo>
                      <a:cubicBezTo>
                        <a:pt x="7023" y="7105"/>
                        <a:pt x="16881" y="0"/>
                        <a:pt x="27984" y="0"/>
                      </a:cubicBezTo>
                      <a:cubicBezTo>
                        <a:pt x="39088" y="0"/>
                        <a:pt x="48946" y="7105"/>
                        <a:pt x="52457" y="17639"/>
                      </a:cubicBezTo>
                      <a:cubicBezTo>
                        <a:pt x="55969" y="28173"/>
                        <a:pt x="52346" y="39772"/>
                        <a:pt x="43463" y="46434"/>
                      </a:cubicBezTo>
                      <a:cubicBezTo>
                        <a:pt x="39377" y="50478"/>
                        <a:pt x="37461" y="56226"/>
                        <a:pt x="38303" y="61913"/>
                      </a:cubicBezTo>
                      <a:cubicBezTo>
                        <a:pt x="38303" y="67611"/>
                        <a:pt x="33683" y="72231"/>
                        <a:pt x="27984" y="72231"/>
                      </a:cubicBezTo>
                      <a:cubicBezTo>
                        <a:pt x="22286" y="72231"/>
                        <a:pt x="17666" y="67611"/>
                        <a:pt x="17666" y="61913"/>
                      </a:cubicBezTo>
                      <a:cubicBezTo>
                        <a:pt x="18508" y="56226"/>
                        <a:pt x="16592" y="50478"/>
                        <a:pt x="12506" y="46434"/>
                      </a:cubicBezTo>
                    </a:path>
                  </a:pathLst>
                </a:custGeom>
                <a:noFill/>
                <a:ln w="10319">
                  <a:solidFill>
                    <a:srgbClr val="76200F"/>
                  </a:solidFill>
                </a:ln>
              </p:spPr>
            </p:sp>
            <p:sp>
              <p:nvSpPr>
                <p:cNvPr id="184" name="Freeform 184"/>
                <p:cNvSpPr/>
                <p:nvPr/>
              </p:nvSpPr>
              <p:spPr>
                <a:xfrm>
                  <a:off x="1440696" y="2935684"/>
                  <a:ext cx="23733" cy="9525"/>
                </a:xfrm>
                <a:custGeom>
                  <a:avLst/>
                  <a:gdLst/>
                  <a:ahLst/>
                  <a:cxnLst/>
                  <a:rect l="l" t="t" r="r" b="b"/>
                  <a:pathLst>
                    <a:path w="23733" h="9525">
                      <a:moveTo>
                        <a:pt x="0" y="0"/>
                      </a:moveTo>
                      <a:lnTo>
                        <a:pt x="23733" y="0"/>
                      </a:lnTo>
                    </a:path>
                  </a:pathLst>
                </a:custGeom>
                <a:noFill/>
                <a:ln w="10319">
                  <a:solidFill>
                    <a:srgbClr val="76200F"/>
                  </a:solidFill>
                </a:ln>
              </p:spPr>
            </p:sp>
          </p:grpSp>
          <p:sp>
            <p:nvSpPr>
              <p:cNvPr id="186" name="TextBox 186"/>
              <p:cNvSpPr txBox="1"/>
              <p:nvPr/>
            </p:nvSpPr>
            <p:spPr>
              <a:xfrm>
                <a:off x="1689824" y="28839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活动设计</a:t>
                </a:r>
              </a:p>
            </p:txBody>
          </p:sp>
          <p:sp>
            <p:nvSpPr>
              <p:cNvPr id="187" name="Rectangle 187"/>
              <p:cNvSpPr/>
              <p:nvPr/>
            </p:nvSpPr>
            <p:spPr>
              <a:xfrm>
                <a:off x="2476500" y="2828925"/>
                <a:ext cx="228600" cy="171450"/>
              </a:xfrm>
              <a:prstGeom prst="roundRect">
                <a:avLst>
                  <a:gd name="adj" fmla="val 16667"/>
                </a:avLst>
              </a:prstGeom>
              <a:solidFill>
                <a:srgbClr val="5D190B"/>
              </a:solidFill>
              <a:ln>
                <a:noFill/>
              </a:ln>
            </p:spPr>
          </p:sp>
          <p:sp>
            <p:nvSpPr>
              <p:cNvPr id="188" name="TextBox 188"/>
              <p:cNvSpPr txBox="1"/>
              <p:nvPr/>
            </p:nvSpPr>
            <p:spPr>
              <a:xfrm>
                <a:off x="2530180" y="28798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A​</a:t>
                </a:r>
              </a:p>
            </p:txBody>
          </p:sp>
          <p:sp>
            <p:nvSpPr>
              <p:cNvPr id="189" name="Rectangle 189"/>
              <p:cNvSpPr/>
              <p:nvPr/>
            </p:nvSpPr>
            <p:spPr>
              <a:xfrm>
                <a:off x="3086100" y="2828925"/>
                <a:ext cx="228600" cy="171450"/>
              </a:xfrm>
              <a:prstGeom prst="roundRect">
                <a:avLst>
                  <a:gd name="adj" fmla="val 16667"/>
                </a:avLst>
              </a:prstGeom>
              <a:solidFill>
                <a:srgbClr val="76200F"/>
              </a:solidFill>
              <a:ln>
                <a:noFill/>
              </a:ln>
            </p:spPr>
          </p:sp>
          <p:sp>
            <p:nvSpPr>
              <p:cNvPr id="190" name="TextBox 190"/>
              <p:cNvSpPr txBox="1"/>
              <p:nvPr/>
            </p:nvSpPr>
            <p:spPr>
              <a:xfrm>
                <a:off x="3139780" y="28798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191" name="Rectangle 191"/>
              <p:cNvSpPr/>
              <p:nvPr/>
            </p:nvSpPr>
            <p:spPr>
              <a:xfrm>
                <a:off x="3695700" y="2828925"/>
                <a:ext cx="228600" cy="171450"/>
              </a:xfrm>
              <a:prstGeom prst="roundRect">
                <a:avLst>
                  <a:gd name="adj" fmla="val 16667"/>
                </a:avLst>
              </a:prstGeom>
              <a:solidFill>
                <a:srgbClr val="D9EEEA"/>
              </a:solidFill>
              <a:ln>
                <a:noFill/>
              </a:ln>
            </p:spPr>
          </p:sp>
          <p:sp>
            <p:nvSpPr>
              <p:cNvPr id="192" name="TextBox 192"/>
              <p:cNvSpPr txBox="1"/>
              <p:nvPr/>
            </p:nvSpPr>
            <p:spPr>
              <a:xfrm>
                <a:off x="3752040" y="28798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93" name="Rectangle 193"/>
              <p:cNvSpPr/>
              <p:nvPr/>
            </p:nvSpPr>
            <p:spPr>
              <a:xfrm>
                <a:off x="4305300" y="2828925"/>
                <a:ext cx="228600" cy="171450"/>
              </a:xfrm>
              <a:prstGeom prst="roundRect">
                <a:avLst>
                  <a:gd name="adj" fmla="val 16667"/>
                </a:avLst>
              </a:prstGeom>
              <a:solidFill>
                <a:srgbClr val="F0FAF8"/>
              </a:solidFill>
              <a:ln>
                <a:noFill/>
              </a:ln>
            </p:spPr>
          </p:sp>
          <p:sp>
            <p:nvSpPr>
              <p:cNvPr id="194" name="TextBox 194"/>
              <p:cNvSpPr txBox="1"/>
              <p:nvPr/>
            </p:nvSpPr>
            <p:spPr>
              <a:xfrm>
                <a:off x="4373730" y="28798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195" name="Rectangle 195"/>
              <p:cNvSpPr/>
              <p:nvPr/>
            </p:nvSpPr>
            <p:spPr>
              <a:xfrm>
                <a:off x="4914900" y="2828925"/>
                <a:ext cx="228600" cy="171450"/>
              </a:xfrm>
              <a:prstGeom prst="roundRect">
                <a:avLst>
                  <a:gd name="adj" fmla="val 16667"/>
                </a:avLst>
              </a:prstGeom>
              <a:solidFill>
                <a:srgbClr val="76200F"/>
              </a:solidFill>
              <a:ln>
                <a:noFill/>
              </a:ln>
            </p:spPr>
          </p:sp>
          <p:sp>
            <p:nvSpPr>
              <p:cNvPr id="196" name="TextBox 196"/>
              <p:cNvSpPr txBox="1"/>
              <p:nvPr/>
            </p:nvSpPr>
            <p:spPr>
              <a:xfrm>
                <a:off x="4968580" y="28798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197" name="Rectangle 197"/>
              <p:cNvSpPr/>
              <p:nvPr/>
            </p:nvSpPr>
            <p:spPr>
              <a:xfrm>
                <a:off x="5524500" y="2828925"/>
                <a:ext cx="228600" cy="171450"/>
              </a:xfrm>
              <a:prstGeom prst="roundRect">
                <a:avLst>
                  <a:gd name="adj" fmla="val 16667"/>
                </a:avLst>
              </a:prstGeom>
              <a:solidFill>
                <a:srgbClr val="D9EEEA"/>
              </a:solidFill>
              <a:ln>
                <a:noFill/>
              </a:ln>
            </p:spPr>
          </p:sp>
          <p:sp>
            <p:nvSpPr>
              <p:cNvPr id="198" name="TextBox 198"/>
              <p:cNvSpPr txBox="1"/>
              <p:nvPr/>
            </p:nvSpPr>
            <p:spPr>
              <a:xfrm>
                <a:off x="5580840" y="28798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199" name="Rectangle 199"/>
              <p:cNvSpPr/>
              <p:nvPr/>
            </p:nvSpPr>
            <p:spPr>
              <a:xfrm>
                <a:off x="6134100" y="2828925"/>
                <a:ext cx="228600" cy="171450"/>
              </a:xfrm>
              <a:prstGeom prst="roundRect">
                <a:avLst>
                  <a:gd name="adj" fmla="val 16667"/>
                </a:avLst>
              </a:prstGeom>
              <a:solidFill>
                <a:srgbClr val="76200F"/>
              </a:solidFill>
              <a:ln>
                <a:noFill/>
              </a:ln>
            </p:spPr>
          </p:sp>
          <p:sp>
            <p:nvSpPr>
              <p:cNvPr id="200" name="TextBox 200"/>
              <p:cNvSpPr txBox="1"/>
              <p:nvPr/>
            </p:nvSpPr>
            <p:spPr>
              <a:xfrm>
                <a:off x="6187780" y="28798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01" name="Rectangle 201"/>
              <p:cNvSpPr/>
              <p:nvPr/>
            </p:nvSpPr>
            <p:spPr>
              <a:xfrm>
                <a:off x="6743700" y="2828925"/>
                <a:ext cx="228600" cy="171450"/>
              </a:xfrm>
              <a:prstGeom prst="roundRect">
                <a:avLst>
                  <a:gd name="adj" fmla="val 16667"/>
                </a:avLst>
              </a:prstGeom>
              <a:solidFill>
                <a:srgbClr val="D9EEEA"/>
              </a:solidFill>
              <a:ln>
                <a:noFill/>
              </a:ln>
            </p:spPr>
          </p:sp>
          <p:sp>
            <p:nvSpPr>
              <p:cNvPr id="202" name="TextBox 202"/>
              <p:cNvSpPr txBox="1"/>
              <p:nvPr/>
            </p:nvSpPr>
            <p:spPr>
              <a:xfrm>
                <a:off x="6800040" y="28798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03" name="Rectangle 203"/>
              <p:cNvSpPr/>
              <p:nvPr/>
            </p:nvSpPr>
            <p:spPr>
              <a:xfrm>
                <a:off x="7353300" y="2828925"/>
                <a:ext cx="228600" cy="171450"/>
              </a:xfrm>
              <a:prstGeom prst="roundRect">
                <a:avLst>
                  <a:gd name="adj" fmla="val 16667"/>
                </a:avLst>
              </a:prstGeom>
              <a:solidFill>
                <a:srgbClr val="D9EEEA"/>
              </a:solidFill>
              <a:ln>
                <a:noFill/>
              </a:ln>
            </p:spPr>
          </p:sp>
          <p:sp>
            <p:nvSpPr>
              <p:cNvPr id="204" name="TextBox 204"/>
              <p:cNvSpPr txBox="1"/>
              <p:nvPr/>
            </p:nvSpPr>
            <p:spPr>
              <a:xfrm>
                <a:off x="7409640" y="28798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05" name="Rectangle 205"/>
              <p:cNvSpPr/>
              <p:nvPr/>
            </p:nvSpPr>
            <p:spPr>
              <a:xfrm>
                <a:off x="7886700" y="2828925"/>
                <a:ext cx="228600" cy="171450"/>
              </a:xfrm>
              <a:prstGeom prst="roundRect">
                <a:avLst>
                  <a:gd name="adj" fmla="val 16667"/>
                </a:avLst>
              </a:prstGeom>
              <a:solidFill>
                <a:srgbClr val="D9EEEA"/>
              </a:solidFill>
              <a:ln>
                <a:noFill/>
              </a:ln>
            </p:spPr>
          </p:sp>
          <p:sp>
            <p:nvSpPr>
              <p:cNvPr id="206" name="TextBox 206"/>
              <p:cNvSpPr txBox="1"/>
              <p:nvPr/>
            </p:nvSpPr>
            <p:spPr>
              <a:xfrm>
                <a:off x="7943040" y="28798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07" name="Rectangle 207"/>
              <p:cNvSpPr/>
              <p:nvPr/>
            </p:nvSpPr>
            <p:spPr>
              <a:xfrm>
                <a:off x="1333500" y="3048000"/>
                <a:ext cx="6934200" cy="266700"/>
              </a:xfrm>
              <a:prstGeom prst="rect">
                <a:avLst/>
              </a:prstGeom>
              <a:solidFill>
                <a:srgbClr val="EFF8F6"/>
              </a:solidFill>
              <a:ln w="9525">
                <a:solidFill>
                  <a:srgbClr val="E2EEEB"/>
                </a:solidFill>
              </a:ln>
            </p:spPr>
          </p:sp>
          <p:grpSp>
            <p:nvGrpSpPr>
              <p:cNvPr id="210" name="Group 210"/>
              <p:cNvGrpSpPr/>
              <p:nvPr/>
            </p:nvGrpSpPr>
            <p:grpSpPr>
              <a:xfrm>
                <a:off x="1403863" y="3127888"/>
                <a:ext cx="97399" cy="97399"/>
                <a:chOff x="1403863" y="3127888"/>
                <a:chExt cx="97399" cy="97399"/>
              </a:xfrm>
            </p:grpSpPr>
            <p:sp>
              <p:nvSpPr>
                <p:cNvPr id="208" name="Freeform 208"/>
                <p:cNvSpPr/>
                <p:nvPr/>
              </p:nvSpPr>
              <p:spPr>
                <a:xfrm>
                  <a:off x="1403863" y="3127888"/>
                  <a:ext cx="97399" cy="97399"/>
                </a:xfrm>
                <a:custGeom>
                  <a:avLst/>
                  <a:gdLst/>
                  <a:ahLst/>
                  <a:cxnLst/>
                  <a:rect l="l" t="t" r="r" b="b"/>
                  <a:pathLst>
                    <a:path w="97399" h="97399">
                      <a:moveTo>
                        <a:pt x="40057" y="9060"/>
                      </a:moveTo>
                      <a:cubicBezTo>
                        <a:pt x="42255" y="0"/>
                        <a:pt x="55143" y="0"/>
                        <a:pt x="57341" y="9060"/>
                      </a:cubicBezTo>
                      <a:cubicBezTo>
                        <a:pt x="58010" y="11820"/>
                        <a:pt x="59957" y="14096"/>
                        <a:pt x="62581" y="15183"/>
                      </a:cubicBezTo>
                      <a:cubicBezTo>
                        <a:pt x="65206" y="16270"/>
                        <a:pt x="68191" y="16038"/>
                        <a:pt x="70616" y="14560"/>
                      </a:cubicBezTo>
                      <a:cubicBezTo>
                        <a:pt x="78577" y="9710"/>
                        <a:pt x="87694" y="18821"/>
                        <a:pt x="82844" y="26787"/>
                      </a:cubicBezTo>
                      <a:cubicBezTo>
                        <a:pt x="81368" y="29212"/>
                        <a:pt x="81137" y="32195"/>
                        <a:pt x="82223" y="34817"/>
                      </a:cubicBezTo>
                      <a:cubicBezTo>
                        <a:pt x="83308" y="37440"/>
                        <a:pt x="85581" y="39387"/>
                        <a:pt x="88339" y="40057"/>
                      </a:cubicBezTo>
                      <a:cubicBezTo>
                        <a:pt x="97399" y="42255"/>
                        <a:pt x="97399" y="55143"/>
                        <a:pt x="88339" y="57341"/>
                      </a:cubicBezTo>
                      <a:cubicBezTo>
                        <a:pt x="85578" y="58010"/>
                        <a:pt x="83303" y="59957"/>
                        <a:pt x="82216" y="62581"/>
                      </a:cubicBezTo>
                      <a:cubicBezTo>
                        <a:pt x="81129" y="65206"/>
                        <a:pt x="81360" y="68191"/>
                        <a:pt x="82839" y="70616"/>
                      </a:cubicBezTo>
                      <a:cubicBezTo>
                        <a:pt x="87689" y="78577"/>
                        <a:pt x="78577" y="87694"/>
                        <a:pt x="70611" y="82844"/>
                      </a:cubicBezTo>
                      <a:cubicBezTo>
                        <a:pt x="68187" y="81368"/>
                        <a:pt x="65204" y="81137"/>
                        <a:pt x="62581" y="82223"/>
                      </a:cubicBezTo>
                      <a:cubicBezTo>
                        <a:pt x="59959" y="83308"/>
                        <a:pt x="58012" y="85581"/>
                        <a:pt x="57341" y="88339"/>
                      </a:cubicBezTo>
                      <a:cubicBezTo>
                        <a:pt x="55143" y="97399"/>
                        <a:pt x="42255" y="97399"/>
                        <a:pt x="40057" y="88339"/>
                      </a:cubicBezTo>
                      <a:cubicBezTo>
                        <a:pt x="39389" y="85578"/>
                        <a:pt x="37441" y="83303"/>
                        <a:pt x="34817" y="82216"/>
                      </a:cubicBezTo>
                      <a:cubicBezTo>
                        <a:pt x="32193" y="81129"/>
                        <a:pt x="29208" y="81360"/>
                        <a:pt x="26782" y="82839"/>
                      </a:cubicBezTo>
                      <a:cubicBezTo>
                        <a:pt x="18821" y="87689"/>
                        <a:pt x="9705" y="78577"/>
                        <a:pt x="14555" y="70611"/>
                      </a:cubicBezTo>
                      <a:cubicBezTo>
                        <a:pt x="16031" y="68187"/>
                        <a:pt x="16262" y="65204"/>
                        <a:pt x="15176" y="62581"/>
                      </a:cubicBezTo>
                      <a:cubicBezTo>
                        <a:pt x="14090" y="59959"/>
                        <a:pt x="11818" y="58012"/>
                        <a:pt x="9060" y="57341"/>
                      </a:cubicBezTo>
                      <a:cubicBezTo>
                        <a:pt x="0" y="55143"/>
                        <a:pt x="0" y="42255"/>
                        <a:pt x="9060" y="40057"/>
                      </a:cubicBezTo>
                      <a:cubicBezTo>
                        <a:pt x="11820" y="39389"/>
                        <a:pt x="14096" y="37441"/>
                        <a:pt x="15183" y="34817"/>
                      </a:cubicBezTo>
                      <a:cubicBezTo>
                        <a:pt x="16270" y="32193"/>
                        <a:pt x="16038" y="29208"/>
                        <a:pt x="14560" y="26782"/>
                      </a:cubicBezTo>
                      <a:cubicBezTo>
                        <a:pt x="9710" y="18821"/>
                        <a:pt x="18821" y="9705"/>
                        <a:pt x="26787" y="14555"/>
                      </a:cubicBezTo>
                      <a:cubicBezTo>
                        <a:pt x="31947" y="17692"/>
                        <a:pt x="38633" y="14916"/>
                        <a:pt x="40057" y="9060"/>
                      </a:cubicBezTo>
                    </a:path>
                  </a:pathLst>
                </a:custGeom>
                <a:noFill/>
                <a:ln w="10319">
                  <a:solidFill>
                    <a:srgbClr val="76200F"/>
                  </a:solidFill>
                </a:ln>
              </p:spPr>
            </p:sp>
            <p:sp>
              <p:nvSpPr>
                <p:cNvPr id="209" name="Freeform 209"/>
                <p:cNvSpPr/>
                <p:nvPr/>
              </p:nvSpPr>
              <p:spPr>
                <a:xfrm>
                  <a:off x="1437084" y="3161109"/>
                  <a:ext cx="30956" cy="30956"/>
                </a:xfrm>
                <a:custGeom>
                  <a:avLst/>
                  <a:gdLst/>
                  <a:ahLst/>
                  <a:cxnLst/>
                  <a:rect l="l" t="t" r="r" b="b"/>
                  <a:pathLst>
                    <a:path w="30956" h="30956">
                      <a:moveTo>
                        <a:pt x="0" y="15478"/>
                      </a:moveTo>
                      <a:cubicBezTo>
                        <a:pt x="0" y="24026"/>
                        <a:pt x="6930" y="30956"/>
                        <a:pt x="15478" y="30956"/>
                      </a:cubicBezTo>
                      <a:cubicBezTo>
                        <a:pt x="24026" y="30956"/>
                        <a:pt x="30956" y="24026"/>
                        <a:pt x="30956" y="15478"/>
                      </a:cubicBezTo>
                      <a:cubicBezTo>
                        <a:pt x="30956" y="6930"/>
                        <a:pt x="24026" y="0"/>
                        <a:pt x="15478" y="0"/>
                      </a:cubicBezTo>
                      <a:cubicBezTo>
                        <a:pt x="6930" y="0"/>
                        <a:pt x="0" y="6930"/>
                        <a:pt x="0" y="15478"/>
                      </a:cubicBezTo>
                    </a:path>
                  </a:pathLst>
                </a:custGeom>
                <a:noFill/>
                <a:ln w="10319">
                  <a:solidFill>
                    <a:srgbClr val="76200F"/>
                  </a:solidFill>
                </a:ln>
              </p:spPr>
            </p:sp>
          </p:grpSp>
          <p:sp>
            <p:nvSpPr>
              <p:cNvPr id="211" name="TextBox 211"/>
              <p:cNvSpPr txBox="1"/>
              <p:nvPr/>
            </p:nvSpPr>
            <p:spPr>
              <a:xfrm>
                <a:off x="1689824" y="31506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系统配置</a:t>
                </a:r>
              </a:p>
            </p:txBody>
          </p:sp>
          <p:sp>
            <p:nvSpPr>
              <p:cNvPr id="212" name="Rectangle 212"/>
              <p:cNvSpPr/>
              <p:nvPr/>
            </p:nvSpPr>
            <p:spPr>
              <a:xfrm>
                <a:off x="2476500" y="3095625"/>
                <a:ext cx="228600" cy="171450"/>
              </a:xfrm>
              <a:prstGeom prst="roundRect">
                <a:avLst>
                  <a:gd name="adj" fmla="val 16667"/>
                </a:avLst>
              </a:prstGeom>
              <a:solidFill>
                <a:srgbClr val="F0FAF8"/>
              </a:solidFill>
              <a:ln>
                <a:noFill/>
              </a:ln>
            </p:spPr>
          </p:sp>
          <p:sp>
            <p:nvSpPr>
              <p:cNvPr id="213" name="TextBox 213"/>
              <p:cNvSpPr txBox="1"/>
              <p:nvPr/>
            </p:nvSpPr>
            <p:spPr>
              <a:xfrm>
                <a:off x="2544930" y="31465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214" name="Rectangle 214"/>
              <p:cNvSpPr/>
              <p:nvPr/>
            </p:nvSpPr>
            <p:spPr>
              <a:xfrm>
                <a:off x="3086100" y="3095625"/>
                <a:ext cx="228600" cy="171450"/>
              </a:xfrm>
              <a:prstGeom prst="roundRect">
                <a:avLst>
                  <a:gd name="adj" fmla="val 16667"/>
                </a:avLst>
              </a:prstGeom>
              <a:solidFill>
                <a:srgbClr val="D9EEEA"/>
              </a:solidFill>
              <a:ln>
                <a:noFill/>
              </a:ln>
            </p:spPr>
          </p:sp>
          <p:sp>
            <p:nvSpPr>
              <p:cNvPr id="215" name="TextBox 215"/>
              <p:cNvSpPr txBox="1"/>
              <p:nvPr/>
            </p:nvSpPr>
            <p:spPr>
              <a:xfrm>
                <a:off x="3142440" y="31465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16" name="Rectangle 216"/>
              <p:cNvSpPr/>
              <p:nvPr/>
            </p:nvSpPr>
            <p:spPr>
              <a:xfrm>
                <a:off x="3695700" y="3095625"/>
                <a:ext cx="228600" cy="171450"/>
              </a:xfrm>
              <a:prstGeom prst="roundRect">
                <a:avLst>
                  <a:gd name="adj" fmla="val 16667"/>
                </a:avLst>
              </a:prstGeom>
              <a:solidFill>
                <a:srgbClr val="D9EEEA"/>
              </a:solidFill>
              <a:ln>
                <a:noFill/>
              </a:ln>
            </p:spPr>
          </p:sp>
          <p:sp>
            <p:nvSpPr>
              <p:cNvPr id="217" name="TextBox 217"/>
              <p:cNvSpPr txBox="1"/>
              <p:nvPr/>
            </p:nvSpPr>
            <p:spPr>
              <a:xfrm>
                <a:off x="3752040" y="31465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18" name="Rectangle 218"/>
              <p:cNvSpPr/>
              <p:nvPr/>
            </p:nvSpPr>
            <p:spPr>
              <a:xfrm>
                <a:off x="4305300" y="3095625"/>
                <a:ext cx="228600" cy="171450"/>
              </a:xfrm>
              <a:prstGeom prst="roundRect">
                <a:avLst>
                  <a:gd name="adj" fmla="val 16667"/>
                </a:avLst>
              </a:prstGeom>
              <a:solidFill>
                <a:srgbClr val="F0FAF8"/>
              </a:solidFill>
              <a:ln>
                <a:noFill/>
              </a:ln>
            </p:spPr>
          </p:sp>
          <p:sp>
            <p:nvSpPr>
              <p:cNvPr id="219" name="TextBox 219"/>
              <p:cNvSpPr txBox="1"/>
              <p:nvPr/>
            </p:nvSpPr>
            <p:spPr>
              <a:xfrm>
                <a:off x="4373730" y="31465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220" name="Rectangle 220"/>
              <p:cNvSpPr/>
              <p:nvPr/>
            </p:nvSpPr>
            <p:spPr>
              <a:xfrm>
                <a:off x="4914900" y="3095625"/>
                <a:ext cx="228600" cy="171450"/>
              </a:xfrm>
              <a:prstGeom prst="roundRect">
                <a:avLst>
                  <a:gd name="adj" fmla="val 16667"/>
                </a:avLst>
              </a:prstGeom>
              <a:solidFill>
                <a:srgbClr val="D9EEEA"/>
              </a:solidFill>
              <a:ln>
                <a:noFill/>
              </a:ln>
            </p:spPr>
          </p:sp>
          <p:sp>
            <p:nvSpPr>
              <p:cNvPr id="221" name="TextBox 221"/>
              <p:cNvSpPr txBox="1"/>
              <p:nvPr/>
            </p:nvSpPr>
            <p:spPr>
              <a:xfrm>
                <a:off x="4971240" y="31465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22" name="Rectangle 222"/>
              <p:cNvSpPr/>
              <p:nvPr/>
            </p:nvSpPr>
            <p:spPr>
              <a:xfrm>
                <a:off x="5524500" y="3095625"/>
                <a:ext cx="228600" cy="171450"/>
              </a:xfrm>
              <a:prstGeom prst="roundRect">
                <a:avLst>
                  <a:gd name="adj" fmla="val 16667"/>
                </a:avLst>
              </a:prstGeom>
              <a:solidFill>
                <a:srgbClr val="D9EEEA"/>
              </a:solidFill>
              <a:ln>
                <a:noFill/>
              </a:ln>
            </p:spPr>
          </p:sp>
          <p:sp>
            <p:nvSpPr>
              <p:cNvPr id="223" name="TextBox 223"/>
              <p:cNvSpPr txBox="1"/>
              <p:nvPr/>
            </p:nvSpPr>
            <p:spPr>
              <a:xfrm>
                <a:off x="5580840" y="31465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24" name="Rectangle 224"/>
              <p:cNvSpPr/>
              <p:nvPr/>
            </p:nvSpPr>
            <p:spPr>
              <a:xfrm>
                <a:off x="6134100" y="3095625"/>
                <a:ext cx="228600" cy="171450"/>
              </a:xfrm>
              <a:prstGeom prst="roundRect">
                <a:avLst>
                  <a:gd name="adj" fmla="val 16667"/>
                </a:avLst>
              </a:prstGeom>
              <a:solidFill>
                <a:srgbClr val="D9EEEA"/>
              </a:solidFill>
              <a:ln>
                <a:noFill/>
              </a:ln>
            </p:spPr>
          </p:sp>
          <p:sp>
            <p:nvSpPr>
              <p:cNvPr id="225" name="TextBox 225"/>
              <p:cNvSpPr txBox="1"/>
              <p:nvPr/>
            </p:nvSpPr>
            <p:spPr>
              <a:xfrm>
                <a:off x="6190440" y="31465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26" name="Rectangle 226"/>
              <p:cNvSpPr/>
              <p:nvPr/>
            </p:nvSpPr>
            <p:spPr>
              <a:xfrm>
                <a:off x="6743700" y="3095625"/>
                <a:ext cx="228600" cy="171450"/>
              </a:xfrm>
              <a:prstGeom prst="roundRect">
                <a:avLst>
                  <a:gd name="adj" fmla="val 16667"/>
                </a:avLst>
              </a:prstGeom>
              <a:solidFill>
                <a:srgbClr val="76200F"/>
              </a:solidFill>
              <a:ln>
                <a:noFill/>
              </a:ln>
            </p:spPr>
          </p:sp>
          <p:sp>
            <p:nvSpPr>
              <p:cNvPr id="227" name="TextBox 227"/>
              <p:cNvSpPr txBox="1"/>
              <p:nvPr/>
            </p:nvSpPr>
            <p:spPr>
              <a:xfrm>
                <a:off x="6797380" y="31465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28" name="Rectangle 228"/>
              <p:cNvSpPr/>
              <p:nvPr/>
            </p:nvSpPr>
            <p:spPr>
              <a:xfrm>
                <a:off x="7353300" y="3095625"/>
                <a:ext cx="228600" cy="171450"/>
              </a:xfrm>
              <a:prstGeom prst="roundRect">
                <a:avLst>
                  <a:gd name="adj" fmla="val 16667"/>
                </a:avLst>
              </a:prstGeom>
              <a:solidFill>
                <a:srgbClr val="76200F"/>
              </a:solidFill>
              <a:ln>
                <a:noFill/>
              </a:ln>
            </p:spPr>
          </p:sp>
          <p:sp>
            <p:nvSpPr>
              <p:cNvPr id="229" name="TextBox 229"/>
              <p:cNvSpPr txBox="1"/>
              <p:nvPr/>
            </p:nvSpPr>
            <p:spPr>
              <a:xfrm>
                <a:off x="7406980" y="31465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30" name="Rectangle 230"/>
              <p:cNvSpPr/>
              <p:nvPr/>
            </p:nvSpPr>
            <p:spPr>
              <a:xfrm>
                <a:off x="7886700" y="3095625"/>
                <a:ext cx="228600" cy="171450"/>
              </a:xfrm>
              <a:prstGeom prst="roundRect">
                <a:avLst>
                  <a:gd name="adj" fmla="val 16667"/>
                </a:avLst>
              </a:prstGeom>
              <a:solidFill>
                <a:srgbClr val="D9EEEA"/>
              </a:solidFill>
              <a:ln>
                <a:noFill/>
              </a:ln>
            </p:spPr>
          </p:sp>
          <p:sp>
            <p:nvSpPr>
              <p:cNvPr id="231" name="TextBox 231"/>
              <p:cNvSpPr txBox="1"/>
              <p:nvPr/>
            </p:nvSpPr>
            <p:spPr>
              <a:xfrm>
                <a:off x="7943040" y="31465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32" name="Rectangle 232"/>
              <p:cNvSpPr/>
              <p:nvPr/>
            </p:nvSpPr>
            <p:spPr>
              <a:xfrm>
                <a:off x="1333500" y="3314700"/>
                <a:ext cx="6934200" cy="266700"/>
              </a:xfrm>
              <a:prstGeom prst="rect">
                <a:avLst/>
              </a:prstGeom>
              <a:solidFill>
                <a:srgbClr val="FFFFFF"/>
              </a:solidFill>
              <a:ln w="9525">
                <a:solidFill>
                  <a:srgbClr val="E2EEEB"/>
                </a:solidFill>
              </a:ln>
            </p:spPr>
          </p:sp>
          <p:grpSp>
            <p:nvGrpSpPr>
              <p:cNvPr id="235" name="Group 235"/>
              <p:cNvGrpSpPr/>
              <p:nvPr/>
            </p:nvGrpSpPr>
            <p:grpSpPr>
              <a:xfrm>
                <a:off x="1416447" y="3397340"/>
                <a:ext cx="72231" cy="92382"/>
                <a:chOff x="1416447" y="3397340"/>
                <a:chExt cx="72231" cy="92382"/>
              </a:xfrm>
            </p:grpSpPr>
            <p:sp>
              <p:nvSpPr>
                <p:cNvPr id="233" name="Freeform 233"/>
                <p:cNvSpPr/>
                <p:nvPr/>
              </p:nvSpPr>
              <p:spPr>
                <a:xfrm>
                  <a:off x="1416447" y="3397340"/>
                  <a:ext cx="72231" cy="66099"/>
                </a:xfrm>
                <a:custGeom>
                  <a:avLst/>
                  <a:gdLst/>
                  <a:ahLst/>
                  <a:cxnLst/>
                  <a:rect l="l" t="t" r="r" b="b"/>
                  <a:pathLst>
                    <a:path w="72231" h="66099">
                      <a:moveTo>
                        <a:pt x="0" y="9832"/>
                      </a:moveTo>
                      <a:cubicBezTo>
                        <a:pt x="10031" y="0"/>
                        <a:pt x="26085" y="0"/>
                        <a:pt x="36116" y="9832"/>
                      </a:cubicBezTo>
                      <a:cubicBezTo>
                        <a:pt x="46147" y="19665"/>
                        <a:pt x="62200" y="19665"/>
                        <a:pt x="72231" y="9832"/>
                      </a:cubicBezTo>
                      <a:lnTo>
                        <a:pt x="72231" y="56267"/>
                      </a:lnTo>
                      <a:cubicBezTo>
                        <a:pt x="62200" y="66099"/>
                        <a:pt x="46147" y="66099"/>
                        <a:pt x="36116" y="56267"/>
                      </a:cubicBezTo>
                      <a:cubicBezTo>
                        <a:pt x="26085" y="46434"/>
                        <a:pt x="10031" y="46434"/>
                        <a:pt x="0" y="56267"/>
                      </a:cubicBezTo>
                      <a:lnTo>
                        <a:pt x="0" y="9832"/>
                      </a:lnTo>
                    </a:path>
                  </a:pathLst>
                </a:custGeom>
                <a:noFill/>
                <a:ln w="10319">
                  <a:solidFill>
                    <a:srgbClr val="76200F"/>
                  </a:solidFill>
                </a:ln>
              </p:spPr>
            </p:sp>
            <p:sp>
              <p:nvSpPr>
                <p:cNvPr id="234" name="Freeform 234"/>
                <p:cNvSpPr/>
                <p:nvPr/>
              </p:nvSpPr>
              <p:spPr>
                <a:xfrm>
                  <a:off x="1416447" y="3453606"/>
                  <a:ext cx="9525" cy="36116"/>
                </a:xfrm>
                <a:custGeom>
                  <a:avLst/>
                  <a:gdLst/>
                  <a:ahLst/>
                  <a:cxnLst/>
                  <a:rect l="l" t="t" r="r" b="b"/>
                  <a:pathLst>
                    <a:path w="9525" h="36116">
                      <a:moveTo>
                        <a:pt x="0" y="36116"/>
                      </a:moveTo>
                      <a:lnTo>
                        <a:pt x="0" y="0"/>
                      </a:lnTo>
                    </a:path>
                  </a:pathLst>
                </a:custGeom>
                <a:noFill/>
                <a:ln w="10319">
                  <a:solidFill>
                    <a:srgbClr val="76200F"/>
                  </a:solidFill>
                </a:ln>
              </p:spPr>
            </p:sp>
          </p:grpSp>
          <p:sp>
            <p:nvSpPr>
              <p:cNvPr id="236" name="TextBox 236"/>
              <p:cNvSpPr txBox="1"/>
              <p:nvPr/>
            </p:nvSpPr>
            <p:spPr>
              <a:xfrm>
                <a:off x="1689824" y="34173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现场执行</a:t>
                </a:r>
              </a:p>
            </p:txBody>
          </p:sp>
          <p:sp>
            <p:nvSpPr>
              <p:cNvPr id="237" name="Rectangle 237"/>
              <p:cNvSpPr/>
              <p:nvPr/>
            </p:nvSpPr>
            <p:spPr>
              <a:xfrm>
                <a:off x="2476500" y="3362325"/>
                <a:ext cx="228600" cy="171450"/>
              </a:xfrm>
              <a:prstGeom prst="roundRect">
                <a:avLst>
                  <a:gd name="adj" fmla="val 16667"/>
                </a:avLst>
              </a:prstGeom>
              <a:solidFill>
                <a:srgbClr val="F0FAF8"/>
              </a:solidFill>
              <a:ln>
                <a:noFill/>
              </a:ln>
            </p:spPr>
          </p:sp>
          <p:sp>
            <p:nvSpPr>
              <p:cNvPr id="238" name="TextBox 238"/>
              <p:cNvSpPr txBox="1"/>
              <p:nvPr/>
            </p:nvSpPr>
            <p:spPr>
              <a:xfrm>
                <a:off x="2544930" y="34132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239" name="Rectangle 239"/>
              <p:cNvSpPr/>
              <p:nvPr/>
            </p:nvSpPr>
            <p:spPr>
              <a:xfrm>
                <a:off x="3086100" y="3362325"/>
                <a:ext cx="228600" cy="171450"/>
              </a:xfrm>
              <a:prstGeom prst="roundRect">
                <a:avLst>
                  <a:gd name="adj" fmla="val 16667"/>
                </a:avLst>
              </a:prstGeom>
              <a:solidFill>
                <a:srgbClr val="D9EEEA"/>
              </a:solidFill>
              <a:ln>
                <a:noFill/>
              </a:ln>
            </p:spPr>
          </p:sp>
          <p:sp>
            <p:nvSpPr>
              <p:cNvPr id="240" name="TextBox 240"/>
              <p:cNvSpPr txBox="1"/>
              <p:nvPr/>
            </p:nvSpPr>
            <p:spPr>
              <a:xfrm>
                <a:off x="3142440" y="34132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41" name="Rectangle 241"/>
              <p:cNvSpPr/>
              <p:nvPr/>
            </p:nvSpPr>
            <p:spPr>
              <a:xfrm>
                <a:off x="3695700" y="3362325"/>
                <a:ext cx="228600" cy="171450"/>
              </a:xfrm>
              <a:prstGeom prst="roundRect">
                <a:avLst>
                  <a:gd name="adj" fmla="val 16667"/>
                </a:avLst>
              </a:prstGeom>
              <a:solidFill>
                <a:srgbClr val="76200F"/>
              </a:solidFill>
              <a:ln>
                <a:noFill/>
              </a:ln>
            </p:spPr>
          </p:sp>
          <p:sp>
            <p:nvSpPr>
              <p:cNvPr id="242" name="TextBox 242"/>
              <p:cNvSpPr txBox="1"/>
              <p:nvPr/>
            </p:nvSpPr>
            <p:spPr>
              <a:xfrm>
                <a:off x="3749380" y="34132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43" name="Rectangle 243"/>
              <p:cNvSpPr/>
              <p:nvPr/>
            </p:nvSpPr>
            <p:spPr>
              <a:xfrm>
                <a:off x="4305300" y="3362325"/>
                <a:ext cx="228600" cy="171450"/>
              </a:xfrm>
              <a:prstGeom prst="roundRect">
                <a:avLst>
                  <a:gd name="adj" fmla="val 16667"/>
                </a:avLst>
              </a:prstGeom>
              <a:solidFill>
                <a:srgbClr val="76200F"/>
              </a:solidFill>
              <a:ln>
                <a:noFill/>
              </a:ln>
            </p:spPr>
          </p:sp>
          <p:sp>
            <p:nvSpPr>
              <p:cNvPr id="244" name="TextBox 244"/>
              <p:cNvSpPr txBox="1"/>
              <p:nvPr/>
            </p:nvSpPr>
            <p:spPr>
              <a:xfrm>
                <a:off x="4358980" y="34132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45" name="Rectangle 245"/>
              <p:cNvSpPr/>
              <p:nvPr/>
            </p:nvSpPr>
            <p:spPr>
              <a:xfrm>
                <a:off x="4914900" y="3362325"/>
                <a:ext cx="228600" cy="171450"/>
              </a:xfrm>
              <a:prstGeom prst="roundRect">
                <a:avLst>
                  <a:gd name="adj" fmla="val 16667"/>
                </a:avLst>
              </a:prstGeom>
              <a:solidFill>
                <a:srgbClr val="D9EEEA"/>
              </a:solidFill>
              <a:ln>
                <a:noFill/>
              </a:ln>
            </p:spPr>
          </p:sp>
          <p:sp>
            <p:nvSpPr>
              <p:cNvPr id="246" name="TextBox 246"/>
              <p:cNvSpPr txBox="1"/>
              <p:nvPr/>
            </p:nvSpPr>
            <p:spPr>
              <a:xfrm>
                <a:off x="4971240" y="34132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47" name="Rectangle 247"/>
              <p:cNvSpPr/>
              <p:nvPr/>
            </p:nvSpPr>
            <p:spPr>
              <a:xfrm>
                <a:off x="5524500" y="3362325"/>
                <a:ext cx="228600" cy="171450"/>
              </a:xfrm>
              <a:prstGeom prst="roundRect">
                <a:avLst>
                  <a:gd name="adj" fmla="val 16667"/>
                </a:avLst>
              </a:prstGeom>
              <a:solidFill>
                <a:srgbClr val="D9EEEA"/>
              </a:solidFill>
              <a:ln>
                <a:noFill/>
              </a:ln>
            </p:spPr>
          </p:sp>
          <p:sp>
            <p:nvSpPr>
              <p:cNvPr id="248" name="TextBox 248"/>
              <p:cNvSpPr txBox="1"/>
              <p:nvPr/>
            </p:nvSpPr>
            <p:spPr>
              <a:xfrm>
                <a:off x="5580840" y="34132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49" name="Rectangle 249"/>
              <p:cNvSpPr/>
              <p:nvPr/>
            </p:nvSpPr>
            <p:spPr>
              <a:xfrm>
                <a:off x="6134100" y="3362325"/>
                <a:ext cx="228600" cy="171450"/>
              </a:xfrm>
              <a:prstGeom prst="roundRect">
                <a:avLst>
                  <a:gd name="adj" fmla="val 16667"/>
                </a:avLst>
              </a:prstGeom>
              <a:solidFill>
                <a:srgbClr val="D9EEEA"/>
              </a:solidFill>
              <a:ln>
                <a:noFill/>
              </a:ln>
            </p:spPr>
          </p:sp>
          <p:sp>
            <p:nvSpPr>
              <p:cNvPr id="250" name="TextBox 250"/>
              <p:cNvSpPr txBox="1"/>
              <p:nvPr/>
            </p:nvSpPr>
            <p:spPr>
              <a:xfrm>
                <a:off x="6190440" y="34132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51" name="Rectangle 251"/>
              <p:cNvSpPr/>
              <p:nvPr/>
            </p:nvSpPr>
            <p:spPr>
              <a:xfrm>
                <a:off x="6743700" y="3362325"/>
                <a:ext cx="228600" cy="171450"/>
              </a:xfrm>
              <a:prstGeom prst="roundRect">
                <a:avLst>
                  <a:gd name="adj" fmla="val 16667"/>
                </a:avLst>
              </a:prstGeom>
              <a:solidFill>
                <a:srgbClr val="D9EEEA"/>
              </a:solidFill>
              <a:ln>
                <a:noFill/>
              </a:ln>
            </p:spPr>
          </p:sp>
          <p:sp>
            <p:nvSpPr>
              <p:cNvPr id="252" name="TextBox 252"/>
              <p:cNvSpPr txBox="1"/>
              <p:nvPr/>
            </p:nvSpPr>
            <p:spPr>
              <a:xfrm>
                <a:off x="6800040" y="34132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53" name="Rectangle 253"/>
              <p:cNvSpPr/>
              <p:nvPr/>
            </p:nvSpPr>
            <p:spPr>
              <a:xfrm>
                <a:off x="7353300" y="3362325"/>
                <a:ext cx="228600" cy="171450"/>
              </a:xfrm>
              <a:prstGeom prst="roundRect">
                <a:avLst>
                  <a:gd name="adj" fmla="val 16667"/>
                </a:avLst>
              </a:prstGeom>
              <a:solidFill>
                <a:srgbClr val="76200F"/>
              </a:solidFill>
              <a:ln>
                <a:noFill/>
              </a:ln>
            </p:spPr>
          </p:sp>
          <p:sp>
            <p:nvSpPr>
              <p:cNvPr id="254" name="TextBox 254"/>
              <p:cNvSpPr txBox="1"/>
              <p:nvPr/>
            </p:nvSpPr>
            <p:spPr>
              <a:xfrm>
                <a:off x="7406980" y="34132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55" name="Rectangle 255"/>
              <p:cNvSpPr/>
              <p:nvPr/>
            </p:nvSpPr>
            <p:spPr>
              <a:xfrm>
                <a:off x="7886700" y="3362325"/>
                <a:ext cx="228600" cy="171450"/>
              </a:xfrm>
              <a:prstGeom prst="roundRect">
                <a:avLst>
                  <a:gd name="adj" fmla="val 16667"/>
                </a:avLst>
              </a:prstGeom>
              <a:solidFill>
                <a:srgbClr val="F0FAF8"/>
              </a:solidFill>
              <a:ln>
                <a:noFill/>
              </a:ln>
            </p:spPr>
          </p:sp>
          <p:sp>
            <p:nvSpPr>
              <p:cNvPr id="256" name="TextBox 256"/>
              <p:cNvSpPr txBox="1"/>
              <p:nvPr/>
            </p:nvSpPr>
            <p:spPr>
              <a:xfrm>
                <a:off x="7955130" y="34132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257" name="Rectangle 257"/>
              <p:cNvSpPr/>
              <p:nvPr/>
            </p:nvSpPr>
            <p:spPr>
              <a:xfrm>
                <a:off x="1333500" y="3581400"/>
                <a:ext cx="6934200" cy="266700"/>
              </a:xfrm>
              <a:prstGeom prst="rect">
                <a:avLst/>
              </a:prstGeom>
              <a:solidFill>
                <a:srgbClr val="EFF8F6"/>
              </a:solidFill>
              <a:ln w="9525">
                <a:solidFill>
                  <a:srgbClr val="E2EEEB"/>
                </a:solidFill>
              </a:ln>
            </p:spPr>
          </p:sp>
          <p:grpSp>
            <p:nvGrpSpPr>
              <p:cNvPr id="261" name="Group 261"/>
              <p:cNvGrpSpPr/>
              <p:nvPr/>
            </p:nvGrpSpPr>
            <p:grpSpPr>
              <a:xfrm>
                <a:off x="1421606" y="3663553"/>
                <a:ext cx="77391" cy="92869"/>
                <a:chOff x="1421606" y="3663553"/>
                <a:chExt cx="77391" cy="92869"/>
              </a:xfrm>
            </p:grpSpPr>
            <p:sp>
              <p:nvSpPr>
                <p:cNvPr id="258" name="Freeform 258"/>
                <p:cNvSpPr/>
                <p:nvPr/>
              </p:nvSpPr>
              <p:spPr>
                <a:xfrm>
                  <a:off x="1431925" y="3663553"/>
                  <a:ext cx="41275" cy="41275"/>
                </a:xfrm>
                <a:custGeom>
                  <a:avLst/>
                  <a:gdLst/>
                  <a:ahLst/>
                  <a:cxnLst/>
                  <a:rect l="l" t="t" r="r" b="b"/>
                  <a:pathLst>
                    <a:path w="41275" h="41275">
                      <a:moveTo>
                        <a:pt x="0" y="20638"/>
                      </a:moveTo>
                      <a:cubicBezTo>
                        <a:pt x="0" y="32035"/>
                        <a:pt x="9240" y="41275"/>
                        <a:pt x="20638" y="41275"/>
                      </a:cubicBezTo>
                      <a:cubicBezTo>
                        <a:pt x="32035" y="41275"/>
                        <a:pt x="41275" y="32035"/>
                        <a:pt x="41275" y="20638"/>
                      </a:cubicBezTo>
                      <a:cubicBezTo>
                        <a:pt x="41275" y="9240"/>
                        <a:pt x="32035" y="0"/>
                        <a:pt x="20638" y="0"/>
                      </a:cubicBezTo>
                      <a:cubicBezTo>
                        <a:pt x="9240" y="0"/>
                        <a:pt x="0" y="9240"/>
                        <a:pt x="0" y="20638"/>
                      </a:cubicBezTo>
                    </a:path>
                  </a:pathLst>
                </a:custGeom>
                <a:noFill/>
                <a:ln w="10319">
                  <a:solidFill>
                    <a:srgbClr val="76200F"/>
                  </a:solidFill>
                </a:ln>
              </p:spPr>
            </p:sp>
            <p:sp>
              <p:nvSpPr>
                <p:cNvPr id="259" name="Freeform 259"/>
                <p:cNvSpPr/>
                <p:nvPr/>
              </p:nvSpPr>
              <p:spPr>
                <a:xfrm>
                  <a:off x="1421606" y="3725466"/>
                  <a:ext cx="41275" cy="30956"/>
                </a:xfrm>
                <a:custGeom>
                  <a:avLst/>
                  <a:gdLst/>
                  <a:ahLst/>
                  <a:cxnLst/>
                  <a:rect l="l" t="t" r="r" b="b"/>
                  <a:pathLst>
                    <a:path w="41275" h="30956">
                      <a:moveTo>
                        <a:pt x="0" y="30956"/>
                      </a:moveTo>
                      <a:lnTo>
                        <a:pt x="0" y="20638"/>
                      </a:lnTo>
                      <a:cubicBezTo>
                        <a:pt x="0" y="9240"/>
                        <a:pt x="9240" y="0"/>
                        <a:pt x="20638" y="0"/>
                      </a:cubicBezTo>
                      <a:lnTo>
                        <a:pt x="41275" y="0"/>
                      </a:lnTo>
                    </a:path>
                  </a:pathLst>
                </a:custGeom>
                <a:noFill/>
                <a:ln w="10319">
                  <a:solidFill>
                    <a:srgbClr val="76200F"/>
                  </a:solidFill>
                </a:ln>
              </p:spPr>
            </p:sp>
            <p:sp>
              <p:nvSpPr>
                <p:cNvPr id="260" name="Freeform 260"/>
                <p:cNvSpPr/>
                <p:nvPr/>
              </p:nvSpPr>
              <p:spPr>
                <a:xfrm>
                  <a:off x="1468041" y="3735784"/>
                  <a:ext cx="30956" cy="20638"/>
                </a:xfrm>
                <a:custGeom>
                  <a:avLst/>
                  <a:gdLst/>
                  <a:ahLst/>
                  <a:cxnLst/>
                  <a:rect l="l" t="t" r="r" b="b"/>
                  <a:pathLst>
                    <a:path w="30956" h="20638">
                      <a:moveTo>
                        <a:pt x="0" y="10319"/>
                      </a:moveTo>
                      <a:lnTo>
                        <a:pt x="10319" y="20638"/>
                      </a:lnTo>
                      <a:lnTo>
                        <a:pt x="30956" y="0"/>
                      </a:lnTo>
                    </a:path>
                  </a:pathLst>
                </a:custGeom>
                <a:noFill/>
                <a:ln w="10319">
                  <a:solidFill>
                    <a:srgbClr val="76200F"/>
                  </a:solidFill>
                </a:ln>
              </p:spPr>
            </p:sp>
          </p:grpSp>
          <p:sp>
            <p:nvSpPr>
              <p:cNvPr id="262" name="TextBox 262"/>
              <p:cNvSpPr txBox="1"/>
              <p:nvPr/>
            </p:nvSpPr>
            <p:spPr>
              <a:xfrm>
                <a:off x="1689824" y="36840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客户跟进</a:t>
                </a:r>
              </a:p>
            </p:txBody>
          </p:sp>
          <p:sp>
            <p:nvSpPr>
              <p:cNvPr id="263" name="Rectangle 263"/>
              <p:cNvSpPr/>
              <p:nvPr/>
            </p:nvSpPr>
            <p:spPr>
              <a:xfrm>
                <a:off x="2476500" y="3629025"/>
                <a:ext cx="228600" cy="171450"/>
              </a:xfrm>
              <a:prstGeom prst="roundRect">
                <a:avLst>
                  <a:gd name="adj" fmla="val 16667"/>
                </a:avLst>
              </a:prstGeom>
              <a:solidFill>
                <a:srgbClr val="F0FAF8"/>
              </a:solidFill>
              <a:ln>
                <a:noFill/>
              </a:ln>
            </p:spPr>
          </p:sp>
          <p:sp>
            <p:nvSpPr>
              <p:cNvPr id="264" name="TextBox 264"/>
              <p:cNvSpPr txBox="1"/>
              <p:nvPr/>
            </p:nvSpPr>
            <p:spPr>
              <a:xfrm>
                <a:off x="2544930" y="36799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265" name="Rectangle 265"/>
              <p:cNvSpPr/>
              <p:nvPr/>
            </p:nvSpPr>
            <p:spPr>
              <a:xfrm>
                <a:off x="3086100" y="3629025"/>
                <a:ext cx="228600" cy="171450"/>
              </a:xfrm>
              <a:prstGeom prst="roundRect">
                <a:avLst>
                  <a:gd name="adj" fmla="val 16667"/>
                </a:avLst>
              </a:prstGeom>
              <a:solidFill>
                <a:srgbClr val="D9EEEA"/>
              </a:solidFill>
              <a:ln>
                <a:noFill/>
              </a:ln>
            </p:spPr>
          </p:sp>
          <p:sp>
            <p:nvSpPr>
              <p:cNvPr id="266" name="TextBox 266"/>
              <p:cNvSpPr txBox="1"/>
              <p:nvPr/>
            </p:nvSpPr>
            <p:spPr>
              <a:xfrm>
                <a:off x="3142440" y="36799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67" name="Rectangle 267"/>
              <p:cNvSpPr/>
              <p:nvPr/>
            </p:nvSpPr>
            <p:spPr>
              <a:xfrm>
                <a:off x="3695700" y="3629025"/>
                <a:ext cx="228600" cy="171450"/>
              </a:xfrm>
              <a:prstGeom prst="roundRect">
                <a:avLst>
                  <a:gd name="adj" fmla="val 16667"/>
                </a:avLst>
              </a:prstGeom>
              <a:solidFill>
                <a:srgbClr val="76200F"/>
              </a:solidFill>
              <a:ln>
                <a:noFill/>
              </a:ln>
            </p:spPr>
          </p:sp>
          <p:sp>
            <p:nvSpPr>
              <p:cNvPr id="268" name="TextBox 268"/>
              <p:cNvSpPr txBox="1"/>
              <p:nvPr/>
            </p:nvSpPr>
            <p:spPr>
              <a:xfrm>
                <a:off x="3749380" y="36799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69" name="Rectangle 269"/>
              <p:cNvSpPr/>
              <p:nvPr/>
            </p:nvSpPr>
            <p:spPr>
              <a:xfrm>
                <a:off x="4305300" y="3629025"/>
                <a:ext cx="228600" cy="171450"/>
              </a:xfrm>
              <a:prstGeom prst="roundRect">
                <a:avLst>
                  <a:gd name="adj" fmla="val 16667"/>
                </a:avLst>
              </a:prstGeom>
              <a:solidFill>
                <a:srgbClr val="76200F"/>
              </a:solidFill>
              <a:ln>
                <a:noFill/>
              </a:ln>
            </p:spPr>
          </p:sp>
          <p:sp>
            <p:nvSpPr>
              <p:cNvPr id="270" name="TextBox 270"/>
              <p:cNvSpPr txBox="1"/>
              <p:nvPr/>
            </p:nvSpPr>
            <p:spPr>
              <a:xfrm>
                <a:off x="4358980" y="36799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71" name="Rectangle 271"/>
              <p:cNvSpPr/>
              <p:nvPr/>
            </p:nvSpPr>
            <p:spPr>
              <a:xfrm>
                <a:off x="4914900" y="3629025"/>
                <a:ext cx="228600" cy="171450"/>
              </a:xfrm>
              <a:prstGeom prst="roundRect">
                <a:avLst>
                  <a:gd name="adj" fmla="val 16667"/>
                </a:avLst>
              </a:prstGeom>
              <a:solidFill>
                <a:srgbClr val="76200F"/>
              </a:solidFill>
              <a:ln>
                <a:noFill/>
              </a:ln>
            </p:spPr>
          </p:sp>
          <p:sp>
            <p:nvSpPr>
              <p:cNvPr id="272" name="TextBox 272"/>
              <p:cNvSpPr txBox="1"/>
              <p:nvPr/>
            </p:nvSpPr>
            <p:spPr>
              <a:xfrm>
                <a:off x="4968580" y="36799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73" name="Rectangle 273"/>
              <p:cNvSpPr/>
              <p:nvPr/>
            </p:nvSpPr>
            <p:spPr>
              <a:xfrm>
                <a:off x="5524500" y="3629025"/>
                <a:ext cx="228600" cy="171450"/>
              </a:xfrm>
              <a:prstGeom prst="roundRect">
                <a:avLst>
                  <a:gd name="adj" fmla="val 16667"/>
                </a:avLst>
              </a:prstGeom>
              <a:solidFill>
                <a:srgbClr val="D9EEEA"/>
              </a:solidFill>
              <a:ln>
                <a:noFill/>
              </a:ln>
            </p:spPr>
          </p:sp>
          <p:sp>
            <p:nvSpPr>
              <p:cNvPr id="274" name="TextBox 274"/>
              <p:cNvSpPr txBox="1"/>
              <p:nvPr/>
            </p:nvSpPr>
            <p:spPr>
              <a:xfrm>
                <a:off x="5580840" y="36799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75" name="Rectangle 275"/>
              <p:cNvSpPr/>
              <p:nvPr/>
            </p:nvSpPr>
            <p:spPr>
              <a:xfrm>
                <a:off x="6134100" y="3629025"/>
                <a:ext cx="228600" cy="171450"/>
              </a:xfrm>
              <a:prstGeom prst="roundRect">
                <a:avLst>
                  <a:gd name="adj" fmla="val 16667"/>
                </a:avLst>
              </a:prstGeom>
              <a:solidFill>
                <a:srgbClr val="76200F"/>
              </a:solidFill>
              <a:ln>
                <a:noFill/>
              </a:ln>
            </p:spPr>
          </p:sp>
          <p:sp>
            <p:nvSpPr>
              <p:cNvPr id="276" name="TextBox 276"/>
              <p:cNvSpPr txBox="1"/>
              <p:nvPr/>
            </p:nvSpPr>
            <p:spPr>
              <a:xfrm>
                <a:off x="6187780" y="36799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77" name="Rectangle 277"/>
              <p:cNvSpPr/>
              <p:nvPr/>
            </p:nvSpPr>
            <p:spPr>
              <a:xfrm>
                <a:off x="6743700" y="3629025"/>
                <a:ext cx="228600" cy="171450"/>
              </a:xfrm>
              <a:prstGeom prst="roundRect">
                <a:avLst>
                  <a:gd name="adj" fmla="val 16667"/>
                </a:avLst>
              </a:prstGeom>
              <a:solidFill>
                <a:srgbClr val="D9EEEA"/>
              </a:solidFill>
              <a:ln>
                <a:noFill/>
              </a:ln>
            </p:spPr>
          </p:sp>
          <p:sp>
            <p:nvSpPr>
              <p:cNvPr id="278" name="TextBox 278"/>
              <p:cNvSpPr txBox="1"/>
              <p:nvPr/>
            </p:nvSpPr>
            <p:spPr>
              <a:xfrm>
                <a:off x="6800040" y="36799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79" name="Rectangle 279"/>
              <p:cNvSpPr/>
              <p:nvPr/>
            </p:nvSpPr>
            <p:spPr>
              <a:xfrm>
                <a:off x="7353300" y="3629025"/>
                <a:ext cx="228600" cy="171450"/>
              </a:xfrm>
              <a:prstGeom prst="roundRect">
                <a:avLst>
                  <a:gd name="adj" fmla="val 16667"/>
                </a:avLst>
              </a:prstGeom>
              <a:solidFill>
                <a:srgbClr val="D9EEEA"/>
              </a:solidFill>
              <a:ln>
                <a:noFill/>
              </a:ln>
            </p:spPr>
          </p:sp>
          <p:sp>
            <p:nvSpPr>
              <p:cNvPr id="280" name="TextBox 280"/>
              <p:cNvSpPr txBox="1"/>
              <p:nvPr/>
            </p:nvSpPr>
            <p:spPr>
              <a:xfrm>
                <a:off x="7409640" y="36799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81" name="Rectangle 281"/>
              <p:cNvSpPr/>
              <p:nvPr/>
            </p:nvSpPr>
            <p:spPr>
              <a:xfrm>
                <a:off x="7886700" y="3629025"/>
                <a:ext cx="228600" cy="171450"/>
              </a:xfrm>
              <a:prstGeom prst="roundRect">
                <a:avLst>
                  <a:gd name="adj" fmla="val 16667"/>
                </a:avLst>
              </a:prstGeom>
              <a:solidFill>
                <a:srgbClr val="F0FAF8"/>
              </a:solidFill>
              <a:ln>
                <a:noFill/>
              </a:ln>
            </p:spPr>
          </p:sp>
          <p:sp>
            <p:nvSpPr>
              <p:cNvPr id="282" name="TextBox 282"/>
              <p:cNvSpPr txBox="1"/>
              <p:nvPr/>
            </p:nvSpPr>
            <p:spPr>
              <a:xfrm>
                <a:off x="7955130" y="36799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283" name="Rectangle 283"/>
              <p:cNvSpPr/>
              <p:nvPr/>
            </p:nvSpPr>
            <p:spPr>
              <a:xfrm>
                <a:off x="1333500" y="3848100"/>
                <a:ext cx="6934200" cy="266700"/>
              </a:xfrm>
              <a:prstGeom prst="rect">
                <a:avLst/>
              </a:prstGeom>
              <a:solidFill>
                <a:srgbClr val="FFFFFF"/>
              </a:solidFill>
              <a:ln w="9525">
                <a:solidFill>
                  <a:srgbClr val="E2EEEB"/>
                </a:solidFill>
              </a:ln>
            </p:spPr>
          </p:sp>
          <p:grpSp>
            <p:nvGrpSpPr>
              <p:cNvPr id="288" name="Group 288"/>
              <p:cNvGrpSpPr/>
              <p:nvPr/>
            </p:nvGrpSpPr>
            <p:grpSpPr>
              <a:xfrm>
                <a:off x="1406128" y="3935413"/>
                <a:ext cx="92869" cy="92075"/>
                <a:chOff x="1406128" y="3935413"/>
                <a:chExt cx="92869" cy="92075"/>
              </a:xfrm>
            </p:grpSpPr>
            <p:sp>
              <p:nvSpPr>
                <p:cNvPr id="284" name="Freeform 284"/>
                <p:cNvSpPr/>
                <p:nvPr/>
              </p:nvSpPr>
              <p:spPr>
                <a:xfrm>
                  <a:off x="1406128" y="3976688"/>
                  <a:ext cx="30956" cy="41275"/>
                </a:xfrm>
                <a:custGeom>
                  <a:avLst/>
                  <a:gdLst/>
                  <a:ahLst/>
                  <a:cxnLst/>
                  <a:rect l="l" t="t" r="r" b="b"/>
                  <a:pathLst>
                    <a:path w="30956" h="41275">
                      <a:moveTo>
                        <a:pt x="0" y="5159"/>
                      </a:moveTo>
                      <a:cubicBezTo>
                        <a:pt x="0" y="2310"/>
                        <a:pt x="2310" y="0"/>
                        <a:pt x="5159" y="0"/>
                      </a:cubicBezTo>
                      <a:lnTo>
                        <a:pt x="25797" y="0"/>
                      </a:lnTo>
                      <a:cubicBezTo>
                        <a:pt x="28646" y="0"/>
                        <a:pt x="30956" y="2310"/>
                        <a:pt x="30956" y="5159"/>
                      </a:cubicBezTo>
                      <a:lnTo>
                        <a:pt x="30956" y="36116"/>
                      </a:lnTo>
                      <a:cubicBezTo>
                        <a:pt x="30956" y="38965"/>
                        <a:pt x="28646" y="41275"/>
                        <a:pt x="25797" y="41275"/>
                      </a:cubicBezTo>
                      <a:lnTo>
                        <a:pt x="5159" y="41275"/>
                      </a:lnTo>
                      <a:cubicBezTo>
                        <a:pt x="2310" y="41275"/>
                        <a:pt x="0" y="38965"/>
                        <a:pt x="0" y="36116"/>
                      </a:cubicBezTo>
                      <a:lnTo>
                        <a:pt x="0" y="5159"/>
                      </a:lnTo>
                    </a:path>
                  </a:pathLst>
                </a:custGeom>
                <a:noFill/>
                <a:ln w="10319">
                  <a:solidFill>
                    <a:srgbClr val="76200F"/>
                  </a:solidFill>
                </a:ln>
              </p:spPr>
            </p:sp>
            <p:sp>
              <p:nvSpPr>
                <p:cNvPr id="285" name="Freeform 285"/>
                <p:cNvSpPr/>
                <p:nvPr/>
              </p:nvSpPr>
              <p:spPr>
                <a:xfrm>
                  <a:off x="1468041" y="3956050"/>
                  <a:ext cx="30956" cy="61913"/>
                </a:xfrm>
                <a:custGeom>
                  <a:avLst/>
                  <a:gdLst/>
                  <a:ahLst/>
                  <a:cxnLst/>
                  <a:rect l="l" t="t" r="r" b="b"/>
                  <a:pathLst>
                    <a:path w="30956" h="61913">
                      <a:moveTo>
                        <a:pt x="0" y="5159"/>
                      </a:moveTo>
                      <a:cubicBezTo>
                        <a:pt x="0" y="2310"/>
                        <a:pt x="2310" y="0"/>
                        <a:pt x="5159" y="0"/>
                      </a:cubicBezTo>
                      <a:lnTo>
                        <a:pt x="25797" y="0"/>
                      </a:lnTo>
                      <a:cubicBezTo>
                        <a:pt x="28646" y="0"/>
                        <a:pt x="30956" y="2310"/>
                        <a:pt x="30956" y="5159"/>
                      </a:cubicBezTo>
                      <a:lnTo>
                        <a:pt x="30956" y="56753"/>
                      </a:lnTo>
                      <a:cubicBezTo>
                        <a:pt x="30956" y="59603"/>
                        <a:pt x="28646" y="61913"/>
                        <a:pt x="25797" y="61913"/>
                      </a:cubicBezTo>
                      <a:lnTo>
                        <a:pt x="5159" y="61913"/>
                      </a:lnTo>
                      <a:cubicBezTo>
                        <a:pt x="2310" y="61913"/>
                        <a:pt x="0" y="59603"/>
                        <a:pt x="0" y="56753"/>
                      </a:cubicBezTo>
                      <a:lnTo>
                        <a:pt x="0" y="5159"/>
                      </a:lnTo>
                    </a:path>
                  </a:pathLst>
                </a:custGeom>
                <a:noFill/>
                <a:ln w="10319">
                  <a:solidFill>
                    <a:srgbClr val="76200F"/>
                  </a:solidFill>
                </a:ln>
              </p:spPr>
            </p:sp>
            <p:sp>
              <p:nvSpPr>
                <p:cNvPr id="286" name="Freeform 286"/>
                <p:cNvSpPr/>
                <p:nvPr/>
              </p:nvSpPr>
              <p:spPr>
                <a:xfrm>
                  <a:off x="1437084" y="3935413"/>
                  <a:ext cx="30956" cy="82550"/>
                </a:xfrm>
                <a:custGeom>
                  <a:avLst/>
                  <a:gdLst/>
                  <a:ahLst/>
                  <a:cxnLst/>
                  <a:rect l="l" t="t" r="r" b="b"/>
                  <a:pathLst>
                    <a:path w="30956" h="82550">
                      <a:moveTo>
                        <a:pt x="0" y="5159"/>
                      </a:moveTo>
                      <a:cubicBezTo>
                        <a:pt x="0" y="2310"/>
                        <a:pt x="2310" y="0"/>
                        <a:pt x="5159" y="0"/>
                      </a:cubicBezTo>
                      <a:lnTo>
                        <a:pt x="25797" y="0"/>
                      </a:lnTo>
                      <a:cubicBezTo>
                        <a:pt x="28646" y="0"/>
                        <a:pt x="30956" y="2310"/>
                        <a:pt x="30956" y="5159"/>
                      </a:cubicBezTo>
                      <a:lnTo>
                        <a:pt x="30956" y="77391"/>
                      </a:lnTo>
                      <a:cubicBezTo>
                        <a:pt x="30956" y="80240"/>
                        <a:pt x="28646" y="82550"/>
                        <a:pt x="25797" y="82550"/>
                      </a:cubicBezTo>
                      <a:lnTo>
                        <a:pt x="5159" y="82550"/>
                      </a:lnTo>
                      <a:cubicBezTo>
                        <a:pt x="2310" y="82550"/>
                        <a:pt x="0" y="80240"/>
                        <a:pt x="0" y="77391"/>
                      </a:cubicBezTo>
                      <a:lnTo>
                        <a:pt x="0" y="5159"/>
                      </a:lnTo>
                    </a:path>
                  </a:pathLst>
                </a:custGeom>
                <a:noFill/>
                <a:ln w="10319">
                  <a:solidFill>
                    <a:srgbClr val="76200F"/>
                  </a:solidFill>
                </a:ln>
              </p:spPr>
            </p:sp>
            <p:sp>
              <p:nvSpPr>
                <p:cNvPr id="287" name="Freeform 287"/>
                <p:cNvSpPr/>
                <p:nvPr/>
              </p:nvSpPr>
              <p:spPr>
                <a:xfrm>
                  <a:off x="1411288" y="4017963"/>
                  <a:ext cx="72231" cy="9525"/>
                </a:xfrm>
                <a:custGeom>
                  <a:avLst/>
                  <a:gdLst/>
                  <a:ahLst/>
                  <a:cxnLst/>
                  <a:rect l="l" t="t" r="r" b="b"/>
                  <a:pathLst>
                    <a:path w="72231" h="9525">
                      <a:moveTo>
                        <a:pt x="0" y="0"/>
                      </a:moveTo>
                      <a:lnTo>
                        <a:pt x="72231" y="0"/>
                      </a:lnTo>
                    </a:path>
                  </a:pathLst>
                </a:custGeom>
                <a:noFill/>
                <a:ln w="10319">
                  <a:solidFill>
                    <a:srgbClr val="76200F"/>
                  </a:solidFill>
                </a:ln>
              </p:spPr>
            </p:sp>
          </p:grpSp>
          <p:sp>
            <p:nvSpPr>
              <p:cNvPr id="289" name="TextBox 289"/>
              <p:cNvSpPr txBox="1"/>
              <p:nvPr/>
            </p:nvSpPr>
            <p:spPr>
              <a:xfrm>
                <a:off x="1689824" y="3950732"/>
                <a:ext cx="354152"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数据复盘</a:t>
                </a:r>
              </a:p>
            </p:txBody>
          </p:sp>
          <p:sp>
            <p:nvSpPr>
              <p:cNvPr id="290" name="Rectangle 290"/>
              <p:cNvSpPr/>
              <p:nvPr/>
            </p:nvSpPr>
            <p:spPr>
              <a:xfrm>
                <a:off x="2476500" y="3895725"/>
                <a:ext cx="228600" cy="171450"/>
              </a:xfrm>
              <a:prstGeom prst="roundRect">
                <a:avLst>
                  <a:gd name="adj" fmla="val 16667"/>
                </a:avLst>
              </a:prstGeom>
              <a:solidFill>
                <a:srgbClr val="5D190B"/>
              </a:solidFill>
              <a:ln>
                <a:noFill/>
              </a:ln>
            </p:spPr>
          </p:sp>
          <p:sp>
            <p:nvSpPr>
              <p:cNvPr id="291" name="TextBox 291"/>
              <p:cNvSpPr txBox="1"/>
              <p:nvPr/>
            </p:nvSpPr>
            <p:spPr>
              <a:xfrm>
                <a:off x="2530180" y="39466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A​</a:t>
                </a:r>
              </a:p>
            </p:txBody>
          </p:sp>
          <p:sp>
            <p:nvSpPr>
              <p:cNvPr id="292" name="Rectangle 292"/>
              <p:cNvSpPr/>
              <p:nvPr/>
            </p:nvSpPr>
            <p:spPr>
              <a:xfrm>
                <a:off x="3086100" y="3895725"/>
                <a:ext cx="228600" cy="171450"/>
              </a:xfrm>
              <a:prstGeom prst="roundRect">
                <a:avLst>
                  <a:gd name="adj" fmla="val 16667"/>
                </a:avLst>
              </a:prstGeom>
              <a:solidFill>
                <a:srgbClr val="76200F"/>
              </a:solidFill>
              <a:ln>
                <a:noFill/>
              </a:ln>
            </p:spPr>
          </p:sp>
          <p:sp>
            <p:nvSpPr>
              <p:cNvPr id="293" name="TextBox 293"/>
              <p:cNvSpPr txBox="1"/>
              <p:nvPr/>
            </p:nvSpPr>
            <p:spPr>
              <a:xfrm>
                <a:off x="3139780" y="39466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294" name="Rectangle 294"/>
              <p:cNvSpPr/>
              <p:nvPr/>
            </p:nvSpPr>
            <p:spPr>
              <a:xfrm>
                <a:off x="3695700" y="3895725"/>
                <a:ext cx="228600" cy="171450"/>
              </a:xfrm>
              <a:prstGeom prst="roundRect">
                <a:avLst>
                  <a:gd name="adj" fmla="val 16667"/>
                </a:avLst>
              </a:prstGeom>
              <a:solidFill>
                <a:srgbClr val="D9EEEA"/>
              </a:solidFill>
              <a:ln>
                <a:noFill/>
              </a:ln>
            </p:spPr>
          </p:sp>
          <p:sp>
            <p:nvSpPr>
              <p:cNvPr id="295" name="TextBox 295"/>
              <p:cNvSpPr txBox="1"/>
              <p:nvPr/>
            </p:nvSpPr>
            <p:spPr>
              <a:xfrm>
                <a:off x="3752040" y="39466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296" name="Rectangle 296"/>
              <p:cNvSpPr/>
              <p:nvPr/>
            </p:nvSpPr>
            <p:spPr>
              <a:xfrm>
                <a:off x="4305300" y="3895725"/>
                <a:ext cx="228600" cy="171450"/>
              </a:xfrm>
              <a:prstGeom prst="roundRect">
                <a:avLst>
                  <a:gd name="adj" fmla="val 16667"/>
                </a:avLst>
              </a:prstGeom>
              <a:solidFill>
                <a:srgbClr val="F0FAF8"/>
              </a:solidFill>
              <a:ln>
                <a:noFill/>
              </a:ln>
            </p:spPr>
          </p:sp>
          <p:sp>
            <p:nvSpPr>
              <p:cNvPr id="297" name="TextBox 297"/>
              <p:cNvSpPr txBox="1"/>
              <p:nvPr/>
            </p:nvSpPr>
            <p:spPr>
              <a:xfrm>
                <a:off x="4373730" y="3946684"/>
                <a:ext cx="91740" cy="133350"/>
              </a:xfrm>
              <a:prstGeom prst="rect">
                <a:avLst/>
              </a:prstGeom>
              <a:noFill/>
              <a:ln>
                <a:noFill/>
              </a:ln>
            </p:spPr>
            <p:txBody>
              <a:bodyPr wrap="none" lIns="0" tIns="0" rIns="0" bIns="0" anchor="t" anchorCtr="0">
                <a:spAutoFit/>
              </a:bodyPr>
              <a:lstStyle/>
              <a:p>
                <a:pPr algn="ctr"/>
                <a:r>
                  <a:rPr lang="en-US" sz="680" dirty="0">
                    <a:solidFill>
                      <a:srgbClr val="748683"/>
                    </a:solidFill>
                    <a:latin typeface="+mn-lt"/>
                    <a:ea typeface="+mn-ea"/>
                    <a:cs typeface="+mn-cs"/>
                  </a:rPr>
                  <a:t>I​</a:t>
                </a:r>
              </a:p>
            </p:txBody>
          </p:sp>
          <p:sp>
            <p:nvSpPr>
              <p:cNvPr id="298" name="Rectangle 298"/>
              <p:cNvSpPr/>
              <p:nvPr/>
            </p:nvSpPr>
            <p:spPr>
              <a:xfrm>
                <a:off x="4914900" y="3895725"/>
                <a:ext cx="228600" cy="171450"/>
              </a:xfrm>
              <a:prstGeom prst="roundRect">
                <a:avLst>
                  <a:gd name="adj" fmla="val 16667"/>
                </a:avLst>
              </a:prstGeom>
              <a:solidFill>
                <a:srgbClr val="D9EEEA"/>
              </a:solidFill>
              <a:ln>
                <a:noFill/>
              </a:ln>
            </p:spPr>
          </p:sp>
          <p:sp>
            <p:nvSpPr>
              <p:cNvPr id="299" name="TextBox 299"/>
              <p:cNvSpPr txBox="1"/>
              <p:nvPr/>
            </p:nvSpPr>
            <p:spPr>
              <a:xfrm>
                <a:off x="4971240" y="39466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300" name="Rectangle 300"/>
              <p:cNvSpPr/>
              <p:nvPr/>
            </p:nvSpPr>
            <p:spPr>
              <a:xfrm>
                <a:off x="5524500" y="3895725"/>
                <a:ext cx="228600" cy="171450"/>
              </a:xfrm>
              <a:prstGeom prst="roundRect">
                <a:avLst>
                  <a:gd name="adj" fmla="val 16667"/>
                </a:avLst>
              </a:prstGeom>
              <a:solidFill>
                <a:srgbClr val="D9EEEA"/>
              </a:solidFill>
              <a:ln>
                <a:noFill/>
              </a:ln>
            </p:spPr>
          </p:sp>
          <p:sp>
            <p:nvSpPr>
              <p:cNvPr id="301" name="TextBox 301"/>
              <p:cNvSpPr txBox="1"/>
              <p:nvPr/>
            </p:nvSpPr>
            <p:spPr>
              <a:xfrm>
                <a:off x="5580840" y="39466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302" name="Rectangle 302"/>
              <p:cNvSpPr/>
              <p:nvPr/>
            </p:nvSpPr>
            <p:spPr>
              <a:xfrm>
                <a:off x="6134100" y="3895725"/>
                <a:ext cx="228600" cy="171450"/>
              </a:xfrm>
              <a:prstGeom prst="roundRect">
                <a:avLst>
                  <a:gd name="adj" fmla="val 16667"/>
                </a:avLst>
              </a:prstGeom>
              <a:solidFill>
                <a:srgbClr val="D9EEEA"/>
              </a:solidFill>
              <a:ln>
                <a:noFill/>
              </a:ln>
            </p:spPr>
          </p:sp>
          <p:sp>
            <p:nvSpPr>
              <p:cNvPr id="303" name="TextBox 303"/>
              <p:cNvSpPr txBox="1"/>
              <p:nvPr/>
            </p:nvSpPr>
            <p:spPr>
              <a:xfrm>
                <a:off x="6190440" y="39466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304" name="Rectangle 304"/>
              <p:cNvSpPr/>
              <p:nvPr/>
            </p:nvSpPr>
            <p:spPr>
              <a:xfrm>
                <a:off x="6743700" y="3895725"/>
                <a:ext cx="228600" cy="171450"/>
              </a:xfrm>
              <a:prstGeom prst="roundRect">
                <a:avLst>
                  <a:gd name="adj" fmla="val 16667"/>
                </a:avLst>
              </a:prstGeom>
              <a:solidFill>
                <a:srgbClr val="76200F"/>
              </a:solidFill>
              <a:ln>
                <a:noFill/>
              </a:ln>
            </p:spPr>
          </p:sp>
          <p:sp>
            <p:nvSpPr>
              <p:cNvPr id="305" name="TextBox 305"/>
              <p:cNvSpPr txBox="1"/>
              <p:nvPr/>
            </p:nvSpPr>
            <p:spPr>
              <a:xfrm>
                <a:off x="6797380" y="39466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sp>
            <p:nvSpPr>
              <p:cNvPr id="306" name="Rectangle 306"/>
              <p:cNvSpPr/>
              <p:nvPr/>
            </p:nvSpPr>
            <p:spPr>
              <a:xfrm>
                <a:off x="7353300" y="3895725"/>
                <a:ext cx="228600" cy="171450"/>
              </a:xfrm>
              <a:prstGeom prst="roundRect">
                <a:avLst>
                  <a:gd name="adj" fmla="val 16667"/>
                </a:avLst>
              </a:prstGeom>
              <a:solidFill>
                <a:srgbClr val="D9EEEA"/>
              </a:solidFill>
              <a:ln>
                <a:noFill/>
              </a:ln>
            </p:spPr>
          </p:sp>
          <p:sp>
            <p:nvSpPr>
              <p:cNvPr id="307" name="TextBox 307"/>
              <p:cNvSpPr txBox="1"/>
              <p:nvPr/>
            </p:nvSpPr>
            <p:spPr>
              <a:xfrm>
                <a:off x="7409640" y="3946684"/>
                <a:ext cx="115921" cy="133350"/>
              </a:xfrm>
              <a:prstGeom prst="rect">
                <a:avLst/>
              </a:prstGeom>
              <a:noFill/>
              <a:ln>
                <a:noFill/>
              </a:ln>
            </p:spPr>
            <p:txBody>
              <a:bodyPr wrap="none" lIns="0" tIns="0" rIns="0" bIns="0" anchor="t" anchorCtr="0">
                <a:spAutoFit/>
              </a:bodyPr>
              <a:lstStyle/>
              <a:p>
                <a:pPr algn="ctr"/>
                <a:r>
                  <a:rPr lang="en-US" sz="680" dirty="0">
                    <a:solidFill>
                      <a:srgbClr val="5D190B"/>
                    </a:solidFill>
                    <a:latin typeface="+mn-lt"/>
                    <a:ea typeface="+mn-ea"/>
                    <a:cs typeface="+mn-cs"/>
                  </a:rPr>
                  <a:t>C​</a:t>
                </a:r>
              </a:p>
            </p:txBody>
          </p:sp>
          <p:sp>
            <p:nvSpPr>
              <p:cNvPr id="308" name="Rectangle 308"/>
              <p:cNvSpPr/>
              <p:nvPr/>
            </p:nvSpPr>
            <p:spPr>
              <a:xfrm>
                <a:off x="7886700" y="3895725"/>
                <a:ext cx="228600" cy="171450"/>
              </a:xfrm>
              <a:prstGeom prst="roundRect">
                <a:avLst>
                  <a:gd name="adj" fmla="val 16667"/>
                </a:avLst>
              </a:prstGeom>
              <a:solidFill>
                <a:srgbClr val="76200F"/>
              </a:solidFill>
              <a:ln>
                <a:noFill/>
              </a:ln>
            </p:spPr>
          </p:sp>
          <p:sp>
            <p:nvSpPr>
              <p:cNvPr id="309" name="TextBox 309"/>
              <p:cNvSpPr txBox="1"/>
              <p:nvPr/>
            </p:nvSpPr>
            <p:spPr>
              <a:xfrm>
                <a:off x="7940380" y="39466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R​</a:t>
                </a:r>
              </a:p>
            </p:txBody>
          </p:sp>
        </p:grpSp>
        <p:sp>
          <p:nvSpPr>
            <p:cNvPr id="311" name="Rectangle 311"/>
            <p:cNvSpPr/>
            <p:nvPr/>
          </p:nvSpPr>
          <p:spPr>
            <a:xfrm>
              <a:off x="1333500" y="4191000"/>
              <a:ext cx="190500" cy="133350"/>
            </a:xfrm>
            <a:prstGeom prst="roundRect">
              <a:avLst>
                <a:gd name="adj" fmla="val 21429"/>
              </a:avLst>
            </a:prstGeom>
            <a:solidFill>
              <a:srgbClr val="76200F"/>
            </a:solidFill>
            <a:ln>
              <a:noFill/>
            </a:ln>
          </p:spPr>
        </p:sp>
        <p:sp>
          <p:nvSpPr>
            <p:cNvPr id="312" name="TextBox 312"/>
            <p:cNvSpPr txBox="1"/>
            <p:nvPr/>
          </p:nvSpPr>
          <p:spPr>
            <a:xfrm>
              <a:off x="1374701" y="4231005"/>
              <a:ext cx="108097"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R​</a:t>
              </a:r>
            </a:p>
          </p:txBody>
        </p:sp>
        <p:sp>
          <p:nvSpPr>
            <p:cNvPr id="313" name="TextBox 313"/>
            <p:cNvSpPr txBox="1"/>
            <p:nvPr/>
          </p:nvSpPr>
          <p:spPr>
            <a:xfrm>
              <a:off x="1576388" y="4226957"/>
              <a:ext cx="976942"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负责（Responsible）​​​</a:t>
              </a:r>
            </a:p>
          </p:txBody>
        </p:sp>
        <p:sp>
          <p:nvSpPr>
            <p:cNvPr id="314" name="Rectangle 314"/>
            <p:cNvSpPr/>
            <p:nvPr/>
          </p:nvSpPr>
          <p:spPr>
            <a:xfrm>
              <a:off x="2762250" y="4191000"/>
              <a:ext cx="190500" cy="133350"/>
            </a:xfrm>
            <a:prstGeom prst="roundRect">
              <a:avLst>
                <a:gd name="adj" fmla="val 21429"/>
              </a:avLst>
            </a:prstGeom>
            <a:solidFill>
              <a:srgbClr val="5D190B"/>
            </a:solidFill>
            <a:ln>
              <a:noFill/>
            </a:ln>
          </p:spPr>
        </p:sp>
        <p:sp>
          <p:nvSpPr>
            <p:cNvPr id="315" name="TextBox 315"/>
            <p:cNvSpPr txBox="1"/>
            <p:nvPr/>
          </p:nvSpPr>
          <p:spPr>
            <a:xfrm>
              <a:off x="2803451" y="4231005"/>
              <a:ext cx="108097"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A​</a:t>
              </a:r>
            </a:p>
          </p:txBody>
        </p:sp>
        <p:sp>
          <p:nvSpPr>
            <p:cNvPr id="316" name="TextBox 316"/>
            <p:cNvSpPr txBox="1"/>
            <p:nvPr/>
          </p:nvSpPr>
          <p:spPr>
            <a:xfrm>
              <a:off x="3005138" y="4226957"/>
              <a:ext cx="1170905"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最终负责（Accountable）​​​</a:t>
              </a:r>
            </a:p>
          </p:txBody>
        </p:sp>
        <p:sp>
          <p:nvSpPr>
            <p:cNvPr id="317" name="Rectangle 317"/>
            <p:cNvSpPr/>
            <p:nvPr/>
          </p:nvSpPr>
          <p:spPr>
            <a:xfrm>
              <a:off x="4476750" y="4191000"/>
              <a:ext cx="190500" cy="133350"/>
            </a:xfrm>
            <a:prstGeom prst="roundRect">
              <a:avLst>
                <a:gd name="adj" fmla="val 21429"/>
              </a:avLst>
            </a:prstGeom>
            <a:solidFill>
              <a:srgbClr val="D9EEEA"/>
            </a:solidFill>
            <a:ln>
              <a:noFill/>
            </a:ln>
          </p:spPr>
        </p:sp>
        <p:sp>
          <p:nvSpPr>
            <p:cNvPr id="318" name="TextBox 318"/>
            <p:cNvSpPr txBox="1"/>
            <p:nvPr/>
          </p:nvSpPr>
          <p:spPr>
            <a:xfrm>
              <a:off x="4520298" y="4231005"/>
              <a:ext cx="103403" cy="119062"/>
            </a:xfrm>
            <a:prstGeom prst="rect">
              <a:avLst/>
            </a:prstGeom>
            <a:noFill/>
            <a:ln>
              <a:noFill/>
            </a:ln>
          </p:spPr>
          <p:txBody>
            <a:bodyPr wrap="none" lIns="0" tIns="0" rIns="0" bIns="0" anchor="t" anchorCtr="0">
              <a:spAutoFit/>
            </a:bodyPr>
            <a:lstStyle/>
            <a:p>
              <a:pPr algn="ctr"/>
              <a:r>
                <a:rPr lang="en-US" sz="600" dirty="0">
                  <a:solidFill>
                    <a:srgbClr val="5D190B"/>
                  </a:solidFill>
                  <a:latin typeface="+mn-lt"/>
                  <a:ea typeface="+mn-ea"/>
                  <a:cs typeface="+mn-cs"/>
                </a:rPr>
                <a:t>C​</a:t>
              </a:r>
            </a:p>
          </p:txBody>
        </p:sp>
        <p:sp>
          <p:nvSpPr>
            <p:cNvPr id="319" name="TextBox 319"/>
            <p:cNvSpPr txBox="1"/>
            <p:nvPr/>
          </p:nvSpPr>
          <p:spPr>
            <a:xfrm>
              <a:off x="4719638" y="4226957"/>
              <a:ext cx="903795"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咨询（Consulted）​​​</a:t>
              </a:r>
            </a:p>
          </p:txBody>
        </p:sp>
        <p:sp>
          <p:nvSpPr>
            <p:cNvPr id="320" name="Rectangle 320"/>
            <p:cNvSpPr/>
            <p:nvPr/>
          </p:nvSpPr>
          <p:spPr>
            <a:xfrm>
              <a:off x="5905500" y="4191000"/>
              <a:ext cx="190500" cy="133350"/>
            </a:xfrm>
            <a:prstGeom prst="roundRect">
              <a:avLst>
                <a:gd name="adj" fmla="val 21429"/>
              </a:avLst>
            </a:prstGeom>
            <a:solidFill>
              <a:srgbClr val="F0FAF8"/>
            </a:solidFill>
            <a:ln w="9525">
              <a:solidFill>
                <a:srgbClr val="E2EEEB"/>
              </a:solidFill>
            </a:ln>
          </p:spPr>
        </p:sp>
        <p:sp>
          <p:nvSpPr>
            <p:cNvPr id="321" name="TextBox 321"/>
            <p:cNvSpPr txBox="1"/>
            <p:nvPr/>
          </p:nvSpPr>
          <p:spPr>
            <a:xfrm>
              <a:off x="5959716" y="4231005"/>
              <a:ext cx="82067" cy="119062"/>
            </a:xfrm>
            <a:prstGeom prst="rect">
              <a:avLst/>
            </a:prstGeom>
            <a:noFill/>
            <a:ln>
              <a:noFill/>
            </a:ln>
          </p:spPr>
          <p:txBody>
            <a:bodyPr wrap="none" lIns="0" tIns="0" rIns="0" bIns="0" anchor="t" anchorCtr="0">
              <a:spAutoFit/>
            </a:bodyPr>
            <a:lstStyle/>
            <a:p>
              <a:pPr algn="ctr"/>
              <a:r>
                <a:rPr lang="en-US" sz="600" dirty="0">
                  <a:solidFill>
                    <a:srgbClr val="748683"/>
                  </a:solidFill>
                  <a:latin typeface="+mn-lt"/>
                  <a:ea typeface="+mn-ea"/>
                  <a:cs typeface="+mn-cs"/>
                </a:rPr>
                <a:t>I​</a:t>
              </a:r>
            </a:p>
          </p:txBody>
        </p:sp>
        <p:sp>
          <p:nvSpPr>
            <p:cNvPr id="322" name="TextBox 322"/>
            <p:cNvSpPr txBox="1"/>
            <p:nvPr/>
          </p:nvSpPr>
          <p:spPr>
            <a:xfrm>
              <a:off x="6148388" y="4226957"/>
              <a:ext cx="826359"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知会（Informed）​​</a:t>
              </a:r>
            </a:p>
          </p:txBody>
        </p:sp>
      </p:grpSp>
      <p:grpSp>
        <p:nvGrpSpPr>
          <p:cNvPr id="368" name="escalation"/>
          <p:cNvGrpSpPr/>
          <p:nvPr/>
        </p:nvGrpSpPr>
        <p:grpSpPr>
          <a:xfrm>
            <a:off x="8401050" y="685800"/>
            <a:ext cx="3429000" cy="3790950"/>
            <a:chOff x="8401050" y="685800"/>
            <a:chExt cx="3429000" cy="3790950"/>
          </a:xfrm>
        </p:grpSpPr>
        <p:sp>
          <p:nvSpPr>
            <p:cNvPr id="324" name="Rectangle 324"/>
            <p:cNvSpPr/>
            <p:nvPr/>
          </p:nvSpPr>
          <p:spPr>
            <a:xfrm>
              <a:off x="8401050" y="685800"/>
              <a:ext cx="3429000" cy="228600"/>
            </a:xfrm>
            <a:prstGeom prst="roundRect">
              <a:avLst>
                <a:gd name="adj" fmla="val 25000"/>
              </a:avLst>
            </a:prstGeom>
            <a:solidFill>
              <a:srgbClr val="5D190B"/>
            </a:solidFill>
            <a:ln>
              <a:noFill/>
            </a:ln>
          </p:spPr>
        </p:sp>
        <p:sp>
          <p:nvSpPr>
            <p:cNvPr id="325" name="TextBox 325"/>
            <p:cNvSpPr txBox="1"/>
            <p:nvPr/>
          </p:nvSpPr>
          <p:spPr>
            <a:xfrm>
              <a:off x="9604616" y="746522"/>
              <a:ext cx="102186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异常情况升级机制</a:t>
              </a:r>
            </a:p>
          </p:txBody>
        </p:sp>
        <p:sp>
          <p:nvSpPr>
            <p:cNvPr id="326" name="Rectangle 326"/>
            <p:cNvSpPr/>
            <p:nvPr/>
          </p:nvSpPr>
          <p:spPr>
            <a:xfrm>
              <a:off x="8401050" y="971550"/>
              <a:ext cx="3429000" cy="666750"/>
            </a:xfrm>
            <a:prstGeom prst="roundRect">
              <a:avLst>
                <a:gd name="adj" fmla="val 8571"/>
              </a:avLst>
            </a:prstGeom>
            <a:solidFill>
              <a:srgbClr val="F0FAF8"/>
            </a:solidFill>
            <a:ln w="9525">
              <a:solidFill>
                <a:srgbClr val="C2E0DA"/>
              </a:solidFill>
            </a:ln>
          </p:spPr>
        </p:sp>
        <p:grpSp>
          <p:nvGrpSpPr>
            <p:cNvPr id="332" name="Group 332"/>
            <p:cNvGrpSpPr/>
            <p:nvPr/>
          </p:nvGrpSpPr>
          <p:grpSpPr>
            <a:xfrm>
              <a:off x="8520112" y="1109662"/>
              <a:ext cx="142875" cy="144463"/>
              <a:chOff x="8520112" y="1109662"/>
              <a:chExt cx="142875" cy="144463"/>
            </a:xfrm>
          </p:grpSpPr>
          <p:sp>
            <p:nvSpPr>
              <p:cNvPr id="327" name="Freeform 327"/>
              <p:cNvSpPr/>
              <p:nvPr/>
            </p:nvSpPr>
            <p:spPr>
              <a:xfrm>
                <a:off x="8551862" y="1244600"/>
                <a:ext cx="79375" cy="9525"/>
              </a:xfrm>
              <a:custGeom>
                <a:avLst/>
                <a:gdLst/>
                <a:ahLst/>
                <a:cxnLst/>
                <a:rect l="l" t="t" r="r" b="b"/>
                <a:pathLst>
                  <a:path w="79375" h="9525">
                    <a:moveTo>
                      <a:pt x="0" y="0"/>
                    </a:moveTo>
                    <a:lnTo>
                      <a:pt x="79375" y="0"/>
                    </a:lnTo>
                  </a:path>
                </a:pathLst>
              </a:custGeom>
              <a:noFill/>
              <a:ln w="15875">
                <a:solidFill>
                  <a:srgbClr val="76200F"/>
                </a:solidFill>
              </a:ln>
            </p:spPr>
          </p:sp>
          <p:sp>
            <p:nvSpPr>
              <p:cNvPr id="328" name="Freeform 328"/>
              <p:cNvSpPr/>
              <p:nvPr/>
            </p:nvSpPr>
            <p:spPr>
              <a:xfrm>
                <a:off x="8543925" y="1125537"/>
                <a:ext cx="95250" cy="9525"/>
              </a:xfrm>
              <a:custGeom>
                <a:avLst/>
                <a:gdLst/>
                <a:ahLst/>
                <a:cxnLst/>
                <a:rect l="l" t="t" r="r" b="b"/>
                <a:pathLst>
                  <a:path w="95250" h="9525">
                    <a:moveTo>
                      <a:pt x="0" y="7937"/>
                    </a:moveTo>
                    <a:lnTo>
                      <a:pt x="47625" y="0"/>
                    </a:lnTo>
                    <a:lnTo>
                      <a:pt x="95250" y="7937"/>
                    </a:lnTo>
                  </a:path>
                </a:pathLst>
              </a:custGeom>
              <a:noFill/>
              <a:ln w="15875">
                <a:solidFill>
                  <a:srgbClr val="76200F"/>
                </a:solidFill>
              </a:ln>
            </p:spPr>
          </p:sp>
          <p:sp>
            <p:nvSpPr>
              <p:cNvPr id="329" name="Freeform 329"/>
              <p:cNvSpPr/>
              <p:nvPr/>
            </p:nvSpPr>
            <p:spPr>
              <a:xfrm>
                <a:off x="8591550" y="1109662"/>
                <a:ext cx="9525" cy="134937"/>
              </a:xfrm>
              <a:custGeom>
                <a:avLst/>
                <a:gdLst/>
                <a:ahLst/>
                <a:cxnLst/>
                <a:rect l="l" t="t" r="r" b="b"/>
                <a:pathLst>
                  <a:path w="9525" h="134937">
                    <a:moveTo>
                      <a:pt x="0" y="0"/>
                    </a:moveTo>
                    <a:lnTo>
                      <a:pt x="0" y="134937"/>
                    </a:lnTo>
                  </a:path>
                </a:pathLst>
              </a:custGeom>
              <a:noFill/>
              <a:ln w="15875">
                <a:solidFill>
                  <a:srgbClr val="76200F"/>
                </a:solidFill>
              </a:ln>
            </p:spPr>
          </p:sp>
          <p:sp>
            <p:nvSpPr>
              <p:cNvPr id="330" name="Freeform 330"/>
              <p:cNvSpPr/>
              <p:nvPr/>
            </p:nvSpPr>
            <p:spPr>
              <a:xfrm>
                <a:off x="8520112" y="1133475"/>
                <a:ext cx="47625" cy="71437"/>
              </a:xfrm>
              <a:custGeom>
                <a:avLst/>
                <a:gdLst/>
                <a:ahLst/>
                <a:cxnLst/>
                <a:rect l="l" t="t" r="r" b="b"/>
                <a:pathLst>
                  <a:path w="47625" h="71437">
                    <a:moveTo>
                      <a:pt x="47625" y="47625"/>
                    </a:moveTo>
                    <a:lnTo>
                      <a:pt x="23812" y="0"/>
                    </a:lnTo>
                    <a:lnTo>
                      <a:pt x="0" y="47625"/>
                    </a:lnTo>
                    <a:cubicBezTo>
                      <a:pt x="0" y="60776"/>
                      <a:pt x="10661" y="71437"/>
                      <a:pt x="23812" y="71437"/>
                    </a:cubicBezTo>
                    <a:cubicBezTo>
                      <a:pt x="36964" y="71437"/>
                      <a:pt x="47625" y="60776"/>
                      <a:pt x="47625" y="47625"/>
                    </a:cubicBezTo>
                  </a:path>
                </a:pathLst>
              </a:custGeom>
              <a:noFill/>
              <a:ln w="15875">
                <a:solidFill>
                  <a:srgbClr val="76200F"/>
                </a:solidFill>
              </a:ln>
            </p:spPr>
          </p:sp>
          <p:sp>
            <p:nvSpPr>
              <p:cNvPr id="331" name="Freeform 331"/>
              <p:cNvSpPr/>
              <p:nvPr/>
            </p:nvSpPr>
            <p:spPr>
              <a:xfrm>
                <a:off x="8615362" y="1133475"/>
                <a:ext cx="47625" cy="71437"/>
              </a:xfrm>
              <a:custGeom>
                <a:avLst/>
                <a:gdLst/>
                <a:ahLst/>
                <a:cxnLst/>
                <a:rect l="l" t="t" r="r" b="b"/>
                <a:pathLst>
                  <a:path w="47625" h="71437">
                    <a:moveTo>
                      <a:pt x="47625" y="47625"/>
                    </a:moveTo>
                    <a:lnTo>
                      <a:pt x="23812" y="0"/>
                    </a:lnTo>
                    <a:lnTo>
                      <a:pt x="0" y="47625"/>
                    </a:lnTo>
                    <a:cubicBezTo>
                      <a:pt x="0" y="60776"/>
                      <a:pt x="10661" y="71437"/>
                      <a:pt x="23812" y="71437"/>
                    </a:cubicBezTo>
                    <a:cubicBezTo>
                      <a:pt x="36964" y="71437"/>
                      <a:pt x="47625" y="60776"/>
                      <a:pt x="47625" y="47625"/>
                    </a:cubicBezTo>
                  </a:path>
                </a:pathLst>
              </a:custGeom>
              <a:noFill/>
              <a:ln w="15875">
                <a:solidFill>
                  <a:srgbClr val="76200F"/>
                </a:solidFill>
              </a:ln>
            </p:spPr>
          </p:sp>
        </p:grpSp>
        <p:sp>
          <p:nvSpPr>
            <p:cNvPr id="333" name="TextBox 333"/>
            <p:cNvSpPr txBox="1"/>
            <p:nvPr/>
          </p:nvSpPr>
          <p:spPr>
            <a:xfrm>
              <a:off x="8758238" y="1042988"/>
              <a:ext cx="1035329"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合规风险</a:t>
              </a:r>
              <a:r>
                <a:rPr lang="zh-CN" sz="600" dirty="0">
                  <a:solidFill>
                    <a:srgbClr val="73615E"/>
                  </a:solidFill>
                  <a:latin typeface="+mn-lt"/>
                  <a:ea typeface="+mn-ea"/>
                  <a:cs typeface="+mn-cs"/>
                </a:rPr>
                <a:t>（内容 / 宣传）​</a:t>
              </a:r>
            </a:p>
          </p:txBody>
        </p:sp>
        <p:sp>
          <p:nvSpPr>
            <p:cNvPr id="334" name="TextBox 334"/>
            <p:cNvSpPr txBox="1"/>
            <p:nvPr/>
          </p:nvSpPr>
          <p:spPr>
            <a:xfrm>
              <a:off x="8758238" y="1196578"/>
              <a:ext cx="1383665" cy="216694"/>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560" dirty="0">
                  <a:solidFill>
                    <a:srgbClr val="514340"/>
                  </a:solidFill>
                  <a:latin typeface="+mn-lt"/>
                  <a:ea typeface="+mn-ea"/>
                  <a:cs typeface="+mn-cs"/>
                </a:rPr>
                <a:t>立即停止相关内容 · 上报风险合规条线​​</a:t>
              </a:r>
            </a:p>
            <a:p>
              <a:pPr algn="l" marL="76200" indent="-76200">
                <a:lnSpc>
                  <a:spcPts val="825"/>
                </a:lnSpc>
                <a:buClr>
                  <a:srgbClr val="514340"/>
                </a:buClr>
                <a:buSzTx/>
                <a:buFontTx/>
                <a:buChar char="•"/>
              </a:pPr>
              <a:r>
                <a:rPr lang="zh-CN" sz="560" dirty="0">
                  <a:solidFill>
                    <a:srgbClr val="514340"/>
                  </a:solidFill>
                  <a:latin typeface="+mn-lt"/>
                  <a:ea typeface="+mn-ea"/>
                  <a:cs typeface="+mn-cs"/>
                </a:rPr>
                <a:t>总行合规部门介入 · 确认后再行发布​​</a:t>
              </a:r>
            </a:p>
          </p:txBody>
        </p:sp>
        <p:sp>
          <p:nvSpPr>
            <p:cNvPr id="335" name="Rectangle 335"/>
            <p:cNvSpPr/>
            <p:nvPr/>
          </p:nvSpPr>
          <p:spPr>
            <a:xfrm>
              <a:off x="8401050" y="1695450"/>
              <a:ext cx="3429000" cy="666750"/>
            </a:xfrm>
            <a:prstGeom prst="roundRect">
              <a:avLst>
                <a:gd name="adj" fmla="val 8571"/>
              </a:avLst>
            </a:prstGeom>
            <a:solidFill>
              <a:srgbClr val="F0FAF8"/>
            </a:solidFill>
            <a:ln w="9525">
              <a:solidFill>
                <a:srgbClr val="C2E0DA"/>
              </a:solidFill>
            </a:ln>
          </p:spPr>
        </p:sp>
        <p:grpSp>
          <p:nvGrpSpPr>
            <p:cNvPr id="339" name="Group 339"/>
            <p:cNvGrpSpPr/>
            <p:nvPr/>
          </p:nvGrpSpPr>
          <p:grpSpPr>
            <a:xfrm>
              <a:off x="8543925" y="1833562"/>
              <a:ext cx="95250" cy="142875"/>
              <a:chOff x="8543925" y="1833562"/>
              <a:chExt cx="95250" cy="142875"/>
            </a:xfrm>
          </p:grpSpPr>
          <p:sp>
            <p:nvSpPr>
              <p:cNvPr id="336" name="Freeform 336"/>
              <p:cNvSpPr/>
              <p:nvPr/>
            </p:nvSpPr>
            <p:spPr>
              <a:xfrm>
                <a:off x="8543925" y="183356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76200F"/>
                </a:solidFill>
              </a:ln>
            </p:spPr>
          </p:sp>
          <p:sp>
            <p:nvSpPr>
              <p:cNvPr id="337" name="Freeform 337"/>
              <p:cNvSpPr/>
              <p:nvPr/>
            </p:nvSpPr>
            <p:spPr>
              <a:xfrm>
                <a:off x="8583612" y="1841500"/>
                <a:ext cx="15875" cy="9525"/>
              </a:xfrm>
              <a:custGeom>
                <a:avLst/>
                <a:gdLst/>
                <a:ahLst/>
                <a:cxnLst/>
                <a:rect l="l" t="t" r="r" b="b"/>
                <a:pathLst>
                  <a:path w="15875" h="9525">
                    <a:moveTo>
                      <a:pt x="0" y="0"/>
                    </a:moveTo>
                    <a:lnTo>
                      <a:pt x="15875" y="0"/>
                    </a:lnTo>
                  </a:path>
                </a:pathLst>
              </a:custGeom>
              <a:noFill/>
              <a:ln w="15875">
                <a:solidFill>
                  <a:srgbClr val="76200F"/>
                </a:solidFill>
              </a:ln>
            </p:spPr>
          </p:sp>
          <p:sp>
            <p:nvSpPr>
              <p:cNvPr id="338" name="Freeform 338"/>
              <p:cNvSpPr/>
              <p:nvPr/>
            </p:nvSpPr>
            <p:spPr>
              <a:xfrm>
                <a:off x="8591550" y="1944687"/>
                <a:ext cx="9525" cy="9525"/>
              </a:xfrm>
              <a:custGeom>
                <a:avLst/>
                <a:gdLst/>
                <a:ahLst/>
                <a:cxnLst/>
                <a:rect l="l" t="t" r="r" b="b"/>
                <a:pathLst>
                  <a:path w="9525" h="9525">
                    <a:moveTo>
                      <a:pt x="0" y="0"/>
                    </a:moveTo>
                    <a:lnTo>
                      <a:pt x="0" y="79"/>
                    </a:lnTo>
                  </a:path>
                </a:pathLst>
              </a:custGeom>
              <a:noFill/>
              <a:ln w="15875">
                <a:solidFill>
                  <a:srgbClr val="76200F"/>
                </a:solidFill>
              </a:ln>
            </p:spPr>
          </p:sp>
        </p:grpSp>
        <p:sp>
          <p:nvSpPr>
            <p:cNvPr id="340" name="TextBox 340"/>
            <p:cNvSpPr txBox="1"/>
            <p:nvPr/>
          </p:nvSpPr>
          <p:spPr>
            <a:xfrm>
              <a:off x="8758238" y="1766888"/>
              <a:ext cx="1035329"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系统故障</a:t>
              </a:r>
              <a:r>
                <a:rPr lang="zh-CN" sz="600" dirty="0">
                  <a:solidFill>
                    <a:srgbClr val="73615E"/>
                  </a:solidFill>
                  <a:latin typeface="+mn-lt"/>
                  <a:ea typeface="+mn-ea"/>
                  <a:cs typeface="+mn-cs"/>
                </a:rPr>
                <a:t>（线上 / 支付）​</a:t>
              </a:r>
            </a:p>
          </p:txBody>
        </p:sp>
        <p:sp>
          <p:nvSpPr>
            <p:cNvPr id="341" name="TextBox 341"/>
            <p:cNvSpPr txBox="1"/>
            <p:nvPr/>
          </p:nvSpPr>
          <p:spPr>
            <a:xfrm>
              <a:off x="8758238" y="1920478"/>
              <a:ext cx="1789049" cy="216694"/>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560" dirty="0">
                  <a:solidFill>
                    <a:srgbClr val="514340"/>
                  </a:solidFill>
                  <a:latin typeface="+mn-lt"/>
                  <a:ea typeface="+mn-ea"/>
                  <a:cs typeface="+mn-cs"/>
                </a:rPr>
                <a:t>启动应急预案 · 切换备用方案 · 联系科技条线支援​​​</a:t>
              </a:r>
            </a:p>
            <a:p>
              <a:pPr algn="l" marL="76200" indent="-76200">
                <a:lnSpc>
                  <a:spcPts val="825"/>
                </a:lnSpc>
                <a:buClr>
                  <a:srgbClr val="514340"/>
                </a:buClr>
                <a:buSzTx/>
                <a:buFontTx/>
                <a:buChar char="•"/>
              </a:pPr>
              <a:r>
                <a:rPr lang="zh-CN" sz="560" dirty="0">
                  <a:solidFill>
                    <a:srgbClr val="514340"/>
                  </a:solidFill>
                  <a:latin typeface="+mn-lt"/>
                  <a:ea typeface="+mn-ea"/>
                  <a:cs typeface="+mn-cs"/>
                </a:rPr>
                <a:t>必要时暂停活动 · 恢复后补偿客户​​</a:t>
              </a:r>
            </a:p>
          </p:txBody>
        </p:sp>
        <p:sp>
          <p:nvSpPr>
            <p:cNvPr id="342" name="Rectangle 342"/>
            <p:cNvSpPr/>
            <p:nvPr/>
          </p:nvSpPr>
          <p:spPr>
            <a:xfrm>
              <a:off x="8401050" y="2419350"/>
              <a:ext cx="3429000" cy="666750"/>
            </a:xfrm>
            <a:prstGeom prst="roundRect">
              <a:avLst>
                <a:gd name="adj" fmla="val 8571"/>
              </a:avLst>
            </a:prstGeom>
            <a:solidFill>
              <a:srgbClr val="F0FAF8"/>
            </a:solidFill>
            <a:ln w="9525">
              <a:solidFill>
                <a:srgbClr val="C2E0DA"/>
              </a:solidFill>
            </a:ln>
          </p:spPr>
        </p:sp>
        <p:grpSp>
          <p:nvGrpSpPr>
            <p:cNvPr id="349" name="Group 349"/>
            <p:cNvGrpSpPr/>
            <p:nvPr/>
          </p:nvGrpSpPr>
          <p:grpSpPr>
            <a:xfrm>
              <a:off x="8520112" y="2557462"/>
              <a:ext cx="142875" cy="142875"/>
              <a:chOff x="8520112" y="2557462"/>
              <a:chExt cx="142875" cy="142875"/>
            </a:xfrm>
          </p:grpSpPr>
          <p:sp>
            <p:nvSpPr>
              <p:cNvPr id="343" name="Freeform 343"/>
              <p:cNvSpPr/>
              <p:nvPr/>
            </p:nvSpPr>
            <p:spPr>
              <a:xfrm>
                <a:off x="8575675" y="26209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344" name="Freeform 344"/>
              <p:cNvSpPr/>
              <p:nvPr/>
            </p:nvSpPr>
            <p:spPr>
              <a:xfrm>
                <a:off x="8559800" y="26765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76200F"/>
                </a:solidFill>
              </a:ln>
            </p:spPr>
          </p:sp>
          <p:sp>
            <p:nvSpPr>
              <p:cNvPr id="345" name="Freeform 345"/>
              <p:cNvSpPr/>
              <p:nvPr/>
            </p:nvSpPr>
            <p:spPr>
              <a:xfrm>
                <a:off x="8615362" y="25574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346" name="Freeform 346"/>
              <p:cNvSpPr/>
              <p:nvPr/>
            </p:nvSpPr>
            <p:spPr>
              <a:xfrm>
                <a:off x="8631237" y="26130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76200F"/>
                </a:solidFill>
              </a:ln>
            </p:spPr>
          </p:sp>
          <p:sp>
            <p:nvSpPr>
              <p:cNvPr id="347" name="Freeform 347"/>
              <p:cNvSpPr/>
              <p:nvPr/>
            </p:nvSpPr>
            <p:spPr>
              <a:xfrm>
                <a:off x="8535987" y="25574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348" name="Freeform 348"/>
              <p:cNvSpPr/>
              <p:nvPr/>
            </p:nvSpPr>
            <p:spPr>
              <a:xfrm>
                <a:off x="8520112" y="26130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76200F"/>
                </a:solidFill>
              </a:ln>
            </p:spPr>
          </p:sp>
        </p:grpSp>
        <p:sp>
          <p:nvSpPr>
            <p:cNvPr id="350" name="TextBox 350"/>
            <p:cNvSpPr txBox="1"/>
            <p:nvPr/>
          </p:nvSpPr>
          <p:spPr>
            <a:xfrm>
              <a:off x="8758238" y="2490788"/>
              <a:ext cx="898017"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客流拥挤</a:t>
              </a:r>
              <a:r>
                <a:rPr lang="zh-CN" sz="600" dirty="0">
                  <a:solidFill>
                    <a:srgbClr val="73615E"/>
                  </a:solidFill>
                  <a:latin typeface="+mn-lt"/>
                  <a:ea typeface="+mn-ea"/>
                  <a:cs typeface="+mn-cs"/>
                </a:rPr>
                <a:t>（现场安全）</a:t>
              </a:r>
            </a:p>
          </p:txBody>
        </p:sp>
        <p:sp>
          <p:nvSpPr>
            <p:cNvPr id="351" name="TextBox 351"/>
            <p:cNvSpPr txBox="1"/>
            <p:nvPr/>
          </p:nvSpPr>
          <p:spPr>
            <a:xfrm>
              <a:off x="8758238" y="2644378"/>
              <a:ext cx="1931289" cy="216694"/>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560" dirty="0">
                  <a:solidFill>
                    <a:srgbClr val="514340"/>
                  </a:solidFill>
                  <a:latin typeface="+mn-lt"/>
                  <a:ea typeface="+mn-ea"/>
                  <a:cs typeface="+mn-cs"/>
                </a:rPr>
                <a:t>启动现场控流预案 · 增加安全与引导 · 分流至周边区域​​​</a:t>
              </a:r>
            </a:p>
            <a:p>
              <a:pPr algn="l" marL="76200" indent="-76200">
                <a:lnSpc>
                  <a:spcPts val="825"/>
                </a:lnSpc>
                <a:buClr>
                  <a:srgbClr val="514340"/>
                </a:buClr>
                <a:buSzTx/>
                <a:buFontTx/>
                <a:buChar char="•"/>
              </a:pPr>
              <a:r>
                <a:rPr lang="zh-CN" sz="560" dirty="0">
                  <a:solidFill>
                    <a:srgbClr val="514340"/>
                  </a:solidFill>
                  <a:latin typeface="+mn-lt"/>
                  <a:ea typeface="+mn-ea"/>
                  <a:cs typeface="+mn-cs"/>
                </a:rPr>
                <a:t>严重时暂停入场 · 上报分行与属地管理​​</a:t>
              </a:r>
            </a:p>
          </p:txBody>
        </p:sp>
        <p:sp>
          <p:nvSpPr>
            <p:cNvPr id="352" name="Rectangle 352"/>
            <p:cNvSpPr/>
            <p:nvPr/>
          </p:nvSpPr>
          <p:spPr>
            <a:xfrm>
              <a:off x="8401050" y="3143250"/>
              <a:ext cx="3429000" cy="666750"/>
            </a:xfrm>
            <a:prstGeom prst="roundRect">
              <a:avLst>
                <a:gd name="adj" fmla="val 8571"/>
              </a:avLst>
            </a:prstGeom>
            <a:solidFill>
              <a:srgbClr val="F0FAF8"/>
            </a:solidFill>
            <a:ln w="9525">
              <a:solidFill>
                <a:srgbClr val="C2E0DA"/>
              </a:solidFill>
            </a:ln>
          </p:spPr>
        </p:sp>
        <p:grpSp>
          <p:nvGrpSpPr>
            <p:cNvPr id="357" name="Group 357"/>
            <p:cNvGrpSpPr/>
            <p:nvPr/>
          </p:nvGrpSpPr>
          <p:grpSpPr>
            <a:xfrm>
              <a:off x="8528050" y="3281362"/>
              <a:ext cx="127000" cy="142875"/>
              <a:chOff x="8528050" y="3281362"/>
              <a:chExt cx="127000" cy="142875"/>
            </a:xfrm>
          </p:grpSpPr>
          <p:sp>
            <p:nvSpPr>
              <p:cNvPr id="353" name="Freeform 353"/>
              <p:cNvSpPr/>
              <p:nvPr/>
            </p:nvSpPr>
            <p:spPr>
              <a:xfrm>
                <a:off x="8528050" y="33924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354" name="Freeform 354"/>
              <p:cNvSpPr/>
              <p:nvPr/>
            </p:nvSpPr>
            <p:spPr>
              <a:xfrm>
                <a:off x="8615362" y="33924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6200F"/>
                </a:solidFill>
              </a:ln>
            </p:spPr>
          </p:sp>
          <p:sp>
            <p:nvSpPr>
              <p:cNvPr id="355" name="Freeform 355"/>
              <p:cNvSpPr/>
              <p:nvPr/>
            </p:nvSpPr>
            <p:spPr>
              <a:xfrm>
                <a:off x="8528050" y="3281362"/>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76200F"/>
                </a:solidFill>
              </a:ln>
            </p:spPr>
          </p:sp>
          <p:sp>
            <p:nvSpPr>
              <p:cNvPr id="356" name="Freeform 356"/>
              <p:cNvSpPr/>
              <p:nvPr/>
            </p:nvSpPr>
            <p:spPr>
              <a:xfrm>
                <a:off x="8543925" y="3297237"/>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76200F"/>
                </a:solidFill>
              </a:ln>
            </p:spPr>
          </p:sp>
        </p:grpSp>
        <p:sp>
          <p:nvSpPr>
            <p:cNvPr id="358" name="TextBox 358"/>
            <p:cNvSpPr txBox="1"/>
            <p:nvPr/>
          </p:nvSpPr>
          <p:spPr>
            <a:xfrm>
              <a:off x="8758238" y="3214688"/>
              <a:ext cx="1035329"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商户纠纷</a:t>
              </a:r>
              <a:r>
                <a:rPr lang="zh-CN" sz="600" dirty="0">
                  <a:solidFill>
                    <a:srgbClr val="73615E"/>
                  </a:solidFill>
                  <a:latin typeface="+mn-lt"/>
                  <a:ea typeface="+mn-ea"/>
                  <a:cs typeface="+mn-cs"/>
                </a:rPr>
                <a:t>（合作 / 权益）​</a:t>
              </a:r>
            </a:p>
          </p:txBody>
        </p:sp>
        <p:sp>
          <p:nvSpPr>
            <p:cNvPr id="359" name="TextBox 359"/>
            <p:cNvSpPr txBox="1"/>
            <p:nvPr/>
          </p:nvSpPr>
          <p:spPr>
            <a:xfrm>
              <a:off x="8758238" y="3368278"/>
              <a:ext cx="2073529" cy="216694"/>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560" dirty="0">
                  <a:solidFill>
                    <a:srgbClr val="514340"/>
                  </a:solidFill>
                  <a:latin typeface="+mn-lt"/>
                  <a:ea typeface="+mn-ea"/>
                  <a:cs typeface="+mn-cs"/>
                </a:rPr>
                <a:t>立即沟通协调 · 由对公条线牵头处理 · 必要时临时替补商户​​​</a:t>
              </a:r>
            </a:p>
            <a:p>
              <a:pPr algn="l" marL="76200" indent="-76200">
                <a:lnSpc>
                  <a:spcPts val="825"/>
                </a:lnSpc>
                <a:buClr>
                  <a:srgbClr val="514340"/>
                </a:buClr>
                <a:buSzTx/>
                <a:buFontTx/>
                <a:buChar char="•"/>
              </a:pPr>
              <a:r>
                <a:rPr lang="zh-CN" sz="560" dirty="0">
                  <a:solidFill>
                    <a:srgbClr val="514340"/>
                  </a:solidFill>
                  <a:latin typeface="+mn-lt"/>
                  <a:ea typeface="+mn-ea"/>
                  <a:cs typeface="+mn-cs"/>
                </a:rPr>
                <a:t>记录并形成书面结论 · 避免影响现场秩序​​</a:t>
              </a:r>
            </a:p>
          </p:txBody>
        </p:sp>
        <p:sp>
          <p:nvSpPr>
            <p:cNvPr id="360" name="Rectangle 360"/>
            <p:cNvSpPr/>
            <p:nvPr/>
          </p:nvSpPr>
          <p:spPr>
            <a:xfrm>
              <a:off x="8401050" y="3867150"/>
              <a:ext cx="3429000" cy="609600"/>
            </a:xfrm>
            <a:prstGeom prst="roundRect">
              <a:avLst>
                <a:gd name="adj" fmla="val 9375"/>
              </a:avLst>
            </a:prstGeom>
            <a:solidFill>
              <a:srgbClr val="F0FAF8"/>
            </a:solidFill>
            <a:ln w="9525">
              <a:solidFill>
                <a:srgbClr val="C2E0DA"/>
              </a:solidFill>
            </a:ln>
          </p:spPr>
        </p:sp>
        <p:grpSp>
          <p:nvGrpSpPr>
            <p:cNvPr id="365" name="Group 365"/>
            <p:cNvGrpSpPr/>
            <p:nvPr/>
          </p:nvGrpSpPr>
          <p:grpSpPr>
            <a:xfrm>
              <a:off x="8520112" y="3994150"/>
              <a:ext cx="142875" cy="136525"/>
              <a:chOff x="8520112" y="3994150"/>
              <a:chExt cx="142875" cy="136525"/>
            </a:xfrm>
          </p:grpSpPr>
          <p:sp>
            <p:nvSpPr>
              <p:cNvPr id="361" name="Freeform 361"/>
              <p:cNvSpPr/>
              <p:nvPr/>
            </p:nvSpPr>
            <p:spPr>
              <a:xfrm>
                <a:off x="8520112" y="40576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76200F"/>
                </a:solidFill>
              </a:ln>
            </p:spPr>
          </p:sp>
          <p:sp>
            <p:nvSpPr>
              <p:cNvPr id="362" name="Freeform 362"/>
              <p:cNvSpPr/>
              <p:nvPr/>
            </p:nvSpPr>
            <p:spPr>
              <a:xfrm>
                <a:off x="8615362" y="40259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76200F"/>
                </a:solidFill>
              </a:ln>
            </p:spPr>
          </p:sp>
          <p:sp>
            <p:nvSpPr>
              <p:cNvPr id="363" name="Freeform 363"/>
              <p:cNvSpPr/>
              <p:nvPr/>
            </p:nvSpPr>
            <p:spPr>
              <a:xfrm>
                <a:off x="8567737" y="39941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76200F"/>
                </a:solidFill>
              </a:ln>
            </p:spPr>
          </p:sp>
          <p:sp>
            <p:nvSpPr>
              <p:cNvPr id="364" name="Freeform 364"/>
              <p:cNvSpPr/>
              <p:nvPr/>
            </p:nvSpPr>
            <p:spPr>
              <a:xfrm>
                <a:off x="8528050" y="4121150"/>
                <a:ext cx="111125" cy="9525"/>
              </a:xfrm>
              <a:custGeom>
                <a:avLst/>
                <a:gdLst/>
                <a:ahLst/>
                <a:cxnLst/>
                <a:rect l="l" t="t" r="r" b="b"/>
                <a:pathLst>
                  <a:path w="111125" h="9525">
                    <a:moveTo>
                      <a:pt x="0" y="0"/>
                    </a:moveTo>
                    <a:lnTo>
                      <a:pt x="111125" y="0"/>
                    </a:lnTo>
                  </a:path>
                </a:pathLst>
              </a:custGeom>
              <a:noFill/>
              <a:ln w="15875">
                <a:solidFill>
                  <a:srgbClr val="76200F"/>
                </a:solidFill>
              </a:ln>
            </p:spPr>
          </p:sp>
        </p:grpSp>
        <p:sp>
          <p:nvSpPr>
            <p:cNvPr id="366" name="TextBox 366"/>
            <p:cNvSpPr txBox="1"/>
            <p:nvPr/>
          </p:nvSpPr>
          <p:spPr>
            <a:xfrm>
              <a:off x="8758238" y="3919538"/>
              <a:ext cx="1035329"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数据异常</a:t>
              </a:r>
              <a:r>
                <a:rPr lang="zh-CN" sz="600" dirty="0">
                  <a:solidFill>
                    <a:srgbClr val="73615E"/>
                  </a:solidFill>
                  <a:latin typeface="+mn-lt"/>
                  <a:ea typeface="+mn-ea"/>
                  <a:cs typeface="+mn-cs"/>
                </a:rPr>
                <a:t>（指标 / 核算）​</a:t>
              </a:r>
            </a:p>
          </p:txBody>
        </p:sp>
        <p:sp>
          <p:nvSpPr>
            <p:cNvPr id="367" name="TextBox 367"/>
            <p:cNvSpPr txBox="1"/>
            <p:nvPr/>
          </p:nvSpPr>
          <p:spPr>
            <a:xfrm>
              <a:off x="8758238" y="4073128"/>
              <a:ext cx="2215769" cy="216694"/>
            </a:xfrm>
            <a:prstGeom prst="rect">
              <a:avLst/>
            </a:prstGeom>
            <a:noFill/>
            <a:ln>
              <a:noFill/>
            </a:ln>
          </p:spPr>
          <p:txBody>
            <a:bodyPr wrap="none" lIns="0" tIns="0" rIns="0" bIns="0" anchor="t" anchorCtr="0">
              <a:spAutoFit/>
            </a:bodyPr>
            <a:lstStyle/>
            <a:p>
              <a:pPr algn="l" marL="76200" indent="-76200">
                <a:lnSpc>
                  <a:spcPts val="825"/>
                </a:lnSpc>
                <a:buClr>
                  <a:srgbClr val="514340"/>
                </a:buClr>
                <a:buSzTx/>
                <a:buFontTx/>
                <a:buChar char="•"/>
              </a:pPr>
              <a:r>
                <a:rPr lang="zh-CN" sz="560" dirty="0">
                  <a:solidFill>
                    <a:srgbClr val="514340"/>
                  </a:solidFill>
                  <a:latin typeface="+mn-lt"/>
                  <a:ea typeface="+mn-ea"/>
                  <a:cs typeface="+mn-cs"/>
                </a:rPr>
                <a:t>暂停数据对外发布 · 科技与运营联合排查 · 核对数据口径与台账​​​</a:t>
              </a:r>
            </a:p>
            <a:p>
              <a:pPr algn="l" marL="76200" indent="-76200">
                <a:lnSpc>
                  <a:spcPts val="825"/>
                </a:lnSpc>
                <a:buClr>
                  <a:srgbClr val="514340"/>
                </a:buClr>
                <a:buSzTx/>
                <a:buFontTx/>
                <a:buChar char="•"/>
              </a:pPr>
              <a:r>
                <a:rPr lang="zh-CN" sz="560" dirty="0">
                  <a:solidFill>
                    <a:srgbClr val="514340"/>
                  </a:solidFill>
                  <a:latin typeface="+mn-lt"/>
                  <a:ea typeface="+mn-ea"/>
                  <a:cs typeface="+mn-cs"/>
                </a:rPr>
                <a:t>上报总行数据管理部门 · 确认后统一对外说明​​</a:t>
              </a:r>
            </a:p>
          </p:txBody>
        </p:sp>
      </p:grpSp>
      <p:grpSp>
        <p:nvGrpSpPr>
          <p:cNvPr id="435" name="warroom"/>
          <p:cNvGrpSpPr/>
          <p:nvPr/>
        </p:nvGrpSpPr>
        <p:grpSpPr>
          <a:xfrm>
            <a:off x="342900" y="4610100"/>
            <a:ext cx="7905750" cy="1962150"/>
            <a:chOff x="342900" y="4610100"/>
            <a:chExt cx="7905750" cy="1962150"/>
          </a:xfrm>
        </p:grpSpPr>
        <p:sp>
          <p:nvSpPr>
            <p:cNvPr id="369" name="Rectangle 369"/>
            <p:cNvSpPr/>
            <p:nvPr/>
          </p:nvSpPr>
          <p:spPr>
            <a:xfrm>
              <a:off x="342900" y="4610100"/>
              <a:ext cx="914400" cy="1962150"/>
            </a:xfrm>
            <a:prstGeom prst="roundRect">
              <a:avLst>
                <a:gd name="adj" fmla="val 6250"/>
              </a:avLst>
            </a:prstGeom>
            <a:solidFill>
              <a:srgbClr val="5D190B"/>
            </a:solidFill>
            <a:ln>
              <a:noFill/>
            </a:ln>
          </p:spPr>
        </p:sp>
        <p:sp>
          <p:nvSpPr>
            <p:cNvPr id="370" name="TextBox 370"/>
            <p:cNvSpPr txBox="1"/>
            <p:nvPr/>
          </p:nvSpPr>
          <p:spPr>
            <a:xfrm>
              <a:off x="582638" y="542043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作战节奏</a:t>
              </a:r>
            </a:p>
          </p:txBody>
        </p:sp>
        <p:sp>
          <p:nvSpPr>
            <p:cNvPr id="371" name="TextBox 371"/>
            <p:cNvSpPr txBox="1"/>
            <p:nvPr/>
          </p:nvSpPr>
          <p:spPr>
            <a:xfrm>
              <a:off x="430195" y="5604034"/>
              <a:ext cx="739810" cy="133350"/>
            </a:xfrm>
            <a:prstGeom prst="rect">
              <a:avLst/>
            </a:prstGeom>
            <a:noFill/>
            <a:ln>
              <a:noFill/>
            </a:ln>
          </p:spPr>
          <p:txBody>
            <a:bodyPr wrap="none" lIns="0" tIns="0" rIns="0" bIns="0" anchor="t" anchorCtr="0">
              <a:spAutoFit/>
            </a:bodyPr>
            <a:lstStyle/>
            <a:p>
              <a:pPr algn="ctr"/>
              <a:r>
                <a:rPr lang="zh-CN" sz="680" dirty="0">
                  <a:solidFill>
                    <a:srgbClr val="BFE4DD"/>
                  </a:solidFill>
                  <a:latin typeface="+mn-lt"/>
                  <a:ea typeface="+mn-ea"/>
                  <a:cs typeface="+mn-cs"/>
                </a:rPr>
                <a:t>（War-Room）​​</a:t>
              </a:r>
            </a:p>
          </p:txBody>
        </p:sp>
        <p:sp>
          <p:nvSpPr>
            <p:cNvPr id="372" name="Line 372"/>
            <p:cNvSpPr/>
            <p:nvPr/>
          </p:nvSpPr>
          <p:spPr>
            <a:xfrm>
              <a:off x="1333500" y="4876800"/>
              <a:ext cx="6915150" cy="9525"/>
            </a:xfrm>
            <a:custGeom>
              <a:avLst/>
              <a:gdLst/>
              <a:ahLst/>
              <a:cxnLst/>
              <a:rect l="l" t="t" r="r" b="b"/>
              <a:pathLst>
                <a:path w="6915150" h="9525">
                  <a:moveTo>
                    <a:pt x="0" y="0"/>
                  </a:moveTo>
                  <a:lnTo>
                    <a:pt x="6915150" y="0"/>
                  </a:lnTo>
                </a:path>
              </a:pathLst>
            </a:custGeom>
            <a:noFill/>
            <a:ln w="19050">
              <a:solidFill>
                <a:srgbClr val="C2E0DA"/>
              </a:solidFill>
            </a:ln>
          </p:spPr>
        </p:sp>
        <p:grpSp>
          <p:nvGrpSpPr>
            <p:cNvPr id="434" name="milestones"/>
            <p:cNvGrpSpPr/>
            <p:nvPr/>
          </p:nvGrpSpPr>
          <p:grpSpPr>
            <a:xfrm>
              <a:off x="1460436" y="4762500"/>
              <a:ext cx="6722745" cy="943451"/>
              <a:chOff x="1460436" y="4762500"/>
              <a:chExt cx="6722745" cy="943451"/>
            </a:xfrm>
          </p:grpSpPr>
          <p:sp>
            <p:nvSpPr>
              <p:cNvPr id="373" name="Ellipse 373"/>
              <p:cNvSpPr/>
              <p:nvPr/>
            </p:nvSpPr>
            <p:spPr>
              <a:xfrm>
                <a:off x="1638300" y="4762500"/>
                <a:ext cx="228600" cy="228600"/>
              </a:xfrm>
              <a:prstGeom prst="ellipse">
                <a:avLst/>
              </a:prstGeom>
              <a:solidFill>
                <a:srgbClr val="5D190B"/>
              </a:solidFill>
              <a:ln>
                <a:noFill/>
              </a:ln>
            </p:spPr>
          </p:sp>
          <p:grpSp>
            <p:nvGrpSpPr>
              <p:cNvPr id="376" name="Group 376"/>
              <p:cNvGrpSpPr/>
              <p:nvPr/>
            </p:nvGrpSpPr>
            <p:grpSpPr>
              <a:xfrm>
                <a:off x="1713706" y="4827318"/>
                <a:ext cx="77787" cy="99488"/>
                <a:chOff x="1713706" y="4827318"/>
                <a:chExt cx="77787" cy="99488"/>
              </a:xfrm>
            </p:grpSpPr>
            <p:sp>
              <p:nvSpPr>
                <p:cNvPr id="374" name="Freeform 374"/>
                <p:cNvSpPr/>
                <p:nvPr/>
              </p:nvSpPr>
              <p:spPr>
                <a:xfrm>
                  <a:off x="1713706" y="4827318"/>
                  <a:ext cx="77787" cy="71183"/>
                </a:xfrm>
                <a:custGeom>
                  <a:avLst/>
                  <a:gdLst/>
                  <a:ahLst/>
                  <a:cxnLst/>
                  <a:rect l="l" t="t" r="r" b="b"/>
                  <a:pathLst>
                    <a:path w="77787" h="71183">
                      <a:moveTo>
                        <a:pt x="0" y="10589"/>
                      </a:moveTo>
                      <a:cubicBezTo>
                        <a:pt x="10803" y="0"/>
                        <a:pt x="28091" y="0"/>
                        <a:pt x="38894" y="10589"/>
                      </a:cubicBezTo>
                      <a:cubicBezTo>
                        <a:pt x="49696" y="21177"/>
                        <a:pt x="66985" y="21177"/>
                        <a:pt x="77787" y="10589"/>
                      </a:cubicBezTo>
                      <a:lnTo>
                        <a:pt x="77787" y="60595"/>
                      </a:lnTo>
                      <a:cubicBezTo>
                        <a:pt x="66985" y="71183"/>
                        <a:pt x="49696" y="71183"/>
                        <a:pt x="38894" y="60595"/>
                      </a:cubicBezTo>
                      <a:cubicBezTo>
                        <a:pt x="28091" y="50006"/>
                        <a:pt x="10803" y="50006"/>
                        <a:pt x="0" y="60595"/>
                      </a:cubicBezTo>
                      <a:lnTo>
                        <a:pt x="0" y="10589"/>
                      </a:lnTo>
                    </a:path>
                  </a:pathLst>
                </a:custGeom>
                <a:noFill/>
                <a:ln w="11112">
                  <a:solidFill>
                    <a:srgbClr val="FFFFFF"/>
                  </a:solidFill>
                </a:ln>
              </p:spPr>
            </p:sp>
            <p:sp>
              <p:nvSpPr>
                <p:cNvPr id="375" name="Freeform 375"/>
                <p:cNvSpPr/>
                <p:nvPr/>
              </p:nvSpPr>
              <p:spPr>
                <a:xfrm>
                  <a:off x="1713706" y="4887912"/>
                  <a:ext cx="9525" cy="38894"/>
                </a:xfrm>
                <a:custGeom>
                  <a:avLst/>
                  <a:gdLst/>
                  <a:ahLst/>
                  <a:cxnLst/>
                  <a:rect l="l" t="t" r="r" b="b"/>
                  <a:pathLst>
                    <a:path w="9525" h="38894">
                      <a:moveTo>
                        <a:pt x="0" y="38894"/>
                      </a:moveTo>
                      <a:lnTo>
                        <a:pt x="0" y="0"/>
                      </a:lnTo>
                    </a:path>
                  </a:pathLst>
                </a:custGeom>
                <a:noFill/>
                <a:ln w="11112">
                  <a:solidFill>
                    <a:srgbClr val="FFFFFF"/>
                  </a:solidFill>
                </a:ln>
              </p:spPr>
            </p:sp>
          </p:grpSp>
          <p:sp>
            <p:nvSpPr>
              <p:cNvPr id="377" name="TextBox 377"/>
              <p:cNvSpPr txBox="1"/>
              <p:nvPr/>
            </p:nvSpPr>
            <p:spPr>
              <a:xfrm>
                <a:off x="1572872" y="5085636"/>
                <a:ext cx="359457" cy="140494"/>
              </a:xfrm>
              <a:prstGeom prst="rect">
                <a:avLst/>
              </a:prstGeom>
              <a:noFill/>
              <a:ln>
                <a:noFill/>
              </a:ln>
            </p:spPr>
            <p:txBody>
              <a:bodyPr wrap="none" lIns="0" tIns="0" rIns="0" bIns="0" anchor="t" anchorCtr="0">
                <a:spAutoFit/>
              </a:bodyPr>
              <a:lstStyle/>
              <a:p>
                <a:pPr algn="ctr"/>
                <a:r>
                  <a:rPr lang="en-US" sz="710" b="1" dirty="0">
                    <a:solidFill>
                      <a:srgbClr val="76200F"/>
                    </a:solidFill>
                    <a:latin typeface="+mn-lt"/>
                    <a:ea typeface="+mn-ea"/>
                    <a:cs typeface="+mn-cs"/>
                  </a:rPr>
                  <a:t>T-30​​</a:t>
                </a:r>
              </a:p>
            </p:txBody>
          </p:sp>
          <p:sp>
            <p:nvSpPr>
              <p:cNvPr id="378" name="TextBox 378"/>
              <p:cNvSpPr txBox="1"/>
              <p:nvPr/>
            </p:nvSpPr>
            <p:spPr>
              <a:xfrm>
                <a:off x="1656296" y="5223034"/>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立项</a:t>
                </a:r>
              </a:p>
            </p:txBody>
          </p:sp>
          <p:sp>
            <p:nvSpPr>
              <p:cNvPr id="379" name="TextBox 379"/>
              <p:cNvSpPr txBox="1"/>
              <p:nvPr/>
            </p:nvSpPr>
            <p:spPr>
              <a:xfrm>
                <a:off x="1460436" y="5410676"/>
                <a:ext cx="584327" cy="295275"/>
              </a:xfrm>
              <a:prstGeom prst="rect">
                <a:avLst/>
              </a:prstGeom>
              <a:noFill/>
              <a:ln>
                <a:noFill/>
              </a:ln>
            </p:spPr>
            <p:txBody>
              <a:bodyPr wrap="none" lIns="0" tIns="0" rIns="0" bIns="0" anchor="t" anchorCtr="0">
                <a:spAutoFit/>
              </a:bodyPr>
              <a:lstStyle/>
              <a:p>
                <a:pPr algn="ctr" marL="76200" indent="-76200">
                  <a:lnSpc>
                    <a:spcPts val="750"/>
                  </a:lnSpc>
                  <a:buClr>
                    <a:srgbClr val="514340"/>
                  </a:buClr>
                  <a:buSzTx/>
                  <a:buFontTx/>
                  <a:buChar char="•"/>
                </a:pPr>
                <a:r>
                  <a:rPr lang="zh-CN" sz="520" dirty="0">
                    <a:solidFill>
                      <a:srgbClr val="514340"/>
                    </a:solidFill>
                    <a:latin typeface="+mn-lt"/>
                    <a:ea typeface="+mn-ea"/>
                    <a:cs typeface="+mn-cs"/>
                  </a:rPr>
                  <a:t>明确目标与预算​</a:t>
                </a:r>
              </a:p>
              <a:p>
                <a:pPr algn="ctr" marL="76200" indent="-76200">
                  <a:lnSpc>
                    <a:spcPts val="750"/>
                  </a:lnSpc>
                  <a:buClr>
                    <a:srgbClr val="514340"/>
                  </a:buClr>
                  <a:buSzTx/>
                  <a:buFontTx/>
                  <a:buChar char="•"/>
                </a:pPr>
                <a:r>
                  <a:rPr lang="zh-CN" sz="520" dirty="0">
                    <a:solidFill>
                      <a:srgbClr val="514340"/>
                    </a:solidFill>
                    <a:latin typeface="+mn-lt"/>
                    <a:ea typeface="+mn-ea"/>
                    <a:cs typeface="+mn-cs"/>
                  </a:rPr>
                  <a:t>组建项目团队​</a:t>
                </a:r>
              </a:p>
              <a:p>
                <a:pPr algn="ctr" marL="76200" indent="-76200">
                  <a:lnSpc>
                    <a:spcPts val="750"/>
                  </a:lnSpc>
                  <a:buClr>
                    <a:srgbClr val="514340"/>
                  </a:buClr>
                  <a:buSzTx/>
                  <a:buFontTx/>
                  <a:buChar char="•"/>
                </a:pPr>
                <a:r>
                  <a:rPr lang="zh-CN" sz="520" dirty="0">
                    <a:solidFill>
                      <a:srgbClr val="514340"/>
                    </a:solidFill>
                    <a:latin typeface="+mn-lt"/>
                    <a:ea typeface="+mn-ea"/>
                    <a:cs typeface="+mn-cs"/>
                  </a:rPr>
                  <a:t>确定核心场景​</a:t>
                </a:r>
              </a:p>
            </p:txBody>
          </p:sp>
          <p:sp>
            <p:nvSpPr>
              <p:cNvPr id="380" name="Ellipse 380"/>
              <p:cNvSpPr/>
              <p:nvPr/>
            </p:nvSpPr>
            <p:spPr>
              <a:xfrm>
                <a:off x="2505075" y="4762500"/>
                <a:ext cx="228600" cy="228600"/>
              </a:xfrm>
              <a:prstGeom prst="ellipse">
                <a:avLst/>
              </a:prstGeom>
              <a:solidFill>
                <a:srgbClr val="76200F"/>
              </a:solidFill>
              <a:ln>
                <a:noFill/>
              </a:ln>
            </p:spPr>
          </p:sp>
          <p:grpSp>
            <p:nvGrpSpPr>
              <p:cNvPr id="383" name="Group 383"/>
              <p:cNvGrpSpPr/>
              <p:nvPr/>
            </p:nvGrpSpPr>
            <p:grpSpPr>
              <a:xfrm>
                <a:off x="2566930" y="4824355"/>
                <a:ext cx="104891" cy="104891"/>
                <a:chOff x="2566930" y="4824355"/>
                <a:chExt cx="104891" cy="104891"/>
              </a:xfrm>
            </p:grpSpPr>
            <p:sp>
              <p:nvSpPr>
                <p:cNvPr id="381" name="Freeform 381"/>
                <p:cNvSpPr/>
                <p:nvPr/>
              </p:nvSpPr>
              <p:spPr>
                <a:xfrm>
                  <a:off x="2566930" y="4824355"/>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FFFFFF"/>
                  </a:solidFill>
                </a:ln>
              </p:spPr>
            </p:sp>
            <p:sp>
              <p:nvSpPr>
                <p:cNvPr id="382" name="Freeform 382"/>
                <p:cNvSpPr/>
                <p:nvPr/>
              </p:nvSpPr>
              <p:spPr>
                <a:xfrm>
                  <a:off x="2602706" y="4860131"/>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FFFFFF"/>
                  </a:solidFill>
                </a:ln>
              </p:spPr>
            </p:sp>
          </p:grpSp>
          <p:sp>
            <p:nvSpPr>
              <p:cNvPr id="384" name="TextBox 384"/>
              <p:cNvSpPr txBox="1"/>
              <p:nvPr/>
            </p:nvSpPr>
            <p:spPr>
              <a:xfrm>
                <a:off x="2439647" y="5085636"/>
                <a:ext cx="359457" cy="140494"/>
              </a:xfrm>
              <a:prstGeom prst="rect">
                <a:avLst/>
              </a:prstGeom>
              <a:noFill/>
              <a:ln>
                <a:noFill/>
              </a:ln>
            </p:spPr>
            <p:txBody>
              <a:bodyPr wrap="none" lIns="0" tIns="0" rIns="0" bIns="0" anchor="t" anchorCtr="0">
                <a:spAutoFit/>
              </a:bodyPr>
              <a:lstStyle/>
              <a:p>
                <a:pPr algn="ctr"/>
                <a:r>
                  <a:rPr lang="en-US" sz="710" b="1" dirty="0">
                    <a:solidFill>
                      <a:srgbClr val="76200F"/>
                    </a:solidFill>
                    <a:latin typeface="+mn-lt"/>
                    <a:ea typeface="+mn-ea"/>
                    <a:cs typeface="+mn-cs"/>
                  </a:rPr>
                  <a:t>T-14​​</a:t>
                </a:r>
              </a:p>
            </p:txBody>
          </p:sp>
          <p:sp>
            <p:nvSpPr>
              <p:cNvPr id="385" name="TextBox 385"/>
              <p:cNvSpPr txBox="1"/>
              <p:nvPr/>
            </p:nvSpPr>
            <p:spPr>
              <a:xfrm>
                <a:off x="2523071" y="5223034"/>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联调</a:t>
                </a:r>
              </a:p>
            </p:txBody>
          </p:sp>
          <p:sp>
            <p:nvSpPr>
              <p:cNvPr id="386" name="TextBox 386"/>
              <p:cNvSpPr txBox="1"/>
              <p:nvPr/>
            </p:nvSpPr>
            <p:spPr>
              <a:xfrm>
                <a:off x="2327212" y="5410676"/>
                <a:ext cx="584327" cy="295275"/>
              </a:xfrm>
              <a:prstGeom prst="rect">
                <a:avLst/>
              </a:prstGeom>
              <a:noFill/>
              <a:ln>
                <a:noFill/>
              </a:ln>
            </p:spPr>
            <p:txBody>
              <a:bodyPr wrap="none" lIns="0" tIns="0" rIns="0" bIns="0" anchor="t" anchorCtr="0">
                <a:spAutoFit/>
              </a:bodyPr>
              <a:lstStyle/>
              <a:p>
                <a:pPr algn="ctr" marL="76200" indent="-76200">
                  <a:lnSpc>
                    <a:spcPts val="750"/>
                  </a:lnSpc>
                  <a:buClr>
                    <a:srgbClr val="514340"/>
                  </a:buClr>
                  <a:buSzTx/>
                  <a:buFontTx/>
                  <a:buChar char="•"/>
                </a:pPr>
                <a:r>
                  <a:rPr lang="zh-CN" sz="520" dirty="0">
                    <a:solidFill>
                      <a:srgbClr val="514340"/>
                    </a:solidFill>
                    <a:latin typeface="+mn-lt"/>
                    <a:ea typeface="+mn-ea"/>
                    <a:cs typeface="+mn-cs"/>
                  </a:rPr>
                  <a:t>完成系统联调​</a:t>
                </a:r>
              </a:p>
              <a:p>
                <a:pPr algn="ctr" marL="76200" indent="-76200">
                  <a:lnSpc>
                    <a:spcPts val="750"/>
                  </a:lnSpc>
                  <a:buClr>
                    <a:srgbClr val="514340"/>
                  </a:buClr>
                  <a:buSzTx/>
                  <a:buFontTx/>
                  <a:buChar char="•"/>
                </a:pPr>
                <a:r>
                  <a:rPr lang="zh-CN" sz="520" dirty="0">
                    <a:solidFill>
                      <a:srgbClr val="514340"/>
                    </a:solidFill>
                    <a:latin typeface="+mn-lt"/>
                    <a:ea typeface="+mn-ea"/>
                    <a:cs typeface="+mn-cs"/>
                  </a:rPr>
                  <a:t>测试线上联动​</a:t>
                </a:r>
              </a:p>
              <a:p>
                <a:pPr algn="ctr" marL="76200" indent="-76200">
                  <a:lnSpc>
                    <a:spcPts val="750"/>
                  </a:lnSpc>
                  <a:buClr>
                    <a:srgbClr val="514340"/>
                  </a:buClr>
                  <a:buSzTx/>
                  <a:buFontTx/>
                  <a:buChar char="•"/>
                </a:pPr>
                <a:r>
                  <a:rPr lang="zh-CN" sz="520" dirty="0">
                    <a:solidFill>
                      <a:srgbClr val="514340"/>
                    </a:solidFill>
                    <a:latin typeface="+mn-lt"/>
                    <a:ea typeface="+mn-ea"/>
                    <a:cs typeface="+mn-cs"/>
                  </a:rPr>
                  <a:t>确认物料与权益​</a:t>
                </a:r>
              </a:p>
            </p:txBody>
          </p:sp>
          <p:sp>
            <p:nvSpPr>
              <p:cNvPr id="387" name="Ellipse 387"/>
              <p:cNvSpPr/>
              <p:nvPr/>
            </p:nvSpPr>
            <p:spPr>
              <a:xfrm>
                <a:off x="3371850" y="4762500"/>
                <a:ext cx="228600" cy="228600"/>
              </a:xfrm>
              <a:prstGeom prst="ellipse">
                <a:avLst/>
              </a:prstGeom>
              <a:solidFill>
                <a:srgbClr val="852512"/>
              </a:solidFill>
              <a:ln>
                <a:noFill/>
              </a:ln>
            </p:spPr>
          </p:sp>
          <p:grpSp>
            <p:nvGrpSpPr>
              <p:cNvPr id="392" name="Group 392"/>
              <p:cNvGrpSpPr/>
              <p:nvPr/>
            </p:nvGrpSpPr>
            <p:grpSpPr>
              <a:xfrm>
                <a:off x="3436144" y="4826794"/>
                <a:ext cx="100012" cy="100012"/>
                <a:chOff x="3436144" y="4826794"/>
                <a:chExt cx="100012" cy="100012"/>
              </a:xfrm>
            </p:grpSpPr>
            <p:sp>
              <p:nvSpPr>
                <p:cNvPr id="388" name="Freeform 388"/>
                <p:cNvSpPr/>
                <p:nvPr/>
              </p:nvSpPr>
              <p:spPr>
                <a:xfrm>
                  <a:off x="3447256" y="482679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FFFFFF"/>
                  </a:solidFill>
                </a:ln>
              </p:spPr>
            </p:sp>
            <p:sp>
              <p:nvSpPr>
                <p:cNvPr id="389" name="Freeform 389"/>
                <p:cNvSpPr/>
                <p:nvPr/>
              </p:nvSpPr>
              <p:spPr>
                <a:xfrm>
                  <a:off x="3436144" y="489346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FFFFFF"/>
                  </a:solidFill>
                </a:ln>
              </p:spPr>
            </p:sp>
            <p:sp>
              <p:nvSpPr>
                <p:cNvPr id="390" name="Freeform 390"/>
                <p:cNvSpPr/>
                <p:nvPr/>
              </p:nvSpPr>
              <p:spPr>
                <a:xfrm>
                  <a:off x="3508375" y="482751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FFFFFF"/>
                  </a:solidFill>
                </a:ln>
              </p:spPr>
            </p:sp>
            <p:sp>
              <p:nvSpPr>
                <p:cNvPr id="391" name="Freeform 391"/>
                <p:cNvSpPr/>
                <p:nvPr/>
              </p:nvSpPr>
              <p:spPr>
                <a:xfrm>
                  <a:off x="3519487" y="489430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FFFFFF"/>
                  </a:solidFill>
                </a:ln>
              </p:spPr>
            </p:sp>
          </p:grpSp>
          <p:sp>
            <p:nvSpPr>
              <p:cNvPr id="393" name="TextBox 393"/>
              <p:cNvSpPr txBox="1"/>
              <p:nvPr/>
            </p:nvSpPr>
            <p:spPr>
              <a:xfrm>
                <a:off x="3364744" y="5085636"/>
                <a:ext cx="242813" cy="140494"/>
              </a:xfrm>
              <a:prstGeom prst="rect">
                <a:avLst/>
              </a:prstGeom>
              <a:noFill/>
              <a:ln>
                <a:noFill/>
              </a:ln>
            </p:spPr>
            <p:txBody>
              <a:bodyPr wrap="none" lIns="0" tIns="0" rIns="0" bIns="0" anchor="t" anchorCtr="0">
                <a:spAutoFit/>
              </a:bodyPr>
              <a:lstStyle/>
              <a:p>
                <a:pPr algn="ctr"/>
                <a:r>
                  <a:rPr lang="en-US" sz="710" b="1" dirty="0">
                    <a:solidFill>
                      <a:srgbClr val="76200F"/>
                    </a:solidFill>
                    <a:latin typeface="+mn-lt"/>
                    <a:ea typeface="+mn-ea"/>
                    <a:cs typeface="+mn-cs"/>
                  </a:rPr>
                  <a:t>T-7​</a:t>
                </a:r>
              </a:p>
            </p:txBody>
          </p:sp>
          <p:sp>
            <p:nvSpPr>
              <p:cNvPr id="394" name="TextBox 394"/>
              <p:cNvSpPr txBox="1"/>
              <p:nvPr/>
            </p:nvSpPr>
            <p:spPr>
              <a:xfrm>
                <a:off x="3389846" y="5223034"/>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彩排</a:t>
                </a:r>
              </a:p>
            </p:txBody>
          </p:sp>
          <p:sp>
            <p:nvSpPr>
              <p:cNvPr id="395" name="TextBox 395"/>
              <p:cNvSpPr txBox="1"/>
              <p:nvPr/>
            </p:nvSpPr>
            <p:spPr>
              <a:xfrm>
                <a:off x="3227006" y="5410676"/>
                <a:ext cx="518287" cy="295275"/>
              </a:xfrm>
              <a:prstGeom prst="rect">
                <a:avLst/>
              </a:prstGeom>
              <a:noFill/>
              <a:ln>
                <a:noFill/>
              </a:ln>
            </p:spPr>
            <p:txBody>
              <a:bodyPr wrap="none" lIns="0" tIns="0" rIns="0" bIns="0" anchor="t" anchorCtr="0">
                <a:spAutoFit/>
              </a:bodyPr>
              <a:lstStyle/>
              <a:p>
                <a:pPr algn="ctr" marL="76200" indent="-76200">
                  <a:lnSpc>
                    <a:spcPts val="750"/>
                  </a:lnSpc>
                  <a:buClr>
                    <a:srgbClr val="514340"/>
                  </a:buClr>
                  <a:buSzTx/>
                  <a:buFontTx/>
                  <a:buChar char="•"/>
                </a:pPr>
                <a:r>
                  <a:rPr lang="zh-CN" sz="520" dirty="0">
                    <a:solidFill>
                      <a:srgbClr val="514340"/>
                    </a:solidFill>
                    <a:latin typeface="+mn-lt"/>
                    <a:ea typeface="+mn-ea"/>
                    <a:cs typeface="+mn-cs"/>
                  </a:rPr>
                  <a:t>全流程演练​</a:t>
                </a:r>
              </a:p>
              <a:p>
                <a:pPr algn="ctr" marL="76200" indent="-76200">
                  <a:lnSpc>
                    <a:spcPts val="750"/>
                  </a:lnSpc>
                  <a:buClr>
                    <a:srgbClr val="514340"/>
                  </a:buClr>
                  <a:buSzTx/>
                  <a:buFontTx/>
                  <a:buChar char="•"/>
                </a:pPr>
                <a:r>
                  <a:rPr lang="zh-CN" sz="520" dirty="0">
                    <a:solidFill>
                      <a:srgbClr val="514340"/>
                    </a:solidFill>
                    <a:latin typeface="+mn-lt"/>
                    <a:ea typeface="+mn-ea"/>
                    <a:cs typeface="+mn-cs"/>
                  </a:rPr>
                  <a:t>应急预案演练​</a:t>
                </a:r>
              </a:p>
              <a:p>
                <a:pPr algn="ctr" marL="76200" indent="-76200">
                  <a:lnSpc>
                    <a:spcPts val="750"/>
                  </a:lnSpc>
                  <a:buClr>
                    <a:srgbClr val="514340"/>
                  </a:buClr>
                  <a:buSzTx/>
                  <a:buFontTx/>
                  <a:buChar char="•"/>
                </a:pPr>
                <a:r>
                  <a:rPr lang="zh-CN" sz="520" dirty="0">
                    <a:solidFill>
                      <a:srgbClr val="514340"/>
                    </a:solidFill>
                    <a:latin typeface="+mn-lt"/>
                    <a:ea typeface="+mn-ea"/>
                    <a:cs typeface="+mn-cs"/>
                  </a:rPr>
                  <a:t>人员分工确认​</a:t>
                </a:r>
              </a:p>
            </p:txBody>
          </p:sp>
          <p:sp>
            <p:nvSpPr>
              <p:cNvPr id="396" name="Ellipse 396"/>
              <p:cNvSpPr/>
              <p:nvPr/>
            </p:nvSpPr>
            <p:spPr>
              <a:xfrm>
                <a:off x="4238625" y="4762500"/>
                <a:ext cx="228600" cy="228600"/>
              </a:xfrm>
              <a:prstGeom prst="ellipse">
                <a:avLst/>
              </a:prstGeom>
              <a:solidFill>
                <a:srgbClr val="A3422F"/>
              </a:solidFill>
              <a:ln>
                <a:noFill/>
              </a:ln>
            </p:spPr>
          </p:sp>
          <p:grpSp>
            <p:nvGrpSpPr>
              <p:cNvPr id="401" name="Group 401"/>
              <p:cNvGrpSpPr/>
              <p:nvPr/>
            </p:nvGrpSpPr>
            <p:grpSpPr>
              <a:xfrm>
                <a:off x="4314031" y="4832350"/>
                <a:ext cx="83343" cy="94456"/>
                <a:chOff x="4314031" y="4832350"/>
                <a:chExt cx="83343" cy="94456"/>
              </a:xfrm>
            </p:grpSpPr>
            <p:sp>
              <p:nvSpPr>
                <p:cNvPr id="397" name="Freeform 397"/>
                <p:cNvSpPr/>
                <p:nvPr/>
              </p:nvSpPr>
              <p:spPr>
                <a:xfrm>
                  <a:off x="4314031" y="4832350"/>
                  <a:ext cx="66675" cy="88900"/>
                </a:xfrm>
                <a:custGeom>
                  <a:avLst/>
                  <a:gdLst/>
                  <a:ahLst/>
                  <a:cxnLst/>
                  <a:rect l="l" t="t" r="r" b="b"/>
                  <a:pathLst>
                    <a:path w="66675" h="88900">
                      <a:moveTo>
                        <a:pt x="25642" y="88900"/>
                      </a:moveTo>
                      <a:lnTo>
                        <a:pt x="11112" y="88900"/>
                      </a:lnTo>
                      <a:cubicBezTo>
                        <a:pt x="4975" y="88900"/>
                        <a:pt x="0" y="83925"/>
                        <a:pt x="0" y="77787"/>
                      </a:cubicBezTo>
                      <a:lnTo>
                        <a:pt x="0" y="11112"/>
                      </a:lnTo>
                      <a:cubicBezTo>
                        <a:pt x="0" y="4975"/>
                        <a:pt x="4975" y="0"/>
                        <a:pt x="11112" y="0"/>
                      </a:cubicBezTo>
                      <a:lnTo>
                        <a:pt x="55562" y="0"/>
                      </a:lnTo>
                      <a:cubicBezTo>
                        <a:pt x="61700" y="0"/>
                        <a:pt x="66675" y="4975"/>
                        <a:pt x="66675" y="11112"/>
                      </a:cubicBezTo>
                      <a:lnTo>
                        <a:pt x="66675" y="55562"/>
                      </a:lnTo>
                    </a:path>
                  </a:pathLst>
                </a:custGeom>
                <a:noFill/>
                <a:ln w="11112">
                  <a:solidFill>
                    <a:srgbClr val="FFFFFF"/>
                  </a:solidFill>
                </a:ln>
              </p:spPr>
            </p:sp>
            <p:sp>
              <p:nvSpPr>
                <p:cNvPr id="398" name="Freeform 398"/>
                <p:cNvSpPr/>
                <p:nvPr/>
              </p:nvSpPr>
              <p:spPr>
                <a:xfrm>
                  <a:off x="4364037" y="4904581"/>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sp>
              <p:nvSpPr>
                <p:cNvPr id="399" name="Freeform 399"/>
                <p:cNvSpPr/>
                <p:nvPr/>
              </p:nvSpPr>
              <p:spPr>
                <a:xfrm>
                  <a:off x="4336256" y="4854575"/>
                  <a:ext cx="22225" cy="9525"/>
                </a:xfrm>
                <a:custGeom>
                  <a:avLst/>
                  <a:gdLst/>
                  <a:ahLst/>
                  <a:cxnLst/>
                  <a:rect l="l" t="t" r="r" b="b"/>
                  <a:pathLst>
                    <a:path w="22225" h="9525">
                      <a:moveTo>
                        <a:pt x="0" y="0"/>
                      </a:moveTo>
                      <a:lnTo>
                        <a:pt x="22225" y="0"/>
                      </a:lnTo>
                    </a:path>
                  </a:pathLst>
                </a:custGeom>
                <a:noFill/>
                <a:ln w="11112">
                  <a:solidFill>
                    <a:srgbClr val="FFFFFF"/>
                  </a:solidFill>
                </a:ln>
              </p:spPr>
            </p:sp>
            <p:sp>
              <p:nvSpPr>
                <p:cNvPr id="400" name="Freeform 400"/>
                <p:cNvSpPr/>
                <p:nvPr/>
              </p:nvSpPr>
              <p:spPr>
                <a:xfrm>
                  <a:off x="4336256" y="4876800"/>
                  <a:ext cx="11112" cy="9525"/>
                </a:xfrm>
                <a:custGeom>
                  <a:avLst/>
                  <a:gdLst/>
                  <a:ahLst/>
                  <a:cxnLst/>
                  <a:rect l="l" t="t" r="r" b="b"/>
                  <a:pathLst>
                    <a:path w="11112" h="9525">
                      <a:moveTo>
                        <a:pt x="0" y="0"/>
                      </a:moveTo>
                      <a:lnTo>
                        <a:pt x="11112" y="0"/>
                      </a:lnTo>
                    </a:path>
                  </a:pathLst>
                </a:custGeom>
                <a:noFill/>
                <a:ln w="11112">
                  <a:solidFill>
                    <a:srgbClr val="FFFFFF"/>
                  </a:solidFill>
                </a:ln>
              </p:spPr>
            </p:sp>
          </p:grpSp>
          <p:sp>
            <p:nvSpPr>
              <p:cNvPr id="402" name="TextBox 402"/>
              <p:cNvSpPr txBox="1"/>
              <p:nvPr/>
            </p:nvSpPr>
            <p:spPr>
              <a:xfrm>
                <a:off x="4231519" y="5085636"/>
                <a:ext cx="242813" cy="140494"/>
              </a:xfrm>
              <a:prstGeom prst="rect">
                <a:avLst/>
              </a:prstGeom>
              <a:noFill/>
              <a:ln>
                <a:noFill/>
              </a:ln>
            </p:spPr>
            <p:txBody>
              <a:bodyPr wrap="none" lIns="0" tIns="0" rIns="0" bIns="0" anchor="t" anchorCtr="0">
                <a:spAutoFit/>
              </a:bodyPr>
              <a:lstStyle/>
              <a:p>
                <a:pPr algn="ctr"/>
                <a:r>
                  <a:rPr lang="en-US" sz="710" b="1" dirty="0">
                    <a:solidFill>
                      <a:srgbClr val="76200F"/>
                    </a:solidFill>
                    <a:latin typeface="+mn-lt"/>
                    <a:ea typeface="+mn-ea"/>
                    <a:cs typeface="+mn-cs"/>
                  </a:rPr>
                  <a:t>T-1​</a:t>
                </a:r>
              </a:p>
            </p:txBody>
          </p:sp>
          <p:sp>
            <p:nvSpPr>
              <p:cNvPr id="403" name="TextBox 403"/>
              <p:cNvSpPr txBox="1"/>
              <p:nvPr/>
            </p:nvSpPr>
            <p:spPr>
              <a:xfrm>
                <a:off x="4256621" y="5223034"/>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检查</a:t>
                </a:r>
              </a:p>
            </p:txBody>
          </p:sp>
          <p:sp>
            <p:nvSpPr>
              <p:cNvPr id="404" name="TextBox 404"/>
              <p:cNvSpPr txBox="1"/>
              <p:nvPr/>
            </p:nvSpPr>
            <p:spPr>
              <a:xfrm>
                <a:off x="4060762" y="5410676"/>
                <a:ext cx="584327" cy="295275"/>
              </a:xfrm>
              <a:prstGeom prst="rect">
                <a:avLst/>
              </a:prstGeom>
              <a:noFill/>
              <a:ln>
                <a:noFill/>
              </a:ln>
            </p:spPr>
            <p:txBody>
              <a:bodyPr wrap="none" lIns="0" tIns="0" rIns="0" bIns="0" anchor="t" anchorCtr="0">
                <a:spAutoFit/>
              </a:bodyPr>
              <a:lstStyle/>
              <a:p>
                <a:pPr algn="ctr" marL="76200" indent="-76200">
                  <a:lnSpc>
                    <a:spcPts val="750"/>
                  </a:lnSpc>
                  <a:buClr>
                    <a:srgbClr val="514340"/>
                  </a:buClr>
                  <a:buSzTx/>
                  <a:buFontTx/>
                  <a:buChar char="•"/>
                </a:pPr>
                <a:r>
                  <a:rPr lang="zh-CN" sz="520" dirty="0">
                    <a:solidFill>
                      <a:srgbClr val="514340"/>
                    </a:solidFill>
                    <a:latin typeface="+mn-lt"/>
                    <a:ea typeface="+mn-ea"/>
                    <a:cs typeface="+mn-cs"/>
                  </a:rPr>
                  <a:t>物料到位检查​</a:t>
                </a:r>
              </a:p>
              <a:p>
                <a:pPr algn="ctr" marL="76200" indent="-76200">
                  <a:lnSpc>
                    <a:spcPts val="750"/>
                  </a:lnSpc>
                  <a:buClr>
                    <a:srgbClr val="514340"/>
                  </a:buClr>
                  <a:buSzTx/>
                  <a:buFontTx/>
                  <a:buChar char="•"/>
                </a:pPr>
                <a:r>
                  <a:rPr lang="zh-CN" sz="520" dirty="0">
                    <a:solidFill>
                      <a:srgbClr val="514340"/>
                    </a:solidFill>
                    <a:latin typeface="+mn-lt"/>
                    <a:ea typeface="+mn-ea"/>
                    <a:cs typeface="+mn-cs"/>
                  </a:rPr>
                  <a:t>系统与网络确认​</a:t>
                </a:r>
              </a:p>
              <a:p>
                <a:pPr algn="ctr" marL="76200" indent="-76200">
                  <a:lnSpc>
                    <a:spcPts val="750"/>
                  </a:lnSpc>
                  <a:buClr>
                    <a:srgbClr val="514340"/>
                  </a:buClr>
                  <a:buSzTx/>
                  <a:buFontTx/>
                  <a:buChar char="•"/>
                </a:pPr>
                <a:r>
                  <a:rPr lang="zh-CN" sz="520" dirty="0">
                    <a:solidFill>
                      <a:srgbClr val="514340"/>
                    </a:solidFill>
                    <a:latin typeface="+mn-lt"/>
                    <a:ea typeface="+mn-ea"/>
                    <a:cs typeface="+mn-cs"/>
                  </a:rPr>
                  <a:t>合规内容复核​</a:t>
                </a:r>
              </a:p>
            </p:txBody>
          </p:sp>
          <p:sp>
            <p:nvSpPr>
              <p:cNvPr id="405" name="Ellipse 405"/>
              <p:cNvSpPr/>
              <p:nvPr/>
            </p:nvSpPr>
            <p:spPr>
              <a:xfrm>
                <a:off x="5105400" y="4762500"/>
                <a:ext cx="228600" cy="228600"/>
              </a:xfrm>
              <a:prstGeom prst="ellipse">
                <a:avLst/>
              </a:prstGeom>
              <a:solidFill>
                <a:srgbClr val="5D190B"/>
              </a:solidFill>
              <a:ln>
                <a:noFill/>
              </a:ln>
            </p:spPr>
          </p:sp>
          <p:grpSp>
            <p:nvGrpSpPr>
              <p:cNvPr id="409" name="Group 409"/>
              <p:cNvGrpSpPr/>
              <p:nvPr/>
            </p:nvGrpSpPr>
            <p:grpSpPr>
              <a:xfrm>
                <a:off x="5169694" y="4826794"/>
                <a:ext cx="100012" cy="100012"/>
                <a:chOff x="5169694" y="4826794"/>
                <a:chExt cx="100012" cy="100012"/>
              </a:xfrm>
            </p:grpSpPr>
            <p:sp>
              <p:nvSpPr>
                <p:cNvPr id="406" name="Freeform 406"/>
                <p:cNvSpPr/>
                <p:nvPr/>
              </p:nvSpPr>
              <p:spPr>
                <a:xfrm>
                  <a:off x="5214144" y="487124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407" name="Freeform 407"/>
                <p:cNvSpPr/>
                <p:nvPr/>
              </p:nvSpPr>
              <p:spPr>
                <a:xfrm>
                  <a:off x="5191919" y="4849019"/>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408" name="Freeform 408"/>
                <p:cNvSpPr/>
                <p:nvPr/>
              </p:nvSpPr>
              <p:spPr>
                <a:xfrm>
                  <a:off x="5169694" y="48267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410" name="TextBox 410"/>
              <p:cNvSpPr txBox="1"/>
              <p:nvPr/>
            </p:nvSpPr>
            <p:spPr>
              <a:xfrm>
                <a:off x="5098294" y="5085636"/>
                <a:ext cx="242813" cy="140494"/>
              </a:xfrm>
              <a:prstGeom prst="rect">
                <a:avLst/>
              </a:prstGeom>
              <a:noFill/>
              <a:ln>
                <a:noFill/>
              </a:ln>
            </p:spPr>
            <p:txBody>
              <a:bodyPr wrap="none" lIns="0" tIns="0" rIns="0" bIns="0" anchor="t" anchorCtr="0">
                <a:spAutoFit/>
              </a:bodyPr>
              <a:lstStyle/>
              <a:p>
                <a:pPr algn="ctr"/>
                <a:r>
                  <a:rPr lang="en-US" sz="710" b="1" dirty="0">
                    <a:solidFill>
                      <a:srgbClr val="76200F"/>
                    </a:solidFill>
                    <a:latin typeface="+mn-lt"/>
                    <a:ea typeface="+mn-ea"/>
                    <a:cs typeface="+mn-cs"/>
                  </a:rPr>
                  <a:t>T+0​</a:t>
                </a:r>
              </a:p>
            </p:txBody>
          </p:sp>
          <p:sp>
            <p:nvSpPr>
              <p:cNvPr id="411" name="TextBox 411"/>
              <p:cNvSpPr txBox="1"/>
              <p:nvPr/>
            </p:nvSpPr>
            <p:spPr>
              <a:xfrm>
                <a:off x="5031854" y="522303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现场指挥</a:t>
                </a:r>
              </a:p>
            </p:txBody>
          </p:sp>
          <p:sp>
            <p:nvSpPr>
              <p:cNvPr id="412" name="TextBox 412"/>
              <p:cNvSpPr txBox="1"/>
              <p:nvPr/>
            </p:nvSpPr>
            <p:spPr>
              <a:xfrm>
                <a:off x="4927536" y="5410676"/>
                <a:ext cx="584327" cy="295275"/>
              </a:xfrm>
              <a:prstGeom prst="rect">
                <a:avLst/>
              </a:prstGeom>
              <a:noFill/>
              <a:ln>
                <a:noFill/>
              </a:ln>
            </p:spPr>
            <p:txBody>
              <a:bodyPr wrap="none" lIns="0" tIns="0" rIns="0" bIns="0" anchor="t" anchorCtr="0">
                <a:spAutoFit/>
              </a:bodyPr>
              <a:lstStyle/>
              <a:p>
                <a:pPr algn="ctr" marL="76200" indent="-76200">
                  <a:lnSpc>
                    <a:spcPts val="750"/>
                  </a:lnSpc>
                  <a:buClr>
                    <a:srgbClr val="514340"/>
                  </a:buClr>
                  <a:buSzTx/>
                  <a:buFontTx/>
                  <a:buChar char="•"/>
                </a:pPr>
                <a:r>
                  <a:rPr lang="zh-CN" sz="520" dirty="0">
                    <a:solidFill>
                      <a:srgbClr val="514340"/>
                    </a:solidFill>
                    <a:latin typeface="+mn-lt"/>
                    <a:ea typeface="+mn-ea"/>
                    <a:cs typeface="+mn-cs"/>
                  </a:rPr>
                  <a:t>战情监控与调度​</a:t>
                </a:r>
              </a:p>
              <a:p>
                <a:pPr algn="ctr" marL="76200" indent="-76200">
                  <a:lnSpc>
                    <a:spcPts val="750"/>
                  </a:lnSpc>
                  <a:buClr>
                    <a:srgbClr val="514340"/>
                  </a:buClr>
                  <a:buSzTx/>
                  <a:buFontTx/>
                  <a:buChar char="•"/>
                </a:pPr>
                <a:r>
                  <a:rPr lang="zh-CN" sz="520" dirty="0">
                    <a:solidFill>
                      <a:srgbClr val="514340"/>
                    </a:solidFill>
                    <a:latin typeface="+mn-lt"/>
                    <a:ea typeface="+mn-ea"/>
                    <a:cs typeface="+mn-cs"/>
                  </a:rPr>
                  <a:t>实时数据跟踪​</a:t>
                </a:r>
              </a:p>
              <a:p>
                <a:pPr algn="ctr" marL="76200" indent="-76200">
                  <a:lnSpc>
                    <a:spcPts val="750"/>
                  </a:lnSpc>
                  <a:buClr>
                    <a:srgbClr val="514340"/>
                  </a:buClr>
                  <a:buSzTx/>
                  <a:buFontTx/>
                  <a:buChar char="•"/>
                </a:pPr>
                <a:r>
                  <a:rPr lang="zh-CN" sz="520" dirty="0">
                    <a:solidFill>
                      <a:srgbClr val="514340"/>
                    </a:solidFill>
                    <a:latin typeface="+mn-lt"/>
                    <a:ea typeface="+mn-ea"/>
                    <a:cs typeface="+mn-cs"/>
                  </a:rPr>
                  <a:t>突发问题处理​</a:t>
                </a:r>
              </a:p>
            </p:txBody>
          </p:sp>
          <p:sp>
            <p:nvSpPr>
              <p:cNvPr id="413" name="Ellipse 413"/>
              <p:cNvSpPr/>
              <p:nvPr/>
            </p:nvSpPr>
            <p:spPr>
              <a:xfrm>
                <a:off x="5972175" y="4762500"/>
                <a:ext cx="228600" cy="228600"/>
              </a:xfrm>
              <a:prstGeom prst="ellipse">
                <a:avLst/>
              </a:prstGeom>
              <a:solidFill>
                <a:srgbClr val="76200F"/>
              </a:solidFill>
              <a:ln>
                <a:noFill/>
              </a:ln>
            </p:spPr>
          </p:sp>
          <p:sp>
            <p:nvSpPr>
              <p:cNvPr id="414" name="Freeform 414"/>
              <p:cNvSpPr/>
              <p:nvPr/>
            </p:nvSpPr>
            <p:spPr>
              <a:xfrm>
                <a:off x="6030779" y="4828044"/>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FFFFFF"/>
                </a:solidFill>
              </a:ln>
            </p:spPr>
          </p:sp>
          <p:sp>
            <p:nvSpPr>
              <p:cNvPr id="415" name="TextBox 415"/>
              <p:cNvSpPr txBox="1"/>
              <p:nvPr/>
            </p:nvSpPr>
            <p:spPr>
              <a:xfrm>
                <a:off x="5965069" y="5085636"/>
                <a:ext cx="242813" cy="140494"/>
              </a:xfrm>
              <a:prstGeom prst="rect">
                <a:avLst/>
              </a:prstGeom>
              <a:noFill/>
              <a:ln>
                <a:noFill/>
              </a:ln>
            </p:spPr>
            <p:txBody>
              <a:bodyPr wrap="none" lIns="0" tIns="0" rIns="0" bIns="0" anchor="t" anchorCtr="0">
                <a:spAutoFit/>
              </a:bodyPr>
              <a:lstStyle/>
              <a:p>
                <a:pPr algn="ctr"/>
                <a:r>
                  <a:rPr lang="en-US" sz="710" b="1" dirty="0">
                    <a:solidFill>
                      <a:srgbClr val="76200F"/>
                    </a:solidFill>
                    <a:latin typeface="+mn-lt"/>
                    <a:ea typeface="+mn-ea"/>
                    <a:cs typeface="+mn-cs"/>
                  </a:rPr>
                  <a:t>T+1​</a:t>
                </a:r>
              </a:p>
            </p:txBody>
          </p:sp>
          <p:sp>
            <p:nvSpPr>
              <p:cNvPr id="416" name="TextBox 416"/>
              <p:cNvSpPr txBox="1"/>
              <p:nvPr/>
            </p:nvSpPr>
            <p:spPr>
              <a:xfrm>
                <a:off x="5990171" y="5223034"/>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回访</a:t>
                </a:r>
              </a:p>
            </p:txBody>
          </p:sp>
          <p:sp>
            <p:nvSpPr>
              <p:cNvPr id="417" name="TextBox 417"/>
              <p:cNvSpPr txBox="1"/>
              <p:nvPr/>
            </p:nvSpPr>
            <p:spPr>
              <a:xfrm>
                <a:off x="5728272" y="5410676"/>
                <a:ext cx="716407" cy="295275"/>
              </a:xfrm>
              <a:prstGeom prst="rect">
                <a:avLst/>
              </a:prstGeom>
              <a:noFill/>
              <a:ln>
                <a:noFill/>
              </a:ln>
            </p:spPr>
            <p:txBody>
              <a:bodyPr wrap="none" lIns="0" tIns="0" rIns="0" bIns="0" anchor="t" anchorCtr="0">
                <a:spAutoFit/>
              </a:bodyPr>
              <a:lstStyle/>
              <a:p>
                <a:pPr algn="ctr" marL="76200" indent="-76200">
                  <a:lnSpc>
                    <a:spcPts val="750"/>
                  </a:lnSpc>
                  <a:buClr>
                    <a:srgbClr val="514340"/>
                  </a:buClr>
                  <a:buSzTx/>
                  <a:buFontTx/>
                  <a:buChar char="•"/>
                </a:pPr>
                <a:r>
                  <a:rPr lang="zh-CN" sz="520" dirty="0">
                    <a:solidFill>
                      <a:srgbClr val="514340"/>
                    </a:solidFill>
                    <a:latin typeface="+mn-lt"/>
                    <a:ea typeface="+mn-ea"/>
                    <a:cs typeface="+mn-cs"/>
                  </a:rPr>
                  <a:t>客户回访与线索分发​</a:t>
                </a:r>
              </a:p>
              <a:p>
                <a:pPr algn="ctr" marL="76200" indent="-76200">
                  <a:lnSpc>
                    <a:spcPts val="750"/>
                  </a:lnSpc>
                  <a:buClr>
                    <a:srgbClr val="514340"/>
                  </a:buClr>
                  <a:buSzTx/>
                  <a:buFontTx/>
                  <a:buChar char="•"/>
                </a:pPr>
                <a:r>
                  <a:rPr lang="zh-CN" sz="520" dirty="0">
                    <a:solidFill>
                      <a:srgbClr val="514340"/>
                    </a:solidFill>
                    <a:latin typeface="+mn-lt"/>
                    <a:ea typeface="+mn-ea"/>
                    <a:cs typeface="+mn-cs"/>
                  </a:rPr>
                  <a:t>活动满意度收集​</a:t>
                </a:r>
              </a:p>
              <a:p>
                <a:pPr algn="ctr" marL="76200" indent="-76200">
                  <a:lnSpc>
                    <a:spcPts val="750"/>
                  </a:lnSpc>
                  <a:buClr>
                    <a:srgbClr val="514340"/>
                  </a:buClr>
                  <a:buSzTx/>
                  <a:buFontTx/>
                  <a:buChar char="•"/>
                </a:pPr>
                <a:r>
                  <a:rPr lang="zh-CN" sz="520" dirty="0">
                    <a:solidFill>
                      <a:srgbClr val="514340"/>
                    </a:solidFill>
                    <a:latin typeface="+mn-lt"/>
                    <a:ea typeface="+mn-ea"/>
                    <a:cs typeface="+mn-cs"/>
                  </a:rPr>
                  <a:t>问题闭环处理​</a:t>
                </a:r>
              </a:p>
            </p:txBody>
          </p:sp>
          <p:sp>
            <p:nvSpPr>
              <p:cNvPr id="418" name="Ellipse 418"/>
              <p:cNvSpPr/>
              <p:nvPr/>
            </p:nvSpPr>
            <p:spPr>
              <a:xfrm>
                <a:off x="6838950" y="4762500"/>
                <a:ext cx="228600" cy="228600"/>
              </a:xfrm>
              <a:prstGeom prst="ellipse">
                <a:avLst/>
              </a:prstGeom>
              <a:solidFill>
                <a:srgbClr val="852512"/>
              </a:solidFill>
              <a:ln>
                <a:noFill/>
              </a:ln>
            </p:spPr>
          </p:sp>
          <p:grpSp>
            <p:nvGrpSpPr>
              <p:cNvPr id="423" name="Group 423"/>
              <p:cNvGrpSpPr/>
              <p:nvPr/>
            </p:nvGrpSpPr>
            <p:grpSpPr>
              <a:xfrm>
                <a:off x="6903244" y="4832350"/>
                <a:ext cx="100012" cy="98425"/>
                <a:chOff x="6903244" y="4832350"/>
                <a:chExt cx="100012" cy="98425"/>
              </a:xfrm>
            </p:grpSpPr>
            <p:sp>
              <p:nvSpPr>
                <p:cNvPr id="419" name="Freeform 419"/>
                <p:cNvSpPr/>
                <p:nvPr/>
              </p:nvSpPr>
              <p:spPr>
                <a:xfrm>
                  <a:off x="6903244" y="4876800"/>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FFFFFF"/>
                  </a:solidFill>
                </a:ln>
              </p:spPr>
            </p:sp>
            <p:sp>
              <p:nvSpPr>
                <p:cNvPr id="420" name="Freeform 420"/>
                <p:cNvSpPr/>
                <p:nvPr/>
              </p:nvSpPr>
              <p:spPr>
                <a:xfrm>
                  <a:off x="6969919" y="4854575"/>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FFFFFF"/>
                  </a:solidFill>
                </a:ln>
              </p:spPr>
            </p:sp>
            <p:sp>
              <p:nvSpPr>
                <p:cNvPr id="421" name="Freeform 421"/>
                <p:cNvSpPr/>
                <p:nvPr/>
              </p:nvSpPr>
              <p:spPr>
                <a:xfrm>
                  <a:off x="6936581" y="4832350"/>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FFFFFF"/>
                  </a:solidFill>
                </a:ln>
              </p:spPr>
            </p:sp>
            <p:sp>
              <p:nvSpPr>
                <p:cNvPr id="422" name="Freeform 422"/>
                <p:cNvSpPr/>
                <p:nvPr/>
              </p:nvSpPr>
              <p:spPr>
                <a:xfrm>
                  <a:off x="6908800" y="4921250"/>
                  <a:ext cx="77787" cy="9525"/>
                </a:xfrm>
                <a:custGeom>
                  <a:avLst/>
                  <a:gdLst/>
                  <a:ahLst/>
                  <a:cxnLst/>
                  <a:rect l="l" t="t" r="r" b="b"/>
                  <a:pathLst>
                    <a:path w="77787" h="9525">
                      <a:moveTo>
                        <a:pt x="0" y="0"/>
                      </a:moveTo>
                      <a:lnTo>
                        <a:pt x="77787" y="0"/>
                      </a:lnTo>
                    </a:path>
                  </a:pathLst>
                </a:custGeom>
                <a:noFill/>
                <a:ln w="11112">
                  <a:solidFill>
                    <a:srgbClr val="FFFFFF"/>
                  </a:solidFill>
                </a:ln>
              </p:spPr>
            </p:sp>
          </p:grpSp>
          <p:sp>
            <p:nvSpPr>
              <p:cNvPr id="424" name="TextBox 424"/>
              <p:cNvSpPr txBox="1"/>
              <p:nvPr/>
            </p:nvSpPr>
            <p:spPr>
              <a:xfrm>
                <a:off x="6831844" y="5085636"/>
                <a:ext cx="242813" cy="140494"/>
              </a:xfrm>
              <a:prstGeom prst="rect">
                <a:avLst/>
              </a:prstGeom>
              <a:noFill/>
              <a:ln>
                <a:noFill/>
              </a:ln>
            </p:spPr>
            <p:txBody>
              <a:bodyPr wrap="none" lIns="0" tIns="0" rIns="0" bIns="0" anchor="t" anchorCtr="0">
                <a:spAutoFit/>
              </a:bodyPr>
              <a:lstStyle/>
              <a:p>
                <a:pPr algn="ctr"/>
                <a:r>
                  <a:rPr lang="en-US" sz="710" b="1" dirty="0">
                    <a:solidFill>
                      <a:srgbClr val="76200F"/>
                    </a:solidFill>
                    <a:latin typeface="+mn-lt"/>
                    <a:ea typeface="+mn-ea"/>
                    <a:cs typeface="+mn-cs"/>
                  </a:rPr>
                  <a:t>T+7​</a:t>
                </a:r>
              </a:p>
            </p:txBody>
          </p:sp>
          <p:sp>
            <p:nvSpPr>
              <p:cNvPr id="425" name="TextBox 425"/>
              <p:cNvSpPr txBox="1"/>
              <p:nvPr/>
            </p:nvSpPr>
            <p:spPr>
              <a:xfrm>
                <a:off x="6856946" y="5223034"/>
                <a:ext cx="192608"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复盘</a:t>
                </a:r>
              </a:p>
            </p:txBody>
          </p:sp>
          <p:sp>
            <p:nvSpPr>
              <p:cNvPr id="426" name="TextBox 426"/>
              <p:cNvSpPr txBox="1"/>
              <p:nvPr/>
            </p:nvSpPr>
            <p:spPr>
              <a:xfrm>
                <a:off x="6661086" y="5410676"/>
                <a:ext cx="584327" cy="295275"/>
              </a:xfrm>
              <a:prstGeom prst="rect">
                <a:avLst/>
              </a:prstGeom>
              <a:noFill/>
              <a:ln>
                <a:noFill/>
              </a:ln>
            </p:spPr>
            <p:txBody>
              <a:bodyPr wrap="none" lIns="0" tIns="0" rIns="0" bIns="0" anchor="t" anchorCtr="0">
                <a:spAutoFit/>
              </a:bodyPr>
              <a:lstStyle/>
              <a:p>
                <a:pPr algn="ctr" marL="76200" indent="-76200">
                  <a:lnSpc>
                    <a:spcPts val="750"/>
                  </a:lnSpc>
                  <a:buClr>
                    <a:srgbClr val="514340"/>
                  </a:buClr>
                  <a:buSzTx/>
                  <a:buFontTx/>
                  <a:buChar char="•"/>
                </a:pPr>
                <a:r>
                  <a:rPr lang="zh-CN" sz="520" dirty="0">
                    <a:solidFill>
                      <a:srgbClr val="514340"/>
                    </a:solidFill>
                    <a:latin typeface="+mn-lt"/>
                    <a:ea typeface="+mn-ea"/>
                    <a:cs typeface="+mn-cs"/>
                  </a:rPr>
                  <a:t>核心指标盘点​</a:t>
                </a:r>
              </a:p>
              <a:p>
                <a:pPr algn="ctr" marL="76200" indent="-76200">
                  <a:lnSpc>
                    <a:spcPts val="750"/>
                  </a:lnSpc>
                  <a:buClr>
                    <a:srgbClr val="514340"/>
                  </a:buClr>
                  <a:buSzTx/>
                  <a:buFontTx/>
                  <a:buChar char="•"/>
                </a:pPr>
                <a:r>
                  <a:rPr lang="zh-CN" sz="520" dirty="0">
                    <a:solidFill>
                      <a:srgbClr val="514340"/>
                    </a:solidFill>
                    <a:latin typeface="+mn-lt"/>
                    <a:ea typeface="+mn-ea"/>
                    <a:cs typeface="+mn-cs"/>
                  </a:rPr>
                  <a:t>数据沉淀与优化​</a:t>
                </a:r>
              </a:p>
              <a:p>
                <a:pPr algn="ctr" marL="76200" indent="-76200">
                  <a:lnSpc>
                    <a:spcPts val="750"/>
                  </a:lnSpc>
                  <a:buClr>
                    <a:srgbClr val="514340"/>
                  </a:buClr>
                  <a:buSzTx/>
                  <a:buFontTx/>
                  <a:buChar char="•"/>
                </a:pPr>
                <a:r>
                  <a:rPr lang="zh-CN" sz="520" dirty="0">
                    <a:solidFill>
                      <a:srgbClr val="514340"/>
                    </a:solidFill>
                    <a:latin typeface="+mn-lt"/>
                    <a:ea typeface="+mn-ea"/>
                    <a:cs typeface="+mn-cs"/>
                  </a:rPr>
                  <a:t>输出标准化指引​</a:t>
                </a:r>
              </a:p>
            </p:txBody>
          </p:sp>
          <p:sp>
            <p:nvSpPr>
              <p:cNvPr id="427" name="Ellipse 427"/>
              <p:cNvSpPr/>
              <p:nvPr/>
            </p:nvSpPr>
            <p:spPr>
              <a:xfrm>
                <a:off x="7705725" y="4762500"/>
                <a:ext cx="228600" cy="228600"/>
              </a:xfrm>
              <a:prstGeom prst="ellipse">
                <a:avLst/>
              </a:prstGeom>
              <a:solidFill>
                <a:srgbClr val="5D190B"/>
              </a:solidFill>
              <a:ln>
                <a:noFill/>
              </a:ln>
            </p:spPr>
          </p:sp>
          <p:grpSp>
            <p:nvGrpSpPr>
              <p:cNvPr id="430" name="Group 430"/>
              <p:cNvGrpSpPr/>
              <p:nvPr/>
            </p:nvGrpSpPr>
            <p:grpSpPr>
              <a:xfrm>
                <a:off x="7770019" y="4837906"/>
                <a:ext cx="100012" cy="81733"/>
                <a:chOff x="7770019" y="4837906"/>
                <a:chExt cx="100012" cy="81733"/>
              </a:xfrm>
            </p:grpSpPr>
            <p:sp>
              <p:nvSpPr>
                <p:cNvPr id="428" name="Freeform 428"/>
                <p:cNvSpPr/>
                <p:nvPr/>
              </p:nvSpPr>
              <p:spPr>
                <a:xfrm>
                  <a:off x="7770019" y="4837906"/>
                  <a:ext cx="100012" cy="81733"/>
                </a:xfrm>
                <a:custGeom>
                  <a:avLst/>
                  <a:gdLst/>
                  <a:ahLst/>
                  <a:cxnLst/>
                  <a:rect l="l" t="t" r="r" b="b"/>
                  <a:pathLst>
                    <a:path w="100012" h="81733">
                      <a:moveTo>
                        <a:pt x="16669" y="0"/>
                      </a:moveTo>
                      <a:lnTo>
                        <a:pt x="83344" y="0"/>
                      </a:lnTo>
                      <a:lnTo>
                        <a:pt x="100012" y="27781"/>
                      </a:lnTo>
                      <a:lnTo>
                        <a:pt x="52784" y="80566"/>
                      </a:lnTo>
                      <a:cubicBezTo>
                        <a:pt x="52053" y="81312"/>
                        <a:pt x="51052" y="81733"/>
                        <a:pt x="50006" y="81733"/>
                      </a:cubicBezTo>
                      <a:cubicBezTo>
                        <a:pt x="48961" y="81733"/>
                        <a:pt x="47960" y="81312"/>
                        <a:pt x="47228" y="80566"/>
                      </a:cubicBezTo>
                      <a:lnTo>
                        <a:pt x="0" y="27781"/>
                      </a:lnTo>
                      <a:lnTo>
                        <a:pt x="16669" y="0"/>
                      </a:lnTo>
                    </a:path>
                  </a:pathLst>
                </a:custGeom>
                <a:noFill/>
                <a:ln w="11112">
                  <a:solidFill>
                    <a:srgbClr val="FFFFFF"/>
                  </a:solidFill>
                </a:ln>
              </p:spPr>
            </p:sp>
            <p:sp>
              <p:nvSpPr>
                <p:cNvPr id="429" name="Freeform 429"/>
                <p:cNvSpPr/>
                <p:nvPr/>
              </p:nvSpPr>
              <p:spPr>
                <a:xfrm>
                  <a:off x="7797800" y="4859020"/>
                  <a:ext cx="11112" cy="17780"/>
                </a:xfrm>
                <a:custGeom>
                  <a:avLst/>
                  <a:gdLst/>
                  <a:ahLst/>
                  <a:cxnLst/>
                  <a:rect l="l" t="t" r="r" b="b"/>
                  <a:pathLst>
                    <a:path w="11112" h="17780">
                      <a:moveTo>
                        <a:pt x="11112" y="17780"/>
                      </a:moveTo>
                      <a:lnTo>
                        <a:pt x="0" y="5556"/>
                      </a:lnTo>
                      <a:lnTo>
                        <a:pt x="3334" y="0"/>
                      </a:lnTo>
                    </a:path>
                  </a:pathLst>
                </a:custGeom>
                <a:noFill/>
                <a:ln w="11112">
                  <a:solidFill>
                    <a:srgbClr val="FFFFFF"/>
                  </a:solidFill>
                </a:ln>
              </p:spPr>
            </p:sp>
          </p:grpSp>
          <p:sp>
            <p:nvSpPr>
              <p:cNvPr id="431" name="TextBox 431"/>
              <p:cNvSpPr txBox="1"/>
              <p:nvPr/>
            </p:nvSpPr>
            <p:spPr>
              <a:xfrm>
                <a:off x="7640297" y="5085636"/>
                <a:ext cx="359457" cy="140494"/>
              </a:xfrm>
              <a:prstGeom prst="rect">
                <a:avLst/>
              </a:prstGeom>
              <a:noFill/>
              <a:ln>
                <a:noFill/>
              </a:ln>
            </p:spPr>
            <p:txBody>
              <a:bodyPr wrap="none" lIns="0" tIns="0" rIns="0" bIns="0" anchor="t" anchorCtr="0">
                <a:spAutoFit/>
              </a:bodyPr>
              <a:lstStyle/>
              <a:p>
                <a:pPr algn="ctr"/>
                <a:r>
                  <a:rPr lang="en-US" sz="710" b="1" dirty="0">
                    <a:solidFill>
                      <a:srgbClr val="76200F"/>
                    </a:solidFill>
                    <a:latin typeface="+mn-lt"/>
                    <a:ea typeface="+mn-ea"/>
                    <a:cs typeface="+mn-cs"/>
                  </a:rPr>
                  <a:t>T+30​​</a:t>
                </a:r>
              </a:p>
            </p:txBody>
          </p:sp>
          <p:sp>
            <p:nvSpPr>
              <p:cNvPr id="432" name="TextBox 432"/>
              <p:cNvSpPr txBox="1"/>
              <p:nvPr/>
            </p:nvSpPr>
            <p:spPr>
              <a:xfrm>
                <a:off x="7632179" y="5223034"/>
                <a:ext cx="375691" cy="133350"/>
              </a:xfrm>
              <a:prstGeom prst="rect">
                <a:avLst/>
              </a:prstGeom>
              <a:noFill/>
              <a:ln>
                <a:noFill/>
              </a:ln>
            </p:spPr>
            <p:txBody>
              <a:bodyPr wrap="none" lIns="0" tIns="0" rIns="0" bIns="0" anchor="t" anchorCtr="0">
                <a:spAutoFit/>
              </a:bodyPr>
              <a:lstStyle/>
              <a:p>
                <a:pPr algn="ctr"/>
                <a:r>
                  <a:rPr lang="zh-CN" sz="680" b="1" dirty="0">
                    <a:solidFill>
                      <a:srgbClr val="331712"/>
                    </a:solidFill>
                    <a:latin typeface="+mn-lt"/>
                    <a:ea typeface="+mn-ea"/>
                    <a:cs typeface="+mn-cs"/>
                  </a:rPr>
                  <a:t>价值评估</a:t>
                </a:r>
              </a:p>
            </p:txBody>
          </p:sp>
          <p:sp>
            <p:nvSpPr>
              <p:cNvPr id="433" name="TextBox 433"/>
              <p:cNvSpPr txBox="1"/>
              <p:nvPr/>
            </p:nvSpPr>
            <p:spPr>
              <a:xfrm>
                <a:off x="7456868" y="5410676"/>
                <a:ext cx="726313" cy="295275"/>
              </a:xfrm>
              <a:prstGeom prst="rect">
                <a:avLst/>
              </a:prstGeom>
              <a:noFill/>
              <a:ln>
                <a:noFill/>
              </a:ln>
            </p:spPr>
            <p:txBody>
              <a:bodyPr wrap="none" lIns="0" tIns="0" rIns="0" bIns="0" anchor="t" anchorCtr="0">
                <a:spAutoFit/>
              </a:bodyPr>
              <a:lstStyle/>
              <a:p>
                <a:pPr algn="ctr" marL="76200" indent="-76200">
                  <a:lnSpc>
                    <a:spcPts val="750"/>
                  </a:lnSpc>
                  <a:buClr>
                    <a:srgbClr val="514340"/>
                  </a:buClr>
                  <a:buSzTx/>
                  <a:buFontTx/>
                  <a:buChar char="•"/>
                </a:pPr>
                <a:r>
                  <a:rPr lang="zh-CN" sz="520" dirty="0">
                    <a:solidFill>
                      <a:srgbClr val="514340"/>
                    </a:solidFill>
                    <a:latin typeface="+mn-lt"/>
                    <a:ea typeface="+mn-ea"/>
                    <a:cs typeface="+mn-cs"/>
                  </a:rPr>
                  <a:t>客户新增与转化​</a:t>
                </a:r>
              </a:p>
              <a:p>
                <a:pPr algn="ctr" marL="76200" indent="-76200">
                  <a:lnSpc>
                    <a:spcPts val="750"/>
                  </a:lnSpc>
                  <a:buClr>
                    <a:srgbClr val="514340"/>
                  </a:buClr>
                  <a:buSzTx/>
                  <a:buFontTx/>
                  <a:buChar char="•"/>
                </a:pPr>
                <a:r>
                  <a:rPr lang="zh-CN" sz="520" dirty="0">
                    <a:solidFill>
                      <a:srgbClr val="514340"/>
                    </a:solidFill>
                    <a:latin typeface="+mn-lt"/>
                    <a:ea typeface="+mn-ea"/>
                    <a:cs typeface="+mn-cs"/>
                  </a:rPr>
                  <a:t>生态合作成效​</a:t>
                </a:r>
              </a:p>
              <a:p>
                <a:pPr algn="ctr" marL="76200" indent="-76200">
                  <a:lnSpc>
                    <a:spcPts val="750"/>
                  </a:lnSpc>
                  <a:buClr>
                    <a:srgbClr val="514340"/>
                  </a:buClr>
                  <a:buSzTx/>
                  <a:buFontTx/>
                  <a:buChar char="•"/>
                </a:pPr>
                <a:r>
                  <a:rPr lang="zh-CN" sz="520" dirty="0">
                    <a:solidFill>
                      <a:srgbClr val="514340"/>
                    </a:solidFill>
                    <a:latin typeface="+mn-lt"/>
                    <a:ea typeface="+mn-ea"/>
                    <a:cs typeface="+mn-cs"/>
                  </a:rPr>
                  <a:t>ROI与长期价值评估​​</a:t>
                </a:r>
              </a:p>
            </p:txBody>
          </p:sp>
        </p:grpSp>
      </p:gr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header"/>
          <p:cNvGrpSpPr/>
          <p:nvPr/>
        </p:nvGrpSpPr>
        <p:grpSpPr>
          <a:xfrm>
            <a:off x="0" y="0"/>
            <a:ext cx="11930634" cy="551879"/>
            <a:chOff x="0" y="0"/>
            <a:chExt cx="11930634"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3" name="TextBox 3"/>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17​</a:t>
              </a:r>
            </a:p>
          </p:txBody>
        </p:sp>
        <p:sp>
          <p:nvSpPr>
            <p:cNvPr id="4" name="TextBox 4"/>
            <p:cNvSpPr txBox="1"/>
            <p:nvPr/>
          </p:nvSpPr>
          <p:spPr>
            <a:xfrm>
              <a:off x="904494" y="170498"/>
              <a:ext cx="5532501"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投入产出</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建立可比较、可复盘的活动评价体系</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6" name="TextBox 6"/>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17​</a:t>
              </a:r>
            </a:p>
          </p:txBody>
        </p:sp>
      </p:grpSp>
      <p:grpSp>
        <p:nvGrpSpPr>
          <p:cNvPr id="111" name="value-chain"/>
          <p:cNvGrpSpPr/>
          <p:nvPr/>
        </p:nvGrpSpPr>
        <p:grpSpPr>
          <a:xfrm>
            <a:off x="342900" y="704850"/>
            <a:ext cx="11239500" cy="800338"/>
            <a:chOff x="342900" y="704850"/>
            <a:chExt cx="11239500" cy="800338"/>
          </a:xfrm>
        </p:grpSpPr>
        <p:sp>
          <p:nvSpPr>
            <p:cNvPr id="8" name="Freeform 8"/>
            <p:cNvSpPr/>
            <p:nvPr/>
          </p:nvSpPr>
          <p:spPr>
            <a:xfrm>
              <a:off x="342900" y="704850"/>
              <a:ext cx="2781300" cy="285750"/>
            </a:xfrm>
            <a:prstGeom prst="chevron">
              <a:avLst/>
            </a:prstGeom>
            <a:solidFill>
              <a:srgbClr val="5D190B"/>
            </a:solidFill>
            <a:ln>
              <a:noFill/>
            </a:ln>
          </p:spPr>
        </p:sp>
        <p:sp>
          <p:nvSpPr>
            <p:cNvPr id="9" name="TextBox 9"/>
            <p:cNvSpPr txBox="1"/>
            <p:nvPr/>
          </p:nvSpPr>
          <p:spPr>
            <a:xfrm>
              <a:off x="1596669" y="7900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投入</a:t>
              </a:r>
            </a:p>
          </p:txBody>
        </p:sp>
        <p:grpSp>
          <p:nvGrpSpPr>
            <p:cNvPr id="13" name="Group 13"/>
            <p:cNvGrpSpPr/>
            <p:nvPr/>
          </p:nvGrpSpPr>
          <p:grpSpPr>
            <a:xfrm>
              <a:off x="516731" y="1145381"/>
              <a:ext cx="128588" cy="128588"/>
              <a:chOff x="516731" y="1145381"/>
              <a:chExt cx="128588" cy="128588"/>
            </a:xfrm>
          </p:grpSpPr>
          <p:sp>
            <p:nvSpPr>
              <p:cNvPr id="10" name="Freeform 10"/>
              <p:cNvSpPr/>
              <p:nvPr/>
            </p:nvSpPr>
            <p:spPr>
              <a:xfrm>
                <a:off x="516731" y="11453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76200F"/>
                </a:solidFill>
              </a:ln>
            </p:spPr>
          </p:sp>
          <p:sp>
            <p:nvSpPr>
              <p:cNvPr id="11" name="Freeform 11"/>
              <p:cNvSpPr/>
              <p:nvPr/>
            </p:nvSpPr>
            <p:spPr>
              <a:xfrm>
                <a:off x="531019" y="12096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76200F"/>
                </a:solidFill>
              </a:ln>
            </p:spPr>
          </p:sp>
          <p:sp>
            <p:nvSpPr>
              <p:cNvPr id="12" name="Freeform 12"/>
              <p:cNvSpPr/>
              <p:nvPr/>
            </p:nvSpPr>
            <p:spPr>
              <a:xfrm>
                <a:off x="559594" y="12168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76200F"/>
                </a:solidFill>
              </a:ln>
            </p:spPr>
          </p:sp>
        </p:grpSp>
        <p:sp>
          <p:nvSpPr>
            <p:cNvPr id="14" name="TextBox 14"/>
            <p:cNvSpPr txBox="1"/>
            <p:nvPr/>
          </p:nvSpPr>
          <p:spPr>
            <a:xfrm>
              <a:off x="4901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场地</a:t>
              </a:r>
            </a:p>
          </p:txBody>
        </p:sp>
        <p:grpSp>
          <p:nvGrpSpPr>
            <p:cNvPr id="17" name="Group 17"/>
            <p:cNvGrpSpPr/>
            <p:nvPr/>
          </p:nvGrpSpPr>
          <p:grpSpPr>
            <a:xfrm>
              <a:off x="951745" y="1142245"/>
              <a:ext cx="134860" cy="134860"/>
              <a:chOff x="951745" y="1142245"/>
              <a:chExt cx="134860" cy="134860"/>
            </a:xfrm>
          </p:grpSpPr>
          <p:sp>
            <p:nvSpPr>
              <p:cNvPr id="15" name="Freeform 15"/>
              <p:cNvSpPr/>
              <p:nvPr/>
            </p:nvSpPr>
            <p:spPr>
              <a:xfrm>
                <a:off x="951745" y="1142245"/>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76200F"/>
                </a:solidFill>
              </a:ln>
            </p:spPr>
          </p:sp>
          <p:sp>
            <p:nvSpPr>
              <p:cNvPr id="16" name="Freeform 16"/>
              <p:cNvSpPr/>
              <p:nvPr/>
            </p:nvSpPr>
            <p:spPr>
              <a:xfrm>
                <a:off x="997744" y="1188244"/>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76200F"/>
                </a:solidFill>
              </a:ln>
            </p:spPr>
          </p:sp>
        </p:grpSp>
        <p:sp>
          <p:nvSpPr>
            <p:cNvPr id="18" name="TextBox 18"/>
            <p:cNvSpPr txBox="1"/>
            <p:nvPr/>
          </p:nvSpPr>
          <p:spPr>
            <a:xfrm>
              <a:off x="92825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搭建</a:t>
              </a:r>
            </a:p>
          </p:txBody>
        </p:sp>
        <p:grpSp>
          <p:nvGrpSpPr>
            <p:cNvPr id="23" name="Group 23"/>
            <p:cNvGrpSpPr/>
            <p:nvPr/>
          </p:nvGrpSpPr>
          <p:grpSpPr>
            <a:xfrm>
              <a:off x="1393031" y="1145381"/>
              <a:ext cx="128588" cy="128588"/>
              <a:chOff x="1393031" y="1145381"/>
              <a:chExt cx="128588" cy="128588"/>
            </a:xfrm>
          </p:grpSpPr>
          <p:sp>
            <p:nvSpPr>
              <p:cNvPr id="19" name="Freeform 19"/>
              <p:cNvSpPr/>
              <p:nvPr/>
            </p:nvSpPr>
            <p:spPr>
              <a:xfrm>
                <a:off x="1407319" y="11453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6200F"/>
                </a:solidFill>
              </a:ln>
            </p:spPr>
          </p:sp>
          <p:sp>
            <p:nvSpPr>
              <p:cNvPr id="20" name="Freeform 20"/>
              <p:cNvSpPr/>
              <p:nvPr/>
            </p:nvSpPr>
            <p:spPr>
              <a:xfrm>
                <a:off x="1393031" y="12311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76200F"/>
                </a:solidFill>
              </a:ln>
            </p:spPr>
          </p:sp>
          <p:sp>
            <p:nvSpPr>
              <p:cNvPr id="21" name="Freeform 21"/>
              <p:cNvSpPr/>
              <p:nvPr/>
            </p:nvSpPr>
            <p:spPr>
              <a:xfrm>
                <a:off x="1485900" y="11463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76200F"/>
                </a:solidFill>
              </a:ln>
            </p:spPr>
          </p:sp>
          <p:sp>
            <p:nvSpPr>
              <p:cNvPr id="22" name="Freeform 22"/>
              <p:cNvSpPr/>
              <p:nvPr/>
            </p:nvSpPr>
            <p:spPr>
              <a:xfrm>
                <a:off x="1500188" y="123217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76200F"/>
                </a:solidFill>
              </a:ln>
            </p:spPr>
          </p:sp>
        </p:grpSp>
        <p:sp>
          <p:nvSpPr>
            <p:cNvPr id="24" name="TextBox 24"/>
            <p:cNvSpPr txBox="1"/>
            <p:nvPr/>
          </p:nvSpPr>
          <p:spPr>
            <a:xfrm>
              <a:off x="13664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人员</a:t>
              </a:r>
            </a:p>
          </p:txBody>
        </p:sp>
        <p:grpSp>
          <p:nvGrpSpPr>
            <p:cNvPr id="28" name="Group 28"/>
            <p:cNvGrpSpPr/>
            <p:nvPr/>
          </p:nvGrpSpPr>
          <p:grpSpPr>
            <a:xfrm>
              <a:off x="1834053" y="1145381"/>
              <a:ext cx="122830" cy="127802"/>
              <a:chOff x="1834053" y="1145381"/>
              <a:chExt cx="122830" cy="127802"/>
            </a:xfrm>
          </p:grpSpPr>
          <p:sp>
            <p:nvSpPr>
              <p:cNvPr id="25" name="Freeform 25"/>
              <p:cNvSpPr/>
              <p:nvPr/>
            </p:nvSpPr>
            <p:spPr>
              <a:xfrm>
                <a:off x="1852612" y="1145381"/>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14288">
                <a:solidFill>
                  <a:srgbClr val="76200F"/>
                </a:solidFill>
              </a:ln>
            </p:spPr>
          </p:sp>
          <p:sp>
            <p:nvSpPr>
              <p:cNvPr id="26" name="Freeform 26"/>
              <p:cNvSpPr/>
              <p:nvPr/>
            </p:nvSpPr>
            <p:spPr>
              <a:xfrm>
                <a:off x="1895475" y="1209675"/>
                <a:ext cx="61408" cy="63508"/>
              </a:xfrm>
              <a:custGeom>
                <a:avLst/>
                <a:gdLst/>
                <a:ahLst/>
                <a:cxnLst/>
                <a:rect l="l" t="t" r="r" b="b"/>
                <a:pathLst>
                  <a:path w="61408" h="63508">
                    <a:moveTo>
                      <a:pt x="0" y="21431"/>
                    </a:moveTo>
                    <a:lnTo>
                      <a:pt x="24289" y="63508"/>
                    </a:lnTo>
                    <a:lnTo>
                      <a:pt x="35704" y="40412"/>
                    </a:lnTo>
                    <a:lnTo>
                      <a:pt x="61408" y="42070"/>
                    </a:lnTo>
                    <a:lnTo>
                      <a:pt x="37119" y="0"/>
                    </a:lnTo>
                  </a:path>
                </a:pathLst>
              </a:custGeom>
              <a:noFill/>
              <a:ln w="14288">
                <a:solidFill>
                  <a:srgbClr val="76200F"/>
                </a:solidFill>
              </a:ln>
            </p:spPr>
          </p:sp>
          <p:sp>
            <p:nvSpPr>
              <p:cNvPr id="27" name="Freeform 27"/>
              <p:cNvSpPr/>
              <p:nvPr/>
            </p:nvSpPr>
            <p:spPr>
              <a:xfrm>
                <a:off x="1834053" y="1209675"/>
                <a:ext cx="61408" cy="63501"/>
              </a:xfrm>
              <a:custGeom>
                <a:avLst/>
                <a:gdLst/>
                <a:ahLst/>
                <a:cxnLst/>
                <a:rect l="l" t="t" r="r" b="b"/>
                <a:pathLst>
                  <a:path w="61408" h="63501">
                    <a:moveTo>
                      <a:pt x="24289" y="0"/>
                    </a:moveTo>
                    <a:lnTo>
                      <a:pt x="0" y="42077"/>
                    </a:lnTo>
                    <a:lnTo>
                      <a:pt x="25703" y="40412"/>
                    </a:lnTo>
                    <a:lnTo>
                      <a:pt x="37119" y="63501"/>
                    </a:lnTo>
                    <a:lnTo>
                      <a:pt x="61408" y="21431"/>
                    </a:lnTo>
                  </a:path>
                </a:pathLst>
              </a:custGeom>
              <a:noFill/>
              <a:ln w="14288">
                <a:solidFill>
                  <a:srgbClr val="76200F"/>
                </a:solidFill>
              </a:ln>
            </p:spPr>
          </p:sp>
        </p:grpSp>
        <p:sp>
          <p:nvSpPr>
            <p:cNvPr id="29" name="TextBox 29"/>
            <p:cNvSpPr txBox="1"/>
            <p:nvPr/>
          </p:nvSpPr>
          <p:spPr>
            <a:xfrm>
              <a:off x="180455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权益</a:t>
              </a:r>
            </a:p>
          </p:txBody>
        </p:sp>
        <p:grpSp>
          <p:nvGrpSpPr>
            <p:cNvPr id="33" name="Group 33"/>
            <p:cNvGrpSpPr/>
            <p:nvPr/>
          </p:nvGrpSpPr>
          <p:grpSpPr>
            <a:xfrm>
              <a:off x="2283619" y="1145381"/>
              <a:ext cx="100012" cy="128588"/>
              <a:chOff x="2283619" y="1145381"/>
              <a:chExt cx="100012" cy="128588"/>
            </a:xfrm>
          </p:grpSpPr>
          <p:sp>
            <p:nvSpPr>
              <p:cNvPr id="30" name="Freeform 30"/>
              <p:cNvSpPr/>
              <p:nvPr/>
            </p:nvSpPr>
            <p:spPr>
              <a:xfrm>
                <a:off x="2283619" y="1188244"/>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76200F"/>
                </a:solidFill>
              </a:ln>
            </p:spPr>
          </p:sp>
          <p:sp>
            <p:nvSpPr>
              <p:cNvPr id="31" name="Freeform 31"/>
              <p:cNvSpPr/>
              <p:nvPr/>
            </p:nvSpPr>
            <p:spPr>
              <a:xfrm>
                <a:off x="2333625" y="1145381"/>
                <a:ext cx="9525" cy="78581"/>
              </a:xfrm>
              <a:custGeom>
                <a:avLst/>
                <a:gdLst/>
                <a:ahLst/>
                <a:cxnLst/>
                <a:rect l="l" t="t" r="r" b="b"/>
                <a:pathLst>
                  <a:path w="9525" h="78581">
                    <a:moveTo>
                      <a:pt x="0" y="78581"/>
                    </a:moveTo>
                    <a:lnTo>
                      <a:pt x="0" y="0"/>
                    </a:lnTo>
                  </a:path>
                </a:pathLst>
              </a:custGeom>
              <a:noFill/>
              <a:ln w="14288">
                <a:solidFill>
                  <a:srgbClr val="76200F"/>
                </a:solidFill>
              </a:ln>
            </p:spPr>
          </p:sp>
          <p:sp>
            <p:nvSpPr>
              <p:cNvPr id="32" name="Freeform 32"/>
              <p:cNvSpPr/>
              <p:nvPr/>
            </p:nvSpPr>
            <p:spPr>
              <a:xfrm>
                <a:off x="2312194" y="1145381"/>
                <a:ext cx="42862" cy="21431"/>
              </a:xfrm>
              <a:custGeom>
                <a:avLst/>
                <a:gdLst/>
                <a:ahLst/>
                <a:cxnLst/>
                <a:rect l="l" t="t" r="r" b="b"/>
                <a:pathLst>
                  <a:path w="42862" h="21431">
                    <a:moveTo>
                      <a:pt x="0" y="21431"/>
                    </a:moveTo>
                    <a:lnTo>
                      <a:pt x="21431" y="0"/>
                    </a:lnTo>
                    <a:lnTo>
                      <a:pt x="42862" y="21431"/>
                    </a:lnTo>
                  </a:path>
                </a:pathLst>
              </a:custGeom>
              <a:noFill/>
              <a:ln w="14288">
                <a:solidFill>
                  <a:srgbClr val="76200F"/>
                </a:solidFill>
              </a:ln>
            </p:spPr>
          </p:sp>
        </p:grpSp>
        <p:sp>
          <p:nvSpPr>
            <p:cNvPr id="34" name="TextBox 34"/>
            <p:cNvSpPr txBox="1"/>
            <p:nvPr/>
          </p:nvSpPr>
          <p:spPr>
            <a:xfrm>
              <a:off x="22427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传播</a:t>
              </a:r>
            </a:p>
          </p:txBody>
        </p:sp>
        <p:grpSp>
          <p:nvGrpSpPr>
            <p:cNvPr id="38" name="Group 38"/>
            <p:cNvGrpSpPr/>
            <p:nvPr/>
          </p:nvGrpSpPr>
          <p:grpSpPr>
            <a:xfrm>
              <a:off x="2728912" y="1145381"/>
              <a:ext cx="85725" cy="128588"/>
              <a:chOff x="2728912" y="1145381"/>
              <a:chExt cx="85725" cy="128588"/>
            </a:xfrm>
          </p:grpSpPr>
          <p:sp>
            <p:nvSpPr>
              <p:cNvPr id="35" name="Freeform 35"/>
              <p:cNvSpPr/>
              <p:nvPr/>
            </p:nvSpPr>
            <p:spPr>
              <a:xfrm>
                <a:off x="2728912" y="1145381"/>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76200F"/>
                </a:solidFill>
              </a:ln>
            </p:spPr>
          </p:sp>
          <p:sp>
            <p:nvSpPr>
              <p:cNvPr id="36" name="Freeform 36"/>
              <p:cNvSpPr/>
              <p:nvPr/>
            </p:nvSpPr>
            <p:spPr>
              <a:xfrm>
                <a:off x="2764631" y="1152525"/>
                <a:ext cx="14288" cy="9525"/>
              </a:xfrm>
              <a:custGeom>
                <a:avLst/>
                <a:gdLst/>
                <a:ahLst/>
                <a:cxnLst/>
                <a:rect l="l" t="t" r="r" b="b"/>
                <a:pathLst>
                  <a:path w="14288" h="9525">
                    <a:moveTo>
                      <a:pt x="0" y="0"/>
                    </a:moveTo>
                    <a:lnTo>
                      <a:pt x="14288" y="0"/>
                    </a:lnTo>
                  </a:path>
                </a:pathLst>
              </a:custGeom>
              <a:noFill/>
              <a:ln w="14288">
                <a:solidFill>
                  <a:srgbClr val="76200F"/>
                </a:solidFill>
              </a:ln>
            </p:spPr>
          </p:sp>
          <p:sp>
            <p:nvSpPr>
              <p:cNvPr id="37" name="Freeform 37"/>
              <p:cNvSpPr/>
              <p:nvPr/>
            </p:nvSpPr>
            <p:spPr>
              <a:xfrm>
                <a:off x="2771775" y="1245394"/>
                <a:ext cx="9525" cy="9525"/>
              </a:xfrm>
              <a:custGeom>
                <a:avLst/>
                <a:gdLst/>
                <a:ahLst/>
                <a:cxnLst/>
                <a:rect l="l" t="t" r="r" b="b"/>
                <a:pathLst>
                  <a:path w="9525" h="9525">
                    <a:moveTo>
                      <a:pt x="0" y="0"/>
                    </a:moveTo>
                    <a:lnTo>
                      <a:pt x="0" y="71"/>
                    </a:lnTo>
                  </a:path>
                </a:pathLst>
              </a:custGeom>
              <a:noFill/>
              <a:ln w="14288">
                <a:solidFill>
                  <a:srgbClr val="76200F"/>
                </a:solidFill>
              </a:ln>
            </p:spPr>
          </p:sp>
        </p:grpSp>
        <p:sp>
          <p:nvSpPr>
            <p:cNvPr id="39" name="TextBox 39"/>
            <p:cNvSpPr txBox="1"/>
            <p:nvPr/>
          </p:nvSpPr>
          <p:spPr>
            <a:xfrm>
              <a:off x="268085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系统</a:t>
              </a:r>
            </a:p>
          </p:txBody>
        </p:sp>
        <p:sp>
          <p:nvSpPr>
            <p:cNvPr id="40" name="Freeform 40"/>
            <p:cNvSpPr/>
            <p:nvPr/>
          </p:nvSpPr>
          <p:spPr>
            <a:xfrm>
              <a:off x="3162300" y="704850"/>
              <a:ext cx="2781300" cy="285750"/>
            </a:xfrm>
            <a:prstGeom prst="chevron">
              <a:avLst/>
            </a:prstGeom>
            <a:solidFill>
              <a:srgbClr val="852512"/>
            </a:solidFill>
            <a:ln>
              <a:noFill/>
            </a:ln>
          </p:spPr>
        </p:sp>
        <p:sp>
          <p:nvSpPr>
            <p:cNvPr id="41" name="TextBox 41"/>
            <p:cNvSpPr txBox="1"/>
            <p:nvPr/>
          </p:nvSpPr>
          <p:spPr>
            <a:xfrm>
              <a:off x="4416069" y="7900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过程</a:t>
              </a:r>
            </a:p>
          </p:txBody>
        </p:sp>
        <p:grpSp>
          <p:nvGrpSpPr>
            <p:cNvPr id="48" name="Group 48"/>
            <p:cNvGrpSpPr/>
            <p:nvPr/>
          </p:nvGrpSpPr>
          <p:grpSpPr>
            <a:xfrm>
              <a:off x="3640931" y="1145381"/>
              <a:ext cx="128588" cy="128588"/>
              <a:chOff x="3640931" y="1145381"/>
              <a:chExt cx="128588" cy="128588"/>
            </a:xfrm>
          </p:grpSpPr>
          <p:sp>
            <p:nvSpPr>
              <p:cNvPr id="42" name="Freeform 42"/>
              <p:cNvSpPr/>
              <p:nvPr/>
            </p:nvSpPr>
            <p:spPr>
              <a:xfrm>
                <a:off x="3690938" y="12025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43" name="Freeform 43"/>
              <p:cNvSpPr/>
              <p:nvPr/>
            </p:nvSpPr>
            <p:spPr>
              <a:xfrm>
                <a:off x="3676650" y="125253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76200F"/>
                </a:solidFill>
              </a:ln>
            </p:spPr>
          </p:sp>
          <p:sp>
            <p:nvSpPr>
              <p:cNvPr id="44" name="Freeform 44"/>
              <p:cNvSpPr/>
              <p:nvPr/>
            </p:nvSpPr>
            <p:spPr>
              <a:xfrm>
                <a:off x="3726656" y="11453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45" name="Freeform 45"/>
              <p:cNvSpPr/>
              <p:nvPr/>
            </p:nvSpPr>
            <p:spPr>
              <a:xfrm>
                <a:off x="3740944" y="119538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76200F"/>
                </a:solidFill>
              </a:ln>
            </p:spPr>
          </p:sp>
          <p:sp>
            <p:nvSpPr>
              <p:cNvPr id="46" name="Freeform 46"/>
              <p:cNvSpPr/>
              <p:nvPr/>
            </p:nvSpPr>
            <p:spPr>
              <a:xfrm>
                <a:off x="3655219" y="11453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sp>
            <p:nvSpPr>
              <p:cNvPr id="47" name="Freeform 47"/>
              <p:cNvSpPr/>
              <p:nvPr/>
            </p:nvSpPr>
            <p:spPr>
              <a:xfrm>
                <a:off x="3640931" y="119538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76200F"/>
                </a:solidFill>
              </a:ln>
            </p:spPr>
          </p:sp>
        </p:grpSp>
        <p:sp>
          <p:nvSpPr>
            <p:cNvPr id="49" name="TextBox 49"/>
            <p:cNvSpPr txBox="1"/>
            <p:nvPr/>
          </p:nvSpPr>
          <p:spPr>
            <a:xfrm>
              <a:off x="36143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客流</a:t>
              </a:r>
            </a:p>
          </p:txBody>
        </p:sp>
        <p:sp>
          <p:nvSpPr>
            <p:cNvPr id="50" name="Freeform 50"/>
            <p:cNvSpPr/>
            <p:nvPr/>
          </p:nvSpPr>
          <p:spPr>
            <a:xfrm>
              <a:off x="4212431" y="1145381"/>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76200F"/>
              </a:solidFill>
            </a:ln>
          </p:spPr>
        </p:sp>
        <p:sp>
          <p:nvSpPr>
            <p:cNvPr id="51" name="TextBox 51"/>
            <p:cNvSpPr txBox="1"/>
            <p:nvPr/>
          </p:nvSpPr>
          <p:spPr>
            <a:xfrm>
              <a:off x="41858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互动</a:t>
              </a:r>
            </a:p>
          </p:txBody>
        </p:sp>
        <p:grpSp>
          <p:nvGrpSpPr>
            <p:cNvPr id="55" name="Group 55"/>
            <p:cNvGrpSpPr/>
            <p:nvPr/>
          </p:nvGrpSpPr>
          <p:grpSpPr>
            <a:xfrm>
              <a:off x="4798219" y="1145381"/>
              <a:ext cx="100012" cy="128588"/>
              <a:chOff x="4798219" y="1145381"/>
              <a:chExt cx="100012" cy="128588"/>
            </a:xfrm>
          </p:grpSpPr>
          <p:sp>
            <p:nvSpPr>
              <p:cNvPr id="52" name="Freeform 52"/>
              <p:cNvSpPr/>
              <p:nvPr/>
            </p:nvSpPr>
            <p:spPr>
              <a:xfrm>
                <a:off x="4798219" y="1202531"/>
                <a:ext cx="100012" cy="71438"/>
              </a:xfrm>
              <a:custGeom>
                <a:avLst/>
                <a:gdLst/>
                <a:ahLst/>
                <a:cxnLst/>
                <a:rect l="l" t="t" r="r" b="b"/>
                <a:pathLst>
                  <a:path w="100012" h="71438">
                    <a:moveTo>
                      <a:pt x="0" y="14288"/>
                    </a:moveTo>
                    <a:cubicBezTo>
                      <a:pt x="0" y="6397"/>
                      <a:pt x="6397" y="0"/>
                      <a:pt x="14288" y="0"/>
                    </a:cubicBezTo>
                    <a:lnTo>
                      <a:pt x="85725" y="0"/>
                    </a:lnTo>
                    <a:cubicBezTo>
                      <a:pt x="93616" y="0"/>
                      <a:pt x="100012" y="6397"/>
                      <a:pt x="100012" y="14288"/>
                    </a:cubicBezTo>
                    <a:lnTo>
                      <a:pt x="100012" y="57150"/>
                    </a:lnTo>
                    <a:cubicBezTo>
                      <a:pt x="100012" y="65041"/>
                      <a:pt x="93616" y="71438"/>
                      <a:pt x="85725" y="71438"/>
                    </a:cubicBezTo>
                    <a:lnTo>
                      <a:pt x="14288" y="71438"/>
                    </a:lnTo>
                    <a:cubicBezTo>
                      <a:pt x="6397" y="71438"/>
                      <a:pt x="0" y="65041"/>
                      <a:pt x="0" y="57150"/>
                    </a:cubicBezTo>
                    <a:lnTo>
                      <a:pt x="0" y="14288"/>
                    </a:lnTo>
                  </a:path>
                </a:pathLst>
              </a:custGeom>
              <a:noFill/>
              <a:ln w="14288">
                <a:solidFill>
                  <a:srgbClr val="76200F"/>
                </a:solidFill>
              </a:ln>
            </p:spPr>
          </p:sp>
          <p:sp>
            <p:nvSpPr>
              <p:cNvPr id="53" name="Freeform 53"/>
              <p:cNvSpPr/>
              <p:nvPr/>
            </p:nvSpPr>
            <p:spPr>
              <a:xfrm>
                <a:off x="4841081" y="123110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6200F"/>
                </a:solidFill>
              </a:ln>
            </p:spPr>
          </p:sp>
          <p:sp>
            <p:nvSpPr>
              <p:cNvPr id="54" name="Freeform 54"/>
              <p:cNvSpPr/>
              <p:nvPr/>
            </p:nvSpPr>
            <p:spPr>
              <a:xfrm>
                <a:off x="4819650" y="1145381"/>
                <a:ext cx="57150" cy="57150"/>
              </a:xfrm>
              <a:custGeom>
                <a:avLst/>
                <a:gdLst/>
                <a:ahLst/>
                <a:cxnLst/>
                <a:rect l="l" t="t" r="r" b="b"/>
                <a:pathLst>
                  <a:path w="57150" h="57150">
                    <a:moveTo>
                      <a:pt x="0" y="57150"/>
                    </a:moveTo>
                    <a:lnTo>
                      <a:pt x="0" y="28575"/>
                    </a:lnTo>
                    <a:cubicBezTo>
                      <a:pt x="0" y="12793"/>
                      <a:pt x="12793" y="0"/>
                      <a:pt x="28575" y="0"/>
                    </a:cubicBezTo>
                    <a:cubicBezTo>
                      <a:pt x="44357" y="0"/>
                      <a:pt x="57150" y="12793"/>
                      <a:pt x="57150" y="28575"/>
                    </a:cubicBezTo>
                    <a:lnTo>
                      <a:pt x="57150" y="57150"/>
                    </a:lnTo>
                  </a:path>
                </a:pathLst>
              </a:custGeom>
              <a:noFill/>
              <a:ln w="14288">
                <a:solidFill>
                  <a:srgbClr val="76200F"/>
                </a:solidFill>
              </a:ln>
            </p:spPr>
          </p:sp>
        </p:grpSp>
        <p:sp>
          <p:nvSpPr>
            <p:cNvPr id="56" name="TextBox 56"/>
            <p:cNvSpPr txBox="1"/>
            <p:nvPr/>
          </p:nvSpPr>
          <p:spPr>
            <a:xfrm>
              <a:off x="47573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授权</a:t>
              </a:r>
            </a:p>
          </p:txBody>
        </p:sp>
        <p:grpSp>
          <p:nvGrpSpPr>
            <p:cNvPr id="62" name="Group 62"/>
            <p:cNvGrpSpPr/>
            <p:nvPr/>
          </p:nvGrpSpPr>
          <p:grpSpPr>
            <a:xfrm>
              <a:off x="5369719" y="1145381"/>
              <a:ext cx="100012" cy="128588"/>
              <a:chOff x="5369719" y="1145381"/>
              <a:chExt cx="100012" cy="128588"/>
            </a:xfrm>
          </p:grpSpPr>
          <p:sp>
            <p:nvSpPr>
              <p:cNvPr id="57" name="Freeform 57"/>
              <p:cNvSpPr/>
              <p:nvPr/>
            </p:nvSpPr>
            <p:spPr>
              <a:xfrm>
                <a:off x="5434012" y="11453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76200F"/>
                </a:solidFill>
              </a:ln>
            </p:spPr>
          </p:sp>
          <p:sp>
            <p:nvSpPr>
              <p:cNvPr id="58" name="Freeform 58"/>
              <p:cNvSpPr/>
              <p:nvPr/>
            </p:nvSpPr>
            <p:spPr>
              <a:xfrm>
                <a:off x="5369719" y="11453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76200F"/>
                </a:solidFill>
              </a:ln>
            </p:spPr>
          </p:sp>
          <p:sp>
            <p:nvSpPr>
              <p:cNvPr id="59" name="Freeform 59"/>
              <p:cNvSpPr/>
              <p:nvPr/>
            </p:nvSpPr>
            <p:spPr>
              <a:xfrm>
                <a:off x="5398294" y="1188244"/>
                <a:ext cx="9525" cy="9525"/>
              </a:xfrm>
              <a:custGeom>
                <a:avLst/>
                <a:gdLst/>
                <a:ahLst/>
                <a:cxnLst/>
                <a:rect l="l" t="t" r="r" b="b"/>
                <a:pathLst>
                  <a:path w="9525" h="9525">
                    <a:moveTo>
                      <a:pt x="0" y="0"/>
                    </a:moveTo>
                    <a:lnTo>
                      <a:pt x="7144" y="0"/>
                    </a:lnTo>
                  </a:path>
                </a:pathLst>
              </a:custGeom>
              <a:noFill/>
              <a:ln w="14288">
                <a:solidFill>
                  <a:srgbClr val="76200F"/>
                </a:solidFill>
              </a:ln>
            </p:spPr>
          </p:sp>
          <p:sp>
            <p:nvSpPr>
              <p:cNvPr id="60" name="Freeform 60"/>
              <p:cNvSpPr/>
              <p:nvPr/>
            </p:nvSpPr>
            <p:spPr>
              <a:xfrm>
                <a:off x="5398294" y="1216819"/>
                <a:ext cx="42862" cy="9525"/>
              </a:xfrm>
              <a:custGeom>
                <a:avLst/>
                <a:gdLst/>
                <a:ahLst/>
                <a:cxnLst/>
                <a:rect l="l" t="t" r="r" b="b"/>
                <a:pathLst>
                  <a:path w="42862" h="9525">
                    <a:moveTo>
                      <a:pt x="0" y="0"/>
                    </a:moveTo>
                    <a:lnTo>
                      <a:pt x="42862" y="0"/>
                    </a:lnTo>
                  </a:path>
                </a:pathLst>
              </a:custGeom>
              <a:noFill/>
              <a:ln w="14288">
                <a:solidFill>
                  <a:srgbClr val="76200F"/>
                </a:solidFill>
              </a:ln>
            </p:spPr>
          </p:sp>
          <p:sp>
            <p:nvSpPr>
              <p:cNvPr id="61" name="Freeform 61"/>
              <p:cNvSpPr/>
              <p:nvPr/>
            </p:nvSpPr>
            <p:spPr>
              <a:xfrm>
                <a:off x="5398294" y="1245394"/>
                <a:ext cx="42862" cy="9525"/>
              </a:xfrm>
              <a:custGeom>
                <a:avLst/>
                <a:gdLst/>
                <a:ahLst/>
                <a:cxnLst/>
                <a:rect l="l" t="t" r="r" b="b"/>
                <a:pathLst>
                  <a:path w="42862" h="9525">
                    <a:moveTo>
                      <a:pt x="0" y="0"/>
                    </a:moveTo>
                    <a:lnTo>
                      <a:pt x="42862" y="0"/>
                    </a:lnTo>
                  </a:path>
                </a:pathLst>
              </a:custGeom>
              <a:noFill/>
              <a:ln w="14288">
                <a:solidFill>
                  <a:srgbClr val="76200F"/>
                </a:solidFill>
              </a:ln>
            </p:spPr>
          </p:sp>
        </p:grpSp>
        <p:sp>
          <p:nvSpPr>
            <p:cNvPr id="63" name="TextBox 63"/>
            <p:cNvSpPr txBox="1"/>
            <p:nvPr/>
          </p:nvSpPr>
          <p:spPr>
            <a:xfrm>
              <a:off x="53288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留资</a:t>
              </a:r>
            </a:p>
          </p:txBody>
        </p:sp>
        <p:sp>
          <p:nvSpPr>
            <p:cNvPr id="64" name="Freeform 64"/>
            <p:cNvSpPr/>
            <p:nvPr/>
          </p:nvSpPr>
          <p:spPr>
            <a:xfrm>
              <a:off x="5981700" y="704850"/>
              <a:ext cx="2781300" cy="285750"/>
            </a:xfrm>
            <a:prstGeom prst="chevron">
              <a:avLst/>
            </a:prstGeom>
            <a:solidFill>
              <a:srgbClr val="A3422F"/>
            </a:solidFill>
            <a:ln>
              <a:noFill/>
            </a:ln>
          </p:spPr>
        </p:sp>
        <p:sp>
          <p:nvSpPr>
            <p:cNvPr id="65" name="TextBox 65"/>
            <p:cNvSpPr txBox="1"/>
            <p:nvPr/>
          </p:nvSpPr>
          <p:spPr>
            <a:xfrm>
              <a:off x="7235469" y="7900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产出</a:t>
              </a:r>
            </a:p>
          </p:txBody>
        </p:sp>
        <p:grpSp>
          <p:nvGrpSpPr>
            <p:cNvPr id="74" name="Group 74"/>
            <p:cNvGrpSpPr/>
            <p:nvPr/>
          </p:nvGrpSpPr>
          <p:grpSpPr>
            <a:xfrm>
              <a:off x="6460331" y="1145381"/>
              <a:ext cx="130969" cy="138113"/>
              <a:chOff x="6460331" y="1145381"/>
              <a:chExt cx="130969" cy="138113"/>
            </a:xfrm>
          </p:grpSpPr>
          <p:sp>
            <p:nvSpPr>
              <p:cNvPr id="66" name="Freeform 66"/>
              <p:cNvSpPr/>
              <p:nvPr/>
            </p:nvSpPr>
            <p:spPr>
              <a:xfrm>
                <a:off x="6460331" y="1273969"/>
                <a:ext cx="128588" cy="9525"/>
              </a:xfrm>
              <a:custGeom>
                <a:avLst/>
                <a:gdLst/>
                <a:ahLst/>
                <a:cxnLst/>
                <a:rect l="l" t="t" r="r" b="b"/>
                <a:pathLst>
                  <a:path w="128588" h="9525">
                    <a:moveTo>
                      <a:pt x="0" y="0"/>
                    </a:moveTo>
                    <a:lnTo>
                      <a:pt x="128588" y="0"/>
                    </a:lnTo>
                  </a:path>
                </a:pathLst>
              </a:custGeom>
              <a:noFill/>
              <a:ln w="14288">
                <a:solidFill>
                  <a:srgbClr val="76200F"/>
                </a:solidFill>
              </a:ln>
            </p:spPr>
          </p:sp>
          <p:sp>
            <p:nvSpPr>
              <p:cNvPr id="67" name="Freeform 67"/>
              <p:cNvSpPr/>
              <p:nvPr/>
            </p:nvSpPr>
            <p:spPr>
              <a:xfrm>
                <a:off x="6460331" y="1195388"/>
                <a:ext cx="128588" cy="9525"/>
              </a:xfrm>
              <a:custGeom>
                <a:avLst/>
                <a:gdLst/>
                <a:ahLst/>
                <a:cxnLst/>
                <a:rect l="l" t="t" r="r" b="b"/>
                <a:pathLst>
                  <a:path w="128588" h="9525">
                    <a:moveTo>
                      <a:pt x="0" y="0"/>
                    </a:moveTo>
                    <a:lnTo>
                      <a:pt x="128588" y="0"/>
                    </a:lnTo>
                  </a:path>
                </a:pathLst>
              </a:custGeom>
              <a:noFill/>
              <a:ln w="14288">
                <a:solidFill>
                  <a:srgbClr val="76200F"/>
                </a:solidFill>
              </a:ln>
            </p:spPr>
          </p:sp>
          <p:sp>
            <p:nvSpPr>
              <p:cNvPr id="68" name="Freeform 68"/>
              <p:cNvSpPr/>
              <p:nvPr/>
            </p:nvSpPr>
            <p:spPr>
              <a:xfrm>
                <a:off x="6474619" y="1145381"/>
                <a:ext cx="100012" cy="21431"/>
              </a:xfrm>
              <a:custGeom>
                <a:avLst/>
                <a:gdLst/>
                <a:ahLst/>
                <a:cxnLst/>
                <a:rect l="l" t="t" r="r" b="b"/>
                <a:pathLst>
                  <a:path w="100012" h="21431">
                    <a:moveTo>
                      <a:pt x="0" y="21431"/>
                    </a:moveTo>
                    <a:lnTo>
                      <a:pt x="50006" y="0"/>
                    </a:lnTo>
                    <a:lnTo>
                      <a:pt x="100012" y="21431"/>
                    </a:lnTo>
                  </a:path>
                </a:pathLst>
              </a:custGeom>
              <a:noFill/>
              <a:ln w="14288">
                <a:solidFill>
                  <a:srgbClr val="76200F"/>
                </a:solidFill>
              </a:ln>
            </p:spPr>
          </p:sp>
          <p:sp>
            <p:nvSpPr>
              <p:cNvPr id="69" name="Freeform 69"/>
              <p:cNvSpPr/>
              <p:nvPr/>
            </p:nvSpPr>
            <p:spPr>
              <a:xfrm>
                <a:off x="6467475" y="1195388"/>
                <a:ext cx="9525" cy="78581"/>
              </a:xfrm>
              <a:custGeom>
                <a:avLst/>
                <a:gdLst/>
                <a:ahLst/>
                <a:cxnLst/>
                <a:rect l="l" t="t" r="r" b="b"/>
                <a:pathLst>
                  <a:path w="9525" h="78581">
                    <a:moveTo>
                      <a:pt x="0" y="0"/>
                    </a:moveTo>
                    <a:lnTo>
                      <a:pt x="0" y="78581"/>
                    </a:lnTo>
                  </a:path>
                </a:pathLst>
              </a:custGeom>
              <a:noFill/>
              <a:ln w="14288">
                <a:solidFill>
                  <a:srgbClr val="76200F"/>
                </a:solidFill>
              </a:ln>
            </p:spPr>
          </p:sp>
          <p:sp>
            <p:nvSpPr>
              <p:cNvPr id="70" name="Freeform 70"/>
              <p:cNvSpPr/>
              <p:nvPr/>
            </p:nvSpPr>
            <p:spPr>
              <a:xfrm>
                <a:off x="6581775" y="1195388"/>
                <a:ext cx="9525" cy="78581"/>
              </a:xfrm>
              <a:custGeom>
                <a:avLst/>
                <a:gdLst/>
                <a:ahLst/>
                <a:cxnLst/>
                <a:rect l="l" t="t" r="r" b="b"/>
                <a:pathLst>
                  <a:path w="9525" h="78581">
                    <a:moveTo>
                      <a:pt x="0" y="0"/>
                    </a:moveTo>
                    <a:lnTo>
                      <a:pt x="0" y="78581"/>
                    </a:lnTo>
                  </a:path>
                </a:pathLst>
              </a:custGeom>
              <a:noFill/>
              <a:ln w="14288">
                <a:solidFill>
                  <a:srgbClr val="76200F"/>
                </a:solidFill>
              </a:ln>
            </p:spPr>
          </p:sp>
          <p:sp>
            <p:nvSpPr>
              <p:cNvPr id="71" name="Freeform 71"/>
              <p:cNvSpPr/>
              <p:nvPr/>
            </p:nvSpPr>
            <p:spPr>
              <a:xfrm>
                <a:off x="6496050" y="1223962"/>
                <a:ext cx="9525" cy="21431"/>
              </a:xfrm>
              <a:custGeom>
                <a:avLst/>
                <a:gdLst/>
                <a:ahLst/>
                <a:cxnLst/>
                <a:rect l="l" t="t" r="r" b="b"/>
                <a:pathLst>
                  <a:path w="9525" h="21431">
                    <a:moveTo>
                      <a:pt x="0" y="0"/>
                    </a:moveTo>
                    <a:lnTo>
                      <a:pt x="0" y="21431"/>
                    </a:lnTo>
                  </a:path>
                </a:pathLst>
              </a:custGeom>
              <a:noFill/>
              <a:ln w="14288">
                <a:solidFill>
                  <a:srgbClr val="76200F"/>
                </a:solidFill>
              </a:ln>
            </p:spPr>
          </p:sp>
          <p:sp>
            <p:nvSpPr>
              <p:cNvPr id="72" name="Freeform 72"/>
              <p:cNvSpPr/>
              <p:nvPr/>
            </p:nvSpPr>
            <p:spPr>
              <a:xfrm>
                <a:off x="6524625" y="1223962"/>
                <a:ext cx="9525" cy="21431"/>
              </a:xfrm>
              <a:custGeom>
                <a:avLst/>
                <a:gdLst/>
                <a:ahLst/>
                <a:cxnLst/>
                <a:rect l="l" t="t" r="r" b="b"/>
                <a:pathLst>
                  <a:path w="9525" h="21431">
                    <a:moveTo>
                      <a:pt x="0" y="0"/>
                    </a:moveTo>
                    <a:lnTo>
                      <a:pt x="0" y="21431"/>
                    </a:lnTo>
                  </a:path>
                </a:pathLst>
              </a:custGeom>
              <a:noFill/>
              <a:ln w="14288">
                <a:solidFill>
                  <a:srgbClr val="76200F"/>
                </a:solidFill>
              </a:ln>
            </p:spPr>
          </p:sp>
          <p:sp>
            <p:nvSpPr>
              <p:cNvPr id="73" name="Freeform 73"/>
              <p:cNvSpPr/>
              <p:nvPr/>
            </p:nvSpPr>
            <p:spPr>
              <a:xfrm>
                <a:off x="6553200" y="1223962"/>
                <a:ext cx="9525" cy="21431"/>
              </a:xfrm>
              <a:custGeom>
                <a:avLst/>
                <a:gdLst/>
                <a:ahLst/>
                <a:cxnLst/>
                <a:rect l="l" t="t" r="r" b="b"/>
                <a:pathLst>
                  <a:path w="9525" h="21431">
                    <a:moveTo>
                      <a:pt x="0" y="0"/>
                    </a:moveTo>
                    <a:lnTo>
                      <a:pt x="0" y="21431"/>
                    </a:lnTo>
                  </a:path>
                </a:pathLst>
              </a:custGeom>
              <a:noFill/>
              <a:ln w="14288">
                <a:solidFill>
                  <a:srgbClr val="76200F"/>
                </a:solidFill>
              </a:ln>
            </p:spPr>
          </p:sp>
        </p:grpSp>
        <p:sp>
          <p:nvSpPr>
            <p:cNvPr id="75" name="TextBox 75"/>
            <p:cNvSpPr txBox="1"/>
            <p:nvPr/>
          </p:nvSpPr>
          <p:spPr>
            <a:xfrm>
              <a:off x="64337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开户</a:t>
              </a:r>
            </a:p>
          </p:txBody>
        </p:sp>
        <p:grpSp>
          <p:nvGrpSpPr>
            <p:cNvPr id="80" name="Group 80"/>
            <p:cNvGrpSpPr/>
            <p:nvPr/>
          </p:nvGrpSpPr>
          <p:grpSpPr>
            <a:xfrm>
              <a:off x="7031831" y="1159669"/>
              <a:ext cx="128588" cy="100012"/>
              <a:chOff x="7031831" y="1159669"/>
              <a:chExt cx="128588" cy="100012"/>
            </a:xfrm>
          </p:grpSpPr>
          <p:sp>
            <p:nvSpPr>
              <p:cNvPr id="76" name="Freeform 76"/>
              <p:cNvSpPr/>
              <p:nvPr/>
            </p:nvSpPr>
            <p:spPr>
              <a:xfrm>
                <a:off x="7031831" y="1159669"/>
                <a:ext cx="128588" cy="100012"/>
              </a:xfrm>
              <a:custGeom>
                <a:avLst/>
                <a:gdLst/>
                <a:ahLst/>
                <a:cxnLst/>
                <a:rect l="l" t="t" r="r" b="b"/>
                <a:pathLst>
                  <a:path w="128588" h="100012">
                    <a:moveTo>
                      <a:pt x="0" y="21431"/>
                    </a:moveTo>
                    <a:cubicBezTo>
                      <a:pt x="0" y="9595"/>
                      <a:pt x="9595" y="0"/>
                      <a:pt x="21431" y="0"/>
                    </a:cubicBezTo>
                    <a:lnTo>
                      <a:pt x="107156" y="0"/>
                    </a:lnTo>
                    <a:cubicBezTo>
                      <a:pt x="118992" y="0"/>
                      <a:pt x="128588" y="9595"/>
                      <a:pt x="128588" y="21431"/>
                    </a:cubicBezTo>
                    <a:lnTo>
                      <a:pt x="128588" y="78581"/>
                    </a:lnTo>
                    <a:cubicBezTo>
                      <a:pt x="128588" y="90417"/>
                      <a:pt x="118992" y="100012"/>
                      <a:pt x="107156" y="100012"/>
                    </a:cubicBezTo>
                    <a:lnTo>
                      <a:pt x="21431" y="100012"/>
                    </a:lnTo>
                    <a:cubicBezTo>
                      <a:pt x="9595" y="100012"/>
                      <a:pt x="0" y="90417"/>
                      <a:pt x="0" y="78581"/>
                    </a:cubicBezTo>
                    <a:lnTo>
                      <a:pt x="0" y="21431"/>
                    </a:lnTo>
                  </a:path>
                </a:pathLst>
              </a:custGeom>
              <a:noFill/>
              <a:ln w="14288">
                <a:solidFill>
                  <a:srgbClr val="76200F"/>
                </a:solidFill>
              </a:ln>
            </p:spPr>
          </p:sp>
          <p:sp>
            <p:nvSpPr>
              <p:cNvPr id="77" name="Freeform 77"/>
              <p:cNvSpPr/>
              <p:nvPr/>
            </p:nvSpPr>
            <p:spPr>
              <a:xfrm>
                <a:off x="7031831" y="1195388"/>
                <a:ext cx="128588" cy="9525"/>
              </a:xfrm>
              <a:custGeom>
                <a:avLst/>
                <a:gdLst/>
                <a:ahLst/>
                <a:cxnLst/>
                <a:rect l="l" t="t" r="r" b="b"/>
                <a:pathLst>
                  <a:path w="128588" h="9525">
                    <a:moveTo>
                      <a:pt x="0" y="0"/>
                    </a:moveTo>
                    <a:lnTo>
                      <a:pt x="128588" y="0"/>
                    </a:lnTo>
                  </a:path>
                </a:pathLst>
              </a:custGeom>
              <a:noFill/>
              <a:ln w="14288">
                <a:solidFill>
                  <a:srgbClr val="76200F"/>
                </a:solidFill>
              </a:ln>
            </p:spPr>
          </p:sp>
          <p:sp>
            <p:nvSpPr>
              <p:cNvPr id="78" name="Freeform 78"/>
              <p:cNvSpPr/>
              <p:nvPr/>
            </p:nvSpPr>
            <p:spPr>
              <a:xfrm>
                <a:off x="7060406" y="1231106"/>
                <a:ext cx="9525" cy="9525"/>
              </a:xfrm>
              <a:custGeom>
                <a:avLst/>
                <a:gdLst/>
                <a:ahLst/>
                <a:cxnLst/>
                <a:rect l="l" t="t" r="r" b="b"/>
                <a:pathLst>
                  <a:path w="9525" h="9525">
                    <a:moveTo>
                      <a:pt x="0" y="0"/>
                    </a:moveTo>
                    <a:lnTo>
                      <a:pt x="71" y="0"/>
                    </a:lnTo>
                  </a:path>
                </a:pathLst>
              </a:custGeom>
              <a:noFill/>
              <a:ln w="14288">
                <a:solidFill>
                  <a:srgbClr val="76200F"/>
                </a:solidFill>
              </a:ln>
            </p:spPr>
          </p:sp>
          <p:sp>
            <p:nvSpPr>
              <p:cNvPr id="79" name="Freeform 79"/>
              <p:cNvSpPr/>
              <p:nvPr/>
            </p:nvSpPr>
            <p:spPr>
              <a:xfrm>
                <a:off x="7088981" y="1231106"/>
                <a:ext cx="14288" cy="9525"/>
              </a:xfrm>
              <a:custGeom>
                <a:avLst/>
                <a:gdLst/>
                <a:ahLst/>
                <a:cxnLst/>
                <a:rect l="l" t="t" r="r" b="b"/>
                <a:pathLst>
                  <a:path w="14288" h="9525">
                    <a:moveTo>
                      <a:pt x="0" y="0"/>
                    </a:moveTo>
                    <a:lnTo>
                      <a:pt x="14288" y="0"/>
                    </a:lnTo>
                  </a:path>
                </a:pathLst>
              </a:custGeom>
              <a:noFill/>
              <a:ln w="14288">
                <a:solidFill>
                  <a:srgbClr val="76200F"/>
                </a:solidFill>
              </a:ln>
            </p:spPr>
          </p:sp>
        </p:grpSp>
        <p:sp>
          <p:nvSpPr>
            <p:cNvPr id="81" name="TextBox 81"/>
            <p:cNvSpPr txBox="1"/>
            <p:nvPr/>
          </p:nvSpPr>
          <p:spPr>
            <a:xfrm>
              <a:off x="70052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绑卡</a:t>
              </a:r>
            </a:p>
          </p:txBody>
        </p:sp>
        <p:grpSp>
          <p:nvGrpSpPr>
            <p:cNvPr id="85" name="Group 85"/>
            <p:cNvGrpSpPr/>
            <p:nvPr/>
          </p:nvGrpSpPr>
          <p:grpSpPr>
            <a:xfrm>
              <a:off x="7603331" y="1159669"/>
              <a:ext cx="128587" cy="100013"/>
              <a:chOff x="7603331" y="1159669"/>
              <a:chExt cx="128587" cy="100013"/>
            </a:xfrm>
          </p:grpSpPr>
          <p:sp>
            <p:nvSpPr>
              <p:cNvPr id="82" name="Freeform 82"/>
              <p:cNvSpPr/>
              <p:nvPr/>
            </p:nvSpPr>
            <p:spPr>
              <a:xfrm>
                <a:off x="7603331" y="1159669"/>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76200F"/>
                </a:solidFill>
              </a:ln>
            </p:spPr>
          </p:sp>
          <p:sp>
            <p:nvSpPr>
              <p:cNvPr id="83" name="Freeform 83"/>
              <p:cNvSpPr/>
              <p:nvPr/>
            </p:nvSpPr>
            <p:spPr>
              <a:xfrm>
                <a:off x="7631906" y="1188244"/>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76200F"/>
                </a:solidFill>
              </a:ln>
            </p:spPr>
          </p:sp>
          <p:sp>
            <p:nvSpPr>
              <p:cNvPr id="84" name="Freeform 84"/>
              <p:cNvSpPr/>
              <p:nvPr/>
            </p:nvSpPr>
            <p:spPr>
              <a:xfrm>
                <a:off x="7667625" y="120967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76200F"/>
                </a:solidFill>
              </a:ln>
            </p:spPr>
          </p:sp>
        </p:grpSp>
        <p:sp>
          <p:nvSpPr>
            <p:cNvPr id="86" name="TextBox 86"/>
            <p:cNvSpPr txBox="1"/>
            <p:nvPr/>
          </p:nvSpPr>
          <p:spPr>
            <a:xfrm>
              <a:off x="75767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交易</a:t>
              </a:r>
            </a:p>
          </p:txBody>
        </p:sp>
        <p:grpSp>
          <p:nvGrpSpPr>
            <p:cNvPr id="89" name="Group 89"/>
            <p:cNvGrpSpPr/>
            <p:nvPr/>
          </p:nvGrpSpPr>
          <p:grpSpPr>
            <a:xfrm>
              <a:off x="8181975" y="1166812"/>
              <a:ext cx="114300" cy="102394"/>
              <a:chOff x="8181975" y="1166812"/>
              <a:chExt cx="114300" cy="102394"/>
            </a:xfrm>
          </p:grpSpPr>
          <p:sp>
            <p:nvSpPr>
              <p:cNvPr id="87" name="Freeform 87"/>
              <p:cNvSpPr/>
              <p:nvPr/>
            </p:nvSpPr>
            <p:spPr>
              <a:xfrm>
                <a:off x="8181975" y="1259681"/>
                <a:ext cx="114300" cy="9525"/>
              </a:xfrm>
              <a:custGeom>
                <a:avLst/>
                <a:gdLst/>
                <a:ahLst/>
                <a:cxnLst/>
                <a:rect l="l" t="t" r="r" b="b"/>
                <a:pathLst>
                  <a:path w="114300" h="9525">
                    <a:moveTo>
                      <a:pt x="0" y="0"/>
                    </a:moveTo>
                    <a:lnTo>
                      <a:pt x="114300" y="0"/>
                    </a:lnTo>
                  </a:path>
                </a:pathLst>
              </a:custGeom>
              <a:noFill/>
              <a:ln w="14288">
                <a:solidFill>
                  <a:srgbClr val="76200F"/>
                </a:solidFill>
              </a:ln>
            </p:spPr>
          </p:sp>
          <p:sp>
            <p:nvSpPr>
              <p:cNvPr id="88" name="Freeform 88"/>
              <p:cNvSpPr/>
              <p:nvPr/>
            </p:nvSpPr>
            <p:spPr>
              <a:xfrm>
                <a:off x="8181975" y="1166812"/>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76200F"/>
                </a:solidFill>
              </a:ln>
            </p:spPr>
          </p:sp>
        </p:grpSp>
        <p:sp>
          <p:nvSpPr>
            <p:cNvPr id="90" name="TextBox 90"/>
            <p:cNvSpPr txBox="1"/>
            <p:nvPr/>
          </p:nvSpPr>
          <p:spPr>
            <a:xfrm>
              <a:off x="814820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资产</a:t>
              </a:r>
            </a:p>
          </p:txBody>
        </p:sp>
        <p:sp>
          <p:nvSpPr>
            <p:cNvPr id="91" name="Freeform 91"/>
            <p:cNvSpPr/>
            <p:nvPr/>
          </p:nvSpPr>
          <p:spPr>
            <a:xfrm>
              <a:off x="8801100" y="704850"/>
              <a:ext cx="2781300" cy="285750"/>
            </a:xfrm>
            <a:prstGeom prst="chevron">
              <a:avLst/>
            </a:prstGeom>
            <a:solidFill>
              <a:srgbClr val="C68679"/>
            </a:solidFill>
            <a:ln>
              <a:noFill/>
            </a:ln>
          </p:spPr>
        </p:sp>
        <p:sp>
          <p:nvSpPr>
            <p:cNvPr id="92" name="TextBox 92"/>
            <p:cNvSpPr txBox="1"/>
            <p:nvPr/>
          </p:nvSpPr>
          <p:spPr>
            <a:xfrm>
              <a:off x="10054869" y="7900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价值</a:t>
              </a:r>
            </a:p>
          </p:txBody>
        </p:sp>
        <p:grpSp>
          <p:nvGrpSpPr>
            <p:cNvPr id="98" name="Group 98"/>
            <p:cNvGrpSpPr/>
            <p:nvPr/>
          </p:nvGrpSpPr>
          <p:grpSpPr>
            <a:xfrm>
              <a:off x="9451181" y="1144424"/>
              <a:ext cx="128588" cy="129544"/>
              <a:chOff x="9451181" y="1144424"/>
              <a:chExt cx="128588" cy="129544"/>
            </a:xfrm>
          </p:grpSpPr>
          <p:sp>
            <p:nvSpPr>
              <p:cNvPr id="93" name="Freeform 93"/>
              <p:cNvSpPr/>
              <p:nvPr/>
            </p:nvSpPr>
            <p:spPr>
              <a:xfrm>
                <a:off x="9494044" y="120253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76200F"/>
                </a:solidFill>
              </a:ln>
            </p:spPr>
          </p:sp>
          <p:sp>
            <p:nvSpPr>
              <p:cNvPr id="94" name="Freeform 94"/>
              <p:cNvSpPr/>
              <p:nvPr/>
            </p:nvSpPr>
            <p:spPr>
              <a:xfrm>
                <a:off x="9494044" y="122396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76200F"/>
                </a:solidFill>
              </a:ln>
            </p:spPr>
          </p:sp>
          <p:sp>
            <p:nvSpPr>
              <p:cNvPr id="95" name="Freeform 95"/>
              <p:cNvSpPr/>
              <p:nvPr/>
            </p:nvSpPr>
            <p:spPr>
              <a:xfrm>
                <a:off x="9451181" y="114442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76200F"/>
                </a:solidFill>
              </a:ln>
            </p:spPr>
          </p:sp>
          <p:sp>
            <p:nvSpPr>
              <p:cNvPr id="96" name="Freeform 96"/>
              <p:cNvSpPr/>
              <p:nvPr/>
            </p:nvSpPr>
            <p:spPr>
              <a:xfrm>
                <a:off x="9451181" y="116681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76200F"/>
                </a:solidFill>
              </a:ln>
            </p:spPr>
          </p:sp>
          <p:sp>
            <p:nvSpPr>
              <p:cNvPr id="97" name="Freeform 97"/>
              <p:cNvSpPr/>
              <p:nvPr/>
            </p:nvSpPr>
            <p:spPr>
              <a:xfrm>
                <a:off x="9451181" y="120253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76200F"/>
                </a:solidFill>
              </a:ln>
            </p:spPr>
          </p:sp>
        </p:grpSp>
        <p:sp>
          <p:nvSpPr>
            <p:cNvPr id="99" name="TextBox 99"/>
            <p:cNvSpPr txBox="1"/>
            <p:nvPr/>
          </p:nvSpPr>
          <p:spPr>
            <a:xfrm>
              <a:off x="9424556" y="1378982"/>
              <a:ext cx="18183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收入</a:t>
              </a:r>
            </a:p>
          </p:txBody>
        </p:sp>
        <p:grpSp>
          <p:nvGrpSpPr>
            <p:cNvPr id="102" name="Group 102"/>
            <p:cNvGrpSpPr/>
            <p:nvPr/>
          </p:nvGrpSpPr>
          <p:grpSpPr>
            <a:xfrm>
              <a:off x="10117931" y="1173956"/>
              <a:ext cx="128588" cy="71438"/>
              <a:chOff x="10117931" y="1173956"/>
              <a:chExt cx="128588" cy="71438"/>
            </a:xfrm>
          </p:grpSpPr>
          <p:sp>
            <p:nvSpPr>
              <p:cNvPr id="100" name="Freeform 100"/>
              <p:cNvSpPr/>
              <p:nvPr/>
            </p:nvSpPr>
            <p:spPr>
              <a:xfrm>
                <a:off x="10117931" y="11739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76200F"/>
                </a:solidFill>
              </a:ln>
            </p:spPr>
          </p:sp>
          <p:sp>
            <p:nvSpPr>
              <p:cNvPr id="101" name="Freeform 101"/>
              <p:cNvSpPr/>
              <p:nvPr/>
            </p:nvSpPr>
            <p:spPr>
              <a:xfrm>
                <a:off x="10196512" y="1173956"/>
                <a:ext cx="50006" cy="50006"/>
              </a:xfrm>
              <a:custGeom>
                <a:avLst/>
                <a:gdLst/>
                <a:ahLst/>
                <a:cxnLst/>
                <a:rect l="l" t="t" r="r" b="b"/>
                <a:pathLst>
                  <a:path w="50006" h="50006">
                    <a:moveTo>
                      <a:pt x="0" y="0"/>
                    </a:moveTo>
                    <a:lnTo>
                      <a:pt x="50006" y="0"/>
                    </a:lnTo>
                    <a:lnTo>
                      <a:pt x="50006" y="50006"/>
                    </a:lnTo>
                  </a:path>
                </a:pathLst>
              </a:custGeom>
              <a:noFill/>
              <a:ln w="14288">
                <a:solidFill>
                  <a:srgbClr val="76200F"/>
                </a:solidFill>
              </a:ln>
            </p:spPr>
          </p:sp>
        </p:grpSp>
        <p:sp>
          <p:nvSpPr>
            <p:cNvPr id="103" name="TextBox 103"/>
            <p:cNvSpPr txBox="1"/>
            <p:nvPr/>
          </p:nvSpPr>
          <p:spPr>
            <a:xfrm>
              <a:off x="10077326" y="1378982"/>
              <a:ext cx="209799" cy="126206"/>
            </a:xfrm>
            <a:prstGeom prst="rect">
              <a:avLst/>
            </a:prstGeom>
            <a:noFill/>
            <a:ln>
              <a:noFill/>
            </a:ln>
          </p:spPr>
          <p:txBody>
            <a:bodyPr wrap="none" lIns="0" tIns="0" rIns="0" bIns="0" anchor="t" anchorCtr="0">
              <a:spAutoFit/>
            </a:bodyPr>
            <a:lstStyle/>
            <a:p>
              <a:pPr algn="ctr"/>
              <a:r>
                <a:rPr lang="en-US" sz="640" dirty="0">
                  <a:solidFill>
                    <a:srgbClr val="514340"/>
                  </a:solidFill>
                  <a:latin typeface="+mn-lt"/>
                  <a:ea typeface="+mn-ea"/>
                  <a:cs typeface="+mn-cs"/>
                </a:rPr>
                <a:t>LTV​</a:t>
              </a:r>
            </a:p>
          </p:txBody>
        </p:sp>
        <p:grpSp>
          <p:nvGrpSpPr>
            <p:cNvPr id="109" name="Group 109"/>
            <p:cNvGrpSpPr/>
            <p:nvPr/>
          </p:nvGrpSpPr>
          <p:grpSpPr>
            <a:xfrm>
              <a:off x="10784681" y="1145381"/>
              <a:ext cx="128587" cy="128587"/>
              <a:chOff x="10784681" y="1145381"/>
              <a:chExt cx="128587" cy="128587"/>
            </a:xfrm>
          </p:grpSpPr>
          <p:sp>
            <p:nvSpPr>
              <p:cNvPr id="104" name="Freeform 104"/>
              <p:cNvSpPr/>
              <p:nvPr/>
            </p:nvSpPr>
            <p:spPr>
              <a:xfrm>
                <a:off x="10784681" y="123110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6200F"/>
                </a:solidFill>
              </a:ln>
            </p:spPr>
          </p:sp>
          <p:sp>
            <p:nvSpPr>
              <p:cNvPr id="105" name="Freeform 105"/>
              <p:cNvSpPr/>
              <p:nvPr/>
            </p:nvSpPr>
            <p:spPr>
              <a:xfrm>
                <a:off x="10870406" y="123110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6200F"/>
                </a:solidFill>
              </a:ln>
            </p:spPr>
          </p:sp>
          <p:sp>
            <p:nvSpPr>
              <p:cNvPr id="106" name="Freeform 106"/>
              <p:cNvSpPr/>
              <p:nvPr/>
            </p:nvSpPr>
            <p:spPr>
              <a:xfrm>
                <a:off x="10827544" y="114538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6200F"/>
                </a:solidFill>
              </a:ln>
            </p:spPr>
          </p:sp>
          <p:sp>
            <p:nvSpPr>
              <p:cNvPr id="107" name="Freeform 107"/>
              <p:cNvSpPr/>
              <p:nvPr/>
            </p:nvSpPr>
            <p:spPr>
              <a:xfrm>
                <a:off x="10806112" y="1209675"/>
                <a:ext cx="85725" cy="21431"/>
              </a:xfrm>
              <a:custGeom>
                <a:avLst/>
                <a:gdLst/>
                <a:ahLst/>
                <a:cxnLst/>
                <a:rect l="l" t="t" r="r" b="b"/>
                <a:pathLst>
                  <a:path w="85725" h="21431">
                    <a:moveTo>
                      <a:pt x="0" y="21431"/>
                    </a:moveTo>
                    <a:lnTo>
                      <a:pt x="0" y="14288"/>
                    </a:lnTo>
                    <a:cubicBezTo>
                      <a:pt x="0" y="6397"/>
                      <a:pt x="6397" y="0"/>
                      <a:pt x="14288" y="0"/>
                    </a:cubicBezTo>
                    <a:lnTo>
                      <a:pt x="71438" y="0"/>
                    </a:lnTo>
                    <a:cubicBezTo>
                      <a:pt x="79328" y="0"/>
                      <a:pt x="85725" y="6397"/>
                      <a:pt x="85725" y="14288"/>
                    </a:cubicBezTo>
                    <a:lnTo>
                      <a:pt x="85725" y="21431"/>
                    </a:lnTo>
                  </a:path>
                </a:pathLst>
              </a:custGeom>
              <a:noFill/>
              <a:ln w="14288">
                <a:solidFill>
                  <a:srgbClr val="76200F"/>
                </a:solidFill>
              </a:ln>
            </p:spPr>
          </p:sp>
          <p:sp>
            <p:nvSpPr>
              <p:cNvPr id="108" name="Freeform 108"/>
              <p:cNvSpPr/>
              <p:nvPr/>
            </p:nvSpPr>
            <p:spPr>
              <a:xfrm>
                <a:off x="10848975" y="1188244"/>
                <a:ext cx="9525" cy="21431"/>
              </a:xfrm>
              <a:custGeom>
                <a:avLst/>
                <a:gdLst/>
                <a:ahLst/>
                <a:cxnLst/>
                <a:rect l="l" t="t" r="r" b="b"/>
                <a:pathLst>
                  <a:path w="9525" h="21431">
                    <a:moveTo>
                      <a:pt x="0" y="0"/>
                    </a:moveTo>
                    <a:lnTo>
                      <a:pt x="0" y="21431"/>
                    </a:lnTo>
                  </a:path>
                </a:pathLst>
              </a:custGeom>
              <a:noFill/>
              <a:ln w="14288">
                <a:solidFill>
                  <a:srgbClr val="76200F"/>
                </a:solidFill>
              </a:ln>
            </p:spPr>
          </p:sp>
        </p:grpSp>
        <p:sp>
          <p:nvSpPr>
            <p:cNvPr id="110" name="TextBox 110"/>
            <p:cNvSpPr txBox="1"/>
            <p:nvPr/>
          </p:nvSpPr>
          <p:spPr>
            <a:xfrm>
              <a:off x="10671899" y="1378982"/>
              <a:ext cx="354152"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生态贡献</a:t>
              </a:r>
            </a:p>
          </p:txBody>
        </p:sp>
      </p:grpSp>
      <p:grpSp>
        <p:nvGrpSpPr>
          <p:cNvPr id="155" name="pnl-table"/>
          <p:cNvGrpSpPr/>
          <p:nvPr/>
        </p:nvGrpSpPr>
        <p:grpSpPr>
          <a:xfrm>
            <a:off x="342900" y="1714500"/>
            <a:ext cx="4005263" cy="1905000"/>
            <a:chOff x="342900" y="1714500"/>
            <a:chExt cx="4005263" cy="1905000"/>
          </a:xfrm>
        </p:grpSpPr>
        <p:sp>
          <p:nvSpPr>
            <p:cNvPr id="112" name="Rectangle 112"/>
            <p:cNvSpPr/>
            <p:nvPr/>
          </p:nvSpPr>
          <p:spPr>
            <a:xfrm>
              <a:off x="342900" y="1714500"/>
              <a:ext cx="2247900" cy="190500"/>
            </a:xfrm>
            <a:prstGeom prst="roundRect">
              <a:avLst>
                <a:gd name="adj" fmla="val 25000"/>
              </a:avLst>
            </a:prstGeom>
            <a:solidFill>
              <a:srgbClr val="76200F"/>
            </a:solidFill>
            <a:ln>
              <a:noFill/>
            </a:ln>
          </p:spPr>
        </p:sp>
        <p:sp>
          <p:nvSpPr>
            <p:cNvPr id="113" name="TextBox 113"/>
            <p:cNvSpPr txBox="1"/>
            <p:nvPr/>
          </p:nvSpPr>
          <p:spPr>
            <a:xfrm>
              <a:off x="433388" y="1762839"/>
              <a:ext cx="200577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示例活动P&amp;L（线下展位 + 线上联动）​​​</a:t>
              </a:r>
            </a:p>
          </p:txBody>
        </p:sp>
        <p:sp>
          <p:nvSpPr>
            <p:cNvPr id="114" name="TextBox 114"/>
            <p:cNvSpPr txBox="1"/>
            <p:nvPr/>
          </p:nvSpPr>
          <p:spPr>
            <a:xfrm>
              <a:off x="2707582" y="1791176"/>
              <a:ext cx="1640581" cy="104775"/>
            </a:xfrm>
            <a:prstGeom prst="rect">
              <a:avLst/>
            </a:prstGeom>
            <a:noFill/>
            <a:ln>
              <a:noFill/>
            </a:ln>
          </p:spPr>
          <p:txBody>
            <a:bodyPr wrap="none" lIns="0" tIns="0" rIns="0" bIns="0" anchor="t" anchorCtr="0">
              <a:spAutoFit/>
            </a:bodyPr>
            <a:lstStyle/>
            <a:p>
              <a:pPr algn="r"/>
              <a:r>
                <a:rPr lang="zh-CN" sz="520" dirty="0">
                  <a:solidFill>
                    <a:srgbClr val="73615E"/>
                  </a:solidFill>
                  <a:latin typeface="+mn-lt"/>
                  <a:ea typeface="+mn-ea"/>
                  <a:cs typeface="+mn-cs"/>
                </a:rPr>
                <a:t>活动周期：3天（线下）+14天（线上）单位：万元​​</a:t>
              </a:r>
            </a:p>
          </p:txBody>
        </p:sp>
        <p:sp>
          <p:nvSpPr>
            <p:cNvPr id="115" name="Rectangle 115"/>
            <p:cNvSpPr/>
            <p:nvPr/>
          </p:nvSpPr>
          <p:spPr>
            <a:xfrm>
              <a:off x="342900" y="1962150"/>
              <a:ext cx="4000500" cy="190500"/>
            </a:xfrm>
            <a:prstGeom prst="rect">
              <a:avLst/>
            </a:prstGeom>
            <a:solidFill>
              <a:srgbClr val="5D190B"/>
            </a:solidFill>
            <a:ln>
              <a:noFill/>
            </a:ln>
          </p:spPr>
        </p:sp>
        <p:sp>
          <p:nvSpPr>
            <p:cNvPr id="116" name="TextBox 116"/>
            <p:cNvSpPr txBox="1"/>
            <p:nvPr/>
          </p:nvSpPr>
          <p:spPr>
            <a:xfrm>
              <a:off x="584924" y="20266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费用类别</a:t>
              </a:r>
            </a:p>
          </p:txBody>
        </p:sp>
        <p:sp>
          <p:nvSpPr>
            <p:cNvPr id="117" name="TextBox 117"/>
            <p:cNvSpPr txBox="1"/>
            <p:nvPr/>
          </p:nvSpPr>
          <p:spPr>
            <a:xfrm>
              <a:off x="1337831" y="20266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金额</a:t>
              </a:r>
            </a:p>
          </p:txBody>
        </p:sp>
        <p:sp>
          <p:nvSpPr>
            <p:cNvPr id="118" name="TextBox 118"/>
            <p:cNvSpPr txBox="1"/>
            <p:nvPr/>
          </p:nvSpPr>
          <p:spPr>
            <a:xfrm>
              <a:off x="1833131" y="20266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占比</a:t>
              </a:r>
            </a:p>
          </p:txBody>
        </p:sp>
        <p:sp>
          <p:nvSpPr>
            <p:cNvPr id="119" name="TextBox 119"/>
            <p:cNvSpPr txBox="1"/>
            <p:nvPr/>
          </p:nvSpPr>
          <p:spPr>
            <a:xfrm>
              <a:off x="3080474" y="20266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明细说明</a:t>
              </a:r>
            </a:p>
          </p:txBody>
        </p:sp>
        <p:grpSp>
          <p:nvGrpSpPr>
            <p:cNvPr id="154" name="pnl-rows"/>
            <p:cNvGrpSpPr/>
            <p:nvPr/>
          </p:nvGrpSpPr>
          <p:grpSpPr>
            <a:xfrm>
              <a:off x="342900" y="2152650"/>
              <a:ext cx="4000500" cy="1466850"/>
              <a:chOff x="342900" y="2152650"/>
              <a:chExt cx="4000500" cy="1466850"/>
            </a:xfrm>
          </p:grpSpPr>
          <p:sp>
            <p:nvSpPr>
              <p:cNvPr id="120" name="Rectangle 120"/>
              <p:cNvSpPr/>
              <p:nvPr/>
            </p:nvSpPr>
            <p:spPr>
              <a:xfrm>
                <a:off x="342900" y="2152650"/>
                <a:ext cx="4000500" cy="209550"/>
              </a:xfrm>
              <a:prstGeom prst="rect">
                <a:avLst/>
              </a:prstGeom>
              <a:solidFill>
                <a:srgbClr val="FFFFFF"/>
              </a:solidFill>
              <a:ln w="9525">
                <a:solidFill>
                  <a:srgbClr val="E2EEEB"/>
                </a:solidFill>
              </a:ln>
            </p:spPr>
          </p:sp>
          <p:sp>
            <p:nvSpPr>
              <p:cNvPr id="121" name="TextBox 121"/>
              <p:cNvSpPr txBox="1"/>
              <p:nvPr/>
            </p:nvSpPr>
            <p:spPr>
              <a:xfrm>
                <a:off x="584924" y="2226707"/>
                <a:ext cx="354152"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场地租用</a:t>
                </a:r>
              </a:p>
            </p:txBody>
          </p:sp>
          <p:sp>
            <p:nvSpPr>
              <p:cNvPr id="122" name="TextBox 122"/>
              <p:cNvSpPr txBox="1"/>
              <p:nvPr/>
            </p:nvSpPr>
            <p:spPr>
              <a:xfrm>
                <a:off x="1329215" y="222670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6.0​</a:t>
                </a:r>
              </a:p>
            </p:txBody>
          </p:sp>
          <p:sp>
            <p:nvSpPr>
              <p:cNvPr id="123" name="TextBox 123"/>
              <p:cNvSpPr txBox="1"/>
              <p:nvPr/>
            </p:nvSpPr>
            <p:spPr>
              <a:xfrm>
                <a:off x="1815899" y="2226707"/>
                <a:ext cx="216301"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20%​</a:t>
                </a:r>
              </a:p>
            </p:txBody>
          </p:sp>
          <p:sp>
            <p:nvSpPr>
              <p:cNvPr id="124" name="TextBox 124"/>
              <p:cNvSpPr txBox="1"/>
              <p:nvPr/>
            </p:nvSpPr>
            <p:spPr>
              <a:xfrm>
                <a:off x="2792387" y="2230755"/>
                <a:ext cx="930326"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商圈综合性展位租赁 3天​</a:t>
                </a:r>
              </a:p>
            </p:txBody>
          </p:sp>
          <p:sp>
            <p:nvSpPr>
              <p:cNvPr id="125" name="Rectangle 125"/>
              <p:cNvSpPr/>
              <p:nvPr/>
            </p:nvSpPr>
            <p:spPr>
              <a:xfrm>
                <a:off x="342900" y="2362200"/>
                <a:ext cx="4000500" cy="209550"/>
              </a:xfrm>
              <a:prstGeom prst="rect">
                <a:avLst/>
              </a:prstGeom>
              <a:solidFill>
                <a:srgbClr val="EFF8F6"/>
              </a:solidFill>
              <a:ln w="9525">
                <a:solidFill>
                  <a:srgbClr val="E2EEEB"/>
                </a:solidFill>
              </a:ln>
            </p:spPr>
          </p:sp>
          <p:sp>
            <p:nvSpPr>
              <p:cNvPr id="126" name="TextBox 126"/>
              <p:cNvSpPr txBox="1"/>
              <p:nvPr/>
            </p:nvSpPr>
            <p:spPr>
              <a:xfrm>
                <a:off x="584924" y="2436257"/>
                <a:ext cx="354152"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搭建布置</a:t>
                </a:r>
              </a:p>
            </p:txBody>
          </p:sp>
          <p:sp>
            <p:nvSpPr>
              <p:cNvPr id="127" name="TextBox 127"/>
              <p:cNvSpPr txBox="1"/>
              <p:nvPr/>
            </p:nvSpPr>
            <p:spPr>
              <a:xfrm>
                <a:off x="1329215" y="24362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8.0​</a:t>
                </a:r>
              </a:p>
            </p:txBody>
          </p:sp>
          <p:sp>
            <p:nvSpPr>
              <p:cNvPr id="128" name="TextBox 128"/>
              <p:cNvSpPr txBox="1"/>
              <p:nvPr/>
            </p:nvSpPr>
            <p:spPr>
              <a:xfrm>
                <a:off x="1815899" y="2436257"/>
                <a:ext cx="216301"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27%​</a:t>
                </a:r>
              </a:p>
            </p:txBody>
          </p:sp>
          <p:sp>
            <p:nvSpPr>
              <p:cNvPr id="129" name="TextBox 129"/>
              <p:cNvSpPr txBox="1"/>
              <p:nvPr/>
            </p:nvSpPr>
            <p:spPr>
              <a:xfrm>
                <a:off x="2687384" y="2440305"/>
                <a:ext cx="1140333"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展位设计、物料制作、设备租赁</a:t>
                </a:r>
              </a:p>
            </p:txBody>
          </p:sp>
          <p:sp>
            <p:nvSpPr>
              <p:cNvPr id="130" name="Rectangle 130"/>
              <p:cNvSpPr/>
              <p:nvPr/>
            </p:nvSpPr>
            <p:spPr>
              <a:xfrm>
                <a:off x="342900" y="2571750"/>
                <a:ext cx="4000500" cy="209550"/>
              </a:xfrm>
              <a:prstGeom prst="rect">
                <a:avLst/>
              </a:prstGeom>
              <a:solidFill>
                <a:srgbClr val="FFFFFF"/>
              </a:solidFill>
              <a:ln w="9525">
                <a:solidFill>
                  <a:srgbClr val="E2EEEB"/>
                </a:solidFill>
              </a:ln>
            </p:spPr>
          </p:sp>
          <p:sp>
            <p:nvSpPr>
              <p:cNvPr id="131" name="TextBox 131"/>
              <p:cNvSpPr txBox="1"/>
              <p:nvPr/>
            </p:nvSpPr>
            <p:spPr>
              <a:xfrm>
                <a:off x="584924" y="2645807"/>
                <a:ext cx="354152"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人员费用</a:t>
                </a:r>
              </a:p>
            </p:txBody>
          </p:sp>
          <p:sp>
            <p:nvSpPr>
              <p:cNvPr id="132" name="TextBox 132"/>
              <p:cNvSpPr txBox="1"/>
              <p:nvPr/>
            </p:nvSpPr>
            <p:spPr>
              <a:xfrm>
                <a:off x="1329215" y="264580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4.5​</a:t>
                </a:r>
              </a:p>
            </p:txBody>
          </p:sp>
          <p:sp>
            <p:nvSpPr>
              <p:cNvPr id="133" name="TextBox 133"/>
              <p:cNvSpPr txBox="1"/>
              <p:nvPr/>
            </p:nvSpPr>
            <p:spPr>
              <a:xfrm>
                <a:off x="1815899" y="2645807"/>
                <a:ext cx="216301"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15%​</a:t>
                </a:r>
              </a:p>
            </p:txBody>
          </p:sp>
          <p:sp>
            <p:nvSpPr>
              <p:cNvPr id="134" name="TextBox 134"/>
              <p:cNvSpPr txBox="1"/>
              <p:nvPr/>
            </p:nvSpPr>
            <p:spPr>
              <a:xfrm>
                <a:off x="2768156" y="2649855"/>
                <a:ext cx="978789"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现场工作人员、礼仪、兼职</a:t>
                </a:r>
              </a:p>
            </p:txBody>
          </p:sp>
          <p:sp>
            <p:nvSpPr>
              <p:cNvPr id="135" name="Rectangle 135"/>
              <p:cNvSpPr/>
              <p:nvPr/>
            </p:nvSpPr>
            <p:spPr>
              <a:xfrm>
                <a:off x="342900" y="2781300"/>
                <a:ext cx="4000500" cy="209550"/>
              </a:xfrm>
              <a:prstGeom prst="rect">
                <a:avLst/>
              </a:prstGeom>
              <a:solidFill>
                <a:srgbClr val="EFF8F6"/>
              </a:solidFill>
              <a:ln w="9525">
                <a:solidFill>
                  <a:srgbClr val="E2EEEB"/>
                </a:solidFill>
              </a:ln>
            </p:spPr>
          </p:sp>
          <p:sp>
            <p:nvSpPr>
              <p:cNvPr id="136" name="TextBox 136"/>
              <p:cNvSpPr txBox="1"/>
              <p:nvPr/>
            </p:nvSpPr>
            <p:spPr>
              <a:xfrm>
                <a:off x="584924" y="2855357"/>
                <a:ext cx="354152"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权益费用</a:t>
                </a:r>
              </a:p>
            </p:txBody>
          </p:sp>
          <p:sp>
            <p:nvSpPr>
              <p:cNvPr id="137" name="TextBox 137"/>
              <p:cNvSpPr txBox="1"/>
              <p:nvPr/>
            </p:nvSpPr>
            <p:spPr>
              <a:xfrm>
                <a:off x="1329215" y="28553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6.0​</a:t>
                </a:r>
              </a:p>
            </p:txBody>
          </p:sp>
          <p:sp>
            <p:nvSpPr>
              <p:cNvPr id="138" name="TextBox 138"/>
              <p:cNvSpPr txBox="1"/>
              <p:nvPr/>
            </p:nvSpPr>
            <p:spPr>
              <a:xfrm>
                <a:off x="1815899" y="2855357"/>
                <a:ext cx="216301"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20%​</a:t>
                </a:r>
              </a:p>
            </p:txBody>
          </p:sp>
          <p:sp>
            <p:nvSpPr>
              <p:cNvPr id="139" name="TextBox 139"/>
              <p:cNvSpPr txBox="1"/>
              <p:nvPr/>
            </p:nvSpPr>
            <p:spPr>
              <a:xfrm>
                <a:off x="2808542" y="2859405"/>
                <a:ext cx="898017"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礼品、立减金、体验券等</a:t>
                </a:r>
              </a:p>
            </p:txBody>
          </p:sp>
          <p:sp>
            <p:nvSpPr>
              <p:cNvPr id="140" name="Rectangle 140"/>
              <p:cNvSpPr/>
              <p:nvPr/>
            </p:nvSpPr>
            <p:spPr>
              <a:xfrm>
                <a:off x="342900" y="2990850"/>
                <a:ext cx="4000500" cy="209550"/>
              </a:xfrm>
              <a:prstGeom prst="rect">
                <a:avLst/>
              </a:prstGeom>
              <a:solidFill>
                <a:srgbClr val="FFFFFF"/>
              </a:solidFill>
              <a:ln w="9525">
                <a:solidFill>
                  <a:srgbClr val="E2EEEB"/>
                </a:solidFill>
              </a:ln>
            </p:spPr>
          </p:sp>
          <p:sp>
            <p:nvSpPr>
              <p:cNvPr id="141" name="TextBox 141"/>
              <p:cNvSpPr txBox="1"/>
              <p:nvPr/>
            </p:nvSpPr>
            <p:spPr>
              <a:xfrm>
                <a:off x="584924" y="3064907"/>
                <a:ext cx="354152"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传播推广</a:t>
                </a:r>
              </a:p>
            </p:txBody>
          </p:sp>
          <p:sp>
            <p:nvSpPr>
              <p:cNvPr id="142" name="TextBox 142"/>
              <p:cNvSpPr txBox="1"/>
              <p:nvPr/>
            </p:nvSpPr>
            <p:spPr>
              <a:xfrm>
                <a:off x="1329215" y="306490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4.0​</a:t>
                </a:r>
              </a:p>
            </p:txBody>
          </p:sp>
          <p:sp>
            <p:nvSpPr>
              <p:cNvPr id="143" name="TextBox 143"/>
              <p:cNvSpPr txBox="1"/>
              <p:nvPr/>
            </p:nvSpPr>
            <p:spPr>
              <a:xfrm>
                <a:off x="1815899" y="3064907"/>
                <a:ext cx="216301"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13%​</a:t>
                </a:r>
              </a:p>
            </p:txBody>
          </p:sp>
          <p:sp>
            <p:nvSpPr>
              <p:cNvPr id="144" name="TextBox 144"/>
              <p:cNvSpPr txBox="1"/>
              <p:nvPr/>
            </p:nvSpPr>
            <p:spPr>
              <a:xfrm>
                <a:off x="2687384" y="3068955"/>
                <a:ext cx="1140333"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线上投放、社媒传播、社群运营</a:t>
                </a:r>
              </a:p>
            </p:txBody>
          </p:sp>
          <p:sp>
            <p:nvSpPr>
              <p:cNvPr id="145" name="Rectangle 145"/>
              <p:cNvSpPr/>
              <p:nvPr/>
            </p:nvSpPr>
            <p:spPr>
              <a:xfrm>
                <a:off x="342900" y="3200400"/>
                <a:ext cx="4000500" cy="209550"/>
              </a:xfrm>
              <a:prstGeom prst="rect">
                <a:avLst/>
              </a:prstGeom>
              <a:solidFill>
                <a:srgbClr val="EFF8F6"/>
              </a:solidFill>
              <a:ln w="9525">
                <a:solidFill>
                  <a:srgbClr val="E2EEEB"/>
                </a:solidFill>
              </a:ln>
            </p:spPr>
          </p:sp>
          <p:sp>
            <p:nvSpPr>
              <p:cNvPr id="146" name="TextBox 146"/>
              <p:cNvSpPr txBox="1"/>
              <p:nvPr/>
            </p:nvSpPr>
            <p:spPr>
              <a:xfrm>
                <a:off x="584924" y="3274457"/>
                <a:ext cx="354152" cy="126206"/>
              </a:xfrm>
              <a:prstGeom prst="rect">
                <a:avLst/>
              </a:prstGeom>
              <a:noFill/>
              <a:ln>
                <a:noFill/>
              </a:ln>
            </p:spPr>
            <p:txBody>
              <a:bodyPr wrap="none" lIns="0" tIns="0" rIns="0" bIns="0" anchor="t" anchorCtr="0">
                <a:spAutoFit/>
              </a:bodyPr>
              <a:lstStyle/>
              <a:p>
                <a:pPr algn="ctr"/>
                <a:r>
                  <a:rPr lang="zh-CN" sz="640" dirty="0">
                    <a:solidFill>
                      <a:srgbClr val="331712"/>
                    </a:solidFill>
                    <a:latin typeface="+mn-lt"/>
                    <a:ea typeface="+mn-ea"/>
                    <a:cs typeface="+mn-cs"/>
                  </a:rPr>
                  <a:t>系统支持</a:t>
                </a:r>
              </a:p>
            </p:txBody>
          </p:sp>
          <p:sp>
            <p:nvSpPr>
              <p:cNvPr id="147" name="TextBox 147"/>
              <p:cNvSpPr txBox="1"/>
              <p:nvPr/>
            </p:nvSpPr>
            <p:spPr>
              <a:xfrm>
                <a:off x="1329215" y="32744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1.5​</a:t>
                </a:r>
              </a:p>
            </p:txBody>
          </p:sp>
          <p:sp>
            <p:nvSpPr>
              <p:cNvPr id="148" name="TextBox 148"/>
              <p:cNvSpPr txBox="1"/>
              <p:nvPr/>
            </p:nvSpPr>
            <p:spPr>
              <a:xfrm>
                <a:off x="1839592" y="3274457"/>
                <a:ext cx="168915"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5%​</a:t>
                </a:r>
              </a:p>
            </p:txBody>
          </p:sp>
          <p:sp>
            <p:nvSpPr>
              <p:cNvPr id="149" name="TextBox 149"/>
              <p:cNvSpPr txBox="1"/>
              <p:nvPr/>
            </p:nvSpPr>
            <p:spPr>
              <a:xfrm>
                <a:off x="2687384" y="3278505"/>
                <a:ext cx="1140333"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活动页面、数据接口、设备支持</a:t>
                </a:r>
              </a:p>
            </p:txBody>
          </p:sp>
          <p:sp>
            <p:nvSpPr>
              <p:cNvPr id="150" name="Rectangle 150"/>
              <p:cNvSpPr/>
              <p:nvPr/>
            </p:nvSpPr>
            <p:spPr>
              <a:xfrm>
                <a:off x="342900" y="3409950"/>
                <a:ext cx="4000500" cy="209550"/>
              </a:xfrm>
              <a:prstGeom prst="rect">
                <a:avLst/>
              </a:prstGeom>
              <a:solidFill>
                <a:srgbClr val="76200F"/>
              </a:solidFill>
              <a:ln>
                <a:noFill/>
              </a:ln>
            </p:spPr>
          </p:sp>
          <p:sp>
            <p:nvSpPr>
              <p:cNvPr id="151" name="TextBox 151"/>
              <p:cNvSpPr txBox="1"/>
              <p:nvPr/>
            </p:nvSpPr>
            <p:spPr>
              <a:xfrm>
                <a:off x="671081" y="3484007"/>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合计</a:t>
                </a:r>
              </a:p>
            </p:txBody>
          </p:sp>
          <p:sp>
            <p:nvSpPr>
              <p:cNvPr id="152" name="TextBox 152"/>
              <p:cNvSpPr txBox="1"/>
              <p:nvPr/>
            </p:nvSpPr>
            <p:spPr>
              <a:xfrm>
                <a:off x="1274721" y="3484007"/>
                <a:ext cx="30805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30.0​​</a:t>
                </a:r>
              </a:p>
            </p:txBody>
          </p:sp>
          <p:sp>
            <p:nvSpPr>
              <p:cNvPr id="153" name="TextBox 153"/>
              <p:cNvSpPr txBox="1"/>
              <p:nvPr/>
            </p:nvSpPr>
            <p:spPr>
              <a:xfrm>
                <a:off x="1760974" y="3484007"/>
                <a:ext cx="32615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100%​​</a:t>
                </a:r>
              </a:p>
            </p:txBody>
          </p:sp>
        </p:grpSp>
      </p:grpSp>
      <p:grpSp>
        <p:nvGrpSpPr>
          <p:cNvPr id="237" name="funnel7"/>
          <p:cNvGrpSpPr/>
          <p:nvPr/>
        </p:nvGrpSpPr>
        <p:grpSpPr>
          <a:xfrm>
            <a:off x="4419600" y="1714500"/>
            <a:ext cx="3855468" cy="1895713"/>
            <a:chOff x="4419600" y="1714500"/>
            <a:chExt cx="3855468" cy="1895713"/>
          </a:xfrm>
        </p:grpSpPr>
        <p:sp>
          <p:nvSpPr>
            <p:cNvPr id="156" name="Rectangle 156"/>
            <p:cNvSpPr/>
            <p:nvPr/>
          </p:nvSpPr>
          <p:spPr>
            <a:xfrm>
              <a:off x="4419600" y="1714500"/>
              <a:ext cx="1809750" cy="190500"/>
            </a:xfrm>
            <a:prstGeom prst="roundRect">
              <a:avLst>
                <a:gd name="adj" fmla="val 25000"/>
              </a:avLst>
            </a:prstGeom>
            <a:solidFill>
              <a:srgbClr val="76200F"/>
            </a:solidFill>
            <a:ln>
              <a:noFill/>
            </a:ln>
          </p:spPr>
        </p:sp>
        <p:sp>
          <p:nvSpPr>
            <p:cNvPr id="157" name="TextBox 157"/>
            <p:cNvSpPr txBox="1"/>
            <p:nvPr/>
          </p:nvSpPr>
          <p:spPr>
            <a:xfrm>
              <a:off x="4510088" y="1758791"/>
              <a:ext cx="1334186"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活动转化漏斗（量化示例）</a:t>
              </a:r>
            </a:p>
          </p:txBody>
        </p:sp>
        <p:sp>
          <p:nvSpPr>
            <p:cNvPr id="158" name="TextBox 158"/>
            <p:cNvSpPr txBox="1"/>
            <p:nvPr/>
          </p:nvSpPr>
          <p:spPr>
            <a:xfrm>
              <a:off x="6791516" y="2030730"/>
              <a:ext cx="171069" cy="119062"/>
            </a:xfrm>
            <a:prstGeom prst="rect">
              <a:avLst/>
            </a:prstGeom>
            <a:noFill/>
            <a:ln>
              <a:noFill/>
            </a:ln>
          </p:spPr>
          <p:txBody>
            <a:bodyPr wrap="none" lIns="0" tIns="0" rIns="0" bIns="0" anchor="t" anchorCtr="0">
              <a:spAutoFit/>
            </a:bodyPr>
            <a:lstStyle/>
            <a:p>
              <a:pPr algn="ctr"/>
              <a:r>
                <a:rPr lang="zh-CN" sz="600" b="1" dirty="0">
                  <a:solidFill>
                    <a:srgbClr val="73615E"/>
                  </a:solidFill>
                  <a:latin typeface="+mn-lt"/>
                  <a:ea typeface="+mn-ea"/>
                  <a:cs typeface="+mn-cs"/>
                </a:rPr>
                <a:t>数量</a:t>
              </a:r>
            </a:p>
          </p:txBody>
        </p:sp>
        <p:sp>
          <p:nvSpPr>
            <p:cNvPr id="159" name="TextBox 159"/>
            <p:cNvSpPr txBox="1"/>
            <p:nvPr/>
          </p:nvSpPr>
          <p:spPr>
            <a:xfrm>
              <a:off x="7265480" y="2030730"/>
              <a:ext cx="251841" cy="119062"/>
            </a:xfrm>
            <a:prstGeom prst="rect">
              <a:avLst/>
            </a:prstGeom>
            <a:noFill/>
            <a:ln>
              <a:noFill/>
            </a:ln>
          </p:spPr>
          <p:txBody>
            <a:bodyPr wrap="none" lIns="0" tIns="0" rIns="0" bIns="0" anchor="t" anchorCtr="0">
              <a:spAutoFit/>
            </a:bodyPr>
            <a:lstStyle/>
            <a:p>
              <a:pPr algn="ctr"/>
              <a:r>
                <a:rPr lang="zh-CN" sz="600" b="1" dirty="0">
                  <a:solidFill>
                    <a:srgbClr val="73615E"/>
                  </a:solidFill>
                  <a:latin typeface="+mn-lt"/>
                  <a:ea typeface="+mn-ea"/>
                  <a:cs typeface="+mn-cs"/>
                </a:rPr>
                <a:t>转化率</a:t>
              </a:r>
            </a:p>
          </p:txBody>
        </p:sp>
        <p:sp>
          <p:nvSpPr>
            <p:cNvPr id="160" name="TextBox 160"/>
            <p:cNvSpPr txBox="1"/>
            <p:nvPr/>
          </p:nvSpPr>
          <p:spPr>
            <a:xfrm>
              <a:off x="7815644" y="2030730"/>
              <a:ext cx="332613" cy="119062"/>
            </a:xfrm>
            <a:prstGeom prst="rect">
              <a:avLst/>
            </a:prstGeom>
            <a:noFill/>
            <a:ln>
              <a:noFill/>
            </a:ln>
          </p:spPr>
          <p:txBody>
            <a:bodyPr wrap="none" lIns="0" tIns="0" rIns="0" bIns="0" anchor="t" anchorCtr="0">
              <a:spAutoFit/>
            </a:bodyPr>
            <a:lstStyle/>
            <a:p>
              <a:pPr algn="ctr"/>
              <a:r>
                <a:rPr lang="zh-CN" sz="600" b="1" dirty="0">
                  <a:solidFill>
                    <a:srgbClr val="73615E"/>
                  </a:solidFill>
                  <a:latin typeface="+mn-lt"/>
                  <a:ea typeface="+mn-ea"/>
                  <a:cs typeface="+mn-cs"/>
                </a:rPr>
                <a:t>关键指标</a:t>
              </a:r>
            </a:p>
          </p:txBody>
        </p:sp>
        <p:grpSp>
          <p:nvGrpSpPr>
            <p:cNvPr id="236" name="funnel-rows7"/>
            <p:cNvGrpSpPr/>
            <p:nvPr/>
          </p:nvGrpSpPr>
          <p:grpSpPr>
            <a:xfrm>
              <a:off x="4473178" y="2190750"/>
              <a:ext cx="3801890" cy="1419463"/>
              <a:chOff x="4473178" y="2190750"/>
              <a:chExt cx="3801890" cy="1419463"/>
            </a:xfrm>
          </p:grpSpPr>
          <p:grpSp>
            <p:nvGrpSpPr>
              <p:cNvPr id="167" name="Group 167"/>
              <p:cNvGrpSpPr/>
              <p:nvPr/>
            </p:nvGrpSpPr>
            <p:grpSpPr>
              <a:xfrm>
                <a:off x="4473178" y="2206228"/>
                <a:ext cx="92869" cy="92869"/>
                <a:chOff x="4473178" y="2206228"/>
                <a:chExt cx="92869" cy="92869"/>
              </a:xfrm>
            </p:grpSpPr>
            <p:sp>
              <p:nvSpPr>
                <p:cNvPr id="161" name="Freeform 161"/>
                <p:cNvSpPr/>
                <p:nvPr/>
              </p:nvSpPr>
              <p:spPr>
                <a:xfrm>
                  <a:off x="4509294" y="2247503"/>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62" name="Freeform 162"/>
                <p:cNvSpPr/>
                <p:nvPr/>
              </p:nvSpPr>
              <p:spPr>
                <a:xfrm>
                  <a:off x="4498975" y="2283619"/>
                  <a:ext cx="41275" cy="15478"/>
                </a:xfrm>
                <a:custGeom>
                  <a:avLst/>
                  <a:gdLst/>
                  <a:ahLst/>
                  <a:cxnLst/>
                  <a:rect l="l" t="t" r="r" b="b"/>
                  <a:pathLst>
                    <a:path w="41275" h="15478">
                      <a:moveTo>
                        <a:pt x="0" y="15478"/>
                      </a:moveTo>
                      <a:lnTo>
                        <a:pt x="0" y="10319"/>
                      </a:lnTo>
                      <a:cubicBezTo>
                        <a:pt x="0" y="4620"/>
                        <a:pt x="4620" y="0"/>
                        <a:pt x="10319" y="0"/>
                      </a:cubicBezTo>
                      <a:lnTo>
                        <a:pt x="30956" y="0"/>
                      </a:lnTo>
                      <a:cubicBezTo>
                        <a:pt x="36655" y="0"/>
                        <a:pt x="41275" y="4620"/>
                        <a:pt x="41275" y="10319"/>
                      </a:cubicBezTo>
                      <a:lnTo>
                        <a:pt x="41275" y="15478"/>
                      </a:lnTo>
                    </a:path>
                  </a:pathLst>
                </a:custGeom>
                <a:noFill/>
                <a:ln w="10319">
                  <a:solidFill>
                    <a:srgbClr val="76200F"/>
                  </a:solidFill>
                </a:ln>
              </p:spPr>
            </p:sp>
            <p:sp>
              <p:nvSpPr>
                <p:cNvPr id="163" name="Freeform 163"/>
                <p:cNvSpPr/>
                <p:nvPr/>
              </p:nvSpPr>
              <p:spPr>
                <a:xfrm>
                  <a:off x="4535091" y="2206228"/>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64" name="Freeform 164"/>
                <p:cNvSpPr/>
                <p:nvPr/>
              </p:nvSpPr>
              <p:spPr>
                <a:xfrm>
                  <a:off x="4545409" y="2242344"/>
                  <a:ext cx="20638" cy="15478"/>
                </a:xfrm>
                <a:custGeom>
                  <a:avLst/>
                  <a:gdLst/>
                  <a:ahLst/>
                  <a:cxnLst/>
                  <a:rect l="l" t="t" r="r" b="b"/>
                  <a:pathLst>
                    <a:path w="20638" h="15478">
                      <a:moveTo>
                        <a:pt x="0" y="0"/>
                      </a:moveTo>
                      <a:lnTo>
                        <a:pt x="10319" y="0"/>
                      </a:lnTo>
                      <a:cubicBezTo>
                        <a:pt x="16018" y="0"/>
                        <a:pt x="20638" y="4620"/>
                        <a:pt x="20638" y="10319"/>
                      </a:cubicBezTo>
                      <a:lnTo>
                        <a:pt x="20638" y="15478"/>
                      </a:lnTo>
                    </a:path>
                  </a:pathLst>
                </a:custGeom>
                <a:noFill/>
                <a:ln w="10319">
                  <a:solidFill>
                    <a:srgbClr val="76200F"/>
                  </a:solidFill>
                </a:ln>
              </p:spPr>
            </p:sp>
            <p:sp>
              <p:nvSpPr>
                <p:cNvPr id="165" name="Freeform 165"/>
                <p:cNvSpPr/>
                <p:nvPr/>
              </p:nvSpPr>
              <p:spPr>
                <a:xfrm>
                  <a:off x="4483497" y="2206228"/>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sp>
              <p:nvSpPr>
                <p:cNvPr id="166" name="Freeform 166"/>
                <p:cNvSpPr/>
                <p:nvPr/>
              </p:nvSpPr>
              <p:spPr>
                <a:xfrm>
                  <a:off x="4473178" y="2242344"/>
                  <a:ext cx="20638" cy="15478"/>
                </a:xfrm>
                <a:custGeom>
                  <a:avLst/>
                  <a:gdLst/>
                  <a:ahLst/>
                  <a:cxnLst/>
                  <a:rect l="l" t="t" r="r" b="b"/>
                  <a:pathLst>
                    <a:path w="20638" h="15478">
                      <a:moveTo>
                        <a:pt x="0" y="15478"/>
                      </a:moveTo>
                      <a:lnTo>
                        <a:pt x="0" y="10319"/>
                      </a:lnTo>
                      <a:cubicBezTo>
                        <a:pt x="0" y="4620"/>
                        <a:pt x="4620" y="0"/>
                        <a:pt x="10319" y="0"/>
                      </a:cubicBezTo>
                      <a:lnTo>
                        <a:pt x="20638" y="0"/>
                      </a:lnTo>
                    </a:path>
                  </a:pathLst>
                </a:custGeom>
                <a:noFill/>
                <a:ln w="10319">
                  <a:solidFill>
                    <a:srgbClr val="76200F"/>
                  </a:solidFill>
                </a:ln>
              </p:spPr>
            </p:sp>
          </p:grpSp>
          <p:sp>
            <p:nvSpPr>
              <p:cNvPr id="168" name="TextBox 168"/>
              <p:cNvSpPr txBox="1"/>
              <p:nvPr/>
            </p:nvSpPr>
            <p:spPr>
              <a:xfrm>
                <a:off x="4624388" y="2226707"/>
                <a:ext cx="354152" cy="126206"/>
              </a:xfrm>
              <a:prstGeom prst="rect">
                <a:avLst/>
              </a:prstGeom>
              <a:noFill/>
              <a:ln>
                <a:noFill/>
              </a:ln>
            </p:spPr>
            <p:txBody>
              <a:bodyPr wrap="none" lIns="0" tIns="0" rIns="0" bIns="0" anchor="t" anchorCtr="0">
                <a:spAutoFit/>
              </a:bodyPr>
              <a:lstStyle/>
              <a:p>
                <a:pPr algn="l"/>
                <a:r>
                  <a:rPr lang="zh-CN" sz="640" dirty="0">
                    <a:solidFill>
                      <a:srgbClr val="331712"/>
                    </a:solidFill>
                    <a:latin typeface="+mn-lt"/>
                    <a:ea typeface="+mn-ea"/>
                    <a:cs typeface="+mn-cs"/>
                  </a:rPr>
                  <a:t>到场客流</a:t>
                </a:r>
              </a:p>
            </p:txBody>
          </p:sp>
          <p:sp>
            <p:nvSpPr>
              <p:cNvPr id="169" name="Rectangle 169"/>
              <p:cNvSpPr/>
              <p:nvPr/>
            </p:nvSpPr>
            <p:spPr>
              <a:xfrm>
                <a:off x="5143500" y="2190750"/>
                <a:ext cx="1428750" cy="133350"/>
              </a:xfrm>
              <a:prstGeom prst="roundRect">
                <a:avLst>
                  <a:gd name="adj" fmla="val 14286"/>
                </a:avLst>
              </a:prstGeom>
              <a:solidFill>
                <a:srgbClr val="5D190B"/>
              </a:solidFill>
              <a:ln>
                <a:noFill/>
              </a:ln>
            </p:spPr>
          </p:sp>
          <p:sp>
            <p:nvSpPr>
              <p:cNvPr id="170" name="TextBox 170"/>
              <p:cNvSpPr txBox="1"/>
              <p:nvPr/>
            </p:nvSpPr>
            <p:spPr>
              <a:xfrm>
                <a:off x="5666529" y="2230755"/>
                <a:ext cx="382692"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12,000​​</a:t>
                </a:r>
              </a:p>
            </p:txBody>
          </p:sp>
          <p:sp>
            <p:nvSpPr>
              <p:cNvPr id="171" name="TextBox 171"/>
              <p:cNvSpPr txBox="1"/>
              <p:nvPr/>
            </p:nvSpPr>
            <p:spPr>
              <a:xfrm>
                <a:off x="6682743" y="2226707"/>
                <a:ext cx="388615"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12,000​​</a:t>
                </a:r>
              </a:p>
            </p:txBody>
          </p:sp>
          <p:sp>
            <p:nvSpPr>
              <p:cNvPr id="172" name="TextBox 172"/>
              <p:cNvSpPr txBox="1"/>
              <p:nvPr/>
            </p:nvSpPr>
            <p:spPr>
              <a:xfrm>
                <a:off x="7339251" y="2226707"/>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a:t>
                </a:r>
              </a:p>
            </p:txBody>
          </p:sp>
          <p:sp>
            <p:nvSpPr>
              <p:cNvPr id="173" name="TextBox 173"/>
              <p:cNvSpPr txBox="1"/>
              <p:nvPr/>
            </p:nvSpPr>
            <p:spPr>
              <a:xfrm>
                <a:off x="7788720" y="2234803"/>
                <a:ext cx="386461"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现场客流量</a:t>
                </a:r>
              </a:p>
            </p:txBody>
          </p:sp>
          <p:sp>
            <p:nvSpPr>
              <p:cNvPr id="174" name="Freeform 174"/>
              <p:cNvSpPr/>
              <p:nvPr/>
            </p:nvSpPr>
            <p:spPr>
              <a:xfrm>
                <a:off x="4473178" y="2415778"/>
                <a:ext cx="92869" cy="92869"/>
              </a:xfrm>
              <a:custGeom>
                <a:avLst/>
                <a:gdLst/>
                <a:ahLst/>
                <a:cxnLst/>
                <a:rect l="l" t="t" r="r" b="b"/>
                <a:pathLst>
                  <a:path w="92869" h="92869">
                    <a:moveTo>
                      <a:pt x="5159" y="20638"/>
                    </a:moveTo>
                    <a:lnTo>
                      <a:pt x="20638" y="20638"/>
                    </a:lnTo>
                    <a:cubicBezTo>
                      <a:pt x="23487" y="20638"/>
                      <a:pt x="25797" y="18328"/>
                      <a:pt x="25797" y="15478"/>
                    </a:cubicBezTo>
                    <a:lnTo>
                      <a:pt x="25797" y="10319"/>
                    </a:lnTo>
                    <a:cubicBezTo>
                      <a:pt x="25797" y="4620"/>
                      <a:pt x="30417" y="0"/>
                      <a:pt x="36116" y="0"/>
                    </a:cubicBezTo>
                    <a:cubicBezTo>
                      <a:pt x="41815" y="0"/>
                      <a:pt x="46434" y="4620"/>
                      <a:pt x="46434" y="10319"/>
                    </a:cubicBezTo>
                    <a:lnTo>
                      <a:pt x="46434" y="15478"/>
                    </a:lnTo>
                    <a:cubicBezTo>
                      <a:pt x="46434" y="18328"/>
                      <a:pt x="48744" y="20638"/>
                      <a:pt x="51594" y="20638"/>
                    </a:cubicBezTo>
                    <a:lnTo>
                      <a:pt x="67072" y="20638"/>
                    </a:lnTo>
                    <a:cubicBezTo>
                      <a:pt x="69921" y="20638"/>
                      <a:pt x="72231" y="22947"/>
                      <a:pt x="72231" y="25797"/>
                    </a:cubicBezTo>
                    <a:lnTo>
                      <a:pt x="72231" y="41275"/>
                    </a:lnTo>
                    <a:cubicBezTo>
                      <a:pt x="72231" y="44124"/>
                      <a:pt x="74541" y="46434"/>
                      <a:pt x="77391" y="46434"/>
                    </a:cubicBezTo>
                    <a:lnTo>
                      <a:pt x="82550" y="46434"/>
                    </a:lnTo>
                    <a:cubicBezTo>
                      <a:pt x="88249" y="46434"/>
                      <a:pt x="92869" y="51054"/>
                      <a:pt x="92869" y="56753"/>
                    </a:cubicBezTo>
                    <a:cubicBezTo>
                      <a:pt x="92869" y="62452"/>
                      <a:pt x="88249" y="67072"/>
                      <a:pt x="82550" y="67072"/>
                    </a:cubicBezTo>
                    <a:lnTo>
                      <a:pt x="77391" y="67072"/>
                    </a:lnTo>
                    <a:cubicBezTo>
                      <a:pt x="74541" y="67072"/>
                      <a:pt x="72231" y="69382"/>
                      <a:pt x="72231" y="72231"/>
                    </a:cubicBezTo>
                    <a:lnTo>
                      <a:pt x="72231" y="87709"/>
                    </a:lnTo>
                    <a:cubicBezTo>
                      <a:pt x="72231" y="90559"/>
                      <a:pt x="69921" y="92869"/>
                      <a:pt x="67072" y="92869"/>
                    </a:cubicBezTo>
                    <a:lnTo>
                      <a:pt x="51594" y="92869"/>
                    </a:lnTo>
                    <a:cubicBezTo>
                      <a:pt x="48744" y="92869"/>
                      <a:pt x="46434" y="90559"/>
                      <a:pt x="46434" y="87709"/>
                    </a:cubicBezTo>
                    <a:lnTo>
                      <a:pt x="46434" y="82550"/>
                    </a:lnTo>
                    <a:cubicBezTo>
                      <a:pt x="46434" y="76851"/>
                      <a:pt x="41815" y="72231"/>
                      <a:pt x="36116" y="72231"/>
                    </a:cubicBezTo>
                    <a:cubicBezTo>
                      <a:pt x="30417" y="72231"/>
                      <a:pt x="25797" y="76851"/>
                      <a:pt x="25797" y="82550"/>
                    </a:cubicBezTo>
                    <a:lnTo>
                      <a:pt x="25797" y="87709"/>
                    </a:lnTo>
                    <a:cubicBezTo>
                      <a:pt x="25797" y="90559"/>
                      <a:pt x="23487" y="92869"/>
                      <a:pt x="20638" y="92869"/>
                    </a:cubicBezTo>
                    <a:lnTo>
                      <a:pt x="5159" y="92869"/>
                    </a:lnTo>
                    <a:cubicBezTo>
                      <a:pt x="2310" y="92869"/>
                      <a:pt x="0" y="90559"/>
                      <a:pt x="0" y="87709"/>
                    </a:cubicBezTo>
                    <a:lnTo>
                      <a:pt x="0" y="72231"/>
                    </a:lnTo>
                    <a:cubicBezTo>
                      <a:pt x="0" y="69382"/>
                      <a:pt x="2310" y="67072"/>
                      <a:pt x="5159" y="67072"/>
                    </a:cubicBezTo>
                    <a:lnTo>
                      <a:pt x="10319" y="67072"/>
                    </a:lnTo>
                    <a:cubicBezTo>
                      <a:pt x="16018" y="67072"/>
                      <a:pt x="20638" y="62452"/>
                      <a:pt x="20638" y="56753"/>
                    </a:cubicBezTo>
                    <a:cubicBezTo>
                      <a:pt x="20638" y="51054"/>
                      <a:pt x="16018" y="46434"/>
                      <a:pt x="10319" y="46434"/>
                    </a:cubicBezTo>
                    <a:lnTo>
                      <a:pt x="5159" y="46434"/>
                    </a:lnTo>
                    <a:cubicBezTo>
                      <a:pt x="2310" y="46434"/>
                      <a:pt x="0" y="44124"/>
                      <a:pt x="0" y="41275"/>
                    </a:cubicBezTo>
                    <a:lnTo>
                      <a:pt x="0" y="25797"/>
                    </a:lnTo>
                    <a:cubicBezTo>
                      <a:pt x="0" y="22947"/>
                      <a:pt x="2310" y="20638"/>
                      <a:pt x="5159" y="20638"/>
                    </a:cubicBezTo>
                  </a:path>
                </a:pathLst>
              </a:custGeom>
              <a:noFill/>
              <a:ln w="10319">
                <a:solidFill>
                  <a:srgbClr val="76200F"/>
                </a:solidFill>
              </a:ln>
            </p:spPr>
          </p:sp>
          <p:sp>
            <p:nvSpPr>
              <p:cNvPr id="175" name="TextBox 175"/>
              <p:cNvSpPr txBox="1"/>
              <p:nvPr/>
            </p:nvSpPr>
            <p:spPr>
              <a:xfrm>
                <a:off x="4624388" y="2436257"/>
                <a:ext cx="354152" cy="126206"/>
              </a:xfrm>
              <a:prstGeom prst="rect">
                <a:avLst/>
              </a:prstGeom>
              <a:noFill/>
              <a:ln>
                <a:noFill/>
              </a:ln>
            </p:spPr>
            <p:txBody>
              <a:bodyPr wrap="none" lIns="0" tIns="0" rIns="0" bIns="0" anchor="t" anchorCtr="0">
                <a:spAutoFit/>
              </a:bodyPr>
              <a:lstStyle/>
              <a:p>
                <a:pPr algn="l"/>
                <a:r>
                  <a:rPr lang="zh-CN" sz="640" dirty="0">
                    <a:solidFill>
                      <a:srgbClr val="331712"/>
                    </a:solidFill>
                    <a:latin typeface="+mn-lt"/>
                    <a:ea typeface="+mn-ea"/>
                    <a:cs typeface="+mn-cs"/>
                  </a:rPr>
                  <a:t>互动参与</a:t>
                </a:r>
              </a:p>
            </p:txBody>
          </p:sp>
          <p:sp>
            <p:nvSpPr>
              <p:cNvPr id="176" name="Rectangle 176"/>
              <p:cNvSpPr/>
              <p:nvPr/>
            </p:nvSpPr>
            <p:spPr>
              <a:xfrm>
                <a:off x="5334000" y="2400300"/>
                <a:ext cx="1047750" cy="133350"/>
              </a:xfrm>
              <a:prstGeom prst="roundRect">
                <a:avLst>
                  <a:gd name="adj" fmla="val 14286"/>
                </a:avLst>
              </a:prstGeom>
              <a:solidFill>
                <a:srgbClr val="76200F"/>
              </a:solidFill>
              <a:ln>
                <a:noFill/>
              </a:ln>
            </p:spPr>
          </p:sp>
          <p:sp>
            <p:nvSpPr>
              <p:cNvPr id="177" name="TextBox 177"/>
              <p:cNvSpPr txBox="1"/>
              <p:nvPr/>
            </p:nvSpPr>
            <p:spPr>
              <a:xfrm>
                <a:off x="5689852" y="2440305"/>
                <a:ext cx="336046"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5,400​​</a:t>
                </a:r>
              </a:p>
            </p:txBody>
          </p:sp>
          <p:sp>
            <p:nvSpPr>
              <p:cNvPr id="178" name="TextBox 178"/>
              <p:cNvSpPr txBox="1"/>
              <p:nvPr/>
            </p:nvSpPr>
            <p:spPr>
              <a:xfrm>
                <a:off x="6706436" y="2436257"/>
                <a:ext cx="34122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5,400​​</a:t>
                </a:r>
              </a:p>
            </p:txBody>
          </p:sp>
          <p:sp>
            <p:nvSpPr>
              <p:cNvPr id="179" name="TextBox 179"/>
              <p:cNvSpPr txBox="1"/>
              <p:nvPr/>
            </p:nvSpPr>
            <p:spPr>
              <a:xfrm>
                <a:off x="7212170" y="243625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45.0%​​</a:t>
                </a:r>
              </a:p>
            </p:txBody>
          </p:sp>
          <p:sp>
            <p:nvSpPr>
              <p:cNvPr id="180" name="TextBox 180"/>
              <p:cNvSpPr txBox="1"/>
              <p:nvPr/>
            </p:nvSpPr>
            <p:spPr>
              <a:xfrm>
                <a:off x="7751026" y="2444353"/>
                <a:ext cx="461848"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参与互动人数</a:t>
                </a:r>
              </a:p>
            </p:txBody>
          </p:sp>
          <p:grpSp>
            <p:nvGrpSpPr>
              <p:cNvPr id="184" name="Group 184"/>
              <p:cNvGrpSpPr/>
              <p:nvPr/>
            </p:nvGrpSpPr>
            <p:grpSpPr>
              <a:xfrm>
                <a:off x="4483497" y="2625328"/>
                <a:ext cx="72231" cy="92869"/>
                <a:chOff x="4483497" y="2625328"/>
                <a:chExt cx="72231" cy="92869"/>
              </a:xfrm>
            </p:grpSpPr>
            <p:sp>
              <p:nvSpPr>
                <p:cNvPr id="181" name="Freeform 181"/>
                <p:cNvSpPr/>
                <p:nvPr/>
              </p:nvSpPr>
              <p:spPr>
                <a:xfrm>
                  <a:off x="4483497" y="2666603"/>
                  <a:ext cx="72231" cy="51594"/>
                </a:xfrm>
                <a:custGeom>
                  <a:avLst/>
                  <a:gdLst/>
                  <a:ahLst/>
                  <a:cxnLst/>
                  <a:rect l="l" t="t" r="r" b="b"/>
                  <a:pathLst>
                    <a:path w="72231" h="51594">
                      <a:moveTo>
                        <a:pt x="0" y="10319"/>
                      </a:moveTo>
                      <a:cubicBezTo>
                        <a:pt x="0" y="4620"/>
                        <a:pt x="4620" y="0"/>
                        <a:pt x="10319" y="0"/>
                      </a:cubicBezTo>
                      <a:lnTo>
                        <a:pt x="61913" y="0"/>
                      </a:lnTo>
                      <a:cubicBezTo>
                        <a:pt x="67611" y="0"/>
                        <a:pt x="72231" y="4620"/>
                        <a:pt x="72231" y="10319"/>
                      </a:cubicBezTo>
                      <a:lnTo>
                        <a:pt x="72231" y="41275"/>
                      </a:lnTo>
                      <a:cubicBezTo>
                        <a:pt x="72231" y="46974"/>
                        <a:pt x="67611" y="51594"/>
                        <a:pt x="61913" y="51594"/>
                      </a:cubicBezTo>
                      <a:lnTo>
                        <a:pt x="10319" y="51594"/>
                      </a:lnTo>
                      <a:cubicBezTo>
                        <a:pt x="4620" y="51594"/>
                        <a:pt x="0" y="46974"/>
                        <a:pt x="0" y="41275"/>
                      </a:cubicBezTo>
                      <a:lnTo>
                        <a:pt x="0" y="10319"/>
                      </a:lnTo>
                    </a:path>
                  </a:pathLst>
                </a:custGeom>
                <a:noFill/>
                <a:ln w="10319">
                  <a:solidFill>
                    <a:srgbClr val="76200F"/>
                  </a:solidFill>
                </a:ln>
              </p:spPr>
            </p:sp>
            <p:sp>
              <p:nvSpPr>
                <p:cNvPr id="182" name="Freeform 182"/>
                <p:cNvSpPr/>
                <p:nvPr/>
              </p:nvSpPr>
              <p:spPr>
                <a:xfrm>
                  <a:off x="4514453" y="2687241"/>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0319">
                  <a:solidFill>
                    <a:srgbClr val="76200F"/>
                  </a:solidFill>
                </a:ln>
              </p:spPr>
            </p:sp>
            <p:sp>
              <p:nvSpPr>
                <p:cNvPr id="183" name="Freeform 183"/>
                <p:cNvSpPr/>
                <p:nvPr/>
              </p:nvSpPr>
              <p:spPr>
                <a:xfrm>
                  <a:off x="4498975" y="2625328"/>
                  <a:ext cx="41275" cy="41275"/>
                </a:xfrm>
                <a:custGeom>
                  <a:avLst/>
                  <a:gdLst/>
                  <a:ahLst/>
                  <a:cxnLst/>
                  <a:rect l="l" t="t" r="r" b="b"/>
                  <a:pathLst>
                    <a:path w="41275" h="41275">
                      <a:moveTo>
                        <a:pt x="0" y="41275"/>
                      </a:moveTo>
                      <a:lnTo>
                        <a:pt x="0" y="20638"/>
                      </a:lnTo>
                      <a:cubicBezTo>
                        <a:pt x="0" y="9240"/>
                        <a:pt x="9240" y="0"/>
                        <a:pt x="20638" y="0"/>
                      </a:cubicBezTo>
                      <a:cubicBezTo>
                        <a:pt x="32035" y="0"/>
                        <a:pt x="41275" y="9240"/>
                        <a:pt x="41275" y="20638"/>
                      </a:cubicBezTo>
                      <a:lnTo>
                        <a:pt x="41275" y="41275"/>
                      </a:lnTo>
                    </a:path>
                  </a:pathLst>
                </a:custGeom>
                <a:noFill/>
                <a:ln w="10319">
                  <a:solidFill>
                    <a:srgbClr val="76200F"/>
                  </a:solidFill>
                </a:ln>
              </p:spPr>
            </p:sp>
          </p:grpSp>
          <p:sp>
            <p:nvSpPr>
              <p:cNvPr id="185" name="TextBox 185"/>
              <p:cNvSpPr txBox="1"/>
              <p:nvPr/>
            </p:nvSpPr>
            <p:spPr>
              <a:xfrm>
                <a:off x="4624388" y="2645807"/>
                <a:ext cx="354152" cy="126206"/>
              </a:xfrm>
              <a:prstGeom prst="rect">
                <a:avLst/>
              </a:prstGeom>
              <a:noFill/>
              <a:ln>
                <a:noFill/>
              </a:ln>
            </p:spPr>
            <p:txBody>
              <a:bodyPr wrap="none" lIns="0" tIns="0" rIns="0" bIns="0" anchor="t" anchorCtr="0">
                <a:spAutoFit/>
              </a:bodyPr>
              <a:lstStyle/>
              <a:p>
                <a:pPr algn="l"/>
                <a:r>
                  <a:rPr lang="zh-CN" sz="640" dirty="0">
                    <a:solidFill>
                      <a:srgbClr val="331712"/>
                    </a:solidFill>
                    <a:latin typeface="+mn-lt"/>
                    <a:ea typeface="+mn-ea"/>
                    <a:cs typeface="+mn-cs"/>
                  </a:rPr>
                  <a:t>授权留资</a:t>
                </a:r>
              </a:p>
            </p:txBody>
          </p:sp>
          <p:sp>
            <p:nvSpPr>
              <p:cNvPr id="186" name="Rectangle 186"/>
              <p:cNvSpPr/>
              <p:nvPr/>
            </p:nvSpPr>
            <p:spPr>
              <a:xfrm>
                <a:off x="5486400" y="2609850"/>
                <a:ext cx="742950" cy="133350"/>
              </a:xfrm>
              <a:prstGeom prst="roundRect">
                <a:avLst>
                  <a:gd name="adj" fmla="val 14286"/>
                </a:avLst>
              </a:prstGeom>
              <a:solidFill>
                <a:srgbClr val="852512"/>
              </a:solidFill>
              <a:ln>
                <a:noFill/>
              </a:ln>
            </p:spPr>
          </p:sp>
          <p:sp>
            <p:nvSpPr>
              <p:cNvPr id="187" name="TextBox 187"/>
              <p:cNvSpPr txBox="1"/>
              <p:nvPr/>
            </p:nvSpPr>
            <p:spPr>
              <a:xfrm>
                <a:off x="5689852" y="2649855"/>
                <a:ext cx="336046"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2,700​​</a:t>
                </a:r>
              </a:p>
            </p:txBody>
          </p:sp>
          <p:sp>
            <p:nvSpPr>
              <p:cNvPr id="188" name="TextBox 188"/>
              <p:cNvSpPr txBox="1"/>
              <p:nvPr/>
            </p:nvSpPr>
            <p:spPr>
              <a:xfrm>
                <a:off x="6706436" y="2645807"/>
                <a:ext cx="34122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2,700​​</a:t>
                </a:r>
              </a:p>
            </p:txBody>
          </p:sp>
          <p:sp>
            <p:nvSpPr>
              <p:cNvPr id="189" name="TextBox 189"/>
              <p:cNvSpPr txBox="1"/>
              <p:nvPr/>
            </p:nvSpPr>
            <p:spPr>
              <a:xfrm>
                <a:off x="7212170" y="264580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50.0%​​</a:t>
                </a:r>
              </a:p>
            </p:txBody>
          </p:sp>
          <p:sp>
            <p:nvSpPr>
              <p:cNvPr id="190" name="TextBox 190"/>
              <p:cNvSpPr txBox="1"/>
              <p:nvPr/>
            </p:nvSpPr>
            <p:spPr>
              <a:xfrm>
                <a:off x="7713332" y="2653903"/>
                <a:ext cx="537235"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完成授权并留资</a:t>
                </a:r>
              </a:p>
            </p:txBody>
          </p:sp>
          <p:grpSp>
            <p:nvGrpSpPr>
              <p:cNvPr id="199" name="Group 199"/>
              <p:cNvGrpSpPr/>
              <p:nvPr/>
            </p:nvGrpSpPr>
            <p:grpSpPr>
              <a:xfrm>
                <a:off x="4473178" y="2834878"/>
                <a:ext cx="97235" cy="102394"/>
                <a:chOff x="4473178" y="2834878"/>
                <a:chExt cx="97235" cy="102394"/>
              </a:xfrm>
            </p:grpSpPr>
            <p:sp>
              <p:nvSpPr>
                <p:cNvPr id="191" name="Freeform 191"/>
                <p:cNvSpPr/>
                <p:nvPr/>
              </p:nvSpPr>
              <p:spPr>
                <a:xfrm>
                  <a:off x="4473178" y="2927747"/>
                  <a:ext cx="92869" cy="9525"/>
                </a:xfrm>
                <a:custGeom>
                  <a:avLst/>
                  <a:gdLst/>
                  <a:ahLst/>
                  <a:cxnLst/>
                  <a:rect l="l" t="t" r="r" b="b"/>
                  <a:pathLst>
                    <a:path w="92869" h="9525">
                      <a:moveTo>
                        <a:pt x="0" y="0"/>
                      </a:moveTo>
                      <a:lnTo>
                        <a:pt x="92869" y="0"/>
                      </a:lnTo>
                    </a:path>
                  </a:pathLst>
                </a:custGeom>
                <a:noFill/>
                <a:ln w="10319">
                  <a:solidFill>
                    <a:srgbClr val="76200F"/>
                  </a:solidFill>
                </a:ln>
              </p:spPr>
            </p:sp>
            <p:sp>
              <p:nvSpPr>
                <p:cNvPr id="192" name="Freeform 192"/>
                <p:cNvSpPr/>
                <p:nvPr/>
              </p:nvSpPr>
              <p:spPr>
                <a:xfrm>
                  <a:off x="4473178" y="2870994"/>
                  <a:ext cx="92869" cy="9525"/>
                </a:xfrm>
                <a:custGeom>
                  <a:avLst/>
                  <a:gdLst/>
                  <a:ahLst/>
                  <a:cxnLst/>
                  <a:rect l="l" t="t" r="r" b="b"/>
                  <a:pathLst>
                    <a:path w="92869" h="9525">
                      <a:moveTo>
                        <a:pt x="0" y="0"/>
                      </a:moveTo>
                      <a:lnTo>
                        <a:pt x="92869" y="0"/>
                      </a:lnTo>
                    </a:path>
                  </a:pathLst>
                </a:custGeom>
                <a:noFill/>
                <a:ln w="10319">
                  <a:solidFill>
                    <a:srgbClr val="76200F"/>
                  </a:solidFill>
                </a:ln>
              </p:spPr>
            </p:sp>
            <p:sp>
              <p:nvSpPr>
                <p:cNvPr id="193" name="Freeform 193"/>
                <p:cNvSpPr/>
                <p:nvPr/>
              </p:nvSpPr>
              <p:spPr>
                <a:xfrm>
                  <a:off x="4483497" y="2834878"/>
                  <a:ext cx="72231" cy="15478"/>
                </a:xfrm>
                <a:custGeom>
                  <a:avLst/>
                  <a:gdLst/>
                  <a:ahLst/>
                  <a:cxnLst/>
                  <a:rect l="l" t="t" r="r" b="b"/>
                  <a:pathLst>
                    <a:path w="72231" h="15478">
                      <a:moveTo>
                        <a:pt x="0" y="15478"/>
                      </a:moveTo>
                      <a:lnTo>
                        <a:pt x="36116" y="0"/>
                      </a:lnTo>
                      <a:lnTo>
                        <a:pt x="72231" y="15478"/>
                      </a:lnTo>
                    </a:path>
                  </a:pathLst>
                </a:custGeom>
                <a:noFill/>
                <a:ln w="10319">
                  <a:solidFill>
                    <a:srgbClr val="76200F"/>
                  </a:solidFill>
                </a:ln>
              </p:spPr>
            </p:sp>
            <p:sp>
              <p:nvSpPr>
                <p:cNvPr id="194" name="Freeform 194"/>
                <p:cNvSpPr/>
                <p:nvPr/>
              </p:nvSpPr>
              <p:spPr>
                <a:xfrm>
                  <a:off x="4478338" y="2870994"/>
                  <a:ext cx="9525" cy="56753"/>
                </a:xfrm>
                <a:custGeom>
                  <a:avLst/>
                  <a:gdLst/>
                  <a:ahLst/>
                  <a:cxnLst/>
                  <a:rect l="l" t="t" r="r" b="b"/>
                  <a:pathLst>
                    <a:path w="9525" h="56753">
                      <a:moveTo>
                        <a:pt x="0" y="0"/>
                      </a:moveTo>
                      <a:lnTo>
                        <a:pt x="0" y="56753"/>
                      </a:lnTo>
                    </a:path>
                  </a:pathLst>
                </a:custGeom>
                <a:noFill/>
                <a:ln w="10319">
                  <a:solidFill>
                    <a:srgbClr val="76200F"/>
                  </a:solidFill>
                </a:ln>
              </p:spPr>
            </p:sp>
            <p:sp>
              <p:nvSpPr>
                <p:cNvPr id="195" name="Freeform 195"/>
                <p:cNvSpPr/>
                <p:nvPr/>
              </p:nvSpPr>
              <p:spPr>
                <a:xfrm>
                  <a:off x="4560888" y="2870994"/>
                  <a:ext cx="9525" cy="56753"/>
                </a:xfrm>
                <a:custGeom>
                  <a:avLst/>
                  <a:gdLst/>
                  <a:ahLst/>
                  <a:cxnLst/>
                  <a:rect l="l" t="t" r="r" b="b"/>
                  <a:pathLst>
                    <a:path w="9525" h="56753">
                      <a:moveTo>
                        <a:pt x="0" y="0"/>
                      </a:moveTo>
                      <a:lnTo>
                        <a:pt x="0" y="56753"/>
                      </a:lnTo>
                    </a:path>
                  </a:pathLst>
                </a:custGeom>
                <a:noFill/>
                <a:ln w="10319">
                  <a:solidFill>
                    <a:srgbClr val="76200F"/>
                  </a:solidFill>
                </a:ln>
              </p:spPr>
            </p:sp>
            <p:sp>
              <p:nvSpPr>
                <p:cNvPr id="196" name="Freeform 196"/>
                <p:cNvSpPr/>
                <p:nvPr/>
              </p:nvSpPr>
              <p:spPr>
                <a:xfrm>
                  <a:off x="4498975" y="2891631"/>
                  <a:ext cx="9525" cy="15478"/>
                </a:xfrm>
                <a:custGeom>
                  <a:avLst/>
                  <a:gdLst/>
                  <a:ahLst/>
                  <a:cxnLst/>
                  <a:rect l="l" t="t" r="r" b="b"/>
                  <a:pathLst>
                    <a:path w="9525" h="15478">
                      <a:moveTo>
                        <a:pt x="0" y="0"/>
                      </a:moveTo>
                      <a:lnTo>
                        <a:pt x="0" y="15478"/>
                      </a:lnTo>
                    </a:path>
                  </a:pathLst>
                </a:custGeom>
                <a:noFill/>
                <a:ln w="10319">
                  <a:solidFill>
                    <a:srgbClr val="76200F"/>
                  </a:solidFill>
                </a:ln>
              </p:spPr>
            </p:sp>
            <p:sp>
              <p:nvSpPr>
                <p:cNvPr id="197" name="Freeform 197"/>
                <p:cNvSpPr/>
                <p:nvPr/>
              </p:nvSpPr>
              <p:spPr>
                <a:xfrm>
                  <a:off x="4519613" y="2891631"/>
                  <a:ext cx="9525" cy="15478"/>
                </a:xfrm>
                <a:custGeom>
                  <a:avLst/>
                  <a:gdLst/>
                  <a:ahLst/>
                  <a:cxnLst/>
                  <a:rect l="l" t="t" r="r" b="b"/>
                  <a:pathLst>
                    <a:path w="9525" h="15478">
                      <a:moveTo>
                        <a:pt x="0" y="0"/>
                      </a:moveTo>
                      <a:lnTo>
                        <a:pt x="0" y="15478"/>
                      </a:lnTo>
                    </a:path>
                  </a:pathLst>
                </a:custGeom>
                <a:noFill/>
                <a:ln w="10319">
                  <a:solidFill>
                    <a:srgbClr val="76200F"/>
                  </a:solidFill>
                </a:ln>
              </p:spPr>
            </p:sp>
            <p:sp>
              <p:nvSpPr>
                <p:cNvPr id="198" name="Freeform 198"/>
                <p:cNvSpPr/>
                <p:nvPr/>
              </p:nvSpPr>
              <p:spPr>
                <a:xfrm>
                  <a:off x="4540250" y="2891631"/>
                  <a:ext cx="9525" cy="15478"/>
                </a:xfrm>
                <a:custGeom>
                  <a:avLst/>
                  <a:gdLst/>
                  <a:ahLst/>
                  <a:cxnLst/>
                  <a:rect l="l" t="t" r="r" b="b"/>
                  <a:pathLst>
                    <a:path w="9525" h="15478">
                      <a:moveTo>
                        <a:pt x="0" y="0"/>
                      </a:moveTo>
                      <a:lnTo>
                        <a:pt x="0" y="15478"/>
                      </a:lnTo>
                    </a:path>
                  </a:pathLst>
                </a:custGeom>
                <a:noFill/>
                <a:ln w="10319">
                  <a:solidFill>
                    <a:srgbClr val="76200F"/>
                  </a:solidFill>
                </a:ln>
              </p:spPr>
            </p:sp>
          </p:grpSp>
          <p:sp>
            <p:nvSpPr>
              <p:cNvPr id="200" name="TextBox 200"/>
              <p:cNvSpPr txBox="1"/>
              <p:nvPr/>
            </p:nvSpPr>
            <p:spPr>
              <a:xfrm>
                <a:off x="4624388" y="2855357"/>
                <a:ext cx="354152" cy="126206"/>
              </a:xfrm>
              <a:prstGeom prst="rect">
                <a:avLst/>
              </a:prstGeom>
              <a:noFill/>
              <a:ln>
                <a:noFill/>
              </a:ln>
            </p:spPr>
            <p:txBody>
              <a:bodyPr wrap="none" lIns="0" tIns="0" rIns="0" bIns="0" anchor="t" anchorCtr="0">
                <a:spAutoFit/>
              </a:bodyPr>
              <a:lstStyle/>
              <a:p>
                <a:pPr algn="l"/>
                <a:r>
                  <a:rPr lang="zh-CN" sz="640" dirty="0">
                    <a:solidFill>
                      <a:srgbClr val="331712"/>
                    </a:solidFill>
                    <a:latin typeface="+mn-lt"/>
                    <a:ea typeface="+mn-ea"/>
                    <a:cs typeface="+mn-cs"/>
                  </a:rPr>
                  <a:t>开立账户</a:t>
                </a:r>
              </a:p>
            </p:txBody>
          </p:sp>
          <p:sp>
            <p:nvSpPr>
              <p:cNvPr id="201" name="Rectangle 201"/>
              <p:cNvSpPr/>
              <p:nvPr/>
            </p:nvSpPr>
            <p:spPr>
              <a:xfrm>
                <a:off x="5619750" y="2819400"/>
                <a:ext cx="476250" cy="133350"/>
              </a:xfrm>
              <a:prstGeom prst="roundRect">
                <a:avLst>
                  <a:gd name="adj" fmla="val 14286"/>
                </a:avLst>
              </a:prstGeom>
              <a:solidFill>
                <a:srgbClr val="A3422F"/>
              </a:solidFill>
              <a:ln>
                <a:noFill/>
              </a:ln>
            </p:spPr>
          </p:sp>
          <p:sp>
            <p:nvSpPr>
              <p:cNvPr id="202" name="TextBox 202"/>
              <p:cNvSpPr txBox="1"/>
              <p:nvPr/>
            </p:nvSpPr>
            <p:spPr>
              <a:xfrm>
                <a:off x="5759821" y="2859405"/>
                <a:ext cx="196108"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810​</a:t>
                </a:r>
              </a:p>
            </p:txBody>
          </p:sp>
          <p:sp>
            <p:nvSpPr>
              <p:cNvPr id="203" name="TextBox 203"/>
              <p:cNvSpPr txBox="1"/>
              <p:nvPr/>
            </p:nvSpPr>
            <p:spPr>
              <a:xfrm>
                <a:off x="6777515" y="28553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810​</a:t>
                </a:r>
              </a:p>
            </p:txBody>
          </p:sp>
          <p:sp>
            <p:nvSpPr>
              <p:cNvPr id="204" name="TextBox 204"/>
              <p:cNvSpPr txBox="1"/>
              <p:nvPr/>
            </p:nvSpPr>
            <p:spPr>
              <a:xfrm>
                <a:off x="7212170" y="285535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30.0%​​</a:t>
                </a:r>
              </a:p>
            </p:txBody>
          </p:sp>
          <p:sp>
            <p:nvSpPr>
              <p:cNvPr id="205" name="TextBox 205"/>
              <p:cNvSpPr txBox="1"/>
              <p:nvPr/>
            </p:nvSpPr>
            <p:spPr>
              <a:xfrm>
                <a:off x="7751026" y="2863453"/>
                <a:ext cx="461848"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成功开户人数</a:t>
                </a:r>
              </a:p>
            </p:txBody>
          </p:sp>
          <p:grpSp>
            <p:nvGrpSpPr>
              <p:cNvPr id="210" name="Group 210"/>
              <p:cNvGrpSpPr/>
              <p:nvPr/>
            </p:nvGrpSpPr>
            <p:grpSpPr>
              <a:xfrm>
                <a:off x="4473178" y="3054747"/>
                <a:ext cx="92869" cy="72231"/>
                <a:chOff x="4473178" y="3054747"/>
                <a:chExt cx="92869" cy="72231"/>
              </a:xfrm>
            </p:grpSpPr>
            <p:sp>
              <p:nvSpPr>
                <p:cNvPr id="206" name="Freeform 206"/>
                <p:cNvSpPr/>
                <p:nvPr/>
              </p:nvSpPr>
              <p:spPr>
                <a:xfrm>
                  <a:off x="4473178" y="3054747"/>
                  <a:ext cx="92869" cy="72231"/>
                </a:xfrm>
                <a:custGeom>
                  <a:avLst/>
                  <a:gdLst/>
                  <a:ahLst/>
                  <a:cxnLst/>
                  <a:rect l="l" t="t" r="r" b="b"/>
                  <a:pathLst>
                    <a:path w="92869" h="72231">
                      <a:moveTo>
                        <a:pt x="0" y="15478"/>
                      </a:moveTo>
                      <a:cubicBezTo>
                        <a:pt x="0" y="6930"/>
                        <a:pt x="6930" y="0"/>
                        <a:pt x="15478" y="0"/>
                      </a:cubicBezTo>
                      <a:lnTo>
                        <a:pt x="77391" y="0"/>
                      </a:lnTo>
                      <a:cubicBezTo>
                        <a:pt x="85939" y="0"/>
                        <a:pt x="92869" y="6930"/>
                        <a:pt x="92869" y="15478"/>
                      </a:cubicBezTo>
                      <a:lnTo>
                        <a:pt x="92869" y="56753"/>
                      </a:lnTo>
                      <a:cubicBezTo>
                        <a:pt x="92869" y="65301"/>
                        <a:pt x="85939" y="72231"/>
                        <a:pt x="77391" y="72231"/>
                      </a:cubicBezTo>
                      <a:lnTo>
                        <a:pt x="15478" y="72231"/>
                      </a:lnTo>
                      <a:cubicBezTo>
                        <a:pt x="6930" y="72231"/>
                        <a:pt x="0" y="65301"/>
                        <a:pt x="0" y="56753"/>
                      </a:cubicBezTo>
                      <a:lnTo>
                        <a:pt x="0" y="15478"/>
                      </a:lnTo>
                    </a:path>
                  </a:pathLst>
                </a:custGeom>
                <a:noFill/>
                <a:ln w="10319">
                  <a:solidFill>
                    <a:srgbClr val="76200F"/>
                  </a:solidFill>
                </a:ln>
              </p:spPr>
            </p:sp>
            <p:sp>
              <p:nvSpPr>
                <p:cNvPr id="207" name="Freeform 207"/>
                <p:cNvSpPr/>
                <p:nvPr/>
              </p:nvSpPr>
              <p:spPr>
                <a:xfrm>
                  <a:off x="4473178" y="3080544"/>
                  <a:ext cx="92869" cy="9525"/>
                </a:xfrm>
                <a:custGeom>
                  <a:avLst/>
                  <a:gdLst/>
                  <a:ahLst/>
                  <a:cxnLst/>
                  <a:rect l="l" t="t" r="r" b="b"/>
                  <a:pathLst>
                    <a:path w="92869" h="9525">
                      <a:moveTo>
                        <a:pt x="0" y="0"/>
                      </a:moveTo>
                      <a:lnTo>
                        <a:pt x="92869" y="0"/>
                      </a:lnTo>
                    </a:path>
                  </a:pathLst>
                </a:custGeom>
                <a:noFill/>
                <a:ln w="10319">
                  <a:solidFill>
                    <a:srgbClr val="76200F"/>
                  </a:solidFill>
                </a:ln>
              </p:spPr>
            </p:sp>
            <p:sp>
              <p:nvSpPr>
                <p:cNvPr id="208" name="Freeform 208"/>
                <p:cNvSpPr/>
                <p:nvPr/>
              </p:nvSpPr>
              <p:spPr>
                <a:xfrm>
                  <a:off x="4493816" y="3106341"/>
                  <a:ext cx="9525" cy="9525"/>
                </a:xfrm>
                <a:custGeom>
                  <a:avLst/>
                  <a:gdLst/>
                  <a:ahLst/>
                  <a:cxnLst/>
                  <a:rect l="l" t="t" r="r" b="b"/>
                  <a:pathLst>
                    <a:path w="9525" h="9525">
                      <a:moveTo>
                        <a:pt x="0" y="0"/>
                      </a:moveTo>
                      <a:lnTo>
                        <a:pt x="52" y="0"/>
                      </a:lnTo>
                    </a:path>
                  </a:pathLst>
                </a:custGeom>
                <a:noFill/>
                <a:ln w="10319">
                  <a:solidFill>
                    <a:srgbClr val="76200F"/>
                  </a:solidFill>
                </a:ln>
              </p:spPr>
            </p:sp>
            <p:sp>
              <p:nvSpPr>
                <p:cNvPr id="209" name="Freeform 209"/>
                <p:cNvSpPr/>
                <p:nvPr/>
              </p:nvSpPr>
              <p:spPr>
                <a:xfrm>
                  <a:off x="4514453" y="3106341"/>
                  <a:ext cx="10319" cy="9525"/>
                </a:xfrm>
                <a:custGeom>
                  <a:avLst/>
                  <a:gdLst/>
                  <a:ahLst/>
                  <a:cxnLst/>
                  <a:rect l="l" t="t" r="r" b="b"/>
                  <a:pathLst>
                    <a:path w="10319" h="9525">
                      <a:moveTo>
                        <a:pt x="0" y="0"/>
                      </a:moveTo>
                      <a:lnTo>
                        <a:pt x="10319" y="0"/>
                      </a:lnTo>
                    </a:path>
                  </a:pathLst>
                </a:custGeom>
                <a:noFill/>
                <a:ln w="10319">
                  <a:solidFill>
                    <a:srgbClr val="76200F"/>
                  </a:solidFill>
                </a:ln>
              </p:spPr>
            </p:sp>
          </p:grpSp>
          <p:sp>
            <p:nvSpPr>
              <p:cNvPr id="211" name="TextBox 211"/>
              <p:cNvSpPr txBox="1"/>
              <p:nvPr/>
            </p:nvSpPr>
            <p:spPr>
              <a:xfrm>
                <a:off x="4624388" y="3064907"/>
                <a:ext cx="440309" cy="126206"/>
              </a:xfrm>
              <a:prstGeom prst="rect">
                <a:avLst/>
              </a:prstGeom>
              <a:noFill/>
              <a:ln>
                <a:noFill/>
              </a:ln>
            </p:spPr>
            <p:txBody>
              <a:bodyPr wrap="none" lIns="0" tIns="0" rIns="0" bIns="0" anchor="t" anchorCtr="0">
                <a:spAutoFit/>
              </a:bodyPr>
              <a:lstStyle/>
              <a:p>
                <a:pPr algn="l"/>
                <a:r>
                  <a:rPr lang="zh-CN" sz="640" dirty="0">
                    <a:solidFill>
                      <a:srgbClr val="331712"/>
                    </a:solidFill>
                    <a:latin typeface="+mn-lt"/>
                    <a:ea typeface="+mn-ea"/>
                    <a:cs typeface="+mn-cs"/>
                  </a:rPr>
                  <a:t>绑定银行卡</a:t>
                </a:r>
              </a:p>
            </p:txBody>
          </p:sp>
          <p:sp>
            <p:nvSpPr>
              <p:cNvPr id="212" name="Rectangle 212"/>
              <p:cNvSpPr/>
              <p:nvPr/>
            </p:nvSpPr>
            <p:spPr>
              <a:xfrm>
                <a:off x="5667375" y="3028950"/>
                <a:ext cx="381000" cy="133350"/>
              </a:xfrm>
              <a:prstGeom prst="roundRect">
                <a:avLst>
                  <a:gd name="adj" fmla="val 14286"/>
                </a:avLst>
              </a:prstGeom>
              <a:solidFill>
                <a:srgbClr val="B55745"/>
              </a:solidFill>
              <a:ln>
                <a:noFill/>
              </a:ln>
            </p:spPr>
          </p:sp>
          <p:sp>
            <p:nvSpPr>
              <p:cNvPr id="213" name="TextBox 213"/>
              <p:cNvSpPr txBox="1"/>
              <p:nvPr/>
            </p:nvSpPr>
            <p:spPr>
              <a:xfrm>
                <a:off x="5759821" y="3068955"/>
                <a:ext cx="196108"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567​</a:t>
                </a:r>
              </a:p>
            </p:txBody>
          </p:sp>
          <p:sp>
            <p:nvSpPr>
              <p:cNvPr id="214" name="TextBox 214"/>
              <p:cNvSpPr txBox="1"/>
              <p:nvPr/>
            </p:nvSpPr>
            <p:spPr>
              <a:xfrm>
                <a:off x="6777515" y="306490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567​</a:t>
                </a:r>
              </a:p>
            </p:txBody>
          </p:sp>
          <p:sp>
            <p:nvSpPr>
              <p:cNvPr id="215" name="TextBox 215"/>
              <p:cNvSpPr txBox="1"/>
              <p:nvPr/>
            </p:nvSpPr>
            <p:spPr>
              <a:xfrm>
                <a:off x="7212170" y="306490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70.0%​​</a:t>
                </a:r>
              </a:p>
            </p:txBody>
          </p:sp>
          <p:sp>
            <p:nvSpPr>
              <p:cNvPr id="216" name="TextBox 216"/>
              <p:cNvSpPr txBox="1"/>
              <p:nvPr/>
            </p:nvSpPr>
            <p:spPr>
              <a:xfrm>
                <a:off x="7751026" y="3073003"/>
                <a:ext cx="461848"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成功绑卡人数</a:t>
                </a:r>
              </a:p>
            </p:txBody>
          </p:sp>
          <p:grpSp>
            <p:nvGrpSpPr>
              <p:cNvPr id="220" name="Group 220"/>
              <p:cNvGrpSpPr/>
              <p:nvPr/>
            </p:nvGrpSpPr>
            <p:grpSpPr>
              <a:xfrm>
                <a:off x="4473178" y="3264297"/>
                <a:ext cx="92869" cy="72231"/>
                <a:chOff x="4473178" y="3264297"/>
                <a:chExt cx="92869" cy="72231"/>
              </a:xfrm>
            </p:grpSpPr>
            <p:sp>
              <p:nvSpPr>
                <p:cNvPr id="217" name="Freeform 217"/>
                <p:cNvSpPr/>
                <p:nvPr/>
              </p:nvSpPr>
              <p:spPr>
                <a:xfrm>
                  <a:off x="4473178" y="3264297"/>
                  <a:ext cx="72231" cy="51594"/>
                </a:xfrm>
                <a:custGeom>
                  <a:avLst/>
                  <a:gdLst/>
                  <a:ahLst/>
                  <a:cxnLst/>
                  <a:rect l="l" t="t" r="r" b="b"/>
                  <a:pathLst>
                    <a:path w="72231" h="51594">
                      <a:moveTo>
                        <a:pt x="20638" y="51594"/>
                      </a:moveTo>
                      <a:lnTo>
                        <a:pt x="5159" y="51594"/>
                      </a:lnTo>
                      <a:cubicBezTo>
                        <a:pt x="2310" y="51594"/>
                        <a:pt x="0" y="49284"/>
                        <a:pt x="0" y="46434"/>
                      </a:cubicBezTo>
                      <a:lnTo>
                        <a:pt x="0" y="5159"/>
                      </a:lnTo>
                      <a:cubicBezTo>
                        <a:pt x="0" y="2310"/>
                        <a:pt x="2310" y="0"/>
                        <a:pt x="5159" y="0"/>
                      </a:cubicBezTo>
                      <a:lnTo>
                        <a:pt x="67072" y="0"/>
                      </a:lnTo>
                      <a:cubicBezTo>
                        <a:pt x="69921" y="0"/>
                        <a:pt x="72231" y="2310"/>
                        <a:pt x="72231" y="5159"/>
                      </a:cubicBezTo>
                      <a:lnTo>
                        <a:pt x="72231" y="20638"/>
                      </a:lnTo>
                    </a:path>
                  </a:pathLst>
                </a:custGeom>
                <a:noFill/>
                <a:ln w="10319">
                  <a:solidFill>
                    <a:srgbClr val="76200F"/>
                  </a:solidFill>
                </a:ln>
              </p:spPr>
            </p:sp>
            <p:sp>
              <p:nvSpPr>
                <p:cNvPr id="218" name="Freeform 218"/>
                <p:cNvSpPr/>
                <p:nvPr/>
              </p:nvSpPr>
              <p:spPr>
                <a:xfrm>
                  <a:off x="4493816" y="3284934"/>
                  <a:ext cx="72231" cy="51594"/>
                </a:xfrm>
                <a:custGeom>
                  <a:avLst/>
                  <a:gdLst/>
                  <a:ahLst/>
                  <a:cxnLst/>
                  <a:rect l="l" t="t" r="r" b="b"/>
                  <a:pathLst>
                    <a:path w="72231" h="51594">
                      <a:moveTo>
                        <a:pt x="0" y="5159"/>
                      </a:moveTo>
                      <a:cubicBezTo>
                        <a:pt x="0" y="2310"/>
                        <a:pt x="2310" y="0"/>
                        <a:pt x="5159" y="0"/>
                      </a:cubicBezTo>
                      <a:lnTo>
                        <a:pt x="67072" y="0"/>
                      </a:lnTo>
                      <a:cubicBezTo>
                        <a:pt x="69921" y="0"/>
                        <a:pt x="72231" y="2310"/>
                        <a:pt x="72231" y="5159"/>
                      </a:cubicBezTo>
                      <a:lnTo>
                        <a:pt x="72231" y="46434"/>
                      </a:lnTo>
                      <a:cubicBezTo>
                        <a:pt x="72231" y="49284"/>
                        <a:pt x="69921" y="51594"/>
                        <a:pt x="67072" y="51594"/>
                      </a:cubicBezTo>
                      <a:lnTo>
                        <a:pt x="5159" y="51594"/>
                      </a:lnTo>
                      <a:cubicBezTo>
                        <a:pt x="2310" y="51594"/>
                        <a:pt x="0" y="49284"/>
                        <a:pt x="0" y="46434"/>
                      </a:cubicBezTo>
                      <a:lnTo>
                        <a:pt x="0" y="5159"/>
                      </a:lnTo>
                    </a:path>
                  </a:pathLst>
                </a:custGeom>
                <a:noFill/>
                <a:ln w="10319">
                  <a:solidFill>
                    <a:srgbClr val="76200F"/>
                  </a:solidFill>
                </a:ln>
              </p:spPr>
            </p:sp>
            <p:sp>
              <p:nvSpPr>
                <p:cNvPr id="219" name="Freeform 219"/>
                <p:cNvSpPr/>
                <p:nvPr/>
              </p:nvSpPr>
              <p:spPr>
                <a:xfrm>
                  <a:off x="4519613" y="3300413"/>
                  <a:ext cx="20638" cy="20638"/>
                </a:xfrm>
                <a:custGeom>
                  <a:avLst/>
                  <a:gdLst/>
                  <a:ahLst/>
                  <a:cxnLst/>
                  <a:rect l="l" t="t" r="r" b="b"/>
                  <a:pathLst>
                    <a:path w="20638" h="20638">
                      <a:moveTo>
                        <a:pt x="0" y="10319"/>
                      </a:moveTo>
                      <a:cubicBezTo>
                        <a:pt x="0" y="16018"/>
                        <a:pt x="4620" y="20638"/>
                        <a:pt x="10319" y="20638"/>
                      </a:cubicBezTo>
                      <a:cubicBezTo>
                        <a:pt x="16018" y="20638"/>
                        <a:pt x="20638" y="16018"/>
                        <a:pt x="20638" y="10319"/>
                      </a:cubicBezTo>
                      <a:cubicBezTo>
                        <a:pt x="20638" y="4620"/>
                        <a:pt x="16018" y="0"/>
                        <a:pt x="10319" y="0"/>
                      </a:cubicBezTo>
                      <a:cubicBezTo>
                        <a:pt x="4620" y="0"/>
                        <a:pt x="0" y="4620"/>
                        <a:pt x="0" y="10319"/>
                      </a:cubicBezTo>
                    </a:path>
                  </a:pathLst>
                </a:custGeom>
                <a:noFill/>
                <a:ln w="10319">
                  <a:solidFill>
                    <a:srgbClr val="76200F"/>
                  </a:solidFill>
                </a:ln>
              </p:spPr>
            </p:sp>
          </p:grpSp>
          <p:sp>
            <p:nvSpPr>
              <p:cNvPr id="221" name="TextBox 221"/>
              <p:cNvSpPr txBox="1"/>
              <p:nvPr/>
            </p:nvSpPr>
            <p:spPr>
              <a:xfrm>
                <a:off x="4624388" y="3274457"/>
                <a:ext cx="354152" cy="126206"/>
              </a:xfrm>
              <a:prstGeom prst="rect">
                <a:avLst/>
              </a:prstGeom>
              <a:noFill/>
              <a:ln>
                <a:noFill/>
              </a:ln>
            </p:spPr>
            <p:txBody>
              <a:bodyPr wrap="none" lIns="0" tIns="0" rIns="0" bIns="0" anchor="t" anchorCtr="0">
                <a:spAutoFit/>
              </a:bodyPr>
              <a:lstStyle/>
              <a:p>
                <a:pPr algn="l"/>
                <a:r>
                  <a:rPr lang="zh-CN" sz="640" dirty="0">
                    <a:solidFill>
                      <a:srgbClr val="331712"/>
                    </a:solidFill>
                    <a:latin typeface="+mn-lt"/>
                    <a:ea typeface="+mn-ea"/>
                    <a:cs typeface="+mn-cs"/>
                  </a:rPr>
                  <a:t>发生交易</a:t>
                </a:r>
              </a:p>
            </p:txBody>
          </p:sp>
          <p:sp>
            <p:nvSpPr>
              <p:cNvPr id="222" name="Rectangle 222"/>
              <p:cNvSpPr/>
              <p:nvPr/>
            </p:nvSpPr>
            <p:spPr>
              <a:xfrm>
                <a:off x="5705475" y="3238500"/>
                <a:ext cx="304800" cy="133350"/>
              </a:xfrm>
              <a:prstGeom prst="roundRect">
                <a:avLst>
                  <a:gd name="adj" fmla="val 14286"/>
                </a:avLst>
              </a:prstGeom>
              <a:solidFill>
                <a:srgbClr val="BF6F5F"/>
              </a:solidFill>
              <a:ln>
                <a:noFill/>
              </a:ln>
            </p:spPr>
          </p:sp>
          <p:sp>
            <p:nvSpPr>
              <p:cNvPr id="223" name="TextBox 223"/>
              <p:cNvSpPr txBox="1"/>
              <p:nvPr/>
            </p:nvSpPr>
            <p:spPr>
              <a:xfrm>
                <a:off x="5759821" y="3278505"/>
                <a:ext cx="196108"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324​</a:t>
                </a:r>
              </a:p>
            </p:txBody>
          </p:sp>
          <p:sp>
            <p:nvSpPr>
              <p:cNvPr id="224" name="TextBox 224"/>
              <p:cNvSpPr txBox="1"/>
              <p:nvPr/>
            </p:nvSpPr>
            <p:spPr>
              <a:xfrm>
                <a:off x="6777515" y="327445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324​</a:t>
                </a:r>
              </a:p>
            </p:txBody>
          </p:sp>
          <p:sp>
            <p:nvSpPr>
              <p:cNvPr id="225" name="TextBox 225"/>
              <p:cNvSpPr txBox="1"/>
              <p:nvPr/>
            </p:nvSpPr>
            <p:spPr>
              <a:xfrm>
                <a:off x="7212170" y="327445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57.1%​​</a:t>
                </a:r>
              </a:p>
            </p:txBody>
          </p:sp>
          <p:sp>
            <p:nvSpPr>
              <p:cNvPr id="226" name="TextBox 226"/>
              <p:cNvSpPr txBox="1"/>
              <p:nvPr/>
            </p:nvSpPr>
            <p:spPr>
              <a:xfrm>
                <a:off x="7688831" y="3282553"/>
                <a:ext cx="586237"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30天内发生交易​</a:t>
                </a:r>
              </a:p>
            </p:txBody>
          </p:sp>
          <p:grpSp>
            <p:nvGrpSpPr>
              <p:cNvPr id="229" name="Group 229"/>
              <p:cNvGrpSpPr/>
              <p:nvPr/>
            </p:nvGrpSpPr>
            <p:grpSpPr>
              <a:xfrm>
                <a:off x="4478338" y="3479006"/>
                <a:ext cx="82550" cy="76597"/>
                <a:chOff x="4478338" y="3479006"/>
                <a:chExt cx="82550" cy="76597"/>
              </a:xfrm>
            </p:grpSpPr>
            <p:sp>
              <p:nvSpPr>
                <p:cNvPr id="227" name="Freeform 227"/>
                <p:cNvSpPr/>
                <p:nvPr/>
              </p:nvSpPr>
              <p:spPr>
                <a:xfrm>
                  <a:off x="4478338" y="3546078"/>
                  <a:ext cx="82550" cy="9525"/>
                </a:xfrm>
                <a:custGeom>
                  <a:avLst/>
                  <a:gdLst/>
                  <a:ahLst/>
                  <a:cxnLst/>
                  <a:rect l="l" t="t" r="r" b="b"/>
                  <a:pathLst>
                    <a:path w="82550" h="9525">
                      <a:moveTo>
                        <a:pt x="0" y="0"/>
                      </a:moveTo>
                      <a:lnTo>
                        <a:pt x="82550" y="0"/>
                      </a:lnTo>
                    </a:path>
                  </a:pathLst>
                </a:custGeom>
                <a:noFill/>
                <a:ln w="10319">
                  <a:solidFill>
                    <a:srgbClr val="76200F"/>
                  </a:solidFill>
                </a:ln>
              </p:spPr>
            </p:sp>
            <p:sp>
              <p:nvSpPr>
                <p:cNvPr id="228" name="Freeform 228"/>
                <p:cNvSpPr/>
                <p:nvPr/>
              </p:nvSpPr>
              <p:spPr>
                <a:xfrm>
                  <a:off x="4478338" y="3479006"/>
                  <a:ext cx="82550" cy="46434"/>
                </a:xfrm>
                <a:custGeom>
                  <a:avLst/>
                  <a:gdLst/>
                  <a:ahLst/>
                  <a:cxnLst/>
                  <a:rect l="l" t="t" r="r" b="b"/>
                  <a:pathLst>
                    <a:path w="82550" h="46434">
                      <a:moveTo>
                        <a:pt x="0" y="46434"/>
                      </a:moveTo>
                      <a:lnTo>
                        <a:pt x="20638" y="15478"/>
                      </a:lnTo>
                      <a:lnTo>
                        <a:pt x="41275" y="25797"/>
                      </a:lnTo>
                      <a:lnTo>
                        <a:pt x="61913" y="0"/>
                      </a:lnTo>
                      <a:lnTo>
                        <a:pt x="82550" y="20638"/>
                      </a:lnTo>
                    </a:path>
                  </a:pathLst>
                </a:custGeom>
                <a:noFill/>
                <a:ln w="10319">
                  <a:solidFill>
                    <a:srgbClr val="76200F"/>
                  </a:solidFill>
                </a:ln>
              </p:spPr>
            </p:sp>
          </p:grpSp>
          <p:sp>
            <p:nvSpPr>
              <p:cNvPr id="230" name="TextBox 230"/>
              <p:cNvSpPr txBox="1"/>
              <p:nvPr/>
            </p:nvSpPr>
            <p:spPr>
              <a:xfrm>
                <a:off x="4624388" y="3484007"/>
                <a:ext cx="354152" cy="126206"/>
              </a:xfrm>
              <a:prstGeom prst="rect">
                <a:avLst/>
              </a:prstGeom>
              <a:noFill/>
              <a:ln>
                <a:noFill/>
              </a:ln>
            </p:spPr>
            <p:txBody>
              <a:bodyPr wrap="none" lIns="0" tIns="0" rIns="0" bIns="0" anchor="t" anchorCtr="0">
                <a:spAutoFit/>
              </a:bodyPr>
              <a:lstStyle/>
              <a:p>
                <a:pPr algn="l"/>
                <a:r>
                  <a:rPr lang="zh-CN" sz="640" dirty="0">
                    <a:solidFill>
                      <a:srgbClr val="331712"/>
                    </a:solidFill>
                    <a:latin typeface="+mn-lt"/>
                    <a:ea typeface="+mn-ea"/>
                    <a:cs typeface="+mn-cs"/>
                  </a:rPr>
                  <a:t>沉淀资产</a:t>
                </a:r>
              </a:p>
            </p:txBody>
          </p:sp>
          <p:sp>
            <p:nvSpPr>
              <p:cNvPr id="231" name="Rectangle 231"/>
              <p:cNvSpPr/>
              <p:nvPr/>
            </p:nvSpPr>
            <p:spPr>
              <a:xfrm>
                <a:off x="5734050" y="3448050"/>
                <a:ext cx="247650" cy="133350"/>
              </a:xfrm>
              <a:prstGeom prst="roundRect">
                <a:avLst>
                  <a:gd name="adj" fmla="val 14286"/>
                </a:avLst>
              </a:prstGeom>
              <a:solidFill>
                <a:srgbClr val="C68679"/>
              </a:solidFill>
              <a:ln>
                <a:noFill/>
              </a:ln>
            </p:spPr>
          </p:sp>
          <p:sp>
            <p:nvSpPr>
              <p:cNvPr id="232" name="TextBox 232"/>
              <p:cNvSpPr txBox="1"/>
              <p:nvPr/>
            </p:nvSpPr>
            <p:spPr>
              <a:xfrm>
                <a:off x="5759821" y="3488055"/>
                <a:ext cx="196108" cy="119062"/>
              </a:xfrm>
              <a:prstGeom prst="rect">
                <a:avLst/>
              </a:prstGeom>
              <a:noFill/>
              <a:ln>
                <a:noFill/>
              </a:ln>
            </p:spPr>
            <p:txBody>
              <a:bodyPr wrap="none" lIns="0" tIns="0" rIns="0" bIns="0" anchor="t" anchorCtr="0">
                <a:spAutoFit/>
              </a:bodyPr>
              <a:lstStyle/>
              <a:p>
                <a:pPr algn="ctr"/>
                <a:r>
                  <a:rPr lang="zh-CN" sz="600" b="1" dirty="0">
                    <a:solidFill>
                      <a:srgbClr val="331712"/>
                    </a:solidFill>
                    <a:latin typeface="+mn-lt"/>
                    <a:ea typeface="+mn-ea"/>
                    <a:cs typeface="+mn-cs"/>
                  </a:rPr>
                  <a:t>162​</a:t>
                </a:r>
              </a:p>
            </p:txBody>
          </p:sp>
          <p:sp>
            <p:nvSpPr>
              <p:cNvPr id="233" name="TextBox 233"/>
              <p:cNvSpPr txBox="1"/>
              <p:nvPr/>
            </p:nvSpPr>
            <p:spPr>
              <a:xfrm>
                <a:off x="6777515" y="3484007"/>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162​</a:t>
                </a:r>
              </a:p>
            </p:txBody>
          </p:sp>
          <p:sp>
            <p:nvSpPr>
              <p:cNvPr id="234" name="TextBox 234"/>
              <p:cNvSpPr txBox="1"/>
              <p:nvPr/>
            </p:nvSpPr>
            <p:spPr>
              <a:xfrm>
                <a:off x="7212170" y="3484007"/>
                <a:ext cx="358460" cy="126206"/>
              </a:xfrm>
              <a:prstGeom prst="rect">
                <a:avLst/>
              </a:prstGeom>
              <a:noFill/>
              <a:ln>
                <a:noFill/>
              </a:ln>
            </p:spPr>
            <p:txBody>
              <a:bodyPr wrap="none" lIns="0" tIns="0" rIns="0" bIns="0" anchor="t" anchorCtr="0">
                <a:spAutoFit/>
              </a:bodyPr>
              <a:lstStyle/>
              <a:p>
                <a:pPr algn="ctr"/>
                <a:r>
                  <a:rPr lang="zh-CN" sz="640" dirty="0">
                    <a:solidFill>
                      <a:srgbClr val="76200F"/>
                    </a:solidFill>
                    <a:latin typeface="+mn-lt"/>
                    <a:ea typeface="+mn-ea"/>
                    <a:cs typeface="+mn-cs"/>
                  </a:rPr>
                  <a:t>50.0%​​</a:t>
                </a:r>
              </a:p>
            </p:txBody>
          </p:sp>
          <p:sp>
            <p:nvSpPr>
              <p:cNvPr id="235" name="TextBox 235"/>
              <p:cNvSpPr txBox="1"/>
              <p:nvPr/>
            </p:nvSpPr>
            <p:spPr>
              <a:xfrm>
                <a:off x="7688831" y="3492103"/>
                <a:ext cx="586237"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资产≥1万元客户​</a:t>
                </a:r>
              </a:p>
            </p:txBody>
          </p:sp>
        </p:grpSp>
      </p:grpSp>
      <p:grpSp>
        <p:nvGrpSpPr>
          <p:cNvPr id="271" name="unit-economics"/>
          <p:cNvGrpSpPr/>
          <p:nvPr/>
        </p:nvGrpSpPr>
        <p:grpSpPr>
          <a:xfrm>
            <a:off x="8496300" y="1714500"/>
            <a:ext cx="3333750" cy="1914239"/>
            <a:chOff x="8496300" y="1714500"/>
            <a:chExt cx="3333750" cy="1914239"/>
          </a:xfrm>
        </p:grpSpPr>
        <p:sp>
          <p:nvSpPr>
            <p:cNvPr id="238" name="Rectangle 238"/>
            <p:cNvSpPr/>
            <p:nvPr/>
          </p:nvSpPr>
          <p:spPr>
            <a:xfrm>
              <a:off x="8496300" y="1714500"/>
              <a:ext cx="1905000" cy="190500"/>
            </a:xfrm>
            <a:prstGeom prst="roundRect">
              <a:avLst>
                <a:gd name="adj" fmla="val 25000"/>
              </a:avLst>
            </a:prstGeom>
            <a:solidFill>
              <a:srgbClr val="76200F"/>
            </a:solidFill>
            <a:ln>
              <a:noFill/>
            </a:ln>
          </p:spPr>
        </p:sp>
        <p:sp>
          <p:nvSpPr>
            <p:cNvPr id="239" name="TextBox 239"/>
            <p:cNvSpPr txBox="1"/>
            <p:nvPr/>
          </p:nvSpPr>
          <p:spPr>
            <a:xfrm>
              <a:off x="8586788" y="1758791"/>
              <a:ext cx="1444574"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单位经济性（基于示例数据）</a:t>
              </a:r>
            </a:p>
          </p:txBody>
        </p:sp>
        <p:sp>
          <p:nvSpPr>
            <p:cNvPr id="240" name="Rectangle 240"/>
            <p:cNvSpPr/>
            <p:nvPr/>
          </p:nvSpPr>
          <p:spPr>
            <a:xfrm>
              <a:off x="8496300" y="1981200"/>
              <a:ext cx="3333750" cy="381000"/>
            </a:xfrm>
            <a:prstGeom prst="roundRect">
              <a:avLst>
                <a:gd name="adj" fmla="val 15000"/>
              </a:avLst>
            </a:prstGeom>
            <a:solidFill>
              <a:srgbClr val="F0FAF8"/>
            </a:solidFill>
            <a:ln w="9525">
              <a:solidFill>
                <a:srgbClr val="C2E0DA"/>
              </a:solidFill>
            </a:ln>
          </p:spPr>
        </p:sp>
        <p:sp>
          <p:nvSpPr>
            <p:cNvPr id="241" name="Freeform 241"/>
            <p:cNvSpPr/>
            <p:nvPr/>
          </p:nvSpPr>
          <p:spPr>
            <a:xfrm>
              <a:off x="8610600" y="211455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76200F"/>
              </a:solidFill>
            </a:ln>
          </p:spPr>
        </p:sp>
        <p:sp>
          <p:nvSpPr>
            <p:cNvPr id="242" name="TextBox 242"/>
            <p:cNvSpPr txBox="1"/>
            <p:nvPr/>
          </p:nvSpPr>
          <p:spPr>
            <a:xfrm>
              <a:off x="8815388" y="2045732"/>
              <a:ext cx="526466"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单次互动成本</a:t>
              </a:r>
            </a:p>
          </p:txBody>
        </p:sp>
        <p:sp>
          <p:nvSpPr>
            <p:cNvPr id="243" name="TextBox 243"/>
            <p:cNvSpPr txBox="1"/>
            <p:nvPr/>
          </p:nvSpPr>
          <p:spPr>
            <a:xfrm>
              <a:off x="8815197" y="2180749"/>
              <a:ext cx="626425" cy="190690"/>
            </a:xfrm>
            <a:prstGeom prst="rect">
              <a:avLst/>
            </a:prstGeom>
            <a:noFill/>
            <a:ln>
              <a:noFill/>
            </a:ln>
          </p:spPr>
          <p:txBody>
            <a:bodyPr wrap="none" lIns="0" tIns="0" rIns="0" bIns="0" anchor="t" anchorCtr="0">
              <a:spAutoFit/>
            </a:bodyPr>
            <a:lstStyle/>
            <a:p>
              <a:pPr algn="l"/>
              <a:r>
                <a:rPr lang="zh-CN" sz="980" b="1" dirty="0">
                  <a:solidFill>
                    <a:srgbClr val="76200F"/>
                  </a:solidFill>
                  <a:latin typeface="+mn-lt"/>
                  <a:ea typeface="+mn-ea"/>
                  <a:cs typeface="+mn-cs"/>
                </a:rPr>
                <a:t>55.6​​</a:t>
              </a:r>
              <a:r>
                <a:rPr lang="zh-CN" sz="640" dirty="0">
                  <a:solidFill>
                    <a:srgbClr val="73615E"/>
                  </a:solidFill>
                  <a:latin typeface="+mn-lt"/>
                  <a:ea typeface="+mn-ea"/>
                  <a:cs typeface="+mn-cs"/>
                </a:rPr>
                <a:t xml:space="preserve"> 元​</a:t>
              </a:r>
            </a:p>
          </p:txBody>
        </p:sp>
        <p:sp>
          <p:nvSpPr>
            <p:cNvPr id="244" name="TextBox 244"/>
            <p:cNvSpPr txBox="1"/>
            <p:nvPr/>
          </p:nvSpPr>
          <p:spPr>
            <a:xfrm>
              <a:off x="10561536" y="2149078"/>
              <a:ext cx="1178027" cy="111919"/>
            </a:xfrm>
            <a:prstGeom prst="rect">
              <a:avLst/>
            </a:prstGeom>
            <a:noFill/>
            <a:ln>
              <a:noFill/>
            </a:ln>
          </p:spPr>
          <p:txBody>
            <a:bodyPr wrap="none" lIns="0" tIns="0" rIns="0" bIns="0" anchor="t" anchorCtr="0">
              <a:spAutoFit/>
            </a:bodyPr>
            <a:lstStyle/>
            <a:p>
              <a:pPr algn="r"/>
              <a:r>
                <a:rPr lang="zh-CN" sz="560" dirty="0">
                  <a:solidFill>
                    <a:srgbClr val="73615E"/>
                  </a:solidFill>
                  <a:latin typeface="+mn-lt"/>
                  <a:ea typeface="+mn-ea"/>
                  <a:cs typeface="+mn-cs"/>
                </a:rPr>
                <a:t>= 总投入30万元 / 5,400次互动​​​</a:t>
              </a:r>
            </a:p>
          </p:txBody>
        </p:sp>
        <p:sp>
          <p:nvSpPr>
            <p:cNvPr id="245" name="Rectangle 245"/>
            <p:cNvSpPr/>
            <p:nvPr/>
          </p:nvSpPr>
          <p:spPr>
            <a:xfrm>
              <a:off x="8496300" y="2400300"/>
              <a:ext cx="3333750" cy="381000"/>
            </a:xfrm>
            <a:prstGeom prst="roundRect">
              <a:avLst>
                <a:gd name="adj" fmla="val 15000"/>
              </a:avLst>
            </a:prstGeom>
            <a:solidFill>
              <a:srgbClr val="F0FAF8"/>
            </a:solidFill>
            <a:ln w="9525">
              <a:solidFill>
                <a:srgbClr val="C2E0DA"/>
              </a:solidFill>
            </a:ln>
          </p:spPr>
        </p:sp>
        <p:grpSp>
          <p:nvGrpSpPr>
            <p:cNvPr id="251" name="Group 251"/>
            <p:cNvGrpSpPr/>
            <p:nvPr/>
          </p:nvGrpSpPr>
          <p:grpSpPr>
            <a:xfrm>
              <a:off x="8623300" y="2533650"/>
              <a:ext cx="88900" cy="114300"/>
              <a:chOff x="8623300" y="2533650"/>
              <a:chExt cx="88900" cy="114300"/>
            </a:xfrm>
          </p:grpSpPr>
          <p:sp>
            <p:nvSpPr>
              <p:cNvPr id="246" name="Freeform 246"/>
              <p:cNvSpPr/>
              <p:nvPr/>
            </p:nvSpPr>
            <p:spPr>
              <a:xfrm>
                <a:off x="8680450" y="253365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76200F"/>
                </a:solidFill>
              </a:ln>
            </p:spPr>
          </p:sp>
          <p:sp>
            <p:nvSpPr>
              <p:cNvPr id="247" name="Freeform 247"/>
              <p:cNvSpPr/>
              <p:nvPr/>
            </p:nvSpPr>
            <p:spPr>
              <a:xfrm>
                <a:off x="8623300" y="253365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76200F"/>
                </a:solidFill>
              </a:ln>
            </p:spPr>
          </p:sp>
          <p:sp>
            <p:nvSpPr>
              <p:cNvPr id="248" name="Freeform 248"/>
              <p:cNvSpPr/>
              <p:nvPr/>
            </p:nvSpPr>
            <p:spPr>
              <a:xfrm>
                <a:off x="8648700" y="2571750"/>
                <a:ext cx="9525" cy="9525"/>
              </a:xfrm>
              <a:custGeom>
                <a:avLst/>
                <a:gdLst/>
                <a:ahLst/>
                <a:cxnLst/>
                <a:rect l="l" t="t" r="r" b="b"/>
                <a:pathLst>
                  <a:path w="9525" h="9525">
                    <a:moveTo>
                      <a:pt x="0" y="0"/>
                    </a:moveTo>
                    <a:lnTo>
                      <a:pt x="6350" y="0"/>
                    </a:lnTo>
                  </a:path>
                </a:pathLst>
              </a:custGeom>
              <a:noFill/>
              <a:ln w="12700">
                <a:solidFill>
                  <a:srgbClr val="76200F"/>
                </a:solidFill>
              </a:ln>
            </p:spPr>
          </p:sp>
          <p:sp>
            <p:nvSpPr>
              <p:cNvPr id="249" name="Freeform 249"/>
              <p:cNvSpPr/>
              <p:nvPr/>
            </p:nvSpPr>
            <p:spPr>
              <a:xfrm>
                <a:off x="8648700" y="2597150"/>
                <a:ext cx="38100" cy="9525"/>
              </a:xfrm>
              <a:custGeom>
                <a:avLst/>
                <a:gdLst/>
                <a:ahLst/>
                <a:cxnLst/>
                <a:rect l="l" t="t" r="r" b="b"/>
                <a:pathLst>
                  <a:path w="38100" h="9525">
                    <a:moveTo>
                      <a:pt x="0" y="0"/>
                    </a:moveTo>
                    <a:lnTo>
                      <a:pt x="38100" y="0"/>
                    </a:lnTo>
                  </a:path>
                </a:pathLst>
              </a:custGeom>
              <a:noFill/>
              <a:ln w="12700">
                <a:solidFill>
                  <a:srgbClr val="76200F"/>
                </a:solidFill>
              </a:ln>
            </p:spPr>
          </p:sp>
          <p:sp>
            <p:nvSpPr>
              <p:cNvPr id="250" name="Freeform 250"/>
              <p:cNvSpPr/>
              <p:nvPr/>
            </p:nvSpPr>
            <p:spPr>
              <a:xfrm>
                <a:off x="8648700" y="2622550"/>
                <a:ext cx="38100" cy="9525"/>
              </a:xfrm>
              <a:custGeom>
                <a:avLst/>
                <a:gdLst/>
                <a:ahLst/>
                <a:cxnLst/>
                <a:rect l="l" t="t" r="r" b="b"/>
                <a:pathLst>
                  <a:path w="38100" h="9525">
                    <a:moveTo>
                      <a:pt x="0" y="0"/>
                    </a:moveTo>
                    <a:lnTo>
                      <a:pt x="38100" y="0"/>
                    </a:lnTo>
                  </a:path>
                </a:pathLst>
              </a:custGeom>
              <a:noFill/>
              <a:ln w="12700">
                <a:solidFill>
                  <a:srgbClr val="76200F"/>
                </a:solidFill>
              </a:ln>
            </p:spPr>
          </p:sp>
        </p:grpSp>
        <p:sp>
          <p:nvSpPr>
            <p:cNvPr id="252" name="TextBox 252"/>
            <p:cNvSpPr txBox="1"/>
            <p:nvPr/>
          </p:nvSpPr>
          <p:spPr>
            <a:xfrm>
              <a:off x="8815388" y="2464832"/>
              <a:ext cx="526466"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有效线索成本</a:t>
              </a:r>
            </a:p>
          </p:txBody>
        </p:sp>
        <p:sp>
          <p:nvSpPr>
            <p:cNvPr id="253" name="TextBox 253"/>
            <p:cNvSpPr txBox="1"/>
            <p:nvPr/>
          </p:nvSpPr>
          <p:spPr>
            <a:xfrm>
              <a:off x="8815197" y="2599849"/>
              <a:ext cx="702613" cy="190690"/>
            </a:xfrm>
            <a:prstGeom prst="rect">
              <a:avLst/>
            </a:prstGeom>
            <a:noFill/>
            <a:ln>
              <a:noFill/>
            </a:ln>
          </p:spPr>
          <p:txBody>
            <a:bodyPr wrap="none" lIns="0" tIns="0" rIns="0" bIns="0" anchor="t" anchorCtr="0">
              <a:spAutoFit/>
            </a:bodyPr>
            <a:lstStyle/>
            <a:p>
              <a:pPr algn="l"/>
              <a:r>
                <a:rPr lang="zh-CN" sz="980" b="1" dirty="0">
                  <a:solidFill>
                    <a:srgbClr val="76200F"/>
                  </a:solidFill>
                  <a:latin typeface="+mn-lt"/>
                  <a:ea typeface="+mn-ea"/>
                  <a:cs typeface="+mn-cs"/>
                </a:rPr>
                <a:t>111.1​​</a:t>
              </a:r>
              <a:r>
                <a:rPr lang="zh-CN" sz="640" dirty="0">
                  <a:solidFill>
                    <a:srgbClr val="73615E"/>
                  </a:solidFill>
                  <a:latin typeface="+mn-lt"/>
                  <a:ea typeface="+mn-ea"/>
                  <a:cs typeface="+mn-cs"/>
                </a:rPr>
                <a:t xml:space="preserve"> 元​</a:t>
              </a:r>
            </a:p>
          </p:txBody>
        </p:sp>
        <p:sp>
          <p:nvSpPr>
            <p:cNvPr id="254" name="TextBox 254"/>
            <p:cNvSpPr txBox="1"/>
            <p:nvPr/>
          </p:nvSpPr>
          <p:spPr>
            <a:xfrm>
              <a:off x="10561536" y="2568178"/>
              <a:ext cx="1178027" cy="111919"/>
            </a:xfrm>
            <a:prstGeom prst="rect">
              <a:avLst/>
            </a:prstGeom>
            <a:noFill/>
            <a:ln>
              <a:noFill/>
            </a:ln>
          </p:spPr>
          <p:txBody>
            <a:bodyPr wrap="none" lIns="0" tIns="0" rIns="0" bIns="0" anchor="t" anchorCtr="0">
              <a:spAutoFit/>
            </a:bodyPr>
            <a:lstStyle/>
            <a:p>
              <a:pPr algn="r"/>
              <a:r>
                <a:rPr lang="zh-CN" sz="560" dirty="0">
                  <a:solidFill>
                    <a:srgbClr val="73615E"/>
                  </a:solidFill>
                  <a:latin typeface="+mn-lt"/>
                  <a:ea typeface="+mn-ea"/>
                  <a:cs typeface="+mn-cs"/>
                </a:rPr>
                <a:t>= 总投入30万元 / 2,700条线索​​​</a:t>
              </a:r>
            </a:p>
          </p:txBody>
        </p:sp>
        <p:sp>
          <p:nvSpPr>
            <p:cNvPr id="255" name="Rectangle 255"/>
            <p:cNvSpPr/>
            <p:nvPr/>
          </p:nvSpPr>
          <p:spPr>
            <a:xfrm>
              <a:off x="8496300" y="2819400"/>
              <a:ext cx="3333750" cy="381000"/>
            </a:xfrm>
            <a:prstGeom prst="roundRect">
              <a:avLst>
                <a:gd name="adj" fmla="val 15000"/>
              </a:avLst>
            </a:prstGeom>
            <a:solidFill>
              <a:srgbClr val="F0FAF8"/>
            </a:solidFill>
            <a:ln w="9525">
              <a:solidFill>
                <a:srgbClr val="C2E0DA"/>
              </a:solidFill>
            </a:ln>
          </p:spPr>
        </p:sp>
        <p:grpSp>
          <p:nvGrpSpPr>
            <p:cNvPr id="259" name="Group 259"/>
            <p:cNvGrpSpPr/>
            <p:nvPr/>
          </p:nvGrpSpPr>
          <p:grpSpPr>
            <a:xfrm>
              <a:off x="8629650" y="2952750"/>
              <a:ext cx="95250" cy="114300"/>
              <a:chOff x="8629650" y="2952750"/>
              <a:chExt cx="95250" cy="114300"/>
            </a:xfrm>
          </p:grpSpPr>
          <p:sp>
            <p:nvSpPr>
              <p:cNvPr id="256" name="Freeform 256"/>
              <p:cNvSpPr/>
              <p:nvPr/>
            </p:nvSpPr>
            <p:spPr>
              <a:xfrm>
                <a:off x="8642350" y="29527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76200F"/>
                </a:solidFill>
              </a:ln>
            </p:spPr>
          </p:sp>
          <p:sp>
            <p:nvSpPr>
              <p:cNvPr id="257" name="Freeform 257"/>
              <p:cNvSpPr/>
              <p:nvPr/>
            </p:nvSpPr>
            <p:spPr>
              <a:xfrm>
                <a:off x="8629650" y="30289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76200F"/>
                </a:solidFill>
              </a:ln>
            </p:spPr>
          </p:sp>
          <p:sp>
            <p:nvSpPr>
              <p:cNvPr id="258" name="Freeform 258"/>
              <p:cNvSpPr/>
              <p:nvPr/>
            </p:nvSpPr>
            <p:spPr>
              <a:xfrm>
                <a:off x="8686800" y="3041650"/>
                <a:ext cx="38100" cy="25400"/>
              </a:xfrm>
              <a:custGeom>
                <a:avLst/>
                <a:gdLst/>
                <a:ahLst/>
                <a:cxnLst/>
                <a:rect l="l" t="t" r="r" b="b"/>
                <a:pathLst>
                  <a:path w="38100" h="25400">
                    <a:moveTo>
                      <a:pt x="0" y="12700"/>
                    </a:moveTo>
                    <a:lnTo>
                      <a:pt x="12700" y="25400"/>
                    </a:lnTo>
                    <a:lnTo>
                      <a:pt x="38100" y="0"/>
                    </a:lnTo>
                  </a:path>
                </a:pathLst>
              </a:custGeom>
              <a:noFill/>
              <a:ln w="12700">
                <a:solidFill>
                  <a:srgbClr val="76200F"/>
                </a:solidFill>
              </a:ln>
            </p:spPr>
          </p:sp>
        </p:grpSp>
        <p:sp>
          <p:nvSpPr>
            <p:cNvPr id="260" name="TextBox 260"/>
            <p:cNvSpPr txBox="1"/>
            <p:nvPr/>
          </p:nvSpPr>
          <p:spPr>
            <a:xfrm>
              <a:off x="8815388" y="2883932"/>
              <a:ext cx="526466"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激活客户成本</a:t>
              </a:r>
            </a:p>
          </p:txBody>
        </p:sp>
        <p:sp>
          <p:nvSpPr>
            <p:cNvPr id="261" name="TextBox 261"/>
            <p:cNvSpPr txBox="1"/>
            <p:nvPr/>
          </p:nvSpPr>
          <p:spPr>
            <a:xfrm>
              <a:off x="8815197" y="3018949"/>
              <a:ext cx="702613" cy="190690"/>
            </a:xfrm>
            <a:prstGeom prst="rect">
              <a:avLst/>
            </a:prstGeom>
            <a:noFill/>
            <a:ln>
              <a:noFill/>
            </a:ln>
          </p:spPr>
          <p:txBody>
            <a:bodyPr wrap="none" lIns="0" tIns="0" rIns="0" bIns="0" anchor="t" anchorCtr="0">
              <a:spAutoFit/>
            </a:bodyPr>
            <a:lstStyle/>
            <a:p>
              <a:pPr algn="l"/>
              <a:r>
                <a:rPr lang="zh-CN" sz="980" b="1" dirty="0">
                  <a:solidFill>
                    <a:srgbClr val="76200F"/>
                  </a:solidFill>
                  <a:latin typeface="+mn-lt"/>
                  <a:ea typeface="+mn-ea"/>
                  <a:cs typeface="+mn-cs"/>
                </a:rPr>
                <a:t>370.4​​</a:t>
              </a:r>
              <a:r>
                <a:rPr lang="zh-CN" sz="640" dirty="0">
                  <a:solidFill>
                    <a:srgbClr val="73615E"/>
                  </a:solidFill>
                  <a:latin typeface="+mn-lt"/>
                  <a:ea typeface="+mn-ea"/>
                  <a:cs typeface="+mn-cs"/>
                </a:rPr>
                <a:t xml:space="preserve"> 元​</a:t>
              </a:r>
            </a:p>
          </p:txBody>
        </p:sp>
        <p:sp>
          <p:nvSpPr>
            <p:cNvPr id="262" name="TextBox 262"/>
            <p:cNvSpPr txBox="1"/>
            <p:nvPr/>
          </p:nvSpPr>
          <p:spPr>
            <a:xfrm>
              <a:off x="10644462" y="2987278"/>
              <a:ext cx="1095101" cy="111919"/>
            </a:xfrm>
            <a:prstGeom prst="rect">
              <a:avLst/>
            </a:prstGeom>
            <a:noFill/>
            <a:ln>
              <a:noFill/>
            </a:ln>
          </p:spPr>
          <p:txBody>
            <a:bodyPr wrap="none" lIns="0" tIns="0" rIns="0" bIns="0" anchor="t" anchorCtr="0">
              <a:spAutoFit/>
            </a:bodyPr>
            <a:lstStyle/>
            <a:p>
              <a:pPr algn="r"/>
              <a:r>
                <a:rPr lang="zh-CN" sz="560" dirty="0">
                  <a:solidFill>
                    <a:srgbClr val="73615E"/>
                  </a:solidFill>
                  <a:latin typeface="+mn-lt"/>
                  <a:ea typeface="+mn-ea"/>
                  <a:cs typeface="+mn-cs"/>
                </a:rPr>
                <a:t>= 总投入30万元 / 810名开户​​​</a:t>
              </a:r>
            </a:p>
          </p:txBody>
        </p:sp>
        <p:sp>
          <p:nvSpPr>
            <p:cNvPr id="263" name="Rectangle 263"/>
            <p:cNvSpPr/>
            <p:nvPr/>
          </p:nvSpPr>
          <p:spPr>
            <a:xfrm>
              <a:off x="8496300" y="3238500"/>
              <a:ext cx="3333750" cy="381000"/>
            </a:xfrm>
            <a:prstGeom prst="roundRect">
              <a:avLst>
                <a:gd name="adj" fmla="val 15000"/>
              </a:avLst>
            </a:prstGeom>
            <a:solidFill>
              <a:srgbClr val="F0FAF8"/>
            </a:solidFill>
            <a:ln w="9525">
              <a:solidFill>
                <a:srgbClr val="C2E0DA"/>
              </a:solidFill>
            </a:ln>
          </p:spPr>
        </p:sp>
        <p:grpSp>
          <p:nvGrpSpPr>
            <p:cNvPr id="267" name="Group 267"/>
            <p:cNvGrpSpPr/>
            <p:nvPr/>
          </p:nvGrpSpPr>
          <p:grpSpPr>
            <a:xfrm>
              <a:off x="8610600" y="3384550"/>
              <a:ext cx="114300" cy="88900"/>
              <a:chOff x="8610600" y="3384550"/>
              <a:chExt cx="114300" cy="88900"/>
            </a:xfrm>
          </p:grpSpPr>
          <p:sp>
            <p:nvSpPr>
              <p:cNvPr id="264" name="Freeform 264"/>
              <p:cNvSpPr/>
              <p:nvPr/>
            </p:nvSpPr>
            <p:spPr>
              <a:xfrm>
                <a:off x="8610600" y="3384550"/>
                <a:ext cx="88900" cy="63500"/>
              </a:xfrm>
              <a:custGeom>
                <a:avLst/>
                <a:gdLst/>
                <a:ahLst/>
                <a:cxnLst/>
                <a:rect l="l" t="t" r="r" b="b"/>
                <a:pathLst>
                  <a:path w="88900" h="63500">
                    <a:moveTo>
                      <a:pt x="25400" y="63500"/>
                    </a:moveTo>
                    <a:lnTo>
                      <a:pt x="6350" y="63500"/>
                    </a:lnTo>
                    <a:cubicBezTo>
                      <a:pt x="2843" y="63500"/>
                      <a:pt x="0" y="60657"/>
                      <a:pt x="0" y="57150"/>
                    </a:cubicBezTo>
                    <a:lnTo>
                      <a:pt x="0" y="6350"/>
                    </a:lnTo>
                    <a:cubicBezTo>
                      <a:pt x="0" y="2843"/>
                      <a:pt x="2843" y="0"/>
                      <a:pt x="6350" y="0"/>
                    </a:cubicBezTo>
                    <a:lnTo>
                      <a:pt x="82550" y="0"/>
                    </a:lnTo>
                    <a:cubicBezTo>
                      <a:pt x="86057" y="0"/>
                      <a:pt x="88900" y="2843"/>
                      <a:pt x="88900" y="6350"/>
                    </a:cubicBezTo>
                    <a:lnTo>
                      <a:pt x="88900" y="25400"/>
                    </a:lnTo>
                  </a:path>
                </a:pathLst>
              </a:custGeom>
              <a:noFill/>
              <a:ln w="12700">
                <a:solidFill>
                  <a:srgbClr val="76200F"/>
                </a:solidFill>
              </a:ln>
            </p:spPr>
          </p:sp>
          <p:sp>
            <p:nvSpPr>
              <p:cNvPr id="265" name="Freeform 265"/>
              <p:cNvSpPr/>
              <p:nvPr/>
            </p:nvSpPr>
            <p:spPr>
              <a:xfrm>
                <a:off x="8636000" y="3409950"/>
                <a:ext cx="88900" cy="63500"/>
              </a:xfrm>
              <a:custGeom>
                <a:avLst/>
                <a:gdLst/>
                <a:ahLst/>
                <a:cxnLst/>
                <a:rect l="l" t="t" r="r" b="b"/>
                <a:pathLst>
                  <a:path w="88900" h="63500">
                    <a:moveTo>
                      <a:pt x="0" y="6350"/>
                    </a:moveTo>
                    <a:cubicBezTo>
                      <a:pt x="0" y="2843"/>
                      <a:pt x="2843" y="0"/>
                      <a:pt x="6350" y="0"/>
                    </a:cubicBezTo>
                    <a:lnTo>
                      <a:pt x="82550" y="0"/>
                    </a:lnTo>
                    <a:cubicBezTo>
                      <a:pt x="86057" y="0"/>
                      <a:pt x="88900" y="2843"/>
                      <a:pt x="88900" y="6350"/>
                    </a:cubicBezTo>
                    <a:lnTo>
                      <a:pt x="88900" y="57150"/>
                    </a:lnTo>
                    <a:cubicBezTo>
                      <a:pt x="88900" y="60657"/>
                      <a:pt x="86057" y="63500"/>
                      <a:pt x="82550" y="63500"/>
                    </a:cubicBezTo>
                    <a:lnTo>
                      <a:pt x="6350" y="63500"/>
                    </a:lnTo>
                    <a:cubicBezTo>
                      <a:pt x="2843" y="63500"/>
                      <a:pt x="0" y="60657"/>
                      <a:pt x="0" y="57150"/>
                    </a:cubicBezTo>
                    <a:lnTo>
                      <a:pt x="0" y="6350"/>
                    </a:lnTo>
                  </a:path>
                </a:pathLst>
              </a:custGeom>
              <a:noFill/>
              <a:ln w="12700">
                <a:solidFill>
                  <a:srgbClr val="76200F"/>
                </a:solidFill>
              </a:ln>
            </p:spPr>
          </p:sp>
          <p:sp>
            <p:nvSpPr>
              <p:cNvPr id="266" name="Freeform 266"/>
              <p:cNvSpPr/>
              <p:nvPr/>
            </p:nvSpPr>
            <p:spPr>
              <a:xfrm>
                <a:off x="8667750" y="34290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grpSp>
        <p:sp>
          <p:nvSpPr>
            <p:cNvPr id="268" name="TextBox 268"/>
            <p:cNvSpPr txBox="1"/>
            <p:nvPr/>
          </p:nvSpPr>
          <p:spPr>
            <a:xfrm>
              <a:off x="8815388" y="3303032"/>
              <a:ext cx="526466" cy="126206"/>
            </a:xfrm>
            <a:prstGeom prst="rect">
              <a:avLst/>
            </a:prstGeom>
            <a:noFill/>
            <a:ln>
              <a:noFill/>
            </a:ln>
          </p:spPr>
          <p:txBody>
            <a:bodyPr wrap="none" lIns="0" tIns="0" rIns="0" bIns="0" anchor="t" anchorCtr="0">
              <a:spAutoFit/>
            </a:bodyPr>
            <a:lstStyle/>
            <a:p>
              <a:pPr algn="l"/>
              <a:r>
                <a:rPr lang="zh-CN" sz="640" dirty="0">
                  <a:solidFill>
                    <a:srgbClr val="73615E"/>
                  </a:solidFill>
                  <a:latin typeface="+mn-lt"/>
                  <a:ea typeface="+mn-ea"/>
                  <a:cs typeface="+mn-cs"/>
                </a:rPr>
                <a:t>首笔交易成本</a:t>
              </a:r>
            </a:p>
          </p:txBody>
        </p:sp>
        <p:sp>
          <p:nvSpPr>
            <p:cNvPr id="269" name="TextBox 269"/>
            <p:cNvSpPr txBox="1"/>
            <p:nvPr/>
          </p:nvSpPr>
          <p:spPr>
            <a:xfrm>
              <a:off x="8815197" y="3438049"/>
              <a:ext cx="702613" cy="190690"/>
            </a:xfrm>
            <a:prstGeom prst="rect">
              <a:avLst/>
            </a:prstGeom>
            <a:noFill/>
            <a:ln>
              <a:noFill/>
            </a:ln>
          </p:spPr>
          <p:txBody>
            <a:bodyPr wrap="none" lIns="0" tIns="0" rIns="0" bIns="0" anchor="t" anchorCtr="0">
              <a:spAutoFit/>
            </a:bodyPr>
            <a:lstStyle/>
            <a:p>
              <a:pPr algn="l"/>
              <a:r>
                <a:rPr lang="zh-CN" sz="980" b="1" dirty="0">
                  <a:solidFill>
                    <a:srgbClr val="76200F"/>
                  </a:solidFill>
                  <a:latin typeface="+mn-lt"/>
                  <a:ea typeface="+mn-ea"/>
                  <a:cs typeface="+mn-cs"/>
                </a:rPr>
                <a:t>925.9​​</a:t>
              </a:r>
              <a:r>
                <a:rPr lang="zh-CN" sz="640" dirty="0">
                  <a:solidFill>
                    <a:srgbClr val="73615E"/>
                  </a:solidFill>
                  <a:latin typeface="+mn-lt"/>
                  <a:ea typeface="+mn-ea"/>
                  <a:cs typeface="+mn-cs"/>
                </a:rPr>
                <a:t xml:space="preserve"> 元​</a:t>
              </a:r>
            </a:p>
          </p:txBody>
        </p:sp>
        <p:sp>
          <p:nvSpPr>
            <p:cNvPr id="270" name="TextBox 270"/>
            <p:cNvSpPr txBox="1"/>
            <p:nvPr/>
          </p:nvSpPr>
          <p:spPr>
            <a:xfrm>
              <a:off x="10644462" y="3406378"/>
              <a:ext cx="1095101" cy="111919"/>
            </a:xfrm>
            <a:prstGeom prst="rect">
              <a:avLst/>
            </a:prstGeom>
            <a:noFill/>
            <a:ln>
              <a:noFill/>
            </a:ln>
          </p:spPr>
          <p:txBody>
            <a:bodyPr wrap="none" lIns="0" tIns="0" rIns="0" bIns="0" anchor="t" anchorCtr="0">
              <a:spAutoFit/>
            </a:bodyPr>
            <a:lstStyle/>
            <a:p>
              <a:pPr algn="r"/>
              <a:r>
                <a:rPr lang="zh-CN" sz="560" dirty="0">
                  <a:solidFill>
                    <a:srgbClr val="73615E"/>
                  </a:solidFill>
                  <a:latin typeface="+mn-lt"/>
                  <a:ea typeface="+mn-ea"/>
                  <a:cs typeface="+mn-cs"/>
                </a:rPr>
                <a:t>= 总投入30万元 / 324名交易​​​</a:t>
              </a:r>
            </a:p>
          </p:txBody>
        </p:sp>
      </p:grpSp>
      <p:grpSp>
        <p:nvGrpSpPr>
          <p:cNvPr id="331" name="combo-table"/>
          <p:cNvGrpSpPr/>
          <p:nvPr/>
        </p:nvGrpSpPr>
        <p:grpSpPr>
          <a:xfrm>
            <a:off x="342900" y="3733800"/>
            <a:ext cx="4000500" cy="2495550"/>
            <a:chOff x="342900" y="3733800"/>
            <a:chExt cx="4000500" cy="2495550"/>
          </a:xfrm>
        </p:grpSpPr>
        <p:sp>
          <p:nvSpPr>
            <p:cNvPr id="272" name="Rectangle 272"/>
            <p:cNvSpPr/>
            <p:nvPr/>
          </p:nvSpPr>
          <p:spPr>
            <a:xfrm>
              <a:off x="342900" y="3733800"/>
              <a:ext cx="2095500" cy="190500"/>
            </a:xfrm>
            <a:prstGeom prst="roundRect">
              <a:avLst>
                <a:gd name="adj" fmla="val 25000"/>
              </a:avLst>
            </a:prstGeom>
            <a:solidFill>
              <a:srgbClr val="76200F"/>
            </a:solidFill>
            <a:ln>
              <a:noFill/>
            </a:ln>
          </p:spPr>
        </p:sp>
        <p:sp>
          <p:nvSpPr>
            <p:cNvPr id="273" name="TextBox 273"/>
            <p:cNvSpPr txBox="1"/>
            <p:nvPr/>
          </p:nvSpPr>
          <p:spPr>
            <a:xfrm>
              <a:off x="433388" y="3778091"/>
              <a:ext cx="157207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6项活动组合对比（同业调研）​</a:t>
              </a:r>
            </a:p>
          </p:txBody>
        </p:sp>
        <p:sp>
          <p:nvSpPr>
            <p:cNvPr id="274" name="Rectangle 274"/>
            <p:cNvSpPr/>
            <p:nvPr/>
          </p:nvSpPr>
          <p:spPr>
            <a:xfrm>
              <a:off x="342900" y="4000500"/>
              <a:ext cx="4000500" cy="285750"/>
            </a:xfrm>
            <a:prstGeom prst="rect">
              <a:avLst/>
            </a:prstGeom>
            <a:solidFill>
              <a:srgbClr val="5D190B"/>
            </a:solidFill>
            <a:ln>
              <a:noFill/>
            </a:ln>
          </p:spPr>
        </p:sp>
        <p:sp>
          <p:nvSpPr>
            <p:cNvPr id="275" name="TextBox 275"/>
            <p:cNvSpPr txBox="1"/>
            <p:nvPr/>
          </p:nvSpPr>
          <p:spPr>
            <a:xfrm>
              <a:off x="405792" y="4116705"/>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a:t>
              </a:r>
            </a:p>
          </p:txBody>
        </p:sp>
        <p:sp>
          <p:nvSpPr>
            <p:cNvPr id="276" name="TextBox 276"/>
            <p:cNvSpPr txBox="1"/>
            <p:nvPr/>
          </p:nvSpPr>
          <p:spPr>
            <a:xfrm>
              <a:off x="805243" y="4116705"/>
              <a:ext cx="33261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活动类型</a:t>
              </a:r>
            </a:p>
          </p:txBody>
        </p:sp>
        <p:sp>
          <p:nvSpPr>
            <p:cNvPr id="277" name="TextBox 277"/>
            <p:cNvSpPr txBox="1"/>
            <p:nvPr/>
          </p:nvSpPr>
          <p:spPr>
            <a:xfrm>
              <a:off x="1618107" y="4078605"/>
              <a:ext cx="554736"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FFFFFF"/>
                  </a:solidFill>
                  <a:latin typeface="+mn-lt"/>
                  <a:ea typeface="+mn-ea"/>
                  <a:cs typeface="+mn-cs"/>
                </a:rPr>
                <a:t>主要形式</a:t>
              </a:r>
              <a:br/>
              <a:r>
                <a:rPr lang="zh-CN" sz="600" b="1" dirty="0">
                  <a:solidFill>
                    <a:srgbClr val="FFFFFF"/>
                  </a:solidFill>
                  <a:latin typeface="+mn-lt"/>
                  <a:ea typeface="+mn-ea"/>
                  <a:cs typeface="+mn-cs"/>
                </a:rPr>
                <a:t>（线下+线上）​</a:t>
              </a:r>
            </a:p>
          </p:txBody>
        </p:sp>
        <p:sp>
          <p:nvSpPr>
            <p:cNvPr id="278" name="TextBox 278"/>
            <p:cNvSpPr txBox="1"/>
            <p:nvPr/>
          </p:nvSpPr>
          <p:spPr>
            <a:xfrm>
              <a:off x="2509838" y="4078605"/>
              <a:ext cx="314325"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FFFFFF"/>
                  </a:solidFill>
                  <a:latin typeface="+mn-lt"/>
                  <a:ea typeface="+mn-ea"/>
                  <a:cs typeface="+mn-cs"/>
                </a:rPr>
                <a:t>总收入</a:t>
              </a:r>
              <a:br/>
              <a:r>
                <a:rPr lang="zh-CN" sz="600" b="1" dirty="0">
                  <a:solidFill>
                    <a:srgbClr val="FFFFFF"/>
                  </a:solidFill>
                  <a:latin typeface="+mn-lt"/>
                  <a:ea typeface="+mn-ea"/>
                  <a:cs typeface="+mn-cs"/>
                </a:rPr>
                <a:t>（万元）</a:t>
              </a:r>
            </a:p>
          </p:txBody>
        </p:sp>
        <p:sp>
          <p:nvSpPr>
            <p:cNvPr id="279" name="TextBox 279"/>
            <p:cNvSpPr txBox="1"/>
            <p:nvPr/>
          </p:nvSpPr>
          <p:spPr>
            <a:xfrm>
              <a:off x="3043238" y="4078605"/>
              <a:ext cx="238125"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FFFFFF"/>
                  </a:solidFill>
                  <a:latin typeface="+mn-lt"/>
                  <a:ea typeface="+mn-ea"/>
                  <a:cs typeface="+mn-cs"/>
                </a:rPr>
                <a:t>获客数</a:t>
              </a:r>
              <a:br/>
              <a:r>
                <a:rPr lang="zh-CN" sz="600" b="1" dirty="0">
                  <a:solidFill>
                    <a:srgbClr val="FFFFFF"/>
                  </a:solidFill>
                  <a:latin typeface="+mn-lt"/>
                  <a:ea typeface="+mn-ea"/>
                  <a:cs typeface="+mn-cs"/>
                </a:rPr>
                <a:t>（人）</a:t>
              </a:r>
            </a:p>
          </p:txBody>
        </p:sp>
        <p:sp>
          <p:nvSpPr>
            <p:cNvPr id="280" name="TextBox 280"/>
            <p:cNvSpPr txBox="1"/>
            <p:nvPr/>
          </p:nvSpPr>
          <p:spPr>
            <a:xfrm>
              <a:off x="3508880" y="4116705"/>
              <a:ext cx="202189"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ROI​</a:t>
              </a:r>
            </a:p>
          </p:txBody>
        </p:sp>
        <p:sp>
          <p:nvSpPr>
            <p:cNvPr id="281" name="TextBox 281"/>
            <p:cNvSpPr txBox="1"/>
            <p:nvPr/>
          </p:nvSpPr>
          <p:spPr>
            <a:xfrm>
              <a:off x="3869626" y="4078605"/>
              <a:ext cx="414147"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FFFFFF"/>
                  </a:solidFill>
                  <a:latin typeface="+mn-lt"/>
                  <a:ea typeface="+mn-ea"/>
                  <a:cs typeface="+mn-cs"/>
                </a:rPr>
                <a:t>战略价值</a:t>
              </a:r>
              <a:br/>
              <a:r>
                <a:rPr lang="zh-CN" sz="600" b="1" dirty="0">
                  <a:solidFill>
                    <a:srgbClr val="FFFFFF"/>
                  </a:solidFill>
                  <a:latin typeface="+mn-lt"/>
                  <a:ea typeface="+mn-ea"/>
                  <a:cs typeface="+mn-cs"/>
                </a:rPr>
                <a:t>（1-5分）​</a:t>
              </a:r>
            </a:p>
          </p:txBody>
        </p:sp>
        <p:grpSp>
          <p:nvGrpSpPr>
            <p:cNvPr id="330" name="combo-rows"/>
            <p:cNvGrpSpPr/>
            <p:nvPr/>
          </p:nvGrpSpPr>
          <p:grpSpPr>
            <a:xfrm>
              <a:off x="342900" y="4286250"/>
              <a:ext cx="4000500" cy="1943100"/>
              <a:chOff x="342900" y="4286250"/>
              <a:chExt cx="4000500" cy="1943100"/>
            </a:xfrm>
          </p:grpSpPr>
          <p:sp>
            <p:nvSpPr>
              <p:cNvPr id="282" name="Rectangle 282"/>
              <p:cNvSpPr/>
              <p:nvPr/>
            </p:nvSpPr>
            <p:spPr>
              <a:xfrm>
                <a:off x="342900" y="4286250"/>
                <a:ext cx="4000500" cy="323850"/>
              </a:xfrm>
              <a:prstGeom prst="rect">
                <a:avLst/>
              </a:prstGeom>
              <a:solidFill>
                <a:srgbClr val="FFFFFF"/>
              </a:solidFill>
              <a:ln w="9525">
                <a:solidFill>
                  <a:srgbClr val="E2EEEB"/>
                </a:solidFill>
              </a:ln>
            </p:spPr>
          </p:sp>
          <p:sp>
            <p:nvSpPr>
              <p:cNvPr id="283" name="TextBox 283"/>
              <p:cNvSpPr txBox="1"/>
              <p:nvPr/>
            </p:nvSpPr>
            <p:spPr>
              <a:xfrm>
                <a:off x="405051" y="442698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a:t>
                </a:r>
              </a:p>
            </p:txBody>
          </p:sp>
          <p:sp>
            <p:nvSpPr>
              <p:cNvPr id="284" name="TextBox 284"/>
              <p:cNvSpPr txBox="1"/>
              <p:nvPr/>
            </p:nvSpPr>
            <p:spPr>
              <a:xfrm>
                <a:off x="751396" y="4426982"/>
                <a:ext cx="440309"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商圈生活节</a:t>
                </a:r>
              </a:p>
            </p:txBody>
          </p:sp>
          <p:sp>
            <p:nvSpPr>
              <p:cNvPr id="285" name="TextBox 285"/>
              <p:cNvSpPr txBox="1"/>
              <p:nvPr/>
            </p:nvSpPr>
            <p:spPr>
              <a:xfrm>
                <a:off x="1498968" y="4431030"/>
                <a:ext cx="793013"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线下展位 + 线上抽奖​</a:t>
                </a:r>
              </a:p>
            </p:txBody>
          </p:sp>
          <p:sp>
            <p:nvSpPr>
              <p:cNvPr id="286" name="TextBox 286"/>
              <p:cNvSpPr txBox="1"/>
              <p:nvPr/>
            </p:nvSpPr>
            <p:spPr>
              <a:xfrm>
                <a:off x="2591158" y="4426982"/>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30​</a:t>
                </a:r>
              </a:p>
            </p:txBody>
          </p:sp>
          <p:sp>
            <p:nvSpPr>
              <p:cNvPr id="287" name="TextBox 287"/>
              <p:cNvSpPr txBox="1"/>
              <p:nvPr/>
            </p:nvSpPr>
            <p:spPr>
              <a:xfrm>
                <a:off x="3062765" y="4426982"/>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810​</a:t>
                </a:r>
              </a:p>
            </p:txBody>
          </p:sp>
          <p:sp>
            <p:nvSpPr>
              <p:cNvPr id="288" name="TextBox 288"/>
              <p:cNvSpPr txBox="1"/>
              <p:nvPr/>
            </p:nvSpPr>
            <p:spPr>
              <a:xfrm>
                <a:off x="3505701" y="4426982"/>
                <a:ext cx="208547"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2.3​</a:t>
                </a:r>
              </a:p>
            </p:txBody>
          </p:sp>
          <p:sp>
            <p:nvSpPr>
              <p:cNvPr id="289" name="TextBox 289"/>
              <p:cNvSpPr txBox="1"/>
              <p:nvPr/>
            </p:nvSpPr>
            <p:spPr>
              <a:xfrm>
                <a:off x="4024551" y="442698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a:t>
                </a:r>
              </a:p>
            </p:txBody>
          </p:sp>
          <p:sp>
            <p:nvSpPr>
              <p:cNvPr id="290" name="Rectangle 290"/>
              <p:cNvSpPr/>
              <p:nvPr/>
            </p:nvSpPr>
            <p:spPr>
              <a:xfrm>
                <a:off x="342900" y="4610100"/>
                <a:ext cx="4000500" cy="323850"/>
              </a:xfrm>
              <a:prstGeom prst="rect">
                <a:avLst/>
              </a:prstGeom>
              <a:solidFill>
                <a:srgbClr val="EFF8F6"/>
              </a:solidFill>
              <a:ln w="9525">
                <a:solidFill>
                  <a:srgbClr val="E2EEEB"/>
                </a:solidFill>
              </a:ln>
            </p:spPr>
          </p:sp>
          <p:sp>
            <p:nvSpPr>
              <p:cNvPr id="291" name="TextBox 291"/>
              <p:cNvSpPr txBox="1"/>
              <p:nvPr/>
            </p:nvSpPr>
            <p:spPr>
              <a:xfrm>
                <a:off x="405051" y="475083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a:t>
                </a:r>
              </a:p>
            </p:txBody>
          </p:sp>
          <p:sp>
            <p:nvSpPr>
              <p:cNvPr id="292" name="TextBox 292"/>
              <p:cNvSpPr txBox="1"/>
              <p:nvPr/>
            </p:nvSpPr>
            <p:spPr>
              <a:xfrm>
                <a:off x="751396" y="4750832"/>
                <a:ext cx="440309"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高校开学季</a:t>
                </a:r>
              </a:p>
            </p:txBody>
          </p:sp>
          <p:sp>
            <p:nvSpPr>
              <p:cNvPr id="293" name="TextBox 293"/>
              <p:cNvSpPr txBox="1"/>
              <p:nvPr/>
            </p:nvSpPr>
            <p:spPr>
              <a:xfrm>
                <a:off x="1498968" y="4754880"/>
                <a:ext cx="793013"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校园展位 + 线上任务​</a:t>
                </a:r>
              </a:p>
            </p:txBody>
          </p:sp>
          <p:sp>
            <p:nvSpPr>
              <p:cNvPr id="294" name="TextBox 294"/>
              <p:cNvSpPr txBox="1"/>
              <p:nvPr/>
            </p:nvSpPr>
            <p:spPr>
              <a:xfrm>
                <a:off x="2591158" y="4750832"/>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25​</a:t>
                </a:r>
              </a:p>
            </p:txBody>
          </p:sp>
          <p:sp>
            <p:nvSpPr>
              <p:cNvPr id="295" name="TextBox 295"/>
              <p:cNvSpPr txBox="1"/>
              <p:nvPr/>
            </p:nvSpPr>
            <p:spPr>
              <a:xfrm>
                <a:off x="3062765" y="4750832"/>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620​</a:t>
                </a:r>
              </a:p>
            </p:txBody>
          </p:sp>
          <p:sp>
            <p:nvSpPr>
              <p:cNvPr id="296" name="TextBox 296"/>
              <p:cNvSpPr txBox="1"/>
              <p:nvPr/>
            </p:nvSpPr>
            <p:spPr>
              <a:xfrm>
                <a:off x="3505701" y="4750832"/>
                <a:ext cx="208547"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1.8​</a:t>
                </a:r>
              </a:p>
            </p:txBody>
          </p:sp>
          <p:sp>
            <p:nvSpPr>
              <p:cNvPr id="297" name="TextBox 297"/>
              <p:cNvSpPr txBox="1"/>
              <p:nvPr/>
            </p:nvSpPr>
            <p:spPr>
              <a:xfrm>
                <a:off x="4024551" y="475083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5​</a:t>
                </a:r>
              </a:p>
            </p:txBody>
          </p:sp>
          <p:sp>
            <p:nvSpPr>
              <p:cNvPr id="298" name="Rectangle 298"/>
              <p:cNvSpPr/>
              <p:nvPr/>
            </p:nvSpPr>
            <p:spPr>
              <a:xfrm>
                <a:off x="342900" y="4933950"/>
                <a:ext cx="4000500" cy="323850"/>
              </a:xfrm>
              <a:prstGeom prst="rect">
                <a:avLst/>
              </a:prstGeom>
              <a:solidFill>
                <a:srgbClr val="FFFFFF"/>
              </a:solidFill>
              <a:ln w="9525">
                <a:solidFill>
                  <a:srgbClr val="E2EEEB"/>
                </a:solidFill>
              </a:ln>
            </p:spPr>
          </p:sp>
          <p:sp>
            <p:nvSpPr>
              <p:cNvPr id="299" name="TextBox 299"/>
              <p:cNvSpPr txBox="1"/>
              <p:nvPr/>
            </p:nvSpPr>
            <p:spPr>
              <a:xfrm>
                <a:off x="405051" y="507468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3​</a:t>
                </a:r>
              </a:p>
            </p:txBody>
          </p:sp>
          <p:sp>
            <p:nvSpPr>
              <p:cNvPr id="300" name="TextBox 300"/>
              <p:cNvSpPr txBox="1"/>
              <p:nvPr/>
            </p:nvSpPr>
            <p:spPr>
              <a:xfrm>
                <a:off x="751396" y="5074682"/>
                <a:ext cx="440309"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社区邻里行</a:t>
                </a:r>
              </a:p>
            </p:txBody>
          </p:sp>
          <p:sp>
            <p:nvSpPr>
              <p:cNvPr id="301" name="TextBox 301"/>
              <p:cNvSpPr txBox="1"/>
              <p:nvPr/>
            </p:nvSpPr>
            <p:spPr>
              <a:xfrm>
                <a:off x="1498968" y="5078730"/>
                <a:ext cx="793013"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社区展位 + 社群运营​</a:t>
                </a:r>
              </a:p>
            </p:txBody>
          </p:sp>
          <p:sp>
            <p:nvSpPr>
              <p:cNvPr id="302" name="TextBox 302"/>
              <p:cNvSpPr txBox="1"/>
              <p:nvPr/>
            </p:nvSpPr>
            <p:spPr>
              <a:xfrm>
                <a:off x="2591158" y="5074682"/>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20​</a:t>
                </a:r>
              </a:p>
            </p:txBody>
          </p:sp>
          <p:sp>
            <p:nvSpPr>
              <p:cNvPr id="303" name="TextBox 303"/>
              <p:cNvSpPr txBox="1"/>
              <p:nvPr/>
            </p:nvSpPr>
            <p:spPr>
              <a:xfrm>
                <a:off x="3062765" y="5074682"/>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480​</a:t>
                </a:r>
              </a:p>
            </p:txBody>
          </p:sp>
          <p:sp>
            <p:nvSpPr>
              <p:cNvPr id="304" name="TextBox 304"/>
              <p:cNvSpPr txBox="1"/>
              <p:nvPr/>
            </p:nvSpPr>
            <p:spPr>
              <a:xfrm>
                <a:off x="3505701" y="5074682"/>
                <a:ext cx="208547"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1.6​</a:t>
                </a:r>
              </a:p>
            </p:txBody>
          </p:sp>
          <p:sp>
            <p:nvSpPr>
              <p:cNvPr id="305" name="TextBox 305"/>
              <p:cNvSpPr txBox="1"/>
              <p:nvPr/>
            </p:nvSpPr>
            <p:spPr>
              <a:xfrm>
                <a:off x="4024551" y="507468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a:t>
                </a:r>
              </a:p>
            </p:txBody>
          </p:sp>
          <p:sp>
            <p:nvSpPr>
              <p:cNvPr id="306" name="Rectangle 306"/>
              <p:cNvSpPr/>
              <p:nvPr/>
            </p:nvSpPr>
            <p:spPr>
              <a:xfrm>
                <a:off x="342900" y="5257800"/>
                <a:ext cx="4000500" cy="323850"/>
              </a:xfrm>
              <a:prstGeom prst="rect">
                <a:avLst/>
              </a:prstGeom>
              <a:solidFill>
                <a:srgbClr val="EFF8F6"/>
              </a:solidFill>
              <a:ln w="9525">
                <a:solidFill>
                  <a:srgbClr val="E2EEEB"/>
                </a:solidFill>
              </a:ln>
            </p:spPr>
          </p:sp>
          <p:sp>
            <p:nvSpPr>
              <p:cNvPr id="307" name="TextBox 307"/>
              <p:cNvSpPr txBox="1"/>
              <p:nvPr/>
            </p:nvSpPr>
            <p:spPr>
              <a:xfrm>
                <a:off x="405051" y="539853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a:t>
                </a:r>
              </a:p>
            </p:txBody>
          </p:sp>
          <p:sp>
            <p:nvSpPr>
              <p:cNvPr id="308" name="TextBox 308"/>
              <p:cNvSpPr txBox="1"/>
              <p:nvPr/>
            </p:nvSpPr>
            <p:spPr>
              <a:xfrm>
                <a:off x="751396" y="5398532"/>
                <a:ext cx="440309"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车主生态展</a:t>
                </a:r>
              </a:p>
            </p:txBody>
          </p:sp>
          <p:sp>
            <p:nvSpPr>
              <p:cNvPr id="309" name="TextBox 309"/>
              <p:cNvSpPr txBox="1"/>
              <p:nvPr/>
            </p:nvSpPr>
            <p:spPr>
              <a:xfrm>
                <a:off x="1498968" y="5402580"/>
                <a:ext cx="793013"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车企合作 + 线上权益​</a:t>
                </a:r>
              </a:p>
            </p:txBody>
          </p:sp>
          <p:sp>
            <p:nvSpPr>
              <p:cNvPr id="310" name="TextBox 310"/>
              <p:cNvSpPr txBox="1"/>
              <p:nvPr/>
            </p:nvSpPr>
            <p:spPr>
              <a:xfrm>
                <a:off x="2591158" y="5398532"/>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40​</a:t>
                </a:r>
              </a:p>
            </p:txBody>
          </p:sp>
          <p:sp>
            <p:nvSpPr>
              <p:cNvPr id="311" name="TextBox 311"/>
              <p:cNvSpPr txBox="1"/>
              <p:nvPr/>
            </p:nvSpPr>
            <p:spPr>
              <a:xfrm>
                <a:off x="2991686" y="5398532"/>
                <a:ext cx="341229"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1,200​​</a:t>
                </a:r>
              </a:p>
            </p:txBody>
          </p:sp>
          <p:sp>
            <p:nvSpPr>
              <p:cNvPr id="312" name="TextBox 312"/>
              <p:cNvSpPr txBox="1"/>
              <p:nvPr/>
            </p:nvSpPr>
            <p:spPr>
              <a:xfrm>
                <a:off x="3505701" y="5398532"/>
                <a:ext cx="208547"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2.8​</a:t>
                </a:r>
              </a:p>
            </p:txBody>
          </p:sp>
          <p:sp>
            <p:nvSpPr>
              <p:cNvPr id="313" name="TextBox 313"/>
              <p:cNvSpPr txBox="1"/>
              <p:nvPr/>
            </p:nvSpPr>
            <p:spPr>
              <a:xfrm>
                <a:off x="4024551" y="539853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5​</a:t>
                </a:r>
              </a:p>
            </p:txBody>
          </p:sp>
          <p:sp>
            <p:nvSpPr>
              <p:cNvPr id="314" name="Rectangle 314"/>
              <p:cNvSpPr/>
              <p:nvPr/>
            </p:nvSpPr>
            <p:spPr>
              <a:xfrm>
                <a:off x="342900" y="5581650"/>
                <a:ext cx="4000500" cy="323850"/>
              </a:xfrm>
              <a:prstGeom prst="rect">
                <a:avLst/>
              </a:prstGeom>
              <a:solidFill>
                <a:srgbClr val="FFFFFF"/>
              </a:solidFill>
              <a:ln w="9525">
                <a:solidFill>
                  <a:srgbClr val="E2EEEB"/>
                </a:solidFill>
              </a:ln>
            </p:spPr>
          </p:sp>
          <p:sp>
            <p:nvSpPr>
              <p:cNvPr id="315" name="TextBox 315"/>
              <p:cNvSpPr txBox="1"/>
              <p:nvPr/>
            </p:nvSpPr>
            <p:spPr>
              <a:xfrm>
                <a:off x="405051" y="572238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5​</a:t>
                </a:r>
              </a:p>
            </p:txBody>
          </p:sp>
          <p:sp>
            <p:nvSpPr>
              <p:cNvPr id="316" name="TextBox 316"/>
              <p:cNvSpPr txBox="1"/>
              <p:nvPr/>
            </p:nvSpPr>
            <p:spPr>
              <a:xfrm>
                <a:off x="751396" y="5722382"/>
                <a:ext cx="440309"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文旅嘉年华</a:t>
                </a:r>
              </a:p>
            </p:txBody>
          </p:sp>
          <p:sp>
            <p:nvSpPr>
              <p:cNvPr id="317" name="TextBox 317"/>
              <p:cNvSpPr txBox="1"/>
              <p:nvPr/>
            </p:nvSpPr>
            <p:spPr>
              <a:xfrm>
                <a:off x="1498968" y="5726430"/>
                <a:ext cx="793013"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景区快闪 + 线上打卡​</a:t>
                </a:r>
              </a:p>
            </p:txBody>
          </p:sp>
          <p:sp>
            <p:nvSpPr>
              <p:cNvPr id="318" name="TextBox 318"/>
              <p:cNvSpPr txBox="1"/>
              <p:nvPr/>
            </p:nvSpPr>
            <p:spPr>
              <a:xfrm>
                <a:off x="2591158" y="5722382"/>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35​</a:t>
                </a:r>
              </a:p>
            </p:txBody>
          </p:sp>
          <p:sp>
            <p:nvSpPr>
              <p:cNvPr id="319" name="TextBox 319"/>
              <p:cNvSpPr txBox="1"/>
              <p:nvPr/>
            </p:nvSpPr>
            <p:spPr>
              <a:xfrm>
                <a:off x="3062765" y="5722382"/>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950​</a:t>
                </a:r>
              </a:p>
            </p:txBody>
          </p:sp>
          <p:sp>
            <p:nvSpPr>
              <p:cNvPr id="320" name="TextBox 320"/>
              <p:cNvSpPr txBox="1"/>
              <p:nvPr/>
            </p:nvSpPr>
            <p:spPr>
              <a:xfrm>
                <a:off x="3505701" y="5722382"/>
                <a:ext cx="208547"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2.1​</a:t>
                </a:r>
              </a:p>
            </p:txBody>
          </p:sp>
          <p:sp>
            <p:nvSpPr>
              <p:cNvPr id="321" name="TextBox 321"/>
              <p:cNvSpPr txBox="1"/>
              <p:nvPr/>
            </p:nvSpPr>
            <p:spPr>
              <a:xfrm>
                <a:off x="4024551" y="572238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a:t>
                </a:r>
              </a:p>
            </p:txBody>
          </p:sp>
          <p:sp>
            <p:nvSpPr>
              <p:cNvPr id="322" name="Rectangle 322"/>
              <p:cNvSpPr/>
              <p:nvPr/>
            </p:nvSpPr>
            <p:spPr>
              <a:xfrm>
                <a:off x="342900" y="5905500"/>
                <a:ext cx="4000500" cy="323850"/>
              </a:xfrm>
              <a:prstGeom prst="rect">
                <a:avLst/>
              </a:prstGeom>
              <a:solidFill>
                <a:srgbClr val="EFF8F6"/>
              </a:solidFill>
              <a:ln w="9525">
                <a:solidFill>
                  <a:srgbClr val="E2EEEB"/>
                </a:solidFill>
              </a:ln>
            </p:spPr>
          </p:sp>
          <p:sp>
            <p:nvSpPr>
              <p:cNvPr id="323" name="TextBox 323"/>
              <p:cNvSpPr txBox="1"/>
              <p:nvPr/>
            </p:nvSpPr>
            <p:spPr>
              <a:xfrm>
                <a:off x="405051" y="604623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6​</a:t>
                </a:r>
              </a:p>
            </p:txBody>
          </p:sp>
          <p:sp>
            <p:nvSpPr>
              <p:cNvPr id="324" name="TextBox 324"/>
              <p:cNvSpPr txBox="1"/>
              <p:nvPr/>
            </p:nvSpPr>
            <p:spPr>
              <a:xfrm>
                <a:off x="751396" y="6046232"/>
                <a:ext cx="440309"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企业园区行</a:t>
                </a:r>
              </a:p>
            </p:txBody>
          </p:sp>
          <p:sp>
            <p:nvSpPr>
              <p:cNvPr id="325" name="TextBox 325"/>
              <p:cNvSpPr txBox="1"/>
              <p:nvPr/>
            </p:nvSpPr>
            <p:spPr>
              <a:xfrm>
                <a:off x="1498968" y="6050280"/>
                <a:ext cx="793013" cy="119062"/>
              </a:xfrm>
              <a:prstGeom prst="rect">
                <a:avLst/>
              </a:prstGeom>
              <a:noFill/>
              <a:ln>
                <a:noFill/>
              </a:ln>
            </p:spPr>
            <p:txBody>
              <a:bodyPr wrap="none" lIns="0" tIns="0" rIns="0" bIns="0" anchor="t" anchorCtr="0">
                <a:spAutoFit/>
              </a:bodyPr>
              <a:lstStyle/>
              <a:p>
                <a:pPr algn="ctr"/>
                <a:r>
                  <a:rPr lang="zh-CN" sz="600" dirty="0">
                    <a:solidFill>
                      <a:srgbClr val="514340"/>
                    </a:solidFill>
                    <a:latin typeface="+mn-lt"/>
                    <a:ea typeface="+mn-ea"/>
                    <a:cs typeface="+mn-cs"/>
                  </a:rPr>
                  <a:t>园区展位 + 企业微信​</a:t>
                </a:r>
              </a:p>
            </p:txBody>
          </p:sp>
          <p:sp>
            <p:nvSpPr>
              <p:cNvPr id="326" name="TextBox 326"/>
              <p:cNvSpPr txBox="1"/>
              <p:nvPr/>
            </p:nvSpPr>
            <p:spPr>
              <a:xfrm>
                <a:off x="2591158" y="6046232"/>
                <a:ext cx="151684"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28​</a:t>
                </a:r>
              </a:p>
            </p:txBody>
          </p:sp>
          <p:sp>
            <p:nvSpPr>
              <p:cNvPr id="327" name="TextBox 327"/>
              <p:cNvSpPr txBox="1"/>
              <p:nvPr/>
            </p:nvSpPr>
            <p:spPr>
              <a:xfrm>
                <a:off x="3062765" y="6046232"/>
                <a:ext cx="199070"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760​</a:t>
                </a:r>
              </a:p>
            </p:txBody>
          </p:sp>
          <p:sp>
            <p:nvSpPr>
              <p:cNvPr id="328" name="TextBox 328"/>
              <p:cNvSpPr txBox="1"/>
              <p:nvPr/>
            </p:nvSpPr>
            <p:spPr>
              <a:xfrm>
                <a:off x="3505701" y="6046232"/>
                <a:ext cx="208547" cy="126206"/>
              </a:xfrm>
              <a:prstGeom prst="rect">
                <a:avLst/>
              </a:prstGeom>
              <a:noFill/>
              <a:ln>
                <a:noFill/>
              </a:ln>
            </p:spPr>
            <p:txBody>
              <a:bodyPr wrap="none" lIns="0" tIns="0" rIns="0" bIns="0" anchor="t" anchorCtr="0">
                <a:spAutoFit/>
              </a:bodyPr>
              <a:lstStyle/>
              <a:p>
                <a:pPr algn="ctr"/>
                <a:r>
                  <a:rPr lang="zh-CN" sz="640" b="1" dirty="0">
                    <a:solidFill>
                      <a:srgbClr val="76200F"/>
                    </a:solidFill>
                    <a:latin typeface="+mn-lt"/>
                    <a:ea typeface="+mn-ea"/>
                    <a:cs typeface="+mn-cs"/>
                  </a:rPr>
                  <a:t>1.9​</a:t>
                </a:r>
              </a:p>
            </p:txBody>
          </p:sp>
          <p:sp>
            <p:nvSpPr>
              <p:cNvPr id="329" name="TextBox 329"/>
              <p:cNvSpPr txBox="1"/>
              <p:nvPr/>
            </p:nvSpPr>
            <p:spPr>
              <a:xfrm>
                <a:off x="4024551" y="6046232"/>
                <a:ext cx="104297" cy="126206"/>
              </a:xfrm>
              <a:prstGeom prst="rect">
                <a:avLst/>
              </a:prstGeom>
              <a:noFill/>
              <a:ln>
                <a:noFill/>
              </a:ln>
            </p:spPr>
            <p:txBody>
              <a:bodyPr wrap="none" lIns="0" tIns="0" rIns="0" bIns="0" anchor="t" anchorCtr="0">
                <a:spAutoFit/>
              </a:bodyPr>
              <a:lstStyle/>
              <a:p>
                <a:pPr algn="ctr"/>
                <a:r>
                  <a:rPr lang="zh-CN" sz="640" dirty="0">
                    <a:solidFill>
                      <a:srgbClr val="514340"/>
                    </a:solidFill>
                    <a:latin typeface="+mn-lt"/>
                    <a:ea typeface="+mn-ea"/>
                    <a:cs typeface="+mn-cs"/>
                  </a:rPr>
                  <a:t>4​</a:t>
                </a:r>
              </a:p>
            </p:txBody>
          </p:sp>
        </p:grpSp>
      </p:grpSp>
      <p:grpSp>
        <p:nvGrpSpPr>
          <p:cNvPr id="374" name="combo-matrix"/>
          <p:cNvGrpSpPr/>
          <p:nvPr/>
        </p:nvGrpSpPr>
        <p:grpSpPr>
          <a:xfrm>
            <a:off x="4217613" y="3733800"/>
            <a:ext cx="4202487" cy="2781538"/>
            <a:chOff x="4217613" y="3733800"/>
            <a:chExt cx="4202487" cy="2781538"/>
          </a:xfrm>
        </p:grpSpPr>
        <p:sp>
          <p:nvSpPr>
            <p:cNvPr id="332" name="Rectangle 332"/>
            <p:cNvSpPr/>
            <p:nvPr/>
          </p:nvSpPr>
          <p:spPr>
            <a:xfrm>
              <a:off x="4419600" y="3733800"/>
              <a:ext cx="2286000" cy="190500"/>
            </a:xfrm>
            <a:prstGeom prst="roundRect">
              <a:avLst>
                <a:gd name="adj" fmla="val 25000"/>
              </a:avLst>
            </a:prstGeom>
            <a:solidFill>
              <a:srgbClr val="76200F"/>
            </a:solidFill>
            <a:ln>
              <a:noFill/>
            </a:ln>
          </p:spPr>
        </p:sp>
        <p:sp>
          <p:nvSpPr>
            <p:cNvPr id="333" name="TextBox 333"/>
            <p:cNvSpPr txBox="1"/>
            <p:nvPr/>
          </p:nvSpPr>
          <p:spPr>
            <a:xfrm>
              <a:off x="4510088" y="3778091"/>
              <a:ext cx="179847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活动组合矩阵（ROI × 战略价值）​​</a:t>
              </a:r>
            </a:p>
          </p:txBody>
        </p:sp>
        <p:sp>
          <p:nvSpPr>
            <p:cNvPr id="334" name="Rectangle 334"/>
            <p:cNvSpPr/>
            <p:nvPr/>
          </p:nvSpPr>
          <p:spPr>
            <a:xfrm>
              <a:off x="4876800" y="4076700"/>
              <a:ext cx="2286000" cy="2095500"/>
            </a:xfrm>
            <a:prstGeom prst="rect">
              <a:avLst/>
            </a:prstGeom>
            <a:noFill/>
            <a:ln w="9525">
              <a:solidFill>
                <a:srgbClr val="C2E0DA"/>
              </a:solidFill>
            </a:ln>
          </p:spPr>
        </p:sp>
        <p:sp>
          <p:nvSpPr>
            <p:cNvPr id="335" name="Line 335"/>
            <p:cNvSpPr/>
            <p:nvPr/>
          </p:nvSpPr>
          <p:spPr>
            <a:xfrm>
              <a:off x="4876800" y="5124450"/>
              <a:ext cx="2286000" cy="9525"/>
            </a:xfrm>
            <a:custGeom>
              <a:avLst/>
              <a:gdLst/>
              <a:ahLst/>
              <a:cxnLst/>
              <a:rect l="l" t="t" r="r" b="b"/>
              <a:pathLst>
                <a:path w="2286000" h="9525">
                  <a:moveTo>
                    <a:pt x="0" y="0"/>
                  </a:moveTo>
                  <a:lnTo>
                    <a:pt x="2286000" y="0"/>
                  </a:lnTo>
                </a:path>
              </a:pathLst>
            </a:custGeom>
            <a:noFill/>
            <a:ln w="9525">
              <a:solidFill>
                <a:srgbClr val="E2EEEB"/>
              </a:solidFill>
              <a:custDash>
                <a:ds d="400000" sp="300000"/>
              </a:custDash>
            </a:ln>
          </p:spPr>
        </p:sp>
        <p:sp>
          <p:nvSpPr>
            <p:cNvPr id="336" name="Line 336"/>
            <p:cNvSpPr/>
            <p:nvPr/>
          </p:nvSpPr>
          <p:spPr>
            <a:xfrm>
              <a:off x="6019800" y="4076700"/>
              <a:ext cx="9525" cy="2095500"/>
            </a:xfrm>
            <a:custGeom>
              <a:avLst/>
              <a:gdLst/>
              <a:ahLst/>
              <a:cxnLst/>
              <a:rect l="l" t="t" r="r" b="b"/>
              <a:pathLst>
                <a:path w="9525" h="2095500">
                  <a:moveTo>
                    <a:pt x="0" y="0"/>
                  </a:moveTo>
                  <a:lnTo>
                    <a:pt x="0" y="2095500"/>
                  </a:lnTo>
                </a:path>
              </a:pathLst>
            </a:custGeom>
            <a:noFill/>
            <a:ln w="9525">
              <a:solidFill>
                <a:srgbClr val="E2EEEB"/>
              </a:solidFill>
              <a:custDash>
                <a:ds d="400000" sp="300000"/>
              </a:custDash>
            </a:ln>
          </p:spPr>
        </p:sp>
        <p:sp>
          <p:nvSpPr>
            <p:cNvPr id="337" name="TextBox 337"/>
            <p:cNvSpPr txBox="1"/>
            <p:nvPr/>
          </p:nvSpPr>
          <p:spPr>
            <a:xfrm>
              <a:off x="4731962" y="4054078"/>
              <a:ext cx="92451" cy="111919"/>
            </a:xfrm>
            <a:prstGeom prst="rect">
              <a:avLst/>
            </a:prstGeom>
            <a:noFill/>
            <a:ln>
              <a:noFill/>
            </a:ln>
          </p:spPr>
          <p:txBody>
            <a:bodyPr wrap="none" lIns="0" tIns="0" rIns="0" bIns="0" anchor="t" anchorCtr="0">
              <a:spAutoFit/>
            </a:bodyPr>
            <a:lstStyle/>
            <a:p>
              <a:pPr algn="r"/>
              <a:r>
                <a:rPr lang="zh-CN" sz="560" dirty="0">
                  <a:solidFill>
                    <a:srgbClr val="73615E"/>
                  </a:solidFill>
                  <a:latin typeface="+mn-lt"/>
                  <a:ea typeface="+mn-ea"/>
                  <a:cs typeface="+mn-cs"/>
                </a:rPr>
                <a:t>5​</a:t>
              </a:r>
            </a:p>
          </p:txBody>
        </p:sp>
        <p:sp>
          <p:nvSpPr>
            <p:cNvPr id="338" name="TextBox 338"/>
            <p:cNvSpPr txBox="1"/>
            <p:nvPr/>
          </p:nvSpPr>
          <p:spPr>
            <a:xfrm>
              <a:off x="4731962" y="4577953"/>
              <a:ext cx="92451" cy="111919"/>
            </a:xfrm>
            <a:prstGeom prst="rect">
              <a:avLst/>
            </a:prstGeom>
            <a:noFill/>
            <a:ln>
              <a:noFill/>
            </a:ln>
          </p:spPr>
          <p:txBody>
            <a:bodyPr wrap="none" lIns="0" tIns="0" rIns="0" bIns="0" anchor="t" anchorCtr="0">
              <a:spAutoFit/>
            </a:bodyPr>
            <a:lstStyle/>
            <a:p>
              <a:pPr algn="r"/>
              <a:r>
                <a:rPr lang="zh-CN" sz="560" dirty="0">
                  <a:solidFill>
                    <a:srgbClr val="73615E"/>
                  </a:solidFill>
                  <a:latin typeface="+mn-lt"/>
                  <a:ea typeface="+mn-ea"/>
                  <a:cs typeface="+mn-cs"/>
                </a:rPr>
                <a:t>4​</a:t>
              </a:r>
            </a:p>
          </p:txBody>
        </p:sp>
        <p:sp>
          <p:nvSpPr>
            <p:cNvPr id="339" name="TextBox 339"/>
            <p:cNvSpPr txBox="1"/>
            <p:nvPr/>
          </p:nvSpPr>
          <p:spPr>
            <a:xfrm>
              <a:off x="4731962" y="5101828"/>
              <a:ext cx="92451" cy="111919"/>
            </a:xfrm>
            <a:prstGeom prst="rect">
              <a:avLst/>
            </a:prstGeom>
            <a:noFill/>
            <a:ln>
              <a:noFill/>
            </a:ln>
          </p:spPr>
          <p:txBody>
            <a:bodyPr wrap="none" lIns="0" tIns="0" rIns="0" bIns="0" anchor="t" anchorCtr="0">
              <a:spAutoFit/>
            </a:bodyPr>
            <a:lstStyle/>
            <a:p>
              <a:pPr algn="r"/>
              <a:r>
                <a:rPr lang="zh-CN" sz="560" dirty="0">
                  <a:solidFill>
                    <a:srgbClr val="73615E"/>
                  </a:solidFill>
                  <a:latin typeface="+mn-lt"/>
                  <a:ea typeface="+mn-ea"/>
                  <a:cs typeface="+mn-cs"/>
                </a:rPr>
                <a:t>3​</a:t>
              </a:r>
            </a:p>
          </p:txBody>
        </p:sp>
        <p:sp>
          <p:nvSpPr>
            <p:cNvPr id="340" name="TextBox 340"/>
            <p:cNvSpPr txBox="1"/>
            <p:nvPr/>
          </p:nvSpPr>
          <p:spPr>
            <a:xfrm>
              <a:off x="4731962" y="5625703"/>
              <a:ext cx="92451" cy="111919"/>
            </a:xfrm>
            <a:prstGeom prst="rect">
              <a:avLst/>
            </a:prstGeom>
            <a:noFill/>
            <a:ln>
              <a:noFill/>
            </a:ln>
          </p:spPr>
          <p:txBody>
            <a:bodyPr wrap="none" lIns="0" tIns="0" rIns="0" bIns="0" anchor="t" anchorCtr="0">
              <a:spAutoFit/>
            </a:bodyPr>
            <a:lstStyle/>
            <a:p>
              <a:pPr algn="r"/>
              <a:r>
                <a:rPr lang="zh-CN" sz="560" dirty="0">
                  <a:solidFill>
                    <a:srgbClr val="73615E"/>
                  </a:solidFill>
                  <a:latin typeface="+mn-lt"/>
                  <a:ea typeface="+mn-ea"/>
                  <a:cs typeface="+mn-cs"/>
                </a:rPr>
                <a:t>2​</a:t>
              </a:r>
            </a:p>
          </p:txBody>
        </p:sp>
        <p:sp>
          <p:nvSpPr>
            <p:cNvPr id="341" name="TextBox 341"/>
            <p:cNvSpPr txBox="1"/>
            <p:nvPr/>
          </p:nvSpPr>
          <p:spPr>
            <a:xfrm>
              <a:off x="4731962" y="6149578"/>
              <a:ext cx="92451" cy="111919"/>
            </a:xfrm>
            <a:prstGeom prst="rect">
              <a:avLst/>
            </a:prstGeom>
            <a:noFill/>
            <a:ln>
              <a:noFill/>
            </a:ln>
          </p:spPr>
          <p:txBody>
            <a:bodyPr wrap="none" lIns="0" tIns="0" rIns="0" bIns="0" anchor="t" anchorCtr="0">
              <a:spAutoFit/>
            </a:bodyPr>
            <a:lstStyle/>
            <a:p>
              <a:pPr algn="r"/>
              <a:r>
                <a:rPr lang="zh-CN" sz="560" dirty="0">
                  <a:solidFill>
                    <a:srgbClr val="73615E"/>
                  </a:solidFill>
                  <a:latin typeface="+mn-lt"/>
                  <a:ea typeface="+mn-ea"/>
                  <a:cs typeface="+mn-cs"/>
                </a:rPr>
                <a:t>1​</a:t>
              </a:r>
            </a:p>
          </p:txBody>
        </p:sp>
        <p:sp>
          <p:nvSpPr>
            <p:cNvPr id="342" name="TextBox 342"/>
            <p:cNvSpPr txBox="1"/>
            <p:nvPr/>
          </p:nvSpPr>
          <p:spPr>
            <a:xfrm>
              <a:off x="4789112" y="6244828"/>
              <a:ext cx="175377"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1.0​</a:t>
              </a:r>
            </a:p>
          </p:txBody>
        </p:sp>
        <p:sp>
          <p:nvSpPr>
            <p:cNvPr id="343" name="TextBox 343"/>
            <p:cNvSpPr txBox="1"/>
            <p:nvPr/>
          </p:nvSpPr>
          <p:spPr>
            <a:xfrm>
              <a:off x="5551112" y="6244828"/>
              <a:ext cx="175377"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2.0​</a:t>
              </a:r>
            </a:p>
          </p:txBody>
        </p:sp>
        <p:sp>
          <p:nvSpPr>
            <p:cNvPr id="344" name="TextBox 344"/>
            <p:cNvSpPr txBox="1"/>
            <p:nvPr/>
          </p:nvSpPr>
          <p:spPr>
            <a:xfrm>
              <a:off x="6313112" y="6244828"/>
              <a:ext cx="175377"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3.0​</a:t>
              </a:r>
            </a:p>
          </p:txBody>
        </p:sp>
        <p:sp>
          <p:nvSpPr>
            <p:cNvPr id="345" name="TextBox 345"/>
            <p:cNvSpPr txBox="1"/>
            <p:nvPr/>
          </p:nvSpPr>
          <p:spPr>
            <a:xfrm>
              <a:off x="7075112" y="6244828"/>
              <a:ext cx="175377"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4.0​</a:t>
              </a:r>
            </a:p>
          </p:txBody>
        </p:sp>
        <p:sp>
          <p:nvSpPr>
            <p:cNvPr id="346" name="TextBox 346"/>
            <p:cNvSpPr txBox="1"/>
            <p:nvPr/>
          </p:nvSpPr>
          <p:spPr>
            <a:xfrm>
              <a:off x="5612143" y="6389132"/>
              <a:ext cx="81531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ROI（投入产出比）​</a:t>
              </a:r>
            </a:p>
          </p:txBody>
        </p:sp>
        <p:sp>
          <p:nvSpPr>
            <p:cNvPr id="347" name="TextBox 347"/>
            <p:cNvSpPr txBox="1"/>
            <p:nvPr/>
          </p:nvSpPr>
          <p:spPr>
            <a:xfrm rot="-5400000">
              <a:off x="4217613" y="5061347"/>
              <a:ext cx="811645" cy="126206"/>
            </a:xfrm>
            <a:prstGeom prst="rect">
              <a:avLst/>
            </a:prstGeom>
            <a:noFill/>
            <a:ln>
              <a:noFill/>
            </a:ln>
          </p:spPr>
          <p:txBody>
            <a:bodyPr wrap="none" lIns="0" tIns="0" rIns="0" bIns="0" anchor="t" anchorCtr="0">
              <a:spAutoFit/>
            </a:bodyPr>
            <a:lstStyle/>
            <a:p>
              <a:pPr algn="ctr"/>
              <a:r>
                <a:rPr lang="zh-CN" sz="640" b="1" dirty="0">
                  <a:solidFill>
                    <a:srgbClr val="331712"/>
                  </a:solidFill>
                  <a:latin typeface="+mn-lt"/>
                  <a:ea typeface="+mn-ea"/>
                  <a:cs typeface="+mn-cs"/>
                </a:rPr>
                <a:t>战略价值（1-5分）​</a:t>
              </a:r>
            </a:p>
          </p:txBody>
        </p:sp>
        <p:sp>
          <p:nvSpPr>
            <p:cNvPr id="348" name="Ellipse 348"/>
            <p:cNvSpPr/>
            <p:nvPr/>
          </p:nvSpPr>
          <p:spPr>
            <a:xfrm>
              <a:off x="5429250" y="4076700"/>
              <a:ext cx="114300" cy="114300"/>
            </a:xfrm>
            <a:prstGeom prst="ellipse">
              <a:avLst/>
            </a:prstGeom>
            <a:solidFill>
              <a:srgbClr val="76200F"/>
            </a:solidFill>
            <a:ln>
              <a:noFill/>
            </a:ln>
          </p:spPr>
        </p:sp>
        <p:sp>
          <p:nvSpPr>
            <p:cNvPr id="349" name="TextBox 349"/>
            <p:cNvSpPr txBox="1"/>
            <p:nvPr/>
          </p:nvSpPr>
          <p:spPr>
            <a:xfrm>
              <a:off x="5576888" y="4107180"/>
              <a:ext cx="413385" cy="119062"/>
            </a:xfrm>
            <a:prstGeom prst="rect">
              <a:avLst/>
            </a:prstGeom>
            <a:noFill/>
            <a:ln>
              <a:noFill/>
            </a:ln>
          </p:spPr>
          <p:txBody>
            <a:bodyPr wrap="none" lIns="0" tIns="0" rIns="0" bIns="0" anchor="t" anchorCtr="0">
              <a:spAutoFit/>
            </a:bodyPr>
            <a:lstStyle/>
            <a:p>
              <a:pPr algn="l"/>
              <a:r>
                <a:rPr lang="zh-CN" sz="600" dirty="0">
                  <a:solidFill>
                    <a:srgbClr val="331712"/>
                  </a:solidFill>
                  <a:latin typeface="+mn-lt"/>
                  <a:ea typeface="+mn-ea"/>
                  <a:cs typeface="+mn-cs"/>
                </a:rPr>
                <a:t>高校开学季</a:t>
              </a:r>
            </a:p>
          </p:txBody>
        </p:sp>
        <p:sp>
          <p:nvSpPr>
            <p:cNvPr id="350" name="Ellipse 350"/>
            <p:cNvSpPr/>
            <p:nvPr/>
          </p:nvSpPr>
          <p:spPr>
            <a:xfrm>
              <a:off x="6191250" y="4076700"/>
              <a:ext cx="114300" cy="114300"/>
            </a:xfrm>
            <a:prstGeom prst="ellipse">
              <a:avLst/>
            </a:prstGeom>
            <a:solidFill>
              <a:srgbClr val="76200F"/>
            </a:solidFill>
            <a:ln>
              <a:noFill/>
            </a:ln>
          </p:spPr>
        </p:sp>
        <p:sp>
          <p:nvSpPr>
            <p:cNvPr id="351" name="TextBox 351"/>
            <p:cNvSpPr txBox="1"/>
            <p:nvPr/>
          </p:nvSpPr>
          <p:spPr>
            <a:xfrm>
              <a:off x="6338888" y="4107180"/>
              <a:ext cx="413385" cy="119062"/>
            </a:xfrm>
            <a:prstGeom prst="rect">
              <a:avLst/>
            </a:prstGeom>
            <a:noFill/>
            <a:ln>
              <a:noFill/>
            </a:ln>
          </p:spPr>
          <p:txBody>
            <a:bodyPr wrap="none" lIns="0" tIns="0" rIns="0" bIns="0" anchor="t" anchorCtr="0">
              <a:spAutoFit/>
            </a:bodyPr>
            <a:lstStyle/>
            <a:p>
              <a:pPr algn="l"/>
              <a:r>
                <a:rPr lang="zh-CN" sz="600" dirty="0">
                  <a:solidFill>
                    <a:srgbClr val="331712"/>
                  </a:solidFill>
                  <a:latin typeface="+mn-lt"/>
                  <a:ea typeface="+mn-ea"/>
                  <a:cs typeface="+mn-cs"/>
                </a:rPr>
                <a:t>车主生态展</a:t>
              </a:r>
            </a:p>
          </p:txBody>
        </p:sp>
        <p:sp>
          <p:nvSpPr>
            <p:cNvPr id="352" name="Ellipse 352"/>
            <p:cNvSpPr/>
            <p:nvPr/>
          </p:nvSpPr>
          <p:spPr>
            <a:xfrm>
              <a:off x="5810250" y="4543425"/>
              <a:ext cx="114300" cy="114300"/>
            </a:xfrm>
            <a:prstGeom prst="ellipse">
              <a:avLst/>
            </a:prstGeom>
            <a:solidFill>
              <a:srgbClr val="76200F"/>
            </a:solidFill>
            <a:ln>
              <a:noFill/>
            </a:ln>
          </p:spPr>
        </p:sp>
        <p:sp>
          <p:nvSpPr>
            <p:cNvPr id="353" name="TextBox 353"/>
            <p:cNvSpPr txBox="1"/>
            <p:nvPr/>
          </p:nvSpPr>
          <p:spPr>
            <a:xfrm>
              <a:off x="5957888" y="4573905"/>
              <a:ext cx="413385" cy="119062"/>
            </a:xfrm>
            <a:prstGeom prst="rect">
              <a:avLst/>
            </a:prstGeom>
            <a:noFill/>
            <a:ln>
              <a:noFill/>
            </a:ln>
          </p:spPr>
          <p:txBody>
            <a:bodyPr wrap="none" lIns="0" tIns="0" rIns="0" bIns="0" anchor="t" anchorCtr="0">
              <a:spAutoFit/>
            </a:bodyPr>
            <a:lstStyle/>
            <a:p>
              <a:pPr algn="l"/>
              <a:r>
                <a:rPr lang="zh-CN" sz="600" dirty="0">
                  <a:solidFill>
                    <a:srgbClr val="331712"/>
                  </a:solidFill>
                  <a:latin typeface="+mn-lt"/>
                  <a:ea typeface="+mn-ea"/>
                  <a:cs typeface="+mn-cs"/>
                </a:rPr>
                <a:t>商圈生活节</a:t>
              </a:r>
            </a:p>
          </p:txBody>
        </p:sp>
        <p:sp>
          <p:nvSpPr>
            <p:cNvPr id="354" name="Ellipse 354"/>
            <p:cNvSpPr/>
            <p:nvPr/>
          </p:nvSpPr>
          <p:spPr>
            <a:xfrm>
              <a:off x="5886450" y="4991100"/>
              <a:ext cx="114300" cy="114300"/>
            </a:xfrm>
            <a:prstGeom prst="ellipse">
              <a:avLst/>
            </a:prstGeom>
            <a:solidFill>
              <a:srgbClr val="A3422F"/>
            </a:solidFill>
            <a:ln>
              <a:noFill/>
            </a:ln>
          </p:spPr>
        </p:sp>
        <p:sp>
          <p:nvSpPr>
            <p:cNvPr id="355" name="TextBox 355"/>
            <p:cNvSpPr txBox="1"/>
            <p:nvPr/>
          </p:nvSpPr>
          <p:spPr>
            <a:xfrm>
              <a:off x="6034088" y="5021580"/>
              <a:ext cx="413385" cy="119062"/>
            </a:xfrm>
            <a:prstGeom prst="rect">
              <a:avLst/>
            </a:prstGeom>
            <a:noFill/>
            <a:ln>
              <a:noFill/>
            </a:ln>
          </p:spPr>
          <p:txBody>
            <a:bodyPr wrap="none" lIns="0" tIns="0" rIns="0" bIns="0" anchor="t" anchorCtr="0">
              <a:spAutoFit/>
            </a:bodyPr>
            <a:lstStyle/>
            <a:p>
              <a:pPr algn="l"/>
              <a:r>
                <a:rPr lang="zh-CN" sz="600" dirty="0">
                  <a:solidFill>
                    <a:srgbClr val="331712"/>
                  </a:solidFill>
                  <a:latin typeface="+mn-lt"/>
                  <a:ea typeface="+mn-ea"/>
                  <a:cs typeface="+mn-cs"/>
                </a:rPr>
                <a:t>文旅嘉年华</a:t>
              </a:r>
            </a:p>
          </p:txBody>
        </p:sp>
        <p:sp>
          <p:nvSpPr>
            <p:cNvPr id="356" name="Ellipse 356"/>
            <p:cNvSpPr/>
            <p:nvPr/>
          </p:nvSpPr>
          <p:spPr>
            <a:xfrm>
              <a:off x="5276850" y="5334000"/>
              <a:ext cx="114300" cy="114300"/>
            </a:xfrm>
            <a:prstGeom prst="ellipse">
              <a:avLst/>
            </a:prstGeom>
            <a:solidFill>
              <a:srgbClr val="C68679"/>
            </a:solidFill>
            <a:ln>
              <a:noFill/>
            </a:ln>
          </p:spPr>
        </p:sp>
        <p:sp>
          <p:nvSpPr>
            <p:cNvPr id="357" name="TextBox 357"/>
            <p:cNvSpPr txBox="1"/>
            <p:nvPr/>
          </p:nvSpPr>
          <p:spPr>
            <a:xfrm>
              <a:off x="5424488" y="5364480"/>
              <a:ext cx="413385" cy="119062"/>
            </a:xfrm>
            <a:prstGeom prst="rect">
              <a:avLst/>
            </a:prstGeom>
            <a:noFill/>
            <a:ln>
              <a:noFill/>
            </a:ln>
          </p:spPr>
          <p:txBody>
            <a:bodyPr wrap="none" lIns="0" tIns="0" rIns="0" bIns="0" anchor="t" anchorCtr="0">
              <a:spAutoFit/>
            </a:bodyPr>
            <a:lstStyle/>
            <a:p>
              <a:pPr algn="l"/>
              <a:r>
                <a:rPr lang="zh-CN" sz="600" dirty="0">
                  <a:solidFill>
                    <a:srgbClr val="331712"/>
                  </a:solidFill>
                  <a:latin typeface="+mn-lt"/>
                  <a:ea typeface="+mn-ea"/>
                  <a:cs typeface="+mn-cs"/>
                </a:rPr>
                <a:t>社区邻里行</a:t>
              </a:r>
            </a:p>
          </p:txBody>
        </p:sp>
        <p:sp>
          <p:nvSpPr>
            <p:cNvPr id="358" name="Ellipse 358"/>
            <p:cNvSpPr/>
            <p:nvPr/>
          </p:nvSpPr>
          <p:spPr>
            <a:xfrm>
              <a:off x="5505450" y="5638800"/>
              <a:ext cx="114300" cy="114300"/>
            </a:xfrm>
            <a:prstGeom prst="ellipse">
              <a:avLst/>
            </a:prstGeom>
            <a:solidFill>
              <a:srgbClr val="C68679"/>
            </a:solidFill>
            <a:ln>
              <a:noFill/>
            </a:ln>
          </p:spPr>
        </p:sp>
        <p:sp>
          <p:nvSpPr>
            <p:cNvPr id="359" name="TextBox 359"/>
            <p:cNvSpPr txBox="1"/>
            <p:nvPr/>
          </p:nvSpPr>
          <p:spPr>
            <a:xfrm>
              <a:off x="5653088" y="5669280"/>
              <a:ext cx="413385" cy="119062"/>
            </a:xfrm>
            <a:prstGeom prst="rect">
              <a:avLst/>
            </a:prstGeom>
            <a:noFill/>
            <a:ln>
              <a:noFill/>
            </a:ln>
          </p:spPr>
          <p:txBody>
            <a:bodyPr wrap="none" lIns="0" tIns="0" rIns="0" bIns="0" anchor="t" anchorCtr="0">
              <a:spAutoFit/>
            </a:bodyPr>
            <a:lstStyle/>
            <a:p>
              <a:pPr algn="l"/>
              <a:r>
                <a:rPr lang="zh-CN" sz="600" dirty="0">
                  <a:solidFill>
                    <a:srgbClr val="331712"/>
                  </a:solidFill>
                  <a:latin typeface="+mn-lt"/>
                  <a:ea typeface="+mn-ea"/>
                  <a:cs typeface="+mn-cs"/>
                </a:rPr>
                <a:t>企业园区行</a:t>
              </a:r>
            </a:p>
          </p:txBody>
        </p:sp>
        <p:sp>
          <p:nvSpPr>
            <p:cNvPr id="360" name="Rectangle 360"/>
            <p:cNvSpPr/>
            <p:nvPr/>
          </p:nvSpPr>
          <p:spPr>
            <a:xfrm>
              <a:off x="7277100" y="4076700"/>
              <a:ext cx="1143000" cy="190500"/>
            </a:xfrm>
            <a:prstGeom prst="roundRect">
              <a:avLst>
                <a:gd name="adj" fmla="val 20000"/>
              </a:avLst>
            </a:prstGeom>
            <a:solidFill>
              <a:srgbClr val="5D190B"/>
            </a:solidFill>
            <a:ln>
              <a:noFill/>
            </a:ln>
          </p:spPr>
        </p:sp>
        <p:sp>
          <p:nvSpPr>
            <p:cNvPr id="361" name="TextBox 361"/>
            <p:cNvSpPr txBox="1"/>
            <p:nvPr/>
          </p:nvSpPr>
          <p:spPr>
            <a:xfrm>
              <a:off x="7671524" y="41412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象限解读</a:t>
              </a:r>
            </a:p>
          </p:txBody>
        </p:sp>
        <p:sp>
          <p:nvSpPr>
            <p:cNvPr id="362" name="Ellipse 362"/>
            <p:cNvSpPr/>
            <p:nvPr/>
          </p:nvSpPr>
          <p:spPr>
            <a:xfrm>
              <a:off x="7315200" y="4400550"/>
              <a:ext cx="76200" cy="76200"/>
            </a:xfrm>
            <a:prstGeom prst="ellipse">
              <a:avLst/>
            </a:prstGeom>
            <a:solidFill>
              <a:srgbClr val="76200F"/>
            </a:solidFill>
            <a:ln>
              <a:noFill/>
            </a:ln>
          </p:spPr>
        </p:sp>
        <p:sp>
          <p:nvSpPr>
            <p:cNvPr id="363" name="TextBox 363"/>
            <p:cNvSpPr txBox="1"/>
            <p:nvPr/>
          </p:nvSpPr>
          <p:spPr>
            <a:xfrm>
              <a:off x="7443788" y="4358878"/>
              <a:ext cx="628148" cy="111919"/>
            </a:xfrm>
            <a:prstGeom prst="rect">
              <a:avLst/>
            </a:prstGeom>
            <a:noFill/>
            <a:ln>
              <a:noFill/>
            </a:ln>
          </p:spPr>
          <p:txBody>
            <a:bodyPr wrap="none" lIns="0" tIns="0" rIns="0" bIns="0" anchor="t" anchorCtr="0">
              <a:spAutoFit/>
            </a:bodyPr>
            <a:lstStyle/>
            <a:p>
              <a:pPr algn="l"/>
              <a:r>
                <a:rPr lang="zh-CN" sz="560" b="1" dirty="0">
                  <a:solidFill>
                    <a:srgbClr val="331712"/>
                  </a:solidFill>
                  <a:latin typeface="+mn-lt"/>
                  <a:ea typeface="+mn-ea"/>
                  <a:cs typeface="+mn-cs"/>
                </a:rPr>
                <a:t>高ROI · 高价值​​</a:t>
              </a:r>
            </a:p>
          </p:txBody>
        </p:sp>
        <p:sp>
          <p:nvSpPr>
            <p:cNvPr id="364" name="TextBox 364"/>
            <p:cNvSpPr txBox="1"/>
            <p:nvPr/>
          </p:nvSpPr>
          <p:spPr>
            <a:xfrm>
              <a:off x="7443788" y="4467701"/>
              <a:ext cx="289535"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重点打造</a:t>
              </a:r>
            </a:p>
          </p:txBody>
        </p:sp>
        <p:sp>
          <p:nvSpPr>
            <p:cNvPr id="365" name="Ellipse 365"/>
            <p:cNvSpPr/>
            <p:nvPr/>
          </p:nvSpPr>
          <p:spPr>
            <a:xfrm>
              <a:off x="7315200" y="4762500"/>
              <a:ext cx="76200" cy="76200"/>
            </a:xfrm>
            <a:prstGeom prst="ellipse">
              <a:avLst/>
            </a:prstGeom>
            <a:solidFill>
              <a:srgbClr val="A3422F"/>
            </a:solidFill>
            <a:ln>
              <a:noFill/>
            </a:ln>
          </p:spPr>
        </p:sp>
        <p:sp>
          <p:nvSpPr>
            <p:cNvPr id="366" name="TextBox 366"/>
            <p:cNvSpPr txBox="1"/>
            <p:nvPr/>
          </p:nvSpPr>
          <p:spPr>
            <a:xfrm>
              <a:off x="7443788" y="4720828"/>
              <a:ext cx="628148" cy="111919"/>
            </a:xfrm>
            <a:prstGeom prst="rect">
              <a:avLst/>
            </a:prstGeom>
            <a:noFill/>
            <a:ln>
              <a:noFill/>
            </a:ln>
          </p:spPr>
          <p:txBody>
            <a:bodyPr wrap="none" lIns="0" tIns="0" rIns="0" bIns="0" anchor="t" anchorCtr="0">
              <a:spAutoFit/>
            </a:bodyPr>
            <a:lstStyle/>
            <a:p>
              <a:pPr algn="l"/>
              <a:r>
                <a:rPr lang="zh-CN" sz="560" b="1" dirty="0">
                  <a:solidFill>
                    <a:srgbClr val="331712"/>
                  </a:solidFill>
                  <a:latin typeface="+mn-lt"/>
                  <a:ea typeface="+mn-ea"/>
                  <a:cs typeface="+mn-cs"/>
                </a:rPr>
                <a:t>高ROI · 低价值​​</a:t>
              </a:r>
            </a:p>
          </p:txBody>
        </p:sp>
        <p:sp>
          <p:nvSpPr>
            <p:cNvPr id="367" name="TextBox 367"/>
            <p:cNvSpPr txBox="1"/>
            <p:nvPr/>
          </p:nvSpPr>
          <p:spPr>
            <a:xfrm>
              <a:off x="7443788" y="4829651"/>
              <a:ext cx="289535"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效率优化</a:t>
              </a:r>
            </a:p>
          </p:txBody>
        </p:sp>
        <p:sp>
          <p:nvSpPr>
            <p:cNvPr id="368" name="Ellipse 368"/>
            <p:cNvSpPr/>
            <p:nvPr/>
          </p:nvSpPr>
          <p:spPr>
            <a:xfrm>
              <a:off x="7315200" y="5124450"/>
              <a:ext cx="76200" cy="76200"/>
            </a:xfrm>
            <a:prstGeom prst="ellipse">
              <a:avLst/>
            </a:prstGeom>
            <a:solidFill>
              <a:srgbClr val="C68679"/>
            </a:solidFill>
            <a:ln>
              <a:noFill/>
            </a:ln>
          </p:spPr>
        </p:sp>
        <p:sp>
          <p:nvSpPr>
            <p:cNvPr id="369" name="TextBox 369"/>
            <p:cNvSpPr txBox="1"/>
            <p:nvPr/>
          </p:nvSpPr>
          <p:spPr>
            <a:xfrm>
              <a:off x="7443788" y="5082778"/>
              <a:ext cx="628148" cy="111919"/>
            </a:xfrm>
            <a:prstGeom prst="rect">
              <a:avLst/>
            </a:prstGeom>
            <a:noFill/>
            <a:ln>
              <a:noFill/>
            </a:ln>
          </p:spPr>
          <p:txBody>
            <a:bodyPr wrap="none" lIns="0" tIns="0" rIns="0" bIns="0" anchor="t" anchorCtr="0">
              <a:spAutoFit/>
            </a:bodyPr>
            <a:lstStyle/>
            <a:p>
              <a:pPr algn="l"/>
              <a:r>
                <a:rPr lang="zh-CN" sz="560" b="1" dirty="0">
                  <a:solidFill>
                    <a:srgbClr val="331712"/>
                  </a:solidFill>
                  <a:latin typeface="+mn-lt"/>
                  <a:ea typeface="+mn-ea"/>
                  <a:cs typeface="+mn-cs"/>
                </a:rPr>
                <a:t>低ROI · 高价值​​</a:t>
              </a:r>
            </a:p>
          </p:txBody>
        </p:sp>
        <p:sp>
          <p:nvSpPr>
            <p:cNvPr id="370" name="TextBox 370"/>
            <p:cNvSpPr txBox="1"/>
            <p:nvPr/>
          </p:nvSpPr>
          <p:spPr>
            <a:xfrm>
              <a:off x="7443788" y="5191601"/>
              <a:ext cx="289535"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长期培育</a:t>
              </a:r>
            </a:p>
          </p:txBody>
        </p:sp>
        <p:sp>
          <p:nvSpPr>
            <p:cNvPr id="371" name="Ellipse 371"/>
            <p:cNvSpPr/>
            <p:nvPr/>
          </p:nvSpPr>
          <p:spPr>
            <a:xfrm>
              <a:off x="7315200" y="5486400"/>
              <a:ext cx="76200" cy="76200"/>
            </a:xfrm>
            <a:prstGeom prst="ellipse">
              <a:avLst/>
            </a:prstGeom>
            <a:solidFill>
              <a:srgbClr val="C2E0DA"/>
            </a:solidFill>
            <a:ln>
              <a:noFill/>
            </a:ln>
          </p:spPr>
        </p:sp>
        <p:sp>
          <p:nvSpPr>
            <p:cNvPr id="372" name="TextBox 372"/>
            <p:cNvSpPr txBox="1"/>
            <p:nvPr/>
          </p:nvSpPr>
          <p:spPr>
            <a:xfrm>
              <a:off x="7443788" y="5444728"/>
              <a:ext cx="628148" cy="111919"/>
            </a:xfrm>
            <a:prstGeom prst="rect">
              <a:avLst/>
            </a:prstGeom>
            <a:noFill/>
            <a:ln>
              <a:noFill/>
            </a:ln>
          </p:spPr>
          <p:txBody>
            <a:bodyPr wrap="none" lIns="0" tIns="0" rIns="0" bIns="0" anchor="t" anchorCtr="0">
              <a:spAutoFit/>
            </a:bodyPr>
            <a:lstStyle/>
            <a:p>
              <a:pPr algn="l"/>
              <a:r>
                <a:rPr lang="zh-CN" sz="560" b="1" dirty="0">
                  <a:solidFill>
                    <a:srgbClr val="331712"/>
                  </a:solidFill>
                  <a:latin typeface="+mn-lt"/>
                  <a:ea typeface="+mn-ea"/>
                  <a:cs typeface="+mn-cs"/>
                </a:rPr>
                <a:t>低ROI · 低价值​​</a:t>
              </a:r>
            </a:p>
          </p:txBody>
        </p:sp>
        <p:sp>
          <p:nvSpPr>
            <p:cNvPr id="373" name="TextBox 373"/>
            <p:cNvSpPr txBox="1"/>
            <p:nvPr/>
          </p:nvSpPr>
          <p:spPr>
            <a:xfrm>
              <a:off x="7443788" y="5553551"/>
              <a:ext cx="289535" cy="104775"/>
            </a:xfrm>
            <a:prstGeom prst="rect">
              <a:avLst/>
            </a:prstGeom>
            <a:noFill/>
            <a:ln>
              <a:noFill/>
            </a:ln>
          </p:spPr>
          <p:txBody>
            <a:bodyPr wrap="none" lIns="0" tIns="0" rIns="0" bIns="0" anchor="t" anchorCtr="0">
              <a:spAutoFit/>
            </a:bodyPr>
            <a:lstStyle/>
            <a:p>
              <a:pPr algn="l"/>
              <a:r>
                <a:rPr lang="zh-CN" sz="520" dirty="0">
                  <a:solidFill>
                    <a:srgbClr val="73615E"/>
                  </a:solidFill>
                  <a:latin typeface="+mn-lt"/>
                  <a:ea typeface="+mn-ea"/>
                  <a:cs typeface="+mn-cs"/>
                </a:rPr>
                <a:t>谨慎投入</a:t>
              </a:r>
            </a:p>
          </p:txBody>
        </p:sp>
      </p:grpSp>
      <p:grpSp>
        <p:nvGrpSpPr>
          <p:cNvPr id="406" name="formulas"/>
          <p:cNvGrpSpPr/>
          <p:nvPr/>
        </p:nvGrpSpPr>
        <p:grpSpPr>
          <a:xfrm>
            <a:off x="8496300" y="3733800"/>
            <a:ext cx="3333750" cy="2800350"/>
            <a:chOff x="8496300" y="3733800"/>
            <a:chExt cx="3333750" cy="2800350"/>
          </a:xfrm>
        </p:grpSpPr>
        <p:sp>
          <p:nvSpPr>
            <p:cNvPr id="375" name="Rectangle 375"/>
            <p:cNvSpPr/>
            <p:nvPr/>
          </p:nvSpPr>
          <p:spPr>
            <a:xfrm>
              <a:off x="8496300" y="3733800"/>
              <a:ext cx="1524000" cy="190500"/>
            </a:xfrm>
            <a:prstGeom prst="roundRect">
              <a:avLst>
                <a:gd name="adj" fmla="val 25000"/>
              </a:avLst>
            </a:prstGeom>
            <a:solidFill>
              <a:srgbClr val="76200F"/>
            </a:solidFill>
            <a:ln>
              <a:noFill/>
            </a:ln>
          </p:spPr>
        </p:sp>
        <p:sp>
          <p:nvSpPr>
            <p:cNvPr id="376" name="TextBox 376"/>
            <p:cNvSpPr txBox="1"/>
            <p:nvPr/>
          </p:nvSpPr>
          <p:spPr>
            <a:xfrm>
              <a:off x="8586788" y="3778091"/>
              <a:ext cx="892632"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核心指标计算公式</a:t>
              </a:r>
            </a:p>
          </p:txBody>
        </p:sp>
        <p:sp>
          <p:nvSpPr>
            <p:cNvPr id="377" name="Rectangle 377"/>
            <p:cNvSpPr/>
            <p:nvPr/>
          </p:nvSpPr>
          <p:spPr>
            <a:xfrm>
              <a:off x="8496300" y="4000500"/>
              <a:ext cx="3333750" cy="590550"/>
            </a:xfrm>
            <a:prstGeom prst="roundRect">
              <a:avLst>
                <a:gd name="adj" fmla="val 9677"/>
              </a:avLst>
            </a:prstGeom>
            <a:solidFill>
              <a:srgbClr val="F0FAF8"/>
            </a:solidFill>
            <a:ln w="9525">
              <a:solidFill>
                <a:srgbClr val="C2E0DA"/>
              </a:solidFill>
            </a:ln>
          </p:spPr>
        </p:sp>
        <p:grpSp>
          <p:nvGrpSpPr>
            <p:cNvPr id="380" name="Group 380"/>
            <p:cNvGrpSpPr/>
            <p:nvPr/>
          </p:nvGrpSpPr>
          <p:grpSpPr>
            <a:xfrm>
              <a:off x="8639175" y="4157662"/>
              <a:ext cx="114300" cy="102394"/>
              <a:chOff x="8639175" y="4157662"/>
              <a:chExt cx="114300" cy="102394"/>
            </a:xfrm>
          </p:grpSpPr>
          <p:sp>
            <p:nvSpPr>
              <p:cNvPr id="378" name="Freeform 378"/>
              <p:cNvSpPr/>
              <p:nvPr/>
            </p:nvSpPr>
            <p:spPr>
              <a:xfrm>
                <a:off x="8639175" y="4250531"/>
                <a:ext cx="114300" cy="9525"/>
              </a:xfrm>
              <a:custGeom>
                <a:avLst/>
                <a:gdLst/>
                <a:ahLst/>
                <a:cxnLst/>
                <a:rect l="l" t="t" r="r" b="b"/>
                <a:pathLst>
                  <a:path w="114300" h="9525">
                    <a:moveTo>
                      <a:pt x="0" y="0"/>
                    </a:moveTo>
                    <a:lnTo>
                      <a:pt x="114300" y="0"/>
                    </a:lnTo>
                  </a:path>
                </a:pathLst>
              </a:custGeom>
              <a:noFill/>
              <a:ln w="14288">
                <a:solidFill>
                  <a:srgbClr val="76200F"/>
                </a:solidFill>
              </a:ln>
            </p:spPr>
          </p:sp>
          <p:sp>
            <p:nvSpPr>
              <p:cNvPr id="379" name="Freeform 379"/>
              <p:cNvSpPr/>
              <p:nvPr/>
            </p:nvSpPr>
            <p:spPr>
              <a:xfrm>
                <a:off x="8639175" y="4157662"/>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76200F"/>
                </a:solidFill>
              </a:ln>
            </p:spPr>
          </p:sp>
        </p:grpSp>
        <p:sp>
          <p:nvSpPr>
            <p:cNvPr id="381" name="TextBox 381"/>
            <p:cNvSpPr txBox="1"/>
            <p:nvPr/>
          </p:nvSpPr>
          <p:spPr>
            <a:xfrm>
              <a:off x="8853488" y="4110038"/>
              <a:ext cx="4522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活动ROI​</a:t>
              </a:r>
            </a:p>
          </p:txBody>
        </p:sp>
        <p:sp>
          <p:nvSpPr>
            <p:cNvPr id="382" name="TextBox 382"/>
            <p:cNvSpPr txBox="1"/>
            <p:nvPr/>
          </p:nvSpPr>
          <p:spPr>
            <a:xfrm>
              <a:off x="8853488" y="4293632"/>
              <a:ext cx="1925538"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活动ROI =（活动增量收益 - 总投入）/ 总投入​​​</a:t>
              </a:r>
            </a:p>
          </p:txBody>
        </p:sp>
        <p:sp>
          <p:nvSpPr>
            <p:cNvPr id="383" name="Rectangle 383"/>
            <p:cNvSpPr/>
            <p:nvPr/>
          </p:nvSpPr>
          <p:spPr>
            <a:xfrm>
              <a:off x="8496300" y="4648200"/>
              <a:ext cx="3333750" cy="590550"/>
            </a:xfrm>
            <a:prstGeom prst="roundRect">
              <a:avLst>
                <a:gd name="adj" fmla="val 9677"/>
              </a:avLst>
            </a:prstGeom>
            <a:solidFill>
              <a:srgbClr val="F0FAF8"/>
            </a:solidFill>
            <a:ln w="9525">
              <a:solidFill>
                <a:srgbClr val="C2E0DA"/>
              </a:solidFill>
            </a:ln>
          </p:spPr>
        </p:sp>
        <p:grpSp>
          <p:nvGrpSpPr>
            <p:cNvPr id="387" name="Group 387"/>
            <p:cNvGrpSpPr/>
            <p:nvPr/>
          </p:nvGrpSpPr>
          <p:grpSpPr>
            <a:xfrm>
              <a:off x="8653462" y="4783931"/>
              <a:ext cx="107156" cy="128588"/>
              <a:chOff x="8653462" y="4783931"/>
              <a:chExt cx="107156" cy="128588"/>
            </a:xfrm>
          </p:grpSpPr>
          <p:sp>
            <p:nvSpPr>
              <p:cNvPr id="384" name="Freeform 384"/>
              <p:cNvSpPr/>
              <p:nvPr/>
            </p:nvSpPr>
            <p:spPr>
              <a:xfrm>
                <a:off x="8667750" y="47839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6200F"/>
                </a:solidFill>
              </a:ln>
            </p:spPr>
          </p:sp>
          <p:sp>
            <p:nvSpPr>
              <p:cNvPr id="385" name="Freeform 385"/>
              <p:cNvSpPr/>
              <p:nvPr/>
            </p:nvSpPr>
            <p:spPr>
              <a:xfrm>
                <a:off x="8653462" y="486965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76200F"/>
                </a:solidFill>
              </a:ln>
            </p:spPr>
          </p:sp>
          <p:sp>
            <p:nvSpPr>
              <p:cNvPr id="386" name="Freeform 386"/>
              <p:cNvSpPr/>
              <p:nvPr/>
            </p:nvSpPr>
            <p:spPr>
              <a:xfrm>
                <a:off x="8717756" y="4883944"/>
                <a:ext cx="42862" cy="28575"/>
              </a:xfrm>
              <a:custGeom>
                <a:avLst/>
                <a:gdLst/>
                <a:ahLst/>
                <a:cxnLst/>
                <a:rect l="l" t="t" r="r" b="b"/>
                <a:pathLst>
                  <a:path w="42862" h="28575">
                    <a:moveTo>
                      <a:pt x="0" y="14288"/>
                    </a:moveTo>
                    <a:lnTo>
                      <a:pt x="14288" y="28575"/>
                    </a:lnTo>
                    <a:lnTo>
                      <a:pt x="42862" y="0"/>
                    </a:lnTo>
                  </a:path>
                </a:pathLst>
              </a:custGeom>
              <a:noFill/>
              <a:ln w="14288">
                <a:solidFill>
                  <a:srgbClr val="76200F"/>
                </a:solidFill>
              </a:ln>
            </p:spPr>
          </p:sp>
        </p:grpSp>
        <p:sp>
          <p:nvSpPr>
            <p:cNvPr id="388" name="TextBox 388"/>
            <p:cNvSpPr txBox="1"/>
            <p:nvPr/>
          </p:nvSpPr>
          <p:spPr>
            <a:xfrm>
              <a:off x="8853488" y="4757738"/>
              <a:ext cx="659816"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获客成本CAC​</a:t>
              </a:r>
            </a:p>
          </p:txBody>
        </p:sp>
        <p:sp>
          <p:nvSpPr>
            <p:cNvPr id="389" name="TextBox 389"/>
            <p:cNvSpPr txBox="1"/>
            <p:nvPr/>
          </p:nvSpPr>
          <p:spPr>
            <a:xfrm>
              <a:off x="8853488" y="4941332"/>
              <a:ext cx="1281069" cy="126206"/>
            </a:xfrm>
            <a:prstGeom prst="rect">
              <a:avLst/>
            </a:prstGeom>
            <a:noFill/>
            <a:ln>
              <a:noFill/>
            </a:ln>
          </p:spPr>
          <p:txBody>
            <a:bodyPr wrap="none" lIns="0" tIns="0" rIns="0" bIns="0" anchor="t" anchorCtr="0">
              <a:spAutoFit/>
            </a:bodyPr>
            <a:lstStyle/>
            <a:p>
              <a:pPr algn="l"/>
              <a:r>
                <a:rPr lang="zh-CN" sz="640" dirty="0">
                  <a:solidFill>
                    <a:srgbClr val="514340"/>
                  </a:solidFill>
                  <a:latin typeface="+mn-lt"/>
                  <a:ea typeface="+mn-ea"/>
                  <a:cs typeface="+mn-cs"/>
                </a:rPr>
                <a:t>CAC = 总投入 / 新增开户户数​​​</a:t>
              </a:r>
            </a:p>
          </p:txBody>
        </p:sp>
        <p:sp>
          <p:nvSpPr>
            <p:cNvPr id="390" name="Rectangle 390"/>
            <p:cNvSpPr/>
            <p:nvPr/>
          </p:nvSpPr>
          <p:spPr>
            <a:xfrm>
              <a:off x="8496300" y="5295900"/>
              <a:ext cx="3333750" cy="590550"/>
            </a:xfrm>
            <a:prstGeom prst="roundRect">
              <a:avLst>
                <a:gd name="adj" fmla="val 9677"/>
              </a:avLst>
            </a:prstGeom>
            <a:solidFill>
              <a:srgbClr val="F0FAF8"/>
            </a:solidFill>
            <a:ln w="9525">
              <a:solidFill>
                <a:srgbClr val="C2E0DA"/>
              </a:solidFill>
            </a:ln>
          </p:spPr>
        </p:sp>
        <p:grpSp>
          <p:nvGrpSpPr>
            <p:cNvPr id="394" name="Group 394"/>
            <p:cNvGrpSpPr/>
            <p:nvPr/>
          </p:nvGrpSpPr>
          <p:grpSpPr>
            <a:xfrm>
              <a:off x="8639175" y="5431631"/>
              <a:ext cx="114300" cy="128588"/>
              <a:chOff x="8639175" y="5431631"/>
              <a:chExt cx="114300" cy="128588"/>
            </a:xfrm>
          </p:grpSpPr>
          <p:sp>
            <p:nvSpPr>
              <p:cNvPr id="391" name="Freeform 391"/>
              <p:cNvSpPr/>
              <p:nvPr/>
            </p:nvSpPr>
            <p:spPr>
              <a:xfrm>
                <a:off x="8639175" y="543163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6200F"/>
                </a:solidFill>
              </a:ln>
            </p:spPr>
          </p:sp>
          <p:sp>
            <p:nvSpPr>
              <p:cNvPr id="392" name="Freeform 392"/>
              <p:cNvSpPr/>
              <p:nvPr/>
            </p:nvSpPr>
            <p:spPr>
              <a:xfrm>
                <a:off x="8639175" y="545306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sp>
            <p:nvSpPr>
              <p:cNvPr id="393" name="Freeform 393"/>
              <p:cNvSpPr/>
              <p:nvPr/>
            </p:nvSpPr>
            <p:spPr>
              <a:xfrm>
                <a:off x="8639175" y="549592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grpSp>
        <p:sp>
          <p:nvSpPr>
            <p:cNvPr id="395" name="TextBox 395"/>
            <p:cNvSpPr txBox="1"/>
            <p:nvPr/>
          </p:nvSpPr>
          <p:spPr>
            <a:xfrm>
              <a:off x="8853488" y="5405438"/>
              <a:ext cx="457886"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增量LTV​</a:t>
              </a:r>
            </a:p>
          </p:txBody>
        </p:sp>
        <p:sp>
          <p:nvSpPr>
            <p:cNvPr id="396" name="TextBox 396"/>
            <p:cNvSpPr txBox="1"/>
            <p:nvPr/>
          </p:nvSpPr>
          <p:spPr>
            <a:xfrm>
              <a:off x="8853488" y="5589032"/>
              <a:ext cx="1765173"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14340"/>
                  </a:solidFill>
                  <a:latin typeface="+mn-lt"/>
                  <a:ea typeface="+mn-ea"/>
                  <a:cs typeface="+mn-cs"/>
                </a:rPr>
                <a:t>增量LTV = 客户年贡献收入 × 生命周期（年）​​​</a:t>
              </a:r>
              <a:br/>
              <a:r>
                <a:rPr lang="zh-CN" sz="640" dirty="0">
                  <a:solidFill>
                    <a:srgbClr val="514340"/>
                  </a:solidFill>
                  <a:latin typeface="+mn-lt"/>
                  <a:ea typeface="+mn-ea"/>
                  <a:cs typeface="+mn-cs"/>
                </a:rPr>
                <a:t>× 活动带来的客户占比​</a:t>
              </a:r>
            </a:p>
          </p:txBody>
        </p:sp>
        <p:sp>
          <p:nvSpPr>
            <p:cNvPr id="397" name="Rectangle 397"/>
            <p:cNvSpPr/>
            <p:nvPr/>
          </p:nvSpPr>
          <p:spPr>
            <a:xfrm>
              <a:off x="8496300" y="5943600"/>
              <a:ext cx="3333750" cy="590550"/>
            </a:xfrm>
            <a:prstGeom prst="roundRect">
              <a:avLst>
                <a:gd name="adj" fmla="val 9677"/>
              </a:avLst>
            </a:prstGeom>
            <a:solidFill>
              <a:srgbClr val="F0FAF8"/>
            </a:solidFill>
            <a:ln w="9525">
              <a:solidFill>
                <a:srgbClr val="C2E0DA"/>
              </a:solidFill>
            </a:ln>
          </p:spPr>
        </p:sp>
        <p:grpSp>
          <p:nvGrpSpPr>
            <p:cNvPr id="403" name="Group 403"/>
            <p:cNvGrpSpPr/>
            <p:nvPr/>
          </p:nvGrpSpPr>
          <p:grpSpPr>
            <a:xfrm>
              <a:off x="8632031" y="6079331"/>
              <a:ext cx="128587" cy="128587"/>
              <a:chOff x="8632031" y="6079331"/>
              <a:chExt cx="128587" cy="128587"/>
            </a:xfrm>
          </p:grpSpPr>
          <p:sp>
            <p:nvSpPr>
              <p:cNvPr id="398" name="Freeform 398"/>
              <p:cNvSpPr/>
              <p:nvPr/>
            </p:nvSpPr>
            <p:spPr>
              <a:xfrm>
                <a:off x="8632031" y="616505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6200F"/>
                </a:solidFill>
              </a:ln>
            </p:spPr>
          </p:sp>
          <p:sp>
            <p:nvSpPr>
              <p:cNvPr id="399" name="Freeform 399"/>
              <p:cNvSpPr/>
              <p:nvPr/>
            </p:nvSpPr>
            <p:spPr>
              <a:xfrm>
                <a:off x="8717756" y="616505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6200F"/>
                </a:solidFill>
              </a:ln>
            </p:spPr>
          </p:sp>
          <p:sp>
            <p:nvSpPr>
              <p:cNvPr id="400" name="Freeform 400"/>
              <p:cNvSpPr/>
              <p:nvPr/>
            </p:nvSpPr>
            <p:spPr>
              <a:xfrm>
                <a:off x="8674894" y="607933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76200F"/>
                </a:solidFill>
              </a:ln>
            </p:spPr>
          </p:sp>
          <p:sp>
            <p:nvSpPr>
              <p:cNvPr id="401" name="Freeform 401"/>
              <p:cNvSpPr/>
              <p:nvPr/>
            </p:nvSpPr>
            <p:spPr>
              <a:xfrm>
                <a:off x="8653462" y="6143625"/>
                <a:ext cx="85725" cy="21431"/>
              </a:xfrm>
              <a:custGeom>
                <a:avLst/>
                <a:gdLst/>
                <a:ahLst/>
                <a:cxnLst/>
                <a:rect l="l" t="t" r="r" b="b"/>
                <a:pathLst>
                  <a:path w="85725" h="21431">
                    <a:moveTo>
                      <a:pt x="0" y="21431"/>
                    </a:moveTo>
                    <a:lnTo>
                      <a:pt x="0" y="14288"/>
                    </a:lnTo>
                    <a:cubicBezTo>
                      <a:pt x="0" y="6397"/>
                      <a:pt x="6397" y="0"/>
                      <a:pt x="14288" y="0"/>
                    </a:cubicBezTo>
                    <a:lnTo>
                      <a:pt x="71438" y="0"/>
                    </a:lnTo>
                    <a:cubicBezTo>
                      <a:pt x="79328" y="0"/>
                      <a:pt x="85725" y="6397"/>
                      <a:pt x="85725" y="14288"/>
                    </a:cubicBezTo>
                    <a:lnTo>
                      <a:pt x="85725" y="21431"/>
                    </a:lnTo>
                  </a:path>
                </a:pathLst>
              </a:custGeom>
              <a:noFill/>
              <a:ln w="14288">
                <a:solidFill>
                  <a:srgbClr val="76200F"/>
                </a:solidFill>
              </a:ln>
            </p:spPr>
          </p:sp>
          <p:sp>
            <p:nvSpPr>
              <p:cNvPr id="402" name="Freeform 402"/>
              <p:cNvSpPr/>
              <p:nvPr/>
            </p:nvSpPr>
            <p:spPr>
              <a:xfrm>
                <a:off x="8696325" y="6122194"/>
                <a:ext cx="9525" cy="21431"/>
              </a:xfrm>
              <a:custGeom>
                <a:avLst/>
                <a:gdLst/>
                <a:ahLst/>
                <a:cxnLst/>
                <a:rect l="l" t="t" r="r" b="b"/>
                <a:pathLst>
                  <a:path w="9525" h="21431">
                    <a:moveTo>
                      <a:pt x="0" y="0"/>
                    </a:moveTo>
                    <a:lnTo>
                      <a:pt x="0" y="21431"/>
                    </a:lnTo>
                  </a:path>
                </a:pathLst>
              </a:custGeom>
              <a:noFill/>
              <a:ln w="14288">
                <a:solidFill>
                  <a:srgbClr val="76200F"/>
                </a:solidFill>
              </a:ln>
            </p:spPr>
          </p:sp>
        </p:grpSp>
        <p:sp>
          <p:nvSpPr>
            <p:cNvPr id="404" name="TextBox 404"/>
            <p:cNvSpPr txBox="1"/>
            <p:nvPr/>
          </p:nvSpPr>
          <p:spPr>
            <a:xfrm>
              <a:off x="8853488" y="6053138"/>
              <a:ext cx="51435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生态杠杆率</a:t>
              </a:r>
            </a:p>
          </p:txBody>
        </p:sp>
        <p:sp>
          <p:nvSpPr>
            <p:cNvPr id="405" name="TextBox 405"/>
            <p:cNvSpPr txBox="1"/>
            <p:nvPr/>
          </p:nvSpPr>
          <p:spPr>
            <a:xfrm>
              <a:off x="8853488" y="6236732"/>
              <a:ext cx="1448181"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14340"/>
                  </a:solidFill>
                  <a:latin typeface="+mn-lt"/>
                  <a:ea typeface="+mn-ea"/>
                  <a:cs typeface="+mn-cs"/>
                </a:rPr>
                <a:t>生态杠杆率 = 生态场景带动的新增收入​</a:t>
              </a:r>
              <a:br/>
              <a:r>
                <a:rPr lang="zh-CN" sz="640" dirty="0">
                  <a:solidFill>
                    <a:srgbClr val="514340"/>
                  </a:solidFill>
                  <a:latin typeface="+mn-lt"/>
                  <a:ea typeface="+mn-ea"/>
                  <a:cs typeface="+mn-cs"/>
                </a:rPr>
                <a:t>/ 活动直接收入​</a:t>
              </a:r>
            </a:p>
          </p:txBody>
        </p:sp>
      </p:gr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ity-silhouette"/>
          <p:cNvSpPr/>
          <p:nvPr/>
        </p:nvSpPr>
        <p:spPr>
          <a:xfrm>
            <a:off x="0" y="6191250"/>
            <a:ext cx="12192000" cy="666750"/>
          </a:xfrm>
          <a:custGeom>
            <a:avLst/>
            <a:gdLst/>
            <a:ahLst/>
            <a:cxnLst/>
            <a:rect l="l" t="t" r="r" b="b"/>
            <a:pathLst>
              <a:path w="12192000" h="666750">
                <a:moveTo>
                  <a:pt x="0" y="666750"/>
                </a:moveTo>
                <a:lnTo>
                  <a:pt x="0" y="381000"/>
                </a:lnTo>
                <a:lnTo>
                  <a:pt x="381000" y="381000"/>
                </a:lnTo>
                <a:lnTo>
                  <a:pt x="381000" y="209550"/>
                </a:lnTo>
                <a:lnTo>
                  <a:pt x="666750" y="209550"/>
                </a:lnTo>
                <a:lnTo>
                  <a:pt x="666750" y="47625"/>
                </a:lnTo>
                <a:lnTo>
                  <a:pt x="914400" y="47625"/>
                </a:lnTo>
                <a:lnTo>
                  <a:pt x="914400" y="266700"/>
                </a:lnTo>
                <a:lnTo>
                  <a:pt x="1238250" y="266700"/>
                </a:lnTo>
                <a:lnTo>
                  <a:pt x="1238250" y="114300"/>
                </a:lnTo>
                <a:lnTo>
                  <a:pt x="1524000" y="114300"/>
                </a:lnTo>
                <a:lnTo>
                  <a:pt x="1524000" y="381000"/>
                </a:lnTo>
                <a:lnTo>
                  <a:pt x="1905000" y="381000"/>
                </a:lnTo>
                <a:lnTo>
                  <a:pt x="1905000" y="247650"/>
                </a:lnTo>
                <a:lnTo>
                  <a:pt x="2247900" y="247650"/>
                </a:lnTo>
                <a:lnTo>
                  <a:pt x="2247900" y="476250"/>
                </a:lnTo>
                <a:lnTo>
                  <a:pt x="2667000" y="476250"/>
                </a:lnTo>
                <a:lnTo>
                  <a:pt x="2667000" y="666750"/>
                </a:lnTo>
                <a:close/>
                <a:moveTo>
                  <a:pt x="9525000" y="666750"/>
                </a:moveTo>
                <a:lnTo>
                  <a:pt x="9525000" y="438150"/>
                </a:lnTo>
                <a:lnTo>
                  <a:pt x="9906000" y="438150"/>
                </a:lnTo>
                <a:lnTo>
                  <a:pt x="9906000" y="171450"/>
                </a:lnTo>
                <a:lnTo>
                  <a:pt x="10191750" y="171450"/>
                </a:lnTo>
                <a:lnTo>
                  <a:pt x="10191750" y="0"/>
                </a:lnTo>
                <a:lnTo>
                  <a:pt x="10477500" y="0"/>
                </a:lnTo>
                <a:lnTo>
                  <a:pt x="10477500" y="247650"/>
                </a:lnTo>
                <a:lnTo>
                  <a:pt x="10820400" y="247650"/>
                </a:lnTo>
                <a:lnTo>
                  <a:pt x="10820400" y="95250"/>
                </a:lnTo>
                <a:lnTo>
                  <a:pt x="11144250" y="95250"/>
                </a:lnTo>
                <a:lnTo>
                  <a:pt x="11144250" y="381000"/>
                </a:lnTo>
                <a:lnTo>
                  <a:pt x="11525250" y="381000"/>
                </a:lnTo>
                <a:lnTo>
                  <a:pt x="11525250" y="209550"/>
                </a:lnTo>
                <a:lnTo>
                  <a:pt x="11906250" y="209550"/>
                </a:lnTo>
                <a:lnTo>
                  <a:pt x="11906250" y="476250"/>
                </a:lnTo>
                <a:lnTo>
                  <a:pt x="12192000" y="476250"/>
                </a:lnTo>
                <a:lnTo>
                  <a:pt x="12192000" y="666750"/>
                </a:lnTo>
                <a:close/>
              </a:path>
            </a:pathLst>
          </a:custGeom>
          <a:solidFill>
            <a:srgbClr val="D2EAE4"/>
          </a:solidFill>
          <a:ln>
            <a:noFill/>
          </a:ln>
        </p:spPr>
      </p:sp>
      <p:grpSp>
        <p:nvGrpSpPr>
          <p:cNvPr id="8" name="header"/>
          <p:cNvGrpSpPr/>
          <p:nvPr/>
        </p:nvGrpSpPr>
        <p:grpSpPr>
          <a:xfrm>
            <a:off x="0" y="0"/>
            <a:ext cx="11930634" cy="551879"/>
            <a:chOff x="0" y="0"/>
            <a:chExt cx="11930634"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6200F"/>
            </a:solidFill>
            <a:ln>
              <a:noFill/>
            </a:ln>
          </p:spPr>
        </p:sp>
        <p:sp>
          <p:nvSpPr>
            <p:cNvPr id="4" name="TextBox 4"/>
            <p:cNvSpPr txBox="1"/>
            <p:nvPr/>
          </p:nvSpPr>
          <p:spPr>
            <a:xfrm>
              <a:off x="64668" y="133826"/>
              <a:ext cx="51836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18​</a:t>
              </a:r>
            </a:p>
          </p:txBody>
        </p:sp>
        <p:sp>
          <p:nvSpPr>
            <p:cNvPr id="5" name="TextBox 5"/>
            <p:cNvSpPr txBox="1"/>
            <p:nvPr/>
          </p:nvSpPr>
          <p:spPr>
            <a:xfrm>
              <a:off x="904494" y="170498"/>
              <a:ext cx="5007483" cy="381381"/>
            </a:xfrm>
            <a:prstGeom prst="rect">
              <a:avLst/>
            </a:prstGeom>
            <a:noFill/>
            <a:ln>
              <a:noFill/>
            </a:ln>
          </p:spPr>
          <p:txBody>
            <a:bodyPr wrap="none" lIns="0" tIns="0" rIns="0" bIns="0" anchor="t" anchorCtr="0">
              <a:spAutoFit/>
            </a:bodyPr>
            <a:lstStyle/>
            <a:p>
              <a:pPr algn="l"/>
              <a:r>
                <a:rPr lang="zh-CN" sz="1950" b="1" dirty="0">
                  <a:solidFill>
                    <a:srgbClr val="38231F"/>
                  </a:solidFill>
                  <a:latin typeface="+mn-lt"/>
                  <a:ea typeface="+mn-ea"/>
                  <a:cs typeface="+mn-cs"/>
                </a:rPr>
                <a:t>落地蓝图</a:t>
              </a:r>
              <a:r>
                <a:rPr lang="zh-CN" sz="1950" b="1" dirty="0">
                  <a:solidFill>
                    <a:srgbClr val="76200F"/>
                  </a:solidFill>
                  <a:latin typeface="+mn-lt"/>
                  <a:ea typeface="+mn-ea"/>
                  <a:cs typeface="+mn-cs"/>
                </a:rPr>
                <a:t>｜</a:t>
              </a:r>
              <a:r>
                <a:rPr lang="zh-CN" sz="1950" b="1" dirty="0">
                  <a:solidFill>
                    <a:srgbClr val="38231F"/>
                  </a:solidFill>
                  <a:latin typeface="+mn-lt"/>
                  <a:ea typeface="+mn-ea"/>
                  <a:cs typeface="+mn-cs"/>
                </a:rPr>
                <a:t>构建可复制的生态营销活动工厂</a:t>
              </a:r>
            </a:p>
          </p:txBody>
        </p:sp>
        <p:sp>
          <p:nvSpPr>
            <p:cNvPr id="6" name="Line 6"/>
            <p:cNvSpPr/>
            <p:nvPr/>
          </p:nvSpPr>
          <p:spPr>
            <a:xfrm>
              <a:off x="914400" y="533400"/>
              <a:ext cx="10668000" cy="9525"/>
            </a:xfrm>
            <a:custGeom>
              <a:avLst/>
              <a:gdLst/>
              <a:ahLst/>
              <a:cxnLst/>
              <a:rect l="l" t="t" r="r" b="b"/>
              <a:pathLst>
                <a:path w="10668000" h="9525">
                  <a:moveTo>
                    <a:pt x="0" y="0"/>
                  </a:moveTo>
                  <a:lnTo>
                    <a:pt x="10668000" y="0"/>
                  </a:lnTo>
                </a:path>
              </a:pathLst>
            </a:custGeom>
            <a:noFill/>
            <a:ln w="14288">
              <a:solidFill>
                <a:srgbClr val="76200F"/>
              </a:solidFill>
            </a:ln>
          </p:spPr>
        </p:sp>
        <p:sp>
          <p:nvSpPr>
            <p:cNvPr id="7" name="TextBox 7"/>
            <p:cNvSpPr txBox="1"/>
            <p:nvPr/>
          </p:nvSpPr>
          <p:spPr>
            <a:xfrm>
              <a:off x="11675075" y="229552"/>
              <a:ext cx="255559" cy="205359"/>
            </a:xfrm>
            <a:prstGeom prst="rect">
              <a:avLst/>
            </a:prstGeom>
            <a:noFill/>
            <a:ln>
              <a:noFill/>
            </a:ln>
          </p:spPr>
          <p:txBody>
            <a:bodyPr wrap="none" lIns="0" tIns="0" rIns="0" bIns="0" anchor="t" anchorCtr="0">
              <a:spAutoFit/>
            </a:bodyPr>
            <a:lstStyle/>
            <a:p>
              <a:pPr algn="r"/>
              <a:r>
                <a:rPr lang="zh-CN" sz="1050" b="1" dirty="0">
                  <a:solidFill>
                    <a:srgbClr val="76200F"/>
                  </a:solidFill>
                  <a:latin typeface="+mn-lt"/>
                  <a:ea typeface="+mn-ea"/>
                  <a:cs typeface="+mn-cs"/>
                </a:rPr>
                <a:t>18​</a:t>
              </a:r>
            </a:p>
          </p:txBody>
        </p:sp>
      </p:grpSp>
      <p:grpSp>
        <p:nvGrpSpPr>
          <p:cNvPr id="95" name="asset-library"/>
          <p:cNvGrpSpPr/>
          <p:nvPr/>
        </p:nvGrpSpPr>
        <p:grpSpPr>
          <a:xfrm>
            <a:off x="338138" y="717947"/>
            <a:ext cx="5338762" cy="3492103"/>
            <a:chOff x="338138" y="717947"/>
            <a:chExt cx="5338762" cy="3492103"/>
          </a:xfrm>
        </p:grpSpPr>
        <p:sp>
          <p:nvSpPr>
            <p:cNvPr id="9" name="TextBox 9"/>
            <p:cNvSpPr txBox="1"/>
            <p:nvPr/>
          </p:nvSpPr>
          <p:spPr>
            <a:xfrm>
              <a:off x="338138" y="717947"/>
              <a:ext cx="2287295"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六大可复用资产库，支撑活动高效规模化</a:t>
              </a:r>
            </a:p>
          </p:txBody>
        </p:sp>
        <p:sp>
          <p:nvSpPr>
            <p:cNvPr id="10" name="Ellipse 10"/>
            <p:cNvSpPr/>
            <p:nvPr/>
          </p:nvSpPr>
          <p:spPr>
            <a:xfrm>
              <a:off x="2419350" y="1981200"/>
              <a:ext cx="1181100" cy="1181100"/>
            </a:xfrm>
            <a:prstGeom prst="ellipse">
              <a:avLst/>
            </a:prstGeom>
            <a:gradFill>
              <a:gsLst>
                <a:gs pos="0">
                  <a:srgbClr val="852512"/>
                </a:gs>
                <a:gs pos="100000">
                  <a:srgbClr val="5D190B"/>
                </a:gs>
              </a:gsLst>
              <a:lin ang="5400000" scaled="1"/>
            </a:gradFill>
            <a:ln>
              <a:noFill/>
            </a:ln>
          </p:spPr>
        </p:sp>
        <p:grpSp>
          <p:nvGrpSpPr>
            <p:cNvPr id="19" name="Group 19"/>
            <p:cNvGrpSpPr/>
            <p:nvPr/>
          </p:nvGrpSpPr>
          <p:grpSpPr>
            <a:xfrm>
              <a:off x="2924175" y="2238375"/>
              <a:ext cx="171450" cy="180975"/>
              <a:chOff x="2924175" y="2238375"/>
              <a:chExt cx="171450" cy="180975"/>
            </a:xfrm>
          </p:grpSpPr>
          <p:sp>
            <p:nvSpPr>
              <p:cNvPr id="11" name="Freeform 11"/>
              <p:cNvSpPr/>
              <p:nvPr/>
            </p:nvSpPr>
            <p:spPr>
              <a:xfrm>
                <a:off x="2924175" y="240982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2" name="Freeform 12"/>
              <p:cNvSpPr/>
              <p:nvPr/>
            </p:nvSpPr>
            <p:spPr>
              <a:xfrm>
                <a:off x="2924175" y="2305050"/>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3" name="Freeform 13"/>
              <p:cNvSpPr/>
              <p:nvPr/>
            </p:nvSpPr>
            <p:spPr>
              <a:xfrm>
                <a:off x="2943225" y="2238375"/>
                <a:ext cx="133350" cy="28575"/>
              </a:xfrm>
              <a:custGeom>
                <a:avLst/>
                <a:gdLst/>
                <a:ahLst/>
                <a:cxnLst/>
                <a:rect l="l" t="t" r="r" b="b"/>
                <a:pathLst>
                  <a:path w="133350" h="28575">
                    <a:moveTo>
                      <a:pt x="0" y="28575"/>
                    </a:moveTo>
                    <a:lnTo>
                      <a:pt x="66675" y="0"/>
                    </a:lnTo>
                    <a:lnTo>
                      <a:pt x="133350" y="28575"/>
                    </a:lnTo>
                  </a:path>
                </a:pathLst>
              </a:custGeom>
              <a:noFill/>
              <a:ln w="19050">
                <a:solidFill>
                  <a:srgbClr val="FFFFFF"/>
                </a:solidFill>
              </a:ln>
            </p:spPr>
          </p:sp>
          <p:sp>
            <p:nvSpPr>
              <p:cNvPr id="14" name="Freeform 14"/>
              <p:cNvSpPr/>
              <p:nvPr/>
            </p:nvSpPr>
            <p:spPr>
              <a:xfrm>
                <a:off x="2933700" y="230505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5" name="Freeform 15"/>
              <p:cNvSpPr/>
              <p:nvPr/>
            </p:nvSpPr>
            <p:spPr>
              <a:xfrm>
                <a:off x="3086100" y="230505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6" name="Freeform 16"/>
              <p:cNvSpPr/>
              <p:nvPr/>
            </p:nvSpPr>
            <p:spPr>
              <a:xfrm>
                <a:off x="2971800" y="234315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7" name="Freeform 17"/>
              <p:cNvSpPr/>
              <p:nvPr/>
            </p:nvSpPr>
            <p:spPr>
              <a:xfrm>
                <a:off x="3009900" y="234315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8" name="Freeform 18"/>
              <p:cNvSpPr/>
              <p:nvPr/>
            </p:nvSpPr>
            <p:spPr>
              <a:xfrm>
                <a:off x="3048000" y="2343150"/>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20" name="TextBox 20"/>
            <p:cNvSpPr txBox="1"/>
            <p:nvPr/>
          </p:nvSpPr>
          <p:spPr>
            <a:xfrm>
              <a:off x="2641663" y="253174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营销活动中台</a:t>
              </a:r>
            </a:p>
          </p:txBody>
        </p:sp>
        <p:sp>
          <p:nvSpPr>
            <p:cNvPr id="21" name="TextBox 21"/>
            <p:cNvSpPr txBox="1"/>
            <p:nvPr/>
          </p:nvSpPr>
          <p:spPr>
            <a:xfrm>
              <a:off x="2466119" y="2715101"/>
              <a:ext cx="1087562" cy="104775"/>
            </a:xfrm>
            <a:prstGeom prst="rect">
              <a:avLst/>
            </a:prstGeom>
            <a:noFill/>
            <a:ln>
              <a:noFill/>
            </a:ln>
          </p:spPr>
          <p:txBody>
            <a:bodyPr wrap="none" lIns="0" tIns="0" rIns="0" bIns="0" anchor="t" anchorCtr="0">
              <a:spAutoFit/>
            </a:bodyPr>
            <a:lstStyle/>
            <a:p>
              <a:pPr algn="ctr"/>
              <a:r>
                <a:rPr lang="zh-CN" sz="520" dirty="0">
                  <a:solidFill>
                    <a:srgbClr val="BFE4DD"/>
                  </a:solidFill>
                  <a:latin typeface="+mn-lt"/>
                  <a:ea typeface="+mn-ea"/>
                  <a:cs typeface="+mn-cs"/>
                </a:rPr>
                <a:t>资源整合 · 流程管理 · 数据沉淀​​</a:t>
              </a:r>
            </a:p>
          </p:txBody>
        </p:sp>
        <p:sp>
          <p:nvSpPr>
            <p:cNvPr id="22" name="Rectangle 22"/>
            <p:cNvSpPr/>
            <p:nvPr/>
          </p:nvSpPr>
          <p:spPr>
            <a:xfrm>
              <a:off x="2362200" y="2876550"/>
              <a:ext cx="400050" cy="152400"/>
            </a:xfrm>
            <a:prstGeom prst="roundRect">
              <a:avLst>
                <a:gd name="adj" fmla="val 50000"/>
              </a:avLst>
            </a:prstGeom>
            <a:solidFill>
              <a:srgbClr val="FFFFFF"/>
            </a:solidFill>
            <a:ln>
              <a:noFill/>
            </a:ln>
          </p:spPr>
        </p:sp>
        <p:sp>
          <p:nvSpPr>
            <p:cNvPr id="23" name="TextBox 23"/>
            <p:cNvSpPr txBox="1"/>
            <p:nvPr/>
          </p:nvSpPr>
          <p:spPr>
            <a:xfrm>
              <a:off x="2452459" y="2924651"/>
              <a:ext cx="219532" cy="104775"/>
            </a:xfrm>
            <a:prstGeom prst="rect">
              <a:avLst/>
            </a:prstGeom>
            <a:noFill/>
            <a:ln>
              <a:noFill/>
            </a:ln>
          </p:spPr>
          <p:txBody>
            <a:bodyPr wrap="none" lIns="0" tIns="0" rIns="0" bIns="0" anchor="t" anchorCtr="0">
              <a:spAutoFit/>
            </a:bodyPr>
            <a:lstStyle/>
            <a:p>
              <a:pPr algn="ctr"/>
              <a:r>
                <a:rPr lang="zh-CN" sz="520" b="1" dirty="0">
                  <a:solidFill>
                    <a:srgbClr val="5D190B"/>
                  </a:solidFill>
                  <a:latin typeface="+mn-lt"/>
                  <a:ea typeface="+mn-ea"/>
                  <a:cs typeface="+mn-cs"/>
                </a:rPr>
                <a:t>标准化</a:t>
              </a:r>
            </a:p>
          </p:txBody>
        </p:sp>
        <p:sp>
          <p:nvSpPr>
            <p:cNvPr id="24" name="Rectangle 24"/>
            <p:cNvSpPr/>
            <p:nvPr/>
          </p:nvSpPr>
          <p:spPr>
            <a:xfrm>
              <a:off x="2809875" y="2876550"/>
              <a:ext cx="400050" cy="152400"/>
            </a:xfrm>
            <a:prstGeom prst="roundRect">
              <a:avLst>
                <a:gd name="adj" fmla="val 50000"/>
              </a:avLst>
            </a:prstGeom>
            <a:solidFill>
              <a:srgbClr val="FFFFFF"/>
            </a:solidFill>
            <a:ln>
              <a:noFill/>
            </a:ln>
          </p:spPr>
        </p:sp>
        <p:sp>
          <p:nvSpPr>
            <p:cNvPr id="25" name="TextBox 25"/>
            <p:cNvSpPr txBox="1"/>
            <p:nvPr/>
          </p:nvSpPr>
          <p:spPr>
            <a:xfrm>
              <a:off x="2900134" y="2924651"/>
              <a:ext cx="219532" cy="104775"/>
            </a:xfrm>
            <a:prstGeom prst="rect">
              <a:avLst/>
            </a:prstGeom>
            <a:noFill/>
            <a:ln>
              <a:noFill/>
            </a:ln>
          </p:spPr>
          <p:txBody>
            <a:bodyPr wrap="none" lIns="0" tIns="0" rIns="0" bIns="0" anchor="t" anchorCtr="0">
              <a:spAutoFit/>
            </a:bodyPr>
            <a:lstStyle/>
            <a:p>
              <a:pPr algn="ctr"/>
              <a:r>
                <a:rPr lang="zh-CN" sz="520" b="1" dirty="0">
                  <a:solidFill>
                    <a:srgbClr val="5D190B"/>
                  </a:solidFill>
                  <a:latin typeface="+mn-lt"/>
                  <a:ea typeface="+mn-ea"/>
                  <a:cs typeface="+mn-cs"/>
                </a:rPr>
                <a:t>数字化</a:t>
              </a:r>
            </a:p>
          </p:txBody>
        </p:sp>
        <p:sp>
          <p:nvSpPr>
            <p:cNvPr id="26" name="Rectangle 26"/>
            <p:cNvSpPr/>
            <p:nvPr/>
          </p:nvSpPr>
          <p:spPr>
            <a:xfrm>
              <a:off x="3257550" y="2876550"/>
              <a:ext cx="400050" cy="152400"/>
            </a:xfrm>
            <a:prstGeom prst="roundRect">
              <a:avLst>
                <a:gd name="adj" fmla="val 50000"/>
              </a:avLst>
            </a:prstGeom>
            <a:solidFill>
              <a:srgbClr val="FFFFFF"/>
            </a:solidFill>
            <a:ln>
              <a:noFill/>
            </a:ln>
          </p:spPr>
        </p:sp>
        <p:sp>
          <p:nvSpPr>
            <p:cNvPr id="27" name="TextBox 27"/>
            <p:cNvSpPr txBox="1"/>
            <p:nvPr/>
          </p:nvSpPr>
          <p:spPr>
            <a:xfrm>
              <a:off x="3347809" y="2924651"/>
              <a:ext cx="219532" cy="104775"/>
            </a:xfrm>
            <a:prstGeom prst="rect">
              <a:avLst/>
            </a:prstGeom>
            <a:noFill/>
            <a:ln>
              <a:noFill/>
            </a:ln>
          </p:spPr>
          <p:txBody>
            <a:bodyPr wrap="none" lIns="0" tIns="0" rIns="0" bIns="0" anchor="t" anchorCtr="0">
              <a:spAutoFit/>
            </a:bodyPr>
            <a:lstStyle/>
            <a:p>
              <a:pPr algn="ctr"/>
              <a:r>
                <a:rPr lang="zh-CN" sz="520" b="1" dirty="0">
                  <a:solidFill>
                    <a:srgbClr val="5D190B"/>
                  </a:solidFill>
                  <a:latin typeface="+mn-lt"/>
                  <a:ea typeface="+mn-ea"/>
                  <a:cs typeface="+mn-cs"/>
                </a:rPr>
                <a:t>可复制</a:t>
              </a:r>
            </a:p>
          </p:txBody>
        </p:sp>
        <p:sp>
          <p:nvSpPr>
            <p:cNvPr id="28" name="Line 28"/>
            <p:cNvSpPr/>
            <p:nvPr/>
          </p:nvSpPr>
          <p:spPr>
            <a:xfrm>
              <a:off x="1152525" y="1809750"/>
              <a:ext cx="1381125" cy="457200"/>
            </a:xfrm>
            <a:custGeom>
              <a:avLst/>
              <a:gdLst/>
              <a:ahLst/>
              <a:cxnLst/>
              <a:rect l="l" t="t" r="r" b="b"/>
              <a:pathLst>
                <a:path w="1381125" h="457200">
                  <a:moveTo>
                    <a:pt x="0" y="0"/>
                  </a:moveTo>
                  <a:lnTo>
                    <a:pt x="1381125" y="457200"/>
                  </a:lnTo>
                </a:path>
              </a:pathLst>
            </a:custGeom>
            <a:noFill/>
            <a:ln w="14288">
              <a:solidFill>
                <a:srgbClr val="D6A59C"/>
              </a:solidFill>
            </a:ln>
          </p:spPr>
        </p:sp>
        <p:sp>
          <p:nvSpPr>
            <p:cNvPr id="29" name="Line 29"/>
            <p:cNvSpPr/>
            <p:nvPr/>
          </p:nvSpPr>
          <p:spPr>
            <a:xfrm>
              <a:off x="3009900" y="1809750"/>
              <a:ext cx="9525" cy="152400"/>
            </a:xfrm>
            <a:custGeom>
              <a:avLst/>
              <a:gdLst/>
              <a:ahLst/>
              <a:cxnLst/>
              <a:rect l="l" t="t" r="r" b="b"/>
              <a:pathLst>
                <a:path w="9525" h="152400">
                  <a:moveTo>
                    <a:pt x="0" y="0"/>
                  </a:moveTo>
                  <a:lnTo>
                    <a:pt x="0" y="152400"/>
                  </a:lnTo>
                </a:path>
              </a:pathLst>
            </a:custGeom>
            <a:noFill/>
            <a:ln w="14288">
              <a:solidFill>
                <a:srgbClr val="D6A59C"/>
              </a:solidFill>
            </a:ln>
          </p:spPr>
        </p:sp>
        <p:sp>
          <p:nvSpPr>
            <p:cNvPr id="30" name="Line 30"/>
            <p:cNvSpPr/>
            <p:nvPr/>
          </p:nvSpPr>
          <p:spPr>
            <a:xfrm>
              <a:off x="3486150" y="1809750"/>
              <a:ext cx="1381125" cy="457200"/>
            </a:xfrm>
            <a:custGeom>
              <a:avLst/>
              <a:gdLst/>
              <a:ahLst/>
              <a:cxnLst/>
              <a:rect l="l" t="t" r="r" b="b"/>
              <a:pathLst>
                <a:path w="1381125" h="457200">
                  <a:moveTo>
                    <a:pt x="1381125" y="0"/>
                  </a:moveTo>
                  <a:lnTo>
                    <a:pt x="0" y="457200"/>
                  </a:lnTo>
                </a:path>
              </a:pathLst>
            </a:custGeom>
            <a:noFill/>
            <a:ln w="14288">
              <a:solidFill>
                <a:srgbClr val="D6A59C"/>
              </a:solidFill>
            </a:ln>
          </p:spPr>
        </p:sp>
        <p:sp>
          <p:nvSpPr>
            <p:cNvPr id="31" name="Line 31"/>
            <p:cNvSpPr/>
            <p:nvPr/>
          </p:nvSpPr>
          <p:spPr>
            <a:xfrm>
              <a:off x="1152525" y="2876550"/>
              <a:ext cx="1381125" cy="457200"/>
            </a:xfrm>
            <a:custGeom>
              <a:avLst/>
              <a:gdLst/>
              <a:ahLst/>
              <a:cxnLst/>
              <a:rect l="l" t="t" r="r" b="b"/>
              <a:pathLst>
                <a:path w="1381125" h="457200">
                  <a:moveTo>
                    <a:pt x="0" y="457200"/>
                  </a:moveTo>
                  <a:lnTo>
                    <a:pt x="1381125" y="0"/>
                  </a:lnTo>
                </a:path>
              </a:pathLst>
            </a:custGeom>
            <a:noFill/>
            <a:ln w="14288">
              <a:solidFill>
                <a:srgbClr val="D6A59C"/>
              </a:solidFill>
            </a:ln>
          </p:spPr>
        </p:sp>
        <p:sp>
          <p:nvSpPr>
            <p:cNvPr id="32" name="Line 32"/>
            <p:cNvSpPr/>
            <p:nvPr/>
          </p:nvSpPr>
          <p:spPr>
            <a:xfrm>
              <a:off x="3009900" y="3181350"/>
              <a:ext cx="9525" cy="152400"/>
            </a:xfrm>
            <a:custGeom>
              <a:avLst/>
              <a:gdLst/>
              <a:ahLst/>
              <a:cxnLst/>
              <a:rect l="l" t="t" r="r" b="b"/>
              <a:pathLst>
                <a:path w="9525" h="152400">
                  <a:moveTo>
                    <a:pt x="0" y="0"/>
                  </a:moveTo>
                  <a:lnTo>
                    <a:pt x="0" y="152400"/>
                  </a:lnTo>
                </a:path>
              </a:pathLst>
            </a:custGeom>
            <a:noFill/>
            <a:ln w="14288">
              <a:solidFill>
                <a:srgbClr val="D6A59C"/>
              </a:solidFill>
            </a:ln>
          </p:spPr>
        </p:sp>
        <p:sp>
          <p:nvSpPr>
            <p:cNvPr id="33" name="Line 33"/>
            <p:cNvSpPr/>
            <p:nvPr/>
          </p:nvSpPr>
          <p:spPr>
            <a:xfrm>
              <a:off x="3486150" y="2876550"/>
              <a:ext cx="1381125" cy="457200"/>
            </a:xfrm>
            <a:custGeom>
              <a:avLst/>
              <a:gdLst/>
              <a:ahLst/>
              <a:cxnLst/>
              <a:rect l="l" t="t" r="r" b="b"/>
              <a:pathLst>
                <a:path w="1381125" h="457200">
                  <a:moveTo>
                    <a:pt x="1381125" y="457200"/>
                  </a:moveTo>
                  <a:lnTo>
                    <a:pt x="0" y="0"/>
                  </a:lnTo>
                </a:path>
              </a:pathLst>
            </a:custGeom>
            <a:noFill/>
            <a:ln w="14288">
              <a:solidFill>
                <a:srgbClr val="D6A59C"/>
              </a:solidFill>
            </a:ln>
          </p:spPr>
        </p:sp>
        <p:grpSp>
          <p:nvGrpSpPr>
            <p:cNvPr id="94" name="lib-cards"/>
            <p:cNvGrpSpPr/>
            <p:nvPr/>
          </p:nvGrpSpPr>
          <p:grpSpPr>
            <a:xfrm>
              <a:off x="342900" y="933450"/>
              <a:ext cx="5334000" cy="3276600"/>
              <a:chOff x="342900" y="933450"/>
              <a:chExt cx="5334000" cy="3276600"/>
            </a:xfrm>
          </p:grpSpPr>
          <p:sp>
            <p:nvSpPr>
              <p:cNvPr id="34" name="Rectangle 34"/>
              <p:cNvSpPr/>
              <p:nvPr/>
            </p:nvSpPr>
            <p:spPr>
              <a:xfrm>
                <a:off x="342900" y="933450"/>
                <a:ext cx="1619250" cy="876300"/>
              </a:xfrm>
              <a:prstGeom prst="roundRect">
                <a:avLst>
                  <a:gd name="adj" fmla="val 6522"/>
                </a:avLst>
              </a:prstGeom>
              <a:solidFill>
                <a:srgbClr val="F0FAF8"/>
              </a:solidFill>
              <a:ln w="9525">
                <a:solidFill>
                  <a:srgbClr val="C2E0DA"/>
                </a:solidFill>
              </a:ln>
            </p:spPr>
          </p:sp>
          <p:grpSp>
            <p:nvGrpSpPr>
              <p:cNvPr id="38" name="Group 38"/>
              <p:cNvGrpSpPr/>
              <p:nvPr/>
            </p:nvGrpSpPr>
            <p:grpSpPr>
              <a:xfrm>
                <a:off x="438150" y="1028700"/>
                <a:ext cx="114300" cy="114300"/>
                <a:chOff x="438150" y="1028700"/>
                <a:chExt cx="114300" cy="114300"/>
              </a:xfrm>
            </p:grpSpPr>
            <p:sp>
              <p:nvSpPr>
                <p:cNvPr id="35" name="Freeform 35"/>
                <p:cNvSpPr/>
                <p:nvPr/>
              </p:nvSpPr>
              <p:spPr>
                <a:xfrm>
                  <a:off x="488950" y="10795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76200F"/>
                  </a:solidFill>
                </a:ln>
              </p:spPr>
            </p:sp>
            <p:sp>
              <p:nvSpPr>
                <p:cNvPr id="36" name="Freeform 36"/>
                <p:cNvSpPr/>
                <p:nvPr/>
              </p:nvSpPr>
              <p:spPr>
                <a:xfrm>
                  <a:off x="463550" y="10541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76200F"/>
                  </a:solidFill>
                </a:ln>
              </p:spPr>
            </p:sp>
            <p:sp>
              <p:nvSpPr>
                <p:cNvPr id="37" name="Freeform 37"/>
                <p:cNvSpPr/>
                <p:nvPr/>
              </p:nvSpPr>
              <p:spPr>
                <a:xfrm>
                  <a:off x="438150" y="10287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76200F"/>
                  </a:solidFill>
                </a:ln>
              </p:spPr>
            </p:sp>
          </p:grpSp>
          <p:sp>
            <p:nvSpPr>
              <p:cNvPr id="39" name="TextBox 39"/>
              <p:cNvSpPr txBox="1"/>
              <p:nvPr/>
            </p:nvSpPr>
            <p:spPr>
              <a:xfrm>
                <a:off x="623888" y="1042988"/>
                <a:ext cx="1012444"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场景库</a:t>
                </a:r>
                <a:r>
                  <a:rPr lang="zh-CN" sz="520" dirty="0">
                    <a:solidFill>
                      <a:srgbClr val="73615E"/>
                    </a:solidFill>
                    <a:latin typeface="+mn-lt"/>
                    <a:ea typeface="+mn-ea"/>
                    <a:cs typeface="+mn-cs"/>
                  </a:rPr>
                  <a:t>（覆盖多元线下场景）</a:t>
                </a:r>
              </a:p>
            </p:txBody>
          </p:sp>
          <p:sp>
            <p:nvSpPr>
              <p:cNvPr id="40" name="TextBox 40"/>
              <p:cNvSpPr txBox="1"/>
              <p:nvPr/>
            </p:nvSpPr>
            <p:spPr>
              <a:xfrm>
                <a:off x="414338" y="1215628"/>
                <a:ext cx="754253"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商圈 / 社区 / 园区​​</a:t>
                </a:r>
              </a:p>
              <a:p>
                <a:pPr algn="l" marL="76200" indent="-76200">
                  <a:lnSpc>
                    <a:spcPts val="750"/>
                  </a:lnSpc>
                  <a:buClr>
                    <a:srgbClr val="514340"/>
                  </a:buClr>
                  <a:buSzTx/>
                  <a:buFontTx/>
                  <a:buChar char="•"/>
                </a:pPr>
                <a:r>
                  <a:rPr lang="zh-CN" sz="560" dirty="0">
                    <a:solidFill>
                      <a:srgbClr val="514340"/>
                    </a:solidFill>
                    <a:latin typeface="+mn-lt"/>
                    <a:ea typeface="+mn-ea"/>
                    <a:cs typeface="+mn-cs"/>
                  </a:rPr>
                  <a:t>校园 / 商超 / 文旅​​</a:t>
                </a:r>
              </a:p>
              <a:p>
                <a:pPr algn="l" marL="76200" indent="-76200">
                  <a:lnSpc>
                    <a:spcPts val="750"/>
                  </a:lnSpc>
                  <a:buClr>
                    <a:srgbClr val="514340"/>
                  </a:buClr>
                  <a:buSzTx/>
                  <a:buFontTx/>
                  <a:buChar char="•"/>
                </a:pPr>
                <a:r>
                  <a:rPr lang="zh-CN" sz="560" dirty="0">
                    <a:solidFill>
                      <a:srgbClr val="514340"/>
                    </a:solidFill>
                    <a:latin typeface="+mn-lt"/>
                    <a:ea typeface="+mn-ea"/>
                    <a:cs typeface="+mn-cs"/>
                  </a:rPr>
                  <a:t>政务 / 医疗 / …​​</a:t>
                </a:r>
              </a:p>
            </p:txBody>
          </p:sp>
          <p:sp>
            <p:nvSpPr>
              <p:cNvPr id="41" name="Rectangle 41"/>
              <p:cNvSpPr/>
              <p:nvPr/>
            </p:nvSpPr>
            <p:spPr>
              <a:xfrm>
                <a:off x="419100" y="1619250"/>
                <a:ext cx="1143000" cy="133350"/>
              </a:xfrm>
              <a:prstGeom prst="roundRect">
                <a:avLst>
                  <a:gd name="adj" fmla="val 50000"/>
                </a:avLst>
              </a:prstGeom>
              <a:solidFill>
                <a:srgbClr val="76200F"/>
              </a:solidFill>
              <a:ln>
                <a:noFill/>
              </a:ln>
            </p:spPr>
          </p:sp>
          <p:sp>
            <p:nvSpPr>
              <p:cNvPr id="42" name="TextBox 42"/>
              <p:cNvSpPr txBox="1"/>
              <p:nvPr/>
            </p:nvSpPr>
            <p:spPr>
              <a:xfrm>
                <a:off x="676656" y="1653778"/>
                <a:ext cx="627889"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标准场景包 50+​​</a:t>
                </a:r>
              </a:p>
            </p:txBody>
          </p:sp>
          <p:sp>
            <p:nvSpPr>
              <p:cNvPr id="43" name="Rectangle 43"/>
              <p:cNvSpPr/>
              <p:nvPr/>
            </p:nvSpPr>
            <p:spPr>
              <a:xfrm>
                <a:off x="2200275" y="933450"/>
                <a:ext cx="1619250" cy="876300"/>
              </a:xfrm>
              <a:prstGeom prst="roundRect">
                <a:avLst>
                  <a:gd name="adj" fmla="val 6522"/>
                </a:avLst>
              </a:prstGeom>
              <a:solidFill>
                <a:srgbClr val="F0FAF8"/>
              </a:solidFill>
              <a:ln w="9525">
                <a:solidFill>
                  <a:srgbClr val="C2E0DA"/>
                </a:solidFill>
              </a:ln>
            </p:spPr>
          </p:sp>
          <p:grpSp>
            <p:nvGrpSpPr>
              <p:cNvPr id="50" name="Group 50"/>
              <p:cNvGrpSpPr/>
              <p:nvPr/>
            </p:nvGrpSpPr>
            <p:grpSpPr>
              <a:xfrm>
                <a:off x="2295525" y="1028700"/>
                <a:ext cx="114300" cy="114300"/>
                <a:chOff x="2295525" y="1028700"/>
                <a:chExt cx="114300" cy="114300"/>
              </a:xfrm>
            </p:grpSpPr>
            <p:sp>
              <p:nvSpPr>
                <p:cNvPr id="44" name="Freeform 44"/>
                <p:cNvSpPr/>
                <p:nvPr/>
              </p:nvSpPr>
              <p:spPr>
                <a:xfrm>
                  <a:off x="2339975" y="10795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45" name="Freeform 45"/>
                <p:cNvSpPr/>
                <p:nvPr/>
              </p:nvSpPr>
              <p:spPr>
                <a:xfrm>
                  <a:off x="2327275" y="11239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76200F"/>
                  </a:solidFill>
                </a:ln>
              </p:spPr>
            </p:sp>
            <p:sp>
              <p:nvSpPr>
                <p:cNvPr id="46" name="Freeform 46"/>
                <p:cNvSpPr/>
                <p:nvPr/>
              </p:nvSpPr>
              <p:spPr>
                <a:xfrm>
                  <a:off x="2371725" y="10287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47" name="Freeform 47"/>
                <p:cNvSpPr/>
                <p:nvPr/>
              </p:nvSpPr>
              <p:spPr>
                <a:xfrm>
                  <a:off x="2384425" y="10731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76200F"/>
                  </a:solidFill>
                </a:ln>
              </p:spPr>
            </p:sp>
            <p:sp>
              <p:nvSpPr>
                <p:cNvPr id="48" name="Freeform 48"/>
                <p:cNvSpPr/>
                <p:nvPr/>
              </p:nvSpPr>
              <p:spPr>
                <a:xfrm>
                  <a:off x="2308225" y="10287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76200F"/>
                  </a:solidFill>
                </a:ln>
              </p:spPr>
            </p:sp>
            <p:sp>
              <p:nvSpPr>
                <p:cNvPr id="49" name="Freeform 49"/>
                <p:cNvSpPr/>
                <p:nvPr/>
              </p:nvSpPr>
              <p:spPr>
                <a:xfrm>
                  <a:off x="2295525" y="10731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76200F"/>
                  </a:solidFill>
                </a:ln>
              </p:spPr>
            </p:sp>
          </p:grpSp>
          <p:sp>
            <p:nvSpPr>
              <p:cNvPr id="51" name="TextBox 51"/>
              <p:cNvSpPr txBox="1"/>
              <p:nvPr/>
            </p:nvSpPr>
            <p:spPr>
              <a:xfrm>
                <a:off x="2481262" y="1042988"/>
                <a:ext cx="942442"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客群库</a:t>
                </a:r>
                <a:r>
                  <a:rPr lang="zh-CN" sz="520" dirty="0">
                    <a:solidFill>
                      <a:srgbClr val="73615E"/>
                    </a:solidFill>
                    <a:latin typeface="+mn-lt"/>
                    <a:ea typeface="+mn-ea"/>
                    <a:cs typeface="+mn-cs"/>
                  </a:rPr>
                  <a:t>（精准分层与画像）</a:t>
                </a:r>
              </a:p>
            </p:txBody>
          </p:sp>
          <p:sp>
            <p:nvSpPr>
              <p:cNvPr id="52" name="TextBox 52"/>
              <p:cNvSpPr txBox="1"/>
              <p:nvPr/>
            </p:nvSpPr>
            <p:spPr>
              <a:xfrm>
                <a:off x="2271712" y="1215628"/>
                <a:ext cx="1038733"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个人（青年 / 家庭 / 银发）​​</a:t>
                </a:r>
              </a:p>
              <a:p>
                <a:pPr algn="l" marL="76200" indent="-76200">
                  <a:lnSpc>
                    <a:spcPts val="750"/>
                  </a:lnSpc>
                  <a:buClr>
                    <a:srgbClr val="514340"/>
                  </a:buClr>
                  <a:buSzTx/>
                  <a:buFontTx/>
                  <a:buChar char="•"/>
                </a:pPr>
                <a:r>
                  <a:rPr lang="zh-CN" sz="560" dirty="0">
                    <a:solidFill>
                      <a:srgbClr val="514340"/>
                    </a:solidFill>
                    <a:latin typeface="+mn-lt"/>
                    <a:ea typeface="+mn-ea"/>
                    <a:cs typeface="+mn-cs"/>
                  </a:rPr>
                  <a:t>企业（小微 / 中型 / 园区）​​</a:t>
                </a:r>
              </a:p>
              <a:p>
                <a:pPr algn="l" marL="76200" indent="-76200">
                  <a:lnSpc>
                    <a:spcPts val="750"/>
                  </a:lnSpc>
                  <a:buClr>
                    <a:srgbClr val="514340"/>
                  </a:buClr>
                  <a:buSzTx/>
                  <a:buFontTx/>
                  <a:buChar char="•"/>
                </a:pPr>
                <a:r>
                  <a:rPr lang="zh-CN" sz="560" dirty="0">
                    <a:solidFill>
                      <a:srgbClr val="514340"/>
                    </a:solidFill>
                    <a:latin typeface="+mn-lt"/>
                    <a:ea typeface="+mn-ea"/>
                    <a:cs typeface="+mn-cs"/>
                  </a:rPr>
                  <a:t>高净值 / 新市民 / …​​</a:t>
                </a:r>
              </a:p>
            </p:txBody>
          </p:sp>
          <p:sp>
            <p:nvSpPr>
              <p:cNvPr id="53" name="Rectangle 53"/>
              <p:cNvSpPr/>
              <p:nvPr/>
            </p:nvSpPr>
            <p:spPr>
              <a:xfrm>
                <a:off x="2276475" y="1619250"/>
                <a:ext cx="1143000" cy="133350"/>
              </a:xfrm>
              <a:prstGeom prst="roundRect">
                <a:avLst>
                  <a:gd name="adj" fmla="val 50000"/>
                </a:avLst>
              </a:prstGeom>
              <a:solidFill>
                <a:srgbClr val="76200F"/>
              </a:solidFill>
              <a:ln>
                <a:noFill/>
              </a:ln>
            </p:spPr>
          </p:sp>
          <p:sp>
            <p:nvSpPr>
              <p:cNvPr id="54" name="TextBox 54"/>
              <p:cNvSpPr txBox="1"/>
              <p:nvPr/>
            </p:nvSpPr>
            <p:spPr>
              <a:xfrm>
                <a:off x="2549956" y="1653778"/>
                <a:ext cx="596037"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客群标签 200+​​</a:t>
                </a:r>
              </a:p>
            </p:txBody>
          </p:sp>
          <p:sp>
            <p:nvSpPr>
              <p:cNvPr id="55" name="Rectangle 55"/>
              <p:cNvSpPr/>
              <p:nvPr/>
            </p:nvSpPr>
            <p:spPr>
              <a:xfrm>
                <a:off x="4057650" y="933450"/>
                <a:ext cx="1619250" cy="876300"/>
              </a:xfrm>
              <a:prstGeom prst="roundRect">
                <a:avLst>
                  <a:gd name="adj" fmla="val 6522"/>
                </a:avLst>
              </a:prstGeom>
              <a:solidFill>
                <a:srgbClr val="F0FAF8"/>
              </a:solidFill>
              <a:ln w="9525">
                <a:solidFill>
                  <a:srgbClr val="C2E0DA"/>
                </a:solidFill>
              </a:ln>
            </p:spPr>
          </p:sp>
          <p:grpSp>
            <p:nvGrpSpPr>
              <p:cNvPr id="59" name="Group 59"/>
              <p:cNvGrpSpPr/>
              <p:nvPr/>
            </p:nvGrpSpPr>
            <p:grpSpPr>
              <a:xfrm>
                <a:off x="4155453" y="1028700"/>
                <a:ext cx="109182" cy="113602"/>
                <a:chOff x="4155453" y="1028700"/>
                <a:chExt cx="109182" cy="113602"/>
              </a:xfrm>
            </p:grpSpPr>
            <p:sp>
              <p:nvSpPr>
                <p:cNvPr id="56" name="Freeform 56"/>
                <p:cNvSpPr/>
                <p:nvPr/>
              </p:nvSpPr>
              <p:spPr>
                <a:xfrm>
                  <a:off x="4171950" y="10287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76200F"/>
                  </a:solidFill>
                </a:ln>
              </p:spPr>
            </p:sp>
            <p:sp>
              <p:nvSpPr>
                <p:cNvPr id="57" name="Freeform 57"/>
                <p:cNvSpPr/>
                <p:nvPr/>
              </p:nvSpPr>
              <p:spPr>
                <a:xfrm>
                  <a:off x="4210050" y="1085850"/>
                  <a:ext cx="54585" cy="56452"/>
                </a:xfrm>
                <a:custGeom>
                  <a:avLst/>
                  <a:gdLst/>
                  <a:ahLst/>
                  <a:cxnLst/>
                  <a:rect l="l" t="t" r="r" b="b"/>
                  <a:pathLst>
                    <a:path w="54585" h="56452">
                      <a:moveTo>
                        <a:pt x="0" y="19050"/>
                      </a:moveTo>
                      <a:lnTo>
                        <a:pt x="21590" y="56452"/>
                      </a:lnTo>
                      <a:lnTo>
                        <a:pt x="31737" y="35922"/>
                      </a:lnTo>
                      <a:lnTo>
                        <a:pt x="54585" y="37395"/>
                      </a:lnTo>
                      <a:lnTo>
                        <a:pt x="32995" y="0"/>
                      </a:lnTo>
                    </a:path>
                  </a:pathLst>
                </a:custGeom>
                <a:noFill/>
                <a:ln w="12700">
                  <a:solidFill>
                    <a:srgbClr val="76200F"/>
                  </a:solidFill>
                </a:ln>
              </p:spPr>
            </p:sp>
            <p:sp>
              <p:nvSpPr>
                <p:cNvPr id="58" name="Freeform 58"/>
                <p:cNvSpPr/>
                <p:nvPr/>
              </p:nvSpPr>
              <p:spPr>
                <a:xfrm>
                  <a:off x="4155453" y="1085850"/>
                  <a:ext cx="54585" cy="56445"/>
                </a:xfrm>
                <a:custGeom>
                  <a:avLst/>
                  <a:gdLst/>
                  <a:ahLst/>
                  <a:cxnLst/>
                  <a:rect l="l" t="t" r="r" b="b"/>
                  <a:pathLst>
                    <a:path w="54585" h="56445">
                      <a:moveTo>
                        <a:pt x="21590" y="0"/>
                      </a:moveTo>
                      <a:lnTo>
                        <a:pt x="0" y="37402"/>
                      </a:lnTo>
                      <a:lnTo>
                        <a:pt x="22847" y="35922"/>
                      </a:lnTo>
                      <a:lnTo>
                        <a:pt x="32995" y="56445"/>
                      </a:lnTo>
                      <a:lnTo>
                        <a:pt x="54585" y="19050"/>
                      </a:lnTo>
                    </a:path>
                  </a:pathLst>
                </a:custGeom>
                <a:noFill/>
                <a:ln w="12700">
                  <a:solidFill>
                    <a:srgbClr val="76200F"/>
                  </a:solidFill>
                </a:ln>
              </p:spPr>
            </p:sp>
          </p:grpSp>
          <p:sp>
            <p:nvSpPr>
              <p:cNvPr id="60" name="TextBox 60"/>
              <p:cNvSpPr txBox="1"/>
              <p:nvPr/>
            </p:nvSpPr>
            <p:spPr>
              <a:xfrm>
                <a:off x="4338638" y="1042988"/>
                <a:ext cx="1061446"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权益库</a:t>
                </a:r>
                <a:r>
                  <a:rPr lang="zh-CN" sz="520" dirty="0">
                    <a:solidFill>
                      <a:srgbClr val="73615E"/>
                    </a:solidFill>
                    <a:latin typeface="+mn-lt"/>
                    <a:ea typeface="+mn-ea"/>
                    <a:cs typeface="+mn-cs"/>
                  </a:rPr>
                  <a:t>（金融 + 非金融权益）​</a:t>
                </a:r>
              </a:p>
            </p:txBody>
          </p:sp>
          <p:sp>
            <p:nvSpPr>
              <p:cNvPr id="61" name="TextBox 61"/>
              <p:cNvSpPr txBox="1"/>
              <p:nvPr/>
            </p:nvSpPr>
            <p:spPr>
              <a:xfrm>
                <a:off x="4129088" y="1215628"/>
                <a:ext cx="935609"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支付立减 / 消费券​​</a:t>
                </a:r>
              </a:p>
              <a:p>
                <a:pPr algn="l" marL="76200" indent="-76200">
                  <a:lnSpc>
                    <a:spcPts val="750"/>
                  </a:lnSpc>
                  <a:buClr>
                    <a:srgbClr val="514340"/>
                  </a:buClr>
                  <a:buSzTx/>
                  <a:buFontTx/>
                  <a:buChar char="•"/>
                </a:pPr>
                <a:r>
                  <a:rPr lang="zh-CN" sz="560" dirty="0">
                    <a:solidFill>
                      <a:srgbClr val="514340"/>
                    </a:solidFill>
                    <a:latin typeface="+mn-lt"/>
                    <a:ea typeface="+mn-ea"/>
                    <a:cs typeface="+mn-cs"/>
                  </a:rPr>
                  <a:t>积分礼遇 / 会员权益​​</a:t>
                </a:r>
              </a:p>
              <a:p>
                <a:pPr algn="l" marL="76200" indent="-76200">
                  <a:lnSpc>
                    <a:spcPts val="750"/>
                  </a:lnSpc>
                  <a:buClr>
                    <a:srgbClr val="514340"/>
                  </a:buClr>
                  <a:buSzTx/>
                  <a:buFontTx/>
                  <a:buChar char="•"/>
                </a:pPr>
                <a:r>
                  <a:rPr lang="zh-CN" sz="560" dirty="0">
                    <a:solidFill>
                      <a:srgbClr val="514340"/>
                    </a:solidFill>
                    <a:latin typeface="+mn-lt"/>
                    <a:ea typeface="+mn-ea"/>
                    <a:cs typeface="+mn-cs"/>
                  </a:rPr>
                  <a:t>生活服务 / 专属理财 / …​​</a:t>
                </a:r>
              </a:p>
            </p:txBody>
          </p:sp>
          <p:sp>
            <p:nvSpPr>
              <p:cNvPr id="62" name="Rectangle 62"/>
              <p:cNvSpPr/>
              <p:nvPr/>
            </p:nvSpPr>
            <p:spPr>
              <a:xfrm>
                <a:off x="4133850" y="1619250"/>
                <a:ext cx="1143000" cy="133350"/>
              </a:xfrm>
              <a:prstGeom prst="roundRect">
                <a:avLst>
                  <a:gd name="adj" fmla="val 50000"/>
                </a:avLst>
              </a:prstGeom>
              <a:solidFill>
                <a:srgbClr val="76200F"/>
              </a:solidFill>
              <a:ln>
                <a:noFill/>
              </a:ln>
            </p:spPr>
          </p:sp>
          <p:sp>
            <p:nvSpPr>
              <p:cNvPr id="63" name="TextBox 63"/>
              <p:cNvSpPr txBox="1"/>
              <p:nvPr/>
            </p:nvSpPr>
            <p:spPr>
              <a:xfrm>
                <a:off x="4407331" y="1653778"/>
                <a:ext cx="596037"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权益方案 100+​​</a:t>
                </a:r>
              </a:p>
            </p:txBody>
          </p:sp>
          <p:sp>
            <p:nvSpPr>
              <p:cNvPr id="64" name="Rectangle 64"/>
              <p:cNvSpPr/>
              <p:nvPr/>
            </p:nvSpPr>
            <p:spPr>
              <a:xfrm>
                <a:off x="342900" y="3333750"/>
                <a:ext cx="1619250" cy="876300"/>
              </a:xfrm>
              <a:prstGeom prst="roundRect">
                <a:avLst>
                  <a:gd name="adj" fmla="val 6522"/>
                </a:avLst>
              </a:prstGeom>
              <a:solidFill>
                <a:srgbClr val="F0FAF8"/>
              </a:solidFill>
              <a:ln w="9525">
                <a:solidFill>
                  <a:srgbClr val="C2E0DA"/>
                </a:solidFill>
              </a:ln>
            </p:spPr>
          </p:sp>
          <p:grpSp>
            <p:nvGrpSpPr>
              <p:cNvPr id="70" name="Group 70"/>
              <p:cNvGrpSpPr/>
              <p:nvPr/>
            </p:nvGrpSpPr>
            <p:grpSpPr>
              <a:xfrm>
                <a:off x="450850" y="3429000"/>
                <a:ext cx="88900" cy="114300"/>
                <a:chOff x="450850" y="3429000"/>
                <a:chExt cx="88900" cy="114300"/>
              </a:xfrm>
            </p:grpSpPr>
            <p:sp>
              <p:nvSpPr>
                <p:cNvPr id="65" name="Freeform 65"/>
                <p:cNvSpPr/>
                <p:nvPr/>
              </p:nvSpPr>
              <p:spPr>
                <a:xfrm>
                  <a:off x="508000" y="34290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76200F"/>
                  </a:solidFill>
                </a:ln>
              </p:spPr>
            </p:sp>
            <p:sp>
              <p:nvSpPr>
                <p:cNvPr id="66" name="Freeform 66"/>
                <p:cNvSpPr/>
                <p:nvPr/>
              </p:nvSpPr>
              <p:spPr>
                <a:xfrm>
                  <a:off x="450850" y="34290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76200F"/>
                  </a:solidFill>
                </a:ln>
              </p:spPr>
            </p:sp>
            <p:sp>
              <p:nvSpPr>
                <p:cNvPr id="67" name="Freeform 67"/>
                <p:cNvSpPr/>
                <p:nvPr/>
              </p:nvSpPr>
              <p:spPr>
                <a:xfrm>
                  <a:off x="476250" y="3467100"/>
                  <a:ext cx="9525" cy="9525"/>
                </a:xfrm>
                <a:custGeom>
                  <a:avLst/>
                  <a:gdLst/>
                  <a:ahLst/>
                  <a:cxnLst/>
                  <a:rect l="l" t="t" r="r" b="b"/>
                  <a:pathLst>
                    <a:path w="9525" h="9525">
                      <a:moveTo>
                        <a:pt x="0" y="0"/>
                      </a:moveTo>
                      <a:lnTo>
                        <a:pt x="6350" y="0"/>
                      </a:lnTo>
                    </a:path>
                  </a:pathLst>
                </a:custGeom>
                <a:noFill/>
                <a:ln w="12700">
                  <a:solidFill>
                    <a:srgbClr val="76200F"/>
                  </a:solidFill>
                </a:ln>
              </p:spPr>
            </p:sp>
            <p:sp>
              <p:nvSpPr>
                <p:cNvPr id="68" name="Freeform 68"/>
                <p:cNvSpPr/>
                <p:nvPr/>
              </p:nvSpPr>
              <p:spPr>
                <a:xfrm>
                  <a:off x="476250" y="3492500"/>
                  <a:ext cx="38100" cy="9525"/>
                </a:xfrm>
                <a:custGeom>
                  <a:avLst/>
                  <a:gdLst/>
                  <a:ahLst/>
                  <a:cxnLst/>
                  <a:rect l="l" t="t" r="r" b="b"/>
                  <a:pathLst>
                    <a:path w="38100" h="9525">
                      <a:moveTo>
                        <a:pt x="0" y="0"/>
                      </a:moveTo>
                      <a:lnTo>
                        <a:pt x="38100" y="0"/>
                      </a:lnTo>
                    </a:path>
                  </a:pathLst>
                </a:custGeom>
                <a:noFill/>
                <a:ln w="12700">
                  <a:solidFill>
                    <a:srgbClr val="76200F"/>
                  </a:solidFill>
                </a:ln>
              </p:spPr>
            </p:sp>
            <p:sp>
              <p:nvSpPr>
                <p:cNvPr id="69" name="Freeform 69"/>
                <p:cNvSpPr/>
                <p:nvPr/>
              </p:nvSpPr>
              <p:spPr>
                <a:xfrm>
                  <a:off x="476250" y="3517900"/>
                  <a:ext cx="38100" cy="9525"/>
                </a:xfrm>
                <a:custGeom>
                  <a:avLst/>
                  <a:gdLst/>
                  <a:ahLst/>
                  <a:cxnLst/>
                  <a:rect l="l" t="t" r="r" b="b"/>
                  <a:pathLst>
                    <a:path w="38100" h="9525">
                      <a:moveTo>
                        <a:pt x="0" y="0"/>
                      </a:moveTo>
                      <a:lnTo>
                        <a:pt x="38100" y="0"/>
                      </a:lnTo>
                    </a:path>
                  </a:pathLst>
                </a:custGeom>
                <a:noFill/>
                <a:ln w="12700">
                  <a:solidFill>
                    <a:srgbClr val="76200F"/>
                  </a:solidFill>
                </a:ln>
              </p:spPr>
            </p:sp>
          </p:grpSp>
          <p:sp>
            <p:nvSpPr>
              <p:cNvPr id="71" name="TextBox 71"/>
              <p:cNvSpPr txBox="1"/>
              <p:nvPr/>
            </p:nvSpPr>
            <p:spPr>
              <a:xfrm>
                <a:off x="623888" y="3443288"/>
                <a:ext cx="942442"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物料库</a:t>
                </a:r>
                <a:r>
                  <a:rPr lang="zh-CN" sz="520" dirty="0">
                    <a:solidFill>
                      <a:srgbClr val="73615E"/>
                    </a:solidFill>
                    <a:latin typeface="+mn-lt"/>
                    <a:ea typeface="+mn-ea"/>
                    <a:cs typeface="+mn-cs"/>
                  </a:rPr>
                  <a:t>（标准化活动物料）</a:t>
                </a:r>
              </a:p>
            </p:txBody>
          </p:sp>
          <p:sp>
            <p:nvSpPr>
              <p:cNvPr id="72" name="TextBox 72"/>
              <p:cNvSpPr txBox="1"/>
              <p:nvPr/>
            </p:nvSpPr>
            <p:spPr>
              <a:xfrm>
                <a:off x="414338" y="3615928"/>
                <a:ext cx="935609"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展位设计 / 展架海报​​</a:t>
                </a:r>
              </a:p>
              <a:p>
                <a:pPr algn="l" marL="76200" indent="-76200">
                  <a:lnSpc>
                    <a:spcPts val="750"/>
                  </a:lnSpc>
                  <a:buClr>
                    <a:srgbClr val="514340"/>
                  </a:buClr>
                  <a:buSzTx/>
                  <a:buFontTx/>
                  <a:buChar char="•"/>
                </a:pPr>
                <a:r>
                  <a:rPr lang="zh-CN" sz="560" dirty="0">
                    <a:solidFill>
                      <a:srgbClr val="514340"/>
                    </a:solidFill>
                    <a:latin typeface="+mn-lt"/>
                    <a:ea typeface="+mn-ea"/>
                    <a:cs typeface="+mn-cs"/>
                  </a:rPr>
                  <a:t>礼品周边 / 互动道具​​</a:t>
                </a:r>
              </a:p>
              <a:p>
                <a:pPr algn="l" marL="76200" indent="-76200">
                  <a:lnSpc>
                    <a:spcPts val="750"/>
                  </a:lnSpc>
                  <a:buClr>
                    <a:srgbClr val="514340"/>
                  </a:buClr>
                  <a:buSzTx/>
                  <a:buFontTx/>
                  <a:buChar char="•"/>
                </a:pPr>
                <a:r>
                  <a:rPr lang="zh-CN" sz="560" dirty="0">
                    <a:solidFill>
                      <a:srgbClr val="514340"/>
                    </a:solidFill>
                    <a:latin typeface="+mn-lt"/>
                    <a:ea typeface="+mn-ea"/>
                    <a:cs typeface="+mn-cs"/>
                  </a:rPr>
                  <a:t>线上素材 / 话术模板 / …​​</a:t>
                </a:r>
              </a:p>
            </p:txBody>
          </p:sp>
          <p:sp>
            <p:nvSpPr>
              <p:cNvPr id="73" name="Rectangle 73"/>
              <p:cNvSpPr/>
              <p:nvPr/>
            </p:nvSpPr>
            <p:spPr>
              <a:xfrm>
                <a:off x="419100" y="4019550"/>
                <a:ext cx="1143000" cy="133350"/>
              </a:xfrm>
              <a:prstGeom prst="roundRect">
                <a:avLst>
                  <a:gd name="adj" fmla="val 50000"/>
                </a:avLst>
              </a:prstGeom>
              <a:solidFill>
                <a:srgbClr val="76200F"/>
              </a:solidFill>
              <a:ln>
                <a:noFill/>
              </a:ln>
            </p:spPr>
          </p:sp>
          <p:sp>
            <p:nvSpPr>
              <p:cNvPr id="74" name="TextBox 74"/>
              <p:cNvSpPr txBox="1"/>
              <p:nvPr/>
            </p:nvSpPr>
            <p:spPr>
              <a:xfrm>
                <a:off x="692581" y="4054078"/>
                <a:ext cx="596037"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物料模板 300+​​</a:t>
                </a:r>
              </a:p>
            </p:txBody>
          </p:sp>
          <p:sp>
            <p:nvSpPr>
              <p:cNvPr id="75" name="Rectangle 75"/>
              <p:cNvSpPr/>
              <p:nvPr/>
            </p:nvSpPr>
            <p:spPr>
              <a:xfrm>
                <a:off x="2200275" y="3333750"/>
                <a:ext cx="1619250" cy="876300"/>
              </a:xfrm>
              <a:prstGeom prst="roundRect">
                <a:avLst>
                  <a:gd name="adj" fmla="val 6522"/>
                </a:avLst>
              </a:prstGeom>
              <a:solidFill>
                <a:srgbClr val="F0FAF8"/>
              </a:solidFill>
              <a:ln w="9525">
                <a:solidFill>
                  <a:srgbClr val="C2E0DA"/>
                </a:solidFill>
              </a:ln>
            </p:spPr>
          </p:sp>
          <p:grpSp>
            <p:nvGrpSpPr>
              <p:cNvPr id="80" name="Group 80"/>
              <p:cNvGrpSpPr/>
              <p:nvPr/>
            </p:nvGrpSpPr>
            <p:grpSpPr>
              <a:xfrm>
                <a:off x="2295525" y="3435350"/>
                <a:ext cx="114300" cy="111125"/>
                <a:chOff x="2295525" y="3435350"/>
                <a:chExt cx="114300" cy="111125"/>
              </a:xfrm>
            </p:grpSpPr>
            <p:sp>
              <p:nvSpPr>
                <p:cNvPr id="76" name="Freeform 76"/>
                <p:cNvSpPr/>
                <p:nvPr/>
              </p:nvSpPr>
              <p:spPr>
                <a:xfrm>
                  <a:off x="2295525" y="34861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76200F"/>
                  </a:solidFill>
                </a:ln>
              </p:spPr>
            </p:sp>
            <p:sp>
              <p:nvSpPr>
                <p:cNvPr id="77" name="Freeform 77"/>
                <p:cNvSpPr/>
                <p:nvPr/>
              </p:nvSpPr>
              <p:spPr>
                <a:xfrm>
                  <a:off x="2371725" y="34607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76200F"/>
                  </a:solidFill>
                </a:ln>
              </p:spPr>
            </p:sp>
            <p:sp>
              <p:nvSpPr>
                <p:cNvPr id="78" name="Freeform 78"/>
                <p:cNvSpPr/>
                <p:nvPr/>
              </p:nvSpPr>
              <p:spPr>
                <a:xfrm>
                  <a:off x="2333625" y="34353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76200F"/>
                  </a:solidFill>
                </a:ln>
              </p:spPr>
            </p:sp>
            <p:sp>
              <p:nvSpPr>
                <p:cNvPr id="79" name="Freeform 79"/>
                <p:cNvSpPr/>
                <p:nvPr/>
              </p:nvSpPr>
              <p:spPr>
                <a:xfrm>
                  <a:off x="2301875" y="3536950"/>
                  <a:ext cx="88900" cy="9525"/>
                </a:xfrm>
                <a:custGeom>
                  <a:avLst/>
                  <a:gdLst/>
                  <a:ahLst/>
                  <a:cxnLst/>
                  <a:rect l="l" t="t" r="r" b="b"/>
                  <a:pathLst>
                    <a:path w="88900" h="9525">
                      <a:moveTo>
                        <a:pt x="0" y="0"/>
                      </a:moveTo>
                      <a:lnTo>
                        <a:pt x="88900" y="0"/>
                      </a:lnTo>
                    </a:path>
                  </a:pathLst>
                </a:custGeom>
                <a:noFill/>
                <a:ln w="12700">
                  <a:solidFill>
                    <a:srgbClr val="76200F"/>
                  </a:solidFill>
                </a:ln>
              </p:spPr>
            </p:sp>
          </p:grpSp>
          <p:sp>
            <p:nvSpPr>
              <p:cNvPr id="81" name="TextBox 81"/>
              <p:cNvSpPr txBox="1"/>
              <p:nvPr/>
            </p:nvSpPr>
            <p:spPr>
              <a:xfrm>
                <a:off x="2481262" y="3443288"/>
                <a:ext cx="942442"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指标库</a:t>
                </a:r>
                <a:r>
                  <a:rPr lang="zh-CN" sz="520" dirty="0">
                    <a:solidFill>
                      <a:srgbClr val="73615E"/>
                    </a:solidFill>
                    <a:latin typeface="+mn-lt"/>
                    <a:ea typeface="+mn-ea"/>
                    <a:cs typeface="+mn-cs"/>
                  </a:rPr>
                  <a:t>（全过程数据指标）</a:t>
                </a:r>
              </a:p>
            </p:txBody>
          </p:sp>
          <p:sp>
            <p:nvSpPr>
              <p:cNvPr id="82" name="TextBox 82"/>
              <p:cNvSpPr txBox="1"/>
              <p:nvPr/>
            </p:nvSpPr>
            <p:spPr>
              <a:xfrm>
                <a:off x="2271712" y="3615928"/>
                <a:ext cx="1067181"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曝光量 / 参与量 / 获客数​​</a:t>
                </a:r>
              </a:p>
              <a:p>
                <a:pPr algn="l" marL="76200" indent="-76200">
                  <a:lnSpc>
                    <a:spcPts val="750"/>
                  </a:lnSpc>
                  <a:buClr>
                    <a:srgbClr val="514340"/>
                  </a:buClr>
                  <a:buSzTx/>
                  <a:buFontTx/>
                  <a:buChar char="•"/>
                </a:pPr>
                <a:r>
                  <a:rPr lang="zh-CN" sz="560" dirty="0">
                    <a:solidFill>
                      <a:srgbClr val="514340"/>
                    </a:solidFill>
                    <a:latin typeface="+mn-lt"/>
                    <a:ea typeface="+mn-ea"/>
                    <a:cs typeface="+mn-cs"/>
                  </a:rPr>
                  <a:t>激活率 / 转化率 / AUM提升​​​</a:t>
                </a:r>
              </a:p>
              <a:p>
                <a:pPr algn="l" marL="76200" indent="-76200">
                  <a:lnSpc>
                    <a:spcPts val="750"/>
                  </a:lnSpc>
                  <a:buClr>
                    <a:srgbClr val="514340"/>
                  </a:buClr>
                  <a:buSzTx/>
                  <a:buFontTx/>
                  <a:buChar char="•"/>
                </a:pPr>
                <a:r>
                  <a:rPr lang="zh-CN" sz="560" dirty="0">
                    <a:solidFill>
                      <a:srgbClr val="514340"/>
                    </a:solidFill>
                    <a:latin typeface="+mn-lt"/>
                    <a:ea typeface="+mn-ea"/>
                    <a:cs typeface="+mn-cs"/>
                  </a:rPr>
                  <a:t>ROI / 客户满意度 / …​​​</a:t>
                </a:r>
              </a:p>
            </p:txBody>
          </p:sp>
          <p:sp>
            <p:nvSpPr>
              <p:cNvPr id="83" name="Rectangle 83"/>
              <p:cNvSpPr/>
              <p:nvPr/>
            </p:nvSpPr>
            <p:spPr>
              <a:xfrm>
                <a:off x="2276475" y="4019550"/>
                <a:ext cx="1143000" cy="133350"/>
              </a:xfrm>
              <a:prstGeom prst="roundRect">
                <a:avLst>
                  <a:gd name="adj" fmla="val 50000"/>
                </a:avLst>
              </a:prstGeom>
              <a:solidFill>
                <a:srgbClr val="76200F"/>
              </a:solidFill>
              <a:ln>
                <a:noFill/>
              </a:ln>
            </p:spPr>
          </p:sp>
          <p:sp>
            <p:nvSpPr>
              <p:cNvPr id="84" name="TextBox 84"/>
              <p:cNvSpPr txBox="1"/>
              <p:nvPr/>
            </p:nvSpPr>
            <p:spPr>
              <a:xfrm>
                <a:off x="2571724" y="4054078"/>
                <a:ext cx="552501"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指标模板 20+​​</a:t>
                </a:r>
              </a:p>
            </p:txBody>
          </p:sp>
          <p:sp>
            <p:nvSpPr>
              <p:cNvPr id="85" name="Rectangle 85"/>
              <p:cNvSpPr/>
              <p:nvPr/>
            </p:nvSpPr>
            <p:spPr>
              <a:xfrm>
                <a:off x="4057650" y="3333750"/>
                <a:ext cx="1619250" cy="876300"/>
              </a:xfrm>
              <a:prstGeom prst="roundRect">
                <a:avLst>
                  <a:gd name="adj" fmla="val 6522"/>
                </a:avLst>
              </a:prstGeom>
              <a:solidFill>
                <a:srgbClr val="F0FAF8"/>
              </a:solidFill>
              <a:ln w="9525">
                <a:solidFill>
                  <a:srgbClr val="C2E0DA"/>
                </a:solidFill>
              </a:ln>
            </p:spPr>
          </p:sp>
          <p:grpSp>
            <p:nvGrpSpPr>
              <p:cNvPr id="89" name="Group 89"/>
              <p:cNvGrpSpPr/>
              <p:nvPr/>
            </p:nvGrpSpPr>
            <p:grpSpPr>
              <a:xfrm>
                <a:off x="4159249" y="3432247"/>
                <a:ext cx="104694" cy="107792"/>
                <a:chOff x="4159249" y="3432247"/>
                <a:chExt cx="104694" cy="107792"/>
              </a:xfrm>
            </p:grpSpPr>
            <p:sp>
              <p:nvSpPr>
                <p:cNvPr id="86" name="Freeform 86"/>
                <p:cNvSpPr/>
                <p:nvPr/>
              </p:nvSpPr>
              <p:spPr>
                <a:xfrm>
                  <a:off x="4191000" y="3467100"/>
                  <a:ext cx="38100" cy="38100"/>
                </a:xfrm>
                <a:custGeom>
                  <a:avLst/>
                  <a:gdLst/>
                  <a:ahLst/>
                  <a:cxnLst/>
                  <a:rect l="l" t="t" r="r" b="b"/>
                  <a:pathLst>
                    <a:path w="38100" h="38100">
                      <a:moveTo>
                        <a:pt x="0" y="38100"/>
                      </a:moveTo>
                      <a:lnTo>
                        <a:pt x="38100" y="0"/>
                      </a:lnTo>
                    </a:path>
                  </a:pathLst>
                </a:custGeom>
                <a:noFill/>
                <a:ln w="12700">
                  <a:solidFill>
                    <a:srgbClr val="76200F"/>
                  </a:solidFill>
                </a:ln>
              </p:spPr>
            </p:sp>
            <p:sp>
              <p:nvSpPr>
                <p:cNvPr id="87" name="Freeform 87"/>
                <p:cNvSpPr/>
                <p:nvPr/>
              </p:nvSpPr>
              <p:spPr>
                <a:xfrm>
                  <a:off x="4203700" y="3432247"/>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76200F"/>
                  </a:solidFill>
                </a:ln>
              </p:spPr>
            </p:sp>
            <p:sp>
              <p:nvSpPr>
                <p:cNvPr id="88" name="Freeform 88"/>
                <p:cNvSpPr/>
                <p:nvPr/>
              </p:nvSpPr>
              <p:spPr>
                <a:xfrm>
                  <a:off x="4159249" y="3479800"/>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76200F"/>
                  </a:solidFill>
                </a:ln>
              </p:spPr>
            </p:sp>
          </p:grpSp>
          <p:sp>
            <p:nvSpPr>
              <p:cNvPr id="90" name="TextBox 90"/>
              <p:cNvSpPr txBox="1"/>
              <p:nvPr/>
            </p:nvSpPr>
            <p:spPr>
              <a:xfrm>
                <a:off x="4338638" y="3443288"/>
                <a:ext cx="1074369"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合作伙伴库</a:t>
                </a:r>
                <a:r>
                  <a:rPr lang="zh-CN" sz="520" dirty="0">
                    <a:solidFill>
                      <a:srgbClr val="73615E"/>
                    </a:solidFill>
                    <a:latin typeface="+mn-lt"/>
                    <a:ea typeface="+mn-ea"/>
                    <a:cs typeface="+mn-cs"/>
                  </a:rPr>
                  <a:t>（生态伙伴资源）</a:t>
                </a:r>
              </a:p>
            </p:txBody>
          </p:sp>
          <p:sp>
            <p:nvSpPr>
              <p:cNvPr id="91" name="TextBox 91"/>
              <p:cNvSpPr txBox="1"/>
              <p:nvPr/>
            </p:nvSpPr>
            <p:spPr>
              <a:xfrm>
                <a:off x="4129088" y="3615928"/>
                <a:ext cx="956945" cy="30241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商圈物业 / 社区居委会​​</a:t>
                </a:r>
              </a:p>
              <a:p>
                <a:pPr algn="l" marL="76200" indent="-76200">
                  <a:lnSpc>
                    <a:spcPts val="750"/>
                  </a:lnSpc>
                  <a:buClr>
                    <a:srgbClr val="514340"/>
                  </a:buClr>
                  <a:buSzTx/>
                  <a:buFontTx/>
                  <a:buChar char="•"/>
                </a:pPr>
                <a:r>
                  <a:rPr lang="zh-CN" sz="560" dirty="0">
                    <a:solidFill>
                      <a:srgbClr val="514340"/>
                    </a:solidFill>
                    <a:latin typeface="+mn-lt"/>
                    <a:ea typeface="+mn-ea"/>
                    <a:cs typeface="+mn-cs"/>
                  </a:rPr>
                  <a:t>品牌商户 / 生活服务平台​​</a:t>
                </a:r>
              </a:p>
              <a:p>
                <a:pPr algn="l" marL="76200" indent="-76200">
                  <a:lnSpc>
                    <a:spcPts val="750"/>
                  </a:lnSpc>
                  <a:buClr>
                    <a:srgbClr val="514340"/>
                  </a:buClr>
                  <a:buSzTx/>
                  <a:buFontTx/>
                  <a:buChar char="•"/>
                </a:pPr>
                <a:r>
                  <a:rPr lang="zh-CN" sz="560" dirty="0">
                    <a:solidFill>
                      <a:srgbClr val="514340"/>
                    </a:solidFill>
                    <a:latin typeface="+mn-lt"/>
                    <a:ea typeface="+mn-ea"/>
                    <a:cs typeface="+mn-cs"/>
                  </a:rPr>
                  <a:t>媒体平台 / 公益机构 / …​​</a:t>
                </a:r>
              </a:p>
            </p:txBody>
          </p:sp>
          <p:sp>
            <p:nvSpPr>
              <p:cNvPr id="92" name="Rectangle 92"/>
              <p:cNvSpPr/>
              <p:nvPr/>
            </p:nvSpPr>
            <p:spPr>
              <a:xfrm>
                <a:off x="4133850" y="4019550"/>
                <a:ext cx="1143000" cy="133350"/>
              </a:xfrm>
              <a:prstGeom prst="roundRect">
                <a:avLst>
                  <a:gd name="adj" fmla="val 50000"/>
                </a:avLst>
              </a:prstGeom>
              <a:solidFill>
                <a:srgbClr val="76200F"/>
              </a:solidFill>
              <a:ln>
                <a:noFill/>
              </a:ln>
            </p:spPr>
          </p:sp>
          <p:sp>
            <p:nvSpPr>
              <p:cNvPr id="93" name="TextBox 93"/>
              <p:cNvSpPr txBox="1"/>
              <p:nvPr/>
            </p:nvSpPr>
            <p:spPr>
              <a:xfrm>
                <a:off x="4407331" y="4054078"/>
                <a:ext cx="596037"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合作伙伴 100+​​</a:t>
                </a:r>
              </a:p>
            </p:txBody>
          </p:sp>
        </p:grpSp>
      </p:grpSp>
      <p:grpSp>
        <p:nvGrpSpPr>
          <p:cNvPr id="140" name="roadmap90"/>
          <p:cNvGrpSpPr/>
          <p:nvPr/>
        </p:nvGrpSpPr>
        <p:grpSpPr>
          <a:xfrm>
            <a:off x="5748338" y="717947"/>
            <a:ext cx="6081712" cy="3358753"/>
            <a:chOff x="5748338" y="717947"/>
            <a:chExt cx="6081712" cy="3358753"/>
          </a:xfrm>
        </p:grpSpPr>
        <p:sp>
          <p:nvSpPr>
            <p:cNvPr id="96" name="TextBox 96"/>
            <p:cNvSpPr txBox="1"/>
            <p:nvPr/>
          </p:nvSpPr>
          <p:spPr>
            <a:xfrm>
              <a:off x="5748338" y="717947"/>
              <a:ext cx="2506531"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90天落地路线图：从标准到复制，分步推进​</a:t>
              </a:r>
            </a:p>
          </p:txBody>
        </p:sp>
        <p:sp>
          <p:nvSpPr>
            <p:cNvPr id="97" name="Freeform 97"/>
            <p:cNvSpPr/>
            <p:nvPr/>
          </p:nvSpPr>
          <p:spPr>
            <a:xfrm>
              <a:off x="6362700" y="952500"/>
              <a:ext cx="1790700" cy="285750"/>
            </a:xfrm>
            <a:prstGeom prst="chevron">
              <a:avLst/>
            </a:prstGeom>
            <a:solidFill>
              <a:srgbClr val="5D190B"/>
            </a:solidFill>
            <a:ln>
              <a:noFill/>
            </a:ln>
          </p:spPr>
        </p:sp>
        <p:sp>
          <p:nvSpPr>
            <p:cNvPr id="98" name="TextBox 98"/>
            <p:cNvSpPr txBox="1"/>
            <p:nvPr/>
          </p:nvSpPr>
          <p:spPr>
            <a:xfrm>
              <a:off x="7065983" y="985838"/>
              <a:ext cx="460334"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0-30天​​</a:t>
              </a:r>
            </a:p>
          </p:txBody>
        </p:sp>
        <p:sp>
          <p:nvSpPr>
            <p:cNvPr id="99" name="TextBox 99"/>
            <p:cNvSpPr txBox="1"/>
            <p:nvPr/>
          </p:nvSpPr>
          <p:spPr>
            <a:xfrm>
              <a:off x="7108304" y="1108234"/>
              <a:ext cx="37569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标准建立</a:t>
              </a:r>
            </a:p>
          </p:txBody>
        </p:sp>
        <p:sp>
          <p:nvSpPr>
            <p:cNvPr id="100" name="Freeform 100"/>
            <p:cNvSpPr/>
            <p:nvPr/>
          </p:nvSpPr>
          <p:spPr>
            <a:xfrm>
              <a:off x="8191500" y="952500"/>
              <a:ext cx="1790700" cy="285750"/>
            </a:xfrm>
            <a:prstGeom prst="chevron">
              <a:avLst/>
            </a:prstGeom>
            <a:solidFill>
              <a:srgbClr val="852512"/>
            </a:solidFill>
            <a:ln>
              <a:noFill/>
            </a:ln>
          </p:spPr>
        </p:sp>
        <p:sp>
          <p:nvSpPr>
            <p:cNvPr id="101" name="TextBox 101"/>
            <p:cNvSpPr txBox="1"/>
            <p:nvPr/>
          </p:nvSpPr>
          <p:spPr>
            <a:xfrm>
              <a:off x="8865629" y="985838"/>
              <a:ext cx="51864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31-60天​​</a:t>
              </a:r>
            </a:p>
          </p:txBody>
        </p:sp>
        <p:sp>
          <p:nvSpPr>
            <p:cNvPr id="102" name="TextBox 102"/>
            <p:cNvSpPr txBox="1"/>
            <p:nvPr/>
          </p:nvSpPr>
          <p:spPr>
            <a:xfrm>
              <a:off x="8891334" y="1108234"/>
              <a:ext cx="467233"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双场景试点</a:t>
              </a:r>
            </a:p>
          </p:txBody>
        </p:sp>
        <p:sp>
          <p:nvSpPr>
            <p:cNvPr id="103" name="Freeform 103"/>
            <p:cNvSpPr/>
            <p:nvPr/>
          </p:nvSpPr>
          <p:spPr>
            <a:xfrm>
              <a:off x="10020300" y="952500"/>
              <a:ext cx="1809750" cy="285750"/>
            </a:xfrm>
            <a:prstGeom prst="chevron">
              <a:avLst/>
            </a:prstGeom>
            <a:solidFill>
              <a:srgbClr val="A3422F"/>
            </a:solidFill>
            <a:ln>
              <a:noFill/>
            </a:ln>
          </p:spPr>
        </p:sp>
        <p:sp>
          <p:nvSpPr>
            <p:cNvPr id="104" name="TextBox 104"/>
            <p:cNvSpPr txBox="1"/>
            <p:nvPr/>
          </p:nvSpPr>
          <p:spPr>
            <a:xfrm>
              <a:off x="10694429" y="985838"/>
              <a:ext cx="51864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61-90天​​</a:t>
              </a:r>
            </a:p>
          </p:txBody>
        </p:sp>
        <p:sp>
          <p:nvSpPr>
            <p:cNvPr id="105" name="TextBox 105"/>
            <p:cNvSpPr txBox="1"/>
            <p:nvPr/>
          </p:nvSpPr>
          <p:spPr>
            <a:xfrm>
              <a:off x="10765904" y="1108234"/>
              <a:ext cx="37569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规模复制</a:t>
              </a:r>
            </a:p>
          </p:txBody>
        </p:sp>
        <p:sp>
          <p:nvSpPr>
            <p:cNvPr id="106" name="TextBox 106"/>
            <p:cNvSpPr txBox="1"/>
            <p:nvPr/>
          </p:nvSpPr>
          <p:spPr>
            <a:xfrm>
              <a:off x="6952145" y="1310878"/>
              <a:ext cx="688010"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输出标准，打好基础</a:t>
              </a:r>
            </a:p>
          </p:txBody>
        </p:sp>
        <p:sp>
          <p:nvSpPr>
            <p:cNvPr id="107" name="TextBox 107"/>
            <p:cNvSpPr txBox="1"/>
            <p:nvPr/>
          </p:nvSpPr>
          <p:spPr>
            <a:xfrm>
              <a:off x="8780945" y="1310878"/>
              <a:ext cx="688010"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验证模式，优化迭代</a:t>
              </a:r>
            </a:p>
          </p:txBody>
        </p:sp>
        <p:sp>
          <p:nvSpPr>
            <p:cNvPr id="108" name="TextBox 108"/>
            <p:cNvSpPr txBox="1"/>
            <p:nvPr/>
          </p:nvSpPr>
          <p:spPr>
            <a:xfrm>
              <a:off x="10609745" y="1310878"/>
              <a:ext cx="688010" cy="111919"/>
            </a:xfrm>
            <a:prstGeom prst="rect">
              <a:avLst/>
            </a:prstGeom>
            <a:noFill/>
            <a:ln>
              <a:noFill/>
            </a:ln>
          </p:spPr>
          <p:txBody>
            <a:bodyPr wrap="none" lIns="0" tIns="0" rIns="0" bIns="0" anchor="t" anchorCtr="0">
              <a:spAutoFit/>
            </a:bodyPr>
            <a:lstStyle/>
            <a:p>
              <a:pPr algn="ctr"/>
              <a:r>
                <a:rPr lang="zh-CN" sz="560" dirty="0">
                  <a:solidFill>
                    <a:srgbClr val="73615E"/>
                  </a:solidFill>
                  <a:latin typeface="+mn-lt"/>
                  <a:ea typeface="+mn-ea"/>
                  <a:cs typeface="+mn-cs"/>
                </a:rPr>
                <a:t>扩大覆盖，形成规模</a:t>
              </a:r>
            </a:p>
          </p:txBody>
        </p:sp>
        <p:grpSp>
          <p:nvGrpSpPr>
            <p:cNvPr id="139" name="roadmap-rows"/>
            <p:cNvGrpSpPr/>
            <p:nvPr/>
          </p:nvGrpSpPr>
          <p:grpSpPr>
            <a:xfrm>
              <a:off x="5753100" y="1428750"/>
              <a:ext cx="6076950" cy="2647950"/>
              <a:chOff x="5753100" y="1428750"/>
              <a:chExt cx="6076950" cy="2647950"/>
            </a:xfrm>
          </p:grpSpPr>
          <p:sp>
            <p:nvSpPr>
              <p:cNvPr id="109" name="Rectangle 109"/>
              <p:cNvSpPr/>
              <p:nvPr/>
            </p:nvSpPr>
            <p:spPr>
              <a:xfrm>
                <a:off x="5753100" y="1428750"/>
                <a:ext cx="6076950" cy="342900"/>
              </a:xfrm>
              <a:prstGeom prst="rect">
                <a:avLst/>
              </a:prstGeom>
              <a:solidFill>
                <a:srgbClr val="FFFFFF"/>
              </a:solidFill>
              <a:ln w="9525">
                <a:solidFill>
                  <a:srgbClr val="E2EEEB"/>
                </a:solidFill>
              </a:ln>
            </p:spPr>
          </p:sp>
          <p:sp>
            <p:nvSpPr>
              <p:cNvPr id="110" name="TextBox 110"/>
              <p:cNvSpPr txBox="1"/>
              <p:nvPr/>
            </p:nvSpPr>
            <p:spPr>
              <a:xfrm>
                <a:off x="5872544" y="1564005"/>
                <a:ext cx="332613"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阶段目标</a:t>
                </a:r>
              </a:p>
            </p:txBody>
          </p:sp>
          <p:sp>
            <p:nvSpPr>
              <p:cNvPr id="111" name="TextBox 111"/>
              <p:cNvSpPr txBox="1"/>
              <p:nvPr/>
            </p:nvSpPr>
            <p:spPr>
              <a:xfrm>
                <a:off x="6396038" y="1501378"/>
                <a:ext cx="79184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建立活动工厂标准体系</a:t>
                </a:r>
                <a:br/>
                <a:r>
                  <a:rPr lang="zh-CN" sz="560" dirty="0">
                    <a:solidFill>
                      <a:srgbClr val="514340"/>
                    </a:solidFill>
                    <a:latin typeface="+mn-lt"/>
                    <a:ea typeface="+mn-ea"/>
                    <a:cs typeface="+mn-cs"/>
                  </a:rPr>
                  <a:t>完成资源整合与接入机制</a:t>
                </a:r>
              </a:p>
            </p:txBody>
          </p:sp>
          <p:sp>
            <p:nvSpPr>
              <p:cNvPr id="112" name="TextBox 112"/>
              <p:cNvSpPr txBox="1"/>
              <p:nvPr/>
            </p:nvSpPr>
            <p:spPr>
              <a:xfrm>
                <a:off x="8224838" y="1501378"/>
                <a:ext cx="100520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在商圈 + 园区双场景​​</a:t>
                </a:r>
                <a:br/>
                <a:r>
                  <a:rPr lang="zh-CN" sz="560" dirty="0">
                    <a:solidFill>
                      <a:srgbClr val="514340"/>
                    </a:solidFill>
                    <a:latin typeface="+mn-lt"/>
                    <a:ea typeface="+mn-ea"/>
                    <a:cs typeface="+mn-cs"/>
                  </a:rPr>
                  <a:t>开展试点，验证活动模式与效果</a:t>
                </a:r>
              </a:p>
            </p:txBody>
          </p:sp>
          <p:sp>
            <p:nvSpPr>
              <p:cNvPr id="113" name="TextBox 113"/>
              <p:cNvSpPr txBox="1"/>
              <p:nvPr/>
            </p:nvSpPr>
            <p:spPr>
              <a:xfrm>
                <a:off x="10053638" y="1501378"/>
                <a:ext cx="114744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在3家支行10个网点​​</a:t>
                </a:r>
                <a:br/>
                <a:r>
                  <a:rPr lang="zh-CN" sz="560" dirty="0">
                    <a:solidFill>
                      <a:srgbClr val="514340"/>
                    </a:solidFill>
                    <a:latin typeface="+mn-lt"/>
                    <a:ea typeface="+mn-ea"/>
                    <a:cs typeface="+mn-cs"/>
                  </a:rPr>
                  <a:t>全面复制推广，形成常态化生态运营</a:t>
                </a:r>
              </a:p>
            </p:txBody>
          </p:sp>
          <p:sp>
            <p:nvSpPr>
              <p:cNvPr id="114" name="Rectangle 114"/>
              <p:cNvSpPr/>
              <p:nvPr/>
            </p:nvSpPr>
            <p:spPr>
              <a:xfrm>
                <a:off x="5753100" y="1771650"/>
                <a:ext cx="6076950" cy="571500"/>
              </a:xfrm>
              <a:prstGeom prst="rect">
                <a:avLst/>
              </a:prstGeom>
              <a:solidFill>
                <a:srgbClr val="EFF8F6"/>
              </a:solidFill>
              <a:ln w="9525">
                <a:solidFill>
                  <a:srgbClr val="E2EEEB"/>
                </a:solidFill>
              </a:ln>
            </p:spPr>
          </p:sp>
          <p:sp>
            <p:nvSpPr>
              <p:cNvPr id="115" name="TextBox 115"/>
              <p:cNvSpPr txBox="1"/>
              <p:nvPr/>
            </p:nvSpPr>
            <p:spPr>
              <a:xfrm>
                <a:off x="5872544" y="2021205"/>
                <a:ext cx="332613"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关键动作</a:t>
                </a:r>
              </a:p>
            </p:txBody>
          </p:sp>
          <p:sp>
            <p:nvSpPr>
              <p:cNvPr id="116" name="TextBox 116"/>
              <p:cNvSpPr txBox="1"/>
              <p:nvPr/>
            </p:nvSpPr>
            <p:spPr>
              <a:xfrm>
                <a:off x="6396038" y="1834753"/>
                <a:ext cx="1049401" cy="39766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梳理六大资产库内容与标准​</a:t>
                </a:r>
              </a:p>
              <a:p>
                <a:pPr algn="l" marL="76200" indent="-76200">
                  <a:lnSpc>
                    <a:spcPts val="750"/>
                  </a:lnSpc>
                  <a:buClr>
                    <a:srgbClr val="514340"/>
                  </a:buClr>
                  <a:buSzTx/>
                  <a:buFontTx/>
                  <a:buChar char="•"/>
                </a:pPr>
                <a:r>
                  <a:rPr lang="zh-CN" sz="560" dirty="0">
                    <a:solidFill>
                      <a:srgbClr val="514340"/>
                    </a:solidFill>
                    <a:latin typeface="+mn-lt"/>
                    <a:ea typeface="+mn-ea"/>
                    <a:cs typeface="+mn-cs"/>
                  </a:rPr>
                  <a:t>制定活动SOP与模板​​</a:t>
                </a:r>
              </a:p>
              <a:p>
                <a:pPr algn="l" marL="76200" indent="-76200">
                  <a:lnSpc>
                    <a:spcPts val="750"/>
                  </a:lnSpc>
                  <a:buClr>
                    <a:srgbClr val="514340"/>
                  </a:buClr>
                  <a:buSzTx/>
                  <a:buFontTx/>
                  <a:buChar char="•"/>
                </a:pPr>
                <a:r>
                  <a:rPr lang="zh-CN" sz="560" dirty="0">
                    <a:solidFill>
                      <a:srgbClr val="514340"/>
                    </a:solidFill>
                    <a:latin typeface="+mn-lt"/>
                    <a:ea typeface="+mn-ea"/>
                    <a:cs typeface="+mn-cs"/>
                  </a:rPr>
                  <a:t>建立合作伙伴准入与评估机制​</a:t>
                </a:r>
              </a:p>
              <a:p>
                <a:pPr algn="l" marL="76200" indent="-76200">
                  <a:lnSpc>
                    <a:spcPts val="750"/>
                  </a:lnSpc>
                  <a:buClr>
                    <a:srgbClr val="514340"/>
                  </a:buClr>
                  <a:buSzTx/>
                  <a:buFontTx/>
                  <a:buChar char="•"/>
                </a:pPr>
                <a:r>
                  <a:rPr lang="zh-CN" sz="560" dirty="0">
                    <a:solidFill>
                      <a:srgbClr val="514340"/>
                    </a:solidFill>
                    <a:latin typeface="+mn-lt"/>
                    <a:ea typeface="+mn-ea"/>
                    <a:cs typeface="+mn-cs"/>
                  </a:rPr>
                  <a:t>明确核心指标口径​</a:t>
                </a:r>
              </a:p>
            </p:txBody>
          </p:sp>
          <p:sp>
            <p:nvSpPr>
              <p:cNvPr id="117" name="TextBox 117"/>
              <p:cNvSpPr txBox="1"/>
              <p:nvPr/>
            </p:nvSpPr>
            <p:spPr>
              <a:xfrm>
                <a:off x="8224838" y="1834753"/>
                <a:ext cx="1308989" cy="39766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落地2场线下主题活动（商圈/园区）​​</a:t>
                </a:r>
              </a:p>
              <a:p>
                <a:pPr algn="l" marL="76200" indent="-76200">
                  <a:lnSpc>
                    <a:spcPts val="750"/>
                  </a:lnSpc>
                  <a:buClr>
                    <a:srgbClr val="514340"/>
                  </a:buClr>
                  <a:buSzTx/>
                  <a:buFontTx/>
                  <a:buChar char="•"/>
                </a:pPr>
                <a:r>
                  <a:rPr lang="zh-CN" sz="560" dirty="0">
                    <a:solidFill>
                      <a:srgbClr val="514340"/>
                    </a:solidFill>
                    <a:latin typeface="+mn-lt"/>
                    <a:ea typeface="+mn-ea"/>
                    <a:cs typeface="+mn-cs"/>
                  </a:rPr>
                  <a:t>同步开展线上联动运营​</a:t>
                </a:r>
              </a:p>
              <a:p>
                <a:pPr algn="l" marL="76200" indent="-76200">
                  <a:lnSpc>
                    <a:spcPts val="750"/>
                  </a:lnSpc>
                  <a:buClr>
                    <a:srgbClr val="514340"/>
                  </a:buClr>
                  <a:buSzTx/>
                  <a:buFontTx/>
                  <a:buChar char="•"/>
                </a:pPr>
                <a:r>
                  <a:rPr lang="zh-CN" sz="560" dirty="0">
                    <a:solidFill>
                      <a:srgbClr val="514340"/>
                    </a:solidFill>
                    <a:latin typeface="+mn-lt"/>
                    <a:ea typeface="+mn-ea"/>
                    <a:cs typeface="+mn-cs"/>
                  </a:rPr>
                  <a:t>全流程数据跟踪与分析​</a:t>
                </a:r>
              </a:p>
              <a:p>
                <a:pPr algn="l" marL="76200" indent="-76200">
                  <a:lnSpc>
                    <a:spcPts val="750"/>
                  </a:lnSpc>
                  <a:buClr>
                    <a:srgbClr val="514340"/>
                  </a:buClr>
                  <a:buSzTx/>
                  <a:buFontTx/>
                  <a:buChar char="•"/>
                </a:pPr>
                <a:r>
                  <a:rPr lang="zh-CN" sz="560" dirty="0">
                    <a:solidFill>
                      <a:srgbClr val="514340"/>
                    </a:solidFill>
                    <a:latin typeface="+mn-lt"/>
                    <a:ea typeface="+mn-ea"/>
                    <a:cs typeface="+mn-cs"/>
                  </a:rPr>
                  <a:t>优化活动内容与资源配置​</a:t>
                </a:r>
              </a:p>
            </p:txBody>
          </p:sp>
          <p:sp>
            <p:nvSpPr>
              <p:cNvPr id="118" name="TextBox 118"/>
              <p:cNvSpPr txBox="1"/>
              <p:nvPr/>
            </p:nvSpPr>
            <p:spPr>
              <a:xfrm>
                <a:off x="10053638" y="1834753"/>
                <a:ext cx="921385" cy="39766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扩大至3家支行10个网点​​</a:t>
                </a:r>
              </a:p>
              <a:p>
                <a:pPr algn="l" marL="76200" indent="-76200">
                  <a:lnSpc>
                    <a:spcPts val="750"/>
                  </a:lnSpc>
                  <a:buClr>
                    <a:srgbClr val="514340"/>
                  </a:buClr>
                  <a:buSzTx/>
                  <a:buFontTx/>
                  <a:buChar char="•"/>
                </a:pPr>
                <a:r>
                  <a:rPr lang="zh-CN" sz="560" dirty="0">
                    <a:solidFill>
                      <a:srgbClr val="514340"/>
                    </a:solidFill>
                    <a:latin typeface="+mn-lt"/>
                    <a:ea typeface="+mn-ea"/>
                    <a:cs typeface="+mn-cs"/>
                  </a:rPr>
                  <a:t>培训赛马与优胜方案​</a:t>
                </a:r>
              </a:p>
              <a:p>
                <a:pPr algn="l" marL="76200" indent="-76200">
                  <a:lnSpc>
                    <a:spcPts val="750"/>
                  </a:lnSpc>
                  <a:buClr>
                    <a:srgbClr val="514340"/>
                  </a:buClr>
                  <a:buSzTx/>
                  <a:buFontTx/>
                  <a:buChar char="•"/>
                </a:pPr>
                <a:r>
                  <a:rPr lang="zh-CN" sz="560" dirty="0">
                    <a:solidFill>
                      <a:srgbClr val="514340"/>
                    </a:solidFill>
                    <a:latin typeface="+mn-lt"/>
                    <a:ea typeface="+mn-ea"/>
                    <a:cs typeface="+mn-cs"/>
                  </a:rPr>
                  <a:t>完善数据看板与运营机制​</a:t>
                </a:r>
              </a:p>
              <a:p>
                <a:pPr algn="l" marL="76200" indent="-76200">
                  <a:lnSpc>
                    <a:spcPts val="750"/>
                  </a:lnSpc>
                  <a:buClr>
                    <a:srgbClr val="514340"/>
                  </a:buClr>
                  <a:buSzTx/>
                  <a:buFontTx/>
                  <a:buChar char="•"/>
                </a:pPr>
                <a:r>
                  <a:rPr lang="zh-CN" sz="560" dirty="0">
                    <a:solidFill>
                      <a:srgbClr val="514340"/>
                    </a:solidFill>
                    <a:latin typeface="+mn-lt"/>
                    <a:ea typeface="+mn-ea"/>
                    <a:cs typeface="+mn-cs"/>
                  </a:rPr>
                  <a:t>总结标准打法并推广​</a:t>
                </a:r>
              </a:p>
            </p:txBody>
          </p:sp>
          <p:sp>
            <p:nvSpPr>
              <p:cNvPr id="119" name="Rectangle 119"/>
              <p:cNvSpPr/>
              <p:nvPr/>
            </p:nvSpPr>
            <p:spPr>
              <a:xfrm>
                <a:off x="5753100" y="2343150"/>
                <a:ext cx="6076950" cy="571500"/>
              </a:xfrm>
              <a:prstGeom prst="rect">
                <a:avLst/>
              </a:prstGeom>
              <a:solidFill>
                <a:srgbClr val="FFFFFF"/>
              </a:solidFill>
              <a:ln w="9525">
                <a:solidFill>
                  <a:srgbClr val="E2EEEB"/>
                </a:solidFill>
              </a:ln>
            </p:spPr>
          </p:sp>
          <p:sp>
            <p:nvSpPr>
              <p:cNvPr id="120" name="TextBox 120"/>
              <p:cNvSpPr txBox="1"/>
              <p:nvPr/>
            </p:nvSpPr>
            <p:spPr>
              <a:xfrm>
                <a:off x="5872544" y="2592705"/>
                <a:ext cx="332613"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交付成果</a:t>
                </a:r>
              </a:p>
            </p:txBody>
          </p:sp>
          <p:sp>
            <p:nvSpPr>
              <p:cNvPr id="121" name="TextBox 121"/>
              <p:cNvSpPr txBox="1"/>
              <p:nvPr/>
            </p:nvSpPr>
            <p:spPr>
              <a:xfrm>
                <a:off x="6396038" y="2406253"/>
                <a:ext cx="1237869" cy="39766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《活动工厂运营手册》​</a:t>
                </a:r>
              </a:p>
              <a:p>
                <a:pPr algn="l" marL="76200" indent="-76200">
                  <a:lnSpc>
                    <a:spcPts val="750"/>
                  </a:lnSpc>
                  <a:buClr>
                    <a:srgbClr val="514340"/>
                  </a:buClr>
                  <a:buSzTx/>
                  <a:buFontTx/>
                  <a:buChar char="•"/>
                </a:pPr>
                <a:r>
                  <a:rPr lang="zh-CN" sz="560" dirty="0">
                    <a:solidFill>
                      <a:srgbClr val="514340"/>
                    </a:solidFill>
                    <a:latin typeface="+mn-lt"/>
                    <a:ea typeface="+mn-ea"/>
                    <a:cs typeface="+mn-cs"/>
                  </a:rPr>
                  <a:t>标准化模板包（物料/话术/流程）​​</a:t>
                </a:r>
              </a:p>
              <a:p>
                <a:pPr algn="l" marL="76200" indent="-76200">
                  <a:lnSpc>
                    <a:spcPts val="750"/>
                  </a:lnSpc>
                  <a:buClr>
                    <a:srgbClr val="514340"/>
                  </a:buClr>
                  <a:buSzTx/>
                  <a:buFontTx/>
                  <a:buChar char="•"/>
                </a:pPr>
                <a:r>
                  <a:rPr lang="zh-CN" sz="560" dirty="0">
                    <a:solidFill>
                      <a:srgbClr val="514340"/>
                    </a:solidFill>
                    <a:latin typeface="+mn-lt"/>
                    <a:ea typeface="+mn-ea"/>
                    <a:cs typeface="+mn-cs"/>
                  </a:rPr>
                  <a:t>合作方准入清单​</a:t>
                </a:r>
              </a:p>
              <a:p>
                <a:pPr algn="l" marL="76200" indent="-76200">
                  <a:lnSpc>
                    <a:spcPts val="750"/>
                  </a:lnSpc>
                  <a:buClr>
                    <a:srgbClr val="514340"/>
                  </a:buClr>
                  <a:buSzTx/>
                  <a:buFontTx/>
                  <a:buChar char="•"/>
                </a:pPr>
                <a:r>
                  <a:rPr lang="zh-CN" sz="560" dirty="0">
                    <a:solidFill>
                      <a:srgbClr val="514340"/>
                    </a:solidFill>
                    <a:latin typeface="+mn-lt"/>
                    <a:ea typeface="+mn-ea"/>
                    <a:cs typeface="+mn-cs"/>
                  </a:rPr>
                  <a:t>指标体系与数据看板（1.0）​​</a:t>
                </a:r>
              </a:p>
            </p:txBody>
          </p:sp>
          <p:sp>
            <p:nvSpPr>
              <p:cNvPr id="122" name="TextBox 122"/>
              <p:cNvSpPr txBox="1"/>
              <p:nvPr/>
            </p:nvSpPr>
            <p:spPr>
              <a:xfrm>
                <a:off x="8224838" y="2406253"/>
                <a:ext cx="992505" cy="39766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2场标杆活动执行报告​</a:t>
                </a:r>
              </a:p>
              <a:p>
                <a:pPr algn="l" marL="76200" indent="-76200">
                  <a:lnSpc>
                    <a:spcPts val="750"/>
                  </a:lnSpc>
                  <a:buClr>
                    <a:srgbClr val="514340"/>
                  </a:buClr>
                  <a:buSzTx/>
                  <a:buFontTx/>
                  <a:buChar char="•"/>
                </a:pPr>
                <a:r>
                  <a:rPr lang="zh-CN" sz="560" dirty="0">
                    <a:solidFill>
                      <a:srgbClr val="514340"/>
                    </a:solidFill>
                    <a:latin typeface="+mn-lt"/>
                    <a:ea typeface="+mn-ea"/>
                    <a:cs typeface="+mn-cs"/>
                  </a:rPr>
                  <a:t>线上引流与转化数据分析​</a:t>
                </a:r>
              </a:p>
              <a:p>
                <a:pPr algn="l" marL="76200" indent="-76200">
                  <a:lnSpc>
                    <a:spcPts val="750"/>
                  </a:lnSpc>
                  <a:buClr>
                    <a:srgbClr val="514340"/>
                  </a:buClr>
                  <a:buSzTx/>
                  <a:buFontTx/>
                  <a:buChar char="•"/>
                </a:pPr>
                <a:r>
                  <a:rPr lang="zh-CN" sz="560" dirty="0">
                    <a:solidFill>
                      <a:srgbClr val="514340"/>
                    </a:solidFill>
                    <a:latin typeface="+mn-lt"/>
                    <a:ea typeface="+mn-ea"/>
                    <a:cs typeface="+mn-cs"/>
                  </a:rPr>
                  <a:t>客户反馈与优化建议​</a:t>
                </a:r>
              </a:p>
              <a:p>
                <a:pPr algn="l" marL="76200" indent="-76200">
                  <a:lnSpc>
                    <a:spcPts val="750"/>
                  </a:lnSpc>
                  <a:buClr>
                    <a:srgbClr val="514340"/>
                  </a:buClr>
                  <a:buSzTx/>
                  <a:buFontTx/>
                  <a:buChar char="•"/>
                </a:pPr>
                <a:r>
                  <a:rPr lang="zh-CN" sz="560" dirty="0">
                    <a:solidFill>
                      <a:srgbClr val="514340"/>
                    </a:solidFill>
                    <a:latin typeface="+mn-lt"/>
                    <a:ea typeface="+mn-ea"/>
                    <a:cs typeface="+mn-cs"/>
                  </a:rPr>
                  <a:t>可复制的活动模板（2.0）​​</a:t>
                </a:r>
              </a:p>
            </p:txBody>
          </p:sp>
          <p:sp>
            <p:nvSpPr>
              <p:cNvPr id="123" name="TextBox 123"/>
              <p:cNvSpPr txBox="1"/>
              <p:nvPr/>
            </p:nvSpPr>
            <p:spPr>
              <a:xfrm>
                <a:off x="10053638" y="2406253"/>
                <a:ext cx="978281" cy="397669"/>
              </a:xfrm>
              <a:prstGeom prst="rect">
                <a:avLst/>
              </a:prstGeom>
              <a:noFill/>
              <a:ln>
                <a:noFill/>
              </a:ln>
            </p:spPr>
            <p:txBody>
              <a:bodyPr wrap="none" lIns="0" tIns="0" rIns="0" bIns="0" anchor="t" anchorCtr="0">
                <a:spAutoFit/>
              </a:bodyPr>
              <a:lstStyle/>
              <a:p>
                <a:pPr algn="l" marL="76200" indent="-76200">
                  <a:lnSpc>
                    <a:spcPts val="750"/>
                  </a:lnSpc>
                  <a:buClr>
                    <a:srgbClr val="514340"/>
                  </a:buClr>
                  <a:buSzTx/>
                  <a:buFontTx/>
                  <a:buChar char="•"/>
                </a:pPr>
                <a:r>
                  <a:rPr lang="zh-CN" sz="560" dirty="0">
                    <a:solidFill>
                      <a:srgbClr val="514340"/>
                    </a:solidFill>
                    <a:latin typeface="+mn-lt"/>
                    <a:ea typeface="+mn-ea"/>
                    <a:cs typeface="+mn-cs"/>
                  </a:rPr>
                  <a:t>10场+活动执行报告​​</a:t>
                </a:r>
              </a:p>
              <a:p>
                <a:pPr algn="l" marL="76200" indent="-76200">
                  <a:lnSpc>
                    <a:spcPts val="750"/>
                  </a:lnSpc>
                  <a:buClr>
                    <a:srgbClr val="514340"/>
                  </a:buClr>
                  <a:buSzTx/>
                  <a:buFontTx/>
                  <a:buChar char="•"/>
                </a:pPr>
                <a:r>
                  <a:rPr lang="zh-CN" sz="560" dirty="0">
                    <a:solidFill>
                      <a:srgbClr val="514340"/>
                    </a:solidFill>
                    <a:latin typeface="+mn-lt"/>
                    <a:ea typeface="+mn-ea"/>
                    <a:cs typeface="+mn-cs"/>
                  </a:rPr>
                  <a:t>全行活动数据看板​</a:t>
                </a:r>
              </a:p>
              <a:p>
                <a:pPr algn="l" marL="76200" indent="-76200">
                  <a:lnSpc>
                    <a:spcPts val="750"/>
                  </a:lnSpc>
                  <a:buClr>
                    <a:srgbClr val="514340"/>
                  </a:buClr>
                  <a:buSzTx/>
                  <a:buFontTx/>
                  <a:buChar char="•"/>
                </a:pPr>
                <a:r>
                  <a:rPr lang="zh-CN" sz="560" dirty="0">
                    <a:solidFill>
                      <a:srgbClr val="514340"/>
                    </a:solidFill>
                    <a:latin typeface="+mn-lt"/>
                    <a:ea typeface="+mn-ea"/>
                    <a:cs typeface="+mn-cs"/>
                  </a:rPr>
                  <a:t>最佳实践案例集​</a:t>
                </a:r>
              </a:p>
              <a:p>
                <a:pPr algn="l" marL="76200" indent="-76200">
                  <a:lnSpc>
                    <a:spcPts val="750"/>
                  </a:lnSpc>
                  <a:buClr>
                    <a:srgbClr val="514340"/>
                  </a:buClr>
                  <a:buSzTx/>
                  <a:buFontTx/>
                  <a:buChar char="•"/>
                </a:pPr>
                <a:r>
                  <a:rPr lang="zh-CN" sz="560" dirty="0">
                    <a:solidFill>
                      <a:srgbClr val="514340"/>
                    </a:solidFill>
                    <a:latin typeface="+mn-lt"/>
                    <a:ea typeface="+mn-ea"/>
                    <a:cs typeface="+mn-cs"/>
                  </a:rPr>
                  <a:t>常态化运营机制与激励方案​</a:t>
                </a:r>
              </a:p>
            </p:txBody>
          </p:sp>
          <p:sp>
            <p:nvSpPr>
              <p:cNvPr id="124" name="Rectangle 124"/>
              <p:cNvSpPr/>
              <p:nvPr/>
            </p:nvSpPr>
            <p:spPr>
              <a:xfrm>
                <a:off x="5753100" y="2914650"/>
                <a:ext cx="6076950" cy="285750"/>
              </a:xfrm>
              <a:prstGeom prst="rect">
                <a:avLst/>
              </a:prstGeom>
              <a:solidFill>
                <a:srgbClr val="EFF8F6"/>
              </a:solidFill>
              <a:ln w="9525">
                <a:solidFill>
                  <a:srgbClr val="E2EEEB"/>
                </a:solidFill>
              </a:ln>
            </p:spPr>
          </p:sp>
          <p:sp>
            <p:nvSpPr>
              <p:cNvPr id="125" name="TextBox 125"/>
              <p:cNvSpPr txBox="1"/>
              <p:nvPr/>
            </p:nvSpPr>
            <p:spPr>
              <a:xfrm>
                <a:off x="5912930" y="3021330"/>
                <a:ext cx="251841"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责任人</a:t>
                </a:r>
              </a:p>
            </p:txBody>
          </p:sp>
          <p:sp>
            <p:nvSpPr>
              <p:cNvPr id="126" name="TextBox 126"/>
              <p:cNvSpPr txBox="1"/>
              <p:nvPr/>
            </p:nvSpPr>
            <p:spPr>
              <a:xfrm>
                <a:off x="6396038" y="2968228"/>
                <a:ext cx="870077"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总行零售部（牵头）</a:t>
                </a:r>
                <a:br/>
                <a:r>
                  <a:rPr lang="zh-CN" sz="560" dirty="0">
                    <a:solidFill>
                      <a:srgbClr val="514340"/>
                    </a:solidFill>
                    <a:latin typeface="+mn-lt"/>
                    <a:ea typeface="+mn-ea"/>
                    <a:cs typeface="+mn-cs"/>
                  </a:rPr>
                  <a:t>+ 数字化部 + 分行市场部​​</a:t>
                </a:r>
              </a:p>
            </p:txBody>
          </p:sp>
          <p:sp>
            <p:nvSpPr>
              <p:cNvPr id="127" name="TextBox 127"/>
              <p:cNvSpPr txBox="1"/>
              <p:nvPr/>
            </p:nvSpPr>
            <p:spPr>
              <a:xfrm>
                <a:off x="8224838" y="2968228"/>
                <a:ext cx="941197"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试点分行（牵头）</a:t>
                </a:r>
                <a:br/>
                <a:r>
                  <a:rPr lang="zh-CN" sz="560" dirty="0">
                    <a:solidFill>
                      <a:srgbClr val="514340"/>
                    </a:solidFill>
                    <a:latin typeface="+mn-lt"/>
                    <a:ea typeface="+mn-ea"/>
                    <a:cs typeface="+mn-cs"/>
                  </a:rPr>
                  <a:t>+ 总行零售部 + 生态合作部​​</a:t>
                </a:r>
              </a:p>
            </p:txBody>
          </p:sp>
          <p:sp>
            <p:nvSpPr>
              <p:cNvPr id="128" name="TextBox 128"/>
              <p:cNvSpPr txBox="1"/>
              <p:nvPr/>
            </p:nvSpPr>
            <p:spPr>
              <a:xfrm>
                <a:off x="10053638" y="2968228"/>
                <a:ext cx="870077"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各分行（牵头）</a:t>
                </a:r>
                <a:br/>
                <a:r>
                  <a:rPr lang="zh-CN" sz="560" dirty="0">
                    <a:solidFill>
                      <a:srgbClr val="514340"/>
                    </a:solidFill>
                    <a:latin typeface="+mn-lt"/>
                    <a:ea typeface="+mn-ea"/>
                    <a:cs typeface="+mn-cs"/>
                  </a:rPr>
                  <a:t>+ 总行零售部 + 数字化部​​</a:t>
                </a:r>
              </a:p>
            </p:txBody>
          </p:sp>
          <p:sp>
            <p:nvSpPr>
              <p:cNvPr id="129" name="Rectangle 129"/>
              <p:cNvSpPr/>
              <p:nvPr/>
            </p:nvSpPr>
            <p:spPr>
              <a:xfrm>
                <a:off x="5753100" y="3200400"/>
                <a:ext cx="6076950" cy="285750"/>
              </a:xfrm>
              <a:prstGeom prst="rect">
                <a:avLst/>
              </a:prstGeom>
              <a:solidFill>
                <a:srgbClr val="FFFFFF"/>
              </a:solidFill>
              <a:ln w="9525">
                <a:solidFill>
                  <a:srgbClr val="E2EEEB"/>
                </a:solidFill>
              </a:ln>
            </p:spPr>
          </p:sp>
          <p:sp>
            <p:nvSpPr>
              <p:cNvPr id="130" name="TextBox 130"/>
              <p:cNvSpPr txBox="1"/>
              <p:nvPr/>
            </p:nvSpPr>
            <p:spPr>
              <a:xfrm>
                <a:off x="5912930" y="3307080"/>
                <a:ext cx="251841"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里程碑</a:t>
                </a:r>
              </a:p>
            </p:txBody>
          </p:sp>
          <p:sp>
            <p:nvSpPr>
              <p:cNvPr id="131" name="TextBox 131"/>
              <p:cNvSpPr txBox="1"/>
              <p:nvPr/>
            </p:nvSpPr>
            <p:spPr>
              <a:xfrm>
                <a:off x="6396038" y="3259455"/>
                <a:ext cx="1025839" cy="119062"/>
              </a:xfrm>
              <a:prstGeom prst="rect">
                <a:avLst/>
              </a:prstGeom>
              <a:noFill/>
              <a:ln>
                <a:noFill/>
              </a:ln>
            </p:spPr>
            <p:txBody>
              <a:bodyPr wrap="none" lIns="0" tIns="0" rIns="0" bIns="0" anchor="t" anchorCtr="0">
                <a:spAutoFit/>
              </a:bodyPr>
              <a:lstStyle/>
              <a:p>
                <a:pPr algn="l"/>
                <a:r>
                  <a:rPr lang="zh-CN" sz="600" b="1" dirty="0">
                    <a:solidFill>
                      <a:srgbClr val="76200F"/>
                    </a:solidFill>
                    <a:latin typeface="+mn-lt"/>
                    <a:ea typeface="+mn-ea"/>
                    <a:cs typeface="+mn-cs"/>
                  </a:rPr>
                  <a:t>第30天​</a:t>
                </a:r>
                <a:r>
                  <a:rPr lang="zh-CN" sz="600" dirty="0">
                    <a:solidFill>
                      <a:srgbClr val="331712"/>
                    </a:solidFill>
                    <a:latin typeface="+mn-lt"/>
                    <a:ea typeface="+mn-ea"/>
                    <a:cs typeface="+mn-cs"/>
                  </a:rPr>
                  <a:t xml:space="preserve"> 完成标准体系评审​</a:t>
                </a:r>
              </a:p>
            </p:txBody>
          </p:sp>
          <p:sp>
            <p:nvSpPr>
              <p:cNvPr id="132" name="TextBox 132"/>
              <p:cNvSpPr txBox="1"/>
              <p:nvPr/>
            </p:nvSpPr>
            <p:spPr>
              <a:xfrm>
                <a:off x="8224838" y="3259455"/>
                <a:ext cx="1106611" cy="119062"/>
              </a:xfrm>
              <a:prstGeom prst="rect">
                <a:avLst/>
              </a:prstGeom>
              <a:noFill/>
              <a:ln>
                <a:noFill/>
              </a:ln>
            </p:spPr>
            <p:txBody>
              <a:bodyPr wrap="none" lIns="0" tIns="0" rIns="0" bIns="0" anchor="t" anchorCtr="0">
                <a:spAutoFit/>
              </a:bodyPr>
              <a:lstStyle/>
              <a:p>
                <a:pPr algn="l"/>
                <a:r>
                  <a:rPr lang="zh-CN" sz="600" b="1" dirty="0">
                    <a:solidFill>
                      <a:srgbClr val="76200F"/>
                    </a:solidFill>
                    <a:latin typeface="+mn-lt"/>
                    <a:ea typeface="+mn-ea"/>
                    <a:cs typeface="+mn-cs"/>
                  </a:rPr>
                  <a:t>第60天​</a:t>
                </a:r>
                <a:r>
                  <a:rPr lang="zh-CN" sz="600" dirty="0">
                    <a:solidFill>
                      <a:srgbClr val="331712"/>
                    </a:solidFill>
                    <a:latin typeface="+mn-lt"/>
                    <a:ea typeface="+mn-ea"/>
                    <a:cs typeface="+mn-cs"/>
                  </a:rPr>
                  <a:t xml:space="preserve"> 完成试点复盘与优化​</a:t>
                </a:r>
              </a:p>
            </p:txBody>
          </p:sp>
          <p:sp>
            <p:nvSpPr>
              <p:cNvPr id="133" name="TextBox 133"/>
              <p:cNvSpPr txBox="1"/>
              <p:nvPr/>
            </p:nvSpPr>
            <p:spPr>
              <a:xfrm>
                <a:off x="10053638" y="3259455"/>
                <a:ext cx="1268155" cy="119062"/>
              </a:xfrm>
              <a:prstGeom prst="rect">
                <a:avLst/>
              </a:prstGeom>
              <a:noFill/>
              <a:ln>
                <a:noFill/>
              </a:ln>
            </p:spPr>
            <p:txBody>
              <a:bodyPr wrap="none" lIns="0" tIns="0" rIns="0" bIns="0" anchor="t" anchorCtr="0">
                <a:spAutoFit/>
              </a:bodyPr>
              <a:lstStyle/>
              <a:p>
                <a:pPr algn="l"/>
                <a:r>
                  <a:rPr lang="zh-CN" sz="600" b="1" dirty="0">
                    <a:solidFill>
                      <a:srgbClr val="76200F"/>
                    </a:solidFill>
                    <a:latin typeface="+mn-lt"/>
                    <a:ea typeface="+mn-ea"/>
                    <a:cs typeface="+mn-cs"/>
                  </a:rPr>
                  <a:t>第90天​</a:t>
                </a:r>
                <a:r>
                  <a:rPr lang="zh-CN" sz="600" dirty="0">
                    <a:solidFill>
                      <a:srgbClr val="331712"/>
                    </a:solidFill>
                    <a:latin typeface="+mn-lt"/>
                    <a:ea typeface="+mn-ea"/>
                    <a:cs typeface="+mn-cs"/>
                  </a:rPr>
                  <a:t xml:space="preserve"> 完成规模复制并固化机制​</a:t>
                </a:r>
              </a:p>
            </p:txBody>
          </p:sp>
          <p:sp>
            <p:nvSpPr>
              <p:cNvPr id="134" name="Rectangle 134"/>
              <p:cNvSpPr/>
              <p:nvPr/>
            </p:nvSpPr>
            <p:spPr>
              <a:xfrm>
                <a:off x="5753100" y="3486150"/>
                <a:ext cx="6076950" cy="590550"/>
              </a:xfrm>
              <a:prstGeom prst="rect">
                <a:avLst/>
              </a:prstGeom>
              <a:solidFill>
                <a:srgbClr val="EFF8F6"/>
              </a:solidFill>
              <a:ln w="9525">
                <a:solidFill>
                  <a:srgbClr val="E2EEEB"/>
                </a:solidFill>
              </a:ln>
            </p:spPr>
          </p:sp>
          <p:sp>
            <p:nvSpPr>
              <p:cNvPr id="135" name="TextBox 135"/>
              <p:cNvSpPr txBox="1"/>
              <p:nvPr/>
            </p:nvSpPr>
            <p:spPr>
              <a:xfrm>
                <a:off x="5872544" y="3745230"/>
                <a:ext cx="332613" cy="119062"/>
              </a:xfrm>
              <a:prstGeom prst="rect">
                <a:avLst/>
              </a:prstGeom>
              <a:noFill/>
              <a:ln>
                <a:noFill/>
              </a:ln>
            </p:spPr>
            <p:txBody>
              <a:bodyPr wrap="none" lIns="0" tIns="0" rIns="0" bIns="0" anchor="t" anchorCtr="0">
                <a:spAutoFit/>
              </a:bodyPr>
              <a:lstStyle/>
              <a:p>
                <a:pPr algn="ctr"/>
                <a:r>
                  <a:rPr lang="zh-CN" sz="600" b="1" dirty="0">
                    <a:solidFill>
                      <a:srgbClr val="5D190B"/>
                    </a:solidFill>
                    <a:latin typeface="+mn-lt"/>
                    <a:ea typeface="+mn-ea"/>
                    <a:cs typeface="+mn-cs"/>
                  </a:rPr>
                  <a:t>验收标准</a:t>
                </a:r>
              </a:p>
            </p:txBody>
          </p:sp>
          <p:sp>
            <p:nvSpPr>
              <p:cNvPr id="136" name="TextBox 136"/>
              <p:cNvSpPr txBox="1"/>
              <p:nvPr/>
            </p:nvSpPr>
            <p:spPr>
              <a:xfrm>
                <a:off x="6396038" y="3558778"/>
                <a:ext cx="951865" cy="3976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 六大资产库 ≥ 80% 完成​​​</a:t>
                </a:r>
                <a:br/>
                <a:r>
                  <a:rPr lang="zh-CN" sz="560" dirty="0">
                    <a:solidFill>
                      <a:srgbClr val="514340"/>
                    </a:solidFill>
                    <a:latin typeface="+mn-lt"/>
                    <a:ea typeface="+mn-ea"/>
                    <a:cs typeface="+mn-cs"/>
                  </a:rPr>
                  <a:t>✓ SOP与模板 ≥ 20套​​​</a:t>
                </a:r>
                <a:br/>
                <a:r>
                  <a:rPr lang="zh-CN" sz="560" dirty="0">
                    <a:solidFill>
                      <a:srgbClr val="514340"/>
                    </a:solidFill>
                    <a:latin typeface="+mn-lt"/>
                    <a:ea typeface="+mn-ea"/>
                    <a:cs typeface="+mn-cs"/>
                  </a:rPr>
                  <a:t>✓ 合作方 ≥ 30家​​</a:t>
                </a:r>
                <a:br/>
                <a:r>
                  <a:rPr lang="zh-CN" sz="560" dirty="0">
                    <a:solidFill>
                      <a:srgbClr val="514340"/>
                    </a:solidFill>
                    <a:latin typeface="+mn-lt"/>
                    <a:ea typeface="+mn-ea"/>
                    <a:cs typeface="+mn-cs"/>
                  </a:rPr>
                  <a:t>✓ 指标体系上线​</a:t>
                </a:r>
              </a:p>
            </p:txBody>
          </p:sp>
          <p:sp>
            <p:nvSpPr>
              <p:cNvPr id="137" name="TextBox 137"/>
              <p:cNvSpPr txBox="1"/>
              <p:nvPr/>
            </p:nvSpPr>
            <p:spPr>
              <a:xfrm>
                <a:off x="8224838" y="3558778"/>
                <a:ext cx="923417" cy="3976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 单场新增客户 ≥ 500户​​</a:t>
                </a:r>
                <a:br/>
                <a:r>
                  <a:rPr lang="zh-CN" sz="560" dirty="0">
                    <a:solidFill>
                      <a:srgbClr val="514340"/>
                    </a:solidFill>
                    <a:latin typeface="+mn-lt"/>
                    <a:ea typeface="+mn-ea"/>
                    <a:cs typeface="+mn-cs"/>
                  </a:rPr>
                  <a:t>✓ 线上引流转化率 ≥ 15%​​</a:t>
                </a:r>
                <a:br/>
                <a:r>
                  <a:rPr lang="zh-CN" sz="560" dirty="0">
                    <a:solidFill>
                      <a:srgbClr val="514340"/>
                    </a:solidFill>
                    <a:latin typeface="+mn-lt"/>
                    <a:ea typeface="+mn-ea"/>
                    <a:cs typeface="+mn-cs"/>
                  </a:rPr>
                  <a:t>✓ 客户满意度 ≥ 90%​​</a:t>
                </a:r>
                <a:br/>
                <a:r>
                  <a:rPr lang="zh-CN" sz="560" dirty="0">
                    <a:solidFill>
                      <a:srgbClr val="514340"/>
                    </a:solidFill>
                    <a:latin typeface="+mn-lt"/>
                    <a:ea typeface="+mn-ea"/>
                    <a:cs typeface="+mn-cs"/>
                  </a:rPr>
                  <a:t>✓ 形成可复制的标准化方案​</a:t>
                </a:r>
              </a:p>
            </p:txBody>
          </p:sp>
          <p:sp>
            <p:nvSpPr>
              <p:cNvPr id="138" name="TextBox 138"/>
              <p:cNvSpPr txBox="1"/>
              <p:nvPr/>
            </p:nvSpPr>
            <p:spPr>
              <a:xfrm>
                <a:off x="10053638" y="3558778"/>
                <a:ext cx="994537" cy="3976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 覆盖3家支行 10+ 网点​​</a:t>
                </a:r>
                <a:br/>
                <a:r>
                  <a:rPr lang="zh-CN" sz="560" dirty="0">
                    <a:solidFill>
                      <a:srgbClr val="514340"/>
                    </a:solidFill>
                    <a:latin typeface="+mn-lt"/>
                    <a:ea typeface="+mn-ea"/>
                    <a:cs typeface="+mn-cs"/>
                  </a:rPr>
                  <a:t>✓ 累计新增客户 ≥ 5,000户​​​</a:t>
                </a:r>
                <a:br/>
                <a:r>
                  <a:rPr lang="zh-CN" sz="560" dirty="0">
                    <a:solidFill>
                      <a:srgbClr val="514340"/>
                    </a:solidFill>
                    <a:latin typeface="+mn-lt"/>
                    <a:ea typeface="+mn-ea"/>
                    <a:cs typeface="+mn-cs"/>
                  </a:rPr>
                  <a:t>✓ 综合转化率 ≥ 20%​​</a:t>
                </a:r>
                <a:br/>
                <a:r>
                  <a:rPr lang="zh-CN" sz="560" dirty="0">
                    <a:solidFill>
                      <a:srgbClr val="514340"/>
                    </a:solidFill>
                    <a:latin typeface="+mn-lt"/>
                    <a:ea typeface="+mn-ea"/>
                    <a:cs typeface="+mn-cs"/>
                  </a:rPr>
                  <a:t>✓ 形成长效运营机制​</a:t>
                </a:r>
              </a:p>
            </p:txBody>
          </p:sp>
        </p:grpSp>
      </p:grpSp>
      <p:grpSp>
        <p:nvGrpSpPr>
          <p:cNvPr id="209" name="flywheel"/>
          <p:cNvGrpSpPr/>
          <p:nvPr/>
        </p:nvGrpSpPr>
        <p:grpSpPr>
          <a:xfrm>
            <a:off x="338138" y="4432697"/>
            <a:ext cx="11491912" cy="2022395"/>
            <a:chOff x="338138" y="4432697"/>
            <a:chExt cx="11491912" cy="2022395"/>
          </a:xfrm>
        </p:grpSpPr>
        <p:sp>
          <p:nvSpPr>
            <p:cNvPr id="141" name="TextBox 141"/>
            <p:cNvSpPr txBox="1"/>
            <p:nvPr/>
          </p:nvSpPr>
          <p:spPr>
            <a:xfrm>
              <a:off x="338138" y="4432697"/>
              <a:ext cx="2287295" cy="183356"/>
            </a:xfrm>
            <a:prstGeom prst="rect">
              <a:avLst/>
            </a:prstGeom>
            <a:noFill/>
            <a:ln>
              <a:noFill/>
            </a:ln>
          </p:spPr>
          <p:txBody>
            <a:bodyPr wrap="none" lIns="0" tIns="0" rIns="0" bIns="0" anchor="t" anchorCtr="0">
              <a:spAutoFit/>
            </a:bodyPr>
            <a:lstStyle/>
            <a:p>
              <a:pPr algn="l"/>
              <a:r>
                <a:rPr lang="zh-CN" sz="940" b="1" dirty="0">
                  <a:solidFill>
                    <a:srgbClr val="331712"/>
                  </a:solidFill>
                  <a:latin typeface="+mn-lt"/>
                  <a:ea typeface="+mn-ea"/>
                  <a:cs typeface="+mn-cs"/>
                </a:rPr>
                <a:t>运营飞轮：闭环迭代，持续放大生态价值</a:t>
              </a:r>
            </a:p>
          </p:txBody>
        </p:sp>
        <p:sp>
          <p:nvSpPr>
            <p:cNvPr id="142" name="Freeform 142"/>
            <p:cNvSpPr/>
            <p:nvPr/>
          </p:nvSpPr>
          <p:spPr>
            <a:xfrm>
              <a:off x="914400" y="4591050"/>
              <a:ext cx="10325100" cy="152400"/>
            </a:xfrm>
            <a:custGeom>
              <a:avLst/>
              <a:gdLst/>
              <a:ahLst/>
              <a:cxnLst/>
              <a:rect l="l" t="t" r="r" b="b"/>
              <a:pathLst>
                <a:path w="10325100" h="152400">
                  <a:moveTo>
                    <a:pt x="10325100" y="152400"/>
                  </a:moveTo>
                  <a:cubicBezTo>
                    <a:pt x="10325100" y="0"/>
                    <a:pt x="0" y="0"/>
                    <a:pt x="0" y="152400"/>
                  </a:cubicBezTo>
                </a:path>
              </a:pathLst>
            </a:custGeom>
            <a:noFill/>
            <a:ln w="14288">
              <a:solidFill>
                <a:srgbClr val="A3422F"/>
              </a:solidFill>
              <a:custDash>
                <a:ds d="333333" sp="200000"/>
              </a:custDash>
              <a:tailEnd type="triangle" w="lg" len="lg"/>
            </a:ln>
          </p:spPr>
        </p:sp>
        <p:grpSp>
          <p:nvGrpSpPr>
            <p:cNvPr id="204" name="wheel-steps"/>
            <p:cNvGrpSpPr/>
            <p:nvPr/>
          </p:nvGrpSpPr>
          <p:grpSpPr>
            <a:xfrm>
              <a:off x="342900" y="4781550"/>
              <a:ext cx="11487150" cy="914400"/>
              <a:chOff x="342900" y="4781550"/>
              <a:chExt cx="11487150" cy="914400"/>
            </a:xfrm>
          </p:grpSpPr>
          <p:sp>
            <p:nvSpPr>
              <p:cNvPr id="143" name="Rectangle 143"/>
              <p:cNvSpPr/>
              <p:nvPr/>
            </p:nvSpPr>
            <p:spPr>
              <a:xfrm>
                <a:off x="342900" y="4781550"/>
                <a:ext cx="1790700" cy="914400"/>
              </a:xfrm>
              <a:prstGeom prst="roundRect">
                <a:avLst>
                  <a:gd name="adj" fmla="val 6250"/>
                </a:avLst>
              </a:prstGeom>
              <a:solidFill>
                <a:srgbClr val="F0FAF8"/>
              </a:solidFill>
              <a:ln w="9525">
                <a:solidFill>
                  <a:srgbClr val="C2E0DA"/>
                </a:solidFill>
              </a:ln>
            </p:spPr>
          </p:sp>
          <p:sp>
            <p:nvSpPr>
              <p:cNvPr id="144" name="Ellipse 144"/>
              <p:cNvSpPr/>
              <p:nvPr/>
            </p:nvSpPr>
            <p:spPr>
              <a:xfrm>
                <a:off x="438150" y="4857750"/>
                <a:ext cx="190500" cy="190500"/>
              </a:xfrm>
              <a:prstGeom prst="ellipse">
                <a:avLst/>
              </a:prstGeom>
              <a:solidFill>
                <a:srgbClr val="5D190B"/>
              </a:solidFill>
              <a:ln>
                <a:noFill/>
              </a:ln>
            </p:spPr>
          </p:sp>
          <p:sp>
            <p:nvSpPr>
              <p:cNvPr id="145" name="TextBox 145"/>
              <p:cNvSpPr txBox="1"/>
              <p:nvPr/>
            </p:nvSpPr>
            <p:spPr>
              <a:xfrm>
                <a:off x="475772" y="49182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grpSp>
            <p:nvGrpSpPr>
              <p:cNvPr id="149" name="Group 149"/>
              <p:cNvGrpSpPr/>
              <p:nvPr/>
            </p:nvGrpSpPr>
            <p:grpSpPr>
              <a:xfrm>
                <a:off x="707231" y="4879181"/>
                <a:ext cx="128588" cy="128588"/>
                <a:chOff x="707231" y="4879181"/>
                <a:chExt cx="128588" cy="128588"/>
              </a:xfrm>
            </p:grpSpPr>
            <p:sp>
              <p:nvSpPr>
                <p:cNvPr id="146" name="Freeform 146"/>
                <p:cNvSpPr/>
                <p:nvPr/>
              </p:nvSpPr>
              <p:spPr>
                <a:xfrm>
                  <a:off x="764381" y="49363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76200F"/>
                  </a:solidFill>
                </a:ln>
              </p:spPr>
            </p:sp>
            <p:sp>
              <p:nvSpPr>
                <p:cNvPr id="147" name="Freeform 147"/>
                <p:cNvSpPr/>
                <p:nvPr/>
              </p:nvSpPr>
              <p:spPr>
                <a:xfrm>
                  <a:off x="735806" y="490775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76200F"/>
                  </a:solidFill>
                </a:ln>
              </p:spPr>
            </p:sp>
            <p:sp>
              <p:nvSpPr>
                <p:cNvPr id="148" name="Freeform 148"/>
                <p:cNvSpPr/>
                <p:nvPr/>
              </p:nvSpPr>
              <p:spPr>
                <a:xfrm>
                  <a:off x="707231" y="48791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6200F"/>
                  </a:solidFill>
                </a:ln>
              </p:spPr>
            </p:sp>
          </p:grpSp>
          <p:sp>
            <p:nvSpPr>
              <p:cNvPr id="150" name="TextBox 150"/>
              <p:cNvSpPr txBox="1"/>
              <p:nvPr/>
            </p:nvSpPr>
            <p:spPr>
              <a:xfrm>
                <a:off x="909638" y="4910138"/>
                <a:ext cx="31242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选场景</a:t>
                </a:r>
              </a:p>
            </p:txBody>
          </p:sp>
          <p:sp>
            <p:nvSpPr>
              <p:cNvPr id="151" name="TextBox 151"/>
              <p:cNvSpPr txBox="1"/>
              <p:nvPr/>
            </p:nvSpPr>
            <p:spPr>
              <a:xfrm>
                <a:off x="414338" y="5139928"/>
                <a:ext cx="64960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基于客群与商圈热度</a:t>
                </a:r>
                <a:br/>
                <a:r>
                  <a:rPr lang="zh-CN" sz="560" dirty="0">
                    <a:solidFill>
                      <a:srgbClr val="514340"/>
                    </a:solidFill>
                    <a:latin typeface="+mn-lt"/>
                    <a:ea typeface="+mn-ea"/>
                    <a:cs typeface="+mn-cs"/>
                  </a:rPr>
                  <a:t>选择最优场景</a:t>
                </a:r>
              </a:p>
            </p:txBody>
          </p:sp>
          <p:sp>
            <p:nvSpPr>
              <p:cNvPr id="152" name="Rectangle 152"/>
              <p:cNvSpPr/>
              <p:nvPr/>
            </p:nvSpPr>
            <p:spPr>
              <a:xfrm>
                <a:off x="419100" y="5467350"/>
                <a:ext cx="1638300" cy="152400"/>
              </a:xfrm>
              <a:prstGeom prst="roundRect">
                <a:avLst>
                  <a:gd name="adj" fmla="val 50000"/>
                </a:avLst>
              </a:prstGeom>
              <a:solidFill>
                <a:srgbClr val="E4F3F0"/>
              </a:solidFill>
              <a:ln>
                <a:noFill/>
              </a:ln>
            </p:spPr>
          </p:sp>
          <p:sp>
            <p:nvSpPr>
              <p:cNvPr id="153" name="TextBox 153"/>
              <p:cNvSpPr txBox="1"/>
              <p:nvPr/>
            </p:nvSpPr>
            <p:spPr>
              <a:xfrm>
                <a:off x="624467" y="5515451"/>
                <a:ext cx="1227567" cy="104775"/>
              </a:xfrm>
              <a:prstGeom prst="rect">
                <a:avLst/>
              </a:prstGeom>
              <a:noFill/>
              <a:ln>
                <a:noFill/>
              </a:ln>
            </p:spPr>
            <p:txBody>
              <a:bodyPr wrap="none" lIns="0" tIns="0" rIns="0" bIns="0" anchor="t" anchorCtr="0">
                <a:spAutoFit/>
              </a:bodyPr>
              <a:lstStyle/>
              <a:p>
                <a:pPr algn="ctr"/>
                <a:r>
                  <a:rPr lang="zh-CN" sz="520" dirty="0">
                    <a:solidFill>
                      <a:srgbClr val="5D190B"/>
                    </a:solidFill>
                    <a:latin typeface="+mn-lt"/>
                    <a:ea typeface="+mn-ea"/>
                    <a:cs typeface="+mn-cs"/>
                  </a:rPr>
                  <a:t>场景评估模型（人流 / 匹配 / 成本）​​</a:t>
                </a:r>
              </a:p>
            </p:txBody>
          </p:sp>
          <p:sp>
            <p:nvSpPr>
              <p:cNvPr id="154" name="Rectangle 154"/>
              <p:cNvSpPr/>
              <p:nvPr/>
            </p:nvSpPr>
            <p:spPr>
              <a:xfrm>
                <a:off x="2286000" y="4781550"/>
                <a:ext cx="1790700" cy="914400"/>
              </a:xfrm>
              <a:prstGeom prst="roundRect">
                <a:avLst>
                  <a:gd name="adj" fmla="val 6250"/>
                </a:avLst>
              </a:prstGeom>
              <a:solidFill>
                <a:srgbClr val="F0FAF8"/>
              </a:solidFill>
              <a:ln w="9525">
                <a:solidFill>
                  <a:srgbClr val="C2E0DA"/>
                </a:solidFill>
              </a:ln>
            </p:spPr>
          </p:sp>
          <p:sp>
            <p:nvSpPr>
              <p:cNvPr id="155" name="Ellipse 155"/>
              <p:cNvSpPr/>
              <p:nvPr/>
            </p:nvSpPr>
            <p:spPr>
              <a:xfrm>
                <a:off x="2381250" y="4857750"/>
                <a:ext cx="190500" cy="190500"/>
              </a:xfrm>
              <a:prstGeom prst="ellipse">
                <a:avLst/>
              </a:prstGeom>
              <a:solidFill>
                <a:srgbClr val="76200F"/>
              </a:solidFill>
              <a:ln>
                <a:noFill/>
              </a:ln>
            </p:spPr>
          </p:sp>
          <p:sp>
            <p:nvSpPr>
              <p:cNvPr id="156" name="TextBox 156"/>
              <p:cNvSpPr txBox="1"/>
              <p:nvPr/>
            </p:nvSpPr>
            <p:spPr>
              <a:xfrm>
                <a:off x="2418872" y="49182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sp>
            <p:nvSpPr>
              <p:cNvPr id="157" name="Freeform 157"/>
              <p:cNvSpPr/>
              <p:nvPr/>
            </p:nvSpPr>
            <p:spPr>
              <a:xfrm>
                <a:off x="2650331" y="4879181"/>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76200F"/>
                </a:solidFill>
              </a:ln>
            </p:spPr>
          </p:sp>
          <p:sp>
            <p:nvSpPr>
              <p:cNvPr id="158" name="TextBox 158"/>
              <p:cNvSpPr txBox="1"/>
              <p:nvPr/>
            </p:nvSpPr>
            <p:spPr>
              <a:xfrm>
                <a:off x="2852738" y="4910138"/>
                <a:ext cx="31242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组资源</a:t>
                </a:r>
              </a:p>
            </p:txBody>
          </p:sp>
          <p:sp>
            <p:nvSpPr>
              <p:cNvPr id="159" name="TextBox 159"/>
              <p:cNvSpPr txBox="1"/>
              <p:nvPr/>
            </p:nvSpPr>
            <p:spPr>
              <a:xfrm>
                <a:off x="2357438" y="5139928"/>
                <a:ext cx="57848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整合行内外资源</a:t>
                </a:r>
                <a:br/>
                <a:r>
                  <a:rPr lang="zh-CN" sz="560" dirty="0">
                    <a:solidFill>
                      <a:srgbClr val="514340"/>
                    </a:solidFill>
                    <a:latin typeface="+mn-lt"/>
                    <a:ea typeface="+mn-ea"/>
                    <a:cs typeface="+mn-cs"/>
                  </a:rPr>
                  <a:t>匹配权益与合作方</a:t>
                </a:r>
              </a:p>
            </p:txBody>
          </p:sp>
          <p:sp>
            <p:nvSpPr>
              <p:cNvPr id="160" name="Rectangle 160"/>
              <p:cNvSpPr/>
              <p:nvPr/>
            </p:nvSpPr>
            <p:spPr>
              <a:xfrm>
                <a:off x="2362200" y="5467350"/>
                <a:ext cx="1638300" cy="152400"/>
              </a:xfrm>
              <a:prstGeom prst="roundRect">
                <a:avLst>
                  <a:gd name="adj" fmla="val 50000"/>
                </a:avLst>
              </a:prstGeom>
              <a:solidFill>
                <a:srgbClr val="E4F3F0"/>
              </a:solidFill>
              <a:ln>
                <a:noFill/>
              </a:ln>
            </p:spPr>
          </p:sp>
          <p:sp>
            <p:nvSpPr>
              <p:cNvPr id="161" name="TextBox 161"/>
              <p:cNvSpPr txBox="1"/>
              <p:nvPr/>
            </p:nvSpPr>
            <p:spPr>
              <a:xfrm>
                <a:off x="2567567" y="5515451"/>
                <a:ext cx="1227567" cy="104775"/>
              </a:xfrm>
              <a:prstGeom prst="rect">
                <a:avLst/>
              </a:prstGeom>
              <a:noFill/>
              <a:ln>
                <a:noFill/>
              </a:ln>
            </p:spPr>
            <p:txBody>
              <a:bodyPr wrap="none" lIns="0" tIns="0" rIns="0" bIns="0" anchor="t" anchorCtr="0">
                <a:spAutoFit/>
              </a:bodyPr>
              <a:lstStyle/>
              <a:p>
                <a:pPr algn="ctr"/>
                <a:r>
                  <a:rPr lang="zh-CN" sz="520" dirty="0">
                    <a:solidFill>
                      <a:srgbClr val="5D190B"/>
                    </a:solidFill>
                    <a:latin typeface="+mn-lt"/>
                    <a:ea typeface="+mn-ea"/>
                    <a:cs typeface="+mn-cs"/>
                  </a:rPr>
                  <a:t>资源匹配清单（权益 / 模板 / 伙伴）​​</a:t>
                </a:r>
              </a:p>
            </p:txBody>
          </p:sp>
          <p:sp>
            <p:nvSpPr>
              <p:cNvPr id="162" name="Rectangle 162"/>
              <p:cNvSpPr/>
              <p:nvPr/>
            </p:nvSpPr>
            <p:spPr>
              <a:xfrm>
                <a:off x="4229100" y="4781550"/>
                <a:ext cx="1790700" cy="914400"/>
              </a:xfrm>
              <a:prstGeom prst="roundRect">
                <a:avLst>
                  <a:gd name="adj" fmla="val 6250"/>
                </a:avLst>
              </a:prstGeom>
              <a:solidFill>
                <a:srgbClr val="F0FAF8"/>
              </a:solidFill>
              <a:ln w="9525">
                <a:solidFill>
                  <a:srgbClr val="C2E0DA"/>
                </a:solidFill>
              </a:ln>
            </p:spPr>
          </p:sp>
          <p:sp>
            <p:nvSpPr>
              <p:cNvPr id="163" name="Ellipse 163"/>
              <p:cNvSpPr/>
              <p:nvPr/>
            </p:nvSpPr>
            <p:spPr>
              <a:xfrm>
                <a:off x="4324350" y="4857750"/>
                <a:ext cx="190500" cy="190500"/>
              </a:xfrm>
              <a:prstGeom prst="ellipse">
                <a:avLst/>
              </a:prstGeom>
              <a:solidFill>
                <a:srgbClr val="852512"/>
              </a:solidFill>
              <a:ln>
                <a:noFill/>
              </a:ln>
            </p:spPr>
          </p:sp>
          <p:sp>
            <p:nvSpPr>
              <p:cNvPr id="164" name="TextBox 164"/>
              <p:cNvSpPr txBox="1"/>
              <p:nvPr/>
            </p:nvSpPr>
            <p:spPr>
              <a:xfrm>
                <a:off x="4361972" y="49182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grpSp>
            <p:nvGrpSpPr>
              <p:cNvPr id="168" name="Group 168"/>
              <p:cNvGrpSpPr/>
              <p:nvPr/>
            </p:nvGrpSpPr>
            <p:grpSpPr>
              <a:xfrm>
                <a:off x="4593431" y="4879181"/>
                <a:ext cx="128588" cy="128588"/>
                <a:chOff x="4593431" y="4879181"/>
                <a:chExt cx="128588" cy="128588"/>
              </a:xfrm>
            </p:grpSpPr>
            <p:sp>
              <p:nvSpPr>
                <p:cNvPr id="165" name="Freeform 165"/>
                <p:cNvSpPr/>
                <p:nvPr/>
              </p:nvSpPr>
              <p:spPr>
                <a:xfrm>
                  <a:off x="4593431" y="48791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76200F"/>
                  </a:solidFill>
                </a:ln>
              </p:spPr>
            </p:sp>
            <p:sp>
              <p:nvSpPr>
                <p:cNvPr id="166" name="Freeform 166"/>
                <p:cNvSpPr/>
                <p:nvPr/>
              </p:nvSpPr>
              <p:spPr>
                <a:xfrm>
                  <a:off x="4607719" y="49434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76200F"/>
                  </a:solidFill>
                </a:ln>
              </p:spPr>
            </p:sp>
            <p:sp>
              <p:nvSpPr>
                <p:cNvPr id="167" name="Freeform 167"/>
                <p:cNvSpPr/>
                <p:nvPr/>
              </p:nvSpPr>
              <p:spPr>
                <a:xfrm>
                  <a:off x="4636294" y="49506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76200F"/>
                  </a:solidFill>
                </a:ln>
              </p:spPr>
            </p:sp>
          </p:grpSp>
          <p:sp>
            <p:nvSpPr>
              <p:cNvPr id="169" name="TextBox 169"/>
              <p:cNvSpPr txBox="1"/>
              <p:nvPr/>
            </p:nvSpPr>
            <p:spPr>
              <a:xfrm>
                <a:off x="4795838" y="4910138"/>
                <a:ext cx="31242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做活动</a:t>
                </a:r>
              </a:p>
            </p:txBody>
          </p:sp>
          <p:sp>
            <p:nvSpPr>
              <p:cNvPr id="170" name="TextBox 170"/>
              <p:cNvSpPr txBox="1"/>
              <p:nvPr/>
            </p:nvSpPr>
            <p:spPr>
              <a:xfrm>
                <a:off x="4300538" y="5139928"/>
                <a:ext cx="43624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线下展位引流</a:t>
                </a:r>
                <a:br/>
                <a:r>
                  <a:rPr lang="zh-CN" sz="560" dirty="0">
                    <a:solidFill>
                      <a:srgbClr val="514340"/>
                    </a:solidFill>
                    <a:latin typeface="+mn-lt"/>
                    <a:ea typeface="+mn-ea"/>
                    <a:cs typeface="+mn-cs"/>
                  </a:rPr>
                  <a:t>线上同步联动</a:t>
                </a:r>
              </a:p>
            </p:txBody>
          </p:sp>
          <p:sp>
            <p:nvSpPr>
              <p:cNvPr id="171" name="Rectangle 171"/>
              <p:cNvSpPr/>
              <p:nvPr/>
            </p:nvSpPr>
            <p:spPr>
              <a:xfrm>
                <a:off x="4305300" y="5467350"/>
                <a:ext cx="1638300" cy="152400"/>
              </a:xfrm>
              <a:prstGeom prst="roundRect">
                <a:avLst>
                  <a:gd name="adj" fmla="val 50000"/>
                </a:avLst>
              </a:prstGeom>
              <a:solidFill>
                <a:srgbClr val="E4F3F0"/>
              </a:solidFill>
              <a:ln>
                <a:noFill/>
              </a:ln>
            </p:spPr>
          </p:sp>
          <p:sp>
            <p:nvSpPr>
              <p:cNvPr id="172" name="TextBox 172"/>
              <p:cNvSpPr txBox="1"/>
              <p:nvPr/>
            </p:nvSpPr>
            <p:spPr>
              <a:xfrm>
                <a:off x="4458000" y="5515451"/>
                <a:ext cx="1332901" cy="104775"/>
              </a:xfrm>
              <a:prstGeom prst="rect">
                <a:avLst/>
              </a:prstGeom>
              <a:noFill/>
              <a:ln>
                <a:noFill/>
              </a:ln>
            </p:spPr>
            <p:txBody>
              <a:bodyPr wrap="none" lIns="0" tIns="0" rIns="0" bIns="0" anchor="t" anchorCtr="0">
                <a:spAutoFit/>
              </a:bodyPr>
              <a:lstStyle/>
              <a:p>
                <a:pPr algn="ctr"/>
                <a:r>
                  <a:rPr lang="zh-CN" sz="520" dirty="0">
                    <a:solidFill>
                      <a:srgbClr val="5D190B"/>
                    </a:solidFill>
                    <a:latin typeface="+mn-lt"/>
                    <a:ea typeface="+mn-ea"/>
                    <a:cs typeface="+mn-cs"/>
                  </a:rPr>
                  <a:t>标准化执行SOP（展位 / 互动 / 线上）​​​</a:t>
                </a:r>
              </a:p>
            </p:txBody>
          </p:sp>
          <p:sp>
            <p:nvSpPr>
              <p:cNvPr id="173" name="Rectangle 173"/>
              <p:cNvSpPr/>
              <p:nvPr/>
            </p:nvSpPr>
            <p:spPr>
              <a:xfrm>
                <a:off x="6172200" y="4781550"/>
                <a:ext cx="1790700" cy="914400"/>
              </a:xfrm>
              <a:prstGeom prst="roundRect">
                <a:avLst>
                  <a:gd name="adj" fmla="val 6250"/>
                </a:avLst>
              </a:prstGeom>
              <a:solidFill>
                <a:srgbClr val="F0FAF8"/>
              </a:solidFill>
              <a:ln w="9525">
                <a:solidFill>
                  <a:srgbClr val="C2E0DA"/>
                </a:solidFill>
              </a:ln>
            </p:spPr>
          </p:sp>
          <p:sp>
            <p:nvSpPr>
              <p:cNvPr id="174" name="Ellipse 174"/>
              <p:cNvSpPr/>
              <p:nvPr/>
            </p:nvSpPr>
            <p:spPr>
              <a:xfrm>
                <a:off x="6267450" y="4857750"/>
                <a:ext cx="190500" cy="190500"/>
              </a:xfrm>
              <a:prstGeom prst="ellipse">
                <a:avLst/>
              </a:prstGeom>
              <a:solidFill>
                <a:srgbClr val="A3422F"/>
              </a:solidFill>
              <a:ln>
                <a:noFill/>
              </a:ln>
            </p:spPr>
          </p:sp>
          <p:sp>
            <p:nvSpPr>
              <p:cNvPr id="175" name="TextBox 175"/>
              <p:cNvSpPr txBox="1"/>
              <p:nvPr/>
            </p:nvSpPr>
            <p:spPr>
              <a:xfrm>
                <a:off x="6305072" y="49182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grpSp>
            <p:nvGrpSpPr>
              <p:cNvPr id="179" name="Group 179"/>
              <p:cNvGrpSpPr/>
              <p:nvPr/>
            </p:nvGrpSpPr>
            <p:grpSpPr>
              <a:xfrm>
                <a:off x="6543675" y="4879181"/>
                <a:ext cx="114300" cy="128588"/>
                <a:chOff x="6543675" y="4879181"/>
                <a:chExt cx="114300" cy="128588"/>
              </a:xfrm>
            </p:grpSpPr>
            <p:sp>
              <p:nvSpPr>
                <p:cNvPr id="176" name="Freeform 176"/>
                <p:cNvSpPr/>
                <p:nvPr/>
              </p:nvSpPr>
              <p:spPr>
                <a:xfrm>
                  <a:off x="6543675" y="487918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76200F"/>
                  </a:solidFill>
                </a:ln>
              </p:spPr>
            </p:sp>
            <p:sp>
              <p:nvSpPr>
                <p:cNvPr id="177" name="Freeform 177"/>
                <p:cNvSpPr/>
                <p:nvPr/>
              </p:nvSpPr>
              <p:spPr>
                <a:xfrm>
                  <a:off x="6543675" y="490061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sp>
              <p:nvSpPr>
                <p:cNvPr id="178" name="Freeform 178"/>
                <p:cNvSpPr/>
                <p:nvPr/>
              </p:nvSpPr>
              <p:spPr>
                <a:xfrm>
                  <a:off x="6543675" y="494347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76200F"/>
                  </a:solidFill>
                </a:ln>
              </p:spPr>
            </p:sp>
          </p:grpSp>
          <p:sp>
            <p:nvSpPr>
              <p:cNvPr id="180" name="TextBox 180"/>
              <p:cNvSpPr txBox="1"/>
              <p:nvPr/>
            </p:nvSpPr>
            <p:spPr>
              <a:xfrm>
                <a:off x="6738938" y="4910138"/>
                <a:ext cx="31242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沉数据</a:t>
                </a:r>
              </a:p>
            </p:txBody>
          </p:sp>
          <p:sp>
            <p:nvSpPr>
              <p:cNvPr id="181" name="TextBox 181"/>
              <p:cNvSpPr txBox="1"/>
              <p:nvPr/>
            </p:nvSpPr>
            <p:spPr>
              <a:xfrm>
                <a:off x="6243638" y="5139928"/>
                <a:ext cx="50736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全渠道数据采集</a:t>
                </a:r>
                <a:br/>
                <a:r>
                  <a:rPr lang="zh-CN" sz="560" dirty="0">
                    <a:solidFill>
                      <a:srgbClr val="514340"/>
                    </a:solidFill>
                    <a:latin typeface="+mn-lt"/>
                    <a:ea typeface="+mn-ea"/>
                    <a:cs typeface="+mn-cs"/>
                  </a:rPr>
                  <a:t>客户行为沉淀</a:t>
                </a:r>
              </a:p>
            </p:txBody>
          </p:sp>
          <p:sp>
            <p:nvSpPr>
              <p:cNvPr id="182" name="Rectangle 182"/>
              <p:cNvSpPr/>
              <p:nvPr/>
            </p:nvSpPr>
            <p:spPr>
              <a:xfrm>
                <a:off x="6248400" y="5467350"/>
                <a:ext cx="1638300" cy="152400"/>
              </a:xfrm>
              <a:prstGeom prst="roundRect">
                <a:avLst>
                  <a:gd name="adj" fmla="val 50000"/>
                </a:avLst>
              </a:prstGeom>
              <a:solidFill>
                <a:srgbClr val="E4F3F0"/>
              </a:solidFill>
              <a:ln>
                <a:noFill/>
              </a:ln>
            </p:spPr>
          </p:sp>
          <p:sp>
            <p:nvSpPr>
              <p:cNvPr id="183" name="TextBox 183"/>
              <p:cNvSpPr txBox="1"/>
              <p:nvPr/>
            </p:nvSpPr>
            <p:spPr>
              <a:xfrm>
                <a:off x="6488768" y="5515451"/>
                <a:ext cx="1157564" cy="104775"/>
              </a:xfrm>
              <a:prstGeom prst="rect">
                <a:avLst/>
              </a:prstGeom>
              <a:noFill/>
              <a:ln>
                <a:noFill/>
              </a:ln>
            </p:spPr>
            <p:txBody>
              <a:bodyPr wrap="none" lIns="0" tIns="0" rIns="0" bIns="0" anchor="t" anchorCtr="0">
                <a:spAutoFit/>
              </a:bodyPr>
              <a:lstStyle/>
              <a:p>
                <a:pPr algn="ctr"/>
                <a:r>
                  <a:rPr lang="zh-CN" sz="520" dirty="0">
                    <a:solidFill>
                      <a:srgbClr val="5D190B"/>
                    </a:solidFill>
                    <a:latin typeface="+mn-lt"/>
                    <a:ea typeface="+mn-ea"/>
                    <a:cs typeface="+mn-cs"/>
                  </a:rPr>
                  <a:t>数据看板（实时 / 多维 / 可追溯）​​</a:t>
                </a:r>
              </a:p>
            </p:txBody>
          </p:sp>
          <p:sp>
            <p:nvSpPr>
              <p:cNvPr id="184" name="Rectangle 184"/>
              <p:cNvSpPr/>
              <p:nvPr/>
            </p:nvSpPr>
            <p:spPr>
              <a:xfrm>
                <a:off x="8115300" y="4781550"/>
                <a:ext cx="1790700" cy="914400"/>
              </a:xfrm>
              <a:prstGeom prst="roundRect">
                <a:avLst>
                  <a:gd name="adj" fmla="val 6250"/>
                </a:avLst>
              </a:prstGeom>
              <a:solidFill>
                <a:srgbClr val="F0FAF8"/>
              </a:solidFill>
              <a:ln w="9525">
                <a:solidFill>
                  <a:srgbClr val="C2E0DA"/>
                </a:solidFill>
              </a:ln>
            </p:spPr>
          </p:sp>
          <p:sp>
            <p:nvSpPr>
              <p:cNvPr id="185" name="Ellipse 185"/>
              <p:cNvSpPr/>
              <p:nvPr/>
            </p:nvSpPr>
            <p:spPr>
              <a:xfrm>
                <a:off x="8210550" y="4857750"/>
                <a:ext cx="190500" cy="190500"/>
              </a:xfrm>
              <a:prstGeom prst="ellipse">
                <a:avLst/>
              </a:prstGeom>
              <a:solidFill>
                <a:srgbClr val="852512"/>
              </a:solidFill>
              <a:ln>
                <a:noFill/>
              </a:ln>
            </p:spPr>
          </p:sp>
          <p:sp>
            <p:nvSpPr>
              <p:cNvPr id="186" name="TextBox 186"/>
              <p:cNvSpPr txBox="1"/>
              <p:nvPr/>
            </p:nvSpPr>
            <p:spPr>
              <a:xfrm>
                <a:off x="8248172" y="49182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5​</a:t>
                </a:r>
              </a:p>
            </p:txBody>
          </p:sp>
          <p:grpSp>
            <p:nvGrpSpPr>
              <p:cNvPr id="189" name="Group 189"/>
              <p:cNvGrpSpPr/>
              <p:nvPr/>
            </p:nvGrpSpPr>
            <p:grpSpPr>
              <a:xfrm>
                <a:off x="8479631" y="4907756"/>
                <a:ext cx="128588" cy="71438"/>
                <a:chOff x="8479631" y="4907756"/>
                <a:chExt cx="128588" cy="71438"/>
              </a:xfrm>
            </p:grpSpPr>
            <p:sp>
              <p:nvSpPr>
                <p:cNvPr id="187" name="Freeform 187"/>
                <p:cNvSpPr/>
                <p:nvPr/>
              </p:nvSpPr>
              <p:spPr>
                <a:xfrm>
                  <a:off x="8479631" y="49077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76200F"/>
                  </a:solidFill>
                </a:ln>
              </p:spPr>
            </p:sp>
            <p:sp>
              <p:nvSpPr>
                <p:cNvPr id="188" name="Freeform 188"/>
                <p:cNvSpPr/>
                <p:nvPr/>
              </p:nvSpPr>
              <p:spPr>
                <a:xfrm>
                  <a:off x="8558212" y="4907756"/>
                  <a:ext cx="50006" cy="50006"/>
                </a:xfrm>
                <a:custGeom>
                  <a:avLst/>
                  <a:gdLst/>
                  <a:ahLst/>
                  <a:cxnLst/>
                  <a:rect l="l" t="t" r="r" b="b"/>
                  <a:pathLst>
                    <a:path w="50006" h="50006">
                      <a:moveTo>
                        <a:pt x="0" y="0"/>
                      </a:moveTo>
                      <a:lnTo>
                        <a:pt x="50006" y="0"/>
                      </a:lnTo>
                      <a:lnTo>
                        <a:pt x="50006" y="50006"/>
                      </a:lnTo>
                    </a:path>
                  </a:pathLst>
                </a:custGeom>
                <a:noFill/>
                <a:ln w="14288">
                  <a:solidFill>
                    <a:srgbClr val="76200F"/>
                  </a:solidFill>
                </a:ln>
              </p:spPr>
            </p:sp>
          </p:grpSp>
          <p:sp>
            <p:nvSpPr>
              <p:cNvPr id="190" name="TextBox 190"/>
              <p:cNvSpPr txBox="1"/>
              <p:nvPr/>
            </p:nvSpPr>
            <p:spPr>
              <a:xfrm>
                <a:off x="8682038" y="4910138"/>
                <a:ext cx="312420"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促转化</a:t>
                </a:r>
              </a:p>
            </p:txBody>
          </p:sp>
          <p:sp>
            <p:nvSpPr>
              <p:cNvPr id="191" name="TextBox 191"/>
              <p:cNvSpPr txBox="1"/>
              <p:nvPr/>
            </p:nvSpPr>
            <p:spPr>
              <a:xfrm>
                <a:off x="8186738" y="5139928"/>
                <a:ext cx="43624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线上持续跟进</a:t>
                </a:r>
                <a:br/>
                <a:r>
                  <a:rPr lang="zh-CN" sz="560" dirty="0">
                    <a:solidFill>
                      <a:srgbClr val="514340"/>
                    </a:solidFill>
                    <a:latin typeface="+mn-lt"/>
                    <a:ea typeface="+mn-ea"/>
                    <a:cs typeface="+mn-cs"/>
                  </a:rPr>
                  <a:t>实现客户转化</a:t>
                </a:r>
              </a:p>
            </p:txBody>
          </p:sp>
          <p:sp>
            <p:nvSpPr>
              <p:cNvPr id="192" name="Rectangle 192"/>
              <p:cNvSpPr/>
              <p:nvPr/>
            </p:nvSpPr>
            <p:spPr>
              <a:xfrm>
                <a:off x="8191500" y="5467350"/>
                <a:ext cx="1638300" cy="152400"/>
              </a:xfrm>
              <a:prstGeom prst="roundRect">
                <a:avLst>
                  <a:gd name="adj" fmla="val 50000"/>
                </a:avLst>
              </a:prstGeom>
              <a:solidFill>
                <a:srgbClr val="E4F3F0"/>
              </a:solidFill>
              <a:ln>
                <a:noFill/>
              </a:ln>
            </p:spPr>
          </p:sp>
          <p:sp>
            <p:nvSpPr>
              <p:cNvPr id="193" name="TextBox 193"/>
              <p:cNvSpPr txBox="1"/>
              <p:nvPr/>
            </p:nvSpPr>
            <p:spPr>
              <a:xfrm>
                <a:off x="8420113" y="5515451"/>
                <a:ext cx="1181075" cy="104775"/>
              </a:xfrm>
              <a:prstGeom prst="rect">
                <a:avLst/>
              </a:prstGeom>
              <a:noFill/>
              <a:ln>
                <a:noFill/>
              </a:ln>
            </p:spPr>
            <p:txBody>
              <a:bodyPr wrap="none" lIns="0" tIns="0" rIns="0" bIns="0" anchor="t" anchorCtr="0">
                <a:spAutoFit/>
              </a:bodyPr>
              <a:lstStyle/>
              <a:p>
                <a:pPr algn="ctr"/>
                <a:r>
                  <a:rPr lang="zh-CN" sz="520" dirty="0">
                    <a:solidFill>
                      <a:srgbClr val="5D190B"/>
                    </a:solidFill>
                    <a:latin typeface="+mn-lt"/>
                    <a:ea typeface="+mn-ea"/>
                    <a:cs typeface="+mn-cs"/>
                  </a:rPr>
                  <a:t>转化漏斗（获客-激活-转化-AUM）​​</a:t>
                </a:r>
              </a:p>
            </p:txBody>
          </p:sp>
          <p:sp>
            <p:nvSpPr>
              <p:cNvPr id="194" name="Rectangle 194"/>
              <p:cNvSpPr/>
              <p:nvPr/>
            </p:nvSpPr>
            <p:spPr>
              <a:xfrm>
                <a:off x="10058400" y="4781550"/>
                <a:ext cx="1771650" cy="914400"/>
              </a:xfrm>
              <a:prstGeom prst="roundRect">
                <a:avLst>
                  <a:gd name="adj" fmla="val 6250"/>
                </a:avLst>
              </a:prstGeom>
              <a:solidFill>
                <a:srgbClr val="F0FAF8"/>
              </a:solidFill>
              <a:ln w="9525">
                <a:solidFill>
                  <a:srgbClr val="C2E0DA"/>
                </a:solidFill>
              </a:ln>
            </p:spPr>
          </p:sp>
          <p:sp>
            <p:nvSpPr>
              <p:cNvPr id="195" name="Ellipse 195"/>
              <p:cNvSpPr/>
              <p:nvPr/>
            </p:nvSpPr>
            <p:spPr>
              <a:xfrm>
                <a:off x="10153650" y="4857750"/>
                <a:ext cx="190500" cy="190500"/>
              </a:xfrm>
              <a:prstGeom prst="ellipse">
                <a:avLst/>
              </a:prstGeom>
              <a:solidFill>
                <a:srgbClr val="5D190B"/>
              </a:solidFill>
              <a:ln>
                <a:noFill/>
              </a:ln>
            </p:spPr>
          </p:sp>
          <p:sp>
            <p:nvSpPr>
              <p:cNvPr id="196" name="TextBox 196"/>
              <p:cNvSpPr txBox="1"/>
              <p:nvPr/>
            </p:nvSpPr>
            <p:spPr>
              <a:xfrm>
                <a:off x="10191272" y="49182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6​</a:t>
                </a:r>
              </a:p>
            </p:txBody>
          </p:sp>
          <p:grpSp>
            <p:nvGrpSpPr>
              <p:cNvPr id="199" name="Group 199"/>
              <p:cNvGrpSpPr/>
              <p:nvPr/>
            </p:nvGrpSpPr>
            <p:grpSpPr>
              <a:xfrm>
                <a:off x="10429875" y="4883569"/>
                <a:ext cx="114300" cy="119813"/>
                <a:chOff x="10429875" y="4883569"/>
                <a:chExt cx="114300" cy="119813"/>
              </a:xfrm>
            </p:grpSpPr>
            <p:sp>
              <p:nvSpPr>
                <p:cNvPr id="197" name="Freeform 197"/>
                <p:cNvSpPr/>
                <p:nvPr/>
              </p:nvSpPr>
              <p:spPr>
                <a:xfrm>
                  <a:off x="10429875" y="4883569"/>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76200F"/>
                  </a:solidFill>
                </a:ln>
              </p:spPr>
            </p:sp>
            <p:sp>
              <p:nvSpPr>
                <p:cNvPr id="198" name="Freeform 198"/>
                <p:cNvSpPr/>
                <p:nvPr/>
              </p:nvSpPr>
              <p:spPr>
                <a:xfrm>
                  <a:off x="10429875" y="4950619"/>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76200F"/>
                  </a:solidFill>
                </a:ln>
              </p:spPr>
            </p:sp>
          </p:grpSp>
          <p:sp>
            <p:nvSpPr>
              <p:cNvPr id="200" name="TextBox 200"/>
              <p:cNvSpPr txBox="1"/>
              <p:nvPr/>
            </p:nvSpPr>
            <p:spPr>
              <a:xfrm>
                <a:off x="10625138" y="4910138"/>
                <a:ext cx="413385" cy="147638"/>
              </a:xfrm>
              <a:prstGeom prst="rect">
                <a:avLst/>
              </a:prstGeom>
              <a:noFill/>
              <a:ln>
                <a:noFill/>
              </a:ln>
            </p:spPr>
            <p:txBody>
              <a:bodyPr wrap="none" lIns="0" tIns="0" rIns="0" bIns="0" anchor="t" anchorCtr="0">
                <a:spAutoFit/>
              </a:bodyPr>
              <a:lstStyle/>
              <a:p>
                <a:pPr algn="l"/>
                <a:r>
                  <a:rPr lang="zh-CN" sz="750" b="1" dirty="0">
                    <a:solidFill>
                      <a:srgbClr val="331712"/>
                    </a:solidFill>
                    <a:latin typeface="+mn-lt"/>
                    <a:ea typeface="+mn-ea"/>
                    <a:cs typeface="+mn-cs"/>
                  </a:rPr>
                  <a:t>复盘复制</a:t>
                </a:r>
              </a:p>
            </p:txBody>
          </p:sp>
          <p:sp>
            <p:nvSpPr>
              <p:cNvPr id="201" name="TextBox 201"/>
              <p:cNvSpPr txBox="1"/>
              <p:nvPr/>
            </p:nvSpPr>
            <p:spPr>
              <a:xfrm>
                <a:off x="10129838" y="5139928"/>
                <a:ext cx="50736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514340"/>
                    </a:solidFill>
                    <a:latin typeface="+mn-lt"/>
                    <a:ea typeface="+mn-ea"/>
                    <a:cs typeface="+mn-cs"/>
                  </a:rPr>
                  <a:t>效果复盘与优化</a:t>
                </a:r>
                <a:br/>
                <a:r>
                  <a:rPr lang="zh-CN" sz="560" dirty="0">
                    <a:solidFill>
                      <a:srgbClr val="514340"/>
                    </a:solidFill>
                    <a:latin typeface="+mn-lt"/>
                    <a:ea typeface="+mn-ea"/>
                    <a:cs typeface="+mn-cs"/>
                  </a:rPr>
                  <a:t>沉淀最佳实践</a:t>
                </a:r>
              </a:p>
            </p:txBody>
          </p:sp>
          <p:sp>
            <p:nvSpPr>
              <p:cNvPr id="202" name="Rectangle 202"/>
              <p:cNvSpPr/>
              <p:nvPr/>
            </p:nvSpPr>
            <p:spPr>
              <a:xfrm>
                <a:off x="10134600" y="5467350"/>
                <a:ext cx="1619250" cy="152400"/>
              </a:xfrm>
              <a:prstGeom prst="roundRect">
                <a:avLst>
                  <a:gd name="adj" fmla="val 50000"/>
                </a:avLst>
              </a:prstGeom>
              <a:solidFill>
                <a:srgbClr val="E4F3F0"/>
              </a:solidFill>
              <a:ln>
                <a:noFill/>
              </a:ln>
            </p:spPr>
          </p:sp>
          <p:sp>
            <p:nvSpPr>
              <p:cNvPr id="203" name="TextBox 203"/>
              <p:cNvSpPr txBox="1"/>
              <p:nvPr/>
            </p:nvSpPr>
            <p:spPr>
              <a:xfrm>
                <a:off x="10494947" y="5515451"/>
                <a:ext cx="898555" cy="104775"/>
              </a:xfrm>
              <a:prstGeom prst="rect">
                <a:avLst/>
              </a:prstGeom>
              <a:noFill/>
              <a:ln>
                <a:noFill/>
              </a:ln>
            </p:spPr>
            <p:txBody>
              <a:bodyPr wrap="none" lIns="0" tIns="0" rIns="0" bIns="0" anchor="t" anchorCtr="0">
                <a:spAutoFit/>
              </a:bodyPr>
              <a:lstStyle/>
              <a:p>
                <a:pPr algn="ctr"/>
                <a:r>
                  <a:rPr lang="zh-CN" sz="520" dirty="0">
                    <a:solidFill>
                      <a:srgbClr val="5D190B"/>
                    </a:solidFill>
                    <a:latin typeface="+mn-lt"/>
                    <a:ea typeface="+mn-ea"/>
                    <a:cs typeface="+mn-cs"/>
                  </a:rPr>
                  <a:t>案例库（模板化 / 可复制）​</a:t>
                </a:r>
              </a:p>
            </p:txBody>
          </p:sp>
        </p:grpSp>
        <p:sp>
          <p:nvSpPr>
            <p:cNvPr id="205" name="Rectangle 205"/>
            <p:cNvSpPr/>
            <p:nvPr/>
          </p:nvSpPr>
          <p:spPr>
            <a:xfrm>
              <a:off x="2286000" y="5867400"/>
              <a:ext cx="7620000" cy="438150"/>
            </a:xfrm>
            <a:prstGeom prst="roundRect">
              <a:avLst>
                <a:gd name="adj" fmla="val 50000"/>
              </a:avLst>
            </a:prstGeom>
            <a:solidFill>
              <a:srgbClr val="5D190B"/>
            </a:solidFill>
            <a:ln>
              <a:noFill/>
            </a:ln>
          </p:spPr>
        </p:sp>
        <p:sp>
          <p:nvSpPr>
            <p:cNvPr id="206" name="TextBox 206"/>
            <p:cNvSpPr txBox="1"/>
            <p:nvPr/>
          </p:nvSpPr>
          <p:spPr>
            <a:xfrm>
              <a:off x="4070604" y="6014085"/>
              <a:ext cx="405079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让线下每一次相遇，都转化为线上可持续经营的客户关系</a:t>
              </a:r>
            </a:p>
          </p:txBody>
        </p:sp>
        <p:sp>
          <p:nvSpPr>
            <p:cNvPr id="207" name="TextBox 207"/>
            <p:cNvSpPr txBox="1"/>
            <p:nvPr/>
          </p:nvSpPr>
          <p:spPr>
            <a:xfrm>
              <a:off x="379971" y="6336030"/>
              <a:ext cx="954557"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商圈更繁华 · 生活更美好​</a:t>
              </a:r>
            </a:p>
          </p:txBody>
        </p:sp>
        <p:sp>
          <p:nvSpPr>
            <p:cNvPr id="208" name="TextBox 208"/>
            <p:cNvSpPr txBox="1"/>
            <p:nvPr/>
          </p:nvSpPr>
          <p:spPr>
            <a:xfrm>
              <a:off x="10857471" y="6336030"/>
              <a:ext cx="954557" cy="119062"/>
            </a:xfrm>
            <a:prstGeom prst="rect">
              <a:avLst/>
            </a:prstGeom>
            <a:noFill/>
            <a:ln>
              <a:noFill/>
            </a:ln>
          </p:spPr>
          <p:txBody>
            <a:bodyPr wrap="none" lIns="0" tIns="0" rIns="0" bIns="0" anchor="t" anchorCtr="0">
              <a:spAutoFit/>
            </a:bodyPr>
            <a:lstStyle/>
            <a:p>
              <a:pPr algn="ctr"/>
              <a:r>
                <a:rPr lang="zh-CN" sz="600" dirty="0">
                  <a:solidFill>
                    <a:srgbClr val="73615E"/>
                  </a:solidFill>
                  <a:latin typeface="+mn-lt"/>
                  <a:ea typeface="+mn-ea"/>
                  <a:cs typeface="+mn-cs"/>
                </a:rPr>
                <a:t>园区聚英才 · 金融托成长​</a:t>
              </a:r>
            </a:p>
          </p:txBody>
        </p:sp>
      </p:gr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01-glow"/>
          <p:cNvSpPr/>
          <p:nvPr/>
        </p:nvSpPr>
        <p:spPr>
          <a:xfrm>
            <a:off x="-571500" y="3238500"/>
            <a:ext cx="13335000" cy="4191000"/>
          </a:xfrm>
          <a:prstGeom prst="ellipse">
            <a:avLst/>
          </a:prstGeom>
          <a:gradFill>
            <a:gsLst>
              <a:gs pos="0">
                <a:srgbClr val="BFE0D5">
                  <a:alpha val="55000"/>
                </a:srgbClr>
              </a:gs>
              <a:gs pos="100000">
                <a:srgbClr val="BFE0D5">
                  <a:alpha val="0"/>
                </a:srgbClr>
              </a:gs>
            </a:gsLst>
            <a:path path="circle">
              <a:fillToRect l="50000" t="50000" r="50000" b="50000"/>
            </a:path>
          </a:gradFill>
          <a:ln>
            <a:noFill/>
          </a:ln>
        </p:spPr>
      </p:sp>
      <p:sp>
        <p:nvSpPr>
          <p:cNvPr id="3" name="p01-city-l"/>
          <p:cNvSpPr/>
          <p:nvPr/>
        </p:nvSpPr>
        <p:spPr>
          <a:xfrm>
            <a:off x="0" y="4286250"/>
            <a:ext cx="3048000" cy="1600200"/>
          </a:xfrm>
          <a:custGeom>
            <a:avLst/>
            <a:gdLst/>
            <a:ahLst/>
            <a:cxnLst/>
            <a:rect l="l" t="t" r="r" b="b"/>
            <a:pathLst>
              <a:path w="3048000" h="1600200">
                <a:moveTo>
                  <a:pt x="0" y="1600200"/>
                </a:moveTo>
                <a:lnTo>
                  <a:pt x="0" y="666750"/>
                </a:lnTo>
                <a:lnTo>
                  <a:pt x="361950" y="666750"/>
                </a:lnTo>
                <a:lnTo>
                  <a:pt x="361950" y="400050"/>
                </a:lnTo>
                <a:lnTo>
                  <a:pt x="647700" y="400050"/>
                </a:lnTo>
                <a:lnTo>
                  <a:pt x="647700" y="666750"/>
                </a:lnTo>
                <a:lnTo>
                  <a:pt x="838200" y="666750"/>
                </a:lnTo>
                <a:lnTo>
                  <a:pt x="838200" y="114300"/>
                </a:lnTo>
                <a:lnTo>
                  <a:pt x="1162050" y="114300"/>
                </a:lnTo>
                <a:lnTo>
                  <a:pt x="1162050" y="666750"/>
                </a:lnTo>
                <a:lnTo>
                  <a:pt x="1314450" y="666750"/>
                </a:lnTo>
                <a:lnTo>
                  <a:pt x="1314450" y="323850"/>
                </a:lnTo>
                <a:lnTo>
                  <a:pt x="1581150" y="323850"/>
                </a:lnTo>
                <a:lnTo>
                  <a:pt x="1581150" y="666750"/>
                </a:lnTo>
                <a:lnTo>
                  <a:pt x="1790700" y="666750"/>
                </a:lnTo>
                <a:lnTo>
                  <a:pt x="1790700" y="0"/>
                </a:lnTo>
                <a:lnTo>
                  <a:pt x="2076450" y="0"/>
                </a:lnTo>
                <a:lnTo>
                  <a:pt x="2076450" y="666750"/>
                </a:lnTo>
                <a:lnTo>
                  <a:pt x="2247900" y="666750"/>
                </a:lnTo>
                <a:lnTo>
                  <a:pt x="2247900" y="381000"/>
                </a:lnTo>
                <a:lnTo>
                  <a:pt x="2495550" y="381000"/>
                </a:lnTo>
                <a:lnTo>
                  <a:pt x="2495550" y="666750"/>
                </a:lnTo>
                <a:lnTo>
                  <a:pt x="2628900" y="666750"/>
                </a:lnTo>
                <a:lnTo>
                  <a:pt x="2628900" y="171450"/>
                </a:lnTo>
                <a:lnTo>
                  <a:pt x="2933700" y="171450"/>
                </a:lnTo>
                <a:lnTo>
                  <a:pt x="2933700" y="666750"/>
                </a:lnTo>
                <a:lnTo>
                  <a:pt x="3048000" y="666750"/>
                </a:lnTo>
                <a:lnTo>
                  <a:pt x="3048000" y="1219200"/>
                </a:lnTo>
                <a:close/>
              </a:path>
            </a:pathLst>
          </a:custGeom>
          <a:solidFill>
            <a:srgbClr val="D5EAE2"/>
          </a:solidFill>
          <a:ln>
            <a:noFill/>
          </a:ln>
        </p:spPr>
      </p:sp>
      <p:sp>
        <p:nvSpPr>
          <p:cNvPr id="4" name="p01-city-r"/>
          <p:cNvSpPr/>
          <p:nvPr/>
        </p:nvSpPr>
        <p:spPr>
          <a:xfrm>
            <a:off x="9677400" y="4152900"/>
            <a:ext cx="2514600" cy="1733550"/>
          </a:xfrm>
          <a:custGeom>
            <a:avLst/>
            <a:gdLst/>
            <a:ahLst/>
            <a:cxnLst/>
            <a:rect l="l" t="t" r="r" b="b"/>
            <a:pathLst>
              <a:path w="2514600" h="1733550">
                <a:moveTo>
                  <a:pt x="2514600" y="1733550"/>
                </a:moveTo>
                <a:lnTo>
                  <a:pt x="2514600" y="685800"/>
                </a:lnTo>
                <a:lnTo>
                  <a:pt x="2190750" y="685800"/>
                </a:lnTo>
                <a:lnTo>
                  <a:pt x="2190750" y="400050"/>
                </a:lnTo>
                <a:lnTo>
                  <a:pt x="1924050" y="400050"/>
                </a:lnTo>
                <a:lnTo>
                  <a:pt x="1924050" y="685800"/>
                </a:lnTo>
                <a:lnTo>
                  <a:pt x="1733550" y="685800"/>
                </a:lnTo>
                <a:lnTo>
                  <a:pt x="1733550" y="95250"/>
                </a:lnTo>
                <a:lnTo>
                  <a:pt x="1428750" y="95250"/>
                </a:lnTo>
                <a:lnTo>
                  <a:pt x="1428750" y="685800"/>
                </a:lnTo>
                <a:lnTo>
                  <a:pt x="1257300" y="685800"/>
                </a:lnTo>
                <a:lnTo>
                  <a:pt x="1257300" y="361950"/>
                </a:lnTo>
                <a:lnTo>
                  <a:pt x="1009650" y="361950"/>
                </a:lnTo>
                <a:lnTo>
                  <a:pt x="1009650" y="685800"/>
                </a:lnTo>
                <a:lnTo>
                  <a:pt x="800100" y="685800"/>
                </a:lnTo>
                <a:lnTo>
                  <a:pt x="800100" y="0"/>
                </a:lnTo>
                <a:lnTo>
                  <a:pt x="514350" y="0"/>
                </a:lnTo>
                <a:lnTo>
                  <a:pt x="514350" y="685800"/>
                </a:lnTo>
                <a:lnTo>
                  <a:pt x="361950" y="685800"/>
                </a:lnTo>
                <a:lnTo>
                  <a:pt x="361950" y="419100"/>
                </a:lnTo>
                <a:lnTo>
                  <a:pt x="133350" y="419100"/>
                </a:lnTo>
                <a:lnTo>
                  <a:pt x="133350" y="685800"/>
                </a:lnTo>
                <a:lnTo>
                  <a:pt x="0" y="685800"/>
                </a:lnTo>
                <a:lnTo>
                  <a:pt x="0" y="1162050"/>
                </a:lnTo>
                <a:close/>
              </a:path>
            </a:pathLst>
          </a:custGeom>
          <a:solidFill>
            <a:srgbClr val="D5EAE2"/>
          </a:solidFill>
          <a:ln>
            <a:noFill/>
          </a:ln>
        </p:spPr>
      </p:sp>
      <p:sp>
        <p:nvSpPr>
          <p:cNvPr id="5" name="p01-city-far"/>
          <p:cNvSpPr/>
          <p:nvPr/>
        </p:nvSpPr>
        <p:spPr>
          <a:xfrm>
            <a:off x="2857500" y="4667250"/>
            <a:ext cx="7410450" cy="1238250"/>
          </a:xfrm>
          <a:custGeom>
            <a:avLst/>
            <a:gdLst/>
            <a:ahLst/>
            <a:cxnLst/>
            <a:rect l="l" t="t" r="r" b="b"/>
            <a:pathLst>
              <a:path w="7410450" h="1238250">
                <a:moveTo>
                  <a:pt x="0" y="1238250"/>
                </a:moveTo>
                <a:lnTo>
                  <a:pt x="0" y="666750"/>
                </a:lnTo>
                <a:lnTo>
                  <a:pt x="247650" y="666750"/>
                </a:lnTo>
                <a:lnTo>
                  <a:pt x="247650" y="457200"/>
                </a:lnTo>
                <a:lnTo>
                  <a:pt x="457200" y="457200"/>
                </a:lnTo>
                <a:lnTo>
                  <a:pt x="457200" y="666750"/>
                </a:lnTo>
                <a:lnTo>
                  <a:pt x="590550" y="666750"/>
                </a:lnTo>
                <a:lnTo>
                  <a:pt x="590550" y="342900"/>
                </a:lnTo>
                <a:lnTo>
                  <a:pt x="838200" y="342900"/>
                </a:lnTo>
                <a:lnTo>
                  <a:pt x="838200" y="666750"/>
                </a:lnTo>
                <a:lnTo>
                  <a:pt x="6172200" y="666750"/>
                </a:lnTo>
                <a:lnTo>
                  <a:pt x="6172200" y="285750"/>
                </a:lnTo>
                <a:lnTo>
                  <a:pt x="6400800" y="285750"/>
                </a:lnTo>
                <a:lnTo>
                  <a:pt x="6400800" y="95250"/>
                </a:lnTo>
                <a:lnTo>
                  <a:pt x="6591300" y="95250"/>
                </a:lnTo>
                <a:lnTo>
                  <a:pt x="6591300" y="285750"/>
                </a:lnTo>
                <a:lnTo>
                  <a:pt x="6743700" y="285750"/>
                </a:lnTo>
                <a:lnTo>
                  <a:pt x="6743700" y="0"/>
                </a:lnTo>
                <a:lnTo>
                  <a:pt x="6991350" y="0"/>
                </a:lnTo>
                <a:lnTo>
                  <a:pt x="6991350" y="285750"/>
                </a:lnTo>
                <a:lnTo>
                  <a:pt x="7124700" y="285750"/>
                </a:lnTo>
                <a:lnTo>
                  <a:pt x="7124700" y="666750"/>
                </a:lnTo>
                <a:lnTo>
                  <a:pt x="7410450" y="666750"/>
                </a:lnTo>
                <a:lnTo>
                  <a:pt x="7410450" y="1238250"/>
                </a:lnTo>
                <a:close/>
              </a:path>
            </a:pathLst>
          </a:custGeom>
          <a:solidFill>
            <a:srgbClr val="E4F2EC"/>
          </a:solidFill>
          <a:ln>
            <a:noFill/>
          </a:ln>
        </p:spPr>
      </p:sp>
      <p:sp>
        <p:nvSpPr>
          <p:cNvPr id="6" name="p01-ground"/>
          <p:cNvSpPr/>
          <p:nvPr/>
        </p:nvSpPr>
        <p:spPr>
          <a:xfrm>
            <a:off x="0" y="5829300"/>
            <a:ext cx="12192000" cy="1028700"/>
          </a:xfrm>
          <a:prstGeom prst="rect">
            <a:avLst/>
          </a:prstGeom>
          <a:gradFill>
            <a:gsLst>
              <a:gs pos="0">
                <a:srgbClr val="DCEEE7"/>
              </a:gs>
              <a:gs pos="100000">
                <a:srgbClr val="FDFEFE"/>
              </a:gs>
            </a:gsLst>
            <a:lin ang="5400000" scaled="1"/>
          </a:gradFill>
          <a:ln>
            <a:noFill/>
          </a:ln>
        </p:spPr>
      </p:sp>
      <p:grpSp>
        <p:nvGrpSpPr>
          <p:cNvPr id="36" name="cover-center"/>
          <p:cNvGrpSpPr/>
          <p:nvPr/>
        </p:nvGrpSpPr>
        <p:grpSpPr>
          <a:xfrm>
            <a:off x="4038600" y="876300"/>
            <a:ext cx="4114800" cy="5067300"/>
            <a:chOff x="4038600" y="876300"/>
            <a:chExt cx="4114800" cy="5067300"/>
          </a:xfrm>
        </p:grpSpPr>
        <p:sp>
          <p:nvSpPr>
            <p:cNvPr id="7" name="Ellipse 7"/>
            <p:cNvSpPr/>
            <p:nvPr/>
          </p:nvSpPr>
          <p:spPr>
            <a:xfrm>
              <a:off x="4038600" y="876300"/>
              <a:ext cx="4114800" cy="4114800"/>
            </a:xfrm>
            <a:prstGeom prst="ellipse">
              <a:avLst/>
            </a:prstGeom>
            <a:noFill/>
            <a:ln w="14288">
              <a:solidFill>
                <a:srgbClr val="BFDDD3"/>
              </a:solidFill>
              <a:custDash>
                <a:ds d="266667" sp="400000"/>
              </a:custDash>
            </a:ln>
          </p:spPr>
        </p:sp>
        <p:sp>
          <p:nvSpPr>
            <p:cNvPr id="8" name="Ellipse 8"/>
            <p:cNvSpPr/>
            <p:nvPr/>
          </p:nvSpPr>
          <p:spPr>
            <a:xfrm>
              <a:off x="4229100" y="1066800"/>
              <a:ext cx="3733800" cy="3733800"/>
            </a:xfrm>
            <a:prstGeom prst="ellipse">
              <a:avLst/>
            </a:prstGeom>
            <a:solidFill>
              <a:srgbClr val="FFFFFF"/>
            </a:solidFill>
            <a:ln w="23812">
              <a:solidFill>
                <a:srgbClr val="5B180B"/>
              </a:solidFill>
            </a:ln>
          </p:spPr>
        </p:sp>
        <p:sp>
          <p:nvSpPr>
            <p:cNvPr id="9" name="Ellipse 9"/>
            <p:cNvSpPr/>
            <p:nvPr/>
          </p:nvSpPr>
          <p:spPr>
            <a:xfrm>
              <a:off x="4324350" y="1162050"/>
              <a:ext cx="3543300" cy="3543300"/>
            </a:xfrm>
            <a:prstGeom prst="ellipse">
              <a:avLst/>
            </a:prstGeom>
            <a:noFill/>
            <a:ln w="9525">
              <a:solidFill>
                <a:srgbClr val="DCEBE5"/>
              </a:solidFill>
            </a:ln>
          </p:spPr>
        </p:sp>
        <p:sp>
          <p:nvSpPr>
            <p:cNvPr id="10" name="Line 10"/>
            <p:cNvSpPr/>
            <p:nvPr/>
          </p:nvSpPr>
          <p:spPr>
            <a:xfrm>
              <a:off x="5105400" y="1676400"/>
              <a:ext cx="419100" cy="9525"/>
            </a:xfrm>
            <a:custGeom>
              <a:avLst/>
              <a:gdLst/>
              <a:ahLst/>
              <a:cxnLst/>
              <a:rect l="l" t="t" r="r" b="b"/>
              <a:pathLst>
                <a:path w="419100" h="9525">
                  <a:moveTo>
                    <a:pt x="0" y="0"/>
                  </a:moveTo>
                  <a:lnTo>
                    <a:pt x="419100" y="0"/>
                  </a:lnTo>
                </a:path>
              </a:pathLst>
            </a:custGeom>
            <a:noFill/>
            <a:ln w="14288">
              <a:solidFill>
                <a:srgbClr val="BC968F"/>
              </a:solidFill>
            </a:ln>
          </p:spPr>
        </p:sp>
        <p:sp>
          <p:nvSpPr>
            <p:cNvPr id="11" name="TextBox 11"/>
            <p:cNvSpPr txBox="1"/>
            <p:nvPr/>
          </p:nvSpPr>
          <p:spPr>
            <a:xfrm>
              <a:off x="5447719" y="1610678"/>
              <a:ext cx="1296562" cy="205359"/>
            </a:xfrm>
            <a:prstGeom prst="rect">
              <a:avLst/>
            </a:prstGeom>
            <a:noFill/>
            <a:ln>
              <a:noFill/>
            </a:ln>
          </p:spPr>
          <p:txBody>
            <a:bodyPr wrap="none" lIns="0" tIns="0" rIns="0" bIns="0" anchor="t" anchorCtr="0">
              <a:spAutoFit/>
            </a:bodyPr>
            <a:lstStyle/>
            <a:p>
              <a:pPr algn="ctr"/>
              <a:r>
                <a:rPr lang="zh-CN" sz="1050" spc="450" dirty="0">
                  <a:solidFill>
                    <a:srgbClr val="5B180B"/>
                  </a:solidFill>
                  <a:latin typeface="+mn-lt"/>
                  <a:ea typeface="+mn-ea"/>
                  <a:cs typeface="+mn-cs"/>
                </a:rPr>
                <a:t>以客户为中心​</a:t>
              </a:r>
            </a:p>
          </p:txBody>
        </p:sp>
        <p:sp>
          <p:nvSpPr>
            <p:cNvPr id="12" name="Line 12"/>
            <p:cNvSpPr/>
            <p:nvPr/>
          </p:nvSpPr>
          <p:spPr>
            <a:xfrm>
              <a:off x="6667500" y="1676400"/>
              <a:ext cx="419100" cy="9525"/>
            </a:xfrm>
            <a:custGeom>
              <a:avLst/>
              <a:gdLst/>
              <a:ahLst/>
              <a:cxnLst/>
              <a:rect l="l" t="t" r="r" b="b"/>
              <a:pathLst>
                <a:path w="419100" h="9525">
                  <a:moveTo>
                    <a:pt x="0" y="0"/>
                  </a:moveTo>
                  <a:lnTo>
                    <a:pt x="419100" y="0"/>
                  </a:lnTo>
                </a:path>
              </a:pathLst>
            </a:custGeom>
            <a:noFill/>
            <a:ln w="14288">
              <a:solidFill>
                <a:srgbClr val="BC968F"/>
              </a:solidFill>
            </a:ln>
          </p:spPr>
        </p:sp>
        <p:sp>
          <p:nvSpPr>
            <p:cNvPr id="13" name="TextBox 13"/>
            <p:cNvSpPr txBox="1"/>
            <p:nvPr/>
          </p:nvSpPr>
          <p:spPr>
            <a:xfrm>
              <a:off x="4473367" y="1945958"/>
              <a:ext cx="3245266" cy="616077"/>
            </a:xfrm>
            <a:prstGeom prst="rect">
              <a:avLst/>
            </a:prstGeom>
            <a:noFill/>
            <a:ln>
              <a:noFill/>
            </a:ln>
          </p:spPr>
          <p:txBody>
            <a:bodyPr wrap="none" lIns="0" tIns="0" rIns="0" bIns="0" anchor="t" anchorCtr="0">
              <a:spAutoFit/>
            </a:bodyPr>
            <a:lstStyle/>
            <a:p>
              <a:pPr algn="ctr"/>
              <a:r>
                <a:rPr lang="zh-CN" sz="3150" b="1" dirty="0">
                  <a:solidFill>
                    <a:srgbClr val="5B180B"/>
                  </a:solidFill>
                  <a:latin typeface="+mn-lt"/>
                  <a:ea typeface="+mn-ea"/>
                  <a:cs typeface="+mn-cs"/>
                </a:rPr>
                <a:t>银行网点四季度​</a:t>
              </a:r>
            </a:p>
          </p:txBody>
        </p:sp>
        <p:sp>
          <p:nvSpPr>
            <p:cNvPr id="14" name="TextBox 14"/>
            <p:cNvSpPr txBox="1"/>
            <p:nvPr/>
          </p:nvSpPr>
          <p:spPr>
            <a:xfrm>
              <a:off x="4685394" y="2441258"/>
              <a:ext cx="2821213" cy="616077"/>
            </a:xfrm>
            <a:prstGeom prst="rect">
              <a:avLst/>
            </a:prstGeom>
            <a:noFill/>
            <a:ln>
              <a:noFill/>
            </a:ln>
          </p:spPr>
          <p:txBody>
            <a:bodyPr wrap="none" lIns="0" tIns="0" rIns="0" bIns="0" anchor="t" anchorCtr="0">
              <a:spAutoFit/>
            </a:bodyPr>
            <a:lstStyle/>
            <a:p>
              <a:pPr algn="ctr"/>
              <a:r>
                <a:rPr lang="zh-CN" sz="3150" b="1" dirty="0">
                  <a:solidFill>
                    <a:srgbClr val="5B180B"/>
                  </a:solidFill>
                  <a:latin typeface="+mn-lt"/>
                  <a:ea typeface="+mn-ea"/>
                  <a:cs typeface="+mn-cs"/>
                </a:rPr>
                <a:t>营销冲刺方案​</a:t>
              </a:r>
            </a:p>
          </p:txBody>
        </p:sp>
        <p:sp>
          <p:nvSpPr>
            <p:cNvPr id="15" name="Line 15"/>
            <p:cNvSpPr/>
            <p:nvPr/>
          </p:nvSpPr>
          <p:spPr>
            <a:xfrm>
              <a:off x="5676900" y="3028950"/>
              <a:ext cx="838200" cy="9525"/>
            </a:xfrm>
            <a:custGeom>
              <a:avLst/>
              <a:gdLst/>
              <a:ahLst/>
              <a:cxnLst/>
              <a:rect l="l" t="t" r="r" b="b"/>
              <a:pathLst>
                <a:path w="838200" h="9525">
                  <a:moveTo>
                    <a:pt x="0" y="0"/>
                  </a:moveTo>
                  <a:lnTo>
                    <a:pt x="838200" y="0"/>
                  </a:lnTo>
                </a:path>
              </a:pathLst>
            </a:custGeom>
            <a:noFill/>
            <a:ln w="19050">
              <a:solidFill>
                <a:srgbClr val="9A412F"/>
              </a:solidFill>
            </a:ln>
          </p:spPr>
        </p:sp>
        <p:sp>
          <p:nvSpPr>
            <p:cNvPr id="16" name="TextBox 16"/>
            <p:cNvSpPr txBox="1"/>
            <p:nvPr/>
          </p:nvSpPr>
          <p:spPr>
            <a:xfrm>
              <a:off x="4366387" y="3215164"/>
              <a:ext cx="3459226" cy="249364"/>
            </a:xfrm>
            <a:prstGeom prst="rect">
              <a:avLst/>
            </a:prstGeom>
            <a:noFill/>
            <a:ln>
              <a:noFill/>
            </a:ln>
          </p:spPr>
          <p:txBody>
            <a:bodyPr wrap="none" lIns="0" tIns="0" rIns="0" bIns="0" anchor="t" anchorCtr="0">
              <a:spAutoFit/>
            </a:bodyPr>
            <a:lstStyle/>
            <a:p>
              <a:pPr algn="ctr"/>
              <a:r>
                <a:rPr lang="zh-CN" sz="1280" dirty="0">
                  <a:solidFill>
                    <a:srgbClr val="312624"/>
                  </a:solidFill>
                  <a:latin typeface="+mn-lt"/>
                  <a:ea typeface="+mn-ea"/>
                  <a:cs typeface="+mn-cs"/>
                </a:rPr>
                <a:t>决战百日 · 锁定客群 · 做实过程 · 兑现价值​</a:t>
              </a:r>
            </a:p>
          </p:txBody>
        </p:sp>
        <p:sp>
          <p:nvSpPr>
            <p:cNvPr id="17" name="Line 17"/>
            <p:cNvSpPr/>
            <p:nvPr/>
          </p:nvSpPr>
          <p:spPr>
            <a:xfrm>
              <a:off x="5486400" y="3600450"/>
              <a:ext cx="1219200" cy="9525"/>
            </a:xfrm>
            <a:custGeom>
              <a:avLst/>
              <a:gdLst/>
              <a:ahLst/>
              <a:cxnLst/>
              <a:rect l="l" t="t" r="r" b="b"/>
              <a:pathLst>
                <a:path w="1219200" h="9525">
                  <a:moveTo>
                    <a:pt x="0" y="0"/>
                  </a:moveTo>
                  <a:lnTo>
                    <a:pt x="1219200" y="0"/>
                  </a:lnTo>
                </a:path>
              </a:pathLst>
            </a:custGeom>
            <a:noFill/>
            <a:ln w="14288">
              <a:solidFill>
                <a:srgbClr val="DCEBE5"/>
              </a:solidFill>
            </a:ln>
          </p:spPr>
        </p:sp>
        <p:sp>
          <p:nvSpPr>
            <p:cNvPr id="18" name="TextBox 18"/>
            <p:cNvSpPr txBox="1"/>
            <p:nvPr/>
          </p:nvSpPr>
          <p:spPr>
            <a:xfrm>
              <a:off x="5223623" y="3819049"/>
              <a:ext cx="1744754" cy="190690"/>
            </a:xfrm>
            <a:prstGeom prst="rect">
              <a:avLst/>
            </a:prstGeom>
            <a:noFill/>
            <a:ln>
              <a:noFill/>
            </a:ln>
          </p:spPr>
          <p:txBody>
            <a:bodyPr wrap="none" lIns="0" tIns="0" rIns="0" bIns="0" anchor="t" anchorCtr="0">
              <a:spAutoFit/>
            </a:bodyPr>
            <a:lstStyle/>
            <a:p>
              <a:pPr algn="ctr"/>
              <a:r>
                <a:rPr lang="zh-CN" sz="980" dirty="0">
                  <a:solidFill>
                    <a:srgbClr val="5F6F6A"/>
                  </a:solidFill>
                  <a:latin typeface="+mn-lt"/>
                  <a:ea typeface="+mn-ea"/>
                  <a:cs typeface="+mn-cs"/>
                </a:rPr>
                <a:t>零售金融部 ｜ 网点经营团队​</a:t>
              </a:r>
            </a:p>
          </p:txBody>
        </p:sp>
        <p:sp>
          <p:nvSpPr>
            <p:cNvPr id="19" name="TextBox 19"/>
            <p:cNvSpPr txBox="1"/>
            <p:nvPr/>
          </p:nvSpPr>
          <p:spPr>
            <a:xfrm>
              <a:off x="5579828" y="4028599"/>
              <a:ext cx="1032345" cy="190690"/>
            </a:xfrm>
            <a:prstGeom prst="rect">
              <a:avLst/>
            </a:prstGeom>
            <a:noFill/>
            <a:ln>
              <a:noFill/>
            </a:ln>
          </p:spPr>
          <p:txBody>
            <a:bodyPr wrap="none" lIns="0" tIns="0" rIns="0" bIns="0" anchor="t" anchorCtr="0">
              <a:spAutoFit/>
            </a:bodyPr>
            <a:lstStyle/>
            <a:p>
              <a:pPr algn="ctr"/>
              <a:r>
                <a:rPr lang="zh-CN" sz="980" dirty="0">
                  <a:solidFill>
                    <a:srgbClr val="5F6F6A"/>
                  </a:solidFill>
                  <a:latin typeface="+mn-lt"/>
                  <a:ea typeface="+mn-ea"/>
                  <a:cs typeface="+mn-cs"/>
                </a:rPr>
                <a:t>2026年第四季度​</a:t>
              </a:r>
            </a:p>
          </p:txBody>
        </p:sp>
        <p:grpSp>
          <p:nvGrpSpPr>
            <p:cNvPr id="35" name="p01-bank"/>
            <p:cNvGrpSpPr/>
            <p:nvPr/>
          </p:nvGrpSpPr>
          <p:grpSpPr>
            <a:xfrm>
              <a:off x="4476750" y="4305300"/>
              <a:ext cx="3238500" cy="1638300"/>
              <a:chOff x="4476750" y="4305300"/>
              <a:chExt cx="3238500" cy="1638300"/>
            </a:xfrm>
          </p:grpSpPr>
          <p:sp>
            <p:nvSpPr>
              <p:cNvPr id="20" name="Rectangle 20"/>
              <p:cNvSpPr/>
              <p:nvPr/>
            </p:nvSpPr>
            <p:spPr>
              <a:xfrm>
                <a:off x="4876800" y="4476750"/>
                <a:ext cx="2438400" cy="1428750"/>
              </a:xfrm>
              <a:prstGeom prst="rect">
                <a:avLst/>
              </a:prstGeom>
              <a:solidFill>
                <a:srgbClr val="F4FBF8"/>
              </a:solidFill>
              <a:ln w="14288">
                <a:solidFill>
                  <a:srgbClr val="BFDDD3"/>
                </a:solidFill>
              </a:ln>
            </p:spPr>
          </p:sp>
          <p:sp>
            <p:nvSpPr>
              <p:cNvPr id="21" name="Rectangle 21"/>
              <p:cNvSpPr/>
              <p:nvPr/>
            </p:nvSpPr>
            <p:spPr>
              <a:xfrm>
                <a:off x="4733925" y="4305300"/>
                <a:ext cx="2724150" cy="190500"/>
              </a:xfrm>
              <a:prstGeom prst="rect">
                <a:avLst/>
              </a:prstGeom>
              <a:solidFill>
                <a:srgbClr val="631D0F"/>
              </a:solidFill>
              <a:ln>
                <a:noFill/>
              </a:ln>
            </p:spPr>
          </p:sp>
          <p:sp>
            <p:nvSpPr>
              <p:cNvPr id="22" name="Rectangle 22"/>
              <p:cNvSpPr/>
              <p:nvPr/>
            </p:nvSpPr>
            <p:spPr>
              <a:xfrm>
                <a:off x="4819650" y="4495800"/>
                <a:ext cx="76200" cy="1409700"/>
              </a:xfrm>
              <a:prstGeom prst="rect">
                <a:avLst/>
              </a:prstGeom>
              <a:solidFill>
                <a:srgbClr val="631D0F"/>
              </a:solidFill>
              <a:ln>
                <a:noFill/>
              </a:ln>
            </p:spPr>
          </p:sp>
          <p:sp>
            <p:nvSpPr>
              <p:cNvPr id="23" name="Rectangle 23"/>
              <p:cNvSpPr/>
              <p:nvPr/>
            </p:nvSpPr>
            <p:spPr>
              <a:xfrm>
                <a:off x="7296150" y="4495800"/>
                <a:ext cx="76200" cy="1409700"/>
              </a:xfrm>
              <a:prstGeom prst="rect">
                <a:avLst/>
              </a:prstGeom>
              <a:solidFill>
                <a:srgbClr val="631D0F"/>
              </a:solidFill>
              <a:ln>
                <a:noFill/>
              </a:ln>
            </p:spPr>
          </p:sp>
          <p:sp>
            <p:nvSpPr>
              <p:cNvPr id="24" name="Rectangle 24"/>
              <p:cNvSpPr/>
              <p:nvPr/>
            </p:nvSpPr>
            <p:spPr>
              <a:xfrm>
                <a:off x="5105400" y="4686300"/>
                <a:ext cx="171450" cy="1200150"/>
              </a:xfrm>
              <a:prstGeom prst="rect">
                <a:avLst/>
              </a:prstGeom>
              <a:solidFill>
                <a:srgbClr val="D9ECE5"/>
              </a:solidFill>
              <a:ln>
                <a:noFill/>
              </a:ln>
            </p:spPr>
          </p:sp>
          <p:sp>
            <p:nvSpPr>
              <p:cNvPr id="25" name="Rectangle 25"/>
              <p:cNvSpPr/>
              <p:nvPr/>
            </p:nvSpPr>
            <p:spPr>
              <a:xfrm>
                <a:off x="5448300" y="4686300"/>
                <a:ext cx="171450" cy="1200150"/>
              </a:xfrm>
              <a:prstGeom prst="rect">
                <a:avLst/>
              </a:prstGeom>
              <a:solidFill>
                <a:srgbClr val="D9ECE5"/>
              </a:solidFill>
              <a:ln>
                <a:noFill/>
              </a:ln>
            </p:spPr>
          </p:sp>
          <p:sp>
            <p:nvSpPr>
              <p:cNvPr id="26" name="Rectangle 26"/>
              <p:cNvSpPr/>
              <p:nvPr/>
            </p:nvSpPr>
            <p:spPr>
              <a:xfrm>
                <a:off x="5791200" y="4686300"/>
                <a:ext cx="171450" cy="1200150"/>
              </a:xfrm>
              <a:prstGeom prst="rect">
                <a:avLst/>
              </a:prstGeom>
              <a:solidFill>
                <a:srgbClr val="D9ECE5"/>
              </a:solidFill>
              <a:ln>
                <a:noFill/>
              </a:ln>
            </p:spPr>
          </p:sp>
          <p:sp>
            <p:nvSpPr>
              <p:cNvPr id="27" name="Rectangle 27"/>
              <p:cNvSpPr/>
              <p:nvPr/>
            </p:nvSpPr>
            <p:spPr>
              <a:xfrm>
                <a:off x="6229350" y="4686300"/>
                <a:ext cx="171450" cy="1200150"/>
              </a:xfrm>
              <a:prstGeom prst="rect">
                <a:avLst/>
              </a:prstGeom>
              <a:solidFill>
                <a:srgbClr val="D9ECE5"/>
              </a:solidFill>
              <a:ln>
                <a:noFill/>
              </a:ln>
            </p:spPr>
          </p:sp>
          <p:sp>
            <p:nvSpPr>
              <p:cNvPr id="28" name="Rectangle 28"/>
              <p:cNvSpPr/>
              <p:nvPr/>
            </p:nvSpPr>
            <p:spPr>
              <a:xfrm>
                <a:off x="6572250" y="4686300"/>
                <a:ext cx="171450" cy="1200150"/>
              </a:xfrm>
              <a:prstGeom prst="rect">
                <a:avLst/>
              </a:prstGeom>
              <a:solidFill>
                <a:srgbClr val="D9ECE5"/>
              </a:solidFill>
              <a:ln>
                <a:noFill/>
              </a:ln>
            </p:spPr>
          </p:sp>
          <p:sp>
            <p:nvSpPr>
              <p:cNvPr id="29" name="Rectangle 29"/>
              <p:cNvSpPr/>
              <p:nvPr/>
            </p:nvSpPr>
            <p:spPr>
              <a:xfrm>
                <a:off x="6915150" y="4686300"/>
                <a:ext cx="171450" cy="1200150"/>
              </a:xfrm>
              <a:prstGeom prst="rect">
                <a:avLst/>
              </a:prstGeom>
              <a:solidFill>
                <a:srgbClr val="D9ECE5"/>
              </a:solidFill>
              <a:ln>
                <a:noFill/>
              </a:ln>
            </p:spPr>
          </p:sp>
          <p:sp>
            <p:nvSpPr>
              <p:cNvPr id="30" name="Rectangle 30"/>
              <p:cNvSpPr/>
              <p:nvPr/>
            </p:nvSpPr>
            <p:spPr>
              <a:xfrm>
                <a:off x="5505450" y="5143500"/>
                <a:ext cx="1181100" cy="762000"/>
              </a:xfrm>
              <a:prstGeom prst="rect">
                <a:avLst/>
              </a:prstGeom>
              <a:solidFill>
                <a:srgbClr val="631D0F"/>
              </a:solidFill>
              <a:ln>
                <a:noFill/>
              </a:ln>
            </p:spPr>
          </p:sp>
          <p:sp>
            <p:nvSpPr>
              <p:cNvPr id="31" name="Rectangle 31"/>
              <p:cNvSpPr/>
              <p:nvPr/>
            </p:nvSpPr>
            <p:spPr>
              <a:xfrm>
                <a:off x="5619750" y="5257800"/>
                <a:ext cx="952500" cy="133350"/>
              </a:xfrm>
              <a:prstGeom prst="rect">
                <a:avLst/>
              </a:prstGeom>
              <a:solidFill>
                <a:srgbClr val="F4FBF8"/>
              </a:solidFill>
              <a:ln>
                <a:noFill/>
              </a:ln>
            </p:spPr>
          </p:sp>
          <p:sp>
            <p:nvSpPr>
              <p:cNvPr id="32" name="TextBox 32"/>
              <p:cNvSpPr txBox="1"/>
              <p:nvPr/>
            </p:nvSpPr>
            <p:spPr>
              <a:xfrm>
                <a:off x="5656212" y="5288280"/>
                <a:ext cx="879577" cy="119062"/>
              </a:xfrm>
              <a:prstGeom prst="rect">
                <a:avLst/>
              </a:prstGeom>
              <a:noFill/>
              <a:ln>
                <a:noFill/>
              </a:ln>
            </p:spPr>
            <p:txBody>
              <a:bodyPr wrap="none" lIns="0" tIns="0" rIns="0" bIns="0" anchor="t" anchorCtr="0">
                <a:spAutoFit/>
              </a:bodyPr>
              <a:lstStyle/>
              <a:p>
                <a:pPr algn="ctr"/>
                <a:r>
                  <a:rPr lang="zh-CN" sz="600" spc="75" dirty="0">
                    <a:solidFill>
                      <a:srgbClr val="FFFFFF"/>
                    </a:solidFill>
                    <a:latin typeface="+mn-lt"/>
                    <a:ea typeface="+mn-ea"/>
                    <a:cs typeface="+mn-cs"/>
                  </a:rPr>
                  <a:t>专业 · 温暖 · 可信赖</a:t>
                </a:r>
              </a:p>
            </p:txBody>
          </p:sp>
          <p:sp>
            <p:nvSpPr>
              <p:cNvPr id="33" name="Rectangle 33"/>
              <p:cNvSpPr/>
              <p:nvPr/>
            </p:nvSpPr>
            <p:spPr>
              <a:xfrm>
                <a:off x="5753100" y="5524500"/>
                <a:ext cx="685800" cy="381000"/>
              </a:xfrm>
              <a:prstGeom prst="rect">
                <a:avLst/>
              </a:prstGeom>
              <a:solidFill>
                <a:srgbClr val="571D12"/>
              </a:solidFill>
              <a:ln>
                <a:noFill/>
              </a:ln>
            </p:spPr>
          </p:sp>
          <p:sp>
            <p:nvSpPr>
              <p:cNvPr id="34" name="Rectangle 34"/>
              <p:cNvSpPr/>
              <p:nvPr/>
            </p:nvSpPr>
            <p:spPr>
              <a:xfrm>
                <a:off x="4476750" y="5886450"/>
                <a:ext cx="3238500" cy="57150"/>
              </a:xfrm>
              <a:prstGeom prst="rect">
                <a:avLst/>
              </a:prstGeom>
              <a:solidFill>
                <a:srgbClr val="BFDDD3"/>
              </a:solidFill>
              <a:ln>
                <a:noFill/>
              </a:ln>
            </p:spPr>
          </p:sp>
        </p:grpSp>
      </p:grpSp>
      <p:grpSp>
        <p:nvGrpSpPr>
          <p:cNvPr id="67" name="cover-left"/>
          <p:cNvGrpSpPr/>
          <p:nvPr/>
        </p:nvGrpSpPr>
        <p:grpSpPr>
          <a:xfrm>
            <a:off x="488823" y="857250"/>
            <a:ext cx="2144411" cy="3759041"/>
            <a:chOff x="488823" y="857250"/>
            <a:chExt cx="2144411" cy="3759041"/>
          </a:xfrm>
        </p:grpSpPr>
        <p:grpSp>
          <p:nvGrpSpPr>
            <p:cNvPr id="47" name="cover-node-kq"/>
            <p:cNvGrpSpPr/>
            <p:nvPr/>
          </p:nvGrpSpPr>
          <p:grpSpPr>
            <a:xfrm>
              <a:off x="1900665" y="857250"/>
              <a:ext cx="732569" cy="1053941"/>
              <a:chOff x="1900665" y="857250"/>
              <a:chExt cx="732569" cy="1053941"/>
            </a:xfrm>
          </p:grpSpPr>
          <p:sp>
            <p:nvSpPr>
              <p:cNvPr id="37" name="Ellipse 37"/>
              <p:cNvSpPr/>
              <p:nvPr/>
            </p:nvSpPr>
            <p:spPr>
              <a:xfrm>
                <a:off x="1981200" y="857250"/>
                <a:ext cx="571500" cy="571500"/>
              </a:xfrm>
              <a:prstGeom prst="ellipse">
                <a:avLst/>
              </a:prstGeom>
              <a:gradFill>
                <a:gsLst>
                  <a:gs pos="0">
                    <a:srgbClr val="722617"/>
                  </a:gs>
                  <a:gs pos="100000">
                    <a:srgbClr val="5B180B"/>
                  </a:gs>
                </a:gsLst>
                <a:lin ang="2700000" scaled="1"/>
              </a:gradFill>
              <a:ln>
                <a:noFill/>
              </a:ln>
            </p:spPr>
          </p:sp>
          <p:grpSp>
            <p:nvGrpSpPr>
              <p:cNvPr id="44" name="Group 44"/>
              <p:cNvGrpSpPr/>
              <p:nvPr/>
            </p:nvGrpSpPr>
            <p:grpSpPr>
              <a:xfrm>
                <a:off x="2152650" y="1028700"/>
                <a:ext cx="228599" cy="228599"/>
                <a:chOff x="2152650" y="1028700"/>
                <a:chExt cx="228599" cy="228599"/>
              </a:xfrm>
            </p:grpSpPr>
            <p:sp>
              <p:nvSpPr>
                <p:cNvPr id="38" name="Freeform 38"/>
                <p:cNvSpPr/>
                <p:nvPr/>
              </p:nvSpPr>
              <p:spPr>
                <a:xfrm>
                  <a:off x="2241550" y="11303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39" name="Freeform 39"/>
                <p:cNvSpPr/>
                <p:nvPr/>
              </p:nvSpPr>
              <p:spPr>
                <a:xfrm>
                  <a:off x="2216150" y="1219199"/>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FFFFFF"/>
                  </a:solidFill>
                </a:ln>
              </p:spPr>
            </p:sp>
            <p:sp>
              <p:nvSpPr>
                <p:cNvPr id="40" name="Freeform 40"/>
                <p:cNvSpPr/>
                <p:nvPr/>
              </p:nvSpPr>
              <p:spPr>
                <a:xfrm>
                  <a:off x="2305050" y="10287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41" name="Freeform 41"/>
                <p:cNvSpPr/>
                <p:nvPr/>
              </p:nvSpPr>
              <p:spPr>
                <a:xfrm>
                  <a:off x="2330449" y="1117600"/>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FFFFFF"/>
                  </a:solidFill>
                </a:ln>
              </p:spPr>
            </p:sp>
            <p:sp>
              <p:nvSpPr>
                <p:cNvPr id="42" name="Freeform 42"/>
                <p:cNvSpPr/>
                <p:nvPr/>
              </p:nvSpPr>
              <p:spPr>
                <a:xfrm>
                  <a:off x="2178050" y="10287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FFFFFF"/>
                  </a:solidFill>
                </a:ln>
              </p:spPr>
            </p:sp>
            <p:sp>
              <p:nvSpPr>
                <p:cNvPr id="43" name="Freeform 43"/>
                <p:cNvSpPr/>
                <p:nvPr/>
              </p:nvSpPr>
              <p:spPr>
                <a:xfrm>
                  <a:off x="2152650" y="11176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FFFFFF"/>
                  </a:solidFill>
                </a:ln>
              </p:spPr>
            </p:sp>
          </p:grpSp>
          <p:sp>
            <p:nvSpPr>
              <p:cNvPr id="45" name="TextBox 45"/>
              <p:cNvSpPr txBox="1"/>
              <p:nvPr/>
            </p:nvSpPr>
            <p:spPr>
              <a:xfrm>
                <a:off x="1916150" y="1535906"/>
                <a:ext cx="701600" cy="220028"/>
              </a:xfrm>
              <a:prstGeom prst="rect">
                <a:avLst/>
              </a:prstGeom>
              <a:noFill/>
              <a:ln>
                <a:noFill/>
              </a:ln>
            </p:spPr>
            <p:txBody>
              <a:bodyPr wrap="none" lIns="0" tIns="0" rIns="0" bIns="0" anchor="t" anchorCtr="0">
                <a:spAutoFit/>
              </a:bodyPr>
              <a:lstStyle/>
              <a:p>
                <a:pPr algn="ctr"/>
                <a:r>
                  <a:rPr lang="zh-CN" sz="1120" b="1" dirty="0">
                    <a:solidFill>
                      <a:srgbClr val="5B180B"/>
                    </a:solidFill>
                    <a:latin typeface="+mn-lt"/>
                    <a:ea typeface="+mn-ea"/>
                    <a:cs typeface="+mn-cs"/>
                  </a:rPr>
                  <a:t>客群深耕​</a:t>
                </a:r>
              </a:p>
            </p:txBody>
          </p:sp>
          <p:sp>
            <p:nvSpPr>
              <p:cNvPr id="46" name="TextBox 46"/>
              <p:cNvSpPr txBox="1"/>
              <p:nvPr/>
            </p:nvSpPr>
            <p:spPr>
              <a:xfrm>
                <a:off x="1900665" y="1749266"/>
                <a:ext cx="732569" cy="161925"/>
              </a:xfrm>
              <a:prstGeom prst="rect">
                <a:avLst/>
              </a:prstGeom>
              <a:noFill/>
              <a:ln>
                <a:noFill/>
              </a:ln>
            </p:spPr>
            <p:txBody>
              <a:bodyPr wrap="none" lIns="0" tIns="0" rIns="0" bIns="0" anchor="t" anchorCtr="0">
                <a:spAutoFit/>
              </a:bodyPr>
              <a:lstStyle/>
              <a:p>
                <a:pPr algn="ctr"/>
                <a:r>
                  <a:rPr lang="zh-CN" sz="820" dirty="0">
                    <a:solidFill>
                      <a:srgbClr val="5F6F6A"/>
                    </a:solidFill>
                    <a:latin typeface="+mn-lt"/>
                    <a:ea typeface="+mn-ea"/>
                    <a:cs typeface="+mn-cs"/>
                  </a:rPr>
                  <a:t>扩大客户基础​</a:t>
                </a:r>
              </a:p>
            </p:txBody>
          </p:sp>
        </p:grpSp>
        <p:grpSp>
          <p:nvGrpSpPr>
            <p:cNvPr id="54" name="cover-node-jz"/>
            <p:cNvGrpSpPr/>
            <p:nvPr/>
          </p:nvGrpSpPr>
          <p:grpSpPr>
            <a:xfrm>
              <a:off x="1633965" y="2209800"/>
              <a:ext cx="732569" cy="1053941"/>
              <a:chOff x="1633965" y="2209800"/>
              <a:chExt cx="732569" cy="1053941"/>
            </a:xfrm>
          </p:grpSpPr>
          <p:sp>
            <p:nvSpPr>
              <p:cNvPr id="48" name="Ellipse 48"/>
              <p:cNvSpPr/>
              <p:nvPr/>
            </p:nvSpPr>
            <p:spPr>
              <a:xfrm>
                <a:off x="1714500" y="2209800"/>
                <a:ext cx="571500" cy="571500"/>
              </a:xfrm>
              <a:prstGeom prst="ellipse">
                <a:avLst/>
              </a:prstGeom>
              <a:gradFill>
                <a:gsLst>
                  <a:gs pos="0">
                    <a:srgbClr val="722617"/>
                  </a:gs>
                  <a:gs pos="100000">
                    <a:srgbClr val="5B180B"/>
                  </a:gs>
                </a:gsLst>
                <a:lin ang="2700000" scaled="1"/>
              </a:gradFill>
              <a:ln>
                <a:noFill/>
              </a:ln>
            </p:spPr>
          </p:sp>
          <p:grpSp>
            <p:nvGrpSpPr>
              <p:cNvPr id="51" name="Group 51"/>
              <p:cNvGrpSpPr/>
              <p:nvPr/>
            </p:nvGrpSpPr>
            <p:grpSpPr>
              <a:xfrm>
                <a:off x="1885950" y="2406650"/>
                <a:ext cx="228599" cy="186818"/>
                <a:chOff x="1885950" y="2406650"/>
                <a:chExt cx="228599" cy="186818"/>
              </a:xfrm>
            </p:grpSpPr>
            <p:sp>
              <p:nvSpPr>
                <p:cNvPr id="49" name="Freeform 49"/>
                <p:cNvSpPr/>
                <p:nvPr/>
              </p:nvSpPr>
              <p:spPr>
                <a:xfrm>
                  <a:off x="1885950" y="2406650"/>
                  <a:ext cx="228599" cy="186818"/>
                </a:xfrm>
                <a:custGeom>
                  <a:avLst/>
                  <a:gdLst/>
                  <a:ahLst/>
                  <a:cxnLst/>
                  <a:rect l="l" t="t" r="r" b="b"/>
                  <a:pathLst>
                    <a:path w="228599" h="186818">
                      <a:moveTo>
                        <a:pt x="38100" y="0"/>
                      </a:moveTo>
                      <a:lnTo>
                        <a:pt x="190500" y="0"/>
                      </a:lnTo>
                      <a:lnTo>
                        <a:pt x="228599" y="63500"/>
                      </a:lnTo>
                      <a:lnTo>
                        <a:pt x="120650" y="184150"/>
                      </a:lnTo>
                      <a:cubicBezTo>
                        <a:pt x="118978" y="185856"/>
                        <a:pt x="116689" y="186818"/>
                        <a:pt x="114300" y="186818"/>
                      </a:cubicBezTo>
                      <a:cubicBezTo>
                        <a:pt x="111910" y="186818"/>
                        <a:pt x="109622" y="185856"/>
                        <a:pt x="107950" y="184150"/>
                      </a:cubicBezTo>
                      <a:lnTo>
                        <a:pt x="0" y="63500"/>
                      </a:lnTo>
                      <a:lnTo>
                        <a:pt x="38100" y="0"/>
                      </a:lnTo>
                    </a:path>
                  </a:pathLst>
                </a:custGeom>
                <a:noFill/>
                <a:ln w="25400">
                  <a:solidFill>
                    <a:srgbClr val="FFFFFF"/>
                  </a:solidFill>
                </a:ln>
              </p:spPr>
            </p:sp>
            <p:sp>
              <p:nvSpPr>
                <p:cNvPr id="50" name="Freeform 50"/>
                <p:cNvSpPr/>
                <p:nvPr/>
              </p:nvSpPr>
              <p:spPr>
                <a:xfrm>
                  <a:off x="1949450" y="2454910"/>
                  <a:ext cx="25400" cy="40640"/>
                </a:xfrm>
                <a:custGeom>
                  <a:avLst/>
                  <a:gdLst/>
                  <a:ahLst/>
                  <a:cxnLst/>
                  <a:rect l="l" t="t" r="r" b="b"/>
                  <a:pathLst>
                    <a:path w="25400" h="40640">
                      <a:moveTo>
                        <a:pt x="25400" y="40640"/>
                      </a:moveTo>
                      <a:lnTo>
                        <a:pt x="0" y="12700"/>
                      </a:lnTo>
                      <a:lnTo>
                        <a:pt x="7620" y="0"/>
                      </a:lnTo>
                    </a:path>
                  </a:pathLst>
                </a:custGeom>
                <a:noFill/>
                <a:ln w="25400">
                  <a:solidFill>
                    <a:srgbClr val="FFFFFF"/>
                  </a:solidFill>
                </a:ln>
              </p:spPr>
            </p:sp>
          </p:grpSp>
          <p:sp>
            <p:nvSpPr>
              <p:cNvPr id="52" name="TextBox 52"/>
              <p:cNvSpPr txBox="1"/>
              <p:nvPr/>
            </p:nvSpPr>
            <p:spPr>
              <a:xfrm>
                <a:off x="1649450" y="2888456"/>
                <a:ext cx="701600" cy="220028"/>
              </a:xfrm>
              <a:prstGeom prst="rect">
                <a:avLst/>
              </a:prstGeom>
              <a:noFill/>
              <a:ln>
                <a:noFill/>
              </a:ln>
            </p:spPr>
            <p:txBody>
              <a:bodyPr wrap="none" lIns="0" tIns="0" rIns="0" bIns="0" anchor="t" anchorCtr="0">
                <a:spAutoFit/>
              </a:bodyPr>
              <a:lstStyle/>
              <a:p>
                <a:pPr algn="ctr"/>
                <a:r>
                  <a:rPr lang="zh-CN" sz="1120" b="1" dirty="0">
                    <a:solidFill>
                      <a:srgbClr val="5B180B"/>
                    </a:solidFill>
                    <a:latin typeface="+mn-lt"/>
                    <a:ea typeface="+mn-ea"/>
                    <a:cs typeface="+mn-cs"/>
                  </a:rPr>
                  <a:t>价值提升​</a:t>
                </a:r>
              </a:p>
            </p:txBody>
          </p:sp>
          <p:sp>
            <p:nvSpPr>
              <p:cNvPr id="53" name="TextBox 53"/>
              <p:cNvSpPr txBox="1"/>
              <p:nvPr/>
            </p:nvSpPr>
            <p:spPr>
              <a:xfrm>
                <a:off x="1633965" y="3101816"/>
                <a:ext cx="732569" cy="161925"/>
              </a:xfrm>
              <a:prstGeom prst="rect">
                <a:avLst/>
              </a:prstGeom>
              <a:noFill/>
              <a:ln>
                <a:noFill/>
              </a:ln>
            </p:spPr>
            <p:txBody>
              <a:bodyPr wrap="none" lIns="0" tIns="0" rIns="0" bIns="0" anchor="t" anchorCtr="0">
                <a:spAutoFit/>
              </a:bodyPr>
              <a:lstStyle/>
              <a:p>
                <a:pPr algn="ctr"/>
                <a:r>
                  <a:rPr lang="zh-CN" sz="820" dirty="0">
                    <a:solidFill>
                      <a:srgbClr val="5F6F6A"/>
                    </a:solidFill>
                    <a:latin typeface="+mn-lt"/>
                    <a:ea typeface="+mn-ea"/>
                    <a:cs typeface="+mn-cs"/>
                  </a:rPr>
                  <a:t>做大客户贡献​</a:t>
                </a:r>
              </a:p>
            </p:txBody>
          </p:sp>
        </p:grpSp>
        <p:grpSp>
          <p:nvGrpSpPr>
            <p:cNvPr id="63" name="cover-node-gc"/>
            <p:cNvGrpSpPr/>
            <p:nvPr/>
          </p:nvGrpSpPr>
          <p:grpSpPr>
            <a:xfrm>
              <a:off x="1900665" y="3562350"/>
              <a:ext cx="732569" cy="1053941"/>
              <a:chOff x="1900665" y="3562350"/>
              <a:chExt cx="732569" cy="1053941"/>
            </a:xfrm>
          </p:grpSpPr>
          <p:sp>
            <p:nvSpPr>
              <p:cNvPr id="55" name="Ellipse 55"/>
              <p:cNvSpPr/>
              <p:nvPr/>
            </p:nvSpPr>
            <p:spPr>
              <a:xfrm>
                <a:off x="1981200" y="3562350"/>
                <a:ext cx="571500" cy="571500"/>
              </a:xfrm>
              <a:prstGeom prst="ellipse">
                <a:avLst/>
              </a:prstGeom>
              <a:gradFill>
                <a:gsLst>
                  <a:gs pos="0">
                    <a:srgbClr val="722617"/>
                  </a:gs>
                  <a:gs pos="100000">
                    <a:srgbClr val="5B180B"/>
                  </a:gs>
                </a:gsLst>
                <a:lin ang="2700000" scaled="1"/>
              </a:gradFill>
              <a:ln>
                <a:noFill/>
              </a:ln>
            </p:spPr>
          </p:sp>
          <p:grpSp>
            <p:nvGrpSpPr>
              <p:cNvPr id="60" name="Group 60"/>
              <p:cNvGrpSpPr/>
              <p:nvPr/>
            </p:nvGrpSpPr>
            <p:grpSpPr>
              <a:xfrm>
                <a:off x="2178050" y="3746500"/>
                <a:ext cx="190500" cy="215899"/>
                <a:chOff x="2178050" y="3746500"/>
                <a:chExt cx="190500" cy="215899"/>
              </a:xfrm>
            </p:grpSpPr>
            <p:sp>
              <p:nvSpPr>
                <p:cNvPr id="56" name="Freeform 56"/>
                <p:cNvSpPr/>
                <p:nvPr/>
              </p:nvSpPr>
              <p:spPr>
                <a:xfrm>
                  <a:off x="2178050" y="3746500"/>
                  <a:ext cx="152400" cy="203199"/>
                </a:xfrm>
                <a:custGeom>
                  <a:avLst/>
                  <a:gdLst/>
                  <a:ahLst/>
                  <a:cxnLst/>
                  <a:rect l="l" t="t" r="r" b="b"/>
                  <a:pathLst>
                    <a:path w="152400" h="203199">
                      <a:moveTo>
                        <a:pt x="58610" y="203199"/>
                      </a:moveTo>
                      <a:lnTo>
                        <a:pt x="25400" y="203199"/>
                      </a:lnTo>
                      <a:cubicBezTo>
                        <a:pt x="11372" y="203199"/>
                        <a:pt x="0" y="191828"/>
                        <a:pt x="0" y="177800"/>
                      </a:cubicBezTo>
                      <a:lnTo>
                        <a:pt x="0" y="25400"/>
                      </a:lnTo>
                      <a:cubicBezTo>
                        <a:pt x="0" y="11372"/>
                        <a:pt x="11372" y="0"/>
                        <a:pt x="25400" y="0"/>
                      </a:cubicBezTo>
                      <a:lnTo>
                        <a:pt x="127000" y="0"/>
                      </a:lnTo>
                      <a:cubicBezTo>
                        <a:pt x="141028" y="0"/>
                        <a:pt x="152400" y="11372"/>
                        <a:pt x="152400" y="25400"/>
                      </a:cubicBezTo>
                      <a:lnTo>
                        <a:pt x="152400" y="127000"/>
                      </a:lnTo>
                    </a:path>
                  </a:pathLst>
                </a:custGeom>
                <a:noFill/>
                <a:ln w="25400">
                  <a:solidFill>
                    <a:srgbClr val="FFFFFF"/>
                  </a:solidFill>
                </a:ln>
              </p:spPr>
            </p:sp>
            <p:sp>
              <p:nvSpPr>
                <p:cNvPr id="57" name="Freeform 57"/>
                <p:cNvSpPr/>
                <p:nvPr/>
              </p:nvSpPr>
              <p:spPr>
                <a:xfrm>
                  <a:off x="2292350" y="3911599"/>
                  <a:ext cx="76200" cy="50800"/>
                </a:xfrm>
                <a:custGeom>
                  <a:avLst/>
                  <a:gdLst/>
                  <a:ahLst/>
                  <a:cxnLst/>
                  <a:rect l="l" t="t" r="r" b="b"/>
                  <a:pathLst>
                    <a:path w="76200" h="50800">
                      <a:moveTo>
                        <a:pt x="0" y="25400"/>
                      </a:moveTo>
                      <a:lnTo>
                        <a:pt x="25400" y="50800"/>
                      </a:lnTo>
                      <a:lnTo>
                        <a:pt x="76200" y="0"/>
                      </a:lnTo>
                    </a:path>
                  </a:pathLst>
                </a:custGeom>
                <a:noFill/>
                <a:ln w="25400">
                  <a:solidFill>
                    <a:srgbClr val="FFFFFF"/>
                  </a:solidFill>
                </a:ln>
              </p:spPr>
            </p:sp>
            <p:sp>
              <p:nvSpPr>
                <p:cNvPr id="58" name="Freeform 58"/>
                <p:cNvSpPr/>
                <p:nvPr/>
              </p:nvSpPr>
              <p:spPr>
                <a:xfrm>
                  <a:off x="2228850" y="3797300"/>
                  <a:ext cx="50800" cy="9525"/>
                </a:xfrm>
                <a:custGeom>
                  <a:avLst/>
                  <a:gdLst/>
                  <a:ahLst/>
                  <a:cxnLst/>
                  <a:rect l="l" t="t" r="r" b="b"/>
                  <a:pathLst>
                    <a:path w="50800" h="9525">
                      <a:moveTo>
                        <a:pt x="0" y="0"/>
                      </a:moveTo>
                      <a:lnTo>
                        <a:pt x="50800" y="0"/>
                      </a:lnTo>
                    </a:path>
                  </a:pathLst>
                </a:custGeom>
                <a:noFill/>
                <a:ln w="25400">
                  <a:solidFill>
                    <a:srgbClr val="FFFFFF"/>
                  </a:solidFill>
                </a:ln>
              </p:spPr>
            </p:sp>
            <p:sp>
              <p:nvSpPr>
                <p:cNvPr id="59" name="Freeform 59"/>
                <p:cNvSpPr/>
                <p:nvPr/>
              </p:nvSpPr>
              <p:spPr>
                <a:xfrm>
                  <a:off x="2228850" y="3848100"/>
                  <a:ext cx="25400" cy="9525"/>
                </a:xfrm>
                <a:custGeom>
                  <a:avLst/>
                  <a:gdLst/>
                  <a:ahLst/>
                  <a:cxnLst/>
                  <a:rect l="l" t="t" r="r" b="b"/>
                  <a:pathLst>
                    <a:path w="25400" h="9525">
                      <a:moveTo>
                        <a:pt x="0" y="0"/>
                      </a:moveTo>
                      <a:lnTo>
                        <a:pt x="25400" y="0"/>
                      </a:lnTo>
                    </a:path>
                  </a:pathLst>
                </a:custGeom>
                <a:noFill/>
                <a:ln w="25400">
                  <a:solidFill>
                    <a:srgbClr val="FFFFFF"/>
                  </a:solidFill>
                </a:ln>
              </p:spPr>
            </p:sp>
          </p:grpSp>
          <p:sp>
            <p:nvSpPr>
              <p:cNvPr id="61" name="TextBox 61"/>
              <p:cNvSpPr txBox="1"/>
              <p:nvPr/>
            </p:nvSpPr>
            <p:spPr>
              <a:xfrm>
                <a:off x="1916150" y="4241006"/>
                <a:ext cx="701600" cy="220028"/>
              </a:xfrm>
              <a:prstGeom prst="rect">
                <a:avLst/>
              </a:prstGeom>
              <a:noFill/>
              <a:ln>
                <a:noFill/>
              </a:ln>
            </p:spPr>
            <p:txBody>
              <a:bodyPr wrap="none" lIns="0" tIns="0" rIns="0" bIns="0" anchor="t" anchorCtr="0">
                <a:spAutoFit/>
              </a:bodyPr>
              <a:lstStyle/>
              <a:p>
                <a:pPr algn="ctr"/>
                <a:r>
                  <a:rPr lang="zh-CN" sz="1120" b="1" dirty="0">
                    <a:solidFill>
                      <a:srgbClr val="5B180B"/>
                    </a:solidFill>
                    <a:latin typeface="+mn-lt"/>
                    <a:ea typeface="+mn-ea"/>
                    <a:cs typeface="+mn-cs"/>
                  </a:rPr>
                  <a:t>过程管控​</a:t>
                </a:r>
              </a:p>
            </p:txBody>
          </p:sp>
          <p:sp>
            <p:nvSpPr>
              <p:cNvPr id="62" name="TextBox 62"/>
              <p:cNvSpPr txBox="1"/>
              <p:nvPr/>
            </p:nvSpPr>
            <p:spPr>
              <a:xfrm>
                <a:off x="1900665" y="4454366"/>
                <a:ext cx="732569" cy="161925"/>
              </a:xfrm>
              <a:prstGeom prst="rect">
                <a:avLst/>
              </a:prstGeom>
              <a:noFill/>
              <a:ln>
                <a:noFill/>
              </a:ln>
            </p:spPr>
            <p:txBody>
              <a:bodyPr wrap="none" lIns="0" tIns="0" rIns="0" bIns="0" anchor="t" anchorCtr="0">
                <a:spAutoFit/>
              </a:bodyPr>
              <a:lstStyle/>
              <a:p>
                <a:pPr algn="ctr"/>
                <a:r>
                  <a:rPr lang="zh-CN" sz="820" dirty="0">
                    <a:solidFill>
                      <a:srgbClr val="5F6F6A"/>
                    </a:solidFill>
                    <a:latin typeface="+mn-lt"/>
                    <a:ea typeface="+mn-ea"/>
                    <a:cs typeface="+mn-cs"/>
                  </a:rPr>
                  <a:t>强化执行闭环​</a:t>
                </a:r>
              </a:p>
            </p:txBody>
          </p:sp>
        </p:grpSp>
        <p:sp>
          <p:nvSpPr>
            <p:cNvPr id="64" name="TextBox 64"/>
            <p:cNvSpPr txBox="1"/>
            <p:nvPr/>
          </p:nvSpPr>
          <p:spPr>
            <a:xfrm>
              <a:off x="488823" y="3710464"/>
              <a:ext cx="801720" cy="249364"/>
            </a:xfrm>
            <a:prstGeom prst="rect">
              <a:avLst/>
            </a:prstGeom>
            <a:noFill/>
            <a:ln>
              <a:noFill/>
            </a:ln>
          </p:spPr>
          <p:txBody>
            <a:bodyPr wrap="none" lIns="0" tIns="0" rIns="0" bIns="0" anchor="t" anchorCtr="0">
              <a:spAutoFit/>
            </a:bodyPr>
            <a:lstStyle/>
            <a:p>
              <a:pPr algn="l"/>
              <a:r>
                <a:rPr lang="zh-CN" sz="1280" b="1" dirty="0">
                  <a:solidFill>
                    <a:srgbClr val="5B180B"/>
                  </a:solidFill>
                  <a:latin typeface="+mn-lt"/>
                  <a:ea typeface="+mn-ea"/>
                  <a:cs typeface="+mn-cs"/>
                </a:rPr>
                <a:t>更懂客户​</a:t>
              </a:r>
            </a:p>
          </p:txBody>
        </p:sp>
        <p:sp>
          <p:nvSpPr>
            <p:cNvPr id="65" name="TextBox 65"/>
            <p:cNvSpPr txBox="1"/>
            <p:nvPr/>
          </p:nvSpPr>
          <p:spPr>
            <a:xfrm>
              <a:off x="488823" y="3939064"/>
              <a:ext cx="1146347" cy="249364"/>
            </a:xfrm>
            <a:prstGeom prst="rect">
              <a:avLst/>
            </a:prstGeom>
            <a:noFill/>
            <a:ln>
              <a:noFill/>
            </a:ln>
          </p:spPr>
          <p:txBody>
            <a:bodyPr wrap="none" lIns="0" tIns="0" rIns="0" bIns="0" anchor="t" anchorCtr="0">
              <a:spAutoFit/>
            </a:bodyPr>
            <a:lstStyle/>
            <a:p>
              <a:pPr algn="l"/>
              <a:r>
                <a:rPr lang="zh-CN" sz="1280" b="1" dirty="0">
                  <a:solidFill>
                    <a:srgbClr val="5B180B"/>
                  </a:solidFill>
                  <a:latin typeface="+mn-lt"/>
                  <a:ea typeface="+mn-ea"/>
                  <a:cs typeface="+mn-cs"/>
                </a:rPr>
                <a:t>共创更好未来​</a:t>
              </a:r>
            </a:p>
          </p:txBody>
        </p:sp>
        <p:sp>
          <p:nvSpPr>
            <p:cNvPr id="66" name="Line 66"/>
            <p:cNvSpPr/>
            <p:nvPr/>
          </p:nvSpPr>
          <p:spPr>
            <a:xfrm>
              <a:off x="495300" y="4191000"/>
              <a:ext cx="762000" cy="9525"/>
            </a:xfrm>
            <a:custGeom>
              <a:avLst/>
              <a:gdLst/>
              <a:ahLst/>
              <a:cxnLst/>
              <a:rect l="l" t="t" r="r" b="b"/>
              <a:pathLst>
                <a:path w="762000" h="9525">
                  <a:moveTo>
                    <a:pt x="0" y="0"/>
                  </a:moveTo>
                  <a:lnTo>
                    <a:pt x="762000" y="0"/>
                  </a:lnTo>
                </a:path>
              </a:pathLst>
            </a:custGeom>
            <a:noFill/>
            <a:ln w="19050">
              <a:solidFill>
                <a:srgbClr val="9A412F"/>
              </a:solidFill>
            </a:ln>
          </p:spPr>
        </p:sp>
      </p:grpSp>
      <p:grpSp>
        <p:nvGrpSpPr>
          <p:cNvPr id="107" name="cover-right"/>
          <p:cNvGrpSpPr/>
          <p:nvPr/>
        </p:nvGrpSpPr>
        <p:grpSpPr>
          <a:xfrm>
            <a:off x="8553450" y="857250"/>
            <a:ext cx="3246466" cy="4857750"/>
            <a:chOff x="8553450" y="857250"/>
            <a:chExt cx="3246466" cy="4857750"/>
          </a:xfrm>
        </p:grpSpPr>
        <p:grpSp>
          <p:nvGrpSpPr>
            <p:cNvPr id="75" name="cover-node-jx"/>
            <p:cNvGrpSpPr/>
            <p:nvPr/>
          </p:nvGrpSpPr>
          <p:grpSpPr>
            <a:xfrm>
              <a:off x="9558765" y="857250"/>
              <a:ext cx="732569" cy="1053941"/>
              <a:chOff x="9558765" y="857250"/>
              <a:chExt cx="732569" cy="1053941"/>
            </a:xfrm>
          </p:grpSpPr>
          <p:sp>
            <p:nvSpPr>
              <p:cNvPr id="68" name="Ellipse 68"/>
              <p:cNvSpPr/>
              <p:nvPr/>
            </p:nvSpPr>
            <p:spPr>
              <a:xfrm>
                <a:off x="9639300" y="857250"/>
                <a:ext cx="571500" cy="571500"/>
              </a:xfrm>
              <a:prstGeom prst="ellipse">
                <a:avLst/>
              </a:prstGeom>
              <a:gradFill>
                <a:gsLst>
                  <a:gs pos="0">
                    <a:srgbClr val="722617"/>
                  </a:gs>
                  <a:gs pos="100000">
                    <a:srgbClr val="5B180B"/>
                  </a:gs>
                </a:gsLst>
                <a:lin ang="2700000" scaled="1"/>
              </a:gradFill>
              <a:ln>
                <a:noFill/>
              </a:ln>
            </p:spPr>
          </p:sp>
          <p:grpSp>
            <p:nvGrpSpPr>
              <p:cNvPr id="72" name="Group 72"/>
              <p:cNvGrpSpPr/>
              <p:nvPr/>
            </p:nvGrpSpPr>
            <p:grpSpPr>
              <a:xfrm>
                <a:off x="9810750" y="1028700"/>
                <a:ext cx="228599" cy="228599"/>
                <a:chOff x="9810750" y="1028700"/>
                <a:chExt cx="228599" cy="228599"/>
              </a:xfrm>
            </p:grpSpPr>
            <p:sp>
              <p:nvSpPr>
                <p:cNvPr id="69" name="Freeform 69"/>
                <p:cNvSpPr/>
                <p:nvPr/>
              </p:nvSpPr>
              <p:spPr>
                <a:xfrm>
                  <a:off x="9912350" y="11303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FFFFFF"/>
                  </a:solidFill>
                </a:ln>
              </p:spPr>
            </p:sp>
            <p:sp>
              <p:nvSpPr>
                <p:cNvPr id="70" name="Freeform 70"/>
                <p:cNvSpPr/>
                <p:nvPr/>
              </p:nvSpPr>
              <p:spPr>
                <a:xfrm>
                  <a:off x="9861550" y="107950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FFFFFF"/>
                  </a:solidFill>
                </a:ln>
              </p:spPr>
            </p:sp>
            <p:sp>
              <p:nvSpPr>
                <p:cNvPr id="71" name="Freeform 71"/>
                <p:cNvSpPr/>
                <p:nvPr/>
              </p:nvSpPr>
              <p:spPr>
                <a:xfrm>
                  <a:off x="9810750" y="102870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FFFFFF"/>
                  </a:solidFill>
                </a:ln>
              </p:spPr>
            </p:sp>
          </p:grpSp>
          <p:sp>
            <p:nvSpPr>
              <p:cNvPr id="73" name="TextBox 73"/>
              <p:cNvSpPr txBox="1"/>
              <p:nvPr/>
            </p:nvSpPr>
            <p:spPr>
              <a:xfrm>
                <a:off x="9574250" y="1535906"/>
                <a:ext cx="701600" cy="220028"/>
              </a:xfrm>
              <a:prstGeom prst="rect">
                <a:avLst/>
              </a:prstGeom>
              <a:noFill/>
              <a:ln>
                <a:noFill/>
              </a:ln>
            </p:spPr>
            <p:txBody>
              <a:bodyPr wrap="none" lIns="0" tIns="0" rIns="0" bIns="0" anchor="t" anchorCtr="0">
                <a:spAutoFit/>
              </a:bodyPr>
              <a:lstStyle/>
              <a:p>
                <a:pPr algn="ctr"/>
                <a:r>
                  <a:rPr lang="zh-CN" sz="1120" b="1" dirty="0">
                    <a:solidFill>
                      <a:srgbClr val="5B180B"/>
                    </a:solidFill>
                    <a:latin typeface="+mn-lt"/>
                    <a:ea typeface="+mn-ea"/>
                    <a:cs typeface="+mn-cs"/>
                  </a:rPr>
                  <a:t>精准营销​</a:t>
                </a:r>
              </a:p>
            </p:txBody>
          </p:sp>
          <p:sp>
            <p:nvSpPr>
              <p:cNvPr id="74" name="TextBox 74"/>
              <p:cNvSpPr txBox="1"/>
              <p:nvPr/>
            </p:nvSpPr>
            <p:spPr>
              <a:xfrm>
                <a:off x="9558765" y="1749266"/>
                <a:ext cx="732569" cy="161925"/>
              </a:xfrm>
              <a:prstGeom prst="rect">
                <a:avLst/>
              </a:prstGeom>
              <a:noFill/>
              <a:ln>
                <a:noFill/>
              </a:ln>
            </p:spPr>
            <p:txBody>
              <a:bodyPr wrap="none" lIns="0" tIns="0" rIns="0" bIns="0" anchor="t" anchorCtr="0">
                <a:spAutoFit/>
              </a:bodyPr>
              <a:lstStyle/>
              <a:p>
                <a:pPr algn="ctr"/>
                <a:r>
                  <a:rPr lang="zh-CN" sz="820" dirty="0">
                    <a:solidFill>
                      <a:srgbClr val="5F6F6A"/>
                    </a:solidFill>
                    <a:latin typeface="+mn-lt"/>
                    <a:ea typeface="+mn-ea"/>
                    <a:cs typeface="+mn-cs"/>
                  </a:rPr>
                  <a:t>锁定核心客群​</a:t>
                </a:r>
              </a:p>
            </p:txBody>
          </p:sp>
        </p:grpSp>
        <p:grpSp>
          <p:nvGrpSpPr>
            <p:cNvPr id="84" name="cover-node-zh"/>
            <p:cNvGrpSpPr/>
            <p:nvPr/>
          </p:nvGrpSpPr>
          <p:grpSpPr>
            <a:xfrm>
              <a:off x="9825465" y="2209800"/>
              <a:ext cx="732569" cy="1053941"/>
              <a:chOff x="9825465" y="2209800"/>
              <a:chExt cx="732569" cy="1053941"/>
            </a:xfrm>
          </p:grpSpPr>
          <p:sp>
            <p:nvSpPr>
              <p:cNvPr id="76" name="Ellipse 76"/>
              <p:cNvSpPr/>
              <p:nvPr/>
            </p:nvSpPr>
            <p:spPr>
              <a:xfrm>
                <a:off x="9906000" y="2209800"/>
                <a:ext cx="571500" cy="571500"/>
              </a:xfrm>
              <a:prstGeom prst="ellipse">
                <a:avLst/>
              </a:prstGeom>
              <a:gradFill>
                <a:gsLst>
                  <a:gs pos="0">
                    <a:srgbClr val="722617"/>
                  </a:gs>
                  <a:gs pos="100000">
                    <a:srgbClr val="5B180B"/>
                  </a:gs>
                </a:gsLst>
                <a:lin ang="2700000" scaled="1"/>
              </a:gradFill>
              <a:ln>
                <a:noFill/>
              </a:ln>
            </p:spPr>
          </p:sp>
          <p:grpSp>
            <p:nvGrpSpPr>
              <p:cNvPr id="81" name="Group 81"/>
              <p:cNvGrpSpPr/>
              <p:nvPr/>
            </p:nvGrpSpPr>
            <p:grpSpPr>
              <a:xfrm>
                <a:off x="10077450" y="2381250"/>
                <a:ext cx="228599" cy="215900"/>
                <a:chOff x="10077450" y="2381250"/>
                <a:chExt cx="228599" cy="215900"/>
              </a:xfrm>
            </p:grpSpPr>
            <p:sp>
              <p:nvSpPr>
                <p:cNvPr id="77" name="Freeform 77"/>
                <p:cNvSpPr/>
                <p:nvPr/>
              </p:nvSpPr>
              <p:spPr>
                <a:xfrm>
                  <a:off x="10077450" y="2432050"/>
                  <a:ext cx="228599" cy="165100"/>
                </a:xfrm>
                <a:custGeom>
                  <a:avLst/>
                  <a:gdLst/>
                  <a:ahLst/>
                  <a:cxnLst/>
                  <a:rect l="l" t="t" r="r" b="b"/>
                  <a:pathLst>
                    <a:path w="228599" h="165100">
                      <a:moveTo>
                        <a:pt x="0" y="25400"/>
                      </a:moveTo>
                      <a:cubicBezTo>
                        <a:pt x="0" y="11372"/>
                        <a:pt x="11372" y="0"/>
                        <a:pt x="25400" y="0"/>
                      </a:cubicBezTo>
                      <a:lnTo>
                        <a:pt x="203199" y="0"/>
                      </a:lnTo>
                      <a:cubicBezTo>
                        <a:pt x="217227" y="0"/>
                        <a:pt x="228599" y="11372"/>
                        <a:pt x="228599" y="25400"/>
                      </a:cubicBezTo>
                      <a:lnTo>
                        <a:pt x="228599" y="139700"/>
                      </a:lnTo>
                      <a:cubicBezTo>
                        <a:pt x="228599" y="153728"/>
                        <a:pt x="217227" y="165100"/>
                        <a:pt x="203199" y="165100"/>
                      </a:cubicBezTo>
                      <a:lnTo>
                        <a:pt x="25400" y="165100"/>
                      </a:lnTo>
                      <a:cubicBezTo>
                        <a:pt x="11372" y="165100"/>
                        <a:pt x="0" y="153728"/>
                        <a:pt x="0" y="139700"/>
                      </a:cubicBezTo>
                      <a:lnTo>
                        <a:pt x="0" y="25400"/>
                      </a:lnTo>
                    </a:path>
                  </a:pathLst>
                </a:custGeom>
                <a:noFill/>
                <a:ln w="25400">
                  <a:solidFill>
                    <a:srgbClr val="FFFFFF"/>
                  </a:solidFill>
                </a:ln>
              </p:spPr>
            </p:sp>
            <p:sp>
              <p:nvSpPr>
                <p:cNvPr id="78" name="Freeform 78"/>
                <p:cNvSpPr/>
                <p:nvPr/>
              </p:nvSpPr>
              <p:spPr>
                <a:xfrm>
                  <a:off x="10140950" y="2381250"/>
                  <a:ext cx="101600" cy="50800"/>
                </a:xfrm>
                <a:custGeom>
                  <a:avLst/>
                  <a:gdLst/>
                  <a:ahLst/>
                  <a:cxnLst/>
                  <a:rect l="l" t="t" r="r" b="b"/>
                  <a:pathLst>
                    <a:path w="101600" h="50800">
                      <a:moveTo>
                        <a:pt x="0" y="50800"/>
                      </a:moveTo>
                      <a:lnTo>
                        <a:pt x="0" y="25400"/>
                      </a:lnTo>
                      <a:cubicBezTo>
                        <a:pt x="0" y="11372"/>
                        <a:pt x="11372" y="0"/>
                        <a:pt x="25400" y="0"/>
                      </a:cubicBezTo>
                      <a:lnTo>
                        <a:pt x="76200" y="0"/>
                      </a:lnTo>
                      <a:cubicBezTo>
                        <a:pt x="90228" y="0"/>
                        <a:pt x="101600" y="11372"/>
                        <a:pt x="101600" y="25400"/>
                      </a:cubicBezTo>
                      <a:lnTo>
                        <a:pt x="101600" y="50800"/>
                      </a:lnTo>
                    </a:path>
                  </a:pathLst>
                </a:custGeom>
                <a:noFill/>
                <a:ln w="25400">
                  <a:solidFill>
                    <a:srgbClr val="FFFFFF"/>
                  </a:solidFill>
                </a:ln>
              </p:spPr>
            </p:sp>
            <p:sp>
              <p:nvSpPr>
                <p:cNvPr id="79" name="Freeform 79"/>
                <p:cNvSpPr/>
                <p:nvPr/>
              </p:nvSpPr>
              <p:spPr>
                <a:xfrm>
                  <a:off x="10191750" y="2495550"/>
                  <a:ext cx="9525" cy="9525"/>
                </a:xfrm>
                <a:custGeom>
                  <a:avLst/>
                  <a:gdLst/>
                  <a:ahLst/>
                  <a:cxnLst/>
                  <a:rect l="l" t="t" r="r" b="b"/>
                  <a:pathLst>
                    <a:path w="9525" h="9525">
                      <a:moveTo>
                        <a:pt x="0" y="0"/>
                      </a:moveTo>
                      <a:lnTo>
                        <a:pt x="0" y="127"/>
                      </a:lnTo>
                    </a:path>
                  </a:pathLst>
                </a:custGeom>
                <a:noFill/>
                <a:ln w="25400">
                  <a:solidFill>
                    <a:srgbClr val="FFFFFF"/>
                  </a:solidFill>
                </a:ln>
              </p:spPr>
            </p:sp>
            <p:sp>
              <p:nvSpPr>
                <p:cNvPr id="80" name="Freeform 80"/>
                <p:cNvSpPr/>
                <p:nvPr/>
              </p:nvSpPr>
              <p:spPr>
                <a:xfrm>
                  <a:off x="10077450" y="2508250"/>
                  <a:ext cx="228599" cy="36228"/>
                </a:xfrm>
                <a:custGeom>
                  <a:avLst/>
                  <a:gdLst/>
                  <a:ahLst/>
                  <a:cxnLst/>
                  <a:rect l="l" t="t" r="r" b="b"/>
                  <a:pathLst>
                    <a:path w="228599" h="36228">
                      <a:moveTo>
                        <a:pt x="0" y="0"/>
                      </a:moveTo>
                      <a:cubicBezTo>
                        <a:pt x="71894" y="36228"/>
                        <a:pt x="156706" y="36228"/>
                        <a:pt x="228599" y="0"/>
                      </a:cubicBezTo>
                    </a:path>
                  </a:pathLst>
                </a:custGeom>
                <a:noFill/>
                <a:ln w="25400">
                  <a:solidFill>
                    <a:srgbClr val="FFFFFF"/>
                  </a:solidFill>
                </a:ln>
              </p:spPr>
            </p:sp>
          </p:grpSp>
          <p:sp>
            <p:nvSpPr>
              <p:cNvPr id="82" name="TextBox 82"/>
              <p:cNvSpPr txBox="1"/>
              <p:nvPr/>
            </p:nvSpPr>
            <p:spPr>
              <a:xfrm>
                <a:off x="9840950" y="2888456"/>
                <a:ext cx="701600" cy="220028"/>
              </a:xfrm>
              <a:prstGeom prst="rect">
                <a:avLst/>
              </a:prstGeom>
              <a:noFill/>
              <a:ln>
                <a:noFill/>
              </a:ln>
            </p:spPr>
            <p:txBody>
              <a:bodyPr wrap="none" lIns="0" tIns="0" rIns="0" bIns="0" anchor="t" anchorCtr="0">
                <a:spAutoFit/>
              </a:bodyPr>
              <a:lstStyle/>
              <a:p>
                <a:pPr algn="ctr"/>
                <a:r>
                  <a:rPr lang="zh-CN" sz="1120" b="1" dirty="0">
                    <a:solidFill>
                      <a:srgbClr val="5B180B"/>
                    </a:solidFill>
                    <a:latin typeface="+mn-lt"/>
                    <a:ea typeface="+mn-ea"/>
                    <a:cs typeface="+mn-cs"/>
                  </a:rPr>
                  <a:t>综合服务​</a:t>
                </a:r>
              </a:p>
            </p:txBody>
          </p:sp>
          <p:sp>
            <p:nvSpPr>
              <p:cNvPr id="83" name="TextBox 83"/>
              <p:cNvSpPr txBox="1"/>
              <p:nvPr/>
            </p:nvSpPr>
            <p:spPr>
              <a:xfrm>
                <a:off x="9825465" y="3101816"/>
                <a:ext cx="732569" cy="161925"/>
              </a:xfrm>
              <a:prstGeom prst="rect">
                <a:avLst/>
              </a:prstGeom>
              <a:noFill/>
              <a:ln>
                <a:noFill/>
              </a:ln>
            </p:spPr>
            <p:txBody>
              <a:bodyPr wrap="none" lIns="0" tIns="0" rIns="0" bIns="0" anchor="t" anchorCtr="0">
                <a:spAutoFit/>
              </a:bodyPr>
              <a:lstStyle/>
              <a:p>
                <a:pPr algn="ctr"/>
                <a:r>
                  <a:rPr lang="zh-CN" sz="820" dirty="0">
                    <a:solidFill>
                      <a:srgbClr val="5F6F6A"/>
                    </a:solidFill>
                    <a:latin typeface="+mn-lt"/>
                    <a:ea typeface="+mn-ea"/>
                    <a:cs typeface="+mn-cs"/>
                  </a:rPr>
                  <a:t>满足多元需求​</a:t>
                </a:r>
              </a:p>
            </p:txBody>
          </p:sp>
        </p:grpSp>
        <p:grpSp>
          <p:nvGrpSpPr>
            <p:cNvPr id="92" name="cover-node-yj"/>
            <p:cNvGrpSpPr/>
            <p:nvPr/>
          </p:nvGrpSpPr>
          <p:grpSpPr>
            <a:xfrm>
              <a:off x="9558765" y="3562350"/>
              <a:ext cx="732569" cy="1053941"/>
              <a:chOff x="9558765" y="3562350"/>
              <a:chExt cx="732569" cy="1053941"/>
            </a:xfrm>
          </p:grpSpPr>
          <p:sp>
            <p:nvSpPr>
              <p:cNvPr id="85" name="Ellipse 85"/>
              <p:cNvSpPr/>
              <p:nvPr/>
            </p:nvSpPr>
            <p:spPr>
              <a:xfrm>
                <a:off x="9639300" y="3562350"/>
                <a:ext cx="571500" cy="571500"/>
              </a:xfrm>
              <a:prstGeom prst="ellipse">
                <a:avLst/>
              </a:prstGeom>
              <a:gradFill>
                <a:gsLst>
                  <a:gs pos="0">
                    <a:srgbClr val="722617"/>
                  </a:gs>
                  <a:gs pos="100000">
                    <a:srgbClr val="5B180B"/>
                  </a:gs>
                </a:gsLst>
                <a:lin ang="2700000" scaled="1"/>
              </a:gradFill>
              <a:ln>
                <a:noFill/>
              </a:ln>
            </p:spPr>
          </p:sp>
          <p:grpSp>
            <p:nvGrpSpPr>
              <p:cNvPr id="89" name="Group 89"/>
              <p:cNvGrpSpPr/>
              <p:nvPr/>
            </p:nvGrpSpPr>
            <p:grpSpPr>
              <a:xfrm>
                <a:off x="9819438" y="3746500"/>
                <a:ext cx="207211" cy="207211"/>
                <a:chOff x="9819438" y="3746500"/>
                <a:chExt cx="207211" cy="207211"/>
              </a:xfrm>
            </p:grpSpPr>
            <p:sp>
              <p:nvSpPr>
                <p:cNvPr id="86" name="Freeform 86"/>
                <p:cNvSpPr/>
                <p:nvPr/>
              </p:nvSpPr>
              <p:spPr>
                <a:xfrm>
                  <a:off x="9823450" y="3746500"/>
                  <a:ext cx="203199" cy="203199"/>
                </a:xfrm>
                <a:custGeom>
                  <a:avLst/>
                  <a:gdLst/>
                  <a:ahLst/>
                  <a:cxnLst/>
                  <a:rect l="l" t="t" r="r" b="b"/>
                  <a:pathLst>
                    <a:path w="203199" h="203199">
                      <a:moveTo>
                        <a:pt x="0" y="114300"/>
                      </a:moveTo>
                      <a:cubicBezTo>
                        <a:pt x="46611" y="119839"/>
                        <a:pt x="83360" y="156588"/>
                        <a:pt x="88900" y="203199"/>
                      </a:cubicBezTo>
                      <a:cubicBezTo>
                        <a:pt x="111723" y="190042"/>
                        <a:pt x="126130" y="166029"/>
                        <a:pt x="127000" y="139700"/>
                      </a:cubicBezTo>
                      <a:cubicBezTo>
                        <a:pt x="170608" y="124359"/>
                        <a:pt x="200683" y="84260"/>
                        <a:pt x="203199" y="38100"/>
                      </a:cubicBezTo>
                      <a:cubicBezTo>
                        <a:pt x="203199" y="17058"/>
                        <a:pt x="186142" y="0"/>
                        <a:pt x="165100" y="0"/>
                      </a:cubicBezTo>
                      <a:cubicBezTo>
                        <a:pt x="118940" y="2517"/>
                        <a:pt x="78841" y="32591"/>
                        <a:pt x="63500" y="76200"/>
                      </a:cubicBezTo>
                      <a:cubicBezTo>
                        <a:pt x="37170" y="77069"/>
                        <a:pt x="13158" y="91477"/>
                        <a:pt x="0" y="114300"/>
                      </a:cubicBezTo>
                    </a:path>
                  </a:pathLst>
                </a:custGeom>
                <a:noFill/>
                <a:ln w="25400">
                  <a:solidFill>
                    <a:srgbClr val="FFFFFF"/>
                  </a:solidFill>
                </a:ln>
              </p:spPr>
            </p:sp>
            <p:sp>
              <p:nvSpPr>
                <p:cNvPr id="87" name="Freeform 87"/>
                <p:cNvSpPr/>
                <p:nvPr/>
              </p:nvSpPr>
              <p:spPr>
                <a:xfrm>
                  <a:off x="9819438" y="3873500"/>
                  <a:ext cx="80211" cy="80211"/>
                </a:xfrm>
                <a:custGeom>
                  <a:avLst/>
                  <a:gdLst/>
                  <a:ahLst/>
                  <a:cxnLst/>
                  <a:rect l="l" t="t" r="r" b="b"/>
                  <a:pathLst>
                    <a:path w="80211" h="80211">
                      <a:moveTo>
                        <a:pt x="42111" y="0"/>
                      </a:moveTo>
                      <a:cubicBezTo>
                        <a:pt x="15072" y="15265"/>
                        <a:pt x="0" y="45410"/>
                        <a:pt x="4011" y="76200"/>
                      </a:cubicBezTo>
                      <a:cubicBezTo>
                        <a:pt x="34802" y="80211"/>
                        <a:pt x="64946" y="65139"/>
                        <a:pt x="80211" y="38100"/>
                      </a:cubicBezTo>
                    </a:path>
                  </a:pathLst>
                </a:custGeom>
                <a:noFill/>
                <a:ln w="25400">
                  <a:solidFill>
                    <a:srgbClr val="FFFFFF"/>
                  </a:solidFill>
                </a:ln>
              </p:spPr>
            </p:sp>
            <p:sp>
              <p:nvSpPr>
                <p:cNvPr id="88" name="Freeform 88"/>
                <p:cNvSpPr/>
                <p:nvPr/>
              </p:nvSpPr>
              <p:spPr>
                <a:xfrm>
                  <a:off x="9950450" y="37973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FFFFFF"/>
                  </a:solidFill>
                </a:ln>
              </p:spPr>
            </p:sp>
          </p:grpSp>
          <p:sp>
            <p:nvSpPr>
              <p:cNvPr id="90" name="TextBox 90"/>
              <p:cNvSpPr txBox="1"/>
              <p:nvPr/>
            </p:nvSpPr>
            <p:spPr>
              <a:xfrm>
                <a:off x="9574250" y="4241006"/>
                <a:ext cx="701600" cy="220028"/>
              </a:xfrm>
              <a:prstGeom prst="rect">
                <a:avLst/>
              </a:prstGeom>
              <a:noFill/>
              <a:ln>
                <a:noFill/>
              </a:ln>
            </p:spPr>
            <p:txBody>
              <a:bodyPr wrap="none" lIns="0" tIns="0" rIns="0" bIns="0" anchor="t" anchorCtr="0">
                <a:spAutoFit/>
              </a:bodyPr>
              <a:lstStyle/>
              <a:p>
                <a:pPr algn="ctr"/>
                <a:r>
                  <a:rPr lang="zh-CN" sz="1120" b="1" dirty="0">
                    <a:solidFill>
                      <a:srgbClr val="5B180B"/>
                    </a:solidFill>
                    <a:latin typeface="+mn-lt"/>
                    <a:ea typeface="+mn-ea"/>
                    <a:cs typeface="+mn-cs"/>
                  </a:rPr>
                  <a:t>业绩突破​</a:t>
                </a:r>
              </a:p>
            </p:txBody>
          </p:sp>
          <p:sp>
            <p:nvSpPr>
              <p:cNvPr id="91" name="TextBox 91"/>
              <p:cNvSpPr txBox="1"/>
              <p:nvPr/>
            </p:nvSpPr>
            <p:spPr>
              <a:xfrm>
                <a:off x="9558765" y="4454366"/>
                <a:ext cx="732569" cy="161925"/>
              </a:xfrm>
              <a:prstGeom prst="rect">
                <a:avLst/>
              </a:prstGeom>
              <a:noFill/>
              <a:ln>
                <a:noFill/>
              </a:ln>
            </p:spPr>
            <p:txBody>
              <a:bodyPr wrap="none" lIns="0" tIns="0" rIns="0" bIns="0" anchor="t" anchorCtr="0">
                <a:spAutoFit/>
              </a:bodyPr>
              <a:lstStyle/>
              <a:p>
                <a:pPr algn="ctr"/>
                <a:r>
                  <a:rPr lang="zh-CN" sz="820" dirty="0">
                    <a:solidFill>
                      <a:srgbClr val="5F6F6A"/>
                    </a:solidFill>
                    <a:latin typeface="+mn-lt"/>
                    <a:ea typeface="+mn-ea"/>
                    <a:cs typeface="+mn-cs"/>
                  </a:rPr>
                  <a:t>兑现经营价值​</a:t>
                </a:r>
              </a:p>
            </p:txBody>
          </p:sp>
        </p:grpSp>
        <p:sp>
          <p:nvSpPr>
            <p:cNvPr id="93" name="p01-curve-path"/>
            <p:cNvSpPr/>
            <p:nvPr/>
          </p:nvSpPr>
          <p:spPr>
            <a:xfrm>
              <a:off x="8553450" y="3352800"/>
              <a:ext cx="2990850" cy="2362200"/>
            </a:xfrm>
            <a:custGeom>
              <a:avLst/>
              <a:gdLst/>
              <a:ahLst/>
              <a:cxnLst/>
              <a:rect l="l" t="t" r="r" b="b"/>
              <a:pathLst>
                <a:path w="2990850" h="2362200">
                  <a:moveTo>
                    <a:pt x="0" y="2362200"/>
                  </a:moveTo>
                  <a:cubicBezTo>
                    <a:pt x="552450" y="1981200"/>
                    <a:pt x="1047750" y="1638300"/>
                    <a:pt x="1504950" y="1257300"/>
                  </a:cubicBezTo>
                  <a:cubicBezTo>
                    <a:pt x="2000250" y="838200"/>
                    <a:pt x="2514600" y="381000"/>
                    <a:pt x="2990850" y="0"/>
                  </a:cubicBezTo>
                </a:path>
              </a:pathLst>
            </a:custGeom>
            <a:noFill/>
            <a:ln w="47625" cap="rnd">
              <a:gradFill>
                <a:gsLst>
                  <a:gs pos="0">
                    <a:srgbClr val="CFA49C"/>
                  </a:gs>
                  <a:gs pos="100000">
                    <a:srgbClr val="9A412F"/>
                  </a:gs>
                </a:gsLst>
                <a:lin ang="18900000" scaled="1"/>
              </a:gradFill>
            </a:ln>
          </p:spPr>
        </p:sp>
        <p:sp>
          <p:nvSpPr>
            <p:cNvPr id="94" name="Freeform 94"/>
            <p:cNvSpPr/>
            <p:nvPr/>
          </p:nvSpPr>
          <p:spPr>
            <a:xfrm rot="2580000">
              <a:off x="11468100" y="3200400"/>
              <a:ext cx="285750" cy="247650"/>
            </a:xfrm>
            <a:prstGeom prst="triangle">
              <a:avLst/>
            </a:prstGeom>
            <a:solidFill>
              <a:srgbClr val="9A412F"/>
            </a:solidFill>
            <a:ln>
              <a:noFill/>
            </a:ln>
          </p:spPr>
        </p:sp>
        <p:grpSp>
          <p:nvGrpSpPr>
            <p:cNvPr id="97" name="cover-dot1"/>
            <p:cNvGrpSpPr/>
            <p:nvPr/>
          </p:nvGrpSpPr>
          <p:grpSpPr>
            <a:xfrm>
              <a:off x="8734425" y="5400675"/>
              <a:ext cx="794157" cy="212407"/>
              <a:chOff x="8734425" y="5400675"/>
              <a:chExt cx="794157" cy="212407"/>
            </a:xfrm>
          </p:grpSpPr>
          <p:sp>
            <p:nvSpPr>
              <p:cNvPr id="95" name="Ellipse 95"/>
              <p:cNvSpPr/>
              <p:nvPr/>
            </p:nvSpPr>
            <p:spPr>
              <a:xfrm>
                <a:off x="8734425" y="5400675"/>
                <a:ext cx="171450" cy="171450"/>
              </a:xfrm>
              <a:prstGeom prst="ellipse">
                <a:avLst/>
              </a:prstGeom>
              <a:solidFill>
                <a:srgbClr val="B8432F"/>
              </a:solidFill>
              <a:ln>
                <a:noFill/>
              </a:ln>
            </p:spPr>
          </p:sp>
          <p:sp>
            <p:nvSpPr>
              <p:cNvPr id="96" name="TextBox 96"/>
              <p:cNvSpPr txBox="1"/>
              <p:nvPr/>
            </p:nvSpPr>
            <p:spPr>
              <a:xfrm>
                <a:off x="8967788" y="5436870"/>
                <a:ext cx="560794" cy="176212"/>
              </a:xfrm>
              <a:prstGeom prst="rect">
                <a:avLst/>
              </a:prstGeom>
              <a:noFill/>
              <a:ln>
                <a:noFill/>
              </a:ln>
            </p:spPr>
            <p:txBody>
              <a:bodyPr wrap="none" lIns="0" tIns="0" rIns="0" bIns="0" anchor="t" anchorCtr="0">
                <a:spAutoFit/>
              </a:bodyPr>
              <a:lstStyle/>
              <a:p>
                <a:pPr algn="l"/>
                <a:r>
                  <a:rPr lang="zh-CN" sz="900" dirty="0">
                    <a:solidFill>
                      <a:srgbClr val="5B180B"/>
                    </a:solidFill>
                    <a:latin typeface="+mn-lt"/>
                    <a:ea typeface="+mn-ea"/>
                    <a:cs typeface="+mn-cs"/>
                  </a:rPr>
                  <a:t>更多客户​</a:t>
                </a:r>
              </a:p>
            </p:txBody>
          </p:sp>
        </p:grpSp>
        <p:grpSp>
          <p:nvGrpSpPr>
            <p:cNvPr id="100" name="cover-dot2"/>
            <p:cNvGrpSpPr/>
            <p:nvPr/>
          </p:nvGrpSpPr>
          <p:grpSpPr>
            <a:xfrm>
              <a:off x="9705975" y="4752975"/>
              <a:ext cx="794157" cy="212407"/>
              <a:chOff x="9705975" y="4752975"/>
              <a:chExt cx="794157" cy="212407"/>
            </a:xfrm>
          </p:grpSpPr>
          <p:sp>
            <p:nvSpPr>
              <p:cNvPr id="98" name="Ellipse 98"/>
              <p:cNvSpPr/>
              <p:nvPr/>
            </p:nvSpPr>
            <p:spPr>
              <a:xfrm>
                <a:off x="9705975" y="4752975"/>
                <a:ext cx="171450" cy="171450"/>
              </a:xfrm>
              <a:prstGeom prst="ellipse">
                <a:avLst/>
              </a:prstGeom>
              <a:solidFill>
                <a:srgbClr val="B8432F"/>
              </a:solidFill>
              <a:ln>
                <a:noFill/>
              </a:ln>
            </p:spPr>
          </p:sp>
          <p:sp>
            <p:nvSpPr>
              <p:cNvPr id="99" name="TextBox 99"/>
              <p:cNvSpPr txBox="1"/>
              <p:nvPr/>
            </p:nvSpPr>
            <p:spPr>
              <a:xfrm>
                <a:off x="9939338" y="4789170"/>
                <a:ext cx="560794" cy="176212"/>
              </a:xfrm>
              <a:prstGeom prst="rect">
                <a:avLst/>
              </a:prstGeom>
              <a:noFill/>
              <a:ln>
                <a:noFill/>
              </a:ln>
            </p:spPr>
            <p:txBody>
              <a:bodyPr wrap="none" lIns="0" tIns="0" rIns="0" bIns="0" anchor="t" anchorCtr="0">
                <a:spAutoFit/>
              </a:bodyPr>
              <a:lstStyle/>
              <a:p>
                <a:pPr algn="l"/>
                <a:r>
                  <a:rPr lang="zh-CN" sz="900" dirty="0">
                    <a:solidFill>
                      <a:srgbClr val="5B180B"/>
                    </a:solidFill>
                    <a:latin typeface="+mn-lt"/>
                    <a:ea typeface="+mn-ea"/>
                    <a:cs typeface="+mn-cs"/>
                  </a:rPr>
                  <a:t>更高价值​</a:t>
                </a:r>
              </a:p>
            </p:txBody>
          </p:sp>
        </p:grpSp>
        <p:grpSp>
          <p:nvGrpSpPr>
            <p:cNvPr id="103" name="cover-dot3"/>
            <p:cNvGrpSpPr/>
            <p:nvPr/>
          </p:nvGrpSpPr>
          <p:grpSpPr>
            <a:xfrm>
              <a:off x="10582275" y="4010025"/>
              <a:ext cx="794157" cy="212407"/>
              <a:chOff x="10582275" y="4010025"/>
              <a:chExt cx="794157" cy="212407"/>
            </a:xfrm>
          </p:grpSpPr>
          <p:sp>
            <p:nvSpPr>
              <p:cNvPr id="101" name="Ellipse 101"/>
              <p:cNvSpPr/>
              <p:nvPr/>
            </p:nvSpPr>
            <p:spPr>
              <a:xfrm>
                <a:off x="10582275" y="4010025"/>
                <a:ext cx="171450" cy="171450"/>
              </a:xfrm>
              <a:prstGeom prst="ellipse">
                <a:avLst/>
              </a:prstGeom>
              <a:solidFill>
                <a:srgbClr val="B8432F"/>
              </a:solidFill>
              <a:ln>
                <a:noFill/>
              </a:ln>
            </p:spPr>
          </p:sp>
          <p:sp>
            <p:nvSpPr>
              <p:cNvPr id="102" name="TextBox 102"/>
              <p:cNvSpPr txBox="1"/>
              <p:nvPr/>
            </p:nvSpPr>
            <p:spPr>
              <a:xfrm>
                <a:off x="10815638" y="4046220"/>
                <a:ext cx="560794" cy="176212"/>
              </a:xfrm>
              <a:prstGeom prst="rect">
                <a:avLst/>
              </a:prstGeom>
              <a:noFill/>
              <a:ln>
                <a:noFill/>
              </a:ln>
            </p:spPr>
            <p:txBody>
              <a:bodyPr wrap="none" lIns="0" tIns="0" rIns="0" bIns="0" anchor="t" anchorCtr="0">
                <a:spAutoFit/>
              </a:bodyPr>
              <a:lstStyle/>
              <a:p>
                <a:pPr algn="l"/>
                <a:r>
                  <a:rPr lang="zh-CN" sz="900" dirty="0">
                    <a:solidFill>
                      <a:srgbClr val="5B180B"/>
                    </a:solidFill>
                    <a:latin typeface="+mn-lt"/>
                    <a:ea typeface="+mn-ea"/>
                    <a:cs typeface="+mn-cs"/>
                  </a:rPr>
                  <a:t>更好增长​</a:t>
                </a:r>
              </a:p>
            </p:txBody>
          </p:sp>
        </p:grpSp>
        <p:grpSp>
          <p:nvGrpSpPr>
            <p:cNvPr id="106" name="cover-dot4"/>
            <p:cNvGrpSpPr/>
            <p:nvPr/>
          </p:nvGrpSpPr>
          <p:grpSpPr>
            <a:xfrm>
              <a:off x="10929938" y="3179445"/>
              <a:ext cx="566737" cy="316230"/>
              <a:chOff x="10929938" y="3179445"/>
              <a:chExt cx="566737" cy="316230"/>
            </a:xfrm>
          </p:grpSpPr>
          <p:sp>
            <p:nvSpPr>
              <p:cNvPr id="104" name="Ellipse 104"/>
              <p:cNvSpPr/>
              <p:nvPr/>
            </p:nvSpPr>
            <p:spPr>
              <a:xfrm>
                <a:off x="11325225" y="3324225"/>
                <a:ext cx="171450" cy="171450"/>
              </a:xfrm>
              <a:prstGeom prst="ellipse">
                <a:avLst/>
              </a:prstGeom>
              <a:solidFill>
                <a:srgbClr val="B8432F"/>
              </a:solidFill>
              <a:ln>
                <a:noFill/>
              </a:ln>
            </p:spPr>
          </p:sp>
          <p:sp>
            <p:nvSpPr>
              <p:cNvPr id="105" name="TextBox 105"/>
              <p:cNvSpPr txBox="1"/>
              <p:nvPr/>
            </p:nvSpPr>
            <p:spPr>
              <a:xfrm>
                <a:off x="10929938" y="3179445"/>
                <a:ext cx="560794" cy="176212"/>
              </a:xfrm>
              <a:prstGeom prst="rect">
                <a:avLst/>
              </a:prstGeom>
              <a:noFill/>
              <a:ln>
                <a:noFill/>
              </a:ln>
            </p:spPr>
            <p:txBody>
              <a:bodyPr wrap="none" lIns="0" tIns="0" rIns="0" bIns="0" anchor="t" anchorCtr="0">
                <a:spAutoFit/>
              </a:bodyPr>
              <a:lstStyle/>
              <a:p>
                <a:pPr algn="l"/>
                <a:r>
                  <a:rPr lang="zh-CN" sz="900" dirty="0">
                    <a:solidFill>
                      <a:srgbClr val="5B180B"/>
                    </a:solidFill>
                    <a:latin typeface="+mn-lt"/>
                    <a:ea typeface="+mn-ea"/>
                    <a:cs typeface="+mn-cs"/>
                  </a:rPr>
                  <a:t>共赢未来​</a:t>
                </a:r>
              </a:p>
            </p:txBody>
          </p:sp>
        </p:grpSp>
      </p:grpSp>
      <p:grpSp>
        <p:nvGrpSpPr>
          <p:cNvPr id="109" name="cover-slogan"/>
          <p:cNvGrpSpPr/>
          <p:nvPr/>
        </p:nvGrpSpPr>
        <p:grpSpPr>
          <a:xfrm>
            <a:off x="10285556" y="6162199"/>
            <a:ext cx="1298288" cy="190690"/>
            <a:chOff x="10285556" y="6162199"/>
            <a:chExt cx="1298288" cy="190690"/>
          </a:xfrm>
        </p:grpSpPr>
        <p:sp>
          <p:nvSpPr>
            <p:cNvPr id="108" name="TextBox 108"/>
            <p:cNvSpPr txBox="1"/>
            <p:nvPr/>
          </p:nvSpPr>
          <p:spPr>
            <a:xfrm>
              <a:off x="10285556" y="6162199"/>
              <a:ext cx="1298288" cy="190690"/>
            </a:xfrm>
            <a:prstGeom prst="rect">
              <a:avLst/>
            </a:prstGeom>
            <a:noFill/>
            <a:ln>
              <a:noFill/>
            </a:ln>
          </p:spPr>
          <p:txBody>
            <a:bodyPr wrap="none" lIns="0" tIns="0" rIns="0" bIns="0" anchor="t" anchorCtr="0">
              <a:spAutoFit/>
            </a:bodyPr>
            <a:lstStyle/>
            <a:p>
              <a:pPr algn="ctr"/>
              <a:r>
                <a:rPr lang="zh-CN" sz="980" spc="150" dirty="0">
                  <a:solidFill>
                    <a:srgbClr val="5B180B"/>
                  </a:solidFill>
                  <a:latin typeface="+mn-lt"/>
                  <a:ea typeface="+mn-ea"/>
                  <a:cs typeface="+mn-cs"/>
                </a:rPr>
                <a:t>金融连接美好生活​</a:t>
              </a:r>
            </a:p>
          </p:txBody>
        </p:sp>
      </p:grpSp>
      <p:sp>
        <p:nvSpPr>
          <p:cNvPr id="110" name="cover-page-num"/>
          <p:cNvSpPr txBox="1"/>
          <p:nvPr/>
        </p:nvSpPr>
        <p:spPr>
          <a:xfrm>
            <a:off x="11637801" y="235268"/>
            <a:ext cx="346398" cy="264033"/>
          </a:xfrm>
          <a:prstGeom prst="rect">
            <a:avLst/>
          </a:prstGeom>
          <a:noFill/>
          <a:ln>
            <a:noFill/>
          </a:ln>
        </p:spPr>
        <p:txBody>
          <a:bodyPr wrap="none" lIns="0" tIns="0" rIns="0" bIns="0" anchor="t" anchorCtr="0">
            <a:spAutoFit/>
          </a:bodyPr>
          <a:lstStyle/>
          <a:p>
            <a:pPr algn="ctr"/>
            <a:r>
              <a:rPr lang="zh-CN" sz="1350" b="1" dirty="0">
                <a:solidFill>
                  <a:srgbClr val="5B180B"/>
                </a:solidFill>
                <a:latin typeface="+mj-lt"/>
                <a:ea typeface="+mj-ea"/>
                <a:cs typeface="+mj-cs"/>
              </a:rPr>
              <a:t>01​</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8041531" cy="542925"/>
            <a:chOff x="0" y="0"/>
            <a:chExt cx="8041531"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02​</a:t>
              </a:r>
            </a:p>
          </p:txBody>
        </p:sp>
        <p:sp>
          <p:nvSpPr>
            <p:cNvPr id="4" name="TextBox 4"/>
            <p:cNvSpPr txBox="1"/>
            <p:nvPr/>
          </p:nvSpPr>
          <p:spPr>
            <a:xfrm>
              <a:off x="942594" y="151448"/>
              <a:ext cx="7098937"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冲刺全景</a:t>
              </a:r>
              <a:r>
                <a:rPr lang="zh-CN" sz="1950" b="1" dirty="0">
                  <a:solidFill>
                    <a:srgbClr val="5B180B"/>
                  </a:solidFill>
                  <a:latin typeface="+mj-lt"/>
                  <a:ea typeface="+mj-ea"/>
                  <a:cs typeface="+mj-cs"/>
                </a:rPr>
                <a:t xml:space="preserve"> | 四季度要同时打赢规模、价值、客户三场战役</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29" name="kpi-cun"/>
          <p:cNvGrpSpPr/>
          <p:nvPr/>
        </p:nvGrpSpPr>
        <p:grpSpPr>
          <a:xfrm>
            <a:off x="228600" y="666750"/>
            <a:ext cx="1847850" cy="1295400"/>
            <a:chOff x="228600" y="666750"/>
            <a:chExt cx="1847850" cy="1295400"/>
          </a:xfrm>
        </p:grpSpPr>
        <p:sp>
          <p:nvSpPr>
            <p:cNvPr id="7" name="Rectangle 7"/>
            <p:cNvSpPr/>
            <p:nvPr/>
          </p:nvSpPr>
          <p:spPr>
            <a:xfrm>
              <a:off x="228600" y="666750"/>
              <a:ext cx="1847850" cy="1295400"/>
            </a:xfrm>
            <a:prstGeom prst="roundRect">
              <a:avLst>
                <a:gd name="adj" fmla="val 7353"/>
              </a:avLst>
            </a:prstGeom>
            <a:solidFill>
              <a:srgbClr val="F5FAF8"/>
            </a:solidFill>
            <a:ln w="9525">
              <a:solidFill>
                <a:srgbClr val="D9E8E2"/>
              </a:solidFill>
            </a:ln>
          </p:spPr>
        </p:sp>
        <p:sp>
          <p:nvSpPr>
            <p:cNvPr id="8" name="Ellipse 8"/>
            <p:cNvSpPr/>
            <p:nvPr/>
          </p:nvSpPr>
          <p:spPr>
            <a:xfrm>
              <a:off x="352425" y="809625"/>
              <a:ext cx="323850" cy="323850"/>
            </a:xfrm>
            <a:prstGeom prst="ellipse">
              <a:avLst/>
            </a:prstGeom>
            <a:solidFill>
              <a:srgbClr val="5B180B"/>
            </a:solidFill>
            <a:ln>
              <a:noFill/>
            </a:ln>
          </p:spPr>
        </p:sp>
        <p:grpSp>
          <p:nvGrpSpPr>
            <p:cNvPr id="14" name="Group 14"/>
            <p:cNvGrpSpPr/>
            <p:nvPr/>
          </p:nvGrpSpPr>
          <p:grpSpPr>
            <a:xfrm>
              <a:off x="421481" y="877298"/>
              <a:ext cx="185737" cy="187120"/>
              <a:chOff x="421481" y="877298"/>
              <a:chExt cx="185737" cy="187120"/>
            </a:xfrm>
          </p:grpSpPr>
          <p:sp>
            <p:nvSpPr>
              <p:cNvPr id="9" name="Freeform 9"/>
              <p:cNvSpPr/>
              <p:nvPr/>
            </p:nvSpPr>
            <p:spPr>
              <a:xfrm>
                <a:off x="483393" y="961231"/>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FFFFFF"/>
                </a:solidFill>
              </a:ln>
            </p:spPr>
          </p:sp>
          <p:sp>
            <p:nvSpPr>
              <p:cNvPr id="10" name="Freeform 10"/>
              <p:cNvSpPr/>
              <p:nvPr/>
            </p:nvSpPr>
            <p:spPr>
              <a:xfrm>
                <a:off x="483393" y="992187"/>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FFFFFF"/>
                </a:solidFill>
              </a:ln>
            </p:spPr>
          </p:sp>
          <p:sp>
            <p:nvSpPr>
              <p:cNvPr id="11" name="Freeform 11"/>
              <p:cNvSpPr/>
              <p:nvPr/>
            </p:nvSpPr>
            <p:spPr>
              <a:xfrm>
                <a:off x="421481" y="877298"/>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FFFFFF"/>
                </a:solidFill>
              </a:ln>
            </p:spPr>
          </p:sp>
          <p:sp>
            <p:nvSpPr>
              <p:cNvPr id="12" name="Freeform 12"/>
              <p:cNvSpPr/>
              <p:nvPr/>
            </p:nvSpPr>
            <p:spPr>
              <a:xfrm>
                <a:off x="421481" y="909637"/>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FFFFFF"/>
                </a:solidFill>
              </a:ln>
            </p:spPr>
          </p:sp>
          <p:sp>
            <p:nvSpPr>
              <p:cNvPr id="13" name="Freeform 13"/>
              <p:cNvSpPr/>
              <p:nvPr/>
            </p:nvSpPr>
            <p:spPr>
              <a:xfrm>
                <a:off x="421481" y="961231"/>
                <a:ext cx="20637" cy="20637"/>
              </a:xfrm>
              <a:custGeom>
                <a:avLst/>
                <a:gdLst/>
                <a:ahLst/>
                <a:cxnLst/>
                <a:rect l="l" t="t" r="r" b="b"/>
                <a:pathLst>
                  <a:path w="20637" h="20637">
                    <a:moveTo>
                      <a:pt x="0" y="0"/>
                    </a:moveTo>
                    <a:cubicBezTo>
                      <a:pt x="0" y="9163"/>
                      <a:pt x="7966" y="14962"/>
                      <a:pt x="20637" y="20637"/>
                    </a:cubicBezTo>
                  </a:path>
                </a:pathLst>
              </a:custGeom>
              <a:noFill/>
              <a:ln w="20637">
                <a:solidFill>
                  <a:srgbClr val="FFFFFF"/>
                </a:solidFill>
              </a:ln>
            </p:spPr>
          </p:sp>
        </p:grpSp>
        <p:sp>
          <p:nvSpPr>
            <p:cNvPr id="15" name="TextBox 15"/>
            <p:cNvSpPr txBox="1"/>
            <p:nvPr/>
          </p:nvSpPr>
          <p:spPr>
            <a:xfrm>
              <a:off x="757047" y="828199"/>
              <a:ext cx="877660" cy="190690"/>
            </a:xfrm>
            <a:prstGeom prst="rect">
              <a:avLst/>
            </a:prstGeom>
            <a:noFill/>
            <a:ln>
              <a:noFill/>
            </a:ln>
          </p:spPr>
          <p:txBody>
            <a:bodyPr wrap="none" lIns="0" tIns="0" rIns="0" bIns="0" anchor="t" anchorCtr="0">
              <a:spAutoFit/>
            </a:bodyPr>
            <a:lstStyle/>
            <a:p>
              <a:pPr algn="l"/>
              <a:r>
                <a:rPr lang="zh-CN" sz="980" b="1" dirty="0">
                  <a:solidFill>
                    <a:srgbClr val="312624"/>
                  </a:solidFill>
                  <a:latin typeface="+mn-lt"/>
                  <a:ea typeface="+mn-ea"/>
                  <a:cs typeface="+mn-cs"/>
                </a:rPr>
                <a:t>存款日均净增​</a:t>
              </a:r>
            </a:p>
          </p:txBody>
        </p:sp>
        <p:sp>
          <p:nvSpPr>
            <p:cNvPr id="16" name="TextBox 16"/>
            <p:cNvSpPr txBox="1"/>
            <p:nvPr/>
          </p:nvSpPr>
          <p:spPr>
            <a:xfrm>
              <a:off x="752475" y="997744"/>
              <a:ext cx="1003728" cy="366712"/>
            </a:xfrm>
            <a:prstGeom prst="rect">
              <a:avLst/>
            </a:prstGeom>
            <a:noFill/>
            <a:ln>
              <a:noFill/>
            </a:ln>
          </p:spPr>
          <p:txBody>
            <a:bodyPr wrap="none" lIns="0" tIns="0" rIns="0" bIns="0" anchor="t" anchorCtr="0">
              <a:spAutoFit/>
            </a:bodyPr>
            <a:lstStyle/>
            <a:p>
              <a:pPr algn="l"/>
              <a:r>
                <a:rPr lang="zh-CN" sz="1880" b="1" dirty="0">
                  <a:solidFill>
                    <a:srgbClr val="5B180B"/>
                  </a:solidFill>
                  <a:latin typeface="+mn-lt"/>
                  <a:ea typeface="+mn-ea"/>
                  <a:cs typeface="+mn-cs"/>
                </a:rPr>
                <a:t>1.20</a:t>
              </a:r>
              <a:r>
                <a:rPr lang="zh-CN" sz="820" dirty="0">
                  <a:solidFill>
                    <a:srgbClr val="5F6F6A"/>
                  </a:solidFill>
                  <a:latin typeface="+mn-lt"/>
                  <a:ea typeface="+mn-ea"/>
                  <a:cs typeface="+mn-cs"/>
                </a:rPr>
                <a:t xml:space="preserve"> 亿元</a:t>
              </a:r>
              <a:r>
                <a:rPr lang="zh-CN" sz="1880" b="1" dirty="0">
                  <a:solidFill>
                    <a:srgbClr val="5B180B"/>
                  </a:solidFill>
                  <a:latin typeface="+mn-lt"/>
                  <a:ea typeface="+mn-ea"/>
                  <a:cs typeface="+mn-cs"/>
                </a:rPr>
                <a:t>​</a:t>
              </a:r>
            </a:p>
          </p:txBody>
        </p:sp>
        <p:sp>
          <p:nvSpPr>
            <p:cNvPr id="17" name="Rectangle 17"/>
            <p:cNvSpPr/>
            <p:nvPr/>
          </p:nvSpPr>
          <p:spPr>
            <a:xfrm>
              <a:off x="381000" y="1676400"/>
              <a:ext cx="123825" cy="133350"/>
            </a:xfrm>
            <a:prstGeom prst="rect">
              <a:avLst/>
            </a:prstGeom>
            <a:solidFill>
              <a:srgbClr val="BFDDD6"/>
            </a:solidFill>
            <a:ln>
              <a:noFill/>
            </a:ln>
          </p:spPr>
        </p:sp>
        <p:sp>
          <p:nvSpPr>
            <p:cNvPr id="18" name="Rectangle 18"/>
            <p:cNvSpPr/>
            <p:nvPr/>
          </p:nvSpPr>
          <p:spPr>
            <a:xfrm>
              <a:off x="571500" y="1619250"/>
              <a:ext cx="123825" cy="190500"/>
            </a:xfrm>
            <a:prstGeom prst="rect">
              <a:avLst/>
            </a:prstGeom>
            <a:solidFill>
              <a:srgbClr val="B57A6F"/>
            </a:solidFill>
            <a:ln>
              <a:noFill/>
            </a:ln>
          </p:spPr>
        </p:sp>
        <p:sp>
          <p:nvSpPr>
            <p:cNvPr id="19" name="Rectangle 19"/>
            <p:cNvSpPr/>
            <p:nvPr/>
          </p:nvSpPr>
          <p:spPr>
            <a:xfrm>
              <a:off x="762000" y="1504950"/>
              <a:ext cx="123825" cy="304800"/>
            </a:xfrm>
            <a:prstGeom prst="rect">
              <a:avLst/>
            </a:prstGeom>
            <a:solidFill>
              <a:srgbClr val="5B180B"/>
            </a:solidFill>
            <a:ln>
              <a:noFill/>
            </a:ln>
          </p:spPr>
        </p:sp>
        <p:sp>
          <p:nvSpPr>
            <p:cNvPr id="20" name="TextBox 20"/>
            <p:cNvSpPr txBox="1"/>
            <p:nvPr/>
          </p:nvSpPr>
          <p:spPr>
            <a:xfrm>
              <a:off x="433388" y="1573530"/>
              <a:ext cx="231648"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0.28​</a:t>
              </a:r>
            </a:p>
          </p:txBody>
        </p:sp>
        <p:sp>
          <p:nvSpPr>
            <p:cNvPr id="21" name="TextBox 21"/>
            <p:cNvSpPr txBox="1"/>
            <p:nvPr/>
          </p:nvSpPr>
          <p:spPr>
            <a:xfrm>
              <a:off x="623888" y="1516380"/>
              <a:ext cx="231648"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0.32​</a:t>
              </a:r>
            </a:p>
          </p:txBody>
        </p:sp>
        <p:sp>
          <p:nvSpPr>
            <p:cNvPr id="22" name="TextBox 22"/>
            <p:cNvSpPr txBox="1"/>
            <p:nvPr/>
          </p:nvSpPr>
          <p:spPr>
            <a:xfrm>
              <a:off x="814388" y="1402080"/>
              <a:ext cx="242754"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0.60​</a:t>
              </a:r>
            </a:p>
          </p:txBody>
        </p:sp>
        <p:sp>
          <p:nvSpPr>
            <p:cNvPr id="23" name="TextBox 23"/>
            <p:cNvSpPr txBox="1"/>
            <p:nvPr/>
          </p:nvSpPr>
          <p:spPr>
            <a:xfrm>
              <a:off x="37623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10月​</a:t>
              </a:r>
            </a:p>
          </p:txBody>
        </p:sp>
        <p:sp>
          <p:nvSpPr>
            <p:cNvPr id="24" name="TextBox 24"/>
            <p:cNvSpPr txBox="1"/>
            <p:nvPr/>
          </p:nvSpPr>
          <p:spPr>
            <a:xfrm>
              <a:off x="58578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11月​</a:t>
              </a:r>
            </a:p>
          </p:txBody>
        </p:sp>
        <p:sp>
          <p:nvSpPr>
            <p:cNvPr id="25" name="TextBox 25"/>
            <p:cNvSpPr txBox="1"/>
            <p:nvPr/>
          </p:nvSpPr>
          <p:spPr>
            <a:xfrm>
              <a:off x="77628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12月​</a:t>
              </a:r>
            </a:p>
          </p:txBody>
        </p:sp>
        <p:sp>
          <p:nvSpPr>
            <p:cNvPr id="26" name="TextBox 26"/>
            <p:cNvSpPr txBox="1"/>
            <p:nvPr/>
          </p:nvSpPr>
          <p:spPr>
            <a:xfrm>
              <a:off x="1233488" y="140898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较三季度​</a:t>
              </a:r>
            </a:p>
          </p:txBody>
        </p:sp>
        <p:sp>
          <p:nvSpPr>
            <p:cNvPr id="27" name="TextBox 27"/>
            <p:cNvSpPr txBox="1"/>
            <p:nvPr/>
          </p:nvSpPr>
          <p:spPr>
            <a:xfrm>
              <a:off x="1213104" y="1546860"/>
              <a:ext cx="512575" cy="234696"/>
            </a:xfrm>
            <a:prstGeom prst="rect">
              <a:avLst/>
            </a:prstGeom>
            <a:noFill/>
            <a:ln>
              <a:noFill/>
            </a:ln>
          </p:spPr>
          <p:txBody>
            <a:bodyPr wrap="none" lIns="0" tIns="0" rIns="0" bIns="0" anchor="t" anchorCtr="0">
              <a:spAutoFit/>
            </a:bodyPr>
            <a:lstStyle/>
            <a:p>
              <a:pPr algn="l"/>
              <a:r>
                <a:rPr lang="zh-CN" sz="1200" b="1" dirty="0">
                  <a:solidFill>
                    <a:srgbClr val="5B180B"/>
                  </a:solidFill>
                  <a:latin typeface="+mn-lt"/>
                  <a:ea typeface="+mn-ea"/>
                  <a:cs typeface="+mn-cs"/>
                </a:rPr>
                <a:t>+71%​</a:t>
              </a:r>
            </a:p>
          </p:txBody>
        </p:sp>
        <p:sp>
          <p:nvSpPr>
            <p:cNvPr id="28" name="Freeform 28"/>
            <p:cNvSpPr/>
            <p:nvPr/>
          </p:nvSpPr>
          <p:spPr>
            <a:xfrm>
              <a:off x="1276350" y="1695450"/>
              <a:ext cx="95250" cy="76200"/>
            </a:xfrm>
            <a:prstGeom prst="triangle">
              <a:avLst/>
            </a:prstGeom>
            <a:solidFill>
              <a:srgbClr val="9E402E"/>
            </a:solidFill>
            <a:ln>
              <a:noFill/>
            </a:ln>
          </p:spPr>
        </p:sp>
      </p:grpSp>
      <p:grpSp>
        <p:nvGrpSpPr>
          <p:cNvPr id="49" name="kpi-aum"/>
          <p:cNvGrpSpPr/>
          <p:nvPr/>
        </p:nvGrpSpPr>
        <p:grpSpPr>
          <a:xfrm>
            <a:off x="2152650" y="666750"/>
            <a:ext cx="1847850" cy="1295400"/>
            <a:chOff x="2152650" y="666750"/>
            <a:chExt cx="1847850" cy="1295400"/>
          </a:xfrm>
        </p:grpSpPr>
        <p:sp>
          <p:nvSpPr>
            <p:cNvPr id="30" name="Rectangle 30"/>
            <p:cNvSpPr/>
            <p:nvPr/>
          </p:nvSpPr>
          <p:spPr>
            <a:xfrm>
              <a:off x="2152650" y="666750"/>
              <a:ext cx="1847850" cy="1295400"/>
            </a:xfrm>
            <a:prstGeom prst="roundRect">
              <a:avLst>
                <a:gd name="adj" fmla="val 7353"/>
              </a:avLst>
            </a:prstGeom>
            <a:solidFill>
              <a:srgbClr val="F5FAF8"/>
            </a:solidFill>
            <a:ln w="9525">
              <a:solidFill>
                <a:srgbClr val="D9E8E2"/>
              </a:solidFill>
            </a:ln>
          </p:spPr>
        </p:sp>
        <p:sp>
          <p:nvSpPr>
            <p:cNvPr id="31" name="Ellipse 31"/>
            <p:cNvSpPr/>
            <p:nvPr/>
          </p:nvSpPr>
          <p:spPr>
            <a:xfrm>
              <a:off x="2276475" y="809625"/>
              <a:ext cx="323850" cy="323850"/>
            </a:xfrm>
            <a:prstGeom prst="ellipse">
              <a:avLst/>
            </a:prstGeom>
            <a:solidFill>
              <a:srgbClr val="5B180B"/>
            </a:solidFill>
            <a:ln>
              <a:noFill/>
            </a:ln>
          </p:spPr>
        </p:sp>
        <p:grpSp>
          <p:nvGrpSpPr>
            <p:cNvPr id="34" name="Group 34"/>
            <p:cNvGrpSpPr/>
            <p:nvPr/>
          </p:nvGrpSpPr>
          <p:grpSpPr>
            <a:xfrm>
              <a:off x="2355850" y="889000"/>
              <a:ext cx="165099" cy="165099"/>
              <a:chOff x="2355850" y="889000"/>
              <a:chExt cx="165099" cy="165099"/>
            </a:xfrm>
          </p:grpSpPr>
          <p:sp>
            <p:nvSpPr>
              <p:cNvPr id="32" name="Freeform 32"/>
              <p:cNvSpPr/>
              <p:nvPr/>
            </p:nvSpPr>
            <p:spPr>
              <a:xfrm>
                <a:off x="2355850" y="889000"/>
                <a:ext cx="154781" cy="165099"/>
              </a:xfrm>
              <a:custGeom>
                <a:avLst/>
                <a:gdLst/>
                <a:ahLst/>
                <a:cxnLst/>
                <a:rect l="l" t="t" r="r" b="b"/>
                <a:pathLst>
                  <a:path w="154781" h="165099">
                    <a:moveTo>
                      <a:pt x="134143" y="41275"/>
                    </a:moveTo>
                    <a:lnTo>
                      <a:pt x="134143" y="10319"/>
                    </a:lnTo>
                    <a:cubicBezTo>
                      <a:pt x="134143" y="4620"/>
                      <a:pt x="129523" y="0"/>
                      <a:pt x="123825" y="0"/>
                    </a:cubicBezTo>
                    <a:lnTo>
                      <a:pt x="20637" y="0"/>
                    </a:lnTo>
                    <a:cubicBezTo>
                      <a:pt x="9240" y="0"/>
                      <a:pt x="0" y="9240"/>
                      <a:pt x="0" y="20637"/>
                    </a:cubicBezTo>
                    <a:cubicBezTo>
                      <a:pt x="0" y="32035"/>
                      <a:pt x="9240" y="41275"/>
                      <a:pt x="20637" y="41275"/>
                    </a:cubicBezTo>
                    <a:lnTo>
                      <a:pt x="144462" y="41275"/>
                    </a:lnTo>
                    <a:cubicBezTo>
                      <a:pt x="150161" y="41275"/>
                      <a:pt x="154781" y="45895"/>
                      <a:pt x="154781" y="51594"/>
                    </a:cubicBezTo>
                    <a:lnTo>
                      <a:pt x="154781" y="82550"/>
                    </a:lnTo>
                    <a:moveTo>
                      <a:pt x="154781" y="123825"/>
                    </a:moveTo>
                    <a:lnTo>
                      <a:pt x="154781" y="154781"/>
                    </a:lnTo>
                    <a:cubicBezTo>
                      <a:pt x="154781" y="160480"/>
                      <a:pt x="150161" y="165099"/>
                      <a:pt x="144462" y="165099"/>
                    </a:cubicBezTo>
                    <a:lnTo>
                      <a:pt x="20637" y="165099"/>
                    </a:lnTo>
                    <a:cubicBezTo>
                      <a:pt x="9240" y="165099"/>
                      <a:pt x="0" y="155860"/>
                      <a:pt x="0" y="144462"/>
                    </a:cubicBezTo>
                    <a:lnTo>
                      <a:pt x="0" y="20637"/>
                    </a:lnTo>
                  </a:path>
                </a:pathLst>
              </a:custGeom>
              <a:noFill/>
              <a:ln w="20637">
                <a:solidFill>
                  <a:srgbClr val="FFFFFF"/>
                </a:solidFill>
              </a:ln>
            </p:spPr>
          </p:sp>
          <p:sp>
            <p:nvSpPr>
              <p:cNvPr id="33" name="Freeform 33"/>
              <p:cNvSpPr/>
              <p:nvPr/>
            </p:nvSpPr>
            <p:spPr>
              <a:xfrm>
                <a:off x="2459037" y="971550"/>
                <a:ext cx="61912" cy="41275"/>
              </a:xfrm>
              <a:custGeom>
                <a:avLst/>
                <a:gdLst/>
                <a:ahLst/>
                <a:cxnLst/>
                <a:rect l="l" t="t" r="r" b="b"/>
                <a:pathLst>
                  <a:path w="61912" h="41275">
                    <a:moveTo>
                      <a:pt x="61912" y="0"/>
                    </a:moveTo>
                    <a:lnTo>
                      <a:pt x="61912" y="41275"/>
                    </a:lnTo>
                    <a:lnTo>
                      <a:pt x="20637" y="41275"/>
                    </a:lnTo>
                    <a:cubicBezTo>
                      <a:pt x="9240" y="41275"/>
                      <a:pt x="0" y="32035"/>
                      <a:pt x="0" y="20637"/>
                    </a:cubicBezTo>
                    <a:cubicBezTo>
                      <a:pt x="0" y="9240"/>
                      <a:pt x="9240" y="0"/>
                      <a:pt x="20637" y="0"/>
                    </a:cubicBezTo>
                    <a:lnTo>
                      <a:pt x="61912" y="0"/>
                    </a:lnTo>
                  </a:path>
                </a:pathLst>
              </a:custGeom>
              <a:noFill/>
              <a:ln w="20637">
                <a:solidFill>
                  <a:srgbClr val="FFFFFF"/>
                </a:solidFill>
              </a:ln>
            </p:spPr>
          </p:sp>
        </p:grpSp>
        <p:sp>
          <p:nvSpPr>
            <p:cNvPr id="35" name="TextBox 35"/>
            <p:cNvSpPr txBox="1"/>
            <p:nvPr/>
          </p:nvSpPr>
          <p:spPr>
            <a:xfrm>
              <a:off x="2681097" y="828199"/>
              <a:ext cx="620725" cy="190690"/>
            </a:xfrm>
            <a:prstGeom prst="rect">
              <a:avLst/>
            </a:prstGeom>
            <a:noFill/>
            <a:ln>
              <a:noFill/>
            </a:ln>
          </p:spPr>
          <p:txBody>
            <a:bodyPr wrap="none" lIns="0" tIns="0" rIns="0" bIns="0" anchor="t" anchorCtr="0">
              <a:spAutoFit/>
            </a:bodyPr>
            <a:lstStyle/>
            <a:p>
              <a:pPr algn="l"/>
              <a:r>
                <a:rPr lang="zh-CN" sz="980" b="1" dirty="0">
                  <a:solidFill>
                    <a:srgbClr val="312624"/>
                  </a:solidFill>
                  <a:latin typeface="+mn-lt"/>
                  <a:ea typeface="+mn-ea"/>
                  <a:cs typeface="+mn-cs"/>
                </a:rPr>
                <a:t>AUM净增​</a:t>
              </a:r>
            </a:p>
          </p:txBody>
        </p:sp>
        <p:sp>
          <p:nvSpPr>
            <p:cNvPr id="36" name="TextBox 36"/>
            <p:cNvSpPr txBox="1"/>
            <p:nvPr/>
          </p:nvSpPr>
          <p:spPr>
            <a:xfrm>
              <a:off x="2676525" y="997744"/>
              <a:ext cx="1003728" cy="366712"/>
            </a:xfrm>
            <a:prstGeom prst="rect">
              <a:avLst/>
            </a:prstGeom>
            <a:noFill/>
            <a:ln>
              <a:noFill/>
            </a:ln>
          </p:spPr>
          <p:txBody>
            <a:bodyPr wrap="none" lIns="0" tIns="0" rIns="0" bIns="0" anchor="t" anchorCtr="0">
              <a:spAutoFit/>
            </a:bodyPr>
            <a:lstStyle/>
            <a:p>
              <a:pPr algn="l"/>
              <a:r>
                <a:rPr lang="zh-CN" sz="1880" b="1" dirty="0">
                  <a:solidFill>
                    <a:srgbClr val="5B180B"/>
                  </a:solidFill>
                  <a:latin typeface="+mn-lt"/>
                  <a:ea typeface="+mn-ea"/>
                  <a:cs typeface="+mn-cs"/>
                </a:rPr>
                <a:t>1.65</a:t>
              </a:r>
              <a:r>
                <a:rPr lang="zh-CN" sz="820" dirty="0">
                  <a:solidFill>
                    <a:srgbClr val="5F6F6A"/>
                  </a:solidFill>
                  <a:latin typeface="+mn-lt"/>
                  <a:ea typeface="+mn-ea"/>
                  <a:cs typeface="+mn-cs"/>
                </a:rPr>
                <a:t xml:space="preserve"> 亿元</a:t>
              </a:r>
              <a:r>
                <a:rPr lang="zh-CN" sz="1880" b="1" dirty="0">
                  <a:solidFill>
                    <a:srgbClr val="5B180B"/>
                  </a:solidFill>
                  <a:latin typeface="+mn-lt"/>
                  <a:ea typeface="+mn-ea"/>
                  <a:cs typeface="+mn-cs"/>
                </a:rPr>
                <a:t>​</a:t>
              </a:r>
            </a:p>
          </p:txBody>
        </p:sp>
        <p:sp>
          <p:nvSpPr>
            <p:cNvPr id="37" name="Rectangle 37"/>
            <p:cNvSpPr/>
            <p:nvPr/>
          </p:nvSpPr>
          <p:spPr>
            <a:xfrm>
              <a:off x="2305050" y="1657350"/>
              <a:ext cx="123825" cy="152400"/>
            </a:xfrm>
            <a:prstGeom prst="rect">
              <a:avLst/>
            </a:prstGeom>
            <a:solidFill>
              <a:srgbClr val="BFDDD6"/>
            </a:solidFill>
            <a:ln>
              <a:noFill/>
            </a:ln>
          </p:spPr>
        </p:sp>
        <p:sp>
          <p:nvSpPr>
            <p:cNvPr id="38" name="Rectangle 38"/>
            <p:cNvSpPr/>
            <p:nvPr/>
          </p:nvSpPr>
          <p:spPr>
            <a:xfrm>
              <a:off x="2495550" y="1581150"/>
              <a:ext cx="123825" cy="228600"/>
            </a:xfrm>
            <a:prstGeom prst="rect">
              <a:avLst/>
            </a:prstGeom>
            <a:solidFill>
              <a:srgbClr val="B57A6F"/>
            </a:solidFill>
            <a:ln>
              <a:noFill/>
            </a:ln>
          </p:spPr>
        </p:sp>
        <p:sp>
          <p:nvSpPr>
            <p:cNvPr id="39" name="Rectangle 39"/>
            <p:cNvSpPr/>
            <p:nvPr/>
          </p:nvSpPr>
          <p:spPr>
            <a:xfrm>
              <a:off x="2686050" y="1466850"/>
              <a:ext cx="123825" cy="342900"/>
            </a:xfrm>
            <a:prstGeom prst="rect">
              <a:avLst/>
            </a:prstGeom>
            <a:solidFill>
              <a:srgbClr val="5B180B"/>
            </a:solidFill>
            <a:ln>
              <a:noFill/>
            </a:ln>
          </p:spPr>
        </p:sp>
        <p:sp>
          <p:nvSpPr>
            <p:cNvPr id="40" name="TextBox 40"/>
            <p:cNvSpPr txBox="1"/>
            <p:nvPr/>
          </p:nvSpPr>
          <p:spPr>
            <a:xfrm>
              <a:off x="2357438" y="1554480"/>
              <a:ext cx="231648"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0.38​</a:t>
              </a:r>
            </a:p>
          </p:txBody>
        </p:sp>
        <p:sp>
          <p:nvSpPr>
            <p:cNvPr id="41" name="TextBox 41"/>
            <p:cNvSpPr txBox="1"/>
            <p:nvPr/>
          </p:nvSpPr>
          <p:spPr>
            <a:xfrm>
              <a:off x="2547938" y="1478280"/>
              <a:ext cx="231648"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0.52​</a:t>
              </a:r>
            </a:p>
          </p:txBody>
        </p:sp>
        <p:sp>
          <p:nvSpPr>
            <p:cNvPr id="42" name="TextBox 42"/>
            <p:cNvSpPr txBox="1"/>
            <p:nvPr/>
          </p:nvSpPr>
          <p:spPr>
            <a:xfrm>
              <a:off x="2738438" y="1363980"/>
              <a:ext cx="242754"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0.75​</a:t>
              </a:r>
            </a:p>
          </p:txBody>
        </p:sp>
        <p:sp>
          <p:nvSpPr>
            <p:cNvPr id="43" name="TextBox 43"/>
            <p:cNvSpPr txBox="1"/>
            <p:nvPr/>
          </p:nvSpPr>
          <p:spPr>
            <a:xfrm>
              <a:off x="230028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10月​</a:t>
              </a:r>
            </a:p>
          </p:txBody>
        </p:sp>
        <p:sp>
          <p:nvSpPr>
            <p:cNvPr id="44" name="TextBox 44"/>
            <p:cNvSpPr txBox="1"/>
            <p:nvPr/>
          </p:nvSpPr>
          <p:spPr>
            <a:xfrm>
              <a:off x="250983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11月​</a:t>
              </a:r>
            </a:p>
          </p:txBody>
        </p:sp>
        <p:sp>
          <p:nvSpPr>
            <p:cNvPr id="45" name="TextBox 45"/>
            <p:cNvSpPr txBox="1"/>
            <p:nvPr/>
          </p:nvSpPr>
          <p:spPr>
            <a:xfrm>
              <a:off x="270033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12月​</a:t>
              </a:r>
            </a:p>
          </p:txBody>
        </p:sp>
        <p:sp>
          <p:nvSpPr>
            <p:cNvPr id="46" name="TextBox 46"/>
            <p:cNvSpPr txBox="1"/>
            <p:nvPr/>
          </p:nvSpPr>
          <p:spPr>
            <a:xfrm>
              <a:off x="3157538" y="140898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较三季度​</a:t>
              </a:r>
            </a:p>
          </p:txBody>
        </p:sp>
        <p:sp>
          <p:nvSpPr>
            <p:cNvPr id="47" name="TextBox 47"/>
            <p:cNvSpPr txBox="1"/>
            <p:nvPr/>
          </p:nvSpPr>
          <p:spPr>
            <a:xfrm>
              <a:off x="3137154" y="1546860"/>
              <a:ext cx="512575" cy="234696"/>
            </a:xfrm>
            <a:prstGeom prst="rect">
              <a:avLst/>
            </a:prstGeom>
            <a:noFill/>
            <a:ln>
              <a:noFill/>
            </a:ln>
          </p:spPr>
          <p:txBody>
            <a:bodyPr wrap="none" lIns="0" tIns="0" rIns="0" bIns="0" anchor="t" anchorCtr="0">
              <a:spAutoFit/>
            </a:bodyPr>
            <a:lstStyle/>
            <a:p>
              <a:pPr algn="l"/>
              <a:r>
                <a:rPr lang="zh-CN" sz="1200" b="1" dirty="0">
                  <a:solidFill>
                    <a:srgbClr val="5B180B"/>
                  </a:solidFill>
                  <a:latin typeface="+mn-lt"/>
                  <a:ea typeface="+mn-ea"/>
                  <a:cs typeface="+mn-cs"/>
                </a:rPr>
                <a:t>+64%​</a:t>
              </a:r>
            </a:p>
          </p:txBody>
        </p:sp>
        <p:sp>
          <p:nvSpPr>
            <p:cNvPr id="48" name="Freeform 48"/>
            <p:cNvSpPr/>
            <p:nvPr/>
          </p:nvSpPr>
          <p:spPr>
            <a:xfrm>
              <a:off x="3200400" y="1695450"/>
              <a:ext cx="95250" cy="76200"/>
            </a:xfrm>
            <a:prstGeom prst="triangle">
              <a:avLst/>
            </a:prstGeom>
            <a:solidFill>
              <a:srgbClr val="9E402E"/>
            </a:solidFill>
            <a:ln>
              <a:noFill/>
            </a:ln>
          </p:spPr>
        </p:sp>
      </p:grpSp>
      <p:grpSp>
        <p:nvGrpSpPr>
          <p:cNvPr id="71" name="kpi-zs"/>
          <p:cNvGrpSpPr/>
          <p:nvPr/>
        </p:nvGrpSpPr>
        <p:grpSpPr>
          <a:xfrm>
            <a:off x="4076700" y="666750"/>
            <a:ext cx="1847850" cy="1295400"/>
            <a:chOff x="4076700" y="666750"/>
            <a:chExt cx="1847850" cy="1295400"/>
          </a:xfrm>
        </p:grpSpPr>
        <p:sp>
          <p:nvSpPr>
            <p:cNvPr id="50" name="Rectangle 50"/>
            <p:cNvSpPr/>
            <p:nvPr/>
          </p:nvSpPr>
          <p:spPr>
            <a:xfrm>
              <a:off x="4076700" y="666750"/>
              <a:ext cx="1847850" cy="1295400"/>
            </a:xfrm>
            <a:prstGeom prst="roundRect">
              <a:avLst>
                <a:gd name="adj" fmla="val 7353"/>
              </a:avLst>
            </a:prstGeom>
            <a:solidFill>
              <a:srgbClr val="F5FAF8"/>
            </a:solidFill>
            <a:ln w="9525">
              <a:solidFill>
                <a:srgbClr val="D9E8E2"/>
              </a:solidFill>
            </a:ln>
          </p:spPr>
        </p:sp>
        <p:sp>
          <p:nvSpPr>
            <p:cNvPr id="51" name="Ellipse 51"/>
            <p:cNvSpPr/>
            <p:nvPr/>
          </p:nvSpPr>
          <p:spPr>
            <a:xfrm>
              <a:off x="4200525" y="809625"/>
              <a:ext cx="323850" cy="323850"/>
            </a:xfrm>
            <a:prstGeom prst="ellipse">
              <a:avLst/>
            </a:prstGeom>
            <a:solidFill>
              <a:srgbClr val="5B180B"/>
            </a:solidFill>
            <a:ln>
              <a:noFill/>
            </a:ln>
          </p:spPr>
        </p:sp>
        <p:grpSp>
          <p:nvGrpSpPr>
            <p:cNvPr id="56" name="Group 56"/>
            <p:cNvGrpSpPr/>
            <p:nvPr/>
          </p:nvGrpSpPr>
          <p:grpSpPr>
            <a:xfrm>
              <a:off x="4269581" y="889000"/>
              <a:ext cx="185737" cy="174624"/>
              <a:chOff x="4269581" y="889000"/>
              <a:chExt cx="185737" cy="174624"/>
            </a:xfrm>
          </p:grpSpPr>
          <p:sp>
            <p:nvSpPr>
              <p:cNvPr id="52" name="Freeform 52"/>
              <p:cNvSpPr/>
              <p:nvPr/>
            </p:nvSpPr>
            <p:spPr>
              <a:xfrm>
                <a:off x="4269581" y="97155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FFFFFF"/>
                </a:solidFill>
              </a:ln>
            </p:spPr>
          </p:sp>
          <p:sp>
            <p:nvSpPr>
              <p:cNvPr id="53" name="Freeform 53"/>
              <p:cNvSpPr/>
              <p:nvPr/>
            </p:nvSpPr>
            <p:spPr>
              <a:xfrm>
                <a:off x="4393406" y="93027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FFFFFF"/>
                </a:solidFill>
              </a:ln>
            </p:spPr>
          </p:sp>
          <p:sp>
            <p:nvSpPr>
              <p:cNvPr id="54" name="Freeform 54"/>
              <p:cNvSpPr/>
              <p:nvPr/>
            </p:nvSpPr>
            <p:spPr>
              <a:xfrm>
                <a:off x="4331493" y="88900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FFFFFF"/>
                </a:solidFill>
              </a:ln>
            </p:spPr>
          </p:sp>
          <p:sp>
            <p:nvSpPr>
              <p:cNvPr id="55" name="Freeform 55"/>
              <p:cNvSpPr/>
              <p:nvPr/>
            </p:nvSpPr>
            <p:spPr>
              <a:xfrm>
                <a:off x="4279900" y="1054099"/>
                <a:ext cx="144462" cy="9525"/>
              </a:xfrm>
              <a:custGeom>
                <a:avLst/>
                <a:gdLst/>
                <a:ahLst/>
                <a:cxnLst/>
                <a:rect l="l" t="t" r="r" b="b"/>
                <a:pathLst>
                  <a:path w="144462" h="9525">
                    <a:moveTo>
                      <a:pt x="0" y="0"/>
                    </a:moveTo>
                    <a:lnTo>
                      <a:pt x="144462" y="0"/>
                    </a:lnTo>
                  </a:path>
                </a:pathLst>
              </a:custGeom>
              <a:noFill/>
              <a:ln w="20637">
                <a:solidFill>
                  <a:srgbClr val="FFFFFF"/>
                </a:solidFill>
              </a:ln>
            </p:spPr>
          </p:sp>
        </p:grpSp>
        <p:sp>
          <p:nvSpPr>
            <p:cNvPr id="57" name="TextBox 57"/>
            <p:cNvSpPr txBox="1"/>
            <p:nvPr/>
          </p:nvSpPr>
          <p:spPr>
            <a:xfrm>
              <a:off x="4605147" y="828199"/>
              <a:ext cx="613805" cy="190690"/>
            </a:xfrm>
            <a:prstGeom prst="rect">
              <a:avLst/>
            </a:prstGeom>
            <a:noFill/>
            <a:ln>
              <a:noFill/>
            </a:ln>
          </p:spPr>
          <p:txBody>
            <a:bodyPr wrap="none" lIns="0" tIns="0" rIns="0" bIns="0" anchor="t" anchorCtr="0">
              <a:spAutoFit/>
            </a:bodyPr>
            <a:lstStyle/>
            <a:p>
              <a:pPr algn="l"/>
              <a:r>
                <a:rPr lang="zh-CN" sz="980" b="1" dirty="0">
                  <a:solidFill>
                    <a:srgbClr val="312624"/>
                  </a:solidFill>
                  <a:latin typeface="+mn-lt"/>
                  <a:ea typeface="+mn-ea"/>
                  <a:cs typeface="+mn-cs"/>
                </a:rPr>
                <a:t>中收完成​</a:t>
              </a:r>
            </a:p>
          </p:txBody>
        </p:sp>
        <p:sp>
          <p:nvSpPr>
            <p:cNvPr id="58" name="TextBox 58"/>
            <p:cNvSpPr txBox="1"/>
            <p:nvPr/>
          </p:nvSpPr>
          <p:spPr>
            <a:xfrm>
              <a:off x="4600575" y="997744"/>
              <a:ext cx="857571" cy="366712"/>
            </a:xfrm>
            <a:prstGeom prst="rect">
              <a:avLst/>
            </a:prstGeom>
            <a:noFill/>
            <a:ln>
              <a:noFill/>
            </a:ln>
          </p:spPr>
          <p:txBody>
            <a:bodyPr wrap="none" lIns="0" tIns="0" rIns="0" bIns="0" anchor="t" anchorCtr="0">
              <a:spAutoFit/>
            </a:bodyPr>
            <a:lstStyle/>
            <a:p>
              <a:pPr algn="l"/>
              <a:r>
                <a:rPr lang="zh-CN" sz="1880" b="1" dirty="0">
                  <a:solidFill>
                    <a:srgbClr val="5B180B"/>
                  </a:solidFill>
                  <a:latin typeface="+mn-lt"/>
                  <a:ea typeface="+mn-ea"/>
                  <a:cs typeface="+mn-cs"/>
                </a:rPr>
                <a:t>420</a:t>
              </a:r>
              <a:r>
                <a:rPr lang="zh-CN" sz="820" dirty="0">
                  <a:solidFill>
                    <a:srgbClr val="5F6F6A"/>
                  </a:solidFill>
                  <a:latin typeface="+mn-lt"/>
                  <a:ea typeface="+mn-ea"/>
                  <a:cs typeface="+mn-cs"/>
                </a:rPr>
                <a:t xml:space="preserve"> 万元</a:t>
              </a:r>
              <a:r>
                <a:rPr lang="zh-CN" sz="1880" b="1" dirty="0">
                  <a:solidFill>
                    <a:srgbClr val="5B180B"/>
                  </a:solidFill>
                  <a:latin typeface="+mn-lt"/>
                  <a:ea typeface="+mn-ea"/>
                  <a:cs typeface="+mn-cs"/>
                </a:rPr>
                <a:t>​</a:t>
              </a:r>
            </a:p>
          </p:txBody>
        </p:sp>
        <p:sp>
          <p:nvSpPr>
            <p:cNvPr id="59" name="Rectangle 59"/>
            <p:cNvSpPr/>
            <p:nvPr/>
          </p:nvSpPr>
          <p:spPr>
            <a:xfrm>
              <a:off x="4229100" y="1676400"/>
              <a:ext cx="123825" cy="133350"/>
            </a:xfrm>
            <a:prstGeom prst="rect">
              <a:avLst/>
            </a:prstGeom>
            <a:solidFill>
              <a:srgbClr val="BFDDD6"/>
            </a:solidFill>
            <a:ln>
              <a:noFill/>
            </a:ln>
          </p:spPr>
        </p:sp>
        <p:sp>
          <p:nvSpPr>
            <p:cNvPr id="60" name="Rectangle 60"/>
            <p:cNvSpPr/>
            <p:nvPr/>
          </p:nvSpPr>
          <p:spPr>
            <a:xfrm>
              <a:off x="4419600" y="1638300"/>
              <a:ext cx="123825" cy="171450"/>
            </a:xfrm>
            <a:prstGeom prst="rect">
              <a:avLst/>
            </a:prstGeom>
            <a:solidFill>
              <a:srgbClr val="B57A6F"/>
            </a:solidFill>
            <a:ln>
              <a:noFill/>
            </a:ln>
          </p:spPr>
        </p:sp>
        <p:sp>
          <p:nvSpPr>
            <p:cNvPr id="61" name="Rectangle 61"/>
            <p:cNvSpPr/>
            <p:nvPr/>
          </p:nvSpPr>
          <p:spPr>
            <a:xfrm>
              <a:off x="4610100" y="1543050"/>
              <a:ext cx="123825" cy="266700"/>
            </a:xfrm>
            <a:prstGeom prst="rect">
              <a:avLst/>
            </a:prstGeom>
            <a:solidFill>
              <a:srgbClr val="5B180B"/>
            </a:solidFill>
            <a:ln>
              <a:noFill/>
            </a:ln>
          </p:spPr>
        </p:sp>
        <p:sp>
          <p:nvSpPr>
            <p:cNvPr id="62" name="TextBox 62"/>
            <p:cNvSpPr txBox="1"/>
            <p:nvPr/>
          </p:nvSpPr>
          <p:spPr>
            <a:xfrm>
              <a:off x="4281488" y="1573530"/>
              <a:ext cx="187223"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120​</a:t>
              </a:r>
            </a:p>
          </p:txBody>
        </p:sp>
        <p:sp>
          <p:nvSpPr>
            <p:cNvPr id="63" name="TextBox 63"/>
            <p:cNvSpPr txBox="1"/>
            <p:nvPr/>
          </p:nvSpPr>
          <p:spPr>
            <a:xfrm>
              <a:off x="4471988" y="1535430"/>
              <a:ext cx="187223"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140​</a:t>
              </a:r>
            </a:p>
          </p:txBody>
        </p:sp>
        <p:sp>
          <p:nvSpPr>
            <p:cNvPr id="64" name="TextBox 64"/>
            <p:cNvSpPr txBox="1"/>
            <p:nvPr/>
          </p:nvSpPr>
          <p:spPr>
            <a:xfrm>
              <a:off x="4662488" y="1440180"/>
              <a:ext cx="196108"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160​</a:t>
              </a:r>
            </a:p>
          </p:txBody>
        </p:sp>
        <p:sp>
          <p:nvSpPr>
            <p:cNvPr id="65" name="TextBox 65"/>
            <p:cNvSpPr txBox="1"/>
            <p:nvPr/>
          </p:nvSpPr>
          <p:spPr>
            <a:xfrm>
              <a:off x="422433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10月​</a:t>
              </a:r>
            </a:p>
          </p:txBody>
        </p:sp>
        <p:sp>
          <p:nvSpPr>
            <p:cNvPr id="66" name="TextBox 66"/>
            <p:cNvSpPr txBox="1"/>
            <p:nvPr/>
          </p:nvSpPr>
          <p:spPr>
            <a:xfrm>
              <a:off x="443388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11月​</a:t>
              </a:r>
            </a:p>
          </p:txBody>
        </p:sp>
        <p:sp>
          <p:nvSpPr>
            <p:cNvPr id="67" name="TextBox 67"/>
            <p:cNvSpPr txBox="1"/>
            <p:nvPr/>
          </p:nvSpPr>
          <p:spPr>
            <a:xfrm>
              <a:off x="462438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12月​</a:t>
              </a:r>
            </a:p>
          </p:txBody>
        </p:sp>
        <p:sp>
          <p:nvSpPr>
            <p:cNvPr id="68" name="TextBox 68"/>
            <p:cNvSpPr txBox="1"/>
            <p:nvPr/>
          </p:nvSpPr>
          <p:spPr>
            <a:xfrm>
              <a:off x="5081588" y="140898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较三季度​</a:t>
              </a:r>
            </a:p>
          </p:txBody>
        </p:sp>
        <p:sp>
          <p:nvSpPr>
            <p:cNvPr id="69" name="TextBox 69"/>
            <p:cNvSpPr txBox="1"/>
            <p:nvPr/>
          </p:nvSpPr>
          <p:spPr>
            <a:xfrm>
              <a:off x="5061204" y="1546860"/>
              <a:ext cx="512575" cy="234696"/>
            </a:xfrm>
            <a:prstGeom prst="rect">
              <a:avLst/>
            </a:prstGeom>
            <a:noFill/>
            <a:ln>
              <a:noFill/>
            </a:ln>
          </p:spPr>
          <p:txBody>
            <a:bodyPr wrap="none" lIns="0" tIns="0" rIns="0" bIns="0" anchor="t" anchorCtr="0">
              <a:spAutoFit/>
            </a:bodyPr>
            <a:lstStyle/>
            <a:p>
              <a:pPr algn="l"/>
              <a:r>
                <a:rPr lang="zh-CN" sz="1200" b="1" dirty="0">
                  <a:solidFill>
                    <a:srgbClr val="5B180B"/>
                  </a:solidFill>
                  <a:latin typeface="+mn-lt"/>
                  <a:ea typeface="+mn-ea"/>
                  <a:cs typeface="+mn-cs"/>
                </a:rPr>
                <a:t>+50%​</a:t>
              </a:r>
            </a:p>
          </p:txBody>
        </p:sp>
        <p:sp>
          <p:nvSpPr>
            <p:cNvPr id="70" name="Freeform 70"/>
            <p:cNvSpPr/>
            <p:nvPr/>
          </p:nvSpPr>
          <p:spPr>
            <a:xfrm>
              <a:off x="5124450" y="1695450"/>
              <a:ext cx="95250" cy="76200"/>
            </a:xfrm>
            <a:prstGeom prst="triangle">
              <a:avLst/>
            </a:prstGeom>
            <a:solidFill>
              <a:srgbClr val="9E402E"/>
            </a:solidFill>
            <a:ln>
              <a:noFill/>
            </a:ln>
          </p:spPr>
        </p:sp>
      </p:grpSp>
      <p:grpSp>
        <p:nvGrpSpPr>
          <p:cNvPr id="93" name="kpi-dai"/>
          <p:cNvGrpSpPr/>
          <p:nvPr/>
        </p:nvGrpSpPr>
        <p:grpSpPr>
          <a:xfrm>
            <a:off x="6000750" y="666750"/>
            <a:ext cx="1847850" cy="1295400"/>
            <a:chOff x="6000750" y="666750"/>
            <a:chExt cx="1847850" cy="1295400"/>
          </a:xfrm>
        </p:grpSpPr>
        <p:sp>
          <p:nvSpPr>
            <p:cNvPr id="72" name="Rectangle 72"/>
            <p:cNvSpPr/>
            <p:nvPr/>
          </p:nvSpPr>
          <p:spPr>
            <a:xfrm>
              <a:off x="6000750" y="666750"/>
              <a:ext cx="1847850" cy="1295400"/>
            </a:xfrm>
            <a:prstGeom prst="roundRect">
              <a:avLst>
                <a:gd name="adj" fmla="val 7353"/>
              </a:avLst>
            </a:prstGeom>
            <a:solidFill>
              <a:srgbClr val="F5FAF8"/>
            </a:solidFill>
            <a:ln w="9525">
              <a:solidFill>
                <a:srgbClr val="D9E8E2"/>
              </a:solidFill>
            </a:ln>
          </p:spPr>
        </p:sp>
        <p:sp>
          <p:nvSpPr>
            <p:cNvPr id="73" name="Ellipse 73"/>
            <p:cNvSpPr/>
            <p:nvPr/>
          </p:nvSpPr>
          <p:spPr>
            <a:xfrm>
              <a:off x="6124575" y="809625"/>
              <a:ext cx="323850" cy="323850"/>
            </a:xfrm>
            <a:prstGeom prst="ellipse">
              <a:avLst/>
            </a:prstGeom>
            <a:solidFill>
              <a:srgbClr val="5B180B"/>
            </a:solidFill>
            <a:ln>
              <a:noFill/>
            </a:ln>
          </p:spPr>
        </p:sp>
        <p:grpSp>
          <p:nvGrpSpPr>
            <p:cNvPr id="78" name="Group 78"/>
            <p:cNvGrpSpPr/>
            <p:nvPr/>
          </p:nvGrpSpPr>
          <p:grpSpPr>
            <a:xfrm>
              <a:off x="6214269" y="878681"/>
              <a:ext cx="144462" cy="185737"/>
              <a:chOff x="6214269" y="878681"/>
              <a:chExt cx="144462" cy="185737"/>
            </a:xfrm>
          </p:grpSpPr>
          <p:sp>
            <p:nvSpPr>
              <p:cNvPr id="74" name="Freeform 74"/>
              <p:cNvSpPr/>
              <p:nvPr/>
            </p:nvSpPr>
            <p:spPr>
              <a:xfrm>
                <a:off x="6214269" y="899319"/>
                <a:ext cx="144462" cy="165099"/>
              </a:xfrm>
              <a:custGeom>
                <a:avLst/>
                <a:gdLst/>
                <a:ahLst/>
                <a:cxnLst/>
                <a:rect l="l" t="t" r="r" b="b"/>
                <a:pathLst>
                  <a:path w="144462" h="165099">
                    <a:moveTo>
                      <a:pt x="41275" y="0"/>
                    </a:moveTo>
                    <a:lnTo>
                      <a:pt x="20637" y="0"/>
                    </a:lnTo>
                    <a:cubicBezTo>
                      <a:pt x="9240" y="0"/>
                      <a:pt x="0" y="9240"/>
                      <a:pt x="0" y="20637"/>
                    </a:cubicBezTo>
                    <a:lnTo>
                      <a:pt x="0" y="144462"/>
                    </a:lnTo>
                    <a:cubicBezTo>
                      <a:pt x="0" y="155860"/>
                      <a:pt x="9240" y="165099"/>
                      <a:pt x="20637" y="165099"/>
                    </a:cubicBezTo>
                    <a:lnTo>
                      <a:pt x="123825" y="165099"/>
                    </a:lnTo>
                    <a:cubicBezTo>
                      <a:pt x="135222" y="165099"/>
                      <a:pt x="144462" y="155860"/>
                      <a:pt x="144462" y="144462"/>
                    </a:cubicBezTo>
                    <a:lnTo>
                      <a:pt x="144462" y="20637"/>
                    </a:lnTo>
                    <a:cubicBezTo>
                      <a:pt x="144462" y="9240"/>
                      <a:pt x="135222" y="0"/>
                      <a:pt x="123825" y="0"/>
                    </a:cubicBezTo>
                    <a:lnTo>
                      <a:pt x="103187" y="0"/>
                    </a:lnTo>
                  </a:path>
                </a:pathLst>
              </a:custGeom>
              <a:noFill/>
              <a:ln w="20637">
                <a:solidFill>
                  <a:srgbClr val="FFFFFF"/>
                </a:solidFill>
              </a:ln>
            </p:spPr>
          </p:sp>
          <p:sp>
            <p:nvSpPr>
              <p:cNvPr id="75" name="Freeform 75"/>
              <p:cNvSpPr/>
              <p:nvPr/>
            </p:nvSpPr>
            <p:spPr>
              <a:xfrm>
                <a:off x="6255543" y="878681"/>
                <a:ext cx="61912" cy="41275"/>
              </a:xfrm>
              <a:custGeom>
                <a:avLst/>
                <a:gdLst/>
                <a:ahLst/>
                <a:cxnLst/>
                <a:rect l="l" t="t" r="r" b="b"/>
                <a:pathLst>
                  <a:path w="61912" h="41275">
                    <a:moveTo>
                      <a:pt x="0" y="20637"/>
                    </a:moveTo>
                    <a:cubicBezTo>
                      <a:pt x="0" y="9240"/>
                      <a:pt x="9240" y="0"/>
                      <a:pt x="20637" y="0"/>
                    </a:cubicBezTo>
                    <a:lnTo>
                      <a:pt x="41275" y="0"/>
                    </a:lnTo>
                    <a:cubicBezTo>
                      <a:pt x="52673" y="0"/>
                      <a:pt x="61912" y="9240"/>
                      <a:pt x="61912" y="20637"/>
                    </a:cubicBezTo>
                    <a:cubicBezTo>
                      <a:pt x="61912" y="32035"/>
                      <a:pt x="52673" y="41275"/>
                      <a:pt x="41275" y="41275"/>
                    </a:cubicBezTo>
                    <a:lnTo>
                      <a:pt x="20637" y="41275"/>
                    </a:lnTo>
                    <a:cubicBezTo>
                      <a:pt x="9240" y="41275"/>
                      <a:pt x="0" y="32035"/>
                      <a:pt x="0" y="20637"/>
                    </a:cubicBezTo>
                  </a:path>
                </a:pathLst>
              </a:custGeom>
              <a:noFill/>
              <a:ln w="20637">
                <a:solidFill>
                  <a:srgbClr val="FFFFFF"/>
                </a:solidFill>
              </a:ln>
            </p:spPr>
          </p:sp>
          <p:sp>
            <p:nvSpPr>
              <p:cNvPr id="76" name="Freeform 76"/>
              <p:cNvSpPr/>
              <p:nvPr/>
            </p:nvSpPr>
            <p:spPr>
              <a:xfrm>
                <a:off x="6265862" y="961231"/>
                <a:ext cx="41275" cy="61912"/>
              </a:xfrm>
              <a:custGeom>
                <a:avLst/>
                <a:gdLst/>
                <a:ahLst/>
                <a:cxnLst/>
                <a:rect l="l" t="t" r="r" b="b"/>
                <a:pathLst>
                  <a:path w="41275" h="61912">
                    <a:moveTo>
                      <a:pt x="41275" y="0"/>
                    </a:moveTo>
                    <a:lnTo>
                      <a:pt x="15478" y="0"/>
                    </a:lnTo>
                    <a:cubicBezTo>
                      <a:pt x="6930" y="0"/>
                      <a:pt x="0" y="6930"/>
                      <a:pt x="0" y="15478"/>
                    </a:cubicBezTo>
                    <a:cubicBezTo>
                      <a:pt x="0" y="24026"/>
                      <a:pt x="6930" y="30956"/>
                      <a:pt x="15478" y="30956"/>
                    </a:cubicBezTo>
                    <a:lnTo>
                      <a:pt x="25797" y="30956"/>
                    </a:lnTo>
                    <a:cubicBezTo>
                      <a:pt x="34345" y="30956"/>
                      <a:pt x="41275" y="37886"/>
                      <a:pt x="41275" y="46434"/>
                    </a:cubicBezTo>
                    <a:cubicBezTo>
                      <a:pt x="41275" y="54983"/>
                      <a:pt x="34345" y="61912"/>
                      <a:pt x="25797" y="61912"/>
                    </a:cubicBezTo>
                    <a:lnTo>
                      <a:pt x="0" y="61912"/>
                    </a:lnTo>
                  </a:path>
                </a:pathLst>
              </a:custGeom>
              <a:noFill/>
              <a:ln w="20637">
                <a:solidFill>
                  <a:srgbClr val="FFFFFF"/>
                </a:solidFill>
              </a:ln>
            </p:spPr>
          </p:sp>
          <p:sp>
            <p:nvSpPr>
              <p:cNvPr id="77" name="Freeform 77"/>
              <p:cNvSpPr/>
              <p:nvPr/>
            </p:nvSpPr>
            <p:spPr>
              <a:xfrm>
                <a:off x="6286500" y="950912"/>
                <a:ext cx="9525" cy="82550"/>
              </a:xfrm>
              <a:custGeom>
                <a:avLst/>
                <a:gdLst/>
                <a:ahLst/>
                <a:cxnLst/>
                <a:rect l="l" t="t" r="r" b="b"/>
                <a:pathLst>
                  <a:path w="9525" h="82550">
                    <a:moveTo>
                      <a:pt x="0" y="72231"/>
                    </a:moveTo>
                    <a:lnTo>
                      <a:pt x="0" y="82550"/>
                    </a:lnTo>
                    <a:moveTo>
                      <a:pt x="0" y="0"/>
                    </a:moveTo>
                    <a:lnTo>
                      <a:pt x="0" y="10319"/>
                    </a:lnTo>
                  </a:path>
                </a:pathLst>
              </a:custGeom>
              <a:noFill/>
              <a:ln w="20637">
                <a:solidFill>
                  <a:srgbClr val="FFFFFF"/>
                </a:solidFill>
              </a:ln>
            </p:spPr>
          </p:sp>
        </p:grpSp>
        <p:sp>
          <p:nvSpPr>
            <p:cNvPr id="79" name="TextBox 79"/>
            <p:cNvSpPr txBox="1"/>
            <p:nvPr/>
          </p:nvSpPr>
          <p:spPr>
            <a:xfrm>
              <a:off x="6529197" y="828199"/>
              <a:ext cx="745732" cy="190690"/>
            </a:xfrm>
            <a:prstGeom prst="rect">
              <a:avLst/>
            </a:prstGeom>
            <a:noFill/>
            <a:ln>
              <a:noFill/>
            </a:ln>
          </p:spPr>
          <p:txBody>
            <a:bodyPr wrap="none" lIns="0" tIns="0" rIns="0" bIns="0" anchor="t" anchorCtr="0">
              <a:spAutoFit/>
            </a:bodyPr>
            <a:lstStyle/>
            <a:p>
              <a:pPr algn="l"/>
              <a:r>
                <a:rPr lang="zh-CN" sz="980" b="1" dirty="0">
                  <a:solidFill>
                    <a:srgbClr val="312624"/>
                  </a:solidFill>
                  <a:latin typeface="+mn-lt"/>
                  <a:ea typeface="+mn-ea"/>
                  <a:cs typeface="+mn-cs"/>
                </a:rPr>
                <a:t>消费贷投放​</a:t>
              </a:r>
            </a:p>
          </p:txBody>
        </p:sp>
        <p:sp>
          <p:nvSpPr>
            <p:cNvPr id="80" name="TextBox 80"/>
            <p:cNvSpPr txBox="1"/>
            <p:nvPr/>
          </p:nvSpPr>
          <p:spPr>
            <a:xfrm>
              <a:off x="6524625" y="997744"/>
              <a:ext cx="1149885" cy="366712"/>
            </a:xfrm>
            <a:prstGeom prst="rect">
              <a:avLst/>
            </a:prstGeom>
            <a:noFill/>
            <a:ln>
              <a:noFill/>
            </a:ln>
          </p:spPr>
          <p:txBody>
            <a:bodyPr wrap="none" lIns="0" tIns="0" rIns="0" bIns="0" anchor="t" anchorCtr="0">
              <a:spAutoFit/>
            </a:bodyPr>
            <a:lstStyle/>
            <a:p>
              <a:pPr algn="l"/>
              <a:r>
                <a:rPr lang="zh-CN" sz="1880" b="1" dirty="0">
                  <a:solidFill>
                    <a:srgbClr val="5B180B"/>
                  </a:solidFill>
                  <a:latin typeface="+mn-lt"/>
                  <a:ea typeface="+mn-ea"/>
                  <a:cs typeface="+mn-cs"/>
                </a:rPr>
                <a:t>3,800</a:t>
              </a:r>
              <a:r>
                <a:rPr lang="zh-CN" sz="820" dirty="0">
                  <a:solidFill>
                    <a:srgbClr val="5F6F6A"/>
                  </a:solidFill>
                  <a:latin typeface="+mn-lt"/>
                  <a:ea typeface="+mn-ea"/>
                  <a:cs typeface="+mn-cs"/>
                </a:rPr>
                <a:t xml:space="preserve"> 万元</a:t>
              </a:r>
              <a:r>
                <a:rPr lang="zh-CN" sz="1880" b="1" dirty="0">
                  <a:solidFill>
                    <a:srgbClr val="5B180B"/>
                  </a:solidFill>
                  <a:latin typeface="+mn-lt"/>
                  <a:ea typeface="+mn-ea"/>
                  <a:cs typeface="+mn-cs"/>
                </a:rPr>
                <a:t>​</a:t>
              </a:r>
            </a:p>
          </p:txBody>
        </p:sp>
        <p:sp>
          <p:nvSpPr>
            <p:cNvPr id="81" name="Rectangle 81"/>
            <p:cNvSpPr/>
            <p:nvPr/>
          </p:nvSpPr>
          <p:spPr>
            <a:xfrm>
              <a:off x="6153150" y="1695450"/>
              <a:ext cx="123825" cy="114300"/>
            </a:xfrm>
            <a:prstGeom prst="rect">
              <a:avLst/>
            </a:prstGeom>
            <a:solidFill>
              <a:srgbClr val="BFDDD6"/>
            </a:solidFill>
            <a:ln>
              <a:noFill/>
            </a:ln>
          </p:spPr>
        </p:sp>
        <p:sp>
          <p:nvSpPr>
            <p:cNvPr id="82" name="Rectangle 82"/>
            <p:cNvSpPr/>
            <p:nvPr/>
          </p:nvSpPr>
          <p:spPr>
            <a:xfrm>
              <a:off x="6343650" y="1600200"/>
              <a:ext cx="123825" cy="209550"/>
            </a:xfrm>
            <a:prstGeom prst="rect">
              <a:avLst/>
            </a:prstGeom>
            <a:solidFill>
              <a:srgbClr val="B57A6F"/>
            </a:solidFill>
            <a:ln>
              <a:noFill/>
            </a:ln>
          </p:spPr>
        </p:sp>
        <p:sp>
          <p:nvSpPr>
            <p:cNvPr id="83" name="Rectangle 83"/>
            <p:cNvSpPr/>
            <p:nvPr/>
          </p:nvSpPr>
          <p:spPr>
            <a:xfrm>
              <a:off x="6534150" y="1485900"/>
              <a:ext cx="123825" cy="323850"/>
            </a:xfrm>
            <a:prstGeom prst="rect">
              <a:avLst/>
            </a:prstGeom>
            <a:solidFill>
              <a:srgbClr val="5B180B"/>
            </a:solidFill>
            <a:ln>
              <a:noFill/>
            </a:ln>
          </p:spPr>
        </p:sp>
        <p:sp>
          <p:nvSpPr>
            <p:cNvPr id="84" name="TextBox 84"/>
            <p:cNvSpPr txBox="1"/>
            <p:nvPr/>
          </p:nvSpPr>
          <p:spPr>
            <a:xfrm>
              <a:off x="6186488" y="1592580"/>
              <a:ext cx="187223"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800​</a:t>
              </a:r>
            </a:p>
          </p:txBody>
        </p:sp>
        <p:sp>
          <p:nvSpPr>
            <p:cNvPr id="85" name="TextBox 85"/>
            <p:cNvSpPr txBox="1"/>
            <p:nvPr/>
          </p:nvSpPr>
          <p:spPr>
            <a:xfrm>
              <a:off x="6376988" y="1497330"/>
              <a:ext cx="276073"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1,200​</a:t>
              </a:r>
            </a:p>
          </p:txBody>
        </p:sp>
        <p:sp>
          <p:nvSpPr>
            <p:cNvPr id="86" name="TextBox 86"/>
            <p:cNvSpPr txBox="1"/>
            <p:nvPr/>
          </p:nvSpPr>
          <p:spPr>
            <a:xfrm>
              <a:off x="6567488" y="1383030"/>
              <a:ext cx="289400"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1,800​</a:t>
              </a:r>
            </a:p>
          </p:txBody>
        </p:sp>
        <p:sp>
          <p:nvSpPr>
            <p:cNvPr id="87" name="TextBox 87"/>
            <p:cNvSpPr txBox="1"/>
            <p:nvPr/>
          </p:nvSpPr>
          <p:spPr>
            <a:xfrm>
              <a:off x="614838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10月​</a:t>
              </a:r>
            </a:p>
          </p:txBody>
        </p:sp>
        <p:sp>
          <p:nvSpPr>
            <p:cNvPr id="88" name="TextBox 88"/>
            <p:cNvSpPr txBox="1"/>
            <p:nvPr/>
          </p:nvSpPr>
          <p:spPr>
            <a:xfrm>
              <a:off x="635793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11月​</a:t>
              </a:r>
            </a:p>
          </p:txBody>
        </p:sp>
        <p:sp>
          <p:nvSpPr>
            <p:cNvPr id="89" name="TextBox 89"/>
            <p:cNvSpPr txBox="1"/>
            <p:nvPr/>
          </p:nvSpPr>
          <p:spPr>
            <a:xfrm>
              <a:off x="654843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12月​</a:t>
              </a:r>
            </a:p>
          </p:txBody>
        </p:sp>
        <p:sp>
          <p:nvSpPr>
            <p:cNvPr id="90" name="TextBox 90"/>
            <p:cNvSpPr txBox="1"/>
            <p:nvPr/>
          </p:nvSpPr>
          <p:spPr>
            <a:xfrm>
              <a:off x="7005638" y="140898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较三季度​</a:t>
              </a:r>
            </a:p>
          </p:txBody>
        </p:sp>
        <p:sp>
          <p:nvSpPr>
            <p:cNvPr id="91" name="TextBox 91"/>
            <p:cNvSpPr txBox="1"/>
            <p:nvPr/>
          </p:nvSpPr>
          <p:spPr>
            <a:xfrm>
              <a:off x="6985254" y="1546860"/>
              <a:ext cx="512575" cy="234696"/>
            </a:xfrm>
            <a:prstGeom prst="rect">
              <a:avLst/>
            </a:prstGeom>
            <a:noFill/>
            <a:ln>
              <a:noFill/>
            </a:ln>
          </p:spPr>
          <p:txBody>
            <a:bodyPr wrap="none" lIns="0" tIns="0" rIns="0" bIns="0" anchor="t" anchorCtr="0">
              <a:spAutoFit/>
            </a:bodyPr>
            <a:lstStyle/>
            <a:p>
              <a:pPr algn="l"/>
              <a:r>
                <a:rPr lang="zh-CN" sz="1200" b="1" dirty="0">
                  <a:solidFill>
                    <a:srgbClr val="5B180B"/>
                  </a:solidFill>
                  <a:latin typeface="+mn-lt"/>
                  <a:ea typeface="+mn-ea"/>
                  <a:cs typeface="+mn-cs"/>
                </a:rPr>
                <a:t>+73%​</a:t>
              </a:r>
            </a:p>
          </p:txBody>
        </p:sp>
        <p:sp>
          <p:nvSpPr>
            <p:cNvPr id="92" name="Freeform 92"/>
            <p:cNvSpPr/>
            <p:nvPr/>
          </p:nvSpPr>
          <p:spPr>
            <a:xfrm>
              <a:off x="7048500" y="1695450"/>
              <a:ext cx="95250" cy="76200"/>
            </a:xfrm>
            <a:prstGeom prst="triangle">
              <a:avLst/>
            </a:prstGeom>
            <a:solidFill>
              <a:srgbClr val="9E402E"/>
            </a:solidFill>
            <a:ln>
              <a:noFill/>
            </a:ln>
          </p:spPr>
        </p:sp>
      </p:grpSp>
      <p:grpSp>
        <p:nvGrpSpPr>
          <p:cNvPr id="115" name="kpi-kh"/>
          <p:cNvGrpSpPr/>
          <p:nvPr/>
        </p:nvGrpSpPr>
        <p:grpSpPr>
          <a:xfrm>
            <a:off x="7924800" y="666750"/>
            <a:ext cx="1847850" cy="1295400"/>
            <a:chOff x="7924800" y="666750"/>
            <a:chExt cx="1847850" cy="1295400"/>
          </a:xfrm>
        </p:grpSpPr>
        <p:sp>
          <p:nvSpPr>
            <p:cNvPr id="94" name="Rectangle 94"/>
            <p:cNvSpPr/>
            <p:nvPr/>
          </p:nvSpPr>
          <p:spPr>
            <a:xfrm>
              <a:off x="7924800" y="666750"/>
              <a:ext cx="1847850" cy="1295400"/>
            </a:xfrm>
            <a:prstGeom prst="roundRect">
              <a:avLst>
                <a:gd name="adj" fmla="val 7353"/>
              </a:avLst>
            </a:prstGeom>
            <a:solidFill>
              <a:srgbClr val="F5FAF8"/>
            </a:solidFill>
            <a:ln w="9525">
              <a:solidFill>
                <a:srgbClr val="D9E8E2"/>
              </a:solidFill>
            </a:ln>
          </p:spPr>
        </p:sp>
        <p:sp>
          <p:nvSpPr>
            <p:cNvPr id="95" name="Ellipse 95"/>
            <p:cNvSpPr/>
            <p:nvPr/>
          </p:nvSpPr>
          <p:spPr>
            <a:xfrm>
              <a:off x="8048625" y="809625"/>
              <a:ext cx="323850" cy="323850"/>
            </a:xfrm>
            <a:prstGeom prst="ellipse">
              <a:avLst/>
            </a:prstGeom>
            <a:solidFill>
              <a:srgbClr val="5B180B"/>
            </a:solidFill>
            <a:ln>
              <a:noFill/>
            </a:ln>
          </p:spPr>
        </p:sp>
        <p:grpSp>
          <p:nvGrpSpPr>
            <p:cNvPr id="100" name="Group 100"/>
            <p:cNvGrpSpPr/>
            <p:nvPr/>
          </p:nvGrpSpPr>
          <p:grpSpPr>
            <a:xfrm>
              <a:off x="8117681" y="878681"/>
              <a:ext cx="185737" cy="185738"/>
              <a:chOff x="8117681" y="878681"/>
              <a:chExt cx="185737" cy="185738"/>
            </a:xfrm>
          </p:grpSpPr>
          <p:sp>
            <p:nvSpPr>
              <p:cNvPr id="96" name="Freeform 96"/>
              <p:cNvSpPr/>
              <p:nvPr/>
            </p:nvSpPr>
            <p:spPr>
              <a:xfrm>
                <a:off x="8138319" y="8786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97" name="Freeform 97"/>
              <p:cNvSpPr/>
              <p:nvPr/>
            </p:nvSpPr>
            <p:spPr>
              <a:xfrm>
                <a:off x="8117681" y="10025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98" name="Freeform 98"/>
              <p:cNvSpPr/>
              <p:nvPr/>
            </p:nvSpPr>
            <p:spPr>
              <a:xfrm>
                <a:off x="8251824" y="8800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99" name="Freeform 99"/>
              <p:cNvSpPr/>
              <p:nvPr/>
            </p:nvSpPr>
            <p:spPr>
              <a:xfrm>
                <a:off x="8272462" y="10040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101" name="TextBox 101"/>
            <p:cNvSpPr txBox="1"/>
            <p:nvPr/>
          </p:nvSpPr>
          <p:spPr>
            <a:xfrm>
              <a:off x="8453247" y="828199"/>
              <a:ext cx="877660" cy="190690"/>
            </a:xfrm>
            <a:prstGeom prst="rect">
              <a:avLst/>
            </a:prstGeom>
            <a:noFill/>
            <a:ln>
              <a:noFill/>
            </a:ln>
          </p:spPr>
          <p:txBody>
            <a:bodyPr wrap="none" lIns="0" tIns="0" rIns="0" bIns="0" anchor="t" anchorCtr="0">
              <a:spAutoFit/>
            </a:bodyPr>
            <a:lstStyle/>
            <a:p>
              <a:pPr algn="l"/>
              <a:r>
                <a:rPr lang="zh-CN" sz="980" b="1" dirty="0">
                  <a:solidFill>
                    <a:srgbClr val="312624"/>
                  </a:solidFill>
                  <a:latin typeface="+mn-lt"/>
                  <a:ea typeface="+mn-ea"/>
                  <a:cs typeface="+mn-cs"/>
                </a:rPr>
                <a:t>新增有效客户​</a:t>
              </a:r>
            </a:p>
          </p:txBody>
        </p:sp>
        <p:sp>
          <p:nvSpPr>
            <p:cNvPr id="102" name="TextBox 102"/>
            <p:cNvSpPr txBox="1"/>
            <p:nvPr/>
          </p:nvSpPr>
          <p:spPr>
            <a:xfrm>
              <a:off x="8448675" y="997744"/>
              <a:ext cx="1039497" cy="366712"/>
            </a:xfrm>
            <a:prstGeom prst="rect">
              <a:avLst/>
            </a:prstGeom>
            <a:noFill/>
            <a:ln>
              <a:noFill/>
            </a:ln>
          </p:spPr>
          <p:txBody>
            <a:bodyPr wrap="none" lIns="0" tIns="0" rIns="0" bIns="0" anchor="t" anchorCtr="0">
              <a:spAutoFit/>
            </a:bodyPr>
            <a:lstStyle/>
            <a:p>
              <a:pPr algn="l"/>
              <a:r>
                <a:rPr lang="zh-CN" sz="1880" b="1" dirty="0">
                  <a:solidFill>
                    <a:srgbClr val="5B180B"/>
                  </a:solidFill>
                  <a:latin typeface="+mn-lt"/>
                  <a:ea typeface="+mn-ea"/>
                  <a:cs typeface="+mn-cs"/>
                </a:rPr>
                <a:t>1,260</a:t>
              </a:r>
              <a:r>
                <a:rPr lang="zh-CN" sz="820" dirty="0">
                  <a:solidFill>
                    <a:srgbClr val="5F6F6A"/>
                  </a:solidFill>
                  <a:latin typeface="+mn-lt"/>
                  <a:ea typeface="+mn-ea"/>
                  <a:cs typeface="+mn-cs"/>
                </a:rPr>
                <a:t xml:space="preserve"> 户</a:t>
              </a:r>
              <a:r>
                <a:rPr lang="zh-CN" sz="1880" b="1" dirty="0">
                  <a:solidFill>
                    <a:srgbClr val="5B180B"/>
                  </a:solidFill>
                  <a:latin typeface="+mn-lt"/>
                  <a:ea typeface="+mn-ea"/>
                  <a:cs typeface="+mn-cs"/>
                </a:rPr>
                <a:t>​</a:t>
              </a:r>
            </a:p>
          </p:txBody>
        </p:sp>
        <p:sp>
          <p:nvSpPr>
            <p:cNvPr id="103" name="Rectangle 103"/>
            <p:cNvSpPr/>
            <p:nvPr/>
          </p:nvSpPr>
          <p:spPr>
            <a:xfrm>
              <a:off x="8077200" y="1657350"/>
              <a:ext cx="123825" cy="152400"/>
            </a:xfrm>
            <a:prstGeom prst="rect">
              <a:avLst/>
            </a:prstGeom>
            <a:solidFill>
              <a:srgbClr val="BFDDD6"/>
            </a:solidFill>
            <a:ln>
              <a:noFill/>
            </a:ln>
          </p:spPr>
        </p:sp>
        <p:sp>
          <p:nvSpPr>
            <p:cNvPr id="104" name="Rectangle 104"/>
            <p:cNvSpPr/>
            <p:nvPr/>
          </p:nvSpPr>
          <p:spPr>
            <a:xfrm>
              <a:off x="8267700" y="1600200"/>
              <a:ext cx="123825" cy="209550"/>
            </a:xfrm>
            <a:prstGeom prst="rect">
              <a:avLst/>
            </a:prstGeom>
            <a:solidFill>
              <a:srgbClr val="B57A6F"/>
            </a:solidFill>
            <a:ln>
              <a:noFill/>
            </a:ln>
          </p:spPr>
        </p:sp>
        <p:sp>
          <p:nvSpPr>
            <p:cNvPr id="105" name="Rectangle 105"/>
            <p:cNvSpPr/>
            <p:nvPr/>
          </p:nvSpPr>
          <p:spPr>
            <a:xfrm>
              <a:off x="8458200" y="1524000"/>
              <a:ext cx="123825" cy="285750"/>
            </a:xfrm>
            <a:prstGeom prst="rect">
              <a:avLst/>
            </a:prstGeom>
            <a:solidFill>
              <a:srgbClr val="5B180B"/>
            </a:solidFill>
            <a:ln>
              <a:noFill/>
            </a:ln>
          </p:spPr>
        </p:sp>
        <p:sp>
          <p:nvSpPr>
            <p:cNvPr id="106" name="TextBox 106"/>
            <p:cNvSpPr txBox="1"/>
            <p:nvPr/>
          </p:nvSpPr>
          <p:spPr>
            <a:xfrm>
              <a:off x="8129588" y="1554480"/>
              <a:ext cx="187223"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320​</a:t>
              </a:r>
            </a:p>
          </p:txBody>
        </p:sp>
        <p:sp>
          <p:nvSpPr>
            <p:cNvPr id="107" name="TextBox 107"/>
            <p:cNvSpPr txBox="1"/>
            <p:nvPr/>
          </p:nvSpPr>
          <p:spPr>
            <a:xfrm>
              <a:off x="8320088" y="1497330"/>
              <a:ext cx="187223"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420​</a:t>
              </a:r>
            </a:p>
          </p:txBody>
        </p:sp>
        <p:sp>
          <p:nvSpPr>
            <p:cNvPr id="108" name="TextBox 108"/>
            <p:cNvSpPr txBox="1"/>
            <p:nvPr/>
          </p:nvSpPr>
          <p:spPr>
            <a:xfrm>
              <a:off x="8510588" y="1421130"/>
              <a:ext cx="196108"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520​</a:t>
              </a:r>
            </a:p>
          </p:txBody>
        </p:sp>
        <p:sp>
          <p:nvSpPr>
            <p:cNvPr id="109" name="TextBox 109"/>
            <p:cNvSpPr txBox="1"/>
            <p:nvPr/>
          </p:nvSpPr>
          <p:spPr>
            <a:xfrm>
              <a:off x="807243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10月​</a:t>
              </a:r>
            </a:p>
          </p:txBody>
        </p:sp>
        <p:sp>
          <p:nvSpPr>
            <p:cNvPr id="110" name="TextBox 110"/>
            <p:cNvSpPr txBox="1"/>
            <p:nvPr/>
          </p:nvSpPr>
          <p:spPr>
            <a:xfrm>
              <a:off x="828198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11月​</a:t>
              </a:r>
            </a:p>
          </p:txBody>
        </p:sp>
        <p:sp>
          <p:nvSpPr>
            <p:cNvPr id="111" name="TextBox 111"/>
            <p:cNvSpPr txBox="1"/>
            <p:nvPr/>
          </p:nvSpPr>
          <p:spPr>
            <a:xfrm>
              <a:off x="847248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12月​</a:t>
              </a:r>
            </a:p>
          </p:txBody>
        </p:sp>
        <p:sp>
          <p:nvSpPr>
            <p:cNvPr id="112" name="TextBox 112"/>
            <p:cNvSpPr txBox="1"/>
            <p:nvPr/>
          </p:nvSpPr>
          <p:spPr>
            <a:xfrm>
              <a:off x="8929688" y="140898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较三季度​</a:t>
              </a:r>
            </a:p>
          </p:txBody>
        </p:sp>
        <p:sp>
          <p:nvSpPr>
            <p:cNvPr id="113" name="TextBox 113"/>
            <p:cNvSpPr txBox="1"/>
            <p:nvPr/>
          </p:nvSpPr>
          <p:spPr>
            <a:xfrm>
              <a:off x="8909304" y="1546860"/>
              <a:ext cx="512575" cy="234696"/>
            </a:xfrm>
            <a:prstGeom prst="rect">
              <a:avLst/>
            </a:prstGeom>
            <a:noFill/>
            <a:ln>
              <a:noFill/>
            </a:ln>
          </p:spPr>
          <p:txBody>
            <a:bodyPr wrap="none" lIns="0" tIns="0" rIns="0" bIns="0" anchor="t" anchorCtr="0">
              <a:spAutoFit/>
            </a:bodyPr>
            <a:lstStyle/>
            <a:p>
              <a:pPr algn="l"/>
              <a:r>
                <a:rPr lang="zh-CN" sz="1200" b="1" dirty="0">
                  <a:solidFill>
                    <a:srgbClr val="5B180B"/>
                  </a:solidFill>
                  <a:latin typeface="+mn-lt"/>
                  <a:ea typeface="+mn-ea"/>
                  <a:cs typeface="+mn-cs"/>
                </a:rPr>
                <a:t>+58%​</a:t>
              </a:r>
            </a:p>
          </p:txBody>
        </p:sp>
        <p:sp>
          <p:nvSpPr>
            <p:cNvPr id="114" name="Freeform 114"/>
            <p:cNvSpPr/>
            <p:nvPr/>
          </p:nvSpPr>
          <p:spPr>
            <a:xfrm>
              <a:off x="8972550" y="1695450"/>
              <a:ext cx="95250" cy="76200"/>
            </a:xfrm>
            <a:prstGeom prst="triangle">
              <a:avLst/>
            </a:prstGeom>
            <a:solidFill>
              <a:srgbClr val="9E402E"/>
            </a:solidFill>
            <a:ln>
              <a:noFill/>
            </a:ln>
          </p:spPr>
        </p:sp>
      </p:grpSp>
      <p:grpSp>
        <p:nvGrpSpPr>
          <p:cNvPr id="136" name="kpi-db"/>
          <p:cNvGrpSpPr/>
          <p:nvPr/>
        </p:nvGrpSpPr>
        <p:grpSpPr>
          <a:xfrm>
            <a:off x="9848850" y="666750"/>
            <a:ext cx="1847850" cy="1295400"/>
            <a:chOff x="9848850" y="666750"/>
            <a:chExt cx="1847850" cy="1295400"/>
          </a:xfrm>
        </p:grpSpPr>
        <p:sp>
          <p:nvSpPr>
            <p:cNvPr id="116" name="Rectangle 116"/>
            <p:cNvSpPr/>
            <p:nvPr/>
          </p:nvSpPr>
          <p:spPr>
            <a:xfrm>
              <a:off x="9848850" y="666750"/>
              <a:ext cx="1847850" cy="1295400"/>
            </a:xfrm>
            <a:prstGeom prst="roundRect">
              <a:avLst>
                <a:gd name="adj" fmla="val 7353"/>
              </a:avLst>
            </a:prstGeom>
            <a:solidFill>
              <a:srgbClr val="F5FAF8"/>
            </a:solidFill>
            <a:ln w="9525">
              <a:solidFill>
                <a:srgbClr val="D9E8E2"/>
              </a:solidFill>
            </a:ln>
          </p:spPr>
        </p:sp>
        <p:sp>
          <p:nvSpPr>
            <p:cNvPr id="117" name="Ellipse 117"/>
            <p:cNvSpPr/>
            <p:nvPr/>
          </p:nvSpPr>
          <p:spPr>
            <a:xfrm>
              <a:off x="9972675" y="809625"/>
              <a:ext cx="323850" cy="323850"/>
            </a:xfrm>
            <a:prstGeom prst="ellipse">
              <a:avLst/>
            </a:prstGeom>
            <a:solidFill>
              <a:srgbClr val="5B180B"/>
            </a:solidFill>
            <a:ln>
              <a:noFill/>
            </a:ln>
          </p:spPr>
        </p:sp>
        <p:grpSp>
          <p:nvGrpSpPr>
            <p:cNvPr id="121" name="Group 121"/>
            <p:cNvGrpSpPr/>
            <p:nvPr/>
          </p:nvGrpSpPr>
          <p:grpSpPr>
            <a:xfrm>
              <a:off x="10041731" y="878681"/>
              <a:ext cx="185737" cy="185737"/>
              <a:chOff x="10041731" y="878681"/>
              <a:chExt cx="185737" cy="185737"/>
            </a:xfrm>
          </p:grpSpPr>
          <p:sp>
            <p:nvSpPr>
              <p:cNvPr id="118" name="Freeform 118"/>
              <p:cNvSpPr/>
              <p:nvPr/>
            </p:nvSpPr>
            <p:spPr>
              <a:xfrm>
                <a:off x="10124281" y="961231"/>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FFFFFF"/>
                </a:solidFill>
              </a:ln>
            </p:spPr>
          </p:sp>
          <p:sp>
            <p:nvSpPr>
              <p:cNvPr id="119" name="Freeform 119"/>
              <p:cNvSpPr/>
              <p:nvPr/>
            </p:nvSpPr>
            <p:spPr>
              <a:xfrm>
                <a:off x="10083006" y="919956"/>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FFFFFF"/>
                </a:solidFill>
              </a:ln>
            </p:spPr>
          </p:sp>
          <p:sp>
            <p:nvSpPr>
              <p:cNvPr id="120" name="Freeform 120"/>
              <p:cNvSpPr/>
              <p:nvPr/>
            </p:nvSpPr>
            <p:spPr>
              <a:xfrm>
                <a:off x="10041731" y="8786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grpSp>
        <p:sp>
          <p:nvSpPr>
            <p:cNvPr id="122" name="TextBox 122"/>
            <p:cNvSpPr txBox="1"/>
            <p:nvPr/>
          </p:nvSpPr>
          <p:spPr>
            <a:xfrm>
              <a:off x="10377297" y="828199"/>
              <a:ext cx="1009587" cy="190690"/>
            </a:xfrm>
            <a:prstGeom prst="rect">
              <a:avLst/>
            </a:prstGeom>
            <a:noFill/>
            <a:ln>
              <a:noFill/>
            </a:ln>
          </p:spPr>
          <p:txBody>
            <a:bodyPr wrap="none" lIns="0" tIns="0" rIns="0" bIns="0" anchor="t" anchorCtr="0">
              <a:spAutoFit/>
            </a:bodyPr>
            <a:lstStyle/>
            <a:p>
              <a:pPr algn="l"/>
              <a:r>
                <a:rPr lang="zh-CN" sz="980" b="1" dirty="0">
                  <a:solidFill>
                    <a:srgbClr val="312624"/>
                  </a:solidFill>
                  <a:latin typeface="+mn-lt"/>
                  <a:ea typeface="+mn-ea"/>
                  <a:cs typeface="+mn-cs"/>
                </a:rPr>
                <a:t>重点产品达标率​</a:t>
              </a:r>
            </a:p>
          </p:txBody>
        </p:sp>
        <p:sp>
          <p:nvSpPr>
            <p:cNvPr id="123" name="TextBox 123"/>
            <p:cNvSpPr txBox="1"/>
            <p:nvPr/>
          </p:nvSpPr>
          <p:spPr>
            <a:xfrm>
              <a:off x="10372725" y="997744"/>
              <a:ext cx="802983" cy="366712"/>
            </a:xfrm>
            <a:prstGeom prst="rect">
              <a:avLst/>
            </a:prstGeom>
            <a:noFill/>
            <a:ln>
              <a:noFill/>
            </a:ln>
          </p:spPr>
          <p:txBody>
            <a:bodyPr wrap="none" lIns="0" tIns="0" rIns="0" bIns="0" anchor="t" anchorCtr="0">
              <a:spAutoFit/>
            </a:bodyPr>
            <a:lstStyle/>
            <a:p>
              <a:pPr algn="l"/>
              <a:r>
                <a:rPr lang="zh-CN" sz="1880" b="1" dirty="0">
                  <a:solidFill>
                    <a:srgbClr val="5B180B"/>
                  </a:solidFill>
                  <a:latin typeface="+mn-lt"/>
                  <a:ea typeface="+mn-ea"/>
                  <a:cs typeface="+mn-cs"/>
                </a:rPr>
                <a:t>≥95%​</a:t>
              </a:r>
            </a:p>
          </p:txBody>
        </p:sp>
        <p:sp>
          <p:nvSpPr>
            <p:cNvPr id="124" name="Rectangle 124"/>
            <p:cNvSpPr/>
            <p:nvPr/>
          </p:nvSpPr>
          <p:spPr>
            <a:xfrm>
              <a:off x="10001250" y="1619250"/>
              <a:ext cx="123825" cy="190500"/>
            </a:xfrm>
            <a:prstGeom prst="rect">
              <a:avLst/>
            </a:prstGeom>
            <a:solidFill>
              <a:srgbClr val="BFDDD6"/>
            </a:solidFill>
            <a:ln>
              <a:noFill/>
            </a:ln>
          </p:spPr>
        </p:sp>
        <p:sp>
          <p:nvSpPr>
            <p:cNvPr id="125" name="Rectangle 125"/>
            <p:cNvSpPr/>
            <p:nvPr/>
          </p:nvSpPr>
          <p:spPr>
            <a:xfrm>
              <a:off x="10191750" y="1581150"/>
              <a:ext cx="123825" cy="228600"/>
            </a:xfrm>
            <a:prstGeom prst="rect">
              <a:avLst/>
            </a:prstGeom>
            <a:solidFill>
              <a:srgbClr val="B57A6F"/>
            </a:solidFill>
            <a:ln>
              <a:noFill/>
            </a:ln>
          </p:spPr>
        </p:sp>
        <p:sp>
          <p:nvSpPr>
            <p:cNvPr id="126" name="Rectangle 126"/>
            <p:cNvSpPr/>
            <p:nvPr/>
          </p:nvSpPr>
          <p:spPr>
            <a:xfrm>
              <a:off x="10382250" y="1524000"/>
              <a:ext cx="123825" cy="285750"/>
            </a:xfrm>
            <a:prstGeom prst="rect">
              <a:avLst/>
            </a:prstGeom>
            <a:solidFill>
              <a:srgbClr val="5B180B"/>
            </a:solidFill>
            <a:ln>
              <a:noFill/>
            </a:ln>
          </p:spPr>
        </p:sp>
        <p:sp>
          <p:nvSpPr>
            <p:cNvPr id="127" name="TextBox 127"/>
            <p:cNvSpPr txBox="1"/>
            <p:nvPr/>
          </p:nvSpPr>
          <p:spPr>
            <a:xfrm>
              <a:off x="10053638" y="1516380"/>
              <a:ext cx="203378"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92%​</a:t>
              </a:r>
            </a:p>
          </p:txBody>
        </p:sp>
        <p:sp>
          <p:nvSpPr>
            <p:cNvPr id="128" name="TextBox 128"/>
            <p:cNvSpPr txBox="1"/>
            <p:nvPr/>
          </p:nvSpPr>
          <p:spPr>
            <a:xfrm>
              <a:off x="10244138" y="1478280"/>
              <a:ext cx="203378"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94%​</a:t>
              </a:r>
            </a:p>
          </p:txBody>
        </p:sp>
        <p:sp>
          <p:nvSpPr>
            <p:cNvPr id="129" name="TextBox 129"/>
            <p:cNvSpPr txBox="1"/>
            <p:nvPr/>
          </p:nvSpPr>
          <p:spPr>
            <a:xfrm>
              <a:off x="10434638" y="1421130"/>
              <a:ext cx="213070"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96%​</a:t>
              </a:r>
            </a:p>
          </p:txBody>
        </p:sp>
        <p:sp>
          <p:nvSpPr>
            <p:cNvPr id="130" name="TextBox 130"/>
            <p:cNvSpPr txBox="1"/>
            <p:nvPr/>
          </p:nvSpPr>
          <p:spPr>
            <a:xfrm>
              <a:off x="999648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10月​</a:t>
              </a:r>
            </a:p>
          </p:txBody>
        </p:sp>
        <p:sp>
          <p:nvSpPr>
            <p:cNvPr id="131" name="TextBox 131"/>
            <p:cNvSpPr txBox="1"/>
            <p:nvPr/>
          </p:nvSpPr>
          <p:spPr>
            <a:xfrm>
              <a:off x="1020603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11月​</a:t>
              </a:r>
            </a:p>
          </p:txBody>
        </p:sp>
        <p:sp>
          <p:nvSpPr>
            <p:cNvPr id="132" name="TextBox 132"/>
            <p:cNvSpPr txBox="1"/>
            <p:nvPr/>
          </p:nvSpPr>
          <p:spPr>
            <a:xfrm>
              <a:off x="10396538" y="1840230"/>
              <a:ext cx="223571"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12月​</a:t>
              </a:r>
            </a:p>
          </p:txBody>
        </p:sp>
        <p:sp>
          <p:nvSpPr>
            <p:cNvPr id="133" name="TextBox 133"/>
            <p:cNvSpPr txBox="1"/>
            <p:nvPr/>
          </p:nvSpPr>
          <p:spPr>
            <a:xfrm>
              <a:off x="10853738" y="140898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较三季度​</a:t>
              </a:r>
            </a:p>
          </p:txBody>
        </p:sp>
        <p:sp>
          <p:nvSpPr>
            <p:cNvPr id="134" name="TextBox 134"/>
            <p:cNvSpPr txBox="1"/>
            <p:nvPr/>
          </p:nvSpPr>
          <p:spPr>
            <a:xfrm>
              <a:off x="10833354" y="1546860"/>
              <a:ext cx="571942" cy="234696"/>
            </a:xfrm>
            <a:prstGeom prst="rect">
              <a:avLst/>
            </a:prstGeom>
            <a:noFill/>
            <a:ln>
              <a:noFill/>
            </a:ln>
          </p:spPr>
          <p:txBody>
            <a:bodyPr wrap="none" lIns="0" tIns="0" rIns="0" bIns="0" anchor="t" anchorCtr="0">
              <a:spAutoFit/>
            </a:bodyPr>
            <a:lstStyle/>
            <a:p>
              <a:pPr algn="l"/>
              <a:r>
                <a:rPr lang="en-US" sz="1200" b="1" dirty="0">
                  <a:solidFill>
                    <a:srgbClr val="5B180B"/>
                  </a:solidFill>
                  <a:latin typeface="+mn-lt"/>
                  <a:ea typeface="+mn-ea"/>
                  <a:cs typeface="+mn-cs"/>
                </a:rPr>
                <a:t>+4pct​</a:t>
              </a:r>
            </a:p>
          </p:txBody>
        </p:sp>
        <p:sp>
          <p:nvSpPr>
            <p:cNvPr id="135" name="Freeform 135"/>
            <p:cNvSpPr/>
            <p:nvPr/>
          </p:nvSpPr>
          <p:spPr>
            <a:xfrm>
              <a:off x="10972800" y="1695450"/>
              <a:ext cx="95250" cy="76200"/>
            </a:xfrm>
            <a:prstGeom prst="triangle">
              <a:avLst/>
            </a:prstGeom>
            <a:solidFill>
              <a:srgbClr val="9E402E"/>
            </a:solidFill>
            <a:ln>
              <a:noFill/>
            </a:ln>
          </p:spPr>
        </p:sp>
      </p:grpSp>
      <p:grpSp>
        <p:nvGrpSpPr>
          <p:cNvPr id="189" name="logic-chain"/>
          <p:cNvGrpSpPr/>
          <p:nvPr/>
        </p:nvGrpSpPr>
        <p:grpSpPr>
          <a:xfrm>
            <a:off x="228600" y="2114550"/>
            <a:ext cx="11734800" cy="520780"/>
            <a:chOff x="228600" y="2114550"/>
            <a:chExt cx="11734800" cy="520780"/>
          </a:xfrm>
        </p:grpSpPr>
        <p:sp>
          <p:nvSpPr>
            <p:cNvPr id="137" name="Freeform 137"/>
            <p:cNvSpPr/>
            <p:nvPr/>
          </p:nvSpPr>
          <p:spPr>
            <a:xfrm>
              <a:off x="228600" y="2114550"/>
              <a:ext cx="1428750" cy="495300"/>
            </a:xfrm>
            <a:prstGeom prst="homePlate">
              <a:avLst>
                <a:gd name="adj" fmla="val 30000"/>
              </a:avLst>
            </a:prstGeom>
            <a:solidFill>
              <a:srgbClr val="5B180B"/>
            </a:solidFill>
            <a:ln>
              <a:noFill/>
            </a:ln>
          </p:spPr>
        </p:sp>
        <p:sp>
          <p:nvSpPr>
            <p:cNvPr id="138" name="TextBox 138"/>
            <p:cNvSpPr txBox="1"/>
            <p:nvPr/>
          </p:nvSpPr>
          <p:spPr>
            <a:xfrm>
              <a:off x="394335" y="2297906"/>
              <a:ext cx="115392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四季度制胜逻辑​</a:t>
              </a:r>
            </a:p>
          </p:txBody>
        </p:sp>
        <p:sp>
          <p:nvSpPr>
            <p:cNvPr id="139" name="Rectangle 139"/>
            <p:cNvSpPr/>
            <p:nvPr/>
          </p:nvSpPr>
          <p:spPr>
            <a:xfrm>
              <a:off x="1752600" y="2114550"/>
              <a:ext cx="1257300" cy="495300"/>
            </a:xfrm>
            <a:prstGeom prst="roundRect">
              <a:avLst>
                <a:gd name="adj" fmla="val 15385"/>
              </a:avLst>
            </a:prstGeom>
            <a:solidFill>
              <a:srgbClr val="E9F4F0"/>
            </a:solidFill>
            <a:ln>
              <a:noFill/>
            </a:ln>
          </p:spPr>
        </p:sp>
        <p:grpSp>
          <p:nvGrpSpPr>
            <p:cNvPr id="143" name="Group 143"/>
            <p:cNvGrpSpPr/>
            <p:nvPr/>
          </p:nvGrpSpPr>
          <p:grpSpPr>
            <a:xfrm>
              <a:off x="1876425" y="2257425"/>
              <a:ext cx="171450" cy="171450"/>
              <a:chOff x="1876425" y="2257425"/>
              <a:chExt cx="171450" cy="171450"/>
            </a:xfrm>
          </p:grpSpPr>
          <p:sp>
            <p:nvSpPr>
              <p:cNvPr id="140" name="Freeform 140"/>
              <p:cNvSpPr/>
              <p:nvPr/>
            </p:nvSpPr>
            <p:spPr>
              <a:xfrm>
                <a:off x="1952625" y="23336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5B180B"/>
                </a:solidFill>
              </a:ln>
            </p:spPr>
          </p:sp>
          <p:sp>
            <p:nvSpPr>
              <p:cNvPr id="141" name="Freeform 141"/>
              <p:cNvSpPr/>
              <p:nvPr/>
            </p:nvSpPr>
            <p:spPr>
              <a:xfrm>
                <a:off x="1914525" y="22955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5B180B"/>
                </a:solidFill>
              </a:ln>
            </p:spPr>
          </p:sp>
          <p:sp>
            <p:nvSpPr>
              <p:cNvPr id="142" name="Freeform 142"/>
              <p:cNvSpPr/>
              <p:nvPr/>
            </p:nvSpPr>
            <p:spPr>
              <a:xfrm>
                <a:off x="1876425" y="22574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180B"/>
                </a:solidFill>
              </a:ln>
            </p:spPr>
          </p:sp>
        </p:grpSp>
        <p:sp>
          <p:nvSpPr>
            <p:cNvPr id="144" name="TextBox 144"/>
            <p:cNvSpPr txBox="1"/>
            <p:nvPr/>
          </p:nvSpPr>
          <p:spPr>
            <a:xfrm>
              <a:off x="2128838" y="2203847"/>
              <a:ext cx="588775"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目标缺口​</a:t>
              </a:r>
            </a:p>
          </p:txBody>
        </p:sp>
        <p:sp>
          <p:nvSpPr>
            <p:cNvPr id="145" name="TextBox 145"/>
            <p:cNvSpPr txBox="1"/>
            <p:nvPr/>
          </p:nvSpPr>
          <p:spPr>
            <a:xfrm>
              <a:off x="2128838" y="23805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找准差距​</a:t>
              </a:r>
            </a:p>
          </p:txBody>
        </p:sp>
        <p:sp>
          <p:nvSpPr>
            <p:cNvPr id="146" name="TextBox 146"/>
            <p:cNvSpPr txBox="1"/>
            <p:nvPr/>
          </p:nvSpPr>
          <p:spPr>
            <a:xfrm>
              <a:off x="2128838" y="24948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明确方向​</a:t>
              </a:r>
            </a:p>
          </p:txBody>
        </p:sp>
        <p:sp>
          <p:nvSpPr>
            <p:cNvPr id="147" name="Freeform 147"/>
            <p:cNvSpPr/>
            <p:nvPr/>
          </p:nvSpPr>
          <p:spPr>
            <a:xfrm>
              <a:off x="3086100" y="2286000"/>
              <a:ext cx="152400" cy="152400"/>
            </a:xfrm>
            <a:prstGeom prst="mathMultiply">
              <a:avLst/>
            </a:prstGeom>
            <a:solidFill>
              <a:srgbClr val="5B180B"/>
            </a:solidFill>
            <a:ln>
              <a:noFill/>
            </a:ln>
          </p:spPr>
        </p:sp>
        <p:sp>
          <p:nvSpPr>
            <p:cNvPr id="148" name="Rectangle 148"/>
            <p:cNvSpPr/>
            <p:nvPr/>
          </p:nvSpPr>
          <p:spPr>
            <a:xfrm>
              <a:off x="3257550" y="2114550"/>
              <a:ext cx="1257300" cy="495300"/>
            </a:xfrm>
            <a:prstGeom prst="roundRect">
              <a:avLst>
                <a:gd name="adj" fmla="val 15385"/>
              </a:avLst>
            </a:prstGeom>
            <a:solidFill>
              <a:srgbClr val="E9F4F0"/>
            </a:solidFill>
            <a:ln>
              <a:noFill/>
            </a:ln>
          </p:spPr>
        </p:sp>
        <p:grpSp>
          <p:nvGrpSpPr>
            <p:cNvPr id="155" name="Group 155"/>
            <p:cNvGrpSpPr/>
            <p:nvPr/>
          </p:nvGrpSpPr>
          <p:grpSpPr>
            <a:xfrm>
              <a:off x="3381375" y="2257425"/>
              <a:ext cx="171450" cy="171450"/>
              <a:chOff x="3381375" y="2257425"/>
              <a:chExt cx="171450" cy="171450"/>
            </a:xfrm>
          </p:grpSpPr>
          <p:sp>
            <p:nvSpPr>
              <p:cNvPr id="149" name="Freeform 149"/>
              <p:cNvSpPr/>
              <p:nvPr/>
            </p:nvSpPr>
            <p:spPr>
              <a:xfrm>
                <a:off x="3448050" y="2333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5B180B"/>
                </a:solidFill>
              </a:ln>
            </p:spPr>
          </p:sp>
          <p:sp>
            <p:nvSpPr>
              <p:cNvPr id="150" name="Freeform 150"/>
              <p:cNvSpPr/>
              <p:nvPr/>
            </p:nvSpPr>
            <p:spPr>
              <a:xfrm>
                <a:off x="3429000" y="240030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5B180B"/>
                </a:solidFill>
              </a:ln>
            </p:spPr>
          </p:sp>
          <p:sp>
            <p:nvSpPr>
              <p:cNvPr id="151" name="Freeform 151"/>
              <p:cNvSpPr/>
              <p:nvPr/>
            </p:nvSpPr>
            <p:spPr>
              <a:xfrm>
                <a:off x="3495675" y="22574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5B180B"/>
                </a:solidFill>
              </a:ln>
            </p:spPr>
          </p:sp>
          <p:sp>
            <p:nvSpPr>
              <p:cNvPr id="152" name="Freeform 152"/>
              <p:cNvSpPr/>
              <p:nvPr/>
            </p:nvSpPr>
            <p:spPr>
              <a:xfrm>
                <a:off x="3514725" y="232410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5B180B"/>
                </a:solidFill>
              </a:ln>
            </p:spPr>
          </p:sp>
          <p:sp>
            <p:nvSpPr>
              <p:cNvPr id="153" name="Freeform 153"/>
              <p:cNvSpPr/>
              <p:nvPr/>
            </p:nvSpPr>
            <p:spPr>
              <a:xfrm>
                <a:off x="3400425" y="22574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5B180B"/>
                </a:solidFill>
              </a:ln>
            </p:spPr>
          </p:sp>
          <p:sp>
            <p:nvSpPr>
              <p:cNvPr id="154" name="Freeform 154"/>
              <p:cNvSpPr/>
              <p:nvPr/>
            </p:nvSpPr>
            <p:spPr>
              <a:xfrm>
                <a:off x="3381375" y="232410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5B180B"/>
                </a:solidFill>
              </a:ln>
            </p:spPr>
          </p:sp>
        </p:grpSp>
        <p:sp>
          <p:nvSpPr>
            <p:cNvPr id="156" name="TextBox 156"/>
            <p:cNvSpPr txBox="1"/>
            <p:nvPr/>
          </p:nvSpPr>
          <p:spPr>
            <a:xfrm>
              <a:off x="3633788" y="2203847"/>
              <a:ext cx="588775"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客群潜力​</a:t>
              </a:r>
            </a:p>
          </p:txBody>
        </p:sp>
        <p:sp>
          <p:nvSpPr>
            <p:cNvPr id="157" name="TextBox 157"/>
            <p:cNvSpPr txBox="1"/>
            <p:nvPr/>
          </p:nvSpPr>
          <p:spPr>
            <a:xfrm>
              <a:off x="3633788" y="23805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分层经营​</a:t>
              </a:r>
            </a:p>
          </p:txBody>
        </p:sp>
        <p:sp>
          <p:nvSpPr>
            <p:cNvPr id="158" name="TextBox 158"/>
            <p:cNvSpPr txBox="1"/>
            <p:nvPr/>
          </p:nvSpPr>
          <p:spPr>
            <a:xfrm>
              <a:off x="3633788" y="24948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精准挖掘​</a:t>
              </a:r>
            </a:p>
          </p:txBody>
        </p:sp>
        <p:sp>
          <p:nvSpPr>
            <p:cNvPr id="159" name="Freeform 159"/>
            <p:cNvSpPr/>
            <p:nvPr/>
          </p:nvSpPr>
          <p:spPr>
            <a:xfrm>
              <a:off x="4591050" y="2286000"/>
              <a:ext cx="152400" cy="152400"/>
            </a:xfrm>
            <a:prstGeom prst="mathMultiply">
              <a:avLst/>
            </a:prstGeom>
            <a:solidFill>
              <a:srgbClr val="5B180B"/>
            </a:solidFill>
            <a:ln>
              <a:noFill/>
            </a:ln>
          </p:spPr>
        </p:sp>
        <p:sp>
          <p:nvSpPr>
            <p:cNvPr id="160" name="Rectangle 160"/>
            <p:cNvSpPr/>
            <p:nvPr/>
          </p:nvSpPr>
          <p:spPr>
            <a:xfrm>
              <a:off x="4762500" y="2114550"/>
              <a:ext cx="1257300" cy="495300"/>
            </a:xfrm>
            <a:prstGeom prst="roundRect">
              <a:avLst>
                <a:gd name="adj" fmla="val 15385"/>
              </a:avLst>
            </a:prstGeom>
            <a:solidFill>
              <a:srgbClr val="E9F4F0"/>
            </a:solidFill>
            <a:ln>
              <a:noFill/>
            </a:ln>
          </p:spPr>
        </p:sp>
        <p:grpSp>
          <p:nvGrpSpPr>
            <p:cNvPr id="164" name="Group 164"/>
            <p:cNvGrpSpPr/>
            <p:nvPr/>
          </p:nvGrpSpPr>
          <p:grpSpPr>
            <a:xfrm>
              <a:off x="4895850" y="2257425"/>
              <a:ext cx="152400" cy="171450"/>
              <a:chOff x="4895850" y="2257425"/>
              <a:chExt cx="152400" cy="171450"/>
            </a:xfrm>
          </p:grpSpPr>
          <p:sp>
            <p:nvSpPr>
              <p:cNvPr id="161" name="Freeform 161"/>
              <p:cNvSpPr/>
              <p:nvPr/>
            </p:nvSpPr>
            <p:spPr>
              <a:xfrm>
                <a:off x="4895850" y="225742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5B180B"/>
                </a:solidFill>
              </a:ln>
            </p:spPr>
          </p:sp>
          <p:sp>
            <p:nvSpPr>
              <p:cNvPr id="162" name="Freeform 162"/>
              <p:cNvSpPr/>
              <p:nvPr/>
            </p:nvSpPr>
            <p:spPr>
              <a:xfrm>
                <a:off x="4895850" y="22860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5B180B"/>
                </a:solidFill>
              </a:ln>
            </p:spPr>
          </p:sp>
          <p:sp>
            <p:nvSpPr>
              <p:cNvPr id="163" name="Freeform 163"/>
              <p:cNvSpPr/>
              <p:nvPr/>
            </p:nvSpPr>
            <p:spPr>
              <a:xfrm>
                <a:off x="4895850" y="23431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5B180B"/>
                </a:solidFill>
              </a:ln>
            </p:spPr>
          </p:sp>
        </p:grpSp>
        <p:sp>
          <p:nvSpPr>
            <p:cNvPr id="165" name="TextBox 165"/>
            <p:cNvSpPr txBox="1"/>
            <p:nvPr/>
          </p:nvSpPr>
          <p:spPr>
            <a:xfrm>
              <a:off x="5138738" y="2203847"/>
              <a:ext cx="588775"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产品组合​</a:t>
              </a:r>
            </a:p>
          </p:txBody>
        </p:sp>
        <p:sp>
          <p:nvSpPr>
            <p:cNvPr id="166" name="TextBox 166"/>
            <p:cNvSpPr txBox="1"/>
            <p:nvPr/>
          </p:nvSpPr>
          <p:spPr>
            <a:xfrm>
              <a:off x="5138738" y="23805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多元配置​</a:t>
              </a:r>
            </a:p>
          </p:txBody>
        </p:sp>
        <p:sp>
          <p:nvSpPr>
            <p:cNvPr id="167" name="TextBox 167"/>
            <p:cNvSpPr txBox="1"/>
            <p:nvPr/>
          </p:nvSpPr>
          <p:spPr>
            <a:xfrm>
              <a:off x="5138738" y="24948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交叉销售​</a:t>
              </a:r>
            </a:p>
          </p:txBody>
        </p:sp>
        <p:sp>
          <p:nvSpPr>
            <p:cNvPr id="168" name="Freeform 168"/>
            <p:cNvSpPr/>
            <p:nvPr/>
          </p:nvSpPr>
          <p:spPr>
            <a:xfrm>
              <a:off x="6096000" y="2286000"/>
              <a:ext cx="152400" cy="152400"/>
            </a:xfrm>
            <a:prstGeom prst="mathMultiply">
              <a:avLst/>
            </a:prstGeom>
            <a:solidFill>
              <a:srgbClr val="5B180B"/>
            </a:solidFill>
            <a:ln>
              <a:noFill/>
            </a:ln>
          </p:spPr>
        </p:sp>
        <p:sp>
          <p:nvSpPr>
            <p:cNvPr id="169" name="Rectangle 169"/>
            <p:cNvSpPr/>
            <p:nvPr/>
          </p:nvSpPr>
          <p:spPr>
            <a:xfrm>
              <a:off x="6267450" y="2114550"/>
              <a:ext cx="1257300" cy="495300"/>
            </a:xfrm>
            <a:prstGeom prst="roundRect">
              <a:avLst>
                <a:gd name="adj" fmla="val 15385"/>
              </a:avLst>
            </a:prstGeom>
            <a:solidFill>
              <a:srgbClr val="E9F4F0"/>
            </a:solidFill>
            <a:ln>
              <a:noFill/>
            </a:ln>
          </p:spPr>
        </p:sp>
        <p:grpSp>
          <p:nvGrpSpPr>
            <p:cNvPr id="173" name="Group 173"/>
            <p:cNvGrpSpPr/>
            <p:nvPr/>
          </p:nvGrpSpPr>
          <p:grpSpPr>
            <a:xfrm>
              <a:off x="6410325" y="2257425"/>
              <a:ext cx="133350" cy="171450"/>
              <a:chOff x="6410325" y="2257425"/>
              <a:chExt cx="133350" cy="171450"/>
            </a:xfrm>
          </p:grpSpPr>
          <p:sp>
            <p:nvSpPr>
              <p:cNvPr id="170" name="Freeform 170"/>
              <p:cNvSpPr/>
              <p:nvPr/>
            </p:nvSpPr>
            <p:spPr>
              <a:xfrm>
                <a:off x="6410325" y="231457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5B180B"/>
                </a:solidFill>
              </a:ln>
            </p:spPr>
          </p:sp>
          <p:sp>
            <p:nvSpPr>
              <p:cNvPr id="171" name="Freeform 171"/>
              <p:cNvSpPr/>
              <p:nvPr/>
            </p:nvSpPr>
            <p:spPr>
              <a:xfrm>
                <a:off x="6477000" y="2257425"/>
                <a:ext cx="9525" cy="104775"/>
              </a:xfrm>
              <a:custGeom>
                <a:avLst/>
                <a:gdLst/>
                <a:ahLst/>
                <a:cxnLst/>
                <a:rect l="l" t="t" r="r" b="b"/>
                <a:pathLst>
                  <a:path w="9525" h="104775">
                    <a:moveTo>
                      <a:pt x="0" y="104775"/>
                    </a:moveTo>
                    <a:lnTo>
                      <a:pt x="0" y="0"/>
                    </a:lnTo>
                  </a:path>
                </a:pathLst>
              </a:custGeom>
              <a:noFill/>
              <a:ln w="19050">
                <a:solidFill>
                  <a:srgbClr val="5B180B"/>
                </a:solidFill>
              </a:ln>
            </p:spPr>
          </p:sp>
          <p:sp>
            <p:nvSpPr>
              <p:cNvPr id="172" name="Freeform 172"/>
              <p:cNvSpPr/>
              <p:nvPr/>
            </p:nvSpPr>
            <p:spPr>
              <a:xfrm>
                <a:off x="6448425" y="2257425"/>
                <a:ext cx="57150" cy="28575"/>
              </a:xfrm>
              <a:custGeom>
                <a:avLst/>
                <a:gdLst/>
                <a:ahLst/>
                <a:cxnLst/>
                <a:rect l="l" t="t" r="r" b="b"/>
                <a:pathLst>
                  <a:path w="57150" h="28575">
                    <a:moveTo>
                      <a:pt x="0" y="28575"/>
                    </a:moveTo>
                    <a:lnTo>
                      <a:pt x="28575" y="0"/>
                    </a:lnTo>
                    <a:lnTo>
                      <a:pt x="57150" y="28575"/>
                    </a:lnTo>
                  </a:path>
                </a:pathLst>
              </a:custGeom>
              <a:noFill/>
              <a:ln w="19050">
                <a:solidFill>
                  <a:srgbClr val="5B180B"/>
                </a:solidFill>
              </a:ln>
            </p:spPr>
          </p:sp>
        </p:grpSp>
        <p:sp>
          <p:nvSpPr>
            <p:cNvPr id="174" name="TextBox 174"/>
            <p:cNvSpPr txBox="1"/>
            <p:nvPr/>
          </p:nvSpPr>
          <p:spPr>
            <a:xfrm>
              <a:off x="6643688" y="2203847"/>
              <a:ext cx="588775"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触达效率​</a:t>
              </a:r>
            </a:p>
          </p:txBody>
        </p:sp>
        <p:sp>
          <p:nvSpPr>
            <p:cNvPr id="175" name="TextBox 175"/>
            <p:cNvSpPr txBox="1"/>
            <p:nvPr/>
          </p:nvSpPr>
          <p:spPr>
            <a:xfrm>
              <a:off x="6643688" y="23805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线上线下​</a:t>
              </a:r>
            </a:p>
          </p:txBody>
        </p:sp>
        <p:sp>
          <p:nvSpPr>
            <p:cNvPr id="176" name="TextBox 176"/>
            <p:cNvSpPr txBox="1"/>
            <p:nvPr/>
          </p:nvSpPr>
          <p:spPr>
            <a:xfrm>
              <a:off x="6643688" y="24948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协同触达​</a:t>
              </a:r>
            </a:p>
          </p:txBody>
        </p:sp>
        <p:sp>
          <p:nvSpPr>
            <p:cNvPr id="177" name="Freeform 177"/>
            <p:cNvSpPr/>
            <p:nvPr/>
          </p:nvSpPr>
          <p:spPr>
            <a:xfrm>
              <a:off x="7600950" y="2286000"/>
              <a:ext cx="152400" cy="152400"/>
            </a:xfrm>
            <a:prstGeom prst="mathMultiply">
              <a:avLst/>
            </a:prstGeom>
            <a:solidFill>
              <a:srgbClr val="5B180B"/>
            </a:solidFill>
            <a:ln>
              <a:noFill/>
            </a:ln>
          </p:spPr>
        </p:sp>
        <p:sp>
          <p:nvSpPr>
            <p:cNvPr id="178" name="Rectangle 178"/>
            <p:cNvSpPr/>
            <p:nvPr/>
          </p:nvSpPr>
          <p:spPr>
            <a:xfrm>
              <a:off x="7772400" y="2114550"/>
              <a:ext cx="1257300" cy="495300"/>
            </a:xfrm>
            <a:prstGeom prst="roundRect">
              <a:avLst>
                <a:gd name="adj" fmla="val 15385"/>
              </a:avLst>
            </a:prstGeom>
            <a:solidFill>
              <a:srgbClr val="E9F4F0"/>
            </a:solidFill>
            <a:ln>
              <a:noFill/>
            </a:ln>
          </p:spPr>
        </p:sp>
        <p:grpSp>
          <p:nvGrpSpPr>
            <p:cNvPr id="181" name="Group 181"/>
            <p:cNvGrpSpPr/>
            <p:nvPr/>
          </p:nvGrpSpPr>
          <p:grpSpPr>
            <a:xfrm>
              <a:off x="7905750" y="2286000"/>
              <a:ext cx="152400" cy="133350"/>
              <a:chOff x="7905750" y="2286000"/>
              <a:chExt cx="152400" cy="133350"/>
            </a:xfrm>
          </p:grpSpPr>
          <p:sp>
            <p:nvSpPr>
              <p:cNvPr id="179" name="Freeform 179"/>
              <p:cNvSpPr/>
              <p:nvPr/>
            </p:nvSpPr>
            <p:spPr>
              <a:xfrm>
                <a:off x="7905750" y="2409825"/>
                <a:ext cx="152400" cy="9525"/>
              </a:xfrm>
              <a:custGeom>
                <a:avLst/>
                <a:gdLst/>
                <a:ahLst/>
                <a:cxnLst/>
                <a:rect l="l" t="t" r="r" b="b"/>
                <a:pathLst>
                  <a:path w="152400" h="9525">
                    <a:moveTo>
                      <a:pt x="0" y="0"/>
                    </a:moveTo>
                    <a:lnTo>
                      <a:pt x="152400" y="0"/>
                    </a:lnTo>
                  </a:path>
                </a:pathLst>
              </a:custGeom>
              <a:noFill/>
              <a:ln w="19050">
                <a:solidFill>
                  <a:srgbClr val="5B180B"/>
                </a:solidFill>
              </a:ln>
            </p:spPr>
          </p:sp>
          <p:sp>
            <p:nvSpPr>
              <p:cNvPr id="180" name="Freeform 180"/>
              <p:cNvSpPr/>
              <p:nvPr/>
            </p:nvSpPr>
            <p:spPr>
              <a:xfrm>
                <a:off x="7905750" y="228600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5B180B"/>
                </a:solidFill>
              </a:ln>
            </p:spPr>
          </p:sp>
        </p:grpSp>
        <p:sp>
          <p:nvSpPr>
            <p:cNvPr id="182" name="TextBox 182"/>
            <p:cNvSpPr txBox="1"/>
            <p:nvPr/>
          </p:nvSpPr>
          <p:spPr>
            <a:xfrm>
              <a:off x="8148638" y="2203847"/>
              <a:ext cx="588775"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过程管理​</a:t>
              </a:r>
            </a:p>
          </p:txBody>
        </p:sp>
        <p:sp>
          <p:nvSpPr>
            <p:cNvPr id="183" name="TextBox 183"/>
            <p:cNvSpPr txBox="1"/>
            <p:nvPr/>
          </p:nvSpPr>
          <p:spPr>
            <a:xfrm>
              <a:off x="8148638" y="23805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周度跟踪​</a:t>
              </a:r>
            </a:p>
          </p:txBody>
        </p:sp>
        <p:sp>
          <p:nvSpPr>
            <p:cNvPr id="184" name="TextBox 184"/>
            <p:cNvSpPr txBox="1"/>
            <p:nvPr/>
          </p:nvSpPr>
          <p:spPr>
            <a:xfrm>
              <a:off x="8148638" y="2494836"/>
              <a:ext cx="444415"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闭环提升​</a:t>
              </a:r>
            </a:p>
          </p:txBody>
        </p:sp>
        <p:sp>
          <p:nvSpPr>
            <p:cNvPr id="185" name="Freeform 185"/>
            <p:cNvSpPr/>
            <p:nvPr/>
          </p:nvSpPr>
          <p:spPr>
            <a:xfrm rot="5400000">
              <a:off x="9067800" y="2305050"/>
              <a:ext cx="114300" cy="114300"/>
            </a:xfrm>
            <a:prstGeom prst="triangle">
              <a:avLst/>
            </a:prstGeom>
            <a:solidFill>
              <a:srgbClr val="B57A6F"/>
            </a:solidFill>
            <a:ln>
              <a:noFill/>
            </a:ln>
          </p:spPr>
        </p:sp>
        <p:sp>
          <p:nvSpPr>
            <p:cNvPr id="186" name="Freeform 186"/>
            <p:cNvSpPr/>
            <p:nvPr/>
          </p:nvSpPr>
          <p:spPr>
            <a:xfrm>
              <a:off x="9220200" y="2114550"/>
              <a:ext cx="2743200" cy="495300"/>
            </a:xfrm>
            <a:prstGeom prst="homePlate">
              <a:avLst>
                <a:gd name="adj" fmla="val 22000"/>
              </a:avLst>
            </a:prstGeom>
            <a:solidFill>
              <a:srgbClr val="5B180B"/>
            </a:solidFill>
            <a:ln>
              <a:noFill/>
            </a:ln>
          </p:spPr>
        </p:sp>
        <p:sp>
          <p:nvSpPr>
            <p:cNvPr id="187" name="TextBox 187"/>
            <p:cNvSpPr txBox="1"/>
            <p:nvPr/>
          </p:nvSpPr>
          <p:spPr>
            <a:xfrm>
              <a:off x="9908166" y="2212181"/>
              <a:ext cx="136726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规模 × 价值 × 客户​</a:t>
              </a:r>
            </a:p>
          </p:txBody>
        </p:sp>
        <p:sp>
          <p:nvSpPr>
            <p:cNvPr id="188" name="TextBox 188"/>
            <p:cNvSpPr txBox="1"/>
            <p:nvPr/>
          </p:nvSpPr>
          <p:spPr>
            <a:xfrm>
              <a:off x="10075242" y="2429589"/>
              <a:ext cx="918816" cy="154781"/>
            </a:xfrm>
            <a:prstGeom prst="rect">
              <a:avLst/>
            </a:prstGeom>
            <a:noFill/>
            <a:ln>
              <a:noFill/>
            </a:ln>
          </p:spPr>
          <p:txBody>
            <a:bodyPr wrap="none" lIns="0" tIns="0" rIns="0" bIns="0" anchor="t" anchorCtr="0">
              <a:spAutoFit/>
            </a:bodyPr>
            <a:lstStyle/>
            <a:p>
              <a:pPr algn="ctr"/>
              <a:r>
                <a:rPr lang="zh-CN" sz="790" dirty="0">
                  <a:solidFill>
                    <a:srgbClr val="DFF0EB"/>
                  </a:solidFill>
                  <a:latin typeface="+mn-lt"/>
                  <a:ea typeface="+mn-ea"/>
                  <a:cs typeface="+mn-cs"/>
                </a:rPr>
                <a:t>三场战役同步打响​</a:t>
              </a:r>
            </a:p>
          </p:txBody>
        </p:sp>
      </p:grpSp>
      <p:grpSp>
        <p:nvGrpSpPr>
          <p:cNvPr id="282" name="battle-map"/>
          <p:cNvGrpSpPr/>
          <p:nvPr/>
        </p:nvGrpSpPr>
        <p:grpSpPr>
          <a:xfrm>
            <a:off x="228600" y="2914650"/>
            <a:ext cx="11639550" cy="1905000"/>
            <a:chOff x="228600" y="2914650"/>
            <a:chExt cx="11639550" cy="1905000"/>
          </a:xfrm>
        </p:grpSpPr>
        <p:sp>
          <p:nvSpPr>
            <p:cNvPr id="190" name="Rectangle 190"/>
            <p:cNvSpPr/>
            <p:nvPr/>
          </p:nvSpPr>
          <p:spPr>
            <a:xfrm>
              <a:off x="228600" y="2914650"/>
              <a:ext cx="381000" cy="1905000"/>
            </a:xfrm>
            <a:prstGeom prst="roundRect">
              <a:avLst>
                <a:gd name="adj" fmla="val 15000"/>
              </a:avLst>
            </a:prstGeom>
            <a:solidFill>
              <a:srgbClr val="5B180B"/>
            </a:solidFill>
            <a:ln>
              <a:noFill/>
            </a:ln>
          </p:spPr>
        </p:sp>
        <p:sp>
          <p:nvSpPr>
            <p:cNvPr id="191" name="TextBox 191"/>
            <p:cNvSpPr txBox="1"/>
            <p:nvPr/>
          </p:nvSpPr>
          <p:spPr>
            <a:xfrm>
              <a:off x="302275" y="308705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四​</a:t>
              </a:r>
            </a:p>
          </p:txBody>
        </p:sp>
        <p:sp>
          <p:nvSpPr>
            <p:cNvPr id="192" name="TextBox 192"/>
            <p:cNvSpPr txBox="1"/>
            <p:nvPr/>
          </p:nvSpPr>
          <p:spPr>
            <a:xfrm>
              <a:off x="302275" y="331565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大​</a:t>
              </a:r>
            </a:p>
          </p:txBody>
        </p:sp>
        <p:sp>
          <p:nvSpPr>
            <p:cNvPr id="193" name="TextBox 193"/>
            <p:cNvSpPr txBox="1"/>
            <p:nvPr/>
          </p:nvSpPr>
          <p:spPr>
            <a:xfrm>
              <a:off x="302275" y="354425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战​</a:t>
              </a:r>
            </a:p>
          </p:txBody>
        </p:sp>
        <p:sp>
          <p:nvSpPr>
            <p:cNvPr id="194" name="TextBox 194"/>
            <p:cNvSpPr txBox="1"/>
            <p:nvPr/>
          </p:nvSpPr>
          <p:spPr>
            <a:xfrm>
              <a:off x="302275" y="377285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役​</a:t>
              </a:r>
            </a:p>
          </p:txBody>
        </p:sp>
        <p:sp>
          <p:nvSpPr>
            <p:cNvPr id="195" name="TextBox 195"/>
            <p:cNvSpPr txBox="1"/>
            <p:nvPr/>
          </p:nvSpPr>
          <p:spPr>
            <a:xfrm>
              <a:off x="302275" y="400145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作​</a:t>
              </a:r>
            </a:p>
          </p:txBody>
        </p:sp>
        <p:sp>
          <p:nvSpPr>
            <p:cNvPr id="196" name="TextBox 196"/>
            <p:cNvSpPr txBox="1"/>
            <p:nvPr/>
          </p:nvSpPr>
          <p:spPr>
            <a:xfrm>
              <a:off x="302275" y="423005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战​</a:t>
              </a:r>
            </a:p>
          </p:txBody>
        </p:sp>
        <p:sp>
          <p:nvSpPr>
            <p:cNvPr id="197" name="TextBox 197"/>
            <p:cNvSpPr txBox="1"/>
            <p:nvPr/>
          </p:nvSpPr>
          <p:spPr>
            <a:xfrm>
              <a:off x="302275" y="445865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图​</a:t>
              </a:r>
            </a:p>
          </p:txBody>
        </p:sp>
        <p:grpSp>
          <p:nvGrpSpPr>
            <p:cNvPr id="217" name="battle-1"/>
            <p:cNvGrpSpPr/>
            <p:nvPr/>
          </p:nvGrpSpPr>
          <p:grpSpPr>
            <a:xfrm>
              <a:off x="723900" y="2914650"/>
              <a:ext cx="2743200" cy="1905000"/>
              <a:chOff x="723900" y="2914650"/>
              <a:chExt cx="2743200" cy="1905000"/>
            </a:xfrm>
          </p:grpSpPr>
          <p:sp>
            <p:nvSpPr>
              <p:cNvPr id="198" name="Rectangle 198"/>
              <p:cNvSpPr/>
              <p:nvPr/>
            </p:nvSpPr>
            <p:spPr>
              <a:xfrm>
                <a:off x="723900" y="2914650"/>
                <a:ext cx="2743200" cy="1905000"/>
              </a:xfrm>
              <a:prstGeom prst="roundRect">
                <a:avLst>
                  <a:gd name="adj" fmla="val 4000"/>
                </a:avLst>
              </a:prstGeom>
              <a:solidFill>
                <a:srgbClr val="F5FAF8"/>
              </a:solidFill>
              <a:ln w="9525">
                <a:solidFill>
                  <a:srgbClr val="D9E8E2"/>
                </a:solidFill>
              </a:ln>
            </p:spPr>
          </p:sp>
          <p:sp>
            <p:nvSpPr>
              <p:cNvPr id="199" name="Rectangle 199"/>
              <p:cNvSpPr/>
              <p:nvPr/>
            </p:nvSpPr>
            <p:spPr>
              <a:xfrm>
                <a:off x="723900" y="2914650"/>
                <a:ext cx="2743200" cy="381000"/>
              </a:xfrm>
              <a:prstGeom prst="roundRect">
                <a:avLst>
                  <a:gd name="adj" fmla="val 20000"/>
                </a:avLst>
              </a:prstGeom>
              <a:gradFill>
                <a:gsLst>
                  <a:gs pos="0">
                    <a:srgbClr val="5B180B"/>
                  </a:gs>
                  <a:gs pos="100000">
                    <a:srgbClr val="9A412F"/>
                  </a:gs>
                </a:gsLst>
                <a:lin ang="0" scaled="1"/>
              </a:gradFill>
              <a:ln>
                <a:noFill/>
              </a:ln>
            </p:spPr>
          </p:sp>
          <p:grpSp>
            <p:nvGrpSpPr>
              <p:cNvPr id="203" name="Group 203"/>
              <p:cNvGrpSpPr/>
              <p:nvPr/>
            </p:nvGrpSpPr>
            <p:grpSpPr>
              <a:xfrm>
                <a:off x="873125" y="3026569"/>
                <a:ext cx="139700" cy="157162"/>
                <a:chOff x="873125" y="3026569"/>
                <a:chExt cx="139700" cy="157162"/>
              </a:xfrm>
            </p:grpSpPr>
            <p:sp>
              <p:nvSpPr>
                <p:cNvPr id="200" name="Freeform 200"/>
                <p:cNvSpPr/>
                <p:nvPr/>
              </p:nvSpPr>
              <p:spPr>
                <a:xfrm>
                  <a:off x="873125" y="3026569"/>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FFFFFF"/>
                  </a:solidFill>
                </a:ln>
              </p:spPr>
            </p:sp>
            <p:sp>
              <p:nvSpPr>
                <p:cNvPr id="201" name="Freeform 201"/>
                <p:cNvSpPr/>
                <p:nvPr/>
              </p:nvSpPr>
              <p:spPr>
                <a:xfrm>
                  <a:off x="873125" y="3052763"/>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sp>
              <p:nvSpPr>
                <p:cNvPr id="202" name="Freeform 202"/>
                <p:cNvSpPr/>
                <p:nvPr/>
              </p:nvSpPr>
              <p:spPr>
                <a:xfrm>
                  <a:off x="873125" y="3105150"/>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grpSp>
          <p:sp>
            <p:nvSpPr>
              <p:cNvPr id="204" name="TextBox 204"/>
              <p:cNvSpPr txBox="1"/>
              <p:nvPr/>
            </p:nvSpPr>
            <p:spPr>
              <a:xfrm>
                <a:off x="1137285" y="2964656"/>
                <a:ext cx="7016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稳存增储​</a:t>
                </a:r>
              </a:p>
            </p:txBody>
          </p:sp>
          <p:sp>
            <p:nvSpPr>
              <p:cNvPr id="205" name="TextBox 205"/>
              <p:cNvSpPr txBox="1"/>
              <p:nvPr/>
            </p:nvSpPr>
            <p:spPr>
              <a:xfrm>
                <a:off x="1138238" y="3161586"/>
                <a:ext cx="1304637" cy="140494"/>
              </a:xfrm>
              <a:prstGeom prst="rect">
                <a:avLst/>
              </a:prstGeom>
              <a:noFill/>
              <a:ln>
                <a:noFill/>
              </a:ln>
            </p:spPr>
            <p:txBody>
              <a:bodyPr wrap="none" lIns="0" tIns="0" rIns="0" bIns="0" anchor="t" anchorCtr="0">
                <a:spAutoFit/>
              </a:bodyPr>
              <a:lstStyle/>
              <a:p>
                <a:pPr algn="l"/>
                <a:r>
                  <a:rPr lang="zh-CN" sz="710" dirty="0">
                    <a:solidFill>
                      <a:srgbClr val="DFF0EB"/>
                    </a:solidFill>
                    <a:latin typeface="+mn-lt"/>
                    <a:ea typeface="+mn-ea"/>
                    <a:cs typeface="+mn-cs"/>
                  </a:rPr>
                  <a:t>夯实负债基础，巩固市场领先​</a:t>
                </a:r>
              </a:p>
            </p:txBody>
          </p:sp>
          <p:sp>
            <p:nvSpPr>
              <p:cNvPr id="206" name="TextBox 206"/>
              <p:cNvSpPr txBox="1"/>
              <p:nvPr/>
            </p:nvSpPr>
            <p:spPr>
              <a:xfrm>
                <a:off x="852488" y="3397091"/>
                <a:ext cx="294051"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目标​</a:t>
                </a:r>
              </a:p>
            </p:txBody>
          </p:sp>
          <p:sp>
            <p:nvSpPr>
              <p:cNvPr id="207" name="TextBox 207"/>
              <p:cNvSpPr txBox="1"/>
              <p:nvPr/>
            </p:nvSpPr>
            <p:spPr>
              <a:xfrm>
                <a:off x="1290638" y="3397091"/>
                <a:ext cx="1274576" cy="161925"/>
              </a:xfrm>
              <a:prstGeom prst="rect">
                <a:avLst/>
              </a:prstGeom>
              <a:noFill/>
              <a:ln>
                <a:noFill/>
              </a:ln>
            </p:spPr>
            <p:txBody>
              <a:bodyPr wrap="none" lIns="0" tIns="0" rIns="0" bIns="0" anchor="t" anchorCtr="0">
                <a:spAutoFit/>
              </a:bodyPr>
              <a:lstStyle/>
              <a:p>
                <a:pPr algn="l"/>
                <a:r>
                  <a:rPr lang="zh-CN" sz="820" dirty="0">
                    <a:solidFill>
                      <a:srgbClr val="312624"/>
                    </a:solidFill>
                    <a:latin typeface="+mn-lt"/>
                    <a:ea typeface="+mn-ea"/>
                    <a:cs typeface="+mn-cs"/>
                  </a:rPr>
                  <a:t xml:space="preserve">存款日均净增 </a:t>
                </a:r>
                <a:r>
                  <a:rPr lang="zh-CN" sz="820" b="1" dirty="0">
                    <a:solidFill>
                      <a:srgbClr val="5B180B"/>
                    </a:solidFill>
                    <a:latin typeface="+mn-lt"/>
                    <a:ea typeface="+mn-ea"/>
                    <a:cs typeface="+mn-cs"/>
                  </a:rPr>
                  <a:t>1.20</a:t>
                </a:r>
                <a:r>
                  <a:rPr lang="zh-CN" sz="820" dirty="0">
                    <a:solidFill>
                      <a:srgbClr val="312624"/>
                    </a:solidFill>
                    <a:latin typeface="+mn-lt"/>
                    <a:ea typeface="+mn-ea"/>
                    <a:cs typeface="+mn-cs"/>
                  </a:rPr>
                  <a:t xml:space="preserve"> 亿元​</a:t>
                </a:r>
              </a:p>
            </p:txBody>
          </p:sp>
          <p:sp>
            <p:nvSpPr>
              <p:cNvPr id="208" name="TextBox 208"/>
              <p:cNvSpPr txBox="1"/>
              <p:nvPr/>
            </p:nvSpPr>
            <p:spPr>
              <a:xfrm>
                <a:off x="852488" y="3606641"/>
                <a:ext cx="514828"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核心举措​</a:t>
                </a:r>
              </a:p>
            </p:txBody>
          </p:sp>
          <p:sp>
            <p:nvSpPr>
              <p:cNvPr id="209" name="TextBox 209"/>
              <p:cNvSpPr txBox="1"/>
              <p:nvPr/>
            </p:nvSpPr>
            <p:spPr>
              <a:xfrm>
                <a:off x="1290638" y="3599736"/>
                <a:ext cx="1744306"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1. 重点客群定向营销(对公/政府/机构)​</a:t>
                </a:r>
              </a:p>
            </p:txBody>
          </p:sp>
          <p:sp>
            <p:nvSpPr>
              <p:cNvPr id="210" name="TextBox 210"/>
              <p:cNvSpPr txBox="1"/>
              <p:nvPr/>
            </p:nvSpPr>
            <p:spPr>
              <a:xfrm>
                <a:off x="1290638" y="3723561"/>
                <a:ext cx="1247289"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2. 到期资金提前锁定与续作​</a:t>
                </a:r>
              </a:p>
            </p:txBody>
          </p:sp>
          <p:sp>
            <p:nvSpPr>
              <p:cNvPr id="211" name="TextBox 211"/>
              <p:cNvSpPr txBox="1"/>
              <p:nvPr/>
            </p:nvSpPr>
            <p:spPr>
              <a:xfrm>
                <a:off x="1290638" y="3847386"/>
                <a:ext cx="1830328"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3. 存款产品组合优化(结构化、特色存款)​</a:t>
                </a:r>
              </a:p>
            </p:txBody>
          </p:sp>
          <p:sp>
            <p:nvSpPr>
              <p:cNvPr id="212" name="TextBox 212"/>
              <p:cNvSpPr txBox="1"/>
              <p:nvPr/>
            </p:nvSpPr>
            <p:spPr>
              <a:xfrm>
                <a:off x="1290638" y="3971211"/>
                <a:ext cx="1204278"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4. 网点厅堂+外拓联动获客​</a:t>
                </a:r>
              </a:p>
            </p:txBody>
          </p:sp>
          <p:sp>
            <p:nvSpPr>
              <p:cNvPr id="213" name="TextBox 213"/>
              <p:cNvSpPr txBox="1"/>
              <p:nvPr/>
            </p:nvSpPr>
            <p:spPr>
              <a:xfrm>
                <a:off x="852488" y="4273391"/>
                <a:ext cx="404440"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责任人​</a:t>
                </a:r>
              </a:p>
            </p:txBody>
          </p:sp>
          <p:sp>
            <p:nvSpPr>
              <p:cNvPr id="214" name="TextBox 214"/>
              <p:cNvSpPr txBox="1"/>
              <p:nvPr/>
            </p:nvSpPr>
            <p:spPr>
              <a:xfrm>
                <a:off x="1290638" y="4224338"/>
                <a:ext cx="1842040" cy="147638"/>
              </a:xfrm>
              <a:prstGeom prst="rect">
                <a:avLst/>
              </a:prstGeom>
              <a:noFill/>
              <a:ln>
                <a:noFill/>
              </a:ln>
            </p:spPr>
            <p:txBody>
              <a:bodyPr wrap="none" lIns="0" tIns="0" rIns="0" bIns="0" anchor="t" anchorCtr="0">
                <a:spAutoFit/>
              </a:bodyPr>
              <a:lstStyle/>
              <a:p>
                <a:pPr algn="l"/>
                <a:r>
                  <a:rPr lang="zh-CN" sz="750" dirty="0">
                    <a:solidFill>
                      <a:srgbClr val="4A3D3A"/>
                    </a:solidFill>
                    <a:latin typeface="+mn-lt"/>
                    <a:ea typeface="+mn-ea"/>
                    <a:cs typeface="+mn-cs"/>
                  </a:rPr>
                  <a:t>零售负责人：张华 ｜ 公司负责人：李强​</a:t>
                </a:r>
              </a:p>
            </p:txBody>
          </p:sp>
          <p:sp>
            <p:nvSpPr>
              <p:cNvPr id="215" name="Ellipse 215"/>
              <p:cNvSpPr/>
              <p:nvPr/>
            </p:nvSpPr>
            <p:spPr>
              <a:xfrm>
                <a:off x="1171575" y="4562475"/>
                <a:ext cx="95250" cy="95250"/>
              </a:xfrm>
              <a:prstGeom prst="ellipse">
                <a:avLst/>
              </a:prstGeom>
              <a:solidFill>
                <a:srgbClr val="9E402E"/>
              </a:solidFill>
              <a:ln>
                <a:noFill/>
              </a:ln>
            </p:spPr>
          </p:sp>
          <p:sp>
            <p:nvSpPr>
              <p:cNvPr id="216" name="TextBox 216"/>
              <p:cNvSpPr txBox="1"/>
              <p:nvPr/>
            </p:nvSpPr>
            <p:spPr>
              <a:xfrm>
                <a:off x="1328738" y="4563189"/>
                <a:ext cx="1025166"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绿色（按计划推进）​</a:t>
                </a:r>
              </a:p>
            </p:txBody>
          </p:sp>
        </p:grpSp>
        <p:grpSp>
          <p:nvGrpSpPr>
            <p:cNvPr id="236" name="battle-2"/>
            <p:cNvGrpSpPr/>
            <p:nvPr/>
          </p:nvGrpSpPr>
          <p:grpSpPr>
            <a:xfrm>
              <a:off x="3524250" y="2914650"/>
              <a:ext cx="2743200" cy="1905000"/>
              <a:chOff x="3524250" y="2914650"/>
              <a:chExt cx="2743200" cy="1905000"/>
            </a:xfrm>
          </p:grpSpPr>
          <p:sp>
            <p:nvSpPr>
              <p:cNvPr id="218" name="Rectangle 218"/>
              <p:cNvSpPr/>
              <p:nvPr/>
            </p:nvSpPr>
            <p:spPr>
              <a:xfrm>
                <a:off x="3524250" y="2914650"/>
                <a:ext cx="2743200" cy="1905000"/>
              </a:xfrm>
              <a:prstGeom prst="roundRect">
                <a:avLst>
                  <a:gd name="adj" fmla="val 4000"/>
                </a:avLst>
              </a:prstGeom>
              <a:solidFill>
                <a:srgbClr val="F5FAF8"/>
              </a:solidFill>
              <a:ln w="9525">
                <a:solidFill>
                  <a:srgbClr val="D9E8E2"/>
                </a:solidFill>
              </a:ln>
            </p:spPr>
          </p:sp>
          <p:sp>
            <p:nvSpPr>
              <p:cNvPr id="219" name="Rectangle 219"/>
              <p:cNvSpPr/>
              <p:nvPr/>
            </p:nvSpPr>
            <p:spPr>
              <a:xfrm>
                <a:off x="3524250" y="2914650"/>
                <a:ext cx="2743200" cy="381000"/>
              </a:xfrm>
              <a:prstGeom prst="roundRect">
                <a:avLst>
                  <a:gd name="adj" fmla="val 20000"/>
                </a:avLst>
              </a:prstGeom>
              <a:gradFill>
                <a:gsLst>
                  <a:gs pos="0">
                    <a:srgbClr val="5B180B"/>
                  </a:gs>
                  <a:gs pos="100000">
                    <a:srgbClr val="9A412F"/>
                  </a:gs>
                </a:gsLst>
                <a:lin ang="0" scaled="1"/>
              </a:gradFill>
              <a:ln>
                <a:noFill/>
              </a:ln>
            </p:spPr>
          </p:sp>
          <p:grpSp>
            <p:nvGrpSpPr>
              <p:cNvPr id="222" name="Group 222"/>
              <p:cNvGrpSpPr/>
              <p:nvPr/>
            </p:nvGrpSpPr>
            <p:grpSpPr>
              <a:xfrm>
                <a:off x="3673475" y="3052763"/>
                <a:ext cx="139700" cy="123031"/>
                <a:chOff x="3673475" y="3052763"/>
                <a:chExt cx="139700" cy="123031"/>
              </a:xfrm>
            </p:grpSpPr>
            <p:sp>
              <p:nvSpPr>
                <p:cNvPr id="220" name="Freeform 220"/>
                <p:cNvSpPr/>
                <p:nvPr/>
              </p:nvSpPr>
              <p:spPr>
                <a:xfrm>
                  <a:off x="3673475" y="3166269"/>
                  <a:ext cx="139700" cy="9525"/>
                </a:xfrm>
                <a:custGeom>
                  <a:avLst/>
                  <a:gdLst/>
                  <a:ahLst/>
                  <a:cxnLst/>
                  <a:rect l="l" t="t" r="r" b="b"/>
                  <a:pathLst>
                    <a:path w="139700" h="9525">
                      <a:moveTo>
                        <a:pt x="0" y="0"/>
                      </a:moveTo>
                      <a:lnTo>
                        <a:pt x="139700" y="0"/>
                      </a:lnTo>
                    </a:path>
                  </a:pathLst>
                </a:custGeom>
                <a:noFill/>
                <a:ln w="17463">
                  <a:solidFill>
                    <a:srgbClr val="FFFFFF"/>
                  </a:solidFill>
                </a:ln>
              </p:spPr>
            </p:sp>
            <p:sp>
              <p:nvSpPr>
                <p:cNvPr id="221" name="Freeform 221"/>
                <p:cNvSpPr/>
                <p:nvPr/>
              </p:nvSpPr>
              <p:spPr>
                <a:xfrm>
                  <a:off x="3673475" y="3052763"/>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7463">
                  <a:solidFill>
                    <a:srgbClr val="FFFFFF"/>
                  </a:solidFill>
                </a:ln>
              </p:spPr>
            </p:sp>
          </p:grpSp>
          <p:sp>
            <p:nvSpPr>
              <p:cNvPr id="223" name="TextBox 223"/>
              <p:cNvSpPr txBox="1"/>
              <p:nvPr/>
            </p:nvSpPr>
            <p:spPr>
              <a:xfrm>
                <a:off x="3937635" y="2964656"/>
                <a:ext cx="7016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财富提升​</a:t>
                </a:r>
              </a:p>
            </p:txBody>
          </p:sp>
          <p:sp>
            <p:nvSpPr>
              <p:cNvPr id="224" name="TextBox 224"/>
              <p:cNvSpPr txBox="1"/>
              <p:nvPr/>
            </p:nvSpPr>
            <p:spPr>
              <a:xfrm>
                <a:off x="3938588" y="3161586"/>
                <a:ext cx="1300309" cy="140494"/>
              </a:xfrm>
              <a:prstGeom prst="rect">
                <a:avLst/>
              </a:prstGeom>
              <a:noFill/>
              <a:ln>
                <a:noFill/>
              </a:ln>
            </p:spPr>
            <p:txBody>
              <a:bodyPr wrap="none" lIns="0" tIns="0" rIns="0" bIns="0" anchor="t" anchorCtr="0">
                <a:spAutoFit/>
              </a:bodyPr>
              <a:lstStyle/>
              <a:p>
                <a:pPr algn="l"/>
                <a:r>
                  <a:rPr lang="zh-CN" sz="710" dirty="0">
                    <a:solidFill>
                      <a:srgbClr val="DFF0EB"/>
                    </a:solidFill>
                    <a:latin typeface="+mn-lt"/>
                    <a:ea typeface="+mn-ea"/>
                    <a:cs typeface="+mn-cs"/>
                  </a:rPr>
                  <a:t>做大AUM规模，提升中收贡献​</a:t>
                </a:r>
              </a:p>
            </p:txBody>
          </p:sp>
          <p:sp>
            <p:nvSpPr>
              <p:cNvPr id="225" name="TextBox 225"/>
              <p:cNvSpPr txBox="1"/>
              <p:nvPr/>
            </p:nvSpPr>
            <p:spPr>
              <a:xfrm>
                <a:off x="3652838" y="3397091"/>
                <a:ext cx="294051"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目标​</a:t>
                </a:r>
              </a:p>
            </p:txBody>
          </p:sp>
          <p:sp>
            <p:nvSpPr>
              <p:cNvPr id="226" name="TextBox 226"/>
              <p:cNvSpPr txBox="1"/>
              <p:nvPr/>
            </p:nvSpPr>
            <p:spPr>
              <a:xfrm>
                <a:off x="4090988" y="3397091"/>
                <a:ext cx="1924457" cy="161925"/>
              </a:xfrm>
              <a:prstGeom prst="rect">
                <a:avLst/>
              </a:prstGeom>
              <a:noFill/>
              <a:ln>
                <a:noFill/>
              </a:ln>
            </p:spPr>
            <p:txBody>
              <a:bodyPr wrap="none" lIns="0" tIns="0" rIns="0" bIns="0" anchor="t" anchorCtr="0">
                <a:spAutoFit/>
              </a:bodyPr>
              <a:lstStyle/>
              <a:p>
                <a:pPr algn="l"/>
                <a:r>
                  <a:rPr lang="zh-CN" sz="820" dirty="0">
                    <a:solidFill>
                      <a:srgbClr val="312624"/>
                    </a:solidFill>
                    <a:latin typeface="+mn-lt"/>
                    <a:ea typeface="+mn-ea"/>
                    <a:cs typeface="+mn-cs"/>
                  </a:rPr>
                  <a:t xml:space="preserve">AUM净增 </a:t>
                </a:r>
                <a:r>
                  <a:rPr lang="zh-CN" sz="820" b="1" dirty="0">
                    <a:solidFill>
                      <a:srgbClr val="5B180B"/>
                    </a:solidFill>
                    <a:latin typeface="+mn-lt"/>
                    <a:ea typeface="+mn-ea"/>
                    <a:cs typeface="+mn-cs"/>
                  </a:rPr>
                  <a:t>1.65</a:t>
                </a:r>
                <a:r>
                  <a:rPr lang="zh-CN" sz="820" dirty="0">
                    <a:solidFill>
                      <a:srgbClr val="312624"/>
                    </a:solidFill>
                    <a:latin typeface="+mn-lt"/>
                    <a:ea typeface="+mn-ea"/>
                    <a:cs typeface="+mn-cs"/>
                  </a:rPr>
                  <a:t xml:space="preserve"> 亿元 ｜ 中收 </a:t>
                </a:r>
                <a:r>
                  <a:rPr lang="zh-CN" sz="820" b="1" dirty="0">
                    <a:solidFill>
                      <a:srgbClr val="5B180B"/>
                    </a:solidFill>
                    <a:latin typeface="+mn-lt"/>
                    <a:ea typeface="+mn-ea"/>
                    <a:cs typeface="+mn-cs"/>
                  </a:rPr>
                  <a:t>420</a:t>
                </a:r>
                <a:r>
                  <a:rPr lang="zh-CN" sz="820" dirty="0">
                    <a:solidFill>
                      <a:srgbClr val="312624"/>
                    </a:solidFill>
                    <a:latin typeface="+mn-lt"/>
                    <a:ea typeface="+mn-ea"/>
                    <a:cs typeface="+mn-cs"/>
                  </a:rPr>
                  <a:t xml:space="preserve"> 万元​</a:t>
                </a:r>
              </a:p>
            </p:txBody>
          </p:sp>
          <p:sp>
            <p:nvSpPr>
              <p:cNvPr id="227" name="TextBox 227"/>
              <p:cNvSpPr txBox="1"/>
              <p:nvPr/>
            </p:nvSpPr>
            <p:spPr>
              <a:xfrm>
                <a:off x="3652838" y="3606641"/>
                <a:ext cx="514828"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核心举措​</a:t>
                </a:r>
              </a:p>
            </p:txBody>
          </p:sp>
          <p:sp>
            <p:nvSpPr>
              <p:cNvPr id="228" name="TextBox 228"/>
              <p:cNvSpPr txBox="1"/>
              <p:nvPr/>
            </p:nvSpPr>
            <p:spPr>
              <a:xfrm>
                <a:off x="4090988" y="3599736"/>
                <a:ext cx="1534029"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1. 高净值客户深度经营与资产配置​</a:t>
                </a:r>
              </a:p>
            </p:txBody>
          </p:sp>
          <p:sp>
            <p:nvSpPr>
              <p:cNvPr id="229" name="TextBox 229"/>
              <p:cNvSpPr txBox="1"/>
              <p:nvPr/>
            </p:nvSpPr>
            <p:spPr>
              <a:xfrm>
                <a:off x="4090988" y="3723561"/>
                <a:ext cx="1448007"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2. 基金/理财/保险重点产品推动​</a:t>
                </a:r>
              </a:p>
            </p:txBody>
          </p:sp>
          <p:sp>
            <p:nvSpPr>
              <p:cNvPr id="230" name="TextBox 230"/>
              <p:cNvSpPr txBox="1"/>
              <p:nvPr/>
            </p:nvSpPr>
            <p:spPr>
              <a:xfrm>
                <a:off x="4090988" y="3847386"/>
                <a:ext cx="1247289"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3. 存量客户唤醒与产品升级​</a:t>
                </a:r>
              </a:p>
            </p:txBody>
          </p:sp>
          <p:sp>
            <p:nvSpPr>
              <p:cNvPr id="231" name="TextBox 231"/>
              <p:cNvSpPr txBox="1"/>
              <p:nvPr/>
            </p:nvSpPr>
            <p:spPr>
              <a:xfrm>
                <a:off x="4090988" y="3971211"/>
                <a:ext cx="1342869"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4. 专项财富沙龙与私享会活动​</a:t>
                </a:r>
              </a:p>
            </p:txBody>
          </p:sp>
          <p:sp>
            <p:nvSpPr>
              <p:cNvPr id="232" name="TextBox 232"/>
              <p:cNvSpPr txBox="1"/>
              <p:nvPr/>
            </p:nvSpPr>
            <p:spPr>
              <a:xfrm>
                <a:off x="3652838" y="4273391"/>
                <a:ext cx="404440"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责任人​</a:t>
                </a:r>
              </a:p>
            </p:txBody>
          </p:sp>
          <p:sp>
            <p:nvSpPr>
              <p:cNvPr id="233" name="TextBox 233"/>
              <p:cNvSpPr txBox="1"/>
              <p:nvPr/>
            </p:nvSpPr>
            <p:spPr>
              <a:xfrm>
                <a:off x="4090988" y="4224338"/>
                <a:ext cx="1842040" cy="147638"/>
              </a:xfrm>
              <a:prstGeom prst="rect">
                <a:avLst/>
              </a:prstGeom>
              <a:noFill/>
              <a:ln>
                <a:noFill/>
              </a:ln>
            </p:spPr>
            <p:txBody>
              <a:bodyPr wrap="none" lIns="0" tIns="0" rIns="0" bIns="0" anchor="t" anchorCtr="0">
                <a:spAutoFit/>
              </a:bodyPr>
              <a:lstStyle/>
              <a:p>
                <a:pPr algn="l"/>
                <a:r>
                  <a:rPr lang="zh-CN" sz="750" dirty="0">
                    <a:solidFill>
                      <a:srgbClr val="4A3D3A"/>
                    </a:solidFill>
                    <a:latin typeface="+mn-lt"/>
                    <a:ea typeface="+mn-ea"/>
                    <a:cs typeface="+mn-cs"/>
                  </a:rPr>
                  <a:t>财富负责人：王敏 ｜ 产品负责人：陈磊​</a:t>
                </a:r>
              </a:p>
            </p:txBody>
          </p:sp>
          <p:sp>
            <p:nvSpPr>
              <p:cNvPr id="234" name="Ellipse 234"/>
              <p:cNvSpPr/>
              <p:nvPr/>
            </p:nvSpPr>
            <p:spPr>
              <a:xfrm>
                <a:off x="3971925" y="4562475"/>
                <a:ext cx="95250" cy="95250"/>
              </a:xfrm>
              <a:prstGeom prst="ellipse">
                <a:avLst/>
              </a:prstGeom>
              <a:solidFill>
                <a:srgbClr val="D93D22"/>
              </a:solidFill>
              <a:ln>
                <a:noFill/>
              </a:ln>
            </p:spPr>
          </p:sp>
          <p:sp>
            <p:nvSpPr>
              <p:cNvPr id="235" name="TextBox 235"/>
              <p:cNvSpPr txBox="1"/>
              <p:nvPr/>
            </p:nvSpPr>
            <p:spPr>
              <a:xfrm>
                <a:off x="4129088" y="4563189"/>
                <a:ext cx="1025166"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黄色（需加快推进）​</a:t>
                </a:r>
              </a:p>
            </p:txBody>
          </p:sp>
        </p:grpSp>
        <p:grpSp>
          <p:nvGrpSpPr>
            <p:cNvPr id="257" name="battle-3"/>
            <p:cNvGrpSpPr/>
            <p:nvPr/>
          </p:nvGrpSpPr>
          <p:grpSpPr>
            <a:xfrm>
              <a:off x="6324600" y="2914650"/>
              <a:ext cx="2743200" cy="1905000"/>
              <a:chOff x="6324600" y="2914650"/>
              <a:chExt cx="2743200" cy="1905000"/>
            </a:xfrm>
          </p:grpSpPr>
          <p:sp>
            <p:nvSpPr>
              <p:cNvPr id="237" name="Rectangle 237"/>
              <p:cNvSpPr/>
              <p:nvPr/>
            </p:nvSpPr>
            <p:spPr>
              <a:xfrm>
                <a:off x="6324600" y="2914650"/>
                <a:ext cx="2743200" cy="1905000"/>
              </a:xfrm>
              <a:prstGeom prst="roundRect">
                <a:avLst>
                  <a:gd name="adj" fmla="val 4000"/>
                </a:avLst>
              </a:prstGeom>
              <a:solidFill>
                <a:srgbClr val="F5FAF8"/>
              </a:solidFill>
              <a:ln w="9525">
                <a:solidFill>
                  <a:srgbClr val="D9E8E2"/>
                </a:solidFill>
              </a:ln>
            </p:spPr>
          </p:sp>
          <p:sp>
            <p:nvSpPr>
              <p:cNvPr id="238" name="Rectangle 238"/>
              <p:cNvSpPr/>
              <p:nvPr/>
            </p:nvSpPr>
            <p:spPr>
              <a:xfrm>
                <a:off x="6324600" y="2914650"/>
                <a:ext cx="2743200" cy="381000"/>
              </a:xfrm>
              <a:prstGeom prst="roundRect">
                <a:avLst>
                  <a:gd name="adj" fmla="val 20000"/>
                </a:avLst>
              </a:prstGeom>
              <a:gradFill>
                <a:gsLst>
                  <a:gs pos="0">
                    <a:srgbClr val="5B180B"/>
                  </a:gs>
                  <a:gs pos="100000">
                    <a:srgbClr val="9A412F"/>
                  </a:gs>
                </a:gsLst>
                <a:lin ang="0" scaled="1"/>
              </a:gradFill>
              <a:ln>
                <a:noFill/>
              </a:ln>
            </p:spPr>
          </p:sp>
          <p:grpSp>
            <p:nvGrpSpPr>
              <p:cNvPr id="243" name="Group 243"/>
              <p:cNvGrpSpPr/>
              <p:nvPr/>
            </p:nvGrpSpPr>
            <p:grpSpPr>
              <a:xfrm>
                <a:off x="6482556" y="3026569"/>
                <a:ext cx="122238" cy="157162"/>
                <a:chOff x="6482556" y="3026569"/>
                <a:chExt cx="122238" cy="157162"/>
              </a:xfrm>
            </p:grpSpPr>
            <p:sp>
              <p:nvSpPr>
                <p:cNvPr id="239" name="Freeform 239"/>
                <p:cNvSpPr/>
                <p:nvPr/>
              </p:nvSpPr>
              <p:spPr>
                <a:xfrm>
                  <a:off x="6482556" y="3044031"/>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rgbClr val="FFFFFF"/>
                  </a:solidFill>
                </a:ln>
              </p:spPr>
            </p:sp>
            <p:sp>
              <p:nvSpPr>
                <p:cNvPr id="240" name="Freeform 240"/>
                <p:cNvSpPr/>
                <p:nvPr/>
              </p:nvSpPr>
              <p:spPr>
                <a:xfrm>
                  <a:off x="6517481" y="3026569"/>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rgbClr val="FFFFFF"/>
                  </a:solidFill>
                </a:ln>
              </p:spPr>
            </p:sp>
            <p:sp>
              <p:nvSpPr>
                <p:cNvPr id="241" name="Freeform 241"/>
                <p:cNvSpPr/>
                <p:nvPr/>
              </p:nvSpPr>
              <p:spPr>
                <a:xfrm>
                  <a:off x="6526213" y="3096419"/>
                  <a:ext cx="34925" cy="52388"/>
                </a:xfrm>
                <a:custGeom>
                  <a:avLst/>
                  <a:gdLst/>
                  <a:ahLst/>
                  <a:cxnLst/>
                  <a:rect l="l" t="t" r="r" b="b"/>
                  <a:pathLst>
                    <a:path w="34925" h="52388">
                      <a:moveTo>
                        <a:pt x="34925" y="0"/>
                      </a:moveTo>
                      <a:lnTo>
                        <a:pt x="13097" y="0"/>
                      </a:lnTo>
                      <a:cubicBezTo>
                        <a:pt x="5864" y="0"/>
                        <a:pt x="0" y="5864"/>
                        <a:pt x="0" y="13097"/>
                      </a:cubicBezTo>
                      <a:cubicBezTo>
                        <a:pt x="0" y="20330"/>
                        <a:pt x="5864" y="26194"/>
                        <a:pt x="13097" y="26194"/>
                      </a:cubicBezTo>
                      <a:lnTo>
                        <a:pt x="21828" y="26194"/>
                      </a:lnTo>
                      <a:cubicBezTo>
                        <a:pt x="29061" y="26194"/>
                        <a:pt x="34925" y="32057"/>
                        <a:pt x="34925" y="39291"/>
                      </a:cubicBezTo>
                      <a:cubicBezTo>
                        <a:pt x="34925" y="46524"/>
                        <a:pt x="29061" y="52388"/>
                        <a:pt x="21828" y="52388"/>
                      </a:cubicBezTo>
                      <a:lnTo>
                        <a:pt x="0" y="52388"/>
                      </a:lnTo>
                    </a:path>
                  </a:pathLst>
                </a:custGeom>
                <a:noFill/>
                <a:ln w="17463">
                  <a:solidFill>
                    <a:srgbClr val="FFFFFF"/>
                  </a:solidFill>
                </a:ln>
              </p:spPr>
            </p:sp>
            <p:sp>
              <p:nvSpPr>
                <p:cNvPr id="242" name="Freeform 242"/>
                <p:cNvSpPr/>
                <p:nvPr/>
              </p:nvSpPr>
              <p:spPr>
                <a:xfrm>
                  <a:off x="6543675" y="3087688"/>
                  <a:ext cx="9525" cy="69850"/>
                </a:xfrm>
                <a:custGeom>
                  <a:avLst/>
                  <a:gdLst/>
                  <a:ahLst/>
                  <a:cxnLst/>
                  <a:rect l="l" t="t" r="r" b="b"/>
                  <a:pathLst>
                    <a:path w="9525" h="69850">
                      <a:moveTo>
                        <a:pt x="0" y="61119"/>
                      </a:moveTo>
                      <a:lnTo>
                        <a:pt x="0" y="69850"/>
                      </a:lnTo>
                      <a:moveTo>
                        <a:pt x="0" y="0"/>
                      </a:moveTo>
                      <a:lnTo>
                        <a:pt x="0" y="8731"/>
                      </a:lnTo>
                    </a:path>
                  </a:pathLst>
                </a:custGeom>
                <a:noFill/>
                <a:ln w="17463">
                  <a:solidFill>
                    <a:srgbClr val="FFFFFF"/>
                  </a:solidFill>
                </a:ln>
              </p:spPr>
            </p:sp>
          </p:grpSp>
          <p:sp>
            <p:nvSpPr>
              <p:cNvPr id="244" name="TextBox 244"/>
              <p:cNvSpPr txBox="1"/>
              <p:nvPr/>
            </p:nvSpPr>
            <p:spPr>
              <a:xfrm>
                <a:off x="6737985" y="2964656"/>
                <a:ext cx="7016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信贷获客​</a:t>
                </a:r>
              </a:p>
            </p:txBody>
          </p:sp>
          <p:sp>
            <p:nvSpPr>
              <p:cNvPr id="245" name="TextBox 245"/>
              <p:cNvSpPr txBox="1"/>
              <p:nvPr/>
            </p:nvSpPr>
            <p:spPr>
              <a:xfrm>
                <a:off x="6738938" y="3161586"/>
                <a:ext cx="1304637" cy="140494"/>
              </a:xfrm>
              <a:prstGeom prst="rect">
                <a:avLst/>
              </a:prstGeom>
              <a:noFill/>
              <a:ln>
                <a:noFill/>
              </a:ln>
            </p:spPr>
            <p:txBody>
              <a:bodyPr wrap="none" lIns="0" tIns="0" rIns="0" bIns="0" anchor="t" anchorCtr="0">
                <a:spAutoFit/>
              </a:bodyPr>
              <a:lstStyle/>
              <a:p>
                <a:pPr algn="l"/>
                <a:r>
                  <a:rPr lang="zh-CN" sz="710" dirty="0">
                    <a:solidFill>
                      <a:srgbClr val="DFF0EB"/>
                    </a:solidFill>
                    <a:latin typeface="+mn-lt"/>
                    <a:ea typeface="+mn-ea"/>
                    <a:cs typeface="+mn-cs"/>
                  </a:rPr>
                  <a:t>加大优质投放，拓展客户基础​</a:t>
                </a:r>
              </a:p>
            </p:txBody>
          </p:sp>
          <p:sp>
            <p:nvSpPr>
              <p:cNvPr id="246" name="TextBox 246"/>
              <p:cNvSpPr txBox="1"/>
              <p:nvPr/>
            </p:nvSpPr>
            <p:spPr>
              <a:xfrm>
                <a:off x="6453188" y="3397091"/>
                <a:ext cx="294051"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目标​</a:t>
                </a:r>
              </a:p>
            </p:txBody>
          </p:sp>
          <p:sp>
            <p:nvSpPr>
              <p:cNvPr id="247" name="TextBox 247"/>
              <p:cNvSpPr txBox="1"/>
              <p:nvPr/>
            </p:nvSpPr>
            <p:spPr>
              <a:xfrm>
                <a:off x="6891338" y="3397091"/>
                <a:ext cx="2010315" cy="161925"/>
              </a:xfrm>
              <a:prstGeom prst="rect">
                <a:avLst/>
              </a:prstGeom>
              <a:noFill/>
              <a:ln>
                <a:noFill/>
              </a:ln>
            </p:spPr>
            <p:txBody>
              <a:bodyPr wrap="none" lIns="0" tIns="0" rIns="0" bIns="0" anchor="t" anchorCtr="0">
                <a:spAutoFit/>
              </a:bodyPr>
              <a:lstStyle/>
              <a:p>
                <a:pPr algn="l"/>
                <a:r>
                  <a:rPr lang="zh-CN" sz="820" dirty="0">
                    <a:solidFill>
                      <a:srgbClr val="312624"/>
                    </a:solidFill>
                    <a:latin typeface="+mn-lt"/>
                    <a:ea typeface="+mn-ea"/>
                    <a:cs typeface="+mn-cs"/>
                  </a:rPr>
                  <a:t xml:space="preserve">消费贷 </a:t>
                </a:r>
                <a:r>
                  <a:rPr lang="zh-CN" sz="820" b="1" dirty="0">
                    <a:solidFill>
                      <a:srgbClr val="5B180B"/>
                    </a:solidFill>
                    <a:latin typeface="+mn-lt"/>
                    <a:ea typeface="+mn-ea"/>
                    <a:cs typeface="+mn-cs"/>
                  </a:rPr>
                  <a:t>3,800</a:t>
                </a:r>
                <a:r>
                  <a:rPr lang="zh-CN" sz="820" dirty="0">
                    <a:solidFill>
                      <a:srgbClr val="312624"/>
                    </a:solidFill>
                    <a:latin typeface="+mn-lt"/>
                    <a:ea typeface="+mn-ea"/>
                    <a:cs typeface="+mn-cs"/>
                  </a:rPr>
                  <a:t xml:space="preserve"> 万元 ｜ 新客户 </a:t>
                </a:r>
                <a:r>
                  <a:rPr lang="zh-CN" sz="820" b="1" dirty="0">
                    <a:solidFill>
                      <a:srgbClr val="5B180B"/>
                    </a:solidFill>
                    <a:latin typeface="+mn-lt"/>
                    <a:ea typeface="+mn-ea"/>
                    <a:cs typeface="+mn-cs"/>
                  </a:rPr>
                  <a:t>1,260</a:t>
                </a:r>
                <a:r>
                  <a:rPr lang="zh-CN" sz="820" dirty="0">
                    <a:solidFill>
                      <a:srgbClr val="312624"/>
                    </a:solidFill>
                    <a:latin typeface="+mn-lt"/>
                    <a:ea typeface="+mn-ea"/>
                    <a:cs typeface="+mn-cs"/>
                  </a:rPr>
                  <a:t xml:space="preserve"> 户​</a:t>
                </a:r>
              </a:p>
            </p:txBody>
          </p:sp>
          <p:sp>
            <p:nvSpPr>
              <p:cNvPr id="248" name="TextBox 248"/>
              <p:cNvSpPr txBox="1"/>
              <p:nvPr/>
            </p:nvSpPr>
            <p:spPr>
              <a:xfrm>
                <a:off x="6453188" y="3606641"/>
                <a:ext cx="514828"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核心举措​</a:t>
                </a:r>
              </a:p>
            </p:txBody>
          </p:sp>
          <p:sp>
            <p:nvSpPr>
              <p:cNvPr id="249" name="TextBox 249"/>
              <p:cNvSpPr txBox="1"/>
              <p:nvPr/>
            </p:nvSpPr>
            <p:spPr>
              <a:xfrm>
                <a:off x="6891338" y="3599736"/>
                <a:ext cx="1839886"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1. 消费场景精准获客(家装/汽车/教育等)​</a:t>
                </a:r>
              </a:p>
            </p:txBody>
          </p:sp>
          <p:sp>
            <p:nvSpPr>
              <p:cNvPr id="250" name="TextBox 250"/>
              <p:cNvSpPr txBox="1"/>
              <p:nvPr/>
            </p:nvSpPr>
            <p:spPr>
              <a:xfrm>
                <a:off x="6891338" y="3723561"/>
                <a:ext cx="1438449"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2. 存量客户交叉授信与额度提升​</a:t>
                </a:r>
              </a:p>
            </p:txBody>
          </p:sp>
          <p:sp>
            <p:nvSpPr>
              <p:cNvPr id="251" name="TextBox 251"/>
              <p:cNvSpPr txBox="1"/>
              <p:nvPr/>
            </p:nvSpPr>
            <p:spPr>
              <a:xfrm>
                <a:off x="6891338" y="3847386"/>
                <a:ext cx="1777759"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3. 线上线下联动营销（平台导流+厅堂）​</a:t>
                </a:r>
              </a:p>
            </p:txBody>
          </p:sp>
          <p:sp>
            <p:nvSpPr>
              <p:cNvPr id="252" name="TextBox 252"/>
              <p:cNvSpPr txBox="1"/>
              <p:nvPr/>
            </p:nvSpPr>
            <p:spPr>
              <a:xfrm>
                <a:off x="6891338" y="3971211"/>
                <a:ext cx="1247289"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4. 简化流程、提升审批时效​</a:t>
                </a:r>
              </a:p>
            </p:txBody>
          </p:sp>
          <p:sp>
            <p:nvSpPr>
              <p:cNvPr id="253" name="TextBox 253"/>
              <p:cNvSpPr txBox="1"/>
              <p:nvPr/>
            </p:nvSpPr>
            <p:spPr>
              <a:xfrm>
                <a:off x="6453188" y="4273391"/>
                <a:ext cx="404440"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责任人​</a:t>
                </a:r>
              </a:p>
            </p:txBody>
          </p:sp>
          <p:sp>
            <p:nvSpPr>
              <p:cNvPr id="254" name="TextBox 254"/>
              <p:cNvSpPr txBox="1"/>
              <p:nvPr/>
            </p:nvSpPr>
            <p:spPr>
              <a:xfrm>
                <a:off x="6891338" y="4224338"/>
                <a:ext cx="1842040" cy="147638"/>
              </a:xfrm>
              <a:prstGeom prst="rect">
                <a:avLst/>
              </a:prstGeom>
              <a:noFill/>
              <a:ln>
                <a:noFill/>
              </a:ln>
            </p:spPr>
            <p:txBody>
              <a:bodyPr wrap="none" lIns="0" tIns="0" rIns="0" bIns="0" anchor="t" anchorCtr="0">
                <a:spAutoFit/>
              </a:bodyPr>
              <a:lstStyle/>
              <a:p>
                <a:pPr algn="l"/>
                <a:r>
                  <a:rPr lang="zh-CN" sz="750" dirty="0">
                    <a:solidFill>
                      <a:srgbClr val="4A3D3A"/>
                    </a:solidFill>
                    <a:latin typeface="+mn-lt"/>
                    <a:ea typeface="+mn-ea"/>
                    <a:cs typeface="+mn-cs"/>
                  </a:rPr>
                  <a:t>信贷负责人：刘洋 ｜ 风险负责人：赵明​</a:t>
                </a:r>
              </a:p>
            </p:txBody>
          </p:sp>
          <p:sp>
            <p:nvSpPr>
              <p:cNvPr id="255" name="Ellipse 255"/>
              <p:cNvSpPr/>
              <p:nvPr/>
            </p:nvSpPr>
            <p:spPr>
              <a:xfrm>
                <a:off x="6772275" y="4562475"/>
                <a:ext cx="95250" cy="95250"/>
              </a:xfrm>
              <a:prstGeom prst="ellipse">
                <a:avLst/>
              </a:prstGeom>
              <a:solidFill>
                <a:srgbClr val="9E402E"/>
              </a:solidFill>
              <a:ln>
                <a:noFill/>
              </a:ln>
            </p:spPr>
          </p:sp>
          <p:sp>
            <p:nvSpPr>
              <p:cNvPr id="256" name="TextBox 256"/>
              <p:cNvSpPr txBox="1"/>
              <p:nvPr/>
            </p:nvSpPr>
            <p:spPr>
              <a:xfrm>
                <a:off x="6929438" y="4563189"/>
                <a:ext cx="1025166"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绿色（按计划推进）​</a:t>
                </a:r>
              </a:p>
            </p:txBody>
          </p:sp>
        </p:grpSp>
        <p:grpSp>
          <p:nvGrpSpPr>
            <p:cNvPr id="281" name="battle-4"/>
            <p:cNvGrpSpPr/>
            <p:nvPr/>
          </p:nvGrpSpPr>
          <p:grpSpPr>
            <a:xfrm>
              <a:off x="9124950" y="2914650"/>
              <a:ext cx="2743200" cy="1905000"/>
              <a:chOff x="9124950" y="2914650"/>
              <a:chExt cx="2743200" cy="1905000"/>
            </a:xfrm>
          </p:grpSpPr>
          <p:sp>
            <p:nvSpPr>
              <p:cNvPr id="258" name="Rectangle 258"/>
              <p:cNvSpPr/>
              <p:nvPr/>
            </p:nvSpPr>
            <p:spPr>
              <a:xfrm>
                <a:off x="9124950" y="2914650"/>
                <a:ext cx="2743200" cy="1905000"/>
              </a:xfrm>
              <a:prstGeom prst="roundRect">
                <a:avLst>
                  <a:gd name="adj" fmla="val 4000"/>
                </a:avLst>
              </a:prstGeom>
              <a:solidFill>
                <a:srgbClr val="F5FAF8"/>
              </a:solidFill>
              <a:ln w="9525">
                <a:solidFill>
                  <a:srgbClr val="D9E8E2"/>
                </a:solidFill>
              </a:ln>
            </p:spPr>
          </p:sp>
          <p:sp>
            <p:nvSpPr>
              <p:cNvPr id="259" name="Rectangle 259"/>
              <p:cNvSpPr/>
              <p:nvPr/>
            </p:nvSpPr>
            <p:spPr>
              <a:xfrm>
                <a:off x="9124950" y="2914650"/>
                <a:ext cx="2743200" cy="381000"/>
              </a:xfrm>
              <a:prstGeom prst="roundRect">
                <a:avLst>
                  <a:gd name="adj" fmla="val 20000"/>
                </a:avLst>
              </a:prstGeom>
              <a:gradFill>
                <a:gsLst>
                  <a:gs pos="0">
                    <a:srgbClr val="5B180B"/>
                  </a:gs>
                  <a:gs pos="100000">
                    <a:srgbClr val="9A412F"/>
                  </a:gs>
                </a:gsLst>
                <a:lin ang="0" scaled="1"/>
              </a:gradFill>
              <a:ln>
                <a:noFill/>
              </a:ln>
            </p:spPr>
          </p:sp>
          <p:grpSp>
            <p:nvGrpSpPr>
              <p:cNvPr id="266" name="Group 266"/>
              <p:cNvGrpSpPr/>
              <p:nvPr/>
            </p:nvGrpSpPr>
            <p:grpSpPr>
              <a:xfrm>
                <a:off x="9265444" y="3026569"/>
                <a:ext cx="157162" cy="157163"/>
                <a:chOff x="9265444" y="3026569"/>
                <a:chExt cx="157162" cy="157163"/>
              </a:xfrm>
            </p:grpSpPr>
            <p:sp>
              <p:nvSpPr>
                <p:cNvPr id="260" name="Freeform 260"/>
                <p:cNvSpPr/>
                <p:nvPr/>
              </p:nvSpPr>
              <p:spPr>
                <a:xfrm>
                  <a:off x="9326563" y="30964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261" name="Freeform 261"/>
                <p:cNvSpPr/>
                <p:nvPr/>
              </p:nvSpPr>
              <p:spPr>
                <a:xfrm>
                  <a:off x="9309100" y="3157538"/>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FFFFFF"/>
                  </a:solidFill>
                </a:ln>
              </p:spPr>
            </p:sp>
            <p:sp>
              <p:nvSpPr>
                <p:cNvPr id="262" name="Freeform 262"/>
                <p:cNvSpPr/>
                <p:nvPr/>
              </p:nvSpPr>
              <p:spPr>
                <a:xfrm>
                  <a:off x="9370219" y="302656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263" name="Freeform 263"/>
                <p:cNvSpPr/>
                <p:nvPr/>
              </p:nvSpPr>
              <p:spPr>
                <a:xfrm>
                  <a:off x="9387681" y="3087688"/>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FFFFFF"/>
                  </a:solidFill>
                </a:ln>
              </p:spPr>
            </p:sp>
            <p:sp>
              <p:nvSpPr>
                <p:cNvPr id="264" name="Freeform 264"/>
                <p:cNvSpPr/>
                <p:nvPr/>
              </p:nvSpPr>
              <p:spPr>
                <a:xfrm>
                  <a:off x="9282906" y="302656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265" name="Freeform 265"/>
                <p:cNvSpPr/>
                <p:nvPr/>
              </p:nvSpPr>
              <p:spPr>
                <a:xfrm>
                  <a:off x="9265444" y="3087688"/>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FFFFFF"/>
                  </a:solidFill>
                </a:ln>
              </p:spPr>
            </p:sp>
          </p:grpSp>
          <p:sp>
            <p:nvSpPr>
              <p:cNvPr id="267" name="TextBox 267"/>
              <p:cNvSpPr txBox="1"/>
              <p:nvPr/>
            </p:nvSpPr>
            <p:spPr>
              <a:xfrm>
                <a:off x="9538335" y="2964656"/>
                <a:ext cx="7016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场景拓客​</a:t>
                </a:r>
              </a:p>
            </p:txBody>
          </p:sp>
          <p:sp>
            <p:nvSpPr>
              <p:cNvPr id="268" name="TextBox 268"/>
              <p:cNvSpPr txBox="1"/>
              <p:nvPr/>
            </p:nvSpPr>
            <p:spPr>
              <a:xfrm>
                <a:off x="9539288" y="3161586"/>
                <a:ext cx="1304637" cy="140494"/>
              </a:xfrm>
              <a:prstGeom prst="rect">
                <a:avLst/>
              </a:prstGeom>
              <a:noFill/>
              <a:ln>
                <a:noFill/>
              </a:ln>
            </p:spPr>
            <p:txBody>
              <a:bodyPr wrap="none" lIns="0" tIns="0" rIns="0" bIns="0" anchor="t" anchorCtr="0">
                <a:spAutoFit/>
              </a:bodyPr>
              <a:lstStyle/>
              <a:p>
                <a:pPr algn="l"/>
                <a:r>
                  <a:rPr lang="zh-CN" sz="710" dirty="0">
                    <a:solidFill>
                      <a:srgbClr val="DFF0EB"/>
                    </a:solidFill>
                    <a:latin typeface="+mn-lt"/>
                    <a:ea typeface="+mn-ea"/>
                    <a:cs typeface="+mn-cs"/>
                  </a:rPr>
                  <a:t>深耕高频场景，构建生态获客​</a:t>
                </a:r>
              </a:p>
            </p:txBody>
          </p:sp>
          <p:sp>
            <p:nvSpPr>
              <p:cNvPr id="269" name="TextBox 269"/>
              <p:cNvSpPr txBox="1"/>
              <p:nvPr/>
            </p:nvSpPr>
            <p:spPr>
              <a:xfrm>
                <a:off x="9253538" y="3397091"/>
                <a:ext cx="294051"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目标​</a:t>
                </a:r>
              </a:p>
            </p:txBody>
          </p:sp>
          <p:sp>
            <p:nvSpPr>
              <p:cNvPr id="270" name="TextBox 270"/>
              <p:cNvSpPr txBox="1"/>
              <p:nvPr/>
            </p:nvSpPr>
            <p:spPr>
              <a:xfrm>
                <a:off x="9691688" y="3397091"/>
                <a:ext cx="1154253" cy="161925"/>
              </a:xfrm>
              <a:prstGeom prst="rect">
                <a:avLst/>
              </a:prstGeom>
              <a:noFill/>
              <a:ln>
                <a:noFill/>
              </a:ln>
            </p:spPr>
            <p:txBody>
              <a:bodyPr wrap="none" lIns="0" tIns="0" rIns="0" bIns="0" anchor="t" anchorCtr="0">
                <a:spAutoFit/>
              </a:bodyPr>
              <a:lstStyle/>
              <a:p>
                <a:pPr algn="l"/>
                <a:r>
                  <a:rPr lang="zh-CN" sz="820" dirty="0">
                    <a:solidFill>
                      <a:srgbClr val="312624"/>
                    </a:solidFill>
                    <a:latin typeface="+mn-lt"/>
                    <a:ea typeface="+mn-ea"/>
                    <a:cs typeface="+mn-cs"/>
                  </a:rPr>
                  <a:t xml:space="preserve">重点产品达标率 </a:t>
                </a:r>
                <a:r>
                  <a:rPr lang="zh-CN" sz="820" b="1" dirty="0">
                    <a:solidFill>
                      <a:srgbClr val="5B180B"/>
                    </a:solidFill>
                    <a:latin typeface="+mn-lt"/>
                    <a:ea typeface="+mn-ea"/>
                    <a:cs typeface="+mn-cs"/>
                  </a:rPr>
                  <a:t>≥95%</a:t>
                </a:r>
                <a:r>
                  <a:rPr lang="zh-CN" sz="820" dirty="0">
                    <a:solidFill>
                      <a:srgbClr val="312624"/>
                    </a:solidFill>
                    <a:latin typeface="+mn-lt"/>
                    <a:ea typeface="+mn-ea"/>
                    <a:cs typeface="+mn-cs"/>
                  </a:rPr>
                  <a:t>​</a:t>
                </a:r>
              </a:p>
            </p:txBody>
          </p:sp>
          <p:sp>
            <p:nvSpPr>
              <p:cNvPr id="271" name="TextBox 271"/>
              <p:cNvSpPr txBox="1"/>
              <p:nvPr/>
            </p:nvSpPr>
            <p:spPr>
              <a:xfrm>
                <a:off x="9253538" y="3606641"/>
                <a:ext cx="514828"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核心举措​</a:t>
                </a:r>
              </a:p>
            </p:txBody>
          </p:sp>
          <p:sp>
            <p:nvSpPr>
              <p:cNvPr id="272" name="TextBox 272"/>
              <p:cNvSpPr txBox="1"/>
              <p:nvPr/>
            </p:nvSpPr>
            <p:spPr>
              <a:xfrm>
                <a:off x="9691688" y="3599736"/>
                <a:ext cx="1820770"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1. 工资代发、社保医保、校园等场景拓展​</a:t>
                </a:r>
              </a:p>
            </p:txBody>
          </p:sp>
          <p:sp>
            <p:nvSpPr>
              <p:cNvPr id="273" name="TextBox 273"/>
              <p:cNvSpPr txBox="1"/>
              <p:nvPr/>
            </p:nvSpPr>
            <p:spPr>
              <a:xfrm>
                <a:off x="9691688" y="3723561"/>
                <a:ext cx="1448007"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2. 商圈/社区/企业园区联合营销​</a:t>
                </a:r>
              </a:p>
            </p:txBody>
          </p:sp>
          <p:sp>
            <p:nvSpPr>
              <p:cNvPr id="274" name="TextBox 274"/>
              <p:cNvSpPr txBox="1"/>
              <p:nvPr/>
            </p:nvSpPr>
            <p:spPr>
              <a:xfrm>
                <a:off x="9691688" y="3847386"/>
                <a:ext cx="1777759"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3. 数字化渠道引流（手机银行/小程序）​</a:t>
                </a:r>
              </a:p>
            </p:txBody>
          </p:sp>
          <p:sp>
            <p:nvSpPr>
              <p:cNvPr id="275" name="TextBox 275"/>
              <p:cNvSpPr txBox="1"/>
              <p:nvPr/>
            </p:nvSpPr>
            <p:spPr>
              <a:xfrm>
                <a:off x="9691688" y="3971211"/>
                <a:ext cx="960548"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4. 重点产品捆绑推广​</a:t>
                </a:r>
              </a:p>
            </p:txBody>
          </p:sp>
          <p:sp>
            <p:nvSpPr>
              <p:cNvPr id="276" name="TextBox 276"/>
              <p:cNvSpPr txBox="1"/>
              <p:nvPr/>
            </p:nvSpPr>
            <p:spPr>
              <a:xfrm>
                <a:off x="9691688" y="4095036"/>
                <a:ext cx="1123034" cy="140494"/>
              </a:xfrm>
              <a:prstGeom prst="rect">
                <a:avLst/>
              </a:prstGeom>
              <a:noFill/>
              <a:ln>
                <a:noFill/>
              </a:ln>
            </p:spPr>
            <p:txBody>
              <a:bodyPr wrap="none" lIns="0" tIns="0" rIns="0" bIns="0" anchor="t" anchorCtr="0">
                <a:spAutoFit/>
              </a:bodyPr>
              <a:lstStyle/>
              <a:p>
                <a:pPr algn="l"/>
                <a:r>
                  <a:rPr lang="zh-CN" sz="710" dirty="0">
                    <a:solidFill>
                      <a:srgbClr val="4A3D3A"/>
                    </a:solidFill>
                    <a:latin typeface="+mn-lt"/>
                    <a:ea typeface="+mn-ea"/>
                    <a:cs typeface="+mn-cs"/>
                  </a:rPr>
                  <a:t>（借记卡+信用卡+支付）​</a:t>
                </a:r>
              </a:p>
            </p:txBody>
          </p:sp>
          <p:sp>
            <p:nvSpPr>
              <p:cNvPr id="277" name="TextBox 277"/>
              <p:cNvSpPr txBox="1"/>
              <p:nvPr/>
            </p:nvSpPr>
            <p:spPr>
              <a:xfrm>
                <a:off x="9253538" y="4273391"/>
                <a:ext cx="404440"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责任人​</a:t>
                </a:r>
              </a:p>
            </p:txBody>
          </p:sp>
          <p:sp>
            <p:nvSpPr>
              <p:cNvPr id="278" name="TextBox 278"/>
              <p:cNvSpPr txBox="1"/>
              <p:nvPr/>
            </p:nvSpPr>
            <p:spPr>
              <a:xfrm>
                <a:off x="9691688" y="4224338"/>
                <a:ext cx="1842040" cy="147638"/>
              </a:xfrm>
              <a:prstGeom prst="rect">
                <a:avLst/>
              </a:prstGeom>
              <a:noFill/>
              <a:ln>
                <a:noFill/>
              </a:ln>
            </p:spPr>
            <p:txBody>
              <a:bodyPr wrap="none" lIns="0" tIns="0" rIns="0" bIns="0" anchor="t" anchorCtr="0">
                <a:spAutoFit/>
              </a:bodyPr>
              <a:lstStyle/>
              <a:p>
                <a:pPr algn="l"/>
                <a:r>
                  <a:rPr lang="zh-CN" sz="750" dirty="0">
                    <a:solidFill>
                      <a:srgbClr val="4A3D3A"/>
                    </a:solidFill>
                    <a:latin typeface="+mn-lt"/>
                    <a:ea typeface="+mn-ea"/>
                    <a:cs typeface="+mn-cs"/>
                  </a:rPr>
                  <a:t>渠道负责人：孙丽 ｜ 运营负责人：周航​</a:t>
                </a:r>
              </a:p>
            </p:txBody>
          </p:sp>
          <p:sp>
            <p:nvSpPr>
              <p:cNvPr id="279" name="Ellipse 279"/>
              <p:cNvSpPr/>
              <p:nvPr/>
            </p:nvSpPr>
            <p:spPr>
              <a:xfrm>
                <a:off x="9572625" y="4562475"/>
                <a:ext cx="95250" cy="95250"/>
              </a:xfrm>
              <a:prstGeom prst="ellipse">
                <a:avLst/>
              </a:prstGeom>
              <a:solidFill>
                <a:srgbClr val="D93D22"/>
              </a:solidFill>
              <a:ln>
                <a:noFill/>
              </a:ln>
            </p:spPr>
          </p:sp>
          <p:sp>
            <p:nvSpPr>
              <p:cNvPr id="280" name="TextBox 280"/>
              <p:cNvSpPr txBox="1"/>
              <p:nvPr/>
            </p:nvSpPr>
            <p:spPr>
              <a:xfrm>
                <a:off x="9729788" y="4563189"/>
                <a:ext cx="1025166"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黄色（需加快推进）​</a:t>
                </a:r>
              </a:p>
            </p:txBody>
          </p:sp>
        </p:grpSp>
      </p:grpSp>
      <p:grpSp>
        <p:nvGrpSpPr>
          <p:cNvPr id="338" name="month-rhythm"/>
          <p:cNvGrpSpPr/>
          <p:nvPr/>
        </p:nvGrpSpPr>
        <p:grpSpPr>
          <a:xfrm>
            <a:off x="228600" y="5029200"/>
            <a:ext cx="11715750" cy="1714500"/>
            <a:chOff x="228600" y="5029200"/>
            <a:chExt cx="11715750" cy="1714500"/>
          </a:xfrm>
        </p:grpSpPr>
        <p:sp>
          <p:nvSpPr>
            <p:cNvPr id="283" name="Rectangle 283"/>
            <p:cNvSpPr/>
            <p:nvPr/>
          </p:nvSpPr>
          <p:spPr>
            <a:xfrm>
              <a:off x="228600" y="5029200"/>
              <a:ext cx="381000" cy="1619250"/>
            </a:xfrm>
            <a:prstGeom prst="roundRect">
              <a:avLst>
                <a:gd name="adj" fmla="val 15000"/>
              </a:avLst>
            </a:prstGeom>
            <a:solidFill>
              <a:srgbClr val="5B180B"/>
            </a:solidFill>
            <a:ln>
              <a:noFill/>
            </a:ln>
          </p:spPr>
        </p:sp>
        <p:sp>
          <p:nvSpPr>
            <p:cNvPr id="284" name="TextBox 284"/>
            <p:cNvSpPr txBox="1"/>
            <p:nvPr/>
          </p:nvSpPr>
          <p:spPr>
            <a:xfrm>
              <a:off x="302275" y="523970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三​</a:t>
              </a:r>
            </a:p>
          </p:txBody>
        </p:sp>
        <p:sp>
          <p:nvSpPr>
            <p:cNvPr id="285" name="TextBox 285"/>
            <p:cNvSpPr txBox="1"/>
            <p:nvPr/>
          </p:nvSpPr>
          <p:spPr>
            <a:xfrm>
              <a:off x="302275" y="546830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个​</a:t>
              </a:r>
            </a:p>
          </p:txBody>
        </p:sp>
        <p:sp>
          <p:nvSpPr>
            <p:cNvPr id="286" name="TextBox 286"/>
            <p:cNvSpPr txBox="1"/>
            <p:nvPr/>
          </p:nvSpPr>
          <p:spPr>
            <a:xfrm>
              <a:off x="302275" y="569690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月​</a:t>
              </a:r>
            </a:p>
          </p:txBody>
        </p:sp>
        <p:sp>
          <p:nvSpPr>
            <p:cNvPr id="287" name="TextBox 287"/>
            <p:cNvSpPr txBox="1"/>
            <p:nvPr/>
          </p:nvSpPr>
          <p:spPr>
            <a:xfrm>
              <a:off x="302275" y="592550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作​</a:t>
              </a:r>
            </a:p>
          </p:txBody>
        </p:sp>
        <p:sp>
          <p:nvSpPr>
            <p:cNvPr id="288" name="TextBox 288"/>
            <p:cNvSpPr txBox="1"/>
            <p:nvPr/>
          </p:nvSpPr>
          <p:spPr>
            <a:xfrm>
              <a:off x="302275" y="615410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战​</a:t>
              </a:r>
            </a:p>
          </p:txBody>
        </p:sp>
        <p:sp>
          <p:nvSpPr>
            <p:cNvPr id="289" name="TextBox 289"/>
            <p:cNvSpPr txBox="1"/>
            <p:nvPr/>
          </p:nvSpPr>
          <p:spPr>
            <a:xfrm>
              <a:off x="302275" y="6382702"/>
              <a:ext cx="2336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奏​</a:t>
              </a:r>
            </a:p>
          </p:txBody>
        </p:sp>
        <p:sp>
          <p:nvSpPr>
            <p:cNvPr id="290" name="Freeform 290"/>
            <p:cNvSpPr/>
            <p:nvPr/>
          </p:nvSpPr>
          <p:spPr>
            <a:xfrm>
              <a:off x="723900" y="5029200"/>
              <a:ext cx="3676650" cy="342900"/>
            </a:xfrm>
            <a:prstGeom prst="homePlate">
              <a:avLst>
                <a:gd name="adj" fmla="val 20000"/>
              </a:avLst>
            </a:prstGeom>
            <a:solidFill>
              <a:srgbClr val="5B180B"/>
            </a:solidFill>
            <a:ln>
              <a:noFill/>
            </a:ln>
          </p:spPr>
        </p:sp>
        <p:sp>
          <p:nvSpPr>
            <p:cNvPr id="291" name="TextBox 291"/>
            <p:cNvSpPr txBox="1"/>
            <p:nvPr/>
          </p:nvSpPr>
          <p:spPr>
            <a:xfrm>
              <a:off x="1061656" y="5148501"/>
              <a:ext cx="381815"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10月​</a:t>
              </a:r>
            </a:p>
          </p:txBody>
        </p:sp>
        <p:sp>
          <p:nvSpPr>
            <p:cNvPr id="292" name="TextBox 292"/>
            <p:cNvSpPr txBox="1"/>
            <p:nvPr/>
          </p:nvSpPr>
          <p:spPr>
            <a:xfrm>
              <a:off x="1557338" y="5160645"/>
              <a:ext cx="942442" cy="176212"/>
            </a:xfrm>
            <a:prstGeom prst="rect">
              <a:avLst/>
            </a:prstGeom>
            <a:noFill/>
            <a:ln>
              <a:noFill/>
            </a:ln>
          </p:spPr>
          <p:txBody>
            <a:bodyPr wrap="none" lIns="0" tIns="0" rIns="0" bIns="0" anchor="t" anchorCtr="0">
              <a:spAutoFit/>
            </a:bodyPr>
            <a:lstStyle/>
            <a:p>
              <a:pPr algn="l"/>
              <a:r>
                <a:rPr lang="zh-CN" sz="900" dirty="0">
                  <a:solidFill>
                    <a:srgbClr val="DFF0EB"/>
                  </a:solidFill>
                  <a:latin typeface="+mn-lt"/>
                  <a:ea typeface="+mn-ea"/>
                  <a:cs typeface="+mn-cs"/>
                </a:rPr>
                <a:t>夯基础 · 快启动​</a:t>
              </a:r>
            </a:p>
          </p:txBody>
        </p:sp>
        <p:sp>
          <p:nvSpPr>
            <p:cNvPr id="293" name="Rectangle 293"/>
            <p:cNvSpPr/>
            <p:nvPr/>
          </p:nvSpPr>
          <p:spPr>
            <a:xfrm>
              <a:off x="723900" y="5448300"/>
              <a:ext cx="3676650" cy="1295400"/>
            </a:xfrm>
            <a:prstGeom prst="roundRect">
              <a:avLst>
                <a:gd name="adj" fmla="val 5882"/>
              </a:avLst>
            </a:prstGeom>
            <a:solidFill>
              <a:srgbClr val="F5FAF8"/>
            </a:solidFill>
            <a:ln w="9525">
              <a:solidFill>
                <a:srgbClr val="D9E8E2"/>
              </a:solidFill>
            </a:ln>
          </p:spPr>
        </p:sp>
        <p:sp>
          <p:nvSpPr>
            <p:cNvPr id="294" name="Ellipse 294"/>
            <p:cNvSpPr/>
            <p:nvPr/>
          </p:nvSpPr>
          <p:spPr>
            <a:xfrm>
              <a:off x="838200" y="5581650"/>
              <a:ext cx="114300" cy="114300"/>
            </a:xfrm>
            <a:prstGeom prst="ellipse">
              <a:avLst/>
            </a:prstGeom>
            <a:noFill/>
            <a:ln w="14288">
              <a:solidFill>
                <a:srgbClr val="9E402E"/>
              </a:solidFill>
            </a:ln>
          </p:spPr>
        </p:sp>
        <p:sp>
          <p:nvSpPr>
            <p:cNvPr id="295" name="Freeform 295"/>
            <p:cNvSpPr/>
            <p:nvPr/>
          </p:nvSpPr>
          <p:spPr>
            <a:xfrm>
              <a:off x="866775" y="5614988"/>
              <a:ext cx="61912" cy="47625"/>
            </a:xfrm>
            <a:custGeom>
              <a:avLst/>
              <a:gdLst/>
              <a:ahLst/>
              <a:cxnLst/>
              <a:rect l="l" t="t" r="r" b="b"/>
              <a:pathLst>
                <a:path w="61912" h="47625">
                  <a:moveTo>
                    <a:pt x="0" y="23812"/>
                  </a:moveTo>
                  <a:lnTo>
                    <a:pt x="23812" y="47625"/>
                  </a:lnTo>
                  <a:lnTo>
                    <a:pt x="61912" y="0"/>
                  </a:lnTo>
                </a:path>
              </a:pathLst>
            </a:custGeom>
            <a:noFill/>
            <a:ln w="14288">
              <a:solidFill>
                <a:srgbClr val="9E402E"/>
              </a:solidFill>
            </a:ln>
          </p:spPr>
        </p:sp>
        <p:sp>
          <p:nvSpPr>
            <p:cNvPr id="296" name="TextBox 296"/>
            <p:cNvSpPr txBox="1"/>
            <p:nvPr/>
          </p:nvSpPr>
          <p:spPr>
            <a:xfrm>
              <a:off x="1004888" y="5591889"/>
              <a:ext cx="1450565"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完成客户清单梳理与目标分解​</a:t>
              </a:r>
            </a:p>
          </p:txBody>
        </p:sp>
        <p:sp>
          <p:nvSpPr>
            <p:cNvPr id="297" name="Ellipse 297"/>
            <p:cNvSpPr/>
            <p:nvPr/>
          </p:nvSpPr>
          <p:spPr>
            <a:xfrm>
              <a:off x="838200" y="5810250"/>
              <a:ext cx="114300" cy="114300"/>
            </a:xfrm>
            <a:prstGeom prst="ellipse">
              <a:avLst/>
            </a:prstGeom>
            <a:noFill/>
            <a:ln w="14288">
              <a:solidFill>
                <a:srgbClr val="9E402E"/>
              </a:solidFill>
            </a:ln>
          </p:spPr>
        </p:sp>
        <p:sp>
          <p:nvSpPr>
            <p:cNvPr id="298" name="Freeform 298"/>
            <p:cNvSpPr/>
            <p:nvPr/>
          </p:nvSpPr>
          <p:spPr>
            <a:xfrm>
              <a:off x="866775" y="5843588"/>
              <a:ext cx="61912" cy="47625"/>
            </a:xfrm>
            <a:custGeom>
              <a:avLst/>
              <a:gdLst/>
              <a:ahLst/>
              <a:cxnLst/>
              <a:rect l="l" t="t" r="r" b="b"/>
              <a:pathLst>
                <a:path w="61912" h="47625">
                  <a:moveTo>
                    <a:pt x="0" y="23812"/>
                  </a:moveTo>
                  <a:lnTo>
                    <a:pt x="23812" y="47625"/>
                  </a:lnTo>
                  <a:lnTo>
                    <a:pt x="61912" y="0"/>
                  </a:lnTo>
                </a:path>
              </a:pathLst>
            </a:custGeom>
            <a:noFill/>
            <a:ln w="14288">
              <a:solidFill>
                <a:srgbClr val="9E402E"/>
              </a:solidFill>
            </a:ln>
          </p:spPr>
        </p:sp>
        <p:sp>
          <p:nvSpPr>
            <p:cNvPr id="299" name="TextBox 299"/>
            <p:cNvSpPr txBox="1"/>
            <p:nvPr/>
          </p:nvSpPr>
          <p:spPr>
            <a:xfrm>
              <a:off x="1004888" y="5820489"/>
              <a:ext cx="1663264"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重点客户首轮覆盖，存量客户唤醒​</a:t>
              </a:r>
            </a:p>
          </p:txBody>
        </p:sp>
        <p:sp>
          <p:nvSpPr>
            <p:cNvPr id="300" name="Ellipse 300"/>
            <p:cNvSpPr/>
            <p:nvPr/>
          </p:nvSpPr>
          <p:spPr>
            <a:xfrm>
              <a:off x="838200" y="6038850"/>
              <a:ext cx="114300" cy="114300"/>
            </a:xfrm>
            <a:prstGeom prst="ellipse">
              <a:avLst/>
            </a:prstGeom>
            <a:noFill/>
            <a:ln w="14288">
              <a:solidFill>
                <a:srgbClr val="9E402E"/>
              </a:solidFill>
            </a:ln>
          </p:spPr>
        </p:sp>
        <p:sp>
          <p:nvSpPr>
            <p:cNvPr id="301" name="Freeform 301"/>
            <p:cNvSpPr/>
            <p:nvPr/>
          </p:nvSpPr>
          <p:spPr>
            <a:xfrm>
              <a:off x="866775" y="6072188"/>
              <a:ext cx="61912" cy="47625"/>
            </a:xfrm>
            <a:custGeom>
              <a:avLst/>
              <a:gdLst/>
              <a:ahLst/>
              <a:cxnLst/>
              <a:rect l="l" t="t" r="r" b="b"/>
              <a:pathLst>
                <a:path w="61912" h="47625">
                  <a:moveTo>
                    <a:pt x="0" y="23812"/>
                  </a:moveTo>
                  <a:lnTo>
                    <a:pt x="23812" y="47625"/>
                  </a:lnTo>
                  <a:lnTo>
                    <a:pt x="61912" y="0"/>
                  </a:lnTo>
                </a:path>
              </a:pathLst>
            </a:custGeom>
            <a:noFill/>
            <a:ln w="14288">
              <a:solidFill>
                <a:srgbClr val="9E402E"/>
              </a:solidFill>
            </a:ln>
          </p:spPr>
        </p:sp>
        <p:sp>
          <p:nvSpPr>
            <p:cNvPr id="302" name="TextBox 302"/>
            <p:cNvSpPr txBox="1"/>
            <p:nvPr/>
          </p:nvSpPr>
          <p:spPr>
            <a:xfrm>
              <a:off x="1004888" y="6049089"/>
              <a:ext cx="1450565"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启动专项营销活动与场景合作​</a:t>
              </a:r>
            </a:p>
          </p:txBody>
        </p:sp>
        <p:sp>
          <p:nvSpPr>
            <p:cNvPr id="303" name="TextBox 303"/>
            <p:cNvSpPr txBox="1"/>
            <p:nvPr/>
          </p:nvSpPr>
          <p:spPr>
            <a:xfrm>
              <a:off x="890588" y="6258639"/>
              <a:ext cx="709041" cy="154781"/>
            </a:xfrm>
            <a:prstGeom prst="rect">
              <a:avLst/>
            </a:prstGeom>
            <a:noFill/>
            <a:ln>
              <a:noFill/>
            </a:ln>
          </p:spPr>
          <p:txBody>
            <a:bodyPr wrap="none" lIns="0" tIns="0" rIns="0" bIns="0" anchor="t" anchorCtr="0">
              <a:spAutoFit/>
            </a:bodyPr>
            <a:lstStyle/>
            <a:p>
              <a:pPr algn="l"/>
              <a:r>
                <a:rPr lang="zh-CN" sz="790" b="1" dirty="0">
                  <a:solidFill>
                    <a:srgbClr val="5B180B"/>
                  </a:solidFill>
                  <a:latin typeface="+mn-lt"/>
                  <a:ea typeface="+mn-ea"/>
                  <a:cs typeface="+mn-cs"/>
                </a:rPr>
                <a:t>月度重点目标​</a:t>
              </a:r>
            </a:p>
          </p:txBody>
        </p:sp>
        <p:sp>
          <p:nvSpPr>
            <p:cNvPr id="304" name="TextBox 304"/>
            <p:cNvSpPr txBox="1"/>
            <p:nvPr/>
          </p:nvSpPr>
          <p:spPr>
            <a:xfrm>
              <a:off x="890588" y="6434138"/>
              <a:ext cx="2421698" cy="147638"/>
            </a:xfrm>
            <a:prstGeom prst="rect">
              <a:avLst/>
            </a:prstGeom>
            <a:noFill/>
            <a:ln>
              <a:noFill/>
            </a:ln>
          </p:spPr>
          <p:txBody>
            <a:bodyPr wrap="none" lIns="0" tIns="0" rIns="0" bIns="0" anchor="t" anchorCtr="0">
              <a:spAutoFit/>
            </a:bodyPr>
            <a:lstStyle/>
            <a:p>
              <a:pPr algn="l"/>
              <a:r>
                <a:rPr lang="zh-CN" sz="750" dirty="0">
                  <a:solidFill>
                    <a:srgbClr val="312624"/>
                  </a:solidFill>
                  <a:latin typeface="+mn-lt"/>
                  <a:ea typeface="+mn-ea"/>
                  <a:cs typeface="+mn-cs"/>
                </a:rPr>
                <a:t xml:space="preserve">存款 </a:t>
              </a:r>
              <a:r>
                <a:rPr lang="zh-CN" sz="750" b="1" dirty="0">
                  <a:solidFill>
                    <a:srgbClr val="5B180B"/>
                  </a:solidFill>
                  <a:latin typeface="+mn-lt"/>
                  <a:ea typeface="+mn-ea"/>
                  <a:cs typeface="+mn-cs"/>
                </a:rPr>
                <a:t>0.28</a:t>
              </a:r>
              <a:r>
                <a:rPr lang="zh-CN" sz="750" dirty="0">
                  <a:solidFill>
                    <a:srgbClr val="312624"/>
                  </a:solidFill>
                  <a:latin typeface="+mn-lt"/>
                  <a:ea typeface="+mn-ea"/>
                  <a:cs typeface="+mn-cs"/>
                </a:rPr>
                <a:t xml:space="preserve"> 亿元 ｜ AUM </a:t>
              </a:r>
              <a:r>
                <a:rPr lang="zh-CN" sz="750" b="1" dirty="0">
                  <a:solidFill>
                    <a:srgbClr val="5B180B"/>
                  </a:solidFill>
                  <a:latin typeface="+mn-lt"/>
                  <a:ea typeface="+mn-ea"/>
                  <a:cs typeface="+mn-cs"/>
                </a:rPr>
                <a:t>0.38</a:t>
              </a:r>
              <a:r>
                <a:rPr lang="zh-CN" sz="750" dirty="0">
                  <a:solidFill>
                    <a:srgbClr val="312624"/>
                  </a:solidFill>
                  <a:latin typeface="+mn-lt"/>
                  <a:ea typeface="+mn-ea"/>
                  <a:cs typeface="+mn-cs"/>
                </a:rPr>
                <a:t xml:space="preserve"> 亿元 ｜ 中收 </a:t>
              </a:r>
              <a:r>
                <a:rPr lang="zh-CN" sz="750" b="1" dirty="0">
                  <a:solidFill>
                    <a:srgbClr val="5B180B"/>
                  </a:solidFill>
                  <a:latin typeface="+mn-lt"/>
                  <a:ea typeface="+mn-ea"/>
                  <a:cs typeface="+mn-cs"/>
                </a:rPr>
                <a:t>120</a:t>
              </a:r>
              <a:r>
                <a:rPr lang="zh-CN" sz="750" dirty="0">
                  <a:solidFill>
                    <a:srgbClr val="312624"/>
                  </a:solidFill>
                  <a:latin typeface="+mn-lt"/>
                  <a:ea typeface="+mn-ea"/>
                  <a:cs typeface="+mn-cs"/>
                </a:rPr>
                <a:t xml:space="preserve"> 万元​</a:t>
              </a:r>
            </a:p>
          </p:txBody>
        </p:sp>
        <p:sp>
          <p:nvSpPr>
            <p:cNvPr id="305" name="TextBox 305"/>
            <p:cNvSpPr txBox="1"/>
            <p:nvPr/>
          </p:nvSpPr>
          <p:spPr>
            <a:xfrm>
              <a:off x="890588" y="6586538"/>
              <a:ext cx="2398104" cy="147638"/>
            </a:xfrm>
            <a:prstGeom prst="rect">
              <a:avLst/>
            </a:prstGeom>
            <a:noFill/>
            <a:ln>
              <a:noFill/>
            </a:ln>
          </p:spPr>
          <p:txBody>
            <a:bodyPr wrap="none" lIns="0" tIns="0" rIns="0" bIns="0" anchor="t" anchorCtr="0">
              <a:spAutoFit/>
            </a:bodyPr>
            <a:lstStyle/>
            <a:p>
              <a:pPr algn="l"/>
              <a:r>
                <a:rPr lang="zh-CN" sz="750" dirty="0">
                  <a:solidFill>
                    <a:srgbClr val="312624"/>
                  </a:solidFill>
                  <a:latin typeface="+mn-lt"/>
                  <a:ea typeface="+mn-ea"/>
                  <a:cs typeface="+mn-cs"/>
                </a:rPr>
                <a:t xml:space="preserve">消费贷 </a:t>
              </a:r>
              <a:r>
                <a:rPr lang="zh-CN" sz="750" b="1" dirty="0">
                  <a:solidFill>
                    <a:srgbClr val="5B180B"/>
                  </a:solidFill>
                  <a:latin typeface="+mn-lt"/>
                  <a:ea typeface="+mn-ea"/>
                  <a:cs typeface="+mn-cs"/>
                </a:rPr>
                <a:t>800</a:t>
              </a:r>
              <a:r>
                <a:rPr lang="zh-CN" sz="750" dirty="0">
                  <a:solidFill>
                    <a:srgbClr val="312624"/>
                  </a:solidFill>
                  <a:latin typeface="+mn-lt"/>
                  <a:ea typeface="+mn-ea"/>
                  <a:cs typeface="+mn-cs"/>
                </a:rPr>
                <a:t xml:space="preserve"> 万元 ｜ 新增客户 </a:t>
              </a:r>
              <a:r>
                <a:rPr lang="zh-CN" sz="750" b="1" dirty="0">
                  <a:solidFill>
                    <a:srgbClr val="5B180B"/>
                  </a:solidFill>
                  <a:latin typeface="+mn-lt"/>
                  <a:ea typeface="+mn-ea"/>
                  <a:cs typeface="+mn-cs"/>
                </a:rPr>
                <a:t>320</a:t>
              </a:r>
              <a:r>
                <a:rPr lang="zh-CN" sz="750" dirty="0">
                  <a:solidFill>
                    <a:srgbClr val="312624"/>
                  </a:solidFill>
                  <a:latin typeface="+mn-lt"/>
                  <a:ea typeface="+mn-ea"/>
                  <a:cs typeface="+mn-cs"/>
                </a:rPr>
                <a:t xml:space="preserve"> 户 ｜ 达标率 </a:t>
              </a:r>
              <a:r>
                <a:rPr lang="zh-CN" sz="750" b="1" dirty="0">
                  <a:solidFill>
                    <a:srgbClr val="5B180B"/>
                  </a:solidFill>
                  <a:latin typeface="+mn-lt"/>
                  <a:ea typeface="+mn-ea"/>
                  <a:cs typeface="+mn-cs"/>
                </a:rPr>
                <a:t>92%</a:t>
              </a:r>
              <a:r>
                <a:rPr lang="zh-CN" sz="750" dirty="0">
                  <a:solidFill>
                    <a:srgbClr val="312624"/>
                  </a:solidFill>
                  <a:latin typeface="+mn-lt"/>
                  <a:ea typeface="+mn-ea"/>
                  <a:cs typeface="+mn-cs"/>
                </a:rPr>
                <a:t>​</a:t>
              </a:r>
            </a:p>
          </p:txBody>
        </p:sp>
        <p:sp>
          <p:nvSpPr>
            <p:cNvPr id="306" name="Freeform 306"/>
            <p:cNvSpPr/>
            <p:nvPr/>
          </p:nvSpPr>
          <p:spPr>
            <a:xfrm>
              <a:off x="4495800" y="5029200"/>
              <a:ext cx="3676650" cy="342900"/>
            </a:xfrm>
            <a:prstGeom prst="homePlate">
              <a:avLst>
                <a:gd name="adj" fmla="val 20000"/>
              </a:avLst>
            </a:prstGeom>
            <a:solidFill>
              <a:srgbClr val="9A412F"/>
            </a:solidFill>
            <a:ln>
              <a:noFill/>
            </a:ln>
          </p:spPr>
        </p:sp>
        <p:sp>
          <p:nvSpPr>
            <p:cNvPr id="307" name="TextBox 307"/>
            <p:cNvSpPr txBox="1"/>
            <p:nvPr/>
          </p:nvSpPr>
          <p:spPr>
            <a:xfrm>
              <a:off x="4833556" y="5148501"/>
              <a:ext cx="381815"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11月​</a:t>
              </a:r>
            </a:p>
          </p:txBody>
        </p:sp>
        <p:sp>
          <p:nvSpPr>
            <p:cNvPr id="308" name="TextBox 308"/>
            <p:cNvSpPr txBox="1"/>
            <p:nvPr/>
          </p:nvSpPr>
          <p:spPr>
            <a:xfrm>
              <a:off x="5329238" y="5160645"/>
              <a:ext cx="942442" cy="176212"/>
            </a:xfrm>
            <a:prstGeom prst="rect">
              <a:avLst/>
            </a:prstGeom>
            <a:noFill/>
            <a:ln>
              <a:noFill/>
            </a:ln>
          </p:spPr>
          <p:txBody>
            <a:bodyPr wrap="none" lIns="0" tIns="0" rIns="0" bIns="0" anchor="t" anchorCtr="0">
              <a:spAutoFit/>
            </a:bodyPr>
            <a:lstStyle/>
            <a:p>
              <a:pPr algn="l"/>
              <a:r>
                <a:rPr lang="zh-CN" sz="900" dirty="0">
                  <a:solidFill>
                    <a:srgbClr val="EAF6F2"/>
                  </a:solidFill>
                  <a:latin typeface="+mn-lt"/>
                  <a:ea typeface="+mn-ea"/>
                  <a:cs typeface="+mn-cs"/>
                </a:rPr>
                <a:t>强推进 · 扩战果​</a:t>
              </a:r>
            </a:p>
          </p:txBody>
        </p:sp>
        <p:sp>
          <p:nvSpPr>
            <p:cNvPr id="309" name="Rectangle 309"/>
            <p:cNvSpPr/>
            <p:nvPr/>
          </p:nvSpPr>
          <p:spPr>
            <a:xfrm>
              <a:off x="4495800" y="5448300"/>
              <a:ext cx="3676650" cy="1295400"/>
            </a:xfrm>
            <a:prstGeom prst="roundRect">
              <a:avLst>
                <a:gd name="adj" fmla="val 5882"/>
              </a:avLst>
            </a:prstGeom>
            <a:solidFill>
              <a:srgbClr val="F5FAF8"/>
            </a:solidFill>
            <a:ln w="9525">
              <a:solidFill>
                <a:srgbClr val="D9E8E2"/>
              </a:solidFill>
            </a:ln>
          </p:spPr>
        </p:sp>
        <p:sp>
          <p:nvSpPr>
            <p:cNvPr id="310" name="Ellipse 310"/>
            <p:cNvSpPr/>
            <p:nvPr/>
          </p:nvSpPr>
          <p:spPr>
            <a:xfrm>
              <a:off x="4610100" y="5581650"/>
              <a:ext cx="114300" cy="114300"/>
            </a:xfrm>
            <a:prstGeom prst="ellipse">
              <a:avLst/>
            </a:prstGeom>
            <a:noFill/>
            <a:ln w="14288">
              <a:solidFill>
                <a:srgbClr val="9E402E"/>
              </a:solidFill>
            </a:ln>
          </p:spPr>
        </p:sp>
        <p:sp>
          <p:nvSpPr>
            <p:cNvPr id="311" name="Freeform 311"/>
            <p:cNvSpPr/>
            <p:nvPr/>
          </p:nvSpPr>
          <p:spPr>
            <a:xfrm>
              <a:off x="4638675" y="5614988"/>
              <a:ext cx="61912" cy="47625"/>
            </a:xfrm>
            <a:custGeom>
              <a:avLst/>
              <a:gdLst/>
              <a:ahLst/>
              <a:cxnLst/>
              <a:rect l="l" t="t" r="r" b="b"/>
              <a:pathLst>
                <a:path w="61912" h="47625">
                  <a:moveTo>
                    <a:pt x="0" y="23812"/>
                  </a:moveTo>
                  <a:lnTo>
                    <a:pt x="23812" y="47625"/>
                  </a:lnTo>
                  <a:lnTo>
                    <a:pt x="61912" y="0"/>
                  </a:lnTo>
                </a:path>
              </a:pathLst>
            </a:custGeom>
            <a:noFill/>
            <a:ln w="14288">
              <a:solidFill>
                <a:srgbClr val="9E402E"/>
              </a:solidFill>
            </a:ln>
          </p:spPr>
        </p:sp>
        <p:sp>
          <p:nvSpPr>
            <p:cNvPr id="312" name="TextBox 312"/>
            <p:cNvSpPr txBox="1"/>
            <p:nvPr/>
          </p:nvSpPr>
          <p:spPr>
            <a:xfrm>
              <a:off x="4776788" y="5591889"/>
              <a:ext cx="1663264"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加大外拓与渠道联动，提升转化率​</a:t>
              </a:r>
            </a:p>
          </p:txBody>
        </p:sp>
        <p:sp>
          <p:nvSpPr>
            <p:cNvPr id="313" name="Ellipse 313"/>
            <p:cNvSpPr/>
            <p:nvPr/>
          </p:nvSpPr>
          <p:spPr>
            <a:xfrm>
              <a:off x="4610100" y="5810250"/>
              <a:ext cx="114300" cy="114300"/>
            </a:xfrm>
            <a:prstGeom prst="ellipse">
              <a:avLst/>
            </a:prstGeom>
            <a:noFill/>
            <a:ln w="14288">
              <a:solidFill>
                <a:srgbClr val="9E402E"/>
              </a:solidFill>
            </a:ln>
          </p:spPr>
        </p:sp>
        <p:sp>
          <p:nvSpPr>
            <p:cNvPr id="314" name="Freeform 314"/>
            <p:cNvSpPr/>
            <p:nvPr/>
          </p:nvSpPr>
          <p:spPr>
            <a:xfrm>
              <a:off x="4638675" y="5843588"/>
              <a:ext cx="61912" cy="47625"/>
            </a:xfrm>
            <a:custGeom>
              <a:avLst/>
              <a:gdLst/>
              <a:ahLst/>
              <a:cxnLst/>
              <a:rect l="l" t="t" r="r" b="b"/>
              <a:pathLst>
                <a:path w="61912" h="47625">
                  <a:moveTo>
                    <a:pt x="0" y="23812"/>
                  </a:moveTo>
                  <a:lnTo>
                    <a:pt x="23812" y="47625"/>
                  </a:lnTo>
                  <a:lnTo>
                    <a:pt x="61912" y="0"/>
                  </a:lnTo>
                </a:path>
              </a:pathLst>
            </a:custGeom>
            <a:noFill/>
            <a:ln w="14288">
              <a:solidFill>
                <a:srgbClr val="9E402E"/>
              </a:solidFill>
            </a:ln>
          </p:spPr>
        </p:sp>
        <p:sp>
          <p:nvSpPr>
            <p:cNvPr id="315" name="TextBox 315"/>
            <p:cNvSpPr txBox="1"/>
            <p:nvPr/>
          </p:nvSpPr>
          <p:spPr>
            <a:xfrm>
              <a:off x="4776788" y="5820489"/>
              <a:ext cx="1769614"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中高端客户深度经营，产品组合销售​</a:t>
              </a:r>
            </a:p>
          </p:txBody>
        </p:sp>
        <p:sp>
          <p:nvSpPr>
            <p:cNvPr id="316" name="Ellipse 316"/>
            <p:cNvSpPr/>
            <p:nvPr/>
          </p:nvSpPr>
          <p:spPr>
            <a:xfrm>
              <a:off x="4610100" y="6038850"/>
              <a:ext cx="114300" cy="114300"/>
            </a:xfrm>
            <a:prstGeom prst="ellipse">
              <a:avLst/>
            </a:prstGeom>
            <a:noFill/>
            <a:ln w="14288">
              <a:solidFill>
                <a:srgbClr val="9E402E"/>
              </a:solidFill>
            </a:ln>
          </p:spPr>
        </p:sp>
        <p:sp>
          <p:nvSpPr>
            <p:cNvPr id="317" name="Freeform 317"/>
            <p:cNvSpPr/>
            <p:nvPr/>
          </p:nvSpPr>
          <p:spPr>
            <a:xfrm>
              <a:off x="4638675" y="6072188"/>
              <a:ext cx="61912" cy="47625"/>
            </a:xfrm>
            <a:custGeom>
              <a:avLst/>
              <a:gdLst/>
              <a:ahLst/>
              <a:cxnLst/>
              <a:rect l="l" t="t" r="r" b="b"/>
              <a:pathLst>
                <a:path w="61912" h="47625">
                  <a:moveTo>
                    <a:pt x="0" y="23812"/>
                  </a:moveTo>
                  <a:lnTo>
                    <a:pt x="23812" y="47625"/>
                  </a:lnTo>
                  <a:lnTo>
                    <a:pt x="61912" y="0"/>
                  </a:lnTo>
                </a:path>
              </a:pathLst>
            </a:custGeom>
            <a:noFill/>
            <a:ln w="14288">
              <a:solidFill>
                <a:srgbClr val="9E402E"/>
              </a:solidFill>
            </a:ln>
          </p:spPr>
        </p:sp>
        <p:sp>
          <p:nvSpPr>
            <p:cNvPr id="318" name="TextBox 318"/>
            <p:cNvSpPr txBox="1"/>
            <p:nvPr/>
          </p:nvSpPr>
          <p:spPr>
            <a:xfrm>
              <a:off x="4776788" y="6049089"/>
              <a:ext cx="1769614"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跟踪进度、及时纠偏、强化过程管理​</a:t>
              </a:r>
            </a:p>
          </p:txBody>
        </p:sp>
        <p:sp>
          <p:nvSpPr>
            <p:cNvPr id="319" name="TextBox 319"/>
            <p:cNvSpPr txBox="1"/>
            <p:nvPr/>
          </p:nvSpPr>
          <p:spPr>
            <a:xfrm>
              <a:off x="4662488" y="6258639"/>
              <a:ext cx="709041" cy="154781"/>
            </a:xfrm>
            <a:prstGeom prst="rect">
              <a:avLst/>
            </a:prstGeom>
            <a:noFill/>
            <a:ln>
              <a:noFill/>
            </a:ln>
          </p:spPr>
          <p:txBody>
            <a:bodyPr wrap="none" lIns="0" tIns="0" rIns="0" bIns="0" anchor="t" anchorCtr="0">
              <a:spAutoFit/>
            </a:bodyPr>
            <a:lstStyle/>
            <a:p>
              <a:pPr algn="l"/>
              <a:r>
                <a:rPr lang="zh-CN" sz="790" b="1" dirty="0">
                  <a:solidFill>
                    <a:srgbClr val="5B180B"/>
                  </a:solidFill>
                  <a:latin typeface="+mn-lt"/>
                  <a:ea typeface="+mn-ea"/>
                  <a:cs typeface="+mn-cs"/>
                </a:rPr>
                <a:t>月度重点目标​</a:t>
              </a:r>
            </a:p>
          </p:txBody>
        </p:sp>
        <p:sp>
          <p:nvSpPr>
            <p:cNvPr id="320" name="TextBox 320"/>
            <p:cNvSpPr txBox="1"/>
            <p:nvPr/>
          </p:nvSpPr>
          <p:spPr>
            <a:xfrm>
              <a:off x="4662488" y="6434138"/>
              <a:ext cx="2421698" cy="147638"/>
            </a:xfrm>
            <a:prstGeom prst="rect">
              <a:avLst/>
            </a:prstGeom>
            <a:noFill/>
            <a:ln>
              <a:noFill/>
            </a:ln>
          </p:spPr>
          <p:txBody>
            <a:bodyPr wrap="none" lIns="0" tIns="0" rIns="0" bIns="0" anchor="t" anchorCtr="0">
              <a:spAutoFit/>
            </a:bodyPr>
            <a:lstStyle/>
            <a:p>
              <a:pPr algn="l"/>
              <a:r>
                <a:rPr lang="zh-CN" sz="750" dirty="0">
                  <a:solidFill>
                    <a:srgbClr val="312624"/>
                  </a:solidFill>
                  <a:latin typeface="+mn-lt"/>
                  <a:ea typeface="+mn-ea"/>
                  <a:cs typeface="+mn-cs"/>
                </a:rPr>
                <a:t xml:space="preserve">存款 </a:t>
              </a:r>
              <a:r>
                <a:rPr lang="zh-CN" sz="750" b="1" dirty="0">
                  <a:solidFill>
                    <a:srgbClr val="5B180B"/>
                  </a:solidFill>
                  <a:latin typeface="+mn-lt"/>
                  <a:ea typeface="+mn-ea"/>
                  <a:cs typeface="+mn-cs"/>
                </a:rPr>
                <a:t>0.32</a:t>
              </a:r>
              <a:r>
                <a:rPr lang="zh-CN" sz="750" dirty="0">
                  <a:solidFill>
                    <a:srgbClr val="312624"/>
                  </a:solidFill>
                  <a:latin typeface="+mn-lt"/>
                  <a:ea typeface="+mn-ea"/>
                  <a:cs typeface="+mn-cs"/>
                </a:rPr>
                <a:t xml:space="preserve"> 亿元 ｜ AUM </a:t>
              </a:r>
              <a:r>
                <a:rPr lang="zh-CN" sz="750" b="1" dirty="0">
                  <a:solidFill>
                    <a:srgbClr val="5B180B"/>
                  </a:solidFill>
                  <a:latin typeface="+mn-lt"/>
                  <a:ea typeface="+mn-ea"/>
                  <a:cs typeface="+mn-cs"/>
                </a:rPr>
                <a:t>0.52</a:t>
              </a:r>
              <a:r>
                <a:rPr lang="zh-CN" sz="750" dirty="0">
                  <a:solidFill>
                    <a:srgbClr val="312624"/>
                  </a:solidFill>
                  <a:latin typeface="+mn-lt"/>
                  <a:ea typeface="+mn-ea"/>
                  <a:cs typeface="+mn-cs"/>
                </a:rPr>
                <a:t xml:space="preserve"> 亿元 ｜ 中收 </a:t>
              </a:r>
              <a:r>
                <a:rPr lang="zh-CN" sz="750" b="1" dirty="0">
                  <a:solidFill>
                    <a:srgbClr val="5B180B"/>
                  </a:solidFill>
                  <a:latin typeface="+mn-lt"/>
                  <a:ea typeface="+mn-ea"/>
                  <a:cs typeface="+mn-cs"/>
                </a:rPr>
                <a:t>140</a:t>
              </a:r>
              <a:r>
                <a:rPr lang="zh-CN" sz="750" dirty="0">
                  <a:solidFill>
                    <a:srgbClr val="312624"/>
                  </a:solidFill>
                  <a:latin typeface="+mn-lt"/>
                  <a:ea typeface="+mn-ea"/>
                  <a:cs typeface="+mn-cs"/>
                </a:rPr>
                <a:t xml:space="preserve"> 万元​</a:t>
              </a:r>
            </a:p>
          </p:txBody>
        </p:sp>
        <p:sp>
          <p:nvSpPr>
            <p:cNvPr id="321" name="TextBox 321"/>
            <p:cNvSpPr txBox="1"/>
            <p:nvPr/>
          </p:nvSpPr>
          <p:spPr>
            <a:xfrm>
              <a:off x="4662488" y="6586538"/>
              <a:ext cx="2514719" cy="147638"/>
            </a:xfrm>
            <a:prstGeom prst="rect">
              <a:avLst/>
            </a:prstGeom>
            <a:noFill/>
            <a:ln>
              <a:noFill/>
            </a:ln>
          </p:spPr>
          <p:txBody>
            <a:bodyPr wrap="none" lIns="0" tIns="0" rIns="0" bIns="0" anchor="t" anchorCtr="0">
              <a:spAutoFit/>
            </a:bodyPr>
            <a:lstStyle/>
            <a:p>
              <a:pPr algn="l"/>
              <a:r>
                <a:rPr lang="zh-CN" sz="750" dirty="0">
                  <a:solidFill>
                    <a:srgbClr val="312624"/>
                  </a:solidFill>
                  <a:latin typeface="+mn-lt"/>
                  <a:ea typeface="+mn-ea"/>
                  <a:cs typeface="+mn-cs"/>
                </a:rPr>
                <a:t xml:space="preserve">消费贷 </a:t>
              </a:r>
              <a:r>
                <a:rPr lang="zh-CN" sz="750" b="1" dirty="0">
                  <a:solidFill>
                    <a:srgbClr val="5B180B"/>
                  </a:solidFill>
                  <a:latin typeface="+mn-lt"/>
                  <a:ea typeface="+mn-ea"/>
                  <a:cs typeface="+mn-cs"/>
                </a:rPr>
                <a:t>1,200</a:t>
              </a:r>
              <a:r>
                <a:rPr lang="zh-CN" sz="750" dirty="0">
                  <a:solidFill>
                    <a:srgbClr val="312624"/>
                  </a:solidFill>
                  <a:latin typeface="+mn-lt"/>
                  <a:ea typeface="+mn-ea"/>
                  <a:cs typeface="+mn-cs"/>
                </a:rPr>
                <a:t xml:space="preserve"> 万元 ｜ 新增客户 </a:t>
              </a:r>
              <a:r>
                <a:rPr lang="zh-CN" sz="750" b="1" dirty="0">
                  <a:solidFill>
                    <a:srgbClr val="5B180B"/>
                  </a:solidFill>
                  <a:latin typeface="+mn-lt"/>
                  <a:ea typeface="+mn-ea"/>
                  <a:cs typeface="+mn-cs"/>
                </a:rPr>
                <a:t>420</a:t>
              </a:r>
              <a:r>
                <a:rPr lang="zh-CN" sz="750" dirty="0">
                  <a:solidFill>
                    <a:srgbClr val="312624"/>
                  </a:solidFill>
                  <a:latin typeface="+mn-lt"/>
                  <a:ea typeface="+mn-ea"/>
                  <a:cs typeface="+mn-cs"/>
                </a:rPr>
                <a:t xml:space="preserve"> 户 ｜ 达标率 </a:t>
              </a:r>
              <a:r>
                <a:rPr lang="zh-CN" sz="750" b="1" dirty="0">
                  <a:solidFill>
                    <a:srgbClr val="5B180B"/>
                  </a:solidFill>
                  <a:latin typeface="+mn-lt"/>
                  <a:ea typeface="+mn-ea"/>
                  <a:cs typeface="+mn-cs"/>
                </a:rPr>
                <a:t>94%</a:t>
              </a:r>
              <a:r>
                <a:rPr lang="zh-CN" sz="750" dirty="0">
                  <a:solidFill>
                    <a:srgbClr val="312624"/>
                  </a:solidFill>
                  <a:latin typeface="+mn-lt"/>
                  <a:ea typeface="+mn-ea"/>
                  <a:cs typeface="+mn-cs"/>
                </a:rPr>
                <a:t>​</a:t>
              </a:r>
            </a:p>
          </p:txBody>
        </p:sp>
        <p:sp>
          <p:nvSpPr>
            <p:cNvPr id="322" name="Freeform 322"/>
            <p:cNvSpPr/>
            <p:nvPr/>
          </p:nvSpPr>
          <p:spPr>
            <a:xfrm>
              <a:off x="8267700" y="5029200"/>
              <a:ext cx="3676650" cy="342900"/>
            </a:xfrm>
            <a:prstGeom prst="homePlate">
              <a:avLst>
                <a:gd name="adj" fmla="val 20000"/>
              </a:avLst>
            </a:prstGeom>
            <a:solidFill>
              <a:srgbClr val="5B180B"/>
            </a:solidFill>
            <a:ln>
              <a:noFill/>
            </a:ln>
          </p:spPr>
        </p:sp>
        <p:sp>
          <p:nvSpPr>
            <p:cNvPr id="323" name="TextBox 323"/>
            <p:cNvSpPr txBox="1"/>
            <p:nvPr/>
          </p:nvSpPr>
          <p:spPr>
            <a:xfrm>
              <a:off x="8605456" y="5148501"/>
              <a:ext cx="381815"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12月​</a:t>
              </a:r>
            </a:p>
          </p:txBody>
        </p:sp>
        <p:sp>
          <p:nvSpPr>
            <p:cNvPr id="324" name="TextBox 324"/>
            <p:cNvSpPr txBox="1"/>
            <p:nvPr/>
          </p:nvSpPr>
          <p:spPr>
            <a:xfrm>
              <a:off x="9101138" y="5160645"/>
              <a:ext cx="1063600" cy="176212"/>
            </a:xfrm>
            <a:prstGeom prst="rect">
              <a:avLst/>
            </a:prstGeom>
            <a:noFill/>
            <a:ln>
              <a:noFill/>
            </a:ln>
          </p:spPr>
          <p:txBody>
            <a:bodyPr wrap="none" lIns="0" tIns="0" rIns="0" bIns="0" anchor="t" anchorCtr="0">
              <a:spAutoFit/>
            </a:bodyPr>
            <a:lstStyle/>
            <a:p>
              <a:pPr algn="l"/>
              <a:r>
                <a:rPr lang="zh-CN" sz="900" dirty="0">
                  <a:solidFill>
                    <a:srgbClr val="DFF0EB"/>
                  </a:solidFill>
                  <a:latin typeface="+mn-lt"/>
                  <a:ea typeface="+mn-ea"/>
                  <a:cs typeface="+mn-cs"/>
                </a:rPr>
                <a:t>冲目标 · 决胜收官​</a:t>
              </a:r>
            </a:p>
          </p:txBody>
        </p:sp>
        <p:sp>
          <p:nvSpPr>
            <p:cNvPr id="325" name="Rectangle 325"/>
            <p:cNvSpPr/>
            <p:nvPr/>
          </p:nvSpPr>
          <p:spPr>
            <a:xfrm>
              <a:off x="8267700" y="5448300"/>
              <a:ext cx="3676650" cy="1295400"/>
            </a:xfrm>
            <a:prstGeom prst="roundRect">
              <a:avLst>
                <a:gd name="adj" fmla="val 5882"/>
              </a:avLst>
            </a:prstGeom>
            <a:solidFill>
              <a:srgbClr val="F5FAF8"/>
            </a:solidFill>
            <a:ln w="9525">
              <a:solidFill>
                <a:srgbClr val="D9E8E2"/>
              </a:solidFill>
            </a:ln>
          </p:spPr>
        </p:sp>
        <p:sp>
          <p:nvSpPr>
            <p:cNvPr id="326" name="Ellipse 326"/>
            <p:cNvSpPr/>
            <p:nvPr/>
          </p:nvSpPr>
          <p:spPr>
            <a:xfrm>
              <a:off x="8382000" y="5581650"/>
              <a:ext cx="114300" cy="114300"/>
            </a:xfrm>
            <a:prstGeom prst="ellipse">
              <a:avLst/>
            </a:prstGeom>
            <a:noFill/>
            <a:ln w="14288">
              <a:solidFill>
                <a:srgbClr val="9E402E"/>
              </a:solidFill>
            </a:ln>
          </p:spPr>
        </p:sp>
        <p:sp>
          <p:nvSpPr>
            <p:cNvPr id="327" name="Freeform 327"/>
            <p:cNvSpPr/>
            <p:nvPr/>
          </p:nvSpPr>
          <p:spPr>
            <a:xfrm>
              <a:off x="8410575" y="5614988"/>
              <a:ext cx="61912" cy="47625"/>
            </a:xfrm>
            <a:custGeom>
              <a:avLst/>
              <a:gdLst/>
              <a:ahLst/>
              <a:cxnLst/>
              <a:rect l="l" t="t" r="r" b="b"/>
              <a:pathLst>
                <a:path w="61912" h="47625">
                  <a:moveTo>
                    <a:pt x="0" y="23812"/>
                  </a:moveTo>
                  <a:lnTo>
                    <a:pt x="23812" y="47625"/>
                  </a:lnTo>
                  <a:lnTo>
                    <a:pt x="61912" y="0"/>
                  </a:lnTo>
                </a:path>
              </a:pathLst>
            </a:custGeom>
            <a:noFill/>
            <a:ln w="14288">
              <a:solidFill>
                <a:srgbClr val="9E402E"/>
              </a:solidFill>
            </a:ln>
          </p:spPr>
        </p:sp>
        <p:sp>
          <p:nvSpPr>
            <p:cNvPr id="328" name="TextBox 328"/>
            <p:cNvSpPr txBox="1"/>
            <p:nvPr/>
          </p:nvSpPr>
          <p:spPr>
            <a:xfrm>
              <a:off x="8548688" y="5591889"/>
              <a:ext cx="1556915"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全员冲刺，聚焦大单与重点项目​</a:t>
              </a:r>
            </a:p>
          </p:txBody>
        </p:sp>
        <p:sp>
          <p:nvSpPr>
            <p:cNvPr id="329" name="Ellipse 329"/>
            <p:cNvSpPr/>
            <p:nvPr/>
          </p:nvSpPr>
          <p:spPr>
            <a:xfrm>
              <a:off x="8382000" y="5810250"/>
              <a:ext cx="114300" cy="114300"/>
            </a:xfrm>
            <a:prstGeom prst="ellipse">
              <a:avLst/>
            </a:prstGeom>
            <a:noFill/>
            <a:ln w="14288">
              <a:solidFill>
                <a:srgbClr val="9E402E"/>
              </a:solidFill>
            </a:ln>
          </p:spPr>
        </p:sp>
        <p:sp>
          <p:nvSpPr>
            <p:cNvPr id="330" name="Freeform 330"/>
            <p:cNvSpPr/>
            <p:nvPr/>
          </p:nvSpPr>
          <p:spPr>
            <a:xfrm>
              <a:off x="8410575" y="5843588"/>
              <a:ext cx="61912" cy="47625"/>
            </a:xfrm>
            <a:custGeom>
              <a:avLst/>
              <a:gdLst/>
              <a:ahLst/>
              <a:cxnLst/>
              <a:rect l="l" t="t" r="r" b="b"/>
              <a:pathLst>
                <a:path w="61912" h="47625">
                  <a:moveTo>
                    <a:pt x="0" y="23812"/>
                  </a:moveTo>
                  <a:lnTo>
                    <a:pt x="23812" y="47625"/>
                  </a:lnTo>
                  <a:lnTo>
                    <a:pt x="61912" y="0"/>
                  </a:lnTo>
                </a:path>
              </a:pathLst>
            </a:custGeom>
            <a:noFill/>
            <a:ln w="14288">
              <a:solidFill>
                <a:srgbClr val="9E402E"/>
              </a:solidFill>
            </a:ln>
          </p:spPr>
        </p:sp>
        <p:sp>
          <p:nvSpPr>
            <p:cNvPr id="331" name="TextBox 331"/>
            <p:cNvSpPr txBox="1"/>
            <p:nvPr/>
          </p:nvSpPr>
          <p:spPr>
            <a:xfrm>
              <a:off x="8548688" y="5820489"/>
              <a:ext cx="1721757"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存量+新增双轮驱动，确保目标达成​</a:t>
              </a:r>
            </a:p>
          </p:txBody>
        </p:sp>
        <p:sp>
          <p:nvSpPr>
            <p:cNvPr id="332" name="Ellipse 332"/>
            <p:cNvSpPr/>
            <p:nvPr/>
          </p:nvSpPr>
          <p:spPr>
            <a:xfrm>
              <a:off x="8382000" y="6038850"/>
              <a:ext cx="114300" cy="114300"/>
            </a:xfrm>
            <a:prstGeom prst="ellipse">
              <a:avLst/>
            </a:prstGeom>
            <a:noFill/>
            <a:ln w="14288">
              <a:solidFill>
                <a:srgbClr val="9E402E"/>
              </a:solidFill>
            </a:ln>
          </p:spPr>
        </p:sp>
        <p:sp>
          <p:nvSpPr>
            <p:cNvPr id="333" name="Freeform 333"/>
            <p:cNvSpPr/>
            <p:nvPr/>
          </p:nvSpPr>
          <p:spPr>
            <a:xfrm>
              <a:off x="8410575" y="6072188"/>
              <a:ext cx="61912" cy="47625"/>
            </a:xfrm>
            <a:custGeom>
              <a:avLst/>
              <a:gdLst/>
              <a:ahLst/>
              <a:cxnLst/>
              <a:rect l="l" t="t" r="r" b="b"/>
              <a:pathLst>
                <a:path w="61912" h="47625">
                  <a:moveTo>
                    <a:pt x="0" y="23812"/>
                  </a:moveTo>
                  <a:lnTo>
                    <a:pt x="23812" y="47625"/>
                  </a:lnTo>
                  <a:lnTo>
                    <a:pt x="61912" y="0"/>
                  </a:lnTo>
                </a:path>
              </a:pathLst>
            </a:custGeom>
            <a:noFill/>
            <a:ln w="14288">
              <a:solidFill>
                <a:srgbClr val="9E402E"/>
              </a:solidFill>
            </a:ln>
          </p:spPr>
        </p:sp>
        <p:sp>
          <p:nvSpPr>
            <p:cNvPr id="334" name="TextBox 334"/>
            <p:cNvSpPr txBox="1"/>
            <p:nvPr/>
          </p:nvSpPr>
          <p:spPr>
            <a:xfrm>
              <a:off x="8548688" y="6049089"/>
              <a:ext cx="1556915" cy="154781"/>
            </a:xfrm>
            <a:prstGeom prst="rect">
              <a:avLst/>
            </a:prstGeom>
            <a:noFill/>
            <a:ln>
              <a:noFill/>
            </a:ln>
          </p:spPr>
          <p:txBody>
            <a:bodyPr wrap="none" lIns="0" tIns="0" rIns="0" bIns="0" anchor="t" anchorCtr="0">
              <a:spAutoFit/>
            </a:bodyPr>
            <a:lstStyle/>
            <a:p>
              <a:pPr algn="l"/>
              <a:r>
                <a:rPr lang="zh-CN" sz="790" dirty="0">
                  <a:solidFill>
                    <a:srgbClr val="4A3D3A"/>
                  </a:solidFill>
                  <a:latin typeface="+mn-lt"/>
                  <a:ea typeface="+mn-ea"/>
                  <a:cs typeface="+mn-cs"/>
                </a:rPr>
                <a:t>复盘总结，沉淀经验、谋划明年​</a:t>
              </a:r>
            </a:p>
          </p:txBody>
        </p:sp>
        <p:sp>
          <p:nvSpPr>
            <p:cNvPr id="335" name="TextBox 335"/>
            <p:cNvSpPr txBox="1"/>
            <p:nvPr/>
          </p:nvSpPr>
          <p:spPr>
            <a:xfrm>
              <a:off x="8434388" y="6258639"/>
              <a:ext cx="709041" cy="154781"/>
            </a:xfrm>
            <a:prstGeom prst="rect">
              <a:avLst/>
            </a:prstGeom>
            <a:noFill/>
            <a:ln>
              <a:noFill/>
            </a:ln>
          </p:spPr>
          <p:txBody>
            <a:bodyPr wrap="none" lIns="0" tIns="0" rIns="0" bIns="0" anchor="t" anchorCtr="0">
              <a:spAutoFit/>
            </a:bodyPr>
            <a:lstStyle/>
            <a:p>
              <a:pPr algn="l"/>
              <a:r>
                <a:rPr lang="zh-CN" sz="790" b="1" dirty="0">
                  <a:solidFill>
                    <a:srgbClr val="5B180B"/>
                  </a:solidFill>
                  <a:latin typeface="+mn-lt"/>
                  <a:ea typeface="+mn-ea"/>
                  <a:cs typeface="+mn-cs"/>
                </a:rPr>
                <a:t>月度重点目标​</a:t>
              </a:r>
            </a:p>
          </p:txBody>
        </p:sp>
        <p:sp>
          <p:nvSpPr>
            <p:cNvPr id="336" name="TextBox 336"/>
            <p:cNvSpPr txBox="1"/>
            <p:nvPr/>
          </p:nvSpPr>
          <p:spPr>
            <a:xfrm>
              <a:off x="8434388" y="6434138"/>
              <a:ext cx="2421698" cy="147638"/>
            </a:xfrm>
            <a:prstGeom prst="rect">
              <a:avLst/>
            </a:prstGeom>
            <a:noFill/>
            <a:ln>
              <a:noFill/>
            </a:ln>
          </p:spPr>
          <p:txBody>
            <a:bodyPr wrap="none" lIns="0" tIns="0" rIns="0" bIns="0" anchor="t" anchorCtr="0">
              <a:spAutoFit/>
            </a:bodyPr>
            <a:lstStyle/>
            <a:p>
              <a:pPr algn="l"/>
              <a:r>
                <a:rPr lang="zh-CN" sz="750" dirty="0">
                  <a:solidFill>
                    <a:srgbClr val="312624"/>
                  </a:solidFill>
                  <a:latin typeface="+mn-lt"/>
                  <a:ea typeface="+mn-ea"/>
                  <a:cs typeface="+mn-cs"/>
                </a:rPr>
                <a:t xml:space="preserve">存款 </a:t>
              </a:r>
              <a:r>
                <a:rPr lang="zh-CN" sz="750" b="1" dirty="0">
                  <a:solidFill>
                    <a:srgbClr val="5B180B"/>
                  </a:solidFill>
                  <a:latin typeface="+mn-lt"/>
                  <a:ea typeface="+mn-ea"/>
                  <a:cs typeface="+mn-cs"/>
                </a:rPr>
                <a:t>0.60</a:t>
              </a:r>
              <a:r>
                <a:rPr lang="zh-CN" sz="750" dirty="0">
                  <a:solidFill>
                    <a:srgbClr val="312624"/>
                  </a:solidFill>
                  <a:latin typeface="+mn-lt"/>
                  <a:ea typeface="+mn-ea"/>
                  <a:cs typeface="+mn-cs"/>
                </a:rPr>
                <a:t xml:space="preserve"> 亿元 ｜ AUM </a:t>
              </a:r>
              <a:r>
                <a:rPr lang="zh-CN" sz="750" b="1" dirty="0">
                  <a:solidFill>
                    <a:srgbClr val="5B180B"/>
                  </a:solidFill>
                  <a:latin typeface="+mn-lt"/>
                  <a:ea typeface="+mn-ea"/>
                  <a:cs typeface="+mn-cs"/>
                </a:rPr>
                <a:t>0.75</a:t>
              </a:r>
              <a:r>
                <a:rPr lang="zh-CN" sz="750" dirty="0">
                  <a:solidFill>
                    <a:srgbClr val="312624"/>
                  </a:solidFill>
                  <a:latin typeface="+mn-lt"/>
                  <a:ea typeface="+mn-ea"/>
                  <a:cs typeface="+mn-cs"/>
                </a:rPr>
                <a:t xml:space="preserve"> 亿元 ｜ 中收 </a:t>
              </a:r>
              <a:r>
                <a:rPr lang="zh-CN" sz="750" b="1" dirty="0">
                  <a:solidFill>
                    <a:srgbClr val="5B180B"/>
                  </a:solidFill>
                  <a:latin typeface="+mn-lt"/>
                  <a:ea typeface="+mn-ea"/>
                  <a:cs typeface="+mn-cs"/>
                </a:rPr>
                <a:t>160</a:t>
              </a:r>
              <a:r>
                <a:rPr lang="zh-CN" sz="750" dirty="0">
                  <a:solidFill>
                    <a:srgbClr val="312624"/>
                  </a:solidFill>
                  <a:latin typeface="+mn-lt"/>
                  <a:ea typeface="+mn-ea"/>
                  <a:cs typeface="+mn-cs"/>
                </a:rPr>
                <a:t xml:space="preserve"> 万元​</a:t>
              </a:r>
            </a:p>
          </p:txBody>
        </p:sp>
        <p:sp>
          <p:nvSpPr>
            <p:cNvPr id="337" name="TextBox 337"/>
            <p:cNvSpPr txBox="1"/>
            <p:nvPr/>
          </p:nvSpPr>
          <p:spPr>
            <a:xfrm>
              <a:off x="8434388" y="6586538"/>
              <a:ext cx="2514719" cy="147638"/>
            </a:xfrm>
            <a:prstGeom prst="rect">
              <a:avLst/>
            </a:prstGeom>
            <a:noFill/>
            <a:ln>
              <a:noFill/>
            </a:ln>
          </p:spPr>
          <p:txBody>
            <a:bodyPr wrap="none" lIns="0" tIns="0" rIns="0" bIns="0" anchor="t" anchorCtr="0">
              <a:spAutoFit/>
            </a:bodyPr>
            <a:lstStyle/>
            <a:p>
              <a:pPr algn="l"/>
              <a:r>
                <a:rPr lang="zh-CN" sz="750" dirty="0">
                  <a:solidFill>
                    <a:srgbClr val="312624"/>
                  </a:solidFill>
                  <a:latin typeface="+mn-lt"/>
                  <a:ea typeface="+mn-ea"/>
                  <a:cs typeface="+mn-cs"/>
                </a:rPr>
                <a:t xml:space="preserve">消费贷 </a:t>
              </a:r>
              <a:r>
                <a:rPr lang="zh-CN" sz="750" b="1" dirty="0">
                  <a:solidFill>
                    <a:srgbClr val="5B180B"/>
                  </a:solidFill>
                  <a:latin typeface="+mn-lt"/>
                  <a:ea typeface="+mn-ea"/>
                  <a:cs typeface="+mn-cs"/>
                </a:rPr>
                <a:t>1,800</a:t>
              </a:r>
              <a:r>
                <a:rPr lang="zh-CN" sz="750" dirty="0">
                  <a:solidFill>
                    <a:srgbClr val="312624"/>
                  </a:solidFill>
                  <a:latin typeface="+mn-lt"/>
                  <a:ea typeface="+mn-ea"/>
                  <a:cs typeface="+mn-cs"/>
                </a:rPr>
                <a:t xml:space="preserve"> 万元 ｜ 新增客户 </a:t>
              </a:r>
              <a:r>
                <a:rPr lang="zh-CN" sz="750" b="1" dirty="0">
                  <a:solidFill>
                    <a:srgbClr val="5B180B"/>
                  </a:solidFill>
                  <a:latin typeface="+mn-lt"/>
                  <a:ea typeface="+mn-ea"/>
                  <a:cs typeface="+mn-cs"/>
                </a:rPr>
                <a:t>520</a:t>
              </a:r>
              <a:r>
                <a:rPr lang="zh-CN" sz="750" dirty="0">
                  <a:solidFill>
                    <a:srgbClr val="312624"/>
                  </a:solidFill>
                  <a:latin typeface="+mn-lt"/>
                  <a:ea typeface="+mn-ea"/>
                  <a:cs typeface="+mn-cs"/>
                </a:rPr>
                <a:t xml:space="preserve"> 户 ｜ 达标率 </a:t>
              </a:r>
              <a:r>
                <a:rPr lang="zh-CN" sz="750" b="1" dirty="0">
                  <a:solidFill>
                    <a:srgbClr val="5B180B"/>
                  </a:solidFill>
                  <a:latin typeface="+mn-lt"/>
                  <a:ea typeface="+mn-ea"/>
                  <a:cs typeface="+mn-cs"/>
                </a:rPr>
                <a:t>96%</a:t>
              </a:r>
              <a:r>
                <a:rPr lang="zh-CN" sz="750" dirty="0">
                  <a:solidFill>
                    <a:srgbClr val="312624"/>
                  </a:solidFill>
                  <a:latin typeface="+mn-lt"/>
                  <a:ea typeface="+mn-ea"/>
                  <a:cs typeface="+mn-cs"/>
                </a:rPr>
                <a:t>​</a:t>
              </a:r>
            </a:p>
          </p:txBody>
        </p:sp>
      </p:gr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8857686" cy="542925"/>
            <a:chOff x="0" y="0"/>
            <a:chExt cx="8857686"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03​</a:t>
              </a:r>
            </a:p>
          </p:txBody>
        </p:sp>
        <p:sp>
          <p:nvSpPr>
            <p:cNvPr id="4" name="TextBox 4"/>
            <p:cNvSpPr txBox="1"/>
            <p:nvPr/>
          </p:nvSpPr>
          <p:spPr>
            <a:xfrm>
              <a:off x="942594" y="151448"/>
              <a:ext cx="791509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目标缺口</a:t>
              </a:r>
              <a:r>
                <a:rPr lang="zh-CN" sz="1950" b="1" dirty="0">
                  <a:solidFill>
                    <a:srgbClr val="5B180B"/>
                  </a:solidFill>
                  <a:latin typeface="+mj-lt"/>
                  <a:ea typeface="+mj-ea"/>
                  <a:cs typeface="+mj-cs"/>
                </a:rPr>
                <a:t xml:space="preserve"> | 年度任务进入最后25%，但六项指标仍有结构性差距</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79" name="bridge-card"/>
          <p:cNvGrpSpPr/>
          <p:nvPr/>
        </p:nvGrpSpPr>
        <p:grpSpPr>
          <a:xfrm>
            <a:off x="228600" y="666750"/>
            <a:ext cx="5867400" cy="2895838"/>
            <a:chOff x="228600" y="666750"/>
            <a:chExt cx="5867400" cy="2895838"/>
          </a:xfrm>
        </p:grpSpPr>
        <p:sp>
          <p:nvSpPr>
            <p:cNvPr id="7" name="Rectangle 7"/>
            <p:cNvSpPr/>
            <p:nvPr/>
          </p:nvSpPr>
          <p:spPr>
            <a:xfrm>
              <a:off x="228600" y="666750"/>
              <a:ext cx="5867400" cy="2876550"/>
            </a:xfrm>
            <a:prstGeom prst="roundRect">
              <a:avLst>
                <a:gd name="adj" fmla="val 3311"/>
              </a:avLst>
            </a:prstGeom>
            <a:solidFill>
              <a:srgbClr val="F5FAF8"/>
            </a:solidFill>
            <a:ln w="9525">
              <a:solidFill>
                <a:srgbClr val="D9E8E2"/>
              </a:solidFill>
            </a:ln>
          </p:spPr>
        </p:sp>
        <p:sp>
          <p:nvSpPr>
            <p:cNvPr id="8" name="Rectangle 8"/>
            <p:cNvSpPr/>
            <p:nvPr/>
          </p:nvSpPr>
          <p:spPr>
            <a:xfrm>
              <a:off x="342900" y="781050"/>
              <a:ext cx="47625" cy="171450"/>
            </a:xfrm>
            <a:prstGeom prst="rect">
              <a:avLst/>
            </a:prstGeom>
            <a:solidFill>
              <a:srgbClr val="5B180B"/>
            </a:solidFill>
            <a:ln>
              <a:noFill/>
            </a:ln>
          </p:spPr>
        </p:sp>
        <p:sp>
          <p:nvSpPr>
            <p:cNvPr id="9" name="TextBox 9"/>
            <p:cNvSpPr txBox="1"/>
            <p:nvPr/>
          </p:nvSpPr>
          <p:spPr>
            <a:xfrm>
              <a:off x="451866" y="810578"/>
              <a:ext cx="1788510"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六项指标年度目标达成桥图​</a:t>
              </a:r>
            </a:p>
          </p:txBody>
        </p:sp>
        <p:sp>
          <p:nvSpPr>
            <p:cNvPr id="10" name="Rectangle 10"/>
            <p:cNvSpPr/>
            <p:nvPr/>
          </p:nvSpPr>
          <p:spPr>
            <a:xfrm>
              <a:off x="2857500" y="819150"/>
              <a:ext cx="95250" cy="95250"/>
            </a:xfrm>
            <a:prstGeom prst="rect">
              <a:avLst/>
            </a:prstGeom>
            <a:solidFill>
              <a:srgbClr val="5B180B"/>
            </a:solidFill>
            <a:ln>
              <a:noFill/>
            </a:ln>
          </p:spPr>
        </p:sp>
        <p:sp>
          <p:nvSpPr>
            <p:cNvPr id="11" name="TextBox 11"/>
            <p:cNvSpPr txBox="1"/>
            <p:nvPr/>
          </p:nvSpPr>
          <p:spPr>
            <a:xfrm>
              <a:off x="2986088" y="823912"/>
              <a:ext cx="670846" cy="147638"/>
            </a:xfrm>
            <a:prstGeom prst="rect">
              <a:avLst/>
            </a:prstGeom>
            <a:noFill/>
            <a:ln>
              <a:noFill/>
            </a:ln>
          </p:spPr>
          <p:txBody>
            <a:bodyPr wrap="none" lIns="0" tIns="0" rIns="0" bIns="0" anchor="t" anchorCtr="0">
              <a:spAutoFit/>
            </a:bodyPr>
            <a:lstStyle/>
            <a:p>
              <a:pPr algn="l"/>
              <a:r>
                <a:rPr lang="zh-CN" sz="750" dirty="0">
                  <a:solidFill>
                    <a:srgbClr val="4A3D3A"/>
                  </a:solidFill>
                  <a:latin typeface="+mn-lt"/>
                  <a:ea typeface="+mn-ea"/>
                  <a:cs typeface="+mn-cs"/>
                </a:rPr>
                <a:t>前三季度完成​</a:t>
              </a:r>
            </a:p>
          </p:txBody>
        </p:sp>
        <p:sp>
          <p:nvSpPr>
            <p:cNvPr id="12" name="Rectangle 12"/>
            <p:cNvSpPr/>
            <p:nvPr/>
          </p:nvSpPr>
          <p:spPr>
            <a:xfrm>
              <a:off x="3695700" y="819150"/>
              <a:ext cx="95250" cy="95250"/>
            </a:xfrm>
            <a:prstGeom prst="rect">
              <a:avLst/>
            </a:prstGeom>
            <a:solidFill>
              <a:srgbClr val="BFDDD6"/>
            </a:solidFill>
            <a:ln>
              <a:noFill/>
            </a:ln>
          </p:spPr>
        </p:sp>
        <p:sp>
          <p:nvSpPr>
            <p:cNvPr id="13" name="TextBox 13"/>
            <p:cNvSpPr txBox="1"/>
            <p:nvPr/>
          </p:nvSpPr>
          <p:spPr>
            <a:xfrm>
              <a:off x="3824288" y="823912"/>
              <a:ext cx="405670" cy="147638"/>
            </a:xfrm>
            <a:prstGeom prst="rect">
              <a:avLst/>
            </a:prstGeom>
            <a:noFill/>
            <a:ln>
              <a:noFill/>
            </a:ln>
          </p:spPr>
          <p:txBody>
            <a:bodyPr wrap="none" lIns="0" tIns="0" rIns="0" bIns="0" anchor="t" anchorCtr="0">
              <a:spAutoFit/>
            </a:bodyPr>
            <a:lstStyle/>
            <a:p>
              <a:pPr algn="l"/>
              <a:r>
                <a:rPr lang="zh-CN" sz="750" dirty="0">
                  <a:solidFill>
                    <a:srgbClr val="4A3D3A"/>
                  </a:solidFill>
                  <a:latin typeface="+mn-lt"/>
                  <a:ea typeface="+mn-ea"/>
                  <a:cs typeface="+mn-cs"/>
                </a:rPr>
                <a:t>Q4缺口​</a:t>
              </a:r>
            </a:p>
          </p:txBody>
        </p:sp>
        <p:sp>
          <p:nvSpPr>
            <p:cNvPr id="14" name="Rectangle 14"/>
            <p:cNvSpPr/>
            <p:nvPr/>
          </p:nvSpPr>
          <p:spPr>
            <a:xfrm>
              <a:off x="4362450" y="819150"/>
              <a:ext cx="95250" cy="95250"/>
            </a:xfrm>
            <a:prstGeom prst="rect">
              <a:avLst/>
            </a:prstGeom>
            <a:noFill/>
            <a:ln w="9525">
              <a:solidFill>
                <a:srgbClr val="8AA39C"/>
              </a:solidFill>
              <a:prstDash val="sysDot"/>
            </a:ln>
          </p:spPr>
        </p:sp>
        <p:sp>
          <p:nvSpPr>
            <p:cNvPr id="15" name="TextBox 15"/>
            <p:cNvSpPr txBox="1"/>
            <p:nvPr/>
          </p:nvSpPr>
          <p:spPr>
            <a:xfrm>
              <a:off x="4491038" y="823912"/>
              <a:ext cx="468916" cy="147638"/>
            </a:xfrm>
            <a:prstGeom prst="rect">
              <a:avLst/>
            </a:prstGeom>
            <a:noFill/>
            <a:ln>
              <a:noFill/>
            </a:ln>
          </p:spPr>
          <p:txBody>
            <a:bodyPr wrap="none" lIns="0" tIns="0" rIns="0" bIns="0" anchor="t" anchorCtr="0">
              <a:spAutoFit/>
            </a:bodyPr>
            <a:lstStyle/>
            <a:p>
              <a:pPr algn="l"/>
              <a:r>
                <a:rPr lang="zh-CN" sz="750" dirty="0">
                  <a:solidFill>
                    <a:srgbClr val="4A3D3A"/>
                  </a:solidFill>
                  <a:latin typeface="+mn-lt"/>
                  <a:ea typeface="+mn-ea"/>
                  <a:cs typeface="+mn-cs"/>
                </a:rPr>
                <a:t>年度目标​</a:t>
              </a:r>
            </a:p>
          </p:txBody>
        </p:sp>
        <p:sp>
          <p:nvSpPr>
            <p:cNvPr id="16" name="TextBox 16"/>
            <p:cNvSpPr txBox="1"/>
            <p:nvPr/>
          </p:nvSpPr>
          <p:spPr>
            <a:xfrm>
              <a:off x="909638" y="885111"/>
              <a:ext cx="549553"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金额(万元)​</a:t>
              </a:r>
            </a:p>
          </p:txBody>
        </p:sp>
        <p:grpSp>
          <p:nvGrpSpPr>
            <p:cNvPr id="23" name="Group 23"/>
            <p:cNvGrpSpPr/>
            <p:nvPr/>
          </p:nvGrpSpPr>
          <p:grpSpPr>
            <a:xfrm>
              <a:off x="411604" y="1003459"/>
              <a:ext cx="412309" cy="2324100"/>
              <a:chOff x="411604" y="1003459"/>
              <a:chExt cx="412309" cy="2324100"/>
            </a:xfrm>
          </p:grpSpPr>
          <p:sp>
            <p:nvSpPr>
              <p:cNvPr id="17" name="TextBox 17"/>
              <p:cNvSpPr txBox="1"/>
              <p:nvPr/>
            </p:nvSpPr>
            <p:spPr>
              <a:xfrm>
                <a:off x="411604" y="1003459"/>
                <a:ext cx="412308" cy="133350"/>
              </a:xfrm>
              <a:prstGeom prst="rect">
                <a:avLst/>
              </a:prstGeom>
              <a:noFill/>
              <a:ln>
                <a:noFill/>
              </a:ln>
            </p:spPr>
            <p:txBody>
              <a:bodyPr wrap="none" lIns="0" tIns="0" rIns="0" bIns="0" anchor="t" anchorCtr="0">
                <a:spAutoFit/>
              </a:bodyPr>
              <a:lstStyle/>
              <a:p>
                <a:pPr algn="r"/>
                <a:r>
                  <a:rPr lang="zh-CN" sz="680" dirty="0">
                    <a:solidFill>
                      <a:srgbClr val="8AA39C"/>
                    </a:solidFill>
                    <a:latin typeface="+mn-lt"/>
                    <a:ea typeface="+mn-ea"/>
                    <a:cs typeface="+mn-cs"/>
                  </a:rPr>
                  <a:t>100,000​</a:t>
                </a:r>
              </a:p>
            </p:txBody>
          </p:sp>
          <p:sp>
            <p:nvSpPr>
              <p:cNvPr id="18" name="TextBox 18"/>
              <p:cNvSpPr txBox="1"/>
              <p:nvPr/>
            </p:nvSpPr>
            <p:spPr>
              <a:xfrm>
                <a:off x="461952" y="1441609"/>
                <a:ext cx="361960" cy="133350"/>
              </a:xfrm>
              <a:prstGeom prst="rect">
                <a:avLst/>
              </a:prstGeom>
              <a:noFill/>
              <a:ln>
                <a:noFill/>
              </a:ln>
            </p:spPr>
            <p:txBody>
              <a:bodyPr wrap="none" lIns="0" tIns="0" rIns="0" bIns="0" anchor="t" anchorCtr="0">
                <a:spAutoFit/>
              </a:bodyPr>
              <a:lstStyle/>
              <a:p>
                <a:pPr algn="r"/>
                <a:r>
                  <a:rPr lang="zh-CN" sz="680" dirty="0">
                    <a:solidFill>
                      <a:srgbClr val="8AA39C"/>
                    </a:solidFill>
                    <a:latin typeface="+mn-lt"/>
                    <a:ea typeface="+mn-ea"/>
                    <a:cs typeface="+mn-cs"/>
                  </a:rPr>
                  <a:t>80,000​</a:t>
                </a:r>
              </a:p>
            </p:txBody>
          </p:sp>
          <p:sp>
            <p:nvSpPr>
              <p:cNvPr id="19" name="TextBox 19"/>
              <p:cNvSpPr txBox="1"/>
              <p:nvPr/>
            </p:nvSpPr>
            <p:spPr>
              <a:xfrm>
                <a:off x="461952" y="1879759"/>
                <a:ext cx="361960" cy="133350"/>
              </a:xfrm>
              <a:prstGeom prst="rect">
                <a:avLst/>
              </a:prstGeom>
              <a:noFill/>
              <a:ln>
                <a:noFill/>
              </a:ln>
            </p:spPr>
            <p:txBody>
              <a:bodyPr wrap="none" lIns="0" tIns="0" rIns="0" bIns="0" anchor="t" anchorCtr="0">
                <a:spAutoFit/>
              </a:bodyPr>
              <a:lstStyle/>
              <a:p>
                <a:pPr algn="r"/>
                <a:r>
                  <a:rPr lang="zh-CN" sz="680" dirty="0">
                    <a:solidFill>
                      <a:srgbClr val="8AA39C"/>
                    </a:solidFill>
                    <a:latin typeface="+mn-lt"/>
                    <a:ea typeface="+mn-ea"/>
                    <a:cs typeface="+mn-cs"/>
                  </a:rPr>
                  <a:t>60,000​</a:t>
                </a:r>
              </a:p>
            </p:txBody>
          </p:sp>
          <p:sp>
            <p:nvSpPr>
              <p:cNvPr id="20" name="TextBox 20"/>
              <p:cNvSpPr txBox="1"/>
              <p:nvPr/>
            </p:nvSpPr>
            <p:spPr>
              <a:xfrm>
                <a:off x="461952" y="2317909"/>
                <a:ext cx="361960" cy="133350"/>
              </a:xfrm>
              <a:prstGeom prst="rect">
                <a:avLst/>
              </a:prstGeom>
              <a:noFill/>
              <a:ln>
                <a:noFill/>
              </a:ln>
            </p:spPr>
            <p:txBody>
              <a:bodyPr wrap="none" lIns="0" tIns="0" rIns="0" bIns="0" anchor="t" anchorCtr="0">
                <a:spAutoFit/>
              </a:bodyPr>
              <a:lstStyle/>
              <a:p>
                <a:pPr algn="r"/>
                <a:r>
                  <a:rPr lang="zh-CN" sz="680" dirty="0">
                    <a:solidFill>
                      <a:srgbClr val="8AA39C"/>
                    </a:solidFill>
                    <a:latin typeface="+mn-lt"/>
                    <a:ea typeface="+mn-ea"/>
                    <a:cs typeface="+mn-cs"/>
                  </a:rPr>
                  <a:t>40,000​</a:t>
                </a:r>
              </a:p>
            </p:txBody>
          </p:sp>
          <p:sp>
            <p:nvSpPr>
              <p:cNvPr id="21" name="TextBox 21"/>
              <p:cNvSpPr txBox="1"/>
              <p:nvPr/>
            </p:nvSpPr>
            <p:spPr>
              <a:xfrm>
                <a:off x="461952" y="2756059"/>
                <a:ext cx="361960" cy="133350"/>
              </a:xfrm>
              <a:prstGeom prst="rect">
                <a:avLst/>
              </a:prstGeom>
              <a:noFill/>
              <a:ln>
                <a:noFill/>
              </a:ln>
            </p:spPr>
            <p:txBody>
              <a:bodyPr wrap="none" lIns="0" tIns="0" rIns="0" bIns="0" anchor="t" anchorCtr="0">
                <a:spAutoFit/>
              </a:bodyPr>
              <a:lstStyle/>
              <a:p>
                <a:pPr algn="r"/>
                <a:r>
                  <a:rPr lang="zh-CN" sz="680" dirty="0">
                    <a:solidFill>
                      <a:srgbClr val="8AA39C"/>
                    </a:solidFill>
                    <a:latin typeface="+mn-lt"/>
                    <a:ea typeface="+mn-ea"/>
                    <a:cs typeface="+mn-cs"/>
                  </a:rPr>
                  <a:t>20,000​</a:t>
                </a:r>
              </a:p>
            </p:txBody>
          </p:sp>
          <p:sp>
            <p:nvSpPr>
              <p:cNvPr id="22" name="TextBox 22"/>
              <p:cNvSpPr txBox="1"/>
              <p:nvPr/>
            </p:nvSpPr>
            <p:spPr>
              <a:xfrm>
                <a:off x="713692" y="3194209"/>
                <a:ext cx="110221" cy="133350"/>
              </a:xfrm>
              <a:prstGeom prst="rect">
                <a:avLst/>
              </a:prstGeom>
              <a:noFill/>
              <a:ln>
                <a:noFill/>
              </a:ln>
            </p:spPr>
            <p:txBody>
              <a:bodyPr wrap="none" lIns="0" tIns="0" rIns="0" bIns="0" anchor="t" anchorCtr="0">
                <a:spAutoFit/>
              </a:bodyPr>
              <a:lstStyle/>
              <a:p>
                <a:pPr algn="r"/>
                <a:r>
                  <a:rPr lang="zh-CN" sz="680" dirty="0">
                    <a:solidFill>
                      <a:srgbClr val="8AA39C"/>
                    </a:solidFill>
                    <a:latin typeface="+mn-lt"/>
                    <a:ea typeface="+mn-ea"/>
                    <a:cs typeface="+mn-cs"/>
                  </a:rPr>
                  <a:t>0​</a:t>
                </a:r>
              </a:p>
            </p:txBody>
          </p:sp>
        </p:grpSp>
        <p:sp>
          <p:nvSpPr>
            <p:cNvPr id="24" name="Line 24"/>
            <p:cNvSpPr/>
            <p:nvPr/>
          </p:nvSpPr>
          <p:spPr>
            <a:xfrm>
              <a:off x="876300" y="1047750"/>
              <a:ext cx="5029200" cy="9525"/>
            </a:xfrm>
            <a:custGeom>
              <a:avLst/>
              <a:gdLst/>
              <a:ahLst/>
              <a:cxnLst/>
              <a:rect l="l" t="t" r="r" b="b"/>
              <a:pathLst>
                <a:path w="5029200" h="9525">
                  <a:moveTo>
                    <a:pt x="0" y="0"/>
                  </a:moveTo>
                  <a:lnTo>
                    <a:pt x="5029200" y="0"/>
                  </a:lnTo>
                </a:path>
              </a:pathLst>
            </a:custGeom>
            <a:noFill/>
            <a:ln w="9525">
              <a:solidFill>
                <a:srgbClr val="DCE8E3"/>
              </a:solidFill>
            </a:ln>
          </p:spPr>
        </p:sp>
        <p:sp>
          <p:nvSpPr>
            <p:cNvPr id="25" name="Line 25"/>
            <p:cNvSpPr/>
            <p:nvPr/>
          </p:nvSpPr>
          <p:spPr>
            <a:xfrm>
              <a:off x="876300" y="1485900"/>
              <a:ext cx="5029200" cy="9525"/>
            </a:xfrm>
            <a:custGeom>
              <a:avLst/>
              <a:gdLst/>
              <a:ahLst/>
              <a:cxnLst/>
              <a:rect l="l" t="t" r="r" b="b"/>
              <a:pathLst>
                <a:path w="5029200" h="9525">
                  <a:moveTo>
                    <a:pt x="0" y="0"/>
                  </a:moveTo>
                  <a:lnTo>
                    <a:pt x="5029200" y="0"/>
                  </a:lnTo>
                </a:path>
              </a:pathLst>
            </a:custGeom>
            <a:noFill/>
            <a:ln w="9525">
              <a:solidFill>
                <a:srgbClr val="DCE8E3"/>
              </a:solidFill>
            </a:ln>
          </p:spPr>
        </p:sp>
        <p:sp>
          <p:nvSpPr>
            <p:cNvPr id="26" name="Line 26"/>
            <p:cNvSpPr/>
            <p:nvPr/>
          </p:nvSpPr>
          <p:spPr>
            <a:xfrm>
              <a:off x="876300" y="1924050"/>
              <a:ext cx="5029200" cy="9525"/>
            </a:xfrm>
            <a:custGeom>
              <a:avLst/>
              <a:gdLst/>
              <a:ahLst/>
              <a:cxnLst/>
              <a:rect l="l" t="t" r="r" b="b"/>
              <a:pathLst>
                <a:path w="5029200" h="9525">
                  <a:moveTo>
                    <a:pt x="0" y="0"/>
                  </a:moveTo>
                  <a:lnTo>
                    <a:pt x="5029200" y="0"/>
                  </a:lnTo>
                </a:path>
              </a:pathLst>
            </a:custGeom>
            <a:noFill/>
            <a:ln w="9525">
              <a:solidFill>
                <a:srgbClr val="DCE8E3"/>
              </a:solidFill>
            </a:ln>
          </p:spPr>
        </p:sp>
        <p:sp>
          <p:nvSpPr>
            <p:cNvPr id="27" name="Line 27"/>
            <p:cNvSpPr/>
            <p:nvPr/>
          </p:nvSpPr>
          <p:spPr>
            <a:xfrm>
              <a:off x="876300" y="2362200"/>
              <a:ext cx="5029200" cy="9525"/>
            </a:xfrm>
            <a:custGeom>
              <a:avLst/>
              <a:gdLst/>
              <a:ahLst/>
              <a:cxnLst/>
              <a:rect l="l" t="t" r="r" b="b"/>
              <a:pathLst>
                <a:path w="5029200" h="9525">
                  <a:moveTo>
                    <a:pt x="0" y="0"/>
                  </a:moveTo>
                  <a:lnTo>
                    <a:pt x="5029200" y="0"/>
                  </a:lnTo>
                </a:path>
              </a:pathLst>
            </a:custGeom>
            <a:noFill/>
            <a:ln w="9525">
              <a:solidFill>
                <a:srgbClr val="DCE8E3"/>
              </a:solidFill>
            </a:ln>
          </p:spPr>
        </p:sp>
        <p:sp>
          <p:nvSpPr>
            <p:cNvPr id="28" name="Line 28"/>
            <p:cNvSpPr/>
            <p:nvPr/>
          </p:nvSpPr>
          <p:spPr>
            <a:xfrm>
              <a:off x="876300" y="2800350"/>
              <a:ext cx="5029200" cy="9525"/>
            </a:xfrm>
            <a:custGeom>
              <a:avLst/>
              <a:gdLst/>
              <a:ahLst/>
              <a:cxnLst/>
              <a:rect l="l" t="t" r="r" b="b"/>
              <a:pathLst>
                <a:path w="5029200" h="9525">
                  <a:moveTo>
                    <a:pt x="0" y="0"/>
                  </a:moveTo>
                  <a:lnTo>
                    <a:pt x="5029200" y="0"/>
                  </a:lnTo>
                </a:path>
              </a:pathLst>
            </a:custGeom>
            <a:noFill/>
            <a:ln w="9525">
              <a:solidFill>
                <a:srgbClr val="DCE8E3"/>
              </a:solidFill>
            </a:ln>
          </p:spPr>
        </p:sp>
        <p:sp>
          <p:nvSpPr>
            <p:cNvPr id="29" name="Line 29"/>
            <p:cNvSpPr/>
            <p:nvPr/>
          </p:nvSpPr>
          <p:spPr>
            <a:xfrm>
              <a:off x="876300" y="3238500"/>
              <a:ext cx="5029200" cy="9525"/>
            </a:xfrm>
            <a:custGeom>
              <a:avLst/>
              <a:gdLst/>
              <a:ahLst/>
              <a:cxnLst/>
              <a:rect l="l" t="t" r="r" b="b"/>
              <a:pathLst>
                <a:path w="5029200" h="9525">
                  <a:moveTo>
                    <a:pt x="0" y="0"/>
                  </a:moveTo>
                  <a:lnTo>
                    <a:pt x="5029200" y="0"/>
                  </a:lnTo>
                </a:path>
              </a:pathLst>
            </a:custGeom>
            <a:noFill/>
            <a:ln w="11430">
              <a:solidFill>
                <a:srgbClr val="8AA39C"/>
              </a:solidFill>
            </a:ln>
          </p:spPr>
        </p:sp>
        <p:grpSp>
          <p:nvGrpSpPr>
            <p:cNvPr id="78" name="bridge-bars"/>
            <p:cNvGrpSpPr/>
            <p:nvPr/>
          </p:nvGrpSpPr>
          <p:grpSpPr>
            <a:xfrm>
              <a:off x="952500" y="1343739"/>
              <a:ext cx="4724400" cy="2218849"/>
              <a:chOff x="952500" y="1343739"/>
              <a:chExt cx="4724400" cy="2218849"/>
            </a:xfrm>
          </p:grpSpPr>
          <p:sp>
            <p:nvSpPr>
              <p:cNvPr id="30" name="TextBox 30"/>
              <p:cNvSpPr txBox="1"/>
              <p:nvPr/>
            </p:nvSpPr>
            <p:spPr>
              <a:xfrm>
                <a:off x="999478" y="1343739"/>
                <a:ext cx="439444"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80,000​</a:t>
                </a:r>
              </a:p>
            </p:txBody>
          </p:sp>
          <p:sp>
            <p:nvSpPr>
              <p:cNvPr id="31" name="Rectangle 31"/>
              <p:cNvSpPr/>
              <p:nvPr/>
            </p:nvSpPr>
            <p:spPr>
              <a:xfrm>
                <a:off x="952500" y="1876425"/>
                <a:ext cx="533400" cy="1362075"/>
              </a:xfrm>
              <a:prstGeom prst="rect">
                <a:avLst/>
              </a:prstGeom>
              <a:solidFill>
                <a:srgbClr val="5B180B"/>
              </a:solidFill>
              <a:ln>
                <a:noFill/>
              </a:ln>
            </p:spPr>
          </p:sp>
          <p:sp>
            <p:nvSpPr>
              <p:cNvPr id="32" name="Rectangle 32"/>
              <p:cNvSpPr/>
              <p:nvPr/>
            </p:nvSpPr>
            <p:spPr>
              <a:xfrm>
                <a:off x="952500" y="1485900"/>
                <a:ext cx="533400" cy="390525"/>
              </a:xfrm>
              <a:prstGeom prst="rect">
                <a:avLst/>
              </a:prstGeom>
              <a:solidFill>
                <a:srgbClr val="BFDDD6"/>
              </a:solidFill>
              <a:ln w="7620">
                <a:solidFill>
                  <a:srgbClr val="8AA39C"/>
                </a:solidFill>
                <a:custDash>
                  <a:ds d="375000" sp="250000"/>
                </a:custDash>
              </a:ln>
            </p:spPr>
          </p:sp>
          <p:sp>
            <p:nvSpPr>
              <p:cNvPr id="33" name="TextBox 33"/>
              <p:cNvSpPr txBox="1"/>
              <p:nvPr/>
            </p:nvSpPr>
            <p:spPr>
              <a:xfrm>
                <a:off x="962429" y="1602819"/>
                <a:ext cx="51354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缺口18,000​</a:t>
                </a:r>
              </a:p>
            </p:txBody>
          </p:sp>
          <p:sp>
            <p:nvSpPr>
              <p:cNvPr id="34" name="TextBox 34"/>
              <p:cNvSpPr txBox="1"/>
              <p:nvPr/>
            </p:nvSpPr>
            <p:spPr>
              <a:xfrm>
                <a:off x="1041047" y="1706166"/>
                <a:ext cx="356306"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(22.5%)​</a:t>
                </a:r>
              </a:p>
            </p:txBody>
          </p:sp>
          <p:sp>
            <p:nvSpPr>
              <p:cNvPr id="35" name="TextBox 35"/>
              <p:cNvSpPr txBox="1"/>
              <p:nvPr/>
            </p:nvSpPr>
            <p:spPr>
              <a:xfrm>
                <a:off x="1038220" y="2522696"/>
                <a:ext cx="361960"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62,000​</a:t>
                </a:r>
              </a:p>
            </p:txBody>
          </p:sp>
          <p:sp>
            <p:nvSpPr>
              <p:cNvPr id="36" name="TextBox 36"/>
              <p:cNvSpPr txBox="1"/>
              <p:nvPr/>
            </p:nvSpPr>
            <p:spPr>
              <a:xfrm>
                <a:off x="1072174" y="3301841"/>
                <a:ext cx="294051"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存款​</a:t>
                </a:r>
              </a:p>
            </p:txBody>
          </p:sp>
          <p:sp>
            <p:nvSpPr>
              <p:cNvPr id="37" name="TextBox 37"/>
              <p:cNvSpPr txBox="1"/>
              <p:nvPr/>
            </p:nvSpPr>
            <p:spPr>
              <a:xfrm>
                <a:off x="1057201" y="3436382"/>
                <a:ext cx="323997" cy="126206"/>
              </a:xfrm>
              <a:prstGeom prst="rect">
                <a:avLst/>
              </a:prstGeom>
              <a:noFill/>
              <a:ln>
                <a:noFill/>
              </a:ln>
            </p:spPr>
            <p:txBody>
              <a:bodyPr wrap="none" lIns="0" tIns="0" rIns="0" bIns="0" anchor="t" anchorCtr="0">
                <a:spAutoFit/>
              </a:bodyPr>
              <a:lstStyle/>
              <a:p>
                <a:pPr algn="ctr"/>
                <a:r>
                  <a:rPr lang="zh-CN" sz="640" dirty="0">
                    <a:solidFill>
                      <a:srgbClr val="8AA39C"/>
                    </a:solidFill>
                    <a:latin typeface="+mn-lt"/>
                    <a:ea typeface="+mn-ea"/>
                    <a:cs typeface="+mn-cs"/>
                  </a:rPr>
                  <a:t>(亿元)​</a:t>
                </a:r>
              </a:p>
            </p:txBody>
          </p:sp>
          <p:sp>
            <p:nvSpPr>
              <p:cNvPr id="38" name="TextBox 38"/>
              <p:cNvSpPr txBox="1"/>
              <p:nvPr/>
            </p:nvSpPr>
            <p:spPr>
              <a:xfrm>
                <a:off x="1837678" y="1781889"/>
                <a:ext cx="439444"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60,000​</a:t>
                </a:r>
              </a:p>
            </p:txBody>
          </p:sp>
          <p:sp>
            <p:nvSpPr>
              <p:cNvPr id="39" name="Rectangle 39"/>
              <p:cNvSpPr/>
              <p:nvPr/>
            </p:nvSpPr>
            <p:spPr>
              <a:xfrm>
                <a:off x="1790700" y="2228850"/>
                <a:ext cx="533400" cy="1009650"/>
              </a:xfrm>
              <a:prstGeom prst="rect">
                <a:avLst/>
              </a:prstGeom>
              <a:solidFill>
                <a:srgbClr val="5B180B"/>
              </a:solidFill>
              <a:ln>
                <a:noFill/>
              </a:ln>
            </p:spPr>
          </p:sp>
          <p:sp>
            <p:nvSpPr>
              <p:cNvPr id="40" name="Rectangle 40"/>
              <p:cNvSpPr/>
              <p:nvPr/>
            </p:nvSpPr>
            <p:spPr>
              <a:xfrm>
                <a:off x="1790700" y="1924050"/>
                <a:ext cx="533400" cy="304800"/>
              </a:xfrm>
              <a:prstGeom prst="rect">
                <a:avLst/>
              </a:prstGeom>
              <a:solidFill>
                <a:srgbClr val="BFDDD6"/>
              </a:solidFill>
              <a:ln w="7620">
                <a:solidFill>
                  <a:srgbClr val="8AA39C"/>
                </a:solidFill>
                <a:custDash>
                  <a:ds d="375000" sp="250000"/>
                </a:custDash>
              </a:ln>
            </p:spPr>
          </p:sp>
          <p:sp>
            <p:nvSpPr>
              <p:cNvPr id="41" name="TextBox 41"/>
              <p:cNvSpPr txBox="1"/>
              <p:nvPr/>
            </p:nvSpPr>
            <p:spPr>
              <a:xfrm>
                <a:off x="1800629" y="1998107"/>
                <a:ext cx="51354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缺口14,000​</a:t>
                </a:r>
              </a:p>
            </p:txBody>
          </p:sp>
          <p:sp>
            <p:nvSpPr>
              <p:cNvPr id="42" name="TextBox 42"/>
              <p:cNvSpPr txBox="1"/>
              <p:nvPr/>
            </p:nvSpPr>
            <p:spPr>
              <a:xfrm>
                <a:off x="1879247" y="2101453"/>
                <a:ext cx="356306"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(23.3%)​</a:t>
                </a:r>
              </a:p>
            </p:txBody>
          </p:sp>
          <p:sp>
            <p:nvSpPr>
              <p:cNvPr id="43" name="TextBox 43"/>
              <p:cNvSpPr txBox="1"/>
              <p:nvPr/>
            </p:nvSpPr>
            <p:spPr>
              <a:xfrm>
                <a:off x="1876420" y="2698909"/>
                <a:ext cx="361960"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46,000​</a:t>
                </a:r>
              </a:p>
            </p:txBody>
          </p:sp>
          <p:sp>
            <p:nvSpPr>
              <p:cNvPr id="44" name="TextBox 44"/>
              <p:cNvSpPr txBox="1"/>
              <p:nvPr/>
            </p:nvSpPr>
            <p:spPr>
              <a:xfrm>
                <a:off x="1905675" y="3301841"/>
                <a:ext cx="303450" cy="161925"/>
              </a:xfrm>
              <a:prstGeom prst="rect">
                <a:avLst/>
              </a:prstGeom>
              <a:noFill/>
              <a:ln>
                <a:noFill/>
              </a:ln>
            </p:spPr>
            <p:txBody>
              <a:bodyPr wrap="none" lIns="0" tIns="0" rIns="0" bIns="0" anchor="t" anchorCtr="0">
                <a:spAutoFit/>
              </a:bodyPr>
              <a:lstStyle/>
              <a:p>
                <a:pPr algn="ctr"/>
                <a:r>
                  <a:rPr lang="en-US" sz="820" b="1" dirty="0">
                    <a:solidFill>
                      <a:srgbClr val="312624"/>
                    </a:solidFill>
                    <a:latin typeface="+mn-lt"/>
                    <a:ea typeface="+mn-ea"/>
                    <a:cs typeface="+mn-cs"/>
                  </a:rPr>
                  <a:t>AUM​</a:t>
                </a:r>
              </a:p>
            </p:txBody>
          </p:sp>
          <p:sp>
            <p:nvSpPr>
              <p:cNvPr id="45" name="TextBox 45"/>
              <p:cNvSpPr txBox="1"/>
              <p:nvPr/>
            </p:nvSpPr>
            <p:spPr>
              <a:xfrm>
                <a:off x="1895401" y="3436382"/>
                <a:ext cx="323997" cy="126206"/>
              </a:xfrm>
              <a:prstGeom prst="rect">
                <a:avLst/>
              </a:prstGeom>
              <a:noFill/>
              <a:ln>
                <a:noFill/>
              </a:ln>
            </p:spPr>
            <p:txBody>
              <a:bodyPr wrap="none" lIns="0" tIns="0" rIns="0" bIns="0" anchor="t" anchorCtr="0">
                <a:spAutoFit/>
              </a:bodyPr>
              <a:lstStyle/>
              <a:p>
                <a:pPr algn="ctr"/>
                <a:r>
                  <a:rPr lang="zh-CN" sz="640" dirty="0">
                    <a:solidFill>
                      <a:srgbClr val="8AA39C"/>
                    </a:solidFill>
                    <a:latin typeface="+mn-lt"/>
                    <a:ea typeface="+mn-ea"/>
                    <a:cs typeface="+mn-cs"/>
                  </a:rPr>
                  <a:t>(亿元)​</a:t>
                </a:r>
              </a:p>
            </p:txBody>
          </p:sp>
          <p:sp>
            <p:nvSpPr>
              <p:cNvPr id="46" name="TextBox 46"/>
              <p:cNvSpPr txBox="1"/>
              <p:nvPr/>
            </p:nvSpPr>
            <p:spPr>
              <a:xfrm>
                <a:off x="2675878" y="2601039"/>
                <a:ext cx="439444"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15,000​</a:t>
                </a:r>
              </a:p>
            </p:txBody>
          </p:sp>
          <p:sp>
            <p:nvSpPr>
              <p:cNvPr id="47" name="Rectangle 47"/>
              <p:cNvSpPr/>
              <p:nvPr/>
            </p:nvSpPr>
            <p:spPr>
              <a:xfrm>
                <a:off x="2628900" y="2981325"/>
                <a:ext cx="533400" cy="257175"/>
              </a:xfrm>
              <a:prstGeom prst="rect">
                <a:avLst/>
              </a:prstGeom>
              <a:solidFill>
                <a:srgbClr val="5B180B"/>
              </a:solidFill>
              <a:ln>
                <a:noFill/>
              </a:ln>
            </p:spPr>
          </p:sp>
          <p:sp>
            <p:nvSpPr>
              <p:cNvPr id="48" name="Rectangle 48"/>
              <p:cNvSpPr/>
              <p:nvPr/>
            </p:nvSpPr>
            <p:spPr>
              <a:xfrm>
                <a:off x="2628900" y="2914650"/>
                <a:ext cx="533400" cy="66675"/>
              </a:xfrm>
              <a:prstGeom prst="rect">
                <a:avLst/>
              </a:prstGeom>
              <a:solidFill>
                <a:srgbClr val="BFDDD6"/>
              </a:solidFill>
              <a:ln w="7620">
                <a:solidFill>
                  <a:srgbClr val="8AA39C"/>
                </a:solidFill>
                <a:custDash>
                  <a:ds d="375000" sp="250000"/>
                </a:custDash>
              </a:ln>
            </p:spPr>
          </p:sp>
          <p:sp>
            <p:nvSpPr>
              <p:cNvPr id="49" name="TextBox 49"/>
              <p:cNvSpPr txBox="1"/>
              <p:nvPr/>
            </p:nvSpPr>
            <p:spPr>
              <a:xfrm>
                <a:off x="2662522" y="2722007"/>
                <a:ext cx="46615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缺口3,200​</a:t>
                </a:r>
              </a:p>
            </p:txBody>
          </p:sp>
          <p:sp>
            <p:nvSpPr>
              <p:cNvPr id="50" name="TextBox 50"/>
              <p:cNvSpPr txBox="1"/>
              <p:nvPr/>
            </p:nvSpPr>
            <p:spPr>
              <a:xfrm>
                <a:off x="2717447" y="2815828"/>
                <a:ext cx="356306"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(21.3%)​</a:t>
                </a:r>
              </a:p>
            </p:txBody>
          </p:sp>
          <p:sp>
            <p:nvSpPr>
              <p:cNvPr id="51" name="TextBox 51"/>
              <p:cNvSpPr txBox="1"/>
              <p:nvPr/>
            </p:nvSpPr>
            <p:spPr>
              <a:xfrm>
                <a:off x="2714620" y="3075146"/>
                <a:ext cx="361960"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11,800​</a:t>
                </a:r>
              </a:p>
            </p:txBody>
          </p:sp>
          <p:sp>
            <p:nvSpPr>
              <p:cNvPr id="52" name="TextBox 52"/>
              <p:cNvSpPr txBox="1"/>
              <p:nvPr/>
            </p:nvSpPr>
            <p:spPr>
              <a:xfrm>
                <a:off x="2748574" y="3301841"/>
                <a:ext cx="294051"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中收​</a:t>
                </a:r>
              </a:p>
            </p:txBody>
          </p:sp>
          <p:sp>
            <p:nvSpPr>
              <p:cNvPr id="53" name="TextBox 53"/>
              <p:cNvSpPr txBox="1"/>
              <p:nvPr/>
            </p:nvSpPr>
            <p:spPr>
              <a:xfrm>
                <a:off x="2733601" y="3436382"/>
                <a:ext cx="323997" cy="126206"/>
              </a:xfrm>
              <a:prstGeom prst="rect">
                <a:avLst/>
              </a:prstGeom>
              <a:noFill/>
              <a:ln>
                <a:noFill/>
              </a:ln>
            </p:spPr>
            <p:txBody>
              <a:bodyPr wrap="none" lIns="0" tIns="0" rIns="0" bIns="0" anchor="t" anchorCtr="0">
                <a:spAutoFit/>
              </a:bodyPr>
              <a:lstStyle/>
              <a:p>
                <a:pPr algn="ctr"/>
                <a:r>
                  <a:rPr lang="zh-CN" sz="640" dirty="0">
                    <a:solidFill>
                      <a:srgbClr val="8AA39C"/>
                    </a:solidFill>
                    <a:latin typeface="+mn-lt"/>
                    <a:ea typeface="+mn-ea"/>
                    <a:cs typeface="+mn-cs"/>
                  </a:rPr>
                  <a:t>(万元)​</a:t>
                </a:r>
              </a:p>
            </p:txBody>
          </p:sp>
          <p:sp>
            <p:nvSpPr>
              <p:cNvPr id="54" name="TextBox 54"/>
              <p:cNvSpPr txBox="1"/>
              <p:nvPr/>
            </p:nvSpPr>
            <p:spPr>
              <a:xfrm>
                <a:off x="3514078" y="1829514"/>
                <a:ext cx="439444"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50,000​</a:t>
                </a:r>
              </a:p>
            </p:txBody>
          </p:sp>
          <p:sp>
            <p:nvSpPr>
              <p:cNvPr id="55" name="Rectangle 55"/>
              <p:cNvSpPr/>
              <p:nvPr/>
            </p:nvSpPr>
            <p:spPr>
              <a:xfrm>
                <a:off x="3467100" y="2362200"/>
                <a:ext cx="533400" cy="876300"/>
              </a:xfrm>
              <a:prstGeom prst="rect">
                <a:avLst/>
              </a:prstGeom>
              <a:solidFill>
                <a:srgbClr val="5B180B"/>
              </a:solidFill>
              <a:ln>
                <a:noFill/>
              </a:ln>
            </p:spPr>
          </p:sp>
          <p:sp>
            <p:nvSpPr>
              <p:cNvPr id="56" name="Rectangle 56"/>
              <p:cNvSpPr/>
              <p:nvPr/>
            </p:nvSpPr>
            <p:spPr>
              <a:xfrm>
                <a:off x="3467100" y="2143125"/>
                <a:ext cx="533400" cy="219075"/>
              </a:xfrm>
              <a:prstGeom prst="rect">
                <a:avLst/>
              </a:prstGeom>
              <a:solidFill>
                <a:srgbClr val="BFDDD6"/>
              </a:solidFill>
              <a:ln w="7620">
                <a:solidFill>
                  <a:srgbClr val="8AA39C"/>
                </a:solidFill>
                <a:custDash>
                  <a:ds d="375000" sp="250000"/>
                </a:custDash>
              </a:ln>
            </p:spPr>
          </p:sp>
          <p:sp>
            <p:nvSpPr>
              <p:cNvPr id="57" name="TextBox 57"/>
              <p:cNvSpPr txBox="1"/>
              <p:nvPr/>
            </p:nvSpPr>
            <p:spPr>
              <a:xfrm>
                <a:off x="3477029" y="1950482"/>
                <a:ext cx="51354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缺口10,000​</a:t>
                </a:r>
              </a:p>
            </p:txBody>
          </p:sp>
          <p:sp>
            <p:nvSpPr>
              <p:cNvPr id="58" name="TextBox 58"/>
              <p:cNvSpPr txBox="1"/>
              <p:nvPr/>
            </p:nvSpPr>
            <p:spPr>
              <a:xfrm>
                <a:off x="3555647" y="2044303"/>
                <a:ext cx="356306"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(20.0%)​</a:t>
                </a:r>
              </a:p>
            </p:txBody>
          </p:sp>
          <p:sp>
            <p:nvSpPr>
              <p:cNvPr id="59" name="TextBox 59"/>
              <p:cNvSpPr txBox="1"/>
              <p:nvPr/>
            </p:nvSpPr>
            <p:spPr>
              <a:xfrm>
                <a:off x="3552820" y="2765584"/>
                <a:ext cx="361960"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40,000​</a:t>
                </a:r>
              </a:p>
            </p:txBody>
          </p:sp>
          <p:sp>
            <p:nvSpPr>
              <p:cNvPr id="60" name="TextBox 60"/>
              <p:cNvSpPr txBox="1"/>
              <p:nvPr/>
            </p:nvSpPr>
            <p:spPr>
              <a:xfrm>
                <a:off x="3586774" y="3301841"/>
                <a:ext cx="294051"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贷款​</a:t>
                </a:r>
              </a:p>
            </p:txBody>
          </p:sp>
          <p:sp>
            <p:nvSpPr>
              <p:cNvPr id="61" name="TextBox 61"/>
              <p:cNvSpPr txBox="1"/>
              <p:nvPr/>
            </p:nvSpPr>
            <p:spPr>
              <a:xfrm>
                <a:off x="3571801" y="3436382"/>
                <a:ext cx="323997" cy="126206"/>
              </a:xfrm>
              <a:prstGeom prst="rect">
                <a:avLst/>
              </a:prstGeom>
              <a:noFill/>
              <a:ln>
                <a:noFill/>
              </a:ln>
            </p:spPr>
            <p:txBody>
              <a:bodyPr wrap="none" lIns="0" tIns="0" rIns="0" bIns="0" anchor="t" anchorCtr="0">
                <a:spAutoFit/>
              </a:bodyPr>
              <a:lstStyle/>
              <a:p>
                <a:pPr algn="ctr"/>
                <a:r>
                  <a:rPr lang="zh-CN" sz="640" dirty="0">
                    <a:solidFill>
                      <a:srgbClr val="8AA39C"/>
                    </a:solidFill>
                    <a:latin typeface="+mn-lt"/>
                    <a:ea typeface="+mn-ea"/>
                    <a:cs typeface="+mn-cs"/>
                  </a:rPr>
                  <a:t>(亿元)​</a:t>
                </a:r>
              </a:p>
            </p:txBody>
          </p:sp>
          <p:sp>
            <p:nvSpPr>
              <p:cNvPr id="62" name="TextBox 62"/>
              <p:cNvSpPr txBox="1"/>
              <p:nvPr/>
            </p:nvSpPr>
            <p:spPr>
              <a:xfrm>
                <a:off x="4352278" y="2667714"/>
                <a:ext cx="439444"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12,000​</a:t>
                </a:r>
              </a:p>
            </p:txBody>
          </p:sp>
          <p:sp>
            <p:nvSpPr>
              <p:cNvPr id="63" name="Rectangle 63"/>
              <p:cNvSpPr/>
              <p:nvPr/>
            </p:nvSpPr>
            <p:spPr>
              <a:xfrm>
                <a:off x="4305300" y="3038475"/>
                <a:ext cx="533400" cy="200025"/>
              </a:xfrm>
              <a:prstGeom prst="rect">
                <a:avLst/>
              </a:prstGeom>
              <a:solidFill>
                <a:srgbClr val="5B180B"/>
              </a:solidFill>
              <a:ln>
                <a:noFill/>
              </a:ln>
            </p:spPr>
          </p:sp>
          <p:sp>
            <p:nvSpPr>
              <p:cNvPr id="64" name="Rectangle 64"/>
              <p:cNvSpPr/>
              <p:nvPr/>
            </p:nvSpPr>
            <p:spPr>
              <a:xfrm>
                <a:off x="4305300" y="2981325"/>
                <a:ext cx="533400" cy="57150"/>
              </a:xfrm>
              <a:prstGeom prst="rect">
                <a:avLst/>
              </a:prstGeom>
              <a:solidFill>
                <a:srgbClr val="BFDDD6"/>
              </a:solidFill>
              <a:ln w="7620">
                <a:solidFill>
                  <a:srgbClr val="8AA39C"/>
                </a:solidFill>
                <a:custDash>
                  <a:ds d="375000" sp="250000"/>
                </a:custDash>
              </a:ln>
            </p:spPr>
          </p:sp>
          <p:sp>
            <p:nvSpPr>
              <p:cNvPr id="65" name="TextBox 65"/>
              <p:cNvSpPr txBox="1"/>
              <p:nvPr/>
            </p:nvSpPr>
            <p:spPr>
              <a:xfrm>
                <a:off x="4338922" y="2788682"/>
                <a:ext cx="46615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缺口2,800​</a:t>
                </a:r>
              </a:p>
            </p:txBody>
          </p:sp>
          <p:sp>
            <p:nvSpPr>
              <p:cNvPr id="66" name="TextBox 66"/>
              <p:cNvSpPr txBox="1"/>
              <p:nvPr/>
            </p:nvSpPr>
            <p:spPr>
              <a:xfrm>
                <a:off x="4393847" y="2882503"/>
                <a:ext cx="356306"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(23.3%)​</a:t>
                </a:r>
              </a:p>
            </p:txBody>
          </p:sp>
          <p:sp>
            <p:nvSpPr>
              <p:cNvPr id="67" name="TextBox 67"/>
              <p:cNvSpPr txBox="1"/>
              <p:nvPr/>
            </p:nvSpPr>
            <p:spPr>
              <a:xfrm>
                <a:off x="4416194" y="3103721"/>
                <a:ext cx="311612"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9,200​</a:t>
                </a:r>
              </a:p>
            </p:txBody>
          </p:sp>
          <p:sp>
            <p:nvSpPr>
              <p:cNvPr id="68" name="TextBox 68"/>
              <p:cNvSpPr txBox="1"/>
              <p:nvPr/>
            </p:nvSpPr>
            <p:spPr>
              <a:xfrm>
                <a:off x="4424974" y="3301841"/>
                <a:ext cx="294051"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客户​</a:t>
                </a:r>
              </a:p>
            </p:txBody>
          </p:sp>
          <p:sp>
            <p:nvSpPr>
              <p:cNvPr id="69" name="TextBox 69"/>
              <p:cNvSpPr txBox="1"/>
              <p:nvPr/>
            </p:nvSpPr>
            <p:spPr>
              <a:xfrm>
                <a:off x="4453080" y="3436382"/>
                <a:ext cx="237841" cy="126206"/>
              </a:xfrm>
              <a:prstGeom prst="rect">
                <a:avLst/>
              </a:prstGeom>
              <a:noFill/>
              <a:ln>
                <a:noFill/>
              </a:ln>
            </p:spPr>
            <p:txBody>
              <a:bodyPr wrap="none" lIns="0" tIns="0" rIns="0" bIns="0" anchor="t" anchorCtr="0">
                <a:spAutoFit/>
              </a:bodyPr>
              <a:lstStyle/>
              <a:p>
                <a:pPr algn="ctr"/>
                <a:r>
                  <a:rPr lang="zh-CN" sz="640" dirty="0">
                    <a:solidFill>
                      <a:srgbClr val="8AA39C"/>
                    </a:solidFill>
                    <a:latin typeface="+mn-lt"/>
                    <a:ea typeface="+mn-ea"/>
                    <a:cs typeface="+mn-cs"/>
                  </a:rPr>
                  <a:t>(户)​</a:t>
                </a:r>
              </a:p>
            </p:txBody>
          </p:sp>
          <p:sp>
            <p:nvSpPr>
              <p:cNvPr id="70" name="TextBox 70"/>
              <p:cNvSpPr txBox="1"/>
              <p:nvPr/>
            </p:nvSpPr>
            <p:spPr>
              <a:xfrm>
                <a:off x="5221186" y="2743914"/>
                <a:ext cx="378027"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8,000​</a:t>
                </a:r>
              </a:p>
            </p:txBody>
          </p:sp>
          <p:sp>
            <p:nvSpPr>
              <p:cNvPr id="71" name="Rectangle 71"/>
              <p:cNvSpPr/>
              <p:nvPr/>
            </p:nvSpPr>
            <p:spPr>
              <a:xfrm>
                <a:off x="5143500" y="3095625"/>
                <a:ext cx="533400" cy="142875"/>
              </a:xfrm>
              <a:prstGeom prst="rect">
                <a:avLst/>
              </a:prstGeom>
              <a:solidFill>
                <a:srgbClr val="5B180B"/>
              </a:solidFill>
              <a:ln>
                <a:noFill/>
              </a:ln>
            </p:spPr>
          </p:sp>
          <p:sp>
            <p:nvSpPr>
              <p:cNvPr id="72" name="Rectangle 72"/>
              <p:cNvSpPr/>
              <p:nvPr/>
            </p:nvSpPr>
            <p:spPr>
              <a:xfrm>
                <a:off x="5143500" y="3057525"/>
                <a:ext cx="533400" cy="38100"/>
              </a:xfrm>
              <a:prstGeom prst="rect">
                <a:avLst/>
              </a:prstGeom>
              <a:solidFill>
                <a:srgbClr val="BFDDD6"/>
              </a:solidFill>
              <a:ln w="7620">
                <a:solidFill>
                  <a:srgbClr val="8AA39C"/>
                </a:solidFill>
                <a:custDash>
                  <a:ds d="375000" sp="250000"/>
                </a:custDash>
              </a:ln>
            </p:spPr>
          </p:sp>
          <p:sp>
            <p:nvSpPr>
              <p:cNvPr id="73" name="TextBox 73"/>
              <p:cNvSpPr txBox="1"/>
              <p:nvPr/>
            </p:nvSpPr>
            <p:spPr>
              <a:xfrm>
                <a:off x="5177122" y="2864882"/>
                <a:ext cx="46615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缺口1,400​</a:t>
                </a:r>
              </a:p>
            </p:txBody>
          </p:sp>
          <p:sp>
            <p:nvSpPr>
              <p:cNvPr id="74" name="TextBox 74"/>
              <p:cNvSpPr txBox="1"/>
              <p:nvPr/>
            </p:nvSpPr>
            <p:spPr>
              <a:xfrm>
                <a:off x="5232047" y="2958703"/>
                <a:ext cx="356306"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(17.6%)​</a:t>
                </a:r>
              </a:p>
            </p:txBody>
          </p:sp>
          <p:sp>
            <p:nvSpPr>
              <p:cNvPr id="75" name="TextBox 75"/>
              <p:cNvSpPr txBox="1"/>
              <p:nvPr/>
            </p:nvSpPr>
            <p:spPr>
              <a:xfrm>
                <a:off x="5272164" y="3135630"/>
                <a:ext cx="27607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6,600​</a:t>
                </a:r>
              </a:p>
            </p:txBody>
          </p:sp>
          <p:sp>
            <p:nvSpPr>
              <p:cNvPr id="76" name="TextBox 76"/>
              <p:cNvSpPr txBox="1"/>
              <p:nvPr/>
            </p:nvSpPr>
            <p:spPr>
              <a:xfrm>
                <a:off x="5207980" y="3301841"/>
                <a:ext cx="404440"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信用卡​</a:t>
                </a:r>
              </a:p>
            </p:txBody>
          </p:sp>
          <p:sp>
            <p:nvSpPr>
              <p:cNvPr id="77" name="TextBox 77"/>
              <p:cNvSpPr txBox="1"/>
              <p:nvPr/>
            </p:nvSpPr>
            <p:spPr>
              <a:xfrm>
                <a:off x="5291280" y="3436382"/>
                <a:ext cx="237841" cy="126206"/>
              </a:xfrm>
              <a:prstGeom prst="rect">
                <a:avLst/>
              </a:prstGeom>
              <a:noFill/>
              <a:ln>
                <a:noFill/>
              </a:ln>
            </p:spPr>
            <p:txBody>
              <a:bodyPr wrap="none" lIns="0" tIns="0" rIns="0" bIns="0" anchor="t" anchorCtr="0">
                <a:spAutoFit/>
              </a:bodyPr>
              <a:lstStyle/>
              <a:p>
                <a:pPr algn="ctr"/>
                <a:r>
                  <a:rPr lang="zh-CN" sz="640" dirty="0">
                    <a:solidFill>
                      <a:srgbClr val="8AA39C"/>
                    </a:solidFill>
                    <a:latin typeface="+mn-lt"/>
                    <a:ea typeface="+mn-ea"/>
                    <a:cs typeface="+mn-cs"/>
                  </a:rPr>
                  <a:t>(户)​</a:t>
                </a:r>
              </a:p>
            </p:txBody>
          </p:sp>
        </p:grpSp>
      </p:grpSp>
      <p:grpSp>
        <p:nvGrpSpPr>
          <p:cNvPr id="184" name="heat-card"/>
          <p:cNvGrpSpPr/>
          <p:nvPr/>
        </p:nvGrpSpPr>
        <p:grpSpPr>
          <a:xfrm>
            <a:off x="6210300" y="666750"/>
            <a:ext cx="5753100" cy="1714500"/>
            <a:chOff x="6210300" y="666750"/>
            <a:chExt cx="5753100" cy="1714500"/>
          </a:xfrm>
        </p:grpSpPr>
        <p:sp>
          <p:nvSpPr>
            <p:cNvPr id="80" name="Rectangle 80"/>
            <p:cNvSpPr/>
            <p:nvPr/>
          </p:nvSpPr>
          <p:spPr>
            <a:xfrm>
              <a:off x="6210300" y="666750"/>
              <a:ext cx="5753100" cy="1714500"/>
            </a:xfrm>
            <a:prstGeom prst="roundRect">
              <a:avLst>
                <a:gd name="adj" fmla="val 5556"/>
              </a:avLst>
            </a:prstGeom>
            <a:solidFill>
              <a:srgbClr val="F5FAF8"/>
            </a:solidFill>
            <a:ln w="9525">
              <a:solidFill>
                <a:srgbClr val="D9E8E2"/>
              </a:solidFill>
            </a:ln>
          </p:spPr>
        </p:sp>
        <p:sp>
          <p:nvSpPr>
            <p:cNvPr id="81" name="Rectangle 81"/>
            <p:cNvSpPr/>
            <p:nvPr/>
          </p:nvSpPr>
          <p:spPr>
            <a:xfrm>
              <a:off x="6324600" y="781050"/>
              <a:ext cx="47625" cy="171450"/>
            </a:xfrm>
            <a:prstGeom prst="rect">
              <a:avLst/>
            </a:prstGeom>
            <a:solidFill>
              <a:srgbClr val="5B180B"/>
            </a:solidFill>
            <a:ln>
              <a:noFill/>
            </a:ln>
          </p:spPr>
        </p:sp>
        <p:sp>
          <p:nvSpPr>
            <p:cNvPr id="82" name="TextBox 82"/>
            <p:cNvSpPr txBox="1"/>
            <p:nvPr/>
          </p:nvSpPr>
          <p:spPr>
            <a:xfrm>
              <a:off x="6433566" y="810578"/>
              <a:ext cx="2603506"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客户经理指标完成情况热力图</a:t>
              </a:r>
              <a:r>
                <a:rPr lang="zh-CN" sz="820" b="1" dirty="0">
                  <a:solidFill>
                    <a:srgbClr val="5F6F6A"/>
                  </a:solidFill>
                  <a:latin typeface="+mn-lt"/>
                  <a:ea typeface="+mn-ea"/>
                  <a:cs typeface="+mn-cs"/>
                </a:rPr>
                <a:t>（完成率 %）</a:t>
              </a:r>
              <a:r>
                <a:rPr lang="zh-CN" sz="1050" b="1" dirty="0">
                  <a:solidFill>
                    <a:srgbClr val="5B180B"/>
                  </a:solidFill>
                  <a:latin typeface="+mn-lt"/>
                  <a:ea typeface="+mn-ea"/>
                  <a:cs typeface="+mn-cs"/>
                </a:rPr>
                <a:t>​</a:t>
              </a:r>
            </a:p>
          </p:txBody>
        </p:sp>
        <p:sp>
          <p:nvSpPr>
            <p:cNvPr id="83" name="TextBox 83"/>
            <p:cNvSpPr txBox="1"/>
            <p:nvPr/>
          </p:nvSpPr>
          <p:spPr>
            <a:xfrm>
              <a:off x="10548938" y="833438"/>
              <a:ext cx="166021" cy="147638"/>
            </a:xfrm>
            <a:prstGeom prst="rect">
              <a:avLst/>
            </a:prstGeom>
            <a:noFill/>
            <a:ln>
              <a:noFill/>
            </a:ln>
          </p:spPr>
          <p:txBody>
            <a:bodyPr wrap="none" lIns="0" tIns="0" rIns="0" bIns="0" anchor="t" anchorCtr="0">
              <a:spAutoFit/>
            </a:bodyPr>
            <a:lstStyle/>
            <a:p>
              <a:pPr algn="l"/>
              <a:r>
                <a:rPr lang="zh-CN" sz="750" dirty="0">
                  <a:solidFill>
                    <a:srgbClr val="5F6F6A"/>
                  </a:solidFill>
                  <a:latin typeface="+mn-lt"/>
                  <a:ea typeface="+mn-ea"/>
                  <a:cs typeface="+mn-cs"/>
                </a:rPr>
                <a:t>低​</a:t>
              </a:r>
            </a:p>
          </p:txBody>
        </p:sp>
        <p:sp>
          <p:nvSpPr>
            <p:cNvPr id="84" name="Rectangle 84"/>
            <p:cNvSpPr/>
            <p:nvPr/>
          </p:nvSpPr>
          <p:spPr>
            <a:xfrm>
              <a:off x="10668000" y="828675"/>
              <a:ext cx="857250" cy="95250"/>
            </a:xfrm>
            <a:prstGeom prst="rect">
              <a:avLst/>
            </a:prstGeom>
            <a:gradFill>
              <a:gsLst>
                <a:gs pos="0">
                  <a:srgbClr val="E3F1EC"/>
                </a:gs>
                <a:gs pos="50000">
                  <a:srgbClr val="C9988F"/>
                </a:gs>
                <a:gs pos="100000">
                  <a:srgbClr val="5B180B"/>
                </a:gs>
              </a:gsLst>
              <a:lin ang="0" scaled="1"/>
            </a:gradFill>
            <a:ln>
              <a:noFill/>
            </a:ln>
          </p:spPr>
        </p:sp>
        <p:sp>
          <p:nvSpPr>
            <p:cNvPr id="85" name="TextBox 85"/>
            <p:cNvSpPr txBox="1"/>
            <p:nvPr/>
          </p:nvSpPr>
          <p:spPr>
            <a:xfrm>
              <a:off x="11577638" y="833438"/>
              <a:ext cx="166021" cy="147638"/>
            </a:xfrm>
            <a:prstGeom prst="rect">
              <a:avLst/>
            </a:prstGeom>
            <a:noFill/>
            <a:ln>
              <a:noFill/>
            </a:ln>
          </p:spPr>
          <p:txBody>
            <a:bodyPr wrap="none" lIns="0" tIns="0" rIns="0" bIns="0" anchor="t" anchorCtr="0">
              <a:spAutoFit/>
            </a:bodyPr>
            <a:lstStyle/>
            <a:p>
              <a:pPr algn="l"/>
              <a:r>
                <a:rPr lang="zh-CN" sz="750" dirty="0">
                  <a:solidFill>
                    <a:srgbClr val="5F6F6A"/>
                  </a:solidFill>
                  <a:latin typeface="+mn-lt"/>
                  <a:ea typeface="+mn-ea"/>
                  <a:cs typeface="+mn-cs"/>
                </a:rPr>
                <a:t>高​</a:t>
              </a:r>
            </a:p>
          </p:txBody>
        </p:sp>
        <p:grpSp>
          <p:nvGrpSpPr>
            <p:cNvPr id="102" name="Group 102"/>
            <p:cNvGrpSpPr/>
            <p:nvPr/>
          </p:nvGrpSpPr>
          <p:grpSpPr>
            <a:xfrm>
              <a:off x="6362700" y="1009650"/>
              <a:ext cx="5486400" cy="228600"/>
              <a:chOff x="6362700" y="1009650"/>
              <a:chExt cx="5486400" cy="228600"/>
            </a:xfrm>
          </p:grpSpPr>
          <p:sp>
            <p:nvSpPr>
              <p:cNvPr id="86" name="Rectangle 86"/>
              <p:cNvSpPr/>
              <p:nvPr/>
            </p:nvSpPr>
            <p:spPr>
              <a:xfrm>
                <a:off x="6362700" y="1009650"/>
                <a:ext cx="914400" cy="228600"/>
              </a:xfrm>
              <a:prstGeom prst="rect">
                <a:avLst/>
              </a:prstGeom>
              <a:solidFill>
                <a:srgbClr val="5B180B"/>
              </a:solidFill>
              <a:ln>
                <a:noFill/>
              </a:ln>
            </p:spPr>
          </p:sp>
          <p:sp>
            <p:nvSpPr>
              <p:cNvPr id="87" name="TextBox 87"/>
              <p:cNvSpPr txBox="1"/>
              <p:nvPr/>
            </p:nvSpPr>
            <p:spPr>
              <a:xfrm>
                <a:off x="6564004" y="1072991"/>
                <a:ext cx="51179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客户经理​</a:t>
                </a:r>
              </a:p>
            </p:txBody>
          </p:sp>
          <p:sp>
            <p:nvSpPr>
              <p:cNvPr id="88" name="Rectangle 88"/>
              <p:cNvSpPr/>
              <p:nvPr/>
            </p:nvSpPr>
            <p:spPr>
              <a:xfrm>
                <a:off x="7277100" y="1009650"/>
                <a:ext cx="647700" cy="228600"/>
              </a:xfrm>
              <a:prstGeom prst="rect">
                <a:avLst/>
              </a:prstGeom>
              <a:solidFill>
                <a:srgbClr val="5B180B"/>
              </a:solidFill>
              <a:ln>
                <a:noFill/>
              </a:ln>
            </p:spPr>
          </p:sp>
          <p:sp>
            <p:nvSpPr>
              <p:cNvPr id="89" name="TextBox 89"/>
              <p:cNvSpPr txBox="1"/>
              <p:nvPr/>
            </p:nvSpPr>
            <p:spPr>
              <a:xfrm>
                <a:off x="7455442" y="1072991"/>
                <a:ext cx="29101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存款​</a:t>
                </a:r>
              </a:p>
            </p:txBody>
          </p:sp>
          <p:sp>
            <p:nvSpPr>
              <p:cNvPr id="90" name="Rectangle 90"/>
              <p:cNvSpPr/>
              <p:nvPr/>
            </p:nvSpPr>
            <p:spPr>
              <a:xfrm>
                <a:off x="7924800" y="1009650"/>
                <a:ext cx="647700" cy="228600"/>
              </a:xfrm>
              <a:prstGeom prst="rect">
                <a:avLst/>
              </a:prstGeom>
              <a:solidFill>
                <a:srgbClr val="5B180B"/>
              </a:solidFill>
              <a:ln>
                <a:noFill/>
              </a:ln>
            </p:spPr>
          </p:sp>
          <p:sp>
            <p:nvSpPr>
              <p:cNvPr id="91" name="TextBox 91"/>
              <p:cNvSpPr txBox="1"/>
              <p:nvPr/>
            </p:nvSpPr>
            <p:spPr>
              <a:xfrm>
                <a:off x="8103923" y="1072991"/>
                <a:ext cx="289453" cy="161925"/>
              </a:xfrm>
              <a:prstGeom prst="rect">
                <a:avLst/>
              </a:prstGeom>
              <a:noFill/>
              <a:ln>
                <a:noFill/>
              </a:ln>
            </p:spPr>
            <p:txBody>
              <a:bodyPr wrap="none" lIns="0" tIns="0" rIns="0" bIns="0" anchor="t" anchorCtr="0">
                <a:spAutoFit/>
              </a:bodyPr>
              <a:lstStyle/>
              <a:p>
                <a:pPr algn="ctr"/>
                <a:r>
                  <a:rPr lang="en-US" sz="820" dirty="0">
                    <a:solidFill>
                      <a:srgbClr val="FFFFFF"/>
                    </a:solidFill>
                    <a:latin typeface="+mn-lt"/>
                    <a:ea typeface="+mn-ea"/>
                    <a:cs typeface="+mn-cs"/>
                  </a:rPr>
                  <a:t>AUM​</a:t>
                </a:r>
              </a:p>
            </p:txBody>
          </p:sp>
          <p:sp>
            <p:nvSpPr>
              <p:cNvPr id="92" name="Rectangle 92"/>
              <p:cNvSpPr/>
              <p:nvPr/>
            </p:nvSpPr>
            <p:spPr>
              <a:xfrm>
                <a:off x="8572500" y="1009650"/>
                <a:ext cx="647700" cy="228600"/>
              </a:xfrm>
              <a:prstGeom prst="rect">
                <a:avLst/>
              </a:prstGeom>
              <a:solidFill>
                <a:srgbClr val="5B180B"/>
              </a:solidFill>
              <a:ln>
                <a:noFill/>
              </a:ln>
            </p:spPr>
          </p:sp>
          <p:sp>
            <p:nvSpPr>
              <p:cNvPr id="93" name="TextBox 93"/>
              <p:cNvSpPr txBox="1"/>
              <p:nvPr/>
            </p:nvSpPr>
            <p:spPr>
              <a:xfrm>
                <a:off x="8750842" y="1072991"/>
                <a:ext cx="29101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中收​</a:t>
                </a:r>
              </a:p>
            </p:txBody>
          </p:sp>
          <p:sp>
            <p:nvSpPr>
              <p:cNvPr id="94" name="Rectangle 94"/>
              <p:cNvSpPr/>
              <p:nvPr/>
            </p:nvSpPr>
            <p:spPr>
              <a:xfrm>
                <a:off x="9220200" y="1009650"/>
                <a:ext cx="647700" cy="228600"/>
              </a:xfrm>
              <a:prstGeom prst="rect">
                <a:avLst/>
              </a:prstGeom>
              <a:solidFill>
                <a:srgbClr val="5B180B"/>
              </a:solidFill>
              <a:ln>
                <a:noFill/>
              </a:ln>
            </p:spPr>
          </p:sp>
          <p:sp>
            <p:nvSpPr>
              <p:cNvPr id="95" name="TextBox 95"/>
              <p:cNvSpPr txBox="1"/>
              <p:nvPr/>
            </p:nvSpPr>
            <p:spPr>
              <a:xfrm>
                <a:off x="9398542" y="1072991"/>
                <a:ext cx="29101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贷款​</a:t>
                </a:r>
              </a:p>
            </p:txBody>
          </p:sp>
          <p:sp>
            <p:nvSpPr>
              <p:cNvPr id="96" name="Rectangle 96"/>
              <p:cNvSpPr/>
              <p:nvPr/>
            </p:nvSpPr>
            <p:spPr>
              <a:xfrm>
                <a:off x="9867900" y="1009650"/>
                <a:ext cx="647700" cy="228600"/>
              </a:xfrm>
              <a:prstGeom prst="rect">
                <a:avLst/>
              </a:prstGeom>
              <a:solidFill>
                <a:srgbClr val="5B180B"/>
              </a:solidFill>
              <a:ln>
                <a:noFill/>
              </a:ln>
            </p:spPr>
          </p:sp>
          <p:sp>
            <p:nvSpPr>
              <p:cNvPr id="97" name="TextBox 97"/>
              <p:cNvSpPr txBox="1"/>
              <p:nvPr/>
            </p:nvSpPr>
            <p:spPr>
              <a:xfrm>
                <a:off x="10046242" y="1072991"/>
                <a:ext cx="29101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客户​</a:t>
                </a:r>
              </a:p>
            </p:txBody>
          </p:sp>
          <p:sp>
            <p:nvSpPr>
              <p:cNvPr id="98" name="Rectangle 98"/>
              <p:cNvSpPr/>
              <p:nvPr/>
            </p:nvSpPr>
            <p:spPr>
              <a:xfrm>
                <a:off x="10515600" y="1009650"/>
                <a:ext cx="647700" cy="228600"/>
              </a:xfrm>
              <a:prstGeom prst="rect">
                <a:avLst/>
              </a:prstGeom>
              <a:solidFill>
                <a:srgbClr val="5B180B"/>
              </a:solidFill>
              <a:ln>
                <a:noFill/>
              </a:ln>
            </p:spPr>
          </p:sp>
          <p:sp>
            <p:nvSpPr>
              <p:cNvPr id="99" name="TextBox 99"/>
              <p:cNvSpPr txBox="1"/>
              <p:nvPr/>
            </p:nvSpPr>
            <p:spPr>
              <a:xfrm>
                <a:off x="10638748" y="1072991"/>
                <a:ext cx="401404"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信用卡​</a:t>
                </a:r>
              </a:p>
            </p:txBody>
          </p:sp>
          <p:sp>
            <p:nvSpPr>
              <p:cNvPr id="100" name="Rectangle 100"/>
              <p:cNvSpPr/>
              <p:nvPr/>
            </p:nvSpPr>
            <p:spPr>
              <a:xfrm>
                <a:off x="11163300" y="1009650"/>
                <a:ext cx="685800" cy="228600"/>
              </a:xfrm>
              <a:prstGeom prst="rect">
                <a:avLst/>
              </a:prstGeom>
              <a:solidFill>
                <a:srgbClr val="5B180B"/>
              </a:solidFill>
              <a:ln>
                <a:noFill/>
              </a:ln>
            </p:spPr>
          </p:sp>
          <p:sp>
            <p:nvSpPr>
              <p:cNvPr id="101" name="TextBox 101"/>
              <p:cNvSpPr txBox="1"/>
              <p:nvPr/>
            </p:nvSpPr>
            <p:spPr>
              <a:xfrm>
                <a:off x="11360692" y="1072991"/>
                <a:ext cx="29101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综合​</a:t>
                </a:r>
              </a:p>
            </p:txBody>
          </p:sp>
        </p:grpSp>
        <p:grpSp>
          <p:nvGrpSpPr>
            <p:cNvPr id="183" name="Group 183"/>
            <p:cNvGrpSpPr/>
            <p:nvPr/>
          </p:nvGrpSpPr>
          <p:grpSpPr>
            <a:xfrm>
              <a:off x="6362700" y="1238250"/>
              <a:ext cx="5486400" cy="1066800"/>
              <a:chOff x="6362700" y="1238250"/>
              <a:chExt cx="5486400" cy="1066800"/>
            </a:xfrm>
          </p:grpSpPr>
          <p:sp>
            <p:nvSpPr>
              <p:cNvPr id="103" name="Rectangle 103"/>
              <p:cNvSpPr/>
              <p:nvPr/>
            </p:nvSpPr>
            <p:spPr>
              <a:xfrm>
                <a:off x="6362700" y="1238250"/>
                <a:ext cx="914400" cy="209550"/>
              </a:xfrm>
              <a:prstGeom prst="rect">
                <a:avLst/>
              </a:prstGeom>
              <a:solidFill>
                <a:srgbClr val="FFFFFF"/>
              </a:solidFill>
              <a:ln w="7620">
                <a:solidFill>
                  <a:srgbClr val="D9E8E2"/>
                </a:solidFill>
              </a:ln>
            </p:spPr>
          </p:sp>
          <p:sp>
            <p:nvSpPr>
              <p:cNvPr id="104" name="TextBox 104"/>
              <p:cNvSpPr txBox="1"/>
              <p:nvPr/>
            </p:nvSpPr>
            <p:spPr>
              <a:xfrm>
                <a:off x="6674392" y="1292066"/>
                <a:ext cx="291015"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张伟​</a:t>
                </a:r>
              </a:p>
            </p:txBody>
          </p:sp>
          <p:sp>
            <p:nvSpPr>
              <p:cNvPr id="105" name="Rectangle 105"/>
              <p:cNvSpPr/>
              <p:nvPr/>
            </p:nvSpPr>
            <p:spPr>
              <a:xfrm>
                <a:off x="7277100" y="1238250"/>
                <a:ext cx="647700" cy="209550"/>
              </a:xfrm>
              <a:prstGeom prst="rect">
                <a:avLst/>
              </a:prstGeom>
              <a:solidFill>
                <a:srgbClr val="C9988F"/>
              </a:solidFill>
              <a:ln>
                <a:noFill/>
              </a:ln>
            </p:spPr>
          </p:sp>
          <p:sp>
            <p:nvSpPr>
              <p:cNvPr id="106" name="TextBox 106"/>
              <p:cNvSpPr txBox="1"/>
              <p:nvPr/>
            </p:nvSpPr>
            <p:spPr>
              <a:xfrm>
                <a:off x="7505117" y="12920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92​</a:t>
                </a:r>
              </a:p>
            </p:txBody>
          </p:sp>
          <p:sp>
            <p:nvSpPr>
              <p:cNvPr id="107" name="Rectangle 107"/>
              <p:cNvSpPr/>
              <p:nvPr/>
            </p:nvSpPr>
            <p:spPr>
              <a:xfrm>
                <a:off x="7924800" y="1238250"/>
                <a:ext cx="647700" cy="209550"/>
              </a:xfrm>
              <a:prstGeom prst="rect">
                <a:avLst/>
              </a:prstGeom>
              <a:solidFill>
                <a:srgbClr val="C9988F"/>
              </a:solidFill>
              <a:ln>
                <a:noFill/>
              </a:ln>
            </p:spPr>
          </p:sp>
          <p:sp>
            <p:nvSpPr>
              <p:cNvPr id="108" name="TextBox 108"/>
              <p:cNvSpPr txBox="1"/>
              <p:nvPr/>
            </p:nvSpPr>
            <p:spPr>
              <a:xfrm>
                <a:off x="8152817" y="12920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88​</a:t>
                </a:r>
              </a:p>
            </p:txBody>
          </p:sp>
          <p:sp>
            <p:nvSpPr>
              <p:cNvPr id="109" name="Rectangle 109"/>
              <p:cNvSpPr/>
              <p:nvPr/>
            </p:nvSpPr>
            <p:spPr>
              <a:xfrm>
                <a:off x="8572500" y="1238250"/>
                <a:ext cx="647700" cy="209550"/>
              </a:xfrm>
              <a:prstGeom prst="rect">
                <a:avLst/>
              </a:prstGeom>
              <a:solidFill>
                <a:srgbClr val="C5E4DA"/>
              </a:solidFill>
              <a:ln>
                <a:noFill/>
              </a:ln>
            </p:spPr>
          </p:sp>
          <p:sp>
            <p:nvSpPr>
              <p:cNvPr id="110" name="TextBox 110"/>
              <p:cNvSpPr txBox="1"/>
              <p:nvPr/>
            </p:nvSpPr>
            <p:spPr>
              <a:xfrm>
                <a:off x="8800517" y="12920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76​</a:t>
                </a:r>
              </a:p>
            </p:txBody>
          </p:sp>
          <p:sp>
            <p:nvSpPr>
              <p:cNvPr id="111" name="Rectangle 111"/>
              <p:cNvSpPr/>
              <p:nvPr/>
            </p:nvSpPr>
            <p:spPr>
              <a:xfrm>
                <a:off x="9220200" y="1238250"/>
                <a:ext cx="647700" cy="209550"/>
              </a:xfrm>
              <a:prstGeom prst="rect">
                <a:avLst/>
              </a:prstGeom>
              <a:solidFill>
                <a:srgbClr val="C9988F"/>
              </a:solidFill>
              <a:ln>
                <a:noFill/>
              </a:ln>
            </p:spPr>
          </p:sp>
          <p:sp>
            <p:nvSpPr>
              <p:cNvPr id="112" name="TextBox 112"/>
              <p:cNvSpPr txBox="1"/>
              <p:nvPr/>
            </p:nvSpPr>
            <p:spPr>
              <a:xfrm>
                <a:off x="9448217" y="12920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95​</a:t>
                </a:r>
              </a:p>
            </p:txBody>
          </p:sp>
          <p:sp>
            <p:nvSpPr>
              <p:cNvPr id="113" name="Rectangle 113"/>
              <p:cNvSpPr/>
              <p:nvPr/>
            </p:nvSpPr>
            <p:spPr>
              <a:xfrm>
                <a:off x="9867900" y="1238250"/>
                <a:ext cx="647700" cy="209550"/>
              </a:xfrm>
              <a:prstGeom prst="rect">
                <a:avLst/>
              </a:prstGeom>
              <a:solidFill>
                <a:srgbClr val="C9988F"/>
              </a:solidFill>
              <a:ln>
                <a:noFill/>
              </a:ln>
            </p:spPr>
          </p:sp>
          <p:sp>
            <p:nvSpPr>
              <p:cNvPr id="114" name="TextBox 114"/>
              <p:cNvSpPr txBox="1"/>
              <p:nvPr/>
            </p:nvSpPr>
            <p:spPr>
              <a:xfrm>
                <a:off x="10095917" y="12920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90​</a:t>
                </a:r>
              </a:p>
            </p:txBody>
          </p:sp>
          <p:sp>
            <p:nvSpPr>
              <p:cNvPr id="115" name="Rectangle 115"/>
              <p:cNvSpPr/>
              <p:nvPr/>
            </p:nvSpPr>
            <p:spPr>
              <a:xfrm>
                <a:off x="10515600" y="1238250"/>
                <a:ext cx="647700" cy="209550"/>
              </a:xfrm>
              <a:prstGeom prst="rect">
                <a:avLst/>
              </a:prstGeom>
              <a:solidFill>
                <a:srgbClr val="C9988F"/>
              </a:solidFill>
              <a:ln>
                <a:noFill/>
              </a:ln>
            </p:spPr>
          </p:sp>
          <p:sp>
            <p:nvSpPr>
              <p:cNvPr id="116" name="TextBox 116"/>
              <p:cNvSpPr txBox="1"/>
              <p:nvPr/>
            </p:nvSpPr>
            <p:spPr>
              <a:xfrm>
                <a:off x="10743617" y="12920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85​</a:t>
                </a:r>
              </a:p>
            </p:txBody>
          </p:sp>
          <p:sp>
            <p:nvSpPr>
              <p:cNvPr id="117" name="Rectangle 117"/>
              <p:cNvSpPr/>
              <p:nvPr/>
            </p:nvSpPr>
            <p:spPr>
              <a:xfrm>
                <a:off x="11163300" y="1238250"/>
                <a:ext cx="685800" cy="209550"/>
              </a:xfrm>
              <a:prstGeom prst="rect">
                <a:avLst/>
              </a:prstGeom>
              <a:solidFill>
                <a:srgbClr val="C9988F"/>
              </a:solidFill>
              <a:ln>
                <a:noFill/>
              </a:ln>
            </p:spPr>
          </p:sp>
          <p:sp>
            <p:nvSpPr>
              <p:cNvPr id="118" name="TextBox 118"/>
              <p:cNvSpPr txBox="1"/>
              <p:nvPr/>
            </p:nvSpPr>
            <p:spPr>
              <a:xfrm>
                <a:off x="11410367" y="12920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88​</a:t>
                </a:r>
              </a:p>
            </p:txBody>
          </p:sp>
          <p:sp>
            <p:nvSpPr>
              <p:cNvPr id="119" name="Rectangle 119"/>
              <p:cNvSpPr/>
              <p:nvPr/>
            </p:nvSpPr>
            <p:spPr>
              <a:xfrm>
                <a:off x="6362700" y="1447800"/>
                <a:ext cx="914400" cy="209550"/>
              </a:xfrm>
              <a:prstGeom prst="rect">
                <a:avLst/>
              </a:prstGeom>
              <a:solidFill>
                <a:srgbClr val="F7FBF9"/>
              </a:solidFill>
              <a:ln w="7620">
                <a:solidFill>
                  <a:srgbClr val="D9E8E2"/>
                </a:solidFill>
              </a:ln>
            </p:spPr>
          </p:sp>
          <p:sp>
            <p:nvSpPr>
              <p:cNvPr id="120" name="TextBox 120"/>
              <p:cNvSpPr txBox="1"/>
              <p:nvPr/>
            </p:nvSpPr>
            <p:spPr>
              <a:xfrm>
                <a:off x="6674392" y="1501616"/>
                <a:ext cx="291015"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李娜​</a:t>
                </a:r>
              </a:p>
            </p:txBody>
          </p:sp>
          <p:sp>
            <p:nvSpPr>
              <p:cNvPr id="121" name="Rectangle 121"/>
              <p:cNvSpPr/>
              <p:nvPr/>
            </p:nvSpPr>
            <p:spPr>
              <a:xfrm>
                <a:off x="7277100" y="1447800"/>
                <a:ext cx="647700" cy="209550"/>
              </a:xfrm>
              <a:prstGeom prst="rect">
                <a:avLst/>
              </a:prstGeom>
              <a:solidFill>
                <a:srgbClr val="C5E4DA"/>
              </a:solidFill>
              <a:ln>
                <a:noFill/>
              </a:ln>
            </p:spPr>
          </p:sp>
          <p:sp>
            <p:nvSpPr>
              <p:cNvPr id="122" name="TextBox 122"/>
              <p:cNvSpPr txBox="1"/>
              <p:nvPr/>
            </p:nvSpPr>
            <p:spPr>
              <a:xfrm>
                <a:off x="7505117" y="150161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78​</a:t>
                </a:r>
              </a:p>
            </p:txBody>
          </p:sp>
          <p:sp>
            <p:nvSpPr>
              <p:cNvPr id="123" name="Rectangle 123"/>
              <p:cNvSpPr/>
              <p:nvPr/>
            </p:nvSpPr>
            <p:spPr>
              <a:xfrm>
                <a:off x="7924800" y="1447800"/>
                <a:ext cx="647700" cy="209550"/>
              </a:xfrm>
              <a:prstGeom prst="rect">
                <a:avLst/>
              </a:prstGeom>
              <a:solidFill>
                <a:srgbClr val="C5E4DA"/>
              </a:solidFill>
              <a:ln>
                <a:noFill/>
              </a:ln>
            </p:spPr>
          </p:sp>
          <p:sp>
            <p:nvSpPr>
              <p:cNvPr id="124" name="TextBox 124"/>
              <p:cNvSpPr txBox="1"/>
              <p:nvPr/>
            </p:nvSpPr>
            <p:spPr>
              <a:xfrm>
                <a:off x="8152817" y="150161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82​</a:t>
                </a:r>
              </a:p>
            </p:txBody>
          </p:sp>
          <p:sp>
            <p:nvSpPr>
              <p:cNvPr id="125" name="Rectangle 125"/>
              <p:cNvSpPr/>
              <p:nvPr/>
            </p:nvSpPr>
            <p:spPr>
              <a:xfrm>
                <a:off x="8572500" y="1447800"/>
                <a:ext cx="647700" cy="209550"/>
              </a:xfrm>
              <a:prstGeom prst="rect">
                <a:avLst/>
              </a:prstGeom>
              <a:solidFill>
                <a:srgbClr val="E3F1EC"/>
              </a:solidFill>
              <a:ln>
                <a:noFill/>
              </a:ln>
            </p:spPr>
          </p:sp>
          <p:sp>
            <p:nvSpPr>
              <p:cNvPr id="126" name="TextBox 126"/>
              <p:cNvSpPr txBox="1"/>
              <p:nvPr/>
            </p:nvSpPr>
            <p:spPr>
              <a:xfrm>
                <a:off x="8800517" y="1501616"/>
                <a:ext cx="191666" cy="161925"/>
              </a:xfrm>
              <a:prstGeom prst="rect">
                <a:avLst/>
              </a:prstGeom>
              <a:noFill/>
              <a:ln>
                <a:noFill/>
              </a:ln>
            </p:spPr>
            <p:txBody>
              <a:bodyPr wrap="none" lIns="0" tIns="0" rIns="0" bIns="0" anchor="t" anchorCtr="0">
                <a:spAutoFit/>
              </a:bodyPr>
              <a:lstStyle/>
              <a:p>
                <a:pPr algn="ctr"/>
                <a:r>
                  <a:rPr lang="zh-CN" sz="820" dirty="0">
                    <a:solidFill>
                      <a:srgbClr val="4A3D3A"/>
                    </a:solidFill>
                    <a:latin typeface="+mn-lt"/>
                    <a:ea typeface="+mn-ea"/>
                    <a:cs typeface="+mn-cs"/>
                  </a:rPr>
                  <a:t>69​</a:t>
                </a:r>
              </a:p>
            </p:txBody>
          </p:sp>
          <p:sp>
            <p:nvSpPr>
              <p:cNvPr id="127" name="Rectangle 127"/>
              <p:cNvSpPr/>
              <p:nvPr/>
            </p:nvSpPr>
            <p:spPr>
              <a:xfrm>
                <a:off x="9220200" y="1447800"/>
                <a:ext cx="647700" cy="209550"/>
              </a:xfrm>
              <a:prstGeom prst="rect">
                <a:avLst/>
              </a:prstGeom>
              <a:solidFill>
                <a:srgbClr val="C5E4DA"/>
              </a:solidFill>
              <a:ln>
                <a:noFill/>
              </a:ln>
            </p:spPr>
          </p:sp>
          <p:sp>
            <p:nvSpPr>
              <p:cNvPr id="128" name="TextBox 128"/>
              <p:cNvSpPr txBox="1"/>
              <p:nvPr/>
            </p:nvSpPr>
            <p:spPr>
              <a:xfrm>
                <a:off x="9448217" y="150161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80​</a:t>
                </a:r>
              </a:p>
            </p:txBody>
          </p:sp>
          <p:sp>
            <p:nvSpPr>
              <p:cNvPr id="129" name="Rectangle 129"/>
              <p:cNvSpPr/>
              <p:nvPr/>
            </p:nvSpPr>
            <p:spPr>
              <a:xfrm>
                <a:off x="9867900" y="1447800"/>
                <a:ext cx="647700" cy="209550"/>
              </a:xfrm>
              <a:prstGeom prst="rect">
                <a:avLst/>
              </a:prstGeom>
              <a:solidFill>
                <a:srgbClr val="C5E4DA"/>
              </a:solidFill>
              <a:ln>
                <a:noFill/>
              </a:ln>
            </p:spPr>
          </p:sp>
          <p:sp>
            <p:nvSpPr>
              <p:cNvPr id="130" name="TextBox 130"/>
              <p:cNvSpPr txBox="1"/>
              <p:nvPr/>
            </p:nvSpPr>
            <p:spPr>
              <a:xfrm>
                <a:off x="10095917" y="150161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75​</a:t>
                </a:r>
              </a:p>
            </p:txBody>
          </p:sp>
          <p:sp>
            <p:nvSpPr>
              <p:cNvPr id="131" name="Rectangle 131"/>
              <p:cNvSpPr/>
              <p:nvPr/>
            </p:nvSpPr>
            <p:spPr>
              <a:xfrm>
                <a:off x="10515600" y="1447800"/>
                <a:ext cx="647700" cy="209550"/>
              </a:xfrm>
              <a:prstGeom prst="rect">
                <a:avLst/>
              </a:prstGeom>
              <a:solidFill>
                <a:srgbClr val="E3F1EC"/>
              </a:solidFill>
              <a:ln>
                <a:noFill/>
              </a:ln>
            </p:spPr>
          </p:sp>
          <p:sp>
            <p:nvSpPr>
              <p:cNvPr id="132" name="TextBox 132"/>
              <p:cNvSpPr txBox="1"/>
              <p:nvPr/>
            </p:nvSpPr>
            <p:spPr>
              <a:xfrm>
                <a:off x="10743617" y="1501616"/>
                <a:ext cx="191666" cy="161925"/>
              </a:xfrm>
              <a:prstGeom prst="rect">
                <a:avLst/>
              </a:prstGeom>
              <a:noFill/>
              <a:ln>
                <a:noFill/>
              </a:ln>
            </p:spPr>
            <p:txBody>
              <a:bodyPr wrap="none" lIns="0" tIns="0" rIns="0" bIns="0" anchor="t" anchorCtr="0">
                <a:spAutoFit/>
              </a:bodyPr>
              <a:lstStyle/>
              <a:p>
                <a:pPr algn="ctr"/>
                <a:r>
                  <a:rPr lang="zh-CN" sz="820" dirty="0">
                    <a:solidFill>
                      <a:srgbClr val="4A3D3A"/>
                    </a:solidFill>
                    <a:latin typeface="+mn-lt"/>
                    <a:ea typeface="+mn-ea"/>
                    <a:cs typeface="+mn-cs"/>
                  </a:rPr>
                  <a:t>70​</a:t>
                </a:r>
              </a:p>
            </p:txBody>
          </p:sp>
          <p:sp>
            <p:nvSpPr>
              <p:cNvPr id="133" name="Rectangle 133"/>
              <p:cNvSpPr/>
              <p:nvPr/>
            </p:nvSpPr>
            <p:spPr>
              <a:xfrm>
                <a:off x="11163300" y="1447800"/>
                <a:ext cx="685800" cy="209550"/>
              </a:xfrm>
              <a:prstGeom prst="rect">
                <a:avLst/>
              </a:prstGeom>
              <a:solidFill>
                <a:srgbClr val="E3F1EC"/>
              </a:solidFill>
              <a:ln>
                <a:noFill/>
              </a:ln>
            </p:spPr>
          </p:sp>
          <p:sp>
            <p:nvSpPr>
              <p:cNvPr id="134" name="TextBox 134"/>
              <p:cNvSpPr txBox="1"/>
              <p:nvPr/>
            </p:nvSpPr>
            <p:spPr>
              <a:xfrm>
                <a:off x="11410367" y="1501616"/>
                <a:ext cx="191666" cy="161925"/>
              </a:xfrm>
              <a:prstGeom prst="rect">
                <a:avLst/>
              </a:prstGeom>
              <a:noFill/>
              <a:ln>
                <a:noFill/>
              </a:ln>
            </p:spPr>
            <p:txBody>
              <a:bodyPr wrap="none" lIns="0" tIns="0" rIns="0" bIns="0" anchor="t" anchorCtr="0">
                <a:spAutoFit/>
              </a:bodyPr>
              <a:lstStyle/>
              <a:p>
                <a:pPr algn="ctr"/>
                <a:r>
                  <a:rPr lang="zh-CN" sz="820" dirty="0">
                    <a:solidFill>
                      <a:srgbClr val="4A3D3A"/>
                    </a:solidFill>
                    <a:latin typeface="+mn-lt"/>
                    <a:ea typeface="+mn-ea"/>
                    <a:cs typeface="+mn-cs"/>
                  </a:rPr>
                  <a:t>76​</a:t>
                </a:r>
              </a:p>
            </p:txBody>
          </p:sp>
          <p:sp>
            <p:nvSpPr>
              <p:cNvPr id="135" name="Rectangle 135"/>
              <p:cNvSpPr/>
              <p:nvPr/>
            </p:nvSpPr>
            <p:spPr>
              <a:xfrm>
                <a:off x="6362700" y="1657350"/>
                <a:ext cx="914400" cy="209550"/>
              </a:xfrm>
              <a:prstGeom prst="rect">
                <a:avLst/>
              </a:prstGeom>
              <a:solidFill>
                <a:srgbClr val="FFFFFF"/>
              </a:solidFill>
              <a:ln w="7620">
                <a:solidFill>
                  <a:srgbClr val="D9E8E2"/>
                </a:solidFill>
              </a:ln>
            </p:spPr>
          </p:sp>
          <p:sp>
            <p:nvSpPr>
              <p:cNvPr id="136" name="TextBox 136"/>
              <p:cNvSpPr txBox="1"/>
              <p:nvPr/>
            </p:nvSpPr>
            <p:spPr>
              <a:xfrm>
                <a:off x="6674392" y="1711166"/>
                <a:ext cx="291015"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王强​</a:t>
                </a:r>
              </a:p>
            </p:txBody>
          </p:sp>
          <p:sp>
            <p:nvSpPr>
              <p:cNvPr id="137" name="Rectangle 137"/>
              <p:cNvSpPr/>
              <p:nvPr/>
            </p:nvSpPr>
            <p:spPr>
              <a:xfrm>
                <a:off x="7277100" y="1657350"/>
                <a:ext cx="647700" cy="209550"/>
              </a:xfrm>
              <a:prstGeom prst="rect">
                <a:avLst/>
              </a:prstGeom>
              <a:solidFill>
                <a:srgbClr val="5B180B"/>
              </a:solidFill>
              <a:ln>
                <a:noFill/>
              </a:ln>
            </p:spPr>
          </p:sp>
          <p:sp>
            <p:nvSpPr>
              <p:cNvPr id="138" name="TextBox 138"/>
              <p:cNvSpPr txBox="1"/>
              <p:nvPr/>
            </p:nvSpPr>
            <p:spPr>
              <a:xfrm>
                <a:off x="7468689" y="1711166"/>
                <a:ext cx="26452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105​</a:t>
                </a:r>
              </a:p>
            </p:txBody>
          </p:sp>
          <p:sp>
            <p:nvSpPr>
              <p:cNvPr id="139" name="Rectangle 139"/>
              <p:cNvSpPr/>
              <p:nvPr/>
            </p:nvSpPr>
            <p:spPr>
              <a:xfrm>
                <a:off x="7924800" y="1657350"/>
                <a:ext cx="647700" cy="209550"/>
              </a:xfrm>
              <a:prstGeom prst="rect">
                <a:avLst/>
              </a:prstGeom>
              <a:solidFill>
                <a:srgbClr val="C9988F"/>
              </a:solidFill>
              <a:ln>
                <a:noFill/>
              </a:ln>
            </p:spPr>
          </p:sp>
          <p:sp>
            <p:nvSpPr>
              <p:cNvPr id="140" name="TextBox 140"/>
              <p:cNvSpPr txBox="1"/>
              <p:nvPr/>
            </p:nvSpPr>
            <p:spPr>
              <a:xfrm>
                <a:off x="8152817" y="17111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98​</a:t>
                </a:r>
              </a:p>
            </p:txBody>
          </p:sp>
          <p:sp>
            <p:nvSpPr>
              <p:cNvPr id="141" name="Rectangle 141"/>
              <p:cNvSpPr/>
              <p:nvPr/>
            </p:nvSpPr>
            <p:spPr>
              <a:xfrm>
                <a:off x="8572500" y="1657350"/>
                <a:ext cx="647700" cy="209550"/>
              </a:xfrm>
              <a:prstGeom prst="rect">
                <a:avLst/>
              </a:prstGeom>
              <a:solidFill>
                <a:srgbClr val="C9988F"/>
              </a:solidFill>
              <a:ln>
                <a:noFill/>
              </a:ln>
            </p:spPr>
          </p:sp>
          <p:sp>
            <p:nvSpPr>
              <p:cNvPr id="142" name="TextBox 142"/>
              <p:cNvSpPr txBox="1"/>
              <p:nvPr/>
            </p:nvSpPr>
            <p:spPr>
              <a:xfrm>
                <a:off x="8800517" y="17111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90​</a:t>
                </a:r>
              </a:p>
            </p:txBody>
          </p:sp>
          <p:sp>
            <p:nvSpPr>
              <p:cNvPr id="143" name="Rectangle 143"/>
              <p:cNvSpPr/>
              <p:nvPr/>
            </p:nvSpPr>
            <p:spPr>
              <a:xfrm>
                <a:off x="9220200" y="1657350"/>
                <a:ext cx="647700" cy="209550"/>
              </a:xfrm>
              <a:prstGeom prst="rect">
                <a:avLst/>
              </a:prstGeom>
              <a:solidFill>
                <a:srgbClr val="5B180B"/>
              </a:solidFill>
              <a:ln>
                <a:noFill/>
              </a:ln>
            </p:spPr>
          </p:sp>
          <p:sp>
            <p:nvSpPr>
              <p:cNvPr id="144" name="TextBox 144"/>
              <p:cNvSpPr txBox="1"/>
              <p:nvPr/>
            </p:nvSpPr>
            <p:spPr>
              <a:xfrm>
                <a:off x="9411789" y="1711166"/>
                <a:ext cx="26452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102​</a:t>
                </a:r>
              </a:p>
            </p:txBody>
          </p:sp>
          <p:sp>
            <p:nvSpPr>
              <p:cNvPr id="145" name="Rectangle 145"/>
              <p:cNvSpPr/>
              <p:nvPr/>
            </p:nvSpPr>
            <p:spPr>
              <a:xfrm>
                <a:off x="9867900" y="1657350"/>
                <a:ext cx="647700" cy="209550"/>
              </a:xfrm>
              <a:prstGeom prst="rect">
                <a:avLst/>
              </a:prstGeom>
              <a:solidFill>
                <a:srgbClr val="C9988F"/>
              </a:solidFill>
              <a:ln>
                <a:noFill/>
              </a:ln>
            </p:spPr>
          </p:sp>
          <p:sp>
            <p:nvSpPr>
              <p:cNvPr id="146" name="TextBox 146"/>
              <p:cNvSpPr txBox="1"/>
              <p:nvPr/>
            </p:nvSpPr>
            <p:spPr>
              <a:xfrm>
                <a:off x="10095917" y="171116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96​</a:t>
                </a:r>
              </a:p>
            </p:txBody>
          </p:sp>
          <p:sp>
            <p:nvSpPr>
              <p:cNvPr id="147" name="Rectangle 147"/>
              <p:cNvSpPr/>
              <p:nvPr/>
            </p:nvSpPr>
            <p:spPr>
              <a:xfrm>
                <a:off x="10515600" y="1657350"/>
                <a:ext cx="647700" cy="209550"/>
              </a:xfrm>
              <a:prstGeom prst="rect">
                <a:avLst/>
              </a:prstGeom>
              <a:solidFill>
                <a:srgbClr val="5B180B"/>
              </a:solidFill>
              <a:ln>
                <a:noFill/>
              </a:ln>
            </p:spPr>
          </p:sp>
          <p:sp>
            <p:nvSpPr>
              <p:cNvPr id="148" name="TextBox 148"/>
              <p:cNvSpPr txBox="1"/>
              <p:nvPr/>
            </p:nvSpPr>
            <p:spPr>
              <a:xfrm>
                <a:off x="10707189" y="1711166"/>
                <a:ext cx="26452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110​</a:t>
                </a:r>
              </a:p>
            </p:txBody>
          </p:sp>
          <p:sp>
            <p:nvSpPr>
              <p:cNvPr id="149" name="Rectangle 149"/>
              <p:cNvSpPr/>
              <p:nvPr/>
            </p:nvSpPr>
            <p:spPr>
              <a:xfrm>
                <a:off x="11163300" y="1657350"/>
                <a:ext cx="685800" cy="209550"/>
              </a:xfrm>
              <a:prstGeom prst="rect">
                <a:avLst/>
              </a:prstGeom>
              <a:solidFill>
                <a:srgbClr val="C9988F"/>
              </a:solidFill>
              <a:ln>
                <a:noFill/>
              </a:ln>
            </p:spPr>
          </p:sp>
          <p:sp>
            <p:nvSpPr>
              <p:cNvPr id="150" name="TextBox 150"/>
              <p:cNvSpPr txBox="1"/>
              <p:nvPr/>
            </p:nvSpPr>
            <p:spPr>
              <a:xfrm>
                <a:off x="11380010" y="1711166"/>
                <a:ext cx="252379"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100​</a:t>
                </a:r>
              </a:p>
            </p:txBody>
          </p:sp>
          <p:sp>
            <p:nvSpPr>
              <p:cNvPr id="151" name="Rectangle 151"/>
              <p:cNvSpPr/>
              <p:nvPr/>
            </p:nvSpPr>
            <p:spPr>
              <a:xfrm>
                <a:off x="6362700" y="1866900"/>
                <a:ext cx="914400" cy="209550"/>
              </a:xfrm>
              <a:prstGeom prst="rect">
                <a:avLst/>
              </a:prstGeom>
              <a:solidFill>
                <a:srgbClr val="F7FBF9"/>
              </a:solidFill>
              <a:ln w="7620">
                <a:solidFill>
                  <a:srgbClr val="D9E8E2"/>
                </a:solidFill>
              </a:ln>
            </p:spPr>
          </p:sp>
          <p:sp>
            <p:nvSpPr>
              <p:cNvPr id="152" name="TextBox 152"/>
              <p:cNvSpPr txBox="1"/>
              <p:nvPr/>
            </p:nvSpPr>
            <p:spPr>
              <a:xfrm>
                <a:off x="6674392" y="1920716"/>
                <a:ext cx="291015"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陈敏​</a:t>
                </a:r>
              </a:p>
            </p:txBody>
          </p:sp>
          <p:sp>
            <p:nvSpPr>
              <p:cNvPr id="153" name="Rectangle 153"/>
              <p:cNvSpPr/>
              <p:nvPr/>
            </p:nvSpPr>
            <p:spPr>
              <a:xfrm>
                <a:off x="7277100" y="1866900"/>
                <a:ext cx="647700" cy="209550"/>
              </a:xfrm>
              <a:prstGeom prst="rect">
                <a:avLst/>
              </a:prstGeom>
              <a:solidFill>
                <a:srgbClr val="E3F1EC"/>
              </a:solidFill>
              <a:ln>
                <a:noFill/>
              </a:ln>
            </p:spPr>
          </p:sp>
          <p:sp>
            <p:nvSpPr>
              <p:cNvPr id="154" name="TextBox 154"/>
              <p:cNvSpPr txBox="1"/>
              <p:nvPr/>
            </p:nvSpPr>
            <p:spPr>
              <a:xfrm>
                <a:off x="7505117" y="1920716"/>
                <a:ext cx="191666" cy="161925"/>
              </a:xfrm>
              <a:prstGeom prst="rect">
                <a:avLst/>
              </a:prstGeom>
              <a:noFill/>
              <a:ln>
                <a:noFill/>
              </a:ln>
            </p:spPr>
            <p:txBody>
              <a:bodyPr wrap="none" lIns="0" tIns="0" rIns="0" bIns="0" anchor="t" anchorCtr="0">
                <a:spAutoFit/>
              </a:bodyPr>
              <a:lstStyle/>
              <a:p>
                <a:pPr algn="ctr"/>
                <a:r>
                  <a:rPr lang="zh-CN" sz="820" dirty="0">
                    <a:solidFill>
                      <a:srgbClr val="4A3D3A"/>
                    </a:solidFill>
                    <a:latin typeface="+mn-lt"/>
                    <a:ea typeface="+mn-ea"/>
                    <a:cs typeface="+mn-cs"/>
                  </a:rPr>
                  <a:t>68​</a:t>
                </a:r>
              </a:p>
            </p:txBody>
          </p:sp>
          <p:sp>
            <p:nvSpPr>
              <p:cNvPr id="155" name="Rectangle 155"/>
              <p:cNvSpPr/>
              <p:nvPr/>
            </p:nvSpPr>
            <p:spPr>
              <a:xfrm>
                <a:off x="7924800" y="1866900"/>
                <a:ext cx="647700" cy="209550"/>
              </a:xfrm>
              <a:prstGeom prst="rect">
                <a:avLst/>
              </a:prstGeom>
              <a:solidFill>
                <a:srgbClr val="E3F1EC"/>
              </a:solidFill>
              <a:ln>
                <a:noFill/>
              </a:ln>
            </p:spPr>
          </p:sp>
          <p:sp>
            <p:nvSpPr>
              <p:cNvPr id="156" name="TextBox 156"/>
              <p:cNvSpPr txBox="1"/>
              <p:nvPr/>
            </p:nvSpPr>
            <p:spPr>
              <a:xfrm>
                <a:off x="8152817" y="1920716"/>
                <a:ext cx="191666" cy="161925"/>
              </a:xfrm>
              <a:prstGeom prst="rect">
                <a:avLst/>
              </a:prstGeom>
              <a:noFill/>
              <a:ln>
                <a:noFill/>
              </a:ln>
            </p:spPr>
            <p:txBody>
              <a:bodyPr wrap="none" lIns="0" tIns="0" rIns="0" bIns="0" anchor="t" anchorCtr="0">
                <a:spAutoFit/>
              </a:bodyPr>
              <a:lstStyle/>
              <a:p>
                <a:pPr algn="ctr"/>
                <a:r>
                  <a:rPr lang="zh-CN" sz="820" dirty="0">
                    <a:solidFill>
                      <a:srgbClr val="4A3D3A"/>
                    </a:solidFill>
                    <a:latin typeface="+mn-lt"/>
                    <a:ea typeface="+mn-ea"/>
                    <a:cs typeface="+mn-cs"/>
                  </a:rPr>
                  <a:t>72​</a:t>
                </a:r>
              </a:p>
            </p:txBody>
          </p:sp>
          <p:sp>
            <p:nvSpPr>
              <p:cNvPr id="157" name="Rectangle 157"/>
              <p:cNvSpPr/>
              <p:nvPr/>
            </p:nvSpPr>
            <p:spPr>
              <a:xfrm>
                <a:off x="8572500" y="1866900"/>
                <a:ext cx="647700" cy="209550"/>
              </a:xfrm>
              <a:prstGeom prst="rect">
                <a:avLst/>
              </a:prstGeom>
              <a:solidFill>
                <a:srgbClr val="E3F1EC"/>
              </a:solidFill>
              <a:ln>
                <a:noFill/>
              </a:ln>
            </p:spPr>
          </p:sp>
          <p:sp>
            <p:nvSpPr>
              <p:cNvPr id="158" name="TextBox 158"/>
              <p:cNvSpPr txBox="1"/>
              <p:nvPr/>
            </p:nvSpPr>
            <p:spPr>
              <a:xfrm>
                <a:off x="8800517" y="1920716"/>
                <a:ext cx="191666" cy="161925"/>
              </a:xfrm>
              <a:prstGeom prst="rect">
                <a:avLst/>
              </a:prstGeom>
              <a:noFill/>
              <a:ln>
                <a:noFill/>
              </a:ln>
            </p:spPr>
            <p:txBody>
              <a:bodyPr wrap="none" lIns="0" tIns="0" rIns="0" bIns="0" anchor="t" anchorCtr="0">
                <a:spAutoFit/>
              </a:bodyPr>
              <a:lstStyle/>
              <a:p>
                <a:pPr algn="ctr"/>
                <a:r>
                  <a:rPr lang="zh-CN" sz="820" dirty="0">
                    <a:solidFill>
                      <a:srgbClr val="4A3D3A"/>
                    </a:solidFill>
                    <a:latin typeface="+mn-lt"/>
                    <a:ea typeface="+mn-ea"/>
                    <a:cs typeface="+mn-cs"/>
                  </a:rPr>
                  <a:t>60​</a:t>
                </a:r>
              </a:p>
            </p:txBody>
          </p:sp>
          <p:sp>
            <p:nvSpPr>
              <p:cNvPr id="159" name="Rectangle 159"/>
              <p:cNvSpPr/>
              <p:nvPr/>
            </p:nvSpPr>
            <p:spPr>
              <a:xfrm>
                <a:off x="9220200" y="1866900"/>
                <a:ext cx="647700" cy="209550"/>
              </a:xfrm>
              <a:prstGeom prst="rect">
                <a:avLst/>
              </a:prstGeom>
              <a:solidFill>
                <a:srgbClr val="C5E4DA"/>
              </a:solidFill>
              <a:ln>
                <a:noFill/>
              </a:ln>
            </p:spPr>
          </p:sp>
          <p:sp>
            <p:nvSpPr>
              <p:cNvPr id="160" name="TextBox 160"/>
              <p:cNvSpPr txBox="1"/>
              <p:nvPr/>
            </p:nvSpPr>
            <p:spPr>
              <a:xfrm>
                <a:off x="9448217" y="1920716"/>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75​</a:t>
                </a:r>
              </a:p>
            </p:txBody>
          </p:sp>
          <p:sp>
            <p:nvSpPr>
              <p:cNvPr id="161" name="Rectangle 161"/>
              <p:cNvSpPr/>
              <p:nvPr/>
            </p:nvSpPr>
            <p:spPr>
              <a:xfrm>
                <a:off x="9867900" y="1866900"/>
                <a:ext cx="647700" cy="209550"/>
              </a:xfrm>
              <a:prstGeom prst="rect">
                <a:avLst/>
              </a:prstGeom>
              <a:solidFill>
                <a:srgbClr val="E3F1EC"/>
              </a:solidFill>
              <a:ln>
                <a:noFill/>
              </a:ln>
            </p:spPr>
          </p:sp>
          <p:sp>
            <p:nvSpPr>
              <p:cNvPr id="162" name="TextBox 162"/>
              <p:cNvSpPr txBox="1"/>
              <p:nvPr/>
            </p:nvSpPr>
            <p:spPr>
              <a:xfrm>
                <a:off x="10095917" y="1920716"/>
                <a:ext cx="191666" cy="161925"/>
              </a:xfrm>
              <a:prstGeom prst="rect">
                <a:avLst/>
              </a:prstGeom>
              <a:noFill/>
              <a:ln>
                <a:noFill/>
              </a:ln>
            </p:spPr>
            <p:txBody>
              <a:bodyPr wrap="none" lIns="0" tIns="0" rIns="0" bIns="0" anchor="t" anchorCtr="0">
                <a:spAutoFit/>
              </a:bodyPr>
              <a:lstStyle/>
              <a:p>
                <a:pPr algn="ctr"/>
                <a:r>
                  <a:rPr lang="zh-CN" sz="820" dirty="0">
                    <a:solidFill>
                      <a:srgbClr val="4A3D3A"/>
                    </a:solidFill>
                    <a:latin typeface="+mn-lt"/>
                    <a:ea typeface="+mn-ea"/>
                    <a:cs typeface="+mn-cs"/>
                  </a:rPr>
                  <a:t>70​</a:t>
                </a:r>
              </a:p>
            </p:txBody>
          </p:sp>
          <p:sp>
            <p:nvSpPr>
              <p:cNvPr id="163" name="Rectangle 163"/>
              <p:cNvSpPr/>
              <p:nvPr/>
            </p:nvSpPr>
            <p:spPr>
              <a:xfrm>
                <a:off x="10515600" y="1866900"/>
                <a:ext cx="647700" cy="209550"/>
              </a:xfrm>
              <a:prstGeom prst="rect">
                <a:avLst/>
              </a:prstGeom>
              <a:solidFill>
                <a:srgbClr val="E3F1EC"/>
              </a:solidFill>
              <a:ln>
                <a:noFill/>
              </a:ln>
            </p:spPr>
          </p:sp>
          <p:sp>
            <p:nvSpPr>
              <p:cNvPr id="164" name="TextBox 164"/>
              <p:cNvSpPr txBox="1"/>
              <p:nvPr/>
            </p:nvSpPr>
            <p:spPr>
              <a:xfrm>
                <a:off x="10743617" y="1920716"/>
                <a:ext cx="191666" cy="161925"/>
              </a:xfrm>
              <a:prstGeom prst="rect">
                <a:avLst/>
              </a:prstGeom>
              <a:noFill/>
              <a:ln>
                <a:noFill/>
              </a:ln>
            </p:spPr>
            <p:txBody>
              <a:bodyPr wrap="none" lIns="0" tIns="0" rIns="0" bIns="0" anchor="t" anchorCtr="0">
                <a:spAutoFit/>
              </a:bodyPr>
              <a:lstStyle/>
              <a:p>
                <a:pPr algn="ctr"/>
                <a:r>
                  <a:rPr lang="zh-CN" sz="820" dirty="0">
                    <a:solidFill>
                      <a:srgbClr val="4A3D3A"/>
                    </a:solidFill>
                    <a:latin typeface="+mn-lt"/>
                    <a:ea typeface="+mn-ea"/>
                    <a:cs typeface="+mn-cs"/>
                  </a:rPr>
                  <a:t>65​</a:t>
                </a:r>
              </a:p>
            </p:txBody>
          </p:sp>
          <p:sp>
            <p:nvSpPr>
              <p:cNvPr id="165" name="Rectangle 165"/>
              <p:cNvSpPr/>
              <p:nvPr/>
            </p:nvSpPr>
            <p:spPr>
              <a:xfrm>
                <a:off x="11163300" y="1866900"/>
                <a:ext cx="685800" cy="209550"/>
              </a:xfrm>
              <a:prstGeom prst="rect">
                <a:avLst/>
              </a:prstGeom>
              <a:solidFill>
                <a:srgbClr val="E3F1EC"/>
              </a:solidFill>
              <a:ln>
                <a:noFill/>
              </a:ln>
            </p:spPr>
          </p:sp>
          <p:sp>
            <p:nvSpPr>
              <p:cNvPr id="166" name="TextBox 166"/>
              <p:cNvSpPr txBox="1"/>
              <p:nvPr/>
            </p:nvSpPr>
            <p:spPr>
              <a:xfrm>
                <a:off x="11410367" y="1920716"/>
                <a:ext cx="191666" cy="161925"/>
              </a:xfrm>
              <a:prstGeom prst="rect">
                <a:avLst/>
              </a:prstGeom>
              <a:noFill/>
              <a:ln>
                <a:noFill/>
              </a:ln>
            </p:spPr>
            <p:txBody>
              <a:bodyPr wrap="none" lIns="0" tIns="0" rIns="0" bIns="0" anchor="t" anchorCtr="0">
                <a:spAutoFit/>
              </a:bodyPr>
              <a:lstStyle/>
              <a:p>
                <a:pPr algn="ctr"/>
                <a:r>
                  <a:rPr lang="zh-CN" sz="820" dirty="0">
                    <a:solidFill>
                      <a:srgbClr val="4A3D3A"/>
                    </a:solidFill>
                    <a:latin typeface="+mn-lt"/>
                    <a:ea typeface="+mn-ea"/>
                    <a:cs typeface="+mn-cs"/>
                  </a:rPr>
                  <a:t>68​</a:t>
                </a:r>
              </a:p>
            </p:txBody>
          </p:sp>
          <p:sp>
            <p:nvSpPr>
              <p:cNvPr id="167" name="Rectangle 167"/>
              <p:cNvSpPr/>
              <p:nvPr/>
            </p:nvSpPr>
            <p:spPr>
              <a:xfrm>
                <a:off x="6362700" y="2076450"/>
                <a:ext cx="914400" cy="228600"/>
              </a:xfrm>
              <a:prstGeom prst="rect">
                <a:avLst/>
              </a:prstGeom>
              <a:solidFill>
                <a:srgbClr val="FFFFFF"/>
              </a:solidFill>
              <a:ln w="7620">
                <a:solidFill>
                  <a:srgbClr val="D9E8E2"/>
                </a:solidFill>
              </a:ln>
            </p:spPr>
          </p:sp>
          <p:sp>
            <p:nvSpPr>
              <p:cNvPr id="168" name="TextBox 168"/>
              <p:cNvSpPr txBox="1"/>
              <p:nvPr/>
            </p:nvSpPr>
            <p:spPr>
              <a:xfrm>
                <a:off x="6674392" y="2139791"/>
                <a:ext cx="291015"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刘洋​</a:t>
                </a:r>
              </a:p>
            </p:txBody>
          </p:sp>
          <p:sp>
            <p:nvSpPr>
              <p:cNvPr id="169" name="Rectangle 169"/>
              <p:cNvSpPr/>
              <p:nvPr/>
            </p:nvSpPr>
            <p:spPr>
              <a:xfrm>
                <a:off x="7277100" y="2076450"/>
                <a:ext cx="647700" cy="228600"/>
              </a:xfrm>
              <a:prstGeom prst="rect">
                <a:avLst/>
              </a:prstGeom>
              <a:solidFill>
                <a:srgbClr val="C9988F"/>
              </a:solidFill>
              <a:ln>
                <a:noFill/>
              </a:ln>
            </p:spPr>
          </p:sp>
          <p:sp>
            <p:nvSpPr>
              <p:cNvPr id="170" name="TextBox 170"/>
              <p:cNvSpPr txBox="1"/>
              <p:nvPr/>
            </p:nvSpPr>
            <p:spPr>
              <a:xfrm>
                <a:off x="7505117" y="2139791"/>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85​</a:t>
                </a:r>
              </a:p>
            </p:txBody>
          </p:sp>
          <p:sp>
            <p:nvSpPr>
              <p:cNvPr id="171" name="Rectangle 171"/>
              <p:cNvSpPr/>
              <p:nvPr/>
            </p:nvSpPr>
            <p:spPr>
              <a:xfrm>
                <a:off x="7924800" y="2076450"/>
                <a:ext cx="647700" cy="228600"/>
              </a:xfrm>
              <a:prstGeom prst="rect">
                <a:avLst/>
              </a:prstGeom>
              <a:solidFill>
                <a:srgbClr val="C9988F"/>
              </a:solidFill>
              <a:ln>
                <a:noFill/>
              </a:ln>
            </p:spPr>
          </p:sp>
          <p:sp>
            <p:nvSpPr>
              <p:cNvPr id="172" name="TextBox 172"/>
              <p:cNvSpPr txBox="1"/>
              <p:nvPr/>
            </p:nvSpPr>
            <p:spPr>
              <a:xfrm>
                <a:off x="8152817" y="2139791"/>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90​</a:t>
                </a:r>
              </a:p>
            </p:txBody>
          </p:sp>
          <p:sp>
            <p:nvSpPr>
              <p:cNvPr id="173" name="Rectangle 173"/>
              <p:cNvSpPr/>
              <p:nvPr/>
            </p:nvSpPr>
            <p:spPr>
              <a:xfrm>
                <a:off x="8572500" y="2076450"/>
                <a:ext cx="647700" cy="228600"/>
              </a:xfrm>
              <a:prstGeom prst="rect">
                <a:avLst/>
              </a:prstGeom>
              <a:solidFill>
                <a:srgbClr val="C5E4DA"/>
              </a:solidFill>
              <a:ln>
                <a:noFill/>
              </a:ln>
            </p:spPr>
          </p:sp>
          <p:sp>
            <p:nvSpPr>
              <p:cNvPr id="174" name="TextBox 174"/>
              <p:cNvSpPr txBox="1"/>
              <p:nvPr/>
            </p:nvSpPr>
            <p:spPr>
              <a:xfrm>
                <a:off x="8800517" y="2139791"/>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78​</a:t>
                </a:r>
              </a:p>
            </p:txBody>
          </p:sp>
          <p:sp>
            <p:nvSpPr>
              <p:cNvPr id="175" name="Rectangle 175"/>
              <p:cNvSpPr/>
              <p:nvPr/>
            </p:nvSpPr>
            <p:spPr>
              <a:xfrm>
                <a:off x="9220200" y="2076450"/>
                <a:ext cx="647700" cy="228600"/>
              </a:xfrm>
              <a:prstGeom prst="rect">
                <a:avLst/>
              </a:prstGeom>
              <a:solidFill>
                <a:srgbClr val="C9988F"/>
              </a:solidFill>
              <a:ln>
                <a:noFill/>
              </a:ln>
            </p:spPr>
          </p:sp>
          <p:sp>
            <p:nvSpPr>
              <p:cNvPr id="176" name="TextBox 176"/>
              <p:cNvSpPr txBox="1"/>
              <p:nvPr/>
            </p:nvSpPr>
            <p:spPr>
              <a:xfrm>
                <a:off x="9448217" y="2139791"/>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88​</a:t>
                </a:r>
              </a:p>
            </p:txBody>
          </p:sp>
          <p:sp>
            <p:nvSpPr>
              <p:cNvPr id="177" name="Rectangle 177"/>
              <p:cNvSpPr/>
              <p:nvPr/>
            </p:nvSpPr>
            <p:spPr>
              <a:xfrm>
                <a:off x="9867900" y="2076450"/>
                <a:ext cx="647700" cy="228600"/>
              </a:xfrm>
              <a:prstGeom prst="rect">
                <a:avLst/>
              </a:prstGeom>
              <a:solidFill>
                <a:srgbClr val="C9988F"/>
              </a:solidFill>
              <a:ln>
                <a:noFill/>
              </a:ln>
            </p:spPr>
          </p:sp>
          <p:sp>
            <p:nvSpPr>
              <p:cNvPr id="178" name="TextBox 178"/>
              <p:cNvSpPr txBox="1"/>
              <p:nvPr/>
            </p:nvSpPr>
            <p:spPr>
              <a:xfrm>
                <a:off x="10095917" y="2139791"/>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92​</a:t>
                </a:r>
              </a:p>
            </p:txBody>
          </p:sp>
          <p:sp>
            <p:nvSpPr>
              <p:cNvPr id="179" name="Rectangle 179"/>
              <p:cNvSpPr/>
              <p:nvPr/>
            </p:nvSpPr>
            <p:spPr>
              <a:xfrm>
                <a:off x="10515600" y="2076450"/>
                <a:ext cx="647700" cy="228600"/>
              </a:xfrm>
              <a:prstGeom prst="rect">
                <a:avLst/>
              </a:prstGeom>
              <a:solidFill>
                <a:srgbClr val="C5E4DA"/>
              </a:solidFill>
              <a:ln>
                <a:noFill/>
              </a:ln>
            </p:spPr>
          </p:sp>
          <p:sp>
            <p:nvSpPr>
              <p:cNvPr id="180" name="TextBox 180"/>
              <p:cNvSpPr txBox="1"/>
              <p:nvPr/>
            </p:nvSpPr>
            <p:spPr>
              <a:xfrm>
                <a:off x="10743617" y="2139791"/>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80​</a:t>
                </a:r>
              </a:p>
            </p:txBody>
          </p:sp>
          <p:sp>
            <p:nvSpPr>
              <p:cNvPr id="181" name="Rectangle 181"/>
              <p:cNvSpPr/>
              <p:nvPr/>
            </p:nvSpPr>
            <p:spPr>
              <a:xfrm>
                <a:off x="11163300" y="2076450"/>
                <a:ext cx="685800" cy="228600"/>
              </a:xfrm>
              <a:prstGeom prst="rect">
                <a:avLst/>
              </a:prstGeom>
              <a:solidFill>
                <a:srgbClr val="C9988F"/>
              </a:solidFill>
              <a:ln>
                <a:noFill/>
              </a:ln>
            </p:spPr>
          </p:sp>
          <p:sp>
            <p:nvSpPr>
              <p:cNvPr id="182" name="TextBox 182"/>
              <p:cNvSpPr txBox="1"/>
              <p:nvPr/>
            </p:nvSpPr>
            <p:spPr>
              <a:xfrm>
                <a:off x="11410367" y="2139791"/>
                <a:ext cx="191666" cy="161925"/>
              </a:xfrm>
              <a:prstGeom prst="rect">
                <a:avLst/>
              </a:prstGeom>
              <a:noFill/>
              <a:ln>
                <a:noFill/>
              </a:ln>
            </p:spPr>
            <p:txBody>
              <a:bodyPr wrap="none" lIns="0" tIns="0" rIns="0" bIns="0" anchor="t" anchorCtr="0">
                <a:spAutoFit/>
              </a:bodyPr>
              <a:lstStyle/>
              <a:p>
                <a:pPr algn="ctr"/>
                <a:r>
                  <a:rPr lang="zh-CN" sz="820" dirty="0">
                    <a:solidFill>
                      <a:srgbClr val="3B130B"/>
                    </a:solidFill>
                    <a:latin typeface="+mn-lt"/>
                    <a:ea typeface="+mn-ea"/>
                    <a:cs typeface="+mn-cs"/>
                  </a:rPr>
                  <a:t>86​</a:t>
                </a:r>
              </a:p>
            </p:txBody>
          </p:sp>
        </p:grpSp>
      </p:grpSp>
      <p:grpSp>
        <p:nvGrpSpPr>
          <p:cNvPr id="218" name="mini-strip"/>
          <p:cNvGrpSpPr/>
          <p:nvPr/>
        </p:nvGrpSpPr>
        <p:grpSpPr>
          <a:xfrm>
            <a:off x="6210300" y="2495550"/>
            <a:ext cx="5753100" cy="952500"/>
            <a:chOff x="6210300" y="2495550"/>
            <a:chExt cx="5753100" cy="952500"/>
          </a:xfrm>
        </p:grpSpPr>
        <p:sp>
          <p:nvSpPr>
            <p:cNvPr id="185" name="Rectangle 185"/>
            <p:cNvSpPr/>
            <p:nvPr/>
          </p:nvSpPr>
          <p:spPr>
            <a:xfrm>
              <a:off x="6210300" y="2495550"/>
              <a:ext cx="1390650" cy="952500"/>
            </a:xfrm>
            <a:prstGeom prst="roundRect">
              <a:avLst>
                <a:gd name="adj" fmla="val 8000"/>
              </a:avLst>
            </a:prstGeom>
            <a:solidFill>
              <a:srgbClr val="E9F4F0"/>
            </a:solidFill>
            <a:ln>
              <a:noFill/>
            </a:ln>
          </p:spPr>
        </p:sp>
        <p:sp>
          <p:nvSpPr>
            <p:cNvPr id="186" name="Ellipse 186"/>
            <p:cNvSpPr/>
            <p:nvPr/>
          </p:nvSpPr>
          <p:spPr>
            <a:xfrm>
              <a:off x="6334125" y="2638425"/>
              <a:ext cx="247650" cy="247650"/>
            </a:xfrm>
            <a:prstGeom prst="ellipse">
              <a:avLst/>
            </a:prstGeom>
            <a:solidFill>
              <a:srgbClr val="5B180B"/>
            </a:solidFill>
            <a:ln>
              <a:noFill/>
            </a:ln>
          </p:spPr>
        </p:sp>
        <p:grpSp>
          <p:nvGrpSpPr>
            <p:cNvPr id="190" name="Group 190"/>
            <p:cNvGrpSpPr/>
            <p:nvPr/>
          </p:nvGrpSpPr>
          <p:grpSpPr>
            <a:xfrm>
              <a:off x="6379369" y="2683669"/>
              <a:ext cx="157163" cy="157163"/>
              <a:chOff x="6379369" y="2683669"/>
              <a:chExt cx="157163" cy="157163"/>
            </a:xfrm>
          </p:grpSpPr>
          <p:sp>
            <p:nvSpPr>
              <p:cNvPr id="187" name="Freeform 187"/>
              <p:cNvSpPr/>
              <p:nvPr/>
            </p:nvSpPr>
            <p:spPr>
              <a:xfrm>
                <a:off x="6449219" y="275351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188" name="Freeform 188"/>
              <p:cNvSpPr/>
              <p:nvPr/>
            </p:nvSpPr>
            <p:spPr>
              <a:xfrm>
                <a:off x="6414294" y="271859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189" name="Freeform 189"/>
              <p:cNvSpPr/>
              <p:nvPr/>
            </p:nvSpPr>
            <p:spPr>
              <a:xfrm>
                <a:off x="6379369" y="2683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191" name="TextBox 191"/>
            <p:cNvSpPr txBox="1"/>
            <p:nvPr/>
          </p:nvSpPr>
          <p:spPr>
            <a:xfrm>
              <a:off x="6662738" y="2720816"/>
              <a:ext cx="622181" cy="161925"/>
            </a:xfrm>
            <a:prstGeom prst="rect">
              <a:avLst/>
            </a:prstGeom>
            <a:noFill/>
            <a:ln>
              <a:noFill/>
            </a:ln>
          </p:spPr>
          <p:txBody>
            <a:bodyPr wrap="none" lIns="0" tIns="0" rIns="0" bIns="0" anchor="t" anchorCtr="0">
              <a:spAutoFit/>
            </a:bodyPr>
            <a:lstStyle/>
            <a:p>
              <a:pPr algn="l"/>
              <a:r>
                <a:rPr lang="zh-CN" sz="820" dirty="0">
                  <a:solidFill>
                    <a:srgbClr val="4A3D3A"/>
                  </a:solidFill>
                  <a:latin typeface="+mn-lt"/>
                  <a:ea typeface="+mn-ea"/>
                  <a:cs typeface="+mn-cs"/>
                </a:rPr>
                <a:t>综合完成率​</a:t>
              </a:r>
            </a:p>
          </p:txBody>
        </p:sp>
        <p:sp>
          <p:nvSpPr>
            <p:cNvPr id="192" name="TextBox 192"/>
            <p:cNvSpPr txBox="1"/>
            <p:nvPr/>
          </p:nvSpPr>
          <p:spPr>
            <a:xfrm>
              <a:off x="6564958" y="3027998"/>
              <a:ext cx="681335" cy="381381"/>
            </a:xfrm>
            <a:prstGeom prst="rect">
              <a:avLst/>
            </a:prstGeom>
            <a:noFill/>
            <a:ln>
              <a:noFill/>
            </a:ln>
          </p:spPr>
          <p:txBody>
            <a:bodyPr wrap="none" lIns="0" tIns="0" rIns="0" bIns="0" anchor="t" anchorCtr="0">
              <a:spAutoFit/>
            </a:bodyPr>
            <a:lstStyle/>
            <a:p>
              <a:pPr algn="ctr"/>
              <a:r>
                <a:rPr lang="zh-CN" sz="1950" b="1" dirty="0">
                  <a:solidFill>
                    <a:srgbClr val="5B180B"/>
                  </a:solidFill>
                  <a:latin typeface="+mn-lt"/>
                  <a:ea typeface="+mn-ea"/>
                  <a:cs typeface="+mn-cs"/>
                </a:rPr>
                <a:t>76%​</a:t>
              </a:r>
            </a:p>
          </p:txBody>
        </p:sp>
        <p:sp>
          <p:nvSpPr>
            <p:cNvPr id="193" name="Rectangle 193"/>
            <p:cNvSpPr/>
            <p:nvPr/>
          </p:nvSpPr>
          <p:spPr>
            <a:xfrm>
              <a:off x="7677150" y="2495550"/>
              <a:ext cx="1390650" cy="952500"/>
            </a:xfrm>
            <a:prstGeom prst="roundRect">
              <a:avLst>
                <a:gd name="adj" fmla="val 8000"/>
              </a:avLst>
            </a:prstGeom>
            <a:solidFill>
              <a:srgbClr val="E9F4F0"/>
            </a:solidFill>
            <a:ln>
              <a:noFill/>
            </a:ln>
          </p:spPr>
        </p:sp>
        <p:sp>
          <p:nvSpPr>
            <p:cNvPr id="194" name="Ellipse 194"/>
            <p:cNvSpPr/>
            <p:nvPr/>
          </p:nvSpPr>
          <p:spPr>
            <a:xfrm>
              <a:off x="7800975" y="2638425"/>
              <a:ext cx="247650" cy="247650"/>
            </a:xfrm>
            <a:prstGeom prst="ellipse">
              <a:avLst/>
            </a:prstGeom>
            <a:solidFill>
              <a:srgbClr val="5B180B"/>
            </a:solidFill>
            <a:ln>
              <a:noFill/>
            </a:ln>
          </p:spPr>
        </p:sp>
        <p:grpSp>
          <p:nvGrpSpPr>
            <p:cNvPr id="197" name="Group 197"/>
            <p:cNvGrpSpPr/>
            <p:nvPr/>
          </p:nvGrpSpPr>
          <p:grpSpPr>
            <a:xfrm>
              <a:off x="7846219" y="2683669"/>
              <a:ext cx="157163" cy="157163"/>
              <a:chOff x="7846219" y="2683669"/>
              <a:chExt cx="157163" cy="157163"/>
            </a:xfrm>
          </p:grpSpPr>
          <p:sp>
            <p:nvSpPr>
              <p:cNvPr id="195" name="Freeform 195"/>
              <p:cNvSpPr/>
              <p:nvPr/>
            </p:nvSpPr>
            <p:spPr>
              <a:xfrm>
                <a:off x="7846219" y="2683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sp>
            <p:nvSpPr>
              <p:cNvPr id="196" name="Freeform 196"/>
              <p:cNvSpPr/>
              <p:nvPr/>
            </p:nvSpPr>
            <p:spPr>
              <a:xfrm>
                <a:off x="7924800" y="2718594"/>
                <a:ext cx="26194" cy="69850"/>
              </a:xfrm>
              <a:custGeom>
                <a:avLst/>
                <a:gdLst/>
                <a:ahLst/>
                <a:cxnLst/>
                <a:rect l="l" t="t" r="r" b="b"/>
                <a:pathLst>
                  <a:path w="26194" h="69850">
                    <a:moveTo>
                      <a:pt x="0" y="0"/>
                    </a:moveTo>
                    <a:lnTo>
                      <a:pt x="0" y="43656"/>
                    </a:lnTo>
                    <a:lnTo>
                      <a:pt x="26194" y="69850"/>
                    </a:lnTo>
                  </a:path>
                </a:pathLst>
              </a:custGeom>
              <a:noFill/>
              <a:ln w="17463">
                <a:solidFill>
                  <a:srgbClr val="FFFFFF"/>
                </a:solidFill>
              </a:ln>
            </p:spPr>
          </p:sp>
        </p:grpSp>
        <p:sp>
          <p:nvSpPr>
            <p:cNvPr id="198" name="TextBox 198"/>
            <p:cNvSpPr txBox="1"/>
            <p:nvPr/>
          </p:nvSpPr>
          <p:spPr>
            <a:xfrm>
              <a:off x="8129588" y="2720816"/>
              <a:ext cx="511792" cy="161925"/>
            </a:xfrm>
            <a:prstGeom prst="rect">
              <a:avLst/>
            </a:prstGeom>
            <a:noFill/>
            <a:ln>
              <a:noFill/>
            </a:ln>
          </p:spPr>
          <p:txBody>
            <a:bodyPr wrap="none" lIns="0" tIns="0" rIns="0" bIns="0" anchor="t" anchorCtr="0">
              <a:spAutoFit/>
            </a:bodyPr>
            <a:lstStyle/>
            <a:p>
              <a:pPr algn="l"/>
              <a:r>
                <a:rPr lang="zh-CN" sz="820" dirty="0">
                  <a:solidFill>
                    <a:srgbClr val="4A3D3A"/>
                  </a:solidFill>
                  <a:latin typeface="+mn-lt"/>
                  <a:ea typeface="+mn-ea"/>
                  <a:cs typeface="+mn-cs"/>
                </a:rPr>
                <a:t>时间进度​</a:t>
              </a:r>
            </a:p>
          </p:txBody>
        </p:sp>
        <p:sp>
          <p:nvSpPr>
            <p:cNvPr id="199" name="TextBox 199"/>
            <p:cNvSpPr txBox="1"/>
            <p:nvPr/>
          </p:nvSpPr>
          <p:spPr>
            <a:xfrm>
              <a:off x="8031808" y="3027998"/>
              <a:ext cx="681335" cy="381381"/>
            </a:xfrm>
            <a:prstGeom prst="rect">
              <a:avLst/>
            </a:prstGeom>
            <a:noFill/>
            <a:ln>
              <a:noFill/>
            </a:ln>
          </p:spPr>
          <p:txBody>
            <a:bodyPr wrap="none" lIns="0" tIns="0" rIns="0" bIns="0" anchor="t" anchorCtr="0">
              <a:spAutoFit/>
            </a:bodyPr>
            <a:lstStyle/>
            <a:p>
              <a:pPr algn="ctr"/>
              <a:r>
                <a:rPr lang="zh-CN" sz="1950" b="1" dirty="0">
                  <a:solidFill>
                    <a:srgbClr val="5B180B"/>
                  </a:solidFill>
                  <a:latin typeface="+mn-lt"/>
                  <a:ea typeface="+mn-ea"/>
                  <a:cs typeface="+mn-cs"/>
                </a:rPr>
                <a:t>75%​</a:t>
              </a:r>
            </a:p>
          </p:txBody>
        </p:sp>
        <p:sp>
          <p:nvSpPr>
            <p:cNvPr id="200" name="Rectangle 200"/>
            <p:cNvSpPr/>
            <p:nvPr/>
          </p:nvSpPr>
          <p:spPr>
            <a:xfrm>
              <a:off x="9144000" y="2495550"/>
              <a:ext cx="1390650" cy="952500"/>
            </a:xfrm>
            <a:prstGeom prst="roundRect">
              <a:avLst>
                <a:gd name="adj" fmla="val 8000"/>
              </a:avLst>
            </a:prstGeom>
            <a:solidFill>
              <a:srgbClr val="E9F4F0"/>
            </a:solidFill>
            <a:ln>
              <a:noFill/>
            </a:ln>
          </p:spPr>
        </p:sp>
        <p:sp>
          <p:nvSpPr>
            <p:cNvPr id="201" name="Ellipse 201"/>
            <p:cNvSpPr/>
            <p:nvPr/>
          </p:nvSpPr>
          <p:spPr>
            <a:xfrm>
              <a:off x="9267825" y="2638425"/>
              <a:ext cx="247650" cy="247650"/>
            </a:xfrm>
            <a:prstGeom prst="ellipse">
              <a:avLst/>
            </a:prstGeom>
            <a:solidFill>
              <a:srgbClr val="5B180B"/>
            </a:solidFill>
            <a:ln>
              <a:noFill/>
            </a:ln>
          </p:spPr>
        </p:sp>
        <p:grpSp>
          <p:nvGrpSpPr>
            <p:cNvPr id="207" name="Group 207"/>
            <p:cNvGrpSpPr/>
            <p:nvPr/>
          </p:nvGrpSpPr>
          <p:grpSpPr>
            <a:xfrm>
              <a:off x="9313069" y="2682499"/>
              <a:ext cx="157162" cy="158333"/>
              <a:chOff x="9313069" y="2682499"/>
              <a:chExt cx="157162" cy="158333"/>
            </a:xfrm>
          </p:grpSpPr>
          <p:sp>
            <p:nvSpPr>
              <p:cNvPr id="202" name="Freeform 202"/>
              <p:cNvSpPr/>
              <p:nvPr/>
            </p:nvSpPr>
            <p:spPr>
              <a:xfrm>
                <a:off x="9365456" y="2753519"/>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FFFFFF"/>
                </a:solidFill>
              </a:ln>
            </p:spPr>
          </p:sp>
          <p:sp>
            <p:nvSpPr>
              <p:cNvPr id="203" name="Freeform 203"/>
              <p:cNvSpPr/>
              <p:nvPr/>
            </p:nvSpPr>
            <p:spPr>
              <a:xfrm>
                <a:off x="9365456" y="2779713"/>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FFFFFF"/>
                </a:solidFill>
              </a:ln>
            </p:spPr>
          </p:sp>
          <p:sp>
            <p:nvSpPr>
              <p:cNvPr id="204" name="Freeform 204"/>
              <p:cNvSpPr/>
              <p:nvPr/>
            </p:nvSpPr>
            <p:spPr>
              <a:xfrm>
                <a:off x="9313069" y="2682499"/>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FFFFFF"/>
                </a:solidFill>
              </a:ln>
            </p:spPr>
          </p:sp>
          <p:sp>
            <p:nvSpPr>
              <p:cNvPr id="205" name="Freeform 205"/>
              <p:cNvSpPr/>
              <p:nvPr/>
            </p:nvSpPr>
            <p:spPr>
              <a:xfrm>
                <a:off x="9313069" y="2709863"/>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FFFFFF"/>
                </a:solidFill>
              </a:ln>
            </p:spPr>
          </p:sp>
          <p:sp>
            <p:nvSpPr>
              <p:cNvPr id="206" name="Freeform 206"/>
              <p:cNvSpPr/>
              <p:nvPr/>
            </p:nvSpPr>
            <p:spPr>
              <a:xfrm>
                <a:off x="9313069" y="2753519"/>
                <a:ext cx="17463" cy="17463"/>
              </a:xfrm>
              <a:custGeom>
                <a:avLst/>
                <a:gdLst/>
                <a:ahLst/>
                <a:cxnLst/>
                <a:rect l="l" t="t" r="r" b="b"/>
                <a:pathLst>
                  <a:path w="17463" h="17463">
                    <a:moveTo>
                      <a:pt x="0" y="0"/>
                    </a:moveTo>
                    <a:cubicBezTo>
                      <a:pt x="0" y="7753"/>
                      <a:pt x="6741" y="12660"/>
                      <a:pt x="17463" y="17463"/>
                    </a:cubicBezTo>
                  </a:path>
                </a:pathLst>
              </a:custGeom>
              <a:noFill/>
              <a:ln w="17463">
                <a:solidFill>
                  <a:srgbClr val="FFFFFF"/>
                </a:solidFill>
              </a:ln>
            </p:spPr>
          </p:sp>
        </p:grpSp>
        <p:sp>
          <p:nvSpPr>
            <p:cNvPr id="208" name="TextBox 208"/>
            <p:cNvSpPr txBox="1"/>
            <p:nvPr/>
          </p:nvSpPr>
          <p:spPr>
            <a:xfrm>
              <a:off x="9596438" y="2720816"/>
              <a:ext cx="511792" cy="161925"/>
            </a:xfrm>
            <a:prstGeom prst="rect">
              <a:avLst/>
            </a:prstGeom>
            <a:noFill/>
            <a:ln>
              <a:noFill/>
            </a:ln>
          </p:spPr>
          <p:txBody>
            <a:bodyPr wrap="none" lIns="0" tIns="0" rIns="0" bIns="0" anchor="t" anchorCtr="0">
              <a:spAutoFit/>
            </a:bodyPr>
            <a:lstStyle/>
            <a:p>
              <a:pPr algn="l"/>
              <a:r>
                <a:rPr lang="zh-CN" sz="820" dirty="0">
                  <a:solidFill>
                    <a:srgbClr val="4A3D3A"/>
                  </a:solidFill>
                  <a:latin typeface="+mn-lt"/>
                  <a:ea typeface="+mn-ea"/>
                  <a:cs typeface="+mn-cs"/>
                </a:rPr>
                <a:t>价值缺口​</a:t>
              </a:r>
            </a:p>
          </p:txBody>
        </p:sp>
        <p:sp>
          <p:nvSpPr>
            <p:cNvPr id="209" name="TextBox 209"/>
            <p:cNvSpPr txBox="1"/>
            <p:nvPr/>
          </p:nvSpPr>
          <p:spPr>
            <a:xfrm>
              <a:off x="9282594" y="3044190"/>
              <a:ext cx="1113462" cy="352044"/>
            </a:xfrm>
            <a:prstGeom prst="rect">
              <a:avLst/>
            </a:prstGeom>
            <a:noFill/>
            <a:ln>
              <a:noFill/>
            </a:ln>
          </p:spPr>
          <p:txBody>
            <a:bodyPr wrap="none" lIns="0" tIns="0" rIns="0" bIns="0" anchor="t" anchorCtr="0">
              <a:spAutoFit/>
            </a:bodyPr>
            <a:lstStyle/>
            <a:p>
              <a:pPr algn="ctr"/>
              <a:r>
                <a:rPr lang="zh-CN" sz="1800" b="1" dirty="0">
                  <a:solidFill>
                    <a:srgbClr val="B8432F"/>
                  </a:solidFill>
                  <a:latin typeface="+mn-lt"/>
                  <a:ea typeface="+mn-ea"/>
                  <a:cs typeface="+mn-cs"/>
                </a:rPr>
                <a:t>1,340</a:t>
              </a:r>
              <a:r>
                <a:rPr lang="zh-CN" sz="820" b="1" dirty="0">
                  <a:solidFill>
                    <a:srgbClr val="B8432F"/>
                  </a:solidFill>
                  <a:latin typeface="+mn-lt"/>
                  <a:ea typeface="+mn-ea"/>
                  <a:cs typeface="+mn-cs"/>
                </a:rPr>
                <a:t xml:space="preserve"> 万元</a:t>
              </a:r>
              <a:r>
                <a:rPr lang="zh-CN" sz="1800" b="1" dirty="0">
                  <a:solidFill>
                    <a:srgbClr val="B8432F"/>
                  </a:solidFill>
                  <a:latin typeface="+mn-lt"/>
                  <a:ea typeface="+mn-ea"/>
                  <a:cs typeface="+mn-cs"/>
                </a:rPr>
                <a:t>​</a:t>
              </a:r>
            </a:p>
          </p:txBody>
        </p:sp>
        <p:sp>
          <p:nvSpPr>
            <p:cNvPr id="210" name="Rectangle 210"/>
            <p:cNvSpPr/>
            <p:nvPr/>
          </p:nvSpPr>
          <p:spPr>
            <a:xfrm>
              <a:off x="10610850" y="2495550"/>
              <a:ext cx="1352550" cy="952500"/>
            </a:xfrm>
            <a:prstGeom prst="roundRect">
              <a:avLst>
                <a:gd name="adj" fmla="val 8000"/>
              </a:avLst>
            </a:prstGeom>
            <a:solidFill>
              <a:srgbClr val="FBEDEB"/>
            </a:solidFill>
            <a:ln>
              <a:noFill/>
            </a:ln>
          </p:spPr>
        </p:sp>
        <p:sp>
          <p:nvSpPr>
            <p:cNvPr id="211" name="Ellipse 211"/>
            <p:cNvSpPr/>
            <p:nvPr/>
          </p:nvSpPr>
          <p:spPr>
            <a:xfrm>
              <a:off x="10734675" y="2638425"/>
              <a:ext cx="247650" cy="247650"/>
            </a:xfrm>
            <a:prstGeom prst="ellipse">
              <a:avLst/>
            </a:prstGeom>
            <a:solidFill>
              <a:srgbClr val="C24833"/>
            </a:solidFill>
            <a:ln>
              <a:noFill/>
            </a:ln>
          </p:spPr>
        </p:sp>
        <p:grpSp>
          <p:nvGrpSpPr>
            <p:cNvPr id="215" name="Group 215"/>
            <p:cNvGrpSpPr/>
            <p:nvPr/>
          </p:nvGrpSpPr>
          <p:grpSpPr>
            <a:xfrm>
              <a:off x="10770444" y="2680768"/>
              <a:ext cx="176105" cy="151297"/>
              <a:chOff x="10770444" y="2680768"/>
              <a:chExt cx="176105" cy="151297"/>
            </a:xfrm>
          </p:grpSpPr>
          <p:sp>
            <p:nvSpPr>
              <p:cNvPr id="212" name="Freeform 212"/>
              <p:cNvSpPr/>
              <p:nvPr/>
            </p:nvSpPr>
            <p:spPr>
              <a:xfrm>
                <a:off x="10858500" y="2736056"/>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213" name="Freeform 213"/>
              <p:cNvSpPr/>
              <p:nvPr/>
            </p:nvSpPr>
            <p:spPr>
              <a:xfrm>
                <a:off x="10770444" y="2680768"/>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FFFFFF"/>
                </a:solidFill>
              </a:ln>
            </p:spPr>
          </p:sp>
          <p:sp>
            <p:nvSpPr>
              <p:cNvPr id="214" name="Freeform 214"/>
              <p:cNvSpPr/>
              <p:nvPr/>
            </p:nvSpPr>
            <p:spPr>
              <a:xfrm>
                <a:off x="10858500" y="2797175"/>
                <a:ext cx="9525" cy="9525"/>
              </a:xfrm>
              <a:custGeom>
                <a:avLst/>
                <a:gdLst/>
                <a:ahLst/>
                <a:cxnLst/>
                <a:rect l="l" t="t" r="r" b="b"/>
                <a:pathLst>
                  <a:path w="9525" h="9525">
                    <a:moveTo>
                      <a:pt x="0" y="0"/>
                    </a:moveTo>
                    <a:lnTo>
                      <a:pt x="87" y="0"/>
                    </a:lnTo>
                  </a:path>
                </a:pathLst>
              </a:custGeom>
              <a:noFill/>
              <a:ln w="17463">
                <a:solidFill>
                  <a:srgbClr val="FFFFFF"/>
                </a:solidFill>
              </a:ln>
            </p:spPr>
          </p:sp>
        </p:grpSp>
        <p:sp>
          <p:nvSpPr>
            <p:cNvPr id="216" name="TextBox 216"/>
            <p:cNvSpPr txBox="1"/>
            <p:nvPr/>
          </p:nvSpPr>
          <p:spPr>
            <a:xfrm>
              <a:off x="11063288" y="2720816"/>
              <a:ext cx="622181" cy="161925"/>
            </a:xfrm>
            <a:prstGeom prst="rect">
              <a:avLst/>
            </a:prstGeom>
            <a:noFill/>
            <a:ln>
              <a:noFill/>
            </a:ln>
          </p:spPr>
          <p:txBody>
            <a:bodyPr wrap="none" lIns="0" tIns="0" rIns="0" bIns="0" anchor="t" anchorCtr="0">
              <a:spAutoFit/>
            </a:bodyPr>
            <a:lstStyle/>
            <a:p>
              <a:pPr algn="l"/>
              <a:r>
                <a:rPr lang="zh-CN" sz="820" dirty="0">
                  <a:solidFill>
                    <a:srgbClr val="4A3D3A"/>
                  </a:solidFill>
                  <a:latin typeface="+mn-lt"/>
                  <a:ea typeface="+mn-ea"/>
                  <a:cs typeface="+mn-cs"/>
                </a:rPr>
                <a:t>高风险指标​</a:t>
              </a:r>
            </a:p>
          </p:txBody>
        </p:sp>
        <p:sp>
          <p:nvSpPr>
            <p:cNvPr id="217" name="TextBox 217"/>
            <p:cNvSpPr txBox="1"/>
            <p:nvPr/>
          </p:nvSpPr>
          <p:spPr>
            <a:xfrm>
              <a:off x="11045959" y="3027998"/>
              <a:ext cx="482333" cy="381381"/>
            </a:xfrm>
            <a:prstGeom prst="rect">
              <a:avLst/>
            </a:prstGeom>
            <a:noFill/>
            <a:ln>
              <a:noFill/>
            </a:ln>
          </p:spPr>
          <p:txBody>
            <a:bodyPr wrap="none" lIns="0" tIns="0" rIns="0" bIns="0" anchor="t" anchorCtr="0">
              <a:spAutoFit/>
            </a:bodyPr>
            <a:lstStyle/>
            <a:p>
              <a:pPr algn="ctr"/>
              <a:r>
                <a:rPr lang="zh-CN" sz="1950" b="1" dirty="0">
                  <a:solidFill>
                    <a:srgbClr val="C24833"/>
                  </a:solidFill>
                  <a:latin typeface="+mn-lt"/>
                  <a:ea typeface="+mn-ea"/>
                  <a:cs typeface="+mn-cs"/>
                </a:rPr>
                <a:t>2</a:t>
              </a:r>
              <a:r>
                <a:rPr lang="zh-CN" sz="900" b="1" dirty="0">
                  <a:solidFill>
                    <a:srgbClr val="C24833"/>
                  </a:solidFill>
                  <a:latin typeface="+mn-lt"/>
                  <a:ea typeface="+mn-ea"/>
                  <a:cs typeface="+mn-cs"/>
                </a:rPr>
                <a:t xml:space="preserve"> 项</a:t>
              </a:r>
              <a:r>
                <a:rPr lang="zh-CN" sz="1950" b="1" dirty="0">
                  <a:solidFill>
                    <a:srgbClr val="C24833"/>
                  </a:solidFill>
                  <a:latin typeface="+mn-lt"/>
                  <a:ea typeface="+mn-ea"/>
                  <a:cs typeface="+mn-cs"/>
                </a:rPr>
                <a:t>​</a:t>
              </a:r>
            </a:p>
          </p:txBody>
        </p:sp>
      </p:grpSp>
      <p:grpSp>
        <p:nvGrpSpPr>
          <p:cNvPr id="292" name="target-table"/>
          <p:cNvGrpSpPr/>
          <p:nvPr/>
        </p:nvGrpSpPr>
        <p:grpSpPr>
          <a:xfrm>
            <a:off x="228600" y="3657600"/>
            <a:ext cx="11734800" cy="3124200"/>
            <a:chOff x="228600" y="3657600"/>
            <a:chExt cx="11734800" cy="3124200"/>
          </a:xfrm>
        </p:grpSpPr>
        <p:sp>
          <p:nvSpPr>
            <p:cNvPr id="219" name="Rectangle 219"/>
            <p:cNvSpPr/>
            <p:nvPr/>
          </p:nvSpPr>
          <p:spPr>
            <a:xfrm>
              <a:off x="228600" y="3657600"/>
              <a:ext cx="11734800" cy="3124200"/>
            </a:xfrm>
            <a:prstGeom prst="roundRect">
              <a:avLst>
                <a:gd name="adj" fmla="val 3049"/>
              </a:avLst>
            </a:prstGeom>
            <a:solidFill>
              <a:srgbClr val="F5FAF8"/>
            </a:solidFill>
            <a:ln w="9525">
              <a:solidFill>
                <a:srgbClr val="D9E8E2"/>
              </a:solidFill>
            </a:ln>
          </p:spPr>
        </p:sp>
        <p:sp>
          <p:nvSpPr>
            <p:cNvPr id="220" name="Rectangle 220"/>
            <p:cNvSpPr/>
            <p:nvPr/>
          </p:nvSpPr>
          <p:spPr>
            <a:xfrm>
              <a:off x="342900" y="3771900"/>
              <a:ext cx="47625" cy="171450"/>
            </a:xfrm>
            <a:prstGeom prst="rect">
              <a:avLst/>
            </a:prstGeom>
            <a:solidFill>
              <a:srgbClr val="5B180B"/>
            </a:solidFill>
            <a:ln>
              <a:noFill/>
            </a:ln>
          </p:spPr>
        </p:sp>
        <p:sp>
          <p:nvSpPr>
            <p:cNvPr id="221" name="TextBox 221"/>
            <p:cNvSpPr txBox="1"/>
            <p:nvPr/>
          </p:nvSpPr>
          <p:spPr>
            <a:xfrm>
              <a:off x="451866" y="3801428"/>
              <a:ext cx="1929861"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六项指标完成情况与冲刺目标​</a:t>
              </a:r>
            </a:p>
          </p:txBody>
        </p:sp>
        <p:grpSp>
          <p:nvGrpSpPr>
            <p:cNvPr id="236" name="Group 236"/>
            <p:cNvGrpSpPr/>
            <p:nvPr/>
          </p:nvGrpSpPr>
          <p:grpSpPr>
            <a:xfrm>
              <a:off x="381000" y="4019550"/>
              <a:ext cx="11449050" cy="323850"/>
              <a:chOff x="381000" y="4019550"/>
              <a:chExt cx="11449050" cy="323850"/>
            </a:xfrm>
          </p:grpSpPr>
          <p:sp>
            <p:nvSpPr>
              <p:cNvPr id="222" name="Rectangle 222"/>
              <p:cNvSpPr/>
              <p:nvPr/>
            </p:nvSpPr>
            <p:spPr>
              <a:xfrm>
                <a:off x="381000" y="4019550"/>
                <a:ext cx="2286000" cy="323850"/>
              </a:xfrm>
              <a:prstGeom prst="rect">
                <a:avLst/>
              </a:prstGeom>
              <a:solidFill>
                <a:srgbClr val="5B180B"/>
              </a:solidFill>
              <a:ln>
                <a:noFill/>
              </a:ln>
            </p:spPr>
          </p:sp>
          <p:sp>
            <p:nvSpPr>
              <p:cNvPr id="223" name="TextBox 223"/>
              <p:cNvSpPr txBox="1"/>
              <p:nvPr/>
            </p:nvSpPr>
            <p:spPr>
              <a:xfrm>
                <a:off x="1356155" y="4127897"/>
                <a:ext cx="33568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指标​</a:t>
                </a:r>
              </a:p>
            </p:txBody>
          </p:sp>
          <p:sp>
            <p:nvSpPr>
              <p:cNvPr id="224" name="Rectangle 224"/>
              <p:cNvSpPr/>
              <p:nvPr/>
            </p:nvSpPr>
            <p:spPr>
              <a:xfrm>
                <a:off x="2667000" y="4019550"/>
                <a:ext cx="1428750" cy="323850"/>
              </a:xfrm>
              <a:prstGeom prst="rect">
                <a:avLst/>
              </a:prstGeom>
              <a:solidFill>
                <a:srgbClr val="5B180B"/>
              </a:solidFill>
              <a:ln>
                <a:noFill/>
              </a:ln>
            </p:spPr>
          </p:sp>
          <p:sp>
            <p:nvSpPr>
              <p:cNvPr id="225" name="TextBox 225"/>
              <p:cNvSpPr txBox="1"/>
              <p:nvPr/>
            </p:nvSpPr>
            <p:spPr>
              <a:xfrm>
                <a:off x="3086988" y="4127897"/>
                <a:ext cx="588775"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年度目标​</a:t>
                </a:r>
              </a:p>
            </p:txBody>
          </p:sp>
          <p:sp>
            <p:nvSpPr>
              <p:cNvPr id="226" name="Rectangle 226"/>
              <p:cNvSpPr/>
              <p:nvPr/>
            </p:nvSpPr>
            <p:spPr>
              <a:xfrm>
                <a:off x="4095750" y="4019550"/>
                <a:ext cx="1619250" cy="323850"/>
              </a:xfrm>
              <a:prstGeom prst="rect">
                <a:avLst/>
              </a:prstGeom>
              <a:solidFill>
                <a:srgbClr val="5B180B"/>
              </a:solidFill>
              <a:ln>
                <a:noFill/>
              </a:ln>
            </p:spPr>
          </p:sp>
          <p:sp>
            <p:nvSpPr>
              <p:cNvPr id="227" name="TextBox 227"/>
              <p:cNvSpPr txBox="1"/>
              <p:nvPr/>
            </p:nvSpPr>
            <p:spPr>
              <a:xfrm>
                <a:off x="4484445" y="4127897"/>
                <a:ext cx="84186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前三季度完成​</a:t>
                </a:r>
              </a:p>
            </p:txBody>
          </p:sp>
          <p:sp>
            <p:nvSpPr>
              <p:cNvPr id="228" name="Rectangle 228"/>
              <p:cNvSpPr/>
              <p:nvPr/>
            </p:nvSpPr>
            <p:spPr>
              <a:xfrm>
                <a:off x="5715000" y="4019550"/>
                <a:ext cx="1333500" cy="323850"/>
              </a:xfrm>
              <a:prstGeom prst="rect">
                <a:avLst/>
              </a:prstGeom>
              <a:solidFill>
                <a:srgbClr val="5B180B"/>
              </a:solidFill>
              <a:ln>
                <a:noFill/>
              </a:ln>
            </p:spPr>
          </p:sp>
          <p:sp>
            <p:nvSpPr>
              <p:cNvPr id="229" name="TextBox 229"/>
              <p:cNvSpPr txBox="1"/>
              <p:nvPr/>
            </p:nvSpPr>
            <p:spPr>
              <a:xfrm>
                <a:off x="6150634" y="4127897"/>
                <a:ext cx="46223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完成率​</a:t>
                </a:r>
              </a:p>
            </p:txBody>
          </p:sp>
          <p:sp>
            <p:nvSpPr>
              <p:cNvPr id="230" name="Rectangle 230"/>
              <p:cNvSpPr/>
              <p:nvPr/>
            </p:nvSpPr>
            <p:spPr>
              <a:xfrm>
                <a:off x="7048500" y="4019550"/>
                <a:ext cx="1333500" cy="323850"/>
              </a:xfrm>
              <a:prstGeom prst="rect">
                <a:avLst/>
              </a:prstGeom>
              <a:solidFill>
                <a:srgbClr val="5B180B"/>
              </a:solidFill>
              <a:ln>
                <a:noFill/>
              </a:ln>
            </p:spPr>
          </p:sp>
          <p:sp>
            <p:nvSpPr>
              <p:cNvPr id="231" name="TextBox 231"/>
              <p:cNvSpPr txBox="1"/>
              <p:nvPr/>
            </p:nvSpPr>
            <p:spPr>
              <a:xfrm>
                <a:off x="7456151" y="4127897"/>
                <a:ext cx="518197"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Q4缺口​</a:t>
                </a:r>
              </a:p>
            </p:txBody>
          </p:sp>
          <p:sp>
            <p:nvSpPr>
              <p:cNvPr id="232" name="Rectangle 232"/>
              <p:cNvSpPr/>
              <p:nvPr/>
            </p:nvSpPr>
            <p:spPr>
              <a:xfrm>
                <a:off x="8382000" y="4019550"/>
                <a:ext cx="2381250" cy="323850"/>
              </a:xfrm>
              <a:prstGeom prst="rect">
                <a:avLst/>
              </a:prstGeom>
              <a:solidFill>
                <a:srgbClr val="5B180B"/>
              </a:solidFill>
              <a:ln>
                <a:noFill/>
              </a:ln>
            </p:spPr>
          </p:sp>
          <p:sp>
            <p:nvSpPr>
              <p:cNvPr id="233" name="TextBox 233"/>
              <p:cNvSpPr txBox="1"/>
              <p:nvPr/>
            </p:nvSpPr>
            <p:spPr>
              <a:xfrm>
                <a:off x="8655963" y="4127897"/>
                <a:ext cx="183332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冲刺目标（较年度目标 +10%）​</a:t>
                </a:r>
              </a:p>
            </p:txBody>
          </p:sp>
          <p:sp>
            <p:nvSpPr>
              <p:cNvPr id="234" name="Rectangle 234"/>
              <p:cNvSpPr/>
              <p:nvPr/>
            </p:nvSpPr>
            <p:spPr>
              <a:xfrm>
                <a:off x="10763250" y="4019550"/>
                <a:ext cx="1066800" cy="323850"/>
              </a:xfrm>
              <a:prstGeom prst="rect">
                <a:avLst/>
              </a:prstGeom>
              <a:solidFill>
                <a:srgbClr val="5B180B"/>
              </a:solidFill>
              <a:ln>
                <a:noFill/>
              </a:ln>
            </p:spPr>
          </p:sp>
          <p:sp>
            <p:nvSpPr>
              <p:cNvPr id="235" name="TextBox 235"/>
              <p:cNvSpPr txBox="1"/>
              <p:nvPr/>
            </p:nvSpPr>
            <p:spPr>
              <a:xfrm>
                <a:off x="11065534" y="4127897"/>
                <a:ext cx="46223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责任人​</a:t>
                </a:r>
              </a:p>
            </p:txBody>
          </p:sp>
        </p:grpSp>
        <p:grpSp>
          <p:nvGrpSpPr>
            <p:cNvPr id="291" name="Group 291"/>
            <p:cNvGrpSpPr/>
            <p:nvPr/>
          </p:nvGrpSpPr>
          <p:grpSpPr>
            <a:xfrm>
              <a:off x="381000" y="4343400"/>
              <a:ext cx="11430000" cy="2286000"/>
              <a:chOff x="381000" y="4343400"/>
              <a:chExt cx="11430000" cy="2286000"/>
            </a:xfrm>
          </p:grpSpPr>
          <p:sp>
            <p:nvSpPr>
              <p:cNvPr id="237" name="Rectangle 237"/>
              <p:cNvSpPr/>
              <p:nvPr/>
            </p:nvSpPr>
            <p:spPr>
              <a:xfrm>
                <a:off x="381000" y="4343400"/>
                <a:ext cx="11430000" cy="381000"/>
              </a:xfrm>
              <a:prstGeom prst="rect">
                <a:avLst/>
              </a:prstGeom>
              <a:solidFill>
                <a:srgbClr val="FFFFFF"/>
              </a:solidFill>
              <a:ln>
                <a:noFill/>
              </a:ln>
            </p:spPr>
          </p:sp>
          <p:sp>
            <p:nvSpPr>
              <p:cNvPr id="238" name="Rectangle 238"/>
              <p:cNvSpPr/>
              <p:nvPr/>
            </p:nvSpPr>
            <p:spPr>
              <a:xfrm>
                <a:off x="381000" y="4343400"/>
                <a:ext cx="2286000" cy="381000"/>
              </a:xfrm>
              <a:prstGeom prst="rect">
                <a:avLst/>
              </a:prstGeom>
              <a:solidFill>
                <a:srgbClr val="E9F4F0"/>
              </a:solidFill>
              <a:ln>
                <a:noFill/>
              </a:ln>
            </p:spPr>
          </p:sp>
          <p:sp>
            <p:nvSpPr>
              <p:cNvPr id="239" name="TextBox 239"/>
              <p:cNvSpPr txBox="1"/>
              <p:nvPr/>
            </p:nvSpPr>
            <p:spPr>
              <a:xfrm>
                <a:off x="623888" y="4484370"/>
                <a:ext cx="736473" cy="176212"/>
              </a:xfrm>
              <a:prstGeom prst="rect">
                <a:avLst/>
              </a:prstGeom>
              <a:noFill/>
              <a:ln>
                <a:noFill/>
              </a:ln>
            </p:spPr>
            <p:txBody>
              <a:bodyPr wrap="none" lIns="0" tIns="0" rIns="0" bIns="0" anchor="t" anchorCtr="0">
                <a:spAutoFit/>
              </a:bodyPr>
              <a:lstStyle/>
              <a:p>
                <a:pPr algn="l"/>
                <a:r>
                  <a:rPr lang="zh-CN" sz="900" b="1" dirty="0">
                    <a:solidFill>
                      <a:srgbClr val="312624"/>
                    </a:solidFill>
                    <a:latin typeface="+mn-lt"/>
                    <a:ea typeface="+mn-ea"/>
                    <a:cs typeface="+mn-cs"/>
                  </a:rPr>
                  <a:t>存款（亿元）</a:t>
                </a:r>
              </a:p>
            </p:txBody>
          </p:sp>
          <p:sp>
            <p:nvSpPr>
              <p:cNvPr id="240" name="TextBox 240"/>
              <p:cNvSpPr txBox="1"/>
              <p:nvPr/>
            </p:nvSpPr>
            <p:spPr>
              <a:xfrm>
                <a:off x="3243339" y="4484370"/>
                <a:ext cx="276073"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800​</a:t>
                </a:r>
              </a:p>
            </p:txBody>
          </p:sp>
          <p:sp>
            <p:nvSpPr>
              <p:cNvPr id="241" name="TextBox 241"/>
              <p:cNvSpPr txBox="1"/>
              <p:nvPr/>
            </p:nvSpPr>
            <p:spPr>
              <a:xfrm>
                <a:off x="4767339" y="4484370"/>
                <a:ext cx="276073"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620​</a:t>
                </a:r>
              </a:p>
            </p:txBody>
          </p:sp>
          <p:sp>
            <p:nvSpPr>
              <p:cNvPr id="242" name="TextBox 242"/>
              <p:cNvSpPr txBox="1"/>
              <p:nvPr/>
            </p:nvSpPr>
            <p:spPr>
              <a:xfrm>
                <a:off x="6154360" y="4484370"/>
                <a:ext cx="454781"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77.5%​</a:t>
                </a:r>
              </a:p>
            </p:txBody>
          </p:sp>
          <p:sp>
            <p:nvSpPr>
              <p:cNvPr id="243" name="TextBox 243"/>
              <p:cNvSpPr txBox="1"/>
              <p:nvPr/>
            </p:nvSpPr>
            <p:spPr>
              <a:xfrm>
                <a:off x="7577214" y="4484370"/>
                <a:ext cx="276073" cy="176212"/>
              </a:xfrm>
              <a:prstGeom prst="rect">
                <a:avLst/>
              </a:prstGeom>
              <a:noFill/>
              <a:ln>
                <a:noFill/>
              </a:ln>
            </p:spPr>
            <p:txBody>
              <a:bodyPr wrap="none" lIns="0" tIns="0" rIns="0" bIns="0" anchor="t" anchorCtr="0">
                <a:spAutoFit/>
              </a:bodyPr>
              <a:lstStyle/>
              <a:p>
                <a:pPr algn="ctr"/>
                <a:r>
                  <a:rPr lang="zh-CN" sz="900" dirty="0">
                    <a:solidFill>
                      <a:srgbClr val="C24833"/>
                    </a:solidFill>
                    <a:latin typeface="+mn-lt"/>
                    <a:ea typeface="+mn-ea"/>
                    <a:cs typeface="+mn-cs"/>
                  </a:rPr>
                  <a:t>180​</a:t>
                </a:r>
              </a:p>
            </p:txBody>
          </p:sp>
          <p:sp>
            <p:nvSpPr>
              <p:cNvPr id="244" name="TextBox 244"/>
              <p:cNvSpPr txBox="1"/>
              <p:nvPr/>
            </p:nvSpPr>
            <p:spPr>
              <a:xfrm>
                <a:off x="9427925" y="4484370"/>
                <a:ext cx="289400"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880​</a:t>
                </a:r>
              </a:p>
            </p:txBody>
          </p:sp>
          <p:sp>
            <p:nvSpPr>
              <p:cNvPr id="245" name="TextBox 245"/>
              <p:cNvSpPr txBox="1"/>
              <p:nvPr/>
            </p:nvSpPr>
            <p:spPr>
              <a:xfrm>
                <a:off x="11137411" y="4484370"/>
                <a:ext cx="318478"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张伟​</a:t>
                </a:r>
              </a:p>
            </p:txBody>
          </p:sp>
          <p:sp>
            <p:nvSpPr>
              <p:cNvPr id="246" name="Rectangle 246"/>
              <p:cNvSpPr/>
              <p:nvPr/>
            </p:nvSpPr>
            <p:spPr>
              <a:xfrm>
                <a:off x="381000" y="4724400"/>
                <a:ext cx="11430000" cy="381000"/>
              </a:xfrm>
              <a:prstGeom prst="rect">
                <a:avLst/>
              </a:prstGeom>
              <a:solidFill>
                <a:srgbClr val="F7FBF9"/>
              </a:solidFill>
              <a:ln>
                <a:noFill/>
              </a:ln>
            </p:spPr>
          </p:sp>
          <p:sp>
            <p:nvSpPr>
              <p:cNvPr id="247" name="Rectangle 247"/>
              <p:cNvSpPr/>
              <p:nvPr/>
            </p:nvSpPr>
            <p:spPr>
              <a:xfrm>
                <a:off x="381000" y="4724400"/>
                <a:ext cx="2286000" cy="381000"/>
              </a:xfrm>
              <a:prstGeom prst="rect">
                <a:avLst/>
              </a:prstGeom>
              <a:solidFill>
                <a:srgbClr val="E9F4F0"/>
              </a:solidFill>
              <a:ln>
                <a:noFill/>
              </a:ln>
            </p:spPr>
          </p:sp>
          <p:sp>
            <p:nvSpPr>
              <p:cNvPr id="248" name="TextBox 248"/>
              <p:cNvSpPr txBox="1"/>
              <p:nvPr/>
            </p:nvSpPr>
            <p:spPr>
              <a:xfrm>
                <a:off x="623888" y="4865370"/>
                <a:ext cx="784348" cy="176212"/>
              </a:xfrm>
              <a:prstGeom prst="rect">
                <a:avLst/>
              </a:prstGeom>
              <a:noFill/>
              <a:ln>
                <a:noFill/>
              </a:ln>
            </p:spPr>
            <p:txBody>
              <a:bodyPr wrap="none" lIns="0" tIns="0" rIns="0" bIns="0" anchor="t" anchorCtr="0">
                <a:spAutoFit/>
              </a:bodyPr>
              <a:lstStyle/>
              <a:p>
                <a:pPr algn="l"/>
                <a:r>
                  <a:rPr lang="zh-CN" sz="900" b="1" dirty="0">
                    <a:solidFill>
                      <a:srgbClr val="312624"/>
                    </a:solidFill>
                    <a:latin typeface="+mn-lt"/>
                    <a:ea typeface="+mn-ea"/>
                    <a:cs typeface="+mn-cs"/>
                  </a:rPr>
                  <a:t>AUM(亿元)​​</a:t>
                </a:r>
              </a:p>
            </p:txBody>
          </p:sp>
          <p:sp>
            <p:nvSpPr>
              <p:cNvPr id="249" name="TextBox 249"/>
              <p:cNvSpPr txBox="1"/>
              <p:nvPr/>
            </p:nvSpPr>
            <p:spPr>
              <a:xfrm>
                <a:off x="3243339" y="4865370"/>
                <a:ext cx="276073"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600​</a:t>
                </a:r>
              </a:p>
            </p:txBody>
          </p:sp>
          <p:sp>
            <p:nvSpPr>
              <p:cNvPr id="250" name="TextBox 250"/>
              <p:cNvSpPr txBox="1"/>
              <p:nvPr/>
            </p:nvSpPr>
            <p:spPr>
              <a:xfrm>
                <a:off x="4767339" y="4865370"/>
                <a:ext cx="276073"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460​</a:t>
                </a:r>
              </a:p>
            </p:txBody>
          </p:sp>
          <p:sp>
            <p:nvSpPr>
              <p:cNvPr id="251" name="TextBox 251"/>
              <p:cNvSpPr txBox="1"/>
              <p:nvPr/>
            </p:nvSpPr>
            <p:spPr>
              <a:xfrm>
                <a:off x="6154360" y="4865370"/>
                <a:ext cx="454781"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76.7%​</a:t>
                </a:r>
              </a:p>
            </p:txBody>
          </p:sp>
          <p:sp>
            <p:nvSpPr>
              <p:cNvPr id="252" name="TextBox 252"/>
              <p:cNvSpPr txBox="1"/>
              <p:nvPr/>
            </p:nvSpPr>
            <p:spPr>
              <a:xfrm>
                <a:off x="7577214" y="4865370"/>
                <a:ext cx="276073" cy="176212"/>
              </a:xfrm>
              <a:prstGeom prst="rect">
                <a:avLst/>
              </a:prstGeom>
              <a:noFill/>
              <a:ln>
                <a:noFill/>
              </a:ln>
            </p:spPr>
            <p:txBody>
              <a:bodyPr wrap="none" lIns="0" tIns="0" rIns="0" bIns="0" anchor="t" anchorCtr="0">
                <a:spAutoFit/>
              </a:bodyPr>
              <a:lstStyle/>
              <a:p>
                <a:pPr algn="ctr"/>
                <a:r>
                  <a:rPr lang="zh-CN" sz="900" dirty="0">
                    <a:solidFill>
                      <a:srgbClr val="C24833"/>
                    </a:solidFill>
                    <a:latin typeface="+mn-lt"/>
                    <a:ea typeface="+mn-ea"/>
                    <a:cs typeface="+mn-cs"/>
                  </a:rPr>
                  <a:t>140​</a:t>
                </a:r>
              </a:p>
            </p:txBody>
          </p:sp>
          <p:sp>
            <p:nvSpPr>
              <p:cNvPr id="253" name="TextBox 253"/>
              <p:cNvSpPr txBox="1"/>
              <p:nvPr/>
            </p:nvSpPr>
            <p:spPr>
              <a:xfrm>
                <a:off x="9427925" y="4865370"/>
                <a:ext cx="289400"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660​</a:t>
                </a:r>
              </a:p>
            </p:txBody>
          </p:sp>
          <p:sp>
            <p:nvSpPr>
              <p:cNvPr id="254" name="TextBox 254"/>
              <p:cNvSpPr txBox="1"/>
              <p:nvPr/>
            </p:nvSpPr>
            <p:spPr>
              <a:xfrm>
                <a:off x="11137411" y="4865370"/>
                <a:ext cx="318478"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李娜​</a:t>
                </a:r>
              </a:p>
            </p:txBody>
          </p:sp>
          <p:sp>
            <p:nvSpPr>
              <p:cNvPr id="255" name="Rectangle 255"/>
              <p:cNvSpPr/>
              <p:nvPr/>
            </p:nvSpPr>
            <p:spPr>
              <a:xfrm>
                <a:off x="381000" y="5105400"/>
                <a:ext cx="11430000" cy="381000"/>
              </a:xfrm>
              <a:prstGeom prst="rect">
                <a:avLst/>
              </a:prstGeom>
              <a:solidFill>
                <a:srgbClr val="FFFFFF"/>
              </a:solidFill>
              <a:ln>
                <a:noFill/>
              </a:ln>
            </p:spPr>
          </p:sp>
          <p:sp>
            <p:nvSpPr>
              <p:cNvPr id="256" name="Rectangle 256"/>
              <p:cNvSpPr/>
              <p:nvPr/>
            </p:nvSpPr>
            <p:spPr>
              <a:xfrm>
                <a:off x="381000" y="5105400"/>
                <a:ext cx="2286000" cy="381000"/>
              </a:xfrm>
              <a:prstGeom prst="rect">
                <a:avLst/>
              </a:prstGeom>
              <a:solidFill>
                <a:srgbClr val="E9F4F0"/>
              </a:solidFill>
              <a:ln>
                <a:noFill/>
              </a:ln>
            </p:spPr>
          </p:sp>
          <p:sp>
            <p:nvSpPr>
              <p:cNvPr id="257" name="TextBox 257"/>
              <p:cNvSpPr txBox="1"/>
              <p:nvPr/>
            </p:nvSpPr>
            <p:spPr>
              <a:xfrm>
                <a:off x="623888" y="5246370"/>
                <a:ext cx="736473" cy="176212"/>
              </a:xfrm>
              <a:prstGeom prst="rect">
                <a:avLst/>
              </a:prstGeom>
              <a:noFill/>
              <a:ln>
                <a:noFill/>
              </a:ln>
            </p:spPr>
            <p:txBody>
              <a:bodyPr wrap="none" lIns="0" tIns="0" rIns="0" bIns="0" anchor="t" anchorCtr="0">
                <a:spAutoFit/>
              </a:bodyPr>
              <a:lstStyle/>
              <a:p>
                <a:pPr algn="l"/>
                <a:r>
                  <a:rPr lang="zh-CN" sz="900" b="1" dirty="0">
                    <a:solidFill>
                      <a:srgbClr val="312624"/>
                    </a:solidFill>
                    <a:latin typeface="+mn-lt"/>
                    <a:ea typeface="+mn-ea"/>
                    <a:cs typeface="+mn-cs"/>
                  </a:rPr>
                  <a:t>中收（万元）</a:t>
                </a:r>
              </a:p>
            </p:txBody>
          </p:sp>
          <p:sp>
            <p:nvSpPr>
              <p:cNvPr id="258" name="TextBox 258"/>
              <p:cNvSpPr txBox="1"/>
              <p:nvPr/>
            </p:nvSpPr>
            <p:spPr>
              <a:xfrm>
                <a:off x="3143383" y="5246370"/>
                <a:ext cx="475983"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15,000​</a:t>
                </a:r>
              </a:p>
            </p:txBody>
          </p:sp>
          <p:sp>
            <p:nvSpPr>
              <p:cNvPr id="259" name="TextBox 259"/>
              <p:cNvSpPr txBox="1"/>
              <p:nvPr/>
            </p:nvSpPr>
            <p:spPr>
              <a:xfrm>
                <a:off x="4667383" y="5246370"/>
                <a:ext cx="475983"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11,800​</a:t>
                </a:r>
              </a:p>
            </p:txBody>
          </p:sp>
          <p:sp>
            <p:nvSpPr>
              <p:cNvPr id="260" name="TextBox 260"/>
              <p:cNvSpPr txBox="1"/>
              <p:nvPr/>
            </p:nvSpPr>
            <p:spPr>
              <a:xfrm>
                <a:off x="6154360" y="5246370"/>
                <a:ext cx="454781"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78.7%​</a:t>
                </a:r>
              </a:p>
            </p:txBody>
          </p:sp>
          <p:sp>
            <p:nvSpPr>
              <p:cNvPr id="261" name="TextBox 261"/>
              <p:cNvSpPr txBox="1"/>
              <p:nvPr/>
            </p:nvSpPr>
            <p:spPr>
              <a:xfrm>
                <a:off x="7510577" y="5246370"/>
                <a:ext cx="409346" cy="176212"/>
              </a:xfrm>
              <a:prstGeom prst="rect">
                <a:avLst/>
              </a:prstGeom>
              <a:noFill/>
              <a:ln>
                <a:noFill/>
              </a:ln>
            </p:spPr>
            <p:txBody>
              <a:bodyPr wrap="none" lIns="0" tIns="0" rIns="0" bIns="0" anchor="t" anchorCtr="0">
                <a:spAutoFit/>
              </a:bodyPr>
              <a:lstStyle/>
              <a:p>
                <a:pPr algn="ctr"/>
                <a:r>
                  <a:rPr lang="zh-CN" sz="900" dirty="0">
                    <a:solidFill>
                      <a:srgbClr val="C24833"/>
                    </a:solidFill>
                    <a:latin typeface="+mn-lt"/>
                    <a:ea typeface="+mn-ea"/>
                    <a:cs typeface="+mn-cs"/>
                  </a:rPr>
                  <a:t>3,200​</a:t>
                </a:r>
              </a:p>
            </p:txBody>
          </p:sp>
          <p:sp>
            <p:nvSpPr>
              <p:cNvPr id="262" name="TextBox 262"/>
              <p:cNvSpPr txBox="1"/>
              <p:nvPr/>
            </p:nvSpPr>
            <p:spPr>
              <a:xfrm>
                <a:off x="9322972" y="5246370"/>
                <a:ext cx="499306"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16,500​</a:t>
                </a:r>
              </a:p>
            </p:txBody>
          </p:sp>
          <p:sp>
            <p:nvSpPr>
              <p:cNvPr id="263" name="TextBox 263"/>
              <p:cNvSpPr txBox="1"/>
              <p:nvPr/>
            </p:nvSpPr>
            <p:spPr>
              <a:xfrm>
                <a:off x="11137411" y="5246370"/>
                <a:ext cx="318478"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王强​</a:t>
                </a:r>
              </a:p>
            </p:txBody>
          </p:sp>
          <p:sp>
            <p:nvSpPr>
              <p:cNvPr id="264" name="Rectangle 264"/>
              <p:cNvSpPr/>
              <p:nvPr/>
            </p:nvSpPr>
            <p:spPr>
              <a:xfrm>
                <a:off x="381000" y="5486400"/>
                <a:ext cx="11430000" cy="381000"/>
              </a:xfrm>
              <a:prstGeom prst="rect">
                <a:avLst/>
              </a:prstGeom>
              <a:solidFill>
                <a:srgbClr val="F7FBF9"/>
              </a:solidFill>
              <a:ln>
                <a:noFill/>
              </a:ln>
            </p:spPr>
          </p:sp>
          <p:sp>
            <p:nvSpPr>
              <p:cNvPr id="265" name="Rectangle 265"/>
              <p:cNvSpPr/>
              <p:nvPr/>
            </p:nvSpPr>
            <p:spPr>
              <a:xfrm>
                <a:off x="381000" y="5486400"/>
                <a:ext cx="2286000" cy="381000"/>
              </a:xfrm>
              <a:prstGeom prst="rect">
                <a:avLst/>
              </a:prstGeom>
              <a:solidFill>
                <a:srgbClr val="E9F4F0"/>
              </a:solidFill>
              <a:ln>
                <a:noFill/>
              </a:ln>
            </p:spPr>
          </p:sp>
          <p:sp>
            <p:nvSpPr>
              <p:cNvPr id="266" name="TextBox 266"/>
              <p:cNvSpPr txBox="1"/>
              <p:nvPr/>
            </p:nvSpPr>
            <p:spPr>
              <a:xfrm>
                <a:off x="623888" y="5627370"/>
                <a:ext cx="736473" cy="176212"/>
              </a:xfrm>
              <a:prstGeom prst="rect">
                <a:avLst/>
              </a:prstGeom>
              <a:noFill/>
              <a:ln>
                <a:noFill/>
              </a:ln>
            </p:spPr>
            <p:txBody>
              <a:bodyPr wrap="none" lIns="0" tIns="0" rIns="0" bIns="0" anchor="t" anchorCtr="0">
                <a:spAutoFit/>
              </a:bodyPr>
              <a:lstStyle/>
              <a:p>
                <a:pPr algn="l"/>
                <a:r>
                  <a:rPr lang="zh-CN" sz="900" b="1" dirty="0">
                    <a:solidFill>
                      <a:srgbClr val="312624"/>
                    </a:solidFill>
                    <a:latin typeface="+mn-lt"/>
                    <a:ea typeface="+mn-ea"/>
                    <a:cs typeface="+mn-cs"/>
                  </a:rPr>
                  <a:t>贷款（亿元）</a:t>
                </a:r>
              </a:p>
            </p:txBody>
          </p:sp>
          <p:sp>
            <p:nvSpPr>
              <p:cNvPr id="267" name="TextBox 267"/>
              <p:cNvSpPr txBox="1"/>
              <p:nvPr/>
            </p:nvSpPr>
            <p:spPr>
              <a:xfrm>
                <a:off x="3243339" y="5627370"/>
                <a:ext cx="276073"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500​</a:t>
                </a:r>
              </a:p>
            </p:txBody>
          </p:sp>
          <p:sp>
            <p:nvSpPr>
              <p:cNvPr id="268" name="TextBox 268"/>
              <p:cNvSpPr txBox="1"/>
              <p:nvPr/>
            </p:nvSpPr>
            <p:spPr>
              <a:xfrm>
                <a:off x="4767339" y="5627370"/>
                <a:ext cx="276073"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400​</a:t>
                </a:r>
              </a:p>
            </p:txBody>
          </p:sp>
          <p:sp>
            <p:nvSpPr>
              <p:cNvPr id="269" name="TextBox 269"/>
              <p:cNvSpPr txBox="1"/>
              <p:nvPr/>
            </p:nvSpPr>
            <p:spPr>
              <a:xfrm>
                <a:off x="6154360" y="5627370"/>
                <a:ext cx="454781"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80.0%​</a:t>
                </a:r>
              </a:p>
            </p:txBody>
          </p:sp>
          <p:sp>
            <p:nvSpPr>
              <p:cNvPr id="270" name="TextBox 270"/>
              <p:cNvSpPr txBox="1"/>
              <p:nvPr/>
            </p:nvSpPr>
            <p:spPr>
              <a:xfrm>
                <a:off x="7577214" y="5627370"/>
                <a:ext cx="276073" cy="176212"/>
              </a:xfrm>
              <a:prstGeom prst="rect">
                <a:avLst/>
              </a:prstGeom>
              <a:noFill/>
              <a:ln>
                <a:noFill/>
              </a:ln>
            </p:spPr>
            <p:txBody>
              <a:bodyPr wrap="none" lIns="0" tIns="0" rIns="0" bIns="0" anchor="t" anchorCtr="0">
                <a:spAutoFit/>
              </a:bodyPr>
              <a:lstStyle/>
              <a:p>
                <a:pPr algn="ctr"/>
                <a:r>
                  <a:rPr lang="zh-CN" sz="900" dirty="0">
                    <a:solidFill>
                      <a:srgbClr val="C24833"/>
                    </a:solidFill>
                    <a:latin typeface="+mn-lt"/>
                    <a:ea typeface="+mn-ea"/>
                    <a:cs typeface="+mn-cs"/>
                  </a:rPr>
                  <a:t>100​</a:t>
                </a:r>
              </a:p>
            </p:txBody>
          </p:sp>
          <p:sp>
            <p:nvSpPr>
              <p:cNvPr id="271" name="TextBox 271"/>
              <p:cNvSpPr txBox="1"/>
              <p:nvPr/>
            </p:nvSpPr>
            <p:spPr>
              <a:xfrm>
                <a:off x="9427925" y="5627370"/>
                <a:ext cx="289400"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550​</a:t>
                </a:r>
              </a:p>
            </p:txBody>
          </p:sp>
          <p:sp>
            <p:nvSpPr>
              <p:cNvPr id="272" name="TextBox 272"/>
              <p:cNvSpPr txBox="1"/>
              <p:nvPr/>
            </p:nvSpPr>
            <p:spPr>
              <a:xfrm>
                <a:off x="11137411" y="5627370"/>
                <a:ext cx="318478"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陈敏​</a:t>
                </a:r>
              </a:p>
            </p:txBody>
          </p:sp>
          <p:sp>
            <p:nvSpPr>
              <p:cNvPr id="273" name="Rectangle 273"/>
              <p:cNvSpPr/>
              <p:nvPr/>
            </p:nvSpPr>
            <p:spPr>
              <a:xfrm>
                <a:off x="381000" y="5867400"/>
                <a:ext cx="11430000" cy="381000"/>
              </a:xfrm>
              <a:prstGeom prst="rect">
                <a:avLst/>
              </a:prstGeom>
              <a:solidFill>
                <a:srgbClr val="FFFFFF"/>
              </a:solidFill>
              <a:ln>
                <a:noFill/>
              </a:ln>
            </p:spPr>
          </p:sp>
          <p:sp>
            <p:nvSpPr>
              <p:cNvPr id="274" name="Rectangle 274"/>
              <p:cNvSpPr/>
              <p:nvPr/>
            </p:nvSpPr>
            <p:spPr>
              <a:xfrm>
                <a:off x="381000" y="5867400"/>
                <a:ext cx="2286000" cy="381000"/>
              </a:xfrm>
              <a:prstGeom prst="rect">
                <a:avLst/>
              </a:prstGeom>
              <a:solidFill>
                <a:srgbClr val="E9F4F0"/>
              </a:solidFill>
              <a:ln>
                <a:noFill/>
              </a:ln>
            </p:spPr>
          </p:sp>
          <p:sp>
            <p:nvSpPr>
              <p:cNvPr id="275" name="TextBox 275"/>
              <p:cNvSpPr txBox="1"/>
              <p:nvPr/>
            </p:nvSpPr>
            <p:spPr>
              <a:xfrm>
                <a:off x="623888" y="6008370"/>
                <a:ext cx="615315" cy="176212"/>
              </a:xfrm>
              <a:prstGeom prst="rect">
                <a:avLst/>
              </a:prstGeom>
              <a:noFill/>
              <a:ln>
                <a:noFill/>
              </a:ln>
            </p:spPr>
            <p:txBody>
              <a:bodyPr wrap="none" lIns="0" tIns="0" rIns="0" bIns="0" anchor="t" anchorCtr="0">
                <a:spAutoFit/>
              </a:bodyPr>
              <a:lstStyle/>
              <a:p>
                <a:pPr algn="l"/>
                <a:r>
                  <a:rPr lang="zh-CN" sz="900" b="1" dirty="0">
                    <a:solidFill>
                      <a:srgbClr val="312624"/>
                    </a:solidFill>
                    <a:latin typeface="+mn-lt"/>
                    <a:ea typeface="+mn-ea"/>
                    <a:cs typeface="+mn-cs"/>
                  </a:rPr>
                  <a:t>客户（户）</a:t>
                </a:r>
              </a:p>
            </p:txBody>
          </p:sp>
          <p:sp>
            <p:nvSpPr>
              <p:cNvPr id="276" name="TextBox 276"/>
              <p:cNvSpPr txBox="1"/>
              <p:nvPr/>
            </p:nvSpPr>
            <p:spPr>
              <a:xfrm>
                <a:off x="3143383" y="6008370"/>
                <a:ext cx="475983"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12,000​</a:t>
                </a:r>
              </a:p>
            </p:txBody>
          </p:sp>
          <p:sp>
            <p:nvSpPr>
              <p:cNvPr id="277" name="TextBox 277"/>
              <p:cNvSpPr txBox="1"/>
              <p:nvPr/>
            </p:nvSpPr>
            <p:spPr>
              <a:xfrm>
                <a:off x="4700702" y="6008370"/>
                <a:ext cx="409346"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9,200​</a:t>
                </a:r>
              </a:p>
            </p:txBody>
          </p:sp>
          <p:sp>
            <p:nvSpPr>
              <p:cNvPr id="278" name="TextBox 278"/>
              <p:cNvSpPr txBox="1"/>
              <p:nvPr/>
            </p:nvSpPr>
            <p:spPr>
              <a:xfrm>
                <a:off x="6154360" y="6008370"/>
                <a:ext cx="454781"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76.7%​</a:t>
                </a:r>
              </a:p>
            </p:txBody>
          </p:sp>
          <p:sp>
            <p:nvSpPr>
              <p:cNvPr id="279" name="TextBox 279"/>
              <p:cNvSpPr txBox="1"/>
              <p:nvPr/>
            </p:nvSpPr>
            <p:spPr>
              <a:xfrm>
                <a:off x="7510577" y="6008370"/>
                <a:ext cx="409346" cy="176212"/>
              </a:xfrm>
              <a:prstGeom prst="rect">
                <a:avLst/>
              </a:prstGeom>
              <a:noFill/>
              <a:ln>
                <a:noFill/>
              </a:ln>
            </p:spPr>
            <p:txBody>
              <a:bodyPr wrap="none" lIns="0" tIns="0" rIns="0" bIns="0" anchor="t" anchorCtr="0">
                <a:spAutoFit/>
              </a:bodyPr>
              <a:lstStyle/>
              <a:p>
                <a:pPr algn="ctr"/>
                <a:r>
                  <a:rPr lang="zh-CN" sz="900" dirty="0">
                    <a:solidFill>
                      <a:srgbClr val="C24833"/>
                    </a:solidFill>
                    <a:latin typeface="+mn-lt"/>
                    <a:ea typeface="+mn-ea"/>
                    <a:cs typeface="+mn-cs"/>
                  </a:rPr>
                  <a:t>2,800​</a:t>
                </a:r>
              </a:p>
            </p:txBody>
          </p:sp>
          <p:sp>
            <p:nvSpPr>
              <p:cNvPr id="280" name="TextBox 280"/>
              <p:cNvSpPr txBox="1"/>
              <p:nvPr/>
            </p:nvSpPr>
            <p:spPr>
              <a:xfrm>
                <a:off x="9322972" y="6008370"/>
                <a:ext cx="499306"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13,200​</a:t>
                </a:r>
              </a:p>
            </p:txBody>
          </p:sp>
          <p:sp>
            <p:nvSpPr>
              <p:cNvPr id="281" name="TextBox 281"/>
              <p:cNvSpPr txBox="1"/>
              <p:nvPr/>
            </p:nvSpPr>
            <p:spPr>
              <a:xfrm>
                <a:off x="11137411" y="6008370"/>
                <a:ext cx="318478"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刘洋​</a:t>
                </a:r>
              </a:p>
            </p:txBody>
          </p:sp>
          <p:sp>
            <p:nvSpPr>
              <p:cNvPr id="282" name="Rectangle 282"/>
              <p:cNvSpPr/>
              <p:nvPr/>
            </p:nvSpPr>
            <p:spPr>
              <a:xfrm>
                <a:off x="381000" y="6248400"/>
                <a:ext cx="11430000" cy="381000"/>
              </a:xfrm>
              <a:prstGeom prst="rect">
                <a:avLst/>
              </a:prstGeom>
              <a:solidFill>
                <a:srgbClr val="F7FBF9"/>
              </a:solidFill>
              <a:ln>
                <a:noFill/>
              </a:ln>
            </p:spPr>
          </p:sp>
          <p:sp>
            <p:nvSpPr>
              <p:cNvPr id="283" name="Rectangle 283"/>
              <p:cNvSpPr/>
              <p:nvPr/>
            </p:nvSpPr>
            <p:spPr>
              <a:xfrm>
                <a:off x="381000" y="6248400"/>
                <a:ext cx="2286000" cy="381000"/>
              </a:xfrm>
              <a:prstGeom prst="rect">
                <a:avLst/>
              </a:prstGeom>
              <a:solidFill>
                <a:srgbClr val="E9F4F0"/>
              </a:solidFill>
              <a:ln>
                <a:noFill/>
              </a:ln>
            </p:spPr>
          </p:sp>
          <p:sp>
            <p:nvSpPr>
              <p:cNvPr id="284" name="TextBox 284"/>
              <p:cNvSpPr txBox="1"/>
              <p:nvPr/>
            </p:nvSpPr>
            <p:spPr>
              <a:xfrm>
                <a:off x="623888" y="6389370"/>
                <a:ext cx="736473" cy="176212"/>
              </a:xfrm>
              <a:prstGeom prst="rect">
                <a:avLst/>
              </a:prstGeom>
              <a:noFill/>
              <a:ln>
                <a:noFill/>
              </a:ln>
            </p:spPr>
            <p:txBody>
              <a:bodyPr wrap="none" lIns="0" tIns="0" rIns="0" bIns="0" anchor="t" anchorCtr="0">
                <a:spAutoFit/>
              </a:bodyPr>
              <a:lstStyle/>
              <a:p>
                <a:pPr algn="l"/>
                <a:r>
                  <a:rPr lang="zh-CN" sz="900" b="1" dirty="0">
                    <a:solidFill>
                      <a:srgbClr val="312624"/>
                    </a:solidFill>
                    <a:latin typeface="+mn-lt"/>
                    <a:ea typeface="+mn-ea"/>
                    <a:cs typeface="+mn-cs"/>
                  </a:rPr>
                  <a:t>信用卡（户）</a:t>
                </a:r>
              </a:p>
            </p:txBody>
          </p:sp>
          <p:sp>
            <p:nvSpPr>
              <p:cNvPr id="285" name="TextBox 285"/>
              <p:cNvSpPr txBox="1"/>
              <p:nvPr/>
            </p:nvSpPr>
            <p:spPr>
              <a:xfrm>
                <a:off x="3176702" y="6389370"/>
                <a:ext cx="409346"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8,000​</a:t>
                </a:r>
              </a:p>
            </p:txBody>
          </p:sp>
          <p:sp>
            <p:nvSpPr>
              <p:cNvPr id="286" name="TextBox 286"/>
              <p:cNvSpPr txBox="1"/>
              <p:nvPr/>
            </p:nvSpPr>
            <p:spPr>
              <a:xfrm>
                <a:off x="4700702" y="6389370"/>
                <a:ext cx="409346"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6,600​</a:t>
                </a:r>
              </a:p>
            </p:txBody>
          </p:sp>
          <p:sp>
            <p:nvSpPr>
              <p:cNvPr id="287" name="TextBox 287"/>
              <p:cNvSpPr txBox="1"/>
              <p:nvPr/>
            </p:nvSpPr>
            <p:spPr>
              <a:xfrm>
                <a:off x="6154360" y="6389370"/>
                <a:ext cx="454781"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82.5%​</a:t>
                </a:r>
              </a:p>
            </p:txBody>
          </p:sp>
          <p:sp>
            <p:nvSpPr>
              <p:cNvPr id="288" name="TextBox 288"/>
              <p:cNvSpPr txBox="1"/>
              <p:nvPr/>
            </p:nvSpPr>
            <p:spPr>
              <a:xfrm>
                <a:off x="7510577" y="6389370"/>
                <a:ext cx="409346" cy="176212"/>
              </a:xfrm>
              <a:prstGeom prst="rect">
                <a:avLst/>
              </a:prstGeom>
              <a:noFill/>
              <a:ln>
                <a:noFill/>
              </a:ln>
            </p:spPr>
            <p:txBody>
              <a:bodyPr wrap="none" lIns="0" tIns="0" rIns="0" bIns="0" anchor="t" anchorCtr="0">
                <a:spAutoFit/>
              </a:bodyPr>
              <a:lstStyle/>
              <a:p>
                <a:pPr algn="ctr"/>
                <a:r>
                  <a:rPr lang="zh-CN" sz="900" dirty="0">
                    <a:solidFill>
                      <a:srgbClr val="C24833"/>
                    </a:solidFill>
                    <a:latin typeface="+mn-lt"/>
                    <a:ea typeface="+mn-ea"/>
                    <a:cs typeface="+mn-cs"/>
                  </a:rPr>
                  <a:t>1,400​</a:t>
                </a:r>
              </a:p>
            </p:txBody>
          </p:sp>
          <p:sp>
            <p:nvSpPr>
              <p:cNvPr id="289" name="TextBox 289"/>
              <p:cNvSpPr txBox="1"/>
              <p:nvPr/>
            </p:nvSpPr>
            <p:spPr>
              <a:xfrm>
                <a:off x="9357956" y="6389370"/>
                <a:ext cx="429337"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8,800​</a:t>
                </a:r>
              </a:p>
            </p:txBody>
          </p:sp>
          <p:sp>
            <p:nvSpPr>
              <p:cNvPr id="290" name="TextBox 290"/>
              <p:cNvSpPr txBox="1"/>
              <p:nvPr/>
            </p:nvSpPr>
            <p:spPr>
              <a:xfrm>
                <a:off x="11137411" y="6389370"/>
                <a:ext cx="318478" cy="176212"/>
              </a:xfrm>
              <a:prstGeom prst="rect">
                <a:avLst/>
              </a:prstGeom>
              <a:noFill/>
              <a:ln>
                <a:noFill/>
              </a:ln>
            </p:spPr>
            <p:txBody>
              <a:bodyPr wrap="none" lIns="0" tIns="0" rIns="0" bIns="0" anchor="t" anchorCtr="0">
                <a:spAutoFit/>
              </a:bodyPr>
              <a:lstStyle/>
              <a:p>
                <a:pPr algn="ctr"/>
                <a:r>
                  <a:rPr lang="zh-CN" sz="900" dirty="0">
                    <a:solidFill>
                      <a:srgbClr val="312624"/>
                    </a:solidFill>
                    <a:latin typeface="+mn-lt"/>
                    <a:ea typeface="+mn-ea"/>
                    <a:cs typeface="+mn-cs"/>
                  </a:rPr>
                  <a:t>刘洋​</a:t>
                </a:r>
              </a:p>
            </p:txBody>
          </p:sp>
        </p:grpSp>
      </p:gr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7764163" cy="542925"/>
            <a:chOff x="0" y="0"/>
            <a:chExt cx="7764163"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04​</a:t>
              </a:r>
            </a:p>
          </p:txBody>
        </p:sp>
        <p:sp>
          <p:nvSpPr>
            <p:cNvPr id="4" name="TextBox 4"/>
            <p:cNvSpPr txBox="1"/>
            <p:nvPr/>
          </p:nvSpPr>
          <p:spPr>
            <a:xfrm>
              <a:off x="942594" y="151448"/>
              <a:ext cx="682156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机会盘点</a:t>
              </a:r>
              <a:r>
                <a:rPr lang="zh-CN" sz="1950" b="1" dirty="0">
                  <a:solidFill>
                    <a:srgbClr val="5B180B"/>
                  </a:solidFill>
                  <a:latin typeface="+mj-lt"/>
                  <a:ea typeface="+mj-ea"/>
                  <a:cs typeface="+mj-cs"/>
                </a:rPr>
                <a:t xml:space="preserve"> | 存量客户深耕比单纯拉新更能支撑百日目标</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71" name="pyramid-card"/>
          <p:cNvGrpSpPr/>
          <p:nvPr/>
        </p:nvGrpSpPr>
        <p:grpSpPr>
          <a:xfrm>
            <a:off x="228600" y="666750"/>
            <a:ext cx="6057900" cy="2876550"/>
            <a:chOff x="228600" y="666750"/>
            <a:chExt cx="6057900" cy="2876550"/>
          </a:xfrm>
        </p:grpSpPr>
        <p:sp>
          <p:nvSpPr>
            <p:cNvPr id="7" name="Rectangle 7"/>
            <p:cNvSpPr/>
            <p:nvPr/>
          </p:nvSpPr>
          <p:spPr>
            <a:xfrm>
              <a:off x="228600" y="666750"/>
              <a:ext cx="6057900" cy="2876550"/>
            </a:xfrm>
            <a:prstGeom prst="roundRect">
              <a:avLst>
                <a:gd name="adj" fmla="val 3311"/>
              </a:avLst>
            </a:prstGeom>
            <a:solidFill>
              <a:srgbClr val="F5FAF8"/>
            </a:solidFill>
            <a:ln w="9525">
              <a:solidFill>
                <a:srgbClr val="D9E8E2"/>
              </a:solidFill>
            </a:ln>
          </p:spPr>
        </p:sp>
        <p:sp>
          <p:nvSpPr>
            <p:cNvPr id="8" name="Rectangle 8"/>
            <p:cNvSpPr/>
            <p:nvPr/>
          </p:nvSpPr>
          <p:spPr>
            <a:xfrm>
              <a:off x="342900" y="781050"/>
              <a:ext cx="47625" cy="171450"/>
            </a:xfrm>
            <a:prstGeom prst="rect">
              <a:avLst/>
            </a:prstGeom>
            <a:solidFill>
              <a:srgbClr val="5B180B"/>
            </a:solidFill>
            <a:ln>
              <a:noFill/>
            </a:ln>
          </p:spPr>
        </p:sp>
        <p:sp>
          <p:nvSpPr>
            <p:cNvPr id="9" name="TextBox 9"/>
            <p:cNvSpPr txBox="1"/>
            <p:nvPr/>
          </p:nvSpPr>
          <p:spPr>
            <a:xfrm>
              <a:off x="451866" y="810578"/>
              <a:ext cx="2455923"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存量客户资产金字塔</a:t>
              </a:r>
              <a:r>
                <a:rPr lang="zh-CN" sz="820" b="1" dirty="0">
                  <a:solidFill>
                    <a:srgbClr val="5F6F6A"/>
                  </a:solidFill>
                  <a:latin typeface="+mn-lt"/>
                  <a:ea typeface="+mn-ea"/>
                  <a:cs typeface="+mn-cs"/>
                </a:rPr>
                <a:t>（截至2026年9月末）</a:t>
              </a:r>
              <a:r>
                <a:rPr lang="zh-CN" sz="1050" b="1" dirty="0">
                  <a:solidFill>
                    <a:srgbClr val="5B180B"/>
                  </a:solidFill>
                  <a:latin typeface="+mn-lt"/>
                  <a:ea typeface="+mn-ea"/>
                  <a:cs typeface="+mn-cs"/>
                </a:rPr>
                <a:t>​</a:t>
              </a:r>
            </a:p>
          </p:txBody>
        </p:sp>
        <p:sp>
          <p:nvSpPr>
            <p:cNvPr id="10" name="Freeform 10"/>
            <p:cNvSpPr/>
            <p:nvPr/>
          </p:nvSpPr>
          <p:spPr>
            <a:xfrm>
              <a:off x="1000125" y="1123950"/>
              <a:ext cx="857250" cy="381000"/>
            </a:xfrm>
            <a:prstGeom prst="trapezoid">
              <a:avLst>
                <a:gd name="adj" fmla="val 71000"/>
              </a:avLst>
            </a:prstGeom>
            <a:solidFill>
              <a:srgbClr val="5B180B"/>
            </a:solidFill>
            <a:ln>
              <a:noFill/>
            </a:ln>
          </p:spPr>
        </p:sp>
        <p:sp>
          <p:nvSpPr>
            <p:cNvPr id="11" name="Freeform 11"/>
            <p:cNvSpPr/>
            <p:nvPr/>
          </p:nvSpPr>
          <p:spPr>
            <a:xfrm>
              <a:off x="809625" y="1524000"/>
              <a:ext cx="1238250" cy="381000"/>
            </a:xfrm>
            <a:prstGeom prst="trapezoid">
              <a:avLst>
                <a:gd name="adj" fmla="val 48000"/>
              </a:avLst>
            </a:prstGeom>
            <a:solidFill>
              <a:srgbClr val="722617"/>
            </a:solidFill>
            <a:ln>
              <a:noFill/>
            </a:ln>
          </p:spPr>
        </p:sp>
        <p:sp>
          <p:nvSpPr>
            <p:cNvPr id="12" name="Freeform 12"/>
            <p:cNvSpPr/>
            <p:nvPr/>
          </p:nvSpPr>
          <p:spPr>
            <a:xfrm>
              <a:off x="619125" y="1924050"/>
              <a:ext cx="1619250" cy="381000"/>
            </a:xfrm>
            <a:prstGeom prst="trapezoid">
              <a:avLst>
                <a:gd name="adj" fmla="val 48000"/>
              </a:avLst>
            </a:prstGeom>
            <a:solidFill>
              <a:srgbClr val="9A412F"/>
            </a:solidFill>
            <a:ln>
              <a:noFill/>
            </a:ln>
          </p:spPr>
        </p:sp>
        <p:sp>
          <p:nvSpPr>
            <p:cNvPr id="13" name="Freeform 13"/>
            <p:cNvSpPr/>
            <p:nvPr/>
          </p:nvSpPr>
          <p:spPr>
            <a:xfrm>
              <a:off x="428625" y="2324100"/>
              <a:ext cx="2000250" cy="381000"/>
            </a:xfrm>
            <a:prstGeom prst="trapezoid">
              <a:avLst>
                <a:gd name="adj" fmla="val 48000"/>
              </a:avLst>
            </a:prstGeom>
            <a:solidFill>
              <a:srgbClr val="B57A6F"/>
            </a:solidFill>
            <a:ln>
              <a:noFill/>
            </a:ln>
          </p:spPr>
        </p:sp>
        <p:sp>
          <p:nvSpPr>
            <p:cNvPr id="14" name="Freeform 14"/>
            <p:cNvSpPr/>
            <p:nvPr/>
          </p:nvSpPr>
          <p:spPr>
            <a:xfrm>
              <a:off x="238125" y="2724150"/>
              <a:ext cx="2381250" cy="381000"/>
            </a:xfrm>
            <a:prstGeom prst="trapezoid">
              <a:avLst>
                <a:gd name="adj" fmla="val 48000"/>
              </a:avLst>
            </a:prstGeom>
            <a:solidFill>
              <a:srgbClr val="D3AFA8"/>
            </a:solidFill>
            <a:ln>
              <a:noFill/>
            </a:ln>
          </p:spPr>
        </p:sp>
        <p:grpSp>
          <p:nvGrpSpPr>
            <p:cNvPr id="20" name="Group 20"/>
            <p:cNvGrpSpPr/>
            <p:nvPr/>
          </p:nvGrpSpPr>
          <p:grpSpPr>
            <a:xfrm>
              <a:off x="1226530" y="1273016"/>
              <a:ext cx="404440" cy="1762125"/>
              <a:chOff x="1226530" y="1273016"/>
              <a:chExt cx="404440" cy="1762125"/>
            </a:xfrm>
          </p:grpSpPr>
          <p:sp>
            <p:nvSpPr>
              <p:cNvPr id="15" name="TextBox 15"/>
              <p:cNvSpPr txBox="1"/>
              <p:nvPr/>
            </p:nvSpPr>
            <p:spPr>
              <a:xfrm>
                <a:off x="1281724" y="1273016"/>
                <a:ext cx="29405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私行​</a:t>
                </a:r>
              </a:p>
            </p:txBody>
          </p:sp>
          <p:sp>
            <p:nvSpPr>
              <p:cNvPr id="16" name="TextBox 16"/>
              <p:cNvSpPr txBox="1"/>
              <p:nvPr/>
            </p:nvSpPr>
            <p:spPr>
              <a:xfrm>
                <a:off x="1226530" y="1673066"/>
                <a:ext cx="40444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高净值​</a:t>
                </a:r>
              </a:p>
            </p:txBody>
          </p:sp>
          <p:sp>
            <p:nvSpPr>
              <p:cNvPr id="17" name="TextBox 17"/>
              <p:cNvSpPr txBox="1"/>
              <p:nvPr/>
            </p:nvSpPr>
            <p:spPr>
              <a:xfrm>
                <a:off x="1281724" y="2073116"/>
                <a:ext cx="29405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财富​</a:t>
                </a:r>
              </a:p>
            </p:txBody>
          </p:sp>
          <p:sp>
            <p:nvSpPr>
              <p:cNvPr id="18" name="TextBox 18"/>
              <p:cNvSpPr txBox="1"/>
              <p:nvPr/>
            </p:nvSpPr>
            <p:spPr>
              <a:xfrm>
                <a:off x="1281724" y="2473166"/>
                <a:ext cx="29405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潜力​</a:t>
                </a:r>
              </a:p>
            </p:txBody>
          </p:sp>
          <p:sp>
            <p:nvSpPr>
              <p:cNvPr id="19" name="TextBox 19"/>
              <p:cNvSpPr txBox="1"/>
              <p:nvPr/>
            </p:nvSpPr>
            <p:spPr>
              <a:xfrm>
                <a:off x="1281724" y="2873216"/>
                <a:ext cx="29405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基础​</a:t>
                </a:r>
              </a:p>
            </p:txBody>
          </p:sp>
        </p:grpSp>
        <p:grpSp>
          <p:nvGrpSpPr>
            <p:cNvPr id="27" name="Group 27"/>
            <p:cNvGrpSpPr/>
            <p:nvPr/>
          </p:nvGrpSpPr>
          <p:grpSpPr>
            <a:xfrm>
              <a:off x="1905942" y="829389"/>
              <a:ext cx="4189117" cy="288131"/>
              <a:chOff x="1905942" y="829389"/>
              <a:chExt cx="4189117" cy="288131"/>
            </a:xfrm>
          </p:grpSpPr>
          <p:sp>
            <p:nvSpPr>
              <p:cNvPr id="21" name="TextBox 21"/>
              <p:cNvSpPr txBox="1"/>
              <p:nvPr/>
            </p:nvSpPr>
            <p:spPr>
              <a:xfrm>
                <a:off x="1905942" y="829389"/>
                <a:ext cx="493417" cy="154781"/>
              </a:xfrm>
              <a:prstGeom prst="rect">
                <a:avLst/>
              </a:prstGeom>
              <a:noFill/>
              <a:ln>
                <a:noFill/>
              </a:ln>
            </p:spPr>
            <p:txBody>
              <a:bodyPr wrap="none" lIns="0" tIns="0" rIns="0" bIns="0" anchor="t" anchorCtr="0">
                <a:spAutoFit/>
              </a:bodyPr>
              <a:lstStyle/>
              <a:p>
                <a:pPr algn="ctr"/>
                <a:r>
                  <a:rPr lang="zh-CN" sz="790" dirty="0">
                    <a:solidFill>
                      <a:srgbClr val="5F6F6A"/>
                    </a:solidFill>
                    <a:latin typeface="+mn-lt"/>
                    <a:ea typeface="+mn-ea"/>
                    <a:cs typeface="+mn-cs"/>
                  </a:rPr>
                  <a:t>客户层级​</a:t>
                </a:r>
              </a:p>
            </p:txBody>
          </p:sp>
          <p:sp>
            <p:nvSpPr>
              <p:cNvPr id="22" name="TextBox 22"/>
              <p:cNvSpPr txBox="1"/>
              <p:nvPr/>
            </p:nvSpPr>
            <p:spPr>
              <a:xfrm>
                <a:off x="2514199" y="962739"/>
                <a:ext cx="610401" cy="154781"/>
              </a:xfrm>
              <a:prstGeom prst="rect">
                <a:avLst/>
              </a:prstGeom>
              <a:noFill/>
              <a:ln>
                <a:noFill/>
              </a:ln>
            </p:spPr>
            <p:txBody>
              <a:bodyPr wrap="none" lIns="0" tIns="0" rIns="0" bIns="0" anchor="t" anchorCtr="0">
                <a:spAutoFit/>
              </a:bodyPr>
              <a:lstStyle/>
              <a:p>
                <a:pPr algn="ctr"/>
                <a:r>
                  <a:rPr lang="zh-CN" sz="790" dirty="0">
                    <a:solidFill>
                      <a:srgbClr val="5F6F6A"/>
                    </a:solidFill>
                    <a:latin typeface="+mn-lt"/>
                    <a:ea typeface="+mn-ea"/>
                    <a:cs typeface="+mn-cs"/>
                  </a:rPr>
                  <a:t>客户数(户)​</a:t>
                </a:r>
              </a:p>
            </p:txBody>
          </p:sp>
          <p:sp>
            <p:nvSpPr>
              <p:cNvPr id="23" name="TextBox 23"/>
              <p:cNvSpPr txBox="1"/>
              <p:nvPr/>
            </p:nvSpPr>
            <p:spPr>
              <a:xfrm>
                <a:off x="3200752" y="962739"/>
                <a:ext cx="608896" cy="154781"/>
              </a:xfrm>
              <a:prstGeom prst="rect">
                <a:avLst/>
              </a:prstGeom>
              <a:noFill/>
              <a:ln>
                <a:noFill/>
              </a:ln>
            </p:spPr>
            <p:txBody>
              <a:bodyPr wrap="none" lIns="0" tIns="0" rIns="0" bIns="0" anchor="t" anchorCtr="0">
                <a:spAutoFit/>
              </a:bodyPr>
              <a:lstStyle/>
              <a:p>
                <a:pPr algn="ctr"/>
                <a:r>
                  <a:rPr lang="zh-CN" sz="790" dirty="0">
                    <a:solidFill>
                      <a:srgbClr val="5F6F6A"/>
                    </a:solidFill>
                    <a:latin typeface="+mn-lt"/>
                    <a:ea typeface="+mn-ea"/>
                    <a:cs typeface="+mn-cs"/>
                  </a:rPr>
                  <a:t>AUM(亿元)​</a:t>
                </a:r>
              </a:p>
            </p:txBody>
          </p:sp>
          <p:sp>
            <p:nvSpPr>
              <p:cNvPr id="24" name="TextBox 24"/>
              <p:cNvSpPr txBox="1"/>
              <p:nvPr/>
            </p:nvSpPr>
            <p:spPr>
              <a:xfrm>
                <a:off x="3927650" y="962739"/>
                <a:ext cx="488601" cy="154781"/>
              </a:xfrm>
              <a:prstGeom prst="rect">
                <a:avLst/>
              </a:prstGeom>
              <a:noFill/>
              <a:ln>
                <a:noFill/>
              </a:ln>
            </p:spPr>
            <p:txBody>
              <a:bodyPr wrap="none" lIns="0" tIns="0" rIns="0" bIns="0" anchor="t" anchorCtr="0">
                <a:spAutoFit/>
              </a:bodyPr>
              <a:lstStyle/>
              <a:p>
                <a:pPr algn="ctr"/>
                <a:r>
                  <a:rPr lang="zh-CN" sz="790" dirty="0">
                    <a:solidFill>
                      <a:srgbClr val="5F6F6A"/>
                    </a:solidFill>
                    <a:latin typeface="+mn-lt"/>
                    <a:ea typeface="+mn-ea"/>
                    <a:cs typeface="+mn-cs"/>
                  </a:rPr>
                  <a:t>AUM占比​</a:t>
                </a:r>
              </a:p>
            </p:txBody>
          </p:sp>
          <p:sp>
            <p:nvSpPr>
              <p:cNvPr id="25" name="TextBox 25"/>
              <p:cNvSpPr txBox="1"/>
              <p:nvPr/>
            </p:nvSpPr>
            <p:spPr>
              <a:xfrm>
                <a:off x="4617650" y="962739"/>
                <a:ext cx="823101" cy="154781"/>
              </a:xfrm>
              <a:prstGeom prst="rect">
                <a:avLst/>
              </a:prstGeom>
              <a:noFill/>
              <a:ln>
                <a:noFill/>
              </a:ln>
            </p:spPr>
            <p:txBody>
              <a:bodyPr wrap="none" lIns="0" tIns="0" rIns="0" bIns="0" anchor="t" anchorCtr="0">
                <a:spAutoFit/>
              </a:bodyPr>
              <a:lstStyle/>
              <a:p>
                <a:pPr algn="ctr"/>
                <a:r>
                  <a:rPr lang="zh-CN" sz="790" dirty="0">
                    <a:solidFill>
                      <a:srgbClr val="5F6F6A"/>
                    </a:solidFill>
                    <a:latin typeface="+mn-lt"/>
                    <a:ea typeface="+mn-ea"/>
                    <a:cs typeface="+mn-cs"/>
                  </a:rPr>
                  <a:t>贡献利润(万元)​</a:t>
                </a:r>
              </a:p>
            </p:txBody>
          </p:sp>
          <p:sp>
            <p:nvSpPr>
              <p:cNvPr id="26" name="TextBox 26"/>
              <p:cNvSpPr txBox="1"/>
              <p:nvPr/>
            </p:nvSpPr>
            <p:spPr>
              <a:xfrm>
                <a:off x="5601642" y="962739"/>
                <a:ext cx="493417" cy="154781"/>
              </a:xfrm>
              <a:prstGeom prst="rect">
                <a:avLst/>
              </a:prstGeom>
              <a:noFill/>
              <a:ln>
                <a:noFill/>
              </a:ln>
            </p:spPr>
            <p:txBody>
              <a:bodyPr wrap="none" lIns="0" tIns="0" rIns="0" bIns="0" anchor="t" anchorCtr="0">
                <a:spAutoFit/>
              </a:bodyPr>
              <a:lstStyle/>
              <a:p>
                <a:pPr algn="ctr"/>
                <a:r>
                  <a:rPr lang="zh-CN" sz="790" dirty="0">
                    <a:solidFill>
                      <a:srgbClr val="5F6F6A"/>
                    </a:solidFill>
                    <a:latin typeface="+mn-lt"/>
                    <a:ea typeface="+mn-ea"/>
                    <a:cs typeface="+mn-cs"/>
                  </a:rPr>
                  <a:t>利润占比​</a:t>
                </a:r>
              </a:p>
            </p:txBody>
          </p:sp>
        </p:grpSp>
        <p:grpSp>
          <p:nvGrpSpPr>
            <p:cNvPr id="70" name="Group 70"/>
            <p:cNvGrpSpPr/>
            <p:nvPr/>
          </p:nvGrpSpPr>
          <p:grpSpPr>
            <a:xfrm>
              <a:off x="1771650" y="1123950"/>
              <a:ext cx="4514850" cy="2324100"/>
              <a:chOff x="1771650" y="1123950"/>
              <a:chExt cx="4514850" cy="2324100"/>
            </a:xfrm>
          </p:grpSpPr>
          <p:sp>
            <p:nvSpPr>
              <p:cNvPr id="28" name="Rectangle 28"/>
              <p:cNvSpPr/>
              <p:nvPr/>
            </p:nvSpPr>
            <p:spPr>
              <a:xfrm>
                <a:off x="1771650" y="1123950"/>
                <a:ext cx="4514850" cy="381000"/>
              </a:xfrm>
              <a:prstGeom prst="rect">
                <a:avLst/>
              </a:prstGeom>
              <a:solidFill>
                <a:srgbClr val="FFFFFF"/>
              </a:solidFill>
              <a:ln w="7620">
                <a:solidFill>
                  <a:srgbClr val="D9E8E2"/>
                </a:solidFill>
              </a:ln>
            </p:spPr>
          </p:sp>
          <p:sp>
            <p:nvSpPr>
              <p:cNvPr id="29" name="TextBox 29"/>
              <p:cNvSpPr txBox="1"/>
              <p:nvPr/>
            </p:nvSpPr>
            <p:spPr>
              <a:xfrm>
                <a:off x="2005624" y="1273016"/>
                <a:ext cx="294051"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私行​</a:t>
                </a:r>
              </a:p>
            </p:txBody>
          </p:sp>
          <p:sp>
            <p:nvSpPr>
              <p:cNvPr id="30" name="TextBox 30"/>
              <p:cNvSpPr txBox="1"/>
              <p:nvPr/>
            </p:nvSpPr>
            <p:spPr>
              <a:xfrm>
                <a:off x="2693210" y="1273016"/>
                <a:ext cx="252379"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286​</a:t>
                </a:r>
              </a:p>
            </p:txBody>
          </p:sp>
          <p:sp>
            <p:nvSpPr>
              <p:cNvPr id="31" name="TextBox 31"/>
              <p:cNvSpPr txBox="1"/>
              <p:nvPr/>
            </p:nvSpPr>
            <p:spPr>
              <a:xfrm>
                <a:off x="3318297" y="1273016"/>
                <a:ext cx="373807"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102.0​</a:t>
                </a:r>
              </a:p>
            </p:txBody>
          </p:sp>
          <p:sp>
            <p:nvSpPr>
              <p:cNvPr id="32" name="TextBox 32"/>
              <p:cNvSpPr txBox="1"/>
              <p:nvPr/>
            </p:nvSpPr>
            <p:spPr>
              <a:xfrm>
                <a:off x="3974008" y="1273016"/>
                <a:ext cx="395884"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28.3%​</a:t>
                </a:r>
              </a:p>
            </p:txBody>
          </p:sp>
          <p:sp>
            <p:nvSpPr>
              <p:cNvPr id="33" name="TextBox 33"/>
              <p:cNvSpPr txBox="1"/>
              <p:nvPr/>
            </p:nvSpPr>
            <p:spPr>
              <a:xfrm>
                <a:off x="4842297" y="1273016"/>
                <a:ext cx="373807"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8,160​</a:t>
                </a:r>
              </a:p>
            </p:txBody>
          </p:sp>
          <p:sp>
            <p:nvSpPr>
              <p:cNvPr id="34" name="TextBox 34"/>
              <p:cNvSpPr txBox="1"/>
              <p:nvPr/>
            </p:nvSpPr>
            <p:spPr>
              <a:xfrm>
                <a:off x="5650408" y="1273016"/>
                <a:ext cx="395884"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41.5%​</a:t>
                </a:r>
              </a:p>
            </p:txBody>
          </p:sp>
          <p:sp>
            <p:nvSpPr>
              <p:cNvPr id="35" name="Rectangle 35"/>
              <p:cNvSpPr/>
              <p:nvPr/>
            </p:nvSpPr>
            <p:spPr>
              <a:xfrm>
                <a:off x="1771650" y="1524000"/>
                <a:ext cx="4514850" cy="381000"/>
              </a:xfrm>
              <a:prstGeom prst="rect">
                <a:avLst/>
              </a:prstGeom>
              <a:solidFill>
                <a:srgbClr val="F7FBF9"/>
              </a:solidFill>
              <a:ln w="7620">
                <a:solidFill>
                  <a:srgbClr val="D9E8E2"/>
                </a:solidFill>
              </a:ln>
            </p:spPr>
          </p:sp>
          <p:sp>
            <p:nvSpPr>
              <p:cNvPr id="36" name="TextBox 36"/>
              <p:cNvSpPr txBox="1"/>
              <p:nvPr/>
            </p:nvSpPr>
            <p:spPr>
              <a:xfrm>
                <a:off x="1950430" y="1673066"/>
                <a:ext cx="404440"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高净值​</a:t>
                </a:r>
              </a:p>
            </p:txBody>
          </p:sp>
          <p:sp>
            <p:nvSpPr>
              <p:cNvPr id="37" name="TextBox 37"/>
              <p:cNvSpPr txBox="1"/>
              <p:nvPr/>
            </p:nvSpPr>
            <p:spPr>
              <a:xfrm>
                <a:off x="2632497" y="1673066"/>
                <a:ext cx="373807"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1,258​</a:t>
                </a:r>
              </a:p>
            </p:txBody>
          </p:sp>
          <p:sp>
            <p:nvSpPr>
              <p:cNvPr id="38" name="TextBox 38"/>
              <p:cNvSpPr txBox="1"/>
              <p:nvPr/>
            </p:nvSpPr>
            <p:spPr>
              <a:xfrm>
                <a:off x="3348653" y="1673066"/>
                <a:ext cx="313093"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96.5​</a:t>
                </a:r>
              </a:p>
            </p:txBody>
          </p:sp>
          <p:sp>
            <p:nvSpPr>
              <p:cNvPr id="39" name="TextBox 39"/>
              <p:cNvSpPr txBox="1"/>
              <p:nvPr/>
            </p:nvSpPr>
            <p:spPr>
              <a:xfrm>
                <a:off x="3974008" y="1673066"/>
                <a:ext cx="395884"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26.8%​</a:t>
                </a:r>
              </a:p>
            </p:txBody>
          </p:sp>
          <p:sp>
            <p:nvSpPr>
              <p:cNvPr id="40" name="TextBox 40"/>
              <p:cNvSpPr txBox="1"/>
              <p:nvPr/>
            </p:nvSpPr>
            <p:spPr>
              <a:xfrm>
                <a:off x="4842297" y="1673066"/>
                <a:ext cx="373807"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6,120​</a:t>
                </a:r>
              </a:p>
            </p:txBody>
          </p:sp>
          <p:sp>
            <p:nvSpPr>
              <p:cNvPr id="41" name="TextBox 41"/>
              <p:cNvSpPr txBox="1"/>
              <p:nvPr/>
            </p:nvSpPr>
            <p:spPr>
              <a:xfrm>
                <a:off x="5650408" y="1673066"/>
                <a:ext cx="395884"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31.1%​</a:t>
                </a:r>
              </a:p>
            </p:txBody>
          </p:sp>
          <p:sp>
            <p:nvSpPr>
              <p:cNvPr id="42" name="Rectangle 42"/>
              <p:cNvSpPr/>
              <p:nvPr/>
            </p:nvSpPr>
            <p:spPr>
              <a:xfrm>
                <a:off x="1771650" y="1924050"/>
                <a:ext cx="4514850" cy="381000"/>
              </a:xfrm>
              <a:prstGeom prst="rect">
                <a:avLst/>
              </a:prstGeom>
              <a:solidFill>
                <a:srgbClr val="FFFFFF"/>
              </a:solidFill>
              <a:ln w="7620">
                <a:solidFill>
                  <a:srgbClr val="D9E8E2"/>
                </a:solidFill>
              </a:ln>
            </p:spPr>
          </p:sp>
          <p:sp>
            <p:nvSpPr>
              <p:cNvPr id="43" name="TextBox 43"/>
              <p:cNvSpPr txBox="1"/>
              <p:nvPr/>
            </p:nvSpPr>
            <p:spPr>
              <a:xfrm>
                <a:off x="2005624" y="2073116"/>
                <a:ext cx="294051"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财富​</a:t>
                </a:r>
              </a:p>
            </p:txBody>
          </p:sp>
          <p:sp>
            <p:nvSpPr>
              <p:cNvPr id="44" name="TextBox 44"/>
              <p:cNvSpPr txBox="1"/>
              <p:nvPr/>
            </p:nvSpPr>
            <p:spPr>
              <a:xfrm>
                <a:off x="2632497" y="2073116"/>
                <a:ext cx="373807"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3,642​</a:t>
                </a:r>
              </a:p>
            </p:txBody>
          </p:sp>
          <p:sp>
            <p:nvSpPr>
              <p:cNvPr id="45" name="TextBox 45"/>
              <p:cNvSpPr txBox="1"/>
              <p:nvPr/>
            </p:nvSpPr>
            <p:spPr>
              <a:xfrm>
                <a:off x="3348653" y="2073116"/>
                <a:ext cx="313093"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82.1​</a:t>
                </a:r>
              </a:p>
            </p:txBody>
          </p:sp>
          <p:sp>
            <p:nvSpPr>
              <p:cNvPr id="46" name="TextBox 46"/>
              <p:cNvSpPr txBox="1"/>
              <p:nvPr/>
            </p:nvSpPr>
            <p:spPr>
              <a:xfrm>
                <a:off x="3974008" y="2073116"/>
                <a:ext cx="395884"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22.8%​</a:t>
                </a:r>
              </a:p>
            </p:txBody>
          </p:sp>
          <p:sp>
            <p:nvSpPr>
              <p:cNvPr id="47" name="TextBox 47"/>
              <p:cNvSpPr txBox="1"/>
              <p:nvPr/>
            </p:nvSpPr>
            <p:spPr>
              <a:xfrm>
                <a:off x="4842297" y="2073116"/>
                <a:ext cx="373807"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3,680​</a:t>
                </a:r>
              </a:p>
            </p:txBody>
          </p:sp>
          <p:sp>
            <p:nvSpPr>
              <p:cNvPr id="48" name="TextBox 48"/>
              <p:cNvSpPr txBox="1"/>
              <p:nvPr/>
            </p:nvSpPr>
            <p:spPr>
              <a:xfrm>
                <a:off x="5650408" y="2073116"/>
                <a:ext cx="395884"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18.7%​</a:t>
                </a:r>
              </a:p>
            </p:txBody>
          </p:sp>
          <p:sp>
            <p:nvSpPr>
              <p:cNvPr id="49" name="Rectangle 49"/>
              <p:cNvSpPr/>
              <p:nvPr/>
            </p:nvSpPr>
            <p:spPr>
              <a:xfrm>
                <a:off x="1771650" y="2324100"/>
                <a:ext cx="4514850" cy="381000"/>
              </a:xfrm>
              <a:prstGeom prst="rect">
                <a:avLst/>
              </a:prstGeom>
              <a:solidFill>
                <a:srgbClr val="F7FBF9"/>
              </a:solidFill>
              <a:ln w="7620">
                <a:solidFill>
                  <a:srgbClr val="D9E8E2"/>
                </a:solidFill>
              </a:ln>
            </p:spPr>
          </p:sp>
          <p:sp>
            <p:nvSpPr>
              <p:cNvPr id="50" name="TextBox 50"/>
              <p:cNvSpPr txBox="1"/>
              <p:nvPr/>
            </p:nvSpPr>
            <p:spPr>
              <a:xfrm>
                <a:off x="2005624" y="2473166"/>
                <a:ext cx="294051"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潜力​</a:t>
                </a:r>
              </a:p>
            </p:txBody>
          </p:sp>
          <p:sp>
            <p:nvSpPr>
              <p:cNvPr id="51" name="TextBox 51"/>
              <p:cNvSpPr txBox="1"/>
              <p:nvPr/>
            </p:nvSpPr>
            <p:spPr>
              <a:xfrm>
                <a:off x="2632497" y="2473166"/>
                <a:ext cx="373807"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8,715​</a:t>
                </a:r>
              </a:p>
            </p:txBody>
          </p:sp>
          <p:sp>
            <p:nvSpPr>
              <p:cNvPr id="52" name="TextBox 52"/>
              <p:cNvSpPr txBox="1"/>
              <p:nvPr/>
            </p:nvSpPr>
            <p:spPr>
              <a:xfrm>
                <a:off x="3348653" y="2473166"/>
                <a:ext cx="313093"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56.3​</a:t>
                </a:r>
              </a:p>
            </p:txBody>
          </p:sp>
          <p:sp>
            <p:nvSpPr>
              <p:cNvPr id="53" name="TextBox 53"/>
              <p:cNvSpPr txBox="1"/>
              <p:nvPr/>
            </p:nvSpPr>
            <p:spPr>
              <a:xfrm>
                <a:off x="3974008" y="2473166"/>
                <a:ext cx="395884"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15.6%​</a:t>
                </a:r>
              </a:p>
            </p:txBody>
          </p:sp>
          <p:sp>
            <p:nvSpPr>
              <p:cNvPr id="54" name="TextBox 54"/>
              <p:cNvSpPr txBox="1"/>
              <p:nvPr/>
            </p:nvSpPr>
            <p:spPr>
              <a:xfrm>
                <a:off x="4842297" y="2473166"/>
                <a:ext cx="373807"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1,420​</a:t>
                </a:r>
              </a:p>
            </p:txBody>
          </p:sp>
          <p:sp>
            <p:nvSpPr>
              <p:cNvPr id="55" name="TextBox 55"/>
              <p:cNvSpPr txBox="1"/>
              <p:nvPr/>
            </p:nvSpPr>
            <p:spPr>
              <a:xfrm>
                <a:off x="5680765" y="2473166"/>
                <a:ext cx="335171"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7.2%​</a:t>
                </a:r>
              </a:p>
            </p:txBody>
          </p:sp>
          <p:sp>
            <p:nvSpPr>
              <p:cNvPr id="56" name="Rectangle 56"/>
              <p:cNvSpPr/>
              <p:nvPr/>
            </p:nvSpPr>
            <p:spPr>
              <a:xfrm>
                <a:off x="1771650" y="2724150"/>
                <a:ext cx="4514850" cy="381000"/>
              </a:xfrm>
              <a:prstGeom prst="rect">
                <a:avLst/>
              </a:prstGeom>
              <a:solidFill>
                <a:srgbClr val="FFFFFF"/>
              </a:solidFill>
              <a:ln w="7620">
                <a:solidFill>
                  <a:srgbClr val="D9E8E2"/>
                </a:solidFill>
              </a:ln>
            </p:spPr>
          </p:sp>
          <p:sp>
            <p:nvSpPr>
              <p:cNvPr id="57" name="TextBox 57"/>
              <p:cNvSpPr txBox="1"/>
              <p:nvPr/>
            </p:nvSpPr>
            <p:spPr>
              <a:xfrm>
                <a:off x="2005624" y="2873216"/>
                <a:ext cx="294051"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基础​</a:t>
                </a:r>
              </a:p>
            </p:txBody>
          </p:sp>
          <p:sp>
            <p:nvSpPr>
              <p:cNvPr id="58" name="TextBox 58"/>
              <p:cNvSpPr txBox="1"/>
              <p:nvPr/>
            </p:nvSpPr>
            <p:spPr>
              <a:xfrm>
                <a:off x="2602140" y="2873216"/>
                <a:ext cx="434520"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15,286​</a:t>
                </a:r>
              </a:p>
            </p:txBody>
          </p:sp>
          <p:sp>
            <p:nvSpPr>
              <p:cNvPr id="59" name="TextBox 59"/>
              <p:cNvSpPr txBox="1"/>
              <p:nvPr/>
            </p:nvSpPr>
            <p:spPr>
              <a:xfrm>
                <a:off x="3348653" y="2873216"/>
                <a:ext cx="313093"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23.4​</a:t>
                </a:r>
              </a:p>
            </p:txBody>
          </p:sp>
          <p:sp>
            <p:nvSpPr>
              <p:cNvPr id="60" name="TextBox 60"/>
              <p:cNvSpPr txBox="1"/>
              <p:nvPr/>
            </p:nvSpPr>
            <p:spPr>
              <a:xfrm>
                <a:off x="4004365" y="2873216"/>
                <a:ext cx="335171"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6.5%​</a:t>
                </a:r>
              </a:p>
            </p:txBody>
          </p:sp>
          <p:sp>
            <p:nvSpPr>
              <p:cNvPr id="61" name="TextBox 61"/>
              <p:cNvSpPr txBox="1"/>
              <p:nvPr/>
            </p:nvSpPr>
            <p:spPr>
              <a:xfrm>
                <a:off x="4903010" y="2873216"/>
                <a:ext cx="252379"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520​</a:t>
                </a:r>
              </a:p>
            </p:txBody>
          </p:sp>
          <p:sp>
            <p:nvSpPr>
              <p:cNvPr id="62" name="TextBox 62"/>
              <p:cNvSpPr txBox="1"/>
              <p:nvPr/>
            </p:nvSpPr>
            <p:spPr>
              <a:xfrm>
                <a:off x="5680765" y="2873216"/>
                <a:ext cx="335171"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2.6%​</a:t>
                </a:r>
              </a:p>
            </p:txBody>
          </p:sp>
          <p:sp>
            <p:nvSpPr>
              <p:cNvPr id="63" name="Rectangle 63"/>
              <p:cNvSpPr/>
              <p:nvPr/>
            </p:nvSpPr>
            <p:spPr>
              <a:xfrm>
                <a:off x="1771650" y="3124200"/>
                <a:ext cx="4514850" cy="323850"/>
              </a:xfrm>
              <a:prstGeom prst="rect">
                <a:avLst/>
              </a:prstGeom>
              <a:solidFill>
                <a:srgbClr val="E9F4F0"/>
              </a:solidFill>
              <a:ln>
                <a:noFill/>
              </a:ln>
            </p:spPr>
          </p:sp>
          <p:sp>
            <p:nvSpPr>
              <p:cNvPr id="64" name="TextBox 64"/>
              <p:cNvSpPr txBox="1"/>
              <p:nvPr/>
            </p:nvSpPr>
            <p:spPr>
              <a:xfrm>
                <a:off x="2005624" y="3244691"/>
                <a:ext cx="294051"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合计​</a:t>
                </a:r>
              </a:p>
            </p:txBody>
          </p:sp>
          <p:sp>
            <p:nvSpPr>
              <p:cNvPr id="65" name="TextBox 65"/>
              <p:cNvSpPr txBox="1"/>
              <p:nvPr/>
            </p:nvSpPr>
            <p:spPr>
              <a:xfrm>
                <a:off x="2591515" y="3244691"/>
                <a:ext cx="455770"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29,187​</a:t>
                </a:r>
              </a:p>
            </p:txBody>
          </p:sp>
          <p:sp>
            <p:nvSpPr>
              <p:cNvPr id="66" name="TextBox 66"/>
              <p:cNvSpPr txBox="1"/>
              <p:nvPr/>
            </p:nvSpPr>
            <p:spPr>
              <a:xfrm>
                <a:off x="3309190" y="3244691"/>
                <a:ext cx="392021"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360.3​</a:t>
                </a:r>
              </a:p>
            </p:txBody>
          </p:sp>
          <p:sp>
            <p:nvSpPr>
              <p:cNvPr id="67" name="TextBox 67"/>
              <p:cNvSpPr txBox="1"/>
              <p:nvPr/>
            </p:nvSpPr>
            <p:spPr>
              <a:xfrm>
                <a:off x="3943651" y="3244691"/>
                <a:ext cx="456598"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100.0%​</a:t>
                </a:r>
              </a:p>
            </p:txBody>
          </p:sp>
          <p:sp>
            <p:nvSpPr>
              <p:cNvPr id="68" name="TextBox 68"/>
              <p:cNvSpPr txBox="1"/>
              <p:nvPr/>
            </p:nvSpPr>
            <p:spPr>
              <a:xfrm>
                <a:off x="4801315" y="3244691"/>
                <a:ext cx="455770"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19,900​</a:t>
                </a:r>
              </a:p>
            </p:txBody>
          </p:sp>
          <p:sp>
            <p:nvSpPr>
              <p:cNvPr id="69" name="TextBox 69"/>
              <p:cNvSpPr txBox="1"/>
              <p:nvPr/>
            </p:nvSpPr>
            <p:spPr>
              <a:xfrm>
                <a:off x="5620051" y="3244691"/>
                <a:ext cx="456598" cy="161925"/>
              </a:xfrm>
              <a:prstGeom prst="rect">
                <a:avLst/>
              </a:prstGeom>
              <a:noFill/>
              <a:ln>
                <a:noFill/>
              </a:ln>
            </p:spPr>
            <p:txBody>
              <a:bodyPr wrap="none" lIns="0" tIns="0" rIns="0" bIns="0" anchor="t" anchorCtr="0">
                <a:spAutoFit/>
              </a:bodyPr>
              <a:lstStyle/>
              <a:p>
                <a:pPr algn="ctr"/>
                <a:r>
                  <a:rPr lang="zh-CN" sz="820" dirty="0">
                    <a:solidFill>
                      <a:srgbClr val="312624"/>
                    </a:solidFill>
                    <a:latin typeface="+mn-lt"/>
                    <a:ea typeface="+mn-ea"/>
                    <a:cs typeface="+mn-cs"/>
                  </a:rPr>
                  <a:t>100.0%​</a:t>
                </a:r>
              </a:p>
            </p:txBody>
          </p:sp>
        </p:grpSp>
      </p:grpSp>
      <p:grpSp>
        <p:nvGrpSpPr>
          <p:cNvPr id="147" name="pool-card"/>
          <p:cNvGrpSpPr/>
          <p:nvPr/>
        </p:nvGrpSpPr>
        <p:grpSpPr>
          <a:xfrm>
            <a:off x="6400800" y="666750"/>
            <a:ext cx="5562600" cy="2876550"/>
            <a:chOff x="6400800" y="666750"/>
            <a:chExt cx="5562600" cy="2876550"/>
          </a:xfrm>
        </p:grpSpPr>
        <p:sp>
          <p:nvSpPr>
            <p:cNvPr id="72" name="Rectangle 72"/>
            <p:cNvSpPr/>
            <p:nvPr/>
          </p:nvSpPr>
          <p:spPr>
            <a:xfrm>
              <a:off x="6400800" y="666750"/>
              <a:ext cx="5562600" cy="2876550"/>
            </a:xfrm>
            <a:prstGeom prst="roundRect">
              <a:avLst>
                <a:gd name="adj" fmla="val 3311"/>
              </a:avLst>
            </a:prstGeom>
            <a:solidFill>
              <a:srgbClr val="F5FAF8"/>
            </a:solidFill>
            <a:ln w="9525">
              <a:solidFill>
                <a:srgbClr val="D9E8E2"/>
              </a:solidFill>
            </a:ln>
          </p:spPr>
        </p:sp>
        <p:sp>
          <p:nvSpPr>
            <p:cNvPr id="73" name="Rectangle 73"/>
            <p:cNvSpPr/>
            <p:nvPr/>
          </p:nvSpPr>
          <p:spPr>
            <a:xfrm>
              <a:off x="6515100" y="781050"/>
              <a:ext cx="47625" cy="171450"/>
            </a:xfrm>
            <a:prstGeom prst="rect">
              <a:avLst/>
            </a:prstGeom>
            <a:solidFill>
              <a:srgbClr val="5B180B"/>
            </a:solidFill>
            <a:ln>
              <a:noFill/>
            </a:ln>
          </p:spPr>
        </p:sp>
        <p:sp>
          <p:nvSpPr>
            <p:cNvPr id="74" name="TextBox 74"/>
            <p:cNvSpPr txBox="1"/>
            <p:nvPr/>
          </p:nvSpPr>
          <p:spPr>
            <a:xfrm>
              <a:off x="6624066" y="810578"/>
              <a:ext cx="2516804"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重点机会客户池</a:t>
              </a:r>
              <a:r>
                <a:rPr lang="zh-CN" sz="820" b="1" dirty="0">
                  <a:solidFill>
                    <a:srgbClr val="5F6F6A"/>
                  </a:solidFill>
                  <a:latin typeface="+mn-lt"/>
                  <a:ea typeface="+mn-ea"/>
                  <a:cs typeface="+mn-cs"/>
                </a:rPr>
                <a:t>（存量客户中的可挖掘机会）</a:t>
              </a:r>
              <a:r>
                <a:rPr lang="zh-CN" sz="1050" b="1" dirty="0">
                  <a:solidFill>
                    <a:srgbClr val="5B180B"/>
                  </a:solidFill>
                  <a:latin typeface="+mn-lt"/>
                  <a:ea typeface="+mn-ea"/>
                  <a:cs typeface="+mn-cs"/>
                </a:rPr>
                <a:t>​</a:t>
              </a:r>
            </a:p>
          </p:txBody>
        </p:sp>
        <p:grpSp>
          <p:nvGrpSpPr>
            <p:cNvPr id="146" name="pool-rows"/>
            <p:cNvGrpSpPr/>
            <p:nvPr/>
          </p:nvGrpSpPr>
          <p:grpSpPr>
            <a:xfrm>
              <a:off x="6515100" y="1009650"/>
              <a:ext cx="5334000" cy="2322195"/>
              <a:chOff x="6515100" y="1009650"/>
              <a:chExt cx="5334000" cy="2322195"/>
            </a:xfrm>
          </p:grpSpPr>
          <p:sp>
            <p:nvSpPr>
              <p:cNvPr id="75" name="Rectangle 75"/>
              <p:cNvSpPr/>
              <p:nvPr/>
            </p:nvSpPr>
            <p:spPr>
              <a:xfrm>
                <a:off x="6515100" y="1009650"/>
                <a:ext cx="5334000" cy="342900"/>
              </a:xfrm>
              <a:prstGeom prst="roundRect">
                <a:avLst>
                  <a:gd name="adj" fmla="val 16667"/>
                </a:avLst>
              </a:prstGeom>
              <a:solidFill>
                <a:srgbClr val="FFFFFF"/>
              </a:solidFill>
              <a:ln w="7620">
                <a:solidFill>
                  <a:srgbClr val="D9E8E2"/>
                </a:solidFill>
              </a:ln>
            </p:spPr>
          </p:sp>
          <p:grpSp>
            <p:nvGrpSpPr>
              <p:cNvPr id="78" name="Group 78"/>
              <p:cNvGrpSpPr/>
              <p:nvPr/>
            </p:nvGrpSpPr>
            <p:grpSpPr>
              <a:xfrm>
                <a:off x="6623050" y="1133475"/>
                <a:ext cx="127000" cy="112712"/>
                <a:chOff x="6623050" y="1133475"/>
                <a:chExt cx="127000" cy="112712"/>
              </a:xfrm>
            </p:grpSpPr>
            <p:sp>
              <p:nvSpPr>
                <p:cNvPr id="76" name="Freeform 76"/>
                <p:cNvSpPr/>
                <p:nvPr/>
              </p:nvSpPr>
              <p:spPr>
                <a:xfrm>
                  <a:off x="6623050" y="1236662"/>
                  <a:ext cx="127000" cy="9525"/>
                </a:xfrm>
                <a:custGeom>
                  <a:avLst/>
                  <a:gdLst/>
                  <a:ahLst/>
                  <a:cxnLst/>
                  <a:rect l="l" t="t" r="r" b="b"/>
                  <a:pathLst>
                    <a:path w="127000" h="9525">
                      <a:moveTo>
                        <a:pt x="0" y="0"/>
                      </a:moveTo>
                      <a:lnTo>
                        <a:pt x="127000" y="0"/>
                      </a:lnTo>
                    </a:path>
                  </a:pathLst>
                </a:custGeom>
                <a:noFill/>
                <a:ln w="15875">
                  <a:solidFill>
                    <a:srgbClr val="5B180B"/>
                  </a:solidFill>
                </a:ln>
              </p:spPr>
            </p:sp>
            <p:sp>
              <p:nvSpPr>
                <p:cNvPr id="77" name="Freeform 77"/>
                <p:cNvSpPr/>
                <p:nvPr/>
              </p:nvSpPr>
              <p:spPr>
                <a:xfrm>
                  <a:off x="6623050" y="113347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5B180B"/>
                  </a:solidFill>
                </a:ln>
              </p:spPr>
            </p:sp>
          </p:grpSp>
          <p:sp>
            <p:nvSpPr>
              <p:cNvPr id="79" name="TextBox 79"/>
              <p:cNvSpPr txBox="1"/>
              <p:nvPr/>
            </p:nvSpPr>
            <p:spPr>
              <a:xfrm>
                <a:off x="6853238" y="1059418"/>
                <a:ext cx="771023"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资产下降客户​</a:t>
                </a:r>
              </a:p>
            </p:txBody>
          </p:sp>
          <p:sp>
            <p:nvSpPr>
              <p:cNvPr id="80" name="TextBox 80"/>
              <p:cNvSpPr txBox="1"/>
              <p:nvPr/>
            </p:nvSpPr>
            <p:spPr>
              <a:xfrm>
                <a:off x="6853238" y="1217057"/>
                <a:ext cx="1194587" cy="126206"/>
              </a:xfrm>
              <a:prstGeom prst="rect">
                <a:avLst/>
              </a:prstGeom>
              <a:noFill/>
              <a:ln>
                <a:noFill/>
              </a:ln>
            </p:spPr>
            <p:txBody>
              <a:bodyPr wrap="none" lIns="0" tIns="0" rIns="0" bIns="0" anchor="t" anchorCtr="0">
                <a:spAutoFit/>
              </a:bodyPr>
              <a:lstStyle/>
              <a:p>
                <a:pPr algn="l"/>
                <a:r>
                  <a:rPr lang="zh-CN" sz="640" dirty="0">
                    <a:solidFill>
                      <a:srgbClr val="8AA39C"/>
                    </a:solidFill>
                    <a:latin typeface="+mn-lt"/>
                    <a:ea typeface="+mn-ea"/>
                    <a:cs typeface="+mn-cs"/>
                  </a:rPr>
                  <a:t>近6个月AUM较上期下降 ≥20%​</a:t>
                </a:r>
              </a:p>
            </p:txBody>
          </p:sp>
          <p:sp>
            <p:nvSpPr>
              <p:cNvPr id="81" name="TextBox 81"/>
              <p:cNvSpPr txBox="1"/>
              <p:nvPr/>
            </p:nvSpPr>
            <p:spPr>
              <a:xfrm>
                <a:off x="8491538" y="1083707"/>
                <a:ext cx="746166"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重点做好回访沟通​</a:t>
                </a:r>
              </a:p>
            </p:txBody>
          </p:sp>
          <p:sp>
            <p:nvSpPr>
              <p:cNvPr id="82" name="TextBox 82"/>
              <p:cNvSpPr txBox="1"/>
              <p:nvPr/>
            </p:nvSpPr>
            <p:spPr>
              <a:xfrm>
                <a:off x="8491538" y="1207532"/>
                <a:ext cx="746166"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制定资产回流方案​</a:t>
                </a:r>
              </a:p>
            </p:txBody>
          </p:sp>
          <p:sp>
            <p:nvSpPr>
              <p:cNvPr id="83" name="TextBox 83"/>
              <p:cNvSpPr txBox="1"/>
              <p:nvPr/>
            </p:nvSpPr>
            <p:spPr>
              <a:xfrm>
                <a:off x="10089261" y="1084421"/>
                <a:ext cx="456059" cy="278702"/>
              </a:xfrm>
              <a:prstGeom prst="rect">
                <a:avLst/>
              </a:prstGeom>
              <a:noFill/>
              <a:ln>
                <a:noFill/>
              </a:ln>
            </p:spPr>
            <p:txBody>
              <a:bodyPr wrap="none" lIns="0" tIns="0" rIns="0" bIns="0" anchor="t" anchorCtr="0">
                <a:spAutoFit/>
              </a:bodyPr>
              <a:lstStyle/>
              <a:p>
                <a:pPr algn="l"/>
                <a:r>
                  <a:rPr lang="zh-CN" sz="1420" b="1" dirty="0">
                    <a:solidFill>
                      <a:srgbClr val="5B180B"/>
                    </a:solidFill>
                    <a:latin typeface="+mn-lt"/>
                    <a:ea typeface="+mn-ea"/>
                    <a:cs typeface="+mn-cs"/>
                  </a:rPr>
                  <a:t>386​</a:t>
                </a:r>
              </a:p>
            </p:txBody>
          </p:sp>
          <p:sp>
            <p:nvSpPr>
              <p:cNvPr id="84" name="TextBox 84"/>
              <p:cNvSpPr txBox="1"/>
              <p:nvPr/>
            </p:nvSpPr>
            <p:spPr>
              <a:xfrm>
                <a:off x="10510838" y="1165384"/>
                <a:ext cx="151414" cy="133350"/>
              </a:xfrm>
              <a:prstGeom prst="rect">
                <a:avLst/>
              </a:prstGeom>
              <a:noFill/>
              <a:ln>
                <a:noFill/>
              </a:ln>
            </p:spPr>
            <p:txBody>
              <a:bodyPr wrap="none" lIns="0" tIns="0" rIns="0" bIns="0" anchor="t" anchorCtr="0">
                <a:spAutoFit/>
              </a:bodyPr>
              <a:lstStyle/>
              <a:p>
                <a:pPr algn="l"/>
                <a:r>
                  <a:rPr lang="zh-CN" sz="680" dirty="0">
                    <a:solidFill>
                      <a:srgbClr val="8AA39C"/>
                    </a:solidFill>
                    <a:latin typeface="+mn-lt"/>
                    <a:ea typeface="+mn-ea"/>
                    <a:cs typeface="+mn-cs"/>
                  </a:rPr>
                  <a:t>户​</a:t>
                </a:r>
              </a:p>
            </p:txBody>
          </p:sp>
          <p:sp>
            <p:nvSpPr>
              <p:cNvPr id="85" name="Rectangle 85"/>
              <p:cNvSpPr/>
              <p:nvPr/>
            </p:nvSpPr>
            <p:spPr>
              <a:xfrm>
                <a:off x="10096500" y="1295400"/>
                <a:ext cx="1143000" cy="38100"/>
              </a:xfrm>
              <a:prstGeom prst="rect">
                <a:avLst/>
              </a:prstGeom>
              <a:solidFill>
                <a:srgbClr val="E3F1EC"/>
              </a:solidFill>
              <a:ln>
                <a:noFill/>
              </a:ln>
            </p:spPr>
          </p:sp>
          <p:sp>
            <p:nvSpPr>
              <p:cNvPr id="86" name="Rectangle 86"/>
              <p:cNvSpPr/>
              <p:nvPr/>
            </p:nvSpPr>
            <p:spPr>
              <a:xfrm>
                <a:off x="10096500" y="1295400"/>
                <a:ext cx="609600" cy="38100"/>
              </a:xfrm>
              <a:prstGeom prst="rect">
                <a:avLst/>
              </a:prstGeom>
              <a:solidFill>
                <a:srgbClr val="9A412F"/>
              </a:solidFill>
              <a:ln>
                <a:noFill/>
              </a:ln>
            </p:spPr>
          </p:sp>
          <p:sp>
            <p:nvSpPr>
              <p:cNvPr id="87" name="Rectangle 87"/>
              <p:cNvSpPr/>
              <p:nvPr/>
            </p:nvSpPr>
            <p:spPr>
              <a:xfrm>
                <a:off x="6515100" y="1390650"/>
                <a:ext cx="5334000" cy="342900"/>
              </a:xfrm>
              <a:prstGeom prst="roundRect">
                <a:avLst>
                  <a:gd name="adj" fmla="val 16667"/>
                </a:avLst>
              </a:prstGeom>
              <a:solidFill>
                <a:srgbClr val="FFFFFF"/>
              </a:solidFill>
              <a:ln w="7620">
                <a:solidFill>
                  <a:srgbClr val="D9E8E2"/>
                </a:solidFill>
              </a:ln>
            </p:spPr>
          </p:sp>
          <p:grpSp>
            <p:nvGrpSpPr>
              <p:cNvPr id="90" name="Group 90"/>
              <p:cNvGrpSpPr/>
              <p:nvPr/>
            </p:nvGrpSpPr>
            <p:grpSpPr>
              <a:xfrm>
                <a:off x="6615112" y="1490662"/>
                <a:ext cx="142875" cy="142875"/>
                <a:chOff x="6615112" y="1490662"/>
                <a:chExt cx="142875" cy="142875"/>
              </a:xfrm>
            </p:grpSpPr>
            <p:sp>
              <p:nvSpPr>
                <p:cNvPr id="88" name="Freeform 88"/>
                <p:cNvSpPr/>
                <p:nvPr/>
              </p:nvSpPr>
              <p:spPr>
                <a:xfrm>
                  <a:off x="6615112" y="14906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5B180B"/>
                  </a:solidFill>
                </a:ln>
              </p:spPr>
            </p:sp>
            <p:sp>
              <p:nvSpPr>
                <p:cNvPr id="89" name="Freeform 89"/>
                <p:cNvSpPr/>
                <p:nvPr/>
              </p:nvSpPr>
              <p:spPr>
                <a:xfrm>
                  <a:off x="6686550" y="1522412"/>
                  <a:ext cx="23812" cy="63500"/>
                </a:xfrm>
                <a:custGeom>
                  <a:avLst/>
                  <a:gdLst/>
                  <a:ahLst/>
                  <a:cxnLst/>
                  <a:rect l="l" t="t" r="r" b="b"/>
                  <a:pathLst>
                    <a:path w="23812" h="63500">
                      <a:moveTo>
                        <a:pt x="0" y="0"/>
                      </a:moveTo>
                      <a:lnTo>
                        <a:pt x="0" y="39687"/>
                      </a:lnTo>
                      <a:lnTo>
                        <a:pt x="23812" y="63500"/>
                      </a:lnTo>
                    </a:path>
                  </a:pathLst>
                </a:custGeom>
                <a:noFill/>
                <a:ln w="15875">
                  <a:solidFill>
                    <a:srgbClr val="5B180B"/>
                  </a:solidFill>
                </a:ln>
              </p:spPr>
            </p:sp>
          </p:grpSp>
          <p:sp>
            <p:nvSpPr>
              <p:cNvPr id="91" name="TextBox 91"/>
              <p:cNvSpPr txBox="1"/>
              <p:nvPr/>
            </p:nvSpPr>
            <p:spPr>
              <a:xfrm>
                <a:off x="6853238" y="1440418"/>
                <a:ext cx="771023"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到期资金客户​</a:t>
                </a:r>
              </a:p>
            </p:txBody>
          </p:sp>
          <p:sp>
            <p:nvSpPr>
              <p:cNvPr id="92" name="TextBox 92"/>
              <p:cNvSpPr txBox="1"/>
              <p:nvPr/>
            </p:nvSpPr>
            <p:spPr>
              <a:xfrm>
                <a:off x="6853238" y="1598057"/>
                <a:ext cx="1185565" cy="126206"/>
              </a:xfrm>
              <a:prstGeom prst="rect">
                <a:avLst/>
              </a:prstGeom>
              <a:noFill/>
              <a:ln>
                <a:noFill/>
              </a:ln>
            </p:spPr>
            <p:txBody>
              <a:bodyPr wrap="none" lIns="0" tIns="0" rIns="0" bIns="0" anchor="t" anchorCtr="0">
                <a:spAutoFit/>
              </a:bodyPr>
              <a:lstStyle/>
              <a:p>
                <a:pPr algn="l"/>
                <a:r>
                  <a:rPr lang="zh-CN" sz="640" dirty="0">
                    <a:solidFill>
                      <a:srgbClr val="8AA39C"/>
                    </a:solidFill>
                    <a:latin typeface="+mn-lt"/>
                    <a:ea typeface="+mn-ea"/>
                    <a:cs typeface="+mn-cs"/>
                  </a:rPr>
                  <a:t>未来3个月内有理财/存款到期​</a:t>
                </a:r>
              </a:p>
            </p:txBody>
          </p:sp>
          <p:sp>
            <p:nvSpPr>
              <p:cNvPr id="93" name="TextBox 93"/>
              <p:cNvSpPr txBox="1"/>
              <p:nvPr/>
            </p:nvSpPr>
            <p:spPr>
              <a:xfrm>
                <a:off x="8491538" y="1464707"/>
                <a:ext cx="1004636"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提前触达，提供配置方案​</a:t>
                </a:r>
              </a:p>
            </p:txBody>
          </p:sp>
          <p:sp>
            <p:nvSpPr>
              <p:cNvPr id="94" name="TextBox 94"/>
              <p:cNvSpPr txBox="1"/>
              <p:nvPr/>
            </p:nvSpPr>
            <p:spPr>
              <a:xfrm>
                <a:off x="8491538" y="1588532"/>
                <a:ext cx="57385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防止资金流失​</a:t>
                </a:r>
              </a:p>
            </p:txBody>
          </p:sp>
          <p:sp>
            <p:nvSpPr>
              <p:cNvPr id="95" name="TextBox 95"/>
              <p:cNvSpPr txBox="1"/>
              <p:nvPr/>
            </p:nvSpPr>
            <p:spPr>
              <a:xfrm>
                <a:off x="10089261" y="1465421"/>
                <a:ext cx="456059" cy="278702"/>
              </a:xfrm>
              <a:prstGeom prst="rect">
                <a:avLst/>
              </a:prstGeom>
              <a:noFill/>
              <a:ln>
                <a:noFill/>
              </a:ln>
            </p:spPr>
            <p:txBody>
              <a:bodyPr wrap="none" lIns="0" tIns="0" rIns="0" bIns="0" anchor="t" anchorCtr="0">
                <a:spAutoFit/>
              </a:bodyPr>
              <a:lstStyle/>
              <a:p>
                <a:pPr algn="l"/>
                <a:r>
                  <a:rPr lang="zh-CN" sz="1420" b="1" dirty="0">
                    <a:solidFill>
                      <a:srgbClr val="5B180B"/>
                    </a:solidFill>
                    <a:latin typeface="+mn-lt"/>
                    <a:ea typeface="+mn-ea"/>
                    <a:cs typeface="+mn-cs"/>
                  </a:rPr>
                  <a:t>542​</a:t>
                </a:r>
              </a:p>
            </p:txBody>
          </p:sp>
          <p:sp>
            <p:nvSpPr>
              <p:cNvPr id="96" name="TextBox 96"/>
              <p:cNvSpPr txBox="1"/>
              <p:nvPr/>
            </p:nvSpPr>
            <p:spPr>
              <a:xfrm>
                <a:off x="10510838" y="1546384"/>
                <a:ext cx="151414" cy="133350"/>
              </a:xfrm>
              <a:prstGeom prst="rect">
                <a:avLst/>
              </a:prstGeom>
              <a:noFill/>
              <a:ln>
                <a:noFill/>
              </a:ln>
            </p:spPr>
            <p:txBody>
              <a:bodyPr wrap="none" lIns="0" tIns="0" rIns="0" bIns="0" anchor="t" anchorCtr="0">
                <a:spAutoFit/>
              </a:bodyPr>
              <a:lstStyle/>
              <a:p>
                <a:pPr algn="l"/>
                <a:r>
                  <a:rPr lang="zh-CN" sz="680" dirty="0">
                    <a:solidFill>
                      <a:srgbClr val="8AA39C"/>
                    </a:solidFill>
                    <a:latin typeface="+mn-lt"/>
                    <a:ea typeface="+mn-ea"/>
                    <a:cs typeface="+mn-cs"/>
                  </a:rPr>
                  <a:t>户​</a:t>
                </a:r>
              </a:p>
            </p:txBody>
          </p:sp>
          <p:sp>
            <p:nvSpPr>
              <p:cNvPr id="97" name="Rectangle 97"/>
              <p:cNvSpPr/>
              <p:nvPr/>
            </p:nvSpPr>
            <p:spPr>
              <a:xfrm>
                <a:off x="10096500" y="1676400"/>
                <a:ext cx="1143000" cy="38100"/>
              </a:xfrm>
              <a:prstGeom prst="rect">
                <a:avLst/>
              </a:prstGeom>
              <a:solidFill>
                <a:srgbClr val="E3F1EC"/>
              </a:solidFill>
              <a:ln>
                <a:noFill/>
              </a:ln>
            </p:spPr>
          </p:sp>
          <p:sp>
            <p:nvSpPr>
              <p:cNvPr id="98" name="Rectangle 98"/>
              <p:cNvSpPr/>
              <p:nvPr/>
            </p:nvSpPr>
            <p:spPr>
              <a:xfrm>
                <a:off x="10096500" y="1676400"/>
                <a:ext cx="857250" cy="38100"/>
              </a:xfrm>
              <a:prstGeom prst="rect">
                <a:avLst/>
              </a:prstGeom>
              <a:solidFill>
                <a:srgbClr val="9A412F"/>
              </a:solidFill>
              <a:ln>
                <a:noFill/>
              </a:ln>
            </p:spPr>
          </p:sp>
          <p:sp>
            <p:nvSpPr>
              <p:cNvPr id="99" name="Rectangle 99"/>
              <p:cNvSpPr/>
              <p:nvPr/>
            </p:nvSpPr>
            <p:spPr>
              <a:xfrm>
                <a:off x="6515100" y="1771650"/>
                <a:ext cx="5334000" cy="342900"/>
              </a:xfrm>
              <a:prstGeom prst="roundRect">
                <a:avLst>
                  <a:gd name="adj" fmla="val 16667"/>
                </a:avLst>
              </a:prstGeom>
              <a:solidFill>
                <a:srgbClr val="FFFFFF"/>
              </a:solidFill>
              <a:ln w="7620">
                <a:solidFill>
                  <a:srgbClr val="D9E8E2"/>
                </a:solidFill>
              </a:ln>
            </p:spPr>
          </p:sp>
          <p:grpSp>
            <p:nvGrpSpPr>
              <p:cNvPr id="104" name="Group 104"/>
              <p:cNvGrpSpPr/>
              <p:nvPr/>
            </p:nvGrpSpPr>
            <p:grpSpPr>
              <a:xfrm>
                <a:off x="6615112" y="1871662"/>
                <a:ext cx="142875" cy="142875"/>
                <a:chOff x="6615112" y="1871662"/>
                <a:chExt cx="142875" cy="142875"/>
              </a:xfrm>
            </p:grpSpPr>
            <p:sp>
              <p:nvSpPr>
                <p:cNvPr id="100" name="Freeform 100"/>
                <p:cNvSpPr/>
                <p:nvPr/>
              </p:nvSpPr>
              <p:spPr>
                <a:xfrm>
                  <a:off x="6630987" y="18716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5B180B"/>
                  </a:solidFill>
                </a:ln>
              </p:spPr>
            </p:sp>
            <p:sp>
              <p:nvSpPr>
                <p:cNvPr id="101" name="Freeform 101"/>
                <p:cNvSpPr/>
                <p:nvPr/>
              </p:nvSpPr>
              <p:spPr>
                <a:xfrm>
                  <a:off x="6615112" y="19669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5B180B"/>
                  </a:solidFill>
                </a:ln>
              </p:spPr>
            </p:sp>
            <p:sp>
              <p:nvSpPr>
                <p:cNvPr id="102" name="Freeform 102"/>
                <p:cNvSpPr/>
                <p:nvPr/>
              </p:nvSpPr>
              <p:spPr>
                <a:xfrm>
                  <a:off x="6718300" y="18726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5B180B"/>
                  </a:solidFill>
                </a:ln>
              </p:spPr>
            </p:sp>
            <p:sp>
              <p:nvSpPr>
                <p:cNvPr id="103" name="Freeform 103"/>
                <p:cNvSpPr/>
                <p:nvPr/>
              </p:nvSpPr>
              <p:spPr>
                <a:xfrm>
                  <a:off x="6734175" y="19681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5B180B"/>
                  </a:solidFill>
                </a:ln>
              </p:spPr>
            </p:sp>
          </p:grpSp>
          <p:sp>
            <p:nvSpPr>
              <p:cNvPr id="105" name="TextBox 105"/>
              <p:cNvSpPr txBox="1"/>
              <p:nvPr/>
            </p:nvSpPr>
            <p:spPr>
              <a:xfrm>
                <a:off x="6853238" y="1821418"/>
                <a:ext cx="886796"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代发未提升客户​</a:t>
                </a:r>
              </a:p>
            </p:txBody>
          </p:sp>
          <p:sp>
            <p:nvSpPr>
              <p:cNvPr id="106" name="TextBox 106"/>
              <p:cNvSpPr txBox="1"/>
              <p:nvPr/>
            </p:nvSpPr>
            <p:spPr>
              <a:xfrm>
                <a:off x="6853238" y="1979057"/>
                <a:ext cx="965865" cy="126206"/>
              </a:xfrm>
              <a:prstGeom prst="rect">
                <a:avLst/>
              </a:prstGeom>
              <a:noFill/>
              <a:ln>
                <a:noFill/>
              </a:ln>
            </p:spPr>
            <p:txBody>
              <a:bodyPr wrap="none" lIns="0" tIns="0" rIns="0" bIns="0" anchor="t" anchorCtr="0">
                <a:spAutoFit/>
              </a:bodyPr>
              <a:lstStyle/>
              <a:p>
                <a:pPr algn="l"/>
                <a:r>
                  <a:rPr lang="zh-CN" sz="640" dirty="0">
                    <a:solidFill>
                      <a:srgbClr val="8AA39C"/>
                    </a:solidFill>
                    <a:latin typeface="+mn-lt"/>
                    <a:ea typeface="+mn-ea"/>
                    <a:cs typeface="+mn-cs"/>
                  </a:rPr>
                  <a:t>近6个月代发金额未提升​</a:t>
                </a:r>
              </a:p>
            </p:txBody>
          </p:sp>
          <p:sp>
            <p:nvSpPr>
              <p:cNvPr id="107" name="TextBox 107"/>
              <p:cNvSpPr txBox="1"/>
              <p:nvPr/>
            </p:nvSpPr>
            <p:spPr>
              <a:xfrm>
                <a:off x="8491538" y="1845707"/>
                <a:ext cx="918479"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挖掘工资结余、理财及​</a:t>
                </a:r>
              </a:p>
            </p:txBody>
          </p:sp>
          <p:sp>
            <p:nvSpPr>
              <p:cNvPr id="108" name="TextBox 108"/>
              <p:cNvSpPr txBox="1"/>
              <p:nvPr/>
            </p:nvSpPr>
            <p:spPr>
              <a:xfrm>
                <a:off x="8491538" y="1969532"/>
                <a:ext cx="660009"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信贷等综合需求​</a:t>
                </a:r>
              </a:p>
            </p:txBody>
          </p:sp>
          <p:sp>
            <p:nvSpPr>
              <p:cNvPr id="109" name="TextBox 109"/>
              <p:cNvSpPr txBox="1"/>
              <p:nvPr/>
            </p:nvSpPr>
            <p:spPr>
              <a:xfrm>
                <a:off x="10089261" y="1846421"/>
                <a:ext cx="456059" cy="278702"/>
              </a:xfrm>
              <a:prstGeom prst="rect">
                <a:avLst/>
              </a:prstGeom>
              <a:noFill/>
              <a:ln>
                <a:noFill/>
              </a:ln>
            </p:spPr>
            <p:txBody>
              <a:bodyPr wrap="none" lIns="0" tIns="0" rIns="0" bIns="0" anchor="t" anchorCtr="0">
                <a:spAutoFit/>
              </a:bodyPr>
              <a:lstStyle/>
              <a:p>
                <a:pPr algn="l"/>
                <a:r>
                  <a:rPr lang="zh-CN" sz="1420" b="1" dirty="0">
                    <a:solidFill>
                      <a:srgbClr val="5B180B"/>
                    </a:solidFill>
                    <a:latin typeface="+mn-lt"/>
                    <a:ea typeface="+mn-ea"/>
                    <a:cs typeface="+mn-cs"/>
                  </a:rPr>
                  <a:t>728​</a:t>
                </a:r>
              </a:p>
            </p:txBody>
          </p:sp>
          <p:sp>
            <p:nvSpPr>
              <p:cNvPr id="110" name="TextBox 110"/>
              <p:cNvSpPr txBox="1"/>
              <p:nvPr/>
            </p:nvSpPr>
            <p:spPr>
              <a:xfrm>
                <a:off x="10510838" y="1927384"/>
                <a:ext cx="151414" cy="133350"/>
              </a:xfrm>
              <a:prstGeom prst="rect">
                <a:avLst/>
              </a:prstGeom>
              <a:noFill/>
              <a:ln>
                <a:noFill/>
              </a:ln>
            </p:spPr>
            <p:txBody>
              <a:bodyPr wrap="none" lIns="0" tIns="0" rIns="0" bIns="0" anchor="t" anchorCtr="0">
                <a:spAutoFit/>
              </a:bodyPr>
              <a:lstStyle/>
              <a:p>
                <a:pPr algn="l"/>
                <a:r>
                  <a:rPr lang="zh-CN" sz="680" dirty="0">
                    <a:solidFill>
                      <a:srgbClr val="8AA39C"/>
                    </a:solidFill>
                    <a:latin typeface="+mn-lt"/>
                    <a:ea typeface="+mn-ea"/>
                    <a:cs typeface="+mn-cs"/>
                  </a:rPr>
                  <a:t>户​</a:t>
                </a:r>
              </a:p>
            </p:txBody>
          </p:sp>
          <p:sp>
            <p:nvSpPr>
              <p:cNvPr id="111" name="Rectangle 111"/>
              <p:cNvSpPr/>
              <p:nvPr/>
            </p:nvSpPr>
            <p:spPr>
              <a:xfrm>
                <a:off x="10096500" y="2057400"/>
                <a:ext cx="1143000" cy="38100"/>
              </a:xfrm>
              <a:prstGeom prst="rect">
                <a:avLst/>
              </a:prstGeom>
              <a:solidFill>
                <a:srgbClr val="E3F1EC"/>
              </a:solidFill>
              <a:ln>
                <a:noFill/>
              </a:ln>
            </p:spPr>
          </p:sp>
          <p:sp>
            <p:nvSpPr>
              <p:cNvPr id="112" name="Rectangle 112"/>
              <p:cNvSpPr/>
              <p:nvPr/>
            </p:nvSpPr>
            <p:spPr>
              <a:xfrm>
                <a:off x="10096500" y="2057400"/>
                <a:ext cx="1143000" cy="38100"/>
              </a:xfrm>
              <a:prstGeom prst="rect">
                <a:avLst/>
              </a:prstGeom>
              <a:solidFill>
                <a:srgbClr val="9A412F"/>
              </a:solidFill>
              <a:ln>
                <a:noFill/>
              </a:ln>
            </p:spPr>
          </p:sp>
          <p:sp>
            <p:nvSpPr>
              <p:cNvPr id="113" name="Rectangle 113"/>
              <p:cNvSpPr/>
              <p:nvPr/>
            </p:nvSpPr>
            <p:spPr>
              <a:xfrm>
                <a:off x="6515100" y="2152650"/>
                <a:ext cx="5334000" cy="342900"/>
              </a:xfrm>
              <a:prstGeom prst="roundRect">
                <a:avLst>
                  <a:gd name="adj" fmla="val 16667"/>
                </a:avLst>
              </a:prstGeom>
              <a:solidFill>
                <a:srgbClr val="FFFFFF"/>
              </a:solidFill>
              <a:ln w="7620">
                <a:solidFill>
                  <a:srgbClr val="D9E8E2"/>
                </a:solidFill>
              </a:ln>
            </p:spPr>
          </p:sp>
          <p:grpSp>
            <p:nvGrpSpPr>
              <p:cNvPr id="119" name="Group 119"/>
              <p:cNvGrpSpPr/>
              <p:nvPr/>
            </p:nvGrpSpPr>
            <p:grpSpPr>
              <a:xfrm>
                <a:off x="6630987" y="2252662"/>
                <a:ext cx="111125" cy="142875"/>
                <a:chOff x="6630987" y="2252662"/>
                <a:chExt cx="111125" cy="142875"/>
              </a:xfrm>
            </p:grpSpPr>
            <p:sp>
              <p:nvSpPr>
                <p:cNvPr id="114" name="Freeform 114"/>
                <p:cNvSpPr/>
                <p:nvPr/>
              </p:nvSpPr>
              <p:spPr>
                <a:xfrm>
                  <a:off x="6702425" y="22526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5B180B"/>
                  </a:solidFill>
                </a:ln>
              </p:spPr>
            </p:sp>
            <p:sp>
              <p:nvSpPr>
                <p:cNvPr id="115" name="Freeform 115"/>
                <p:cNvSpPr/>
                <p:nvPr/>
              </p:nvSpPr>
              <p:spPr>
                <a:xfrm>
                  <a:off x="6630987" y="22526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5B180B"/>
                  </a:solidFill>
                </a:ln>
              </p:spPr>
            </p:sp>
            <p:sp>
              <p:nvSpPr>
                <p:cNvPr id="116" name="Freeform 116"/>
                <p:cNvSpPr/>
                <p:nvPr/>
              </p:nvSpPr>
              <p:spPr>
                <a:xfrm>
                  <a:off x="6662737" y="2300287"/>
                  <a:ext cx="9525" cy="9525"/>
                </a:xfrm>
                <a:custGeom>
                  <a:avLst/>
                  <a:gdLst/>
                  <a:ahLst/>
                  <a:cxnLst/>
                  <a:rect l="l" t="t" r="r" b="b"/>
                  <a:pathLst>
                    <a:path w="9525" h="9525">
                      <a:moveTo>
                        <a:pt x="0" y="0"/>
                      </a:moveTo>
                      <a:lnTo>
                        <a:pt x="7937" y="0"/>
                      </a:lnTo>
                    </a:path>
                  </a:pathLst>
                </a:custGeom>
                <a:noFill/>
                <a:ln w="15875">
                  <a:solidFill>
                    <a:srgbClr val="5B180B"/>
                  </a:solidFill>
                </a:ln>
              </p:spPr>
            </p:sp>
            <p:sp>
              <p:nvSpPr>
                <p:cNvPr id="117" name="Freeform 117"/>
                <p:cNvSpPr/>
                <p:nvPr/>
              </p:nvSpPr>
              <p:spPr>
                <a:xfrm>
                  <a:off x="6662737" y="2332037"/>
                  <a:ext cx="47625" cy="9525"/>
                </a:xfrm>
                <a:custGeom>
                  <a:avLst/>
                  <a:gdLst/>
                  <a:ahLst/>
                  <a:cxnLst/>
                  <a:rect l="l" t="t" r="r" b="b"/>
                  <a:pathLst>
                    <a:path w="47625" h="9525">
                      <a:moveTo>
                        <a:pt x="0" y="0"/>
                      </a:moveTo>
                      <a:lnTo>
                        <a:pt x="47625" y="0"/>
                      </a:lnTo>
                    </a:path>
                  </a:pathLst>
                </a:custGeom>
                <a:noFill/>
                <a:ln w="15875">
                  <a:solidFill>
                    <a:srgbClr val="5B180B"/>
                  </a:solidFill>
                </a:ln>
              </p:spPr>
            </p:sp>
            <p:sp>
              <p:nvSpPr>
                <p:cNvPr id="118" name="Freeform 118"/>
                <p:cNvSpPr/>
                <p:nvPr/>
              </p:nvSpPr>
              <p:spPr>
                <a:xfrm>
                  <a:off x="6662737" y="2363787"/>
                  <a:ext cx="47625" cy="9525"/>
                </a:xfrm>
                <a:custGeom>
                  <a:avLst/>
                  <a:gdLst/>
                  <a:ahLst/>
                  <a:cxnLst/>
                  <a:rect l="l" t="t" r="r" b="b"/>
                  <a:pathLst>
                    <a:path w="47625" h="9525">
                      <a:moveTo>
                        <a:pt x="0" y="0"/>
                      </a:moveTo>
                      <a:lnTo>
                        <a:pt x="47625" y="0"/>
                      </a:lnTo>
                    </a:path>
                  </a:pathLst>
                </a:custGeom>
                <a:noFill/>
                <a:ln w="15875">
                  <a:solidFill>
                    <a:srgbClr val="5B180B"/>
                  </a:solidFill>
                </a:ln>
              </p:spPr>
            </p:sp>
          </p:grpSp>
          <p:sp>
            <p:nvSpPr>
              <p:cNvPr id="120" name="TextBox 120"/>
              <p:cNvSpPr txBox="1"/>
              <p:nvPr/>
            </p:nvSpPr>
            <p:spPr>
              <a:xfrm>
                <a:off x="6853238" y="2202418"/>
                <a:ext cx="539477"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信贷潜客​</a:t>
                </a:r>
              </a:p>
            </p:txBody>
          </p:sp>
          <p:sp>
            <p:nvSpPr>
              <p:cNvPr id="121" name="TextBox 121"/>
              <p:cNvSpPr txBox="1"/>
              <p:nvPr/>
            </p:nvSpPr>
            <p:spPr>
              <a:xfrm>
                <a:off x="6853238" y="2493407"/>
                <a:ext cx="1052022" cy="126206"/>
              </a:xfrm>
              <a:prstGeom prst="rect">
                <a:avLst/>
              </a:prstGeom>
              <a:noFill/>
              <a:ln>
                <a:noFill/>
              </a:ln>
            </p:spPr>
            <p:txBody>
              <a:bodyPr wrap="none" lIns="0" tIns="0" rIns="0" bIns="0" anchor="t" anchorCtr="0">
                <a:spAutoFit/>
              </a:bodyPr>
              <a:lstStyle/>
              <a:p>
                <a:pPr algn="l"/>
                <a:r>
                  <a:rPr lang="zh-CN" sz="640" dirty="0">
                    <a:solidFill>
                      <a:srgbClr val="8AA39C"/>
                    </a:solidFill>
                    <a:latin typeface="+mn-lt"/>
                    <a:ea typeface="+mn-ea"/>
                    <a:cs typeface="+mn-cs"/>
                  </a:rPr>
                  <a:t>有消费/经营信贷需求特征​</a:t>
                </a:r>
              </a:p>
            </p:txBody>
          </p:sp>
          <p:sp>
            <p:nvSpPr>
              <p:cNvPr id="122" name="TextBox 122"/>
              <p:cNvSpPr txBox="1"/>
              <p:nvPr/>
            </p:nvSpPr>
            <p:spPr>
              <a:xfrm>
                <a:off x="8491538" y="2226707"/>
                <a:ext cx="83232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主动授信，匹配产品​</a:t>
                </a:r>
              </a:p>
            </p:txBody>
          </p:sp>
          <p:sp>
            <p:nvSpPr>
              <p:cNvPr id="123" name="TextBox 123"/>
              <p:cNvSpPr txBox="1"/>
              <p:nvPr/>
            </p:nvSpPr>
            <p:spPr>
              <a:xfrm>
                <a:off x="8491538" y="2350532"/>
                <a:ext cx="57385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提升综合贡献​</a:t>
                </a:r>
              </a:p>
            </p:txBody>
          </p:sp>
          <p:sp>
            <p:nvSpPr>
              <p:cNvPr id="124" name="TextBox 124"/>
              <p:cNvSpPr txBox="1"/>
              <p:nvPr/>
            </p:nvSpPr>
            <p:spPr>
              <a:xfrm>
                <a:off x="10089261" y="2227421"/>
                <a:ext cx="456059" cy="278702"/>
              </a:xfrm>
              <a:prstGeom prst="rect">
                <a:avLst/>
              </a:prstGeom>
              <a:noFill/>
              <a:ln>
                <a:noFill/>
              </a:ln>
            </p:spPr>
            <p:txBody>
              <a:bodyPr wrap="none" lIns="0" tIns="0" rIns="0" bIns="0" anchor="t" anchorCtr="0">
                <a:spAutoFit/>
              </a:bodyPr>
              <a:lstStyle/>
              <a:p>
                <a:pPr algn="l"/>
                <a:r>
                  <a:rPr lang="zh-CN" sz="1420" b="1" dirty="0">
                    <a:solidFill>
                      <a:srgbClr val="5B180B"/>
                    </a:solidFill>
                    <a:latin typeface="+mn-lt"/>
                    <a:ea typeface="+mn-ea"/>
                    <a:cs typeface="+mn-cs"/>
                  </a:rPr>
                  <a:t>315​</a:t>
                </a:r>
              </a:p>
            </p:txBody>
          </p:sp>
          <p:sp>
            <p:nvSpPr>
              <p:cNvPr id="125" name="TextBox 125"/>
              <p:cNvSpPr txBox="1"/>
              <p:nvPr/>
            </p:nvSpPr>
            <p:spPr>
              <a:xfrm>
                <a:off x="10510838" y="2308384"/>
                <a:ext cx="151414" cy="133350"/>
              </a:xfrm>
              <a:prstGeom prst="rect">
                <a:avLst/>
              </a:prstGeom>
              <a:noFill/>
              <a:ln>
                <a:noFill/>
              </a:ln>
            </p:spPr>
            <p:txBody>
              <a:bodyPr wrap="none" lIns="0" tIns="0" rIns="0" bIns="0" anchor="t" anchorCtr="0">
                <a:spAutoFit/>
              </a:bodyPr>
              <a:lstStyle/>
              <a:p>
                <a:pPr algn="l"/>
                <a:r>
                  <a:rPr lang="zh-CN" sz="680" dirty="0">
                    <a:solidFill>
                      <a:srgbClr val="8AA39C"/>
                    </a:solidFill>
                    <a:latin typeface="+mn-lt"/>
                    <a:ea typeface="+mn-ea"/>
                    <a:cs typeface="+mn-cs"/>
                  </a:rPr>
                  <a:t>户​</a:t>
                </a:r>
              </a:p>
            </p:txBody>
          </p:sp>
          <p:sp>
            <p:nvSpPr>
              <p:cNvPr id="126" name="Rectangle 126"/>
              <p:cNvSpPr/>
              <p:nvPr/>
            </p:nvSpPr>
            <p:spPr>
              <a:xfrm>
                <a:off x="10096500" y="2438400"/>
                <a:ext cx="1143000" cy="38100"/>
              </a:xfrm>
              <a:prstGeom prst="rect">
                <a:avLst/>
              </a:prstGeom>
              <a:solidFill>
                <a:srgbClr val="E3F1EC"/>
              </a:solidFill>
              <a:ln>
                <a:noFill/>
              </a:ln>
            </p:spPr>
          </p:sp>
          <p:sp>
            <p:nvSpPr>
              <p:cNvPr id="127" name="Rectangle 127"/>
              <p:cNvSpPr/>
              <p:nvPr/>
            </p:nvSpPr>
            <p:spPr>
              <a:xfrm>
                <a:off x="10096500" y="2438400"/>
                <a:ext cx="495300" cy="38100"/>
              </a:xfrm>
              <a:prstGeom prst="rect">
                <a:avLst/>
              </a:prstGeom>
              <a:solidFill>
                <a:srgbClr val="9A412F"/>
              </a:solidFill>
              <a:ln>
                <a:noFill/>
              </a:ln>
            </p:spPr>
          </p:sp>
          <p:sp>
            <p:nvSpPr>
              <p:cNvPr id="128" name="Rectangle 128"/>
              <p:cNvSpPr/>
              <p:nvPr/>
            </p:nvSpPr>
            <p:spPr>
              <a:xfrm>
                <a:off x="6515100" y="2533650"/>
                <a:ext cx="5334000" cy="342900"/>
              </a:xfrm>
              <a:prstGeom prst="roundRect">
                <a:avLst>
                  <a:gd name="adj" fmla="val 16667"/>
                </a:avLst>
              </a:prstGeom>
              <a:solidFill>
                <a:srgbClr val="FFFFFF"/>
              </a:solidFill>
              <a:ln w="7620">
                <a:solidFill>
                  <a:srgbClr val="D9E8E2"/>
                </a:solidFill>
              </a:ln>
            </p:spPr>
          </p:sp>
          <p:grpSp>
            <p:nvGrpSpPr>
              <p:cNvPr id="133" name="Group 133"/>
              <p:cNvGrpSpPr/>
              <p:nvPr/>
            </p:nvGrpSpPr>
            <p:grpSpPr>
              <a:xfrm>
                <a:off x="6623050" y="2633662"/>
                <a:ext cx="127000" cy="142875"/>
                <a:chOff x="6623050" y="2633662"/>
                <a:chExt cx="127000" cy="142875"/>
              </a:xfrm>
            </p:grpSpPr>
            <p:sp>
              <p:nvSpPr>
                <p:cNvPr id="129" name="Freeform 129"/>
                <p:cNvSpPr/>
                <p:nvPr/>
              </p:nvSpPr>
              <p:spPr>
                <a:xfrm>
                  <a:off x="6623050" y="27447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5B180B"/>
                  </a:solidFill>
                </a:ln>
              </p:spPr>
            </p:sp>
            <p:sp>
              <p:nvSpPr>
                <p:cNvPr id="130" name="Freeform 130"/>
                <p:cNvSpPr/>
                <p:nvPr/>
              </p:nvSpPr>
              <p:spPr>
                <a:xfrm>
                  <a:off x="6710362" y="27447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5B180B"/>
                  </a:solidFill>
                </a:ln>
              </p:spPr>
            </p:sp>
            <p:sp>
              <p:nvSpPr>
                <p:cNvPr id="131" name="Freeform 131"/>
                <p:cNvSpPr/>
                <p:nvPr/>
              </p:nvSpPr>
              <p:spPr>
                <a:xfrm>
                  <a:off x="6623050" y="2633662"/>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5B180B"/>
                  </a:solidFill>
                </a:ln>
              </p:spPr>
            </p:sp>
            <p:sp>
              <p:nvSpPr>
                <p:cNvPr id="132" name="Freeform 132"/>
                <p:cNvSpPr/>
                <p:nvPr/>
              </p:nvSpPr>
              <p:spPr>
                <a:xfrm>
                  <a:off x="6638925" y="2649537"/>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5B180B"/>
                  </a:solidFill>
                </a:ln>
              </p:spPr>
            </p:sp>
          </p:grpSp>
          <p:sp>
            <p:nvSpPr>
              <p:cNvPr id="134" name="TextBox 134"/>
              <p:cNvSpPr txBox="1"/>
              <p:nvPr/>
            </p:nvSpPr>
            <p:spPr>
              <a:xfrm>
                <a:off x="6853238" y="2583418"/>
                <a:ext cx="771023"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商户结算潜客​</a:t>
                </a:r>
              </a:p>
            </p:txBody>
          </p:sp>
          <p:sp>
            <p:nvSpPr>
              <p:cNvPr id="135" name="TextBox 135"/>
              <p:cNvSpPr txBox="1"/>
              <p:nvPr/>
            </p:nvSpPr>
            <p:spPr>
              <a:xfrm>
                <a:off x="6853238" y="2741057"/>
                <a:ext cx="1090793" cy="126206"/>
              </a:xfrm>
              <a:prstGeom prst="rect">
                <a:avLst/>
              </a:prstGeom>
              <a:noFill/>
              <a:ln>
                <a:noFill/>
              </a:ln>
            </p:spPr>
            <p:txBody>
              <a:bodyPr wrap="none" lIns="0" tIns="0" rIns="0" bIns="0" anchor="t" anchorCtr="0">
                <a:spAutoFit/>
              </a:bodyPr>
              <a:lstStyle/>
              <a:p>
                <a:pPr algn="l"/>
                <a:r>
                  <a:rPr lang="zh-CN" sz="640" dirty="0">
                    <a:solidFill>
                      <a:srgbClr val="8AA39C"/>
                    </a:solidFill>
                    <a:latin typeface="+mn-lt"/>
                    <a:ea typeface="+mn-ea"/>
                    <a:cs typeface="+mn-cs"/>
                  </a:rPr>
                  <a:t>有经营收款但未在我行结算​</a:t>
                </a:r>
              </a:p>
            </p:txBody>
          </p:sp>
          <p:sp>
            <p:nvSpPr>
              <p:cNvPr id="136" name="TextBox 136"/>
              <p:cNvSpPr txBox="1"/>
              <p:nvPr/>
            </p:nvSpPr>
            <p:spPr>
              <a:xfrm>
                <a:off x="8491538" y="2607707"/>
                <a:ext cx="105202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上门营销，提供结算+融资​</a:t>
                </a:r>
              </a:p>
            </p:txBody>
          </p:sp>
          <p:sp>
            <p:nvSpPr>
              <p:cNvPr id="137" name="TextBox 137"/>
              <p:cNvSpPr txBox="1"/>
              <p:nvPr/>
            </p:nvSpPr>
            <p:spPr>
              <a:xfrm>
                <a:off x="8491538" y="2731532"/>
                <a:ext cx="448925"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+增值服务​</a:t>
                </a:r>
              </a:p>
            </p:txBody>
          </p:sp>
          <p:sp>
            <p:nvSpPr>
              <p:cNvPr id="138" name="TextBox 138"/>
              <p:cNvSpPr txBox="1"/>
              <p:nvPr/>
            </p:nvSpPr>
            <p:spPr>
              <a:xfrm>
                <a:off x="10089261" y="2608421"/>
                <a:ext cx="456059" cy="278702"/>
              </a:xfrm>
              <a:prstGeom prst="rect">
                <a:avLst/>
              </a:prstGeom>
              <a:noFill/>
              <a:ln>
                <a:noFill/>
              </a:ln>
            </p:spPr>
            <p:txBody>
              <a:bodyPr wrap="none" lIns="0" tIns="0" rIns="0" bIns="0" anchor="t" anchorCtr="0">
                <a:spAutoFit/>
              </a:bodyPr>
              <a:lstStyle/>
              <a:p>
                <a:pPr algn="l"/>
                <a:r>
                  <a:rPr lang="zh-CN" sz="1420" b="1" dirty="0">
                    <a:solidFill>
                      <a:srgbClr val="5B180B"/>
                    </a:solidFill>
                    <a:latin typeface="+mn-lt"/>
                    <a:ea typeface="+mn-ea"/>
                    <a:cs typeface="+mn-cs"/>
                  </a:rPr>
                  <a:t>206​</a:t>
                </a:r>
              </a:p>
            </p:txBody>
          </p:sp>
          <p:sp>
            <p:nvSpPr>
              <p:cNvPr id="139" name="TextBox 139"/>
              <p:cNvSpPr txBox="1"/>
              <p:nvPr/>
            </p:nvSpPr>
            <p:spPr>
              <a:xfrm>
                <a:off x="10510838" y="2689384"/>
                <a:ext cx="151414" cy="133350"/>
              </a:xfrm>
              <a:prstGeom prst="rect">
                <a:avLst/>
              </a:prstGeom>
              <a:noFill/>
              <a:ln>
                <a:noFill/>
              </a:ln>
            </p:spPr>
            <p:txBody>
              <a:bodyPr wrap="none" lIns="0" tIns="0" rIns="0" bIns="0" anchor="t" anchorCtr="0">
                <a:spAutoFit/>
              </a:bodyPr>
              <a:lstStyle/>
              <a:p>
                <a:pPr algn="l"/>
                <a:r>
                  <a:rPr lang="zh-CN" sz="680" dirty="0">
                    <a:solidFill>
                      <a:srgbClr val="8AA39C"/>
                    </a:solidFill>
                    <a:latin typeface="+mn-lt"/>
                    <a:ea typeface="+mn-ea"/>
                    <a:cs typeface="+mn-cs"/>
                  </a:rPr>
                  <a:t>户​</a:t>
                </a:r>
              </a:p>
            </p:txBody>
          </p:sp>
          <p:sp>
            <p:nvSpPr>
              <p:cNvPr id="140" name="Rectangle 140"/>
              <p:cNvSpPr/>
              <p:nvPr/>
            </p:nvSpPr>
            <p:spPr>
              <a:xfrm>
                <a:off x="10096500" y="2819400"/>
                <a:ext cx="1143000" cy="38100"/>
              </a:xfrm>
              <a:prstGeom prst="rect">
                <a:avLst/>
              </a:prstGeom>
              <a:solidFill>
                <a:srgbClr val="E3F1EC"/>
              </a:solidFill>
              <a:ln>
                <a:noFill/>
              </a:ln>
            </p:spPr>
          </p:sp>
          <p:sp>
            <p:nvSpPr>
              <p:cNvPr id="141" name="Rectangle 141"/>
              <p:cNvSpPr/>
              <p:nvPr/>
            </p:nvSpPr>
            <p:spPr>
              <a:xfrm>
                <a:off x="10096500" y="2819400"/>
                <a:ext cx="323850" cy="38100"/>
              </a:xfrm>
              <a:prstGeom prst="rect">
                <a:avLst/>
              </a:prstGeom>
              <a:solidFill>
                <a:srgbClr val="9A412F"/>
              </a:solidFill>
              <a:ln>
                <a:noFill/>
              </a:ln>
            </p:spPr>
          </p:sp>
          <p:sp>
            <p:nvSpPr>
              <p:cNvPr id="142" name="Rectangle 142"/>
              <p:cNvSpPr/>
              <p:nvPr/>
            </p:nvSpPr>
            <p:spPr>
              <a:xfrm>
                <a:off x="6515100" y="2952750"/>
                <a:ext cx="5334000" cy="342900"/>
              </a:xfrm>
              <a:prstGeom prst="roundRect">
                <a:avLst>
                  <a:gd name="adj" fmla="val 16667"/>
                </a:avLst>
              </a:prstGeom>
              <a:solidFill>
                <a:srgbClr val="5B180B"/>
              </a:solidFill>
              <a:ln>
                <a:noFill/>
              </a:ln>
            </p:spPr>
          </p:sp>
          <p:sp>
            <p:nvSpPr>
              <p:cNvPr id="143" name="TextBox 143"/>
              <p:cNvSpPr txBox="1"/>
              <p:nvPr/>
            </p:nvSpPr>
            <p:spPr>
              <a:xfrm>
                <a:off x="6719697" y="3066574"/>
                <a:ext cx="100958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机会客户池合计​</a:t>
                </a:r>
              </a:p>
            </p:txBody>
          </p:sp>
          <p:sp>
            <p:nvSpPr>
              <p:cNvPr id="144" name="TextBox 144"/>
              <p:cNvSpPr txBox="1"/>
              <p:nvPr/>
            </p:nvSpPr>
            <p:spPr>
              <a:xfrm>
                <a:off x="10246443" y="3038475"/>
                <a:ext cx="714927" cy="293370"/>
              </a:xfrm>
              <a:prstGeom prst="rect">
                <a:avLst/>
              </a:prstGeom>
              <a:noFill/>
              <a:ln>
                <a:noFill/>
              </a:ln>
            </p:spPr>
            <p:txBody>
              <a:bodyPr wrap="none" lIns="0" tIns="0" rIns="0" bIns="0" anchor="t" anchorCtr="0">
                <a:spAutoFit/>
              </a:bodyPr>
              <a:lstStyle/>
              <a:p>
                <a:pPr algn="r"/>
                <a:r>
                  <a:rPr lang="zh-CN" sz="1500" b="1" dirty="0">
                    <a:solidFill>
                      <a:srgbClr val="FFFFFF"/>
                    </a:solidFill>
                    <a:latin typeface="+mn-lt"/>
                    <a:ea typeface="+mn-ea"/>
                    <a:cs typeface="+mn-cs"/>
                  </a:rPr>
                  <a:t>2,177​</a:t>
                </a:r>
              </a:p>
            </p:txBody>
          </p:sp>
          <p:sp>
            <p:nvSpPr>
              <p:cNvPr id="145" name="TextBox 145"/>
              <p:cNvSpPr txBox="1"/>
              <p:nvPr/>
            </p:nvSpPr>
            <p:spPr>
              <a:xfrm>
                <a:off x="11044238" y="3109912"/>
                <a:ext cx="166021" cy="147638"/>
              </a:xfrm>
              <a:prstGeom prst="rect">
                <a:avLst/>
              </a:prstGeom>
              <a:noFill/>
              <a:ln>
                <a:noFill/>
              </a:ln>
            </p:spPr>
            <p:txBody>
              <a:bodyPr wrap="none" lIns="0" tIns="0" rIns="0" bIns="0" anchor="t" anchorCtr="0">
                <a:spAutoFit/>
              </a:bodyPr>
              <a:lstStyle/>
              <a:p>
                <a:pPr algn="l"/>
                <a:r>
                  <a:rPr lang="zh-CN" sz="750" dirty="0">
                    <a:solidFill>
                      <a:srgbClr val="BFDDD6"/>
                    </a:solidFill>
                    <a:latin typeface="+mn-lt"/>
                    <a:ea typeface="+mn-ea"/>
                    <a:cs typeface="+mn-cs"/>
                  </a:rPr>
                  <a:t>户​</a:t>
                </a:r>
              </a:p>
            </p:txBody>
          </p:sp>
        </p:grpSp>
      </p:grpSp>
      <p:grpSp>
        <p:nvGrpSpPr>
          <p:cNvPr id="232" name="funnel-card"/>
          <p:cNvGrpSpPr/>
          <p:nvPr/>
        </p:nvGrpSpPr>
        <p:grpSpPr>
          <a:xfrm>
            <a:off x="228600" y="3657600"/>
            <a:ext cx="6286500" cy="3124200"/>
            <a:chOff x="228600" y="3657600"/>
            <a:chExt cx="6286500" cy="3124200"/>
          </a:xfrm>
        </p:grpSpPr>
        <p:sp>
          <p:nvSpPr>
            <p:cNvPr id="148" name="Rectangle 148"/>
            <p:cNvSpPr/>
            <p:nvPr/>
          </p:nvSpPr>
          <p:spPr>
            <a:xfrm>
              <a:off x="228600" y="3657600"/>
              <a:ext cx="6286500" cy="3124200"/>
            </a:xfrm>
            <a:prstGeom prst="roundRect">
              <a:avLst>
                <a:gd name="adj" fmla="val 3049"/>
              </a:avLst>
            </a:prstGeom>
            <a:solidFill>
              <a:srgbClr val="F5FAF8"/>
            </a:solidFill>
            <a:ln w="9525">
              <a:solidFill>
                <a:srgbClr val="D9E8E2"/>
              </a:solidFill>
            </a:ln>
          </p:spPr>
        </p:sp>
        <p:sp>
          <p:nvSpPr>
            <p:cNvPr id="149" name="Rectangle 149"/>
            <p:cNvSpPr/>
            <p:nvPr/>
          </p:nvSpPr>
          <p:spPr>
            <a:xfrm>
              <a:off x="342900" y="3771900"/>
              <a:ext cx="47625" cy="171450"/>
            </a:xfrm>
            <a:prstGeom prst="rect">
              <a:avLst/>
            </a:prstGeom>
            <a:solidFill>
              <a:srgbClr val="5B180B"/>
            </a:solidFill>
            <a:ln>
              <a:noFill/>
            </a:ln>
          </p:spPr>
        </p:sp>
        <p:sp>
          <p:nvSpPr>
            <p:cNvPr id="150" name="TextBox 150"/>
            <p:cNvSpPr txBox="1"/>
            <p:nvPr/>
          </p:nvSpPr>
          <p:spPr>
            <a:xfrm>
              <a:off x="451866" y="3801428"/>
              <a:ext cx="2140434"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机会客户转化漏斗</a:t>
              </a:r>
              <a:r>
                <a:rPr lang="zh-CN" sz="820" b="1" dirty="0">
                  <a:solidFill>
                    <a:srgbClr val="5F6F6A"/>
                  </a:solidFill>
                  <a:latin typeface="+mn-lt"/>
                  <a:ea typeface="+mn-ea"/>
                  <a:cs typeface="+mn-cs"/>
                </a:rPr>
                <a:t>（2026年四季度）</a:t>
              </a:r>
              <a:r>
                <a:rPr lang="zh-CN" sz="1050" b="1" dirty="0">
                  <a:solidFill>
                    <a:srgbClr val="5B180B"/>
                  </a:solidFill>
                  <a:latin typeface="+mn-lt"/>
                  <a:ea typeface="+mn-ea"/>
                  <a:cs typeface="+mn-cs"/>
                </a:rPr>
                <a:t>​</a:t>
              </a:r>
            </a:p>
          </p:txBody>
        </p:sp>
        <p:grpSp>
          <p:nvGrpSpPr>
            <p:cNvPr id="155" name="funnel-pcts"/>
            <p:cNvGrpSpPr/>
            <p:nvPr/>
          </p:nvGrpSpPr>
          <p:grpSpPr>
            <a:xfrm>
              <a:off x="1335449" y="4140041"/>
              <a:ext cx="4015652" cy="161925"/>
              <a:chOff x="1335449" y="4140041"/>
              <a:chExt cx="4015652" cy="161925"/>
            </a:xfrm>
          </p:grpSpPr>
          <p:sp>
            <p:nvSpPr>
              <p:cNvPr id="151" name="TextBox 151"/>
              <p:cNvSpPr txBox="1"/>
              <p:nvPr/>
            </p:nvSpPr>
            <p:spPr>
              <a:xfrm>
                <a:off x="1335449" y="4140041"/>
                <a:ext cx="415202"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77.4%​</a:t>
                </a:r>
              </a:p>
            </p:txBody>
          </p:sp>
          <p:sp>
            <p:nvSpPr>
              <p:cNvPr id="152" name="TextBox 152"/>
              <p:cNvSpPr txBox="1"/>
              <p:nvPr/>
            </p:nvSpPr>
            <p:spPr>
              <a:xfrm>
                <a:off x="2535599" y="4140041"/>
                <a:ext cx="415202"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61.3%​</a:t>
                </a:r>
              </a:p>
            </p:txBody>
          </p:sp>
          <p:sp>
            <p:nvSpPr>
              <p:cNvPr id="153" name="TextBox 153"/>
              <p:cNvSpPr txBox="1"/>
              <p:nvPr/>
            </p:nvSpPr>
            <p:spPr>
              <a:xfrm>
                <a:off x="3735749" y="4140041"/>
                <a:ext cx="415202"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54.3%​</a:t>
                </a:r>
              </a:p>
            </p:txBody>
          </p:sp>
          <p:sp>
            <p:nvSpPr>
              <p:cNvPr id="154" name="TextBox 154"/>
              <p:cNvSpPr txBox="1"/>
              <p:nvPr/>
            </p:nvSpPr>
            <p:spPr>
              <a:xfrm>
                <a:off x="4935899" y="4140041"/>
                <a:ext cx="415202"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51.1%​</a:t>
                </a:r>
              </a:p>
            </p:txBody>
          </p:sp>
        </p:grpSp>
        <p:sp>
          <p:nvSpPr>
            <p:cNvPr id="156" name="Freeform 156"/>
            <p:cNvSpPr/>
            <p:nvPr/>
          </p:nvSpPr>
          <p:spPr>
            <a:xfrm>
              <a:off x="342900" y="4305300"/>
              <a:ext cx="1162050" cy="514350"/>
            </a:xfrm>
            <a:prstGeom prst="homePlate">
              <a:avLst>
                <a:gd name="adj" fmla="val 30000"/>
              </a:avLst>
            </a:prstGeom>
            <a:solidFill>
              <a:srgbClr val="DFF0EA"/>
            </a:solidFill>
            <a:ln>
              <a:noFill/>
            </a:ln>
          </p:spPr>
        </p:sp>
        <p:sp>
          <p:nvSpPr>
            <p:cNvPr id="157" name="Freeform 157"/>
            <p:cNvSpPr/>
            <p:nvPr/>
          </p:nvSpPr>
          <p:spPr>
            <a:xfrm>
              <a:off x="1543050" y="4305300"/>
              <a:ext cx="1162050" cy="514350"/>
            </a:xfrm>
            <a:prstGeom prst="homePlate">
              <a:avLst>
                <a:gd name="adj" fmla="val 30000"/>
              </a:avLst>
            </a:prstGeom>
            <a:solidFill>
              <a:srgbClr val="BFDDD6"/>
            </a:solidFill>
            <a:ln>
              <a:noFill/>
            </a:ln>
          </p:spPr>
        </p:sp>
        <p:sp>
          <p:nvSpPr>
            <p:cNvPr id="158" name="Freeform 158"/>
            <p:cNvSpPr/>
            <p:nvPr/>
          </p:nvSpPr>
          <p:spPr>
            <a:xfrm>
              <a:off x="2743200" y="4305300"/>
              <a:ext cx="1162050" cy="514350"/>
            </a:xfrm>
            <a:prstGeom prst="homePlate">
              <a:avLst>
                <a:gd name="adj" fmla="val 30000"/>
              </a:avLst>
            </a:prstGeom>
            <a:solidFill>
              <a:srgbClr val="B57A6F"/>
            </a:solidFill>
            <a:ln>
              <a:noFill/>
            </a:ln>
          </p:spPr>
        </p:sp>
        <p:sp>
          <p:nvSpPr>
            <p:cNvPr id="159" name="Freeform 159"/>
            <p:cNvSpPr/>
            <p:nvPr/>
          </p:nvSpPr>
          <p:spPr>
            <a:xfrm>
              <a:off x="3943350" y="4305300"/>
              <a:ext cx="1162050" cy="514350"/>
            </a:xfrm>
            <a:prstGeom prst="homePlate">
              <a:avLst>
                <a:gd name="adj" fmla="val 30000"/>
              </a:avLst>
            </a:prstGeom>
            <a:solidFill>
              <a:srgbClr val="9A412F"/>
            </a:solidFill>
            <a:ln>
              <a:noFill/>
            </a:ln>
          </p:spPr>
        </p:sp>
        <p:sp>
          <p:nvSpPr>
            <p:cNvPr id="160" name="Freeform 160"/>
            <p:cNvSpPr/>
            <p:nvPr/>
          </p:nvSpPr>
          <p:spPr>
            <a:xfrm>
              <a:off x="5143500" y="4305300"/>
              <a:ext cx="1162050" cy="514350"/>
            </a:xfrm>
            <a:prstGeom prst="homePlate">
              <a:avLst>
                <a:gd name="adj" fmla="val 30000"/>
              </a:avLst>
            </a:prstGeom>
            <a:solidFill>
              <a:srgbClr val="5B180B"/>
            </a:solidFill>
            <a:ln>
              <a:noFill/>
            </a:ln>
          </p:spPr>
        </p:sp>
        <p:grpSp>
          <p:nvGrpSpPr>
            <p:cNvPr id="195" name="funnel-labels"/>
            <p:cNvGrpSpPr/>
            <p:nvPr/>
          </p:nvGrpSpPr>
          <p:grpSpPr>
            <a:xfrm>
              <a:off x="447675" y="4447699"/>
              <a:ext cx="5460002" cy="318135"/>
              <a:chOff x="447675" y="4447699"/>
              <a:chExt cx="5460002" cy="318135"/>
            </a:xfrm>
          </p:grpSpPr>
          <p:grpSp>
            <p:nvGrpSpPr>
              <p:cNvPr id="165" name="Group 165"/>
              <p:cNvGrpSpPr/>
              <p:nvPr/>
            </p:nvGrpSpPr>
            <p:grpSpPr>
              <a:xfrm>
                <a:off x="447675" y="4467225"/>
                <a:ext cx="171450" cy="171450"/>
                <a:chOff x="447675" y="4467225"/>
                <a:chExt cx="171450" cy="171450"/>
              </a:xfrm>
            </p:grpSpPr>
            <p:sp>
              <p:nvSpPr>
                <p:cNvPr id="161" name="Freeform 161"/>
                <p:cNvSpPr/>
                <p:nvPr/>
              </p:nvSpPr>
              <p:spPr>
                <a:xfrm>
                  <a:off x="466725" y="44672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5B180B"/>
                  </a:solidFill>
                </a:ln>
              </p:spPr>
            </p:sp>
            <p:sp>
              <p:nvSpPr>
                <p:cNvPr id="162" name="Freeform 162"/>
                <p:cNvSpPr/>
                <p:nvPr/>
              </p:nvSpPr>
              <p:spPr>
                <a:xfrm>
                  <a:off x="447675" y="45815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5B180B"/>
                  </a:solidFill>
                </a:ln>
              </p:spPr>
            </p:sp>
            <p:sp>
              <p:nvSpPr>
                <p:cNvPr id="163" name="Freeform 163"/>
                <p:cNvSpPr/>
                <p:nvPr/>
              </p:nvSpPr>
              <p:spPr>
                <a:xfrm>
                  <a:off x="571500" y="44684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5B180B"/>
                  </a:solidFill>
                </a:ln>
              </p:spPr>
            </p:sp>
            <p:sp>
              <p:nvSpPr>
                <p:cNvPr id="164" name="Freeform 164"/>
                <p:cNvSpPr/>
                <p:nvPr/>
              </p:nvSpPr>
              <p:spPr>
                <a:xfrm>
                  <a:off x="590550" y="45829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5B180B"/>
                  </a:solidFill>
                </a:ln>
              </p:spPr>
            </p:sp>
          </p:grpSp>
          <p:sp>
            <p:nvSpPr>
              <p:cNvPr id="166" name="TextBox 166"/>
              <p:cNvSpPr txBox="1"/>
              <p:nvPr/>
            </p:nvSpPr>
            <p:spPr>
              <a:xfrm>
                <a:off x="680847" y="4447699"/>
                <a:ext cx="390847"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2,177</a:t>
                </a:r>
              </a:p>
            </p:txBody>
          </p:sp>
          <p:sp>
            <p:nvSpPr>
              <p:cNvPr id="167" name="TextBox 167"/>
              <p:cNvSpPr txBox="1"/>
              <p:nvPr/>
            </p:nvSpPr>
            <p:spPr>
              <a:xfrm>
                <a:off x="681038" y="4632484"/>
                <a:ext cx="334498"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客群池​</a:t>
                </a:r>
              </a:p>
            </p:txBody>
          </p:sp>
          <p:grpSp>
            <p:nvGrpSpPr>
              <p:cNvPr id="171" name="Group 171"/>
              <p:cNvGrpSpPr/>
              <p:nvPr/>
            </p:nvGrpSpPr>
            <p:grpSpPr>
              <a:xfrm>
                <a:off x="1676400" y="4467225"/>
                <a:ext cx="142875" cy="171450"/>
                <a:chOff x="1676400" y="4467225"/>
                <a:chExt cx="142875" cy="171450"/>
              </a:xfrm>
            </p:grpSpPr>
            <p:sp>
              <p:nvSpPr>
                <p:cNvPr id="168" name="Freeform 168"/>
                <p:cNvSpPr/>
                <p:nvPr/>
              </p:nvSpPr>
              <p:spPr>
                <a:xfrm>
                  <a:off x="1695450" y="44672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5B180B"/>
                  </a:solidFill>
                </a:ln>
              </p:spPr>
            </p:sp>
            <p:sp>
              <p:nvSpPr>
                <p:cNvPr id="169" name="Freeform 169"/>
                <p:cNvSpPr/>
                <p:nvPr/>
              </p:nvSpPr>
              <p:spPr>
                <a:xfrm>
                  <a:off x="1676400" y="458152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5B180B"/>
                  </a:solidFill>
                </a:ln>
              </p:spPr>
            </p:sp>
            <p:sp>
              <p:nvSpPr>
                <p:cNvPr id="170" name="Freeform 170"/>
                <p:cNvSpPr/>
                <p:nvPr/>
              </p:nvSpPr>
              <p:spPr>
                <a:xfrm>
                  <a:off x="1762125" y="4600575"/>
                  <a:ext cx="57150" cy="38100"/>
                </a:xfrm>
                <a:custGeom>
                  <a:avLst/>
                  <a:gdLst/>
                  <a:ahLst/>
                  <a:cxnLst/>
                  <a:rect l="l" t="t" r="r" b="b"/>
                  <a:pathLst>
                    <a:path w="57150" h="38100">
                      <a:moveTo>
                        <a:pt x="0" y="19050"/>
                      </a:moveTo>
                      <a:lnTo>
                        <a:pt x="19050" y="38100"/>
                      </a:lnTo>
                      <a:lnTo>
                        <a:pt x="57150" y="0"/>
                      </a:lnTo>
                    </a:path>
                  </a:pathLst>
                </a:custGeom>
                <a:noFill/>
                <a:ln w="19050">
                  <a:solidFill>
                    <a:srgbClr val="5B180B"/>
                  </a:solidFill>
                </a:ln>
              </p:spPr>
            </p:sp>
          </p:grpSp>
          <p:sp>
            <p:nvSpPr>
              <p:cNvPr id="172" name="TextBox 172"/>
              <p:cNvSpPr txBox="1"/>
              <p:nvPr/>
            </p:nvSpPr>
            <p:spPr>
              <a:xfrm>
                <a:off x="1880997" y="4447699"/>
                <a:ext cx="390847"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1,684</a:t>
                </a:r>
              </a:p>
            </p:txBody>
          </p:sp>
          <p:sp>
            <p:nvSpPr>
              <p:cNvPr id="173" name="TextBox 173"/>
              <p:cNvSpPr txBox="1"/>
              <p:nvPr/>
            </p:nvSpPr>
            <p:spPr>
              <a:xfrm>
                <a:off x="1881188" y="4632484"/>
                <a:ext cx="334498"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可触达​</a:t>
                </a:r>
              </a:p>
            </p:txBody>
          </p:sp>
          <p:grpSp>
            <p:nvGrpSpPr>
              <p:cNvPr id="180" name="Group 180"/>
              <p:cNvGrpSpPr/>
              <p:nvPr/>
            </p:nvGrpSpPr>
            <p:grpSpPr>
              <a:xfrm>
                <a:off x="2857500" y="4467225"/>
                <a:ext cx="152400" cy="171450"/>
                <a:chOff x="2857500" y="4467225"/>
                <a:chExt cx="152400" cy="171450"/>
              </a:xfrm>
            </p:grpSpPr>
            <p:sp>
              <p:nvSpPr>
                <p:cNvPr id="174" name="Freeform 174"/>
                <p:cNvSpPr/>
                <p:nvPr/>
              </p:nvSpPr>
              <p:spPr>
                <a:xfrm>
                  <a:off x="2857500" y="4486275"/>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5B180B"/>
                  </a:solidFill>
                </a:ln>
              </p:spPr>
            </p:sp>
            <p:sp>
              <p:nvSpPr>
                <p:cNvPr id="175" name="Freeform 175"/>
                <p:cNvSpPr/>
                <p:nvPr/>
              </p:nvSpPr>
              <p:spPr>
                <a:xfrm>
                  <a:off x="2971800" y="4467225"/>
                  <a:ext cx="9525" cy="38100"/>
                </a:xfrm>
                <a:custGeom>
                  <a:avLst/>
                  <a:gdLst/>
                  <a:ahLst/>
                  <a:cxnLst/>
                  <a:rect l="l" t="t" r="r" b="b"/>
                  <a:pathLst>
                    <a:path w="9525" h="38100">
                      <a:moveTo>
                        <a:pt x="0" y="0"/>
                      </a:moveTo>
                      <a:lnTo>
                        <a:pt x="0" y="38100"/>
                      </a:lnTo>
                    </a:path>
                  </a:pathLst>
                </a:custGeom>
                <a:noFill/>
                <a:ln w="19050">
                  <a:solidFill>
                    <a:srgbClr val="5B180B"/>
                  </a:solidFill>
                </a:ln>
              </p:spPr>
            </p:sp>
            <p:sp>
              <p:nvSpPr>
                <p:cNvPr id="176" name="Freeform 176"/>
                <p:cNvSpPr/>
                <p:nvPr/>
              </p:nvSpPr>
              <p:spPr>
                <a:xfrm>
                  <a:off x="2895600" y="4467225"/>
                  <a:ext cx="9525" cy="38100"/>
                </a:xfrm>
                <a:custGeom>
                  <a:avLst/>
                  <a:gdLst/>
                  <a:ahLst/>
                  <a:cxnLst/>
                  <a:rect l="l" t="t" r="r" b="b"/>
                  <a:pathLst>
                    <a:path w="9525" h="38100">
                      <a:moveTo>
                        <a:pt x="0" y="0"/>
                      </a:moveTo>
                      <a:lnTo>
                        <a:pt x="0" y="38100"/>
                      </a:lnTo>
                    </a:path>
                  </a:pathLst>
                </a:custGeom>
                <a:noFill/>
                <a:ln w="19050">
                  <a:solidFill>
                    <a:srgbClr val="5B180B"/>
                  </a:solidFill>
                </a:ln>
              </p:spPr>
            </p:sp>
            <p:sp>
              <p:nvSpPr>
                <p:cNvPr id="177" name="Freeform 177"/>
                <p:cNvSpPr/>
                <p:nvPr/>
              </p:nvSpPr>
              <p:spPr>
                <a:xfrm>
                  <a:off x="2857500" y="4543425"/>
                  <a:ext cx="152400" cy="9525"/>
                </a:xfrm>
                <a:custGeom>
                  <a:avLst/>
                  <a:gdLst/>
                  <a:ahLst/>
                  <a:cxnLst/>
                  <a:rect l="l" t="t" r="r" b="b"/>
                  <a:pathLst>
                    <a:path w="152400" h="9525">
                      <a:moveTo>
                        <a:pt x="0" y="0"/>
                      </a:moveTo>
                      <a:lnTo>
                        <a:pt x="152400" y="0"/>
                      </a:lnTo>
                    </a:path>
                  </a:pathLst>
                </a:custGeom>
                <a:noFill/>
                <a:ln w="19050">
                  <a:solidFill>
                    <a:srgbClr val="5B180B"/>
                  </a:solidFill>
                </a:ln>
              </p:spPr>
            </p:sp>
            <p:sp>
              <p:nvSpPr>
                <p:cNvPr id="178" name="Freeform 178"/>
                <p:cNvSpPr/>
                <p:nvPr/>
              </p:nvSpPr>
              <p:spPr>
                <a:xfrm>
                  <a:off x="2924175" y="4581525"/>
                  <a:ext cx="9525" cy="9525"/>
                </a:xfrm>
                <a:custGeom>
                  <a:avLst/>
                  <a:gdLst/>
                  <a:ahLst/>
                  <a:cxnLst/>
                  <a:rect l="l" t="t" r="r" b="b"/>
                  <a:pathLst>
                    <a:path w="9525" h="9525">
                      <a:moveTo>
                        <a:pt x="0" y="0"/>
                      </a:moveTo>
                      <a:lnTo>
                        <a:pt x="9525" y="0"/>
                      </a:lnTo>
                    </a:path>
                  </a:pathLst>
                </a:custGeom>
                <a:noFill/>
                <a:ln w="19050">
                  <a:solidFill>
                    <a:srgbClr val="5B180B"/>
                  </a:solidFill>
                </a:ln>
              </p:spPr>
            </p:sp>
            <p:sp>
              <p:nvSpPr>
                <p:cNvPr id="179" name="Freeform 179"/>
                <p:cNvSpPr/>
                <p:nvPr/>
              </p:nvSpPr>
              <p:spPr>
                <a:xfrm>
                  <a:off x="2933700" y="4581525"/>
                  <a:ext cx="9525" cy="28575"/>
                </a:xfrm>
                <a:custGeom>
                  <a:avLst/>
                  <a:gdLst/>
                  <a:ahLst/>
                  <a:cxnLst/>
                  <a:rect l="l" t="t" r="r" b="b"/>
                  <a:pathLst>
                    <a:path w="9525" h="28575">
                      <a:moveTo>
                        <a:pt x="0" y="0"/>
                      </a:moveTo>
                      <a:lnTo>
                        <a:pt x="0" y="28575"/>
                      </a:lnTo>
                    </a:path>
                  </a:pathLst>
                </a:custGeom>
                <a:noFill/>
                <a:ln w="19050">
                  <a:solidFill>
                    <a:srgbClr val="5B180B"/>
                  </a:solidFill>
                </a:ln>
              </p:spPr>
            </p:sp>
          </p:grpSp>
          <p:sp>
            <p:nvSpPr>
              <p:cNvPr id="181" name="TextBox 181"/>
              <p:cNvSpPr txBox="1"/>
              <p:nvPr/>
            </p:nvSpPr>
            <p:spPr>
              <a:xfrm>
                <a:off x="3081147" y="4447699"/>
                <a:ext cx="39084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1,032</a:t>
                </a:r>
              </a:p>
            </p:txBody>
          </p:sp>
          <p:sp>
            <p:nvSpPr>
              <p:cNvPr id="182" name="TextBox 182"/>
              <p:cNvSpPr txBox="1"/>
              <p:nvPr/>
            </p:nvSpPr>
            <p:spPr>
              <a:xfrm>
                <a:off x="3081338" y="4632484"/>
                <a:ext cx="426039" cy="133350"/>
              </a:xfrm>
              <a:prstGeom prst="rect">
                <a:avLst/>
              </a:prstGeom>
              <a:noFill/>
              <a:ln>
                <a:noFill/>
              </a:ln>
            </p:spPr>
            <p:txBody>
              <a:bodyPr wrap="none" lIns="0" tIns="0" rIns="0" bIns="0" anchor="t" anchorCtr="0">
                <a:spAutoFit/>
              </a:bodyPr>
              <a:lstStyle/>
              <a:p>
                <a:pPr algn="l"/>
                <a:r>
                  <a:rPr lang="zh-CN" sz="680" dirty="0">
                    <a:solidFill>
                      <a:srgbClr val="EAF6F2"/>
                    </a:solidFill>
                    <a:latin typeface="+mn-lt"/>
                    <a:ea typeface="+mn-ea"/>
                    <a:cs typeface="+mn-cs"/>
                  </a:rPr>
                  <a:t>有效邀约​</a:t>
                </a:r>
              </a:p>
            </p:txBody>
          </p:sp>
          <p:grpSp>
            <p:nvGrpSpPr>
              <p:cNvPr id="186" name="Group 186"/>
              <p:cNvGrpSpPr/>
              <p:nvPr/>
            </p:nvGrpSpPr>
            <p:grpSpPr>
              <a:xfrm>
                <a:off x="4048125" y="4467225"/>
                <a:ext cx="171450" cy="171450"/>
                <a:chOff x="4048125" y="4467225"/>
                <a:chExt cx="171450" cy="171450"/>
              </a:xfrm>
            </p:grpSpPr>
            <p:sp>
              <p:nvSpPr>
                <p:cNvPr id="183" name="Freeform 183"/>
                <p:cNvSpPr/>
                <p:nvPr/>
              </p:nvSpPr>
              <p:spPr>
                <a:xfrm>
                  <a:off x="4048125" y="446722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FFFFFF"/>
                  </a:solidFill>
                </a:ln>
              </p:spPr>
            </p:sp>
            <p:sp>
              <p:nvSpPr>
                <p:cNvPr id="184" name="Freeform 184"/>
                <p:cNvSpPr/>
                <p:nvPr/>
              </p:nvSpPr>
              <p:spPr>
                <a:xfrm>
                  <a:off x="4067175" y="455295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FFFFFF"/>
                  </a:solidFill>
                </a:ln>
              </p:spPr>
            </p:sp>
            <p:sp>
              <p:nvSpPr>
                <p:cNvPr id="185" name="Freeform 185"/>
                <p:cNvSpPr/>
                <p:nvPr/>
              </p:nvSpPr>
              <p:spPr>
                <a:xfrm>
                  <a:off x="4105275" y="456247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FFFFFF"/>
                  </a:solidFill>
                </a:ln>
              </p:spPr>
            </p:sp>
          </p:grpSp>
          <p:sp>
            <p:nvSpPr>
              <p:cNvPr id="187" name="TextBox 187"/>
              <p:cNvSpPr txBox="1"/>
              <p:nvPr/>
            </p:nvSpPr>
            <p:spPr>
              <a:xfrm>
                <a:off x="4281297" y="4447699"/>
                <a:ext cx="238471"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560</a:t>
                </a:r>
              </a:p>
            </p:txBody>
          </p:sp>
          <p:sp>
            <p:nvSpPr>
              <p:cNvPr id="188" name="TextBox 188"/>
              <p:cNvSpPr txBox="1"/>
              <p:nvPr/>
            </p:nvSpPr>
            <p:spPr>
              <a:xfrm>
                <a:off x="4281488" y="4632484"/>
                <a:ext cx="242956" cy="133350"/>
              </a:xfrm>
              <a:prstGeom prst="rect">
                <a:avLst/>
              </a:prstGeom>
              <a:noFill/>
              <a:ln>
                <a:noFill/>
              </a:ln>
            </p:spPr>
            <p:txBody>
              <a:bodyPr wrap="none" lIns="0" tIns="0" rIns="0" bIns="0" anchor="t" anchorCtr="0">
                <a:spAutoFit/>
              </a:bodyPr>
              <a:lstStyle/>
              <a:p>
                <a:pPr algn="l"/>
                <a:r>
                  <a:rPr lang="zh-CN" sz="680" dirty="0">
                    <a:solidFill>
                      <a:srgbClr val="EAF6F2"/>
                    </a:solidFill>
                    <a:latin typeface="+mn-lt"/>
                    <a:ea typeface="+mn-ea"/>
                    <a:cs typeface="+mn-cs"/>
                  </a:rPr>
                  <a:t>到店​</a:t>
                </a:r>
              </a:p>
            </p:txBody>
          </p:sp>
          <p:grpSp>
            <p:nvGrpSpPr>
              <p:cNvPr id="192" name="Group 192"/>
              <p:cNvGrpSpPr/>
              <p:nvPr/>
            </p:nvGrpSpPr>
            <p:grpSpPr>
              <a:xfrm>
                <a:off x="5252104" y="4467225"/>
                <a:ext cx="163773" cy="170402"/>
                <a:chOff x="5252104" y="4467225"/>
                <a:chExt cx="163773" cy="170402"/>
              </a:xfrm>
            </p:grpSpPr>
            <p:sp>
              <p:nvSpPr>
                <p:cNvPr id="189" name="Freeform 189"/>
                <p:cNvSpPr/>
                <p:nvPr/>
              </p:nvSpPr>
              <p:spPr>
                <a:xfrm>
                  <a:off x="5276850" y="44672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FFFFFF"/>
                  </a:solidFill>
                </a:ln>
              </p:spPr>
            </p:sp>
            <p:sp>
              <p:nvSpPr>
                <p:cNvPr id="190" name="Freeform 190"/>
                <p:cNvSpPr/>
                <p:nvPr/>
              </p:nvSpPr>
              <p:spPr>
                <a:xfrm>
                  <a:off x="5334000" y="455295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FFFFFF"/>
                  </a:solidFill>
                </a:ln>
              </p:spPr>
            </p:sp>
            <p:sp>
              <p:nvSpPr>
                <p:cNvPr id="191" name="Freeform 191"/>
                <p:cNvSpPr/>
                <p:nvPr/>
              </p:nvSpPr>
              <p:spPr>
                <a:xfrm>
                  <a:off x="5252104" y="455295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FFFFFF"/>
                  </a:solidFill>
                </a:ln>
              </p:spPr>
            </p:sp>
          </p:grpSp>
          <p:sp>
            <p:nvSpPr>
              <p:cNvPr id="193" name="TextBox 193"/>
              <p:cNvSpPr txBox="1"/>
              <p:nvPr/>
            </p:nvSpPr>
            <p:spPr>
              <a:xfrm>
                <a:off x="5481447" y="4447699"/>
                <a:ext cx="238471"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286</a:t>
                </a:r>
              </a:p>
            </p:txBody>
          </p:sp>
          <p:sp>
            <p:nvSpPr>
              <p:cNvPr id="194" name="TextBox 194"/>
              <p:cNvSpPr txBox="1"/>
              <p:nvPr/>
            </p:nvSpPr>
            <p:spPr>
              <a:xfrm>
                <a:off x="5481638" y="4632484"/>
                <a:ext cx="426039" cy="133350"/>
              </a:xfrm>
              <a:prstGeom prst="rect">
                <a:avLst/>
              </a:prstGeom>
              <a:noFill/>
              <a:ln>
                <a:noFill/>
              </a:ln>
            </p:spPr>
            <p:txBody>
              <a:bodyPr wrap="none" lIns="0" tIns="0" rIns="0" bIns="0" anchor="t" anchorCtr="0">
                <a:spAutoFit/>
              </a:bodyPr>
              <a:lstStyle/>
              <a:p>
                <a:pPr algn="l"/>
                <a:r>
                  <a:rPr lang="zh-CN" sz="680" dirty="0">
                    <a:solidFill>
                      <a:srgbClr val="DFF0EB"/>
                    </a:solidFill>
                    <a:latin typeface="+mn-lt"/>
                    <a:ea typeface="+mn-ea"/>
                    <a:cs typeface="+mn-cs"/>
                  </a:rPr>
                  <a:t>预计转化​</a:t>
                </a:r>
              </a:p>
            </p:txBody>
          </p:sp>
        </p:grpSp>
        <p:grpSp>
          <p:nvGrpSpPr>
            <p:cNvPr id="231" name="funnel-notes"/>
            <p:cNvGrpSpPr/>
            <p:nvPr/>
          </p:nvGrpSpPr>
          <p:grpSpPr>
            <a:xfrm>
              <a:off x="342900" y="4972050"/>
              <a:ext cx="5924550" cy="723900"/>
              <a:chOff x="342900" y="4972050"/>
              <a:chExt cx="5924550" cy="723900"/>
            </a:xfrm>
          </p:grpSpPr>
          <p:sp>
            <p:nvSpPr>
              <p:cNvPr id="196" name="Rectangle 196"/>
              <p:cNvSpPr/>
              <p:nvPr/>
            </p:nvSpPr>
            <p:spPr>
              <a:xfrm>
                <a:off x="342900" y="4972050"/>
                <a:ext cx="1162050" cy="723900"/>
              </a:xfrm>
              <a:prstGeom prst="roundRect">
                <a:avLst>
                  <a:gd name="adj" fmla="val 7895"/>
                </a:avLst>
              </a:prstGeom>
              <a:solidFill>
                <a:srgbClr val="E9F4F0"/>
              </a:solidFill>
              <a:ln>
                <a:noFill/>
              </a:ln>
            </p:spPr>
          </p:sp>
          <p:sp>
            <p:nvSpPr>
              <p:cNvPr id="197" name="Ellipse 197"/>
              <p:cNvSpPr/>
              <p:nvPr/>
            </p:nvSpPr>
            <p:spPr>
              <a:xfrm>
                <a:off x="438150" y="5105400"/>
                <a:ext cx="38100" cy="38100"/>
              </a:xfrm>
              <a:prstGeom prst="ellipse">
                <a:avLst/>
              </a:prstGeom>
              <a:solidFill>
                <a:srgbClr val="9A412F"/>
              </a:solidFill>
              <a:ln>
                <a:noFill/>
              </a:ln>
            </p:spPr>
          </p:sp>
          <p:sp>
            <p:nvSpPr>
              <p:cNvPr id="198" name="TextBox 198"/>
              <p:cNvSpPr txBox="1"/>
              <p:nvPr/>
            </p:nvSpPr>
            <p:spPr>
              <a:xfrm>
                <a:off x="509588" y="5080159"/>
                <a:ext cx="883747"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多渠道梳理机会客户​</a:t>
                </a:r>
              </a:p>
            </p:txBody>
          </p:sp>
          <p:sp>
            <p:nvSpPr>
              <p:cNvPr id="199" name="Ellipse 199"/>
              <p:cNvSpPr/>
              <p:nvPr/>
            </p:nvSpPr>
            <p:spPr>
              <a:xfrm>
                <a:off x="438150" y="5295900"/>
                <a:ext cx="38100" cy="38100"/>
              </a:xfrm>
              <a:prstGeom prst="ellipse">
                <a:avLst/>
              </a:prstGeom>
              <a:solidFill>
                <a:srgbClr val="9A412F"/>
              </a:solidFill>
              <a:ln>
                <a:noFill/>
              </a:ln>
            </p:spPr>
          </p:sp>
          <p:sp>
            <p:nvSpPr>
              <p:cNvPr id="200" name="TextBox 200"/>
              <p:cNvSpPr txBox="1"/>
              <p:nvPr/>
            </p:nvSpPr>
            <p:spPr>
              <a:xfrm>
                <a:off x="509588" y="527065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完善联系方式​</a:t>
                </a:r>
              </a:p>
            </p:txBody>
          </p:sp>
          <p:sp>
            <p:nvSpPr>
              <p:cNvPr id="201" name="Ellipse 201"/>
              <p:cNvSpPr/>
              <p:nvPr/>
            </p:nvSpPr>
            <p:spPr>
              <a:xfrm>
                <a:off x="438150" y="5486400"/>
                <a:ext cx="38100" cy="38100"/>
              </a:xfrm>
              <a:prstGeom prst="ellipse">
                <a:avLst/>
              </a:prstGeom>
              <a:solidFill>
                <a:srgbClr val="9A412F"/>
              </a:solidFill>
              <a:ln>
                <a:noFill/>
              </a:ln>
            </p:spPr>
          </p:sp>
          <p:sp>
            <p:nvSpPr>
              <p:cNvPr id="202" name="TextBox 202"/>
              <p:cNvSpPr txBox="1"/>
              <p:nvPr/>
            </p:nvSpPr>
            <p:spPr>
              <a:xfrm>
                <a:off x="509588" y="546115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确定营销名单​</a:t>
                </a:r>
              </a:p>
            </p:txBody>
          </p:sp>
          <p:sp>
            <p:nvSpPr>
              <p:cNvPr id="203" name="Rectangle 203"/>
              <p:cNvSpPr/>
              <p:nvPr/>
            </p:nvSpPr>
            <p:spPr>
              <a:xfrm>
                <a:off x="1543050" y="4972050"/>
                <a:ext cx="1123950" cy="723900"/>
              </a:xfrm>
              <a:prstGeom prst="roundRect">
                <a:avLst>
                  <a:gd name="adj" fmla="val 7895"/>
                </a:avLst>
              </a:prstGeom>
              <a:solidFill>
                <a:srgbClr val="E9F4F0"/>
              </a:solidFill>
              <a:ln>
                <a:noFill/>
              </a:ln>
            </p:spPr>
          </p:sp>
          <p:sp>
            <p:nvSpPr>
              <p:cNvPr id="204" name="Ellipse 204"/>
              <p:cNvSpPr/>
              <p:nvPr/>
            </p:nvSpPr>
            <p:spPr>
              <a:xfrm>
                <a:off x="1638300" y="5105400"/>
                <a:ext cx="38100" cy="38100"/>
              </a:xfrm>
              <a:prstGeom prst="ellipse">
                <a:avLst/>
              </a:prstGeom>
              <a:solidFill>
                <a:srgbClr val="9A412F"/>
              </a:solidFill>
              <a:ln>
                <a:noFill/>
              </a:ln>
            </p:spPr>
          </p:sp>
          <p:sp>
            <p:nvSpPr>
              <p:cNvPr id="205" name="TextBox 205"/>
              <p:cNvSpPr txBox="1"/>
              <p:nvPr/>
            </p:nvSpPr>
            <p:spPr>
              <a:xfrm>
                <a:off x="1709738" y="5080159"/>
                <a:ext cx="892901"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电话+企业微信+短信​</a:t>
                </a:r>
              </a:p>
            </p:txBody>
          </p:sp>
          <p:sp>
            <p:nvSpPr>
              <p:cNvPr id="206" name="Ellipse 206"/>
              <p:cNvSpPr/>
              <p:nvPr/>
            </p:nvSpPr>
            <p:spPr>
              <a:xfrm>
                <a:off x="1638300" y="5295900"/>
                <a:ext cx="38100" cy="38100"/>
              </a:xfrm>
              <a:prstGeom prst="ellipse">
                <a:avLst/>
              </a:prstGeom>
              <a:solidFill>
                <a:srgbClr val="9A412F"/>
              </a:solidFill>
              <a:ln>
                <a:noFill/>
              </a:ln>
            </p:spPr>
          </p:sp>
          <p:sp>
            <p:nvSpPr>
              <p:cNvPr id="207" name="TextBox 207"/>
              <p:cNvSpPr txBox="1"/>
              <p:nvPr/>
            </p:nvSpPr>
            <p:spPr>
              <a:xfrm>
                <a:off x="1709738" y="527065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分层触达​</a:t>
                </a:r>
              </a:p>
            </p:txBody>
          </p:sp>
          <p:sp>
            <p:nvSpPr>
              <p:cNvPr id="208" name="Ellipse 208"/>
              <p:cNvSpPr/>
              <p:nvPr/>
            </p:nvSpPr>
            <p:spPr>
              <a:xfrm>
                <a:off x="1638300" y="5486400"/>
                <a:ext cx="38100" cy="38100"/>
              </a:xfrm>
              <a:prstGeom prst="ellipse">
                <a:avLst/>
              </a:prstGeom>
              <a:solidFill>
                <a:srgbClr val="9A412F"/>
              </a:solidFill>
              <a:ln>
                <a:noFill/>
              </a:ln>
            </p:spPr>
          </p:sp>
          <p:sp>
            <p:nvSpPr>
              <p:cNvPr id="209" name="TextBox 209"/>
              <p:cNvSpPr txBox="1"/>
              <p:nvPr/>
            </p:nvSpPr>
            <p:spPr>
              <a:xfrm>
                <a:off x="1709738" y="5461159"/>
                <a:ext cx="700664"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提高触达成功率​</a:t>
                </a:r>
              </a:p>
            </p:txBody>
          </p:sp>
          <p:sp>
            <p:nvSpPr>
              <p:cNvPr id="210" name="Rectangle 210"/>
              <p:cNvSpPr/>
              <p:nvPr/>
            </p:nvSpPr>
            <p:spPr>
              <a:xfrm>
                <a:off x="2743200" y="4972050"/>
                <a:ext cx="1123950" cy="723900"/>
              </a:xfrm>
              <a:prstGeom prst="roundRect">
                <a:avLst>
                  <a:gd name="adj" fmla="val 7895"/>
                </a:avLst>
              </a:prstGeom>
              <a:solidFill>
                <a:srgbClr val="E9F4F0"/>
              </a:solidFill>
              <a:ln>
                <a:noFill/>
              </a:ln>
            </p:spPr>
          </p:sp>
          <p:sp>
            <p:nvSpPr>
              <p:cNvPr id="211" name="Ellipse 211"/>
              <p:cNvSpPr/>
              <p:nvPr/>
            </p:nvSpPr>
            <p:spPr>
              <a:xfrm>
                <a:off x="2838450" y="5105400"/>
                <a:ext cx="38100" cy="38100"/>
              </a:xfrm>
              <a:prstGeom prst="ellipse">
                <a:avLst/>
              </a:prstGeom>
              <a:solidFill>
                <a:srgbClr val="9A412F"/>
              </a:solidFill>
              <a:ln>
                <a:noFill/>
              </a:ln>
            </p:spPr>
          </p:sp>
          <p:sp>
            <p:nvSpPr>
              <p:cNvPr id="212" name="TextBox 212"/>
              <p:cNvSpPr txBox="1"/>
              <p:nvPr/>
            </p:nvSpPr>
            <p:spPr>
              <a:xfrm>
                <a:off x="2909888" y="5080159"/>
                <a:ext cx="700664"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定制化邀约话术​</a:t>
                </a:r>
              </a:p>
            </p:txBody>
          </p:sp>
          <p:sp>
            <p:nvSpPr>
              <p:cNvPr id="213" name="Ellipse 213"/>
              <p:cNvSpPr/>
              <p:nvPr/>
            </p:nvSpPr>
            <p:spPr>
              <a:xfrm>
                <a:off x="2838450" y="5295900"/>
                <a:ext cx="38100" cy="38100"/>
              </a:xfrm>
              <a:prstGeom prst="ellipse">
                <a:avLst/>
              </a:prstGeom>
              <a:solidFill>
                <a:srgbClr val="9A412F"/>
              </a:solidFill>
              <a:ln>
                <a:noFill/>
              </a:ln>
            </p:spPr>
          </p:sp>
          <p:sp>
            <p:nvSpPr>
              <p:cNvPr id="214" name="TextBox 214"/>
              <p:cNvSpPr txBox="1"/>
              <p:nvPr/>
            </p:nvSpPr>
            <p:spPr>
              <a:xfrm>
                <a:off x="2909888" y="5270659"/>
                <a:ext cx="700664"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匹配客户关注点​</a:t>
                </a:r>
              </a:p>
            </p:txBody>
          </p:sp>
          <p:sp>
            <p:nvSpPr>
              <p:cNvPr id="215" name="Ellipse 215"/>
              <p:cNvSpPr/>
              <p:nvPr/>
            </p:nvSpPr>
            <p:spPr>
              <a:xfrm>
                <a:off x="2838450" y="5486400"/>
                <a:ext cx="38100" cy="38100"/>
              </a:xfrm>
              <a:prstGeom prst="ellipse">
                <a:avLst/>
              </a:prstGeom>
              <a:solidFill>
                <a:srgbClr val="9A412F"/>
              </a:solidFill>
              <a:ln>
                <a:noFill/>
              </a:ln>
            </p:spPr>
          </p:sp>
          <p:sp>
            <p:nvSpPr>
              <p:cNvPr id="216" name="TextBox 216"/>
              <p:cNvSpPr txBox="1"/>
              <p:nvPr/>
            </p:nvSpPr>
            <p:spPr>
              <a:xfrm>
                <a:off x="2909888" y="546115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锁定到店时间​</a:t>
                </a:r>
              </a:p>
            </p:txBody>
          </p:sp>
          <p:sp>
            <p:nvSpPr>
              <p:cNvPr id="217" name="Rectangle 217"/>
              <p:cNvSpPr/>
              <p:nvPr/>
            </p:nvSpPr>
            <p:spPr>
              <a:xfrm>
                <a:off x="3943350" y="4972050"/>
                <a:ext cx="1123950" cy="723900"/>
              </a:xfrm>
              <a:prstGeom prst="roundRect">
                <a:avLst>
                  <a:gd name="adj" fmla="val 7895"/>
                </a:avLst>
              </a:prstGeom>
              <a:solidFill>
                <a:srgbClr val="E9F4F0"/>
              </a:solidFill>
              <a:ln>
                <a:noFill/>
              </a:ln>
            </p:spPr>
          </p:sp>
          <p:sp>
            <p:nvSpPr>
              <p:cNvPr id="218" name="Ellipse 218"/>
              <p:cNvSpPr/>
              <p:nvPr/>
            </p:nvSpPr>
            <p:spPr>
              <a:xfrm>
                <a:off x="4038600" y="5105400"/>
                <a:ext cx="38100" cy="38100"/>
              </a:xfrm>
              <a:prstGeom prst="ellipse">
                <a:avLst/>
              </a:prstGeom>
              <a:solidFill>
                <a:srgbClr val="9A412F"/>
              </a:solidFill>
              <a:ln>
                <a:noFill/>
              </a:ln>
            </p:spPr>
          </p:sp>
          <p:sp>
            <p:nvSpPr>
              <p:cNvPr id="219" name="TextBox 219"/>
              <p:cNvSpPr txBox="1"/>
              <p:nvPr/>
            </p:nvSpPr>
            <p:spPr>
              <a:xfrm>
                <a:off x="4110038" y="508015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网点专属接待​</a:t>
                </a:r>
              </a:p>
            </p:txBody>
          </p:sp>
          <p:sp>
            <p:nvSpPr>
              <p:cNvPr id="220" name="Ellipse 220"/>
              <p:cNvSpPr/>
              <p:nvPr/>
            </p:nvSpPr>
            <p:spPr>
              <a:xfrm>
                <a:off x="4038600" y="5295900"/>
                <a:ext cx="38100" cy="38100"/>
              </a:xfrm>
              <a:prstGeom prst="ellipse">
                <a:avLst/>
              </a:prstGeom>
              <a:solidFill>
                <a:srgbClr val="9A412F"/>
              </a:solidFill>
              <a:ln>
                <a:noFill/>
              </a:ln>
            </p:spPr>
          </p:sp>
          <p:sp>
            <p:nvSpPr>
              <p:cNvPr id="221" name="TextBox 221"/>
              <p:cNvSpPr txBox="1"/>
              <p:nvPr/>
            </p:nvSpPr>
            <p:spPr>
              <a:xfrm>
                <a:off x="4110038" y="527065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配置专业顾问​</a:t>
                </a:r>
              </a:p>
            </p:txBody>
          </p:sp>
          <p:sp>
            <p:nvSpPr>
              <p:cNvPr id="222" name="Ellipse 222"/>
              <p:cNvSpPr/>
              <p:nvPr/>
            </p:nvSpPr>
            <p:spPr>
              <a:xfrm>
                <a:off x="4038600" y="5486400"/>
                <a:ext cx="38100" cy="38100"/>
              </a:xfrm>
              <a:prstGeom prst="ellipse">
                <a:avLst/>
              </a:prstGeom>
              <a:solidFill>
                <a:srgbClr val="9A412F"/>
              </a:solidFill>
              <a:ln>
                <a:noFill/>
              </a:ln>
            </p:spPr>
          </p:sp>
          <p:sp>
            <p:nvSpPr>
              <p:cNvPr id="223" name="TextBox 223"/>
              <p:cNvSpPr txBox="1"/>
              <p:nvPr/>
            </p:nvSpPr>
            <p:spPr>
              <a:xfrm>
                <a:off x="4110038" y="546115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体验专属服务​</a:t>
                </a:r>
              </a:p>
            </p:txBody>
          </p:sp>
          <p:sp>
            <p:nvSpPr>
              <p:cNvPr id="224" name="Rectangle 224"/>
              <p:cNvSpPr/>
              <p:nvPr/>
            </p:nvSpPr>
            <p:spPr>
              <a:xfrm>
                <a:off x="5143500" y="4972050"/>
                <a:ext cx="1123950" cy="723900"/>
              </a:xfrm>
              <a:prstGeom prst="roundRect">
                <a:avLst>
                  <a:gd name="adj" fmla="val 7895"/>
                </a:avLst>
              </a:prstGeom>
              <a:solidFill>
                <a:srgbClr val="E9F4F0"/>
              </a:solidFill>
              <a:ln>
                <a:noFill/>
              </a:ln>
            </p:spPr>
          </p:sp>
          <p:sp>
            <p:nvSpPr>
              <p:cNvPr id="225" name="Ellipse 225"/>
              <p:cNvSpPr/>
              <p:nvPr/>
            </p:nvSpPr>
            <p:spPr>
              <a:xfrm>
                <a:off x="5238750" y="5105400"/>
                <a:ext cx="38100" cy="38100"/>
              </a:xfrm>
              <a:prstGeom prst="ellipse">
                <a:avLst/>
              </a:prstGeom>
              <a:solidFill>
                <a:srgbClr val="9A412F"/>
              </a:solidFill>
              <a:ln>
                <a:noFill/>
              </a:ln>
            </p:spPr>
          </p:sp>
          <p:sp>
            <p:nvSpPr>
              <p:cNvPr id="226" name="TextBox 226"/>
              <p:cNvSpPr txBox="1"/>
              <p:nvPr/>
            </p:nvSpPr>
            <p:spPr>
              <a:xfrm>
                <a:off x="5310188" y="5080159"/>
                <a:ext cx="892901"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资产配置/存款/信贷​</a:t>
                </a:r>
              </a:p>
            </p:txBody>
          </p:sp>
          <p:sp>
            <p:nvSpPr>
              <p:cNvPr id="227" name="Ellipse 227"/>
              <p:cNvSpPr/>
              <p:nvPr/>
            </p:nvSpPr>
            <p:spPr>
              <a:xfrm>
                <a:off x="5238750" y="5295900"/>
                <a:ext cx="38100" cy="38100"/>
              </a:xfrm>
              <a:prstGeom prst="ellipse">
                <a:avLst/>
              </a:prstGeom>
              <a:solidFill>
                <a:srgbClr val="9A412F"/>
              </a:solidFill>
              <a:ln>
                <a:noFill/>
              </a:ln>
            </p:spPr>
          </p:sp>
          <p:sp>
            <p:nvSpPr>
              <p:cNvPr id="228" name="TextBox 228"/>
              <p:cNvSpPr txBox="1"/>
              <p:nvPr/>
            </p:nvSpPr>
            <p:spPr>
              <a:xfrm>
                <a:off x="5310188" y="5270659"/>
                <a:ext cx="883747"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商户结算等综合转化​</a:t>
                </a:r>
              </a:p>
            </p:txBody>
          </p:sp>
          <p:sp>
            <p:nvSpPr>
              <p:cNvPr id="229" name="Ellipse 229"/>
              <p:cNvSpPr/>
              <p:nvPr/>
            </p:nvSpPr>
            <p:spPr>
              <a:xfrm>
                <a:off x="5238750" y="5486400"/>
                <a:ext cx="38100" cy="38100"/>
              </a:xfrm>
              <a:prstGeom prst="ellipse">
                <a:avLst/>
              </a:prstGeom>
              <a:solidFill>
                <a:srgbClr val="9A412F"/>
              </a:solidFill>
              <a:ln>
                <a:noFill/>
              </a:ln>
            </p:spPr>
          </p:sp>
          <p:sp>
            <p:nvSpPr>
              <p:cNvPr id="230" name="TextBox 230"/>
              <p:cNvSpPr txBox="1"/>
              <p:nvPr/>
            </p:nvSpPr>
            <p:spPr>
              <a:xfrm>
                <a:off x="5310188" y="546115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形成后续跟踪​</a:t>
                </a:r>
              </a:p>
            </p:txBody>
          </p:sp>
        </p:grpSp>
      </p:grpSp>
      <p:grpSp>
        <p:nvGrpSpPr>
          <p:cNvPr id="275" name="matrix-card"/>
          <p:cNvGrpSpPr/>
          <p:nvPr/>
        </p:nvGrpSpPr>
        <p:grpSpPr>
          <a:xfrm>
            <a:off x="6629400" y="3657600"/>
            <a:ext cx="3409187" cy="3124200"/>
            <a:chOff x="6629400" y="3657600"/>
            <a:chExt cx="3409187" cy="3124200"/>
          </a:xfrm>
        </p:grpSpPr>
        <p:sp>
          <p:nvSpPr>
            <p:cNvPr id="233" name="Rectangle 233"/>
            <p:cNvSpPr/>
            <p:nvPr/>
          </p:nvSpPr>
          <p:spPr>
            <a:xfrm>
              <a:off x="6629400" y="3657600"/>
              <a:ext cx="3390900" cy="3124200"/>
            </a:xfrm>
            <a:prstGeom prst="roundRect">
              <a:avLst>
                <a:gd name="adj" fmla="val 3049"/>
              </a:avLst>
            </a:prstGeom>
            <a:solidFill>
              <a:srgbClr val="F5FAF8"/>
            </a:solidFill>
            <a:ln w="9525">
              <a:solidFill>
                <a:srgbClr val="D9E8E2"/>
              </a:solidFill>
            </a:ln>
          </p:spPr>
        </p:sp>
        <p:sp>
          <p:nvSpPr>
            <p:cNvPr id="234" name="Rectangle 234"/>
            <p:cNvSpPr/>
            <p:nvPr/>
          </p:nvSpPr>
          <p:spPr>
            <a:xfrm>
              <a:off x="6743700" y="3771900"/>
              <a:ext cx="47625" cy="171450"/>
            </a:xfrm>
            <a:prstGeom prst="rect">
              <a:avLst/>
            </a:prstGeom>
            <a:solidFill>
              <a:srgbClr val="5B180B"/>
            </a:solidFill>
            <a:ln>
              <a:noFill/>
            </a:ln>
          </p:spPr>
        </p:sp>
        <p:sp>
          <p:nvSpPr>
            <p:cNvPr id="235" name="TextBox 235"/>
            <p:cNvSpPr txBox="1"/>
            <p:nvPr/>
          </p:nvSpPr>
          <p:spPr>
            <a:xfrm>
              <a:off x="6852666" y="3801428"/>
              <a:ext cx="2248224"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分客群营销策略矩阵</a:t>
              </a:r>
              <a:r>
                <a:rPr lang="zh-CN" sz="790" b="1" dirty="0">
                  <a:solidFill>
                    <a:srgbClr val="5F6F6A"/>
                  </a:solidFill>
                  <a:latin typeface="+mn-lt"/>
                  <a:ea typeface="+mn-ea"/>
                  <a:cs typeface="+mn-cs"/>
                </a:rPr>
                <a:t>（2026年四季度）</a:t>
              </a:r>
              <a:r>
                <a:rPr lang="zh-CN" sz="1050" b="1" dirty="0">
                  <a:solidFill>
                    <a:srgbClr val="5B180B"/>
                  </a:solidFill>
                  <a:latin typeface="+mn-lt"/>
                  <a:ea typeface="+mn-ea"/>
                  <a:cs typeface="+mn-cs"/>
                </a:rPr>
                <a:t>​</a:t>
              </a:r>
            </a:p>
          </p:txBody>
        </p:sp>
        <p:grpSp>
          <p:nvGrpSpPr>
            <p:cNvPr id="245" name="Group 245"/>
            <p:cNvGrpSpPr/>
            <p:nvPr/>
          </p:nvGrpSpPr>
          <p:grpSpPr>
            <a:xfrm>
              <a:off x="6743700" y="4038600"/>
              <a:ext cx="3294887" cy="307895"/>
              <a:chOff x="6743700" y="4038600"/>
              <a:chExt cx="3294887" cy="307895"/>
            </a:xfrm>
          </p:grpSpPr>
          <p:sp>
            <p:nvSpPr>
              <p:cNvPr id="236" name="Rectangle 236"/>
              <p:cNvSpPr/>
              <p:nvPr/>
            </p:nvSpPr>
            <p:spPr>
              <a:xfrm>
                <a:off x="6743700" y="4038600"/>
                <a:ext cx="571500" cy="266700"/>
              </a:xfrm>
              <a:prstGeom prst="rect">
                <a:avLst/>
              </a:prstGeom>
              <a:solidFill>
                <a:srgbClr val="5B180B"/>
              </a:solidFill>
              <a:ln>
                <a:noFill/>
              </a:ln>
            </p:spPr>
          </p:sp>
          <p:sp>
            <p:nvSpPr>
              <p:cNvPr id="237" name="TextBox 237"/>
              <p:cNvSpPr txBox="1"/>
              <p:nvPr/>
            </p:nvSpPr>
            <p:spPr>
              <a:xfrm>
                <a:off x="6781279" y="4125039"/>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客群层级​</a:t>
                </a:r>
              </a:p>
            </p:txBody>
          </p:sp>
          <p:sp>
            <p:nvSpPr>
              <p:cNvPr id="238" name="Rectangle 238"/>
              <p:cNvSpPr/>
              <p:nvPr/>
            </p:nvSpPr>
            <p:spPr>
              <a:xfrm>
                <a:off x="7315200" y="4038600"/>
                <a:ext cx="990600" cy="266700"/>
              </a:xfrm>
              <a:prstGeom prst="rect">
                <a:avLst/>
              </a:prstGeom>
              <a:solidFill>
                <a:srgbClr val="5B180B"/>
              </a:solidFill>
              <a:ln>
                <a:noFill/>
              </a:ln>
            </p:spPr>
          </p:sp>
          <p:sp>
            <p:nvSpPr>
              <p:cNvPr id="239" name="TextBox 239"/>
              <p:cNvSpPr txBox="1"/>
              <p:nvPr/>
            </p:nvSpPr>
            <p:spPr>
              <a:xfrm>
                <a:off x="7562329" y="4125039"/>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核心策略​</a:t>
                </a:r>
              </a:p>
            </p:txBody>
          </p:sp>
          <p:sp>
            <p:nvSpPr>
              <p:cNvPr id="240" name="Rectangle 240"/>
              <p:cNvSpPr/>
              <p:nvPr/>
            </p:nvSpPr>
            <p:spPr>
              <a:xfrm>
                <a:off x="8305800" y="4038600"/>
                <a:ext cx="1238250" cy="266700"/>
              </a:xfrm>
              <a:prstGeom prst="rect">
                <a:avLst/>
              </a:prstGeom>
              <a:solidFill>
                <a:srgbClr val="5B180B"/>
              </a:solidFill>
              <a:ln>
                <a:noFill/>
              </a:ln>
            </p:spPr>
          </p:sp>
          <p:sp>
            <p:nvSpPr>
              <p:cNvPr id="241" name="TextBox 241"/>
              <p:cNvSpPr txBox="1"/>
              <p:nvPr/>
            </p:nvSpPr>
            <p:spPr>
              <a:xfrm>
                <a:off x="8539696" y="4125039"/>
                <a:ext cx="770458"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主推产品/服务​</a:t>
                </a:r>
              </a:p>
            </p:txBody>
          </p:sp>
          <p:sp>
            <p:nvSpPr>
              <p:cNvPr id="242" name="Rectangle 242"/>
              <p:cNvSpPr/>
              <p:nvPr/>
            </p:nvSpPr>
            <p:spPr>
              <a:xfrm>
                <a:off x="9544050" y="4038600"/>
                <a:ext cx="476250" cy="266700"/>
              </a:xfrm>
              <a:prstGeom prst="rect">
                <a:avLst/>
              </a:prstGeom>
              <a:solidFill>
                <a:srgbClr val="5B180B"/>
              </a:solidFill>
              <a:ln>
                <a:noFill/>
              </a:ln>
            </p:spPr>
          </p:sp>
          <p:sp>
            <p:nvSpPr>
              <p:cNvPr id="243" name="TextBox 243"/>
              <p:cNvSpPr txBox="1"/>
              <p:nvPr/>
            </p:nvSpPr>
            <p:spPr>
              <a:xfrm>
                <a:off x="9640354" y="4105989"/>
                <a:ext cx="2836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目标​</a:t>
                </a:r>
              </a:p>
            </p:txBody>
          </p:sp>
          <p:sp>
            <p:nvSpPr>
              <p:cNvPr id="244" name="TextBox 244"/>
              <p:cNvSpPr txBox="1"/>
              <p:nvPr/>
            </p:nvSpPr>
            <p:spPr>
              <a:xfrm>
                <a:off x="9525762" y="4191714"/>
                <a:ext cx="5128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转化(户)​</a:t>
                </a:r>
              </a:p>
            </p:txBody>
          </p:sp>
        </p:grpSp>
        <p:grpSp>
          <p:nvGrpSpPr>
            <p:cNvPr id="274" name="Group 274"/>
            <p:cNvGrpSpPr/>
            <p:nvPr/>
          </p:nvGrpSpPr>
          <p:grpSpPr>
            <a:xfrm>
              <a:off x="6743700" y="4305300"/>
              <a:ext cx="3276600" cy="2133600"/>
              <a:chOff x="6743700" y="4305300"/>
              <a:chExt cx="3276600" cy="2133600"/>
            </a:xfrm>
          </p:grpSpPr>
          <p:sp>
            <p:nvSpPr>
              <p:cNvPr id="246" name="Rectangle 246"/>
              <p:cNvSpPr/>
              <p:nvPr/>
            </p:nvSpPr>
            <p:spPr>
              <a:xfrm>
                <a:off x="6743700" y="4305300"/>
                <a:ext cx="3276600" cy="361950"/>
              </a:xfrm>
              <a:prstGeom prst="rect">
                <a:avLst/>
              </a:prstGeom>
              <a:solidFill>
                <a:srgbClr val="FFFFFF"/>
              </a:solidFill>
              <a:ln w="7620">
                <a:solidFill>
                  <a:srgbClr val="D9E8E2"/>
                </a:solidFill>
              </a:ln>
            </p:spPr>
          </p:sp>
          <p:sp>
            <p:nvSpPr>
              <p:cNvPr id="247" name="TextBox 247"/>
              <p:cNvSpPr txBox="1"/>
              <p:nvPr/>
            </p:nvSpPr>
            <p:spPr>
              <a:xfrm>
                <a:off x="6887629" y="4439364"/>
                <a:ext cx="283642"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私行​</a:t>
                </a:r>
              </a:p>
            </p:txBody>
          </p:sp>
          <p:sp>
            <p:nvSpPr>
              <p:cNvPr id="248" name="TextBox 248"/>
              <p:cNvSpPr txBox="1"/>
              <p:nvPr/>
            </p:nvSpPr>
            <p:spPr>
              <a:xfrm>
                <a:off x="7404267" y="4439364"/>
                <a:ext cx="812466"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一对一深度洽谈​</a:t>
                </a:r>
              </a:p>
            </p:txBody>
          </p:sp>
          <p:sp>
            <p:nvSpPr>
              <p:cNvPr id="249" name="TextBox 249"/>
              <p:cNvSpPr txBox="1"/>
              <p:nvPr/>
            </p:nvSpPr>
            <p:spPr>
              <a:xfrm>
                <a:off x="8418512" y="4382214"/>
                <a:ext cx="101282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4A3D3A"/>
                    </a:solidFill>
                    <a:latin typeface="+mn-lt"/>
                    <a:ea typeface="+mn-ea"/>
                    <a:cs typeface="+mn-cs"/>
                  </a:rPr>
                  <a:t>家族信托、专属理财、</a:t>
                </a:r>
                <a:br/>
                <a:r>
                  <a:rPr lang="zh-CN" sz="790" dirty="0">
                    <a:solidFill>
                      <a:srgbClr val="4A3D3A"/>
                    </a:solidFill>
                    <a:latin typeface="+mn-lt"/>
                    <a:ea typeface="+mn-ea"/>
                    <a:cs typeface="+mn-cs"/>
                  </a:rPr>
                  <a:t>跨境服务</a:t>
                </a:r>
              </a:p>
            </p:txBody>
          </p:sp>
          <p:sp>
            <p:nvSpPr>
              <p:cNvPr id="250" name="TextBox 250"/>
              <p:cNvSpPr txBox="1"/>
              <p:nvPr/>
            </p:nvSpPr>
            <p:spPr>
              <a:xfrm>
                <a:off x="9685287" y="4439364"/>
                <a:ext cx="193776"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28​</a:t>
                </a:r>
              </a:p>
            </p:txBody>
          </p:sp>
          <p:sp>
            <p:nvSpPr>
              <p:cNvPr id="251" name="Rectangle 251"/>
              <p:cNvSpPr/>
              <p:nvPr/>
            </p:nvSpPr>
            <p:spPr>
              <a:xfrm>
                <a:off x="6743700" y="4667250"/>
                <a:ext cx="3276600" cy="361950"/>
              </a:xfrm>
              <a:prstGeom prst="rect">
                <a:avLst/>
              </a:prstGeom>
              <a:solidFill>
                <a:srgbClr val="F7FBF9"/>
              </a:solidFill>
              <a:ln w="7620">
                <a:solidFill>
                  <a:srgbClr val="D9E8E2"/>
                </a:solidFill>
              </a:ln>
            </p:spPr>
          </p:sp>
          <p:sp>
            <p:nvSpPr>
              <p:cNvPr id="252" name="TextBox 252"/>
              <p:cNvSpPr txBox="1"/>
              <p:nvPr/>
            </p:nvSpPr>
            <p:spPr>
              <a:xfrm>
                <a:off x="6834454" y="4801314"/>
                <a:ext cx="389991"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高净值​</a:t>
                </a:r>
              </a:p>
            </p:txBody>
          </p:sp>
          <p:sp>
            <p:nvSpPr>
              <p:cNvPr id="253" name="TextBox 253"/>
              <p:cNvSpPr txBox="1"/>
              <p:nvPr/>
            </p:nvSpPr>
            <p:spPr>
              <a:xfrm>
                <a:off x="7457442" y="4801314"/>
                <a:ext cx="706116"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资产配置升级​</a:t>
                </a:r>
              </a:p>
            </p:txBody>
          </p:sp>
          <p:sp>
            <p:nvSpPr>
              <p:cNvPr id="254" name="TextBox 254"/>
              <p:cNvSpPr txBox="1"/>
              <p:nvPr/>
            </p:nvSpPr>
            <p:spPr>
              <a:xfrm>
                <a:off x="8368348" y="4744164"/>
                <a:ext cx="111315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4A3D3A"/>
                    </a:solidFill>
                    <a:latin typeface="+mn-lt"/>
                    <a:ea typeface="+mn-ea"/>
                    <a:cs typeface="+mn-cs"/>
                  </a:rPr>
                  <a:t>多元配置、保险金信托、</a:t>
                </a:r>
                <a:br/>
                <a:r>
                  <a:rPr lang="zh-CN" sz="790" dirty="0">
                    <a:solidFill>
                      <a:srgbClr val="4A3D3A"/>
                    </a:solidFill>
                    <a:latin typeface="+mn-lt"/>
                    <a:ea typeface="+mn-ea"/>
                    <a:cs typeface="+mn-cs"/>
                  </a:rPr>
                  <a:t>高端权益</a:t>
                </a:r>
              </a:p>
            </p:txBody>
          </p:sp>
          <p:sp>
            <p:nvSpPr>
              <p:cNvPr id="255" name="TextBox 255"/>
              <p:cNvSpPr txBox="1"/>
              <p:nvPr/>
            </p:nvSpPr>
            <p:spPr>
              <a:xfrm>
                <a:off x="9685287" y="4801314"/>
                <a:ext cx="193776"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62​</a:t>
                </a:r>
              </a:p>
            </p:txBody>
          </p:sp>
          <p:sp>
            <p:nvSpPr>
              <p:cNvPr id="256" name="Rectangle 256"/>
              <p:cNvSpPr/>
              <p:nvPr/>
            </p:nvSpPr>
            <p:spPr>
              <a:xfrm>
                <a:off x="6743700" y="5029200"/>
                <a:ext cx="3276600" cy="361950"/>
              </a:xfrm>
              <a:prstGeom prst="rect">
                <a:avLst/>
              </a:prstGeom>
              <a:solidFill>
                <a:srgbClr val="FFFFFF"/>
              </a:solidFill>
              <a:ln w="7620">
                <a:solidFill>
                  <a:srgbClr val="D9E8E2"/>
                </a:solidFill>
              </a:ln>
            </p:spPr>
          </p:sp>
          <p:sp>
            <p:nvSpPr>
              <p:cNvPr id="257" name="TextBox 257"/>
              <p:cNvSpPr txBox="1"/>
              <p:nvPr/>
            </p:nvSpPr>
            <p:spPr>
              <a:xfrm>
                <a:off x="6887629" y="5163264"/>
                <a:ext cx="283642"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财富​</a:t>
                </a:r>
              </a:p>
            </p:txBody>
          </p:sp>
          <p:sp>
            <p:nvSpPr>
              <p:cNvPr id="258" name="TextBox 258"/>
              <p:cNvSpPr txBox="1"/>
              <p:nvPr/>
            </p:nvSpPr>
            <p:spPr>
              <a:xfrm>
                <a:off x="7321846" y="5163264"/>
                <a:ext cx="977308"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稳健增值+组合服务​</a:t>
                </a:r>
              </a:p>
            </p:txBody>
          </p:sp>
          <p:sp>
            <p:nvSpPr>
              <p:cNvPr id="259" name="TextBox 259"/>
              <p:cNvSpPr txBox="1"/>
              <p:nvPr/>
            </p:nvSpPr>
            <p:spPr>
              <a:xfrm>
                <a:off x="8468678" y="5106114"/>
                <a:ext cx="91249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4A3D3A"/>
                    </a:solidFill>
                    <a:latin typeface="+mn-lt"/>
                    <a:ea typeface="+mn-ea"/>
                    <a:cs typeface="+mn-cs"/>
                  </a:rPr>
                  <a:t>理财、基金、保险、</a:t>
                </a:r>
                <a:br/>
                <a:r>
                  <a:rPr lang="zh-CN" sz="790" dirty="0">
                    <a:solidFill>
                      <a:srgbClr val="4A3D3A"/>
                    </a:solidFill>
                    <a:latin typeface="+mn-lt"/>
                    <a:ea typeface="+mn-ea"/>
                    <a:cs typeface="+mn-cs"/>
                  </a:rPr>
                  <a:t>贵金属</a:t>
                </a:r>
              </a:p>
            </p:txBody>
          </p:sp>
          <p:sp>
            <p:nvSpPr>
              <p:cNvPr id="260" name="TextBox 260"/>
              <p:cNvSpPr txBox="1"/>
              <p:nvPr/>
            </p:nvSpPr>
            <p:spPr>
              <a:xfrm>
                <a:off x="9685287" y="5163264"/>
                <a:ext cx="193776"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88​</a:t>
                </a:r>
              </a:p>
            </p:txBody>
          </p:sp>
          <p:sp>
            <p:nvSpPr>
              <p:cNvPr id="261" name="Rectangle 261"/>
              <p:cNvSpPr/>
              <p:nvPr/>
            </p:nvSpPr>
            <p:spPr>
              <a:xfrm>
                <a:off x="6743700" y="5391150"/>
                <a:ext cx="3276600" cy="361950"/>
              </a:xfrm>
              <a:prstGeom prst="rect">
                <a:avLst/>
              </a:prstGeom>
              <a:solidFill>
                <a:srgbClr val="F7FBF9"/>
              </a:solidFill>
              <a:ln w="7620">
                <a:solidFill>
                  <a:srgbClr val="D9E8E2"/>
                </a:solidFill>
              </a:ln>
            </p:spPr>
          </p:sp>
          <p:sp>
            <p:nvSpPr>
              <p:cNvPr id="262" name="TextBox 262"/>
              <p:cNvSpPr txBox="1"/>
              <p:nvPr/>
            </p:nvSpPr>
            <p:spPr>
              <a:xfrm>
                <a:off x="6887629" y="5525214"/>
                <a:ext cx="283642"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潜力​</a:t>
                </a:r>
              </a:p>
            </p:txBody>
          </p:sp>
          <p:sp>
            <p:nvSpPr>
              <p:cNvPr id="263" name="TextBox 263"/>
              <p:cNvSpPr txBox="1"/>
              <p:nvPr/>
            </p:nvSpPr>
            <p:spPr>
              <a:xfrm>
                <a:off x="7510617" y="5525214"/>
                <a:ext cx="599766"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场景化激活​</a:t>
                </a:r>
              </a:p>
            </p:txBody>
          </p:sp>
          <p:sp>
            <p:nvSpPr>
              <p:cNvPr id="264" name="TextBox 264"/>
              <p:cNvSpPr txBox="1"/>
              <p:nvPr/>
            </p:nvSpPr>
            <p:spPr>
              <a:xfrm>
                <a:off x="8418512" y="5468064"/>
                <a:ext cx="101282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4A3D3A"/>
                    </a:solidFill>
                    <a:latin typeface="+mn-lt"/>
                    <a:ea typeface="+mn-ea"/>
                    <a:cs typeface="+mn-cs"/>
                  </a:rPr>
                  <a:t>代发、消费、经营贷、</a:t>
                </a:r>
                <a:br/>
                <a:r>
                  <a:rPr lang="zh-CN" sz="790" dirty="0">
                    <a:solidFill>
                      <a:srgbClr val="4A3D3A"/>
                    </a:solidFill>
                    <a:latin typeface="+mn-lt"/>
                    <a:ea typeface="+mn-ea"/>
                    <a:cs typeface="+mn-cs"/>
                  </a:rPr>
                  <a:t>按揭</a:t>
                </a:r>
              </a:p>
            </p:txBody>
          </p:sp>
          <p:sp>
            <p:nvSpPr>
              <p:cNvPr id="265" name="TextBox 265"/>
              <p:cNvSpPr txBox="1"/>
              <p:nvPr/>
            </p:nvSpPr>
            <p:spPr>
              <a:xfrm>
                <a:off x="9685287" y="5525214"/>
                <a:ext cx="193776"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76​</a:t>
                </a:r>
              </a:p>
            </p:txBody>
          </p:sp>
          <p:sp>
            <p:nvSpPr>
              <p:cNvPr id="266" name="Rectangle 266"/>
              <p:cNvSpPr/>
              <p:nvPr/>
            </p:nvSpPr>
            <p:spPr>
              <a:xfrm>
                <a:off x="6743700" y="5753100"/>
                <a:ext cx="3276600" cy="361950"/>
              </a:xfrm>
              <a:prstGeom prst="rect">
                <a:avLst/>
              </a:prstGeom>
              <a:solidFill>
                <a:srgbClr val="FFFFFF"/>
              </a:solidFill>
              <a:ln w="7620">
                <a:solidFill>
                  <a:srgbClr val="D9E8E2"/>
                </a:solidFill>
              </a:ln>
            </p:spPr>
          </p:sp>
          <p:sp>
            <p:nvSpPr>
              <p:cNvPr id="267" name="TextBox 267"/>
              <p:cNvSpPr txBox="1"/>
              <p:nvPr/>
            </p:nvSpPr>
            <p:spPr>
              <a:xfrm>
                <a:off x="6887629" y="5887164"/>
                <a:ext cx="283642"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基础​</a:t>
                </a:r>
              </a:p>
            </p:txBody>
          </p:sp>
          <p:sp>
            <p:nvSpPr>
              <p:cNvPr id="268" name="TextBox 268"/>
              <p:cNvSpPr txBox="1"/>
              <p:nvPr/>
            </p:nvSpPr>
            <p:spPr>
              <a:xfrm>
                <a:off x="7510617" y="5887164"/>
                <a:ext cx="599766"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激活与提升​</a:t>
                </a:r>
              </a:p>
            </p:txBody>
          </p:sp>
          <p:sp>
            <p:nvSpPr>
              <p:cNvPr id="269" name="TextBox 269"/>
              <p:cNvSpPr txBox="1"/>
              <p:nvPr/>
            </p:nvSpPr>
            <p:spPr>
              <a:xfrm>
                <a:off x="8252818" y="5887164"/>
                <a:ext cx="1344215"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存款、基础理财、支付结算​</a:t>
                </a:r>
              </a:p>
            </p:txBody>
          </p:sp>
          <p:sp>
            <p:nvSpPr>
              <p:cNvPr id="270" name="TextBox 270"/>
              <p:cNvSpPr txBox="1"/>
              <p:nvPr/>
            </p:nvSpPr>
            <p:spPr>
              <a:xfrm>
                <a:off x="9685287" y="5887164"/>
                <a:ext cx="193776"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30​</a:t>
                </a:r>
              </a:p>
            </p:txBody>
          </p:sp>
          <p:sp>
            <p:nvSpPr>
              <p:cNvPr id="271" name="Rectangle 271"/>
              <p:cNvSpPr/>
              <p:nvPr/>
            </p:nvSpPr>
            <p:spPr>
              <a:xfrm>
                <a:off x="6743700" y="6115050"/>
                <a:ext cx="3276600" cy="323850"/>
              </a:xfrm>
              <a:prstGeom prst="rect">
                <a:avLst/>
              </a:prstGeom>
              <a:solidFill>
                <a:srgbClr val="5B180B"/>
              </a:solidFill>
              <a:ln>
                <a:noFill/>
              </a:ln>
            </p:spPr>
          </p:sp>
          <p:sp>
            <p:nvSpPr>
              <p:cNvPr id="272" name="TextBox 272"/>
              <p:cNvSpPr txBox="1"/>
              <p:nvPr/>
            </p:nvSpPr>
            <p:spPr>
              <a:xfrm>
                <a:off x="7668679" y="6230064"/>
                <a:ext cx="2836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合计​</a:t>
                </a:r>
              </a:p>
            </p:txBody>
          </p:sp>
          <p:sp>
            <p:nvSpPr>
              <p:cNvPr id="273" name="TextBox 273"/>
              <p:cNvSpPr txBox="1"/>
              <p:nvPr/>
            </p:nvSpPr>
            <p:spPr>
              <a:xfrm>
                <a:off x="9624846" y="6219349"/>
                <a:ext cx="31465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286​</a:t>
                </a:r>
              </a:p>
            </p:txBody>
          </p:sp>
        </p:grpSp>
      </p:grpSp>
      <p:grpSp>
        <p:nvGrpSpPr>
          <p:cNvPr id="308" name="value-card"/>
          <p:cNvGrpSpPr/>
          <p:nvPr/>
        </p:nvGrpSpPr>
        <p:grpSpPr>
          <a:xfrm>
            <a:off x="10134600" y="3657600"/>
            <a:ext cx="1828800" cy="3124200"/>
            <a:chOff x="10134600" y="3657600"/>
            <a:chExt cx="1828800" cy="3124200"/>
          </a:xfrm>
        </p:grpSpPr>
        <p:sp>
          <p:nvSpPr>
            <p:cNvPr id="276" name="Rectangle 276"/>
            <p:cNvSpPr/>
            <p:nvPr/>
          </p:nvSpPr>
          <p:spPr>
            <a:xfrm>
              <a:off x="10134600" y="3657600"/>
              <a:ext cx="1828800" cy="3124200"/>
            </a:xfrm>
            <a:prstGeom prst="roundRect">
              <a:avLst>
                <a:gd name="adj" fmla="val 5208"/>
              </a:avLst>
            </a:prstGeom>
            <a:solidFill>
              <a:srgbClr val="F5FAF8"/>
            </a:solidFill>
            <a:ln w="9525">
              <a:solidFill>
                <a:srgbClr val="D9E8E2"/>
              </a:solidFill>
            </a:ln>
          </p:spPr>
        </p:sp>
        <p:sp>
          <p:nvSpPr>
            <p:cNvPr id="277" name="Rectangle 277"/>
            <p:cNvSpPr/>
            <p:nvPr/>
          </p:nvSpPr>
          <p:spPr>
            <a:xfrm>
              <a:off x="10248900" y="3771900"/>
              <a:ext cx="47625" cy="171450"/>
            </a:xfrm>
            <a:prstGeom prst="rect">
              <a:avLst/>
            </a:prstGeom>
            <a:solidFill>
              <a:srgbClr val="5B180B"/>
            </a:solidFill>
            <a:ln>
              <a:noFill/>
            </a:ln>
          </p:spPr>
        </p:sp>
        <p:sp>
          <p:nvSpPr>
            <p:cNvPr id="278" name="TextBox 278"/>
            <p:cNvSpPr txBox="1"/>
            <p:nvPr/>
          </p:nvSpPr>
          <p:spPr>
            <a:xfrm>
              <a:off x="10358056" y="3805476"/>
              <a:ext cx="904605" cy="198025"/>
            </a:xfrm>
            <a:prstGeom prst="rect">
              <a:avLst/>
            </a:prstGeom>
            <a:noFill/>
            <a:ln>
              <a:noFill/>
            </a:ln>
          </p:spPr>
          <p:txBody>
            <a:bodyPr wrap="none" lIns="0" tIns="0" rIns="0" bIns="0" anchor="t" anchorCtr="0">
              <a:spAutoFit/>
            </a:bodyPr>
            <a:lstStyle/>
            <a:p>
              <a:pPr algn="l"/>
              <a:r>
                <a:rPr lang="zh-CN" sz="1010" b="1" dirty="0">
                  <a:solidFill>
                    <a:srgbClr val="5B180B"/>
                  </a:solidFill>
                  <a:latin typeface="+mn-lt"/>
                  <a:ea typeface="+mn-ea"/>
                  <a:cs typeface="+mn-cs"/>
                </a:rPr>
                <a:t>预计价值贡献​</a:t>
              </a:r>
            </a:p>
          </p:txBody>
        </p:sp>
        <p:grpSp>
          <p:nvGrpSpPr>
            <p:cNvPr id="306" name="value-stats"/>
            <p:cNvGrpSpPr/>
            <p:nvPr/>
          </p:nvGrpSpPr>
          <p:grpSpPr>
            <a:xfrm>
              <a:off x="10248900" y="4038600"/>
              <a:ext cx="1600200" cy="2232851"/>
              <a:chOff x="10248900" y="4038600"/>
              <a:chExt cx="1600200" cy="2232851"/>
            </a:xfrm>
          </p:grpSpPr>
          <p:sp>
            <p:nvSpPr>
              <p:cNvPr id="279" name="Rectangle 279"/>
              <p:cNvSpPr/>
              <p:nvPr/>
            </p:nvSpPr>
            <p:spPr>
              <a:xfrm>
                <a:off x="10248900" y="4038600"/>
                <a:ext cx="1600200" cy="495300"/>
              </a:xfrm>
              <a:prstGeom prst="roundRect">
                <a:avLst>
                  <a:gd name="adj" fmla="val 11538"/>
                </a:avLst>
              </a:prstGeom>
              <a:solidFill>
                <a:srgbClr val="E9F4F0"/>
              </a:solidFill>
              <a:ln>
                <a:noFill/>
              </a:ln>
            </p:spPr>
          </p:sp>
          <p:grpSp>
            <p:nvGrpSpPr>
              <p:cNvPr id="283" name="Group 283"/>
              <p:cNvGrpSpPr/>
              <p:nvPr/>
            </p:nvGrpSpPr>
            <p:grpSpPr>
              <a:xfrm>
                <a:off x="10375900" y="4214812"/>
                <a:ext cx="127000" cy="142875"/>
                <a:chOff x="10375900" y="4214812"/>
                <a:chExt cx="127000" cy="142875"/>
              </a:xfrm>
            </p:grpSpPr>
            <p:sp>
              <p:nvSpPr>
                <p:cNvPr id="280" name="Freeform 280"/>
                <p:cNvSpPr/>
                <p:nvPr/>
              </p:nvSpPr>
              <p:spPr>
                <a:xfrm>
                  <a:off x="10375900" y="42148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5B180B"/>
                  </a:solidFill>
                </a:ln>
              </p:spPr>
            </p:sp>
            <p:sp>
              <p:nvSpPr>
                <p:cNvPr id="281" name="Freeform 281"/>
                <p:cNvSpPr/>
                <p:nvPr/>
              </p:nvSpPr>
              <p:spPr>
                <a:xfrm>
                  <a:off x="10375900" y="42386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5B180B"/>
                  </a:solidFill>
                </a:ln>
              </p:spPr>
            </p:sp>
            <p:sp>
              <p:nvSpPr>
                <p:cNvPr id="282" name="Freeform 282"/>
                <p:cNvSpPr/>
                <p:nvPr/>
              </p:nvSpPr>
              <p:spPr>
                <a:xfrm>
                  <a:off x="10375900" y="42862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5B180B"/>
                  </a:solidFill>
                </a:ln>
              </p:spPr>
            </p:sp>
          </p:grpSp>
          <p:sp>
            <p:nvSpPr>
              <p:cNvPr id="284" name="TextBox 284"/>
              <p:cNvSpPr txBox="1"/>
              <p:nvPr/>
            </p:nvSpPr>
            <p:spPr>
              <a:xfrm>
                <a:off x="10606088" y="4137184"/>
                <a:ext cx="607827"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预计新增AUM​</a:t>
                </a:r>
              </a:p>
            </p:txBody>
          </p:sp>
          <p:sp>
            <p:nvSpPr>
              <p:cNvPr id="285" name="TextBox 285"/>
              <p:cNvSpPr txBox="1"/>
              <p:nvPr/>
            </p:nvSpPr>
            <p:spPr>
              <a:xfrm>
                <a:off x="10603992" y="4292918"/>
                <a:ext cx="770701" cy="264033"/>
              </a:xfrm>
              <a:prstGeom prst="rect">
                <a:avLst/>
              </a:prstGeom>
              <a:noFill/>
              <a:ln>
                <a:noFill/>
              </a:ln>
            </p:spPr>
            <p:txBody>
              <a:bodyPr wrap="none" lIns="0" tIns="0" rIns="0" bIns="0" anchor="t" anchorCtr="0">
                <a:spAutoFit/>
              </a:bodyPr>
              <a:lstStyle/>
              <a:p>
                <a:pPr algn="l"/>
                <a:r>
                  <a:rPr lang="zh-CN" sz="1350" b="1" dirty="0">
                    <a:solidFill>
                      <a:srgbClr val="5B180B"/>
                    </a:solidFill>
                    <a:latin typeface="+mn-lt"/>
                    <a:ea typeface="+mn-ea"/>
                    <a:cs typeface="+mn-cs"/>
                  </a:rPr>
                  <a:t>28.6</a:t>
                </a:r>
                <a:r>
                  <a:rPr lang="zh-CN" sz="750" dirty="0">
                    <a:solidFill>
                      <a:srgbClr val="5F6F6A"/>
                    </a:solidFill>
                    <a:latin typeface="+mn-lt"/>
                    <a:ea typeface="+mn-ea"/>
                    <a:cs typeface="+mn-cs"/>
                  </a:rPr>
                  <a:t xml:space="preserve"> 亿元</a:t>
                </a:r>
                <a:r>
                  <a:rPr lang="zh-CN" sz="1350" b="1" dirty="0">
                    <a:solidFill>
                      <a:srgbClr val="5B180B"/>
                    </a:solidFill>
                    <a:latin typeface="+mn-lt"/>
                    <a:ea typeface="+mn-ea"/>
                    <a:cs typeface="+mn-cs"/>
                  </a:rPr>
                  <a:t>​</a:t>
                </a:r>
              </a:p>
            </p:txBody>
          </p:sp>
          <p:sp>
            <p:nvSpPr>
              <p:cNvPr id="286" name="Rectangle 286"/>
              <p:cNvSpPr/>
              <p:nvPr/>
            </p:nvSpPr>
            <p:spPr>
              <a:xfrm>
                <a:off x="10248900" y="4610100"/>
                <a:ext cx="1600200" cy="495300"/>
              </a:xfrm>
              <a:prstGeom prst="roundRect">
                <a:avLst>
                  <a:gd name="adj" fmla="val 11538"/>
                </a:avLst>
              </a:prstGeom>
              <a:solidFill>
                <a:srgbClr val="E9F4F0"/>
              </a:solidFill>
              <a:ln>
                <a:noFill/>
              </a:ln>
            </p:spPr>
          </p:sp>
          <p:grpSp>
            <p:nvGrpSpPr>
              <p:cNvPr id="291" name="Group 291"/>
              <p:cNvGrpSpPr/>
              <p:nvPr/>
            </p:nvGrpSpPr>
            <p:grpSpPr>
              <a:xfrm>
                <a:off x="10367962" y="4794250"/>
                <a:ext cx="142875" cy="136525"/>
                <a:chOff x="10367962" y="4794250"/>
                <a:chExt cx="142875" cy="136525"/>
              </a:xfrm>
            </p:grpSpPr>
            <p:sp>
              <p:nvSpPr>
                <p:cNvPr id="287" name="Freeform 287"/>
                <p:cNvSpPr/>
                <p:nvPr/>
              </p:nvSpPr>
              <p:spPr>
                <a:xfrm>
                  <a:off x="10367962" y="48577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5B180B"/>
                  </a:solidFill>
                </a:ln>
              </p:spPr>
            </p:sp>
            <p:sp>
              <p:nvSpPr>
                <p:cNvPr id="288" name="Freeform 288"/>
                <p:cNvSpPr/>
                <p:nvPr/>
              </p:nvSpPr>
              <p:spPr>
                <a:xfrm>
                  <a:off x="10463212" y="48260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5B180B"/>
                  </a:solidFill>
                </a:ln>
              </p:spPr>
            </p:sp>
            <p:sp>
              <p:nvSpPr>
                <p:cNvPr id="289" name="Freeform 289"/>
                <p:cNvSpPr/>
                <p:nvPr/>
              </p:nvSpPr>
              <p:spPr>
                <a:xfrm>
                  <a:off x="10415587" y="47942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5B180B"/>
                  </a:solidFill>
                </a:ln>
              </p:spPr>
            </p:sp>
            <p:sp>
              <p:nvSpPr>
                <p:cNvPr id="290" name="Freeform 290"/>
                <p:cNvSpPr/>
                <p:nvPr/>
              </p:nvSpPr>
              <p:spPr>
                <a:xfrm>
                  <a:off x="10375900" y="4921250"/>
                  <a:ext cx="111125" cy="9525"/>
                </a:xfrm>
                <a:custGeom>
                  <a:avLst/>
                  <a:gdLst/>
                  <a:ahLst/>
                  <a:cxnLst/>
                  <a:rect l="l" t="t" r="r" b="b"/>
                  <a:pathLst>
                    <a:path w="111125" h="9525">
                      <a:moveTo>
                        <a:pt x="0" y="0"/>
                      </a:moveTo>
                      <a:lnTo>
                        <a:pt x="111125" y="0"/>
                      </a:lnTo>
                    </a:path>
                  </a:pathLst>
                </a:custGeom>
                <a:noFill/>
                <a:ln w="15875">
                  <a:solidFill>
                    <a:srgbClr val="5B180B"/>
                  </a:solidFill>
                </a:ln>
              </p:spPr>
            </p:sp>
          </p:grpSp>
          <p:sp>
            <p:nvSpPr>
              <p:cNvPr id="292" name="TextBox 292"/>
              <p:cNvSpPr txBox="1"/>
              <p:nvPr/>
            </p:nvSpPr>
            <p:spPr>
              <a:xfrm>
                <a:off x="10606088" y="4708684"/>
                <a:ext cx="883747"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预计新增手续费收入​</a:t>
                </a:r>
              </a:p>
            </p:txBody>
          </p:sp>
          <p:sp>
            <p:nvSpPr>
              <p:cNvPr id="293" name="TextBox 293"/>
              <p:cNvSpPr txBox="1"/>
              <p:nvPr/>
            </p:nvSpPr>
            <p:spPr>
              <a:xfrm>
                <a:off x="10603992" y="4864418"/>
                <a:ext cx="875654" cy="264033"/>
              </a:xfrm>
              <a:prstGeom prst="rect">
                <a:avLst/>
              </a:prstGeom>
              <a:noFill/>
              <a:ln>
                <a:noFill/>
              </a:ln>
            </p:spPr>
            <p:txBody>
              <a:bodyPr wrap="none" lIns="0" tIns="0" rIns="0" bIns="0" anchor="t" anchorCtr="0">
                <a:spAutoFit/>
              </a:bodyPr>
              <a:lstStyle/>
              <a:p>
                <a:pPr algn="l"/>
                <a:r>
                  <a:rPr lang="zh-CN" sz="1350" b="1" dirty="0">
                    <a:solidFill>
                      <a:srgbClr val="5B180B"/>
                    </a:solidFill>
                    <a:latin typeface="+mn-lt"/>
                    <a:ea typeface="+mn-ea"/>
                    <a:cs typeface="+mn-cs"/>
                  </a:rPr>
                  <a:t>1,980</a:t>
                </a:r>
                <a:r>
                  <a:rPr lang="zh-CN" sz="750" dirty="0">
                    <a:solidFill>
                      <a:srgbClr val="5F6F6A"/>
                    </a:solidFill>
                    <a:latin typeface="+mn-lt"/>
                    <a:ea typeface="+mn-ea"/>
                    <a:cs typeface="+mn-cs"/>
                  </a:rPr>
                  <a:t xml:space="preserve"> 万元</a:t>
                </a:r>
                <a:r>
                  <a:rPr lang="zh-CN" sz="1350" b="1" dirty="0">
                    <a:solidFill>
                      <a:srgbClr val="5B180B"/>
                    </a:solidFill>
                    <a:latin typeface="+mn-lt"/>
                    <a:ea typeface="+mn-ea"/>
                    <a:cs typeface="+mn-cs"/>
                  </a:rPr>
                  <a:t>​</a:t>
                </a:r>
              </a:p>
            </p:txBody>
          </p:sp>
          <p:sp>
            <p:nvSpPr>
              <p:cNvPr id="294" name="Rectangle 294"/>
              <p:cNvSpPr/>
              <p:nvPr/>
            </p:nvSpPr>
            <p:spPr>
              <a:xfrm>
                <a:off x="10248900" y="5181600"/>
                <a:ext cx="1600200" cy="495300"/>
              </a:xfrm>
              <a:prstGeom prst="roundRect">
                <a:avLst>
                  <a:gd name="adj" fmla="val 11538"/>
                </a:avLst>
              </a:prstGeom>
              <a:solidFill>
                <a:srgbClr val="E9F4F0"/>
              </a:solidFill>
              <a:ln>
                <a:noFill/>
              </a:ln>
            </p:spPr>
          </p:sp>
          <p:grpSp>
            <p:nvGrpSpPr>
              <p:cNvPr id="297" name="Group 297"/>
              <p:cNvGrpSpPr/>
              <p:nvPr/>
            </p:nvGrpSpPr>
            <p:grpSpPr>
              <a:xfrm>
                <a:off x="10375900" y="5365750"/>
                <a:ext cx="127000" cy="127000"/>
                <a:chOff x="10375900" y="5365750"/>
                <a:chExt cx="127000" cy="127000"/>
              </a:xfrm>
            </p:grpSpPr>
            <p:sp>
              <p:nvSpPr>
                <p:cNvPr id="295" name="Freeform 295"/>
                <p:cNvSpPr/>
                <p:nvPr/>
              </p:nvSpPr>
              <p:spPr>
                <a:xfrm>
                  <a:off x="10375900" y="5365750"/>
                  <a:ext cx="119062" cy="127000"/>
                </a:xfrm>
                <a:custGeom>
                  <a:avLst/>
                  <a:gdLst/>
                  <a:ahLst/>
                  <a:cxnLst/>
                  <a:rect l="l" t="t" r="r" b="b"/>
                  <a:pathLst>
                    <a:path w="119062" h="127000">
                      <a:moveTo>
                        <a:pt x="103187" y="31750"/>
                      </a:moveTo>
                      <a:lnTo>
                        <a:pt x="103187" y="7937"/>
                      </a:lnTo>
                      <a:cubicBezTo>
                        <a:pt x="103187" y="3554"/>
                        <a:pt x="99634" y="0"/>
                        <a:pt x="95250" y="0"/>
                      </a:cubicBezTo>
                      <a:lnTo>
                        <a:pt x="15875" y="0"/>
                      </a:lnTo>
                      <a:cubicBezTo>
                        <a:pt x="7107" y="0"/>
                        <a:pt x="0" y="7107"/>
                        <a:pt x="0" y="15875"/>
                      </a:cubicBezTo>
                      <a:cubicBezTo>
                        <a:pt x="0" y="24643"/>
                        <a:pt x="7107" y="31750"/>
                        <a:pt x="15875" y="31750"/>
                      </a:cubicBezTo>
                      <a:lnTo>
                        <a:pt x="111125" y="31750"/>
                      </a:lnTo>
                      <a:cubicBezTo>
                        <a:pt x="115509" y="31750"/>
                        <a:pt x="119062" y="35304"/>
                        <a:pt x="119062" y="39687"/>
                      </a:cubicBezTo>
                      <a:lnTo>
                        <a:pt x="119062" y="63500"/>
                      </a:lnTo>
                      <a:moveTo>
                        <a:pt x="119062" y="95250"/>
                      </a:moveTo>
                      <a:lnTo>
                        <a:pt x="119062" y="119062"/>
                      </a:lnTo>
                      <a:cubicBezTo>
                        <a:pt x="119062" y="123446"/>
                        <a:pt x="115509" y="127000"/>
                        <a:pt x="111125" y="127000"/>
                      </a:cubicBezTo>
                      <a:lnTo>
                        <a:pt x="15875" y="127000"/>
                      </a:lnTo>
                      <a:cubicBezTo>
                        <a:pt x="7107" y="127000"/>
                        <a:pt x="0" y="119892"/>
                        <a:pt x="0" y="111125"/>
                      </a:cubicBezTo>
                      <a:lnTo>
                        <a:pt x="0" y="15875"/>
                      </a:lnTo>
                    </a:path>
                  </a:pathLst>
                </a:custGeom>
                <a:noFill/>
                <a:ln w="15875">
                  <a:solidFill>
                    <a:srgbClr val="5B180B"/>
                  </a:solidFill>
                </a:ln>
              </p:spPr>
            </p:sp>
            <p:sp>
              <p:nvSpPr>
                <p:cNvPr id="296" name="Freeform 296"/>
                <p:cNvSpPr/>
                <p:nvPr/>
              </p:nvSpPr>
              <p:spPr>
                <a:xfrm>
                  <a:off x="10455275" y="5429250"/>
                  <a:ext cx="47625" cy="31750"/>
                </a:xfrm>
                <a:custGeom>
                  <a:avLst/>
                  <a:gdLst/>
                  <a:ahLst/>
                  <a:cxnLst/>
                  <a:rect l="l" t="t" r="r" b="b"/>
                  <a:pathLst>
                    <a:path w="47625" h="31750">
                      <a:moveTo>
                        <a:pt x="47625" y="0"/>
                      </a:moveTo>
                      <a:lnTo>
                        <a:pt x="47625" y="31750"/>
                      </a:lnTo>
                      <a:lnTo>
                        <a:pt x="15875" y="31750"/>
                      </a:lnTo>
                      <a:cubicBezTo>
                        <a:pt x="7107" y="31750"/>
                        <a:pt x="0" y="24643"/>
                        <a:pt x="0" y="15875"/>
                      </a:cubicBezTo>
                      <a:cubicBezTo>
                        <a:pt x="0" y="7107"/>
                        <a:pt x="7107" y="0"/>
                        <a:pt x="15875" y="0"/>
                      </a:cubicBezTo>
                      <a:lnTo>
                        <a:pt x="47625" y="0"/>
                      </a:lnTo>
                    </a:path>
                  </a:pathLst>
                </a:custGeom>
                <a:noFill/>
                <a:ln w="15875">
                  <a:solidFill>
                    <a:srgbClr val="5B180B"/>
                  </a:solidFill>
                </a:ln>
              </p:spPr>
            </p:sp>
          </p:grpSp>
          <p:sp>
            <p:nvSpPr>
              <p:cNvPr id="298" name="TextBox 298"/>
              <p:cNvSpPr txBox="1"/>
              <p:nvPr/>
            </p:nvSpPr>
            <p:spPr>
              <a:xfrm>
                <a:off x="10606088" y="5280184"/>
                <a:ext cx="792206"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预计新增利息收入​</a:t>
                </a:r>
              </a:p>
            </p:txBody>
          </p:sp>
          <p:sp>
            <p:nvSpPr>
              <p:cNvPr id="299" name="TextBox 299"/>
              <p:cNvSpPr txBox="1"/>
              <p:nvPr/>
            </p:nvSpPr>
            <p:spPr>
              <a:xfrm>
                <a:off x="10603992" y="5435918"/>
                <a:ext cx="875654" cy="264033"/>
              </a:xfrm>
              <a:prstGeom prst="rect">
                <a:avLst/>
              </a:prstGeom>
              <a:noFill/>
              <a:ln>
                <a:noFill/>
              </a:ln>
            </p:spPr>
            <p:txBody>
              <a:bodyPr wrap="none" lIns="0" tIns="0" rIns="0" bIns="0" anchor="t" anchorCtr="0">
                <a:spAutoFit/>
              </a:bodyPr>
              <a:lstStyle/>
              <a:p>
                <a:pPr algn="l"/>
                <a:r>
                  <a:rPr lang="zh-CN" sz="1350" b="1" dirty="0">
                    <a:solidFill>
                      <a:srgbClr val="5B180B"/>
                    </a:solidFill>
                    <a:latin typeface="+mn-lt"/>
                    <a:ea typeface="+mn-ea"/>
                    <a:cs typeface="+mn-cs"/>
                  </a:rPr>
                  <a:t>2,350</a:t>
                </a:r>
                <a:r>
                  <a:rPr lang="zh-CN" sz="750" dirty="0">
                    <a:solidFill>
                      <a:srgbClr val="5F6F6A"/>
                    </a:solidFill>
                    <a:latin typeface="+mn-lt"/>
                    <a:ea typeface="+mn-ea"/>
                    <a:cs typeface="+mn-cs"/>
                  </a:rPr>
                  <a:t xml:space="preserve"> 万元</a:t>
                </a:r>
                <a:r>
                  <a:rPr lang="zh-CN" sz="1350" b="1" dirty="0">
                    <a:solidFill>
                      <a:srgbClr val="5B180B"/>
                    </a:solidFill>
                    <a:latin typeface="+mn-lt"/>
                    <a:ea typeface="+mn-ea"/>
                    <a:cs typeface="+mn-cs"/>
                  </a:rPr>
                  <a:t>​</a:t>
                </a:r>
              </a:p>
            </p:txBody>
          </p:sp>
          <p:sp>
            <p:nvSpPr>
              <p:cNvPr id="300" name="Rectangle 300"/>
              <p:cNvSpPr/>
              <p:nvPr/>
            </p:nvSpPr>
            <p:spPr>
              <a:xfrm>
                <a:off x="10248900" y="5753100"/>
                <a:ext cx="1600200" cy="495300"/>
              </a:xfrm>
              <a:prstGeom prst="roundRect">
                <a:avLst>
                  <a:gd name="adj" fmla="val 11538"/>
                </a:avLst>
              </a:prstGeom>
              <a:solidFill>
                <a:srgbClr val="5B180B"/>
              </a:solidFill>
              <a:ln>
                <a:noFill/>
              </a:ln>
            </p:spPr>
          </p:sp>
          <p:grpSp>
            <p:nvGrpSpPr>
              <p:cNvPr id="303" name="Group 303"/>
              <p:cNvGrpSpPr/>
              <p:nvPr/>
            </p:nvGrpSpPr>
            <p:grpSpPr>
              <a:xfrm>
                <a:off x="10367962" y="5961062"/>
                <a:ext cx="142875" cy="79375"/>
                <a:chOff x="10367962" y="5961062"/>
                <a:chExt cx="142875" cy="79375"/>
              </a:xfrm>
            </p:grpSpPr>
            <p:sp>
              <p:nvSpPr>
                <p:cNvPr id="301" name="Freeform 301"/>
                <p:cNvSpPr/>
                <p:nvPr/>
              </p:nvSpPr>
              <p:spPr>
                <a:xfrm>
                  <a:off x="10367962" y="596106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302" name="Freeform 302"/>
                <p:cNvSpPr/>
                <p:nvPr/>
              </p:nvSpPr>
              <p:spPr>
                <a:xfrm>
                  <a:off x="10455275" y="5961062"/>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304" name="TextBox 304"/>
              <p:cNvSpPr txBox="1"/>
              <p:nvPr/>
            </p:nvSpPr>
            <p:spPr>
              <a:xfrm>
                <a:off x="10606088" y="5851684"/>
                <a:ext cx="609122" cy="133350"/>
              </a:xfrm>
              <a:prstGeom prst="rect">
                <a:avLst/>
              </a:prstGeom>
              <a:noFill/>
              <a:ln>
                <a:noFill/>
              </a:ln>
            </p:spPr>
            <p:txBody>
              <a:bodyPr wrap="none" lIns="0" tIns="0" rIns="0" bIns="0" anchor="t" anchorCtr="0">
                <a:spAutoFit/>
              </a:bodyPr>
              <a:lstStyle/>
              <a:p>
                <a:pPr algn="l"/>
                <a:r>
                  <a:rPr lang="zh-CN" sz="680" dirty="0">
                    <a:solidFill>
                      <a:srgbClr val="BFDDD6"/>
                    </a:solidFill>
                    <a:latin typeface="+mn-lt"/>
                    <a:ea typeface="+mn-ea"/>
                    <a:cs typeface="+mn-cs"/>
                  </a:rPr>
                  <a:t>预计新增利润​</a:t>
                </a:r>
              </a:p>
            </p:txBody>
          </p:sp>
          <p:sp>
            <p:nvSpPr>
              <p:cNvPr id="305" name="TextBox 305"/>
              <p:cNvSpPr txBox="1"/>
              <p:nvPr/>
            </p:nvSpPr>
            <p:spPr>
              <a:xfrm>
                <a:off x="10603992" y="6007418"/>
                <a:ext cx="87565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4,330</a:t>
                </a:r>
                <a:r>
                  <a:rPr lang="zh-CN" sz="750" dirty="0">
                    <a:solidFill>
                      <a:srgbClr val="BFDDD6"/>
                    </a:solidFill>
                    <a:latin typeface="+mn-lt"/>
                    <a:ea typeface="+mn-ea"/>
                    <a:cs typeface="+mn-cs"/>
                  </a:rPr>
                  <a:t xml:space="preserve"> 万元</a:t>
                </a:r>
                <a:r>
                  <a:rPr lang="zh-CN" sz="1350" b="1" dirty="0">
                    <a:solidFill>
                      <a:srgbClr val="FFFFFF"/>
                    </a:solidFill>
                    <a:latin typeface="+mn-lt"/>
                    <a:ea typeface="+mn-ea"/>
                    <a:cs typeface="+mn-cs"/>
                  </a:rPr>
                  <a:t>​</a:t>
                </a:r>
              </a:p>
            </p:txBody>
          </p:sp>
        </p:grpSp>
        <p:sp>
          <p:nvSpPr>
            <p:cNvPr id="307" name="TextBox 307"/>
            <p:cNvSpPr txBox="1"/>
            <p:nvPr/>
          </p:nvSpPr>
          <p:spPr>
            <a:xfrm>
              <a:off x="10244138" y="6397228"/>
              <a:ext cx="1147445" cy="207169"/>
            </a:xfrm>
            <a:prstGeom prst="rect">
              <a:avLst/>
            </a:prstGeom>
            <a:noFill/>
            <a:ln>
              <a:noFill/>
            </a:ln>
          </p:spPr>
          <p:txBody>
            <a:bodyPr wrap="none" lIns="0" tIns="0" rIns="0" bIns="0" anchor="t" anchorCtr="0">
              <a:spAutoFit/>
            </a:bodyPr>
            <a:lstStyle/>
            <a:p>
              <a:pPr algn="l">
                <a:lnSpc>
                  <a:spcPts val="750"/>
                </a:lnSpc>
              </a:pPr>
              <a:r>
                <a:rPr lang="zh-CN" sz="560" dirty="0">
                  <a:solidFill>
                    <a:srgbClr val="8AA39C"/>
                  </a:solidFill>
                  <a:latin typeface="+mn-lt"/>
                  <a:ea typeface="+mn-ea"/>
                  <a:cs typeface="+mn-cs"/>
                </a:rPr>
                <a:t>注：基于历史转化率及产品结构测算</a:t>
              </a:r>
              <a:br/>
              <a:r>
                <a:rPr lang="zh-CN" sz="560" dirty="0">
                  <a:solidFill>
                    <a:srgbClr val="8AA39C"/>
                  </a:solidFill>
                  <a:latin typeface="+mn-lt"/>
                  <a:ea typeface="+mn-ea"/>
                  <a:cs typeface="+mn-cs"/>
                </a:rPr>
                <a:t>实际以执行情况为准</a:t>
              </a:r>
            </a:p>
          </p:txBody>
        </p:sp>
      </p:gr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7764163" cy="542925"/>
            <a:chOff x="0" y="0"/>
            <a:chExt cx="7764163"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05​</a:t>
              </a:r>
            </a:p>
          </p:txBody>
        </p:sp>
        <p:sp>
          <p:nvSpPr>
            <p:cNvPr id="4" name="TextBox 4"/>
            <p:cNvSpPr txBox="1"/>
            <p:nvPr/>
          </p:nvSpPr>
          <p:spPr>
            <a:xfrm>
              <a:off x="942594" y="151448"/>
              <a:ext cx="682156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客户分层</a:t>
              </a:r>
              <a:r>
                <a:rPr lang="zh-CN" sz="1950" b="1" dirty="0">
                  <a:solidFill>
                    <a:srgbClr val="5B180B"/>
                  </a:solidFill>
                  <a:latin typeface="+mj-lt"/>
                  <a:ea typeface="+mj-ea"/>
                  <a:cs typeface="+mj-cs"/>
                </a:rPr>
                <a:t xml:space="preserve"> | 五类客群采用不同主产品、触点和转化路径</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216" name="segment-table"/>
          <p:cNvGrpSpPr/>
          <p:nvPr/>
        </p:nvGrpSpPr>
        <p:grpSpPr>
          <a:xfrm>
            <a:off x="228600" y="666750"/>
            <a:ext cx="11734800" cy="3790950"/>
            <a:chOff x="228600" y="666750"/>
            <a:chExt cx="11734800" cy="3790950"/>
          </a:xfrm>
        </p:grpSpPr>
        <p:sp>
          <p:nvSpPr>
            <p:cNvPr id="7" name="Rectangle 7"/>
            <p:cNvSpPr/>
            <p:nvPr/>
          </p:nvSpPr>
          <p:spPr>
            <a:xfrm>
              <a:off x="228600" y="666750"/>
              <a:ext cx="11734800" cy="3790950"/>
            </a:xfrm>
            <a:prstGeom prst="roundRect">
              <a:avLst>
                <a:gd name="adj" fmla="val 2010"/>
              </a:avLst>
            </a:prstGeom>
            <a:solidFill>
              <a:srgbClr val="FFFFFF"/>
            </a:solidFill>
            <a:ln w="9525">
              <a:solidFill>
                <a:srgbClr val="D9E8E2"/>
              </a:solidFill>
            </a:ln>
          </p:spPr>
        </p:sp>
        <p:grpSp>
          <p:nvGrpSpPr>
            <p:cNvPr id="22" name="seg-head"/>
            <p:cNvGrpSpPr/>
            <p:nvPr/>
          </p:nvGrpSpPr>
          <p:grpSpPr>
            <a:xfrm>
              <a:off x="285750" y="704850"/>
              <a:ext cx="11620500" cy="381000"/>
              <a:chOff x="285750" y="704850"/>
              <a:chExt cx="11620500" cy="381000"/>
            </a:xfrm>
          </p:grpSpPr>
          <p:sp>
            <p:nvSpPr>
              <p:cNvPr id="8" name="Rectangle 8"/>
              <p:cNvSpPr/>
              <p:nvPr/>
            </p:nvSpPr>
            <p:spPr>
              <a:xfrm>
                <a:off x="285750" y="704850"/>
                <a:ext cx="11620500" cy="381000"/>
              </a:xfrm>
              <a:prstGeom prst="rect">
                <a:avLst/>
              </a:prstGeom>
              <a:solidFill>
                <a:srgbClr val="5B180B"/>
              </a:solidFill>
              <a:ln>
                <a:noFill/>
              </a:ln>
            </p:spPr>
          </p:sp>
          <p:sp>
            <p:nvSpPr>
              <p:cNvPr id="9" name="TextBox 9"/>
              <p:cNvSpPr txBox="1"/>
              <p:nvPr/>
            </p:nvSpPr>
            <p:spPr>
              <a:xfrm>
                <a:off x="614974" y="844391"/>
                <a:ext cx="29405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客群​</a:t>
                </a:r>
              </a:p>
            </p:txBody>
          </p:sp>
          <p:sp>
            <p:nvSpPr>
              <p:cNvPr id="10" name="TextBox 10"/>
              <p:cNvSpPr txBox="1"/>
              <p:nvPr/>
            </p:nvSpPr>
            <p:spPr>
              <a:xfrm>
                <a:off x="2057161" y="787241"/>
                <a:ext cx="514828"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客群特征​</a:t>
                </a:r>
              </a:p>
            </p:txBody>
          </p:sp>
          <p:sp>
            <p:nvSpPr>
              <p:cNvPr id="11" name="TextBox 11"/>
              <p:cNvSpPr txBox="1"/>
              <p:nvPr/>
            </p:nvSpPr>
            <p:spPr>
              <a:xfrm>
                <a:off x="1868124" y="936784"/>
                <a:ext cx="89290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（规模/价值/行为）​</a:t>
                </a:r>
              </a:p>
            </p:txBody>
          </p:sp>
          <p:sp>
            <p:nvSpPr>
              <p:cNvPr id="12" name="TextBox 12"/>
              <p:cNvSpPr txBox="1"/>
              <p:nvPr/>
            </p:nvSpPr>
            <p:spPr>
              <a:xfrm>
                <a:off x="3762136" y="844391"/>
                <a:ext cx="514828"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关键需求​</a:t>
                </a:r>
              </a:p>
            </p:txBody>
          </p:sp>
          <p:sp>
            <p:nvSpPr>
              <p:cNvPr id="13" name="TextBox 13"/>
              <p:cNvSpPr txBox="1"/>
              <p:nvPr/>
            </p:nvSpPr>
            <p:spPr>
              <a:xfrm>
                <a:off x="4990861" y="844391"/>
                <a:ext cx="514828"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主推产品​</a:t>
                </a:r>
              </a:p>
            </p:txBody>
          </p:sp>
          <p:sp>
            <p:nvSpPr>
              <p:cNvPr id="14" name="TextBox 14"/>
              <p:cNvSpPr txBox="1"/>
              <p:nvPr/>
            </p:nvSpPr>
            <p:spPr>
              <a:xfrm>
                <a:off x="6238636" y="844391"/>
                <a:ext cx="514828"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交叉销售​</a:t>
                </a:r>
              </a:p>
            </p:txBody>
          </p:sp>
          <p:sp>
            <p:nvSpPr>
              <p:cNvPr id="15" name="TextBox 15"/>
              <p:cNvSpPr txBox="1"/>
              <p:nvPr/>
            </p:nvSpPr>
            <p:spPr>
              <a:xfrm>
                <a:off x="7638811" y="844391"/>
                <a:ext cx="514828"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核心触点​</a:t>
                </a:r>
              </a:p>
            </p:txBody>
          </p:sp>
          <p:sp>
            <p:nvSpPr>
              <p:cNvPr id="16" name="TextBox 16"/>
              <p:cNvSpPr txBox="1"/>
              <p:nvPr/>
            </p:nvSpPr>
            <p:spPr>
              <a:xfrm>
                <a:off x="9153286" y="787241"/>
                <a:ext cx="514828"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转化事件​</a:t>
                </a:r>
              </a:p>
            </p:txBody>
          </p:sp>
          <p:sp>
            <p:nvSpPr>
              <p:cNvPr id="17" name="TextBox 17"/>
              <p:cNvSpPr txBox="1"/>
              <p:nvPr/>
            </p:nvSpPr>
            <p:spPr>
              <a:xfrm>
                <a:off x="9106139" y="936784"/>
                <a:ext cx="609122"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（关键动作）​</a:t>
                </a:r>
              </a:p>
            </p:txBody>
          </p:sp>
          <p:sp>
            <p:nvSpPr>
              <p:cNvPr id="18" name="TextBox 18"/>
              <p:cNvSpPr txBox="1"/>
              <p:nvPr/>
            </p:nvSpPr>
            <p:spPr>
              <a:xfrm>
                <a:off x="10250617" y="787241"/>
                <a:ext cx="62521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目标转化率​</a:t>
                </a:r>
              </a:p>
            </p:txBody>
          </p:sp>
          <p:sp>
            <p:nvSpPr>
              <p:cNvPr id="19" name="TextBox 19"/>
              <p:cNvSpPr txBox="1"/>
              <p:nvPr/>
            </p:nvSpPr>
            <p:spPr>
              <a:xfrm>
                <a:off x="10378877" y="936784"/>
                <a:ext cx="368696"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（Q4）​</a:t>
                </a:r>
              </a:p>
            </p:txBody>
          </p:sp>
          <p:sp>
            <p:nvSpPr>
              <p:cNvPr id="20" name="TextBox 20"/>
              <p:cNvSpPr txBox="1"/>
              <p:nvPr/>
            </p:nvSpPr>
            <p:spPr>
              <a:xfrm>
                <a:off x="11227780" y="787241"/>
                <a:ext cx="40444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优先级​</a:t>
                </a:r>
              </a:p>
            </p:txBody>
          </p:sp>
          <p:sp>
            <p:nvSpPr>
              <p:cNvPr id="21" name="TextBox 21"/>
              <p:cNvSpPr txBox="1"/>
              <p:nvPr/>
            </p:nvSpPr>
            <p:spPr>
              <a:xfrm>
                <a:off x="11282974" y="920591"/>
                <a:ext cx="29405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得分​</a:t>
                </a:r>
              </a:p>
            </p:txBody>
          </p:sp>
        </p:grpSp>
        <p:grpSp>
          <p:nvGrpSpPr>
            <p:cNvPr id="38" name="seg-grid"/>
            <p:cNvGrpSpPr/>
            <p:nvPr/>
          </p:nvGrpSpPr>
          <p:grpSpPr>
            <a:xfrm>
              <a:off x="285750" y="1085850"/>
              <a:ext cx="11620500" cy="3343275"/>
              <a:chOff x="285750" y="1085850"/>
              <a:chExt cx="11620500" cy="3343275"/>
            </a:xfrm>
          </p:grpSpPr>
          <p:sp>
            <p:nvSpPr>
              <p:cNvPr id="23" name="Rectangle 23"/>
              <p:cNvSpPr/>
              <p:nvPr/>
            </p:nvSpPr>
            <p:spPr>
              <a:xfrm>
                <a:off x="285750" y="1752600"/>
                <a:ext cx="11620500" cy="666750"/>
              </a:xfrm>
              <a:prstGeom prst="rect">
                <a:avLst/>
              </a:prstGeom>
              <a:solidFill>
                <a:srgbClr val="F5FAF8"/>
              </a:solidFill>
              <a:ln>
                <a:noFill/>
              </a:ln>
            </p:spPr>
          </p:sp>
          <p:sp>
            <p:nvSpPr>
              <p:cNvPr id="24" name="Rectangle 24"/>
              <p:cNvSpPr/>
              <p:nvPr/>
            </p:nvSpPr>
            <p:spPr>
              <a:xfrm>
                <a:off x="285750" y="3086100"/>
                <a:ext cx="11620500" cy="666750"/>
              </a:xfrm>
              <a:prstGeom prst="rect">
                <a:avLst/>
              </a:prstGeom>
              <a:solidFill>
                <a:srgbClr val="F5FAF8"/>
              </a:solidFill>
              <a:ln>
                <a:noFill/>
              </a:ln>
            </p:spPr>
          </p:sp>
          <p:sp>
            <p:nvSpPr>
              <p:cNvPr id="25" name="Line 25"/>
              <p:cNvSpPr/>
              <p:nvPr/>
            </p:nvSpPr>
            <p:spPr>
              <a:xfrm>
                <a:off x="285750" y="1752600"/>
                <a:ext cx="11620500" cy="9525"/>
              </a:xfrm>
              <a:custGeom>
                <a:avLst/>
                <a:gdLst/>
                <a:ahLst/>
                <a:cxnLst/>
                <a:rect l="l" t="t" r="r" b="b"/>
                <a:pathLst>
                  <a:path w="11620500" h="9525">
                    <a:moveTo>
                      <a:pt x="0" y="0"/>
                    </a:moveTo>
                    <a:lnTo>
                      <a:pt x="11620500" y="0"/>
                    </a:lnTo>
                  </a:path>
                </a:pathLst>
              </a:custGeom>
              <a:noFill/>
              <a:ln w="7620">
                <a:solidFill>
                  <a:srgbClr val="D9E8E2"/>
                </a:solidFill>
              </a:ln>
            </p:spPr>
          </p:sp>
          <p:sp>
            <p:nvSpPr>
              <p:cNvPr id="26" name="Line 26"/>
              <p:cNvSpPr/>
              <p:nvPr/>
            </p:nvSpPr>
            <p:spPr>
              <a:xfrm>
                <a:off x="285750" y="2419350"/>
                <a:ext cx="11620500" cy="9525"/>
              </a:xfrm>
              <a:custGeom>
                <a:avLst/>
                <a:gdLst/>
                <a:ahLst/>
                <a:cxnLst/>
                <a:rect l="l" t="t" r="r" b="b"/>
                <a:pathLst>
                  <a:path w="11620500" h="9525">
                    <a:moveTo>
                      <a:pt x="0" y="0"/>
                    </a:moveTo>
                    <a:lnTo>
                      <a:pt x="11620500" y="0"/>
                    </a:lnTo>
                  </a:path>
                </a:pathLst>
              </a:custGeom>
              <a:noFill/>
              <a:ln w="7620">
                <a:solidFill>
                  <a:srgbClr val="D9E8E2"/>
                </a:solidFill>
              </a:ln>
            </p:spPr>
          </p:sp>
          <p:sp>
            <p:nvSpPr>
              <p:cNvPr id="27" name="Line 27"/>
              <p:cNvSpPr/>
              <p:nvPr/>
            </p:nvSpPr>
            <p:spPr>
              <a:xfrm>
                <a:off x="285750" y="3086100"/>
                <a:ext cx="11620500" cy="9525"/>
              </a:xfrm>
              <a:custGeom>
                <a:avLst/>
                <a:gdLst/>
                <a:ahLst/>
                <a:cxnLst/>
                <a:rect l="l" t="t" r="r" b="b"/>
                <a:pathLst>
                  <a:path w="11620500" h="9525">
                    <a:moveTo>
                      <a:pt x="0" y="0"/>
                    </a:moveTo>
                    <a:lnTo>
                      <a:pt x="11620500" y="0"/>
                    </a:lnTo>
                  </a:path>
                </a:pathLst>
              </a:custGeom>
              <a:noFill/>
              <a:ln w="7620">
                <a:solidFill>
                  <a:srgbClr val="D9E8E2"/>
                </a:solidFill>
              </a:ln>
            </p:spPr>
          </p:sp>
          <p:sp>
            <p:nvSpPr>
              <p:cNvPr id="28" name="Line 28"/>
              <p:cNvSpPr/>
              <p:nvPr/>
            </p:nvSpPr>
            <p:spPr>
              <a:xfrm>
                <a:off x="285750" y="3752850"/>
                <a:ext cx="11620500" cy="9525"/>
              </a:xfrm>
              <a:custGeom>
                <a:avLst/>
                <a:gdLst/>
                <a:ahLst/>
                <a:cxnLst/>
                <a:rect l="l" t="t" r="r" b="b"/>
                <a:pathLst>
                  <a:path w="11620500" h="9525">
                    <a:moveTo>
                      <a:pt x="0" y="0"/>
                    </a:moveTo>
                    <a:lnTo>
                      <a:pt x="11620500" y="0"/>
                    </a:lnTo>
                  </a:path>
                </a:pathLst>
              </a:custGeom>
              <a:noFill/>
              <a:ln w="7620">
                <a:solidFill>
                  <a:srgbClr val="D9E8E2"/>
                </a:solidFill>
              </a:ln>
            </p:spPr>
          </p:sp>
          <p:sp>
            <p:nvSpPr>
              <p:cNvPr id="29" name="Line 29"/>
              <p:cNvSpPr/>
              <p:nvPr/>
            </p:nvSpPr>
            <p:spPr>
              <a:xfrm>
                <a:off x="285750" y="4419600"/>
                <a:ext cx="11620500" cy="9525"/>
              </a:xfrm>
              <a:custGeom>
                <a:avLst/>
                <a:gdLst/>
                <a:ahLst/>
                <a:cxnLst/>
                <a:rect l="l" t="t" r="r" b="b"/>
                <a:pathLst>
                  <a:path w="11620500" h="9525">
                    <a:moveTo>
                      <a:pt x="0" y="0"/>
                    </a:moveTo>
                    <a:lnTo>
                      <a:pt x="11620500" y="0"/>
                    </a:lnTo>
                  </a:path>
                </a:pathLst>
              </a:custGeom>
              <a:noFill/>
              <a:ln w="7620">
                <a:solidFill>
                  <a:srgbClr val="D9E8E2"/>
                </a:solidFill>
              </a:ln>
            </p:spPr>
          </p:sp>
          <p:sp>
            <p:nvSpPr>
              <p:cNvPr id="30" name="Line 30"/>
              <p:cNvSpPr/>
              <p:nvPr/>
            </p:nvSpPr>
            <p:spPr>
              <a:xfrm>
                <a:off x="1238250" y="1085850"/>
                <a:ext cx="9525" cy="3333750"/>
              </a:xfrm>
              <a:custGeom>
                <a:avLst/>
                <a:gdLst/>
                <a:ahLst/>
                <a:cxnLst/>
                <a:rect l="l" t="t" r="r" b="b"/>
                <a:pathLst>
                  <a:path w="9525" h="3333750">
                    <a:moveTo>
                      <a:pt x="0" y="0"/>
                    </a:moveTo>
                    <a:lnTo>
                      <a:pt x="0" y="3333750"/>
                    </a:lnTo>
                  </a:path>
                </a:pathLst>
              </a:custGeom>
              <a:noFill/>
              <a:ln w="7620">
                <a:solidFill>
                  <a:srgbClr val="D9E8E2"/>
                </a:solidFill>
              </a:ln>
            </p:spPr>
          </p:sp>
          <p:sp>
            <p:nvSpPr>
              <p:cNvPr id="31" name="Line 31"/>
              <p:cNvSpPr/>
              <p:nvPr/>
            </p:nvSpPr>
            <p:spPr>
              <a:xfrm>
                <a:off x="3390900" y="1085850"/>
                <a:ext cx="9525" cy="3333750"/>
              </a:xfrm>
              <a:custGeom>
                <a:avLst/>
                <a:gdLst/>
                <a:ahLst/>
                <a:cxnLst/>
                <a:rect l="l" t="t" r="r" b="b"/>
                <a:pathLst>
                  <a:path w="9525" h="3333750">
                    <a:moveTo>
                      <a:pt x="0" y="0"/>
                    </a:moveTo>
                    <a:lnTo>
                      <a:pt x="0" y="3333750"/>
                    </a:lnTo>
                  </a:path>
                </a:pathLst>
              </a:custGeom>
              <a:noFill/>
              <a:ln w="7620">
                <a:solidFill>
                  <a:srgbClr val="D9E8E2"/>
                </a:solidFill>
              </a:ln>
            </p:spPr>
          </p:sp>
          <p:sp>
            <p:nvSpPr>
              <p:cNvPr id="32" name="Line 32"/>
              <p:cNvSpPr/>
              <p:nvPr/>
            </p:nvSpPr>
            <p:spPr>
              <a:xfrm>
                <a:off x="4648200" y="1085850"/>
                <a:ext cx="9525" cy="3333750"/>
              </a:xfrm>
              <a:custGeom>
                <a:avLst/>
                <a:gdLst/>
                <a:ahLst/>
                <a:cxnLst/>
                <a:rect l="l" t="t" r="r" b="b"/>
                <a:pathLst>
                  <a:path w="9525" h="3333750">
                    <a:moveTo>
                      <a:pt x="0" y="0"/>
                    </a:moveTo>
                    <a:lnTo>
                      <a:pt x="0" y="3333750"/>
                    </a:lnTo>
                  </a:path>
                </a:pathLst>
              </a:custGeom>
              <a:noFill/>
              <a:ln w="7620">
                <a:solidFill>
                  <a:srgbClr val="D9E8E2"/>
                </a:solidFill>
              </a:ln>
            </p:spPr>
          </p:sp>
          <p:sp>
            <p:nvSpPr>
              <p:cNvPr id="33" name="Line 33"/>
              <p:cNvSpPr/>
              <p:nvPr/>
            </p:nvSpPr>
            <p:spPr>
              <a:xfrm>
                <a:off x="5848350" y="1085850"/>
                <a:ext cx="9525" cy="3333750"/>
              </a:xfrm>
              <a:custGeom>
                <a:avLst/>
                <a:gdLst/>
                <a:ahLst/>
                <a:cxnLst/>
                <a:rect l="l" t="t" r="r" b="b"/>
                <a:pathLst>
                  <a:path w="9525" h="3333750">
                    <a:moveTo>
                      <a:pt x="0" y="0"/>
                    </a:moveTo>
                    <a:lnTo>
                      <a:pt x="0" y="3333750"/>
                    </a:lnTo>
                  </a:path>
                </a:pathLst>
              </a:custGeom>
              <a:noFill/>
              <a:ln w="7620">
                <a:solidFill>
                  <a:srgbClr val="D9E8E2"/>
                </a:solidFill>
              </a:ln>
            </p:spPr>
          </p:sp>
          <p:sp>
            <p:nvSpPr>
              <p:cNvPr id="34" name="Line 34"/>
              <p:cNvSpPr/>
              <p:nvPr/>
            </p:nvSpPr>
            <p:spPr>
              <a:xfrm>
                <a:off x="7143750" y="1085850"/>
                <a:ext cx="9525" cy="3333750"/>
              </a:xfrm>
              <a:custGeom>
                <a:avLst/>
                <a:gdLst/>
                <a:ahLst/>
                <a:cxnLst/>
                <a:rect l="l" t="t" r="r" b="b"/>
                <a:pathLst>
                  <a:path w="9525" h="3333750">
                    <a:moveTo>
                      <a:pt x="0" y="0"/>
                    </a:moveTo>
                    <a:lnTo>
                      <a:pt x="0" y="3333750"/>
                    </a:lnTo>
                  </a:path>
                </a:pathLst>
              </a:custGeom>
              <a:noFill/>
              <a:ln w="7620">
                <a:solidFill>
                  <a:srgbClr val="D9E8E2"/>
                </a:solidFill>
              </a:ln>
            </p:spPr>
          </p:sp>
          <p:sp>
            <p:nvSpPr>
              <p:cNvPr id="35" name="Line 35"/>
              <p:cNvSpPr/>
              <p:nvPr/>
            </p:nvSpPr>
            <p:spPr>
              <a:xfrm>
                <a:off x="8648700" y="1085850"/>
                <a:ext cx="9525" cy="3333750"/>
              </a:xfrm>
              <a:custGeom>
                <a:avLst/>
                <a:gdLst/>
                <a:ahLst/>
                <a:cxnLst/>
                <a:rect l="l" t="t" r="r" b="b"/>
                <a:pathLst>
                  <a:path w="9525" h="3333750">
                    <a:moveTo>
                      <a:pt x="0" y="0"/>
                    </a:moveTo>
                    <a:lnTo>
                      <a:pt x="0" y="3333750"/>
                    </a:lnTo>
                  </a:path>
                </a:pathLst>
              </a:custGeom>
              <a:noFill/>
              <a:ln w="7620">
                <a:solidFill>
                  <a:srgbClr val="D9E8E2"/>
                </a:solidFill>
              </a:ln>
            </p:spPr>
          </p:sp>
          <p:sp>
            <p:nvSpPr>
              <p:cNvPr id="36" name="Line 36"/>
              <p:cNvSpPr/>
              <p:nvPr/>
            </p:nvSpPr>
            <p:spPr>
              <a:xfrm>
                <a:off x="10172700" y="1085850"/>
                <a:ext cx="9525" cy="3333750"/>
              </a:xfrm>
              <a:custGeom>
                <a:avLst/>
                <a:gdLst/>
                <a:ahLst/>
                <a:cxnLst/>
                <a:rect l="l" t="t" r="r" b="b"/>
                <a:pathLst>
                  <a:path w="9525" h="3333750">
                    <a:moveTo>
                      <a:pt x="0" y="0"/>
                    </a:moveTo>
                    <a:lnTo>
                      <a:pt x="0" y="3333750"/>
                    </a:lnTo>
                  </a:path>
                </a:pathLst>
              </a:custGeom>
              <a:noFill/>
              <a:ln w="7620">
                <a:solidFill>
                  <a:srgbClr val="D9E8E2"/>
                </a:solidFill>
              </a:ln>
            </p:spPr>
          </p:sp>
          <p:sp>
            <p:nvSpPr>
              <p:cNvPr id="37" name="Line 37"/>
              <p:cNvSpPr/>
              <p:nvPr/>
            </p:nvSpPr>
            <p:spPr>
              <a:xfrm>
                <a:off x="10953750" y="1085850"/>
                <a:ext cx="9525" cy="3333750"/>
              </a:xfrm>
              <a:custGeom>
                <a:avLst/>
                <a:gdLst/>
                <a:ahLst/>
                <a:cxnLst/>
                <a:rect l="l" t="t" r="r" b="b"/>
                <a:pathLst>
                  <a:path w="9525" h="3333750">
                    <a:moveTo>
                      <a:pt x="0" y="0"/>
                    </a:moveTo>
                    <a:lnTo>
                      <a:pt x="0" y="3333750"/>
                    </a:lnTo>
                  </a:path>
                </a:pathLst>
              </a:custGeom>
              <a:noFill/>
              <a:ln w="7620">
                <a:solidFill>
                  <a:srgbClr val="D9E8E2"/>
                </a:solidFill>
              </a:ln>
            </p:spPr>
          </p:sp>
        </p:grpSp>
        <p:grpSp>
          <p:nvGrpSpPr>
            <p:cNvPr id="74" name="seg-row1"/>
            <p:cNvGrpSpPr/>
            <p:nvPr/>
          </p:nvGrpSpPr>
          <p:grpSpPr>
            <a:xfrm>
              <a:off x="492262" y="1180386"/>
              <a:ext cx="11318738" cy="540544"/>
              <a:chOff x="492262" y="1180386"/>
              <a:chExt cx="11318738" cy="540544"/>
            </a:xfrm>
          </p:grpSpPr>
          <p:grpSp>
            <p:nvGrpSpPr>
              <p:cNvPr id="43" name="Group 43"/>
              <p:cNvGrpSpPr/>
              <p:nvPr/>
            </p:nvGrpSpPr>
            <p:grpSpPr>
              <a:xfrm>
                <a:off x="661988" y="1233488"/>
                <a:ext cx="200026" cy="200025"/>
                <a:chOff x="661988" y="1233488"/>
                <a:chExt cx="200026" cy="200025"/>
              </a:xfrm>
            </p:grpSpPr>
            <p:sp>
              <p:nvSpPr>
                <p:cNvPr id="39" name="Freeform 39"/>
                <p:cNvSpPr/>
                <p:nvPr/>
              </p:nvSpPr>
              <p:spPr>
                <a:xfrm>
                  <a:off x="684213" y="12334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5B180B"/>
                  </a:solidFill>
                </a:ln>
              </p:spPr>
            </p:sp>
            <p:sp>
              <p:nvSpPr>
                <p:cNvPr id="40" name="Freeform 40"/>
                <p:cNvSpPr/>
                <p:nvPr/>
              </p:nvSpPr>
              <p:spPr>
                <a:xfrm>
                  <a:off x="661988" y="13668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5B180B"/>
                  </a:solidFill>
                </a:ln>
              </p:spPr>
            </p:sp>
            <p:sp>
              <p:nvSpPr>
                <p:cNvPr id="41" name="Freeform 41"/>
                <p:cNvSpPr/>
                <p:nvPr/>
              </p:nvSpPr>
              <p:spPr>
                <a:xfrm>
                  <a:off x="806451" y="123493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5B180B"/>
                  </a:solidFill>
                </a:ln>
              </p:spPr>
            </p:sp>
            <p:sp>
              <p:nvSpPr>
                <p:cNvPr id="42" name="Freeform 42"/>
                <p:cNvSpPr/>
                <p:nvPr/>
              </p:nvSpPr>
              <p:spPr>
                <a:xfrm>
                  <a:off x="828676" y="136850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5B180B"/>
                  </a:solidFill>
                </a:ln>
              </p:spPr>
            </p:sp>
          </p:grpSp>
          <p:sp>
            <p:nvSpPr>
              <p:cNvPr id="44" name="TextBox 44"/>
              <p:cNvSpPr txBox="1"/>
              <p:nvPr/>
            </p:nvSpPr>
            <p:spPr>
              <a:xfrm>
                <a:off x="492262" y="1545193"/>
                <a:ext cx="539477" cy="169069"/>
              </a:xfrm>
              <a:prstGeom prst="rect">
                <a:avLst/>
              </a:prstGeom>
              <a:noFill/>
              <a:ln>
                <a:noFill/>
              </a:ln>
            </p:spPr>
            <p:txBody>
              <a:bodyPr wrap="none" lIns="0" tIns="0" rIns="0" bIns="0" anchor="t" anchorCtr="0">
                <a:spAutoFit/>
              </a:bodyPr>
              <a:lstStyle/>
              <a:p>
                <a:pPr algn="ctr"/>
                <a:r>
                  <a:rPr lang="zh-CN" sz="860" b="1" dirty="0">
                    <a:solidFill>
                      <a:srgbClr val="5B180B"/>
                    </a:solidFill>
                    <a:latin typeface="+mn-lt"/>
                    <a:ea typeface="+mn-ea"/>
                    <a:cs typeface="+mn-cs"/>
                  </a:rPr>
                  <a:t>代发客户​</a:t>
                </a:r>
              </a:p>
            </p:txBody>
          </p:sp>
          <p:sp>
            <p:nvSpPr>
              <p:cNvPr id="45" name="TextBox 45"/>
              <p:cNvSpPr txBox="1"/>
              <p:nvPr/>
            </p:nvSpPr>
            <p:spPr>
              <a:xfrm>
                <a:off x="1328738" y="1180386"/>
                <a:ext cx="836474"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月代发≥5,000元​</a:t>
                </a:r>
              </a:p>
            </p:txBody>
          </p:sp>
          <p:sp>
            <p:nvSpPr>
              <p:cNvPr id="46" name="TextBox 46"/>
              <p:cNvSpPr txBox="1"/>
              <p:nvPr/>
            </p:nvSpPr>
            <p:spPr>
              <a:xfrm>
                <a:off x="1328738" y="1313736"/>
                <a:ext cx="798242"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人数 12,800 人​</a:t>
                </a:r>
              </a:p>
            </p:txBody>
          </p:sp>
          <p:sp>
            <p:nvSpPr>
              <p:cNvPr id="47" name="TextBox 47"/>
              <p:cNvSpPr txBox="1"/>
              <p:nvPr/>
            </p:nvSpPr>
            <p:spPr>
              <a:xfrm>
                <a:off x="1328738" y="1447086"/>
                <a:ext cx="745673"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年龄 25-45 岁​</a:t>
                </a:r>
              </a:p>
            </p:txBody>
          </p:sp>
          <p:sp>
            <p:nvSpPr>
              <p:cNvPr id="48" name="TextBox 48"/>
              <p:cNvSpPr txBox="1"/>
              <p:nvPr/>
            </p:nvSpPr>
            <p:spPr>
              <a:xfrm>
                <a:off x="1328738" y="158043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活跃度高，流动性强​</a:t>
                </a:r>
              </a:p>
            </p:txBody>
          </p:sp>
          <p:sp>
            <p:nvSpPr>
              <p:cNvPr id="49" name="TextBox 49"/>
              <p:cNvSpPr txBox="1"/>
              <p:nvPr/>
            </p:nvSpPr>
            <p:spPr>
              <a:xfrm>
                <a:off x="3481388" y="11803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工资管理便捷​</a:t>
                </a:r>
              </a:p>
            </p:txBody>
          </p:sp>
          <p:sp>
            <p:nvSpPr>
              <p:cNvPr id="50" name="TextBox 50"/>
              <p:cNvSpPr txBox="1"/>
              <p:nvPr/>
            </p:nvSpPr>
            <p:spPr>
              <a:xfrm>
                <a:off x="3481388" y="13137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日常消费优惠​</a:t>
                </a:r>
              </a:p>
            </p:txBody>
          </p:sp>
          <p:sp>
            <p:nvSpPr>
              <p:cNvPr id="51" name="TextBox 51"/>
              <p:cNvSpPr txBox="1"/>
              <p:nvPr/>
            </p:nvSpPr>
            <p:spPr>
              <a:xfrm>
                <a:off x="3481388" y="14470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理财增值机会​</a:t>
                </a:r>
              </a:p>
            </p:txBody>
          </p:sp>
          <p:sp>
            <p:nvSpPr>
              <p:cNvPr id="52" name="TextBox 52"/>
              <p:cNvSpPr txBox="1"/>
              <p:nvPr/>
            </p:nvSpPr>
            <p:spPr>
              <a:xfrm>
                <a:off x="3481388" y="15804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家庭保障需求​</a:t>
                </a:r>
              </a:p>
            </p:txBody>
          </p:sp>
          <p:grpSp>
            <p:nvGrpSpPr>
              <p:cNvPr id="57" name="Group 57"/>
              <p:cNvGrpSpPr/>
              <p:nvPr/>
            </p:nvGrpSpPr>
            <p:grpSpPr>
              <a:xfrm>
                <a:off x="5169694" y="1205706"/>
                <a:ext cx="157163" cy="122238"/>
                <a:chOff x="5169694" y="1205706"/>
                <a:chExt cx="157163" cy="122238"/>
              </a:xfrm>
            </p:grpSpPr>
            <p:sp>
              <p:nvSpPr>
                <p:cNvPr id="53" name="Freeform 53"/>
                <p:cNvSpPr/>
                <p:nvPr/>
              </p:nvSpPr>
              <p:spPr>
                <a:xfrm>
                  <a:off x="5169694" y="1205706"/>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7463">
                  <a:solidFill>
                    <a:srgbClr val="5B180B"/>
                  </a:solidFill>
                </a:ln>
              </p:spPr>
            </p:sp>
            <p:sp>
              <p:nvSpPr>
                <p:cNvPr id="54" name="Freeform 54"/>
                <p:cNvSpPr/>
                <p:nvPr/>
              </p:nvSpPr>
              <p:spPr>
                <a:xfrm>
                  <a:off x="5169694" y="1249363"/>
                  <a:ext cx="157163" cy="9525"/>
                </a:xfrm>
                <a:custGeom>
                  <a:avLst/>
                  <a:gdLst/>
                  <a:ahLst/>
                  <a:cxnLst/>
                  <a:rect l="l" t="t" r="r" b="b"/>
                  <a:pathLst>
                    <a:path w="157163" h="9525">
                      <a:moveTo>
                        <a:pt x="0" y="0"/>
                      </a:moveTo>
                      <a:lnTo>
                        <a:pt x="157163" y="0"/>
                      </a:lnTo>
                    </a:path>
                  </a:pathLst>
                </a:custGeom>
                <a:noFill/>
                <a:ln w="17463">
                  <a:solidFill>
                    <a:srgbClr val="5B180B"/>
                  </a:solidFill>
                </a:ln>
              </p:spPr>
            </p:sp>
            <p:sp>
              <p:nvSpPr>
                <p:cNvPr id="55" name="Freeform 55"/>
                <p:cNvSpPr/>
                <p:nvPr/>
              </p:nvSpPr>
              <p:spPr>
                <a:xfrm>
                  <a:off x="5204619" y="1293019"/>
                  <a:ext cx="9525" cy="9525"/>
                </a:xfrm>
                <a:custGeom>
                  <a:avLst/>
                  <a:gdLst/>
                  <a:ahLst/>
                  <a:cxnLst/>
                  <a:rect l="l" t="t" r="r" b="b"/>
                  <a:pathLst>
                    <a:path w="9525" h="9525">
                      <a:moveTo>
                        <a:pt x="0" y="0"/>
                      </a:moveTo>
                      <a:lnTo>
                        <a:pt x="87" y="0"/>
                      </a:lnTo>
                    </a:path>
                  </a:pathLst>
                </a:custGeom>
                <a:noFill/>
                <a:ln w="17463">
                  <a:solidFill>
                    <a:srgbClr val="5B180B"/>
                  </a:solidFill>
                </a:ln>
              </p:spPr>
            </p:sp>
            <p:sp>
              <p:nvSpPr>
                <p:cNvPr id="56" name="Freeform 56"/>
                <p:cNvSpPr/>
                <p:nvPr/>
              </p:nvSpPr>
              <p:spPr>
                <a:xfrm>
                  <a:off x="5239544" y="1293019"/>
                  <a:ext cx="17463" cy="9525"/>
                </a:xfrm>
                <a:custGeom>
                  <a:avLst/>
                  <a:gdLst/>
                  <a:ahLst/>
                  <a:cxnLst/>
                  <a:rect l="l" t="t" r="r" b="b"/>
                  <a:pathLst>
                    <a:path w="17463" h="9525">
                      <a:moveTo>
                        <a:pt x="0" y="0"/>
                      </a:moveTo>
                      <a:lnTo>
                        <a:pt x="17463" y="0"/>
                      </a:lnTo>
                    </a:path>
                  </a:pathLst>
                </a:custGeom>
                <a:noFill/>
                <a:ln w="17463">
                  <a:solidFill>
                    <a:srgbClr val="5B180B"/>
                  </a:solidFill>
                </a:ln>
              </p:spPr>
            </p:sp>
          </p:grpSp>
          <p:sp>
            <p:nvSpPr>
              <p:cNvPr id="58" name="TextBox 58"/>
              <p:cNvSpPr txBox="1"/>
              <p:nvPr/>
            </p:nvSpPr>
            <p:spPr>
              <a:xfrm>
                <a:off x="5046055" y="1434941"/>
                <a:ext cx="404440"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工资卡​</a:t>
                </a:r>
              </a:p>
            </p:txBody>
          </p:sp>
          <p:sp>
            <p:nvSpPr>
              <p:cNvPr id="59" name="TextBox 59"/>
              <p:cNvSpPr txBox="1"/>
              <p:nvPr/>
            </p:nvSpPr>
            <p:spPr>
              <a:xfrm>
                <a:off x="4989485" y="1574959"/>
                <a:ext cx="517581" cy="133350"/>
              </a:xfrm>
              <a:prstGeom prst="rect">
                <a:avLst/>
              </a:prstGeom>
              <a:noFill/>
              <a:ln>
                <a:noFill/>
              </a:ln>
            </p:spPr>
            <p:txBody>
              <a:bodyPr wrap="none" lIns="0" tIns="0" rIns="0" bIns="0" anchor="t" anchorCtr="0">
                <a:spAutoFit/>
              </a:bodyPr>
              <a:lstStyle/>
              <a:p>
                <a:pPr algn="ctr"/>
                <a:r>
                  <a:rPr lang="zh-CN" sz="680" dirty="0">
                    <a:solidFill>
                      <a:srgbClr val="8AA39C"/>
                    </a:solidFill>
                    <a:latin typeface="+mn-lt"/>
                    <a:ea typeface="+mn-ea"/>
                    <a:cs typeface="+mn-cs"/>
                  </a:rPr>
                  <a:t>（升级版）​</a:t>
                </a:r>
              </a:p>
            </p:txBody>
          </p:sp>
          <p:sp>
            <p:nvSpPr>
              <p:cNvPr id="60" name="TextBox 60"/>
              <p:cNvSpPr txBox="1"/>
              <p:nvPr/>
            </p:nvSpPr>
            <p:spPr>
              <a:xfrm>
                <a:off x="5938838" y="1180386"/>
                <a:ext cx="52105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货币基金​</a:t>
                </a:r>
              </a:p>
            </p:txBody>
          </p:sp>
          <p:sp>
            <p:nvSpPr>
              <p:cNvPr id="61" name="TextBox 61"/>
              <p:cNvSpPr txBox="1"/>
              <p:nvPr/>
            </p:nvSpPr>
            <p:spPr>
              <a:xfrm>
                <a:off x="5938838" y="1313736"/>
                <a:ext cx="52105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消费分期​</a:t>
                </a:r>
              </a:p>
            </p:txBody>
          </p:sp>
          <p:sp>
            <p:nvSpPr>
              <p:cNvPr id="62" name="TextBox 62"/>
              <p:cNvSpPr txBox="1"/>
              <p:nvPr/>
            </p:nvSpPr>
            <p:spPr>
              <a:xfrm>
                <a:off x="5938838" y="1447086"/>
                <a:ext cx="76478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意外险/医疗险​</a:t>
                </a:r>
              </a:p>
            </p:txBody>
          </p:sp>
          <p:sp>
            <p:nvSpPr>
              <p:cNvPr id="63" name="TextBox 63"/>
              <p:cNvSpPr txBox="1"/>
              <p:nvPr/>
            </p:nvSpPr>
            <p:spPr>
              <a:xfrm>
                <a:off x="5938838" y="1580436"/>
                <a:ext cx="42547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信用卡​</a:t>
                </a:r>
              </a:p>
            </p:txBody>
          </p:sp>
          <p:sp>
            <p:nvSpPr>
              <p:cNvPr id="64" name="TextBox 64"/>
              <p:cNvSpPr txBox="1"/>
              <p:nvPr/>
            </p:nvSpPr>
            <p:spPr>
              <a:xfrm>
                <a:off x="7234238" y="11803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手机银行消息​</a:t>
                </a:r>
              </a:p>
            </p:txBody>
          </p:sp>
          <p:sp>
            <p:nvSpPr>
              <p:cNvPr id="65" name="TextBox 65"/>
              <p:cNvSpPr txBox="1"/>
              <p:nvPr/>
            </p:nvSpPr>
            <p:spPr>
              <a:xfrm>
                <a:off x="7234238" y="13137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代发专属活动​</a:t>
                </a:r>
              </a:p>
            </p:txBody>
          </p:sp>
          <p:sp>
            <p:nvSpPr>
              <p:cNvPr id="66" name="TextBox 66"/>
              <p:cNvSpPr txBox="1"/>
              <p:nvPr/>
            </p:nvSpPr>
            <p:spPr>
              <a:xfrm>
                <a:off x="7234238" y="14470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企业上门宣讲​</a:t>
                </a:r>
              </a:p>
            </p:txBody>
          </p:sp>
          <p:sp>
            <p:nvSpPr>
              <p:cNvPr id="67" name="TextBox 67"/>
              <p:cNvSpPr txBox="1"/>
              <p:nvPr/>
            </p:nvSpPr>
            <p:spPr>
              <a:xfrm>
                <a:off x="7234238" y="15804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网点快速开户​</a:t>
                </a:r>
              </a:p>
            </p:txBody>
          </p:sp>
          <p:sp>
            <p:nvSpPr>
              <p:cNvPr id="68" name="TextBox 68"/>
              <p:cNvSpPr txBox="1"/>
              <p:nvPr/>
            </p:nvSpPr>
            <p:spPr>
              <a:xfrm>
                <a:off x="9073889" y="1309688"/>
                <a:ext cx="67362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开通手机银行​</a:t>
                </a:r>
              </a:p>
            </p:txBody>
          </p:sp>
          <p:sp>
            <p:nvSpPr>
              <p:cNvPr id="69" name="TextBox 69"/>
              <p:cNvSpPr txBox="1"/>
              <p:nvPr/>
            </p:nvSpPr>
            <p:spPr>
              <a:xfrm>
                <a:off x="9015582" y="1443038"/>
                <a:ext cx="790237"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并购买≥1笔理财​</a:t>
                </a:r>
              </a:p>
            </p:txBody>
          </p:sp>
          <p:sp>
            <p:nvSpPr>
              <p:cNvPr id="70" name="TextBox 70"/>
              <p:cNvSpPr txBox="1"/>
              <p:nvPr/>
            </p:nvSpPr>
            <p:spPr>
              <a:xfrm>
                <a:off x="10353584" y="1375410"/>
                <a:ext cx="419283" cy="234696"/>
              </a:xfrm>
              <a:prstGeom prst="rect">
                <a:avLst/>
              </a:prstGeom>
              <a:noFill/>
              <a:ln>
                <a:noFill/>
              </a:ln>
            </p:spPr>
            <p:txBody>
              <a:bodyPr wrap="none" lIns="0" tIns="0" rIns="0" bIns="0" anchor="t" anchorCtr="0">
                <a:spAutoFit/>
              </a:bodyPr>
              <a:lstStyle/>
              <a:p>
                <a:pPr algn="ctr"/>
                <a:r>
                  <a:rPr lang="zh-CN" sz="1200" b="1" dirty="0">
                    <a:solidFill>
                      <a:srgbClr val="5B180B"/>
                    </a:solidFill>
                    <a:latin typeface="+mn-lt"/>
                    <a:ea typeface="+mn-ea"/>
                    <a:cs typeface="+mn-cs"/>
                  </a:rPr>
                  <a:t>18%​</a:t>
                </a:r>
              </a:p>
            </p:txBody>
          </p:sp>
          <p:sp>
            <p:nvSpPr>
              <p:cNvPr id="71" name="TextBox 71"/>
              <p:cNvSpPr txBox="1"/>
              <p:nvPr/>
            </p:nvSpPr>
            <p:spPr>
              <a:xfrm>
                <a:off x="11044047" y="1304449"/>
                <a:ext cx="238471"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92​</a:t>
                </a:r>
              </a:p>
            </p:txBody>
          </p:sp>
          <p:sp>
            <p:nvSpPr>
              <p:cNvPr id="72" name="Rectangle 72"/>
              <p:cNvSpPr/>
              <p:nvPr/>
            </p:nvSpPr>
            <p:spPr>
              <a:xfrm>
                <a:off x="11049000" y="1485900"/>
                <a:ext cx="762000" cy="57150"/>
              </a:xfrm>
              <a:prstGeom prst="rect">
                <a:avLst/>
              </a:prstGeom>
              <a:solidFill>
                <a:srgbClr val="E3F1EC"/>
              </a:solidFill>
              <a:ln>
                <a:noFill/>
              </a:ln>
            </p:spPr>
          </p:sp>
          <p:sp>
            <p:nvSpPr>
              <p:cNvPr id="73" name="Rectangle 73"/>
              <p:cNvSpPr/>
              <p:nvPr/>
            </p:nvSpPr>
            <p:spPr>
              <a:xfrm>
                <a:off x="11049000" y="1485900"/>
                <a:ext cx="704850" cy="57150"/>
              </a:xfrm>
              <a:prstGeom prst="rect">
                <a:avLst/>
              </a:prstGeom>
              <a:solidFill>
                <a:srgbClr val="5B180B"/>
              </a:solidFill>
              <a:ln>
                <a:noFill/>
              </a:ln>
            </p:spPr>
          </p:sp>
        </p:grpSp>
        <p:grpSp>
          <p:nvGrpSpPr>
            <p:cNvPr id="111" name="seg-row2"/>
            <p:cNvGrpSpPr/>
            <p:nvPr/>
          </p:nvGrpSpPr>
          <p:grpSpPr>
            <a:xfrm>
              <a:off x="492262" y="1847136"/>
              <a:ext cx="11318738" cy="540544"/>
              <a:chOff x="492262" y="1847136"/>
              <a:chExt cx="11318738" cy="540544"/>
            </a:xfrm>
          </p:grpSpPr>
          <p:grpSp>
            <p:nvGrpSpPr>
              <p:cNvPr id="81" name="Group 81"/>
              <p:cNvGrpSpPr/>
              <p:nvPr/>
            </p:nvGrpSpPr>
            <p:grpSpPr>
              <a:xfrm>
                <a:off x="673100" y="1900238"/>
                <a:ext cx="177801" cy="200026"/>
                <a:chOff x="673100" y="1900238"/>
                <a:chExt cx="177801" cy="200026"/>
              </a:xfrm>
            </p:grpSpPr>
            <p:sp>
              <p:nvSpPr>
                <p:cNvPr id="75" name="Freeform 75"/>
                <p:cNvSpPr/>
                <p:nvPr/>
              </p:nvSpPr>
              <p:spPr>
                <a:xfrm>
                  <a:off x="673100" y="1922463"/>
                  <a:ext cx="177801" cy="177801"/>
                </a:xfrm>
                <a:custGeom>
                  <a:avLst/>
                  <a:gdLst/>
                  <a:ahLst/>
                  <a:cxnLst/>
                  <a:rect l="l" t="t" r="r" b="b"/>
                  <a:pathLst>
                    <a:path w="177801" h="177801">
                      <a:moveTo>
                        <a:pt x="0" y="22225"/>
                      </a:moveTo>
                      <a:cubicBezTo>
                        <a:pt x="0" y="9950"/>
                        <a:pt x="9950" y="0"/>
                        <a:pt x="22225" y="0"/>
                      </a:cubicBezTo>
                      <a:lnTo>
                        <a:pt x="155575" y="0"/>
                      </a:lnTo>
                      <a:cubicBezTo>
                        <a:pt x="167850" y="0"/>
                        <a:pt x="177801" y="9950"/>
                        <a:pt x="177801" y="22225"/>
                      </a:cubicBezTo>
                      <a:lnTo>
                        <a:pt x="177801" y="155575"/>
                      </a:lnTo>
                      <a:cubicBezTo>
                        <a:pt x="177801" y="167850"/>
                        <a:pt x="167850" y="177801"/>
                        <a:pt x="155575" y="177801"/>
                      </a:cubicBezTo>
                      <a:lnTo>
                        <a:pt x="22225" y="177801"/>
                      </a:lnTo>
                      <a:cubicBezTo>
                        <a:pt x="9950" y="177801"/>
                        <a:pt x="0" y="167850"/>
                        <a:pt x="0" y="155575"/>
                      </a:cubicBezTo>
                      <a:lnTo>
                        <a:pt x="0" y="22225"/>
                      </a:lnTo>
                    </a:path>
                  </a:pathLst>
                </a:custGeom>
                <a:noFill/>
                <a:ln w="22225">
                  <a:solidFill>
                    <a:srgbClr val="5B180B"/>
                  </a:solidFill>
                </a:ln>
              </p:spPr>
            </p:sp>
            <p:sp>
              <p:nvSpPr>
                <p:cNvPr id="76" name="Freeform 76"/>
                <p:cNvSpPr/>
                <p:nvPr/>
              </p:nvSpPr>
              <p:spPr>
                <a:xfrm>
                  <a:off x="806451" y="1900238"/>
                  <a:ext cx="9525" cy="44450"/>
                </a:xfrm>
                <a:custGeom>
                  <a:avLst/>
                  <a:gdLst/>
                  <a:ahLst/>
                  <a:cxnLst/>
                  <a:rect l="l" t="t" r="r" b="b"/>
                  <a:pathLst>
                    <a:path w="9525" h="44450">
                      <a:moveTo>
                        <a:pt x="0" y="0"/>
                      </a:moveTo>
                      <a:lnTo>
                        <a:pt x="0" y="44450"/>
                      </a:lnTo>
                    </a:path>
                  </a:pathLst>
                </a:custGeom>
                <a:noFill/>
                <a:ln w="22225">
                  <a:solidFill>
                    <a:srgbClr val="5B180B"/>
                  </a:solidFill>
                </a:ln>
              </p:spPr>
            </p:sp>
            <p:sp>
              <p:nvSpPr>
                <p:cNvPr id="77" name="Freeform 77"/>
                <p:cNvSpPr/>
                <p:nvPr/>
              </p:nvSpPr>
              <p:spPr>
                <a:xfrm>
                  <a:off x="717550" y="1900238"/>
                  <a:ext cx="9525" cy="44450"/>
                </a:xfrm>
                <a:custGeom>
                  <a:avLst/>
                  <a:gdLst/>
                  <a:ahLst/>
                  <a:cxnLst/>
                  <a:rect l="l" t="t" r="r" b="b"/>
                  <a:pathLst>
                    <a:path w="9525" h="44450">
                      <a:moveTo>
                        <a:pt x="0" y="0"/>
                      </a:moveTo>
                      <a:lnTo>
                        <a:pt x="0" y="44450"/>
                      </a:lnTo>
                    </a:path>
                  </a:pathLst>
                </a:custGeom>
                <a:noFill/>
                <a:ln w="22225">
                  <a:solidFill>
                    <a:srgbClr val="5B180B"/>
                  </a:solidFill>
                </a:ln>
              </p:spPr>
            </p:sp>
            <p:sp>
              <p:nvSpPr>
                <p:cNvPr id="78" name="Freeform 78"/>
                <p:cNvSpPr/>
                <p:nvPr/>
              </p:nvSpPr>
              <p:spPr>
                <a:xfrm>
                  <a:off x="673100" y="1989138"/>
                  <a:ext cx="177801" cy="9525"/>
                </a:xfrm>
                <a:custGeom>
                  <a:avLst/>
                  <a:gdLst/>
                  <a:ahLst/>
                  <a:cxnLst/>
                  <a:rect l="l" t="t" r="r" b="b"/>
                  <a:pathLst>
                    <a:path w="177801" h="9525">
                      <a:moveTo>
                        <a:pt x="0" y="0"/>
                      </a:moveTo>
                      <a:lnTo>
                        <a:pt x="177801" y="0"/>
                      </a:lnTo>
                    </a:path>
                  </a:pathLst>
                </a:custGeom>
                <a:noFill/>
                <a:ln w="22225">
                  <a:solidFill>
                    <a:srgbClr val="5B180B"/>
                  </a:solidFill>
                </a:ln>
              </p:spPr>
            </p:sp>
            <p:sp>
              <p:nvSpPr>
                <p:cNvPr id="79" name="Freeform 79"/>
                <p:cNvSpPr/>
                <p:nvPr/>
              </p:nvSpPr>
              <p:spPr>
                <a:xfrm>
                  <a:off x="750888" y="2033588"/>
                  <a:ext cx="11113" cy="9525"/>
                </a:xfrm>
                <a:custGeom>
                  <a:avLst/>
                  <a:gdLst/>
                  <a:ahLst/>
                  <a:cxnLst/>
                  <a:rect l="l" t="t" r="r" b="b"/>
                  <a:pathLst>
                    <a:path w="11113" h="9525">
                      <a:moveTo>
                        <a:pt x="0" y="0"/>
                      </a:moveTo>
                      <a:lnTo>
                        <a:pt x="11113" y="0"/>
                      </a:lnTo>
                    </a:path>
                  </a:pathLst>
                </a:custGeom>
                <a:noFill/>
                <a:ln w="22225">
                  <a:solidFill>
                    <a:srgbClr val="5B180B"/>
                  </a:solidFill>
                </a:ln>
              </p:spPr>
            </p:sp>
            <p:sp>
              <p:nvSpPr>
                <p:cNvPr id="80" name="Freeform 80"/>
                <p:cNvSpPr/>
                <p:nvPr/>
              </p:nvSpPr>
              <p:spPr>
                <a:xfrm>
                  <a:off x="762000" y="2033588"/>
                  <a:ext cx="9525" cy="33338"/>
                </a:xfrm>
                <a:custGeom>
                  <a:avLst/>
                  <a:gdLst/>
                  <a:ahLst/>
                  <a:cxnLst/>
                  <a:rect l="l" t="t" r="r" b="b"/>
                  <a:pathLst>
                    <a:path w="9525" h="33338">
                      <a:moveTo>
                        <a:pt x="0" y="0"/>
                      </a:moveTo>
                      <a:lnTo>
                        <a:pt x="0" y="33338"/>
                      </a:lnTo>
                    </a:path>
                  </a:pathLst>
                </a:custGeom>
                <a:noFill/>
                <a:ln w="22225">
                  <a:solidFill>
                    <a:srgbClr val="5B180B"/>
                  </a:solidFill>
                </a:ln>
              </p:spPr>
            </p:sp>
          </p:grpSp>
          <p:sp>
            <p:nvSpPr>
              <p:cNvPr id="82" name="TextBox 82"/>
              <p:cNvSpPr txBox="1"/>
              <p:nvPr/>
            </p:nvSpPr>
            <p:spPr>
              <a:xfrm>
                <a:off x="492262" y="2211943"/>
                <a:ext cx="539477" cy="169069"/>
              </a:xfrm>
              <a:prstGeom prst="rect">
                <a:avLst/>
              </a:prstGeom>
              <a:noFill/>
              <a:ln>
                <a:noFill/>
              </a:ln>
            </p:spPr>
            <p:txBody>
              <a:bodyPr wrap="none" lIns="0" tIns="0" rIns="0" bIns="0" anchor="t" anchorCtr="0">
                <a:spAutoFit/>
              </a:bodyPr>
              <a:lstStyle/>
              <a:p>
                <a:pPr algn="ctr"/>
                <a:r>
                  <a:rPr lang="zh-CN" sz="860" b="1" dirty="0">
                    <a:solidFill>
                      <a:srgbClr val="5B180B"/>
                    </a:solidFill>
                    <a:latin typeface="+mn-lt"/>
                    <a:ea typeface="+mn-ea"/>
                    <a:cs typeface="+mn-cs"/>
                  </a:rPr>
                  <a:t>到期客户​</a:t>
                </a:r>
              </a:p>
            </p:txBody>
          </p:sp>
          <p:sp>
            <p:nvSpPr>
              <p:cNvPr id="83" name="TextBox 83"/>
              <p:cNvSpPr txBox="1"/>
              <p:nvPr/>
            </p:nvSpPr>
            <p:spPr>
              <a:xfrm>
                <a:off x="1328738" y="1847136"/>
                <a:ext cx="1371723"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存款/理财即将到期 3,600 人​</a:t>
                </a:r>
              </a:p>
            </p:txBody>
          </p:sp>
          <p:sp>
            <p:nvSpPr>
              <p:cNvPr id="84" name="TextBox 84"/>
              <p:cNvSpPr txBox="1"/>
              <p:nvPr/>
            </p:nvSpPr>
            <p:spPr>
              <a:xfrm>
                <a:off x="1328738" y="1980486"/>
                <a:ext cx="1060997"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近一年 AUM 8.5 亿元​</a:t>
                </a:r>
              </a:p>
            </p:txBody>
          </p:sp>
          <p:sp>
            <p:nvSpPr>
              <p:cNvPr id="85" name="TextBox 85"/>
              <p:cNvSpPr txBox="1"/>
              <p:nvPr/>
            </p:nvSpPr>
            <p:spPr>
              <a:xfrm>
                <a:off x="1328738" y="21138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以稳健型为主​</a:t>
                </a:r>
              </a:p>
            </p:txBody>
          </p:sp>
          <p:sp>
            <p:nvSpPr>
              <p:cNvPr id="86" name="TextBox 86"/>
              <p:cNvSpPr txBox="1"/>
              <p:nvPr/>
            </p:nvSpPr>
            <p:spPr>
              <a:xfrm>
                <a:off x="1328738" y="22471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复存意愿较高​</a:t>
                </a:r>
              </a:p>
            </p:txBody>
          </p:sp>
          <p:sp>
            <p:nvSpPr>
              <p:cNvPr id="87" name="TextBox 87"/>
              <p:cNvSpPr txBox="1"/>
              <p:nvPr/>
            </p:nvSpPr>
            <p:spPr>
              <a:xfrm>
                <a:off x="3481388" y="18471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资金安全稳健​</a:t>
                </a:r>
              </a:p>
            </p:txBody>
          </p:sp>
          <p:sp>
            <p:nvSpPr>
              <p:cNvPr id="88" name="TextBox 88"/>
              <p:cNvSpPr txBox="1"/>
              <p:nvPr/>
            </p:nvSpPr>
            <p:spPr>
              <a:xfrm>
                <a:off x="3481388" y="19804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更高收益机会​</a:t>
                </a:r>
              </a:p>
            </p:txBody>
          </p:sp>
          <p:sp>
            <p:nvSpPr>
              <p:cNvPr id="89" name="TextBox 89"/>
              <p:cNvSpPr txBox="1"/>
              <p:nvPr/>
            </p:nvSpPr>
            <p:spPr>
              <a:xfrm>
                <a:off x="3481388" y="21138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产品到期提醒​</a:t>
                </a:r>
              </a:p>
            </p:txBody>
          </p:sp>
          <p:sp>
            <p:nvSpPr>
              <p:cNvPr id="90" name="TextBox 90"/>
              <p:cNvSpPr txBox="1"/>
              <p:nvPr/>
            </p:nvSpPr>
            <p:spPr>
              <a:xfrm>
                <a:off x="3481388" y="22471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专业投资建议​</a:t>
                </a:r>
              </a:p>
            </p:txBody>
          </p:sp>
          <p:grpSp>
            <p:nvGrpSpPr>
              <p:cNvPr id="94" name="Group 94"/>
              <p:cNvGrpSpPr/>
              <p:nvPr/>
            </p:nvGrpSpPr>
            <p:grpSpPr>
              <a:xfrm>
                <a:off x="5178425" y="1854994"/>
                <a:ext cx="139700" cy="157162"/>
                <a:chOff x="5178425" y="1854994"/>
                <a:chExt cx="139700" cy="157162"/>
              </a:xfrm>
            </p:grpSpPr>
            <p:sp>
              <p:nvSpPr>
                <p:cNvPr id="91" name="Freeform 91"/>
                <p:cNvSpPr/>
                <p:nvPr/>
              </p:nvSpPr>
              <p:spPr>
                <a:xfrm>
                  <a:off x="5178425" y="18549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5B180B"/>
                  </a:solidFill>
                </a:ln>
              </p:spPr>
            </p:sp>
            <p:sp>
              <p:nvSpPr>
                <p:cNvPr id="92" name="Freeform 92"/>
                <p:cNvSpPr/>
                <p:nvPr/>
              </p:nvSpPr>
              <p:spPr>
                <a:xfrm>
                  <a:off x="5178425" y="18811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5B180B"/>
                  </a:solidFill>
                </a:ln>
              </p:spPr>
            </p:sp>
            <p:sp>
              <p:nvSpPr>
                <p:cNvPr id="93" name="Freeform 93"/>
                <p:cNvSpPr/>
                <p:nvPr/>
              </p:nvSpPr>
              <p:spPr>
                <a:xfrm>
                  <a:off x="5178425" y="19335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5B180B"/>
                  </a:solidFill>
                </a:ln>
              </p:spPr>
            </p:sp>
          </p:grpSp>
          <p:sp>
            <p:nvSpPr>
              <p:cNvPr id="95" name="TextBox 95"/>
              <p:cNvSpPr txBox="1"/>
              <p:nvPr/>
            </p:nvSpPr>
            <p:spPr>
              <a:xfrm>
                <a:off x="4990861" y="2101691"/>
                <a:ext cx="514828"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定期存款​</a:t>
                </a:r>
              </a:p>
            </p:txBody>
          </p:sp>
          <p:sp>
            <p:nvSpPr>
              <p:cNvPr id="96" name="TextBox 96"/>
              <p:cNvSpPr txBox="1"/>
              <p:nvPr/>
            </p:nvSpPr>
            <p:spPr>
              <a:xfrm>
                <a:off x="4943714" y="2241709"/>
                <a:ext cx="609122" cy="133350"/>
              </a:xfrm>
              <a:prstGeom prst="rect">
                <a:avLst/>
              </a:prstGeom>
              <a:noFill/>
              <a:ln>
                <a:noFill/>
              </a:ln>
            </p:spPr>
            <p:txBody>
              <a:bodyPr wrap="none" lIns="0" tIns="0" rIns="0" bIns="0" anchor="t" anchorCtr="0">
                <a:spAutoFit/>
              </a:bodyPr>
              <a:lstStyle/>
              <a:p>
                <a:pPr algn="ctr"/>
                <a:r>
                  <a:rPr lang="zh-CN" sz="680" dirty="0">
                    <a:solidFill>
                      <a:srgbClr val="8AA39C"/>
                    </a:solidFill>
                    <a:latin typeface="+mn-lt"/>
                    <a:ea typeface="+mn-ea"/>
                    <a:cs typeface="+mn-cs"/>
                  </a:rPr>
                  <a:t>（新客专享）​</a:t>
                </a:r>
              </a:p>
            </p:txBody>
          </p:sp>
          <p:sp>
            <p:nvSpPr>
              <p:cNvPr id="97" name="TextBox 97"/>
              <p:cNvSpPr txBox="1"/>
              <p:nvPr/>
            </p:nvSpPr>
            <p:spPr>
              <a:xfrm>
                <a:off x="5938838" y="1847136"/>
                <a:ext cx="61664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结构性存款​</a:t>
                </a:r>
              </a:p>
            </p:txBody>
          </p:sp>
          <p:sp>
            <p:nvSpPr>
              <p:cNvPr id="98" name="TextBox 98"/>
              <p:cNvSpPr txBox="1"/>
              <p:nvPr/>
            </p:nvSpPr>
            <p:spPr>
              <a:xfrm>
                <a:off x="5938838" y="1980486"/>
                <a:ext cx="52105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理财产品​</a:t>
                </a:r>
              </a:p>
            </p:txBody>
          </p:sp>
          <p:sp>
            <p:nvSpPr>
              <p:cNvPr id="99" name="TextBox 99"/>
              <p:cNvSpPr txBox="1"/>
              <p:nvPr/>
            </p:nvSpPr>
            <p:spPr>
              <a:xfrm>
                <a:off x="5938838" y="2113836"/>
                <a:ext cx="42547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贵金属​</a:t>
                </a:r>
              </a:p>
            </p:txBody>
          </p:sp>
          <p:sp>
            <p:nvSpPr>
              <p:cNvPr id="100" name="TextBox 100"/>
              <p:cNvSpPr txBox="1"/>
              <p:nvPr/>
            </p:nvSpPr>
            <p:spPr>
              <a:xfrm>
                <a:off x="5938838" y="224718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家族信托（高净值）​</a:t>
                </a:r>
              </a:p>
            </p:txBody>
          </p:sp>
          <p:sp>
            <p:nvSpPr>
              <p:cNvPr id="101" name="TextBox 101"/>
              <p:cNvSpPr txBox="1"/>
              <p:nvPr/>
            </p:nvSpPr>
            <p:spPr>
              <a:xfrm>
                <a:off x="7234238" y="1847136"/>
                <a:ext cx="1061088"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到期前30天短信/电话​</a:t>
                </a:r>
              </a:p>
            </p:txBody>
          </p:sp>
          <p:sp>
            <p:nvSpPr>
              <p:cNvPr id="102" name="TextBox 102"/>
              <p:cNvSpPr txBox="1"/>
              <p:nvPr/>
            </p:nvSpPr>
            <p:spPr>
              <a:xfrm>
                <a:off x="7234238" y="198048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客户经理一对一​</a:t>
                </a:r>
              </a:p>
            </p:txBody>
          </p:sp>
          <p:sp>
            <p:nvSpPr>
              <p:cNvPr id="103" name="TextBox 103"/>
              <p:cNvSpPr txBox="1"/>
              <p:nvPr/>
            </p:nvSpPr>
            <p:spPr>
              <a:xfrm>
                <a:off x="7234238" y="21138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手机银行推送​</a:t>
                </a:r>
              </a:p>
            </p:txBody>
          </p:sp>
          <p:sp>
            <p:nvSpPr>
              <p:cNvPr id="104" name="TextBox 104"/>
              <p:cNvSpPr txBox="1"/>
              <p:nvPr/>
            </p:nvSpPr>
            <p:spPr>
              <a:xfrm>
                <a:off x="7234238" y="22471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网点专属沙龙​</a:t>
                </a:r>
              </a:p>
            </p:txBody>
          </p:sp>
          <p:sp>
            <p:nvSpPr>
              <p:cNvPr id="105" name="TextBox 105"/>
              <p:cNvSpPr txBox="1"/>
              <p:nvPr/>
            </p:nvSpPr>
            <p:spPr>
              <a:xfrm>
                <a:off x="8972924" y="1976438"/>
                <a:ext cx="87555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到期资金完成复投​</a:t>
                </a:r>
              </a:p>
            </p:txBody>
          </p:sp>
          <p:sp>
            <p:nvSpPr>
              <p:cNvPr id="106" name="TextBox 106"/>
              <p:cNvSpPr txBox="1"/>
              <p:nvPr/>
            </p:nvSpPr>
            <p:spPr>
              <a:xfrm>
                <a:off x="9073889" y="2109788"/>
                <a:ext cx="67362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或购买新产品​</a:t>
                </a:r>
              </a:p>
            </p:txBody>
          </p:sp>
          <p:sp>
            <p:nvSpPr>
              <p:cNvPr id="107" name="TextBox 107"/>
              <p:cNvSpPr txBox="1"/>
              <p:nvPr/>
            </p:nvSpPr>
            <p:spPr>
              <a:xfrm>
                <a:off x="10353584" y="2042160"/>
                <a:ext cx="419283" cy="234696"/>
              </a:xfrm>
              <a:prstGeom prst="rect">
                <a:avLst/>
              </a:prstGeom>
              <a:noFill/>
              <a:ln>
                <a:noFill/>
              </a:ln>
            </p:spPr>
            <p:txBody>
              <a:bodyPr wrap="none" lIns="0" tIns="0" rIns="0" bIns="0" anchor="t" anchorCtr="0">
                <a:spAutoFit/>
              </a:bodyPr>
              <a:lstStyle/>
              <a:p>
                <a:pPr algn="ctr"/>
                <a:r>
                  <a:rPr lang="zh-CN" sz="1200" b="1" dirty="0">
                    <a:solidFill>
                      <a:srgbClr val="5B180B"/>
                    </a:solidFill>
                    <a:latin typeface="+mn-lt"/>
                    <a:ea typeface="+mn-ea"/>
                    <a:cs typeface="+mn-cs"/>
                  </a:rPr>
                  <a:t>35%​</a:t>
                </a:r>
              </a:p>
            </p:txBody>
          </p:sp>
          <p:sp>
            <p:nvSpPr>
              <p:cNvPr id="108" name="TextBox 108"/>
              <p:cNvSpPr txBox="1"/>
              <p:nvPr/>
            </p:nvSpPr>
            <p:spPr>
              <a:xfrm>
                <a:off x="11044047" y="1971199"/>
                <a:ext cx="238471"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88​</a:t>
                </a:r>
              </a:p>
            </p:txBody>
          </p:sp>
          <p:sp>
            <p:nvSpPr>
              <p:cNvPr id="109" name="Rectangle 109"/>
              <p:cNvSpPr/>
              <p:nvPr/>
            </p:nvSpPr>
            <p:spPr>
              <a:xfrm>
                <a:off x="11049000" y="2152650"/>
                <a:ext cx="762000" cy="57150"/>
              </a:xfrm>
              <a:prstGeom prst="rect">
                <a:avLst/>
              </a:prstGeom>
              <a:solidFill>
                <a:srgbClr val="E3F1EC"/>
              </a:solidFill>
              <a:ln>
                <a:noFill/>
              </a:ln>
            </p:spPr>
          </p:sp>
          <p:sp>
            <p:nvSpPr>
              <p:cNvPr id="110" name="Rectangle 110"/>
              <p:cNvSpPr/>
              <p:nvPr/>
            </p:nvSpPr>
            <p:spPr>
              <a:xfrm>
                <a:off x="11049000" y="2152650"/>
                <a:ext cx="666750" cy="57150"/>
              </a:xfrm>
              <a:prstGeom prst="rect">
                <a:avLst/>
              </a:prstGeom>
              <a:solidFill>
                <a:srgbClr val="5B180B"/>
              </a:solidFill>
              <a:ln>
                <a:noFill/>
              </a:ln>
            </p:spPr>
          </p:sp>
        </p:grpSp>
        <p:grpSp>
          <p:nvGrpSpPr>
            <p:cNvPr id="145" name="seg-row3"/>
            <p:cNvGrpSpPr/>
            <p:nvPr/>
          </p:nvGrpSpPr>
          <p:grpSpPr>
            <a:xfrm>
              <a:off x="492262" y="2513886"/>
              <a:ext cx="11318738" cy="540544"/>
              <a:chOff x="492262" y="2513886"/>
              <a:chExt cx="11318738" cy="540544"/>
            </a:xfrm>
          </p:grpSpPr>
          <p:grpSp>
            <p:nvGrpSpPr>
              <p:cNvPr id="114" name="Group 114"/>
              <p:cNvGrpSpPr/>
              <p:nvPr/>
            </p:nvGrpSpPr>
            <p:grpSpPr>
              <a:xfrm>
                <a:off x="661988" y="2589213"/>
                <a:ext cx="200026" cy="163466"/>
                <a:chOff x="661988" y="2589213"/>
                <a:chExt cx="200026" cy="163466"/>
              </a:xfrm>
            </p:grpSpPr>
            <p:sp>
              <p:nvSpPr>
                <p:cNvPr id="112" name="Freeform 112"/>
                <p:cNvSpPr/>
                <p:nvPr/>
              </p:nvSpPr>
              <p:spPr>
                <a:xfrm>
                  <a:off x="661988" y="2589213"/>
                  <a:ext cx="200026" cy="163466"/>
                </a:xfrm>
                <a:custGeom>
                  <a:avLst/>
                  <a:gdLst/>
                  <a:ahLst/>
                  <a:cxnLst/>
                  <a:rect l="l" t="t" r="r" b="b"/>
                  <a:pathLst>
                    <a:path w="200026" h="163466">
                      <a:moveTo>
                        <a:pt x="33338" y="0"/>
                      </a:moveTo>
                      <a:lnTo>
                        <a:pt x="166688" y="0"/>
                      </a:lnTo>
                      <a:lnTo>
                        <a:pt x="200026" y="55563"/>
                      </a:lnTo>
                      <a:lnTo>
                        <a:pt x="105569" y="161132"/>
                      </a:lnTo>
                      <a:cubicBezTo>
                        <a:pt x="104106" y="162625"/>
                        <a:pt x="102103" y="163466"/>
                        <a:pt x="100013" y="163466"/>
                      </a:cubicBezTo>
                      <a:cubicBezTo>
                        <a:pt x="97922" y="163466"/>
                        <a:pt x="95920" y="162625"/>
                        <a:pt x="94457" y="161132"/>
                      </a:cubicBezTo>
                      <a:lnTo>
                        <a:pt x="0" y="55563"/>
                      </a:lnTo>
                      <a:lnTo>
                        <a:pt x="33338" y="0"/>
                      </a:lnTo>
                    </a:path>
                  </a:pathLst>
                </a:custGeom>
                <a:noFill/>
                <a:ln w="22225">
                  <a:solidFill>
                    <a:srgbClr val="5B180B"/>
                  </a:solidFill>
                </a:ln>
              </p:spPr>
            </p:sp>
            <p:sp>
              <p:nvSpPr>
                <p:cNvPr id="113" name="Freeform 113"/>
                <p:cNvSpPr/>
                <p:nvPr/>
              </p:nvSpPr>
              <p:spPr>
                <a:xfrm>
                  <a:off x="717550" y="2631440"/>
                  <a:ext cx="22225" cy="35560"/>
                </a:xfrm>
                <a:custGeom>
                  <a:avLst/>
                  <a:gdLst/>
                  <a:ahLst/>
                  <a:cxnLst/>
                  <a:rect l="l" t="t" r="r" b="b"/>
                  <a:pathLst>
                    <a:path w="22225" h="35560">
                      <a:moveTo>
                        <a:pt x="22225" y="35560"/>
                      </a:moveTo>
                      <a:lnTo>
                        <a:pt x="0" y="11113"/>
                      </a:lnTo>
                      <a:lnTo>
                        <a:pt x="6668" y="0"/>
                      </a:lnTo>
                    </a:path>
                  </a:pathLst>
                </a:custGeom>
                <a:noFill/>
                <a:ln w="22225">
                  <a:solidFill>
                    <a:srgbClr val="5B180B"/>
                  </a:solidFill>
                </a:ln>
              </p:spPr>
            </p:sp>
          </p:grpSp>
          <p:sp>
            <p:nvSpPr>
              <p:cNvPr id="115" name="TextBox 115"/>
              <p:cNvSpPr txBox="1"/>
              <p:nvPr/>
            </p:nvSpPr>
            <p:spPr>
              <a:xfrm>
                <a:off x="492262" y="2878693"/>
                <a:ext cx="539477" cy="169069"/>
              </a:xfrm>
              <a:prstGeom prst="rect">
                <a:avLst/>
              </a:prstGeom>
              <a:noFill/>
              <a:ln>
                <a:noFill/>
              </a:ln>
            </p:spPr>
            <p:txBody>
              <a:bodyPr wrap="none" lIns="0" tIns="0" rIns="0" bIns="0" anchor="t" anchorCtr="0">
                <a:spAutoFit/>
              </a:bodyPr>
              <a:lstStyle/>
              <a:p>
                <a:pPr algn="ctr"/>
                <a:r>
                  <a:rPr lang="zh-CN" sz="860" b="1" dirty="0">
                    <a:solidFill>
                      <a:srgbClr val="5B180B"/>
                    </a:solidFill>
                    <a:latin typeface="+mn-lt"/>
                    <a:ea typeface="+mn-ea"/>
                    <a:cs typeface="+mn-cs"/>
                  </a:rPr>
                  <a:t>财富客户​</a:t>
                </a:r>
              </a:p>
            </p:txBody>
          </p:sp>
          <p:sp>
            <p:nvSpPr>
              <p:cNvPr id="116" name="TextBox 116"/>
              <p:cNvSpPr txBox="1"/>
              <p:nvPr/>
            </p:nvSpPr>
            <p:spPr>
              <a:xfrm>
                <a:off x="1328738" y="2513886"/>
                <a:ext cx="774257"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AUM ≥ 50 万元​</a:t>
                </a:r>
              </a:p>
            </p:txBody>
          </p:sp>
          <p:sp>
            <p:nvSpPr>
              <p:cNvPr id="117" name="TextBox 117"/>
              <p:cNvSpPr txBox="1"/>
              <p:nvPr/>
            </p:nvSpPr>
            <p:spPr>
              <a:xfrm>
                <a:off x="1328738" y="2647236"/>
                <a:ext cx="745673"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人数 2,400 人​</a:t>
                </a:r>
              </a:p>
            </p:txBody>
          </p:sp>
          <p:sp>
            <p:nvSpPr>
              <p:cNvPr id="118" name="TextBox 118"/>
              <p:cNvSpPr txBox="1"/>
              <p:nvPr/>
            </p:nvSpPr>
            <p:spPr>
              <a:xfrm>
                <a:off x="1328738" y="2780586"/>
                <a:ext cx="822137"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高净值占比 20%​</a:t>
                </a:r>
              </a:p>
            </p:txBody>
          </p:sp>
          <p:sp>
            <p:nvSpPr>
              <p:cNvPr id="119" name="TextBox 119"/>
              <p:cNvSpPr txBox="1"/>
              <p:nvPr/>
            </p:nvSpPr>
            <p:spPr>
              <a:xfrm>
                <a:off x="1328738" y="2913936"/>
                <a:ext cx="1381281"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风险偏好中低，追求长期稳健​</a:t>
                </a:r>
              </a:p>
            </p:txBody>
          </p:sp>
          <p:sp>
            <p:nvSpPr>
              <p:cNvPr id="120" name="TextBox 120"/>
              <p:cNvSpPr txBox="1"/>
              <p:nvPr/>
            </p:nvSpPr>
            <p:spPr>
              <a:xfrm>
                <a:off x="3481388" y="25138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财富保值增值​</a:t>
                </a:r>
              </a:p>
            </p:txBody>
          </p:sp>
          <p:sp>
            <p:nvSpPr>
              <p:cNvPr id="121" name="TextBox 121"/>
              <p:cNvSpPr txBox="1"/>
              <p:nvPr/>
            </p:nvSpPr>
            <p:spPr>
              <a:xfrm>
                <a:off x="3481388" y="26472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资产配置优化​</a:t>
                </a:r>
              </a:p>
            </p:txBody>
          </p:sp>
          <p:sp>
            <p:nvSpPr>
              <p:cNvPr id="122" name="TextBox 122"/>
              <p:cNvSpPr txBox="1"/>
              <p:nvPr/>
            </p:nvSpPr>
            <p:spPr>
              <a:xfrm>
                <a:off x="3481388" y="27805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专属增值服务​</a:t>
                </a:r>
              </a:p>
            </p:txBody>
          </p:sp>
          <p:sp>
            <p:nvSpPr>
              <p:cNvPr id="123" name="TextBox 123"/>
              <p:cNvSpPr txBox="1"/>
              <p:nvPr/>
            </p:nvSpPr>
            <p:spPr>
              <a:xfrm>
                <a:off x="3481388" y="291393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家族与传承规划​</a:t>
                </a:r>
              </a:p>
            </p:txBody>
          </p:sp>
          <p:grpSp>
            <p:nvGrpSpPr>
              <p:cNvPr id="128" name="Group 128"/>
              <p:cNvGrpSpPr/>
              <p:nvPr/>
            </p:nvGrpSpPr>
            <p:grpSpPr>
              <a:xfrm>
                <a:off x="5169694" y="2530475"/>
                <a:ext cx="157163" cy="149225"/>
                <a:chOff x="5169694" y="2530475"/>
                <a:chExt cx="157163" cy="149225"/>
              </a:xfrm>
            </p:grpSpPr>
            <p:sp>
              <p:nvSpPr>
                <p:cNvPr id="124" name="Freeform 124"/>
                <p:cNvSpPr/>
                <p:nvPr/>
              </p:nvSpPr>
              <p:spPr>
                <a:xfrm>
                  <a:off x="5169694" y="260032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5B180B"/>
                  </a:solidFill>
                </a:ln>
              </p:spPr>
            </p:sp>
            <p:sp>
              <p:nvSpPr>
                <p:cNvPr id="125" name="Freeform 125"/>
                <p:cNvSpPr/>
                <p:nvPr/>
              </p:nvSpPr>
              <p:spPr>
                <a:xfrm>
                  <a:off x="5274469" y="256540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5B180B"/>
                  </a:solidFill>
                </a:ln>
              </p:spPr>
            </p:sp>
            <p:sp>
              <p:nvSpPr>
                <p:cNvPr id="126" name="Freeform 126"/>
                <p:cNvSpPr/>
                <p:nvPr/>
              </p:nvSpPr>
              <p:spPr>
                <a:xfrm>
                  <a:off x="5222081" y="253047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5B180B"/>
                  </a:solidFill>
                </a:ln>
              </p:spPr>
            </p:sp>
            <p:sp>
              <p:nvSpPr>
                <p:cNvPr id="127" name="Freeform 127"/>
                <p:cNvSpPr/>
                <p:nvPr/>
              </p:nvSpPr>
              <p:spPr>
                <a:xfrm>
                  <a:off x="5178425" y="2670175"/>
                  <a:ext cx="122238" cy="9525"/>
                </a:xfrm>
                <a:custGeom>
                  <a:avLst/>
                  <a:gdLst/>
                  <a:ahLst/>
                  <a:cxnLst/>
                  <a:rect l="l" t="t" r="r" b="b"/>
                  <a:pathLst>
                    <a:path w="122238" h="9525">
                      <a:moveTo>
                        <a:pt x="0" y="0"/>
                      </a:moveTo>
                      <a:lnTo>
                        <a:pt x="122238" y="0"/>
                      </a:lnTo>
                    </a:path>
                  </a:pathLst>
                </a:custGeom>
                <a:noFill/>
                <a:ln w="17463">
                  <a:solidFill>
                    <a:srgbClr val="5B180B"/>
                  </a:solidFill>
                </a:ln>
              </p:spPr>
            </p:sp>
          </p:grpSp>
          <p:sp>
            <p:nvSpPr>
              <p:cNvPr id="129" name="TextBox 129"/>
              <p:cNvSpPr txBox="1"/>
              <p:nvPr/>
            </p:nvSpPr>
            <p:spPr>
              <a:xfrm>
                <a:off x="4990861" y="2768441"/>
                <a:ext cx="514828"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财富管理​</a:t>
                </a:r>
              </a:p>
            </p:txBody>
          </p:sp>
          <p:sp>
            <p:nvSpPr>
              <p:cNvPr id="130" name="TextBox 130"/>
              <p:cNvSpPr txBox="1"/>
              <p:nvPr/>
            </p:nvSpPr>
            <p:spPr>
              <a:xfrm>
                <a:off x="4943714" y="2908459"/>
                <a:ext cx="609122" cy="133350"/>
              </a:xfrm>
              <a:prstGeom prst="rect">
                <a:avLst/>
              </a:prstGeom>
              <a:noFill/>
              <a:ln>
                <a:noFill/>
              </a:ln>
            </p:spPr>
            <p:txBody>
              <a:bodyPr wrap="none" lIns="0" tIns="0" rIns="0" bIns="0" anchor="t" anchorCtr="0">
                <a:spAutoFit/>
              </a:bodyPr>
              <a:lstStyle/>
              <a:p>
                <a:pPr algn="ctr"/>
                <a:r>
                  <a:rPr lang="zh-CN" sz="680" dirty="0">
                    <a:solidFill>
                      <a:srgbClr val="8AA39C"/>
                    </a:solidFill>
                    <a:latin typeface="+mn-lt"/>
                    <a:ea typeface="+mn-ea"/>
                    <a:cs typeface="+mn-cs"/>
                  </a:rPr>
                  <a:t>（全权委托）​</a:t>
                </a:r>
              </a:p>
            </p:txBody>
          </p:sp>
          <p:sp>
            <p:nvSpPr>
              <p:cNvPr id="131" name="TextBox 131"/>
              <p:cNvSpPr txBox="1"/>
              <p:nvPr/>
            </p:nvSpPr>
            <p:spPr>
              <a:xfrm>
                <a:off x="5938838" y="2513886"/>
                <a:ext cx="52105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私募基金​</a:t>
                </a:r>
              </a:p>
            </p:txBody>
          </p:sp>
          <p:sp>
            <p:nvSpPr>
              <p:cNvPr id="132" name="TextBox 132"/>
              <p:cNvSpPr txBox="1"/>
              <p:nvPr/>
            </p:nvSpPr>
            <p:spPr>
              <a:xfrm>
                <a:off x="5938838" y="2647236"/>
                <a:ext cx="61664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保险金信托​</a:t>
                </a:r>
              </a:p>
            </p:txBody>
          </p:sp>
          <p:sp>
            <p:nvSpPr>
              <p:cNvPr id="133" name="TextBox 133"/>
              <p:cNvSpPr txBox="1"/>
              <p:nvPr/>
            </p:nvSpPr>
            <p:spPr>
              <a:xfrm>
                <a:off x="5938838" y="278058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家族办公室服务​</a:t>
                </a:r>
              </a:p>
            </p:txBody>
          </p:sp>
          <p:sp>
            <p:nvSpPr>
              <p:cNvPr id="134" name="TextBox 134"/>
              <p:cNvSpPr txBox="1"/>
              <p:nvPr/>
            </p:nvSpPr>
            <p:spPr>
              <a:xfrm>
                <a:off x="5938838" y="2913936"/>
                <a:ext cx="61664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高端信用卡​</a:t>
                </a:r>
              </a:p>
            </p:txBody>
          </p:sp>
          <p:sp>
            <p:nvSpPr>
              <p:cNvPr id="135" name="TextBox 135"/>
              <p:cNvSpPr txBox="1"/>
              <p:nvPr/>
            </p:nvSpPr>
            <p:spPr>
              <a:xfrm>
                <a:off x="7234238" y="2513886"/>
                <a:ext cx="90338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客户经理深度拜访​</a:t>
                </a:r>
              </a:p>
            </p:txBody>
          </p:sp>
          <p:sp>
            <p:nvSpPr>
              <p:cNvPr id="136" name="TextBox 136"/>
              <p:cNvSpPr txBox="1"/>
              <p:nvPr/>
            </p:nvSpPr>
            <p:spPr>
              <a:xfrm>
                <a:off x="7234238" y="26472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高端客户沙龙​</a:t>
                </a:r>
              </a:p>
            </p:txBody>
          </p:sp>
          <p:sp>
            <p:nvSpPr>
              <p:cNvPr id="137" name="TextBox 137"/>
              <p:cNvSpPr txBox="1"/>
              <p:nvPr/>
            </p:nvSpPr>
            <p:spPr>
              <a:xfrm>
                <a:off x="7234238" y="27805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专属产品路演​</a:t>
                </a:r>
              </a:p>
            </p:txBody>
          </p:sp>
          <p:sp>
            <p:nvSpPr>
              <p:cNvPr id="138" name="TextBox 138"/>
              <p:cNvSpPr txBox="1"/>
              <p:nvPr/>
            </p:nvSpPr>
            <p:spPr>
              <a:xfrm>
                <a:off x="7234238" y="2913936"/>
                <a:ext cx="76478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视频/电话沟通​</a:t>
                </a:r>
              </a:p>
            </p:txBody>
          </p:sp>
          <p:sp>
            <p:nvSpPr>
              <p:cNvPr id="139" name="TextBox 139"/>
              <p:cNvSpPr txBox="1"/>
              <p:nvPr/>
            </p:nvSpPr>
            <p:spPr>
              <a:xfrm>
                <a:off x="8943770" y="2643188"/>
                <a:ext cx="933860"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签约新增理财/基金​</a:t>
                </a:r>
              </a:p>
            </p:txBody>
          </p:sp>
          <p:sp>
            <p:nvSpPr>
              <p:cNvPr id="140" name="TextBox 140"/>
              <p:cNvSpPr txBox="1"/>
              <p:nvPr/>
            </p:nvSpPr>
            <p:spPr>
              <a:xfrm>
                <a:off x="8922441" y="2776538"/>
                <a:ext cx="976517"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或升级资产配置方案​</a:t>
                </a:r>
              </a:p>
            </p:txBody>
          </p:sp>
          <p:sp>
            <p:nvSpPr>
              <p:cNvPr id="141" name="TextBox 141"/>
              <p:cNvSpPr txBox="1"/>
              <p:nvPr/>
            </p:nvSpPr>
            <p:spPr>
              <a:xfrm>
                <a:off x="10353584" y="2708910"/>
                <a:ext cx="419283" cy="234696"/>
              </a:xfrm>
              <a:prstGeom prst="rect">
                <a:avLst/>
              </a:prstGeom>
              <a:noFill/>
              <a:ln>
                <a:noFill/>
              </a:ln>
            </p:spPr>
            <p:txBody>
              <a:bodyPr wrap="none" lIns="0" tIns="0" rIns="0" bIns="0" anchor="t" anchorCtr="0">
                <a:spAutoFit/>
              </a:bodyPr>
              <a:lstStyle/>
              <a:p>
                <a:pPr algn="ctr"/>
                <a:r>
                  <a:rPr lang="zh-CN" sz="1200" b="1" dirty="0">
                    <a:solidFill>
                      <a:srgbClr val="5B180B"/>
                    </a:solidFill>
                    <a:latin typeface="+mn-lt"/>
                    <a:ea typeface="+mn-ea"/>
                    <a:cs typeface="+mn-cs"/>
                  </a:rPr>
                  <a:t>28%​</a:t>
                </a:r>
              </a:p>
            </p:txBody>
          </p:sp>
          <p:sp>
            <p:nvSpPr>
              <p:cNvPr id="142" name="TextBox 142"/>
              <p:cNvSpPr txBox="1"/>
              <p:nvPr/>
            </p:nvSpPr>
            <p:spPr>
              <a:xfrm>
                <a:off x="11044047" y="2637949"/>
                <a:ext cx="238471"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85​</a:t>
                </a:r>
              </a:p>
            </p:txBody>
          </p:sp>
          <p:sp>
            <p:nvSpPr>
              <p:cNvPr id="143" name="Rectangle 143"/>
              <p:cNvSpPr/>
              <p:nvPr/>
            </p:nvSpPr>
            <p:spPr>
              <a:xfrm>
                <a:off x="11049000" y="2819400"/>
                <a:ext cx="762000" cy="57150"/>
              </a:xfrm>
              <a:prstGeom prst="rect">
                <a:avLst/>
              </a:prstGeom>
              <a:solidFill>
                <a:srgbClr val="E3F1EC"/>
              </a:solidFill>
              <a:ln>
                <a:noFill/>
              </a:ln>
            </p:spPr>
          </p:sp>
          <p:sp>
            <p:nvSpPr>
              <p:cNvPr id="144" name="Rectangle 144"/>
              <p:cNvSpPr/>
              <p:nvPr/>
            </p:nvSpPr>
            <p:spPr>
              <a:xfrm>
                <a:off x="11049000" y="2819400"/>
                <a:ext cx="647700" cy="57150"/>
              </a:xfrm>
              <a:prstGeom prst="rect">
                <a:avLst/>
              </a:prstGeom>
              <a:solidFill>
                <a:srgbClr val="5B180B"/>
              </a:solidFill>
              <a:ln>
                <a:noFill/>
              </a:ln>
            </p:spPr>
          </p:sp>
        </p:grpSp>
        <p:grpSp>
          <p:nvGrpSpPr>
            <p:cNvPr id="180" name="seg-row4"/>
            <p:cNvGrpSpPr/>
            <p:nvPr/>
          </p:nvGrpSpPr>
          <p:grpSpPr>
            <a:xfrm>
              <a:off x="492262" y="3180636"/>
              <a:ext cx="11318738" cy="540544"/>
              <a:chOff x="492262" y="3180636"/>
              <a:chExt cx="11318738" cy="540544"/>
            </a:xfrm>
          </p:grpSpPr>
          <p:grpSp>
            <p:nvGrpSpPr>
              <p:cNvPr id="150" name="Group 150"/>
              <p:cNvGrpSpPr/>
              <p:nvPr/>
            </p:nvGrpSpPr>
            <p:grpSpPr>
              <a:xfrm>
                <a:off x="684213" y="3233738"/>
                <a:ext cx="155575" cy="200026"/>
                <a:chOff x="684213" y="3233738"/>
                <a:chExt cx="155575" cy="200026"/>
              </a:xfrm>
            </p:grpSpPr>
            <p:sp>
              <p:nvSpPr>
                <p:cNvPr id="146" name="Freeform 146"/>
                <p:cNvSpPr/>
                <p:nvPr/>
              </p:nvSpPr>
              <p:spPr>
                <a:xfrm>
                  <a:off x="684213" y="3255963"/>
                  <a:ext cx="155575" cy="177801"/>
                </a:xfrm>
                <a:custGeom>
                  <a:avLst/>
                  <a:gdLst/>
                  <a:ahLst/>
                  <a:cxnLst/>
                  <a:rect l="l" t="t" r="r" b="b"/>
                  <a:pathLst>
                    <a:path w="155575" h="177801">
                      <a:moveTo>
                        <a:pt x="44450" y="0"/>
                      </a:moveTo>
                      <a:lnTo>
                        <a:pt x="22225" y="0"/>
                      </a:lnTo>
                      <a:cubicBezTo>
                        <a:pt x="9950" y="0"/>
                        <a:pt x="0" y="9950"/>
                        <a:pt x="0" y="22225"/>
                      </a:cubicBezTo>
                      <a:lnTo>
                        <a:pt x="0" y="155575"/>
                      </a:lnTo>
                      <a:cubicBezTo>
                        <a:pt x="0" y="167850"/>
                        <a:pt x="9950" y="177801"/>
                        <a:pt x="22225" y="177801"/>
                      </a:cubicBezTo>
                      <a:lnTo>
                        <a:pt x="133350" y="177801"/>
                      </a:lnTo>
                      <a:cubicBezTo>
                        <a:pt x="145625" y="177801"/>
                        <a:pt x="155575" y="167850"/>
                        <a:pt x="155575" y="155575"/>
                      </a:cubicBezTo>
                      <a:lnTo>
                        <a:pt x="155575" y="22225"/>
                      </a:lnTo>
                      <a:cubicBezTo>
                        <a:pt x="155575" y="9950"/>
                        <a:pt x="145625" y="0"/>
                        <a:pt x="133350" y="0"/>
                      </a:cubicBezTo>
                      <a:lnTo>
                        <a:pt x="111125" y="0"/>
                      </a:lnTo>
                    </a:path>
                  </a:pathLst>
                </a:custGeom>
                <a:noFill/>
                <a:ln w="22225">
                  <a:solidFill>
                    <a:srgbClr val="5B180B"/>
                  </a:solidFill>
                </a:ln>
              </p:spPr>
            </p:sp>
            <p:sp>
              <p:nvSpPr>
                <p:cNvPr id="147" name="Freeform 147"/>
                <p:cNvSpPr/>
                <p:nvPr/>
              </p:nvSpPr>
              <p:spPr>
                <a:xfrm>
                  <a:off x="728663" y="3233738"/>
                  <a:ext cx="66675" cy="44450"/>
                </a:xfrm>
                <a:custGeom>
                  <a:avLst/>
                  <a:gdLst/>
                  <a:ahLst/>
                  <a:cxnLst/>
                  <a:rect l="l" t="t" r="r" b="b"/>
                  <a:pathLst>
                    <a:path w="66675" h="44450">
                      <a:moveTo>
                        <a:pt x="0" y="22225"/>
                      </a:moveTo>
                      <a:cubicBezTo>
                        <a:pt x="0" y="9950"/>
                        <a:pt x="9950" y="0"/>
                        <a:pt x="22225" y="0"/>
                      </a:cubicBezTo>
                      <a:lnTo>
                        <a:pt x="44450" y="0"/>
                      </a:lnTo>
                      <a:cubicBezTo>
                        <a:pt x="56725" y="0"/>
                        <a:pt x="66675" y="9950"/>
                        <a:pt x="66675" y="22225"/>
                      </a:cubicBezTo>
                      <a:cubicBezTo>
                        <a:pt x="66675" y="34500"/>
                        <a:pt x="56725" y="44450"/>
                        <a:pt x="44450" y="44450"/>
                      </a:cubicBezTo>
                      <a:lnTo>
                        <a:pt x="22225" y="44450"/>
                      </a:lnTo>
                      <a:cubicBezTo>
                        <a:pt x="9950" y="44450"/>
                        <a:pt x="0" y="34500"/>
                        <a:pt x="0" y="22225"/>
                      </a:cubicBezTo>
                    </a:path>
                  </a:pathLst>
                </a:custGeom>
                <a:noFill/>
                <a:ln w="22225">
                  <a:solidFill>
                    <a:srgbClr val="5B180B"/>
                  </a:solidFill>
                </a:ln>
              </p:spPr>
            </p:sp>
            <p:sp>
              <p:nvSpPr>
                <p:cNvPr id="148" name="Freeform 148"/>
                <p:cNvSpPr/>
                <p:nvPr/>
              </p:nvSpPr>
              <p:spPr>
                <a:xfrm>
                  <a:off x="739775" y="3322638"/>
                  <a:ext cx="44450" cy="66675"/>
                </a:xfrm>
                <a:custGeom>
                  <a:avLst/>
                  <a:gdLst/>
                  <a:ahLst/>
                  <a:cxnLst/>
                  <a:rect l="l" t="t" r="r" b="b"/>
                  <a:pathLst>
                    <a:path w="44450" h="66675">
                      <a:moveTo>
                        <a:pt x="44450" y="0"/>
                      </a:moveTo>
                      <a:lnTo>
                        <a:pt x="16669" y="0"/>
                      </a:lnTo>
                      <a:cubicBezTo>
                        <a:pt x="7463" y="0"/>
                        <a:pt x="0" y="7463"/>
                        <a:pt x="0" y="16669"/>
                      </a:cubicBezTo>
                      <a:cubicBezTo>
                        <a:pt x="0" y="25875"/>
                        <a:pt x="7463" y="33338"/>
                        <a:pt x="16669" y="33338"/>
                      </a:cubicBezTo>
                      <a:lnTo>
                        <a:pt x="27781" y="33338"/>
                      </a:lnTo>
                      <a:cubicBezTo>
                        <a:pt x="36987" y="33338"/>
                        <a:pt x="44450" y="40800"/>
                        <a:pt x="44450" y="50006"/>
                      </a:cubicBezTo>
                      <a:cubicBezTo>
                        <a:pt x="44450" y="59212"/>
                        <a:pt x="36987" y="66675"/>
                        <a:pt x="27781" y="66675"/>
                      </a:cubicBezTo>
                      <a:lnTo>
                        <a:pt x="0" y="66675"/>
                      </a:lnTo>
                    </a:path>
                  </a:pathLst>
                </a:custGeom>
                <a:noFill/>
                <a:ln w="22225">
                  <a:solidFill>
                    <a:srgbClr val="5B180B"/>
                  </a:solidFill>
                </a:ln>
              </p:spPr>
            </p:sp>
            <p:sp>
              <p:nvSpPr>
                <p:cNvPr id="149" name="Freeform 149"/>
                <p:cNvSpPr/>
                <p:nvPr/>
              </p:nvSpPr>
              <p:spPr>
                <a:xfrm>
                  <a:off x="762000" y="3311525"/>
                  <a:ext cx="9525" cy="88900"/>
                </a:xfrm>
                <a:custGeom>
                  <a:avLst/>
                  <a:gdLst/>
                  <a:ahLst/>
                  <a:cxnLst/>
                  <a:rect l="l" t="t" r="r" b="b"/>
                  <a:pathLst>
                    <a:path w="9525" h="88900">
                      <a:moveTo>
                        <a:pt x="0" y="77788"/>
                      </a:moveTo>
                      <a:lnTo>
                        <a:pt x="0" y="88900"/>
                      </a:lnTo>
                      <a:moveTo>
                        <a:pt x="0" y="0"/>
                      </a:moveTo>
                      <a:lnTo>
                        <a:pt x="0" y="11113"/>
                      </a:lnTo>
                    </a:path>
                  </a:pathLst>
                </a:custGeom>
                <a:noFill/>
                <a:ln w="22225">
                  <a:solidFill>
                    <a:srgbClr val="5B180B"/>
                  </a:solidFill>
                </a:ln>
              </p:spPr>
            </p:sp>
          </p:grpSp>
          <p:sp>
            <p:nvSpPr>
              <p:cNvPr id="151" name="TextBox 151"/>
              <p:cNvSpPr txBox="1"/>
              <p:nvPr/>
            </p:nvSpPr>
            <p:spPr>
              <a:xfrm>
                <a:off x="492262" y="3545443"/>
                <a:ext cx="539477" cy="169069"/>
              </a:xfrm>
              <a:prstGeom prst="rect">
                <a:avLst/>
              </a:prstGeom>
              <a:noFill/>
              <a:ln>
                <a:noFill/>
              </a:ln>
            </p:spPr>
            <p:txBody>
              <a:bodyPr wrap="none" lIns="0" tIns="0" rIns="0" bIns="0" anchor="t" anchorCtr="0">
                <a:spAutoFit/>
              </a:bodyPr>
              <a:lstStyle/>
              <a:p>
                <a:pPr algn="ctr"/>
                <a:r>
                  <a:rPr lang="zh-CN" sz="860" b="1" dirty="0">
                    <a:solidFill>
                      <a:srgbClr val="5B180B"/>
                    </a:solidFill>
                    <a:latin typeface="+mn-lt"/>
                    <a:ea typeface="+mn-ea"/>
                    <a:cs typeface="+mn-cs"/>
                  </a:rPr>
                  <a:t>贷款客户​</a:t>
                </a:r>
              </a:p>
            </p:txBody>
          </p:sp>
          <p:sp>
            <p:nvSpPr>
              <p:cNvPr id="152" name="TextBox 152"/>
              <p:cNvSpPr txBox="1"/>
              <p:nvPr/>
            </p:nvSpPr>
            <p:spPr>
              <a:xfrm>
                <a:off x="1328738" y="3180636"/>
                <a:ext cx="1127994"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存量贷款客户 5,800 人​</a:t>
                </a:r>
              </a:p>
            </p:txBody>
          </p:sp>
          <p:sp>
            <p:nvSpPr>
              <p:cNvPr id="153" name="TextBox 153"/>
              <p:cNvSpPr txBox="1"/>
              <p:nvPr/>
            </p:nvSpPr>
            <p:spPr>
              <a:xfrm>
                <a:off x="1328738" y="3313986"/>
                <a:ext cx="979844"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贷款余额 12.6 亿元​</a:t>
                </a:r>
              </a:p>
            </p:txBody>
          </p:sp>
          <p:sp>
            <p:nvSpPr>
              <p:cNvPr id="154" name="TextBox 154"/>
              <p:cNvSpPr txBox="1"/>
              <p:nvPr/>
            </p:nvSpPr>
            <p:spPr>
              <a:xfrm>
                <a:off x="1328738" y="344733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以房贷、经营贷为主​</a:t>
                </a:r>
              </a:p>
            </p:txBody>
          </p:sp>
          <p:sp>
            <p:nvSpPr>
              <p:cNvPr id="155" name="TextBox 155"/>
              <p:cNvSpPr txBox="1"/>
              <p:nvPr/>
            </p:nvSpPr>
            <p:spPr>
              <a:xfrm>
                <a:off x="1328738" y="35806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还款记录良好​</a:t>
                </a:r>
              </a:p>
            </p:txBody>
          </p:sp>
          <p:sp>
            <p:nvSpPr>
              <p:cNvPr id="156" name="TextBox 156"/>
              <p:cNvSpPr txBox="1"/>
              <p:nvPr/>
            </p:nvSpPr>
            <p:spPr>
              <a:xfrm>
                <a:off x="3481388" y="318063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资金周转与扩张​</a:t>
                </a:r>
              </a:p>
            </p:txBody>
          </p:sp>
          <p:sp>
            <p:nvSpPr>
              <p:cNvPr id="157" name="TextBox 157"/>
              <p:cNvSpPr txBox="1"/>
              <p:nvPr/>
            </p:nvSpPr>
            <p:spPr>
              <a:xfrm>
                <a:off x="3481388" y="3313986"/>
                <a:ext cx="52105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利率优惠​</a:t>
                </a:r>
              </a:p>
            </p:txBody>
          </p:sp>
          <p:sp>
            <p:nvSpPr>
              <p:cNvPr id="158" name="TextBox 158"/>
              <p:cNvSpPr txBox="1"/>
              <p:nvPr/>
            </p:nvSpPr>
            <p:spPr>
              <a:xfrm>
                <a:off x="3481388" y="34473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综合金融服务​</a:t>
                </a:r>
              </a:p>
            </p:txBody>
          </p:sp>
          <p:sp>
            <p:nvSpPr>
              <p:cNvPr id="159" name="TextBox 159"/>
              <p:cNvSpPr txBox="1"/>
              <p:nvPr/>
            </p:nvSpPr>
            <p:spPr>
              <a:xfrm>
                <a:off x="3481388" y="358068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还款便利与灵活​</a:t>
                </a:r>
              </a:p>
            </p:txBody>
          </p:sp>
          <p:grpSp>
            <p:nvGrpSpPr>
              <p:cNvPr id="163" name="Group 163"/>
              <p:cNvGrpSpPr/>
              <p:nvPr/>
            </p:nvGrpSpPr>
            <p:grpSpPr>
              <a:xfrm>
                <a:off x="5169694" y="3205956"/>
                <a:ext cx="157163" cy="122238"/>
                <a:chOff x="5169694" y="3205956"/>
                <a:chExt cx="157163" cy="122238"/>
              </a:xfrm>
            </p:grpSpPr>
            <p:sp>
              <p:nvSpPr>
                <p:cNvPr id="160" name="Freeform 160"/>
                <p:cNvSpPr/>
                <p:nvPr/>
              </p:nvSpPr>
              <p:spPr>
                <a:xfrm>
                  <a:off x="5169694" y="3205956"/>
                  <a:ext cx="122238" cy="87313"/>
                </a:xfrm>
                <a:custGeom>
                  <a:avLst/>
                  <a:gdLst/>
                  <a:ahLst/>
                  <a:cxnLst/>
                  <a:rect l="l" t="t" r="r" b="b"/>
                  <a:pathLst>
                    <a:path w="122238" h="87313">
                      <a:moveTo>
                        <a:pt x="34925" y="87313"/>
                      </a:moveTo>
                      <a:lnTo>
                        <a:pt x="8731" y="87313"/>
                      </a:lnTo>
                      <a:cubicBezTo>
                        <a:pt x="3909" y="87313"/>
                        <a:pt x="0" y="83403"/>
                        <a:pt x="0" y="78581"/>
                      </a:cubicBezTo>
                      <a:lnTo>
                        <a:pt x="0" y="8731"/>
                      </a:lnTo>
                      <a:cubicBezTo>
                        <a:pt x="0" y="3909"/>
                        <a:pt x="3909" y="0"/>
                        <a:pt x="8731" y="0"/>
                      </a:cubicBezTo>
                      <a:lnTo>
                        <a:pt x="113506" y="0"/>
                      </a:lnTo>
                      <a:cubicBezTo>
                        <a:pt x="118328" y="0"/>
                        <a:pt x="122238" y="3909"/>
                        <a:pt x="122238" y="8731"/>
                      </a:cubicBezTo>
                      <a:lnTo>
                        <a:pt x="122238" y="34925"/>
                      </a:lnTo>
                    </a:path>
                  </a:pathLst>
                </a:custGeom>
                <a:noFill/>
                <a:ln w="17463">
                  <a:solidFill>
                    <a:srgbClr val="5B180B"/>
                  </a:solidFill>
                </a:ln>
              </p:spPr>
            </p:sp>
            <p:sp>
              <p:nvSpPr>
                <p:cNvPr id="161" name="Freeform 161"/>
                <p:cNvSpPr/>
                <p:nvPr/>
              </p:nvSpPr>
              <p:spPr>
                <a:xfrm>
                  <a:off x="5204619" y="3240881"/>
                  <a:ext cx="122238" cy="87313"/>
                </a:xfrm>
                <a:custGeom>
                  <a:avLst/>
                  <a:gdLst/>
                  <a:ahLst/>
                  <a:cxnLst/>
                  <a:rect l="l" t="t" r="r" b="b"/>
                  <a:pathLst>
                    <a:path w="122238" h="87313">
                      <a:moveTo>
                        <a:pt x="0" y="8731"/>
                      </a:moveTo>
                      <a:cubicBezTo>
                        <a:pt x="0" y="3909"/>
                        <a:pt x="3909" y="0"/>
                        <a:pt x="8731" y="0"/>
                      </a:cubicBezTo>
                      <a:lnTo>
                        <a:pt x="113506" y="0"/>
                      </a:lnTo>
                      <a:cubicBezTo>
                        <a:pt x="118328" y="0"/>
                        <a:pt x="122238" y="3909"/>
                        <a:pt x="122238" y="8731"/>
                      </a:cubicBezTo>
                      <a:lnTo>
                        <a:pt x="122238" y="78581"/>
                      </a:lnTo>
                      <a:cubicBezTo>
                        <a:pt x="122238" y="83403"/>
                        <a:pt x="118328" y="87313"/>
                        <a:pt x="113506" y="87313"/>
                      </a:cubicBezTo>
                      <a:lnTo>
                        <a:pt x="8731" y="87313"/>
                      </a:lnTo>
                      <a:cubicBezTo>
                        <a:pt x="3909" y="87313"/>
                        <a:pt x="0" y="83403"/>
                        <a:pt x="0" y="78581"/>
                      </a:cubicBezTo>
                      <a:lnTo>
                        <a:pt x="0" y="8731"/>
                      </a:lnTo>
                    </a:path>
                  </a:pathLst>
                </a:custGeom>
                <a:noFill/>
                <a:ln w="17463">
                  <a:solidFill>
                    <a:srgbClr val="5B180B"/>
                  </a:solidFill>
                </a:ln>
              </p:spPr>
            </p:sp>
            <p:sp>
              <p:nvSpPr>
                <p:cNvPr id="162" name="Freeform 162"/>
                <p:cNvSpPr/>
                <p:nvPr/>
              </p:nvSpPr>
              <p:spPr>
                <a:xfrm>
                  <a:off x="5248275" y="3267075"/>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5B180B"/>
                  </a:solidFill>
                </a:ln>
              </p:spPr>
            </p:sp>
          </p:grpSp>
          <p:sp>
            <p:nvSpPr>
              <p:cNvPr id="164" name="TextBox 164"/>
              <p:cNvSpPr txBox="1"/>
              <p:nvPr/>
            </p:nvSpPr>
            <p:spPr>
              <a:xfrm>
                <a:off x="5046055" y="3435191"/>
                <a:ext cx="404440"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经营贷​</a:t>
                </a:r>
              </a:p>
            </p:txBody>
          </p:sp>
          <p:sp>
            <p:nvSpPr>
              <p:cNvPr id="165" name="TextBox 165"/>
              <p:cNvSpPr txBox="1"/>
              <p:nvPr/>
            </p:nvSpPr>
            <p:spPr>
              <a:xfrm>
                <a:off x="4943714" y="3575209"/>
                <a:ext cx="609122" cy="133350"/>
              </a:xfrm>
              <a:prstGeom prst="rect">
                <a:avLst/>
              </a:prstGeom>
              <a:noFill/>
              <a:ln>
                <a:noFill/>
              </a:ln>
            </p:spPr>
            <p:txBody>
              <a:bodyPr wrap="none" lIns="0" tIns="0" rIns="0" bIns="0" anchor="t" anchorCtr="0">
                <a:spAutoFit/>
              </a:bodyPr>
              <a:lstStyle/>
              <a:p>
                <a:pPr algn="ctr"/>
                <a:r>
                  <a:rPr lang="zh-CN" sz="680" dirty="0">
                    <a:solidFill>
                      <a:srgbClr val="8AA39C"/>
                    </a:solidFill>
                    <a:latin typeface="+mn-lt"/>
                    <a:ea typeface="+mn-ea"/>
                    <a:cs typeface="+mn-cs"/>
                  </a:rPr>
                  <a:t>（专项额度）​</a:t>
                </a:r>
              </a:p>
            </p:txBody>
          </p:sp>
          <p:sp>
            <p:nvSpPr>
              <p:cNvPr id="166" name="TextBox 166"/>
              <p:cNvSpPr txBox="1"/>
              <p:nvPr/>
            </p:nvSpPr>
            <p:spPr>
              <a:xfrm>
                <a:off x="5938838" y="3180636"/>
                <a:ext cx="76478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个人/企业结算​</a:t>
                </a:r>
              </a:p>
            </p:txBody>
          </p:sp>
          <p:sp>
            <p:nvSpPr>
              <p:cNvPr id="167" name="TextBox 167"/>
              <p:cNvSpPr txBox="1"/>
              <p:nvPr/>
            </p:nvSpPr>
            <p:spPr>
              <a:xfrm>
                <a:off x="5938838" y="3313986"/>
                <a:ext cx="42547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信用卡​</a:t>
                </a:r>
              </a:p>
            </p:txBody>
          </p:sp>
          <p:sp>
            <p:nvSpPr>
              <p:cNvPr id="168" name="TextBox 168"/>
              <p:cNvSpPr txBox="1"/>
              <p:nvPr/>
            </p:nvSpPr>
            <p:spPr>
              <a:xfrm>
                <a:off x="5938838" y="3447336"/>
                <a:ext cx="52105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现金管理​</a:t>
                </a:r>
              </a:p>
            </p:txBody>
          </p:sp>
          <p:sp>
            <p:nvSpPr>
              <p:cNvPr id="169" name="TextBox 169"/>
              <p:cNvSpPr txBox="1"/>
              <p:nvPr/>
            </p:nvSpPr>
            <p:spPr>
              <a:xfrm>
                <a:off x="5938838" y="35806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财务顾问服务​</a:t>
                </a:r>
              </a:p>
            </p:txBody>
          </p:sp>
          <p:sp>
            <p:nvSpPr>
              <p:cNvPr id="170" name="TextBox 170"/>
              <p:cNvSpPr txBox="1"/>
              <p:nvPr/>
            </p:nvSpPr>
            <p:spPr>
              <a:xfrm>
                <a:off x="7234238" y="31806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客户经理回访​</a:t>
                </a:r>
              </a:p>
            </p:txBody>
          </p:sp>
          <p:sp>
            <p:nvSpPr>
              <p:cNvPr id="171" name="TextBox 171"/>
              <p:cNvSpPr txBox="1"/>
              <p:nvPr/>
            </p:nvSpPr>
            <p:spPr>
              <a:xfrm>
                <a:off x="7234238" y="3313986"/>
                <a:ext cx="95594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手机银行/企业网银​</a:t>
                </a:r>
              </a:p>
            </p:txBody>
          </p:sp>
          <p:sp>
            <p:nvSpPr>
              <p:cNvPr id="172" name="TextBox 172"/>
              <p:cNvSpPr txBox="1"/>
              <p:nvPr/>
            </p:nvSpPr>
            <p:spPr>
              <a:xfrm>
                <a:off x="7234238" y="34473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行业专场活动​</a:t>
                </a:r>
              </a:p>
            </p:txBody>
          </p:sp>
          <p:sp>
            <p:nvSpPr>
              <p:cNvPr id="173" name="TextBox 173"/>
              <p:cNvSpPr txBox="1"/>
              <p:nvPr/>
            </p:nvSpPr>
            <p:spPr>
              <a:xfrm>
                <a:off x="7234238" y="35806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网点绿色通道​</a:t>
                </a:r>
              </a:p>
            </p:txBody>
          </p:sp>
          <p:sp>
            <p:nvSpPr>
              <p:cNvPr id="174" name="TextBox 174"/>
              <p:cNvSpPr txBox="1"/>
              <p:nvPr/>
            </p:nvSpPr>
            <p:spPr>
              <a:xfrm>
                <a:off x="8922441" y="3309938"/>
                <a:ext cx="976517"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新增贷款或提升授信​</a:t>
                </a:r>
              </a:p>
            </p:txBody>
          </p:sp>
          <p:sp>
            <p:nvSpPr>
              <p:cNvPr id="175" name="TextBox 175"/>
              <p:cNvSpPr txBox="1"/>
              <p:nvPr/>
            </p:nvSpPr>
            <p:spPr>
              <a:xfrm>
                <a:off x="9023406" y="3443288"/>
                <a:ext cx="774587"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并开通结算账户​</a:t>
                </a:r>
              </a:p>
            </p:txBody>
          </p:sp>
          <p:sp>
            <p:nvSpPr>
              <p:cNvPr id="176" name="TextBox 176"/>
              <p:cNvSpPr txBox="1"/>
              <p:nvPr/>
            </p:nvSpPr>
            <p:spPr>
              <a:xfrm>
                <a:off x="10353584" y="3375660"/>
                <a:ext cx="419283" cy="234696"/>
              </a:xfrm>
              <a:prstGeom prst="rect">
                <a:avLst/>
              </a:prstGeom>
              <a:noFill/>
              <a:ln>
                <a:noFill/>
              </a:ln>
            </p:spPr>
            <p:txBody>
              <a:bodyPr wrap="none" lIns="0" tIns="0" rIns="0" bIns="0" anchor="t" anchorCtr="0">
                <a:spAutoFit/>
              </a:bodyPr>
              <a:lstStyle/>
              <a:p>
                <a:pPr algn="ctr"/>
                <a:r>
                  <a:rPr lang="zh-CN" sz="1200" b="1" dirty="0">
                    <a:solidFill>
                      <a:srgbClr val="5B180B"/>
                    </a:solidFill>
                    <a:latin typeface="+mn-lt"/>
                    <a:ea typeface="+mn-ea"/>
                    <a:cs typeface="+mn-cs"/>
                  </a:rPr>
                  <a:t>22%​</a:t>
                </a:r>
              </a:p>
            </p:txBody>
          </p:sp>
          <p:sp>
            <p:nvSpPr>
              <p:cNvPr id="177" name="TextBox 177"/>
              <p:cNvSpPr txBox="1"/>
              <p:nvPr/>
            </p:nvSpPr>
            <p:spPr>
              <a:xfrm>
                <a:off x="11044047" y="3304699"/>
                <a:ext cx="238471"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78​</a:t>
                </a:r>
              </a:p>
            </p:txBody>
          </p:sp>
          <p:sp>
            <p:nvSpPr>
              <p:cNvPr id="178" name="Rectangle 178"/>
              <p:cNvSpPr/>
              <p:nvPr/>
            </p:nvSpPr>
            <p:spPr>
              <a:xfrm>
                <a:off x="11049000" y="3486150"/>
                <a:ext cx="762000" cy="57150"/>
              </a:xfrm>
              <a:prstGeom prst="rect">
                <a:avLst/>
              </a:prstGeom>
              <a:solidFill>
                <a:srgbClr val="E3F1EC"/>
              </a:solidFill>
              <a:ln>
                <a:noFill/>
              </a:ln>
            </p:spPr>
          </p:sp>
          <p:sp>
            <p:nvSpPr>
              <p:cNvPr id="179" name="Rectangle 179"/>
              <p:cNvSpPr/>
              <p:nvPr/>
            </p:nvSpPr>
            <p:spPr>
              <a:xfrm>
                <a:off x="11049000" y="3486150"/>
                <a:ext cx="590550" cy="57150"/>
              </a:xfrm>
              <a:prstGeom prst="rect">
                <a:avLst/>
              </a:prstGeom>
              <a:solidFill>
                <a:srgbClr val="5B180B"/>
              </a:solidFill>
              <a:ln>
                <a:noFill/>
              </a:ln>
            </p:spPr>
          </p:sp>
        </p:grpSp>
        <p:grpSp>
          <p:nvGrpSpPr>
            <p:cNvPr id="215" name="seg-row5"/>
            <p:cNvGrpSpPr/>
            <p:nvPr/>
          </p:nvGrpSpPr>
          <p:grpSpPr>
            <a:xfrm>
              <a:off x="492262" y="3847386"/>
              <a:ext cx="11318738" cy="540544"/>
              <a:chOff x="492262" y="3847386"/>
              <a:chExt cx="11318738" cy="540544"/>
            </a:xfrm>
          </p:grpSpPr>
          <p:grpSp>
            <p:nvGrpSpPr>
              <p:cNvPr id="185" name="Group 185"/>
              <p:cNvGrpSpPr/>
              <p:nvPr/>
            </p:nvGrpSpPr>
            <p:grpSpPr>
              <a:xfrm>
                <a:off x="673100" y="3900488"/>
                <a:ext cx="177800" cy="200025"/>
                <a:chOff x="673100" y="3900488"/>
                <a:chExt cx="177800" cy="200025"/>
              </a:xfrm>
            </p:grpSpPr>
            <p:sp>
              <p:nvSpPr>
                <p:cNvPr id="181" name="Freeform 181"/>
                <p:cNvSpPr/>
                <p:nvPr/>
              </p:nvSpPr>
              <p:spPr>
                <a:xfrm>
                  <a:off x="673100" y="405606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5B180B"/>
                  </a:solidFill>
                </a:ln>
              </p:spPr>
            </p:sp>
            <p:sp>
              <p:nvSpPr>
                <p:cNvPr id="182" name="Freeform 182"/>
                <p:cNvSpPr/>
                <p:nvPr/>
              </p:nvSpPr>
              <p:spPr>
                <a:xfrm>
                  <a:off x="795338" y="405606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5B180B"/>
                  </a:solidFill>
                </a:ln>
              </p:spPr>
            </p:sp>
            <p:sp>
              <p:nvSpPr>
                <p:cNvPr id="183" name="Freeform 183"/>
                <p:cNvSpPr/>
                <p:nvPr/>
              </p:nvSpPr>
              <p:spPr>
                <a:xfrm>
                  <a:off x="673100" y="3900488"/>
                  <a:ext cx="144463" cy="155575"/>
                </a:xfrm>
                <a:custGeom>
                  <a:avLst/>
                  <a:gdLst/>
                  <a:ahLst/>
                  <a:cxnLst/>
                  <a:rect l="l" t="t" r="r" b="b"/>
                  <a:pathLst>
                    <a:path w="144463" h="155575">
                      <a:moveTo>
                        <a:pt x="144463" y="155575"/>
                      </a:moveTo>
                      <a:lnTo>
                        <a:pt x="22225" y="155575"/>
                      </a:lnTo>
                      <a:lnTo>
                        <a:pt x="22225" y="0"/>
                      </a:lnTo>
                      <a:lnTo>
                        <a:pt x="0" y="0"/>
                      </a:lnTo>
                    </a:path>
                  </a:pathLst>
                </a:custGeom>
                <a:noFill/>
                <a:ln w="22225">
                  <a:solidFill>
                    <a:srgbClr val="5B180B"/>
                  </a:solidFill>
                </a:ln>
              </p:spPr>
            </p:sp>
            <p:sp>
              <p:nvSpPr>
                <p:cNvPr id="184" name="Freeform 184"/>
                <p:cNvSpPr/>
                <p:nvPr/>
              </p:nvSpPr>
              <p:spPr>
                <a:xfrm>
                  <a:off x="695325" y="3922713"/>
                  <a:ext cx="155575" cy="88900"/>
                </a:xfrm>
                <a:custGeom>
                  <a:avLst/>
                  <a:gdLst/>
                  <a:ahLst/>
                  <a:cxnLst/>
                  <a:rect l="l" t="t" r="r" b="b"/>
                  <a:pathLst>
                    <a:path w="155575" h="88900">
                      <a:moveTo>
                        <a:pt x="0" y="0"/>
                      </a:moveTo>
                      <a:lnTo>
                        <a:pt x="155575" y="11113"/>
                      </a:lnTo>
                      <a:lnTo>
                        <a:pt x="144463" y="88900"/>
                      </a:lnTo>
                      <a:lnTo>
                        <a:pt x="0" y="88900"/>
                      </a:lnTo>
                    </a:path>
                  </a:pathLst>
                </a:custGeom>
                <a:noFill/>
                <a:ln w="22225">
                  <a:solidFill>
                    <a:srgbClr val="5B180B"/>
                  </a:solidFill>
                </a:ln>
              </p:spPr>
            </p:sp>
          </p:grpSp>
          <p:sp>
            <p:nvSpPr>
              <p:cNvPr id="186" name="TextBox 186"/>
              <p:cNvSpPr txBox="1"/>
              <p:nvPr/>
            </p:nvSpPr>
            <p:spPr>
              <a:xfrm>
                <a:off x="492262" y="4212193"/>
                <a:ext cx="539477" cy="169069"/>
              </a:xfrm>
              <a:prstGeom prst="rect">
                <a:avLst/>
              </a:prstGeom>
              <a:noFill/>
              <a:ln>
                <a:noFill/>
              </a:ln>
            </p:spPr>
            <p:txBody>
              <a:bodyPr wrap="none" lIns="0" tIns="0" rIns="0" bIns="0" anchor="t" anchorCtr="0">
                <a:spAutoFit/>
              </a:bodyPr>
              <a:lstStyle/>
              <a:p>
                <a:pPr algn="ctr"/>
                <a:r>
                  <a:rPr lang="zh-CN" sz="860" b="1" dirty="0">
                    <a:solidFill>
                      <a:srgbClr val="5B180B"/>
                    </a:solidFill>
                    <a:latin typeface="+mn-lt"/>
                    <a:ea typeface="+mn-ea"/>
                    <a:cs typeface="+mn-cs"/>
                  </a:rPr>
                  <a:t>商户客户​</a:t>
                </a:r>
              </a:p>
            </p:txBody>
          </p:sp>
          <p:sp>
            <p:nvSpPr>
              <p:cNvPr id="187" name="TextBox 187"/>
              <p:cNvSpPr txBox="1"/>
              <p:nvPr/>
            </p:nvSpPr>
            <p:spPr>
              <a:xfrm>
                <a:off x="1328738" y="3847386"/>
                <a:ext cx="936833"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收单商户 4,200 户​</a:t>
                </a:r>
              </a:p>
            </p:txBody>
          </p:sp>
          <p:sp>
            <p:nvSpPr>
              <p:cNvPr id="188" name="TextBox 188"/>
              <p:cNvSpPr txBox="1"/>
              <p:nvPr/>
            </p:nvSpPr>
            <p:spPr>
              <a:xfrm>
                <a:off x="1328738" y="3980736"/>
                <a:ext cx="927275"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月均流水 3.8 亿元​</a:t>
                </a:r>
              </a:p>
            </p:txBody>
          </p:sp>
          <p:sp>
            <p:nvSpPr>
              <p:cNvPr id="189" name="TextBox 189"/>
              <p:cNvSpPr txBox="1"/>
              <p:nvPr/>
            </p:nvSpPr>
            <p:spPr>
              <a:xfrm>
                <a:off x="1328738" y="4114086"/>
                <a:ext cx="1476861"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以本地零售、餐饮、服务业为主​</a:t>
                </a:r>
              </a:p>
            </p:txBody>
          </p:sp>
          <p:sp>
            <p:nvSpPr>
              <p:cNvPr id="190" name="TextBox 190"/>
              <p:cNvSpPr txBox="1"/>
              <p:nvPr/>
            </p:nvSpPr>
            <p:spPr>
              <a:xfrm>
                <a:off x="1328738" y="424743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交易活跃，黏性较高​</a:t>
                </a:r>
              </a:p>
            </p:txBody>
          </p:sp>
          <p:sp>
            <p:nvSpPr>
              <p:cNvPr id="191" name="TextBox 191"/>
              <p:cNvSpPr txBox="1"/>
              <p:nvPr/>
            </p:nvSpPr>
            <p:spPr>
              <a:xfrm>
                <a:off x="3481388" y="38473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收款高效便捷​</a:t>
                </a:r>
              </a:p>
            </p:txBody>
          </p:sp>
          <p:sp>
            <p:nvSpPr>
              <p:cNvPr id="192" name="TextBox 192"/>
              <p:cNvSpPr txBox="1"/>
              <p:nvPr/>
            </p:nvSpPr>
            <p:spPr>
              <a:xfrm>
                <a:off x="3481388" y="398073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降低手续费成本​</a:t>
                </a:r>
              </a:p>
            </p:txBody>
          </p:sp>
          <p:sp>
            <p:nvSpPr>
              <p:cNvPr id="193" name="TextBox 193"/>
              <p:cNvSpPr txBox="1"/>
              <p:nvPr/>
            </p:nvSpPr>
            <p:spPr>
              <a:xfrm>
                <a:off x="3481388" y="41140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经营资金支持​</a:t>
                </a:r>
              </a:p>
            </p:txBody>
          </p:sp>
          <p:sp>
            <p:nvSpPr>
              <p:cNvPr id="194" name="TextBox 194"/>
              <p:cNvSpPr txBox="1"/>
              <p:nvPr/>
            </p:nvSpPr>
            <p:spPr>
              <a:xfrm>
                <a:off x="3481388" y="424743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数字化经营工具​</a:t>
                </a:r>
              </a:p>
            </p:txBody>
          </p:sp>
          <p:grpSp>
            <p:nvGrpSpPr>
              <p:cNvPr id="198" name="Group 198"/>
              <p:cNvGrpSpPr/>
              <p:nvPr/>
            </p:nvGrpSpPr>
            <p:grpSpPr>
              <a:xfrm>
                <a:off x="5195888" y="3855244"/>
                <a:ext cx="104775" cy="157163"/>
                <a:chOff x="5195888" y="3855244"/>
                <a:chExt cx="104775" cy="157163"/>
              </a:xfrm>
            </p:grpSpPr>
            <p:sp>
              <p:nvSpPr>
                <p:cNvPr id="195" name="Freeform 195"/>
                <p:cNvSpPr/>
                <p:nvPr/>
              </p:nvSpPr>
              <p:spPr>
                <a:xfrm>
                  <a:off x="5195888" y="3855244"/>
                  <a:ext cx="104775" cy="157163"/>
                </a:xfrm>
                <a:custGeom>
                  <a:avLst/>
                  <a:gdLst/>
                  <a:ahLst/>
                  <a:cxnLst/>
                  <a:rect l="l" t="t" r="r" b="b"/>
                  <a:pathLst>
                    <a:path w="104775" h="157163">
                      <a:moveTo>
                        <a:pt x="0" y="17463"/>
                      </a:moveTo>
                      <a:cubicBezTo>
                        <a:pt x="0" y="7818"/>
                        <a:pt x="7818" y="0"/>
                        <a:pt x="17463" y="0"/>
                      </a:cubicBezTo>
                      <a:lnTo>
                        <a:pt x="87313" y="0"/>
                      </a:lnTo>
                      <a:cubicBezTo>
                        <a:pt x="96957" y="0"/>
                        <a:pt x="104775" y="7818"/>
                        <a:pt x="104775" y="17463"/>
                      </a:cubicBezTo>
                      <a:lnTo>
                        <a:pt x="104775" y="139700"/>
                      </a:lnTo>
                      <a:cubicBezTo>
                        <a:pt x="104775" y="149344"/>
                        <a:pt x="96957" y="157163"/>
                        <a:pt x="87313" y="157163"/>
                      </a:cubicBezTo>
                      <a:lnTo>
                        <a:pt x="17463" y="157163"/>
                      </a:lnTo>
                      <a:cubicBezTo>
                        <a:pt x="7818" y="157163"/>
                        <a:pt x="0" y="149344"/>
                        <a:pt x="0" y="139700"/>
                      </a:cubicBezTo>
                      <a:lnTo>
                        <a:pt x="0" y="17463"/>
                      </a:lnTo>
                    </a:path>
                  </a:pathLst>
                </a:custGeom>
                <a:noFill/>
                <a:ln w="17463">
                  <a:solidFill>
                    <a:srgbClr val="5B180B"/>
                  </a:solidFill>
                </a:ln>
              </p:spPr>
            </p:sp>
            <p:sp>
              <p:nvSpPr>
                <p:cNvPr id="196" name="Freeform 196"/>
                <p:cNvSpPr/>
                <p:nvPr/>
              </p:nvSpPr>
              <p:spPr>
                <a:xfrm>
                  <a:off x="5239544" y="3863975"/>
                  <a:ext cx="17463" cy="9525"/>
                </a:xfrm>
                <a:custGeom>
                  <a:avLst/>
                  <a:gdLst/>
                  <a:ahLst/>
                  <a:cxnLst/>
                  <a:rect l="l" t="t" r="r" b="b"/>
                  <a:pathLst>
                    <a:path w="17463" h="9525">
                      <a:moveTo>
                        <a:pt x="0" y="0"/>
                      </a:moveTo>
                      <a:lnTo>
                        <a:pt x="17463" y="0"/>
                      </a:lnTo>
                    </a:path>
                  </a:pathLst>
                </a:custGeom>
                <a:noFill/>
                <a:ln w="17463">
                  <a:solidFill>
                    <a:srgbClr val="5B180B"/>
                  </a:solidFill>
                </a:ln>
              </p:spPr>
            </p:sp>
            <p:sp>
              <p:nvSpPr>
                <p:cNvPr id="197" name="Freeform 197"/>
                <p:cNvSpPr/>
                <p:nvPr/>
              </p:nvSpPr>
              <p:spPr>
                <a:xfrm>
                  <a:off x="5248275" y="3977481"/>
                  <a:ext cx="9525" cy="9525"/>
                </a:xfrm>
                <a:custGeom>
                  <a:avLst/>
                  <a:gdLst/>
                  <a:ahLst/>
                  <a:cxnLst/>
                  <a:rect l="l" t="t" r="r" b="b"/>
                  <a:pathLst>
                    <a:path w="9525" h="9525">
                      <a:moveTo>
                        <a:pt x="0" y="0"/>
                      </a:moveTo>
                      <a:lnTo>
                        <a:pt x="0" y="87"/>
                      </a:lnTo>
                    </a:path>
                  </a:pathLst>
                </a:custGeom>
                <a:noFill/>
                <a:ln w="17463">
                  <a:solidFill>
                    <a:srgbClr val="5B180B"/>
                  </a:solidFill>
                </a:ln>
              </p:spPr>
            </p:sp>
          </p:grpSp>
          <p:sp>
            <p:nvSpPr>
              <p:cNvPr id="199" name="TextBox 199"/>
              <p:cNvSpPr txBox="1"/>
              <p:nvPr/>
            </p:nvSpPr>
            <p:spPr>
              <a:xfrm>
                <a:off x="4990861" y="4101941"/>
                <a:ext cx="514828" cy="161925"/>
              </a:xfrm>
              <a:prstGeom prst="rect">
                <a:avLst/>
              </a:prstGeom>
              <a:noFill/>
              <a:ln>
                <a:noFill/>
              </a:ln>
            </p:spPr>
            <p:txBody>
              <a:bodyPr wrap="none" lIns="0" tIns="0" rIns="0" bIns="0" anchor="t" anchorCtr="0">
                <a:spAutoFit/>
              </a:bodyPr>
              <a:lstStyle/>
              <a:p>
                <a:pPr algn="ctr"/>
                <a:r>
                  <a:rPr lang="zh-CN" sz="820" b="1" dirty="0">
                    <a:solidFill>
                      <a:srgbClr val="312624"/>
                    </a:solidFill>
                    <a:latin typeface="+mn-lt"/>
                    <a:ea typeface="+mn-ea"/>
                    <a:cs typeface="+mn-cs"/>
                  </a:rPr>
                  <a:t>商户收单​</a:t>
                </a:r>
              </a:p>
            </p:txBody>
          </p:sp>
          <p:sp>
            <p:nvSpPr>
              <p:cNvPr id="200" name="TextBox 200"/>
              <p:cNvSpPr txBox="1"/>
              <p:nvPr/>
            </p:nvSpPr>
            <p:spPr>
              <a:xfrm>
                <a:off x="4945786" y="4241959"/>
                <a:ext cx="604977" cy="133350"/>
              </a:xfrm>
              <a:prstGeom prst="rect">
                <a:avLst/>
              </a:prstGeom>
              <a:noFill/>
              <a:ln>
                <a:noFill/>
              </a:ln>
            </p:spPr>
            <p:txBody>
              <a:bodyPr wrap="none" lIns="0" tIns="0" rIns="0" bIns="0" anchor="t" anchorCtr="0">
                <a:spAutoFit/>
              </a:bodyPr>
              <a:lstStyle/>
              <a:p>
                <a:pPr algn="ctr"/>
                <a:r>
                  <a:rPr lang="zh-CN" sz="680" dirty="0">
                    <a:solidFill>
                      <a:srgbClr val="8AA39C"/>
                    </a:solidFill>
                    <a:latin typeface="+mn-lt"/>
                    <a:ea typeface="+mn-ea"/>
                    <a:cs typeface="+mn-cs"/>
                  </a:rPr>
                  <a:t>（智能POS）​</a:t>
                </a:r>
              </a:p>
            </p:txBody>
          </p:sp>
          <p:sp>
            <p:nvSpPr>
              <p:cNvPr id="201" name="TextBox 201"/>
              <p:cNvSpPr txBox="1"/>
              <p:nvPr/>
            </p:nvSpPr>
            <p:spPr>
              <a:xfrm>
                <a:off x="5938838" y="3847386"/>
                <a:ext cx="61664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商户经营贷​</a:t>
                </a:r>
              </a:p>
            </p:txBody>
          </p:sp>
          <p:sp>
            <p:nvSpPr>
              <p:cNvPr id="202" name="TextBox 202"/>
              <p:cNvSpPr txBox="1"/>
              <p:nvPr/>
            </p:nvSpPr>
            <p:spPr>
              <a:xfrm>
                <a:off x="5938838" y="39807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资金结算账户​</a:t>
                </a:r>
              </a:p>
            </p:txBody>
          </p:sp>
          <p:sp>
            <p:nvSpPr>
              <p:cNvPr id="203" name="TextBox 203"/>
              <p:cNvSpPr txBox="1"/>
              <p:nvPr/>
            </p:nvSpPr>
            <p:spPr>
              <a:xfrm>
                <a:off x="5938838" y="4114086"/>
                <a:ext cx="52105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商户保险​</a:t>
                </a:r>
              </a:p>
            </p:txBody>
          </p:sp>
          <p:sp>
            <p:nvSpPr>
              <p:cNvPr id="204" name="TextBox 204"/>
              <p:cNvSpPr txBox="1"/>
              <p:nvPr/>
            </p:nvSpPr>
            <p:spPr>
              <a:xfrm>
                <a:off x="5938838" y="424743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会员营销服务​</a:t>
                </a:r>
              </a:p>
            </p:txBody>
          </p:sp>
          <p:sp>
            <p:nvSpPr>
              <p:cNvPr id="205" name="TextBox 205"/>
              <p:cNvSpPr txBox="1"/>
              <p:nvPr/>
            </p:nvSpPr>
            <p:spPr>
              <a:xfrm>
                <a:off x="7234238" y="38473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客户经理上门​</a:t>
                </a:r>
              </a:p>
            </p:txBody>
          </p:sp>
          <p:sp>
            <p:nvSpPr>
              <p:cNvPr id="206" name="TextBox 206"/>
              <p:cNvSpPr txBox="1"/>
              <p:nvPr/>
            </p:nvSpPr>
            <p:spPr>
              <a:xfrm>
                <a:off x="7234238" y="3980736"/>
                <a:ext cx="95594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商户微信群/小程序​</a:t>
                </a:r>
              </a:p>
            </p:txBody>
          </p:sp>
          <p:sp>
            <p:nvSpPr>
              <p:cNvPr id="207" name="TextBox 207"/>
              <p:cNvSpPr txBox="1"/>
              <p:nvPr/>
            </p:nvSpPr>
            <p:spPr>
              <a:xfrm>
                <a:off x="7234238" y="41140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行业合作活动​</a:t>
                </a:r>
              </a:p>
            </p:txBody>
          </p:sp>
          <p:sp>
            <p:nvSpPr>
              <p:cNvPr id="208" name="TextBox 208"/>
              <p:cNvSpPr txBox="1"/>
              <p:nvPr/>
            </p:nvSpPr>
            <p:spPr>
              <a:xfrm>
                <a:off x="7234238" y="4247436"/>
                <a:ext cx="90338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网点商户服务专区​</a:t>
                </a:r>
              </a:p>
            </p:txBody>
          </p:sp>
          <p:sp>
            <p:nvSpPr>
              <p:cNvPr id="209" name="TextBox 209"/>
              <p:cNvSpPr txBox="1"/>
              <p:nvPr/>
            </p:nvSpPr>
            <p:spPr>
              <a:xfrm>
                <a:off x="9023406" y="3976688"/>
                <a:ext cx="774587"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开通收单并完成​</a:t>
                </a:r>
              </a:p>
            </p:txBody>
          </p:sp>
          <p:sp>
            <p:nvSpPr>
              <p:cNvPr id="210" name="TextBox 210"/>
              <p:cNvSpPr txBox="1"/>
              <p:nvPr/>
            </p:nvSpPr>
            <p:spPr>
              <a:xfrm>
                <a:off x="9015582" y="4110038"/>
                <a:ext cx="790237"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首笔≥1万元交易​</a:t>
                </a:r>
              </a:p>
            </p:txBody>
          </p:sp>
          <p:sp>
            <p:nvSpPr>
              <p:cNvPr id="211" name="TextBox 211"/>
              <p:cNvSpPr txBox="1"/>
              <p:nvPr/>
            </p:nvSpPr>
            <p:spPr>
              <a:xfrm>
                <a:off x="10353584" y="4042410"/>
                <a:ext cx="419283" cy="234696"/>
              </a:xfrm>
              <a:prstGeom prst="rect">
                <a:avLst/>
              </a:prstGeom>
              <a:noFill/>
              <a:ln>
                <a:noFill/>
              </a:ln>
            </p:spPr>
            <p:txBody>
              <a:bodyPr wrap="none" lIns="0" tIns="0" rIns="0" bIns="0" anchor="t" anchorCtr="0">
                <a:spAutoFit/>
              </a:bodyPr>
              <a:lstStyle/>
              <a:p>
                <a:pPr algn="ctr"/>
                <a:r>
                  <a:rPr lang="zh-CN" sz="1200" b="1" dirty="0">
                    <a:solidFill>
                      <a:srgbClr val="5B180B"/>
                    </a:solidFill>
                    <a:latin typeface="+mn-lt"/>
                    <a:ea typeface="+mn-ea"/>
                    <a:cs typeface="+mn-cs"/>
                  </a:rPr>
                  <a:t>30%​</a:t>
                </a:r>
              </a:p>
            </p:txBody>
          </p:sp>
          <p:sp>
            <p:nvSpPr>
              <p:cNvPr id="212" name="TextBox 212"/>
              <p:cNvSpPr txBox="1"/>
              <p:nvPr/>
            </p:nvSpPr>
            <p:spPr>
              <a:xfrm>
                <a:off x="11044047" y="3971449"/>
                <a:ext cx="238471"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80​</a:t>
                </a:r>
              </a:p>
            </p:txBody>
          </p:sp>
          <p:sp>
            <p:nvSpPr>
              <p:cNvPr id="213" name="Rectangle 213"/>
              <p:cNvSpPr/>
              <p:nvPr/>
            </p:nvSpPr>
            <p:spPr>
              <a:xfrm>
                <a:off x="11049000" y="4152900"/>
                <a:ext cx="762000" cy="57150"/>
              </a:xfrm>
              <a:prstGeom prst="rect">
                <a:avLst/>
              </a:prstGeom>
              <a:solidFill>
                <a:srgbClr val="E3F1EC"/>
              </a:solidFill>
              <a:ln>
                <a:noFill/>
              </a:ln>
            </p:spPr>
          </p:sp>
          <p:sp>
            <p:nvSpPr>
              <p:cNvPr id="214" name="Rectangle 214"/>
              <p:cNvSpPr/>
              <p:nvPr/>
            </p:nvSpPr>
            <p:spPr>
              <a:xfrm>
                <a:off x="11049000" y="4152900"/>
                <a:ext cx="609600" cy="57150"/>
              </a:xfrm>
              <a:prstGeom prst="rect">
                <a:avLst/>
              </a:prstGeom>
              <a:solidFill>
                <a:srgbClr val="5B180B"/>
              </a:solidFill>
              <a:ln>
                <a:noFill/>
              </a:ln>
            </p:spPr>
          </p:sp>
        </p:grpSp>
      </p:grpSp>
      <p:grpSp>
        <p:nvGrpSpPr>
          <p:cNvPr id="292" name="nba-flow"/>
          <p:cNvGrpSpPr/>
          <p:nvPr/>
        </p:nvGrpSpPr>
        <p:grpSpPr>
          <a:xfrm>
            <a:off x="228600" y="4533900"/>
            <a:ext cx="11734800" cy="2286000"/>
            <a:chOff x="228600" y="4533900"/>
            <a:chExt cx="11734800" cy="2286000"/>
          </a:xfrm>
        </p:grpSpPr>
        <p:sp>
          <p:nvSpPr>
            <p:cNvPr id="217" name="Rectangle 217"/>
            <p:cNvSpPr/>
            <p:nvPr/>
          </p:nvSpPr>
          <p:spPr>
            <a:xfrm>
              <a:off x="228600" y="4533900"/>
              <a:ext cx="11734800" cy="2286000"/>
            </a:xfrm>
            <a:prstGeom prst="roundRect">
              <a:avLst>
                <a:gd name="adj" fmla="val 3333"/>
              </a:avLst>
            </a:prstGeom>
            <a:solidFill>
              <a:srgbClr val="F5FAF8"/>
            </a:solidFill>
            <a:ln w="9525">
              <a:solidFill>
                <a:srgbClr val="D9E8E2"/>
              </a:solidFill>
            </a:ln>
          </p:spPr>
        </p:sp>
        <p:sp>
          <p:nvSpPr>
            <p:cNvPr id="218" name="Rectangle 218"/>
            <p:cNvSpPr/>
            <p:nvPr/>
          </p:nvSpPr>
          <p:spPr>
            <a:xfrm>
              <a:off x="228600" y="4533900"/>
              <a:ext cx="2190750" cy="228600"/>
            </a:xfrm>
            <a:prstGeom prst="roundRect">
              <a:avLst>
                <a:gd name="adj" fmla="val 16667"/>
              </a:avLst>
            </a:prstGeom>
            <a:solidFill>
              <a:srgbClr val="5B180B"/>
            </a:solidFill>
            <a:ln>
              <a:noFill/>
            </a:ln>
          </p:spPr>
        </p:sp>
        <p:sp>
          <p:nvSpPr>
            <p:cNvPr id="219" name="TextBox 219"/>
            <p:cNvSpPr txBox="1"/>
            <p:nvPr/>
          </p:nvSpPr>
          <p:spPr>
            <a:xfrm>
              <a:off x="338138" y="4598670"/>
              <a:ext cx="163401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下一步最佳行动（NBA）逻辑​</a:t>
              </a:r>
            </a:p>
          </p:txBody>
        </p:sp>
        <p:sp>
          <p:nvSpPr>
            <p:cNvPr id="220" name="Freeform 220"/>
            <p:cNvSpPr/>
            <p:nvPr/>
          </p:nvSpPr>
          <p:spPr>
            <a:xfrm>
              <a:off x="285750" y="4838700"/>
              <a:ext cx="1943100" cy="381000"/>
            </a:xfrm>
            <a:prstGeom prst="homePlate">
              <a:avLst>
                <a:gd name="adj" fmla="val 35000"/>
              </a:avLst>
            </a:prstGeom>
            <a:solidFill>
              <a:srgbClr val="E9F4F0"/>
            </a:solidFill>
            <a:ln>
              <a:noFill/>
            </a:ln>
          </p:spPr>
        </p:sp>
        <p:sp>
          <p:nvSpPr>
            <p:cNvPr id="221" name="Ellipse 221"/>
            <p:cNvSpPr/>
            <p:nvPr/>
          </p:nvSpPr>
          <p:spPr>
            <a:xfrm>
              <a:off x="371475" y="4924425"/>
              <a:ext cx="209550" cy="209550"/>
            </a:xfrm>
            <a:prstGeom prst="ellipse">
              <a:avLst/>
            </a:prstGeom>
            <a:solidFill>
              <a:srgbClr val="5B180B"/>
            </a:solidFill>
            <a:ln>
              <a:noFill/>
            </a:ln>
          </p:spPr>
        </p:sp>
        <p:sp>
          <p:nvSpPr>
            <p:cNvPr id="222" name="TextBox 222"/>
            <p:cNvSpPr txBox="1"/>
            <p:nvPr/>
          </p:nvSpPr>
          <p:spPr>
            <a:xfrm>
              <a:off x="407738" y="49782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a:t>
              </a:r>
            </a:p>
          </p:txBody>
        </p:sp>
        <p:grpSp>
          <p:nvGrpSpPr>
            <p:cNvPr id="227" name="Group 227"/>
            <p:cNvGrpSpPr/>
            <p:nvPr/>
          </p:nvGrpSpPr>
          <p:grpSpPr>
            <a:xfrm>
              <a:off x="652462" y="4965700"/>
              <a:ext cx="142875" cy="136525"/>
              <a:chOff x="652462" y="4965700"/>
              <a:chExt cx="142875" cy="136525"/>
            </a:xfrm>
          </p:grpSpPr>
          <p:sp>
            <p:nvSpPr>
              <p:cNvPr id="223" name="Freeform 223"/>
              <p:cNvSpPr/>
              <p:nvPr/>
            </p:nvSpPr>
            <p:spPr>
              <a:xfrm>
                <a:off x="652462" y="50292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5B180B"/>
                </a:solidFill>
              </a:ln>
            </p:spPr>
          </p:sp>
          <p:sp>
            <p:nvSpPr>
              <p:cNvPr id="224" name="Freeform 224"/>
              <p:cNvSpPr/>
              <p:nvPr/>
            </p:nvSpPr>
            <p:spPr>
              <a:xfrm>
                <a:off x="747712" y="49974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5B180B"/>
                </a:solidFill>
              </a:ln>
            </p:spPr>
          </p:sp>
          <p:sp>
            <p:nvSpPr>
              <p:cNvPr id="225" name="Freeform 225"/>
              <p:cNvSpPr/>
              <p:nvPr/>
            </p:nvSpPr>
            <p:spPr>
              <a:xfrm>
                <a:off x="700087" y="49657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5B180B"/>
                </a:solidFill>
              </a:ln>
            </p:spPr>
          </p:sp>
          <p:sp>
            <p:nvSpPr>
              <p:cNvPr id="226" name="Freeform 226"/>
              <p:cNvSpPr/>
              <p:nvPr/>
            </p:nvSpPr>
            <p:spPr>
              <a:xfrm>
                <a:off x="660400" y="5092700"/>
                <a:ext cx="111125" cy="9525"/>
              </a:xfrm>
              <a:custGeom>
                <a:avLst/>
                <a:gdLst/>
                <a:ahLst/>
                <a:cxnLst/>
                <a:rect l="l" t="t" r="r" b="b"/>
                <a:pathLst>
                  <a:path w="111125" h="9525">
                    <a:moveTo>
                      <a:pt x="0" y="0"/>
                    </a:moveTo>
                    <a:lnTo>
                      <a:pt x="111125" y="0"/>
                    </a:lnTo>
                  </a:path>
                </a:pathLst>
              </a:custGeom>
              <a:noFill/>
              <a:ln w="15875">
                <a:solidFill>
                  <a:srgbClr val="5B180B"/>
                </a:solidFill>
              </a:ln>
            </p:spPr>
          </p:sp>
        </p:grpSp>
        <p:sp>
          <p:nvSpPr>
            <p:cNvPr id="228" name="TextBox 228"/>
            <p:cNvSpPr txBox="1"/>
            <p:nvPr/>
          </p:nvSpPr>
          <p:spPr>
            <a:xfrm>
              <a:off x="909638" y="4911566"/>
              <a:ext cx="514828"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识别信号​</a:t>
              </a:r>
            </a:p>
          </p:txBody>
        </p:sp>
        <p:sp>
          <p:nvSpPr>
            <p:cNvPr id="229" name="TextBox 229"/>
            <p:cNvSpPr txBox="1"/>
            <p:nvPr/>
          </p:nvSpPr>
          <p:spPr>
            <a:xfrm>
              <a:off x="909638" y="5070634"/>
              <a:ext cx="609122"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（发现机会）​</a:t>
              </a:r>
            </a:p>
          </p:txBody>
        </p:sp>
        <p:sp>
          <p:nvSpPr>
            <p:cNvPr id="230" name="Freeform 230"/>
            <p:cNvSpPr/>
            <p:nvPr/>
          </p:nvSpPr>
          <p:spPr>
            <a:xfrm>
              <a:off x="2266950" y="4953000"/>
              <a:ext cx="95250" cy="152400"/>
            </a:xfrm>
            <a:prstGeom prst="chevron">
              <a:avLst/>
            </a:prstGeom>
            <a:solidFill>
              <a:srgbClr val="B57A6F"/>
            </a:solidFill>
            <a:ln>
              <a:noFill/>
            </a:ln>
          </p:spPr>
        </p:sp>
        <p:sp>
          <p:nvSpPr>
            <p:cNvPr id="231" name="Freeform 231"/>
            <p:cNvSpPr/>
            <p:nvPr/>
          </p:nvSpPr>
          <p:spPr>
            <a:xfrm>
              <a:off x="2419350" y="4838700"/>
              <a:ext cx="1943100" cy="381000"/>
            </a:xfrm>
            <a:prstGeom prst="homePlate">
              <a:avLst>
                <a:gd name="adj" fmla="val 35000"/>
              </a:avLst>
            </a:prstGeom>
            <a:solidFill>
              <a:srgbClr val="E9F4F0"/>
            </a:solidFill>
            <a:ln>
              <a:noFill/>
            </a:ln>
          </p:spPr>
        </p:sp>
        <p:sp>
          <p:nvSpPr>
            <p:cNvPr id="232" name="Ellipse 232"/>
            <p:cNvSpPr/>
            <p:nvPr/>
          </p:nvSpPr>
          <p:spPr>
            <a:xfrm>
              <a:off x="2505075" y="4924425"/>
              <a:ext cx="209550" cy="209550"/>
            </a:xfrm>
            <a:prstGeom prst="ellipse">
              <a:avLst/>
            </a:prstGeom>
            <a:solidFill>
              <a:srgbClr val="5B180B"/>
            </a:solidFill>
            <a:ln>
              <a:noFill/>
            </a:ln>
          </p:spPr>
        </p:sp>
        <p:sp>
          <p:nvSpPr>
            <p:cNvPr id="233" name="TextBox 233"/>
            <p:cNvSpPr txBox="1"/>
            <p:nvPr/>
          </p:nvSpPr>
          <p:spPr>
            <a:xfrm>
              <a:off x="2541338" y="49782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a:t>
              </a:r>
            </a:p>
          </p:txBody>
        </p:sp>
        <p:sp>
          <p:nvSpPr>
            <p:cNvPr id="234" name="Freeform 234"/>
            <p:cNvSpPr/>
            <p:nvPr/>
          </p:nvSpPr>
          <p:spPr>
            <a:xfrm>
              <a:off x="2786062" y="4957762"/>
              <a:ext cx="142875" cy="142875"/>
            </a:xfrm>
            <a:custGeom>
              <a:avLst/>
              <a:gdLst/>
              <a:ahLst/>
              <a:cxnLst/>
              <a:rect l="l" t="t" r="r" b="b"/>
              <a:pathLst>
                <a:path w="142875" h="142875">
                  <a:moveTo>
                    <a:pt x="7937" y="31750"/>
                  </a:moveTo>
                  <a:lnTo>
                    <a:pt x="31750" y="31750"/>
                  </a:lnTo>
                  <a:cubicBezTo>
                    <a:pt x="36134" y="31750"/>
                    <a:pt x="39687" y="28196"/>
                    <a:pt x="39687" y="23812"/>
                  </a:cubicBezTo>
                  <a:lnTo>
                    <a:pt x="39687" y="15875"/>
                  </a:lnTo>
                  <a:cubicBezTo>
                    <a:pt x="39687" y="7107"/>
                    <a:pt x="46795" y="0"/>
                    <a:pt x="55562" y="0"/>
                  </a:cubicBezTo>
                  <a:cubicBezTo>
                    <a:pt x="64330" y="0"/>
                    <a:pt x="71437" y="7107"/>
                    <a:pt x="71437" y="15875"/>
                  </a:cubicBezTo>
                  <a:lnTo>
                    <a:pt x="71437" y="23812"/>
                  </a:lnTo>
                  <a:cubicBezTo>
                    <a:pt x="71437" y="28196"/>
                    <a:pt x="74991" y="31750"/>
                    <a:pt x="79375" y="31750"/>
                  </a:cubicBezTo>
                  <a:lnTo>
                    <a:pt x="103187" y="31750"/>
                  </a:lnTo>
                  <a:cubicBezTo>
                    <a:pt x="107571" y="31750"/>
                    <a:pt x="111125" y="35304"/>
                    <a:pt x="111125" y="39687"/>
                  </a:cubicBezTo>
                  <a:lnTo>
                    <a:pt x="111125" y="63500"/>
                  </a:lnTo>
                  <a:cubicBezTo>
                    <a:pt x="111125" y="67884"/>
                    <a:pt x="114679" y="71437"/>
                    <a:pt x="119062" y="71437"/>
                  </a:cubicBezTo>
                  <a:lnTo>
                    <a:pt x="127000" y="71437"/>
                  </a:lnTo>
                  <a:cubicBezTo>
                    <a:pt x="135767" y="71437"/>
                    <a:pt x="142875" y="78545"/>
                    <a:pt x="142875" y="87312"/>
                  </a:cubicBezTo>
                  <a:cubicBezTo>
                    <a:pt x="142875" y="96080"/>
                    <a:pt x="135767" y="103187"/>
                    <a:pt x="127000" y="103187"/>
                  </a:cubicBezTo>
                  <a:lnTo>
                    <a:pt x="119062" y="103187"/>
                  </a:lnTo>
                  <a:cubicBezTo>
                    <a:pt x="114679" y="103187"/>
                    <a:pt x="111125" y="106741"/>
                    <a:pt x="111125" y="111125"/>
                  </a:cubicBezTo>
                  <a:lnTo>
                    <a:pt x="111125" y="134937"/>
                  </a:lnTo>
                  <a:cubicBezTo>
                    <a:pt x="111125" y="139321"/>
                    <a:pt x="107571" y="142875"/>
                    <a:pt x="103187" y="142875"/>
                  </a:cubicBezTo>
                  <a:lnTo>
                    <a:pt x="79375" y="142875"/>
                  </a:lnTo>
                  <a:cubicBezTo>
                    <a:pt x="74991" y="142875"/>
                    <a:pt x="71437" y="139321"/>
                    <a:pt x="71437" y="134937"/>
                  </a:cubicBezTo>
                  <a:lnTo>
                    <a:pt x="71437" y="127000"/>
                  </a:lnTo>
                  <a:cubicBezTo>
                    <a:pt x="71437" y="118232"/>
                    <a:pt x="64330" y="111125"/>
                    <a:pt x="55562" y="111125"/>
                  </a:cubicBezTo>
                  <a:cubicBezTo>
                    <a:pt x="46795" y="111125"/>
                    <a:pt x="39687" y="118232"/>
                    <a:pt x="39687" y="127000"/>
                  </a:cubicBezTo>
                  <a:lnTo>
                    <a:pt x="39687" y="134937"/>
                  </a:lnTo>
                  <a:cubicBezTo>
                    <a:pt x="39687" y="139321"/>
                    <a:pt x="36134" y="142875"/>
                    <a:pt x="31750" y="142875"/>
                  </a:cubicBezTo>
                  <a:lnTo>
                    <a:pt x="7937" y="142875"/>
                  </a:lnTo>
                  <a:cubicBezTo>
                    <a:pt x="3554" y="142875"/>
                    <a:pt x="0" y="139321"/>
                    <a:pt x="0" y="134937"/>
                  </a:cubicBezTo>
                  <a:lnTo>
                    <a:pt x="0" y="111125"/>
                  </a:lnTo>
                  <a:cubicBezTo>
                    <a:pt x="0" y="106741"/>
                    <a:pt x="3554" y="103187"/>
                    <a:pt x="7937" y="103187"/>
                  </a:cubicBezTo>
                  <a:lnTo>
                    <a:pt x="15875" y="103187"/>
                  </a:lnTo>
                  <a:cubicBezTo>
                    <a:pt x="24643" y="103187"/>
                    <a:pt x="31750" y="96080"/>
                    <a:pt x="31750" y="87312"/>
                  </a:cubicBezTo>
                  <a:cubicBezTo>
                    <a:pt x="31750" y="78545"/>
                    <a:pt x="24643" y="71437"/>
                    <a:pt x="15875" y="71437"/>
                  </a:cubicBezTo>
                  <a:lnTo>
                    <a:pt x="7937" y="71437"/>
                  </a:lnTo>
                  <a:cubicBezTo>
                    <a:pt x="3554" y="71437"/>
                    <a:pt x="0" y="67884"/>
                    <a:pt x="0" y="63500"/>
                  </a:cubicBezTo>
                  <a:lnTo>
                    <a:pt x="0" y="39687"/>
                  </a:lnTo>
                  <a:cubicBezTo>
                    <a:pt x="0" y="35304"/>
                    <a:pt x="3554" y="31750"/>
                    <a:pt x="7937" y="31750"/>
                  </a:cubicBezTo>
                </a:path>
              </a:pathLst>
            </a:custGeom>
            <a:noFill/>
            <a:ln w="15875">
              <a:solidFill>
                <a:srgbClr val="5B180B"/>
              </a:solidFill>
            </a:ln>
          </p:spPr>
        </p:sp>
        <p:sp>
          <p:nvSpPr>
            <p:cNvPr id="235" name="TextBox 235"/>
            <p:cNvSpPr txBox="1"/>
            <p:nvPr/>
          </p:nvSpPr>
          <p:spPr>
            <a:xfrm>
              <a:off x="3043238" y="4911566"/>
              <a:ext cx="514828"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匹配产品​</a:t>
              </a:r>
            </a:p>
          </p:txBody>
        </p:sp>
        <p:sp>
          <p:nvSpPr>
            <p:cNvPr id="236" name="TextBox 236"/>
            <p:cNvSpPr txBox="1"/>
            <p:nvPr/>
          </p:nvSpPr>
          <p:spPr>
            <a:xfrm>
              <a:off x="3043238" y="5070634"/>
              <a:ext cx="609122"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（智能推荐）​</a:t>
              </a:r>
            </a:p>
          </p:txBody>
        </p:sp>
        <p:sp>
          <p:nvSpPr>
            <p:cNvPr id="237" name="Freeform 237"/>
            <p:cNvSpPr/>
            <p:nvPr/>
          </p:nvSpPr>
          <p:spPr>
            <a:xfrm>
              <a:off x="4400550" y="4953000"/>
              <a:ext cx="95250" cy="152400"/>
            </a:xfrm>
            <a:prstGeom prst="chevron">
              <a:avLst/>
            </a:prstGeom>
            <a:solidFill>
              <a:srgbClr val="B57A6F"/>
            </a:solidFill>
            <a:ln>
              <a:noFill/>
            </a:ln>
          </p:spPr>
        </p:sp>
        <p:sp>
          <p:nvSpPr>
            <p:cNvPr id="238" name="Freeform 238"/>
            <p:cNvSpPr/>
            <p:nvPr/>
          </p:nvSpPr>
          <p:spPr>
            <a:xfrm>
              <a:off x="4552950" y="4838700"/>
              <a:ext cx="1943100" cy="381000"/>
            </a:xfrm>
            <a:prstGeom prst="homePlate">
              <a:avLst>
                <a:gd name="adj" fmla="val 35000"/>
              </a:avLst>
            </a:prstGeom>
            <a:solidFill>
              <a:srgbClr val="E9F4F0"/>
            </a:solidFill>
            <a:ln>
              <a:noFill/>
            </a:ln>
          </p:spPr>
        </p:sp>
        <p:sp>
          <p:nvSpPr>
            <p:cNvPr id="239" name="Ellipse 239"/>
            <p:cNvSpPr/>
            <p:nvPr/>
          </p:nvSpPr>
          <p:spPr>
            <a:xfrm>
              <a:off x="4638675" y="4924425"/>
              <a:ext cx="209550" cy="209550"/>
            </a:xfrm>
            <a:prstGeom prst="ellipse">
              <a:avLst/>
            </a:prstGeom>
            <a:solidFill>
              <a:srgbClr val="5B180B"/>
            </a:solidFill>
            <a:ln>
              <a:noFill/>
            </a:ln>
          </p:spPr>
        </p:sp>
        <p:sp>
          <p:nvSpPr>
            <p:cNvPr id="240" name="TextBox 240"/>
            <p:cNvSpPr txBox="1"/>
            <p:nvPr/>
          </p:nvSpPr>
          <p:spPr>
            <a:xfrm>
              <a:off x="4674938" y="49782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a:t>
              </a:r>
            </a:p>
          </p:txBody>
        </p:sp>
        <p:grpSp>
          <p:nvGrpSpPr>
            <p:cNvPr id="244" name="Group 244"/>
            <p:cNvGrpSpPr/>
            <p:nvPr/>
          </p:nvGrpSpPr>
          <p:grpSpPr>
            <a:xfrm>
              <a:off x="4935537" y="4957762"/>
              <a:ext cx="111125" cy="142875"/>
              <a:chOff x="4935537" y="4957762"/>
              <a:chExt cx="111125" cy="142875"/>
            </a:xfrm>
          </p:grpSpPr>
          <p:sp>
            <p:nvSpPr>
              <p:cNvPr id="241" name="Freeform 241"/>
              <p:cNvSpPr/>
              <p:nvPr/>
            </p:nvSpPr>
            <p:spPr>
              <a:xfrm>
                <a:off x="4935537" y="500538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5B180B"/>
                </a:solidFill>
              </a:ln>
            </p:spPr>
          </p:sp>
          <p:sp>
            <p:nvSpPr>
              <p:cNvPr id="242" name="Freeform 242"/>
              <p:cNvSpPr/>
              <p:nvPr/>
            </p:nvSpPr>
            <p:spPr>
              <a:xfrm>
                <a:off x="4991100" y="4957762"/>
                <a:ext cx="9525" cy="87312"/>
              </a:xfrm>
              <a:custGeom>
                <a:avLst/>
                <a:gdLst/>
                <a:ahLst/>
                <a:cxnLst/>
                <a:rect l="l" t="t" r="r" b="b"/>
                <a:pathLst>
                  <a:path w="9525" h="87312">
                    <a:moveTo>
                      <a:pt x="0" y="87312"/>
                    </a:moveTo>
                    <a:lnTo>
                      <a:pt x="0" y="0"/>
                    </a:lnTo>
                  </a:path>
                </a:pathLst>
              </a:custGeom>
              <a:noFill/>
              <a:ln w="15875">
                <a:solidFill>
                  <a:srgbClr val="5B180B"/>
                </a:solidFill>
              </a:ln>
            </p:spPr>
          </p:sp>
          <p:sp>
            <p:nvSpPr>
              <p:cNvPr id="243" name="Freeform 243"/>
              <p:cNvSpPr/>
              <p:nvPr/>
            </p:nvSpPr>
            <p:spPr>
              <a:xfrm>
                <a:off x="4967287" y="4957762"/>
                <a:ext cx="47625" cy="23812"/>
              </a:xfrm>
              <a:custGeom>
                <a:avLst/>
                <a:gdLst/>
                <a:ahLst/>
                <a:cxnLst/>
                <a:rect l="l" t="t" r="r" b="b"/>
                <a:pathLst>
                  <a:path w="47625" h="23812">
                    <a:moveTo>
                      <a:pt x="0" y="23812"/>
                    </a:moveTo>
                    <a:lnTo>
                      <a:pt x="23812" y="0"/>
                    </a:lnTo>
                    <a:lnTo>
                      <a:pt x="47625" y="23812"/>
                    </a:lnTo>
                  </a:path>
                </a:pathLst>
              </a:custGeom>
              <a:noFill/>
              <a:ln w="15875">
                <a:solidFill>
                  <a:srgbClr val="5B180B"/>
                </a:solidFill>
              </a:ln>
            </p:spPr>
          </p:sp>
        </p:grpSp>
        <p:sp>
          <p:nvSpPr>
            <p:cNvPr id="245" name="TextBox 245"/>
            <p:cNvSpPr txBox="1"/>
            <p:nvPr/>
          </p:nvSpPr>
          <p:spPr>
            <a:xfrm>
              <a:off x="5176838" y="4911566"/>
              <a:ext cx="514828"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选择渠道​</a:t>
              </a:r>
            </a:p>
          </p:txBody>
        </p:sp>
        <p:sp>
          <p:nvSpPr>
            <p:cNvPr id="246" name="TextBox 246"/>
            <p:cNvSpPr txBox="1"/>
            <p:nvPr/>
          </p:nvSpPr>
          <p:spPr>
            <a:xfrm>
              <a:off x="5176838" y="5070634"/>
              <a:ext cx="609122"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（触达客户）​</a:t>
              </a:r>
            </a:p>
          </p:txBody>
        </p:sp>
        <p:sp>
          <p:nvSpPr>
            <p:cNvPr id="247" name="Freeform 247"/>
            <p:cNvSpPr/>
            <p:nvPr/>
          </p:nvSpPr>
          <p:spPr>
            <a:xfrm>
              <a:off x="6534150" y="4953000"/>
              <a:ext cx="95250" cy="152400"/>
            </a:xfrm>
            <a:prstGeom prst="chevron">
              <a:avLst/>
            </a:prstGeom>
            <a:solidFill>
              <a:srgbClr val="B57A6F"/>
            </a:solidFill>
            <a:ln>
              <a:noFill/>
            </a:ln>
          </p:spPr>
        </p:sp>
        <p:sp>
          <p:nvSpPr>
            <p:cNvPr id="248" name="Freeform 248"/>
            <p:cNvSpPr/>
            <p:nvPr/>
          </p:nvSpPr>
          <p:spPr>
            <a:xfrm>
              <a:off x="6686550" y="4838700"/>
              <a:ext cx="1943100" cy="381000"/>
            </a:xfrm>
            <a:prstGeom prst="homePlate">
              <a:avLst>
                <a:gd name="adj" fmla="val 35000"/>
              </a:avLst>
            </a:prstGeom>
            <a:solidFill>
              <a:srgbClr val="E9F4F0"/>
            </a:solidFill>
            <a:ln>
              <a:noFill/>
            </a:ln>
          </p:spPr>
        </p:sp>
        <p:sp>
          <p:nvSpPr>
            <p:cNvPr id="249" name="Ellipse 249"/>
            <p:cNvSpPr/>
            <p:nvPr/>
          </p:nvSpPr>
          <p:spPr>
            <a:xfrm>
              <a:off x="6772275" y="4924425"/>
              <a:ext cx="209550" cy="209550"/>
            </a:xfrm>
            <a:prstGeom prst="ellipse">
              <a:avLst/>
            </a:prstGeom>
            <a:solidFill>
              <a:srgbClr val="5B180B"/>
            </a:solidFill>
            <a:ln>
              <a:noFill/>
            </a:ln>
          </p:spPr>
        </p:sp>
        <p:sp>
          <p:nvSpPr>
            <p:cNvPr id="250" name="TextBox 250"/>
            <p:cNvSpPr txBox="1"/>
            <p:nvPr/>
          </p:nvSpPr>
          <p:spPr>
            <a:xfrm>
              <a:off x="6808538" y="49782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4​</a:t>
              </a:r>
            </a:p>
          </p:txBody>
        </p:sp>
        <p:grpSp>
          <p:nvGrpSpPr>
            <p:cNvPr id="255" name="Group 255"/>
            <p:cNvGrpSpPr/>
            <p:nvPr/>
          </p:nvGrpSpPr>
          <p:grpSpPr>
            <a:xfrm>
              <a:off x="7069137" y="4965700"/>
              <a:ext cx="119063" cy="134937"/>
              <a:chOff x="7069137" y="4965700"/>
              <a:chExt cx="119063" cy="134937"/>
            </a:xfrm>
          </p:grpSpPr>
          <p:sp>
            <p:nvSpPr>
              <p:cNvPr id="251" name="Freeform 251"/>
              <p:cNvSpPr/>
              <p:nvPr/>
            </p:nvSpPr>
            <p:spPr>
              <a:xfrm>
                <a:off x="7069137" y="4965700"/>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5B180B"/>
                </a:solidFill>
              </a:ln>
            </p:spPr>
          </p:sp>
          <p:sp>
            <p:nvSpPr>
              <p:cNvPr id="252" name="Freeform 252"/>
              <p:cNvSpPr/>
              <p:nvPr/>
            </p:nvSpPr>
            <p:spPr>
              <a:xfrm>
                <a:off x="7140575" y="5068887"/>
                <a:ext cx="47625" cy="31750"/>
              </a:xfrm>
              <a:custGeom>
                <a:avLst/>
                <a:gdLst/>
                <a:ahLst/>
                <a:cxnLst/>
                <a:rect l="l" t="t" r="r" b="b"/>
                <a:pathLst>
                  <a:path w="47625" h="31750">
                    <a:moveTo>
                      <a:pt x="0" y="15875"/>
                    </a:moveTo>
                    <a:lnTo>
                      <a:pt x="15875" y="31750"/>
                    </a:lnTo>
                    <a:lnTo>
                      <a:pt x="47625" y="0"/>
                    </a:lnTo>
                  </a:path>
                </a:pathLst>
              </a:custGeom>
              <a:noFill/>
              <a:ln w="15875">
                <a:solidFill>
                  <a:srgbClr val="5B180B"/>
                </a:solidFill>
              </a:ln>
            </p:spPr>
          </p:sp>
          <p:sp>
            <p:nvSpPr>
              <p:cNvPr id="253" name="Freeform 253"/>
              <p:cNvSpPr/>
              <p:nvPr/>
            </p:nvSpPr>
            <p:spPr>
              <a:xfrm>
                <a:off x="7100887" y="4997450"/>
                <a:ext cx="31750" cy="9525"/>
              </a:xfrm>
              <a:custGeom>
                <a:avLst/>
                <a:gdLst/>
                <a:ahLst/>
                <a:cxnLst/>
                <a:rect l="l" t="t" r="r" b="b"/>
                <a:pathLst>
                  <a:path w="31750" h="9525">
                    <a:moveTo>
                      <a:pt x="0" y="0"/>
                    </a:moveTo>
                    <a:lnTo>
                      <a:pt x="31750" y="0"/>
                    </a:lnTo>
                  </a:path>
                </a:pathLst>
              </a:custGeom>
              <a:noFill/>
              <a:ln w="15875">
                <a:solidFill>
                  <a:srgbClr val="5B180B"/>
                </a:solidFill>
              </a:ln>
            </p:spPr>
          </p:sp>
          <p:sp>
            <p:nvSpPr>
              <p:cNvPr id="254" name="Freeform 254"/>
              <p:cNvSpPr/>
              <p:nvPr/>
            </p:nvSpPr>
            <p:spPr>
              <a:xfrm>
                <a:off x="7100887" y="5029200"/>
                <a:ext cx="15875" cy="9525"/>
              </a:xfrm>
              <a:custGeom>
                <a:avLst/>
                <a:gdLst/>
                <a:ahLst/>
                <a:cxnLst/>
                <a:rect l="l" t="t" r="r" b="b"/>
                <a:pathLst>
                  <a:path w="15875" h="9525">
                    <a:moveTo>
                      <a:pt x="0" y="0"/>
                    </a:moveTo>
                    <a:lnTo>
                      <a:pt x="15875" y="0"/>
                    </a:lnTo>
                  </a:path>
                </a:pathLst>
              </a:custGeom>
              <a:noFill/>
              <a:ln w="15875">
                <a:solidFill>
                  <a:srgbClr val="5B180B"/>
                </a:solidFill>
              </a:ln>
            </p:spPr>
          </p:sp>
        </p:grpSp>
        <p:sp>
          <p:nvSpPr>
            <p:cNvPr id="256" name="TextBox 256"/>
            <p:cNvSpPr txBox="1"/>
            <p:nvPr/>
          </p:nvSpPr>
          <p:spPr>
            <a:xfrm>
              <a:off x="7310438" y="4911566"/>
              <a:ext cx="514828"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触发任务​</a:t>
              </a:r>
            </a:p>
          </p:txBody>
        </p:sp>
        <p:sp>
          <p:nvSpPr>
            <p:cNvPr id="257" name="TextBox 257"/>
            <p:cNvSpPr txBox="1"/>
            <p:nvPr/>
          </p:nvSpPr>
          <p:spPr>
            <a:xfrm>
              <a:off x="7310438" y="5070634"/>
              <a:ext cx="609122"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（推动转化）​</a:t>
              </a:r>
            </a:p>
          </p:txBody>
        </p:sp>
        <p:sp>
          <p:nvSpPr>
            <p:cNvPr id="258" name="Freeform 258"/>
            <p:cNvSpPr/>
            <p:nvPr/>
          </p:nvSpPr>
          <p:spPr>
            <a:xfrm>
              <a:off x="8667750" y="4953000"/>
              <a:ext cx="95250" cy="152400"/>
            </a:xfrm>
            <a:prstGeom prst="chevron">
              <a:avLst/>
            </a:prstGeom>
            <a:solidFill>
              <a:srgbClr val="B57A6F"/>
            </a:solidFill>
            <a:ln>
              <a:noFill/>
            </a:ln>
          </p:spPr>
        </p:sp>
        <p:sp>
          <p:nvSpPr>
            <p:cNvPr id="259" name="Freeform 259"/>
            <p:cNvSpPr/>
            <p:nvPr/>
          </p:nvSpPr>
          <p:spPr>
            <a:xfrm>
              <a:off x="8820150" y="4838700"/>
              <a:ext cx="1943100" cy="381000"/>
            </a:xfrm>
            <a:prstGeom prst="homePlate">
              <a:avLst>
                <a:gd name="adj" fmla="val 35000"/>
              </a:avLst>
            </a:prstGeom>
            <a:solidFill>
              <a:srgbClr val="E9F4F0"/>
            </a:solidFill>
            <a:ln>
              <a:noFill/>
            </a:ln>
          </p:spPr>
        </p:sp>
        <p:sp>
          <p:nvSpPr>
            <p:cNvPr id="260" name="Ellipse 260"/>
            <p:cNvSpPr/>
            <p:nvPr/>
          </p:nvSpPr>
          <p:spPr>
            <a:xfrm>
              <a:off x="8905875" y="4924425"/>
              <a:ext cx="209550" cy="209550"/>
            </a:xfrm>
            <a:prstGeom prst="ellipse">
              <a:avLst/>
            </a:prstGeom>
            <a:solidFill>
              <a:srgbClr val="5B180B"/>
            </a:solidFill>
            <a:ln>
              <a:noFill/>
            </a:ln>
          </p:spPr>
        </p:sp>
        <p:sp>
          <p:nvSpPr>
            <p:cNvPr id="261" name="TextBox 261"/>
            <p:cNvSpPr txBox="1"/>
            <p:nvPr/>
          </p:nvSpPr>
          <p:spPr>
            <a:xfrm>
              <a:off x="8942138" y="49782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5​</a:t>
              </a:r>
            </a:p>
          </p:txBody>
        </p:sp>
        <p:grpSp>
          <p:nvGrpSpPr>
            <p:cNvPr id="264" name="Group 264"/>
            <p:cNvGrpSpPr/>
            <p:nvPr/>
          </p:nvGrpSpPr>
          <p:grpSpPr>
            <a:xfrm>
              <a:off x="9186862" y="4989512"/>
              <a:ext cx="142875" cy="79375"/>
              <a:chOff x="9186862" y="4989512"/>
              <a:chExt cx="142875" cy="79375"/>
            </a:xfrm>
          </p:grpSpPr>
          <p:sp>
            <p:nvSpPr>
              <p:cNvPr id="262" name="Freeform 262"/>
              <p:cNvSpPr/>
              <p:nvPr/>
            </p:nvSpPr>
            <p:spPr>
              <a:xfrm>
                <a:off x="9186862" y="498951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5B180B"/>
                </a:solidFill>
              </a:ln>
            </p:spPr>
          </p:sp>
          <p:sp>
            <p:nvSpPr>
              <p:cNvPr id="263" name="Freeform 263"/>
              <p:cNvSpPr/>
              <p:nvPr/>
            </p:nvSpPr>
            <p:spPr>
              <a:xfrm>
                <a:off x="9274175" y="4989512"/>
                <a:ext cx="55562" cy="55562"/>
              </a:xfrm>
              <a:custGeom>
                <a:avLst/>
                <a:gdLst/>
                <a:ahLst/>
                <a:cxnLst/>
                <a:rect l="l" t="t" r="r" b="b"/>
                <a:pathLst>
                  <a:path w="55562" h="55562">
                    <a:moveTo>
                      <a:pt x="0" y="0"/>
                    </a:moveTo>
                    <a:lnTo>
                      <a:pt x="55562" y="0"/>
                    </a:lnTo>
                    <a:lnTo>
                      <a:pt x="55562" y="55562"/>
                    </a:lnTo>
                  </a:path>
                </a:pathLst>
              </a:custGeom>
              <a:noFill/>
              <a:ln w="15875">
                <a:solidFill>
                  <a:srgbClr val="5B180B"/>
                </a:solidFill>
              </a:ln>
            </p:spPr>
          </p:sp>
        </p:grpSp>
        <p:sp>
          <p:nvSpPr>
            <p:cNvPr id="265" name="TextBox 265"/>
            <p:cNvSpPr txBox="1"/>
            <p:nvPr/>
          </p:nvSpPr>
          <p:spPr>
            <a:xfrm>
              <a:off x="9444038" y="4911566"/>
              <a:ext cx="514828" cy="161925"/>
            </a:xfrm>
            <a:prstGeom prst="rect">
              <a:avLst/>
            </a:prstGeom>
            <a:noFill/>
            <a:ln>
              <a:noFill/>
            </a:ln>
          </p:spPr>
          <p:txBody>
            <a:bodyPr wrap="none" lIns="0" tIns="0" rIns="0" bIns="0" anchor="t" anchorCtr="0">
              <a:spAutoFit/>
            </a:bodyPr>
            <a:lstStyle/>
            <a:p>
              <a:pPr algn="l"/>
              <a:r>
                <a:rPr lang="zh-CN" sz="820" b="1" dirty="0">
                  <a:solidFill>
                    <a:srgbClr val="5B180B"/>
                  </a:solidFill>
                  <a:latin typeface="+mn-lt"/>
                  <a:ea typeface="+mn-ea"/>
                  <a:cs typeface="+mn-cs"/>
                </a:rPr>
                <a:t>反馈学习​</a:t>
              </a:r>
            </a:p>
          </p:txBody>
        </p:sp>
        <p:sp>
          <p:nvSpPr>
            <p:cNvPr id="266" name="TextBox 266"/>
            <p:cNvSpPr txBox="1"/>
            <p:nvPr/>
          </p:nvSpPr>
          <p:spPr>
            <a:xfrm>
              <a:off x="9444038" y="5070634"/>
              <a:ext cx="609122"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（持续优化）​</a:t>
              </a:r>
            </a:p>
          </p:txBody>
        </p:sp>
        <p:grpSp>
          <p:nvGrpSpPr>
            <p:cNvPr id="287" name="nba-bullets"/>
            <p:cNvGrpSpPr/>
            <p:nvPr/>
          </p:nvGrpSpPr>
          <p:grpSpPr>
            <a:xfrm>
              <a:off x="414338" y="5333286"/>
              <a:ext cx="9585930" cy="597694"/>
              <a:chOff x="414338" y="5333286"/>
              <a:chExt cx="9585930" cy="597694"/>
            </a:xfrm>
          </p:grpSpPr>
          <p:sp>
            <p:nvSpPr>
              <p:cNvPr id="267" name="TextBox 267"/>
              <p:cNvSpPr txBox="1"/>
              <p:nvPr/>
            </p:nvSpPr>
            <p:spPr>
              <a:xfrm>
                <a:off x="414338" y="53332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客户标签变化​</a:t>
                </a:r>
              </a:p>
            </p:txBody>
          </p:sp>
          <p:sp>
            <p:nvSpPr>
              <p:cNvPr id="268" name="TextBox 268"/>
              <p:cNvSpPr txBox="1"/>
              <p:nvPr/>
            </p:nvSpPr>
            <p:spPr>
              <a:xfrm>
                <a:off x="414338" y="5485686"/>
                <a:ext cx="76478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交易/资产异动​</a:t>
                </a:r>
              </a:p>
            </p:txBody>
          </p:sp>
          <p:sp>
            <p:nvSpPr>
              <p:cNvPr id="269" name="TextBox 269"/>
              <p:cNvSpPr txBox="1"/>
              <p:nvPr/>
            </p:nvSpPr>
            <p:spPr>
              <a:xfrm>
                <a:off x="414338" y="56380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产品到期提醒​</a:t>
                </a:r>
              </a:p>
            </p:txBody>
          </p:sp>
          <p:sp>
            <p:nvSpPr>
              <p:cNvPr id="270" name="TextBox 270"/>
              <p:cNvSpPr txBox="1"/>
              <p:nvPr/>
            </p:nvSpPr>
            <p:spPr>
              <a:xfrm>
                <a:off x="414338" y="5790486"/>
                <a:ext cx="90338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生命周期关键节点​</a:t>
                </a:r>
              </a:p>
            </p:txBody>
          </p:sp>
          <p:sp>
            <p:nvSpPr>
              <p:cNvPr id="271" name="TextBox 271"/>
              <p:cNvSpPr txBox="1"/>
              <p:nvPr/>
            </p:nvSpPr>
            <p:spPr>
              <a:xfrm>
                <a:off x="2547938" y="533328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基于规则与模型推荐​</a:t>
                </a:r>
              </a:p>
            </p:txBody>
          </p:sp>
          <p:sp>
            <p:nvSpPr>
              <p:cNvPr id="272" name="TextBox 272"/>
              <p:cNvSpPr txBox="1"/>
              <p:nvPr/>
            </p:nvSpPr>
            <p:spPr>
              <a:xfrm>
                <a:off x="2547938" y="5485686"/>
                <a:ext cx="1190121"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匹配客户需求与风险偏好​</a:t>
                </a:r>
              </a:p>
            </p:txBody>
          </p:sp>
          <p:sp>
            <p:nvSpPr>
              <p:cNvPr id="273" name="TextBox 273"/>
              <p:cNvSpPr txBox="1"/>
              <p:nvPr/>
            </p:nvSpPr>
            <p:spPr>
              <a:xfrm>
                <a:off x="2547938" y="563808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组合产品＋交叉产品​</a:t>
                </a:r>
              </a:p>
            </p:txBody>
          </p:sp>
          <p:sp>
            <p:nvSpPr>
              <p:cNvPr id="274" name="TextBox 274"/>
              <p:cNvSpPr txBox="1"/>
              <p:nvPr/>
            </p:nvSpPr>
            <p:spPr>
              <a:xfrm>
                <a:off x="2547938" y="579048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生成个性化方案​</a:t>
                </a:r>
              </a:p>
            </p:txBody>
          </p:sp>
          <p:sp>
            <p:nvSpPr>
              <p:cNvPr id="275" name="TextBox 275"/>
              <p:cNvSpPr txBox="1"/>
              <p:nvPr/>
            </p:nvSpPr>
            <p:spPr>
              <a:xfrm>
                <a:off x="4681538" y="5333286"/>
                <a:ext cx="1008518"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手机银行/短信/电话​</a:t>
                </a:r>
              </a:p>
            </p:txBody>
          </p:sp>
          <p:sp>
            <p:nvSpPr>
              <p:cNvPr id="276" name="TextBox 276"/>
              <p:cNvSpPr txBox="1"/>
              <p:nvPr/>
            </p:nvSpPr>
            <p:spPr>
              <a:xfrm>
                <a:off x="4681538" y="5485686"/>
                <a:ext cx="95594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客户经理上门/面访​</a:t>
                </a:r>
              </a:p>
            </p:txBody>
          </p:sp>
          <p:sp>
            <p:nvSpPr>
              <p:cNvPr id="277" name="TextBox 277"/>
              <p:cNvSpPr txBox="1"/>
              <p:nvPr/>
            </p:nvSpPr>
            <p:spPr>
              <a:xfrm>
                <a:off x="4681538" y="5638086"/>
                <a:ext cx="764789"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网点活动/沙龙​</a:t>
                </a:r>
              </a:p>
            </p:txBody>
          </p:sp>
          <p:sp>
            <p:nvSpPr>
              <p:cNvPr id="278" name="TextBox 278"/>
              <p:cNvSpPr txBox="1"/>
              <p:nvPr/>
            </p:nvSpPr>
            <p:spPr>
              <a:xfrm>
                <a:off x="4681538" y="579048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企业或商户市场​</a:t>
                </a:r>
              </a:p>
            </p:txBody>
          </p:sp>
          <p:sp>
            <p:nvSpPr>
              <p:cNvPr id="279" name="TextBox 279"/>
              <p:cNvSpPr txBox="1"/>
              <p:nvPr/>
            </p:nvSpPr>
            <p:spPr>
              <a:xfrm>
                <a:off x="6815138" y="5333286"/>
                <a:ext cx="90338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自动生成营销任务​</a:t>
                </a:r>
              </a:p>
            </p:txBody>
          </p:sp>
          <p:sp>
            <p:nvSpPr>
              <p:cNvPr id="280" name="TextBox 280"/>
              <p:cNvSpPr txBox="1"/>
              <p:nvPr/>
            </p:nvSpPr>
            <p:spPr>
              <a:xfrm>
                <a:off x="6815138" y="548568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明确话术与行动指引​</a:t>
                </a:r>
              </a:p>
            </p:txBody>
          </p:sp>
          <p:sp>
            <p:nvSpPr>
              <p:cNvPr id="281" name="TextBox 281"/>
              <p:cNvSpPr txBox="1"/>
              <p:nvPr/>
            </p:nvSpPr>
            <p:spPr>
              <a:xfrm>
                <a:off x="6815138" y="563808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设定完成时限与提醒​</a:t>
                </a:r>
              </a:p>
            </p:txBody>
          </p:sp>
          <p:sp>
            <p:nvSpPr>
              <p:cNvPr id="282" name="TextBox 282"/>
              <p:cNvSpPr txBox="1"/>
              <p:nvPr/>
            </p:nvSpPr>
            <p:spPr>
              <a:xfrm>
                <a:off x="6815138" y="57904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跟进客户反馈​</a:t>
                </a:r>
              </a:p>
            </p:txBody>
          </p:sp>
          <p:sp>
            <p:nvSpPr>
              <p:cNvPr id="283" name="TextBox 283"/>
              <p:cNvSpPr txBox="1"/>
              <p:nvPr/>
            </p:nvSpPr>
            <p:spPr>
              <a:xfrm>
                <a:off x="8948738" y="53332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记录转化结果​</a:t>
                </a:r>
              </a:p>
            </p:txBody>
          </p:sp>
          <p:sp>
            <p:nvSpPr>
              <p:cNvPr id="284" name="TextBox 284"/>
              <p:cNvSpPr txBox="1"/>
              <p:nvPr/>
            </p:nvSpPr>
            <p:spPr>
              <a:xfrm>
                <a:off x="8948738" y="5485686"/>
                <a:ext cx="105153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分析成功/未成功原因​</a:t>
                </a:r>
              </a:p>
            </p:txBody>
          </p:sp>
          <p:sp>
            <p:nvSpPr>
              <p:cNvPr id="285" name="TextBox 285"/>
              <p:cNvSpPr txBox="1"/>
              <p:nvPr/>
            </p:nvSpPr>
            <p:spPr>
              <a:xfrm>
                <a:off x="8948738" y="563808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优化标签与推荐规则​</a:t>
                </a:r>
              </a:p>
            </p:txBody>
          </p:sp>
          <p:sp>
            <p:nvSpPr>
              <p:cNvPr id="286" name="TextBox 286"/>
              <p:cNvSpPr txBox="1"/>
              <p:nvPr/>
            </p:nvSpPr>
            <p:spPr>
              <a:xfrm>
                <a:off x="8948738" y="579048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提升后续营销精准度​</a:t>
                </a:r>
              </a:p>
            </p:txBody>
          </p:sp>
        </p:grpSp>
        <p:sp>
          <p:nvSpPr>
            <p:cNvPr id="288" name="Rectangle 288"/>
            <p:cNvSpPr/>
            <p:nvPr/>
          </p:nvSpPr>
          <p:spPr>
            <a:xfrm>
              <a:off x="10877550" y="4838700"/>
              <a:ext cx="990600" cy="1066800"/>
            </a:xfrm>
            <a:prstGeom prst="roundRect">
              <a:avLst>
                <a:gd name="adj" fmla="val 7692"/>
              </a:avLst>
            </a:prstGeom>
            <a:solidFill>
              <a:srgbClr val="E9F4F0"/>
            </a:solidFill>
            <a:ln w="9525">
              <a:solidFill>
                <a:srgbClr val="BFDDD6"/>
              </a:solidFill>
            </a:ln>
          </p:spPr>
        </p:sp>
        <p:sp>
          <p:nvSpPr>
            <p:cNvPr id="289" name="TextBox 289"/>
            <p:cNvSpPr txBox="1"/>
            <p:nvPr/>
          </p:nvSpPr>
          <p:spPr>
            <a:xfrm>
              <a:off x="11065948" y="5114449"/>
              <a:ext cx="613805" cy="190690"/>
            </a:xfrm>
            <a:prstGeom prst="rect">
              <a:avLst/>
            </a:prstGeom>
            <a:noFill/>
            <a:ln>
              <a:noFill/>
            </a:ln>
          </p:spPr>
          <p:txBody>
            <a:bodyPr wrap="none" lIns="0" tIns="0" rIns="0" bIns="0" anchor="t" anchorCtr="0">
              <a:spAutoFit/>
            </a:bodyPr>
            <a:lstStyle/>
            <a:p>
              <a:pPr algn="ctr"/>
              <a:r>
                <a:rPr lang="zh-CN" sz="980" b="1" dirty="0">
                  <a:solidFill>
                    <a:srgbClr val="5B180B"/>
                  </a:solidFill>
                  <a:latin typeface="+mn-lt"/>
                  <a:ea typeface="+mn-ea"/>
                  <a:cs typeface="+mn-cs"/>
                </a:rPr>
                <a:t>数据驱动​</a:t>
              </a:r>
            </a:p>
          </p:txBody>
        </p:sp>
        <p:sp>
          <p:nvSpPr>
            <p:cNvPr id="290" name="TextBox 290"/>
            <p:cNvSpPr txBox="1"/>
            <p:nvPr/>
          </p:nvSpPr>
          <p:spPr>
            <a:xfrm>
              <a:off x="11065948" y="5323999"/>
              <a:ext cx="613805" cy="190690"/>
            </a:xfrm>
            <a:prstGeom prst="rect">
              <a:avLst/>
            </a:prstGeom>
            <a:noFill/>
            <a:ln>
              <a:noFill/>
            </a:ln>
          </p:spPr>
          <p:txBody>
            <a:bodyPr wrap="none" lIns="0" tIns="0" rIns="0" bIns="0" anchor="t" anchorCtr="0">
              <a:spAutoFit/>
            </a:bodyPr>
            <a:lstStyle/>
            <a:p>
              <a:pPr algn="ctr"/>
              <a:r>
                <a:rPr lang="zh-CN" sz="980" b="1" dirty="0">
                  <a:solidFill>
                    <a:srgbClr val="5B180B"/>
                  </a:solidFill>
                  <a:latin typeface="+mn-lt"/>
                  <a:ea typeface="+mn-ea"/>
                  <a:cs typeface="+mn-cs"/>
                </a:rPr>
                <a:t>精准营销​</a:t>
              </a:r>
            </a:p>
          </p:txBody>
        </p:sp>
        <p:sp>
          <p:nvSpPr>
            <p:cNvPr id="291" name="TextBox 291"/>
            <p:cNvSpPr txBox="1"/>
            <p:nvPr/>
          </p:nvSpPr>
          <p:spPr>
            <a:xfrm>
              <a:off x="11065948" y="5533549"/>
              <a:ext cx="613805" cy="190690"/>
            </a:xfrm>
            <a:prstGeom prst="rect">
              <a:avLst/>
            </a:prstGeom>
            <a:noFill/>
            <a:ln>
              <a:noFill/>
            </a:ln>
          </p:spPr>
          <p:txBody>
            <a:bodyPr wrap="none" lIns="0" tIns="0" rIns="0" bIns="0" anchor="t" anchorCtr="0">
              <a:spAutoFit/>
            </a:bodyPr>
            <a:lstStyle/>
            <a:p>
              <a:pPr algn="ctr"/>
              <a:r>
                <a:rPr lang="zh-CN" sz="980" b="1" dirty="0">
                  <a:solidFill>
                    <a:srgbClr val="5B180B"/>
                  </a:solidFill>
                  <a:latin typeface="+mn-lt"/>
                  <a:ea typeface="+mn-ea"/>
                  <a:cs typeface="+mn-cs"/>
                </a:rPr>
                <a:t>提升转化​</a:t>
              </a:r>
            </a:p>
          </p:txBody>
        </p:sp>
      </p:gr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7732959" cy="542925"/>
            <a:chOff x="0" y="0"/>
            <a:chExt cx="7732959"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06​</a:t>
              </a:r>
            </a:p>
          </p:txBody>
        </p:sp>
        <p:sp>
          <p:nvSpPr>
            <p:cNvPr id="4" name="TextBox 4"/>
            <p:cNvSpPr txBox="1"/>
            <p:nvPr/>
          </p:nvSpPr>
          <p:spPr>
            <a:xfrm>
              <a:off x="942594" y="151448"/>
              <a:ext cx="6790365"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产品组合</a:t>
              </a:r>
              <a:r>
                <a:rPr lang="zh-CN" sz="1950" b="1" dirty="0">
                  <a:solidFill>
                    <a:srgbClr val="5B180B"/>
                  </a:solidFill>
                  <a:latin typeface="+mj-lt"/>
                  <a:ea typeface="+mj-ea"/>
                  <a:cs typeface="+mj-cs"/>
                </a:rPr>
                <a:t xml:space="preserve"> | 用“引流—承接—提升—留存”替代单品式营销</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136" name="layer-card"/>
          <p:cNvGrpSpPr/>
          <p:nvPr/>
        </p:nvGrpSpPr>
        <p:grpSpPr>
          <a:xfrm>
            <a:off x="228600" y="666750"/>
            <a:ext cx="6438900" cy="2857500"/>
            <a:chOff x="228600" y="666750"/>
            <a:chExt cx="6438900" cy="2857500"/>
          </a:xfrm>
        </p:grpSpPr>
        <p:sp>
          <p:nvSpPr>
            <p:cNvPr id="7" name="Rectangle 7"/>
            <p:cNvSpPr/>
            <p:nvPr/>
          </p:nvSpPr>
          <p:spPr>
            <a:xfrm>
              <a:off x="228600" y="666750"/>
              <a:ext cx="6438900" cy="2857500"/>
            </a:xfrm>
            <a:prstGeom prst="roundRect">
              <a:avLst>
                <a:gd name="adj" fmla="val 3333"/>
              </a:avLst>
            </a:prstGeom>
            <a:solidFill>
              <a:srgbClr val="F5FAF8"/>
            </a:solidFill>
            <a:ln w="9525">
              <a:solidFill>
                <a:srgbClr val="D9E8E2"/>
              </a:solidFill>
            </a:ln>
          </p:spPr>
        </p:sp>
        <p:sp>
          <p:nvSpPr>
            <p:cNvPr id="8" name="Freeform 8"/>
            <p:cNvSpPr/>
            <p:nvPr/>
          </p:nvSpPr>
          <p:spPr>
            <a:xfrm>
              <a:off x="342900" y="781050"/>
              <a:ext cx="1524000" cy="304800"/>
            </a:xfrm>
            <a:prstGeom prst="chevron">
              <a:avLst>
                <a:gd name="adj" fmla="val 40000"/>
              </a:avLst>
            </a:prstGeom>
            <a:solidFill>
              <a:srgbClr val="5B180B"/>
            </a:solidFill>
            <a:ln>
              <a:noFill/>
            </a:ln>
          </p:spPr>
        </p:sp>
        <p:sp>
          <p:nvSpPr>
            <p:cNvPr id="9" name="TextBox 9"/>
            <p:cNvSpPr txBox="1"/>
            <p:nvPr/>
          </p:nvSpPr>
          <p:spPr>
            <a:xfrm>
              <a:off x="902062" y="875824"/>
              <a:ext cx="48187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引流层​</a:t>
              </a:r>
            </a:p>
          </p:txBody>
        </p:sp>
        <p:sp>
          <p:nvSpPr>
            <p:cNvPr id="10" name="Freeform 10"/>
            <p:cNvSpPr/>
            <p:nvPr/>
          </p:nvSpPr>
          <p:spPr>
            <a:xfrm>
              <a:off x="1943100" y="781050"/>
              <a:ext cx="1524000" cy="304800"/>
            </a:xfrm>
            <a:prstGeom prst="chevron">
              <a:avLst>
                <a:gd name="adj" fmla="val 40000"/>
              </a:avLst>
            </a:prstGeom>
            <a:solidFill>
              <a:srgbClr val="722617"/>
            </a:solidFill>
            <a:ln>
              <a:noFill/>
            </a:ln>
          </p:spPr>
        </p:sp>
        <p:sp>
          <p:nvSpPr>
            <p:cNvPr id="11" name="TextBox 11"/>
            <p:cNvSpPr txBox="1"/>
            <p:nvPr/>
          </p:nvSpPr>
          <p:spPr>
            <a:xfrm>
              <a:off x="2502262" y="875824"/>
              <a:ext cx="48187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承接层​</a:t>
              </a:r>
            </a:p>
          </p:txBody>
        </p:sp>
        <p:sp>
          <p:nvSpPr>
            <p:cNvPr id="12" name="Freeform 12"/>
            <p:cNvSpPr/>
            <p:nvPr/>
          </p:nvSpPr>
          <p:spPr>
            <a:xfrm>
              <a:off x="3543300" y="781050"/>
              <a:ext cx="1524000" cy="304800"/>
            </a:xfrm>
            <a:prstGeom prst="chevron">
              <a:avLst>
                <a:gd name="adj" fmla="val 40000"/>
              </a:avLst>
            </a:prstGeom>
            <a:solidFill>
              <a:srgbClr val="9A412F"/>
            </a:solidFill>
            <a:ln>
              <a:noFill/>
            </a:ln>
          </p:spPr>
        </p:sp>
        <p:sp>
          <p:nvSpPr>
            <p:cNvPr id="13" name="TextBox 13"/>
            <p:cNvSpPr txBox="1"/>
            <p:nvPr/>
          </p:nvSpPr>
          <p:spPr>
            <a:xfrm>
              <a:off x="4102462" y="875824"/>
              <a:ext cx="48187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提升层​</a:t>
              </a:r>
            </a:p>
          </p:txBody>
        </p:sp>
        <p:sp>
          <p:nvSpPr>
            <p:cNvPr id="14" name="Freeform 14"/>
            <p:cNvSpPr/>
            <p:nvPr/>
          </p:nvSpPr>
          <p:spPr>
            <a:xfrm>
              <a:off x="5143500" y="781050"/>
              <a:ext cx="1524000" cy="304800"/>
            </a:xfrm>
            <a:prstGeom prst="chevron">
              <a:avLst>
                <a:gd name="adj" fmla="val 40000"/>
              </a:avLst>
            </a:prstGeom>
            <a:solidFill>
              <a:srgbClr val="AE6C5F"/>
            </a:solidFill>
            <a:ln>
              <a:noFill/>
            </a:ln>
          </p:spPr>
        </p:sp>
        <p:sp>
          <p:nvSpPr>
            <p:cNvPr id="15" name="TextBox 15"/>
            <p:cNvSpPr txBox="1"/>
            <p:nvPr/>
          </p:nvSpPr>
          <p:spPr>
            <a:xfrm>
              <a:off x="5702662" y="875824"/>
              <a:ext cx="48187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留存层​</a:t>
              </a:r>
            </a:p>
          </p:txBody>
        </p:sp>
        <p:grpSp>
          <p:nvGrpSpPr>
            <p:cNvPr id="24" name="layer-subs"/>
            <p:cNvGrpSpPr/>
            <p:nvPr/>
          </p:nvGrpSpPr>
          <p:grpSpPr>
            <a:xfrm>
              <a:off x="444244" y="1157288"/>
              <a:ext cx="6222878" cy="271700"/>
              <a:chOff x="444244" y="1157288"/>
              <a:chExt cx="6222878" cy="271700"/>
            </a:xfrm>
          </p:grpSpPr>
          <p:sp>
            <p:nvSpPr>
              <p:cNvPr id="16" name="TextBox 16"/>
              <p:cNvSpPr txBox="1"/>
              <p:nvPr/>
            </p:nvSpPr>
            <p:spPr>
              <a:xfrm>
                <a:off x="444244" y="1157288"/>
                <a:ext cx="1321313"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活期 / 电子银行 / 支付权益​</a:t>
                </a:r>
              </a:p>
            </p:txBody>
          </p:sp>
          <p:sp>
            <p:nvSpPr>
              <p:cNvPr id="17" name="TextBox 17"/>
              <p:cNvSpPr txBox="1"/>
              <p:nvPr/>
            </p:nvSpPr>
            <p:spPr>
              <a:xfrm>
                <a:off x="559504" y="1302782"/>
                <a:ext cx="1090793" cy="126206"/>
              </a:xfrm>
              <a:prstGeom prst="rect">
                <a:avLst/>
              </a:prstGeom>
              <a:noFill/>
              <a:ln>
                <a:noFill/>
              </a:ln>
            </p:spPr>
            <p:txBody>
              <a:bodyPr wrap="none" lIns="0" tIns="0" rIns="0" bIns="0" anchor="t" anchorCtr="0">
                <a:spAutoFit/>
              </a:bodyPr>
              <a:lstStyle/>
              <a:p>
                <a:pPr algn="ctr"/>
                <a:r>
                  <a:rPr lang="zh-CN" sz="640" dirty="0">
                    <a:solidFill>
                      <a:srgbClr val="5F6F6A"/>
                    </a:solidFill>
                    <a:latin typeface="+mn-lt"/>
                    <a:ea typeface="+mn-ea"/>
                    <a:cs typeface="+mn-cs"/>
                  </a:rPr>
                  <a:t>低门槛获客，扩大客群基础​</a:t>
                </a:r>
              </a:p>
            </p:txBody>
          </p:sp>
          <p:sp>
            <p:nvSpPr>
              <p:cNvPr id="18" name="TextBox 18"/>
              <p:cNvSpPr txBox="1"/>
              <p:nvPr/>
            </p:nvSpPr>
            <p:spPr>
              <a:xfrm>
                <a:off x="2094926" y="1157288"/>
                <a:ext cx="1220348"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定期 / 大额存单 / 消费贷​</a:t>
                </a:r>
              </a:p>
            </p:txBody>
          </p:sp>
          <p:sp>
            <p:nvSpPr>
              <p:cNvPr id="19" name="TextBox 19"/>
              <p:cNvSpPr txBox="1"/>
              <p:nvPr/>
            </p:nvSpPr>
            <p:spPr>
              <a:xfrm>
                <a:off x="2202782" y="1302782"/>
                <a:ext cx="1004636" cy="126206"/>
              </a:xfrm>
              <a:prstGeom prst="rect">
                <a:avLst/>
              </a:prstGeom>
              <a:noFill/>
              <a:ln>
                <a:noFill/>
              </a:ln>
            </p:spPr>
            <p:txBody>
              <a:bodyPr wrap="none" lIns="0" tIns="0" rIns="0" bIns="0" anchor="t" anchorCtr="0">
                <a:spAutoFit/>
              </a:bodyPr>
              <a:lstStyle/>
              <a:p>
                <a:pPr algn="ctr"/>
                <a:r>
                  <a:rPr lang="zh-CN" sz="640" dirty="0">
                    <a:solidFill>
                      <a:srgbClr val="5F6F6A"/>
                    </a:solidFill>
                    <a:latin typeface="+mn-lt"/>
                    <a:ea typeface="+mn-ea"/>
                    <a:cs typeface="+mn-cs"/>
                  </a:rPr>
                  <a:t>沉淀资金，满足核心需求​</a:t>
                </a:r>
              </a:p>
            </p:txBody>
          </p:sp>
          <p:sp>
            <p:nvSpPr>
              <p:cNvPr id="20" name="TextBox 20"/>
              <p:cNvSpPr txBox="1"/>
              <p:nvPr/>
            </p:nvSpPr>
            <p:spPr>
              <a:xfrm>
                <a:off x="3634168" y="1157288"/>
                <a:ext cx="1342263"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理财 / 基金 / 保险 / 贵金属​</a:t>
                </a:r>
              </a:p>
            </p:txBody>
          </p:sp>
          <p:sp>
            <p:nvSpPr>
              <p:cNvPr id="21" name="TextBox 21"/>
              <p:cNvSpPr txBox="1"/>
              <p:nvPr/>
            </p:nvSpPr>
            <p:spPr>
              <a:xfrm>
                <a:off x="3802982" y="1302782"/>
                <a:ext cx="1004636" cy="126206"/>
              </a:xfrm>
              <a:prstGeom prst="rect">
                <a:avLst/>
              </a:prstGeom>
              <a:noFill/>
              <a:ln>
                <a:noFill/>
              </a:ln>
            </p:spPr>
            <p:txBody>
              <a:bodyPr wrap="none" lIns="0" tIns="0" rIns="0" bIns="0" anchor="t" anchorCtr="0">
                <a:spAutoFit/>
              </a:bodyPr>
              <a:lstStyle/>
              <a:p>
                <a:pPr algn="ctr"/>
                <a:r>
                  <a:rPr lang="zh-CN" sz="640" dirty="0">
                    <a:solidFill>
                      <a:srgbClr val="5F6F6A"/>
                    </a:solidFill>
                    <a:latin typeface="+mn-lt"/>
                    <a:ea typeface="+mn-ea"/>
                    <a:cs typeface="+mn-cs"/>
                  </a:rPr>
                  <a:t>丰富配置，提升客户价值​</a:t>
                </a:r>
              </a:p>
            </p:txBody>
          </p:sp>
          <p:sp>
            <p:nvSpPr>
              <p:cNvPr id="22" name="TextBox 22"/>
              <p:cNvSpPr txBox="1"/>
              <p:nvPr/>
            </p:nvSpPr>
            <p:spPr>
              <a:xfrm>
                <a:off x="5143879" y="1157288"/>
                <a:ext cx="1523243"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资产配置 / 家庭账户 / 会员权益​</a:t>
                </a:r>
              </a:p>
            </p:txBody>
          </p:sp>
          <p:sp>
            <p:nvSpPr>
              <p:cNvPr id="23" name="TextBox 23"/>
              <p:cNvSpPr txBox="1"/>
              <p:nvPr/>
            </p:nvSpPr>
            <p:spPr>
              <a:xfrm>
                <a:off x="5403182" y="1302782"/>
                <a:ext cx="1004636" cy="126206"/>
              </a:xfrm>
              <a:prstGeom prst="rect">
                <a:avLst/>
              </a:prstGeom>
              <a:noFill/>
              <a:ln>
                <a:noFill/>
              </a:ln>
            </p:spPr>
            <p:txBody>
              <a:bodyPr wrap="none" lIns="0" tIns="0" rIns="0" bIns="0" anchor="t" anchorCtr="0">
                <a:spAutoFit/>
              </a:bodyPr>
              <a:lstStyle/>
              <a:p>
                <a:pPr algn="ctr"/>
                <a:r>
                  <a:rPr lang="zh-CN" sz="640" dirty="0">
                    <a:solidFill>
                      <a:srgbClr val="5F6F6A"/>
                    </a:solidFill>
                    <a:latin typeface="+mn-lt"/>
                    <a:ea typeface="+mn-ea"/>
                    <a:cs typeface="+mn-cs"/>
                  </a:rPr>
                  <a:t>深度经营，实现长期陪伴​</a:t>
                </a:r>
              </a:p>
            </p:txBody>
          </p:sp>
        </p:grpSp>
        <p:grpSp>
          <p:nvGrpSpPr>
            <p:cNvPr id="49" name="layer-col1"/>
            <p:cNvGrpSpPr/>
            <p:nvPr/>
          </p:nvGrpSpPr>
          <p:grpSpPr>
            <a:xfrm>
              <a:off x="342900" y="1447800"/>
              <a:ext cx="1428750" cy="1600200"/>
              <a:chOff x="342900" y="1447800"/>
              <a:chExt cx="1428750" cy="1600200"/>
            </a:xfrm>
          </p:grpSpPr>
          <p:sp>
            <p:nvSpPr>
              <p:cNvPr id="25" name="Rectangle 25"/>
              <p:cNvSpPr/>
              <p:nvPr/>
            </p:nvSpPr>
            <p:spPr>
              <a:xfrm>
                <a:off x="342900" y="1447800"/>
                <a:ext cx="1428750" cy="495300"/>
              </a:xfrm>
              <a:prstGeom prst="roundRect">
                <a:avLst>
                  <a:gd name="adj" fmla="val 11538"/>
                </a:avLst>
              </a:prstGeom>
              <a:solidFill>
                <a:srgbClr val="FFFFFF"/>
              </a:solidFill>
              <a:ln w="7620">
                <a:solidFill>
                  <a:srgbClr val="D9E8E2"/>
                </a:solidFill>
              </a:ln>
            </p:spPr>
          </p:sp>
          <p:grpSp>
            <p:nvGrpSpPr>
              <p:cNvPr id="30" name="Group 30"/>
              <p:cNvGrpSpPr/>
              <p:nvPr/>
            </p:nvGrpSpPr>
            <p:grpSpPr>
              <a:xfrm>
                <a:off x="447675" y="1628775"/>
                <a:ext cx="171450" cy="133350"/>
                <a:chOff x="447675" y="1628775"/>
                <a:chExt cx="171450" cy="133350"/>
              </a:xfrm>
            </p:grpSpPr>
            <p:sp>
              <p:nvSpPr>
                <p:cNvPr id="26" name="Freeform 26"/>
                <p:cNvSpPr/>
                <p:nvPr/>
              </p:nvSpPr>
              <p:spPr>
                <a:xfrm>
                  <a:off x="447675" y="1628775"/>
                  <a:ext cx="171450" cy="133350"/>
                </a:xfrm>
                <a:custGeom>
                  <a:avLst/>
                  <a:gdLst/>
                  <a:ahLst/>
                  <a:cxnLst/>
                  <a:rect l="l" t="t" r="r" b="b"/>
                  <a:pathLst>
                    <a:path w="171450" h="133350">
                      <a:moveTo>
                        <a:pt x="0" y="28575"/>
                      </a:move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28575" y="133350"/>
                      </a:lnTo>
                      <a:cubicBezTo>
                        <a:pt x="12793" y="133350"/>
                        <a:pt x="0" y="120557"/>
                        <a:pt x="0" y="104775"/>
                      </a:cubicBezTo>
                      <a:lnTo>
                        <a:pt x="0" y="28575"/>
                      </a:lnTo>
                    </a:path>
                  </a:pathLst>
                </a:custGeom>
                <a:noFill/>
                <a:ln w="19050">
                  <a:solidFill>
                    <a:srgbClr val="5B180B"/>
                  </a:solidFill>
                </a:ln>
              </p:spPr>
            </p:sp>
            <p:sp>
              <p:nvSpPr>
                <p:cNvPr id="27" name="Freeform 27"/>
                <p:cNvSpPr/>
                <p:nvPr/>
              </p:nvSpPr>
              <p:spPr>
                <a:xfrm>
                  <a:off x="447675" y="1676400"/>
                  <a:ext cx="171450" cy="9525"/>
                </a:xfrm>
                <a:custGeom>
                  <a:avLst/>
                  <a:gdLst/>
                  <a:ahLst/>
                  <a:cxnLst/>
                  <a:rect l="l" t="t" r="r" b="b"/>
                  <a:pathLst>
                    <a:path w="171450" h="9525">
                      <a:moveTo>
                        <a:pt x="0" y="0"/>
                      </a:moveTo>
                      <a:lnTo>
                        <a:pt x="171450" y="0"/>
                      </a:lnTo>
                    </a:path>
                  </a:pathLst>
                </a:custGeom>
                <a:noFill/>
                <a:ln w="19050">
                  <a:solidFill>
                    <a:srgbClr val="5B180B"/>
                  </a:solidFill>
                </a:ln>
              </p:spPr>
            </p:sp>
            <p:sp>
              <p:nvSpPr>
                <p:cNvPr id="28" name="Freeform 28"/>
                <p:cNvSpPr/>
                <p:nvPr/>
              </p:nvSpPr>
              <p:spPr>
                <a:xfrm>
                  <a:off x="485775" y="1724025"/>
                  <a:ext cx="9525" cy="9525"/>
                </a:xfrm>
                <a:custGeom>
                  <a:avLst/>
                  <a:gdLst/>
                  <a:ahLst/>
                  <a:cxnLst/>
                  <a:rect l="l" t="t" r="r" b="b"/>
                  <a:pathLst>
                    <a:path w="9525" h="9525">
                      <a:moveTo>
                        <a:pt x="0" y="0"/>
                      </a:moveTo>
                      <a:lnTo>
                        <a:pt x="95" y="0"/>
                      </a:lnTo>
                    </a:path>
                  </a:pathLst>
                </a:custGeom>
                <a:noFill/>
                <a:ln w="19050">
                  <a:solidFill>
                    <a:srgbClr val="5B180B"/>
                  </a:solidFill>
                </a:ln>
              </p:spPr>
            </p:sp>
            <p:sp>
              <p:nvSpPr>
                <p:cNvPr id="29" name="Freeform 29"/>
                <p:cNvSpPr/>
                <p:nvPr/>
              </p:nvSpPr>
              <p:spPr>
                <a:xfrm>
                  <a:off x="523875" y="1724025"/>
                  <a:ext cx="19050" cy="9525"/>
                </a:xfrm>
                <a:custGeom>
                  <a:avLst/>
                  <a:gdLst/>
                  <a:ahLst/>
                  <a:cxnLst/>
                  <a:rect l="l" t="t" r="r" b="b"/>
                  <a:pathLst>
                    <a:path w="19050" h="9525">
                      <a:moveTo>
                        <a:pt x="0" y="0"/>
                      </a:moveTo>
                      <a:lnTo>
                        <a:pt x="19050" y="0"/>
                      </a:lnTo>
                    </a:path>
                  </a:pathLst>
                </a:custGeom>
                <a:noFill/>
                <a:ln w="19050">
                  <a:solidFill>
                    <a:srgbClr val="5B180B"/>
                  </a:solidFill>
                </a:ln>
              </p:spPr>
            </p:sp>
          </p:grpSp>
          <p:sp>
            <p:nvSpPr>
              <p:cNvPr id="31" name="TextBox 31"/>
              <p:cNvSpPr txBox="1"/>
              <p:nvPr/>
            </p:nvSpPr>
            <p:spPr>
              <a:xfrm>
                <a:off x="738188" y="15342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活期存款​</a:t>
                </a:r>
              </a:p>
            </p:txBody>
          </p:sp>
          <p:sp>
            <p:nvSpPr>
              <p:cNvPr id="32" name="TextBox 32"/>
              <p:cNvSpPr txBox="1"/>
              <p:nvPr/>
            </p:nvSpPr>
            <p:spPr>
              <a:xfrm>
                <a:off x="738188" y="167425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工资代发​</a:t>
                </a:r>
              </a:p>
            </p:txBody>
          </p:sp>
          <p:sp>
            <p:nvSpPr>
              <p:cNvPr id="33" name="TextBox 33"/>
              <p:cNvSpPr txBox="1"/>
              <p:nvPr/>
            </p:nvSpPr>
            <p:spPr>
              <a:xfrm>
                <a:off x="738188" y="178855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日常结算​</a:t>
                </a:r>
              </a:p>
            </p:txBody>
          </p:sp>
          <p:sp>
            <p:nvSpPr>
              <p:cNvPr id="34" name="Rectangle 34"/>
              <p:cNvSpPr/>
              <p:nvPr/>
            </p:nvSpPr>
            <p:spPr>
              <a:xfrm>
                <a:off x="342900" y="2000250"/>
                <a:ext cx="1428750" cy="495300"/>
              </a:xfrm>
              <a:prstGeom prst="roundRect">
                <a:avLst>
                  <a:gd name="adj" fmla="val 11538"/>
                </a:avLst>
              </a:prstGeom>
              <a:solidFill>
                <a:srgbClr val="FFFFFF"/>
              </a:solidFill>
              <a:ln w="7620">
                <a:solidFill>
                  <a:srgbClr val="D9E8E2"/>
                </a:solidFill>
              </a:ln>
            </p:spPr>
          </p:sp>
          <p:grpSp>
            <p:nvGrpSpPr>
              <p:cNvPr id="38" name="Group 38"/>
              <p:cNvGrpSpPr/>
              <p:nvPr/>
            </p:nvGrpSpPr>
            <p:grpSpPr>
              <a:xfrm>
                <a:off x="476250" y="2162175"/>
                <a:ext cx="114300" cy="171450"/>
                <a:chOff x="476250" y="2162175"/>
                <a:chExt cx="114300" cy="171450"/>
              </a:xfrm>
            </p:grpSpPr>
            <p:sp>
              <p:nvSpPr>
                <p:cNvPr id="35" name="Freeform 35"/>
                <p:cNvSpPr/>
                <p:nvPr/>
              </p:nvSpPr>
              <p:spPr>
                <a:xfrm>
                  <a:off x="476250" y="216217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5B180B"/>
                  </a:solidFill>
                </a:ln>
              </p:spPr>
            </p:sp>
            <p:sp>
              <p:nvSpPr>
                <p:cNvPr id="36" name="Freeform 36"/>
                <p:cNvSpPr/>
                <p:nvPr/>
              </p:nvSpPr>
              <p:spPr>
                <a:xfrm>
                  <a:off x="523875" y="2171700"/>
                  <a:ext cx="19050" cy="9525"/>
                </a:xfrm>
                <a:custGeom>
                  <a:avLst/>
                  <a:gdLst/>
                  <a:ahLst/>
                  <a:cxnLst/>
                  <a:rect l="l" t="t" r="r" b="b"/>
                  <a:pathLst>
                    <a:path w="19050" h="9525">
                      <a:moveTo>
                        <a:pt x="0" y="0"/>
                      </a:moveTo>
                      <a:lnTo>
                        <a:pt x="19050" y="0"/>
                      </a:lnTo>
                    </a:path>
                  </a:pathLst>
                </a:custGeom>
                <a:noFill/>
                <a:ln w="19050">
                  <a:solidFill>
                    <a:srgbClr val="5B180B"/>
                  </a:solidFill>
                </a:ln>
              </p:spPr>
            </p:sp>
            <p:sp>
              <p:nvSpPr>
                <p:cNvPr id="37" name="Freeform 37"/>
                <p:cNvSpPr/>
                <p:nvPr/>
              </p:nvSpPr>
              <p:spPr>
                <a:xfrm>
                  <a:off x="533400" y="2295525"/>
                  <a:ext cx="9525" cy="9525"/>
                </a:xfrm>
                <a:custGeom>
                  <a:avLst/>
                  <a:gdLst/>
                  <a:ahLst/>
                  <a:cxnLst/>
                  <a:rect l="l" t="t" r="r" b="b"/>
                  <a:pathLst>
                    <a:path w="9525" h="9525">
                      <a:moveTo>
                        <a:pt x="0" y="0"/>
                      </a:moveTo>
                      <a:lnTo>
                        <a:pt x="0" y="95"/>
                      </a:lnTo>
                    </a:path>
                  </a:pathLst>
                </a:custGeom>
                <a:noFill/>
                <a:ln w="19050">
                  <a:solidFill>
                    <a:srgbClr val="5B180B"/>
                  </a:solidFill>
                </a:ln>
              </p:spPr>
            </p:sp>
          </p:grpSp>
          <p:sp>
            <p:nvSpPr>
              <p:cNvPr id="39" name="TextBox 39"/>
              <p:cNvSpPr txBox="1"/>
              <p:nvPr/>
            </p:nvSpPr>
            <p:spPr>
              <a:xfrm>
                <a:off x="738188" y="208668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电子银行​</a:t>
                </a:r>
              </a:p>
            </p:txBody>
          </p:sp>
          <p:sp>
            <p:nvSpPr>
              <p:cNvPr id="40" name="TextBox 40"/>
              <p:cNvSpPr txBox="1"/>
              <p:nvPr/>
            </p:nvSpPr>
            <p:spPr>
              <a:xfrm>
                <a:off x="738188" y="222670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手机银行​</a:t>
                </a:r>
              </a:p>
            </p:txBody>
          </p:sp>
          <p:sp>
            <p:nvSpPr>
              <p:cNvPr id="41" name="TextBox 41"/>
              <p:cNvSpPr txBox="1"/>
              <p:nvPr/>
            </p:nvSpPr>
            <p:spPr>
              <a:xfrm>
                <a:off x="738188" y="234100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微信银行​</a:t>
                </a:r>
              </a:p>
            </p:txBody>
          </p:sp>
          <p:sp>
            <p:nvSpPr>
              <p:cNvPr id="42" name="Rectangle 42"/>
              <p:cNvSpPr/>
              <p:nvPr/>
            </p:nvSpPr>
            <p:spPr>
              <a:xfrm>
                <a:off x="342900" y="2552700"/>
                <a:ext cx="1428750" cy="495300"/>
              </a:xfrm>
              <a:prstGeom prst="roundRect">
                <a:avLst>
                  <a:gd name="adj" fmla="val 11538"/>
                </a:avLst>
              </a:prstGeom>
              <a:solidFill>
                <a:srgbClr val="FFFFFF"/>
              </a:solidFill>
              <a:ln w="7620">
                <a:solidFill>
                  <a:srgbClr val="D9E8E2"/>
                </a:solidFill>
              </a:ln>
            </p:spPr>
          </p:sp>
          <p:grpSp>
            <p:nvGrpSpPr>
              <p:cNvPr id="45" name="Group 45"/>
              <p:cNvGrpSpPr/>
              <p:nvPr/>
            </p:nvGrpSpPr>
            <p:grpSpPr>
              <a:xfrm>
                <a:off x="457200" y="2724150"/>
                <a:ext cx="152400" cy="152400"/>
                <a:chOff x="457200" y="2724150"/>
                <a:chExt cx="152400" cy="152400"/>
              </a:xfrm>
            </p:grpSpPr>
            <p:sp>
              <p:nvSpPr>
                <p:cNvPr id="43" name="Freeform 43"/>
                <p:cNvSpPr/>
                <p:nvPr/>
              </p:nvSpPr>
              <p:spPr>
                <a:xfrm>
                  <a:off x="457200" y="2724150"/>
                  <a:ext cx="142875" cy="152400"/>
                </a:xfrm>
                <a:custGeom>
                  <a:avLst/>
                  <a:gdLst/>
                  <a:ahLst/>
                  <a:cxnLst/>
                  <a:rect l="l" t="t" r="r" b="b"/>
                  <a:pathLst>
                    <a:path w="142875" h="152400">
                      <a:moveTo>
                        <a:pt x="123825" y="38100"/>
                      </a:moveTo>
                      <a:lnTo>
                        <a:pt x="123825" y="9525"/>
                      </a:lnTo>
                      <a:cubicBezTo>
                        <a:pt x="123825" y="4264"/>
                        <a:pt x="119561" y="0"/>
                        <a:pt x="114300" y="0"/>
                      </a:cubicBezTo>
                      <a:lnTo>
                        <a:pt x="19050" y="0"/>
                      </a:lnTo>
                      <a:cubicBezTo>
                        <a:pt x="8529" y="0"/>
                        <a:pt x="0" y="8529"/>
                        <a:pt x="0" y="19050"/>
                      </a:cubicBezTo>
                      <a:cubicBezTo>
                        <a:pt x="0" y="29571"/>
                        <a:pt x="8529" y="38100"/>
                        <a:pt x="19050" y="38100"/>
                      </a:cubicBezTo>
                      <a:lnTo>
                        <a:pt x="133350" y="38100"/>
                      </a:lnTo>
                      <a:cubicBezTo>
                        <a:pt x="138611" y="38100"/>
                        <a:pt x="142875" y="42364"/>
                        <a:pt x="142875" y="47625"/>
                      </a:cubicBezTo>
                      <a:lnTo>
                        <a:pt x="142875" y="76200"/>
                      </a:lnTo>
                      <a:moveTo>
                        <a:pt x="142875" y="114300"/>
                      </a:moveTo>
                      <a:lnTo>
                        <a:pt x="142875" y="142875"/>
                      </a:lnTo>
                      <a:cubicBezTo>
                        <a:pt x="142875" y="148136"/>
                        <a:pt x="138611" y="152400"/>
                        <a:pt x="133350" y="152400"/>
                      </a:cubicBezTo>
                      <a:lnTo>
                        <a:pt x="19050" y="152400"/>
                      </a:lnTo>
                      <a:cubicBezTo>
                        <a:pt x="8529" y="152400"/>
                        <a:pt x="0" y="143871"/>
                        <a:pt x="0" y="133350"/>
                      </a:cubicBezTo>
                      <a:lnTo>
                        <a:pt x="0" y="19050"/>
                      </a:lnTo>
                    </a:path>
                  </a:pathLst>
                </a:custGeom>
                <a:noFill/>
                <a:ln w="19050">
                  <a:solidFill>
                    <a:srgbClr val="5B180B"/>
                  </a:solidFill>
                </a:ln>
              </p:spPr>
            </p:sp>
            <p:sp>
              <p:nvSpPr>
                <p:cNvPr id="44" name="Freeform 44"/>
                <p:cNvSpPr/>
                <p:nvPr/>
              </p:nvSpPr>
              <p:spPr>
                <a:xfrm>
                  <a:off x="552450" y="2800350"/>
                  <a:ext cx="57150" cy="38100"/>
                </a:xfrm>
                <a:custGeom>
                  <a:avLst/>
                  <a:gdLst/>
                  <a:ahLst/>
                  <a:cxnLst/>
                  <a:rect l="l" t="t" r="r" b="b"/>
                  <a:pathLst>
                    <a:path w="57150" h="38100">
                      <a:moveTo>
                        <a:pt x="57150" y="0"/>
                      </a:moveTo>
                      <a:lnTo>
                        <a:pt x="57150" y="38100"/>
                      </a:lnTo>
                      <a:lnTo>
                        <a:pt x="19050" y="38100"/>
                      </a:lnTo>
                      <a:cubicBezTo>
                        <a:pt x="8529" y="38100"/>
                        <a:pt x="0" y="29571"/>
                        <a:pt x="0" y="19050"/>
                      </a:cubicBezTo>
                      <a:cubicBezTo>
                        <a:pt x="0" y="8529"/>
                        <a:pt x="8529" y="0"/>
                        <a:pt x="19050" y="0"/>
                      </a:cubicBezTo>
                      <a:lnTo>
                        <a:pt x="57150" y="0"/>
                      </a:lnTo>
                    </a:path>
                  </a:pathLst>
                </a:custGeom>
                <a:noFill/>
                <a:ln w="19050">
                  <a:solidFill>
                    <a:srgbClr val="5B180B"/>
                  </a:solidFill>
                </a:ln>
              </p:spPr>
            </p:sp>
          </p:grpSp>
          <p:sp>
            <p:nvSpPr>
              <p:cNvPr id="46" name="TextBox 46"/>
              <p:cNvSpPr txBox="1"/>
              <p:nvPr/>
            </p:nvSpPr>
            <p:spPr>
              <a:xfrm>
                <a:off x="738188" y="26391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支付权益​</a:t>
                </a:r>
              </a:p>
            </p:txBody>
          </p:sp>
          <p:sp>
            <p:nvSpPr>
              <p:cNvPr id="47" name="TextBox 47"/>
              <p:cNvSpPr txBox="1"/>
              <p:nvPr/>
            </p:nvSpPr>
            <p:spPr>
              <a:xfrm>
                <a:off x="738188" y="277915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支付立减​</a:t>
                </a:r>
              </a:p>
            </p:txBody>
          </p:sp>
          <p:sp>
            <p:nvSpPr>
              <p:cNvPr id="48" name="TextBox 48"/>
              <p:cNvSpPr txBox="1"/>
              <p:nvPr/>
            </p:nvSpPr>
            <p:spPr>
              <a:xfrm>
                <a:off x="738188" y="289345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积分权益​</a:t>
                </a:r>
              </a:p>
            </p:txBody>
          </p:sp>
        </p:grpSp>
        <p:sp>
          <p:nvSpPr>
            <p:cNvPr id="50" name="Freeform 50"/>
            <p:cNvSpPr/>
            <p:nvPr/>
          </p:nvSpPr>
          <p:spPr>
            <a:xfrm>
              <a:off x="1771650" y="2152650"/>
              <a:ext cx="171450" cy="152400"/>
            </a:xfrm>
            <a:prstGeom prst="rightArrow">
              <a:avLst/>
            </a:prstGeom>
            <a:solidFill>
              <a:srgbClr val="C9988F"/>
            </a:solidFill>
            <a:ln>
              <a:noFill/>
            </a:ln>
          </p:spPr>
        </p:sp>
        <p:grpSp>
          <p:nvGrpSpPr>
            <p:cNvPr id="77" name="layer-col2"/>
            <p:cNvGrpSpPr/>
            <p:nvPr/>
          </p:nvGrpSpPr>
          <p:grpSpPr>
            <a:xfrm>
              <a:off x="1943100" y="1447800"/>
              <a:ext cx="1428750" cy="1600200"/>
              <a:chOff x="1943100" y="1447800"/>
              <a:chExt cx="1428750" cy="1600200"/>
            </a:xfrm>
          </p:grpSpPr>
          <p:sp>
            <p:nvSpPr>
              <p:cNvPr id="51" name="Rectangle 51"/>
              <p:cNvSpPr/>
              <p:nvPr/>
            </p:nvSpPr>
            <p:spPr>
              <a:xfrm>
                <a:off x="1943100" y="1447800"/>
                <a:ext cx="1428750" cy="495300"/>
              </a:xfrm>
              <a:prstGeom prst="roundRect">
                <a:avLst>
                  <a:gd name="adj" fmla="val 11538"/>
                </a:avLst>
              </a:prstGeom>
              <a:solidFill>
                <a:srgbClr val="FFFFFF"/>
              </a:solidFill>
              <a:ln w="7620">
                <a:solidFill>
                  <a:srgbClr val="D9E8E2"/>
                </a:solidFill>
              </a:ln>
            </p:spPr>
          </p:sp>
          <p:grpSp>
            <p:nvGrpSpPr>
              <p:cNvPr id="55" name="Group 55"/>
              <p:cNvGrpSpPr/>
              <p:nvPr/>
            </p:nvGrpSpPr>
            <p:grpSpPr>
              <a:xfrm>
                <a:off x="2057400" y="1609725"/>
                <a:ext cx="152400" cy="171450"/>
                <a:chOff x="2057400" y="1609725"/>
                <a:chExt cx="152400" cy="171450"/>
              </a:xfrm>
            </p:grpSpPr>
            <p:sp>
              <p:nvSpPr>
                <p:cNvPr id="52" name="Freeform 52"/>
                <p:cNvSpPr/>
                <p:nvPr/>
              </p:nvSpPr>
              <p:spPr>
                <a:xfrm>
                  <a:off x="2057400" y="160972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5B180B"/>
                  </a:solidFill>
                </a:ln>
              </p:spPr>
            </p:sp>
            <p:sp>
              <p:nvSpPr>
                <p:cNvPr id="53" name="Freeform 53"/>
                <p:cNvSpPr/>
                <p:nvPr/>
              </p:nvSpPr>
              <p:spPr>
                <a:xfrm>
                  <a:off x="2057400" y="16383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5B180B"/>
                  </a:solidFill>
                </a:ln>
              </p:spPr>
            </p:sp>
            <p:sp>
              <p:nvSpPr>
                <p:cNvPr id="54" name="Freeform 54"/>
                <p:cNvSpPr/>
                <p:nvPr/>
              </p:nvSpPr>
              <p:spPr>
                <a:xfrm>
                  <a:off x="2057400" y="16954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5B180B"/>
                  </a:solidFill>
                </a:ln>
              </p:spPr>
            </p:sp>
          </p:grpSp>
          <p:sp>
            <p:nvSpPr>
              <p:cNvPr id="56" name="TextBox 56"/>
              <p:cNvSpPr txBox="1"/>
              <p:nvPr/>
            </p:nvSpPr>
            <p:spPr>
              <a:xfrm>
                <a:off x="2338388" y="15342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定期存款​</a:t>
                </a:r>
              </a:p>
            </p:txBody>
          </p:sp>
          <p:sp>
            <p:nvSpPr>
              <p:cNvPr id="57" name="TextBox 57"/>
              <p:cNvSpPr txBox="1"/>
              <p:nvPr/>
            </p:nvSpPr>
            <p:spPr>
              <a:xfrm>
                <a:off x="2338388" y="1674257"/>
                <a:ext cx="487695"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多期限选择​</a:t>
                </a:r>
              </a:p>
            </p:txBody>
          </p:sp>
          <p:sp>
            <p:nvSpPr>
              <p:cNvPr id="58" name="TextBox 58"/>
              <p:cNvSpPr txBox="1"/>
              <p:nvPr/>
            </p:nvSpPr>
            <p:spPr>
              <a:xfrm>
                <a:off x="2338388" y="1788557"/>
                <a:ext cx="487695"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起存金额低​</a:t>
                </a:r>
              </a:p>
            </p:txBody>
          </p:sp>
          <p:sp>
            <p:nvSpPr>
              <p:cNvPr id="59" name="Rectangle 59"/>
              <p:cNvSpPr/>
              <p:nvPr/>
            </p:nvSpPr>
            <p:spPr>
              <a:xfrm>
                <a:off x="1943100" y="2000250"/>
                <a:ext cx="1428750" cy="495300"/>
              </a:xfrm>
              <a:prstGeom prst="roundRect">
                <a:avLst>
                  <a:gd name="adj" fmla="val 11538"/>
                </a:avLst>
              </a:prstGeom>
              <a:solidFill>
                <a:srgbClr val="FFFFFF"/>
              </a:solidFill>
              <a:ln w="7620">
                <a:solidFill>
                  <a:srgbClr val="D9E8E2"/>
                </a:solidFill>
              </a:ln>
            </p:spPr>
          </p:sp>
          <p:grpSp>
            <p:nvGrpSpPr>
              <p:cNvPr id="65" name="Group 65"/>
              <p:cNvGrpSpPr/>
              <p:nvPr/>
            </p:nvGrpSpPr>
            <p:grpSpPr>
              <a:xfrm>
                <a:off x="2066925" y="2162175"/>
                <a:ext cx="133350" cy="171450"/>
                <a:chOff x="2066925" y="2162175"/>
                <a:chExt cx="133350" cy="171450"/>
              </a:xfrm>
            </p:grpSpPr>
            <p:sp>
              <p:nvSpPr>
                <p:cNvPr id="60" name="Freeform 60"/>
                <p:cNvSpPr/>
                <p:nvPr/>
              </p:nvSpPr>
              <p:spPr>
                <a:xfrm>
                  <a:off x="2152650" y="21621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5B180B"/>
                  </a:solidFill>
                </a:ln>
              </p:spPr>
            </p:sp>
            <p:sp>
              <p:nvSpPr>
                <p:cNvPr id="61" name="Freeform 61"/>
                <p:cNvSpPr/>
                <p:nvPr/>
              </p:nvSpPr>
              <p:spPr>
                <a:xfrm>
                  <a:off x="2066925" y="21621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5B180B"/>
                  </a:solidFill>
                </a:ln>
              </p:spPr>
            </p:sp>
            <p:sp>
              <p:nvSpPr>
                <p:cNvPr id="62" name="Freeform 62"/>
                <p:cNvSpPr/>
                <p:nvPr/>
              </p:nvSpPr>
              <p:spPr>
                <a:xfrm>
                  <a:off x="2105025" y="2219325"/>
                  <a:ext cx="9525" cy="9525"/>
                </a:xfrm>
                <a:custGeom>
                  <a:avLst/>
                  <a:gdLst/>
                  <a:ahLst/>
                  <a:cxnLst/>
                  <a:rect l="l" t="t" r="r" b="b"/>
                  <a:pathLst>
                    <a:path w="9525" h="9525">
                      <a:moveTo>
                        <a:pt x="0" y="0"/>
                      </a:moveTo>
                      <a:lnTo>
                        <a:pt x="9525" y="0"/>
                      </a:lnTo>
                    </a:path>
                  </a:pathLst>
                </a:custGeom>
                <a:noFill/>
                <a:ln w="19050">
                  <a:solidFill>
                    <a:srgbClr val="5B180B"/>
                  </a:solidFill>
                </a:ln>
              </p:spPr>
            </p:sp>
            <p:sp>
              <p:nvSpPr>
                <p:cNvPr id="63" name="Freeform 63"/>
                <p:cNvSpPr/>
                <p:nvPr/>
              </p:nvSpPr>
              <p:spPr>
                <a:xfrm>
                  <a:off x="2105025" y="2257425"/>
                  <a:ext cx="57150" cy="9525"/>
                </a:xfrm>
                <a:custGeom>
                  <a:avLst/>
                  <a:gdLst/>
                  <a:ahLst/>
                  <a:cxnLst/>
                  <a:rect l="l" t="t" r="r" b="b"/>
                  <a:pathLst>
                    <a:path w="57150" h="9525">
                      <a:moveTo>
                        <a:pt x="0" y="0"/>
                      </a:moveTo>
                      <a:lnTo>
                        <a:pt x="57150" y="0"/>
                      </a:lnTo>
                    </a:path>
                  </a:pathLst>
                </a:custGeom>
                <a:noFill/>
                <a:ln w="19050">
                  <a:solidFill>
                    <a:srgbClr val="5B180B"/>
                  </a:solidFill>
                </a:ln>
              </p:spPr>
            </p:sp>
            <p:sp>
              <p:nvSpPr>
                <p:cNvPr id="64" name="Freeform 64"/>
                <p:cNvSpPr/>
                <p:nvPr/>
              </p:nvSpPr>
              <p:spPr>
                <a:xfrm>
                  <a:off x="2105025" y="2295525"/>
                  <a:ext cx="57150" cy="9525"/>
                </a:xfrm>
                <a:custGeom>
                  <a:avLst/>
                  <a:gdLst/>
                  <a:ahLst/>
                  <a:cxnLst/>
                  <a:rect l="l" t="t" r="r" b="b"/>
                  <a:pathLst>
                    <a:path w="57150" h="9525">
                      <a:moveTo>
                        <a:pt x="0" y="0"/>
                      </a:moveTo>
                      <a:lnTo>
                        <a:pt x="57150" y="0"/>
                      </a:lnTo>
                    </a:path>
                  </a:pathLst>
                </a:custGeom>
                <a:noFill/>
                <a:ln w="19050">
                  <a:solidFill>
                    <a:srgbClr val="5B180B"/>
                  </a:solidFill>
                </a:ln>
              </p:spPr>
            </p:sp>
          </p:grpSp>
          <p:sp>
            <p:nvSpPr>
              <p:cNvPr id="66" name="TextBox 66"/>
              <p:cNvSpPr txBox="1"/>
              <p:nvPr/>
            </p:nvSpPr>
            <p:spPr>
              <a:xfrm>
                <a:off x="2338388" y="208668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大额存单​</a:t>
                </a:r>
              </a:p>
            </p:txBody>
          </p:sp>
          <p:sp>
            <p:nvSpPr>
              <p:cNvPr id="67" name="TextBox 67"/>
              <p:cNvSpPr txBox="1"/>
              <p:nvPr/>
            </p:nvSpPr>
            <p:spPr>
              <a:xfrm>
                <a:off x="2338388" y="222670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利率优势​</a:t>
                </a:r>
              </a:p>
            </p:txBody>
          </p:sp>
          <p:sp>
            <p:nvSpPr>
              <p:cNvPr id="68" name="TextBox 68"/>
              <p:cNvSpPr txBox="1"/>
              <p:nvPr/>
            </p:nvSpPr>
            <p:spPr>
              <a:xfrm>
                <a:off x="2338388" y="234100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安全可靠​</a:t>
                </a:r>
              </a:p>
            </p:txBody>
          </p:sp>
          <p:sp>
            <p:nvSpPr>
              <p:cNvPr id="69" name="Rectangle 69"/>
              <p:cNvSpPr/>
              <p:nvPr/>
            </p:nvSpPr>
            <p:spPr>
              <a:xfrm>
                <a:off x="1943100" y="2552700"/>
                <a:ext cx="1428750" cy="495300"/>
              </a:xfrm>
              <a:prstGeom prst="roundRect">
                <a:avLst>
                  <a:gd name="adj" fmla="val 11538"/>
                </a:avLst>
              </a:prstGeom>
              <a:solidFill>
                <a:srgbClr val="FFFFFF"/>
              </a:solidFill>
              <a:ln w="7620">
                <a:solidFill>
                  <a:srgbClr val="D9E8E2"/>
                </a:solidFill>
              </a:ln>
            </p:spPr>
          </p:sp>
          <p:grpSp>
            <p:nvGrpSpPr>
              <p:cNvPr id="73" name="Group 73"/>
              <p:cNvGrpSpPr/>
              <p:nvPr/>
            </p:nvGrpSpPr>
            <p:grpSpPr>
              <a:xfrm>
                <a:off x="2047875" y="2733675"/>
                <a:ext cx="171450" cy="133350"/>
                <a:chOff x="2047875" y="2733675"/>
                <a:chExt cx="171450" cy="133350"/>
              </a:xfrm>
            </p:grpSpPr>
            <p:sp>
              <p:nvSpPr>
                <p:cNvPr id="70" name="Freeform 70"/>
                <p:cNvSpPr/>
                <p:nvPr/>
              </p:nvSpPr>
              <p:spPr>
                <a:xfrm>
                  <a:off x="2047875" y="2733675"/>
                  <a:ext cx="133350" cy="95250"/>
                </a:xfrm>
                <a:custGeom>
                  <a:avLst/>
                  <a:gdLst/>
                  <a:ahLst/>
                  <a:cxnLst/>
                  <a:rect l="l" t="t" r="r" b="b"/>
                  <a:pathLst>
                    <a:path w="133350" h="95250">
                      <a:moveTo>
                        <a:pt x="38100" y="95250"/>
                      </a:moveTo>
                      <a:lnTo>
                        <a:pt x="9525" y="95250"/>
                      </a:lnTo>
                      <a:cubicBezTo>
                        <a:pt x="4264" y="95250"/>
                        <a:pt x="0" y="90986"/>
                        <a:pt x="0" y="85725"/>
                      </a:cubicBezTo>
                      <a:lnTo>
                        <a:pt x="0" y="9525"/>
                      </a:lnTo>
                      <a:cubicBezTo>
                        <a:pt x="0" y="4264"/>
                        <a:pt x="4264" y="0"/>
                        <a:pt x="9525" y="0"/>
                      </a:cubicBezTo>
                      <a:lnTo>
                        <a:pt x="123825" y="0"/>
                      </a:lnTo>
                      <a:cubicBezTo>
                        <a:pt x="129086" y="0"/>
                        <a:pt x="133350" y="4264"/>
                        <a:pt x="133350" y="9525"/>
                      </a:cubicBezTo>
                      <a:lnTo>
                        <a:pt x="133350" y="38100"/>
                      </a:lnTo>
                    </a:path>
                  </a:pathLst>
                </a:custGeom>
                <a:noFill/>
                <a:ln w="19050">
                  <a:solidFill>
                    <a:srgbClr val="5B180B"/>
                  </a:solidFill>
                </a:ln>
              </p:spPr>
            </p:sp>
            <p:sp>
              <p:nvSpPr>
                <p:cNvPr id="71" name="Freeform 71"/>
                <p:cNvSpPr/>
                <p:nvPr/>
              </p:nvSpPr>
              <p:spPr>
                <a:xfrm>
                  <a:off x="2085975" y="2771775"/>
                  <a:ext cx="133350" cy="95250"/>
                </a:xfrm>
                <a:custGeom>
                  <a:avLst/>
                  <a:gdLst/>
                  <a:ahLst/>
                  <a:cxnLst/>
                  <a:rect l="l" t="t" r="r" b="b"/>
                  <a:pathLst>
                    <a:path w="133350" h="95250">
                      <a:moveTo>
                        <a:pt x="0" y="9525"/>
                      </a:moveTo>
                      <a:cubicBezTo>
                        <a:pt x="0" y="4264"/>
                        <a:pt x="4264" y="0"/>
                        <a:pt x="9525" y="0"/>
                      </a:cubicBezTo>
                      <a:lnTo>
                        <a:pt x="123825" y="0"/>
                      </a:lnTo>
                      <a:cubicBezTo>
                        <a:pt x="129086" y="0"/>
                        <a:pt x="133350" y="4264"/>
                        <a:pt x="133350" y="9525"/>
                      </a:cubicBezTo>
                      <a:lnTo>
                        <a:pt x="133350" y="85725"/>
                      </a:lnTo>
                      <a:cubicBezTo>
                        <a:pt x="133350" y="90986"/>
                        <a:pt x="129086" y="95250"/>
                        <a:pt x="123825" y="95250"/>
                      </a:cubicBezTo>
                      <a:lnTo>
                        <a:pt x="9525" y="95250"/>
                      </a:lnTo>
                      <a:cubicBezTo>
                        <a:pt x="4264" y="95250"/>
                        <a:pt x="0" y="90986"/>
                        <a:pt x="0" y="85725"/>
                      </a:cubicBezTo>
                      <a:lnTo>
                        <a:pt x="0" y="9525"/>
                      </a:lnTo>
                    </a:path>
                  </a:pathLst>
                </a:custGeom>
                <a:noFill/>
                <a:ln w="19050">
                  <a:solidFill>
                    <a:srgbClr val="5B180B"/>
                  </a:solidFill>
                </a:ln>
              </p:spPr>
            </p:sp>
            <p:sp>
              <p:nvSpPr>
                <p:cNvPr id="72" name="Freeform 72"/>
                <p:cNvSpPr/>
                <p:nvPr/>
              </p:nvSpPr>
              <p:spPr>
                <a:xfrm>
                  <a:off x="2133600" y="28003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5B180B"/>
                  </a:solidFill>
                </a:ln>
              </p:spPr>
            </p:sp>
          </p:grpSp>
          <p:sp>
            <p:nvSpPr>
              <p:cNvPr id="74" name="TextBox 74"/>
              <p:cNvSpPr txBox="1"/>
              <p:nvPr/>
            </p:nvSpPr>
            <p:spPr>
              <a:xfrm>
                <a:off x="2338388" y="2639139"/>
                <a:ext cx="38999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消费贷​</a:t>
                </a:r>
              </a:p>
            </p:txBody>
          </p:sp>
          <p:sp>
            <p:nvSpPr>
              <p:cNvPr id="75" name="TextBox 75"/>
              <p:cNvSpPr txBox="1"/>
              <p:nvPr/>
            </p:nvSpPr>
            <p:spPr>
              <a:xfrm>
                <a:off x="2338388" y="277915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额度灵活​</a:t>
                </a:r>
              </a:p>
            </p:txBody>
          </p:sp>
          <p:sp>
            <p:nvSpPr>
              <p:cNvPr id="76" name="TextBox 76"/>
              <p:cNvSpPr txBox="1"/>
              <p:nvPr/>
            </p:nvSpPr>
            <p:spPr>
              <a:xfrm>
                <a:off x="2338388" y="289345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快速审批​</a:t>
                </a:r>
              </a:p>
            </p:txBody>
          </p:sp>
        </p:grpSp>
        <p:sp>
          <p:nvSpPr>
            <p:cNvPr id="78" name="Freeform 78"/>
            <p:cNvSpPr/>
            <p:nvPr/>
          </p:nvSpPr>
          <p:spPr>
            <a:xfrm>
              <a:off x="3371850" y="2152650"/>
              <a:ext cx="171450" cy="152400"/>
            </a:xfrm>
            <a:prstGeom prst="rightArrow">
              <a:avLst/>
            </a:prstGeom>
            <a:solidFill>
              <a:srgbClr val="C9988F"/>
            </a:solidFill>
            <a:ln>
              <a:noFill/>
            </a:ln>
          </p:spPr>
        </p:sp>
        <p:grpSp>
          <p:nvGrpSpPr>
            <p:cNvPr id="108" name="layer-col3"/>
            <p:cNvGrpSpPr/>
            <p:nvPr/>
          </p:nvGrpSpPr>
          <p:grpSpPr>
            <a:xfrm>
              <a:off x="3543300" y="1447800"/>
              <a:ext cx="1428750" cy="1666875"/>
              <a:chOff x="3543300" y="1447800"/>
              <a:chExt cx="1428750" cy="1666875"/>
            </a:xfrm>
          </p:grpSpPr>
          <p:sp>
            <p:nvSpPr>
              <p:cNvPr id="79" name="Rectangle 79"/>
              <p:cNvSpPr/>
              <p:nvPr/>
            </p:nvSpPr>
            <p:spPr>
              <a:xfrm>
                <a:off x="3543300" y="1447800"/>
                <a:ext cx="1428750" cy="381000"/>
              </a:xfrm>
              <a:prstGeom prst="roundRect">
                <a:avLst>
                  <a:gd name="adj" fmla="val 15000"/>
                </a:avLst>
              </a:prstGeom>
              <a:solidFill>
                <a:srgbClr val="FFFFFF"/>
              </a:solidFill>
              <a:ln w="7620">
                <a:solidFill>
                  <a:srgbClr val="D9E8E2"/>
                </a:solidFill>
              </a:ln>
            </p:spPr>
          </p:sp>
          <p:grpSp>
            <p:nvGrpSpPr>
              <p:cNvPr id="84" name="Group 84"/>
              <p:cNvGrpSpPr/>
              <p:nvPr/>
            </p:nvGrpSpPr>
            <p:grpSpPr>
              <a:xfrm>
                <a:off x="3645694" y="1568450"/>
                <a:ext cx="157163" cy="149225"/>
                <a:chOff x="3645694" y="1568450"/>
                <a:chExt cx="157163" cy="149225"/>
              </a:xfrm>
            </p:grpSpPr>
            <p:sp>
              <p:nvSpPr>
                <p:cNvPr id="80" name="Freeform 80"/>
                <p:cNvSpPr/>
                <p:nvPr/>
              </p:nvSpPr>
              <p:spPr>
                <a:xfrm>
                  <a:off x="3645694" y="163830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5B180B"/>
                  </a:solidFill>
                </a:ln>
              </p:spPr>
            </p:sp>
            <p:sp>
              <p:nvSpPr>
                <p:cNvPr id="81" name="Freeform 81"/>
                <p:cNvSpPr/>
                <p:nvPr/>
              </p:nvSpPr>
              <p:spPr>
                <a:xfrm>
                  <a:off x="3750469" y="160337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5B180B"/>
                  </a:solidFill>
                </a:ln>
              </p:spPr>
            </p:sp>
            <p:sp>
              <p:nvSpPr>
                <p:cNvPr id="82" name="Freeform 82"/>
                <p:cNvSpPr/>
                <p:nvPr/>
              </p:nvSpPr>
              <p:spPr>
                <a:xfrm>
                  <a:off x="3698081" y="156845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5B180B"/>
                  </a:solidFill>
                </a:ln>
              </p:spPr>
            </p:sp>
            <p:sp>
              <p:nvSpPr>
                <p:cNvPr id="83" name="Freeform 83"/>
                <p:cNvSpPr/>
                <p:nvPr/>
              </p:nvSpPr>
              <p:spPr>
                <a:xfrm>
                  <a:off x="3654425" y="1708150"/>
                  <a:ext cx="122238" cy="9525"/>
                </a:xfrm>
                <a:custGeom>
                  <a:avLst/>
                  <a:gdLst/>
                  <a:ahLst/>
                  <a:cxnLst/>
                  <a:rect l="l" t="t" r="r" b="b"/>
                  <a:pathLst>
                    <a:path w="122238" h="9525">
                      <a:moveTo>
                        <a:pt x="0" y="0"/>
                      </a:moveTo>
                      <a:lnTo>
                        <a:pt x="122238" y="0"/>
                      </a:lnTo>
                    </a:path>
                  </a:pathLst>
                </a:custGeom>
                <a:noFill/>
                <a:ln w="17463">
                  <a:solidFill>
                    <a:srgbClr val="5B180B"/>
                  </a:solidFill>
                </a:ln>
              </p:spPr>
            </p:sp>
          </p:grpSp>
          <p:sp>
            <p:nvSpPr>
              <p:cNvPr id="85" name="TextBox 85"/>
              <p:cNvSpPr txBox="1"/>
              <p:nvPr/>
            </p:nvSpPr>
            <p:spPr>
              <a:xfrm>
                <a:off x="3919538" y="151518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理财产品​</a:t>
                </a:r>
              </a:p>
            </p:txBody>
          </p:sp>
          <p:sp>
            <p:nvSpPr>
              <p:cNvPr id="86" name="TextBox 86"/>
              <p:cNvSpPr txBox="1"/>
              <p:nvPr/>
            </p:nvSpPr>
            <p:spPr>
              <a:xfrm>
                <a:off x="3919538" y="1664732"/>
                <a:ext cx="668625"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稳健/平衡/进取​</a:t>
                </a:r>
              </a:p>
            </p:txBody>
          </p:sp>
          <p:sp>
            <p:nvSpPr>
              <p:cNvPr id="87" name="Rectangle 87"/>
              <p:cNvSpPr/>
              <p:nvPr/>
            </p:nvSpPr>
            <p:spPr>
              <a:xfrm>
                <a:off x="3543300" y="1876425"/>
                <a:ext cx="1428750" cy="381000"/>
              </a:xfrm>
              <a:prstGeom prst="roundRect">
                <a:avLst>
                  <a:gd name="adj" fmla="val 15000"/>
                </a:avLst>
              </a:prstGeom>
              <a:solidFill>
                <a:srgbClr val="FFFFFF"/>
              </a:solidFill>
              <a:ln w="7620">
                <a:solidFill>
                  <a:srgbClr val="D9E8E2"/>
                </a:solidFill>
              </a:ln>
            </p:spPr>
          </p:sp>
          <p:grpSp>
            <p:nvGrpSpPr>
              <p:cNvPr id="90" name="Group 90"/>
              <p:cNvGrpSpPr/>
              <p:nvPr/>
            </p:nvGrpSpPr>
            <p:grpSpPr>
              <a:xfrm>
                <a:off x="3643260" y="1989845"/>
                <a:ext cx="157850" cy="158095"/>
                <a:chOff x="3643260" y="1989845"/>
                <a:chExt cx="157850" cy="158095"/>
              </a:xfrm>
            </p:grpSpPr>
            <p:sp>
              <p:nvSpPr>
                <p:cNvPr id="88" name="Freeform 88"/>
                <p:cNvSpPr/>
                <p:nvPr/>
              </p:nvSpPr>
              <p:spPr>
                <a:xfrm>
                  <a:off x="3643260" y="1989845"/>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5B180B"/>
                  </a:solidFill>
                </a:ln>
              </p:spPr>
            </p:sp>
            <p:sp>
              <p:nvSpPr>
                <p:cNvPr id="89" name="Freeform 89"/>
                <p:cNvSpPr/>
                <p:nvPr/>
              </p:nvSpPr>
              <p:spPr>
                <a:xfrm>
                  <a:off x="3750469" y="1992709"/>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5B180B"/>
                  </a:solidFill>
                </a:ln>
              </p:spPr>
            </p:sp>
          </p:grpSp>
          <p:sp>
            <p:nvSpPr>
              <p:cNvPr id="91" name="TextBox 91"/>
              <p:cNvSpPr txBox="1"/>
              <p:nvPr/>
            </p:nvSpPr>
            <p:spPr>
              <a:xfrm>
                <a:off x="3919538" y="1943814"/>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基金产品​</a:t>
                </a:r>
              </a:p>
            </p:txBody>
          </p:sp>
          <p:sp>
            <p:nvSpPr>
              <p:cNvPr id="92" name="TextBox 92"/>
              <p:cNvSpPr txBox="1"/>
              <p:nvPr/>
            </p:nvSpPr>
            <p:spPr>
              <a:xfrm>
                <a:off x="3919538" y="2093357"/>
                <a:ext cx="845246"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公募基金 · 定投计划​</a:t>
                </a:r>
              </a:p>
            </p:txBody>
          </p:sp>
          <p:sp>
            <p:nvSpPr>
              <p:cNvPr id="93" name="Rectangle 93"/>
              <p:cNvSpPr/>
              <p:nvPr/>
            </p:nvSpPr>
            <p:spPr>
              <a:xfrm>
                <a:off x="3543300" y="2305050"/>
                <a:ext cx="1428750" cy="381000"/>
              </a:xfrm>
              <a:prstGeom prst="roundRect">
                <a:avLst>
                  <a:gd name="adj" fmla="val 15000"/>
                </a:avLst>
              </a:prstGeom>
              <a:solidFill>
                <a:srgbClr val="FFFFFF"/>
              </a:solidFill>
              <a:ln w="7620">
                <a:solidFill>
                  <a:srgbClr val="D9E8E2"/>
                </a:solidFill>
              </a:ln>
            </p:spPr>
          </p:sp>
          <p:grpSp>
            <p:nvGrpSpPr>
              <p:cNvPr id="96" name="Group 96"/>
              <p:cNvGrpSpPr/>
              <p:nvPr/>
            </p:nvGrpSpPr>
            <p:grpSpPr>
              <a:xfrm>
                <a:off x="3633910" y="2416969"/>
                <a:ext cx="170506" cy="157162"/>
                <a:chOff x="3633910" y="2416969"/>
                <a:chExt cx="170506" cy="157162"/>
              </a:xfrm>
            </p:grpSpPr>
            <p:sp>
              <p:nvSpPr>
                <p:cNvPr id="94" name="Freeform 94"/>
                <p:cNvSpPr/>
                <p:nvPr/>
              </p:nvSpPr>
              <p:spPr>
                <a:xfrm>
                  <a:off x="3633910" y="241696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5B180B"/>
                  </a:solidFill>
                </a:ln>
              </p:spPr>
            </p:sp>
            <p:sp>
              <p:nvSpPr>
                <p:cNvPr id="95" name="Freeform 95"/>
                <p:cNvSpPr/>
                <p:nvPr/>
              </p:nvSpPr>
              <p:spPr>
                <a:xfrm>
                  <a:off x="3750469" y="2539206"/>
                  <a:ext cx="52388" cy="34925"/>
                </a:xfrm>
                <a:custGeom>
                  <a:avLst/>
                  <a:gdLst/>
                  <a:ahLst/>
                  <a:cxnLst/>
                  <a:rect l="l" t="t" r="r" b="b"/>
                  <a:pathLst>
                    <a:path w="52388" h="34925">
                      <a:moveTo>
                        <a:pt x="0" y="17463"/>
                      </a:moveTo>
                      <a:lnTo>
                        <a:pt x="17463" y="34925"/>
                      </a:lnTo>
                      <a:lnTo>
                        <a:pt x="52388" y="0"/>
                      </a:lnTo>
                    </a:path>
                  </a:pathLst>
                </a:custGeom>
                <a:noFill/>
                <a:ln w="17463">
                  <a:solidFill>
                    <a:srgbClr val="5B180B"/>
                  </a:solidFill>
                </a:ln>
              </p:spPr>
            </p:sp>
          </p:grpSp>
          <p:sp>
            <p:nvSpPr>
              <p:cNvPr id="97" name="TextBox 97"/>
              <p:cNvSpPr txBox="1"/>
              <p:nvPr/>
            </p:nvSpPr>
            <p:spPr>
              <a:xfrm>
                <a:off x="3919538" y="23724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保险产品​</a:t>
                </a:r>
              </a:p>
            </p:txBody>
          </p:sp>
          <p:sp>
            <p:nvSpPr>
              <p:cNvPr id="98" name="TextBox 98"/>
              <p:cNvSpPr txBox="1"/>
              <p:nvPr/>
            </p:nvSpPr>
            <p:spPr>
              <a:xfrm>
                <a:off x="3919538" y="2521982"/>
                <a:ext cx="845246"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保障全面 · 守护家庭​</a:t>
                </a:r>
              </a:p>
            </p:txBody>
          </p:sp>
          <p:sp>
            <p:nvSpPr>
              <p:cNvPr id="99" name="Rectangle 99"/>
              <p:cNvSpPr/>
              <p:nvPr/>
            </p:nvSpPr>
            <p:spPr>
              <a:xfrm>
                <a:off x="3543300" y="2733675"/>
                <a:ext cx="1428750" cy="381000"/>
              </a:xfrm>
              <a:prstGeom prst="roundRect">
                <a:avLst>
                  <a:gd name="adj" fmla="val 15000"/>
                </a:avLst>
              </a:prstGeom>
              <a:solidFill>
                <a:srgbClr val="FFFFFF"/>
              </a:solidFill>
              <a:ln w="7620">
                <a:solidFill>
                  <a:srgbClr val="D9E8E2"/>
                </a:solidFill>
              </a:ln>
            </p:spPr>
          </p:sp>
          <p:grpSp>
            <p:nvGrpSpPr>
              <p:cNvPr id="105" name="Group 105"/>
              <p:cNvGrpSpPr/>
              <p:nvPr/>
            </p:nvGrpSpPr>
            <p:grpSpPr>
              <a:xfrm>
                <a:off x="3645694" y="2844424"/>
                <a:ext cx="157162" cy="158333"/>
                <a:chOff x="3645694" y="2844424"/>
                <a:chExt cx="157162" cy="158333"/>
              </a:xfrm>
            </p:grpSpPr>
            <p:sp>
              <p:nvSpPr>
                <p:cNvPr id="100" name="Freeform 100"/>
                <p:cNvSpPr/>
                <p:nvPr/>
              </p:nvSpPr>
              <p:spPr>
                <a:xfrm>
                  <a:off x="3698081" y="2915444"/>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5B180B"/>
                  </a:solidFill>
                </a:ln>
              </p:spPr>
            </p:sp>
            <p:sp>
              <p:nvSpPr>
                <p:cNvPr id="101" name="Freeform 101"/>
                <p:cNvSpPr/>
                <p:nvPr/>
              </p:nvSpPr>
              <p:spPr>
                <a:xfrm>
                  <a:off x="3698081" y="2941638"/>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5B180B"/>
                  </a:solidFill>
                </a:ln>
              </p:spPr>
            </p:sp>
            <p:sp>
              <p:nvSpPr>
                <p:cNvPr id="102" name="Freeform 102"/>
                <p:cNvSpPr/>
                <p:nvPr/>
              </p:nvSpPr>
              <p:spPr>
                <a:xfrm>
                  <a:off x="3645694" y="2844424"/>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5B180B"/>
                  </a:solidFill>
                </a:ln>
              </p:spPr>
            </p:sp>
            <p:sp>
              <p:nvSpPr>
                <p:cNvPr id="103" name="Freeform 103"/>
                <p:cNvSpPr/>
                <p:nvPr/>
              </p:nvSpPr>
              <p:spPr>
                <a:xfrm>
                  <a:off x="3645694" y="2871788"/>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5B180B"/>
                  </a:solidFill>
                </a:ln>
              </p:spPr>
            </p:sp>
            <p:sp>
              <p:nvSpPr>
                <p:cNvPr id="104" name="Freeform 104"/>
                <p:cNvSpPr/>
                <p:nvPr/>
              </p:nvSpPr>
              <p:spPr>
                <a:xfrm>
                  <a:off x="3645694" y="2915444"/>
                  <a:ext cx="17463" cy="17463"/>
                </a:xfrm>
                <a:custGeom>
                  <a:avLst/>
                  <a:gdLst/>
                  <a:ahLst/>
                  <a:cxnLst/>
                  <a:rect l="l" t="t" r="r" b="b"/>
                  <a:pathLst>
                    <a:path w="17463" h="17463">
                      <a:moveTo>
                        <a:pt x="0" y="0"/>
                      </a:moveTo>
                      <a:cubicBezTo>
                        <a:pt x="0" y="7753"/>
                        <a:pt x="6741" y="12660"/>
                        <a:pt x="17463" y="17463"/>
                      </a:cubicBezTo>
                    </a:path>
                  </a:pathLst>
                </a:custGeom>
                <a:noFill/>
                <a:ln w="17463">
                  <a:solidFill>
                    <a:srgbClr val="5B180B"/>
                  </a:solidFill>
                </a:ln>
              </p:spPr>
            </p:sp>
          </p:grpSp>
          <p:sp>
            <p:nvSpPr>
              <p:cNvPr id="106" name="TextBox 106"/>
              <p:cNvSpPr txBox="1"/>
              <p:nvPr/>
            </p:nvSpPr>
            <p:spPr>
              <a:xfrm>
                <a:off x="3919538" y="2801064"/>
                <a:ext cx="38999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贵金属​</a:t>
                </a:r>
              </a:p>
            </p:txBody>
          </p:sp>
          <p:sp>
            <p:nvSpPr>
              <p:cNvPr id="107" name="TextBox 107"/>
              <p:cNvSpPr txBox="1"/>
              <p:nvPr/>
            </p:nvSpPr>
            <p:spPr>
              <a:xfrm>
                <a:off x="3919538" y="2950607"/>
                <a:ext cx="759089"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实物金 · 积存金条​</a:t>
                </a:r>
              </a:p>
            </p:txBody>
          </p:sp>
        </p:grpSp>
        <p:sp>
          <p:nvSpPr>
            <p:cNvPr id="109" name="Freeform 109"/>
            <p:cNvSpPr/>
            <p:nvPr/>
          </p:nvSpPr>
          <p:spPr>
            <a:xfrm>
              <a:off x="4972050" y="2152650"/>
              <a:ext cx="171450" cy="152400"/>
            </a:xfrm>
            <a:prstGeom prst="rightArrow">
              <a:avLst/>
            </a:prstGeom>
            <a:solidFill>
              <a:srgbClr val="C9988F"/>
            </a:solidFill>
            <a:ln>
              <a:noFill/>
            </a:ln>
          </p:spPr>
        </p:sp>
        <p:grpSp>
          <p:nvGrpSpPr>
            <p:cNvPr id="133" name="layer-col4"/>
            <p:cNvGrpSpPr/>
            <p:nvPr/>
          </p:nvGrpSpPr>
          <p:grpSpPr>
            <a:xfrm>
              <a:off x="5143500" y="1447800"/>
              <a:ext cx="1428750" cy="1600200"/>
              <a:chOff x="5143500" y="1447800"/>
              <a:chExt cx="1428750" cy="1600200"/>
            </a:xfrm>
          </p:grpSpPr>
          <p:sp>
            <p:nvSpPr>
              <p:cNvPr id="110" name="Rectangle 110"/>
              <p:cNvSpPr/>
              <p:nvPr/>
            </p:nvSpPr>
            <p:spPr>
              <a:xfrm>
                <a:off x="5143500" y="1447800"/>
                <a:ext cx="1428750" cy="495300"/>
              </a:xfrm>
              <a:prstGeom prst="roundRect">
                <a:avLst>
                  <a:gd name="adj" fmla="val 11538"/>
                </a:avLst>
              </a:prstGeom>
              <a:solidFill>
                <a:srgbClr val="FFFFFF"/>
              </a:solidFill>
              <a:ln w="7620">
                <a:solidFill>
                  <a:srgbClr val="D9E8E2"/>
                </a:solidFill>
              </a:ln>
            </p:spPr>
          </p:sp>
          <p:grpSp>
            <p:nvGrpSpPr>
              <p:cNvPr id="116" name="Group 116"/>
              <p:cNvGrpSpPr/>
              <p:nvPr/>
            </p:nvGrpSpPr>
            <p:grpSpPr>
              <a:xfrm>
                <a:off x="5248275" y="1609725"/>
                <a:ext cx="171450" cy="171450"/>
                <a:chOff x="5248275" y="1609725"/>
                <a:chExt cx="171450" cy="171450"/>
              </a:xfrm>
            </p:grpSpPr>
            <p:sp>
              <p:nvSpPr>
                <p:cNvPr id="111" name="Freeform 111"/>
                <p:cNvSpPr/>
                <p:nvPr/>
              </p:nvSpPr>
              <p:spPr>
                <a:xfrm>
                  <a:off x="5314950" y="16097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5B180B"/>
                  </a:solidFill>
                </a:ln>
              </p:spPr>
            </p:sp>
            <p:sp>
              <p:nvSpPr>
                <p:cNvPr id="112" name="Freeform 112"/>
                <p:cNvSpPr/>
                <p:nvPr/>
              </p:nvSpPr>
              <p:spPr>
                <a:xfrm>
                  <a:off x="5248275" y="17430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5B180B"/>
                  </a:solidFill>
                </a:ln>
              </p:spPr>
            </p:sp>
            <p:sp>
              <p:nvSpPr>
                <p:cNvPr id="113" name="Freeform 113"/>
                <p:cNvSpPr/>
                <p:nvPr/>
              </p:nvSpPr>
              <p:spPr>
                <a:xfrm>
                  <a:off x="5381625" y="17430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5B180B"/>
                  </a:solidFill>
                </a:ln>
              </p:spPr>
            </p:sp>
            <p:sp>
              <p:nvSpPr>
                <p:cNvPr id="114" name="Freeform 114"/>
                <p:cNvSpPr/>
                <p:nvPr/>
              </p:nvSpPr>
              <p:spPr>
                <a:xfrm>
                  <a:off x="5281612" y="1704975"/>
                  <a:ext cx="104775" cy="42862"/>
                </a:xfrm>
                <a:custGeom>
                  <a:avLst/>
                  <a:gdLst/>
                  <a:ahLst/>
                  <a:cxnLst/>
                  <a:rect l="l" t="t" r="r" b="b"/>
                  <a:pathLst>
                    <a:path w="104775" h="42862">
                      <a:moveTo>
                        <a:pt x="0" y="42862"/>
                      </a:moveTo>
                      <a:lnTo>
                        <a:pt x="52388" y="0"/>
                      </a:lnTo>
                      <a:lnTo>
                        <a:pt x="104775" y="42862"/>
                      </a:lnTo>
                    </a:path>
                  </a:pathLst>
                </a:custGeom>
                <a:noFill/>
                <a:ln w="19050">
                  <a:solidFill>
                    <a:srgbClr val="5B180B"/>
                  </a:solidFill>
                </a:ln>
              </p:spPr>
            </p:sp>
            <p:sp>
              <p:nvSpPr>
                <p:cNvPr id="115" name="Freeform 115"/>
                <p:cNvSpPr/>
                <p:nvPr/>
              </p:nvSpPr>
              <p:spPr>
                <a:xfrm>
                  <a:off x="5334000" y="1647825"/>
                  <a:ext cx="9525" cy="57150"/>
                </a:xfrm>
                <a:custGeom>
                  <a:avLst/>
                  <a:gdLst/>
                  <a:ahLst/>
                  <a:cxnLst/>
                  <a:rect l="l" t="t" r="r" b="b"/>
                  <a:pathLst>
                    <a:path w="9525" h="57150">
                      <a:moveTo>
                        <a:pt x="0" y="0"/>
                      </a:moveTo>
                      <a:lnTo>
                        <a:pt x="0" y="57150"/>
                      </a:lnTo>
                    </a:path>
                  </a:pathLst>
                </a:custGeom>
                <a:noFill/>
                <a:ln w="19050">
                  <a:solidFill>
                    <a:srgbClr val="5B180B"/>
                  </a:solidFill>
                </a:ln>
              </p:spPr>
            </p:sp>
          </p:grpSp>
          <p:sp>
            <p:nvSpPr>
              <p:cNvPr id="117" name="TextBox 117"/>
              <p:cNvSpPr txBox="1"/>
              <p:nvPr/>
            </p:nvSpPr>
            <p:spPr>
              <a:xfrm>
                <a:off x="5538788" y="15342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资产配置​</a:t>
                </a:r>
              </a:p>
            </p:txBody>
          </p:sp>
          <p:sp>
            <p:nvSpPr>
              <p:cNvPr id="118" name="TextBox 118"/>
              <p:cNvSpPr txBox="1"/>
              <p:nvPr/>
            </p:nvSpPr>
            <p:spPr>
              <a:xfrm>
                <a:off x="5538788" y="1674257"/>
                <a:ext cx="487695"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全生命周期​</a:t>
                </a:r>
              </a:p>
            </p:txBody>
          </p:sp>
          <p:sp>
            <p:nvSpPr>
              <p:cNvPr id="119" name="TextBox 119"/>
              <p:cNvSpPr txBox="1"/>
              <p:nvPr/>
            </p:nvSpPr>
            <p:spPr>
              <a:xfrm>
                <a:off x="5538788" y="178855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多元配置​</a:t>
                </a:r>
              </a:p>
            </p:txBody>
          </p:sp>
          <p:sp>
            <p:nvSpPr>
              <p:cNvPr id="120" name="Rectangle 120"/>
              <p:cNvSpPr/>
              <p:nvPr/>
            </p:nvSpPr>
            <p:spPr>
              <a:xfrm>
                <a:off x="5143500" y="2000250"/>
                <a:ext cx="1428750" cy="495300"/>
              </a:xfrm>
              <a:prstGeom prst="roundRect">
                <a:avLst>
                  <a:gd name="adj" fmla="val 11538"/>
                </a:avLst>
              </a:prstGeom>
              <a:solidFill>
                <a:srgbClr val="FFFFFF"/>
              </a:solidFill>
              <a:ln w="7620">
                <a:solidFill>
                  <a:srgbClr val="D9E8E2"/>
                </a:solidFill>
              </a:ln>
            </p:spPr>
          </p:sp>
          <p:grpSp>
            <p:nvGrpSpPr>
              <p:cNvPr id="124" name="Group 124"/>
              <p:cNvGrpSpPr/>
              <p:nvPr/>
            </p:nvGrpSpPr>
            <p:grpSpPr>
              <a:xfrm>
                <a:off x="5248275" y="2162175"/>
                <a:ext cx="171450" cy="171450"/>
                <a:chOff x="5248275" y="2162175"/>
                <a:chExt cx="171450" cy="171450"/>
              </a:xfrm>
            </p:grpSpPr>
            <p:sp>
              <p:nvSpPr>
                <p:cNvPr id="121" name="Freeform 121"/>
                <p:cNvSpPr/>
                <p:nvPr/>
              </p:nvSpPr>
              <p:spPr>
                <a:xfrm>
                  <a:off x="5248275" y="216217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5B180B"/>
                  </a:solidFill>
                </a:ln>
              </p:spPr>
            </p:sp>
            <p:sp>
              <p:nvSpPr>
                <p:cNvPr id="122" name="Freeform 122"/>
                <p:cNvSpPr/>
                <p:nvPr/>
              </p:nvSpPr>
              <p:spPr>
                <a:xfrm>
                  <a:off x="5267325" y="224790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5B180B"/>
                  </a:solidFill>
                </a:ln>
              </p:spPr>
            </p:sp>
            <p:sp>
              <p:nvSpPr>
                <p:cNvPr id="123" name="Freeform 123"/>
                <p:cNvSpPr/>
                <p:nvPr/>
              </p:nvSpPr>
              <p:spPr>
                <a:xfrm>
                  <a:off x="5305425" y="225742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5B180B"/>
                  </a:solidFill>
                </a:ln>
              </p:spPr>
            </p:sp>
          </p:grpSp>
          <p:sp>
            <p:nvSpPr>
              <p:cNvPr id="125" name="TextBox 125"/>
              <p:cNvSpPr txBox="1"/>
              <p:nvPr/>
            </p:nvSpPr>
            <p:spPr>
              <a:xfrm>
                <a:off x="5538788" y="208668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家庭账户​</a:t>
                </a:r>
              </a:p>
            </p:txBody>
          </p:sp>
          <p:sp>
            <p:nvSpPr>
              <p:cNvPr id="126" name="TextBox 126"/>
              <p:cNvSpPr txBox="1"/>
              <p:nvPr/>
            </p:nvSpPr>
            <p:spPr>
              <a:xfrm>
                <a:off x="5538788" y="222670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一家管理​</a:t>
                </a:r>
              </a:p>
            </p:txBody>
          </p:sp>
          <p:sp>
            <p:nvSpPr>
              <p:cNvPr id="127" name="TextBox 127"/>
              <p:cNvSpPr txBox="1"/>
              <p:nvPr/>
            </p:nvSpPr>
            <p:spPr>
              <a:xfrm>
                <a:off x="5538788" y="234100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共享权益​</a:t>
                </a:r>
              </a:p>
            </p:txBody>
          </p:sp>
          <p:sp>
            <p:nvSpPr>
              <p:cNvPr id="128" name="Rectangle 128"/>
              <p:cNvSpPr/>
              <p:nvPr/>
            </p:nvSpPr>
            <p:spPr>
              <a:xfrm>
                <a:off x="5143500" y="2552700"/>
                <a:ext cx="1428750" cy="495300"/>
              </a:xfrm>
              <a:prstGeom prst="roundRect">
                <a:avLst>
                  <a:gd name="adj" fmla="val 11538"/>
                </a:avLst>
              </a:prstGeom>
              <a:solidFill>
                <a:srgbClr val="FFFFFF"/>
              </a:solidFill>
              <a:ln w="7620">
                <a:solidFill>
                  <a:srgbClr val="D9E8E2"/>
                </a:solidFill>
              </a:ln>
            </p:spPr>
          </p:sp>
          <p:sp>
            <p:nvSpPr>
              <p:cNvPr id="129" name="Freeform 129"/>
              <p:cNvSpPr/>
              <p:nvPr/>
            </p:nvSpPr>
            <p:spPr>
              <a:xfrm>
                <a:off x="5248275" y="2743200"/>
                <a:ext cx="171450" cy="114300"/>
              </a:xfrm>
              <a:custGeom>
                <a:avLst/>
                <a:gdLst/>
                <a:ahLst/>
                <a:cxnLst/>
                <a:rect l="l" t="t" r="r" b="b"/>
                <a:pathLst>
                  <a:path w="171450" h="114300">
                    <a:moveTo>
                      <a:pt x="85725" y="0"/>
                    </a:moveTo>
                    <a:lnTo>
                      <a:pt x="123825" y="57150"/>
                    </a:lnTo>
                    <a:lnTo>
                      <a:pt x="171450" y="19050"/>
                    </a:lnTo>
                    <a:lnTo>
                      <a:pt x="152400" y="114300"/>
                    </a:lnTo>
                    <a:lnTo>
                      <a:pt x="19050" y="114300"/>
                    </a:lnTo>
                    <a:lnTo>
                      <a:pt x="0" y="19050"/>
                    </a:lnTo>
                    <a:lnTo>
                      <a:pt x="47625" y="57150"/>
                    </a:lnTo>
                    <a:lnTo>
                      <a:pt x="85725" y="0"/>
                    </a:lnTo>
                  </a:path>
                </a:pathLst>
              </a:custGeom>
              <a:noFill/>
              <a:ln w="19050">
                <a:solidFill>
                  <a:srgbClr val="5B180B"/>
                </a:solidFill>
              </a:ln>
            </p:spPr>
          </p:sp>
          <p:sp>
            <p:nvSpPr>
              <p:cNvPr id="130" name="TextBox 130"/>
              <p:cNvSpPr txBox="1"/>
              <p:nvPr/>
            </p:nvSpPr>
            <p:spPr>
              <a:xfrm>
                <a:off x="5538788" y="26391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会员权益​</a:t>
                </a:r>
              </a:p>
            </p:txBody>
          </p:sp>
          <p:sp>
            <p:nvSpPr>
              <p:cNvPr id="131" name="TextBox 131"/>
              <p:cNvSpPr txBox="1"/>
              <p:nvPr/>
            </p:nvSpPr>
            <p:spPr>
              <a:xfrm>
                <a:off x="5538788" y="277915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专属服务​</a:t>
                </a:r>
              </a:p>
            </p:txBody>
          </p:sp>
          <p:sp>
            <p:nvSpPr>
              <p:cNvPr id="132" name="TextBox 132"/>
              <p:cNvSpPr txBox="1"/>
              <p:nvPr/>
            </p:nvSpPr>
            <p:spPr>
              <a:xfrm>
                <a:off x="5538788" y="2893457"/>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增值体验​</a:t>
                </a:r>
              </a:p>
            </p:txBody>
          </p:sp>
        </p:grpSp>
        <p:sp>
          <p:nvSpPr>
            <p:cNvPr id="134" name="Rectangle 134"/>
            <p:cNvSpPr/>
            <p:nvPr/>
          </p:nvSpPr>
          <p:spPr>
            <a:xfrm>
              <a:off x="342900" y="3181350"/>
              <a:ext cx="6210300" cy="247650"/>
            </a:xfrm>
            <a:prstGeom prst="roundRect">
              <a:avLst>
                <a:gd name="adj" fmla="val 50000"/>
              </a:avLst>
            </a:prstGeom>
            <a:solidFill>
              <a:srgbClr val="5B180B"/>
            </a:solidFill>
            <a:ln>
              <a:noFill/>
            </a:ln>
          </p:spPr>
        </p:sp>
        <p:sp>
          <p:nvSpPr>
            <p:cNvPr id="135" name="TextBox 135"/>
            <p:cNvSpPr txBox="1"/>
            <p:nvPr/>
          </p:nvSpPr>
          <p:spPr>
            <a:xfrm>
              <a:off x="2075565" y="3255645"/>
              <a:ext cx="274497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以客户生命周期为主线，打造一体化产品服务体系​</a:t>
              </a:r>
            </a:p>
          </p:txBody>
        </p:sp>
      </p:grpSp>
      <p:grpSp>
        <p:nvGrpSpPr>
          <p:cNvPr id="172" name="target-card"/>
          <p:cNvGrpSpPr/>
          <p:nvPr/>
        </p:nvGrpSpPr>
        <p:grpSpPr>
          <a:xfrm>
            <a:off x="6781800" y="666750"/>
            <a:ext cx="1762932" cy="2857500"/>
            <a:chOff x="6781800" y="666750"/>
            <a:chExt cx="1762932" cy="2857500"/>
          </a:xfrm>
        </p:grpSpPr>
        <p:sp>
          <p:nvSpPr>
            <p:cNvPr id="137" name="Rectangle 137"/>
            <p:cNvSpPr/>
            <p:nvPr/>
          </p:nvSpPr>
          <p:spPr>
            <a:xfrm>
              <a:off x="6781800" y="666750"/>
              <a:ext cx="1714500" cy="2857500"/>
            </a:xfrm>
            <a:prstGeom prst="roundRect">
              <a:avLst>
                <a:gd name="adj" fmla="val 5556"/>
              </a:avLst>
            </a:prstGeom>
            <a:solidFill>
              <a:srgbClr val="F5FAF8"/>
            </a:solidFill>
            <a:ln w="9525">
              <a:solidFill>
                <a:srgbClr val="D9E8E2"/>
              </a:solidFill>
            </a:ln>
          </p:spPr>
        </p:sp>
        <p:sp>
          <p:nvSpPr>
            <p:cNvPr id="138" name="TextBox 138"/>
            <p:cNvSpPr txBox="1"/>
            <p:nvPr/>
          </p:nvSpPr>
          <p:spPr>
            <a:xfrm>
              <a:off x="6945420" y="775097"/>
              <a:ext cx="1387260" cy="183356"/>
            </a:xfrm>
            <a:prstGeom prst="rect">
              <a:avLst/>
            </a:prstGeom>
            <a:noFill/>
            <a:ln>
              <a:noFill/>
            </a:ln>
          </p:spPr>
          <p:txBody>
            <a:bodyPr wrap="none" lIns="0" tIns="0" rIns="0" bIns="0" anchor="t" anchorCtr="0">
              <a:spAutoFit/>
            </a:bodyPr>
            <a:lstStyle/>
            <a:p>
              <a:pPr algn="ctr"/>
              <a:r>
                <a:rPr lang="zh-CN" sz="940" b="1" dirty="0">
                  <a:solidFill>
                    <a:srgbClr val="5B180B"/>
                  </a:solidFill>
                  <a:latin typeface="+mn-lt"/>
                  <a:ea typeface="+mn-ea"/>
                  <a:cs typeface="+mn-cs"/>
                </a:rPr>
                <a:t>2026年四季度营销目标​</a:t>
              </a:r>
            </a:p>
          </p:txBody>
        </p:sp>
        <p:sp>
          <p:nvSpPr>
            <p:cNvPr id="139" name="Rectangle 139"/>
            <p:cNvSpPr/>
            <p:nvPr/>
          </p:nvSpPr>
          <p:spPr>
            <a:xfrm>
              <a:off x="6877050" y="971550"/>
              <a:ext cx="1524000" cy="742950"/>
            </a:xfrm>
            <a:prstGeom prst="roundRect">
              <a:avLst>
                <a:gd name="adj" fmla="val 10256"/>
              </a:avLst>
            </a:prstGeom>
            <a:solidFill>
              <a:srgbClr val="FFFFFF"/>
            </a:solidFill>
            <a:ln w="7620">
              <a:solidFill>
                <a:srgbClr val="D9E8E2"/>
              </a:solidFill>
            </a:ln>
          </p:spPr>
        </p:sp>
        <p:grpSp>
          <p:nvGrpSpPr>
            <p:cNvPr id="148" name="Group 148"/>
            <p:cNvGrpSpPr/>
            <p:nvPr/>
          </p:nvGrpSpPr>
          <p:grpSpPr>
            <a:xfrm>
              <a:off x="6984206" y="1250156"/>
              <a:ext cx="185737" cy="195262"/>
              <a:chOff x="6984206" y="1250156"/>
              <a:chExt cx="185737" cy="195262"/>
            </a:xfrm>
          </p:grpSpPr>
          <p:sp>
            <p:nvSpPr>
              <p:cNvPr id="140" name="Freeform 140"/>
              <p:cNvSpPr/>
              <p:nvPr/>
            </p:nvSpPr>
            <p:spPr>
              <a:xfrm>
                <a:off x="6984206" y="1435893"/>
                <a:ext cx="185737" cy="9525"/>
              </a:xfrm>
              <a:custGeom>
                <a:avLst/>
                <a:gdLst/>
                <a:ahLst/>
                <a:cxnLst/>
                <a:rect l="l" t="t" r="r" b="b"/>
                <a:pathLst>
                  <a:path w="185737" h="9525">
                    <a:moveTo>
                      <a:pt x="0" y="0"/>
                    </a:moveTo>
                    <a:lnTo>
                      <a:pt x="185737" y="0"/>
                    </a:lnTo>
                  </a:path>
                </a:pathLst>
              </a:custGeom>
              <a:noFill/>
              <a:ln w="20637">
                <a:solidFill>
                  <a:srgbClr val="5B180B"/>
                </a:solidFill>
              </a:ln>
            </p:spPr>
          </p:sp>
          <p:sp>
            <p:nvSpPr>
              <p:cNvPr id="141" name="Freeform 141"/>
              <p:cNvSpPr/>
              <p:nvPr/>
            </p:nvSpPr>
            <p:spPr>
              <a:xfrm>
                <a:off x="6984206" y="1322387"/>
                <a:ext cx="185737" cy="9525"/>
              </a:xfrm>
              <a:custGeom>
                <a:avLst/>
                <a:gdLst/>
                <a:ahLst/>
                <a:cxnLst/>
                <a:rect l="l" t="t" r="r" b="b"/>
                <a:pathLst>
                  <a:path w="185737" h="9525">
                    <a:moveTo>
                      <a:pt x="0" y="0"/>
                    </a:moveTo>
                    <a:lnTo>
                      <a:pt x="185737" y="0"/>
                    </a:lnTo>
                  </a:path>
                </a:pathLst>
              </a:custGeom>
              <a:noFill/>
              <a:ln w="20637">
                <a:solidFill>
                  <a:srgbClr val="5B180B"/>
                </a:solidFill>
              </a:ln>
            </p:spPr>
          </p:sp>
          <p:sp>
            <p:nvSpPr>
              <p:cNvPr id="142" name="Freeform 142"/>
              <p:cNvSpPr/>
              <p:nvPr/>
            </p:nvSpPr>
            <p:spPr>
              <a:xfrm>
                <a:off x="7004844" y="1250156"/>
                <a:ext cx="144462" cy="30956"/>
              </a:xfrm>
              <a:custGeom>
                <a:avLst/>
                <a:gdLst/>
                <a:ahLst/>
                <a:cxnLst/>
                <a:rect l="l" t="t" r="r" b="b"/>
                <a:pathLst>
                  <a:path w="144462" h="30956">
                    <a:moveTo>
                      <a:pt x="0" y="30956"/>
                    </a:moveTo>
                    <a:lnTo>
                      <a:pt x="72231" y="0"/>
                    </a:lnTo>
                    <a:lnTo>
                      <a:pt x="144462" y="30956"/>
                    </a:lnTo>
                  </a:path>
                </a:pathLst>
              </a:custGeom>
              <a:noFill/>
              <a:ln w="20637">
                <a:solidFill>
                  <a:srgbClr val="5B180B"/>
                </a:solidFill>
              </a:ln>
            </p:spPr>
          </p:sp>
          <p:sp>
            <p:nvSpPr>
              <p:cNvPr id="143" name="Freeform 143"/>
              <p:cNvSpPr/>
              <p:nvPr/>
            </p:nvSpPr>
            <p:spPr>
              <a:xfrm>
                <a:off x="6994525" y="1322387"/>
                <a:ext cx="9525" cy="113506"/>
              </a:xfrm>
              <a:custGeom>
                <a:avLst/>
                <a:gdLst/>
                <a:ahLst/>
                <a:cxnLst/>
                <a:rect l="l" t="t" r="r" b="b"/>
                <a:pathLst>
                  <a:path w="9525" h="113506">
                    <a:moveTo>
                      <a:pt x="0" y="0"/>
                    </a:moveTo>
                    <a:lnTo>
                      <a:pt x="0" y="113506"/>
                    </a:lnTo>
                  </a:path>
                </a:pathLst>
              </a:custGeom>
              <a:noFill/>
              <a:ln w="20637">
                <a:solidFill>
                  <a:srgbClr val="5B180B"/>
                </a:solidFill>
              </a:ln>
            </p:spPr>
          </p:sp>
          <p:sp>
            <p:nvSpPr>
              <p:cNvPr id="144" name="Freeform 144"/>
              <p:cNvSpPr/>
              <p:nvPr/>
            </p:nvSpPr>
            <p:spPr>
              <a:xfrm>
                <a:off x="7159624" y="1322387"/>
                <a:ext cx="9525" cy="113506"/>
              </a:xfrm>
              <a:custGeom>
                <a:avLst/>
                <a:gdLst/>
                <a:ahLst/>
                <a:cxnLst/>
                <a:rect l="l" t="t" r="r" b="b"/>
                <a:pathLst>
                  <a:path w="9525" h="113506">
                    <a:moveTo>
                      <a:pt x="0" y="0"/>
                    </a:moveTo>
                    <a:lnTo>
                      <a:pt x="0" y="113506"/>
                    </a:lnTo>
                  </a:path>
                </a:pathLst>
              </a:custGeom>
              <a:noFill/>
              <a:ln w="20637">
                <a:solidFill>
                  <a:srgbClr val="5B180B"/>
                </a:solidFill>
              </a:ln>
            </p:spPr>
          </p:sp>
          <p:sp>
            <p:nvSpPr>
              <p:cNvPr id="145" name="Freeform 145"/>
              <p:cNvSpPr/>
              <p:nvPr/>
            </p:nvSpPr>
            <p:spPr>
              <a:xfrm>
                <a:off x="7035800" y="1363662"/>
                <a:ext cx="9525" cy="30956"/>
              </a:xfrm>
              <a:custGeom>
                <a:avLst/>
                <a:gdLst/>
                <a:ahLst/>
                <a:cxnLst/>
                <a:rect l="l" t="t" r="r" b="b"/>
                <a:pathLst>
                  <a:path w="9525" h="30956">
                    <a:moveTo>
                      <a:pt x="0" y="0"/>
                    </a:moveTo>
                    <a:lnTo>
                      <a:pt x="0" y="30956"/>
                    </a:lnTo>
                  </a:path>
                </a:pathLst>
              </a:custGeom>
              <a:noFill/>
              <a:ln w="20637">
                <a:solidFill>
                  <a:srgbClr val="5B180B"/>
                </a:solidFill>
              </a:ln>
            </p:spPr>
          </p:sp>
          <p:sp>
            <p:nvSpPr>
              <p:cNvPr id="146" name="Freeform 146"/>
              <p:cNvSpPr/>
              <p:nvPr/>
            </p:nvSpPr>
            <p:spPr>
              <a:xfrm>
                <a:off x="7077075" y="1363662"/>
                <a:ext cx="9525" cy="30956"/>
              </a:xfrm>
              <a:custGeom>
                <a:avLst/>
                <a:gdLst/>
                <a:ahLst/>
                <a:cxnLst/>
                <a:rect l="l" t="t" r="r" b="b"/>
                <a:pathLst>
                  <a:path w="9525" h="30956">
                    <a:moveTo>
                      <a:pt x="0" y="0"/>
                    </a:moveTo>
                    <a:lnTo>
                      <a:pt x="0" y="30956"/>
                    </a:lnTo>
                  </a:path>
                </a:pathLst>
              </a:custGeom>
              <a:noFill/>
              <a:ln w="20637">
                <a:solidFill>
                  <a:srgbClr val="5B180B"/>
                </a:solidFill>
              </a:ln>
            </p:spPr>
          </p:sp>
          <p:sp>
            <p:nvSpPr>
              <p:cNvPr id="147" name="Freeform 147"/>
              <p:cNvSpPr/>
              <p:nvPr/>
            </p:nvSpPr>
            <p:spPr>
              <a:xfrm>
                <a:off x="7118349" y="1363662"/>
                <a:ext cx="9525" cy="30956"/>
              </a:xfrm>
              <a:custGeom>
                <a:avLst/>
                <a:gdLst/>
                <a:ahLst/>
                <a:cxnLst/>
                <a:rect l="l" t="t" r="r" b="b"/>
                <a:pathLst>
                  <a:path w="9525" h="30956">
                    <a:moveTo>
                      <a:pt x="0" y="0"/>
                    </a:moveTo>
                    <a:lnTo>
                      <a:pt x="0" y="30956"/>
                    </a:lnTo>
                  </a:path>
                </a:pathLst>
              </a:custGeom>
              <a:noFill/>
              <a:ln w="20637">
                <a:solidFill>
                  <a:srgbClr val="5B180B"/>
                </a:solidFill>
              </a:ln>
            </p:spPr>
          </p:sp>
        </p:grpSp>
        <p:sp>
          <p:nvSpPr>
            <p:cNvPr id="149" name="TextBox 149"/>
            <p:cNvSpPr txBox="1"/>
            <p:nvPr/>
          </p:nvSpPr>
          <p:spPr>
            <a:xfrm>
              <a:off x="7291388" y="1100138"/>
              <a:ext cx="468916" cy="147638"/>
            </a:xfrm>
            <a:prstGeom prst="rect">
              <a:avLst/>
            </a:prstGeom>
            <a:noFill/>
            <a:ln>
              <a:noFill/>
            </a:ln>
          </p:spPr>
          <p:txBody>
            <a:bodyPr wrap="none" lIns="0" tIns="0" rIns="0" bIns="0" anchor="t" anchorCtr="0">
              <a:spAutoFit/>
            </a:bodyPr>
            <a:lstStyle/>
            <a:p>
              <a:pPr algn="l"/>
              <a:r>
                <a:rPr lang="zh-CN" sz="750" dirty="0">
                  <a:solidFill>
                    <a:srgbClr val="5F6F6A"/>
                  </a:solidFill>
                  <a:latin typeface="+mn-lt"/>
                  <a:ea typeface="+mn-ea"/>
                  <a:cs typeface="+mn-cs"/>
                </a:rPr>
                <a:t>存款新增​</a:t>
              </a:r>
            </a:p>
          </p:txBody>
        </p:sp>
        <p:sp>
          <p:nvSpPr>
            <p:cNvPr id="150" name="TextBox 150"/>
            <p:cNvSpPr txBox="1"/>
            <p:nvPr/>
          </p:nvSpPr>
          <p:spPr>
            <a:xfrm>
              <a:off x="7287768" y="1269682"/>
              <a:ext cx="860074"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1.20</a:t>
              </a:r>
              <a:r>
                <a:rPr lang="zh-CN" sz="750" dirty="0">
                  <a:solidFill>
                    <a:srgbClr val="5F6F6A"/>
                  </a:solidFill>
                  <a:latin typeface="+mn-lt"/>
                  <a:ea typeface="+mn-ea"/>
                  <a:cs typeface="+mn-cs"/>
                </a:rPr>
                <a:t>亿元</a:t>
              </a:r>
              <a:r>
                <a:rPr lang="zh-CN" sz="1650" b="1" dirty="0">
                  <a:solidFill>
                    <a:srgbClr val="5B180B"/>
                  </a:solidFill>
                  <a:latin typeface="+mn-lt"/>
                  <a:ea typeface="+mn-ea"/>
                  <a:cs typeface="+mn-cs"/>
                </a:rPr>
                <a:t>​</a:t>
              </a:r>
            </a:p>
          </p:txBody>
        </p:sp>
        <p:sp>
          <p:nvSpPr>
            <p:cNvPr id="151" name="TextBox 151"/>
            <p:cNvSpPr txBox="1"/>
            <p:nvPr/>
          </p:nvSpPr>
          <p:spPr>
            <a:xfrm>
              <a:off x="8015288" y="1493282"/>
              <a:ext cx="229225"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同比​</a:t>
              </a:r>
            </a:p>
          </p:txBody>
        </p:sp>
        <p:sp>
          <p:nvSpPr>
            <p:cNvPr id="152" name="TextBox 152"/>
            <p:cNvSpPr txBox="1"/>
            <p:nvPr/>
          </p:nvSpPr>
          <p:spPr>
            <a:xfrm>
              <a:off x="8205788" y="1486614"/>
              <a:ext cx="338944" cy="154781"/>
            </a:xfrm>
            <a:prstGeom prst="rect">
              <a:avLst/>
            </a:prstGeom>
            <a:noFill/>
            <a:ln>
              <a:noFill/>
            </a:ln>
          </p:spPr>
          <p:txBody>
            <a:bodyPr wrap="none" lIns="0" tIns="0" rIns="0" bIns="0" anchor="t" anchorCtr="0">
              <a:spAutoFit/>
            </a:bodyPr>
            <a:lstStyle/>
            <a:p>
              <a:pPr algn="l"/>
              <a:r>
                <a:rPr lang="zh-CN" sz="790" b="1" dirty="0">
                  <a:solidFill>
                    <a:srgbClr val="9E402E"/>
                  </a:solidFill>
                  <a:latin typeface="+mn-lt"/>
                  <a:ea typeface="+mn-ea"/>
                  <a:cs typeface="+mn-cs"/>
                </a:rPr>
                <a:t>+20%​</a:t>
              </a:r>
            </a:p>
          </p:txBody>
        </p:sp>
        <p:sp>
          <p:nvSpPr>
            <p:cNvPr id="153" name="Rectangle 153"/>
            <p:cNvSpPr/>
            <p:nvPr/>
          </p:nvSpPr>
          <p:spPr>
            <a:xfrm>
              <a:off x="6877050" y="1790700"/>
              <a:ext cx="1524000" cy="742950"/>
            </a:xfrm>
            <a:prstGeom prst="roundRect">
              <a:avLst>
                <a:gd name="adj" fmla="val 10256"/>
              </a:avLst>
            </a:prstGeom>
            <a:solidFill>
              <a:srgbClr val="FFFFFF"/>
            </a:solidFill>
            <a:ln w="7620">
              <a:solidFill>
                <a:srgbClr val="D9E8E2"/>
              </a:solidFill>
            </a:ln>
          </p:spPr>
        </p:sp>
        <p:grpSp>
          <p:nvGrpSpPr>
            <p:cNvPr id="156" name="Group 156"/>
            <p:cNvGrpSpPr/>
            <p:nvPr/>
          </p:nvGrpSpPr>
          <p:grpSpPr>
            <a:xfrm>
              <a:off x="6994525" y="2100262"/>
              <a:ext cx="165099" cy="143669"/>
              <a:chOff x="6994525" y="2100262"/>
              <a:chExt cx="165099" cy="143669"/>
            </a:xfrm>
          </p:grpSpPr>
          <p:sp>
            <p:nvSpPr>
              <p:cNvPr id="154" name="Freeform 154"/>
              <p:cNvSpPr/>
              <p:nvPr/>
            </p:nvSpPr>
            <p:spPr>
              <a:xfrm>
                <a:off x="6994525" y="2234406"/>
                <a:ext cx="165099" cy="9525"/>
              </a:xfrm>
              <a:custGeom>
                <a:avLst/>
                <a:gdLst/>
                <a:ahLst/>
                <a:cxnLst/>
                <a:rect l="l" t="t" r="r" b="b"/>
                <a:pathLst>
                  <a:path w="165099" h="9525">
                    <a:moveTo>
                      <a:pt x="0" y="0"/>
                    </a:moveTo>
                    <a:lnTo>
                      <a:pt x="165099" y="0"/>
                    </a:lnTo>
                  </a:path>
                </a:pathLst>
              </a:custGeom>
              <a:noFill/>
              <a:ln w="20637">
                <a:solidFill>
                  <a:srgbClr val="5B180B"/>
                </a:solidFill>
              </a:ln>
            </p:spPr>
          </p:sp>
          <p:sp>
            <p:nvSpPr>
              <p:cNvPr id="155" name="Freeform 155"/>
              <p:cNvSpPr/>
              <p:nvPr/>
            </p:nvSpPr>
            <p:spPr>
              <a:xfrm>
                <a:off x="6994525" y="2100262"/>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20637">
                <a:solidFill>
                  <a:srgbClr val="5B180B"/>
                </a:solidFill>
              </a:ln>
            </p:spPr>
          </p:sp>
        </p:grpSp>
        <p:sp>
          <p:nvSpPr>
            <p:cNvPr id="157" name="TextBox 157"/>
            <p:cNvSpPr txBox="1"/>
            <p:nvPr/>
          </p:nvSpPr>
          <p:spPr>
            <a:xfrm>
              <a:off x="7291388" y="1919288"/>
              <a:ext cx="496348" cy="147638"/>
            </a:xfrm>
            <a:prstGeom prst="rect">
              <a:avLst/>
            </a:prstGeom>
            <a:noFill/>
            <a:ln>
              <a:noFill/>
            </a:ln>
          </p:spPr>
          <p:txBody>
            <a:bodyPr wrap="none" lIns="0" tIns="0" rIns="0" bIns="0" anchor="t" anchorCtr="0">
              <a:spAutoFit/>
            </a:bodyPr>
            <a:lstStyle/>
            <a:p>
              <a:pPr algn="l"/>
              <a:r>
                <a:rPr lang="zh-CN" sz="750" dirty="0">
                  <a:solidFill>
                    <a:srgbClr val="5F6F6A"/>
                  </a:solidFill>
                  <a:latin typeface="+mn-lt"/>
                  <a:ea typeface="+mn-ea"/>
                  <a:cs typeface="+mn-cs"/>
                </a:rPr>
                <a:t>AUM 新增​</a:t>
              </a:r>
            </a:p>
          </p:txBody>
        </p:sp>
        <p:sp>
          <p:nvSpPr>
            <p:cNvPr id="158" name="TextBox 158"/>
            <p:cNvSpPr txBox="1"/>
            <p:nvPr/>
          </p:nvSpPr>
          <p:spPr>
            <a:xfrm>
              <a:off x="7287768" y="2088832"/>
              <a:ext cx="860074"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1.65</a:t>
              </a:r>
              <a:r>
                <a:rPr lang="zh-CN" sz="750" dirty="0">
                  <a:solidFill>
                    <a:srgbClr val="5F6F6A"/>
                  </a:solidFill>
                  <a:latin typeface="+mn-lt"/>
                  <a:ea typeface="+mn-ea"/>
                  <a:cs typeface="+mn-cs"/>
                </a:rPr>
                <a:t>亿元</a:t>
              </a:r>
              <a:r>
                <a:rPr lang="zh-CN" sz="1650" b="1" dirty="0">
                  <a:solidFill>
                    <a:srgbClr val="5B180B"/>
                  </a:solidFill>
                  <a:latin typeface="+mn-lt"/>
                  <a:ea typeface="+mn-ea"/>
                  <a:cs typeface="+mn-cs"/>
                </a:rPr>
                <a:t>​</a:t>
              </a:r>
            </a:p>
          </p:txBody>
        </p:sp>
        <p:sp>
          <p:nvSpPr>
            <p:cNvPr id="159" name="TextBox 159"/>
            <p:cNvSpPr txBox="1"/>
            <p:nvPr/>
          </p:nvSpPr>
          <p:spPr>
            <a:xfrm>
              <a:off x="8015288" y="2312432"/>
              <a:ext cx="229225"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同比​</a:t>
              </a:r>
            </a:p>
          </p:txBody>
        </p:sp>
        <p:sp>
          <p:nvSpPr>
            <p:cNvPr id="160" name="TextBox 160"/>
            <p:cNvSpPr txBox="1"/>
            <p:nvPr/>
          </p:nvSpPr>
          <p:spPr>
            <a:xfrm>
              <a:off x="8205788" y="2305764"/>
              <a:ext cx="338944" cy="154781"/>
            </a:xfrm>
            <a:prstGeom prst="rect">
              <a:avLst/>
            </a:prstGeom>
            <a:noFill/>
            <a:ln>
              <a:noFill/>
            </a:ln>
          </p:spPr>
          <p:txBody>
            <a:bodyPr wrap="none" lIns="0" tIns="0" rIns="0" bIns="0" anchor="t" anchorCtr="0">
              <a:spAutoFit/>
            </a:bodyPr>
            <a:lstStyle/>
            <a:p>
              <a:pPr algn="l"/>
              <a:r>
                <a:rPr lang="zh-CN" sz="790" b="1" dirty="0">
                  <a:solidFill>
                    <a:srgbClr val="9E402E"/>
                  </a:solidFill>
                  <a:latin typeface="+mn-lt"/>
                  <a:ea typeface="+mn-ea"/>
                  <a:cs typeface="+mn-cs"/>
                </a:rPr>
                <a:t>+18%​</a:t>
              </a:r>
            </a:p>
          </p:txBody>
        </p:sp>
        <p:sp>
          <p:nvSpPr>
            <p:cNvPr id="161" name="Rectangle 161"/>
            <p:cNvSpPr/>
            <p:nvPr/>
          </p:nvSpPr>
          <p:spPr>
            <a:xfrm>
              <a:off x="6877050" y="2609850"/>
              <a:ext cx="1524000" cy="742950"/>
            </a:xfrm>
            <a:prstGeom prst="roundRect">
              <a:avLst>
                <a:gd name="adj" fmla="val 10256"/>
              </a:avLst>
            </a:prstGeom>
            <a:solidFill>
              <a:srgbClr val="FFFFFF"/>
            </a:solidFill>
            <a:ln w="7620">
              <a:solidFill>
                <a:srgbClr val="D9E8E2"/>
              </a:solidFill>
            </a:ln>
          </p:spPr>
        </p:sp>
        <p:grpSp>
          <p:nvGrpSpPr>
            <p:cNvPr id="167" name="Group 167"/>
            <p:cNvGrpSpPr/>
            <p:nvPr/>
          </p:nvGrpSpPr>
          <p:grpSpPr>
            <a:xfrm>
              <a:off x="6984206" y="2887073"/>
              <a:ext cx="185737" cy="187120"/>
              <a:chOff x="6984206" y="2887073"/>
              <a:chExt cx="185737" cy="187120"/>
            </a:xfrm>
          </p:grpSpPr>
          <p:sp>
            <p:nvSpPr>
              <p:cNvPr id="162" name="Freeform 162"/>
              <p:cNvSpPr/>
              <p:nvPr/>
            </p:nvSpPr>
            <p:spPr>
              <a:xfrm>
                <a:off x="7046118" y="2971006"/>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5B180B"/>
                </a:solidFill>
              </a:ln>
            </p:spPr>
          </p:sp>
          <p:sp>
            <p:nvSpPr>
              <p:cNvPr id="163" name="Freeform 163"/>
              <p:cNvSpPr/>
              <p:nvPr/>
            </p:nvSpPr>
            <p:spPr>
              <a:xfrm>
                <a:off x="7046118" y="3001962"/>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5B180B"/>
                </a:solidFill>
              </a:ln>
            </p:spPr>
          </p:sp>
          <p:sp>
            <p:nvSpPr>
              <p:cNvPr id="164" name="Freeform 164"/>
              <p:cNvSpPr/>
              <p:nvPr/>
            </p:nvSpPr>
            <p:spPr>
              <a:xfrm>
                <a:off x="6984206" y="2887073"/>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5B180B"/>
                </a:solidFill>
              </a:ln>
            </p:spPr>
          </p:sp>
          <p:sp>
            <p:nvSpPr>
              <p:cNvPr id="165" name="Freeform 165"/>
              <p:cNvSpPr/>
              <p:nvPr/>
            </p:nvSpPr>
            <p:spPr>
              <a:xfrm>
                <a:off x="6984206" y="2919412"/>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5B180B"/>
                </a:solidFill>
              </a:ln>
            </p:spPr>
          </p:sp>
          <p:sp>
            <p:nvSpPr>
              <p:cNvPr id="166" name="Freeform 166"/>
              <p:cNvSpPr/>
              <p:nvPr/>
            </p:nvSpPr>
            <p:spPr>
              <a:xfrm>
                <a:off x="6984206" y="2971006"/>
                <a:ext cx="20637" cy="20637"/>
              </a:xfrm>
              <a:custGeom>
                <a:avLst/>
                <a:gdLst/>
                <a:ahLst/>
                <a:cxnLst/>
                <a:rect l="l" t="t" r="r" b="b"/>
                <a:pathLst>
                  <a:path w="20637" h="20637">
                    <a:moveTo>
                      <a:pt x="0" y="0"/>
                    </a:moveTo>
                    <a:cubicBezTo>
                      <a:pt x="0" y="9163"/>
                      <a:pt x="7966" y="14962"/>
                      <a:pt x="20637" y="20637"/>
                    </a:cubicBezTo>
                  </a:path>
                </a:pathLst>
              </a:custGeom>
              <a:noFill/>
              <a:ln w="20637">
                <a:solidFill>
                  <a:srgbClr val="5B180B"/>
                </a:solidFill>
              </a:ln>
            </p:spPr>
          </p:sp>
        </p:grpSp>
        <p:sp>
          <p:nvSpPr>
            <p:cNvPr id="168" name="TextBox 168"/>
            <p:cNvSpPr txBox="1"/>
            <p:nvPr/>
          </p:nvSpPr>
          <p:spPr>
            <a:xfrm>
              <a:off x="7291388" y="2738438"/>
              <a:ext cx="468916" cy="147638"/>
            </a:xfrm>
            <a:prstGeom prst="rect">
              <a:avLst/>
            </a:prstGeom>
            <a:noFill/>
            <a:ln>
              <a:noFill/>
            </a:ln>
          </p:spPr>
          <p:txBody>
            <a:bodyPr wrap="none" lIns="0" tIns="0" rIns="0" bIns="0" anchor="t" anchorCtr="0">
              <a:spAutoFit/>
            </a:bodyPr>
            <a:lstStyle/>
            <a:p>
              <a:pPr algn="l"/>
              <a:r>
                <a:rPr lang="zh-CN" sz="750" dirty="0">
                  <a:solidFill>
                    <a:srgbClr val="5F6F6A"/>
                  </a:solidFill>
                  <a:latin typeface="+mn-lt"/>
                  <a:ea typeface="+mn-ea"/>
                  <a:cs typeface="+mn-cs"/>
                </a:rPr>
                <a:t>中收新增​</a:t>
              </a:r>
            </a:p>
          </p:txBody>
        </p:sp>
        <p:sp>
          <p:nvSpPr>
            <p:cNvPr id="169" name="TextBox 169"/>
            <p:cNvSpPr txBox="1"/>
            <p:nvPr/>
          </p:nvSpPr>
          <p:spPr>
            <a:xfrm>
              <a:off x="7287768" y="2907982"/>
              <a:ext cx="731798"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420</a:t>
              </a:r>
              <a:r>
                <a:rPr lang="zh-CN" sz="750" dirty="0">
                  <a:solidFill>
                    <a:srgbClr val="5F6F6A"/>
                  </a:solidFill>
                  <a:latin typeface="+mn-lt"/>
                  <a:ea typeface="+mn-ea"/>
                  <a:cs typeface="+mn-cs"/>
                </a:rPr>
                <a:t>万元</a:t>
              </a:r>
              <a:r>
                <a:rPr lang="zh-CN" sz="1650" b="1" dirty="0">
                  <a:solidFill>
                    <a:srgbClr val="5B180B"/>
                  </a:solidFill>
                  <a:latin typeface="+mn-lt"/>
                  <a:ea typeface="+mn-ea"/>
                  <a:cs typeface="+mn-cs"/>
                </a:rPr>
                <a:t>​</a:t>
              </a:r>
            </a:p>
          </p:txBody>
        </p:sp>
        <p:sp>
          <p:nvSpPr>
            <p:cNvPr id="170" name="TextBox 170"/>
            <p:cNvSpPr txBox="1"/>
            <p:nvPr/>
          </p:nvSpPr>
          <p:spPr>
            <a:xfrm>
              <a:off x="8015288" y="3131582"/>
              <a:ext cx="229225"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同比​</a:t>
              </a:r>
            </a:p>
          </p:txBody>
        </p:sp>
        <p:sp>
          <p:nvSpPr>
            <p:cNvPr id="171" name="TextBox 171"/>
            <p:cNvSpPr txBox="1"/>
            <p:nvPr/>
          </p:nvSpPr>
          <p:spPr>
            <a:xfrm>
              <a:off x="8205788" y="3124914"/>
              <a:ext cx="338944" cy="154781"/>
            </a:xfrm>
            <a:prstGeom prst="rect">
              <a:avLst/>
            </a:prstGeom>
            <a:noFill/>
            <a:ln>
              <a:noFill/>
            </a:ln>
          </p:spPr>
          <p:txBody>
            <a:bodyPr wrap="none" lIns="0" tIns="0" rIns="0" bIns="0" anchor="t" anchorCtr="0">
              <a:spAutoFit/>
            </a:bodyPr>
            <a:lstStyle/>
            <a:p>
              <a:pPr algn="l"/>
              <a:r>
                <a:rPr lang="zh-CN" sz="790" b="1" dirty="0">
                  <a:solidFill>
                    <a:srgbClr val="9E402E"/>
                  </a:solidFill>
                  <a:latin typeface="+mn-lt"/>
                  <a:ea typeface="+mn-ea"/>
                  <a:cs typeface="+mn-cs"/>
                </a:rPr>
                <a:t>+25%​</a:t>
              </a:r>
            </a:p>
          </p:txBody>
        </p:sp>
      </p:grpSp>
      <p:grpSp>
        <p:nvGrpSpPr>
          <p:cNvPr id="218" name="matrix-card"/>
          <p:cNvGrpSpPr/>
          <p:nvPr/>
        </p:nvGrpSpPr>
        <p:grpSpPr>
          <a:xfrm>
            <a:off x="8610600" y="666750"/>
            <a:ext cx="3352800" cy="2857500"/>
            <a:chOff x="8610600" y="666750"/>
            <a:chExt cx="3352800" cy="2857500"/>
          </a:xfrm>
        </p:grpSpPr>
        <p:sp>
          <p:nvSpPr>
            <p:cNvPr id="173" name="Rectangle 173"/>
            <p:cNvSpPr/>
            <p:nvPr/>
          </p:nvSpPr>
          <p:spPr>
            <a:xfrm>
              <a:off x="8610600" y="666750"/>
              <a:ext cx="3352800" cy="2857500"/>
            </a:xfrm>
            <a:prstGeom prst="roundRect">
              <a:avLst>
                <a:gd name="adj" fmla="val 3333"/>
              </a:avLst>
            </a:prstGeom>
            <a:solidFill>
              <a:srgbClr val="F5FAF8"/>
            </a:solidFill>
            <a:ln w="9525">
              <a:solidFill>
                <a:srgbClr val="D9E8E2"/>
              </a:solidFill>
            </a:ln>
          </p:spPr>
        </p:sp>
        <p:sp>
          <p:nvSpPr>
            <p:cNvPr id="174" name="TextBox 174"/>
            <p:cNvSpPr txBox="1"/>
            <p:nvPr/>
          </p:nvSpPr>
          <p:spPr>
            <a:xfrm>
              <a:off x="8720138" y="775097"/>
              <a:ext cx="1967620"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产品机会矩阵</a:t>
              </a:r>
              <a:r>
                <a:rPr lang="zh-CN" sz="750" dirty="0">
                  <a:solidFill>
                    <a:srgbClr val="5F6F6A"/>
                  </a:solidFill>
                  <a:latin typeface="+mn-lt"/>
                  <a:ea typeface="+mn-ea"/>
                  <a:cs typeface="+mn-cs"/>
                </a:rPr>
                <a:t>（客户价值 × 销售难度）</a:t>
              </a:r>
              <a:r>
                <a:rPr lang="zh-CN" sz="940" b="1" dirty="0">
                  <a:solidFill>
                    <a:srgbClr val="5B180B"/>
                  </a:solidFill>
                  <a:latin typeface="+mn-lt"/>
                  <a:ea typeface="+mn-ea"/>
                  <a:cs typeface="+mn-cs"/>
                </a:rPr>
                <a:t>​</a:t>
              </a:r>
            </a:p>
          </p:txBody>
        </p:sp>
        <p:sp>
          <p:nvSpPr>
            <p:cNvPr id="175" name="TextBox 175"/>
            <p:cNvSpPr txBox="1"/>
            <p:nvPr/>
          </p:nvSpPr>
          <p:spPr>
            <a:xfrm>
              <a:off x="8744443" y="993934"/>
              <a:ext cx="151414" cy="133350"/>
            </a:xfrm>
            <a:prstGeom prst="rect">
              <a:avLst/>
            </a:prstGeom>
            <a:noFill/>
            <a:ln>
              <a:noFill/>
            </a:ln>
          </p:spPr>
          <p:txBody>
            <a:bodyPr wrap="none" lIns="0" tIns="0" rIns="0" bIns="0" anchor="t" anchorCtr="0">
              <a:spAutoFit/>
            </a:bodyPr>
            <a:lstStyle/>
            <a:p>
              <a:pPr algn="ctr"/>
              <a:r>
                <a:rPr lang="zh-CN" sz="680" dirty="0">
                  <a:solidFill>
                    <a:srgbClr val="5F6F6A"/>
                  </a:solidFill>
                  <a:latin typeface="+mn-lt"/>
                  <a:ea typeface="+mn-ea"/>
                  <a:cs typeface="+mn-cs"/>
                </a:rPr>
                <a:t>高​</a:t>
              </a:r>
            </a:p>
          </p:txBody>
        </p:sp>
        <p:sp>
          <p:nvSpPr>
            <p:cNvPr id="176" name="TextBox 176"/>
            <p:cNvSpPr txBox="1"/>
            <p:nvPr/>
          </p:nvSpPr>
          <p:spPr>
            <a:xfrm>
              <a:off x="8744443" y="2041684"/>
              <a:ext cx="151414" cy="133350"/>
            </a:xfrm>
            <a:prstGeom prst="rect">
              <a:avLst/>
            </a:prstGeom>
            <a:noFill/>
            <a:ln>
              <a:noFill/>
            </a:ln>
          </p:spPr>
          <p:txBody>
            <a:bodyPr wrap="none" lIns="0" tIns="0" rIns="0" bIns="0" anchor="t" anchorCtr="0">
              <a:spAutoFit/>
            </a:bodyPr>
            <a:lstStyle/>
            <a:p>
              <a:pPr algn="ctr"/>
              <a:r>
                <a:rPr lang="zh-CN" sz="680" dirty="0">
                  <a:solidFill>
                    <a:srgbClr val="5F6F6A"/>
                  </a:solidFill>
                  <a:latin typeface="+mn-lt"/>
                  <a:ea typeface="+mn-ea"/>
                  <a:cs typeface="+mn-cs"/>
                </a:rPr>
                <a:t>客​</a:t>
              </a:r>
            </a:p>
          </p:txBody>
        </p:sp>
        <p:sp>
          <p:nvSpPr>
            <p:cNvPr id="177" name="TextBox 177"/>
            <p:cNvSpPr txBox="1"/>
            <p:nvPr/>
          </p:nvSpPr>
          <p:spPr>
            <a:xfrm>
              <a:off x="8744443" y="2155984"/>
              <a:ext cx="151414" cy="133350"/>
            </a:xfrm>
            <a:prstGeom prst="rect">
              <a:avLst/>
            </a:prstGeom>
            <a:noFill/>
            <a:ln>
              <a:noFill/>
            </a:ln>
          </p:spPr>
          <p:txBody>
            <a:bodyPr wrap="none" lIns="0" tIns="0" rIns="0" bIns="0" anchor="t" anchorCtr="0">
              <a:spAutoFit/>
            </a:bodyPr>
            <a:lstStyle/>
            <a:p>
              <a:pPr algn="ctr"/>
              <a:r>
                <a:rPr lang="zh-CN" sz="680" dirty="0">
                  <a:solidFill>
                    <a:srgbClr val="5F6F6A"/>
                  </a:solidFill>
                  <a:latin typeface="+mn-lt"/>
                  <a:ea typeface="+mn-ea"/>
                  <a:cs typeface="+mn-cs"/>
                </a:rPr>
                <a:t>户​</a:t>
              </a:r>
            </a:p>
          </p:txBody>
        </p:sp>
        <p:sp>
          <p:nvSpPr>
            <p:cNvPr id="178" name="TextBox 178"/>
            <p:cNvSpPr txBox="1"/>
            <p:nvPr/>
          </p:nvSpPr>
          <p:spPr>
            <a:xfrm>
              <a:off x="8744443" y="2270284"/>
              <a:ext cx="151414" cy="133350"/>
            </a:xfrm>
            <a:prstGeom prst="rect">
              <a:avLst/>
            </a:prstGeom>
            <a:noFill/>
            <a:ln>
              <a:noFill/>
            </a:ln>
          </p:spPr>
          <p:txBody>
            <a:bodyPr wrap="none" lIns="0" tIns="0" rIns="0" bIns="0" anchor="t" anchorCtr="0">
              <a:spAutoFit/>
            </a:bodyPr>
            <a:lstStyle/>
            <a:p>
              <a:pPr algn="ctr"/>
              <a:r>
                <a:rPr lang="zh-CN" sz="680" dirty="0">
                  <a:solidFill>
                    <a:srgbClr val="5F6F6A"/>
                  </a:solidFill>
                  <a:latin typeface="+mn-lt"/>
                  <a:ea typeface="+mn-ea"/>
                  <a:cs typeface="+mn-cs"/>
                </a:rPr>
                <a:t>价​</a:t>
              </a:r>
            </a:p>
          </p:txBody>
        </p:sp>
        <p:sp>
          <p:nvSpPr>
            <p:cNvPr id="179" name="TextBox 179"/>
            <p:cNvSpPr txBox="1"/>
            <p:nvPr/>
          </p:nvSpPr>
          <p:spPr>
            <a:xfrm>
              <a:off x="8744443" y="2384584"/>
              <a:ext cx="151414" cy="133350"/>
            </a:xfrm>
            <a:prstGeom prst="rect">
              <a:avLst/>
            </a:prstGeom>
            <a:noFill/>
            <a:ln>
              <a:noFill/>
            </a:ln>
          </p:spPr>
          <p:txBody>
            <a:bodyPr wrap="none" lIns="0" tIns="0" rIns="0" bIns="0" anchor="t" anchorCtr="0">
              <a:spAutoFit/>
            </a:bodyPr>
            <a:lstStyle/>
            <a:p>
              <a:pPr algn="ctr"/>
              <a:r>
                <a:rPr lang="zh-CN" sz="680" dirty="0">
                  <a:solidFill>
                    <a:srgbClr val="5F6F6A"/>
                  </a:solidFill>
                  <a:latin typeface="+mn-lt"/>
                  <a:ea typeface="+mn-ea"/>
                  <a:cs typeface="+mn-cs"/>
                </a:rPr>
                <a:t>值​</a:t>
              </a:r>
            </a:p>
          </p:txBody>
        </p:sp>
        <p:sp>
          <p:nvSpPr>
            <p:cNvPr id="180" name="TextBox 180"/>
            <p:cNvSpPr txBox="1"/>
            <p:nvPr/>
          </p:nvSpPr>
          <p:spPr>
            <a:xfrm>
              <a:off x="8744443" y="3032284"/>
              <a:ext cx="151414" cy="133350"/>
            </a:xfrm>
            <a:prstGeom prst="rect">
              <a:avLst/>
            </a:prstGeom>
            <a:noFill/>
            <a:ln>
              <a:noFill/>
            </a:ln>
          </p:spPr>
          <p:txBody>
            <a:bodyPr wrap="none" lIns="0" tIns="0" rIns="0" bIns="0" anchor="t" anchorCtr="0">
              <a:spAutoFit/>
            </a:bodyPr>
            <a:lstStyle/>
            <a:p>
              <a:pPr algn="ctr"/>
              <a:r>
                <a:rPr lang="zh-CN" sz="680" dirty="0">
                  <a:solidFill>
                    <a:srgbClr val="5F6F6A"/>
                  </a:solidFill>
                  <a:latin typeface="+mn-lt"/>
                  <a:ea typeface="+mn-ea"/>
                  <a:cs typeface="+mn-cs"/>
                </a:rPr>
                <a:t>低​</a:t>
              </a:r>
            </a:p>
          </p:txBody>
        </p:sp>
        <p:sp>
          <p:nvSpPr>
            <p:cNvPr id="181" name="Line 181"/>
            <p:cNvSpPr/>
            <p:nvPr/>
          </p:nvSpPr>
          <p:spPr>
            <a:xfrm>
              <a:off x="8934450" y="971550"/>
              <a:ext cx="9525" cy="2228850"/>
            </a:xfrm>
            <a:custGeom>
              <a:avLst/>
              <a:gdLst/>
              <a:ahLst/>
              <a:cxnLst/>
              <a:rect l="l" t="t" r="r" b="b"/>
              <a:pathLst>
                <a:path w="9525" h="2228850">
                  <a:moveTo>
                    <a:pt x="0" y="0"/>
                  </a:moveTo>
                  <a:lnTo>
                    <a:pt x="0" y="2228850"/>
                  </a:lnTo>
                </a:path>
              </a:pathLst>
            </a:custGeom>
            <a:noFill/>
            <a:ln w="9525">
              <a:solidFill>
                <a:srgbClr val="BFDDD6"/>
              </a:solidFill>
            </a:ln>
          </p:spPr>
        </p:sp>
        <p:sp>
          <p:nvSpPr>
            <p:cNvPr id="182" name="Line 182"/>
            <p:cNvSpPr/>
            <p:nvPr/>
          </p:nvSpPr>
          <p:spPr>
            <a:xfrm>
              <a:off x="8934450" y="3200400"/>
              <a:ext cx="2952750" cy="9525"/>
            </a:xfrm>
            <a:custGeom>
              <a:avLst/>
              <a:gdLst/>
              <a:ahLst/>
              <a:cxnLst/>
              <a:rect l="l" t="t" r="r" b="b"/>
              <a:pathLst>
                <a:path w="2952750" h="9525">
                  <a:moveTo>
                    <a:pt x="0" y="0"/>
                  </a:moveTo>
                  <a:lnTo>
                    <a:pt x="2952750" y="0"/>
                  </a:lnTo>
                </a:path>
              </a:pathLst>
            </a:custGeom>
            <a:noFill/>
            <a:ln w="9525">
              <a:solidFill>
                <a:srgbClr val="BFDDD6"/>
              </a:solidFill>
            </a:ln>
          </p:spPr>
        </p:sp>
        <p:sp>
          <p:nvSpPr>
            <p:cNvPr id="183" name="TextBox 183"/>
            <p:cNvSpPr txBox="1"/>
            <p:nvPr/>
          </p:nvSpPr>
          <p:spPr>
            <a:xfrm>
              <a:off x="9043988" y="3260884"/>
              <a:ext cx="151414"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低​</a:t>
              </a:r>
            </a:p>
          </p:txBody>
        </p:sp>
        <p:sp>
          <p:nvSpPr>
            <p:cNvPr id="184" name="TextBox 184"/>
            <p:cNvSpPr txBox="1"/>
            <p:nvPr/>
          </p:nvSpPr>
          <p:spPr>
            <a:xfrm>
              <a:off x="10196828" y="3256836"/>
              <a:ext cx="447043" cy="140494"/>
            </a:xfrm>
            <a:prstGeom prst="rect">
              <a:avLst/>
            </a:prstGeom>
            <a:noFill/>
            <a:ln>
              <a:noFill/>
            </a:ln>
          </p:spPr>
          <p:txBody>
            <a:bodyPr wrap="none" lIns="0" tIns="0" rIns="0" bIns="0" anchor="t" anchorCtr="0">
              <a:spAutoFit/>
            </a:bodyPr>
            <a:lstStyle/>
            <a:p>
              <a:pPr algn="ctr"/>
              <a:r>
                <a:rPr lang="zh-CN" sz="710" b="1" dirty="0">
                  <a:solidFill>
                    <a:srgbClr val="5F6F6A"/>
                  </a:solidFill>
                  <a:latin typeface="+mn-lt"/>
                  <a:ea typeface="+mn-ea"/>
                  <a:cs typeface="+mn-cs"/>
                </a:rPr>
                <a:t>销售难度​</a:t>
              </a:r>
            </a:p>
          </p:txBody>
        </p:sp>
        <p:sp>
          <p:nvSpPr>
            <p:cNvPr id="185" name="TextBox 185"/>
            <p:cNvSpPr txBox="1"/>
            <p:nvPr/>
          </p:nvSpPr>
          <p:spPr>
            <a:xfrm>
              <a:off x="11787188" y="3260884"/>
              <a:ext cx="151414"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高​</a:t>
              </a:r>
            </a:p>
          </p:txBody>
        </p:sp>
        <p:grpSp>
          <p:nvGrpSpPr>
            <p:cNvPr id="193" name="mx-q1"/>
            <p:cNvGrpSpPr/>
            <p:nvPr/>
          </p:nvGrpSpPr>
          <p:grpSpPr>
            <a:xfrm>
              <a:off x="9010650" y="990600"/>
              <a:ext cx="1390650" cy="1066800"/>
              <a:chOff x="9010650" y="990600"/>
              <a:chExt cx="1390650" cy="1066800"/>
            </a:xfrm>
          </p:grpSpPr>
          <p:sp>
            <p:nvSpPr>
              <p:cNvPr id="186" name="Rectangle 186"/>
              <p:cNvSpPr/>
              <p:nvPr/>
            </p:nvSpPr>
            <p:spPr>
              <a:xfrm>
                <a:off x="9010650" y="990600"/>
                <a:ext cx="1390650" cy="1066800"/>
              </a:xfrm>
              <a:prstGeom prst="roundRect">
                <a:avLst>
                  <a:gd name="adj" fmla="val 7143"/>
                </a:avLst>
              </a:prstGeom>
              <a:solidFill>
                <a:srgbClr val="5B180B"/>
              </a:solidFill>
              <a:ln>
                <a:noFill/>
              </a:ln>
            </p:spPr>
          </p:sp>
          <p:sp>
            <p:nvSpPr>
              <p:cNvPr id="187" name="Ellipse 187"/>
              <p:cNvSpPr/>
              <p:nvPr/>
            </p:nvSpPr>
            <p:spPr>
              <a:xfrm>
                <a:off x="9105900" y="1104900"/>
                <a:ext cx="114300" cy="114300"/>
              </a:xfrm>
              <a:prstGeom prst="ellipse">
                <a:avLst/>
              </a:prstGeom>
              <a:solidFill>
                <a:srgbClr val="B8432F"/>
              </a:solidFill>
              <a:ln>
                <a:noFill/>
              </a:ln>
            </p:spPr>
          </p:sp>
          <p:sp>
            <p:nvSpPr>
              <p:cNvPr id="188" name="TextBox 188"/>
              <p:cNvSpPr txBox="1"/>
              <p:nvPr/>
            </p:nvSpPr>
            <p:spPr>
              <a:xfrm>
                <a:off x="9272588" y="1102995"/>
                <a:ext cx="564126"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重点拓展​</a:t>
                </a:r>
              </a:p>
            </p:txBody>
          </p:sp>
          <p:sp>
            <p:nvSpPr>
              <p:cNvPr id="189" name="TextBox 189"/>
              <p:cNvSpPr txBox="1"/>
              <p:nvPr/>
            </p:nvSpPr>
            <p:spPr>
              <a:xfrm>
                <a:off x="9272588" y="1264682"/>
                <a:ext cx="845246" cy="126206"/>
              </a:xfrm>
              <a:prstGeom prst="rect">
                <a:avLst/>
              </a:prstGeom>
              <a:noFill/>
              <a:ln>
                <a:noFill/>
              </a:ln>
            </p:spPr>
            <p:txBody>
              <a:bodyPr wrap="none" lIns="0" tIns="0" rIns="0" bIns="0" anchor="t" anchorCtr="0">
                <a:spAutoFit/>
              </a:bodyPr>
              <a:lstStyle/>
              <a:p>
                <a:pPr algn="l"/>
                <a:r>
                  <a:rPr lang="zh-CN" sz="640" dirty="0">
                    <a:solidFill>
                      <a:srgbClr val="BFDDD6"/>
                    </a:solidFill>
                    <a:latin typeface="+mn-lt"/>
                    <a:ea typeface="+mn-ea"/>
                    <a:cs typeface="+mn-cs"/>
                  </a:rPr>
                  <a:t>（高价值 · 低难度）​</a:t>
                </a:r>
              </a:p>
            </p:txBody>
          </p:sp>
          <p:sp>
            <p:nvSpPr>
              <p:cNvPr id="190" name="TextBox 190"/>
              <p:cNvSpPr txBox="1"/>
              <p:nvPr/>
            </p:nvSpPr>
            <p:spPr>
              <a:xfrm>
                <a:off x="9158288" y="1466136"/>
                <a:ext cx="521059" cy="140494"/>
              </a:xfrm>
              <a:prstGeom prst="rect">
                <a:avLst/>
              </a:prstGeom>
              <a:noFill/>
              <a:ln>
                <a:noFill/>
              </a:ln>
            </p:spPr>
            <p:txBody>
              <a:bodyPr wrap="none" lIns="0" tIns="0" rIns="0" bIns="0" anchor="t" anchorCtr="0">
                <a:spAutoFit/>
              </a:bodyPr>
              <a:lstStyle/>
              <a:p>
                <a:pPr algn="l" marL="76644" indent="-76644">
                  <a:buClr>
                    <a:srgbClr val="FFFFFF"/>
                  </a:buClr>
                  <a:buSzTx/>
                  <a:buFontTx/>
                  <a:buChar char="•"/>
                </a:pPr>
                <a:r>
                  <a:rPr lang="zh-CN" sz="710" dirty="0">
                    <a:solidFill>
                      <a:srgbClr val="FFFFFF"/>
                    </a:solidFill>
                    <a:latin typeface="+mn-lt"/>
                    <a:ea typeface="+mn-ea"/>
                    <a:cs typeface="+mn-cs"/>
                  </a:rPr>
                  <a:t>定期存款​</a:t>
                </a:r>
              </a:p>
            </p:txBody>
          </p:sp>
          <p:sp>
            <p:nvSpPr>
              <p:cNvPr id="191" name="TextBox 191"/>
              <p:cNvSpPr txBox="1"/>
              <p:nvPr/>
            </p:nvSpPr>
            <p:spPr>
              <a:xfrm>
                <a:off x="9158288" y="1618536"/>
                <a:ext cx="521059" cy="140494"/>
              </a:xfrm>
              <a:prstGeom prst="rect">
                <a:avLst/>
              </a:prstGeom>
              <a:noFill/>
              <a:ln>
                <a:noFill/>
              </a:ln>
            </p:spPr>
            <p:txBody>
              <a:bodyPr wrap="none" lIns="0" tIns="0" rIns="0" bIns="0" anchor="t" anchorCtr="0">
                <a:spAutoFit/>
              </a:bodyPr>
              <a:lstStyle/>
              <a:p>
                <a:pPr algn="l" marL="76644" indent="-76644">
                  <a:buClr>
                    <a:srgbClr val="FFFFFF"/>
                  </a:buClr>
                  <a:buSzTx/>
                  <a:buFontTx/>
                  <a:buChar char="•"/>
                </a:pPr>
                <a:r>
                  <a:rPr lang="zh-CN" sz="710" dirty="0">
                    <a:solidFill>
                      <a:srgbClr val="FFFFFF"/>
                    </a:solidFill>
                    <a:latin typeface="+mn-lt"/>
                    <a:ea typeface="+mn-ea"/>
                    <a:cs typeface="+mn-cs"/>
                  </a:rPr>
                  <a:t>大额存单​</a:t>
                </a:r>
              </a:p>
            </p:txBody>
          </p:sp>
          <p:sp>
            <p:nvSpPr>
              <p:cNvPr id="192" name="TextBox 192"/>
              <p:cNvSpPr txBox="1"/>
              <p:nvPr/>
            </p:nvSpPr>
            <p:spPr>
              <a:xfrm>
                <a:off x="9158288" y="1770936"/>
                <a:ext cx="521059" cy="140494"/>
              </a:xfrm>
              <a:prstGeom prst="rect">
                <a:avLst/>
              </a:prstGeom>
              <a:noFill/>
              <a:ln>
                <a:noFill/>
              </a:ln>
            </p:spPr>
            <p:txBody>
              <a:bodyPr wrap="none" lIns="0" tIns="0" rIns="0" bIns="0" anchor="t" anchorCtr="0">
                <a:spAutoFit/>
              </a:bodyPr>
              <a:lstStyle/>
              <a:p>
                <a:pPr algn="l" marL="76644" indent="-76644">
                  <a:buClr>
                    <a:srgbClr val="FFFFFF"/>
                  </a:buClr>
                  <a:buSzTx/>
                  <a:buFontTx/>
                  <a:buChar char="•"/>
                </a:pPr>
                <a:r>
                  <a:rPr lang="zh-CN" sz="710" dirty="0">
                    <a:solidFill>
                      <a:srgbClr val="FFFFFF"/>
                    </a:solidFill>
                    <a:latin typeface="+mn-lt"/>
                    <a:ea typeface="+mn-ea"/>
                    <a:cs typeface="+mn-cs"/>
                  </a:rPr>
                  <a:t>优选理财​</a:t>
                </a:r>
              </a:p>
            </p:txBody>
          </p:sp>
        </p:grpSp>
        <p:grpSp>
          <p:nvGrpSpPr>
            <p:cNvPr id="201" name="mx-q2"/>
            <p:cNvGrpSpPr/>
            <p:nvPr/>
          </p:nvGrpSpPr>
          <p:grpSpPr>
            <a:xfrm>
              <a:off x="10477500" y="990600"/>
              <a:ext cx="1390650" cy="1066800"/>
              <a:chOff x="10477500" y="990600"/>
              <a:chExt cx="1390650" cy="1066800"/>
            </a:xfrm>
          </p:grpSpPr>
          <p:sp>
            <p:nvSpPr>
              <p:cNvPr id="194" name="Rectangle 194"/>
              <p:cNvSpPr/>
              <p:nvPr/>
            </p:nvSpPr>
            <p:spPr>
              <a:xfrm>
                <a:off x="10477500" y="990600"/>
                <a:ext cx="1390650" cy="1066800"/>
              </a:xfrm>
              <a:prstGeom prst="roundRect">
                <a:avLst>
                  <a:gd name="adj" fmla="val 7143"/>
                </a:avLst>
              </a:prstGeom>
              <a:solidFill>
                <a:srgbClr val="9A412F"/>
              </a:solidFill>
              <a:ln>
                <a:noFill/>
              </a:ln>
            </p:spPr>
          </p:sp>
          <p:sp>
            <p:nvSpPr>
              <p:cNvPr id="195" name="Ellipse 195"/>
              <p:cNvSpPr/>
              <p:nvPr/>
            </p:nvSpPr>
            <p:spPr>
              <a:xfrm>
                <a:off x="10572750" y="1104900"/>
                <a:ext cx="114300" cy="114300"/>
              </a:xfrm>
              <a:prstGeom prst="ellipse">
                <a:avLst/>
              </a:prstGeom>
              <a:solidFill>
                <a:srgbClr val="B8432F"/>
              </a:solidFill>
              <a:ln>
                <a:noFill/>
              </a:ln>
            </p:spPr>
          </p:sp>
          <p:sp>
            <p:nvSpPr>
              <p:cNvPr id="196" name="TextBox 196"/>
              <p:cNvSpPr txBox="1"/>
              <p:nvPr/>
            </p:nvSpPr>
            <p:spPr>
              <a:xfrm>
                <a:off x="10739438" y="1102995"/>
                <a:ext cx="564126"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战略突破​</a:t>
                </a:r>
              </a:p>
            </p:txBody>
          </p:sp>
          <p:sp>
            <p:nvSpPr>
              <p:cNvPr id="197" name="TextBox 197"/>
              <p:cNvSpPr txBox="1"/>
              <p:nvPr/>
            </p:nvSpPr>
            <p:spPr>
              <a:xfrm>
                <a:off x="10739438" y="1264682"/>
                <a:ext cx="845246" cy="126206"/>
              </a:xfrm>
              <a:prstGeom prst="rect">
                <a:avLst/>
              </a:prstGeom>
              <a:noFill/>
              <a:ln>
                <a:noFill/>
              </a:ln>
            </p:spPr>
            <p:txBody>
              <a:bodyPr wrap="none" lIns="0" tIns="0" rIns="0" bIns="0" anchor="t" anchorCtr="0">
                <a:spAutoFit/>
              </a:bodyPr>
              <a:lstStyle/>
              <a:p>
                <a:pPr algn="l"/>
                <a:r>
                  <a:rPr lang="zh-CN" sz="640" dirty="0">
                    <a:solidFill>
                      <a:srgbClr val="DFF0EB"/>
                    </a:solidFill>
                    <a:latin typeface="+mn-lt"/>
                    <a:ea typeface="+mn-ea"/>
                    <a:cs typeface="+mn-cs"/>
                  </a:rPr>
                  <a:t>（高价值 · 高难度）​</a:t>
                </a:r>
              </a:p>
            </p:txBody>
          </p:sp>
          <p:sp>
            <p:nvSpPr>
              <p:cNvPr id="198" name="TextBox 198"/>
              <p:cNvSpPr txBox="1"/>
              <p:nvPr/>
            </p:nvSpPr>
            <p:spPr>
              <a:xfrm>
                <a:off x="10625138" y="1466136"/>
                <a:ext cx="521059" cy="140494"/>
              </a:xfrm>
              <a:prstGeom prst="rect">
                <a:avLst/>
              </a:prstGeom>
              <a:noFill/>
              <a:ln>
                <a:noFill/>
              </a:ln>
            </p:spPr>
            <p:txBody>
              <a:bodyPr wrap="none" lIns="0" tIns="0" rIns="0" bIns="0" anchor="t" anchorCtr="0">
                <a:spAutoFit/>
              </a:bodyPr>
              <a:lstStyle/>
              <a:p>
                <a:pPr algn="l" marL="76644" indent="-76644">
                  <a:buClr>
                    <a:srgbClr val="FFFFFF"/>
                  </a:buClr>
                  <a:buSzTx/>
                  <a:buFontTx/>
                  <a:buChar char="•"/>
                </a:pPr>
                <a:r>
                  <a:rPr lang="zh-CN" sz="710" dirty="0">
                    <a:solidFill>
                      <a:srgbClr val="FFFFFF"/>
                    </a:solidFill>
                    <a:latin typeface="+mn-lt"/>
                    <a:ea typeface="+mn-ea"/>
                    <a:cs typeface="+mn-cs"/>
                  </a:rPr>
                  <a:t>保险产品​</a:t>
                </a:r>
              </a:p>
            </p:txBody>
          </p:sp>
          <p:sp>
            <p:nvSpPr>
              <p:cNvPr id="199" name="TextBox 199"/>
              <p:cNvSpPr txBox="1"/>
              <p:nvPr/>
            </p:nvSpPr>
            <p:spPr>
              <a:xfrm>
                <a:off x="10625138" y="1618536"/>
                <a:ext cx="521059" cy="140494"/>
              </a:xfrm>
              <a:prstGeom prst="rect">
                <a:avLst/>
              </a:prstGeom>
              <a:noFill/>
              <a:ln>
                <a:noFill/>
              </a:ln>
            </p:spPr>
            <p:txBody>
              <a:bodyPr wrap="none" lIns="0" tIns="0" rIns="0" bIns="0" anchor="t" anchorCtr="0">
                <a:spAutoFit/>
              </a:bodyPr>
              <a:lstStyle/>
              <a:p>
                <a:pPr algn="l" marL="76644" indent="-76644">
                  <a:buClr>
                    <a:srgbClr val="FFFFFF"/>
                  </a:buClr>
                  <a:buSzTx/>
                  <a:buFontTx/>
                  <a:buChar char="•"/>
                </a:pPr>
                <a:r>
                  <a:rPr lang="zh-CN" sz="710" dirty="0">
                    <a:solidFill>
                      <a:srgbClr val="FFFFFF"/>
                    </a:solidFill>
                    <a:latin typeface="+mn-lt"/>
                    <a:ea typeface="+mn-ea"/>
                    <a:cs typeface="+mn-cs"/>
                  </a:rPr>
                  <a:t>资产配置​</a:t>
                </a:r>
              </a:p>
            </p:txBody>
          </p:sp>
          <p:sp>
            <p:nvSpPr>
              <p:cNvPr id="200" name="TextBox 200"/>
              <p:cNvSpPr txBox="1"/>
              <p:nvPr/>
            </p:nvSpPr>
            <p:spPr>
              <a:xfrm>
                <a:off x="10625138" y="1770936"/>
                <a:ext cx="521059" cy="140494"/>
              </a:xfrm>
              <a:prstGeom prst="rect">
                <a:avLst/>
              </a:prstGeom>
              <a:noFill/>
              <a:ln>
                <a:noFill/>
              </a:ln>
            </p:spPr>
            <p:txBody>
              <a:bodyPr wrap="none" lIns="0" tIns="0" rIns="0" bIns="0" anchor="t" anchorCtr="0">
                <a:spAutoFit/>
              </a:bodyPr>
              <a:lstStyle/>
              <a:p>
                <a:pPr algn="l" marL="76644" indent="-76644">
                  <a:buClr>
                    <a:srgbClr val="FFFFFF"/>
                  </a:buClr>
                  <a:buSzTx/>
                  <a:buFontTx/>
                  <a:buChar char="•"/>
                </a:pPr>
                <a:r>
                  <a:rPr lang="zh-CN" sz="710" dirty="0">
                    <a:solidFill>
                      <a:srgbClr val="FFFFFF"/>
                    </a:solidFill>
                    <a:latin typeface="+mn-lt"/>
                    <a:ea typeface="+mn-ea"/>
                    <a:cs typeface="+mn-cs"/>
                  </a:rPr>
                  <a:t>家族账户​</a:t>
                </a:r>
              </a:p>
            </p:txBody>
          </p:sp>
        </p:grpSp>
        <p:grpSp>
          <p:nvGrpSpPr>
            <p:cNvPr id="209" name="mx-q3"/>
            <p:cNvGrpSpPr/>
            <p:nvPr/>
          </p:nvGrpSpPr>
          <p:grpSpPr>
            <a:xfrm>
              <a:off x="9010650" y="2114550"/>
              <a:ext cx="1390650" cy="1028700"/>
              <a:chOff x="9010650" y="2114550"/>
              <a:chExt cx="1390650" cy="1028700"/>
            </a:xfrm>
          </p:grpSpPr>
          <p:sp>
            <p:nvSpPr>
              <p:cNvPr id="202" name="Rectangle 202"/>
              <p:cNvSpPr/>
              <p:nvPr/>
            </p:nvSpPr>
            <p:spPr>
              <a:xfrm>
                <a:off x="9010650" y="2114550"/>
                <a:ext cx="1390650" cy="1028700"/>
              </a:xfrm>
              <a:prstGeom prst="roundRect">
                <a:avLst>
                  <a:gd name="adj" fmla="val 7407"/>
                </a:avLst>
              </a:prstGeom>
              <a:solidFill>
                <a:srgbClr val="BFDDD6"/>
              </a:solidFill>
              <a:ln>
                <a:noFill/>
              </a:ln>
            </p:spPr>
          </p:sp>
          <p:sp>
            <p:nvSpPr>
              <p:cNvPr id="203" name="Ellipse 203"/>
              <p:cNvSpPr/>
              <p:nvPr/>
            </p:nvSpPr>
            <p:spPr>
              <a:xfrm>
                <a:off x="9105900" y="2228850"/>
                <a:ext cx="114300" cy="114300"/>
              </a:xfrm>
              <a:prstGeom prst="ellipse">
                <a:avLst/>
              </a:prstGeom>
              <a:solidFill>
                <a:srgbClr val="5B180B"/>
              </a:solidFill>
              <a:ln>
                <a:noFill/>
              </a:ln>
            </p:spPr>
          </p:sp>
          <p:sp>
            <p:nvSpPr>
              <p:cNvPr id="204" name="TextBox 204"/>
              <p:cNvSpPr txBox="1"/>
              <p:nvPr/>
            </p:nvSpPr>
            <p:spPr>
              <a:xfrm>
                <a:off x="9272588" y="2226945"/>
                <a:ext cx="564126" cy="176212"/>
              </a:xfrm>
              <a:prstGeom prst="rect">
                <a:avLst/>
              </a:prstGeom>
              <a:noFill/>
              <a:ln>
                <a:noFill/>
              </a:ln>
            </p:spPr>
            <p:txBody>
              <a:bodyPr wrap="none" lIns="0" tIns="0" rIns="0" bIns="0" anchor="t" anchorCtr="0">
                <a:spAutoFit/>
              </a:bodyPr>
              <a:lstStyle/>
              <a:p>
                <a:pPr algn="l"/>
                <a:r>
                  <a:rPr lang="zh-CN" sz="900" b="1" dirty="0">
                    <a:solidFill>
                      <a:srgbClr val="5B180B"/>
                    </a:solidFill>
                    <a:latin typeface="+mn-lt"/>
                    <a:ea typeface="+mn-ea"/>
                    <a:cs typeface="+mn-cs"/>
                  </a:rPr>
                  <a:t>规模推进​</a:t>
                </a:r>
              </a:p>
            </p:txBody>
          </p:sp>
          <p:sp>
            <p:nvSpPr>
              <p:cNvPr id="205" name="TextBox 205"/>
              <p:cNvSpPr txBox="1"/>
              <p:nvPr/>
            </p:nvSpPr>
            <p:spPr>
              <a:xfrm>
                <a:off x="9272588" y="2388632"/>
                <a:ext cx="84524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（低价值 · 低难度）​</a:t>
                </a:r>
              </a:p>
            </p:txBody>
          </p:sp>
          <p:sp>
            <p:nvSpPr>
              <p:cNvPr id="206" name="TextBox 206"/>
              <p:cNvSpPr txBox="1"/>
              <p:nvPr/>
            </p:nvSpPr>
            <p:spPr>
              <a:xfrm>
                <a:off x="9158288" y="2590086"/>
                <a:ext cx="521059" cy="140494"/>
              </a:xfrm>
              <a:prstGeom prst="rect">
                <a:avLst/>
              </a:prstGeom>
              <a:noFill/>
              <a:ln>
                <a:noFill/>
              </a:ln>
            </p:spPr>
            <p:txBody>
              <a:bodyPr wrap="none" lIns="0" tIns="0" rIns="0" bIns="0" anchor="t" anchorCtr="0">
                <a:spAutoFit/>
              </a:bodyPr>
              <a:lstStyle/>
              <a:p>
                <a:pPr algn="l" marL="76644" indent="-76644">
                  <a:buClr>
                    <a:srgbClr val="312624"/>
                  </a:buClr>
                  <a:buSzTx/>
                  <a:buFontTx/>
                  <a:buChar char="•"/>
                </a:pPr>
                <a:r>
                  <a:rPr lang="zh-CN" sz="710" dirty="0">
                    <a:solidFill>
                      <a:srgbClr val="312624"/>
                    </a:solidFill>
                    <a:latin typeface="+mn-lt"/>
                    <a:ea typeface="+mn-ea"/>
                    <a:cs typeface="+mn-cs"/>
                  </a:rPr>
                  <a:t>活期存款​</a:t>
                </a:r>
              </a:p>
            </p:txBody>
          </p:sp>
          <p:sp>
            <p:nvSpPr>
              <p:cNvPr id="207" name="TextBox 207"/>
              <p:cNvSpPr txBox="1"/>
              <p:nvPr/>
            </p:nvSpPr>
            <p:spPr>
              <a:xfrm>
                <a:off x="9158288" y="2742486"/>
                <a:ext cx="521059" cy="140494"/>
              </a:xfrm>
              <a:prstGeom prst="rect">
                <a:avLst/>
              </a:prstGeom>
              <a:noFill/>
              <a:ln>
                <a:noFill/>
              </a:ln>
            </p:spPr>
            <p:txBody>
              <a:bodyPr wrap="none" lIns="0" tIns="0" rIns="0" bIns="0" anchor="t" anchorCtr="0">
                <a:spAutoFit/>
              </a:bodyPr>
              <a:lstStyle/>
              <a:p>
                <a:pPr algn="l" marL="76644" indent="-76644">
                  <a:buClr>
                    <a:srgbClr val="312624"/>
                  </a:buClr>
                  <a:buSzTx/>
                  <a:buFontTx/>
                  <a:buChar char="•"/>
                </a:pPr>
                <a:r>
                  <a:rPr lang="zh-CN" sz="710" dirty="0">
                    <a:solidFill>
                      <a:srgbClr val="312624"/>
                    </a:solidFill>
                    <a:latin typeface="+mn-lt"/>
                    <a:ea typeface="+mn-ea"/>
                    <a:cs typeface="+mn-cs"/>
                  </a:rPr>
                  <a:t>电子银行​</a:t>
                </a:r>
              </a:p>
            </p:txBody>
          </p:sp>
          <p:sp>
            <p:nvSpPr>
              <p:cNvPr id="208" name="TextBox 208"/>
              <p:cNvSpPr txBox="1"/>
              <p:nvPr/>
            </p:nvSpPr>
            <p:spPr>
              <a:xfrm>
                <a:off x="9158288" y="2894886"/>
                <a:ext cx="521059" cy="140494"/>
              </a:xfrm>
              <a:prstGeom prst="rect">
                <a:avLst/>
              </a:prstGeom>
              <a:noFill/>
              <a:ln>
                <a:noFill/>
              </a:ln>
            </p:spPr>
            <p:txBody>
              <a:bodyPr wrap="none" lIns="0" tIns="0" rIns="0" bIns="0" anchor="t" anchorCtr="0">
                <a:spAutoFit/>
              </a:bodyPr>
              <a:lstStyle/>
              <a:p>
                <a:pPr algn="l" marL="76644" indent="-76644">
                  <a:buClr>
                    <a:srgbClr val="312624"/>
                  </a:buClr>
                  <a:buSzTx/>
                  <a:buFontTx/>
                  <a:buChar char="•"/>
                </a:pPr>
                <a:r>
                  <a:rPr lang="zh-CN" sz="710" dirty="0">
                    <a:solidFill>
                      <a:srgbClr val="312624"/>
                    </a:solidFill>
                    <a:latin typeface="+mn-lt"/>
                    <a:ea typeface="+mn-ea"/>
                    <a:cs typeface="+mn-cs"/>
                  </a:rPr>
                  <a:t>支付权益​</a:t>
                </a:r>
              </a:p>
            </p:txBody>
          </p:sp>
        </p:grpSp>
        <p:grpSp>
          <p:nvGrpSpPr>
            <p:cNvPr id="217" name="mx-q4"/>
            <p:cNvGrpSpPr/>
            <p:nvPr/>
          </p:nvGrpSpPr>
          <p:grpSpPr>
            <a:xfrm>
              <a:off x="10477500" y="2114550"/>
              <a:ext cx="1390650" cy="1028700"/>
              <a:chOff x="10477500" y="2114550"/>
              <a:chExt cx="1390650" cy="1028700"/>
            </a:xfrm>
          </p:grpSpPr>
          <p:sp>
            <p:nvSpPr>
              <p:cNvPr id="210" name="Rectangle 210"/>
              <p:cNvSpPr/>
              <p:nvPr/>
            </p:nvSpPr>
            <p:spPr>
              <a:xfrm>
                <a:off x="10477500" y="2114550"/>
                <a:ext cx="1390650" cy="1028700"/>
              </a:xfrm>
              <a:prstGeom prst="roundRect">
                <a:avLst>
                  <a:gd name="adj" fmla="val 7407"/>
                </a:avLst>
              </a:prstGeom>
              <a:solidFill>
                <a:srgbClr val="E9F4F0"/>
              </a:solidFill>
              <a:ln>
                <a:noFill/>
              </a:ln>
            </p:spPr>
          </p:sp>
          <p:sp>
            <p:nvSpPr>
              <p:cNvPr id="211" name="Ellipse 211"/>
              <p:cNvSpPr/>
              <p:nvPr/>
            </p:nvSpPr>
            <p:spPr>
              <a:xfrm>
                <a:off x="10572750" y="2228850"/>
                <a:ext cx="114300" cy="114300"/>
              </a:xfrm>
              <a:prstGeom prst="ellipse">
                <a:avLst/>
              </a:prstGeom>
              <a:solidFill>
                <a:srgbClr val="5B180B"/>
              </a:solidFill>
              <a:ln>
                <a:noFill/>
              </a:ln>
            </p:spPr>
          </p:sp>
          <p:sp>
            <p:nvSpPr>
              <p:cNvPr id="212" name="TextBox 212"/>
              <p:cNvSpPr txBox="1"/>
              <p:nvPr/>
            </p:nvSpPr>
            <p:spPr>
              <a:xfrm>
                <a:off x="10739438" y="2226945"/>
                <a:ext cx="564126" cy="176212"/>
              </a:xfrm>
              <a:prstGeom prst="rect">
                <a:avLst/>
              </a:prstGeom>
              <a:noFill/>
              <a:ln>
                <a:noFill/>
              </a:ln>
            </p:spPr>
            <p:txBody>
              <a:bodyPr wrap="none" lIns="0" tIns="0" rIns="0" bIns="0" anchor="t" anchorCtr="0">
                <a:spAutoFit/>
              </a:bodyPr>
              <a:lstStyle/>
              <a:p>
                <a:pPr algn="l"/>
                <a:r>
                  <a:rPr lang="zh-CN" sz="900" b="1" dirty="0">
                    <a:solidFill>
                      <a:srgbClr val="5B180B"/>
                    </a:solidFill>
                    <a:latin typeface="+mn-lt"/>
                    <a:ea typeface="+mn-ea"/>
                    <a:cs typeface="+mn-cs"/>
                  </a:rPr>
                  <a:t>选择经营​</a:t>
                </a:r>
              </a:p>
            </p:txBody>
          </p:sp>
          <p:sp>
            <p:nvSpPr>
              <p:cNvPr id="213" name="TextBox 213"/>
              <p:cNvSpPr txBox="1"/>
              <p:nvPr/>
            </p:nvSpPr>
            <p:spPr>
              <a:xfrm>
                <a:off x="10739438" y="2388632"/>
                <a:ext cx="84524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（低价值 · 高难度）​</a:t>
                </a:r>
              </a:p>
            </p:txBody>
          </p:sp>
          <p:sp>
            <p:nvSpPr>
              <p:cNvPr id="214" name="TextBox 214"/>
              <p:cNvSpPr txBox="1"/>
              <p:nvPr/>
            </p:nvSpPr>
            <p:spPr>
              <a:xfrm>
                <a:off x="10625138" y="2590086"/>
                <a:ext cx="521059" cy="140494"/>
              </a:xfrm>
              <a:prstGeom prst="rect">
                <a:avLst/>
              </a:prstGeom>
              <a:noFill/>
              <a:ln>
                <a:noFill/>
              </a:ln>
            </p:spPr>
            <p:txBody>
              <a:bodyPr wrap="none" lIns="0" tIns="0" rIns="0" bIns="0" anchor="t" anchorCtr="0">
                <a:spAutoFit/>
              </a:bodyPr>
              <a:lstStyle/>
              <a:p>
                <a:pPr algn="l" marL="76644" indent="-76644">
                  <a:buClr>
                    <a:srgbClr val="312624"/>
                  </a:buClr>
                  <a:buSzTx/>
                  <a:buFontTx/>
                  <a:buChar char="•"/>
                </a:pPr>
                <a:r>
                  <a:rPr lang="zh-CN" sz="710" dirty="0">
                    <a:solidFill>
                      <a:srgbClr val="312624"/>
                    </a:solidFill>
                    <a:latin typeface="+mn-lt"/>
                    <a:ea typeface="+mn-ea"/>
                    <a:cs typeface="+mn-cs"/>
                  </a:rPr>
                  <a:t>基金产品​</a:t>
                </a:r>
              </a:p>
            </p:txBody>
          </p:sp>
          <p:sp>
            <p:nvSpPr>
              <p:cNvPr id="215" name="TextBox 215"/>
              <p:cNvSpPr txBox="1"/>
              <p:nvPr/>
            </p:nvSpPr>
            <p:spPr>
              <a:xfrm>
                <a:off x="10625138" y="2742486"/>
                <a:ext cx="425479" cy="140494"/>
              </a:xfrm>
              <a:prstGeom prst="rect">
                <a:avLst/>
              </a:prstGeom>
              <a:noFill/>
              <a:ln>
                <a:noFill/>
              </a:ln>
            </p:spPr>
            <p:txBody>
              <a:bodyPr wrap="none" lIns="0" tIns="0" rIns="0" bIns="0" anchor="t" anchorCtr="0">
                <a:spAutoFit/>
              </a:bodyPr>
              <a:lstStyle/>
              <a:p>
                <a:pPr algn="l" marL="76644" indent="-76644">
                  <a:buClr>
                    <a:srgbClr val="312624"/>
                  </a:buClr>
                  <a:buSzTx/>
                  <a:buFontTx/>
                  <a:buChar char="•"/>
                </a:pPr>
                <a:r>
                  <a:rPr lang="zh-CN" sz="710" dirty="0">
                    <a:solidFill>
                      <a:srgbClr val="312624"/>
                    </a:solidFill>
                    <a:latin typeface="+mn-lt"/>
                    <a:ea typeface="+mn-ea"/>
                    <a:cs typeface="+mn-cs"/>
                  </a:rPr>
                  <a:t>贵金属​</a:t>
                </a:r>
              </a:p>
            </p:txBody>
          </p:sp>
          <p:sp>
            <p:nvSpPr>
              <p:cNvPr id="216" name="TextBox 216"/>
              <p:cNvSpPr txBox="1"/>
              <p:nvPr/>
            </p:nvSpPr>
            <p:spPr>
              <a:xfrm>
                <a:off x="10625138" y="2894886"/>
                <a:ext cx="712220" cy="140494"/>
              </a:xfrm>
              <a:prstGeom prst="rect">
                <a:avLst/>
              </a:prstGeom>
              <a:noFill/>
              <a:ln>
                <a:noFill/>
              </a:ln>
            </p:spPr>
            <p:txBody>
              <a:bodyPr wrap="none" lIns="0" tIns="0" rIns="0" bIns="0" anchor="t" anchorCtr="0">
                <a:spAutoFit/>
              </a:bodyPr>
              <a:lstStyle/>
              <a:p>
                <a:pPr algn="l" marL="76644" indent="-76644">
                  <a:buClr>
                    <a:srgbClr val="312624"/>
                  </a:buClr>
                  <a:buSzTx/>
                  <a:buFontTx/>
                  <a:buChar char="•"/>
                </a:pPr>
                <a:r>
                  <a:rPr lang="zh-CN" sz="710" dirty="0">
                    <a:solidFill>
                      <a:srgbClr val="312624"/>
                    </a:solidFill>
                    <a:latin typeface="+mn-lt"/>
                    <a:ea typeface="+mn-ea"/>
                    <a:cs typeface="+mn-cs"/>
                  </a:rPr>
                  <a:t>高复杂度理财​</a:t>
                </a:r>
              </a:p>
            </p:txBody>
          </p:sp>
        </p:grpSp>
      </p:grpSp>
      <p:grpSp>
        <p:nvGrpSpPr>
          <p:cNvPr id="279" name="combo-table"/>
          <p:cNvGrpSpPr/>
          <p:nvPr/>
        </p:nvGrpSpPr>
        <p:grpSpPr>
          <a:xfrm>
            <a:off x="228600" y="3638550"/>
            <a:ext cx="11734800" cy="3143250"/>
            <a:chOff x="228600" y="3638550"/>
            <a:chExt cx="11734800" cy="3143250"/>
          </a:xfrm>
        </p:grpSpPr>
        <p:sp>
          <p:nvSpPr>
            <p:cNvPr id="219" name="Rectangle 219"/>
            <p:cNvSpPr/>
            <p:nvPr/>
          </p:nvSpPr>
          <p:spPr>
            <a:xfrm>
              <a:off x="228600" y="3638550"/>
              <a:ext cx="11734800" cy="3143250"/>
            </a:xfrm>
            <a:prstGeom prst="roundRect">
              <a:avLst>
                <a:gd name="adj" fmla="val 3030"/>
              </a:avLst>
            </a:prstGeom>
            <a:solidFill>
              <a:srgbClr val="F5FAF8"/>
            </a:solidFill>
            <a:ln w="9525">
              <a:solidFill>
                <a:srgbClr val="D9E8E2"/>
              </a:solidFill>
            </a:ln>
          </p:spPr>
        </p:sp>
        <p:sp>
          <p:nvSpPr>
            <p:cNvPr id="220" name="Rectangle 220"/>
            <p:cNvSpPr/>
            <p:nvPr/>
          </p:nvSpPr>
          <p:spPr>
            <a:xfrm>
              <a:off x="342900" y="3752850"/>
              <a:ext cx="47625" cy="171450"/>
            </a:xfrm>
            <a:prstGeom prst="rect">
              <a:avLst/>
            </a:prstGeom>
            <a:solidFill>
              <a:srgbClr val="5B180B"/>
            </a:solidFill>
            <a:ln>
              <a:noFill/>
            </a:ln>
          </p:spPr>
        </p:sp>
        <p:sp>
          <p:nvSpPr>
            <p:cNvPr id="221" name="TextBox 221"/>
            <p:cNvSpPr txBox="1"/>
            <p:nvPr/>
          </p:nvSpPr>
          <p:spPr>
            <a:xfrm>
              <a:off x="451866" y="3782378"/>
              <a:ext cx="1223106"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重点产品组合方案​</a:t>
              </a:r>
            </a:p>
          </p:txBody>
        </p:sp>
        <p:grpSp>
          <p:nvGrpSpPr>
            <p:cNvPr id="230" name="combo-head"/>
            <p:cNvGrpSpPr/>
            <p:nvPr/>
          </p:nvGrpSpPr>
          <p:grpSpPr>
            <a:xfrm>
              <a:off x="285750" y="4000500"/>
              <a:ext cx="11620500" cy="285750"/>
              <a:chOff x="285750" y="4000500"/>
              <a:chExt cx="11620500" cy="285750"/>
            </a:xfrm>
          </p:grpSpPr>
          <p:sp>
            <p:nvSpPr>
              <p:cNvPr id="222" name="Rectangle 222"/>
              <p:cNvSpPr/>
              <p:nvPr/>
            </p:nvSpPr>
            <p:spPr>
              <a:xfrm>
                <a:off x="285750" y="4000500"/>
                <a:ext cx="11620500" cy="285750"/>
              </a:xfrm>
              <a:prstGeom prst="rect">
                <a:avLst/>
              </a:prstGeom>
              <a:solidFill>
                <a:srgbClr val="5B180B"/>
              </a:solidFill>
              <a:ln>
                <a:noFill/>
              </a:ln>
            </p:spPr>
          </p:sp>
          <p:sp>
            <p:nvSpPr>
              <p:cNvPr id="223" name="TextBox 223"/>
              <p:cNvSpPr txBox="1"/>
              <p:nvPr/>
            </p:nvSpPr>
            <p:spPr>
              <a:xfrm>
                <a:off x="369910" y="4097893"/>
                <a:ext cx="307930"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序号​</a:t>
                </a:r>
              </a:p>
            </p:txBody>
          </p:sp>
          <p:sp>
            <p:nvSpPr>
              <p:cNvPr id="224" name="TextBox 224"/>
              <p:cNvSpPr txBox="1"/>
              <p:nvPr/>
            </p:nvSpPr>
            <p:spPr>
              <a:xfrm>
                <a:off x="1063762" y="4097893"/>
                <a:ext cx="53947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组合名称​</a:t>
                </a:r>
              </a:p>
            </p:txBody>
          </p:sp>
          <p:sp>
            <p:nvSpPr>
              <p:cNvPr id="225" name="TextBox 225"/>
              <p:cNvSpPr txBox="1"/>
              <p:nvPr/>
            </p:nvSpPr>
            <p:spPr>
              <a:xfrm>
                <a:off x="2492512" y="4097893"/>
                <a:ext cx="53947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目标客群​</a:t>
                </a:r>
              </a:p>
            </p:txBody>
          </p:sp>
          <p:sp>
            <p:nvSpPr>
              <p:cNvPr id="226" name="TextBox 226"/>
              <p:cNvSpPr txBox="1"/>
              <p:nvPr/>
            </p:nvSpPr>
            <p:spPr>
              <a:xfrm>
                <a:off x="4540387" y="4097893"/>
                <a:ext cx="53947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产品组合​</a:t>
                </a:r>
              </a:p>
            </p:txBody>
          </p:sp>
          <p:sp>
            <p:nvSpPr>
              <p:cNvPr id="227" name="TextBox 227"/>
              <p:cNvSpPr txBox="1"/>
              <p:nvPr/>
            </p:nvSpPr>
            <p:spPr>
              <a:xfrm>
                <a:off x="7139238" y="4097893"/>
                <a:ext cx="771023"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核心价值主张​</a:t>
                </a:r>
              </a:p>
            </p:txBody>
          </p:sp>
          <p:sp>
            <p:nvSpPr>
              <p:cNvPr id="228" name="TextBox 228"/>
              <p:cNvSpPr txBox="1"/>
              <p:nvPr/>
            </p:nvSpPr>
            <p:spPr>
              <a:xfrm>
                <a:off x="9166590" y="4097893"/>
                <a:ext cx="1002570"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预计年化收入贡献​</a:t>
                </a:r>
              </a:p>
            </p:txBody>
          </p:sp>
          <p:sp>
            <p:nvSpPr>
              <p:cNvPr id="229" name="TextBox 229"/>
              <p:cNvSpPr txBox="1"/>
              <p:nvPr/>
            </p:nvSpPr>
            <p:spPr>
              <a:xfrm>
                <a:off x="10826887" y="4097893"/>
                <a:ext cx="539477"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合规边界​</a:t>
                </a:r>
              </a:p>
            </p:txBody>
          </p:sp>
        </p:grpSp>
        <p:grpSp>
          <p:nvGrpSpPr>
            <p:cNvPr id="276" name="combo-rows"/>
            <p:cNvGrpSpPr/>
            <p:nvPr/>
          </p:nvGrpSpPr>
          <p:grpSpPr>
            <a:xfrm>
              <a:off x="285750" y="4286250"/>
              <a:ext cx="11620500" cy="1714500"/>
              <a:chOff x="285750" y="4286250"/>
              <a:chExt cx="11620500" cy="1714500"/>
            </a:xfrm>
          </p:grpSpPr>
          <p:sp>
            <p:nvSpPr>
              <p:cNvPr id="231" name="Rectangle 231"/>
              <p:cNvSpPr/>
              <p:nvPr/>
            </p:nvSpPr>
            <p:spPr>
              <a:xfrm>
                <a:off x="285750" y="4286250"/>
                <a:ext cx="11620500" cy="342900"/>
              </a:xfrm>
              <a:prstGeom prst="rect">
                <a:avLst/>
              </a:prstGeom>
              <a:solidFill>
                <a:srgbClr val="FFFFFF"/>
              </a:solidFill>
              <a:ln w="7620">
                <a:solidFill>
                  <a:srgbClr val="D9E8E2"/>
                </a:solidFill>
              </a:ln>
            </p:spPr>
          </p:sp>
          <p:sp>
            <p:nvSpPr>
              <p:cNvPr id="232" name="Ellipse 232"/>
              <p:cNvSpPr/>
              <p:nvPr/>
            </p:nvSpPr>
            <p:spPr>
              <a:xfrm>
                <a:off x="428625" y="4362450"/>
                <a:ext cx="190500" cy="190500"/>
              </a:xfrm>
              <a:prstGeom prst="ellipse">
                <a:avLst/>
              </a:prstGeom>
              <a:solidFill>
                <a:srgbClr val="5B180B"/>
              </a:solidFill>
              <a:ln>
                <a:noFill/>
              </a:ln>
            </p:spPr>
          </p:sp>
          <p:sp>
            <p:nvSpPr>
              <p:cNvPr id="233" name="TextBox 233"/>
              <p:cNvSpPr txBox="1"/>
              <p:nvPr/>
            </p:nvSpPr>
            <p:spPr>
              <a:xfrm>
                <a:off x="436316" y="4418886"/>
                <a:ext cx="175118"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01​</a:t>
                </a:r>
              </a:p>
            </p:txBody>
          </p:sp>
          <p:sp>
            <p:nvSpPr>
              <p:cNvPr id="234" name="TextBox 234"/>
              <p:cNvSpPr txBox="1"/>
              <p:nvPr/>
            </p:nvSpPr>
            <p:spPr>
              <a:xfrm>
                <a:off x="1032154" y="4410789"/>
                <a:ext cx="602691"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薪享生活包​</a:t>
                </a:r>
              </a:p>
            </p:txBody>
          </p:sp>
          <p:sp>
            <p:nvSpPr>
              <p:cNvPr id="235" name="TextBox 235"/>
              <p:cNvSpPr txBox="1"/>
              <p:nvPr/>
            </p:nvSpPr>
            <p:spPr>
              <a:xfrm>
                <a:off x="2294866" y="4410789"/>
                <a:ext cx="934768"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新市民 / 年轻客群​</a:t>
                </a:r>
              </a:p>
            </p:txBody>
          </p:sp>
          <p:sp>
            <p:nvSpPr>
              <p:cNvPr id="236" name="TextBox 236"/>
              <p:cNvSpPr txBox="1"/>
              <p:nvPr/>
            </p:nvSpPr>
            <p:spPr>
              <a:xfrm>
                <a:off x="4015715" y="4410789"/>
                <a:ext cx="1588820"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活期存款 + 电子银行 + 支付权益​</a:t>
                </a:r>
              </a:p>
            </p:txBody>
          </p:sp>
          <p:sp>
            <p:nvSpPr>
              <p:cNvPr id="237" name="TextBox 237"/>
              <p:cNvSpPr txBox="1"/>
              <p:nvPr/>
            </p:nvSpPr>
            <p:spPr>
              <a:xfrm>
                <a:off x="6427243" y="4410789"/>
                <a:ext cx="2195013"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一站式日常金融服务，便捷安全，消费更优惠​</a:t>
                </a:r>
              </a:p>
            </p:txBody>
          </p:sp>
          <p:sp>
            <p:nvSpPr>
              <p:cNvPr id="238" name="TextBox 238"/>
              <p:cNvSpPr txBox="1"/>
              <p:nvPr/>
            </p:nvSpPr>
            <p:spPr>
              <a:xfrm>
                <a:off x="9447887" y="4410789"/>
                <a:ext cx="439976"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80 万元​</a:t>
                </a:r>
              </a:p>
            </p:txBody>
          </p:sp>
          <p:sp>
            <p:nvSpPr>
              <p:cNvPr id="239" name="TextBox 239"/>
              <p:cNvSpPr txBox="1"/>
              <p:nvPr/>
            </p:nvSpPr>
            <p:spPr>
              <a:xfrm>
                <a:off x="10371343" y="4410789"/>
                <a:ext cx="1450565"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不得强制开通，明示权益规则​</a:t>
                </a:r>
              </a:p>
            </p:txBody>
          </p:sp>
          <p:sp>
            <p:nvSpPr>
              <p:cNvPr id="240" name="Rectangle 240"/>
              <p:cNvSpPr/>
              <p:nvPr/>
            </p:nvSpPr>
            <p:spPr>
              <a:xfrm>
                <a:off x="285750" y="4629150"/>
                <a:ext cx="11620500" cy="342900"/>
              </a:xfrm>
              <a:prstGeom prst="rect">
                <a:avLst/>
              </a:prstGeom>
              <a:solidFill>
                <a:srgbClr val="F7FBF9"/>
              </a:solidFill>
              <a:ln w="7620">
                <a:solidFill>
                  <a:srgbClr val="D9E8E2"/>
                </a:solidFill>
              </a:ln>
            </p:spPr>
          </p:sp>
          <p:sp>
            <p:nvSpPr>
              <p:cNvPr id="241" name="Ellipse 241"/>
              <p:cNvSpPr/>
              <p:nvPr/>
            </p:nvSpPr>
            <p:spPr>
              <a:xfrm>
                <a:off x="428625" y="4705350"/>
                <a:ext cx="190500" cy="190500"/>
              </a:xfrm>
              <a:prstGeom prst="ellipse">
                <a:avLst/>
              </a:prstGeom>
              <a:solidFill>
                <a:srgbClr val="5B180B"/>
              </a:solidFill>
              <a:ln>
                <a:noFill/>
              </a:ln>
            </p:spPr>
          </p:sp>
          <p:sp>
            <p:nvSpPr>
              <p:cNvPr id="242" name="TextBox 242"/>
              <p:cNvSpPr txBox="1"/>
              <p:nvPr/>
            </p:nvSpPr>
            <p:spPr>
              <a:xfrm>
                <a:off x="436316" y="4761786"/>
                <a:ext cx="175118"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02​</a:t>
                </a:r>
              </a:p>
            </p:txBody>
          </p:sp>
          <p:sp>
            <p:nvSpPr>
              <p:cNvPr id="243" name="TextBox 243"/>
              <p:cNvSpPr txBox="1"/>
              <p:nvPr/>
            </p:nvSpPr>
            <p:spPr>
              <a:xfrm>
                <a:off x="1032154" y="4753689"/>
                <a:ext cx="602691"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安心理财包​</a:t>
                </a:r>
              </a:p>
            </p:txBody>
          </p:sp>
          <p:sp>
            <p:nvSpPr>
              <p:cNvPr id="244" name="TextBox 244"/>
              <p:cNvSpPr txBox="1"/>
              <p:nvPr/>
            </p:nvSpPr>
            <p:spPr>
              <a:xfrm>
                <a:off x="2462367" y="4753689"/>
                <a:ext cx="599766"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稳健型客户​</a:t>
                </a:r>
              </a:p>
            </p:txBody>
          </p:sp>
          <p:sp>
            <p:nvSpPr>
              <p:cNvPr id="245" name="TextBox 245"/>
              <p:cNvSpPr txBox="1"/>
              <p:nvPr/>
            </p:nvSpPr>
            <p:spPr>
              <a:xfrm>
                <a:off x="4289566" y="4753689"/>
                <a:ext cx="1041118"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定期存款 + 大额存单​</a:t>
                </a:r>
              </a:p>
            </p:txBody>
          </p:sp>
          <p:sp>
            <p:nvSpPr>
              <p:cNvPr id="246" name="TextBox 246"/>
              <p:cNvSpPr txBox="1"/>
              <p:nvPr/>
            </p:nvSpPr>
            <p:spPr>
              <a:xfrm>
                <a:off x="6799468" y="4753689"/>
                <a:ext cx="1450565"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稳健增值，闲置资金更有收益​</a:t>
                </a:r>
              </a:p>
            </p:txBody>
          </p:sp>
          <p:sp>
            <p:nvSpPr>
              <p:cNvPr id="247" name="TextBox 247"/>
              <p:cNvSpPr txBox="1"/>
              <p:nvPr/>
            </p:nvSpPr>
            <p:spPr>
              <a:xfrm>
                <a:off x="9417179" y="4753689"/>
                <a:ext cx="501393"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120 万元​</a:t>
                </a:r>
              </a:p>
            </p:txBody>
          </p:sp>
          <p:sp>
            <p:nvSpPr>
              <p:cNvPr id="248" name="TextBox 248"/>
              <p:cNvSpPr txBox="1"/>
              <p:nvPr/>
            </p:nvSpPr>
            <p:spPr>
              <a:xfrm>
                <a:off x="10371343" y="4753689"/>
                <a:ext cx="1450565"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规范销售，充分揭示产品风险​</a:t>
                </a:r>
              </a:p>
            </p:txBody>
          </p:sp>
          <p:sp>
            <p:nvSpPr>
              <p:cNvPr id="249" name="Rectangle 249"/>
              <p:cNvSpPr/>
              <p:nvPr/>
            </p:nvSpPr>
            <p:spPr>
              <a:xfrm>
                <a:off x="285750" y="4972050"/>
                <a:ext cx="11620500" cy="342900"/>
              </a:xfrm>
              <a:prstGeom prst="rect">
                <a:avLst/>
              </a:prstGeom>
              <a:solidFill>
                <a:srgbClr val="FFFFFF"/>
              </a:solidFill>
              <a:ln w="7620">
                <a:solidFill>
                  <a:srgbClr val="D9E8E2"/>
                </a:solidFill>
              </a:ln>
            </p:spPr>
          </p:sp>
          <p:sp>
            <p:nvSpPr>
              <p:cNvPr id="250" name="Ellipse 250"/>
              <p:cNvSpPr/>
              <p:nvPr/>
            </p:nvSpPr>
            <p:spPr>
              <a:xfrm>
                <a:off x="428625" y="5048250"/>
                <a:ext cx="190500" cy="190500"/>
              </a:xfrm>
              <a:prstGeom prst="ellipse">
                <a:avLst/>
              </a:prstGeom>
              <a:solidFill>
                <a:srgbClr val="5B180B"/>
              </a:solidFill>
              <a:ln>
                <a:noFill/>
              </a:ln>
            </p:spPr>
          </p:sp>
          <p:sp>
            <p:nvSpPr>
              <p:cNvPr id="251" name="TextBox 251"/>
              <p:cNvSpPr txBox="1"/>
              <p:nvPr/>
            </p:nvSpPr>
            <p:spPr>
              <a:xfrm>
                <a:off x="436316" y="5104686"/>
                <a:ext cx="175118"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03​</a:t>
                </a:r>
              </a:p>
            </p:txBody>
          </p:sp>
          <p:sp>
            <p:nvSpPr>
              <p:cNvPr id="252" name="TextBox 252"/>
              <p:cNvSpPr txBox="1"/>
              <p:nvPr/>
            </p:nvSpPr>
            <p:spPr>
              <a:xfrm>
                <a:off x="1032154" y="5096589"/>
                <a:ext cx="602691"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品质消费包​</a:t>
                </a:r>
              </a:p>
            </p:txBody>
          </p:sp>
          <p:sp>
            <p:nvSpPr>
              <p:cNvPr id="253" name="TextBox 253"/>
              <p:cNvSpPr txBox="1"/>
              <p:nvPr/>
            </p:nvSpPr>
            <p:spPr>
              <a:xfrm>
                <a:off x="2241691" y="5096589"/>
                <a:ext cx="1041118"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工薪家庭 / 年轻家庭​</a:t>
                </a:r>
              </a:p>
            </p:txBody>
          </p:sp>
          <p:sp>
            <p:nvSpPr>
              <p:cNvPr id="254" name="TextBox 254"/>
              <p:cNvSpPr txBox="1"/>
              <p:nvPr/>
            </p:nvSpPr>
            <p:spPr>
              <a:xfrm>
                <a:off x="4068890" y="5096589"/>
                <a:ext cx="1482470"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消费贷 + 支付权益 + 保险产品​</a:t>
                </a:r>
              </a:p>
            </p:txBody>
          </p:sp>
          <p:sp>
            <p:nvSpPr>
              <p:cNvPr id="255" name="TextBox 255"/>
              <p:cNvSpPr txBox="1"/>
              <p:nvPr/>
            </p:nvSpPr>
            <p:spPr>
              <a:xfrm>
                <a:off x="6586768" y="5096589"/>
                <a:ext cx="1875964"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满足品质生活需求，金融助力美好生活​</a:t>
                </a:r>
              </a:p>
            </p:txBody>
          </p:sp>
          <p:sp>
            <p:nvSpPr>
              <p:cNvPr id="256" name="TextBox 256"/>
              <p:cNvSpPr txBox="1"/>
              <p:nvPr/>
            </p:nvSpPr>
            <p:spPr>
              <a:xfrm>
                <a:off x="9447887" y="5096589"/>
                <a:ext cx="439976"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90 万元​</a:t>
                </a:r>
              </a:p>
            </p:txBody>
          </p:sp>
          <p:sp>
            <p:nvSpPr>
              <p:cNvPr id="257" name="TextBox 257"/>
              <p:cNvSpPr txBox="1"/>
              <p:nvPr/>
            </p:nvSpPr>
            <p:spPr>
              <a:xfrm>
                <a:off x="10477692" y="5096589"/>
                <a:ext cx="1237865"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合规授信，严控资金用途​</a:t>
                </a:r>
              </a:p>
            </p:txBody>
          </p:sp>
          <p:sp>
            <p:nvSpPr>
              <p:cNvPr id="258" name="Rectangle 258"/>
              <p:cNvSpPr/>
              <p:nvPr/>
            </p:nvSpPr>
            <p:spPr>
              <a:xfrm>
                <a:off x="285750" y="5314950"/>
                <a:ext cx="11620500" cy="342900"/>
              </a:xfrm>
              <a:prstGeom prst="rect">
                <a:avLst/>
              </a:prstGeom>
              <a:solidFill>
                <a:srgbClr val="F7FBF9"/>
              </a:solidFill>
              <a:ln w="7620">
                <a:solidFill>
                  <a:srgbClr val="D9E8E2"/>
                </a:solidFill>
              </a:ln>
            </p:spPr>
          </p:sp>
          <p:sp>
            <p:nvSpPr>
              <p:cNvPr id="259" name="Ellipse 259"/>
              <p:cNvSpPr/>
              <p:nvPr/>
            </p:nvSpPr>
            <p:spPr>
              <a:xfrm>
                <a:off x="428625" y="5391150"/>
                <a:ext cx="190500" cy="190500"/>
              </a:xfrm>
              <a:prstGeom prst="ellipse">
                <a:avLst/>
              </a:prstGeom>
              <a:solidFill>
                <a:srgbClr val="5B180B"/>
              </a:solidFill>
              <a:ln>
                <a:noFill/>
              </a:ln>
            </p:spPr>
          </p:sp>
          <p:sp>
            <p:nvSpPr>
              <p:cNvPr id="260" name="TextBox 260"/>
              <p:cNvSpPr txBox="1"/>
              <p:nvPr/>
            </p:nvSpPr>
            <p:spPr>
              <a:xfrm>
                <a:off x="436316" y="5447586"/>
                <a:ext cx="175118"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04​</a:t>
                </a:r>
              </a:p>
            </p:txBody>
          </p:sp>
          <p:sp>
            <p:nvSpPr>
              <p:cNvPr id="261" name="TextBox 261"/>
              <p:cNvSpPr txBox="1"/>
              <p:nvPr/>
            </p:nvSpPr>
            <p:spPr>
              <a:xfrm>
                <a:off x="1032154" y="5439489"/>
                <a:ext cx="602691"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财富成长包​</a:t>
                </a:r>
              </a:p>
            </p:txBody>
          </p:sp>
          <p:sp>
            <p:nvSpPr>
              <p:cNvPr id="262" name="TextBox 262"/>
              <p:cNvSpPr txBox="1"/>
              <p:nvPr/>
            </p:nvSpPr>
            <p:spPr>
              <a:xfrm>
                <a:off x="2409192" y="5439489"/>
                <a:ext cx="706116"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中高净值客户​</a:t>
                </a:r>
              </a:p>
            </p:txBody>
          </p:sp>
          <p:sp>
            <p:nvSpPr>
              <p:cNvPr id="263" name="TextBox 263"/>
              <p:cNvSpPr txBox="1"/>
              <p:nvPr/>
            </p:nvSpPr>
            <p:spPr>
              <a:xfrm>
                <a:off x="4068890" y="5439489"/>
                <a:ext cx="1482470"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理财产品 + 基金产品 + 贵金属​</a:t>
                </a:r>
              </a:p>
            </p:txBody>
          </p:sp>
          <p:sp>
            <p:nvSpPr>
              <p:cNvPr id="264" name="TextBox 264"/>
              <p:cNvSpPr txBox="1"/>
              <p:nvPr/>
            </p:nvSpPr>
            <p:spPr>
              <a:xfrm>
                <a:off x="6533593" y="5439489"/>
                <a:ext cx="1982314"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多元配置，把握市场机会，实现财富增长​</a:t>
                </a:r>
              </a:p>
            </p:txBody>
          </p:sp>
          <p:sp>
            <p:nvSpPr>
              <p:cNvPr id="265" name="TextBox 265"/>
              <p:cNvSpPr txBox="1"/>
              <p:nvPr/>
            </p:nvSpPr>
            <p:spPr>
              <a:xfrm>
                <a:off x="9417179" y="5439489"/>
                <a:ext cx="501393"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100 万元​</a:t>
                </a:r>
              </a:p>
            </p:txBody>
          </p:sp>
          <p:sp>
            <p:nvSpPr>
              <p:cNvPr id="266" name="TextBox 266"/>
              <p:cNvSpPr txBox="1"/>
              <p:nvPr/>
            </p:nvSpPr>
            <p:spPr>
              <a:xfrm>
                <a:off x="10424518" y="5439489"/>
                <a:ext cx="1344215"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适当性管理，充分揭示风险​</a:t>
                </a:r>
              </a:p>
            </p:txBody>
          </p:sp>
          <p:sp>
            <p:nvSpPr>
              <p:cNvPr id="267" name="Rectangle 267"/>
              <p:cNvSpPr/>
              <p:nvPr/>
            </p:nvSpPr>
            <p:spPr>
              <a:xfrm>
                <a:off x="285750" y="5657850"/>
                <a:ext cx="11620500" cy="342900"/>
              </a:xfrm>
              <a:prstGeom prst="rect">
                <a:avLst/>
              </a:prstGeom>
              <a:solidFill>
                <a:srgbClr val="FFFFFF"/>
              </a:solidFill>
              <a:ln w="7620">
                <a:solidFill>
                  <a:srgbClr val="D9E8E2"/>
                </a:solidFill>
              </a:ln>
            </p:spPr>
          </p:sp>
          <p:sp>
            <p:nvSpPr>
              <p:cNvPr id="268" name="Ellipse 268"/>
              <p:cNvSpPr/>
              <p:nvPr/>
            </p:nvSpPr>
            <p:spPr>
              <a:xfrm>
                <a:off x="428625" y="5734050"/>
                <a:ext cx="190500" cy="190500"/>
              </a:xfrm>
              <a:prstGeom prst="ellipse">
                <a:avLst/>
              </a:prstGeom>
              <a:solidFill>
                <a:srgbClr val="5B180B"/>
              </a:solidFill>
              <a:ln>
                <a:noFill/>
              </a:ln>
            </p:spPr>
          </p:sp>
          <p:sp>
            <p:nvSpPr>
              <p:cNvPr id="269" name="TextBox 269"/>
              <p:cNvSpPr txBox="1"/>
              <p:nvPr/>
            </p:nvSpPr>
            <p:spPr>
              <a:xfrm>
                <a:off x="436316" y="5790486"/>
                <a:ext cx="175118"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05​</a:t>
                </a:r>
              </a:p>
            </p:txBody>
          </p:sp>
          <p:sp>
            <p:nvSpPr>
              <p:cNvPr id="270" name="TextBox 270"/>
              <p:cNvSpPr txBox="1"/>
              <p:nvPr/>
            </p:nvSpPr>
            <p:spPr>
              <a:xfrm>
                <a:off x="1032154" y="5782389"/>
                <a:ext cx="602691"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家业传承包​</a:t>
                </a:r>
              </a:p>
            </p:txBody>
          </p:sp>
          <p:sp>
            <p:nvSpPr>
              <p:cNvPr id="271" name="TextBox 271"/>
              <p:cNvSpPr txBox="1"/>
              <p:nvPr/>
            </p:nvSpPr>
            <p:spPr>
              <a:xfrm>
                <a:off x="2294866" y="5782389"/>
                <a:ext cx="934768"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高净值 / 家庭客户​</a:t>
                </a:r>
              </a:p>
            </p:txBody>
          </p:sp>
          <p:sp>
            <p:nvSpPr>
              <p:cNvPr id="272" name="TextBox 272"/>
              <p:cNvSpPr txBox="1"/>
              <p:nvPr/>
            </p:nvSpPr>
            <p:spPr>
              <a:xfrm>
                <a:off x="4015715" y="5782389"/>
                <a:ext cx="1588820"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资产配置 + 家族账户 + 会员权益​</a:t>
                </a:r>
              </a:p>
            </p:txBody>
          </p:sp>
          <p:sp>
            <p:nvSpPr>
              <p:cNvPr id="273" name="TextBox 273"/>
              <p:cNvSpPr txBox="1"/>
              <p:nvPr/>
            </p:nvSpPr>
            <p:spPr>
              <a:xfrm>
                <a:off x="6480418" y="5782389"/>
                <a:ext cx="2088664"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一站式家庭财富管理，代际传承，长久陪伴​</a:t>
                </a:r>
              </a:p>
            </p:txBody>
          </p:sp>
          <p:sp>
            <p:nvSpPr>
              <p:cNvPr id="274" name="TextBox 274"/>
              <p:cNvSpPr txBox="1"/>
              <p:nvPr/>
            </p:nvSpPr>
            <p:spPr>
              <a:xfrm>
                <a:off x="9417179" y="5782389"/>
                <a:ext cx="501393"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130 万元​</a:t>
                </a:r>
              </a:p>
            </p:txBody>
          </p:sp>
          <p:sp>
            <p:nvSpPr>
              <p:cNvPr id="275" name="TextBox 275"/>
              <p:cNvSpPr txBox="1"/>
              <p:nvPr/>
            </p:nvSpPr>
            <p:spPr>
              <a:xfrm>
                <a:off x="10371343" y="5782389"/>
                <a:ext cx="1450565" cy="154781"/>
              </a:xfrm>
              <a:prstGeom prst="rect">
                <a:avLst/>
              </a:prstGeom>
              <a:noFill/>
              <a:ln>
                <a:noFill/>
              </a:ln>
            </p:spPr>
            <p:txBody>
              <a:bodyPr wrap="none" lIns="0" tIns="0" rIns="0" bIns="0" anchor="t" anchorCtr="0">
                <a:spAutoFit/>
              </a:bodyPr>
              <a:lstStyle/>
              <a:p>
                <a:pPr algn="ctr"/>
                <a:r>
                  <a:rPr lang="zh-CN" sz="790" dirty="0">
                    <a:solidFill>
                      <a:srgbClr val="4A3D3A"/>
                    </a:solidFill>
                    <a:latin typeface="+mn-lt"/>
                    <a:ea typeface="+mn-ea"/>
                    <a:cs typeface="+mn-cs"/>
                  </a:rPr>
                  <a:t>合规展业，保护客户信息安全​</a:t>
                </a:r>
              </a:p>
            </p:txBody>
          </p:sp>
        </p:grpSp>
        <p:sp>
          <p:nvSpPr>
            <p:cNvPr id="277" name="Line 277"/>
            <p:cNvSpPr/>
            <p:nvPr/>
          </p:nvSpPr>
          <p:spPr>
            <a:xfrm>
              <a:off x="285750" y="6210300"/>
              <a:ext cx="11620500" cy="9525"/>
            </a:xfrm>
            <a:custGeom>
              <a:avLst/>
              <a:gdLst/>
              <a:ahLst/>
              <a:cxnLst/>
              <a:rect l="l" t="t" r="r" b="b"/>
              <a:pathLst>
                <a:path w="11620500" h="9525">
                  <a:moveTo>
                    <a:pt x="0" y="0"/>
                  </a:moveTo>
                  <a:lnTo>
                    <a:pt x="11620500" y="0"/>
                  </a:lnTo>
                </a:path>
              </a:pathLst>
            </a:custGeom>
            <a:noFill/>
            <a:ln w="9525">
              <a:solidFill>
                <a:srgbClr val="D9E8E2"/>
              </a:solidFill>
            </a:ln>
          </p:spPr>
        </p:sp>
        <p:sp>
          <p:nvSpPr>
            <p:cNvPr id="278" name="TextBox 278"/>
            <p:cNvSpPr txBox="1"/>
            <p:nvPr/>
          </p:nvSpPr>
          <p:spPr>
            <a:xfrm>
              <a:off x="4674969" y="6428899"/>
              <a:ext cx="2842062" cy="190690"/>
            </a:xfrm>
            <a:prstGeom prst="rect">
              <a:avLst/>
            </a:prstGeom>
            <a:noFill/>
            <a:ln>
              <a:noFill/>
            </a:ln>
          </p:spPr>
          <p:txBody>
            <a:bodyPr wrap="none" lIns="0" tIns="0" rIns="0" bIns="0" anchor="t" anchorCtr="0">
              <a:spAutoFit/>
            </a:bodyPr>
            <a:lstStyle/>
            <a:p>
              <a:pPr algn="ctr"/>
              <a:r>
                <a:rPr lang="zh-CN" sz="980" b="1" dirty="0">
                  <a:solidFill>
                    <a:srgbClr val="5B180B"/>
                  </a:solidFill>
                  <a:latin typeface="+mn-lt"/>
                  <a:ea typeface="+mn-ea"/>
                  <a:cs typeface="+mn-cs"/>
                </a:rPr>
                <a:t>更多客户 ｜ 更高价值 ｜ 更深关系 ｜ 更可持续​</a:t>
              </a:r>
            </a:p>
          </p:txBody>
        </p:sp>
      </p:gr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8041531" cy="542925"/>
            <a:chOff x="0" y="0"/>
            <a:chExt cx="8041531"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07​</a:t>
              </a:r>
            </a:p>
          </p:txBody>
        </p:sp>
        <p:sp>
          <p:nvSpPr>
            <p:cNvPr id="4" name="TextBox 4"/>
            <p:cNvSpPr txBox="1"/>
            <p:nvPr/>
          </p:nvSpPr>
          <p:spPr>
            <a:xfrm>
              <a:off x="942594" y="151448"/>
              <a:ext cx="7098937"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存款攻坚</a:t>
              </a:r>
              <a:r>
                <a:rPr lang="zh-CN" sz="1950" b="1" dirty="0">
                  <a:solidFill>
                    <a:srgbClr val="5B180B"/>
                  </a:solidFill>
                  <a:latin typeface="+mj-lt"/>
                  <a:ea typeface="+mj-ea"/>
                  <a:cs typeface="+mj-cs"/>
                </a:rPr>
                <a:t xml:space="preserve"> | 围绕到期、流失、代发三类资金实施分层保卫</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56" name="kpi-row"/>
          <p:cNvGrpSpPr/>
          <p:nvPr/>
        </p:nvGrpSpPr>
        <p:grpSpPr>
          <a:xfrm>
            <a:off x="228600" y="666750"/>
            <a:ext cx="11725275" cy="620839"/>
            <a:chOff x="228600" y="666750"/>
            <a:chExt cx="11725275" cy="620839"/>
          </a:xfrm>
        </p:grpSpPr>
        <p:sp>
          <p:nvSpPr>
            <p:cNvPr id="7" name="Rectangle 7"/>
            <p:cNvSpPr/>
            <p:nvPr/>
          </p:nvSpPr>
          <p:spPr>
            <a:xfrm>
              <a:off x="228600" y="666750"/>
              <a:ext cx="2838450" cy="609600"/>
            </a:xfrm>
            <a:prstGeom prst="roundRect">
              <a:avLst>
                <a:gd name="adj" fmla="val 12500"/>
              </a:avLst>
            </a:prstGeom>
            <a:solidFill>
              <a:srgbClr val="F5FAF8"/>
            </a:solidFill>
            <a:ln w="9525">
              <a:solidFill>
                <a:srgbClr val="D9E8E2"/>
              </a:solidFill>
            </a:ln>
          </p:spPr>
        </p:sp>
        <p:sp>
          <p:nvSpPr>
            <p:cNvPr id="8" name="Ellipse 8"/>
            <p:cNvSpPr/>
            <p:nvPr/>
          </p:nvSpPr>
          <p:spPr>
            <a:xfrm>
              <a:off x="342900" y="800100"/>
              <a:ext cx="342900" cy="342900"/>
            </a:xfrm>
            <a:prstGeom prst="ellipse">
              <a:avLst/>
            </a:prstGeom>
            <a:solidFill>
              <a:srgbClr val="5B180B"/>
            </a:solidFill>
            <a:ln>
              <a:noFill/>
            </a:ln>
          </p:spPr>
        </p:sp>
        <p:grpSp>
          <p:nvGrpSpPr>
            <p:cNvPr id="14" name="Group 14"/>
            <p:cNvGrpSpPr/>
            <p:nvPr/>
          </p:nvGrpSpPr>
          <p:grpSpPr>
            <a:xfrm>
              <a:off x="421481" y="877298"/>
              <a:ext cx="185737" cy="187120"/>
              <a:chOff x="421481" y="877298"/>
              <a:chExt cx="185737" cy="187120"/>
            </a:xfrm>
          </p:grpSpPr>
          <p:sp>
            <p:nvSpPr>
              <p:cNvPr id="9" name="Freeform 9"/>
              <p:cNvSpPr/>
              <p:nvPr/>
            </p:nvSpPr>
            <p:spPr>
              <a:xfrm>
                <a:off x="483393" y="961231"/>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FFFFFF"/>
                </a:solidFill>
              </a:ln>
            </p:spPr>
          </p:sp>
          <p:sp>
            <p:nvSpPr>
              <p:cNvPr id="10" name="Freeform 10"/>
              <p:cNvSpPr/>
              <p:nvPr/>
            </p:nvSpPr>
            <p:spPr>
              <a:xfrm>
                <a:off x="483393" y="992187"/>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FFFFFF"/>
                </a:solidFill>
              </a:ln>
            </p:spPr>
          </p:sp>
          <p:sp>
            <p:nvSpPr>
              <p:cNvPr id="11" name="Freeform 11"/>
              <p:cNvSpPr/>
              <p:nvPr/>
            </p:nvSpPr>
            <p:spPr>
              <a:xfrm>
                <a:off x="421481" y="877298"/>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FFFFFF"/>
                </a:solidFill>
              </a:ln>
            </p:spPr>
          </p:sp>
          <p:sp>
            <p:nvSpPr>
              <p:cNvPr id="12" name="Freeform 12"/>
              <p:cNvSpPr/>
              <p:nvPr/>
            </p:nvSpPr>
            <p:spPr>
              <a:xfrm>
                <a:off x="421481" y="909637"/>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FFFFFF"/>
                </a:solidFill>
              </a:ln>
            </p:spPr>
          </p:sp>
          <p:sp>
            <p:nvSpPr>
              <p:cNvPr id="13" name="Freeform 13"/>
              <p:cNvSpPr/>
              <p:nvPr/>
            </p:nvSpPr>
            <p:spPr>
              <a:xfrm>
                <a:off x="421481" y="961231"/>
                <a:ext cx="20637" cy="20637"/>
              </a:xfrm>
              <a:custGeom>
                <a:avLst/>
                <a:gdLst/>
                <a:ahLst/>
                <a:cxnLst/>
                <a:rect l="l" t="t" r="r" b="b"/>
                <a:pathLst>
                  <a:path w="20637" h="20637">
                    <a:moveTo>
                      <a:pt x="0" y="0"/>
                    </a:moveTo>
                    <a:cubicBezTo>
                      <a:pt x="0" y="9163"/>
                      <a:pt x="7966" y="14962"/>
                      <a:pt x="20637" y="20637"/>
                    </a:cubicBezTo>
                  </a:path>
                </a:pathLst>
              </a:custGeom>
              <a:noFill/>
              <a:ln w="20637">
                <a:solidFill>
                  <a:srgbClr val="FFFFFF"/>
                </a:solidFill>
              </a:ln>
            </p:spPr>
          </p:sp>
        </p:grpSp>
        <p:sp>
          <p:nvSpPr>
            <p:cNvPr id="15" name="TextBox 15"/>
            <p:cNvSpPr txBox="1"/>
            <p:nvPr/>
          </p:nvSpPr>
          <p:spPr>
            <a:xfrm>
              <a:off x="776288" y="787241"/>
              <a:ext cx="663420"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Q4日均净增​</a:t>
              </a:r>
            </a:p>
          </p:txBody>
        </p:sp>
        <p:sp>
          <p:nvSpPr>
            <p:cNvPr id="16" name="TextBox 16"/>
            <p:cNvSpPr txBox="1"/>
            <p:nvPr/>
          </p:nvSpPr>
          <p:spPr>
            <a:xfrm>
              <a:off x="772668" y="964882"/>
              <a:ext cx="779302"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1.20</a:t>
              </a:r>
              <a:r>
                <a:rPr lang="zh-CN" sz="900" dirty="0">
                  <a:solidFill>
                    <a:srgbClr val="5F6F6A"/>
                  </a:solidFill>
                  <a:latin typeface="+mn-lt"/>
                  <a:ea typeface="+mn-ea"/>
                  <a:cs typeface="+mn-cs"/>
                </a:rPr>
                <a:t>亿</a:t>
              </a:r>
              <a:r>
                <a:rPr lang="zh-CN" sz="1650" b="1" dirty="0">
                  <a:solidFill>
                    <a:srgbClr val="5B180B"/>
                  </a:solidFill>
                  <a:latin typeface="+mn-lt"/>
                  <a:ea typeface="+mn-ea"/>
                  <a:cs typeface="+mn-cs"/>
                </a:rPr>
                <a:t>​</a:t>
              </a:r>
            </a:p>
          </p:txBody>
        </p:sp>
        <p:sp>
          <p:nvSpPr>
            <p:cNvPr id="17" name="Line 17"/>
            <p:cNvSpPr/>
            <p:nvPr/>
          </p:nvSpPr>
          <p:spPr>
            <a:xfrm>
              <a:off x="2114550" y="781050"/>
              <a:ext cx="9525" cy="381000"/>
            </a:xfrm>
            <a:custGeom>
              <a:avLst/>
              <a:gdLst/>
              <a:ahLst/>
              <a:cxnLst/>
              <a:rect l="l" t="t" r="r" b="b"/>
              <a:pathLst>
                <a:path w="9525" h="381000">
                  <a:moveTo>
                    <a:pt x="0" y="0"/>
                  </a:moveTo>
                  <a:lnTo>
                    <a:pt x="0" y="381000"/>
                  </a:lnTo>
                </a:path>
              </a:pathLst>
            </a:custGeom>
            <a:noFill/>
            <a:ln w="9525">
              <a:solidFill>
                <a:srgbClr val="D9E8E2"/>
              </a:solidFill>
            </a:ln>
          </p:spPr>
        </p:sp>
        <p:sp>
          <p:nvSpPr>
            <p:cNvPr id="18" name="TextBox 18"/>
            <p:cNvSpPr txBox="1"/>
            <p:nvPr/>
          </p:nvSpPr>
          <p:spPr>
            <a:xfrm>
              <a:off x="2224088" y="822484"/>
              <a:ext cx="460238"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较Q3提升​</a:t>
              </a:r>
            </a:p>
          </p:txBody>
        </p:sp>
        <p:sp>
          <p:nvSpPr>
            <p:cNvPr id="19" name="TextBox 19"/>
            <p:cNvSpPr txBox="1"/>
            <p:nvPr/>
          </p:nvSpPr>
          <p:spPr>
            <a:xfrm>
              <a:off x="2223516" y="991552"/>
              <a:ext cx="448503" cy="205359"/>
            </a:xfrm>
            <a:prstGeom prst="rect">
              <a:avLst/>
            </a:prstGeom>
            <a:noFill/>
            <a:ln>
              <a:noFill/>
            </a:ln>
          </p:spPr>
          <p:txBody>
            <a:bodyPr wrap="none" lIns="0" tIns="0" rIns="0" bIns="0" anchor="t" anchorCtr="0">
              <a:spAutoFit/>
            </a:bodyPr>
            <a:lstStyle/>
            <a:p>
              <a:pPr algn="l"/>
              <a:r>
                <a:rPr lang="zh-CN" sz="1050" b="1" dirty="0">
                  <a:solidFill>
                    <a:srgbClr val="9E402E"/>
                  </a:solidFill>
                  <a:latin typeface="+mn-lt"/>
                  <a:ea typeface="+mn-ea"/>
                  <a:cs typeface="+mn-cs"/>
                </a:rPr>
                <a:t>+33%​</a:t>
              </a:r>
            </a:p>
          </p:txBody>
        </p:sp>
        <p:sp>
          <p:nvSpPr>
            <p:cNvPr id="20" name="Rectangle 20"/>
            <p:cNvSpPr/>
            <p:nvPr/>
          </p:nvSpPr>
          <p:spPr>
            <a:xfrm>
              <a:off x="3190875" y="666750"/>
              <a:ext cx="2838450" cy="609600"/>
            </a:xfrm>
            <a:prstGeom prst="roundRect">
              <a:avLst>
                <a:gd name="adj" fmla="val 12500"/>
              </a:avLst>
            </a:prstGeom>
            <a:solidFill>
              <a:srgbClr val="F5FAF8"/>
            </a:solidFill>
            <a:ln w="9525">
              <a:solidFill>
                <a:srgbClr val="D9E8E2"/>
              </a:solidFill>
            </a:ln>
          </p:spPr>
        </p:sp>
        <p:sp>
          <p:nvSpPr>
            <p:cNvPr id="21" name="Ellipse 21"/>
            <p:cNvSpPr/>
            <p:nvPr/>
          </p:nvSpPr>
          <p:spPr>
            <a:xfrm>
              <a:off x="3305175" y="800100"/>
              <a:ext cx="342900" cy="342900"/>
            </a:xfrm>
            <a:prstGeom prst="ellipse">
              <a:avLst/>
            </a:prstGeom>
            <a:solidFill>
              <a:srgbClr val="5B180B"/>
            </a:solidFill>
            <a:ln>
              <a:noFill/>
            </a:ln>
          </p:spPr>
        </p:sp>
        <p:grpSp>
          <p:nvGrpSpPr>
            <p:cNvPr id="26" name="Group 26"/>
            <p:cNvGrpSpPr/>
            <p:nvPr/>
          </p:nvGrpSpPr>
          <p:grpSpPr>
            <a:xfrm>
              <a:off x="3404394" y="889000"/>
              <a:ext cx="154780" cy="175418"/>
              <a:chOff x="3404394" y="889000"/>
              <a:chExt cx="154780" cy="175418"/>
            </a:xfrm>
          </p:grpSpPr>
          <p:sp>
            <p:nvSpPr>
              <p:cNvPr id="22" name="Freeform 22"/>
              <p:cNvSpPr/>
              <p:nvPr/>
            </p:nvSpPr>
            <p:spPr>
              <a:xfrm>
                <a:off x="3404394" y="889000"/>
                <a:ext cx="123825" cy="165099"/>
              </a:xfrm>
              <a:custGeom>
                <a:avLst/>
                <a:gdLst/>
                <a:ahLst/>
                <a:cxnLst/>
                <a:rect l="l" t="t" r="r" b="b"/>
                <a:pathLst>
                  <a:path w="123825" h="165099">
                    <a:moveTo>
                      <a:pt x="47621" y="165099"/>
                    </a:moveTo>
                    <a:lnTo>
                      <a:pt x="20637" y="165099"/>
                    </a:lnTo>
                    <a:cubicBezTo>
                      <a:pt x="9240" y="165099"/>
                      <a:pt x="0" y="155860"/>
                      <a:pt x="0" y="144462"/>
                    </a:cubicBezTo>
                    <a:lnTo>
                      <a:pt x="0" y="20637"/>
                    </a:lnTo>
                    <a:cubicBezTo>
                      <a:pt x="0" y="9240"/>
                      <a:pt x="9240" y="0"/>
                      <a:pt x="20637" y="0"/>
                    </a:cubicBezTo>
                    <a:lnTo>
                      <a:pt x="103187" y="0"/>
                    </a:lnTo>
                    <a:cubicBezTo>
                      <a:pt x="114585" y="0"/>
                      <a:pt x="123825" y="9240"/>
                      <a:pt x="123825" y="20637"/>
                    </a:cubicBezTo>
                    <a:lnTo>
                      <a:pt x="123825" y="103187"/>
                    </a:lnTo>
                  </a:path>
                </a:pathLst>
              </a:custGeom>
              <a:noFill/>
              <a:ln w="20637">
                <a:solidFill>
                  <a:srgbClr val="FFFFFF"/>
                </a:solidFill>
              </a:ln>
            </p:spPr>
          </p:sp>
          <p:sp>
            <p:nvSpPr>
              <p:cNvPr id="23" name="Freeform 23"/>
              <p:cNvSpPr/>
              <p:nvPr/>
            </p:nvSpPr>
            <p:spPr>
              <a:xfrm>
                <a:off x="3497262" y="1023143"/>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sp>
            <p:nvSpPr>
              <p:cNvPr id="24" name="Freeform 24"/>
              <p:cNvSpPr/>
              <p:nvPr/>
            </p:nvSpPr>
            <p:spPr>
              <a:xfrm>
                <a:off x="3445668" y="930275"/>
                <a:ext cx="41275" cy="9525"/>
              </a:xfrm>
              <a:custGeom>
                <a:avLst/>
                <a:gdLst/>
                <a:ahLst/>
                <a:cxnLst/>
                <a:rect l="l" t="t" r="r" b="b"/>
                <a:pathLst>
                  <a:path w="41275" h="9525">
                    <a:moveTo>
                      <a:pt x="0" y="0"/>
                    </a:moveTo>
                    <a:lnTo>
                      <a:pt x="41275" y="0"/>
                    </a:lnTo>
                  </a:path>
                </a:pathLst>
              </a:custGeom>
              <a:noFill/>
              <a:ln w="20637">
                <a:solidFill>
                  <a:srgbClr val="FFFFFF"/>
                </a:solidFill>
              </a:ln>
            </p:spPr>
          </p:sp>
          <p:sp>
            <p:nvSpPr>
              <p:cNvPr id="25" name="Freeform 25"/>
              <p:cNvSpPr/>
              <p:nvPr/>
            </p:nvSpPr>
            <p:spPr>
              <a:xfrm>
                <a:off x="3445668" y="971550"/>
                <a:ext cx="20637" cy="9525"/>
              </a:xfrm>
              <a:custGeom>
                <a:avLst/>
                <a:gdLst/>
                <a:ahLst/>
                <a:cxnLst/>
                <a:rect l="l" t="t" r="r" b="b"/>
                <a:pathLst>
                  <a:path w="20637" h="9525">
                    <a:moveTo>
                      <a:pt x="0" y="0"/>
                    </a:moveTo>
                    <a:lnTo>
                      <a:pt x="20637" y="0"/>
                    </a:lnTo>
                  </a:path>
                </a:pathLst>
              </a:custGeom>
              <a:noFill/>
              <a:ln w="20637">
                <a:solidFill>
                  <a:srgbClr val="FFFFFF"/>
                </a:solidFill>
              </a:ln>
            </p:spPr>
          </p:sp>
        </p:grpSp>
        <p:sp>
          <p:nvSpPr>
            <p:cNvPr id="27" name="TextBox 27"/>
            <p:cNvSpPr txBox="1"/>
            <p:nvPr/>
          </p:nvSpPr>
          <p:spPr>
            <a:xfrm>
              <a:off x="3738562" y="787241"/>
              <a:ext cx="622181"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到期承接率​</a:t>
              </a:r>
            </a:p>
          </p:txBody>
        </p:sp>
        <p:sp>
          <p:nvSpPr>
            <p:cNvPr id="28" name="TextBox 28"/>
            <p:cNvSpPr txBox="1"/>
            <p:nvPr/>
          </p:nvSpPr>
          <p:spPr>
            <a:xfrm>
              <a:off x="3734943" y="964882"/>
              <a:ext cx="704790"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≥88%​</a:t>
              </a:r>
            </a:p>
          </p:txBody>
        </p:sp>
        <p:sp>
          <p:nvSpPr>
            <p:cNvPr id="29" name="Line 29"/>
            <p:cNvSpPr/>
            <p:nvPr/>
          </p:nvSpPr>
          <p:spPr>
            <a:xfrm>
              <a:off x="5076825" y="781050"/>
              <a:ext cx="9525" cy="381000"/>
            </a:xfrm>
            <a:custGeom>
              <a:avLst/>
              <a:gdLst/>
              <a:ahLst/>
              <a:cxnLst/>
              <a:rect l="l" t="t" r="r" b="b"/>
              <a:pathLst>
                <a:path w="9525" h="381000">
                  <a:moveTo>
                    <a:pt x="0" y="0"/>
                  </a:moveTo>
                  <a:lnTo>
                    <a:pt x="0" y="381000"/>
                  </a:lnTo>
                </a:path>
              </a:pathLst>
            </a:custGeom>
            <a:noFill/>
            <a:ln w="9525">
              <a:solidFill>
                <a:srgbClr val="D9E8E2"/>
              </a:solidFill>
            </a:ln>
          </p:spPr>
        </p:sp>
        <p:sp>
          <p:nvSpPr>
            <p:cNvPr id="30" name="TextBox 30"/>
            <p:cNvSpPr txBox="1"/>
            <p:nvPr/>
          </p:nvSpPr>
          <p:spPr>
            <a:xfrm>
              <a:off x="5186362" y="822484"/>
              <a:ext cx="460238"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较Q3提升​</a:t>
              </a:r>
            </a:p>
          </p:txBody>
        </p:sp>
        <p:sp>
          <p:nvSpPr>
            <p:cNvPr id="31" name="TextBox 31"/>
            <p:cNvSpPr txBox="1"/>
            <p:nvPr/>
          </p:nvSpPr>
          <p:spPr>
            <a:xfrm>
              <a:off x="5185791" y="991552"/>
              <a:ext cx="500449" cy="205359"/>
            </a:xfrm>
            <a:prstGeom prst="rect">
              <a:avLst/>
            </a:prstGeom>
            <a:noFill/>
            <a:ln>
              <a:noFill/>
            </a:ln>
          </p:spPr>
          <p:txBody>
            <a:bodyPr wrap="none" lIns="0" tIns="0" rIns="0" bIns="0" anchor="t" anchorCtr="0">
              <a:spAutoFit/>
            </a:bodyPr>
            <a:lstStyle/>
            <a:p>
              <a:pPr algn="l"/>
              <a:r>
                <a:rPr lang="en-US" sz="1050" b="1" dirty="0">
                  <a:solidFill>
                    <a:srgbClr val="9E402E"/>
                  </a:solidFill>
                  <a:latin typeface="+mn-lt"/>
                  <a:ea typeface="+mn-ea"/>
                  <a:cs typeface="+mn-cs"/>
                </a:rPr>
                <a:t>+6pct​</a:t>
              </a:r>
            </a:p>
          </p:txBody>
        </p:sp>
        <p:sp>
          <p:nvSpPr>
            <p:cNvPr id="32" name="Rectangle 32"/>
            <p:cNvSpPr/>
            <p:nvPr/>
          </p:nvSpPr>
          <p:spPr>
            <a:xfrm>
              <a:off x="6153150" y="666750"/>
              <a:ext cx="2838450" cy="609600"/>
            </a:xfrm>
            <a:prstGeom prst="roundRect">
              <a:avLst>
                <a:gd name="adj" fmla="val 12500"/>
              </a:avLst>
            </a:prstGeom>
            <a:solidFill>
              <a:srgbClr val="F5FAF8"/>
            </a:solidFill>
            <a:ln w="9525">
              <a:solidFill>
                <a:srgbClr val="D9E8E2"/>
              </a:solidFill>
            </a:ln>
          </p:spPr>
        </p:sp>
        <p:sp>
          <p:nvSpPr>
            <p:cNvPr id="33" name="Ellipse 33"/>
            <p:cNvSpPr/>
            <p:nvPr/>
          </p:nvSpPr>
          <p:spPr>
            <a:xfrm>
              <a:off x="6267450" y="800100"/>
              <a:ext cx="342900" cy="342900"/>
            </a:xfrm>
            <a:prstGeom prst="ellipse">
              <a:avLst/>
            </a:prstGeom>
            <a:solidFill>
              <a:srgbClr val="5B180B"/>
            </a:solidFill>
            <a:ln>
              <a:noFill/>
            </a:ln>
          </p:spPr>
        </p:sp>
        <p:grpSp>
          <p:nvGrpSpPr>
            <p:cNvPr id="38" name="Group 38"/>
            <p:cNvGrpSpPr/>
            <p:nvPr/>
          </p:nvGrpSpPr>
          <p:grpSpPr>
            <a:xfrm>
              <a:off x="6346031" y="878681"/>
              <a:ext cx="185737" cy="185738"/>
              <a:chOff x="6346031" y="878681"/>
              <a:chExt cx="185737" cy="185738"/>
            </a:xfrm>
          </p:grpSpPr>
          <p:sp>
            <p:nvSpPr>
              <p:cNvPr id="34" name="Freeform 34"/>
              <p:cNvSpPr/>
              <p:nvPr/>
            </p:nvSpPr>
            <p:spPr>
              <a:xfrm>
                <a:off x="6366669" y="8786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35" name="Freeform 35"/>
              <p:cNvSpPr/>
              <p:nvPr/>
            </p:nvSpPr>
            <p:spPr>
              <a:xfrm>
                <a:off x="6346031" y="10025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36" name="Freeform 36"/>
              <p:cNvSpPr/>
              <p:nvPr/>
            </p:nvSpPr>
            <p:spPr>
              <a:xfrm>
                <a:off x="6480174" y="8800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37" name="Freeform 37"/>
              <p:cNvSpPr/>
              <p:nvPr/>
            </p:nvSpPr>
            <p:spPr>
              <a:xfrm>
                <a:off x="6500812" y="10040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39" name="TextBox 39"/>
            <p:cNvSpPr txBox="1"/>
            <p:nvPr/>
          </p:nvSpPr>
          <p:spPr>
            <a:xfrm>
              <a:off x="6700838" y="787241"/>
              <a:ext cx="842957"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重点客户留存率​</a:t>
              </a:r>
            </a:p>
          </p:txBody>
        </p:sp>
        <p:sp>
          <p:nvSpPr>
            <p:cNvPr id="40" name="TextBox 40"/>
            <p:cNvSpPr txBox="1"/>
            <p:nvPr/>
          </p:nvSpPr>
          <p:spPr>
            <a:xfrm>
              <a:off x="6697218" y="964882"/>
              <a:ext cx="704790"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≥92%​</a:t>
              </a:r>
            </a:p>
          </p:txBody>
        </p:sp>
        <p:sp>
          <p:nvSpPr>
            <p:cNvPr id="41" name="Line 41"/>
            <p:cNvSpPr/>
            <p:nvPr/>
          </p:nvSpPr>
          <p:spPr>
            <a:xfrm>
              <a:off x="8039100" y="781050"/>
              <a:ext cx="9525" cy="381000"/>
            </a:xfrm>
            <a:custGeom>
              <a:avLst/>
              <a:gdLst/>
              <a:ahLst/>
              <a:cxnLst/>
              <a:rect l="l" t="t" r="r" b="b"/>
              <a:pathLst>
                <a:path w="9525" h="381000">
                  <a:moveTo>
                    <a:pt x="0" y="0"/>
                  </a:moveTo>
                  <a:lnTo>
                    <a:pt x="0" y="381000"/>
                  </a:lnTo>
                </a:path>
              </a:pathLst>
            </a:custGeom>
            <a:noFill/>
            <a:ln w="9525">
              <a:solidFill>
                <a:srgbClr val="D9E8E2"/>
              </a:solidFill>
            </a:ln>
          </p:spPr>
        </p:sp>
        <p:sp>
          <p:nvSpPr>
            <p:cNvPr id="42" name="TextBox 42"/>
            <p:cNvSpPr txBox="1"/>
            <p:nvPr/>
          </p:nvSpPr>
          <p:spPr>
            <a:xfrm>
              <a:off x="8148638" y="822484"/>
              <a:ext cx="460238"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较Q3提升​</a:t>
              </a:r>
            </a:p>
          </p:txBody>
        </p:sp>
        <p:sp>
          <p:nvSpPr>
            <p:cNvPr id="43" name="TextBox 43"/>
            <p:cNvSpPr txBox="1"/>
            <p:nvPr/>
          </p:nvSpPr>
          <p:spPr>
            <a:xfrm>
              <a:off x="8148066" y="991552"/>
              <a:ext cx="500449" cy="205359"/>
            </a:xfrm>
            <a:prstGeom prst="rect">
              <a:avLst/>
            </a:prstGeom>
            <a:noFill/>
            <a:ln>
              <a:noFill/>
            </a:ln>
          </p:spPr>
          <p:txBody>
            <a:bodyPr wrap="none" lIns="0" tIns="0" rIns="0" bIns="0" anchor="t" anchorCtr="0">
              <a:spAutoFit/>
            </a:bodyPr>
            <a:lstStyle/>
            <a:p>
              <a:pPr algn="l"/>
              <a:r>
                <a:rPr lang="en-US" sz="1050" b="1" dirty="0">
                  <a:solidFill>
                    <a:srgbClr val="9E402E"/>
                  </a:solidFill>
                  <a:latin typeface="+mn-lt"/>
                  <a:ea typeface="+mn-ea"/>
                  <a:cs typeface="+mn-cs"/>
                </a:rPr>
                <a:t>+4pct​</a:t>
              </a:r>
            </a:p>
          </p:txBody>
        </p:sp>
        <p:sp>
          <p:nvSpPr>
            <p:cNvPr id="44" name="Rectangle 44"/>
            <p:cNvSpPr/>
            <p:nvPr/>
          </p:nvSpPr>
          <p:spPr>
            <a:xfrm>
              <a:off x="9115425" y="666750"/>
              <a:ext cx="2838450" cy="609600"/>
            </a:xfrm>
            <a:prstGeom prst="roundRect">
              <a:avLst>
                <a:gd name="adj" fmla="val 12500"/>
              </a:avLst>
            </a:prstGeom>
            <a:solidFill>
              <a:srgbClr val="F5FAF8"/>
            </a:solidFill>
            <a:ln w="9525">
              <a:solidFill>
                <a:srgbClr val="D9E8E2"/>
              </a:solidFill>
            </a:ln>
          </p:spPr>
        </p:sp>
        <p:sp>
          <p:nvSpPr>
            <p:cNvPr id="45" name="Ellipse 45"/>
            <p:cNvSpPr/>
            <p:nvPr/>
          </p:nvSpPr>
          <p:spPr>
            <a:xfrm>
              <a:off x="9229725" y="800100"/>
              <a:ext cx="342900" cy="342900"/>
            </a:xfrm>
            <a:prstGeom prst="ellipse">
              <a:avLst/>
            </a:prstGeom>
            <a:solidFill>
              <a:srgbClr val="5B180B"/>
            </a:solidFill>
            <a:ln>
              <a:noFill/>
            </a:ln>
          </p:spPr>
        </p:sp>
        <p:grpSp>
          <p:nvGrpSpPr>
            <p:cNvPr id="50" name="Group 50"/>
            <p:cNvGrpSpPr/>
            <p:nvPr/>
          </p:nvGrpSpPr>
          <p:grpSpPr>
            <a:xfrm>
              <a:off x="9308306" y="889000"/>
              <a:ext cx="185737" cy="174624"/>
              <a:chOff x="9308306" y="889000"/>
              <a:chExt cx="185737" cy="174624"/>
            </a:xfrm>
          </p:grpSpPr>
          <p:sp>
            <p:nvSpPr>
              <p:cNvPr id="46" name="Freeform 46"/>
              <p:cNvSpPr/>
              <p:nvPr/>
            </p:nvSpPr>
            <p:spPr>
              <a:xfrm>
                <a:off x="9308306" y="97155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FFFFFF"/>
                </a:solidFill>
              </a:ln>
            </p:spPr>
          </p:sp>
          <p:sp>
            <p:nvSpPr>
              <p:cNvPr id="47" name="Freeform 47"/>
              <p:cNvSpPr/>
              <p:nvPr/>
            </p:nvSpPr>
            <p:spPr>
              <a:xfrm>
                <a:off x="9432131" y="93027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FFFFFF"/>
                </a:solidFill>
              </a:ln>
            </p:spPr>
          </p:sp>
          <p:sp>
            <p:nvSpPr>
              <p:cNvPr id="48" name="Freeform 48"/>
              <p:cNvSpPr/>
              <p:nvPr/>
            </p:nvSpPr>
            <p:spPr>
              <a:xfrm>
                <a:off x="9370218" y="88900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FFFFFF"/>
                </a:solidFill>
              </a:ln>
            </p:spPr>
          </p:sp>
          <p:sp>
            <p:nvSpPr>
              <p:cNvPr id="49" name="Freeform 49"/>
              <p:cNvSpPr/>
              <p:nvPr/>
            </p:nvSpPr>
            <p:spPr>
              <a:xfrm>
                <a:off x="9318625" y="1054099"/>
                <a:ext cx="144462" cy="9525"/>
              </a:xfrm>
              <a:custGeom>
                <a:avLst/>
                <a:gdLst/>
                <a:ahLst/>
                <a:cxnLst/>
                <a:rect l="l" t="t" r="r" b="b"/>
                <a:pathLst>
                  <a:path w="144462" h="9525">
                    <a:moveTo>
                      <a:pt x="0" y="0"/>
                    </a:moveTo>
                    <a:lnTo>
                      <a:pt x="144462" y="0"/>
                    </a:lnTo>
                  </a:path>
                </a:pathLst>
              </a:custGeom>
              <a:noFill/>
              <a:ln w="20637">
                <a:solidFill>
                  <a:srgbClr val="FFFFFF"/>
                </a:solidFill>
              </a:ln>
            </p:spPr>
          </p:sp>
        </p:grpSp>
        <p:sp>
          <p:nvSpPr>
            <p:cNvPr id="51" name="TextBox 51"/>
            <p:cNvSpPr txBox="1"/>
            <p:nvPr/>
          </p:nvSpPr>
          <p:spPr>
            <a:xfrm>
              <a:off x="9663112" y="787241"/>
              <a:ext cx="732569"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活期占比提升​</a:t>
              </a:r>
            </a:p>
          </p:txBody>
        </p:sp>
        <p:sp>
          <p:nvSpPr>
            <p:cNvPr id="52" name="TextBox 52"/>
            <p:cNvSpPr txBox="1"/>
            <p:nvPr/>
          </p:nvSpPr>
          <p:spPr>
            <a:xfrm>
              <a:off x="9659493" y="964882"/>
              <a:ext cx="729779"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2.5</a:t>
              </a:r>
              <a:r>
                <a:rPr lang="en-US" sz="900" dirty="0">
                  <a:solidFill>
                    <a:srgbClr val="5F6F6A"/>
                  </a:solidFill>
                  <a:latin typeface="+mn-lt"/>
                  <a:ea typeface="+mn-ea"/>
                  <a:cs typeface="+mn-cs"/>
                </a:rPr>
                <a:t>pct</a:t>
              </a:r>
              <a:r>
                <a:rPr lang="zh-CN" sz="1650" b="1" dirty="0">
                  <a:solidFill>
                    <a:srgbClr val="5B180B"/>
                  </a:solidFill>
                  <a:latin typeface="+mn-lt"/>
                  <a:ea typeface="+mn-ea"/>
                  <a:cs typeface="+mn-cs"/>
                </a:rPr>
                <a:t>​</a:t>
              </a:r>
            </a:p>
          </p:txBody>
        </p:sp>
        <p:sp>
          <p:nvSpPr>
            <p:cNvPr id="53" name="Line 53"/>
            <p:cNvSpPr/>
            <p:nvPr/>
          </p:nvSpPr>
          <p:spPr>
            <a:xfrm>
              <a:off x="11001375" y="781050"/>
              <a:ext cx="9525" cy="381000"/>
            </a:xfrm>
            <a:custGeom>
              <a:avLst/>
              <a:gdLst/>
              <a:ahLst/>
              <a:cxnLst/>
              <a:rect l="l" t="t" r="r" b="b"/>
              <a:pathLst>
                <a:path w="9525" h="381000">
                  <a:moveTo>
                    <a:pt x="0" y="0"/>
                  </a:moveTo>
                  <a:lnTo>
                    <a:pt x="0" y="381000"/>
                  </a:lnTo>
                </a:path>
              </a:pathLst>
            </a:custGeom>
            <a:noFill/>
            <a:ln w="9525">
              <a:solidFill>
                <a:srgbClr val="D9E8E2"/>
              </a:solidFill>
            </a:ln>
          </p:spPr>
        </p:sp>
        <p:sp>
          <p:nvSpPr>
            <p:cNvPr id="54" name="TextBox 54"/>
            <p:cNvSpPr txBox="1"/>
            <p:nvPr/>
          </p:nvSpPr>
          <p:spPr>
            <a:xfrm>
              <a:off x="11110912" y="822484"/>
              <a:ext cx="460238"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较Q3提升​</a:t>
              </a:r>
            </a:p>
          </p:txBody>
        </p:sp>
        <p:sp>
          <p:nvSpPr>
            <p:cNvPr id="55" name="TextBox 55"/>
            <p:cNvSpPr txBox="1"/>
            <p:nvPr/>
          </p:nvSpPr>
          <p:spPr>
            <a:xfrm>
              <a:off x="11110341" y="991552"/>
              <a:ext cx="663710" cy="205359"/>
            </a:xfrm>
            <a:prstGeom prst="rect">
              <a:avLst/>
            </a:prstGeom>
            <a:noFill/>
            <a:ln>
              <a:noFill/>
            </a:ln>
          </p:spPr>
          <p:txBody>
            <a:bodyPr wrap="none" lIns="0" tIns="0" rIns="0" bIns="0" anchor="t" anchorCtr="0">
              <a:spAutoFit/>
            </a:bodyPr>
            <a:lstStyle/>
            <a:p>
              <a:pPr algn="l"/>
              <a:r>
                <a:rPr lang="en-US" sz="1050" b="1" dirty="0">
                  <a:solidFill>
                    <a:srgbClr val="9E402E"/>
                  </a:solidFill>
                  <a:latin typeface="+mn-lt"/>
                  <a:ea typeface="+mn-ea"/>
                  <a:cs typeface="+mn-cs"/>
                </a:rPr>
                <a:t>+2.5pct​</a:t>
              </a:r>
            </a:p>
          </p:txBody>
        </p:sp>
      </p:grpSp>
      <p:grpSp>
        <p:nvGrpSpPr>
          <p:cNvPr id="140" name="fund-map"/>
          <p:cNvGrpSpPr/>
          <p:nvPr/>
        </p:nvGrpSpPr>
        <p:grpSpPr>
          <a:xfrm>
            <a:off x="228600" y="1371600"/>
            <a:ext cx="4629150" cy="2238613"/>
            <a:chOff x="228600" y="1371600"/>
            <a:chExt cx="4629150" cy="2238613"/>
          </a:xfrm>
        </p:grpSpPr>
        <p:sp>
          <p:nvSpPr>
            <p:cNvPr id="57" name="Rectangle 57"/>
            <p:cNvSpPr/>
            <p:nvPr/>
          </p:nvSpPr>
          <p:spPr>
            <a:xfrm>
              <a:off x="228600" y="1371600"/>
              <a:ext cx="4629150" cy="2228850"/>
            </a:xfrm>
            <a:prstGeom prst="roundRect">
              <a:avLst>
                <a:gd name="adj" fmla="val 4274"/>
              </a:avLst>
            </a:prstGeom>
            <a:solidFill>
              <a:srgbClr val="F5FAF8"/>
            </a:solidFill>
            <a:ln w="9525">
              <a:solidFill>
                <a:srgbClr val="D9E8E2"/>
              </a:solidFill>
            </a:ln>
          </p:spPr>
        </p:sp>
        <p:sp>
          <p:nvSpPr>
            <p:cNvPr id="58" name="Rectangle 58"/>
            <p:cNvSpPr/>
            <p:nvPr/>
          </p:nvSpPr>
          <p:spPr>
            <a:xfrm>
              <a:off x="323850" y="1466850"/>
              <a:ext cx="285750" cy="190500"/>
            </a:xfrm>
            <a:prstGeom prst="roundRect">
              <a:avLst>
                <a:gd name="adj" fmla="val 15000"/>
              </a:avLst>
            </a:prstGeom>
            <a:solidFill>
              <a:srgbClr val="5B180B"/>
            </a:solidFill>
            <a:ln>
              <a:noFill/>
            </a:ln>
          </p:spPr>
        </p:sp>
        <p:sp>
          <p:nvSpPr>
            <p:cNvPr id="59" name="TextBox 59"/>
            <p:cNvSpPr txBox="1"/>
            <p:nvPr/>
          </p:nvSpPr>
          <p:spPr>
            <a:xfrm>
              <a:off x="366339" y="1520666"/>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01​</a:t>
              </a:r>
            </a:p>
          </p:txBody>
        </p:sp>
        <p:sp>
          <p:nvSpPr>
            <p:cNvPr id="60" name="TextBox 60"/>
            <p:cNvSpPr txBox="1"/>
            <p:nvPr/>
          </p:nvSpPr>
          <p:spPr>
            <a:xfrm>
              <a:off x="680847" y="1504474"/>
              <a:ext cx="2089240"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存款资金图谱</a:t>
              </a:r>
              <a:r>
                <a:rPr lang="zh-CN" sz="750" dirty="0">
                  <a:solidFill>
                    <a:srgbClr val="5F6F6A"/>
                  </a:solidFill>
                  <a:latin typeface="+mn-lt"/>
                  <a:ea typeface="+mn-ea"/>
                  <a:cs typeface="+mn-cs"/>
                </a:rPr>
                <a:t>（按到期月份与客户层级）</a:t>
              </a:r>
              <a:r>
                <a:rPr lang="zh-CN" sz="980" b="1" dirty="0">
                  <a:solidFill>
                    <a:srgbClr val="5B180B"/>
                  </a:solidFill>
                  <a:latin typeface="+mn-lt"/>
                  <a:ea typeface="+mn-ea"/>
                  <a:cs typeface="+mn-cs"/>
                </a:rPr>
                <a:t>​</a:t>
              </a:r>
            </a:p>
          </p:txBody>
        </p:sp>
        <p:sp>
          <p:nvSpPr>
            <p:cNvPr id="61" name="TextBox 61"/>
            <p:cNvSpPr txBox="1"/>
            <p:nvPr/>
          </p:nvSpPr>
          <p:spPr>
            <a:xfrm>
              <a:off x="338138" y="1740932"/>
              <a:ext cx="487695" cy="126206"/>
            </a:xfrm>
            <a:prstGeom prst="rect">
              <a:avLst/>
            </a:prstGeom>
            <a:noFill/>
            <a:ln>
              <a:noFill/>
            </a:ln>
          </p:spPr>
          <p:txBody>
            <a:bodyPr wrap="none" lIns="0" tIns="0" rIns="0" bIns="0" anchor="t" anchorCtr="0">
              <a:spAutoFit/>
            </a:bodyPr>
            <a:lstStyle/>
            <a:p>
              <a:pPr algn="l"/>
              <a:r>
                <a:rPr lang="zh-CN" sz="640" dirty="0">
                  <a:solidFill>
                    <a:srgbClr val="8AA39C"/>
                  </a:solidFill>
                  <a:latin typeface="+mn-lt"/>
                  <a:ea typeface="+mn-ea"/>
                  <a:cs typeface="+mn-cs"/>
                </a:rPr>
                <a:t>单位：亿元​</a:t>
              </a:r>
            </a:p>
          </p:txBody>
        </p:sp>
        <p:grpSp>
          <p:nvGrpSpPr>
            <p:cNvPr id="74" name="Group 74"/>
            <p:cNvGrpSpPr/>
            <p:nvPr/>
          </p:nvGrpSpPr>
          <p:grpSpPr>
            <a:xfrm>
              <a:off x="342900" y="1866900"/>
              <a:ext cx="4267200" cy="228600"/>
              <a:chOff x="342900" y="1866900"/>
              <a:chExt cx="4267200" cy="228600"/>
            </a:xfrm>
          </p:grpSpPr>
          <p:sp>
            <p:nvSpPr>
              <p:cNvPr id="62" name="Rectangle 62"/>
              <p:cNvSpPr/>
              <p:nvPr/>
            </p:nvSpPr>
            <p:spPr>
              <a:xfrm>
                <a:off x="342900" y="1866900"/>
                <a:ext cx="1238250" cy="228600"/>
              </a:xfrm>
              <a:prstGeom prst="rect">
                <a:avLst/>
              </a:prstGeom>
              <a:solidFill>
                <a:srgbClr val="5B180B"/>
              </a:solidFill>
              <a:ln>
                <a:noFill/>
              </a:ln>
            </p:spPr>
          </p:sp>
          <p:sp>
            <p:nvSpPr>
              <p:cNvPr id="63" name="TextBox 63"/>
              <p:cNvSpPr txBox="1"/>
              <p:nvPr/>
            </p:nvSpPr>
            <p:spPr>
              <a:xfrm>
                <a:off x="726179" y="1938338"/>
                <a:ext cx="47169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客户层级​</a:t>
                </a:r>
              </a:p>
            </p:txBody>
          </p:sp>
          <p:sp>
            <p:nvSpPr>
              <p:cNvPr id="64" name="Rectangle 64"/>
              <p:cNvSpPr/>
              <p:nvPr/>
            </p:nvSpPr>
            <p:spPr>
              <a:xfrm>
                <a:off x="1581150" y="1866900"/>
                <a:ext cx="628650" cy="228600"/>
              </a:xfrm>
              <a:prstGeom prst="rect">
                <a:avLst/>
              </a:prstGeom>
              <a:solidFill>
                <a:srgbClr val="5B180B"/>
              </a:solidFill>
              <a:ln>
                <a:noFill/>
              </a:ln>
            </p:spPr>
          </p:sp>
          <p:sp>
            <p:nvSpPr>
              <p:cNvPr id="65" name="TextBox 65"/>
              <p:cNvSpPr txBox="1"/>
              <p:nvPr/>
            </p:nvSpPr>
            <p:spPr>
              <a:xfrm>
                <a:off x="1651804" y="1938338"/>
                <a:ext cx="48734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10月到期​</a:t>
                </a:r>
              </a:p>
            </p:txBody>
          </p:sp>
          <p:sp>
            <p:nvSpPr>
              <p:cNvPr id="66" name="Rectangle 66"/>
              <p:cNvSpPr/>
              <p:nvPr/>
            </p:nvSpPr>
            <p:spPr>
              <a:xfrm>
                <a:off x="2209800" y="1866900"/>
                <a:ext cx="628650" cy="228600"/>
              </a:xfrm>
              <a:prstGeom prst="rect">
                <a:avLst/>
              </a:prstGeom>
              <a:solidFill>
                <a:srgbClr val="5B180B"/>
              </a:solidFill>
              <a:ln>
                <a:noFill/>
              </a:ln>
            </p:spPr>
          </p:sp>
          <p:sp>
            <p:nvSpPr>
              <p:cNvPr id="67" name="TextBox 67"/>
              <p:cNvSpPr txBox="1"/>
              <p:nvPr/>
            </p:nvSpPr>
            <p:spPr>
              <a:xfrm>
                <a:off x="2280454" y="1938338"/>
                <a:ext cx="48734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11月到期​</a:t>
                </a:r>
              </a:p>
            </p:txBody>
          </p:sp>
          <p:sp>
            <p:nvSpPr>
              <p:cNvPr id="68" name="Rectangle 68"/>
              <p:cNvSpPr/>
              <p:nvPr/>
            </p:nvSpPr>
            <p:spPr>
              <a:xfrm>
                <a:off x="2838450" y="1866900"/>
                <a:ext cx="628650" cy="228600"/>
              </a:xfrm>
              <a:prstGeom prst="rect">
                <a:avLst/>
              </a:prstGeom>
              <a:solidFill>
                <a:srgbClr val="5B180B"/>
              </a:solidFill>
              <a:ln>
                <a:noFill/>
              </a:ln>
            </p:spPr>
          </p:sp>
          <p:sp>
            <p:nvSpPr>
              <p:cNvPr id="69" name="TextBox 69"/>
              <p:cNvSpPr txBox="1"/>
              <p:nvPr/>
            </p:nvSpPr>
            <p:spPr>
              <a:xfrm>
                <a:off x="2909104" y="1938338"/>
                <a:ext cx="48734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12月到期​</a:t>
                </a:r>
              </a:p>
            </p:txBody>
          </p:sp>
          <p:sp>
            <p:nvSpPr>
              <p:cNvPr id="70" name="Rectangle 70"/>
              <p:cNvSpPr/>
              <p:nvPr/>
            </p:nvSpPr>
            <p:spPr>
              <a:xfrm>
                <a:off x="3467100" y="1866900"/>
                <a:ext cx="571500" cy="228600"/>
              </a:xfrm>
              <a:prstGeom prst="rect">
                <a:avLst/>
              </a:prstGeom>
              <a:solidFill>
                <a:srgbClr val="5B180B"/>
              </a:solidFill>
              <a:ln>
                <a:noFill/>
              </a:ln>
            </p:spPr>
          </p:sp>
          <p:sp>
            <p:nvSpPr>
              <p:cNvPr id="71" name="TextBox 71"/>
              <p:cNvSpPr txBox="1"/>
              <p:nvPr/>
            </p:nvSpPr>
            <p:spPr>
              <a:xfrm>
                <a:off x="3617969" y="1938338"/>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合计​</a:t>
                </a:r>
              </a:p>
            </p:txBody>
          </p:sp>
          <p:sp>
            <p:nvSpPr>
              <p:cNvPr id="72" name="Rectangle 72"/>
              <p:cNvSpPr/>
              <p:nvPr/>
            </p:nvSpPr>
            <p:spPr>
              <a:xfrm>
                <a:off x="4038600" y="1866900"/>
                <a:ext cx="571500" cy="228600"/>
              </a:xfrm>
              <a:prstGeom prst="rect">
                <a:avLst/>
              </a:prstGeom>
              <a:solidFill>
                <a:srgbClr val="5B180B"/>
              </a:solidFill>
              <a:ln>
                <a:noFill/>
              </a:ln>
            </p:spPr>
          </p:sp>
          <p:sp>
            <p:nvSpPr>
              <p:cNvPr id="73" name="TextBox 73"/>
              <p:cNvSpPr txBox="1"/>
              <p:nvPr/>
            </p:nvSpPr>
            <p:spPr>
              <a:xfrm>
                <a:off x="4189469" y="1938338"/>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占比​</a:t>
                </a:r>
              </a:p>
            </p:txBody>
          </p:sp>
        </p:grpSp>
        <p:grpSp>
          <p:nvGrpSpPr>
            <p:cNvPr id="130" name="Group 130"/>
            <p:cNvGrpSpPr/>
            <p:nvPr/>
          </p:nvGrpSpPr>
          <p:grpSpPr>
            <a:xfrm>
              <a:off x="303514" y="2095500"/>
              <a:ext cx="4306586" cy="1352550"/>
              <a:chOff x="303514" y="2095500"/>
              <a:chExt cx="4306586" cy="1352550"/>
            </a:xfrm>
          </p:grpSpPr>
          <p:sp>
            <p:nvSpPr>
              <p:cNvPr id="75" name="Rectangle 75"/>
              <p:cNvSpPr/>
              <p:nvPr/>
            </p:nvSpPr>
            <p:spPr>
              <a:xfrm>
                <a:off x="342900" y="2095500"/>
                <a:ext cx="1238250" cy="285750"/>
              </a:xfrm>
              <a:prstGeom prst="rect">
                <a:avLst/>
              </a:prstGeom>
              <a:solidFill>
                <a:srgbClr val="FFFFFF"/>
              </a:solidFill>
              <a:ln w="7620">
                <a:solidFill>
                  <a:srgbClr val="D9E8E2"/>
                </a:solidFill>
              </a:ln>
            </p:spPr>
          </p:sp>
          <p:sp>
            <p:nvSpPr>
              <p:cNvPr id="76" name="TextBox 76"/>
              <p:cNvSpPr txBox="1"/>
              <p:nvPr/>
            </p:nvSpPr>
            <p:spPr>
              <a:xfrm>
                <a:off x="520589" y="2195512"/>
                <a:ext cx="882872" cy="147638"/>
              </a:xfrm>
              <a:prstGeom prst="rect">
                <a:avLst/>
              </a:prstGeom>
              <a:noFill/>
              <a:ln>
                <a:noFill/>
              </a:ln>
            </p:spPr>
            <p:txBody>
              <a:bodyPr wrap="none" lIns="0" tIns="0" rIns="0" bIns="0" anchor="t" anchorCtr="0">
                <a:spAutoFit/>
              </a:bodyPr>
              <a:lstStyle/>
              <a:p>
                <a:pPr algn="ctr"/>
                <a:r>
                  <a:rPr lang="zh-CN" sz="750" dirty="0">
                    <a:solidFill>
                      <a:srgbClr val="312624"/>
                    </a:solidFill>
                    <a:latin typeface="+mn-lt"/>
                    <a:ea typeface="+mn-ea"/>
                    <a:cs typeface="+mn-cs"/>
                  </a:rPr>
                  <a:t>战略客户（≥1亿）​</a:t>
                </a:r>
              </a:p>
            </p:txBody>
          </p:sp>
          <p:sp>
            <p:nvSpPr>
              <p:cNvPr id="77" name="Rectangle 77"/>
              <p:cNvSpPr/>
              <p:nvPr/>
            </p:nvSpPr>
            <p:spPr>
              <a:xfrm>
                <a:off x="1581150" y="2095500"/>
                <a:ext cx="628650" cy="285750"/>
              </a:xfrm>
              <a:prstGeom prst="rect">
                <a:avLst/>
              </a:prstGeom>
              <a:solidFill>
                <a:srgbClr val="9A412F"/>
              </a:solidFill>
              <a:ln>
                <a:noFill/>
              </a:ln>
            </p:spPr>
          </p:sp>
          <p:sp>
            <p:nvSpPr>
              <p:cNvPr id="78" name="TextBox 78"/>
              <p:cNvSpPr txBox="1"/>
              <p:nvPr/>
            </p:nvSpPr>
            <p:spPr>
              <a:xfrm>
                <a:off x="1751886" y="2195512"/>
                <a:ext cx="287179"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12.0​</a:t>
                </a:r>
              </a:p>
            </p:txBody>
          </p:sp>
          <p:sp>
            <p:nvSpPr>
              <p:cNvPr id="79" name="Rectangle 79"/>
              <p:cNvSpPr/>
              <p:nvPr/>
            </p:nvSpPr>
            <p:spPr>
              <a:xfrm>
                <a:off x="2209800" y="2095500"/>
                <a:ext cx="628650" cy="285750"/>
              </a:xfrm>
              <a:prstGeom prst="rect">
                <a:avLst/>
              </a:prstGeom>
              <a:solidFill>
                <a:srgbClr val="5B180B"/>
              </a:solidFill>
              <a:ln>
                <a:noFill/>
              </a:ln>
            </p:spPr>
          </p:sp>
          <p:sp>
            <p:nvSpPr>
              <p:cNvPr id="80" name="TextBox 80"/>
              <p:cNvSpPr txBox="1"/>
              <p:nvPr/>
            </p:nvSpPr>
            <p:spPr>
              <a:xfrm>
                <a:off x="2380536" y="2195512"/>
                <a:ext cx="287179"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15.0​</a:t>
                </a:r>
              </a:p>
            </p:txBody>
          </p:sp>
          <p:sp>
            <p:nvSpPr>
              <p:cNvPr id="81" name="Rectangle 81"/>
              <p:cNvSpPr/>
              <p:nvPr/>
            </p:nvSpPr>
            <p:spPr>
              <a:xfrm>
                <a:off x="2838450" y="2095500"/>
                <a:ext cx="628650" cy="285750"/>
              </a:xfrm>
              <a:prstGeom prst="rect">
                <a:avLst/>
              </a:prstGeom>
              <a:solidFill>
                <a:srgbClr val="5B180B"/>
              </a:solidFill>
              <a:ln>
                <a:noFill/>
              </a:ln>
            </p:spPr>
          </p:sp>
          <p:sp>
            <p:nvSpPr>
              <p:cNvPr id="82" name="TextBox 82"/>
              <p:cNvSpPr txBox="1"/>
              <p:nvPr/>
            </p:nvSpPr>
            <p:spPr>
              <a:xfrm>
                <a:off x="3009186" y="2195512"/>
                <a:ext cx="287179"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18.0​</a:t>
                </a:r>
              </a:p>
            </p:txBody>
          </p:sp>
          <p:sp>
            <p:nvSpPr>
              <p:cNvPr id="83" name="Rectangle 83"/>
              <p:cNvSpPr/>
              <p:nvPr/>
            </p:nvSpPr>
            <p:spPr>
              <a:xfrm>
                <a:off x="3467100" y="2095500"/>
                <a:ext cx="571500" cy="285750"/>
              </a:xfrm>
              <a:prstGeom prst="rect">
                <a:avLst/>
              </a:prstGeom>
              <a:solidFill>
                <a:srgbClr val="FFFFFF"/>
              </a:solidFill>
              <a:ln w="7620">
                <a:solidFill>
                  <a:srgbClr val="D9E8E2"/>
                </a:solidFill>
              </a:ln>
            </p:spPr>
          </p:sp>
          <p:sp>
            <p:nvSpPr>
              <p:cNvPr id="84" name="TextBox 84"/>
              <p:cNvSpPr txBox="1"/>
              <p:nvPr/>
            </p:nvSpPr>
            <p:spPr>
              <a:xfrm>
                <a:off x="3602319" y="2195512"/>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45.0​</a:t>
                </a:r>
              </a:p>
            </p:txBody>
          </p:sp>
          <p:sp>
            <p:nvSpPr>
              <p:cNvPr id="85" name="Rectangle 85"/>
              <p:cNvSpPr/>
              <p:nvPr/>
            </p:nvSpPr>
            <p:spPr>
              <a:xfrm>
                <a:off x="4038600" y="2095500"/>
                <a:ext cx="571500" cy="285750"/>
              </a:xfrm>
              <a:prstGeom prst="rect">
                <a:avLst/>
              </a:prstGeom>
              <a:solidFill>
                <a:srgbClr val="FFFFFF"/>
              </a:solidFill>
              <a:ln w="7620">
                <a:solidFill>
                  <a:srgbClr val="D9E8E2"/>
                </a:solidFill>
              </a:ln>
            </p:spPr>
          </p:sp>
          <p:sp>
            <p:nvSpPr>
              <p:cNvPr id="86" name="TextBox 86"/>
              <p:cNvSpPr txBox="1"/>
              <p:nvPr/>
            </p:nvSpPr>
            <p:spPr>
              <a:xfrm>
                <a:off x="4198430" y="2195512"/>
                <a:ext cx="251841" cy="147638"/>
              </a:xfrm>
              <a:prstGeom prst="rect">
                <a:avLst/>
              </a:prstGeom>
              <a:noFill/>
              <a:ln>
                <a:noFill/>
              </a:ln>
            </p:spPr>
            <p:txBody>
              <a:bodyPr wrap="none" lIns="0" tIns="0" rIns="0" bIns="0" anchor="t" anchorCtr="0">
                <a:spAutoFit/>
              </a:bodyPr>
              <a:lstStyle/>
              <a:p>
                <a:pPr algn="ctr"/>
                <a:r>
                  <a:rPr lang="zh-CN" sz="750" dirty="0">
                    <a:solidFill>
                      <a:srgbClr val="312624"/>
                    </a:solidFill>
                    <a:latin typeface="+mn-lt"/>
                    <a:ea typeface="+mn-ea"/>
                    <a:cs typeface="+mn-cs"/>
                  </a:rPr>
                  <a:t>35%​</a:t>
                </a:r>
              </a:p>
            </p:txBody>
          </p:sp>
          <p:sp>
            <p:nvSpPr>
              <p:cNvPr id="87" name="Rectangle 87"/>
              <p:cNvSpPr/>
              <p:nvPr/>
            </p:nvSpPr>
            <p:spPr>
              <a:xfrm>
                <a:off x="342900" y="2381250"/>
                <a:ext cx="1238250" cy="285750"/>
              </a:xfrm>
              <a:prstGeom prst="rect">
                <a:avLst/>
              </a:prstGeom>
              <a:solidFill>
                <a:srgbClr val="F7FBF9"/>
              </a:solidFill>
              <a:ln w="7620">
                <a:solidFill>
                  <a:srgbClr val="D9E8E2"/>
                </a:solidFill>
              </a:ln>
            </p:spPr>
          </p:sp>
          <p:sp>
            <p:nvSpPr>
              <p:cNvPr id="88" name="TextBox 88"/>
              <p:cNvSpPr txBox="1"/>
              <p:nvPr/>
            </p:nvSpPr>
            <p:spPr>
              <a:xfrm>
                <a:off x="359045" y="2481262"/>
                <a:ext cx="1205960" cy="147638"/>
              </a:xfrm>
              <a:prstGeom prst="rect">
                <a:avLst/>
              </a:prstGeom>
              <a:noFill/>
              <a:ln>
                <a:noFill/>
              </a:ln>
            </p:spPr>
            <p:txBody>
              <a:bodyPr wrap="none" lIns="0" tIns="0" rIns="0" bIns="0" anchor="t" anchorCtr="0">
                <a:spAutoFit/>
              </a:bodyPr>
              <a:lstStyle/>
              <a:p>
                <a:pPr algn="ctr"/>
                <a:r>
                  <a:rPr lang="zh-CN" sz="750" dirty="0">
                    <a:solidFill>
                      <a:srgbClr val="312624"/>
                    </a:solidFill>
                    <a:latin typeface="+mn-lt"/>
                    <a:ea typeface="+mn-ea"/>
                    <a:cs typeface="+mn-cs"/>
                  </a:rPr>
                  <a:t>重点客户（1000万-1亿）​</a:t>
                </a:r>
              </a:p>
            </p:txBody>
          </p:sp>
          <p:sp>
            <p:nvSpPr>
              <p:cNvPr id="89" name="Rectangle 89"/>
              <p:cNvSpPr/>
              <p:nvPr/>
            </p:nvSpPr>
            <p:spPr>
              <a:xfrm>
                <a:off x="1581150" y="2381250"/>
                <a:ext cx="628650" cy="285750"/>
              </a:xfrm>
              <a:prstGeom prst="rect">
                <a:avLst/>
              </a:prstGeom>
              <a:solidFill>
                <a:srgbClr val="9A412F"/>
              </a:solidFill>
              <a:ln>
                <a:noFill/>
              </a:ln>
            </p:spPr>
          </p:sp>
          <p:sp>
            <p:nvSpPr>
              <p:cNvPr id="90" name="TextBox 90"/>
              <p:cNvSpPr txBox="1"/>
              <p:nvPr/>
            </p:nvSpPr>
            <p:spPr>
              <a:xfrm>
                <a:off x="1751886" y="2481262"/>
                <a:ext cx="287179"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10.0​</a:t>
                </a:r>
              </a:p>
            </p:txBody>
          </p:sp>
          <p:sp>
            <p:nvSpPr>
              <p:cNvPr id="91" name="Rectangle 91"/>
              <p:cNvSpPr/>
              <p:nvPr/>
            </p:nvSpPr>
            <p:spPr>
              <a:xfrm>
                <a:off x="2209800" y="2381250"/>
                <a:ext cx="628650" cy="285750"/>
              </a:xfrm>
              <a:prstGeom prst="rect">
                <a:avLst/>
              </a:prstGeom>
              <a:solidFill>
                <a:srgbClr val="9A412F"/>
              </a:solidFill>
              <a:ln>
                <a:noFill/>
              </a:ln>
            </p:spPr>
          </p:sp>
          <p:sp>
            <p:nvSpPr>
              <p:cNvPr id="92" name="TextBox 92"/>
              <p:cNvSpPr txBox="1"/>
              <p:nvPr/>
            </p:nvSpPr>
            <p:spPr>
              <a:xfrm>
                <a:off x="2380536" y="2481262"/>
                <a:ext cx="287179"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12.0​</a:t>
                </a:r>
              </a:p>
            </p:txBody>
          </p:sp>
          <p:sp>
            <p:nvSpPr>
              <p:cNvPr id="93" name="Rectangle 93"/>
              <p:cNvSpPr/>
              <p:nvPr/>
            </p:nvSpPr>
            <p:spPr>
              <a:xfrm>
                <a:off x="2838450" y="2381250"/>
                <a:ext cx="628650" cy="285750"/>
              </a:xfrm>
              <a:prstGeom prst="rect">
                <a:avLst/>
              </a:prstGeom>
              <a:solidFill>
                <a:srgbClr val="9A412F"/>
              </a:solidFill>
              <a:ln>
                <a:noFill/>
              </a:ln>
            </p:spPr>
          </p:sp>
          <p:sp>
            <p:nvSpPr>
              <p:cNvPr id="94" name="TextBox 94"/>
              <p:cNvSpPr txBox="1"/>
              <p:nvPr/>
            </p:nvSpPr>
            <p:spPr>
              <a:xfrm>
                <a:off x="3009186" y="2481262"/>
                <a:ext cx="287179"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13.0​</a:t>
                </a:r>
              </a:p>
            </p:txBody>
          </p:sp>
          <p:sp>
            <p:nvSpPr>
              <p:cNvPr id="95" name="Rectangle 95"/>
              <p:cNvSpPr/>
              <p:nvPr/>
            </p:nvSpPr>
            <p:spPr>
              <a:xfrm>
                <a:off x="3467100" y="2381250"/>
                <a:ext cx="571500" cy="285750"/>
              </a:xfrm>
              <a:prstGeom prst="rect">
                <a:avLst/>
              </a:prstGeom>
              <a:solidFill>
                <a:srgbClr val="F7FBF9"/>
              </a:solidFill>
              <a:ln w="7620">
                <a:solidFill>
                  <a:srgbClr val="D9E8E2"/>
                </a:solidFill>
              </a:ln>
            </p:spPr>
          </p:sp>
          <p:sp>
            <p:nvSpPr>
              <p:cNvPr id="96" name="TextBox 96"/>
              <p:cNvSpPr txBox="1"/>
              <p:nvPr/>
            </p:nvSpPr>
            <p:spPr>
              <a:xfrm>
                <a:off x="3602319" y="2481262"/>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35.0​</a:t>
                </a:r>
              </a:p>
            </p:txBody>
          </p:sp>
          <p:sp>
            <p:nvSpPr>
              <p:cNvPr id="97" name="Rectangle 97"/>
              <p:cNvSpPr/>
              <p:nvPr/>
            </p:nvSpPr>
            <p:spPr>
              <a:xfrm>
                <a:off x="4038600" y="2381250"/>
                <a:ext cx="571500" cy="285750"/>
              </a:xfrm>
              <a:prstGeom prst="rect">
                <a:avLst/>
              </a:prstGeom>
              <a:solidFill>
                <a:srgbClr val="F7FBF9"/>
              </a:solidFill>
              <a:ln w="7620">
                <a:solidFill>
                  <a:srgbClr val="D9E8E2"/>
                </a:solidFill>
              </a:ln>
            </p:spPr>
          </p:sp>
          <p:sp>
            <p:nvSpPr>
              <p:cNvPr id="98" name="TextBox 98"/>
              <p:cNvSpPr txBox="1"/>
              <p:nvPr/>
            </p:nvSpPr>
            <p:spPr>
              <a:xfrm>
                <a:off x="4198430" y="2481262"/>
                <a:ext cx="251841" cy="147638"/>
              </a:xfrm>
              <a:prstGeom prst="rect">
                <a:avLst/>
              </a:prstGeom>
              <a:noFill/>
              <a:ln>
                <a:noFill/>
              </a:ln>
            </p:spPr>
            <p:txBody>
              <a:bodyPr wrap="none" lIns="0" tIns="0" rIns="0" bIns="0" anchor="t" anchorCtr="0">
                <a:spAutoFit/>
              </a:bodyPr>
              <a:lstStyle/>
              <a:p>
                <a:pPr algn="ctr"/>
                <a:r>
                  <a:rPr lang="zh-CN" sz="750" dirty="0">
                    <a:solidFill>
                      <a:srgbClr val="312624"/>
                    </a:solidFill>
                    <a:latin typeface="+mn-lt"/>
                    <a:ea typeface="+mn-ea"/>
                    <a:cs typeface="+mn-cs"/>
                  </a:rPr>
                  <a:t>27%​</a:t>
                </a:r>
              </a:p>
            </p:txBody>
          </p:sp>
          <p:sp>
            <p:nvSpPr>
              <p:cNvPr id="99" name="Rectangle 99"/>
              <p:cNvSpPr/>
              <p:nvPr/>
            </p:nvSpPr>
            <p:spPr>
              <a:xfrm>
                <a:off x="342900" y="2667000"/>
                <a:ext cx="1238250" cy="285750"/>
              </a:xfrm>
              <a:prstGeom prst="rect">
                <a:avLst/>
              </a:prstGeom>
              <a:solidFill>
                <a:srgbClr val="FFFFFF"/>
              </a:solidFill>
              <a:ln w="7620">
                <a:solidFill>
                  <a:srgbClr val="D9E8E2"/>
                </a:solidFill>
              </a:ln>
            </p:spPr>
          </p:sp>
          <p:sp>
            <p:nvSpPr>
              <p:cNvPr id="100" name="TextBox 100"/>
              <p:cNvSpPr txBox="1"/>
              <p:nvPr/>
            </p:nvSpPr>
            <p:spPr>
              <a:xfrm>
                <a:off x="303514" y="2767012"/>
                <a:ext cx="1317022" cy="147638"/>
              </a:xfrm>
              <a:prstGeom prst="rect">
                <a:avLst/>
              </a:prstGeom>
              <a:noFill/>
              <a:ln>
                <a:noFill/>
              </a:ln>
            </p:spPr>
            <p:txBody>
              <a:bodyPr wrap="none" lIns="0" tIns="0" rIns="0" bIns="0" anchor="t" anchorCtr="0">
                <a:spAutoFit/>
              </a:bodyPr>
              <a:lstStyle/>
              <a:p>
                <a:pPr algn="ctr"/>
                <a:r>
                  <a:rPr lang="zh-CN" sz="750" dirty="0">
                    <a:solidFill>
                      <a:srgbClr val="312624"/>
                    </a:solidFill>
                    <a:latin typeface="+mn-lt"/>
                    <a:ea typeface="+mn-ea"/>
                    <a:cs typeface="+mn-cs"/>
                  </a:rPr>
                  <a:t>潜力客户（100万-1000万）​</a:t>
                </a:r>
              </a:p>
            </p:txBody>
          </p:sp>
          <p:sp>
            <p:nvSpPr>
              <p:cNvPr id="101" name="Rectangle 101"/>
              <p:cNvSpPr/>
              <p:nvPr/>
            </p:nvSpPr>
            <p:spPr>
              <a:xfrm>
                <a:off x="1581150" y="2667000"/>
                <a:ext cx="628650" cy="285750"/>
              </a:xfrm>
              <a:prstGeom prst="rect">
                <a:avLst/>
              </a:prstGeom>
              <a:solidFill>
                <a:srgbClr val="C9988F"/>
              </a:solidFill>
              <a:ln>
                <a:noFill/>
              </a:ln>
            </p:spPr>
          </p:sp>
          <p:sp>
            <p:nvSpPr>
              <p:cNvPr id="102" name="TextBox 102"/>
              <p:cNvSpPr txBox="1"/>
              <p:nvPr/>
            </p:nvSpPr>
            <p:spPr>
              <a:xfrm>
                <a:off x="1779651" y="2767012"/>
                <a:ext cx="231648" cy="147638"/>
              </a:xfrm>
              <a:prstGeom prst="rect">
                <a:avLst/>
              </a:prstGeom>
              <a:noFill/>
              <a:ln>
                <a:noFill/>
              </a:ln>
            </p:spPr>
            <p:txBody>
              <a:bodyPr wrap="none" lIns="0" tIns="0" rIns="0" bIns="0" anchor="t" anchorCtr="0">
                <a:spAutoFit/>
              </a:bodyPr>
              <a:lstStyle/>
              <a:p>
                <a:pPr algn="ctr"/>
                <a:r>
                  <a:rPr lang="zh-CN" sz="750" dirty="0">
                    <a:solidFill>
                      <a:srgbClr val="3B130B"/>
                    </a:solidFill>
                    <a:latin typeface="+mn-lt"/>
                    <a:ea typeface="+mn-ea"/>
                    <a:cs typeface="+mn-cs"/>
                  </a:rPr>
                  <a:t>8.0​</a:t>
                </a:r>
              </a:p>
            </p:txBody>
          </p:sp>
          <p:sp>
            <p:nvSpPr>
              <p:cNvPr id="103" name="Rectangle 103"/>
              <p:cNvSpPr/>
              <p:nvPr/>
            </p:nvSpPr>
            <p:spPr>
              <a:xfrm>
                <a:off x="2209800" y="2667000"/>
                <a:ext cx="628650" cy="285750"/>
              </a:xfrm>
              <a:prstGeom prst="rect">
                <a:avLst/>
              </a:prstGeom>
              <a:solidFill>
                <a:srgbClr val="C9988F"/>
              </a:solidFill>
              <a:ln>
                <a:noFill/>
              </a:ln>
            </p:spPr>
          </p:sp>
          <p:sp>
            <p:nvSpPr>
              <p:cNvPr id="104" name="TextBox 104"/>
              <p:cNvSpPr txBox="1"/>
              <p:nvPr/>
            </p:nvSpPr>
            <p:spPr>
              <a:xfrm>
                <a:off x="2408301" y="2767012"/>
                <a:ext cx="231648" cy="147638"/>
              </a:xfrm>
              <a:prstGeom prst="rect">
                <a:avLst/>
              </a:prstGeom>
              <a:noFill/>
              <a:ln>
                <a:noFill/>
              </a:ln>
            </p:spPr>
            <p:txBody>
              <a:bodyPr wrap="none" lIns="0" tIns="0" rIns="0" bIns="0" anchor="t" anchorCtr="0">
                <a:spAutoFit/>
              </a:bodyPr>
              <a:lstStyle/>
              <a:p>
                <a:pPr algn="ctr"/>
                <a:r>
                  <a:rPr lang="zh-CN" sz="750" dirty="0">
                    <a:solidFill>
                      <a:srgbClr val="3B130B"/>
                    </a:solidFill>
                    <a:latin typeface="+mn-lt"/>
                    <a:ea typeface="+mn-ea"/>
                    <a:cs typeface="+mn-cs"/>
                  </a:rPr>
                  <a:t>9.0​</a:t>
                </a:r>
              </a:p>
            </p:txBody>
          </p:sp>
          <p:sp>
            <p:nvSpPr>
              <p:cNvPr id="105" name="Rectangle 105"/>
              <p:cNvSpPr/>
              <p:nvPr/>
            </p:nvSpPr>
            <p:spPr>
              <a:xfrm>
                <a:off x="2838450" y="2667000"/>
                <a:ext cx="628650" cy="285750"/>
              </a:xfrm>
              <a:prstGeom prst="rect">
                <a:avLst/>
              </a:prstGeom>
              <a:solidFill>
                <a:srgbClr val="9A412F"/>
              </a:solidFill>
              <a:ln>
                <a:noFill/>
              </a:ln>
            </p:spPr>
          </p:sp>
          <p:sp>
            <p:nvSpPr>
              <p:cNvPr id="106" name="TextBox 106"/>
              <p:cNvSpPr txBox="1"/>
              <p:nvPr/>
            </p:nvSpPr>
            <p:spPr>
              <a:xfrm>
                <a:off x="3009186" y="2767012"/>
                <a:ext cx="287179"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11.0​</a:t>
                </a:r>
              </a:p>
            </p:txBody>
          </p:sp>
          <p:sp>
            <p:nvSpPr>
              <p:cNvPr id="107" name="Rectangle 107"/>
              <p:cNvSpPr/>
              <p:nvPr/>
            </p:nvSpPr>
            <p:spPr>
              <a:xfrm>
                <a:off x="3467100" y="2667000"/>
                <a:ext cx="571500" cy="285750"/>
              </a:xfrm>
              <a:prstGeom prst="rect">
                <a:avLst/>
              </a:prstGeom>
              <a:solidFill>
                <a:srgbClr val="FFFFFF"/>
              </a:solidFill>
              <a:ln w="7620">
                <a:solidFill>
                  <a:srgbClr val="D9E8E2"/>
                </a:solidFill>
              </a:ln>
            </p:spPr>
          </p:sp>
          <p:sp>
            <p:nvSpPr>
              <p:cNvPr id="108" name="TextBox 108"/>
              <p:cNvSpPr txBox="1"/>
              <p:nvPr/>
            </p:nvSpPr>
            <p:spPr>
              <a:xfrm>
                <a:off x="3602319" y="2767012"/>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28.0​</a:t>
                </a:r>
              </a:p>
            </p:txBody>
          </p:sp>
          <p:sp>
            <p:nvSpPr>
              <p:cNvPr id="109" name="Rectangle 109"/>
              <p:cNvSpPr/>
              <p:nvPr/>
            </p:nvSpPr>
            <p:spPr>
              <a:xfrm>
                <a:off x="4038600" y="2667000"/>
                <a:ext cx="571500" cy="285750"/>
              </a:xfrm>
              <a:prstGeom prst="rect">
                <a:avLst/>
              </a:prstGeom>
              <a:solidFill>
                <a:srgbClr val="FFFFFF"/>
              </a:solidFill>
              <a:ln w="7620">
                <a:solidFill>
                  <a:srgbClr val="D9E8E2"/>
                </a:solidFill>
              </a:ln>
            </p:spPr>
          </p:sp>
          <p:sp>
            <p:nvSpPr>
              <p:cNvPr id="110" name="TextBox 110"/>
              <p:cNvSpPr txBox="1"/>
              <p:nvPr/>
            </p:nvSpPr>
            <p:spPr>
              <a:xfrm>
                <a:off x="4198430" y="2767012"/>
                <a:ext cx="251841" cy="147638"/>
              </a:xfrm>
              <a:prstGeom prst="rect">
                <a:avLst/>
              </a:prstGeom>
              <a:noFill/>
              <a:ln>
                <a:noFill/>
              </a:ln>
            </p:spPr>
            <p:txBody>
              <a:bodyPr wrap="none" lIns="0" tIns="0" rIns="0" bIns="0" anchor="t" anchorCtr="0">
                <a:spAutoFit/>
              </a:bodyPr>
              <a:lstStyle/>
              <a:p>
                <a:pPr algn="ctr"/>
                <a:r>
                  <a:rPr lang="zh-CN" sz="750" dirty="0">
                    <a:solidFill>
                      <a:srgbClr val="312624"/>
                    </a:solidFill>
                    <a:latin typeface="+mn-lt"/>
                    <a:ea typeface="+mn-ea"/>
                    <a:cs typeface="+mn-cs"/>
                  </a:rPr>
                  <a:t>22%​</a:t>
                </a:r>
              </a:p>
            </p:txBody>
          </p:sp>
          <p:sp>
            <p:nvSpPr>
              <p:cNvPr id="111" name="Rectangle 111"/>
              <p:cNvSpPr/>
              <p:nvPr/>
            </p:nvSpPr>
            <p:spPr>
              <a:xfrm>
                <a:off x="342900" y="2952750"/>
                <a:ext cx="1238250" cy="285750"/>
              </a:xfrm>
              <a:prstGeom prst="rect">
                <a:avLst/>
              </a:prstGeom>
              <a:solidFill>
                <a:srgbClr val="F7FBF9"/>
              </a:solidFill>
              <a:ln w="7620">
                <a:solidFill>
                  <a:srgbClr val="D9E8E2"/>
                </a:solidFill>
              </a:ln>
            </p:spPr>
          </p:sp>
          <p:sp>
            <p:nvSpPr>
              <p:cNvPr id="112" name="TextBox 112"/>
              <p:cNvSpPr txBox="1"/>
              <p:nvPr/>
            </p:nvSpPr>
            <p:spPr>
              <a:xfrm>
                <a:off x="465058" y="3052762"/>
                <a:ext cx="993934" cy="147638"/>
              </a:xfrm>
              <a:prstGeom prst="rect">
                <a:avLst/>
              </a:prstGeom>
              <a:noFill/>
              <a:ln>
                <a:noFill/>
              </a:ln>
            </p:spPr>
            <p:txBody>
              <a:bodyPr wrap="none" lIns="0" tIns="0" rIns="0" bIns="0" anchor="t" anchorCtr="0">
                <a:spAutoFit/>
              </a:bodyPr>
              <a:lstStyle/>
              <a:p>
                <a:pPr algn="ctr"/>
                <a:r>
                  <a:rPr lang="zh-CN" sz="750" dirty="0">
                    <a:solidFill>
                      <a:srgbClr val="312624"/>
                    </a:solidFill>
                    <a:latin typeface="+mn-lt"/>
                    <a:ea typeface="+mn-ea"/>
                    <a:cs typeface="+mn-cs"/>
                  </a:rPr>
                  <a:t>长尾客户（&lt;100万）​</a:t>
                </a:r>
              </a:p>
            </p:txBody>
          </p:sp>
          <p:sp>
            <p:nvSpPr>
              <p:cNvPr id="113" name="Rectangle 113"/>
              <p:cNvSpPr/>
              <p:nvPr/>
            </p:nvSpPr>
            <p:spPr>
              <a:xfrm>
                <a:off x="1581150" y="2952750"/>
                <a:ext cx="628650" cy="285750"/>
              </a:xfrm>
              <a:prstGeom prst="rect">
                <a:avLst/>
              </a:prstGeom>
              <a:solidFill>
                <a:srgbClr val="C9988F"/>
              </a:solidFill>
              <a:ln>
                <a:noFill/>
              </a:ln>
            </p:spPr>
          </p:sp>
          <p:sp>
            <p:nvSpPr>
              <p:cNvPr id="114" name="TextBox 114"/>
              <p:cNvSpPr txBox="1"/>
              <p:nvPr/>
            </p:nvSpPr>
            <p:spPr>
              <a:xfrm>
                <a:off x="1779651" y="3052762"/>
                <a:ext cx="231648" cy="147638"/>
              </a:xfrm>
              <a:prstGeom prst="rect">
                <a:avLst/>
              </a:prstGeom>
              <a:noFill/>
              <a:ln>
                <a:noFill/>
              </a:ln>
            </p:spPr>
            <p:txBody>
              <a:bodyPr wrap="none" lIns="0" tIns="0" rIns="0" bIns="0" anchor="t" anchorCtr="0">
                <a:spAutoFit/>
              </a:bodyPr>
              <a:lstStyle/>
              <a:p>
                <a:pPr algn="ctr"/>
                <a:r>
                  <a:rPr lang="zh-CN" sz="750" dirty="0">
                    <a:solidFill>
                      <a:srgbClr val="3B130B"/>
                    </a:solidFill>
                    <a:latin typeface="+mn-lt"/>
                    <a:ea typeface="+mn-ea"/>
                    <a:cs typeface="+mn-cs"/>
                  </a:rPr>
                  <a:t>6.0​</a:t>
                </a:r>
              </a:p>
            </p:txBody>
          </p:sp>
          <p:sp>
            <p:nvSpPr>
              <p:cNvPr id="115" name="Rectangle 115"/>
              <p:cNvSpPr/>
              <p:nvPr/>
            </p:nvSpPr>
            <p:spPr>
              <a:xfrm>
                <a:off x="2209800" y="2952750"/>
                <a:ext cx="628650" cy="285750"/>
              </a:xfrm>
              <a:prstGeom prst="rect">
                <a:avLst/>
              </a:prstGeom>
              <a:solidFill>
                <a:srgbClr val="C9988F"/>
              </a:solidFill>
              <a:ln>
                <a:noFill/>
              </a:ln>
            </p:spPr>
          </p:sp>
          <p:sp>
            <p:nvSpPr>
              <p:cNvPr id="116" name="TextBox 116"/>
              <p:cNvSpPr txBox="1"/>
              <p:nvPr/>
            </p:nvSpPr>
            <p:spPr>
              <a:xfrm>
                <a:off x="2408301" y="3052762"/>
                <a:ext cx="231648" cy="147638"/>
              </a:xfrm>
              <a:prstGeom prst="rect">
                <a:avLst/>
              </a:prstGeom>
              <a:noFill/>
              <a:ln>
                <a:noFill/>
              </a:ln>
            </p:spPr>
            <p:txBody>
              <a:bodyPr wrap="none" lIns="0" tIns="0" rIns="0" bIns="0" anchor="t" anchorCtr="0">
                <a:spAutoFit/>
              </a:bodyPr>
              <a:lstStyle/>
              <a:p>
                <a:pPr algn="ctr"/>
                <a:r>
                  <a:rPr lang="zh-CN" sz="750" dirty="0">
                    <a:solidFill>
                      <a:srgbClr val="3B130B"/>
                    </a:solidFill>
                    <a:latin typeface="+mn-lt"/>
                    <a:ea typeface="+mn-ea"/>
                    <a:cs typeface="+mn-cs"/>
                  </a:rPr>
                  <a:t>8.0​</a:t>
                </a:r>
              </a:p>
            </p:txBody>
          </p:sp>
          <p:sp>
            <p:nvSpPr>
              <p:cNvPr id="117" name="Rectangle 117"/>
              <p:cNvSpPr/>
              <p:nvPr/>
            </p:nvSpPr>
            <p:spPr>
              <a:xfrm>
                <a:off x="2838450" y="2952750"/>
                <a:ext cx="628650" cy="285750"/>
              </a:xfrm>
              <a:prstGeom prst="rect">
                <a:avLst/>
              </a:prstGeom>
              <a:solidFill>
                <a:srgbClr val="C9988F"/>
              </a:solidFill>
              <a:ln>
                <a:noFill/>
              </a:ln>
            </p:spPr>
          </p:sp>
          <p:sp>
            <p:nvSpPr>
              <p:cNvPr id="118" name="TextBox 118"/>
              <p:cNvSpPr txBox="1"/>
              <p:nvPr/>
            </p:nvSpPr>
            <p:spPr>
              <a:xfrm>
                <a:off x="3036951" y="3052762"/>
                <a:ext cx="231648" cy="147638"/>
              </a:xfrm>
              <a:prstGeom prst="rect">
                <a:avLst/>
              </a:prstGeom>
              <a:noFill/>
              <a:ln>
                <a:noFill/>
              </a:ln>
            </p:spPr>
            <p:txBody>
              <a:bodyPr wrap="none" lIns="0" tIns="0" rIns="0" bIns="0" anchor="t" anchorCtr="0">
                <a:spAutoFit/>
              </a:bodyPr>
              <a:lstStyle/>
              <a:p>
                <a:pPr algn="ctr"/>
                <a:r>
                  <a:rPr lang="zh-CN" sz="750" dirty="0">
                    <a:solidFill>
                      <a:srgbClr val="3B130B"/>
                    </a:solidFill>
                    <a:latin typeface="+mn-lt"/>
                    <a:ea typeface="+mn-ea"/>
                    <a:cs typeface="+mn-cs"/>
                  </a:rPr>
                  <a:t>7.0​</a:t>
                </a:r>
              </a:p>
            </p:txBody>
          </p:sp>
          <p:sp>
            <p:nvSpPr>
              <p:cNvPr id="119" name="Rectangle 119"/>
              <p:cNvSpPr/>
              <p:nvPr/>
            </p:nvSpPr>
            <p:spPr>
              <a:xfrm>
                <a:off x="3467100" y="2952750"/>
                <a:ext cx="571500" cy="285750"/>
              </a:xfrm>
              <a:prstGeom prst="rect">
                <a:avLst/>
              </a:prstGeom>
              <a:solidFill>
                <a:srgbClr val="F7FBF9"/>
              </a:solidFill>
              <a:ln w="7620">
                <a:solidFill>
                  <a:srgbClr val="D9E8E2"/>
                </a:solidFill>
              </a:ln>
            </p:spPr>
          </p:sp>
          <p:sp>
            <p:nvSpPr>
              <p:cNvPr id="120" name="TextBox 120"/>
              <p:cNvSpPr txBox="1"/>
              <p:nvPr/>
            </p:nvSpPr>
            <p:spPr>
              <a:xfrm>
                <a:off x="3602319" y="3052762"/>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21.0​</a:t>
                </a:r>
              </a:p>
            </p:txBody>
          </p:sp>
          <p:sp>
            <p:nvSpPr>
              <p:cNvPr id="121" name="Rectangle 121"/>
              <p:cNvSpPr/>
              <p:nvPr/>
            </p:nvSpPr>
            <p:spPr>
              <a:xfrm>
                <a:off x="4038600" y="2952750"/>
                <a:ext cx="571500" cy="285750"/>
              </a:xfrm>
              <a:prstGeom prst="rect">
                <a:avLst/>
              </a:prstGeom>
              <a:solidFill>
                <a:srgbClr val="F7FBF9"/>
              </a:solidFill>
              <a:ln w="7620">
                <a:solidFill>
                  <a:srgbClr val="D9E8E2"/>
                </a:solidFill>
              </a:ln>
            </p:spPr>
          </p:sp>
          <p:sp>
            <p:nvSpPr>
              <p:cNvPr id="122" name="TextBox 122"/>
              <p:cNvSpPr txBox="1"/>
              <p:nvPr/>
            </p:nvSpPr>
            <p:spPr>
              <a:xfrm>
                <a:off x="4198430" y="3052762"/>
                <a:ext cx="251841" cy="147638"/>
              </a:xfrm>
              <a:prstGeom prst="rect">
                <a:avLst/>
              </a:prstGeom>
              <a:noFill/>
              <a:ln>
                <a:noFill/>
              </a:ln>
            </p:spPr>
            <p:txBody>
              <a:bodyPr wrap="none" lIns="0" tIns="0" rIns="0" bIns="0" anchor="t" anchorCtr="0">
                <a:spAutoFit/>
              </a:bodyPr>
              <a:lstStyle/>
              <a:p>
                <a:pPr algn="ctr"/>
                <a:r>
                  <a:rPr lang="zh-CN" sz="750" dirty="0">
                    <a:solidFill>
                      <a:srgbClr val="312624"/>
                    </a:solidFill>
                    <a:latin typeface="+mn-lt"/>
                    <a:ea typeface="+mn-ea"/>
                    <a:cs typeface="+mn-cs"/>
                  </a:rPr>
                  <a:t>16%​</a:t>
                </a:r>
              </a:p>
            </p:txBody>
          </p:sp>
          <p:sp>
            <p:nvSpPr>
              <p:cNvPr id="123" name="Rectangle 123"/>
              <p:cNvSpPr/>
              <p:nvPr/>
            </p:nvSpPr>
            <p:spPr>
              <a:xfrm>
                <a:off x="342900" y="3238500"/>
                <a:ext cx="4267200" cy="209550"/>
              </a:xfrm>
              <a:prstGeom prst="rect">
                <a:avLst/>
              </a:prstGeom>
              <a:solidFill>
                <a:srgbClr val="E9F4F0"/>
              </a:solidFill>
              <a:ln>
                <a:noFill/>
              </a:ln>
            </p:spPr>
          </p:sp>
          <p:sp>
            <p:nvSpPr>
              <p:cNvPr id="124" name="TextBox 124"/>
              <p:cNvSpPr txBox="1"/>
              <p:nvPr/>
            </p:nvSpPr>
            <p:spPr>
              <a:xfrm>
                <a:off x="827144" y="3300412"/>
                <a:ext cx="26976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合计​</a:t>
                </a:r>
              </a:p>
            </p:txBody>
          </p:sp>
          <p:sp>
            <p:nvSpPr>
              <p:cNvPr id="125" name="TextBox 125"/>
              <p:cNvSpPr txBox="1"/>
              <p:nvPr/>
            </p:nvSpPr>
            <p:spPr>
              <a:xfrm>
                <a:off x="1744944" y="3300412"/>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36.0​</a:t>
                </a:r>
              </a:p>
            </p:txBody>
          </p:sp>
          <p:sp>
            <p:nvSpPr>
              <p:cNvPr id="126" name="TextBox 126"/>
              <p:cNvSpPr txBox="1"/>
              <p:nvPr/>
            </p:nvSpPr>
            <p:spPr>
              <a:xfrm>
                <a:off x="2373594" y="3300412"/>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44.0​</a:t>
                </a:r>
              </a:p>
            </p:txBody>
          </p:sp>
          <p:sp>
            <p:nvSpPr>
              <p:cNvPr id="127" name="TextBox 127"/>
              <p:cNvSpPr txBox="1"/>
              <p:nvPr/>
            </p:nvSpPr>
            <p:spPr>
              <a:xfrm>
                <a:off x="3002244" y="3300412"/>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49.0​</a:t>
                </a:r>
              </a:p>
            </p:txBody>
          </p:sp>
          <p:sp>
            <p:nvSpPr>
              <p:cNvPr id="128" name="TextBox 128"/>
              <p:cNvSpPr txBox="1"/>
              <p:nvPr/>
            </p:nvSpPr>
            <p:spPr>
              <a:xfrm>
                <a:off x="3573166" y="3300412"/>
                <a:ext cx="359369"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129.0​</a:t>
                </a:r>
              </a:p>
            </p:txBody>
          </p:sp>
          <p:sp>
            <p:nvSpPr>
              <p:cNvPr id="129" name="TextBox 129"/>
              <p:cNvSpPr txBox="1"/>
              <p:nvPr/>
            </p:nvSpPr>
            <p:spPr>
              <a:xfrm>
                <a:off x="4163218" y="3300412"/>
                <a:ext cx="322264"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100%​</a:t>
                </a:r>
              </a:p>
            </p:txBody>
          </p:sp>
        </p:grpSp>
        <p:grpSp>
          <p:nvGrpSpPr>
            <p:cNvPr id="139" name="Group 139"/>
            <p:cNvGrpSpPr/>
            <p:nvPr/>
          </p:nvGrpSpPr>
          <p:grpSpPr>
            <a:xfrm>
              <a:off x="381000" y="3484007"/>
              <a:ext cx="2042829" cy="126206"/>
              <a:chOff x="381000" y="3484007"/>
              <a:chExt cx="2042829" cy="126206"/>
            </a:xfrm>
          </p:grpSpPr>
          <p:sp>
            <p:nvSpPr>
              <p:cNvPr id="131" name="Rectangle 131"/>
              <p:cNvSpPr/>
              <p:nvPr/>
            </p:nvSpPr>
            <p:spPr>
              <a:xfrm>
                <a:off x="381000" y="3486150"/>
                <a:ext cx="95250" cy="76200"/>
              </a:xfrm>
              <a:prstGeom prst="rect">
                <a:avLst/>
              </a:prstGeom>
              <a:solidFill>
                <a:srgbClr val="5B180B"/>
              </a:solidFill>
              <a:ln>
                <a:noFill/>
              </a:ln>
            </p:spPr>
          </p:sp>
          <p:sp>
            <p:nvSpPr>
              <p:cNvPr id="132" name="TextBox 132"/>
              <p:cNvSpPr txBox="1"/>
              <p:nvPr/>
            </p:nvSpPr>
            <p:spPr>
              <a:xfrm>
                <a:off x="509588" y="3484007"/>
                <a:ext cx="285227"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≥15亿​</a:t>
                </a:r>
              </a:p>
            </p:txBody>
          </p:sp>
          <p:sp>
            <p:nvSpPr>
              <p:cNvPr id="133" name="Rectangle 133"/>
              <p:cNvSpPr/>
              <p:nvPr/>
            </p:nvSpPr>
            <p:spPr>
              <a:xfrm>
                <a:off x="914400" y="3486150"/>
                <a:ext cx="95250" cy="76200"/>
              </a:xfrm>
              <a:prstGeom prst="rect">
                <a:avLst/>
              </a:prstGeom>
              <a:solidFill>
                <a:srgbClr val="9A412F"/>
              </a:solidFill>
              <a:ln>
                <a:noFill/>
              </a:ln>
            </p:spPr>
          </p:sp>
          <p:sp>
            <p:nvSpPr>
              <p:cNvPr id="134" name="TextBox 134"/>
              <p:cNvSpPr txBox="1"/>
              <p:nvPr/>
            </p:nvSpPr>
            <p:spPr>
              <a:xfrm>
                <a:off x="1042988" y="3484007"/>
                <a:ext cx="379999"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10-15亿​</a:t>
                </a:r>
              </a:p>
            </p:txBody>
          </p:sp>
          <p:sp>
            <p:nvSpPr>
              <p:cNvPr id="135" name="Rectangle 135"/>
              <p:cNvSpPr/>
              <p:nvPr/>
            </p:nvSpPr>
            <p:spPr>
              <a:xfrm>
                <a:off x="1524000" y="3486150"/>
                <a:ext cx="95250" cy="76200"/>
              </a:xfrm>
              <a:prstGeom prst="rect">
                <a:avLst/>
              </a:prstGeom>
              <a:solidFill>
                <a:srgbClr val="C9988F"/>
              </a:solidFill>
              <a:ln>
                <a:noFill/>
              </a:ln>
            </p:spPr>
          </p:sp>
          <p:sp>
            <p:nvSpPr>
              <p:cNvPr id="136" name="TextBox 136"/>
              <p:cNvSpPr txBox="1"/>
              <p:nvPr/>
            </p:nvSpPr>
            <p:spPr>
              <a:xfrm>
                <a:off x="1652588" y="3484007"/>
                <a:ext cx="332613"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5-10亿​</a:t>
                </a:r>
              </a:p>
            </p:txBody>
          </p:sp>
          <p:sp>
            <p:nvSpPr>
              <p:cNvPr id="137" name="Rectangle 137"/>
              <p:cNvSpPr/>
              <p:nvPr/>
            </p:nvSpPr>
            <p:spPr>
              <a:xfrm>
                <a:off x="2057400" y="3486150"/>
                <a:ext cx="95250" cy="76200"/>
              </a:xfrm>
              <a:prstGeom prst="rect">
                <a:avLst/>
              </a:prstGeom>
              <a:solidFill>
                <a:srgbClr val="DFF0EA"/>
              </a:solidFill>
              <a:ln>
                <a:noFill/>
              </a:ln>
            </p:spPr>
          </p:sp>
          <p:sp>
            <p:nvSpPr>
              <p:cNvPr id="138" name="TextBox 138"/>
              <p:cNvSpPr txBox="1"/>
              <p:nvPr/>
            </p:nvSpPr>
            <p:spPr>
              <a:xfrm>
                <a:off x="2185988" y="3484007"/>
                <a:ext cx="237841"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&lt;5亿​</a:t>
                </a:r>
              </a:p>
            </p:txBody>
          </p:sp>
        </p:grpSp>
      </p:grpSp>
      <p:grpSp>
        <p:nvGrpSpPr>
          <p:cNvPr id="191" name="strategy-card"/>
          <p:cNvGrpSpPr/>
          <p:nvPr/>
        </p:nvGrpSpPr>
        <p:grpSpPr>
          <a:xfrm>
            <a:off x="4972050" y="1371600"/>
            <a:ext cx="3581400" cy="2228850"/>
            <a:chOff x="4972050" y="1371600"/>
            <a:chExt cx="3581400" cy="2228850"/>
          </a:xfrm>
        </p:grpSpPr>
        <p:sp>
          <p:nvSpPr>
            <p:cNvPr id="141" name="Rectangle 141"/>
            <p:cNvSpPr/>
            <p:nvPr/>
          </p:nvSpPr>
          <p:spPr>
            <a:xfrm>
              <a:off x="4972050" y="1371600"/>
              <a:ext cx="3581400" cy="2228850"/>
            </a:xfrm>
            <a:prstGeom prst="roundRect">
              <a:avLst>
                <a:gd name="adj" fmla="val 4274"/>
              </a:avLst>
            </a:prstGeom>
            <a:solidFill>
              <a:srgbClr val="F5FAF8"/>
            </a:solidFill>
            <a:ln w="9525">
              <a:solidFill>
                <a:srgbClr val="D9E8E2"/>
              </a:solidFill>
            </a:ln>
          </p:spPr>
        </p:sp>
        <p:sp>
          <p:nvSpPr>
            <p:cNvPr id="142" name="Rectangle 142"/>
            <p:cNvSpPr/>
            <p:nvPr/>
          </p:nvSpPr>
          <p:spPr>
            <a:xfrm>
              <a:off x="5067300" y="1466850"/>
              <a:ext cx="285750" cy="190500"/>
            </a:xfrm>
            <a:prstGeom prst="roundRect">
              <a:avLst>
                <a:gd name="adj" fmla="val 15000"/>
              </a:avLst>
            </a:prstGeom>
            <a:solidFill>
              <a:srgbClr val="5B180B"/>
            </a:solidFill>
            <a:ln>
              <a:noFill/>
            </a:ln>
          </p:spPr>
        </p:sp>
        <p:sp>
          <p:nvSpPr>
            <p:cNvPr id="143" name="TextBox 143"/>
            <p:cNvSpPr txBox="1"/>
            <p:nvPr/>
          </p:nvSpPr>
          <p:spPr>
            <a:xfrm>
              <a:off x="5109789" y="1520666"/>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02​</a:t>
              </a:r>
            </a:p>
          </p:txBody>
        </p:sp>
        <p:sp>
          <p:nvSpPr>
            <p:cNvPr id="144" name="TextBox 144"/>
            <p:cNvSpPr txBox="1"/>
            <p:nvPr/>
          </p:nvSpPr>
          <p:spPr>
            <a:xfrm>
              <a:off x="5424297" y="1504474"/>
              <a:ext cx="1273443"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四大攻坚策略与举措​</a:t>
              </a:r>
            </a:p>
          </p:txBody>
        </p:sp>
        <p:grpSp>
          <p:nvGrpSpPr>
            <p:cNvPr id="190" name="strat-rows"/>
            <p:cNvGrpSpPr/>
            <p:nvPr/>
          </p:nvGrpSpPr>
          <p:grpSpPr>
            <a:xfrm>
              <a:off x="5067300" y="1733550"/>
              <a:ext cx="2908328" cy="1790938"/>
              <a:chOff x="5067300" y="1733550"/>
              <a:chExt cx="2908328" cy="1790938"/>
            </a:xfrm>
          </p:grpSpPr>
          <p:sp>
            <p:nvSpPr>
              <p:cNvPr id="145" name="Rectangle 145"/>
              <p:cNvSpPr/>
              <p:nvPr/>
            </p:nvSpPr>
            <p:spPr>
              <a:xfrm>
                <a:off x="5067300" y="1733550"/>
                <a:ext cx="1066800" cy="419100"/>
              </a:xfrm>
              <a:prstGeom prst="roundRect">
                <a:avLst>
                  <a:gd name="adj" fmla="val 11364"/>
                </a:avLst>
              </a:prstGeom>
              <a:solidFill>
                <a:srgbClr val="5B180B"/>
              </a:solidFill>
              <a:ln>
                <a:noFill/>
              </a:ln>
            </p:spPr>
          </p:sp>
          <p:grpSp>
            <p:nvGrpSpPr>
              <p:cNvPr id="152" name="Group 152"/>
              <p:cNvGrpSpPr/>
              <p:nvPr/>
            </p:nvGrpSpPr>
            <p:grpSpPr>
              <a:xfrm>
                <a:off x="5156200" y="1871662"/>
                <a:ext cx="127000" cy="142875"/>
                <a:chOff x="5156200" y="1871662"/>
                <a:chExt cx="127000" cy="142875"/>
              </a:xfrm>
            </p:grpSpPr>
            <p:sp>
              <p:nvSpPr>
                <p:cNvPr id="146" name="Freeform 146"/>
                <p:cNvSpPr/>
                <p:nvPr/>
              </p:nvSpPr>
              <p:spPr>
                <a:xfrm>
                  <a:off x="5156200" y="188753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FFFFFF"/>
                  </a:solidFill>
                </a:ln>
              </p:spPr>
            </p:sp>
            <p:sp>
              <p:nvSpPr>
                <p:cNvPr id="147" name="Freeform 147"/>
                <p:cNvSpPr/>
                <p:nvPr/>
              </p:nvSpPr>
              <p:spPr>
                <a:xfrm>
                  <a:off x="5251450" y="187166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48" name="Freeform 148"/>
                <p:cNvSpPr/>
                <p:nvPr/>
              </p:nvSpPr>
              <p:spPr>
                <a:xfrm>
                  <a:off x="5187950" y="187166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49" name="Freeform 149"/>
                <p:cNvSpPr/>
                <p:nvPr/>
              </p:nvSpPr>
              <p:spPr>
                <a:xfrm>
                  <a:off x="5156200" y="1935162"/>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50" name="Freeform 150"/>
                <p:cNvSpPr/>
                <p:nvPr/>
              </p:nvSpPr>
              <p:spPr>
                <a:xfrm>
                  <a:off x="5211762" y="1966912"/>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51" name="Freeform 151"/>
                <p:cNvSpPr/>
                <p:nvPr/>
              </p:nvSpPr>
              <p:spPr>
                <a:xfrm>
                  <a:off x="5219700" y="1966912"/>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153" name="TextBox 153"/>
              <p:cNvSpPr txBox="1"/>
              <p:nvPr/>
            </p:nvSpPr>
            <p:spPr>
              <a:xfrm>
                <a:off x="5348288" y="1810464"/>
                <a:ext cx="70904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到期资金锁定​</a:t>
                </a:r>
              </a:p>
            </p:txBody>
          </p:sp>
          <p:sp>
            <p:nvSpPr>
              <p:cNvPr id="154" name="TextBox 154"/>
              <p:cNvSpPr txBox="1"/>
              <p:nvPr/>
            </p:nvSpPr>
            <p:spPr>
              <a:xfrm>
                <a:off x="5348288" y="1973580"/>
                <a:ext cx="700126" cy="119062"/>
              </a:xfrm>
              <a:prstGeom prst="rect">
                <a:avLst/>
              </a:prstGeom>
              <a:noFill/>
              <a:ln>
                <a:noFill/>
              </a:ln>
            </p:spPr>
            <p:txBody>
              <a:bodyPr wrap="none" lIns="0" tIns="0" rIns="0" bIns="0" anchor="t" anchorCtr="0">
                <a:spAutoFit/>
              </a:bodyPr>
              <a:lstStyle/>
              <a:p>
                <a:pPr algn="l"/>
                <a:r>
                  <a:rPr lang="zh-CN" sz="600" dirty="0">
                    <a:solidFill>
                      <a:srgbClr val="BFDDD6"/>
                    </a:solidFill>
                    <a:latin typeface="+mn-lt"/>
                    <a:ea typeface="+mn-ea"/>
                    <a:cs typeface="+mn-cs"/>
                  </a:rPr>
                  <a:t>（防止自然流失）​</a:t>
                </a:r>
              </a:p>
            </p:txBody>
          </p:sp>
          <p:sp>
            <p:nvSpPr>
              <p:cNvPr id="155" name="TextBox 155"/>
              <p:cNvSpPr txBox="1"/>
              <p:nvPr/>
            </p:nvSpPr>
            <p:spPr>
              <a:xfrm>
                <a:off x="6205538" y="1779032"/>
                <a:ext cx="1606393"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提前90天梳理到期，制定到期承接方案​</a:t>
                </a:r>
              </a:p>
            </p:txBody>
          </p:sp>
          <p:sp>
            <p:nvSpPr>
              <p:cNvPr id="156" name="TextBox 156"/>
              <p:cNvSpPr txBox="1"/>
              <p:nvPr/>
            </p:nvSpPr>
            <p:spPr>
              <a:xfrm>
                <a:off x="6205538" y="1902857"/>
                <a:ext cx="143407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产品组合+利率+增值权益锁定资金​</a:t>
                </a:r>
              </a:p>
            </p:txBody>
          </p:sp>
          <p:sp>
            <p:nvSpPr>
              <p:cNvPr id="157" name="TextBox 157"/>
              <p:cNvSpPr txBox="1"/>
              <p:nvPr/>
            </p:nvSpPr>
            <p:spPr>
              <a:xfrm>
                <a:off x="6205538" y="2026682"/>
                <a:ext cx="1597777"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关键时点行领导带队上门，确保承接率​</a:t>
                </a:r>
              </a:p>
            </p:txBody>
          </p:sp>
          <p:sp>
            <p:nvSpPr>
              <p:cNvPr id="158" name="Rectangle 158"/>
              <p:cNvSpPr/>
              <p:nvPr/>
            </p:nvSpPr>
            <p:spPr>
              <a:xfrm>
                <a:off x="5067300" y="2190750"/>
                <a:ext cx="1066800" cy="419100"/>
              </a:xfrm>
              <a:prstGeom prst="roundRect">
                <a:avLst>
                  <a:gd name="adj" fmla="val 11364"/>
                </a:avLst>
              </a:prstGeom>
              <a:solidFill>
                <a:srgbClr val="722617"/>
              </a:solidFill>
              <a:ln>
                <a:noFill/>
              </a:ln>
            </p:spPr>
          </p:sp>
          <p:grpSp>
            <p:nvGrpSpPr>
              <p:cNvPr id="161" name="Group 161"/>
              <p:cNvGrpSpPr/>
              <p:nvPr/>
            </p:nvGrpSpPr>
            <p:grpSpPr>
              <a:xfrm>
                <a:off x="5137550" y="2328862"/>
                <a:ext cx="155005" cy="142875"/>
                <a:chOff x="5137550" y="2328862"/>
                <a:chExt cx="155005" cy="142875"/>
              </a:xfrm>
            </p:grpSpPr>
            <p:sp>
              <p:nvSpPr>
                <p:cNvPr id="159" name="Freeform 159"/>
                <p:cNvSpPr/>
                <p:nvPr/>
              </p:nvSpPr>
              <p:spPr>
                <a:xfrm>
                  <a:off x="5137550" y="232886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160" name="Freeform 160"/>
                <p:cNvSpPr/>
                <p:nvPr/>
              </p:nvSpPr>
              <p:spPr>
                <a:xfrm>
                  <a:off x="5243512" y="243998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162" name="TextBox 162"/>
              <p:cNvSpPr txBox="1"/>
              <p:nvPr/>
            </p:nvSpPr>
            <p:spPr>
              <a:xfrm>
                <a:off x="5348288" y="2267664"/>
                <a:ext cx="70904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资产下降挽回​</a:t>
                </a:r>
              </a:p>
            </p:txBody>
          </p:sp>
          <p:sp>
            <p:nvSpPr>
              <p:cNvPr id="163" name="TextBox 163"/>
              <p:cNvSpPr txBox="1"/>
              <p:nvPr/>
            </p:nvSpPr>
            <p:spPr>
              <a:xfrm>
                <a:off x="5348288" y="2430780"/>
                <a:ext cx="700126" cy="119062"/>
              </a:xfrm>
              <a:prstGeom prst="rect">
                <a:avLst/>
              </a:prstGeom>
              <a:noFill/>
              <a:ln>
                <a:noFill/>
              </a:ln>
            </p:spPr>
            <p:txBody>
              <a:bodyPr wrap="none" lIns="0" tIns="0" rIns="0" bIns="0" anchor="t" anchorCtr="0">
                <a:spAutoFit/>
              </a:bodyPr>
              <a:lstStyle/>
              <a:p>
                <a:pPr algn="l"/>
                <a:r>
                  <a:rPr lang="zh-CN" sz="600" dirty="0">
                    <a:solidFill>
                      <a:srgbClr val="BFDDD6"/>
                    </a:solidFill>
                    <a:latin typeface="+mn-lt"/>
                    <a:ea typeface="+mn-ea"/>
                    <a:cs typeface="+mn-cs"/>
                  </a:rPr>
                  <a:t>（遏制主动流失）​</a:t>
                </a:r>
              </a:p>
            </p:txBody>
          </p:sp>
          <p:sp>
            <p:nvSpPr>
              <p:cNvPr id="164" name="TextBox 164"/>
              <p:cNvSpPr txBox="1"/>
              <p:nvPr/>
            </p:nvSpPr>
            <p:spPr>
              <a:xfrm>
                <a:off x="6205538" y="2236232"/>
                <a:ext cx="1683934"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监测余额异动，建立预警与快速响应机制​</a:t>
                </a:r>
              </a:p>
            </p:txBody>
          </p:sp>
          <p:sp>
            <p:nvSpPr>
              <p:cNvPr id="165" name="TextBox 165"/>
              <p:cNvSpPr txBox="1"/>
              <p:nvPr/>
            </p:nvSpPr>
            <p:spPr>
              <a:xfrm>
                <a:off x="6205538" y="2360057"/>
                <a:ext cx="1683934"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一户一策挽回方案（产品、费率、服务）​</a:t>
                </a:r>
              </a:p>
            </p:txBody>
          </p:sp>
          <p:sp>
            <p:nvSpPr>
              <p:cNvPr id="166" name="TextBox 166"/>
              <p:cNvSpPr txBox="1"/>
              <p:nvPr/>
            </p:nvSpPr>
            <p:spPr>
              <a:xfrm>
                <a:off x="6205538" y="2483882"/>
                <a:ext cx="1645163"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流失客户回访+专属权益，防止余额再降​</a:t>
                </a:r>
              </a:p>
            </p:txBody>
          </p:sp>
          <p:sp>
            <p:nvSpPr>
              <p:cNvPr id="167" name="Rectangle 167"/>
              <p:cNvSpPr/>
              <p:nvPr/>
            </p:nvSpPr>
            <p:spPr>
              <a:xfrm>
                <a:off x="5067300" y="2647950"/>
                <a:ext cx="1066800" cy="419100"/>
              </a:xfrm>
              <a:prstGeom prst="roundRect">
                <a:avLst>
                  <a:gd name="adj" fmla="val 11364"/>
                </a:avLst>
              </a:prstGeom>
              <a:solidFill>
                <a:srgbClr val="9A412F"/>
              </a:solidFill>
              <a:ln>
                <a:noFill/>
              </a:ln>
            </p:spPr>
          </p:sp>
          <p:grpSp>
            <p:nvGrpSpPr>
              <p:cNvPr id="174" name="Group 174"/>
              <p:cNvGrpSpPr/>
              <p:nvPr/>
            </p:nvGrpSpPr>
            <p:grpSpPr>
              <a:xfrm>
                <a:off x="5148262" y="2786062"/>
                <a:ext cx="142875" cy="142875"/>
                <a:chOff x="5148262" y="2786062"/>
                <a:chExt cx="142875" cy="142875"/>
              </a:xfrm>
            </p:grpSpPr>
            <p:sp>
              <p:nvSpPr>
                <p:cNvPr id="168" name="Freeform 168"/>
                <p:cNvSpPr/>
                <p:nvPr/>
              </p:nvSpPr>
              <p:spPr>
                <a:xfrm>
                  <a:off x="5203825" y="28495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69" name="Freeform 169"/>
                <p:cNvSpPr/>
                <p:nvPr/>
              </p:nvSpPr>
              <p:spPr>
                <a:xfrm>
                  <a:off x="5187950" y="29051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FFFFFF"/>
                  </a:solidFill>
                </a:ln>
              </p:spPr>
            </p:sp>
            <p:sp>
              <p:nvSpPr>
                <p:cNvPr id="170" name="Freeform 170"/>
                <p:cNvSpPr/>
                <p:nvPr/>
              </p:nvSpPr>
              <p:spPr>
                <a:xfrm>
                  <a:off x="5243512" y="27860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71" name="Freeform 171"/>
                <p:cNvSpPr/>
                <p:nvPr/>
              </p:nvSpPr>
              <p:spPr>
                <a:xfrm>
                  <a:off x="5259387" y="28416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FFFFFF"/>
                  </a:solidFill>
                </a:ln>
              </p:spPr>
            </p:sp>
            <p:sp>
              <p:nvSpPr>
                <p:cNvPr id="172" name="Freeform 172"/>
                <p:cNvSpPr/>
                <p:nvPr/>
              </p:nvSpPr>
              <p:spPr>
                <a:xfrm>
                  <a:off x="5164137" y="27860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73" name="Freeform 173"/>
                <p:cNvSpPr/>
                <p:nvPr/>
              </p:nvSpPr>
              <p:spPr>
                <a:xfrm>
                  <a:off x="5148262" y="28416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FFFFFF"/>
                  </a:solidFill>
                </a:ln>
              </p:spPr>
            </p:sp>
          </p:grpSp>
          <p:sp>
            <p:nvSpPr>
              <p:cNvPr id="175" name="TextBox 175"/>
              <p:cNvSpPr txBox="1"/>
              <p:nvPr/>
            </p:nvSpPr>
            <p:spPr>
              <a:xfrm>
                <a:off x="5348288" y="2724864"/>
                <a:ext cx="70904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代发沉淀提升​</a:t>
                </a:r>
              </a:p>
            </p:txBody>
          </p:sp>
          <p:sp>
            <p:nvSpPr>
              <p:cNvPr id="176" name="TextBox 176"/>
              <p:cNvSpPr txBox="1"/>
              <p:nvPr/>
            </p:nvSpPr>
            <p:spPr>
              <a:xfrm>
                <a:off x="5348288" y="2887980"/>
                <a:ext cx="700126" cy="119062"/>
              </a:xfrm>
              <a:prstGeom prst="rect">
                <a:avLst/>
              </a:prstGeom>
              <a:noFill/>
              <a:ln>
                <a:noFill/>
              </a:ln>
            </p:spPr>
            <p:txBody>
              <a:bodyPr wrap="none" lIns="0" tIns="0" rIns="0" bIns="0" anchor="t" anchorCtr="0">
                <a:spAutoFit/>
              </a:bodyPr>
              <a:lstStyle/>
              <a:p>
                <a:pPr algn="l"/>
                <a:r>
                  <a:rPr lang="zh-CN" sz="600" dirty="0">
                    <a:solidFill>
                      <a:srgbClr val="DFF0EB"/>
                    </a:solidFill>
                    <a:latin typeface="+mn-lt"/>
                    <a:ea typeface="+mn-ea"/>
                    <a:cs typeface="+mn-cs"/>
                  </a:rPr>
                  <a:t>（做大活期规模）​</a:t>
                </a:r>
              </a:p>
            </p:txBody>
          </p:sp>
          <p:sp>
            <p:nvSpPr>
              <p:cNvPr id="177" name="TextBox 177"/>
              <p:cNvSpPr txBox="1"/>
              <p:nvPr/>
            </p:nvSpPr>
            <p:spPr>
              <a:xfrm>
                <a:off x="6205538" y="2693432"/>
                <a:ext cx="1597777"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拓展代发企业，提升覆盖面与代发户数​</a:t>
                </a:r>
              </a:p>
            </p:txBody>
          </p:sp>
          <p:sp>
            <p:nvSpPr>
              <p:cNvPr id="178" name="TextBox 178"/>
              <p:cNvSpPr txBox="1"/>
              <p:nvPr/>
            </p:nvSpPr>
            <p:spPr>
              <a:xfrm>
                <a:off x="6205538" y="2817257"/>
                <a:ext cx="1770090"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工资卡绑定多元场景（理财、消费、缴费）​</a:t>
                </a:r>
              </a:p>
            </p:txBody>
          </p:sp>
          <p:sp>
            <p:nvSpPr>
              <p:cNvPr id="179" name="TextBox 179"/>
              <p:cNvSpPr txBox="1"/>
              <p:nvPr/>
            </p:nvSpPr>
            <p:spPr>
              <a:xfrm>
                <a:off x="6205538" y="2941082"/>
                <a:ext cx="1683934"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引导留存结算，提升活期占比与日均余额​</a:t>
                </a:r>
              </a:p>
            </p:txBody>
          </p:sp>
          <p:sp>
            <p:nvSpPr>
              <p:cNvPr id="180" name="Rectangle 180"/>
              <p:cNvSpPr/>
              <p:nvPr/>
            </p:nvSpPr>
            <p:spPr>
              <a:xfrm>
                <a:off x="5067300" y="3105150"/>
                <a:ext cx="1066800" cy="419100"/>
              </a:xfrm>
              <a:prstGeom prst="roundRect">
                <a:avLst>
                  <a:gd name="adj" fmla="val 11364"/>
                </a:avLst>
              </a:prstGeom>
              <a:solidFill>
                <a:srgbClr val="AE6C5F"/>
              </a:solidFill>
              <a:ln>
                <a:noFill/>
              </a:ln>
            </p:spPr>
          </p:sp>
          <p:grpSp>
            <p:nvGrpSpPr>
              <p:cNvPr id="184" name="Group 184"/>
              <p:cNvGrpSpPr/>
              <p:nvPr/>
            </p:nvGrpSpPr>
            <p:grpSpPr>
              <a:xfrm>
                <a:off x="5156199" y="3247322"/>
                <a:ext cx="130867" cy="134739"/>
                <a:chOff x="5156199" y="3247322"/>
                <a:chExt cx="130867" cy="134739"/>
              </a:xfrm>
            </p:grpSpPr>
            <p:sp>
              <p:nvSpPr>
                <p:cNvPr id="181" name="Freeform 181"/>
                <p:cNvSpPr/>
                <p:nvPr/>
              </p:nvSpPr>
              <p:spPr>
                <a:xfrm>
                  <a:off x="5195887" y="3290887"/>
                  <a:ext cx="47625" cy="47625"/>
                </a:xfrm>
                <a:custGeom>
                  <a:avLst/>
                  <a:gdLst/>
                  <a:ahLst/>
                  <a:cxnLst/>
                  <a:rect l="l" t="t" r="r" b="b"/>
                  <a:pathLst>
                    <a:path w="47625" h="47625">
                      <a:moveTo>
                        <a:pt x="0" y="47625"/>
                      </a:moveTo>
                      <a:lnTo>
                        <a:pt x="47625" y="0"/>
                      </a:lnTo>
                    </a:path>
                  </a:pathLst>
                </a:custGeom>
                <a:noFill/>
                <a:ln w="15875">
                  <a:solidFill>
                    <a:srgbClr val="FFFFFF"/>
                  </a:solidFill>
                </a:ln>
              </p:spPr>
            </p:sp>
            <p:sp>
              <p:nvSpPr>
                <p:cNvPr id="182" name="Freeform 182"/>
                <p:cNvSpPr/>
                <p:nvPr/>
              </p:nvSpPr>
              <p:spPr>
                <a:xfrm>
                  <a:off x="5211762" y="3247322"/>
                  <a:ext cx="75304" cy="75316"/>
                </a:xfrm>
                <a:custGeom>
                  <a:avLst/>
                  <a:gdLst/>
                  <a:ahLst/>
                  <a:cxnLst/>
                  <a:rect l="l" t="t" r="r" b="b"/>
                  <a:pathLst>
                    <a:path w="75304" h="75316">
                      <a:moveTo>
                        <a:pt x="0" y="19753"/>
                      </a:moveTo>
                      <a:lnTo>
                        <a:pt x="3675" y="15499"/>
                      </a:lnTo>
                      <a:cubicBezTo>
                        <a:pt x="19176" y="0"/>
                        <a:pt x="44306" y="2"/>
                        <a:pt x="59805" y="15503"/>
                      </a:cubicBezTo>
                      <a:cubicBezTo>
                        <a:pt x="75304" y="31004"/>
                        <a:pt x="75302" y="56134"/>
                        <a:pt x="59801" y="71633"/>
                      </a:cubicBezTo>
                      <a:lnTo>
                        <a:pt x="55562" y="75316"/>
                      </a:lnTo>
                    </a:path>
                  </a:pathLst>
                </a:custGeom>
                <a:noFill/>
                <a:ln w="15875">
                  <a:solidFill>
                    <a:srgbClr val="FFFFFF"/>
                  </a:solidFill>
                </a:ln>
              </p:spPr>
            </p:sp>
            <p:sp>
              <p:nvSpPr>
                <p:cNvPr id="183" name="Freeform 183"/>
                <p:cNvSpPr/>
                <p:nvPr/>
              </p:nvSpPr>
              <p:spPr>
                <a:xfrm>
                  <a:off x="5156199" y="3306762"/>
                  <a:ext cx="71439" cy="75299"/>
                </a:xfrm>
                <a:custGeom>
                  <a:avLst/>
                  <a:gdLst/>
                  <a:ahLst/>
                  <a:cxnLst/>
                  <a:rect l="l" t="t" r="r" b="b"/>
                  <a:pathLst>
                    <a:path w="71439" h="75299">
                      <a:moveTo>
                        <a:pt x="71439" y="55562"/>
                      </a:moveTo>
                      <a:lnTo>
                        <a:pt x="68287" y="59801"/>
                      </a:lnTo>
                      <a:cubicBezTo>
                        <a:pt x="52615" y="75299"/>
                        <a:pt x="27389" y="75299"/>
                        <a:pt x="11717" y="59801"/>
                      </a:cubicBezTo>
                      <a:cubicBezTo>
                        <a:pt x="4219" y="52388"/>
                        <a:pt x="0" y="42282"/>
                        <a:pt x="0" y="31738"/>
                      </a:cubicBezTo>
                      <a:cubicBezTo>
                        <a:pt x="0" y="21194"/>
                        <a:pt x="4219" y="11089"/>
                        <a:pt x="11717" y="3675"/>
                      </a:cubicBezTo>
                      <a:lnTo>
                        <a:pt x="15876" y="0"/>
                      </a:lnTo>
                    </a:path>
                  </a:pathLst>
                </a:custGeom>
                <a:noFill/>
                <a:ln w="15875">
                  <a:solidFill>
                    <a:srgbClr val="FFFFFF"/>
                  </a:solidFill>
                </a:ln>
              </p:spPr>
            </p:sp>
          </p:grpSp>
          <p:sp>
            <p:nvSpPr>
              <p:cNvPr id="185" name="TextBox 185"/>
              <p:cNvSpPr txBox="1"/>
              <p:nvPr/>
            </p:nvSpPr>
            <p:spPr>
              <a:xfrm>
                <a:off x="5348288" y="3182064"/>
                <a:ext cx="70904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对公联动引流​</a:t>
                </a:r>
              </a:p>
            </p:txBody>
          </p:sp>
          <p:sp>
            <p:nvSpPr>
              <p:cNvPr id="186" name="TextBox 186"/>
              <p:cNvSpPr txBox="1"/>
              <p:nvPr/>
            </p:nvSpPr>
            <p:spPr>
              <a:xfrm>
                <a:off x="5348288" y="3345180"/>
                <a:ext cx="700126" cy="119062"/>
              </a:xfrm>
              <a:prstGeom prst="rect">
                <a:avLst/>
              </a:prstGeom>
              <a:noFill/>
              <a:ln>
                <a:noFill/>
              </a:ln>
            </p:spPr>
            <p:txBody>
              <a:bodyPr wrap="none" lIns="0" tIns="0" rIns="0" bIns="0" anchor="t" anchorCtr="0">
                <a:spAutoFit/>
              </a:bodyPr>
              <a:lstStyle/>
              <a:p>
                <a:pPr algn="l"/>
                <a:r>
                  <a:rPr lang="zh-CN" sz="600" dirty="0">
                    <a:solidFill>
                      <a:srgbClr val="EAF6F2"/>
                    </a:solidFill>
                    <a:latin typeface="+mn-lt"/>
                    <a:ea typeface="+mn-ea"/>
                    <a:cs typeface="+mn-cs"/>
                  </a:rPr>
                  <a:t>（拓展新增来源）​</a:t>
                </a:r>
              </a:p>
            </p:txBody>
          </p:sp>
          <p:sp>
            <p:nvSpPr>
              <p:cNvPr id="187" name="TextBox 187"/>
              <p:cNvSpPr txBox="1"/>
              <p:nvPr/>
            </p:nvSpPr>
            <p:spPr>
              <a:xfrm>
                <a:off x="6205538" y="3150632"/>
                <a:ext cx="169254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公司+零售+投行联动，做深企业综合服务​</a:t>
                </a:r>
              </a:p>
            </p:txBody>
          </p:sp>
          <p:sp>
            <p:nvSpPr>
              <p:cNvPr id="188" name="TextBox 188"/>
              <p:cNvSpPr txBox="1"/>
              <p:nvPr/>
            </p:nvSpPr>
            <p:spPr>
              <a:xfrm>
                <a:off x="6205538" y="3274457"/>
                <a:ext cx="1597777"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以结算、授信、现金管理带动存款沉淀​</a:t>
                </a:r>
              </a:p>
            </p:txBody>
          </p:sp>
          <p:sp>
            <p:nvSpPr>
              <p:cNvPr id="189" name="TextBox 189"/>
              <p:cNvSpPr txBox="1"/>
              <p:nvPr/>
            </p:nvSpPr>
            <p:spPr>
              <a:xfrm>
                <a:off x="6205538" y="3398282"/>
                <a:ext cx="1511620"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重点行业、园区、链主企业专项攻坚​</a:t>
                </a:r>
              </a:p>
            </p:txBody>
          </p:sp>
        </p:grpSp>
      </p:grpSp>
      <p:grpSp>
        <p:nvGrpSpPr>
          <p:cNvPr id="228" name="funnel-card"/>
          <p:cNvGrpSpPr/>
          <p:nvPr/>
        </p:nvGrpSpPr>
        <p:grpSpPr>
          <a:xfrm>
            <a:off x="8667750" y="1371600"/>
            <a:ext cx="3295650" cy="2228850"/>
            <a:chOff x="8667750" y="1371600"/>
            <a:chExt cx="3295650" cy="2228850"/>
          </a:xfrm>
        </p:grpSpPr>
        <p:sp>
          <p:nvSpPr>
            <p:cNvPr id="192" name="Rectangle 192"/>
            <p:cNvSpPr/>
            <p:nvPr/>
          </p:nvSpPr>
          <p:spPr>
            <a:xfrm>
              <a:off x="8667750" y="1371600"/>
              <a:ext cx="3295650" cy="2228850"/>
            </a:xfrm>
            <a:prstGeom prst="roundRect">
              <a:avLst>
                <a:gd name="adj" fmla="val 4274"/>
              </a:avLst>
            </a:prstGeom>
            <a:solidFill>
              <a:srgbClr val="F5FAF8"/>
            </a:solidFill>
            <a:ln w="9525">
              <a:solidFill>
                <a:srgbClr val="D9E8E2"/>
              </a:solidFill>
            </a:ln>
          </p:spPr>
        </p:sp>
        <p:sp>
          <p:nvSpPr>
            <p:cNvPr id="193" name="Rectangle 193"/>
            <p:cNvSpPr/>
            <p:nvPr/>
          </p:nvSpPr>
          <p:spPr>
            <a:xfrm>
              <a:off x="8763000" y="1466850"/>
              <a:ext cx="285750" cy="190500"/>
            </a:xfrm>
            <a:prstGeom prst="roundRect">
              <a:avLst>
                <a:gd name="adj" fmla="val 15000"/>
              </a:avLst>
            </a:prstGeom>
            <a:solidFill>
              <a:srgbClr val="5B180B"/>
            </a:solidFill>
            <a:ln>
              <a:noFill/>
            </a:ln>
          </p:spPr>
        </p:sp>
        <p:sp>
          <p:nvSpPr>
            <p:cNvPr id="194" name="TextBox 194"/>
            <p:cNvSpPr txBox="1"/>
            <p:nvPr/>
          </p:nvSpPr>
          <p:spPr>
            <a:xfrm>
              <a:off x="8805489" y="1520666"/>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03​</a:t>
              </a:r>
            </a:p>
          </p:txBody>
        </p:sp>
        <p:sp>
          <p:nvSpPr>
            <p:cNvPr id="195" name="TextBox 195"/>
            <p:cNvSpPr txBox="1"/>
            <p:nvPr/>
          </p:nvSpPr>
          <p:spPr>
            <a:xfrm>
              <a:off x="9119997" y="1504474"/>
              <a:ext cx="1595645"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重点客户攻坚漏斗（Q4）​</a:t>
              </a:r>
            </a:p>
          </p:txBody>
        </p:sp>
        <p:sp>
          <p:nvSpPr>
            <p:cNvPr id="196" name="Rectangle 196"/>
            <p:cNvSpPr/>
            <p:nvPr/>
          </p:nvSpPr>
          <p:spPr>
            <a:xfrm>
              <a:off x="11391900" y="1466850"/>
              <a:ext cx="476250" cy="171450"/>
            </a:xfrm>
            <a:prstGeom prst="roundRect">
              <a:avLst>
                <a:gd name="adj" fmla="val 16667"/>
              </a:avLst>
            </a:prstGeom>
            <a:solidFill>
              <a:srgbClr val="E9F4F0"/>
            </a:solidFill>
            <a:ln>
              <a:noFill/>
            </a:ln>
          </p:spPr>
        </p:sp>
        <p:sp>
          <p:nvSpPr>
            <p:cNvPr id="197" name="TextBox 197"/>
            <p:cNvSpPr txBox="1"/>
            <p:nvPr/>
          </p:nvSpPr>
          <p:spPr>
            <a:xfrm>
              <a:off x="11462776" y="1517809"/>
              <a:ext cx="334498" cy="133350"/>
            </a:xfrm>
            <a:prstGeom prst="rect">
              <a:avLst/>
            </a:prstGeom>
            <a:noFill/>
            <a:ln>
              <a:noFill/>
            </a:ln>
          </p:spPr>
          <p:txBody>
            <a:bodyPr wrap="none" lIns="0" tIns="0" rIns="0" bIns="0" anchor="t" anchorCtr="0">
              <a:spAutoFit/>
            </a:bodyPr>
            <a:lstStyle/>
            <a:p>
              <a:pPr algn="ctr"/>
              <a:r>
                <a:rPr lang="zh-CN" sz="680" dirty="0">
                  <a:solidFill>
                    <a:srgbClr val="5B180B"/>
                  </a:solidFill>
                  <a:latin typeface="+mn-lt"/>
                  <a:ea typeface="+mn-ea"/>
                  <a:cs typeface="+mn-cs"/>
                </a:rPr>
                <a:t>转化率​</a:t>
              </a:r>
            </a:p>
          </p:txBody>
        </p:sp>
        <p:sp>
          <p:nvSpPr>
            <p:cNvPr id="198" name="Freeform 198"/>
            <p:cNvSpPr/>
            <p:nvPr/>
          </p:nvSpPr>
          <p:spPr>
            <a:xfrm rot="10800000">
              <a:off x="8782050" y="1676400"/>
              <a:ext cx="1428750" cy="304800"/>
            </a:xfrm>
            <a:prstGeom prst="trapezoid">
              <a:avLst>
                <a:gd name="adj" fmla="val 46875"/>
              </a:avLst>
            </a:prstGeom>
            <a:solidFill>
              <a:srgbClr val="5B180B"/>
            </a:solidFill>
            <a:ln>
              <a:noFill/>
            </a:ln>
          </p:spPr>
        </p:sp>
        <p:sp>
          <p:nvSpPr>
            <p:cNvPr id="199" name="Freeform 199"/>
            <p:cNvSpPr/>
            <p:nvPr/>
          </p:nvSpPr>
          <p:spPr>
            <a:xfrm rot="10800000">
              <a:off x="8924925" y="2000250"/>
              <a:ext cx="1143000" cy="304800"/>
            </a:xfrm>
            <a:prstGeom prst="trapezoid">
              <a:avLst>
                <a:gd name="adj" fmla="val 43750"/>
              </a:avLst>
            </a:prstGeom>
            <a:solidFill>
              <a:srgbClr val="722617"/>
            </a:solidFill>
            <a:ln>
              <a:noFill/>
            </a:ln>
          </p:spPr>
        </p:sp>
        <p:sp>
          <p:nvSpPr>
            <p:cNvPr id="200" name="Freeform 200"/>
            <p:cNvSpPr/>
            <p:nvPr/>
          </p:nvSpPr>
          <p:spPr>
            <a:xfrm rot="10800000">
              <a:off x="9058275" y="2324100"/>
              <a:ext cx="876300" cy="304800"/>
            </a:xfrm>
            <a:prstGeom prst="trapezoid">
              <a:avLst>
                <a:gd name="adj" fmla="val 40625"/>
              </a:avLst>
            </a:prstGeom>
            <a:solidFill>
              <a:srgbClr val="9A412F"/>
            </a:solidFill>
            <a:ln>
              <a:noFill/>
            </a:ln>
          </p:spPr>
        </p:sp>
        <p:sp>
          <p:nvSpPr>
            <p:cNvPr id="201" name="Freeform 201"/>
            <p:cNvSpPr/>
            <p:nvPr/>
          </p:nvSpPr>
          <p:spPr>
            <a:xfrm rot="10800000">
              <a:off x="9182100" y="2647950"/>
              <a:ext cx="628650" cy="304800"/>
            </a:xfrm>
            <a:prstGeom prst="trapezoid">
              <a:avLst>
                <a:gd name="adj" fmla="val 34375"/>
              </a:avLst>
            </a:prstGeom>
            <a:solidFill>
              <a:srgbClr val="B57A6F"/>
            </a:solidFill>
            <a:ln>
              <a:noFill/>
            </a:ln>
          </p:spPr>
        </p:sp>
        <p:sp>
          <p:nvSpPr>
            <p:cNvPr id="202" name="Freeform 202"/>
            <p:cNvSpPr/>
            <p:nvPr/>
          </p:nvSpPr>
          <p:spPr>
            <a:xfrm rot="10800000">
              <a:off x="9286875" y="2971800"/>
              <a:ext cx="419100" cy="304800"/>
            </a:xfrm>
            <a:prstGeom prst="trapezoid">
              <a:avLst>
                <a:gd name="adj" fmla="val 28125"/>
              </a:avLst>
            </a:prstGeom>
            <a:solidFill>
              <a:srgbClr val="D3AFA8"/>
            </a:solidFill>
            <a:ln>
              <a:noFill/>
            </a:ln>
          </p:spPr>
        </p:sp>
        <p:grpSp>
          <p:nvGrpSpPr>
            <p:cNvPr id="208" name="Group 208"/>
            <p:cNvGrpSpPr/>
            <p:nvPr/>
          </p:nvGrpSpPr>
          <p:grpSpPr>
            <a:xfrm>
              <a:off x="9281756" y="1779270"/>
              <a:ext cx="429337" cy="1449706"/>
              <a:chOff x="9281756" y="1779270"/>
              <a:chExt cx="429337" cy="1449706"/>
            </a:xfrm>
          </p:grpSpPr>
          <p:sp>
            <p:nvSpPr>
              <p:cNvPr id="203" name="TextBox 203"/>
              <p:cNvSpPr txBox="1"/>
              <p:nvPr/>
            </p:nvSpPr>
            <p:spPr>
              <a:xfrm>
                <a:off x="9281756" y="1779270"/>
                <a:ext cx="42933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1,656​</a:t>
                </a:r>
              </a:p>
            </p:txBody>
          </p:sp>
          <p:sp>
            <p:nvSpPr>
              <p:cNvPr id="204" name="TextBox 204"/>
              <p:cNvSpPr txBox="1"/>
              <p:nvPr/>
            </p:nvSpPr>
            <p:spPr>
              <a:xfrm>
                <a:off x="9281756" y="2103120"/>
                <a:ext cx="42933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1,280​</a:t>
                </a:r>
              </a:p>
            </p:txBody>
          </p:sp>
          <p:sp>
            <p:nvSpPr>
              <p:cNvPr id="205" name="TextBox 205"/>
              <p:cNvSpPr txBox="1"/>
              <p:nvPr/>
            </p:nvSpPr>
            <p:spPr>
              <a:xfrm>
                <a:off x="9351725" y="2426970"/>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760​</a:t>
                </a:r>
              </a:p>
            </p:txBody>
          </p:sp>
          <p:sp>
            <p:nvSpPr>
              <p:cNvPr id="206" name="TextBox 206"/>
              <p:cNvSpPr txBox="1"/>
              <p:nvPr/>
            </p:nvSpPr>
            <p:spPr>
              <a:xfrm>
                <a:off x="9364164" y="2758916"/>
                <a:ext cx="26452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420​</a:t>
                </a:r>
              </a:p>
            </p:txBody>
          </p:sp>
          <p:sp>
            <p:nvSpPr>
              <p:cNvPr id="207" name="TextBox 207"/>
              <p:cNvSpPr txBox="1"/>
              <p:nvPr/>
            </p:nvSpPr>
            <p:spPr>
              <a:xfrm>
                <a:off x="9375048" y="3081338"/>
                <a:ext cx="242754" cy="147638"/>
              </a:xfrm>
              <a:prstGeom prst="rect">
                <a:avLst/>
              </a:prstGeom>
              <a:noFill/>
              <a:ln>
                <a:noFill/>
              </a:ln>
            </p:spPr>
            <p:txBody>
              <a:bodyPr wrap="none" lIns="0" tIns="0" rIns="0" bIns="0" anchor="t" anchorCtr="0">
                <a:spAutoFit/>
              </a:bodyPr>
              <a:lstStyle/>
              <a:p>
                <a:pPr algn="ctr"/>
                <a:r>
                  <a:rPr lang="zh-CN" sz="750" b="1" dirty="0">
                    <a:solidFill>
                      <a:srgbClr val="3B130B"/>
                    </a:solidFill>
                    <a:latin typeface="+mn-lt"/>
                    <a:ea typeface="+mn-ea"/>
                    <a:cs typeface="+mn-cs"/>
                  </a:rPr>
                  <a:t>286​</a:t>
                </a:r>
              </a:p>
            </p:txBody>
          </p:sp>
        </p:grpSp>
        <p:grpSp>
          <p:nvGrpSpPr>
            <p:cNvPr id="219" name="funnel-stage-labels"/>
            <p:cNvGrpSpPr/>
            <p:nvPr/>
          </p:nvGrpSpPr>
          <p:grpSpPr>
            <a:xfrm>
              <a:off x="10339388" y="1724739"/>
              <a:ext cx="1113947" cy="1545908"/>
              <a:chOff x="10339388" y="1724739"/>
              <a:chExt cx="1113947" cy="1545908"/>
            </a:xfrm>
          </p:grpSpPr>
          <p:sp>
            <p:nvSpPr>
              <p:cNvPr id="209" name="TextBox 209"/>
              <p:cNvSpPr txBox="1"/>
              <p:nvPr/>
            </p:nvSpPr>
            <p:spPr>
              <a:xfrm>
                <a:off x="10339388" y="17247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重点名单​</a:t>
                </a:r>
              </a:p>
            </p:txBody>
          </p:sp>
          <p:sp>
            <p:nvSpPr>
              <p:cNvPr id="210" name="TextBox 210"/>
              <p:cNvSpPr txBox="1"/>
              <p:nvPr/>
            </p:nvSpPr>
            <p:spPr>
              <a:xfrm>
                <a:off x="10339388" y="1863328"/>
                <a:ext cx="1113947"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（存量高价值+到期+流失风险）​</a:t>
                </a:r>
              </a:p>
            </p:txBody>
          </p:sp>
          <p:sp>
            <p:nvSpPr>
              <p:cNvPr id="211" name="TextBox 211"/>
              <p:cNvSpPr txBox="1"/>
              <p:nvPr/>
            </p:nvSpPr>
            <p:spPr>
              <a:xfrm>
                <a:off x="10339388" y="204858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成功联系​</a:t>
                </a:r>
              </a:p>
            </p:txBody>
          </p:sp>
          <p:sp>
            <p:nvSpPr>
              <p:cNvPr id="212" name="TextBox 212"/>
              <p:cNvSpPr txBox="1"/>
              <p:nvPr/>
            </p:nvSpPr>
            <p:spPr>
              <a:xfrm>
                <a:off x="10339388" y="2187178"/>
                <a:ext cx="955634"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（联系上客户并建立沟通）​</a:t>
                </a:r>
              </a:p>
            </p:txBody>
          </p:sp>
          <p:sp>
            <p:nvSpPr>
              <p:cNvPr id="213" name="TextBox 213"/>
              <p:cNvSpPr txBox="1"/>
              <p:nvPr/>
            </p:nvSpPr>
            <p:spPr>
              <a:xfrm>
                <a:off x="10339388" y="2372439"/>
                <a:ext cx="283642"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面谈​</a:t>
                </a:r>
              </a:p>
            </p:txBody>
          </p:sp>
          <p:sp>
            <p:nvSpPr>
              <p:cNvPr id="214" name="TextBox 214"/>
              <p:cNvSpPr txBox="1"/>
              <p:nvPr/>
            </p:nvSpPr>
            <p:spPr>
              <a:xfrm>
                <a:off x="10339388" y="2511028"/>
                <a:ext cx="654086"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（开展深度面谈）​</a:t>
                </a:r>
              </a:p>
            </p:txBody>
          </p:sp>
          <p:sp>
            <p:nvSpPr>
              <p:cNvPr id="215" name="TextBox 215"/>
              <p:cNvSpPr txBox="1"/>
              <p:nvPr/>
            </p:nvSpPr>
            <p:spPr>
              <a:xfrm>
                <a:off x="10339388" y="2696289"/>
                <a:ext cx="283642"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意向​</a:t>
                </a:r>
              </a:p>
            </p:txBody>
          </p:sp>
          <p:sp>
            <p:nvSpPr>
              <p:cNvPr id="216" name="TextBox 216"/>
              <p:cNvSpPr txBox="1"/>
              <p:nvPr/>
            </p:nvSpPr>
            <p:spPr>
              <a:xfrm>
                <a:off x="10339388" y="2834878"/>
                <a:ext cx="880247"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（有明确存款配置意向）​</a:t>
                </a:r>
              </a:p>
            </p:txBody>
          </p:sp>
          <p:sp>
            <p:nvSpPr>
              <p:cNvPr id="217" name="TextBox 217"/>
              <p:cNvSpPr txBox="1"/>
              <p:nvPr/>
            </p:nvSpPr>
            <p:spPr>
              <a:xfrm>
                <a:off x="10339388" y="30201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预计转化​</a:t>
                </a:r>
              </a:p>
            </p:txBody>
          </p:sp>
          <p:sp>
            <p:nvSpPr>
              <p:cNvPr id="218" name="TextBox 218"/>
              <p:cNvSpPr txBox="1"/>
              <p:nvPr/>
            </p:nvSpPr>
            <p:spPr>
              <a:xfrm>
                <a:off x="10339388" y="3158728"/>
                <a:ext cx="682249"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（Q4内预计落地）​</a:t>
                </a:r>
              </a:p>
            </p:txBody>
          </p:sp>
        </p:grpSp>
        <p:sp>
          <p:nvSpPr>
            <p:cNvPr id="220" name="Freeform 220"/>
            <p:cNvSpPr/>
            <p:nvPr/>
          </p:nvSpPr>
          <p:spPr>
            <a:xfrm rot="10800000">
              <a:off x="11563350" y="1905000"/>
              <a:ext cx="114300" cy="95250"/>
            </a:xfrm>
            <a:prstGeom prst="triangle">
              <a:avLst/>
            </a:prstGeom>
            <a:solidFill>
              <a:srgbClr val="9A412F"/>
            </a:solidFill>
            <a:ln>
              <a:noFill/>
            </a:ln>
          </p:spPr>
        </p:sp>
        <p:sp>
          <p:nvSpPr>
            <p:cNvPr id="221" name="TextBox 221"/>
            <p:cNvSpPr txBox="1"/>
            <p:nvPr/>
          </p:nvSpPr>
          <p:spPr>
            <a:xfrm>
              <a:off x="11595386" y="1972389"/>
              <a:ext cx="277526" cy="154781"/>
            </a:xfrm>
            <a:prstGeom prst="rect">
              <a:avLst/>
            </a:prstGeom>
            <a:noFill/>
            <a:ln>
              <a:noFill/>
            </a:ln>
          </p:spPr>
          <p:txBody>
            <a:bodyPr wrap="none" lIns="0" tIns="0" rIns="0" bIns="0" anchor="t" anchorCtr="0">
              <a:spAutoFit/>
            </a:bodyPr>
            <a:lstStyle/>
            <a:p>
              <a:pPr algn="r"/>
              <a:r>
                <a:rPr lang="zh-CN" sz="790" b="1" dirty="0">
                  <a:solidFill>
                    <a:srgbClr val="9A412F"/>
                  </a:solidFill>
                  <a:latin typeface="+mn-lt"/>
                  <a:ea typeface="+mn-ea"/>
                  <a:cs typeface="+mn-cs"/>
                </a:rPr>
                <a:t>77%​</a:t>
              </a:r>
            </a:p>
          </p:txBody>
        </p:sp>
        <p:sp>
          <p:nvSpPr>
            <p:cNvPr id="222" name="Freeform 222"/>
            <p:cNvSpPr/>
            <p:nvPr/>
          </p:nvSpPr>
          <p:spPr>
            <a:xfrm rot="10800000">
              <a:off x="11563350" y="2228850"/>
              <a:ext cx="114300" cy="95250"/>
            </a:xfrm>
            <a:prstGeom prst="triangle">
              <a:avLst/>
            </a:prstGeom>
            <a:solidFill>
              <a:srgbClr val="9A412F"/>
            </a:solidFill>
            <a:ln>
              <a:noFill/>
            </a:ln>
          </p:spPr>
        </p:sp>
        <p:sp>
          <p:nvSpPr>
            <p:cNvPr id="223" name="TextBox 223"/>
            <p:cNvSpPr txBox="1"/>
            <p:nvPr/>
          </p:nvSpPr>
          <p:spPr>
            <a:xfrm>
              <a:off x="11595386" y="2296239"/>
              <a:ext cx="277526" cy="154781"/>
            </a:xfrm>
            <a:prstGeom prst="rect">
              <a:avLst/>
            </a:prstGeom>
            <a:noFill/>
            <a:ln>
              <a:noFill/>
            </a:ln>
          </p:spPr>
          <p:txBody>
            <a:bodyPr wrap="none" lIns="0" tIns="0" rIns="0" bIns="0" anchor="t" anchorCtr="0">
              <a:spAutoFit/>
            </a:bodyPr>
            <a:lstStyle/>
            <a:p>
              <a:pPr algn="r"/>
              <a:r>
                <a:rPr lang="zh-CN" sz="790" b="1" dirty="0">
                  <a:solidFill>
                    <a:srgbClr val="9A412F"/>
                  </a:solidFill>
                  <a:latin typeface="+mn-lt"/>
                  <a:ea typeface="+mn-ea"/>
                  <a:cs typeface="+mn-cs"/>
                </a:rPr>
                <a:t>59%​</a:t>
              </a:r>
            </a:p>
          </p:txBody>
        </p:sp>
        <p:sp>
          <p:nvSpPr>
            <p:cNvPr id="224" name="Freeform 224"/>
            <p:cNvSpPr/>
            <p:nvPr/>
          </p:nvSpPr>
          <p:spPr>
            <a:xfrm rot="10800000">
              <a:off x="11563350" y="2552700"/>
              <a:ext cx="114300" cy="95250"/>
            </a:xfrm>
            <a:prstGeom prst="triangle">
              <a:avLst/>
            </a:prstGeom>
            <a:solidFill>
              <a:srgbClr val="9A412F"/>
            </a:solidFill>
            <a:ln>
              <a:noFill/>
            </a:ln>
          </p:spPr>
        </p:sp>
        <p:sp>
          <p:nvSpPr>
            <p:cNvPr id="225" name="TextBox 225"/>
            <p:cNvSpPr txBox="1"/>
            <p:nvPr/>
          </p:nvSpPr>
          <p:spPr>
            <a:xfrm>
              <a:off x="11595386" y="2620089"/>
              <a:ext cx="277526" cy="154781"/>
            </a:xfrm>
            <a:prstGeom prst="rect">
              <a:avLst/>
            </a:prstGeom>
            <a:noFill/>
            <a:ln>
              <a:noFill/>
            </a:ln>
          </p:spPr>
          <p:txBody>
            <a:bodyPr wrap="none" lIns="0" tIns="0" rIns="0" bIns="0" anchor="t" anchorCtr="0">
              <a:spAutoFit/>
            </a:bodyPr>
            <a:lstStyle/>
            <a:p>
              <a:pPr algn="r"/>
              <a:r>
                <a:rPr lang="zh-CN" sz="790" b="1" dirty="0">
                  <a:solidFill>
                    <a:srgbClr val="9A412F"/>
                  </a:solidFill>
                  <a:latin typeface="+mn-lt"/>
                  <a:ea typeface="+mn-ea"/>
                  <a:cs typeface="+mn-cs"/>
                </a:rPr>
                <a:t>55%​</a:t>
              </a:r>
            </a:p>
          </p:txBody>
        </p:sp>
        <p:sp>
          <p:nvSpPr>
            <p:cNvPr id="226" name="Freeform 226"/>
            <p:cNvSpPr/>
            <p:nvPr/>
          </p:nvSpPr>
          <p:spPr>
            <a:xfrm rot="10800000">
              <a:off x="11563350" y="2876550"/>
              <a:ext cx="114300" cy="95250"/>
            </a:xfrm>
            <a:prstGeom prst="triangle">
              <a:avLst/>
            </a:prstGeom>
            <a:solidFill>
              <a:srgbClr val="9A412F"/>
            </a:solidFill>
            <a:ln>
              <a:noFill/>
            </a:ln>
          </p:spPr>
        </p:sp>
        <p:sp>
          <p:nvSpPr>
            <p:cNvPr id="227" name="TextBox 227"/>
            <p:cNvSpPr txBox="1"/>
            <p:nvPr/>
          </p:nvSpPr>
          <p:spPr>
            <a:xfrm>
              <a:off x="11595386" y="2943939"/>
              <a:ext cx="277526" cy="154781"/>
            </a:xfrm>
            <a:prstGeom prst="rect">
              <a:avLst/>
            </a:prstGeom>
            <a:noFill/>
            <a:ln>
              <a:noFill/>
            </a:ln>
          </p:spPr>
          <p:txBody>
            <a:bodyPr wrap="none" lIns="0" tIns="0" rIns="0" bIns="0" anchor="t" anchorCtr="0">
              <a:spAutoFit/>
            </a:bodyPr>
            <a:lstStyle/>
            <a:p>
              <a:pPr algn="r"/>
              <a:r>
                <a:rPr lang="zh-CN" sz="790" b="1" dirty="0">
                  <a:solidFill>
                    <a:srgbClr val="9A412F"/>
                  </a:solidFill>
                  <a:latin typeface="+mn-lt"/>
                  <a:ea typeface="+mn-ea"/>
                  <a:cs typeface="+mn-cs"/>
                </a:rPr>
                <a:t>68%​</a:t>
              </a:r>
            </a:p>
          </p:txBody>
        </p:sp>
      </p:grpSp>
      <p:grpSp>
        <p:nvGrpSpPr>
          <p:cNvPr id="310" name="gantt-card"/>
          <p:cNvGrpSpPr/>
          <p:nvPr/>
        </p:nvGrpSpPr>
        <p:grpSpPr>
          <a:xfrm>
            <a:off x="228600" y="3695700"/>
            <a:ext cx="6438900" cy="3086100"/>
            <a:chOff x="228600" y="3695700"/>
            <a:chExt cx="6438900" cy="3086100"/>
          </a:xfrm>
        </p:grpSpPr>
        <p:sp>
          <p:nvSpPr>
            <p:cNvPr id="229" name="Rectangle 229"/>
            <p:cNvSpPr/>
            <p:nvPr/>
          </p:nvSpPr>
          <p:spPr>
            <a:xfrm>
              <a:off x="228600" y="3695700"/>
              <a:ext cx="6438900" cy="3086100"/>
            </a:xfrm>
            <a:prstGeom prst="roundRect">
              <a:avLst>
                <a:gd name="adj" fmla="val 3086"/>
              </a:avLst>
            </a:prstGeom>
            <a:solidFill>
              <a:srgbClr val="F5FAF8"/>
            </a:solidFill>
            <a:ln w="9525">
              <a:solidFill>
                <a:srgbClr val="D9E8E2"/>
              </a:solidFill>
            </a:ln>
          </p:spPr>
        </p:sp>
        <p:sp>
          <p:nvSpPr>
            <p:cNvPr id="230" name="Rectangle 230"/>
            <p:cNvSpPr/>
            <p:nvPr/>
          </p:nvSpPr>
          <p:spPr>
            <a:xfrm>
              <a:off x="323850" y="3790950"/>
              <a:ext cx="285750" cy="190500"/>
            </a:xfrm>
            <a:prstGeom prst="roundRect">
              <a:avLst>
                <a:gd name="adj" fmla="val 15000"/>
              </a:avLst>
            </a:prstGeom>
            <a:solidFill>
              <a:srgbClr val="5B180B"/>
            </a:solidFill>
            <a:ln>
              <a:noFill/>
            </a:ln>
          </p:spPr>
        </p:sp>
        <p:sp>
          <p:nvSpPr>
            <p:cNvPr id="231" name="TextBox 231"/>
            <p:cNvSpPr txBox="1"/>
            <p:nvPr/>
          </p:nvSpPr>
          <p:spPr>
            <a:xfrm>
              <a:off x="366339" y="3844766"/>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04​</a:t>
              </a:r>
            </a:p>
          </p:txBody>
        </p:sp>
        <p:sp>
          <p:nvSpPr>
            <p:cNvPr id="232" name="TextBox 232"/>
            <p:cNvSpPr txBox="1"/>
            <p:nvPr/>
          </p:nvSpPr>
          <p:spPr>
            <a:xfrm>
              <a:off x="680847" y="3828574"/>
              <a:ext cx="1976586"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Q4攻坚行动周历（10月-12月）​</a:t>
              </a:r>
            </a:p>
          </p:txBody>
        </p:sp>
        <p:sp>
          <p:nvSpPr>
            <p:cNvPr id="233" name="Rectangle 233"/>
            <p:cNvSpPr/>
            <p:nvPr/>
          </p:nvSpPr>
          <p:spPr>
            <a:xfrm>
              <a:off x="285750" y="4019550"/>
              <a:ext cx="6267450" cy="285750"/>
            </a:xfrm>
            <a:prstGeom prst="rect">
              <a:avLst/>
            </a:prstGeom>
            <a:solidFill>
              <a:srgbClr val="E9F4F0"/>
            </a:solidFill>
            <a:ln>
              <a:noFill/>
            </a:ln>
          </p:spPr>
        </p:sp>
        <p:sp>
          <p:nvSpPr>
            <p:cNvPr id="234" name="TextBox 234"/>
            <p:cNvSpPr txBox="1"/>
            <p:nvPr/>
          </p:nvSpPr>
          <p:spPr>
            <a:xfrm>
              <a:off x="519759" y="4123611"/>
              <a:ext cx="255883" cy="140494"/>
            </a:xfrm>
            <a:prstGeom prst="rect">
              <a:avLst/>
            </a:prstGeom>
            <a:noFill/>
            <a:ln>
              <a:noFill/>
            </a:ln>
          </p:spPr>
          <p:txBody>
            <a:bodyPr wrap="none" lIns="0" tIns="0" rIns="0" bIns="0" anchor="t" anchorCtr="0">
              <a:spAutoFit/>
            </a:bodyPr>
            <a:lstStyle/>
            <a:p>
              <a:pPr algn="ctr"/>
              <a:r>
                <a:rPr lang="zh-CN" sz="710" b="1" dirty="0">
                  <a:solidFill>
                    <a:srgbClr val="5B180B"/>
                  </a:solidFill>
                  <a:latin typeface="+mn-lt"/>
                  <a:ea typeface="+mn-ea"/>
                  <a:cs typeface="+mn-cs"/>
                </a:rPr>
                <a:t>周次​</a:t>
              </a:r>
            </a:p>
          </p:txBody>
        </p:sp>
        <p:grpSp>
          <p:nvGrpSpPr>
            <p:cNvPr id="259" name="week-head"/>
            <p:cNvGrpSpPr/>
            <p:nvPr/>
          </p:nvGrpSpPr>
          <p:grpSpPr>
            <a:xfrm>
              <a:off x="1090187" y="4069080"/>
              <a:ext cx="5437806" cy="224075"/>
              <a:chOff x="1090187" y="4069080"/>
              <a:chExt cx="5437806" cy="224075"/>
            </a:xfrm>
          </p:grpSpPr>
          <p:sp>
            <p:nvSpPr>
              <p:cNvPr id="235" name="TextBox 235"/>
              <p:cNvSpPr txBox="1"/>
              <p:nvPr/>
            </p:nvSpPr>
            <p:spPr>
              <a:xfrm>
                <a:off x="1188697" y="4069080"/>
                <a:ext cx="175306"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W1​</a:t>
                </a:r>
              </a:p>
            </p:txBody>
          </p:sp>
          <p:sp>
            <p:nvSpPr>
              <p:cNvPr id="236" name="TextBox 236"/>
              <p:cNvSpPr txBox="1"/>
              <p:nvPr/>
            </p:nvSpPr>
            <p:spPr>
              <a:xfrm>
                <a:off x="1090187" y="4195524"/>
                <a:ext cx="37232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10.1-10.7​</a:t>
                </a:r>
              </a:p>
            </p:txBody>
          </p:sp>
          <p:sp>
            <p:nvSpPr>
              <p:cNvPr id="237" name="TextBox 237"/>
              <p:cNvSpPr txBox="1"/>
              <p:nvPr/>
            </p:nvSpPr>
            <p:spPr>
              <a:xfrm>
                <a:off x="1645897" y="4069080"/>
                <a:ext cx="175306"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W2​</a:t>
                </a:r>
              </a:p>
            </p:txBody>
          </p:sp>
          <p:sp>
            <p:nvSpPr>
              <p:cNvPr id="238" name="TextBox 238"/>
              <p:cNvSpPr txBox="1"/>
              <p:nvPr/>
            </p:nvSpPr>
            <p:spPr>
              <a:xfrm>
                <a:off x="1529247" y="4195524"/>
                <a:ext cx="40860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10.8-10.14​</a:t>
                </a:r>
              </a:p>
            </p:txBody>
          </p:sp>
          <p:sp>
            <p:nvSpPr>
              <p:cNvPr id="239" name="TextBox 239"/>
              <p:cNvSpPr txBox="1"/>
              <p:nvPr/>
            </p:nvSpPr>
            <p:spPr>
              <a:xfrm>
                <a:off x="2103097" y="4069080"/>
                <a:ext cx="175306"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W3​</a:t>
                </a:r>
              </a:p>
            </p:txBody>
          </p:sp>
          <p:sp>
            <p:nvSpPr>
              <p:cNvPr id="240" name="TextBox 240"/>
              <p:cNvSpPr txBox="1"/>
              <p:nvPr/>
            </p:nvSpPr>
            <p:spPr>
              <a:xfrm>
                <a:off x="1968307" y="4195524"/>
                <a:ext cx="44488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10.15-10.21​</a:t>
                </a:r>
              </a:p>
            </p:txBody>
          </p:sp>
          <p:sp>
            <p:nvSpPr>
              <p:cNvPr id="241" name="TextBox 241"/>
              <p:cNvSpPr txBox="1"/>
              <p:nvPr/>
            </p:nvSpPr>
            <p:spPr>
              <a:xfrm>
                <a:off x="2560297" y="4069080"/>
                <a:ext cx="175306"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W4​</a:t>
                </a:r>
              </a:p>
            </p:txBody>
          </p:sp>
          <p:sp>
            <p:nvSpPr>
              <p:cNvPr id="242" name="TextBox 242"/>
              <p:cNvSpPr txBox="1"/>
              <p:nvPr/>
            </p:nvSpPr>
            <p:spPr>
              <a:xfrm>
                <a:off x="2425507" y="4195524"/>
                <a:ext cx="44488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10.22-10.31​</a:t>
                </a:r>
              </a:p>
            </p:txBody>
          </p:sp>
          <p:sp>
            <p:nvSpPr>
              <p:cNvPr id="243" name="TextBox 243"/>
              <p:cNvSpPr txBox="1"/>
              <p:nvPr/>
            </p:nvSpPr>
            <p:spPr>
              <a:xfrm>
                <a:off x="3017497" y="4069080"/>
                <a:ext cx="175306"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W5​</a:t>
                </a:r>
              </a:p>
            </p:txBody>
          </p:sp>
          <p:sp>
            <p:nvSpPr>
              <p:cNvPr id="244" name="TextBox 244"/>
              <p:cNvSpPr txBox="1"/>
              <p:nvPr/>
            </p:nvSpPr>
            <p:spPr>
              <a:xfrm>
                <a:off x="2918987" y="4195524"/>
                <a:ext cx="37232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11.1-11.7​</a:t>
                </a:r>
              </a:p>
            </p:txBody>
          </p:sp>
          <p:sp>
            <p:nvSpPr>
              <p:cNvPr id="245" name="TextBox 245"/>
              <p:cNvSpPr txBox="1"/>
              <p:nvPr/>
            </p:nvSpPr>
            <p:spPr>
              <a:xfrm>
                <a:off x="3474697" y="4069080"/>
                <a:ext cx="175306"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W6​</a:t>
                </a:r>
              </a:p>
            </p:txBody>
          </p:sp>
          <p:sp>
            <p:nvSpPr>
              <p:cNvPr id="246" name="TextBox 246"/>
              <p:cNvSpPr txBox="1"/>
              <p:nvPr/>
            </p:nvSpPr>
            <p:spPr>
              <a:xfrm>
                <a:off x="3358047" y="4195524"/>
                <a:ext cx="40860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11.8-11.14​</a:t>
                </a:r>
              </a:p>
            </p:txBody>
          </p:sp>
          <p:sp>
            <p:nvSpPr>
              <p:cNvPr id="247" name="TextBox 247"/>
              <p:cNvSpPr txBox="1"/>
              <p:nvPr/>
            </p:nvSpPr>
            <p:spPr>
              <a:xfrm>
                <a:off x="3931897" y="4069080"/>
                <a:ext cx="175306"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W7​</a:t>
                </a:r>
              </a:p>
            </p:txBody>
          </p:sp>
          <p:sp>
            <p:nvSpPr>
              <p:cNvPr id="248" name="TextBox 248"/>
              <p:cNvSpPr txBox="1"/>
              <p:nvPr/>
            </p:nvSpPr>
            <p:spPr>
              <a:xfrm>
                <a:off x="3797107" y="4195524"/>
                <a:ext cx="44488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11.15-11.21​</a:t>
                </a:r>
              </a:p>
            </p:txBody>
          </p:sp>
          <p:sp>
            <p:nvSpPr>
              <p:cNvPr id="249" name="TextBox 249"/>
              <p:cNvSpPr txBox="1"/>
              <p:nvPr/>
            </p:nvSpPr>
            <p:spPr>
              <a:xfrm>
                <a:off x="4389097" y="4069080"/>
                <a:ext cx="175306"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W8​</a:t>
                </a:r>
              </a:p>
            </p:txBody>
          </p:sp>
          <p:sp>
            <p:nvSpPr>
              <p:cNvPr id="250" name="TextBox 250"/>
              <p:cNvSpPr txBox="1"/>
              <p:nvPr/>
            </p:nvSpPr>
            <p:spPr>
              <a:xfrm>
                <a:off x="4254307" y="4195524"/>
                <a:ext cx="44488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11.22-11.30​</a:t>
                </a:r>
              </a:p>
            </p:txBody>
          </p:sp>
          <p:sp>
            <p:nvSpPr>
              <p:cNvPr id="251" name="TextBox 251"/>
              <p:cNvSpPr txBox="1"/>
              <p:nvPr/>
            </p:nvSpPr>
            <p:spPr>
              <a:xfrm>
                <a:off x="4846297" y="4069080"/>
                <a:ext cx="175306"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W9​</a:t>
                </a:r>
              </a:p>
            </p:txBody>
          </p:sp>
          <p:sp>
            <p:nvSpPr>
              <p:cNvPr id="252" name="TextBox 252"/>
              <p:cNvSpPr txBox="1"/>
              <p:nvPr/>
            </p:nvSpPr>
            <p:spPr>
              <a:xfrm>
                <a:off x="4747787" y="4195524"/>
                <a:ext cx="37232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12.1-12.7​</a:t>
                </a:r>
              </a:p>
            </p:txBody>
          </p:sp>
          <p:sp>
            <p:nvSpPr>
              <p:cNvPr id="253" name="TextBox 253"/>
              <p:cNvSpPr txBox="1"/>
              <p:nvPr/>
            </p:nvSpPr>
            <p:spPr>
              <a:xfrm>
                <a:off x="5278854" y="4069080"/>
                <a:ext cx="224592"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W10​</a:t>
                </a:r>
              </a:p>
            </p:txBody>
          </p:sp>
          <p:sp>
            <p:nvSpPr>
              <p:cNvPr id="254" name="TextBox 254"/>
              <p:cNvSpPr txBox="1"/>
              <p:nvPr/>
            </p:nvSpPr>
            <p:spPr>
              <a:xfrm>
                <a:off x="5186847" y="4195524"/>
                <a:ext cx="40860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12.8-12.14​</a:t>
                </a:r>
              </a:p>
            </p:txBody>
          </p:sp>
          <p:sp>
            <p:nvSpPr>
              <p:cNvPr id="255" name="TextBox 255"/>
              <p:cNvSpPr txBox="1"/>
              <p:nvPr/>
            </p:nvSpPr>
            <p:spPr>
              <a:xfrm>
                <a:off x="5736054" y="4069080"/>
                <a:ext cx="224592"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W11​</a:t>
                </a:r>
              </a:p>
            </p:txBody>
          </p:sp>
          <p:sp>
            <p:nvSpPr>
              <p:cNvPr id="256" name="TextBox 256"/>
              <p:cNvSpPr txBox="1"/>
              <p:nvPr/>
            </p:nvSpPr>
            <p:spPr>
              <a:xfrm>
                <a:off x="5625907" y="4195524"/>
                <a:ext cx="44488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12.15-12.21​</a:t>
                </a:r>
              </a:p>
            </p:txBody>
          </p:sp>
          <p:sp>
            <p:nvSpPr>
              <p:cNvPr id="257" name="TextBox 257"/>
              <p:cNvSpPr txBox="1"/>
              <p:nvPr/>
            </p:nvSpPr>
            <p:spPr>
              <a:xfrm>
                <a:off x="6193254" y="4069080"/>
                <a:ext cx="224592" cy="119062"/>
              </a:xfrm>
              <a:prstGeom prst="rect">
                <a:avLst/>
              </a:prstGeom>
              <a:noFill/>
              <a:ln>
                <a:noFill/>
              </a:ln>
            </p:spPr>
            <p:txBody>
              <a:bodyPr wrap="none" lIns="0" tIns="0" rIns="0" bIns="0" anchor="t" anchorCtr="0">
                <a:spAutoFit/>
              </a:bodyPr>
              <a:lstStyle/>
              <a:p>
                <a:pPr algn="ctr"/>
                <a:r>
                  <a:rPr lang="en-US" sz="600" b="1" dirty="0">
                    <a:solidFill>
                      <a:srgbClr val="4A3D3A"/>
                    </a:solidFill>
                    <a:latin typeface="+mn-lt"/>
                    <a:ea typeface="+mn-ea"/>
                    <a:cs typeface="+mn-cs"/>
                  </a:rPr>
                  <a:t>W12​</a:t>
                </a:r>
              </a:p>
            </p:txBody>
          </p:sp>
          <p:sp>
            <p:nvSpPr>
              <p:cNvPr id="258" name="TextBox 258"/>
              <p:cNvSpPr txBox="1"/>
              <p:nvPr/>
            </p:nvSpPr>
            <p:spPr>
              <a:xfrm>
                <a:off x="6083107" y="4195524"/>
                <a:ext cx="444886" cy="97631"/>
              </a:xfrm>
              <a:prstGeom prst="rect">
                <a:avLst/>
              </a:prstGeom>
              <a:noFill/>
              <a:ln>
                <a:noFill/>
              </a:ln>
            </p:spPr>
            <p:txBody>
              <a:bodyPr wrap="none" lIns="0" tIns="0" rIns="0" bIns="0" anchor="t" anchorCtr="0">
                <a:spAutoFit/>
              </a:bodyPr>
              <a:lstStyle/>
              <a:p>
                <a:pPr algn="ctr"/>
                <a:r>
                  <a:rPr lang="zh-CN" sz="490" dirty="0">
                    <a:solidFill>
                      <a:srgbClr val="4A3D3A"/>
                    </a:solidFill>
                    <a:latin typeface="+mn-lt"/>
                    <a:ea typeface="+mn-ea"/>
                    <a:cs typeface="+mn-cs"/>
                  </a:rPr>
                  <a:t>12.22-12.31​</a:t>
                </a:r>
              </a:p>
            </p:txBody>
          </p:sp>
        </p:grpSp>
        <p:grpSp>
          <p:nvGrpSpPr>
            <p:cNvPr id="265" name="gantt-grid"/>
            <p:cNvGrpSpPr/>
            <p:nvPr/>
          </p:nvGrpSpPr>
          <p:grpSpPr>
            <a:xfrm>
              <a:off x="285750" y="4610100"/>
              <a:ext cx="6267450" cy="1381125"/>
              <a:chOff x="285750" y="4610100"/>
              <a:chExt cx="6267450" cy="1381125"/>
            </a:xfrm>
          </p:grpSpPr>
          <p:sp>
            <p:nvSpPr>
              <p:cNvPr id="260" name="Line 260"/>
              <p:cNvSpPr/>
              <p:nvPr/>
            </p:nvSpPr>
            <p:spPr>
              <a:xfrm>
                <a:off x="285750" y="4610100"/>
                <a:ext cx="6267450" cy="9525"/>
              </a:xfrm>
              <a:custGeom>
                <a:avLst/>
                <a:gdLst/>
                <a:ahLst/>
                <a:cxnLst/>
                <a:rect l="l" t="t" r="r" b="b"/>
                <a:pathLst>
                  <a:path w="6267450" h="9525">
                    <a:moveTo>
                      <a:pt x="0" y="0"/>
                    </a:moveTo>
                    <a:lnTo>
                      <a:pt x="6267450" y="0"/>
                    </a:lnTo>
                  </a:path>
                </a:pathLst>
              </a:custGeom>
              <a:noFill/>
              <a:ln w="7620">
                <a:solidFill>
                  <a:srgbClr val="E3ECE8"/>
                </a:solidFill>
              </a:ln>
            </p:spPr>
          </p:sp>
          <p:sp>
            <p:nvSpPr>
              <p:cNvPr id="261" name="Line 261"/>
              <p:cNvSpPr/>
              <p:nvPr/>
            </p:nvSpPr>
            <p:spPr>
              <a:xfrm>
                <a:off x="285750" y="4953000"/>
                <a:ext cx="6267450" cy="9525"/>
              </a:xfrm>
              <a:custGeom>
                <a:avLst/>
                <a:gdLst/>
                <a:ahLst/>
                <a:cxnLst/>
                <a:rect l="l" t="t" r="r" b="b"/>
                <a:pathLst>
                  <a:path w="6267450" h="9525">
                    <a:moveTo>
                      <a:pt x="0" y="0"/>
                    </a:moveTo>
                    <a:lnTo>
                      <a:pt x="6267450" y="0"/>
                    </a:lnTo>
                  </a:path>
                </a:pathLst>
              </a:custGeom>
              <a:noFill/>
              <a:ln w="7620">
                <a:solidFill>
                  <a:srgbClr val="E3ECE8"/>
                </a:solidFill>
              </a:ln>
            </p:spPr>
          </p:sp>
          <p:sp>
            <p:nvSpPr>
              <p:cNvPr id="262" name="Line 262"/>
              <p:cNvSpPr/>
              <p:nvPr/>
            </p:nvSpPr>
            <p:spPr>
              <a:xfrm>
                <a:off x="285750" y="5295900"/>
                <a:ext cx="6267450" cy="9525"/>
              </a:xfrm>
              <a:custGeom>
                <a:avLst/>
                <a:gdLst/>
                <a:ahLst/>
                <a:cxnLst/>
                <a:rect l="l" t="t" r="r" b="b"/>
                <a:pathLst>
                  <a:path w="6267450" h="9525">
                    <a:moveTo>
                      <a:pt x="0" y="0"/>
                    </a:moveTo>
                    <a:lnTo>
                      <a:pt x="6267450" y="0"/>
                    </a:lnTo>
                  </a:path>
                </a:pathLst>
              </a:custGeom>
              <a:noFill/>
              <a:ln w="7620">
                <a:solidFill>
                  <a:srgbClr val="E3ECE8"/>
                </a:solidFill>
              </a:ln>
            </p:spPr>
          </p:sp>
          <p:sp>
            <p:nvSpPr>
              <p:cNvPr id="263" name="Line 263"/>
              <p:cNvSpPr/>
              <p:nvPr/>
            </p:nvSpPr>
            <p:spPr>
              <a:xfrm>
                <a:off x="285750" y="5638800"/>
                <a:ext cx="6267450" cy="9525"/>
              </a:xfrm>
              <a:custGeom>
                <a:avLst/>
                <a:gdLst/>
                <a:ahLst/>
                <a:cxnLst/>
                <a:rect l="l" t="t" r="r" b="b"/>
                <a:pathLst>
                  <a:path w="6267450" h="9525">
                    <a:moveTo>
                      <a:pt x="0" y="0"/>
                    </a:moveTo>
                    <a:lnTo>
                      <a:pt x="6267450" y="0"/>
                    </a:lnTo>
                  </a:path>
                </a:pathLst>
              </a:custGeom>
              <a:noFill/>
              <a:ln w="7620">
                <a:solidFill>
                  <a:srgbClr val="E3ECE8"/>
                </a:solidFill>
              </a:ln>
            </p:spPr>
          </p:sp>
          <p:sp>
            <p:nvSpPr>
              <p:cNvPr id="264" name="Line 264"/>
              <p:cNvSpPr/>
              <p:nvPr/>
            </p:nvSpPr>
            <p:spPr>
              <a:xfrm>
                <a:off x="285750" y="5981700"/>
                <a:ext cx="6267450" cy="9525"/>
              </a:xfrm>
              <a:custGeom>
                <a:avLst/>
                <a:gdLst/>
                <a:ahLst/>
                <a:cxnLst/>
                <a:rect l="l" t="t" r="r" b="b"/>
                <a:pathLst>
                  <a:path w="6267450" h="9525">
                    <a:moveTo>
                      <a:pt x="0" y="0"/>
                    </a:moveTo>
                    <a:lnTo>
                      <a:pt x="6267450" y="0"/>
                    </a:lnTo>
                  </a:path>
                </a:pathLst>
              </a:custGeom>
              <a:noFill/>
              <a:ln w="7620">
                <a:solidFill>
                  <a:srgbClr val="E3ECE8"/>
                </a:solidFill>
              </a:ln>
            </p:spPr>
          </p:sp>
        </p:grpSp>
        <p:grpSp>
          <p:nvGrpSpPr>
            <p:cNvPr id="272" name="gantt-labels"/>
            <p:cNvGrpSpPr/>
            <p:nvPr/>
          </p:nvGrpSpPr>
          <p:grpSpPr>
            <a:xfrm>
              <a:off x="328598" y="4399836"/>
              <a:ext cx="638204" cy="1854994"/>
              <a:chOff x="328598" y="4399836"/>
              <a:chExt cx="638204" cy="1854994"/>
            </a:xfrm>
          </p:grpSpPr>
          <p:sp>
            <p:nvSpPr>
              <p:cNvPr id="266" name="TextBox 266"/>
              <p:cNvSpPr txBox="1"/>
              <p:nvPr/>
            </p:nvSpPr>
            <p:spPr>
              <a:xfrm>
                <a:off x="328598" y="4399836"/>
                <a:ext cx="638204"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到期资金承接​</a:t>
                </a:r>
              </a:p>
            </p:txBody>
          </p:sp>
          <p:sp>
            <p:nvSpPr>
              <p:cNvPr id="267" name="TextBox 267"/>
              <p:cNvSpPr txBox="1"/>
              <p:nvPr/>
            </p:nvSpPr>
            <p:spPr>
              <a:xfrm>
                <a:off x="328598" y="4742736"/>
                <a:ext cx="638204"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流失客户挽回​</a:t>
                </a:r>
              </a:p>
            </p:txBody>
          </p:sp>
          <p:sp>
            <p:nvSpPr>
              <p:cNvPr id="268" name="TextBox 268"/>
              <p:cNvSpPr txBox="1"/>
              <p:nvPr/>
            </p:nvSpPr>
            <p:spPr>
              <a:xfrm>
                <a:off x="328598" y="5085636"/>
                <a:ext cx="638204"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代发企业拓展​</a:t>
                </a:r>
              </a:p>
            </p:txBody>
          </p:sp>
          <p:sp>
            <p:nvSpPr>
              <p:cNvPr id="269" name="TextBox 269"/>
              <p:cNvSpPr txBox="1"/>
              <p:nvPr/>
            </p:nvSpPr>
            <p:spPr>
              <a:xfrm>
                <a:off x="328598" y="5428536"/>
                <a:ext cx="638204"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对公联动引流​</a:t>
                </a:r>
              </a:p>
            </p:txBody>
          </p:sp>
          <p:sp>
            <p:nvSpPr>
              <p:cNvPr id="270" name="TextBox 270"/>
              <p:cNvSpPr txBox="1"/>
              <p:nvPr/>
            </p:nvSpPr>
            <p:spPr>
              <a:xfrm>
                <a:off x="328598" y="5771436"/>
                <a:ext cx="638204"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重点客户上门​</a:t>
                </a:r>
              </a:p>
            </p:txBody>
          </p:sp>
          <p:sp>
            <p:nvSpPr>
              <p:cNvPr id="271" name="TextBox 271"/>
              <p:cNvSpPr txBox="1"/>
              <p:nvPr/>
            </p:nvSpPr>
            <p:spPr>
              <a:xfrm>
                <a:off x="376388" y="6114336"/>
                <a:ext cx="542624"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活动与营销​</a:t>
                </a:r>
              </a:p>
            </p:txBody>
          </p:sp>
        </p:grpSp>
        <p:sp>
          <p:nvSpPr>
            <p:cNvPr id="273" name="Freeform 273"/>
            <p:cNvSpPr/>
            <p:nvPr/>
          </p:nvSpPr>
          <p:spPr>
            <a:xfrm>
              <a:off x="1047750" y="4324350"/>
              <a:ext cx="1828800" cy="228600"/>
            </a:xfrm>
            <a:prstGeom prst="homePlate">
              <a:avLst>
                <a:gd name="adj" fmla="val 15000"/>
              </a:avLst>
            </a:prstGeom>
            <a:solidFill>
              <a:srgbClr val="5B180B"/>
            </a:solidFill>
            <a:ln>
              <a:noFill/>
            </a:ln>
          </p:spPr>
        </p:sp>
        <p:sp>
          <p:nvSpPr>
            <p:cNvPr id="274" name="Freeform 274"/>
            <p:cNvSpPr/>
            <p:nvPr/>
          </p:nvSpPr>
          <p:spPr>
            <a:xfrm>
              <a:off x="2876550" y="4324350"/>
              <a:ext cx="1828800" cy="228600"/>
            </a:xfrm>
            <a:prstGeom prst="homePlate">
              <a:avLst>
                <a:gd name="adj" fmla="val 15000"/>
              </a:avLst>
            </a:prstGeom>
            <a:solidFill>
              <a:srgbClr val="9A412F"/>
            </a:solidFill>
            <a:ln>
              <a:noFill/>
            </a:ln>
          </p:spPr>
        </p:sp>
        <p:sp>
          <p:nvSpPr>
            <p:cNvPr id="275" name="Freeform 275"/>
            <p:cNvSpPr/>
            <p:nvPr/>
          </p:nvSpPr>
          <p:spPr>
            <a:xfrm>
              <a:off x="4705350" y="4324350"/>
              <a:ext cx="1828800" cy="228600"/>
            </a:xfrm>
            <a:prstGeom prst="homePlate">
              <a:avLst>
                <a:gd name="adj" fmla="val 15000"/>
              </a:avLst>
            </a:prstGeom>
            <a:solidFill>
              <a:srgbClr val="C9988F"/>
            </a:solidFill>
            <a:ln>
              <a:noFill/>
            </a:ln>
          </p:spPr>
        </p:sp>
        <p:sp>
          <p:nvSpPr>
            <p:cNvPr id="276" name="Freeform 276"/>
            <p:cNvSpPr/>
            <p:nvPr/>
          </p:nvSpPr>
          <p:spPr>
            <a:xfrm>
              <a:off x="1047750" y="4667250"/>
              <a:ext cx="1828800" cy="228600"/>
            </a:xfrm>
            <a:prstGeom prst="homePlate">
              <a:avLst>
                <a:gd name="adj" fmla="val 15000"/>
              </a:avLst>
            </a:prstGeom>
            <a:solidFill>
              <a:srgbClr val="5B180B"/>
            </a:solidFill>
            <a:ln>
              <a:noFill/>
            </a:ln>
          </p:spPr>
        </p:sp>
        <p:sp>
          <p:nvSpPr>
            <p:cNvPr id="277" name="Freeform 277"/>
            <p:cNvSpPr/>
            <p:nvPr/>
          </p:nvSpPr>
          <p:spPr>
            <a:xfrm>
              <a:off x="2876550" y="4667250"/>
              <a:ext cx="1828800" cy="228600"/>
            </a:xfrm>
            <a:prstGeom prst="homePlate">
              <a:avLst>
                <a:gd name="adj" fmla="val 15000"/>
              </a:avLst>
            </a:prstGeom>
            <a:solidFill>
              <a:srgbClr val="9A412F"/>
            </a:solidFill>
            <a:ln>
              <a:noFill/>
            </a:ln>
          </p:spPr>
        </p:sp>
        <p:sp>
          <p:nvSpPr>
            <p:cNvPr id="278" name="Freeform 278"/>
            <p:cNvSpPr/>
            <p:nvPr/>
          </p:nvSpPr>
          <p:spPr>
            <a:xfrm>
              <a:off x="4705350" y="4667250"/>
              <a:ext cx="1828800" cy="228600"/>
            </a:xfrm>
            <a:prstGeom prst="homePlate">
              <a:avLst>
                <a:gd name="adj" fmla="val 15000"/>
              </a:avLst>
            </a:prstGeom>
            <a:solidFill>
              <a:srgbClr val="C9988F"/>
            </a:solidFill>
            <a:ln>
              <a:noFill/>
            </a:ln>
          </p:spPr>
        </p:sp>
        <p:sp>
          <p:nvSpPr>
            <p:cNvPr id="279" name="Freeform 279"/>
            <p:cNvSpPr/>
            <p:nvPr/>
          </p:nvSpPr>
          <p:spPr>
            <a:xfrm>
              <a:off x="1047750" y="5010150"/>
              <a:ext cx="1828800" cy="228600"/>
            </a:xfrm>
            <a:prstGeom prst="homePlate">
              <a:avLst>
                <a:gd name="adj" fmla="val 15000"/>
              </a:avLst>
            </a:prstGeom>
            <a:solidFill>
              <a:srgbClr val="5B180B"/>
            </a:solidFill>
            <a:ln>
              <a:noFill/>
            </a:ln>
          </p:spPr>
        </p:sp>
        <p:sp>
          <p:nvSpPr>
            <p:cNvPr id="280" name="Freeform 280"/>
            <p:cNvSpPr/>
            <p:nvPr/>
          </p:nvSpPr>
          <p:spPr>
            <a:xfrm>
              <a:off x="2876550" y="5010150"/>
              <a:ext cx="1828800" cy="228600"/>
            </a:xfrm>
            <a:prstGeom prst="homePlate">
              <a:avLst>
                <a:gd name="adj" fmla="val 15000"/>
              </a:avLst>
            </a:prstGeom>
            <a:solidFill>
              <a:srgbClr val="9A412F"/>
            </a:solidFill>
            <a:ln>
              <a:noFill/>
            </a:ln>
          </p:spPr>
        </p:sp>
        <p:sp>
          <p:nvSpPr>
            <p:cNvPr id="281" name="Freeform 281"/>
            <p:cNvSpPr/>
            <p:nvPr/>
          </p:nvSpPr>
          <p:spPr>
            <a:xfrm>
              <a:off x="4705350" y="5010150"/>
              <a:ext cx="1828800" cy="228600"/>
            </a:xfrm>
            <a:prstGeom prst="homePlate">
              <a:avLst>
                <a:gd name="adj" fmla="val 15000"/>
              </a:avLst>
            </a:prstGeom>
            <a:solidFill>
              <a:srgbClr val="C9988F"/>
            </a:solidFill>
            <a:ln>
              <a:noFill/>
            </a:ln>
          </p:spPr>
        </p:sp>
        <p:sp>
          <p:nvSpPr>
            <p:cNvPr id="282" name="Freeform 282"/>
            <p:cNvSpPr/>
            <p:nvPr/>
          </p:nvSpPr>
          <p:spPr>
            <a:xfrm>
              <a:off x="1047750" y="5353050"/>
              <a:ext cx="1828800" cy="228600"/>
            </a:xfrm>
            <a:prstGeom prst="homePlate">
              <a:avLst>
                <a:gd name="adj" fmla="val 15000"/>
              </a:avLst>
            </a:prstGeom>
            <a:solidFill>
              <a:srgbClr val="5B180B"/>
            </a:solidFill>
            <a:ln>
              <a:noFill/>
            </a:ln>
          </p:spPr>
        </p:sp>
        <p:sp>
          <p:nvSpPr>
            <p:cNvPr id="283" name="Freeform 283"/>
            <p:cNvSpPr/>
            <p:nvPr/>
          </p:nvSpPr>
          <p:spPr>
            <a:xfrm>
              <a:off x="2876550" y="5353050"/>
              <a:ext cx="1828800" cy="228600"/>
            </a:xfrm>
            <a:prstGeom prst="homePlate">
              <a:avLst>
                <a:gd name="adj" fmla="val 15000"/>
              </a:avLst>
            </a:prstGeom>
            <a:solidFill>
              <a:srgbClr val="9A412F"/>
            </a:solidFill>
            <a:ln>
              <a:noFill/>
            </a:ln>
          </p:spPr>
        </p:sp>
        <p:sp>
          <p:nvSpPr>
            <p:cNvPr id="284" name="Freeform 284"/>
            <p:cNvSpPr/>
            <p:nvPr/>
          </p:nvSpPr>
          <p:spPr>
            <a:xfrm>
              <a:off x="4705350" y="5353050"/>
              <a:ext cx="1828800" cy="228600"/>
            </a:xfrm>
            <a:prstGeom prst="homePlate">
              <a:avLst>
                <a:gd name="adj" fmla="val 15000"/>
              </a:avLst>
            </a:prstGeom>
            <a:solidFill>
              <a:srgbClr val="C9988F"/>
            </a:solidFill>
            <a:ln>
              <a:noFill/>
            </a:ln>
          </p:spPr>
        </p:sp>
        <p:sp>
          <p:nvSpPr>
            <p:cNvPr id="285" name="Freeform 285"/>
            <p:cNvSpPr/>
            <p:nvPr/>
          </p:nvSpPr>
          <p:spPr>
            <a:xfrm>
              <a:off x="1047750" y="5695950"/>
              <a:ext cx="1828800" cy="228600"/>
            </a:xfrm>
            <a:prstGeom prst="homePlate">
              <a:avLst>
                <a:gd name="adj" fmla="val 15000"/>
              </a:avLst>
            </a:prstGeom>
            <a:solidFill>
              <a:srgbClr val="5B180B"/>
            </a:solidFill>
            <a:ln>
              <a:noFill/>
            </a:ln>
          </p:spPr>
        </p:sp>
        <p:sp>
          <p:nvSpPr>
            <p:cNvPr id="286" name="Freeform 286"/>
            <p:cNvSpPr/>
            <p:nvPr/>
          </p:nvSpPr>
          <p:spPr>
            <a:xfrm>
              <a:off x="2876550" y="5695950"/>
              <a:ext cx="1828800" cy="228600"/>
            </a:xfrm>
            <a:prstGeom prst="homePlate">
              <a:avLst>
                <a:gd name="adj" fmla="val 15000"/>
              </a:avLst>
            </a:prstGeom>
            <a:solidFill>
              <a:srgbClr val="9A412F"/>
            </a:solidFill>
            <a:ln>
              <a:noFill/>
            </a:ln>
          </p:spPr>
        </p:sp>
        <p:sp>
          <p:nvSpPr>
            <p:cNvPr id="287" name="Freeform 287"/>
            <p:cNvSpPr/>
            <p:nvPr/>
          </p:nvSpPr>
          <p:spPr>
            <a:xfrm>
              <a:off x="4705350" y="5695950"/>
              <a:ext cx="1828800" cy="228600"/>
            </a:xfrm>
            <a:prstGeom prst="homePlate">
              <a:avLst>
                <a:gd name="adj" fmla="val 15000"/>
              </a:avLst>
            </a:prstGeom>
            <a:solidFill>
              <a:srgbClr val="C9988F"/>
            </a:solidFill>
            <a:ln>
              <a:noFill/>
            </a:ln>
          </p:spPr>
        </p:sp>
        <p:sp>
          <p:nvSpPr>
            <p:cNvPr id="288" name="Freeform 288"/>
            <p:cNvSpPr/>
            <p:nvPr/>
          </p:nvSpPr>
          <p:spPr>
            <a:xfrm>
              <a:off x="1047750" y="6038850"/>
              <a:ext cx="1828800" cy="228600"/>
            </a:xfrm>
            <a:prstGeom prst="homePlate">
              <a:avLst>
                <a:gd name="adj" fmla="val 15000"/>
              </a:avLst>
            </a:prstGeom>
            <a:solidFill>
              <a:srgbClr val="5B180B"/>
            </a:solidFill>
            <a:ln>
              <a:noFill/>
            </a:ln>
          </p:spPr>
        </p:sp>
        <p:sp>
          <p:nvSpPr>
            <p:cNvPr id="289" name="Freeform 289"/>
            <p:cNvSpPr/>
            <p:nvPr/>
          </p:nvSpPr>
          <p:spPr>
            <a:xfrm>
              <a:off x="2876550" y="6038850"/>
              <a:ext cx="1828800" cy="228600"/>
            </a:xfrm>
            <a:prstGeom prst="homePlate">
              <a:avLst>
                <a:gd name="adj" fmla="val 15000"/>
              </a:avLst>
            </a:prstGeom>
            <a:solidFill>
              <a:srgbClr val="9A412F"/>
            </a:solidFill>
            <a:ln>
              <a:noFill/>
            </a:ln>
          </p:spPr>
        </p:sp>
        <p:sp>
          <p:nvSpPr>
            <p:cNvPr id="290" name="Freeform 290"/>
            <p:cNvSpPr/>
            <p:nvPr/>
          </p:nvSpPr>
          <p:spPr>
            <a:xfrm>
              <a:off x="4705350" y="6038850"/>
              <a:ext cx="1828800" cy="228600"/>
            </a:xfrm>
            <a:prstGeom prst="homePlate">
              <a:avLst>
                <a:gd name="adj" fmla="val 15000"/>
              </a:avLst>
            </a:prstGeom>
            <a:solidFill>
              <a:srgbClr val="C9988F"/>
            </a:solidFill>
            <a:ln>
              <a:noFill/>
            </a:ln>
          </p:spPr>
        </p:sp>
        <p:grpSp>
          <p:nvGrpSpPr>
            <p:cNvPr id="309" name="gantt-texts"/>
            <p:cNvGrpSpPr/>
            <p:nvPr/>
          </p:nvGrpSpPr>
          <p:grpSpPr>
            <a:xfrm>
              <a:off x="1526939" y="4407932"/>
              <a:ext cx="4539463" cy="1840706"/>
              <a:chOff x="1526939" y="4407932"/>
              <a:chExt cx="4539463" cy="1840706"/>
            </a:xfrm>
          </p:grpSpPr>
          <p:sp>
            <p:nvSpPr>
              <p:cNvPr id="291" name="TextBox 291"/>
              <p:cNvSpPr txBox="1"/>
              <p:nvPr/>
            </p:nvSpPr>
            <p:spPr>
              <a:xfrm>
                <a:off x="1526939" y="4407932"/>
                <a:ext cx="83232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客户梳理与方案制定​</a:t>
                </a:r>
              </a:p>
            </p:txBody>
          </p:sp>
          <p:sp>
            <p:nvSpPr>
              <p:cNvPr id="292" name="TextBox 292"/>
              <p:cNvSpPr txBox="1"/>
              <p:nvPr/>
            </p:nvSpPr>
            <p:spPr>
              <a:xfrm>
                <a:off x="3355739" y="4407932"/>
                <a:ext cx="83232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集中沟通与签约推进​</a:t>
                </a:r>
              </a:p>
            </p:txBody>
          </p:sp>
          <p:sp>
            <p:nvSpPr>
              <p:cNvPr id="293" name="TextBox 293"/>
              <p:cNvSpPr txBox="1"/>
              <p:nvPr/>
            </p:nvSpPr>
            <p:spPr>
              <a:xfrm>
                <a:off x="5184539" y="4407932"/>
                <a:ext cx="832322" cy="126206"/>
              </a:xfrm>
              <a:prstGeom prst="rect">
                <a:avLst/>
              </a:prstGeom>
              <a:noFill/>
              <a:ln>
                <a:noFill/>
              </a:ln>
            </p:spPr>
            <p:txBody>
              <a:bodyPr wrap="none" lIns="0" tIns="0" rIns="0" bIns="0" anchor="t" anchorCtr="0">
                <a:spAutoFit/>
              </a:bodyPr>
              <a:lstStyle/>
              <a:p>
                <a:pPr algn="ctr"/>
                <a:r>
                  <a:rPr lang="zh-CN" sz="640" dirty="0">
                    <a:solidFill>
                      <a:srgbClr val="3B130B"/>
                    </a:solidFill>
                    <a:latin typeface="+mn-lt"/>
                    <a:ea typeface="+mn-ea"/>
                    <a:cs typeface="+mn-cs"/>
                  </a:rPr>
                  <a:t>冲刺收官与回款落地​</a:t>
                </a:r>
              </a:p>
            </p:txBody>
          </p:sp>
          <p:sp>
            <p:nvSpPr>
              <p:cNvPr id="294" name="TextBox 294"/>
              <p:cNvSpPr txBox="1"/>
              <p:nvPr/>
            </p:nvSpPr>
            <p:spPr>
              <a:xfrm>
                <a:off x="1526939" y="4750832"/>
                <a:ext cx="83232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预警识别与名单确认​</a:t>
                </a:r>
              </a:p>
            </p:txBody>
          </p:sp>
          <p:sp>
            <p:nvSpPr>
              <p:cNvPr id="295" name="TextBox 295"/>
              <p:cNvSpPr txBox="1"/>
              <p:nvPr/>
            </p:nvSpPr>
            <p:spPr>
              <a:xfrm>
                <a:off x="3441896" y="4750832"/>
                <a:ext cx="660009"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专项回访与挽回​</a:t>
                </a:r>
              </a:p>
            </p:txBody>
          </p:sp>
          <p:sp>
            <p:nvSpPr>
              <p:cNvPr id="296" name="TextBox 296"/>
              <p:cNvSpPr txBox="1"/>
              <p:nvPr/>
            </p:nvSpPr>
            <p:spPr>
              <a:xfrm>
                <a:off x="5184539" y="4750832"/>
                <a:ext cx="832322" cy="126206"/>
              </a:xfrm>
              <a:prstGeom prst="rect">
                <a:avLst/>
              </a:prstGeom>
              <a:noFill/>
              <a:ln>
                <a:noFill/>
              </a:ln>
            </p:spPr>
            <p:txBody>
              <a:bodyPr wrap="none" lIns="0" tIns="0" rIns="0" bIns="0" anchor="t" anchorCtr="0">
                <a:spAutoFit/>
              </a:bodyPr>
              <a:lstStyle/>
              <a:p>
                <a:pPr algn="ctr"/>
                <a:r>
                  <a:rPr lang="zh-CN" sz="640" dirty="0">
                    <a:solidFill>
                      <a:srgbClr val="3B130B"/>
                    </a:solidFill>
                    <a:latin typeface="+mn-lt"/>
                    <a:ea typeface="+mn-ea"/>
                    <a:cs typeface="+mn-cs"/>
                  </a:rPr>
                  <a:t>跟踪复盘与二次触达​</a:t>
                </a:r>
              </a:p>
            </p:txBody>
          </p:sp>
          <p:sp>
            <p:nvSpPr>
              <p:cNvPr id="297" name="TextBox 297"/>
              <p:cNvSpPr txBox="1"/>
              <p:nvPr/>
            </p:nvSpPr>
            <p:spPr>
              <a:xfrm>
                <a:off x="1526939" y="5093732"/>
                <a:ext cx="83232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目标企业清单与对接​</a:t>
                </a:r>
              </a:p>
            </p:txBody>
          </p:sp>
          <p:sp>
            <p:nvSpPr>
              <p:cNvPr id="298" name="TextBox 298"/>
              <p:cNvSpPr txBox="1"/>
              <p:nvPr/>
            </p:nvSpPr>
            <p:spPr>
              <a:xfrm>
                <a:off x="3355739" y="5093732"/>
                <a:ext cx="83232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集中拓展与批量落地​</a:t>
                </a:r>
              </a:p>
            </p:txBody>
          </p:sp>
          <p:sp>
            <p:nvSpPr>
              <p:cNvPr id="299" name="TextBox 299"/>
              <p:cNvSpPr txBox="1"/>
              <p:nvPr/>
            </p:nvSpPr>
            <p:spPr>
              <a:xfrm>
                <a:off x="5184539" y="5093732"/>
                <a:ext cx="832322" cy="126206"/>
              </a:xfrm>
              <a:prstGeom prst="rect">
                <a:avLst/>
              </a:prstGeom>
              <a:noFill/>
              <a:ln>
                <a:noFill/>
              </a:ln>
            </p:spPr>
            <p:txBody>
              <a:bodyPr wrap="none" lIns="0" tIns="0" rIns="0" bIns="0" anchor="t" anchorCtr="0">
                <a:spAutoFit/>
              </a:bodyPr>
              <a:lstStyle/>
              <a:p>
                <a:pPr algn="ctr"/>
                <a:r>
                  <a:rPr lang="zh-CN" sz="640" dirty="0">
                    <a:solidFill>
                      <a:srgbClr val="3B130B"/>
                    </a:solidFill>
                    <a:latin typeface="+mn-lt"/>
                    <a:ea typeface="+mn-ea"/>
                    <a:cs typeface="+mn-cs"/>
                  </a:rPr>
                  <a:t>巩固提升与场景运营​</a:t>
                </a:r>
              </a:p>
            </p:txBody>
          </p:sp>
          <p:sp>
            <p:nvSpPr>
              <p:cNvPr id="300" name="TextBox 300"/>
              <p:cNvSpPr txBox="1"/>
              <p:nvPr/>
            </p:nvSpPr>
            <p:spPr>
              <a:xfrm>
                <a:off x="1546324" y="5436632"/>
                <a:ext cx="7935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重点行业/园区走访​</a:t>
                </a:r>
              </a:p>
            </p:txBody>
          </p:sp>
          <p:sp>
            <p:nvSpPr>
              <p:cNvPr id="301" name="TextBox 301"/>
              <p:cNvSpPr txBox="1"/>
              <p:nvPr/>
            </p:nvSpPr>
            <p:spPr>
              <a:xfrm>
                <a:off x="3398817" y="5436632"/>
                <a:ext cx="746166"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综合金融方案落地​</a:t>
                </a:r>
              </a:p>
            </p:txBody>
          </p:sp>
          <p:sp>
            <p:nvSpPr>
              <p:cNvPr id="302" name="TextBox 302"/>
              <p:cNvSpPr txBox="1"/>
              <p:nvPr/>
            </p:nvSpPr>
            <p:spPr>
              <a:xfrm>
                <a:off x="5313774" y="5436632"/>
                <a:ext cx="573852" cy="126206"/>
              </a:xfrm>
              <a:prstGeom prst="rect">
                <a:avLst/>
              </a:prstGeom>
              <a:noFill/>
              <a:ln>
                <a:noFill/>
              </a:ln>
            </p:spPr>
            <p:txBody>
              <a:bodyPr wrap="none" lIns="0" tIns="0" rIns="0" bIns="0" anchor="t" anchorCtr="0">
                <a:spAutoFit/>
              </a:bodyPr>
              <a:lstStyle/>
              <a:p>
                <a:pPr algn="ctr"/>
                <a:r>
                  <a:rPr lang="zh-CN" sz="640" dirty="0">
                    <a:solidFill>
                      <a:srgbClr val="3B130B"/>
                    </a:solidFill>
                    <a:latin typeface="+mn-lt"/>
                    <a:ea typeface="+mn-ea"/>
                    <a:cs typeface="+mn-cs"/>
                  </a:rPr>
                  <a:t>新增项目转化​</a:t>
                </a:r>
              </a:p>
            </p:txBody>
          </p:sp>
          <p:sp>
            <p:nvSpPr>
              <p:cNvPr id="303" name="TextBox 303"/>
              <p:cNvSpPr txBox="1"/>
              <p:nvPr/>
            </p:nvSpPr>
            <p:spPr>
              <a:xfrm>
                <a:off x="1526939" y="5779532"/>
                <a:ext cx="83232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分层预约与行程安排​</a:t>
                </a:r>
              </a:p>
            </p:txBody>
          </p:sp>
          <p:sp>
            <p:nvSpPr>
              <p:cNvPr id="304" name="TextBox 304"/>
              <p:cNvSpPr txBox="1"/>
              <p:nvPr/>
            </p:nvSpPr>
            <p:spPr>
              <a:xfrm>
                <a:off x="3441896" y="5779532"/>
                <a:ext cx="660009"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行领导带队上门​</a:t>
                </a:r>
              </a:p>
            </p:txBody>
          </p:sp>
          <p:sp>
            <p:nvSpPr>
              <p:cNvPr id="305" name="TextBox 305"/>
              <p:cNvSpPr txBox="1"/>
              <p:nvPr/>
            </p:nvSpPr>
            <p:spPr>
              <a:xfrm>
                <a:off x="5184539" y="5779532"/>
                <a:ext cx="832322" cy="126206"/>
              </a:xfrm>
              <a:prstGeom prst="rect">
                <a:avLst/>
              </a:prstGeom>
              <a:noFill/>
              <a:ln>
                <a:noFill/>
              </a:ln>
            </p:spPr>
            <p:txBody>
              <a:bodyPr wrap="none" lIns="0" tIns="0" rIns="0" bIns="0" anchor="t" anchorCtr="0">
                <a:spAutoFit/>
              </a:bodyPr>
              <a:lstStyle/>
              <a:p>
                <a:pPr algn="ctr"/>
                <a:r>
                  <a:rPr lang="zh-CN" sz="640" dirty="0">
                    <a:solidFill>
                      <a:srgbClr val="3B130B"/>
                    </a:solidFill>
                    <a:latin typeface="+mn-lt"/>
                    <a:ea typeface="+mn-ea"/>
                    <a:cs typeface="+mn-cs"/>
                  </a:rPr>
                  <a:t>协议签署与后续跟进​</a:t>
                </a:r>
              </a:p>
            </p:txBody>
          </p:sp>
          <p:sp>
            <p:nvSpPr>
              <p:cNvPr id="306" name="TextBox 306"/>
              <p:cNvSpPr txBox="1"/>
              <p:nvPr/>
            </p:nvSpPr>
            <p:spPr>
              <a:xfrm>
                <a:off x="1606634" y="6122432"/>
                <a:ext cx="67293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开门红 · 存款季​</a:t>
                </a:r>
              </a:p>
            </p:txBody>
          </p:sp>
          <p:sp>
            <p:nvSpPr>
              <p:cNvPr id="307" name="TextBox 307"/>
              <p:cNvSpPr txBox="1"/>
              <p:nvPr/>
            </p:nvSpPr>
            <p:spPr>
              <a:xfrm>
                <a:off x="3484974" y="6122432"/>
                <a:ext cx="5738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代发主题活动​</a:t>
                </a:r>
              </a:p>
            </p:txBody>
          </p:sp>
          <p:sp>
            <p:nvSpPr>
              <p:cNvPr id="308" name="TextBox 308"/>
              <p:cNvSpPr txBox="1"/>
              <p:nvPr/>
            </p:nvSpPr>
            <p:spPr>
              <a:xfrm>
                <a:off x="5134999" y="6122432"/>
                <a:ext cx="931403" cy="126206"/>
              </a:xfrm>
              <a:prstGeom prst="rect">
                <a:avLst/>
              </a:prstGeom>
              <a:noFill/>
              <a:ln>
                <a:noFill/>
              </a:ln>
            </p:spPr>
            <p:txBody>
              <a:bodyPr wrap="none" lIns="0" tIns="0" rIns="0" bIns="0" anchor="t" anchorCtr="0">
                <a:spAutoFit/>
              </a:bodyPr>
              <a:lstStyle/>
              <a:p>
                <a:pPr algn="ctr"/>
                <a:r>
                  <a:rPr lang="zh-CN" sz="640" dirty="0">
                    <a:solidFill>
                      <a:srgbClr val="3B130B"/>
                    </a:solidFill>
                    <a:latin typeface="+mn-lt"/>
                    <a:ea typeface="+mn-ea"/>
                    <a:cs typeface="+mn-cs"/>
                  </a:rPr>
                  <a:t>年末答谢 · 资产配置季​</a:t>
                </a:r>
              </a:p>
            </p:txBody>
          </p:sp>
        </p:grpSp>
      </p:grpSp>
      <p:grpSp>
        <p:nvGrpSpPr>
          <p:cNvPr id="350" name="duty-card"/>
          <p:cNvGrpSpPr/>
          <p:nvPr/>
        </p:nvGrpSpPr>
        <p:grpSpPr>
          <a:xfrm>
            <a:off x="6781800" y="3695700"/>
            <a:ext cx="5181600" cy="2286000"/>
            <a:chOff x="6781800" y="3695700"/>
            <a:chExt cx="5181600" cy="2286000"/>
          </a:xfrm>
        </p:grpSpPr>
        <p:sp>
          <p:nvSpPr>
            <p:cNvPr id="311" name="Rectangle 311"/>
            <p:cNvSpPr/>
            <p:nvPr/>
          </p:nvSpPr>
          <p:spPr>
            <a:xfrm>
              <a:off x="6781800" y="3695700"/>
              <a:ext cx="5181600" cy="2286000"/>
            </a:xfrm>
            <a:prstGeom prst="roundRect">
              <a:avLst>
                <a:gd name="adj" fmla="val 4167"/>
              </a:avLst>
            </a:prstGeom>
            <a:solidFill>
              <a:srgbClr val="F5FAF8"/>
            </a:solidFill>
            <a:ln w="9525">
              <a:solidFill>
                <a:srgbClr val="D9E8E2"/>
              </a:solidFill>
            </a:ln>
          </p:spPr>
        </p:sp>
        <p:sp>
          <p:nvSpPr>
            <p:cNvPr id="312" name="Rectangle 312"/>
            <p:cNvSpPr/>
            <p:nvPr/>
          </p:nvSpPr>
          <p:spPr>
            <a:xfrm>
              <a:off x="6877050" y="3790950"/>
              <a:ext cx="285750" cy="190500"/>
            </a:xfrm>
            <a:prstGeom prst="roundRect">
              <a:avLst>
                <a:gd name="adj" fmla="val 15000"/>
              </a:avLst>
            </a:prstGeom>
            <a:solidFill>
              <a:srgbClr val="5B180B"/>
            </a:solidFill>
            <a:ln>
              <a:noFill/>
            </a:ln>
          </p:spPr>
        </p:sp>
        <p:sp>
          <p:nvSpPr>
            <p:cNvPr id="313" name="TextBox 313"/>
            <p:cNvSpPr txBox="1"/>
            <p:nvPr/>
          </p:nvSpPr>
          <p:spPr>
            <a:xfrm>
              <a:off x="6919539" y="3844766"/>
              <a:ext cx="20077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05​</a:t>
              </a:r>
            </a:p>
          </p:txBody>
        </p:sp>
        <p:sp>
          <p:nvSpPr>
            <p:cNvPr id="314" name="TextBox 314"/>
            <p:cNvSpPr txBox="1"/>
            <p:nvPr/>
          </p:nvSpPr>
          <p:spPr>
            <a:xfrm>
              <a:off x="7234047" y="3828574"/>
              <a:ext cx="1141515" cy="190690"/>
            </a:xfrm>
            <a:prstGeom prst="rect">
              <a:avLst/>
            </a:prstGeom>
            <a:noFill/>
            <a:ln>
              <a:noFill/>
            </a:ln>
          </p:spPr>
          <p:txBody>
            <a:bodyPr wrap="none" lIns="0" tIns="0" rIns="0" bIns="0" anchor="t" anchorCtr="0">
              <a:spAutoFit/>
            </a:bodyPr>
            <a:lstStyle/>
            <a:p>
              <a:pPr algn="l"/>
              <a:r>
                <a:rPr lang="zh-CN" sz="980" b="1" dirty="0">
                  <a:solidFill>
                    <a:srgbClr val="5B180B"/>
                  </a:solidFill>
                  <a:latin typeface="+mn-lt"/>
                  <a:ea typeface="+mn-ea"/>
                  <a:cs typeface="+mn-cs"/>
                </a:rPr>
                <a:t>责任分工与目标表​</a:t>
              </a:r>
            </a:p>
          </p:txBody>
        </p:sp>
        <p:grpSp>
          <p:nvGrpSpPr>
            <p:cNvPr id="323" name="Group 323"/>
            <p:cNvGrpSpPr/>
            <p:nvPr/>
          </p:nvGrpSpPr>
          <p:grpSpPr>
            <a:xfrm>
              <a:off x="6858000" y="4038600"/>
              <a:ext cx="5048250" cy="247650"/>
              <a:chOff x="6858000" y="4038600"/>
              <a:chExt cx="5048250" cy="247650"/>
            </a:xfrm>
          </p:grpSpPr>
          <p:sp>
            <p:nvSpPr>
              <p:cNvPr id="315" name="Rectangle 315"/>
              <p:cNvSpPr/>
              <p:nvPr/>
            </p:nvSpPr>
            <p:spPr>
              <a:xfrm>
                <a:off x="6858000" y="4038600"/>
                <a:ext cx="1428750" cy="247650"/>
              </a:xfrm>
              <a:prstGeom prst="rect">
                <a:avLst/>
              </a:prstGeom>
              <a:solidFill>
                <a:srgbClr val="5B180B"/>
              </a:solidFill>
              <a:ln>
                <a:noFill/>
              </a:ln>
            </p:spPr>
          </p:sp>
          <p:sp>
            <p:nvSpPr>
              <p:cNvPr id="316" name="TextBox 316"/>
              <p:cNvSpPr txBox="1"/>
              <p:nvPr/>
            </p:nvSpPr>
            <p:spPr>
              <a:xfrm>
                <a:off x="7307375" y="4119562"/>
                <a:ext cx="53000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条线/团队​</a:t>
                </a:r>
              </a:p>
            </p:txBody>
          </p:sp>
          <p:sp>
            <p:nvSpPr>
              <p:cNvPr id="317" name="Rectangle 317"/>
              <p:cNvSpPr/>
              <p:nvPr/>
            </p:nvSpPr>
            <p:spPr>
              <a:xfrm>
                <a:off x="8286750" y="4038600"/>
                <a:ext cx="1524000" cy="247650"/>
              </a:xfrm>
              <a:prstGeom prst="rect">
                <a:avLst/>
              </a:prstGeom>
              <a:solidFill>
                <a:srgbClr val="5B180B"/>
              </a:solidFill>
              <a:ln>
                <a:noFill/>
              </a:ln>
            </p:spPr>
          </p:sp>
          <p:sp>
            <p:nvSpPr>
              <p:cNvPr id="318" name="TextBox 318"/>
              <p:cNvSpPr txBox="1"/>
              <p:nvPr/>
            </p:nvSpPr>
            <p:spPr>
              <a:xfrm>
                <a:off x="8812904" y="4119562"/>
                <a:ext cx="47169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核心任务​</a:t>
                </a:r>
              </a:p>
            </p:txBody>
          </p:sp>
          <p:sp>
            <p:nvSpPr>
              <p:cNvPr id="319" name="Rectangle 319"/>
              <p:cNvSpPr/>
              <p:nvPr/>
            </p:nvSpPr>
            <p:spPr>
              <a:xfrm>
                <a:off x="9810750" y="4038600"/>
                <a:ext cx="762000" cy="247650"/>
              </a:xfrm>
              <a:prstGeom prst="rect">
                <a:avLst/>
              </a:prstGeom>
              <a:solidFill>
                <a:srgbClr val="5B180B"/>
              </a:solidFill>
              <a:ln>
                <a:noFill/>
              </a:ln>
            </p:spPr>
          </p:sp>
          <p:sp>
            <p:nvSpPr>
              <p:cNvPr id="320" name="TextBox 320"/>
              <p:cNvSpPr txBox="1"/>
              <p:nvPr/>
            </p:nvSpPr>
            <p:spPr>
              <a:xfrm>
                <a:off x="9824787" y="4119562"/>
                <a:ext cx="73392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Q4目标(亿元)​</a:t>
                </a:r>
              </a:p>
            </p:txBody>
          </p:sp>
          <p:sp>
            <p:nvSpPr>
              <p:cNvPr id="321" name="Rectangle 321"/>
              <p:cNvSpPr/>
              <p:nvPr/>
            </p:nvSpPr>
            <p:spPr>
              <a:xfrm>
                <a:off x="10572750" y="4038600"/>
                <a:ext cx="1333500" cy="247650"/>
              </a:xfrm>
              <a:prstGeom prst="rect">
                <a:avLst/>
              </a:prstGeom>
              <a:solidFill>
                <a:srgbClr val="5B180B"/>
              </a:solidFill>
              <a:ln>
                <a:noFill/>
              </a:ln>
            </p:spPr>
          </p:sp>
          <p:sp>
            <p:nvSpPr>
              <p:cNvPr id="322" name="TextBox 322"/>
              <p:cNvSpPr txBox="1"/>
              <p:nvPr/>
            </p:nvSpPr>
            <p:spPr>
              <a:xfrm>
                <a:off x="11003654" y="4119562"/>
                <a:ext cx="47169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关键举措​</a:t>
                </a:r>
              </a:p>
            </p:txBody>
          </p:sp>
        </p:grpSp>
        <p:grpSp>
          <p:nvGrpSpPr>
            <p:cNvPr id="349" name="Group 349"/>
            <p:cNvGrpSpPr/>
            <p:nvPr/>
          </p:nvGrpSpPr>
          <p:grpSpPr>
            <a:xfrm>
              <a:off x="6858000" y="4286250"/>
              <a:ext cx="5048250" cy="1504950"/>
              <a:chOff x="6858000" y="4286250"/>
              <a:chExt cx="5048250" cy="1504950"/>
            </a:xfrm>
          </p:grpSpPr>
          <p:sp>
            <p:nvSpPr>
              <p:cNvPr id="324" name="Rectangle 324"/>
              <p:cNvSpPr/>
              <p:nvPr/>
            </p:nvSpPr>
            <p:spPr>
              <a:xfrm>
                <a:off x="6858000" y="4286250"/>
                <a:ext cx="5048250" cy="304800"/>
              </a:xfrm>
              <a:prstGeom prst="rect">
                <a:avLst/>
              </a:prstGeom>
              <a:solidFill>
                <a:srgbClr val="FFFFFF"/>
              </a:solidFill>
              <a:ln w="7620">
                <a:solidFill>
                  <a:srgbClr val="D9E8E2"/>
                </a:solidFill>
              </a:ln>
            </p:spPr>
          </p:sp>
          <p:sp>
            <p:nvSpPr>
              <p:cNvPr id="325" name="TextBox 325"/>
              <p:cNvSpPr txBox="1"/>
              <p:nvPr/>
            </p:nvSpPr>
            <p:spPr>
              <a:xfrm>
                <a:off x="7235564" y="4395788"/>
                <a:ext cx="67362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公司金融条线​</a:t>
                </a:r>
              </a:p>
            </p:txBody>
          </p:sp>
          <p:sp>
            <p:nvSpPr>
              <p:cNvPr id="326" name="TextBox 326"/>
              <p:cNvSpPr txBox="1"/>
              <p:nvPr/>
            </p:nvSpPr>
            <p:spPr>
              <a:xfrm>
                <a:off x="8561880" y="4395788"/>
                <a:ext cx="9737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对公存款拓展与联动​</a:t>
                </a:r>
              </a:p>
            </p:txBody>
          </p:sp>
          <p:sp>
            <p:nvSpPr>
              <p:cNvPr id="327" name="TextBox 327"/>
              <p:cNvSpPr txBox="1"/>
              <p:nvPr/>
            </p:nvSpPr>
            <p:spPr>
              <a:xfrm>
                <a:off x="10041219" y="4395788"/>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0.50​</a:t>
                </a:r>
              </a:p>
            </p:txBody>
          </p:sp>
          <p:sp>
            <p:nvSpPr>
              <p:cNvPr id="328" name="TextBox 328"/>
              <p:cNvSpPr txBox="1"/>
              <p:nvPr/>
            </p:nvSpPr>
            <p:spPr>
              <a:xfrm>
                <a:off x="10747581" y="4395788"/>
                <a:ext cx="98383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园区/链主/综合服务​</a:t>
                </a:r>
              </a:p>
            </p:txBody>
          </p:sp>
          <p:sp>
            <p:nvSpPr>
              <p:cNvPr id="329" name="Rectangle 329"/>
              <p:cNvSpPr/>
              <p:nvPr/>
            </p:nvSpPr>
            <p:spPr>
              <a:xfrm>
                <a:off x="6858000" y="4591050"/>
                <a:ext cx="5048250" cy="304800"/>
              </a:xfrm>
              <a:prstGeom prst="rect">
                <a:avLst/>
              </a:prstGeom>
              <a:solidFill>
                <a:srgbClr val="F7FBF9"/>
              </a:solidFill>
              <a:ln w="7620">
                <a:solidFill>
                  <a:srgbClr val="D9E8E2"/>
                </a:solidFill>
              </a:ln>
            </p:spPr>
          </p:sp>
          <p:sp>
            <p:nvSpPr>
              <p:cNvPr id="330" name="TextBox 330"/>
              <p:cNvSpPr txBox="1"/>
              <p:nvPr/>
            </p:nvSpPr>
            <p:spPr>
              <a:xfrm>
                <a:off x="7235564" y="4700588"/>
                <a:ext cx="67362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零售金融条线​</a:t>
                </a:r>
              </a:p>
            </p:txBody>
          </p:sp>
          <p:sp>
            <p:nvSpPr>
              <p:cNvPr id="331" name="TextBox 331"/>
              <p:cNvSpPr txBox="1"/>
              <p:nvPr/>
            </p:nvSpPr>
            <p:spPr>
              <a:xfrm>
                <a:off x="8561880" y="4700588"/>
                <a:ext cx="9737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到期承接与资产保卫​</a:t>
                </a:r>
              </a:p>
            </p:txBody>
          </p:sp>
          <p:sp>
            <p:nvSpPr>
              <p:cNvPr id="332" name="TextBox 332"/>
              <p:cNvSpPr txBox="1"/>
              <p:nvPr/>
            </p:nvSpPr>
            <p:spPr>
              <a:xfrm>
                <a:off x="10041219" y="4700588"/>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0.40​</a:t>
                </a:r>
              </a:p>
            </p:txBody>
          </p:sp>
          <p:sp>
            <p:nvSpPr>
              <p:cNvPr id="333" name="TextBox 333"/>
              <p:cNvSpPr txBox="1"/>
              <p:nvPr/>
            </p:nvSpPr>
            <p:spPr>
              <a:xfrm>
                <a:off x="10775347" y="4700588"/>
                <a:ext cx="92830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分层触达/产品组合​</a:t>
                </a:r>
              </a:p>
            </p:txBody>
          </p:sp>
          <p:sp>
            <p:nvSpPr>
              <p:cNvPr id="334" name="Rectangle 334"/>
              <p:cNvSpPr/>
              <p:nvPr/>
            </p:nvSpPr>
            <p:spPr>
              <a:xfrm>
                <a:off x="6858000" y="4895850"/>
                <a:ext cx="5048250" cy="304800"/>
              </a:xfrm>
              <a:prstGeom prst="rect">
                <a:avLst/>
              </a:prstGeom>
              <a:solidFill>
                <a:srgbClr val="FFFFFF"/>
              </a:solidFill>
              <a:ln w="7620">
                <a:solidFill>
                  <a:srgbClr val="D9E8E2"/>
                </a:solidFill>
              </a:ln>
            </p:spPr>
          </p:sp>
          <p:sp>
            <p:nvSpPr>
              <p:cNvPr id="335" name="TextBox 335"/>
              <p:cNvSpPr txBox="1"/>
              <p:nvPr/>
            </p:nvSpPr>
            <p:spPr>
              <a:xfrm>
                <a:off x="7185081" y="5005388"/>
                <a:ext cx="774587"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渠道与代发团队​</a:t>
                </a:r>
              </a:p>
            </p:txBody>
          </p:sp>
          <p:sp>
            <p:nvSpPr>
              <p:cNvPr id="336" name="TextBox 336"/>
              <p:cNvSpPr txBox="1"/>
              <p:nvPr/>
            </p:nvSpPr>
            <p:spPr>
              <a:xfrm>
                <a:off x="8561880" y="5005388"/>
                <a:ext cx="9737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代发企业拓展与沉淀​</a:t>
                </a:r>
              </a:p>
            </p:txBody>
          </p:sp>
          <p:sp>
            <p:nvSpPr>
              <p:cNvPr id="337" name="TextBox 337"/>
              <p:cNvSpPr txBox="1"/>
              <p:nvPr/>
            </p:nvSpPr>
            <p:spPr>
              <a:xfrm>
                <a:off x="10041219" y="5005388"/>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0.20​</a:t>
                </a:r>
              </a:p>
            </p:txBody>
          </p:sp>
          <p:sp>
            <p:nvSpPr>
              <p:cNvPr id="338" name="TextBox 338"/>
              <p:cNvSpPr txBox="1"/>
              <p:nvPr/>
            </p:nvSpPr>
            <p:spPr>
              <a:xfrm>
                <a:off x="10775347" y="5005388"/>
                <a:ext cx="92830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新增企业/活期提升​</a:t>
                </a:r>
              </a:p>
            </p:txBody>
          </p:sp>
          <p:sp>
            <p:nvSpPr>
              <p:cNvPr id="339" name="Rectangle 339"/>
              <p:cNvSpPr/>
              <p:nvPr/>
            </p:nvSpPr>
            <p:spPr>
              <a:xfrm>
                <a:off x="6858000" y="5200650"/>
                <a:ext cx="5048250" cy="304800"/>
              </a:xfrm>
              <a:prstGeom prst="rect">
                <a:avLst/>
              </a:prstGeom>
              <a:solidFill>
                <a:srgbClr val="F7FBF9"/>
              </a:solidFill>
              <a:ln w="7620">
                <a:solidFill>
                  <a:srgbClr val="D9E8E2"/>
                </a:solidFill>
              </a:ln>
            </p:spPr>
          </p:sp>
          <p:sp>
            <p:nvSpPr>
              <p:cNvPr id="340" name="TextBox 340"/>
              <p:cNvSpPr txBox="1"/>
              <p:nvPr/>
            </p:nvSpPr>
            <p:spPr>
              <a:xfrm>
                <a:off x="7235564" y="5310188"/>
                <a:ext cx="67362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重点客户团队​</a:t>
                </a:r>
              </a:p>
            </p:txBody>
          </p:sp>
          <p:sp>
            <p:nvSpPr>
              <p:cNvPr id="341" name="TextBox 341"/>
              <p:cNvSpPr txBox="1"/>
              <p:nvPr/>
            </p:nvSpPr>
            <p:spPr>
              <a:xfrm>
                <a:off x="8561880" y="5310188"/>
                <a:ext cx="9737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重点客户保卫与提升​</a:t>
                </a:r>
              </a:p>
            </p:txBody>
          </p:sp>
          <p:sp>
            <p:nvSpPr>
              <p:cNvPr id="342" name="TextBox 342"/>
              <p:cNvSpPr txBox="1"/>
              <p:nvPr/>
            </p:nvSpPr>
            <p:spPr>
              <a:xfrm>
                <a:off x="10041219" y="5310188"/>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0.10​</a:t>
                </a:r>
              </a:p>
            </p:txBody>
          </p:sp>
          <p:sp>
            <p:nvSpPr>
              <p:cNvPr id="343" name="TextBox 343"/>
              <p:cNvSpPr txBox="1"/>
              <p:nvPr/>
            </p:nvSpPr>
            <p:spPr>
              <a:xfrm>
                <a:off x="10775347" y="5310188"/>
                <a:ext cx="92830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上门拜访/定制方案​</a:t>
                </a:r>
              </a:p>
            </p:txBody>
          </p:sp>
          <p:sp>
            <p:nvSpPr>
              <p:cNvPr id="344" name="Rectangle 344"/>
              <p:cNvSpPr/>
              <p:nvPr/>
            </p:nvSpPr>
            <p:spPr>
              <a:xfrm>
                <a:off x="6858000" y="5505450"/>
                <a:ext cx="5048250" cy="285750"/>
              </a:xfrm>
              <a:prstGeom prst="rect">
                <a:avLst/>
              </a:prstGeom>
              <a:solidFill>
                <a:srgbClr val="E9F4F0"/>
              </a:solidFill>
              <a:ln>
                <a:noFill/>
              </a:ln>
            </p:spPr>
          </p:sp>
          <p:sp>
            <p:nvSpPr>
              <p:cNvPr id="345" name="TextBox 345"/>
              <p:cNvSpPr txBox="1"/>
              <p:nvPr/>
            </p:nvSpPr>
            <p:spPr>
              <a:xfrm>
                <a:off x="7437494" y="5605462"/>
                <a:ext cx="26976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合计​</a:t>
                </a:r>
              </a:p>
            </p:txBody>
          </p:sp>
          <p:sp>
            <p:nvSpPr>
              <p:cNvPr id="346" name="TextBox 346"/>
              <p:cNvSpPr txBox="1"/>
              <p:nvPr/>
            </p:nvSpPr>
            <p:spPr>
              <a:xfrm>
                <a:off x="8988457" y="5605462"/>
                <a:ext cx="12058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a:t>
                </a:r>
              </a:p>
            </p:txBody>
          </p:sp>
          <p:sp>
            <p:nvSpPr>
              <p:cNvPr id="347" name="TextBox 347"/>
              <p:cNvSpPr txBox="1"/>
              <p:nvPr/>
            </p:nvSpPr>
            <p:spPr>
              <a:xfrm>
                <a:off x="10012066" y="5589270"/>
                <a:ext cx="359369" cy="176212"/>
              </a:xfrm>
              <a:prstGeom prst="rect">
                <a:avLst/>
              </a:prstGeom>
              <a:noFill/>
              <a:ln>
                <a:noFill/>
              </a:ln>
            </p:spPr>
            <p:txBody>
              <a:bodyPr wrap="none" lIns="0" tIns="0" rIns="0" bIns="0" anchor="t" anchorCtr="0">
                <a:spAutoFit/>
              </a:bodyPr>
              <a:lstStyle/>
              <a:p>
                <a:pPr algn="ctr"/>
                <a:r>
                  <a:rPr lang="zh-CN" sz="900" b="1" dirty="0">
                    <a:solidFill>
                      <a:srgbClr val="5B180B"/>
                    </a:solidFill>
                    <a:latin typeface="+mn-lt"/>
                    <a:ea typeface="+mn-ea"/>
                    <a:cs typeface="+mn-cs"/>
                  </a:rPr>
                  <a:t>1.20​</a:t>
                </a:r>
              </a:p>
            </p:txBody>
          </p:sp>
          <p:sp>
            <p:nvSpPr>
              <p:cNvPr id="348" name="TextBox 348"/>
              <p:cNvSpPr txBox="1"/>
              <p:nvPr/>
            </p:nvSpPr>
            <p:spPr>
              <a:xfrm>
                <a:off x="11179207" y="5605462"/>
                <a:ext cx="12058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a:t>
                </a:r>
              </a:p>
            </p:txBody>
          </p:sp>
        </p:grpSp>
      </p:grpSp>
      <p:grpSp>
        <p:nvGrpSpPr>
          <p:cNvPr id="353" name="slogan"/>
          <p:cNvGrpSpPr/>
          <p:nvPr/>
        </p:nvGrpSpPr>
        <p:grpSpPr>
          <a:xfrm>
            <a:off x="7617421" y="6263640"/>
            <a:ext cx="3510359" cy="441960"/>
            <a:chOff x="7617421" y="6263640"/>
            <a:chExt cx="3510359" cy="441960"/>
          </a:xfrm>
        </p:grpSpPr>
        <p:sp>
          <p:nvSpPr>
            <p:cNvPr id="351" name="TextBox 351"/>
            <p:cNvSpPr txBox="1"/>
            <p:nvPr/>
          </p:nvSpPr>
          <p:spPr>
            <a:xfrm>
              <a:off x="7617421" y="6263640"/>
              <a:ext cx="3510359" cy="352044"/>
            </a:xfrm>
            <a:prstGeom prst="rect">
              <a:avLst/>
            </a:prstGeom>
            <a:noFill/>
            <a:ln>
              <a:noFill/>
            </a:ln>
          </p:spPr>
          <p:txBody>
            <a:bodyPr wrap="none" lIns="0" tIns="0" rIns="0" bIns="0" anchor="t" anchorCtr="0">
              <a:spAutoFit/>
            </a:bodyPr>
            <a:lstStyle/>
            <a:p>
              <a:pPr algn="ctr"/>
              <a:r>
                <a:rPr lang="zh-CN" sz="1800" b="1" i="1" spc="225" dirty="0">
                  <a:solidFill>
                    <a:srgbClr val="5B180B"/>
                  </a:solidFill>
                  <a:latin typeface="+mn-lt"/>
                  <a:ea typeface="+mn-ea"/>
                  <a:cs typeface="+mn-cs"/>
                </a:rPr>
                <a:t>守住存量 做大增量 决胜Q4​</a:t>
              </a:r>
            </a:p>
          </p:txBody>
        </p:sp>
        <p:sp>
          <p:nvSpPr>
            <p:cNvPr id="352" name="Freeform 352"/>
            <p:cNvSpPr/>
            <p:nvPr/>
          </p:nvSpPr>
          <p:spPr>
            <a:xfrm>
              <a:off x="7810500" y="6572250"/>
              <a:ext cx="3238500" cy="133350"/>
            </a:xfrm>
            <a:custGeom>
              <a:avLst/>
              <a:gdLst/>
              <a:ahLst/>
              <a:cxnLst/>
              <a:rect l="l" t="t" r="r" b="b"/>
              <a:pathLst>
                <a:path w="3238500" h="133350">
                  <a:moveTo>
                    <a:pt x="0" y="38100"/>
                  </a:moveTo>
                  <a:cubicBezTo>
                    <a:pt x="762000" y="133350"/>
                    <a:pt x="2476500" y="133350"/>
                    <a:pt x="3238500" y="0"/>
                  </a:cubicBezTo>
                </a:path>
              </a:pathLst>
            </a:custGeom>
            <a:noFill/>
            <a:ln w="28575" cap="rnd">
              <a:solidFill>
                <a:srgbClr val="9A412F"/>
              </a:solidFill>
            </a:ln>
          </p:spPr>
        </p:sp>
      </p:gr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6754197" cy="542925"/>
            <a:chOff x="0" y="0"/>
            <a:chExt cx="6754197"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08​</a:t>
              </a:r>
            </a:p>
          </p:txBody>
        </p:sp>
        <p:sp>
          <p:nvSpPr>
            <p:cNvPr id="4" name="TextBox 4"/>
            <p:cNvSpPr txBox="1"/>
            <p:nvPr/>
          </p:nvSpPr>
          <p:spPr>
            <a:xfrm>
              <a:off x="942594" y="151448"/>
              <a:ext cx="5811603"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财富提升</a:t>
              </a:r>
              <a:r>
                <a:rPr lang="zh-CN" sz="1950" b="1" dirty="0">
                  <a:solidFill>
                    <a:srgbClr val="5B180B"/>
                  </a:solidFill>
                  <a:latin typeface="+mj-lt"/>
                  <a:ea typeface="+mj-ea"/>
                  <a:cs typeface="+mj-cs"/>
                </a:rPr>
                <a:t xml:space="preserve"> | 以资产配置重构AUM与中收双增长</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55" name="kpi-row"/>
          <p:cNvGrpSpPr/>
          <p:nvPr/>
        </p:nvGrpSpPr>
        <p:grpSpPr>
          <a:xfrm>
            <a:off x="228600" y="666750"/>
            <a:ext cx="11725275" cy="620839"/>
            <a:chOff x="228600" y="666750"/>
            <a:chExt cx="11725275" cy="620839"/>
          </a:xfrm>
        </p:grpSpPr>
        <p:sp>
          <p:nvSpPr>
            <p:cNvPr id="7" name="Rectangle 7"/>
            <p:cNvSpPr/>
            <p:nvPr/>
          </p:nvSpPr>
          <p:spPr>
            <a:xfrm>
              <a:off x="228600" y="666750"/>
              <a:ext cx="2838450" cy="609600"/>
            </a:xfrm>
            <a:prstGeom prst="roundRect">
              <a:avLst>
                <a:gd name="adj" fmla="val 12500"/>
              </a:avLst>
            </a:prstGeom>
            <a:solidFill>
              <a:srgbClr val="F5FAF8"/>
            </a:solidFill>
            <a:ln w="9525">
              <a:solidFill>
                <a:srgbClr val="D9E8E2"/>
              </a:solidFill>
            </a:ln>
          </p:spPr>
        </p:sp>
        <p:sp>
          <p:nvSpPr>
            <p:cNvPr id="8" name="Ellipse 8"/>
            <p:cNvSpPr/>
            <p:nvPr/>
          </p:nvSpPr>
          <p:spPr>
            <a:xfrm>
              <a:off x="342900" y="800100"/>
              <a:ext cx="342900" cy="342900"/>
            </a:xfrm>
            <a:prstGeom prst="ellipse">
              <a:avLst/>
            </a:prstGeom>
            <a:solidFill>
              <a:srgbClr val="5B180B"/>
            </a:solidFill>
            <a:ln>
              <a:noFill/>
            </a:ln>
          </p:spPr>
        </p:sp>
        <p:grpSp>
          <p:nvGrpSpPr>
            <p:cNvPr id="12" name="Group 12"/>
            <p:cNvGrpSpPr/>
            <p:nvPr/>
          </p:nvGrpSpPr>
          <p:grpSpPr>
            <a:xfrm>
              <a:off x="431800" y="878681"/>
              <a:ext cx="165099" cy="185737"/>
              <a:chOff x="431800" y="878681"/>
              <a:chExt cx="165099" cy="185737"/>
            </a:xfrm>
          </p:grpSpPr>
          <p:sp>
            <p:nvSpPr>
              <p:cNvPr id="9" name="Freeform 9"/>
              <p:cNvSpPr/>
              <p:nvPr/>
            </p:nvSpPr>
            <p:spPr>
              <a:xfrm>
                <a:off x="431800" y="878681"/>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FFFFFF"/>
                </a:solidFill>
              </a:ln>
            </p:spPr>
          </p:sp>
          <p:sp>
            <p:nvSpPr>
              <p:cNvPr id="10" name="Freeform 10"/>
              <p:cNvSpPr/>
              <p:nvPr/>
            </p:nvSpPr>
            <p:spPr>
              <a:xfrm>
                <a:off x="431800" y="909637"/>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sp>
            <p:nvSpPr>
              <p:cNvPr id="11" name="Freeform 11"/>
              <p:cNvSpPr/>
              <p:nvPr/>
            </p:nvSpPr>
            <p:spPr>
              <a:xfrm>
                <a:off x="431800" y="971550"/>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grpSp>
        <p:sp>
          <p:nvSpPr>
            <p:cNvPr id="13" name="TextBox 13"/>
            <p:cNvSpPr txBox="1"/>
            <p:nvPr/>
          </p:nvSpPr>
          <p:spPr>
            <a:xfrm>
              <a:off x="776288" y="787241"/>
              <a:ext cx="506794"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AUM净增​</a:t>
              </a:r>
            </a:p>
          </p:txBody>
        </p:sp>
        <p:sp>
          <p:nvSpPr>
            <p:cNvPr id="14" name="TextBox 14"/>
            <p:cNvSpPr txBox="1"/>
            <p:nvPr/>
          </p:nvSpPr>
          <p:spPr>
            <a:xfrm>
              <a:off x="772668" y="964882"/>
              <a:ext cx="936808"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1.65</a:t>
              </a:r>
              <a:r>
                <a:rPr lang="zh-CN" sz="900" dirty="0">
                  <a:solidFill>
                    <a:srgbClr val="5F6F6A"/>
                  </a:solidFill>
                  <a:latin typeface="+mn-lt"/>
                  <a:ea typeface="+mn-ea"/>
                  <a:cs typeface="+mn-cs"/>
                </a:rPr>
                <a:t xml:space="preserve"> 亿元</a:t>
              </a:r>
              <a:r>
                <a:rPr lang="zh-CN" sz="1650" b="1" dirty="0">
                  <a:solidFill>
                    <a:srgbClr val="5B180B"/>
                  </a:solidFill>
                  <a:latin typeface="+mn-lt"/>
                  <a:ea typeface="+mn-ea"/>
                  <a:cs typeface="+mn-cs"/>
                </a:rPr>
                <a:t>​</a:t>
              </a:r>
            </a:p>
          </p:txBody>
        </p:sp>
        <p:sp>
          <p:nvSpPr>
            <p:cNvPr id="15" name="Line 15"/>
            <p:cNvSpPr/>
            <p:nvPr/>
          </p:nvSpPr>
          <p:spPr>
            <a:xfrm>
              <a:off x="2114550" y="781050"/>
              <a:ext cx="9525" cy="381000"/>
            </a:xfrm>
            <a:custGeom>
              <a:avLst/>
              <a:gdLst/>
              <a:ahLst/>
              <a:cxnLst/>
              <a:rect l="l" t="t" r="r" b="b"/>
              <a:pathLst>
                <a:path w="9525" h="381000">
                  <a:moveTo>
                    <a:pt x="0" y="0"/>
                  </a:moveTo>
                  <a:lnTo>
                    <a:pt x="0" y="381000"/>
                  </a:lnTo>
                </a:path>
              </a:pathLst>
            </a:custGeom>
            <a:noFill/>
            <a:ln w="9525">
              <a:solidFill>
                <a:srgbClr val="D9E8E2"/>
              </a:solidFill>
            </a:ln>
          </p:spPr>
        </p:sp>
        <p:sp>
          <p:nvSpPr>
            <p:cNvPr id="16" name="TextBox 16"/>
            <p:cNvSpPr txBox="1"/>
            <p:nvPr/>
          </p:nvSpPr>
          <p:spPr>
            <a:xfrm>
              <a:off x="2224088" y="822484"/>
              <a:ext cx="280005"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较Q3​</a:t>
              </a:r>
            </a:p>
          </p:txBody>
        </p:sp>
        <p:sp>
          <p:nvSpPr>
            <p:cNvPr id="17" name="TextBox 17"/>
            <p:cNvSpPr txBox="1"/>
            <p:nvPr/>
          </p:nvSpPr>
          <p:spPr>
            <a:xfrm>
              <a:off x="2223516" y="991552"/>
              <a:ext cx="574658" cy="205359"/>
            </a:xfrm>
            <a:prstGeom prst="rect">
              <a:avLst/>
            </a:prstGeom>
            <a:noFill/>
            <a:ln>
              <a:noFill/>
            </a:ln>
          </p:spPr>
          <p:txBody>
            <a:bodyPr wrap="none" lIns="0" tIns="0" rIns="0" bIns="0" anchor="t" anchorCtr="0">
              <a:spAutoFit/>
            </a:bodyPr>
            <a:lstStyle/>
            <a:p>
              <a:pPr algn="l"/>
              <a:r>
                <a:rPr lang="zh-CN" sz="1050" b="1" dirty="0">
                  <a:solidFill>
                    <a:srgbClr val="9E402E"/>
                  </a:solidFill>
                  <a:latin typeface="+mn-lt"/>
                  <a:ea typeface="+mn-ea"/>
                  <a:cs typeface="+mn-cs"/>
                </a:rPr>
                <a:t>▲ +37%​</a:t>
              </a:r>
            </a:p>
          </p:txBody>
        </p:sp>
        <p:sp>
          <p:nvSpPr>
            <p:cNvPr id="18" name="Rectangle 18"/>
            <p:cNvSpPr/>
            <p:nvPr/>
          </p:nvSpPr>
          <p:spPr>
            <a:xfrm>
              <a:off x="3190875" y="666750"/>
              <a:ext cx="2838450" cy="609600"/>
            </a:xfrm>
            <a:prstGeom prst="roundRect">
              <a:avLst>
                <a:gd name="adj" fmla="val 12500"/>
              </a:avLst>
            </a:prstGeom>
            <a:solidFill>
              <a:srgbClr val="F5FAF8"/>
            </a:solidFill>
            <a:ln w="9525">
              <a:solidFill>
                <a:srgbClr val="D9E8E2"/>
              </a:solidFill>
            </a:ln>
          </p:spPr>
        </p:sp>
        <p:sp>
          <p:nvSpPr>
            <p:cNvPr id="19" name="Ellipse 19"/>
            <p:cNvSpPr/>
            <p:nvPr/>
          </p:nvSpPr>
          <p:spPr>
            <a:xfrm>
              <a:off x="3305175" y="800100"/>
              <a:ext cx="342900" cy="342900"/>
            </a:xfrm>
            <a:prstGeom prst="ellipse">
              <a:avLst/>
            </a:prstGeom>
            <a:solidFill>
              <a:srgbClr val="5B180B"/>
            </a:solidFill>
            <a:ln>
              <a:noFill/>
            </a:ln>
          </p:spPr>
        </p:sp>
        <p:grpSp>
          <p:nvGrpSpPr>
            <p:cNvPr id="24" name="Group 24"/>
            <p:cNvGrpSpPr/>
            <p:nvPr/>
          </p:nvGrpSpPr>
          <p:grpSpPr>
            <a:xfrm>
              <a:off x="3383756" y="889000"/>
              <a:ext cx="185737" cy="174624"/>
              <a:chOff x="3383756" y="889000"/>
              <a:chExt cx="185737" cy="174624"/>
            </a:xfrm>
          </p:grpSpPr>
          <p:sp>
            <p:nvSpPr>
              <p:cNvPr id="20" name="Freeform 20"/>
              <p:cNvSpPr/>
              <p:nvPr/>
            </p:nvSpPr>
            <p:spPr>
              <a:xfrm>
                <a:off x="3383756" y="97155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FFFFFF"/>
                </a:solidFill>
              </a:ln>
            </p:spPr>
          </p:sp>
          <p:sp>
            <p:nvSpPr>
              <p:cNvPr id="21" name="Freeform 21"/>
              <p:cNvSpPr/>
              <p:nvPr/>
            </p:nvSpPr>
            <p:spPr>
              <a:xfrm>
                <a:off x="3507581" y="93027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FFFFFF"/>
                </a:solidFill>
              </a:ln>
            </p:spPr>
          </p:sp>
          <p:sp>
            <p:nvSpPr>
              <p:cNvPr id="22" name="Freeform 22"/>
              <p:cNvSpPr/>
              <p:nvPr/>
            </p:nvSpPr>
            <p:spPr>
              <a:xfrm>
                <a:off x="3445668" y="88900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FFFFFF"/>
                </a:solidFill>
              </a:ln>
            </p:spPr>
          </p:sp>
          <p:sp>
            <p:nvSpPr>
              <p:cNvPr id="23" name="Freeform 23"/>
              <p:cNvSpPr/>
              <p:nvPr/>
            </p:nvSpPr>
            <p:spPr>
              <a:xfrm>
                <a:off x="3394075" y="1054099"/>
                <a:ext cx="144462" cy="9525"/>
              </a:xfrm>
              <a:custGeom>
                <a:avLst/>
                <a:gdLst/>
                <a:ahLst/>
                <a:cxnLst/>
                <a:rect l="l" t="t" r="r" b="b"/>
                <a:pathLst>
                  <a:path w="144462" h="9525">
                    <a:moveTo>
                      <a:pt x="0" y="0"/>
                    </a:moveTo>
                    <a:lnTo>
                      <a:pt x="144462" y="0"/>
                    </a:lnTo>
                  </a:path>
                </a:pathLst>
              </a:custGeom>
              <a:noFill/>
              <a:ln w="20637">
                <a:solidFill>
                  <a:srgbClr val="FFFFFF"/>
                </a:solidFill>
              </a:ln>
            </p:spPr>
          </p:sp>
        </p:grpSp>
        <p:sp>
          <p:nvSpPr>
            <p:cNvPr id="25" name="TextBox 25"/>
            <p:cNvSpPr txBox="1"/>
            <p:nvPr/>
          </p:nvSpPr>
          <p:spPr>
            <a:xfrm>
              <a:off x="3738562" y="787241"/>
              <a:ext cx="291015"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中收​</a:t>
              </a:r>
            </a:p>
          </p:txBody>
        </p:sp>
        <p:sp>
          <p:nvSpPr>
            <p:cNvPr id="26" name="TextBox 26"/>
            <p:cNvSpPr txBox="1"/>
            <p:nvPr/>
          </p:nvSpPr>
          <p:spPr>
            <a:xfrm>
              <a:off x="3734943" y="964882"/>
              <a:ext cx="808532"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420</a:t>
              </a:r>
              <a:r>
                <a:rPr lang="zh-CN" sz="900" dirty="0">
                  <a:solidFill>
                    <a:srgbClr val="5F6F6A"/>
                  </a:solidFill>
                  <a:latin typeface="+mn-lt"/>
                  <a:ea typeface="+mn-ea"/>
                  <a:cs typeface="+mn-cs"/>
                </a:rPr>
                <a:t xml:space="preserve"> 万元</a:t>
              </a:r>
              <a:r>
                <a:rPr lang="zh-CN" sz="1650" b="1" dirty="0">
                  <a:solidFill>
                    <a:srgbClr val="5B180B"/>
                  </a:solidFill>
                  <a:latin typeface="+mn-lt"/>
                  <a:ea typeface="+mn-ea"/>
                  <a:cs typeface="+mn-cs"/>
                </a:rPr>
                <a:t>​</a:t>
              </a:r>
            </a:p>
          </p:txBody>
        </p:sp>
        <p:sp>
          <p:nvSpPr>
            <p:cNvPr id="27" name="Line 27"/>
            <p:cNvSpPr/>
            <p:nvPr/>
          </p:nvSpPr>
          <p:spPr>
            <a:xfrm>
              <a:off x="5076825" y="781050"/>
              <a:ext cx="9525" cy="381000"/>
            </a:xfrm>
            <a:custGeom>
              <a:avLst/>
              <a:gdLst/>
              <a:ahLst/>
              <a:cxnLst/>
              <a:rect l="l" t="t" r="r" b="b"/>
              <a:pathLst>
                <a:path w="9525" h="381000">
                  <a:moveTo>
                    <a:pt x="0" y="0"/>
                  </a:moveTo>
                  <a:lnTo>
                    <a:pt x="0" y="381000"/>
                  </a:lnTo>
                </a:path>
              </a:pathLst>
            </a:custGeom>
            <a:noFill/>
            <a:ln w="9525">
              <a:solidFill>
                <a:srgbClr val="D9E8E2"/>
              </a:solidFill>
            </a:ln>
          </p:spPr>
        </p:sp>
        <p:sp>
          <p:nvSpPr>
            <p:cNvPr id="28" name="TextBox 28"/>
            <p:cNvSpPr txBox="1"/>
            <p:nvPr/>
          </p:nvSpPr>
          <p:spPr>
            <a:xfrm>
              <a:off x="5186362" y="822484"/>
              <a:ext cx="280005"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较Q3​</a:t>
              </a:r>
            </a:p>
          </p:txBody>
        </p:sp>
        <p:sp>
          <p:nvSpPr>
            <p:cNvPr id="29" name="TextBox 29"/>
            <p:cNvSpPr txBox="1"/>
            <p:nvPr/>
          </p:nvSpPr>
          <p:spPr>
            <a:xfrm>
              <a:off x="5185791" y="991552"/>
              <a:ext cx="574658" cy="205359"/>
            </a:xfrm>
            <a:prstGeom prst="rect">
              <a:avLst/>
            </a:prstGeom>
            <a:noFill/>
            <a:ln>
              <a:noFill/>
            </a:ln>
          </p:spPr>
          <p:txBody>
            <a:bodyPr wrap="none" lIns="0" tIns="0" rIns="0" bIns="0" anchor="t" anchorCtr="0">
              <a:spAutoFit/>
            </a:bodyPr>
            <a:lstStyle/>
            <a:p>
              <a:pPr algn="l"/>
              <a:r>
                <a:rPr lang="zh-CN" sz="1050" b="1" dirty="0">
                  <a:solidFill>
                    <a:srgbClr val="9E402E"/>
                  </a:solidFill>
                  <a:latin typeface="+mn-lt"/>
                  <a:ea typeface="+mn-ea"/>
                  <a:cs typeface="+mn-cs"/>
                </a:rPr>
                <a:t>▲ +40%​</a:t>
              </a:r>
            </a:p>
          </p:txBody>
        </p:sp>
        <p:sp>
          <p:nvSpPr>
            <p:cNvPr id="30" name="Rectangle 30"/>
            <p:cNvSpPr/>
            <p:nvPr/>
          </p:nvSpPr>
          <p:spPr>
            <a:xfrm>
              <a:off x="6153150" y="666750"/>
              <a:ext cx="2838450" cy="609600"/>
            </a:xfrm>
            <a:prstGeom prst="roundRect">
              <a:avLst>
                <a:gd name="adj" fmla="val 12500"/>
              </a:avLst>
            </a:prstGeom>
            <a:solidFill>
              <a:srgbClr val="F5FAF8"/>
            </a:solidFill>
            <a:ln w="9525">
              <a:solidFill>
                <a:srgbClr val="D9E8E2"/>
              </a:solidFill>
            </a:ln>
          </p:spPr>
        </p:sp>
        <p:sp>
          <p:nvSpPr>
            <p:cNvPr id="31" name="Ellipse 31"/>
            <p:cNvSpPr/>
            <p:nvPr/>
          </p:nvSpPr>
          <p:spPr>
            <a:xfrm>
              <a:off x="6267450" y="800100"/>
              <a:ext cx="342900" cy="342900"/>
            </a:xfrm>
            <a:prstGeom prst="ellipse">
              <a:avLst/>
            </a:prstGeom>
            <a:solidFill>
              <a:srgbClr val="5B180B"/>
            </a:solidFill>
            <a:ln>
              <a:noFill/>
            </a:ln>
          </p:spPr>
        </p:sp>
        <p:grpSp>
          <p:nvGrpSpPr>
            <p:cNvPr id="36" name="Group 36"/>
            <p:cNvGrpSpPr/>
            <p:nvPr/>
          </p:nvGrpSpPr>
          <p:grpSpPr>
            <a:xfrm>
              <a:off x="6346031" y="878681"/>
              <a:ext cx="185737" cy="185738"/>
              <a:chOff x="6346031" y="878681"/>
              <a:chExt cx="185737" cy="185738"/>
            </a:xfrm>
          </p:grpSpPr>
          <p:sp>
            <p:nvSpPr>
              <p:cNvPr id="32" name="Freeform 32"/>
              <p:cNvSpPr/>
              <p:nvPr/>
            </p:nvSpPr>
            <p:spPr>
              <a:xfrm>
                <a:off x="6366669" y="8786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33" name="Freeform 33"/>
              <p:cNvSpPr/>
              <p:nvPr/>
            </p:nvSpPr>
            <p:spPr>
              <a:xfrm>
                <a:off x="6346031" y="10025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34" name="Freeform 34"/>
              <p:cNvSpPr/>
              <p:nvPr/>
            </p:nvSpPr>
            <p:spPr>
              <a:xfrm>
                <a:off x="6480174" y="8800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35" name="Freeform 35"/>
              <p:cNvSpPr/>
              <p:nvPr/>
            </p:nvSpPr>
            <p:spPr>
              <a:xfrm>
                <a:off x="6500812" y="10040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37" name="TextBox 37"/>
            <p:cNvSpPr txBox="1"/>
            <p:nvPr/>
          </p:nvSpPr>
          <p:spPr>
            <a:xfrm>
              <a:off x="6700838" y="787241"/>
              <a:ext cx="732569"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财富客户净增​</a:t>
              </a:r>
            </a:p>
          </p:txBody>
        </p:sp>
        <p:sp>
          <p:nvSpPr>
            <p:cNvPr id="38" name="TextBox 38"/>
            <p:cNvSpPr txBox="1"/>
            <p:nvPr/>
          </p:nvSpPr>
          <p:spPr>
            <a:xfrm>
              <a:off x="6697218" y="964882"/>
              <a:ext cx="687374"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180</a:t>
              </a:r>
              <a:r>
                <a:rPr lang="zh-CN" sz="900" dirty="0">
                  <a:solidFill>
                    <a:srgbClr val="5F6F6A"/>
                  </a:solidFill>
                  <a:latin typeface="+mn-lt"/>
                  <a:ea typeface="+mn-ea"/>
                  <a:cs typeface="+mn-cs"/>
                </a:rPr>
                <a:t xml:space="preserve"> 户</a:t>
              </a:r>
              <a:r>
                <a:rPr lang="zh-CN" sz="1650" b="1" dirty="0">
                  <a:solidFill>
                    <a:srgbClr val="5B180B"/>
                  </a:solidFill>
                  <a:latin typeface="+mn-lt"/>
                  <a:ea typeface="+mn-ea"/>
                  <a:cs typeface="+mn-cs"/>
                </a:rPr>
                <a:t>​</a:t>
              </a:r>
            </a:p>
          </p:txBody>
        </p:sp>
        <p:sp>
          <p:nvSpPr>
            <p:cNvPr id="39" name="Line 39"/>
            <p:cNvSpPr/>
            <p:nvPr/>
          </p:nvSpPr>
          <p:spPr>
            <a:xfrm>
              <a:off x="8039100" y="781050"/>
              <a:ext cx="9525" cy="381000"/>
            </a:xfrm>
            <a:custGeom>
              <a:avLst/>
              <a:gdLst/>
              <a:ahLst/>
              <a:cxnLst/>
              <a:rect l="l" t="t" r="r" b="b"/>
              <a:pathLst>
                <a:path w="9525" h="381000">
                  <a:moveTo>
                    <a:pt x="0" y="0"/>
                  </a:moveTo>
                  <a:lnTo>
                    <a:pt x="0" y="381000"/>
                  </a:lnTo>
                </a:path>
              </a:pathLst>
            </a:custGeom>
            <a:noFill/>
            <a:ln w="9525">
              <a:solidFill>
                <a:srgbClr val="D9E8E2"/>
              </a:solidFill>
            </a:ln>
          </p:spPr>
        </p:sp>
        <p:sp>
          <p:nvSpPr>
            <p:cNvPr id="40" name="TextBox 40"/>
            <p:cNvSpPr txBox="1"/>
            <p:nvPr/>
          </p:nvSpPr>
          <p:spPr>
            <a:xfrm>
              <a:off x="8148638" y="822484"/>
              <a:ext cx="280005"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较Q3​</a:t>
              </a:r>
            </a:p>
          </p:txBody>
        </p:sp>
        <p:sp>
          <p:nvSpPr>
            <p:cNvPr id="41" name="TextBox 41"/>
            <p:cNvSpPr txBox="1"/>
            <p:nvPr/>
          </p:nvSpPr>
          <p:spPr>
            <a:xfrm>
              <a:off x="8148066" y="991552"/>
              <a:ext cx="574658" cy="205359"/>
            </a:xfrm>
            <a:prstGeom prst="rect">
              <a:avLst/>
            </a:prstGeom>
            <a:noFill/>
            <a:ln>
              <a:noFill/>
            </a:ln>
          </p:spPr>
          <p:txBody>
            <a:bodyPr wrap="none" lIns="0" tIns="0" rIns="0" bIns="0" anchor="t" anchorCtr="0">
              <a:spAutoFit/>
            </a:bodyPr>
            <a:lstStyle/>
            <a:p>
              <a:pPr algn="l"/>
              <a:r>
                <a:rPr lang="zh-CN" sz="1050" b="1" dirty="0">
                  <a:solidFill>
                    <a:srgbClr val="9E402E"/>
                  </a:solidFill>
                  <a:latin typeface="+mn-lt"/>
                  <a:ea typeface="+mn-ea"/>
                  <a:cs typeface="+mn-cs"/>
                </a:rPr>
                <a:t>▲ +50%​</a:t>
              </a:r>
            </a:p>
          </p:txBody>
        </p:sp>
        <p:sp>
          <p:nvSpPr>
            <p:cNvPr id="42" name="Rectangle 42"/>
            <p:cNvSpPr/>
            <p:nvPr/>
          </p:nvSpPr>
          <p:spPr>
            <a:xfrm>
              <a:off x="9115425" y="666750"/>
              <a:ext cx="2838450" cy="609600"/>
            </a:xfrm>
            <a:prstGeom prst="roundRect">
              <a:avLst>
                <a:gd name="adj" fmla="val 12500"/>
              </a:avLst>
            </a:prstGeom>
            <a:solidFill>
              <a:srgbClr val="F5FAF8"/>
            </a:solidFill>
            <a:ln w="9525">
              <a:solidFill>
                <a:srgbClr val="D9E8E2"/>
              </a:solidFill>
            </a:ln>
          </p:spPr>
        </p:sp>
        <p:sp>
          <p:nvSpPr>
            <p:cNvPr id="43" name="Ellipse 43"/>
            <p:cNvSpPr/>
            <p:nvPr/>
          </p:nvSpPr>
          <p:spPr>
            <a:xfrm>
              <a:off x="9229725" y="800100"/>
              <a:ext cx="342900" cy="342900"/>
            </a:xfrm>
            <a:prstGeom prst="ellipse">
              <a:avLst/>
            </a:prstGeom>
            <a:solidFill>
              <a:srgbClr val="5B180B"/>
            </a:solidFill>
            <a:ln>
              <a:noFill/>
            </a:ln>
          </p:spPr>
        </p:sp>
        <p:grpSp>
          <p:nvGrpSpPr>
            <p:cNvPr id="49" name="Group 49"/>
            <p:cNvGrpSpPr/>
            <p:nvPr/>
          </p:nvGrpSpPr>
          <p:grpSpPr>
            <a:xfrm>
              <a:off x="9308306" y="878681"/>
              <a:ext cx="185737" cy="185737"/>
              <a:chOff x="9308306" y="878681"/>
              <a:chExt cx="185737" cy="185737"/>
            </a:xfrm>
          </p:grpSpPr>
          <p:sp>
            <p:nvSpPr>
              <p:cNvPr id="44" name="Freeform 44"/>
              <p:cNvSpPr/>
              <p:nvPr/>
            </p:nvSpPr>
            <p:spPr>
              <a:xfrm>
                <a:off x="9380537" y="87868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45" name="Freeform 45"/>
              <p:cNvSpPr/>
              <p:nvPr/>
            </p:nvSpPr>
            <p:spPr>
              <a:xfrm>
                <a:off x="9308306" y="102314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46" name="Freeform 46"/>
              <p:cNvSpPr/>
              <p:nvPr/>
            </p:nvSpPr>
            <p:spPr>
              <a:xfrm>
                <a:off x="9452768" y="102314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47" name="Freeform 47"/>
              <p:cNvSpPr/>
              <p:nvPr/>
            </p:nvSpPr>
            <p:spPr>
              <a:xfrm>
                <a:off x="9344422" y="981868"/>
                <a:ext cx="113506" cy="46434"/>
              </a:xfrm>
              <a:custGeom>
                <a:avLst/>
                <a:gdLst/>
                <a:ahLst/>
                <a:cxnLst/>
                <a:rect l="l" t="t" r="r" b="b"/>
                <a:pathLst>
                  <a:path w="113506" h="46434">
                    <a:moveTo>
                      <a:pt x="0" y="46434"/>
                    </a:moveTo>
                    <a:lnTo>
                      <a:pt x="56753" y="0"/>
                    </a:lnTo>
                    <a:lnTo>
                      <a:pt x="113506" y="46434"/>
                    </a:lnTo>
                  </a:path>
                </a:pathLst>
              </a:custGeom>
              <a:noFill/>
              <a:ln w="20637">
                <a:solidFill>
                  <a:srgbClr val="FFFFFF"/>
                </a:solidFill>
              </a:ln>
            </p:spPr>
          </p:sp>
          <p:sp>
            <p:nvSpPr>
              <p:cNvPr id="48" name="Freeform 48"/>
              <p:cNvSpPr/>
              <p:nvPr/>
            </p:nvSpPr>
            <p:spPr>
              <a:xfrm>
                <a:off x="9401175" y="919956"/>
                <a:ext cx="9525" cy="61912"/>
              </a:xfrm>
              <a:custGeom>
                <a:avLst/>
                <a:gdLst/>
                <a:ahLst/>
                <a:cxnLst/>
                <a:rect l="l" t="t" r="r" b="b"/>
                <a:pathLst>
                  <a:path w="9525" h="61912">
                    <a:moveTo>
                      <a:pt x="0" y="0"/>
                    </a:moveTo>
                    <a:lnTo>
                      <a:pt x="0" y="61912"/>
                    </a:lnTo>
                  </a:path>
                </a:pathLst>
              </a:custGeom>
              <a:noFill/>
              <a:ln w="20637">
                <a:solidFill>
                  <a:srgbClr val="FFFFFF"/>
                </a:solidFill>
              </a:ln>
            </p:spPr>
          </p:sp>
        </p:grpSp>
        <p:sp>
          <p:nvSpPr>
            <p:cNvPr id="50" name="TextBox 50"/>
            <p:cNvSpPr txBox="1"/>
            <p:nvPr/>
          </p:nvSpPr>
          <p:spPr>
            <a:xfrm>
              <a:off x="9663112" y="787241"/>
              <a:ext cx="622181"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产品持有数​</a:t>
              </a:r>
            </a:p>
          </p:txBody>
        </p:sp>
        <p:sp>
          <p:nvSpPr>
            <p:cNvPr id="51" name="TextBox 51"/>
            <p:cNvSpPr txBox="1"/>
            <p:nvPr/>
          </p:nvSpPr>
          <p:spPr>
            <a:xfrm>
              <a:off x="9659493" y="964882"/>
              <a:ext cx="1340415"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2.3 → 2.8</a:t>
              </a:r>
              <a:r>
                <a:rPr lang="zh-CN" sz="900" dirty="0">
                  <a:solidFill>
                    <a:srgbClr val="5F6F6A"/>
                  </a:solidFill>
                  <a:latin typeface="+mn-lt"/>
                  <a:ea typeface="+mn-ea"/>
                  <a:cs typeface="+mn-cs"/>
                </a:rPr>
                <a:t xml:space="preserve"> 个</a:t>
              </a:r>
              <a:r>
                <a:rPr lang="zh-CN" sz="1650" b="1" dirty="0">
                  <a:solidFill>
                    <a:srgbClr val="5B180B"/>
                  </a:solidFill>
                  <a:latin typeface="+mn-lt"/>
                  <a:ea typeface="+mn-ea"/>
                  <a:cs typeface="+mn-cs"/>
                </a:rPr>
                <a:t>​</a:t>
              </a:r>
            </a:p>
          </p:txBody>
        </p:sp>
        <p:sp>
          <p:nvSpPr>
            <p:cNvPr id="52" name="Line 52"/>
            <p:cNvSpPr/>
            <p:nvPr/>
          </p:nvSpPr>
          <p:spPr>
            <a:xfrm>
              <a:off x="11001375" y="781050"/>
              <a:ext cx="9525" cy="381000"/>
            </a:xfrm>
            <a:custGeom>
              <a:avLst/>
              <a:gdLst/>
              <a:ahLst/>
              <a:cxnLst/>
              <a:rect l="l" t="t" r="r" b="b"/>
              <a:pathLst>
                <a:path w="9525" h="381000">
                  <a:moveTo>
                    <a:pt x="0" y="0"/>
                  </a:moveTo>
                  <a:lnTo>
                    <a:pt x="0" y="381000"/>
                  </a:lnTo>
                </a:path>
              </a:pathLst>
            </a:custGeom>
            <a:noFill/>
            <a:ln w="9525">
              <a:solidFill>
                <a:srgbClr val="D9E8E2"/>
              </a:solidFill>
            </a:ln>
          </p:spPr>
        </p:sp>
        <p:sp>
          <p:nvSpPr>
            <p:cNvPr id="53" name="TextBox 53"/>
            <p:cNvSpPr txBox="1"/>
            <p:nvPr/>
          </p:nvSpPr>
          <p:spPr>
            <a:xfrm>
              <a:off x="11110912" y="822484"/>
              <a:ext cx="280005"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较Q3​</a:t>
              </a:r>
            </a:p>
          </p:txBody>
        </p:sp>
        <p:sp>
          <p:nvSpPr>
            <p:cNvPr id="54" name="TextBox 54"/>
            <p:cNvSpPr txBox="1"/>
            <p:nvPr/>
          </p:nvSpPr>
          <p:spPr>
            <a:xfrm>
              <a:off x="11110341" y="991552"/>
              <a:ext cx="574658" cy="205359"/>
            </a:xfrm>
            <a:prstGeom prst="rect">
              <a:avLst/>
            </a:prstGeom>
            <a:noFill/>
            <a:ln>
              <a:noFill/>
            </a:ln>
          </p:spPr>
          <p:txBody>
            <a:bodyPr wrap="none" lIns="0" tIns="0" rIns="0" bIns="0" anchor="t" anchorCtr="0">
              <a:spAutoFit/>
            </a:bodyPr>
            <a:lstStyle/>
            <a:p>
              <a:pPr algn="l"/>
              <a:r>
                <a:rPr lang="zh-CN" sz="1050" b="1" dirty="0">
                  <a:solidFill>
                    <a:srgbClr val="9E402E"/>
                  </a:solidFill>
                  <a:latin typeface="+mn-lt"/>
                  <a:ea typeface="+mn-ea"/>
                  <a:cs typeface="+mn-cs"/>
                </a:rPr>
                <a:t>▲ +22%​</a:t>
              </a:r>
            </a:p>
          </p:txBody>
        </p:sp>
      </p:grpSp>
      <p:grpSp>
        <p:nvGrpSpPr>
          <p:cNvPr id="112" name="risk-curve-card"/>
          <p:cNvGrpSpPr/>
          <p:nvPr/>
        </p:nvGrpSpPr>
        <p:grpSpPr>
          <a:xfrm>
            <a:off x="228600" y="1371600"/>
            <a:ext cx="3810000" cy="2228850"/>
            <a:chOff x="228600" y="1371600"/>
            <a:chExt cx="3810000" cy="2228850"/>
          </a:xfrm>
        </p:grpSpPr>
        <p:sp>
          <p:nvSpPr>
            <p:cNvPr id="56" name="Rectangle 56"/>
            <p:cNvSpPr/>
            <p:nvPr/>
          </p:nvSpPr>
          <p:spPr>
            <a:xfrm>
              <a:off x="228600" y="1371600"/>
              <a:ext cx="3810000" cy="2228850"/>
            </a:xfrm>
            <a:prstGeom prst="roundRect">
              <a:avLst>
                <a:gd name="adj" fmla="val 4274"/>
              </a:avLst>
            </a:prstGeom>
            <a:solidFill>
              <a:srgbClr val="F5FAF8"/>
            </a:solidFill>
            <a:ln w="9525">
              <a:solidFill>
                <a:srgbClr val="D9E8E2"/>
              </a:solidFill>
            </a:ln>
          </p:spPr>
        </p:sp>
        <p:sp>
          <p:nvSpPr>
            <p:cNvPr id="57" name="Rectangle 57"/>
            <p:cNvSpPr/>
            <p:nvPr/>
          </p:nvSpPr>
          <p:spPr>
            <a:xfrm>
              <a:off x="342900" y="1466850"/>
              <a:ext cx="47625" cy="152400"/>
            </a:xfrm>
            <a:prstGeom prst="rect">
              <a:avLst/>
            </a:prstGeom>
            <a:solidFill>
              <a:srgbClr val="5B180B"/>
            </a:solidFill>
            <a:ln>
              <a:noFill/>
            </a:ln>
          </p:spPr>
        </p:sp>
        <p:sp>
          <p:nvSpPr>
            <p:cNvPr id="58" name="TextBox 58"/>
            <p:cNvSpPr txBox="1"/>
            <p:nvPr/>
          </p:nvSpPr>
          <p:spPr>
            <a:xfrm>
              <a:off x="452438" y="1489472"/>
              <a:ext cx="1727660"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客户风险收益谱系与配置模型​</a:t>
              </a:r>
            </a:p>
          </p:txBody>
        </p:sp>
        <p:sp>
          <p:nvSpPr>
            <p:cNvPr id="59" name="Line 59"/>
            <p:cNvSpPr/>
            <p:nvPr/>
          </p:nvSpPr>
          <p:spPr>
            <a:xfrm>
              <a:off x="571500" y="1676400"/>
              <a:ext cx="9525" cy="1143000"/>
            </a:xfrm>
            <a:custGeom>
              <a:avLst/>
              <a:gdLst/>
              <a:ahLst/>
              <a:cxnLst/>
              <a:rect l="l" t="t" r="r" b="b"/>
              <a:pathLst>
                <a:path w="9525" h="1143000">
                  <a:moveTo>
                    <a:pt x="0" y="0"/>
                  </a:moveTo>
                  <a:lnTo>
                    <a:pt x="0" y="1143000"/>
                  </a:lnTo>
                </a:path>
              </a:pathLst>
            </a:custGeom>
            <a:noFill/>
            <a:ln w="9525">
              <a:solidFill>
                <a:srgbClr val="BFDDD6"/>
              </a:solidFill>
            </a:ln>
          </p:spPr>
        </p:sp>
        <p:sp>
          <p:nvSpPr>
            <p:cNvPr id="60" name="Line 60"/>
            <p:cNvSpPr/>
            <p:nvPr/>
          </p:nvSpPr>
          <p:spPr>
            <a:xfrm>
              <a:off x="571500" y="2819400"/>
              <a:ext cx="3276600" cy="9525"/>
            </a:xfrm>
            <a:custGeom>
              <a:avLst/>
              <a:gdLst/>
              <a:ahLst/>
              <a:cxnLst/>
              <a:rect l="l" t="t" r="r" b="b"/>
              <a:pathLst>
                <a:path w="3276600" h="9525">
                  <a:moveTo>
                    <a:pt x="0" y="0"/>
                  </a:moveTo>
                  <a:lnTo>
                    <a:pt x="3276600" y="0"/>
                  </a:lnTo>
                </a:path>
              </a:pathLst>
            </a:custGeom>
            <a:noFill/>
            <a:ln w="9525">
              <a:solidFill>
                <a:srgbClr val="BFDDD6"/>
              </a:solidFill>
            </a:ln>
          </p:spPr>
        </p:sp>
        <p:sp>
          <p:nvSpPr>
            <p:cNvPr id="61" name="TextBox 61"/>
            <p:cNvSpPr txBox="1"/>
            <p:nvPr/>
          </p:nvSpPr>
          <p:spPr>
            <a:xfrm>
              <a:off x="408889" y="1706880"/>
              <a:ext cx="134722" cy="119062"/>
            </a:xfrm>
            <a:prstGeom prst="rect">
              <a:avLst/>
            </a:prstGeom>
            <a:noFill/>
            <a:ln>
              <a:noFill/>
            </a:ln>
          </p:spPr>
          <p:txBody>
            <a:bodyPr wrap="none" lIns="0" tIns="0" rIns="0" bIns="0" anchor="t" anchorCtr="0">
              <a:spAutoFit/>
            </a:bodyPr>
            <a:lstStyle/>
            <a:p>
              <a:pPr algn="ctr"/>
              <a:r>
                <a:rPr lang="zh-CN" sz="600" dirty="0">
                  <a:solidFill>
                    <a:srgbClr val="8AA39C"/>
                  </a:solidFill>
                  <a:latin typeface="+mn-lt"/>
                  <a:ea typeface="+mn-ea"/>
                  <a:cs typeface="+mn-cs"/>
                </a:rPr>
                <a:t>高​</a:t>
              </a:r>
            </a:p>
          </p:txBody>
        </p:sp>
        <p:sp>
          <p:nvSpPr>
            <p:cNvPr id="62" name="TextBox 62"/>
            <p:cNvSpPr txBox="1"/>
            <p:nvPr/>
          </p:nvSpPr>
          <p:spPr>
            <a:xfrm>
              <a:off x="408889" y="2716530"/>
              <a:ext cx="134722" cy="119062"/>
            </a:xfrm>
            <a:prstGeom prst="rect">
              <a:avLst/>
            </a:prstGeom>
            <a:noFill/>
            <a:ln>
              <a:noFill/>
            </a:ln>
          </p:spPr>
          <p:txBody>
            <a:bodyPr wrap="none" lIns="0" tIns="0" rIns="0" bIns="0" anchor="t" anchorCtr="0">
              <a:spAutoFit/>
            </a:bodyPr>
            <a:lstStyle/>
            <a:p>
              <a:pPr algn="ctr"/>
              <a:r>
                <a:rPr lang="zh-CN" sz="600" dirty="0">
                  <a:solidFill>
                    <a:srgbClr val="8AA39C"/>
                  </a:solidFill>
                  <a:latin typeface="+mn-lt"/>
                  <a:ea typeface="+mn-ea"/>
                  <a:cs typeface="+mn-cs"/>
                </a:rPr>
                <a:t>低​</a:t>
              </a:r>
            </a:p>
          </p:txBody>
        </p:sp>
        <p:sp>
          <p:nvSpPr>
            <p:cNvPr id="63" name="TextBox 63"/>
            <p:cNvSpPr txBox="1"/>
            <p:nvPr/>
          </p:nvSpPr>
          <p:spPr>
            <a:xfrm>
              <a:off x="313639" y="2049780"/>
              <a:ext cx="134722" cy="119062"/>
            </a:xfrm>
            <a:prstGeom prst="rect">
              <a:avLst/>
            </a:prstGeom>
            <a:noFill/>
            <a:ln>
              <a:noFill/>
            </a:ln>
          </p:spPr>
          <p:txBody>
            <a:bodyPr wrap="none" lIns="0" tIns="0" rIns="0" bIns="0" anchor="t" anchorCtr="0">
              <a:spAutoFit/>
            </a:bodyPr>
            <a:lstStyle/>
            <a:p>
              <a:pPr algn="ctr"/>
              <a:r>
                <a:rPr lang="zh-CN" sz="600" dirty="0">
                  <a:solidFill>
                    <a:srgbClr val="8AA39C"/>
                  </a:solidFill>
                  <a:latin typeface="+mn-lt"/>
                  <a:ea typeface="+mn-ea"/>
                  <a:cs typeface="+mn-cs"/>
                </a:rPr>
                <a:t>预​</a:t>
              </a:r>
            </a:p>
          </p:txBody>
        </p:sp>
        <p:sp>
          <p:nvSpPr>
            <p:cNvPr id="64" name="TextBox 64"/>
            <p:cNvSpPr txBox="1"/>
            <p:nvPr/>
          </p:nvSpPr>
          <p:spPr>
            <a:xfrm>
              <a:off x="313639" y="2145030"/>
              <a:ext cx="134722" cy="119062"/>
            </a:xfrm>
            <a:prstGeom prst="rect">
              <a:avLst/>
            </a:prstGeom>
            <a:noFill/>
            <a:ln>
              <a:noFill/>
            </a:ln>
          </p:spPr>
          <p:txBody>
            <a:bodyPr wrap="none" lIns="0" tIns="0" rIns="0" bIns="0" anchor="t" anchorCtr="0">
              <a:spAutoFit/>
            </a:bodyPr>
            <a:lstStyle/>
            <a:p>
              <a:pPr algn="ctr"/>
              <a:r>
                <a:rPr lang="zh-CN" sz="600" dirty="0">
                  <a:solidFill>
                    <a:srgbClr val="8AA39C"/>
                  </a:solidFill>
                  <a:latin typeface="+mn-lt"/>
                  <a:ea typeface="+mn-ea"/>
                  <a:cs typeface="+mn-cs"/>
                </a:rPr>
                <a:t>期​</a:t>
              </a:r>
            </a:p>
          </p:txBody>
        </p:sp>
        <p:sp>
          <p:nvSpPr>
            <p:cNvPr id="65" name="TextBox 65"/>
            <p:cNvSpPr txBox="1"/>
            <p:nvPr/>
          </p:nvSpPr>
          <p:spPr>
            <a:xfrm>
              <a:off x="313639" y="2240280"/>
              <a:ext cx="134722" cy="119062"/>
            </a:xfrm>
            <a:prstGeom prst="rect">
              <a:avLst/>
            </a:prstGeom>
            <a:noFill/>
            <a:ln>
              <a:noFill/>
            </a:ln>
          </p:spPr>
          <p:txBody>
            <a:bodyPr wrap="none" lIns="0" tIns="0" rIns="0" bIns="0" anchor="t" anchorCtr="0">
              <a:spAutoFit/>
            </a:bodyPr>
            <a:lstStyle/>
            <a:p>
              <a:pPr algn="ctr"/>
              <a:r>
                <a:rPr lang="zh-CN" sz="600" dirty="0">
                  <a:solidFill>
                    <a:srgbClr val="8AA39C"/>
                  </a:solidFill>
                  <a:latin typeface="+mn-lt"/>
                  <a:ea typeface="+mn-ea"/>
                  <a:cs typeface="+mn-cs"/>
                </a:rPr>
                <a:t>收​</a:t>
              </a:r>
            </a:p>
          </p:txBody>
        </p:sp>
        <p:sp>
          <p:nvSpPr>
            <p:cNvPr id="66" name="TextBox 66"/>
            <p:cNvSpPr txBox="1"/>
            <p:nvPr/>
          </p:nvSpPr>
          <p:spPr>
            <a:xfrm>
              <a:off x="313639" y="2335530"/>
              <a:ext cx="134722" cy="119062"/>
            </a:xfrm>
            <a:prstGeom prst="rect">
              <a:avLst/>
            </a:prstGeom>
            <a:noFill/>
            <a:ln>
              <a:noFill/>
            </a:ln>
          </p:spPr>
          <p:txBody>
            <a:bodyPr wrap="none" lIns="0" tIns="0" rIns="0" bIns="0" anchor="t" anchorCtr="0">
              <a:spAutoFit/>
            </a:bodyPr>
            <a:lstStyle/>
            <a:p>
              <a:pPr algn="ctr"/>
              <a:r>
                <a:rPr lang="zh-CN" sz="600" dirty="0">
                  <a:solidFill>
                    <a:srgbClr val="8AA39C"/>
                  </a:solidFill>
                  <a:latin typeface="+mn-lt"/>
                  <a:ea typeface="+mn-ea"/>
                  <a:cs typeface="+mn-cs"/>
                </a:rPr>
                <a:t>益​</a:t>
              </a:r>
            </a:p>
          </p:txBody>
        </p:sp>
        <p:sp>
          <p:nvSpPr>
            <p:cNvPr id="67" name="TextBox 67"/>
            <p:cNvSpPr txBox="1"/>
            <p:nvPr/>
          </p:nvSpPr>
          <p:spPr>
            <a:xfrm>
              <a:off x="313639" y="2430780"/>
              <a:ext cx="134722" cy="119062"/>
            </a:xfrm>
            <a:prstGeom prst="rect">
              <a:avLst/>
            </a:prstGeom>
            <a:noFill/>
            <a:ln>
              <a:noFill/>
            </a:ln>
          </p:spPr>
          <p:txBody>
            <a:bodyPr wrap="none" lIns="0" tIns="0" rIns="0" bIns="0" anchor="t" anchorCtr="0">
              <a:spAutoFit/>
            </a:bodyPr>
            <a:lstStyle/>
            <a:p>
              <a:pPr algn="ctr"/>
              <a:r>
                <a:rPr lang="zh-CN" sz="600" dirty="0">
                  <a:solidFill>
                    <a:srgbClr val="8AA39C"/>
                  </a:solidFill>
                  <a:latin typeface="+mn-lt"/>
                  <a:ea typeface="+mn-ea"/>
                  <a:cs typeface="+mn-cs"/>
                </a:rPr>
                <a:t>率​</a:t>
              </a:r>
            </a:p>
          </p:txBody>
        </p:sp>
        <p:sp>
          <p:nvSpPr>
            <p:cNvPr id="68" name="TextBox 68"/>
            <p:cNvSpPr txBox="1"/>
            <p:nvPr/>
          </p:nvSpPr>
          <p:spPr>
            <a:xfrm>
              <a:off x="623888" y="2849880"/>
              <a:ext cx="134722" cy="119062"/>
            </a:xfrm>
            <a:prstGeom prst="rect">
              <a:avLst/>
            </a:prstGeom>
            <a:noFill/>
            <a:ln>
              <a:noFill/>
            </a:ln>
          </p:spPr>
          <p:txBody>
            <a:bodyPr wrap="none" lIns="0" tIns="0" rIns="0" bIns="0" anchor="t" anchorCtr="0">
              <a:spAutoFit/>
            </a:bodyPr>
            <a:lstStyle/>
            <a:p>
              <a:pPr algn="l"/>
              <a:r>
                <a:rPr lang="zh-CN" sz="600" dirty="0">
                  <a:solidFill>
                    <a:srgbClr val="8AA39C"/>
                  </a:solidFill>
                  <a:latin typeface="+mn-lt"/>
                  <a:ea typeface="+mn-ea"/>
                  <a:cs typeface="+mn-cs"/>
                </a:rPr>
                <a:t>低​</a:t>
              </a:r>
            </a:p>
          </p:txBody>
        </p:sp>
        <p:sp>
          <p:nvSpPr>
            <p:cNvPr id="69" name="TextBox 69"/>
            <p:cNvSpPr txBox="1"/>
            <p:nvPr/>
          </p:nvSpPr>
          <p:spPr>
            <a:xfrm>
              <a:off x="2009031" y="2845832"/>
              <a:ext cx="401538" cy="126206"/>
            </a:xfrm>
            <a:prstGeom prst="rect">
              <a:avLst/>
            </a:prstGeom>
            <a:noFill/>
            <a:ln>
              <a:noFill/>
            </a:ln>
          </p:spPr>
          <p:txBody>
            <a:bodyPr wrap="none" lIns="0" tIns="0" rIns="0" bIns="0" anchor="t" anchorCtr="0">
              <a:spAutoFit/>
            </a:bodyPr>
            <a:lstStyle/>
            <a:p>
              <a:pPr algn="ctr"/>
              <a:r>
                <a:rPr lang="zh-CN" sz="640" dirty="0">
                  <a:solidFill>
                    <a:srgbClr val="8AA39C"/>
                  </a:solidFill>
                  <a:latin typeface="+mn-lt"/>
                  <a:ea typeface="+mn-ea"/>
                  <a:cs typeface="+mn-cs"/>
                </a:rPr>
                <a:t>风险水平​</a:t>
              </a:r>
            </a:p>
          </p:txBody>
        </p:sp>
        <p:sp>
          <p:nvSpPr>
            <p:cNvPr id="70" name="TextBox 70"/>
            <p:cNvSpPr txBox="1"/>
            <p:nvPr/>
          </p:nvSpPr>
          <p:spPr>
            <a:xfrm>
              <a:off x="3723589" y="2849880"/>
              <a:ext cx="134722" cy="119062"/>
            </a:xfrm>
            <a:prstGeom prst="rect">
              <a:avLst/>
            </a:prstGeom>
            <a:noFill/>
            <a:ln>
              <a:noFill/>
            </a:ln>
          </p:spPr>
          <p:txBody>
            <a:bodyPr wrap="none" lIns="0" tIns="0" rIns="0" bIns="0" anchor="t" anchorCtr="0">
              <a:spAutoFit/>
            </a:bodyPr>
            <a:lstStyle/>
            <a:p>
              <a:pPr algn="ctr"/>
              <a:r>
                <a:rPr lang="zh-CN" sz="600" dirty="0">
                  <a:solidFill>
                    <a:srgbClr val="8AA39C"/>
                  </a:solidFill>
                  <a:latin typeface="+mn-lt"/>
                  <a:ea typeface="+mn-ea"/>
                  <a:cs typeface="+mn-cs"/>
                </a:rPr>
                <a:t>高​</a:t>
              </a:r>
            </a:p>
          </p:txBody>
        </p:sp>
        <p:sp>
          <p:nvSpPr>
            <p:cNvPr id="71" name="Freeform 71"/>
            <p:cNvSpPr/>
            <p:nvPr/>
          </p:nvSpPr>
          <p:spPr>
            <a:xfrm>
              <a:off x="647700" y="1809750"/>
              <a:ext cx="3009900" cy="933450"/>
            </a:xfrm>
            <a:custGeom>
              <a:avLst/>
              <a:gdLst/>
              <a:ahLst/>
              <a:cxnLst/>
              <a:rect l="l" t="t" r="r" b="b"/>
              <a:pathLst>
                <a:path w="3009900" h="933450">
                  <a:moveTo>
                    <a:pt x="0" y="933450"/>
                  </a:moveTo>
                  <a:cubicBezTo>
                    <a:pt x="685800" y="895350"/>
                    <a:pt x="1162050" y="685800"/>
                    <a:pt x="1562100" y="533400"/>
                  </a:cubicBezTo>
                  <a:cubicBezTo>
                    <a:pt x="2019300" y="361950"/>
                    <a:pt x="2400300" y="152400"/>
                    <a:pt x="3009900" y="0"/>
                  </a:cubicBezTo>
                </a:path>
              </a:pathLst>
            </a:custGeom>
            <a:noFill/>
            <a:ln w="19050">
              <a:solidFill>
                <a:srgbClr val="C9988F"/>
              </a:solidFill>
              <a:custDash>
                <a:ds d="200000" sp="150000"/>
              </a:custDash>
            </a:ln>
          </p:spPr>
        </p:sp>
        <p:sp>
          <p:nvSpPr>
            <p:cNvPr id="72" name="Line 72"/>
            <p:cNvSpPr/>
            <p:nvPr/>
          </p:nvSpPr>
          <p:spPr>
            <a:xfrm>
              <a:off x="1200150" y="1905000"/>
              <a:ext cx="9525" cy="552450"/>
            </a:xfrm>
            <a:custGeom>
              <a:avLst/>
              <a:gdLst/>
              <a:ahLst/>
              <a:cxnLst/>
              <a:rect l="l" t="t" r="r" b="b"/>
              <a:pathLst>
                <a:path w="9525" h="552450">
                  <a:moveTo>
                    <a:pt x="0" y="0"/>
                  </a:moveTo>
                  <a:lnTo>
                    <a:pt x="0" y="552450"/>
                  </a:lnTo>
                </a:path>
              </a:pathLst>
            </a:custGeom>
            <a:noFill/>
            <a:ln w="7620">
              <a:solidFill>
                <a:srgbClr val="BFDDD6"/>
              </a:solidFill>
              <a:prstDash val="sysDot"/>
            </a:ln>
          </p:spPr>
        </p:sp>
        <p:sp>
          <p:nvSpPr>
            <p:cNvPr id="73" name="Line 73"/>
            <p:cNvSpPr/>
            <p:nvPr/>
          </p:nvSpPr>
          <p:spPr>
            <a:xfrm>
              <a:off x="2209800" y="1905000"/>
              <a:ext cx="9525" cy="209550"/>
            </a:xfrm>
            <a:custGeom>
              <a:avLst/>
              <a:gdLst/>
              <a:ahLst/>
              <a:cxnLst/>
              <a:rect l="l" t="t" r="r" b="b"/>
              <a:pathLst>
                <a:path w="9525" h="209550">
                  <a:moveTo>
                    <a:pt x="0" y="0"/>
                  </a:moveTo>
                  <a:lnTo>
                    <a:pt x="0" y="209550"/>
                  </a:lnTo>
                </a:path>
              </a:pathLst>
            </a:custGeom>
            <a:noFill/>
            <a:ln w="7620">
              <a:solidFill>
                <a:srgbClr val="BFDDD6"/>
              </a:solidFill>
              <a:prstDash val="sysDot"/>
            </a:ln>
          </p:spPr>
        </p:sp>
        <p:sp>
          <p:nvSpPr>
            <p:cNvPr id="74" name="Line 74"/>
            <p:cNvSpPr/>
            <p:nvPr/>
          </p:nvSpPr>
          <p:spPr>
            <a:xfrm>
              <a:off x="3219450" y="1790700"/>
              <a:ext cx="9525" cy="114300"/>
            </a:xfrm>
            <a:custGeom>
              <a:avLst/>
              <a:gdLst/>
              <a:ahLst/>
              <a:cxnLst/>
              <a:rect l="l" t="t" r="r" b="b"/>
              <a:pathLst>
                <a:path w="9525" h="114300">
                  <a:moveTo>
                    <a:pt x="0" y="114300"/>
                  </a:moveTo>
                  <a:lnTo>
                    <a:pt x="0" y="0"/>
                  </a:lnTo>
                </a:path>
              </a:pathLst>
            </a:custGeom>
            <a:noFill/>
            <a:ln w="7620">
              <a:solidFill>
                <a:srgbClr val="BFDDD6"/>
              </a:solidFill>
              <a:prstDash val="sysDot"/>
            </a:ln>
          </p:spPr>
        </p:sp>
        <p:sp>
          <p:nvSpPr>
            <p:cNvPr id="75" name="TextBox 75"/>
            <p:cNvSpPr txBox="1"/>
            <p:nvPr/>
          </p:nvSpPr>
          <p:spPr>
            <a:xfrm>
              <a:off x="1011631" y="1706880"/>
              <a:ext cx="377038" cy="119062"/>
            </a:xfrm>
            <a:prstGeom prst="rect">
              <a:avLst/>
            </a:prstGeom>
            <a:noFill/>
            <a:ln>
              <a:noFill/>
            </a:ln>
          </p:spPr>
          <p:txBody>
            <a:bodyPr wrap="none" lIns="0" tIns="0" rIns="0" bIns="0" anchor="t" anchorCtr="0">
              <a:spAutoFit/>
            </a:bodyPr>
            <a:lstStyle/>
            <a:p>
              <a:pPr algn="ctr"/>
              <a:r>
                <a:rPr lang="zh-CN" sz="600" dirty="0">
                  <a:solidFill>
                    <a:srgbClr val="5F6F6A"/>
                  </a:solidFill>
                  <a:latin typeface="+mn-lt"/>
                  <a:ea typeface="+mn-ea"/>
                  <a:cs typeface="+mn-cs"/>
                </a:rPr>
                <a:t>守住财富​</a:t>
              </a:r>
            </a:p>
          </p:txBody>
        </p:sp>
        <p:sp>
          <p:nvSpPr>
            <p:cNvPr id="76" name="TextBox 76"/>
            <p:cNvSpPr txBox="1"/>
            <p:nvPr/>
          </p:nvSpPr>
          <p:spPr>
            <a:xfrm>
              <a:off x="1011631" y="1802130"/>
              <a:ext cx="377038" cy="119062"/>
            </a:xfrm>
            <a:prstGeom prst="rect">
              <a:avLst/>
            </a:prstGeom>
            <a:noFill/>
            <a:ln>
              <a:noFill/>
            </a:ln>
          </p:spPr>
          <p:txBody>
            <a:bodyPr wrap="none" lIns="0" tIns="0" rIns="0" bIns="0" anchor="t" anchorCtr="0">
              <a:spAutoFit/>
            </a:bodyPr>
            <a:lstStyle/>
            <a:p>
              <a:pPr algn="ctr"/>
              <a:r>
                <a:rPr lang="zh-CN" sz="600" dirty="0">
                  <a:solidFill>
                    <a:srgbClr val="5F6F6A"/>
                  </a:solidFill>
                  <a:latin typeface="+mn-lt"/>
                  <a:ea typeface="+mn-ea"/>
                  <a:cs typeface="+mn-cs"/>
                </a:rPr>
                <a:t>稳健增值​</a:t>
              </a:r>
            </a:p>
          </p:txBody>
        </p:sp>
        <p:sp>
          <p:nvSpPr>
            <p:cNvPr id="77" name="TextBox 77"/>
            <p:cNvSpPr txBox="1"/>
            <p:nvPr/>
          </p:nvSpPr>
          <p:spPr>
            <a:xfrm>
              <a:off x="2021281" y="1706880"/>
              <a:ext cx="377038" cy="119062"/>
            </a:xfrm>
            <a:prstGeom prst="rect">
              <a:avLst/>
            </a:prstGeom>
            <a:noFill/>
            <a:ln>
              <a:noFill/>
            </a:ln>
          </p:spPr>
          <p:txBody>
            <a:bodyPr wrap="none" lIns="0" tIns="0" rIns="0" bIns="0" anchor="t" anchorCtr="0">
              <a:spAutoFit/>
            </a:bodyPr>
            <a:lstStyle/>
            <a:p>
              <a:pPr algn="ctr"/>
              <a:r>
                <a:rPr lang="zh-CN" sz="600" dirty="0">
                  <a:solidFill>
                    <a:srgbClr val="5F6F6A"/>
                  </a:solidFill>
                  <a:latin typeface="+mn-lt"/>
                  <a:ea typeface="+mn-ea"/>
                  <a:cs typeface="+mn-cs"/>
                </a:rPr>
                <a:t>攻守兼顾​</a:t>
              </a:r>
            </a:p>
          </p:txBody>
        </p:sp>
        <p:sp>
          <p:nvSpPr>
            <p:cNvPr id="78" name="TextBox 78"/>
            <p:cNvSpPr txBox="1"/>
            <p:nvPr/>
          </p:nvSpPr>
          <p:spPr>
            <a:xfrm>
              <a:off x="2021281" y="1802130"/>
              <a:ext cx="377038" cy="119062"/>
            </a:xfrm>
            <a:prstGeom prst="rect">
              <a:avLst/>
            </a:prstGeom>
            <a:noFill/>
            <a:ln>
              <a:noFill/>
            </a:ln>
          </p:spPr>
          <p:txBody>
            <a:bodyPr wrap="none" lIns="0" tIns="0" rIns="0" bIns="0" anchor="t" anchorCtr="0">
              <a:spAutoFit/>
            </a:bodyPr>
            <a:lstStyle/>
            <a:p>
              <a:pPr algn="ctr"/>
              <a:r>
                <a:rPr lang="zh-CN" sz="600" dirty="0">
                  <a:solidFill>
                    <a:srgbClr val="5F6F6A"/>
                  </a:solidFill>
                  <a:latin typeface="+mn-lt"/>
                  <a:ea typeface="+mn-ea"/>
                  <a:cs typeface="+mn-cs"/>
                </a:rPr>
                <a:t>平衡配置​</a:t>
              </a:r>
            </a:p>
          </p:txBody>
        </p:sp>
        <p:sp>
          <p:nvSpPr>
            <p:cNvPr id="79" name="TextBox 79"/>
            <p:cNvSpPr txBox="1"/>
            <p:nvPr/>
          </p:nvSpPr>
          <p:spPr>
            <a:xfrm>
              <a:off x="3030931" y="1554480"/>
              <a:ext cx="377038" cy="119062"/>
            </a:xfrm>
            <a:prstGeom prst="rect">
              <a:avLst/>
            </a:prstGeom>
            <a:noFill/>
            <a:ln>
              <a:noFill/>
            </a:ln>
          </p:spPr>
          <p:txBody>
            <a:bodyPr wrap="none" lIns="0" tIns="0" rIns="0" bIns="0" anchor="t" anchorCtr="0">
              <a:spAutoFit/>
            </a:bodyPr>
            <a:lstStyle/>
            <a:p>
              <a:pPr algn="ctr"/>
              <a:r>
                <a:rPr lang="zh-CN" sz="600" dirty="0">
                  <a:solidFill>
                    <a:srgbClr val="5F6F6A"/>
                  </a:solidFill>
                  <a:latin typeface="+mn-lt"/>
                  <a:ea typeface="+mn-ea"/>
                  <a:cs typeface="+mn-cs"/>
                </a:rPr>
                <a:t>把握机遇​</a:t>
              </a:r>
            </a:p>
          </p:txBody>
        </p:sp>
        <p:sp>
          <p:nvSpPr>
            <p:cNvPr id="80" name="TextBox 80"/>
            <p:cNvSpPr txBox="1"/>
            <p:nvPr/>
          </p:nvSpPr>
          <p:spPr>
            <a:xfrm>
              <a:off x="3030931" y="1649730"/>
              <a:ext cx="377038" cy="119062"/>
            </a:xfrm>
            <a:prstGeom prst="rect">
              <a:avLst/>
            </a:prstGeom>
            <a:noFill/>
            <a:ln>
              <a:noFill/>
            </a:ln>
          </p:spPr>
          <p:txBody>
            <a:bodyPr wrap="none" lIns="0" tIns="0" rIns="0" bIns="0" anchor="t" anchorCtr="0">
              <a:spAutoFit/>
            </a:bodyPr>
            <a:lstStyle/>
            <a:p>
              <a:pPr algn="ctr"/>
              <a:r>
                <a:rPr lang="zh-CN" sz="600" dirty="0">
                  <a:solidFill>
                    <a:srgbClr val="5F6F6A"/>
                  </a:solidFill>
                  <a:latin typeface="+mn-lt"/>
                  <a:ea typeface="+mn-ea"/>
                  <a:cs typeface="+mn-cs"/>
                </a:rPr>
                <a:t>追求成长​</a:t>
              </a:r>
            </a:p>
          </p:txBody>
        </p:sp>
        <p:sp>
          <p:nvSpPr>
            <p:cNvPr id="81" name="Ellipse 81"/>
            <p:cNvSpPr/>
            <p:nvPr/>
          </p:nvSpPr>
          <p:spPr>
            <a:xfrm>
              <a:off x="1009650" y="2438400"/>
              <a:ext cx="381000" cy="381000"/>
            </a:xfrm>
            <a:prstGeom prst="ellipse">
              <a:avLst/>
            </a:prstGeom>
            <a:solidFill>
              <a:srgbClr val="C9988F"/>
            </a:solidFill>
            <a:ln>
              <a:noFill/>
            </a:ln>
          </p:spPr>
        </p:sp>
        <p:sp>
          <p:nvSpPr>
            <p:cNvPr id="82" name="TextBox 82"/>
            <p:cNvSpPr txBox="1"/>
            <p:nvPr/>
          </p:nvSpPr>
          <p:spPr>
            <a:xfrm>
              <a:off x="1014786" y="2586038"/>
              <a:ext cx="370727" cy="147638"/>
            </a:xfrm>
            <a:prstGeom prst="rect">
              <a:avLst/>
            </a:prstGeom>
            <a:noFill/>
            <a:ln>
              <a:noFill/>
            </a:ln>
          </p:spPr>
          <p:txBody>
            <a:bodyPr wrap="none" lIns="0" tIns="0" rIns="0" bIns="0" anchor="t" anchorCtr="0">
              <a:spAutoFit/>
            </a:bodyPr>
            <a:lstStyle/>
            <a:p>
              <a:pPr algn="ctr"/>
              <a:r>
                <a:rPr lang="zh-CN" sz="750" b="1" dirty="0">
                  <a:solidFill>
                    <a:srgbClr val="3B130B"/>
                  </a:solidFill>
                  <a:latin typeface="+mn-lt"/>
                  <a:ea typeface="+mn-ea"/>
                  <a:cs typeface="+mn-cs"/>
                </a:rPr>
                <a:t>稳健型​</a:t>
              </a:r>
            </a:p>
          </p:txBody>
        </p:sp>
        <p:sp>
          <p:nvSpPr>
            <p:cNvPr id="83" name="Ellipse 83"/>
            <p:cNvSpPr/>
            <p:nvPr/>
          </p:nvSpPr>
          <p:spPr>
            <a:xfrm>
              <a:off x="2000250" y="2095500"/>
              <a:ext cx="419100" cy="419100"/>
            </a:xfrm>
            <a:prstGeom prst="ellipse">
              <a:avLst/>
            </a:prstGeom>
            <a:solidFill>
              <a:srgbClr val="9A412F"/>
            </a:solidFill>
            <a:ln>
              <a:noFill/>
            </a:ln>
          </p:spPr>
        </p:sp>
        <p:sp>
          <p:nvSpPr>
            <p:cNvPr id="84" name="TextBox 84"/>
            <p:cNvSpPr txBox="1"/>
            <p:nvPr/>
          </p:nvSpPr>
          <p:spPr>
            <a:xfrm>
              <a:off x="2024436" y="2262188"/>
              <a:ext cx="37072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平衡型​</a:t>
              </a:r>
            </a:p>
          </p:txBody>
        </p:sp>
        <p:sp>
          <p:nvSpPr>
            <p:cNvPr id="85" name="Ellipse 85"/>
            <p:cNvSpPr/>
            <p:nvPr/>
          </p:nvSpPr>
          <p:spPr>
            <a:xfrm>
              <a:off x="2990850" y="1790700"/>
              <a:ext cx="457200" cy="457200"/>
            </a:xfrm>
            <a:prstGeom prst="ellipse">
              <a:avLst/>
            </a:prstGeom>
            <a:solidFill>
              <a:srgbClr val="5B180B"/>
            </a:solidFill>
            <a:ln>
              <a:noFill/>
            </a:ln>
          </p:spPr>
        </p:sp>
        <p:sp>
          <p:nvSpPr>
            <p:cNvPr id="86" name="TextBox 86"/>
            <p:cNvSpPr txBox="1"/>
            <p:nvPr/>
          </p:nvSpPr>
          <p:spPr>
            <a:xfrm>
              <a:off x="3034086" y="1976438"/>
              <a:ext cx="37072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进取型​</a:t>
              </a:r>
            </a:p>
          </p:txBody>
        </p:sp>
        <p:grpSp>
          <p:nvGrpSpPr>
            <p:cNvPr id="111" name="alloc-tables"/>
            <p:cNvGrpSpPr/>
            <p:nvPr/>
          </p:nvGrpSpPr>
          <p:grpSpPr>
            <a:xfrm>
              <a:off x="757238" y="3036332"/>
              <a:ext cx="2645990" cy="469106"/>
              <a:chOff x="757238" y="3036332"/>
              <a:chExt cx="2645990" cy="469106"/>
            </a:xfrm>
          </p:grpSpPr>
          <p:sp>
            <p:nvSpPr>
              <p:cNvPr id="87" name="TextBox 87"/>
              <p:cNvSpPr txBox="1"/>
              <p:nvPr/>
            </p:nvSpPr>
            <p:spPr>
              <a:xfrm>
                <a:off x="757238" y="30363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理财​</a:t>
                </a:r>
              </a:p>
            </p:txBody>
          </p:sp>
          <p:sp>
            <p:nvSpPr>
              <p:cNvPr id="88" name="TextBox 88"/>
              <p:cNvSpPr txBox="1"/>
              <p:nvPr/>
            </p:nvSpPr>
            <p:spPr>
              <a:xfrm>
                <a:off x="1119188" y="3036332"/>
                <a:ext cx="226640"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60%​</a:t>
                </a:r>
              </a:p>
            </p:txBody>
          </p:sp>
          <p:sp>
            <p:nvSpPr>
              <p:cNvPr id="89" name="TextBox 89"/>
              <p:cNvSpPr txBox="1"/>
              <p:nvPr/>
            </p:nvSpPr>
            <p:spPr>
              <a:xfrm>
                <a:off x="757238" y="31506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基金​</a:t>
                </a:r>
              </a:p>
            </p:txBody>
          </p:sp>
          <p:sp>
            <p:nvSpPr>
              <p:cNvPr id="90" name="TextBox 90"/>
              <p:cNvSpPr txBox="1"/>
              <p:nvPr/>
            </p:nvSpPr>
            <p:spPr>
              <a:xfrm>
                <a:off x="1119188" y="3150632"/>
                <a:ext cx="226640"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20%​</a:t>
                </a:r>
              </a:p>
            </p:txBody>
          </p:sp>
          <p:sp>
            <p:nvSpPr>
              <p:cNvPr id="91" name="TextBox 91"/>
              <p:cNvSpPr txBox="1"/>
              <p:nvPr/>
            </p:nvSpPr>
            <p:spPr>
              <a:xfrm>
                <a:off x="757238" y="32649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保险​</a:t>
                </a:r>
              </a:p>
            </p:txBody>
          </p:sp>
          <p:sp>
            <p:nvSpPr>
              <p:cNvPr id="92" name="TextBox 92"/>
              <p:cNvSpPr txBox="1"/>
              <p:nvPr/>
            </p:nvSpPr>
            <p:spPr>
              <a:xfrm>
                <a:off x="1119188" y="3264932"/>
                <a:ext cx="226640"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15%​</a:t>
                </a:r>
              </a:p>
            </p:txBody>
          </p:sp>
          <p:sp>
            <p:nvSpPr>
              <p:cNvPr id="93" name="TextBox 93"/>
              <p:cNvSpPr txBox="1"/>
              <p:nvPr/>
            </p:nvSpPr>
            <p:spPr>
              <a:xfrm>
                <a:off x="757238" y="3379232"/>
                <a:ext cx="315382"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贵金属​</a:t>
                </a:r>
              </a:p>
            </p:txBody>
          </p:sp>
          <p:sp>
            <p:nvSpPr>
              <p:cNvPr id="94" name="TextBox 94"/>
              <p:cNvSpPr txBox="1"/>
              <p:nvPr/>
            </p:nvSpPr>
            <p:spPr>
              <a:xfrm>
                <a:off x="1119188" y="3379232"/>
                <a:ext cx="176885"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5%​</a:t>
                </a:r>
              </a:p>
            </p:txBody>
          </p:sp>
          <p:sp>
            <p:nvSpPr>
              <p:cNvPr id="95" name="TextBox 95"/>
              <p:cNvSpPr txBox="1"/>
              <p:nvPr/>
            </p:nvSpPr>
            <p:spPr>
              <a:xfrm>
                <a:off x="1785938" y="30363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理财​</a:t>
                </a:r>
              </a:p>
            </p:txBody>
          </p:sp>
          <p:sp>
            <p:nvSpPr>
              <p:cNvPr id="96" name="TextBox 96"/>
              <p:cNvSpPr txBox="1"/>
              <p:nvPr/>
            </p:nvSpPr>
            <p:spPr>
              <a:xfrm>
                <a:off x="2147888" y="3036332"/>
                <a:ext cx="226640"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40%​</a:t>
                </a:r>
              </a:p>
            </p:txBody>
          </p:sp>
          <p:sp>
            <p:nvSpPr>
              <p:cNvPr id="97" name="TextBox 97"/>
              <p:cNvSpPr txBox="1"/>
              <p:nvPr/>
            </p:nvSpPr>
            <p:spPr>
              <a:xfrm>
                <a:off x="1785938" y="31506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基金​</a:t>
                </a:r>
              </a:p>
            </p:txBody>
          </p:sp>
          <p:sp>
            <p:nvSpPr>
              <p:cNvPr id="98" name="TextBox 98"/>
              <p:cNvSpPr txBox="1"/>
              <p:nvPr/>
            </p:nvSpPr>
            <p:spPr>
              <a:xfrm>
                <a:off x="2147888" y="3150632"/>
                <a:ext cx="226640"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40%​</a:t>
                </a:r>
              </a:p>
            </p:txBody>
          </p:sp>
          <p:sp>
            <p:nvSpPr>
              <p:cNvPr id="99" name="TextBox 99"/>
              <p:cNvSpPr txBox="1"/>
              <p:nvPr/>
            </p:nvSpPr>
            <p:spPr>
              <a:xfrm>
                <a:off x="1785938" y="32649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保险​</a:t>
                </a:r>
              </a:p>
            </p:txBody>
          </p:sp>
          <p:sp>
            <p:nvSpPr>
              <p:cNvPr id="100" name="TextBox 100"/>
              <p:cNvSpPr txBox="1"/>
              <p:nvPr/>
            </p:nvSpPr>
            <p:spPr>
              <a:xfrm>
                <a:off x="2147888" y="3264932"/>
                <a:ext cx="226640"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15%​</a:t>
                </a:r>
              </a:p>
            </p:txBody>
          </p:sp>
          <p:sp>
            <p:nvSpPr>
              <p:cNvPr id="101" name="TextBox 101"/>
              <p:cNvSpPr txBox="1"/>
              <p:nvPr/>
            </p:nvSpPr>
            <p:spPr>
              <a:xfrm>
                <a:off x="1785938" y="3379232"/>
                <a:ext cx="315382"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贵金属​</a:t>
                </a:r>
              </a:p>
            </p:txBody>
          </p:sp>
          <p:sp>
            <p:nvSpPr>
              <p:cNvPr id="102" name="TextBox 102"/>
              <p:cNvSpPr txBox="1"/>
              <p:nvPr/>
            </p:nvSpPr>
            <p:spPr>
              <a:xfrm>
                <a:off x="2147888" y="3379232"/>
                <a:ext cx="176885"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5%​</a:t>
                </a:r>
              </a:p>
            </p:txBody>
          </p:sp>
          <p:sp>
            <p:nvSpPr>
              <p:cNvPr id="103" name="TextBox 103"/>
              <p:cNvSpPr txBox="1"/>
              <p:nvPr/>
            </p:nvSpPr>
            <p:spPr>
              <a:xfrm>
                <a:off x="2814638" y="30363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理财​</a:t>
                </a:r>
              </a:p>
            </p:txBody>
          </p:sp>
          <p:sp>
            <p:nvSpPr>
              <p:cNvPr id="104" name="TextBox 104"/>
              <p:cNvSpPr txBox="1"/>
              <p:nvPr/>
            </p:nvSpPr>
            <p:spPr>
              <a:xfrm>
                <a:off x="3176588" y="3036332"/>
                <a:ext cx="226640"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20%​</a:t>
                </a:r>
              </a:p>
            </p:txBody>
          </p:sp>
          <p:sp>
            <p:nvSpPr>
              <p:cNvPr id="105" name="TextBox 105"/>
              <p:cNvSpPr txBox="1"/>
              <p:nvPr/>
            </p:nvSpPr>
            <p:spPr>
              <a:xfrm>
                <a:off x="2814638" y="31506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基金​</a:t>
                </a:r>
              </a:p>
            </p:txBody>
          </p:sp>
          <p:sp>
            <p:nvSpPr>
              <p:cNvPr id="106" name="TextBox 106"/>
              <p:cNvSpPr txBox="1"/>
              <p:nvPr/>
            </p:nvSpPr>
            <p:spPr>
              <a:xfrm>
                <a:off x="3176588" y="3150632"/>
                <a:ext cx="226640"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60%​</a:t>
                </a:r>
              </a:p>
            </p:txBody>
          </p:sp>
          <p:sp>
            <p:nvSpPr>
              <p:cNvPr id="107" name="TextBox 107"/>
              <p:cNvSpPr txBox="1"/>
              <p:nvPr/>
            </p:nvSpPr>
            <p:spPr>
              <a:xfrm>
                <a:off x="2814638" y="32649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保险​</a:t>
                </a:r>
              </a:p>
            </p:txBody>
          </p:sp>
          <p:sp>
            <p:nvSpPr>
              <p:cNvPr id="108" name="TextBox 108"/>
              <p:cNvSpPr txBox="1"/>
              <p:nvPr/>
            </p:nvSpPr>
            <p:spPr>
              <a:xfrm>
                <a:off x="3176588" y="3264932"/>
                <a:ext cx="226640"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15%​</a:t>
                </a:r>
              </a:p>
            </p:txBody>
          </p:sp>
          <p:sp>
            <p:nvSpPr>
              <p:cNvPr id="109" name="TextBox 109"/>
              <p:cNvSpPr txBox="1"/>
              <p:nvPr/>
            </p:nvSpPr>
            <p:spPr>
              <a:xfrm>
                <a:off x="2814638" y="3379232"/>
                <a:ext cx="315382"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贵金属​</a:t>
                </a:r>
              </a:p>
            </p:txBody>
          </p:sp>
          <p:sp>
            <p:nvSpPr>
              <p:cNvPr id="110" name="TextBox 110"/>
              <p:cNvSpPr txBox="1"/>
              <p:nvPr/>
            </p:nvSpPr>
            <p:spPr>
              <a:xfrm>
                <a:off x="3176588" y="3379232"/>
                <a:ext cx="176885"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3%​</a:t>
                </a:r>
              </a:p>
            </p:txBody>
          </p:sp>
        </p:grpSp>
      </p:grpSp>
      <p:grpSp>
        <p:nvGrpSpPr>
          <p:cNvPr id="152" name="steps-card"/>
          <p:cNvGrpSpPr/>
          <p:nvPr/>
        </p:nvGrpSpPr>
        <p:grpSpPr>
          <a:xfrm>
            <a:off x="4152900" y="1371600"/>
            <a:ext cx="3848100" cy="2228850"/>
            <a:chOff x="4152900" y="1371600"/>
            <a:chExt cx="3848100" cy="2228850"/>
          </a:xfrm>
        </p:grpSpPr>
        <p:sp>
          <p:nvSpPr>
            <p:cNvPr id="113" name="Rectangle 113"/>
            <p:cNvSpPr/>
            <p:nvPr/>
          </p:nvSpPr>
          <p:spPr>
            <a:xfrm>
              <a:off x="4152900" y="1371600"/>
              <a:ext cx="3848100" cy="2228850"/>
            </a:xfrm>
            <a:prstGeom prst="roundRect">
              <a:avLst>
                <a:gd name="adj" fmla="val 4274"/>
              </a:avLst>
            </a:prstGeom>
            <a:solidFill>
              <a:srgbClr val="F5FAF8"/>
            </a:solidFill>
            <a:ln w="9525">
              <a:solidFill>
                <a:srgbClr val="D9E8E2"/>
              </a:solidFill>
            </a:ln>
          </p:spPr>
        </p:sp>
        <p:sp>
          <p:nvSpPr>
            <p:cNvPr id="114" name="Rectangle 114"/>
            <p:cNvSpPr/>
            <p:nvPr/>
          </p:nvSpPr>
          <p:spPr>
            <a:xfrm>
              <a:off x="4267200" y="1466850"/>
              <a:ext cx="47625" cy="152400"/>
            </a:xfrm>
            <a:prstGeom prst="rect">
              <a:avLst/>
            </a:prstGeom>
            <a:solidFill>
              <a:srgbClr val="5B180B"/>
            </a:solidFill>
            <a:ln>
              <a:noFill/>
            </a:ln>
          </p:spPr>
        </p:sp>
        <p:sp>
          <p:nvSpPr>
            <p:cNvPr id="115" name="TextBox 115"/>
            <p:cNvSpPr txBox="1"/>
            <p:nvPr/>
          </p:nvSpPr>
          <p:spPr>
            <a:xfrm>
              <a:off x="4376738" y="1489472"/>
              <a:ext cx="1348031"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专业投顾四步服务流程​</a:t>
              </a:r>
            </a:p>
          </p:txBody>
        </p:sp>
        <p:sp>
          <p:nvSpPr>
            <p:cNvPr id="116" name="Freeform 116"/>
            <p:cNvSpPr/>
            <p:nvPr/>
          </p:nvSpPr>
          <p:spPr>
            <a:xfrm>
              <a:off x="4248150" y="1676400"/>
              <a:ext cx="895350" cy="476250"/>
            </a:xfrm>
            <a:prstGeom prst="chevron">
              <a:avLst>
                <a:gd name="adj" fmla="val 30000"/>
              </a:avLst>
            </a:prstGeom>
            <a:solidFill>
              <a:srgbClr val="5B180B"/>
            </a:solidFill>
            <a:ln>
              <a:noFill/>
            </a:ln>
          </p:spPr>
        </p:sp>
        <p:sp>
          <p:nvSpPr>
            <p:cNvPr id="117" name="Freeform 117"/>
            <p:cNvSpPr/>
            <p:nvPr/>
          </p:nvSpPr>
          <p:spPr>
            <a:xfrm>
              <a:off x="5181600" y="1676400"/>
              <a:ext cx="895350" cy="476250"/>
            </a:xfrm>
            <a:prstGeom prst="chevron">
              <a:avLst>
                <a:gd name="adj" fmla="val 30000"/>
              </a:avLst>
            </a:prstGeom>
            <a:solidFill>
              <a:srgbClr val="722617"/>
            </a:solidFill>
            <a:ln>
              <a:noFill/>
            </a:ln>
          </p:spPr>
        </p:sp>
        <p:sp>
          <p:nvSpPr>
            <p:cNvPr id="118" name="Freeform 118"/>
            <p:cNvSpPr/>
            <p:nvPr/>
          </p:nvSpPr>
          <p:spPr>
            <a:xfrm>
              <a:off x="6115050" y="1676400"/>
              <a:ext cx="895350" cy="476250"/>
            </a:xfrm>
            <a:prstGeom prst="chevron">
              <a:avLst>
                <a:gd name="adj" fmla="val 30000"/>
              </a:avLst>
            </a:prstGeom>
            <a:solidFill>
              <a:srgbClr val="9A412F"/>
            </a:solidFill>
            <a:ln>
              <a:noFill/>
            </a:ln>
          </p:spPr>
        </p:sp>
        <p:sp>
          <p:nvSpPr>
            <p:cNvPr id="119" name="Freeform 119"/>
            <p:cNvSpPr/>
            <p:nvPr/>
          </p:nvSpPr>
          <p:spPr>
            <a:xfrm>
              <a:off x="7048500" y="1676400"/>
              <a:ext cx="895350" cy="476250"/>
            </a:xfrm>
            <a:prstGeom prst="chevron">
              <a:avLst>
                <a:gd name="adj" fmla="val 30000"/>
              </a:avLst>
            </a:prstGeom>
            <a:solidFill>
              <a:srgbClr val="AE6C5F"/>
            </a:solidFill>
            <a:ln>
              <a:noFill/>
            </a:ln>
          </p:spPr>
        </p:sp>
        <p:grpSp>
          <p:nvGrpSpPr>
            <p:cNvPr id="132" name="step-labels"/>
            <p:cNvGrpSpPr/>
            <p:nvPr/>
          </p:nvGrpSpPr>
          <p:grpSpPr>
            <a:xfrm>
              <a:off x="4500878" y="1736884"/>
              <a:ext cx="3247393" cy="384096"/>
              <a:chOff x="4500878" y="1736884"/>
              <a:chExt cx="3247393" cy="384096"/>
            </a:xfrm>
          </p:grpSpPr>
          <p:sp>
            <p:nvSpPr>
              <p:cNvPr id="120" name="TextBox 120"/>
              <p:cNvSpPr txBox="1"/>
              <p:nvPr/>
            </p:nvSpPr>
            <p:spPr>
              <a:xfrm>
                <a:off x="4644116" y="1736884"/>
                <a:ext cx="160569" cy="133350"/>
              </a:xfrm>
              <a:prstGeom prst="rect">
                <a:avLst/>
              </a:prstGeom>
              <a:noFill/>
              <a:ln>
                <a:noFill/>
              </a:ln>
            </p:spPr>
            <p:txBody>
              <a:bodyPr wrap="none" lIns="0" tIns="0" rIns="0" bIns="0" anchor="t" anchorCtr="0">
                <a:spAutoFit/>
              </a:bodyPr>
              <a:lstStyle/>
              <a:p>
                <a:pPr algn="ctr"/>
                <a:r>
                  <a:rPr lang="zh-CN" sz="680" dirty="0">
                    <a:solidFill>
                      <a:srgbClr val="BFDDD6"/>
                    </a:solidFill>
                    <a:latin typeface="+mn-lt"/>
                    <a:ea typeface="+mn-ea"/>
                    <a:cs typeface="+mn-cs"/>
                  </a:rPr>
                  <a:t>01​</a:t>
                </a:r>
              </a:p>
            </p:txBody>
          </p:sp>
          <p:sp>
            <p:nvSpPr>
              <p:cNvPr id="121" name="TextBox 121"/>
              <p:cNvSpPr txBox="1"/>
              <p:nvPr/>
            </p:nvSpPr>
            <p:spPr>
              <a:xfrm>
                <a:off x="4602994" y="1856661"/>
                <a:ext cx="242813"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KYC​</a:t>
                </a:r>
              </a:p>
            </p:txBody>
          </p:sp>
          <p:sp>
            <p:nvSpPr>
              <p:cNvPr id="122" name="TextBox 122"/>
              <p:cNvSpPr txBox="1"/>
              <p:nvPr/>
            </p:nvSpPr>
            <p:spPr>
              <a:xfrm>
                <a:off x="4500878" y="1980486"/>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客户画像​</a:t>
                </a:r>
              </a:p>
            </p:txBody>
          </p:sp>
          <p:sp>
            <p:nvSpPr>
              <p:cNvPr id="123" name="TextBox 123"/>
              <p:cNvSpPr txBox="1"/>
              <p:nvPr/>
            </p:nvSpPr>
            <p:spPr>
              <a:xfrm>
                <a:off x="5577566" y="1736884"/>
                <a:ext cx="160569" cy="133350"/>
              </a:xfrm>
              <a:prstGeom prst="rect">
                <a:avLst/>
              </a:prstGeom>
              <a:noFill/>
              <a:ln>
                <a:noFill/>
              </a:ln>
            </p:spPr>
            <p:txBody>
              <a:bodyPr wrap="none" lIns="0" tIns="0" rIns="0" bIns="0" anchor="t" anchorCtr="0">
                <a:spAutoFit/>
              </a:bodyPr>
              <a:lstStyle/>
              <a:p>
                <a:pPr algn="ctr"/>
                <a:r>
                  <a:rPr lang="zh-CN" sz="680" dirty="0">
                    <a:solidFill>
                      <a:srgbClr val="BFDDD6"/>
                    </a:solidFill>
                    <a:latin typeface="+mn-lt"/>
                    <a:ea typeface="+mn-ea"/>
                    <a:cs typeface="+mn-cs"/>
                  </a:rPr>
                  <a:t>02​</a:t>
                </a:r>
              </a:p>
            </p:txBody>
          </p:sp>
          <p:sp>
            <p:nvSpPr>
              <p:cNvPr id="124" name="TextBox 124"/>
              <p:cNvSpPr txBox="1"/>
              <p:nvPr/>
            </p:nvSpPr>
            <p:spPr>
              <a:xfrm>
                <a:off x="5434328" y="185666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需求诊断​</a:t>
                </a:r>
              </a:p>
            </p:txBody>
          </p:sp>
          <p:sp>
            <p:nvSpPr>
              <p:cNvPr id="125" name="TextBox 125"/>
              <p:cNvSpPr txBox="1"/>
              <p:nvPr/>
            </p:nvSpPr>
            <p:spPr>
              <a:xfrm>
                <a:off x="5434328" y="1980486"/>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目标梳理​</a:t>
                </a:r>
              </a:p>
            </p:txBody>
          </p:sp>
          <p:sp>
            <p:nvSpPr>
              <p:cNvPr id="126" name="TextBox 126"/>
              <p:cNvSpPr txBox="1"/>
              <p:nvPr/>
            </p:nvSpPr>
            <p:spPr>
              <a:xfrm>
                <a:off x="6511016" y="1736884"/>
                <a:ext cx="160569" cy="133350"/>
              </a:xfrm>
              <a:prstGeom prst="rect">
                <a:avLst/>
              </a:prstGeom>
              <a:noFill/>
              <a:ln>
                <a:noFill/>
              </a:ln>
            </p:spPr>
            <p:txBody>
              <a:bodyPr wrap="none" lIns="0" tIns="0" rIns="0" bIns="0" anchor="t" anchorCtr="0">
                <a:spAutoFit/>
              </a:bodyPr>
              <a:lstStyle/>
              <a:p>
                <a:pPr algn="ctr"/>
                <a:r>
                  <a:rPr lang="zh-CN" sz="680" dirty="0">
                    <a:solidFill>
                      <a:srgbClr val="DFF0EB"/>
                    </a:solidFill>
                    <a:latin typeface="+mn-lt"/>
                    <a:ea typeface="+mn-ea"/>
                    <a:cs typeface="+mn-cs"/>
                  </a:rPr>
                  <a:t>03​</a:t>
                </a:r>
              </a:p>
            </p:txBody>
          </p:sp>
          <p:sp>
            <p:nvSpPr>
              <p:cNvPr id="127" name="TextBox 127"/>
              <p:cNvSpPr txBox="1"/>
              <p:nvPr/>
            </p:nvSpPr>
            <p:spPr>
              <a:xfrm>
                <a:off x="6367778" y="185666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组合建议​</a:t>
                </a:r>
              </a:p>
            </p:txBody>
          </p:sp>
          <p:sp>
            <p:nvSpPr>
              <p:cNvPr id="128" name="TextBox 128"/>
              <p:cNvSpPr txBox="1"/>
              <p:nvPr/>
            </p:nvSpPr>
            <p:spPr>
              <a:xfrm>
                <a:off x="6367778" y="1980486"/>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方案配置​</a:t>
                </a:r>
              </a:p>
            </p:txBody>
          </p:sp>
          <p:sp>
            <p:nvSpPr>
              <p:cNvPr id="129" name="TextBox 129"/>
              <p:cNvSpPr txBox="1"/>
              <p:nvPr/>
            </p:nvSpPr>
            <p:spPr>
              <a:xfrm>
                <a:off x="7444466" y="1736884"/>
                <a:ext cx="160569" cy="133350"/>
              </a:xfrm>
              <a:prstGeom prst="rect">
                <a:avLst/>
              </a:prstGeom>
              <a:noFill/>
              <a:ln>
                <a:noFill/>
              </a:ln>
            </p:spPr>
            <p:txBody>
              <a:bodyPr wrap="none" lIns="0" tIns="0" rIns="0" bIns="0" anchor="t" anchorCtr="0">
                <a:spAutoFit/>
              </a:bodyPr>
              <a:lstStyle/>
              <a:p>
                <a:pPr algn="ctr"/>
                <a:r>
                  <a:rPr lang="zh-CN" sz="680" dirty="0">
                    <a:solidFill>
                      <a:srgbClr val="EAF6F2"/>
                    </a:solidFill>
                    <a:latin typeface="+mn-lt"/>
                    <a:ea typeface="+mn-ea"/>
                    <a:cs typeface="+mn-cs"/>
                  </a:rPr>
                  <a:t>04​</a:t>
                </a:r>
              </a:p>
            </p:txBody>
          </p:sp>
          <p:sp>
            <p:nvSpPr>
              <p:cNvPr id="130" name="TextBox 130"/>
              <p:cNvSpPr txBox="1"/>
              <p:nvPr/>
            </p:nvSpPr>
            <p:spPr>
              <a:xfrm>
                <a:off x="7301228" y="185666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陪伴复盘​</a:t>
                </a:r>
              </a:p>
            </p:txBody>
          </p:sp>
          <p:sp>
            <p:nvSpPr>
              <p:cNvPr id="131" name="TextBox 131"/>
              <p:cNvSpPr txBox="1"/>
              <p:nvPr/>
            </p:nvSpPr>
            <p:spPr>
              <a:xfrm>
                <a:off x="7301228" y="1980486"/>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动态优化​</a:t>
                </a:r>
              </a:p>
            </p:txBody>
          </p:sp>
        </p:grpSp>
        <p:grpSp>
          <p:nvGrpSpPr>
            <p:cNvPr id="149" name="step-bullets"/>
            <p:cNvGrpSpPr/>
            <p:nvPr/>
          </p:nvGrpSpPr>
          <p:grpSpPr>
            <a:xfrm>
              <a:off x="4338638" y="2270284"/>
              <a:ext cx="3485672" cy="590550"/>
              <a:chOff x="4338638" y="2270284"/>
              <a:chExt cx="3485672" cy="590550"/>
            </a:xfrm>
          </p:grpSpPr>
          <p:sp>
            <p:nvSpPr>
              <p:cNvPr id="133" name="TextBox 133"/>
              <p:cNvSpPr txBox="1"/>
              <p:nvPr/>
            </p:nvSpPr>
            <p:spPr>
              <a:xfrm>
                <a:off x="4338638" y="2270284"/>
                <a:ext cx="502239"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基本信息​</a:t>
                </a:r>
              </a:p>
            </p:txBody>
          </p:sp>
          <p:sp>
            <p:nvSpPr>
              <p:cNvPr id="134" name="TextBox 134"/>
              <p:cNvSpPr txBox="1"/>
              <p:nvPr/>
            </p:nvSpPr>
            <p:spPr>
              <a:xfrm>
                <a:off x="4338638" y="2422684"/>
                <a:ext cx="502239"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财务状况​</a:t>
                </a:r>
              </a:p>
            </p:txBody>
          </p:sp>
          <p:sp>
            <p:nvSpPr>
              <p:cNvPr id="135" name="TextBox 135"/>
              <p:cNvSpPr txBox="1"/>
              <p:nvPr/>
            </p:nvSpPr>
            <p:spPr>
              <a:xfrm>
                <a:off x="4338638" y="2575084"/>
                <a:ext cx="502239"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风险偏好​</a:t>
                </a:r>
              </a:p>
            </p:txBody>
          </p:sp>
          <p:sp>
            <p:nvSpPr>
              <p:cNvPr id="136" name="TextBox 136"/>
              <p:cNvSpPr txBox="1"/>
              <p:nvPr/>
            </p:nvSpPr>
            <p:spPr>
              <a:xfrm>
                <a:off x="4338638" y="2727484"/>
                <a:ext cx="502239"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投资经验​</a:t>
                </a:r>
              </a:p>
            </p:txBody>
          </p:sp>
          <p:sp>
            <p:nvSpPr>
              <p:cNvPr id="137" name="TextBox 137"/>
              <p:cNvSpPr txBox="1"/>
              <p:nvPr/>
            </p:nvSpPr>
            <p:spPr>
              <a:xfrm>
                <a:off x="5272088" y="22702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生命周期目标​</a:t>
                </a:r>
              </a:p>
            </p:txBody>
          </p:sp>
          <p:sp>
            <p:nvSpPr>
              <p:cNvPr id="138" name="TextBox 138"/>
              <p:cNvSpPr txBox="1"/>
              <p:nvPr/>
            </p:nvSpPr>
            <p:spPr>
              <a:xfrm>
                <a:off x="5272088" y="2422684"/>
                <a:ext cx="502239"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资金用途​</a:t>
                </a:r>
              </a:p>
            </p:txBody>
          </p:sp>
          <p:sp>
            <p:nvSpPr>
              <p:cNvPr id="139" name="TextBox 139"/>
              <p:cNvSpPr txBox="1"/>
              <p:nvPr/>
            </p:nvSpPr>
            <p:spPr>
              <a:xfrm>
                <a:off x="5272088" y="25750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风险承受能力​</a:t>
                </a:r>
              </a:p>
            </p:txBody>
          </p:sp>
          <p:sp>
            <p:nvSpPr>
              <p:cNvPr id="140" name="TextBox 140"/>
              <p:cNvSpPr txBox="1"/>
              <p:nvPr/>
            </p:nvSpPr>
            <p:spPr>
              <a:xfrm>
                <a:off x="5272088" y="27274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现有资产检视​</a:t>
                </a:r>
              </a:p>
            </p:txBody>
          </p:sp>
          <p:sp>
            <p:nvSpPr>
              <p:cNvPr id="141" name="TextBox 141"/>
              <p:cNvSpPr txBox="1"/>
              <p:nvPr/>
            </p:nvSpPr>
            <p:spPr>
              <a:xfrm>
                <a:off x="6205538" y="22702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资产配置方案​</a:t>
                </a:r>
              </a:p>
            </p:txBody>
          </p:sp>
          <p:sp>
            <p:nvSpPr>
              <p:cNvPr id="142" name="TextBox 142"/>
              <p:cNvSpPr txBox="1"/>
              <p:nvPr/>
            </p:nvSpPr>
            <p:spPr>
              <a:xfrm>
                <a:off x="6205538" y="24226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产品优选清单​</a:t>
                </a:r>
              </a:p>
            </p:txBody>
          </p:sp>
          <p:sp>
            <p:nvSpPr>
              <p:cNvPr id="143" name="TextBox 143"/>
              <p:cNvSpPr txBox="1"/>
              <p:nvPr/>
            </p:nvSpPr>
            <p:spPr>
              <a:xfrm>
                <a:off x="6205538" y="25750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预期收益测算​</a:t>
                </a:r>
              </a:p>
            </p:txBody>
          </p:sp>
          <p:sp>
            <p:nvSpPr>
              <p:cNvPr id="144" name="TextBox 144"/>
              <p:cNvSpPr txBox="1"/>
              <p:nvPr/>
            </p:nvSpPr>
            <p:spPr>
              <a:xfrm>
                <a:off x="6205538" y="27274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情景压力测试​</a:t>
                </a:r>
              </a:p>
            </p:txBody>
          </p:sp>
          <p:sp>
            <p:nvSpPr>
              <p:cNvPr id="145" name="TextBox 145"/>
              <p:cNvSpPr txBox="1"/>
              <p:nvPr/>
            </p:nvSpPr>
            <p:spPr>
              <a:xfrm>
                <a:off x="7138988" y="22702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定期跟踪回顾​</a:t>
                </a:r>
              </a:p>
            </p:txBody>
          </p:sp>
          <p:sp>
            <p:nvSpPr>
              <p:cNvPr id="146" name="TextBox 146"/>
              <p:cNvSpPr txBox="1"/>
              <p:nvPr/>
            </p:nvSpPr>
            <p:spPr>
              <a:xfrm>
                <a:off x="7138988" y="24226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市场变化应对​</a:t>
                </a:r>
              </a:p>
            </p:txBody>
          </p:sp>
          <p:sp>
            <p:nvSpPr>
              <p:cNvPr id="147" name="TextBox 147"/>
              <p:cNvSpPr txBox="1"/>
              <p:nvPr/>
            </p:nvSpPr>
            <p:spPr>
              <a:xfrm>
                <a:off x="7138988" y="25750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目标达成评估​</a:t>
                </a:r>
              </a:p>
            </p:txBody>
          </p:sp>
          <p:sp>
            <p:nvSpPr>
              <p:cNvPr id="148" name="TextBox 148"/>
              <p:cNvSpPr txBox="1"/>
              <p:nvPr/>
            </p:nvSpPr>
            <p:spPr>
              <a:xfrm>
                <a:off x="7138988" y="2727484"/>
                <a:ext cx="685322" cy="133350"/>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80" dirty="0">
                    <a:solidFill>
                      <a:srgbClr val="4A3D3A"/>
                    </a:solidFill>
                    <a:latin typeface="+mn-lt"/>
                    <a:ea typeface="+mn-ea"/>
                    <a:cs typeface="+mn-cs"/>
                  </a:rPr>
                  <a:t>持续优化调整​</a:t>
                </a:r>
              </a:p>
            </p:txBody>
          </p:sp>
        </p:grpSp>
        <p:sp>
          <p:nvSpPr>
            <p:cNvPr id="150" name="Rectangle 150"/>
            <p:cNvSpPr/>
            <p:nvPr/>
          </p:nvSpPr>
          <p:spPr>
            <a:xfrm>
              <a:off x="4267200" y="3143250"/>
              <a:ext cx="3619500" cy="228600"/>
            </a:xfrm>
            <a:prstGeom prst="roundRect">
              <a:avLst>
                <a:gd name="adj" fmla="val 50000"/>
              </a:avLst>
            </a:prstGeom>
            <a:solidFill>
              <a:srgbClr val="E9F4F0"/>
            </a:solidFill>
            <a:ln>
              <a:noFill/>
            </a:ln>
          </p:spPr>
        </p:sp>
        <p:sp>
          <p:nvSpPr>
            <p:cNvPr id="151" name="TextBox 151"/>
            <p:cNvSpPr txBox="1"/>
            <p:nvPr/>
          </p:nvSpPr>
          <p:spPr>
            <a:xfrm>
              <a:off x="4911090" y="3214688"/>
              <a:ext cx="2331720" cy="147638"/>
            </a:xfrm>
            <a:prstGeom prst="rect">
              <a:avLst/>
            </a:prstGeom>
            <a:noFill/>
            <a:ln>
              <a:noFill/>
            </a:ln>
          </p:spPr>
          <p:txBody>
            <a:bodyPr wrap="none" lIns="0" tIns="0" rIns="0" bIns="0" anchor="t" anchorCtr="0">
              <a:spAutoFit/>
            </a:bodyPr>
            <a:lstStyle/>
            <a:p>
              <a:pPr algn="ctr"/>
              <a:r>
                <a:rPr lang="zh-CN" sz="750" dirty="0">
                  <a:solidFill>
                    <a:srgbClr val="5B180B"/>
                  </a:solidFill>
                  <a:latin typeface="+mn-lt"/>
                  <a:ea typeface="+mn-ea"/>
                  <a:cs typeface="+mn-cs"/>
                </a:rPr>
                <a:t>以客户为中心 · 专业为基础 · 长期陪伴 · 创造价值​</a:t>
              </a:r>
            </a:p>
          </p:txBody>
        </p:sp>
      </p:grpSp>
      <p:grpSp>
        <p:nvGrpSpPr>
          <p:cNvPr id="193" name="contribution-card"/>
          <p:cNvGrpSpPr/>
          <p:nvPr/>
        </p:nvGrpSpPr>
        <p:grpSpPr>
          <a:xfrm>
            <a:off x="8115300" y="1371600"/>
            <a:ext cx="3848100" cy="2228850"/>
            <a:chOff x="8115300" y="1371600"/>
            <a:chExt cx="3848100" cy="2228850"/>
          </a:xfrm>
        </p:grpSpPr>
        <p:sp>
          <p:nvSpPr>
            <p:cNvPr id="153" name="Rectangle 153"/>
            <p:cNvSpPr/>
            <p:nvPr/>
          </p:nvSpPr>
          <p:spPr>
            <a:xfrm>
              <a:off x="8115300" y="1371600"/>
              <a:ext cx="3848100" cy="2228850"/>
            </a:xfrm>
            <a:prstGeom prst="roundRect">
              <a:avLst>
                <a:gd name="adj" fmla="val 4274"/>
              </a:avLst>
            </a:prstGeom>
            <a:solidFill>
              <a:srgbClr val="F5FAF8"/>
            </a:solidFill>
            <a:ln w="9525">
              <a:solidFill>
                <a:srgbClr val="D9E8E2"/>
              </a:solidFill>
            </a:ln>
          </p:spPr>
        </p:sp>
        <p:sp>
          <p:nvSpPr>
            <p:cNvPr id="154" name="Rectangle 154"/>
            <p:cNvSpPr/>
            <p:nvPr/>
          </p:nvSpPr>
          <p:spPr>
            <a:xfrm>
              <a:off x="8229600" y="1466850"/>
              <a:ext cx="47625" cy="152400"/>
            </a:xfrm>
            <a:prstGeom prst="rect">
              <a:avLst/>
            </a:prstGeom>
            <a:solidFill>
              <a:srgbClr val="5B180B"/>
            </a:solidFill>
            <a:ln>
              <a:noFill/>
            </a:ln>
          </p:spPr>
        </p:sp>
        <p:sp>
          <p:nvSpPr>
            <p:cNvPr id="155" name="TextBox 155"/>
            <p:cNvSpPr txBox="1"/>
            <p:nvPr/>
          </p:nvSpPr>
          <p:spPr>
            <a:xfrm>
              <a:off x="8339138" y="1489472"/>
              <a:ext cx="2236059"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产品线对AUM与中收的贡献</a:t>
              </a:r>
              <a:r>
                <a:rPr lang="zh-CN" sz="710" dirty="0">
                  <a:solidFill>
                    <a:srgbClr val="5F6F6A"/>
                  </a:solidFill>
                  <a:latin typeface="+mn-lt"/>
                  <a:ea typeface="+mn-ea"/>
                  <a:cs typeface="+mn-cs"/>
                </a:rPr>
                <a:t>（2026年Q4）</a:t>
              </a:r>
              <a:r>
                <a:rPr lang="zh-CN" sz="940" b="1" dirty="0">
                  <a:solidFill>
                    <a:srgbClr val="5B180B"/>
                  </a:solidFill>
                  <a:latin typeface="+mn-lt"/>
                  <a:ea typeface="+mn-ea"/>
                  <a:cs typeface="+mn-cs"/>
                </a:rPr>
                <a:t>​</a:t>
              </a:r>
            </a:p>
          </p:txBody>
        </p:sp>
        <p:grpSp>
          <p:nvGrpSpPr>
            <p:cNvPr id="166" name="stack-aum"/>
            <p:cNvGrpSpPr/>
            <p:nvPr/>
          </p:nvGrpSpPr>
          <p:grpSpPr>
            <a:xfrm>
              <a:off x="8315528" y="1717834"/>
              <a:ext cx="971144" cy="1511141"/>
              <a:chOff x="8315528" y="1717834"/>
              <a:chExt cx="971144" cy="1511141"/>
            </a:xfrm>
          </p:grpSpPr>
          <p:sp>
            <p:nvSpPr>
              <p:cNvPr id="156" name="TextBox 156"/>
              <p:cNvSpPr txBox="1"/>
              <p:nvPr/>
            </p:nvSpPr>
            <p:spPr>
              <a:xfrm>
                <a:off x="8315528" y="1717834"/>
                <a:ext cx="971144" cy="133350"/>
              </a:xfrm>
              <a:prstGeom prst="rect">
                <a:avLst/>
              </a:prstGeom>
              <a:noFill/>
              <a:ln>
                <a:noFill/>
              </a:ln>
            </p:spPr>
            <p:txBody>
              <a:bodyPr wrap="none" lIns="0" tIns="0" rIns="0" bIns="0" anchor="t" anchorCtr="0">
                <a:spAutoFit/>
              </a:bodyPr>
              <a:lstStyle/>
              <a:p>
                <a:pPr algn="ctr"/>
                <a:r>
                  <a:rPr lang="zh-CN" sz="680" dirty="0">
                    <a:solidFill>
                      <a:srgbClr val="5F6F6A"/>
                    </a:solidFill>
                    <a:latin typeface="+mn-lt"/>
                    <a:ea typeface="+mn-ea"/>
                    <a:cs typeface="+mn-cs"/>
                  </a:rPr>
                  <a:t>AUM净增贡献（亿元）​</a:t>
                </a:r>
              </a:p>
            </p:txBody>
          </p:sp>
          <p:sp>
            <p:nvSpPr>
              <p:cNvPr id="157" name="TextBox 157"/>
              <p:cNvSpPr txBox="1"/>
              <p:nvPr/>
            </p:nvSpPr>
            <p:spPr>
              <a:xfrm>
                <a:off x="8605677" y="1837849"/>
                <a:ext cx="390847" cy="190690"/>
              </a:xfrm>
              <a:prstGeom prst="rect">
                <a:avLst/>
              </a:prstGeom>
              <a:noFill/>
              <a:ln>
                <a:noFill/>
              </a:ln>
            </p:spPr>
            <p:txBody>
              <a:bodyPr wrap="none" lIns="0" tIns="0" rIns="0" bIns="0" anchor="t" anchorCtr="0">
                <a:spAutoFit/>
              </a:bodyPr>
              <a:lstStyle/>
              <a:p>
                <a:pPr algn="ctr"/>
                <a:r>
                  <a:rPr lang="zh-CN" sz="980" b="1" dirty="0">
                    <a:solidFill>
                      <a:srgbClr val="5B180B"/>
                    </a:solidFill>
                    <a:latin typeface="+mn-lt"/>
                    <a:ea typeface="+mn-ea"/>
                    <a:cs typeface="+mn-cs"/>
                  </a:rPr>
                  <a:t>1.65​</a:t>
                </a:r>
              </a:p>
            </p:txBody>
          </p:sp>
          <p:sp>
            <p:nvSpPr>
              <p:cNvPr id="158" name="Rectangle 158"/>
              <p:cNvSpPr/>
              <p:nvPr/>
            </p:nvSpPr>
            <p:spPr>
              <a:xfrm>
                <a:off x="8477250" y="2000250"/>
                <a:ext cx="647700" cy="152400"/>
              </a:xfrm>
              <a:prstGeom prst="rect">
                <a:avLst/>
              </a:prstGeom>
              <a:solidFill>
                <a:srgbClr val="C5E0D8"/>
              </a:solidFill>
              <a:ln>
                <a:noFill/>
              </a:ln>
            </p:spPr>
          </p:sp>
          <p:sp>
            <p:nvSpPr>
              <p:cNvPr id="159" name="TextBox 159"/>
              <p:cNvSpPr txBox="1"/>
              <p:nvPr/>
            </p:nvSpPr>
            <p:spPr>
              <a:xfrm>
                <a:off x="8570176" y="2044303"/>
                <a:ext cx="461848" cy="111919"/>
              </a:xfrm>
              <a:prstGeom prst="rect">
                <a:avLst/>
              </a:prstGeom>
              <a:noFill/>
              <a:ln>
                <a:noFill/>
              </a:ln>
            </p:spPr>
            <p:txBody>
              <a:bodyPr wrap="none" lIns="0" tIns="0" rIns="0" bIns="0" anchor="t" anchorCtr="0">
                <a:spAutoFit/>
              </a:bodyPr>
              <a:lstStyle/>
              <a:p>
                <a:pPr algn="ctr"/>
                <a:r>
                  <a:rPr lang="zh-CN" sz="560" dirty="0">
                    <a:solidFill>
                      <a:srgbClr val="312624"/>
                    </a:solidFill>
                    <a:latin typeface="+mn-lt"/>
                    <a:ea typeface="+mn-ea"/>
                    <a:cs typeface="+mn-cs"/>
                  </a:rPr>
                  <a:t>0.20 (12%)​</a:t>
                </a:r>
              </a:p>
            </p:txBody>
          </p:sp>
          <p:sp>
            <p:nvSpPr>
              <p:cNvPr id="160" name="Rectangle 160"/>
              <p:cNvSpPr/>
              <p:nvPr/>
            </p:nvSpPr>
            <p:spPr>
              <a:xfrm>
                <a:off x="8477250" y="2152650"/>
                <a:ext cx="647700" cy="333375"/>
              </a:xfrm>
              <a:prstGeom prst="rect">
                <a:avLst/>
              </a:prstGeom>
              <a:solidFill>
                <a:srgbClr val="C9988F"/>
              </a:solidFill>
              <a:ln>
                <a:noFill/>
              </a:ln>
            </p:spPr>
          </p:sp>
          <p:sp>
            <p:nvSpPr>
              <p:cNvPr id="161" name="TextBox 161"/>
              <p:cNvSpPr txBox="1"/>
              <p:nvPr/>
            </p:nvSpPr>
            <p:spPr>
              <a:xfrm>
                <a:off x="8554022" y="2287905"/>
                <a:ext cx="494157" cy="119062"/>
              </a:xfrm>
              <a:prstGeom prst="rect">
                <a:avLst/>
              </a:prstGeom>
              <a:noFill/>
              <a:ln>
                <a:noFill/>
              </a:ln>
            </p:spPr>
            <p:txBody>
              <a:bodyPr wrap="none" lIns="0" tIns="0" rIns="0" bIns="0" anchor="t" anchorCtr="0">
                <a:spAutoFit/>
              </a:bodyPr>
              <a:lstStyle/>
              <a:p>
                <a:pPr algn="ctr"/>
                <a:r>
                  <a:rPr lang="zh-CN" sz="600" dirty="0">
                    <a:solidFill>
                      <a:srgbClr val="3B130B"/>
                    </a:solidFill>
                    <a:latin typeface="+mn-lt"/>
                    <a:ea typeface="+mn-ea"/>
                    <a:cs typeface="+mn-cs"/>
                  </a:rPr>
                  <a:t>0.45 (27%)​</a:t>
                </a:r>
              </a:p>
            </p:txBody>
          </p:sp>
          <p:sp>
            <p:nvSpPr>
              <p:cNvPr id="162" name="Rectangle 162"/>
              <p:cNvSpPr/>
              <p:nvPr/>
            </p:nvSpPr>
            <p:spPr>
              <a:xfrm>
                <a:off x="8477250" y="2486025"/>
                <a:ext cx="647700" cy="257175"/>
              </a:xfrm>
              <a:prstGeom prst="rect">
                <a:avLst/>
              </a:prstGeom>
              <a:solidFill>
                <a:srgbClr val="9A412F"/>
              </a:solidFill>
              <a:ln>
                <a:noFill/>
              </a:ln>
            </p:spPr>
          </p:sp>
          <p:sp>
            <p:nvSpPr>
              <p:cNvPr id="163" name="TextBox 163"/>
              <p:cNvSpPr txBox="1"/>
              <p:nvPr/>
            </p:nvSpPr>
            <p:spPr>
              <a:xfrm>
                <a:off x="8554022" y="2583180"/>
                <a:ext cx="494157"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0.35 (21%)​</a:t>
                </a:r>
              </a:p>
            </p:txBody>
          </p:sp>
          <p:sp>
            <p:nvSpPr>
              <p:cNvPr id="164" name="Rectangle 164"/>
              <p:cNvSpPr/>
              <p:nvPr/>
            </p:nvSpPr>
            <p:spPr>
              <a:xfrm>
                <a:off x="8477250" y="2743200"/>
                <a:ext cx="647700" cy="485775"/>
              </a:xfrm>
              <a:prstGeom prst="rect">
                <a:avLst/>
              </a:prstGeom>
              <a:solidFill>
                <a:srgbClr val="5B180B"/>
              </a:solidFill>
              <a:ln>
                <a:noFill/>
              </a:ln>
            </p:spPr>
          </p:sp>
          <p:sp>
            <p:nvSpPr>
              <p:cNvPr id="165" name="TextBox 165"/>
              <p:cNvSpPr txBox="1"/>
              <p:nvPr/>
            </p:nvSpPr>
            <p:spPr>
              <a:xfrm>
                <a:off x="8554022" y="2954655"/>
                <a:ext cx="494157"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0.65 (39%)​</a:t>
                </a:r>
              </a:p>
            </p:txBody>
          </p:sp>
        </p:grpSp>
        <p:grpSp>
          <p:nvGrpSpPr>
            <p:cNvPr id="177" name="stack-fee"/>
            <p:cNvGrpSpPr/>
            <p:nvPr/>
          </p:nvGrpSpPr>
          <p:grpSpPr>
            <a:xfrm>
              <a:off x="9452747" y="1717834"/>
              <a:ext cx="1124476" cy="1530191"/>
              <a:chOff x="9452747" y="1717834"/>
              <a:chExt cx="1124476" cy="1530191"/>
            </a:xfrm>
          </p:grpSpPr>
          <p:sp>
            <p:nvSpPr>
              <p:cNvPr id="167" name="TextBox 167"/>
              <p:cNvSpPr txBox="1"/>
              <p:nvPr/>
            </p:nvSpPr>
            <p:spPr>
              <a:xfrm>
                <a:off x="9452747" y="1717834"/>
                <a:ext cx="792206" cy="133350"/>
              </a:xfrm>
              <a:prstGeom prst="rect">
                <a:avLst/>
              </a:prstGeom>
              <a:noFill/>
              <a:ln>
                <a:noFill/>
              </a:ln>
            </p:spPr>
            <p:txBody>
              <a:bodyPr wrap="none" lIns="0" tIns="0" rIns="0" bIns="0" anchor="t" anchorCtr="0">
                <a:spAutoFit/>
              </a:bodyPr>
              <a:lstStyle/>
              <a:p>
                <a:pPr algn="ctr"/>
                <a:r>
                  <a:rPr lang="zh-CN" sz="680" dirty="0">
                    <a:solidFill>
                      <a:srgbClr val="5F6F6A"/>
                    </a:solidFill>
                    <a:latin typeface="+mn-lt"/>
                    <a:ea typeface="+mn-ea"/>
                    <a:cs typeface="+mn-cs"/>
                  </a:rPr>
                  <a:t>中收贡献（万元）​</a:t>
                </a:r>
              </a:p>
            </p:txBody>
          </p:sp>
          <p:sp>
            <p:nvSpPr>
              <p:cNvPr id="168" name="TextBox 168"/>
              <p:cNvSpPr txBox="1"/>
              <p:nvPr/>
            </p:nvSpPr>
            <p:spPr>
              <a:xfrm>
                <a:off x="9691521" y="1837849"/>
                <a:ext cx="314659" cy="190690"/>
              </a:xfrm>
              <a:prstGeom prst="rect">
                <a:avLst/>
              </a:prstGeom>
              <a:noFill/>
              <a:ln>
                <a:noFill/>
              </a:ln>
            </p:spPr>
            <p:txBody>
              <a:bodyPr wrap="none" lIns="0" tIns="0" rIns="0" bIns="0" anchor="t" anchorCtr="0">
                <a:spAutoFit/>
              </a:bodyPr>
              <a:lstStyle/>
              <a:p>
                <a:pPr algn="ctr"/>
                <a:r>
                  <a:rPr lang="zh-CN" sz="980" b="1" dirty="0">
                    <a:solidFill>
                      <a:srgbClr val="5B180B"/>
                    </a:solidFill>
                    <a:latin typeface="+mn-lt"/>
                    <a:ea typeface="+mn-ea"/>
                    <a:cs typeface="+mn-cs"/>
                  </a:rPr>
                  <a:t>420​</a:t>
                </a:r>
              </a:p>
            </p:txBody>
          </p:sp>
          <p:sp>
            <p:nvSpPr>
              <p:cNvPr id="169" name="Rectangle 169"/>
              <p:cNvSpPr/>
              <p:nvPr/>
            </p:nvSpPr>
            <p:spPr>
              <a:xfrm>
                <a:off x="9525000" y="2000250"/>
                <a:ext cx="647700" cy="76200"/>
              </a:xfrm>
              <a:prstGeom prst="rect">
                <a:avLst/>
              </a:prstGeom>
              <a:solidFill>
                <a:srgbClr val="C5E0D8"/>
              </a:solidFill>
              <a:ln>
                <a:noFill/>
              </a:ln>
            </p:spPr>
          </p:sp>
          <p:sp>
            <p:nvSpPr>
              <p:cNvPr id="170" name="TextBox 170"/>
              <p:cNvSpPr txBox="1"/>
              <p:nvPr/>
            </p:nvSpPr>
            <p:spPr>
              <a:xfrm>
                <a:off x="10263188" y="2010251"/>
                <a:ext cx="314035" cy="104775"/>
              </a:xfrm>
              <a:prstGeom prst="rect">
                <a:avLst/>
              </a:prstGeom>
              <a:noFill/>
              <a:ln>
                <a:noFill/>
              </a:ln>
            </p:spPr>
            <p:txBody>
              <a:bodyPr wrap="none" lIns="0" tIns="0" rIns="0" bIns="0" anchor="t" anchorCtr="0">
                <a:spAutoFit/>
              </a:bodyPr>
              <a:lstStyle/>
              <a:p>
                <a:pPr algn="l"/>
                <a:r>
                  <a:rPr lang="zh-CN" sz="520" dirty="0">
                    <a:solidFill>
                      <a:srgbClr val="5F6F6A"/>
                    </a:solidFill>
                    <a:latin typeface="+mn-lt"/>
                    <a:ea typeface="+mn-ea"/>
                    <a:cs typeface="+mn-cs"/>
                  </a:rPr>
                  <a:t>25 (6%)​</a:t>
                </a:r>
              </a:p>
            </p:txBody>
          </p:sp>
          <p:sp>
            <p:nvSpPr>
              <p:cNvPr id="171" name="Rectangle 171"/>
              <p:cNvSpPr/>
              <p:nvPr/>
            </p:nvSpPr>
            <p:spPr>
              <a:xfrm>
                <a:off x="9525000" y="2076450"/>
                <a:ext cx="647700" cy="361950"/>
              </a:xfrm>
              <a:prstGeom prst="rect">
                <a:avLst/>
              </a:prstGeom>
              <a:solidFill>
                <a:srgbClr val="C9988F"/>
              </a:solidFill>
              <a:ln>
                <a:noFill/>
              </a:ln>
            </p:spPr>
          </p:sp>
          <p:sp>
            <p:nvSpPr>
              <p:cNvPr id="172" name="TextBox 172"/>
              <p:cNvSpPr txBox="1"/>
              <p:nvPr/>
            </p:nvSpPr>
            <p:spPr>
              <a:xfrm>
                <a:off x="9623984" y="2230755"/>
                <a:ext cx="449732" cy="119062"/>
              </a:xfrm>
              <a:prstGeom prst="rect">
                <a:avLst/>
              </a:prstGeom>
              <a:noFill/>
              <a:ln>
                <a:noFill/>
              </a:ln>
            </p:spPr>
            <p:txBody>
              <a:bodyPr wrap="none" lIns="0" tIns="0" rIns="0" bIns="0" anchor="t" anchorCtr="0">
                <a:spAutoFit/>
              </a:bodyPr>
              <a:lstStyle/>
              <a:p>
                <a:pPr algn="ctr"/>
                <a:r>
                  <a:rPr lang="zh-CN" sz="600" dirty="0">
                    <a:solidFill>
                      <a:srgbClr val="3B130B"/>
                    </a:solidFill>
                    <a:latin typeface="+mn-lt"/>
                    <a:ea typeface="+mn-ea"/>
                    <a:cs typeface="+mn-cs"/>
                  </a:rPr>
                  <a:t>120 (29%)​</a:t>
                </a:r>
              </a:p>
            </p:txBody>
          </p:sp>
          <p:sp>
            <p:nvSpPr>
              <p:cNvPr id="173" name="Rectangle 173"/>
              <p:cNvSpPr/>
              <p:nvPr/>
            </p:nvSpPr>
            <p:spPr>
              <a:xfrm>
                <a:off x="9525000" y="2438400"/>
                <a:ext cx="647700" cy="323850"/>
              </a:xfrm>
              <a:prstGeom prst="rect">
                <a:avLst/>
              </a:prstGeom>
              <a:solidFill>
                <a:srgbClr val="9A412F"/>
              </a:solidFill>
              <a:ln>
                <a:noFill/>
              </a:ln>
            </p:spPr>
          </p:sp>
          <p:sp>
            <p:nvSpPr>
              <p:cNvPr id="174" name="TextBox 174"/>
              <p:cNvSpPr txBox="1"/>
              <p:nvPr/>
            </p:nvSpPr>
            <p:spPr>
              <a:xfrm>
                <a:off x="9623984" y="2573655"/>
                <a:ext cx="449732"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110 (26%)​</a:t>
                </a:r>
              </a:p>
            </p:txBody>
          </p:sp>
          <p:sp>
            <p:nvSpPr>
              <p:cNvPr id="175" name="Rectangle 175"/>
              <p:cNvSpPr/>
              <p:nvPr/>
            </p:nvSpPr>
            <p:spPr>
              <a:xfrm>
                <a:off x="9525000" y="2762250"/>
                <a:ext cx="647700" cy="485775"/>
              </a:xfrm>
              <a:prstGeom prst="rect">
                <a:avLst/>
              </a:prstGeom>
              <a:solidFill>
                <a:srgbClr val="5B180B"/>
              </a:solidFill>
              <a:ln>
                <a:noFill/>
              </a:ln>
            </p:spPr>
          </p:sp>
          <p:sp>
            <p:nvSpPr>
              <p:cNvPr id="176" name="TextBox 176"/>
              <p:cNvSpPr txBox="1"/>
              <p:nvPr/>
            </p:nvSpPr>
            <p:spPr>
              <a:xfrm>
                <a:off x="9623984" y="2973705"/>
                <a:ext cx="449732"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165 (39%)​</a:t>
                </a:r>
              </a:p>
            </p:txBody>
          </p:sp>
        </p:grpSp>
        <p:grpSp>
          <p:nvGrpSpPr>
            <p:cNvPr id="186" name="stack-legend"/>
            <p:cNvGrpSpPr/>
            <p:nvPr/>
          </p:nvGrpSpPr>
          <p:grpSpPr>
            <a:xfrm>
              <a:off x="10706100" y="1943100"/>
              <a:ext cx="482136" cy="660559"/>
              <a:chOff x="10706100" y="1943100"/>
              <a:chExt cx="482136" cy="660559"/>
            </a:xfrm>
          </p:grpSpPr>
          <p:sp>
            <p:nvSpPr>
              <p:cNvPr id="178" name="Rectangle 178"/>
              <p:cNvSpPr/>
              <p:nvPr/>
            </p:nvSpPr>
            <p:spPr>
              <a:xfrm>
                <a:off x="10706100" y="1943100"/>
                <a:ext cx="95250" cy="95250"/>
              </a:xfrm>
              <a:prstGeom prst="rect">
                <a:avLst/>
              </a:prstGeom>
              <a:solidFill>
                <a:srgbClr val="C5E0D8"/>
              </a:solidFill>
              <a:ln>
                <a:noFill/>
              </a:ln>
            </p:spPr>
          </p:sp>
          <p:sp>
            <p:nvSpPr>
              <p:cNvPr id="179" name="TextBox 179"/>
              <p:cNvSpPr txBox="1"/>
              <p:nvPr/>
            </p:nvSpPr>
            <p:spPr>
              <a:xfrm>
                <a:off x="10853738" y="1955959"/>
                <a:ext cx="334498"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贵金属​</a:t>
                </a:r>
              </a:p>
            </p:txBody>
          </p:sp>
          <p:sp>
            <p:nvSpPr>
              <p:cNvPr id="180" name="Rectangle 180"/>
              <p:cNvSpPr/>
              <p:nvPr/>
            </p:nvSpPr>
            <p:spPr>
              <a:xfrm>
                <a:off x="10706100" y="2114550"/>
                <a:ext cx="95250" cy="95250"/>
              </a:xfrm>
              <a:prstGeom prst="rect">
                <a:avLst/>
              </a:prstGeom>
              <a:solidFill>
                <a:srgbClr val="C9988F"/>
              </a:solidFill>
              <a:ln>
                <a:noFill/>
              </a:ln>
            </p:spPr>
          </p:sp>
          <p:sp>
            <p:nvSpPr>
              <p:cNvPr id="181" name="TextBox 181"/>
              <p:cNvSpPr txBox="1"/>
              <p:nvPr/>
            </p:nvSpPr>
            <p:spPr>
              <a:xfrm>
                <a:off x="10853738" y="2127409"/>
                <a:ext cx="242956"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保险​</a:t>
                </a:r>
              </a:p>
            </p:txBody>
          </p:sp>
          <p:sp>
            <p:nvSpPr>
              <p:cNvPr id="182" name="Rectangle 182"/>
              <p:cNvSpPr/>
              <p:nvPr/>
            </p:nvSpPr>
            <p:spPr>
              <a:xfrm>
                <a:off x="10706100" y="2286000"/>
                <a:ext cx="95250" cy="95250"/>
              </a:xfrm>
              <a:prstGeom prst="rect">
                <a:avLst/>
              </a:prstGeom>
              <a:solidFill>
                <a:srgbClr val="9A412F"/>
              </a:solidFill>
              <a:ln>
                <a:noFill/>
              </a:ln>
            </p:spPr>
          </p:sp>
          <p:sp>
            <p:nvSpPr>
              <p:cNvPr id="183" name="TextBox 183"/>
              <p:cNvSpPr txBox="1"/>
              <p:nvPr/>
            </p:nvSpPr>
            <p:spPr>
              <a:xfrm>
                <a:off x="10853738" y="2298859"/>
                <a:ext cx="242956"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基金​</a:t>
                </a:r>
              </a:p>
            </p:txBody>
          </p:sp>
          <p:sp>
            <p:nvSpPr>
              <p:cNvPr id="184" name="Rectangle 184"/>
              <p:cNvSpPr/>
              <p:nvPr/>
            </p:nvSpPr>
            <p:spPr>
              <a:xfrm>
                <a:off x="10706100" y="2457450"/>
                <a:ext cx="95250" cy="95250"/>
              </a:xfrm>
              <a:prstGeom prst="rect">
                <a:avLst/>
              </a:prstGeom>
              <a:solidFill>
                <a:srgbClr val="5B180B"/>
              </a:solidFill>
              <a:ln>
                <a:noFill/>
              </a:ln>
            </p:spPr>
          </p:sp>
          <p:sp>
            <p:nvSpPr>
              <p:cNvPr id="185" name="TextBox 185"/>
              <p:cNvSpPr txBox="1"/>
              <p:nvPr/>
            </p:nvSpPr>
            <p:spPr>
              <a:xfrm>
                <a:off x="10853738" y="2470309"/>
                <a:ext cx="242956"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理财​</a:t>
                </a:r>
              </a:p>
            </p:txBody>
          </p:sp>
        </p:grpSp>
        <p:sp>
          <p:nvSpPr>
            <p:cNvPr id="187" name="Rectangle 187"/>
            <p:cNvSpPr/>
            <p:nvPr/>
          </p:nvSpPr>
          <p:spPr>
            <a:xfrm>
              <a:off x="10648950" y="2705100"/>
              <a:ext cx="1200150" cy="571500"/>
            </a:xfrm>
            <a:prstGeom prst="roundRect">
              <a:avLst>
                <a:gd name="adj" fmla="val 10000"/>
              </a:avLst>
            </a:prstGeom>
            <a:solidFill>
              <a:srgbClr val="E9F4F0"/>
            </a:solidFill>
            <a:ln>
              <a:noFill/>
            </a:ln>
          </p:spPr>
        </p:sp>
        <p:sp>
          <p:nvSpPr>
            <p:cNvPr id="188" name="TextBox 188"/>
            <p:cNvSpPr txBox="1"/>
            <p:nvPr/>
          </p:nvSpPr>
          <p:spPr>
            <a:xfrm>
              <a:off x="10919021" y="2788682"/>
              <a:ext cx="660009"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理财与基金合计​</a:t>
              </a:r>
            </a:p>
          </p:txBody>
        </p:sp>
        <p:sp>
          <p:nvSpPr>
            <p:cNvPr id="189" name="TextBox 189"/>
            <p:cNvSpPr txBox="1"/>
            <p:nvPr/>
          </p:nvSpPr>
          <p:spPr>
            <a:xfrm>
              <a:off x="10852396" y="2937510"/>
              <a:ext cx="793257" cy="234696"/>
            </a:xfrm>
            <a:prstGeom prst="rect">
              <a:avLst/>
            </a:prstGeom>
            <a:noFill/>
            <a:ln>
              <a:noFill/>
            </a:ln>
          </p:spPr>
          <p:txBody>
            <a:bodyPr wrap="none" lIns="0" tIns="0" rIns="0" bIns="0" anchor="t" anchorCtr="0">
              <a:spAutoFit/>
            </a:bodyPr>
            <a:lstStyle/>
            <a:p>
              <a:pPr algn="ctr"/>
              <a:r>
                <a:rPr lang="zh-CN" sz="1200" b="1" dirty="0">
                  <a:solidFill>
                    <a:srgbClr val="B8432F"/>
                  </a:solidFill>
                  <a:latin typeface="+mn-lt"/>
                  <a:ea typeface="+mn-ea"/>
                  <a:cs typeface="+mn-cs"/>
                </a:rPr>
                <a:t>贡献 66%​</a:t>
              </a:r>
            </a:p>
          </p:txBody>
        </p:sp>
        <p:sp>
          <p:nvSpPr>
            <p:cNvPr id="190" name="TextBox 190"/>
            <p:cNvSpPr txBox="1"/>
            <p:nvPr/>
          </p:nvSpPr>
          <p:spPr>
            <a:xfrm>
              <a:off x="11091334" y="3141107"/>
              <a:ext cx="31538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的中收​</a:t>
              </a:r>
            </a:p>
          </p:txBody>
        </p:sp>
        <p:sp>
          <p:nvSpPr>
            <p:cNvPr id="191" name="Line 191"/>
            <p:cNvSpPr/>
            <p:nvPr/>
          </p:nvSpPr>
          <p:spPr>
            <a:xfrm>
              <a:off x="9144000" y="3238500"/>
              <a:ext cx="1028700" cy="9525"/>
            </a:xfrm>
            <a:custGeom>
              <a:avLst/>
              <a:gdLst/>
              <a:ahLst/>
              <a:cxnLst/>
              <a:rect l="l" t="t" r="r" b="b"/>
              <a:pathLst>
                <a:path w="1028700" h="9525">
                  <a:moveTo>
                    <a:pt x="0" y="0"/>
                  </a:moveTo>
                  <a:lnTo>
                    <a:pt x="1028700" y="0"/>
                  </a:lnTo>
                </a:path>
              </a:pathLst>
            </a:custGeom>
            <a:noFill/>
            <a:ln w="9525">
              <a:solidFill>
                <a:srgbClr val="BFDDD6"/>
              </a:solidFill>
            </a:ln>
          </p:spPr>
        </p:sp>
        <p:sp>
          <p:nvSpPr>
            <p:cNvPr id="192" name="Line 192"/>
            <p:cNvSpPr/>
            <p:nvPr/>
          </p:nvSpPr>
          <p:spPr>
            <a:xfrm>
              <a:off x="8458200" y="3238500"/>
              <a:ext cx="685800" cy="9525"/>
            </a:xfrm>
            <a:custGeom>
              <a:avLst/>
              <a:gdLst/>
              <a:ahLst/>
              <a:cxnLst/>
              <a:rect l="l" t="t" r="r" b="b"/>
              <a:pathLst>
                <a:path w="685800" h="9525">
                  <a:moveTo>
                    <a:pt x="0" y="0"/>
                  </a:moveTo>
                  <a:lnTo>
                    <a:pt x="685800" y="0"/>
                  </a:lnTo>
                </a:path>
              </a:pathLst>
            </a:custGeom>
            <a:noFill/>
            <a:ln w="9525">
              <a:solidFill>
                <a:srgbClr val="BFDDD6"/>
              </a:solidFill>
            </a:ln>
          </p:spPr>
        </p:sp>
      </p:grpSp>
      <p:grpSp>
        <p:nvGrpSpPr>
          <p:cNvPr id="255" name="scene-table"/>
          <p:cNvGrpSpPr/>
          <p:nvPr/>
        </p:nvGrpSpPr>
        <p:grpSpPr>
          <a:xfrm>
            <a:off x="228600" y="3695700"/>
            <a:ext cx="11734800" cy="3086100"/>
            <a:chOff x="228600" y="3695700"/>
            <a:chExt cx="11734800" cy="3086100"/>
          </a:xfrm>
        </p:grpSpPr>
        <p:sp>
          <p:nvSpPr>
            <p:cNvPr id="194" name="Rectangle 194"/>
            <p:cNvSpPr/>
            <p:nvPr/>
          </p:nvSpPr>
          <p:spPr>
            <a:xfrm>
              <a:off x="228600" y="3695700"/>
              <a:ext cx="11734800" cy="3086100"/>
            </a:xfrm>
            <a:prstGeom prst="roundRect">
              <a:avLst>
                <a:gd name="adj" fmla="val 3086"/>
              </a:avLst>
            </a:prstGeom>
            <a:solidFill>
              <a:srgbClr val="F5FAF8"/>
            </a:solidFill>
            <a:ln w="9525">
              <a:solidFill>
                <a:srgbClr val="D9E8E2"/>
              </a:solidFill>
            </a:ln>
          </p:spPr>
        </p:sp>
        <p:sp>
          <p:nvSpPr>
            <p:cNvPr id="195" name="Rectangle 195"/>
            <p:cNvSpPr/>
            <p:nvPr/>
          </p:nvSpPr>
          <p:spPr>
            <a:xfrm>
              <a:off x="342900" y="3790950"/>
              <a:ext cx="47625" cy="152400"/>
            </a:xfrm>
            <a:prstGeom prst="rect">
              <a:avLst/>
            </a:prstGeom>
            <a:solidFill>
              <a:srgbClr val="5B180B"/>
            </a:solidFill>
            <a:ln>
              <a:noFill/>
            </a:ln>
          </p:spPr>
        </p:sp>
        <p:sp>
          <p:nvSpPr>
            <p:cNvPr id="196" name="TextBox 196"/>
            <p:cNvSpPr txBox="1"/>
            <p:nvPr/>
          </p:nvSpPr>
          <p:spPr>
            <a:xfrm>
              <a:off x="452438" y="3813572"/>
              <a:ext cx="2102879"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重点客户场景与转化策略</a:t>
              </a:r>
              <a:r>
                <a:rPr lang="zh-CN" sz="710" dirty="0">
                  <a:solidFill>
                    <a:srgbClr val="5F6F6A"/>
                  </a:solidFill>
                  <a:latin typeface="+mn-lt"/>
                  <a:ea typeface="+mn-ea"/>
                  <a:cs typeface="+mn-cs"/>
                </a:rPr>
                <a:t>（2026年Q4）</a:t>
              </a:r>
              <a:r>
                <a:rPr lang="zh-CN" sz="940" b="1" dirty="0">
                  <a:solidFill>
                    <a:srgbClr val="5B180B"/>
                  </a:solidFill>
                  <a:latin typeface="+mn-lt"/>
                  <a:ea typeface="+mn-ea"/>
                  <a:cs typeface="+mn-cs"/>
                </a:rPr>
                <a:t>​</a:t>
              </a:r>
            </a:p>
          </p:txBody>
        </p:sp>
        <p:grpSp>
          <p:nvGrpSpPr>
            <p:cNvPr id="205" name="Group 205"/>
            <p:cNvGrpSpPr/>
            <p:nvPr/>
          </p:nvGrpSpPr>
          <p:grpSpPr>
            <a:xfrm>
              <a:off x="342900" y="4000500"/>
              <a:ext cx="11525250" cy="285750"/>
              <a:chOff x="342900" y="4000500"/>
              <a:chExt cx="11525250" cy="285750"/>
            </a:xfrm>
          </p:grpSpPr>
          <p:sp>
            <p:nvSpPr>
              <p:cNvPr id="197" name="Rectangle 197"/>
              <p:cNvSpPr/>
              <p:nvPr/>
            </p:nvSpPr>
            <p:spPr>
              <a:xfrm>
                <a:off x="342900" y="4000500"/>
                <a:ext cx="11525250" cy="285750"/>
              </a:xfrm>
              <a:prstGeom prst="rect">
                <a:avLst/>
              </a:prstGeom>
              <a:solidFill>
                <a:srgbClr val="5B180B"/>
              </a:solidFill>
              <a:ln>
                <a:noFill/>
              </a:ln>
            </p:spPr>
          </p:sp>
          <p:sp>
            <p:nvSpPr>
              <p:cNvPr id="198" name="TextBox 198"/>
              <p:cNvSpPr txBox="1"/>
              <p:nvPr/>
            </p:nvSpPr>
            <p:spPr>
              <a:xfrm>
                <a:off x="391579" y="4096464"/>
                <a:ext cx="2836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序号​</a:t>
                </a:r>
              </a:p>
            </p:txBody>
          </p:sp>
          <p:sp>
            <p:nvSpPr>
              <p:cNvPr id="199" name="TextBox 199"/>
              <p:cNvSpPr txBox="1"/>
              <p:nvPr/>
            </p:nvSpPr>
            <p:spPr>
              <a:xfrm>
                <a:off x="999604" y="4096464"/>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客户场景​</a:t>
                </a:r>
              </a:p>
            </p:txBody>
          </p:sp>
          <p:sp>
            <p:nvSpPr>
              <p:cNvPr id="200" name="TextBox 200"/>
              <p:cNvSpPr txBox="1"/>
              <p:nvPr/>
            </p:nvSpPr>
            <p:spPr>
              <a:xfrm>
                <a:off x="2714104" y="4096464"/>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客户特征​</a:t>
                </a:r>
              </a:p>
            </p:txBody>
          </p:sp>
          <p:sp>
            <p:nvSpPr>
              <p:cNvPr id="201" name="TextBox 201"/>
              <p:cNvSpPr txBox="1"/>
              <p:nvPr/>
            </p:nvSpPr>
            <p:spPr>
              <a:xfrm>
                <a:off x="4032054" y="4096464"/>
                <a:ext cx="20514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推荐配置（理财 / 基金 / 保险 / 贵金属）​</a:t>
                </a:r>
              </a:p>
            </p:txBody>
          </p:sp>
          <p:sp>
            <p:nvSpPr>
              <p:cNvPr id="202" name="TextBox 202"/>
              <p:cNvSpPr txBox="1"/>
              <p:nvPr/>
            </p:nvSpPr>
            <p:spPr>
              <a:xfrm>
                <a:off x="6571729" y="4096464"/>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触发时机​</a:t>
                </a:r>
              </a:p>
            </p:txBody>
          </p:sp>
          <p:sp>
            <p:nvSpPr>
              <p:cNvPr id="203" name="TextBox 203"/>
              <p:cNvSpPr txBox="1"/>
              <p:nvPr/>
            </p:nvSpPr>
            <p:spPr>
              <a:xfrm>
                <a:off x="8333854" y="4096464"/>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转化目标​</a:t>
                </a:r>
              </a:p>
            </p:txBody>
          </p:sp>
          <p:sp>
            <p:nvSpPr>
              <p:cNvPr id="204" name="TextBox 204"/>
              <p:cNvSpPr txBox="1"/>
              <p:nvPr/>
            </p:nvSpPr>
            <p:spPr>
              <a:xfrm>
                <a:off x="10429354" y="4096464"/>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合规要点​</a:t>
                </a:r>
              </a:p>
            </p:txBody>
          </p:sp>
        </p:grpSp>
        <p:grpSp>
          <p:nvGrpSpPr>
            <p:cNvPr id="254" name="scene-rows"/>
            <p:cNvGrpSpPr/>
            <p:nvPr/>
          </p:nvGrpSpPr>
          <p:grpSpPr>
            <a:xfrm>
              <a:off x="342900" y="4286250"/>
              <a:ext cx="11525250" cy="2286000"/>
              <a:chOff x="342900" y="4286250"/>
              <a:chExt cx="11525250" cy="2286000"/>
            </a:xfrm>
          </p:grpSpPr>
          <p:sp>
            <p:nvSpPr>
              <p:cNvPr id="206" name="Rectangle 206"/>
              <p:cNvSpPr/>
              <p:nvPr/>
            </p:nvSpPr>
            <p:spPr>
              <a:xfrm>
                <a:off x="342900" y="4286250"/>
                <a:ext cx="11525250" cy="457200"/>
              </a:xfrm>
              <a:prstGeom prst="rect">
                <a:avLst/>
              </a:prstGeom>
              <a:solidFill>
                <a:srgbClr val="FFFFFF"/>
              </a:solidFill>
              <a:ln w="7620">
                <a:solidFill>
                  <a:srgbClr val="D9E8E2"/>
                </a:solidFill>
              </a:ln>
            </p:spPr>
          </p:sp>
          <p:sp>
            <p:nvSpPr>
              <p:cNvPr id="207" name="TextBox 207"/>
              <p:cNvSpPr txBox="1"/>
              <p:nvPr/>
            </p:nvSpPr>
            <p:spPr>
              <a:xfrm>
                <a:off x="470330" y="4471988"/>
                <a:ext cx="126140"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a:t>
                </a:r>
              </a:p>
            </p:txBody>
          </p:sp>
          <p:sp>
            <p:nvSpPr>
              <p:cNvPr id="208" name="TextBox 208"/>
              <p:cNvSpPr txBox="1"/>
              <p:nvPr/>
            </p:nvSpPr>
            <p:spPr>
              <a:xfrm>
                <a:off x="860481" y="4471988"/>
                <a:ext cx="774587"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新晋高净值客户​</a:t>
                </a:r>
              </a:p>
            </p:txBody>
          </p:sp>
          <p:sp>
            <p:nvSpPr>
              <p:cNvPr id="209" name="TextBox 209"/>
              <p:cNvSpPr txBox="1"/>
              <p:nvPr/>
            </p:nvSpPr>
            <p:spPr>
              <a:xfrm>
                <a:off x="2122027" y="4471988"/>
                <a:ext cx="168049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企业主，流动性充裕，风险偏好中高​</a:t>
                </a:r>
              </a:p>
            </p:txBody>
          </p:sp>
          <p:sp>
            <p:nvSpPr>
              <p:cNvPr id="210" name="TextBox 210"/>
              <p:cNvSpPr txBox="1"/>
              <p:nvPr/>
            </p:nvSpPr>
            <p:spPr>
              <a:xfrm>
                <a:off x="4477891" y="4471988"/>
                <a:ext cx="1159769"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20% / 50% / 25% / 5%​</a:t>
                </a:r>
              </a:p>
            </p:txBody>
          </p:sp>
          <p:sp>
            <p:nvSpPr>
              <p:cNvPr id="211" name="TextBox 211"/>
              <p:cNvSpPr txBox="1"/>
              <p:nvPr/>
            </p:nvSpPr>
            <p:spPr>
              <a:xfrm>
                <a:off x="6333030" y="4471988"/>
                <a:ext cx="9737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企业分红、股权变现​</a:t>
                </a:r>
              </a:p>
            </p:txBody>
          </p:sp>
          <p:sp>
            <p:nvSpPr>
              <p:cNvPr id="212" name="TextBox 212"/>
              <p:cNvSpPr txBox="1"/>
              <p:nvPr/>
            </p:nvSpPr>
            <p:spPr>
              <a:xfrm>
                <a:off x="8188309" y="4414838"/>
                <a:ext cx="787432"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AUM提升500万​​</a:t>
                </a:r>
              </a:p>
            </p:txBody>
          </p:sp>
          <p:sp>
            <p:nvSpPr>
              <p:cNvPr id="213" name="TextBox 213"/>
              <p:cNvSpPr txBox="1"/>
              <p:nvPr/>
            </p:nvSpPr>
            <p:spPr>
              <a:xfrm>
                <a:off x="8292036" y="4548188"/>
                <a:ext cx="57997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或中收20万​</a:t>
                </a:r>
              </a:p>
            </p:txBody>
          </p:sp>
          <p:sp>
            <p:nvSpPr>
              <p:cNvPr id="214" name="TextBox 214"/>
              <p:cNvSpPr txBox="1"/>
              <p:nvPr/>
            </p:nvSpPr>
            <p:spPr>
              <a:xfrm>
                <a:off x="10089690" y="4414838"/>
                <a:ext cx="117567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适当性评估、风险揭示、​</a:t>
                </a:r>
              </a:p>
            </p:txBody>
          </p:sp>
          <p:sp>
            <p:nvSpPr>
              <p:cNvPr id="215" name="TextBox 215"/>
              <p:cNvSpPr txBox="1"/>
              <p:nvPr/>
            </p:nvSpPr>
            <p:spPr>
              <a:xfrm>
                <a:off x="10342102" y="4548188"/>
                <a:ext cx="67084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产品匹配复盘​</a:t>
                </a:r>
              </a:p>
            </p:txBody>
          </p:sp>
          <p:sp>
            <p:nvSpPr>
              <p:cNvPr id="216" name="Rectangle 216"/>
              <p:cNvSpPr/>
              <p:nvPr/>
            </p:nvSpPr>
            <p:spPr>
              <a:xfrm>
                <a:off x="342900" y="4743450"/>
                <a:ext cx="11525250" cy="457200"/>
              </a:xfrm>
              <a:prstGeom prst="rect">
                <a:avLst/>
              </a:prstGeom>
              <a:solidFill>
                <a:srgbClr val="F7FBF9"/>
              </a:solidFill>
              <a:ln w="7620">
                <a:solidFill>
                  <a:srgbClr val="D9E8E2"/>
                </a:solidFill>
              </a:ln>
            </p:spPr>
          </p:sp>
          <p:sp>
            <p:nvSpPr>
              <p:cNvPr id="217" name="TextBox 217"/>
              <p:cNvSpPr txBox="1"/>
              <p:nvPr/>
            </p:nvSpPr>
            <p:spPr>
              <a:xfrm>
                <a:off x="470330" y="4929188"/>
                <a:ext cx="126140"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a:t>
                </a:r>
              </a:p>
            </p:txBody>
          </p:sp>
          <p:sp>
            <p:nvSpPr>
              <p:cNvPr id="218" name="TextBox 218"/>
              <p:cNvSpPr txBox="1"/>
              <p:nvPr/>
            </p:nvSpPr>
            <p:spPr>
              <a:xfrm>
                <a:off x="910964" y="4929188"/>
                <a:ext cx="67362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中年家庭客群​</a:t>
                </a:r>
              </a:p>
            </p:txBody>
          </p:sp>
          <p:sp>
            <p:nvSpPr>
              <p:cNvPr id="219" name="TextBox 219"/>
              <p:cNvSpPr txBox="1"/>
              <p:nvPr/>
            </p:nvSpPr>
            <p:spPr>
              <a:xfrm>
                <a:off x="2122027" y="4929188"/>
                <a:ext cx="168049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事业稳定，子女教育、养老规划需求​</a:t>
                </a:r>
              </a:p>
            </p:txBody>
          </p:sp>
          <p:sp>
            <p:nvSpPr>
              <p:cNvPr id="220" name="TextBox 220"/>
              <p:cNvSpPr txBox="1"/>
              <p:nvPr/>
            </p:nvSpPr>
            <p:spPr>
              <a:xfrm>
                <a:off x="4477891" y="4929188"/>
                <a:ext cx="1159769"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40% / 30% / 25% / 5%​</a:t>
                </a:r>
              </a:p>
            </p:txBody>
          </p:sp>
          <p:sp>
            <p:nvSpPr>
              <p:cNvPr id="221" name="TextBox 221"/>
              <p:cNvSpPr txBox="1"/>
              <p:nvPr/>
            </p:nvSpPr>
            <p:spPr>
              <a:xfrm>
                <a:off x="6232065" y="4929188"/>
                <a:ext cx="117567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子女入学、家庭保障规划​</a:t>
                </a:r>
              </a:p>
            </p:txBody>
          </p:sp>
          <p:sp>
            <p:nvSpPr>
              <p:cNvPr id="222" name="TextBox 222"/>
              <p:cNvSpPr txBox="1"/>
              <p:nvPr/>
            </p:nvSpPr>
            <p:spPr>
              <a:xfrm>
                <a:off x="8188309" y="4872038"/>
                <a:ext cx="787432"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AUM提升300万​​</a:t>
                </a:r>
              </a:p>
            </p:txBody>
          </p:sp>
          <p:sp>
            <p:nvSpPr>
              <p:cNvPr id="223" name="TextBox 223"/>
              <p:cNvSpPr txBox="1"/>
              <p:nvPr/>
            </p:nvSpPr>
            <p:spPr>
              <a:xfrm>
                <a:off x="8292036" y="5005388"/>
                <a:ext cx="57997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或中收10万​</a:t>
                </a:r>
              </a:p>
            </p:txBody>
          </p:sp>
          <p:sp>
            <p:nvSpPr>
              <p:cNvPr id="224" name="TextBox 224"/>
              <p:cNvSpPr txBox="1"/>
              <p:nvPr/>
            </p:nvSpPr>
            <p:spPr>
              <a:xfrm>
                <a:off x="9988725" y="4872038"/>
                <a:ext cx="137760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充分了解客户需求，保险双录​</a:t>
                </a:r>
              </a:p>
            </p:txBody>
          </p:sp>
          <p:sp>
            <p:nvSpPr>
              <p:cNvPr id="225" name="TextBox 225"/>
              <p:cNvSpPr txBox="1"/>
              <p:nvPr/>
            </p:nvSpPr>
            <p:spPr>
              <a:xfrm>
                <a:off x="10342102" y="5005388"/>
                <a:ext cx="67084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及冷静期管理​</a:t>
                </a:r>
              </a:p>
            </p:txBody>
          </p:sp>
          <p:sp>
            <p:nvSpPr>
              <p:cNvPr id="226" name="Rectangle 226"/>
              <p:cNvSpPr/>
              <p:nvPr/>
            </p:nvSpPr>
            <p:spPr>
              <a:xfrm>
                <a:off x="342900" y="5200650"/>
                <a:ext cx="11525250" cy="457200"/>
              </a:xfrm>
              <a:prstGeom prst="rect">
                <a:avLst/>
              </a:prstGeom>
              <a:solidFill>
                <a:srgbClr val="FFFFFF"/>
              </a:solidFill>
              <a:ln w="7620">
                <a:solidFill>
                  <a:srgbClr val="D9E8E2"/>
                </a:solidFill>
              </a:ln>
            </p:spPr>
          </p:sp>
          <p:sp>
            <p:nvSpPr>
              <p:cNvPr id="227" name="TextBox 227"/>
              <p:cNvSpPr txBox="1"/>
              <p:nvPr/>
            </p:nvSpPr>
            <p:spPr>
              <a:xfrm>
                <a:off x="470330" y="5386388"/>
                <a:ext cx="126140"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3​</a:t>
                </a:r>
              </a:p>
            </p:txBody>
          </p:sp>
          <p:sp>
            <p:nvSpPr>
              <p:cNvPr id="228" name="TextBox 228"/>
              <p:cNvSpPr txBox="1"/>
              <p:nvPr/>
            </p:nvSpPr>
            <p:spPr>
              <a:xfrm>
                <a:off x="910964" y="5386388"/>
                <a:ext cx="67362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临近退休客户​</a:t>
                </a:r>
              </a:p>
            </p:txBody>
          </p:sp>
          <p:sp>
            <p:nvSpPr>
              <p:cNvPr id="229" name="TextBox 229"/>
              <p:cNvSpPr txBox="1"/>
              <p:nvPr/>
            </p:nvSpPr>
            <p:spPr>
              <a:xfrm>
                <a:off x="2071545" y="5386388"/>
                <a:ext cx="178146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保守稳健，注重本金安全与稳定现金流​</a:t>
                </a:r>
              </a:p>
            </p:txBody>
          </p:sp>
          <p:sp>
            <p:nvSpPr>
              <p:cNvPr id="230" name="TextBox 230"/>
              <p:cNvSpPr txBox="1"/>
              <p:nvPr/>
            </p:nvSpPr>
            <p:spPr>
              <a:xfrm>
                <a:off x="4477891" y="5386388"/>
                <a:ext cx="1159769"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60% / 20% / 15% / 5%​</a:t>
                </a:r>
              </a:p>
            </p:txBody>
          </p:sp>
          <p:sp>
            <p:nvSpPr>
              <p:cNvPr id="231" name="TextBox 231"/>
              <p:cNvSpPr txBox="1"/>
              <p:nvPr/>
            </p:nvSpPr>
            <p:spPr>
              <a:xfrm>
                <a:off x="6333030" y="5386388"/>
                <a:ext cx="9737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退休规划、资产保全​</a:t>
                </a:r>
              </a:p>
            </p:txBody>
          </p:sp>
          <p:sp>
            <p:nvSpPr>
              <p:cNvPr id="232" name="TextBox 232"/>
              <p:cNvSpPr txBox="1"/>
              <p:nvPr/>
            </p:nvSpPr>
            <p:spPr>
              <a:xfrm>
                <a:off x="8188309" y="5329238"/>
                <a:ext cx="787432"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AUM提升200万​​</a:t>
                </a:r>
              </a:p>
            </p:txBody>
          </p:sp>
          <p:sp>
            <p:nvSpPr>
              <p:cNvPr id="233" name="TextBox 233"/>
              <p:cNvSpPr txBox="1"/>
              <p:nvPr/>
            </p:nvSpPr>
            <p:spPr>
              <a:xfrm>
                <a:off x="8319802" y="5462588"/>
                <a:ext cx="52444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或中收8万​</a:t>
                </a:r>
              </a:p>
            </p:txBody>
          </p:sp>
          <p:sp>
            <p:nvSpPr>
              <p:cNvPr id="234" name="TextBox 234"/>
              <p:cNvSpPr txBox="1"/>
              <p:nvPr/>
            </p:nvSpPr>
            <p:spPr>
              <a:xfrm>
                <a:off x="9938242" y="5329238"/>
                <a:ext cx="147856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风险等级匹配，重点提示流动性​</a:t>
                </a:r>
              </a:p>
            </p:txBody>
          </p:sp>
          <p:sp>
            <p:nvSpPr>
              <p:cNvPr id="235" name="TextBox 235"/>
              <p:cNvSpPr txBox="1"/>
              <p:nvPr/>
            </p:nvSpPr>
            <p:spPr>
              <a:xfrm>
                <a:off x="10392585" y="5462588"/>
                <a:ext cx="56988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与产品风险​</a:t>
                </a:r>
              </a:p>
            </p:txBody>
          </p:sp>
          <p:sp>
            <p:nvSpPr>
              <p:cNvPr id="236" name="Rectangle 236"/>
              <p:cNvSpPr/>
              <p:nvPr/>
            </p:nvSpPr>
            <p:spPr>
              <a:xfrm>
                <a:off x="342900" y="5657850"/>
                <a:ext cx="11525250" cy="457200"/>
              </a:xfrm>
              <a:prstGeom prst="rect">
                <a:avLst/>
              </a:prstGeom>
              <a:solidFill>
                <a:srgbClr val="F7FBF9"/>
              </a:solidFill>
              <a:ln w="7620">
                <a:solidFill>
                  <a:srgbClr val="D9E8E2"/>
                </a:solidFill>
              </a:ln>
            </p:spPr>
          </p:sp>
          <p:sp>
            <p:nvSpPr>
              <p:cNvPr id="237" name="TextBox 237"/>
              <p:cNvSpPr txBox="1"/>
              <p:nvPr/>
            </p:nvSpPr>
            <p:spPr>
              <a:xfrm>
                <a:off x="470330" y="5843588"/>
                <a:ext cx="126140"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a:t>
                </a:r>
              </a:p>
            </p:txBody>
          </p:sp>
          <p:sp>
            <p:nvSpPr>
              <p:cNvPr id="238" name="TextBox 238"/>
              <p:cNvSpPr txBox="1"/>
              <p:nvPr/>
            </p:nvSpPr>
            <p:spPr>
              <a:xfrm>
                <a:off x="910964" y="5843588"/>
                <a:ext cx="67362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存量提升客群​</a:t>
                </a:r>
              </a:p>
            </p:txBody>
          </p:sp>
          <p:sp>
            <p:nvSpPr>
              <p:cNvPr id="239" name="TextBox 239"/>
              <p:cNvSpPr txBox="1"/>
              <p:nvPr/>
            </p:nvSpPr>
            <p:spPr>
              <a:xfrm>
                <a:off x="2139696" y="5843588"/>
                <a:ext cx="164515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已有1-2个产品持有，潜力尚未释放​</a:t>
                </a:r>
              </a:p>
            </p:txBody>
          </p:sp>
          <p:sp>
            <p:nvSpPr>
              <p:cNvPr id="240" name="TextBox 240"/>
              <p:cNvSpPr txBox="1"/>
              <p:nvPr/>
            </p:nvSpPr>
            <p:spPr>
              <a:xfrm>
                <a:off x="4448737" y="5843588"/>
                <a:ext cx="1218076"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30% / 40% / 20% / 10%​</a:t>
                </a:r>
              </a:p>
            </p:txBody>
          </p:sp>
          <p:sp>
            <p:nvSpPr>
              <p:cNvPr id="241" name="TextBox 241"/>
              <p:cNvSpPr txBox="1"/>
              <p:nvPr/>
            </p:nvSpPr>
            <p:spPr>
              <a:xfrm>
                <a:off x="6333030" y="5843588"/>
                <a:ext cx="9737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产品到期、市场回暖​</a:t>
                </a:r>
              </a:p>
            </p:txBody>
          </p:sp>
          <p:sp>
            <p:nvSpPr>
              <p:cNvPr id="242" name="TextBox 242"/>
              <p:cNvSpPr txBox="1"/>
              <p:nvPr/>
            </p:nvSpPr>
            <p:spPr>
              <a:xfrm>
                <a:off x="8213788" y="5786438"/>
                <a:ext cx="736473"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产品持有数+1​​</a:t>
                </a:r>
              </a:p>
            </p:txBody>
          </p:sp>
          <p:sp>
            <p:nvSpPr>
              <p:cNvPr id="243" name="TextBox 243"/>
              <p:cNvSpPr txBox="1"/>
              <p:nvPr/>
            </p:nvSpPr>
            <p:spPr>
              <a:xfrm>
                <a:off x="8319802" y="5919788"/>
                <a:ext cx="52444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或中收5万​</a:t>
                </a:r>
              </a:p>
            </p:txBody>
          </p:sp>
          <p:sp>
            <p:nvSpPr>
              <p:cNvPr id="244" name="TextBox 244"/>
              <p:cNvSpPr txBox="1"/>
              <p:nvPr/>
            </p:nvSpPr>
            <p:spPr>
              <a:xfrm>
                <a:off x="9938242" y="5786438"/>
                <a:ext cx="147856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利益冲突管理、组合合理性说明​</a:t>
                </a:r>
              </a:p>
            </p:txBody>
          </p:sp>
          <p:sp>
            <p:nvSpPr>
              <p:cNvPr id="245" name="Rectangle 245"/>
              <p:cNvSpPr/>
              <p:nvPr/>
            </p:nvSpPr>
            <p:spPr>
              <a:xfrm>
                <a:off x="342900" y="6115050"/>
                <a:ext cx="11525250" cy="457200"/>
              </a:xfrm>
              <a:prstGeom prst="rect">
                <a:avLst/>
              </a:prstGeom>
              <a:solidFill>
                <a:srgbClr val="FFFFFF"/>
              </a:solidFill>
              <a:ln w="7620">
                <a:solidFill>
                  <a:srgbClr val="D9E8E2"/>
                </a:solidFill>
              </a:ln>
            </p:spPr>
          </p:sp>
          <p:sp>
            <p:nvSpPr>
              <p:cNvPr id="246" name="TextBox 246"/>
              <p:cNvSpPr txBox="1"/>
              <p:nvPr/>
            </p:nvSpPr>
            <p:spPr>
              <a:xfrm>
                <a:off x="470330" y="6300788"/>
                <a:ext cx="126140"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5​</a:t>
                </a:r>
              </a:p>
            </p:txBody>
          </p:sp>
          <p:sp>
            <p:nvSpPr>
              <p:cNvPr id="247" name="TextBox 247"/>
              <p:cNvSpPr txBox="1"/>
              <p:nvPr/>
            </p:nvSpPr>
            <p:spPr>
              <a:xfrm>
                <a:off x="910964" y="6300788"/>
                <a:ext cx="67362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年轻成长客群​</a:t>
                </a:r>
              </a:p>
            </p:txBody>
          </p:sp>
          <p:sp>
            <p:nvSpPr>
              <p:cNvPr id="248" name="TextBox 248"/>
              <p:cNvSpPr txBox="1"/>
              <p:nvPr/>
            </p:nvSpPr>
            <p:spPr>
              <a:xfrm>
                <a:off x="2122027" y="6300788"/>
                <a:ext cx="168049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职场新锐，收入提升，风险偏好较高​</a:t>
                </a:r>
              </a:p>
            </p:txBody>
          </p:sp>
          <p:sp>
            <p:nvSpPr>
              <p:cNvPr id="249" name="TextBox 249"/>
              <p:cNvSpPr txBox="1"/>
              <p:nvPr/>
            </p:nvSpPr>
            <p:spPr>
              <a:xfrm>
                <a:off x="4477891" y="6300788"/>
                <a:ext cx="1159769"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20% / 60% / 15% / 5%​</a:t>
                </a:r>
              </a:p>
            </p:txBody>
          </p:sp>
          <p:sp>
            <p:nvSpPr>
              <p:cNvPr id="250" name="TextBox 250"/>
              <p:cNvSpPr txBox="1"/>
              <p:nvPr/>
            </p:nvSpPr>
            <p:spPr>
              <a:xfrm>
                <a:off x="6333030" y="6300788"/>
                <a:ext cx="9737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晋升加薪、年度奖金​</a:t>
                </a:r>
              </a:p>
            </p:txBody>
          </p:sp>
          <p:sp>
            <p:nvSpPr>
              <p:cNvPr id="251" name="TextBox 251"/>
              <p:cNvSpPr txBox="1"/>
              <p:nvPr/>
            </p:nvSpPr>
            <p:spPr>
              <a:xfrm>
                <a:off x="8188309" y="6243638"/>
                <a:ext cx="787432"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AUM提升100万​​</a:t>
                </a:r>
              </a:p>
            </p:txBody>
          </p:sp>
          <p:sp>
            <p:nvSpPr>
              <p:cNvPr id="252" name="TextBox 252"/>
              <p:cNvSpPr txBox="1"/>
              <p:nvPr/>
            </p:nvSpPr>
            <p:spPr>
              <a:xfrm>
                <a:off x="8319802" y="6376988"/>
                <a:ext cx="52444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或中收5万​</a:t>
                </a:r>
              </a:p>
            </p:txBody>
          </p:sp>
          <p:sp>
            <p:nvSpPr>
              <p:cNvPr id="253" name="TextBox 253"/>
              <p:cNvSpPr txBox="1"/>
              <p:nvPr/>
            </p:nvSpPr>
            <p:spPr>
              <a:xfrm>
                <a:off x="10039207" y="6300788"/>
                <a:ext cx="127663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适当性管理、理性投资提示​</a:t>
                </a:r>
              </a:p>
            </p:txBody>
          </p:sp>
        </p:grpSp>
      </p:gr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8041531" cy="542925"/>
            <a:chOff x="0" y="0"/>
            <a:chExt cx="8041531"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09​</a:t>
              </a:r>
            </a:p>
          </p:txBody>
        </p:sp>
        <p:sp>
          <p:nvSpPr>
            <p:cNvPr id="4" name="TextBox 4"/>
            <p:cNvSpPr txBox="1"/>
            <p:nvPr/>
          </p:nvSpPr>
          <p:spPr>
            <a:xfrm>
              <a:off x="942594" y="151448"/>
              <a:ext cx="7098937"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消费贷获客</a:t>
              </a:r>
              <a:r>
                <a:rPr lang="zh-CN" sz="1950" b="1" dirty="0">
                  <a:solidFill>
                    <a:srgbClr val="5B180B"/>
                  </a:solidFill>
                  <a:latin typeface="+mj-lt"/>
                  <a:ea typeface="+mj-ea"/>
                  <a:cs typeface="+mj-cs"/>
                </a:rPr>
                <a:t xml:space="preserve"> | 从泛流量投放转向家庭场景与存量交叉销售</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50" name="kpi-row"/>
          <p:cNvGrpSpPr/>
          <p:nvPr/>
        </p:nvGrpSpPr>
        <p:grpSpPr>
          <a:xfrm>
            <a:off x="228600" y="666750"/>
            <a:ext cx="11715750" cy="609600"/>
            <a:chOff x="228600" y="666750"/>
            <a:chExt cx="11715750" cy="609600"/>
          </a:xfrm>
        </p:grpSpPr>
        <p:sp>
          <p:nvSpPr>
            <p:cNvPr id="7" name="Rectangle 7"/>
            <p:cNvSpPr/>
            <p:nvPr/>
          </p:nvSpPr>
          <p:spPr>
            <a:xfrm>
              <a:off x="228600" y="666750"/>
              <a:ext cx="2266950" cy="609600"/>
            </a:xfrm>
            <a:prstGeom prst="roundRect">
              <a:avLst>
                <a:gd name="adj" fmla="val 12500"/>
              </a:avLst>
            </a:prstGeom>
            <a:solidFill>
              <a:srgbClr val="F5FAF8"/>
            </a:solidFill>
            <a:ln w="9525">
              <a:solidFill>
                <a:srgbClr val="D9E8E2"/>
              </a:solidFill>
            </a:ln>
          </p:spPr>
        </p:sp>
        <p:sp>
          <p:nvSpPr>
            <p:cNvPr id="8" name="Ellipse 8"/>
            <p:cNvSpPr/>
            <p:nvPr/>
          </p:nvSpPr>
          <p:spPr>
            <a:xfrm>
              <a:off x="323850" y="800100"/>
              <a:ext cx="342900" cy="342900"/>
            </a:xfrm>
            <a:prstGeom prst="ellipse">
              <a:avLst/>
            </a:prstGeom>
            <a:solidFill>
              <a:srgbClr val="5B180B"/>
            </a:solidFill>
            <a:ln>
              <a:noFill/>
            </a:ln>
          </p:spPr>
        </p:sp>
        <p:grpSp>
          <p:nvGrpSpPr>
            <p:cNvPr id="12" name="Group 12"/>
            <p:cNvGrpSpPr/>
            <p:nvPr/>
          </p:nvGrpSpPr>
          <p:grpSpPr>
            <a:xfrm>
              <a:off x="409491" y="889000"/>
              <a:ext cx="168358" cy="168359"/>
              <a:chOff x="409491" y="889000"/>
              <a:chExt cx="168358" cy="168359"/>
            </a:xfrm>
          </p:grpSpPr>
          <p:sp>
            <p:nvSpPr>
              <p:cNvPr id="9" name="Freeform 9"/>
              <p:cNvSpPr/>
              <p:nvPr/>
            </p:nvSpPr>
            <p:spPr>
              <a:xfrm>
                <a:off x="412750" y="889000"/>
                <a:ext cx="165099" cy="165099"/>
              </a:xfrm>
              <a:custGeom>
                <a:avLst/>
                <a:gdLst/>
                <a:ahLst/>
                <a:cxnLst/>
                <a:rect l="l" t="t" r="r" b="b"/>
                <a:pathLst>
                  <a:path w="165099" h="165099">
                    <a:moveTo>
                      <a:pt x="0" y="92868"/>
                    </a:moveTo>
                    <a:cubicBezTo>
                      <a:pt x="37872" y="97369"/>
                      <a:pt x="67730" y="127228"/>
                      <a:pt x="72231" y="165099"/>
                    </a:cubicBezTo>
                    <a:cubicBezTo>
                      <a:pt x="90774" y="154409"/>
                      <a:pt x="102481" y="134899"/>
                      <a:pt x="103187" y="113506"/>
                    </a:cubicBezTo>
                    <a:cubicBezTo>
                      <a:pt x="138619" y="101041"/>
                      <a:pt x="163055" y="68461"/>
                      <a:pt x="165099" y="30956"/>
                    </a:cubicBezTo>
                    <a:cubicBezTo>
                      <a:pt x="165099" y="13860"/>
                      <a:pt x="151240" y="0"/>
                      <a:pt x="134143" y="0"/>
                    </a:cubicBezTo>
                    <a:cubicBezTo>
                      <a:pt x="96638" y="2045"/>
                      <a:pt x="64058" y="26480"/>
                      <a:pt x="51594" y="61912"/>
                    </a:cubicBezTo>
                    <a:cubicBezTo>
                      <a:pt x="30201" y="62619"/>
                      <a:pt x="10691" y="74325"/>
                      <a:pt x="0" y="92868"/>
                    </a:cubicBezTo>
                  </a:path>
                </a:pathLst>
              </a:custGeom>
              <a:noFill/>
              <a:ln w="20637">
                <a:solidFill>
                  <a:srgbClr val="FFFFFF"/>
                </a:solidFill>
              </a:ln>
            </p:spPr>
          </p:sp>
          <p:sp>
            <p:nvSpPr>
              <p:cNvPr id="10" name="Freeform 10"/>
              <p:cNvSpPr/>
              <p:nvPr/>
            </p:nvSpPr>
            <p:spPr>
              <a:xfrm>
                <a:off x="409491" y="992187"/>
                <a:ext cx="65172" cy="65172"/>
              </a:xfrm>
              <a:custGeom>
                <a:avLst/>
                <a:gdLst/>
                <a:ahLst/>
                <a:cxnLst/>
                <a:rect l="l" t="t" r="r" b="b"/>
                <a:pathLst>
                  <a:path w="65172" h="65172">
                    <a:moveTo>
                      <a:pt x="34215" y="0"/>
                    </a:moveTo>
                    <a:cubicBezTo>
                      <a:pt x="12246" y="12403"/>
                      <a:pt x="0" y="36895"/>
                      <a:pt x="3259" y="61912"/>
                    </a:cubicBezTo>
                    <a:cubicBezTo>
                      <a:pt x="28276" y="65172"/>
                      <a:pt x="52769" y="52925"/>
                      <a:pt x="65172" y="30956"/>
                    </a:cubicBezTo>
                  </a:path>
                </a:pathLst>
              </a:custGeom>
              <a:noFill/>
              <a:ln w="20637">
                <a:solidFill>
                  <a:srgbClr val="FFFFFF"/>
                </a:solidFill>
              </a:ln>
            </p:spPr>
          </p:sp>
          <p:sp>
            <p:nvSpPr>
              <p:cNvPr id="11" name="Freeform 11"/>
              <p:cNvSpPr/>
              <p:nvPr/>
            </p:nvSpPr>
            <p:spPr>
              <a:xfrm>
                <a:off x="515937" y="930275"/>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FFFFFF"/>
                </a:solidFill>
              </a:ln>
            </p:spPr>
          </p:sp>
        </p:grpSp>
        <p:sp>
          <p:nvSpPr>
            <p:cNvPr id="13" name="TextBox 13"/>
            <p:cNvSpPr txBox="1"/>
            <p:nvPr/>
          </p:nvSpPr>
          <p:spPr>
            <a:xfrm>
              <a:off x="757238" y="772239"/>
              <a:ext cx="493417" cy="154781"/>
            </a:xfrm>
            <a:prstGeom prst="rect">
              <a:avLst/>
            </a:prstGeom>
            <a:noFill/>
            <a:ln>
              <a:noFill/>
            </a:ln>
          </p:spPr>
          <p:txBody>
            <a:bodyPr wrap="none" lIns="0" tIns="0" rIns="0" bIns="0" anchor="t" anchorCtr="0">
              <a:spAutoFit/>
            </a:bodyPr>
            <a:lstStyle/>
            <a:p>
              <a:pPr algn="l"/>
              <a:r>
                <a:rPr lang="zh-CN" sz="790" dirty="0">
                  <a:solidFill>
                    <a:srgbClr val="5F6F6A"/>
                  </a:solidFill>
                  <a:latin typeface="+mn-lt"/>
                  <a:ea typeface="+mn-ea"/>
                  <a:cs typeface="+mn-cs"/>
                </a:rPr>
                <a:t>投放金额​</a:t>
              </a:r>
            </a:p>
          </p:txBody>
        </p:sp>
        <p:sp>
          <p:nvSpPr>
            <p:cNvPr id="14" name="TextBox 14"/>
            <p:cNvSpPr txBox="1"/>
            <p:nvPr/>
          </p:nvSpPr>
          <p:spPr>
            <a:xfrm>
              <a:off x="754380" y="904875"/>
              <a:ext cx="959532" cy="293370"/>
            </a:xfrm>
            <a:prstGeom prst="rect">
              <a:avLst/>
            </a:prstGeom>
            <a:noFill/>
            <a:ln>
              <a:noFill/>
            </a:ln>
          </p:spPr>
          <p:txBody>
            <a:bodyPr wrap="none" lIns="0" tIns="0" rIns="0" bIns="0" anchor="t" anchorCtr="0">
              <a:spAutoFit/>
            </a:bodyPr>
            <a:lstStyle/>
            <a:p>
              <a:pPr algn="l"/>
              <a:r>
                <a:rPr lang="zh-CN" sz="1500" b="1" dirty="0">
                  <a:solidFill>
                    <a:srgbClr val="5B180B"/>
                  </a:solidFill>
                  <a:latin typeface="+mn-lt"/>
                  <a:ea typeface="+mn-ea"/>
                  <a:cs typeface="+mn-cs"/>
                </a:rPr>
                <a:t>3,800</a:t>
              </a:r>
              <a:r>
                <a:rPr lang="zh-CN" sz="790" dirty="0">
                  <a:solidFill>
                    <a:srgbClr val="5F6F6A"/>
                  </a:solidFill>
                  <a:latin typeface="+mn-lt"/>
                  <a:ea typeface="+mn-ea"/>
                  <a:cs typeface="+mn-cs"/>
                </a:rPr>
                <a:t xml:space="preserve"> 万元</a:t>
              </a:r>
              <a:r>
                <a:rPr lang="zh-CN" sz="1500" b="1" dirty="0">
                  <a:solidFill>
                    <a:srgbClr val="5B180B"/>
                  </a:solidFill>
                  <a:latin typeface="+mn-lt"/>
                  <a:ea typeface="+mn-ea"/>
                  <a:cs typeface="+mn-cs"/>
                </a:rPr>
                <a:t>​</a:t>
              </a:r>
            </a:p>
          </p:txBody>
        </p:sp>
        <p:sp>
          <p:nvSpPr>
            <p:cNvPr id="15" name="TextBox 15"/>
            <p:cNvSpPr txBox="1"/>
            <p:nvPr/>
          </p:nvSpPr>
          <p:spPr>
            <a:xfrm>
              <a:off x="757238" y="1140857"/>
              <a:ext cx="509885" cy="126206"/>
            </a:xfrm>
            <a:prstGeom prst="rect">
              <a:avLst/>
            </a:prstGeom>
            <a:noFill/>
            <a:ln>
              <a:noFill/>
            </a:ln>
          </p:spPr>
          <p:txBody>
            <a:bodyPr wrap="none" lIns="0" tIns="0" rIns="0" bIns="0" anchor="t" anchorCtr="0">
              <a:spAutoFit/>
            </a:bodyPr>
            <a:lstStyle/>
            <a:p>
              <a:pPr algn="l"/>
              <a:r>
                <a:rPr lang="zh-CN" sz="640" dirty="0">
                  <a:solidFill>
                    <a:srgbClr val="9E402E"/>
                  </a:solidFill>
                  <a:latin typeface="+mn-lt"/>
                  <a:ea typeface="+mn-ea"/>
                  <a:cs typeface="+mn-cs"/>
                </a:rPr>
                <a:t>较Q3 +26%​</a:t>
              </a:r>
            </a:p>
          </p:txBody>
        </p:sp>
        <p:sp>
          <p:nvSpPr>
            <p:cNvPr id="16" name="Rectangle 16"/>
            <p:cNvSpPr/>
            <p:nvPr/>
          </p:nvSpPr>
          <p:spPr>
            <a:xfrm>
              <a:off x="2590800" y="666750"/>
              <a:ext cx="2266950" cy="609600"/>
            </a:xfrm>
            <a:prstGeom prst="roundRect">
              <a:avLst>
                <a:gd name="adj" fmla="val 12500"/>
              </a:avLst>
            </a:prstGeom>
            <a:solidFill>
              <a:srgbClr val="F5FAF8"/>
            </a:solidFill>
            <a:ln w="9525">
              <a:solidFill>
                <a:srgbClr val="D9E8E2"/>
              </a:solidFill>
            </a:ln>
          </p:spPr>
        </p:sp>
        <p:sp>
          <p:nvSpPr>
            <p:cNvPr id="17" name="Ellipse 17"/>
            <p:cNvSpPr/>
            <p:nvPr/>
          </p:nvSpPr>
          <p:spPr>
            <a:xfrm>
              <a:off x="2686050" y="800100"/>
              <a:ext cx="342900" cy="342900"/>
            </a:xfrm>
            <a:prstGeom prst="ellipse">
              <a:avLst/>
            </a:prstGeom>
            <a:solidFill>
              <a:srgbClr val="5B180B"/>
            </a:solidFill>
            <a:ln>
              <a:noFill/>
            </a:ln>
          </p:spPr>
        </p:sp>
        <p:grpSp>
          <p:nvGrpSpPr>
            <p:cNvPr id="22" name="Group 22"/>
            <p:cNvGrpSpPr/>
            <p:nvPr/>
          </p:nvGrpSpPr>
          <p:grpSpPr>
            <a:xfrm>
              <a:off x="2764631" y="878681"/>
              <a:ext cx="185737" cy="185738"/>
              <a:chOff x="2764631" y="878681"/>
              <a:chExt cx="185737" cy="185738"/>
            </a:xfrm>
          </p:grpSpPr>
          <p:sp>
            <p:nvSpPr>
              <p:cNvPr id="18" name="Freeform 18"/>
              <p:cNvSpPr/>
              <p:nvPr/>
            </p:nvSpPr>
            <p:spPr>
              <a:xfrm>
                <a:off x="2785269" y="8786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19" name="Freeform 19"/>
              <p:cNvSpPr/>
              <p:nvPr/>
            </p:nvSpPr>
            <p:spPr>
              <a:xfrm>
                <a:off x="2764631" y="10025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20" name="Freeform 20"/>
              <p:cNvSpPr/>
              <p:nvPr/>
            </p:nvSpPr>
            <p:spPr>
              <a:xfrm>
                <a:off x="2898774" y="8800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21" name="Freeform 21"/>
              <p:cNvSpPr/>
              <p:nvPr/>
            </p:nvSpPr>
            <p:spPr>
              <a:xfrm>
                <a:off x="2919412" y="10040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23" name="TextBox 23"/>
            <p:cNvSpPr txBox="1"/>
            <p:nvPr/>
          </p:nvSpPr>
          <p:spPr>
            <a:xfrm>
              <a:off x="3119438" y="772239"/>
              <a:ext cx="493417" cy="154781"/>
            </a:xfrm>
            <a:prstGeom prst="rect">
              <a:avLst/>
            </a:prstGeom>
            <a:noFill/>
            <a:ln>
              <a:noFill/>
            </a:ln>
          </p:spPr>
          <p:txBody>
            <a:bodyPr wrap="none" lIns="0" tIns="0" rIns="0" bIns="0" anchor="t" anchorCtr="0">
              <a:spAutoFit/>
            </a:bodyPr>
            <a:lstStyle/>
            <a:p>
              <a:pPr algn="l"/>
              <a:r>
                <a:rPr lang="zh-CN" sz="790" dirty="0">
                  <a:solidFill>
                    <a:srgbClr val="5F6F6A"/>
                  </a:solidFill>
                  <a:latin typeface="+mn-lt"/>
                  <a:ea typeface="+mn-ea"/>
                  <a:cs typeface="+mn-cs"/>
                </a:rPr>
                <a:t>有效线索​</a:t>
              </a:r>
            </a:p>
          </p:txBody>
        </p:sp>
        <p:sp>
          <p:nvSpPr>
            <p:cNvPr id="24" name="TextBox 24"/>
            <p:cNvSpPr txBox="1"/>
            <p:nvPr/>
          </p:nvSpPr>
          <p:spPr>
            <a:xfrm>
              <a:off x="3116580" y="904875"/>
              <a:ext cx="619953" cy="293370"/>
            </a:xfrm>
            <a:prstGeom prst="rect">
              <a:avLst/>
            </a:prstGeom>
            <a:noFill/>
            <a:ln>
              <a:noFill/>
            </a:ln>
          </p:spPr>
          <p:txBody>
            <a:bodyPr wrap="none" lIns="0" tIns="0" rIns="0" bIns="0" anchor="t" anchorCtr="0">
              <a:spAutoFit/>
            </a:bodyPr>
            <a:lstStyle/>
            <a:p>
              <a:pPr algn="l"/>
              <a:r>
                <a:rPr lang="zh-CN" sz="1500" b="1" dirty="0">
                  <a:solidFill>
                    <a:srgbClr val="5B180B"/>
                  </a:solidFill>
                  <a:latin typeface="+mn-lt"/>
                  <a:ea typeface="+mn-ea"/>
                  <a:cs typeface="+mn-cs"/>
                </a:rPr>
                <a:t>960</a:t>
              </a:r>
              <a:r>
                <a:rPr lang="zh-CN" sz="790" dirty="0">
                  <a:solidFill>
                    <a:srgbClr val="5F6F6A"/>
                  </a:solidFill>
                  <a:latin typeface="+mn-lt"/>
                  <a:ea typeface="+mn-ea"/>
                  <a:cs typeface="+mn-cs"/>
                </a:rPr>
                <a:t xml:space="preserve"> 个</a:t>
              </a:r>
              <a:r>
                <a:rPr lang="zh-CN" sz="1500" b="1" dirty="0">
                  <a:solidFill>
                    <a:srgbClr val="5B180B"/>
                  </a:solidFill>
                  <a:latin typeface="+mn-lt"/>
                  <a:ea typeface="+mn-ea"/>
                  <a:cs typeface="+mn-cs"/>
                </a:rPr>
                <a:t>​</a:t>
              </a:r>
            </a:p>
          </p:txBody>
        </p:sp>
        <p:sp>
          <p:nvSpPr>
            <p:cNvPr id="25" name="TextBox 25"/>
            <p:cNvSpPr txBox="1"/>
            <p:nvPr/>
          </p:nvSpPr>
          <p:spPr>
            <a:xfrm>
              <a:off x="3119438" y="1140857"/>
              <a:ext cx="67293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线索有效率 40%​</a:t>
              </a:r>
            </a:p>
          </p:txBody>
        </p:sp>
        <p:sp>
          <p:nvSpPr>
            <p:cNvPr id="26" name="Rectangle 26"/>
            <p:cNvSpPr/>
            <p:nvPr/>
          </p:nvSpPr>
          <p:spPr>
            <a:xfrm>
              <a:off x="4953000" y="666750"/>
              <a:ext cx="2266950" cy="609600"/>
            </a:xfrm>
            <a:prstGeom prst="roundRect">
              <a:avLst>
                <a:gd name="adj" fmla="val 12500"/>
              </a:avLst>
            </a:prstGeom>
            <a:solidFill>
              <a:srgbClr val="F5FAF8"/>
            </a:solidFill>
            <a:ln w="9525">
              <a:solidFill>
                <a:srgbClr val="D9E8E2"/>
              </a:solidFill>
            </a:ln>
          </p:spPr>
        </p:sp>
        <p:sp>
          <p:nvSpPr>
            <p:cNvPr id="27" name="Ellipse 27"/>
            <p:cNvSpPr/>
            <p:nvPr/>
          </p:nvSpPr>
          <p:spPr>
            <a:xfrm>
              <a:off x="5048250" y="800100"/>
              <a:ext cx="342900" cy="342900"/>
            </a:xfrm>
            <a:prstGeom prst="ellipse">
              <a:avLst/>
            </a:prstGeom>
            <a:solidFill>
              <a:srgbClr val="5B180B"/>
            </a:solidFill>
            <a:ln>
              <a:noFill/>
            </a:ln>
          </p:spPr>
        </p:sp>
        <p:grpSp>
          <p:nvGrpSpPr>
            <p:cNvPr id="30" name="Group 30"/>
            <p:cNvGrpSpPr/>
            <p:nvPr/>
          </p:nvGrpSpPr>
          <p:grpSpPr>
            <a:xfrm>
              <a:off x="5126831" y="878681"/>
              <a:ext cx="185737" cy="185737"/>
              <a:chOff x="5126831" y="878681"/>
              <a:chExt cx="185737" cy="185737"/>
            </a:xfrm>
          </p:grpSpPr>
          <p:sp>
            <p:nvSpPr>
              <p:cNvPr id="28" name="Freeform 28"/>
              <p:cNvSpPr/>
              <p:nvPr/>
            </p:nvSpPr>
            <p:spPr>
              <a:xfrm>
                <a:off x="5126831" y="8786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sp>
            <p:nvSpPr>
              <p:cNvPr id="29" name="Freeform 29"/>
              <p:cNvSpPr/>
              <p:nvPr/>
            </p:nvSpPr>
            <p:spPr>
              <a:xfrm>
                <a:off x="5188743" y="950912"/>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31" name="TextBox 31"/>
            <p:cNvSpPr txBox="1"/>
            <p:nvPr/>
          </p:nvSpPr>
          <p:spPr>
            <a:xfrm>
              <a:off x="5481638" y="772239"/>
              <a:ext cx="599766" cy="154781"/>
            </a:xfrm>
            <a:prstGeom prst="rect">
              <a:avLst/>
            </a:prstGeom>
            <a:noFill/>
            <a:ln>
              <a:noFill/>
            </a:ln>
          </p:spPr>
          <p:txBody>
            <a:bodyPr wrap="none" lIns="0" tIns="0" rIns="0" bIns="0" anchor="t" anchorCtr="0">
              <a:spAutoFit/>
            </a:bodyPr>
            <a:lstStyle/>
            <a:p>
              <a:pPr algn="l"/>
              <a:r>
                <a:rPr lang="zh-CN" sz="790" dirty="0">
                  <a:solidFill>
                    <a:srgbClr val="5F6F6A"/>
                  </a:solidFill>
                  <a:latin typeface="+mn-lt"/>
                  <a:ea typeface="+mn-ea"/>
                  <a:cs typeface="+mn-cs"/>
                </a:rPr>
                <a:t>审批通过率​</a:t>
              </a:r>
            </a:p>
          </p:txBody>
        </p:sp>
        <p:sp>
          <p:nvSpPr>
            <p:cNvPr id="32" name="TextBox 32"/>
            <p:cNvSpPr txBox="1"/>
            <p:nvPr/>
          </p:nvSpPr>
          <p:spPr>
            <a:xfrm>
              <a:off x="5478780" y="904875"/>
              <a:ext cx="524104" cy="293370"/>
            </a:xfrm>
            <a:prstGeom prst="rect">
              <a:avLst/>
            </a:prstGeom>
            <a:noFill/>
            <a:ln>
              <a:noFill/>
            </a:ln>
          </p:spPr>
          <p:txBody>
            <a:bodyPr wrap="none" lIns="0" tIns="0" rIns="0" bIns="0" anchor="t" anchorCtr="0">
              <a:spAutoFit/>
            </a:bodyPr>
            <a:lstStyle/>
            <a:p>
              <a:pPr algn="l"/>
              <a:r>
                <a:rPr lang="zh-CN" sz="1500" b="1" dirty="0">
                  <a:solidFill>
                    <a:srgbClr val="5B180B"/>
                  </a:solidFill>
                  <a:latin typeface="+mn-lt"/>
                  <a:ea typeface="+mn-ea"/>
                  <a:cs typeface="+mn-cs"/>
                </a:rPr>
                <a:t>68%​</a:t>
              </a:r>
            </a:p>
          </p:txBody>
        </p:sp>
        <p:sp>
          <p:nvSpPr>
            <p:cNvPr id="33" name="TextBox 33"/>
            <p:cNvSpPr txBox="1"/>
            <p:nvPr/>
          </p:nvSpPr>
          <p:spPr>
            <a:xfrm>
              <a:off x="5481638" y="1140857"/>
              <a:ext cx="586776"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行业对标 60%​</a:t>
              </a:r>
            </a:p>
          </p:txBody>
        </p:sp>
        <p:sp>
          <p:nvSpPr>
            <p:cNvPr id="34" name="Rectangle 34"/>
            <p:cNvSpPr/>
            <p:nvPr/>
          </p:nvSpPr>
          <p:spPr>
            <a:xfrm>
              <a:off x="7315200" y="666750"/>
              <a:ext cx="2266950" cy="609600"/>
            </a:xfrm>
            <a:prstGeom prst="roundRect">
              <a:avLst>
                <a:gd name="adj" fmla="val 12500"/>
              </a:avLst>
            </a:prstGeom>
            <a:solidFill>
              <a:srgbClr val="F5FAF8"/>
            </a:solidFill>
            <a:ln w="9525">
              <a:solidFill>
                <a:srgbClr val="D9E8E2"/>
              </a:solidFill>
            </a:ln>
          </p:spPr>
        </p:sp>
        <p:sp>
          <p:nvSpPr>
            <p:cNvPr id="35" name="Ellipse 35"/>
            <p:cNvSpPr/>
            <p:nvPr/>
          </p:nvSpPr>
          <p:spPr>
            <a:xfrm>
              <a:off x="7410450" y="800100"/>
              <a:ext cx="342900" cy="342900"/>
            </a:xfrm>
            <a:prstGeom prst="ellipse">
              <a:avLst/>
            </a:prstGeom>
            <a:solidFill>
              <a:srgbClr val="5B180B"/>
            </a:solidFill>
            <a:ln>
              <a:noFill/>
            </a:ln>
          </p:spPr>
        </p:sp>
        <p:grpSp>
          <p:nvGrpSpPr>
            <p:cNvPr id="38" name="Group 38"/>
            <p:cNvGrpSpPr/>
            <p:nvPr/>
          </p:nvGrpSpPr>
          <p:grpSpPr>
            <a:xfrm>
              <a:off x="7489031" y="878681"/>
              <a:ext cx="185737" cy="185737"/>
              <a:chOff x="7489031" y="878681"/>
              <a:chExt cx="185737" cy="185737"/>
            </a:xfrm>
          </p:grpSpPr>
          <p:sp>
            <p:nvSpPr>
              <p:cNvPr id="36" name="Freeform 36"/>
              <p:cNvSpPr/>
              <p:nvPr/>
            </p:nvSpPr>
            <p:spPr>
              <a:xfrm>
                <a:off x="7489031" y="8786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sp>
            <p:nvSpPr>
              <p:cNvPr id="37" name="Freeform 37"/>
              <p:cNvSpPr/>
              <p:nvPr/>
            </p:nvSpPr>
            <p:spPr>
              <a:xfrm>
                <a:off x="7581900" y="919956"/>
                <a:ext cx="30956" cy="82550"/>
              </a:xfrm>
              <a:custGeom>
                <a:avLst/>
                <a:gdLst/>
                <a:ahLst/>
                <a:cxnLst/>
                <a:rect l="l" t="t" r="r" b="b"/>
                <a:pathLst>
                  <a:path w="30956" h="82550">
                    <a:moveTo>
                      <a:pt x="0" y="0"/>
                    </a:moveTo>
                    <a:lnTo>
                      <a:pt x="0" y="51594"/>
                    </a:lnTo>
                    <a:lnTo>
                      <a:pt x="30956" y="82550"/>
                    </a:lnTo>
                  </a:path>
                </a:pathLst>
              </a:custGeom>
              <a:noFill/>
              <a:ln w="20637">
                <a:solidFill>
                  <a:srgbClr val="FFFFFF"/>
                </a:solidFill>
              </a:ln>
            </p:spPr>
          </p:sp>
        </p:grpSp>
        <p:sp>
          <p:nvSpPr>
            <p:cNvPr id="39" name="TextBox 39"/>
            <p:cNvSpPr txBox="1"/>
            <p:nvPr/>
          </p:nvSpPr>
          <p:spPr>
            <a:xfrm>
              <a:off x="7843838" y="772239"/>
              <a:ext cx="493417" cy="154781"/>
            </a:xfrm>
            <a:prstGeom prst="rect">
              <a:avLst/>
            </a:prstGeom>
            <a:noFill/>
            <a:ln>
              <a:noFill/>
            </a:ln>
          </p:spPr>
          <p:txBody>
            <a:bodyPr wrap="none" lIns="0" tIns="0" rIns="0" bIns="0" anchor="t" anchorCtr="0">
              <a:spAutoFit/>
            </a:bodyPr>
            <a:lstStyle/>
            <a:p>
              <a:pPr algn="l"/>
              <a:r>
                <a:rPr lang="zh-CN" sz="790" dirty="0">
                  <a:solidFill>
                    <a:srgbClr val="5F6F6A"/>
                  </a:solidFill>
                  <a:latin typeface="+mn-lt"/>
                  <a:ea typeface="+mn-ea"/>
                  <a:cs typeface="+mn-cs"/>
                </a:rPr>
                <a:t>平均用时​</a:t>
              </a:r>
            </a:p>
          </p:txBody>
        </p:sp>
        <p:sp>
          <p:nvSpPr>
            <p:cNvPr id="40" name="TextBox 40"/>
            <p:cNvSpPr txBox="1"/>
            <p:nvPr/>
          </p:nvSpPr>
          <p:spPr>
            <a:xfrm>
              <a:off x="7840980" y="904875"/>
              <a:ext cx="619953" cy="293370"/>
            </a:xfrm>
            <a:prstGeom prst="rect">
              <a:avLst/>
            </a:prstGeom>
            <a:noFill/>
            <a:ln>
              <a:noFill/>
            </a:ln>
          </p:spPr>
          <p:txBody>
            <a:bodyPr wrap="none" lIns="0" tIns="0" rIns="0" bIns="0" anchor="t" anchorCtr="0">
              <a:spAutoFit/>
            </a:bodyPr>
            <a:lstStyle/>
            <a:p>
              <a:pPr algn="l"/>
              <a:r>
                <a:rPr lang="zh-CN" sz="1500" b="1" dirty="0">
                  <a:solidFill>
                    <a:srgbClr val="5B180B"/>
                  </a:solidFill>
                  <a:latin typeface="+mn-lt"/>
                  <a:ea typeface="+mn-ea"/>
                  <a:cs typeface="+mn-cs"/>
                </a:rPr>
                <a:t>1.6</a:t>
              </a:r>
              <a:r>
                <a:rPr lang="zh-CN" sz="790" dirty="0">
                  <a:solidFill>
                    <a:srgbClr val="5F6F6A"/>
                  </a:solidFill>
                  <a:latin typeface="+mn-lt"/>
                  <a:ea typeface="+mn-ea"/>
                  <a:cs typeface="+mn-cs"/>
                </a:rPr>
                <a:t xml:space="preserve"> 天</a:t>
              </a:r>
              <a:r>
                <a:rPr lang="zh-CN" sz="1500" b="1" dirty="0">
                  <a:solidFill>
                    <a:srgbClr val="5B180B"/>
                  </a:solidFill>
                  <a:latin typeface="+mn-lt"/>
                  <a:ea typeface="+mn-ea"/>
                  <a:cs typeface="+mn-cs"/>
                </a:rPr>
                <a:t>​</a:t>
              </a:r>
            </a:p>
          </p:txBody>
        </p:sp>
        <p:sp>
          <p:nvSpPr>
            <p:cNvPr id="41" name="TextBox 41"/>
            <p:cNvSpPr txBox="1"/>
            <p:nvPr/>
          </p:nvSpPr>
          <p:spPr>
            <a:xfrm>
              <a:off x="7843838" y="1140857"/>
              <a:ext cx="575153" cy="126206"/>
            </a:xfrm>
            <a:prstGeom prst="rect">
              <a:avLst/>
            </a:prstGeom>
            <a:noFill/>
            <a:ln>
              <a:noFill/>
            </a:ln>
          </p:spPr>
          <p:txBody>
            <a:bodyPr wrap="none" lIns="0" tIns="0" rIns="0" bIns="0" anchor="t" anchorCtr="0">
              <a:spAutoFit/>
            </a:bodyPr>
            <a:lstStyle/>
            <a:p>
              <a:pPr algn="l"/>
              <a:r>
                <a:rPr lang="zh-CN" sz="640" dirty="0">
                  <a:solidFill>
                    <a:srgbClr val="9E402E"/>
                  </a:solidFill>
                  <a:latin typeface="+mn-lt"/>
                  <a:ea typeface="+mn-ea"/>
                  <a:cs typeface="+mn-cs"/>
                </a:rPr>
                <a:t>较Q3 -0.4天​</a:t>
              </a:r>
            </a:p>
          </p:txBody>
        </p:sp>
        <p:sp>
          <p:nvSpPr>
            <p:cNvPr id="42" name="Rectangle 42"/>
            <p:cNvSpPr/>
            <p:nvPr/>
          </p:nvSpPr>
          <p:spPr>
            <a:xfrm>
              <a:off x="9677400" y="666750"/>
              <a:ext cx="2266950" cy="609600"/>
            </a:xfrm>
            <a:prstGeom prst="roundRect">
              <a:avLst>
                <a:gd name="adj" fmla="val 12500"/>
              </a:avLst>
            </a:prstGeom>
            <a:solidFill>
              <a:srgbClr val="F5FAF8"/>
            </a:solidFill>
            <a:ln w="9525">
              <a:solidFill>
                <a:srgbClr val="D9E8E2"/>
              </a:solidFill>
            </a:ln>
          </p:spPr>
        </p:sp>
        <p:sp>
          <p:nvSpPr>
            <p:cNvPr id="43" name="Ellipse 43"/>
            <p:cNvSpPr/>
            <p:nvPr/>
          </p:nvSpPr>
          <p:spPr>
            <a:xfrm>
              <a:off x="9772650" y="800100"/>
              <a:ext cx="342900" cy="342900"/>
            </a:xfrm>
            <a:prstGeom prst="ellipse">
              <a:avLst/>
            </a:prstGeom>
            <a:solidFill>
              <a:srgbClr val="5B180B"/>
            </a:solidFill>
            <a:ln>
              <a:noFill/>
            </a:ln>
          </p:spPr>
        </p:sp>
        <p:grpSp>
          <p:nvGrpSpPr>
            <p:cNvPr id="46" name="Group 46"/>
            <p:cNvGrpSpPr/>
            <p:nvPr/>
          </p:nvGrpSpPr>
          <p:grpSpPr>
            <a:xfrm>
              <a:off x="9851231" y="919956"/>
              <a:ext cx="185737" cy="103187"/>
              <a:chOff x="9851231" y="919956"/>
              <a:chExt cx="185737" cy="103187"/>
            </a:xfrm>
          </p:grpSpPr>
          <p:sp>
            <p:nvSpPr>
              <p:cNvPr id="44" name="Freeform 44"/>
              <p:cNvSpPr/>
              <p:nvPr/>
            </p:nvSpPr>
            <p:spPr>
              <a:xfrm>
                <a:off x="9851231" y="919956"/>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FFFFFF"/>
                </a:solidFill>
              </a:ln>
            </p:spPr>
          </p:sp>
          <p:sp>
            <p:nvSpPr>
              <p:cNvPr id="45" name="Freeform 45"/>
              <p:cNvSpPr/>
              <p:nvPr/>
            </p:nvSpPr>
            <p:spPr>
              <a:xfrm>
                <a:off x="9964737" y="919956"/>
                <a:ext cx="72231" cy="72231"/>
              </a:xfrm>
              <a:custGeom>
                <a:avLst/>
                <a:gdLst/>
                <a:ahLst/>
                <a:cxnLst/>
                <a:rect l="l" t="t" r="r" b="b"/>
                <a:pathLst>
                  <a:path w="72231" h="72231">
                    <a:moveTo>
                      <a:pt x="0" y="0"/>
                    </a:moveTo>
                    <a:lnTo>
                      <a:pt x="72231" y="0"/>
                    </a:lnTo>
                    <a:lnTo>
                      <a:pt x="72231" y="72231"/>
                    </a:lnTo>
                  </a:path>
                </a:pathLst>
              </a:custGeom>
              <a:noFill/>
              <a:ln w="20637">
                <a:solidFill>
                  <a:srgbClr val="FFFFFF"/>
                </a:solidFill>
              </a:ln>
            </p:spPr>
          </p:sp>
        </p:grpSp>
        <p:sp>
          <p:nvSpPr>
            <p:cNvPr id="47" name="TextBox 47"/>
            <p:cNvSpPr txBox="1"/>
            <p:nvPr/>
          </p:nvSpPr>
          <p:spPr>
            <a:xfrm>
              <a:off x="10206038" y="772239"/>
              <a:ext cx="706116" cy="154781"/>
            </a:xfrm>
            <a:prstGeom prst="rect">
              <a:avLst/>
            </a:prstGeom>
            <a:noFill/>
            <a:ln>
              <a:noFill/>
            </a:ln>
          </p:spPr>
          <p:txBody>
            <a:bodyPr wrap="none" lIns="0" tIns="0" rIns="0" bIns="0" anchor="t" anchorCtr="0">
              <a:spAutoFit/>
            </a:bodyPr>
            <a:lstStyle/>
            <a:p>
              <a:pPr algn="l"/>
              <a:r>
                <a:rPr lang="zh-CN" sz="790" dirty="0">
                  <a:solidFill>
                    <a:srgbClr val="5F6F6A"/>
                  </a:solidFill>
                  <a:latin typeface="+mn-lt"/>
                  <a:ea typeface="+mn-ea"/>
                  <a:cs typeface="+mn-cs"/>
                </a:rPr>
                <a:t>风险定价收益​</a:t>
              </a:r>
            </a:p>
          </p:txBody>
        </p:sp>
        <p:sp>
          <p:nvSpPr>
            <p:cNvPr id="48" name="TextBox 48"/>
            <p:cNvSpPr txBox="1"/>
            <p:nvPr/>
          </p:nvSpPr>
          <p:spPr>
            <a:xfrm>
              <a:off x="10203180" y="904875"/>
              <a:ext cx="640718" cy="293370"/>
            </a:xfrm>
            <a:prstGeom prst="rect">
              <a:avLst/>
            </a:prstGeom>
            <a:noFill/>
            <a:ln>
              <a:noFill/>
            </a:ln>
          </p:spPr>
          <p:txBody>
            <a:bodyPr wrap="none" lIns="0" tIns="0" rIns="0" bIns="0" anchor="t" anchorCtr="0">
              <a:spAutoFit/>
            </a:bodyPr>
            <a:lstStyle/>
            <a:p>
              <a:pPr algn="l"/>
              <a:r>
                <a:rPr lang="zh-CN" sz="1500" b="1" dirty="0">
                  <a:solidFill>
                    <a:srgbClr val="5B180B"/>
                  </a:solidFill>
                  <a:latin typeface="+mn-lt"/>
                  <a:ea typeface="+mn-ea"/>
                  <a:cs typeface="+mn-cs"/>
                </a:rPr>
                <a:t>6.2%​</a:t>
              </a:r>
            </a:p>
          </p:txBody>
        </p:sp>
        <p:sp>
          <p:nvSpPr>
            <p:cNvPr id="49" name="TextBox 49"/>
            <p:cNvSpPr txBox="1"/>
            <p:nvPr/>
          </p:nvSpPr>
          <p:spPr>
            <a:xfrm>
              <a:off x="10206038" y="1140857"/>
              <a:ext cx="833623" cy="126206"/>
            </a:xfrm>
            <a:prstGeom prst="rect">
              <a:avLst/>
            </a:prstGeom>
            <a:noFill/>
            <a:ln>
              <a:noFill/>
            </a:ln>
          </p:spPr>
          <p:txBody>
            <a:bodyPr wrap="none" lIns="0" tIns="0" rIns="0" bIns="0" anchor="t" anchorCtr="0">
              <a:spAutoFit/>
            </a:bodyPr>
            <a:lstStyle/>
            <a:p>
              <a:pPr algn="l"/>
              <a:r>
                <a:rPr lang="zh-CN" sz="640" dirty="0">
                  <a:solidFill>
                    <a:srgbClr val="9E402E"/>
                  </a:solidFill>
                  <a:latin typeface="+mn-lt"/>
                  <a:ea typeface="+mn-ea"/>
                  <a:cs typeface="+mn-cs"/>
                </a:rPr>
                <a:t>较Q3 +1.1个百分点​</a:t>
              </a:r>
            </a:p>
          </p:txBody>
        </p:sp>
      </p:grpSp>
      <p:grpSp>
        <p:nvGrpSpPr>
          <p:cNvPr id="131" name="scene-card"/>
          <p:cNvGrpSpPr/>
          <p:nvPr/>
        </p:nvGrpSpPr>
        <p:grpSpPr>
          <a:xfrm>
            <a:off x="228600" y="1371600"/>
            <a:ext cx="4152900" cy="2971800"/>
            <a:chOff x="228600" y="1371600"/>
            <a:chExt cx="4152900" cy="2971800"/>
          </a:xfrm>
        </p:grpSpPr>
        <p:sp>
          <p:nvSpPr>
            <p:cNvPr id="51" name="Rectangle 51"/>
            <p:cNvSpPr/>
            <p:nvPr/>
          </p:nvSpPr>
          <p:spPr>
            <a:xfrm>
              <a:off x="228600" y="1371600"/>
              <a:ext cx="4152900" cy="2971800"/>
            </a:xfrm>
            <a:prstGeom prst="roundRect">
              <a:avLst>
                <a:gd name="adj" fmla="val 3205"/>
              </a:avLst>
            </a:prstGeom>
            <a:solidFill>
              <a:srgbClr val="F5FAF8"/>
            </a:solidFill>
            <a:ln w="9525">
              <a:solidFill>
                <a:srgbClr val="D9E8E2"/>
              </a:solidFill>
            </a:ln>
          </p:spPr>
        </p:sp>
        <p:sp>
          <p:nvSpPr>
            <p:cNvPr id="52" name="Rectangle 52"/>
            <p:cNvSpPr/>
            <p:nvPr/>
          </p:nvSpPr>
          <p:spPr>
            <a:xfrm>
              <a:off x="342900" y="1466850"/>
              <a:ext cx="47625" cy="152400"/>
            </a:xfrm>
            <a:prstGeom prst="rect">
              <a:avLst/>
            </a:prstGeom>
            <a:solidFill>
              <a:srgbClr val="5B180B"/>
            </a:solidFill>
            <a:ln>
              <a:noFill/>
            </a:ln>
          </p:spPr>
        </p:sp>
        <p:sp>
          <p:nvSpPr>
            <p:cNvPr id="53" name="TextBox 53"/>
            <p:cNvSpPr txBox="1"/>
            <p:nvPr/>
          </p:nvSpPr>
          <p:spPr>
            <a:xfrm>
              <a:off x="452438" y="1489472"/>
              <a:ext cx="1474574"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五大家庭场景及客群画像​</a:t>
              </a:r>
            </a:p>
          </p:txBody>
        </p:sp>
        <p:grpSp>
          <p:nvGrpSpPr>
            <p:cNvPr id="59" name="Group 59"/>
            <p:cNvGrpSpPr/>
            <p:nvPr/>
          </p:nvGrpSpPr>
          <p:grpSpPr>
            <a:xfrm>
              <a:off x="323850" y="1676400"/>
              <a:ext cx="3981450" cy="228600"/>
              <a:chOff x="323850" y="1676400"/>
              <a:chExt cx="3981450" cy="228600"/>
            </a:xfrm>
          </p:grpSpPr>
          <p:sp>
            <p:nvSpPr>
              <p:cNvPr id="54" name="Rectangle 54"/>
              <p:cNvSpPr/>
              <p:nvPr/>
            </p:nvSpPr>
            <p:spPr>
              <a:xfrm>
                <a:off x="323850" y="1676400"/>
                <a:ext cx="3981450" cy="228600"/>
              </a:xfrm>
              <a:prstGeom prst="rect">
                <a:avLst/>
              </a:prstGeom>
              <a:solidFill>
                <a:srgbClr val="5B180B"/>
              </a:solidFill>
              <a:ln>
                <a:noFill/>
              </a:ln>
            </p:spPr>
          </p:sp>
          <p:sp>
            <p:nvSpPr>
              <p:cNvPr id="55" name="TextBox 55"/>
              <p:cNvSpPr txBox="1"/>
              <p:nvPr/>
            </p:nvSpPr>
            <p:spPr>
              <a:xfrm>
                <a:off x="522344" y="1747838"/>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场景​</a:t>
                </a:r>
              </a:p>
            </p:txBody>
          </p:sp>
          <p:sp>
            <p:nvSpPr>
              <p:cNvPr id="56" name="TextBox 56"/>
              <p:cNvSpPr txBox="1"/>
              <p:nvPr/>
            </p:nvSpPr>
            <p:spPr>
              <a:xfrm>
                <a:off x="1307204" y="1747838"/>
                <a:ext cx="47169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核心需求​</a:t>
                </a:r>
              </a:p>
            </p:txBody>
          </p:sp>
          <p:sp>
            <p:nvSpPr>
              <p:cNvPr id="57" name="TextBox 57"/>
              <p:cNvSpPr txBox="1"/>
              <p:nvPr/>
            </p:nvSpPr>
            <p:spPr>
              <a:xfrm>
                <a:off x="2501639" y="1747838"/>
                <a:ext cx="67362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典型客群画像​</a:t>
                </a:r>
              </a:p>
            </p:txBody>
          </p:sp>
          <p:sp>
            <p:nvSpPr>
              <p:cNvPr id="58" name="TextBox 58"/>
              <p:cNvSpPr txBox="1"/>
              <p:nvPr/>
            </p:nvSpPr>
            <p:spPr>
              <a:xfrm>
                <a:off x="3789419" y="1747838"/>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占比​</a:t>
                </a:r>
              </a:p>
            </p:txBody>
          </p:sp>
        </p:grpSp>
        <p:grpSp>
          <p:nvGrpSpPr>
            <p:cNvPr id="130" name="scene-rows"/>
            <p:cNvGrpSpPr/>
            <p:nvPr/>
          </p:nvGrpSpPr>
          <p:grpSpPr>
            <a:xfrm>
              <a:off x="323850" y="1905000"/>
              <a:ext cx="3981450" cy="2381250"/>
              <a:chOff x="323850" y="1905000"/>
              <a:chExt cx="3981450" cy="2381250"/>
            </a:xfrm>
          </p:grpSpPr>
          <p:sp>
            <p:nvSpPr>
              <p:cNvPr id="60" name="Rectangle 60"/>
              <p:cNvSpPr/>
              <p:nvPr/>
            </p:nvSpPr>
            <p:spPr>
              <a:xfrm>
                <a:off x="323850" y="1905000"/>
                <a:ext cx="3981450" cy="476250"/>
              </a:xfrm>
              <a:prstGeom prst="rect">
                <a:avLst/>
              </a:prstGeom>
              <a:solidFill>
                <a:srgbClr val="FFFFFF"/>
              </a:solidFill>
              <a:ln w="7620">
                <a:solidFill>
                  <a:srgbClr val="D9E8E2"/>
                </a:solidFill>
              </a:ln>
            </p:spPr>
          </p:sp>
          <p:grpSp>
            <p:nvGrpSpPr>
              <p:cNvPr id="64" name="Group 64"/>
              <p:cNvGrpSpPr/>
              <p:nvPr/>
            </p:nvGrpSpPr>
            <p:grpSpPr>
              <a:xfrm>
                <a:off x="578644" y="1988344"/>
                <a:ext cx="157163" cy="157162"/>
                <a:chOff x="578644" y="1988344"/>
                <a:chExt cx="157163" cy="157162"/>
              </a:xfrm>
            </p:grpSpPr>
            <p:sp>
              <p:nvSpPr>
                <p:cNvPr id="61" name="Freeform 61"/>
                <p:cNvSpPr/>
                <p:nvPr/>
              </p:nvSpPr>
              <p:spPr>
                <a:xfrm>
                  <a:off x="578644" y="1988344"/>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5B180B"/>
                  </a:solidFill>
                </a:ln>
              </p:spPr>
            </p:sp>
            <p:sp>
              <p:nvSpPr>
                <p:cNvPr id="62" name="Freeform 62"/>
                <p:cNvSpPr/>
                <p:nvPr/>
              </p:nvSpPr>
              <p:spPr>
                <a:xfrm>
                  <a:off x="596106" y="2066925"/>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5B180B"/>
                  </a:solidFill>
                </a:ln>
              </p:spPr>
            </p:sp>
            <p:sp>
              <p:nvSpPr>
                <p:cNvPr id="63" name="Freeform 63"/>
                <p:cNvSpPr/>
                <p:nvPr/>
              </p:nvSpPr>
              <p:spPr>
                <a:xfrm>
                  <a:off x="631031" y="2075656"/>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5B180B"/>
                  </a:solidFill>
                </a:ln>
              </p:spPr>
            </p:sp>
          </p:grpSp>
          <p:sp>
            <p:nvSpPr>
              <p:cNvPr id="65" name="TextBox 65"/>
              <p:cNvSpPr txBox="1"/>
              <p:nvPr/>
            </p:nvSpPr>
            <p:spPr>
              <a:xfrm>
                <a:off x="522344" y="2233612"/>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装修​</a:t>
                </a:r>
              </a:p>
            </p:txBody>
          </p:sp>
          <p:sp>
            <p:nvSpPr>
              <p:cNvPr id="66" name="TextBox 66"/>
              <p:cNvSpPr txBox="1"/>
              <p:nvPr/>
            </p:nvSpPr>
            <p:spPr>
              <a:xfrm>
                <a:off x="1023938" y="204573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改善居住环境​</a:t>
                </a:r>
              </a:p>
            </p:txBody>
          </p:sp>
          <p:sp>
            <p:nvSpPr>
              <p:cNvPr id="67" name="TextBox 67"/>
              <p:cNvSpPr txBox="1"/>
              <p:nvPr/>
            </p:nvSpPr>
            <p:spPr>
              <a:xfrm>
                <a:off x="1023938" y="2179082"/>
                <a:ext cx="8697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品质升级/局部翻新​</a:t>
                </a:r>
              </a:p>
            </p:txBody>
          </p:sp>
          <p:sp>
            <p:nvSpPr>
              <p:cNvPr id="68" name="TextBox 68"/>
              <p:cNvSpPr txBox="1"/>
              <p:nvPr/>
            </p:nvSpPr>
            <p:spPr>
              <a:xfrm>
                <a:off x="2147888" y="2007632"/>
                <a:ext cx="45619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25-45岁​</a:t>
                </a:r>
              </a:p>
            </p:txBody>
          </p:sp>
          <p:sp>
            <p:nvSpPr>
              <p:cNvPr id="69" name="TextBox 69"/>
              <p:cNvSpPr txBox="1"/>
              <p:nvPr/>
            </p:nvSpPr>
            <p:spPr>
              <a:xfrm>
                <a:off x="2147888" y="2121932"/>
                <a:ext cx="82236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有房产、稳定收入​</a:t>
                </a:r>
              </a:p>
            </p:txBody>
          </p:sp>
          <p:sp>
            <p:nvSpPr>
              <p:cNvPr id="70" name="TextBox 70"/>
              <p:cNvSpPr txBox="1"/>
              <p:nvPr/>
            </p:nvSpPr>
            <p:spPr>
              <a:xfrm>
                <a:off x="2147888" y="223623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注重生活品质​</a:t>
                </a:r>
              </a:p>
            </p:txBody>
          </p:sp>
          <p:sp>
            <p:nvSpPr>
              <p:cNvPr id="71" name="Ellipse 71"/>
              <p:cNvSpPr/>
              <p:nvPr/>
            </p:nvSpPr>
            <p:spPr>
              <a:xfrm>
                <a:off x="3814762" y="2033588"/>
                <a:ext cx="219075" cy="219075"/>
              </a:xfrm>
              <a:prstGeom prst="ellipse">
                <a:avLst/>
              </a:prstGeom>
              <a:noFill/>
              <a:ln w="47625">
                <a:solidFill>
                  <a:srgbClr val="DFF0EA"/>
                </a:solidFill>
              </a:ln>
            </p:spPr>
          </p:sp>
          <p:sp>
            <p:nvSpPr>
              <p:cNvPr id="72" name="Freeform 72"/>
              <p:cNvSpPr/>
              <p:nvPr/>
            </p:nvSpPr>
            <p:spPr>
              <a:xfrm>
                <a:off x="3790950" y="2009775"/>
                <a:ext cx="266700" cy="266700"/>
              </a:xfrm>
              <a:prstGeom prst="blockArc">
                <a:avLst>
                  <a:gd name="adj1" fmla="val 16200000"/>
                  <a:gd name="adj2" fmla="val 648000"/>
                  <a:gd name="adj3" fmla="val 17857"/>
                </a:avLst>
              </a:prstGeom>
              <a:solidFill>
                <a:srgbClr val="5B180B"/>
              </a:solidFill>
              <a:ln>
                <a:noFill/>
              </a:ln>
            </p:spPr>
          </p:sp>
          <p:sp>
            <p:nvSpPr>
              <p:cNvPr id="73" name="TextBox 73"/>
              <p:cNvSpPr txBox="1"/>
              <p:nvPr/>
            </p:nvSpPr>
            <p:spPr>
              <a:xfrm>
                <a:off x="3804195" y="2108359"/>
                <a:ext cx="240210"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28%​</a:t>
                </a:r>
              </a:p>
            </p:txBody>
          </p:sp>
          <p:sp>
            <p:nvSpPr>
              <p:cNvPr id="74" name="Rectangle 74"/>
              <p:cNvSpPr/>
              <p:nvPr/>
            </p:nvSpPr>
            <p:spPr>
              <a:xfrm>
                <a:off x="323850" y="2381250"/>
                <a:ext cx="3981450" cy="476250"/>
              </a:xfrm>
              <a:prstGeom prst="rect">
                <a:avLst/>
              </a:prstGeom>
              <a:solidFill>
                <a:srgbClr val="F7FBF9"/>
              </a:solidFill>
              <a:ln w="7620">
                <a:solidFill>
                  <a:srgbClr val="D9E8E2"/>
                </a:solidFill>
              </a:ln>
            </p:spPr>
          </p:sp>
          <p:grpSp>
            <p:nvGrpSpPr>
              <p:cNvPr id="78" name="Group 78"/>
              <p:cNvGrpSpPr/>
              <p:nvPr/>
            </p:nvGrpSpPr>
            <p:grpSpPr>
              <a:xfrm>
                <a:off x="584617" y="2473325"/>
                <a:ext cx="142458" cy="142458"/>
                <a:chOff x="584617" y="2473325"/>
                <a:chExt cx="142458" cy="142458"/>
              </a:xfrm>
            </p:grpSpPr>
            <p:sp>
              <p:nvSpPr>
                <p:cNvPr id="75" name="Freeform 75"/>
                <p:cNvSpPr/>
                <p:nvPr/>
              </p:nvSpPr>
              <p:spPr>
                <a:xfrm>
                  <a:off x="587375" y="2473325"/>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5B180B"/>
                  </a:solidFill>
                </a:ln>
              </p:spPr>
            </p:sp>
            <p:sp>
              <p:nvSpPr>
                <p:cNvPr id="76" name="Freeform 76"/>
                <p:cNvSpPr/>
                <p:nvPr/>
              </p:nvSpPr>
              <p:spPr>
                <a:xfrm>
                  <a:off x="584617" y="2560638"/>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5B180B"/>
                  </a:solidFill>
                </a:ln>
              </p:spPr>
            </p:sp>
            <p:sp>
              <p:nvSpPr>
                <p:cNvPr id="77" name="Freeform 77"/>
                <p:cNvSpPr/>
                <p:nvPr/>
              </p:nvSpPr>
              <p:spPr>
                <a:xfrm>
                  <a:off x="674688" y="2508250"/>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5B180B"/>
                  </a:solidFill>
                </a:ln>
              </p:spPr>
            </p:sp>
          </p:grpSp>
          <p:sp>
            <p:nvSpPr>
              <p:cNvPr id="79" name="TextBox 79"/>
              <p:cNvSpPr txBox="1"/>
              <p:nvPr/>
            </p:nvSpPr>
            <p:spPr>
              <a:xfrm>
                <a:off x="522344" y="2709862"/>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汽车​</a:t>
                </a:r>
              </a:p>
            </p:txBody>
          </p:sp>
          <p:sp>
            <p:nvSpPr>
              <p:cNvPr id="80" name="TextBox 80"/>
              <p:cNvSpPr txBox="1"/>
              <p:nvPr/>
            </p:nvSpPr>
            <p:spPr>
              <a:xfrm>
                <a:off x="1023938" y="2521982"/>
                <a:ext cx="830981"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新车/换车/新能源​</a:t>
                </a:r>
              </a:p>
            </p:txBody>
          </p:sp>
          <p:sp>
            <p:nvSpPr>
              <p:cNvPr id="81" name="TextBox 81"/>
              <p:cNvSpPr txBox="1"/>
              <p:nvPr/>
            </p:nvSpPr>
            <p:spPr>
              <a:xfrm>
                <a:off x="1023938" y="265533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家庭出行升级​</a:t>
                </a:r>
              </a:p>
            </p:txBody>
          </p:sp>
          <p:sp>
            <p:nvSpPr>
              <p:cNvPr id="82" name="TextBox 82"/>
              <p:cNvSpPr txBox="1"/>
              <p:nvPr/>
            </p:nvSpPr>
            <p:spPr>
              <a:xfrm>
                <a:off x="2147888" y="2483882"/>
                <a:ext cx="45619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25-40岁​</a:t>
                </a:r>
              </a:p>
            </p:txBody>
          </p:sp>
          <p:sp>
            <p:nvSpPr>
              <p:cNvPr id="83" name="TextBox 83"/>
              <p:cNvSpPr txBox="1"/>
              <p:nvPr/>
            </p:nvSpPr>
            <p:spPr>
              <a:xfrm>
                <a:off x="2147888" y="259818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有稳定工作​</a:t>
                </a:r>
              </a:p>
            </p:txBody>
          </p:sp>
          <p:sp>
            <p:nvSpPr>
              <p:cNvPr id="84" name="TextBox 84"/>
              <p:cNvSpPr txBox="1"/>
              <p:nvPr/>
            </p:nvSpPr>
            <p:spPr>
              <a:xfrm>
                <a:off x="2147888" y="2712482"/>
                <a:ext cx="90852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偏好分期，决策高效​</a:t>
                </a:r>
              </a:p>
            </p:txBody>
          </p:sp>
          <p:sp>
            <p:nvSpPr>
              <p:cNvPr id="85" name="Ellipse 85"/>
              <p:cNvSpPr/>
              <p:nvPr/>
            </p:nvSpPr>
            <p:spPr>
              <a:xfrm>
                <a:off x="3814762" y="2509838"/>
                <a:ext cx="219075" cy="219075"/>
              </a:xfrm>
              <a:prstGeom prst="ellipse">
                <a:avLst/>
              </a:prstGeom>
              <a:noFill/>
              <a:ln w="47625">
                <a:solidFill>
                  <a:srgbClr val="DFF0EA"/>
                </a:solidFill>
              </a:ln>
            </p:spPr>
          </p:sp>
          <p:sp>
            <p:nvSpPr>
              <p:cNvPr id="86" name="Freeform 86"/>
              <p:cNvSpPr/>
              <p:nvPr/>
            </p:nvSpPr>
            <p:spPr>
              <a:xfrm>
                <a:off x="3790950" y="2486025"/>
                <a:ext cx="266700" cy="266700"/>
              </a:xfrm>
              <a:prstGeom prst="blockArc">
                <a:avLst>
                  <a:gd name="adj1" fmla="val 16200000"/>
                  <a:gd name="adj2" fmla="val 21384000"/>
                  <a:gd name="adj3" fmla="val 17857"/>
                </a:avLst>
              </a:prstGeom>
              <a:solidFill>
                <a:srgbClr val="5B180B"/>
              </a:solidFill>
              <a:ln>
                <a:noFill/>
              </a:ln>
            </p:spPr>
          </p:sp>
          <p:sp>
            <p:nvSpPr>
              <p:cNvPr id="87" name="TextBox 87"/>
              <p:cNvSpPr txBox="1"/>
              <p:nvPr/>
            </p:nvSpPr>
            <p:spPr>
              <a:xfrm>
                <a:off x="3804195" y="2584609"/>
                <a:ext cx="240210"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24%​</a:t>
                </a:r>
              </a:p>
            </p:txBody>
          </p:sp>
          <p:sp>
            <p:nvSpPr>
              <p:cNvPr id="88" name="Rectangle 88"/>
              <p:cNvSpPr/>
              <p:nvPr/>
            </p:nvSpPr>
            <p:spPr>
              <a:xfrm>
                <a:off x="323850" y="2857500"/>
                <a:ext cx="3981450" cy="476250"/>
              </a:xfrm>
              <a:prstGeom prst="rect">
                <a:avLst/>
              </a:prstGeom>
              <a:solidFill>
                <a:srgbClr val="FFFFFF"/>
              </a:solidFill>
              <a:ln w="7620">
                <a:solidFill>
                  <a:srgbClr val="D9E8E2"/>
                </a:solidFill>
              </a:ln>
            </p:spPr>
          </p:sp>
          <p:grpSp>
            <p:nvGrpSpPr>
              <p:cNvPr id="91" name="Group 91"/>
              <p:cNvGrpSpPr/>
              <p:nvPr/>
            </p:nvGrpSpPr>
            <p:grpSpPr>
              <a:xfrm>
                <a:off x="569913" y="2958306"/>
                <a:ext cx="174625" cy="122238"/>
                <a:chOff x="569913" y="2958306"/>
                <a:chExt cx="174625" cy="122238"/>
              </a:xfrm>
            </p:grpSpPr>
            <p:sp>
              <p:nvSpPr>
                <p:cNvPr id="89" name="Freeform 89"/>
                <p:cNvSpPr/>
                <p:nvPr/>
              </p:nvSpPr>
              <p:spPr>
                <a:xfrm>
                  <a:off x="569913" y="2958306"/>
                  <a:ext cx="174625" cy="87313"/>
                </a:xfrm>
                <a:custGeom>
                  <a:avLst/>
                  <a:gdLst/>
                  <a:ahLst/>
                  <a:cxnLst/>
                  <a:rect l="l" t="t" r="r" b="b"/>
                  <a:pathLst>
                    <a:path w="174625" h="87313">
                      <a:moveTo>
                        <a:pt x="174625" y="34925"/>
                      </a:moveTo>
                      <a:lnTo>
                        <a:pt x="87313" y="0"/>
                      </a:lnTo>
                      <a:lnTo>
                        <a:pt x="0" y="34925"/>
                      </a:lnTo>
                      <a:lnTo>
                        <a:pt x="87313" y="69850"/>
                      </a:lnTo>
                      <a:lnTo>
                        <a:pt x="174625" y="34925"/>
                      </a:lnTo>
                      <a:lnTo>
                        <a:pt x="174625" y="87313"/>
                      </a:lnTo>
                    </a:path>
                  </a:pathLst>
                </a:custGeom>
                <a:noFill/>
                <a:ln w="17463">
                  <a:solidFill>
                    <a:srgbClr val="5B180B"/>
                  </a:solidFill>
                </a:ln>
              </p:spPr>
            </p:sp>
            <p:sp>
              <p:nvSpPr>
                <p:cNvPr id="90" name="Freeform 90"/>
                <p:cNvSpPr/>
                <p:nvPr/>
              </p:nvSpPr>
              <p:spPr>
                <a:xfrm>
                  <a:off x="604838" y="3007201"/>
                  <a:ext cx="104775" cy="73343"/>
                </a:xfrm>
                <a:custGeom>
                  <a:avLst/>
                  <a:gdLst/>
                  <a:ahLst/>
                  <a:cxnLst/>
                  <a:rect l="l" t="t" r="r" b="b"/>
                  <a:pathLst>
                    <a:path w="104775" h="73343">
                      <a:moveTo>
                        <a:pt x="0" y="0"/>
                      </a:moveTo>
                      <a:lnTo>
                        <a:pt x="0" y="47149"/>
                      </a:lnTo>
                      <a:cubicBezTo>
                        <a:pt x="0" y="61615"/>
                        <a:pt x="23455" y="73343"/>
                        <a:pt x="52388" y="73343"/>
                      </a:cubicBezTo>
                      <a:cubicBezTo>
                        <a:pt x="81320" y="73343"/>
                        <a:pt x="104775" y="61615"/>
                        <a:pt x="104775" y="47149"/>
                      </a:cubicBezTo>
                      <a:lnTo>
                        <a:pt x="104775" y="0"/>
                      </a:lnTo>
                    </a:path>
                  </a:pathLst>
                </a:custGeom>
                <a:noFill/>
                <a:ln w="17463">
                  <a:solidFill>
                    <a:srgbClr val="5B180B"/>
                  </a:solidFill>
                </a:ln>
              </p:spPr>
            </p:sp>
          </p:grpSp>
          <p:sp>
            <p:nvSpPr>
              <p:cNvPr id="92" name="TextBox 92"/>
              <p:cNvSpPr txBox="1"/>
              <p:nvPr/>
            </p:nvSpPr>
            <p:spPr>
              <a:xfrm>
                <a:off x="522344" y="3186112"/>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教育​</a:t>
                </a:r>
              </a:p>
            </p:txBody>
          </p:sp>
          <p:sp>
            <p:nvSpPr>
              <p:cNvPr id="93" name="TextBox 93"/>
              <p:cNvSpPr txBox="1"/>
              <p:nvPr/>
            </p:nvSpPr>
            <p:spPr>
              <a:xfrm>
                <a:off x="1023938" y="2998232"/>
                <a:ext cx="697438"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子女教育/留学​</a:t>
                </a:r>
              </a:p>
            </p:txBody>
          </p:sp>
          <p:sp>
            <p:nvSpPr>
              <p:cNvPr id="94" name="TextBox 94"/>
              <p:cNvSpPr txBox="1"/>
              <p:nvPr/>
            </p:nvSpPr>
            <p:spPr>
              <a:xfrm>
                <a:off x="1023938" y="313158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职业技能提升​</a:t>
                </a:r>
              </a:p>
            </p:txBody>
          </p:sp>
          <p:sp>
            <p:nvSpPr>
              <p:cNvPr id="95" name="TextBox 95"/>
              <p:cNvSpPr txBox="1"/>
              <p:nvPr/>
            </p:nvSpPr>
            <p:spPr>
              <a:xfrm>
                <a:off x="2147888" y="2960132"/>
                <a:ext cx="45619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28-50岁​</a:t>
                </a:r>
              </a:p>
            </p:txBody>
          </p:sp>
          <p:sp>
            <p:nvSpPr>
              <p:cNvPr id="96" name="TextBox 96"/>
              <p:cNvSpPr txBox="1"/>
              <p:nvPr/>
            </p:nvSpPr>
            <p:spPr>
              <a:xfrm>
                <a:off x="2147888" y="307443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有子女家庭​</a:t>
                </a:r>
              </a:p>
            </p:txBody>
          </p:sp>
          <p:sp>
            <p:nvSpPr>
              <p:cNvPr id="97" name="TextBox 97"/>
              <p:cNvSpPr txBox="1"/>
              <p:nvPr/>
            </p:nvSpPr>
            <p:spPr>
              <a:xfrm>
                <a:off x="2147888" y="3188732"/>
                <a:ext cx="90852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收入稳定，重视教育​</a:t>
                </a:r>
              </a:p>
            </p:txBody>
          </p:sp>
          <p:sp>
            <p:nvSpPr>
              <p:cNvPr id="98" name="Ellipse 98"/>
              <p:cNvSpPr/>
              <p:nvPr/>
            </p:nvSpPr>
            <p:spPr>
              <a:xfrm>
                <a:off x="3814762" y="2986088"/>
                <a:ext cx="219075" cy="219075"/>
              </a:xfrm>
              <a:prstGeom prst="ellipse">
                <a:avLst/>
              </a:prstGeom>
              <a:noFill/>
              <a:ln w="47625">
                <a:solidFill>
                  <a:srgbClr val="DFF0EA"/>
                </a:solidFill>
              </a:ln>
            </p:spPr>
          </p:sp>
          <p:sp>
            <p:nvSpPr>
              <p:cNvPr id="99" name="Freeform 99"/>
              <p:cNvSpPr/>
              <p:nvPr/>
            </p:nvSpPr>
            <p:spPr>
              <a:xfrm>
                <a:off x="3790950" y="2962275"/>
                <a:ext cx="266700" cy="266700"/>
              </a:xfrm>
              <a:prstGeom prst="blockArc">
                <a:avLst>
                  <a:gd name="adj1" fmla="val 16200000"/>
                  <a:gd name="adj2" fmla="val 20088000"/>
                  <a:gd name="adj3" fmla="val 17857"/>
                </a:avLst>
              </a:prstGeom>
              <a:solidFill>
                <a:srgbClr val="5B180B"/>
              </a:solidFill>
              <a:ln>
                <a:noFill/>
              </a:ln>
            </p:spPr>
          </p:sp>
          <p:sp>
            <p:nvSpPr>
              <p:cNvPr id="100" name="TextBox 100"/>
              <p:cNvSpPr txBox="1"/>
              <p:nvPr/>
            </p:nvSpPr>
            <p:spPr>
              <a:xfrm>
                <a:off x="3804195" y="3060859"/>
                <a:ext cx="240210"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18%​</a:t>
                </a:r>
              </a:p>
            </p:txBody>
          </p:sp>
          <p:sp>
            <p:nvSpPr>
              <p:cNvPr id="101" name="Rectangle 101"/>
              <p:cNvSpPr/>
              <p:nvPr/>
            </p:nvSpPr>
            <p:spPr>
              <a:xfrm>
                <a:off x="323850" y="3333750"/>
                <a:ext cx="3981450" cy="476250"/>
              </a:xfrm>
              <a:prstGeom prst="rect">
                <a:avLst/>
              </a:prstGeom>
              <a:solidFill>
                <a:srgbClr val="F7FBF9"/>
              </a:solidFill>
              <a:ln w="7620">
                <a:solidFill>
                  <a:srgbClr val="D9E8E2"/>
                </a:solidFill>
              </a:ln>
            </p:spPr>
          </p:sp>
          <p:grpSp>
            <p:nvGrpSpPr>
              <p:cNvPr id="105" name="Group 105"/>
              <p:cNvGrpSpPr/>
              <p:nvPr/>
            </p:nvGrpSpPr>
            <p:grpSpPr>
              <a:xfrm>
                <a:off x="582154" y="3417094"/>
                <a:ext cx="150125" cy="156202"/>
                <a:chOff x="582154" y="3417094"/>
                <a:chExt cx="150125" cy="156202"/>
              </a:xfrm>
            </p:grpSpPr>
            <p:sp>
              <p:nvSpPr>
                <p:cNvPr id="102" name="Freeform 102"/>
                <p:cNvSpPr/>
                <p:nvPr/>
              </p:nvSpPr>
              <p:spPr>
                <a:xfrm>
                  <a:off x="604838" y="3417094"/>
                  <a:ext cx="104775" cy="104775"/>
                </a:xfrm>
                <a:custGeom>
                  <a:avLst/>
                  <a:gdLst/>
                  <a:ahLst/>
                  <a:cxnLst/>
                  <a:rect l="l" t="t" r="r" b="b"/>
                  <a:pathLst>
                    <a:path w="104775" h="104775">
                      <a:moveTo>
                        <a:pt x="0" y="52388"/>
                      </a:moveTo>
                      <a:cubicBezTo>
                        <a:pt x="0" y="81320"/>
                        <a:pt x="23455" y="104775"/>
                        <a:pt x="52388" y="104775"/>
                      </a:cubicBezTo>
                      <a:cubicBezTo>
                        <a:pt x="81320" y="104775"/>
                        <a:pt x="104775" y="81320"/>
                        <a:pt x="104775" y="52388"/>
                      </a:cubicBezTo>
                      <a:cubicBezTo>
                        <a:pt x="104775" y="23455"/>
                        <a:pt x="81320" y="0"/>
                        <a:pt x="52388" y="0"/>
                      </a:cubicBezTo>
                      <a:cubicBezTo>
                        <a:pt x="23455" y="0"/>
                        <a:pt x="0" y="23455"/>
                        <a:pt x="0" y="52388"/>
                      </a:cubicBezTo>
                    </a:path>
                  </a:pathLst>
                </a:custGeom>
                <a:noFill/>
                <a:ln w="17463">
                  <a:solidFill>
                    <a:srgbClr val="5B180B"/>
                  </a:solidFill>
                </a:ln>
              </p:spPr>
            </p:sp>
            <p:sp>
              <p:nvSpPr>
                <p:cNvPr id="103" name="Freeform 103"/>
                <p:cNvSpPr/>
                <p:nvPr/>
              </p:nvSpPr>
              <p:spPr>
                <a:xfrm>
                  <a:off x="657225" y="3495675"/>
                  <a:ext cx="75054" cy="77621"/>
                </a:xfrm>
                <a:custGeom>
                  <a:avLst/>
                  <a:gdLst/>
                  <a:ahLst/>
                  <a:cxnLst/>
                  <a:rect l="l" t="t" r="r" b="b"/>
                  <a:pathLst>
                    <a:path w="75054" h="77621">
                      <a:moveTo>
                        <a:pt x="0" y="26194"/>
                      </a:moveTo>
                      <a:lnTo>
                        <a:pt x="29686" y="77621"/>
                      </a:lnTo>
                      <a:lnTo>
                        <a:pt x="43639" y="49393"/>
                      </a:lnTo>
                      <a:lnTo>
                        <a:pt x="75054" y="51418"/>
                      </a:lnTo>
                      <a:lnTo>
                        <a:pt x="45368" y="0"/>
                      </a:lnTo>
                    </a:path>
                  </a:pathLst>
                </a:custGeom>
                <a:noFill/>
                <a:ln w="17463">
                  <a:solidFill>
                    <a:srgbClr val="5B180B"/>
                  </a:solidFill>
                </a:ln>
              </p:spPr>
            </p:sp>
            <p:sp>
              <p:nvSpPr>
                <p:cNvPr id="104" name="Freeform 104"/>
                <p:cNvSpPr/>
                <p:nvPr/>
              </p:nvSpPr>
              <p:spPr>
                <a:xfrm>
                  <a:off x="582154" y="3495675"/>
                  <a:ext cx="75054" cy="77612"/>
                </a:xfrm>
                <a:custGeom>
                  <a:avLst/>
                  <a:gdLst/>
                  <a:ahLst/>
                  <a:cxnLst/>
                  <a:rect l="l" t="t" r="r" b="b"/>
                  <a:pathLst>
                    <a:path w="75054" h="77612">
                      <a:moveTo>
                        <a:pt x="29686" y="0"/>
                      </a:moveTo>
                      <a:lnTo>
                        <a:pt x="0" y="51427"/>
                      </a:lnTo>
                      <a:lnTo>
                        <a:pt x="31415" y="49393"/>
                      </a:lnTo>
                      <a:lnTo>
                        <a:pt x="45368" y="77612"/>
                      </a:lnTo>
                      <a:lnTo>
                        <a:pt x="75054" y="26194"/>
                      </a:lnTo>
                    </a:path>
                  </a:pathLst>
                </a:custGeom>
                <a:noFill/>
                <a:ln w="17463">
                  <a:solidFill>
                    <a:srgbClr val="5B180B"/>
                  </a:solidFill>
                </a:ln>
              </p:spPr>
            </p:sp>
          </p:grpSp>
          <p:sp>
            <p:nvSpPr>
              <p:cNvPr id="106" name="TextBox 106"/>
              <p:cNvSpPr txBox="1"/>
              <p:nvPr/>
            </p:nvSpPr>
            <p:spPr>
              <a:xfrm>
                <a:off x="522344" y="3662362"/>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婚庆​</a:t>
                </a:r>
              </a:p>
            </p:txBody>
          </p:sp>
          <p:sp>
            <p:nvSpPr>
              <p:cNvPr id="107" name="TextBox 107"/>
              <p:cNvSpPr txBox="1"/>
              <p:nvPr/>
            </p:nvSpPr>
            <p:spPr>
              <a:xfrm>
                <a:off x="1023938" y="3474482"/>
                <a:ext cx="477738"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婚礼筹备​</a:t>
                </a:r>
              </a:p>
            </p:txBody>
          </p:sp>
          <p:sp>
            <p:nvSpPr>
              <p:cNvPr id="108" name="TextBox 108"/>
              <p:cNvSpPr txBox="1"/>
              <p:nvPr/>
            </p:nvSpPr>
            <p:spPr>
              <a:xfrm>
                <a:off x="1023938" y="360783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家庭新阶段支出​</a:t>
                </a:r>
              </a:p>
            </p:txBody>
          </p:sp>
          <p:sp>
            <p:nvSpPr>
              <p:cNvPr id="109" name="TextBox 109"/>
              <p:cNvSpPr txBox="1"/>
              <p:nvPr/>
            </p:nvSpPr>
            <p:spPr>
              <a:xfrm>
                <a:off x="2147888" y="3436382"/>
                <a:ext cx="45619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22-35岁​</a:t>
                </a:r>
              </a:p>
            </p:txBody>
          </p:sp>
          <p:sp>
            <p:nvSpPr>
              <p:cNvPr id="110" name="TextBox 110"/>
              <p:cNvSpPr txBox="1"/>
              <p:nvPr/>
            </p:nvSpPr>
            <p:spPr>
              <a:xfrm>
                <a:off x="2147888" y="355068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近期有结婚计划​</a:t>
                </a:r>
              </a:p>
            </p:txBody>
          </p:sp>
          <p:sp>
            <p:nvSpPr>
              <p:cNvPr id="111" name="TextBox 111"/>
              <p:cNvSpPr txBox="1"/>
              <p:nvPr/>
            </p:nvSpPr>
            <p:spPr>
              <a:xfrm>
                <a:off x="2147888" y="3664982"/>
                <a:ext cx="82236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注重仪式感与品质​</a:t>
                </a:r>
              </a:p>
            </p:txBody>
          </p:sp>
          <p:sp>
            <p:nvSpPr>
              <p:cNvPr id="112" name="Ellipse 112"/>
              <p:cNvSpPr/>
              <p:nvPr/>
            </p:nvSpPr>
            <p:spPr>
              <a:xfrm>
                <a:off x="3814762" y="3462338"/>
                <a:ext cx="219075" cy="219075"/>
              </a:xfrm>
              <a:prstGeom prst="ellipse">
                <a:avLst/>
              </a:prstGeom>
              <a:noFill/>
              <a:ln w="47625">
                <a:solidFill>
                  <a:srgbClr val="DFF0EA"/>
                </a:solidFill>
              </a:ln>
            </p:spPr>
          </p:sp>
          <p:sp>
            <p:nvSpPr>
              <p:cNvPr id="113" name="Freeform 113"/>
              <p:cNvSpPr/>
              <p:nvPr/>
            </p:nvSpPr>
            <p:spPr>
              <a:xfrm>
                <a:off x="3790950" y="3438525"/>
                <a:ext cx="266700" cy="266700"/>
              </a:xfrm>
              <a:prstGeom prst="blockArc">
                <a:avLst>
                  <a:gd name="adj1" fmla="val 16200000"/>
                  <a:gd name="adj2" fmla="val 19656000"/>
                  <a:gd name="adj3" fmla="val 17857"/>
                </a:avLst>
              </a:prstGeom>
              <a:solidFill>
                <a:srgbClr val="5B180B"/>
              </a:solidFill>
              <a:ln>
                <a:noFill/>
              </a:ln>
            </p:spPr>
          </p:sp>
          <p:sp>
            <p:nvSpPr>
              <p:cNvPr id="114" name="TextBox 114"/>
              <p:cNvSpPr txBox="1"/>
              <p:nvPr/>
            </p:nvSpPr>
            <p:spPr>
              <a:xfrm>
                <a:off x="3804195" y="3537109"/>
                <a:ext cx="240210"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16%​</a:t>
                </a:r>
              </a:p>
            </p:txBody>
          </p:sp>
          <p:sp>
            <p:nvSpPr>
              <p:cNvPr id="115" name="Rectangle 115"/>
              <p:cNvSpPr/>
              <p:nvPr/>
            </p:nvSpPr>
            <p:spPr>
              <a:xfrm>
                <a:off x="323850" y="3810000"/>
                <a:ext cx="3981450" cy="476250"/>
              </a:xfrm>
              <a:prstGeom prst="rect">
                <a:avLst/>
              </a:prstGeom>
              <a:solidFill>
                <a:srgbClr val="FFFFFF"/>
              </a:solidFill>
              <a:ln w="7620">
                <a:solidFill>
                  <a:srgbClr val="D9E8E2"/>
                </a:solidFill>
              </a:ln>
            </p:spPr>
          </p:sp>
          <p:grpSp>
            <p:nvGrpSpPr>
              <p:cNvPr id="120" name="Group 120"/>
              <p:cNvGrpSpPr/>
              <p:nvPr/>
            </p:nvGrpSpPr>
            <p:grpSpPr>
              <a:xfrm>
                <a:off x="578644" y="3893344"/>
                <a:ext cx="157163" cy="148431"/>
                <a:chOff x="578644" y="3893344"/>
                <a:chExt cx="157163" cy="148431"/>
              </a:xfrm>
            </p:grpSpPr>
            <p:sp>
              <p:nvSpPr>
                <p:cNvPr id="116" name="Freeform 116"/>
                <p:cNvSpPr/>
                <p:nvPr/>
              </p:nvSpPr>
              <p:spPr>
                <a:xfrm>
                  <a:off x="578644" y="3928269"/>
                  <a:ext cx="157163" cy="113506"/>
                </a:xfrm>
                <a:custGeom>
                  <a:avLst/>
                  <a:gdLst/>
                  <a:ahLst/>
                  <a:cxnLst/>
                  <a:rect l="l" t="t" r="r" b="b"/>
                  <a:pathLst>
                    <a:path w="157163" h="113506">
                      <a:moveTo>
                        <a:pt x="0" y="17463"/>
                      </a:moveTo>
                      <a:cubicBezTo>
                        <a:pt x="0" y="7818"/>
                        <a:pt x="7818" y="0"/>
                        <a:pt x="17463" y="0"/>
                      </a:cubicBezTo>
                      <a:lnTo>
                        <a:pt x="139700" y="0"/>
                      </a:lnTo>
                      <a:cubicBezTo>
                        <a:pt x="149344" y="0"/>
                        <a:pt x="157163" y="7818"/>
                        <a:pt x="157163" y="17463"/>
                      </a:cubicBezTo>
                      <a:lnTo>
                        <a:pt x="157163" y="96044"/>
                      </a:lnTo>
                      <a:cubicBezTo>
                        <a:pt x="157163" y="105688"/>
                        <a:pt x="149344" y="113506"/>
                        <a:pt x="139700" y="113506"/>
                      </a:cubicBezTo>
                      <a:lnTo>
                        <a:pt x="17463" y="113506"/>
                      </a:lnTo>
                      <a:cubicBezTo>
                        <a:pt x="7818" y="113506"/>
                        <a:pt x="0" y="105688"/>
                        <a:pt x="0" y="96044"/>
                      </a:cubicBezTo>
                      <a:lnTo>
                        <a:pt x="0" y="17463"/>
                      </a:lnTo>
                    </a:path>
                  </a:pathLst>
                </a:custGeom>
                <a:noFill/>
                <a:ln w="17463">
                  <a:solidFill>
                    <a:srgbClr val="5B180B"/>
                  </a:solidFill>
                </a:ln>
              </p:spPr>
            </p:sp>
            <p:sp>
              <p:nvSpPr>
                <p:cNvPr id="117" name="Freeform 117"/>
                <p:cNvSpPr/>
                <p:nvPr/>
              </p:nvSpPr>
              <p:spPr>
                <a:xfrm>
                  <a:off x="622300" y="3893344"/>
                  <a:ext cx="69850" cy="34925"/>
                </a:xfrm>
                <a:custGeom>
                  <a:avLst/>
                  <a:gdLst/>
                  <a:ahLst/>
                  <a:cxnLst/>
                  <a:rect l="l" t="t" r="r" b="b"/>
                  <a:pathLst>
                    <a:path w="69850" h="34925">
                      <a:moveTo>
                        <a:pt x="0" y="34925"/>
                      </a:moveTo>
                      <a:lnTo>
                        <a:pt x="0" y="17463"/>
                      </a:lnTo>
                      <a:cubicBezTo>
                        <a:pt x="0" y="7818"/>
                        <a:pt x="7818" y="0"/>
                        <a:pt x="17463" y="0"/>
                      </a:cubicBezTo>
                      <a:lnTo>
                        <a:pt x="52388" y="0"/>
                      </a:lnTo>
                      <a:cubicBezTo>
                        <a:pt x="62032" y="0"/>
                        <a:pt x="69850" y="7818"/>
                        <a:pt x="69850" y="17463"/>
                      </a:cubicBezTo>
                      <a:lnTo>
                        <a:pt x="69850" y="34925"/>
                      </a:lnTo>
                    </a:path>
                  </a:pathLst>
                </a:custGeom>
                <a:noFill/>
                <a:ln w="17463">
                  <a:solidFill>
                    <a:srgbClr val="5B180B"/>
                  </a:solidFill>
                </a:ln>
              </p:spPr>
            </p:sp>
            <p:sp>
              <p:nvSpPr>
                <p:cNvPr id="118" name="Freeform 118"/>
                <p:cNvSpPr/>
                <p:nvPr/>
              </p:nvSpPr>
              <p:spPr>
                <a:xfrm>
                  <a:off x="657225" y="3971925"/>
                  <a:ext cx="9525" cy="9525"/>
                </a:xfrm>
                <a:custGeom>
                  <a:avLst/>
                  <a:gdLst/>
                  <a:ahLst/>
                  <a:cxnLst/>
                  <a:rect l="l" t="t" r="r" b="b"/>
                  <a:pathLst>
                    <a:path w="9525" h="9525">
                      <a:moveTo>
                        <a:pt x="0" y="0"/>
                      </a:moveTo>
                      <a:lnTo>
                        <a:pt x="0" y="87"/>
                      </a:lnTo>
                    </a:path>
                  </a:pathLst>
                </a:custGeom>
                <a:noFill/>
                <a:ln w="17463">
                  <a:solidFill>
                    <a:srgbClr val="5B180B"/>
                  </a:solidFill>
                </a:ln>
              </p:spPr>
            </p:sp>
            <p:sp>
              <p:nvSpPr>
                <p:cNvPr id="119" name="Freeform 119"/>
                <p:cNvSpPr/>
                <p:nvPr/>
              </p:nvSpPr>
              <p:spPr>
                <a:xfrm>
                  <a:off x="578644" y="3980656"/>
                  <a:ext cx="157163" cy="24907"/>
                </a:xfrm>
                <a:custGeom>
                  <a:avLst/>
                  <a:gdLst/>
                  <a:ahLst/>
                  <a:cxnLst/>
                  <a:rect l="l" t="t" r="r" b="b"/>
                  <a:pathLst>
                    <a:path w="157163" h="24907">
                      <a:moveTo>
                        <a:pt x="0" y="0"/>
                      </a:moveTo>
                      <a:cubicBezTo>
                        <a:pt x="49427" y="24907"/>
                        <a:pt x="107735" y="24907"/>
                        <a:pt x="157163" y="0"/>
                      </a:cubicBezTo>
                    </a:path>
                  </a:pathLst>
                </a:custGeom>
                <a:noFill/>
                <a:ln w="17463">
                  <a:solidFill>
                    <a:srgbClr val="5B180B"/>
                  </a:solidFill>
                </a:ln>
              </p:spPr>
            </p:sp>
          </p:grpSp>
          <p:sp>
            <p:nvSpPr>
              <p:cNvPr id="121" name="TextBox 121"/>
              <p:cNvSpPr txBox="1"/>
              <p:nvPr/>
            </p:nvSpPr>
            <p:spPr>
              <a:xfrm>
                <a:off x="421379" y="4138612"/>
                <a:ext cx="47169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经营周转​</a:t>
                </a:r>
              </a:p>
            </p:txBody>
          </p:sp>
          <p:sp>
            <p:nvSpPr>
              <p:cNvPr id="122" name="TextBox 122"/>
              <p:cNvSpPr txBox="1"/>
              <p:nvPr/>
            </p:nvSpPr>
            <p:spPr>
              <a:xfrm>
                <a:off x="1023938" y="395073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个体经营资金​</a:t>
                </a:r>
              </a:p>
            </p:txBody>
          </p:sp>
          <p:sp>
            <p:nvSpPr>
              <p:cNvPr id="123" name="TextBox 123"/>
              <p:cNvSpPr txBox="1"/>
              <p:nvPr/>
            </p:nvSpPr>
            <p:spPr>
              <a:xfrm>
                <a:off x="1023938" y="408408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小微企业周转​</a:t>
                </a:r>
              </a:p>
            </p:txBody>
          </p:sp>
          <p:sp>
            <p:nvSpPr>
              <p:cNvPr id="124" name="TextBox 124"/>
              <p:cNvSpPr txBox="1"/>
              <p:nvPr/>
            </p:nvSpPr>
            <p:spPr>
              <a:xfrm>
                <a:off x="2147888" y="3912632"/>
                <a:ext cx="45619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25-55岁​</a:t>
                </a:r>
              </a:p>
            </p:txBody>
          </p:sp>
          <p:sp>
            <p:nvSpPr>
              <p:cNvPr id="125" name="TextBox 125"/>
              <p:cNvSpPr txBox="1"/>
              <p:nvPr/>
            </p:nvSpPr>
            <p:spPr>
              <a:xfrm>
                <a:off x="2147888" y="4026932"/>
                <a:ext cx="104206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个体工商户/小微企业主​</a:t>
                </a:r>
              </a:p>
            </p:txBody>
          </p:sp>
          <p:sp>
            <p:nvSpPr>
              <p:cNvPr id="126" name="TextBox 126"/>
              <p:cNvSpPr txBox="1"/>
              <p:nvPr/>
            </p:nvSpPr>
            <p:spPr>
              <a:xfrm>
                <a:off x="2147888" y="4141232"/>
                <a:ext cx="108083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经营稳定，资金需求灵活​</a:t>
                </a:r>
              </a:p>
            </p:txBody>
          </p:sp>
          <p:sp>
            <p:nvSpPr>
              <p:cNvPr id="127" name="Ellipse 127"/>
              <p:cNvSpPr/>
              <p:nvPr/>
            </p:nvSpPr>
            <p:spPr>
              <a:xfrm>
                <a:off x="3814762" y="3938588"/>
                <a:ext cx="219075" cy="219075"/>
              </a:xfrm>
              <a:prstGeom prst="ellipse">
                <a:avLst/>
              </a:prstGeom>
              <a:noFill/>
              <a:ln w="47625">
                <a:solidFill>
                  <a:srgbClr val="DFF0EA"/>
                </a:solidFill>
              </a:ln>
            </p:spPr>
          </p:sp>
          <p:sp>
            <p:nvSpPr>
              <p:cNvPr id="128" name="Freeform 128"/>
              <p:cNvSpPr/>
              <p:nvPr/>
            </p:nvSpPr>
            <p:spPr>
              <a:xfrm>
                <a:off x="3790950" y="3914775"/>
                <a:ext cx="266700" cy="266700"/>
              </a:xfrm>
              <a:prstGeom prst="blockArc">
                <a:avLst>
                  <a:gd name="adj1" fmla="val 16200000"/>
                  <a:gd name="adj2" fmla="val 19224000"/>
                  <a:gd name="adj3" fmla="val 17857"/>
                </a:avLst>
              </a:prstGeom>
              <a:solidFill>
                <a:srgbClr val="5B180B"/>
              </a:solidFill>
              <a:ln>
                <a:noFill/>
              </a:ln>
            </p:spPr>
          </p:sp>
          <p:sp>
            <p:nvSpPr>
              <p:cNvPr id="129" name="TextBox 129"/>
              <p:cNvSpPr txBox="1"/>
              <p:nvPr/>
            </p:nvSpPr>
            <p:spPr>
              <a:xfrm>
                <a:off x="3804195" y="4013359"/>
                <a:ext cx="240210"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14%​</a:t>
                </a:r>
              </a:p>
            </p:txBody>
          </p:sp>
        </p:grpSp>
      </p:grpSp>
      <p:grpSp>
        <p:nvGrpSpPr>
          <p:cNvPr id="165" name="funnel-card"/>
          <p:cNvGrpSpPr/>
          <p:nvPr/>
        </p:nvGrpSpPr>
        <p:grpSpPr>
          <a:xfrm>
            <a:off x="4495800" y="1371600"/>
            <a:ext cx="3733800" cy="2971800"/>
            <a:chOff x="4495800" y="1371600"/>
            <a:chExt cx="3733800" cy="2971800"/>
          </a:xfrm>
        </p:grpSpPr>
        <p:sp>
          <p:nvSpPr>
            <p:cNvPr id="132" name="Rectangle 132"/>
            <p:cNvSpPr/>
            <p:nvPr/>
          </p:nvSpPr>
          <p:spPr>
            <a:xfrm>
              <a:off x="4495800" y="1371600"/>
              <a:ext cx="3733800" cy="2971800"/>
            </a:xfrm>
            <a:prstGeom prst="roundRect">
              <a:avLst>
                <a:gd name="adj" fmla="val 3205"/>
              </a:avLst>
            </a:prstGeom>
            <a:solidFill>
              <a:srgbClr val="F5FAF8"/>
            </a:solidFill>
            <a:ln w="9525">
              <a:solidFill>
                <a:srgbClr val="D9E8E2"/>
              </a:solidFill>
            </a:ln>
          </p:spPr>
        </p:sp>
        <p:sp>
          <p:nvSpPr>
            <p:cNvPr id="133" name="Rectangle 133"/>
            <p:cNvSpPr/>
            <p:nvPr/>
          </p:nvSpPr>
          <p:spPr>
            <a:xfrm>
              <a:off x="4610100" y="1466850"/>
              <a:ext cx="47625" cy="152400"/>
            </a:xfrm>
            <a:prstGeom prst="rect">
              <a:avLst/>
            </a:prstGeom>
            <a:solidFill>
              <a:srgbClr val="5B180B"/>
            </a:solidFill>
            <a:ln>
              <a:noFill/>
            </a:ln>
          </p:spPr>
        </p:sp>
        <p:sp>
          <p:nvSpPr>
            <p:cNvPr id="134" name="TextBox 134"/>
            <p:cNvSpPr txBox="1"/>
            <p:nvPr/>
          </p:nvSpPr>
          <p:spPr>
            <a:xfrm>
              <a:off x="4719638" y="1489472"/>
              <a:ext cx="1470165"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获客转化漏斗</a:t>
              </a:r>
              <a:r>
                <a:rPr lang="zh-CN" sz="710" dirty="0">
                  <a:solidFill>
                    <a:srgbClr val="5F6F6A"/>
                  </a:solidFill>
                  <a:latin typeface="+mn-lt"/>
                  <a:ea typeface="+mn-ea"/>
                  <a:cs typeface="+mn-cs"/>
                </a:rPr>
                <a:t>（2026年Q4）</a:t>
              </a:r>
              <a:r>
                <a:rPr lang="zh-CN" sz="940" b="1" dirty="0">
                  <a:solidFill>
                    <a:srgbClr val="5B180B"/>
                  </a:solidFill>
                  <a:latin typeface="+mn-lt"/>
                  <a:ea typeface="+mn-ea"/>
                  <a:cs typeface="+mn-cs"/>
                </a:rPr>
                <a:t>​</a:t>
              </a:r>
            </a:p>
          </p:txBody>
        </p:sp>
        <p:sp>
          <p:nvSpPr>
            <p:cNvPr id="135" name="Freeform 135"/>
            <p:cNvSpPr/>
            <p:nvPr/>
          </p:nvSpPr>
          <p:spPr>
            <a:xfrm rot="10800000">
              <a:off x="4572000" y="1714500"/>
              <a:ext cx="2286000" cy="419100"/>
            </a:xfrm>
            <a:prstGeom prst="trapezoid">
              <a:avLst>
                <a:gd name="adj" fmla="val 56818"/>
              </a:avLst>
            </a:prstGeom>
            <a:solidFill>
              <a:srgbClr val="5B180B"/>
            </a:solidFill>
            <a:ln>
              <a:noFill/>
            </a:ln>
          </p:spPr>
        </p:sp>
        <p:sp>
          <p:nvSpPr>
            <p:cNvPr id="136" name="Freeform 136"/>
            <p:cNvSpPr/>
            <p:nvPr/>
          </p:nvSpPr>
          <p:spPr>
            <a:xfrm rot="10800000">
              <a:off x="4810125" y="2190750"/>
              <a:ext cx="1809750" cy="419100"/>
            </a:xfrm>
            <a:prstGeom prst="trapezoid">
              <a:avLst>
                <a:gd name="adj" fmla="val 45454"/>
              </a:avLst>
            </a:prstGeom>
            <a:solidFill>
              <a:srgbClr val="722617"/>
            </a:solidFill>
            <a:ln>
              <a:noFill/>
            </a:ln>
          </p:spPr>
        </p:sp>
        <p:sp>
          <p:nvSpPr>
            <p:cNvPr id="137" name="Freeform 137"/>
            <p:cNvSpPr/>
            <p:nvPr/>
          </p:nvSpPr>
          <p:spPr>
            <a:xfrm rot="10800000">
              <a:off x="5000625" y="2667000"/>
              <a:ext cx="1428750" cy="419100"/>
            </a:xfrm>
            <a:prstGeom prst="trapezoid">
              <a:avLst>
                <a:gd name="adj" fmla="val 38636"/>
              </a:avLst>
            </a:prstGeom>
            <a:solidFill>
              <a:srgbClr val="9A412F"/>
            </a:solidFill>
            <a:ln>
              <a:noFill/>
            </a:ln>
          </p:spPr>
        </p:sp>
        <p:sp>
          <p:nvSpPr>
            <p:cNvPr id="138" name="Freeform 138"/>
            <p:cNvSpPr/>
            <p:nvPr/>
          </p:nvSpPr>
          <p:spPr>
            <a:xfrm rot="10800000">
              <a:off x="5162550" y="3143250"/>
              <a:ext cx="1104900" cy="419100"/>
            </a:xfrm>
            <a:prstGeom prst="trapezoid">
              <a:avLst>
                <a:gd name="adj" fmla="val 36363"/>
              </a:avLst>
            </a:prstGeom>
            <a:solidFill>
              <a:srgbClr val="B57A6F"/>
            </a:solidFill>
            <a:ln>
              <a:noFill/>
            </a:ln>
          </p:spPr>
        </p:sp>
        <p:grpSp>
          <p:nvGrpSpPr>
            <p:cNvPr id="147" name="Group 147"/>
            <p:cNvGrpSpPr/>
            <p:nvPr/>
          </p:nvGrpSpPr>
          <p:grpSpPr>
            <a:xfrm>
              <a:off x="5464775" y="1799511"/>
              <a:ext cx="500449" cy="1743503"/>
              <a:chOff x="5464775" y="1799511"/>
              <a:chExt cx="500449" cy="1743503"/>
            </a:xfrm>
          </p:grpSpPr>
          <p:sp>
            <p:nvSpPr>
              <p:cNvPr id="139" name="TextBox 139"/>
              <p:cNvSpPr txBox="1"/>
              <p:nvPr/>
            </p:nvSpPr>
            <p:spPr>
              <a:xfrm>
                <a:off x="5492793" y="1799511"/>
                <a:ext cx="44441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触达客户​</a:t>
                </a:r>
              </a:p>
            </p:txBody>
          </p:sp>
          <p:sp>
            <p:nvSpPr>
              <p:cNvPr id="140" name="TextBox 140"/>
              <p:cNvSpPr txBox="1"/>
              <p:nvPr/>
            </p:nvSpPr>
            <p:spPr>
              <a:xfrm>
                <a:off x="5464775" y="1925002"/>
                <a:ext cx="5004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2,400​</a:t>
                </a:r>
              </a:p>
            </p:txBody>
          </p:sp>
          <p:sp>
            <p:nvSpPr>
              <p:cNvPr id="141" name="TextBox 141"/>
              <p:cNvSpPr txBox="1"/>
              <p:nvPr/>
            </p:nvSpPr>
            <p:spPr>
              <a:xfrm>
                <a:off x="5492793" y="2275761"/>
                <a:ext cx="44441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申请客户​</a:t>
                </a:r>
              </a:p>
            </p:txBody>
          </p:sp>
          <p:sp>
            <p:nvSpPr>
              <p:cNvPr id="142" name="TextBox 142"/>
              <p:cNvSpPr txBox="1"/>
              <p:nvPr/>
            </p:nvSpPr>
            <p:spPr>
              <a:xfrm>
                <a:off x="5546406" y="2401252"/>
                <a:ext cx="33718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960​</a:t>
                </a:r>
              </a:p>
            </p:txBody>
          </p:sp>
          <p:sp>
            <p:nvSpPr>
              <p:cNvPr id="143" name="TextBox 143"/>
              <p:cNvSpPr txBox="1"/>
              <p:nvPr/>
            </p:nvSpPr>
            <p:spPr>
              <a:xfrm>
                <a:off x="5492793" y="2752011"/>
                <a:ext cx="44441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审批通过​</a:t>
                </a:r>
              </a:p>
            </p:txBody>
          </p:sp>
          <p:sp>
            <p:nvSpPr>
              <p:cNvPr id="144" name="TextBox 144"/>
              <p:cNvSpPr txBox="1"/>
              <p:nvPr/>
            </p:nvSpPr>
            <p:spPr>
              <a:xfrm>
                <a:off x="5546406" y="2877502"/>
                <a:ext cx="33718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653​</a:t>
                </a:r>
              </a:p>
            </p:txBody>
          </p:sp>
          <p:sp>
            <p:nvSpPr>
              <p:cNvPr id="145" name="TextBox 145"/>
              <p:cNvSpPr txBox="1"/>
              <p:nvPr/>
            </p:nvSpPr>
            <p:spPr>
              <a:xfrm>
                <a:off x="5501980" y="3232309"/>
                <a:ext cx="426039"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成功提款​</a:t>
                </a:r>
              </a:p>
            </p:txBody>
          </p:sp>
          <p:sp>
            <p:nvSpPr>
              <p:cNvPr id="146" name="TextBox 146"/>
              <p:cNvSpPr txBox="1"/>
              <p:nvPr/>
            </p:nvSpPr>
            <p:spPr>
              <a:xfrm>
                <a:off x="5557671" y="3352324"/>
                <a:ext cx="31465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418​</a:t>
                </a:r>
              </a:p>
            </p:txBody>
          </p:sp>
        </p:grpSp>
        <p:grpSp>
          <p:nvGrpSpPr>
            <p:cNvPr id="157" name="funnel-rates"/>
            <p:cNvGrpSpPr/>
            <p:nvPr/>
          </p:nvGrpSpPr>
          <p:grpSpPr>
            <a:xfrm>
              <a:off x="6286500" y="2051209"/>
              <a:ext cx="1331969" cy="1279302"/>
              <a:chOff x="6286500" y="2051209"/>
              <a:chExt cx="1331969" cy="1279302"/>
            </a:xfrm>
          </p:grpSpPr>
          <p:sp>
            <p:nvSpPr>
              <p:cNvPr id="148" name="Line 148"/>
              <p:cNvSpPr/>
              <p:nvPr/>
            </p:nvSpPr>
            <p:spPr>
              <a:xfrm>
                <a:off x="6667500" y="2162175"/>
                <a:ext cx="381000" cy="9525"/>
              </a:xfrm>
              <a:custGeom>
                <a:avLst/>
                <a:gdLst/>
                <a:ahLst/>
                <a:cxnLst/>
                <a:rect l="l" t="t" r="r" b="b"/>
                <a:pathLst>
                  <a:path w="381000" h="9525">
                    <a:moveTo>
                      <a:pt x="0" y="0"/>
                    </a:moveTo>
                    <a:lnTo>
                      <a:pt x="381000" y="0"/>
                    </a:lnTo>
                  </a:path>
                </a:pathLst>
              </a:custGeom>
              <a:noFill/>
              <a:ln w="9525">
                <a:solidFill>
                  <a:srgbClr val="C9988F"/>
                </a:solidFill>
                <a:custDash>
                  <a:ds d="300000" sp="200000"/>
                </a:custDash>
              </a:ln>
            </p:spPr>
          </p:sp>
          <p:sp>
            <p:nvSpPr>
              <p:cNvPr id="149" name="TextBox 149"/>
              <p:cNvSpPr txBox="1"/>
              <p:nvPr/>
            </p:nvSpPr>
            <p:spPr>
              <a:xfrm>
                <a:off x="7100888" y="2051209"/>
                <a:ext cx="517581"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线索转化率​</a:t>
                </a:r>
              </a:p>
            </p:txBody>
          </p:sp>
          <p:sp>
            <p:nvSpPr>
              <p:cNvPr id="150" name="TextBox 150"/>
              <p:cNvSpPr txBox="1"/>
              <p:nvPr/>
            </p:nvSpPr>
            <p:spPr>
              <a:xfrm>
                <a:off x="7100316" y="2172652"/>
                <a:ext cx="366873"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40%​</a:t>
                </a:r>
              </a:p>
            </p:txBody>
          </p:sp>
          <p:sp>
            <p:nvSpPr>
              <p:cNvPr id="151" name="Line 151"/>
              <p:cNvSpPr/>
              <p:nvPr/>
            </p:nvSpPr>
            <p:spPr>
              <a:xfrm>
                <a:off x="6477000" y="2638425"/>
                <a:ext cx="571500" cy="9525"/>
              </a:xfrm>
              <a:custGeom>
                <a:avLst/>
                <a:gdLst/>
                <a:ahLst/>
                <a:cxnLst/>
                <a:rect l="l" t="t" r="r" b="b"/>
                <a:pathLst>
                  <a:path w="571500" h="9525">
                    <a:moveTo>
                      <a:pt x="0" y="0"/>
                    </a:moveTo>
                    <a:lnTo>
                      <a:pt x="571500" y="0"/>
                    </a:lnTo>
                  </a:path>
                </a:pathLst>
              </a:custGeom>
              <a:noFill/>
              <a:ln w="9525">
                <a:solidFill>
                  <a:srgbClr val="C9988F"/>
                </a:solidFill>
                <a:custDash>
                  <a:ds d="300000" sp="200000"/>
                </a:custDash>
              </a:ln>
            </p:spPr>
          </p:sp>
          <p:sp>
            <p:nvSpPr>
              <p:cNvPr id="152" name="TextBox 152"/>
              <p:cNvSpPr txBox="1"/>
              <p:nvPr/>
            </p:nvSpPr>
            <p:spPr>
              <a:xfrm>
                <a:off x="7100888" y="2527459"/>
                <a:ext cx="517581"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申请转化率​</a:t>
                </a:r>
              </a:p>
            </p:txBody>
          </p:sp>
          <p:sp>
            <p:nvSpPr>
              <p:cNvPr id="153" name="TextBox 153"/>
              <p:cNvSpPr txBox="1"/>
              <p:nvPr/>
            </p:nvSpPr>
            <p:spPr>
              <a:xfrm>
                <a:off x="7100316" y="2648902"/>
                <a:ext cx="366873"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68%​</a:t>
                </a:r>
              </a:p>
            </p:txBody>
          </p:sp>
          <p:sp>
            <p:nvSpPr>
              <p:cNvPr id="154" name="Line 154"/>
              <p:cNvSpPr/>
              <p:nvPr/>
            </p:nvSpPr>
            <p:spPr>
              <a:xfrm>
                <a:off x="6286500" y="3114675"/>
                <a:ext cx="762000" cy="9525"/>
              </a:xfrm>
              <a:custGeom>
                <a:avLst/>
                <a:gdLst/>
                <a:ahLst/>
                <a:cxnLst/>
                <a:rect l="l" t="t" r="r" b="b"/>
                <a:pathLst>
                  <a:path w="762000" h="9525">
                    <a:moveTo>
                      <a:pt x="0" y="0"/>
                    </a:moveTo>
                    <a:lnTo>
                      <a:pt x="762000" y="0"/>
                    </a:lnTo>
                  </a:path>
                </a:pathLst>
              </a:custGeom>
              <a:noFill/>
              <a:ln w="9525">
                <a:solidFill>
                  <a:srgbClr val="C9988F"/>
                </a:solidFill>
                <a:custDash>
                  <a:ds d="300000" sp="200000"/>
                </a:custDash>
              </a:ln>
            </p:spPr>
          </p:sp>
          <p:sp>
            <p:nvSpPr>
              <p:cNvPr id="155" name="TextBox 155"/>
              <p:cNvSpPr txBox="1"/>
              <p:nvPr/>
            </p:nvSpPr>
            <p:spPr>
              <a:xfrm>
                <a:off x="7100888" y="3003709"/>
                <a:ext cx="517581" cy="133350"/>
              </a:xfrm>
              <a:prstGeom prst="rect">
                <a:avLst/>
              </a:prstGeom>
              <a:noFill/>
              <a:ln>
                <a:noFill/>
              </a:ln>
            </p:spPr>
            <p:txBody>
              <a:bodyPr wrap="none" lIns="0" tIns="0" rIns="0" bIns="0" anchor="t" anchorCtr="0">
                <a:spAutoFit/>
              </a:bodyPr>
              <a:lstStyle/>
              <a:p>
                <a:pPr algn="l"/>
                <a:r>
                  <a:rPr lang="zh-CN" sz="680" dirty="0">
                    <a:solidFill>
                      <a:srgbClr val="5F6F6A"/>
                    </a:solidFill>
                    <a:latin typeface="+mn-lt"/>
                    <a:ea typeface="+mn-ea"/>
                    <a:cs typeface="+mn-cs"/>
                  </a:rPr>
                  <a:t>提款转化率​</a:t>
                </a:r>
              </a:p>
            </p:txBody>
          </p:sp>
          <p:sp>
            <p:nvSpPr>
              <p:cNvPr id="156" name="TextBox 156"/>
              <p:cNvSpPr txBox="1"/>
              <p:nvPr/>
            </p:nvSpPr>
            <p:spPr>
              <a:xfrm>
                <a:off x="7100316" y="3125152"/>
                <a:ext cx="366873"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64%​</a:t>
                </a:r>
              </a:p>
            </p:txBody>
          </p:sp>
        </p:grpSp>
        <p:sp>
          <p:nvSpPr>
            <p:cNvPr id="158" name="Rectangle 158"/>
            <p:cNvSpPr/>
            <p:nvPr/>
          </p:nvSpPr>
          <p:spPr>
            <a:xfrm>
              <a:off x="4610100" y="3790950"/>
              <a:ext cx="3505200" cy="419100"/>
            </a:xfrm>
            <a:prstGeom prst="roundRect">
              <a:avLst>
                <a:gd name="adj" fmla="val 13636"/>
              </a:avLst>
            </a:prstGeom>
            <a:solidFill>
              <a:srgbClr val="E9F4F0"/>
            </a:solidFill>
            <a:ln>
              <a:noFill/>
            </a:ln>
          </p:spPr>
        </p:sp>
        <p:grpSp>
          <p:nvGrpSpPr>
            <p:cNvPr id="163" name="Group 163"/>
            <p:cNvGrpSpPr/>
            <p:nvPr/>
          </p:nvGrpSpPr>
          <p:grpSpPr>
            <a:xfrm>
              <a:off x="4750594" y="3930650"/>
              <a:ext cx="157163" cy="149225"/>
              <a:chOff x="4750594" y="3930650"/>
              <a:chExt cx="157163" cy="149225"/>
            </a:xfrm>
          </p:grpSpPr>
          <p:sp>
            <p:nvSpPr>
              <p:cNvPr id="159" name="Freeform 159"/>
              <p:cNvSpPr/>
              <p:nvPr/>
            </p:nvSpPr>
            <p:spPr>
              <a:xfrm>
                <a:off x="4750594" y="400050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5B180B"/>
                </a:solidFill>
              </a:ln>
            </p:spPr>
          </p:sp>
          <p:sp>
            <p:nvSpPr>
              <p:cNvPr id="160" name="Freeform 160"/>
              <p:cNvSpPr/>
              <p:nvPr/>
            </p:nvSpPr>
            <p:spPr>
              <a:xfrm>
                <a:off x="4855369" y="396557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5B180B"/>
                </a:solidFill>
              </a:ln>
            </p:spPr>
          </p:sp>
          <p:sp>
            <p:nvSpPr>
              <p:cNvPr id="161" name="Freeform 161"/>
              <p:cNvSpPr/>
              <p:nvPr/>
            </p:nvSpPr>
            <p:spPr>
              <a:xfrm>
                <a:off x="4802981" y="393065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5B180B"/>
                </a:solidFill>
              </a:ln>
            </p:spPr>
          </p:sp>
          <p:sp>
            <p:nvSpPr>
              <p:cNvPr id="162" name="Freeform 162"/>
              <p:cNvSpPr/>
              <p:nvPr/>
            </p:nvSpPr>
            <p:spPr>
              <a:xfrm>
                <a:off x="4759325" y="4070350"/>
                <a:ext cx="122238" cy="9525"/>
              </a:xfrm>
              <a:custGeom>
                <a:avLst/>
                <a:gdLst/>
                <a:ahLst/>
                <a:cxnLst/>
                <a:rect l="l" t="t" r="r" b="b"/>
                <a:pathLst>
                  <a:path w="122238" h="9525">
                    <a:moveTo>
                      <a:pt x="0" y="0"/>
                    </a:moveTo>
                    <a:lnTo>
                      <a:pt x="122238" y="0"/>
                    </a:lnTo>
                  </a:path>
                </a:pathLst>
              </a:custGeom>
              <a:noFill/>
              <a:ln w="17463">
                <a:solidFill>
                  <a:srgbClr val="5B180B"/>
                </a:solidFill>
              </a:ln>
            </p:spPr>
          </p:sp>
        </p:grpSp>
        <p:sp>
          <p:nvSpPr>
            <p:cNvPr id="164" name="TextBox 164"/>
            <p:cNvSpPr txBox="1"/>
            <p:nvPr/>
          </p:nvSpPr>
          <p:spPr>
            <a:xfrm>
              <a:off x="5024438" y="3969782"/>
              <a:ext cx="2361606" cy="126206"/>
            </a:xfrm>
            <a:prstGeom prst="rect">
              <a:avLst/>
            </a:prstGeom>
            <a:noFill/>
            <a:ln>
              <a:noFill/>
            </a:ln>
          </p:spPr>
          <p:txBody>
            <a:bodyPr wrap="none" lIns="0" tIns="0" rIns="0" bIns="0" anchor="t" anchorCtr="0">
              <a:spAutoFit/>
            </a:bodyPr>
            <a:lstStyle/>
            <a:p>
              <a:pPr algn="l"/>
              <a:r>
                <a:rPr lang="zh-CN" sz="640" dirty="0">
                  <a:solidFill>
                    <a:srgbClr val="5B180B"/>
                  </a:solidFill>
                  <a:latin typeface="+mn-lt"/>
                  <a:ea typeface="+mn-ea"/>
                  <a:cs typeface="+mn-cs"/>
                </a:rPr>
                <a:t>从“流量投放”到“场景深耕+存量激活”，提升高质量客户占比​</a:t>
              </a:r>
            </a:p>
          </p:txBody>
        </p:sp>
      </p:grpSp>
      <p:grpSp>
        <p:nvGrpSpPr>
          <p:cNvPr id="238" name="channel-card"/>
          <p:cNvGrpSpPr/>
          <p:nvPr/>
        </p:nvGrpSpPr>
        <p:grpSpPr>
          <a:xfrm>
            <a:off x="8343900" y="1371600"/>
            <a:ext cx="3619500" cy="2971800"/>
            <a:chOff x="8343900" y="1371600"/>
            <a:chExt cx="3619500" cy="2971800"/>
          </a:xfrm>
        </p:grpSpPr>
        <p:sp>
          <p:nvSpPr>
            <p:cNvPr id="166" name="Rectangle 166"/>
            <p:cNvSpPr/>
            <p:nvPr/>
          </p:nvSpPr>
          <p:spPr>
            <a:xfrm>
              <a:off x="8343900" y="1371600"/>
              <a:ext cx="3619500" cy="2971800"/>
            </a:xfrm>
            <a:prstGeom prst="roundRect">
              <a:avLst>
                <a:gd name="adj" fmla="val 3205"/>
              </a:avLst>
            </a:prstGeom>
            <a:solidFill>
              <a:srgbClr val="F5FAF8"/>
            </a:solidFill>
            <a:ln w="9525">
              <a:solidFill>
                <a:srgbClr val="D9E8E2"/>
              </a:solidFill>
            </a:ln>
          </p:spPr>
        </p:sp>
        <p:sp>
          <p:nvSpPr>
            <p:cNvPr id="167" name="Rectangle 167"/>
            <p:cNvSpPr/>
            <p:nvPr/>
          </p:nvSpPr>
          <p:spPr>
            <a:xfrm>
              <a:off x="8458200" y="1466850"/>
              <a:ext cx="47625" cy="152400"/>
            </a:xfrm>
            <a:prstGeom prst="rect">
              <a:avLst/>
            </a:prstGeom>
            <a:solidFill>
              <a:srgbClr val="5B180B"/>
            </a:solidFill>
            <a:ln>
              <a:noFill/>
            </a:ln>
          </p:spPr>
        </p:sp>
        <p:sp>
          <p:nvSpPr>
            <p:cNvPr id="168" name="TextBox 168"/>
            <p:cNvSpPr txBox="1"/>
            <p:nvPr/>
          </p:nvSpPr>
          <p:spPr>
            <a:xfrm>
              <a:off x="8567738" y="1489472"/>
              <a:ext cx="1415341"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获客渠道结构</a:t>
              </a:r>
              <a:r>
                <a:rPr lang="zh-CN" sz="710" dirty="0">
                  <a:solidFill>
                    <a:srgbClr val="5F6F6A"/>
                  </a:solidFill>
                  <a:latin typeface="+mn-lt"/>
                  <a:ea typeface="+mn-ea"/>
                  <a:cs typeface="+mn-cs"/>
                </a:rPr>
                <a:t>（有效线索）</a:t>
              </a:r>
              <a:r>
                <a:rPr lang="zh-CN" sz="940" b="1" dirty="0">
                  <a:solidFill>
                    <a:srgbClr val="5B180B"/>
                  </a:solidFill>
                  <a:latin typeface="+mn-lt"/>
                  <a:ea typeface="+mn-ea"/>
                  <a:cs typeface="+mn-cs"/>
                </a:rPr>
                <a:t>​</a:t>
              </a:r>
            </a:p>
          </p:txBody>
        </p:sp>
        <p:grpSp>
          <p:nvGrpSpPr>
            <p:cNvPr id="174" name="Group 174"/>
            <p:cNvGrpSpPr/>
            <p:nvPr/>
          </p:nvGrpSpPr>
          <p:grpSpPr>
            <a:xfrm>
              <a:off x="8439150" y="1676400"/>
              <a:ext cx="3429000" cy="228600"/>
              <a:chOff x="8439150" y="1676400"/>
              <a:chExt cx="3429000" cy="228600"/>
            </a:xfrm>
          </p:grpSpPr>
          <p:sp>
            <p:nvSpPr>
              <p:cNvPr id="169" name="Rectangle 169"/>
              <p:cNvSpPr/>
              <p:nvPr/>
            </p:nvSpPr>
            <p:spPr>
              <a:xfrm>
                <a:off x="8439150" y="1676400"/>
                <a:ext cx="3429000" cy="228600"/>
              </a:xfrm>
              <a:prstGeom prst="rect">
                <a:avLst/>
              </a:prstGeom>
              <a:solidFill>
                <a:srgbClr val="5B180B"/>
              </a:solidFill>
              <a:ln>
                <a:noFill/>
              </a:ln>
            </p:spPr>
          </p:sp>
          <p:sp>
            <p:nvSpPr>
              <p:cNvPr id="170" name="TextBox 170"/>
              <p:cNvSpPr txBox="1"/>
              <p:nvPr/>
            </p:nvSpPr>
            <p:spPr>
              <a:xfrm>
                <a:off x="8780519" y="1747838"/>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渠道​</a:t>
                </a:r>
              </a:p>
            </p:txBody>
          </p:sp>
          <p:sp>
            <p:nvSpPr>
              <p:cNvPr id="171" name="TextBox 171"/>
              <p:cNvSpPr txBox="1"/>
              <p:nvPr/>
            </p:nvSpPr>
            <p:spPr>
              <a:xfrm>
                <a:off x="9803504" y="1747838"/>
                <a:ext cx="47169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线索数量​</a:t>
                </a:r>
              </a:p>
            </p:txBody>
          </p:sp>
          <p:sp>
            <p:nvSpPr>
              <p:cNvPr id="172" name="TextBox 172"/>
              <p:cNvSpPr txBox="1"/>
              <p:nvPr/>
            </p:nvSpPr>
            <p:spPr>
              <a:xfrm>
                <a:off x="10780769" y="1747838"/>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占比​</a:t>
                </a:r>
              </a:p>
            </p:txBody>
          </p:sp>
          <p:sp>
            <p:nvSpPr>
              <p:cNvPr id="173" name="TextBox 173"/>
              <p:cNvSpPr txBox="1"/>
              <p:nvPr/>
            </p:nvSpPr>
            <p:spPr>
              <a:xfrm>
                <a:off x="11228977" y="1747838"/>
                <a:ext cx="51634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较Q3变化​</a:t>
                </a:r>
              </a:p>
            </p:txBody>
          </p:sp>
        </p:grpSp>
        <p:grpSp>
          <p:nvGrpSpPr>
            <p:cNvPr id="237" name="channel-rows"/>
            <p:cNvGrpSpPr/>
            <p:nvPr/>
          </p:nvGrpSpPr>
          <p:grpSpPr>
            <a:xfrm>
              <a:off x="8439150" y="1905000"/>
              <a:ext cx="3429000" cy="2095500"/>
              <a:chOff x="8439150" y="1905000"/>
              <a:chExt cx="3429000" cy="2095500"/>
            </a:xfrm>
          </p:grpSpPr>
          <p:sp>
            <p:nvSpPr>
              <p:cNvPr id="175" name="Rectangle 175"/>
              <p:cNvSpPr/>
              <p:nvPr/>
            </p:nvSpPr>
            <p:spPr>
              <a:xfrm>
                <a:off x="8439150" y="1905000"/>
                <a:ext cx="3429000" cy="419100"/>
              </a:xfrm>
              <a:prstGeom prst="rect">
                <a:avLst/>
              </a:prstGeom>
              <a:solidFill>
                <a:srgbClr val="FFFFFF"/>
              </a:solidFill>
              <a:ln w="7620">
                <a:solidFill>
                  <a:srgbClr val="D9E8E2"/>
                </a:solidFill>
              </a:ln>
            </p:spPr>
          </p:sp>
          <p:grpSp>
            <p:nvGrpSpPr>
              <p:cNvPr id="184" name="Group 184"/>
              <p:cNvGrpSpPr/>
              <p:nvPr/>
            </p:nvGrpSpPr>
            <p:grpSpPr>
              <a:xfrm>
                <a:off x="8558212" y="2043112"/>
                <a:ext cx="144463" cy="152400"/>
                <a:chOff x="8558212" y="2043112"/>
                <a:chExt cx="144463" cy="152400"/>
              </a:xfrm>
            </p:grpSpPr>
            <p:sp>
              <p:nvSpPr>
                <p:cNvPr id="176" name="Freeform 176"/>
                <p:cNvSpPr/>
                <p:nvPr/>
              </p:nvSpPr>
              <p:spPr>
                <a:xfrm>
                  <a:off x="8558212" y="2185987"/>
                  <a:ext cx="142875" cy="9525"/>
                </a:xfrm>
                <a:custGeom>
                  <a:avLst/>
                  <a:gdLst/>
                  <a:ahLst/>
                  <a:cxnLst/>
                  <a:rect l="l" t="t" r="r" b="b"/>
                  <a:pathLst>
                    <a:path w="142875" h="9525">
                      <a:moveTo>
                        <a:pt x="0" y="0"/>
                      </a:moveTo>
                      <a:lnTo>
                        <a:pt x="142875" y="0"/>
                      </a:lnTo>
                    </a:path>
                  </a:pathLst>
                </a:custGeom>
                <a:noFill/>
                <a:ln w="15875">
                  <a:solidFill>
                    <a:srgbClr val="5B180B"/>
                  </a:solidFill>
                </a:ln>
              </p:spPr>
            </p:sp>
            <p:sp>
              <p:nvSpPr>
                <p:cNvPr id="177" name="Freeform 177"/>
                <p:cNvSpPr/>
                <p:nvPr/>
              </p:nvSpPr>
              <p:spPr>
                <a:xfrm>
                  <a:off x="8558212" y="2098675"/>
                  <a:ext cx="142875" cy="9525"/>
                </a:xfrm>
                <a:custGeom>
                  <a:avLst/>
                  <a:gdLst/>
                  <a:ahLst/>
                  <a:cxnLst/>
                  <a:rect l="l" t="t" r="r" b="b"/>
                  <a:pathLst>
                    <a:path w="142875" h="9525">
                      <a:moveTo>
                        <a:pt x="0" y="0"/>
                      </a:moveTo>
                      <a:lnTo>
                        <a:pt x="142875" y="0"/>
                      </a:lnTo>
                    </a:path>
                  </a:pathLst>
                </a:custGeom>
                <a:noFill/>
                <a:ln w="15875">
                  <a:solidFill>
                    <a:srgbClr val="5B180B"/>
                  </a:solidFill>
                </a:ln>
              </p:spPr>
            </p:sp>
            <p:sp>
              <p:nvSpPr>
                <p:cNvPr id="178" name="Freeform 178"/>
                <p:cNvSpPr/>
                <p:nvPr/>
              </p:nvSpPr>
              <p:spPr>
                <a:xfrm>
                  <a:off x="8574087" y="2043112"/>
                  <a:ext cx="111125" cy="23812"/>
                </a:xfrm>
                <a:custGeom>
                  <a:avLst/>
                  <a:gdLst/>
                  <a:ahLst/>
                  <a:cxnLst/>
                  <a:rect l="l" t="t" r="r" b="b"/>
                  <a:pathLst>
                    <a:path w="111125" h="23812">
                      <a:moveTo>
                        <a:pt x="0" y="23812"/>
                      </a:moveTo>
                      <a:lnTo>
                        <a:pt x="55562" y="0"/>
                      </a:lnTo>
                      <a:lnTo>
                        <a:pt x="111125" y="23812"/>
                      </a:lnTo>
                    </a:path>
                  </a:pathLst>
                </a:custGeom>
                <a:noFill/>
                <a:ln w="15875">
                  <a:solidFill>
                    <a:srgbClr val="5B180B"/>
                  </a:solidFill>
                </a:ln>
              </p:spPr>
            </p:sp>
            <p:sp>
              <p:nvSpPr>
                <p:cNvPr id="179" name="Freeform 179"/>
                <p:cNvSpPr/>
                <p:nvPr/>
              </p:nvSpPr>
              <p:spPr>
                <a:xfrm>
                  <a:off x="8566150" y="2098675"/>
                  <a:ext cx="9525" cy="87312"/>
                </a:xfrm>
                <a:custGeom>
                  <a:avLst/>
                  <a:gdLst/>
                  <a:ahLst/>
                  <a:cxnLst/>
                  <a:rect l="l" t="t" r="r" b="b"/>
                  <a:pathLst>
                    <a:path w="9525" h="87312">
                      <a:moveTo>
                        <a:pt x="0" y="0"/>
                      </a:moveTo>
                      <a:lnTo>
                        <a:pt x="0" y="87312"/>
                      </a:lnTo>
                    </a:path>
                  </a:pathLst>
                </a:custGeom>
                <a:noFill/>
                <a:ln w="15875">
                  <a:solidFill>
                    <a:srgbClr val="5B180B"/>
                  </a:solidFill>
                </a:ln>
              </p:spPr>
            </p:sp>
            <p:sp>
              <p:nvSpPr>
                <p:cNvPr id="180" name="Freeform 180"/>
                <p:cNvSpPr/>
                <p:nvPr/>
              </p:nvSpPr>
              <p:spPr>
                <a:xfrm>
                  <a:off x="8693150" y="2098675"/>
                  <a:ext cx="9525" cy="87312"/>
                </a:xfrm>
                <a:custGeom>
                  <a:avLst/>
                  <a:gdLst/>
                  <a:ahLst/>
                  <a:cxnLst/>
                  <a:rect l="l" t="t" r="r" b="b"/>
                  <a:pathLst>
                    <a:path w="9525" h="87312">
                      <a:moveTo>
                        <a:pt x="0" y="0"/>
                      </a:moveTo>
                      <a:lnTo>
                        <a:pt x="0" y="87312"/>
                      </a:lnTo>
                    </a:path>
                  </a:pathLst>
                </a:custGeom>
                <a:noFill/>
                <a:ln w="15875">
                  <a:solidFill>
                    <a:srgbClr val="5B180B"/>
                  </a:solidFill>
                </a:ln>
              </p:spPr>
            </p:sp>
            <p:sp>
              <p:nvSpPr>
                <p:cNvPr id="181" name="Freeform 181"/>
                <p:cNvSpPr/>
                <p:nvPr/>
              </p:nvSpPr>
              <p:spPr>
                <a:xfrm>
                  <a:off x="8597900" y="2130425"/>
                  <a:ext cx="9525" cy="23812"/>
                </a:xfrm>
                <a:custGeom>
                  <a:avLst/>
                  <a:gdLst/>
                  <a:ahLst/>
                  <a:cxnLst/>
                  <a:rect l="l" t="t" r="r" b="b"/>
                  <a:pathLst>
                    <a:path w="9525" h="23812">
                      <a:moveTo>
                        <a:pt x="0" y="0"/>
                      </a:moveTo>
                      <a:lnTo>
                        <a:pt x="0" y="23812"/>
                      </a:lnTo>
                    </a:path>
                  </a:pathLst>
                </a:custGeom>
                <a:noFill/>
                <a:ln w="15875">
                  <a:solidFill>
                    <a:srgbClr val="5B180B"/>
                  </a:solidFill>
                </a:ln>
              </p:spPr>
            </p:sp>
            <p:sp>
              <p:nvSpPr>
                <p:cNvPr id="182" name="Freeform 182"/>
                <p:cNvSpPr/>
                <p:nvPr/>
              </p:nvSpPr>
              <p:spPr>
                <a:xfrm>
                  <a:off x="8629650" y="2130425"/>
                  <a:ext cx="9525" cy="23812"/>
                </a:xfrm>
                <a:custGeom>
                  <a:avLst/>
                  <a:gdLst/>
                  <a:ahLst/>
                  <a:cxnLst/>
                  <a:rect l="l" t="t" r="r" b="b"/>
                  <a:pathLst>
                    <a:path w="9525" h="23812">
                      <a:moveTo>
                        <a:pt x="0" y="0"/>
                      </a:moveTo>
                      <a:lnTo>
                        <a:pt x="0" y="23812"/>
                      </a:lnTo>
                    </a:path>
                  </a:pathLst>
                </a:custGeom>
                <a:noFill/>
                <a:ln w="15875">
                  <a:solidFill>
                    <a:srgbClr val="5B180B"/>
                  </a:solidFill>
                </a:ln>
              </p:spPr>
            </p:sp>
            <p:sp>
              <p:nvSpPr>
                <p:cNvPr id="183" name="Freeform 183"/>
                <p:cNvSpPr/>
                <p:nvPr/>
              </p:nvSpPr>
              <p:spPr>
                <a:xfrm>
                  <a:off x="8661400" y="2130425"/>
                  <a:ext cx="9525" cy="23812"/>
                </a:xfrm>
                <a:custGeom>
                  <a:avLst/>
                  <a:gdLst/>
                  <a:ahLst/>
                  <a:cxnLst/>
                  <a:rect l="l" t="t" r="r" b="b"/>
                  <a:pathLst>
                    <a:path w="9525" h="23812">
                      <a:moveTo>
                        <a:pt x="0" y="0"/>
                      </a:moveTo>
                      <a:lnTo>
                        <a:pt x="0" y="23812"/>
                      </a:lnTo>
                    </a:path>
                  </a:pathLst>
                </a:custGeom>
                <a:noFill/>
                <a:ln w="15875">
                  <a:solidFill>
                    <a:srgbClr val="5B180B"/>
                  </a:solidFill>
                </a:ln>
              </p:spPr>
            </p:sp>
          </p:grpSp>
          <p:sp>
            <p:nvSpPr>
              <p:cNvPr id="185" name="TextBox 185"/>
              <p:cNvSpPr txBox="1"/>
              <p:nvPr/>
            </p:nvSpPr>
            <p:spPr>
              <a:xfrm>
                <a:off x="8777288" y="2071688"/>
                <a:ext cx="47169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企业代发​</a:t>
                </a:r>
              </a:p>
            </p:txBody>
          </p:sp>
          <p:sp>
            <p:nvSpPr>
              <p:cNvPr id="186" name="TextBox 186"/>
              <p:cNvSpPr txBox="1"/>
              <p:nvPr/>
            </p:nvSpPr>
            <p:spPr>
              <a:xfrm>
                <a:off x="9229858" y="2071688"/>
                <a:ext cx="242754" cy="147638"/>
              </a:xfrm>
              <a:prstGeom prst="rect">
                <a:avLst/>
              </a:prstGeom>
              <a:noFill/>
              <a:ln>
                <a:noFill/>
              </a:ln>
            </p:spPr>
            <p:txBody>
              <a:bodyPr wrap="none" lIns="0" tIns="0" rIns="0" bIns="0" anchor="t" anchorCtr="0">
                <a:spAutoFit/>
              </a:bodyPr>
              <a:lstStyle/>
              <a:p>
                <a:pPr algn="r"/>
                <a:r>
                  <a:rPr lang="zh-CN" sz="750" b="1" dirty="0">
                    <a:solidFill>
                      <a:srgbClr val="5B180B"/>
                    </a:solidFill>
                    <a:latin typeface="+mn-lt"/>
                    <a:ea typeface="+mn-ea"/>
                    <a:cs typeface="+mn-cs"/>
                  </a:rPr>
                  <a:t>280​</a:t>
                </a:r>
              </a:p>
            </p:txBody>
          </p:sp>
          <p:sp>
            <p:nvSpPr>
              <p:cNvPr id="187" name="Rectangle 187"/>
              <p:cNvSpPr/>
              <p:nvPr/>
            </p:nvSpPr>
            <p:spPr>
              <a:xfrm>
                <a:off x="9525000" y="2057400"/>
                <a:ext cx="1047750" cy="114300"/>
              </a:xfrm>
              <a:prstGeom prst="rect">
                <a:avLst/>
              </a:prstGeom>
              <a:solidFill>
                <a:srgbClr val="E3F1EC"/>
              </a:solidFill>
              <a:ln>
                <a:noFill/>
              </a:ln>
            </p:spPr>
          </p:sp>
          <p:sp>
            <p:nvSpPr>
              <p:cNvPr id="188" name="Rectangle 188"/>
              <p:cNvSpPr/>
              <p:nvPr/>
            </p:nvSpPr>
            <p:spPr>
              <a:xfrm>
                <a:off x="9525000" y="2057400"/>
                <a:ext cx="1047750" cy="114300"/>
              </a:xfrm>
              <a:prstGeom prst="rect">
                <a:avLst/>
              </a:prstGeom>
              <a:solidFill>
                <a:srgbClr val="5B180B"/>
              </a:solidFill>
              <a:ln>
                <a:noFill/>
              </a:ln>
            </p:spPr>
          </p:sp>
          <p:sp>
            <p:nvSpPr>
              <p:cNvPr id="189" name="TextBox 189"/>
              <p:cNvSpPr txBox="1"/>
              <p:nvPr/>
            </p:nvSpPr>
            <p:spPr>
              <a:xfrm>
                <a:off x="10789730" y="207168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29%​</a:t>
                </a:r>
              </a:p>
            </p:txBody>
          </p:sp>
          <p:sp>
            <p:nvSpPr>
              <p:cNvPr id="190" name="TextBox 190"/>
              <p:cNvSpPr txBox="1"/>
              <p:nvPr/>
            </p:nvSpPr>
            <p:spPr>
              <a:xfrm>
                <a:off x="11310116" y="2071688"/>
                <a:ext cx="354068" cy="147638"/>
              </a:xfrm>
              <a:prstGeom prst="rect">
                <a:avLst/>
              </a:prstGeom>
              <a:noFill/>
              <a:ln>
                <a:noFill/>
              </a:ln>
            </p:spPr>
            <p:txBody>
              <a:bodyPr wrap="none" lIns="0" tIns="0" rIns="0" bIns="0" anchor="t" anchorCtr="0">
                <a:spAutoFit/>
              </a:bodyPr>
              <a:lstStyle/>
              <a:p>
                <a:pPr algn="ctr"/>
                <a:r>
                  <a:rPr lang="zh-CN" sz="750" b="1" dirty="0">
                    <a:solidFill>
                      <a:srgbClr val="9E402E"/>
                    </a:solidFill>
                    <a:latin typeface="+mn-lt"/>
                    <a:ea typeface="+mn-ea"/>
                    <a:cs typeface="+mn-cs"/>
                  </a:rPr>
                  <a:t>↑ +6%​</a:t>
                </a:r>
              </a:p>
            </p:txBody>
          </p:sp>
          <p:sp>
            <p:nvSpPr>
              <p:cNvPr id="191" name="Rectangle 191"/>
              <p:cNvSpPr/>
              <p:nvPr/>
            </p:nvSpPr>
            <p:spPr>
              <a:xfrm>
                <a:off x="8439150" y="2324100"/>
                <a:ext cx="3429000" cy="419100"/>
              </a:xfrm>
              <a:prstGeom prst="rect">
                <a:avLst/>
              </a:prstGeom>
              <a:solidFill>
                <a:srgbClr val="F7FBF9"/>
              </a:solidFill>
              <a:ln w="7620">
                <a:solidFill>
                  <a:srgbClr val="D9E8E2"/>
                </a:solidFill>
              </a:ln>
            </p:spPr>
          </p:sp>
          <p:grpSp>
            <p:nvGrpSpPr>
              <p:cNvPr id="196" name="Group 196"/>
              <p:cNvGrpSpPr/>
              <p:nvPr/>
            </p:nvGrpSpPr>
            <p:grpSpPr>
              <a:xfrm>
                <a:off x="8558212" y="2462212"/>
                <a:ext cx="142875" cy="142875"/>
                <a:chOff x="8558212" y="2462212"/>
                <a:chExt cx="142875" cy="142875"/>
              </a:xfrm>
            </p:grpSpPr>
            <p:sp>
              <p:nvSpPr>
                <p:cNvPr id="192" name="Freeform 192"/>
                <p:cNvSpPr/>
                <p:nvPr/>
              </p:nvSpPr>
              <p:spPr>
                <a:xfrm>
                  <a:off x="8574087" y="24622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5B180B"/>
                  </a:solidFill>
                </a:ln>
              </p:spPr>
            </p:sp>
            <p:sp>
              <p:nvSpPr>
                <p:cNvPr id="193" name="Freeform 193"/>
                <p:cNvSpPr/>
                <p:nvPr/>
              </p:nvSpPr>
              <p:spPr>
                <a:xfrm>
                  <a:off x="8558212" y="25574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5B180B"/>
                  </a:solidFill>
                </a:ln>
              </p:spPr>
            </p:sp>
            <p:sp>
              <p:nvSpPr>
                <p:cNvPr id="194" name="Freeform 194"/>
                <p:cNvSpPr/>
                <p:nvPr/>
              </p:nvSpPr>
              <p:spPr>
                <a:xfrm>
                  <a:off x="8661400" y="24632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5B180B"/>
                  </a:solidFill>
                </a:ln>
              </p:spPr>
            </p:sp>
            <p:sp>
              <p:nvSpPr>
                <p:cNvPr id="195" name="Freeform 195"/>
                <p:cNvSpPr/>
                <p:nvPr/>
              </p:nvSpPr>
              <p:spPr>
                <a:xfrm>
                  <a:off x="8677275" y="25586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5B180B"/>
                  </a:solidFill>
                </a:ln>
              </p:spPr>
            </p:sp>
          </p:grpSp>
          <p:sp>
            <p:nvSpPr>
              <p:cNvPr id="197" name="TextBox 197"/>
              <p:cNvSpPr txBox="1"/>
              <p:nvPr/>
            </p:nvSpPr>
            <p:spPr>
              <a:xfrm>
                <a:off x="8777288" y="2490788"/>
                <a:ext cx="47169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存量客户​</a:t>
                </a:r>
              </a:p>
            </p:txBody>
          </p:sp>
          <p:sp>
            <p:nvSpPr>
              <p:cNvPr id="198" name="TextBox 198"/>
              <p:cNvSpPr txBox="1"/>
              <p:nvPr/>
            </p:nvSpPr>
            <p:spPr>
              <a:xfrm>
                <a:off x="9229858" y="2490788"/>
                <a:ext cx="242754" cy="147638"/>
              </a:xfrm>
              <a:prstGeom prst="rect">
                <a:avLst/>
              </a:prstGeom>
              <a:noFill/>
              <a:ln>
                <a:noFill/>
              </a:ln>
            </p:spPr>
            <p:txBody>
              <a:bodyPr wrap="none" lIns="0" tIns="0" rIns="0" bIns="0" anchor="t" anchorCtr="0">
                <a:spAutoFit/>
              </a:bodyPr>
              <a:lstStyle/>
              <a:p>
                <a:pPr algn="r"/>
                <a:r>
                  <a:rPr lang="zh-CN" sz="750" b="1" dirty="0">
                    <a:solidFill>
                      <a:srgbClr val="5B180B"/>
                    </a:solidFill>
                    <a:latin typeface="+mn-lt"/>
                    <a:ea typeface="+mn-ea"/>
                    <a:cs typeface="+mn-cs"/>
                  </a:rPr>
                  <a:t>240​</a:t>
                </a:r>
              </a:p>
            </p:txBody>
          </p:sp>
          <p:sp>
            <p:nvSpPr>
              <p:cNvPr id="199" name="Rectangle 199"/>
              <p:cNvSpPr/>
              <p:nvPr/>
            </p:nvSpPr>
            <p:spPr>
              <a:xfrm>
                <a:off x="9525000" y="2476500"/>
                <a:ext cx="1047750" cy="114300"/>
              </a:xfrm>
              <a:prstGeom prst="rect">
                <a:avLst/>
              </a:prstGeom>
              <a:solidFill>
                <a:srgbClr val="E3F1EC"/>
              </a:solidFill>
              <a:ln>
                <a:noFill/>
              </a:ln>
            </p:spPr>
          </p:sp>
          <p:sp>
            <p:nvSpPr>
              <p:cNvPr id="200" name="Rectangle 200"/>
              <p:cNvSpPr/>
              <p:nvPr/>
            </p:nvSpPr>
            <p:spPr>
              <a:xfrm>
                <a:off x="9525000" y="2476500"/>
                <a:ext cx="895350" cy="114300"/>
              </a:xfrm>
              <a:prstGeom prst="rect">
                <a:avLst/>
              </a:prstGeom>
              <a:solidFill>
                <a:srgbClr val="722617"/>
              </a:solidFill>
              <a:ln>
                <a:noFill/>
              </a:ln>
            </p:spPr>
          </p:sp>
          <p:sp>
            <p:nvSpPr>
              <p:cNvPr id="201" name="TextBox 201"/>
              <p:cNvSpPr txBox="1"/>
              <p:nvPr/>
            </p:nvSpPr>
            <p:spPr>
              <a:xfrm>
                <a:off x="10789730" y="249078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25%​</a:t>
                </a:r>
              </a:p>
            </p:txBody>
          </p:sp>
          <p:sp>
            <p:nvSpPr>
              <p:cNvPr id="202" name="TextBox 202"/>
              <p:cNvSpPr txBox="1"/>
              <p:nvPr/>
            </p:nvSpPr>
            <p:spPr>
              <a:xfrm>
                <a:off x="11310116" y="2490788"/>
                <a:ext cx="354068" cy="147638"/>
              </a:xfrm>
              <a:prstGeom prst="rect">
                <a:avLst/>
              </a:prstGeom>
              <a:noFill/>
              <a:ln>
                <a:noFill/>
              </a:ln>
            </p:spPr>
            <p:txBody>
              <a:bodyPr wrap="none" lIns="0" tIns="0" rIns="0" bIns="0" anchor="t" anchorCtr="0">
                <a:spAutoFit/>
              </a:bodyPr>
              <a:lstStyle/>
              <a:p>
                <a:pPr algn="ctr"/>
                <a:r>
                  <a:rPr lang="zh-CN" sz="750" b="1" dirty="0">
                    <a:solidFill>
                      <a:srgbClr val="9E402E"/>
                    </a:solidFill>
                    <a:latin typeface="+mn-lt"/>
                    <a:ea typeface="+mn-ea"/>
                    <a:cs typeface="+mn-cs"/>
                  </a:rPr>
                  <a:t>↑ +8%​</a:t>
                </a:r>
              </a:p>
            </p:txBody>
          </p:sp>
          <p:sp>
            <p:nvSpPr>
              <p:cNvPr id="203" name="Rectangle 203"/>
              <p:cNvSpPr/>
              <p:nvPr/>
            </p:nvSpPr>
            <p:spPr>
              <a:xfrm>
                <a:off x="8439150" y="2743200"/>
                <a:ext cx="3429000" cy="419100"/>
              </a:xfrm>
              <a:prstGeom prst="rect">
                <a:avLst/>
              </a:prstGeom>
              <a:solidFill>
                <a:srgbClr val="FFFFFF"/>
              </a:solidFill>
              <a:ln w="7620">
                <a:solidFill>
                  <a:srgbClr val="D9E8E2"/>
                </a:solidFill>
              </a:ln>
            </p:spPr>
          </p:sp>
          <p:grpSp>
            <p:nvGrpSpPr>
              <p:cNvPr id="208" name="Group 208"/>
              <p:cNvGrpSpPr/>
              <p:nvPr/>
            </p:nvGrpSpPr>
            <p:grpSpPr>
              <a:xfrm>
                <a:off x="8566150" y="2881312"/>
                <a:ext cx="127000" cy="142875"/>
                <a:chOff x="8566150" y="2881312"/>
                <a:chExt cx="127000" cy="142875"/>
              </a:xfrm>
            </p:grpSpPr>
            <p:sp>
              <p:nvSpPr>
                <p:cNvPr id="204" name="Freeform 204"/>
                <p:cNvSpPr/>
                <p:nvPr/>
              </p:nvSpPr>
              <p:spPr>
                <a:xfrm>
                  <a:off x="8566150" y="29924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5B180B"/>
                  </a:solidFill>
                </a:ln>
              </p:spPr>
            </p:sp>
            <p:sp>
              <p:nvSpPr>
                <p:cNvPr id="205" name="Freeform 205"/>
                <p:cNvSpPr/>
                <p:nvPr/>
              </p:nvSpPr>
              <p:spPr>
                <a:xfrm>
                  <a:off x="8653462" y="29924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5B180B"/>
                  </a:solidFill>
                </a:ln>
              </p:spPr>
            </p:sp>
            <p:sp>
              <p:nvSpPr>
                <p:cNvPr id="206" name="Freeform 206"/>
                <p:cNvSpPr/>
                <p:nvPr/>
              </p:nvSpPr>
              <p:spPr>
                <a:xfrm>
                  <a:off x="8566150" y="2881312"/>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5B180B"/>
                  </a:solidFill>
                </a:ln>
              </p:spPr>
            </p:sp>
            <p:sp>
              <p:nvSpPr>
                <p:cNvPr id="207" name="Freeform 207"/>
                <p:cNvSpPr/>
                <p:nvPr/>
              </p:nvSpPr>
              <p:spPr>
                <a:xfrm>
                  <a:off x="8582025" y="2897187"/>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5B180B"/>
                  </a:solidFill>
                </a:ln>
              </p:spPr>
            </p:sp>
          </p:grpSp>
          <p:sp>
            <p:nvSpPr>
              <p:cNvPr id="209" name="TextBox 209"/>
              <p:cNvSpPr txBox="1"/>
              <p:nvPr/>
            </p:nvSpPr>
            <p:spPr>
              <a:xfrm>
                <a:off x="8777288" y="2909888"/>
                <a:ext cx="47169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商户推荐​</a:t>
                </a:r>
              </a:p>
            </p:txBody>
          </p:sp>
          <p:sp>
            <p:nvSpPr>
              <p:cNvPr id="210" name="TextBox 210"/>
              <p:cNvSpPr txBox="1"/>
              <p:nvPr/>
            </p:nvSpPr>
            <p:spPr>
              <a:xfrm>
                <a:off x="9229858" y="2909888"/>
                <a:ext cx="242754" cy="147638"/>
              </a:xfrm>
              <a:prstGeom prst="rect">
                <a:avLst/>
              </a:prstGeom>
              <a:noFill/>
              <a:ln>
                <a:noFill/>
              </a:ln>
            </p:spPr>
            <p:txBody>
              <a:bodyPr wrap="none" lIns="0" tIns="0" rIns="0" bIns="0" anchor="t" anchorCtr="0">
                <a:spAutoFit/>
              </a:bodyPr>
              <a:lstStyle/>
              <a:p>
                <a:pPr algn="r"/>
                <a:r>
                  <a:rPr lang="zh-CN" sz="750" b="1" dirty="0">
                    <a:solidFill>
                      <a:srgbClr val="5B180B"/>
                    </a:solidFill>
                    <a:latin typeface="+mn-lt"/>
                    <a:ea typeface="+mn-ea"/>
                    <a:cs typeface="+mn-cs"/>
                  </a:rPr>
                  <a:t>168​</a:t>
                </a:r>
              </a:p>
            </p:txBody>
          </p:sp>
          <p:sp>
            <p:nvSpPr>
              <p:cNvPr id="211" name="Rectangle 211"/>
              <p:cNvSpPr/>
              <p:nvPr/>
            </p:nvSpPr>
            <p:spPr>
              <a:xfrm>
                <a:off x="9525000" y="2895600"/>
                <a:ext cx="1047750" cy="114300"/>
              </a:xfrm>
              <a:prstGeom prst="rect">
                <a:avLst/>
              </a:prstGeom>
              <a:solidFill>
                <a:srgbClr val="E3F1EC"/>
              </a:solidFill>
              <a:ln>
                <a:noFill/>
              </a:ln>
            </p:spPr>
          </p:sp>
          <p:sp>
            <p:nvSpPr>
              <p:cNvPr id="212" name="Rectangle 212"/>
              <p:cNvSpPr/>
              <p:nvPr/>
            </p:nvSpPr>
            <p:spPr>
              <a:xfrm>
                <a:off x="9525000" y="2895600"/>
                <a:ext cx="628650" cy="114300"/>
              </a:xfrm>
              <a:prstGeom prst="rect">
                <a:avLst/>
              </a:prstGeom>
              <a:solidFill>
                <a:srgbClr val="9A412F"/>
              </a:solidFill>
              <a:ln>
                <a:noFill/>
              </a:ln>
            </p:spPr>
          </p:sp>
          <p:sp>
            <p:nvSpPr>
              <p:cNvPr id="213" name="TextBox 213"/>
              <p:cNvSpPr txBox="1"/>
              <p:nvPr/>
            </p:nvSpPr>
            <p:spPr>
              <a:xfrm>
                <a:off x="10789730" y="290988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18%​</a:t>
                </a:r>
              </a:p>
            </p:txBody>
          </p:sp>
          <p:sp>
            <p:nvSpPr>
              <p:cNvPr id="214" name="TextBox 214"/>
              <p:cNvSpPr txBox="1"/>
              <p:nvPr/>
            </p:nvSpPr>
            <p:spPr>
              <a:xfrm>
                <a:off x="11310116" y="2909888"/>
                <a:ext cx="354068" cy="147638"/>
              </a:xfrm>
              <a:prstGeom prst="rect">
                <a:avLst/>
              </a:prstGeom>
              <a:noFill/>
              <a:ln>
                <a:noFill/>
              </a:ln>
            </p:spPr>
            <p:txBody>
              <a:bodyPr wrap="none" lIns="0" tIns="0" rIns="0" bIns="0" anchor="t" anchorCtr="0">
                <a:spAutoFit/>
              </a:bodyPr>
              <a:lstStyle/>
              <a:p>
                <a:pPr algn="ctr"/>
                <a:r>
                  <a:rPr lang="zh-CN" sz="750" b="1" dirty="0">
                    <a:solidFill>
                      <a:srgbClr val="9E402E"/>
                    </a:solidFill>
                    <a:latin typeface="+mn-lt"/>
                    <a:ea typeface="+mn-ea"/>
                    <a:cs typeface="+mn-cs"/>
                  </a:rPr>
                  <a:t>↑ +4%​</a:t>
                </a:r>
              </a:p>
            </p:txBody>
          </p:sp>
          <p:sp>
            <p:nvSpPr>
              <p:cNvPr id="215" name="Rectangle 215"/>
              <p:cNvSpPr/>
              <p:nvPr/>
            </p:nvSpPr>
            <p:spPr>
              <a:xfrm>
                <a:off x="8439150" y="3162300"/>
                <a:ext cx="3429000" cy="419100"/>
              </a:xfrm>
              <a:prstGeom prst="rect">
                <a:avLst/>
              </a:prstGeom>
              <a:solidFill>
                <a:srgbClr val="F7FBF9"/>
              </a:solidFill>
              <a:ln w="7620">
                <a:solidFill>
                  <a:srgbClr val="D9E8E2"/>
                </a:solidFill>
              </a:ln>
            </p:spPr>
          </p:sp>
          <p:grpSp>
            <p:nvGrpSpPr>
              <p:cNvPr id="219" name="Group 219"/>
              <p:cNvGrpSpPr/>
              <p:nvPr/>
            </p:nvGrpSpPr>
            <p:grpSpPr>
              <a:xfrm>
                <a:off x="8582025" y="3300412"/>
                <a:ext cx="95250" cy="142875"/>
                <a:chOff x="8582025" y="3300412"/>
                <a:chExt cx="95250" cy="142875"/>
              </a:xfrm>
            </p:grpSpPr>
            <p:sp>
              <p:nvSpPr>
                <p:cNvPr id="216" name="Freeform 216"/>
                <p:cNvSpPr/>
                <p:nvPr/>
              </p:nvSpPr>
              <p:spPr>
                <a:xfrm>
                  <a:off x="8582025" y="330041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5B180B"/>
                  </a:solidFill>
                </a:ln>
              </p:spPr>
            </p:sp>
            <p:sp>
              <p:nvSpPr>
                <p:cNvPr id="217" name="Freeform 217"/>
                <p:cNvSpPr/>
                <p:nvPr/>
              </p:nvSpPr>
              <p:spPr>
                <a:xfrm>
                  <a:off x="8621712" y="3308350"/>
                  <a:ext cx="15875" cy="9525"/>
                </a:xfrm>
                <a:custGeom>
                  <a:avLst/>
                  <a:gdLst/>
                  <a:ahLst/>
                  <a:cxnLst/>
                  <a:rect l="l" t="t" r="r" b="b"/>
                  <a:pathLst>
                    <a:path w="15875" h="9525">
                      <a:moveTo>
                        <a:pt x="0" y="0"/>
                      </a:moveTo>
                      <a:lnTo>
                        <a:pt x="15875" y="0"/>
                      </a:lnTo>
                    </a:path>
                  </a:pathLst>
                </a:custGeom>
                <a:noFill/>
                <a:ln w="15875">
                  <a:solidFill>
                    <a:srgbClr val="5B180B"/>
                  </a:solidFill>
                </a:ln>
              </p:spPr>
            </p:sp>
            <p:sp>
              <p:nvSpPr>
                <p:cNvPr id="218" name="Freeform 218"/>
                <p:cNvSpPr/>
                <p:nvPr/>
              </p:nvSpPr>
              <p:spPr>
                <a:xfrm>
                  <a:off x="8629650" y="3411537"/>
                  <a:ext cx="9525" cy="9525"/>
                </a:xfrm>
                <a:custGeom>
                  <a:avLst/>
                  <a:gdLst/>
                  <a:ahLst/>
                  <a:cxnLst/>
                  <a:rect l="l" t="t" r="r" b="b"/>
                  <a:pathLst>
                    <a:path w="9525" h="9525">
                      <a:moveTo>
                        <a:pt x="0" y="0"/>
                      </a:moveTo>
                      <a:lnTo>
                        <a:pt x="0" y="79"/>
                      </a:lnTo>
                    </a:path>
                  </a:pathLst>
                </a:custGeom>
                <a:noFill/>
                <a:ln w="15875">
                  <a:solidFill>
                    <a:srgbClr val="5B180B"/>
                  </a:solidFill>
                </a:ln>
              </p:spPr>
            </p:sp>
          </p:grpSp>
          <p:sp>
            <p:nvSpPr>
              <p:cNvPr id="220" name="TextBox 220"/>
              <p:cNvSpPr txBox="1"/>
              <p:nvPr/>
            </p:nvSpPr>
            <p:spPr>
              <a:xfrm>
                <a:off x="8777288" y="3328988"/>
                <a:ext cx="47169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线上活动​</a:t>
                </a:r>
              </a:p>
            </p:txBody>
          </p:sp>
          <p:sp>
            <p:nvSpPr>
              <p:cNvPr id="221" name="TextBox 221"/>
              <p:cNvSpPr txBox="1"/>
              <p:nvPr/>
            </p:nvSpPr>
            <p:spPr>
              <a:xfrm>
                <a:off x="9229858" y="3328988"/>
                <a:ext cx="242754" cy="147638"/>
              </a:xfrm>
              <a:prstGeom prst="rect">
                <a:avLst/>
              </a:prstGeom>
              <a:noFill/>
              <a:ln>
                <a:noFill/>
              </a:ln>
            </p:spPr>
            <p:txBody>
              <a:bodyPr wrap="none" lIns="0" tIns="0" rIns="0" bIns="0" anchor="t" anchorCtr="0">
                <a:spAutoFit/>
              </a:bodyPr>
              <a:lstStyle/>
              <a:p>
                <a:pPr algn="r"/>
                <a:r>
                  <a:rPr lang="zh-CN" sz="750" b="1" dirty="0">
                    <a:solidFill>
                      <a:srgbClr val="5B180B"/>
                    </a:solidFill>
                    <a:latin typeface="+mn-lt"/>
                    <a:ea typeface="+mn-ea"/>
                    <a:cs typeface="+mn-cs"/>
                  </a:rPr>
                  <a:t>176​</a:t>
                </a:r>
              </a:p>
            </p:txBody>
          </p:sp>
          <p:sp>
            <p:nvSpPr>
              <p:cNvPr id="222" name="Rectangle 222"/>
              <p:cNvSpPr/>
              <p:nvPr/>
            </p:nvSpPr>
            <p:spPr>
              <a:xfrm>
                <a:off x="9525000" y="3314700"/>
                <a:ext cx="1047750" cy="114300"/>
              </a:xfrm>
              <a:prstGeom prst="rect">
                <a:avLst/>
              </a:prstGeom>
              <a:solidFill>
                <a:srgbClr val="E3F1EC"/>
              </a:solidFill>
              <a:ln>
                <a:noFill/>
              </a:ln>
            </p:spPr>
          </p:sp>
          <p:sp>
            <p:nvSpPr>
              <p:cNvPr id="223" name="Rectangle 223"/>
              <p:cNvSpPr/>
              <p:nvPr/>
            </p:nvSpPr>
            <p:spPr>
              <a:xfrm>
                <a:off x="9525000" y="3314700"/>
                <a:ext cx="657225" cy="114300"/>
              </a:xfrm>
              <a:prstGeom prst="rect">
                <a:avLst/>
              </a:prstGeom>
              <a:solidFill>
                <a:srgbClr val="B57A6F"/>
              </a:solidFill>
              <a:ln>
                <a:noFill/>
              </a:ln>
            </p:spPr>
          </p:sp>
          <p:sp>
            <p:nvSpPr>
              <p:cNvPr id="224" name="TextBox 224"/>
              <p:cNvSpPr txBox="1"/>
              <p:nvPr/>
            </p:nvSpPr>
            <p:spPr>
              <a:xfrm>
                <a:off x="10789730" y="332898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18%​</a:t>
                </a:r>
              </a:p>
            </p:txBody>
          </p:sp>
          <p:sp>
            <p:nvSpPr>
              <p:cNvPr id="225" name="TextBox 225"/>
              <p:cNvSpPr txBox="1"/>
              <p:nvPr/>
            </p:nvSpPr>
            <p:spPr>
              <a:xfrm>
                <a:off x="11310116" y="3328988"/>
                <a:ext cx="354068" cy="147638"/>
              </a:xfrm>
              <a:prstGeom prst="rect">
                <a:avLst/>
              </a:prstGeom>
              <a:noFill/>
              <a:ln>
                <a:noFill/>
              </a:ln>
            </p:spPr>
            <p:txBody>
              <a:bodyPr wrap="none" lIns="0" tIns="0" rIns="0" bIns="0" anchor="t" anchorCtr="0">
                <a:spAutoFit/>
              </a:bodyPr>
              <a:lstStyle/>
              <a:p>
                <a:pPr algn="ctr"/>
                <a:r>
                  <a:rPr lang="zh-CN" sz="750" b="1" dirty="0">
                    <a:solidFill>
                      <a:srgbClr val="C24833"/>
                    </a:solidFill>
                    <a:latin typeface="+mn-lt"/>
                    <a:ea typeface="+mn-ea"/>
                    <a:cs typeface="+mn-cs"/>
                  </a:rPr>
                  <a:t>↓ -5%​</a:t>
                </a:r>
              </a:p>
            </p:txBody>
          </p:sp>
          <p:sp>
            <p:nvSpPr>
              <p:cNvPr id="226" name="Rectangle 226"/>
              <p:cNvSpPr/>
              <p:nvPr/>
            </p:nvSpPr>
            <p:spPr>
              <a:xfrm>
                <a:off x="8439150" y="3581400"/>
                <a:ext cx="3429000" cy="419100"/>
              </a:xfrm>
              <a:prstGeom prst="rect">
                <a:avLst/>
              </a:prstGeom>
              <a:solidFill>
                <a:srgbClr val="FFFFFF"/>
              </a:solidFill>
              <a:ln w="7620">
                <a:solidFill>
                  <a:srgbClr val="D9E8E2"/>
                </a:solidFill>
              </a:ln>
            </p:spPr>
          </p:sp>
          <p:grpSp>
            <p:nvGrpSpPr>
              <p:cNvPr id="230" name="Group 230"/>
              <p:cNvGrpSpPr/>
              <p:nvPr/>
            </p:nvGrpSpPr>
            <p:grpSpPr>
              <a:xfrm>
                <a:off x="8558212" y="3719512"/>
                <a:ext cx="142875" cy="142875"/>
                <a:chOff x="8558212" y="3719512"/>
                <a:chExt cx="142875" cy="142875"/>
              </a:xfrm>
            </p:grpSpPr>
            <p:sp>
              <p:nvSpPr>
                <p:cNvPr id="227" name="Freeform 227"/>
                <p:cNvSpPr/>
                <p:nvPr/>
              </p:nvSpPr>
              <p:spPr>
                <a:xfrm>
                  <a:off x="8558212" y="371951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5B180B"/>
                  </a:solidFill>
                </a:ln>
              </p:spPr>
            </p:sp>
            <p:sp>
              <p:nvSpPr>
                <p:cNvPr id="228" name="Freeform 228"/>
                <p:cNvSpPr/>
                <p:nvPr/>
              </p:nvSpPr>
              <p:spPr>
                <a:xfrm>
                  <a:off x="8574087" y="379095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5B180B"/>
                  </a:solidFill>
                </a:ln>
              </p:spPr>
            </p:sp>
            <p:sp>
              <p:nvSpPr>
                <p:cNvPr id="229" name="Freeform 229"/>
                <p:cNvSpPr/>
                <p:nvPr/>
              </p:nvSpPr>
              <p:spPr>
                <a:xfrm>
                  <a:off x="8605837" y="379888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5B180B"/>
                  </a:solidFill>
                </a:ln>
              </p:spPr>
            </p:sp>
          </p:grpSp>
          <p:sp>
            <p:nvSpPr>
              <p:cNvPr id="231" name="TextBox 231"/>
              <p:cNvSpPr txBox="1"/>
              <p:nvPr/>
            </p:nvSpPr>
            <p:spPr>
              <a:xfrm>
                <a:off x="8777288" y="3748088"/>
                <a:ext cx="47169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厅堂渠道​</a:t>
                </a:r>
              </a:p>
            </p:txBody>
          </p:sp>
          <p:sp>
            <p:nvSpPr>
              <p:cNvPr id="232" name="TextBox 232"/>
              <p:cNvSpPr txBox="1"/>
              <p:nvPr/>
            </p:nvSpPr>
            <p:spPr>
              <a:xfrm>
                <a:off x="9288166" y="3748088"/>
                <a:ext cx="184447" cy="147638"/>
              </a:xfrm>
              <a:prstGeom prst="rect">
                <a:avLst/>
              </a:prstGeom>
              <a:noFill/>
              <a:ln>
                <a:noFill/>
              </a:ln>
            </p:spPr>
            <p:txBody>
              <a:bodyPr wrap="none" lIns="0" tIns="0" rIns="0" bIns="0" anchor="t" anchorCtr="0">
                <a:spAutoFit/>
              </a:bodyPr>
              <a:lstStyle/>
              <a:p>
                <a:pPr algn="r"/>
                <a:r>
                  <a:rPr lang="zh-CN" sz="750" b="1" dirty="0">
                    <a:solidFill>
                      <a:srgbClr val="5B180B"/>
                    </a:solidFill>
                    <a:latin typeface="+mn-lt"/>
                    <a:ea typeface="+mn-ea"/>
                    <a:cs typeface="+mn-cs"/>
                  </a:rPr>
                  <a:t>96​</a:t>
                </a:r>
              </a:p>
            </p:txBody>
          </p:sp>
          <p:sp>
            <p:nvSpPr>
              <p:cNvPr id="233" name="Rectangle 233"/>
              <p:cNvSpPr/>
              <p:nvPr/>
            </p:nvSpPr>
            <p:spPr>
              <a:xfrm>
                <a:off x="9525000" y="3733800"/>
                <a:ext cx="1047750" cy="114300"/>
              </a:xfrm>
              <a:prstGeom prst="rect">
                <a:avLst/>
              </a:prstGeom>
              <a:solidFill>
                <a:srgbClr val="E3F1EC"/>
              </a:solidFill>
              <a:ln>
                <a:noFill/>
              </a:ln>
            </p:spPr>
          </p:sp>
          <p:sp>
            <p:nvSpPr>
              <p:cNvPr id="234" name="Rectangle 234"/>
              <p:cNvSpPr/>
              <p:nvPr/>
            </p:nvSpPr>
            <p:spPr>
              <a:xfrm>
                <a:off x="9525000" y="3733800"/>
                <a:ext cx="361950" cy="114300"/>
              </a:xfrm>
              <a:prstGeom prst="rect">
                <a:avLst/>
              </a:prstGeom>
              <a:solidFill>
                <a:srgbClr val="C9988F"/>
              </a:solidFill>
              <a:ln>
                <a:noFill/>
              </a:ln>
            </p:spPr>
          </p:sp>
          <p:sp>
            <p:nvSpPr>
              <p:cNvPr id="235" name="TextBox 235"/>
              <p:cNvSpPr txBox="1"/>
              <p:nvPr/>
            </p:nvSpPr>
            <p:spPr>
              <a:xfrm>
                <a:off x="10789730" y="374808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10%​</a:t>
                </a:r>
              </a:p>
            </p:txBody>
          </p:sp>
          <p:sp>
            <p:nvSpPr>
              <p:cNvPr id="236" name="TextBox 236"/>
              <p:cNvSpPr txBox="1"/>
              <p:nvPr/>
            </p:nvSpPr>
            <p:spPr>
              <a:xfrm>
                <a:off x="11310116" y="3748088"/>
                <a:ext cx="354068" cy="147638"/>
              </a:xfrm>
              <a:prstGeom prst="rect">
                <a:avLst/>
              </a:prstGeom>
              <a:noFill/>
              <a:ln>
                <a:noFill/>
              </a:ln>
            </p:spPr>
            <p:txBody>
              <a:bodyPr wrap="none" lIns="0" tIns="0" rIns="0" bIns="0" anchor="t" anchorCtr="0">
                <a:spAutoFit/>
              </a:bodyPr>
              <a:lstStyle/>
              <a:p>
                <a:pPr algn="ctr"/>
                <a:r>
                  <a:rPr lang="zh-CN" sz="750" b="1" dirty="0">
                    <a:solidFill>
                      <a:srgbClr val="C24833"/>
                    </a:solidFill>
                    <a:latin typeface="+mn-lt"/>
                    <a:ea typeface="+mn-ea"/>
                    <a:cs typeface="+mn-cs"/>
                  </a:rPr>
                  <a:t>↓ -3%​</a:t>
                </a:r>
              </a:p>
            </p:txBody>
          </p:sp>
        </p:grpSp>
      </p:grpSp>
      <p:grpSp>
        <p:nvGrpSpPr>
          <p:cNvPr id="284" name="risk-card"/>
          <p:cNvGrpSpPr/>
          <p:nvPr/>
        </p:nvGrpSpPr>
        <p:grpSpPr>
          <a:xfrm>
            <a:off x="228600" y="4438650"/>
            <a:ext cx="6438900" cy="2343150"/>
            <a:chOff x="228600" y="4438650"/>
            <a:chExt cx="6438900" cy="2343150"/>
          </a:xfrm>
        </p:grpSpPr>
        <p:sp>
          <p:nvSpPr>
            <p:cNvPr id="239" name="Rectangle 239"/>
            <p:cNvSpPr/>
            <p:nvPr/>
          </p:nvSpPr>
          <p:spPr>
            <a:xfrm>
              <a:off x="228600" y="4438650"/>
              <a:ext cx="6438900" cy="2343150"/>
            </a:xfrm>
            <a:prstGeom prst="roundRect">
              <a:avLst>
                <a:gd name="adj" fmla="val 4065"/>
              </a:avLst>
            </a:prstGeom>
            <a:solidFill>
              <a:srgbClr val="F5FAF8"/>
            </a:solidFill>
            <a:ln w="9525">
              <a:solidFill>
                <a:srgbClr val="D9E8E2"/>
              </a:solidFill>
            </a:ln>
          </p:spPr>
        </p:sp>
        <p:sp>
          <p:nvSpPr>
            <p:cNvPr id="240" name="Rectangle 240"/>
            <p:cNvSpPr/>
            <p:nvPr/>
          </p:nvSpPr>
          <p:spPr>
            <a:xfrm>
              <a:off x="342900" y="4533900"/>
              <a:ext cx="47625" cy="152400"/>
            </a:xfrm>
            <a:prstGeom prst="rect">
              <a:avLst/>
            </a:prstGeom>
            <a:solidFill>
              <a:srgbClr val="5B180B"/>
            </a:solidFill>
            <a:ln>
              <a:noFill/>
            </a:ln>
          </p:spPr>
        </p:sp>
        <p:sp>
          <p:nvSpPr>
            <p:cNvPr id="241" name="TextBox 241"/>
            <p:cNvSpPr txBox="1"/>
            <p:nvPr/>
          </p:nvSpPr>
          <p:spPr>
            <a:xfrm>
              <a:off x="452438" y="4556522"/>
              <a:ext cx="1221489"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风险筛查与定价策略​</a:t>
              </a:r>
            </a:p>
          </p:txBody>
        </p:sp>
        <p:sp>
          <p:nvSpPr>
            <p:cNvPr id="242" name="Freeform 242"/>
            <p:cNvSpPr/>
            <p:nvPr/>
          </p:nvSpPr>
          <p:spPr>
            <a:xfrm>
              <a:off x="342900" y="4762500"/>
              <a:ext cx="1504950" cy="304800"/>
            </a:xfrm>
            <a:prstGeom prst="homePlate">
              <a:avLst>
                <a:gd name="adj" fmla="val 30000"/>
              </a:avLst>
            </a:prstGeom>
            <a:solidFill>
              <a:srgbClr val="5B180B"/>
            </a:solidFill>
            <a:ln>
              <a:noFill/>
            </a:ln>
          </p:spPr>
        </p:sp>
        <p:sp>
          <p:nvSpPr>
            <p:cNvPr id="243" name="Freeform 243"/>
            <p:cNvSpPr/>
            <p:nvPr/>
          </p:nvSpPr>
          <p:spPr>
            <a:xfrm>
              <a:off x="1943100" y="4762500"/>
              <a:ext cx="1504950" cy="304800"/>
            </a:xfrm>
            <a:prstGeom prst="homePlate">
              <a:avLst>
                <a:gd name="adj" fmla="val 30000"/>
              </a:avLst>
            </a:prstGeom>
            <a:solidFill>
              <a:srgbClr val="722617"/>
            </a:solidFill>
            <a:ln>
              <a:noFill/>
            </a:ln>
          </p:spPr>
        </p:sp>
        <p:sp>
          <p:nvSpPr>
            <p:cNvPr id="244" name="Freeform 244"/>
            <p:cNvSpPr/>
            <p:nvPr/>
          </p:nvSpPr>
          <p:spPr>
            <a:xfrm>
              <a:off x="3543300" y="4762500"/>
              <a:ext cx="1504950" cy="304800"/>
            </a:xfrm>
            <a:prstGeom prst="homePlate">
              <a:avLst>
                <a:gd name="adj" fmla="val 30000"/>
              </a:avLst>
            </a:prstGeom>
            <a:solidFill>
              <a:srgbClr val="9A412F"/>
            </a:solidFill>
            <a:ln>
              <a:noFill/>
            </a:ln>
          </p:spPr>
        </p:sp>
        <p:sp>
          <p:nvSpPr>
            <p:cNvPr id="245" name="Freeform 245"/>
            <p:cNvSpPr/>
            <p:nvPr/>
          </p:nvSpPr>
          <p:spPr>
            <a:xfrm>
              <a:off x="5143500" y="4762500"/>
              <a:ext cx="1504950" cy="304800"/>
            </a:xfrm>
            <a:prstGeom prst="homePlate">
              <a:avLst>
                <a:gd name="adj" fmla="val 30000"/>
              </a:avLst>
            </a:prstGeom>
            <a:solidFill>
              <a:srgbClr val="AE6C5F"/>
            </a:solidFill>
            <a:ln>
              <a:noFill/>
            </a:ln>
          </p:spPr>
        </p:sp>
        <p:grpSp>
          <p:nvGrpSpPr>
            <p:cNvPr id="258" name="risk-titles"/>
            <p:cNvGrpSpPr/>
            <p:nvPr/>
          </p:nvGrpSpPr>
          <p:grpSpPr>
            <a:xfrm>
              <a:off x="419100" y="4819650"/>
              <a:ext cx="5602015" cy="209312"/>
              <a:chOff x="419100" y="4819650"/>
              <a:chExt cx="5602015" cy="209312"/>
            </a:xfrm>
          </p:grpSpPr>
          <p:sp>
            <p:nvSpPr>
              <p:cNvPr id="246" name="Ellipse 246"/>
              <p:cNvSpPr/>
              <p:nvPr/>
            </p:nvSpPr>
            <p:spPr>
              <a:xfrm>
                <a:off x="419100" y="4819650"/>
                <a:ext cx="190500" cy="190500"/>
              </a:xfrm>
              <a:prstGeom prst="ellipse">
                <a:avLst/>
              </a:prstGeom>
              <a:solidFill>
                <a:srgbClr val="FFFFFF"/>
              </a:solidFill>
              <a:ln>
                <a:noFill/>
              </a:ln>
            </p:spPr>
          </p:sp>
          <p:sp>
            <p:nvSpPr>
              <p:cNvPr id="247" name="TextBox 247"/>
              <p:cNvSpPr txBox="1"/>
              <p:nvPr/>
            </p:nvSpPr>
            <p:spPr>
              <a:xfrm>
                <a:off x="451280" y="4872038"/>
                <a:ext cx="126140"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a:t>
                </a:r>
              </a:p>
            </p:txBody>
          </p:sp>
          <p:sp>
            <p:nvSpPr>
              <p:cNvPr id="248" name="TextBox 248"/>
              <p:cNvSpPr txBox="1"/>
              <p:nvPr/>
            </p:nvSpPr>
            <p:spPr>
              <a:xfrm>
                <a:off x="681038" y="4859893"/>
                <a:ext cx="539477"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客户准入​</a:t>
                </a:r>
              </a:p>
            </p:txBody>
          </p:sp>
          <p:sp>
            <p:nvSpPr>
              <p:cNvPr id="249" name="Ellipse 249"/>
              <p:cNvSpPr/>
              <p:nvPr/>
            </p:nvSpPr>
            <p:spPr>
              <a:xfrm>
                <a:off x="2019300" y="4819650"/>
                <a:ext cx="190500" cy="190500"/>
              </a:xfrm>
              <a:prstGeom prst="ellipse">
                <a:avLst/>
              </a:prstGeom>
              <a:solidFill>
                <a:srgbClr val="FFFFFF"/>
              </a:solidFill>
              <a:ln>
                <a:noFill/>
              </a:ln>
            </p:spPr>
          </p:sp>
          <p:sp>
            <p:nvSpPr>
              <p:cNvPr id="250" name="TextBox 250"/>
              <p:cNvSpPr txBox="1"/>
              <p:nvPr/>
            </p:nvSpPr>
            <p:spPr>
              <a:xfrm>
                <a:off x="2051480" y="4872038"/>
                <a:ext cx="126140" cy="147638"/>
              </a:xfrm>
              <a:prstGeom prst="rect">
                <a:avLst/>
              </a:prstGeom>
              <a:noFill/>
              <a:ln>
                <a:noFill/>
              </a:ln>
            </p:spPr>
            <p:txBody>
              <a:bodyPr wrap="none" lIns="0" tIns="0" rIns="0" bIns="0" anchor="t" anchorCtr="0">
                <a:spAutoFit/>
              </a:bodyPr>
              <a:lstStyle/>
              <a:p>
                <a:pPr algn="ctr"/>
                <a:r>
                  <a:rPr lang="zh-CN" sz="750" b="1" dirty="0">
                    <a:solidFill>
                      <a:srgbClr val="722617"/>
                    </a:solidFill>
                    <a:latin typeface="+mn-lt"/>
                    <a:ea typeface="+mn-ea"/>
                    <a:cs typeface="+mn-cs"/>
                  </a:rPr>
                  <a:t>2​</a:t>
                </a:r>
              </a:p>
            </p:txBody>
          </p:sp>
          <p:sp>
            <p:nvSpPr>
              <p:cNvPr id="251" name="TextBox 251"/>
              <p:cNvSpPr txBox="1"/>
              <p:nvPr/>
            </p:nvSpPr>
            <p:spPr>
              <a:xfrm>
                <a:off x="2281238" y="4859893"/>
                <a:ext cx="655250"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反欺诈识别​</a:t>
                </a:r>
              </a:p>
            </p:txBody>
          </p:sp>
          <p:sp>
            <p:nvSpPr>
              <p:cNvPr id="252" name="Ellipse 252"/>
              <p:cNvSpPr/>
              <p:nvPr/>
            </p:nvSpPr>
            <p:spPr>
              <a:xfrm>
                <a:off x="3619500" y="4819650"/>
                <a:ext cx="190500" cy="190500"/>
              </a:xfrm>
              <a:prstGeom prst="ellipse">
                <a:avLst/>
              </a:prstGeom>
              <a:solidFill>
                <a:srgbClr val="FFFFFF"/>
              </a:solidFill>
              <a:ln>
                <a:noFill/>
              </a:ln>
            </p:spPr>
          </p:sp>
          <p:sp>
            <p:nvSpPr>
              <p:cNvPr id="253" name="TextBox 253"/>
              <p:cNvSpPr txBox="1"/>
              <p:nvPr/>
            </p:nvSpPr>
            <p:spPr>
              <a:xfrm>
                <a:off x="3651680" y="4872038"/>
                <a:ext cx="126140" cy="147638"/>
              </a:xfrm>
              <a:prstGeom prst="rect">
                <a:avLst/>
              </a:prstGeom>
              <a:noFill/>
              <a:ln>
                <a:noFill/>
              </a:ln>
            </p:spPr>
            <p:txBody>
              <a:bodyPr wrap="none" lIns="0" tIns="0" rIns="0" bIns="0" anchor="t" anchorCtr="0">
                <a:spAutoFit/>
              </a:bodyPr>
              <a:lstStyle/>
              <a:p>
                <a:pPr algn="ctr"/>
                <a:r>
                  <a:rPr lang="zh-CN" sz="750" b="1" dirty="0">
                    <a:solidFill>
                      <a:srgbClr val="9A412F"/>
                    </a:solidFill>
                    <a:latin typeface="+mn-lt"/>
                    <a:ea typeface="+mn-ea"/>
                    <a:cs typeface="+mn-cs"/>
                  </a:rPr>
                  <a:t>3​</a:t>
                </a:r>
              </a:p>
            </p:txBody>
          </p:sp>
          <p:sp>
            <p:nvSpPr>
              <p:cNvPr id="254" name="TextBox 254"/>
              <p:cNvSpPr txBox="1"/>
              <p:nvPr/>
            </p:nvSpPr>
            <p:spPr>
              <a:xfrm>
                <a:off x="3881438" y="4859893"/>
                <a:ext cx="539477"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风险定价​</a:t>
                </a:r>
              </a:p>
            </p:txBody>
          </p:sp>
          <p:sp>
            <p:nvSpPr>
              <p:cNvPr id="255" name="Ellipse 255"/>
              <p:cNvSpPr/>
              <p:nvPr/>
            </p:nvSpPr>
            <p:spPr>
              <a:xfrm>
                <a:off x="5219700" y="4819650"/>
                <a:ext cx="190500" cy="190500"/>
              </a:xfrm>
              <a:prstGeom prst="ellipse">
                <a:avLst/>
              </a:prstGeom>
              <a:solidFill>
                <a:srgbClr val="FFFFFF"/>
              </a:solidFill>
              <a:ln>
                <a:noFill/>
              </a:ln>
            </p:spPr>
          </p:sp>
          <p:sp>
            <p:nvSpPr>
              <p:cNvPr id="256" name="TextBox 256"/>
              <p:cNvSpPr txBox="1"/>
              <p:nvPr/>
            </p:nvSpPr>
            <p:spPr>
              <a:xfrm>
                <a:off x="5251880" y="4872038"/>
                <a:ext cx="126140" cy="147638"/>
              </a:xfrm>
              <a:prstGeom prst="rect">
                <a:avLst/>
              </a:prstGeom>
              <a:noFill/>
              <a:ln>
                <a:noFill/>
              </a:ln>
            </p:spPr>
            <p:txBody>
              <a:bodyPr wrap="none" lIns="0" tIns="0" rIns="0" bIns="0" anchor="t" anchorCtr="0">
                <a:spAutoFit/>
              </a:bodyPr>
              <a:lstStyle/>
              <a:p>
                <a:pPr algn="ctr"/>
                <a:r>
                  <a:rPr lang="zh-CN" sz="750" b="1" dirty="0">
                    <a:solidFill>
                      <a:srgbClr val="AE6C5F"/>
                    </a:solidFill>
                    <a:latin typeface="+mn-lt"/>
                    <a:ea typeface="+mn-ea"/>
                    <a:cs typeface="+mn-cs"/>
                  </a:rPr>
                  <a:t>4​</a:t>
                </a:r>
              </a:p>
            </p:txBody>
          </p:sp>
          <p:sp>
            <p:nvSpPr>
              <p:cNvPr id="257" name="TextBox 257"/>
              <p:cNvSpPr txBox="1"/>
              <p:nvPr/>
            </p:nvSpPr>
            <p:spPr>
              <a:xfrm>
                <a:off x="5481638" y="4859893"/>
                <a:ext cx="539477"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贷后管理​</a:t>
                </a:r>
              </a:p>
            </p:txBody>
          </p:sp>
        </p:grpSp>
        <p:grpSp>
          <p:nvGrpSpPr>
            <p:cNvPr id="283" name="risk-bullets"/>
            <p:cNvGrpSpPr/>
            <p:nvPr/>
          </p:nvGrpSpPr>
          <p:grpSpPr>
            <a:xfrm>
              <a:off x="414338" y="5218986"/>
              <a:ext cx="5512820" cy="808422"/>
              <a:chOff x="414338" y="5218986"/>
              <a:chExt cx="5512820" cy="808422"/>
            </a:xfrm>
          </p:grpSpPr>
          <p:grpSp>
            <p:nvGrpSpPr>
              <p:cNvPr id="261" name="Group 261"/>
              <p:cNvGrpSpPr/>
              <p:nvPr/>
            </p:nvGrpSpPr>
            <p:grpSpPr>
              <a:xfrm>
                <a:off x="454819" y="5807869"/>
                <a:ext cx="214313" cy="214313"/>
                <a:chOff x="454819" y="5807869"/>
                <a:chExt cx="214313" cy="214313"/>
              </a:xfrm>
            </p:grpSpPr>
            <p:sp>
              <p:nvSpPr>
                <p:cNvPr id="259" name="Freeform 259"/>
                <p:cNvSpPr/>
                <p:nvPr/>
              </p:nvSpPr>
              <p:spPr>
                <a:xfrm>
                  <a:off x="454819" y="5807869"/>
                  <a:ext cx="166688" cy="166688"/>
                </a:xfrm>
                <a:custGeom>
                  <a:avLst/>
                  <a:gdLst/>
                  <a:ahLst/>
                  <a:cxnLst/>
                  <a:rect l="l" t="t" r="r" b="b"/>
                  <a:pathLst>
                    <a:path w="166688" h="166688">
                      <a:moveTo>
                        <a:pt x="0" y="83344"/>
                      </a:moveTo>
                      <a:cubicBezTo>
                        <a:pt x="0" y="129373"/>
                        <a:pt x="37314" y="166688"/>
                        <a:pt x="83344" y="166688"/>
                      </a:cubicBezTo>
                      <a:cubicBezTo>
                        <a:pt x="129373" y="166688"/>
                        <a:pt x="166688" y="129373"/>
                        <a:pt x="166688" y="83344"/>
                      </a:cubicBezTo>
                      <a:cubicBezTo>
                        <a:pt x="166688" y="37314"/>
                        <a:pt x="129373" y="0"/>
                        <a:pt x="83344" y="0"/>
                      </a:cubicBezTo>
                      <a:cubicBezTo>
                        <a:pt x="37314" y="0"/>
                        <a:pt x="0" y="37314"/>
                        <a:pt x="0" y="83344"/>
                      </a:cubicBezTo>
                    </a:path>
                  </a:pathLst>
                </a:custGeom>
                <a:noFill/>
                <a:ln w="23812">
                  <a:solidFill>
                    <a:srgbClr val="C9988F"/>
                  </a:solidFill>
                </a:ln>
              </p:spPr>
            </p:sp>
            <p:sp>
              <p:nvSpPr>
                <p:cNvPr id="260" name="Freeform 260"/>
                <p:cNvSpPr/>
                <p:nvPr/>
              </p:nvSpPr>
              <p:spPr>
                <a:xfrm>
                  <a:off x="597694" y="5950744"/>
                  <a:ext cx="71438" cy="71438"/>
                </a:xfrm>
                <a:custGeom>
                  <a:avLst/>
                  <a:gdLst/>
                  <a:ahLst/>
                  <a:cxnLst/>
                  <a:rect l="l" t="t" r="r" b="b"/>
                  <a:pathLst>
                    <a:path w="71438" h="71438">
                      <a:moveTo>
                        <a:pt x="71438" y="71438"/>
                      </a:moveTo>
                      <a:lnTo>
                        <a:pt x="0" y="0"/>
                      </a:lnTo>
                    </a:path>
                  </a:pathLst>
                </a:custGeom>
                <a:noFill/>
                <a:ln w="23812">
                  <a:solidFill>
                    <a:srgbClr val="C9988F"/>
                  </a:solidFill>
                </a:ln>
              </p:spPr>
            </p:sp>
          </p:grpSp>
          <p:sp>
            <p:nvSpPr>
              <p:cNvPr id="262" name="TextBox 262"/>
              <p:cNvSpPr txBox="1"/>
              <p:nvPr/>
            </p:nvSpPr>
            <p:spPr>
              <a:xfrm>
                <a:off x="414338" y="521898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征信与多头借贷审查​</a:t>
                </a:r>
              </a:p>
            </p:txBody>
          </p:sp>
          <p:sp>
            <p:nvSpPr>
              <p:cNvPr id="263" name="TextBox 263"/>
              <p:cNvSpPr txBox="1"/>
              <p:nvPr/>
            </p:nvSpPr>
            <p:spPr>
              <a:xfrm>
                <a:off x="414338" y="537138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收入稳定性验证​</a:t>
                </a:r>
              </a:p>
            </p:txBody>
          </p:sp>
          <p:sp>
            <p:nvSpPr>
              <p:cNvPr id="264" name="TextBox 264"/>
              <p:cNvSpPr txBox="1"/>
              <p:nvPr/>
            </p:nvSpPr>
            <p:spPr>
              <a:xfrm>
                <a:off x="414338" y="552378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存量客户白名单​</a:t>
                </a:r>
              </a:p>
            </p:txBody>
          </p:sp>
          <p:grpSp>
            <p:nvGrpSpPr>
              <p:cNvPr id="267" name="Group 267"/>
              <p:cNvGrpSpPr/>
              <p:nvPr/>
            </p:nvGrpSpPr>
            <p:grpSpPr>
              <a:xfrm>
                <a:off x="2038951" y="5807869"/>
                <a:ext cx="232508" cy="214312"/>
                <a:chOff x="2038951" y="5807869"/>
                <a:chExt cx="232508" cy="214312"/>
              </a:xfrm>
            </p:grpSpPr>
            <p:sp>
              <p:nvSpPr>
                <p:cNvPr id="265" name="Freeform 265"/>
                <p:cNvSpPr/>
                <p:nvPr/>
              </p:nvSpPr>
              <p:spPr>
                <a:xfrm>
                  <a:off x="2038951" y="5807869"/>
                  <a:ext cx="232508" cy="212479"/>
                </a:xfrm>
                <a:custGeom>
                  <a:avLst/>
                  <a:gdLst/>
                  <a:ahLst/>
                  <a:cxnLst/>
                  <a:rect l="l" t="t" r="r" b="b"/>
                  <a:pathLst>
                    <a:path w="232508" h="212479">
                      <a:moveTo>
                        <a:pt x="116795" y="212479"/>
                      </a:moveTo>
                      <a:cubicBezTo>
                        <a:pt x="42208" y="189358"/>
                        <a:pt x="0" y="110638"/>
                        <a:pt x="22021" y="35719"/>
                      </a:cubicBezTo>
                      <a:cubicBezTo>
                        <a:pt x="59115" y="37416"/>
                        <a:pt x="95413" y="24605"/>
                        <a:pt x="123224" y="0"/>
                      </a:cubicBezTo>
                      <a:cubicBezTo>
                        <a:pt x="151035" y="24605"/>
                        <a:pt x="187333" y="37416"/>
                        <a:pt x="224427" y="35719"/>
                      </a:cubicBezTo>
                      <a:cubicBezTo>
                        <a:pt x="232508" y="63212"/>
                        <a:pt x="232135" y="92499"/>
                        <a:pt x="223356" y="119777"/>
                      </a:cubicBezTo>
                    </a:path>
                  </a:pathLst>
                </a:custGeom>
                <a:noFill/>
                <a:ln w="23812">
                  <a:solidFill>
                    <a:srgbClr val="C9988F"/>
                  </a:solidFill>
                </a:ln>
              </p:spPr>
            </p:sp>
            <p:sp>
              <p:nvSpPr>
                <p:cNvPr id="266" name="Freeform 266"/>
                <p:cNvSpPr/>
                <p:nvPr/>
              </p:nvSpPr>
              <p:spPr>
                <a:xfrm>
                  <a:off x="2197894" y="5974556"/>
                  <a:ext cx="71438" cy="47625"/>
                </a:xfrm>
                <a:custGeom>
                  <a:avLst/>
                  <a:gdLst/>
                  <a:ahLst/>
                  <a:cxnLst/>
                  <a:rect l="l" t="t" r="r" b="b"/>
                  <a:pathLst>
                    <a:path w="71438" h="47625">
                      <a:moveTo>
                        <a:pt x="0" y="23812"/>
                      </a:moveTo>
                      <a:lnTo>
                        <a:pt x="23812" y="47625"/>
                      </a:lnTo>
                      <a:lnTo>
                        <a:pt x="71438" y="0"/>
                      </a:lnTo>
                    </a:path>
                  </a:pathLst>
                </a:custGeom>
                <a:noFill/>
                <a:ln w="23812">
                  <a:solidFill>
                    <a:srgbClr val="C9988F"/>
                  </a:solidFill>
                </a:ln>
              </p:spPr>
            </p:sp>
          </p:grpSp>
          <p:sp>
            <p:nvSpPr>
              <p:cNvPr id="268" name="TextBox 268"/>
              <p:cNvSpPr txBox="1"/>
              <p:nvPr/>
            </p:nvSpPr>
            <p:spPr>
              <a:xfrm>
                <a:off x="2014538" y="521898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身份真实性核验​</a:t>
                </a:r>
              </a:p>
            </p:txBody>
          </p:sp>
          <p:sp>
            <p:nvSpPr>
              <p:cNvPr id="269" name="TextBox 269"/>
              <p:cNvSpPr txBox="1"/>
              <p:nvPr/>
            </p:nvSpPr>
            <p:spPr>
              <a:xfrm>
                <a:off x="2014538" y="5371386"/>
                <a:ext cx="80780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设备与行为识别​</a:t>
                </a:r>
              </a:p>
            </p:txBody>
          </p:sp>
          <p:sp>
            <p:nvSpPr>
              <p:cNvPr id="270" name="TextBox 270"/>
              <p:cNvSpPr txBox="1"/>
              <p:nvPr/>
            </p:nvSpPr>
            <p:spPr>
              <a:xfrm>
                <a:off x="2014538" y="55237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异常申请拦截​</a:t>
                </a:r>
              </a:p>
            </p:txBody>
          </p:sp>
          <p:grpSp>
            <p:nvGrpSpPr>
              <p:cNvPr id="273" name="Group 273"/>
              <p:cNvGrpSpPr/>
              <p:nvPr/>
            </p:nvGrpSpPr>
            <p:grpSpPr>
              <a:xfrm>
                <a:off x="3667125" y="5843588"/>
                <a:ext cx="190500" cy="164306"/>
                <a:chOff x="3667125" y="5843588"/>
                <a:chExt cx="190500" cy="164306"/>
              </a:xfrm>
            </p:grpSpPr>
            <p:sp>
              <p:nvSpPr>
                <p:cNvPr id="271" name="Freeform 271"/>
                <p:cNvSpPr/>
                <p:nvPr/>
              </p:nvSpPr>
              <p:spPr>
                <a:xfrm>
                  <a:off x="3667125" y="5998369"/>
                  <a:ext cx="190500" cy="9525"/>
                </a:xfrm>
                <a:custGeom>
                  <a:avLst/>
                  <a:gdLst/>
                  <a:ahLst/>
                  <a:cxnLst/>
                  <a:rect l="l" t="t" r="r" b="b"/>
                  <a:pathLst>
                    <a:path w="190500" h="9525">
                      <a:moveTo>
                        <a:pt x="0" y="0"/>
                      </a:moveTo>
                      <a:lnTo>
                        <a:pt x="190500" y="0"/>
                      </a:lnTo>
                    </a:path>
                  </a:pathLst>
                </a:custGeom>
                <a:noFill/>
                <a:ln w="23812">
                  <a:solidFill>
                    <a:srgbClr val="C9988F"/>
                  </a:solidFill>
                </a:ln>
              </p:spPr>
            </p:sp>
            <p:sp>
              <p:nvSpPr>
                <p:cNvPr id="272" name="Freeform 272"/>
                <p:cNvSpPr/>
                <p:nvPr/>
              </p:nvSpPr>
              <p:spPr>
                <a:xfrm>
                  <a:off x="3667125" y="5843588"/>
                  <a:ext cx="190500" cy="107156"/>
                </a:xfrm>
                <a:custGeom>
                  <a:avLst/>
                  <a:gdLst/>
                  <a:ahLst/>
                  <a:cxnLst/>
                  <a:rect l="l" t="t" r="r" b="b"/>
                  <a:pathLst>
                    <a:path w="190500" h="107156">
                      <a:moveTo>
                        <a:pt x="0" y="107156"/>
                      </a:moveTo>
                      <a:lnTo>
                        <a:pt x="47625" y="35719"/>
                      </a:lnTo>
                      <a:lnTo>
                        <a:pt x="95250" y="59531"/>
                      </a:lnTo>
                      <a:lnTo>
                        <a:pt x="142875" y="0"/>
                      </a:lnTo>
                      <a:lnTo>
                        <a:pt x="190500" y="47625"/>
                      </a:lnTo>
                    </a:path>
                  </a:pathLst>
                </a:custGeom>
                <a:noFill/>
                <a:ln w="23812">
                  <a:solidFill>
                    <a:srgbClr val="C9988F"/>
                  </a:solidFill>
                </a:ln>
              </p:spPr>
            </p:sp>
          </p:grpSp>
          <p:sp>
            <p:nvSpPr>
              <p:cNvPr id="274" name="TextBox 274"/>
              <p:cNvSpPr txBox="1"/>
              <p:nvPr/>
            </p:nvSpPr>
            <p:spPr>
              <a:xfrm>
                <a:off x="3614738" y="5218986"/>
                <a:ext cx="90338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基于客群分层定价​</a:t>
                </a:r>
              </a:p>
            </p:txBody>
          </p:sp>
          <p:sp>
            <p:nvSpPr>
              <p:cNvPr id="275" name="TextBox 275"/>
              <p:cNvSpPr txBox="1"/>
              <p:nvPr/>
            </p:nvSpPr>
            <p:spPr>
              <a:xfrm>
                <a:off x="3614738" y="5371386"/>
                <a:ext cx="1089762"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风险调整后收益≥6.2%​</a:t>
                </a:r>
              </a:p>
            </p:txBody>
          </p:sp>
          <p:sp>
            <p:nvSpPr>
              <p:cNvPr id="276" name="TextBox 276"/>
              <p:cNvSpPr txBox="1"/>
              <p:nvPr/>
            </p:nvSpPr>
            <p:spPr>
              <a:xfrm>
                <a:off x="3614738" y="5523786"/>
                <a:ext cx="99896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优质客户利率可下浮​</a:t>
                </a:r>
              </a:p>
            </p:txBody>
          </p:sp>
          <p:grpSp>
            <p:nvGrpSpPr>
              <p:cNvPr id="279" name="Group 279"/>
              <p:cNvGrpSpPr/>
              <p:nvPr/>
            </p:nvGrpSpPr>
            <p:grpSpPr>
              <a:xfrm>
                <a:off x="5250192" y="5802642"/>
                <a:ext cx="224766" cy="224766"/>
                <a:chOff x="5250192" y="5802642"/>
                <a:chExt cx="224766" cy="224766"/>
              </a:xfrm>
            </p:grpSpPr>
            <p:sp>
              <p:nvSpPr>
                <p:cNvPr id="277" name="Freeform 277"/>
                <p:cNvSpPr/>
                <p:nvPr/>
              </p:nvSpPr>
              <p:spPr>
                <a:xfrm>
                  <a:off x="5250192" y="5802642"/>
                  <a:ext cx="224766" cy="224766"/>
                </a:xfrm>
                <a:custGeom>
                  <a:avLst/>
                  <a:gdLst/>
                  <a:ahLst/>
                  <a:cxnLst/>
                  <a:rect l="l" t="t" r="r" b="b"/>
                  <a:pathLst>
                    <a:path w="224766" h="224766">
                      <a:moveTo>
                        <a:pt x="92440" y="20907"/>
                      </a:moveTo>
                      <a:cubicBezTo>
                        <a:pt x="97512" y="0"/>
                        <a:pt x="127254" y="0"/>
                        <a:pt x="132326" y="20907"/>
                      </a:cubicBezTo>
                      <a:cubicBezTo>
                        <a:pt x="133870" y="27278"/>
                        <a:pt x="138363" y="32528"/>
                        <a:pt x="144419" y="35037"/>
                      </a:cubicBezTo>
                      <a:cubicBezTo>
                        <a:pt x="150474" y="37546"/>
                        <a:pt x="157364" y="37012"/>
                        <a:pt x="162961" y="33599"/>
                      </a:cubicBezTo>
                      <a:cubicBezTo>
                        <a:pt x="181332" y="22408"/>
                        <a:pt x="202371" y="43434"/>
                        <a:pt x="191179" y="61817"/>
                      </a:cubicBezTo>
                      <a:cubicBezTo>
                        <a:pt x="187771" y="67411"/>
                        <a:pt x="187238" y="74296"/>
                        <a:pt x="189744" y="80348"/>
                      </a:cubicBezTo>
                      <a:cubicBezTo>
                        <a:pt x="192250" y="86400"/>
                        <a:pt x="197494" y="90892"/>
                        <a:pt x="203859" y="92440"/>
                      </a:cubicBezTo>
                      <a:cubicBezTo>
                        <a:pt x="224766" y="97512"/>
                        <a:pt x="224766" y="127254"/>
                        <a:pt x="203859" y="132326"/>
                      </a:cubicBezTo>
                      <a:cubicBezTo>
                        <a:pt x="197488" y="133870"/>
                        <a:pt x="192238" y="138363"/>
                        <a:pt x="189729" y="144419"/>
                      </a:cubicBezTo>
                      <a:cubicBezTo>
                        <a:pt x="187220" y="150474"/>
                        <a:pt x="187754" y="157364"/>
                        <a:pt x="191167" y="162961"/>
                      </a:cubicBezTo>
                      <a:cubicBezTo>
                        <a:pt x="202359" y="181332"/>
                        <a:pt x="181332" y="202371"/>
                        <a:pt x="162949" y="191179"/>
                      </a:cubicBezTo>
                      <a:cubicBezTo>
                        <a:pt x="157355" y="187771"/>
                        <a:pt x="150470" y="187238"/>
                        <a:pt x="144418" y="189744"/>
                      </a:cubicBezTo>
                      <a:cubicBezTo>
                        <a:pt x="138366" y="192250"/>
                        <a:pt x="133874" y="197494"/>
                        <a:pt x="132326" y="203859"/>
                      </a:cubicBezTo>
                      <a:cubicBezTo>
                        <a:pt x="127254" y="224766"/>
                        <a:pt x="97512" y="224766"/>
                        <a:pt x="92440" y="203859"/>
                      </a:cubicBezTo>
                      <a:cubicBezTo>
                        <a:pt x="90897" y="197488"/>
                        <a:pt x="86403" y="192238"/>
                        <a:pt x="80348" y="189729"/>
                      </a:cubicBezTo>
                      <a:cubicBezTo>
                        <a:pt x="74292" y="187220"/>
                        <a:pt x="67402" y="187754"/>
                        <a:pt x="61805" y="191167"/>
                      </a:cubicBezTo>
                      <a:cubicBezTo>
                        <a:pt x="43434" y="202359"/>
                        <a:pt x="22396" y="181332"/>
                        <a:pt x="33588" y="162949"/>
                      </a:cubicBezTo>
                      <a:cubicBezTo>
                        <a:pt x="36995" y="157355"/>
                        <a:pt x="37528" y="150470"/>
                        <a:pt x="35022" y="144418"/>
                      </a:cubicBezTo>
                      <a:cubicBezTo>
                        <a:pt x="32516" y="138366"/>
                        <a:pt x="27272" y="133874"/>
                        <a:pt x="20907" y="132326"/>
                      </a:cubicBezTo>
                      <a:cubicBezTo>
                        <a:pt x="0" y="127254"/>
                        <a:pt x="0" y="97512"/>
                        <a:pt x="20907" y="92440"/>
                      </a:cubicBezTo>
                      <a:cubicBezTo>
                        <a:pt x="27278" y="90897"/>
                        <a:pt x="32528" y="86403"/>
                        <a:pt x="35037" y="80348"/>
                      </a:cubicBezTo>
                      <a:cubicBezTo>
                        <a:pt x="37546" y="74292"/>
                        <a:pt x="37012" y="67402"/>
                        <a:pt x="33599" y="61805"/>
                      </a:cubicBezTo>
                      <a:cubicBezTo>
                        <a:pt x="22408" y="43434"/>
                        <a:pt x="43434" y="22396"/>
                        <a:pt x="61817" y="33588"/>
                      </a:cubicBezTo>
                      <a:cubicBezTo>
                        <a:pt x="73724" y="40827"/>
                        <a:pt x="89154" y="34421"/>
                        <a:pt x="92440" y="20907"/>
                      </a:cubicBezTo>
                    </a:path>
                  </a:pathLst>
                </a:custGeom>
                <a:noFill/>
                <a:ln w="23812">
                  <a:solidFill>
                    <a:srgbClr val="C9988F"/>
                  </a:solidFill>
                </a:ln>
              </p:spPr>
            </p:sp>
            <p:sp>
              <p:nvSpPr>
                <p:cNvPr id="278" name="Freeform 278"/>
                <p:cNvSpPr/>
                <p:nvPr/>
              </p:nvSpPr>
              <p:spPr>
                <a:xfrm>
                  <a:off x="5326856" y="58793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23812">
                  <a:solidFill>
                    <a:srgbClr val="C9988F"/>
                  </a:solidFill>
                </a:ln>
              </p:spPr>
            </p:sp>
          </p:grpSp>
          <p:sp>
            <p:nvSpPr>
              <p:cNvPr id="280" name="TextBox 280"/>
              <p:cNvSpPr txBox="1"/>
              <p:nvPr/>
            </p:nvSpPr>
            <p:spPr>
              <a:xfrm>
                <a:off x="5214938" y="52189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资金用途监测​</a:t>
                </a:r>
              </a:p>
            </p:txBody>
          </p:sp>
          <p:sp>
            <p:nvSpPr>
              <p:cNvPr id="281" name="TextBox 281"/>
              <p:cNvSpPr txBox="1"/>
              <p:nvPr/>
            </p:nvSpPr>
            <p:spPr>
              <a:xfrm>
                <a:off x="5214938" y="53713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还款行为预警​</a:t>
                </a:r>
              </a:p>
            </p:txBody>
          </p:sp>
          <p:sp>
            <p:nvSpPr>
              <p:cNvPr id="282" name="TextBox 282"/>
              <p:cNvSpPr txBox="1"/>
              <p:nvPr/>
            </p:nvSpPr>
            <p:spPr>
              <a:xfrm>
                <a:off x="5214938" y="5523786"/>
                <a:ext cx="712220" cy="140494"/>
              </a:xfrm>
              <a:prstGeom prst="rect">
                <a:avLst/>
              </a:prstGeom>
              <a:noFill/>
              <a:ln>
                <a:noFill/>
              </a:ln>
            </p:spPr>
            <p:txBody>
              <a:bodyPr wrap="none" lIns="0" tIns="0" rIns="0" bIns="0" anchor="t" anchorCtr="0">
                <a:spAutoFit/>
              </a:bodyPr>
              <a:lstStyle/>
              <a:p>
                <a:pPr algn="l" marL="76644" indent="-76644">
                  <a:buClr>
                    <a:srgbClr val="4A3D3A"/>
                  </a:buClr>
                  <a:buSzTx/>
                  <a:buFontTx/>
                  <a:buChar char="•"/>
                </a:pPr>
                <a:r>
                  <a:rPr lang="zh-CN" sz="710" dirty="0">
                    <a:solidFill>
                      <a:srgbClr val="4A3D3A"/>
                    </a:solidFill>
                    <a:latin typeface="+mn-lt"/>
                    <a:ea typeface="+mn-ea"/>
                    <a:cs typeface="+mn-cs"/>
                  </a:rPr>
                  <a:t>早期风险处置​</a:t>
                </a:r>
              </a:p>
            </p:txBody>
          </p:sp>
        </p:grpSp>
      </p:grpSp>
      <p:grpSp>
        <p:nvGrpSpPr>
          <p:cNvPr id="347" name="daily-card"/>
          <p:cNvGrpSpPr/>
          <p:nvPr/>
        </p:nvGrpSpPr>
        <p:grpSpPr>
          <a:xfrm>
            <a:off x="6781800" y="4438650"/>
            <a:ext cx="5181600" cy="2343150"/>
            <a:chOff x="6781800" y="4438650"/>
            <a:chExt cx="5181600" cy="2343150"/>
          </a:xfrm>
        </p:grpSpPr>
        <p:sp>
          <p:nvSpPr>
            <p:cNvPr id="285" name="Rectangle 285"/>
            <p:cNvSpPr/>
            <p:nvPr/>
          </p:nvSpPr>
          <p:spPr>
            <a:xfrm>
              <a:off x="6781800" y="4438650"/>
              <a:ext cx="5181600" cy="2343150"/>
            </a:xfrm>
            <a:prstGeom prst="roundRect">
              <a:avLst>
                <a:gd name="adj" fmla="val 4065"/>
              </a:avLst>
            </a:prstGeom>
            <a:solidFill>
              <a:srgbClr val="F5FAF8"/>
            </a:solidFill>
            <a:ln w="9525">
              <a:solidFill>
                <a:srgbClr val="D9E8E2"/>
              </a:solidFill>
            </a:ln>
          </p:spPr>
        </p:sp>
        <p:sp>
          <p:nvSpPr>
            <p:cNvPr id="286" name="Rectangle 286"/>
            <p:cNvSpPr/>
            <p:nvPr/>
          </p:nvSpPr>
          <p:spPr>
            <a:xfrm>
              <a:off x="6896100" y="4533900"/>
              <a:ext cx="47625" cy="152400"/>
            </a:xfrm>
            <a:prstGeom prst="rect">
              <a:avLst/>
            </a:prstGeom>
            <a:solidFill>
              <a:srgbClr val="5B180B"/>
            </a:solidFill>
            <a:ln>
              <a:noFill/>
            </a:ln>
          </p:spPr>
        </p:sp>
        <p:sp>
          <p:nvSpPr>
            <p:cNvPr id="287" name="TextBox 287"/>
            <p:cNvSpPr txBox="1"/>
            <p:nvPr/>
          </p:nvSpPr>
          <p:spPr>
            <a:xfrm>
              <a:off x="7005638" y="4556522"/>
              <a:ext cx="1659775"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Q4重点活动每日战报</a:t>
              </a:r>
              <a:r>
                <a:rPr lang="zh-CN" sz="710" dirty="0">
                  <a:solidFill>
                    <a:srgbClr val="5F6F6A"/>
                  </a:solidFill>
                  <a:latin typeface="+mn-lt"/>
                  <a:ea typeface="+mn-ea"/>
                  <a:cs typeface="+mn-cs"/>
                </a:rPr>
                <a:t>（示例）</a:t>
              </a:r>
              <a:r>
                <a:rPr lang="zh-CN" sz="940" b="1" dirty="0">
                  <a:solidFill>
                    <a:srgbClr val="5B180B"/>
                  </a:solidFill>
                  <a:latin typeface="+mn-lt"/>
                  <a:ea typeface="+mn-ea"/>
                  <a:cs typeface="+mn-cs"/>
                </a:rPr>
                <a:t>​</a:t>
              </a:r>
            </a:p>
          </p:txBody>
        </p:sp>
        <p:grpSp>
          <p:nvGrpSpPr>
            <p:cNvPr id="297" name="Group 297"/>
            <p:cNvGrpSpPr/>
            <p:nvPr/>
          </p:nvGrpSpPr>
          <p:grpSpPr>
            <a:xfrm>
              <a:off x="6877050" y="4743450"/>
              <a:ext cx="4991100" cy="292417"/>
              <a:chOff x="6877050" y="4743450"/>
              <a:chExt cx="4991100" cy="292417"/>
            </a:xfrm>
          </p:grpSpPr>
          <p:sp>
            <p:nvSpPr>
              <p:cNvPr id="288" name="Rectangle 288"/>
              <p:cNvSpPr/>
              <p:nvPr/>
            </p:nvSpPr>
            <p:spPr>
              <a:xfrm>
                <a:off x="6877050" y="4743450"/>
                <a:ext cx="4991100" cy="285750"/>
              </a:xfrm>
              <a:prstGeom prst="rect">
                <a:avLst/>
              </a:prstGeom>
              <a:solidFill>
                <a:srgbClr val="5B180B"/>
              </a:solidFill>
              <a:ln>
                <a:noFill/>
              </a:ln>
            </p:spPr>
          </p:sp>
          <p:sp>
            <p:nvSpPr>
              <p:cNvPr id="289" name="TextBox 289"/>
              <p:cNvSpPr txBox="1"/>
              <p:nvPr/>
            </p:nvSpPr>
            <p:spPr>
              <a:xfrm>
                <a:off x="7053909" y="4847511"/>
                <a:ext cx="25588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日期​</a:t>
                </a:r>
              </a:p>
            </p:txBody>
          </p:sp>
          <p:sp>
            <p:nvSpPr>
              <p:cNvPr id="290" name="TextBox 290"/>
              <p:cNvSpPr txBox="1"/>
              <p:nvPr/>
            </p:nvSpPr>
            <p:spPr>
              <a:xfrm>
                <a:off x="7644128" y="479036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投放金额​</a:t>
                </a:r>
              </a:p>
            </p:txBody>
          </p:sp>
          <p:sp>
            <p:nvSpPr>
              <p:cNvPr id="291" name="TextBox 291"/>
              <p:cNvSpPr txBox="1"/>
              <p:nvPr/>
            </p:nvSpPr>
            <p:spPr>
              <a:xfrm>
                <a:off x="7679131" y="4916805"/>
                <a:ext cx="37703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（万元）​</a:t>
                </a:r>
              </a:p>
            </p:txBody>
          </p:sp>
          <p:sp>
            <p:nvSpPr>
              <p:cNvPr id="292" name="TextBox 292"/>
              <p:cNvSpPr txBox="1"/>
              <p:nvPr/>
            </p:nvSpPr>
            <p:spPr>
              <a:xfrm>
                <a:off x="8377553" y="48475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触达客户​</a:t>
                </a:r>
              </a:p>
            </p:txBody>
          </p:sp>
          <p:sp>
            <p:nvSpPr>
              <p:cNvPr id="293" name="TextBox 293"/>
              <p:cNvSpPr txBox="1"/>
              <p:nvPr/>
            </p:nvSpPr>
            <p:spPr>
              <a:xfrm>
                <a:off x="9082403" y="48475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有效线索​</a:t>
                </a:r>
              </a:p>
            </p:txBody>
          </p:sp>
          <p:sp>
            <p:nvSpPr>
              <p:cNvPr id="294" name="TextBox 294"/>
              <p:cNvSpPr txBox="1"/>
              <p:nvPr/>
            </p:nvSpPr>
            <p:spPr>
              <a:xfrm>
                <a:off x="9787253" y="48475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审批通过​</a:t>
                </a:r>
              </a:p>
            </p:txBody>
          </p:sp>
          <p:sp>
            <p:nvSpPr>
              <p:cNvPr id="295" name="TextBox 295"/>
              <p:cNvSpPr txBox="1"/>
              <p:nvPr/>
            </p:nvSpPr>
            <p:spPr>
              <a:xfrm>
                <a:off x="10492103" y="48475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成功提款​</a:t>
                </a:r>
              </a:p>
            </p:txBody>
          </p:sp>
          <p:sp>
            <p:nvSpPr>
              <p:cNvPr id="296" name="TextBox 296"/>
              <p:cNvSpPr txBox="1"/>
              <p:nvPr/>
            </p:nvSpPr>
            <p:spPr>
              <a:xfrm>
                <a:off x="11196788" y="4847511"/>
                <a:ext cx="542624"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当日转化率​</a:t>
                </a:r>
              </a:p>
            </p:txBody>
          </p:sp>
        </p:grpSp>
        <p:grpSp>
          <p:nvGrpSpPr>
            <p:cNvPr id="346" name="daily-rows"/>
            <p:cNvGrpSpPr/>
            <p:nvPr/>
          </p:nvGrpSpPr>
          <p:grpSpPr>
            <a:xfrm>
              <a:off x="6877050" y="5029200"/>
              <a:ext cx="4991100" cy="1504950"/>
              <a:chOff x="6877050" y="5029200"/>
              <a:chExt cx="4991100" cy="1504950"/>
            </a:xfrm>
          </p:grpSpPr>
          <p:sp>
            <p:nvSpPr>
              <p:cNvPr id="298" name="Rectangle 298"/>
              <p:cNvSpPr/>
              <p:nvPr/>
            </p:nvSpPr>
            <p:spPr>
              <a:xfrm>
                <a:off x="6877050" y="5029200"/>
                <a:ext cx="4991100" cy="247650"/>
              </a:xfrm>
              <a:prstGeom prst="rect">
                <a:avLst/>
              </a:prstGeom>
              <a:solidFill>
                <a:srgbClr val="FFFFFF"/>
              </a:solidFill>
              <a:ln w="7620">
                <a:solidFill>
                  <a:srgbClr val="D9E8E2"/>
                </a:solidFill>
              </a:ln>
            </p:spPr>
          </p:sp>
          <p:sp>
            <p:nvSpPr>
              <p:cNvPr id="299" name="TextBox 299"/>
              <p:cNvSpPr txBox="1"/>
              <p:nvPr/>
            </p:nvSpPr>
            <p:spPr>
              <a:xfrm>
                <a:off x="7002166" y="5110162"/>
                <a:ext cx="359369"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10-01​</a:t>
                </a:r>
              </a:p>
            </p:txBody>
          </p:sp>
          <p:sp>
            <p:nvSpPr>
              <p:cNvPr id="300" name="TextBox 300"/>
              <p:cNvSpPr txBox="1"/>
              <p:nvPr/>
            </p:nvSpPr>
            <p:spPr>
              <a:xfrm>
                <a:off x="7751826" y="51101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120​</a:t>
                </a:r>
              </a:p>
            </p:txBody>
          </p:sp>
          <p:sp>
            <p:nvSpPr>
              <p:cNvPr id="301" name="TextBox 301"/>
              <p:cNvSpPr txBox="1"/>
              <p:nvPr/>
            </p:nvSpPr>
            <p:spPr>
              <a:xfrm>
                <a:off x="8485251" y="51101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760​</a:t>
                </a:r>
              </a:p>
            </p:txBody>
          </p:sp>
          <p:sp>
            <p:nvSpPr>
              <p:cNvPr id="302" name="TextBox 302"/>
              <p:cNvSpPr txBox="1"/>
              <p:nvPr/>
            </p:nvSpPr>
            <p:spPr>
              <a:xfrm>
                <a:off x="9190101" y="51101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310​</a:t>
                </a:r>
              </a:p>
            </p:txBody>
          </p:sp>
          <p:sp>
            <p:nvSpPr>
              <p:cNvPr id="303" name="TextBox 303"/>
              <p:cNvSpPr txBox="1"/>
              <p:nvPr/>
            </p:nvSpPr>
            <p:spPr>
              <a:xfrm>
                <a:off x="9894951" y="51101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210​</a:t>
                </a:r>
              </a:p>
            </p:txBody>
          </p:sp>
          <p:sp>
            <p:nvSpPr>
              <p:cNvPr id="304" name="TextBox 304"/>
              <p:cNvSpPr txBox="1"/>
              <p:nvPr/>
            </p:nvSpPr>
            <p:spPr>
              <a:xfrm>
                <a:off x="10599801" y="51101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138​</a:t>
                </a:r>
              </a:p>
            </p:txBody>
          </p:sp>
          <p:sp>
            <p:nvSpPr>
              <p:cNvPr id="305" name="TextBox 305"/>
              <p:cNvSpPr txBox="1"/>
              <p:nvPr/>
            </p:nvSpPr>
            <p:spPr>
              <a:xfrm>
                <a:off x="11277814" y="5110162"/>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18.2%​</a:t>
                </a:r>
              </a:p>
            </p:txBody>
          </p:sp>
          <p:sp>
            <p:nvSpPr>
              <p:cNvPr id="306" name="Rectangle 306"/>
              <p:cNvSpPr/>
              <p:nvPr/>
            </p:nvSpPr>
            <p:spPr>
              <a:xfrm>
                <a:off x="6877050" y="5276850"/>
                <a:ext cx="4991100" cy="247650"/>
              </a:xfrm>
              <a:prstGeom prst="rect">
                <a:avLst/>
              </a:prstGeom>
              <a:solidFill>
                <a:srgbClr val="F7FBF9"/>
              </a:solidFill>
              <a:ln w="7620">
                <a:solidFill>
                  <a:srgbClr val="D9E8E2"/>
                </a:solidFill>
              </a:ln>
            </p:spPr>
          </p:sp>
          <p:sp>
            <p:nvSpPr>
              <p:cNvPr id="307" name="TextBox 307"/>
              <p:cNvSpPr txBox="1"/>
              <p:nvPr/>
            </p:nvSpPr>
            <p:spPr>
              <a:xfrm>
                <a:off x="7002166" y="5357812"/>
                <a:ext cx="359369"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10-02​</a:t>
                </a:r>
              </a:p>
            </p:txBody>
          </p:sp>
          <p:sp>
            <p:nvSpPr>
              <p:cNvPr id="308" name="TextBox 308"/>
              <p:cNvSpPr txBox="1"/>
              <p:nvPr/>
            </p:nvSpPr>
            <p:spPr>
              <a:xfrm>
                <a:off x="7751826" y="53578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100​</a:t>
                </a:r>
              </a:p>
            </p:txBody>
          </p:sp>
          <p:sp>
            <p:nvSpPr>
              <p:cNvPr id="309" name="TextBox 309"/>
              <p:cNvSpPr txBox="1"/>
              <p:nvPr/>
            </p:nvSpPr>
            <p:spPr>
              <a:xfrm>
                <a:off x="8485251" y="53578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620​</a:t>
                </a:r>
              </a:p>
            </p:txBody>
          </p:sp>
          <p:sp>
            <p:nvSpPr>
              <p:cNvPr id="310" name="TextBox 310"/>
              <p:cNvSpPr txBox="1"/>
              <p:nvPr/>
            </p:nvSpPr>
            <p:spPr>
              <a:xfrm>
                <a:off x="9190101" y="53578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260​</a:t>
                </a:r>
              </a:p>
            </p:txBody>
          </p:sp>
          <p:sp>
            <p:nvSpPr>
              <p:cNvPr id="311" name="TextBox 311"/>
              <p:cNvSpPr txBox="1"/>
              <p:nvPr/>
            </p:nvSpPr>
            <p:spPr>
              <a:xfrm>
                <a:off x="9894951" y="53578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176​</a:t>
                </a:r>
              </a:p>
            </p:txBody>
          </p:sp>
          <p:sp>
            <p:nvSpPr>
              <p:cNvPr id="312" name="TextBox 312"/>
              <p:cNvSpPr txBox="1"/>
              <p:nvPr/>
            </p:nvSpPr>
            <p:spPr>
              <a:xfrm>
                <a:off x="10599801" y="53578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112​</a:t>
                </a:r>
              </a:p>
            </p:txBody>
          </p:sp>
          <p:sp>
            <p:nvSpPr>
              <p:cNvPr id="313" name="TextBox 313"/>
              <p:cNvSpPr txBox="1"/>
              <p:nvPr/>
            </p:nvSpPr>
            <p:spPr>
              <a:xfrm>
                <a:off x="11277814" y="5357812"/>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18.1%​</a:t>
                </a:r>
              </a:p>
            </p:txBody>
          </p:sp>
          <p:sp>
            <p:nvSpPr>
              <p:cNvPr id="314" name="Rectangle 314"/>
              <p:cNvSpPr/>
              <p:nvPr/>
            </p:nvSpPr>
            <p:spPr>
              <a:xfrm>
                <a:off x="6877050" y="5524500"/>
                <a:ext cx="4991100" cy="247650"/>
              </a:xfrm>
              <a:prstGeom prst="rect">
                <a:avLst/>
              </a:prstGeom>
              <a:solidFill>
                <a:srgbClr val="FFFFFF"/>
              </a:solidFill>
              <a:ln w="7620">
                <a:solidFill>
                  <a:srgbClr val="D9E8E2"/>
                </a:solidFill>
              </a:ln>
            </p:spPr>
          </p:sp>
          <p:sp>
            <p:nvSpPr>
              <p:cNvPr id="315" name="TextBox 315"/>
              <p:cNvSpPr txBox="1"/>
              <p:nvPr/>
            </p:nvSpPr>
            <p:spPr>
              <a:xfrm>
                <a:off x="7002166" y="5605462"/>
                <a:ext cx="359369"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10-03​</a:t>
                </a:r>
              </a:p>
            </p:txBody>
          </p:sp>
          <p:sp>
            <p:nvSpPr>
              <p:cNvPr id="316" name="TextBox 316"/>
              <p:cNvSpPr txBox="1"/>
              <p:nvPr/>
            </p:nvSpPr>
            <p:spPr>
              <a:xfrm>
                <a:off x="7779591" y="5605462"/>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80​</a:t>
                </a:r>
              </a:p>
            </p:txBody>
          </p:sp>
          <p:sp>
            <p:nvSpPr>
              <p:cNvPr id="317" name="TextBox 317"/>
              <p:cNvSpPr txBox="1"/>
              <p:nvPr/>
            </p:nvSpPr>
            <p:spPr>
              <a:xfrm>
                <a:off x="8485251" y="56054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520​</a:t>
                </a:r>
              </a:p>
            </p:txBody>
          </p:sp>
          <p:sp>
            <p:nvSpPr>
              <p:cNvPr id="318" name="TextBox 318"/>
              <p:cNvSpPr txBox="1"/>
              <p:nvPr/>
            </p:nvSpPr>
            <p:spPr>
              <a:xfrm>
                <a:off x="9190101" y="56054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210​</a:t>
                </a:r>
              </a:p>
            </p:txBody>
          </p:sp>
          <p:sp>
            <p:nvSpPr>
              <p:cNvPr id="319" name="TextBox 319"/>
              <p:cNvSpPr txBox="1"/>
              <p:nvPr/>
            </p:nvSpPr>
            <p:spPr>
              <a:xfrm>
                <a:off x="9894951" y="56054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141​</a:t>
                </a:r>
              </a:p>
            </p:txBody>
          </p:sp>
          <p:sp>
            <p:nvSpPr>
              <p:cNvPr id="320" name="TextBox 320"/>
              <p:cNvSpPr txBox="1"/>
              <p:nvPr/>
            </p:nvSpPr>
            <p:spPr>
              <a:xfrm>
                <a:off x="10627566" y="5605462"/>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86​</a:t>
                </a:r>
              </a:p>
            </p:txBody>
          </p:sp>
          <p:sp>
            <p:nvSpPr>
              <p:cNvPr id="321" name="TextBox 321"/>
              <p:cNvSpPr txBox="1"/>
              <p:nvPr/>
            </p:nvSpPr>
            <p:spPr>
              <a:xfrm>
                <a:off x="11277814" y="5605462"/>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16.5%​</a:t>
                </a:r>
              </a:p>
            </p:txBody>
          </p:sp>
          <p:sp>
            <p:nvSpPr>
              <p:cNvPr id="322" name="Rectangle 322"/>
              <p:cNvSpPr/>
              <p:nvPr/>
            </p:nvSpPr>
            <p:spPr>
              <a:xfrm>
                <a:off x="6877050" y="5772150"/>
                <a:ext cx="4991100" cy="247650"/>
              </a:xfrm>
              <a:prstGeom prst="rect">
                <a:avLst/>
              </a:prstGeom>
              <a:solidFill>
                <a:srgbClr val="F7FBF9"/>
              </a:solidFill>
              <a:ln w="7620">
                <a:solidFill>
                  <a:srgbClr val="D9E8E2"/>
                </a:solidFill>
              </a:ln>
            </p:spPr>
          </p:sp>
          <p:sp>
            <p:nvSpPr>
              <p:cNvPr id="323" name="TextBox 323"/>
              <p:cNvSpPr txBox="1"/>
              <p:nvPr/>
            </p:nvSpPr>
            <p:spPr>
              <a:xfrm>
                <a:off x="7002166" y="5853112"/>
                <a:ext cx="359369"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10-04​</a:t>
                </a:r>
              </a:p>
            </p:txBody>
          </p:sp>
          <p:sp>
            <p:nvSpPr>
              <p:cNvPr id="324" name="TextBox 324"/>
              <p:cNvSpPr txBox="1"/>
              <p:nvPr/>
            </p:nvSpPr>
            <p:spPr>
              <a:xfrm>
                <a:off x="7779591" y="5853112"/>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80​</a:t>
                </a:r>
              </a:p>
            </p:txBody>
          </p:sp>
          <p:sp>
            <p:nvSpPr>
              <p:cNvPr id="325" name="TextBox 325"/>
              <p:cNvSpPr txBox="1"/>
              <p:nvPr/>
            </p:nvSpPr>
            <p:spPr>
              <a:xfrm>
                <a:off x="8485251" y="58531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500​</a:t>
                </a:r>
              </a:p>
            </p:txBody>
          </p:sp>
          <p:sp>
            <p:nvSpPr>
              <p:cNvPr id="326" name="TextBox 326"/>
              <p:cNvSpPr txBox="1"/>
              <p:nvPr/>
            </p:nvSpPr>
            <p:spPr>
              <a:xfrm>
                <a:off x="9190101" y="58531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180​</a:t>
                </a:r>
              </a:p>
            </p:txBody>
          </p:sp>
          <p:sp>
            <p:nvSpPr>
              <p:cNvPr id="327" name="TextBox 327"/>
              <p:cNvSpPr txBox="1"/>
              <p:nvPr/>
            </p:nvSpPr>
            <p:spPr>
              <a:xfrm>
                <a:off x="9894951" y="58531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126​</a:t>
                </a:r>
              </a:p>
            </p:txBody>
          </p:sp>
          <p:sp>
            <p:nvSpPr>
              <p:cNvPr id="328" name="TextBox 328"/>
              <p:cNvSpPr txBox="1"/>
              <p:nvPr/>
            </p:nvSpPr>
            <p:spPr>
              <a:xfrm>
                <a:off x="10627566" y="5853112"/>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82​</a:t>
                </a:r>
              </a:p>
            </p:txBody>
          </p:sp>
          <p:sp>
            <p:nvSpPr>
              <p:cNvPr id="329" name="TextBox 329"/>
              <p:cNvSpPr txBox="1"/>
              <p:nvPr/>
            </p:nvSpPr>
            <p:spPr>
              <a:xfrm>
                <a:off x="11277814" y="5853112"/>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16.4%​</a:t>
                </a:r>
              </a:p>
            </p:txBody>
          </p:sp>
          <p:sp>
            <p:nvSpPr>
              <p:cNvPr id="330" name="Rectangle 330"/>
              <p:cNvSpPr/>
              <p:nvPr/>
            </p:nvSpPr>
            <p:spPr>
              <a:xfrm>
                <a:off x="6877050" y="6019800"/>
                <a:ext cx="4991100" cy="247650"/>
              </a:xfrm>
              <a:prstGeom prst="rect">
                <a:avLst/>
              </a:prstGeom>
              <a:solidFill>
                <a:srgbClr val="FFFFFF"/>
              </a:solidFill>
              <a:ln w="7620">
                <a:solidFill>
                  <a:srgbClr val="D9E8E2"/>
                </a:solidFill>
              </a:ln>
            </p:spPr>
          </p:sp>
          <p:sp>
            <p:nvSpPr>
              <p:cNvPr id="331" name="TextBox 331"/>
              <p:cNvSpPr txBox="1"/>
              <p:nvPr/>
            </p:nvSpPr>
            <p:spPr>
              <a:xfrm>
                <a:off x="7002166" y="6100762"/>
                <a:ext cx="359369"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10-05​</a:t>
                </a:r>
              </a:p>
            </p:txBody>
          </p:sp>
          <p:sp>
            <p:nvSpPr>
              <p:cNvPr id="332" name="TextBox 332"/>
              <p:cNvSpPr txBox="1"/>
              <p:nvPr/>
            </p:nvSpPr>
            <p:spPr>
              <a:xfrm>
                <a:off x="7779591" y="6100762"/>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60​</a:t>
                </a:r>
              </a:p>
            </p:txBody>
          </p:sp>
          <p:sp>
            <p:nvSpPr>
              <p:cNvPr id="333" name="TextBox 333"/>
              <p:cNvSpPr txBox="1"/>
              <p:nvPr/>
            </p:nvSpPr>
            <p:spPr>
              <a:xfrm>
                <a:off x="8485251" y="61007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420​</a:t>
                </a:r>
              </a:p>
            </p:txBody>
          </p:sp>
          <p:sp>
            <p:nvSpPr>
              <p:cNvPr id="334" name="TextBox 334"/>
              <p:cNvSpPr txBox="1"/>
              <p:nvPr/>
            </p:nvSpPr>
            <p:spPr>
              <a:xfrm>
                <a:off x="9190101" y="61007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119​</a:t>
                </a:r>
              </a:p>
            </p:txBody>
          </p:sp>
          <p:sp>
            <p:nvSpPr>
              <p:cNvPr id="335" name="TextBox 335"/>
              <p:cNvSpPr txBox="1"/>
              <p:nvPr/>
            </p:nvSpPr>
            <p:spPr>
              <a:xfrm>
                <a:off x="9894951" y="61007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113​</a:t>
                </a:r>
              </a:p>
            </p:txBody>
          </p:sp>
          <p:sp>
            <p:nvSpPr>
              <p:cNvPr id="336" name="TextBox 336"/>
              <p:cNvSpPr txBox="1"/>
              <p:nvPr/>
            </p:nvSpPr>
            <p:spPr>
              <a:xfrm>
                <a:off x="10627566" y="6100762"/>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66​</a:t>
                </a:r>
              </a:p>
            </p:txBody>
          </p:sp>
          <p:sp>
            <p:nvSpPr>
              <p:cNvPr id="337" name="TextBox 337"/>
              <p:cNvSpPr txBox="1"/>
              <p:nvPr/>
            </p:nvSpPr>
            <p:spPr>
              <a:xfrm>
                <a:off x="11277814" y="6100762"/>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15.7%​</a:t>
                </a:r>
              </a:p>
            </p:txBody>
          </p:sp>
          <p:sp>
            <p:nvSpPr>
              <p:cNvPr id="338" name="Rectangle 338"/>
              <p:cNvSpPr/>
              <p:nvPr/>
            </p:nvSpPr>
            <p:spPr>
              <a:xfrm>
                <a:off x="6877050" y="6267450"/>
                <a:ext cx="4991100" cy="266700"/>
              </a:xfrm>
              <a:prstGeom prst="rect">
                <a:avLst/>
              </a:prstGeom>
              <a:solidFill>
                <a:srgbClr val="E9F4F0"/>
              </a:solidFill>
              <a:ln>
                <a:noFill/>
              </a:ln>
            </p:spPr>
          </p:sp>
          <p:sp>
            <p:nvSpPr>
              <p:cNvPr id="339" name="TextBox 339"/>
              <p:cNvSpPr txBox="1"/>
              <p:nvPr/>
            </p:nvSpPr>
            <p:spPr>
              <a:xfrm>
                <a:off x="7046969" y="6357938"/>
                <a:ext cx="26976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合计​</a:t>
                </a:r>
              </a:p>
            </p:txBody>
          </p:sp>
          <p:sp>
            <p:nvSpPr>
              <p:cNvPr id="340" name="TextBox 340"/>
              <p:cNvSpPr txBox="1"/>
              <p:nvPr/>
            </p:nvSpPr>
            <p:spPr>
              <a:xfrm>
                <a:off x="7746273" y="6357938"/>
                <a:ext cx="242754"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440​</a:t>
                </a:r>
              </a:p>
            </p:txBody>
          </p:sp>
          <p:sp>
            <p:nvSpPr>
              <p:cNvPr id="341" name="TextBox 341"/>
              <p:cNvSpPr txBox="1"/>
              <p:nvPr/>
            </p:nvSpPr>
            <p:spPr>
              <a:xfrm>
                <a:off x="8421391" y="6357938"/>
                <a:ext cx="359369"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2,820​</a:t>
                </a:r>
              </a:p>
            </p:txBody>
          </p:sp>
          <p:sp>
            <p:nvSpPr>
              <p:cNvPr id="342" name="TextBox 342"/>
              <p:cNvSpPr txBox="1"/>
              <p:nvPr/>
            </p:nvSpPr>
            <p:spPr>
              <a:xfrm>
                <a:off x="9126241" y="6357938"/>
                <a:ext cx="359369"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1,120​</a:t>
                </a:r>
              </a:p>
            </p:txBody>
          </p:sp>
          <p:sp>
            <p:nvSpPr>
              <p:cNvPr id="343" name="TextBox 343"/>
              <p:cNvSpPr txBox="1"/>
              <p:nvPr/>
            </p:nvSpPr>
            <p:spPr>
              <a:xfrm>
                <a:off x="9889398" y="6357938"/>
                <a:ext cx="242754"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766​</a:t>
                </a:r>
              </a:p>
            </p:txBody>
          </p:sp>
          <p:sp>
            <p:nvSpPr>
              <p:cNvPr id="344" name="TextBox 344"/>
              <p:cNvSpPr txBox="1"/>
              <p:nvPr/>
            </p:nvSpPr>
            <p:spPr>
              <a:xfrm>
                <a:off x="10594248" y="6357938"/>
                <a:ext cx="242754"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484​</a:t>
                </a:r>
              </a:p>
            </p:txBody>
          </p:sp>
          <p:sp>
            <p:nvSpPr>
              <p:cNvPr id="345" name="TextBox 345"/>
              <p:cNvSpPr txBox="1"/>
              <p:nvPr/>
            </p:nvSpPr>
            <p:spPr>
              <a:xfrm>
                <a:off x="11277814" y="6357938"/>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17.2%​</a:t>
                </a:r>
              </a:p>
            </p:txBody>
          </p:sp>
        </p:grpSp>
      </p:gr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8041531" cy="542925"/>
            <a:chOff x="0" y="0"/>
            <a:chExt cx="8041531"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10​</a:t>
              </a:r>
            </a:p>
          </p:txBody>
        </p:sp>
        <p:sp>
          <p:nvSpPr>
            <p:cNvPr id="4" name="TextBox 4"/>
            <p:cNvSpPr txBox="1"/>
            <p:nvPr/>
          </p:nvSpPr>
          <p:spPr>
            <a:xfrm>
              <a:off x="942594" y="151448"/>
              <a:ext cx="7098937"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商户经营</a:t>
              </a:r>
              <a:r>
                <a:rPr lang="zh-CN" sz="1950" b="1" dirty="0">
                  <a:solidFill>
                    <a:srgbClr val="5B180B"/>
                  </a:solidFill>
                  <a:latin typeface="+mj-lt"/>
                  <a:ea typeface="+mj-ea"/>
                  <a:cs typeface="+mj-cs"/>
                </a:rPr>
                <a:t xml:space="preserve"> | 把收单入口升级为结算、融资、财富综合关系</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64" name="eco-chain"/>
          <p:cNvGrpSpPr/>
          <p:nvPr/>
        </p:nvGrpSpPr>
        <p:grpSpPr>
          <a:xfrm>
            <a:off x="228600" y="666750"/>
            <a:ext cx="11734800" cy="628650"/>
            <a:chOff x="228600" y="666750"/>
            <a:chExt cx="11734800" cy="628650"/>
          </a:xfrm>
        </p:grpSpPr>
        <p:sp>
          <p:nvSpPr>
            <p:cNvPr id="7" name="Rectangle 7"/>
            <p:cNvSpPr/>
            <p:nvPr/>
          </p:nvSpPr>
          <p:spPr>
            <a:xfrm>
              <a:off x="228600" y="666750"/>
              <a:ext cx="857250" cy="628650"/>
            </a:xfrm>
            <a:prstGeom prst="roundRect">
              <a:avLst>
                <a:gd name="adj" fmla="val 12121"/>
              </a:avLst>
            </a:prstGeom>
            <a:solidFill>
              <a:srgbClr val="5B180B"/>
            </a:solidFill>
            <a:ln>
              <a:noFill/>
            </a:ln>
          </p:spPr>
        </p:sp>
        <p:sp>
          <p:nvSpPr>
            <p:cNvPr id="8" name="TextBox 8"/>
            <p:cNvSpPr txBox="1"/>
            <p:nvPr/>
          </p:nvSpPr>
          <p:spPr>
            <a:xfrm>
              <a:off x="375162" y="817245"/>
              <a:ext cx="564126"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生态图谱​</a:t>
              </a:r>
            </a:p>
          </p:txBody>
        </p:sp>
        <p:sp>
          <p:nvSpPr>
            <p:cNvPr id="9" name="TextBox 9"/>
            <p:cNvSpPr txBox="1"/>
            <p:nvPr/>
          </p:nvSpPr>
          <p:spPr>
            <a:xfrm>
              <a:off x="468706" y="1002030"/>
              <a:ext cx="377038" cy="119062"/>
            </a:xfrm>
            <a:prstGeom prst="rect">
              <a:avLst/>
            </a:prstGeom>
            <a:noFill/>
            <a:ln>
              <a:noFill/>
            </a:ln>
          </p:spPr>
          <p:txBody>
            <a:bodyPr wrap="none" lIns="0" tIns="0" rIns="0" bIns="0" anchor="t" anchorCtr="0">
              <a:spAutoFit/>
            </a:bodyPr>
            <a:lstStyle/>
            <a:p>
              <a:pPr algn="ctr"/>
              <a:r>
                <a:rPr lang="zh-CN" sz="600" dirty="0">
                  <a:solidFill>
                    <a:srgbClr val="BFDDD6"/>
                  </a:solidFill>
                  <a:latin typeface="+mn-lt"/>
                  <a:ea typeface="+mn-ea"/>
                  <a:cs typeface="+mn-cs"/>
                </a:rPr>
                <a:t>五类角色​</a:t>
              </a:r>
            </a:p>
          </p:txBody>
        </p:sp>
        <p:sp>
          <p:nvSpPr>
            <p:cNvPr id="10" name="TextBox 10"/>
            <p:cNvSpPr txBox="1"/>
            <p:nvPr/>
          </p:nvSpPr>
          <p:spPr>
            <a:xfrm>
              <a:off x="468706" y="1116330"/>
              <a:ext cx="377038" cy="119062"/>
            </a:xfrm>
            <a:prstGeom prst="rect">
              <a:avLst/>
            </a:prstGeom>
            <a:noFill/>
            <a:ln>
              <a:noFill/>
            </a:ln>
          </p:spPr>
          <p:txBody>
            <a:bodyPr wrap="none" lIns="0" tIns="0" rIns="0" bIns="0" anchor="t" anchorCtr="0">
              <a:spAutoFit/>
            </a:bodyPr>
            <a:lstStyle/>
            <a:p>
              <a:pPr algn="ctr"/>
              <a:r>
                <a:rPr lang="zh-CN" sz="600" dirty="0">
                  <a:solidFill>
                    <a:srgbClr val="BFDDD6"/>
                  </a:solidFill>
                  <a:latin typeface="+mn-lt"/>
                  <a:ea typeface="+mn-ea"/>
                  <a:cs typeface="+mn-cs"/>
                </a:rPr>
                <a:t>协同共赢​</a:t>
              </a:r>
            </a:p>
          </p:txBody>
        </p:sp>
        <p:grpSp>
          <p:nvGrpSpPr>
            <p:cNvPr id="59" name="eco-nodes"/>
            <p:cNvGrpSpPr/>
            <p:nvPr/>
          </p:nvGrpSpPr>
          <p:grpSpPr>
            <a:xfrm>
              <a:off x="1238250" y="790575"/>
              <a:ext cx="8459620" cy="428863"/>
              <a:chOff x="1238250" y="790575"/>
              <a:chExt cx="8459620" cy="428863"/>
            </a:xfrm>
          </p:grpSpPr>
          <p:sp>
            <p:nvSpPr>
              <p:cNvPr id="11" name="Ellipse 11"/>
              <p:cNvSpPr/>
              <p:nvPr/>
            </p:nvSpPr>
            <p:spPr>
              <a:xfrm>
                <a:off x="1238250" y="790575"/>
                <a:ext cx="381000" cy="381000"/>
              </a:xfrm>
              <a:prstGeom prst="ellipse">
                <a:avLst/>
              </a:prstGeom>
              <a:solidFill>
                <a:srgbClr val="E9F4F0"/>
              </a:solidFill>
              <a:ln>
                <a:noFill/>
              </a:ln>
            </p:spPr>
          </p:sp>
          <p:grpSp>
            <p:nvGrpSpPr>
              <p:cNvPr id="16" name="Group 16"/>
              <p:cNvGrpSpPr/>
              <p:nvPr/>
            </p:nvGrpSpPr>
            <p:grpSpPr>
              <a:xfrm>
                <a:off x="1352550" y="895350"/>
                <a:ext cx="152400" cy="171450"/>
                <a:chOff x="1352550" y="895350"/>
                <a:chExt cx="152400" cy="171450"/>
              </a:xfrm>
            </p:grpSpPr>
            <p:sp>
              <p:nvSpPr>
                <p:cNvPr id="12" name="Freeform 12"/>
                <p:cNvSpPr/>
                <p:nvPr/>
              </p:nvSpPr>
              <p:spPr>
                <a:xfrm>
                  <a:off x="1352550" y="10287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5B180B"/>
                  </a:solidFill>
                </a:ln>
              </p:spPr>
            </p:sp>
            <p:sp>
              <p:nvSpPr>
                <p:cNvPr id="13" name="Freeform 13"/>
                <p:cNvSpPr/>
                <p:nvPr/>
              </p:nvSpPr>
              <p:spPr>
                <a:xfrm>
                  <a:off x="1457325" y="10287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5B180B"/>
                  </a:solidFill>
                </a:ln>
              </p:spPr>
            </p:sp>
            <p:sp>
              <p:nvSpPr>
                <p:cNvPr id="14" name="Freeform 14"/>
                <p:cNvSpPr/>
                <p:nvPr/>
              </p:nvSpPr>
              <p:spPr>
                <a:xfrm>
                  <a:off x="1352550" y="895350"/>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5B180B"/>
                  </a:solidFill>
                </a:ln>
              </p:spPr>
            </p:sp>
            <p:sp>
              <p:nvSpPr>
                <p:cNvPr id="15" name="Freeform 15"/>
                <p:cNvSpPr/>
                <p:nvPr/>
              </p:nvSpPr>
              <p:spPr>
                <a:xfrm>
                  <a:off x="1371600" y="914400"/>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5B180B"/>
                  </a:solidFill>
                </a:ln>
              </p:spPr>
            </p:sp>
          </p:grpSp>
          <p:sp>
            <p:nvSpPr>
              <p:cNvPr id="17" name="TextBox 17"/>
              <p:cNvSpPr txBox="1"/>
              <p:nvPr/>
            </p:nvSpPr>
            <p:spPr>
              <a:xfrm>
                <a:off x="1709738" y="821293"/>
                <a:ext cx="307930"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商户​</a:t>
                </a:r>
              </a:p>
            </p:txBody>
          </p:sp>
          <p:sp>
            <p:nvSpPr>
              <p:cNvPr id="18" name="TextBox 18"/>
              <p:cNvSpPr txBox="1"/>
              <p:nvPr/>
            </p:nvSpPr>
            <p:spPr>
              <a:xfrm>
                <a:off x="1709738" y="97893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收单结算​</a:t>
                </a:r>
              </a:p>
            </p:txBody>
          </p:sp>
          <p:sp>
            <p:nvSpPr>
              <p:cNvPr id="19" name="TextBox 19"/>
              <p:cNvSpPr txBox="1"/>
              <p:nvPr/>
            </p:nvSpPr>
            <p:spPr>
              <a:xfrm>
                <a:off x="1709738" y="109323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经营增效​</a:t>
                </a:r>
              </a:p>
            </p:txBody>
          </p:sp>
          <p:sp>
            <p:nvSpPr>
              <p:cNvPr id="20" name="Freeform 20"/>
              <p:cNvSpPr/>
              <p:nvPr/>
            </p:nvSpPr>
            <p:spPr>
              <a:xfrm>
                <a:off x="2876550" y="914400"/>
                <a:ext cx="190500" cy="133350"/>
              </a:xfrm>
              <a:prstGeom prst="rightArrow">
                <a:avLst/>
              </a:prstGeom>
              <a:solidFill>
                <a:srgbClr val="C9988F"/>
              </a:solidFill>
              <a:ln>
                <a:noFill/>
              </a:ln>
            </p:spPr>
          </p:sp>
          <p:sp>
            <p:nvSpPr>
              <p:cNvPr id="21" name="Ellipse 21"/>
              <p:cNvSpPr/>
              <p:nvPr/>
            </p:nvSpPr>
            <p:spPr>
              <a:xfrm>
                <a:off x="3067050" y="790575"/>
                <a:ext cx="381000" cy="381000"/>
              </a:xfrm>
              <a:prstGeom prst="ellipse">
                <a:avLst/>
              </a:prstGeom>
              <a:solidFill>
                <a:srgbClr val="E9F4F0"/>
              </a:solidFill>
              <a:ln>
                <a:noFill/>
              </a:ln>
            </p:spPr>
          </p:sp>
          <p:grpSp>
            <p:nvGrpSpPr>
              <p:cNvPr id="26" name="Group 26"/>
              <p:cNvGrpSpPr/>
              <p:nvPr/>
            </p:nvGrpSpPr>
            <p:grpSpPr>
              <a:xfrm>
                <a:off x="3171825" y="895350"/>
                <a:ext cx="171450" cy="161925"/>
                <a:chOff x="3171825" y="895350"/>
                <a:chExt cx="171450" cy="161925"/>
              </a:xfrm>
            </p:grpSpPr>
            <p:sp>
              <p:nvSpPr>
                <p:cNvPr id="22" name="Freeform 22"/>
                <p:cNvSpPr/>
                <p:nvPr/>
              </p:nvSpPr>
              <p:spPr>
                <a:xfrm>
                  <a:off x="3171825" y="933450"/>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5B180B"/>
                  </a:solidFill>
                </a:ln>
              </p:spPr>
            </p:sp>
            <p:sp>
              <p:nvSpPr>
                <p:cNvPr id="23" name="Freeform 23"/>
                <p:cNvSpPr/>
                <p:nvPr/>
              </p:nvSpPr>
              <p:spPr>
                <a:xfrm>
                  <a:off x="3219450" y="895350"/>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5B180B"/>
                  </a:solidFill>
                </a:ln>
              </p:spPr>
            </p:sp>
            <p:sp>
              <p:nvSpPr>
                <p:cNvPr id="24" name="Freeform 24"/>
                <p:cNvSpPr/>
                <p:nvPr/>
              </p:nvSpPr>
              <p:spPr>
                <a:xfrm>
                  <a:off x="3257550" y="981075"/>
                  <a:ext cx="9525" cy="9525"/>
                </a:xfrm>
                <a:custGeom>
                  <a:avLst/>
                  <a:gdLst/>
                  <a:ahLst/>
                  <a:cxnLst/>
                  <a:rect l="l" t="t" r="r" b="b"/>
                  <a:pathLst>
                    <a:path w="9525" h="9525">
                      <a:moveTo>
                        <a:pt x="0" y="0"/>
                      </a:moveTo>
                      <a:lnTo>
                        <a:pt x="0" y="95"/>
                      </a:lnTo>
                    </a:path>
                  </a:pathLst>
                </a:custGeom>
                <a:noFill/>
                <a:ln w="19050">
                  <a:solidFill>
                    <a:srgbClr val="5B180B"/>
                  </a:solidFill>
                </a:ln>
              </p:spPr>
            </p:sp>
            <p:sp>
              <p:nvSpPr>
                <p:cNvPr id="25" name="Freeform 25"/>
                <p:cNvSpPr/>
                <p:nvPr/>
              </p:nvSpPr>
              <p:spPr>
                <a:xfrm>
                  <a:off x="3171825" y="990600"/>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5B180B"/>
                  </a:solidFill>
                </a:ln>
              </p:spPr>
            </p:sp>
          </p:grpSp>
          <p:sp>
            <p:nvSpPr>
              <p:cNvPr id="27" name="TextBox 27"/>
              <p:cNvSpPr txBox="1"/>
              <p:nvPr/>
            </p:nvSpPr>
            <p:spPr>
              <a:xfrm>
                <a:off x="3538538" y="821293"/>
                <a:ext cx="423704"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经营者​</a:t>
                </a:r>
              </a:p>
            </p:txBody>
          </p:sp>
          <p:sp>
            <p:nvSpPr>
              <p:cNvPr id="28" name="TextBox 28"/>
              <p:cNvSpPr txBox="1"/>
              <p:nvPr/>
            </p:nvSpPr>
            <p:spPr>
              <a:xfrm>
                <a:off x="3538538" y="97893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资金周转​</a:t>
                </a:r>
              </a:p>
            </p:txBody>
          </p:sp>
          <p:sp>
            <p:nvSpPr>
              <p:cNvPr id="29" name="TextBox 29"/>
              <p:cNvSpPr txBox="1"/>
              <p:nvPr/>
            </p:nvSpPr>
            <p:spPr>
              <a:xfrm>
                <a:off x="3538538" y="109323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企业成长​</a:t>
                </a:r>
              </a:p>
            </p:txBody>
          </p:sp>
          <p:sp>
            <p:nvSpPr>
              <p:cNvPr id="30" name="Freeform 30"/>
              <p:cNvSpPr/>
              <p:nvPr/>
            </p:nvSpPr>
            <p:spPr>
              <a:xfrm>
                <a:off x="4705350" y="914400"/>
                <a:ext cx="190500" cy="133350"/>
              </a:xfrm>
              <a:prstGeom prst="rightArrow">
                <a:avLst/>
              </a:prstGeom>
              <a:solidFill>
                <a:srgbClr val="C9988F"/>
              </a:solidFill>
              <a:ln>
                <a:noFill/>
              </a:ln>
            </p:spPr>
          </p:sp>
          <p:sp>
            <p:nvSpPr>
              <p:cNvPr id="31" name="Ellipse 31"/>
              <p:cNvSpPr/>
              <p:nvPr/>
            </p:nvSpPr>
            <p:spPr>
              <a:xfrm>
                <a:off x="4895850" y="790575"/>
                <a:ext cx="381000" cy="381000"/>
              </a:xfrm>
              <a:prstGeom prst="ellipse">
                <a:avLst/>
              </a:prstGeom>
              <a:solidFill>
                <a:srgbClr val="E9F4F0"/>
              </a:solidFill>
              <a:ln>
                <a:noFill/>
              </a:ln>
            </p:spPr>
          </p:sp>
          <p:grpSp>
            <p:nvGrpSpPr>
              <p:cNvPr id="36" name="Group 36"/>
              <p:cNvGrpSpPr/>
              <p:nvPr/>
            </p:nvGrpSpPr>
            <p:grpSpPr>
              <a:xfrm>
                <a:off x="5000625" y="895350"/>
                <a:ext cx="171450" cy="171450"/>
                <a:chOff x="5000625" y="895350"/>
                <a:chExt cx="171450" cy="171450"/>
              </a:xfrm>
            </p:grpSpPr>
            <p:sp>
              <p:nvSpPr>
                <p:cNvPr id="32" name="Freeform 32"/>
                <p:cNvSpPr/>
                <p:nvPr/>
              </p:nvSpPr>
              <p:spPr>
                <a:xfrm>
                  <a:off x="5019675" y="8953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5B180B"/>
                  </a:solidFill>
                </a:ln>
              </p:spPr>
            </p:sp>
            <p:sp>
              <p:nvSpPr>
                <p:cNvPr id="33" name="Freeform 33"/>
                <p:cNvSpPr/>
                <p:nvPr/>
              </p:nvSpPr>
              <p:spPr>
                <a:xfrm>
                  <a:off x="5000625" y="10096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5B180B"/>
                  </a:solidFill>
                </a:ln>
              </p:spPr>
            </p:sp>
            <p:sp>
              <p:nvSpPr>
                <p:cNvPr id="34" name="Freeform 34"/>
                <p:cNvSpPr/>
                <p:nvPr/>
              </p:nvSpPr>
              <p:spPr>
                <a:xfrm>
                  <a:off x="5124450" y="8965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5B180B"/>
                  </a:solidFill>
                </a:ln>
              </p:spPr>
            </p:sp>
            <p:sp>
              <p:nvSpPr>
                <p:cNvPr id="35" name="Freeform 35"/>
                <p:cNvSpPr/>
                <p:nvPr/>
              </p:nvSpPr>
              <p:spPr>
                <a:xfrm>
                  <a:off x="5143500" y="10110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5B180B"/>
                  </a:solidFill>
                </a:ln>
              </p:spPr>
            </p:sp>
          </p:grpSp>
          <p:sp>
            <p:nvSpPr>
              <p:cNvPr id="37" name="TextBox 37"/>
              <p:cNvSpPr txBox="1"/>
              <p:nvPr/>
            </p:nvSpPr>
            <p:spPr>
              <a:xfrm>
                <a:off x="5367338" y="821293"/>
                <a:ext cx="307930"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员工​</a:t>
                </a:r>
              </a:p>
            </p:txBody>
          </p:sp>
          <p:sp>
            <p:nvSpPr>
              <p:cNvPr id="38" name="TextBox 38"/>
              <p:cNvSpPr txBox="1"/>
              <p:nvPr/>
            </p:nvSpPr>
            <p:spPr>
              <a:xfrm>
                <a:off x="5367338" y="97893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工资代发​</a:t>
                </a:r>
              </a:p>
            </p:txBody>
          </p:sp>
          <p:sp>
            <p:nvSpPr>
              <p:cNvPr id="39" name="TextBox 39"/>
              <p:cNvSpPr txBox="1"/>
              <p:nvPr/>
            </p:nvSpPr>
            <p:spPr>
              <a:xfrm>
                <a:off x="5367338" y="109323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普惠金融​</a:t>
                </a:r>
              </a:p>
            </p:txBody>
          </p:sp>
          <p:sp>
            <p:nvSpPr>
              <p:cNvPr id="40" name="Freeform 40"/>
              <p:cNvSpPr/>
              <p:nvPr/>
            </p:nvSpPr>
            <p:spPr>
              <a:xfrm>
                <a:off x="6534150" y="914400"/>
                <a:ext cx="190500" cy="133350"/>
              </a:xfrm>
              <a:prstGeom prst="rightArrow">
                <a:avLst/>
              </a:prstGeom>
              <a:solidFill>
                <a:srgbClr val="C9988F"/>
              </a:solidFill>
              <a:ln>
                <a:noFill/>
              </a:ln>
            </p:spPr>
          </p:sp>
          <p:sp>
            <p:nvSpPr>
              <p:cNvPr id="41" name="Ellipse 41"/>
              <p:cNvSpPr/>
              <p:nvPr/>
            </p:nvSpPr>
            <p:spPr>
              <a:xfrm>
                <a:off x="6724650" y="790575"/>
                <a:ext cx="381000" cy="381000"/>
              </a:xfrm>
              <a:prstGeom prst="ellipse">
                <a:avLst/>
              </a:prstGeom>
              <a:solidFill>
                <a:srgbClr val="E9F4F0"/>
              </a:solidFill>
              <a:ln>
                <a:noFill/>
              </a:ln>
            </p:spPr>
          </p:sp>
          <p:grpSp>
            <p:nvGrpSpPr>
              <p:cNvPr id="44" name="Group 44"/>
              <p:cNvGrpSpPr/>
              <p:nvPr/>
            </p:nvGrpSpPr>
            <p:grpSpPr>
              <a:xfrm>
                <a:off x="6838950" y="904875"/>
                <a:ext cx="152400" cy="152400"/>
                <a:chOff x="6838950" y="904875"/>
                <a:chExt cx="152400" cy="152400"/>
              </a:xfrm>
            </p:grpSpPr>
            <p:sp>
              <p:nvSpPr>
                <p:cNvPr id="42" name="Freeform 42"/>
                <p:cNvSpPr/>
                <p:nvPr/>
              </p:nvSpPr>
              <p:spPr>
                <a:xfrm>
                  <a:off x="6838950" y="904875"/>
                  <a:ext cx="142875" cy="152400"/>
                </a:xfrm>
                <a:custGeom>
                  <a:avLst/>
                  <a:gdLst/>
                  <a:ahLst/>
                  <a:cxnLst/>
                  <a:rect l="l" t="t" r="r" b="b"/>
                  <a:pathLst>
                    <a:path w="142875" h="152400">
                      <a:moveTo>
                        <a:pt x="123825" y="38100"/>
                      </a:moveTo>
                      <a:lnTo>
                        <a:pt x="123825" y="9525"/>
                      </a:lnTo>
                      <a:cubicBezTo>
                        <a:pt x="123825" y="4264"/>
                        <a:pt x="119561" y="0"/>
                        <a:pt x="114300" y="0"/>
                      </a:cubicBezTo>
                      <a:lnTo>
                        <a:pt x="19050" y="0"/>
                      </a:lnTo>
                      <a:cubicBezTo>
                        <a:pt x="8529" y="0"/>
                        <a:pt x="0" y="8529"/>
                        <a:pt x="0" y="19050"/>
                      </a:cubicBezTo>
                      <a:cubicBezTo>
                        <a:pt x="0" y="29571"/>
                        <a:pt x="8529" y="38100"/>
                        <a:pt x="19050" y="38100"/>
                      </a:cubicBezTo>
                      <a:lnTo>
                        <a:pt x="133350" y="38100"/>
                      </a:lnTo>
                      <a:cubicBezTo>
                        <a:pt x="138611" y="38100"/>
                        <a:pt x="142875" y="42364"/>
                        <a:pt x="142875" y="47625"/>
                      </a:cubicBezTo>
                      <a:lnTo>
                        <a:pt x="142875" y="76200"/>
                      </a:lnTo>
                      <a:moveTo>
                        <a:pt x="142875" y="114300"/>
                      </a:moveTo>
                      <a:lnTo>
                        <a:pt x="142875" y="142875"/>
                      </a:lnTo>
                      <a:cubicBezTo>
                        <a:pt x="142875" y="148136"/>
                        <a:pt x="138611" y="152400"/>
                        <a:pt x="133350" y="152400"/>
                      </a:cubicBezTo>
                      <a:lnTo>
                        <a:pt x="19050" y="152400"/>
                      </a:lnTo>
                      <a:cubicBezTo>
                        <a:pt x="8529" y="152400"/>
                        <a:pt x="0" y="143871"/>
                        <a:pt x="0" y="133350"/>
                      </a:cubicBezTo>
                      <a:lnTo>
                        <a:pt x="0" y="19050"/>
                      </a:lnTo>
                    </a:path>
                  </a:pathLst>
                </a:custGeom>
                <a:noFill/>
                <a:ln w="19050">
                  <a:solidFill>
                    <a:srgbClr val="5B180B"/>
                  </a:solidFill>
                </a:ln>
              </p:spPr>
            </p:sp>
            <p:sp>
              <p:nvSpPr>
                <p:cNvPr id="43" name="Freeform 43"/>
                <p:cNvSpPr/>
                <p:nvPr/>
              </p:nvSpPr>
              <p:spPr>
                <a:xfrm>
                  <a:off x="6934200" y="981075"/>
                  <a:ext cx="57150" cy="38100"/>
                </a:xfrm>
                <a:custGeom>
                  <a:avLst/>
                  <a:gdLst/>
                  <a:ahLst/>
                  <a:cxnLst/>
                  <a:rect l="l" t="t" r="r" b="b"/>
                  <a:pathLst>
                    <a:path w="57150" h="38100">
                      <a:moveTo>
                        <a:pt x="57150" y="0"/>
                      </a:moveTo>
                      <a:lnTo>
                        <a:pt x="57150" y="38100"/>
                      </a:lnTo>
                      <a:lnTo>
                        <a:pt x="19050" y="38100"/>
                      </a:lnTo>
                      <a:cubicBezTo>
                        <a:pt x="8529" y="38100"/>
                        <a:pt x="0" y="29571"/>
                        <a:pt x="0" y="19050"/>
                      </a:cubicBezTo>
                      <a:cubicBezTo>
                        <a:pt x="0" y="8529"/>
                        <a:pt x="8529" y="0"/>
                        <a:pt x="19050" y="0"/>
                      </a:cubicBezTo>
                      <a:lnTo>
                        <a:pt x="57150" y="0"/>
                      </a:lnTo>
                    </a:path>
                  </a:pathLst>
                </a:custGeom>
                <a:noFill/>
                <a:ln w="19050">
                  <a:solidFill>
                    <a:srgbClr val="5B180B"/>
                  </a:solidFill>
                </a:ln>
              </p:spPr>
            </p:sp>
          </p:grpSp>
          <p:sp>
            <p:nvSpPr>
              <p:cNvPr id="45" name="TextBox 45"/>
              <p:cNvSpPr txBox="1"/>
              <p:nvPr/>
            </p:nvSpPr>
            <p:spPr>
              <a:xfrm>
                <a:off x="7196138" y="821293"/>
                <a:ext cx="423704"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消费者​</a:t>
                </a:r>
              </a:p>
            </p:txBody>
          </p:sp>
          <p:sp>
            <p:nvSpPr>
              <p:cNvPr id="46" name="TextBox 46"/>
              <p:cNvSpPr txBox="1"/>
              <p:nvPr/>
            </p:nvSpPr>
            <p:spPr>
              <a:xfrm>
                <a:off x="7196138" y="97893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便捷支付​</a:t>
                </a:r>
              </a:p>
            </p:txBody>
          </p:sp>
          <p:sp>
            <p:nvSpPr>
              <p:cNvPr id="47" name="TextBox 47"/>
              <p:cNvSpPr txBox="1"/>
              <p:nvPr/>
            </p:nvSpPr>
            <p:spPr>
              <a:xfrm>
                <a:off x="7196138" y="109323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会员权益​</a:t>
                </a:r>
              </a:p>
            </p:txBody>
          </p:sp>
          <p:sp>
            <p:nvSpPr>
              <p:cNvPr id="48" name="Freeform 48"/>
              <p:cNvSpPr/>
              <p:nvPr/>
            </p:nvSpPr>
            <p:spPr>
              <a:xfrm>
                <a:off x="8362950" y="914400"/>
                <a:ext cx="190500" cy="133350"/>
              </a:xfrm>
              <a:prstGeom prst="rightArrow">
                <a:avLst/>
              </a:prstGeom>
              <a:solidFill>
                <a:srgbClr val="C9988F"/>
              </a:solidFill>
              <a:ln>
                <a:noFill/>
              </a:ln>
            </p:spPr>
          </p:sp>
          <p:sp>
            <p:nvSpPr>
              <p:cNvPr id="49" name="Ellipse 49"/>
              <p:cNvSpPr/>
              <p:nvPr/>
            </p:nvSpPr>
            <p:spPr>
              <a:xfrm>
                <a:off x="8553450" y="790575"/>
                <a:ext cx="381000" cy="381000"/>
              </a:xfrm>
              <a:prstGeom prst="ellipse">
                <a:avLst/>
              </a:prstGeom>
              <a:solidFill>
                <a:srgbClr val="E9F4F0"/>
              </a:solidFill>
              <a:ln>
                <a:noFill/>
              </a:ln>
            </p:spPr>
          </p:sp>
          <p:grpSp>
            <p:nvGrpSpPr>
              <p:cNvPr id="55" name="Group 55"/>
              <p:cNvGrpSpPr/>
              <p:nvPr/>
            </p:nvGrpSpPr>
            <p:grpSpPr>
              <a:xfrm>
                <a:off x="8658225" y="895350"/>
                <a:ext cx="171450" cy="171450"/>
                <a:chOff x="8658225" y="895350"/>
                <a:chExt cx="171450" cy="171450"/>
              </a:xfrm>
            </p:grpSpPr>
            <p:sp>
              <p:nvSpPr>
                <p:cNvPr id="50" name="Freeform 50"/>
                <p:cNvSpPr/>
                <p:nvPr/>
              </p:nvSpPr>
              <p:spPr>
                <a:xfrm>
                  <a:off x="8658225" y="1009650"/>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5B180B"/>
                  </a:solidFill>
                </a:ln>
              </p:spPr>
            </p:sp>
            <p:sp>
              <p:nvSpPr>
                <p:cNvPr id="51" name="Freeform 51"/>
                <p:cNvSpPr/>
                <p:nvPr/>
              </p:nvSpPr>
              <p:spPr>
                <a:xfrm>
                  <a:off x="8772525" y="1009650"/>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5B180B"/>
                  </a:solidFill>
                </a:ln>
              </p:spPr>
            </p:sp>
            <p:sp>
              <p:nvSpPr>
                <p:cNvPr id="52" name="Freeform 52"/>
                <p:cNvSpPr/>
                <p:nvPr/>
              </p:nvSpPr>
              <p:spPr>
                <a:xfrm>
                  <a:off x="8715375" y="895350"/>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5B180B"/>
                  </a:solidFill>
                </a:ln>
              </p:spPr>
            </p:sp>
            <p:sp>
              <p:nvSpPr>
                <p:cNvPr id="53" name="Freeform 53"/>
                <p:cNvSpPr/>
                <p:nvPr/>
              </p:nvSpPr>
              <p:spPr>
                <a:xfrm>
                  <a:off x="8686800" y="981075"/>
                  <a:ext cx="114300" cy="28575"/>
                </a:xfrm>
                <a:custGeom>
                  <a:avLst/>
                  <a:gdLst/>
                  <a:ahLst/>
                  <a:cxnLst/>
                  <a:rect l="l" t="t" r="r" b="b"/>
                  <a:pathLst>
                    <a:path w="114300" h="28575">
                      <a:moveTo>
                        <a:pt x="0" y="28575"/>
                      </a:moveTo>
                      <a:lnTo>
                        <a:pt x="0" y="19050"/>
                      </a:lnTo>
                      <a:cubicBezTo>
                        <a:pt x="0" y="8529"/>
                        <a:pt x="8529" y="0"/>
                        <a:pt x="19050" y="0"/>
                      </a:cubicBezTo>
                      <a:lnTo>
                        <a:pt x="95250" y="0"/>
                      </a:lnTo>
                      <a:cubicBezTo>
                        <a:pt x="105771" y="0"/>
                        <a:pt x="114300" y="8529"/>
                        <a:pt x="114300" y="19050"/>
                      </a:cubicBezTo>
                      <a:lnTo>
                        <a:pt x="114300" y="28575"/>
                      </a:lnTo>
                    </a:path>
                  </a:pathLst>
                </a:custGeom>
                <a:noFill/>
                <a:ln w="19050">
                  <a:solidFill>
                    <a:srgbClr val="5B180B"/>
                  </a:solidFill>
                </a:ln>
              </p:spPr>
            </p:sp>
            <p:sp>
              <p:nvSpPr>
                <p:cNvPr id="54" name="Freeform 54"/>
                <p:cNvSpPr/>
                <p:nvPr/>
              </p:nvSpPr>
              <p:spPr>
                <a:xfrm>
                  <a:off x="8743950" y="952500"/>
                  <a:ext cx="9525" cy="28575"/>
                </a:xfrm>
                <a:custGeom>
                  <a:avLst/>
                  <a:gdLst/>
                  <a:ahLst/>
                  <a:cxnLst/>
                  <a:rect l="l" t="t" r="r" b="b"/>
                  <a:pathLst>
                    <a:path w="9525" h="28575">
                      <a:moveTo>
                        <a:pt x="0" y="0"/>
                      </a:moveTo>
                      <a:lnTo>
                        <a:pt x="0" y="28575"/>
                      </a:lnTo>
                    </a:path>
                  </a:pathLst>
                </a:custGeom>
                <a:noFill/>
                <a:ln w="19050">
                  <a:solidFill>
                    <a:srgbClr val="5B180B"/>
                  </a:solidFill>
                </a:ln>
              </p:spPr>
            </p:sp>
          </p:grpSp>
          <p:sp>
            <p:nvSpPr>
              <p:cNvPr id="56" name="TextBox 56"/>
              <p:cNvSpPr txBox="1"/>
              <p:nvPr/>
            </p:nvSpPr>
            <p:spPr>
              <a:xfrm>
                <a:off x="9024938" y="821293"/>
                <a:ext cx="423704"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上下游​</a:t>
                </a:r>
              </a:p>
            </p:txBody>
          </p:sp>
          <p:sp>
            <p:nvSpPr>
              <p:cNvPr id="57" name="TextBox 57"/>
              <p:cNvSpPr txBox="1"/>
              <p:nvPr/>
            </p:nvSpPr>
            <p:spPr>
              <a:xfrm>
                <a:off x="9024938" y="978932"/>
                <a:ext cx="67293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供应商 · 经销商​</a:t>
                </a:r>
              </a:p>
            </p:txBody>
          </p:sp>
          <p:sp>
            <p:nvSpPr>
              <p:cNvPr id="58" name="TextBox 58"/>
              <p:cNvSpPr txBox="1"/>
              <p:nvPr/>
            </p:nvSpPr>
            <p:spPr>
              <a:xfrm>
                <a:off x="9024938" y="1093232"/>
                <a:ext cx="586776"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平台 · 产业链​</a:t>
                </a:r>
              </a:p>
            </p:txBody>
          </p:sp>
        </p:grpSp>
        <p:sp>
          <p:nvSpPr>
            <p:cNvPr id="60" name="Rectangle 60"/>
            <p:cNvSpPr/>
            <p:nvPr/>
          </p:nvSpPr>
          <p:spPr>
            <a:xfrm>
              <a:off x="9963150" y="666750"/>
              <a:ext cx="2000250" cy="628650"/>
            </a:xfrm>
            <a:prstGeom prst="roundRect">
              <a:avLst>
                <a:gd name="adj" fmla="val 12121"/>
              </a:avLst>
            </a:prstGeom>
            <a:gradFill>
              <a:gsLst>
                <a:gs pos="0">
                  <a:srgbClr val="9A412F"/>
                </a:gs>
                <a:gs pos="100000">
                  <a:srgbClr val="5B180B"/>
                </a:gs>
              </a:gsLst>
              <a:lin ang="0" scaled="1"/>
            </a:gradFill>
            <a:ln>
              <a:noFill/>
            </a:ln>
          </p:spPr>
        </p:sp>
        <p:sp>
          <p:nvSpPr>
            <p:cNvPr id="61" name="TextBox 61"/>
            <p:cNvSpPr txBox="1"/>
            <p:nvPr/>
          </p:nvSpPr>
          <p:spPr>
            <a:xfrm>
              <a:off x="10608755" y="791289"/>
              <a:ext cx="7090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以支付为起点​</a:t>
              </a:r>
            </a:p>
          </p:txBody>
        </p:sp>
        <p:sp>
          <p:nvSpPr>
            <p:cNvPr id="62" name="TextBox 62"/>
            <p:cNvSpPr txBox="1"/>
            <p:nvPr/>
          </p:nvSpPr>
          <p:spPr>
            <a:xfrm>
              <a:off x="10449230" y="943689"/>
              <a:ext cx="1028090"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构建商户全生命周期​</a:t>
              </a:r>
            </a:p>
          </p:txBody>
        </p:sp>
        <p:sp>
          <p:nvSpPr>
            <p:cNvPr id="63" name="TextBox 63"/>
            <p:cNvSpPr txBox="1"/>
            <p:nvPr/>
          </p:nvSpPr>
          <p:spPr>
            <a:xfrm>
              <a:off x="10608755" y="1096089"/>
              <a:ext cx="7090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金融服务生态​</a:t>
              </a:r>
            </a:p>
          </p:txBody>
        </p:sp>
      </p:grpSp>
      <p:grpSp>
        <p:nvGrpSpPr>
          <p:cNvPr id="117" name="kpi-row"/>
          <p:cNvGrpSpPr/>
          <p:nvPr/>
        </p:nvGrpSpPr>
        <p:grpSpPr>
          <a:xfrm>
            <a:off x="228600" y="1390650"/>
            <a:ext cx="11725275" cy="620839"/>
            <a:chOff x="228600" y="1390650"/>
            <a:chExt cx="11725275" cy="620839"/>
          </a:xfrm>
        </p:grpSpPr>
        <p:sp>
          <p:nvSpPr>
            <p:cNvPr id="65" name="Rectangle 65"/>
            <p:cNvSpPr/>
            <p:nvPr/>
          </p:nvSpPr>
          <p:spPr>
            <a:xfrm>
              <a:off x="228600" y="1390650"/>
              <a:ext cx="2838450" cy="609600"/>
            </a:xfrm>
            <a:prstGeom prst="roundRect">
              <a:avLst>
                <a:gd name="adj" fmla="val 12500"/>
              </a:avLst>
            </a:prstGeom>
            <a:solidFill>
              <a:srgbClr val="F5FAF8"/>
            </a:solidFill>
            <a:ln w="9525">
              <a:solidFill>
                <a:srgbClr val="D9E8E2"/>
              </a:solidFill>
            </a:ln>
          </p:spPr>
        </p:sp>
        <p:sp>
          <p:nvSpPr>
            <p:cNvPr id="66" name="Ellipse 66"/>
            <p:cNvSpPr/>
            <p:nvPr/>
          </p:nvSpPr>
          <p:spPr>
            <a:xfrm>
              <a:off x="342900" y="1524000"/>
              <a:ext cx="342900" cy="342900"/>
            </a:xfrm>
            <a:prstGeom prst="ellipse">
              <a:avLst/>
            </a:prstGeom>
            <a:solidFill>
              <a:srgbClr val="5B180B"/>
            </a:solidFill>
            <a:ln>
              <a:noFill/>
            </a:ln>
          </p:spPr>
        </p:sp>
        <p:grpSp>
          <p:nvGrpSpPr>
            <p:cNvPr id="71" name="Group 71"/>
            <p:cNvGrpSpPr/>
            <p:nvPr/>
          </p:nvGrpSpPr>
          <p:grpSpPr>
            <a:xfrm>
              <a:off x="431800" y="1602581"/>
              <a:ext cx="165099" cy="185737"/>
              <a:chOff x="431800" y="1602581"/>
              <a:chExt cx="165099" cy="185737"/>
            </a:xfrm>
          </p:grpSpPr>
          <p:sp>
            <p:nvSpPr>
              <p:cNvPr id="67" name="Freeform 67"/>
              <p:cNvSpPr/>
              <p:nvPr/>
            </p:nvSpPr>
            <p:spPr>
              <a:xfrm>
                <a:off x="431800" y="174704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68" name="Freeform 68"/>
              <p:cNvSpPr/>
              <p:nvPr/>
            </p:nvSpPr>
            <p:spPr>
              <a:xfrm>
                <a:off x="545306" y="174704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69" name="Freeform 69"/>
              <p:cNvSpPr/>
              <p:nvPr/>
            </p:nvSpPr>
            <p:spPr>
              <a:xfrm>
                <a:off x="431800" y="1602581"/>
                <a:ext cx="134143" cy="144462"/>
              </a:xfrm>
              <a:custGeom>
                <a:avLst/>
                <a:gdLst/>
                <a:ahLst/>
                <a:cxnLst/>
                <a:rect l="l" t="t" r="r" b="b"/>
                <a:pathLst>
                  <a:path w="134143" h="144462">
                    <a:moveTo>
                      <a:pt x="134143" y="144462"/>
                    </a:moveTo>
                    <a:lnTo>
                      <a:pt x="20637" y="144462"/>
                    </a:lnTo>
                    <a:lnTo>
                      <a:pt x="20637" y="0"/>
                    </a:lnTo>
                    <a:lnTo>
                      <a:pt x="0" y="0"/>
                    </a:lnTo>
                  </a:path>
                </a:pathLst>
              </a:custGeom>
              <a:noFill/>
              <a:ln w="20637">
                <a:solidFill>
                  <a:srgbClr val="FFFFFF"/>
                </a:solidFill>
              </a:ln>
            </p:spPr>
          </p:sp>
          <p:sp>
            <p:nvSpPr>
              <p:cNvPr id="70" name="Freeform 70"/>
              <p:cNvSpPr/>
              <p:nvPr/>
            </p:nvSpPr>
            <p:spPr>
              <a:xfrm>
                <a:off x="452437" y="1623219"/>
                <a:ext cx="144462" cy="82550"/>
              </a:xfrm>
              <a:custGeom>
                <a:avLst/>
                <a:gdLst/>
                <a:ahLst/>
                <a:cxnLst/>
                <a:rect l="l" t="t" r="r" b="b"/>
                <a:pathLst>
                  <a:path w="144462" h="82550">
                    <a:moveTo>
                      <a:pt x="0" y="0"/>
                    </a:moveTo>
                    <a:lnTo>
                      <a:pt x="144462" y="10319"/>
                    </a:lnTo>
                    <a:lnTo>
                      <a:pt x="134143" y="82550"/>
                    </a:lnTo>
                    <a:lnTo>
                      <a:pt x="0" y="82550"/>
                    </a:lnTo>
                  </a:path>
                </a:pathLst>
              </a:custGeom>
              <a:noFill/>
              <a:ln w="20637">
                <a:solidFill>
                  <a:srgbClr val="FFFFFF"/>
                </a:solidFill>
              </a:ln>
            </p:spPr>
          </p:sp>
        </p:grpSp>
        <p:sp>
          <p:nvSpPr>
            <p:cNvPr id="72" name="TextBox 72"/>
            <p:cNvSpPr txBox="1"/>
            <p:nvPr/>
          </p:nvSpPr>
          <p:spPr>
            <a:xfrm>
              <a:off x="776288" y="1511141"/>
              <a:ext cx="732569"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新增有效商户​</a:t>
              </a:r>
            </a:p>
          </p:txBody>
        </p:sp>
        <p:sp>
          <p:nvSpPr>
            <p:cNvPr id="73" name="TextBox 73"/>
            <p:cNvSpPr txBox="1"/>
            <p:nvPr/>
          </p:nvSpPr>
          <p:spPr>
            <a:xfrm>
              <a:off x="772668" y="1688782"/>
              <a:ext cx="687374"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120</a:t>
              </a:r>
              <a:r>
                <a:rPr lang="zh-CN" sz="900" dirty="0">
                  <a:solidFill>
                    <a:srgbClr val="5F6F6A"/>
                  </a:solidFill>
                  <a:latin typeface="+mn-lt"/>
                  <a:ea typeface="+mn-ea"/>
                  <a:cs typeface="+mn-cs"/>
                </a:rPr>
                <a:t xml:space="preserve"> 户</a:t>
              </a:r>
              <a:r>
                <a:rPr lang="zh-CN" sz="1650" b="1" dirty="0">
                  <a:solidFill>
                    <a:srgbClr val="5B180B"/>
                  </a:solidFill>
                  <a:latin typeface="+mn-lt"/>
                  <a:ea typeface="+mn-ea"/>
                  <a:cs typeface="+mn-cs"/>
                </a:rPr>
                <a:t>​</a:t>
              </a:r>
            </a:p>
          </p:txBody>
        </p:sp>
        <p:sp>
          <p:nvSpPr>
            <p:cNvPr id="74" name="TextBox 74"/>
            <p:cNvSpPr txBox="1"/>
            <p:nvPr/>
          </p:nvSpPr>
          <p:spPr>
            <a:xfrm>
              <a:off x="1900238" y="1785938"/>
              <a:ext cx="620154" cy="147638"/>
            </a:xfrm>
            <a:prstGeom prst="rect">
              <a:avLst/>
            </a:prstGeom>
            <a:noFill/>
            <a:ln>
              <a:noFill/>
            </a:ln>
          </p:spPr>
          <p:txBody>
            <a:bodyPr wrap="none" lIns="0" tIns="0" rIns="0" bIns="0" anchor="t" anchorCtr="0">
              <a:spAutoFit/>
            </a:bodyPr>
            <a:lstStyle/>
            <a:p>
              <a:pPr algn="l"/>
              <a:r>
                <a:rPr lang="zh-CN" sz="750" b="1" dirty="0">
                  <a:solidFill>
                    <a:srgbClr val="9E402E"/>
                  </a:solidFill>
                  <a:latin typeface="+mn-lt"/>
                  <a:ea typeface="+mn-ea"/>
                  <a:cs typeface="+mn-cs"/>
                </a:rPr>
                <a:t>较Q3 +33%​</a:t>
              </a:r>
            </a:p>
          </p:txBody>
        </p:sp>
        <p:sp>
          <p:nvSpPr>
            <p:cNvPr id="75" name="Rectangle 75"/>
            <p:cNvSpPr/>
            <p:nvPr/>
          </p:nvSpPr>
          <p:spPr>
            <a:xfrm>
              <a:off x="2590800" y="1733550"/>
              <a:ext cx="66675" cy="114300"/>
            </a:xfrm>
            <a:prstGeom prst="rect">
              <a:avLst/>
            </a:prstGeom>
            <a:solidFill>
              <a:srgbClr val="BFDDD6"/>
            </a:solidFill>
            <a:ln>
              <a:noFill/>
            </a:ln>
          </p:spPr>
        </p:sp>
        <p:sp>
          <p:nvSpPr>
            <p:cNvPr id="76" name="Rectangle 76"/>
            <p:cNvSpPr/>
            <p:nvPr/>
          </p:nvSpPr>
          <p:spPr>
            <a:xfrm>
              <a:off x="2695575" y="1676400"/>
              <a:ext cx="66675" cy="171450"/>
            </a:xfrm>
            <a:prstGeom prst="rect">
              <a:avLst/>
            </a:prstGeom>
            <a:solidFill>
              <a:srgbClr val="B57A6F"/>
            </a:solidFill>
            <a:ln>
              <a:noFill/>
            </a:ln>
          </p:spPr>
        </p:sp>
        <p:sp>
          <p:nvSpPr>
            <p:cNvPr id="77" name="Rectangle 77"/>
            <p:cNvSpPr/>
            <p:nvPr/>
          </p:nvSpPr>
          <p:spPr>
            <a:xfrm>
              <a:off x="2800350" y="1619250"/>
              <a:ext cx="66675" cy="228600"/>
            </a:xfrm>
            <a:prstGeom prst="rect">
              <a:avLst/>
            </a:prstGeom>
            <a:solidFill>
              <a:srgbClr val="5B180B"/>
            </a:solidFill>
            <a:ln>
              <a:noFill/>
            </a:ln>
          </p:spPr>
        </p:sp>
        <p:sp>
          <p:nvSpPr>
            <p:cNvPr id="78" name="Rectangle 78"/>
            <p:cNvSpPr/>
            <p:nvPr/>
          </p:nvSpPr>
          <p:spPr>
            <a:xfrm>
              <a:off x="3190875" y="1390650"/>
              <a:ext cx="2838450" cy="609600"/>
            </a:xfrm>
            <a:prstGeom prst="roundRect">
              <a:avLst>
                <a:gd name="adj" fmla="val 12500"/>
              </a:avLst>
            </a:prstGeom>
            <a:solidFill>
              <a:srgbClr val="F5FAF8"/>
            </a:solidFill>
            <a:ln w="9525">
              <a:solidFill>
                <a:srgbClr val="D9E8E2"/>
              </a:solidFill>
            </a:ln>
          </p:spPr>
        </p:sp>
        <p:sp>
          <p:nvSpPr>
            <p:cNvPr id="79" name="Ellipse 79"/>
            <p:cNvSpPr/>
            <p:nvPr/>
          </p:nvSpPr>
          <p:spPr>
            <a:xfrm>
              <a:off x="3305175" y="1524000"/>
              <a:ext cx="342900" cy="342900"/>
            </a:xfrm>
            <a:prstGeom prst="ellipse">
              <a:avLst/>
            </a:prstGeom>
            <a:solidFill>
              <a:srgbClr val="5B180B"/>
            </a:solidFill>
            <a:ln>
              <a:noFill/>
            </a:ln>
          </p:spPr>
        </p:sp>
        <p:grpSp>
          <p:nvGrpSpPr>
            <p:cNvPr id="83" name="Group 83"/>
            <p:cNvGrpSpPr/>
            <p:nvPr/>
          </p:nvGrpSpPr>
          <p:grpSpPr>
            <a:xfrm>
              <a:off x="3394075" y="1602581"/>
              <a:ext cx="165099" cy="185737"/>
              <a:chOff x="3394075" y="1602581"/>
              <a:chExt cx="165099" cy="185737"/>
            </a:xfrm>
          </p:grpSpPr>
          <p:sp>
            <p:nvSpPr>
              <p:cNvPr id="80" name="Freeform 80"/>
              <p:cNvSpPr/>
              <p:nvPr/>
            </p:nvSpPr>
            <p:spPr>
              <a:xfrm>
                <a:off x="3394075" y="1602581"/>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FFFFFF"/>
                </a:solidFill>
              </a:ln>
            </p:spPr>
          </p:sp>
          <p:sp>
            <p:nvSpPr>
              <p:cNvPr id="81" name="Freeform 81"/>
              <p:cNvSpPr/>
              <p:nvPr/>
            </p:nvSpPr>
            <p:spPr>
              <a:xfrm>
                <a:off x="3394075" y="1633537"/>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sp>
            <p:nvSpPr>
              <p:cNvPr id="82" name="Freeform 82"/>
              <p:cNvSpPr/>
              <p:nvPr/>
            </p:nvSpPr>
            <p:spPr>
              <a:xfrm>
                <a:off x="3394075" y="1695450"/>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grpSp>
        <p:sp>
          <p:nvSpPr>
            <p:cNvPr id="84" name="TextBox 84"/>
            <p:cNvSpPr txBox="1"/>
            <p:nvPr/>
          </p:nvSpPr>
          <p:spPr>
            <a:xfrm>
              <a:off x="3738562" y="1511141"/>
              <a:ext cx="732569"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月均结算沉淀​</a:t>
              </a:r>
            </a:p>
          </p:txBody>
        </p:sp>
        <p:sp>
          <p:nvSpPr>
            <p:cNvPr id="85" name="TextBox 85"/>
            <p:cNvSpPr txBox="1"/>
            <p:nvPr/>
          </p:nvSpPr>
          <p:spPr>
            <a:xfrm>
              <a:off x="3734943" y="1688782"/>
              <a:ext cx="1065084"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2,600</a:t>
              </a:r>
              <a:r>
                <a:rPr lang="zh-CN" sz="900" dirty="0">
                  <a:solidFill>
                    <a:srgbClr val="5F6F6A"/>
                  </a:solidFill>
                  <a:latin typeface="+mn-lt"/>
                  <a:ea typeface="+mn-ea"/>
                  <a:cs typeface="+mn-cs"/>
                </a:rPr>
                <a:t xml:space="preserve"> 万元</a:t>
              </a:r>
              <a:r>
                <a:rPr lang="zh-CN" sz="1650" b="1" dirty="0">
                  <a:solidFill>
                    <a:srgbClr val="5B180B"/>
                  </a:solidFill>
                  <a:latin typeface="+mn-lt"/>
                  <a:ea typeface="+mn-ea"/>
                  <a:cs typeface="+mn-cs"/>
                </a:rPr>
                <a:t>​</a:t>
              </a:r>
            </a:p>
          </p:txBody>
        </p:sp>
        <p:sp>
          <p:nvSpPr>
            <p:cNvPr id="86" name="TextBox 86"/>
            <p:cNvSpPr txBox="1"/>
            <p:nvPr/>
          </p:nvSpPr>
          <p:spPr>
            <a:xfrm>
              <a:off x="4967288" y="1785938"/>
              <a:ext cx="620154" cy="147638"/>
            </a:xfrm>
            <a:prstGeom prst="rect">
              <a:avLst/>
            </a:prstGeom>
            <a:noFill/>
            <a:ln>
              <a:noFill/>
            </a:ln>
          </p:spPr>
          <p:txBody>
            <a:bodyPr wrap="none" lIns="0" tIns="0" rIns="0" bIns="0" anchor="t" anchorCtr="0">
              <a:spAutoFit/>
            </a:bodyPr>
            <a:lstStyle/>
            <a:p>
              <a:pPr algn="l"/>
              <a:r>
                <a:rPr lang="zh-CN" sz="750" b="1" dirty="0">
                  <a:solidFill>
                    <a:srgbClr val="9E402E"/>
                  </a:solidFill>
                  <a:latin typeface="+mn-lt"/>
                  <a:ea typeface="+mn-ea"/>
                  <a:cs typeface="+mn-cs"/>
                </a:rPr>
                <a:t>较Q3 +30%​</a:t>
              </a:r>
            </a:p>
          </p:txBody>
        </p:sp>
        <p:sp>
          <p:nvSpPr>
            <p:cNvPr id="87" name="Rectangle 87"/>
            <p:cNvSpPr/>
            <p:nvPr/>
          </p:nvSpPr>
          <p:spPr>
            <a:xfrm>
              <a:off x="5553075" y="1733550"/>
              <a:ext cx="66675" cy="114300"/>
            </a:xfrm>
            <a:prstGeom prst="rect">
              <a:avLst/>
            </a:prstGeom>
            <a:solidFill>
              <a:srgbClr val="BFDDD6"/>
            </a:solidFill>
            <a:ln>
              <a:noFill/>
            </a:ln>
          </p:spPr>
        </p:sp>
        <p:sp>
          <p:nvSpPr>
            <p:cNvPr id="88" name="Rectangle 88"/>
            <p:cNvSpPr/>
            <p:nvPr/>
          </p:nvSpPr>
          <p:spPr>
            <a:xfrm>
              <a:off x="5657850" y="1676400"/>
              <a:ext cx="66675" cy="171450"/>
            </a:xfrm>
            <a:prstGeom prst="rect">
              <a:avLst/>
            </a:prstGeom>
            <a:solidFill>
              <a:srgbClr val="B57A6F"/>
            </a:solidFill>
            <a:ln>
              <a:noFill/>
            </a:ln>
          </p:spPr>
        </p:sp>
        <p:sp>
          <p:nvSpPr>
            <p:cNvPr id="89" name="Rectangle 89"/>
            <p:cNvSpPr/>
            <p:nvPr/>
          </p:nvSpPr>
          <p:spPr>
            <a:xfrm>
              <a:off x="5762625" y="1619250"/>
              <a:ext cx="66675" cy="228600"/>
            </a:xfrm>
            <a:prstGeom prst="rect">
              <a:avLst/>
            </a:prstGeom>
            <a:solidFill>
              <a:srgbClr val="5B180B"/>
            </a:solidFill>
            <a:ln>
              <a:noFill/>
            </a:ln>
          </p:spPr>
        </p:sp>
        <p:sp>
          <p:nvSpPr>
            <p:cNvPr id="90" name="Rectangle 90"/>
            <p:cNvSpPr/>
            <p:nvPr/>
          </p:nvSpPr>
          <p:spPr>
            <a:xfrm>
              <a:off x="6153150" y="1390650"/>
              <a:ext cx="2838450" cy="609600"/>
            </a:xfrm>
            <a:prstGeom prst="roundRect">
              <a:avLst>
                <a:gd name="adj" fmla="val 12500"/>
              </a:avLst>
            </a:prstGeom>
            <a:solidFill>
              <a:srgbClr val="F5FAF8"/>
            </a:solidFill>
            <a:ln w="9525">
              <a:solidFill>
                <a:srgbClr val="D9E8E2"/>
              </a:solidFill>
            </a:ln>
          </p:spPr>
        </p:sp>
        <p:sp>
          <p:nvSpPr>
            <p:cNvPr id="91" name="Ellipse 91"/>
            <p:cNvSpPr/>
            <p:nvPr/>
          </p:nvSpPr>
          <p:spPr>
            <a:xfrm>
              <a:off x="6267450" y="1524000"/>
              <a:ext cx="342900" cy="342900"/>
            </a:xfrm>
            <a:prstGeom prst="ellipse">
              <a:avLst/>
            </a:prstGeom>
            <a:solidFill>
              <a:srgbClr val="5B180B"/>
            </a:solidFill>
            <a:ln>
              <a:noFill/>
            </a:ln>
          </p:spPr>
        </p:sp>
        <p:grpSp>
          <p:nvGrpSpPr>
            <p:cNvPr id="95" name="Group 95"/>
            <p:cNvGrpSpPr/>
            <p:nvPr/>
          </p:nvGrpSpPr>
          <p:grpSpPr>
            <a:xfrm>
              <a:off x="6346031" y="1623219"/>
              <a:ext cx="185737" cy="144461"/>
              <a:chOff x="6346031" y="1623219"/>
              <a:chExt cx="185737" cy="144461"/>
            </a:xfrm>
          </p:grpSpPr>
          <p:sp>
            <p:nvSpPr>
              <p:cNvPr id="92" name="Freeform 92"/>
              <p:cNvSpPr/>
              <p:nvPr/>
            </p:nvSpPr>
            <p:spPr>
              <a:xfrm>
                <a:off x="6346031" y="1623219"/>
                <a:ext cx="144462" cy="103187"/>
              </a:xfrm>
              <a:custGeom>
                <a:avLst/>
                <a:gdLst/>
                <a:ahLst/>
                <a:cxnLst/>
                <a:rect l="l" t="t" r="r" b="b"/>
                <a:pathLst>
                  <a:path w="144462" h="103187">
                    <a:moveTo>
                      <a:pt x="41275" y="103187"/>
                    </a:moveTo>
                    <a:lnTo>
                      <a:pt x="10319" y="103187"/>
                    </a:lnTo>
                    <a:cubicBezTo>
                      <a:pt x="4620" y="103187"/>
                      <a:pt x="0" y="98567"/>
                      <a:pt x="0" y="92868"/>
                    </a:cubicBezTo>
                    <a:lnTo>
                      <a:pt x="0" y="10319"/>
                    </a:lnTo>
                    <a:cubicBezTo>
                      <a:pt x="0" y="4620"/>
                      <a:pt x="4620" y="0"/>
                      <a:pt x="10319" y="0"/>
                    </a:cubicBezTo>
                    <a:lnTo>
                      <a:pt x="134143" y="0"/>
                    </a:lnTo>
                    <a:cubicBezTo>
                      <a:pt x="139842" y="0"/>
                      <a:pt x="144462" y="4620"/>
                      <a:pt x="144462" y="10319"/>
                    </a:cubicBezTo>
                    <a:lnTo>
                      <a:pt x="144462" y="41275"/>
                    </a:lnTo>
                  </a:path>
                </a:pathLst>
              </a:custGeom>
              <a:noFill/>
              <a:ln w="20637">
                <a:solidFill>
                  <a:srgbClr val="FFFFFF"/>
                </a:solidFill>
              </a:ln>
            </p:spPr>
          </p:sp>
          <p:sp>
            <p:nvSpPr>
              <p:cNvPr id="93" name="Freeform 93"/>
              <p:cNvSpPr/>
              <p:nvPr/>
            </p:nvSpPr>
            <p:spPr>
              <a:xfrm>
                <a:off x="6387306" y="1664493"/>
                <a:ext cx="144462" cy="103187"/>
              </a:xfrm>
              <a:custGeom>
                <a:avLst/>
                <a:gdLst/>
                <a:ahLst/>
                <a:cxnLst/>
                <a:rect l="l" t="t" r="r" b="b"/>
                <a:pathLst>
                  <a:path w="144462" h="103187">
                    <a:moveTo>
                      <a:pt x="0" y="10319"/>
                    </a:moveTo>
                    <a:cubicBezTo>
                      <a:pt x="0" y="4620"/>
                      <a:pt x="4620" y="0"/>
                      <a:pt x="10319" y="0"/>
                    </a:cubicBezTo>
                    <a:lnTo>
                      <a:pt x="134143" y="0"/>
                    </a:lnTo>
                    <a:cubicBezTo>
                      <a:pt x="139842" y="0"/>
                      <a:pt x="144462" y="4620"/>
                      <a:pt x="144462" y="10319"/>
                    </a:cubicBezTo>
                    <a:lnTo>
                      <a:pt x="144462" y="92868"/>
                    </a:lnTo>
                    <a:cubicBezTo>
                      <a:pt x="144462" y="98567"/>
                      <a:pt x="139842" y="103187"/>
                      <a:pt x="134143" y="103187"/>
                    </a:cubicBezTo>
                    <a:lnTo>
                      <a:pt x="10319" y="103187"/>
                    </a:lnTo>
                    <a:cubicBezTo>
                      <a:pt x="4620" y="103187"/>
                      <a:pt x="0" y="98567"/>
                      <a:pt x="0" y="92868"/>
                    </a:cubicBezTo>
                    <a:lnTo>
                      <a:pt x="0" y="10319"/>
                    </a:lnTo>
                  </a:path>
                </a:pathLst>
              </a:custGeom>
              <a:noFill/>
              <a:ln w="20637">
                <a:solidFill>
                  <a:srgbClr val="FFFFFF"/>
                </a:solidFill>
              </a:ln>
            </p:spPr>
          </p:sp>
          <p:sp>
            <p:nvSpPr>
              <p:cNvPr id="94" name="Freeform 94"/>
              <p:cNvSpPr/>
              <p:nvPr/>
            </p:nvSpPr>
            <p:spPr>
              <a:xfrm>
                <a:off x="6438900" y="1695450"/>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grpSp>
        <p:sp>
          <p:nvSpPr>
            <p:cNvPr id="96" name="TextBox 96"/>
            <p:cNvSpPr txBox="1"/>
            <p:nvPr/>
          </p:nvSpPr>
          <p:spPr>
            <a:xfrm>
              <a:off x="6700838" y="1511141"/>
              <a:ext cx="622181"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商户贷投放​</a:t>
              </a:r>
            </a:p>
          </p:txBody>
        </p:sp>
        <p:sp>
          <p:nvSpPr>
            <p:cNvPr id="97" name="TextBox 97"/>
            <p:cNvSpPr txBox="1"/>
            <p:nvPr/>
          </p:nvSpPr>
          <p:spPr>
            <a:xfrm>
              <a:off x="6697218" y="1688782"/>
              <a:ext cx="1065084"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1,200</a:t>
              </a:r>
              <a:r>
                <a:rPr lang="zh-CN" sz="900" dirty="0">
                  <a:solidFill>
                    <a:srgbClr val="5F6F6A"/>
                  </a:solidFill>
                  <a:latin typeface="+mn-lt"/>
                  <a:ea typeface="+mn-ea"/>
                  <a:cs typeface="+mn-cs"/>
                </a:rPr>
                <a:t xml:space="preserve"> 万元</a:t>
              </a:r>
              <a:r>
                <a:rPr lang="zh-CN" sz="1650" b="1" dirty="0">
                  <a:solidFill>
                    <a:srgbClr val="5B180B"/>
                  </a:solidFill>
                  <a:latin typeface="+mn-lt"/>
                  <a:ea typeface="+mn-ea"/>
                  <a:cs typeface="+mn-cs"/>
                </a:rPr>
                <a:t>​</a:t>
              </a:r>
            </a:p>
          </p:txBody>
        </p:sp>
        <p:sp>
          <p:nvSpPr>
            <p:cNvPr id="98" name="TextBox 98"/>
            <p:cNvSpPr txBox="1"/>
            <p:nvPr/>
          </p:nvSpPr>
          <p:spPr>
            <a:xfrm>
              <a:off x="7929562" y="1785938"/>
              <a:ext cx="620154" cy="147638"/>
            </a:xfrm>
            <a:prstGeom prst="rect">
              <a:avLst/>
            </a:prstGeom>
            <a:noFill/>
            <a:ln>
              <a:noFill/>
            </a:ln>
          </p:spPr>
          <p:txBody>
            <a:bodyPr wrap="none" lIns="0" tIns="0" rIns="0" bIns="0" anchor="t" anchorCtr="0">
              <a:spAutoFit/>
            </a:bodyPr>
            <a:lstStyle/>
            <a:p>
              <a:pPr algn="l"/>
              <a:r>
                <a:rPr lang="zh-CN" sz="750" b="1" dirty="0">
                  <a:solidFill>
                    <a:srgbClr val="9E402E"/>
                  </a:solidFill>
                  <a:latin typeface="+mn-lt"/>
                  <a:ea typeface="+mn-ea"/>
                  <a:cs typeface="+mn-cs"/>
                </a:rPr>
                <a:t>较Q3 +50%​</a:t>
              </a:r>
            </a:p>
          </p:txBody>
        </p:sp>
        <p:sp>
          <p:nvSpPr>
            <p:cNvPr id="99" name="Rectangle 99"/>
            <p:cNvSpPr/>
            <p:nvPr/>
          </p:nvSpPr>
          <p:spPr>
            <a:xfrm>
              <a:off x="8515350" y="1733550"/>
              <a:ext cx="66675" cy="114300"/>
            </a:xfrm>
            <a:prstGeom prst="rect">
              <a:avLst/>
            </a:prstGeom>
            <a:solidFill>
              <a:srgbClr val="BFDDD6"/>
            </a:solidFill>
            <a:ln>
              <a:noFill/>
            </a:ln>
          </p:spPr>
        </p:sp>
        <p:sp>
          <p:nvSpPr>
            <p:cNvPr id="100" name="Rectangle 100"/>
            <p:cNvSpPr/>
            <p:nvPr/>
          </p:nvSpPr>
          <p:spPr>
            <a:xfrm>
              <a:off x="8620125" y="1676400"/>
              <a:ext cx="66675" cy="171450"/>
            </a:xfrm>
            <a:prstGeom prst="rect">
              <a:avLst/>
            </a:prstGeom>
            <a:solidFill>
              <a:srgbClr val="B57A6F"/>
            </a:solidFill>
            <a:ln>
              <a:noFill/>
            </a:ln>
          </p:spPr>
        </p:sp>
        <p:sp>
          <p:nvSpPr>
            <p:cNvPr id="101" name="Rectangle 101"/>
            <p:cNvSpPr/>
            <p:nvPr/>
          </p:nvSpPr>
          <p:spPr>
            <a:xfrm>
              <a:off x="8724900" y="1619250"/>
              <a:ext cx="66675" cy="228600"/>
            </a:xfrm>
            <a:prstGeom prst="rect">
              <a:avLst/>
            </a:prstGeom>
            <a:solidFill>
              <a:srgbClr val="5B180B"/>
            </a:solidFill>
            <a:ln>
              <a:noFill/>
            </a:ln>
          </p:spPr>
        </p:sp>
        <p:sp>
          <p:nvSpPr>
            <p:cNvPr id="102" name="Rectangle 102"/>
            <p:cNvSpPr/>
            <p:nvPr/>
          </p:nvSpPr>
          <p:spPr>
            <a:xfrm>
              <a:off x="9115425" y="1390650"/>
              <a:ext cx="2838450" cy="609600"/>
            </a:xfrm>
            <a:prstGeom prst="roundRect">
              <a:avLst>
                <a:gd name="adj" fmla="val 12500"/>
              </a:avLst>
            </a:prstGeom>
            <a:solidFill>
              <a:srgbClr val="F5FAF8"/>
            </a:solidFill>
            <a:ln w="9525">
              <a:solidFill>
                <a:srgbClr val="D9E8E2"/>
              </a:solidFill>
            </a:ln>
          </p:spPr>
        </p:sp>
        <p:sp>
          <p:nvSpPr>
            <p:cNvPr id="103" name="Ellipse 103"/>
            <p:cNvSpPr/>
            <p:nvPr/>
          </p:nvSpPr>
          <p:spPr>
            <a:xfrm>
              <a:off x="9229725" y="1524000"/>
              <a:ext cx="342900" cy="342900"/>
            </a:xfrm>
            <a:prstGeom prst="ellipse">
              <a:avLst/>
            </a:prstGeom>
            <a:solidFill>
              <a:srgbClr val="5B180B"/>
            </a:solidFill>
            <a:ln>
              <a:noFill/>
            </a:ln>
          </p:spPr>
        </p:sp>
        <p:grpSp>
          <p:nvGrpSpPr>
            <p:cNvPr id="110" name="Group 110"/>
            <p:cNvGrpSpPr/>
            <p:nvPr/>
          </p:nvGrpSpPr>
          <p:grpSpPr>
            <a:xfrm>
              <a:off x="9308306" y="1602581"/>
              <a:ext cx="185737" cy="185737"/>
              <a:chOff x="9308306" y="1602581"/>
              <a:chExt cx="185737" cy="185737"/>
            </a:xfrm>
          </p:grpSpPr>
          <p:sp>
            <p:nvSpPr>
              <p:cNvPr id="104" name="Freeform 104"/>
              <p:cNvSpPr/>
              <p:nvPr/>
            </p:nvSpPr>
            <p:spPr>
              <a:xfrm>
                <a:off x="9380537" y="16851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105" name="Freeform 105"/>
              <p:cNvSpPr/>
              <p:nvPr/>
            </p:nvSpPr>
            <p:spPr>
              <a:xfrm>
                <a:off x="9359900" y="1757362"/>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FFFFFF"/>
                </a:solidFill>
              </a:ln>
            </p:spPr>
          </p:sp>
          <p:sp>
            <p:nvSpPr>
              <p:cNvPr id="106" name="Freeform 106"/>
              <p:cNvSpPr/>
              <p:nvPr/>
            </p:nvSpPr>
            <p:spPr>
              <a:xfrm>
                <a:off x="9432131" y="160258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107" name="Freeform 107"/>
              <p:cNvSpPr/>
              <p:nvPr/>
            </p:nvSpPr>
            <p:spPr>
              <a:xfrm>
                <a:off x="9452768" y="1674812"/>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FFFFFF"/>
                </a:solidFill>
              </a:ln>
            </p:spPr>
          </p:sp>
          <p:sp>
            <p:nvSpPr>
              <p:cNvPr id="108" name="Freeform 108"/>
              <p:cNvSpPr/>
              <p:nvPr/>
            </p:nvSpPr>
            <p:spPr>
              <a:xfrm>
                <a:off x="9328944" y="160258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109" name="Freeform 109"/>
              <p:cNvSpPr/>
              <p:nvPr/>
            </p:nvSpPr>
            <p:spPr>
              <a:xfrm>
                <a:off x="9308306" y="1674812"/>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FFFFFF"/>
                </a:solidFill>
              </a:ln>
            </p:spPr>
          </p:sp>
        </p:grpSp>
        <p:sp>
          <p:nvSpPr>
            <p:cNvPr id="111" name="TextBox 111"/>
            <p:cNvSpPr txBox="1"/>
            <p:nvPr/>
          </p:nvSpPr>
          <p:spPr>
            <a:xfrm>
              <a:off x="9663112" y="1511141"/>
              <a:ext cx="511792"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联动客户​</a:t>
              </a:r>
            </a:p>
          </p:txBody>
        </p:sp>
        <p:sp>
          <p:nvSpPr>
            <p:cNvPr id="112" name="TextBox 112"/>
            <p:cNvSpPr txBox="1"/>
            <p:nvPr/>
          </p:nvSpPr>
          <p:spPr>
            <a:xfrm>
              <a:off x="9659493" y="1688782"/>
              <a:ext cx="687374"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360</a:t>
              </a:r>
              <a:r>
                <a:rPr lang="zh-CN" sz="900" dirty="0">
                  <a:solidFill>
                    <a:srgbClr val="5F6F6A"/>
                  </a:solidFill>
                  <a:latin typeface="+mn-lt"/>
                  <a:ea typeface="+mn-ea"/>
                  <a:cs typeface="+mn-cs"/>
                </a:rPr>
                <a:t xml:space="preserve"> 户</a:t>
              </a:r>
              <a:r>
                <a:rPr lang="zh-CN" sz="1650" b="1" dirty="0">
                  <a:solidFill>
                    <a:srgbClr val="5B180B"/>
                  </a:solidFill>
                  <a:latin typeface="+mn-lt"/>
                  <a:ea typeface="+mn-ea"/>
                  <a:cs typeface="+mn-cs"/>
                </a:rPr>
                <a:t>​</a:t>
              </a:r>
            </a:p>
          </p:txBody>
        </p:sp>
        <p:sp>
          <p:nvSpPr>
            <p:cNvPr id="113" name="TextBox 113"/>
            <p:cNvSpPr txBox="1"/>
            <p:nvPr/>
          </p:nvSpPr>
          <p:spPr>
            <a:xfrm>
              <a:off x="10787062" y="1785938"/>
              <a:ext cx="620154" cy="147638"/>
            </a:xfrm>
            <a:prstGeom prst="rect">
              <a:avLst/>
            </a:prstGeom>
            <a:noFill/>
            <a:ln>
              <a:noFill/>
            </a:ln>
          </p:spPr>
          <p:txBody>
            <a:bodyPr wrap="none" lIns="0" tIns="0" rIns="0" bIns="0" anchor="t" anchorCtr="0">
              <a:spAutoFit/>
            </a:bodyPr>
            <a:lstStyle/>
            <a:p>
              <a:pPr algn="l"/>
              <a:r>
                <a:rPr lang="zh-CN" sz="750" b="1" dirty="0">
                  <a:solidFill>
                    <a:srgbClr val="9E402E"/>
                  </a:solidFill>
                  <a:latin typeface="+mn-lt"/>
                  <a:ea typeface="+mn-ea"/>
                  <a:cs typeface="+mn-cs"/>
                </a:rPr>
                <a:t>较Q3 +38%​</a:t>
              </a:r>
            </a:p>
          </p:txBody>
        </p:sp>
        <p:sp>
          <p:nvSpPr>
            <p:cNvPr id="114" name="Rectangle 114"/>
            <p:cNvSpPr/>
            <p:nvPr/>
          </p:nvSpPr>
          <p:spPr>
            <a:xfrm>
              <a:off x="11477625" y="1733550"/>
              <a:ext cx="66675" cy="114300"/>
            </a:xfrm>
            <a:prstGeom prst="rect">
              <a:avLst/>
            </a:prstGeom>
            <a:solidFill>
              <a:srgbClr val="BFDDD6"/>
            </a:solidFill>
            <a:ln>
              <a:noFill/>
            </a:ln>
          </p:spPr>
        </p:sp>
        <p:sp>
          <p:nvSpPr>
            <p:cNvPr id="115" name="Rectangle 115"/>
            <p:cNvSpPr/>
            <p:nvPr/>
          </p:nvSpPr>
          <p:spPr>
            <a:xfrm>
              <a:off x="11582400" y="1676400"/>
              <a:ext cx="66675" cy="171450"/>
            </a:xfrm>
            <a:prstGeom prst="rect">
              <a:avLst/>
            </a:prstGeom>
            <a:solidFill>
              <a:srgbClr val="B57A6F"/>
            </a:solidFill>
            <a:ln>
              <a:noFill/>
            </a:ln>
          </p:spPr>
        </p:sp>
        <p:sp>
          <p:nvSpPr>
            <p:cNvPr id="116" name="Rectangle 116"/>
            <p:cNvSpPr/>
            <p:nvPr/>
          </p:nvSpPr>
          <p:spPr>
            <a:xfrm>
              <a:off x="11687175" y="1619250"/>
              <a:ext cx="66675" cy="228600"/>
            </a:xfrm>
            <a:prstGeom prst="rect">
              <a:avLst/>
            </a:prstGeom>
            <a:solidFill>
              <a:srgbClr val="5B180B"/>
            </a:solidFill>
            <a:ln>
              <a:noFill/>
            </a:ln>
          </p:spPr>
        </p:sp>
      </p:grpSp>
      <p:grpSp>
        <p:nvGrpSpPr>
          <p:cNvPr id="206" name="tier-card"/>
          <p:cNvGrpSpPr/>
          <p:nvPr/>
        </p:nvGrpSpPr>
        <p:grpSpPr>
          <a:xfrm>
            <a:off x="228600" y="2095500"/>
            <a:ext cx="6438900" cy="2019300"/>
            <a:chOff x="228600" y="2095500"/>
            <a:chExt cx="6438900" cy="2019300"/>
          </a:xfrm>
        </p:grpSpPr>
        <p:sp>
          <p:nvSpPr>
            <p:cNvPr id="118" name="Rectangle 118"/>
            <p:cNvSpPr/>
            <p:nvPr/>
          </p:nvSpPr>
          <p:spPr>
            <a:xfrm>
              <a:off x="228600" y="2095500"/>
              <a:ext cx="6438900" cy="2019300"/>
            </a:xfrm>
            <a:prstGeom prst="roundRect">
              <a:avLst>
                <a:gd name="adj" fmla="val 4717"/>
              </a:avLst>
            </a:prstGeom>
            <a:solidFill>
              <a:srgbClr val="F5FAF8"/>
            </a:solidFill>
            <a:ln w="9525">
              <a:solidFill>
                <a:srgbClr val="D9E8E2"/>
              </a:solidFill>
            </a:ln>
          </p:spPr>
        </p:sp>
        <p:sp>
          <p:nvSpPr>
            <p:cNvPr id="119" name="Rectangle 119"/>
            <p:cNvSpPr/>
            <p:nvPr/>
          </p:nvSpPr>
          <p:spPr>
            <a:xfrm>
              <a:off x="342900" y="2190750"/>
              <a:ext cx="47625" cy="152400"/>
            </a:xfrm>
            <a:prstGeom prst="rect">
              <a:avLst/>
            </a:prstGeom>
            <a:solidFill>
              <a:srgbClr val="5B180B"/>
            </a:solidFill>
            <a:ln>
              <a:noFill/>
            </a:ln>
          </p:spPr>
        </p:sp>
        <p:sp>
          <p:nvSpPr>
            <p:cNvPr id="120" name="TextBox 120"/>
            <p:cNvSpPr txBox="1"/>
            <p:nvPr/>
          </p:nvSpPr>
          <p:spPr>
            <a:xfrm>
              <a:off x="452438" y="2213372"/>
              <a:ext cx="1727660"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商户分层经营与综合服务方案​</a:t>
              </a:r>
            </a:p>
          </p:txBody>
        </p:sp>
        <p:grpSp>
          <p:nvGrpSpPr>
            <p:cNvPr id="139" name="tier-1"/>
            <p:cNvGrpSpPr/>
            <p:nvPr/>
          </p:nvGrpSpPr>
          <p:grpSpPr>
            <a:xfrm>
              <a:off x="342900" y="2419350"/>
              <a:ext cx="1524000" cy="1476613"/>
              <a:chOff x="342900" y="2419350"/>
              <a:chExt cx="1524000" cy="1476613"/>
            </a:xfrm>
          </p:grpSpPr>
          <p:sp>
            <p:nvSpPr>
              <p:cNvPr id="121" name="Rectangle 121"/>
              <p:cNvSpPr/>
              <p:nvPr/>
            </p:nvSpPr>
            <p:spPr>
              <a:xfrm>
                <a:off x="342900" y="2419350"/>
                <a:ext cx="1524000" cy="323850"/>
              </a:xfrm>
              <a:prstGeom prst="roundRect">
                <a:avLst>
                  <a:gd name="adj" fmla="val 14706"/>
                </a:avLst>
              </a:prstGeom>
              <a:solidFill>
                <a:srgbClr val="5B180B"/>
              </a:solidFill>
              <a:ln>
                <a:noFill/>
              </a:ln>
            </p:spPr>
          </p:sp>
          <p:grpSp>
            <p:nvGrpSpPr>
              <p:cNvPr id="125" name="Group 125"/>
              <p:cNvGrpSpPr/>
              <p:nvPr/>
            </p:nvGrpSpPr>
            <p:grpSpPr>
              <a:xfrm>
                <a:off x="442912" y="2509837"/>
                <a:ext cx="142875" cy="142875"/>
                <a:chOff x="442912" y="2509837"/>
                <a:chExt cx="142875" cy="142875"/>
              </a:xfrm>
            </p:grpSpPr>
            <p:sp>
              <p:nvSpPr>
                <p:cNvPr id="122" name="Freeform 122"/>
                <p:cNvSpPr/>
                <p:nvPr/>
              </p:nvSpPr>
              <p:spPr>
                <a:xfrm>
                  <a:off x="442912" y="2509837"/>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FFFFFF"/>
                  </a:solidFill>
                </a:ln>
              </p:spPr>
            </p:sp>
            <p:sp>
              <p:nvSpPr>
                <p:cNvPr id="123" name="Freeform 123"/>
                <p:cNvSpPr/>
                <p:nvPr/>
              </p:nvSpPr>
              <p:spPr>
                <a:xfrm>
                  <a:off x="458787" y="2581275"/>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FFFFFF"/>
                  </a:solidFill>
                </a:ln>
              </p:spPr>
            </p:sp>
            <p:sp>
              <p:nvSpPr>
                <p:cNvPr id="124" name="Freeform 124"/>
                <p:cNvSpPr/>
                <p:nvPr/>
              </p:nvSpPr>
              <p:spPr>
                <a:xfrm>
                  <a:off x="490537" y="2589212"/>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FFFFFF"/>
                  </a:solidFill>
                </a:ln>
              </p:spPr>
            </p:sp>
          </p:grpSp>
          <p:sp>
            <p:nvSpPr>
              <p:cNvPr id="126" name="TextBox 126"/>
              <p:cNvSpPr txBox="1"/>
              <p:nvPr/>
            </p:nvSpPr>
            <p:spPr>
              <a:xfrm>
                <a:off x="681038" y="2463641"/>
                <a:ext cx="294051"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餐饮​</a:t>
                </a:r>
              </a:p>
            </p:txBody>
          </p:sp>
          <p:sp>
            <p:nvSpPr>
              <p:cNvPr id="127" name="TextBox 127"/>
              <p:cNvSpPr txBox="1"/>
              <p:nvPr/>
            </p:nvSpPr>
            <p:spPr>
              <a:xfrm>
                <a:off x="681038" y="2625328"/>
                <a:ext cx="740781" cy="111919"/>
              </a:xfrm>
              <a:prstGeom prst="rect">
                <a:avLst/>
              </a:prstGeom>
              <a:noFill/>
              <a:ln>
                <a:noFill/>
              </a:ln>
            </p:spPr>
            <p:txBody>
              <a:bodyPr wrap="none" lIns="0" tIns="0" rIns="0" bIns="0" anchor="t" anchorCtr="0">
                <a:spAutoFit/>
              </a:bodyPr>
              <a:lstStyle/>
              <a:p>
                <a:pPr algn="l"/>
                <a:r>
                  <a:rPr lang="zh-CN" sz="560" dirty="0">
                    <a:solidFill>
                      <a:srgbClr val="BFDDD6"/>
                    </a:solidFill>
                    <a:latin typeface="+mn-lt"/>
                    <a:ea typeface="+mn-ea"/>
                    <a:cs typeface="+mn-cs"/>
                  </a:rPr>
                  <a:t>高频刚需 · 现金流好​</a:t>
                </a:r>
              </a:p>
            </p:txBody>
          </p:sp>
          <p:sp>
            <p:nvSpPr>
              <p:cNvPr id="128" name="TextBox 128"/>
              <p:cNvSpPr txBox="1"/>
              <p:nvPr/>
            </p:nvSpPr>
            <p:spPr>
              <a:xfrm>
                <a:off x="395288" y="282678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目标商户​</a:t>
                </a:r>
              </a:p>
            </p:txBody>
          </p:sp>
          <p:sp>
            <p:nvSpPr>
              <p:cNvPr id="129" name="TextBox 129"/>
              <p:cNvSpPr txBox="1"/>
              <p:nvPr/>
            </p:nvSpPr>
            <p:spPr>
              <a:xfrm>
                <a:off x="947738" y="2822734"/>
                <a:ext cx="288498"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40 户​</a:t>
                </a:r>
              </a:p>
            </p:txBody>
          </p:sp>
          <p:sp>
            <p:nvSpPr>
              <p:cNvPr id="130" name="TextBox 130"/>
              <p:cNvSpPr txBox="1"/>
              <p:nvPr/>
            </p:nvSpPr>
            <p:spPr>
              <a:xfrm>
                <a:off x="395288" y="2960132"/>
                <a:ext cx="31538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客单价​</a:t>
                </a:r>
              </a:p>
            </p:txBody>
          </p:sp>
          <p:sp>
            <p:nvSpPr>
              <p:cNvPr id="131" name="TextBox 131"/>
              <p:cNvSpPr txBox="1"/>
              <p:nvPr/>
            </p:nvSpPr>
            <p:spPr>
              <a:xfrm>
                <a:off x="947738" y="2956084"/>
                <a:ext cx="499959"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80-150 元​</a:t>
                </a:r>
              </a:p>
            </p:txBody>
          </p:sp>
          <p:sp>
            <p:nvSpPr>
              <p:cNvPr id="132" name="TextBox 132"/>
              <p:cNvSpPr txBox="1"/>
              <p:nvPr/>
            </p:nvSpPr>
            <p:spPr>
              <a:xfrm>
                <a:off x="395288" y="309348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月均交易​</a:t>
                </a:r>
              </a:p>
            </p:txBody>
          </p:sp>
          <p:sp>
            <p:nvSpPr>
              <p:cNvPr id="133" name="TextBox 133"/>
              <p:cNvSpPr txBox="1"/>
              <p:nvPr/>
            </p:nvSpPr>
            <p:spPr>
              <a:xfrm>
                <a:off x="947738" y="3089434"/>
                <a:ext cx="380040"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25 万元​</a:t>
                </a:r>
              </a:p>
            </p:txBody>
          </p:sp>
          <p:sp>
            <p:nvSpPr>
              <p:cNvPr id="134" name="TextBox 134"/>
              <p:cNvSpPr txBox="1"/>
              <p:nvPr/>
            </p:nvSpPr>
            <p:spPr>
              <a:xfrm>
                <a:off x="395288" y="3260884"/>
                <a:ext cx="428557"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重点方案​</a:t>
                </a:r>
              </a:p>
            </p:txBody>
          </p:sp>
          <p:sp>
            <p:nvSpPr>
              <p:cNvPr id="135" name="TextBox 135"/>
              <p:cNvSpPr txBox="1"/>
              <p:nvPr/>
            </p:nvSpPr>
            <p:spPr>
              <a:xfrm>
                <a:off x="395288" y="3398282"/>
                <a:ext cx="8697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智能收单+桌码点餐​</a:t>
                </a:r>
              </a:p>
            </p:txBody>
          </p:sp>
          <p:sp>
            <p:nvSpPr>
              <p:cNvPr id="136" name="TextBox 136"/>
              <p:cNvSpPr txBox="1"/>
              <p:nvPr/>
            </p:nvSpPr>
            <p:spPr>
              <a:xfrm>
                <a:off x="395288" y="3522107"/>
                <a:ext cx="847644"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T+1结算+经营报表​</a:t>
                </a:r>
              </a:p>
            </p:txBody>
          </p:sp>
          <p:sp>
            <p:nvSpPr>
              <p:cNvPr id="137" name="TextBox 137"/>
              <p:cNvSpPr txBox="1"/>
              <p:nvPr/>
            </p:nvSpPr>
            <p:spPr>
              <a:xfrm>
                <a:off x="395288" y="3645932"/>
                <a:ext cx="964524"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商户贷（最高100万）​</a:t>
                </a:r>
              </a:p>
            </p:txBody>
          </p:sp>
          <p:sp>
            <p:nvSpPr>
              <p:cNvPr id="138" name="TextBox 138"/>
              <p:cNvSpPr txBox="1"/>
              <p:nvPr/>
            </p:nvSpPr>
            <p:spPr>
              <a:xfrm>
                <a:off x="395288" y="3769757"/>
                <a:ext cx="90852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经营者财富管理服务​</a:t>
                </a:r>
              </a:p>
            </p:txBody>
          </p:sp>
        </p:grpSp>
        <p:grpSp>
          <p:nvGrpSpPr>
            <p:cNvPr id="159" name="tier-2"/>
            <p:cNvGrpSpPr/>
            <p:nvPr/>
          </p:nvGrpSpPr>
          <p:grpSpPr>
            <a:xfrm>
              <a:off x="1943100" y="2419350"/>
              <a:ext cx="1524000" cy="1476613"/>
              <a:chOff x="1943100" y="2419350"/>
              <a:chExt cx="1524000" cy="1476613"/>
            </a:xfrm>
          </p:grpSpPr>
          <p:sp>
            <p:nvSpPr>
              <p:cNvPr id="140" name="Rectangle 140"/>
              <p:cNvSpPr/>
              <p:nvPr/>
            </p:nvSpPr>
            <p:spPr>
              <a:xfrm>
                <a:off x="1943100" y="2419350"/>
                <a:ext cx="1524000" cy="323850"/>
              </a:xfrm>
              <a:prstGeom prst="roundRect">
                <a:avLst>
                  <a:gd name="adj" fmla="val 14706"/>
                </a:avLst>
              </a:prstGeom>
              <a:solidFill>
                <a:srgbClr val="722617"/>
              </a:solidFill>
              <a:ln>
                <a:noFill/>
              </a:ln>
            </p:spPr>
          </p:sp>
          <p:grpSp>
            <p:nvGrpSpPr>
              <p:cNvPr id="145" name="Group 145"/>
              <p:cNvGrpSpPr/>
              <p:nvPr/>
            </p:nvGrpSpPr>
            <p:grpSpPr>
              <a:xfrm>
                <a:off x="2051050" y="2509837"/>
                <a:ext cx="127000" cy="142875"/>
                <a:chOff x="2051050" y="2509837"/>
                <a:chExt cx="127000" cy="142875"/>
              </a:xfrm>
            </p:grpSpPr>
            <p:sp>
              <p:nvSpPr>
                <p:cNvPr id="141" name="Freeform 141"/>
                <p:cNvSpPr/>
                <p:nvPr/>
              </p:nvSpPr>
              <p:spPr>
                <a:xfrm>
                  <a:off x="2051050" y="26209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42" name="Freeform 142"/>
                <p:cNvSpPr/>
                <p:nvPr/>
              </p:nvSpPr>
              <p:spPr>
                <a:xfrm>
                  <a:off x="2138362" y="26209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43" name="Freeform 143"/>
                <p:cNvSpPr/>
                <p:nvPr/>
              </p:nvSpPr>
              <p:spPr>
                <a:xfrm>
                  <a:off x="2051050" y="2509837"/>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FFFFFF"/>
                  </a:solidFill>
                </a:ln>
              </p:spPr>
            </p:sp>
            <p:sp>
              <p:nvSpPr>
                <p:cNvPr id="144" name="Freeform 144"/>
                <p:cNvSpPr/>
                <p:nvPr/>
              </p:nvSpPr>
              <p:spPr>
                <a:xfrm>
                  <a:off x="2066925" y="2525712"/>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FFFFFF"/>
                  </a:solidFill>
                </a:ln>
              </p:spPr>
            </p:sp>
          </p:grpSp>
          <p:sp>
            <p:nvSpPr>
              <p:cNvPr id="146" name="TextBox 146"/>
              <p:cNvSpPr txBox="1"/>
              <p:nvPr/>
            </p:nvSpPr>
            <p:spPr>
              <a:xfrm>
                <a:off x="2281238" y="2463641"/>
                <a:ext cx="294051"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零售​</a:t>
                </a:r>
              </a:p>
            </p:txBody>
          </p:sp>
          <p:sp>
            <p:nvSpPr>
              <p:cNvPr id="147" name="TextBox 147"/>
              <p:cNvSpPr txBox="1"/>
              <p:nvPr/>
            </p:nvSpPr>
            <p:spPr>
              <a:xfrm>
                <a:off x="2281238" y="2625328"/>
                <a:ext cx="740781" cy="111919"/>
              </a:xfrm>
              <a:prstGeom prst="rect">
                <a:avLst/>
              </a:prstGeom>
              <a:noFill/>
              <a:ln>
                <a:noFill/>
              </a:ln>
            </p:spPr>
            <p:txBody>
              <a:bodyPr wrap="none" lIns="0" tIns="0" rIns="0" bIns="0" anchor="t" anchorCtr="0">
                <a:spAutoFit/>
              </a:bodyPr>
              <a:lstStyle/>
              <a:p>
                <a:pPr algn="l"/>
                <a:r>
                  <a:rPr lang="zh-CN" sz="560" dirty="0">
                    <a:solidFill>
                      <a:srgbClr val="BFDDD6"/>
                    </a:solidFill>
                    <a:latin typeface="+mn-lt"/>
                    <a:ea typeface="+mn-ea"/>
                    <a:cs typeface="+mn-cs"/>
                  </a:rPr>
                  <a:t>客流稳定 · 场景多元​</a:t>
                </a:r>
              </a:p>
            </p:txBody>
          </p:sp>
          <p:sp>
            <p:nvSpPr>
              <p:cNvPr id="148" name="TextBox 148"/>
              <p:cNvSpPr txBox="1"/>
              <p:nvPr/>
            </p:nvSpPr>
            <p:spPr>
              <a:xfrm>
                <a:off x="1995488" y="282678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目标商户​</a:t>
                </a:r>
              </a:p>
            </p:txBody>
          </p:sp>
          <p:sp>
            <p:nvSpPr>
              <p:cNvPr id="149" name="TextBox 149"/>
              <p:cNvSpPr txBox="1"/>
              <p:nvPr/>
            </p:nvSpPr>
            <p:spPr>
              <a:xfrm>
                <a:off x="2547938" y="2822734"/>
                <a:ext cx="288498"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30 户​</a:t>
                </a:r>
              </a:p>
            </p:txBody>
          </p:sp>
          <p:sp>
            <p:nvSpPr>
              <p:cNvPr id="150" name="TextBox 150"/>
              <p:cNvSpPr txBox="1"/>
              <p:nvPr/>
            </p:nvSpPr>
            <p:spPr>
              <a:xfrm>
                <a:off x="1995488" y="2960132"/>
                <a:ext cx="31538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客单价​</a:t>
                </a:r>
              </a:p>
            </p:txBody>
          </p:sp>
          <p:sp>
            <p:nvSpPr>
              <p:cNvPr id="151" name="TextBox 151"/>
              <p:cNvSpPr txBox="1"/>
              <p:nvPr/>
            </p:nvSpPr>
            <p:spPr>
              <a:xfrm>
                <a:off x="2547938" y="2956084"/>
                <a:ext cx="499959"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50-200 元​</a:t>
                </a:r>
              </a:p>
            </p:txBody>
          </p:sp>
          <p:sp>
            <p:nvSpPr>
              <p:cNvPr id="152" name="TextBox 152"/>
              <p:cNvSpPr txBox="1"/>
              <p:nvPr/>
            </p:nvSpPr>
            <p:spPr>
              <a:xfrm>
                <a:off x="1995488" y="309348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月均交易​</a:t>
                </a:r>
              </a:p>
            </p:txBody>
          </p:sp>
          <p:sp>
            <p:nvSpPr>
              <p:cNvPr id="153" name="TextBox 153"/>
              <p:cNvSpPr txBox="1"/>
              <p:nvPr/>
            </p:nvSpPr>
            <p:spPr>
              <a:xfrm>
                <a:off x="2547938" y="3089434"/>
                <a:ext cx="380040"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20 万元​</a:t>
                </a:r>
              </a:p>
            </p:txBody>
          </p:sp>
          <p:sp>
            <p:nvSpPr>
              <p:cNvPr id="154" name="TextBox 154"/>
              <p:cNvSpPr txBox="1"/>
              <p:nvPr/>
            </p:nvSpPr>
            <p:spPr>
              <a:xfrm>
                <a:off x="1995488" y="3260884"/>
                <a:ext cx="428557"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重点方案​</a:t>
                </a:r>
              </a:p>
            </p:txBody>
          </p:sp>
          <p:sp>
            <p:nvSpPr>
              <p:cNvPr id="155" name="TextBox 155"/>
              <p:cNvSpPr txBox="1"/>
              <p:nvPr/>
            </p:nvSpPr>
            <p:spPr>
              <a:xfrm>
                <a:off x="1995488" y="3398282"/>
                <a:ext cx="8697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聚合支付+会员营销​</a:t>
                </a:r>
              </a:p>
            </p:txBody>
          </p:sp>
          <p:sp>
            <p:nvSpPr>
              <p:cNvPr id="156" name="TextBox 156"/>
              <p:cNvSpPr txBox="1"/>
              <p:nvPr/>
            </p:nvSpPr>
            <p:spPr>
              <a:xfrm>
                <a:off x="1995488" y="3522107"/>
                <a:ext cx="8697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日结/月结资金清分​</a:t>
                </a:r>
              </a:p>
            </p:txBody>
          </p:sp>
          <p:sp>
            <p:nvSpPr>
              <p:cNvPr id="157" name="TextBox 157"/>
              <p:cNvSpPr txBox="1"/>
              <p:nvPr/>
            </p:nvSpPr>
            <p:spPr>
              <a:xfrm>
                <a:off x="1995488" y="3645932"/>
                <a:ext cx="917138"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商户贷（最高80万）​</a:t>
                </a:r>
              </a:p>
            </p:txBody>
          </p:sp>
          <p:sp>
            <p:nvSpPr>
              <p:cNvPr id="158" name="TextBox 158"/>
              <p:cNvSpPr txBox="1"/>
              <p:nvPr/>
            </p:nvSpPr>
            <p:spPr>
              <a:xfrm>
                <a:off x="1995488" y="3769757"/>
                <a:ext cx="8697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员工代发+个人理财​</a:t>
                </a:r>
              </a:p>
            </p:txBody>
          </p:sp>
        </p:grpSp>
        <p:grpSp>
          <p:nvGrpSpPr>
            <p:cNvPr id="183" name="tier-3"/>
            <p:cNvGrpSpPr/>
            <p:nvPr/>
          </p:nvGrpSpPr>
          <p:grpSpPr>
            <a:xfrm>
              <a:off x="3543300" y="2419350"/>
              <a:ext cx="1524000" cy="1476613"/>
              <a:chOff x="3543300" y="2419350"/>
              <a:chExt cx="1524000" cy="1476613"/>
            </a:xfrm>
          </p:grpSpPr>
          <p:sp>
            <p:nvSpPr>
              <p:cNvPr id="160" name="Rectangle 160"/>
              <p:cNvSpPr/>
              <p:nvPr/>
            </p:nvSpPr>
            <p:spPr>
              <a:xfrm>
                <a:off x="3543300" y="2419350"/>
                <a:ext cx="1524000" cy="323850"/>
              </a:xfrm>
              <a:prstGeom prst="roundRect">
                <a:avLst>
                  <a:gd name="adj" fmla="val 14706"/>
                </a:avLst>
              </a:prstGeom>
              <a:solidFill>
                <a:srgbClr val="9A412F"/>
              </a:solidFill>
              <a:ln>
                <a:noFill/>
              </a:ln>
            </p:spPr>
          </p:sp>
          <p:grpSp>
            <p:nvGrpSpPr>
              <p:cNvPr id="169" name="Group 169"/>
              <p:cNvGrpSpPr/>
              <p:nvPr/>
            </p:nvGrpSpPr>
            <p:grpSpPr>
              <a:xfrm>
                <a:off x="3643312" y="2509837"/>
                <a:ext cx="144463" cy="152400"/>
                <a:chOff x="3643312" y="2509837"/>
                <a:chExt cx="144463" cy="152400"/>
              </a:xfrm>
            </p:grpSpPr>
            <p:sp>
              <p:nvSpPr>
                <p:cNvPr id="161" name="Freeform 161"/>
                <p:cNvSpPr/>
                <p:nvPr/>
              </p:nvSpPr>
              <p:spPr>
                <a:xfrm>
                  <a:off x="3643312" y="2652712"/>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62" name="Freeform 162"/>
                <p:cNvSpPr/>
                <p:nvPr/>
              </p:nvSpPr>
              <p:spPr>
                <a:xfrm>
                  <a:off x="3643312" y="2565400"/>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63" name="Freeform 163"/>
                <p:cNvSpPr/>
                <p:nvPr/>
              </p:nvSpPr>
              <p:spPr>
                <a:xfrm>
                  <a:off x="3659187" y="2509837"/>
                  <a:ext cx="111125" cy="23812"/>
                </a:xfrm>
                <a:custGeom>
                  <a:avLst/>
                  <a:gdLst/>
                  <a:ahLst/>
                  <a:cxnLst/>
                  <a:rect l="l" t="t" r="r" b="b"/>
                  <a:pathLst>
                    <a:path w="111125" h="23812">
                      <a:moveTo>
                        <a:pt x="0" y="23812"/>
                      </a:moveTo>
                      <a:lnTo>
                        <a:pt x="55562" y="0"/>
                      </a:lnTo>
                      <a:lnTo>
                        <a:pt x="111125" y="23812"/>
                      </a:lnTo>
                    </a:path>
                  </a:pathLst>
                </a:custGeom>
                <a:noFill/>
                <a:ln w="15875">
                  <a:solidFill>
                    <a:srgbClr val="FFFFFF"/>
                  </a:solidFill>
                </a:ln>
              </p:spPr>
            </p:sp>
            <p:sp>
              <p:nvSpPr>
                <p:cNvPr id="164" name="Freeform 164"/>
                <p:cNvSpPr/>
                <p:nvPr/>
              </p:nvSpPr>
              <p:spPr>
                <a:xfrm>
                  <a:off x="3651250" y="2565400"/>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165" name="Freeform 165"/>
                <p:cNvSpPr/>
                <p:nvPr/>
              </p:nvSpPr>
              <p:spPr>
                <a:xfrm>
                  <a:off x="3778250" y="2565400"/>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166" name="Freeform 166"/>
                <p:cNvSpPr/>
                <p:nvPr/>
              </p:nvSpPr>
              <p:spPr>
                <a:xfrm>
                  <a:off x="3683000" y="2597150"/>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167" name="Freeform 167"/>
                <p:cNvSpPr/>
                <p:nvPr/>
              </p:nvSpPr>
              <p:spPr>
                <a:xfrm>
                  <a:off x="3714750" y="2597150"/>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168" name="Freeform 168"/>
                <p:cNvSpPr/>
                <p:nvPr/>
              </p:nvSpPr>
              <p:spPr>
                <a:xfrm>
                  <a:off x="3746500" y="2597150"/>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170" name="TextBox 170"/>
              <p:cNvSpPr txBox="1"/>
              <p:nvPr/>
            </p:nvSpPr>
            <p:spPr>
              <a:xfrm>
                <a:off x="3881438" y="2463641"/>
                <a:ext cx="514828"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专业市场​</a:t>
                </a:r>
              </a:p>
            </p:txBody>
          </p:sp>
          <p:sp>
            <p:nvSpPr>
              <p:cNvPr id="171" name="TextBox 171"/>
              <p:cNvSpPr txBox="1"/>
              <p:nvPr/>
            </p:nvSpPr>
            <p:spPr>
              <a:xfrm>
                <a:off x="3881438" y="2625328"/>
                <a:ext cx="740781" cy="111919"/>
              </a:xfrm>
              <a:prstGeom prst="rect">
                <a:avLst/>
              </a:prstGeom>
              <a:noFill/>
              <a:ln>
                <a:noFill/>
              </a:ln>
            </p:spPr>
            <p:txBody>
              <a:bodyPr wrap="none" lIns="0" tIns="0" rIns="0" bIns="0" anchor="t" anchorCtr="0">
                <a:spAutoFit/>
              </a:bodyPr>
              <a:lstStyle/>
              <a:p>
                <a:pPr algn="l"/>
                <a:r>
                  <a:rPr lang="zh-CN" sz="560" dirty="0">
                    <a:solidFill>
                      <a:srgbClr val="DFF0EB"/>
                    </a:solidFill>
                    <a:latin typeface="+mn-lt"/>
                    <a:ea typeface="+mn-ea"/>
                    <a:cs typeface="+mn-cs"/>
                  </a:rPr>
                  <a:t>交易集中 · 上下游多​</a:t>
                </a:r>
              </a:p>
            </p:txBody>
          </p:sp>
          <p:sp>
            <p:nvSpPr>
              <p:cNvPr id="172" name="TextBox 172"/>
              <p:cNvSpPr txBox="1"/>
              <p:nvPr/>
            </p:nvSpPr>
            <p:spPr>
              <a:xfrm>
                <a:off x="3595688" y="282678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目标商户​</a:t>
                </a:r>
              </a:p>
            </p:txBody>
          </p:sp>
          <p:sp>
            <p:nvSpPr>
              <p:cNvPr id="173" name="TextBox 173"/>
              <p:cNvSpPr txBox="1"/>
              <p:nvPr/>
            </p:nvSpPr>
            <p:spPr>
              <a:xfrm>
                <a:off x="4148138" y="2822734"/>
                <a:ext cx="288498"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30 户​</a:t>
                </a:r>
              </a:p>
            </p:txBody>
          </p:sp>
          <p:sp>
            <p:nvSpPr>
              <p:cNvPr id="174" name="TextBox 174"/>
              <p:cNvSpPr txBox="1"/>
              <p:nvPr/>
            </p:nvSpPr>
            <p:spPr>
              <a:xfrm>
                <a:off x="3595688" y="2960132"/>
                <a:ext cx="31538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客单价​</a:t>
                </a:r>
              </a:p>
            </p:txBody>
          </p:sp>
          <p:sp>
            <p:nvSpPr>
              <p:cNvPr id="175" name="TextBox 175"/>
              <p:cNvSpPr txBox="1"/>
              <p:nvPr/>
            </p:nvSpPr>
            <p:spPr>
              <a:xfrm>
                <a:off x="4148138" y="2956084"/>
                <a:ext cx="658555"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500-5,000 元​</a:t>
                </a:r>
              </a:p>
            </p:txBody>
          </p:sp>
          <p:sp>
            <p:nvSpPr>
              <p:cNvPr id="176" name="TextBox 176"/>
              <p:cNvSpPr txBox="1"/>
              <p:nvPr/>
            </p:nvSpPr>
            <p:spPr>
              <a:xfrm>
                <a:off x="3595688" y="309348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月均交易​</a:t>
                </a:r>
              </a:p>
            </p:txBody>
          </p:sp>
          <p:sp>
            <p:nvSpPr>
              <p:cNvPr id="177" name="TextBox 177"/>
              <p:cNvSpPr txBox="1"/>
              <p:nvPr/>
            </p:nvSpPr>
            <p:spPr>
              <a:xfrm>
                <a:off x="4148138" y="3089434"/>
                <a:ext cx="432905"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100 万元​</a:t>
                </a:r>
              </a:p>
            </p:txBody>
          </p:sp>
          <p:sp>
            <p:nvSpPr>
              <p:cNvPr id="178" name="TextBox 178"/>
              <p:cNvSpPr txBox="1"/>
              <p:nvPr/>
            </p:nvSpPr>
            <p:spPr>
              <a:xfrm>
                <a:off x="3595688" y="3260884"/>
                <a:ext cx="428557"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重点方案​</a:t>
                </a:r>
              </a:p>
            </p:txBody>
          </p:sp>
          <p:sp>
            <p:nvSpPr>
              <p:cNvPr id="179" name="TextBox 179"/>
              <p:cNvSpPr txBox="1"/>
              <p:nvPr/>
            </p:nvSpPr>
            <p:spPr>
              <a:xfrm>
                <a:off x="3595688" y="3398282"/>
                <a:ext cx="8697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批量收单+对公结算​</a:t>
                </a:r>
              </a:p>
            </p:txBody>
          </p:sp>
          <p:sp>
            <p:nvSpPr>
              <p:cNvPr id="180" name="TextBox 180"/>
              <p:cNvSpPr txBox="1"/>
              <p:nvPr/>
            </p:nvSpPr>
            <p:spPr>
              <a:xfrm>
                <a:off x="3595688" y="3522107"/>
                <a:ext cx="112822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供应链融资（应收/存货）​</a:t>
                </a:r>
              </a:p>
            </p:txBody>
          </p:sp>
          <p:sp>
            <p:nvSpPr>
              <p:cNvPr id="181" name="TextBox 181"/>
              <p:cNvSpPr txBox="1"/>
              <p:nvPr/>
            </p:nvSpPr>
            <p:spPr>
              <a:xfrm>
                <a:off x="3595688" y="3645932"/>
                <a:ext cx="964524"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商户贷（最高300万）​</a:t>
                </a:r>
              </a:p>
            </p:txBody>
          </p:sp>
          <p:sp>
            <p:nvSpPr>
              <p:cNvPr id="182" name="TextBox 182"/>
              <p:cNvSpPr txBox="1"/>
              <p:nvPr/>
            </p:nvSpPr>
            <p:spPr>
              <a:xfrm>
                <a:off x="3595688" y="3769757"/>
                <a:ext cx="90852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上下游企业联动服务​</a:t>
                </a:r>
              </a:p>
            </p:txBody>
          </p:sp>
        </p:grpSp>
        <p:grpSp>
          <p:nvGrpSpPr>
            <p:cNvPr id="205" name="tier-4"/>
            <p:cNvGrpSpPr/>
            <p:nvPr/>
          </p:nvGrpSpPr>
          <p:grpSpPr>
            <a:xfrm>
              <a:off x="5143500" y="2419350"/>
              <a:ext cx="1428750" cy="1476613"/>
              <a:chOff x="5143500" y="2419350"/>
              <a:chExt cx="1428750" cy="1476613"/>
            </a:xfrm>
          </p:grpSpPr>
          <p:sp>
            <p:nvSpPr>
              <p:cNvPr id="184" name="Rectangle 184"/>
              <p:cNvSpPr/>
              <p:nvPr/>
            </p:nvSpPr>
            <p:spPr>
              <a:xfrm>
                <a:off x="5143500" y="2419350"/>
                <a:ext cx="1428750" cy="323850"/>
              </a:xfrm>
              <a:prstGeom prst="roundRect">
                <a:avLst>
                  <a:gd name="adj" fmla="val 14706"/>
                </a:avLst>
              </a:prstGeom>
              <a:solidFill>
                <a:srgbClr val="AE6C5F"/>
              </a:solidFill>
              <a:ln>
                <a:noFill/>
              </a:ln>
            </p:spPr>
          </p:sp>
          <p:grpSp>
            <p:nvGrpSpPr>
              <p:cNvPr id="191" name="Group 191"/>
              <p:cNvGrpSpPr/>
              <p:nvPr/>
            </p:nvGrpSpPr>
            <p:grpSpPr>
              <a:xfrm>
                <a:off x="5243512" y="2509837"/>
                <a:ext cx="142875" cy="142875"/>
                <a:chOff x="5243512" y="2509837"/>
                <a:chExt cx="142875" cy="142875"/>
              </a:xfrm>
            </p:grpSpPr>
            <p:sp>
              <p:nvSpPr>
                <p:cNvPr id="185" name="Freeform 185"/>
                <p:cNvSpPr/>
                <p:nvPr/>
              </p:nvSpPr>
              <p:spPr>
                <a:xfrm>
                  <a:off x="5299075" y="25733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86" name="Freeform 186"/>
                <p:cNvSpPr/>
                <p:nvPr/>
              </p:nvSpPr>
              <p:spPr>
                <a:xfrm>
                  <a:off x="5283200" y="2628900"/>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FFFFFF"/>
                  </a:solidFill>
                </a:ln>
              </p:spPr>
            </p:sp>
            <p:sp>
              <p:nvSpPr>
                <p:cNvPr id="187" name="Freeform 187"/>
                <p:cNvSpPr/>
                <p:nvPr/>
              </p:nvSpPr>
              <p:spPr>
                <a:xfrm>
                  <a:off x="5338762" y="25098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88" name="Freeform 188"/>
                <p:cNvSpPr/>
                <p:nvPr/>
              </p:nvSpPr>
              <p:spPr>
                <a:xfrm>
                  <a:off x="5354637" y="2565400"/>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FFFFFF"/>
                  </a:solidFill>
                </a:ln>
              </p:spPr>
            </p:sp>
            <p:sp>
              <p:nvSpPr>
                <p:cNvPr id="189" name="Freeform 189"/>
                <p:cNvSpPr/>
                <p:nvPr/>
              </p:nvSpPr>
              <p:spPr>
                <a:xfrm>
                  <a:off x="5259387" y="25098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90" name="Freeform 190"/>
                <p:cNvSpPr/>
                <p:nvPr/>
              </p:nvSpPr>
              <p:spPr>
                <a:xfrm>
                  <a:off x="5243512" y="2565400"/>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FFFFFF"/>
                  </a:solidFill>
                </a:ln>
              </p:spPr>
            </p:sp>
          </p:grpSp>
          <p:sp>
            <p:nvSpPr>
              <p:cNvPr id="192" name="TextBox 192"/>
              <p:cNvSpPr txBox="1"/>
              <p:nvPr/>
            </p:nvSpPr>
            <p:spPr>
              <a:xfrm>
                <a:off x="5481638" y="2463641"/>
                <a:ext cx="514828"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社区服务​</a:t>
                </a:r>
              </a:p>
            </p:txBody>
          </p:sp>
          <p:sp>
            <p:nvSpPr>
              <p:cNvPr id="193" name="TextBox 193"/>
              <p:cNvSpPr txBox="1"/>
              <p:nvPr/>
            </p:nvSpPr>
            <p:spPr>
              <a:xfrm>
                <a:off x="5481638" y="2625328"/>
                <a:ext cx="740781" cy="111919"/>
              </a:xfrm>
              <a:prstGeom prst="rect">
                <a:avLst/>
              </a:prstGeom>
              <a:noFill/>
              <a:ln>
                <a:noFill/>
              </a:ln>
            </p:spPr>
            <p:txBody>
              <a:bodyPr wrap="none" lIns="0" tIns="0" rIns="0" bIns="0" anchor="t" anchorCtr="0">
                <a:spAutoFit/>
              </a:bodyPr>
              <a:lstStyle/>
              <a:p>
                <a:pPr algn="l"/>
                <a:r>
                  <a:rPr lang="zh-CN" sz="560" dirty="0">
                    <a:solidFill>
                      <a:srgbClr val="EAF6F2"/>
                    </a:solidFill>
                    <a:latin typeface="+mn-lt"/>
                    <a:ea typeface="+mn-ea"/>
                    <a:cs typeface="+mn-cs"/>
                  </a:rPr>
                  <a:t>贴近居民 · 长期稳定​</a:t>
                </a:r>
              </a:p>
            </p:txBody>
          </p:sp>
          <p:sp>
            <p:nvSpPr>
              <p:cNvPr id="194" name="TextBox 194"/>
              <p:cNvSpPr txBox="1"/>
              <p:nvPr/>
            </p:nvSpPr>
            <p:spPr>
              <a:xfrm>
                <a:off x="5195888" y="282678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目标商户​</a:t>
                </a:r>
              </a:p>
            </p:txBody>
          </p:sp>
          <p:sp>
            <p:nvSpPr>
              <p:cNvPr id="195" name="TextBox 195"/>
              <p:cNvSpPr txBox="1"/>
              <p:nvPr/>
            </p:nvSpPr>
            <p:spPr>
              <a:xfrm>
                <a:off x="5748338" y="2822734"/>
                <a:ext cx="288498"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30 户​</a:t>
                </a:r>
              </a:p>
            </p:txBody>
          </p:sp>
          <p:sp>
            <p:nvSpPr>
              <p:cNvPr id="196" name="TextBox 196"/>
              <p:cNvSpPr txBox="1"/>
              <p:nvPr/>
            </p:nvSpPr>
            <p:spPr>
              <a:xfrm>
                <a:off x="5195888" y="2960132"/>
                <a:ext cx="315382"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客单价​</a:t>
                </a:r>
              </a:p>
            </p:txBody>
          </p:sp>
          <p:sp>
            <p:nvSpPr>
              <p:cNvPr id="197" name="TextBox 197"/>
              <p:cNvSpPr txBox="1"/>
              <p:nvPr/>
            </p:nvSpPr>
            <p:spPr>
              <a:xfrm>
                <a:off x="5748338" y="2956084"/>
                <a:ext cx="499959"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30-100 元​</a:t>
                </a:r>
              </a:p>
            </p:txBody>
          </p:sp>
          <p:sp>
            <p:nvSpPr>
              <p:cNvPr id="198" name="TextBox 198"/>
              <p:cNvSpPr txBox="1"/>
              <p:nvPr/>
            </p:nvSpPr>
            <p:spPr>
              <a:xfrm>
                <a:off x="5195888" y="3093482"/>
                <a:ext cx="401538"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月均交易​</a:t>
                </a:r>
              </a:p>
            </p:txBody>
          </p:sp>
          <p:sp>
            <p:nvSpPr>
              <p:cNvPr id="199" name="TextBox 199"/>
              <p:cNvSpPr txBox="1"/>
              <p:nvPr/>
            </p:nvSpPr>
            <p:spPr>
              <a:xfrm>
                <a:off x="5748338" y="3089434"/>
                <a:ext cx="380040"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10 万元​</a:t>
                </a:r>
              </a:p>
            </p:txBody>
          </p:sp>
          <p:sp>
            <p:nvSpPr>
              <p:cNvPr id="200" name="TextBox 200"/>
              <p:cNvSpPr txBox="1"/>
              <p:nvPr/>
            </p:nvSpPr>
            <p:spPr>
              <a:xfrm>
                <a:off x="5195888" y="3260884"/>
                <a:ext cx="428557" cy="133350"/>
              </a:xfrm>
              <a:prstGeom prst="rect">
                <a:avLst/>
              </a:prstGeom>
              <a:noFill/>
              <a:ln>
                <a:noFill/>
              </a:ln>
            </p:spPr>
            <p:txBody>
              <a:bodyPr wrap="none" lIns="0" tIns="0" rIns="0" bIns="0" anchor="t" anchorCtr="0">
                <a:spAutoFit/>
              </a:bodyPr>
              <a:lstStyle/>
              <a:p>
                <a:pPr algn="l"/>
                <a:r>
                  <a:rPr lang="zh-CN" sz="680" b="1" dirty="0">
                    <a:solidFill>
                      <a:srgbClr val="5B180B"/>
                    </a:solidFill>
                    <a:latin typeface="+mn-lt"/>
                    <a:ea typeface="+mn-ea"/>
                    <a:cs typeface="+mn-cs"/>
                  </a:rPr>
                  <a:t>重点方案​</a:t>
                </a:r>
              </a:p>
            </p:txBody>
          </p:sp>
          <p:sp>
            <p:nvSpPr>
              <p:cNvPr id="201" name="TextBox 201"/>
              <p:cNvSpPr txBox="1"/>
              <p:nvPr/>
            </p:nvSpPr>
            <p:spPr>
              <a:xfrm>
                <a:off x="5195888" y="3398282"/>
                <a:ext cx="8697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扫码收单+社区活动​</a:t>
                </a:r>
              </a:p>
            </p:txBody>
          </p:sp>
          <p:sp>
            <p:nvSpPr>
              <p:cNvPr id="202" name="TextBox 202"/>
              <p:cNvSpPr txBox="1"/>
              <p:nvPr/>
            </p:nvSpPr>
            <p:spPr>
              <a:xfrm>
                <a:off x="5195888" y="3522107"/>
                <a:ext cx="9559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储值资金池+资金增值​</a:t>
                </a:r>
              </a:p>
            </p:txBody>
          </p:sp>
          <p:sp>
            <p:nvSpPr>
              <p:cNvPr id="203" name="TextBox 203"/>
              <p:cNvSpPr txBox="1"/>
              <p:nvPr/>
            </p:nvSpPr>
            <p:spPr>
              <a:xfrm>
                <a:off x="5195888" y="3645932"/>
                <a:ext cx="917138"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商户贷（最高50万）​</a:t>
                </a:r>
              </a:p>
            </p:txBody>
          </p:sp>
          <p:sp>
            <p:nvSpPr>
              <p:cNvPr id="204" name="TextBox 204"/>
              <p:cNvSpPr txBox="1"/>
              <p:nvPr/>
            </p:nvSpPr>
            <p:spPr>
              <a:xfrm>
                <a:off x="5195888" y="3769757"/>
                <a:ext cx="90852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家庭财富与消费信贷​</a:t>
                </a:r>
              </a:p>
            </p:txBody>
          </p:sp>
        </p:grpSp>
      </p:grpSp>
      <p:grpSp>
        <p:nvGrpSpPr>
          <p:cNvPr id="258" name="funnel-card"/>
          <p:cNvGrpSpPr/>
          <p:nvPr/>
        </p:nvGrpSpPr>
        <p:grpSpPr>
          <a:xfrm>
            <a:off x="6781800" y="2095500"/>
            <a:ext cx="5181600" cy="2019300"/>
            <a:chOff x="6781800" y="2095500"/>
            <a:chExt cx="5181600" cy="2019300"/>
          </a:xfrm>
        </p:grpSpPr>
        <p:sp>
          <p:nvSpPr>
            <p:cNvPr id="207" name="Rectangle 207"/>
            <p:cNvSpPr/>
            <p:nvPr/>
          </p:nvSpPr>
          <p:spPr>
            <a:xfrm>
              <a:off x="6781800" y="2095500"/>
              <a:ext cx="5181600" cy="2019300"/>
            </a:xfrm>
            <a:prstGeom prst="roundRect">
              <a:avLst>
                <a:gd name="adj" fmla="val 4717"/>
              </a:avLst>
            </a:prstGeom>
            <a:solidFill>
              <a:srgbClr val="F5FAF8"/>
            </a:solidFill>
            <a:ln w="9525">
              <a:solidFill>
                <a:srgbClr val="D9E8E2"/>
              </a:solidFill>
            </a:ln>
          </p:spPr>
        </p:sp>
        <p:sp>
          <p:nvSpPr>
            <p:cNvPr id="208" name="Rectangle 208"/>
            <p:cNvSpPr/>
            <p:nvPr/>
          </p:nvSpPr>
          <p:spPr>
            <a:xfrm>
              <a:off x="6896100" y="2190750"/>
              <a:ext cx="47625" cy="152400"/>
            </a:xfrm>
            <a:prstGeom prst="rect">
              <a:avLst/>
            </a:prstGeom>
            <a:solidFill>
              <a:srgbClr val="5B180B"/>
            </a:solidFill>
            <a:ln>
              <a:noFill/>
            </a:ln>
          </p:spPr>
        </p:sp>
        <p:sp>
          <p:nvSpPr>
            <p:cNvPr id="209" name="TextBox 209"/>
            <p:cNvSpPr txBox="1"/>
            <p:nvPr/>
          </p:nvSpPr>
          <p:spPr>
            <a:xfrm>
              <a:off x="7005638" y="2213372"/>
              <a:ext cx="1470165"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商户转化漏斗</a:t>
              </a:r>
              <a:r>
                <a:rPr lang="zh-CN" sz="710" dirty="0">
                  <a:solidFill>
                    <a:srgbClr val="5F6F6A"/>
                  </a:solidFill>
                  <a:latin typeface="+mn-lt"/>
                  <a:ea typeface="+mn-ea"/>
                  <a:cs typeface="+mn-cs"/>
                </a:rPr>
                <a:t>（2026年Q4）</a:t>
              </a:r>
              <a:r>
                <a:rPr lang="zh-CN" sz="940" b="1" dirty="0">
                  <a:solidFill>
                    <a:srgbClr val="5B180B"/>
                  </a:solidFill>
                  <a:latin typeface="+mn-lt"/>
                  <a:ea typeface="+mn-ea"/>
                  <a:cs typeface="+mn-cs"/>
                </a:rPr>
                <a:t>​</a:t>
              </a:r>
            </a:p>
          </p:txBody>
        </p:sp>
        <p:sp>
          <p:nvSpPr>
            <p:cNvPr id="210" name="TextBox 210"/>
            <p:cNvSpPr txBox="1"/>
            <p:nvPr/>
          </p:nvSpPr>
          <p:spPr>
            <a:xfrm>
              <a:off x="10246129" y="2245757"/>
              <a:ext cx="1607734" cy="126206"/>
            </a:xfrm>
            <a:prstGeom prst="rect">
              <a:avLst/>
            </a:prstGeom>
            <a:noFill/>
            <a:ln>
              <a:noFill/>
            </a:ln>
          </p:spPr>
          <p:txBody>
            <a:bodyPr wrap="none" lIns="0" tIns="0" rIns="0" bIns="0" anchor="t" anchorCtr="0">
              <a:spAutoFit/>
            </a:bodyPr>
            <a:lstStyle/>
            <a:p>
              <a:pPr algn="r"/>
              <a:r>
                <a:rPr lang="zh-CN" sz="640" dirty="0">
                  <a:solidFill>
                    <a:srgbClr val="8AA39C"/>
                  </a:solidFill>
                  <a:latin typeface="+mn-lt"/>
                  <a:ea typeface="+mn-ea"/>
                  <a:cs typeface="+mn-cs"/>
                </a:rPr>
                <a:t>从扫街到深耕，四步转化，持续提升质效​</a:t>
              </a:r>
            </a:p>
          </p:txBody>
        </p:sp>
        <p:sp>
          <p:nvSpPr>
            <p:cNvPr id="211" name="Freeform 211"/>
            <p:cNvSpPr/>
            <p:nvPr/>
          </p:nvSpPr>
          <p:spPr>
            <a:xfrm rot="10800000">
              <a:off x="7620000" y="2381250"/>
              <a:ext cx="1905000" cy="323850"/>
            </a:xfrm>
            <a:prstGeom prst="trapezoid">
              <a:avLst>
                <a:gd name="adj" fmla="val 58823"/>
              </a:avLst>
            </a:prstGeom>
            <a:solidFill>
              <a:srgbClr val="5B180B"/>
            </a:solidFill>
            <a:ln>
              <a:noFill/>
            </a:ln>
          </p:spPr>
        </p:sp>
        <p:sp>
          <p:nvSpPr>
            <p:cNvPr id="212" name="Freeform 212"/>
            <p:cNvSpPr/>
            <p:nvPr/>
          </p:nvSpPr>
          <p:spPr>
            <a:xfrm rot="10800000">
              <a:off x="7810500" y="2743200"/>
              <a:ext cx="1524000" cy="323850"/>
            </a:xfrm>
            <a:prstGeom prst="trapezoid">
              <a:avLst>
                <a:gd name="adj" fmla="val 52941"/>
              </a:avLst>
            </a:prstGeom>
            <a:solidFill>
              <a:srgbClr val="722617"/>
            </a:solidFill>
            <a:ln>
              <a:noFill/>
            </a:ln>
          </p:spPr>
        </p:sp>
        <p:sp>
          <p:nvSpPr>
            <p:cNvPr id="213" name="Freeform 213"/>
            <p:cNvSpPr/>
            <p:nvPr/>
          </p:nvSpPr>
          <p:spPr>
            <a:xfrm rot="10800000">
              <a:off x="7981950" y="3105150"/>
              <a:ext cx="1181100" cy="323850"/>
            </a:xfrm>
            <a:prstGeom prst="trapezoid">
              <a:avLst>
                <a:gd name="adj" fmla="val 47058"/>
              </a:avLst>
            </a:prstGeom>
            <a:solidFill>
              <a:srgbClr val="9A412F"/>
            </a:solidFill>
            <a:ln>
              <a:noFill/>
            </a:ln>
          </p:spPr>
        </p:sp>
        <p:sp>
          <p:nvSpPr>
            <p:cNvPr id="214" name="Freeform 214"/>
            <p:cNvSpPr/>
            <p:nvPr/>
          </p:nvSpPr>
          <p:spPr>
            <a:xfrm rot="10800000">
              <a:off x="8134350" y="3467100"/>
              <a:ext cx="876300" cy="323850"/>
            </a:xfrm>
            <a:prstGeom prst="trapezoid">
              <a:avLst>
                <a:gd name="adj" fmla="val 41176"/>
              </a:avLst>
            </a:prstGeom>
            <a:solidFill>
              <a:srgbClr val="C9988F"/>
            </a:solidFill>
            <a:ln>
              <a:noFill/>
            </a:ln>
          </p:spPr>
        </p:sp>
        <p:grpSp>
          <p:nvGrpSpPr>
            <p:cNvPr id="219" name="Group 219"/>
            <p:cNvGrpSpPr/>
            <p:nvPr/>
          </p:nvGrpSpPr>
          <p:grpSpPr>
            <a:xfrm>
              <a:off x="8427800" y="2484120"/>
              <a:ext cx="289400" cy="1262062"/>
              <a:chOff x="8427800" y="2484120"/>
              <a:chExt cx="289400" cy="1262062"/>
            </a:xfrm>
          </p:grpSpPr>
          <p:sp>
            <p:nvSpPr>
              <p:cNvPr id="215" name="TextBox 215"/>
              <p:cNvSpPr txBox="1"/>
              <p:nvPr/>
            </p:nvSpPr>
            <p:spPr>
              <a:xfrm>
                <a:off x="8427800" y="2484120"/>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480​</a:t>
                </a:r>
              </a:p>
            </p:txBody>
          </p:sp>
          <p:sp>
            <p:nvSpPr>
              <p:cNvPr id="216" name="TextBox 216"/>
              <p:cNvSpPr txBox="1"/>
              <p:nvPr/>
            </p:nvSpPr>
            <p:spPr>
              <a:xfrm>
                <a:off x="8427800" y="2846070"/>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360​</a:t>
                </a:r>
              </a:p>
            </p:txBody>
          </p:sp>
          <p:sp>
            <p:nvSpPr>
              <p:cNvPr id="217" name="TextBox 217"/>
              <p:cNvSpPr txBox="1"/>
              <p:nvPr/>
            </p:nvSpPr>
            <p:spPr>
              <a:xfrm>
                <a:off x="8427800" y="3208020"/>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210​</a:t>
                </a:r>
              </a:p>
            </p:txBody>
          </p:sp>
          <p:sp>
            <p:nvSpPr>
              <p:cNvPr id="218" name="TextBox 218"/>
              <p:cNvSpPr txBox="1"/>
              <p:nvPr/>
            </p:nvSpPr>
            <p:spPr>
              <a:xfrm>
                <a:off x="8427800" y="3569970"/>
                <a:ext cx="289400" cy="176212"/>
              </a:xfrm>
              <a:prstGeom prst="rect">
                <a:avLst/>
              </a:prstGeom>
              <a:noFill/>
              <a:ln>
                <a:noFill/>
              </a:ln>
            </p:spPr>
            <p:txBody>
              <a:bodyPr wrap="none" lIns="0" tIns="0" rIns="0" bIns="0" anchor="t" anchorCtr="0">
                <a:spAutoFit/>
              </a:bodyPr>
              <a:lstStyle/>
              <a:p>
                <a:pPr algn="ctr"/>
                <a:r>
                  <a:rPr lang="zh-CN" sz="900" b="1" dirty="0">
                    <a:solidFill>
                      <a:srgbClr val="3B130B"/>
                    </a:solidFill>
                    <a:latin typeface="+mn-lt"/>
                    <a:ea typeface="+mn-ea"/>
                    <a:cs typeface="+mn-cs"/>
                  </a:rPr>
                  <a:t>120​</a:t>
                </a:r>
              </a:p>
            </p:txBody>
          </p:sp>
        </p:grpSp>
        <p:grpSp>
          <p:nvGrpSpPr>
            <p:cNvPr id="228" name="funnel-left"/>
            <p:cNvGrpSpPr/>
            <p:nvPr/>
          </p:nvGrpSpPr>
          <p:grpSpPr>
            <a:xfrm>
              <a:off x="6910388" y="2452688"/>
              <a:ext cx="740781" cy="1332309"/>
              <a:chOff x="6910388" y="2452688"/>
              <a:chExt cx="740781" cy="1332309"/>
            </a:xfrm>
          </p:grpSpPr>
          <p:sp>
            <p:nvSpPr>
              <p:cNvPr id="220" name="TextBox 220"/>
              <p:cNvSpPr txBox="1"/>
              <p:nvPr/>
            </p:nvSpPr>
            <p:spPr>
              <a:xfrm>
                <a:off x="6910388" y="2452688"/>
                <a:ext cx="47169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扫街名单​</a:t>
                </a:r>
              </a:p>
            </p:txBody>
          </p:sp>
          <p:sp>
            <p:nvSpPr>
              <p:cNvPr id="221" name="TextBox 221"/>
              <p:cNvSpPr txBox="1"/>
              <p:nvPr/>
            </p:nvSpPr>
            <p:spPr>
              <a:xfrm>
                <a:off x="6910388" y="2587228"/>
                <a:ext cx="740781"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制定拜访 · 建立台账​</a:t>
                </a:r>
              </a:p>
            </p:txBody>
          </p:sp>
          <p:sp>
            <p:nvSpPr>
              <p:cNvPr id="222" name="TextBox 222"/>
              <p:cNvSpPr txBox="1"/>
              <p:nvPr/>
            </p:nvSpPr>
            <p:spPr>
              <a:xfrm>
                <a:off x="6910388" y="2814638"/>
                <a:ext cx="47169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上门拜访​</a:t>
                </a:r>
              </a:p>
            </p:txBody>
          </p:sp>
          <p:sp>
            <p:nvSpPr>
              <p:cNvPr id="223" name="TextBox 223"/>
              <p:cNvSpPr txBox="1"/>
              <p:nvPr/>
            </p:nvSpPr>
            <p:spPr>
              <a:xfrm>
                <a:off x="6910388" y="2949178"/>
                <a:ext cx="740781"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深入沟通 · 需求诊断​</a:t>
                </a:r>
              </a:p>
            </p:txBody>
          </p:sp>
          <p:sp>
            <p:nvSpPr>
              <p:cNvPr id="224" name="TextBox 224"/>
              <p:cNvSpPr txBox="1"/>
              <p:nvPr/>
            </p:nvSpPr>
            <p:spPr>
              <a:xfrm>
                <a:off x="6910388" y="3176588"/>
                <a:ext cx="47169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产品试用​</a:t>
                </a:r>
              </a:p>
            </p:txBody>
          </p:sp>
          <p:sp>
            <p:nvSpPr>
              <p:cNvPr id="225" name="TextBox 225"/>
              <p:cNvSpPr txBox="1"/>
              <p:nvPr/>
            </p:nvSpPr>
            <p:spPr>
              <a:xfrm>
                <a:off x="6910388" y="3311128"/>
                <a:ext cx="740781"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开通试用 · 场景体验​</a:t>
                </a:r>
              </a:p>
            </p:txBody>
          </p:sp>
          <p:sp>
            <p:nvSpPr>
              <p:cNvPr id="226" name="TextBox 226"/>
              <p:cNvSpPr txBox="1"/>
              <p:nvPr/>
            </p:nvSpPr>
            <p:spPr>
              <a:xfrm>
                <a:off x="6910388" y="3538538"/>
                <a:ext cx="47169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正式激活​</a:t>
                </a:r>
              </a:p>
            </p:txBody>
          </p:sp>
          <p:sp>
            <p:nvSpPr>
              <p:cNvPr id="227" name="TextBox 227"/>
              <p:cNvSpPr txBox="1"/>
              <p:nvPr/>
            </p:nvSpPr>
            <p:spPr>
              <a:xfrm>
                <a:off x="6910388" y="3673078"/>
                <a:ext cx="740781"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持续服务 · 深度经营​</a:t>
                </a:r>
              </a:p>
            </p:txBody>
          </p:sp>
        </p:grpSp>
        <p:grpSp>
          <p:nvGrpSpPr>
            <p:cNvPr id="257" name="funnel-right"/>
            <p:cNvGrpSpPr/>
            <p:nvPr/>
          </p:nvGrpSpPr>
          <p:grpSpPr>
            <a:xfrm>
              <a:off x="9201150" y="2438400"/>
              <a:ext cx="2667000" cy="1469707"/>
              <a:chOff x="9201150" y="2438400"/>
              <a:chExt cx="2667000" cy="1469707"/>
            </a:xfrm>
          </p:grpSpPr>
          <p:sp>
            <p:nvSpPr>
              <p:cNvPr id="229" name="Line 229"/>
              <p:cNvSpPr/>
              <p:nvPr/>
            </p:nvSpPr>
            <p:spPr>
              <a:xfrm>
                <a:off x="9563100" y="2714625"/>
                <a:ext cx="247650" cy="9525"/>
              </a:xfrm>
              <a:custGeom>
                <a:avLst/>
                <a:gdLst/>
                <a:ahLst/>
                <a:cxnLst/>
                <a:rect l="l" t="t" r="r" b="b"/>
                <a:pathLst>
                  <a:path w="247650" h="9525">
                    <a:moveTo>
                      <a:pt x="0" y="0"/>
                    </a:moveTo>
                    <a:lnTo>
                      <a:pt x="247650" y="0"/>
                    </a:lnTo>
                  </a:path>
                </a:pathLst>
              </a:custGeom>
              <a:noFill/>
              <a:ln w="9525">
                <a:solidFill>
                  <a:srgbClr val="C9988F"/>
                </a:solidFill>
                <a:custDash>
                  <a:ds d="300000" sp="200000"/>
                </a:custDash>
              </a:ln>
            </p:spPr>
          </p:sp>
          <p:sp>
            <p:nvSpPr>
              <p:cNvPr id="230" name="TextBox 230"/>
              <p:cNvSpPr txBox="1"/>
              <p:nvPr/>
            </p:nvSpPr>
            <p:spPr>
              <a:xfrm>
                <a:off x="9863138" y="2646045"/>
                <a:ext cx="314843" cy="176212"/>
              </a:xfrm>
              <a:prstGeom prst="rect">
                <a:avLst/>
              </a:prstGeom>
              <a:noFill/>
              <a:ln>
                <a:noFill/>
              </a:ln>
            </p:spPr>
            <p:txBody>
              <a:bodyPr wrap="none" lIns="0" tIns="0" rIns="0" bIns="0" anchor="t" anchorCtr="0">
                <a:spAutoFit/>
              </a:bodyPr>
              <a:lstStyle/>
              <a:p>
                <a:pPr algn="l"/>
                <a:r>
                  <a:rPr lang="zh-CN" sz="900" b="1" dirty="0">
                    <a:solidFill>
                      <a:srgbClr val="5B180B"/>
                    </a:solidFill>
                    <a:latin typeface="+mn-lt"/>
                    <a:ea typeface="+mn-ea"/>
                    <a:cs typeface="+mn-cs"/>
                  </a:rPr>
                  <a:t>75%​</a:t>
                </a:r>
              </a:p>
            </p:txBody>
          </p:sp>
          <p:sp>
            <p:nvSpPr>
              <p:cNvPr id="231" name="TextBox 231"/>
              <p:cNvSpPr txBox="1"/>
              <p:nvPr/>
            </p:nvSpPr>
            <p:spPr>
              <a:xfrm>
                <a:off x="10129838" y="2678430"/>
                <a:ext cx="296266"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转化率​</a:t>
                </a:r>
              </a:p>
            </p:txBody>
          </p:sp>
          <p:sp>
            <p:nvSpPr>
              <p:cNvPr id="232" name="Line 232"/>
              <p:cNvSpPr/>
              <p:nvPr/>
            </p:nvSpPr>
            <p:spPr>
              <a:xfrm>
                <a:off x="9372600" y="3076575"/>
                <a:ext cx="438150" cy="9525"/>
              </a:xfrm>
              <a:custGeom>
                <a:avLst/>
                <a:gdLst/>
                <a:ahLst/>
                <a:cxnLst/>
                <a:rect l="l" t="t" r="r" b="b"/>
                <a:pathLst>
                  <a:path w="438150" h="9525">
                    <a:moveTo>
                      <a:pt x="0" y="0"/>
                    </a:moveTo>
                    <a:lnTo>
                      <a:pt x="438150" y="0"/>
                    </a:lnTo>
                  </a:path>
                </a:pathLst>
              </a:custGeom>
              <a:noFill/>
              <a:ln w="9525">
                <a:solidFill>
                  <a:srgbClr val="C9988F"/>
                </a:solidFill>
                <a:custDash>
                  <a:ds d="300000" sp="200000"/>
                </a:custDash>
              </a:ln>
            </p:spPr>
          </p:sp>
          <p:sp>
            <p:nvSpPr>
              <p:cNvPr id="233" name="TextBox 233"/>
              <p:cNvSpPr txBox="1"/>
              <p:nvPr/>
            </p:nvSpPr>
            <p:spPr>
              <a:xfrm>
                <a:off x="9863138" y="3007995"/>
                <a:ext cx="314843" cy="176212"/>
              </a:xfrm>
              <a:prstGeom prst="rect">
                <a:avLst/>
              </a:prstGeom>
              <a:noFill/>
              <a:ln>
                <a:noFill/>
              </a:ln>
            </p:spPr>
            <p:txBody>
              <a:bodyPr wrap="none" lIns="0" tIns="0" rIns="0" bIns="0" anchor="t" anchorCtr="0">
                <a:spAutoFit/>
              </a:bodyPr>
              <a:lstStyle/>
              <a:p>
                <a:pPr algn="l"/>
                <a:r>
                  <a:rPr lang="zh-CN" sz="900" b="1" dirty="0">
                    <a:solidFill>
                      <a:srgbClr val="5B180B"/>
                    </a:solidFill>
                    <a:latin typeface="+mn-lt"/>
                    <a:ea typeface="+mn-ea"/>
                    <a:cs typeface="+mn-cs"/>
                  </a:rPr>
                  <a:t>58%​</a:t>
                </a:r>
              </a:p>
            </p:txBody>
          </p:sp>
          <p:sp>
            <p:nvSpPr>
              <p:cNvPr id="234" name="TextBox 234"/>
              <p:cNvSpPr txBox="1"/>
              <p:nvPr/>
            </p:nvSpPr>
            <p:spPr>
              <a:xfrm>
                <a:off x="10129838" y="3040380"/>
                <a:ext cx="296266"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转化率​</a:t>
                </a:r>
              </a:p>
            </p:txBody>
          </p:sp>
          <p:sp>
            <p:nvSpPr>
              <p:cNvPr id="235" name="Line 235"/>
              <p:cNvSpPr/>
              <p:nvPr/>
            </p:nvSpPr>
            <p:spPr>
              <a:xfrm>
                <a:off x="9201150" y="3438525"/>
                <a:ext cx="609600" cy="9525"/>
              </a:xfrm>
              <a:custGeom>
                <a:avLst/>
                <a:gdLst/>
                <a:ahLst/>
                <a:cxnLst/>
                <a:rect l="l" t="t" r="r" b="b"/>
                <a:pathLst>
                  <a:path w="609600" h="9525">
                    <a:moveTo>
                      <a:pt x="0" y="0"/>
                    </a:moveTo>
                    <a:lnTo>
                      <a:pt x="609600" y="0"/>
                    </a:lnTo>
                  </a:path>
                </a:pathLst>
              </a:custGeom>
              <a:noFill/>
              <a:ln w="9525">
                <a:solidFill>
                  <a:srgbClr val="C9988F"/>
                </a:solidFill>
                <a:custDash>
                  <a:ds d="300000" sp="200000"/>
                </a:custDash>
              </a:ln>
            </p:spPr>
          </p:sp>
          <p:sp>
            <p:nvSpPr>
              <p:cNvPr id="236" name="TextBox 236"/>
              <p:cNvSpPr txBox="1"/>
              <p:nvPr/>
            </p:nvSpPr>
            <p:spPr>
              <a:xfrm>
                <a:off x="9863138" y="3369945"/>
                <a:ext cx="314843" cy="176212"/>
              </a:xfrm>
              <a:prstGeom prst="rect">
                <a:avLst/>
              </a:prstGeom>
              <a:noFill/>
              <a:ln>
                <a:noFill/>
              </a:ln>
            </p:spPr>
            <p:txBody>
              <a:bodyPr wrap="none" lIns="0" tIns="0" rIns="0" bIns="0" anchor="t" anchorCtr="0">
                <a:spAutoFit/>
              </a:bodyPr>
              <a:lstStyle/>
              <a:p>
                <a:pPr algn="l"/>
                <a:r>
                  <a:rPr lang="zh-CN" sz="900" b="1" dirty="0">
                    <a:solidFill>
                      <a:srgbClr val="5B180B"/>
                    </a:solidFill>
                    <a:latin typeface="+mn-lt"/>
                    <a:ea typeface="+mn-ea"/>
                    <a:cs typeface="+mn-cs"/>
                  </a:rPr>
                  <a:t>57%​</a:t>
                </a:r>
              </a:p>
            </p:txBody>
          </p:sp>
          <p:sp>
            <p:nvSpPr>
              <p:cNvPr id="237" name="TextBox 237"/>
              <p:cNvSpPr txBox="1"/>
              <p:nvPr/>
            </p:nvSpPr>
            <p:spPr>
              <a:xfrm>
                <a:off x="10129838" y="3402330"/>
                <a:ext cx="296266"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转化率​</a:t>
                </a:r>
              </a:p>
            </p:txBody>
          </p:sp>
          <p:grpSp>
            <p:nvGrpSpPr>
              <p:cNvPr id="241" name="Group 241"/>
              <p:cNvGrpSpPr/>
              <p:nvPr/>
            </p:nvGrpSpPr>
            <p:grpSpPr>
              <a:xfrm>
                <a:off x="9649954" y="3702844"/>
                <a:ext cx="150125" cy="156202"/>
                <a:chOff x="9649954" y="3702844"/>
                <a:chExt cx="150125" cy="156202"/>
              </a:xfrm>
            </p:grpSpPr>
            <p:sp>
              <p:nvSpPr>
                <p:cNvPr id="238" name="Freeform 238"/>
                <p:cNvSpPr/>
                <p:nvPr/>
              </p:nvSpPr>
              <p:spPr>
                <a:xfrm>
                  <a:off x="9672638" y="3702844"/>
                  <a:ext cx="104775" cy="104775"/>
                </a:xfrm>
                <a:custGeom>
                  <a:avLst/>
                  <a:gdLst/>
                  <a:ahLst/>
                  <a:cxnLst/>
                  <a:rect l="l" t="t" r="r" b="b"/>
                  <a:pathLst>
                    <a:path w="104775" h="104775">
                      <a:moveTo>
                        <a:pt x="0" y="52388"/>
                      </a:moveTo>
                      <a:cubicBezTo>
                        <a:pt x="0" y="81320"/>
                        <a:pt x="23455" y="104775"/>
                        <a:pt x="52388" y="104775"/>
                      </a:cubicBezTo>
                      <a:cubicBezTo>
                        <a:pt x="81320" y="104775"/>
                        <a:pt x="104775" y="81320"/>
                        <a:pt x="104775" y="52388"/>
                      </a:cubicBezTo>
                      <a:cubicBezTo>
                        <a:pt x="104775" y="23455"/>
                        <a:pt x="81320" y="0"/>
                        <a:pt x="52388" y="0"/>
                      </a:cubicBezTo>
                      <a:cubicBezTo>
                        <a:pt x="23455" y="0"/>
                        <a:pt x="0" y="23455"/>
                        <a:pt x="0" y="52388"/>
                      </a:cubicBezTo>
                    </a:path>
                  </a:pathLst>
                </a:custGeom>
                <a:noFill/>
                <a:ln w="17463">
                  <a:solidFill>
                    <a:srgbClr val="B8432F"/>
                  </a:solidFill>
                </a:ln>
              </p:spPr>
            </p:sp>
            <p:sp>
              <p:nvSpPr>
                <p:cNvPr id="239" name="Freeform 239"/>
                <p:cNvSpPr/>
                <p:nvPr/>
              </p:nvSpPr>
              <p:spPr>
                <a:xfrm>
                  <a:off x="9725025" y="3781425"/>
                  <a:ext cx="75054" cy="77621"/>
                </a:xfrm>
                <a:custGeom>
                  <a:avLst/>
                  <a:gdLst/>
                  <a:ahLst/>
                  <a:cxnLst/>
                  <a:rect l="l" t="t" r="r" b="b"/>
                  <a:pathLst>
                    <a:path w="75054" h="77621">
                      <a:moveTo>
                        <a:pt x="0" y="26194"/>
                      </a:moveTo>
                      <a:lnTo>
                        <a:pt x="29686" y="77621"/>
                      </a:lnTo>
                      <a:lnTo>
                        <a:pt x="43639" y="49393"/>
                      </a:lnTo>
                      <a:lnTo>
                        <a:pt x="75054" y="51418"/>
                      </a:lnTo>
                      <a:lnTo>
                        <a:pt x="45368" y="0"/>
                      </a:lnTo>
                    </a:path>
                  </a:pathLst>
                </a:custGeom>
                <a:noFill/>
                <a:ln w="17463">
                  <a:solidFill>
                    <a:srgbClr val="B8432F"/>
                  </a:solidFill>
                </a:ln>
              </p:spPr>
            </p:sp>
            <p:sp>
              <p:nvSpPr>
                <p:cNvPr id="240" name="Freeform 240"/>
                <p:cNvSpPr/>
                <p:nvPr/>
              </p:nvSpPr>
              <p:spPr>
                <a:xfrm>
                  <a:off x="9649954" y="3781425"/>
                  <a:ext cx="75054" cy="77612"/>
                </a:xfrm>
                <a:custGeom>
                  <a:avLst/>
                  <a:gdLst/>
                  <a:ahLst/>
                  <a:cxnLst/>
                  <a:rect l="l" t="t" r="r" b="b"/>
                  <a:pathLst>
                    <a:path w="75054" h="77612">
                      <a:moveTo>
                        <a:pt x="29686" y="0"/>
                      </a:moveTo>
                      <a:lnTo>
                        <a:pt x="0" y="51427"/>
                      </a:lnTo>
                      <a:lnTo>
                        <a:pt x="31415" y="49393"/>
                      </a:lnTo>
                      <a:lnTo>
                        <a:pt x="45368" y="77612"/>
                      </a:lnTo>
                      <a:lnTo>
                        <a:pt x="75054" y="26194"/>
                      </a:lnTo>
                    </a:path>
                  </a:pathLst>
                </a:custGeom>
                <a:noFill/>
                <a:ln w="17463">
                  <a:solidFill>
                    <a:srgbClr val="B8432F"/>
                  </a:solidFill>
                </a:ln>
              </p:spPr>
            </p:sp>
          </p:grpSp>
          <p:sp>
            <p:nvSpPr>
              <p:cNvPr id="242" name="TextBox 242"/>
              <p:cNvSpPr txBox="1"/>
              <p:nvPr/>
            </p:nvSpPr>
            <p:spPr>
              <a:xfrm>
                <a:off x="9863138" y="3731895"/>
                <a:ext cx="314843" cy="176212"/>
              </a:xfrm>
              <a:prstGeom prst="rect">
                <a:avLst/>
              </a:prstGeom>
              <a:noFill/>
              <a:ln>
                <a:noFill/>
              </a:ln>
            </p:spPr>
            <p:txBody>
              <a:bodyPr wrap="none" lIns="0" tIns="0" rIns="0" bIns="0" anchor="t" anchorCtr="0">
                <a:spAutoFit/>
              </a:bodyPr>
              <a:lstStyle/>
              <a:p>
                <a:pPr algn="l"/>
                <a:r>
                  <a:rPr lang="zh-CN" sz="900" b="1" dirty="0">
                    <a:solidFill>
                      <a:srgbClr val="B8432F"/>
                    </a:solidFill>
                    <a:latin typeface="+mn-lt"/>
                    <a:ea typeface="+mn-ea"/>
                    <a:cs typeface="+mn-cs"/>
                  </a:rPr>
                  <a:t>22%​</a:t>
                </a:r>
              </a:p>
            </p:txBody>
          </p:sp>
          <p:sp>
            <p:nvSpPr>
              <p:cNvPr id="243" name="TextBox 243"/>
              <p:cNvSpPr txBox="1"/>
              <p:nvPr/>
            </p:nvSpPr>
            <p:spPr>
              <a:xfrm>
                <a:off x="10129838" y="3764280"/>
                <a:ext cx="457810"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整体转化率​</a:t>
                </a:r>
              </a:p>
            </p:txBody>
          </p:sp>
          <p:grpSp>
            <p:nvGrpSpPr>
              <p:cNvPr id="256" name="Group 256"/>
              <p:cNvGrpSpPr/>
              <p:nvPr/>
            </p:nvGrpSpPr>
            <p:grpSpPr>
              <a:xfrm>
                <a:off x="10553700" y="2438400"/>
                <a:ext cx="1314450" cy="1327547"/>
                <a:chOff x="10553700" y="2438400"/>
                <a:chExt cx="1314450" cy="1327547"/>
              </a:xfrm>
            </p:grpSpPr>
            <p:sp>
              <p:nvSpPr>
                <p:cNvPr id="244" name="Rectangle 244"/>
                <p:cNvSpPr/>
                <p:nvPr/>
              </p:nvSpPr>
              <p:spPr>
                <a:xfrm>
                  <a:off x="10553700" y="2438400"/>
                  <a:ext cx="1314450" cy="228600"/>
                </a:xfrm>
                <a:prstGeom prst="roundRect">
                  <a:avLst>
                    <a:gd name="adj" fmla="val 16667"/>
                  </a:avLst>
                </a:prstGeom>
                <a:solidFill>
                  <a:srgbClr val="E9F4F0"/>
                </a:solidFill>
                <a:ln>
                  <a:noFill/>
                </a:ln>
              </p:spPr>
            </p:sp>
            <p:sp>
              <p:nvSpPr>
                <p:cNvPr id="245" name="TextBox 245"/>
                <p:cNvSpPr txBox="1"/>
                <p:nvPr/>
              </p:nvSpPr>
              <p:spPr>
                <a:xfrm>
                  <a:off x="10606088" y="2472928"/>
                  <a:ext cx="729473" cy="111919"/>
                </a:xfrm>
                <a:prstGeom prst="rect">
                  <a:avLst/>
                </a:prstGeom>
                <a:noFill/>
                <a:ln>
                  <a:noFill/>
                </a:ln>
              </p:spPr>
              <p:txBody>
                <a:bodyPr wrap="none" lIns="0" tIns="0" rIns="0" bIns="0" anchor="t" anchorCtr="0">
                  <a:spAutoFit/>
                </a:bodyPr>
                <a:lstStyle/>
                <a:p>
                  <a:pPr algn="l"/>
                  <a:r>
                    <a:rPr lang="zh-CN" sz="560" dirty="0">
                      <a:solidFill>
                        <a:srgbClr val="5F6F6A"/>
                      </a:solidFill>
                      <a:latin typeface="+mn-lt"/>
                      <a:ea typeface="+mn-ea"/>
                      <a:cs typeface="+mn-cs"/>
                    </a:rPr>
                    <a:t>商圈走访、市场摸排​</a:t>
                  </a:r>
                </a:p>
              </p:txBody>
            </p:sp>
            <p:sp>
              <p:nvSpPr>
                <p:cNvPr id="246" name="TextBox 246"/>
                <p:cNvSpPr txBox="1"/>
                <p:nvPr/>
              </p:nvSpPr>
              <p:spPr>
                <a:xfrm>
                  <a:off x="10606088" y="2568178"/>
                  <a:ext cx="729473" cy="111919"/>
                </a:xfrm>
                <a:prstGeom prst="rect">
                  <a:avLst/>
                </a:prstGeom>
                <a:noFill/>
                <a:ln>
                  <a:noFill/>
                </a:ln>
              </p:spPr>
              <p:txBody>
                <a:bodyPr wrap="none" lIns="0" tIns="0" rIns="0" bIns="0" anchor="t" anchorCtr="0">
                  <a:spAutoFit/>
                </a:bodyPr>
                <a:lstStyle/>
                <a:p>
                  <a:pPr algn="l"/>
                  <a:r>
                    <a:rPr lang="zh-CN" sz="560" dirty="0">
                      <a:solidFill>
                        <a:srgbClr val="5F6F6A"/>
                      </a:solidFill>
                      <a:latin typeface="+mn-lt"/>
                      <a:ea typeface="+mn-ea"/>
                      <a:cs typeface="+mn-cs"/>
                    </a:rPr>
                    <a:t>行业协会、合作推荐​</a:t>
                  </a:r>
                </a:p>
              </p:txBody>
            </p:sp>
            <p:sp>
              <p:nvSpPr>
                <p:cNvPr id="247" name="Rectangle 247"/>
                <p:cNvSpPr/>
                <p:nvPr/>
              </p:nvSpPr>
              <p:spPr>
                <a:xfrm>
                  <a:off x="10553700" y="2800350"/>
                  <a:ext cx="1314450" cy="228600"/>
                </a:xfrm>
                <a:prstGeom prst="roundRect">
                  <a:avLst>
                    <a:gd name="adj" fmla="val 16667"/>
                  </a:avLst>
                </a:prstGeom>
                <a:solidFill>
                  <a:srgbClr val="E9F4F0"/>
                </a:solidFill>
                <a:ln>
                  <a:noFill/>
                </a:ln>
              </p:spPr>
            </p:sp>
            <p:sp>
              <p:nvSpPr>
                <p:cNvPr id="248" name="TextBox 248"/>
                <p:cNvSpPr txBox="1"/>
                <p:nvPr/>
              </p:nvSpPr>
              <p:spPr>
                <a:xfrm>
                  <a:off x="10606088" y="2834878"/>
                  <a:ext cx="737011" cy="111919"/>
                </a:xfrm>
                <a:prstGeom prst="rect">
                  <a:avLst/>
                </a:prstGeom>
                <a:noFill/>
                <a:ln>
                  <a:noFill/>
                </a:ln>
              </p:spPr>
              <p:txBody>
                <a:bodyPr wrap="none" lIns="0" tIns="0" rIns="0" bIns="0" anchor="t" anchorCtr="0">
                  <a:spAutoFit/>
                </a:bodyPr>
                <a:lstStyle/>
                <a:p>
                  <a:pPr algn="l"/>
                  <a:r>
                    <a:rPr lang="zh-CN" sz="560" dirty="0">
                      <a:solidFill>
                        <a:srgbClr val="5F6F6A"/>
                      </a:solidFill>
                      <a:latin typeface="+mn-lt"/>
                      <a:ea typeface="+mn-ea"/>
                      <a:cs typeface="+mn-cs"/>
                    </a:rPr>
                    <a:t>1对1拜访、需求诊断​</a:t>
                  </a:r>
                </a:p>
              </p:txBody>
            </p:sp>
            <p:sp>
              <p:nvSpPr>
                <p:cNvPr id="249" name="TextBox 249"/>
                <p:cNvSpPr txBox="1"/>
                <p:nvPr/>
              </p:nvSpPr>
              <p:spPr>
                <a:xfrm>
                  <a:off x="10606088" y="2930128"/>
                  <a:ext cx="729473" cy="111919"/>
                </a:xfrm>
                <a:prstGeom prst="rect">
                  <a:avLst/>
                </a:prstGeom>
                <a:noFill/>
                <a:ln>
                  <a:noFill/>
                </a:ln>
              </p:spPr>
              <p:txBody>
                <a:bodyPr wrap="none" lIns="0" tIns="0" rIns="0" bIns="0" anchor="t" anchorCtr="0">
                  <a:spAutoFit/>
                </a:bodyPr>
                <a:lstStyle/>
                <a:p>
                  <a:pPr algn="l"/>
                  <a:r>
                    <a:rPr lang="zh-CN" sz="560" dirty="0">
                      <a:solidFill>
                        <a:srgbClr val="5F6F6A"/>
                      </a:solidFill>
                      <a:latin typeface="+mn-lt"/>
                      <a:ea typeface="+mn-ea"/>
                      <a:cs typeface="+mn-cs"/>
                    </a:rPr>
                    <a:t>方案匹配、异议处理​</a:t>
                  </a:r>
                </a:p>
              </p:txBody>
            </p:sp>
            <p:sp>
              <p:nvSpPr>
                <p:cNvPr id="250" name="Rectangle 250"/>
                <p:cNvSpPr/>
                <p:nvPr/>
              </p:nvSpPr>
              <p:spPr>
                <a:xfrm>
                  <a:off x="10553700" y="3162300"/>
                  <a:ext cx="1314450" cy="228600"/>
                </a:xfrm>
                <a:prstGeom prst="roundRect">
                  <a:avLst>
                    <a:gd name="adj" fmla="val 16667"/>
                  </a:avLst>
                </a:prstGeom>
                <a:solidFill>
                  <a:srgbClr val="E9F4F0"/>
                </a:solidFill>
                <a:ln>
                  <a:noFill/>
                </a:ln>
              </p:spPr>
            </p:sp>
            <p:sp>
              <p:nvSpPr>
                <p:cNvPr id="251" name="TextBox 251"/>
                <p:cNvSpPr txBox="1"/>
                <p:nvPr/>
              </p:nvSpPr>
              <p:spPr>
                <a:xfrm>
                  <a:off x="10606088" y="3196828"/>
                  <a:ext cx="729473" cy="111919"/>
                </a:xfrm>
                <a:prstGeom prst="rect">
                  <a:avLst/>
                </a:prstGeom>
                <a:noFill/>
                <a:ln>
                  <a:noFill/>
                </a:ln>
              </p:spPr>
              <p:txBody>
                <a:bodyPr wrap="none" lIns="0" tIns="0" rIns="0" bIns="0" anchor="t" anchorCtr="0">
                  <a:spAutoFit/>
                </a:bodyPr>
                <a:lstStyle/>
                <a:p>
                  <a:pPr algn="l"/>
                  <a:r>
                    <a:rPr lang="zh-CN" sz="560" dirty="0">
                      <a:solidFill>
                        <a:srgbClr val="5F6F6A"/>
                      </a:solidFill>
                      <a:latin typeface="+mn-lt"/>
                      <a:ea typeface="+mn-ea"/>
                      <a:cs typeface="+mn-cs"/>
                    </a:rPr>
                    <a:t>开通试用、场景布设​</a:t>
                  </a:r>
                </a:p>
              </p:txBody>
            </p:sp>
            <p:sp>
              <p:nvSpPr>
                <p:cNvPr id="252" name="TextBox 252"/>
                <p:cNvSpPr txBox="1"/>
                <p:nvPr/>
              </p:nvSpPr>
              <p:spPr>
                <a:xfrm>
                  <a:off x="10606088" y="3292078"/>
                  <a:ext cx="729473" cy="111919"/>
                </a:xfrm>
                <a:prstGeom prst="rect">
                  <a:avLst/>
                </a:prstGeom>
                <a:noFill/>
                <a:ln>
                  <a:noFill/>
                </a:ln>
              </p:spPr>
              <p:txBody>
                <a:bodyPr wrap="none" lIns="0" tIns="0" rIns="0" bIns="0" anchor="t" anchorCtr="0">
                  <a:spAutoFit/>
                </a:bodyPr>
                <a:lstStyle/>
                <a:p>
                  <a:pPr algn="l"/>
                  <a:r>
                    <a:rPr lang="zh-CN" sz="560" dirty="0">
                      <a:solidFill>
                        <a:srgbClr val="5F6F6A"/>
                      </a:solidFill>
                      <a:latin typeface="+mn-lt"/>
                      <a:ea typeface="+mn-ea"/>
                      <a:cs typeface="+mn-cs"/>
                    </a:rPr>
                    <a:t>培训指导、效果跟踪​</a:t>
                  </a:r>
                </a:p>
              </p:txBody>
            </p:sp>
            <p:sp>
              <p:nvSpPr>
                <p:cNvPr id="253" name="Rectangle 253"/>
                <p:cNvSpPr/>
                <p:nvPr/>
              </p:nvSpPr>
              <p:spPr>
                <a:xfrm>
                  <a:off x="10553700" y="3524250"/>
                  <a:ext cx="1314450" cy="228600"/>
                </a:xfrm>
                <a:prstGeom prst="roundRect">
                  <a:avLst>
                    <a:gd name="adj" fmla="val 16667"/>
                  </a:avLst>
                </a:prstGeom>
                <a:solidFill>
                  <a:srgbClr val="E9F4F0"/>
                </a:solidFill>
                <a:ln>
                  <a:noFill/>
                </a:ln>
              </p:spPr>
            </p:sp>
            <p:sp>
              <p:nvSpPr>
                <p:cNvPr id="254" name="TextBox 254"/>
                <p:cNvSpPr txBox="1"/>
                <p:nvPr/>
              </p:nvSpPr>
              <p:spPr>
                <a:xfrm>
                  <a:off x="10606088" y="3558778"/>
                  <a:ext cx="729473" cy="111919"/>
                </a:xfrm>
                <a:prstGeom prst="rect">
                  <a:avLst/>
                </a:prstGeom>
                <a:noFill/>
                <a:ln>
                  <a:noFill/>
                </a:ln>
              </p:spPr>
              <p:txBody>
                <a:bodyPr wrap="none" lIns="0" tIns="0" rIns="0" bIns="0" anchor="t" anchorCtr="0">
                  <a:spAutoFit/>
                </a:bodyPr>
                <a:lstStyle/>
                <a:p>
                  <a:pPr algn="l"/>
                  <a:r>
                    <a:rPr lang="zh-CN" sz="560" dirty="0">
                      <a:solidFill>
                        <a:srgbClr val="5F6F6A"/>
                      </a:solidFill>
                      <a:latin typeface="+mn-lt"/>
                      <a:ea typeface="+mn-ea"/>
                      <a:cs typeface="+mn-cs"/>
                    </a:rPr>
                    <a:t>正式激活、签约合作​</a:t>
                  </a:r>
                </a:p>
              </p:txBody>
            </p:sp>
            <p:sp>
              <p:nvSpPr>
                <p:cNvPr id="255" name="TextBox 255"/>
                <p:cNvSpPr txBox="1"/>
                <p:nvPr/>
              </p:nvSpPr>
              <p:spPr>
                <a:xfrm>
                  <a:off x="10606088" y="3654028"/>
                  <a:ext cx="729473" cy="111919"/>
                </a:xfrm>
                <a:prstGeom prst="rect">
                  <a:avLst/>
                </a:prstGeom>
                <a:noFill/>
                <a:ln>
                  <a:noFill/>
                </a:ln>
              </p:spPr>
              <p:txBody>
                <a:bodyPr wrap="none" lIns="0" tIns="0" rIns="0" bIns="0" anchor="t" anchorCtr="0">
                  <a:spAutoFit/>
                </a:bodyPr>
                <a:lstStyle/>
                <a:p>
                  <a:pPr algn="l"/>
                  <a:r>
                    <a:rPr lang="zh-CN" sz="560" dirty="0">
                      <a:solidFill>
                        <a:srgbClr val="5F6F6A"/>
                      </a:solidFill>
                      <a:latin typeface="+mn-lt"/>
                      <a:ea typeface="+mn-ea"/>
                      <a:cs typeface="+mn-cs"/>
                    </a:rPr>
                    <a:t>持续回访、交叉营销​</a:t>
                  </a:r>
                </a:p>
              </p:txBody>
            </p:sp>
          </p:grpSp>
        </p:grpSp>
      </p:grpSp>
      <p:grpSp>
        <p:nvGrpSpPr>
          <p:cNvPr id="348" name="journey-card"/>
          <p:cNvGrpSpPr/>
          <p:nvPr/>
        </p:nvGrpSpPr>
        <p:grpSpPr>
          <a:xfrm>
            <a:off x="228600" y="4229100"/>
            <a:ext cx="6438900" cy="2552700"/>
            <a:chOff x="228600" y="4229100"/>
            <a:chExt cx="6438900" cy="2552700"/>
          </a:xfrm>
        </p:grpSpPr>
        <p:sp>
          <p:nvSpPr>
            <p:cNvPr id="259" name="Rectangle 259"/>
            <p:cNvSpPr/>
            <p:nvPr/>
          </p:nvSpPr>
          <p:spPr>
            <a:xfrm>
              <a:off x="228600" y="4229100"/>
              <a:ext cx="6438900" cy="2552700"/>
            </a:xfrm>
            <a:prstGeom prst="roundRect">
              <a:avLst>
                <a:gd name="adj" fmla="val 3731"/>
              </a:avLst>
            </a:prstGeom>
            <a:solidFill>
              <a:srgbClr val="F5FAF8"/>
            </a:solidFill>
            <a:ln w="9525">
              <a:solidFill>
                <a:srgbClr val="D9E8E2"/>
              </a:solidFill>
            </a:ln>
          </p:spPr>
        </p:sp>
        <p:sp>
          <p:nvSpPr>
            <p:cNvPr id="260" name="Rectangle 260"/>
            <p:cNvSpPr/>
            <p:nvPr/>
          </p:nvSpPr>
          <p:spPr>
            <a:xfrm>
              <a:off x="342900" y="4324350"/>
              <a:ext cx="47625" cy="152400"/>
            </a:xfrm>
            <a:prstGeom prst="rect">
              <a:avLst/>
            </a:prstGeom>
            <a:solidFill>
              <a:srgbClr val="5B180B"/>
            </a:solidFill>
            <a:ln>
              <a:noFill/>
            </a:ln>
          </p:spPr>
        </p:sp>
        <p:sp>
          <p:nvSpPr>
            <p:cNvPr id="261" name="TextBox 261"/>
            <p:cNvSpPr txBox="1"/>
            <p:nvPr/>
          </p:nvSpPr>
          <p:spPr>
            <a:xfrm>
              <a:off x="452438" y="4346972"/>
              <a:ext cx="1114560"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商户30天激活旅程​</a:t>
              </a:r>
            </a:p>
          </p:txBody>
        </p:sp>
        <p:sp>
          <p:nvSpPr>
            <p:cNvPr id="262" name="TextBox 262"/>
            <p:cNvSpPr txBox="1"/>
            <p:nvPr/>
          </p:nvSpPr>
          <p:spPr>
            <a:xfrm>
              <a:off x="5036386" y="4379357"/>
              <a:ext cx="1521577" cy="126206"/>
            </a:xfrm>
            <a:prstGeom prst="rect">
              <a:avLst/>
            </a:prstGeom>
            <a:noFill/>
            <a:ln>
              <a:noFill/>
            </a:ln>
          </p:spPr>
          <p:txBody>
            <a:bodyPr wrap="none" lIns="0" tIns="0" rIns="0" bIns="0" anchor="t" anchorCtr="0">
              <a:spAutoFit/>
            </a:bodyPr>
            <a:lstStyle/>
            <a:p>
              <a:pPr algn="r"/>
              <a:r>
                <a:rPr lang="zh-CN" sz="640" dirty="0">
                  <a:solidFill>
                    <a:srgbClr val="8AA39C"/>
                  </a:solidFill>
                  <a:latin typeface="+mn-lt"/>
                  <a:ea typeface="+mn-ea"/>
                  <a:cs typeface="+mn-cs"/>
                </a:rPr>
                <a:t>标准化流程，快速上线，持续创造价值​</a:t>
              </a:r>
            </a:p>
          </p:txBody>
        </p:sp>
        <p:sp>
          <p:nvSpPr>
            <p:cNvPr id="263" name="Freeform 263"/>
            <p:cNvSpPr/>
            <p:nvPr/>
          </p:nvSpPr>
          <p:spPr>
            <a:xfrm>
              <a:off x="342900" y="4572000"/>
              <a:ext cx="990600" cy="381000"/>
            </a:xfrm>
            <a:prstGeom prst="chevron">
              <a:avLst>
                <a:gd name="adj" fmla="val 30000"/>
              </a:avLst>
            </a:prstGeom>
            <a:solidFill>
              <a:srgbClr val="5B180B"/>
            </a:solidFill>
            <a:ln>
              <a:noFill/>
            </a:ln>
          </p:spPr>
        </p:sp>
        <p:sp>
          <p:nvSpPr>
            <p:cNvPr id="264" name="Freeform 264"/>
            <p:cNvSpPr/>
            <p:nvPr/>
          </p:nvSpPr>
          <p:spPr>
            <a:xfrm>
              <a:off x="1371600" y="4572000"/>
              <a:ext cx="990600" cy="381000"/>
            </a:xfrm>
            <a:prstGeom prst="chevron">
              <a:avLst>
                <a:gd name="adj" fmla="val 30000"/>
              </a:avLst>
            </a:prstGeom>
            <a:solidFill>
              <a:srgbClr val="722617"/>
            </a:solidFill>
            <a:ln>
              <a:noFill/>
            </a:ln>
          </p:spPr>
        </p:sp>
        <p:sp>
          <p:nvSpPr>
            <p:cNvPr id="265" name="Freeform 265"/>
            <p:cNvSpPr/>
            <p:nvPr/>
          </p:nvSpPr>
          <p:spPr>
            <a:xfrm>
              <a:off x="2400300" y="4572000"/>
              <a:ext cx="990600" cy="381000"/>
            </a:xfrm>
            <a:prstGeom prst="chevron">
              <a:avLst>
                <a:gd name="adj" fmla="val 30000"/>
              </a:avLst>
            </a:prstGeom>
            <a:solidFill>
              <a:srgbClr val="9A412F"/>
            </a:solidFill>
            <a:ln>
              <a:noFill/>
            </a:ln>
          </p:spPr>
        </p:sp>
        <p:sp>
          <p:nvSpPr>
            <p:cNvPr id="266" name="Freeform 266"/>
            <p:cNvSpPr/>
            <p:nvPr/>
          </p:nvSpPr>
          <p:spPr>
            <a:xfrm>
              <a:off x="3429000" y="4572000"/>
              <a:ext cx="990600" cy="381000"/>
            </a:xfrm>
            <a:prstGeom prst="chevron">
              <a:avLst>
                <a:gd name="adj" fmla="val 30000"/>
              </a:avLst>
            </a:prstGeom>
            <a:solidFill>
              <a:srgbClr val="AE6C5F"/>
            </a:solidFill>
            <a:ln>
              <a:noFill/>
            </a:ln>
          </p:spPr>
        </p:sp>
        <p:sp>
          <p:nvSpPr>
            <p:cNvPr id="267" name="Freeform 267"/>
            <p:cNvSpPr/>
            <p:nvPr/>
          </p:nvSpPr>
          <p:spPr>
            <a:xfrm>
              <a:off x="4457700" y="4572000"/>
              <a:ext cx="990600" cy="381000"/>
            </a:xfrm>
            <a:prstGeom prst="chevron">
              <a:avLst>
                <a:gd name="adj" fmla="val 30000"/>
              </a:avLst>
            </a:prstGeom>
            <a:solidFill>
              <a:srgbClr val="5B180B"/>
            </a:solidFill>
            <a:ln>
              <a:noFill/>
            </a:ln>
          </p:spPr>
        </p:sp>
        <p:grpSp>
          <p:nvGrpSpPr>
            <p:cNvPr id="278" name="journey-labels"/>
            <p:cNvGrpSpPr/>
            <p:nvPr/>
          </p:nvGrpSpPr>
          <p:grpSpPr>
            <a:xfrm>
              <a:off x="652778" y="4657011"/>
              <a:ext cx="4576373" cy="273844"/>
              <a:chOff x="652778" y="4657011"/>
              <a:chExt cx="4576373" cy="273844"/>
            </a:xfrm>
          </p:grpSpPr>
          <p:sp>
            <p:nvSpPr>
              <p:cNvPr id="268" name="TextBox 268"/>
              <p:cNvSpPr txBox="1"/>
              <p:nvPr/>
            </p:nvSpPr>
            <p:spPr>
              <a:xfrm>
                <a:off x="696572" y="4657011"/>
                <a:ext cx="35945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D1-D3​</a:t>
                </a:r>
              </a:p>
            </p:txBody>
          </p:sp>
          <p:sp>
            <p:nvSpPr>
              <p:cNvPr id="269" name="TextBox 269"/>
              <p:cNvSpPr txBox="1"/>
              <p:nvPr/>
            </p:nvSpPr>
            <p:spPr>
              <a:xfrm>
                <a:off x="652778" y="479036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需求沟通​</a:t>
                </a:r>
              </a:p>
            </p:txBody>
          </p:sp>
          <p:sp>
            <p:nvSpPr>
              <p:cNvPr id="270" name="TextBox 270"/>
              <p:cNvSpPr txBox="1"/>
              <p:nvPr/>
            </p:nvSpPr>
            <p:spPr>
              <a:xfrm>
                <a:off x="1725272" y="4657011"/>
                <a:ext cx="359457"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D4-D7​</a:t>
                </a:r>
              </a:p>
            </p:txBody>
          </p:sp>
          <p:sp>
            <p:nvSpPr>
              <p:cNvPr id="271" name="TextBox 271"/>
              <p:cNvSpPr txBox="1"/>
              <p:nvPr/>
            </p:nvSpPr>
            <p:spPr>
              <a:xfrm>
                <a:off x="1681478" y="479036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开通试用​</a:t>
                </a:r>
              </a:p>
            </p:txBody>
          </p:sp>
          <p:sp>
            <p:nvSpPr>
              <p:cNvPr id="272" name="TextBox 272"/>
              <p:cNvSpPr txBox="1"/>
              <p:nvPr/>
            </p:nvSpPr>
            <p:spPr>
              <a:xfrm>
                <a:off x="2724811" y="4657011"/>
                <a:ext cx="417779"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D8-D14​</a:t>
                </a:r>
              </a:p>
            </p:txBody>
          </p:sp>
          <p:sp>
            <p:nvSpPr>
              <p:cNvPr id="273" name="TextBox 273"/>
              <p:cNvSpPr txBox="1"/>
              <p:nvPr/>
            </p:nvSpPr>
            <p:spPr>
              <a:xfrm>
                <a:off x="2710178" y="479036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场景上线​</a:t>
                </a:r>
              </a:p>
            </p:txBody>
          </p:sp>
          <p:sp>
            <p:nvSpPr>
              <p:cNvPr id="274" name="TextBox 274"/>
              <p:cNvSpPr txBox="1"/>
              <p:nvPr/>
            </p:nvSpPr>
            <p:spPr>
              <a:xfrm>
                <a:off x="3724350" y="4657011"/>
                <a:ext cx="476101"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D15-D21​</a:t>
                </a:r>
              </a:p>
            </p:txBody>
          </p:sp>
          <p:sp>
            <p:nvSpPr>
              <p:cNvPr id="275" name="TextBox 275"/>
              <p:cNvSpPr txBox="1"/>
              <p:nvPr/>
            </p:nvSpPr>
            <p:spPr>
              <a:xfrm>
                <a:off x="3738878" y="479036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经营提升​</a:t>
                </a:r>
              </a:p>
            </p:txBody>
          </p:sp>
          <p:sp>
            <p:nvSpPr>
              <p:cNvPr id="276" name="TextBox 276"/>
              <p:cNvSpPr txBox="1"/>
              <p:nvPr/>
            </p:nvSpPr>
            <p:spPr>
              <a:xfrm>
                <a:off x="4753050" y="4657011"/>
                <a:ext cx="476101" cy="140494"/>
              </a:xfrm>
              <a:prstGeom prst="rect">
                <a:avLst/>
              </a:prstGeom>
              <a:noFill/>
              <a:ln>
                <a:noFill/>
              </a:ln>
            </p:spPr>
            <p:txBody>
              <a:bodyPr wrap="none" lIns="0" tIns="0" rIns="0" bIns="0" anchor="t" anchorCtr="0">
                <a:spAutoFit/>
              </a:bodyPr>
              <a:lstStyle/>
              <a:p>
                <a:pPr algn="ctr"/>
                <a:r>
                  <a:rPr lang="en-US" sz="710" b="1" dirty="0">
                    <a:solidFill>
                      <a:srgbClr val="FFFFFF"/>
                    </a:solidFill>
                    <a:latin typeface="+mn-lt"/>
                    <a:ea typeface="+mn-ea"/>
                    <a:cs typeface="+mn-cs"/>
                  </a:rPr>
                  <a:t>D22-D30​</a:t>
                </a:r>
              </a:p>
            </p:txBody>
          </p:sp>
          <p:sp>
            <p:nvSpPr>
              <p:cNvPr id="277" name="TextBox 277"/>
              <p:cNvSpPr txBox="1"/>
              <p:nvPr/>
            </p:nvSpPr>
            <p:spPr>
              <a:xfrm>
                <a:off x="4767578" y="479036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综合经营​</a:t>
                </a:r>
              </a:p>
            </p:txBody>
          </p:sp>
        </p:grpSp>
        <p:grpSp>
          <p:nvGrpSpPr>
            <p:cNvPr id="339" name="journey-bullets"/>
            <p:cNvGrpSpPr/>
            <p:nvPr/>
          </p:nvGrpSpPr>
          <p:grpSpPr>
            <a:xfrm>
              <a:off x="432197" y="5118259"/>
              <a:ext cx="4858463" cy="476250"/>
              <a:chOff x="432197" y="5118259"/>
              <a:chExt cx="4858463" cy="476250"/>
            </a:xfrm>
          </p:grpSpPr>
          <p:grpSp>
            <p:nvGrpSpPr>
              <p:cNvPr id="281" name="Group 281"/>
              <p:cNvGrpSpPr/>
              <p:nvPr/>
            </p:nvGrpSpPr>
            <p:grpSpPr>
              <a:xfrm>
                <a:off x="432197" y="5118497"/>
                <a:ext cx="78581" cy="78581"/>
                <a:chOff x="432197" y="5118497"/>
                <a:chExt cx="78581" cy="78581"/>
              </a:xfrm>
            </p:grpSpPr>
            <p:sp>
              <p:nvSpPr>
                <p:cNvPr id="279" name="Freeform 279"/>
                <p:cNvSpPr/>
                <p:nvPr/>
              </p:nvSpPr>
              <p:spPr>
                <a:xfrm>
                  <a:off x="432197" y="51184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80" name="Freeform 280"/>
                <p:cNvSpPr/>
                <p:nvPr/>
              </p:nvSpPr>
              <p:spPr>
                <a:xfrm>
                  <a:off x="458391" y="51490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82" name="TextBox 282"/>
              <p:cNvSpPr txBox="1"/>
              <p:nvPr/>
            </p:nvSpPr>
            <p:spPr>
              <a:xfrm>
                <a:off x="566738" y="511825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商户画像​</a:t>
                </a:r>
              </a:p>
            </p:txBody>
          </p:sp>
          <p:grpSp>
            <p:nvGrpSpPr>
              <p:cNvPr id="285" name="Group 285"/>
              <p:cNvGrpSpPr/>
              <p:nvPr/>
            </p:nvGrpSpPr>
            <p:grpSpPr>
              <a:xfrm>
                <a:off x="432197" y="5289947"/>
                <a:ext cx="78581" cy="78581"/>
                <a:chOff x="432197" y="5289947"/>
                <a:chExt cx="78581" cy="78581"/>
              </a:xfrm>
            </p:grpSpPr>
            <p:sp>
              <p:nvSpPr>
                <p:cNvPr id="283" name="Freeform 283"/>
                <p:cNvSpPr/>
                <p:nvPr/>
              </p:nvSpPr>
              <p:spPr>
                <a:xfrm>
                  <a:off x="432197" y="52899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84" name="Freeform 284"/>
                <p:cNvSpPr/>
                <p:nvPr/>
              </p:nvSpPr>
              <p:spPr>
                <a:xfrm>
                  <a:off x="458391" y="53205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86" name="TextBox 286"/>
              <p:cNvSpPr txBox="1"/>
              <p:nvPr/>
            </p:nvSpPr>
            <p:spPr>
              <a:xfrm>
                <a:off x="566738" y="528970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需求诊断​</a:t>
                </a:r>
              </a:p>
            </p:txBody>
          </p:sp>
          <p:grpSp>
            <p:nvGrpSpPr>
              <p:cNvPr id="289" name="Group 289"/>
              <p:cNvGrpSpPr/>
              <p:nvPr/>
            </p:nvGrpSpPr>
            <p:grpSpPr>
              <a:xfrm>
                <a:off x="432197" y="5461397"/>
                <a:ext cx="78581" cy="78581"/>
                <a:chOff x="432197" y="5461397"/>
                <a:chExt cx="78581" cy="78581"/>
              </a:xfrm>
            </p:grpSpPr>
            <p:sp>
              <p:nvSpPr>
                <p:cNvPr id="287" name="Freeform 287"/>
                <p:cNvSpPr/>
                <p:nvPr/>
              </p:nvSpPr>
              <p:spPr>
                <a:xfrm>
                  <a:off x="432197" y="54613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88" name="Freeform 288"/>
                <p:cNvSpPr/>
                <p:nvPr/>
              </p:nvSpPr>
              <p:spPr>
                <a:xfrm>
                  <a:off x="458391" y="54919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90" name="TextBox 290"/>
              <p:cNvSpPr txBox="1"/>
              <p:nvPr/>
            </p:nvSpPr>
            <p:spPr>
              <a:xfrm>
                <a:off x="566738" y="546115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方案设计​</a:t>
                </a:r>
              </a:p>
            </p:txBody>
          </p:sp>
          <p:grpSp>
            <p:nvGrpSpPr>
              <p:cNvPr id="293" name="Group 293"/>
              <p:cNvGrpSpPr/>
              <p:nvPr/>
            </p:nvGrpSpPr>
            <p:grpSpPr>
              <a:xfrm>
                <a:off x="1460897" y="5118497"/>
                <a:ext cx="78581" cy="78581"/>
                <a:chOff x="1460897" y="5118497"/>
                <a:chExt cx="78581" cy="78581"/>
              </a:xfrm>
            </p:grpSpPr>
            <p:sp>
              <p:nvSpPr>
                <p:cNvPr id="291" name="Freeform 291"/>
                <p:cNvSpPr/>
                <p:nvPr/>
              </p:nvSpPr>
              <p:spPr>
                <a:xfrm>
                  <a:off x="1460897" y="51184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92" name="Freeform 292"/>
                <p:cNvSpPr/>
                <p:nvPr/>
              </p:nvSpPr>
              <p:spPr>
                <a:xfrm>
                  <a:off x="1487091" y="51490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94" name="TextBox 294"/>
              <p:cNvSpPr txBox="1"/>
              <p:nvPr/>
            </p:nvSpPr>
            <p:spPr>
              <a:xfrm>
                <a:off x="1595438" y="511825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资料收集​</a:t>
                </a:r>
              </a:p>
            </p:txBody>
          </p:sp>
          <p:grpSp>
            <p:nvGrpSpPr>
              <p:cNvPr id="297" name="Group 297"/>
              <p:cNvGrpSpPr/>
              <p:nvPr/>
            </p:nvGrpSpPr>
            <p:grpSpPr>
              <a:xfrm>
                <a:off x="1460897" y="5289947"/>
                <a:ext cx="78581" cy="78581"/>
                <a:chOff x="1460897" y="5289947"/>
                <a:chExt cx="78581" cy="78581"/>
              </a:xfrm>
            </p:grpSpPr>
            <p:sp>
              <p:nvSpPr>
                <p:cNvPr id="295" name="Freeform 295"/>
                <p:cNvSpPr/>
                <p:nvPr/>
              </p:nvSpPr>
              <p:spPr>
                <a:xfrm>
                  <a:off x="1460897" y="52899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96" name="Freeform 296"/>
                <p:cNvSpPr/>
                <p:nvPr/>
              </p:nvSpPr>
              <p:spPr>
                <a:xfrm>
                  <a:off x="1487091" y="53205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98" name="TextBox 298"/>
              <p:cNvSpPr txBox="1"/>
              <p:nvPr/>
            </p:nvSpPr>
            <p:spPr>
              <a:xfrm>
                <a:off x="1595438" y="528970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系统开通​</a:t>
                </a:r>
              </a:p>
            </p:txBody>
          </p:sp>
          <p:grpSp>
            <p:nvGrpSpPr>
              <p:cNvPr id="301" name="Group 301"/>
              <p:cNvGrpSpPr/>
              <p:nvPr/>
            </p:nvGrpSpPr>
            <p:grpSpPr>
              <a:xfrm>
                <a:off x="1460897" y="5461397"/>
                <a:ext cx="78581" cy="78581"/>
                <a:chOff x="1460897" y="5461397"/>
                <a:chExt cx="78581" cy="78581"/>
              </a:xfrm>
            </p:grpSpPr>
            <p:sp>
              <p:nvSpPr>
                <p:cNvPr id="299" name="Freeform 299"/>
                <p:cNvSpPr/>
                <p:nvPr/>
              </p:nvSpPr>
              <p:spPr>
                <a:xfrm>
                  <a:off x="1460897" y="54613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00" name="Freeform 300"/>
                <p:cNvSpPr/>
                <p:nvPr/>
              </p:nvSpPr>
              <p:spPr>
                <a:xfrm>
                  <a:off x="1487091" y="54919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02" name="TextBox 302"/>
              <p:cNvSpPr txBox="1"/>
              <p:nvPr/>
            </p:nvSpPr>
            <p:spPr>
              <a:xfrm>
                <a:off x="1595438" y="546115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设备布设​</a:t>
                </a:r>
              </a:p>
            </p:txBody>
          </p:sp>
          <p:grpSp>
            <p:nvGrpSpPr>
              <p:cNvPr id="305" name="Group 305"/>
              <p:cNvGrpSpPr/>
              <p:nvPr/>
            </p:nvGrpSpPr>
            <p:grpSpPr>
              <a:xfrm>
                <a:off x="2489597" y="5118497"/>
                <a:ext cx="78581" cy="78581"/>
                <a:chOff x="2489597" y="5118497"/>
                <a:chExt cx="78581" cy="78581"/>
              </a:xfrm>
            </p:grpSpPr>
            <p:sp>
              <p:nvSpPr>
                <p:cNvPr id="303" name="Freeform 303"/>
                <p:cNvSpPr/>
                <p:nvPr/>
              </p:nvSpPr>
              <p:spPr>
                <a:xfrm>
                  <a:off x="2489597" y="51184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04" name="Freeform 304"/>
                <p:cNvSpPr/>
                <p:nvPr/>
              </p:nvSpPr>
              <p:spPr>
                <a:xfrm>
                  <a:off x="2515791" y="51490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06" name="TextBox 306"/>
              <p:cNvSpPr txBox="1"/>
              <p:nvPr/>
            </p:nvSpPr>
            <p:spPr>
              <a:xfrm>
                <a:off x="2624138" y="511825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扫码收单​</a:t>
                </a:r>
              </a:p>
            </p:txBody>
          </p:sp>
          <p:grpSp>
            <p:nvGrpSpPr>
              <p:cNvPr id="309" name="Group 309"/>
              <p:cNvGrpSpPr/>
              <p:nvPr/>
            </p:nvGrpSpPr>
            <p:grpSpPr>
              <a:xfrm>
                <a:off x="2489597" y="5289947"/>
                <a:ext cx="78581" cy="78581"/>
                <a:chOff x="2489597" y="5289947"/>
                <a:chExt cx="78581" cy="78581"/>
              </a:xfrm>
            </p:grpSpPr>
            <p:sp>
              <p:nvSpPr>
                <p:cNvPr id="307" name="Freeform 307"/>
                <p:cNvSpPr/>
                <p:nvPr/>
              </p:nvSpPr>
              <p:spPr>
                <a:xfrm>
                  <a:off x="2489597" y="52899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08" name="Freeform 308"/>
                <p:cNvSpPr/>
                <p:nvPr/>
              </p:nvSpPr>
              <p:spPr>
                <a:xfrm>
                  <a:off x="2515791" y="53205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10" name="TextBox 310"/>
              <p:cNvSpPr txBox="1"/>
              <p:nvPr/>
            </p:nvSpPr>
            <p:spPr>
              <a:xfrm>
                <a:off x="2624138" y="528970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员工培训​</a:t>
                </a:r>
              </a:p>
            </p:txBody>
          </p:sp>
          <p:grpSp>
            <p:nvGrpSpPr>
              <p:cNvPr id="313" name="Group 313"/>
              <p:cNvGrpSpPr/>
              <p:nvPr/>
            </p:nvGrpSpPr>
            <p:grpSpPr>
              <a:xfrm>
                <a:off x="2489597" y="5461397"/>
                <a:ext cx="78581" cy="78581"/>
                <a:chOff x="2489597" y="5461397"/>
                <a:chExt cx="78581" cy="78581"/>
              </a:xfrm>
            </p:grpSpPr>
            <p:sp>
              <p:nvSpPr>
                <p:cNvPr id="311" name="Freeform 311"/>
                <p:cNvSpPr/>
                <p:nvPr/>
              </p:nvSpPr>
              <p:spPr>
                <a:xfrm>
                  <a:off x="2489597" y="54613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12" name="Freeform 312"/>
                <p:cNvSpPr/>
                <p:nvPr/>
              </p:nvSpPr>
              <p:spPr>
                <a:xfrm>
                  <a:off x="2515791" y="54919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14" name="TextBox 314"/>
              <p:cNvSpPr txBox="1"/>
              <p:nvPr/>
            </p:nvSpPr>
            <p:spPr>
              <a:xfrm>
                <a:off x="2624138" y="546115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经营报表​</a:t>
                </a:r>
              </a:p>
            </p:txBody>
          </p:sp>
          <p:grpSp>
            <p:nvGrpSpPr>
              <p:cNvPr id="317" name="Group 317"/>
              <p:cNvGrpSpPr/>
              <p:nvPr/>
            </p:nvGrpSpPr>
            <p:grpSpPr>
              <a:xfrm>
                <a:off x="3518297" y="5118497"/>
                <a:ext cx="78581" cy="78581"/>
                <a:chOff x="3518297" y="5118497"/>
                <a:chExt cx="78581" cy="78581"/>
              </a:xfrm>
            </p:grpSpPr>
            <p:sp>
              <p:nvSpPr>
                <p:cNvPr id="315" name="Freeform 315"/>
                <p:cNvSpPr/>
                <p:nvPr/>
              </p:nvSpPr>
              <p:spPr>
                <a:xfrm>
                  <a:off x="3518297" y="51184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16" name="Freeform 316"/>
                <p:cNvSpPr/>
                <p:nvPr/>
              </p:nvSpPr>
              <p:spPr>
                <a:xfrm>
                  <a:off x="3544491" y="51490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18" name="TextBox 318"/>
              <p:cNvSpPr txBox="1"/>
              <p:nvPr/>
            </p:nvSpPr>
            <p:spPr>
              <a:xfrm>
                <a:off x="3652838" y="511825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交易分析​</a:t>
                </a:r>
              </a:p>
            </p:txBody>
          </p:sp>
          <p:grpSp>
            <p:nvGrpSpPr>
              <p:cNvPr id="321" name="Group 321"/>
              <p:cNvGrpSpPr/>
              <p:nvPr/>
            </p:nvGrpSpPr>
            <p:grpSpPr>
              <a:xfrm>
                <a:off x="3518297" y="5289947"/>
                <a:ext cx="78581" cy="78581"/>
                <a:chOff x="3518297" y="5289947"/>
                <a:chExt cx="78581" cy="78581"/>
              </a:xfrm>
            </p:grpSpPr>
            <p:sp>
              <p:nvSpPr>
                <p:cNvPr id="319" name="Freeform 319"/>
                <p:cNvSpPr/>
                <p:nvPr/>
              </p:nvSpPr>
              <p:spPr>
                <a:xfrm>
                  <a:off x="3518297" y="52899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20" name="Freeform 320"/>
                <p:cNvSpPr/>
                <p:nvPr/>
              </p:nvSpPr>
              <p:spPr>
                <a:xfrm>
                  <a:off x="3544491" y="53205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22" name="TextBox 322"/>
              <p:cNvSpPr txBox="1"/>
              <p:nvPr/>
            </p:nvSpPr>
            <p:spPr>
              <a:xfrm>
                <a:off x="3652838" y="528970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优化建议​</a:t>
                </a:r>
              </a:p>
            </p:txBody>
          </p:sp>
          <p:grpSp>
            <p:nvGrpSpPr>
              <p:cNvPr id="325" name="Group 325"/>
              <p:cNvGrpSpPr/>
              <p:nvPr/>
            </p:nvGrpSpPr>
            <p:grpSpPr>
              <a:xfrm>
                <a:off x="3518297" y="5461397"/>
                <a:ext cx="78581" cy="78581"/>
                <a:chOff x="3518297" y="5461397"/>
                <a:chExt cx="78581" cy="78581"/>
              </a:xfrm>
            </p:grpSpPr>
            <p:sp>
              <p:nvSpPr>
                <p:cNvPr id="323" name="Freeform 323"/>
                <p:cNvSpPr/>
                <p:nvPr/>
              </p:nvSpPr>
              <p:spPr>
                <a:xfrm>
                  <a:off x="3518297" y="54613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24" name="Freeform 324"/>
                <p:cNvSpPr/>
                <p:nvPr/>
              </p:nvSpPr>
              <p:spPr>
                <a:xfrm>
                  <a:off x="3544491" y="54919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26" name="TextBox 326"/>
              <p:cNvSpPr txBox="1"/>
              <p:nvPr/>
            </p:nvSpPr>
            <p:spPr>
              <a:xfrm>
                <a:off x="3652838" y="546115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增值服务导入​</a:t>
                </a:r>
              </a:p>
            </p:txBody>
          </p:sp>
          <p:grpSp>
            <p:nvGrpSpPr>
              <p:cNvPr id="329" name="Group 329"/>
              <p:cNvGrpSpPr/>
              <p:nvPr/>
            </p:nvGrpSpPr>
            <p:grpSpPr>
              <a:xfrm>
                <a:off x="4546997" y="5118497"/>
                <a:ext cx="78581" cy="78581"/>
                <a:chOff x="4546997" y="5118497"/>
                <a:chExt cx="78581" cy="78581"/>
              </a:xfrm>
            </p:grpSpPr>
            <p:sp>
              <p:nvSpPr>
                <p:cNvPr id="327" name="Freeform 327"/>
                <p:cNvSpPr/>
                <p:nvPr/>
              </p:nvSpPr>
              <p:spPr>
                <a:xfrm>
                  <a:off x="4546997" y="51184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28" name="Freeform 328"/>
                <p:cNvSpPr/>
                <p:nvPr/>
              </p:nvSpPr>
              <p:spPr>
                <a:xfrm>
                  <a:off x="4573191" y="51490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30" name="TextBox 330"/>
              <p:cNvSpPr txBox="1"/>
              <p:nvPr/>
            </p:nvSpPr>
            <p:spPr>
              <a:xfrm>
                <a:off x="4681538" y="5118259"/>
                <a:ext cx="42603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正式激活​</a:t>
                </a:r>
              </a:p>
            </p:txBody>
          </p:sp>
          <p:grpSp>
            <p:nvGrpSpPr>
              <p:cNvPr id="333" name="Group 333"/>
              <p:cNvGrpSpPr/>
              <p:nvPr/>
            </p:nvGrpSpPr>
            <p:grpSpPr>
              <a:xfrm>
                <a:off x="4546997" y="5289947"/>
                <a:ext cx="78581" cy="78581"/>
                <a:chOff x="4546997" y="5289947"/>
                <a:chExt cx="78581" cy="78581"/>
              </a:xfrm>
            </p:grpSpPr>
            <p:sp>
              <p:nvSpPr>
                <p:cNvPr id="331" name="Freeform 331"/>
                <p:cNvSpPr/>
                <p:nvPr/>
              </p:nvSpPr>
              <p:spPr>
                <a:xfrm>
                  <a:off x="4546997" y="52899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32" name="Freeform 332"/>
                <p:cNvSpPr/>
                <p:nvPr/>
              </p:nvSpPr>
              <p:spPr>
                <a:xfrm>
                  <a:off x="4573191" y="53205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34" name="TextBox 334"/>
              <p:cNvSpPr txBox="1"/>
              <p:nvPr/>
            </p:nvSpPr>
            <p:spPr>
              <a:xfrm>
                <a:off x="4681538" y="528970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融资需求对接​</a:t>
                </a:r>
              </a:p>
            </p:txBody>
          </p:sp>
          <p:grpSp>
            <p:nvGrpSpPr>
              <p:cNvPr id="337" name="Group 337"/>
              <p:cNvGrpSpPr/>
              <p:nvPr/>
            </p:nvGrpSpPr>
            <p:grpSpPr>
              <a:xfrm>
                <a:off x="4546997" y="5461397"/>
                <a:ext cx="78581" cy="78581"/>
                <a:chOff x="4546997" y="5461397"/>
                <a:chExt cx="78581" cy="78581"/>
              </a:xfrm>
            </p:grpSpPr>
            <p:sp>
              <p:nvSpPr>
                <p:cNvPr id="335" name="Freeform 335"/>
                <p:cNvSpPr/>
                <p:nvPr/>
              </p:nvSpPr>
              <p:spPr>
                <a:xfrm>
                  <a:off x="4546997" y="54613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36" name="Freeform 336"/>
                <p:cNvSpPr/>
                <p:nvPr/>
              </p:nvSpPr>
              <p:spPr>
                <a:xfrm>
                  <a:off x="4573191" y="54919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38" name="TextBox 338"/>
              <p:cNvSpPr txBox="1"/>
              <p:nvPr/>
            </p:nvSpPr>
            <p:spPr>
              <a:xfrm>
                <a:off x="4681538" y="5461159"/>
                <a:ext cx="6091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财富服务推荐​</a:t>
                </a:r>
              </a:p>
            </p:txBody>
          </p:sp>
        </p:grpSp>
        <p:sp>
          <p:nvSpPr>
            <p:cNvPr id="340" name="Rectangle 340"/>
            <p:cNvSpPr/>
            <p:nvPr/>
          </p:nvSpPr>
          <p:spPr>
            <a:xfrm>
              <a:off x="5562600" y="4572000"/>
              <a:ext cx="990600" cy="1143000"/>
            </a:xfrm>
            <a:prstGeom prst="roundRect">
              <a:avLst>
                <a:gd name="adj" fmla="val 7692"/>
              </a:avLst>
            </a:prstGeom>
            <a:solidFill>
              <a:srgbClr val="E9F4F0"/>
            </a:solidFill>
            <a:ln>
              <a:noFill/>
            </a:ln>
          </p:spPr>
        </p:sp>
        <p:sp>
          <p:nvSpPr>
            <p:cNvPr id="341" name="TextBox 341"/>
            <p:cNvSpPr txBox="1"/>
            <p:nvPr/>
          </p:nvSpPr>
          <p:spPr>
            <a:xfrm>
              <a:off x="5801910" y="4698682"/>
              <a:ext cx="511980" cy="322707"/>
            </a:xfrm>
            <a:prstGeom prst="rect">
              <a:avLst/>
            </a:prstGeom>
            <a:noFill/>
            <a:ln>
              <a:noFill/>
            </a:ln>
          </p:spPr>
          <p:txBody>
            <a:bodyPr wrap="none" lIns="0" tIns="0" rIns="0" bIns="0" anchor="t" anchorCtr="0">
              <a:spAutoFit/>
            </a:bodyPr>
            <a:lstStyle/>
            <a:p>
              <a:pPr algn="ctr"/>
              <a:r>
                <a:rPr lang="zh-CN" sz="1650" b="1" dirty="0">
                  <a:solidFill>
                    <a:srgbClr val="5B180B"/>
                  </a:solidFill>
                  <a:latin typeface="+mn-lt"/>
                  <a:ea typeface="+mn-ea"/>
                  <a:cs typeface="+mn-cs"/>
                </a:rPr>
                <a:t>30</a:t>
              </a:r>
              <a:r>
                <a:rPr lang="zh-CN" sz="820" b="1" dirty="0">
                  <a:solidFill>
                    <a:srgbClr val="5B180B"/>
                  </a:solidFill>
                  <a:latin typeface="+mn-lt"/>
                  <a:ea typeface="+mn-ea"/>
                  <a:cs typeface="+mn-cs"/>
                </a:rPr>
                <a:t>天</a:t>
              </a:r>
              <a:r>
                <a:rPr lang="zh-CN" sz="1650" b="1" dirty="0">
                  <a:solidFill>
                    <a:srgbClr val="5B180B"/>
                  </a:solidFill>
                  <a:latin typeface="+mn-lt"/>
                  <a:ea typeface="+mn-ea"/>
                  <a:cs typeface="+mn-cs"/>
                </a:rPr>
                <a:t>​</a:t>
              </a:r>
            </a:p>
          </p:txBody>
        </p:sp>
        <p:sp>
          <p:nvSpPr>
            <p:cNvPr id="342" name="TextBox 342"/>
            <p:cNvSpPr txBox="1"/>
            <p:nvPr/>
          </p:nvSpPr>
          <p:spPr>
            <a:xfrm>
              <a:off x="5753339" y="4975384"/>
              <a:ext cx="609122" cy="133350"/>
            </a:xfrm>
            <a:prstGeom prst="rect">
              <a:avLst/>
            </a:prstGeom>
            <a:noFill/>
            <a:ln>
              <a:noFill/>
            </a:ln>
          </p:spPr>
          <p:txBody>
            <a:bodyPr wrap="none" lIns="0" tIns="0" rIns="0" bIns="0" anchor="t" anchorCtr="0">
              <a:spAutoFit/>
            </a:bodyPr>
            <a:lstStyle/>
            <a:p>
              <a:pPr algn="ctr"/>
              <a:r>
                <a:rPr lang="zh-CN" sz="680" dirty="0">
                  <a:solidFill>
                    <a:srgbClr val="4A3D3A"/>
                  </a:solidFill>
                  <a:latin typeface="+mn-lt"/>
                  <a:ea typeface="+mn-ea"/>
                  <a:cs typeface="+mn-cs"/>
                </a:rPr>
                <a:t>从试用到激活​</a:t>
              </a:r>
            </a:p>
          </p:txBody>
        </p:sp>
        <p:grpSp>
          <p:nvGrpSpPr>
            <p:cNvPr id="345" name="Group 345"/>
            <p:cNvGrpSpPr/>
            <p:nvPr/>
          </p:nvGrpSpPr>
          <p:grpSpPr>
            <a:xfrm>
              <a:off x="5957888" y="5202238"/>
              <a:ext cx="200026" cy="111125"/>
              <a:chOff x="5957888" y="5202238"/>
              <a:chExt cx="200026" cy="111125"/>
            </a:xfrm>
          </p:grpSpPr>
          <p:sp>
            <p:nvSpPr>
              <p:cNvPr id="343" name="Freeform 343"/>
              <p:cNvSpPr/>
              <p:nvPr/>
            </p:nvSpPr>
            <p:spPr>
              <a:xfrm>
                <a:off x="5957888" y="52022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C9988F"/>
                </a:solidFill>
              </a:ln>
            </p:spPr>
          </p:sp>
          <p:sp>
            <p:nvSpPr>
              <p:cNvPr id="344" name="Freeform 344"/>
              <p:cNvSpPr/>
              <p:nvPr/>
            </p:nvSpPr>
            <p:spPr>
              <a:xfrm>
                <a:off x="6080125" y="5202238"/>
                <a:ext cx="77788" cy="77788"/>
              </a:xfrm>
              <a:custGeom>
                <a:avLst/>
                <a:gdLst/>
                <a:ahLst/>
                <a:cxnLst/>
                <a:rect l="l" t="t" r="r" b="b"/>
                <a:pathLst>
                  <a:path w="77788" h="77788">
                    <a:moveTo>
                      <a:pt x="0" y="0"/>
                    </a:moveTo>
                    <a:lnTo>
                      <a:pt x="77788" y="0"/>
                    </a:lnTo>
                    <a:lnTo>
                      <a:pt x="77788" y="77788"/>
                    </a:lnTo>
                  </a:path>
                </a:pathLst>
              </a:custGeom>
              <a:noFill/>
              <a:ln w="22225">
                <a:solidFill>
                  <a:srgbClr val="C9988F"/>
                </a:solidFill>
              </a:ln>
            </p:spPr>
          </p:sp>
        </p:grpSp>
        <p:sp>
          <p:nvSpPr>
            <p:cNvPr id="346" name="TextBox 346"/>
            <p:cNvSpPr txBox="1"/>
            <p:nvPr/>
          </p:nvSpPr>
          <p:spPr>
            <a:xfrm>
              <a:off x="5770974" y="5455682"/>
              <a:ext cx="573852" cy="126206"/>
            </a:xfrm>
            <a:prstGeom prst="rect">
              <a:avLst/>
            </a:prstGeom>
            <a:noFill/>
            <a:ln>
              <a:noFill/>
            </a:ln>
          </p:spPr>
          <p:txBody>
            <a:bodyPr wrap="none" lIns="0" tIns="0" rIns="0" bIns="0" anchor="t" anchorCtr="0">
              <a:spAutoFit/>
            </a:bodyPr>
            <a:lstStyle/>
            <a:p>
              <a:pPr algn="ctr"/>
              <a:r>
                <a:rPr lang="zh-CN" sz="640" dirty="0">
                  <a:solidFill>
                    <a:srgbClr val="5B180B"/>
                  </a:solidFill>
                  <a:latin typeface="+mn-lt"/>
                  <a:ea typeface="+mn-ea"/>
                  <a:cs typeface="+mn-cs"/>
                </a:rPr>
                <a:t>让每一个商户​</a:t>
              </a:r>
            </a:p>
          </p:txBody>
        </p:sp>
        <p:sp>
          <p:nvSpPr>
            <p:cNvPr id="347" name="TextBox 347"/>
            <p:cNvSpPr txBox="1"/>
            <p:nvPr/>
          </p:nvSpPr>
          <p:spPr>
            <a:xfrm>
              <a:off x="5770974" y="5569982"/>
              <a:ext cx="573852" cy="126206"/>
            </a:xfrm>
            <a:prstGeom prst="rect">
              <a:avLst/>
            </a:prstGeom>
            <a:noFill/>
            <a:ln>
              <a:noFill/>
            </a:ln>
          </p:spPr>
          <p:txBody>
            <a:bodyPr wrap="none" lIns="0" tIns="0" rIns="0" bIns="0" anchor="t" anchorCtr="0">
              <a:spAutoFit/>
            </a:bodyPr>
            <a:lstStyle/>
            <a:p>
              <a:pPr algn="ctr"/>
              <a:r>
                <a:rPr lang="zh-CN" sz="640" dirty="0">
                  <a:solidFill>
                    <a:srgbClr val="5B180B"/>
                  </a:solidFill>
                  <a:latin typeface="+mn-lt"/>
                  <a:ea typeface="+mn-ea"/>
                  <a:cs typeface="+mn-cs"/>
                </a:rPr>
                <a:t>成为长期客户​</a:t>
              </a:r>
            </a:p>
          </p:txBody>
        </p:sp>
      </p:grpSp>
      <p:grpSp>
        <p:nvGrpSpPr>
          <p:cNvPr id="398" name="action-card"/>
          <p:cNvGrpSpPr/>
          <p:nvPr/>
        </p:nvGrpSpPr>
        <p:grpSpPr>
          <a:xfrm>
            <a:off x="6781800" y="4229100"/>
            <a:ext cx="5181600" cy="2552700"/>
            <a:chOff x="6781800" y="4229100"/>
            <a:chExt cx="5181600" cy="2552700"/>
          </a:xfrm>
        </p:grpSpPr>
        <p:sp>
          <p:nvSpPr>
            <p:cNvPr id="349" name="Rectangle 349"/>
            <p:cNvSpPr/>
            <p:nvPr/>
          </p:nvSpPr>
          <p:spPr>
            <a:xfrm>
              <a:off x="6781800" y="4229100"/>
              <a:ext cx="5181600" cy="2552700"/>
            </a:xfrm>
            <a:prstGeom prst="roundRect">
              <a:avLst>
                <a:gd name="adj" fmla="val 3731"/>
              </a:avLst>
            </a:prstGeom>
            <a:solidFill>
              <a:srgbClr val="F5FAF8"/>
            </a:solidFill>
            <a:ln w="9525">
              <a:solidFill>
                <a:srgbClr val="D9E8E2"/>
              </a:solidFill>
            </a:ln>
          </p:spPr>
        </p:sp>
        <p:sp>
          <p:nvSpPr>
            <p:cNvPr id="350" name="Rectangle 350"/>
            <p:cNvSpPr/>
            <p:nvPr/>
          </p:nvSpPr>
          <p:spPr>
            <a:xfrm>
              <a:off x="6896100" y="4324350"/>
              <a:ext cx="47625" cy="152400"/>
            </a:xfrm>
            <a:prstGeom prst="rect">
              <a:avLst/>
            </a:prstGeom>
            <a:solidFill>
              <a:srgbClr val="5B180B"/>
            </a:solidFill>
            <a:ln>
              <a:noFill/>
            </a:ln>
          </p:spPr>
        </p:sp>
        <p:sp>
          <p:nvSpPr>
            <p:cNvPr id="351" name="TextBox 351"/>
            <p:cNvSpPr txBox="1"/>
            <p:nvPr/>
          </p:nvSpPr>
          <p:spPr>
            <a:xfrm>
              <a:off x="7005638" y="4346972"/>
              <a:ext cx="1094946"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客户经理行动清单​</a:t>
              </a:r>
            </a:p>
          </p:txBody>
        </p:sp>
        <p:sp>
          <p:nvSpPr>
            <p:cNvPr id="352" name="TextBox 352"/>
            <p:cNvSpPr txBox="1"/>
            <p:nvPr/>
          </p:nvSpPr>
          <p:spPr>
            <a:xfrm>
              <a:off x="10332286" y="4379357"/>
              <a:ext cx="1521577" cy="126206"/>
            </a:xfrm>
            <a:prstGeom prst="rect">
              <a:avLst/>
            </a:prstGeom>
            <a:noFill/>
            <a:ln>
              <a:noFill/>
            </a:ln>
          </p:spPr>
          <p:txBody>
            <a:bodyPr wrap="none" lIns="0" tIns="0" rIns="0" bIns="0" anchor="t" anchorCtr="0">
              <a:spAutoFit/>
            </a:bodyPr>
            <a:lstStyle/>
            <a:p>
              <a:pPr algn="r"/>
              <a:r>
                <a:rPr lang="zh-CN" sz="640" dirty="0">
                  <a:solidFill>
                    <a:srgbClr val="8AA39C"/>
                  </a:solidFill>
                  <a:latin typeface="+mn-lt"/>
                  <a:ea typeface="+mn-ea"/>
                  <a:cs typeface="+mn-cs"/>
                </a:rPr>
                <a:t>每日有动作、每周有进展、每月有结果​</a:t>
              </a:r>
            </a:p>
          </p:txBody>
        </p:sp>
        <p:grpSp>
          <p:nvGrpSpPr>
            <p:cNvPr id="359" name="Group 359"/>
            <p:cNvGrpSpPr/>
            <p:nvPr/>
          </p:nvGrpSpPr>
          <p:grpSpPr>
            <a:xfrm>
              <a:off x="6896100" y="4572000"/>
              <a:ext cx="4953000" cy="247650"/>
              <a:chOff x="6896100" y="4572000"/>
              <a:chExt cx="4953000" cy="247650"/>
            </a:xfrm>
          </p:grpSpPr>
          <p:sp>
            <p:nvSpPr>
              <p:cNvPr id="353" name="Rectangle 353"/>
              <p:cNvSpPr/>
              <p:nvPr/>
            </p:nvSpPr>
            <p:spPr>
              <a:xfrm>
                <a:off x="6896100" y="4572000"/>
                <a:ext cx="4953000" cy="247650"/>
              </a:xfrm>
              <a:prstGeom prst="rect">
                <a:avLst/>
              </a:prstGeom>
              <a:solidFill>
                <a:srgbClr val="5B180B"/>
              </a:solidFill>
              <a:ln>
                <a:noFill/>
              </a:ln>
            </p:spPr>
          </p:sp>
          <p:sp>
            <p:nvSpPr>
              <p:cNvPr id="354" name="TextBox 354"/>
              <p:cNvSpPr txBox="1"/>
              <p:nvPr/>
            </p:nvSpPr>
            <p:spPr>
              <a:xfrm>
                <a:off x="7111059" y="4657011"/>
                <a:ext cx="25588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维度​</a:t>
                </a:r>
              </a:p>
            </p:txBody>
          </p:sp>
          <p:sp>
            <p:nvSpPr>
              <p:cNvPr id="355" name="TextBox 355"/>
              <p:cNvSpPr txBox="1"/>
              <p:nvPr/>
            </p:nvSpPr>
            <p:spPr>
              <a:xfrm>
                <a:off x="8158478" y="46570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关键动作​</a:t>
                </a:r>
              </a:p>
            </p:txBody>
          </p:sp>
          <p:sp>
            <p:nvSpPr>
              <p:cNvPr id="356" name="TextBox 356"/>
              <p:cNvSpPr txBox="1"/>
              <p:nvPr/>
            </p:nvSpPr>
            <p:spPr>
              <a:xfrm>
                <a:off x="9301478" y="46570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频次要求​</a:t>
                </a:r>
              </a:p>
            </p:txBody>
          </p:sp>
          <p:sp>
            <p:nvSpPr>
              <p:cNvPr id="357" name="TextBox 357"/>
              <p:cNvSpPr txBox="1"/>
              <p:nvPr/>
            </p:nvSpPr>
            <p:spPr>
              <a:xfrm>
                <a:off x="10330178" y="46570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目标标准​</a:t>
                </a:r>
              </a:p>
            </p:txBody>
          </p:sp>
          <p:sp>
            <p:nvSpPr>
              <p:cNvPr id="358" name="TextBox 358"/>
              <p:cNvSpPr txBox="1"/>
              <p:nvPr/>
            </p:nvSpPr>
            <p:spPr>
              <a:xfrm>
                <a:off x="11358878" y="46570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完成情况​</a:t>
                </a:r>
              </a:p>
            </p:txBody>
          </p:sp>
        </p:grpSp>
        <p:grpSp>
          <p:nvGrpSpPr>
            <p:cNvPr id="396" name="action-rows"/>
            <p:cNvGrpSpPr/>
            <p:nvPr/>
          </p:nvGrpSpPr>
          <p:grpSpPr>
            <a:xfrm>
              <a:off x="6896100" y="4819650"/>
              <a:ext cx="4953000" cy="1714500"/>
              <a:chOff x="6896100" y="4819650"/>
              <a:chExt cx="4953000" cy="1714500"/>
            </a:xfrm>
          </p:grpSpPr>
          <p:sp>
            <p:nvSpPr>
              <p:cNvPr id="360" name="Rectangle 360"/>
              <p:cNvSpPr/>
              <p:nvPr/>
            </p:nvSpPr>
            <p:spPr>
              <a:xfrm>
                <a:off x="6896100" y="4819650"/>
                <a:ext cx="4953000" cy="285750"/>
              </a:xfrm>
              <a:prstGeom prst="rect">
                <a:avLst/>
              </a:prstGeom>
              <a:solidFill>
                <a:srgbClr val="FFFFFF"/>
              </a:solidFill>
              <a:ln w="7620">
                <a:solidFill>
                  <a:srgbClr val="D9E8E2"/>
                </a:solidFill>
              </a:ln>
            </p:spPr>
          </p:sp>
          <p:sp>
            <p:nvSpPr>
              <p:cNvPr id="361" name="TextBox 361"/>
              <p:cNvSpPr txBox="1"/>
              <p:nvPr/>
            </p:nvSpPr>
            <p:spPr>
              <a:xfrm>
                <a:off x="7015478" y="4923711"/>
                <a:ext cx="44704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商户拓展​</a:t>
                </a:r>
              </a:p>
            </p:txBody>
          </p:sp>
          <p:sp>
            <p:nvSpPr>
              <p:cNvPr id="362" name="TextBox 362"/>
              <p:cNvSpPr txBox="1"/>
              <p:nvPr/>
            </p:nvSpPr>
            <p:spPr>
              <a:xfrm>
                <a:off x="7920842" y="4923711"/>
                <a:ext cx="922316"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扫街走访、更新名单​</a:t>
                </a:r>
              </a:p>
            </p:txBody>
          </p:sp>
          <p:sp>
            <p:nvSpPr>
              <p:cNvPr id="363" name="TextBox 363"/>
              <p:cNvSpPr txBox="1"/>
              <p:nvPr/>
            </p:nvSpPr>
            <p:spPr>
              <a:xfrm>
                <a:off x="9398373" y="4923711"/>
                <a:ext cx="253255"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每日​</a:t>
                </a:r>
              </a:p>
            </p:txBody>
          </p:sp>
          <p:sp>
            <p:nvSpPr>
              <p:cNvPr id="364" name="TextBox 364"/>
              <p:cNvSpPr txBox="1"/>
              <p:nvPr/>
            </p:nvSpPr>
            <p:spPr>
              <a:xfrm>
                <a:off x="10066257" y="4923711"/>
                <a:ext cx="974885"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新增有效名单 ≥ 15 户​</a:t>
                </a:r>
              </a:p>
            </p:txBody>
          </p:sp>
          <p:sp>
            <p:nvSpPr>
              <p:cNvPr id="365" name="Rectangle 365"/>
              <p:cNvSpPr/>
              <p:nvPr/>
            </p:nvSpPr>
            <p:spPr>
              <a:xfrm>
                <a:off x="11525250" y="4895850"/>
                <a:ext cx="114300" cy="114300"/>
              </a:xfrm>
              <a:prstGeom prst="rect">
                <a:avLst/>
              </a:prstGeom>
              <a:solidFill>
                <a:srgbClr val="FFFFFF"/>
              </a:solidFill>
              <a:ln w="9525">
                <a:solidFill>
                  <a:srgbClr val="8AA39C"/>
                </a:solidFill>
              </a:ln>
            </p:spPr>
          </p:sp>
          <p:sp>
            <p:nvSpPr>
              <p:cNvPr id="366" name="Rectangle 366"/>
              <p:cNvSpPr/>
              <p:nvPr/>
            </p:nvSpPr>
            <p:spPr>
              <a:xfrm>
                <a:off x="6896100" y="5105400"/>
                <a:ext cx="4953000" cy="285750"/>
              </a:xfrm>
              <a:prstGeom prst="rect">
                <a:avLst/>
              </a:prstGeom>
              <a:solidFill>
                <a:srgbClr val="F7FBF9"/>
              </a:solidFill>
              <a:ln w="7620">
                <a:solidFill>
                  <a:srgbClr val="D9E8E2"/>
                </a:solidFill>
              </a:ln>
            </p:spPr>
          </p:sp>
          <p:sp>
            <p:nvSpPr>
              <p:cNvPr id="367" name="TextBox 367"/>
              <p:cNvSpPr txBox="1"/>
              <p:nvPr/>
            </p:nvSpPr>
            <p:spPr>
              <a:xfrm>
                <a:off x="7015478" y="5209461"/>
                <a:ext cx="44704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上门拜访​</a:t>
                </a:r>
              </a:p>
            </p:txBody>
          </p:sp>
          <p:sp>
            <p:nvSpPr>
              <p:cNvPr id="368" name="TextBox 368"/>
              <p:cNvSpPr txBox="1"/>
              <p:nvPr/>
            </p:nvSpPr>
            <p:spPr>
              <a:xfrm>
                <a:off x="7873052" y="5209461"/>
                <a:ext cx="1017896"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面对面沟通、需求诊断​</a:t>
                </a:r>
              </a:p>
            </p:txBody>
          </p:sp>
          <p:sp>
            <p:nvSpPr>
              <p:cNvPr id="369" name="TextBox 369"/>
              <p:cNvSpPr txBox="1"/>
              <p:nvPr/>
            </p:nvSpPr>
            <p:spPr>
              <a:xfrm>
                <a:off x="9398373" y="5209461"/>
                <a:ext cx="253255"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每日​</a:t>
                </a:r>
              </a:p>
            </p:txBody>
          </p:sp>
          <p:sp>
            <p:nvSpPr>
              <p:cNvPr id="370" name="TextBox 370"/>
              <p:cNvSpPr txBox="1"/>
              <p:nvPr/>
            </p:nvSpPr>
            <p:spPr>
              <a:xfrm>
                <a:off x="10257418" y="5209461"/>
                <a:ext cx="592564"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拜访 ≥ 10 户​</a:t>
                </a:r>
              </a:p>
            </p:txBody>
          </p:sp>
          <p:sp>
            <p:nvSpPr>
              <p:cNvPr id="371" name="Rectangle 371"/>
              <p:cNvSpPr/>
              <p:nvPr/>
            </p:nvSpPr>
            <p:spPr>
              <a:xfrm>
                <a:off x="11525250" y="5181600"/>
                <a:ext cx="114300" cy="114300"/>
              </a:xfrm>
              <a:prstGeom prst="rect">
                <a:avLst/>
              </a:prstGeom>
              <a:solidFill>
                <a:srgbClr val="FFFFFF"/>
              </a:solidFill>
              <a:ln w="9525">
                <a:solidFill>
                  <a:srgbClr val="8AA39C"/>
                </a:solidFill>
              </a:ln>
            </p:spPr>
          </p:sp>
          <p:sp>
            <p:nvSpPr>
              <p:cNvPr id="372" name="Rectangle 372"/>
              <p:cNvSpPr/>
              <p:nvPr/>
            </p:nvSpPr>
            <p:spPr>
              <a:xfrm>
                <a:off x="6896100" y="5391150"/>
                <a:ext cx="4953000" cy="285750"/>
              </a:xfrm>
              <a:prstGeom prst="rect">
                <a:avLst/>
              </a:prstGeom>
              <a:solidFill>
                <a:srgbClr val="FFFFFF"/>
              </a:solidFill>
              <a:ln w="7620">
                <a:solidFill>
                  <a:srgbClr val="D9E8E2"/>
                </a:solidFill>
              </a:ln>
            </p:spPr>
          </p:sp>
          <p:sp>
            <p:nvSpPr>
              <p:cNvPr id="373" name="TextBox 373"/>
              <p:cNvSpPr txBox="1"/>
              <p:nvPr/>
            </p:nvSpPr>
            <p:spPr>
              <a:xfrm>
                <a:off x="7015478" y="5495211"/>
                <a:ext cx="44704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试用推进​</a:t>
                </a:r>
              </a:p>
            </p:txBody>
          </p:sp>
          <p:sp>
            <p:nvSpPr>
              <p:cNvPr id="374" name="TextBox 374"/>
              <p:cNvSpPr txBox="1"/>
              <p:nvPr/>
            </p:nvSpPr>
            <p:spPr>
              <a:xfrm>
                <a:off x="7920842" y="5495211"/>
                <a:ext cx="922316"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开通试用、设备落地​</a:t>
                </a:r>
              </a:p>
            </p:txBody>
          </p:sp>
          <p:sp>
            <p:nvSpPr>
              <p:cNvPr id="375" name="TextBox 375"/>
              <p:cNvSpPr txBox="1"/>
              <p:nvPr/>
            </p:nvSpPr>
            <p:spPr>
              <a:xfrm>
                <a:off x="9398373" y="5495211"/>
                <a:ext cx="253255"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每周​</a:t>
                </a:r>
              </a:p>
            </p:txBody>
          </p:sp>
          <p:sp>
            <p:nvSpPr>
              <p:cNvPr id="376" name="TextBox 376"/>
              <p:cNvSpPr txBox="1"/>
              <p:nvPr/>
            </p:nvSpPr>
            <p:spPr>
              <a:xfrm>
                <a:off x="10257418" y="5495211"/>
                <a:ext cx="592564"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试用 ≥ 50 户​</a:t>
                </a:r>
              </a:p>
            </p:txBody>
          </p:sp>
          <p:sp>
            <p:nvSpPr>
              <p:cNvPr id="377" name="Rectangle 377"/>
              <p:cNvSpPr/>
              <p:nvPr/>
            </p:nvSpPr>
            <p:spPr>
              <a:xfrm>
                <a:off x="11525250" y="5467350"/>
                <a:ext cx="114300" cy="114300"/>
              </a:xfrm>
              <a:prstGeom prst="rect">
                <a:avLst/>
              </a:prstGeom>
              <a:solidFill>
                <a:srgbClr val="FFFFFF"/>
              </a:solidFill>
              <a:ln w="9525">
                <a:solidFill>
                  <a:srgbClr val="8AA39C"/>
                </a:solidFill>
              </a:ln>
            </p:spPr>
          </p:sp>
          <p:sp>
            <p:nvSpPr>
              <p:cNvPr id="378" name="Rectangle 378"/>
              <p:cNvSpPr/>
              <p:nvPr/>
            </p:nvSpPr>
            <p:spPr>
              <a:xfrm>
                <a:off x="6896100" y="5676900"/>
                <a:ext cx="4953000" cy="285750"/>
              </a:xfrm>
              <a:prstGeom prst="rect">
                <a:avLst/>
              </a:prstGeom>
              <a:solidFill>
                <a:srgbClr val="F7FBF9"/>
              </a:solidFill>
              <a:ln w="7620">
                <a:solidFill>
                  <a:srgbClr val="D9E8E2"/>
                </a:solidFill>
              </a:ln>
            </p:spPr>
          </p:sp>
          <p:sp>
            <p:nvSpPr>
              <p:cNvPr id="379" name="TextBox 379"/>
              <p:cNvSpPr txBox="1"/>
              <p:nvPr/>
            </p:nvSpPr>
            <p:spPr>
              <a:xfrm>
                <a:off x="7015478" y="5780961"/>
                <a:ext cx="44704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激活转化​</a:t>
                </a:r>
              </a:p>
            </p:txBody>
          </p:sp>
          <p:sp>
            <p:nvSpPr>
              <p:cNvPr id="380" name="TextBox 380"/>
              <p:cNvSpPr txBox="1"/>
              <p:nvPr/>
            </p:nvSpPr>
            <p:spPr>
              <a:xfrm>
                <a:off x="7920842" y="5780961"/>
                <a:ext cx="922316"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跟进体验、推动签约​</a:t>
                </a:r>
              </a:p>
            </p:txBody>
          </p:sp>
          <p:sp>
            <p:nvSpPr>
              <p:cNvPr id="381" name="TextBox 381"/>
              <p:cNvSpPr txBox="1"/>
              <p:nvPr/>
            </p:nvSpPr>
            <p:spPr>
              <a:xfrm>
                <a:off x="9398373" y="5780961"/>
                <a:ext cx="253255"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每周​</a:t>
                </a:r>
              </a:p>
            </p:txBody>
          </p:sp>
          <p:sp>
            <p:nvSpPr>
              <p:cNvPr id="382" name="TextBox 382"/>
              <p:cNvSpPr txBox="1"/>
              <p:nvPr/>
            </p:nvSpPr>
            <p:spPr>
              <a:xfrm>
                <a:off x="10257418" y="5780961"/>
                <a:ext cx="592564"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激活 ≥ 30 户​</a:t>
                </a:r>
              </a:p>
            </p:txBody>
          </p:sp>
          <p:sp>
            <p:nvSpPr>
              <p:cNvPr id="383" name="Rectangle 383"/>
              <p:cNvSpPr/>
              <p:nvPr/>
            </p:nvSpPr>
            <p:spPr>
              <a:xfrm>
                <a:off x="11525250" y="5753100"/>
                <a:ext cx="114300" cy="114300"/>
              </a:xfrm>
              <a:prstGeom prst="rect">
                <a:avLst/>
              </a:prstGeom>
              <a:solidFill>
                <a:srgbClr val="FFFFFF"/>
              </a:solidFill>
              <a:ln w="9525">
                <a:solidFill>
                  <a:srgbClr val="8AA39C"/>
                </a:solidFill>
              </a:ln>
            </p:spPr>
          </p:sp>
          <p:sp>
            <p:nvSpPr>
              <p:cNvPr id="384" name="Rectangle 384"/>
              <p:cNvSpPr/>
              <p:nvPr/>
            </p:nvSpPr>
            <p:spPr>
              <a:xfrm>
                <a:off x="6896100" y="5962650"/>
                <a:ext cx="4953000" cy="285750"/>
              </a:xfrm>
              <a:prstGeom prst="rect">
                <a:avLst/>
              </a:prstGeom>
              <a:solidFill>
                <a:srgbClr val="FFFFFF"/>
              </a:solidFill>
              <a:ln w="7620">
                <a:solidFill>
                  <a:srgbClr val="D9E8E2"/>
                </a:solidFill>
              </a:ln>
            </p:spPr>
          </p:sp>
          <p:sp>
            <p:nvSpPr>
              <p:cNvPr id="385" name="TextBox 385"/>
              <p:cNvSpPr txBox="1"/>
              <p:nvPr/>
            </p:nvSpPr>
            <p:spPr>
              <a:xfrm>
                <a:off x="7015478" y="6066711"/>
                <a:ext cx="44704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综合服务​</a:t>
                </a:r>
              </a:p>
            </p:txBody>
          </p:sp>
          <p:sp>
            <p:nvSpPr>
              <p:cNvPr id="386" name="TextBox 386"/>
              <p:cNvSpPr txBox="1"/>
              <p:nvPr/>
            </p:nvSpPr>
            <p:spPr>
              <a:xfrm>
                <a:off x="7916063" y="6066711"/>
                <a:ext cx="931874"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融资/代发/理财推荐​</a:t>
                </a:r>
              </a:p>
            </p:txBody>
          </p:sp>
          <p:sp>
            <p:nvSpPr>
              <p:cNvPr id="387" name="TextBox 387"/>
              <p:cNvSpPr txBox="1"/>
              <p:nvPr/>
            </p:nvSpPr>
            <p:spPr>
              <a:xfrm>
                <a:off x="9398373" y="6066711"/>
                <a:ext cx="253255"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每周​</a:t>
                </a:r>
              </a:p>
            </p:txBody>
          </p:sp>
          <p:sp>
            <p:nvSpPr>
              <p:cNvPr id="388" name="TextBox 388"/>
              <p:cNvSpPr txBox="1"/>
              <p:nvPr/>
            </p:nvSpPr>
            <p:spPr>
              <a:xfrm>
                <a:off x="10161838" y="6066711"/>
                <a:ext cx="783725"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联动客户 ≥ 90 户​</a:t>
                </a:r>
              </a:p>
            </p:txBody>
          </p:sp>
          <p:sp>
            <p:nvSpPr>
              <p:cNvPr id="389" name="Rectangle 389"/>
              <p:cNvSpPr/>
              <p:nvPr/>
            </p:nvSpPr>
            <p:spPr>
              <a:xfrm>
                <a:off x="11525250" y="6038850"/>
                <a:ext cx="114300" cy="114300"/>
              </a:xfrm>
              <a:prstGeom prst="rect">
                <a:avLst/>
              </a:prstGeom>
              <a:solidFill>
                <a:srgbClr val="FFFFFF"/>
              </a:solidFill>
              <a:ln w="9525">
                <a:solidFill>
                  <a:srgbClr val="8AA39C"/>
                </a:solidFill>
              </a:ln>
            </p:spPr>
          </p:sp>
          <p:sp>
            <p:nvSpPr>
              <p:cNvPr id="390" name="Rectangle 390"/>
              <p:cNvSpPr/>
              <p:nvPr/>
            </p:nvSpPr>
            <p:spPr>
              <a:xfrm>
                <a:off x="6896100" y="6248400"/>
                <a:ext cx="4953000" cy="285750"/>
              </a:xfrm>
              <a:prstGeom prst="rect">
                <a:avLst/>
              </a:prstGeom>
              <a:solidFill>
                <a:srgbClr val="F7FBF9"/>
              </a:solidFill>
              <a:ln w="7620">
                <a:solidFill>
                  <a:srgbClr val="D9E8E2"/>
                </a:solidFill>
              </a:ln>
            </p:spPr>
          </p:sp>
          <p:sp>
            <p:nvSpPr>
              <p:cNvPr id="391" name="TextBox 391"/>
              <p:cNvSpPr txBox="1"/>
              <p:nvPr/>
            </p:nvSpPr>
            <p:spPr>
              <a:xfrm>
                <a:off x="7015478" y="6352461"/>
                <a:ext cx="44704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客户维护​</a:t>
                </a:r>
              </a:p>
            </p:txBody>
          </p:sp>
          <p:sp>
            <p:nvSpPr>
              <p:cNvPr id="392" name="TextBox 392"/>
              <p:cNvSpPr txBox="1"/>
              <p:nvPr/>
            </p:nvSpPr>
            <p:spPr>
              <a:xfrm>
                <a:off x="7825262" y="6352461"/>
                <a:ext cx="1113476"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回访经营情况、深挖需求​</a:t>
                </a:r>
              </a:p>
            </p:txBody>
          </p:sp>
          <p:sp>
            <p:nvSpPr>
              <p:cNvPr id="393" name="TextBox 393"/>
              <p:cNvSpPr txBox="1"/>
              <p:nvPr/>
            </p:nvSpPr>
            <p:spPr>
              <a:xfrm>
                <a:off x="9398373" y="6352461"/>
                <a:ext cx="253255"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每日​</a:t>
                </a:r>
              </a:p>
            </p:txBody>
          </p:sp>
          <p:sp>
            <p:nvSpPr>
              <p:cNvPr id="394" name="TextBox 394"/>
              <p:cNvSpPr txBox="1"/>
              <p:nvPr/>
            </p:nvSpPr>
            <p:spPr>
              <a:xfrm>
                <a:off x="10066257" y="6352461"/>
                <a:ext cx="974885"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重点客户回访 ≥ 10 户​</a:t>
                </a:r>
              </a:p>
            </p:txBody>
          </p:sp>
          <p:sp>
            <p:nvSpPr>
              <p:cNvPr id="395" name="Rectangle 395"/>
              <p:cNvSpPr/>
              <p:nvPr/>
            </p:nvSpPr>
            <p:spPr>
              <a:xfrm>
                <a:off x="11525250" y="6324600"/>
                <a:ext cx="114300" cy="114300"/>
              </a:xfrm>
              <a:prstGeom prst="rect">
                <a:avLst/>
              </a:prstGeom>
              <a:solidFill>
                <a:srgbClr val="FFFFFF"/>
              </a:solidFill>
              <a:ln w="9525">
                <a:solidFill>
                  <a:srgbClr val="8AA39C"/>
                </a:solidFill>
              </a:ln>
            </p:spPr>
          </p:sp>
        </p:grpSp>
        <p:sp>
          <p:nvSpPr>
            <p:cNvPr id="397" name="TextBox 397"/>
            <p:cNvSpPr txBox="1"/>
            <p:nvPr/>
          </p:nvSpPr>
          <p:spPr>
            <a:xfrm>
              <a:off x="10856395" y="6624638"/>
              <a:ext cx="997468" cy="147638"/>
            </a:xfrm>
            <a:prstGeom prst="rect">
              <a:avLst/>
            </a:prstGeom>
            <a:noFill/>
            <a:ln>
              <a:noFill/>
            </a:ln>
          </p:spPr>
          <p:txBody>
            <a:bodyPr wrap="none" lIns="0" tIns="0" rIns="0" bIns="0" anchor="t" anchorCtr="0">
              <a:spAutoFit/>
            </a:bodyPr>
            <a:lstStyle/>
            <a:p>
              <a:pPr algn="r"/>
              <a:r>
                <a:rPr lang="zh-CN" sz="750" b="1" i="1" dirty="0">
                  <a:solidFill>
                    <a:srgbClr val="5B180B"/>
                  </a:solidFill>
                  <a:latin typeface="+mn-lt"/>
                  <a:ea typeface="+mn-ea"/>
                  <a:cs typeface="+mn-cs"/>
                </a:rPr>
                <a:t>深耕商户 · 共创增长​</a:t>
              </a:r>
            </a:p>
          </p:txBody>
        </p:sp>
      </p:gr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7486795" cy="542925"/>
            <a:chOff x="0" y="0"/>
            <a:chExt cx="7486795"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11​</a:t>
              </a:r>
            </a:p>
          </p:txBody>
        </p:sp>
        <p:sp>
          <p:nvSpPr>
            <p:cNvPr id="4" name="TextBox 4"/>
            <p:cNvSpPr txBox="1"/>
            <p:nvPr/>
          </p:nvSpPr>
          <p:spPr>
            <a:xfrm>
              <a:off x="942594" y="151448"/>
              <a:ext cx="6544201"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代发深耕</a:t>
              </a:r>
              <a:r>
                <a:rPr lang="zh-CN" sz="1950" b="1" dirty="0">
                  <a:solidFill>
                    <a:srgbClr val="5B180B"/>
                  </a:solidFill>
                  <a:latin typeface="+mj-lt"/>
                  <a:ea typeface="+mj-ea"/>
                  <a:cs typeface="+mj-cs"/>
                </a:rPr>
                <a:t xml:space="preserve"> | 围绕企业、员工、家庭构建三级价值转化</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87" name="flywheel-card"/>
          <p:cNvGrpSpPr/>
          <p:nvPr/>
        </p:nvGrpSpPr>
        <p:grpSpPr>
          <a:xfrm>
            <a:off x="228600" y="666750"/>
            <a:ext cx="3048000" cy="4381500"/>
            <a:chOff x="228600" y="666750"/>
            <a:chExt cx="3048000" cy="4381500"/>
          </a:xfrm>
        </p:grpSpPr>
        <p:sp>
          <p:nvSpPr>
            <p:cNvPr id="7" name="Rectangle 7"/>
            <p:cNvSpPr/>
            <p:nvPr/>
          </p:nvSpPr>
          <p:spPr>
            <a:xfrm>
              <a:off x="228600" y="666750"/>
              <a:ext cx="3048000" cy="4381500"/>
            </a:xfrm>
            <a:prstGeom prst="roundRect">
              <a:avLst>
                <a:gd name="adj" fmla="val 3125"/>
              </a:avLst>
            </a:prstGeom>
            <a:solidFill>
              <a:srgbClr val="F5FAF8"/>
            </a:solidFill>
            <a:ln w="9525">
              <a:solidFill>
                <a:srgbClr val="D9E8E2"/>
              </a:solidFill>
            </a:ln>
          </p:spPr>
        </p:sp>
        <p:sp>
          <p:nvSpPr>
            <p:cNvPr id="8" name="Rectangle 8"/>
            <p:cNvSpPr/>
            <p:nvPr/>
          </p:nvSpPr>
          <p:spPr>
            <a:xfrm>
              <a:off x="228600" y="666750"/>
              <a:ext cx="1428750" cy="228600"/>
            </a:xfrm>
            <a:prstGeom prst="roundRect">
              <a:avLst>
                <a:gd name="adj" fmla="val 16667"/>
              </a:avLst>
            </a:prstGeom>
            <a:solidFill>
              <a:srgbClr val="5B180B"/>
            </a:solidFill>
            <a:ln>
              <a:noFill/>
            </a:ln>
          </p:spPr>
        </p:sp>
        <p:sp>
          <p:nvSpPr>
            <p:cNvPr id="9" name="TextBox 9"/>
            <p:cNvSpPr txBox="1"/>
            <p:nvPr/>
          </p:nvSpPr>
          <p:spPr>
            <a:xfrm>
              <a:off x="338138" y="735568"/>
              <a:ext cx="1002570"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三级价值转化飞轮​</a:t>
              </a:r>
            </a:p>
          </p:txBody>
        </p:sp>
        <p:sp>
          <p:nvSpPr>
            <p:cNvPr id="10" name="Ellipse 10"/>
            <p:cNvSpPr/>
            <p:nvPr/>
          </p:nvSpPr>
          <p:spPr>
            <a:xfrm>
              <a:off x="876300" y="1981200"/>
              <a:ext cx="1752600" cy="1752600"/>
            </a:xfrm>
            <a:prstGeom prst="ellipse">
              <a:avLst/>
            </a:prstGeom>
            <a:noFill/>
            <a:ln w="19050">
              <a:solidFill>
                <a:srgbClr val="BFDDD6"/>
              </a:solidFill>
              <a:custDash>
                <a:ds d="250000" sp="200000"/>
              </a:custDash>
            </a:ln>
          </p:spPr>
        </p:sp>
        <p:sp>
          <p:nvSpPr>
            <p:cNvPr id="11" name="Freeform 11"/>
            <p:cNvSpPr/>
            <p:nvPr/>
          </p:nvSpPr>
          <p:spPr>
            <a:xfrm rot="7200000">
              <a:off x="2133600" y="2047875"/>
              <a:ext cx="114300" cy="95250"/>
            </a:xfrm>
            <a:prstGeom prst="triangle">
              <a:avLst/>
            </a:prstGeom>
            <a:solidFill>
              <a:srgbClr val="9A412F"/>
            </a:solidFill>
            <a:ln>
              <a:noFill/>
            </a:ln>
          </p:spPr>
        </p:sp>
        <p:sp>
          <p:nvSpPr>
            <p:cNvPr id="12" name="Freeform 12"/>
            <p:cNvSpPr/>
            <p:nvPr/>
          </p:nvSpPr>
          <p:spPr>
            <a:xfrm rot="10800000">
              <a:off x="2571750" y="2809875"/>
              <a:ext cx="114300" cy="95250"/>
            </a:xfrm>
            <a:prstGeom prst="triangle">
              <a:avLst/>
            </a:prstGeom>
            <a:solidFill>
              <a:srgbClr val="9A412F"/>
            </a:solidFill>
            <a:ln>
              <a:noFill/>
            </a:ln>
          </p:spPr>
        </p:sp>
        <p:sp>
          <p:nvSpPr>
            <p:cNvPr id="13" name="Freeform 13"/>
            <p:cNvSpPr/>
            <p:nvPr/>
          </p:nvSpPr>
          <p:spPr>
            <a:xfrm rot="-7200000">
              <a:off x="2133600" y="3571875"/>
              <a:ext cx="114300" cy="95250"/>
            </a:xfrm>
            <a:prstGeom prst="triangle">
              <a:avLst/>
            </a:prstGeom>
            <a:solidFill>
              <a:srgbClr val="9A412F"/>
            </a:solidFill>
            <a:ln>
              <a:noFill/>
            </a:ln>
          </p:spPr>
        </p:sp>
        <p:sp>
          <p:nvSpPr>
            <p:cNvPr id="14" name="Freeform 14"/>
            <p:cNvSpPr/>
            <p:nvPr/>
          </p:nvSpPr>
          <p:spPr>
            <a:xfrm rot="-3600000">
              <a:off x="1257300" y="3571875"/>
              <a:ext cx="114300" cy="95250"/>
            </a:xfrm>
            <a:prstGeom prst="triangle">
              <a:avLst/>
            </a:prstGeom>
            <a:solidFill>
              <a:srgbClr val="9A412F"/>
            </a:solidFill>
            <a:ln>
              <a:noFill/>
            </a:ln>
          </p:spPr>
        </p:sp>
        <p:sp>
          <p:nvSpPr>
            <p:cNvPr id="15" name="Freeform 15"/>
            <p:cNvSpPr/>
            <p:nvPr/>
          </p:nvSpPr>
          <p:spPr>
            <a:xfrm>
              <a:off x="819150" y="2809875"/>
              <a:ext cx="114300" cy="95250"/>
            </a:xfrm>
            <a:prstGeom prst="triangle">
              <a:avLst/>
            </a:prstGeom>
            <a:solidFill>
              <a:srgbClr val="9A412F"/>
            </a:solidFill>
            <a:ln>
              <a:noFill/>
            </a:ln>
          </p:spPr>
        </p:sp>
        <p:sp>
          <p:nvSpPr>
            <p:cNvPr id="16" name="Freeform 16"/>
            <p:cNvSpPr/>
            <p:nvPr/>
          </p:nvSpPr>
          <p:spPr>
            <a:xfrm rot="3600000">
              <a:off x="1257300" y="2047875"/>
              <a:ext cx="114300" cy="95250"/>
            </a:xfrm>
            <a:prstGeom prst="triangle">
              <a:avLst/>
            </a:prstGeom>
            <a:solidFill>
              <a:srgbClr val="9A412F"/>
            </a:solidFill>
            <a:ln>
              <a:noFill/>
            </a:ln>
          </p:spPr>
        </p:sp>
        <p:sp>
          <p:nvSpPr>
            <p:cNvPr id="17" name="Ellipse 17"/>
            <p:cNvSpPr/>
            <p:nvPr/>
          </p:nvSpPr>
          <p:spPr>
            <a:xfrm>
              <a:off x="1295400" y="2400300"/>
              <a:ext cx="914400" cy="914400"/>
            </a:xfrm>
            <a:prstGeom prst="ellipse">
              <a:avLst/>
            </a:prstGeom>
            <a:gradFill>
              <a:gsLst>
                <a:gs pos="0">
                  <a:srgbClr val="9A412F"/>
                </a:gs>
                <a:gs pos="100000">
                  <a:srgbClr val="5B180B"/>
                </a:gs>
              </a:gsLst>
              <a:lin ang="2700000" scaled="1"/>
            </a:gradFill>
            <a:ln>
              <a:noFill/>
            </a:ln>
          </p:spPr>
        </p:sp>
        <p:grpSp>
          <p:nvGrpSpPr>
            <p:cNvPr id="22" name="Group 22"/>
            <p:cNvGrpSpPr/>
            <p:nvPr/>
          </p:nvGrpSpPr>
          <p:grpSpPr>
            <a:xfrm>
              <a:off x="1681162" y="2565400"/>
              <a:ext cx="142875" cy="136525"/>
              <a:chOff x="1681162" y="2565400"/>
              <a:chExt cx="142875" cy="136525"/>
            </a:xfrm>
          </p:grpSpPr>
          <p:sp>
            <p:nvSpPr>
              <p:cNvPr id="18" name="Freeform 18"/>
              <p:cNvSpPr/>
              <p:nvPr/>
            </p:nvSpPr>
            <p:spPr>
              <a:xfrm>
                <a:off x="1681162" y="26289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19" name="Freeform 19"/>
              <p:cNvSpPr/>
              <p:nvPr/>
            </p:nvSpPr>
            <p:spPr>
              <a:xfrm>
                <a:off x="1776412" y="25971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20" name="Freeform 20"/>
              <p:cNvSpPr/>
              <p:nvPr/>
            </p:nvSpPr>
            <p:spPr>
              <a:xfrm>
                <a:off x="1728787" y="25654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21" name="Freeform 21"/>
              <p:cNvSpPr/>
              <p:nvPr/>
            </p:nvSpPr>
            <p:spPr>
              <a:xfrm>
                <a:off x="1689100" y="2692400"/>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23" name="TextBox 23"/>
            <p:cNvSpPr txBox="1"/>
            <p:nvPr/>
          </p:nvSpPr>
          <p:spPr>
            <a:xfrm>
              <a:off x="1446780" y="2765584"/>
              <a:ext cx="6116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以代发为核心​</a:t>
              </a:r>
            </a:p>
          </p:txBody>
        </p:sp>
        <p:sp>
          <p:nvSpPr>
            <p:cNvPr id="24" name="TextBox 24"/>
            <p:cNvSpPr txBox="1"/>
            <p:nvPr/>
          </p:nvSpPr>
          <p:spPr>
            <a:xfrm>
              <a:off x="1402537" y="2897505"/>
              <a:ext cx="700126" cy="119062"/>
            </a:xfrm>
            <a:prstGeom prst="rect">
              <a:avLst/>
            </a:prstGeom>
            <a:noFill/>
            <a:ln>
              <a:noFill/>
            </a:ln>
          </p:spPr>
          <p:txBody>
            <a:bodyPr wrap="none" lIns="0" tIns="0" rIns="0" bIns="0" anchor="t" anchorCtr="0">
              <a:spAutoFit/>
            </a:bodyPr>
            <a:lstStyle/>
            <a:p>
              <a:pPr algn="ctr"/>
              <a:r>
                <a:rPr lang="zh-CN" sz="600" dirty="0">
                  <a:solidFill>
                    <a:srgbClr val="DFF0EB"/>
                  </a:solidFill>
                  <a:latin typeface="+mn-lt"/>
                  <a:ea typeface="+mn-ea"/>
                  <a:cs typeface="+mn-cs"/>
                </a:rPr>
                <a:t>连接企业员工家庭​</a:t>
              </a:r>
            </a:p>
          </p:txBody>
        </p:sp>
        <p:sp>
          <p:nvSpPr>
            <p:cNvPr id="25" name="TextBox 25"/>
            <p:cNvSpPr txBox="1"/>
            <p:nvPr/>
          </p:nvSpPr>
          <p:spPr>
            <a:xfrm>
              <a:off x="1483309" y="3021330"/>
              <a:ext cx="538582" cy="119062"/>
            </a:xfrm>
            <a:prstGeom prst="rect">
              <a:avLst/>
            </a:prstGeom>
            <a:noFill/>
            <a:ln>
              <a:noFill/>
            </a:ln>
          </p:spPr>
          <p:txBody>
            <a:bodyPr wrap="none" lIns="0" tIns="0" rIns="0" bIns="0" anchor="t" anchorCtr="0">
              <a:spAutoFit/>
            </a:bodyPr>
            <a:lstStyle/>
            <a:p>
              <a:pPr algn="ctr"/>
              <a:r>
                <a:rPr lang="zh-CN" sz="600" dirty="0">
                  <a:solidFill>
                    <a:srgbClr val="DFF0EB"/>
                  </a:solidFill>
                  <a:latin typeface="+mn-lt"/>
                  <a:ea typeface="+mn-ea"/>
                  <a:cs typeface="+mn-cs"/>
                </a:rPr>
                <a:t>释放综合价值​</a:t>
              </a:r>
            </a:p>
          </p:txBody>
        </p:sp>
        <p:grpSp>
          <p:nvGrpSpPr>
            <p:cNvPr id="39" name="fw-node1"/>
            <p:cNvGrpSpPr/>
            <p:nvPr/>
          </p:nvGrpSpPr>
          <p:grpSpPr>
            <a:xfrm>
              <a:off x="1500944" y="1423988"/>
              <a:ext cx="503311" cy="785812"/>
              <a:chOff x="1500944" y="1423988"/>
              <a:chExt cx="503311" cy="785812"/>
            </a:xfrm>
          </p:grpSpPr>
          <p:sp>
            <p:nvSpPr>
              <p:cNvPr id="26" name="Ellipse 26"/>
              <p:cNvSpPr/>
              <p:nvPr/>
            </p:nvSpPr>
            <p:spPr>
              <a:xfrm>
                <a:off x="1524000" y="1752600"/>
                <a:ext cx="457200" cy="457200"/>
              </a:xfrm>
              <a:prstGeom prst="ellipse">
                <a:avLst/>
              </a:prstGeom>
              <a:solidFill>
                <a:srgbClr val="5B180B"/>
              </a:solidFill>
              <a:ln>
                <a:noFill/>
              </a:ln>
            </p:spPr>
          </p:sp>
          <p:grpSp>
            <p:nvGrpSpPr>
              <p:cNvPr id="35" name="Group 35"/>
              <p:cNvGrpSpPr/>
              <p:nvPr/>
            </p:nvGrpSpPr>
            <p:grpSpPr>
              <a:xfrm>
                <a:off x="1674019" y="1902619"/>
                <a:ext cx="157956" cy="166687"/>
                <a:chOff x="1674019" y="1902619"/>
                <a:chExt cx="157956" cy="166687"/>
              </a:xfrm>
            </p:grpSpPr>
            <p:sp>
              <p:nvSpPr>
                <p:cNvPr id="27" name="Freeform 27"/>
                <p:cNvSpPr/>
                <p:nvPr/>
              </p:nvSpPr>
              <p:spPr>
                <a:xfrm>
                  <a:off x="1674019" y="2059781"/>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28" name="Freeform 28"/>
                <p:cNvSpPr/>
                <p:nvPr/>
              </p:nvSpPr>
              <p:spPr>
                <a:xfrm>
                  <a:off x="1674019" y="1963738"/>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29" name="Freeform 29"/>
                <p:cNvSpPr/>
                <p:nvPr/>
              </p:nvSpPr>
              <p:spPr>
                <a:xfrm>
                  <a:off x="1691481" y="1902619"/>
                  <a:ext cx="122238" cy="26194"/>
                </a:xfrm>
                <a:custGeom>
                  <a:avLst/>
                  <a:gdLst/>
                  <a:ahLst/>
                  <a:cxnLst/>
                  <a:rect l="l" t="t" r="r" b="b"/>
                  <a:pathLst>
                    <a:path w="122238" h="26194">
                      <a:moveTo>
                        <a:pt x="0" y="26194"/>
                      </a:moveTo>
                      <a:lnTo>
                        <a:pt x="61119" y="0"/>
                      </a:lnTo>
                      <a:lnTo>
                        <a:pt x="122238" y="26194"/>
                      </a:lnTo>
                    </a:path>
                  </a:pathLst>
                </a:custGeom>
                <a:noFill/>
                <a:ln w="17463">
                  <a:solidFill>
                    <a:srgbClr val="FFFFFF"/>
                  </a:solidFill>
                </a:ln>
              </p:spPr>
            </p:sp>
            <p:sp>
              <p:nvSpPr>
                <p:cNvPr id="30" name="Freeform 30"/>
                <p:cNvSpPr/>
                <p:nvPr/>
              </p:nvSpPr>
              <p:spPr>
                <a:xfrm>
                  <a:off x="1682750" y="1963738"/>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31" name="Freeform 31"/>
                <p:cNvSpPr/>
                <p:nvPr/>
              </p:nvSpPr>
              <p:spPr>
                <a:xfrm>
                  <a:off x="1822450" y="1963738"/>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32" name="Freeform 32"/>
                <p:cNvSpPr/>
                <p:nvPr/>
              </p:nvSpPr>
              <p:spPr>
                <a:xfrm>
                  <a:off x="1717675" y="1998663"/>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33" name="Freeform 33"/>
                <p:cNvSpPr/>
                <p:nvPr/>
              </p:nvSpPr>
              <p:spPr>
                <a:xfrm>
                  <a:off x="1752600" y="1998663"/>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34" name="Freeform 34"/>
                <p:cNvSpPr/>
                <p:nvPr/>
              </p:nvSpPr>
              <p:spPr>
                <a:xfrm>
                  <a:off x="1787525" y="1998663"/>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36" name="TextBox 36"/>
              <p:cNvSpPr txBox="1"/>
              <p:nvPr/>
            </p:nvSpPr>
            <p:spPr>
              <a:xfrm>
                <a:off x="1516754" y="14239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企业签约​</a:t>
                </a:r>
              </a:p>
            </p:txBody>
          </p:sp>
          <p:sp>
            <p:nvSpPr>
              <p:cNvPr id="37" name="TextBox 37"/>
              <p:cNvSpPr txBox="1"/>
              <p:nvPr/>
            </p:nvSpPr>
            <p:spPr>
              <a:xfrm>
                <a:off x="1500944" y="155852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优质企业导入​</a:t>
                </a:r>
              </a:p>
            </p:txBody>
          </p:sp>
          <p:sp>
            <p:nvSpPr>
              <p:cNvPr id="38" name="TextBox 38"/>
              <p:cNvSpPr txBox="1"/>
              <p:nvPr/>
            </p:nvSpPr>
            <p:spPr>
              <a:xfrm>
                <a:off x="1500944" y="165377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建立代发合作​</a:t>
                </a:r>
              </a:p>
            </p:txBody>
          </p:sp>
        </p:grpSp>
        <p:grpSp>
          <p:nvGrpSpPr>
            <p:cNvPr id="48" name="fw-node2"/>
            <p:cNvGrpSpPr/>
            <p:nvPr/>
          </p:nvGrpSpPr>
          <p:grpSpPr>
            <a:xfrm>
              <a:off x="2286000" y="2190750"/>
              <a:ext cx="727905" cy="889397"/>
              <a:chOff x="2286000" y="2190750"/>
              <a:chExt cx="727905" cy="889397"/>
            </a:xfrm>
          </p:grpSpPr>
          <p:sp>
            <p:nvSpPr>
              <p:cNvPr id="40" name="Ellipse 40"/>
              <p:cNvSpPr/>
              <p:nvPr/>
            </p:nvSpPr>
            <p:spPr>
              <a:xfrm>
                <a:off x="2286000" y="2190750"/>
                <a:ext cx="457200" cy="457200"/>
              </a:xfrm>
              <a:prstGeom prst="ellipse">
                <a:avLst/>
              </a:prstGeom>
              <a:solidFill>
                <a:srgbClr val="6A2113"/>
              </a:solidFill>
              <a:ln>
                <a:noFill/>
              </a:ln>
            </p:spPr>
          </p:sp>
          <p:grpSp>
            <p:nvGrpSpPr>
              <p:cNvPr id="44" name="Group 44"/>
              <p:cNvGrpSpPr/>
              <p:nvPr/>
            </p:nvGrpSpPr>
            <p:grpSpPr>
              <a:xfrm>
                <a:off x="2462213" y="2340769"/>
                <a:ext cx="130969" cy="157163"/>
                <a:chOff x="2462213" y="2340769"/>
                <a:chExt cx="130969" cy="157163"/>
              </a:xfrm>
            </p:grpSpPr>
            <p:sp>
              <p:nvSpPr>
                <p:cNvPr id="41" name="Freeform 41"/>
                <p:cNvSpPr/>
                <p:nvPr/>
              </p:nvSpPr>
              <p:spPr>
                <a:xfrm>
                  <a:off x="2479675" y="23407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42" name="Freeform 42"/>
                <p:cNvSpPr/>
                <p:nvPr/>
              </p:nvSpPr>
              <p:spPr>
                <a:xfrm>
                  <a:off x="2462213" y="2445544"/>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FFFFFF"/>
                  </a:solidFill>
                </a:ln>
              </p:spPr>
            </p:sp>
            <p:sp>
              <p:nvSpPr>
                <p:cNvPr id="43" name="Freeform 43"/>
                <p:cNvSpPr/>
                <p:nvPr/>
              </p:nvSpPr>
              <p:spPr>
                <a:xfrm>
                  <a:off x="2540794" y="2463006"/>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45" name="TextBox 45"/>
              <p:cNvSpPr txBox="1"/>
              <p:nvPr/>
            </p:nvSpPr>
            <p:spPr>
              <a:xfrm>
                <a:off x="2526404" y="273843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员工开户​</a:t>
                </a:r>
              </a:p>
            </p:txBody>
          </p:sp>
          <p:sp>
            <p:nvSpPr>
              <p:cNvPr id="46" name="TextBox 46"/>
              <p:cNvSpPr txBox="1"/>
              <p:nvPr/>
            </p:nvSpPr>
            <p:spPr>
              <a:xfrm>
                <a:off x="2510594" y="287297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批量开户激活​</a:t>
                </a:r>
              </a:p>
            </p:txBody>
          </p:sp>
          <p:sp>
            <p:nvSpPr>
              <p:cNvPr id="47" name="TextBox 47"/>
              <p:cNvSpPr txBox="1"/>
              <p:nvPr/>
            </p:nvSpPr>
            <p:spPr>
              <a:xfrm>
                <a:off x="2510594" y="296822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完善基础服务​</a:t>
                </a:r>
              </a:p>
            </p:txBody>
          </p:sp>
        </p:grpSp>
        <p:grpSp>
          <p:nvGrpSpPr>
            <p:cNvPr id="59" name="fw-node3"/>
            <p:cNvGrpSpPr/>
            <p:nvPr/>
          </p:nvGrpSpPr>
          <p:grpSpPr>
            <a:xfrm>
              <a:off x="2286000" y="3067050"/>
              <a:ext cx="727905" cy="889397"/>
              <a:chOff x="2286000" y="3067050"/>
              <a:chExt cx="727905" cy="889397"/>
            </a:xfrm>
          </p:grpSpPr>
          <p:sp>
            <p:nvSpPr>
              <p:cNvPr id="49" name="Ellipse 49"/>
              <p:cNvSpPr/>
              <p:nvPr/>
            </p:nvSpPr>
            <p:spPr>
              <a:xfrm>
                <a:off x="2286000" y="3067050"/>
                <a:ext cx="457200" cy="457200"/>
              </a:xfrm>
              <a:prstGeom prst="ellipse">
                <a:avLst/>
              </a:prstGeom>
              <a:solidFill>
                <a:srgbClr val="7A2B1B"/>
              </a:solidFill>
              <a:ln>
                <a:noFill/>
              </a:ln>
            </p:spPr>
          </p:sp>
          <p:grpSp>
            <p:nvGrpSpPr>
              <p:cNvPr id="55" name="Group 55"/>
              <p:cNvGrpSpPr/>
              <p:nvPr/>
            </p:nvGrpSpPr>
            <p:grpSpPr>
              <a:xfrm>
                <a:off x="2436019" y="3215899"/>
                <a:ext cx="157162" cy="158333"/>
                <a:chOff x="2436019" y="3215899"/>
                <a:chExt cx="157162" cy="158333"/>
              </a:xfrm>
            </p:grpSpPr>
            <p:sp>
              <p:nvSpPr>
                <p:cNvPr id="50" name="Freeform 50"/>
                <p:cNvSpPr/>
                <p:nvPr/>
              </p:nvSpPr>
              <p:spPr>
                <a:xfrm>
                  <a:off x="2488406" y="3286919"/>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FFFFFF"/>
                  </a:solidFill>
                </a:ln>
              </p:spPr>
            </p:sp>
            <p:sp>
              <p:nvSpPr>
                <p:cNvPr id="51" name="Freeform 51"/>
                <p:cNvSpPr/>
                <p:nvPr/>
              </p:nvSpPr>
              <p:spPr>
                <a:xfrm>
                  <a:off x="2488406" y="3313113"/>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FFFFFF"/>
                  </a:solidFill>
                </a:ln>
              </p:spPr>
            </p:sp>
            <p:sp>
              <p:nvSpPr>
                <p:cNvPr id="52" name="Freeform 52"/>
                <p:cNvSpPr/>
                <p:nvPr/>
              </p:nvSpPr>
              <p:spPr>
                <a:xfrm>
                  <a:off x="2436019" y="3215899"/>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FFFFFF"/>
                  </a:solidFill>
                </a:ln>
              </p:spPr>
            </p:sp>
            <p:sp>
              <p:nvSpPr>
                <p:cNvPr id="53" name="Freeform 53"/>
                <p:cNvSpPr/>
                <p:nvPr/>
              </p:nvSpPr>
              <p:spPr>
                <a:xfrm>
                  <a:off x="2436019" y="3243263"/>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FFFFFF"/>
                  </a:solidFill>
                </a:ln>
              </p:spPr>
            </p:sp>
            <p:sp>
              <p:nvSpPr>
                <p:cNvPr id="54" name="Freeform 54"/>
                <p:cNvSpPr/>
                <p:nvPr/>
              </p:nvSpPr>
              <p:spPr>
                <a:xfrm>
                  <a:off x="2436019" y="3286919"/>
                  <a:ext cx="17463" cy="17463"/>
                </a:xfrm>
                <a:custGeom>
                  <a:avLst/>
                  <a:gdLst/>
                  <a:ahLst/>
                  <a:cxnLst/>
                  <a:rect l="l" t="t" r="r" b="b"/>
                  <a:pathLst>
                    <a:path w="17463" h="17463">
                      <a:moveTo>
                        <a:pt x="0" y="0"/>
                      </a:moveTo>
                      <a:cubicBezTo>
                        <a:pt x="0" y="7753"/>
                        <a:pt x="6741" y="12660"/>
                        <a:pt x="17463" y="17463"/>
                      </a:cubicBezTo>
                    </a:path>
                  </a:pathLst>
                </a:custGeom>
                <a:noFill/>
                <a:ln w="17463">
                  <a:solidFill>
                    <a:srgbClr val="FFFFFF"/>
                  </a:solidFill>
                </a:ln>
              </p:spPr>
            </p:sp>
          </p:grpSp>
          <p:sp>
            <p:nvSpPr>
              <p:cNvPr id="56" name="TextBox 56"/>
              <p:cNvSpPr txBox="1"/>
              <p:nvPr/>
            </p:nvSpPr>
            <p:spPr>
              <a:xfrm>
                <a:off x="2526404" y="361473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工资沉淀​</a:t>
                </a:r>
              </a:p>
            </p:txBody>
          </p:sp>
          <p:sp>
            <p:nvSpPr>
              <p:cNvPr id="57" name="TextBox 57"/>
              <p:cNvSpPr txBox="1"/>
              <p:nvPr/>
            </p:nvSpPr>
            <p:spPr>
              <a:xfrm>
                <a:off x="2510594" y="374927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代发资金留存​</a:t>
                </a:r>
              </a:p>
            </p:txBody>
          </p:sp>
          <p:sp>
            <p:nvSpPr>
              <p:cNvPr id="58" name="TextBox 58"/>
              <p:cNvSpPr txBox="1"/>
              <p:nvPr/>
            </p:nvSpPr>
            <p:spPr>
              <a:xfrm>
                <a:off x="2548288" y="3844528"/>
                <a:ext cx="427924"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提升稳定性​</a:t>
                </a:r>
              </a:p>
            </p:txBody>
          </p:sp>
        </p:grpSp>
        <p:grpSp>
          <p:nvGrpSpPr>
            <p:cNvPr id="69" name="fw-node4"/>
            <p:cNvGrpSpPr/>
            <p:nvPr/>
          </p:nvGrpSpPr>
          <p:grpSpPr>
            <a:xfrm>
              <a:off x="1500944" y="3505200"/>
              <a:ext cx="503311" cy="889397"/>
              <a:chOff x="1500944" y="3505200"/>
              <a:chExt cx="503311" cy="889397"/>
            </a:xfrm>
          </p:grpSpPr>
          <p:sp>
            <p:nvSpPr>
              <p:cNvPr id="60" name="Ellipse 60"/>
              <p:cNvSpPr/>
              <p:nvPr/>
            </p:nvSpPr>
            <p:spPr>
              <a:xfrm>
                <a:off x="1524000" y="3505200"/>
                <a:ext cx="457200" cy="457200"/>
              </a:xfrm>
              <a:prstGeom prst="ellipse">
                <a:avLst/>
              </a:prstGeom>
              <a:solidFill>
                <a:srgbClr val="9A412F"/>
              </a:solidFill>
              <a:ln>
                <a:noFill/>
              </a:ln>
            </p:spPr>
          </p:sp>
          <p:grpSp>
            <p:nvGrpSpPr>
              <p:cNvPr id="65" name="Group 65"/>
              <p:cNvGrpSpPr/>
              <p:nvPr/>
            </p:nvGrpSpPr>
            <p:grpSpPr>
              <a:xfrm>
                <a:off x="1674019" y="3672681"/>
                <a:ext cx="157163" cy="122238"/>
                <a:chOff x="1674019" y="3672681"/>
                <a:chExt cx="157163" cy="122238"/>
              </a:xfrm>
            </p:grpSpPr>
            <p:sp>
              <p:nvSpPr>
                <p:cNvPr id="61" name="Freeform 61"/>
                <p:cNvSpPr/>
                <p:nvPr/>
              </p:nvSpPr>
              <p:spPr>
                <a:xfrm>
                  <a:off x="1674019" y="3672681"/>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7463">
                  <a:solidFill>
                    <a:srgbClr val="FFFFFF"/>
                  </a:solidFill>
                </a:ln>
              </p:spPr>
            </p:sp>
            <p:sp>
              <p:nvSpPr>
                <p:cNvPr id="62" name="Freeform 62"/>
                <p:cNvSpPr/>
                <p:nvPr/>
              </p:nvSpPr>
              <p:spPr>
                <a:xfrm>
                  <a:off x="1674019" y="3716338"/>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63" name="Freeform 63"/>
                <p:cNvSpPr/>
                <p:nvPr/>
              </p:nvSpPr>
              <p:spPr>
                <a:xfrm>
                  <a:off x="1708944" y="3759994"/>
                  <a:ext cx="9525" cy="9525"/>
                </a:xfrm>
                <a:custGeom>
                  <a:avLst/>
                  <a:gdLst/>
                  <a:ahLst/>
                  <a:cxnLst/>
                  <a:rect l="l" t="t" r="r" b="b"/>
                  <a:pathLst>
                    <a:path w="9525" h="9525">
                      <a:moveTo>
                        <a:pt x="0" y="0"/>
                      </a:moveTo>
                      <a:lnTo>
                        <a:pt x="87" y="0"/>
                      </a:lnTo>
                    </a:path>
                  </a:pathLst>
                </a:custGeom>
                <a:noFill/>
                <a:ln w="17463">
                  <a:solidFill>
                    <a:srgbClr val="FFFFFF"/>
                  </a:solidFill>
                </a:ln>
              </p:spPr>
            </p:sp>
            <p:sp>
              <p:nvSpPr>
                <p:cNvPr id="64" name="Freeform 64"/>
                <p:cNvSpPr/>
                <p:nvPr/>
              </p:nvSpPr>
              <p:spPr>
                <a:xfrm>
                  <a:off x="1743869" y="3759994"/>
                  <a:ext cx="17463" cy="9525"/>
                </a:xfrm>
                <a:custGeom>
                  <a:avLst/>
                  <a:gdLst/>
                  <a:ahLst/>
                  <a:cxnLst/>
                  <a:rect l="l" t="t" r="r" b="b"/>
                  <a:pathLst>
                    <a:path w="17463" h="9525">
                      <a:moveTo>
                        <a:pt x="0" y="0"/>
                      </a:moveTo>
                      <a:lnTo>
                        <a:pt x="17463" y="0"/>
                      </a:lnTo>
                    </a:path>
                  </a:pathLst>
                </a:custGeom>
                <a:noFill/>
                <a:ln w="17463">
                  <a:solidFill>
                    <a:srgbClr val="FFFFFF"/>
                  </a:solidFill>
                </a:ln>
              </p:spPr>
            </p:sp>
          </p:grpSp>
          <p:sp>
            <p:nvSpPr>
              <p:cNvPr id="66" name="TextBox 66"/>
              <p:cNvSpPr txBox="1"/>
              <p:nvPr/>
            </p:nvSpPr>
            <p:spPr>
              <a:xfrm>
                <a:off x="1516754" y="40528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消费提频​</a:t>
                </a:r>
              </a:p>
            </p:txBody>
          </p:sp>
          <p:sp>
            <p:nvSpPr>
              <p:cNvPr id="67" name="TextBox 67"/>
              <p:cNvSpPr txBox="1"/>
              <p:nvPr/>
            </p:nvSpPr>
            <p:spPr>
              <a:xfrm>
                <a:off x="1500944" y="418742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信用消费加持​</a:t>
                </a:r>
              </a:p>
            </p:txBody>
          </p:sp>
          <p:sp>
            <p:nvSpPr>
              <p:cNvPr id="68" name="TextBox 68"/>
              <p:cNvSpPr txBox="1"/>
              <p:nvPr/>
            </p:nvSpPr>
            <p:spPr>
              <a:xfrm>
                <a:off x="1500944" y="428267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满足多元需求​</a:t>
                </a:r>
              </a:p>
            </p:txBody>
          </p:sp>
        </p:grpSp>
        <p:grpSp>
          <p:nvGrpSpPr>
            <p:cNvPr id="77" name="fw-node5"/>
            <p:cNvGrpSpPr/>
            <p:nvPr/>
          </p:nvGrpSpPr>
          <p:grpSpPr>
            <a:xfrm>
              <a:off x="491294" y="3067050"/>
              <a:ext cx="727906" cy="889397"/>
              <a:chOff x="491294" y="3067050"/>
              <a:chExt cx="727906" cy="889397"/>
            </a:xfrm>
          </p:grpSpPr>
          <p:sp>
            <p:nvSpPr>
              <p:cNvPr id="70" name="Ellipse 70"/>
              <p:cNvSpPr/>
              <p:nvPr/>
            </p:nvSpPr>
            <p:spPr>
              <a:xfrm>
                <a:off x="762000" y="3067050"/>
                <a:ext cx="457200" cy="457200"/>
              </a:xfrm>
              <a:prstGeom prst="ellipse">
                <a:avLst/>
              </a:prstGeom>
              <a:solidFill>
                <a:srgbClr val="A75545"/>
              </a:solidFill>
              <a:ln>
                <a:noFill/>
              </a:ln>
            </p:spPr>
          </p:sp>
          <p:grpSp>
            <p:nvGrpSpPr>
              <p:cNvPr id="73" name="Group 73"/>
              <p:cNvGrpSpPr/>
              <p:nvPr/>
            </p:nvGrpSpPr>
            <p:grpSpPr>
              <a:xfrm>
                <a:off x="920750" y="3243263"/>
                <a:ext cx="139700" cy="123031"/>
                <a:chOff x="920750" y="3243263"/>
                <a:chExt cx="139700" cy="123031"/>
              </a:xfrm>
            </p:grpSpPr>
            <p:sp>
              <p:nvSpPr>
                <p:cNvPr id="71" name="Freeform 71"/>
                <p:cNvSpPr/>
                <p:nvPr/>
              </p:nvSpPr>
              <p:spPr>
                <a:xfrm>
                  <a:off x="920750" y="3356769"/>
                  <a:ext cx="139700" cy="9525"/>
                </a:xfrm>
                <a:custGeom>
                  <a:avLst/>
                  <a:gdLst/>
                  <a:ahLst/>
                  <a:cxnLst/>
                  <a:rect l="l" t="t" r="r" b="b"/>
                  <a:pathLst>
                    <a:path w="139700" h="9525">
                      <a:moveTo>
                        <a:pt x="0" y="0"/>
                      </a:moveTo>
                      <a:lnTo>
                        <a:pt x="139700" y="0"/>
                      </a:lnTo>
                    </a:path>
                  </a:pathLst>
                </a:custGeom>
                <a:noFill/>
                <a:ln w="17463">
                  <a:solidFill>
                    <a:srgbClr val="FFFFFF"/>
                  </a:solidFill>
                </a:ln>
              </p:spPr>
            </p:sp>
            <p:sp>
              <p:nvSpPr>
                <p:cNvPr id="72" name="Freeform 72"/>
                <p:cNvSpPr/>
                <p:nvPr/>
              </p:nvSpPr>
              <p:spPr>
                <a:xfrm>
                  <a:off x="920750" y="3243263"/>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7463">
                  <a:solidFill>
                    <a:srgbClr val="FFFFFF"/>
                  </a:solidFill>
                </a:ln>
              </p:spPr>
            </p:sp>
          </p:grpSp>
          <p:sp>
            <p:nvSpPr>
              <p:cNvPr id="74" name="TextBox 74"/>
              <p:cNvSpPr txBox="1"/>
              <p:nvPr/>
            </p:nvSpPr>
            <p:spPr>
              <a:xfrm>
                <a:off x="507104" y="361473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财富提升​</a:t>
                </a:r>
              </a:p>
            </p:txBody>
          </p:sp>
          <p:sp>
            <p:nvSpPr>
              <p:cNvPr id="75" name="TextBox 75"/>
              <p:cNvSpPr txBox="1"/>
              <p:nvPr/>
            </p:nvSpPr>
            <p:spPr>
              <a:xfrm>
                <a:off x="491294" y="374927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理财配置规划​</a:t>
                </a:r>
              </a:p>
            </p:txBody>
          </p:sp>
          <p:sp>
            <p:nvSpPr>
              <p:cNvPr id="76" name="TextBox 76"/>
              <p:cNvSpPr txBox="1"/>
              <p:nvPr/>
            </p:nvSpPr>
            <p:spPr>
              <a:xfrm>
                <a:off x="491294" y="384452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实现资产增值​</a:t>
                </a:r>
              </a:p>
            </p:txBody>
          </p:sp>
        </p:grpSp>
        <p:grpSp>
          <p:nvGrpSpPr>
            <p:cNvPr id="86" name="fw-node6"/>
            <p:cNvGrpSpPr/>
            <p:nvPr/>
          </p:nvGrpSpPr>
          <p:grpSpPr>
            <a:xfrm>
              <a:off x="491294" y="2190750"/>
              <a:ext cx="727906" cy="889397"/>
              <a:chOff x="491294" y="2190750"/>
              <a:chExt cx="727906" cy="889397"/>
            </a:xfrm>
          </p:grpSpPr>
          <p:sp>
            <p:nvSpPr>
              <p:cNvPr id="78" name="Ellipse 78"/>
              <p:cNvSpPr/>
              <p:nvPr/>
            </p:nvSpPr>
            <p:spPr>
              <a:xfrm>
                <a:off x="762000" y="2190750"/>
                <a:ext cx="457200" cy="457200"/>
              </a:xfrm>
              <a:prstGeom prst="ellipse">
                <a:avLst/>
              </a:prstGeom>
              <a:solidFill>
                <a:srgbClr val="AE6C5F"/>
              </a:solidFill>
              <a:ln>
                <a:noFill/>
              </a:ln>
            </p:spPr>
          </p:sp>
          <p:grpSp>
            <p:nvGrpSpPr>
              <p:cNvPr id="82" name="Group 82"/>
              <p:cNvGrpSpPr/>
              <p:nvPr/>
            </p:nvGrpSpPr>
            <p:grpSpPr>
              <a:xfrm>
                <a:off x="912019" y="2340769"/>
                <a:ext cx="157163" cy="157162"/>
                <a:chOff x="912019" y="2340769"/>
                <a:chExt cx="157163" cy="157162"/>
              </a:xfrm>
            </p:grpSpPr>
            <p:sp>
              <p:nvSpPr>
                <p:cNvPr id="79" name="Freeform 79"/>
                <p:cNvSpPr/>
                <p:nvPr/>
              </p:nvSpPr>
              <p:spPr>
                <a:xfrm>
                  <a:off x="912019" y="2340769"/>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FFFFFF"/>
                  </a:solidFill>
                </a:ln>
              </p:spPr>
            </p:sp>
            <p:sp>
              <p:nvSpPr>
                <p:cNvPr id="80" name="Freeform 80"/>
                <p:cNvSpPr/>
                <p:nvPr/>
              </p:nvSpPr>
              <p:spPr>
                <a:xfrm>
                  <a:off x="929481" y="2419350"/>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FFFFFF"/>
                  </a:solidFill>
                </a:ln>
              </p:spPr>
            </p:sp>
            <p:sp>
              <p:nvSpPr>
                <p:cNvPr id="81" name="Freeform 81"/>
                <p:cNvSpPr/>
                <p:nvPr/>
              </p:nvSpPr>
              <p:spPr>
                <a:xfrm>
                  <a:off x="964406" y="2428081"/>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FFFFFF"/>
                  </a:solidFill>
                </a:ln>
              </p:spPr>
            </p:sp>
          </p:grpSp>
          <p:sp>
            <p:nvSpPr>
              <p:cNvPr id="83" name="TextBox 83"/>
              <p:cNvSpPr txBox="1"/>
              <p:nvPr/>
            </p:nvSpPr>
            <p:spPr>
              <a:xfrm>
                <a:off x="507104" y="273843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家庭拓展​</a:t>
                </a:r>
              </a:p>
            </p:txBody>
          </p:sp>
          <p:sp>
            <p:nvSpPr>
              <p:cNvPr id="84" name="TextBox 84"/>
              <p:cNvSpPr txBox="1"/>
              <p:nvPr/>
            </p:nvSpPr>
            <p:spPr>
              <a:xfrm>
                <a:off x="491294" y="287297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延伸家庭成员​</a:t>
                </a:r>
              </a:p>
            </p:txBody>
          </p:sp>
          <p:sp>
            <p:nvSpPr>
              <p:cNvPr id="85" name="TextBox 85"/>
              <p:cNvSpPr txBox="1"/>
              <p:nvPr/>
            </p:nvSpPr>
            <p:spPr>
              <a:xfrm>
                <a:off x="491294" y="296822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构建综合服务​</a:t>
                </a:r>
              </a:p>
            </p:txBody>
          </p:sp>
        </p:grpSp>
      </p:grpSp>
      <p:grpSp>
        <p:nvGrpSpPr>
          <p:cNvPr id="129" name="kpi-row"/>
          <p:cNvGrpSpPr/>
          <p:nvPr/>
        </p:nvGrpSpPr>
        <p:grpSpPr>
          <a:xfrm>
            <a:off x="3390900" y="666750"/>
            <a:ext cx="8572500" cy="609600"/>
            <a:chOff x="3390900" y="666750"/>
            <a:chExt cx="8572500" cy="609600"/>
          </a:xfrm>
        </p:grpSpPr>
        <p:sp>
          <p:nvSpPr>
            <p:cNvPr id="88" name="Rectangle 88"/>
            <p:cNvSpPr/>
            <p:nvPr/>
          </p:nvSpPr>
          <p:spPr>
            <a:xfrm>
              <a:off x="3390900" y="666750"/>
              <a:ext cx="2057400" cy="609600"/>
            </a:xfrm>
            <a:prstGeom prst="roundRect">
              <a:avLst>
                <a:gd name="adj" fmla="val 12500"/>
              </a:avLst>
            </a:prstGeom>
            <a:solidFill>
              <a:srgbClr val="F5FAF8"/>
            </a:solidFill>
            <a:ln w="9525">
              <a:solidFill>
                <a:srgbClr val="D9E8E2"/>
              </a:solidFill>
            </a:ln>
          </p:spPr>
        </p:sp>
        <p:sp>
          <p:nvSpPr>
            <p:cNvPr id="89" name="Ellipse 89"/>
            <p:cNvSpPr/>
            <p:nvPr/>
          </p:nvSpPr>
          <p:spPr>
            <a:xfrm>
              <a:off x="3495675" y="809625"/>
              <a:ext cx="323850" cy="323850"/>
            </a:xfrm>
            <a:prstGeom prst="ellipse">
              <a:avLst/>
            </a:prstGeom>
            <a:solidFill>
              <a:srgbClr val="5B180B"/>
            </a:solidFill>
            <a:ln>
              <a:noFill/>
            </a:ln>
          </p:spPr>
        </p:sp>
        <p:grpSp>
          <p:nvGrpSpPr>
            <p:cNvPr id="98" name="Group 98"/>
            <p:cNvGrpSpPr/>
            <p:nvPr/>
          </p:nvGrpSpPr>
          <p:grpSpPr>
            <a:xfrm>
              <a:off x="3571875" y="885825"/>
              <a:ext cx="171450" cy="180975"/>
              <a:chOff x="3571875" y="885825"/>
              <a:chExt cx="171450" cy="180975"/>
            </a:xfrm>
          </p:grpSpPr>
          <p:sp>
            <p:nvSpPr>
              <p:cNvPr id="90" name="Freeform 90"/>
              <p:cNvSpPr/>
              <p:nvPr/>
            </p:nvSpPr>
            <p:spPr>
              <a:xfrm>
                <a:off x="3571875" y="105727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91" name="Freeform 91"/>
              <p:cNvSpPr/>
              <p:nvPr/>
            </p:nvSpPr>
            <p:spPr>
              <a:xfrm>
                <a:off x="3571875" y="952500"/>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92" name="Freeform 92"/>
              <p:cNvSpPr/>
              <p:nvPr/>
            </p:nvSpPr>
            <p:spPr>
              <a:xfrm>
                <a:off x="3590925" y="885825"/>
                <a:ext cx="133350" cy="28575"/>
              </a:xfrm>
              <a:custGeom>
                <a:avLst/>
                <a:gdLst/>
                <a:ahLst/>
                <a:cxnLst/>
                <a:rect l="l" t="t" r="r" b="b"/>
                <a:pathLst>
                  <a:path w="133350" h="28575">
                    <a:moveTo>
                      <a:pt x="0" y="28575"/>
                    </a:moveTo>
                    <a:lnTo>
                      <a:pt x="66675" y="0"/>
                    </a:lnTo>
                    <a:lnTo>
                      <a:pt x="133350" y="28575"/>
                    </a:lnTo>
                  </a:path>
                </a:pathLst>
              </a:custGeom>
              <a:noFill/>
              <a:ln w="19050">
                <a:solidFill>
                  <a:srgbClr val="FFFFFF"/>
                </a:solidFill>
              </a:ln>
            </p:spPr>
          </p:sp>
          <p:sp>
            <p:nvSpPr>
              <p:cNvPr id="93" name="Freeform 93"/>
              <p:cNvSpPr/>
              <p:nvPr/>
            </p:nvSpPr>
            <p:spPr>
              <a:xfrm>
                <a:off x="3581400" y="9525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94" name="Freeform 94"/>
              <p:cNvSpPr/>
              <p:nvPr/>
            </p:nvSpPr>
            <p:spPr>
              <a:xfrm>
                <a:off x="3733800" y="9525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95" name="Freeform 95"/>
              <p:cNvSpPr/>
              <p:nvPr/>
            </p:nvSpPr>
            <p:spPr>
              <a:xfrm>
                <a:off x="3619500" y="9906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96" name="Freeform 96"/>
              <p:cNvSpPr/>
              <p:nvPr/>
            </p:nvSpPr>
            <p:spPr>
              <a:xfrm>
                <a:off x="3657600" y="9906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97" name="Freeform 97"/>
              <p:cNvSpPr/>
              <p:nvPr/>
            </p:nvSpPr>
            <p:spPr>
              <a:xfrm>
                <a:off x="3695700" y="990600"/>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99" name="TextBox 99"/>
            <p:cNvSpPr txBox="1"/>
            <p:nvPr/>
          </p:nvSpPr>
          <p:spPr>
            <a:xfrm>
              <a:off x="3900488" y="772239"/>
              <a:ext cx="706116" cy="154781"/>
            </a:xfrm>
            <a:prstGeom prst="rect">
              <a:avLst/>
            </a:prstGeom>
            <a:noFill/>
            <a:ln>
              <a:noFill/>
            </a:ln>
          </p:spPr>
          <p:txBody>
            <a:bodyPr wrap="none" lIns="0" tIns="0" rIns="0" bIns="0" anchor="t" anchorCtr="0">
              <a:spAutoFit/>
            </a:bodyPr>
            <a:lstStyle/>
            <a:p>
              <a:pPr algn="l"/>
              <a:r>
                <a:rPr lang="zh-CN" sz="790" dirty="0">
                  <a:solidFill>
                    <a:srgbClr val="5F6F6A"/>
                  </a:solidFill>
                  <a:latin typeface="+mn-lt"/>
                  <a:ea typeface="+mn-ea"/>
                  <a:cs typeface="+mn-cs"/>
                </a:rPr>
                <a:t>新增代发企业​</a:t>
              </a:r>
            </a:p>
          </p:txBody>
        </p:sp>
        <p:sp>
          <p:nvSpPr>
            <p:cNvPr id="100" name="TextBox 100"/>
            <p:cNvSpPr txBox="1"/>
            <p:nvPr/>
          </p:nvSpPr>
          <p:spPr>
            <a:xfrm>
              <a:off x="3897630" y="904875"/>
              <a:ext cx="503338" cy="293370"/>
            </a:xfrm>
            <a:prstGeom prst="rect">
              <a:avLst/>
            </a:prstGeom>
            <a:noFill/>
            <a:ln>
              <a:noFill/>
            </a:ln>
          </p:spPr>
          <p:txBody>
            <a:bodyPr wrap="none" lIns="0" tIns="0" rIns="0" bIns="0" anchor="t" anchorCtr="0">
              <a:spAutoFit/>
            </a:bodyPr>
            <a:lstStyle/>
            <a:p>
              <a:pPr algn="l"/>
              <a:r>
                <a:rPr lang="zh-CN" sz="1500" b="1" dirty="0">
                  <a:solidFill>
                    <a:srgbClr val="5B180B"/>
                  </a:solidFill>
                  <a:latin typeface="+mn-lt"/>
                  <a:ea typeface="+mn-ea"/>
                  <a:cs typeface="+mn-cs"/>
                </a:rPr>
                <a:t>12</a:t>
              </a:r>
              <a:r>
                <a:rPr lang="zh-CN" sz="790" dirty="0">
                  <a:solidFill>
                    <a:srgbClr val="5F6F6A"/>
                  </a:solidFill>
                  <a:latin typeface="+mn-lt"/>
                  <a:ea typeface="+mn-ea"/>
                  <a:cs typeface="+mn-cs"/>
                </a:rPr>
                <a:t xml:space="preserve"> 户</a:t>
              </a:r>
              <a:r>
                <a:rPr lang="zh-CN" sz="1500" b="1" dirty="0">
                  <a:solidFill>
                    <a:srgbClr val="5B180B"/>
                  </a:solidFill>
                  <a:latin typeface="+mn-lt"/>
                  <a:ea typeface="+mn-ea"/>
                  <a:cs typeface="+mn-cs"/>
                </a:rPr>
                <a:t>​</a:t>
              </a:r>
            </a:p>
          </p:txBody>
        </p:sp>
        <p:sp>
          <p:nvSpPr>
            <p:cNvPr id="101" name="TextBox 101"/>
            <p:cNvSpPr txBox="1"/>
            <p:nvPr/>
          </p:nvSpPr>
          <p:spPr>
            <a:xfrm>
              <a:off x="3900488" y="1140857"/>
              <a:ext cx="634162" cy="126206"/>
            </a:xfrm>
            <a:prstGeom prst="rect">
              <a:avLst/>
            </a:prstGeom>
            <a:noFill/>
            <a:ln>
              <a:noFill/>
            </a:ln>
          </p:spPr>
          <p:txBody>
            <a:bodyPr wrap="none" lIns="0" tIns="0" rIns="0" bIns="0" anchor="t" anchorCtr="0">
              <a:spAutoFit/>
            </a:bodyPr>
            <a:lstStyle/>
            <a:p>
              <a:pPr algn="l"/>
              <a:r>
                <a:rPr lang="zh-CN" sz="640" dirty="0">
                  <a:solidFill>
                    <a:srgbClr val="9E402E"/>
                  </a:solidFill>
                  <a:latin typeface="+mn-lt"/>
                  <a:ea typeface="+mn-ea"/>
                  <a:cs typeface="+mn-cs"/>
                </a:rPr>
                <a:t>较上季度 +50%​</a:t>
              </a:r>
            </a:p>
          </p:txBody>
        </p:sp>
        <p:sp>
          <p:nvSpPr>
            <p:cNvPr id="102" name="Rectangle 102"/>
            <p:cNvSpPr/>
            <p:nvPr/>
          </p:nvSpPr>
          <p:spPr>
            <a:xfrm>
              <a:off x="5562600" y="666750"/>
              <a:ext cx="2057400" cy="609600"/>
            </a:xfrm>
            <a:prstGeom prst="roundRect">
              <a:avLst>
                <a:gd name="adj" fmla="val 12500"/>
              </a:avLst>
            </a:prstGeom>
            <a:solidFill>
              <a:srgbClr val="F5FAF8"/>
            </a:solidFill>
            <a:ln w="9525">
              <a:solidFill>
                <a:srgbClr val="D9E8E2"/>
              </a:solidFill>
            </a:ln>
          </p:spPr>
        </p:sp>
        <p:sp>
          <p:nvSpPr>
            <p:cNvPr id="103" name="Ellipse 103"/>
            <p:cNvSpPr/>
            <p:nvPr/>
          </p:nvSpPr>
          <p:spPr>
            <a:xfrm>
              <a:off x="5667375" y="809625"/>
              <a:ext cx="323850" cy="323850"/>
            </a:xfrm>
            <a:prstGeom prst="ellipse">
              <a:avLst/>
            </a:prstGeom>
            <a:solidFill>
              <a:srgbClr val="5B180B"/>
            </a:solidFill>
            <a:ln>
              <a:noFill/>
            </a:ln>
          </p:spPr>
        </p:sp>
        <p:grpSp>
          <p:nvGrpSpPr>
            <p:cNvPr id="108" name="Group 108"/>
            <p:cNvGrpSpPr/>
            <p:nvPr/>
          </p:nvGrpSpPr>
          <p:grpSpPr>
            <a:xfrm>
              <a:off x="5743575" y="885825"/>
              <a:ext cx="171450" cy="171450"/>
              <a:chOff x="5743575" y="885825"/>
              <a:chExt cx="171450" cy="171450"/>
            </a:xfrm>
          </p:grpSpPr>
          <p:sp>
            <p:nvSpPr>
              <p:cNvPr id="104" name="Freeform 104"/>
              <p:cNvSpPr/>
              <p:nvPr/>
            </p:nvSpPr>
            <p:spPr>
              <a:xfrm>
                <a:off x="5762625" y="8858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05" name="Freeform 105"/>
              <p:cNvSpPr/>
              <p:nvPr/>
            </p:nvSpPr>
            <p:spPr>
              <a:xfrm>
                <a:off x="5743575" y="10001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106" name="Freeform 106"/>
              <p:cNvSpPr/>
              <p:nvPr/>
            </p:nvSpPr>
            <p:spPr>
              <a:xfrm>
                <a:off x="5867400" y="8870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107" name="Freeform 107"/>
              <p:cNvSpPr/>
              <p:nvPr/>
            </p:nvSpPr>
            <p:spPr>
              <a:xfrm>
                <a:off x="5886450" y="10015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109" name="TextBox 109"/>
            <p:cNvSpPr txBox="1"/>
            <p:nvPr/>
          </p:nvSpPr>
          <p:spPr>
            <a:xfrm>
              <a:off x="6072188" y="772239"/>
              <a:ext cx="706116" cy="154781"/>
            </a:xfrm>
            <a:prstGeom prst="rect">
              <a:avLst/>
            </a:prstGeom>
            <a:noFill/>
            <a:ln>
              <a:noFill/>
            </a:ln>
          </p:spPr>
          <p:txBody>
            <a:bodyPr wrap="none" lIns="0" tIns="0" rIns="0" bIns="0" anchor="t" anchorCtr="0">
              <a:spAutoFit/>
            </a:bodyPr>
            <a:lstStyle/>
            <a:p>
              <a:pPr algn="l"/>
              <a:r>
                <a:rPr lang="zh-CN" sz="790" dirty="0">
                  <a:solidFill>
                    <a:srgbClr val="5F6F6A"/>
                  </a:solidFill>
                  <a:latin typeface="+mn-lt"/>
                  <a:ea typeface="+mn-ea"/>
                  <a:cs typeface="+mn-cs"/>
                </a:rPr>
                <a:t>新增代发客户​</a:t>
              </a:r>
            </a:p>
          </p:txBody>
        </p:sp>
        <p:sp>
          <p:nvSpPr>
            <p:cNvPr id="110" name="TextBox 110"/>
            <p:cNvSpPr txBox="1"/>
            <p:nvPr/>
          </p:nvSpPr>
          <p:spPr>
            <a:xfrm>
              <a:off x="6069330" y="904875"/>
              <a:ext cx="619953" cy="293370"/>
            </a:xfrm>
            <a:prstGeom prst="rect">
              <a:avLst/>
            </a:prstGeom>
            <a:noFill/>
            <a:ln>
              <a:noFill/>
            </a:ln>
          </p:spPr>
          <p:txBody>
            <a:bodyPr wrap="none" lIns="0" tIns="0" rIns="0" bIns="0" anchor="t" anchorCtr="0">
              <a:spAutoFit/>
            </a:bodyPr>
            <a:lstStyle/>
            <a:p>
              <a:pPr algn="l"/>
              <a:r>
                <a:rPr lang="zh-CN" sz="1500" b="1" dirty="0">
                  <a:solidFill>
                    <a:srgbClr val="5B180B"/>
                  </a:solidFill>
                  <a:latin typeface="+mn-lt"/>
                  <a:ea typeface="+mn-ea"/>
                  <a:cs typeface="+mn-cs"/>
                </a:rPr>
                <a:t>680</a:t>
              </a:r>
              <a:r>
                <a:rPr lang="zh-CN" sz="790" dirty="0">
                  <a:solidFill>
                    <a:srgbClr val="5F6F6A"/>
                  </a:solidFill>
                  <a:latin typeface="+mn-lt"/>
                  <a:ea typeface="+mn-ea"/>
                  <a:cs typeface="+mn-cs"/>
                </a:rPr>
                <a:t xml:space="preserve"> 户</a:t>
              </a:r>
              <a:r>
                <a:rPr lang="zh-CN" sz="1500" b="1" dirty="0">
                  <a:solidFill>
                    <a:srgbClr val="5B180B"/>
                  </a:solidFill>
                  <a:latin typeface="+mn-lt"/>
                  <a:ea typeface="+mn-ea"/>
                  <a:cs typeface="+mn-cs"/>
                </a:rPr>
                <a:t>​</a:t>
              </a:r>
            </a:p>
          </p:txBody>
        </p:sp>
        <p:sp>
          <p:nvSpPr>
            <p:cNvPr id="111" name="TextBox 111"/>
            <p:cNvSpPr txBox="1"/>
            <p:nvPr/>
          </p:nvSpPr>
          <p:spPr>
            <a:xfrm>
              <a:off x="6072188" y="1140857"/>
              <a:ext cx="634162" cy="126206"/>
            </a:xfrm>
            <a:prstGeom prst="rect">
              <a:avLst/>
            </a:prstGeom>
            <a:noFill/>
            <a:ln>
              <a:noFill/>
            </a:ln>
          </p:spPr>
          <p:txBody>
            <a:bodyPr wrap="none" lIns="0" tIns="0" rIns="0" bIns="0" anchor="t" anchorCtr="0">
              <a:spAutoFit/>
            </a:bodyPr>
            <a:lstStyle/>
            <a:p>
              <a:pPr algn="l"/>
              <a:r>
                <a:rPr lang="zh-CN" sz="640" dirty="0">
                  <a:solidFill>
                    <a:srgbClr val="9E402E"/>
                  </a:solidFill>
                  <a:latin typeface="+mn-lt"/>
                  <a:ea typeface="+mn-ea"/>
                  <a:cs typeface="+mn-cs"/>
                </a:rPr>
                <a:t>较上季度 +42%​</a:t>
              </a:r>
            </a:p>
          </p:txBody>
        </p:sp>
        <p:sp>
          <p:nvSpPr>
            <p:cNvPr id="112" name="Rectangle 112"/>
            <p:cNvSpPr/>
            <p:nvPr/>
          </p:nvSpPr>
          <p:spPr>
            <a:xfrm>
              <a:off x="7734300" y="666750"/>
              <a:ext cx="2057400" cy="609600"/>
            </a:xfrm>
            <a:prstGeom prst="roundRect">
              <a:avLst>
                <a:gd name="adj" fmla="val 12500"/>
              </a:avLst>
            </a:prstGeom>
            <a:solidFill>
              <a:srgbClr val="F5FAF8"/>
            </a:solidFill>
            <a:ln w="9525">
              <a:solidFill>
                <a:srgbClr val="D9E8E2"/>
              </a:solidFill>
            </a:ln>
          </p:spPr>
        </p:sp>
        <p:sp>
          <p:nvSpPr>
            <p:cNvPr id="113" name="Ellipse 113"/>
            <p:cNvSpPr/>
            <p:nvPr/>
          </p:nvSpPr>
          <p:spPr>
            <a:xfrm>
              <a:off x="7839075" y="809625"/>
              <a:ext cx="323850" cy="323850"/>
            </a:xfrm>
            <a:prstGeom prst="ellipse">
              <a:avLst/>
            </a:prstGeom>
            <a:solidFill>
              <a:srgbClr val="5B180B"/>
            </a:solidFill>
            <a:ln>
              <a:noFill/>
            </a:ln>
          </p:spPr>
        </p:sp>
        <p:grpSp>
          <p:nvGrpSpPr>
            <p:cNvPr id="116" name="Group 116"/>
            <p:cNvGrpSpPr/>
            <p:nvPr/>
          </p:nvGrpSpPr>
          <p:grpSpPr>
            <a:xfrm>
              <a:off x="7902421" y="885825"/>
              <a:ext cx="186006" cy="171450"/>
              <a:chOff x="7902421" y="885825"/>
              <a:chExt cx="186006" cy="171450"/>
            </a:xfrm>
          </p:grpSpPr>
          <p:sp>
            <p:nvSpPr>
              <p:cNvPr id="114" name="Freeform 114"/>
              <p:cNvSpPr/>
              <p:nvPr/>
            </p:nvSpPr>
            <p:spPr>
              <a:xfrm>
                <a:off x="7902421" y="8858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FFFFFF"/>
                </a:solidFill>
              </a:ln>
            </p:spPr>
          </p:sp>
          <p:sp>
            <p:nvSpPr>
              <p:cNvPr id="115" name="Freeform 115"/>
              <p:cNvSpPr/>
              <p:nvPr/>
            </p:nvSpPr>
            <p:spPr>
              <a:xfrm>
                <a:off x="8029575" y="101917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117" name="TextBox 117"/>
            <p:cNvSpPr txBox="1"/>
            <p:nvPr/>
          </p:nvSpPr>
          <p:spPr>
            <a:xfrm>
              <a:off x="8243888" y="772239"/>
              <a:ext cx="387067" cy="154781"/>
            </a:xfrm>
            <a:prstGeom prst="rect">
              <a:avLst/>
            </a:prstGeom>
            <a:noFill/>
            <a:ln>
              <a:noFill/>
            </a:ln>
          </p:spPr>
          <p:txBody>
            <a:bodyPr wrap="none" lIns="0" tIns="0" rIns="0" bIns="0" anchor="t" anchorCtr="0">
              <a:spAutoFit/>
            </a:bodyPr>
            <a:lstStyle/>
            <a:p>
              <a:pPr algn="l"/>
              <a:r>
                <a:rPr lang="zh-CN" sz="790" dirty="0">
                  <a:solidFill>
                    <a:srgbClr val="5F6F6A"/>
                  </a:solidFill>
                  <a:latin typeface="+mn-lt"/>
                  <a:ea typeface="+mn-ea"/>
                  <a:cs typeface="+mn-cs"/>
                </a:rPr>
                <a:t>留存率​</a:t>
              </a:r>
            </a:p>
          </p:txBody>
        </p:sp>
        <p:sp>
          <p:nvSpPr>
            <p:cNvPr id="118" name="TextBox 118"/>
            <p:cNvSpPr txBox="1"/>
            <p:nvPr/>
          </p:nvSpPr>
          <p:spPr>
            <a:xfrm>
              <a:off x="8241030" y="904875"/>
              <a:ext cx="524104" cy="293370"/>
            </a:xfrm>
            <a:prstGeom prst="rect">
              <a:avLst/>
            </a:prstGeom>
            <a:noFill/>
            <a:ln>
              <a:noFill/>
            </a:ln>
          </p:spPr>
          <p:txBody>
            <a:bodyPr wrap="none" lIns="0" tIns="0" rIns="0" bIns="0" anchor="t" anchorCtr="0">
              <a:spAutoFit/>
            </a:bodyPr>
            <a:lstStyle/>
            <a:p>
              <a:pPr algn="l"/>
              <a:r>
                <a:rPr lang="zh-CN" sz="1500" b="1" dirty="0">
                  <a:solidFill>
                    <a:srgbClr val="5B180B"/>
                  </a:solidFill>
                  <a:latin typeface="+mn-lt"/>
                  <a:ea typeface="+mn-ea"/>
                  <a:cs typeface="+mn-cs"/>
                </a:rPr>
                <a:t>85%​</a:t>
              </a:r>
            </a:p>
          </p:txBody>
        </p:sp>
        <p:sp>
          <p:nvSpPr>
            <p:cNvPr id="119" name="TextBox 119"/>
            <p:cNvSpPr txBox="1"/>
            <p:nvPr/>
          </p:nvSpPr>
          <p:spPr>
            <a:xfrm>
              <a:off x="8243888" y="1140857"/>
              <a:ext cx="664317" cy="126206"/>
            </a:xfrm>
            <a:prstGeom prst="rect">
              <a:avLst/>
            </a:prstGeom>
            <a:noFill/>
            <a:ln>
              <a:noFill/>
            </a:ln>
          </p:spPr>
          <p:txBody>
            <a:bodyPr wrap="none" lIns="0" tIns="0" rIns="0" bIns="0" anchor="t" anchorCtr="0">
              <a:spAutoFit/>
            </a:bodyPr>
            <a:lstStyle/>
            <a:p>
              <a:pPr algn="l"/>
              <a:r>
                <a:rPr lang="zh-CN" sz="640" dirty="0">
                  <a:solidFill>
                    <a:srgbClr val="9E402E"/>
                  </a:solidFill>
                  <a:latin typeface="+mn-lt"/>
                  <a:ea typeface="+mn-ea"/>
                  <a:cs typeface="+mn-cs"/>
                </a:rPr>
                <a:t>较上季度 +6pct​</a:t>
              </a:r>
            </a:p>
          </p:txBody>
        </p:sp>
        <p:sp>
          <p:nvSpPr>
            <p:cNvPr id="120" name="Rectangle 120"/>
            <p:cNvSpPr/>
            <p:nvPr/>
          </p:nvSpPr>
          <p:spPr>
            <a:xfrm>
              <a:off x="9906000" y="666750"/>
              <a:ext cx="2057400" cy="609600"/>
            </a:xfrm>
            <a:prstGeom prst="roundRect">
              <a:avLst>
                <a:gd name="adj" fmla="val 12500"/>
              </a:avLst>
            </a:prstGeom>
            <a:solidFill>
              <a:srgbClr val="F5FAF8"/>
            </a:solidFill>
            <a:ln w="9525">
              <a:solidFill>
                <a:srgbClr val="D9E8E2"/>
              </a:solidFill>
            </a:ln>
          </p:spPr>
        </p:sp>
        <p:sp>
          <p:nvSpPr>
            <p:cNvPr id="121" name="Ellipse 121"/>
            <p:cNvSpPr/>
            <p:nvPr/>
          </p:nvSpPr>
          <p:spPr>
            <a:xfrm>
              <a:off x="10010775" y="809625"/>
              <a:ext cx="323850" cy="323850"/>
            </a:xfrm>
            <a:prstGeom prst="ellipse">
              <a:avLst/>
            </a:prstGeom>
            <a:solidFill>
              <a:srgbClr val="5B180B"/>
            </a:solidFill>
            <a:ln>
              <a:noFill/>
            </a:ln>
          </p:spPr>
        </p:sp>
        <p:grpSp>
          <p:nvGrpSpPr>
            <p:cNvPr id="125" name="Group 125"/>
            <p:cNvGrpSpPr/>
            <p:nvPr/>
          </p:nvGrpSpPr>
          <p:grpSpPr>
            <a:xfrm>
              <a:off x="10096500" y="885825"/>
              <a:ext cx="152400" cy="171450"/>
              <a:chOff x="10096500" y="885825"/>
              <a:chExt cx="152400" cy="171450"/>
            </a:xfrm>
          </p:grpSpPr>
          <p:sp>
            <p:nvSpPr>
              <p:cNvPr id="122" name="Freeform 122"/>
              <p:cNvSpPr/>
              <p:nvPr/>
            </p:nvSpPr>
            <p:spPr>
              <a:xfrm>
                <a:off x="10096500" y="88582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FFFFFF"/>
                </a:solidFill>
              </a:ln>
            </p:spPr>
          </p:sp>
          <p:sp>
            <p:nvSpPr>
              <p:cNvPr id="123" name="Freeform 123"/>
              <p:cNvSpPr/>
              <p:nvPr/>
            </p:nvSpPr>
            <p:spPr>
              <a:xfrm>
                <a:off x="10096500" y="9144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sp>
            <p:nvSpPr>
              <p:cNvPr id="124" name="Freeform 124"/>
              <p:cNvSpPr/>
              <p:nvPr/>
            </p:nvSpPr>
            <p:spPr>
              <a:xfrm>
                <a:off x="10096500" y="9715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grpSp>
        <p:sp>
          <p:nvSpPr>
            <p:cNvPr id="126" name="TextBox 126"/>
            <p:cNvSpPr txBox="1"/>
            <p:nvPr/>
          </p:nvSpPr>
          <p:spPr>
            <a:xfrm>
              <a:off x="10415588" y="772239"/>
              <a:ext cx="488601" cy="154781"/>
            </a:xfrm>
            <a:prstGeom prst="rect">
              <a:avLst/>
            </a:prstGeom>
            <a:noFill/>
            <a:ln>
              <a:noFill/>
            </a:ln>
          </p:spPr>
          <p:txBody>
            <a:bodyPr wrap="none" lIns="0" tIns="0" rIns="0" bIns="0" anchor="t" anchorCtr="0">
              <a:spAutoFit/>
            </a:bodyPr>
            <a:lstStyle/>
            <a:p>
              <a:pPr algn="l"/>
              <a:r>
                <a:rPr lang="zh-CN" sz="790" dirty="0">
                  <a:solidFill>
                    <a:srgbClr val="5F6F6A"/>
                  </a:solidFill>
                  <a:latin typeface="+mn-lt"/>
                  <a:ea typeface="+mn-ea"/>
                  <a:cs typeface="+mn-cs"/>
                </a:rPr>
                <a:t>AUM转化​</a:t>
              </a:r>
            </a:p>
          </p:txBody>
        </p:sp>
        <p:sp>
          <p:nvSpPr>
            <p:cNvPr id="127" name="TextBox 127"/>
            <p:cNvSpPr txBox="1"/>
            <p:nvPr/>
          </p:nvSpPr>
          <p:spPr>
            <a:xfrm>
              <a:off x="10412730" y="904875"/>
              <a:ext cx="853182" cy="293370"/>
            </a:xfrm>
            <a:prstGeom prst="rect">
              <a:avLst/>
            </a:prstGeom>
            <a:noFill/>
            <a:ln>
              <a:noFill/>
            </a:ln>
          </p:spPr>
          <p:txBody>
            <a:bodyPr wrap="none" lIns="0" tIns="0" rIns="0" bIns="0" anchor="t" anchorCtr="0">
              <a:spAutoFit/>
            </a:bodyPr>
            <a:lstStyle/>
            <a:p>
              <a:pPr algn="l"/>
              <a:r>
                <a:rPr lang="zh-CN" sz="1500" b="1" dirty="0">
                  <a:solidFill>
                    <a:srgbClr val="5B180B"/>
                  </a:solidFill>
                  <a:latin typeface="+mn-lt"/>
                  <a:ea typeface="+mn-ea"/>
                  <a:cs typeface="+mn-cs"/>
                </a:rPr>
                <a:t>2,800</a:t>
              </a:r>
              <a:r>
                <a:rPr lang="zh-CN" sz="790" dirty="0">
                  <a:solidFill>
                    <a:srgbClr val="5F6F6A"/>
                  </a:solidFill>
                  <a:latin typeface="+mn-lt"/>
                  <a:ea typeface="+mn-ea"/>
                  <a:cs typeface="+mn-cs"/>
                </a:rPr>
                <a:t xml:space="preserve"> 万</a:t>
              </a:r>
              <a:r>
                <a:rPr lang="zh-CN" sz="1500" b="1" dirty="0">
                  <a:solidFill>
                    <a:srgbClr val="5B180B"/>
                  </a:solidFill>
                  <a:latin typeface="+mn-lt"/>
                  <a:ea typeface="+mn-ea"/>
                  <a:cs typeface="+mn-cs"/>
                </a:rPr>
                <a:t>​</a:t>
              </a:r>
            </a:p>
          </p:txBody>
        </p:sp>
        <p:sp>
          <p:nvSpPr>
            <p:cNvPr id="128" name="TextBox 128"/>
            <p:cNvSpPr txBox="1"/>
            <p:nvPr/>
          </p:nvSpPr>
          <p:spPr>
            <a:xfrm>
              <a:off x="10415588" y="1140857"/>
              <a:ext cx="634162" cy="126206"/>
            </a:xfrm>
            <a:prstGeom prst="rect">
              <a:avLst/>
            </a:prstGeom>
            <a:noFill/>
            <a:ln>
              <a:noFill/>
            </a:ln>
          </p:spPr>
          <p:txBody>
            <a:bodyPr wrap="none" lIns="0" tIns="0" rIns="0" bIns="0" anchor="t" anchorCtr="0">
              <a:spAutoFit/>
            </a:bodyPr>
            <a:lstStyle/>
            <a:p>
              <a:pPr algn="l"/>
              <a:r>
                <a:rPr lang="zh-CN" sz="640" dirty="0">
                  <a:solidFill>
                    <a:srgbClr val="9E402E"/>
                  </a:solidFill>
                  <a:latin typeface="+mn-lt"/>
                  <a:ea typeface="+mn-ea"/>
                  <a:cs typeface="+mn-cs"/>
                </a:rPr>
                <a:t>较上季度 +70%​</a:t>
              </a:r>
            </a:p>
          </p:txBody>
        </p:sp>
      </p:grpSp>
      <p:grpSp>
        <p:nvGrpSpPr>
          <p:cNvPr id="189" name="score-card"/>
          <p:cNvGrpSpPr/>
          <p:nvPr/>
        </p:nvGrpSpPr>
        <p:grpSpPr>
          <a:xfrm>
            <a:off x="3390900" y="1390650"/>
            <a:ext cx="4152900" cy="3657600"/>
            <a:chOff x="3390900" y="1390650"/>
            <a:chExt cx="4152900" cy="3657600"/>
          </a:xfrm>
        </p:grpSpPr>
        <p:sp>
          <p:nvSpPr>
            <p:cNvPr id="130" name="Rectangle 130"/>
            <p:cNvSpPr/>
            <p:nvPr/>
          </p:nvSpPr>
          <p:spPr>
            <a:xfrm>
              <a:off x="3390900" y="1390650"/>
              <a:ext cx="4152900" cy="3657600"/>
            </a:xfrm>
            <a:prstGeom prst="roundRect">
              <a:avLst>
                <a:gd name="adj" fmla="val 2604"/>
              </a:avLst>
            </a:prstGeom>
            <a:solidFill>
              <a:srgbClr val="F5FAF8"/>
            </a:solidFill>
            <a:ln w="9525">
              <a:solidFill>
                <a:srgbClr val="D9E8E2"/>
              </a:solidFill>
            </a:ln>
          </p:spPr>
        </p:sp>
        <p:sp>
          <p:nvSpPr>
            <p:cNvPr id="131" name="Rectangle 131"/>
            <p:cNvSpPr/>
            <p:nvPr/>
          </p:nvSpPr>
          <p:spPr>
            <a:xfrm>
              <a:off x="3390900" y="1390650"/>
              <a:ext cx="1809750" cy="228600"/>
            </a:xfrm>
            <a:prstGeom prst="roundRect">
              <a:avLst>
                <a:gd name="adj" fmla="val 16667"/>
              </a:avLst>
            </a:prstGeom>
            <a:solidFill>
              <a:srgbClr val="5B180B"/>
            </a:solidFill>
            <a:ln>
              <a:noFill/>
            </a:ln>
          </p:spPr>
        </p:sp>
        <p:sp>
          <p:nvSpPr>
            <p:cNvPr id="132" name="TextBox 132"/>
            <p:cNvSpPr txBox="1"/>
            <p:nvPr/>
          </p:nvSpPr>
          <p:spPr>
            <a:xfrm>
              <a:off x="3500438" y="1459468"/>
              <a:ext cx="1349889"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目标企业筛选与评分矩阵​</a:t>
              </a:r>
            </a:p>
          </p:txBody>
        </p:sp>
        <p:grpSp>
          <p:nvGrpSpPr>
            <p:cNvPr id="138" name="Group 138"/>
            <p:cNvGrpSpPr/>
            <p:nvPr/>
          </p:nvGrpSpPr>
          <p:grpSpPr>
            <a:xfrm>
              <a:off x="3467100" y="1714500"/>
              <a:ext cx="4000500" cy="228600"/>
              <a:chOff x="3467100" y="1714500"/>
              <a:chExt cx="4000500" cy="228600"/>
            </a:xfrm>
          </p:grpSpPr>
          <p:sp>
            <p:nvSpPr>
              <p:cNvPr id="133" name="Rectangle 133"/>
              <p:cNvSpPr/>
              <p:nvPr/>
            </p:nvSpPr>
            <p:spPr>
              <a:xfrm>
                <a:off x="3467100" y="1714500"/>
                <a:ext cx="4000500" cy="228600"/>
              </a:xfrm>
              <a:prstGeom prst="rect">
                <a:avLst/>
              </a:prstGeom>
              <a:solidFill>
                <a:srgbClr val="722617"/>
              </a:solidFill>
              <a:ln>
                <a:noFill/>
              </a:ln>
            </p:spPr>
          </p:sp>
          <p:sp>
            <p:nvSpPr>
              <p:cNvPr id="134" name="TextBox 134"/>
              <p:cNvSpPr txBox="1"/>
              <p:nvPr/>
            </p:nvSpPr>
            <p:spPr>
              <a:xfrm>
                <a:off x="3557903" y="1789986"/>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评估维度​</a:t>
                </a:r>
              </a:p>
            </p:txBody>
          </p:sp>
          <p:sp>
            <p:nvSpPr>
              <p:cNvPr id="135" name="TextBox 135"/>
              <p:cNvSpPr txBox="1"/>
              <p:nvPr/>
            </p:nvSpPr>
            <p:spPr>
              <a:xfrm>
                <a:off x="4177359" y="1789986"/>
                <a:ext cx="25588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权重​</a:t>
                </a:r>
              </a:p>
            </p:txBody>
          </p:sp>
          <p:sp>
            <p:nvSpPr>
              <p:cNvPr id="136" name="TextBox 136"/>
              <p:cNvSpPr txBox="1"/>
              <p:nvPr/>
            </p:nvSpPr>
            <p:spPr>
              <a:xfrm>
                <a:off x="5017662" y="1789986"/>
                <a:ext cx="89937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评分标准（1-5分）​</a:t>
                </a:r>
              </a:p>
            </p:txBody>
          </p:sp>
          <p:sp>
            <p:nvSpPr>
              <p:cNvPr id="137" name="TextBox 137"/>
              <p:cNvSpPr txBox="1"/>
              <p:nvPr/>
            </p:nvSpPr>
            <p:spPr>
              <a:xfrm>
                <a:off x="6720203" y="1789986"/>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示例说明​</a:t>
                </a:r>
              </a:p>
            </p:txBody>
          </p:sp>
        </p:grpSp>
        <p:grpSp>
          <p:nvGrpSpPr>
            <p:cNvPr id="188" name="score-rows"/>
            <p:cNvGrpSpPr/>
            <p:nvPr/>
          </p:nvGrpSpPr>
          <p:grpSpPr>
            <a:xfrm>
              <a:off x="3467100" y="1943100"/>
              <a:ext cx="4000500" cy="2743200"/>
              <a:chOff x="3467100" y="1943100"/>
              <a:chExt cx="4000500" cy="2743200"/>
            </a:xfrm>
          </p:grpSpPr>
          <p:sp>
            <p:nvSpPr>
              <p:cNvPr id="139" name="Rectangle 139"/>
              <p:cNvSpPr/>
              <p:nvPr/>
            </p:nvSpPr>
            <p:spPr>
              <a:xfrm>
                <a:off x="3467100" y="1943100"/>
                <a:ext cx="4000500" cy="590550"/>
              </a:xfrm>
              <a:prstGeom prst="rect">
                <a:avLst/>
              </a:prstGeom>
              <a:solidFill>
                <a:srgbClr val="FFFFFF"/>
              </a:solidFill>
              <a:ln w="7620">
                <a:solidFill>
                  <a:srgbClr val="D9E8E2"/>
                </a:solidFill>
              </a:ln>
            </p:spPr>
          </p:sp>
          <p:sp>
            <p:nvSpPr>
              <p:cNvPr id="140" name="TextBox 140"/>
              <p:cNvSpPr txBox="1"/>
              <p:nvPr/>
            </p:nvSpPr>
            <p:spPr>
              <a:xfrm>
                <a:off x="3605693" y="2199561"/>
                <a:ext cx="35146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员工数​</a:t>
                </a:r>
              </a:p>
            </p:txBody>
          </p:sp>
          <p:sp>
            <p:nvSpPr>
              <p:cNvPr id="141" name="TextBox 141"/>
              <p:cNvSpPr txBox="1"/>
              <p:nvPr/>
            </p:nvSpPr>
            <p:spPr>
              <a:xfrm>
                <a:off x="4173322" y="2195512"/>
                <a:ext cx="26395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30%​</a:t>
                </a:r>
              </a:p>
            </p:txBody>
          </p:sp>
          <p:sp>
            <p:nvSpPr>
              <p:cNvPr id="142" name="TextBox 142"/>
              <p:cNvSpPr txBox="1"/>
              <p:nvPr/>
            </p:nvSpPr>
            <p:spPr>
              <a:xfrm>
                <a:off x="4586288" y="1996678"/>
                <a:ext cx="443001"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1分：&lt;50人​</a:t>
                </a:r>
              </a:p>
            </p:txBody>
          </p:sp>
          <p:sp>
            <p:nvSpPr>
              <p:cNvPr id="143" name="TextBox 143"/>
              <p:cNvSpPr txBox="1"/>
              <p:nvPr/>
            </p:nvSpPr>
            <p:spPr>
              <a:xfrm>
                <a:off x="4586288" y="2101453"/>
                <a:ext cx="567390"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2分：50-200人​</a:t>
                </a:r>
              </a:p>
            </p:txBody>
          </p:sp>
          <p:sp>
            <p:nvSpPr>
              <p:cNvPr id="144" name="TextBox 144"/>
              <p:cNvSpPr txBox="1"/>
              <p:nvPr/>
            </p:nvSpPr>
            <p:spPr>
              <a:xfrm>
                <a:off x="4586288" y="2206228"/>
                <a:ext cx="608853"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3分：201-500人​</a:t>
                </a:r>
              </a:p>
            </p:txBody>
          </p:sp>
          <p:sp>
            <p:nvSpPr>
              <p:cNvPr id="145" name="TextBox 145"/>
              <p:cNvSpPr txBox="1"/>
              <p:nvPr/>
            </p:nvSpPr>
            <p:spPr>
              <a:xfrm>
                <a:off x="4586288" y="2311003"/>
                <a:ext cx="650316"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4分：501-2000人​</a:t>
                </a:r>
              </a:p>
            </p:txBody>
          </p:sp>
          <p:sp>
            <p:nvSpPr>
              <p:cNvPr id="146" name="TextBox 146"/>
              <p:cNvSpPr txBox="1"/>
              <p:nvPr/>
            </p:nvSpPr>
            <p:spPr>
              <a:xfrm>
                <a:off x="4586288" y="2415778"/>
                <a:ext cx="52592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5分：&gt;2000人​</a:t>
                </a:r>
              </a:p>
            </p:txBody>
          </p:sp>
          <p:sp>
            <p:nvSpPr>
              <p:cNvPr id="147" name="TextBox 147"/>
              <p:cNvSpPr txBox="1"/>
              <p:nvPr/>
            </p:nvSpPr>
            <p:spPr>
              <a:xfrm>
                <a:off x="6729763" y="2110978"/>
                <a:ext cx="427924"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某科技公司​</a:t>
                </a:r>
              </a:p>
            </p:txBody>
          </p:sp>
          <p:sp>
            <p:nvSpPr>
              <p:cNvPr id="148" name="TextBox 148"/>
              <p:cNvSpPr txBox="1"/>
              <p:nvPr/>
            </p:nvSpPr>
            <p:spPr>
              <a:xfrm>
                <a:off x="6701493" y="2215753"/>
                <a:ext cx="484464"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员工1,200人​</a:t>
                </a:r>
              </a:p>
            </p:txBody>
          </p:sp>
          <p:sp>
            <p:nvSpPr>
              <p:cNvPr id="149" name="TextBox 149"/>
              <p:cNvSpPr txBox="1"/>
              <p:nvPr/>
            </p:nvSpPr>
            <p:spPr>
              <a:xfrm>
                <a:off x="6820039" y="2320528"/>
                <a:ext cx="247372" cy="111919"/>
              </a:xfrm>
              <a:prstGeom prst="rect">
                <a:avLst/>
              </a:prstGeom>
              <a:noFill/>
              <a:ln>
                <a:noFill/>
              </a:ln>
            </p:spPr>
            <p:txBody>
              <a:bodyPr wrap="none" lIns="0" tIns="0" rIns="0" bIns="0" anchor="t" anchorCtr="0">
                <a:spAutoFit/>
              </a:bodyPr>
              <a:lstStyle/>
              <a:p>
                <a:pPr algn="ctr"/>
                <a:r>
                  <a:rPr lang="zh-CN" sz="560" b="1" dirty="0">
                    <a:solidFill>
                      <a:srgbClr val="5B180B"/>
                    </a:solidFill>
                    <a:latin typeface="+mn-lt"/>
                    <a:ea typeface="+mn-ea"/>
                    <a:cs typeface="+mn-cs"/>
                  </a:rPr>
                  <a:t>得4分​</a:t>
                </a:r>
              </a:p>
            </p:txBody>
          </p:sp>
          <p:sp>
            <p:nvSpPr>
              <p:cNvPr id="150" name="Rectangle 150"/>
              <p:cNvSpPr/>
              <p:nvPr/>
            </p:nvSpPr>
            <p:spPr>
              <a:xfrm>
                <a:off x="3467100" y="2533650"/>
                <a:ext cx="4000500" cy="590550"/>
              </a:xfrm>
              <a:prstGeom prst="rect">
                <a:avLst/>
              </a:prstGeom>
              <a:solidFill>
                <a:srgbClr val="F7FBF9"/>
              </a:solidFill>
              <a:ln w="7620">
                <a:solidFill>
                  <a:srgbClr val="D9E8E2"/>
                </a:solidFill>
              </a:ln>
            </p:spPr>
          </p:sp>
          <p:sp>
            <p:nvSpPr>
              <p:cNvPr id="151" name="TextBox 151"/>
              <p:cNvSpPr txBox="1"/>
              <p:nvPr/>
            </p:nvSpPr>
            <p:spPr>
              <a:xfrm>
                <a:off x="3557903" y="2790111"/>
                <a:ext cx="44704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薪酬水平​</a:t>
                </a:r>
              </a:p>
            </p:txBody>
          </p:sp>
          <p:sp>
            <p:nvSpPr>
              <p:cNvPr id="152" name="TextBox 152"/>
              <p:cNvSpPr txBox="1"/>
              <p:nvPr/>
            </p:nvSpPr>
            <p:spPr>
              <a:xfrm>
                <a:off x="4173322" y="2786062"/>
                <a:ext cx="26395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30%​</a:t>
                </a:r>
              </a:p>
            </p:txBody>
          </p:sp>
          <p:sp>
            <p:nvSpPr>
              <p:cNvPr id="153" name="TextBox 153"/>
              <p:cNvSpPr txBox="1"/>
              <p:nvPr/>
            </p:nvSpPr>
            <p:spPr>
              <a:xfrm>
                <a:off x="4586288" y="2587228"/>
                <a:ext cx="401538"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1分：&lt;5千​</a:t>
                </a:r>
              </a:p>
            </p:txBody>
          </p:sp>
          <p:sp>
            <p:nvSpPr>
              <p:cNvPr id="154" name="TextBox 154"/>
              <p:cNvSpPr txBox="1"/>
              <p:nvPr/>
            </p:nvSpPr>
            <p:spPr>
              <a:xfrm>
                <a:off x="4586288" y="2692003"/>
                <a:ext cx="518389"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2分：5千-8千​</a:t>
                </a:r>
              </a:p>
            </p:txBody>
          </p:sp>
          <p:sp>
            <p:nvSpPr>
              <p:cNvPr id="155" name="TextBox 155"/>
              <p:cNvSpPr txBox="1"/>
              <p:nvPr/>
            </p:nvSpPr>
            <p:spPr>
              <a:xfrm>
                <a:off x="4586288" y="2796778"/>
                <a:ext cx="601315"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3分：8千-1.2万​</a:t>
                </a:r>
              </a:p>
            </p:txBody>
          </p:sp>
          <p:sp>
            <p:nvSpPr>
              <p:cNvPr id="156" name="TextBox 156"/>
              <p:cNvSpPr txBox="1"/>
              <p:nvPr/>
            </p:nvSpPr>
            <p:spPr>
              <a:xfrm>
                <a:off x="4586288" y="2901553"/>
                <a:ext cx="601315"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4分：1.2万-2万​</a:t>
                </a:r>
              </a:p>
            </p:txBody>
          </p:sp>
          <p:sp>
            <p:nvSpPr>
              <p:cNvPr id="157" name="TextBox 157"/>
              <p:cNvSpPr txBox="1"/>
              <p:nvPr/>
            </p:nvSpPr>
            <p:spPr>
              <a:xfrm>
                <a:off x="4586288" y="3006328"/>
                <a:ext cx="401538"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5分：&gt;2万​</a:t>
                </a:r>
              </a:p>
            </p:txBody>
          </p:sp>
          <p:sp>
            <p:nvSpPr>
              <p:cNvPr id="158" name="TextBox 158"/>
              <p:cNvSpPr txBox="1"/>
              <p:nvPr/>
            </p:nvSpPr>
            <p:spPr>
              <a:xfrm>
                <a:off x="6729763" y="2701528"/>
                <a:ext cx="427924"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某制造企业​</a:t>
                </a:r>
              </a:p>
            </p:txBody>
          </p:sp>
          <p:sp>
            <p:nvSpPr>
              <p:cNvPr id="159" name="TextBox 159"/>
              <p:cNvSpPr txBox="1"/>
              <p:nvPr/>
            </p:nvSpPr>
            <p:spPr>
              <a:xfrm>
                <a:off x="6742956" y="2806303"/>
                <a:ext cx="401538"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人均1.5万​</a:t>
                </a:r>
              </a:p>
            </p:txBody>
          </p:sp>
          <p:sp>
            <p:nvSpPr>
              <p:cNvPr id="160" name="TextBox 160"/>
              <p:cNvSpPr txBox="1"/>
              <p:nvPr/>
            </p:nvSpPr>
            <p:spPr>
              <a:xfrm>
                <a:off x="6820039" y="2911078"/>
                <a:ext cx="247372" cy="111919"/>
              </a:xfrm>
              <a:prstGeom prst="rect">
                <a:avLst/>
              </a:prstGeom>
              <a:noFill/>
              <a:ln>
                <a:noFill/>
              </a:ln>
            </p:spPr>
            <p:txBody>
              <a:bodyPr wrap="none" lIns="0" tIns="0" rIns="0" bIns="0" anchor="t" anchorCtr="0">
                <a:spAutoFit/>
              </a:bodyPr>
              <a:lstStyle/>
              <a:p>
                <a:pPr algn="ctr"/>
                <a:r>
                  <a:rPr lang="zh-CN" sz="560" b="1" dirty="0">
                    <a:solidFill>
                      <a:srgbClr val="5B180B"/>
                    </a:solidFill>
                    <a:latin typeface="+mn-lt"/>
                    <a:ea typeface="+mn-ea"/>
                    <a:cs typeface="+mn-cs"/>
                  </a:rPr>
                  <a:t>得4分​</a:t>
                </a:r>
              </a:p>
            </p:txBody>
          </p:sp>
          <p:sp>
            <p:nvSpPr>
              <p:cNvPr id="161" name="Rectangle 161"/>
              <p:cNvSpPr/>
              <p:nvPr/>
            </p:nvSpPr>
            <p:spPr>
              <a:xfrm>
                <a:off x="3467100" y="3124200"/>
                <a:ext cx="4000500" cy="590550"/>
              </a:xfrm>
              <a:prstGeom prst="rect">
                <a:avLst/>
              </a:prstGeom>
              <a:solidFill>
                <a:srgbClr val="FFFFFF"/>
              </a:solidFill>
              <a:ln w="7620">
                <a:solidFill>
                  <a:srgbClr val="D9E8E2"/>
                </a:solidFill>
              </a:ln>
            </p:spPr>
          </p:sp>
          <p:sp>
            <p:nvSpPr>
              <p:cNvPr id="162" name="TextBox 162"/>
              <p:cNvSpPr txBox="1"/>
              <p:nvPr/>
            </p:nvSpPr>
            <p:spPr>
              <a:xfrm>
                <a:off x="3557903" y="3380661"/>
                <a:ext cx="44704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结算关系​</a:t>
                </a:r>
              </a:p>
            </p:txBody>
          </p:sp>
          <p:sp>
            <p:nvSpPr>
              <p:cNvPr id="163" name="TextBox 163"/>
              <p:cNvSpPr txBox="1"/>
              <p:nvPr/>
            </p:nvSpPr>
            <p:spPr>
              <a:xfrm>
                <a:off x="4173322" y="3376612"/>
                <a:ext cx="26395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20%​</a:t>
                </a:r>
              </a:p>
            </p:txBody>
          </p:sp>
          <p:sp>
            <p:nvSpPr>
              <p:cNvPr id="164" name="TextBox 164"/>
              <p:cNvSpPr txBox="1"/>
              <p:nvPr/>
            </p:nvSpPr>
            <p:spPr>
              <a:xfrm>
                <a:off x="4586288" y="3177778"/>
                <a:ext cx="318613"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1分：无​</a:t>
                </a:r>
              </a:p>
            </p:txBody>
          </p:sp>
          <p:sp>
            <p:nvSpPr>
              <p:cNvPr id="165" name="TextBox 165"/>
              <p:cNvSpPr txBox="1"/>
              <p:nvPr/>
            </p:nvSpPr>
            <p:spPr>
              <a:xfrm>
                <a:off x="4586288" y="3282553"/>
                <a:ext cx="544774"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2分：一般往来​</a:t>
                </a:r>
              </a:p>
            </p:txBody>
          </p:sp>
          <p:sp>
            <p:nvSpPr>
              <p:cNvPr id="166" name="TextBox 166"/>
              <p:cNvSpPr txBox="1"/>
              <p:nvPr/>
            </p:nvSpPr>
            <p:spPr>
              <a:xfrm>
                <a:off x="4586288" y="3387328"/>
                <a:ext cx="770936"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3分：有回款但不稳定​</a:t>
                </a:r>
              </a:p>
            </p:txBody>
          </p:sp>
          <p:sp>
            <p:nvSpPr>
              <p:cNvPr id="167" name="TextBox 167"/>
              <p:cNvSpPr txBox="1"/>
              <p:nvPr/>
            </p:nvSpPr>
            <p:spPr>
              <a:xfrm>
                <a:off x="4586288" y="3492103"/>
                <a:ext cx="620161"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4分：主要结算行​</a:t>
                </a:r>
              </a:p>
            </p:txBody>
          </p:sp>
          <p:sp>
            <p:nvSpPr>
              <p:cNvPr id="168" name="TextBox 168"/>
              <p:cNvSpPr txBox="1"/>
              <p:nvPr/>
            </p:nvSpPr>
            <p:spPr>
              <a:xfrm>
                <a:off x="4586288" y="3596878"/>
                <a:ext cx="46938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5分：主办行​</a:t>
                </a:r>
              </a:p>
            </p:txBody>
          </p:sp>
          <p:sp>
            <p:nvSpPr>
              <p:cNvPr id="169" name="TextBox 169"/>
              <p:cNvSpPr txBox="1"/>
              <p:nvPr/>
            </p:nvSpPr>
            <p:spPr>
              <a:xfrm>
                <a:off x="6729763" y="3292078"/>
                <a:ext cx="427924"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某集团公司​</a:t>
                </a:r>
              </a:p>
            </p:txBody>
          </p:sp>
          <p:sp>
            <p:nvSpPr>
              <p:cNvPr id="170" name="TextBox 170"/>
              <p:cNvSpPr txBox="1"/>
              <p:nvPr/>
            </p:nvSpPr>
            <p:spPr>
              <a:xfrm>
                <a:off x="6729763" y="3396853"/>
                <a:ext cx="427924"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为主结算行​</a:t>
                </a:r>
              </a:p>
            </p:txBody>
          </p:sp>
          <p:sp>
            <p:nvSpPr>
              <p:cNvPr id="171" name="TextBox 171"/>
              <p:cNvSpPr txBox="1"/>
              <p:nvPr/>
            </p:nvSpPr>
            <p:spPr>
              <a:xfrm>
                <a:off x="6820039" y="3501628"/>
                <a:ext cx="247372" cy="111919"/>
              </a:xfrm>
              <a:prstGeom prst="rect">
                <a:avLst/>
              </a:prstGeom>
              <a:noFill/>
              <a:ln>
                <a:noFill/>
              </a:ln>
            </p:spPr>
            <p:txBody>
              <a:bodyPr wrap="none" lIns="0" tIns="0" rIns="0" bIns="0" anchor="t" anchorCtr="0">
                <a:spAutoFit/>
              </a:bodyPr>
              <a:lstStyle/>
              <a:p>
                <a:pPr algn="ctr"/>
                <a:r>
                  <a:rPr lang="zh-CN" sz="560" b="1" dirty="0">
                    <a:solidFill>
                      <a:srgbClr val="5B180B"/>
                    </a:solidFill>
                    <a:latin typeface="+mn-lt"/>
                    <a:ea typeface="+mn-ea"/>
                    <a:cs typeface="+mn-cs"/>
                  </a:rPr>
                  <a:t>得4分​</a:t>
                </a:r>
              </a:p>
            </p:txBody>
          </p:sp>
          <p:sp>
            <p:nvSpPr>
              <p:cNvPr id="172" name="Rectangle 172"/>
              <p:cNvSpPr/>
              <p:nvPr/>
            </p:nvSpPr>
            <p:spPr>
              <a:xfrm>
                <a:off x="3467100" y="3714750"/>
                <a:ext cx="4000500" cy="590550"/>
              </a:xfrm>
              <a:prstGeom prst="rect">
                <a:avLst/>
              </a:prstGeom>
              <a:solidFill>
                <a:srgbClr val="F7FBF9"/>
              </a:solidFill>
              <a:ln w="7620">
                <a:solidFill>
                  <a:srgbClr val="D9E8E2"/>
                </a:solidFill>
              </a:ln>
            </p:spPr>
          </p:sp>
          <p:sp>
            <p:nvSpPr>
              <p:cNvPr id="173" name="TextBox 173"/>
              <p:cNvSpPr txBox="1"/>
              <p:nvPr/>
            </p:nvSpPr>
            <p:spPr>
              <a:xfrm>
                <a:off x="3557903" y="3971211"/>
                <a:ext cx="447043" cy="140494"/>
              </a:xfrm>
              <a:prstGeom prst="rect">
                <a:avLst/>
              </a:prstGeom>
              <a:noFill/>
              <a:ln>
                <a:noFill/>
              </a:ln>
            </p:spPr>
            <p:txBody>
              <a:bodyPr wrap="none" lIns="0" tIns="0" rIns="0" bIns="0" anchor="t" anchorCtr="0">
                <a:spAutoFit/>
              </a:bodyPr>
              <a:lstStyle/>
              <a:p>
                <a:pPr algn="ctr"/>
                <a:r>
                  <a:rPr lang="zh-CN" sz="710" b="1" dirty="0">
                    <a:solidFill>
                      <a:srgbClr val="312624"/>
                    </a:solidFill>
                    <a:latin typeface="+mn-lt"/>
                    <a:ea typeface="+mn-ea"/>
                    <a:cs typeface="+mn-cs"/>
                  </a:rPr>
                  <a:t>合作基础​</a:t>
                </a:r>
              </a:p>
            </p:txBody>
          </p:sp>
          <p:sp>
            <p:nvSpPr>
              <p:cNvPr id="174" name="TextBox 174"/>
              <p:cNvSpPr txBox="1"/>
              <p:nvPr/>
            </p:nvSpPr>
            <p:spPr>
              <a:xfrm>
                <a:off x="4173322" y="3967162"/>
                <a:ext cx="26395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20%​</a:t>
                </a:r>
              </a:p>
            </p:txBody>
          </p:sp>
          <p:sp>
            <p:nvSpPr>
              <p:cNvPr id="175" name="TextBox 175"/>
              <p:cNvSpPr txBox="1"/>
              <p:nvPr/>
            </p:nvSpPr>
            <p:spPr>
              <a:xfrm>
                <a:off x="4586288" y="3768328"/>
                <a:ext cx="46938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1分：无接触​</a:t>
                </a:r>
              </a:p>
            </p:txBody>
          </p:sp>
          <p:sp>
            <p:nvSpPr>
              <p:cNvPr id="176" name="TextBox 176"/>
              <p:cNvSpPr txBox="1"/>
              <p:nvPr/>
            </p:nvSpPr>
            <p:spPr>
              <a:xfrm>
                <a:off x="4586288" y="3873103"/>
                <a:ext cx="620161"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2分：已初步沟通​</a:t>
                </a:r>
              </a:p>
            </p:txBody>
          </p:sp>
          <p:sp>
            <p:nvSpPr>
              <p:cNvPr id="177" name="TextBox 177"/>
              <p:cNvSpPr txBox="1"/>
              <p:nvPr/>
            </p:nvSpPr>
            <p:spPr>
              <a:xfrm>
                <a:off x="4586288" y="3977878"/>
                <a:ext cx="620161"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3分：有历史合作​</a:t>
                </a:r>
              </a:p>
            </p:txBody>
          </p:sp>
          <p:sp>
            <p:nvSpPr>
              <p:cNvPr id="178" name="TextBox 178"/>
              <p:cNvSpPr txBox="1"/>
              <p:nvPr/>
            </p:nvSpPr>
            <p:spPr>
              <a:xfrm>
                <a:off x="4586288" y="4082653"/>
                <a:ext cx="544774"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4分：高层认可​</a:t>
                </a:r>
              </a:p>
            </p:txBody>
          </p:sp>
          <p:sp>
            <p:nvSpPr>
              <p:cNvPr id="179" name="TextBox 179"/>
              <p:cNvSpPr txBox="1"/>
              <p:nvPr/>
            </p:nvSpPr>
            <p:spPr>
              <a:xfrm>
                <a:off x="4586288" y="4187428"/>
                <a:ext cx="695549"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5分：战略合作意向​</a:t>
                </a:r>
              </a:p>
            </p:txBody>
          </p:sp>
          <p:sp>
            <p:nvSpPr>
              <p:cNvPr id="180" name="TextBox 180"/>
              <p:cNvSpPr txBox="1"/>
              <p:nvPr/>
            </p:nvSpPr>
            <p:spPr>
              <a:xfrm>
                <a:off x="6729763" y="3882628"/>
                <a:ext cx="427924"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某上市公司​</a:t>
                </a:r>
              </a:p>
            </p:txBody>
          </p:sp>
          <p:sp>
            <p:nvSpPr>
              <p:cNvPr id="181" name="TextBox 181"/>
              <p:cNvSpPr txBox="1"/>
              <p:nvPr/>
            </p:nvSpPr>
            <p:spPr>
              <a:xfrm>
                <a:off x="6729763" y="3987403"/>
                <a:ext cx="427924"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有历史合作​</a:t>
                </a:r>
              </a:p>
            </p:txBody>
          </p:sp>
          <p:sp>
            <p:nvSpPr>
              <p:cNvPr id="182" name="TextBox 182"/>
              <p:cNvSpPr txBox="1"/>
              <p:nvPr/>
            </p:nvSpPr>
            <p:spPr>
              <a:xfrm>
                <a:off x="6820039" y="4092178"/>
                <a:ext cx="247372" cy="111919"/>
              </a:xfrm>
              <a:prstGeom prst="rect">
                <a:avLst/>
              </a:prstGeom>
              <a:noFill/>
              <a:ln>
                <a:noFill/>
              </a:ln>
            </p:spPr>
            <p:txBody>
              <a:bodyPr wrap="none" lIns="0" tIns="0" rIns="0" bIns="0" anchor="t" anchorCtr="0">
                <a:spAutoFit/>
              </a:bodyPr>
              <a:lstStyle/>
              <a:p>
                <a:pPr algn="ctr"/>
                <a:r>
                  <a:rPr lang="zh-CN" sz="560" b="1" dirty="0">
                    <a:solidFill>
                      <a:srgbClr val="5B180B"/>
                    </a:solidFill>
                    <a:latin typeface="+mn-lt"/>
                    <a:ea typeface="+mn-ea"/>
                    <a:cs typeface="+mn-cs"/>
                  </a:rPr>
                  <a:t>得3分​</a:t>
                </a:r>
              </a:p>
            </p:txBody>
          </p:sp>
          <p:sp>
            <p:nvSpPr>
              <p:cNvPr id="183" name="Rectangle 183"/>
              <p:cNvSpPr/>
              <p:nvPr/>
            </p:nvSpPr>
            <p:spPr>
              <a:xfrm>
                <a:off x="3467100" y="4305300"/>
                <a:ext cx="4000500" cy="381000"/>
              </a:xfrm>
              <a:prstGeom prst="rect">
                <a:avLst/>
              </a:prstGeom>
              <a:solidFill>
                <a:srgbClr val="E9F4F0"/>
              </a:solidFill>
              <a:ln>
                <a:noFill/>
              </a:ln>
            </p:spPr>
          </p:sp>
          <p:sp>
            <p:nvSpPr>
              <p:cNvPr id="184" name="TextBox 184"/>
              <p:cNvSpPr txBox="1"/>
              <p:nvPr/>
            </p:nvSpPr>
            <p:spPr>
              <a:xfrm>
                <a:off x="3557903" y="4456986"/>
                <a:ext cx="447043" cy="140494"/>
              </a:xfrm>
              <a:prstGeom prst="rect">
                <a:avLst/>
              </a:prstGeom>
              <a:noFill/>
              <a:ln>
                <a:noFill/>
              </a:ln>
            </p:spPr>
            <p:txBody>
              <a:bodyPr wrap="none" lIns="0" tIns="0" rIns="0" bIns="0" anchor="t" anchorCtr="0">
                <a:spAutoFit/>
              </a:bodyPr>
              <a:lstStyle/>
              <a:p>
                <a:pPr algn="ctr"/>
                <a:r>
                  <a:rPr lang="zh-CN" sz="710" b="1" dirty="0">
                    <a:solidFill>
                      <a:srgbClr val="5B180B"/>
                    </a:solidFill>
                    <a:latin typeface="+mn-lt"/>
                    <a:ea typeface="+mn-ea"/>
                    <a:cs typeface="+mn-cs"/>
                  </a:rPr>
                  <a:t>综合评分​</a:t>
                </a:r>
              </a:p>
            </p:txBody>
          </p:sp>
          <p:sp>
            <p:nvSpPr>
              <p:cNvPr id="185" name="TextBox 185"/>
              <p:cNvSpPr txBox="1"/>
              <p:nvPr/>
            </p:nvSpPr>
            <p:spPr>
              <a:xfrm>
                <a:off x="4144168" y="4452938"/>
                <a:ext cx="322264"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100%​</a:t>
                </a:r>
              </a:p>
            </p:txBody>
          </p:sp>
          <p:sp>
            <p:nvSpPr>
              <p:cNvPr id="186" name="TextBox 186"/>
              <p:cNvSpPr txBox="1"/>
              <p:nvPr/>
            </p:nvSpPr>
            <p:spPr>
              <a:xfrm>
                <a:off x="4586288" y="4407932"/>
                <a:ext cx="1698198" cy="126206"/>
              </a:xfrm>
              <a:prstGeom prst="rect">
                <a:avLst/>
              </a:prstGeom>
              <a:noFill/>
              <a:ln>
                <a:noFill/>
              </a:ln>
            </p:spPr>
            <p:txBody>
              <a:bodyPr wrap="none" lIns="0" tIns="0" rIns="0" bIns="0" anchor="t" anchorCtr="0">
                <a:spAutoFit/>
              </a:bodyPr>
              <a:lstStyle/>
              <a:p>
                <a:pPr algn="l"/>
                <a:r>
                  <a:rPr lang="zh-CN" sz="640" dirty="0">
                    <a:solidFill>
                      <a:srgbClr val="312624"/>
                    </a:solidFill>
                    <a:latin typeface="+mn-lt"/>
                    <a:ea typeface="+mn-ea"/>
                    <a:cs typeface="+mn-cs"/>
                  </a:rPr>
                  <a:t>≥3.5分：</a:t>
                </a:r>
                <a:r>
                  <a:rPr lang="zh-CN" sz="640" b="1" dirty="0">
                    <a:solidFill>
                      <a:srgbClr val="5B180B"/>
                    </a:solidFill>
                    <a:latin typeface="+mn-lt"/>
                    <a:ea typeface="+mn-ea"/>
                    <a:cs typeface="+mn-cs"/>
                  </a:rPr>
                  <a:t>重点攻坚</a:t>
                </a:r>
                <a:r>
                  <a:rPr lang="zh-CN" sz="640" dirty="0">
                    <a:solidFill>
                      <a:srgbClr val="312624"/>
                    </a:solidFill>
                    <a:latin typeface="+mn-lt"/>
                    <a:ea typeface="+mn-ea"/>
                    <a:cs typeface="+mn-cs"/>
                  </a:rPr>
                  <a:t xml:space="preserve">　3.0-3.4分：</a:t>
                </a:r>
                <a:r>
                  <a:rPr lang="zh-CN" sz="640" b="1" dirty="0">
                    <a:solidFill>
                      <a:srgbClr val="5B180B"/>
                    </a:solidFill>
                    <a:latin typeface="+mn-lt"/>
                    <a:ea typeface="+mn-ea"/>
                    <a:cs typeface="+mn-cs"/>
                  </a:rPr>
                  <a:t>持续跟进</a:t>
                </a:r>
                <a:r>
                  <a:rPr lang="zh-CN" sz="640" dirty="0">
                    <a:solidFill>
                      <a:srgbClr val="312624"/>
                    </a:solidFill>
                    <a:latin typeface="+mn-lt"/>
                    <a:ea typeface="+mn-ea"/>
                    <a:cs typeface="+mn-cs"/>
                  </a:rPr>
                  <a:t>​</a:t>
                </a:r>
              </a:p>
            </p:txBody>
          </p:sp>
          <p:sp>
            <p:nvSpPr>
              <p:cNvPr id="187" name="TextBox 187"/>
              <p:cNvSpPr txBox="1"/>
              <p:nvPr/>
            </p:nvSpPr>
            <p:spPr>
              <a:xfrm>
                <a:off x="4586288" y="4541282"/>
                <a:ext cx="763397" cy="126206"/>
              </a:xfrm>
              <a:prstGeom prst="rect">
                <a:avLst/>
              </a:prstGeom>
              <a:noFill/>
              <a:ln>
                <a:noFill/>
              </a:ln>
            </p:spPr>
            <p:txBody>
              <a:bodyPr wrap="none" lIns="0" tIns="0" rIns="0" bIns="0" anchor="t" anchorCtr="0">
                <a:spAutoFit/>
              </a:bodyPr>
              <a:lstStyle/>
              <a:p>
                <a:pPr algn="l"/>
                <a:r>
                  <a:rPr lang="zh-CN" sz="640" dirty="0">
                    <a:solidFill>
                      <a:srgbClr val="312624"/>
                    </a:solidFill>
                    <a:latin typeface="+mn-lt"/>
                    <a:ea typeface="+mn-ea"/>
                    <a:cs typeface="+mn-cs"/>
                  </a:rPr>
                  <a:t>&lt;3.0分：</a:t>
                </a:r>
                <a:r>
                  <a:rPr lang="zh-CN" sz="640" b="1" dirty="0">
                    <a:solidFill>
                      <a:srgbClr val="5B180B"/>
                    </a:solidFill>
                    <a:latin typeface="+mn-lt"/>
                    <a:ea typeface="+mn-ea"/>
                    <a:cs typeface="+mn-cs"/>
                  </a:rPr>
                  <a:t>培育储备</a:t>
                </a:r>
                <a:r>
                  <a:rPr lang="zh-CN" sz="640" dirty="0">
                    <a:solidFill>
                      <a:srgbClr val="312624"/>
                    </a:solidFill>
                    <a:latin typeface="+mn-lt"/>
                    <a:ea typeface="+mn-ea"/>
                    <a:cs typeface="+mn-cs"/>
                  </a:rPr>
                  <a:t>​</a:t>
                </a:r>
              </a:p>
            </p:txBody>
          </p:sp>
        </p:grpSp>
      </p:grpSp>
      <p:grpSp>
        <p:nvGrpSpPr>
          <p:cNvPr id="304" name="lifecycle-card"/>
          <p:cNvGrpSpPr/>
          <p:nvPr/>
        </p:nvGrpSpPr>
        <p:grpSpPr>
          <a:xfrm>
            <a:off x="7658100" y="1390650"/>
            <a:ext cx="4305300" cy="3657600"/>
            <a:chOff x="7658100" y="1390650"/>
            <a:chExt cx="4305300" cy="3657600"/>
          </a:xfrm>
        </p:grpSpPr>
        <p:sp>
          <p:nvSpPr>
            <p:cNvPr id="190" name="Rectangle 190"/>
            <p:cNvSpPr/>
            <p:nvPr/>
          </p:nvSpPr>
          <p:spPr>
            <a:xfrm>
              <a:off x="7658100" y="1390650"/>
              <a:ext cx="4305300" cy="3657600"/>
            </a:xfrm>
            <a:prstGeom prst="roundRect">
              <a:avLst>
                <a:gd name="adj" fmla="val 2604"/>
              </a:avLst>
            </a:prstGeom>
            <a:solidFill>
              <a:srgbClr val="F5FAF8"/>
            </a:solidFill>
            <a:ln w="9525">
              <a:solidFill>
                <a:srgbClr val="D9E8E2"/>
              </a:solidFill>
            </a:ln>
          </p:spPr>
        </p:sp>
        <p:sp>
          <p:nvSpPr>
            <p:cNvPr id="191" name="Rectangle 191"/>
            <p:cNvSpPr/>
            <p:nvPr/>
          </p:nvSpPr>
          <p:spPr>
            <a:xfrm>
              <a:off x="7658100" y="1390650"/>
              <a:ext cx="1905000" cy="228600"/>
            </a:xfrm>
            <a:prstGeom prst="roundRect">
              <a:avLst>
                <a:gd name="adj" fmla="val 16667"/>
              </a:avLst>
            </a:prstGeom>
            <a:solidFill>
              <a:srgbClr val="5B180B"/>
            </a:solidFill>
            <a:ln>
              <a:noFill/>
            </a:ln>
          </p:spPr>
        </p:sp>
        <p:sp>
          <p:nvSpPr>
            <p:cNvPr id="192" name="TextBox 192"/>
            <p:cNvSpPr txBox="1"/>
            <p:nvPr/>
          </p:nvSpPr>
          <p:spPr>
            <a:xfrm>
              <a:off x="7767638" y="1459468"/>
              <a:ext cx="1465662"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员工全生命周期场景化营销​</a:t>
              </a:r>
            </a:p>
          </p:txBody>
        </p:sp>
        <p:sp>
          <p:nvSpPr>
            <p:cNvPr id="193" name="Freeform 193"/>
            <p:cNvSpPr/>
            <p:nvPr/>
          </p:nvSpPr>
          <p:spPr>
            <a:xfrm>
              <a:off x="7734300" y="1695450"/>
              <a:ext cx="666750" cy="247650"/>
            </a:xfrm>
            <a:prstGeom prst="chevron">
              <a:avLst>
                <a:gd name="adj" fmla="val 35000"/>
              </a:avLst>
            </a:prstGeom>
            <a:solidFill>
              <a:srgbClr val="5B180B"/>
            </a:solidFill>
            <a:ln>
              <a:noFill/>
            </a:ln>
          </p:spPr>
        </p:sp>
        <p:sp>
          <p:nvSpPr>
            <p:cNvPr id="194" name="Freeform 194"/>
            <p:cNvSpPr/>
            <p:nvPr/>
          </p:nvSpPr>
          <p:spPr>
            <a:xfrm>
              <a:off x="8439150" y="1695450"/>
              <a:ext cx="666750" cy="247650"/>
            </a:xfrm>
            <a:prstGeom prst="chevron">
              <a:avLst>
                <a:gd name="adj" fmla="val 35000"/>
              </a:avLst>
            </a:prstGeom>
            <a:solidFill>
              <a:srgbClr val="6A2113"/>
            </a:solidFill>
            <a:ln>
              <a:noFill/>
            </a:ln>
          </p:spPr>
        </p:sp>
        <p:sp>
          <p:nvSpPr>
            <p:cNvPr id="195" name="Freeform 195"/>
            <p:cNvSpPr/>
            <p:nvPr/>
          </p:nvSpPr>
          <p:spPr>
            <a:xfrm>
              <a:off x="9144000" y="1695450"/>
              <a:ext cx="666750" cy="247650"/>
            </a:xfrm>
            <a:prstGeom prst="chevron">
              <a:avLst>
                <a:gd name="adj" fmla="val 35000"/>
              </a:avLst>
            </a:prstGeom>
            <a:solidFill>
              <a:srgbClr val="7A2B1B"/>
            </a:solidFill>
            <a:ln>
              <a:noFill/>
            </a:ln>
          </p:spPr>
        </p:sp>
        <p:sp>
          <p:nvSpPr>
            <p:cNvPr id="196" name="Freeform 196"/>
            <p:cNvSpPr/>
            <p:nvPr/>
          </p:nvSpPr>
          <p:spPr>
            <a:xfrm>
              <a:off x="9848850" y="1695450"/>
              <a:ext cx="666750" cy="247650"/>
            </a:xfrm>
            <a:prstGeom prst="chevron">
              <a:avLst>
                <a:gd name="adj" fmla="val 35000"/>
              </a:avLst>
            </a:prstGeom>
            <a:solidFill>
              <a:srgbClr val="9A412F"/>
            </a:solidFill>
            <a:ln>
              <a:noFill/>
            </a:ln>
          </p:spPr>
        </p:sp>
        <p:sp>
          <p:nvSpPr>
            <p:cNvPr id="197" name="Freeform 197"/>
            <p:cNvSpPr/>
            <p:nvPr/>
          </p:nvSpPr>
          <p:spPr>
            <a:xfrm>
              <a:off x="10553700" y="1695450"/>
              <a:ext cx="666750" cy="247650"/>
            </a:xfrm>
            <a:prstGeom prst="chevron">
              <a:avLst>
                <a:gd name="adj" fmla="val 35000"/>
              </a:avLst>
            </a:prstGeom>
            <a:solidFill>
              <a:srgbClr val="A75545"/>
            </a:solidFill>
            <a:ln>
              <a:noFill/>
            </a:ln>
          </p:spPr>
        </p:sp>
        <p:sp>
          <p:nvSpPr>
            <p:cNvPr id="198" name="Freeform 198"/>
            <p:cNvSpPr/>
            <p:nvPr/>
          </p:nvSpPr>
          <p:spPr>
            <a:xfrm>
              <a:off x="11258550" y="1695450"/>
              <a:ext cx="666750" cy="247650"/>
            </a:xfrm>
            <a:prstGeom prst="chevron">
              <a:avLst>
                <a:gd name="adj" fmla="val 35000"/>
              </a:avLst>
            </a:prstGeom>
            <a:solidFill>
              <a:srgbClr val="AE6C5F"/>
            </a:solidFill>
            <a:ln>
              <a:noFill/>
            </a:ln>
          </p:spPr>
        </p:sp>
        <p:grpSp>
          <p:nvGrpSpPr>
            <p:cNvPr id="205" name="Group 205"/>
            <p:cNvGrpSpPr/>
            <p:nvPr/>
          </p:nvGrpSpPr>
          <p:grpSpPr>
            <a:xfrm>
              <a:off x="7961369" y="1776412"/>
              <a:ext cx="3794012" cy="147638"/>
              <a:chOff x="7961369" y="1776412"/>
              <a:chExt cx="3794012" cy="147638"/>
            </a:xfrm>
          </p:grpSpPr>
          <p:sp>
            <p:nvSpPr>
              <p:cNvPr id="199" name="TextBox 199"/>
              <p:cNvSpPr txBox="1"/>
              <p:nvPr/>
            </p:nvSpPr>
            <p:spPr>
              <a:xfrm>
                <a:off x="7961369" y="1776412"/>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入职​</a:t>
                </a:r>
              </a:p>
            </p:txBody>
          </p:sp>
          <p:sp>
            <p:nvSpPr>
              <p:cNvPr id="200" name="TextBox 200"/>
              <p:cNvSpPr txBox="1"/>
              <p:nvPr/>
            </p:nvSpPr>
            <p:spPr>
              <a:xfrm>
                <a:off x="8666219" y="1776412"/>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发薪​</a:t>
                </a:r>
              </a:p>
            </p:txBody>
          </p:sp>
          <p:sp>
            <p:nvSpPr>
              <p:cNvPr id="201" name="TextBox 201"/>
              <p:cNvSpPr txBox="1"/>
              <p:nvPr/>
            </p:nvSpPr>
            <p:spPr>
              <a:xfrm>
                <a:off x="9371069" y="1776412"/>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奖金​</a:t>
                </a:r>
              </a:p>
            </p:txBody>
          </p:sp>
          <p:sp>
            <p:nvSpPr>
              <p:cNvPr id="202" name="TextBox 202"/>
              <p:cNvSpPr txBox="1"/>
              <p:nvPr/>
            </p:nvSpPr>
            <p:spPr>
              <a:xfrm>
                <a:off x="10075919" y="1776412"/>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购房​</a:t>
                </a:r>
              </a:p>
            </p:txBody>
          </p:sp>
          <p:sp>
            <p:nvSpPr>
              <p:cNvPr id="203" name="TextBox 203"/>
              <p:cNvSpPr txBox="1"/>
              <p:nvPr/>
            </p:nvSpPr>
            <p:spPr>
              <a:xfrm>
                <a:off x="10780769" y="1776412"/>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育儿​</a:t>
                </a:r>
              </a:p>
            </p:txBody>
          </p:sp>
          <p:sp>
            <p:nvSpPr>
              <p:cNvPr id="204" name="TextBox 204"/>
              <p:cNvSpPr txBox="1"/>
              <p:nvPr/>
            </p:nvSpPr>
            <p:spPr>
              <a:xfrm>
                <a:off x="11485619" y="1776412"/>
                <a:ext cx="26976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养老​</a:t>
                </a:r>
              </a:p>
            </p:txBody>
          </p:sp>
        </p:grpSp>
        <p:grpSp>
          <p:nvGrpSpPr>
            <p:cNvPr id="212" name="Group 212"/>
            <p:cNvGrpSpPr/>
            <p:nvPr/>
          </p:nvGrpSpPr>
          <p:grpSpPr>
            <a:xfrm>
              <a:off x="8067675" y="1962150"/>
              <a:ext cx="3533775" cy="95250"/>
              <a:chOff x="8067675" y="1962150"/>
              <a:chExt cx="3533775" cy="95250"/>
            </a:xfrm>
          </p:grpSpPr>
          <p:sp>
            <p:nvSpPr>
              <p:cNvPr id="206" name="Line 206"/>
              <p:cNvSpPr/>
              <p:nvPr/>
            </p:nvSpPr>
            <p:spPr>
              <a:xfrm>
                <a:off x="8067675" y="1962150"/>
                <a:ext cx="9525" cy="95250"/>
              </a:xfrm>
              <a:custGeom>
                <a:avLst/>
                <a:gdLst/>
                <a:ahLst/>
                <a:cxnLst/>
                <a:rect l="l" t="t" r="r" b="b"/>
                <a:pathLst>
                  <a:path w="9525" h="95250">
                    <a:moveTo>
                      <a:pt x="0" y="0"/>
                    </a:moveTo>
                    <a:lnTo>
                      <a:pt x="0" y="95250"/>
                    </a:lnTo>
                  </a:path>
                </a:pathLst>
              </a:custGeom>
              <a:noFill/>
              <a:ln w="9525">
                <a:solidFill>
                  <a:srgbClr val="C9988F"/>
                </a:solidFill>
              </a:ln>
            </p:spPr>
          </p:sp>
          <p:sp>
            <p:nvSpPr>
              <p:cNvPr id="207" name="Line 207"/>
              <p:cNvSpPr/>
              <p:nvPr/>
            </p:nvSpPr>
            <p:spPr>
              <a:xfrm>
                <a:off x="8772525" y="1962150"/>
                <a:ext cx="9525" cy="95250"/>
              </a:xfrm>
              <a:custGeom>
                <a:avLst/>
                <a:gdLst/>
                <a:ahLst/>
                <a:cxnLst/>
                <a:rect l="l" t="t" r="r" b="b"/>
                <a:pathLst>
                  <a:path w="9525" h="95250">
                    <a:moveTo>
                      <a:pt x="0" y="0"/>
                    </a:moveTo>
                    <a:lnTo>
                      <a:pt x="0" y="95250"/>
                    </a:lnTo>
                  </a:path>
                </a:pathLst>
              </a:custGeom>
              <a:noFill/>
              <a:ln w="9525">
                <a:solidFill>
                  <a:srgbClr val="C9988F"/>
                </a:solidFill>
              </a:ln>
            </p:spPr>
          </p:sp>
          <p:sp>
            <p:nvSpPr>
              <p:cNvPr id="208" name="Line 208"/>
              <p:cNvSpPr/>
              <p:nvPr/>
            </p:nvSpPr>
            <p:spPr>
              <a:xfrm>
                <a:off x="9477375" y="1962150"/>
                <a:ext cx="9525" cy="95250"/>
              </a:xfrm>
              <a:custGeom>
                <a:avLst/>
                <a:gdLst/>
                <a:ahLst/>
                <a:cxnLst/>
                <a:rect l="l" t="t" r="r" b="b"/>
                <a:pathLst>
                  <a:path w="9525" h="95250">
                    <a:moveTo>
                      <a:pt x="0" y="0"/>
                    </a:moveTo>
                    <a:lnTo>
                      <a:pt x="0" y="95250"/>
                    </a:lnTo>
                  </a:path>
                </a:pathLst>
              </a:custGeom>
              <a:noFill/>
              <a:ln w="9525">
                <a:solidFill>
                  <a:srgbClr val="C9988F"/>
                </a:solidFill>
              </a:ln>
            </p:spPr>
          </p:sp>
          <p:sp>
            <p:nvSpPr>
              <p:cNvPr id="209" name="Line 209"/>
              <p:cNvSpPr/>
              <p:nvPr/>
            </p:nvSpPr>
            <p:spPr>
              <a:xfrm>
                <a:off x="10182225" y="1962150"/>
                <a:ext cx="9525" cy="95250"/>
              </a:xfrm>
              <a:custGeom>
                <a:avLst/>
                <a:gdLst/>
                <a:ahLst/>
                <a:cxnLst/>
                <a:rect l="l" t="t" r="r" b="b"/>
                <a:pathLst>
                  <a:path w="9525" h="95250">
                    <a:moveTo>
                      <a:pt x="0" y="0"/>
                    </a:moveTo>
                    <a:lnTo>
                      <a:pt x="0" y="95250"/>
                    </a:lnTo>
                  </a:path>
                </a:pathLst>
              </a:custGeom>
              <a:noFill/>
              <a:ln w="9525">
                <a:solidFill>
                  <a:srgbClr val="C9988F"/>
                </a:solidFill>
              </a:ln>
            </p:spPr>
          </p:sp>
          <p:sp>
            <p:nvSpPr>
              <p:cNvPr id="210" name="Line 210"/>
              <p:cNvSpPr/>
              <p:nvPr/>
            </p:nvSpPr>
            <p:spPr>
              <a:xfrm>
                <a:off x="10887075" y="1962150"/>
                <a:ext cx="9525" cy="95250"/>
              </a:xfrm>
              <a:custGeom>
                <a:avLst/>
                <a:gdLst/>
                <a:ahLst/>
                <a:cxnLst/>
                <a:rect l="l" t="t" r="r" b="b"/>
                <a:pathLst>
                  <a:path w="9525" h="95250">
                    <a:moveTo>
                      <a:pt x="0" y="0"/>
                    </a:moveTo>
                    <a:lnTo>
                      <a:pt x="0" y="95250"/>
                    </a:lnTo>
                  </a:path>
                </a:pathLst>
              </a:custGeom>
              <a:noFill/>
              <a:ln w="9525">
                <a:solidFill>
                  <a:srgbClr val="C9988F"/>
                </a:solidFill>
              </a:ln>
            </p:spPr>
          </p:sp>
          <p:sp>
            <p:nvSpPr>
              <p:cNvPr id="211" name="Line 211"/>
              <p:cNvSpPr/>
              <p:nvPr/>
            </p:nvSpPr>
            <p:spPr>
              <a:xfrm>
                <a:off x="11591925" y="1962150"/>
                <a:ext cx="9525" cy="95250"/>
              </a:xfrm>
              <a:custGeom>
                <a:avLst/>
                <a:gdLst/>
                <a:ahLst/>
                <a:cxnLst/>
                <a:rect l="l" t="t" r="r" b="b"/>
                <a:pathLst>
                  <a:path w="9525" h="95250">
                    <a:moveTo>
                      <a:pt x="0" y="0"/>
                    </a:moveTo>
                    <a:lnTo>
                      <a:pt x="0" y="95250"/>
                    </a:lnTo>
                  </a:path>
                </a:pathLst>
              </a:custGeom>
              <a:noFill/>
              <a:ln w="9525">
                <a:solidFill>
                  <a:srgbClr val="C9988F"/>
                </a:solidFill>
              </a:ln>
            </p:spPr>
          </p:sp>
        </p:grpSp>
        <p:grpSp>
          <p:nvGrpSpPr>
            <p:cNvPr id="245" name="lc-icons"/>
            <p:cNvGrpSpPr/>
            <p:nvPr/>
          </p:nvGrpSpPr>
          <p:grpSpPr>
            <a:xfrm>
              <a:off x="7896225" y="2076450"/>
              <a:ext cx="3867150" cy="342900"/>
              <a:chOff x="7896225" y="2076450"/>
              <a:chExt cx="3867150" cy="342900"/>
            </a:xfrm>
          </p:grpSpPr>
          <p:sp>
            <p:nvSpPr>
              <p:cNvPr id="213" name="Ellipse 213"/>
              <p:cNvSpPr/>
              <p:nvPr/>
            </p:nvSpPr>
            <p:spPr>
              <a:xfrm>
                <a:off x="7896225" y="2076450"/>
                <a:ext cx="342900" cy="342900"/>
              </a:xfrm>
              <a:prstGeom prst="ellipse">
                <a:avLst/>
              </a:prstGeom>
              <a:solidFill>
                <a:srgbClr val="E9F4F0"/>
              </a:solidFill>
              <a:ln>
                <a:noFill/>
              </a:ln>
            </p:spPr>
          </p:sp>
          <p:grpSp>
            <p:nvGrpSpPr>
              <p:cNvPr id="217" name="Group 217"/>
              <p:cNvGrpSpPr/>
              <p:nvPr/>
            </p:nvGrpSpPr>
            <p:grpSpPr>
              <a:xfrm>
                <a:off x="8015288" y="2169319"/>
                <a:ext cx="130969" cy="157163"/>
                <a:chOff x="8015288" y="2169319"/>
                <a:chExt cx="130969" cy="157163"/>
              </a:xfrm>
            </p:grpSpPr>
            <p:sp>
              <p:nvSpPr>
                <p:cNvPr id="214" name="Freeform 214"/>
                <p:cNvSpPr/>
                <p:nvPr/>
              </p:nvSpPr>
              <p:spPr>
                <a:xfrm>
                  <a:off x="8032750" y="21693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5B180B"/>
                  </a:solidFill>
                </a:ln>
              </p:spPr>
            </p:sp>
            <p:sp>
              <p:nvSpPr>
                <p:cNvPr id="215" name="Freeform 215"/>
                <p:cNvSpPr/>
                <p:nvPr/>
              </p:nvSpPr>
              <p:spPr>
                <a:xfrm>
                  <a:off x="8015288" y="2274094"/>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5B180B"/>
                  </a:solidFill>
                </a:ln>
              </p:spPr>
            </p:sp>
            <p:sp>
              <p:nvSpPr>
                <p:cNvPr id="216" name="Freeform 216"/>
                <p:cNvSpPr/>
                <p:nvPr/>
              </p:nvSpPr>
              <p:spPr>
                <a:xfrm>
                  <a:off x="8093869" y="2291556"/>
                  <a:ext cx="52388" cy="34925"/>
                </a:xfrm>
                <a:custGeom>
                  <a:avLst/>
                  <a:gdLst/>
                  <a:ahLst/>
                  <a:cxnLst/>
                  <a:rect l="l" t="t" r="r" b="b"/>
                  <a:pathLst>
                    <a:path w="52388" h="34925">
                      <a:moveTo>
                        <a:pt x="0" y="17463"/>
                      </a:moveTo>
                      <a:lnTo>
                        <a:pt x="17463" y="34925"/>
                      </a:lnTo>
                      <a:lnTo>
                        <a:pt x="52388" y="0"/>
                      </a:lnTo>
                    </a:path>
                  </a:pathLst>
                </a:custGeom>
                <a:noFill/>
                <a:ln w="17463">
                  <a:solidFill>
                    <a:srgbClr val="5B180B"/>
                  </a:solidFill>
                </a:ln>
              </p:spPr>
            </p:sp>
          </p:grpSp>
          <p:sp>
            <p:nvSpPr>
              <p:cNvPr id="218" name="Ellipse 218"/>
              <p:cNvSpPr/>
              <p:nvPr/>
            </p:nvSpPr>
            <p:spPr>
              <a:xfrm>
                <a:off x="8601075" y="2076450"/>
                <a:ext cx="342900" cy="342900"/>
              </a:xfrm>
              <a:prstGeom prst="ellipse">
                <a:avLst/>
              </a:prstGeom>
              <a:solidFill>
                <a:srgbClr val="E9F4F0"/>
              </a:solidFill>
              <a:ln>
                <a:noFill/>
              </a:ln>
            </p:spPr>
          </p:sp>
          <p:grpSp>
            <p:nvGrpSpPr>
              <p:cNvPr id="224" name="Group 224"/>
              <p:cNvGrpSpPr/>
              <p:nvPr/>
            </p:nvGrpSpPr>
            <p:grpSpPr>
              <a:xfrm>
                <a:off x="8693944" y="2168149"/>
                <a:ext cx="157162" cy="158333"/>
                <a:chOff x="8693944" y="2168149"/>
                <a:chExt cx="157162" cy="158333"/>
              </a:xfrm>
            </p:grpSpPr>
            <p:sp>
              <p:nvSpPr>
                <p:cNvPr id="219" name="Freeform 219"/>
                <p:cNvSpPr/>
                <p:nvPr/>
              </p:nvSpPr>
              <p:spPr>
                <a:xfrm>
                  <a:off x="8746331" y="2239169"/>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5B180B"/>
                  </a:solidFill>
                </a:ln>
              </p:spPr>
            </p:sp>
            <p:sp>
              <p:nvSpPr>
                <p:cNvPr id="220" name="Freeform 220"/>
                <p:cNvSpPr/>
                <p:nvPr/>
              </p:nvSpPr>
              <p:spPr>
                <a:xfrm>
                  <a:off x="8746331" y="2265363"/>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5B180B"/>
                  </a:solidFill>
                </a:ln>
              </p:spPr>
            </p:sp>
            <p:sp>
              <p:nvSpPr>
                <p:cNvPr id="221" name="Freeform 221"/>
                <p:cNvSpPr/>
                <p:nvPr/>
              </p:nvSpPr>
              <p:spPr>
                <a:xfrm>
                  <a:off x="8693944" y="2168149"/>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5B180B"/>
                  </a:solidFill>
                </a:ln>
              </p:spPr>
            </p:sp>
            <p:sp>
              <p:nvSpPr>
                <p:cNvPr id="222" name="Freeform 222"/>
                <p:cNvSpPr/>
                <p:nvPr/>
              </p:nvSpPr>
              <p:spPr>
                <a:xfrm>
                  <a:off x="8693944" y="2195513"/>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5B180B"/>
                  </a:solidFill>
                </a:ln>
              </p:spPr>
            </p:sp>
            <p:sp>
              <p:nvSpPr>
                <p:cNvPr id="223" name="Freeform 223"/>
                <p:cNvSpPr/>
                <p:nvPr/>
              </p:nvSpPr>
              <p:spPr>
                <a:xfrm>
                  <a:off x="8693944" y="2239169"/>
                  <a:ext cx="17463" cy="17463"/>
                </a:xfrm>
                <a:custGeom>
                  <a:avLst/>
                  <a:gdLst/>
                  <a:ahLst/>
                  <a:cxnLst/>
                  <a:rect l="l" t="t" r="r" b="b"/>
                  <a:pathLst>
                    <a:path w="17463" h="17463">
                      <a:moveTo>
                        <a:pt x="0" y="0"/>
                      </a:moveTo>
                      <a:cubicBezTo>
                        <a:pt x="0" y="7753"/>
                        <a:pt x="6741" y="12660"/>
                        <a:pt x="17463" y="17463"/>
                      </a:cubicBezTo>
                    </a:path>
                  </a:pathLst>
                </a:custGeom>
                <a:noFill/>
                <a:ln w="17463">
                  <a:solidFill>
                    <a:srgbClr val="5B180B"/>
                  </a:solidFill>
                </a:ln>
              </p:spPr>
            </p:sp>
          </p:grpSp>
          <p:sp>
            <p:nvSpPr>
              <p:cNvPr id="225" name="Ellipse 225"/>
              <p:cNvSpPr/>
              <p:nvPr/>
            </p:nvSpPr>
            <p:spPr>
              <a:xfrm>
                <a:off x="9305925" y="2076450"/>
                <a:ext cx="342900" cy="342900"/>
              </a:xfrm>
              <a:prstGeom prst="ellipse">
                <a:avLst/>
              </a:prstGeom>
              <a:solidFill>
                <a:srgbClr val="E9F4F0"/>
              </a:solidFill>
              <a:ln>
                <a:noFill/>
              </a:ln>
            </p:spPr>
          </p:sp>
          <p:grpSp>
            <p:nvGrpSpPr>
              <p:cNvPr id="229" name="Group 229"/>
              <p:cNvGrpSpPr/>
              <p:nvPr/>
            </p:nvGrpSpPr>
            <p:grpSpPr>
              <a:xfrm>
                <a:off x="9402304" y="2169319"/>
                <a:ext cx="150125" cy="156202"/>
                <a:chOff x="9402304" y="2169319"/>
                <a:chExt cx="150125" cy="156202"/>
              </a:xfrm>
            </p:grpSpPr>
            <p:sp>
              <p:nvSpPr>
                <p:cNvPr id="226" name="Freeform 226"/>
                <p:cNvSpPr/>
                <p:nvPr/>
              </p:nvSpPr>
              <p:spPr>
                <a:xfrm>
                  <a:off x="9424988" y="2169319"/>
                  <a:ext cx="104775" cy="104775"/>
                </a:xfrm>
                <a:custGeom>
                  <a:avLst/>
                  <a:gdLst/>
                  <a:ahLst/>
                  <a:cxnLst/>
                  <a:rect l="l" t="t" r="r" b="b"/>
                  <a:pathLst>
                    <a:path w="104775" h="104775">
                      <a:moveTo>
                        <a:pt x="0" y="52388"/>
                      </a:moveTo>
                      <a:cubicBezTo>
                        <a:pt x="0" y="81320"/>
                        <a:pt x="23455" y="104775"/>
                        <a:pt x="52388" y="104775"/>
                      </a:cubicBezTo>
                      <a:cubicBezTo>
                        <a:pt x="81320" y="104775"/>
                        <a:pt x="104775" y="81320"/>
                        <a:pt x="104775" y="52388"/>
                      </a:cubicBezTo>
                      <a:cubicBezTo>
                        <a:pt x="104775" y="23455"/>
                        <a:pt x="81320" y="0"/>
                        <a:pt x="52388" y="0"/>
                      </a:cubicBezTo>
                      <a:cubicBezTo>
                        <a:pt x="23455" y="0"/>
                        <a:pt x="0" y="23455"/>
                        <a:pt x="0" y="52388"/>
                      </a:cubicBezTo>
                    </a:path>
                  </a:pathLst>
                </a:custGeom>
                <a:noFill/>
                <a:ln w="17463">
                  <a:solidFill>
                    <a:srgbClr val="5B180B"/>
                  </a:solidFill>
                </a:ln>
              </p:spPr>
            </p:sp>
            <p:sp>
              <p:nvSpPr>
                <p:cNvPr id="227" name="Freeform 227"/>
                <p:cNvSpPr/>
                <p:nvPr/>
              </p:nvSpPr>
              <p:spPr>
                <a:xfrm>
                  <a:off x="9477375" y="2247900"/>
                  <a:ext cx="75054" cy="77621"/>
                </a:xfrm>
                <a:custGeom>
                  <a:avLst/>
                  <a:gdLst/>
                  <a:ahLst/>
                  <a:cxnLst/>
                  <a:rect l="l" t="t" r="r" b="b"/>
                  <a:pathLst>
                    <a:path w="75054" h="77621">
                      <a:moveTo>
                        <a:pt x="0" y="26194"/>
                      </a:moveTo>
                      <a:lnTo>
                        <a:pt x="29686" y="77621"/>
                      </a:lnTo>
                      <a:lnTo>
                        <a:pt x="43639" y="49393"/>
                      </a:lnTo>
                      <a:lnTo>
                        <a:pt x="75054" y="51418"/>
                      </a:lnTo>
                      <a:lnTo>
                        <a:pt x="45368" y="0"/>
                      </a:lnTo>
                    </a:path>
                  </a:pathLst>
                </a:custGeom>
                <a:noFill/>
                <a:ln w="17463">
                  <a:solidFill>
                    <a:srgbClr val="5B180B"/>
                  </a:solidFill>
                </a:ln>
              </p:spPr>
            </p:sp>
            <p:sp>
              <p:nvSpPr>
                <p:cNvPr id="228" name="Freeform 228"/>
                <p:cNvSpPr/>
                <p:nvPr/>
              </p:nvSpPr>
              <p:spPr>
                <a:xfrm>
                  <a:off x="9402304" y="2247900"/>
                  <a:ext cx="75054" cy="77612"/>
                </a:xfrm>
                <a:custGeom>
                  <a:avLst/>
                  <a:gdLst/>
                  <a:ahLst/>
                  <a:cxnLst/>
                  <a:rect l="l" t="t" r="r" b="b"/>
                  <a:pathLst>
                    <a:path w="75054" h="77612">
                      <a:moveTo>
                        <a:pt x="29686" y="0"/>
                      </a:moveTo>
                      <a:lnTo>
                        <a:pt x="0" y="51427"/>
                      </a:lnTo>
                      <a:lnTo>
                        <a:pt x="31415" y="49393"/>
                      </a:lnTo>
                      <a:lnTo>
                        <a:pt x="45368" y="77612"/>
                      </a:lnTo>
                      <a:lnTo>
                        <a:pt x="75054" y="26194"/>
                      </a:lnTo>
                    </a:path>
                  </a:pathLst>
                </a:custGeom>
                <a:noFill/>
                <a:ln w="17463">
                  <a:solidFill>
                    <a:srgbClr val="5B180B"/>
                  </a:solidFill>
                </a:ln>
              </p:spPr>
            </p:sp>
          </p:grpSp>
          <p:sp>
            <p:nvSpPr>
              <p:cNvPr id="230" name="Ellipse 230"/>
              <p:cNvSpPr/>
              <p:nvPr/>
            </p:nvSpPr>
            <p:spPr>
              <a:xfrm>
                <a:off x="10010775" y="2076450"/>
                <a:ext cx="342900" cy="342900"/>
              </a:xfrm>
              <a:prstGeom prst="ellipse">
                <a:avLst/>
              </a:prstGeom>
              <a:solidFill>
                <a:srgbClr val="E9F4F0"/>
              </a:solidFill>
              <a:ln>
                <a:noFill/>
              </a:ln>
            </p:spPr>
          </p:sp>
          <p:grpSp>
            <p:nvGrpSpPr>
              <p:cNvPr id="234" name="Group 234"/>
              <p:cNvGrpSpPr/>
              <p:nvPr/>
            </p:nvGrpSpPr>
            <p:grpSpPr>
              <a:xfrm>
                <a:off x="10103644" y="2169319"/>
                <a:ext cx="157163" cy="157162"/>
                <a:chOff x="10103644" y="2169319"/>
                <a:chExt cx="157163" cy="157162"/>
              </a:xfrm>
            </p:grpSpPr>
            <p:sp>
              <p:nvSpPr>
                <p:cNvPr id="231" name="Freeform 231"/>
                <p:cNvSpPr/>
                <p:nvPr/>
              </p:nvSpPr>
              <p:spPr>
                <a:xfrm>
                  <a:off x="10103644" y="2169319"/>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5B180B"/>
                  </a:solidFill>
                </a:ln>
              </p:spPr>
            </p:sp>
            <p:sp>
              <p:nvSpPr>
                <p:cNvPr id="232" name="Freeform 232"/>
                <p:cNvSpPr/>
                <p:nvPr/>
              </p:nvSpPr>
              <p:spPr>
                <a:xfrm>
                  <a:off x="10121106" y="2247900"/>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5B180B"/>
                  </a:solidFill>
                </a:ln>
              </p:spPr>
            </p:sp>
            <p:sp>
              <p:nvSpPr>
                <p:cNvPr id="233" name="Freeform 233"/>
                <p:cNvSpPr/>
                <p:nvPr/>
              </p:nvSpPr>
              <p:spPr>
                <a:xfrm>
                  <a:off x="10156031" y="2256631"/>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5B180B"/>
                  </a:solidFill>
                </a:ln>
              </p:spPr>
            </p:sp>
          </p:grpSp>
          <p:sp>
            <p:nvSpPr>
              <p:cNvPr id="235" name="Ellipse 235"/>
              <p:cNvSpPr/>
              <p:nvPr/>
            </p:nvSpPr>
            <p:spPr>
              <a:xfrm>
                <a:off x="10715625" y="2076450"/>
                <a:ext cx="342900" cy="342900"/>
              </a:xfrm>
              <a:prstGeom prst="ellipse">
                <a:avLst/>
              </a:prstGeom>
              <a:solidFill>
                <a:srgbClr val="E9F4F0"/>
              </a:solidFill>
              <a:ln>
                <a:noFill/>
              </a:ln>
            </p:spPr>
          </p:sp>
          <p:grpSp>
            <p:nvGrpSpPr>
              <p:cNvPr id="240" name="Group 240"/>
              <p:cNvGrpSpPr/>
              <p:nvPr/>
            </p:nvGrpSpPr>
            <p:grpSpPr>
              <a:xfrm>
                <a:off x="10808494" y="2169319"/>
                <a:ext cx="157163" cy="157163"/>
                <a:chOff x="10808494" y="2169319"/>
                <a:chExt cx="157163" cy="157163"/>
              </a:xfrm>
            </p:grpSpPr>
            <p:sp>
              <p:nvSpPr>
                <p:cNvPr id="236" name="Freeform 236"/>
                <p:cNvSpPr/>
                <p:nvPr/>
              </p:nvSpPr>
              <p:spPr>
                <a:xfrm>
                  <a:off x="10825956" y="21693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5B180B"/>
                  </a:solidFill>
                </a:ln>
              </p:spPr>
            </p:sp>
            <p:sp>
              <p:nvSpPr>
                <p:cNvPr id="237" name="Freeform 237"/>
                <p:cNvSpPr/>
                <p:nvPr/>
              </p:nvSpPr>
              <p:spPr>
                <a:xfrm>
                  <a:off x="10808494" y="227409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5B180B"/>
                  </a:solidFill>
                </a:ln>
              </p:spPr>
            </p:sp>
            <p:sp>
              <p:nvSpPr>
                <p:cNvPr id="238" name="Freeform 238"/>
                <p:cNvSpPr/>
                <p:nvPr/>
              </p:nvSpPr>
              <p:spPr>
                <a:xfrm>
                  <a:off x="10922000" y="217045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5B180B"/>
                  </a:solidFill>
                </a:ln>
              </p:spPr>
            </p:sp>
            <p:sp>
              <p:nvSpPr>
                <p:cNvPr id="239" name="Freeform 239"/>
                <p:cNvSpPr/>
                <p:nvPr/>
              </p:nvSpPr>
              <p:spPr>
                <a:xfrm>
                  <a:off x="10939463" y="227540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5B180B"/>
                  </a:solidFill>
                </a:ln>
              </p:spPr>
            </p:sp>
          </p:grpSp>
          <p:sp>
            <p:nvSpPr>
              <p:cNvPr id="241" name="Ellipse 241"/>
              <p:cNvSpPr/>
              <p:nvPr/>
            </p:nvSpPr>
            <p:spPr>
              <a:xfrm>
                <a:off x="11420475" y="2076450"/>
                <a:ext cx="342900" cy="342900"/>
              </a:xfrm>
              <a:prstGeom prst="ellipse">
                <a:avLst/>
              </a:prstGeom>
              <a:solidFill>
                <a:srgbClr val="E9F4F0"/>
              </a:solidFill>
              <a:ln>
                <a:noFill/>
              </a:ln>
            </p:spPr>
          </p:sp>
          <p:grpSp>
            <p:nvGrpSpPr>
              <p:cNvPr id="244" name="Group 244"/>
              <p:cNvGrpSpPr/>
              <p:nvPr/>
            </p:nvGrpSpPr>
            <p:grpSpPr>
              <a:xfrm>
                <a:off x="11501560" y="2169319"/>
                <a:ext cx="170506" cy="157162"/>
                <a:chOff x="11501560" y="2169319"/>
                <a:chExt cx="170506" cy="157162"/>
              </a:xfrm>
            </p:grpSpPr>
            <p:sp>
              <p:nvSpPr>
                <p:cNvPr id="242" name="Freeform 242"/>
                <p:cNvSpPr/>
                <p:nvPr/>
              </p:nvSpPr>
              <p:spPr>
                <a:xfrm>
                  <a:off x="11501560" y="216931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5B180B"/>
                  </a:solidFill>
                </a:ln>
              </p:spPr>
            </p:sp>
            <p:sp>
              <p:nvSpPr>
                <p:cNvPr id="243" name="Freeform 243"/>
                <p:cNvSpPr/>
                <p:nvPr/>
              </p:nvSpPr>
              <p:spPr>
                <a:xfrm>
                  <a:off x="11618119" y="2291556"/>
                  <a:ext cx="52388" cy="34925"/>
                </a:xfrm>
                <a:custGeom>
                  <a:avLst/>
                  <a:gdLst/>
                  <a:ahLst/>
                  <a:cxnLst/>
                  <a:rect l="l" t="t" r="r" b="b"/>
                  <a:pathLst>
                    <a:path w="52388" h="34925">
                      <a:moveTo>
                        <a:pt x="0" y="17463"/>
                      </a:moveTo>
                      <a:lnTo>
                        <a:pt x="17463" y="34925"/>
                      </a:lnTo>
                      <a:lnTo>
                        <a:pt x="52388" y="0"/>
                      </a:lnTo>
                    </a:path>
                  </a:pathLst>
                </a:custGeom>
                <a:noFill/>
                <a:ln w="17463">
                  <a:solidFill>
                    <a:srgbClr val="5B180B"/>
                  </a:solidFill>
                </a:ln>
              </p:spPr>
            </p:sp>
          </p:grpSp>
        </p:grpSp>
        <p:grpSp>
          <p:nvGrpSpPr>
            <p:cNvPr id="282" name="lc-cards"/>
            <p:cNvGrpSpPr/>
            <p:nvPr/>
          </p:nvGrpSpPr>
          <p:grpSpPr>
            <a:xfrm>
              <a:off x="7734300" y="2495550"/>
              <a:ext cx="4191000" cy="914400"/>
              <a:chOff x="7734300" y="2495550"/>
              <a:chExt cx="4191000" cy="914400"/>
            </a:xfrm>
          </p:grpSpPr>
          <p:sp>
            <p:nvSpPr>
              <p:cNvPr id="246" name="Rectangle 246"/>
              <p:cNvSpPr/>
              <p:nvPr/>
            </p:nvSpPr>
            <p:spPr>
              <a:xfrm>
                <a:off x="7734300" y="2495550"/>
                <a:ext cx="666750" cy="914400"/>
              </a:xfrm>
              <a:prstGeom prst="roundRect">
                <a:avLst>
                  <a:gd name="adj" fmla="val 7143"/>
                </a:avLst>
              </a:prstGeom>
              <a:solidFill>
                <a:srgbClr val="FFFFFF"/>
              </a:solidFill>
              <a:ln w="7620">
                <a:solidFill>
                  <a:srgbClr val="D9E8E2"/>
                </a:solidFill>
              </a:ln>
            </p:spPr>
          </p:sp>
          <p:sp>
            <p:nvSpPr>
              <p:cNvPr id="247" name="TextBox 247"/>
              <p:cNvSpPr txBox="1"/>
              <p:nvPr/>
            </p:nvSpPr>
            <p:spPr>
              <a:xfrm>
                <a:off x="7853397" y="2575084"/>
                <a:ext cx="428557"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开立账户​</a:t>
                </a:r>
              </a:p>
            </p:txBody>
          </p:sp>
          <p:sp>
            <p:nvSpPr>
              <p:cNvPr id="248" name="TextBox 248"/>
              <p:cNvSpPr txBox="1"/>
              <p:nvPr/>
            </p:nvSpPr>
            <p:spPr>
              <a:xfrm>
                <a:off x="7786688" y="275867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批量开户​</a:t>
                </a:r>
              </a:p>
            </p:txBody>
          </p:sp>
          <p:sp>
            <p:nvSpPr>
              <p:cNvPr id="249" name="TextBox 249"/>
              <p:cNvSpPr txBox="1"/>
              <p:nvPr/>
            </p:nvSpPr>
            <p:spPr>
              <a:xfrm>
                <a:off x="7786688" y="2892028"/>
                <a:ext cx="411739"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绑定APP​</a:t>
                </a:r>
              </a:p>
            </p:txBody>
          </p:sp>
          <p:sp>
            <p:nvSpPr>
              <p:cNvPr id="250" name="TextBox 250"/>
              <p:cNvSpPr txBox="1"/>
              <p:nvPr/>
            </p:nvSpPr>
            <p:spPr>
              <a:xfrm>
                <a:off x="7786688" y="302537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新客礼包​</a:t>
                </a:r>
              </a:p>
            </p:txBody>
          </p:sp>
          <p:sp>
            <p:nvSpPr>
              <p:cNvPr id="251" name="TextBox 251"/>
              <p:cNvSpPr txBox="1"/>
              <p:nvPr/>
            </p:nvSpPr>
            <p:spPr>
              <a:xfrm>
                <a:off x="7786688" y="31587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用卡指引​</a:t>
                </a:r>
              </a:p>
            </p:txBody>
          </p:sp>
          <p:sp>
            <p:nvSpPr>
              <p:cNvPr id="252" name="Rectangle 252"/>
              <p:cNvSpPr/>
              <p:nvPr/>
            </p:nvSpPr>
            <p:spPr>
              <a:xfrm>
                <a:off x="8439150" y="2495550"/>
                <a:ext cx="666750" cy="914400"/>
              </a:xfrm>
              <a:prstGeom prst="roundRect">
                <a:avLst>
                  <a:gd name="adj" fmla="val 7143"/>
                </a:avLst>
              </a:prstGeom>
              <a:solidFill>
                <a:srgbClr val="FFFFFF"/>
              </a:solidFill>
              <a:ln w="7620">
                <a:solidFill>
                  <a:srgbClr val="D9E8E2"/>
                </a:solidFill>
              </a:ln>
            </p:spPr>
          </p:sp>
          <p:sp>
            <p:nvSpPr>
              <p:cNvPr id="253" name="TextBox 253"/>
              <p:cNvSpPr txBox="1"/>
              <p:nvPr/>
            </p:nvSpPr>
            <p:spPr>
              <a:xfrm>
                <a:off x="8558247" y="2575084"/>
                <a:ext cx="428557"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工资沉淀​</a:t>
                </a:r>
              </a:p>
            </p:txBody>
          </p:sp>
          <p:sp>
            <p:nvSpPr>
              <p:cNvPr id="254" name="TextBox 254"/>
              <p:cNvSpPr txBox="1"/>
              <p:nvPr/>
            </p:nvSpPr>
            <p:spPr>
              <a:xfrm>
                <a:off x="8491538" y="275867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代发到账​</a:t>
                </a:r>
              </a:p>
            </p:txBody>
          </p:sp>
          <p:sp>
            <p:nvSpPr>
              <p:cNvPr id="255" name="TextBox 255"/>
              <p:cNvSpPr txBox="1"/>
              <p:nvPr/>
            </p:nvSpPr>
            <p:spPr>
              <a:xfrm>
                <a:off x="8491538" y="28920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自动储蓄​</a:t>
                </a:r>
              </a:p>
            </p:txBody>
          </p:sp>
          <p:sp>
            <p:nvSpPr>
              <p:cNvPr id="256" name="TextBox 256"/>
              <p:cNvSpPr txBox="1"/>
              <p:nvPr/>
            </p:nvSpPr>
            <p:spPr>
              <a:xfrm>
                <a:off x="8491538" y="302537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账户增值​</a:t>
                </a:r>
              </a:p>
            </p:txBody>
          </p:sp>
          <p:sp>
            <p:nvSpPr>
              <p:cNvPr id="257" name="TextBox 257"/>
              <p:cNvSpPr txBox="1"/>
              <p:nvPr/>
            </p:nvSpPr>
            <p:spPr>
              <a:xfrm>
                <a:off x="8491538" y="31587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生活缴费​</a:t>
                </a:r>
              </a:p>
            </p:txBody>
          </p:sp>
          <p:sp>
            <p:nvSpPr>
              <p:cNvPr id="258" name="Rectangle 258"/>
              <p:cNvSpPr/>
              <p:nvPr/>
            </p:nvSpPr>
            <p:spPr>
              <a:xfrm>
                <a:off x="9144000" y="2495550"/>
                <a:ext cx="666750" cy="914400"/>
              </a:xfrm>
              <a:prstGeom prst="roundRect">
                <a:avLst>
                  <a:gd name="adj" fmla="val 7143"/>
                </a:avLst>
              </a:prstGeom>
              <a:solidFill>
                <a:srgbClr val="FFFFFF"/>
              </a:solidFill>
              <a:ln w="7620">
                <a:solidFill>
                  <a:srgbClr val="D9E8E2"/>
                </a:solidFill>
              </a:ln>
            </p:spPr>
          </p:sp>
          <p:sp>
            <p:nvSpPr>
              <p:cNvPr id="259" name="TextBox 259"/>
              <p:cNvSpPr txBox="1"/>
              <p:nvPr/>
            </p:nvSpPr>
            <p:spPr>
              <a:xfrm>
                <a:off x="9263097" y="2575084"/>
                <a:ext cx="428557"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财富配置​</a:t>
                </a:r>
              </a:p>
            </p:txBody>
          </p:sp>
          <p:sp>
            <p:nvSpPr>
              <p:cNvPr id="260" name="TextBox 260"/>
              <p:cNvSpPr txBox="1"/>
              <p:nvPr/>
            </p:nvSpPr>
            <p:spPr>
              <a:xfrm>
                <a:off x="9196388" y="275867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专项理财​</a:t>
                </a:r>
              </a:p>
            </p:txBody>
          </p:sp>
          <p:sp>
            <p:nvSpPr>
              <p:cNvPr id="261" name="TextBox 261"/>
              <p:cNvSpPr txBox="1"/>
              <p:nvPr/>
            </p:nvSpPr>
            <p:spPr>
              <a:xfrm>
                <a:off x="9196388" y="28920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基金定投​</a:t>
                </a:r>
              </a:p>
            </p:txBody>
          </p:sp>
          <p:sp>
            <p:nvSpPr>
              <p:cNvPr id="262" name="TextBox 262"/>
              <p:cNvSpPr txBox="1"/>
              <p:nvPr/>
            </p:nvSpPr>
            <p:spPr>
              <a:xfrm>
                <a:off x="9196388" y="3025378"/>
                <a:ext cx="504124"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结构性存款​</a:t>
                </a:r>
              </a:p>
            </p:txBody>
          </p:sp>
          <p:sp>
            <p:nvSpPr>
              <p:cNvPr id="263" name="TextBox 263"/>
              <p:cNvSpPr txBox="1"/>
              <p:nvPr/>
            </p:nvSpPr>
            <p:spPr>
              <a:xfrm>
                <a:off x="9196388" y="31587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财富体检​</a:t>
                </a:r>
              </a:p>
            </p:txBody>
          </p:sp>
          <p:sp>
            <p:nvSpPr>
              <p:cNvPr id="264" name="Rectangle 264"/>
              <p:cNvSpPr/>
              <p:nvPr/>
            </p:nvSpPr>
            <p:spPr>
              <a:xfrm>
                <a:off x="9848850" y="2495550"/>
                <a:ext cx="666750" cy="914400"/>
              </a:xfrm>
              <a:prstGeom prst="roundRect">
                <a:avLst>
                  <a:gd name="adj" fmla="val 7143"/>
                </a:avLst>
              </a:prstGeom>
              <a:solidFill>
                <a:srgbClr val="FFFFFF"/>
              </a:solidFill>
              <a:ln w="7620">
                <a:solidFill>
                  <a:srgbClr val="D9E8E2"/>
                </a:solidFill>
              </a:ln>
            </p:spPr>
          </p:sp>
          <p:sp>
            <p:nvSpPr>
              <p:cNvPr id="265" name="TextBox 265"/>
              <p:cNvSpPr txBox="1"/>
              <p:nvPr/>
            </p:nvSpPr>
            <p:spPr>
              <a:xfrm>
                <a:off x="9967947" y="2575084"/>
                <a:ext cx="428557"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按揭贷款​</a:t>
                </a:r>
              </a:p>
            </p:txBody>
          </p:sp>
          <p:sp>
            <p:nvSpPr>
              <p:cNvPr id="266" name="TextBox 266"/>
              <p:cNvSpPr txBox="1"/>
              <p:nvPr/>
            </p:nvSpPr>
            <p:spPr>
              <a:xfrm>
                <a:off x="9901238" y="275867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房贷咨询​</a:t>
                </a:r>
              </a:p>
            </p:txBody>
          </p:sp>
          <p:sp>
            <p:nvSpPr>
              <p:cNvPr id="267" name="TextBox 267"/>
              <p:cNvSpPr txBox="1"/>
              <p:nvPr/>
            </p:nvSpPr>
            <p:spPr>
              <a:xfrm>
                <a:off x="9901238" y="28920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利率优惠​</a:t>
                </a:r>
              </a:p>
            </p:txBody>
          </p:sp>
          <p:sp>
            <p:nvSpPr>
              <p:cNvPr id="268" name="TextBox 268"/>
              <p:cNvSpPr txBox="1"/>
              <p:nvPr/>
            </p:nvSpPr>
            <p:spPr>
              <a:xfrm>
                <a:off x="9901238" y="302537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快速审批​</a:t>
                </a:r>
              </a:p>
            </p:txBody>
          </p:sp>
          <p:sp>
            <p:nvSpPr>
              <p:cNvPr id="269" name="TextBox 269"/>
              <p:cNvSpPr txBox="1"/>
              <p:nvPr/>
            </p:nvSpPr>
            <p:spPr>
              <a:xfrm>
                <a:off x="9901238" y="31587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综合金融​</a:t>
                </a:r>
              </a:p>
            </p:txBody>
          </p:sp>
          <p:sp>
            <p:nvSpPr>
              <p:cNvPr id="270" name="Rectangle 270"/>
              <p:cNvSpPr/>
              <p:nvPr/>
            </p:nvSpPr>
            <p:spPr>
              <a:xfrm>
                <a:off x="10553700" y="2495550"/>
                <a:ext cx="666750" cy="914400"/>
              </a:xfrm>
              <a:prstGeom prst="roundRect">
                <a:avLst>
                  <a:gd name="adj" fmla="val 7143"/>
                </a:avLst>
              </a:prstGeom>
              <a:solidFill>
                <a:srgbClr val="FFFFFF"/>
              </a:solidFill>
              <a:ln w="7620">
                <a:solidFill>
                  <a:srgbClr val="D9E8E2"/>
                </a:solidFill>
              </a:ln>
            </p:spPr>
          </p:sp>
          <p:sp>
            <p:nvSpPr>
              <p:cNvPr id="271" name="TextBox 271"/>
              <p:cNvSpPr txBox="1"/>
              <p:nvPr/>
            </p:nvSpPr>
            <p:spPr>
              <a:xfrm>
                <a:off x="10672797" y="2575084"/>
                <a:ext cx="428557"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家庭金融​</a:t>
                </a:r>
              </a:p>
            </p:txBody>
          </p:sp>
          <p:sp>
            <p:nvSpPr>
              <p:cNvPr id="272" name="TextBox 272"/>
              <p:cNvSpPr txBox="1"/>
              <p:nvPr/>
            </p:nvSpPr>
            <p:spPr>
              <a:xfrm>
                <a:off x="10606088" y="2758678"/>
                <a:ext cx="353350"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儿童卡​</a:t>
                </a:r>
              </a:p>
            </p:txBody>
          </p:sp>
          <p:sp>
            <p:nvSpPr>
              <p:cNvPr id="273" name="TextBox 273"/>
              <p:cNvSpPr txBox="1"/>
              <p:nvPr/>
            </p:nvSpPr>
            <p:spPr>
              <a:xfrm>
                <a:off x="10606088" y="2892028"/>
                <a:ext cx="504124"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教育金储备​</a:t>
                </a:r>
              </a:p>
            </p:txBody>
          </p:sp>
          <p:sp>
            <p:nvSpPr>
              <p:cNvPr id="274" name="TextBox 274"/>
              <p:cNvSpPr txBox="1"/>
              <p:nvPr/>
            </p:nvSpPr>
            <p:spPr>
              <a:xfrm>
                <a:off x="10606088" y="302537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保险规划​</a:t>
                </a:r>
              </a:p>
            </p:txBody>
          </p:sp>
          <p:sp>
            <p:nvSpPr>
              <p:cNvPr id="275" name="TextBox 275"/>
              <p:cNvSpPr txBox="1"/>
              <p:nvPr/>
            </p:nvSpPr>
            <p:spPr>
              <a:xfrm>
                <a:off x="10606088" y="31587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亲子权益​</a:t>
                </a:r>
              </a:p>
            </p:txBody>
          </p:sp>
          <p:sp>
            <p:nvSpPr>
              <p:cNvPr id="276" name="Rectangle 276"/>
              <p:cNvSpPr/>
              <p:nvPr/>
            </p:nvSpPr>
            <p:spPr>
              <a:xfrm>
                <a:off x="11258550" y="2495550"/>
                <a:ext cx="666750" cy="914400"/>
              </a:xfrm>
              <a:prstGeom prst="roundRect">
                <a:avLst>
                  <a:gd name="adj" fmla="val 7143"/>
                </a:avLst>
              </a:prstGeom>
              <a:solidFill>
                <a:srgbClr val="FFFFFF"/>
              </a:solidFill>
              <a:ln w="7620">
                <a:solidFill>
                  <a:srgbClr val="D9E8E2"/>
                </a:solidFill>
              </a:ln>
            </p:spPr>
          </p:sp>
          <p:sp>
            <p:nvSpPr>
              <p:cNvPr id="277" name="TextBox 277"/>
              <p:cNvSpPr txBox="1"/>
              <p:nvPr/>
            </p:nvSpPr>
            <p:spPr>
              <a:xfrm>
                <a:off x="11377647" y="2575084"/>
                <a:ext cx="428557"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养老规划​</a:t>
                </a:r>
              </a:p>
            </p:txBody>
          </p:sp>
          <p:sp>
            <p:nvSpPr>
              <p:cNvPr id="278" name="TextBox 278"/>
              <p:cNvSpPr txBox="1"/>
              <p:nvPr/>
            </p:nvSpPr>
            <p:spPr>
              <a:xfrm>
                <a:off x="11310938" y="2758678"/>
                <a:ext cx="504124"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养老金账户​</a:t>
                </a:r>
              </a:p>
            </p:txBody>
          </p:sp>
          <p:sp>
            <p:nvSpPr>
              <p:cNvPr id="279" name="TextBox 279"/>
              <p:cNvSpPr txBox="1"/>
              <p:nvPr/>
            </p:nvSpPr>
            <p:spPr>
              <a:xfrm>
                <a:off x="11310938" y="28920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养老理财​</a:t>
                </a:r>
              </a:p>
            </p:txBody>
          </p:sp>
          <p:sp>
            <p:nvSpPr>
              <p:cNvPr id="280" name="TextBox 280"/>
              <p:cNvSpPr txBox="1"/>
              <p:nvPr/>
            </p:nvSpPr>
            <p:spPr>
              <a:xfrm>
                <a:off x="11310938" y="302537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保险保障​</a:t>
                </a:r>
              </a:p>
            </p:txBody>
          </p:sp>
          <p:sp>
            <p:nvSpPr>
              <p:cNvPr id="281" name="TextBox 281"/>
              <p:cNvSpPr txBox="1"/>
              <p:nvPr/>
            </p:nvSpPr>
            <p:spPr>
              <a:xfrm>
                <a:off x="11310938" y="3158728"/>
                <a:ext cx="4287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高端权益​</a:t>
                </a:r>
              </a:p>
            </p:txBody>
          </p:sp>
        </p:grpSp>
        <p:grpSp>
          <p:nvGrpSpPr>
            <p:cNvPr id="301" name="lc-badges"/>
            <p:cNvGrpSpPr/>
            <p:nvPr/>
          </p:nvGrpSpPr>
          <p:grpSpPr>
            <a:xfrm>
              <a:off x="7734300" y="3486150"/>
              <a:ext cx="4191000" cy="381000"/>
              <a:chOff x="7734300" y="3486150"/>
              <a:chExt cx="4191000" cy="381000"/>
            </a:xfrm>
          </p:grpSpPr>
          <p:sp>
            <p:nvSpPr>
              <p:cNvPr id="283" name="Rectangle 283"/>
              <p:cNvSpPr/>
              <p:nvPr/>
            </p:nvSpPr>
            <p:spPr>
              <a:xfrm>
                <a:off x="7734300" y="3486150"/>
                <a:ext cx="666750" cy="381000"/>
              </a:xfrm>
              <a:prstGeom prst="roundRect">
                <a:avLst>
                  <a:gd name="adj" fmla="val 12500"/>
                </a:avLst>
              </a:prstGeom>
              <a:solidFill>
                <a:srgbClr val="E9F4F0"/>
              </a:solidFill>
              <a:ln>
                <a:noFill/>
              </a:ln>
            </p:spPr>
          </p:sp>
          <p:sp>
            <p:nvSpPr>
              <p:cNvPr id="284" name="TextBox 284"/>
              <p:cNvSpPr txBox="1"/>
              <p:nvPr/>
            </p:nvSpPr>
            <p:spPr>
              <a:xfrm>
                <a:off x="7919542" y="3573780"/>
                <a:ext cx="296266"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激活率​</a:t>
                </a:r>
              </a:p>
            </p:txBody>
          </p:sp>
          <p:sp>
            <p:nvSpPr>
              <p:cNvPr id="285" name="TextBox 285"/>
              <p:cNvSpPr txBox="1"/>
              <p:nvPr/>
            </p:nvSpPr>
            <p:spPr>
              <a:xfrm>
                <a:off x="7891948" y="3701891"/>
                <a:ext cx="351453"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≥95%​</a:t>
                </a:r>
              </a:p>
            </p:txBody>
          </p:sp>
          <p:sp>
            <p:nvSpPr>
              <p:cNvPr id="286" name="Rectangle 286"/>
              <p:cNvSpPr/>
              <p:nvPr/>
            </p:nvSpPr>
            <p:spPr>
              <a:xfrm>
                <a:off x="8439150" y="3486150"/>
                <a:ext cx="666750" cy="381000"/>
              </a:xfrm>
              <a:prstGeom prst="roundRect">
                <a:avLst>
                  <a:gd name="adj" fmla="val 12500"/>
                </a:avLst>
              </a:prstGeom>
              <a:solidFill>
                <a:srgbClr val="E9F4F0"/>
              </a:solidFill>
              <a:ln>
                <a:noFill/>
              </a:ln>
            </p:spPr>
          </p:sp>
          <p:sp>
            <p:nvSpPr>
              <p:cNvPr id="287" name="TextBox 287"/>
              <p:cNvSpPr txBox="1"/>
              <p:nvPr/>
            </p:nvSpPr>
            <p:spPr>
              <a:xfrm>
                <a:off x="8624392" y="3573780"/>
                <a:ext cx="296266"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沉淀率​</a:t>
                </a:r>
              </a:p>
            </p:txBody>
          </p:sp>
          <p:sp>
            <p:nvSpPr>
              <p:cNvPr id="288" name="TextBox 288"/>
              <p:cNvSpPr txBox="1"/>
              <p:nvPr/>
            </p:nvSpPr>
            <p:spPr>
              <a:xfrm>
                <a:off x="8596798" y="3701891"/>
                <a:ext cx="351453"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≥80%​</a:t>
                </a:r>
              </a:p>
            </p:txBody>
          </p:sp>
          <p:sp>
            <p:nvSpPr>
              <p:cNvPr id="289" name="Rectangle 289"/>
              <p:cNvSpPr/>
              <p:nvPr/>
            </p:nvSpPr>
            <p:spPr>
              <a:xfrm>
                <a:off x="9144000" y="3486150"/>
                <a:ext cx="666750" cy="381000"/>
              </a:xfrm>
              <a:prstGeom prst="roundRect">
                <a:avLst>
                  <a:gd name="adj" fmla="val 12500"/>
                </a:avLst>
              </a:prstGeom>
              <a:solidFill>
                <a:srgbClr val="E9F4F0"/>
              </a:solidFill>
              <a:ln>
                <a:noFill/>
              </a:ln>
            </p:spPr>
          </p:sp>
          <p:sp>
            <p:nvSpPr>
              <p:cNvPr id="290" name="TextBox 290"/>
              <p:cNvSpPr txBox="1"/>
              <p:nvPr/>
            </p:nvSpPr>
            <p:spPr>
              <a:xfrm>
                <a:off x="9250299" y="3573780"/>
                <a:ext cx="45415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AUM转化率​</a:t>
                </a:r>
              </a:p>
            </p:txBody>
          </p:sp>
          <p:sp>
            <p:nvSpPr>
              <p:cNvPr id="291" name="TextBox 291"/>
              <p:cNvSpPr txBox="1"/>
              <p:nvPr/>
            </p:nvSpPr>
            <p:spPr>
              <a:xfrm>
                <a:off x="9301648" y="3701891"/>
                <a:ext cx="351453"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≥30%​</a:t>
                </a:r>
              </a:p>
            </p:txBody>
          </p:sp>
          <p:sp>
            <p:nvSpPr>
              <p:cNvPr id="292" name="Rectangle 292"/>
              <p:cNvSpPr/>
              <p:nvPr/>
            </p:nvSpPr>
            <p:spPr>
              <a:xfrm>
                <a:off x="9848850" y="3486150"/>
                <a:ext cx="666750" cy="381000"/>
              </a:xfrm>
              <a:prstGeom prst="roundRect">
                <a:avLst>
                  <a:gd name="adj" fmla="val 12500"/>
                </a:avLst>
              </a:prstGeom>
              <a:solidFill>
                <a:srgbClr val="E9F4F0"/>
              </a:solidFill>
              <a:ln>
                <a:noFill/>
              </a:ln>
            </p:spPr>
          </p:sp>
          <p:sp>
            <p:nvSpPr>
              <p:cNvPr id="293" name="TextBox 293"/>
              <p:cNvSpPr txBox="1"/>
              <p:nvPr/>
            </p:nvSpPr>
            <p:spPr>
              <a:xfrm>
                <a:off x="9953320" y="3573780"/>
                <a:ext cx="457810"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按揭转化率​</a:t>
                </a:r>
              </a:p>
            </p:txBody>
          </p:sp>
          <p:sp>
            <p:nvSpPr>
              <p:cNvPr id="294" name="TextBox 294"/>
              <p:cNvSpPr txBox="1"/>
              <p:nvPr/>
            </p:nvSpPr>
            <p:spPr>
              <a:xfrm>
                <a:off x="10038373" y="3701891"/>
                <a:ext cx="287704"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≥8%​</a:t>
                </a:r>
              </a:p>
            </p:txBody>
          </p:sp>
          <p:sp>
            <p:nvSpPr>
              <p:cNvPr id="295" name="Rectangle 295"/>
              <p:cNvSpPr/>
              <p:nvPr/>
            </p:nvSpPr>
            <p:spPr>
              <a:xfrm>
                <a:off x="10553700" y="3486150"/>
                <a:ext cx="666750" cy="381000"/>
              </a:xfrm>
              <a:prstGeom prst="roundRect">
                <a:avLst>
                  <a:gd name="adj" fmla="val 12500"/>
                </a:avLst>
              </a:prstGeom>
              <a:solidFill>
                <a:srgbClr val="E9F4F0"/>
              </a:solidFill>
              <a:ln>
                <a:noFill/>
              </a:ln>
            </p:spPr>
          </p:sp>
          <p:sp>
            <p:nvSpPr>
              <p:cNvPr id="296" name="TextBox 296"/>
              <p:cNvSpPr txBox="1"/>
              <p:nvPr/>
            </p:nvSpPr>
            <p:spPr>
              <a:xfrm>
                <a:off x="10658170" y="3573780"/>
                <a:ext cx="457810"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家庭拓展率​</a:t>
                </a:r>
              </a:p>
            </p:txBody>
          </p:sp>
          <p:sp>
            <p:nvSpPr>
              <p:cNvPr id="297" name="TextBox 297"/>
              <p:cNvSpPr txBox="1"/>
              <p:nvPr/>
            </p:nvSpPr>
            <p:spPr>
              <a:xfrm>
                <a:off x="10711348" y="3701891"/>
                <a:ext cx="351453"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≥40%​</a:t>
                </a:r>
              </a:p>
            </p:txBody>
          </p:sp>
          <p:sp>
            <p:nvSpPr>
              <p:cNvPr id="298" name="Rectangle 298"/>
              <p:cNvSpPr/>
              <p:nvPr/>
            </p:nvSpPr>
            <p:spPr>
              <a:xfrm>
                <a:off x="11258550" y="3486150"/>
                <a:ext cx="666750" cy="381000"/>
              </a:xfrm>
              <a:prstGeom prst="roundRect">
                <a:avLst>
                  <a:gd name="adj" fmla="val 12500"/>
                </a:avLst>
              </a:prstGeom>
              <a:solidFill>
                <a:srgbClr val="E9F4F0"/>
              </a:solidFill>
              <a:ln>
                <a:noFill/>
              </a:ln>
            </p:spPr>
          </p:sp>
          <p:sp>
            <p:nvSpPr>
              <p:cNvPr id="299" name="TextBox 299"/>
              <p:cNvSpPr txBox="1"/>
              <p:nvPr/>
            </p:nvSpPr>
            <p:spPr>
              <a:xfrm>
                <a:off x="11322634" y="3573780"/>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养老金开户率​</a:t>
                </a:r>
              </a:p>
            </p:txBody>
          </p:sp>
          <p:sp>
            <p:nvSpPr>
              <p:cNvPr id="300" name="TextBox 300"/>
              <p:cNvSpPr txBox="1"/>
              <p:nvPr/>
            </p:nvSpPr>
            <p:spPr>
              <a:xfrm>
                <a:off x="11416198" y="3701891"/>
                <a:ext cx="351453" cy="161925"/>
              </a:xfrm>
              <a:prstGeom prst="rect">
                <a:avLst/>
              </a:prstGeom>
              <a:noFill/>
              <a:ln>
                <a:noFill/>
              </a:ln>
            </p:spPr>
            <p:txBody>
              <a:bodyPr wrap="none" lIns="0" tIns="0" rIns="0" bIns="0" anchor="t" anchorCtr="0">
                <a:spAutoFit/>
              </a:bodyPr>
              <a:lstStyle/>
              <a:p>
                <a:pPr algn="ctr"/>
                <a:r>
                  <a:rPr lang="zh-CN" sz="820" b="1" dirty="0">
                    <a:solidFill>
                      <a:srgbClr val="5B180B"/>
                    </a:solidFill>
                    <a:latin typeface="+mn-lt"/>
                    <a:ea typeface="+mn-ea"/>
                    <a:cs typeface="+mn-cs"/>
                  </a:rPr>
                  <a:t>≥25%​</a:t>
                </a:r>
              </a:p>
            </p:txBody>
          </p:sp>
        </p:grpSp>
        <p:sp>
          <p:nvSpPr>
            <p:cNvPr id="302" name="Rectangle 302"/>
            <p:cNvSpPr/>
            <p:nvPr/>
          </p:nvSpPr>
          <p:spPr>
            <a:xfrm>
              <a:off x="7734300" y="4000500"/>
              <a:ext cx="4191000" cy="285750"/>
            </a:xfrm>
            <a:prstGeom prst="roundRect">
              <a:avLst>
                <a:gd name="adj" fmla="val 50000"/>
              </a:avLst>
            </a:prstGeom>
            <a:solidFill>
              <a:srgbClr val="5B180B"/>
            </a:solidFill>
            <a:ln>
              <a:noFill/>
            </a:ln>
          </p:spPr>
        </p:sp>
        <p:sp>
          <p:nvSpPr>
            <p:cNvPr id="303" name="TextBox 303"/>
            <p:cNvSpPr txBox="1"/>
            <p:nvPr/>
          </p:nvSpPr>
          <p:spPr>
            <a:xfrm>
              <a:off x="8783513" y="4097893"/>
              <a:ext cx="209257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一人代发 · 全家服务 · 全生命周期陪伴​</a:t>
              </a:r>
            </a:p>
          </p:txBody>
        </p:sp>
      </p:grpSp>
      <p:grpSp>
        <p:nvGrpSpPr>
          <p:cNvPr id="381" name="collab-card"/>
          <p:cNvGrpSpPr/>
          <p:nvPr/>
        </p:nvGrpSpPr>
        <p:grpSpPr>
          <a:xfrm>
            <a:off x="228600" y="5162550"/>
            <a:ext cx="11734800" cy="1619250"/>
            <a:chOff x="228600" y="5162550"/>
            <a:chExt cx="11734800" cy="1619250"/>
          </a:xfrm>
        </p:grpSpPr>
        <p:sp>
          <p:nvSpPr>
            <p:cNvPr id="305" name="Rectangle 305"/>
            <p:cNvSpPr/>
            <p:nvPr/>
          </p:nvSpPr>
          <p:spPr>
            <a:xfrm>
              <a:off x="228600" y="5162550"/>
              <a:ext cx="11734800" cy="1619250"/>
            </a:xfrm>
            <a:prstGeom prst="roundRect">
              <a:avLst>
                <a:gd name="adj" fmla="val 5882"/>
              </a:avLst>
            </a:prstGeom>
            <a:solidFill>
              <a:srgbClr val="F5FAF8"/>
            </a:solidFill>
            <a:ln w="9525">
              <a:solidFill>
                <a:srgbClr val="D9E8E2"/>
              </a:solidFill>
            </a:ln>
          </p:spPr>
        </p:sp>
        <p:sp>
          <p:nvSpPr>
            <p:cNvPr id="306" name="Rectangle 306"/>
            <p:cNvSpPr/>
            <p:nvPr/>
          </p:nvSpPr>
          <p:spPr>
            <a:xfrm>
              <a:off x="228600" y="5162550"/>
              <a:ext cx="2190750" cy="228600"/>
            </a:xfrm>
            <a:prstGeom prst="roundRect">
              <a:avLst>
                <a:gd name="adj" fmla="val 16667"/>
              </a:avLst>
            </a:prstGeom>
            <a:solidFill>
              <a:srgbClr val="5B180B"/>
            </a:solidFill>
            <a:ln>
              <a:noFill/>
            </a:ln>
          </p:spPr>
        </p:sp>
        <p:sp>
          <p:nvSpPr>
            <p:cNvPr id="307" name="TextBox 307"/>
            <p:cNvSpPr txBox="1"/>
            <p:nvPr/>
          </p:nvSpPr>
          <p:spPr>
            <a:xfrm>
              <a:off x="338138" y="5231368"/>
              <a:ext cx="1812982"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三方协同作战，推动代发项目落地​</a:t>
              </a:r>
            </a:p>
          </p:txBody>
        </p:sp>
        <p:grpSp>
          <p:nvGrpSpPr>
            <p:cNvPr id="314" name="Group 314"/>
            <p:cNvGrpSpPr/>
            <p:nvPr/>
          </p:nvGrpSpPr>
          <p:grpSpPr>
            <a:xfrm>
              <a:off x="342900" y="5467350"/>
              <a:ext cx="9810750" cy="209550"/>
              <a:chOff x="342900" y="5467350"/>
              <a:chExt cx="9810750" cy="209550"/>
            </a:xfrm>
          </p:grpSpPr>
          <p:sp>
            <p:nvSpPr>
              <p:cNvPr id="308" name="Rectangle 308"/>
              <p:cNvSpPr/>
              <p:nvPr/>
            </p:nvSpPr>
            <p:spPr>
              <a:xfrm>
                <a:off x="342900" y="5467350"/>
                <a:ext cx="9810750" cy="209550"/>
              </a:xfrm>
              <a:prstGeom prst="rect">
                <a:avLst/>
              </a:prstGeom>
              <a:solidFill>
                <a:srgbClr val="722617"/>
              </a:solidFill>
              <a:ln>
                <a:noFill/>
              </a:ln>
            </p:spPr>
          </p:sp>
          <p:sp>
            <p:nvSpPr>
              <p:cNvPr id="309" name="TextBox 309"/>
              <p:cNvSpPr txBox="1"/>
              <p:nvPr/>
            </p:nvSpPr>
            <p:spPr>
              <a:xfrm>
                <a:off x="643584" y="5533311"/>
                <a:ext cx="25588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角色​</a:t>
                </a:r>
              </a:p>
            </p:txBody>
          </p:sp>
          <p:sp>
            <p:nvSpPr>
              <p:cNvPr id="310" name="TextBox 310"/>
              <p:cNvSpPr txBox="1"/>
              <p:nvPr/>
            </p:nvSpPr>
            <p:spPr>
              <a:xfrm>
                <a:off x="1691003" y="55333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核心职责​</a:t>
                </a:r>
              </a:p>
            </p:txBody>
          </p:sp>
          <p:sp>
            <p:nvSpPr>
              <p:cNvPr id="311" name="TextBox 311"/>
              <p:cNvSpPr txBox="1"/>
              <p:nvPr/>
            </p:nvSpPr>
            <p:spPr>
              <a:xfrm>
                <a:off x="3691253" y="55333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关键动作​</a:t>
                </a:r>
              </a:p>
            </p:txBody>
          </p:sp>
          <p:sp>
            <p:nvSpPr>
              <p:cNvPr id="312" name="TextBox 312"/>
              <p:cNvSpPr txBox="1"/>
              <p:nvPr/>
            </p:nvSpPr>
            <p:spPr>
              <a:xfrm>
                <a:off x="5813077" y="5533311"/>
                <a:ext cx="58489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Q4考核目标​</a:t>
                </a:r>
              </a:p>
            </p:txBody>
          </p:sp>
          <p:sp>
            <p:nvSpPr>
              <p:cNvPr id="313" name="TextBox 313"/>
              <p:cNvSpPr txBox="1"/>
              <p:nvPr/>
            </p:nvSpPr>
            <p:spPr>
              <a:xfrm>
                <a:off x="8358503" y="55333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协同要点​</a:t>
                </a:r>
              </a:p>
            </p:txBody>
          </p:sp>
        </p:grpSp>
        <p:grpSp>
          <p:nvGrpSpPr>
            <p:cNvPr id="370" name="collab-rows"/>
            <p:cNvGrpSpPr/>
            <p:nvPr/>
          </p:nvGrpSpPr>
          <p:grpSpPr>
            <a:xfrm>
              <a:off x="342900" y="5676900"/>
              <a:ext cx="9810750" cy="1054417"/>
              <a:chOff x="342900" y="5676900"/>
              <a:chExt cx="9810750" cy="1054417"/>
            </a:xfrm>
          </p:grpSpPr>
          <p:sp>
            <p:nvSpPr>
              <p:cNvPr id="315" name="Rectangle 315"/>
              <p:cNvSpPr/>
              <p:nvPr/>
            </p:nvSpPr>
            <p:spPr>
              <a:xfrm>
                <a:off x="342900" y="5676900"/>
                <a:ext cx="9810750" cy="342900"/>
              </a:xfrm>
              <a:prstGeom prst="rect">
                <a:avLst/>
              </a:prstGeom>
              <a:solidFill>
                <a:srgbClr val="FFFFFF"/>
              </a:solidFill>
              <a:ln w="7620">
                <a:solidFill>
                  <a:srgbClr val="D9E8E2"/>
                </a:solidFill>
              </a:ln>
            </p:spPr>
          </p:sp>
          <p:grpSp>
            <p:nvGrpSpPr>
              <p:cNvPr id="320" name="Group 320"/>
              <p:cNvGrpSpPr/>
              <p:nvPr/>
            </p:nvGrpSpPr>
            <p:grpSpPr>
              <a:xfrm>
                <a:off x="440531" y="5784056"/>
                <a:ext cx="128588" cy="121444"/>
                <a:chOff x="440531" y="5784056"/>
                <a:chExt cx="128588" cy="121444"/>
              </a:xfrm>
            </p:grpSpPr>
            <p:sp>
              <p:nvSpPr>
                <p:cNvPr id="316" name="Freeform 316"/>
                <p:cNvSpPr/>
                <p:nvPr/>
              </p:nvSpPr>
              <p:spPr>
                <a:xfrm>
                  <a:off x="440531" y="5812631"/>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5B180B"/>
                  </a:solidFill>
                </a:ln>
              </p:spPr>
            </p:sp>
            <p:sp>
              <p:nvSpPr>
                <p:cNvPr id="317" name="Freeform 317"/>
                <p:cNvSpPr/>
                <p:nvPr/>
              </p:nvSpPr>
              <p:spPr>
                <a:xfrm>
                  <a:off x="476250" y="5784056"/>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5B180B"/>
                  </a:solidFill>
                </a:ln>
              </p:spPr>
            </p:sp>
            <p:sp>
              <p:nvSpPr>
                <p:cNvPr id="318" name="Freeform 318"/>
                <p:cNvSpPr/>
                <p:nvPr/>
              </p:nvSpPr>
              <p:spPr>
                <a:xfrm>
                  <a:off x="504825" y="5848350"/>
                  <a:ext cx="9525" cy="9525"/>
                </a:xfrm>
                <a:custGeom>
                  <a:avLst/>
                  <a:gdLst/>
                  <a:ahLst/>
                  <a:cxnLst/>
                  <a:rect l="l" t="t" r="r" b="b"/>
                  <a:pathLst>
                    <a:path w="9525" h="9525">
                      <a:moveTo>
                        <a:pt x="0" y="0"/>
                      </a:moveTo>
                      <a:lnTo>
                        <a:pt x="0" y="71"/>
                      </a:lnTo>
                    </a:path>
                  </a:pathLst>
                </a:custGeom>
                <a:noFill/>
                <a:ln w="14288">
                  <a:solidFill>
                    <a:srgbClr val="5B180B"/>
                  </a:solidFill>
                </a:ln>
              </p:spPr>
            </p:sp>
            <p:sp>
              <p:nvSpPr>
                <p:cNvPr id="319" name="Freeform 319"/>
                <p:cNvSpPr/>
                <p:nvPr/>
              </p:nvSpPr>
              <p:spPr>
                <a:xfrm>
                  <a:off x="440531" y="5855494"/>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5B180B"/>
                  </a:solidFill>
                </a:ln>
              </p:spPr>
            </p:sp>
          </p:grpSp>
          <p:sp>
            <p:nvSpPr>
              <p:cNvPr id="321" name="TextBox 321"/>
              <p:cNvSpPr txBox="1"/>
              <p:nvPr/>
            </p:nvSpPr>
            <p:spPr>
              <a:xfrm>
                <a:off x="623888" y="5809536"/>
                <a:ext cx="447043" cy="140494"/>
              </a:xfrm>
              <a:prstGeom prst="rect">
                <a:avLst/>
              </a:prstGeom>
              <a:noFill/>
              <a:ln>
                <a:noFill/>
              </a:ln>
            </p:spPr>
            <p:txBody>
              <a:bodyPr wrap="none" lIns="0" tIns="0" rIns="0" bIns="0" anchor="t" anchorCtr="0">
                <a:spAutoFit/>
              </a:bodyPr>
              <a:lstStyle/>
              <a:p>
                <a:pPr algn="l"/>
                <a:r>
                  <a:rPr lang="zh-CN" sz="710" b="1" dirty="0">
                    <a:solidFill>
                      <a:srgbClr val="312624"/>
                    </a:solidFill>
                    <a:latin typeface="+mn-lt"/>
                    <a:ea typeface="+mn-ea"/>
                    <a:cs typeface="+mn-cs"/>
                  </a:rPr>
                  <a:t>对公经理​</a:t>
                </a:r>
              </a:p>
            </p:txBody>
          </p:sp>
          <p:sp>
            <p:nvSpPr>
              <p:cNvPr id="322" name="TextBox 322"/>
              <p:cNvSpPr txBox="1"/>
              <p:nvPr/>
            </p:nvSpPr>
            <p:spPr>
              <a:xfrm>
                <a:off x="1252538" y="5755005"/>
                <a:ext cx="619354"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企业拓展与签约​</a:t>
                </a:r>
              </a:p>
            </p:txBody>
          </p:sp>
          <p:sp>
            <p:nvSpPr>
              <p:cNvPr id="323" name="TextBox 323"/>
              <p:cNvSpPr txBox="1"/>
              <p:nvPr/>
            </p:nvSpPr>
            <p:spPr>
              <a:xfrm>
                <a:off x="1252538" y="5878830"/>
                <a:ext cx="700126"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建立长期综合合作​</a:t>
                </a:r>
              </a:p>
            </p:txBody>
          </p:sp>
          <p:sp>
            <p:nvSpPr>
              <p:cNvPr id="324" name="TextBox 324"/>
              <p:cNvSpPr txBox="1"/>
              <p:nvPr/>
            </p:nvSpPr>
            <p:spPr>
              <a:xfrm>
                <a:off x="2681288" y="5716905"/>
                <a:ext cx="857098"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目标企业筛选与拜访​</a:t>
                </a:r>
              </a:p>
            </p:txBody>
          </p:sp>
          <p:sp>
            <p:nvSpPr>
              <p:cNvPr id="325" name="TextBox 325"/>
              <p:cNvSpPr txBox="1"/>
              <p:nvPr/>
            </p:nvSpPr>
            <p:spPr>
              <a:xfrm>
                <a:off x="2681288" y="5821680"/>
                <a:ext cx="857098"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定制代发方案与谈判​</a:t>
                </a:r>
              </a:p>
            </p:txBody>
          </p:sp>
          <p:sp>
            <p:nvSpPr>
              <p:cNvPr id="326" name="TextBox 326"/>
              <p:cNvSpPr txBox="1"/>
              <p:nvPr/>
            </p:nvSpPr>
            <p:spPr>
              <a:xfrm>
                <a:off x="2681288" y="5926455"/>
                <a:ext cx="857098"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全生命周期服务管理​</a:t>
                </a:r>
              </a:p>
            </p:txBody>
          </p:sp>
          <p:sp>
            <p:nvSpPr>
              <p:cNvPr id="327" name="TextBox 327"/>
              <p:cNvSpPr txBox="1"/>
              <p:nvPr/>
            </p:nvSpPr>
            <p:spPr>
              <a:xfrm>
                <a:off x="5253038" y="5755005"/>
                <a:ext cx="786956"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新增代发企业 ≥12户​</a:t>
                </a:r>
              </a:p>
            </p:txBody>
          </p:sp>
          <p:sp>
            <p:nvSpPr>
              <p:cNvPr id="328" name="TextBox 328"/>
              <p:cNvSpPr txBox="1"/>
              <p:nvPr/>
            </p:nvSpPr>
            <p:spPr>
              <a:xfrm>
                <a:off x="5253038" y="5878830"/>
                <a:ext cx="926893"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代发覆盖员工 ≥3,000人​</a:t>
                </a:r>
              </a:p>
            </p:txBody>
          </p:sp>
          <p:sp>
            <p:nvSpPr>
              <p:cNvPr id="329" name="TextBox 329"/>
              <p:cNvSpPr txBox="1"/>
              <p:nvPr/>
            </p:nvSpPr>
            <p:spPr>
              <a:xfrm>
                <a:off x="7062788" y="5716905"/>
                <a:ext cx="1180186"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及时传递企业需求与员工信息​</a:t>
                </a:r>
              </a:p>
            </p:txBody>
          </p:sp>
          <p:sp>
            <p:nvSpPr>
              <p:cNvPr id="330" name="TextBox 330"/>
              <p:cNvSpPr txBox="1"/>
              <p:nvPr/>
            </p:nvSpPr>
            <p:spPr>
              <a:xfrm>
                <a:off x="7062788" y="5821680"/>
                <a:ext cx="937870"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联合开展企业客户活动​</a:t>
                </a:r>
              </a:p>
            </p:txBody>
          </p:sp>
          <p:sp>
            <p:nvSpPr>
              <p:cNvPr id="331" name="TextBox 331"/>
              <p:cNvSpPr txBox="1"/>
              <p:nvPr/>
            </p:nvSpPr>
            <p:spPr>
              <a:xfrm>
                <a:off x="7062788" y="5926455"/>
                <a:ext cx="1341730"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联动企业决策层，推动续约与增量​</a:t>
                </a:r>
              </a:p>
            </p:txBody>
          </p:sp>
          <p:sp>
            <p:nvSpPr>
              <p:cNvPr id="332" name="Rectangle 332"/>
              <p:cNvSpPr/>
              <p:nvPr/>
            </p:nvSpPr>
            <p:spPr>
              <a:xfrm>
                <a:off x="342900" y="6019800"/>
                <a:ext cx="9810750" cy="342900"/>
              </a:xfrm>
              <a:prstGeom prst="rect">
                <a:avLst/>
              </a:prstGeom>
              <a:solidFill>
                <a:srgbClr val="F7FBF9"/>
              </a:solidFill>
              <a:ln w="7620">
                <a:solidFill>
                  <a:srgbClr val="D9E8E2"/>
                </a:solidFill>
              </a:ln>
            </p:spPr>
          </p:sp>
          <p:grpSp>
            <p:nvGrpSpPr>
              <p:cNvPr id="337" name="Group 337"/>
              <p:cNvGrpSpPr/>
              <p:nvPr/>
            </p:nvGrpSpPr>
            <p:grpSpPr>
              <a:xfrm>
                <a:off x="440531" y="6126956"/>
                <a:ext cx="128588" cy="128588"/>
                <a:chOff x="440531" y="6126956"/>
                <a:chExt cx="128588" cy="128588"/>
              </a:xfrm>
            </p:grpSpPr>
            <p:sp>
              <p:nvSpPr>
                <p:cNvPr id="333" name="Freeform 333"/>
                <p:cNvSpPr/>
                <p:nvPr/>
              </p:nvSpPr>
              <p:spPr>
                <a:xfrm>
                  <a:off x="454819" y="61269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5B180B"/>
                  </a:solidFill>
                </a:ln>
              </p:spPr>
            </p:sp>
            <p:sp>
              <p:nvSpPr>
                <p:cNvPr id="334" name="Freeform 334"/>
                <p:cNvSpPr/>
                <p:nvPr/>
              </p:nvSpPr>
              <p:spPr>
                <a:xfrm>
                  <a:off x="440531" y="621268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5B180B"/>
                  </a:solidFill>
                </a:ln>
              </p:spPr>
            </p:sp>
            <p:sp>
              <p:nvSpPr>
                <p:cNvPr id="335" name="Freeform 335"/>
                <p:cNvSpPr/>
                <p:nvPr/>
              </p:nvSpPr>
              <p:spPr>
                <a:xfrm>
                  <a:off x="533400" y="612788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5B180B"/>
                  </a:solidFill>
                </a:ln>
              </p:spPr>
            </p:sp>
            <p:sp>
              <p:nvSpPr>
                <p:cNvPr id="336" name="Freeform 336"/>
                <p:cNvSpPr/>
                <p:nvPr/>
              </p:nvSpPr>
              <p:spPr>
                <a:xfrm>
                  <a:off x="547688" y="621375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5B180B"/>
                  </a:solidFill>
                </a:ln>
              </p:spPr>
            </p:sp>
          </p:grpSp>
          <p:sp>
            <p:nvSpPr>
              <p:cNvPr id="338" name="TextBox 338"/>
              <p:cNvSpPr txBox="1"/>
              <p:nvPr/>
            </p:nvSpPr>
            <p:spPr>
              <a:xfrm>
                <a:off x="623888" y="6152436"/>
                <a:ext cx="447043" cy="140494"/>
              </a:xfrm>
              <a:prstGeom prst="rect">
                <a:avLst/>
              </a:prstGeom>
              <a:noFill/>
              <a:ln>
                <a:noFill/>
              </a:ln>
            </p:spPr>
            <p:txBody>
              <a:bodyPr wrap="none" lIns="0" tIns="0" rIns="0" bIns="0" anchor="t" anchorCtr="0">
                <a:spAutoFit/>
              </a:bodyPr>
              <a:lstStyle/>
              <a:p>
                <a:pPr algn="l"/>
                <a:r>
                  <a:rPr lang="zh-CN" sz="710" b="1" dirty="0">
                    <a:solidFill>
                      <a:srgbClr val="312624"/>
                    </a:solidFill>
                    <a:latin typeface="+mn-lt"/>
                    <a:ea typeface="+mn-ea"/>
                    <a:cs typeface="+mn-cs"/>
                  </a:rPr>
                  <a:t>零售经理​</a:t>
                </a:r>
              </a:p>
            </p:txBody>
          </p:sp>
          <p:sp>
            <p:nvSpPr>
              <p:cNvPr id="339" name="TextBox 339"/>
              <p:cNvSpPr txBox="1"/>
              <p:nvPr/>
            </p:nvSpPr>
            <p:spPr>
              <a:xfrm>
                <a:off x="1252538" y="6097905"/>
                <a:ext cx="780898"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员工激活与综合经营​</a:t>
                </a:r>
              </a:p>
            </p:txBody>
          </p:sp>
          <p:sp>
            <p:nvSpPr>
              <p:cNvPr id="340" name="TextBox 340"/>
              <p:cNvSpPr txBox="1"/>
              <p:nvPr/>
            </p:nvSpPr>
            <p:spPr>
              <a:xfrm>
                <a:off x="1252538" y="6221730"/>
                <a:ext cx="777240"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提升AUM与产品渗透​</a:t>
                </a:r>
              </a:p>
            </p:txBody>
          </p:sp>
          <p:sp>
            <p:nvSpPr>
              <p:cNvPr id="341" name="TextBox 341"/>
              <p:cNvSpPr txBox="1"/>
              <p:nvPr/>
            </p:nvSpPr>
            <p:spPr>
              <a:xfrm>
                <a:off x="2681288" y="6059805"/>
                <a:ext cx="836371"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批量开户与APP激活​</a:t>
                </a:r>
              </a:p>
            </p:txBody>
          </p:sp>
          <p:sp>
            <p:nvSpPr>
              <p:cNvPr id="342" name="TextBox 342"/>
              <p:cNvSpPr txBox="1"/>
              <p:nvPr/>
            </p:nvSpPr>
            <p:spPr>
              <a:xfrm>
                <a:off x="2681288" y="6164580"/>
                <a:ext cx="857098"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工资沉淀与产品配置​</a:t>
                </a:r>
              </a:p>
            </p:txBody>
          </p:sp>
          <p:sp>
            <p:nvSpPr>
              <p:cNvPr id="343" name="TextBox 343"/>
              <p:cNvSpPr txBox="1"/>
              <p:nvPr/>
            </p:nvSpPr>
            <p:spPr>
              <a:xfrm>
                <a:off x="2681288" y="6269355"/>
                <a:ext cx="857098"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全生命周期场景营销​</a:t>
                </a:r>
              </a:p>
            </p:txBody>
          </p:sp>
          <p:sp>
            <p:nvSpPr>
              <p:cNvPr id="344" name="TextBox 344"/>
              <p:cNvSpPr txBox="1"/>
              <p:nvPr/>
            </p:nvSpPr>
            <p:spPr>
              <a:xfrm>
                <a:off x="5253038" y="6097905"/>
                <a:ext cx="833601"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新增代发客户 ≥680户​</a:t>
                </a:r>
              </a:p>
            </p:txBody>
          </p:sp>
          <p:sp>
            <p:nvSpPr>
              <p:cNvPr id="345" name="TextBox 345"/>
              <p:cNvSpPr txBox="1"/>
              <p:nvPr/>
            </p:nvSpPr>
            <p:spPr>
              <a:xfrm>
                <a:off x="5253038" y="6221730"/>
                <a:ext cx="769586"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AUM转化 ≥2,800万​</a:t>
                </a:r>
              </a:p>
            </p:txBody>
          </p:sp>
          <p:sp>
            <p:nvSpPr>
              <p:cNvPr id="346" name="TextBox 346"/>
              <p:cNvSpPr txBox="1"/>
              <p:nvPr/>
            </p:nvSpPr>
            <p:spPr>
              <a:xfrm>
                <a:off x="7062788" y="6059805"/>
                <a:ext cx="1018642"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承接对公导入的企业员工​</a:t>
                </a:r>
              </a:p>
            </p:txBody>
          </p:sp>
          <p:sp>
            <p:nvSpPr>
              <p:cNvPr id="347" name="TextBox 347"/>
              <p:cNvSpPr txBox="1"/>
              <p:nvPr/>
            </p:nvSpPr>
            <p:spPr>
              <a:xfrm>
                <a:off x="7062788" y="6164580"/>
                <a:ext cx="1099414"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针对代发人群设计专属活动​</a:t>
                </a:r>
              </a:p>
            </p:txBody>
          </p:sp>
          <p:sp>
            <p:nvSpPr>
              <p:cNvPr id="348" name="TextBox 348"/>
              <p:cNvSpPr txBox="1"/>
              <p:nvPr/>
            </p:nvSpPr>
            <p:spPr>
              <a:xfrm>
                <a:off x="7062788" y="6269355"/>
                <a:ext cx="857098"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定期复盘与网点协同​</a:t>
                </a:r>
              </a:p>
            </p:txBody>
          </p:sp>
          <p:sp>
            <p:nvSpPr>
              <p:cNvPr id="349" name="Rectangle 349"/>
              <p:cNvSpPr/>
              <p:nvPr/>
            </p:nvSpPr>
            <p:spPr>
              <a:xfrm>
                <a:off x="342900" y="6362700"/>
                <a:ext cx="9810750" cy="342900"/>
              </a:xfrm>
              <a:prstGeom prst="rect">
                <a:avLst/>
              </a:prstGeom>
              <a:solidFill>
                <a:srgbClr val="FFFFFF"/>
              </a:solidFill>
              <a:ln w="7620">
                <a:solidFill>
                  <a:srgbClr val="D9E8E2"/>
                </a:solidFill>
              </a:ln>
            </p:spPr>
          </p:sp>
          <p:grpSp>
            <p:nvGrpSpPr>
              <p:cNvPr id="358" name="Group 358"/>
              <p:cNvGrpSpPr/>
              <p:nvPr/>
            </p:nvGrpSpPr>
            <p:grpSpPr>
              <a:xfrm>
                <a:off x="440531" y="6469856"/>
                <a:ext cx="130969" cy="138113"/>
                <a:chOff x="440531" y="6469856"/>
                <a:chExt cx="130969" cy="138113"/>
              </a:xfrm>
            </p:grpSpPr>
            <p:sp>
              <p:nvSpPr>
                <p:cNvPr id="350" name="Freeform 350"/>
                <p:cNvSpPr/>
                <p:nvPr/>
              </p:nvSpPr>
              <p:spPr>
                <a:xfrm>
                  <a:off x="440531" y="6598444"/>
                  <a:ext cx="128588" cy="9525"/>
                </a:xfrm>
                <a:custGeom>
                  <a:avLst/>
                  <a:gdLst/>
                  <a:ahLst/>
                  <a:cxnLst/>
                  <a:rect l="l" t="t" r="r" b="b"/>
                  <a:pathLst>
                    <a:path w="128588" h="9525">
                      <a:moveTo>
                        <a:pt x="0" y="0"/>
                      </a:moveTo>
                      <a:lnTo>
                        <a:pt x="128588" y="0"/>
                      </a:lnTo>
                    </a:path>
                  </a:pathLst>
                </a:custGeom>
                <a:noFill/>
                <a:ln w="14288">
                  <a:solidFill>
                    <a:srgbClr val="5B180B"/>
                  </a:solidFill>
                </a:ln>
              </p:spPr>
            </p:sp>
            <p:sp>
              <p:nvSpPr>
                <p:cNvPr id="351" name="Freeform 351"/>
                <p:cNvSpPr/>
                <p:nvPr/>
              </p:nvSpPr>
              <p:spPr>
                <a:xfrm>
                  <a:off x="440531" y="6519862"/>
                  <a:ext cx="128588" cy="9525"/>
                </a:xfrm>
                <a:custGeom>
                  <a:avLst/>
                  <a:gdLst/>
                  <a:ahLst/>
                  <a:cxnLst/>
                  <a:rect l="l" t="t" r="r" b="b"/>
                  <a:pathLst>
                    <a:path w="128588" h="9525">
                      <a:moveTo>
                        <a:pt x="0" y="0"/>
                      </a:moveTo>
                      <a:lnTo>
                        <a:pt x="128588" y="0"/>
                      </a:lnTo>
                    </a:path>
                  </a:pathLst>
                </a:custGeom>
                <a:noFill/>
                <a:ln w="14288">
                  <a:solidFill>
                    <a:srgbClr val="5B180B"/>
                  </a:solidFill>
                </a:ln>
              </p:spPr>
            </p:sp>
            <p:sp>
              <p:nvSpPr>
                <p:cNvPr id="352" name="Freeform 352"/>
                <p:cNvSpPr/>
                <p:nvPr/>
              </p:nvSpPr>
              <p:spPr>
                <a:xfrm>
                  <a:off x="454819" y="6469856"/>
                  <a:ext cx="100012" cy="21431"/>
                </a:xfrm>
                <a:custGeom>
                  <a:avLst/>
                  <a:gdLst/>
                  <a:ahLst/>
                  <a:cxnLst/>
                  <a:rect l="l" t="t" r="r" b="b"/>
                  <a:pathLst>
                    <a:path w="100012" h="21431">
                      <a:moveTo>
                        <a:pt x="0" y="21431"/>
                      </a:moveTo>
                      <a:lnTo>
                        <a:pt x="50006" y="0"/>
                      </a:lnTo>
                      <a:lnTo>
                        <a:pt x="100012" y="21431"/>
                      </a:lnTo>
                    </a:path>
                  </a:pathLst>
                </a:custGeom>
                <a:noFill/>
                <a:ln w="14288">
                  <a:solidFill>
                    <a:srgbClr val="5B180B"/>
                  </a:solidFill>
                </a:ln>
              </p:spPr>
            </p:sp>
            <p:sp>
              <p:nvSpPr>
                <p:cNvPr id="353" name="Freeform 353"/>
                <p:cNvSpPr/>
                <p:nvPr/>
              </p:nvSpPr>
              <p:spPr>
                <a:xfrm>
                  <a:off x="447675" y="6519862"/>
                  <a:ext cx="9525" cy="78581"/>
                </a:xfrm>
                <a:custGeom>
                  <a:avLst/>
                  <a:gdLst/>
                  <a:ahLst/>
                  <a:cxnLst/>
                  <a:rect l="l" t="t" r="r" b="b"/>
                  <a:pathLst>
                    <a:path w="9525" h="78581">
                      <a:moveTo>
                        <a:pt x="0" y="0"/>
                      </a:moveTo>
                      <a:lnTo>
                        <a:pt x="0" y="78581"/>
                      </a:lnTo>
                    </a:path>
                  </a:pathLst>
                </a:custGeom>
                <a:noFill/>
                <a:ln w="14288">
                  <a:solidFill>
                    <a:srgbClr val="5B180B"/>
                  </a:solidFill>
                </a:ln>
              </p:spPr>
            </p:sp>
            <p:sp>
              <p:nvSpPr>
                <p:cNvPr id="354" name="Freeform 354"/>
                <p:cNvSpPr/>
                <p:nvPr/>
              </p:nvSpPr>
              <p:spPr>
                <a:xfrm>
                  <a:off x="561975" y="6519862"/>
                  <a:ext cx="9525" cy="78581"/>
                </a:xfrm>
                <a:custGeom>
                  <a:avLst/>
                  <a:gdLst/>
                  <a:ahLst/>
                  <a:cxnLst/>
                  <a:rect l="l" t="t" r="r" b="b"/>
                  <a:pathLst>
                    <a:path w="9525" h="78581">
                      <a:moveTo>
                        <a:pt x="0" y="0"/>
                      </a:moveTo>
                      <a:lnTo>
                        <a:pt x="0" y="78581"/>
                      </a:lnTo>
                    </a:path>
                  </a:pathLst>
                </a:custGeom>
                <a:noFill/>
                <a:ln w="14288">
                  <a:solidFill>
                    <a:srgbClr val="5B180B"/>
                  </a:solidFill>
                </a:ln>
              </p:spPr>
            </p:sp>
            <p:sp>
              <p:nvSpPr>
                <p:cNvPr id="355" name="Freeform 355"/>
                <p:cNvSpPr/>
                <p:nvPr/>
              </p:nvSpPr>
              <p:spPr>
                <a:xfrm>
                  <a:off x="476250" y="6548438"/>
                  <a:ext cx="9525" cy="21431"/>
                </a:xfrm>
                <a:custGeom>
                  <a:avLst/>
                  <a:gdLst/>
                  <a:ahLst/>
                  <a:cxnLst/>
                  <a:rect l="l" t="t" r="r" b="b"/>
                  <a:pathLst>
                    <a:path w="9525" h="21431">
                      <a:moveTo>
                        <a:pt x="0" y="0"/>
                      </a:moveTo>
                      <a:lnTo>
                        <a:pt x="0" y="21431"/>
                      </a:lnTo>
                    </a:path>
                  </a:pathLst>
                </a:custGeom>
                <a:noFill/>
                <a:ln w="14288">
                  <a:solidFill>
                    <a:srgbClr val="5B180B"/>
                  </a:solidFill>
                </a:ln>
              </p:spPr>
            </p:sp>
            <p:sp>
              <p:nvSpPr>
                <p:cNvPr id="356" name="Freeform 356"/>
                <p:cNvSpPr/>
                <p:nvPr/>
              </p:nvSpPr>
              <p:spPr>
                <a:xfrm>
                  <a:off x="504825" y="6548438"/>
                  <a:ext cx="9525" cy="21431"/>
                </a:xfrm>
                <a:custGeom>
                  <a:avLst/>
                  <a:gdLst/>
                  <a:ahLst/>
                  <a:cxnLst/>
                  <a:rect l="l" t="t" r="r" b="b"/>
                  <a:pathLst>
                    <a:path w="9525" h="21431">
                      <a:moveTo>
                        <a:pt x="0" y="0"/>
                      </a:moveTo>
                      <a:lnTo>
                        <a:pt x="0" y="21431"/>
                      </a:lnTo>
                    </a:path>
                  </a:pathLst>
                </a:custGeom>
                <a:noFill/>
                <a:ln w="14288">
                  <a:solidFill>
                    <a:srgbClr val="5B180B"/>
                  </a:solidFill>
                </a:ln>
              </p:spPr>
            </p:sp>
            <p:sp>
              <p:nvSpPr>
                <p:cNvPr id="357" name="Freeform 357"/>
                <p:cNvSpPr/>
                <p:nvPr/>
              </p:nvSpPr>
              <p:spPr>
                <a:xfrm>
                  <a:off x="533400" y="6548438"/>
                  <a:ext cx="9525" cy="21431"/>
                </a:xfrm>
                <a:custGeom>
                  <a:avLst/>
                  <a:gdLst/>
                  <a:ahLst/>
                  <a:cxnLst/>
                  <a:rect l="l" t="t" r="r" b="b"/>
                  <a:pathLst>
                    <a:path w="9525" h="21431">
                      <a:moveTo>
                        <a:pt x="0" y="0"/>
                      </a:moveTo>
                      <a:lnTo>
                        <a:pt x="0" y="21431"/>
                      </a:lnTo>
                    </a:path>
                  </a:pathLst>
                </a:custGeom>
                <a:noFill/>
                <a:ln w="14288">
                  <a:solidFill>
                    <a:srgbClr val="5B180B"/>
                  </a:solidFill>
                </a:ln>
              </p:spPr>
            </p:sp>
          </p:grpSp>
          <p:sp>
            <p:nvSpPr>
              <p:cNvPr id="359" name="TextBox 359"/>
              <p:cNvSpPr txBox="1"/>
              <p:nvPr/>
            </p:nvSpPr>
            <p:spPr>
              <a:xfrm>
                <a:off x="623888" y="6495336"/>
                <a:ext cx="542624" cy="140494"/>
              </a:xfrm>
              <a:prstGeom prst="rect">
                <a:avLst/>
              </a:prstGeom>
              <a:noFill/>
              <a:ln>
                <a:noFill/>
              </a:ln>
            </p:spPr>
            <p:txBody>
              <a:bodyPr wrap="none" lIns="0" tIns="0" rIns="0" bIns="0" anchor="t" anchorCtr="0">
                <a:spAutoFit/>
              </a:bodyPr>
              <a:lstStyle/>
              <a:p>
                <a:pPr algn="l"/>
                <a:r>
                  <a:rPr lang="zh-CN" sz="710" b="1" dirty="0">
                    <a:solidFill>
                      <a:srgbClr val="312624"/>
                    </a:solidFill>
                    <a:latin typeface="+mn-lt"/>
                    <a:ea typeface="+mn-ea"/>
                    <a:cs typeface="+mn-cs"/>
                  </a:rPr>
                  <a:t>网点负责人​</a:t>
                </a:r>
              </a:p>
            </p:txBody>
          </p:sp>
          <p:sp>
            <p:nvSpPr>
              <p:cNvPr id="360" name="TextBox 360"/>
              <p:cNvSpPr txBox="1"/>
              <p:nvPr/>
            </p:nvSpPr>
            <p:spPr>
              <a:xfrm>
                <a:off x="1252538" y="6440805"/>
                <a:ext cx="780898"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资源统筹与过程管理​</a:t>
                </a:r>
              </a:p>
            </p:txBody>
          </p:sp>
          <p:sp>
            <p:nvSpPr>
              <p:cNvPr id="361" name="TextBox 361"/>
              <p:cNvSpPr txBox="1"/>
              <p:nvPr/>
            </p:nvSpPr>
            <p:spPr>
              <a:xfrm>
                <a:off x="1252538" y="6564630"/>
                <a:ext cx="538582"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保障目标达成​</a:t>
                </a:r>
              </a:p>
            </p:txBody>
          </p:sp>
          <p:sp>
            <p:nvSpPr>
              <p:cNvPr id="362" name="TextBox 362"/>
              <p:cNvSpPr txBox="1"/>
              <p:nvPr/>
            </p:nvSpPr>
            <p:spPr>
              <a:xfrm>
                <a:off x="2681288" y="6402705"/>
                <a:ext cx="937870"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制定网点代发作战计划​</a:t>
                </a:r>
              </a:p>
            </p:txBody>
          </p:sp>
          <p:sp>
            <p:nvSpPr>
              <p:cNvPr id="363" name="TextBox 363"/>
              <p:cNvSpPr txBox="1"/>
              <p:nvPr/>
            </p:nvSpPr>
            <p:spPr>
              <a:xfrm>
                <a:off x="2681288" y="6507480"/>
                <a:ext cx="857098"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协调资源与团队分工​</a:t>
                </a:r>
              </a:p>
            </p:txBody>
          </p:sp>
          <p:sp>
            <p:nvSpPr>
              <p:cNvPr id="364" name="TextBox 364"/>
              <p:cNvSpPr txBox="1"/>
              <p:nvPr/>
            </p:nvSpPr>
            <p:spPr>
              <a:xfrm>
                <a:off x="2681288" y="6612255"/>
                <a:ext cx="857098"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过程跟踪与督导提升​</a:t>
                </a:r>
              </a:p>
            </p:txBody>
          </p:sp>
          <p:sp>
            <p:nvSpPr>
              <p:cNvPr id="365" name="TextBox 365"/>
              <p:cNvSpPr txBox="1"/>
              <p:nvPr/>
            </p:nvSpPr>
            <p:spPr>
              <a:xfrm>
                <a:off x="5253038" y="6440805"/>
                <a:ext cx="850563"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代发客户留存率 ≥85%​</a:t>
                </a:r>
              </a:p>
            </p:txBody>
          </p:sp>
          <p:sp>
            <p:nvSpPr>
              <p:cNvPr id="366" name="TextBox 366"/>
              <p:cNvSpPr txBox="1"/>
              <p:nvPr/>
            </p:nvSpPr>
            <p:spPr>
              <a:xfrm>
                <a:off x="5253038" y="6564630"/>
                <a:ext cx="931335" cy="119062"/>
              </a:xfrm>
              <a:prstGeom prst="rect">
                <a:avLst/>
              </a:prstGeom>
              <a:noFill/>
              <a:ln>
                <a:noFill/>
              </a:ln>
            </p:spPr>
            <p:txBody>
              <a:bodyPr wrap="none" lIns="0" tIns="0" rIns="0" bIns="0" anchor="t" anchorCtr="0">
                <a:spAutoFit/>
              </a:bodyPr>
              <a:lstStyle/>
              <a:p>
                <a:pPr algn="l"/>
                <a:r>
                  <a:rPr lang="zh-CN" sz="600" b="1" dirty="0">
                    <a:solidFill>
                      <a:srgbClr val="5B180B"/>
                    </a:solidFill>
                    <a:latin typeface="+mn-lt"/>
                    <a:ea typeface="+mn-ea"/>
                    <a:cs typeface="+mn-cs"/>
                  </a:rPr>
                  <a:t>综合贡献收入同比 +30%​</a:t>
                </a:r>
              </a:p>
            </p:txBody>
          </p:sp>
          <p:sp>
            <p:nvSpPr>
              <p:cNvPr id="367" name="TextBox 367"/>
              <p:cNvSpPr txBox="1"/>
              <p:nvPr/>
            </p:nvSpPr>
            <p:spPr>
              <a:xfrm>
                <a:off x="7062788" y="6402705"/>
                <a:ext cx="1018642"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搭建对公与零售协同机制​</a:t>
                </a:r>
              </a:p>
            </p:txBody>
          </p:sp>
          <p:sp>
            <p:nvSpPr>
              <p:cNvPr id="368" name="TextBox 368"/>
              <p:cNvSpPr txBox="1"/>
              <p:nvPr/>
            </p:nvSpPr>
            <p:spPr>
              <a:xfrm>
                <a:off x="7062788" y="6507480"/>
                <a:ext cx="695554"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落实资源与激励​</a:t>
                </a:r>
              </a:p>
            </p:txBody>
          </p:sp>
          <p:sp>
            <p:nvSpPr>
              <p:cNvPr id="369" name="TextBox 369"/>
              <p:cNvSpPr txBox="1"/>
              <p:nvPr/>
            </p:nvSpPr>
            <p:spPr>
              <a:xfrm>
                <a:off x="7062788" y="6612255"/>
                <a:ext cx="1018642" cy="119062"/>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00" dirty="0">
                    <a:solidFill>
                      <a:srgbClr val="4A3D3A"/>
                    </a:solidFill>
                    <a:latin typeface="+mn-lt"/>
                    <a:ea typeface="+mn-ea"/>
                    <a:cs typeface="+mn-cs"/>
                  </a:rPr>
                  <a:t>定期复盘，固化成功经验​</a:t>
                </a:r>
              </a:p>
            </p:txBody>
          </p:sp>
        </p:grpSp>
        <p:sp>
          <p:nvSpPr>
            <p:cNvPr id="371" name="Rectangle 371"/>
            <p:cNvSpPr/>
            <p:nvPr/>
          </p:nvSpPr>
          <p:spPr>
            <a:xfrm>
              <a:off x="10267950" y="5467350"/>
              <a:ext cx="1600200" cy="1238250"/>
            </a:xfrm>
            <a:prstGeom prst="roundRect">
              <a:avLst>
                <a:gd name="adj" fmla="val 6154"/>
              </a:avLst>
            </a:prstGeom>
            <a:solidFill>
              <a:srgbClr val="E9F4F0"/>
            </a:solidFill>
            <a:ln>
              <a:noFill/>
            </a:ln>
          </p:spPr>
        </p:sp>
        <p:grpSp>
          <p:nvGrpSpPr>
            <p:cNvPr id="376" name="Group 376"/>
            <p:cNvGrpSpPr/>
            <p:nvPr/>
          </p:nvGrpSpPr>
          <p:grpSpPr>
            <a:xfrm>
              <a:off x="10467975" y="5835650"/>
              <a:ext cx="285750" cy="263526"/>
              <a:chOff x="10467975" y="5835650"/>
              <a:chExt cx="285750" cy="263526"/>
            </a:xfrm>
          </p:grpSpPr>
          <p:sp>
            <p:nvSpPr>
              <p:cNvPr id="372" name="Freeform 372"/>
              <p:cNvSpPr/>
              <p:nvPr/>
            </p:nvSpPr>
            <p:spPr>
              <a:xfrm>
                <a:off x="10467975" y="5962650"/>
                <a:ext cx="95250" cy="127000"/>
              </a:xfrm>
              <a:custGeom>
                <a:avLst/>
                <a:gdLst/>
                <a:ahLst/>
                <a:cxnLst/>
                <a:rect l="l" t="t" r="r" b="b"/>
                <a:pathLst>
                  <a:path w="95250" h="127000">
                    <a:moveTo>
                      <a:pt x="0" y="15875"/>
                    </a:moveTo>
                    <a:cubicBezTo>
                      <a:pt x="0" y="7107"/>
                      <a:pt x="7107" y="0"/>
                      <a:pt x="15875" y="0"/>
                    </a:cubicBezTo>
                    <a:lnTo>
                      <a:pt x="79375" y="0"/>
                    </a:lnTo>
                    <a:cubicBezTo>
                      <a:pt x="88143" y="0"/>
                      <a:pt x="95250" y="7107"/>
                      <a:pt x="95250" y="15875"/>
                    </a:cubicBezTo>
                    <a:lnTo>
                      <a:pt x="95250" y="111125"/>
                    </a:lnTo>
                    <a:cubicBezTo>
                      <a:pt x="95250" y="119893"/>
                      <a:pt x="88143" y="127000"/>
                      <a:pt x="79375" y="127000"/>
                    </a:cubicBezTo>
                    <a:lnTo>
                      <a:pt x="15875" y="127000"/>
                    </a:lnTo>
                    <a:cubicBezTo>
                      <a:pt x="7107" y="127000"/>
                      <a:pt x="0" y="119893"/>
                      <a:pt x="0" y="111125"/>
                    </a:cubicBezTo>
                    <a:lnTo>
                      <a:pt x="0" y="15875"/>
                    </a:lnTo>
                  </a:path>
                </a:pathLst>
              </a:custGeom>
              <a:noFill/>
              <a:ln w="31750">
                <a:solidFill>
                  <a:srgbClr val="C9988F"/>
                </a:solidFill>
              </a:ln>
            </p:spPr>
          </p:sp>
          <p:sp>
            <p:nvSpPr>
              <p:cNvPr id="373" name="Freeform 373"/>
              <p:cNvSpPr/>
              <p:nvPr/>
            </p:nvSpPr>
            <p:spPr>
              <a:xfrm>
                <a:off x="10658475" y="5899150"/>
                <a:ext cx="95250" cy="190500"/>
              </a:xfrm>
              <a:custGeom>
                <a:avLst/>
                <a:gdLst/>
                <a:ahLst/>
                <a:cxnLst/>
                <a:rect l="l" t="t" r="r" b="b"/>
                <a:pathLst>
                  <a:path w="95250" h="190500">
                    <a:moveTo>
                      <a:pt x="0" y="15875"/>
                    </a:moveTo>
                    <a:cubicBezTo>
                      <a:pt x="0" y="7107"/>
                      <a:pt x="7107" y="0"/>
                      <a:pt x="15875" y="0"/>
                    </a:cubicBezTo>
                    <a:lnTo>
                      <a:pt x="79375" y="0"/>
                    </a:lnTo>
                    <a:cubicBezTo>
                      <a:pt x="88143" y="0"/>
                      <a:pt x="95250" y="7107"/>
                      <a:pt x="95250" y="15875"/>
                    </a:cubicBezTo>
                    <a:lnTo>
                      <a:pt x="95250" y="174625"/>
                    </a:lnTo>
                    <a:cubicBezTo>
                      <a:pt x="95250" y="183393"/>
                      <a:pt x="88143" y="190500"/>
                      <a:pt x="79375" y="190500"/>
                    </a:cubicBezTo>
                    <a:lnTo>
                      <a:pt x="15875" y="190500"/>
                    </a:lnTo>
                    <a:cubicBezTo>
                      <a:pt x="7107" y="190500"/>
                      <a:pt x="0" y="183393"/>
                      <a:pt x="0" y="174625"/>
                    </a:cubicBezTo>
                    <a:lnTo>
                      <a:pt x="0" y="15875"/>
                    </a:lnTo>
                  </a:path>
                </a:pathLst>
              </a:custGeom>
              <a:noFill/>
              <a:ln w="31750">
                <a:solidFill>
                  <a:srgbClr val="C9988F"/>
                </a:solidFill>
              </a:ln>
            </p:spPr>
          </p:sp>
          <p:sp>
            <p:nvSpPr>
              <p:cNvPr id="374" name="Freeform 374"/>
              <p:cNvSpPr/>
              <p:nvPr/>
            </p:nvSpPr>
            <p:spPr>
              <a:xfrm>
                <a:off x="10563225" y="5835650"/>
                <a:ext cx="95250" cy="254001"/>
              </a:xfrm>
              <a:custGeom>
                <a:avLst/>
                <a:gdLst/>
                <a:ahLst/>
                <a:cxnLst/>
                <a:rect l="l" t="t" r="r" b="b"/>
                <a:pathLst>
                  <a:path w="95250" h="254001">
                    <a:moveTo>
                      <a:pt x="0" y="15875"/>
                    </a:moveTo>
                    <a:cubicBezTo>
                      <a:pt x="0" y="7107"/>
                      <a:pt x="7107" y="0"/>
                      <a:pt x="15875" y="0"/>
                    </a:cubicBezTo>
                    <a:lnTo>
                      <a:pt x="79375" y="0"/>
                    </a:lnTo>
                    <a:cubicBezTo>
                      <a:pt x="88143" y="0"/>
                      <a:pt x="95250" y="7107"/>
                      <a:pt x="95250" y="15875"/>
                    </a:cubicBezTo>
                    <a:lnTo>
                      <a:pt x="95250" y="238125"/>
                    </a:lnTo>
                    <a:cubicBezTo>
                      <a:pt x="95250" y="246893"/>
                      <a:pt x="88143" y="254001"/>
                      <a:pt x="79375" y="254001"/>
                    </a:cubicBezTo>
                    <a:lnTo>
                      <a:pt x="15875" y="254001"/>
                    </a:lnTo>
                    <a:cubicBezTo>
                      <a:pt x="7107" y="254001"/>
                      <a:pt x="0" y="246893"/>
                      <a:pt x="0" y="238125"/>
                    </a:cubicBezTo>
                    <a:lnTo>
                      <a:pt x="0" y="15875"/>
                    </a:lnTo>
                  </a:path>
                </a:pathLst>
              </a:custGeom>
              <a:noFill/>
              <a:ln w="31750">
                <a:solidFill>
                  <a:srgbClr val="C9988F"/>
                </a:solidFill>
              </a:ln>
            </p:spPr>
          </p:sp>
          <p:sp>
            <p:nvSpPr>
              <p:cNvPr id="375" name="Freeform 375"/>
              <p:cNvSpPr/>
              <p:nvPr/>
            </p:nvSpPr>
            <p:spPr>
              <a:xfrm>
                <a:off x="10483850" y="6089651"/>
                <a:ext cx="222250" cy="9525"/>
              </a:xfrm>
              <a:custGeom>
                <a:avLst/>
                <a:gdLst/>
                <a:ahLst/>
                <a:cxnLst/>
                <a:rect l="l" t="t" r="r" b="b"/>
                <a:pathLst>
                  <a:path w="222250" h="9525">
                    <a:moveTo>
                      <a:pt x="0" y="0"/>
                    </a:moveTo>
                    <a:lnTo>
                      <a:pt x="222250" y="0"/>
                    </a:lnTo>
                  </a:path>
                </a:pathLst>
              </a:custGeom>
              <a:noFill/>
              <a:ln w="31750">
                <a:solidFill>
                  <a:srgbClr val="C9988F"/>
                </a:solidFill>
              </a:ln>
            </p:spPr>
          </p:sp>
        </p:grpSp>
        <p:sp>
          <p:nvSpPr>
            <p:cNvPr id="377" name="TextBox 377"/>
            <p:cNvSpPr txBox="1"/>
            <p:nvPr/>
          </p:nvSpPr>
          <p:spPr>
            <a:xfrm>
              <a:off x="10948988" y="5617845"/>
              <a:ext cx="564126" cy="176212"/>
            </a:xfrm>
            <a:prstGeom prst="rect">
              <a:avLst/>
            </a:prstGeom>
            <a:noFill/>
            <a:ln>
              <a:noFill/>
            </a:ln>
          </p:spPr>
          <p:txBody>
            <a:bodyPr wrap="none" lIns="0" tIns="0" rIns="0" bIns="0" anchor="t" anchorCtr="0">
              <a:spAutoFit/>
            </a:bodyPr>
            <a:lstStyle/>
            <a:p>
              <a:pPr algn="l"/>
              <a:r>
                <a:rPr lang="zh-CN" sz="900" b="1" dirty="0">
                  <a:solidFill>
                    <a:srgbClr val="5B180B"/>
                  </a:solidFill>
                  <a:latin typeface="+mn-lt"/>
                  <a:ea typeface="+mn-ea"/>
                  <a:cs typeface="+mn-cs"/>
                </a:rPr>
                <a:t>深耕代发​</a:t>
              </a:r>
            </a:p>
          </p:txBody>
        </p:sp>
        <p:sp>
          <p:nvSpPr>
            <p:cNvPr id="378" name="TextBox 378"/>
            <p:cNvSpPr txBox="1"/>
            <p:nvPr/>
          </p:nvSpPr>
          <p:spPr>
            <a:xfrm>
              <a:off x="10948988" y="5827395"/>
              <a:ext cx="564126" cy="176212"/>
            </a:xfrm>
            <a:prstGeom prst="rect">
              <a:avLst/>
            </a:prstGeom>
            <a:noFill/>
            <a:ln>
              <a:noFill/>
            </a:ln>
          </p:spPr>
          <p:txBody>
            <a:bodyPr wrap="none" lIns="0" tIns="0" rIns="0" bIns="0" anchor="t" anchorCtr="0">
              <a:spAutoFit/>
            </a:bodyPr>
            <a:lstStyle/>
            <a:p>
              <a:pPr algn="l"/>
              <a:r>
                <a:rPr lang="zh-CN" sz="900" b="1" dirty="0">
                  <a:solidFill>
                    <a:srgbClr val="5B180B"/>
                  </a:solidFill>
                  <a:latin typeface="+mn-lt"/>
                  <a:ea typeface="+mn-ea"/>
                  <a:cs typeface="+mn-cs"/>
                </a:rPr>
                <a:t>做大客群​</a:t>
              </a:r>
            </a:p>
          </p:txBody>
        </p:sp>
        <p:sp>
          <p:nvSpPr>
            <p:cNvPr id="379" name="TextBox 379"/>
            <p:cNvSpPr txBox="1"/>
            <p:nvPr/>
          </p:nvSpPr>
          <p:spPr>
            <a:xfrm>
              <a:off x="10948988" y="6036945"/>
              <a:ext cx="564126" cy="176212"/>
            </a:xfrm>
            <a:prstGeom prst="rect">
              <a:avLst/>
            </a:prstGeom>
            <a:noFill/>
            <a:ln>
              <a:noFill/>
            </a:ln>
          </p:spPr>
          <p:txBody>
            <a:bodyPr wrap="none" lIns="0" tIns="0" rIns="0" bIns="0" anchor="t" anchorCtr="0">
              <a:spAutoFit/>
            </a:bodyPr>
            <a:lstStyle/>
            <a:p>
              <a:pPr algn="l"/>
              <a:r>
                <a:rPr lang="zh-CN" sz="900" b="1" dirty="0">
                  <a:solidFill>
                    <a:srgbClr val="5B180B"/>
                  </a:solidFill>
                  <a:latin typeface="+mn-lt"/>
                  <a:ea typeface="+mn-ea"/>
                  <a:cs typeface="+mn-cs"/>
                </a:rPr>
                <a:t>做优资产​</a:t>
              </a:r>
            </a:p>
          </p:txBody>
        </p:sp>
        <p:sp>
          <p:nvSpPr>
            <p:cNvPr id="380" name="TextBox 380"/>
            <p:cNvSpPr txBox="1"/>
            <p:nvPr/>
          </p:nvSpPr>
          <p:spPr>
            <a:xfrm>
              <a:off x="10948988" y="6246495"/>
              <a:ext cx="564126" cy="176212"/>
            </a:xfrm>
            <a:prstGeom prst="rect">
              <a:avLst/>
            </a:prstGeom>
            <a:noFill/>
            <a:ln>
              <a:noFill/>
            </a:ln>
          </p:spPr>
          <p:txBody>
            <a:bodyPr wrap="none" lIns="0" tIns="0" rIns="0" bIns="0" anchor="t" anchorCtr="0">
              <a:spAutoFit/>
            </a:bodyPr>
            <a:lstStyle/>
            <a:p>
              <a:pPr algn="l"/>
              <a:r>
                <a:rPr lang="zh-CN" sz="900" b="1" dirty="0">
                  <a:solidFill>
                    <a:srgbClr val="5B180B"/>
                  </a:solidFill>
                  <a:latin typeface="+mn-lt"/>
                  <a:ea typeface="+mn-ea"/>
                  <a:cs typeface="+mn-cs"/>
                </a:rPr>
                <a:t>做强生态​</a:t>
              </a:r>
            </a:p>
          </p:txBody>
        </p:sp>
      </p:gr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8318899" cy="542925"/>
            <a:chOff x="0" y="0"/>
            <a:chExt cx="8318899"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13​</a:t>
              </a:r>
            </a:p>
          </p:txBody>
        </p:sp>
        <p:sp>
          <p:nvSpPr>
            <p:cNvPr id="4" name="TextBox 4"/>
            <p:cNvSpPr txBox="1"/>
            <p:nvPr/>
          </p:nvSpPr>
          <p:spPr>
            <a:xfrm>
              <a:off x="942594" y="151448"/>
              <a:ext cx="7376305"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全渠道触达</a:t>
              </a:r>
              <a:r>
                <a:rPr lang="zh-CN" sz="1950" b="1" dirty="0">
                  <a:solidFill>
                    <a:srgbClr val="5B180B"/>
                  </a:solidFill>
                  <a:latin typeface="+mj-lt"/>
                  <a:ea typeface="+mj-ea"/>
                  <a:cs typeface="+mj-cs"/>
                </a:rPr>
                <a:t xml:space="preserve"> | 线上造势、远程邀约、到店转化形成协同漏斗</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83" name="channel-row"/>
          <p:cNvGrpSpPr/>
          <p:nvPr/>
        </p:nvGrpSpPr>
        <p:grpSpPr>
          <a:xfrm>
            <a:off x="228600" y="666750"/>
            <a:ext cx="11734800" cy="914400"/>
            <a:chOff x="228600" y="666750"/>
            <a:chExt cx="11734800" cy="914400"/>
          </a:xfrm>
        </p:grpSpPr>
        <p:sp>
          <p:nvSpPr>
            <p:cNvPr id="7" name="Rectangle 7"/>
            <p:cNvSpPr/>
            <p:nvPr/>
          </p:nvSpPr>
          <p:spPr>
            <a:xfrm>
              <a:off x="228600" y="666750"/>
              <a:ext cx="857250" cy="914400"/>
            </a:xfrm>
            <a:prstGeom prst="roundRect">
              <a:avLst>
                <a:gd name="adj" fmla="val 8889"/>
              </a:avLst>
            </a:prstGeom>
            <a:solidFill>
              <a:srgbClr val="5B180B"/>
            </a:solidFill>
            <a:ln>
              <a:noFill/>
            </a:ln>
          </p:spPr>
        </p:sp>
        <p:sp>
          <p:nvSpPr>
            <p:cNvPr id="8" name="TextBox 8"/>
            <p:cNvSpPr txBox="1"/>
            <p:nvPr/>
          </p:nvSpPr>
          <p:spPr>
            <a:xfrm>
              <a:off x="289423" y="958691"/>
              <a:ext cx="73560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六大触达渠道​</a:t>
              </a:r>
            </a:p>
          </p:txBody>
        </p:sp>
        <p:sp>
          <p:nvSpPr>
            <p:cNvPr id="9" name="TextBox 9"/>
            <p:cNvSpPr txBox="1"/>
            <p:nvPr/>
          </p:nvSpPr>
          <p:spPr>
            <a:xfrm>
              <a:off x="399811" y="1130141"/>
              <a:ext cx="514828"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协同发力​</a:t>
              </a:r>
            </a:p>
          </p:txBody>
        </p:sp>
        <p:grpSp>
          <p:nvGrpSpPr>
            <p:cNvPr id="21" name="ch-1"/>
            <p:cNvGrpSpPr/>
            <p:nvPr/>
          </p:nvGrpSpPr>
          <p:grpSpPr>
            <a:xfrm>
              <a:off x="1181100" y="666750"/>
              <a:ext cx="1733550" cy="914400"/>
              <a:chOff x="1181100" y="666750"/>
              <a:chExt cx="1733550" cy="914400"/>
            </a:xfrm>
          </p:grpSpPr>
          <p:sp>
            <p:nvSpPr>
              <p:cNvPr id="10" name="Rectangle 10"/>
              <p:cNvSpPr/>
              <p:nvPr/>
            </p:nvSpPr>
            <p:spPr>
              <a:xfrm>
                <a:off x="1181100" y="666750"/>
                <a:ext cx="1733550" cy="914400"/>
              </a:xfrm>
              <a:prstGeom prst="roundRect">
                <a:avLst>
                  <a:gd name="adj" fmla="val 8333"/>
                </a:avLst>
              </a:prstGeom>
              <a:solidFill>
                <a:srgbClr val="F5FAF8"/>
              </a:solidFill>
              <a:ln w="9525">
                <a:solidFill>
                  <a:srgbClr val="D9E8E2"/>
                </a:solidFill>
              </a:ln>
            </p:spPr>
          </p:sp>
          <p:sp>
            <p:nvSpPr>
              <p:cNvPr id="11" name="Ellipse 11"/>
              <p:cNvSpPr/>
              <p:nvPr/>
            </p:nvSpPr>
            <p:spPr>
              <a:xfrm>
                <a:off x="1257300" y="742950"/>
                <a:ext cx="266700" cy="266700"/>
              </a:xfrm>
              <a:prstGeom prst="ellipse">
                <a:avLst/>
              </a:prstGeom>
              <a:solidFill>
                <a:srgbClr val="5B180B"/>
              </a:solidFill>
              <a:ln>
                <a:noFill/>
              </a:ln>
            </p:spPr>
          </p:sp>
          <p:grpSp>
            <p:nvGrpSpPr>
              <p:cNvPr id="15" name="Group 15"/>
              <p:cNvGrpSpPr/>
              <p:nvPr/>
            </p:nvGrpSpPr>
            <p:grpSpPr>
              <a:xfrm>
                <a:off x="1343025" y="804862"/>
                <a:ext cx="95250" cy="142875"/>
                <a:chOff x="1343025" y="804862"/>
                <a:chExt cx="95250" cy="142875"/>
              </a:xfrm>
            </p:grpSpPr>
            <p:sp>
              <p:nvSpPr>
                <p:cNvPr id="12" name="Freeform 12"/>
                <p:cNvSpPr/>
                <p:nvPr/>
              </p:nvSpPr>
              <p:spPr>
                <a:xfrm>
                  <a:off x="1343025" y="804862"/>
                  <a:ext cx="95250" cy="142875"/>
                </a:xfrm>
                <a:custGeom>
                  <a:avLst/>
                  <a:gdLst/>
                  <a:ahLst/>
                  <a:cxnLst/>
                  <a:rect l="l" t="t" r="r" b="b"/>
                  <a:pathLst>
                    <a:path w="95250" h="142875">
                      <a:moveTo>
                        <a:pt x="0" y="15875"/>
                      </a:moveTo>
                      <a:cubicBezTo>
                        <a:pt x="0" y="7107"/>
                        <a:pt x="7107" y="0"/>
                        <a:pt x="15875" y="0"/>
                      </a:cubicBezTo>
                      <a:lnTo>
                        <a:pt x="79375" y="0"/>
                      </a:lnTo>
                      <a:cubicBezTo>
                        <a:pt x="88142" y="0"/>
                        <a:pt x="95250" y="7107"/>
                        <a:pt x="95250" y="15875"/>
                      </a:cubicBezTo>
                      <a:lnTo>
                        <a:pt x="95250" y="127000"/>
                      </a:lnTo>
                      <a:cubicBezTo>
                        <a:pt x="95250" y="135767"/>
                        <a:pt x="88142" y="142875"/>
                        <a:pt x="79375" y="142875"/>
                      </a:cubicBezTo>
                      <a:lnTo>
                        <a:pt x="15875" y="142875"/>
                      </a:lnTo>
                      <a:cubicBezTo>
                        <a:pt x="7107" y="142875"/>
                        <a:pt x="0" y="135767"/>
                        <a:pt x="0" y="127000"/>
                      </a:cubicBezTo>
                      <a:lnTo>
                        <a:pt x="0" y="15875"/>
                      </a:lnTo>
                    </a:path>
                  </a:pathLst>
                </a:custGeom>
                <a:noFill/>
                <a:ln w="15875">
                  <a:solidFill>
                    <a:srgbClr val="FFFFFF"/>
                  </a:solidFill>
                </a:ln>
              </p:spPr>
            </p:sp>
            <p:sp>
              <p:nvSpPr>
                <p:cNvPr id="13" name="Freeform 13"/>
                <p:cNvSpPr/>
                <p:nvPr/>
              </p:nvSpPr>
              <p:spPr>
                <a:xfrm>
                  <a:off x="1382712" y="812800"/>
                  <a:ext cx="15875" cy="9525"/>
                </a:xfrm>
                <a:custGeom>
                  <a:avLst/>
                  <a:gdLst/>
                  <a:ahLst/>
                  <a:cxnLst/>
                  <a:rect l="l" t="t" r="r" b="b"/>
                  <a:pathLst>
                    <a:path w="15875" h="9525">
                      <a:moveTo>
                        <a:pt x="0" y="0"/>
                      </a:moveTo>
                      <a:lnTo>
                        <a:pt x="15875" y="0"/>
                      </a:lnTo>
                    </a:path>
                  </a:pathLst>
                </a:custGeom>
                <a:noFill/>
                <a:ln w="15875">
                  <a:solidFill>
                    <a:srgbClr val="FFFFFF"/>
                  </a:solidFill>
                </a:ln>
              </p:spPr>
            </p:sp>
            <p:sp>
              <p:nvSpPr>
                <p:cNvPr id="14" name="Freeform 14"/>
                <p:cNvSpPr/>
                <p:nvPr/>
              </p:nvSpPr>
              <p:spPr>
                <a:xfrm>
                  <a:off x="1390650" y="915987"/>
                  <a:ext cx="9525" cy="9525"/>
                </a:xfrm>
                <a:custGeom>
                  <a:avLst/>
                  <a:gdLst/>
                  <a:ahLst/>
                  <a:cxnLst/>
                  <a:rect l="l" t="t" r="r" b="b"/>
                  <a:pathLst>
                    <a:path w="9525" h="9525">
                      <a:moveTo>
                        <a:pt x="0" y="0"/>
                      </a:moveTo>
                      <a:lnTo>
                        <a:pt x="0" y="79"/>
                      </a:lnTo>
                    </a:path>
                  </a:pathLst>
                </a:custGeom>
                <a:noFill/>
                <a:ln w="15875">
                  <a:solidFill>
                    <a:srgbClr val="FFFFFF"/>
                  </a:solidFill>
                </a:ln>
              </p:spPr>
            </p:sp>
          </p:grpSp>
          <p:sp>
            <p:nvSpPr>
              <p:cNvPr id="16" name="TextBox 16"/>
              <p:cNvSpPr txBox="1"/>
              <p:nvPr/>
            </p:nvSpPr>
            <p:spPr>
              <a:xfrm>
                <a:off x="1595438" y="768191"/>
                <a:ext cx="514828"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手机银行​</a:t>
                </a:r>
              </a:p>
            </p:txBody>
          </p:sp>
          <p:sp>
            <p:nvSpPr>
              <p:cNvPr id="17" name="TextBox 17"/>
              <p:cNvSpPr txBox="1"/>
              <p:nvPr/>
            </p:nvSpPr>
            <p:spPr>
              <a:xfrm>
                <a:off x="1595438" y="910828"/>
                <a:ext cx="740781"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精准触达 · 便捷互动​</a:t>
                </a:r>
              </a:p>
            </p:txBody>
          </p:sp>
          <p:sp>
            <p:nvSpPr>
              <p:cNvPr id="18" name="TextBox 18"/>
              <p:cNvSpPr txBox="1"/>
              <p:nvPr/>
            </p:nvSpPr>
            <p:spPr>
              <a:xfrm>
                <a:off x="1271588" y="1093232"/>
                <a:ext cx="670088"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APP消息推送​</a:t>
                </a:r>
              </a:p>
            </p:txBody>
          </p:sp>
          <p:sp>
            <p:nvSpPr>
              <p:cNvPr id="19" name="TextBox 19"/>
              <p:cNvSpPr txBox="1"/>
              <p:nvPr/>
            </p:nvSpPr>
            <p:spPr>
              <a:xfrm>
                <a:off x="1271588" y="1226582"/>
                <a:ext cx="599699"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专属活动页​</a:t>
                </a:r>
              </a:p>
            </p:txBody>
          </p:sp>
          <p:sp>
            <p:nvSpPr>
              <p:cNvPr id="20" name="TextBox 20"/>
              <p:cNvSpPr txBox="1"/>
              <p:nvPr/>
            </p:nvSpPr>
            <p:spPr>
              <a:xfrm>
                <a:off x="1271588" y="1359932"/>
                <a:ext cx="733242"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在线预约/咨询​</a:t>
                </a:r>
              </a:p>
            </p:txBody>
          </p:sp>
        </p:grpSp>
        <p:grpSp>
          <p:nvGrpSpPr>
            <p:cNvPr id="30" name="ch-2"/>
            <p:cNvGrpSpPr/>
            <p:nvPr/>
          </p:nvGrpSpPr>
          <p:grpSpPr>
            <a:xfrm>
              <a:off x="2990850" y="666750"/>
              <a:ext cx="1733550" cy="914400"/>
              <a:chOff x="2990850" y="666750"/>
              <a:chExt cx="1733550" cy="914400"/>
            </a:xfrm>
          </p:grpSpPr>
          <p:sp>
            <p:nvSpPr>
              <p:cNvPr id="22" name="Rectangle 22"/>
              <p:cNvSpPr/>
              <p:nvPr/>
            </p:nvSpPr>
            <p:spPr>
              <a:xfrm>
                <a:off x="2990850" y="666750"/>
                <a:ext cx="1733550" cy="914400"/>
              </a:xfrm>
              <a:prstGeom prst="roundRect">
                <a:avLst>
                  <a:gd name="adj" fmla="val 8333"/>
                </a:avLst>
              </a:prstGeom>
              <a:solidFill>
                <a:srgbClr val="F5FAF8"/>
              </a:solidFill>
              <a:ln w="9525">
                <a:solidFill>
                  <a:srgbClr val="D9E8E2"/>
                </a:solidFill>
              </a:ln>
            </p:spPr>
          </p:sp>
          <p:sp>
            <p:nvSpPr>
              <p:cNvPr id="23" name="Ellipse 23"/>
              <p:cNvSpPr/>
              <p:nvPr/>
            </p:nvSpPr>
            <p:spPr>
              <a:xfrm>
                <a:off x="3067050" y="742950"/>
                <a:ext cx="266700" cy="266700"/>
              </a:xfrm>
              <a:prstGeom prst="ellipse">
                <a:avLst/>
              </a:prstGeom>
              <a:solidFill>
                <a:srgbClr val="5B180B"/>
              </a:solidFill>
              <a:ln>
                <a:noFill/>
              </a:ln>
            </p:spPr>
          </p:sp>
          <p:sp>
            <p:nvSpPr>
              <p:cNvPr id="24" name="Freeform 24"/>
              <p:cNvSpPr/>
              <p:nvPr/>
            </p:nvSpPr>
            <p:spPr>
              <a:xfrm>
                <a:off x="3120834" y="80664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FFFFFF"/>
                </a:solidFill>
              </a:ln>
            </p:spPr>
          </p:sp>
          <p:sp>
            <p:nvSpPr>
              <p:cNvPr id="25" name="TextBox 25"/>
              <p:cNvSpPr txBox="1"/>
              <p:nvPr/>
            </p:nvSpPr>
            <p:spPr>
              <a:xfrm>
                <a:off x="3405188" y="768191"/>
                <a:ext cx="514828"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企业微信​</a:t>
                </a:r>
              </a:p>
            </p:txBody>
          </p:sp>
          <p:sp>
            <p:nvSpPr>
              <p:cNvPr id="26" name="TextBox 26"/>
              <p:cNvSpPr txBox="1"/>
              <p:nvPr/>
            </p:nvSpPr>
            <p:spPr>
              <a:xfrm>
                <a:off x="3405188" y="910828"/>
                <a:ext cx="740781"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专业服务 · 深度沟通​</a:t>
                </a:r>
              </a:p>
            </p:txBody>
          </p:sp>
          <p:sp>
            <p:nvSpPr>
              <p:cNvPr id="27" name="TextBox 27"/>
              <p:cNvSpPr txBox="1"/>
              <p:nvPr/>
            </p:nvSpPr>
            <p:spPr>
              <a:xfrm>
                <a:off x="3081338" y="109323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客户分层运营​</a:t>
                </a:r>
              </a:p>
            </p:txBody>
          </p:sp>
          <p:sp>
            <p:nvSpPr>
              <p:cNvPr id="28" name="TextBox 28"/>
              <p:cNvSpPr txBox="1"/>
              <p:nvPr/>
            </p:nvSpPr>
            <p:spPr>
              <a:xfrm>
                <a:off x="3081338" y="1226582"/>
                <a:ext cx="694472"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1对1顾问沟通​</a:t>
                </a:r>
              </a:p>
            </p:txBody>
          </p:sp>
          <p:sp>
            <p:nvSpPr>
              <p:cNvPr id="29" name="TextBox 29"/>
              <p:cNvSpPr txBox="1"/>
              <p:nvPr/>
            </p:nvSpPr>
            <p:spPr>
              <a:xfrm>
                <a:off x="3081338" y="1359932"/>
                <a:ext cx="772013"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朋友圈内容触达​</a:t>
                </a:r>
              </a:p>
            </p:txBody>
          </p:sp>
        </p:grpSp>
        <p:grpSp>
          <p:nvGrpSpPr>
            <p:cNvPr id="39" name="ch-3"/>
            <p:cNvGrpSpPr/>
            <p:nvPr/>
          </p:nvGrpSpPr>
          <p:grpSpPr>
            <a:xfrm>
              <a:off x="4800600" y="666750"/>
              <a:ext cx="1733550" cy="914400"/>
              <a:chOff x="4800600" y="666750"/>
              <a:chExt cx="1733550" cy="914400"/>
            </a:xfrm>
          </p:grpSpPr>
          <p:sp>
            <p:nvSpPr>
              <p:cNvPr id="31" name="Rectangle 31"/>
              <p:cNvSpPr/>
              <p:nvPr/>
            </p:nvSpPr>
            <p:spPr>
              <a:xfrm>
                <a:off x="4800600" y="666750"/>
                <a:ext cx="1733550" cy="914400"/>
              </a:xfrm>
              <a:prstGeom prst="roundRect">
                <a:avLst>
                  <a:gd name="adj" fmla="val 8333"/>
                </a:avLst>
              </a:prstGeom>
              <a:solidFill>
                <a:srgbClr val="F5FAF8"/>
              </a:solidFill>
              <a:ln w="9525">
                <a:solidFill>
                  <a:srgbClr val="D9E8E2"/>
                </a:solidFill>
              </a:ln>
            </p:spPr>
          </p:sp>
          <p:sp>
            <p:nvSpPr>
              <p:cNvPr id="32" name="Ellipse 32"/>
              <p:cNvSpPr/>
              <p:nvPr/>
            </p:nvSpPr>
            <p:spPr>
              <a:xfrm>
                <a:off x="4876800" y="742950"/>
                <a:ext cx="266700" cy="266700"/>
              </a:xfrm>
              <a:prstGeom prst="ellipse">
                <a:avLst/>
              </a:prstGeom>
              <a:solidFill>
                <a:srgbClr val="5B180B"/>
              </a:solidFill>
              <a:ln>
                <a:noFill/>
              </a:ln>
            </p:spPr>
          </p:sp>
          <p:sp>
            <p:nvSpPr>
              <p:cNvPr id="33" name="Freeform 33"/>
              <p:cNvSpPr/>
              <p:nvPr/>
            </p:nvSpPr>
            <p:spPr>
              <a:xfrm>
                <a:off x="4930584" y="80664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FFFFFF"/>
                </a:solidFill>
              </a:ln>
            </p:spPr>
          </p:sp>
          <p:sp>
            <p:nvSpPr>
              <p:cNvPr id="34" name="TextBox 34"/>
              <p:cNvSpPr txBox="1"/>
              <p:nvPr/>
            </p:nvSpPr>
            <p:spPr>
              <a:xfrm>
                <a:off x="5214938" y="768191"/>
                <a:ext cx="514828"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电话外呼​</a:t>
                </a:r>
              </a:p>
            </p:txBody>
          </p:sp>
          <p:sp>
            <p:nvSpPr>
              <p:cNvPr id="35" name="TextBox 35"/>
              <p:cNvSpPr txBox="1"/>
              <p:nvPr/>
            </p:nvSpPr>
            <p:spPr>
              <a:xfrm>
                <a:off x="5214938" y="910828"/>
                <a:ext cx="740781"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主动邀约 · 高效触达​</a:t>
                </a:r>
              </a:p>
            </p:txBody>
          </p:sp>
          <p:sp>
            <p:nvSpPr>
              <p:cNvPr id="36" name="TextBox 36"/>
              <p:cNvSpPr txBox="1"/>
              <p:nvPr/>
            </p:nvSpPr>
            <p:spPr>
              <a:xfrm>
                <a:off x="4891088" y="109323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专属话术外呼​</a:t>
                </a:r>
              </a:p>
            </p:txBody>
          </p:sp>
          <p:sp>
            <p:nvSpPr>
              <p:cNvPr id="37" name="TextBox 37"/>
              <p:cNvSpPr txBox="1"/>
              <p:nvPr/>
            </p:nvSpPr>
            <p:spPr>
              <a:xfrm>
                <a:off x="4891088" y="122658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意向客户回访​</a:t>
                </a:r>
              </a:p>
            </p:txBody>
          </p:sp>
          <p:sp>
            <p:nvSpPr>
              <p:cNvPr id="38" name="TextBox 38"/>
              <p:cNvSpPr txBox="1"/>
              <p:nvPr/>
            </p:nvSpPr>
            <p:spPr>
              <a:xfrm>
                <a:off x="4891088" y="135993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活动邀约确认​</a:t>
                </a:r>
              </a:p>
            </p:txBody>
          </p:sp>
        </p:grpSp>
        <p:grpSp>
          <p:nvGrpSpPr>
            <p:cNvPr id="53" name="ch-4"/>
            <p:cNvGrpSpPr/>
            <p:nvPr/>
          </p:nvGrpSpPr>
          <p:grpSpPr>
            <a:xfrm>
              <a:off x="6610350" y="666750"/>
              <a:ext cx="1733550" cy="914400"/>
              <a:chOff x="6610350" y="666750"/>
              <a:chExt cx="1733550" cy="914400"/>
            </a:xfrm>
          </p:grpSpPr>
          <p:sp>
            <p:nvSpPr>
              <p:cNvPr id="40" name="Rectangle 40"/>
              <p:cNvSpPr/>
              <p:nvPr/>
            </p:nvSpPr>
            <p:spPr>
              <a:xfrm>
                <a:off x="6610350" y="666750"/>
                <a:ext cx="1733550" cy="914400"/>
              </a:xfrm>
              <a:prstGeom prst="roundRect">
                <a:avLst>
                  <a:gd name="adj" fmla="val 8333"/>
                </a:avLst>
              </a:prstGeom>
              <a:solidFill>
                <a:srgbClr val="F5FAF8"/>
              </a:solidFill>
              <a:ln w="9525">
                <a:solidFill>
                  <a:srgbClr val="D9E8E2"/>
                </a:solidFill>
              </a:ln>
            </p:spPr>
          </p:sp>
          <p:sp>
            <p:nvSpPr>
              <p:cNvPr id="41" name="Ellipse 41"/>
              <p:cNvSpPr/>
              <p:nvPr/>
            </p:nvSpPr>
            <p:spPr>
              <a:xfrm>
                <a:off x="6686550" y="742950"/>
                <a:ext cx="266700" cy="266700"/>
              </a:xfrm>
              <a:prstGeom prst="ellipse">
                <a:avLst/>
              </a:prstGeom>
              <a:solidFill>
                <a:srgbClr val="5B180B"/>
              </a:solidFill>
              <a:ln>
                <a:noFill/>
              </a:ln>
            </p:spPr>
          </p:sp>
          <p:grpSp>
            <p:nvGrpSpPr>
              <p:cNvPr id="47" name="Group 47"/>
              <p:cNvGrpSpPr/>
              <p:nvPr/>
            </p:nvGrpSpPr>
            <p:grpSpPr>
              <a:xfrm>
                <a:off x="6764337" y="804862"/>
                <a:ext cx="111125" cy="142875"/>
                <a:chOff x="6764337" y="804862"/>
                <a:chExt cx="111125" cy="142875"/>
              </a:xfrm>
            </p:grpSpPr>
            <p:sp>
              <p:nvSpPr>
                <p:cNvPr id="42" name="Freeform 42"/>
                <p:cNvSpPr/>
                <p:nvPr/>
              </p:nvSpPr>
              <p:spPr>
                <a:xfrm>
                  <a:off x="6835775" y="8048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43" name="Freeform 43"/>
                <p:cNvSpPr/>
                <p:nvPr/>
              </p:nvSpPr>
              <p:spPr>
                <a:xfrm>
                  <a:off x="6764337" y="8048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44" name="Freeform 44"/>
                <p:cNvSpPr/>
                <p:nvPr/>
              </p:nvSpPr>
              <p:spPr>
                <a:xfrm>
                  <a:off x="6796087" y="85248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45" name="Freeform 45"/>
                <p:cNvSpPr/>
                <p:nvPr/>
              </p:nvSpPr>
              <p:spPr>
                <a:xfrm>
                  <a:off x="6796087" y="88423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46" name="Freeform 46"/>
                <p:cNvSpPr/>
                <p:nvPr/>
              </p:nvSpPr>
              <p:spPr>
                <a:xfrm>
                  <a:off x="6796087" y="91598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48" name="TextBox 48"/>
              <p:cNvSpPr txBox="1"/>
              <p:nvPr/>
            </p:nvSpPr>
            <p:spPr>
              <a:xfrm>
                <a:off x="7024688" y="768191"/>
                <a:ext cx="294051"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短信​</a:t>
                </a:r>
              </a:p>
            </p:txBody>
          </p:sp>
          <p:sp>
            <p:nvSpPr>
              <p:cNvPr id="49" name="TextBox 49"/>
              <p:cNvSpPr txBox="1"/>
              <p:nvPr/>
            </p:nvSpPr>
            <p:spPr>
              <a:xfrm>
                <a:off x="7024688" y="910828"/>
                <a:ext cx="590006"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广覆盖 · 强提醒​</a:t>
                </a:r>
              </a:p>
            </p:txBody>
          </p:sp>
          <p:sp>
            <p:nvSpPr>
              <p:cNvPr id="50" name="TextBox 50"/>
              <p:cNvSpPr txBox="1"/>
              <p:nvPr/>
            </p:nvSpPr>
            <p:spPr>
              <a:xfrm>
                <a:off x="6700838" y="109323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活动信息通知​</a:t>
                </a:r>
              </a:p>
            </p:txBody>
          </p:sp>
          <p:sp>
            <p:nvSpPr>
              <p:cNvPr id="51" name="TextBox 51"/>
              <p:cNvSpPr txBox="1"/>
              <p:nvPr/>
            </p:nvSpPr>
            <p:spPr>
              <a:xfrm>
                <a:off x="6700838" y="122658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专属权益提醒​</a:t>
                </a:r>
              </a:p>
            </p:txBody>
          </p:sp>
          <p:sp>
            <p:nvSpPr>
              <p:cNvPr id="52" name="TextBox 52"/>
              <p:cNvSpPr txBox="1"/>
              <p:nvPr/>
            </p:nvSpPr>
            <p:spPr>
              <a:xfrm>
                <a:off x="6700838" y="135993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短链引流预约​</a:t>
                </a:r>
              </a:p>
            </p:txBody>
          </p:sp>
        </p:grpSp>
        <p:grpSp>
          <p:nvGrpSpPr>
            <p:cNvPr id="70" name="ch-5"/>
            <p:cNvGrpSpPr/>
            <p:nvPr/>
          </p:nvGrpSpPr>
          <p:grpSpPr>
            <a:xfrm>
              <a:off x="8420100" y="666750"/>
              <a:ext cx="1733550" cy="914400"/>
              <a:chOff x="8420100" y="666750"/>
              <a:chExt cx="1733550" cy="914400"/>
            </a:xfrm>
          </p:grpSpPr>
          <p:sp>
            <p:nvSpPr>
              <p:cNvPr id="54" name="Rectangle 54"/>
              <p:cNvSpPr/>
              <p:nvPr/>
            </p:nvSpPr>
            <p:spPr>
              <a:xfrm>
                <a:off x="8420100" y="666750"/>
                <a:ext cx="1733550" cy="914400"/>
              </a:xfrm>
              <a:prstGeom prst="roundRect">
                <a:avLst>
                  <a:gd name="adj" fmla="val 8333"/>
                </a:avLst>
              </a:prstGeom>
              <a:solidFill>
                <a:srgbClr val="F5FAF8"/>
              </a:solidFill>
              <a:ln w="9525">
                <a:solidFill>
                  <a:srgbClr val="D9E8E2"/>
                </a:solidFill>
              </a:ln>
            </p:spPr>
          </p:sp>
          <p:sp>
            <p:nvSpPr>
              <p:cNvPr id="55" name="Ellipse 55"/>
              <p:cNvSpPr/>
              <p:nvPr/>
            </p:nvSpPr>
            <p:spPr>
              <a:xfrm>
                <a:off x="8496300" y="742950"/>
                <a:ext cx="266700" cy="266700"/>
              </a:xfrm>
              <a:prstGeom prst="ellipse">
                <a:avLst/>
              </a:prstGeom>
              <a:solidFill>
                <a:srgbClr val="5B180B"/>
              </a:solidFill>
              <a:ln>
                <a:noFill/>
              </a:ln>
            </p:spPr>
          </p:sp>
          <p:grpSp>
            <p:nvGrpSpPr>
              <p:cNvPr id="64" name="Group 64"/>
              <p:cNvGrpSpPr/>
              <p:nvPr/>
            </p:nvGrpSpPr>
            <p:grpSpPr>
              <a:xfrm>
                <a:off x="8558212" y="804862"/>
                <a:ext cx="144463" cy="152400"/>
                <a:chOff x="8558212" y="804862"/>
                <a:chExt cx="144463" cy="152400"/>
              </a:xfrm>
            </p:grpSpPr>
            <p:sp>
              <p:nvSpPr>
                <p:cNvPr id="56" name="Freeform 56"/>
                <p:cNvSpPr/>
                <p:nvPr/>
              </p:nvSpPr>
              <p:spPr>
                <a:xfrm>
                  <a:off x="8558212" y="947737"/>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57" name="Freeform 57"/>
                <p:cNvSpPr/>
                <p:nvPr/>
              </p:nvSpPr>
              <p:spPr>
                <a:xfrm>
                  <a:off x="8558212" y="860425"/>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58" name="Freeform 58"/>
                <p:cNvSpPr/>
                <p:nvPr/>
              </p:nvSpPr>
              <p:spPr>
                <a:xfrm>
                  <a:off x="8574087" y="804862"/>
                  <a:ext cx="111125" cy="23812"/>
                </a:xfrm>
                <a:custGeom>
                  <a:avLst/>
                  <a:gdLst/>
                  <a:ahLst/>
                  <a:cxnLst/>
                  <a:rect l="l" t="t" r="r" b="b"/>
                  <a:pathLst>
                    <a:path w="111125" h="23812">
                      <a:moveTo>
                        <a:pt x="0" y="23812"/>
                      </a:moveTo>
                      <a:lnTo>
                        <a:pt x="55562" y="0"/>
                      </a:lnTo>
                      <a:lnTo>
                        <a:pt x="111125" y="23812"/>
                      </a:lnTo>
                    </a:path>
                  </a:pathLst>
                </a:custGeom>
                <a:noFill/>
                <a:ln w="15875">
                  <a:solidFill>
                    <a:srgbClr val="FFFFFF"/>
                  </a:solidFill>
                </a:ln>
              </p:spPr>
            </p:sp>
            <p:sp>
              <p:nvSpPr>
                <p:cNvPr id="59" name="Freeform 59"/>
                <p:cNvSpPr/>
                <p:nvPr/>
              </p:nvSpPr>
              <p:spPr>
                <a:xfrm>
                  <a:off x="8566150" y="86042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60" name="Freeform 60"/>
                <p:cNvSpPr/>
                <p:nvPr/>
              </p:nvSpPr>
              <p:spPr>
                <a:xfrm>
                  <a:off x="8693150" y="86042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61" name="Freeform 61"/>
                <p:cNvSpPr/>
                <p:nvPr/>
              </p:nvSpPr>
              <p:spPr>
                <a:xfrm>
                  <a:off x="8597900" y="89217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62" name="Freeform 62"/>
                <p:cNvSpPr/>
                <p:nvPr/>
              </p:nvSpPr>
              <p:spPr>
                <a:xfrm>
                  <a:off x="8629650" y="89217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63" name="Freeform 63"/>
                <p:cNvSpPr/>
                <p:nvPr/>
              </p:nvSpPr>
              <p:spPr>
                <a:xfrm>
                  <a:off x="8661400" y="892175"/>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65" name="TextBox 65"/>
              <p:cNvSpPr txBox="1"/>
              <p:nvPr/>
            </p:nvSpPr>
            <p:spPr>
              <a:xfrm>
                <a:off x="8834438" y="768191"/>
                <a:ext cx="294051"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厅堂​</a:t>
                </a:r>
              </a:p>
            </p:txBody>
          </p:sp>
          <p:sp>
            <p:nvSpPr>
              <p:cNvPr id="66" name="TextBox 66"/>
              <p:cNvSpPr txBox="1"/>
              <p:nvPr/>
            </p:nvSpPr>
            <p:spPr>
              <a:xfrm>
                <a:off x="8834438" y="910828"/>
                <a:ext cx="740781"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场景体验 · 专业服务​</a:t>
                </a:r>
              </a:p>
            </p:txBody>
          </p:sp>
          <p:sp>
            <p:nvSpPr>
              <p:cNvPr id="67" name="TextBox 67"/>
              <p:cNvSpPr txBox="1"/>
              <p:nvPr/>
            </p:nvSpPr>
            <p:spPr>
              <a:xfrm>
                <a:off x="8510588" y="109323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主题活动沙龙​</a:t>
                </a:r>
              </a:p>
            </p:txBody>
          </p:sp>
          <p:sp>
            <p:nvSpPr>
              <p:cNvPr id="68" name="TextBox 68"/>
              <p:cNvSpPr txBox="1"/>
              <p:nvPr/>
            </p:nvSpPr>
            <p:spPr>
              <a:xfrm>
                <a:off x="8510588" y="122658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专属客户接待​</a:t>
                </a:r>
              </a:p>
            </p:txBody>
          </p:sp>
          <p:sp>
            <p:nvSpPr>
              <p:cNvPr id="69" name="TextBox 69"/>
              <p:cNvSpPr txBox="1"/>
              <p:nvPr/>
            </p:nvSpPr>
            <p:spPr>
              <a:xfrm>
                <a:off x="8510588" y="135993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综合金融方案​</a:t>
                </a:r>
              </a:p>
            </p:txBody>
          </p:sp>
        </p:grpSp>
        <p:grpSp>
          <p:nvGrpSpPr>
            <p:cNvPr id="82" name="ch-6"/>
            <p:cNvGrpSpPr/>
            <p:nvPr/>
          </p:nvGrpSpPr>
          <p:grpSpPr>
            <a:xfrm>
              <a:off x="10229850" y="666750"/>
              <a:ext cx="1733550" cy="914400"/>
              <a:chOff x="10229850" y="666750"/>
              <a:chExt cx="1733550" cy="914400"/>
            </a:xfrm>
          </p:grpSpPr>
          <p:sp>
            <p:nvSpPr>
              <p:cNvPr id="71" name="Rectangle 71"/>
              <p:cNvSpPr/>
              <p:nvPr/>
            </p:nvSpPr>
            <p:spPr>
              <a:xfrm>
                <a:off x="10229850" y="666750"/>
                <a:ext cx="1733550" cy="914400"/>
              </a:xfrm>
              <a:prstGeom prst="roundRect">
                <a:avLst>
                  <a:gd name="adj" fmla="val 8333"/>
                </a:avLst>
              </a:prstGeom>
              <a:solidFill>
                <a:srgbClr val="F5FAF8"/>
              </a:solidFill>
              <a:ln w="9525">
                <a:solidFill>
                  <a:srgbClr val="D9E8E2"/>
                </a:solidFill>
              </a:ln>
            </p:spPr>
          </p:sp>
          <p:sp>
            <p:nvSpPr>
              <p:cNvPr id="72" name="Ellipse 72"/>
              <p:cNvSpPr/>
              <p:nvPr/>
            </p:nvSpPr>
            <p:spPr>
              <a:xfrm>
                <a:off x="10306050" y="742950"/>
                <a:ext cx="266700" cy="266700"/>
              </a:xfrm>
              <a:prstGeom prst="ellipse">
                <a:avLst/>
              </a:prstGeom>
              <a:solidFill>
                <a:srgbClr val="5B180B"/>
              </a:solidFill>
              <a:ln>
                <a:noFill/>
              </a:ln>
            </p:spPr>
          </p:sp>
          <p:grpSp>
            <p:nvGrpSpPr>
              <p:cNvPr id="76" name="Group 76"/>
              <p:cNvGrpSpPr/>
              <p:nvPr/>
            </p:nvGrpSpPr>
            <p:grpSpPr>
              <a:xfrm>
                <a:off x="10391775" y="804862"/>
                <a:ext cx="119062" cy="142875"/>
                <a:chOff x="10391775" y="804862"/>
                <a:chExt cx="119062" cy="142875"/>
              </a:xfrm>
            </p:grpSpPr>
            <p:sp>
              <p:nvSpPr>
                <p:cNvPr id="73" name="Freeform 73"/>
                <p:cNvSpPr/>
                <p:nvPr/>
              </p:nvSpPr>
              <p:spPr>
                <a:xfrm>
                  <a:off x="10407650" y="8048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74" name="Freeform 74"/>
                <p:cNvSpPr/>
                <p:nvPr/>
              </p:nvSpPr>
              <p:spPr>
                <a:xfrm>
                  <a:off x="10391775" y="90011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FFFFFF"/>
                  </a:solidFill>
                </a:ln>
              </p:spPr>
            </p:sp>
            <p:sp>
              <p:nvSpPr>
                <p:cNvPr id="75" name="Freeform 75"/>
                <p:cNvSpPr/>
                <p:nvPr/>
              </p:nvSpPr>
              <p:spPr>
                <a:xfrm>
                  <a:off x="10463212" y="91598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77" name="TextBox 77"/>
              <p:cNvSpPr txBox="1"/>
              <p:nvPr/>
            </p:nvSpPr>
            <p:spPr>
              <a:xfrm>
                <a:off x="10644188" y="768191"/>
                <a:ext cx="294051"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上门​</a:t>
                </a:r>
              </a:p>
            </p:txBody>
          </p:sp>
          <p:sp>
            <p:nvSpPr>
              <p:cNvPr id="78" name="TextBox 78"/>
              <p:cNvSpPr txBox="1"/>
              <p:nvPr/>
            </p:nvSpPr>
            <p:spPr>
              <a:xfrm>
                <a:off x="10644188" y="910828"/>
                <a:ext cx="740781" cy="111919"/>
              </a:xfrm>
              <a:prstGeom prst="rect">
                <a:avLst/>
              </a:prstGeom>
              <a:noFill/>
              <a:ln>
                <a:noFill/>
              </a:ln>
            </p:spPr>
            <p:txBody>
              <a:bodyPr wrap="none" lIns="0" tIns="0" rIns="0" bIns="0" anchor="t" anchorCtr="0">
                <a:spAutoFit/>
              </a:bodyPr>
              <a:lstStyle/>
              <a:p>
                <a:pPr algn="l"/>
                <a:r>
                  <a:rPr lang="zh-CN" sz="560" dirty="0">
                    <a:solidFill>
                      <a:srgbClr val="8AA39C"/>
                    </a:solidFill>
                    <a:latin typeface="+mn-lt"/>
                    <a:ea typeface="+mn-ea"/>
                    <a:cs typeface="+mn-cs"/>
                  </a:rPr>
                  <a:t>深度拜访 · 定制服务​</a:t>
                </a:r>
              </a:p>
            </p:txBody>
          </p:sp>
          <p:sp>
            <p:nvSpPr>
              <p:cNvPr id="79" name="TextBox 79"/>
              <p:cNvSpPr txBox="1"/>
              <p:nvPr/>
            </p:nvSpPr>
            <p:spPr>
              <a:xfrm>
                <a:off x="10320338" y="1093232"/>
                <a:ext cx="68585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重点客户走访​</a:t>
                </a:r>
              </a:p>
            </p:txBody>
          </p:sp>
          <p:sp>
            <p:nvSpPr>
              <p:cNvPr id="80" name="TextBox 80"/>
              <p:cNvSpPr txBox="1"/>
              <p:nvPr/>
            </p:nvSpPr>
            <p:spPr>
              <a:xfrm>
                <a:off x="10320338" y="1226582"/>
                <a:ext cx="772013"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一对一方案沟通​</a:t>
                </a:r>
              </a:p>
            </p:txBody>
          </p:sp>
          <p:sp>
            <p:nvSpPr>
              <p:cNvPr id="81" name="TextBox 81"/>
              <p:cNvSpPr txBox="1"/>
              <p:nvPr/>
            </p:nvSpPr>
            <p:spPr>
              <a:xfrm>
                <a:off x="10320338" y="1359932"/>
                <a:ext cx="733242"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 集团/园区专场​</a:t>
                </a:r>
              </a:p>
            </p:txBody>
          </p:sp>
        </p:grpSp>
      </p:grpSp>
      <p:grpSp>
        <p:nvGrpSpPr>
          <p:cNvPr id="175" name="funnel-card"/>
          <p:cNvGrpSpPr/>
          <p:nvPr/>
        </p:nvGrpSpPr>
        <p:grpSpPr>
          <a:xfrm>
            <a:off x="228600" y="1676400"/>
            <a:ext cx="6362700" cy="2209800"/>
            <a:chOff x="228600" y="1676400"/>
            <a:chExt cx="6362700" cy="2209800"/>
          </a:xfrm>
        </p:grpSpPr>
        <p:sp>
          <p:nvSpPr>
            <p:cNvPr id="84" name="Rectangle 84"/>
            <p:cNvSpPr/>
            <p:nvPr/>
          </p:nvSpPr>
          <p:spPr>
            <a:xfrm>
              <a:off x="228600" y="1676400"/>
              <a:ext cx="6362700" cy="2209800"/>
            </a:xfrm>
            <a:prstGeom prst="roundRect">
              <a:avLst>
                <a:gd name="adj" fmla="val 4310"/>
              </a:avLst>
            </a:prstGeom>
            <a:solidFill>
              <a:srgbClr val="F5FAF8"/>
            </a:solidFill>
            <a:ln w="9525">
              <a:solidFill>
                <a:srgbClr val="D9E8E2"/>
              </a:solidFill>
            </a:ln>
          </p:spPr>
        </p:sp>
        <p:sp>
          <p:nvSpPr>
            <p:cNvPr id="85" name="Rectangle 85"/>
            <p:cNvSpPr/>
            <p:nvPr/>
          </p:nvSpPr>
          <p:spPr>
            <a:xfrm>
              <a:off x="342900" y="1771650"/>
              <a:ext cx="47625" cy="152400"/>
            </a:xfrm>
            <a:prstGeom prst="rect">
              <a:avLst/>
            </a:prstGeom>
            <a:solidFill>
              <a:srgbClr val="5B180B"/>
            </a:solidFill>
            <a:ln>
              <a:noFill/>
            </a:ln>
          </p:spPr>
        </p:sp>
        <p:sp>
          <p:nvSpPr>
            <p:cNvPr id="86" name="TextBox 86"/>
            <p:cNvSpPr txBox="1"/>
            <p:nvPr/>
          </p:nvSpPr>
          <p:spPr>
            <a:xfrm>
              <a:off x="452438" y="1794272"/>
              <a:ext cx="2005246"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客户全流程转化漏斗</a:t>
              </a:r>
              <a:r>
                <a:rPr lang="zh-CN" sz="710" dirty="0">
                  <a:solidFill>
                    <a:srgbClr val="5F6F6A"/>
                  </a:solidFill>
                  <a:latin typeface="+mn-lt"/>
                  <a:ea typeface="+mn-ea"/>
                  <a:cs typeface="+mn-cs"/>
                </a:rPr>
                <a:t>（2026年四季度）</a:t>
              </a:r>
              <a:r>
                <a:rPr lang="zh-CN" sz="940" b="1" dirty="0">
                  <a:solidFill>
                    <a:srgbClr val="5B180B"/>
                  </a:solidFill>
                  <a:latin typeface="+mn-lt"/>
                  <a:ea typeface="+mn-ea"/>
                  <a:cs typeface="+mn-cs"/>
                </a:rPr>
                <a:t>​</a:t>
              </a:r>
            </a:p>
          </p:txBody>
        </p:sp>
        <p:sp>
          <p:nvSpPr>
            <p:cNvPr id="87" name="Rectangle 87"/>
            <p:cNvSpPr/>
            <p:nvPr/>
          </p:nvSpPr>
          <p:spPr>
            <a:xfrm>
              <a:off x="342900" y="2000250"/>
              <a:ext cx="723900" cy="1752600"/>
            </a:xfrm>
            <a:prstGeom prst="roundRect">
              <a:avLst>
                <a:gd name="adj" fmla="val 7895"/>
              </a:avLst>
            </a:prstGeom>
            <a:solidFill>
              <a:srgbClr val="5B180B"/>
            </a:solidFill>
            <a:ln>
              <a:noFill/>
            </a:ln>
          </p:spPr>
        </p:sp>
        <p:grpSp>
          <p:nvGrpSpPr>
            <p:cNvPr id="94" name="Group 94"/>
            <p:cNvGrpSpPr/>
            <p:nvPr/>
          </p:nvGrpSpPr>
          <p:grpSpPr>
            <a:xfrm>
              <a:off x="604838" y="2224088"/>
              <a:ext cx="200025" cy="200026"/>
              <a:chOff x="604838" y="2224088"/>
              <a:chExt cx="200025" cy="200026"/>
            </a:xfrm>
          </p:grpSpPr>
          <p:sp>
            <p:nvSpPr>
              <p:cNvPr id="88" name="Freeform 88"/>
              <p:cNvSpPr/>
              <p:nvPr/>
            </p:nvSpPr>
            <p:spPr>
              <a:xfrm>
                <a:off x="682625" y="23129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89" name="Freeform 89"/>
              <p:cNvSpPr/>
              <p:nvPr/>
            </p:nvSpPr>
            <p:spPr>
              <a:xfrm>
                <a:off x="660400" y="239077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FFFFFF"/>
                </a:solidFill>
              </a:ln>
            </p:spPr>
          </p:sp>
          <p:sp>
            <p:nvSpPr>
              <p:cNvPr id="90" name="Freeform 90"/>
              <p:cNvSpPr/>
              <p:nvPr/>
            </p:nvSpPr>
            <p:spPr>
              <a:xfrm>
                <a:off x="738188" y="22240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91" name="Freeform 91"/>
              <p:cNvSpPr/>
              <p:nvPr/>
            </p:nvSpPr>
            <p:spPr>
              <a:xfrm>
                <a:off x="760413" y="230187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FFFFFF"/>
                </a:solidFill>
              </a:ln>
            </p:spPr>
          </p:sp>
          <p:sp>
            <p:nvSpPr>
              <p:cNvPr id="92" name="Freeform 92"/>
              <p:cNvSpPr/>
              <p:nvPr/>
            </p:nvSpPr>
            <p:spPr>
              <a:xfrm>
                <a:off x="627063" y="22240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93" name="Freeform 93"/>
              <p:cNvSpPr/>
              <p:nvPr/>
            </p:nvSpPr>
            <p:spPr>
              <a:xfrm>
                <a:off x="604838" y="230187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FFFFFF"/>
                </a:solidFill>
              </a:ln>
            </p:spPr>
          </p:sp>
        </p:grpSp>
        <p:sp>
          <p:nvSpPr>
            <p:cNvPr id="95" name="TextBox 95"/>
            <p:cNvSpPr txBox="1"/>
            <p:nvPr/>
          </p:nvSpPr>
          <p:spPr>
            <a:xfrm>
              <a:off x="469004" y="2605088"/>
              <a:ext cx="47169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客户名单​</a:t>
              </a:r>
            </a:p>
          </p:txBody>
        </p:sp>
        <p:sp>
          <p:nvSpPr>
            <p:cNvPr id="96" name="TextBox 96"/>
            <p:cNvSpPr txBox="1"/>
            <p:nvPr/>
          </p:nvSpPr>
          <p:spPr>
            <a:xfrm>
              <a:off x="418879" y="2785110"/>
              <a:ext cx="57194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6,800​</a:t>
              </a:r>
            </a:p>
          </p:txBody>
        </p:sp>
        <p:sp>
          <p:nvSpPr>
            <p:cNvPr id="97" name="TextBox 97"/>
            <p:cNvSpPr txBox="1"/>
            <p:nvPr/>
          </p:nvSpPr>
          <p:spPr>
            <a:xfrm>
              <a:off x="525620" y="2998232"/>
              <a:ext cx="358460" cy="126206"/>
            </a:xfrm>
            <a:prstGeom prst="rect">
              <a:avLst/>
            </a:prstGeom>
            <a:noFill/>
            <a:ln>
              <a:noFill/>
            </a:ln>
          </p:spPr>
          <p:txBody>
            <a:bodyPr wrap="none" lIns="0" tIns="0" rIns="0" bIns="0" anchor="t" anchorCtr="0">
              <a:spAutoFit/>
            </a:bodyPr>
            <a:lstStyle/>
            <a:p>
              <a:pPr algn="ctr"/>
              <a:r>
                <a:rPr lang="zh-CN" sz="640" dirty="0">
                  <a:solidFill>
                    <a:srgbClr val="BFDDD6"/>
                  </a:solidFill>
                  <a:latin typeface="+mn-lt"/>
                  <a:ea typeface="+mn-ea"/>
                  <a:cs typeface="+mn-cs"/>
                </a:rPr>
                <a:t>(100%)​</a:t>
              </a:r>
            </a:p>
          </p:txBody>
        </p:sp>
        <p:grpSp>
          <p:nvGrpSpPr>
            <p:cNvPr id="122" name="channel-list"/>
            <p:cNvGrpSpPr/>
            <p:nvPr/>
          </p:nvGrpSpPr>
          <p:grpSpPr>
            <a:xfrm>
              <a:off x="1157288" y="2045732"/>
              <a:ext cx="1528762" cy="1554956"/>
              <a:chOff x="1157288" y="2045732"/>
              <a:chExt cx="1528762" cy="1554956"/>
            </a:xfrm>
          </p:grpSpPr>
          <p:sp>
            <p:nvSpPr>
              <p:cNvPr id="98" name="TextBox 98"/>
              <p:cNvSpPr txBox="1"/>
              <p:nvPr/>
            </p:nvSpPr>
            <p:spPr>
              <a:xfrm>
                <a:off x="1157288" y="2045732"/>
                <a:ext cx="401538"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手机银行​</a:t>
                </a:r>
              </a:p>
            </p:txBody>
          </p:sp>
          <p:sp>
            <p:nvSpPr>
              <p:cNvPr id="99" name="TextBox 99"/>
              <p:cNvSpPr txBox="1"/>
              <p:nvPr/>
            </p:nvSpPr>
            <p:spPr>
              <a:xfrm>
                <a:off x="1468354" y="2045732"/>
                <a:ext cx="308058" cy="126206"/>
              </a:xfrm>
              <a:prstGeom prst="rect">
                <a:avLst/>
              </a:prstGeom>
              <a:noFill/>
              <a:ln>
                <a:noFill/>
              </a:ln>
            </p:spPr>
            <p:txBody>
              <a:bodyPr wrap="none" lIns="0" tIns="0" rIns="0" bIns="0" anchor="t" anchorCtr="0">
                <a:spAutoFit/>
              </a:bodyPr>
              <a:lstStyle/>
              <a:p>
                <a:pPr algn="r"/>
                <a:r>
                  <a:rPr lang="zh-CN" sz="640" b="1" dirty="0">
                    <a:solidFill>
                      <a:srgbClr val="5B180B"/>
                    </a:solidFill>
                    <a:latin typeface="+mn-lt"/>
                    <a:ea typeface="+mn-ea"/>
                    <a:cs typeface="+mn-cs"/>
                  </a:rPr>
                  <a:t>2,000​</a:t>
                </a:r>
              </a:p>
            </p:txBody>
          </p:sp>
          <p:sp>
            <p:nvSpPr>
              <p:cNvPr id="100" name="Rectangle 100"/>
              <p:cNvSpPr/>
              <p:nvPr/>
            </p:nvSpPr>
            <p:spPr>
              <a:xfrm>
                <a:off x="1828800" y="2047875"/>
                <a:ext cx="857250" cy="76200"/>
              </a:xfrm>
              <a:prstGeom prst="rect">
                <a:avLst/>
              </a:prstGeom>
              <a:solidFill>
                <a:srgbClr val="DFF0EA"/>
              </a:solidFill>
              <a:ln>
                <a:noFill/>
              </a:ln>
            </p:spPr>
          </p:sp>
          <p:sp>
            <p:nvSpPr>
              <p:cNvPr id="101" name="Rectangle 101"/>
              <p:cNvSpPr/>
              <p:nvPr/>
            </p:nvSpPr>
            <p:spPr>
              <a:xfrm>
                <a:off x="1828800" y="2047875"/>
                <a:ext cx="857250" cy="76200"/>
              </a:xfrm>
              <a:prstGeom prst="rect">
                <a:avLst/>
              </a:prstGeom>
              <a:solidFill>
                <a:srgbClr val="5B180B"/>
              </a:solidFill>
              <a:ln>
                <a:noFill/>
              </a:ln>
            </p:spPr>
          </p:sp>
          <p:sp>
            <p:nvSpPr>
              <p:cNvPr id="102" name="TextBox 102"/>
              <p:cNvSpPr txBox="1"/>
              <p:nvPr/>
            </p:nvSpPr>
            <p:spPr>
              <a:xfrm>
                <a:off x="1157288" y="2331482"/>
                <a:ext cx="401538"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企业微信​</a:t>
                </a:r>
              </a:p>
            </p:txBody>
          </p:sp>
          <p:sp>
            <p:nvSpPr>
              <p:cNvPr id="103" name="TextBox 103"/>
              <p:cNvSpPr txBox="1"/>
              <p:nvPr/>
            </p:nvSpPr>
            <p:spPr>
              <a:xfrm>
                <a:off x="1468354" y="2331482"/>
                <a:ext cx="308058" cy="126206"/>
              </a:xfrm>
              <a:prstGeom prst="rect">
                <a:avLst/>
              </a:prstGeom>
              <a:noFill/>
              <a:ln>
                <a:noFill/>
              </a:ln>
            </p:spPr>
            <p:txBody>
              <a:bodyPr wrap="none" lIns="0" tIns="0" rIns="0" bIns="0" anchor="t" anchorCtr="0">
                <a:spAutoFit/>
              </a:bodyPr>
              <a:lstStyle/>
              <a:p>
                <a:pPr algn="r"/>
                <a:r>
                  <a:rPr lang="zh-CN" sz="640" b="1" dirty="0">
                    <a:solidFill>
                      <a:srgbClr val="5B180B"/>
                    </a:solidFill>
                    <a:latin typeface="+mn-lt"/>
                    <a:ea typeface="+mn-ea"/>
                    <a:cs typeface="+mn-cs"/>
                  </a:rPr>
                  <a:t>1,200​</a:t>
                </a:r>
              </a:p>
            </p:txBody>
          </p:sp>
          <p:sp>
            <p:nvSpPr>
              <p:cNvPr id="104" name="Rectangle 104"/>
              <p:cNvSpPr/>
              <p:nvPr/>
            </p:nvSpPr>
            <p:spPr>
              <a:xfrm>
                <a:off x="1828800" y="2333625"/>
                <a:ext cx="857250" cy="76200"/>
              </a:xfrm>
              <a:prstGeom prst="rect">
                <a:avLst/>
              </a:prstGeom>
              <a:solidFill>
                <a:srgbClr val="DFF0EA"/>
              </a:solidFill>
              <a:ln>
                <a:noFill/>
              </a:ln>
            </p:spPr>
          </p:sp>
          <p:sp>
            <p:nvSpPr>
              <p:cNvPr id="105" name="Rectangle 105"/>
              <p:cNvSpPr/>
              <p:nvPr/>
            </p:nvSpPr>
            <p:spPr>
              <a:xfrm>
                <a:off x="1828800" y="2333625"/>
                <a:ext cx="571500" cy="76200"/>
              </a:xfrm>
              <a:prstGeom prst="rect">
                <a:avLst/>
              </a:prstGeom>
              <a:solidFill>
                <a:srgbClr val="722617"/>
              </a:solidFill>
              <a:ln>
                <a:noFill/>
              </a:ln>
            </p:spPr>
          </p:sp>
          <p:sp>
            <p:nvSpPr>
              <p:cNvPr id="106" name="TextBox 106"/>
              <p:cNvSpPr txBox="1"/>
              <p:nvPr/>
            </p:nvSpPr>
            <p:spPr>
              <a:xfrm>
                <a:off x="1157288" y="2617232"/>
                <a:ext cx="401538"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电话外呼​</a:t>
                </a:r>
              </a:p>
            </p:txBody>
          </p:sp>
          <p:sp>
            <p:nvSpPr>
              <p:cNvPr id="107" name="TextBox 107"/>
              <p:cNvSpPr txBox="1"/>
              <p:nvPr/>
            </p:nvSpPr>
            <p:spPr>
              <a:xfrm>
                <a:off x="1468354" y="2617232"/>
                <a:ext cx="308058" cy="126206"/>
              </a:xfrm>
              <a:prstGeom prst="rect">
                <a:avLst/>
              </a:prstGeom>
              <a:noFill/>
              <a:ln>
                <a:noFill/>
              </a:ln>
            </p:spPr>
            <p:txBody>
              <a:bodyPr wrap="none" lIns="0" tIns="0" rIns="0" bIns="0" anchor="t" anchorCtr="0">
                <a:spAutoFit/>
              </a:bodyPr>
              <a:lstStyle/>
              <a:p>
                <a:pPr algn="r"/>
                <a:r>
                  <a:rPr lang="zh-CN" sz="640" b="1" dirty="0">
                    <a:solidFill>
                      <a:srgbClr val="5B180B"/>
                    </a:solidFill>
                    <a:latin typeface="+mn-lt"/>
                    <a:ea typeface="+mn-ea"/>
                    <a:cs typeface="+mn-cs"/>
                  </a:rPr>
                  <a:t>1,200​</a:t>
                </a:r>
              </a:p>
            </p:txBody>
          </p:sp>
          <p:sp>
            <p:nvSpPr>
              <p:cNvPr id="108" name="Rectangle 108"/>
              <p:cNvSpPr/>
              <p:nvPr/>
            </p:nvSpPr>
            <p:spPr>
              <a:xfrm>
                <a:off x="1828800" y="2619375"/>
                <a:ext cx="857250" cy="76200"/>
              </a:xfrm>
              <a:prstGeom prst="rect">
                <a:avLst/>
              </a:prstGeom>
              <a:solidFill>
                <a:srgbClr val="DFF0EA"/>
              </a:solidFill>
              <a:ln>
                <a:noFill/>
              </a:ln>
            </p:spPr>
          </p:sp>
          <p:sp>
            <p:nvSpPr>
              <p:cNvPr id="109" name="Rectangle 109"/>
              <p:cNvSpPr/>
              <p:nvPr/>
            </p:nvSpPr>
            <p:spPr>
              <a:xfrm>
                <a:off x="1828800" y="2619375"/>
                <a:ext cx="571500" cy="76200"/>
              </a:xfrm>
              <a:prstGeom prst="rect">
                <a:avLst/>
              </a:prstGeom>
              <a:solidFill>
                <a:srgbClr val="9A412F"/>
              </a:solidFill>
              <a:ln>
                <a:noFill/>
              </a:ln>
            </p:spPr>
          </p:sp>
          <p:sp>
            <p:nvSpPr>
              <p:cNvPr id="110" name="TextBox 110"/>
              <p:cNvSpPr txBox="1"/>
              <p:nvPr/>
            </p:nvSpPr>
            <p:spPr>
              <a:xfrm>
                <a:off x="1157288" y="290298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短信​</a:t>
                </a:r>
              </a:p>
            </p:txBody>
          </p:sp>
          <p:sp>
            <p:nvSpPr>
              <p:cNvPr id="111" name="TextBox 111"/>
              <p:cNvSpPr txBox="1"/>
              <p:nvPr/>
            </p:nvSpPr>
            <p:spPr>
              <a:xfrm>
                <a:off x="1468354" y="2902982"/>
                <a:ext cx="308058" cy="126206"/>
              </a:xfrm>
              <a:prstGeom prst="rect">
                <a:avLst/>
              </a:prstGeom>
              <a:noFill/>
              <a:ln>
                <a:noFill/>
              </a:ln>
            </p:spPr>
            <p:txBody>
              <a:bodyPr wrap="none" lIns="0" tIns="0" rIns="0" bIns="0" anchor="t" anchorCtr="0">
                <a:spAutoFit/>
              </a:bodyPr>
              <a:lstStyle/>
              <a:p>
                <a:pPr algn="r"/>
                <a:r>
                  <a:rPr lang="zh-CN" sz="640" b="1" dirty="0">
                    <a:solidFill>
                      <a:srgbClr val="5B180B"/>
                    </a:solidFill>
                    <a:latin typeface="+mn-lt"/>
                    <a:ea typeface="+mn-ea"/>
                    <a:cs typeface="+mn-cs"/>
                  </a:rPr>
                  <a:t>1,000​</a:t>
                </a:r>
              </a:p>
            </p:txBody>
          </p:sp>
          <p:sp>
            <p:nvSpPr>
              <p:cNvPr id="112" name="Rectangle 112"/>
              <p:cNvSpPr/>
              <p:nvPr/>
            </p:nvSpPr>
            <p:spPr>
              <a:xfrm>
                <a:off x="1828800" y="2905125"/>
                <a:ext cx="857250" cy="76200"/>
              </a:xfrm>
              <a:prstGeom prst="rect">
                <a:avLst/>
              </a:prstGeom>
              <a:solidFill>
                <a:srgbClr val="DFF0EA"/>
              </a:solidFill>
              <a:ln>
                <a:noFill/>
              </a:ln>
            </p:spPr>
          </p:sp>
          <p:sp>
            <p:nvSpPr>
              <p:cNvPr id="113" name="Rectangle 113"/>
              <p:cNvSpPr/>
              <p:nvPr/>
            </p:nvSpPr>
            <p:spPr>
              <a:xfrm>
                <a:off x="1828800" y="2905125"/>
                <a:ext cx="476250" cy="76200"/>
              </a:xfrm>
              <a:prstGeom prst="rect">
                <a:avLst/>
              </a:prstGeom>
              <a:solidFill>
                <a:srgbClr val="AE6C5F"/>
              </a:solidFill>
              <a:ln>
                <a:noFill/>
              </a:ln>
            </p:spPr>
          </p:sp>
          <p:sp>
            <p:nvSpPr>
              <p:cNvPr id="114" name="TextBox 114"/>
              <p:cNvSpPr txBox="1"/>
              <p:nvPr/>
            </p:nvSpPr>
            <p:spPr>
              <a:xfrm>
                <a:off x="1157288" y="318873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厅堂​</a:t>
                </a:r>
              </a:p>
            </p:txBody>
          </p:sp>
          <p:sp>
            <p:nvSpPr>
              <p:cNvPr id="115" name="TextBox 115"/>
              <p:cNvSpPr txBox="1"/>
              <p:nvPr/>
            </p:nvSpPr>
            <p:spPr>
              <a:xfrm>
                <a:off x="1567865" y="3188732"/>
                <a:ext cx="208547" cy="126206"/>
              </a:xfrm>
              <a:prstGeom prst="rect">
                <a:avLst/>
              </a:prstGeom>
              <a:noFill/>
              <a:ln>
                <a:noFill/>
              </a:ln>
            </p:spPr>
            <p:txBody>
              <a:bodyPr wrap="none" lIns="0" tIns="0" rIns="0" bIns="0" anchor="t" anchorCtr="0">
                <a:spAutoFit/>
              </a:bodyPr>
              <a:lstStyle/>
              <a:p>
                <a:pPr algn="r"/>
                <a:r>
                  <a:rPr lang="zh-CN" sz="640" b="1" dirty="0">
                    <a:solidFill>
                      <a:srgbClr val="5B180B"/>
                    </a:solidFill>
                    <a:latin typeface="+mn-lt"/>
                    <a:ea typeface="+mn-ea"/>
                    <a:cs typeface="+mn-cs"/>
                  </a:rPr>
                  <a:t>800​</a:t>
                </a:r>
              </a:p>
            </p:txBody>
          </p:sp>
          <p:sp>
            <p:nvSpPr>
              <p:cNvPr id="116" name="Rectangle 116"/>
              <p:cNvSpPr/>
              <p:nvPr/>
            </p:nvSpPr>
            <p:spPr>
              <a:xfrm>
                <a:off x="1828800" y="3190875"/>
                <a:ext cx="857250" cy="76200"/>
              </a:xfrm>
              <a:prstGeom prst="rect">
                <a:avLst/>
              </a:prstGeom>
              <a:solidFill>
                <a:srgbClr val="DFF0EA"/>
              </a:solidFill>
              <a:ln>
                <a:noFill/>
              </a:ln>
            </p:spPr>
          </p:sp>
          <p:sp>
            <p:nvSpPr>
              <p:cNvPr id="117" name="Rectangle 117"/>
              <p:cNvSpPr/>
              <p:nvPr/>
            </p:nvSpPr>
            <p:spPr>
              <a:xfrm>
                <a:off x="1828800" y="3190875"/>
                <a:ext cx="381000" cy="76200"/>
              </a:xfrm>
              <a:prstGeom prst="rect">
                <a:avLst/>
              </a:prstGeom>
              <a:solidFill>
                <a:srgbClr val="C9988F"/>
              </a:solidFill>
              <a:ln>
                <a:noFill/>
              </a:ln>
            </p:spPr>
          </p:sp>
          <p:sp>
            <p:nvSpPr>
              <p:cNvPr id="118" name="TextBox 118"/>
              <p:cNvSpPr txBox="1"/>
              <p:nvPr/>
            </p:nvSpPr>
            <p:spPr>
              <a:xfrm>
                <a:off x="1157288" y="3474482"/>
                <a:ext cx="22922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上门​</a:t>
                </a:r>
              </a:p>
            </p:txBody>
          </p:sp>
          <p:sp>
            <p:nvSpPr>
              <p:cNvPr id="119" name="TextBox 119"/>
              <p:cNvSpPr txBox="1"/>
              <p:nvPr/>
            </p:nvSpPr>
            <p:spPr>
              <a:xfrm>
                <a:off x="1567865" y="3474482"/>
                <a:ext cx="208547" cy="126206"/>
              </a:xfrm>
              <a:prstGeom prst="rect">
                <a:avLst/>
              </a:prstGeom>
              <a:noFill/>
              <a:ln>
                <a:noFill/>
              </a:ln>
            </p:spPr>
            <p:txBody>
              <a:bodyPr wrap="none" lIns="0" tIns="0" rIns="0" bIns="0" anchor="t" anchorCtr="0">
                <a:spAutoFit/>
              </a:bodyPr>
              <a:lstStyle/>
              <a:p>
                <a:pPr algn="r"/>
                <a:r>
                  <a:rPr lang="zh-CN" sz="640" b="1" dirty="0">
                    <a:solidFill>
                      <a:srgbClr val="5B180B"/>
                    </a:solidFill>
                    <a:latin typeface="+mn-lt"/>
                    <a:ea typeface="+mn-ea"/>
                    <a:cs typeface="+mn-cs"/>
                  </a:rPr>
                  <a:t>600​</a:t>
                </a:r>
              </a:p>
            </p:txBody>
          </p:sp>
          <p:sp>
            <p:nvSpPr>
              <p:cNvPr id="120" name="Rectangle 120"/>
              <p:cNvSpPr/>
              <p:nvPr/>
            </p:nvSpPr>
            <p:spPr>
              <a:xfrm>
                <a:off x="1828800" y="3476625"/>
                <a:ext cx="857250" cy="76200"/>
              </a:xfrm>
              <a:prstGeom prst="rect">
                <a:avLst/>
              </a:prstGeom>
              <a:solidFill>
                <a:srgbClr val="DFF0EA"/>
              </a:solidFill>
              <a:ln>
                <a:noFill/>
              </a:ln>
            </p:spPr>
          </p:sp>
          <p:sp>
            <p:nvSpPr>
              <p:cNvPr id="121" name="Rectangle 121"/>
              <p:cNvSpPr/>
              <p:nvPr/>
            </p:nvSpPr>
            <p:spPr>
              <a:xfrm>
                <a:off x="1828800" y="3476625"/>
                <a:ext cx="285750" cy="76200"/>
              </a:xfrm>
              <a:prstGeom prst="rect">
                <a:avLst/>
              </a:prstGeom>
              <a:solidFill>
                <a:srgbClr val="D3AFA8"/>
              </a:solidFill>
              <a:ln>
                <a:noFill/>
              </a:ln>
            </p:spPr>
          </p:sp>
        </p:grpSp>
        <p:sp>
          <p:nvSpPr>
            <p:cNvPr id="123" name="Freeform 123"/>
            <p:cNvSpPr/>
            <p:nvPr/>
          </p:nvSpPr>
          <p:spPr>
            <a:xfrm>
              <a:off x="2819400" y="2171700"/>
              <a:ext cx="914400" cy="1181100"/>
            </a:xfrm>
            <a:prstGeom prst="homePlate">
              <a:avLst>
                <a:gd name="adj" fmla="val 18000"/>
              </a:avLst>
            </a:prstGeom>
            <a:solidFill>
              <a:srgbClr val="5B180B"/>
            </a:solidFill>
            <a:ln>
              <a:noFill/>
            </a:ln>
          </p:spPr>
        </p:sp>
        <p:sp>
          <p:nvSpPr>
            <p:cNvPr id="124" name="Freeform 124"/>
            <p:cNvSpPr/>
            <p:nvPr/>
          </p:nvSpPr>
          <p:spPr>
            <a:xfrm>
              <a:off x="3790950" y="2305050"/>
              <a:ext cx="914400" cy="914400"/>
            </a:xfrm>
            <a:prstGeom prst="homePlate">
              <a:avLst>
                <a:gd name="adj" fmla="val 18000"/>
              </a:avLst>
            </a:prstGeom>
            <a:solidFill>
              <a:srgbClr val="722617"/>
            </a:solidFill>
            <a:ln>
              <a:noFill/>
            </a:ln>
          </p:spPr>
        </p:sp>
        <p:sp>
          <p:nvSpPr>
            <p:cNvPr id="125" name="Freeform 125"/>
            <p:cNvSpPr/>
            <p:nvPr/>
          </p:nvSpPr>
          <p:spPr>
            <a:xfrm>
              <a:off x="4762500" y="2419350"/>
              <a:ext cx="914400" cy="685800"/>
            </a:xfrm>
            <a:prstGeom prst="homePlate">
              <a:avLst>
                <a:gd name="adj" fmla="val 18000"/>
              </a:avLst>
            </a:prstGeom>
            <a:solidFill>
              <a:srgbClr val="9A412F"/>
            </a:solidFill>
            <a:ln>
              <a:noFill/>
            </a:ln>
          </p:spPr>
        </p:sp>
        <p:sp>
          <p:nvSpPr>
            <p:cNvPr id="126" name="Freeform 126"/>
            <p:cNvSpPr/>
            <p:nvPr/>
          </p:nvSpPr>
          <p:spPr>
            <a:xfrm>
              <a:off x="5734050" y="2514600"/>
              <a:ext cx="800100" cy="495300"/>
            </a:xfrm>
            <a:prstGeom prst="homePlate">
              <a:avLst>
                <a:gd name="adj" fmla="val 18000"/>
              </a:avLst>
            </a:prstGeom>
            <a:solidFill>
              <a:srgbClr val="AE6C5F"/>
            </a:solidFill>
            <a:ln>
              <a:noFill/>
            </a:ln>
          </p:spPr>
        </p:sp>
        <p:grpSp>
          <p:nvGrpSpPr>
            <p:cNvPr id="152" name="stage-labels"/>
            <p:cNvGrpSpPr/>
            <p:nvPr/>
          </p:nvGrpSpPr>
          <p:grpSpPr>
            <a:xfrm>
              <a:off x="3007325" y="2312194"/>
              <a:ext cx="3395155" cy="809148"/>
              <a:chOff x="3007325" y="2312194"/>
              <a:chExt cx="3395155" cy="809148"/>
            </a:xfrm>
          </p:grpSpPr>
          <p:grpSp>
            <p:nvGrpSpPr>
              <p:cNvPr id="130" name="Group 130"/>
              <p:cNvGrpSpPr/>
              <p:nvPr/>
            </p:nvGrpSpPr>
            <p:grpSpPr>
              <a:xfrm>
                <a:off x="3196431" y="2312194"/>
                <a:ext cx="122238" cy="157162"/>
                <a:chOff x="3196431" y="2312194"/>
                <a:chExt cx="122238" cy="157162"/>
              </a:xfrm>
            </p:grpSpPr>
            <p:sp>
              <p:nvSpPr>
                <p:cNvPr id="127" name="Freeform 127"/>
                <p:cNvSpPr/>
                <p:nvPr/>
              </p:nvSpPr>
              <p:spPr>
                <a:xfrm>
                  <a:off x="3196431" y="2364581"/>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FFFFFF"/>
                  </a:solidFill>
                </a:ln>
              </p:spPr>
            </p:sp>
            <p:sp>
              <p:nvSpPr>
                <p:cNvPr id="128" name="Freeform 128"/>
                <p:cNvSpPr/>
                <p:nvPr/>
              </p:nvSpPr>
              <p:spPr>
                <a:xfrm>
                  <a:off x="3257550" y="2312194"/>
                  <a:ext cx="9525" cy="96044"/>
                </a:xfrm>
                <a:custGeom>
                  <a:avLst/>
                  <a:gdLst/>
                  <a:ahLst/>
                  <a:cxnLst/>
                  <a:rect l="l" t="t" r="r" b="b"/>
                  <a:pathLst>
                    <a:path w="9525" h="96044">
                      <a:moveTo>
                        <a:pt x="0" y="96044"/>
                      </a:moveTo>
                      <a:lnTo>
                        <a:pt x="0" y="0"/>
                      </a:lnTo>
                    </a:path>
                  </a:pathLst>
                </a:custGeom>
                <a:noFill/>
                <a:ln w="17463">
                  <a:solidFill>
                    <a:srgbClr val="FFFFFF"/>
                  </a:solidFill>
                </a:ln>
              </p:spPr>
            </p:sp>
            <p:sp>
              <p:nvSpPr>
                <p:cNvPr id="129" name="Freeform 129"/>
                <p:cNvSpPr/>
                <p:nvPr/>
              </p:nvSpPr>
              <p:spPr>
                <a:xfrm>
                  <a:off x="3231356" y="2312194"/>
                  <a:ext cx="52388" cy="26194"/>
                </a:xfrm>
                <a:custGeom>
                  <a:avLst/>
                  <a:gdLst/>
                  <a:ahLst/>
                  <a:cxnLst/>
                  <a:rect l="l" t="t" r="r" b="b"/>
                  <a:pathLst>
                    <a:path w="52388" h="26194">
                      <a:moveTo>
                        <a:pt x="0" y="26194"/>
                      </a:moveTo>
                      <a:lnTo>
                        <a:pt x="26194" y="0"/>
                      </a:lnTo>
                      <a:lnTo>
                        <a:pt x="52388" y="26194"/>
                      </a:lnTo>
                    </a:path>
                  </a:pathLst>
                </a:custGeom>
                <a:noFill/>
                <a:ln w="17463">
                  <a:solidFill>
                    <a:srgbClr val="FFFFFF"/>
                  </a:solidFill>
                </a:ln>
              </p:spPr>
            </p:sp>
          </p:grpSp>
          <p:sp>
            <p:nvSpPr>
              <p:cNvPr id="131" name="TextBox 131"/>
              <p:cNvSpPr txBox="1"/>
              <p:nvPr/>
            </p:nvSpPr>
            <p:spPr>
              <a:xfrm>
                <a:off x="3035343" y="2628186"/>
                <a:ext cx="44441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触达客户​</a:t>
                </a:r>
              </a:p>
            </p:txBody>
          </p:sp>
          <p:sp>
            <p:nvSpPr>
              <p:cNvPr id="132" name="TextBox 132"/>
              <p:cNvSpPr txBox="1"/>
              <p:nvPr/>
            </p:nvSpPr>
            <p:spPr>
              <a:xfrm>
                <a:off x="3007325" y="2763202"/>
                <a:ext cx="5004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4,900​</a:t>
                </a:r>
              </a:p>
            </p:txBody>
          </p:sp>
          <p:sp>
            <p:nvSpPr>
              <p:cNvPr id="133" name="TextBox 133"/>
              <p:cNvSpPr txBox="1"/>
              <p:nvPr/>
            </p:nvSpPr>
            <p:spPr>
              <a:xfrm>
                <a:off x="3067012" y="2945130"/>
                <a:ext cx="381076" cy="119062"/>
              </a:xfrm>
              <a:prstGeom prst="rect">
                <a:avLst/>
              </a:prstGeom>
              <a:noFill/>
              <a:ln>
                <a:noFill/>
              </a:ln>
            </p:spPr>
            <p:txBody>
              <a:bodyPr wrap="none" lIns="0" tIns="0" rIns="0" bIns="0" anchor="t" anchorCtr="0">
                <a:spAutoFit/>
              </a:bodyPr>
              <a:lstStyle/>
              <a:p>
                <a:pPr algn="ctr"/>
                <a:r>
                  <a:rPr lang="zh-CN" sz="600" dirty="0">
                    <a:solidFill>
                      <a:srgbClr val="BFDDD6"/>
                    </a:solidFill>
                    <a:latin typeface="+mn-lt"/>
                    <a:ea typeface="+mn-ea"/>
                    <a:cs typeface="+mn-cs"/>
                  </a:rPr>
                  <a:t>(72.1%)​</a:t>
                </a:r>
              </a:p>
            </p:txBody>
          </p:sp>
          <p:sp>
            <p:nvSpPr>
              <p:cNvPr id="134" name="Freeform 134"/>
              <p:cNvSpPr/>
              <p:nvPr/>
            </p:nvSpPr>
            <p:spPr>
              <a:xfrm>
                <a:off x="4140009" y="240684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FFFFFF"/>
                </a:solidFill>
              </a:ln>
            </p:spPr>
          </p:sp>
          <p:sp>
            <p:nvSpPr>
              <p:cNvPr id="135" name="TextBox 135"/>
              <p:cNvSpPr txBox="1"/>
              <p:nvPr/>
            </p:nvSpPr>
            <p:spPr>
              <a:xfrm>
                <a:off x="4006893" y="2685336"/>
                <a:ext cx="44441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产生响应​</a:t>
                </a:r>
              </a:p>
            </p:txBody>
          </p:sp>
          <p:sp>
            <p:nvSpPr>
              <p:cNvPr id="136" name="TextBox 136"/>
              <p:cNvSpPr txBox="1"/>
              <p:nvPr/>
            </p:nvSpPr>
            <p:spPr>
              <a:xfrm>
                <a:off x="3978875" y="2820352"/>
                <a:ext cx="50044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2,260​</a:t>
                </a:r>
              </a:p>
            </p:txBody>
          </p:sp>
          <p:sp>
            <p:nvSpPr>
              <p:cNvPr id="137" name="TextBox 137"/>
              <p:cNvSpPr txBox="1"/>
              <p:nvPr/>
            </p:nvSpPr>
            <p:spPr>
              <a:xfrm>
                <a:off x="4038562" y="3002280"/>
                <a:ext cx="381076" cy="119062"/>
              </a:xfrm>
              <a:prstGeom prst="rect">
                <a:avLst/>
              </a:prstGeom>
              <a:noFill/>
              <a:ln>
                <a:noFill/>
              </a:ln>
            </p:spPr>
            <p:txBody>
              <a:bodyPr wrap="none" lIns="0" tIns="0" rIns="0" bIns="0" anchor="t" anchorCtr="0">
                <a:spAutoFit/>
              </a:bodyPr>
              <a:lstStyle/>
              <a:p>
                <a:pPr algn="ctr"/>
                <a:r>
                  <a:rPr lang="zh-CN" sz="600" dirty="0">
                    <a:solidFill>
                      <a:srgbClr val="BFDDD6"/>
                    </a:solidFill>
                    <a:latin typeface="+mn-lt"/>
                    <a:ea typeface="+mn-ea"/>
                    <a:cs typeface="+mn-cs"/>
                  </a:rPr>
                  <a:t>(46.1%)​</a:t>
                </a:r>
              </a:p>
            </p:txBody>
          </p:sp>
          <p:grpSp>
            <p:nvGrpSpPr>
              <p:cNvPr id="142" name="Group 142"/>
              <p:cNvGrpSpPr/>
              <p:nvPr/>
            </p:nvGrpSpPr>
            <p:grpSpPr>
              <a:xfrm>
                <a:off x="5117306" y="2497931"/>
                <a:ext cx="128587" cy="128588"/>
                <a:chOff x="5117306" y="2497931"/>
                <a:chExt cx="128587" cy="128588"/>
              </a:xfrm>
            </p:grpSpPr>
            <p:sp>
              <p:nvSpPr>
                <p:cNvPr id="138" name="Freeform 138"/>
                <p:cNvSpPr/>
                <p:nvPr/>
              </p:nvSpPr>
              <p:spPr>
                <a:xfrm>
                  <a:off x="5131594" y="24979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39" name="Freeform 139"/>
                <p:cNvSpPr/>
                <p:nvPr/>
              </p:nvSpPr>
              <p:spPr>
                <a:xfrm>
                  <a:off x="5117306" y="25836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140" name="Freeform 140"/>
                <p:cNvSpPr/>
                <p:nvPr/>
              </p:nvSpPr>
              <p:spPr>
                <a:xfrm>
                  <a:off x="5210175" y="24988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141" name="Freeform 141"/>
                <p:cNvSpPr/>
                <p:nvPr/>
              </p:nvSpPr>
              <p:spPr>
                <a:xfrm>
                  <a:off x="5224462" y="25847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143" name="TextBox 143"/>
              <p:cNvSpPr txBox="1"/>
              <p:nvPr/>
            </p:nvSpPr>
            <p:spPr>
              <a:xfrm>
                <a:off x="4890031" y="2712482"/>
                <a:ext cx="621238"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到店/远程面谈​</a:t>
                </a:r>
              </a:p>
            </p:txBody>
          </p:sp>
          <p:sp>
            <p:nvSpPr>
              <p:cNvPr id="144" name="TextBox 144"/>
              <p:cNvSpPr txBox="1"/>
              <p:nvPr/>
            </p:nvSpPr>
            <p:spPr>
              <a:xfrm>
                <a:off x="4967132" y="2828449"/>
                <a:ext cx="46703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1,180​</a:t>
                </a:r>
              </a:p>
            </p:txBody>
          </p:sp>
          <p:sp>
            <p:nvSpPr>
              <p:cNvPr id="145" name="TextBox 145"/>
              <p:cNvSpPr txBox="1"/>
              <p:nvPr/>
            </p:nvSpPr>
            <p:spPr>
              <a:xfrm>
                <a:off x="5022497" y="2987278"/>
                <a:ext cx="356306" cy="111919"/>
              </a:xfrm>
              <a:prstGeom prst="rect">
                <a:avLst/>
              </a:prstGeom>
              <a:noFill/>
              <a:ln>
                <a:noFill/>
              </a:ln>
            </p:spPr>
            <p:txBody>
              <a:bodyPr wrap="none" lIns="0" tIns="0" rIns="0" bIns="0" anchor="t" anchorCtr="0">
                <a:spAutoFit/>
              </a:bodyPr>
              <a:lstStyle/>
              <a:p>
                <a:pPr algn="ctr"/>
                <a:r>
                  <a:rPr lang="zh-CN" sz="560" dirty="0">
                    <a:solidFill>
                      <a:srgbClr val="DFF0EB"/>
                    </a:solidFill>
                    <a:latin typeface="+mn-lt"/>
                    <a:ea typeface="+mn-ea"/>
                    <a:cs typeface="+mn-cs"/>
                  </a:rPr>
                  <a:t>(52.2%)​</a:t>
                </a:r>
              </a:p>
            </p:txBody>
          </p:sp>
          <p:grpSp>
            <p:nvGrpSpPr>
              <p:cNvPr id="149" name="Group 149"/>
              <p:cNvGrpSpPr/>
              <p:nvPr/>
            </p:nvGrpSpPr>
            <p:grpSpPr>
              <a:xfrm>
                <a:off x="6050928" y="2571750"/>
                <a:ext cx="109182" cy="113602"/>
                <a:chOff x="6050928" y="2571750"/>
                <a:chExt cx="109182" cy="113602"/>
              </a:xfrm>
            </p:grpSpPr>
            <p:sp>
              <p:nvSpPr>
                <p:cNvPr id="146" name="Freeform 146"/>
                <p:cNvSpPr/>
                <p:nvPr/>
              </p:nvSpPr>
              <p:spPr>
                <a:xfrm>
                  <a:off x="6067425" y="25717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FFFFFF"/>
                  </a:solidFill>
                </a:ln>
              </p:spPr>
            </p:sp>
            <p:sp>
              <p:nvSpPr>
                <p:cNvPr id="147" name="Freeform 147"/>
                <p:cNvSpPr/>
                <p:nvPr/>
              </p:nvSpPr>
              <p:spPr>
                <a:xfrm>
                  <a:off x="6105525" y="2628900"/>
                  <a:ext cx="54585" cy="56452"/>
                </a:xfrm>
                <a:custGeom>
                  <a:avLst/>
                  <a:gdLst/>
                  <a:ahLst/>
                  <a:cxnLst/>
                  <a:rect l="l" t="t" r="r" b="b"/>
                  <a:pathLst>
                    <a:path w="54585" h="56452">
                      <a:moveTo>
                        <a:pt x="0" y="19050"/>
                      </a:moveTo>
                      <a:lnTo>
                        <a:pt x="21590" y="56452"/>
                      </a:lnTo>
                      <a:lnTo>
                        <a:pt x="31737" y="35922"/>
                      </a:lnTo>
                      <a:lnTo>
                        <a:pt x="54585" y="37395"/>
                      </a:lnTo>
                      <a:lnTo>
                        <a:pt x="32995" y="0"/>
                      </a:lnTo>
                    </a:path>
                  </a:pathLst>
                </a:custGeom>
                <a:noFill/>
                <a:ln w="12700">
                  <a:solidFill>
                    <a:srgbClr val="FFFFFF"/>
                  </a:solidFill>
                </a:ln>
              </p:spPr>
            </p:sp>
            <p:sp>
              <p:nvSpPr>
                <p:cNvPr id="148" name="Freeform 148"/>
                <p:cNvSpPr/>
                <p:nvPr/>
              </p:nvSpPr>
              <p:spPr>
                <a:xfrm>
                  <a:off x="6050928" y="2628900"/>
                  <a:ext cx="54585" cy="56445"/>
                </a:xfrm>
                <a:custGeom>
                  <a:avLst/>
                  <a:gdLst/>
                  <a:ahLst/>
                  <a:cxnLst/>
                  <a:rect l="l" t="t" r="r" b="b"/>
                  <a:pathLst>
                    <a:path w="54585" h="56445">
                      <a:moveTo>
                        <a:pt x="21590" y="0"/>
                      </a:moveTo>
                      <a:lnTo>
                        <a:pt x="0" y="37402"/>
                      </a:lnTo>
                      <a:lnTo>
                        <a:pt x="22847" y="35922"/>
                      </a:lnTo>
                      <a:lnTo>
                        <a:pt x="32995" y="56445"/>
                      </a:lnTo>
                      <a:lnTo>
                        <a:pt x="54585" y="19050"/>
                      </a:lnTo>
                    </a:path>
                  </a:pathLst>
                </a:custGeom>
                <a:noFill/>
                <a:ln w="12700">
                  <a:solidFill>
                    <a:srgbClr val="FFFFFF"/>
                  </a:solidFill>
                </a:ln>
              </p:spPr>
            </p:sp>
          </p:grpSp>
          <p:sp>
            <p:nvSpPr>
              <p:cNvPr id="150" name="TextBox 150"/>
              <p:cNvSpPr txBox="1"/>
              <p:nvPr/>
            </p:nvSpPr>
            <p:spPr>
              <a:xfrm>
                <a:off x="5904756" y="2750582"/>
                <a:ext cx="401538"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成功转化​</a:t>
                </a:r>
              </a:p>
            </p:txBody>
          </p:sp>
          <p:sp>
            <p:nvSpPr>
              <p:cNvPr id="151" name="TextBox 151"/>
              <p:cNvSpPr txBox="1"/>
              <p:nvPr/>
            </p:nvSpPr>
            <p:spPr>
              <a:xfrm>
                <a:off x="5808570" y="2855595"/>
                <a:ext cx="59391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520</a:t>
                </a:r>
                <a:r>
                  <a:rPr lang="zh-CN" sz="520" dirty="0">
                    <a:solidFill>
                      <a:srgbClr val="FFFFFF"/>
                    </a:solidFill>
                    <a:latin typeface="+mn-lt"/>
                    <a:ea typeface="+mn-ea"/>
                    <a:cs typeface="+mn-cs"/>
                  </a:rPr>
                  <a:t xml:space="preserve"> (44.1%)</a:t>
                </a:r>
                <a:r>
                  <a:rPr lang="zh-CN" sz="900" b="1" dirty="0">
                    <a:solidFill>
                      <a:srgbClr val="FFFFFF"/>
                    </a:solidFill>
                    <a:latin typeface="+mn-lt"/>
                    <a:ea typeface="+mn-ea"/>
                    <a:cs typeface="+mn-cs"/>
                  </a:rPr>
                  <a:t>​</a:t>
                </a:r>
              </a:p>
            </p:txBody>
          </p:sp>
        </p:grpSp>
        <p:grpSp>
          <p:nvGrpSpPr>
            <p:cNvPr id="161" name="stage-delta"/>
            <p:cNvGrpSpPr/>
            <p:nvPr/>
          </p:nvGrpSpPr>
          <p:grpSpPr>
            <a:xfrm>
              <a:off x="3042881" y="1954530"/>
              <a:ext cx="3253990" cy="528637"/>
              <a:chOff x="3042881" y="1954530"/>
              <a:chExt cx="3253990" cy="528637"/>
            </a:xfrm>
          </p:grpSpPr>
          <p:sp>
            <p:nvSpPr>
              <p:cNvPr id="153" name="TextBox 153"/>
              <p:cNvSpPr txBox="1"/>
              <p:nvPr/>
            </p:nvSpPr>
            <p:spPr>
              <a:xfrm>
                <a:off x="3069031" y="1954530"/>
                <a:ext cx="377038" cy="119062"/>
              </a:xfrm>
              <a:prstGeom prst="rect">
                <a:avLst/>
              </a:prstGeom>
              <a:noFill/>
              <a:ln>
                <a:noFill/>
              </a:ln>
            </p:spPr>
            <p:txBody>
              <a:bodyPr wrap="none" lIns="0" tIns="0" rIns="0" bIns="0" anchor="t" anchorCtr="0">
                <a:spAutoFit/>
              </a:bodyPr>
              <a:lstStyle/>
              <a:p>
                <a:pPr algn="ctr"/>
                <a:r>
                  <a:rPr lang="zh-CN" sz="600" dirty="0">
                    <a:solidFill>
                      <a:srgbClr val="9E402E"/>
                    </a:solidFill>
                    <a:latin typeface="+mn-lt"/>
                    <a:ea typeface="+mn-ea"/>
                    <a:cs typeface="+mn-cs"/>
                  </a:rPr>
                  <a:t>较上季度​</a:t>
                </a:r>
              </a:p>
            </p:txBody>
          </p:sp>
          <p:sp>
            <p:nvSpPr>
              <p:cNvPr id="154" name="TextBox 154"/>
              <p:cNvSpPr txBox="1"/>
              <p:nvPr/>
            </p:nvSpPr>
            <p:spPr>
              <a:xfrm>
                <a:off x="3042881" y="2059305"/>
                <a:ext cx="429337" cy="119062"/>
              </a:xfrm>
              <a:prstGeom prst="rect">
                <a:avLst/>
              </a:prstGeom>
              <a:noFill/>
              <a:ln>
                <a:noFill/>
              </a:ln>
            </p:spPr>
            <p:txBody>
              <a:bodyPr wrap="none" lIns="0" tIns="0" rIns="0" bIns="0" anchor="t" anchorCtr="0">
                <a:spAutoFit/>
              </a:bodyPr>
              <a:lstStyle/>
              <a:p>
                <a:pPr algn="ctr"/>
                <a:r>
                  <a:rPr lang="en-US" sz="600" b="1" dirty="0">
                    <a:solidFill>
                      <a:srgbClr val="9E402E"/>
                    </a:solidFill>
                    <a:latin typeface="+mn-lt"/>
                    <a:ea typeface="+mn-ea"/>
                    <a:cs typeface="+mn-cs"/>
                  </a:rPr>
                  <a:t>+12.3pct​</a:t>
                </a:r>
              </a:p>
            </p:txBody>
          </p:sp>
          <p:sp>
            <p:nvSpPr>
              <p:cNvPr id="155" name="TextBox 155"/>
              <p:cNvSpPr txBox="1"/>
              <p:nvPr/>
            </p:nvSpPr>
            <p:spPr>
              <a:xfrm>
                <a:off x="4040581" y="2049780"/>
                <a:ext cx="377038" cy="119062"/>
              </a:xfrm>
              <a:prstGeom prst="rect">
                <a:avLst/>
              </a:prstGeom>
              <a:noFill/>
              <a:ln>
                <a:noFill/>
              </a:ln>
            </p:spPr>
            <p:txBody>
              <a:bodyPr wrap="none" lIns="0" tIns="0" rIns="0" bIns="0" anchor="t" anchorCtr="0">
                <a:spAutoFit/>
              </a:bodyPr>
              <a:lstStyle/>
              <a:p>
                <a:pPr algn="ctr"/>
                <a:r>
                  <a:rPr lang="zh-CN" sz="600" dirty="0">
                    <a:solidFill>
                      <a:srgbClr val="9E402E"/>
                    </a:solidFill>
                    <a:latin typeface="+mn-lt"/>
                    <a:ea typeface="+mn-ea"/>
                    <a:cs typeface="+mn-cs"/>
                  </a:rPr>
                  <a:t>较上季度​</a:t>
                </a:r>
              </a:p>
            </p:txBody>
          </p:sp>
          <p:sp>
            <p:nvSpPr>
              <p:cNvPr id="156" name="TextBox 156"/>
              <p:cNvSpPr txBox="1"/>
              <p:nvPr/>
            </p:nvSpPr>
            <p:spPr>
              <a:xfrm>
                <a:off x="4037754" y="2154555"/>
                <a:ext cx="382692" cy="119062"/>
              </a:xfrm>
              <a:prstGeom prst="rect">
                <a:avLst/>
              </a:prstGeom>
              <a:noFill/>
              <a:ln>
                <a:noFill/>
              </a:ln>
            </p:spPr>
            <p:txBody>
              <a:bodyPr wrap="none" lIns="0" tIns="0" rIns="0" bIns="0" anchor="t" anchorCtr="0">
                <a:spAutoFit/>
              </a:bodyPr>
              <a:lstStyle/>
              <a:p>
                <a:pPr algn="ctr"/>
                <a:r>
                  <a:rPr lang="en-US" sz="600" b="1" dirty="0">
                    <a:solidFill>
                      <a:srgbClr val="9E402E"/>
                    </a:solidFill>
                    <a:latin typeface="+mn-lt"/>
                    <a:ea typeface="+mn-ea"/>
                    <a:cs typeface="+mn-cs"/>
                  </a:rPr>
                  <a:t>+8.1pct​</a:t>
                </a:r>
              </a:p>
            </p:txBody>
          </p:sp>
          <p:sp>
            <p:nvSpPr>
              <p:cNvPr id="157" name="TextBox 157"/>
              <p:cNvSpPr txBox="1"/>
              <p:nvPr/>
            </p:nvSpPr>
            <p:spPr>
              <a:xfrm>
                <a:off x="5012131" y="2164080"/>
                <a:ext cx="377038" cy="119062"/>
              </a:xfrm>
              <a:prstGeom prst="rect">
                <a:avLst/>
              </a:prstGeom>
              <a:noFill/>
              <a:ln>
                <a:noFill/>
              </a:ln>
            </p:spPr>
            <p:txBody>
              <a:bodyPr wrap="none" lIns="0" tIns="0" rIns="0" bIns="0" anchor="t" anchorCtr="0">
                <a:spAutoFit/>
              </a:bodyPr>
              <a:lstStyle/>
              <a:p>
                <a:pPr algn="ctr"/>
                <a:r>
                  <a:rPr lang="zh-CN" sz="600" dirty="0">
                    <a:solidFill>
                      <a:srgbClr val="9E402E"/>
                    </a:solidFill>
                    <a:latin typeface="+mn-lt"/>
                    <a:ea typeface="+mn-ea"/>
                    <a:cs typeface="+mn-cs"/>
                  </a:rPr>
                  <a:t>较上季度​</a:t>
                </a:r>
              </a:p>
            </p:txBody>
          </p:sp>
          <p:sp>
            <p:nvSpPr>
              <p:cNvPr id="158" name="TextBox 158"/>
              <p:cNvSpPr txBox="1"/>
              <p:nvPr/>
            </p:nvSpPr>
            <p:spPr>
              <a:xfrm>
                <a:off x="5009304" y="2268855"/>
                <a:ext cx="382692" cy="119062"/>
              </a:xfrm>
              <a:prstGeom prst="rect">
                <a:avLst/>
              </a:prstGeom>
              <a:noFill/>
              <a:ln>
                <a:noFill/>
              </a:ln>
            </p:spPr>
            <p:txBody>
              <a:bodyPr wrap="none" lIns="0" tIns="0" rIns="0" bIns="0" anchor="t" anchorCtr="0">
                <a:spAutoFit/>
              </a:bodyPr>
              <a:lstStyle/>
              <a:p>
                <a:pPr algn="ctr"/>
                <a:r>
                  <a:rPr lang="en-US" sz="600" b="1" dirty="0">
                    <a:solidFill>
                      <a:srgbClr val="9E402E"/>
                    </a:solidFill>
                    <a:latin typeface="+mn-lt"/>
                    <a:ea typeface="+mn-ea"/>
                    <a:cs typeface="+mn-cs"/>
                  </a:rPr>
                  <a:t>+5.6pct​</a:t>
                </a:r>
              </a:p>
            </p:txBody>
          </p:sp>
          <p:sp>
            <p:nvSpPr>
              <p:cNvPr id="159" name="TextBox 159"/>
              <p:cNvSpPr txBox="1"/>
              <p:nvPr/>
            </p:nvSpPr>
            <p:spPr>
              <a:xfrm>
                <a:off x="5917006" y="2259330"/>
                <a:ext cx="377038" cy="119062"/>
              </a:xfrm>
              <a:prstGeom prst="rect">
                <a:avLst/>
              </a:prstGeom>
              <a:noFill/>
              <a:ln>
                <a:noFill/>
              </a:ln>
            </p:spPr>
            <p:txBody>
              <a:bodyPr wrap="none" lIns="0" tIns="0" rIns="0" bIns="0" anchor="t" anchorCtr="0">
                <a:spAutoFit/>
              </a:bodyPr>
              <a:lstStyle/>
              <a:p>
                <a:pPr algn="ctr"/>
                <a:r>
                  <a:rPr lang="zh-CN" sz="600" dirty="0">
                    <a:solidFill>
                      <a:srgbClr val="9E402E"/>
                    </a:solidFill>
                    <a:latin typeface="+mn-lt"/>
                    <a:ea typeface="+mn-ea"/>
                    <a:cs typeface="+mn-cs"/>
                  </a:rPr>
                  <a:t>较上季度​</a:t>
                </a:r>
              </a:p>
            </p:txBody>
          </p:sp>
          <p:sp>
            <p:nvSpPr>
              <p:cNvPr id="160" name="TextBox 160"/>
              <p:cNvSpPr txBox="1"/>
              <p:nvPr/>
            </p:nvSpPr>
            <p:spPr>
              <a:xfrm>
                <a:off x="5914179" y="2364105"/>
                <a:ext cx="382692" cy="119062"/>
              </a:xfrm>
              <a:prstGeom prst="rect">
                <a:avLst/>
              </a:prstGeom>
              <a:noFill/>
              <a:ln>
                <a:noFill/>
              </a:ln>
            </p:spPr>
            <p:txBody>
              <a:bodyPr wrap="none" lIns="0" tIns="0" rIns="0" bIns="0" anchor="t" anchorCtr="0">
                <a:spAutoFit/>
              </a:bodyPr>
              <a:lstStyle/>
              <a:p>
                <a:pPr algn="ctr"/>
                <a:r>
                  <a:rPr lang="en-US" sz="600" b="1" dirty="0">
                    <a:solidFill>
                      <a:srgbClr val="9E402E"/>
                    </a:solidFill>
                    <a:latin typeface="+mn-lt"/>
                    <a:ea typeface="+mn-ea"/>
                    <a:cs typeface="+mn-cs"/>
                  </a:rPr>
                  <a:t>+2.9pct​</a:t>
                </a:r>
              </a:p>
            </p:txBody>
          </p:sp>
        </p:grpSp>
        <p:grpSp>
          <p:nvGrpSpPr>
            <p:cNvPr id="174" name="stage-rates"/>
            <p:cNvGrpSpPr/>
            <p:nvPr/>
          </p:nvGrpSpPr>
          <p:grpSpPr>
            <a:xfrm>
              <a:off x="2838450" y="3448050"/>
              <a:ext cx="3638550" cy="327184"/>
              <a:chOff x="2838450" y="3448050"/>
              <a:chExt cx="3638550" cy="327184"/>
            </a:xfrm>
          </p:grpSpPr>
          <p:sp>
            <p:nvSpPr>
              <p:cNvPr id="162" name="Line 162"/>
              <p:cNvSpPr/>
              <p:nvPr/>
            </p:nvSpPr>
            <p:spPr>
              <a:xfrm>
                <a:off x="2838450" y="3448050"/>
                <a:ext cx="838200" cy="9525"/>
              </a:xfrm>
              <a:custGeom>
                <a:avLst/>
                <a:gdLst/>
                <a:ahLst/>
                <a:cxnLst/>
                <a:rect l="l" t="t" r="r" b="b"/>
                <a:pathLst>
                  <a:path w="838200" h="9525">
                    <a:moveTo>
                      <a:pt x="0" y="0"/>
                    </a:moveTo>
                    <a:lnTo>
                      <a:pt x="838200" y="0"/>
                    </a:lnTo>
                  </a:path>
                </a:pathLst>
              </a:custGeom>
              <a:noFill/>
              <a:ln w="9525">
                <a:solidFill>
                  <a:srgbClr val="C9988F"/>
                </a:solidFill>
              </a:ln>
            </p:spPr>
          </p:sp>
          <p:sp>
            <p:nvSpPr>
              <p:cNvPr id="163" name="TextBox 163"/>
              <p:cNvSpPr txBox="1"/>
              <p:nvPr/>
            </p:nvSpPr>
            <p:spPr>
              <a:xfrm>
                <a:off x="3089042" y="3508534"/>
                <a:ext cx="337015"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触达率​</a:t>
                </a:r>
              </a:p>
            </p:txBody>
          </p:sp>
          <p:sp>
            <p:nvSpPr>
              <p:cNvPr id="164" name="TextBox 164"/>
              <p:cNvSpPr txBox="1"/>
              <p:nvPr/>
            </p:nvSpPr>
            <p:spPr>
              <a:xfrm>
                <a:off x="3084580" y="3641884"/>
                <a:ext cx="345940"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72.1%​</a:t>
                </a:r>
              </a:p>
            </p:txBody>
          </p:sp>
          <p:sp>
            <p:nvSpPr>
              <p:cNvPr id="165" name="Line 165"/>
              <p:cNvSpPr/>
              <p:nvPr/>
            </p:nvSpPr>
            <p:spPr>
              <a:xfrm>
                <a:off x="3810000" y="3448050"/>
                <a:ext cx="838200" cy="9525"/>
              </a:xfrm>
              <a:custGeom>
                <a:avLst/>
                <a:gdLst/>
                <a:ahLst/>
                <a:cxnLst/>
                <a:rect l="l" t="t" r="r" b="b"/>
                <a:pathLst>
                  <a:path w="838200" h="9525">
                    <a:moveTo>
                      <a:pt x="0" y="0"/>
                    </a:moveTo>
                    <a:lnTo>
                      <a:pt x="838200" y="0"/>
                    </a:lnTo>
                  </a:path>
                </a:pathLst>
              </a:custGeom>
              <a:noFill/>
              <a:ln w="9525">
                <a:solidFill>
                  <a:srgbClr val="C9988F"/>
                </a:solidFill>
              </a:ln>
            </p:spPr>
          </p:sp>
          <p:sp>
            <p:nvSpPr>
              <p:cNvPr id="166" name="TextBox 166"/>
              <p:cNvSpPr txBox="1"/>
              <p:nvPr/>
            </p:nvSpPr>
            <p:spPr>
              <a:xfrm>
                <a:off x="4060592" y="3508534"/>
                <a:ext cx="337015"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响应率​</a:t>
                </a:r>
              </a:p>
            </p:txBody>
          </p:sp>
          <p:sp>
            <p:nvSpPr>
              <p:cNvPr id="167" name="TextBox 167"/>
              <p:cNvSpPr txBox="1"/>
              <p:nvPr/>
            </p:nvSpPr>
            <p:spPr>
              <a:xfrm>
                <a:off x="4056130" y="3641884"/>
                <a:ext cx="345940"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46.1%​</a:t>
                </a:r>
              </a:p>
            </p:txBody>
          </p:sp>
          <p:sp>
            <p:nvSpPr>
              <p:cNvPr id="168" name="Line 168"/>
              <p:cNvSpPr/>
              <p:nvPr/>
            </p:nvSpPr>
            <p:spPr>
              <a:xfrm>
                <a:off x="4781550" y="3448050"/>
                <a:ext cx="838200" cy="9525"/>
              </a:xfrm>
              <a:custGeom>
                <a:avLst/>
                <a:gdLst/>
                <a:ahLst/>
                <a:cxnLst/>
                <a:rect l="l" t="t" r="r" b="b"/>
                <a:pathLst>
                  <a:path w="838200" h="9525">
                    <a:moveTo>
                      <a:pt x="0" y="0"/>
                    </a:moveTo>
                    <a:lnTo>
                      <a:pt x="838200" y="0"/>
                    </a:lnTo>
                  </a:path>
                </a:pathLst>
              </a:custGeom>
              <a:noFill/>
              <a:ln w="9525">
                <a:solidFill>
                  <a:srgbClr val="C9988F"/>
                </a:solidFill>
              </a:ln>
            </p:spPr>
          </p:sp>
          <p:sp>
            <p:nvSpPr>
              <p:cNvPr id="169" name="TextBox 169"/>
              <p:cNvSpPr txBox="1"/>
              <p:nvPr/>
            </p:nvSpPr>
            <p:spPr>
              <a:xfrm>
                <a:off x="5032142" y="3508534"/>
                <a:ext cx="337015"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面谈率​</a:t>
                </a:r>
              </a:p>
            </p:txBody>
          </p:sp>
          <p:sp>
            <p:nvSpPr>
              <p:cNvPr id="170" name="TextBox 170"/>
              <p:cNvSpPr txBox="1"/>
              <p:nvPr/>
            </p:nvSpPr>
            <p:spPr>
              <a:xfrm>
                <a:off x="5027680" y="3641884"/>
                <a:ext cx="345940"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52.2%​</a:t>
                </a:r>
              </a:p>
            </p:txBody>
          </p:sp>
          <p:sp>
            <p:nvSpPr>
              <p:cNvPr id="171" name="Line 171"/>
              <p:cNvSpPr/>
              <p:nvPr/>
            </p:nvSpPr>
            <p:spPr>
              <a:xfrm>
                <a:off x="5753100" y="3448050"/>
                <a:ext cx="723900" cy="9525"/>
              </a:xfrm>
              <a:custGeom>
                <a:avLst/>
                <a:gdLst/>
                <a:ahLst/>
                <a:cxnLst/>
                <a:rect l="l" t="t" r="r" b="b"/>
                <a:pathLst>
                  <a:path w="723900" h="9525">
                    <a:moveTo>
                      <a:pt x="0" y="0"/>
                    </a:moveTo>
                    <a:lnTo>
                      <a:pt x="723900" y="0"/>
                    </a:lnTo>
                  </a:path>
                </a:pathLst>
              </a:custGeom>
              <a:noFill/>
              <a:ln w="9525">
                <a:solidFill>
                  <a:srgbClr val="C9988F"/>
                </a:solidFill>
              </a:ln>
            </p:spPr>
          </p:sp>
          <p:sp>
            <p:nvSpPr>
              <p:cNvPr id="172" name="TextBox 172"/>
              <p:cNvSpPr txBox="1"/>
              <p:nvPr/>
            </p:nvSpPr>
            <p:spPr>
              <a:xfrm>
                <a:off x="5937017" y="3508534"/>
                <a:ext cx="337015"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转化率​</a:t>
                </a:r>
              </a:p>
            </p:txBody>
          </p:sp>
          <p:sp>
            <p:nvSpPr>
              <p:cNvPr id="173" name="TextBox 173"/>
              <p:cNvSpPr txBox="1"/>
              <p:nvPr/>
            </p:nvSpPr>
            <p:spPr>
              <a:xfrm>
                <a:off x="5932555" y="3641884"/>
                <a:ext cx="345940"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44.1%​</a:t>
                </a:r>
              </a:p>
            </p:txBody>
          </p:sp>
        </p:grpSp>
      </p:grpSp>
      <p:grpSp>
        <p:nvGrpSpPr>
          <p:cNvPr id="242" name="cost-card"/>
          <p:cNvGrpSpPr/>
          <p:nvPr/>
        </p:nvGrpSpPr>
        <p:grpSpPr>
          <a:xfrm>
            <a:off x="6705600" y="1676400"/>
            <a:ext cx="5257800" cy="2209800"/>
            <a:chOff x="6705600" y="1676400"/>
            <a:chExt cx="5257800" cy="2209800"/>
          </a:xfrm>
        </p:grpSpPr>
        <p:sp>
          <p:nvSpPr>
            <p:cNvPr id="176" name="Rectangle 176"/>
            <p:cNvSpPr/>
            <p:nvPr/>
          </p:nvSpPr>
          <p:spPr>
            <a:xfrm>
              <a:off x="6705600" y="1676400"/>
              <a:ext cx="5257800" cy="2209800"/>
            </a:xfrm>
            <a:prstGeom prst="roundRect">
              <a:avLst>
                <a:gd name="adj" fmla="val 4310"/>
              </a:avLst>
            </a:prstGeom>
            <a:solidFill>
              <a:srgbClr val="F5FAF8"/>
            </a:solidFill>
            <a:ln w="9525">
              <a:solidFill>
                <a:srgbClr val="D9E8E2"/>
              </a:solidFill>
            </a:ln>
          </p:spPr>
        </p:sp>
        <p:sp>
          <p:nvSpPr>
            <p:cNvPr id="177" name="Rectangle 177"/>
            <p:cNvSpPr/>
            <p:nvPr/>
          </p:nvSpPr>
          <p:spPr>
            <a:xfrm>
              <a:off x="6819900" y="1771650"/>
              <a:ext cx="47625" cy="152400"/>
            </a:xfrm>
            <a:prstGeom prst="rect">
              <a:avLst/>
            </a:prstGeom>
            <a:solidFill>
              <a:srgbClr val="5B180B"/>
            </a:solidFill>
            <a:ln>
              <a:noFill/>
            </a:ln>
          </p:spPr>
        </p:sp>
        <p:sp>
          <p:nvSpPr>
            <p:cNvPr id="178" name="TextBox 178"/>
            <p:cNvSpPr txBox="1"/>
            <p:nvPr/>
          </p:nvSpPr>
          <p:spPr>
            <a:xfrm>
              <a:off x="6929438" y="1794272"/>
              <a:ext cx="1601117"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各渠道触达效果及成本表现​</a:t>
              </a:r>
            </a:p>
          </p:txBody>
        </p:sp>
        <p:grpSp>
          <p:nvGrpSpPr>
            <p:cNvPr id="191" name="Group 191"/>
            <p:cNvGrpSpPr/>
            <p:nvPr/>
          </p:nvGrpSpPr>
          <p:grpSpPr>
            <a:xfrm>
              <a:off x="6800850" y="1981200"/>
              <a:ext cx="5067300" cy="279797"/>
              <a:chOff x="6800850" y="1981200"/>
              <a:chExt cx="5067300" cy="279797"/>
            </a:xfrm>
          </p:grpSpPr>
          <p:sp>
            <p:nvSpPr>
              <p:cNvPr id="179" name="Rectangle 179"/>
              <p:cNvSpPr/>
              <p:nvPr/>
            </p:nvSpPr>
            <p:spPr>
              <a:xfrm>
                <a:off x="6800850" y="1981200"/>
                <a:ext cx="5067300" cy="266700"/>
              </a:xfrm>
              <a:prstGeom prst="rect">
                <a:avLst/>
              </a:prstGeom>
              <a:solidFill>
                <a:srgbClr val="5B180B"/>
              </a:solidFill>
              <a:ln>
                <a:noFill/>
              </a:ln>
            </p:spPr>
          </p:sp>
          <p:sp>
            <p:nvSpPr>
              <p:cNvPr id="180" name="TextBox 180"/>
              <p:cNvSpPr txBox="1"/>
              <p:nvPr/>
            </p:nvSpPr>
            <p:spPr>
              <a:xfrm>
                <a:off x="7101534" y="2075736"/>
                <a:ext cx="25588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渠道​</a:t>
                </a:r>
              </a:p>
            </p:txBody>
          </p:sp>
          <p:sp>
            <p:nvSpPr>
              <p:cNvPr id="181" name="TextBox 181"/>
              <p:cNvSpPr txBox="1"/>
              <p:nvPr/>
            </p:nvSpPr>
            <p:spPr>
              <a:xfrm>
                <a:off x="7863203" y="20281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客户名单​</a:t>
                </a:r>
              </a:p>
            </p:txBody>
          </p:sp>
          <p:sp>
            <p:nvSpPr>
              <p:cNvPr id="182" name="TextBox 182"/>
              <p:cNvSpPr txBox="1"/>
              <p:nvPr/>
            </p:nvSpPr>
            <p:spPr>
              <a:xfrm>
                <a:off x="7948150" y="2149078"/>
                <a:ext cx="277150"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（人）​</a:t>
                </a:r>
              </a:p>
            </p:txBody>
          </p:sp>
          <p:sp>
            <p:nvSpPr>
              <p:cNvPr id="183" name="TextBox 183"/>
              <p:cNvSpPr txBox="1"/>
              <p:nvPr/>
            </p:nvSpPr>
            <p:spPr>
              <a:xfrm>
                <a:off x="8711093" y="2028111"/>
                <a:ext cx="35146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触达率​</a:t>
                </a:r>
              </a:p>
            </p:txBody>
          </p:sp>
          <p:sp>
            <p:nvSpPr>
              <p:cNvPr id="184" name="TextBox 184"/>
              <p:cNvSpPr txBox="1"/>
              <p:nvPr/>
            </p:nvSpPr>
            <p:spPr>
              <a:xfrm>
                <a:off x="8757674" y="2149078"/>
                <a:ext cx="258303"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a:t>
                </a:r>
              </a:p>
            </p:txBody>
          </p:sp>
          <p:sp>
            <p:nvSpPr>
              <p:cNvPr id="185" name="TextBox 185"/>
              <p:cNvSpPr txBox="1"/>
              <p:nvPr/>
            </p:nvSpPr>
            <p:spPr>
              <a:xfrm>
                <a:off x="9511193" y="2028111"/>
                <a:ext cx="35146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响应率​</a:t>
                </a:r>
              </a:p>
            </p:txBody>
          </p:sp>
          <p:sp>
            <p:nvSpPr>
              <p:cNvPr id="186" name="TextBox 186"/>
              <p:cNvSpPr txBox="1"/>
              <p:nvPr/>
            </p:nvSpPr>
            <p:spPr>
              <a:xfrm>
                <a:off x="9557774" y="2149078"/>
                <a:ext cx="258303"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a:t>
                </a:r>
              </a:p>
            </p:txBody>
          </p:sp>
          <p:sp>
            <p:nvSpPr>
              <p:cNvPr id="187" name="TextBox 187"/>
              <p:cNvSpPr txBox="1"/>
              <p:nvPr/>
            </p:nvSpPr>
            <p:spPr>
              <a:xfrm>
                <a:off x="10311293" y="2028111"/>
                <a:ext cx="35146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转化率​</a:t>
                </a:r>
              </a:p>
            </p:txBody>
          </p:sp>
          <p:sp>
            <p:nvSpPr>
              <p:cNvPr id="188" name="TextBox 188"/>
              <p:cNvSpPr txBox="1"/>
              <p:nvPr/>
            </p:nvSpPr>
            <p:spPr>
              <a:xfrm>
                <a:off x="10357874" y="2149078"/>
                <a:ext cx="258303"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a:t>
                </a:r>
              </a:p>
            </p:txBody>
          </p:sp>
          <p:sp>
            <p:nvSpPr>
              <p:cNvPr id="189" name="TextBox 189"/>
              <p:cNvSpPr txBox="1"/>
              <p:nvPr/>
            </p:nvSpPr>
            <p:spPr>
              <a:xfrm>
                <a:off x="11168378" y="2028111"/>
                <a:ext cx="44704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获客成本​</a:t>
                </a:r>
              </a:p>
            </p:txBody>
          </p:sp>
          <p:sp>
            <p:nvSpPr>
              <p:cNvPr id="190" name="TextBox 190"/>
              <p:cNvSpPr txBox="1"/>
              <p:nvPr/>
            </p:nvSpPr>
            <p:spPr>
              <a:xfrm>
                <a:off x="11194900" y="2149078"/>
                <a:ext cx="394000"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（元/户）​</a:t>
                </a:r>
              </a:p>
            </p:txBody>
          </p:sp>
        </p:grpSp>
        <p:grpSp>
          <p:nvGrpSpPr>
            <p:cNvPr id="241" name="cost-rows"/>
            <p:cNvGrpSpPr/>
            <p:nvPr/>
          </p:nvGrpSpPr>
          <p:grpSpPr>
            <a:xfrm>
              <a:off x="6800850" y="2247900"/>
              <a:ext cx="5067300" cy="1504950"/>
              <a:chOff x="6800850" y="2247900"/>
              <a:chExt cx="5067300" cy="1504950"/>
            </a:xfrm>
          </p:grpSpPr>
          <p:sp>
            <p:nvSpPr>
              <p:cNvPr id="192" name="Rectangle 192"/>
              <p:cNvSpPr/>
              <p:nvPr/>
            </p:nvSpPr>
            <p:spPr>
              <a:xfrm>
                <a:off x="6800850" y="2247900"/>
                <a:ext cx="5067300" cy="209550"/>
              </a:xfrm>
              <a:prstGeom prst="rect">
                <a:avLst/>
              </a:prstGeom>
              <a:solidFill>
                <a:srgbClr val="FFFFFF"/>
              </a:solidFill>
              <a:ln w="7620">
                <a:solidFill>
                  <a:srgbClr val="D9E8E2"/>
                </a:solidFill>
              </a:ln>
            </p:spPr>
          </p:sp>
          <p:sp>
            <p:nvSpPr>
              <p:cNvPr id="193" name="TextBox 193"/>
              <p:cNvSpPr txBox="1"/>
              <p:nvPr/>
            </p:nvSpPr>
            <p:spPr>
              <a:xfrm>
                <a:off x="6993629" y="2309812"/>
                <a:ext cx="47169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手机银行​</a:t>
                </a:r>
              </a:p>
            </p:txBody>
          </p:sp>
          <p:sp>
            <p:nvSpPr>
              <p:cNvPr id="194" name="TextBox 194"/>
              <p:cNvSpPr txBox="1"/>
              <p:nvPr/>
            </p:nvSpPr>
            <p:spPr>
              <a:xfrm>
                <a:off x="7915370" y="2309812"/>
                <a:ext cx="342710"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2,000​</a:t>
                </a:r>
              </a:p>
            </p:txBody>
          </p:sp>
          <p:sp>
            <p:nvSpPr>
              <p:cNvPr id="195" name="TextBox 195"/>
              <p:cNvSpPr txBox="1"/>
              <p:nvPr/>
            </p:nvSpPr>
            <p:spPr>
              <a:xfrm>
                <a:off x="8743236" y="230981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85.0​</a:t>
                </a:r>
              </a:p>
            </p:txBody>
          </p:sp>
          <p:sp>
            <p:nvSpPr>
              <p:cNvPr id="196" name="TextBox 196"/>
              <p:cNvSpPr txBox="1"/>
              <p:nvPr/>
            </p:nvSpPr>
            <p:spPr>
              <a:xfrm>
                <a:off x="9543336" y="230981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51.8​</a:t>
                </a:r>
              </a:p>
            </p:txBody>
          </p:sp>
          <p:sp>
            <p:nvSpPr>
              <p:cNvPr id="197" name="TextBox 197"/>
              <p:cNvSpPr txBox="1"/>
              <p:nvPr/>
            </p:nvSpPr>
            <p:spPr>
              <a:xfrm>
                <a:off x="10343436" y="230981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12.1​</a:t>
                </a:r>
              </a:p>
            </p:txBody>
          </p:sp>
          <p:sp>
            <p:nvSpPr>
              <p:cNvPr id="198" name="TextBox 198"/>
              <p:cNvSpPr txBox="1"/>
              <p:nvPr/>
            </p:nvSpPr>
            <p:spPr>
              <a:xfrm>
                <a:off x="11299677" y="2309812"/>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28​</a:t>
                </a:r>
              </a:p>
            </p:txBody>
          </p:sp>
          <p:sp>
            <p:nvSpPr>
              <p:cNvPr id="199" name="Rectangle 199"/>
              <p:cNvSpPr/>
              <p:nvPr/>
            </p:nvSpPr>
            <p:spPr>
              <a:xfrm>
                <a:off x="6800850" y="2457450"/>
                <a:ext cx="5067300" cy="209550"/>
              </a:xfrm>
              <a:prstGeom prst="rect">
                <a:avLst/>
              </a:prstGeom>
              <a:solidFill>
                <a:srgbClr val="F7FBF9"/>
              </a:solidFill>
              <a:ln w="7620">
                <a:solidFill>
                  <a:srgbClr val="D9E8E2"/>
                </a:solidFill>
              </a:ln>
            </p:spPr>
          </p:sp>
          <p:sp>
            <p:nvSpPr>
              <p:cNvPr id="200" name="TextBox 200"/>
              <p:cNvSpPr txBox="1"/>
              <p:nvPr/>
            </p:nvSpPr>
            <p:spPr>
              <a:xfrm>
                <a:off x="6993629" y="2519362"/>
                <a:ext cx="47169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企业微信​</a:t>
                </a:r>
              </a:p>
            </p:txBody>
          </p:sp>
          <p:sp>
            <p:nvSpPr>
              <p:cNvPr id="201" name="TextBox 201"/>
              <p:cNvSpPr txBox="1"/>
              <p:nvPr/>
            </p:nvSpPr>
            <p:spPr>
              <a:xfrm>
                <a:off x="7915370" y="2519362"/>
                <a:ext cx="342710"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1,200​</a:t>
                </a:r>
              </a:p>
            </p:txBody>
          </p:sp>
          <p:sp>
            <p:nvSpPr>
              <p:cNvPr id="202" name="TextBox 202"/>
              <p:cNvSpPr txBox="1"/>
              <p:nvPr/>
            </p:nvSpPr>
            <p:spPr>
              <a:xfrm>
                <a:off x="8743236" y="251936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78.3​</a:t>
                </a:r>
              </a:p>
            </p:txBody>
          </p:sp>
          <p:sp>
            <p:nvSpPr>
              <p:cNvPr id="203" name="TextBox 203"/>
              <p:cNvSpPr txBox="1"/>
              <p:nvPr/>
            </p:nvSpPr>
            <p:spPr>
              <a:xfrm>
                <a:off x="9543336" y="251936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49.5​</a:t>
                </a:r>
              </a:p>
            </p:txBody>
          </p:sp>
          <p:sp>
            <p:nvSpPr>
              <p:cNvPr id="204" name="TextBox 204"/>
              <p:cNvSpPr txBox="1"/>
              <p:nvPr/>
            </p:nvSpPr>
            <p:spPr>
              <a:xfrm>
                <a:off x="10343436" y="251936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10.8​</a:t>
                </a:r>
              </a:p>
            </p:txBody>
          </p:sp>
          <p:sp>
            <p:nvSpPr>
              <p:cNvPr id="205" name="TextBox 205"/>
              <p:cNvSpPr txBox="1"/>
              <p:nvPr/>
            </p:nvSpPr>
            <p:spPr>
              <a:xfrm>
                <a:off x="11299677" y="2519362"/>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42​</a:t>
                </a:r>
              </a:p>
            </p:txBody>
          </p:sp>
          <p:sp>
            <p:nvSpPr>
              <p:cNvPr id="206" name="Rectangle 206"/>
              <p:cNvSpPr/>
              <p:nvPr/>
            </p:nvSpPr>
            <p:spPr>
              <a:xfrm>
                <a:off x="6800850" y="2667000"/>
                <a:ext cx="5067300" cy="209550"/>
              </a:xfrm>
              <a:prstGeom prst="rect">
                <a:avLst/>
              </a:prstGeom>
              <a:solidFill>
                <a:srgbClr val="FFFFFF"/>
              </a:solidFill>
              <a:ln w="7620">
                <a:solidFill>
                  <a:srgbClr val="D9E8E2"/>
                </a:solidFill>
              </a:ln>
            </p:spPr>
          </p:sp>
          <p:sp>
            <p:nvSpPr>
              <p:cNvPr id="207" name="TextBox 207"/>
              <p:cNvSpPr txBox="1"/>
              <p:nvPr/>
            </p:nvSpPr>
            <p:spPr>
              <a:xfrm>
                <a:off x="6993629" y="2728912"/>
                <a:ext cx="47169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电话外呼​</a:t>
                </a:r>
              </a:p>
            </p:txBody>
          </p:sp>
          <p:sp>
            <p:nvSpPr>
              <p:cNvPr id="208" name="TextBox 208"/>
              <p:cNvSpPr txBox="1"/>
              <p:nvPr/>
            </p:nvSpPr>
            <p:spPr>
              <a:xfrm>
                <a:off x="7915370" y="2728912"/>
                <a:ext cx="342710"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1,200​</a:t>
                </a:r>
              </a:p>
            </p:txBody>
          </p:sp>
          <p:sp>
            <p:nvSpPr>
              <p:cNvPr id="209" name="TextBox 209"/>
              <p:cNvSpPr txBox="1"/>
              <p:nvPr/>
            </p:nvSpPr>
            <p:spPr>
              <a:xfrm>
                <a:off x="8743236" y="272891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66.7​</a:t>
                </a:r>
              </a:p>
            </p:txBody>
          </p:sp>
          <p:sp>
            <p:nvSpPr>
              <p:cNvPr id="210" name="TextBox 210"/>
              <p:cNvSpPr txBox="1"/>
              <p:nvPr/>
            </p:nvSpPr>
            <p:spPr>
              <a:xfrm>
                <a:off x="9543336" y="272891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38.8​</a:t>
                </a:r>
              </a:p>
            </p:txBody>
          </p:sp>
          <p:sp>
            <p:nvSpPr>
              <p:cNvPr id="211" name="TextBox 211"/>
              <p:cNvSpPr txBox="1"/>
              <p:nvPr/>
            </p:nvSpPr>
            <p:spPr>
              <a:xfrm>
                <a:off x="10371201" y="27289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8.6​</a:t>
                </a:r>
              </a:p>
            </p:txBody>
          </p:sp>
          <p:sp>
            <p:nvSpPr>
              <p:cNvPr id="212" name="TextBox 212"/>
              <p:cNvSpPr txBox="1"/>
              <p:nvPr/>
            </p:nvSpPr>
            <p:spPr>
              <a:xfrm>
                <a:off x="11299677" y="2728912"/>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55​</a:t>
                </a:r>
              </a:p>
            </p:txBody>
          </p:sp>
          <p:sp>
            <p:nvSpPr>
              <p:cNvPr id="213" name="Rectangle 213"/>
              <p:cNvSpPr/>
              <p:nvPr/>
            </p:nvSpPr>
            <p:spPr>
              <a:xfrm>
                <a:off x="6800850" y="2876550"/>
                <a:ext cx="5067300" cy="209550"/>
              </a:xfrm>
              <a:prstGeom prst="rect">
                <a:avLst/>
              </a:prstGeom>
              <a:solidFill>
                <a:srgbClr val="F7FBF9"/>
              </a:solidFill>
              <a:ln w="7620">
                <a:solidFill>
                  <a:srgbClr val="D9E8E2"/>
                </a:solidFill>
              </a:ln>
            </p:spPr>
          </p:sp>
          <p:sp>
            <p:nvSpPr>
              <p:cNvPr id="214" name="TextBox 214"/>
              <p:cNvSpPr txBox="1"/>
              <p:nvPr/>
            </p:nvSpPr>
            <p:spPr>
              <a:xfrm>
                <a:off x="7094594" y="2938462"/>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短信​</a:t>
                </a:r>
              </a:p>
            </p:txBody>
          </p:sp>
          <p:sp>
            <p:nvSpPr>
              <p:cNvPr id="215" name="TextBox 215"/>
              <p:cNvSpPr txBox="1"/>
              <p:nvPr/>
            </p:nvSpPr>
            <p:spPr>
              <a:xfrm>
                <a:off x="7915370" y="2938462"/>
                <a:ext cx="342710"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1,000​</a:t>
                </a:r>
              </a:p>
            </p:txBody>
          </p:sp>
          <p:sp>
            <p:nvSpPr>
              <p:cNvPr id="216" name="TextBox 216"/>
              <p:cNvSpPr txBox="1"/>
              <p:nvPr/>
            </p:nvSpPr>
            <p:spPr>
              <a:xfrm>
                <a:off x="8743236" y="293846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62.0​</a:t>
                </a:r>
              </a:p>
            </p:txBody>
          </p:sp>
          <p:sp>
            <p:nvSpPr>
              <p:cNvPr id="217" name="TextBox 217"/>
              <p:cNvSpPr txBox="1"/>
              <p:nvPr/>
            </p:nvSpPr>
            <p:spPr>
              <a:xfrm>
                <a:off x="9543336" y="293846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28.4​</a:t>
                </a:r>
              </a:p>
            </p:txBody>
          </p:sp>
          <p:sp>
            <p:nvSpPr>
              <p:cNvPr id="218" name="TextBox 218"/>
              <p:cNvSpPr txBox="1"/>
              <p:nvPr/>
            </p:nvSpPr>
            <p:spPr>
              <a:xfrm>
                <a:off x="10371201" y="29384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5.2​</a:t>
                </a:r>
              </a:p>
            </p:txBody>
          </p:sp>
          <p:sp>
            <p:nvSpPr>
              <p:cNvPr id="219" name="TextBox 219"/>
              <p:cNvSpPr txBox="1"/>
              <p:nvPr/>
            </p:nvSpPr>
            <p:spPr>
              <a:xfrm>
                <a:off x="11299677" y="2938462"/>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18​</a:t>
                </a:r>
              </a:p>
            </p:txBody>
          </p:sp>
          <p:sp>
            <p:nvSpPr>
              <p:cNvPr id="220" name="Rectangle 220"/>
              <p:cNvSpPr/>
              <p:nvPr/>
            </p:nvSpPr>
            <p:spPr>
              <a:xfrm>
                <a:off x="6800850" y="3086100"/>
                <a:ext cx="5067300" cy="209550"/>
              </a:xfrm>
              <a:prstGeom prst="rect">
                <a:avLst/>
              </a:prstGeom>
              <a:solidFill>
                <a:srgbClr val="FFFFFF"/>
              </a:solidFill>
              <a:ln w="7620">
                <a:solidFill>
                  <a:srgbClr val="D9E8E2"/>
                </a:solidFill>
              </a:ln>
            </p:spPr>
          </p:sp>
          <p:sp>
            <p:nvSpPr>
              <p:cNvPr id="221" name="TextBox 221"/>
              <p:cNvSpPr txBox="1"/>
              <p:nvPr/>
            </p:nvSpPr>
            <p:spPr>
              <a:xfrm>
                <a:off x="7094594" y="3148012"/>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厅堂​</a:t>
                </a:r>
              </a:p>
            </p:txBody>
          </p:sp>
          <p:sp>
            <p:nvSpPr>
              <p:cNvPr id="222" name="TextBox 222"/>
              <p:cNvSpPr txBox="1"/>
              <p:nvPr/>
            </p:nvSpPr>
            <p:spPr>
              <a:xfrm>
                <a:off x="7970901" y="31480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800​</a:t>
                </a:r>
              </a:p>
            </p:txBody>
          </p:sp>
          <p:sp>
            <p:nvSpPr>
              <p:cNvPr id="223" name="TextBox 223"/>
              <p:cNvSpPr txBox="1"/>
              <p:nvPr/>
            </p:nvSpPr>
            <p:spPr>
              <a:xfrm>
                <a:off x="8743236" y="314801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75.0​</a:t>
                </a:r>
              </a:p>
            </p:txBody>
          </p:sp>
          <p:sp>
            <p:nvSpPr>
              <p:cNvPr id="224" name="TextBox 224"/>
              <p:cNvSpPr txBox="1"/>
              <p:nvPr/>
            </p:nvSpPr>
            <p:spPr>
              <a:xfrm>
                <a:off x="9543336" y="314801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47.5​</a:t>
                </a:r>
              </a:p>
            </p:txBody>
          </p:sp>
          <p:sp>
            <p:nvSpPr>
              <p:cNvPr id="225" name="TextBox 225"/>
              <p:cNvSpPr txBox="1"/>
              <p:nvPr/>
            </p:nvSpPr>
            <p:spPr>
              <a:xfrm>
                <a:off x="10371201" y="314801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9.8​</a:t>
                </a:r>
              </a:p>
            </p:txBody>
          </p:sp>
          <p:sp>
            <p:nvSpPr>
              <p:cNvPr id="226" name="TextBox 226"/>
              <p:cNvSpPr txBox="1"/>
              <p:nvPr/>
            </p:nvSpPr>
            <p:spPr>
              <a:xfrm>
                <a:off x="11299677" y="3148012"/>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65​</a:t>
                </a:r>
              </a:p>
            </p:txBody>
          </p:sp>
          <p:sp>
            <p:nvSpPr>
              <p:cNvPr id="227" name="Rectangle 227"/>
              <p:cNvSpPr/>
              <p:nvPr/>
            </p:nvSpPr>
            <p:spPr>
              <a:xfrm>
                <a:off x="6800850" y="3295650"/>
                <a:ext cx="5067300" cy="209550"/>
              </a:xfrm>
              <a:prstGeom prst="rect">
                <a:avLst/>
              </a:prstGeom>
              <a:solidFill>
                <a:srgbClr val="F7FBF9"/>
              </a:solidFill>
              <a:ln w="7620">
                <a:solidFill>
                  <a:srgbClr val="D9E8E2"/>
                </a:solidFill>
              </a:ln>
            </p:spPr>
          </p:sp>
          <p:sp>
            <p:nvSpPr>
              <p:cNvPr id="228" name="TextBox 228"/>
              <p:cNvSpPr txBox="1"/>
              <p:nvPr/>
            </p:nvSpPr>
            <p:spPr>
              <a:xfrm>
                <a:off x="7094594" y="3357562"/>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上门​</a:t>
                </a:r>
              </a:p>
            </p:txBody>
          </p:sp>
          <p:sp>
            <p:nvSpPr>
              <p:cNvPr id="229" name="TextBox 229"/>
              <p:cNvSpPr txBox="1"/>
              <p:nvPr/>
            </p:nvSpPr>
            <p:spPr>
              <a:xfrm>
                <a:off x="7970901" y="3357562"/>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600​</a:t>
                </a:r>
              </a:p>
            </p:txBody>
          </p:sp>
          <p:sp>
            <p:nvSpPr>
              <p:cNvPr id="230" name="TextBox 230"/>
              <p:cNvSpPr txBox="1"/>
              <p:nvPr/>
            </p:nvSpPr>
            <p:spPr>
              <a:xfrm>
                <a:off x="8743236" y="335756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70.0​</a:t>
                </a:r>
              </a:p>
            </p:txBody>
          </p:sp>
          <p:sp>
            <p:nvSpPr>
              <p:cNvPr id="231" name="TextBox 231"/>
              <p:cNvSpPr txBox="1"/>
              <p:nvPr/>
            </p:nvSpPr>
            <p:spPr>
              <a:xfrm>
                <a:off x="9543336" y="335756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50.0​</a:t>
                </a:r>
              </a:p>
            </p:txBody>
          </p:sp>
          <p:sp>
            <p:nvSpPr>
              <p:cNvPr id="232" name="TextBox 232"/>
              <p:cNvSpPr txBox="1"/>
              <p:nvPr/>
            </p:nvSpPr>
            <p:spPr>
              <a:xfrm>
                <a:off x="10343436" y="3357562"/>
                <a:ext cx="287179"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15.0​</a:t>
                </a:r>
              </a:p>
            </p:txBody>
          </p:sp>
          <p:sp>
            <p:nvSpPr>
              <p:cNvPr id="233" name="TextBox 233"/>
              <p:cNvSpPr txBox="1"/>
              <p:nvPr/>
            </p:nvSpPr>
            <p:spPr>
              <a:xfrm>
                <a:off x="11270523" y="3357562"/>
                <a:ext cx="242754"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120​</a:t>
                </a:r>
              </a:p>
            </p:txBody>
          </p:sp>
          <p:sp>
            <p:nvSpPr>
              <p:cNvPr id="234" name="Rectangle 234"/>
              <p:cNvSpPr/>
              <p:nvPr/>
            </p:nvSpPr>
            <p:spPr>
              <a:xfrm>
                <a:off x="6800850" y="3505200"/>
                <a:ext cx="5067300" cy="247650"/>
              </a:xfrm>
              <a:prstGeom prst="rect">
                <a:avLst/>
              </a:prstGeom>
              <a:solidFill>
                <a:srgbClr val="E9F4F0"/>
              </a:solidFill>
              <a:ln>
                <a:noFill/>
              </a:ln>
            </p:spPr>
          </p:sp>
          <p:sp>
            <p:nvSpPr>
              <p:cNvPr id="235" name="TextBox 235"/>
              <p:cNvSpPr txBox="1"/>
              <p:nvPr/>
            </p:nvSpPr>
            <p:spPr>
              <a:xfrm>
                <a:off x="7094594" y="3586162"/>
                <a:ext cx="26976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合计​</a:t>
                </a:r>
              </a:p>
            </p:txBody>
          </p:sp>
          <p:sp>
            <p:nvSpPr>
              <p:cNvPr id="236" name="TextBox 236"/>
              <p:cNvSpPr txBox="1"/>
              <p:nvPr/>
            </p:nvSpPr>
            <p:spPr>
              <a:xfrm>
                <a:off x="7907041" y="3586162"/>
                <a:ext cx="359369"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6,800​</a:t>
                </a:r>
              </a:p>
            </p:txBody>
          </p:sp>
          <p:sp>
            <p:nvSpPr>
              <p:cNvPr id="237" name="TextBox 237"/>
              <p:cNvSpPr txBox="1"/>
              <p:nvPr/>
            </p:nvSpPr>
            <p:spPr>
              <a:xfrm>
                <a:off x="8736294" y="3586162"/>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72.1​</a:t>
                </a:r>
              </a:p>
            </p:txBody>
          </p:sp>
          <p:sp>
            <p:nvSpPr>
              <p:cNvPr id="238" name="TextBox 238"/>
              <p:cNvSpPr txBox="1"/>
              <p:nvPr/>
            </p:nvSpPr>
            <p:spPr>
              <a:xfrm>
                <a:off x="9536394" y="3586162"/>
                <a:ext cx="30106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46.1​</a:t>
                </a:r>
              </a:p>
            </p:txBody>
          </p:sp>
          <p:sp>
            <p:nvSpPr>
              <p:cNvPr id="239" name="TextBox 239"/>
              <p:cNvSpPr txBox="1"/>
              <p:nvPr/>
            </p:nvSpPr>
            <p:spPr>
              <a:xfrm>
                <a:off x="10365648" y="3586162"/>
                <a:ext cx="242754"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7.6​</a:t>
                </a:r>
              </a:p>
            </p:txBody>
          </p:sp>
          <p:sp>
            <p:nvSpPr>
              <p:cNvPr id="240" name="TextBox 240"/>
              <p:cNvSpPr txBox="1"/>
              <p:nvPr/>
            </p:nvSpPr>
            <p:spPr>
              <a:xfrm>
                <a:off x="11299677" y="3586162"/>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50​</a:t>
                </a:r>
              </a:p>
            </p:txBody>
          </p:sp>
        </p:grpSp>
      </p:grpSp>
      <p:grpSp>
        <p:nvGrpSpPr>
          <p:cNvPr id="423" name="week-card"/>
          <p:cNvGrpSpPr/>
          <p:nvPr/>
        </p:nvGrpSpPr>
        <p:grpSpPr>
          <a:xfrm>
            <a:off x="228600" y="4000500"/>
            <a:ext cx="8572500" cy="2781300"/>
            <a:chOff x="228600" y="4000500"/>
            <a:chExt cx="8572500" cy="2781300"/>
          </a:xfrm>
        </p:grpSpPr>
        <p:sp>
          <p:nvSpPr>
            <p:cNvPr id="243" name="Rectangle 243"/>
            <p:cNvSpPr/>
            <p:nvPr/>
          </p:nvSpPr>
          <p:spPr>
            <a:xfrm>
              <a:off x="228600" y="4000500"/>
              <a:ext cx="8572500" cy="2781300"/>
            </a:xfrm>
            <a:prstGeom prst="roundRect">
              <a:avLst>
                <a:gd name="adj" fmla="val 3425"/>
              </a:avLst>
            </a:prstGeom>
            <a:solidFill>
              <a:srgbClr val="F5FAF8"/>
            </a:solidFill>
            <a:ln w="9525">
              <a:solidFill>
                <a:srgbClr val="D9E8E2"/>
              </a:solidFill>
            </a:ln>
          </p:spPr>
        </p:sp>
        <p:sp>
          <p:nvSpPr>
            <p:cNvPr id="244" name="Rectangle 244"/>
            <p:cNvSpPr/>
            <p:nvPr/>
          </p:nvSpPr>
          <p:spPr>
            <a:xfrm>
              <a:off x="228600" y="4000500"/>
              <a:ext cx="914400" cy="2781300"/>
            </a:xfrm>
            <a:prstGeom prst="roundRect">
              <a:avLst>
                <a:gd name="adj" fmla="val 10417"/>
              </a:avLst>
            </a:prstGeom>
            <a:solidFill>
              <a:srgbClr val="5B180B"/>
            </a:solidFill>
            <a:ln>
              <a:noFill/>
            </a:ln>
          </p:spPr>
        </p:sp>
        <p:grpSp>
          <p:nvGrpSpPr>
            <p:cNvPr id="251" name="Group 251"/>
            <p:cNvGrpSpPr/>
            <p:nvPr/>
          </p:nvGrpSpPr>
          <p:grpSpPr>
            <a:xfrm>
              <a:off x="584200" y="4305300"/>
              <a:ext cx="203199" cy="228599"/>
              <a:chOff x="584200" y="4305300"/>
              <a:chExt cx="203199" cy="228599"/>
            </a:xfrm>
          </p:grpSpPr>
          <p:sp>
            <p:nvSpPr>
              <p:cNvPr id="245" name="Freeform 245"/>
              <p:cNvSpPr/>
              <p:nvPr/>
            </p:nvSpPr>
            <p:spPr>
              <a:xfrm>
                <a:off x="584200" y="4330700"/>
                <a:ext cx="203199" cy="203199"/>
              </a:xfrm>
              <a:custGeom>
                <a:avLst/>
                <a:gdLst/>
                <a:ahLst/>
                <a:cxnLst/>
                <a:rect l="l" t="t" r="r" b="b"/>
                <a:pathLst>
                  <a:path w="203199" h="203199">
                    <a:moveTo>
                      <a:pt x="0" y="25400"/>
                    </a:moveTo>
                    <a:cubicBezTo>
                      <a:pt x="0" y="11372"/>
                      <a:pt x="11372" y="0"/>
                      <a:pt x="25400" y="0"/>
                    </a:cubicBezTo>
                    <a:lnTo>
                      <a:pt x="177800" y="0"/>
                    </a:lnTo>
                    <a:cubicBezTo>
                      <a:pt x="191828" y="0"/>
                      <a:pt x="203199" y="11372"/>
                      <a:pt x="203199" y="25400"/>
                    </a:cubicBezTo>
                    <a:lnTo>
                      <a:pt x="203199" y="177800"/>
                    </a:lnTo>
                    <a:cubicBezTo>
                      <a:pt x="203199" y="191828"/>
                      <a:pt x="191828" y="203199"/>
                      <a:pt x="177800" y="203199"/>
                    </a:cubicBezTo>
                    <a:lnTo>
                      <a:pt x="25400" y="203199"/>
                    </a:lnTo>
                    <a:cubicBezTo>
                      <a:pt x="11372" y="203199"/>
                      <a:pt x="0" y="191828"/>
                      <a:pt x="0" y="177800"/>
                    </a:cubicBezTo>
                    <a:lnTo>
                      <a:pt x="0" y="25400"/>
                    </a:lnTo>
                  </a:path>
                </a:pathLst>
              </a:custGeom>
              <a:noFill/>
              <a:ln w="25400">
                <a:solidFill>
                  <a:srgbClr val="FFFFFF"/>
                </a:solidFill>
              </a:ln>
            </p:spPr>
          </p:sp>
          <p:sp>
            <p:nvSpPr>
              <p:cNvPr id="246" name="Freeform 246"/>
              <p:cNvSpPr/>
              <p:nvPr/>
            </p:nvSpPr>
            <p:spPr>
              <a:xfrm>
                <a:off x="736599" y="4305300"/>
                <a:ext cx="9525" cy="50800"/>
              </a:xfrm>
              <a:custGeom>
                <a:avLst/>
                <a:gdLst/>
                <a:ahLst/>
                <a:cxnLst/>
                <a:rect l="l" t="t" r="r" b="b"/>
                <a:pathLst>
                  <a:path w="9525" h="50800">
                    <a:moveTo>
                      <a:pt x="0" y="0"/>
                    </a:moveTo>
                    <a:lnTo>
                      <a:pt x="0" y="50800"/>
                    </a:lnTo>
                  </a:path>
                </a:pathLst>
              </a:custGeom>
              <a:noFill/>
              <a:ln w="25400">
                <a:solidFill>
                  <a:srgbClr val="FFFFFF"/>
                </a:solidFill>
              </a:ln>
            </p:spPr>
          </p:sp>
          <p:sp>
            <p:nvSpPr>
              <p:cNvPr id="247" name="Freeform 247"/>
              <p:cNvSpPr/>
              <p:nvPr/>
            </p:nvSpPr>
            <p:spPr>
              <a:xfrm>
                <a:off x="635000" y="4305300"/>
                <a:ext cx="9525" cy="50800"/>
              </a:xfrm>
              <a:custGeom>
                <a:avLst/>
                <a:gdLst/>
                <a:ahLst/>
                <a:cxnLst/>
                <a:rect l="l" t="t" r="r" b="b"/>
                <a:pathLst>
                  <a:path w="9525" h="50800">
                    <a:moveTo>
                      <a:pt x="0" y="0"/>
                    </a:moveTo>
                    <a:lnTo>
                      <a:pt x="0" y="50800"/>
                    </a:lnTo>
                  </a:path>
                </a:pathLst>
              </a:custGeom>
              <a:noFill/>
              <a:ln w="25400">
                <a:solidFill>
                  <a:srgbClr val="FFFFFF"/>
                </a:solidFill>
              </a:ln>
            </p:spPr>
          </p:sp>
          <p:sp>
            <p:nvSpPr>
              <p:cNvPr id="248" name="Freeform 248"/>
              <p:cNvSpPr/>
              <p:nvPr/>
            </p:nvSpPr>
            <p:spPr>
              <a:xfrm>
                <a:off x="584200" y="4406900"/>
                <a:ext cx="203199" cy="9525"/>
              </a:xfrm>
              <a:custGeom>
                <a:avLst/>
                <a:gdLst/>
                <a:ahLst/>
                <a:cxnLst/>
                <a:rect l="l" t="t" r="r" b="b"/>
                <a:pathLst>
                  <a:path w="203199" h="9525">
                    <a:moveTo>
                      <a:pt x="0" y="0"/>
                    </a:moveTo>
                    <a:lnTo>
                      <a:pt x="203199" y="0"/>
                    </a:lnTo>
                  </a:path>
                </a:pathLst>
              </a:custGeom>
              <a:noFill/>
              <a:ln w="25400">
                <a:solidFill>
                  <a:srgbClr val="FFFFFF"/>
                </a:solidFill>
              </a:ln>
            </p:spPr>
          </p:sp>
          <p:sp>
            <p:nvSpPr>
              <p:cNvPr id="249" name="Freeform 249"/>
              <p:cNvSpPr/>
              <p:nvPr/>
            </p:nvSpPr>
            <p:spPr>
              <a:xfrm>
                <a:off x="673100" y="445770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250" name="Freeform 250"/>
              <p:cNvSpPr/>
              <p:nvPr/>
            </p:nvSpPr>
            <p:spPr>
              <a:xfrm>
                <a:off x="685800" y="4457700"/>
                <a:ext cx="9525" cy="38100"/>
              </a:xfrm>
              <a:custGeom>
                <a:avLst/>
                <a:gdLst/>
                <a:ahLst/>
                <a:cxnLst/>
                <a:rect l="l" t="t" r="r" b="b"/>
                <a:pathLst>
                  <a:path w="9525" h="38100">
                    <a:moveTo>
                      <a:pt x="0" y="0"/>
                    </a:moveTo>
                    <a:lnTo>
                      <a:pt x="0" y="38100"/>
                    </a:lnTo>
                  </a:path>
                </a:pathLst>
              </a:custGeom>
              <a:noFill/>
              <a:ln w="25400">
                <a:solidFill>
                  <a:srgbClr val="FFFFFF"/>
                </a:solidFill>
              </a:ln>
            </p:spPr>
          </p:sp>
        </p:grpSp>
        <p:sp>
          <p:nvSpPr>
            <p:cNvPr id="252" name="TextBox 252"/>
            <p:cNvSpPr txBox="1"/>
            <p:nvPr/>
          </p:nvSpPr>
          <p:spPr>
            <a:xfrm>
              <a:off x="538695" y="4752499"/>
              <a:ext cx="29421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7天​</a:t>
              </a:r>
            </a:p>
          </p:txBody>
        </p:sp>
        <p:sp>
          <p:nvSpPr>
            <p:cNvPr id="253" name="TextBox 253"/>
            <p:cNvSpPr txBox="1"/>
            <p:nvPr/>
          </p:nvSpPr>
          <p:spPr>
            <a:xfrm>
              <a:off x="428386" y="4959191"/>
              <a:ext cx="514828"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触达节奏​</a:t>
              </a:r>
            </a:p>
          </p:txBody>
        </p:sp>
        <p:sp>
          <p:nvSpPr>
            <p:cNvPr id="254" name="TextBox 254"/>
            <p:cNvSpPr txBox="1"/>
            <p:nvPr/>
          </p:nvSpPr>
          <p:spPr>
            <a:xfrm>
              <a:off x="373192" y="5130641"/>
              <a:ext cx="62521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与内容主题​</a:t>
              </a:r>
            </a:p>
          </p:txBody>
        </p:sp>
        <p:sp>
          <p:nvSpPr>
            <p:cNvPr id="255" name="Rectangle 255"/>
            <p:cNvSpPr/>
            <p:nvPr/>
          </p:nvSpPr>
          <p:spPr>
            <a:xfrm>
              <a:off x="323850" y="5981700"/>
              <a:ext cx="723900" cy="190500"/>
            </a:xfrm>
            <a:prstGeom prst="roundRect">
              <a:avLst>
                <a:gd name="adj" fmla="val 15000"/>
              </a:avLst>
            </a:prstGeom>
            <a:solidFill>
              <a:srgbClr val="722617"/>
            </a:solidFill>
            <a:ln>
              <a:noFill/>
            </a:ln>
          </p:spPr>
        </p:sp>
        <p:sp>
          <p:nvSpPr>
            <p:cNvPr id="256" name="TextBox 256"/>
            <p:cNvSpPr txBox="1"/>
            <p:nvPr/>
          </p:nvSpPr>
          <p:spPr>
            <a:xfrm>
              <a:off x="472780" y="6042184"/>
              <a:ext cx="426039"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主要渠道​</a:t>
              </a:r>
            </a:p>
          </p:txBody>
        </p:sp>
        <p:sp>
          <p:nvSpPr>
            <p:cNvPr id="257" name="Rectangle 257"/>
            <p:cNvSpPr/>
            <p:nvPr/>
          </p:nvSpPr>
          <p:spPr>
            <a:xfrm>
              <a:off x="323850" y="6343650"/>
              <a:ext cx="723900" cy="190500"/>
            </a:xfrm>
            <a:prstGeom prst="roundRect">
              <a:avLst>
                <a:gd name="adj" fmla="val 15000"/>
              </a:avLst>
            </a:prstGeom>
            <a:solidFill>
              <a:srgbClr val="722617"/>
            </a:solidFill>
            <a:ln>
              <a:noFill/>
            </a:ln>
          </p:spPr>
        </p:sp>
        <p:sp>
          <p:nvSpPr>
            <p:cNvPr id="258" name="TextBox 258"/>
            <p:cNvSpPr txBox="1"/>
            <p:nvPr/>
          </p:nvSpPr>
          <p:spPr>
            <a:xfrm>
              <a:off x="472780" y="6404134"/>
              <a:ext cx="426039"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建议频次​</a:t>
              </a:r>
            </a:p>
          </p:txBody>
        </p:sp>
        <p:grpSp>
          <p:nvGrpSpPr>
            <p:cNvPr id="415" name="days"/>
            <p:cNvGrpSpPr/>
            <p:nvPr/>
          </p:nvGrpSpPr>
          <p:grpSpPr>
            <a:xfrm>
              <a:off x="1238250" y="4114800"/>
              <a:ext cx="7391400" cy="2422684"/>
              <a:chOff x="1238250" y="4114800"/>
              <a:chExt cx="7391400" cy="2422684"/>
            </a:xfrm>
          </p:grpSpPr>
          <p:sp>
            <p:nvSpPr>
              <p:cNvPr id="259" name="Rectangle 259"/>
              <p:cNvSpPr/>
              <p:nvPr/>
            </p:nvSpPr>
            <p:spPr>
              <a:xfrm>
                <a:off x="1238250" y="4114800"/>
                <a:ext cx="990600" cy="1809750"/>
              </a:xfrm>
              <a:prstGeom prst="roundRect">
                <a:avLst>
                  <a:gd name="adj" fmla="val 5769"/>
                </a:avLst>
              </a:prstGeom>
              <a:solidFill>
                <a:srgbClr val="FFFFFF"/>
              </a:solidFill>
              <a:ln w="7620">
                <a:solidFill>
                  <a:srgbClr val="D9E8E2"/>
                </a:solidFill>
              </a:ln>
            </p:spPr>
          </p:sp>
          <p:sp>
            <p:nvSpPr>
              <p:cNvPr id="260" name="Rectangle 260"/>
              <p:cNvSpPr/>
              <p:nvPr/>
            </p:nvSpPr>
            <p:spPr>
              <a:xfrm>
                <a:off x="1238250" y="4114800"/>
                <a:ext cx="990600" cy="209550"/>
              </a:xfrm>
              <a:prstGeom prst="roundRect">
                <a:avLst>
                  <a:gd name="adj" fmla="val 27273"/>
                </a:avLst>
              </a:prstGeom>
              <a:solidFill>
                <a:srgbClr val="5B180B"/>
              </a:solidFill>
              <a:ln>
                <a:noFill/>
              </a:ln>
            </p:spPr>
          </p:sp>
          <p:sp>
            <p:nvSpPr>
              <p:cNvPr id="261" name="TextBox 261"/>
              <p:cNvSpPr txBox="1"/>
              <p:nvPr/>
            </p:nvSpPr>
            <p:spPr>
              <a:xfrm>
                <a:off x="1531381" y="4180761"/>
                <a:ext cx="40433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D1 周一​</a:t>
                </a:r>
              </a:p>
            </p:txBody>
          </p:sp>
          <p:grpSp>
            <p:nvGrpSpPr>
              <p:cNvPr id="264" name="Group 264"/>
              <p:cNvGrpSpPr/>
              <p:nvPr/>
            </p:nvGrpSpPr>
            <p:grpSpPr>
              <a:xfrm>
                <a:off x="1666875" y="4449073"/>
                <a:ext cx="133350" cy="170552"/>
                <a:chOff x="1666875" y="4449073"/>
                <a:chExt cx="133350" cy="170552"/>
              </a:xfrm>
            </p:grpSpPr>
            <p:sp>
              <p:nvSpPr>
                <p:cNvPr id="262" name="Freeform 262"/>
                <p:cNvSpPr/>
                <p:nvPr/>
              </p:nvSpPr>
              <p:spPr>
                <a:xfrm>
                  <a:off x="1666875" y="4449073"/>
                  <a:ext cx="133350" cy="122029"/>
                </a:xfrm>
                <a:custGeom>
                  <a:avLst/>
                  <a:gdLst/>
                  <a:ahLst/>
                  <a:cxnLst/>
                  <a:rect l="l" t="t" r="r" b="b"/>
                  <a:pathLst>
                    <a:path w="133350" h="122029">
                      <a:moveTo>
                        <a:pt x="0" y="18152"/>
                      </a:moveTo>
                      <a:cubicBezTo>
                        <a:pt x="18519" y="0"/>
                        <a:pt x="48156" y="0"/>
                        <a:pt x="66675" y="18152"/>
                      </a:cubicBezTo>
                      <a:cubicBezTo>
                        <a:pt x="85194" y="36304"/>
                        <a:pt x="114831" y="36304"/>
                        <a:pt x="133350" y="18152"/>
                      </a:cubicBezTo>
                      <a:lnTo>
                        <a:pt x="133350" y="103877"/>
                      </a:lnTo>
                      <a:cubicBezTo>
                        <a:pt x="114831" y="122029"/>
                        <a:pt x="85194" y="122029"/>
                        <a:pt x="66675" y="103877"/>
                      </a:cubicBezTo>
                      <a:cubicBezTo>
                        <a:pt x="48156" y="85725"/>
                        <a:pt x="18519" y="85725"/>
                        <a:pt x="0" y="103877"/>
                      </a:cubicBezTo>
                      <a:lnTo>
                        <a:pt x="0" y="18152"/>
                      </a:lnTo>
                    </a:path>
                  </a:pathLst>
                </a:custGeom>
                <a:noFill/>
                <a:ln w="19050">
                  <a:solidFill>
                    <a:srgbClr val="5B180B"/>
                  </a:solidFill>
                </a:ln>
              </p:spPr>
            </p:sp>
            <p:sp>
              <p:nvSpPr>
                <p:cNvPr id="263" name="Freeform 263"/>
                <p:cNvSpPr/>
                <p:nvPr/>
              </p:nvSpPr>
              <p:spPr>
                <a:xfrm>
                  <a:off x="1666875" y="4552950"/>
                  <a:ext cx="9525" cy="66675"/>
                </a:xfrm>
                <a:custGeom>
                  <a:avLst/>
                  <a:gdLst/>
                  <a:ahLst/>
                  <a:cxnLst/>
                  <a:rect l="l" t="t" r="r" b="b"/>
                  <a:pathLst>
                    <a:path w="9525" h="66675">
                      <a:moveTo>
                        <a:pt x="0" y="66675"/>
                      </a:moveTo>
                      <a:lnTo>
                        <a:pt x="0" y="0"/>
                      </a:lnTo>
                    </a:path>
                  </a:pathLst>
                </a:custGeom>
                <a:noFill/>
                <a:ln w="19050">
                  <a:solidFill>
                    <a:srgbClr val="5B180B"/>
                  </a:solidFill>
                </a:ln>
              </p:spPr>
            </p:sp>
          </p:grpSp>
          <p:sp>
            <p:nvSpPr>
              <p:cNvPr id="265" name="TextBox 265"/>
              <p:cNvSpPr txBox="1"/>
              <p:nvPr/>
            </p:nvSpPr>
            <p:spPr>
              <a:xfrm>
                <a:off x="1485379" y="475368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活动预告​</a:t>
                </a:r>
              </a:p>
            </p:txBody>
          </p:sp>
          <p:sp>
            <p:nvSpPr>
              <p:cNvPr id="266" name="TextBox 266"/>
              <p:cNvSpPr txBox="1"/>
              <p:nvPr/>
            </p:nvSpPr>
            <p:spPr>
              <a:xfrm>
                <a:off x="1368814" y="4930378"/>
                <a:ext cx="729473"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释放四季度主题活动​</a:t>
                </a:r>
              </a:p>
            </p:txBody>
          </p:sp>
          <p:sp>
            <p:nvSpPr>
              <p:cNvPr id="267" name="TextBox 267"/>
              <p:cNvSpPr txBox="1"/>
              <p:nvPr/>
            </p:nvSpPr>
            <p:spPr>
              <a:xfrm>
                <a:off x="1519588" y="5044678"/>
                <a:ext cx="427924"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与专属权益​</a:t>
                </a:r>
              </a:p>
            </p:txBody>
          </p:sp>
          <p:grpSp>
            <p:nvGrpSpPr>
              <p:cNvPr id="271" name="Group 271"/>
              <p:cNvGrpSpPr/>
              <p:nvPr/>
            </p:nvGrpSpPr>
            <p:grpSpPr>
              <a:xfrm>
                <a:off x="1481137" y="5693569"/>
                <a:ext cx="66675" cy="100012"/>
                <a:chOff x="1481137" y="5693569"/>
                <a:chExt cx="66675" cy="100012"/>
              </a:xfrm>
            </p:grpSpPr>
            <p:sp>
              <p:nvSpPr>
                <p:cNvPr id="268" name="Freeform 268"/>
                <p:cNvSpPr/>
                <p:nvPr/>
              </p:nvSpPr>
              <p:spPr>
                <a:xfrm>
                  <a:off x="1481137" y="569356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8AA39C"/>
                  </a:solidFill>
                </a:ln>
              </p:spPr>
            </p:sp>
            <p:sp>
              <p:nvSpPr>
                <p:cNvPr id="269" name="Freeform 269"/>
                <p:cNvSpPr/>
                <p:nvPr/>
              </p:nvSpPr>
              <p:spPr>
                <a:xfrm>
                  <a:off x="1508919" y="5699125"/>
                  <a:ext cx="11112" cy="9525"/>
                </a:xfrm>
                <a:custGeom>
                  <a:avLst/>
                  <a:gdLst/>
                  <a:ahLst/>
                  <a:cxnLst/>
                  <a:rect l="l" t="t" r="r" b="b"/>
                  <a:pathLst>
                    <a:path w="11112" h="9525">
                      <a:moveTo>
                        <a:pt x="0" y="0"/>
                      </a:moveTo>
                      <a:lnTo>
                        <a:pt x="11112" y="0"/>
                      </a:lnTo>
                    </a:path>
                  </a:pathLst>
                </a:custGeom>
                <a:noFill/>
                <a:ln w="11112">
                  <a:solidFill>
                    <a:srgbClr val="8AA39C"/>
                  </a:solidFill>
                </a:ln>
              </p:spPr>
            </p:sp>
            <p:sp>
              <p:nvSpPr>
                <p:cNvPr id="270" name="Freeform 270"/>
                <p:cNvSpPr/>
                <p:nvPr/>
              </p:nvSpPr>
              <p:spPr>
                <a:xfrm>
                  <a:off x="1514475" y="5771356"/>
                  <a:ext cx="9525" cy="9525"/>
                </a:xfrm>
                <a:custGeom>
                  <a:avLst/>
                  <a:gdLst/>
                  <a:ahLst/>
                  <a:cxnLst/>
                  <a:rect l="l" t="t" r="r" b="b"/>
                  <a:pathLst>
                    <a:path w="9525" h="9525">
                      <a:moveTo>
                        <a:pt x="0" y="0"/>
                      </a:moveTo>
                      <a:lnTo>
                        <a:pt x="0" y="56"/>
                      </a:lnTo>
                    </a:path>
                  </a:pathLst>
                </a:custGeom>
                <a:noFill/>
                <a:ln w="11112">
                  <a:solidFill>
                    <a:srgbClr val="8AA39C"/>
                  </a:solidFill>
                </a:ln>
              </p:spPr>
            </p:sp>
          </p:grpSp>
          <p:sp>
            <p:nvSpPr>
              <p:cNvPr id="272" name="Freeform 272"/>
              <p:cNvSpPr/>
              <p:nvPr/>
            </p:nvSpPr>
            <p:spPr>
              <a:xfrm>
                <a:off x="1677854" y="56948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8AA39C"/>
                </a:solidFill>
              </a:ln>
            </p:spPr>
          </p:sp>
          <p:grpSp>
            <p:nvGrpSpPr>
              <p:cNvPr id="278" name="Group 278"/>
              <p:cNvGrpSpPr/>
              <p:nvPr/>
            </p:nvGrpSpPr>
            <p:grpSpPr>
              <a:xfrm>
                <a:off x="1913731" y="5693569"/>
                <a:ext cx="77787" cy="100012"/>
                <a:chOff x="1913731" y="5693569"/>
                <a:chExt cx="77787" cy="100012"/>
              </a:xfrm>
            </p:grpSpPr>
            <p:sp>
              <p:nvSpPr>
                <p:cNvPr id="273" name="Freeform 273"/>
                <p:cNvSpPr/>
                <p:nvPr/>
              </p:nvSpPr>
              <p:spPr>
                <a:xfrm>
                  <a:off x="1963737" y="56935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8AA39C"/>
                  </a:solidFill>
                </a:ln>
              </p:spPr>
            </p:sp>
            <p:sp>
              <p:nvSpPr>
                <p:cNvPr id="274" name="Freeform 274"/>
                <p:cNvSpPr/>
                <p:nvPr/>
              </p:nvSpPr>
              <p:spPr>
                <a:xfrm>
                  <a:off x="1913731" y="56935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8AA39C"/>
                  </a:solidFill>
                </a:ln>
              </p:spPr>
            </p:sp>
            <p:sp>
              <p:nvSpPr>
                <p:cNvPr id="275" name="Freeform 275"/>
                <p:cNvSpPr/>
                <p:nvPr/>
              </p:nvSpPr>
              <p:spPr>
                <a:xfrm>
                  <a:off x="1935956" y="5726906"/>
                  <a:ext cx="9525" cy="9525"/>
                </a:xfrm>
                <a:custGeom>
                  <a:avLst/>
                  <a:gdLst/>
                  <a:ahLst/>
                  <a:cxnLst/>
                  <a:rect l="l" t="t" r="r" b="b"/>
                  <a:pathLst>
                    <a:path w="9525" h="9525">
                      <a:moveTo>
                        <a:pt x="0" y="0"/>
                      </a:moveTo>
                      <a:lnTo>
                        <a:pt x="5556" y="0"/>
                      </a:lnTo>
                    </a:path>
                  </a:pathLst>
                </a:custGeom>
                <a:noFill/>
                <a:ln w="11112">
                  <a:solidFill>
                    <a:srgbClr val="8AA39C"/>
                  </a:solidFill>
                </a:ln>
              </p:spPr>
            </p:sp>
            <p:sp>
              <p:nvSpPr>
                <p:cNvPr id="276" name="Freeform 276"/>
                <p:cNvSpPr/>
                <p:nvPr/>
              </p:nvSpPr>
              <p:spPr>
                <a:xfrm>
                  <a:off x="1935956" y="5749131"/>
                  <a:ext cx="33337" cy="9525"/>
                </a:xfrm>
                <a:custGeom>
                  <a:avLst/>
                  <a:gdLst/>
                  <a:ahLst/>
                  <a:cxnLst/>
                  <a:rect l="l" t="t" r="r" b="b"/>
                  <a:pathLst>
                    <a:path w="33337" h="9525">
                      <a:moveTo>
                        <a:pt x="0" y="0"/>
                      </a:moveTo>
                      <a:lnTo>
                        <a:pt x="33337" y="0"/>
                      </a:lnTo>
                    </a:path>
                  </a:pathLst>
                </a:custGeom>
                <a:noFill/>
                <a:ln w="11112">
                  <a:solidFill>
                    <a:srgbClr val="8AA39C"/>
                  </a:solidFill>
                </a:ln>
              </p:spPr>
            </p:sp>
            <p:sp>
              <p:nvSpPr>
                <p:cNvPr id="277" name="Freeform 277"/>
                <p:cNvSpPr/>
                <p:nvPr/>
              </p:nvSpPr>
              <p:spPr>
                <a:xfrm>
                  <a:off x="1935956" y="5771356"/>
                  <a:ext cx="33337" cy="9525"/>
                </a:xfrm>
                <a:custGeom>
                  <a:avLst/>
                  <a:gdLst/>
                  <a:ahLst/>
                  <a:cxnLst/>
                  <a:rect l="l" t="t" r="r" b="b"/>
                  <a:pathLst>
                    <a:path w="33337" h="9525">
                      <a:moveTo>
                        <a:pt x="0" y="0"/>
                      </a:moveTo>
                      <a:lnTo>
                        <a:pt x="33337" y="0"/>
                      </a:lnTo>
                    </a:path>
                  </a:pathLst>
                </a:custGeom>
                <a:noFill/>
                <a:ln w="11112">
                  <a:solidFill>
                    <a:srgbClr val="8AA39C"/>
                  </a:solidFill>
                </a:ln>
              </p:spPr>
            </p:sp>
          </p:grpSp>
          <p:sp>
            <p:nvSpPr>
              <p:cNvPr id="279" name="TextBox 279"/>
              <p:cNvSpPr txBox="1"/>
              <p:nvPr/>
            </p:nvSpPr>
            <p:spPr>
              <a:xfrm>
                <a:off x="1531515" y="6404134"/>
                <a:ext cx="404069"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≤1次/天​</a:t>
                </a:r>
              </a:p>
            </p:txBody>
          </p:sp>
          <p:sp>
            <p:nvSpPr>
              <p:cNvPr id="280" name="Rectangle 280"/>
              <p:cNvSpPr/>
              <p:nvPr/>
            </p:nvSpPr>
            <p:spPr>
              <a:xfrm>
                <a:off x="2305050" y="4114800"/>
                <a:ext cx="990600" cy="1809750"/>
              </a:xfrm>
              <a:prstGeom prst="roundRect">
                <a:avLst>
                  <a:gd name="adj" fmla="val 5769"/>
                </a:avLst>
              </a:prstGeom>
              <a:solidFill>
                <a:srgbClr val="FFFFFF"/>
              </a:solidFill>
              <a:ln w="7620">
                <a:solidFill>
                  <a:srgbClr val="D9E8E2"/>
                </a:solidFill>
              </a:ln>
            </p:spPr>
          </p:sp>
          <p:sp>
            <p:nvSpPr>
              <p:cNvPr id="281" name="Rectangle 281"/>
              <p:cNvSpPr/>
              <p:nvPr/>
            </p:nvSpPr>
            <p:spPr>
              <a:xfrm>
                <a:off x="2305050" y="4114800"/>
                <a:ext cx="990600" cy="209550"/>
              </a:xfrm>
              <a:prstGeom prst="roundRect">
                <a:avLst>
                  <a:gd name="adj" fmla="val 27273"/>
                </a:avLst>
              </a:prstGeom>
              <a:solidFill>
                <a:srgbClr val="5B180B"/>
              </a:solidFill>
              <a:ln>
                <a:noFill/>
              </a:ln>
            </p:spPr>
          </p:sp>
          <p:sp>
            <p:nvSpPr>
              <p:cNvPr id="282" name="TextBox 282"/>
              <p:cNvSpPr txBox="1"/>
              <p:nvPr/>
            </p:nvSpPr>
            <p:spPr>
              <a:xfrm>
                <a:off x="2598181" y="4180761"/>
                <a:ext cx="40433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D2 周二​</a:t>
                </a:r>
              </a:p>
            </p:txBody>
          </p:sp>
          <p:grpSp>
            <p:nvGrpSpPr>
              <p:cNvPr id="288" name="Group 288"/>
              <p:cNvGrpSpPr/>
              <p:nvPr/>
            </p:nvGrpSpPr>
            <p:grpSpPr>
              <a:xfrm>
                <a:off x="2733675" y="4448175"/>
                <a:ext cx="133350" cy="171450"/>
                <a:chOff x="2733675" y="4448175"/>
                <a:chExt cx="133350" cy="171450"/>
              </a:xfrm>
            </p:grpSpPr>
            <p:sp>
              <p:nvSpPr>
                <p:cNvPr id="283" name="Freeform 283"/>
                <p:cNvSpPr/>
                <p:nvPr/>
              </p:nvSpPr>
              <p:spPr>
                <a:xfrm>
                  <a:off x="2819400" y="44481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5B180B"/>
                  </a:solidFill>
                </a:ln>
              </p:spPr>
            </p:sp>
            <p:sp>
              <p:nvSpPr>
                <p:cNvPr id="284" name="Freeform 284"/>
                <p:cNvSpPr/>
                <p:nvPr/>
              </p:nvSpPr>
              <p:spPr>
                <a:xfrm>
                  <a:off x="2733675" y="44481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5B180B"/>
                  </a:solidFill>
                </a:ln>
              </p:spPr>
            </p:sp>
            <p:sp>
              <p:nvSpPr>
                <p:cNvPr id="285" name="Freeform 285"/>
                <p:cNvSpPr/>
                <p:nvPr/>
              </p:nvSpPr>
              <p:spPr>
                <a:xfrm>
                  <a:off x="2771775" y="4505325"/>
                  <a:ext cx="9525" cy="9525"/>
                </a:xfrm>
                <a:custGeom>
                  <a:avLst/>
                  <a:gdLst/>
                  <a:ahLst/>
                  <a:cxnLst/>
                  <a:rect l="l" t="t" r="r" b="b"/>
                  <a:pathLst>
                    <a:path w="9525" h="9525">
                      <a:moveTo>
                        <a:pt x="0" y="0"/>
                      </a:moveTo>
                      <a:lnTo>
                        <a:pt x="9525" y="0"/>
                      </a:lnTo>
                    </a:path>
                  </a:pathLst>
                </a:custGeom>
                <a:noFill/>
                <a:ln w="19050">
                  <a:solidFill>
                    <a:srgbClr val="5B180B"/>
                  </a:solidFill>
                </a:ln>
              </p:spPr>
            </p:sp>
            <p:sp>
              <p:nvSpPr>
                <p:cNvPr id="286" name="Freeform 286"/>
                <p:cNvSpPr/>
                <p:nvPr/>
              </p:nvSpPr>
              <p:spPr>
                <a:xfrm>
                  <a:off x="2771775" y="4543425"/>
                  <a:ext cx="57150" cy="9525"/>
                </a:xfrm>
                <a:custGeom>
                  <a:avLst/>
                  <a:gdLst/>
                  <a:ahLst/>
                  <a:cxnLst/>
                  <a:rect l="l" t="t" r="r" b="b"/>
                  <a:pathLst>
                    <a:path w="57150" h="9525">
                      <a:moveTo>
                        <a:pt x="0" y="0"/>
                      </a:moveTo>
                      <a:lnTo>
                        <a:pt x="57150" y="0"/>
                      </a:lnTo>
                    </a:path>
                  </a:pathLst>
                </a:custGeom>
                <a:noFill/>
                <a:ln w="19050">
                  <a:solidFill>
                    <a:srgbClr val="5B180B"/>
                  </a:solidFill>
                </a:ln>
              </p:spPr>
            </p:sp>
            <p:sp>
              <p:nvSpPr>
                <p:cNvPr id="287" name="Freeform 287"/>
                <p:cNvSpPr/>
                <p:nvPr/>
              </p:nvSpPr>
              <p:spPr>
                <a:xfrm>
                  <a:off x="2771775" y="4581525"/>
                  <a:ext cx="57150" cy="9525"/>
                </a:xfrm>
                <a:custGeom>
                  <a:avLst/>
                  <a:gdLst/>
                  <a:ahLst/>
                  <a:cxnLst/>
                  <a:rect l="l" t="t" r="r" b="b"/>
                  <a:pathLst>
                    <a:path w="57150" h="9525">
                      <a:moveTo>
                        <a:pt x="0" y="0"/>
                      </a:moveTo>
                      <a:lnTo>
                        <a:pt x="57150" y="0"/>
                      </a:lnTo>
                    </a:path>
                  </a:pathLst>
                </a:custGeom>
                <a:noFill/>
                <a:ln w="19050">
                  <a:solidFill>
                    <a:srgbClr val="5B180B"/>
                  </a:solidFill>
                </a:ln>
              </p:spPr>
            </p:sp>
          </p:grpSp>
          <p:sp>
            <p:nvSpPr>
              <p:cNvPr id="289" name="TextBox 289"/>
              <p:cNvSpPr txBox="1"/>
              <p:nvPr/>
            </p:nvSpPr>
            <p:spPr>
              <a:xfrm>
                <a:off x="2552179" y="475368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产品盘点​</a:t>
                </a:r>
              </a:p>
            </p:txBody>
          </p:sp>
          <p:sp>
            <p:nvSpPr>
              <p:cNvPr id="290" name="TextBox 290"/>
              <p:cNvSpPr txBox="1"/>
              <p:nvPr/>
            </p:nvSpPr>
            <p:spPr>
              <a:xfrm>
                <a:off x="2435614" y="4930378"/>
                <a:ext cx="729473"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重点产品与案例解读​</a:t>
                </a:r>
              </a:p>
            </p:txBody>
          </p:sp>
          <p:grpSp>
            <p:nvGrpSpPr>
              <p:cNvPr id="294" name="Group 294"/>
              <p:cNvGrpSpPr/>
              <p:nvPr/>
            </p:nvGrpSpPr>
            <p:grpSpPr>
              <a:xfrm>
                <a:off x="2547937" y="5693569"/>
                <a:ext cx="66675" cy="100012"/>
                <a:chOff x="2547937" y="5693569"/>
                <a:chExt cx="66675" cy="100012"/>
              </a:xfrm>
            </p:grpSpPr>
            <p:sp>
              <p:nvSpPr>
                <p:cNvPr id="291" name="Freeform 291"/>
                <p:cNvSpPr/>
                <p:nvPr/>
              </p:nvSpPr>
              <p:spPr>
                <a:xfrm>
                  <a:off x="2547937" y="569356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8AA39C"/>
                  </a:solidFill>
                </a:ln>
              </p:spPr>
            </p:sp>
            <p:sp>
              <p:nvSpPr>
                <p:cNvPr id="292" name="Freeform 292"/>
                <p:cNvSpPr/>
                <p:nvPr/>
              </p:nvSpPr>
              <p:spPr>
                <a:xfrm>
                  <a:off x="2575719" y="5699125"/>
                  <a:ext cx="11112" cy="9525"/>
                </a:xfrm>
                <a:custGeom>
                  <a:avLst/>
                  <a:gdLst/>
                  <a:ahLst/>
                  <a:cxnLst/>
                  <a:rect l="l" t="t" r="r" b="b"/>
                  <a:pathLst>
                    <a:path w="11112" h="9525">
                      <a:moveTo>
                        <a:pt x="0" y="0"/>
                      </a:moveTo>
                      <a:lnTo>
                        <a:pt x="11112" y="0"/>
                      </a:lnTo>
                    </a:path>
                  </a:pathLst>
                </a:custGeom>
                <a:noFill/>
                <a:ln w="11112">
                  <a:solidFill>
                    <a:srgbClr val="8AA39C"/>
                  </a:solidFill>
                </a:ln>
              </p:spPr>
            </p:sp>
            <p:sp>
              <p:nvSpPr>
                <p:cNvPr id="293" name="Freeform 293"/>
                <p:cNvSpPr/>
                <p:nvPr/>
              </p:nvSpPr>
              <p:spPr>
                <a:xfrm>
                  <a:off x="2581275" y="5771356"/>
                  <a:ext cx="9525" cy="9525"/>
                </a:xfrm>
                <a:custGeom>
                  <a:avLst/>
                  <a:gdLst/>
                  <a:ahLst/>
                  <a:cxnLst/>
                  <a:rect l="l" t="t" r="r" b="b"/>
                  <a:pathLst>
                    <a:path w="9525" h="9525">
                      <a:moveTo>
                        <a:pt x="0" y="0"/>
                      </a:moveTo>
                      <a:lnTo>
                        <a:pt x="0" y="56"/>
                      </a:lnTo>
                    </a:path>
                  </a:pathLst>
                </a:custGeom>
                <a:noFill/>
                <a:ln w="11112">
                  <a:solidFill>
                    <a:srgbClr val="8AA39C"/>
                  </a:solidFill>
                </a:ln>
              </p:spPr>
            </p:sp>
          </p:grpSp>
          <p:sp>
            <p:nvSpPr>
              <p:cNvPr id="295" name="Freeform 295"/>
              <p:cNvSpPr/>
              <p:nvPr/>
            </p:nvSpPr>
            <p:spPr>
              <a:xfrm>
                <a:off x="2744654" y="56948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8AA39C"/>
                </a:solidFill>
              </a:ln>
            </p:spPr>
          </p:sp>
          <p:grpSp>
            <p:nvGrpSpPr>
              <p:cNvPr id="301" name="Group 301"/>
              <p:cNvGrpSpPr/>
              <p:nvPr/>
            </p:nvGrpSpPr>
            <p:grpSpPr>
              <a:xfrm>
                <a:off x="2980531" y="5693569"/>
                <a:ext cx="77787" cy="100012"/>
                <a:chOff x="2980531" y="5693569"/>
                <a:chExt cx="77787" cy="100012"/>
              </a:xfrm>
            </p:grpSpPr>
            <p:sp>
              <p:nvSpPr>
                <p:cNvPr id="296" name="Freeform 296"/>
                <p:cNvSpPr/>
                <p:nvPr/>
              </p:nvSpPr>
              <p:spPr>
                <a:xfrm>
                  <a:off x="3030537" y="56935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8AA39C"/>
                  </a:solidFill>
                </a:ln>
              </p:spPr>
            </p:sp>
            <p:sp>
              <p:nvSpPr>
                <p:cNvPr id="297" name="Freeform 297"/>
                <p:cNvSpPr/>
                <p:nvPr/>
              </p:nvSpPr>
              <p:spPr>
                <a:xfrm>
                  <a:off x="2980531" y="56935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8AA39C"/>
                  </a:solidFill>
                </a:ln>
              </p:spPr>
            </p:sp>
            <p:sp>
              <p:nvSpPr>
                <p:cNvPr id="298" name="Freeform 298"/>
                <p:cNvSpPr/>
                <p:nvPr/>
              </p:nvSpPr>
              <p:spPr>
                <a:xfrm>
                  <a:off x="3002756" y="5726906"/>
                  <a:ext cx="9525" cy="9525"/>
                </a:xfrm>
                <a:custGeom>
                  <a:avLst/>
                  <a:gdLst/>
                  <a:ahLst/>
                  <a:cxnLst/>
                  <a:rect l="l" t="t" r="r" b="b"/>
                  <a:pathLst>
                    <a:path w="9525" h="9525">
                      <a:moveTo>
                        <a:pt x="0" y="0"/>
                      </a:moveTo>
                      <a:lnTo>
                        <a:pt x="5556" y="0"/>
                      </a:lnTo>
                    </a:path>
                  </a:pathLst>
                </a:custGeom>
                <a:noFill/>
                <a:ln w="11112">
                  <a:solidFill>
                    <a:srgbClr val="8AA39C"/>
                  </a:solidFill>
                </a:ln>
              </p:spPr>
            </p:sp>
            <p:sp>
              <p:nvSpPr>
                <p:cNvPr id="299" name="Freeform 299"/>
                <p:cNvSpPr/>
                <p:nvPr/>
              </p:nvSpPr>
              <p:spPr>
                <a:xfrm>
                  <a:off x="3002756" y="5749131"/>
                  <a:ext cx="33337" cy="9525"/>
                </a:xfrm>
                <a:custGeom>
                  <a:avLst/>
                  <a:gdLst/>
                  <a:ahLst/>
                  <a:cxnLst/>
                  <a:rect l="l" t="t" r="r" b="b"/>
                  <a:pathLst>
                    <a:path w="33337" h="9525">
                      <a:moveTo>
                        <a:pt x="0" y="0"/>
                      </a:moveTo>
                      <a:lnTo>
                        <a:pt x="33337" y="0"/>
                      </a:lnTo>
                    </a:path>
                  </a:pathLst>
                </a:custGeom>
                <a:noFill/>
                <a:ln w="11112">
                  <a:solidFill>
                    <a:srgbClr val="8AA39C"/>
                  </a:solidFill>
                </a:ln>
              </p:spPr>
            </p:sp>
            <p:sp>
              <p:nvSpPr>
                <p:cNvPr id="300" name="Freeform 300"/>
                <p:cNvSpPr/>
                <p:nvPr/>
              </p:nvSpPr>
              <p:spPr>
                <a:xfrm>
                  <a:off x="3002756" y="5771356"/>
                  <a:ext cx="33337" cy="9525"/>
                </a:xfrm>
                <a:custGeom>
                  <a:avLst/>
                  <a:gdLst/>
                  <a:ahLst/>
                  <a:cxnLst/>
                  <a:rect l="l" t="t" r="r" b="b"/>
                  <a:pathLst>
                    <a:path w="33337" h="9525">
                      <a:moveTo>
                        <a:pt x="0" y="0"/>
                      </a:moveTo>
                      <a:lnTo>
                        <a:pt x="33337" y="0"/>
                      </a:lnTo>
                    </a:path>
                  </a:pathLst>
                </a:custGeom>
                <a:noFill/>
                <a:ln w="11112">
                  <a:solidFill>
                    <a:srgbClr val="8AA39C"/>
                  </a:solidFill>
                </a:ln>
              </p:spPr>
            </p:sp>
          </p:grpSp>
          <p:sp>
            <p:nvSpPr>
              <p:cNvPr id="302" name="TextBox 302"/>
              <p:cNvSpPr txBox="1"/>
              <p:nvPr/>
            </p:nvSpPr>
            <p:spPr>
              <a:xfrm>
                <a:off x="2598315" y="6404134"/>
                <a:ext cx="404069"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≤1次/天​</a:t>
                </a:r>
              </a:p>
            </p:txBody>
          </p:sp>
          <p:sp>
            <p:nvSpPr>
              <p:cNvPr id="303" name="Rectangle 303"/>
              <p:cNvSpPr/>
              <p:nvPr/>
            </p:nvSpPr>
            <p:spPr>
              <a:xfrm>
                <a:off x="3371850" y="4114800"/>
                <a:ext cx="990600" cy="1809750"/>
              </a:xfrm>
              <a:prstGeom prst="roundRect">
                <a:avLst>
                  <a:gd name="adj" fmla="val 5769"/>
                </a:avLst>
              </a:prstGeom>
              <a:solidFill>
                <a:srgbClr val="FFFFFF"/>
              </a:solidFill>
              <a:ln w="7620">
                <a:solidFill>
                  <a:srgbClr val="D9E8E2"/>
                </a:solidFill>
              </a:ln>
            </p:spPr>
          </p:sp>
          <p:sp>
            <p:nvSpPr>
              <p:cNvPr id="304" name="Rectangle 304"/>
              <p:cNvSpPr/>
              <p:nvPr/>
            </p:nvSpPr>
            <p:spPr>
              <a:xfrm>
                <a:off x="3371850" y="4114800"/>
                <a:ext cx="990600" cy="209550"/>
              </a:xfrm>
              <a:prstGeom prst="roundRect">
                <a:avLst>
                  <a:gd name="adj" fmla="val 27273"/>
                </a:avLst>
              </a:prstGeom>
              <a:solidFill>
                <a:srgbClr val="5B180B"/>
              </a:solidFill>
              <a:ln>
                <a:noFill/>
              </a:ln>
            </p:spPr>
          </p:sp>
          <p:sp>
            <p:nvSpPr>
              <p:cNvPr id="305" name="TextBox 305"/>
              <p:cNvSpPr txBox="1"/>
              <p:nvPr/>
            </p:nvSpPr>
            <p:spPr>
              <a:xfrm>
                <a:off x="3664981" y="4180761"/>
                <a:ext cx="40433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D3 周三​</a:t>
                </a:r>
              </a:p>
            </p:txBody>
          </p:sp>
          <p:grpSp>
            <p:nvGrpSpPr>
              <p:cNvPr id="309" name="Group 309"/>
              <p:cNvGrpSpPr/>
              <p:nvPr/>
            </p:nvGrpSpPr>
            <p:grpSpPr>
              <a:xfrm>
                <a:off x="3810000" y="4448175"/>
                <a:ext cx="142875" cy="171450"/>
                <a:chOff x="3810000" y="4448175"/>
                <a:chExt cx="142875" cy="171450"/>
              </a:xfrm>
            </p:grpSpPr>
            <p:sp>
              <p:nvSpPr>
                <p:cNvPr id="306" name="Freeform 306"/>
                <p:cNvSpPr/>
                <p:nvPr/>
              </p:nvSpPr>
              <p:spPr>
                <a:xfrm>
                  <a:off x="3829050" y="44481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5B180B"/>
                  </a:solidFill>
                </a:ln>
              </p:spPr>
            </p:sp>
            <p:sp>
              <p:nvSpPr>
                <p:cNvPr id="307" name="Freeform 307"/>
                <p:cNvSpPr/>
                <p:nvPr/>
              </p:nvSpPr>
              <p:spPr>
                <a:xfrm>
                  <a:off x="3810000" y="45624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5B180B"/>
                  </a:solidFill>
                </a:ln>
              </p:spPr>
            </p:sp>
            <p:sp>
              <p:nvSpPr>
                <p:cNvPr id="308" name="Freeform 308"/>
                <p:cNvSpPr/>
                <p:nvPr/>
              </p:nvSpPr>
              <p:spPr>
                <a:xfrm>
                  <a:off x="3895725" y="4581525"/>
                  <a:ext cx="57150" cy="38100"/>
                </a:xfrm>
                <a:custGeom>
                  <a:avLst/>
                  <a:gdLst/>
                  <a:ahLst/>
                  <a:cxnLst/>
                  <a:rect l="l" t="t" r="r" b="b"/>
                  <a:pathLst>
                    <a:path w="57150" h="38100">
                      <a:moveTo>
                        <a:pt x="0" y="19050"/>
                      </a:moveTo>
                      <a:lnTo>
                        <a:pt x="19050" y="38100"/>
                      </a:lnTo>
                      <a:lnTo>
                        <a:pt x="57150" y="0"/>
                      </a:lnTo>
                    </a:path>
                  </a:pathLst>
                </a:custGeom>
                <a:noFill/>
                <a:ln w="19050">
                  <a:solidFill>
                    <a:srgbClr val="5B180B"/>
                  </a:solidFill>
                </a:ln>
              </p:spPr>
            </p:sp>
          </p:grpSp>
          <p:sp>
            <p:nvSpPr>
              <p:cNvPr id="310" name="TextBox 310"/>
              <p:cNvSpPr txBox="1"/>
              <p:nvPr/>
            </p:nvSpPr>
            <p:spPr>
              <a:xfrm>
                <a:off x="3618979" y="475368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专属邀约​</a:t>
                </a:r>
              </a:p>
            </p:txBody>
          </p:sp>
          <p:sp>
            <p:nvSpPr>
              <p:cNvPr id="311" name="TextBox 311"/>
              <p:cNvSpPr txBox="1"/>
              <p:nvPr/>
            </p:nvSpPr>
            <p:spPr>
              <a:xfrm>
                <a:off x="3536338" y="4930378"/>
                <a:ext cx="661624"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客户经理1对1沟通​</a:t>
                </a:r>
              </a:p>
            </p:txBody>
          </p:sp>
          <p:sp>
            <p:nvSpPr>
              <p:cNvPr id="312" name="TextBox 312"/>
              <p:cNvSpPr txBox="1"/>
              <p:nvPr/>
            </p:nvSpPr>
            <p:spPr>
              <a:xfrm>
                <a:off x="3690882" y="5044678"/>
                <a:ext cx="352537"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确认意向​</a:t>
                </a:r>
              </a:p>
            </p:txBody>
          </p:sp>
          <p:sp>
            <p:nvSpPr>
              <p:cNvPr id="313" name="Freeform 313"/>
              <p:cNvSpPr/>
              <p:nvPr/>
            </p:nvSpPr>
            <p:spPr>
              <a:xfrm>
                <a:off x="3592379" y="56948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8AA39C"/>
                </a:solidFill>
              </a:ln>
            </p:spPr>
          </p:sp>
          <p:grpSp>
            <p:nvGrpSpPr>
              <p:cNvPr id="317" name="Group 317"/>
              <p:cNvGrpSpPr/>
              <p:nvPr/>
            </p:nvGrpSpPr>
            <p:grpSpPr>
              <a:xfrm>
                <a:off x="3833812" y="5693569"/>
                <a:ext cx="66675" cy="100012"/>
                <a:chOff x="3833812" y="5693569"/>
                <a:chExt cx="66675" cy="100012"/>
              </a:xfrm>
            </p:grpSpPr>
            <p:sp>
              <p:nvSpPr>
                <p:cNvPr id="314" name="Freeform 314"/>
                <p:cNvSpPr/>
                <p:nvPr/>
              </p:nvSpPr>
              <p:spPr>
                <a:xfrm>
                  <a:off x="3833812" y="569356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8AA39C"/>
                  </a:solidFill>
                </a:ln>
              </p:spPr>
            </p:sp>
            <p:sp>
              <p:nvSpPr>
                <p:cNvPr id="315" name="Freeform 315"/>
                <p:cNvSpPr/>
                <p:nvPr/>
              </p:nvSpPr>
              <p:spPr>
                <a:xfrm>
                  <a:off x="3861594" y="5699125"/>
                  <a:ext cx="11112" cy="9525"/>
                </a:xfrm>
                <a:custGeom>
                  <a:avLst/>
                  <a:gdLst/>
                  <a:ahLst/>
                  <a:cxnLst/>
                  <a:rect l="l" t="t" r="r" b="b"/>
                  <a:pathLst>
                    <a:path w="11112" h="9525">
                      <a:moveTo>
                        <a:pt x="0" y="0"/>
                      </a:moveTo>
                      <a:lnTo>
                        <a:pt x="11112" y="0"/>
                      </a:lnTo>
                    </a:path>
                  </a:pathLst>
                </a:custGeom>
                <a:noFill/>
                <a:ln w="11112">
                  <a:solidFill>
                    <a:srgbClr val="8AA39C"/>
                  </a:solidFill>
                </a:ln>
              </p:spPr>
            </p:sp>
            <p:sp>
              <p:nvSpPr>
                <p:cNvPr id="316" name="Freeform 316"/>
                <p:cNvSpPr/>
                <p:nvPr/>
              </p:nvSpPr>
              <p:spPr>
                <a:xfrm>
                  <a:off x="3867150" y="5771356"/>
                  <a:ext cx="9525" cy="9525"/>
                </a:xfrm>
                <a:custGeom>
                  <a:avLst/>
                  <a:gdLst/>
                  <a:ahLst/>
                  <a:cxnLst/>
                  <a:rect l="l" t="t" r="r" b="b"/>
                  <a:pathLst>
                    <a:path w="9525" h="9525">
                      <a:moveTo>
                        <a:pt x="0" y="0"/>
                      </a:moveTo>
                      <a:lnTo>
                        <a:pt x="0" y="56"/>
                      </a:lnTo>
                    </a:path>
                  </a:pathLst>
                </a:custGeom>
                <a:noFill/>
                <a:ln w="11112">
                  <a:solidFill>
                    <a:srgbClr val="8AA39C"/>
                  </a:solidFill>
                </a:ln>
              </p:spPr>
            </p:sp>
          </p:grpSp>
          <p:grpSp>
            <p:nvGrpSpPr>
              <p:cNvPr id="322" name="Group 322"/>
              <p:cNvGrpSpPr/>
              <p:nvPr/>
            </p:nvGrpSpPr>
            <p:grpSpPr>
              <a:xfrm>
                <a:off x="4036219" y="5693569"/>
                <a:ext cx="100012" cy="100012"/>
                <a:chOff x="4036219" y="5693569"/>
                <a:chExt cx="100012" cy="100012"/>
              </a:xfrm>
            </p:grpSpPr>
            <p:sp>
              <p:nvSpPr>
                <p:cNvPr id="318" name="Freeform 318"/>
                <p:cNvSpPr/>
                <p:nvPr/>
              </p:nvSpPr>
              <p:spPr>
                <a:xfrm>
                  <a:off x="4047331" y="56935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8AA39C"/>
                  </a:solidFill>
                </a:ln>
              </p:spPr>
            </p:sp>
            <p:sp>
              <p:nvSpPr>
                <p:cNvPr id="319" name="Freeform 319"/>
                <p:cNvSpPr/>
                <p:nvPr/>
              </p:nvSpPr>
              <p:spPr>
                <a:xfrm>
                  <a:off x="4036219" y="57602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8AA39C"/>
                  </a:solidFill>
                </a:ln>
              </p:spPr>
            </p:sp>
            <p:sp>
              <p:nvSpPr>
                <p:cNvPr id="320" name="Freeform 320"/>
                <p:cNvSpPr/>
                <p:nvPr/>
              </p:nvSpPr>
              <p:spPr>
                <a:xfrm>
                  <a:off x="4108450" y="56942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8AA39C"/>
                  </a:solidFill>
                </a:ln>
              </p:spPr>
            </p:sp>
            <p:sp>
              <p:nvSpPr>
                <p:cNvPr id="321" name="Freeform 321"/>
                <p:cNvSpPr/>
                <p:nvPr/>
              </p:nvSpPr>
              <p:spPr>
                <a:xfrm>
                  <a:off x="4119562" y="57610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8AA39C"/>
                  </a:solidFill>
                </a:ln>
              </p:spPr>
            </p:sp>
          </p:grpSp>
          <p:sp>
            <p:nvSpPr>
              <p:cNvPr id="323" name="TextBox 323"/>
              <p:cNvSpPr txBox="1"/>
              <p:nvPr/>
            </p:nvSpPr>
            <p:spPr>
              <a:xfrm>
                <a:off x="3665115" y="6404134"/>
                <a:ext cx="404069"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≤1次/天​</a:t>
                </a:r>
              </a:p>
            </p:txBody>
          </p:sp>
          <p:sp>
            <p:nvSpPr>
              <p:cNvPr id="324" name="Rectangle 324"/>
              <p:cNvSpPr/>
              <p:nvPr/>
            </p:nvSpPr>
            <p:spPr>
              <a:xfrm>
                <a:off x="4438650" y="4114800"/>
                <a:ext cx="990600" cy="1809750"/>
              </a:xfrm>
              <a:prstGeom prst="roundRect">
                <a:avLst>
                  <a:gd name="adj" fmla="val 5769"/>
                </a:avLst>
              </a:prstGeom>
              <a:solidFill>
                <a:srgbClr val="FFFFFF"/>
              </a:solidFill>
              <a:ln w="7620">
                <a:solidFill>
                  <a:srgbClr val="D9E8E2"/>
                </a:solidFill>
              </a:ln>
            </p:spPr>
          </p:sp>
          <p:sp>
            <p:nvSpPr>
              <p:cNvPr id="325" name="Rectangle 325"/>
              <p:cNvSpPr/>
              <p:nvPr/>
            </p:nvSpPr>
            <p:spPr>
              <a:xfrm>
                <a:off x="4438650" y="4114800"/>
                <a:ext cx="990600" cy="209550"/>
              </a:xfrm>
              <a:prstGeom prst="roundRect">
                <a:avLst>
                  <a:gd name="adj" fmla="val 27273"/>
                </a:avLst>
              </a:prstGeom>
              <a:solidFill>
                <a:srgbClr val="5B180B"/>
              </a:solidFill>
              <a:ln>
                <a:noFill/>
              </a:ln>
            </p:spPr>
          </p:sp>
          <p:sp>
            <p:nvSpPr>
              <p:cNvPr id="326" name="TextBox 326"/>
              <p:cNvSpPr txBox="1"/>
              <p:nvPr/>
            </p:nvSpPr>
            <p:spPr>
              <a:xfrm>
                <a:off x="4731781" y="4180761"/>
                <a:ext cx="40433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D4 周四​</a:t>
                </a:r>
              </a:p>
            </p:txBody>
          </p:sp>
          <p:grpSp>
            <p:nvGrpSpPr>
              <p:cNvPr id="330" name="Group 330"/>
              <p:cNvGrpSpPr/>
              <p:nvPr/>
            </p:nvGrpSpPr>
            <p:grpSpPr>
              <a:xfrm>
                <a:off x="4852054" y="4448175"/>
                <a:ext cx="163773" cy="170402"/>
                <a:chOff x="4852054" y="4448175"/>
                <a:chExt cx="163773" cy="170402"/>
              </a:xfrm>
            </p:grpSpPr>
            <p:sp>
              <p:nvSpPr>
                <p:cNvPr id="327" name="Freeform 327"/>
                <p:cNvSpPr/>
                <p:nvPr/>
              </p:nvSpPr>
              <p:spPr>
                <a:xfrm>
                  <a:off x="4876800" y="444817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5B180B"/>
                  </a:solidFill>
                </a:ln>
              </p:spPr>
            </p:sp>
            <p:sp>
              <p:nvSpPr>
                <p:cNvPr id="328" name="Freeform 328"/>
                <p:cNvSpPr/>
                <p:nvPr/>
              </p:nvSpPr>
              <p:spPr>
                <a:xfrm>
                  <a:off x="4933950" y="453390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5B180B"/>
                  </a:solidFill>
                </a:ln>
              </p:spPr>
            </p:sp>
            <p:sp>
              <p:nvSpPr>
                <p:cNvPr id="329" name="Freeform 329"/>
                <p:cNvSpPr/>
                <p:nvPr/>
              </p:nvSpPr>
              <p:spPr>
                <a:xfrm>
                  <a:off x="4852054" y="453390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5B180B"/>
                  </a:solidFill>
                </a:ln>
              </p:spPr>
            </p:sp>
          </p:grpSp>
          <p:sp>
            <p:nvSpPr>
              <p:cNvPr id="331" name="TextBox 331"/>
              <p:cNvSpPr txBox="1"/>
              <p:nvPr/>
            </p:nvSpPr>
            <p:spPr>
              <a:xfrm>
                <a:off x="4685779" y="475368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权益强化​</a:t>
                </a:r>
              </a:p>
            </p:txBody>
          </p:sp>
          <p:sp>
            <p:nvSpPr>
              <p:cNvPr id="332" name="TextBox 332"/>
              <p:cNvSpPr txBox="1"/>
              <p:nvPr/>
            </p:nvSpPr>
            <p:spPr>
              <a:xfrm>
                <a:off x="4682294" y="493037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限时权益提醒​</a:t>
                </a:r>
              </a:p>
            </p:txBody>
          </p:sp>
          <p:sp>
            <p:nvSpPr>
              <p:cNvPr id="333" name="TextBox 333"/>
              <p:cNvSpPr txBox="1"/>
              <p:nvPr/>
            </p:nvSpPr>
            <p:spPr>
              <a:xfrm>
                <a:off x="4682294" y="5044678"/>
                <a:ext cx="503311"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增强参与意愿​</a:t>
                </a:r>
              </a:p>
            </p:txBody>
          </p:sp>
          <p:grpSp>
            <p:nvGrpSpPr>
              <p:cNvPr id="337" name="Group 337"/>
              <p:cNvGrpSpPr/>
              <p:nvPr/>
            </p:nvGrpSpPr>
            <p:grpSpPr>
              <a:xfrm>
                <a:off x="4681537" y="5693569"/>
                <a:ext cx="66675" cy="100012"/>
                <a:chOff x="4681537" y="5693569"/>
                <a:chExt cx="66675" cy="100012"/>
              </a:xfrm>
            </p:grpSpPr>
            <p:sp>
              <p:nvSpPr>
                <p:cNvPr id="334" name="Freeform 334"/>
                <p:cNvSpPr/>
                <p:nvPr/>
              </p:nvSpPr>
              <p:spPr>
                <a:xfrm>
                  <a:off x="4681537" y="569356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8AA39C"/>
                  </a:solidFill>
                </a:ln>
              </p:spPr>
            </p:sp>
            <p:sp>
              <p:nvSpPr>
                <p:cNvPr id="335" name="Freeform 335"/>
                <p:cNvSpPr/>
                <p:nvPr/>
              </p:nvSpPr>
              <p:spPr>
                <a:xfrm>
                  <a:off x="4709319" y="5699125"/>
                  <a:ext cx="11112" cy="9525"/>
                </a:xfrm>
                <a:custGeom>
                  <a:avLst/>
                  <a:gdLst/>
                  <a:ahLst/>
                  <a:cxnLst/>
                  <a:rect l="l" t="t" r="r" b="b"/>
                  <a:pathLst>
                    <a:path w="11112" h="9525">
                      <a:moveTo>
                        <a:pt x="0" y="0"/>
                      </a:moveTo>
                      <a:lnTo>
                        <a:pt x="11112" y="0"/>
                      </a:lnTo>
                    </a:path>
                  </a:pathLst>
                </a:custGeom>
                <a:noFill/>
                <a:ln w="11112">
                  <a:solidFill>
                    <a:srgbClr val="8AA39C"/>
                  </a:solidFill>
                </a:ln>
              </p:spPr>
            </p:sp>
            <p:sp>
              <p:nvSpPr>
                <p:cNvPr id="336" name="Freeform 336"/>
                <p:cNvSpPr/>
                <p:nvPr/>
              </p:nvSpPr>
              <p:spPr>
                <a:xfrm>
                  <a:off x="4714875" y="5771356"/>
                  <a:ext cx="9525" cy="9525"/>
                </a:xfrm>
                <a:custGeom>
                  <a:avLst/>
                  <a:gdLst/>
                  <a:ahLst/>
                  <a:cxnLst/>
                  <a:rect l="l" t="t" r="r" b="b"/>
                  <a:pathLst>
                    <a:path w="9525" h="9525">
                      <a:moveTo>
                        <a:pt x="0" y="0"/>
                      </a:moveTo>
                      <a:lnTo>
                        <a:pt x="0" y="56"/>
                      </a:lnTo>
                    </a:path>
                  </a:pathLst>
                </a:custGeom>
                <a:noFill/>
                <a:ln w="11112">
                  <a:solidFill>
                    <a:srgbClr val="8AA39C"/>
                  </a:solidFill>
                </a:ln>
              </p:spPr>
            </p:sp>
          </p:grpSp>
          <p:grpSp>
            <p:nvGrpSpPr>
              <p:cNvPr id="343" name="Group 343"/>
              <p:cNvGrpSpPr/>
              <p:nvPr/>
            </p:nvGrpSpPr>
            <p:grpSpPr>
              <a:xfrm>
                <a:off x="4895056" y="5693569"/>
                <a:ext cx="77787" cy="100012"/>
                <a:chOff x="4895056" y="5693569"/>
                <a:chExt cx="77787" cy="100012"/>
              </a:xfrm>
            </p:grpSpPr>
            <p:sp>
              <p:nvSpPr>
                <p:cNvPr id="338" name="Freeform 338"/>
                <p:cNvSpPr/>
                <p:nvPr/>
              </p:nvSpPr>
              <p:spPr>
                <a:xfrm>
                  <a:off x="4945062" y="56935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8AA39C"/>
                  </a:solidFill>
                </a:ln>
              </p:spPr>
            </p:sp>
            <p:sp>
              <p:nvSpPr>
                <p:cNvPr id="339" name="Freeform 339"/>
                <p:cNvSpPr/>
                <p:nvPr/>
              </p:nvSpPr>
              <p:spPr>
                <a:xfrm>
                  <a:off x="4895056" y="56935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8AA39C"/>
                  </a:solidFill>
                </a:ln>
              </p:spPr>
            </p:sp>
            <p:sp>
              <p:nvSpPr>
                <p:cNvPr id="340" name="Freeform 340"/>
                <p:cNvSpPr/>
                <p:nvPr/>
              </p:nvSpPr>
              <p:spPr>
                <a:xfrm>
                  <a:off x="4917281" y="5726906"/>
                  <a:ext cx="9525" cy="9525"/>
                </a:xfrm>
                <a:custGeom>
                  <a:avLst/>
                  <a:gdLst/>
                  <a:ahLst/>
                  <a:cxnLst/>
                  <a:rect l="l" t="t" r="r" b="b"/>
                  <a:pathLst>
                    <a:path w="9525" h="9525">
                      <a:moveTo>
                        <a:pt x="0" y="0"/>
                      </a:moveTo>
                      <a:lnTo>
                        <a:pt x="5556" y="0"/>
                      </a:lnTo>
                    </a:path>
                  </a:pathLst>
                </a:custGeom>
                <a:noFill/>
                <a:ln w="11112">
                  <a:solidFill>
                    <a:srgbClr val="8AA39C"/>
                  </a:solidFill>
                </a:ln>
              </p:spPr>
            </p:sp>
            <p:sp>
              <p:nvSpPr>
                <p:cNvPr id="341" name="Freeform 341"/>
                <p:cNvSpPr/>
                <p:nvPr/>
              </p:nvSpPr>
              <p:spPr>
                <a:xfrm>
                  <a:off x="4917281" y="5749131"/>
                  <a:ext cx="33337" cy="9525"/>
                </a:xfrm>
                <a:custGeom>
                  <a:avLst/>
                  <a:gdLst/>
                  <a:ahLst/>
                  <a:cxnLst/>
                  <a:rect l="l" t="t" r="r" b="b"/>
                  <a:pathLst>
                    <a:path w="33337" h="9525">
                      <a:moveTo>
                        <a:pt x="0" y="0"/>
                      </a:moveTo>
                      <a:lnTo>
                        <a:pt x="33337" y="0"/>
                      </a:lnTo>
                    </a:path>
                  </a:pathLst>
                </a:custGeom>
                <a:noFill/>
                <a:ln w="11112">
                  <a:solidFill>
                    <a:srgbClr val="8AA39C"/>
                  </a:solidFill>
                </a:ln>
              </p:spPr>
            </p:sp>
            <p:sp>
              <p:nvSpPr>
                <p:cNvPr id="342" name="Freeform 342"/>
                <p:cNvSpPr/>
                <p:nvPr/>
              </p:nvSpPr>
              <p:spPr>
                <a:xfrm>
                  <a:off x="4917281" y="5771356"/>
                  <a:ext cx="33337" cy="9525"/>
                </a:xfrm>
                <a:custGeom>
                  <a:avLst/>
                  <a:gdLst/>
                  <a:ahLst/>
                  <a:cxnLst/>
                  <a:rect l="l" t="t" r="r" b="b"/>
                  <a:pathLst>
                    <a:path w="33337" h="9525">
                      <a:moveTo>
                        <a:pt x="0" y="0"/>
                      </a:moveTo>
                      <a:lnTo>
                        <a:pt x="33337" y="0"/>
                      </a:lnTo>
                    </a:path>
                  </a:pathLst>
                </a:custGeom>
                <a:noFill/>
                <a:ln w="11112">
                  <a:solidFill>
                    <a:srgbClr val="8AA39C"/>
                  </a:solidFill>
                </a:ln>
              </p:spPr>
            </p:sp>
          </p:grpSp>
          <p:sp>
            <p:nvSpPr>
              <p:cNvPr id="344" name="Freeform 344"/>
              <p:cNvSpPr/>
              <p:nvPr/>
            </p:nvSpPr>
            <p:spPr>
              <a:xfrm>
                <a:off x="5097329" y="56948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8AA39C"/>
                </a:solidFill>
              </a:ln>
            </p:spPr>
          </p:sp>
          <p:sp>
            <p:nvSpPr>
              <p:cNvPr id="345" name="TextBox 345"/>
              <p:cNvSpPr txBox="1"/>
              <p:nvPr/>
            </p:nvSpPr>
            <p:spPr>
              <a:xfrm>
                <a:off x="4731915" y="6404134"/>
                <a:ext cx="404069"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≤1次/天​</a:t>
                </a:r>
              </a:p>
            </p:txBody>
          </p:sp>
          <p:sp>
            <p:nvSpPr>
              <p:cNvPr id="346" name="Rectangle 346"/>
              <p:cNvSpPr/>
              <p:nvPr/>
            </p:nvSpPr>
            <p:spPr>
              <a:xfrm>
                <a:off x="5505450" y="4114800"/>
                <a:ext cx="990600" cy="1809750"/>
              </a:xfrm>
              <a:prstGeom prst="roundRect">
                <a:avLst>
                  <a:gd name="adj" fmla="val 5769"/>
                </a:avLst>
              </a:prstGeom>
              <a:solidFill>
                <a:srgbClr val="FFFFFF"/>
              </a:solidFill>
              <a:ln w="7620">
                <a:solidFill>
                  <a:srgbClr val="D9E8E2"/>
                </a:solidFill>
              </a:ln>
            </p:spPr>
          </p:sp>
          <p:sp>
            <p:nvSpPr>
              <p:cNvPr id="347" name="Rectangle 347"/>
              <p:cNvSpPr/>
              <p:nvPr/>
            </p:nvSpPr>
            <p:spPr>
              <a:xfrm>
                <a:off x="5505450" y="4114800"/>
                <a:ext cx="990600" cy="209550"/>
              </a:xfrm>
              <a:prstGeom prst="roundRect">
                <a:avLst>
                  <a:gd name="adj" fmla="val 27273"/>
                </a:avLst>
              </a:prstGeom>
              <a:solidFill>
                <a:srgbClr val="5B180B"/>
              </a:solidFill>
              <a:ln>
                <a:noFill/>
              </a:ln>
            </p:spPr>
          </p:sp>
          <p:sp>
            <p:nvSpPr>
              <p:cNvPr id="348" name="TextBox 348"/>
              <p:cNvSpPr txBox="1"/>
              <p:nvPr/>
            </p:nvSpPr>
            <p:spPr>
              <a:xfrm>
                <a:off x="5798581" y="4180761"/>
                <a:ext cx="40433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D5 周五​</a:t>
                </a:r>
              </a:p>
            </p:txBody>
          </p:sp>
          <p:grpSp>
            <p:nvGrpSpPr>
              <p:cNvPr id="353" name="Group 353"/>
              <p:cNvGrpSpPr/>
              <p:nvPr/>
            </p:nvGrpSpPr>
            <p:grpSpPr>
              <a:xfrm>
                <a:off x="5915025" y="4448175"/>
                <a:ext cx="171450" cy="171450"/>
                <a:chOff x="5915025" y="4448175"/>
                <a:chExt cx="171450" cy="171450"/>
              </a:xfrm>
            </p:grpSpPr>
            <p:sp>
              <p:nvSpPr>
                <p:cNvPr id="349" name="Freeform 349"/>
                <p:cNvSpPr/>
                <p:nvPr/>
              </p:nvSpPr>
              <p:spPr>
                <a:xfrm>
                  <a:off x="5934075" y="44481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5B180B"/>
                  </a:solidFill>
                </a:ln>
              </p:spPr>
            </p:sp>
            <p:sp>
              <p:nvSpPr>
                <p:cNvPr id="350" name="Freeform 350"/>
                <p:cNvSpPr/>
                <p:nvPr/>
              </p:nvSpPr>
              <p:spPr>
                <a:xfrm>
                  <a:off x="5915025" y="45624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5B180B"/>
                  </a:solidFill>
                </a:ln>
              </p:spPr>
            </p:sp>
            <p:sp>
              <p:nvSpPr>
                <p:cNvPr id="351" name="Freeform 351"/>
                <p:cNvSpPr/>
                <p:nvPr/>
              </p:nvSpPr>
              <p:spPr>
                <a:xfrm>
                  <a:off x="6038850" y="44494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5B180B"/>
                  </a:solidFill>
                </a:ln>
              </p:spPr>
            </p:sp>
            <p:sp>
              <p:nvSpPr>
                <p:cNvPr id="352" name="Freeform 352"/>
                <p:cNvSpPr/>
                <p:nvPr/>
              </p:nvSpPr>
              <p:spPr>
                <a:xfrm>
                  <a:off x="6057900" y="45639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5B180B"/>
                  </a:solidFill>
                </a:ln>
              </p:spPr>
            </p:sp>
          </p:grpSp>
          <p:sp>
            <p:nvSpPr>
              <p:cNvPr id="354" name="TextBox 354"/>
              <p:cNvSpPr txBox="1"/>
              <p:nvPr/>
            </p:nvSpPr>
            <p:spPr>
              <a:xfrm>
                <a:off x="5752579" y="475368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到店引导​</a:t>
                </a:r>
              </a:p>
            </p:txBody>
          </p:sp>
          <p:sp>
            <p:nvSpPr>
              <p:cNvPr id="355" name="TextBox 355"/>
              <p:cNvSpPr txBox="1"/>
              <p:nvPr/>
            </p:nvSpPr>
            <p:spPr>
              <a:xfrm>
                <a:off x="5636014" y="4930378"/>
                <a:ext cx="729473"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预约确认与行程指引​</a:t>
                </a:r>
              </a:p>
            </p:txBody>
          </p:sp>
          <p:sp>
            <p:nvSpPr>
              <p:cNvPr id="356" name="Freeform 356"/>
              <p:cNvSpPr/>
              <p:nvPr/>
            </p:nvSpPr>
            <p:spPr>
              <a:xfrm>
                <a:off x="5725979" y="56948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8AA39C"/>
                </a:solidFill>
              </a:ln>
            </p:spPr>
          </p:sp>
          <p:grpSp>
            <p:nvGrpSpPr>
              <p:cNvPr id="360" name="Group 360"/>
              <p:cNvGrpSpPr/>
              <p:nvPr/>
            </p:nvGrpSpPr>
            <p:grpSpPr>
              <a:xfrm>
                <a:off x="5967412" y="5693569"/>
                <a:ext cx="66675" cy="100012"/>
                <a:chOff x="5967412" y="5693569"/>
                <a:chExt cx="66675" cy="100012"/>
              </a:xfrm>
            </p:grpSpPr>
            <p:sp>
              <p:nvSpPr>
                <p:cNvPr id="357" name="Freeform 357"/>
                <p:cNvSpPr/>
                <p:nvPr/>
              </p:nvSpPr>
              <p:spPr>
                <a:xfrm>
                  <a:off x="5967412" y="569356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8AA39C"/>
                  </a:solidFill>
                </a:ln>
              </p:spPr>
            </p:sp>
            <p:sp>
              <p:nvSpPr>
                <p:cNvPr id="358" name="Freeform 358"/>
                <p:cNvSpPr/>
                <p:nvPr/>
              </p:nvSpPr>
              <p:spPr>
                <a:xfrm>
                  <a:off x="5995194" y="5699125"/>
                  <a:ext cx="11112" cy="9525"/>
                </a:xfrm>
                <a:custGeom>
                  <a:avLst/>
                  <a:gdLst/>
                  <a:ahLst/>
                  <a:cxnLst/>
                  <a:rect l="l" t="t" r="r" b="b"/>
                  <a:pathLst>
                    <a:path w="11112" h="9525">
                      <a:moveTo>
                        <a:pt x="0" y="0"/>
                      </a:moveTo>
                      <a:lnTo>
                        <a:pt x="11112" y="0"/>
                      </a:lnTo>
                    </a:path>
                  </a:pathLst>
                </a:custGeom>
                <a:noFill/>
                <a:ln w="11112">
                  <a:solidFill>
                    <a:srgbClr val="8AA39C"/>
                  </a:solidFill>
                </a:ln>
              </p:spPr>
            </p:sp>
            <p:sp>
              <p:nvSpPr>
                <p:cNvPr id="359" name="Freeform 359"/>
                <p:cNvSpPr/>
                <p:nvPr/>
              </p:nvSpPr>
              <p:spPr>
                <a:xfrm>
                  <a:off x="6000750" y="5771356"/>
                  <a:ext cx="9525" cy="9525"/>
                </a:xfrm>
                <a:custGeom>
                  <a:avLst/>
                  <a:gdLst/>
                  <a:ahLst/>
                  <a:cxnLst/>
                  <a:rect l="l" t="t" r="r" b="b"/>
                  <a:pathLst>
                    <a:path w="9525" h="9525">
                      <a:moveTo>
                        <a:pt x="0" y="0"/>
                      </a:moveTo>
                      <a:lnTo>
                        <a:pt x="0" y="56"/>
                      </a:lnTo>
                    </a:path>
                  </a:pathLst>
                </a:custGeom>
                <a:noFill/>
                <a:ln w="11112">
                  <a:solidFill>
                    <a:srgbClr val="8AA39C"/>
                  </a:solidFill>
                </a:ln>
              </p:spPr>
            </p:sp>
          </p:grpSp>
          <p:grpSp>
            <p:nvGrpSpPr>
              <p:cNvPr id="364" name="Group 364"/>
              <p:cNvGrpSpPr/>
              <p:nvPr/>
            </p:nvGrpSpPr>
            <p:grpSpPr>
              <a:xfrm>
                <a:off x="6169819" y="5693569"/>
                <a:ext cx="100012" cy="100012"/>
                <a:chOff x="6169819" y="5693569"/>
                <a:chExt cx="100012" cy="100012"/>
              </a:xfrm>
            </p:grpSpPr>
            <p:sp>
              <p:nvSpPr>
                <p:cNvPr id="361" name="Freeform 361"/>
                <p:cNvSpPr/>
                <p:nvPr/>
              </p:nvSpPr>
              <p:spPr>
                <a:xfrm>
                  <a:off x="6169819" y="5693569"/>
                  <a:ext cx="100012" cy="50006"/>
                </a:xfrm>
                <a:custGeom>
                  <a:avLst/>
                  <a:gdLst/>
                  <a:ahLst/>
                  <a:cxnLst/>
                  <a:rect l="l" t="t" r="r" b="b"/>
                  <a:pathLst>
                    <a:path w="100012" h="50006">
                      <a:moveTo>
                        <a:pt x="11112" y="50006"/>
                      </a:moveTo>
                      <a:lnTo>
                        <a:pt x="0" y="50006"/>
                      </a:lnTo>
                      <a:lnTo>
                        <a:pt x="50006" y="0"/>
                      </a:lnTo>
                      <a:lnTo>
                        <a:pt x="100012" y="50006"/>
                      </a:lnTo>
                      <a:lnTo>
                        <a:pt x="88900" y="50006"/>
                      </a:lnTo>
                    </a:path>
                  </a:pathLst>
                </a:custGeom>
                <a:noFill/>
                <a:ln w="11112">
                  <a:solidFill>
                    <a:srgbClr val="8AA39C"/>
                  </a:solidFill>
                </a:ln>
              </p:spPr>
            </p:sp>
            <p:sp>
              <p:nvSpPr>
                <p:cNvPr id="362" name="Freeform 362"/>
                <p:cNvSpPr/>
                <p:nvPr/>
              </p:nvSpPr>
              <p:spPr>
                <a:xfrm>
                  <a:off x="6180931" y="5743575"/>
                  <a:ext cx="77787" cy="50006"/>
                </a:xfrm>
                <a:custGeom>
                  <a:avLst/>
                  <a:gdLst/>
                  <a:ahLst/>
                  <a:cxnLst/>
                  <a:rect l="l" t="t" r="r" b="b"/>
                  <a:pathLst>
                    <a:path w="77787" h="50006">
                      <a:moveTo>
                        <a:pt x="0" y="0"/>
                      </a:moveTo>
                      <a:lnTo>
                        <a:pt x="0" y="38894"/>
                      </a:lnTo>
                      <a:cubicBezTo>
                        <a:pt x="0" y="45031"/>
                        <a:pt x="4975" y="50006"/>
                        <a:pt x="11112" y="50006"/>
                      </a:cubicBezTo>
                      <a:lnTo>
                        <a:pt x="66675" y="50006"/>
                      </a:lnTo>
                      <a:cubicBezTo>
                        <a:pt x="72812" y="50006"/>
                        <a:pt x="77787" y="45031"/>
                        <a:pt x="77787" y="38894"/>
                      </a:cubicBezTo>
                      <a:lnTo>
                        <a:pt x="77787" y="0"/>
                      </a:lnTo>
                    </a:path>
                  </a:pathLst>
                </a:custGeom>
                <a:noFill/>
                <a:ln w="11112">
                  <a:solidFill>
                    <a:srgbClr val="8AA39C"/>
                  </a:solidFill>
                </a:ln>
              </p:spPr>
            </p:sp>
            <p:sp>
              <p:nvSpPr>
                <p:cNvPr id="363" name="Freeform 363"/>
                <p:cNvSpPr/>
                <p:nvPr/>
              </p:nvSpPr>
              <p:spPr>
                <a:xfrm>
                  <a:off x="6203156" y="5749131"/>
                  <a:ext cx="33337" cy="44450"/>
                </a:xfrm>
                <a:custGeom>
                  <a:avLst/>
                  <a:gdLst/>
                  <a:ahLst/>
                  <a:cxnLst/>
                  <a:rect l="l" t="t" r="r" b="b"/>
                  <a:pathLst>
                    <a:path w="33337" h="44450">
                      <a:moveTo>
                        <a:pt x="0" y="44450"/>
                      </a:moveTo>
                      <a:lnTo>
                        <a:pt x="0" y="11112"/>
                      </a:lnTo>
                      <a:cubicBezTo>
                        <a:pt x="0" y="4975"/>
                        <a:pt x="4975" y="0"/>
                        <a:pt x="11112" y="0"/>
                      </a:cubicBezTo>
                      <a:lnTo>
                        <a:pt x="22225" y="0"/>
                      </a:lnTo>
                      <a:cubicBezTo>
                        <a:pt x="28362" y="0"/>
                        <a:pt x="33337" y="4975"/>
                        <a:pt x="33337" y="11112"/>
                      </a:cubicBezTo>
                      <a:lnTo>
                        <a:pt x="33337" y="44450"/>
                      </a:lnTo>
                    </a:path>
                  </a:pathLst>
                </a:custGeom>
                <a:noFill/>
                <a:ln w="11112">
                  <a:solidFill>
                    <a:srgbClr val="8AA39C"/>
                  </a:solidFill>
                </a:ln>
              </p:spPr>
            </p:sp>
          </p:grpSp>
          <p:sp>
            <p:nvSpPr>
              <p:cNvPr id="365" name="TextBox 365"/>
              <p:cNvSpPr txBox="1"/>
              <p:nvPr/>
            </p:nvSpPr>
            <p:spPr>
              <a:xfrm>
                <a:off x="5798715" y="6404134"/>
                <a:ext cx="404069"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≤1次/天​</a:t>
                </a:r>
              </a:p>
            </p:txBody>
          </p:sp>
          <p:sp>
            <p:nvSpPr>
              <p:cNvPr id="366" name="Rectangle 366"/>
              <p:cNvSpPr/>
              <p:nvPr/>
            </p:nvSpPr>
            <p:spPr>
              <a:xfrm>
                <a:off x="6572250" y="4114800"/>
                <a:ext cx="990600" cy="1809750"/>
              </a:xfrm>
              <a:prstGeom prst="roundRect">
                <a:avLst>
                  <a:gd name="adj" fmla="val 5769"/>
                </a:avLst>
              </a:prstGeom>
              <a:solidFill>
                <a:srgbClr val="FFFFFF"/>
              </a:solidFill>
              <a:ln w="7620">
                <a:solidFill>
                  <a:srgbClr val="D9E8E2"/>
                </a:solidFill>
              </a:ln>
            </p:spPr>
          </p:sp>
          <p:sp>
            <p:nvSpPr>
              <p:cNvPr id="367" name="Rectangle 367"/>
              <p:cNvSpPr/>
              <p:nvPr/>
            </p:nvSpPr>
            <p:spPr>
              <a:xfrm>
                <a:off x="6572250" y="4114800"/>
                <a:ext cx="990600" cy="209550"/>
              </a:xfrm>
              <a:prstGeom prst="roundRect">
                <a:avLst>
                  <a:gd name="adj" fmla="val 27273"/>
                </a:avLst>
              </a:prstGeom>
              <a:solidFill>
                <a:srgbClr val="5B180B"/>
              </a:solidFill>
              <a:ln>
                <a:noFill/>
              </a:ln>
            </p:spPr>
          </p:sp>
          <p:sp>
            <p:nvSpPr>
              <p:cNvPr id="368" name="TextBox 368"/>
              <p:cNvSpPr txBox="1"/>
              <p:nvPr/>
            </p:nvSpPr>
            <p:spPr>
              <a:xfrm>
                <a:off x="6865381" y="4180761"/>
                <a:ext cx="40433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D6 周六​</a:t>
                </a:r>
              </a:p>
            </p:txBody>
          </p:sp>
          <p:grpSp>
            <p:nvGrpSpPr>
              <p:cNvPr id="372" name="Group 372"/>
              <p:cNvGrpSpPr/>
              <p:nvPr/>
            </p:nvGrpSpPr>
            <p:grpSpPr>
              <a:xfrm>
                <a:off x="6981825" y="4448175"/>
                <a:ext cx="171450" cy="171450"/>
                <a:chOff x="6981825" y="4448175"/>
                <a:chExt cx="171450" cy="171450"/>
              </a:xfrm>
            </p:grpSpPr>
            <p:sp>
              <p:nvSpPr>
                <p:cNvPr id="369" name="Freeform 369"/>
                <p:cNvSpPr/>
                <p:nvPr/>
              </p:nvSpPr>
              <p:spPr>
                <a:xfrm>
                  <a:off x="6981825" y="444817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5B180B"/>
                  </a:solidFill>
                </a:ln>
              </p:spPr>
            </p:sp>
            <p:sp>
              <p:nvSpPr>
                <p:cNvPr id="370" name="Freeform 370"/>
                <p:cNvSpPr/>
                <p:nvPr/>
              </p:nvSpPr>
              <p:spPr>
                <a:xfrm>
                  <a:off x="7000875" y="453390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5B180B"/>
                  </a:solidFill>
                </a:ln>
              </p:spPr>
            </p:sp>
            <p:sp>
              <p:nvSpPr>
                <p:cNvPr id="371" name="Freeform 371"/>
                <p:cNvSpPr/>
                <p:nvPr/>
              </p:nvSpPr>
              <p:spPr>
                <a:xfrm>
                  <a:off x="7038975" y="454342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5B180B"/>
                  </a:solidFill>
                </a:ln>
              </p:spPr>
            </p:sp>
          </p:grpSp>
          <p:sp>
            <p:nvSpPr>
              <p:cNvPr id="373" name="TextBox 373"/>
              <p:cNvSpPr txBox="1"/>
              <p:nvPr/>
            </p:nvSpPr>
            <p:spPr>
              <a:xfrm>
                <a:off x="6819379" y="475368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活动执行​</a:t>
                </a:r>
              </a:p>
            </p:txBody>
          </p:sp>
          <p:sp>
            <p:nvSpPr>
              <p:cNvPr id="374" name="TextBox 374"/>
              <p:cNvSpPr txBox="1"/>
              <p:nvPr/>
            </p:nvSpPr>
            <p:spPr>
              <a:xfrm>
                <a:off x="6719776" y="4930378"/>
                <a:ext cx="695549"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厅堂沙龙/远程面谈​</a:t>
                </a:r>
              </a:p>
            </p:txBody>
          </p:sp>
          <p:sp>
            <p:nvSpPr>
              <p:cNvPr id="375" name="TextBox 375"/>
              <p:cNvSpPr txBox="1"/>
              <p:nvPr/>
            </p:nvSpPr>
            <p:spPr>
              <a:xfrm>
                <a:off x="6891282" y="5044678"/>
                <a:ext cx="352537"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深度沟通​</a:t>
                </a:r>
              </a:p>
            </p:txBody>
          </p:sp>
          <p:grpSp>
            <p:nvGrpSpPr>
              <p:cNvPr id="384" name="Group 384"/>
              <p:cNvGrpSpPr/>
              <p:nvPr/>
            </p:nvGrpSpPr>
            <p:grpSpPr>
              <a:xfrm>
                <a:off x="6798469" y="5693569"/>
                <a:ext cx="103981" cy="109537"/>
                <a:chOff x="6798469" y="5693569"/>
                <a:chExt cx="103981" cy="109537"/>
              </a:xfrm>
            </p:grpSpPr>
            <p:sp>
              <p:nvSpPr>
                <p:cNvPr id="376" name="Freeform 376"/>
                <p:cNvSpPr/>
                <p:nvPr/>
              </p:nvSpPr>
              <p:spPr>
                <a:xfrm>
                  <a:off x="6798469" y="5793581"/>
                  <a:ext cx="100012" cy="9525"/>
                </a:xfrm>
                <a:custGeom>
                  <a:avLst/>
                  <a:gdLst/>
                  <a:ahLst/>
                  <a:cxnLst/>
                  <a:rect l="l" t="t" r="r" b="b"/>
                  <a:pathLst>
                    <a:path w="100012" h="9525">
                      <a:moveTo>
                        <a:pt x="0" y="0"/>
                      </a:moveTo>
                      <a:lnTo>
                        <a:pt x="100012" y="0"/>
                      </a:lnTo>
                    </a:path>
                  </a:pathLst>
                </a:custGeom>
                <a:noFill/>
                <a:ln w="11112">
                  <a:solidFill>
                    <a:srgbClr val="8AA39C"/>
                  </a:solidFill>
                </a:ln>
              </p:spPr>
            </p:sp>
            <p:sp>
              <p:nvSpPr>
                <p:cNvPr id="377" name="Freeform 377"/>
                <p:cNvSpPr/>
                <p:nvPr/>
              </p:nvSpPr>
              <p:spPr>
                <a:xfrm>
                  <a:off x="6798469" y="5732462"/>
                  <a:ext cx="100012" cy="9525"/>
                </a:xfrm>
                <a:custGeom>
                  <a:avLst/>
                  <a:gdLst/>
                  <a:ahLst/>
                  <a:cxnLst/>
                  <a:rect l="l" t="t" r="r" b="b"/>
                  <a:pathLst>
                    <a:path w="100012" h="9525">
                      <a:moveTo>
                        <a:pt x="0" y="0"/>
                      </a:moveTo>
                      <a:lnTo>
                        <a:pt x="100012" y="0"/>
                      </a:lnTo>
                    </a:path>
                  </a:pathLst>
                </a:custGeom>
                <a:noFill/>
                <a:ln w="11112">
                  <a:solidFill>
                    <a:srgbClr val="8AA39C"/>
                  </a:solidFill>
                </a:ln>
              </p:spPr>
            </p:sp>
            <p:sp>
              <p:nvSpPr>
                <p:cNvPr id="378" name="Freeform 378"/>
                <p:cNvSpPr/>
                <p:nvPr/>
              </p:nvSpPr>
              <p:spPr>
                <a:xfrm>
                  <a:off x="6809581" y="5693569"/>
                  <a:ext cx="77787" cy="16669"/>
                </a:xfrm>
                <a:custGeom>
                  <a:avLst/>
                  <a:gdLst/>
                  <a:ahLst/>
                  <a:cxnLst/>
                  <a:rect l="l" t="t" r="r" b="b"/>
                  <a:pathLst>
                    <a:path w="77787" h="16669">
                      <a:moveTo>
                        <a:pt x="0" y="16669"/>
                      </a:moveTo>
                      <a:lnTo>
                        <a:pt x="38894" y="0"/>
                      </a:lnTo>
                      <a:lnTo>
                        <a:pt x="77787" y="16669"/>
                      </a:lnTo>
                    </a:path>
                  </a:pathLst>
                </a:custGeom>
                <a:noFill/>
                <a:ln w="11112">
                  <a:solidFill>
                    <a:srgbClr val="8AA39C"/>
                  </a:solidFill>
                </a:ln>
              </p:spPr>
            </p:sp>
            <p:sp>
              <p:nvSpPr>
                <p:cNvPr id="379" name="Freeform 379"/>
                <p:cNvSpPr/>
                <p:nvPr/>
              </p:nvSpPr>
              <p:spPr>
                <a:xfrm>
                  <a:off x="6804025" y="5732462"/>
                  <a:ext cx="9525" cy="61119"/>
                </a:xfrm>
                <a:custGeom>
                  <a:avLst/>
                  <a:gdLst/>
                  <a:ahLst/>
                  <a:cxnLst/>
                  <a:rect l="l" t="t" r="r" b="b"/>
                  <a:pathLst>
                    <a:path w="9525" h="61119">
                      <a:moveTo>
                        <a:pt x="0" y="0"/>
                      </a:moveTo>
                      <a:lnTo>
                        <a:pt x="0" y="61119"/>
                      </a:lnTo>
                    </a:path>
                  </a:pathLst>
                </a:custGeom>
                <a:noFill/>
                <a:ln w="11112">
                  <a:solidFill>
                    <a:srgbClr val="8AA39C"/>
                  </a:solidFill>
                </a:ln>
              </p:spPr>
            </p:sp>
            <p:sp>
              <p:nvSpPr>
                <p:cNvPr id="380" name="Freeform 380"/>
                <p:cNvSpPr/>
                <p:nvPr/>
              </p:nvSpPr>
              <p:spPr>
                <a:xfrm>
                  <a:off x="6892925" y="5732462"/>
                  <a:ext cx="9525" cy="61119"/>
                </a:xfrm>
                <a:custGeom>
                  <a:avLst/>
                  <a:gdLst/>
                  <a:ahLst/>
                  <a:cxnLst/>
                  <a:rect l="l" t="t" r="r" b="b"/>
                  <a:pathLst>
                    <a:path w="9525" h="61119">
                      <a:moveTo>
                        <a:pt x="0" y="0"/>
                      </a:moveTo>
                      <a:lnTo>
                        <a:pt x="0" y="61119"/>
                      </a:lnTo>
                    </a:path>
                  </a:pathLst>
                </a:custGeom>
                <a:noFill/>
                <a:ln w="11112">
                  <a:solidFill>
                    <a:srgbClr val="8AA39C"/>
                  </a:solidFill>
                </a:ln>
              </p:spPr>
            </p:sp>
            <p:sp>
              <p:nvSpPr>
                <p:cNvPr id="381" name="Freeform 381"/>
                <p:cNvSpPr/>
                <p:nvPr/>
              </p:nvSpPr>
              <p:spPr>
                <a:xfrm>
                  <a:off x="6826250" y="5754687"/>
                  <a:ext cx="9525" cy="16669"/>
                </a:xfrm>
                <a:custGeom>
                  <a:avLst/>
                  <a:gdLst/>
                  <a:ahLst/>
                  <a:cxnLst/>
                  <a:rect l="l" t="t" r="r" b="b"/>
                  <a:pathLst>
                    <a:path w="9525" h="16669">
                      <a:moveTo>
                        <a:pt x="0" y="0"/>
                      </a:moveTo>
                      <a:lnTo>
                        <a:pt x="0" y="16669"/>
                      </a:lnTo>
                    </a:path>
                  </a:pathLst>
                </a:custGeom>
                <a:noFill/>
                <a:ln w="11112">
                  <a:solidFill>
                    <a:srgbClr val="8AA39C"/>
                  </a:solidFill>
                </a:ln>
              </p:spPr>
            </p:sp>
            <p:sp>
              <p:nvSpPr>
                <p:cNvPr id="382" name="Freeform 382"/>
                <p:cNvSpPr/>
                <p:nvPr/>
              </p:nvSpPr>
              <p:spPr>
                <a:xfrm>
                  <a:off x="6848475" y="5754687"/>
                  <a:ext cx="9525" cy="16669"/>
                </a:xfrm>
                <a:custGeom>
                  <a:avLst/>
                  <a:gdLst/>
                  <a:ahLst/>
                  <a:cxnLst/>
                  <a:rect l="l" t="t" r="r" b="b"/>
                  <a:pathLst>
                    <a:path w="9525" h="16669">
                      <a:moveTo>
                        <a:pt x="0" y="0"/>
                      </a:moveTo>
                      <a:lnTo>
                        <a:pt x="0" y="16669"/>
                      </a:lnTo>
                    </a:path>
                  </a:pathLst>
                </a:custGeom>
                <a:noFill/>
                <a:ln w="11112">
                  <a:solidFill>
                    <a:srgbClr val="8AA39C"/>
                  </a:solidFill>
                </a:ln>
              </p:spPr>
            </p:sp>
            <p:sp>
              <p:nvSpPr>
                <p:cNvPr id="383" name="Freeform 383"/>
                <p:cNvSpPr/>
                <p:nvPr/>
              </p:nvSpPr>
              <p:spPr>
                <a:xfrm>
                  <a:off x="6870700" y="5754687"/>
                  <a:ext cx="9525" cy="16669"/>
                </a:xfrm>
                <a:custGeom>
                  <a:avLst/>
                  <a:gdLst/>
                  <a:ahLst/>
                  <a:cxnLst/>
                  <a:rect l="l" t="t" r="r" b="b"/>
                  <a:pathLst>
                    <a:path w="9525" h="16669">
                      <a:moveTo>
                        <a:pt x="0" y="0"/>
                      </a:moveTo>
                      <a:lnTo>
                        <a:pt x="0" y="16669"/>
                      </a:lnTo>
                    </a:path>
                  </a:pathLst>
                </a:custGeom>
                <a:noFill/>
                <a:ln w="11112">
                  <a:solidFill>
                    <a:srgbClr val="8AA39C"/>
                  </a:solidFill>
                </a:ln>
              </p:spPr>
            </p:sp>
          </p:grpSp>
          <p:grpSp>
            <p:nvGrpSpPr>
              <p:cNvPr id="387" name="Group 387"/>
              <p:cNvGrpSpPr/>
              <p:nvPr/>
            </p:nvGrpSpPr>
            <p:grpSpPr>
              <a:xfrm>
                <a:off x="7017544" y="5710237"/>
                <a:ext cx="100012" cy="66675"/>
                <a:chOff x="7017544" y="5710237"/>
                <a:chExt cx="100012" cy="66675"/>
              </a:xfrm>
            </p:grpSpPr>
            <p:sp>
              <p:nvSpPr>
                <p:cNvPr id="385" name="Freeform 385"/>
                <p:cNvSpPr/>
                <p:nvPr/>
              </p:nvSpPr>
              <p:spPr>
                <a:xfrm>
                  <a:off x="7084219" y="5718956"/>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8AA39C"/>
                  </a:solidFill>
                </a:ln>
              </p:spPr>
            </p:sp>
            <p:sp>
              <p:nvSpPr>
                <p:cNvPr id="386" name="Freeform 386"/>
                <p:cNvSpPr/>
                <p:nvPr/>
              </p:nvSpPr>
              <p:spPr>
                <a:xfrm>
                  <a:off x="7017544" y="5710237"/>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8AA39C"/>
                  </a:solidFill>
                </a:ln>
              </p:spPr>
            </p:sp>
          </p:grpSp>
          <p:grpSp>
            <p:nvGrpSpPr>
              <p:cNvPr id="392" name="Group 392"/>
              <p:cNvGrpSpPr/>
              <p:nvPr/>
            </p:nvGrpSpPr>
            <p:grpSpPr>
              <a:xfrm>
                <a:off x="7236619" y="5693569"/>
                <a:ext cx="100012" cy="100012"/>
                <a:chOff x="7236619" y="5693569"/>
                <a:chExt cx="100012" cy="100012"/>
              </a:xfrm>
            </p:grpSpPr>
            <p:sp>
              <p:nvSpPr>
                <p:cNvPr id="388" name="Freeform 388"/>
                <p:cNvSpPr/>
                <p:nvPr/>
              </p:nvSpPr>
              <p:spPr>
                <a:xfrm>
                  <a:off x="7247731" y="56935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8AA39C"/>
                  </a:solidFill>
                </a:ln>
              </p:spPr>
            </p:sp>
            <p:sp>
              <p:nvSpPr>
                <p:cNvPr id="389" name="Freeform 389"/>
                <p:cNvSpPr/>
                <p:nvPr/>
              </p:nvSpPr>
              <p:spPr>
                <a:xfrm>
                  <a:off x="7236619" y="57602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8AA39C"/>
                  </a:solidFill>
                </a:ln>
              </p:spPr>
            </p:sp>
            <p:sp>
              <p:nvSpPr>
                <p:cNvPr id="390" name="Freeform 390"/>
                <p:cNvSpPr/>
                <p:nvPr/>
              </p:nvSpPr>
              <p:spPr>
                <a:xfrm>
                  <a:off x="7308850" y="56942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8AA39C"/>
                  </a:solidFill>
                </a:ln>
              </p:spPr>
            </p:sp>
            <p:sp>
              <p:nvSpPr>
                <p:cNvPr id="391" name="Freeform 391"/>
                <p:cNvSpPr/>
                <p:nvPr/>
              </p:nvSpPr>
              <p:spPr>
                <a:xfrm>
                  <a:off x="7319962" y="57610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8AA39C"/>
                  </a:solidFill>
                </a:ln>
              </p:spPr>
            </p:sp>
          </p:grpSp>
          <p:sp>
            <p:nvSpPr>
              <p:cNvPr id="393" name="TextBox 393"/>
              <p:cNvSpPr txBox="1"/>
              <p:nvPr/>
            </p:nvSpPr>
            <p:spPr>
              <a:xfrm>
                <a:off x="6807501" y="6404134"/>
                <a:ext cx="520098"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按实际情况​</a:t>
                </a:r>
              </a:p>
            </p:txBody>
          </p:sp>
          <p:sp>
            <p:nvSpPr>
              <p:cNvPr id="394" name="Rectangle 394"/>
              <p:cNvSpPr/>
              <p:nvPr/>
            </p:nvSpPr>
            <p:spPr>
              <a:xfrm>
                <a:off x="7639050" y="4114800"/>
                <a:ext cx="990600" cy="1809750"/>
              </a:xfrm>
              <a:prstGeom prst="roundRect">
                <a:avLst>
                  <a:gd name="adj" fmla="val 5769"/>
                </a:avLst>
              </a:prstGeom>
              <a:solidFill>
                <a:srgbClr val="FFFFFF"/>
              </a:solidFill>
              <a:ln w="7620">
                <a:solidFill>
                  <a:srgbClr val="D9E8E2"/>
                </a:solidFill>
              </a:ln>
            </p:spPr>
          </p:sp>
          <p:sp>
            <p:nvSpPr>
              <p:cNvPr id="395" name="Rectangle 395"/>
              <p:cNvSpPr/>
              <p:nvPr/>
            </p:nvSpPr>
            <p:spPr>
              <a:xfrm>
                <a:off x="7639050" y="4114800"/>
                <a:ext cx="990600" cy="209550"/>
              </a:xfrm>
              <a:prstGeom prst="roundRect">
                <a:avLst>
                  <a:gd name="adj" fmla="val 27273"/>
                </a:avLst>
              </a:prstGeom>
              <a:solidFill>
                <a:srgbClr val="5B180B"/>
              </a:solidFill>
              <a:ln>
                <a:noFill/>
              </a:ln>
            </p:spPr>
          </p:sp>
          <p:sp>
            <p:nvSpPr>
              <p:cNvPr id="396" name="TextBox 396"/>
              <p:cNvSpPr txBox="1"/>
              <p:nvPr/>
            </p:nvSpPr>
            <p:spPr>
              <a:xfrm>
                <a:off x="7932181" y="4180761"/>
                <a:ext cx="40433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D7 周日​</a:t>
                </a:r>
              </a:p>
            </p:txBody>
          </p:sp>
          <p:grpSp>
            <p:nvGrpSpPr>
              <p:cNvPr id="399" name="Group 399"/>
              <p:cNvGrpSpPr/>
              <p:nvPr/>
            </p:nvGrpSpPr>
            <p:grpSpPr>
              <a:xfrm>
                <a:off x="8058150" y="4454025"/>
                <a:ext cx="152400" cy="159750"/>
                <a:chOff x="8058150" y="4454025"/>
                <a:chExt cx="152400" cy="159750"/>
              </a:xfrm>
            </p:grpSpPr>
            <p:sp>
              <p:nvSpPr>
                <p:cNvPr id="397" name="Freeform 397"/>
                <p:cNvSpPr/>
                <p:nvPr/>
              </p:nvSpPr>
              <p:spPr>
                <a:xfrm>
                  <a:off x="8058150" y="44540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5B180B"/>
                  </a:solidFill>
                </a:ln>
              </p:spPr>
            </p:sp>
            <p:sp>
              <p:nvSpPr>
                <p:cNvPr id="398" name="Freeform 398"/>
                <p:cNvSpPr/>
                <p:nvPr/>
              </p:nvSpPr>
              <p:spPr>
                <a:xfrm>
                  <a:off x="8058150" y="45434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5B180B"/>
                  </a:solidFill>
                </a:ln>
              </p:spPr>
            </p:sp>
          </p:grpSp>
          <p:sp>
            <p:nvSpPr>
              <p:cNvPr id="400" name="TextBox 400"/>
              <p:cNvSpPr txBox="1"/>
              <p:nvPr/>
            </p:nvSpPr>
            <p:spPr>
              <a:xfrm>
                <a:off x="7886179" y="475368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跟进转化​</a:t>
                </a:r>
              </a:p>
            </p:txBody>
          </p:sp>
          <p:sp>
            <p:nvSpPr>
              <p:cNvPr id="401" name="TextBox 401"/>
              <p:cNvSpPr txBox="1"/>
              <p:nvPr/>
            </p:nvSpPr>
            <p:spPr>
              <a:xfrm>
                <a:off x="7769614" y="4930378"/>
                <a:ext cx="729473"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未到店客户二次触达​</a:t>
                </a:r>
              </a:p>
            </p:txBody>
          </p:sp>
          <p:sp>
            <p:nvSpPr>
              <p:cNvPr id="402" name="TextBox 402"/>
              <p:cNvSpPr txBox="1"/>
              <p:nvPr/>
            </p:nvSpPr>
            <p:spPr>
              <a:xfrm>
                <a:off x="7958082" y="5044678"/>
                <a:ext cx="352537" cy="111919"/>
              </a:xfrm>
              <a:prstGeom prst="rect">
                <a:avLst/>
              </a:prstGeom>
              <a:noFill/>
              <a:ln>
                <a:noFill/>
              </a:ln>
            </p:spPr>
            <p:txBody>
              <a:bodyPr wrap="none" lIns="0" tIns="0" rIns="0" bIns="0" anchor="t" anchorCtr="0">
                <a:spAutoFit/>
              </a:bodyPr>
              <a:lstStyle/>
              <a:p>
                <a:pPr algn="ctr"/>
                <a:r>
                  <a:rPr lang="zh-CN" sz="560" dirty="0">
                    <a:solidFill>
                      <a:srgbClr val="5F6F6A"/>
                    </a:solidFill>
                    <a:latin typeface="+mn-lt"/>
                    <a:ea typeface="+mn-ea"/>
                    <a:cs typeface="+mn-cs"/>
                  </a:rPr>
                  <a:t>推动转化​</a:t>
                </a:r>
              </a:p>
            </p:txBody>
          </p:sp>
          <p:sp>
            <p:nvSpPr>
              <p:cNvPr id="403" name="Freeform 403"/>
              <p:cNvSpPr/>
              <p:nvPr/>
            </p:nvSpPr>
            <p:spPr>
              <a:xfrm>
                <a:off x="7859579" y="56948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8AA39C"/>
                </a:solidFill>
              </a:ln>
            </p:spPr>
          </p:sp>
          <p:grpSp>
            <p:nvGrpSpPr>
              <p:cNvPr id="407" name="Group 407"/>
              <p:cNvGrpSpPr/>
              <p:nvPr/>
            </p:nvGrpSpPr>
            <p:grpSpPr>
              <a:xfrm>
                <a:off x="8101012" y="5693569"/>
                <a:ext cx="66675" cy="100012"/>
                <a:chOff x="8101012" y="5693569"/>
                <a:chExt cx="66675" cy="100012"/>
              </a:xfrm>
            </p:grpSpPr>
            <p:sp>
              <p:nvSpPr>
                <p:cNvPr id="404" name="Freeform 404"/>
                <p:cNvSpPr/>
                <p:nvPr/>
              </p:nvSpPr>
              <p:spPr>
                <a:xfrm>
                  <a:off x="8101012" y="569356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8AA39C"/>
                  </a:solidFill>
                </a:ln>
              </p:spPr>
            </p:sp>
            <p:sp>
              <p:nvSpPr>
                <p:cNvPr id="405" name="Freeform 405"/>
                <p:cNvSpPr/>
                <p:nvPr/>
              </p:nvSpPr>
              <p:spPr>
                <a:xfrm>
                  <a:off x="8128794" y="5699125"/>
                  <a:ext cx="11112" cy="9525"/>
                </a:xfrm>
                <a:custGeom>
                  <a:avLst/>
                  <a:gdLst/>
                  <a:ahLst/>
                  <a:cxnLst/>
                  <a:rect l="l" t="t" r="r" b="b"/>
                  <a:pathLst>
                    <a:path w="11112" h="9525">
                      <a:moveTo>
                        <a:pt x="0" y="0"/>
                      </a:moveTo>
                      <a:lnTo>
                        <a:pt x="11112" y="0"/>
                      </a:lnTo>
                    </a:path>
                  </a:pathLst>
                </a:custGeom>
                <a:noFill/>
                <a:ln w="11112">
                  <a:solidFill>
                    <a:srgbClr val="8AA39C"/>
                  </a:solidFill>
                </a:ln>
              </p:spPr>
            </p:sp>
            <p:sp>
              <p:nvSpPr>
                <p:cNvPr id="406" name="Freeform 406"/>
                <p:cNvSpPr/>
                <p:nvPr/>
              </p:nvSpPr>
              <p:spPr>
                <a:xfrm>
                  <a:off x="8134350" y="5771356"/>
                  <a:ext cx="9525" cy="9525"/>
                </a:xfrm>
                <a:custGeom>
                  <a:avLst/>
                  <a:gdLst/>
                  <a:ahLst/>
                  <a:cxnLst/>
                  <a:rect l="l" t="t" r="r" b="b"/>
                  <a:pathLst>
                    <a:path w="9525" h="9525">
                      <a:moveTo>
                        <a:pt x="0" y="0"/>
                      </a:moveTo>
                      <a:lnTo>
                        <a:pt x="0" y="56"/>
                      </a:lnTo>
                    </a:path>
                  </a:pathLst>
                </a:custGeom>
                <a:noFill/>
                <a:ln w="11112">
                  <a:solidFill>
                    <a:srgbClr val="8AA39C"/>
                  </a:solidFill>
                </a:ln>
              </p:spPr>
            </p:sp>
          </p:grpSp>
          <p:grpSp>
            <p:nvGrpSpPr>
              <p:cNvPr id="413" name="Group 413"/>
              <p:cNvGrpSpPr/>
              <p:nvPr/>
            </p:nvGrpSpPr>
            <p:grpSpPr>
              <a:xfrm>
                <a:off x="8314531" y="5693569"/>
                <a:ext cx="77787" cy="100012"/>
                <a:chOff x="8314531" y="5693569"/>
                <a:chExt cx="77787" cy="100012"/>
              </a:xfrm>
            </p:grpSpPr>
            <p:sp>
              <p:nvSpPr>
                <p:cNvPr id="408" name="Freeform 408"/>
                <p:cNvSpPr/>
                <p:nvPr/>
              </p:nvSpPr>
              <p:spPr>
                <a:xfrm>
                  <a:off x="8364537" y="56935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8AA39C"/>
                  </a:solidFill>
                </a:ln>
              </p:spPr>
            </p:sp>
            <p:sp>
              <p:nvSpPr>
                <p:cNvPr id="409" name="Freeform 409"/>
                <p:cNvSpPr/>
                <p:nvPr/>
              </p:nvSpPr>
              <p:spPr>
                <a:xfrm>
                  <a:off x="8314531" y="56935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8AA39C"/>
                  </a:solidFill>
                </a:ln>
              </p:spPr>
            </p:sp>
            <p:sp>
              <p:nvSpPr>
                <p:cNvPr id="410" name="Freeform 410"/>
                <p:cNvSpPr/>
                <p:nvPr/>
              </p:nvSpPr>
              <p:spPr>
                <a:xfrm>
                  <a:off x="8336756" y="5726906"/>
                  <a:ext cx="9525" cy="9525"/>
                </a:xfrm>
                <a:custGeom>
                  <a:avLst/>
                  <a:gdLst/>
                  <a:ahLst/>
                  <a:cxnLst/>
                  <a:rect l="l" t="t" r="r" b="b"/>
                  <a:pathLst>
                    <a:path w="9525" h="9525">
                      <a:moveTo>
                        <a:pt x="0" y="0"/>
                      </a:moveTo>
                      <a:lnTo>
                        <a:pt x="5556" y="0"/>
                      </a:lnTo>
                    </a:path>
                  </a:pathLst>
                </a:custGeom>
                <a:noFill/>
                <a:ln w="11112">
                  <a:solidFill>
                    <a:srgbClr val="8AA39C"/>
                  </a:solidFill>
                </a:ln>
              </p:spPr>
            </p:sp>
            <p:sp>
              <p:nvSpPr>
                <p:cNvPr id="411" name="Freeform 411"/>
                <p:cNvSpPr/>
                <p:nvPr/>
              </p:nvSpPr>
              <p:spPr>
                <a:xfrm>
                  <a:off x="8336756" y="5749131"/>
                  <a:ext cx="33337" cy="9525"/>
                </a:xfrm>
                <a:custGeom>
                  <a:avLst/>
                  <a:gdLst/>
                  <a:ahLst/>
                  <a:cxnLst/>
                  <a:rect l="l" t="t" r="r" b="b"/>
                  <a:pathLst>
                    <a:path w="33337" h="9525">
                      <a:moveTo>
                        <a:pt x="0" y="0"/>
                      </a:moveTo>
                      <a:lnTo>
                        <a:pt x="33337" y="0"/>
                      </a:lnTo>
                    </a:path>
                  </a:pathLst>
                </a:custGeom>
                <a:noFill/>
                <a:ln w="11112">
                  <a:solidFill>
                    <a:srgbClr val="8AA39C"/>
                  </a:solidFill>
                </a:ln>
              </p:spPr>
            </p:sp>
            <p:sp>
              <p:nvSpPr>
                <p:cNvPr id="412" name="Freeform 412"/>
                <p:cNvSpPr/>
                <p:nvPr/>
              </p:nvSpPr>
              <p:spPr>
                <a:xfrm>
                  <a:off x="8336756" y="5771356"/>
                  <a:ext cx="33337" cy="9525"/>
                </a:xfrm>
                <a:custGeom>
                  <a:avLst/>
                  <a:gdLst/>
                  <a:ahLst/>
                  <a:cxnLst/>
                  <a:rect l="l" t="t" r="r" b="b"/>
                  <a:pathLst>
                    <a:path w="33337" h="9525">
                      <a:moveTo>
                        <a:pt x="0" y="0"/>
                      </a:moveTo>
                      <a:lnTo>
                        <a:pt x="33337" y="0"/>
                      </a:lnTo>
                    </a:path>
                  </a:pathLst>
                </a:custGeom>
                <a:noFill/>
                <a:ln w="11112">
                  <a:solidFill>
                    <a:srgbClr val="8AA39C"/>
                  </a:solidFill>
                </a:ln>
              </p:spPr>
            </p:sp>
          </p:grpSp>
          <p:sp>
            <p:nvSpPr>
              <p:cNvPr id="414" name="TextBox 414"/>
              <p:cNvSpPr txBox="1"/>
              <p:nvPr/>
            </p:nvSpPr>
            <p:spPr>
              <a:xfrm>
                <a:off x="7932315" y="6404134"/>
                <a:ext cx="404069"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≤1次/天​</a:t>
                </a:r>
              </a:p>
            </p:txBody>
          </p:sp>
        </p:grpSp>
        <p:grpSp>
          <p:nvGrpSpPr>
            <p:cNvPr id="422" name="day-arrows"/>
            <p:cNvGrpSpPr/>
            <p:nvPr/>
          </p:nvGrpSpPr>
          <p:grpSpPr>
            <a:xfrm>
              <a:off x="2228850" y="4943475"/>
              <a:ext cx="5419725" cy="95250"/>
              <a:chOff x="2228850" y="4943475"/>
              <a:chExt cx="5419725" cy="95250"/>
            </a:xfrm>
          </p:grpSpPr>
          <p:sp>
            <p:nvSpPr>
              <p:cNvPr id="416" name="Freeform 416"/>
              <p:cNvSpPr/>
              <p:nvPr/>
            </p:nvSpPr>
            <p:spPr>
              <a:xfrm rot="5400000">
                <a:off x="2219325" y="4953000"/>
                <a:ext cx="95250" cy="76200"/>
              </a:xfrm>
              <a:prstGeom prst="triangle">
                <a:avLst/>
              </a:prstGeom>
              <a:solidFill>
                <a:srgbClr val="C9988F"/>
              </a:solidFill>
              <a:ln>
                <a:noFill/>
              </a:ln>
            </p:spPr>
          </p:sp>
          <p:sp>
            <p:nvSpPr>
              <p:cNvPr id="417" name="Freeform 417"/>
              <p:cNvSpPr/>
              <p:nvPr/>
            </p:nvSpPr>
            <p:spPr>
              <a:xfrm rot="5400000">
                <a:off x="3286125" y="4953000"/>
                <a:ext cx="95250" cy="76200"/>
              </a:xfrm>
              <a:prstGeom prst="triangle">
                <a:avLst/>
              </a:prstGeom>
              <a:solidFill>
                <a:srgbClr val="C9988F"/>
              </a:solidFill>
              <a:ln>
                <a:noFill/>
              </a:ln>
            </p:spPr>
          </p:sp>
          <p:sp>
            <p:nvSpPr>
              <p:cNvPr id="418" name="Freeform 418"/>
              <p:cNvSpPr/>
              <p:nvPr/>
            </p:nvSpPr>
            <p:spPr>
              <a:xfrm rot="5400000">
                <a:off x="4352925" y="4953000"/>
                <a:ext cx="95250" cy="76200"/>
              </a:xfrm>
              <a:prstGeom prst="triangle">
                <a:avLst/>
              </a:prstGeom>
              <a:solidFill>
                <a:srgbClr val="C9988F"/>
              </a:solidFill>
              <a:ln>
                <a:noFill/>
              </a:ln>
            </p:spPr>
          </p:sp>
          <p:sp>
            <p:nvSpPr>
              <p:cNvPr id="419" name="Freeform 419"/>
              <p:cNvSpPr/>
              <p:nvPr/>
            </p:nvSpPr>
            <p:spPr>
              <a:xfrm rot="5400000">
                <a:off x="5419725" y="4953000"/>
                <a:ext cx="95250" cy="76200"/>
              </a:xfrm>
              <a:prstGeom prst="triangle">
                <a:avLst/>
              </a:prstGeom>
              <a:solidFill>
                <a:srgbClr val="C9988F"/>
              </a:solidFill>
              <a:ln>
                <a:noFill/>
              </a:ln>
            </p:spPr>
          </p:sp>
          <p:sp>
            <p:nvSpPr>
              <p:cNvPr id="420" name="Freeform 420"/>
              <p:cNvSpPr/>
              <p:nvPr/>
            </p:nvSpPr>
            <p:spPr>
              <a:xfrm rot="5400000">
                <a:off x="6486525" y="4953000"/>
                <a:ext cx="95250" cy="76200"/>
              </a:xfrm>
              <a:prstGeom prst="triangle">
                <a:avLst/>
              </a:prstGeom>
              <a:solidFill>
                <a:srgbClr val="C9988F"/>
              </a:solidFill>
              <a:ln>
                <a:noFill/>
              </a:ln>
            </p:spPr>
          </p:sp>
          <p:sp>
            <p:nvSpPr>
              <p:cNvPr id="421" name="Freeform 421"/>
              <p:cNvSpPr/>
              <p:nvPr/>
            </p:nvSpPr>
            <p:spPr>
              <a:xfrm rot="5400000">
                <a:off x="7553325" y="4953000"/>
                <a:ext cx="95250" cy="76200"/>
              </a:xfrm>
              <a:prstGeom prst="triangle">
                <a:avLst/>
              </a:prstGeom>
              <a:solidFill>
                <a:srgbClr val="C9988F"/>
              </a:solidFill>
              <a:ln>
                <a:noFill/>
              </a:ln>
            </p:spPr>
          </p:sp>
        </p:grpSp>
      </p:grpSp>
      <p:grpSp>
        <p:nvGrpSpPr>
          <p:cNvPr id="458" name="compliance-card"/>
          <p:cNvGrpSpPr/>
          <p:nvPr/>
        </p:nvGrpSpPr>
        <p:grpSpPr>
          <a:xfrm>
            <a:off x="8915400" y="4000500"/>
            <a:ext cx="3048000" cy="2781300"/>
            <a:chOff x="8915400" y="4000500"/>
            <a:chExt cx="3048000" cy="2781300"/>
          </a:xfrm>
        </p:grpSpPr>
        <p:sp>
          <p:nvSpPr>
            <p:cNvPr id="424" name="Rectangle 424"/>
            <p:cNvSpPr/>
            <p:nvPr/>
          </p:nvSpPr>
          <p:spPr>
            <a:xfrm>
              <a:off x="8915400" y="4000500"/>
              <a:ext cx="3048000" cy="2781300"/>
            </a:xfrm>
            <a:prstGeom prst="roundRect">
              <a:avLst>
                <a:gd name="adj" fmla="val 3425"/>
              </a:avLst>
            </a:prstGeom>
            <a:solidFill>
              <a:srgbClr val="F5FAF8"/>
            </a:solidFill>
            <a:ln w="9525">
              <a:solidFill>
                <a:srgbClr val="D9E8E2"/>
              </a:solidFill>
            </a:ln>
          </p:spPr>
        </p:sp>
        <p:sp>
          <p:nvSpPr>
            <p:cNvPr id="425" name="Rectangle 425"/>
            <p:cNvSpPr/>
            <p:nvPr/>
          </p:nvSpPr>
          <p:spPr>
            <a:xfrm>
              <a:off x="9029700" y="4095750"/>
              <a:ext cx="47625" cy="152400"/>
            </a:xfrm>
            <a:prstGeom prst="rect">
              <a:avLst/>
            </a:prstGeom>
            <a:solidFill>
              <a:srgbClr val="5B180B"/>
            </a:solidFill>
            <a:ln>
              <a:noFill/>
            </a:ln>
          </p:spPr>
        </p:sp>
        <p:sp>
          <p:nvSpPr>
            <p:cNvPr id="426" name="TextBox 426"/>
            <p:cNvSpPr txBox="1"/>
            <p:nvPr/>
          </p:nvSpPr>
          <p:spPr>
            <a:xfrm>
              <a:off x="9139238" y="4118372"/>
              <a:ext cx="1221489" cy="183356"/>
            </a:xfrm>
            <a:prstGeom prst="rect">
              <a:avLst/>
            </a:prstGeom>
            <a:noFill/>
            <a:ln>
              <a:noFill/>
            </a:ln>
          </p:spPr>
          <p:txBody>
            <a:bodyPr wrap="none" lIns="0" tIns="0" rIns="0" bIns="0" anchor="t" anchorCtr="0">
              <a:spAutoFit/>
            </a:bodyPr>
            <a:lstStyle/>
            <a:p>
              <a:pPr algn="l"/>
              <a:r>
                <a:rPr lang="zh-CN" sz="940" b="1" dirty="0">
                  <a:solidFill>
                    <a:srgbClr val="5B180B"/>
                  </a:solidFill>
                  <a:latin typeface="+mn-lt"/>
                  <a:ea typeface="+mn-ea"/>
                  <a:cs typeface="+mn-cs"/>
                </a:rPr>
                <a:t>频次控制与合规要求​</a:t>
              </a:r>
            </a:p>
          </p:txBody>
        </p:sp>
        <p:grpSp>
          <p:nvGrpSpPr>
            <p:cNvPr id="457" name="comp-items"/>
            <p:cNvGrpSpPr/>
            <p:nvPr/>
          </p:nvGrpSpPr>
          <p:grpSpPr>
            <a:xfrm>
              <a:off x="9064471" y="4391739"/>
              <a:ext cx="1652630" cy="2123599"/>
              <a:chOff x="9064471" y="4391739"/>
              <a:chExt cx="1652630" cy="2123599"/>
            </a:xfrm>
          </p:grpSpPr>
          <p:grpSp>
            <p:nvGrpSpPr>
              <p:cNvPr id="431" name="Group 431"/>
              <p:cNvGrpSpPr/>
              <p:nvPr/>
            </p:nvGrpSpPr>
            <p:grpSpPr>
              <a:xfrm>
                <a:off x="9077325" y="4419600"/>
                <a:ext cx="171450" cy="161925"/>
                <a:chOff x="9077325" y="4419600"/>
                <a:chExt cx="171450" cy="161925"/>
              </a:xfrm>
            </p:grpSpPr>
            <p:sp>
              <p:nvSpPr>
                <p:cNvPr id="427" name="Freeform 427"/>
                <p:cNvSpPr/>
                <p:nvPr/>
              </p:nvSpPr>
              <p:spPr>
                <a:xfrm>
                  <a:off x="9077325" y="44958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5B180B"/>
                  </a:solidFill>
                </a:ln>
              </p:spPr>
            </p:sp>
            <p:sp>
              <p:nvSpPr>
                <p:cNvPr id="428" name="Freeform 428"/>
                <p:cNvSpPr/>
                <p:nvPr/>
              </p:nvSpPr>
              <p:spPr>
                <a:xfrm>
                  <a:off x="9191625" y="44577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5B180B"/>
                  </a:solidFill>
                </a:ln>
              </p:spPr>
            </p:sp>
            <p:sp>
              <p:nvSpPr>
                <p:cNvPr id="429" name="Freeform 429"/>
                <p:cNvSpPr/>
                <p:nvPr/>
              </p:nvSpPr>
              <p:spPr>
                <a:xfrm>
                  <a:off x="9134475" y="44196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5B180B"/>
                  </a:solidFill>
                </a:ln>
              </p:spPr>
            </p:sp>
            <p:sp>
              <p:nvSpPr>
                <p:cNvPr id="430" name="Freeform 430"/>
                <p:cNvSpPr/>
                <p:nvPr/>
              </p:nvSpPr>
              <p:spPr>
                <a:xfrm>
                  <a:off x="9086850" y="4572000"/>
                  <a:ext cx="133350" cy="9525"/>
                </a:xfrm>
                <a:custGeom>
                  <a:avLst/>
                  <a:gdLst/>
                  <a:ahLst/>
                  <a:cxnLst/>
                  <a:rect l="l" t="t" r="r" b="b"/>
                  <a:pathLst>
                    <a:path w="133350" h="9525">
                      <a:moveTo>
                        <a:pt x="0" y="0"/>
                      </a:moveTo>
                      <a:lnTo>
                        <a:pt x="133350" y="0"/>
                      </a:lnTo>
                    </a:path>
                  </a:pathLst>
                </a:custGeom>
                <a:noFill/>
                <a:ln w="19050">
                  <a:solidFill>
                    <a:srgbClr val="5B180B"/>
                  </a:solidFill>
                </a:ln>
              </p:spPr>
            </p:sp>
          </p:grpSp>
          <p:sp>
            <p:nvSpPr>
              <p:cNvPr id="432" name="TextBox 432"/>
              <p:cNvSpPr txBox="1"/>
              <p:nvPr/>
            </p:nvSpPr>
            <p:spPr>
              <a:xfrm>
                <a:off x="9367838" y="4391739"/>
                <a:ext cx="7090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触达频次控制​</a:t>
                </a:r>
              </a:p>
            </p:txBody>
          </p:sp>
          <p:sp>
            <p:nvSpPr>
              <p:cNvPr id="433" name="TextBox 433"/>
              <p:cNvSpPr txBox="1"/>
              <p:nvPr/>
            </p:nvSpPr>
            <p:spPr>
              <a:xfrm>
                <a:off x="9367838" y="4550807"/>
                <a:ext cx="1052022"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同一客户每日不超过2次，​</a:t>
                </a:r>
              </a:p>
            </p:txBody>
          </p:sp>
          <p:sp>
            <p:nvSpPr>
              <p:cNvPr id="434" name="TextBox 434"/>
              <p:cNvSpPr txBox="1"/>
              <p:nvPr/>
            </p:nvSpPr>
            <p:spPr>
              <a:xfrm>
                <a:off x="9367838" y="4674632"/>
                <a:ext cx="707395"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全周期不超过7次​</a:t>
                </a:r>
              </a:p>
            </p:txBody>
          </p:sp>
          <p:grpSp>
            <p:nvGrpSpPr>
              <p:cNvPr id="438" name="Group 438"/>
              <p:cNvGrpSpPr/>
              <p:nvPr/>
            </p:nvGrpSpPr>
            <p:grpSpPr>
              <a:xfrm>
                <a:off x="9105900" y="4981575"/>
                <a:ext cx="142875" cy="171450"/>
                <a:chOff x="9105900" y="4981575"/>
                <a:chExt cx="142875" cy="171450"/>
              </a:xfrm>
            </p:grpSpPr>
            <p:sp>
              <p:nvSpPr>
                <p:cNvPr id="435" name="Freeform 435"/>
                <p:cNvSpPr/>
                <p:nvPr/>
              </p:nvSpPr>
              <p:spPr>
                <a:xfrm>
                  <a:off x="9124950" y="49815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5B180B"/>
                  </a:solidFill>
                </a:ln>
              </p:spPr>
            </p:sp>
            <p:sp>
              <p:nvSpPr>
                <p:cNvPr id="436" name="Freeform 436"/>
                <p:cNvSpPr/>
                <p:nvPr/>
              </p:nvSpPr>
              <p:spPr>
                <a:xfrm>
                  <a:off x="9105900" y="50958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5B180B"/>
                  </a:solidFill>
                </a:ln>
              </p:spPr>
            </p:sp>
            <p:sp>
              <p:nvSpPr>
                <p:cNvPr id="437" name="Freeform 437"/>
                <p:cNvSpPr/>
                <p:nvPr/>
              </p:nvSpPr>
              <p:spPr>
                <a:xfrm>
                  <a:off x="9191625" y="5114925"/>
                  <a:ext cx="57150" cy="38100"/>
                </a:xfrm>
                <a:custGeom>
                  <a:avLst/>
                  <a:gdLst/>
                  <a:ahLst/>
                  <a:cxnLst/>
                  <a:rect l="l" t="t" r="r" b="b"/>
                  <a:pathLst>
                    <a:path w="57150" h="38100">
                      <a:moveTo>
                        <a:pt x="0" y="19050"/>
                      </a:moveTo>
                      <a:lnTo>
                        <a:pt x="19050" y="38100"/>
                      </a:lnTo>
                      <a:lnTo>
                        <a:pt x="57150" y="0"/>
                      </a:lnTo>
                    </a:path>
                  </a:pathLst>
                </a:custGeom>
                <a:noFill/>
                <a:ln w="19050">
                  <a:solidFill>
                    <a:srgbClr val="5B180B"/>
                  </a:solidFill>
                </a:ln>
              </p:spPr>
            </p:sp>
          </p:grpSp>
          <p:sp>
            <p:nvSpPr>
              <p:cNvPr id="439" name="TextBox 439"/>
              <p:cNvSpPr txBox="1"/>
              <p:nvPr/>
            </p:nvSpPr>
            <p:spPr>
              <a:xfrm>
                <a:off x="9367838" y="4963239"/>
                <a:ext cx="81539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客户选择权保护​</a:t>
                </a:r>
              </a:p>
            </p:txBody>
          </p:sp>
          <p:sp>
            <p:nvSpPr>
              <p:cNvPr id="440" name="TextBox 440"/>
              <p:cNvSpPr txBox="1"/>
              <p:nvPr/>
            </p:nvSpPr>
            <p:spPr>
              <a:xfrm>
                <a:off x="9367838" y="5122307"/>
                <a:ext cx="1277087"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提供便捷退订方式（短信回TD、​</a:t>
                </a:r>
              </a:p>
            </p:txBody>
          </p:sp>
          <p:sp>
            <p:nvSpPr>
              <p:cNvPr id="441" name="TextBox 441"/>
              <p:cNvSpPr txBox="1"/>
              <p:nvPr/>
            </p:nvSpPr>
            <p:spPr>
              <a:xfrm>
                <a:off x="9367838" y="5246132"/>
                <a:ext cx="1249614"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APP内关闭、企微回复“退订”）​</a:t>
                </a:r>
              </a:p>
            </p:txBody>
          </p:sp>
          <p:grpSp>
            <p:nvGrpSpPr>
              <p:cNvPr id="444" name="Group 444"/>
              <p:cNvGrpSpPr/>
              <p:nvPr/>
            </p:nvGrpSpPr>
            <p:grpSpPr>
              <a:xfrm>
                <a:off x="9064471" y="5553075"/>
                <a:ext cx="186006" cy="171450"/>
                <a:chOff x="9064471" y="5553075"/>
                <a:chExt cx="186006" cy="171450"/>
              </a:xfrm>
            </p:grpSpPr>
            <p:sp>
              <p:nvSpPr>
                <p:cNvPr id="442" name="Freeform 442"/>
                <p:cNvSpPr/>
                <p:nvPr/>
              </p:nvSpPr>
              <p:spPr>
                <a:xfrm>
                  <a:off x="9064471" y="55530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1"/>
                      </a:cubicBezTo>
                    </a:path>
                  </a:pathLst>
                </a:custGeom>
                <a:noFill/>
                <a:ln w="19050">
                  <a:solidFill>
                    <a:srgbClr val="5B180B"/>
                  </a:solidFill>
                </a:ln>
              </p:spPr>
            </p:sp>
            <p:sp>
              <p:nvSpPr>
                <p:cNvPr id="443" name="Freeform 443"/>
                <p:cNvSpPr/>
                <p:nvPr/>
              </p:nvSpPr>
              <p:spPr>
                <a:xfrm>
                  <a:off x="9191625" y="5686425"/>
                  <a:ext cx="57150" cy="38100"/>
                </a:xfrm>
                <a:custGeom>
                  <a:avLst/>
                  <a:gdLst/>
                  <a:ahLst/>
                  <a:cxnLst/>
                  <a:rect l="l" t="t" r="r" b="b"/>
                  <a:pathLst>
                    <a:path w="57150" h="38100">
                      <a:moveTo>
                        <a:pt x="0" y="19050"/>
                      </a:moveTo>
                      <a:lnTo>
                        <a:pt x="19050" y="38100"/>
                      </a:lnTo>
                      <a:lnTo>
                        <a:pt x="57150" y="0"/>
                      </a:lnTo>
                    </a:path>
                  </a:pathLst>
                </a:custGeom>
                <a:noFill/>
                <a:ln w="19050">
                  <a:solidFill>
                    <a:srgbClr val="5B180B"/>
                  </a:solidFill>
                </a:ln>
              </p:spPr>
            </p:sp>
          </p:grpSp>
          <p:sp>
            <p:nvSpPr>
              <p:cNvPr id="445" name="TextBox 445"/>
              <p:cNvSpPr txBox="1"/>
              <p:nvPr/>
            </p:nvSpPr>
            <p:spPr>
              <a:xfrm>
                <a:off x="9367838" y="5534739"/>
                <a:ext cx="81539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合规与隐私保护​</a:t>
                </a:r>
              </a:p>
            </p:txBody>
          </p:sp>
          <p:sp>
            <p:nvSpPr>
              <p:cNvPr id="446" name="TextBox 446"/>
              <p:cNvSpPr txBox="1"/>
              <p:nvPr/>
            </p:nvSpPr>
            <p:spPr>
              <a:xfrm>
                <a:off x="9367838" y="5693807"/>
                <a:ext cx="1349263"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严格遵守个人信息保护相关规定，​</a:t>
                </a:r>
              </a:p>
            </p:txBody>
          </p:sp>
          <p:sp>
            <p:nvSpPr>
              <p:cNvPr id="447" name="TextBox 447"/>
              <p:cNvSpPr txBox="1"/>
              <p:nvPr/>
            </p:nvSpPr>
            <p:spPr>
              <a:xfrm>
                <a:off x="9367838" y="5817632"/>
                <a:ext cx="832322"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仅用于本次营销活动​</a:t>
                </a:r>
              </a:p>
            </p:txBody>
          </p:sp>
          <p:grpSp>
            <p:nvGrpSpPr>
              <p:cNvPr id="453" name="Group 453"/>
              <p:cNvGrpSpPr/>
              <p:nvPr/>
            </p:nvGrpSpPr>
            <p:grpSpPr>
              <a:xfrm>
                <a:off x="9096375" y="6124575"/>
                <a:ext cx="133350" cy="171450"/>
                <a:chOff x="9096375" y="6124575"/>
                <a:chExt cx="133350" cy="171450"/>
              </a:xfrm>
            </p:grpSpPr>
            <p:sp>
              <p:nvSpPr>
                <p:cNvPr id="448" name="Freeform 448"/>
                <p:cNvSpPr/>
                <p:nvPr/>
              </p:nvSpPr>
              <p:spPr>
                <a:xfrm>
                  <a:off x="9182100" y="612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5B180B"/>
                  </a:solidFill>
                </a:ln>
              </p:spPr>
            </p:sp>
            <p:sp>
              <p:nvSpPr>
                <p:cNvPr id="449" name="Freeform 449"/>
                <p:cNvSpPr/>
                <p:nvPr/>
              </p:nvSpPr>
              <p:spPr>
                <a:xfrm>
                  <a:off x="9096375" y="612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5B180B"/>
                  </a:solidFill>
                </a:ln>
              </p:spPr>
            </p:sp>
            <p:sp>
              <p:nvSpPr>
                <p:cNvPr id="450" name="Freeform 450"/>
                <p:cNvSpPr/>
                <p:nvPr/>
              </p:nvSpPr>
              <p:spPr>
                <a:xfrm>
                  <a:off x="9134475" y="6181725"/>
                  <a:ext cx="9525" cy="9525"/>
                </a:xfrm>
                <a:custGeom>
                  <a:avLst/>
                  <a:gdLst/>
                  <a:ahLst/>
                  <a:cxnLst/>
                  <a:rect l="l" t="t" r="r" b="b"/>
                  <a:pathLst>
                    <a:path w="9525" h="9525">
                      <a:moveTo>
                        <a:pt x="0" y="0"/>
                      </a:moveTo>
                      <a:lnTo>
                        <a:pt x="9525" y="0"/>
                      </a:lnTo>
                    </a:path>
                  </a:pathLst>
                </a:custGeom>
                <a:noFill/>
                <a:ln w="19050">
                  <a:solidFill>
                    <a:srgbClr val="5B180B"/>
                  </a:solidFill>
                </a:ln>
              </p:spPr>
            </p:sp>
            <p:sp>
              <p:nvSpPr>
                <p:cNvPr id="451" name="Freeform 451"/>
                <p:cNvSpPr/>
                <p:nvPr/>
              </p:nvSpPr>
              <p:spPr>
                <a:xfrm>
                  <a:off x="9134475" y="6219825"/>
                  <a:ext cx="57150" cy="9525"/>
                </a:xfrm>
                <a:custGeom>
                  <a:avLst/>
                  <a:gdLst/>
                  <a:ahLst/>
                  <a:cxnLst/>
                  <a:rect l="l" t="t" r="r" b="b"/>
                  <a:pathLst>
                    <a:path w="57150" h="9525">
                      <a:moveTo>
                        <a:pt x="0" y="0"/>
                      </a:moveTo>
                      <a:lnTo>
                        <a:pt x="57150" y="0"/>
                      </a:lnTo>
                    </a:path>
                  </a:pathLst>
                </a:custGeom>
                <a:noFill/>
                <a:ln w="19050">
                  <a:solidFill>
                    <a:srgbClr val="5B180B"/>
                  </a:solidFill>
                </a:ln>
              </p:spPr>
            </p:sp>
            <p:sp>
              <p:nvSpPr>
                <p:cNvPr id="452" name="Freeform 452"/>
                <p:cNvSpPr/>
                <p:nvPr/>
              </p:nvSpPr>
              <p:spPr>
                <a:xfrm>
                  <a:off x="9134475" y="6257925"/>
                  <a:ext cx="57150" cy="9525"/>
                </a:xfrm>
                <a:custGeom>
                  <a:avLst/>
                  <a:gdLst/>
                  <a:ahLst/>
                  <a:cxnLst/>
                  <a:rect l="l" t="t" r="r" b="b"/>
                  <a:pathLst>
                    <a:path w="57150" h="9525">
                      <a:moveTo>
                        <a:pt x="0" y="0"/>
                      </a:moveTo>
                      <a:lnTo>
                        <a:pt x="57150" y="0"/>
                      </a:lnTo>
                    </a:path>
                  </a:pathLst>
                </a:custGeom>
                <a:noFill/>
                <a:ln w="19050">
                  <a:solidFill>
                    <a:srgbClr val="5B180B"/>
                  </a:solidFill>
                </a:ln>
              </p:spPr>
            </p:sp>
          </p:grpSp>
          <p:sp>
            <p:nvSpPr>
              <p:cNvPr id="454" name="TextBox 454"/>
              <p:cNvSpPr txBox="1"/>
              <p:nvPr/>
            </p:nvSpPr>
            <p:spPr>
              <a:xfrm>
                <a:off x="9367838" y="6106239"/>
                <a:ext cx="60269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全流程留痕​</a:t>
                </a:r>
              </a:p>
            </p:txBody>
          </p:sp>
          <p:sp>
            <p:nvSpPr>
              <p:cNvPr id="455" name="TextBox 455"/>
              <p:cNvSpPr txBox="1"/>
              <p:nvPr/>
            </p:nvSpPr>
            <p:spPr>
              <a:xfrm>
                <a:off x="9367838" y="6265307"/>
                <a:ext cx="126310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触达记录、客户反馈、退订记录​</a:t>
                </a:r>
              </a:p>
            </p:txBody>
          </p:sp>
          <p:sp>
            <p:nvSpPr>
              <p:cNvPr id="456" name="TextBox 456"/>
              <p:cNvSpPr txBox="1"/>
              <p:nvPr/>
            </p:nvSpPr>
            <p:spPr>
              <a:xfrm>
                <a:off x="9367838" y="6389132"/>
                <a:ext cx="315382"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可追溯​</a:t>
                </a:r>
              </a:p>
            </p:txBody>
          </p:sp>
        </p:grpSp>
      </p:gr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8596267" cy="542925"/>
            <a:chOff x="0" y="0"/>
            <a:chExt cx="8596267"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14​</a:t>
              </a:r>
            </a:p>
          </p:txBody>
        </p:sp>
        <p:sp>
          <p:nvSpPr>
            <p:cNvPr id="4" name="TextBox 4"/>
            <p:cNvSpPr txBox="1"/>
            <p:nvPr/>
          </p:nvSpPr>
          <p:spPr>
            <a:xfrm>
              <a:off x="942594" y="151448"/>
              <a:ext cx="7653673"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营销活动</a:t>
              </a:r>
              <a:r>
                <a:rPr lang="zh-CN" sz="1950" b="1" dirty="0">
                  <a:solidFill>
                    <a:srgbClr val="5B180B"/>
                  </a:solidFill>
                  <a:latin typeface="+mj-lt"/>
                  <a:ea typeface="+mj-ea"/>
                  <a:cs typeface="+mj-cs"/>
                </a:rPr>
                <a:t xml:space="preserve"> | 三类主题活动承担获客、转化与客户提升不同任务</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95" name="activity-table"/>
          <p:cNvGrpSpPr/>
          <p:nvPr/>
        </p:nvGrpSpPr>
        <p:grpSpPr>
          <a:xfrm>
            <a:off x="228600" y="666750"/>
            <a:ext cx="6438900" cy="2228850"/>
            <a:chOff x="228600" y="666750"/>
            <a:chExt cx="6438900" cy="2228850"/>
          </a:xfrm>
        </p:grpSpPr>
        <p:sp>
          <p:nvSpPr>
            <p:cNvPr id="7" name="Rectangle 7"/>
            <p:cNvSpPr/>
            <p:nvPr/>
          </p:nvSpPr>
          <p:spPr>
            <a:xfrm>
              <a:off x="228600" y="666750"/>
              <a:ext cx="6438900" cy="2228850"/>
            </a:xfrm>
            <a:prstGeom prst="roundRect">
              <a:avLst>
                <a:gd name="adj" fmla="val 3419"/>
              </a:avLst>
            </a:prstGeom>
            <a:solidFill>
              <a:srgbClr val="FFFFFF"/>
            </a:solidFill>
            <a:ln w="9525">
              <a:solidFill>
                <a:srgbClr val="D9E8E2"/>
              </a:solidFill>
            </a:ln>
          </p:spPr>
        </p:sp>
        <p:grpSp>
          <p:nvGrpSpPr>
            <p:cNvPr id="21" name="Group 21"/>
            <p:cNvGrpSpPr/>
            <p:nvPr/>
          </p:nvGrpSpPr>
          <p:grpSpPr>
            <a:xfrm>
              <a:off x="228600" y="666750"/>
              <a:ext cx="6438900" cy="323850"/>
              <a:chOff x="228600" y="666750"/>
              <a:chExt cx="6438900" cy="323850"/>
            </a:xfrm>
          </p:grpSpPr>
          <p:sp>
            <p:nvSpPr>
              <p:cNvPr id="8" name="Rectangle 8"/>
              <p:cNvSpPr/>
              <p:nvPr/>
            </p:nvSpPr>
            <p:spPr>
              <a:xfrm>
                <a:off x="228600" y="666750"/>
                <a:ext cx="6438900" cy="323850"/>
              </a:xfrm>
              <a:prstGeom prst="roundRect">
                <a:avLst>
                  <a:gd name="adj" fmla="val 23529"/>
                </a:avLst>
              </a:prstGeom>
              <a:solidFill>
                <a:srgbClr val="5B180B"/>
              </a:solidFill>
              <a:ln>
                <a:noFill/>
              </a:ln>
            </p:spPr>
          </p:sp>
          <p:sp>
            <p:nvSpPr>
              <p:cNvPr id="9" name="Rectangle 9"/>
              <p:cNvSpPr/>
              <p:nvPr/>
            </p:nvSpPr>
            <p:spPr>
              <a:xfrm>
                <a:off x="228600" y="857250"/>
                <a:ext cx="6438900" cy="133350"/>
              </a:xfrm>
              <a:prstGeom prst="rect">
                <a:avLst/>
              </a:prstGeom>
              <a:solidFill>
                <a:srgbClr val="5B180B"/>
              </a:solidFill>
              <a:ln>
                <a:noFill/>
              </a:ln>
            </p:spPr>
          </p:sp>
          <p:sp>
            <p:nvSpPr>
              <p:cNvPr id="10" name="TextBox 10"/>
              <p:cNvSpPr txBox="1"/>
              <p:nvPr/>
            </p:nvSpPr>
            <p:spPr>
              <a:xfrm>
                <a:off x="357222" y="803434"/>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活动名称​</a:t>
                </a:r>
              </a:p>
            </p:txBody>
          </p:sp>
          <p:sp>
            <p:nvSpPr>
              <p:cNvPr id="11" name="TextBox 11"/>
              <p:cNvSpPr txBox="1"/>
              <p:nvPr/>
            </p:nvSpPr>
            <p:spPr>
              <a:xfrm>
                <a:off x="1115513" y="803434"/>
                <a:ext cx="24547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时间​</a:t>
                </a:r>
              </a:p>
            </p:txBody>
          </p:sp>
          <p:sp>
            <p:nvSpPr>
              <p:cNvPr id="12" name="TextBox 12"/>
              <p:cNvSpPr txBox="1"/>
              <p:nvPr/>
            </p:nvSpPr>
            <p:spPr>
              <a:xfrm>
                <a:off x="1681197" y="803434"/>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目标客群​</a:t>
                </a:r>
              </a:p>
            </p:txBody>
          </p:sp>
          <p:sp>
            <p:nvSpPr>
              <p:cNvPr id="13" name="TextBox 13"/>
              <p:cNvSpPr txBox="1"/>
              <p:nvPr/>
            </p:nvSpPr>
            <p:spPr>
              <a:xfrm>
                <a:off x="2490822" y="803434"/>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核心钩子​</a:t>
                </a:r>
              </a:p>
            </p:txBody>
          </p:sp>
          <p:sp>
            <p:nvSpPr>
              <p:cNvPr id="14" name="TextBox 14"/>
              <p:cNvSpPr txBox="1"/>
              <p:nvPr/>
            </p:nvSpPr>
            <p:spPr>
              <a:xfrm>
                <a:off x="3416601" y="803434"/>
                <a:ext cx="52009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主推产品包​</a:t>
                </a:r>
              </a:p>
            </p:txBody>
          </p:sp>
          <p:sp>
            <p:nvSpPr>
              <p:cNvPr id="15" name="TextBox 15"/>
              <p:cNvSpPr txBox="1"/>
              <p:nvPr/>
            </p:nvSpPr>
            <p:spPr>
              <a:xfrm>
                <a:off x="4567272" y="803434"/>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主要渠道​</a:t>
                </a:r>
              </a:p>
            </p:txBody>
          </p:sp>
          <p:sp>
            <p:nvSpPr>
              <p:cNvPr id="16" name="TextBox 16"/>
              <p:cNvSpPr txBox="1"/>
              <p:nvPr/>
            </p:nvSpPr>
            <p:spPr>
              <a:xfrm>
                <a:off x="5449388" y="755809"/>
                <a:ext cx="24547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目标​</a:t>
                </a:r>
              </a:p>
            </p:txBody>
          </p:sp>
          <p:sp>
            <p:nvSpPr>
              <p:cNvPr id="17" name="TextBox 17"/>
              <p:cNvSpPr txBox="1"/>
              <p:nvPr/>
            </p:nvSpPr>
            <p:spPr>
              <a:xfrm>
                <a:off x="5375125" y="872728"/>
                <a:ext cx="394000"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（人/户）​</a:t>
                </a:r>
              </a:p>
            </p:txBody>
          </p:sp>
          <p:sp>
            <p:nvSpPr>
              <p:cNvPr id="18" name="TextBox 18"/>
              <p:cNvSpPr txBox="1"/>
              <p:nvPr/>
            </p:nvSpPr>
            <p:spPr>
              <a:xfrm>
                <a:off x="5954213" y="755809"/>
                <a:ext cx="24547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预算​</a:t>
                </a:r>
              </a:p>
            </p:txBody>
          </p:sp>
          <p:sp>
            <p:nvSpPr>
              <p:cNvPr id="19" name="TextBox 19"/>
              <p:cNvSpPr txBox="1"/>
              <p:nvPr/>
            </p:nvSpPr>
            <p:spPr>
              <a:xfrm>
                <a:off x="5900682" y="872728"/>
                <a:ext cx="352537"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（万元）​</a:t>
                </a:r>
              </a:p>
            </p:txBody>
          </p:sp>
          <p:sp>
            <p:nvSpPr>
              <p:cNvPr id="20" name="TextBox 20"/>
              <p:cNvSpPr txBox="1"/>
              <p:nvPr/>
            </p:nvSpPr>
            <p:spPr>
              <a:xfrm>
                <a:off x="6233420" y="803434"/>
                <a:ext cx="41096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预期ROI​</a:t>
                </a:r>
              </a:p>
            </p:txBody>
          </p:sp>
        </p:grpSp>
        <p:grpSp>
          <p:nvGrpSpPr>
            <p:cNvPr id="89" name="act-rows"/>
            <p:cNvGrpSpPr/>
            <p:nvPr/>
          </p:nvGrpSpPr>
          <p:grpSpPr>
            <a:xfrm>
              <a:off x="228600" y="990600"/>
              <a:ext cx="6438900" cy="1905000"/>
              <a:chOff x="228600" y="990600"/>
              <a:chExt cx="6438900" cy="1905000"/>
            </a:xfrm>
          </p:grpSpPr>
          <p:sp>
            <p:nvSpPr>
              <p:cNvPr id="22" name="Rectangle 22"/>
              <p:cNvSpPr/>
              <p:nvPr/>
            </p:nvSpPr>
            <p:spPr>
              <a:xfrm>
                <a:off x="228600" y="990600"/>
                <a:ext cx="6438900" cy="381000"/>
              </a:xfrm>
              <a:prstGeom prst="rect">
                <a:avLst/>
              </a:prstGeom>
              <a:solidFill>
                <a:srgbClr val="FFFFFF"/>
              </a:solidFill>
              <a:ln>
                <a:noFill/>
              </a:ln>
            </p:spPr>
          </p:sp>
          <p:sp>
            <p:nvSpPr>
              <p:cNvPr id="23" name="TextBox 23"/>
              <p:cNvSpPr txBox="1"/>
              <p:nvPr/>
            </p:nvSpPr>
            <p:spPr>
              <a:xfrm>
                <a:off x="311451" y="1146334"/>
                <a:ext cx="520098"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存款守护季​</a:t>
                </a:r>
              </a:p>
            </p:txBody>
          </p:sp>
          <p:sp>
            <p:nvSpPr>
              <p:cNvPr id="24" name="TextBox 24"/>
              <p:cNvSpPr txBox="1"/>
              <p:nvPr/>
            </p:nvSpPr>
            <p:spPr>
              <a:xfrm>
                <a:off x="1126465" y="1154430"/>
                <a:ext cx="223571"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10月​</a:t>
                </a:r>
              </a:p>
            </p:txBody>
          </p:sp>
          <p:sp>
            <p:nvSpPr>
              <p:cNvPr id="25" name="TextBox 25"/>
              <p:cNvSpPr txBox="1"/>
              <p:nvPr/>
            </p:nvSpPr>
            <p:spPr>
              <a:xfrm>
                <a:off x="1626184" y="110680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大众零售客户​</a:t>
                </a:r>
              </a:p>
            </p:txBody>
          </p:sp>
          <p:sp>
            <p:nvSpPr>
              <p:cNvPr id="26" name="TextBox 26"/>
              <p:cNvSpPr txBox="1"/>
              <p:nvPr/>
            </p:nvSpPr>
            <p:spPr>
              <a:xfrm>
                <a:off x="1563586" y="1211580"/>
                <a:ext cx="66377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（新客户/存量）​</a:t>
                </a:r>
              </a:p>
            </p:txBody>
          </p:sp>
          <p:sp>
            <p:nvSpPr>
              <p:cNvPr id="27" name="TextBox 27"/>
              <p:cNvSpPr txBox="1"/>
              <p:nvPr/>
            </p:nvSpPr>
            <p:spPr>
              <a:xfrm>
                <a:off x="2516581" y="1106805"/>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稳健增值​</a:t>
                </a:r>
              </a:p>
            </p:txBody>
          </p:sp>
          <p:sp>
            <p:nvSpPr>
              <p:cNvPr id="28" name="TextBox 28"/>
              <p:cNvSpPr txBox="1"/>
              <p:nvPr/>
            </p:nvSpPr>
            <p:spPr>
              <a:xfrm>
                <a:off x="2516581" y="1211580"/>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安全守护​</a:t>
                </a:r>
              </a:p>
            </p:txBody>
          </p:sp>
          <p:sp>
            <p:nvSpPr>
              <p:cNvPr id="29" name="TextBox 29"/>
              <p:cNvSpPr txBox="1"/>
              <p:nvPr/>
            </p:nvSpPr>
            <p:spPr>
              <a:xfrm>
                <a:off x="3344761" y="1106805"/>
                <a:ext cx="66377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定期存款+增值礼​</a:t>
                </a:r>
              </a:p>
            </p:txBody>
          </p:sp>
          <p:sp>
            <p:nvSpPr>
              <p:cNvPr id="30" name="TextBox 30"/>
              <p:cNvSpPr txBox="1"/>
              <p:nvPr/>
            </p:nvSpPr>
            <p:spPr>
              <a:xfrm>
                <a:off x="3304375" y="1211580"/>
                <a:ext cx="744550"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（积分/生活权益）​</a:t>
                </a:r>
              </a:p>
            </p:txBody>
          </p:sp>
          <p:sp>
            <p:nvSpPr>
              <p:cNvPr id="31" name="TextBox 31"/>
              <p:cNvSpPr txBox="1"/>
              <p:nvPr/>
            </p:nvSpPr>
            <p:spPr>
              <a:xfrm>
                <a:off x="4471873" y="1154430"/>
                <a:ext cx="61935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网点、手机银行​</a:t>
                </a:r>
              </a:p>
            </p:txBody>
          </p:sp>
          <p:sp>
            <p:nvSpPr>
              <p:cNvPr id="32" name="TextBox 32"/>
              <p:cNvSpPr txBox="1"/>
              <p:nvPr/>
            </p:nvSpPr>
            <p:spPr>
              <a:xfrm>
                <a:off x="5427425" y="1154430"/>
                <a:ext cx="289400" cy="119062"/>
              </a:xfrm>
              <a:prstGeom prst="rect">
                <a:avLst/>
              </a:prstGeom>
              <a:noFill/>
              <a:ln>
                <a:noFill/>
              </a:ln>
            </p:spPr>
            <p:txBody>
              <a:bodyPr wrap="none" lIns="0" tIns="0" rIns="0" bIns="0" anchor="t" anchorCtr="0">
                <a:spAutoFit/>
              </a:bodyPr>
              <a:lstStyle/>
              <a:p>
                <a:pPr algn="ctr"/>
                <a:r>
                  <a:rPr lang="zh-CN" sz="600" b="1" dirty="0">
                    <a:solidFill>
                      <a:srgbClr val="4A3D3A"/>
                    </a:solidFill>
                    <a:latin typeface="+mn-lt"/>
                    <a:ea typeface="+mn-ea"/>
                    <a:cs typeface="+mn-cs"/>
                  </a:rPr>
                  <a:t>6,000​</a:t>
                </a:r>
              </a:p>
            </p:txBody>
          </p:sp>
          <p:sp>
            <p:nvSpPr>
              <p:cNvPr id="33" name="TextBox 33"/>
              <p:cNvSpPr txBox="1"/>
              <p:nvPr/>
            </p:nvSpPr>
            <p:spPr>
              <a:xfrm>
                <a:off x="5983338" y="1154430"/>
                <a:ext cx="187223"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300​</a:t>
                </a:r>
              </a:p>
            </p:txBody>
          </p:sp>
          <p:sp>
            <p:nvSpPr>
              <p:cNvPr id="34" name="TextBox 34"/>
              <p:cNvSpPr txBox="1"/>
              <p:nvPr/>
            </p:nvSpPr>
            <p:spPr>
              <a:xfrm>
                <a:off x="6317523" y="1154430"/>
                <a:ext cx="242754" cy="119062"/>
              </a:xfrm>
              <a:prstGeom prst="rect">
                <a:avLst/>
              </a:prstGeom>
              <a:noFill/>
              <a:ln>
                <a:noFill/>
              </a:ln>
            </p:spPr>
            <p:txBody>
              <a:bodyPr wrap="none" lIns="0" tIns="0" rIns="0" bIns="0" anchor="t" anchorCtr="0">
                <a:spAutoFit/>
              </a:bodyPr>
              <a:lstStyle/>
              <a:p>
                <a:pPr algn="ctr"/>
                <a:r>
                  <a:rPr lang="en-US" sz="600" b="1" dirty="0">
                    <a:solidFill>
                      <a:srgbClr val="B8432F"/>
                    </a:solidFill>
                    <a:latin typeface="+mn-lt"/>
                    <a:ea typeface="+mn-ea"/>
                    <a:cs typeface="+mn-cs"/>
                  </a:rPr>
                  <a:t>2.5x​</a:t>
                </a:r>
              </a:p>
            </p:txBody>
          </p:sp>
          <p:sp>
            <p:nvSpPr>
              <p:cNvPr id="35" name="Rectangle 35"/>
              <p:cNvSpPr/>
              <p:nvPr/>
            </p:nvSpPr>
            <p:spPr>
              <a:xfrm>
                <a:off x="228600" y="1371600"/>
                <a:ext cx="6438900" cy="381000"/>
              </a:xfrm>
              <a:prstGeom prst="rect">
                <a:avLst/>
              </a:prstGeom>
              <a:solidFill>
                <a:srgbClr val="F5FAF8"/>
              </a:solidFill>
              <a:ln>
                <a:noFill/>
              </a:ln>
            </p:spPr>
          </p:sp>
          <p:sp>
            <p:nvSpPr>
              <p:cNvPr id="36" name="TextBox 36"/>
              <p:cNvSpPr txBox="1"/>
              <p:nvPr/>
            </p:nvSpPr>
            <p:spPr>
              <a:xfrm>
                <a:off x="311451" y="1527334"/>
                <a:ext cx="520098"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财富配置月​</a:t>
                </a:r>
              </a:p>
            </p:txBody>
          </p:sp>
          <p:sp>
            <p:nvSpPr>
              <p:cNvPr id="37" name="TextBox 37"/>
              <p:cNvSpPr txBox="1"/>
              <p:nvPr/>
            </p:nvSpPr>
            <p:spPr>
              <a:xfrm>
                <a:off x="1126465" y="1535430"/>
                <a:ext cx="223571"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11月​</a:t>
                </a:r>
              </a:p>
            </p:txBody>
          </p:sp>
          <p:sp>
            <p:nvSpPr>
              <p:cNvPr id="38" name="TextBox 38"/>
              <p:cNvSpPr txBox="1"/>
              <p:nvPr/>
            </p:nvSpPr>
            <p:spPr>
              <a:xfrm>
                <a:off x="1626184" y="1535430"/>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中高净值客户​</a:t>
                </a:r>
              </a:p>
            </p:txBody>
          </p:sp>
          <p:sp>
            <p:nvSpPr>
              <p:cNvPr id="39" name="TextBox 39"/>
              <p:cNvSpPr txBox="1"/>
              <p:nvPr/>
            </p:nvSpPr>
            <p:spPr>
              <a:xfrm>
                <a:off x="2516581" y="1487805"/>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专业配置​</a:t>
                </a:r>
              </a:p>
            </p:txBody>
          </p:sp>
          <p:sp>
            <p:nvSpPr>
              <p:cNvPr id="40" name="TextBox 40"/>
              <p:cNvSpPr txBox="1"/>
              <p:nvPr/>
            </p:nvSpPr>
            <p:spPr>
              <a:xfrm>
                <a:off x="2516581" y="1592580"/>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把握机遇​</a:t>
                </a:r>
              </a:p>
            </p:txBody>
          </p:sp>
          <p:sp>
            <p:nvSpPr>
              <p:cNvPr id="41" name="TextBox 41"/>
              <p:cNvSpPr txBox="1"/>
              <p:nvPr/>
            </p:nvSpPr>
            <p:spPr>
              <a:xfrm>
                <a:off x="3362935" y="1487805"/>
                <a:ext cx="627431"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理财+基金+保险​</a:t>
                </a:r>
              </a:p>
            </p:txBody>
          </p:sp>
          <p:sp>
            <p:nvSpPr>
              <p:cNvPr id="42" name="TextBox 42"/>
              <p:cNvSpPr txBox="1"/>
              <p:nvPr/>
            </p:nvSpPr>
            <p:spPr>
              <a:xfrm>
                <a:off x="3326587" y="1592580"/>
                <a:ext cx="700126"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（资产配置组合）​</a:t>
                </a:r>
              </a:p>
            </p:txBody>
          </p:sp>
          <p:sp>
            <p:nvSpPr>
              <p:cNvPr id="43" name="TextBox 43"/>
              <p:cNvSpPr txBox="1"/>
              <p:nvPr/>
            </p:nvSpPr>
            <p:spPr>
              <a:xfrm>
                <a:off x="4471873" y="1487805"/>
                <a:ext cx="61935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网点、客户经理​</a:t>
                </a:r>
              </a:p>
            </p:txBody>
          </p:sp>
          <p:sp>
            <p:nvSpPr>
              <p:cNvPr id="44" name="TextBox 44"/>
              <p:cNvSpPr txBox="1"/>
              <p:nvPr/>
            </p:nvSpPr>
            <p:spPr>
              <a:xfrm>
                <a:off x="4593031" y="1592580"/>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线上直播​</a:t>
                </a:r>
              </a:p>
            </p:txBody>
          </p:sp>
          <p:sp>
            <p:nvSpPr>
              <p:cNvPr id="45" name="TextBox 45"/>
              <p:cNvSpPr txBox="1"/>
              <p:nvPr/>
            </p:nvSpPr>
            <p:spPr>
              <a:xfrm>
                <a:off x="5427425" y="1535430"/>
                <a:ext cx="289400" cy="119062"/>
              </a:xfrm>
              <a:prstGeom prst="rect">
                <a:avLst/>
              </a:prstGeom>
              <a:noFill/>
              <a:ln>
                <a:noFill/>
              </a:ln>
            </p:spPr>
            <p:txBody>
              <a:bodyPr wrap="none" lIns="0" tIns="0" rIns="0" bIns="0" anchor="t" anchorCtr="0">
                <a:spAutoFit/>
              </a:bodyPr>
              <a:lstStyle/>
              <a:p>
                <a:pPr algn="ctr"/>
                <a:r>
                  <a:rPr lang="zh-CN" sz="600" b="1" dirty="0">
                    <a:solidFill>
                      <a:srgbClr val="4A3D3A"/>
                    </a:solidFill>
                    <a:latin typeface="+mn-lt"/>
                    <a:ea typeface="+mn-ea"/>
                    <a:cs typeface="+mn-cs"/>
                  </a:rPr>
                  <a:t>3,000​</a:t>
                </a:r>
              </a:p>
            </p:txBody>
          </p:sp>
          <p:sp>
            <p:nvSpPr>
              <p:cNvPr id="46" name="TextBox 46"/>
              <p:cNvSpPr txBox="1"/>
              <p:nvPr/>
            </p:nvSpPr>
            <p:spPr>
              <a:xfrm>
                <a:off x="5983338" y="1535430"/>
                <a:ext cx="187223"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500​</a:t>
                </a:r>
              </a:p>
            </p:txBody>
          </p:sp>
          <p:sp>
            <p:nvSpPr>
              <p:cNvPr id="47" name="TextBox 47"/>
              <p:cNvSpPr txBox="1"/>
              <p:nvPr/>
            </p:nvSpPr>
            <p:spPr>
              <a:xfrm>
                <a:off x="6317523" y="1535430"/>
                <a:ext cx="242754" cy="119062"/>
              </a:xfrm>
              <a:prstGeom prst="rect">
                <a:avLst/>
              </a:prstGeom>
              <a:noFill/>
              <a:ln>
                <a:noFill/>
              </a:ln>
            </p:spPr>
            <p:txBody>
              <a:bodyPr wrap="none" lIns="0" tIns="0" rIns="0" bIns="0" anchor="t" anchorCtr="0">
                <a:spAutoFit/>
              </a:bodyPr>
              <a:lstStyle/>
              <a:p>
                <a:pPr algn="ctr"/>
                <a:r>
                  <a:rPr lang="en-US" sz="600" b="1" dirty="0">
                    <a:solidFill>
                      <a:srgbClr val="B8432F"/>
                    </a:solidFill>
                    <a:latin typeface="+mn-lt"/>
                    <a:ea typeface="+mn-ea"/>
                    <a:cs typeface="+mn-cs"/>
                  </a:rPr>
                  <a:t>3.0x​</a:t>
                </a:r>
              </a:p>
            </p:txBody>
          </p:sp>
          <p:sp>
            <p:nvSpPr>
              <p:cNvPr id="48" name="Rectangle 48"/>
              <p:cNvSpPr/>
              <p:nvPr/>
            </p:nvSpPr>
            <p:spPr>
              <a:xfrm>
                <a:off x="228600" y="1752600"/>
                <a:ext cx="6438900" cy="381000"/>
              </a:xfrm>
              <a:prstGeom prst="rect">
                <a:avLst/>
              </a:prstGeom>
              <a:solidFill>
                <a:srgbClr val="FFFFFF"/>
              </a:solidFill>
              <a:ln>
                <a:noFill/>
              </a:ln>
            </p:spPr>
          </p:sp>
          <p:sp>
            <p:nvSpPr>
              <p:cNvPr id="49" name="TextBox 49"/>
              <p:cNvSpPr txBox="1"/>
              <p:nvPr/>
            </p:nvSpPr>
            <p:spPr>
              <a:xfrm>
                <a:off x="311451" y="1908334"/>
                <a:ext cx="520098"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年终感恩季​</a:t>
                </a:r>
              </a:p>
            </p:txBody>
          </p:sp>
          <p:sp>
            <p:nvSpPr>
              <p:cNvPr id="50" name="TextBox 50"/>
              <p:cNvSpPr txBox="1"/>
              <p:nvPr/>
            </p:nvSpPr>
            <p:spPr>
              <a:xfrm>
                <a:off x="1126465" y="1916430"/>
                <a:ext cx="223571"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12月​</a:t>
                </a:r>
              </a:p>
            </p:txBody>
          </p:sp>
          <p:sp>
            <p:nvSpPr>
              <p:cNvPr id="51" name="TextBox 51"/>
              <p:cNvSpPr txBox="1"/>
              <p:nvPr/>
            </p:nvSpPr>
            <p:spPr>
              <a:xfrm>
                <a:off x="1626184" y="1916430"/>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全量重点客户​</a:t>
                </a:r>
              </a:p>
            </p:txBody>
          </p:sp>
          <p:sp>
            <p:nvSpPr>
              <p:cNvPr id="52" name="TextBox 52"/>
              <p:cNvSpPr txBox="1"/>
              <p:nvPr/>
            </p:nvSpPr>
            <p:spPr>
              <a:xfrm>
                <a:off x="2516581" y="1868805"/>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感恩回馈​</a:t>
                </a:r>
              </a:p>
            </p:txBody>
          </p:sp>
          <p:sp>
            <p:nvSpPr>
              <p:cNvPr id="53" name="TextBox 53"/>
              <p:cNvSpPr txBox="1"/>
              <p:nvPr/>
            </p:nvSpPr>
            <p:spPr>
              <a:xfrm>
                <a:off x="2516581" y="1973580"/>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多重好礼​</a:t>
                </a:r>
              </a:p>
            </p:txBody>
          </p:sp>
          <p:sp>
            <p:nvSpPr>
              <p:cNvPr id="54" name="TextBox 54"/>
              <p:cNvSpPr txBox="1"/>
              <p:nvPr/>
            </p:nvSpPr>
            <p:spPr>
              <a:xfrm>
                <a:off x="3447745" y="1868805"/>
                <a:ext cx="457810"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综合权益包​</a:t>
                </a:r>
              </a:p>
            </p:txBody>
          </p:sp>
          <p:sp>
            <p:nvSpPr>
              <p:cNvPr id="55" name="TextBox 55"/>
              <p:cNvSpPr txBox="1"/>
              <p:nvPr/>
            </p:nvSpPr>
            <p:spPr>
              <a:xfrm>
                <a:off x="3241777" y="1973580"/>
                <a:ext cx="869747"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（消费券+积分+抽奖）​</a:t>
                </a:r>
              </a:p>
            </p:txBody>
          </p:sp>
          <p:sp>
            <p:nvSpPr>
              <p:cNvPr id="56" name="TextBox 56"/>
              <p:cNvSpPr txBox="1"/>
              <p:nvPr/>
            </p:nvSpPr>
            <p:spPr>
              <a:xfrm>
                <a:off x="4471873" y="1868805"/>
                <a:ext cx="61935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网点、手机银行​</a:t>
                </a:r>
              </a:p>
            </p:txBody>
          </p:sp>
          <p:sp>
            <p:nvSpPr>
              <p:cNvPr id="57" name="TextBox 57"/>
              <p:cNvSpPr txBox="1"/>
              <p:nvPr/>
            </p:nvSpPr>
            <p:spPr>
              <a:xfrm>
                <a:off x="4499153" y="1973580"/>
                <a:ext cx="56479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短信/APP推送​</a:t>
                </a:r>
              </a:p>
            </p:txBody>
          </p:sp>
          <p:sp>
            <p:nvSpPr>
              <p:cNvPr id="58" name="TextBox 58"/>
              <p:cNvSpPr txBox="1"/>
              <p:nvPr/>
            </p:nvSpPr>
            <p:spPr>
              <a:xfrm>
                <a:off x="5404102" y="1916430"/>
                <a:ext cx="336046" cy="119062"/>
              </a:xfrm>
              <a:prstGeom prst="rect">
                <a:avLst/>
              </a:prstGeom>
              <a:noFill/>
              <a:ln>
                <a:noFill/>
              </a:ln>
            </p:spPr>
            <p:txBody>
              <a:bodyPr wrap="none" lIns="0" tIns="0" rIns="0" bIns="0" anchor="t" anchorCtr="0">
                <a:spAutoFit/>
              </a:bodyPr>
              <a:lstStyle/>
              <a:p>
                <a:pPr algn="ctr"/>
                <a:r>
                  <a:rPr lang="zh-CN" sz="600" b="1" dirty="0">
                    <a:solidFill>
                      <a:srgbClr val="4A3D3A"/>
                    </a:solidFill>
                    <a:latin typeface="+mn-lt"/>
                    <a:ea typeface="+mn-ea"/>
                    <a:cs typeface="+mn-cs"/>
                  </a:rPr>
                  <a:t>10,000​</a:t>
                </a:r>
              </a:p>
            </p:txBody>
          </p:sp>
          <p:sp>
            <p:nvSpPr>
              <p:cNvPr id="59" name="TextBox 59"/>
              <p:cNvSpPr txBox="1"/>
              <p:nvPr/>
            </p:nvSpPr>
            <p:spPr>
              <a:xfrm>
                <a:off x="5983338" y="1916430"/>
                <a:ext cx="187223"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400​</a:t>
                </a:r>
              </a:p>
            </p:txBody>
          </p:sp>
          <p:sp>
            <p:nvSpPr>
              <p:cNvPr id="60" name="TextBox 60"/>
              <p:cNvSpPr txBox="1"/>
              <p:nvPr/>
            </p:nvSpPr>
            <p:spPr>
              <a:xfrm>
                <a:off x="6317523" y="1916430"/>
                <a:ext cx="242754" cy="119062"/>
              </a:xfrm>
              <a:prstGeom prst="rect">
                <a:avLst/>
              </a:prstGeom>
              <a:noFill/>
              <a:ln>
                <a:noFill/>
              </a:ln>
            </p:spPr>
            <p:txBody>
              <a:bodyPr wrap="none" lIns="0" tIns="0" rIns="0" bIns="0" anchor="t" anchorCtr="0">
                <a:spAutoFit/>
              </a:bodyPr>
              <a:lstStyle/>
              <a:p>
                <a:pPr algn="ctr"/>
                <a:r>
                  <a:rPr lang="en-US" sz="600" b="1" dirty="0">
                    <a:solidFill>
                      <a:srgbClr val="B8432F"/>
                    </a:solidFill>
                    <a:latin typeface="+mn-lt"/>
                    <a:ea typeface="+mn-ea"/>
                    <a:cs typeface="+mn-cs"/>
                  </a:rPr>
                  <a:t>2.0x​</a:t>
                </a:r>
              </a:p>
            </p:txBody>
          </p:sp>
          <p:sp>
            <p:nvSpPr>
              <p:cNvPr id="61" name="Rectangle 61"/>
              <p:cNvSpPr/>
              <p:nvPr/>
            </p:nvSpPr>
            <p:spPr>
              <a:xfrm>
                <a:off x="228600" y="2133600"/>
                <a:ext cx="6438900" cy="381000"/>
              </a:xfrm>
              <a:prstGeom prst="rect">
                <a:avLst/>
              </a:prstGeom>
              <a:solidFill>
                <a:srgbClr val="F5FAF8"/>
              </a:solidFill>
              <a:ln>
                <a:noFill/>
              </a:ln>
            </p:spPr>
          </p:sp>
          <p:sp>
            <p:nvSpPr>
              <p:cNvPr id="62" name="TextBox 62"/>
              <p:cNvSpPr txBox="1"/>
              <p:nvPr/>
            </p:nvSpPr>
            <p:spPr>
              <a:xfrm>
                <a:off x="311451" y="2289334"/>
                <a:ext cx="520098"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商户进社区​</a:t>
                </a:r>
              </a:p>
            </p:txBody>
          </p:sp>
          <p:sp>
            <p:nvSpPr>
              <p:cNvPr id="63" name="TextBox 63"/>
              <p:cNvSpPr txBox="1"/>
              <p:nvPr/>
            </p:nvSpPr>
            <p:spPr>
              <a:xfrm>
                <a:off x="1059828" y="2297430"/>
                <a:ext cx="356845"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10-12月​</a:t>
                </a:r>
              </a:p>
            </p:txBody>
          </p:sp>
          <p:sp>
            <p:nvSpPr>
              <p:cNvPr id="64" name="TextBox 64"/>
              <p:cNvSpPr txBox="1"/>
              <p:nvPr/>
            </p:nvSpPr>
            <p:spPr>
              <a:xfrm>
                <a:off x="1626184" y="224980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社区周边商户​</a:t>
                </a:r>
              </a:p>
            </p:txBody>
          </p:sp>
          <p:sp>
            <p:nvSpPr>
              <p:cNvPr id="65" name="TextBox 65"/>
              <p:cNvSpPr txBox="1"/>
              <p:nvPr/>
            </p:nvSpPr>
            <p:spPr>
              <a:xfrm>
                <a:off x="1747342" y="2354580"/>
                <a:ext cx="296266"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及居民​</a:t>
                </a:r>
              </a:p>
            </p:txBody>
          </p:sp>
          <p:sp>
            <p:nvSpPr>
              <p:cNvPr id="66" name="TextBox 66"/>
              <p:cNvSpPr txBox="1"/>
              <p:nvPr/>
            </p:nvSpPr>
            <p:spPr>
              <a:xfrm>
                <a:off x="2516581" y="2249805"/>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便民支付​</a:t>
                </a:r>
              </a:p>
            </p:txBody>
          </p:sp>
          <p:sp>
            <p:nvSpPr>
              <p:cNvPr id="67" name="TextBox 67"/>
              <p:cNvSpPr txBox="1"/>
              <p:nvPr/>
            </p:nvSpPr>
            <p:spPr>
              <a:xfrm>
                <a:off x="2516581" y="2354580"/>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商贸共赢​</a:t>
                </a:r>
              </a:p>
            </p:txBody>
          </p:sp>
          <p:sp>
            <p:nvSpPr>
              <p:cNvPr id="68" name="TextBox 68"/>
              <p:cNvSpPr txBox="1"/>
              <p:nvPr/>
            </p:nvSpPr>
            <p:spPr>
              <a:xfrm>
                <a:off x="3241777" y="2249805"/>
                <a:ext cx="869747"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收单+经营贷+商户权益​</a:t>
                </a:r>
              </a:p>
            </p:txBody>
          </p:sp>
          <p:sp>
            <p:nvSpPr>
              <p:cNvPr id="69" name="TextBox 69"/>
              <p:cNvSpPr txBox="1"/>
              <p:nvPr/>
            </p:nvSpPr>
            <p:spPr>
              <a:xfrm>
                <a:off x="3183217" y="2354580"/>
                <a:ext cx="986866"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（手续费优惠+经营支持）​</a:t>
                </a:r>
              </a:p>
            </p:txBody>
          </p:sp>
          <p:sp>
            <p:nvSpPr>
              <p:cNvPr id="70" name="TextBox 70"/>
              <p:cNvSpPr txBox="1"/>
              <p:nvPr/>
            </p:nvSpPr>
            <p:spPr>
              <a:xfrm>
                <a:off x="4391101" y="2249805"/>
                <a:ext cx="78089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社区活动、商圈推广​</a:t>
                </a:r>
              </a:p>
            </p:txBody>
          </p:sp>
          <p:sp>
            <p:nvSpPr>
              <p:cNvPr id="71" name="TextBox 71"/>
              <p:cNvSpPr txBox="1"/>
              <p:nvPr/>
            </p:nvSpPr>
            <p:spPr>
              <a:xfrm>
                <a:off x="4593031" y="2354580"/>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异业合作​</a:t>
                </a:r>
              </a:p>
            </p:txBody>
          </p:sp>
          <p:sp>
            <p:nvSpPr>
              <p:cNvPr id="72" name="TextBox 72"/>
              <p:cNvSpPr txBox="1"/>
              <p:nvPr/>
            </p:nvSpPr>
            <p:spPr>
              <a:xfrm>
                <a:off x="5427425" y="2297430"/>
                <a:ext cx="289400" cy="119062"/>
              </a:xfrm>
              <a:prstGeom prst="rect">
                <a:avLst/>
              </a:prstGeom>
              <a:noFill/>
              <a:ln>
                <a:noFill/>
              </a:ln>
            </p:spPr>
            <p:txBody>
              <a:bodyPr wrap="none" lIns="0" tIns="0" rIns="0" bIns="0" anchor="t" anchorCtr="0">
                <a:spAutoFit/>
              </a:bodyPr>
              <a:lstStyle/>
              <a:p>
                <a:pPr algn="ctr"/>
                <a:r>
                  <a:rPr lang="zh-CN" sz="600" b="1" dirty="0">
                    <a:solidFill>
                      <a:srgbClr val="4A3D3A"/>
                    </a:solidFill>
                    <a:latin typeface="+mn-lt"/>
                    <a:ea typeface="+mn-ea"/>
                    <a:cs typeface="+mn-cs"/>
                  </a:rPr>
                  <a:t>1,200​</a:t>
                </a:r>
              </a:p>
            </p:txBody>
          </p:sp>
          <p:sp>
            <p:nvSpPr>
              <p:cNvPr id="73" name="TextBox 73"/>
              <p:cNvSpPr txBox="1"/>
              <p:nvPr/>
            </p:nvSpPr>
            <p:spPr>
              <a:xfrm>
                <a:off x="5983338" y="2297430"/>
                <a:ext cx="187223"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200​</a:t>
                </a:r>
              </a:p>
            </p:txBody>
          </p:sp>
          <p:sp>
            <p:nvSpPr>
              <p:cNvPr id="74" name="TextBox 74"/>
              <p:cNvSpPr txBox="1"/>
              <p:nvPr/>
            </p:nvSpPr>
            <p:spPr>
              <a:xfrm>
                <a:off x="6317523" y="2297430"/>
                <a:ext cx="242754" cy="119062"/>
              </a:xfrm>
              <a:prstGeom prst="rect">
                <a:avLst/>
              </a:prstGeom>
              <a:noFill/>
              <a:ln>
                <a:noFill/>
              </a:ln>
            </p:spPr>
            <p:txBody>
              <a:bodyPr wrap="none" lIns="0" tIns="0" rIns="0" bIns="0" anchor="t" anchorCtr="0">
                <a:spAutoFit/>
              </a:bodyPr>
              <a:lstStyle/>
              <a:p>
                <a:pPr algn="ctr"/>
                <a:r>
                  <a:rPr lang="en-US" sz="600" b="1" dirty="0">
                    <a:solidFill>
                      <a:srgbClr val="B8432F"/>
                    </a:solidFill>
                    <a:latin typeface="+mn-lt"/>
                    <a:ea typeface="+mn-ea"/>
                    <a:cs typeface="+mn-cs"/>
                  </a:rPr>
                  <a:t>2.8x​</a:t>
                </a:r>
              </a:p>
            </p:txBody>
          </p:sp>
          <p:sp>
            <p:nvSpPr>
              <p:cNvPr id="75" name="Rectangle 75"/>
              <p:cNvSpPr/>
              <p:nvPr/>
            </p:nvSpPr>
            <p:spPr>
              <a:xfrm>
                <a:off x="228600" y="2514600"/>
                <a:ext cx="6438900" cy="381000"/>
              </a:xfrm>
              <a:prstGeom prst="roundRect">
                <a:avLst>
                  <a:gd name="adj" fmla="val 20000"/>
                </a:avLst>
              </a:prstGeom>
              <a:solidFill>
                <a:srgbClr val="FFFFFF"/>
              </a:solidFill>
              <a:ln>
                <a:noFill/>
              </a:ln>
            </p:spPr>
          </p:sp>
          <p:sp>
            <p:nvSpPr>
              <p:cNvPr id="76" name="TextBox 76"/>
              <p:cNvSpPr txBox="1"/>
              <p:nvPr/>
            </p:nvSpPr>
            <p:spPr>
              <a:xfrm>
                <a:off x="311451" y="2670334"/>
                <a:ext cx="520098"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代发进企业​</a:t>
                </a:r>
              </a:p>
            </p:txBody>
          </p:sp>
          <p:sp>
            <p:nvSpPr>
              <p:cNvPr id="77" name="TextBox 77"/>
              <p:cNvSpPr txBox="1"/>
              <p:nvPr/>
            </p:nvSpPr>
            <p:spPr>
              <a:xfrm>
                <a:off x="1059828" y="2678430"/>
                <a:ext cx="356845"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10-12月​</a:t>
                </a:r>
              </a:p>
            </p:txBody>
          </p:sp>
          <p:sp>
            <p:nvSpPr>
              <p:cNvPr id="78" name="TextBox 78"/>
              <p:cNvSpPr txBox="1"/>
              <p:nvPr/>
            </p:nvSpPr>
            <p:spPr>
              <a:xfrm>
                <a:off x="1666570" y="2630805"/>
                <a:ext cx="457810"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企事业单位​</a:t>
                </a:r>
              </a:p>
            </p:txBody>
          </p:sp>
          <p:sp>
            <p:nvSpPr>
              <p:cNvPr id="79" name="TextBox 79"/>
              <p:cNvSpPr txBox="1"/>
              <p:nvPr/>
            </p:nvSpPr>
            <p:spPr>
              <a:xfrm>
                <a:off x="1636547" y="2735580"/>
                <a:ext cx="517855"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（HR/员工）​</a:t>
                </a:r>
              </a:p>
            </p:txBody>
          </p:sp>
          <p:sp>
            <p:nvSpPr>
              <p:cNvPr id="80" name="TextBox 80"/>
              <p:cNvSpPr txBox="1"/>
              <p:nvPr/>
            </p:nvSpPr>
            <p:spPr>
              <a:xfrm>
                <a:off x="2516581" y="2630805"/>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薪享生活​</a:t>
                </a:r>
              </a:p>
            </p:txBody>
          </p:sp>
          <p:sp>
            <p:nvSpPr>
              <p:cNvPr id="81" name="TextBox 81"/>
              <p:cNvSpPr txBox="1"/>
              <p:nvPr/>
            </p:nvSpPr>
            <p:spPr>
              <a:xfrm>
                <a:off x="2516581" y="2735580"/>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省心省力​</a:t>
                </a:r>
              </a:p>
            </p:txBody>
          </p:sp>
          <p:sp>
            <p:nvSpPr>
              <p:cNvPr id="82" name="TextBox 82"/>
              <p:cNvSpPr txBox="1"/>
              <p:nvPr/>
            </p:nvSpPr>
            <p:spPr>
              <a:xfrm>
                <a:off x="3161005" y="2630805"/>
                <a:ext cx="1031291"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代发工资+员工卡+消费权益​</a:t>
                </a:r>
              </a:p>
            </p:txBody>
          </p:sp>
          <p:sp>
            <p:nvSpPr>
              <p:cNvPr id="83" name="TextBox 83"/>
              <p:cNvSpPr txBox="1"/>
              <p:nvPr/>
            </p:nvSpPr>
            <p:spPr>
              <a:xfrm>
                <a:off x="3223603" y="2735580"/>
                <a:ext cx="90609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（年费减免+专属福利）​</a:t>
                </a:r>
              </a:p>
            </p:txBody>
          </p:sp>
          <p:sp>
            <p:nvSpPr>
              <p:cNvPr id="84" name="TextBox 84"/>
              <p:cNvSpPr txBox="1"/>
              <p:nvPr/>
            </p:nvSpPr>
            <p:spPr>
              <a:xfrm>
                <a:off x="4391101" y="2630805"/>
                <a:ext cx="78089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企业走访、园区推介​</a:t>
                </a:r>
              </a:p>
            </p:txBody>
          </p:sp>
          <p:sp>
            <p:nvSpPr>
              <p:cNvPr id="85" name="TextBox 85"/>
              <p:cNvSpPr txBox="1"/>
              <p:nvPr/>
            </p:nvSpPr>
            <p:spPr>
              <a:xfrm>
                <a:off x="4593031" y="2735580"/>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线上宣讲​</a:t>
                </a:r>
              </a:p>
            </p:txBody>
          </p:sp>
          <p:sp>
            <p:nvSpPr>
              <p:cNvPr id="86" name="TextBox 86"/>
              <p:cNvSpPr txBox="1"/>
              <p:nvPr/>
            </p:nvSpPr>
            <p:spPr>
              <a:xfrm>
                <a:off x="5474071" y="2678430"/>
                <a:ext cx="196108" cy="119062"/>
              </a:xfrm>
              <a:prstGeom prst="rect">
                <a:avLst/>
              </a:prstGeom>
              <a:noFill/>
              <a:ln>
                <a:noFill/>
              </a:ln>
            </p:spPr>
            <p:txBody>
              <a:bodyPr wrap="none" lIns="0" tIns="0" rIns="0" bIns="0" anchor="t" anchorCtr="0">
                <a:spAutoFit/>
              </a:bodyPr>
              <a:lstStyle/>
              <a:p>
                <a:pPr algn="ctr"/>
                <a:r>
                  <a:rPr lang="zh-CN" sz="600" b="1" dirty="0">
                    <a:solidFill>
                      <a:srgbClr val="4A3D3A"/>
                    </a:solidFill>
                    <a:latin typeface="+mn-lt"/>
                    <a:ea typeface="+mn-ea"/>
                    <a:cs typeface="+mn-cs"/>
                  </a:rPr>
                  <a:t>800​</a:t>
                </a:r>
              </a:p>
            </p:txBody>
          </p:sp>
          <p:sp>
            <p:nvSpPr>
              <p:cNvPr id="87" name="TextBox 87"/>
              <p:cNvSpPr txBox="1"/>
              <p:nvPr/>
            </p:nvSpPr>
            <p:spPr>
              <a:xfrm>
                <a:off x="5983338" y="2678430"/>
                <a:ext cx="187223"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150​</a:t>
                </a:r>
              </a:p>
            </p:txBody>
          </p:sp>
          <p:sp>
            <p:nvSpPr>
              <p:cNvPr id="88" name="TextBox 88"/>
              <p:cNvSpPr txBox="1"/>
              <p:nvPr/>
            </p:nvSpPr>
            <p:spPr>
              <a:xfrm>
                <a:off x="6317523" y="2678430"/>
                <a:ext cx="242754" cy="119062"/>
              </a:xfrm>
              <a:prstGeom prst="rect">
                <a:avLst/>
              </a:prstGeom>
              <a:noFill/>
              <a:ln>
                <a:noFill/>
              </a:ln>
            </p:spPr>
            <p:txBody>
              <a:bodyPr wrap="none" lIns="0" tIns="0" rIns="0" bIns="0" anchor="t" anchorCtr="0">
                <a:spAutoFit/>
              </a:bodyPr>
              <a:lstStyle/>
              <a:p>
                <a:pPr algn="ctr"/>
                <a:r>
                  <a:rPr lang="en-US" sz="600" b="1" dirty="0">
                    <a:solidFill>
                      <a:srgbClr val="B8432F"/>
                    </a:solidFill>
                    <a:latin typeface="+mn-lt"/>
                    <a:ea typeface="+mn-ea"/>
                    <a:cs typeface="+mn-cs"/>
                  </a:rPr>
                  <a:t>3.2x​</a:t>
                </a:r>
              </a:p>
            </p:txBody>
          </p:sp>
        </p:grpSp>
        <p:grpSp>
          <p:nvGrpSpPr>
            <p:cNvPr id="94" name="Group 94"/>
            <p:cNvGrpSpPr/>
            <p:nvPr/>
          </p:nvGrpSpPr>
          <p:grpSpPr>
            <a:xfrm>
              <a:off x="228600" y="1371600"/>
              <a:ext cx="6438900" cy="1152525"/>
              <a:chOff x="228600" y="1371600"/>
              <a:chExt cx="6438900" cy="1152525"/>
            </a:xfrm>
          </p:grpSpPr>
          <p:sp>
            <p:nvSpPr>
              <p:cNvPr id="90" name="Line 90"/>
              <p:cNvSpPr/>
              <p:nvPr/>
            </p:nvSpPr>
            <p:spPr>
              <a:xfrm>
                <a:off x="228600" y="1371600"/>
                <a:ext cx="6438900" cy="9525"/>
              </a:xfrm>
              <a:custGeom>
                <a:avLst/>
                <a:gdLst/>
                <a:ahLst/>
                <a:cxnLst/>
                <a:rect l="l" t="t" r="r" b="b"/>
                <a:pathLst>
                  <a:path w="6438900" h="9525">
                    <a:moveTo>
                      <a:pt x="0" y="0"/>
                    </a:moveTo>
                    <a:lnTo>
                      <a:pt x="6438900" y="0"/>
                    </a:lnTo>
                  </a:path>
                </a:pathLst>
              </a:custGeom>
              <a:noFill/>
              <a:ln w="7620">
                <a:solidFill>
                  <a:srgbClr val="D9E8E2"/>
                </a:solidFill>
              </a:ln>
            </p:spPr>
          </p:sp>
          <p:sp>
            <p:nvSpPr>
              <p:cNvPr id="91" name="Line 91"/>
              <p:cNvSpPr/>
              <p:nvPr/>
            </p:nvSpPr>
            <p:spPr>
              <a:xfrm>
                <a:off x="228600" y="1752600"/>
                <a:ext cx="6438900" cy="9525"/>
              </a:xfrm>
              <a:custGeom>
                <a:avLst/>
                <a:gdLst/>
                <a:ahLst/>
                <a:cxnLst/>
                <a:rect l="l" t="t" r="r" b="b"/>
                <a:pathLst>
                  <a:path w="6438900" h="9525">
                    <a:moveTo>
                      <a:pt x="0" y="0"/>
                    </a:moveTo>
                    <a:lnTo>
                      <a:pt x="6438900" y="0"/>
                    </a:lnTo>
                  </a:path>
                </a:pathLst>
              </a:custGeom>
              <a:noFill/>
              <a:ln w="7620">
                <a:solidFill>
                  <a:srgbClr val="D9E8E2"/>
                </a:solidFill>
              </a:ln>
            </p:spPr>
          </p:sp>
          <p:sp>
            <p:nvSpPr>
              <p:cNvPr id="92" name="Line 92"/>
              <p:cNvSpPr/>
              <p:nvPr/>
            </p:nvSpPr>
            <p:spPr>
              <a:xfrm>
                <a:off x="228600" y="2133600"/>
                <a:ext cx="6438900" cy="9525"/>
              </a:xfrm>
              <a:custGeom>
                <a:avLst/>
                <a:gdLst/>
                <a:ahLst/>
                <a:cxnLst/>
                <a:rect l="l" t="t" r="r" b="b"/>
                <a:pathLst>
                  <a:path w="6438900" h="9525">
                    <a:moveTo>
                      <a:pt x="0" y="0"/>
                    </a:moveTo>
                    <a:lnTo>
                      <a:pt x="6438900" y="0"/>
                    </a:lnTo>
                  </a:path>
                </a:pathLst>
              </a:custGeom>
              <a:noFill/>
              <a:ln w="7620">
                <a:solidFill>
                  <a:srgbClr val="D9E8E2"/>
                </a:solidFill>
              </a:ln>
            </p:spPr>
          </p:sp>
          <p:sp>
            <p:nvSpPr>
              <p:cNvPr id="93" name="Line 93"/>
              <p:cNvSpPr/>
              <p:nvPr/>
            </p:nvSpPr>
            <p:spPr>
              <a:xfrm>
                <a:off x="228600" y="2514600"/>
                <a:ext cx="6438900" cy="9525"/>
              </a:xfrm>
              <a:custGeom>
                <a:avLst/>
                <a:gdLst/>
                <a:ahLst/>
                <a:cxnLst/>
                <a:rect l="l" t="t" r="r" b="b"/>
                <a:pathLst>
                  <a:path w="6438900" h="9525">
                    <a:moveTo>
                      <a:pt x="0" y="0"/>
                    </a:moveTo>
                    <a:lnTo>
                      <a:pt x="6438900" y="0"/>
                    </a:lnTo>
                  </a:path>
                </a:pathLst>
              </a:custGeom>
              <a:noFill/>
              <a:ln w="7620">
                <a:solidFill>
                  <a:srgbClr val="D9E8E2"/>
                </a:solidFill>
              </a:ln>
            </p:spPr>
          </p:sp>
        </p:grpSp>
      </p:grpSp>
      <p:grpSp>
        <p:nvGrpSpPr>
          <p:cNvPr id="124" name="funnel-card"/>
          <p:cNvGrpSpPr/>
          <p:nvPr/>
        </p:nvGrpSpPr>
        <p:grpSpPr>
          <a:xfrm>
            <a:off x="6781800" y="666750"/>
            <a:ext cx="5181600" cy="2228850"/>
            <a:chOff x="6781800" y="666750"/>
            <a:chExt cx="5181600" cy="2228850"/>
          </a:xfrm>
        </p:grpSpPr>
        <p:sp>
          <p:nvSpPr>
            <p:cNvPr id="96" name="Rectangle 96"/>
            <p:cNvSpPr/>
            <p:nvPr/>
          </p:nvSpPr>
          <p:spPr>
            <a:xfrm>
              <a:off x="6781800" y="666750"/>
              <a:ext cx="5181600" cy="2228850"/>
            </a:xfrm>
            <a:prstGeom prst="roundRect">
              <a:avLst>
                <a:gd name="adj" fmla="val 4274"/>
              </a:avLst>
            </a:prstGeom>
            <a:solidFill>
              <a:srgbClr val="F5FAF8"/>
            </a:solidFill>
            <a:ln w="9525">
              <a:solidFill>
                <a:srgbClr val="D9E8E2"/>
              </a:solidFill>
            </a:ln>
          </p:spPr>
        </p:sp>
        <p:sp>
          <p:nvSpPr>
            <p:cNvPr id="97" name="Rectangle 97"/>
            <p:cNvSpPr/>
            <p:nvPr/>
          </p:nvSpPr>
          <p:spPr>
            <a:xfrm>
              <a:off x="6781800" y="666750"/>
              <a:ext cx="1809750" cy="228600"/>
            </a:xfrm>
            <a:prstGeom prst="roundRect">
              <a:avLst>
                <a:gd name="adj" fmla="val 16667"/>
              </a:avLst>
            </a:prstGeom>
            <a:solidFill>
              <a:srgbClr val="5B180B"/>
            </a:solidFill>
            <a:ln>
              <a:noFill/>
            </a:ln>
          </p:spPr>
        </p:sp>
        <p:sp>
          <p:nvSpPr>
            <p:cNvPr id="98" name="TextBox 98"/>
            <p:cNvSpPr txBox="1"/>
            <p:nvPr/>
          </p:nvSpPr>
          <p:spPr>
            <a:xfrm>
              <a:off x="6891338" y="735568"/>
              <a:ext cx="1401092"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活动整体转化漏斗（Q4）​</a:t>
              </a:r>
            </a:p>
          </p:txBody>
        </p:sp>
        <p:sp>
          <p:nvSpPr>
            <p:cNvPr id="99" name="TextBox 99"/>
            <p:cNvSpPr txBox="1"/>
            <p:nvPr/>
          </p:nvSpPr>
          <p:spPr>
            <a:xfrm>
              <a:off x="11186152" y="883682"/>
              <a:ext cx="487695" cy="126206"/>
            </a:xfrm>
            <a:prstGeom prst="rect">
              <a:avLst/>
            </a:prstGeom>
            <a:noFill/>
            <a:ln>
              <a:noFill/>
            </a:ln>
          </p:spPr>
          <p:txBody>
            <a:bodyPr wrap="none" lIns="0" tIns="0" rIns="0" bIns="0" anchor="t" anchorCtr="0">
              <a:spAutoFit/>
            </a:bodyPr>
            <a:lstStyle/>
            <a:p>
              <a:pPr algn="ctr"/>
              <a:r>
                <a:rPr lang="zh-CN" sz="640" dirty="0">
                  <a:solidFill>
                    <a:srgbClr val="5F6F6A"/>
                  </a:solidFill>
                  <a:latin typeface="+mn-lt"/>
                  <a:ea typeface="+mn-ea"/>
                  <a:cs typeface="+mn-cs"/>
                </a:rPr>
                <a:t>环节转化率​</a:t>
              </a:r>
            </a:p>
          </p:txBody>
        </p:sp>
        <p:sp>
          <p:nvSpPr>
            <p:cNvPr id="100" name="Freeform 100"/>
            <p:cNvSpPr/>
            <p:nvPr/>
          </p:nvSpPr>
          <p:spPr>
            <a:xfrm rot="10800000">
              <a:off x="7239000" y="990600"/>
              <a:ext cx="2667000" cy="285750"/>
            </a:xfrm>
            <a:prstGeom prst="trapezoid">
              <a:avLst>
                <a:gd name="adj" fmla="val 66666"/>
              </a:avLst>
            </a:prstGeom>
            <a:solidFill>
              <a:srgbClr val="5B180B"/>
            </a:solidFill>
            <a:ln>
              <a:noFill/>
            </a:ln>
          </p:spPr>
        </p:sp>
        <p:sp>
          <p:nvSpPr>
            <p:cNvPr id="101" name="Freeform 101"/>
            <p:cNvSpPr/>
            <p:nvPr/>
          </p:nvSpPr>
          <p:spPr>
            <a:xfrm rot="10800000">
              <a:off x="7429500" y="1314450"/>
              <a:ext cx="2286000" cy="285750"/>
            </a:xfrm>
            <a:prstGeom prst="trapezoid">
              <a:avLst>
                <a:gd name="adj" fmla="val 66666"/>
              </a:avLst>
            </a:prstGeom>
            <a:solidFill>
              <a:srgbClr val="722617"/>
            </a:solidFill>
            <a:ln>
              <a:noFill/>
            </a:ln>
          </p:spPr>
        </p:sp>
        <p:sp>
          <p:nvSpPr>
            <p:cNvPr id="102" name="Freeform 102"/>
            <p:cNvSpPr/>
            <p:nvPr/>
          </p:nvSpPr>
          <p:spPr>
            <a:xfrm rot="10800000">
              <a:off x="7620000" y="1638300"/>
              <a:ext cx="1905000" cy="285750"/>
            </a:xfrm>
            <a:prstGeom prst="trapezoid">
              <a:avLst>
                <a:gd name="adj" fmla="val 66666"/>
              </a:avLst>
            </a:prstGeom>
            <a:solidFill>
              <a:srgbClr val="9A412F"/>
            </a:solidFill>
            <a:ln>
              <a:noFill/>
            </a:ln>
          </p:spPr>
        </p:sp>
        <p:sp>
          <p:nvSpPr>
            <p:cNvPr id="103" name="Freeform 103"/>
            <p:cNvSpPr/>
            <p:nvPr/>
          </p:nvSpPr>
          <p:spPr>
            <a:xfrm rot="10800000">
              <a:off x="7810500" y="1962150"/>
              <a:ext cx="1524000" cy="285750"/>
            </a:xfrm>
            <a:prstGeom prst="trapezoid">
              <a:avLst>
                <a:gd name="adj" fmla="val 60000"/>
              </a:avLst>
            </a:prstGeom>
            <a:solidFill>
              <a:srgbClr val="AE6C5F"/>
            </a:solidFill>
            <a:ln>
              <a:noFill/>
            </a:ln>
          </p:spPr>
        </p:sp>
        <p:sp>
          <p:nvSpPr>
            <p:cNvPr id="104" name="Freeform 104"/>
            <p:cNvSpPr/>
            <p:nvPr/>
          </p:nvSpPr>
          <p:spPr>
            <a:xfrm rot="10800000">
              <a:off x="7981950" y="2286000"/>
              <a:ext cx="1181100" cy="285750"/>
            </a:xfrm>
            <a:prstGeom prst="trapezoid">
              <a:avLst>
                <a:gd name="adj" fmla="val 56666"/>
              </a:avLst>
            </a:prstGeom>
            <a:solidFill>
              <a:srgbClr val="5B180B"/>
            </a:solidFill>
            <a:ln>
              <a:noFill/>
            </a:ln>
          </p:spPr>
        </p:sp>
        <p:grpSp>
          <p:nvGrpSpPr>
            <p:cNvPr id="110" name="Group 110"/>
            <p:cNvGrpSpPr/>
            <p:nvPr/>
          </p:nvGrpSpPr>
          <p:grpSpPr>
            <a:xfrm>
              <a:off x="8312740" y="1082516"/>
              <a:ext cx="519519" cy="1457325"/>
              <a:chOff x="8312740" y="1082516"/>
              <a:chExt cx="519519" cy="1457325"/>
            </a:xfrm>
          </p:grpSpPr>
          <p:sp>
            <p:nvSpPr>
              <p:cNvPr id="105" name="TextBox 105"/>
              <p:cNvSpPr txBox="1"/>
              <p:nvPr/>
            </p:nvSpPr>
            <p:spPr>
              <a:xfrm>
                <a:off x="8312740" y="1082516"/>
                <a:ext cx="51951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120,000​</a:t>
                </a:r>
              </a:p>
            </p:txBody>
          </p:sp>
          <p:sp>
            <p:nvSpPr>
              <p:cNvPr id="106" name="TextBox 106"/>
              <p:cNvSpPr txBox="1"/>
              <p:nvPr/>
            </p:nvSpPr>
            <p:spPr>
              <a:xfrm>
                <a:off x="8344615" y="1406366"/>
                <a:ext cx="45577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36,000​</a:t>
                </a:r>
              </a:p>
            </p:txBody>
          </p:sp>
          <p:sp>
            <p:nvSpPr>
              <p:cNvPr id="107" name="TextBox 107"/>
              <p:cNvSpPr txBox="1"/>
              <p:nvPr/>
            </p:nvSpPr>
            <p:spPr>
              <a:xfrm>
                <a:off x="8344615" y="1730216"/>
                <a:ext cx="45577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14,400​</a:t>
                </a:r>
              </a:p>
            </p:txBody>
          </p:sp>
          <p:sp>
            <p:nvSpPr>
              <p:cNvPr id="108" name="TextBox 108"/>
              <p:cNvSpPr txBox="1"/>
              <p:nvPr/>
            </p:nvSpPr>
            <p:spPr>
              <a:xfrm>
                <a:off x="8376490" y="2054066"/>
                <a:ext cx="3920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5,800​</a:t>
                </a:r>
              </a:p>
            </p:txBody>
          </p:sp>
          <p:sp>
            <p:nvSpPr>
              <p:cNvPr id="109" name="TextBox 109"/>
              <p:cNvSpPr txBox="1"/>
              <p:nvPr/>
            </p:nvSpPr>
            <p:spPr>
              <a:xfrm>
                <a:off x="8376490" y="2377916"/>
                <a:ext cx="39202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4,600​</a:t>
                </a:r>
              </a:p>
            </p:txBody>
          </p:sp>
        </p:grpSp>
        <p:grpSp>
          <p:nvGrpSpPr>
            <p:cNvPr id="116" name="Group 116"/>
            <p:cNvGrpSpPr/>
            <p:nvPr/>
          </p:nvGrpSpPr>
          <p:grpSpPr>
            <a:xfrm>
              <a:off x="6910388" y="1094661"/>
              <a:ext cx="688144" cy="1435894"/>
              <a:chOff x="6910388" y="1094661"/>
              <a:chExt cx="688144" cy="1435894"/>
            </a:xfrm>
          </p:grpSpPr>
          <p:sp>
            <p:nvSpPr>
              <p:cNvPr id="111" name="TextBox 111"/>
              <p:cNvSpPr txBox="1"/>
              <p:nvPr/>
            </p:nvSpPr>
            <p:spPr>
              <a:xfrm>
                <a:off x="6910388" y="1094661"/>
                <a:ext cx="444415" cy="140494"/>
              </a:xfrm>
              <a:prstGeom prst="rect">
                <a:avLst/>
              </a:prstGeom>
              <a:noFill/>
              <a:ln>
                <a:noFill/>
              </a:ln>
            </p:spPr>
            <p:txBody>
              <a:bodyPr wrap="none" lIns="0" tIns="0" rIns="0" bIns="0" anchor="t" anchorCtr="0">
                <a:spAutoFit/>
              </a:bodyPr>
              <a:lstStyle/>
              <a:p>
                <a:pPr algn="l"/>
                <a:r>
                  <a:rPr lang="zh-CN" sz="710" dirty="0">
                    <a:solidFill>
                      <a:srgbClr val="312624"/>
                    </a:solidFill>
                    <a:latin typeface="+mn-lt"/>
                    <a:ea typeface="+mn-ea"/>
                    <a:cs typeface="+mn-cs"/>
                  </a:rPr>
                  <a:t>触达客户​</a:t>
                </a:r>
              </a:p>
            </p:txBody>
          </p:sp>
          <p:sp>
            <p:nvSpPr>
              <p:cNvPr id="112" name="TextBox 112"/>
              <p:cNvSpPr txBox="1"/>
              <p:nvPr/>
            </p:nvSpPr>
            <p:spPr>
              <a:xfrm>
                <a:off x="6910388" y="1418511"/>
                <a:ext cx="444415" cy="140494"/>
              </a:xfrm>
              <a:prstGeom prst="rect">
                <a:avLst/>
              </a:prstGeom>
              <a:noFill/>
              <a:ln>
                <a:noFill/>
              </a:ln>
            </p:spPr>
            <p:txBody>
              <a:bodyPr wrap="none" lIns="0" tIns="0" rIns="0" bIns="0" anchor="t" anchorCtr="0">
                <a:spAutoFit/>
              </a:bodyPr>
              <a:lstStyle/>
              <a:p>
                <a:pPr algn="l"/>
                <a:r>
                  <a:rPr lang="zh-CN" sz="710" dirty="0">
                    <a:solidFill>
                      <a:srgbClr val="312624"/>
                    </a:solidFill>
                    <a:latin typeface="+mn-lt"/>
                    <a:ea typeface="+mn-ea"/>
                    <a:cs typeface="+mn-cs"/>
                  </a:rPr>
                  <a:t>产生兴趣​</a:t>
                </a:r>
              </a:p>
            </p:txBody>
          </p:sp>
          <p:sp>
            <p:nvSpPr>
              <p:cNvPr id="113" name="TextBox 113"/>
              <p:cNvSpPr txBox="1"/>
              <p:nvPr/>
            </p:nvSpPr>
            <p:spPr>
              <a:xfrm>
                <a:off x="6910388" y="1742361"/>
                <a:ext cx="688144" cy="140494"/>
              </a:xfrm>
              <a:prstGeom prst="rect">
                <a:avLst/>
              </a:prstGeom>
              <a:noFill/>
              <a:ln>
                <a:noFill/>
              </a:ln>
            </p:spPr>
            <p:txBody>
              <a:bodyPr wrap="none" lIns="0" tIns="0" rIns="0" bIns="0" anchor="t" anchorCtr="0">
                <a:spAutoFit/>
              </a:bodyPr>
              <a:lstStyle/>
              <a:p>
                <a:pPr algn="l"/>
                <a:r>
                  <a:rPr lang="zh-CN" sz="710" dirty="0">
                    <a:solidFill>
                      <a:srgbClr val="312624"/>
                    </a:solidFill>
                    <a:latin typeface="+mn-lt"/>
                    <a:ea typeface="+mn-ea"/>
                    <a:cs typeface="+mn-cs"/>
                  </a:rPr>
                  <a:t>到店/线上咨询​</a:t>
                </a:r>
              </a:p>
            </p:txBody>
          </p:sp>
          <p:sp>
            <p:nvSpPr>
              <p:cNvPr id="114" name="TextBox 114"/>
              <p:cNvSpPr txBox="1"/>
              <p:nvPr/>
            </p:nvSpPr>
            <p:spPr>
              <a:xfrm>
                <a:off x="6910388" y="2066211"/>
                <a:ext cx="444415" cy="140494"/>
              </a:xfrm>
              <a:prstGeom prst="rect">
                <a:avLst/>
              </a:prstGeom>
              <a:noFill/>
              <a:ln>
                <a:noFill/>
              </a:ln>
            </p:spPr>
            <p:txBody>
              <a:bodyPr wrap="none" lIns="0" tIns="0" rIns="0" bIns="0" anchor="t" anchorCtr="0">
                <a:spAutoFit/>
              </a:bodyPr>
              <a:lstStyle/>
              <a:p>
                <a:pPr algn="l"/>
                <a:r>
                  <a:rPr lang="zh-CN" sz="710" dirty="0">
                    <a:solidFill>
                      <a:srgbClr val="312624"/>
                    </a:solidFill>
                    <a:latin typeface="+mn-lt"/>
                    <a:ea typeface="+mn-ea"/>
                    <a:cs typeface="+mn-cs"/>
                  </a:rPr>
                  <a:t>成功转化​</a:t>
                </a:r>
              </a:p>
            </p:txBody>
          </p:sp>
          <p:sp>
            <p:nvSpPr>
              <p:cNvPr id="115" name="TextBox 115"/>
              <p:cNvSpPr txBox="1"/>
              <p:nvPr/>
            </p:nvSpPr>
            <p:spPr>
              <a:xfrm>
                <a:off x="6910388" y="2390061"/>
                <a:ext cx="635575" cy="140494"/>
              </a:xfrm>
              <a:prstGeom prst="rect">
                <a:avLst/>
              </a:prstGeom>
              <a:noFill/>
              <a:ln>
                <a:noFill/>
              </a:ln>
            </p:spPr>
            <p:txBody>
              <a:bodyPr wrap="none" lIns="0" tIns="0" rIns="0" bIns="0" anchor="t" anchorCtr="0">
                <a:spAutoFit/>
              </a:bodyPr>
              <a:lstStyle/>
              <a:p>
                <a:pPr algn="l"/>
                <a:r>
                  <a:rPr lang="zh-CN" sz="710" dirty="0">
                    <a:solidFill>
                      <a:srgbClr val="312624"/>
                    </a:solidFill>
                    <a:latin typeface="+mn-lt"/>
                    <a:ea typeface="+mn-ea"/>
                    <a:cs typeface="+mn-cs"/>
                  </a:rPr>
                  <a:t>新增长期客户​</a:t>
                </a:r>
              </a:p>
            </p:txBody>
          </p:sp>
        </p:grpSp>
        <p:grpSp>
          <p:nvGrpSpPr>
            <p:cNvPr id="122" name="Group 122"/>
            <p:cNvGrpSpPr/>
            <p:nvPr/>
          </p:nvGrpSpPr>
          <p:grpSpPr>
            <a:xfrm>
              <a:off x="11239714" y="1090612"/>
              <a:ext cx="380571" cy="1443038"/>
              <a:chOff x="11239714" y="1090612"/>
              <a:chExt cx="380571" cy="1443038"/>
            </a:xfrm>
          </p:grpSpPr>
          <p:sp>
            <p:nvSpPr>
              <p:cNvPr id="117" name="TextBox 117"/>
              <p:cNvSpPr txBox="1"/>
              <p:nvPr/>
            </p:nvSpPr>
            <p:spPr>
              <a:xfrm>
                <a:off x="11366930" y="1090612"/>
                <a:ext cx="126140"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a:t>
                </a:r>
              </a:p>
            </p:txBody>
          </p:sp>
          <p:sp>
            <p:nvSpPr>
              <p:cNvPr id="118" name="TextBox 118"/>
              <p:cNvSpPr txBox="1"/>
              <p:nvPr/>
            </p:nvSpPr>
            <p:spPr>
              <a:xfrm>
                <a:off x="11239714" y="1414462"/>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30.0%​</a:t>
                </a:r>
              </a:p>
            </p:txBody>
          </p:sp>
          <p:sp>
            <p:nvSpPr>
              <p:cNvPr id="119" name="TextBox 119"/>
              <p:cNvSpPr txBox="1"/>
              <p:nvPr/>
            </p:nvSpPr>
            <p:spPr>
              <a:xfrm>
                <a:off x="11239714" y="1738312"/>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40.0%​</a:t>
                </a:r>
              </a:p>
            </p:txBody>
          </p:sp>
          <p:sp>
            <p:nvSpPr>
              <p:cNvPr id="120" name="TextBox 120"/>
              <p:cNvSpPr txBox="1"/>
              <p:nvPr/>
            </p:nvSpPr>
            <p:spPr>
              <a:xfrm>
                <a:off x="11239714" y="2062162"/>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40.3%​</a:t>
                </a:r>
              </a:p>
            </p:txBody>
          </p:sp>
          <p:sp>
            <p:nvSpPr>
              <p:cNvPr id="121" name="TextBox 121"/>
              <p:cNvSpPr txBox="1"/>
              <p:nvPr/>
            </p:nvSpPr>
            <p:spPr>
              <a:xfrm>
                <a:off x="11239714" y="2386012"/>
                <a:ext cx="380571"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79.3%​</a:t>
                </a:r>
              </a:p>
            </p:txBody>
          </p:sp>
        </p:grpSp>
        <p:sp>
          <p:nvSpPr>
            <p:cNvPr id="123" name="Line 123"/>
            <p:cNvSpPr/>
            <p:nvPr/>
          </p:nvSpPr>
          <p:spPr>
            <a:xfrm>
              <a:off x="9944100" y="2762250"/>
              <a:ext cx="1905000" cy="9525"/>
            </a:xfrm>
            <a:custGeom>
              <a:avLst/>
              <a:gdLst/>
              <a:ahLst/>
              <a:cxnLst/>
              <a:rect l="l" t="t" r="r" b="b"/>
              <a:pathLst>
                <a:path w="1905000" h="9525">
                  <a:moveTo>
                    <a:pt x="0" y="0"/>
                  </a:moveTo>
                  <a:lnTo>
                    <a:pt x="1905000" y="0"/>
                  </a:lnTo>
                </a:path>
              </a:pathLst>
            </a:custGeom>
            <a:noFill/>
            <a:ln w="7620">
              <a:solidFill>
                <a:srgbClr val="D9E8E2"/>
              </a:solidFill>
            </a:ln>
          </p:spPr>
        </p:sp>
      </p:grpSp>
      <p:grpSp>
        <p:nvGrpSpPr>
          <p:cNvPr id="170" name="gantt-card"/>
          <p:cNvGrpSpPr/>
          <p:nvPr/>
        </p:nvGrpSpPr>
        <p:grpSpPr>
          <a:xfrm>
            <a:off x="228600" y="2990850"/>
            <a:ext cx="6438900" cy="1676400"/>
            <a:chOff x="228600" y="2990850"/>
            <a:chExt cx="6438900" cy="1676400"/>
          </a:xfrm>
        </p:grpSpPr>
        <p:sp>
          <p:nvSpPr>
            <p:cNvPr id="125" name="Rectangle 125"/>
            <p:cNvSpPr/>
            <p:nvPr/>
          </p:nvSpPr>
          <p:spPr>
            <a:xfrm>
              <a:off x="228600" y="2990850"/>
              <a:ext cx="6438900" cy="1676400"/>
            </a:xfrm>
            <a:prstGeom prst="roundRect">
              <a:avLst>
                <a:gd name="adj" fmla="val 5682"/>
              </a:avLst>
            </a:prstGeom>
            <a:solidFill>
              <a:srgbClr val="F5FAF8"/>
            </a:solidFill>
            <a:ln w="9525">
              <a:solidFill>
                <a:srgbClr val="D9E8E2"/>
              </a:solidFill>
            </a:ln>
          </p:spPr>
        </p:sp>
        <p:sp>
          <p:nvSpPr>
            <p:cNvPr id="126" name="Rectangle 126"/>
            <p:cNvSpPr/>
            <p:nvPr/>
          </p:nvSpPr>
          <p:spPr>
            <a:xfrm>
              <a:off x="228600" y="2990850"/>
              <a:ext cx="1619250" cy="228600"/>
            </a:xfrm>
            <a:prstGeom prst="roundRect">
              <a:avLst>
                <a:gd name="adj" fmla="val 16667"/>
              </a:avLst>
            </a:prstGeom>
            <a:solidFill>
              <a:srgbClr val="5B180B"/>
            </a:solidFill>
            <a:ln>
              <a:noFill/>
            </a:ln>
          </p:spPr>
        </p:sp>
        <p:sp>
          <p:nvSpPr>
            <p:cNvPr id="127" name="TextBox 127"/>
            <p:cNvSpPr txBox="1"/>
            <p:nvPr/>
          </p:nvSpPr>
          <p:spPr>
            <a:xfrm>
              <a:off x="338138" y="3059668"/>
              <a:ext cx="1285318"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活动排期（Q4，按周）​</a:t>
              </a:r>
            </a:p>
          </p:txBody>
        </p:sp>
        <p:grpSp>
          <p:nvGrpSpPr>
            <p:cNvPr id="134" name="Group 134"/>
            <p:cNvGrpSpPr/>
            <p:nvPr/>
          </p:nvGrpSpPr>
          <p:grpSpPr>
            <a:xfrm>
              <a:off x="1143000" y="3295650"/>
              <a:ext cx="5486400" cy="171688"/>
              <a:chOff x="1143000" y="3295650"/>
              <a:chExt cx="5486400" cy="171688"/>
            </a:xfrm>
          </p:grpSpPr>
          <p:sp>
            <p:nvSpPr>
              <p:cNvPr id="128" name="Rectangle 128"/>
              <p:cNvSpPr/>
              <p:nvPr/>
            </p:nvSpPr>
            <p:spPr>
              <a:xfrm>
                <a:off x="1143000" y="3295650"/>
                <a:ext cx="1828800" cy="152400"/>
              </a:xfrm>
              <a:prstGeom prst="rect">
                <a:avLst/>
              </a:prstGeom>
              <a:solidFill>
                <a:srgbClr val="C5E0D8"/>
              </a:solidFill>
              <a:ln>
                <a:noFill/>
              </a:ln>
            </p:spPr>
          </p:sp>
          <p:sp>
            <p:nvSpPr>
              <p:cNvPr id="129" name="TextBox 129"/>
              <p:cNvSpPr txBox="1"/>
              <p:nvPr/>
            </p:nvSpPr>
            <p:spPr>
              <a:xfrm>
                <a:off x="1698222" y="3341132"/>
                <a:ext cx="718356"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10月（W1-W4）​</a:t>
                </a:r>
              </a:p>
            </p:txBody>
          </p:sp>
          <p:sp>
            <p:nvSpPr>
              <p:cNvPr id="130" name="Rectangle 130"/>
              <p:cNvSpPr/>
              <p:nvPr/>
            </p:nvSpPr>
            <p:spPr>
              <a:xfrm>
                <a:off x="2971800" y="3295650"/>
                <a:ext cx="1828800" cy="152400"/>
              </a:xfrm>
              <a:prstGeom prst="rect">
                <a:avLst/>
              </a:prstGeom>
              <a:solidFill>
                <a:srgbClr val="C9988F"/>
              </a:solidFill>
              <a:ln>
                <a:noFill/>
              </a:ln>
            </p:spPr>
          </p:sp>
          <p:sp>
            <p:nvSpPr>
              <p:cNvPr id="131" name="TextBox 131"/>
              <p:cNvSpPr txBox="1"/>
              <p:nvPr/>
            </p:nvSpPr>
            <p:spPr>
              <a:xfrm>
                <a:off x="3527022" y="3341132"/>
                <a:ext cx="718356"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11月（W5-W8）​</a:t>
                </a:r>
              </a:p>
            </p:txBody>
          </p:sp>
          <p:sp>
            <p:nvSpPr>
              <p:cNvPr id="132" name="Rectangle 132"/>
              <p:cNvSpPr/>
              <p:nvPr/>
            </p:nvSpPr>
            <p:spPr>
              <a:xfrm>
                <a:off x="4800600" y="3295650"/>
                <a:ext cx="1828800" cy="152400"/>
              </a:xfrm>
              <a:prstGeom prst="rect">
                <a:avLst/>
              </a:prstGeom>
              <a:solidFill>
                <a:srgbClr val="C5E0D8"/>
              </a:solidFill>
              <a:ln>
                <a:noFill/>
              </a:ln>
            </p:spPr>
          </p:sp>
          <p:sp>
            <p:nvSpPr>
              <p:cNvPr id="133" name="TextBox 133"/>
              <p:cNvSpPr txBox="1"/>
              <p:nvPr/>
            </p:nvSpPr>
            <p:spPr>
              <a:xfrm>
                <a:off x="5329536" y="3341132"/>
                <a:ext cx="77092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12月（W9-W12）​</a:t>
                </a:r>
              </a:p>
            </p:txBody>
          </p:sp>
        </p:grpSp>
        <p:grpSp>
          <p:nvGrpSpPr>
            <p:cNvPr id="148" name="Group 148"/>
            <p:cNvGrpSpPr/>
            <p:nvPr/>
          </p:nvGrpSpPr>
          <p:grpSpPr>
            <a:xfrm>
              <a:off x="508495" y="3501628"/>
              <a:ext cx="5992653" cy="111919"/>
              <a:chOff x="508495" y="3501628"/>
              <a:chExt cx="5992653" cy="111919"/>
            </a:xfrm>
          </p:grpSpPr>
          <p:sp>
            <p:nvSpPr>
              <p:cNvPr id="135" name="TextBox 135"/>
              <p:cNvSpPr txBox="1"/>
              <p:nvPr/>
            </p:nvSpPr>
            <p:spPr>
              <a:xfrm>
                <a:off x="508495" y="3501628"/>
                <a:ext cx="354610" cy="111919"/>
              </a:xfrm>
              <a:prstGeom prst="rect">
                <a:avLst/>
              </a:prstGeom>
              <a:noFill/>
              <a:ln>
                <a:noFill/>
              </a:ln>
            </p:spPr>
            <p:txBody>
              <a:bodyPr wrap="none" lIns="0" tIns="0" rIns="0" bIns="0" anchor="t" anchorCtr="0">
                <a:spAutoFit/>
              </a:bodyPr>
              <a:lstStyle/>
              <a:p>
                <a:pPr algn="ctr"/>
                <a:r>
                  <a:rPr lang="zh-CN" sz="560" b="1" dirty="0">
                    <a:solidFill>
                      <a:srgbClr val="312624"/>
                    </a:solidFill>
                    <a:latin typeface="+mn-lt"/>
                    <a:ea typeface="+mn-ea"/>
                    <a:cs typeface="+mn-cs"/>
                  </a:rPr>
                  <a:t>活动名称​</a:t>
                </a:r>
              </a:p>
            </p:txBody>
          </p:sp>
          <p:sp>
            <p:nvSpPr>
              <p:cNvPr id="136" name="TextBox 136"/>
              <p:cNvSpPr txBox="1"/>
              <p:nvPr/>
            </p:nvSpPr>
            <p:spPr>
              <a:xfrm>
                <a:off x="1293157" y="3501628"/>
                <a:ext cx="15688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W1​</a:t>
                </a:r>
              </a:p>
            </p:txBody>
          </p:sp>
          <p:sp>
            <p:nvSpPr>
              <p:cNvPr id="137" name="TextBox 137"/>
              <p:cNvSpPr txBox="1"/>
              <p:nvPr/>
            </p:nvSpPr>
            <p:spPr>
              <a:xfrm>
                <a:off x="1750357" y="3501628"/>
                <a:ext cx="15688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W2​</a:t>
                </a:r>
              </a:p>
            </p:txBody>
          </p:sp>
          <p:sp>
            <p:nvSpPr>
              <p:cNvPr id="138" name="TextBox 138"/>
              <p:cNvSpPr txBox="1"/>
              <p:nvPr/>
            </p:nvSpPr>
            <p:spPr>
              <a:xfrm>
                <a:off x="2207557" y="3501628"/>
                <a:ext cx="15688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W3​</a:t>
                </a:r>
              </a:p>
            </p:txBody>
          </p:sp>
          <p:sp>
            <p:nvSpPr>
              <p:cNvPr id="139" name="TextBox 139"/>
              <p:cNvSpPr txBox="1"/>
              <p:nvPr/>
            </p:nvSpPr>
            <p:spPr>
              <a:xfrm>
                <a:off x="2664757" y="3501628"/>
                <a:ext cx="15688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W4​</a:t>
                </a:r>
              </a:p>
            </p:txBody>
          </p:sp>
          <p:sp>
            <p:nvSpPr>
              <p:cNvPr id="140" name="TextBox 140"/>
              <p:cNvSpPr txBox="1"/>
              <p:nvPr/>
            </p:nvSpPr>
            <p:spPr>
              <a:xfrm>
                <a:off x="3121957" y="3501628"/>
                <a:ext cx="15688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W5​</a:t>
                </a:r>
              </a:p>
            </p:txBody>
          </p:sp>
          <p:sp>
            <p:nvSpPr>
              <p:cNvPr id="141" name="TextBox 141"/>
              <p:cNvSpPr txBox="1"/>
              <p:nvPr/>
            </p:nvSpPr>
            <p:spPr>
              <a:xfrm>
                <a:off x="3579157" y="3501628"/>
                <a:ext cx="15688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W6​</a:t>
                </a:r>
              </a:p>
            </p:txBody>
          </p:sp>
          <p:sp>
            <p:nvSpPr>
              <p:cNvPr id="142" name="TextBox 142"/>
              <p:cNvSpPr txBox="1"/>
              <p:nvPr/>
            </p:nvSpPr>
            <p:spPr>
              <a:xfrm>
                <a:off x="4036357" y="3501628"/>
                <a:ext cx="15688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W7​</a:t>
                </a:r>
              </a:p>
            </p:txBody>
          </p:sp>
          <p:sp>
            <p:nvSpPr>
              <p:cNvPr id="143" name="TextBox 143"/>
              <p:cNvSpPr txBox="1"/>
              <p:nvPr/>
            </p:nvSpPr>
            <p:spPr>
              <a:xfrm>
                <a:off x="4493557" y="3501628"/>
                <a:ext cx="15688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W8​</a:t>
                </a:r>
              </a:p>
            </p:txBody>
          </p:sp>
          <p:sp>
            <p:nvSpPr>
              <p:cNvPr id="144" name="TextBox 144"/>
              <p:cNvSpPr txBox="1"/>
              <p:nvPr/>
            </p:nvSpPr>
            <p:spPr>
              <a:xfrm>
                <a:off x="4950757" y="3501628"/>
                <a:ext cx="15688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W9​</a:t>
                </a:r>
              </a:p>
            </p:txBody>
          </p:sp>
          <p:sp>
            <p:nvSpPr>
              <p:cNvPr id="145" name="TextBox 145"/>
              <p:cNvSpPr txBox="1"/>
              <p:nvPr/>
            </p:nvSpPr>
            <p:spPr>
              <a:xfrm>
                <a:off x="5386052" y="3501628"/>
                <a:ext cx="20069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W10​</a:t>
                </a:r>
              </a:p>
            </p:txBody>
          </p:sp>
          <p:sp>
            <p:nvSpPr>
              <p:cNvPr id="146" name="TextBox 146"/>
              <p:cNvSpPr txBox="1"/>
              <p:nvPr/>
            </p:nvSpPr>
            <p:spPr>
              <a:xfrm>
                <a:off x="5843252" y="3501628"/>
                <a:ext cx="20069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W11​</a:t>
                </a:r>
              </a:p>
            </p:txBody>
          </p:sp>
          <p:sp>
            <p:nvSpPr>
              <p:cNvPr id="147" name="TextBox 147"/>
              <p:cNvSpPr txBox="1"/>
              <p:nvPr/>
            </p:nvSpPr>
            <p:spPr>
              <a:xfrm>
                <a:off x="6300452" y="3501628"/>
                <a:ext cx="200696" cy="111919"/>
              </a:xfrm>
              <a:prstGeom prst="rect">
                <a:avLst/>
              </a:prstGeom>
              <a:noFill/>
              <a:ln>
                <a:noFill/>
              </a:ln>
            </p:spPr>
            <p:txBody>
              <a:bodyPr wrap="none" lIns="0" tIns="0" rIns="0" bIns="0" anchor="t" anchorCtr="0">
                <a:spAutoFit/>
              </a:bodyPr>
              <a:lstStyle/>
              <a:p>
                <a:pPr algn="ctr"/>
                <a:r>
                  <a:rPr lang="en-US" sz="560" dirty="0">
                    <a:solidFill>
                      <a:srgbClr val="5F6F6A"/>
                    </a:solidFill>
                    <a:latin typeface="+mn-lt"/>
                    <a:ea typeface="+mn-ea"/>
                    <a:cs typeface="+mn-cs"/>
                  </a:rPr>
                  <a:t>W12​</a:t>
                </a:r>
              </a:p>
            </p:txBody>
          </p:sp>
        </p:grpSp>
        <p:grpSp>
          <p:nvGrpSpPr>
            <p:cNvPr id="153" name="Group 153"/>
            <p:cNvGrpSpPr/>
            <p:nvPr/>
          </p:nvGrpSpPr>
          <p:grpSpPr>
            <a:xfrm>
              <a:off x="1143000" y="3619500"/>
              <a:ext cx="5495925" cy="952500"/>
              <a:chOff x="1143000" y="3619500"/>
              <a:chExt cx="5495925" cy="952500"/>
            </a:xfrm>
          </p:grpSpPr>
          <p:sp>
            <p:nvSpPr>
              <p:cNvPr id="149" name="Line 149"/>
              <p:cNvSpPr/>
              <p:nvPr/>
            </p:nvSpPr>
            <p:spPr>
              <a:xfrm>
                <a:off x="1143000" y="3619500"/>
                <a:ext cx="9525" cy="952500"/>
              </a:xfrm>
              <a:custGeom>
                <a:avLst/>
                <a:gdLst/>
                <a:ahLst/>
                <a:cxnLst/>
                <a:rect l="l" t="t" r="r" b="b"/>
                <a:pathLst>
                  <a:path w="9525" h="952500">
                    <a:moveTo>
                      <a:pt x="0" y="0"/>
                    </a:moveTo>
                    <a:lnTo>
                      <a:pt x="0" y="952500"/>
                    </a:lnTo>
                  </a:path>
                </a:pathLst>
              </a:custGeom>
              <a:noFill/>
              <a:ln w="5715">
                <a:solidFill>
                  <a:srgbClr val="E3ECE8"/>
                </a:solidFill>
              </a:ln>
            </p:spPr>
          </p:sp>
          <p:sp>
            <p:nvSpPr>
              <p:cNvPr id="150" name="Line 150"/>
              <p:cNvSpPr/>
              <p:nvPr/>
            </p:nvSpPr>
            <p:spPr>
              <a:xfrm>
                <a:off x="2971800" y="3619500"/>
                <a:ext cx="9525" cy="952500"/>
              </a:xfrm>
              <a:custGeom>
                <a:avLst/>
                <a:gdLst/>
                <a:ahLst/>
                <a:cxnLst/>
                <a:rect l="l" t="t" r="r" b="b"/>
                <a:pathLst>
                  <a:path w="9525" h="952500">
                    <a:moveTo>
                      <a:pt x="0" y="0"/>
                    </a:moveTo>
                    <a:lnTo>
                      <a:pt x="0" y="952500"/>
                    </a:lnTo>
                  </a:path>
                </a:pathLst>
              </a:custGeom>
              <a:noFill/>
              <a:ln w="5715">
                <a:solidFill>
                  <a:srgbClr val="E3ECE8"/>
                </a:solidFill>
              </a:ln>
            </p:spPr>
          </p:sp>
          <p:sp>
            <p:nvSpPr>
              <p:cNvPr id="151" name="Line 151"/>
              <p:cNvSpPr/>
              <p:nvPr/>
            </p:nvSpPr>
            <p:spPr>
              <a:xfrm>
                <a:off x="4800600" y="3619500"/>
                <a:ext cx="9525" cy="952500"/>
              </a:xfrm>
              <a:custGeom>
                <a:avLst/>
                <a:gdLst/>
                <a:ahLst/>
                <a:cxnLst/>
                <a:rect l="l" t="t" r="r" b="b"/>
                <a:pathLst>
                  <a:path w="9525" h="952500">
                    <a:moveTo>
                      <a:pt x="0" y="0"/>
                    </a:moveTo>
                    <a:lnTo>
                      <a:pt x="0" y="952500"/>
                    </a:lnTo>
                  </a:path>
                </a:pathLst>
              </a:custGeom>
              <a:noFill/>
              <a:ln w="5715">
                <a:solidFill>
                  <a:srgbClr val="E3ECE8"/>
                </a:solidFill>
              </a:ln>
            </p:spPr>
          </p:sp>
          <p:sp>
            <p:nvSpPr>
              <p:cNvPr id="152" name="Line 152"/>
              <p:cNvSpPr/>
              <p:nvPr/>
            </p:nvSpPr>
            <p:spPr>
              <a:xfrm>
                <a:off x="6629400" y="3619500"/>
                <a:ext cx="9525" cy="952500"/>
              </a:xfrm>
              <a:custGeom>
                <a:avLst/>
                <a:gdLst/>
                <a:ahLst/>
                <a:cxnLst/>
                <a:rect l="l" t="t" r="r" b="b"/>
                <a:pathLst>
                  <a:path w="9525" h="952500">
                    <a:moveTo>
                      <a:pt x="0" y="0"/>
                    </a:moveTo>
                    <a:lnTo>
                      <a:pt x="0" y="952500"/>
                    </a:lnTo>
                  </a:path>
                </a:pathLst>
              </a:custGeom>
              <a:noFill/>
              <a:ln w="5715">
                <a:solidFill>
                  <a:srgbClr val="E3ECE8"/>
                </a:solidFill>
              </a:ln>
            </p:spPr>
          </p:sp>
        </p:grpSp>
        <p:grpSp>
          <p:nvGrpSpPr>
            <p:cNvPr id="169" name="gantt-rows"/>
            <p:cNvGrpSpPr/>
            <p:nvPr/>
          </p:nvGrpSpPr>
          <p:grpSpPr>
            <a:xfrm>
              <a:off x="441952" y="3676650"/>
              <a:ext cx="6168398" cy="914638"/>
              <a:chOff x="441952" y="3676650"/>
              <a:chExt cx="6168398" cy="914638"/>
            </a:xfrm>
          </p:grpSpPr>
          <p:sp>
            <p:nvSpPr>
              <p:cNvPr id="154" name="TextBox 154"/>
              <p:cNvSpPr txBox="1"/>
              <p:nvPr/>
            </p:nvSpPr>
            <p:spPr>
              <a:xfrm>
                <a:off x="441952" y="3703082"/>
                <a:ext cx="487695" cy="126206"/>
              </a:xfrm>
              <a:prstGeom prst="rect">
                <a:avLst/>
              </a:prstGeom>
              <a:noFill/>
              <a:ln>
                <a:noFill/>
              </a:ln>
            </p:spPr>
            <p:txBody>
              <a:bodyPr wrap="none" lIns="0" tIns="0" rIns="0" bIns="0" anchor="t" anchorCtr="0">
                <a:spAutoFit/>
              </a:bodyPr>
              <a:lstStyle/>
              <a:p>
                <a:pPr algn="ctr"/>
                <a:r>
                  <a:rPr lang="zh-CN" sz="640" dirty="0">
                    <a:solidFill>
                      <a:srgbClr val="312624"/>
                    </a:solidFill>
                    <a:latin typeface="+mn-lt"/>
                    <a:ea typeface="+mn-ea"/>
                    <a:cs typeface="+mn-cs"/>
                  </a:rPr>
                  <a:t>存款守护季​</a:t>
                </a:r>
              </a:p>
            </p:txBody>
          </p:sp>
          <p:sp>
            <p:nvSpPr>
              <p:cNvPr id="155" name="Rectangle 155"/>
              <p:cNvSpPr/>
              <p:nvPr/>
            </p:nvSpPr>
            <p:spPr>
              <a:xfrm>
                <a:off x="1162050" y="3676650"/>
                <a:ext cx="1790700" cy="133350"/>
              </a:xfrm>
              <a:prstGeom prst="roundRect">
                <a:avLst>
                  <a:gd name="adj" fmla="val 28571"/>
                </a:avLst>
              </a:prstGeom>
              <a:solidFill>
                <a:srgbClr val="5B180B"/>
              </a:solidFill>
              <a:ln>
                <a:noFill/>
              </a:ln>
            </p:spPr>
          </p:sp>
          <p:sp>
            <p:nvSpPr>
              <p:cNvPr id="156" name="TextBox 156"/>
              <p:cNvSpPr txBox="1"/>
              <p:nvPr/>
            </p:nvSpPr>
            <p:spPr>
              <a:xfrm>
                <a:off x="1766166" y="3703082"/>
                <a:ext cx="582468"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10/1 - 10/31​</a:t>
                </a:r>
              </a:p>
            </p:txBody>
          </p:sp>
          <p:sp>
            <p:nvSpPr>
              <p:cNvPr id="157" name="TextBox 157"/>
              <p:cNvSpPr txBox="1"/>
              <p:nvPr/>
            </p:nvSpPr>
            <p:spPr>
              <a:xfrm>
                <a:off x="441952" y="3893582"/>
                <a:ext cx="487695" cy="126206"/>
              </a:xfrm>
              <a:prstGeom prst="rect">
                <a:avLst/>
              </a:prstGeom>
              <a:noFill/>
              <a:ln>
                <a:noFill/>
              </a:ln>
            </p:spPr>
            <p:txBody>
              <a:bodyPr wrap="none" lIns="0" tIns="0" rIns="0" bIns="0" anchor="t" anchorCtr="0">
                <a:spAutoFit/>
              </a:bodyPr>
              <a:lstStyle/>
              <a:p>
                <a:pPr algn="ctr"/>
                <a:r>
                  <a:rPr lang="zh-CN" sz="640" dirty="0">
                    <a:solidFill>
                      <a:srgbClr val="312624"/>
                    </a:solidFill>
                    <a:latin typeface="+mn-lt"/>
                    <a:ea typeface="+mn-ea"/>
                    <a:cs typeface="+mn-cs"/>
                  </a:rPr>
                  <a:t>财富配置月​</a:t>
                </a:r>
              </a:p>
            </p:txBody>
          </p:sp>
          <p:sp>
            <p:nvSpPr>
              <p:cNvPr id="158" name="Rectangle 158"/>
              <p:cNvSpPr/>
              <p:nvPr/>
            </p:nvSpPr>
            <p:spPr>
              <a:xfrm>
                <a:off x="2990850" y="3867150"/>
                <a:ext cx="1790700" cy="133350"/>
              </a:xfrm>
              <a:prstGeom prst="roundRect">
                <a:avLst>
                  <a:gd name="adj" fmla="val 28571"/>
                </a:avLst>
              </a:prstGeom>
              <a:solidFill>
                <a:srgbClr val="722617"/>
              </a:solidFill>
              <a:ln>
                <a:noFill/>
              </a:ln>
            </p:spPr>
          </p:sp>
          <p:sp>
            <p:nvSpPr>
              <p:cNvPr id="159" name="TextBox 159"/>
              <p:cNvSpPr txBox="1"/>
              <p:nvPr/>
            </p:nvSpPr>
            <p:spPr>
              <a:xfrm>
                <a:off x="3594966" y="3893582"/>
                <a:ext cx="582468"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11/1 - 11/30​</a:t>
                </a:r>
              </a:p>
            </p:txBody>
          </p:sp>
          <p:sp>
            <p:nvSpPr>
              <p:cNvPr id="160" name="TextBox 160"/>
              <p:cNvSpPr txBox="1"/>
              <p:nvPr/>
            </p:nvSpPr>
            <p:spPr>
              <a:xfrm>
                <a:off x="441952" y="4084082"/>
                <a:ext cx="487695" cy="126206"/>
              </a:xfrm>
              <a:prstGeom prst="rect">
                <a:avLst/>
              </a:prstGeom>
              <a:noFill/>
              <a:ln>
                <a:noFill/>
              </a:ln>
            </p:spPr>
            <p:txBody>
              <a:bodyPr wrap="none" lIns="0" tIns="0" rIns="0" bIns="0" anchor="t" anchorCtr="0">
                <a:spAutoFit/>
              </a:bodyPr>
              <a:lstStyle/>
              <a:p>
                <a:pPr algn="ctr"/>
                <a:r>
                  <a:rPr lang="zh-CN" sz="640" dirty="0">
                    <a:solidFill>
                      <a:srgbClr val="312624"/>
                    </a:solidFill>
                    <a:latin typeface="+mn-lt"/>
                    <a:ea typeface="+mn-ea"/>
                    <a:cs typeface="+mn-cs"/>
                  </a:rPr>
                  <a:t>年终感恩季​</a:t>
                </a:r>
              </a:p>
            </p:txBody>
          </p:sp>
          <p:sp>
            <p:nvSpPr>
              <p:cNvPr id="161" name="Rectangle 161"/>
              <p:cNvSpPr/>
              <p:nvPr/>
            </p:nvSpPr>
            <p:spPr>
              <a:xfrm>
                <a:off x="4819650" y="4057650"/>
                <a:ext cx="1790700" cy="133350"/>
              </a:xfrm>
              <a:prstGeom prst="roundRect">
                <a:avLst>
                  <a:gd name="adj" fmla="val 28571"/>
                </a:avLst>
              </a:prstGeom>
              <a:solidFill>
                <a:srgbClr val="9A412F"/>
              </a:solidFill>
              <a:ln>
                <a:noFill/>
              </a:ln>
            </p:spPr>
          </p:sp>
          <p:sp>
            <p:nvSpPr>
              <p:cNvPr id="162" name="TextBox 162"/>
              <p:cNvSpPr txBox="1"/>
              <p:nvPr/>
            </p:nvSpPr>
            <p:spPr>
              <a:xfrm>
                <a:off x="5423766" y="4084082"/>
                <a:ext cx="582468"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12/1 - 12/31​</a:t>
                </a:r>
              </a:p>
            </p:txBody>
          </p:sp>
          <p:sp>
            <p:nvSpPr>
              <p:cNvPr id="163" name="TextBox 163"/>
              <p:cNvSpPr txBox="1"/>
              <p:nvPr/>
            </p:nvSpPr>
            <p:spPr>
              <a:xfrm>
                <a:off x="441952" y="4274582"/>
                <a:ext cx="487695" cy="126206"/>
              </a:xfrm>
              <a:prstGeom prst="rect">
                <a:avLst/>
              </a:prstGeom>
              <a:noFill/>
              <a:ln>
                <a:noFill/>
              </a:ln>
            </p:spPr>
            <p:txBody>
              <a:bodyPr wrap="none" lIns="0" tIns="0" rIns="0" bIns="0" anchor="t" anchorCtr="0">
                <a:spAutoFit/>
              </a:bodyPr>
              <a:lstStyle/>
              <a:p>
                <a:pPr algn="ctr"/>
                <a:r>
                  <a:rPr lang="zh-CN" sz="640" dirty="0">
                    <a:solidFill>
                      <a:srgbClr val="312624"/>
                    </a:solidFill>
                    <a:latin typeface="+mn-lt"/>
                    <a:ea typeface="+mn-ea"/>
                    <a:cs typeface="+mn-cs"/>
                  </a:rPr>
                  <a:t>商户进社区​</a:t>
                </a:r>
              </a:p>
            </p:txBody>
          </p:sp>
          <p:sp>
            <p:nvSpPr>
              <p:cNvPr id="164" name="Rectangle 164"/>
              <p:cNvSpPr/>
              <p:nvPr/>
            </p:nvSpPr>
            <p:spPr>
              <a:xfrm>
                <a:off x="1162050" y="4248150"/>
                <a:ext cx="5448300" cy="133350"/>
              </a:xfrm>
              <a:prstGeom prst="roundRect">
                <a:avLst>
                  <a:gd name="adj" fmla="val 28571"/>
                </a:avLst>
              </a:prstGeom>
              <a:solidFill>
                <a:srgbClr val="AE6C5F"/>
              </a:solidFill>
              <a:ln>
                <a:noFill/>
              </a:ln>
            </p:spPr>
          </p:sp>
          <p:sp>
            <p:nvSpPr>
              <p:cNvPr id="165" name="TextBox 165"/>
              <p:cNvSpPr txBox="1"/>
              <p:nvPr/>
            </p:nvSpPr>
            <p:spPr>
              <a:xfrm>
                <a:off x="3594966" y="4274582"/>
                <a:ext cx="582468"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10/1 - 12/31​</a:t>
                </a:r>
              </a:p>
            </p:txBody>
          </p:sp>
          <p:sp>
            <p:nvSpPr>
              <p:cNvPr id="166" name="TextBox 166"/>
              <p:cNvSpPr txBox="1"/>
              <p:nvPr/>
            </p:nvSpPr>
            <p:spPr>
              <a:xfrm>
                <a:off x="441952" y="4465082"/>
                <a:ext cx="487695" cy="126206"/>
              </a:xfrm>
              <a:prstGeom prst="rect">
                <a:avLst/>
              </a:prstGeom>
              <a:noFill/>
              <a:ln>
                <a:noFill/>
              </a:ln>
            </p:spPr>
            <p:txBody>
              <a:bodyPr wrap="none" lIns="0" tIns="0" rIns="0" bIns="0" anchor="t" anchorCtr="0">
                <a:spAutoFit/>
              </a:bodyPr>
              <a:lstStyle/>
              <a:p>
                <a:pPr algn="ctr"/>
                <a:r>
                  <a:rPr lang="zh-CN" sz="640" dirty="0">
                    <a:solidFill>
                      <a:srgbClr val="312624"/>
                    </a:solidFill>
                    <a:latin typeface="+mn-lt"/>
                    <a:ea typeface="+mn-ea"/>
                    <a:cs typeface="+mn-cs"/>
                  </a:rPr>
                  <a:t>代发进企业​</a:t>
                </a:r>
              </a:p>
            </p:txBody>
          </p:sp>
          <p:sp>
            <p:nvSpPr>
              <p:cNvPr id="167" name="Rectangle 167"/>
              <p:cNvSpPr/>
              <p:nvPr/>
            </p:nvSpPr>
            <p:spPr>
              <a:xfrm>
                <a:off x="1162050" y="4438650"/>
                <a:ext cx="5448300" cy="133350"/>
              </a:xfrm>
              <a:prstGeom prst="roundRect">
                <a:avLst>
                  <a:gd name="adj" fmla="val 28571"/>
                </a:avLst>
              </a:prstGeom>
              <a:solidFill>
                <a:srgbClr val="C9988F"/>
              </a:solidFill>
              <a:ln>
                <a:noFill/>
              </a:ln>
            </p:spPr>
          </p:sp>
          <p:sp>
            <p:nvSpPr>
              <p:cNvPr id="168" name="TextBox 168"/>
              <p:cNvSpPr txBox="1"/>
              <p:nvPr/>
            </p:nvSpPr>
            <p:spPr>
              <a:xfrm>
                <a:off x="3594966" y="4465082"/>
                <a:ext cx="582468" cy="126206"/>
              </a:xfrm>
              <a:prstGeom prst="rect">
                <a:avLst/>
              </a:prstGeom>
              <a:noFill/>
              <a:ln>
                <a:noFill/>
              </a:ln>
            </p:spPr>
            <p:txBody>
              <a:bodyPr wrap="none" lIns="0" tIns="0" rIns="0" bIns="0" anchor="t" anchorCtr="0">
                <a:spAutoFit/>
              </a:bodyPr>
              <a:lstStyle/>
              <a:p>
                <a:pPr algn="ctr"/>
                <a:r>
                  <a:rPr lang="zh-CN" sz="640" dirty="0">
                    <a:solidFill>
                      <a:srgbClr val="3B130B"/>
                    </a:solidFill>
                    <a:latin typeface="+mn-lt"/>
                    <a:ea typeface="+mn-ea"/>
                    <a:cs typeface="+mn-cs"/>
                  </a:rPr>
                  <a:t>10/1 - 12/31​</a:t>
                </a:r>
              </a:p>
            </p:txBody>
          </p:sp>
        </p:grpSp>
      </p:grpSp>
      <p:grpSp>
        <p:nvGrpSpPr>
          <p:cNvPr id="187" name="milestone-card"/>
          <p:cNvGrpSpPr/>
          <p:nvPr/>
        </p:nvGrpSpPr>
        <p:grpSpPr>
          <a:xfrm>
            <a:off x="6781800" y="2990850"/>
            <a:ext cx="1428750" cy="1676400"/>
            <a:chOff x="6781800" y="2990850"/>
            <a:chExt cx="1428750" cy="1676400"/>
          </a:xfrm>
        </p:grpSpPr>
        <p:sp>
          <p:nvSpPr>
            <p:cNvPr id="171" name="Rectangle 171"/>
            <p:cNvSpPr/>
            <p:nvPr/>
          </p:nvSpPr>
          <p:spPr>
            <a:xfrm>
              <a:off x="6781800" y="2990850"/>
              <a:ext cx="1428750" cy="1676400"/>
            </a:xfrm>
            <a:prstGeom prst="roundRect">
              <a:avLst>
                <a:gd name="adj" fmla="val 6667"/>
              </a:avLst>
            </a:prstGeom>
            <a:solidFill>
              <a:srgbClr val="F5FAF8"/>
            </a:solidFill>
            <a:ln w="9525">
              <a:solidFill>
                <a:srgbClr val="D9E8E2"/>
              </a:solidFill>
            </a:ln>
          </p:spPr>
        </p:sp>
        <p:sp>
          <p:nvSpPr>
            <p:cNvPr id="172" name="Rectangle 172"/>
            <p:cNvSpPr/>
            <p:nvPr/>
          </p:nvSpPr>
          <p:spPr>
            <a:xfrm>
              <a:off x="6781800" y="2990850"/>
              <a:ext cx="1047750" cy="228600"/>
            </a:xfrm>
            <a:prstGeom prst="roundRect">
              <a:avLst>
                <a:gd name="adj" fmla="val 16667"/>
              </a:avLst>
            </a:prstGeom>
            <a:solidFill>
              <a:srgbClr val="5B180B"/>
            </a:solidFill>
            <a:ln>
              <a:noFill/>
            </a:ln>
          </p:spPr>
        </p:sp>
        <p:sp>
          <p:nvSpPr>
            <p:cNvPr id="173" name="TextBox 173"/>
            <p:cNvSpPr txBox="1"/>
            <p:nvPr/>
          </p:nvSpPr>
          <p:spPr>
            <a:xfrm>
              <a:off x="6891338" y="3059668"/>
              <a:ext cx="655250"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关键里程碑​</a:t>
              </a:r>
            </a:p>
          </p:txBody>
        </p:sp>
        <p:sp>
          <p:nvSpPr>
            <p:cNvPr id="174" name="Freeform 174"/>
            <p:cNvSpPr/>
            <p:nvPr/>
          </p:nvSpPr>
          <p:spPr>
            <a:xfrm>
              <a:off x="6896100" y="3276600"/>
              <a:ext cx="114300" cy="114300"/>
            </a:xfrm>
            <a:prstGeom prst="diamond">
              <a:avLst/>
            </a:prstGeom>
            <a:solidFill>
              <a:srgbClr val="B8432F"/>
            </a:solidFill>
            <a:ln>
              <a:noFill/>
            </a:ln>
          </p:spPr>
        </p:sp>
        <p:sp>
          <p:nvSpPr>
            <p:cNvPr id="175" name="Freeform 175"/>
            <p:cNvSpPr/>
            <p:nvPr/>
          </p:nvSpPr>
          <p:spPr>
            <a:xfrm>
              <a:off x="6896100" y="3581400"/>
              <a:ext cx="114300" cy="114300"/>
            </a:xfrm>
            <a:prstGeom prst="diamond">
              <a:avLst/>
            </a:prstGeom>
            <a:solidFill>
              <a:srgbClr val="B8432F"/>
            </a:solidFill>
            <a:ln>
              <a:noFill/>
            </a:ln>
          </p:spPr>
        </p:sp>
        <p:sp>
          <p:nvSpPr>
            <p:cNvPr id="176" name="Freeform 176"/>
            <p:cNvSpPr/>
            <p:nvPr/>
          </p:nvSpPr>
          <p:spPr>
            <a:xfrm>
              <a:off x="6896100" y="3886200"/>
              <a:ext cx="114300" cy="114300"/>
            </a:xfrm>
            <a:prstGeom prst="diamond">
              <a:avLst/>
            </a:prstGeom>
            <a:solidFill>
              <a:srgbClr val="B8432F"/>
            </a:solidFill>
            <a:ln>
              <a:noFill/>
            </a:ln>
          </p:spPr>
        </p:sp>
        <p:sp>
          <p:nvSpPr>
            <p:cNvPr id="177" name="Freeform 177"/>
            <p:cNvSpPr/>
            <p:nvPr/>
          </p:nvSpPr>
          <p:spPr>
            <a:xfrm>
              <a:off x="6896100" y="4191000"/>
              <a:ext cx="114300" cy="114300"/>
            </a:xfrm>
            <a:prstGeom prst="diamond">
              <a:avLst/>
            </a:prstGeom>
            <a:solidFill>
              <a:srgbClr val="B8432F"/>
            </a:solidFill>
            <a:ln>
              <a:noFill/>
            </a:ln>
          </p:spPr>
        </p:sp>
        <p:grpSp>
          <p:nvGrpSpPr>
            <p:cNvPr id="186" name="Group 186"/>
            <p:cNvGrpSpPr/>
            <p:nvPr/>
          </p:nvGrpSpPr>
          <p:grpSpPr>
            <a:xfrm>
              <a:off x="7062788" y="3255407"/>
              <a:ext cx="692196" cy="1154906"/>
              <a:chOff x="7062788" y="3255407"/>
              <a:chExt cx="692196" cy="1154906"/>
            </a:xfrm>
          </p:grpSpPr>
          <p:sp>
            <p:nvSpPr>
              <p:cNvPr id="178" name="TextBox 178"/>
              <p:cNvSpPr txBox="1"/>
              <p:nvPr/>
            </p:nvSpPr>
            <p:spPr>
              <a:xfrm>
                <a:off x="7062788" y="3255407"/>
                <a:ext cx="258303"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10/1​</a:t>
                </a:r>
              </a:p>
            </p:txBody>
          </p:sp>
          <p:sp>
            <p:nvSpPr>
              <p:cNvPr id="179" name="TextBox 179"/>
              <p:cNvSpPr txBox="1"/>
              <p:nvPr/>
            </p:nvSpPr>
            <p:spPr>
              <a:xfrm>
                <a:off x="7062788" y="3369707"/>
                <a:ext cx="660009"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存款守护季启动​</a:t>
                </a:r>
              </a:p>
            </p:txBody>
          </p:sp>
          <p:sp>
            <p:nvSpPr>
              <p:cNvPr id="180" name="TextBox 180"/>
              <p:cNvSpPr txBox="1"/>
              <p:nvPr/>
            </p:nvSpPr>
            <p:spPr>
              <a:xfrm>
                <a:off x="7062788" y="3560207"/>
                <a:ext cx="258303"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11/1​</a:t>
                </a:r>
              </a:p>
            </p:txBody>
          </p:sp>
          <p:sp>
            <p:nvSpPr>
              <p:cNvPr id="181" name="TextBox 181"/>
              <p:cNvSpPr txBox="1"/>
              <p:nvPr/>
            </p:nvSpPr>
            <p:spPr>
              <a:xfrm>
                <a:off x="7062788" y="3674507"/>
                <a:ext cx="660009"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财富配置月启动​</a:t>
                </a:r>
              </a:p>
            </p:txBody>
          </p:sp>
          <p:sp>
            <p:nvSpPr>
              <p:cNvPr id="182" name="TextBox 182"/>
              <p:cNvSpPr txBox="1"/>
              <p:nvPr/>
            </p:nvSpPr>
            <p:spPr>
              <a:xfrm>
                <a:off x="7062788" y="3865007"/>
                <a:ext cx="258303"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12/1​</a:t>
                </a:r>
              </a:p>
            </p:txBody>
          </p:sp>
          <p:sp>
            <p:nvSpPr>
              <p:cNvPr id="183" name="TextBox 183"/>
              <p:cNvSpPr txBox="1"/>
              <p:nvPr/>
            </p:nvSpPr>
            <p:spPr>
              <a:xfrm>
                <a:off x="7062788" y="3979307"/>
                <a:ext cx="660009"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年终感恩季启动​</a:t>
                </a:r>
              </a:p>
            </p:txBody>
          </p:sp>
          <p:sp>
            <p:nvSpPr>
              <p:cNvPr id="184" name="TextBox 184"/>
              <p:cNvSpPr txBox="1"/>
              <p:nvPr/>
            </p:nvSpPr>
            <p:spPr>
              <a:xfrm>
                <a:off x="7062788" y="4169807"/>
                <a:ext cx="308058" cy="126206"/>
              </a:xfrm>
              <a:prstGeom prst="rect">
                <a:avLst/>
              </a:prstGeom>
              <a:noFill/>
              <a:ln>
                <a:noFill/>
              </a:ln>
            </p:spPr>
            <p:txBody>
              <a:bodyPr wrap="none" lIns="0" tIns="0" rIns="0" bIns="0" anchor="t" anchorCtr="0">
                <a:spAutoFit/>
              </a:bodyPr>
              <a:lstStyle/>
              <a:p>
                <a:pPr algn="l"/>
                <a:r>
                  <a:rPr lang="zh-CN" sz="640" b="1" dirty="0">
                    <a:solidFill>
                      <a:srgbClr val="5B180B"/>
                    </a:solidFill>
                    <a:latin typeface="+mn-lt"/>
                    <a:ea typeface="+mn-ea"/>
                    <a:cs typeface="+mn-cs"/>
                  </a:rPr>
                  <a:t>12/31​</a:t>
                </a:r>
              </a:p>
            </p:txBody>
          </p:sp>
          <p:sp>
            <p:nvSpPr>
              <p:cNvPr id="185" name="TextBox 185"/>
              <p:cNvSpPr txBox="1"/>
              <p:nvPr/>
            </p:nvSpPr>
            <p:spPr>
              <a:xfrm>
                <a:off x="7062788" y="4284107"/>
                <a:ext cx="692196" cy="126206"/>
              </a:xfrm>
              <a:prstGeom prst="rect">
                <a:avLst/>
              </a:prstGeom>
              <a:noFill/>
              <a:ln>
                <a:noFill/>
              </a:ln>
            </p:spPr>
            <p:txBody>
              <a:bodyPr wrap="none" lIns="0" tIns="0" rIns="0" bIns="0" anchor="t" anchorCtr="0">
                <a:spAutoFit/>
              </a:bodyPr>
              <a:lstStyle/>
              <a:p>
                <a:pPr algn="l"/>
                <a:r>
                  <a:rPr lang="zh-CN" sz="640" dirty="0">
                    <a:solidFill>
                      <a:srgbClr val="4A3D3A"/>
                    </a:solidFill>
                    <a:latin typeface="+mn-lt"/>
                    <a:ea typeface="+mn-ea"/>
                    <a:cs typeface="+mn-cs"/>
                  </a:rPr>
                  <a:t>Q4活动收官评估​</a:t>
                </a:r>
              </a:p>
            </p:txBody>
          </p:sp>
        </p:grpSp>
      </p:grpSp>
      <p:grpSp>
        <p:nvGrpSpPr>
          <p:cNvPr id="228" name="roi-card"/>
          <p:cNvGrpSpPr/>
          <p:nvPr/>
        </p:nvGrpSpPr>
        <p:grpSpPr>
          <a:xfrm>
            <a:off x="8324850" y="2990850"/>
            <a:ext cx="3638550" cy="1676400"/>
            <a:chOff x="8324850" y="2990850"/>
            <a:chExt cx="3638550" cy="1676400"/>
          </a:xfrm>
        </p:grpSpPr>
        <p:sp>
          <p:nvSpPr>
            <p:cNvPr id="188" name="Rectangle 188"/>
            <p:cNvSpPr/>
            <p:nvPr/>
          </p:nvSpPr>
          <p:spPr>
            <a:xfrm>
              <a:off x="8324850" y="2990850"/>
              <a:ext cx="3638550" cy="1676400"/>
            </a:xfrm>
            <a:prstGeom prst="roundRect">
              <a:avLst>
                <a:gd name="adj" fmla="val 5682"/>
              </a:avLst>
            </a:prstGeom>
            <a:solidFill>
              <a:srgbClr val="F5FAF8"/>
            </a:solidFill>
            <a:ln w="9525">
              <a:solidFill>
                <a:srgbClr val="D9E8E2"/>
              </a:solidFill>
            </a:ln>
          </p:spPr>
        </p:sp>
        <p:sp>
          <p:nvSpPr>
            <p:cNvPr id="189" name="Rectangle 189"/>
            <p:cNvSpPr/>
            <p:nvPr/>
          </p:nvSpPr>
          <p:spPr>
            <a:xfrm>
              <a:off x="8324850" y="2990850"/>
              <a:ext cx="1905000" cy="228600"/>
            </a:xfrm>
            <a:prstGeom prst="roundRect">
              <a:avLst>
                <a:gd name="adj" fmla="val 16667"/>
              </a:avLst>
            </a:prstGeom>
            <a:solidFill>
              <a:srgbClr val="5B180B"/>
            </a:solidFill>
            <a:ln>
              <a:noFill/>
            </a:ln>
          </p:spPr>
        </p:sp>
        <p:sp>
          <p:nvSpPr>
            <p:cNvPr id="190" name="TextBox 190"/>
            <p:cNvSpPr txBox="1"/>
            <p:nvPr/>
          </p:nvSpPr>
          <p:spPr>
            <a:xfrm>
              <a:off x="8434388" y="3059668"/>
              <a:ext cx="1722373"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活动ROI贡献拆解（Q4，万元）​</a:t>
              </a:r>
            </a:p>
          </p:txBody>
        </p:sp>
        <p:sp>
          <p:nvSpPr>
            <p:cNvPr id="191" name="Rectangle 191"/>
            <p:cNvSpPr/>
            <p:nvPr/>
          </p:nvSpPr>
          <p:spPr>
            <a:xfrm>
              <a:off x="10896600" y="3028950"/>
              <a:ext cx="952500" cy="171450"/>
            </a:xfrm>
            <a:prstGeom prst="roundRect">
              <a:avLst>
                <a:gd name="adj" fmla="val 22222"/>
              </a:avLst>
            </a:prstGeom>
            <a:solidFill>
              <a:srgbClr val="FBF3DC"/>
            </a:solidFill>
            <a:ln w="7620">
              <a:solidFill>
                <a:srgbClr val="B8432F"/>
              </a:solidFill>
            </a:ln>
          </p:spPr>
        </p:sp>
        <p:sp>
          <p:nvSpPr>
            <p:cNvPr id="192" name="TextBox 192"/>
            <p:cNvSpPr txBox="1"/>
            <p:nvPr/>
          </p:nvSpPr>
          <p:spPr>
            <a:xfrm>
              <a:off x="11000496" y="3075861"/>
              <a:ext cx="744708" cy="140494"/>
            </a:xfrm>
            <a:prstGeom prst="rect">
              <a:avLst/>
            </a:prstGeom>
            <a:noFill/>
            <a:ln>
              <a:noFill/>
            </a:ln>
          </p:spPr>
          <p:txBody>
            <a:bodyPr wrap="none" lIns="0" tIns="0" rIns="0" bIns="0" anchor="t" anchorCtr="0">
              <a:spAutoFit/>
            </a:bodyPr>
            <a:lstStyle/>
            <a:p>
              <a:pPr algn="ctr"/>
              <a:r>
                <a:rPr lang="zh-CN" sz="710" b="1" dirty="0">
                  <a:solidFill>
                    <a:srgbClr val="B8432F"/>
                  </a:solidFill>
                  <a:latin typeface="+mn-lt"/>
                  <a:ea typeface="+mn-ea"/>
                  <a:cs typeface="+mn-cs"/>
                </a:rPr>
                <a:t>整体ROI: 2.7x​</a:t>
              </a:r>
            </a:p>
          </p:txBody>
        </p:sp>
        <p:sp>
          <p:nvSpPr>
            <p:cNvPr id="193" name="Line 193"/>
            <p:cNvSpPr/>
            <p:nvPr/>
          </p:nvSpPr>
          <p:spPr>
            <a:xfrm>
              <a:off x="8420100" y="4381500"/>
              <a:ext cx="3448050" cy="9525"/>
            </a:xfrm>
            <a:custGeom>
              <a:avLst/>
              <a:gdLst/>
              <a:ahLst/>
              <a:cxnLst/>
              <a:rect l="l" t="t" r="r" b="b"/>
              <a:pathLst>
                <a:path w="3448050" h="9525">
                  <a:moveTo>
                    <a:pt x="0" y="0"/>
                  </a:moveTo>
                  <a:lnTo>
                    <a:pt x="3448050" y="0"/>
                  </a:lnTo>
                </a:path>
              </a:pathLst>
            </a:custGeom>
            <a:noFill/>
            <a:ln w="9525">
              <a:solidFill>
                <a:srgbClr val="BFDDD6"/>
              </a:solidFill>
            </a:ln>
          </p:spPr>
        </p:sp>
        <p:grpSp>
          <p:nvGrpSpPr>
            <p:cNvPr id="214" name="waterfall"/>
            <p:cNvGrpSpPr/>
            <p:nvPr/>
          </p:nvGrpSpPr>
          <p:grpSpPr>
            <a:xfrm>
              <a:off x="8477250" y="3206353"/>
              <a:ext cx="3200400" cy="1175147"/>
              <a:chOff x="8477250" y="3206353"/>
              <a:chExt cx="3200400" cy="1175147"/>
            </a:xfrm>
          </p:grpSpPr>
          <p:sp>
            <p:nvSpPr>
              <p:cNvPr id="194" name="Rectangle 194"/>
              <p:cNvSpPr/>
              <p:nvPr/>
            </p:nvSpPr>
            <p:spPr>
              <a:xfrm>
                <a:off x="8477250" y="4171950"/>
                <a:ext cx="342900" cy="209550"/>
              </a:xfrm>
              <a:prstGeom prst="rect">
                <a:avLst/>
              </a:prstGeom>
              <a:solidFill>
                <a:srgbClr val="C9988F"/>
              </a:solidFill>
              <a:ln>
                <a:noFill/>
              </a:ln>
            </p:spPr>
          </p:sp>
          <p:sp>
            <p:nvSpPr>
              <p:cNvPr id="195" name="TextBox 195"/>
              <p:cNvSpPr txBox="1"/>
              <p:nvPr/>
            </p:nvSpPr>
            <p:spPr>
              <a:xfrm>
                <a:off x="8491561" y="4073128"/>
                <a:ext cx="314278" cy="111919"/>
              </a:xfrm>
              <a:prstGeom prst="rect">
                <a:avLst/>
              </a:prstGeom>
              <a:noFill/>
              <a:ln>
                <a:noFill/>
              </a:ln>
            </p:spPr>
            <p:txBody>
              <a:bodyPr wrap="none" lIns="0" tIns="0" rIns="0" bIns="0" anchor="t" anchorCtr="0">
                <a:spAutoFit/>
              </a:bodyPr>
              <a:lstStyle/>
              <a:p>
                <a:pPr algn="ctr"/>
                <a:r>
                  <a:rPr lang="zh-CN" sz="560" b="1" dirty="0">
                    <a:solidFill>
                      <a:srgbClr val="312624"/>
                    </a:solidFill>
                    <a:latin typeface="+mn-lt"/>
                    <a:ea typeface="+mn-ea"/>
                    <a:cs typeface="+mn-cs"/>
                  </a:rPr>
                  <a:t>+2,000​</a:t>
                </a:r>
              </a:p>
            </p:txBody>
          </p:sp>
          <p:sp>
            <p:nvSpPr>
              <p:cNvPr id="196" name="Line 196"/>
              <p:cNvSpPr/>
              <p:nvPr/>
            </p:nvSpPr>
            <p:spPr>
              <a:xfrm>
                <a:off x="8820150" y="4171950"/>
                <a:ext cx="133350" cy="9525"/>
              </a:xfrm>
              <a:custGeom>
                <a:avLst/>
                <a:gdLst/>
                <a:ahLst/>
                <a:cxnLst/>
                <a:rect l="l" t="t" r="r" b="b"/>
                <a:pathLst>
                  <a:path w="133350" h="9525">
                    <a:moveTo>
                      <a:pt x="0" y="0"/>
                    </a:moveTo>
                    <a:lnTo>
                      <a:pt x="133350" y="0"/>
                    </a:lnTo>
                  </a:path>
                </a:pathLst>
              </a:custGeom>
              <a:noFill/>
              <a:ln w="5715">
                <a:solidFill>
                  <a:srgbClr val="8AA39C"/>
                </a:solidFill>
              </a:ln>
            </p:spPr>
          </p:sp>
          <p:sp>
            <p:nvSpPr>
              <p:cNvPr id="197" name="Rectangle 197"/>
              <p:cNvSpPr/>
              <p:nvPr/>
            </p:nvSpPr>
            <p:spPr>
              <a:xfrm>
                <a:off x="8953500" y="3848100"/>
                <a:ext cx="342900" cy="323850"/>
              </a:xfrm>
              <a:prstGeom prst="rect">
                <a:avLst/>
              </a:prstGeom>
              <a:solidFill>
                <a:srgbClr val="B57A6F"/>
              </a:solidFill>
              <a:ln>
                <a:noFill/>
              </a:ln>
            </p:spPr>
          </p:sp>
          <p:sp>
            <p:nvSpPr>
              <p:cNvPr id="198" name="TextBox 198"/>
              <p:cNvSpPr txBox="1"/>
              <p:nvPr/>
            </p:nvSpPr>
            <p:spPr>
              <a:xfrm>
                <a:off x="8967811" y="3749278"/>
                <a:ext cx="314278" cy="111919"/>
              </a:xfrm>
              <a:prstGeom prst="rect">
                <a:avLst/>
              </a:prstGeom>
              <a:noFill/>
              <a:ln>
                <a:noFill/>
              </a:ln>
            </p:spPr>
            <p:txBody>
              <a:bodyPr wrap="none" lIns="0" tIns="0" rIns="0" bIns="0" anchor="t" anchorCtr="0">
                <a:spAutoFit/>
              </a:bodyPr>
              <a:lstStyle/>
              <a:p>
                <a:pPr algn="ctr"/>
                <a:r>
                  <a:rPr lang="zh-CN" sz="560" b="1" dirty="0">
                    <a:solidFill>
                      <a:srgbClr val="312624"/>
                    </a:solidFill>
                    <a:latin typeface="+mn-lt"/>
                    <a:ea typeface="+mn-ea"/>
                    <a:cs typeface="+mn-cs"/>
                  </a:rPr>
                  <a:t>+3,000​</a:t>
                </a:r>
              </a:p>
            </p:txBody>
          </p:sp>
          <p:sp>
            <p:nvSpPr>
              <p:cNvPr id="199" name="Line 199"/>
              <p:cNvSpPr/>
              <p:nvPr/>
            </p:nvSpPr>
            <p:spPr>
              <a:xfrm>
                <a:off x="9296400" y="3848100"/>
                <a:ext cx="133350" cy="9525"/>
              </a:xfrm>
              <a:custGeom>
                <a:avLst/>
                <a:gdLst/>
                <a:ahLst/>
                <a:cxnLst/>
                <a:rect l="l" t="t" r="r" b="b"/>
                <a:pathLst>
                  <a:path w="133350" h="9525">
                    <a:moveTo>
                      <a:pt x="0" y="0"/>
                    </a:moveTo>
                    <a:lnTo>
                      <a:pt x="133350" y="0"/>
                    </a:lnTo>
                  </a:path>
                </a:pathLst>
              </a:custGeom>
              <a:noFill/>
              <a:ln w="5715">
                <a:solidFill>
                  <a:srgbClr val="8AA39C"/>
                </a:solidFill>
              </a:ln>
            </p:spPr>
          </p:sp>
          <p:sp>
            <p:nvSpPr>
              <p:cNvPr id="200" name="Rectangle 200"/>
              <p:cNvSpPr/>
              <p:nvPr/>
            </p:nvSpPr>
            <p:spPr>
              <a:xfrm>
                <a:off x="9429750" y="3619500"/>
                <a:ext cx="342900" cy="228600"/>
              </a:xfrm>
              <a:prstGeom prst="rect">
                <a:avLst/>
              </a:prstGeom>
              <a:solidFill>
                <a:srgbClr val="AE6C5F"/>
              </a:solidFill>
              <a:ln>
                <a:noFill/>
              </a:ln>
            </p:spPr>
          </p:sp>
          <p:sp>
            <p:nvSpPr>
              <p:cNvPr id="201" name="TextBox 201"/>
              <p:cNvSpPr txBox="1"/>
              <p:nvPr/>
            </p:nvSpPr>
            <p:spPr>
              <a:xfrm>
                <a:off x="9444061" y="3520678"/>
                <a:ext cx="314278" cy="111919"/>
              </a:xfrm>
              <a:prstGeom prst="rect">
                <a:avLst/>
              </a:prstGeom>
              <a:noFill/>
              <a:ln>
                <a:noFill/>
              </a:ln>
            </p:spPr>
            <p:txBody>
              <a:bodyPr wrap="none" lIns="0" tIns="0" rIns="0" bIns="0" anchor="t" anchorCtr="0">
                <a:spAutoFit/>
              </a:bodyPr>
              <a:lstStyle/>
              <a:p>
                <a:pPr algn="ctr"/>
                <a:r>
                  <a:rPr lang="zh-CN" sz="560" b="1" dirty="0">
                    <a:solidFill>
                      <a:srgbClr val="312624"/>
                    </a:solidFill>
                    <a:latin typeface="+mn-lt"/>
                    <a:ea typeface="+mn-ea"/>
                    <a:cs typeface="+mn-cs"/>
                  </a:rPr>
                  <a:t>+2,200​</a:t>
                </a:r>
              </a:p>
            </p:txBody>
          </p:sp>
          <p:sp>
            <p:nvSpPr>
              <p:cNvPr id="202" name="Line 202"/>
              <p:cNvSpPr/>
              <p:nvPr/>
            </p:nvSpPr>
            <p:spPr>
              <a:xfrm>
                <a:off x="9772650" y="3619500"/>
                <a:ext cx="133350" cy="9525"/>
              </a:xfrm>
              <a:custGeom>
                <a:avLst/>
                <a:gdLst/>
                <a:ahLst/>
                <a:cxnLst/>
                <a:rect l="l" t="t" r="r" b="b"/>
                <a:pathLst>
                  <a:path w="133350" h="9525">
                    <a:moveTo>
                      <a:pt x="0" y="0"/>
                    </a:moveTo>
                    <a:lnTo>
                      <a:pt x="133350" y="0"/>
                    </a:lnTo>
                  </a:path>
                </a:pathLst>
              </a:custGeom>
              <a:noFill/>
              <a:ln w="5715">
                <a:solidFill>
                  <a:srgbClr val="8AA39C"/>
                </a:solidFill>
              </a:ln>
            </p:spPr>
          </p:sp>
          <p:sp>
            <p:nvSpPr>
              <p:cNvPr id="203" name="Rectangle 203"/>
              <p:cNvSpPr/>
              <p:nvPr/>
            </p:nvSpPr>
            <p:spPr>
              <a:xfrm>
                <a:off x="9906000" y="3448050"/>
                <a:ext cx="342900" cy="171450"/>
              </a:xfrm>
              <a:prstGeom prst="rect">
                <a:avLst/>
              </a:prstGeom>
              <a:solidFill>
                <a:srgbClr val="9A412F"/>
              </a:solidFill>
              <a:ln>
                <a:noFill/>
              </a:ln>
            </p:spPr>
          </p:sp>
          <p:sp>
            <p:nvSpPr>
              <p:cNvPr id="204" name="TextBox 204"/>
              <p:cNvSpPr txBox="1"/>
              <p:nvPr/>
            </p:nvSpPr>
            <p:spPr>
              <a:xfrm>
                <a:off x="9920311" y="3349228"/>
                <a:ext cx="314278" cy="111919"/>
              </a:xfrm>
              <a:prstGeom prst="rect">
                <a:avLst/>
              </a:prstGeom>
              <a:noFill/>
              <a:ln>
                <a:noFill/>
              </a:ln>
            </p:spPr>
            <p:txBody>
              <a:bodyPr wrap="none" lIns="0" tIns="0" rIns="0" bIns="0" anchor="t" anchorCtr="0">
                <a:spAutoFit/>
              </a:bodyPr>
              <a:lstStyle/>
              <a:p>
                <a:pPr algn="ctr"/>
                <a:r>
                  <a:rPr lang="zh-CN" sz="560" b="1" dirty="0">
                    <a:solidFill>
                      <a:srgbClr val="312624"/>
                    </a:solidFill>
                    <a:latin typeface="+mn-lt"/>
                    <a:ea typeface="+mn-ea"/>
                    <a:cs typeface="+mn-cs"/>
                  </a:rPr>
                  <a:t>+1,600​</a:t>
                </a:r>
              </a:p>
            </p:txBody>
          </p:sp>
          <p:sp>
            <p:nvSpPr>
              <p:cNvPr id="205" name="Line 205"/>
              <p:cNvSpPr/>
              <p:nvPr/>
            </p:nvSpPr>
            <p:spPr>
              <a:xfrm>
                <a:off x="10248900" y="3448050"/>
                <a:ext cx="133350" cy="9525"/>
              </a:xfrm>
              <a:custGeom>
                <a:avLst/>
                <a:gdLst/>
                <a:ahLst/>
                <a:cxnLst/>
                <a:rect l="l" t="t" r="r" b="b"/>
                <a:pathLst>
                  <a:path w="133350" h="9525">
                    <a:moveTo>
                      <a:pt x="0" y="0"/>
                    </a:moveTo>
                    <a:lnTo>
                      <a:pt x="133350" y="0"/>
                    </a:lnTo>
                  </a:path>
                </a:pathLst>
              </a:custGeom>
              <a:noFill/>
              <a:ln w="5715">
                <a:solidFill>
                  <a:srgbClr val="8AA39C"/>
                </a:solidFill>
              </a:ln>
            </p:spPr>
          </p:sp>
          <p:sp>
            <p:nvSpPr>
              <p:cNvPr id="206" name="Rectangle 206"/>
              <p:cNvSpPr/>
              <p:nvPr/>
            </p:nvSpPr>
            <p:spPr>
              <a:xfrm>
                <a:off x="10382250" y="3305175"/>
                <a:ext cx="342900" cy="142875"/>
              </a:xfrm>
              <a:prstGeom prst="rect">
                <a:avLst/>
              </a:prstGeom>
              <a:solidFill>
                <a:srgbClr val="9A412F"/>
              </a:solidFill>
              <a:ln>
                <a:noFill/>
              </a:ln>
            </p:spPr>
          </p:sp>
          <p:sp>
            <p:nvSpPr>
              <p:cNvPr id="207" name="TextBox 207"/>
              <p:cNvSpPr txBox="1"/>
              <p:nvPr/>
            </p:nvSpPr>
            <p:spPr>
              <a:xfrm>
                <a:off x="10396561" y="3206353"/>
                <a:ext cx="314278" cy="111919"/>
              </a:xfrm>
              <a:prstGeom prst="rect">
                <a:avLst/>
              </a:prstGeom>
              <a:noFill/>
              <a:ln>
                <a:noFill/>
              </a:ln>
            </p:spPr>
            <p:txBody>
              <a:bodyPr wrap="none" lIns="0" tIns="0" rIns="0" bIns="0" anchor="t" anchorCtr="0">
                <a:spAutoFit/>
              </a:bodyPr>
              <a:lstStyle/>
              <a:p>
                <a:pPr algn="ctr"/>
                <a:r>
                  <a:rPr lang="zh-CN" sz="560" b="1" dirty="0">
                    <a:solidFill>
                      <a:srgbClr val="312624"/>
                    </a:solidFill>
                    <a:latin typeface="+mn-lt"/>
                    <a:ea typeface="+mn-ea"/>
                    <a:cs typeface="+mn-cs"/>
                  </a:rPr>
                  <a:t>+1,400​</a:t>
                </a:r>
              </a:p>
            </p:txBody>
          </p:sp>
          <p:sp>
            <p:nvSpPr>
              <p:cNvPr id="208" name="Line 208"/>
              <p:cNvSpPr/>
              <p:nvPr/>
            </p:nvSpPr>
            <p:spPr>
              <a:xfrm>
                <a:off x="10725150" y="3305175"/>
                <a:ext cx="133350" cy="9525"/>
              </a:xfrm>
              <a:custGeom>
                <a:avLst/>
                <a:gdLst/>
                <a:ahLst/>
                <a:cxnLst/>
                <a:rect l="l" t="t" r="r" b="b"/>
                <a:pathLst>
                  <a:path w="133350" h="9525">
                    <a:moveTo>
                      <a:pt x="0" y="0"/>
                    </a:moveTo>
                    <a:lnTo>
                      <a:pt x="133350" y="0"/>
                    </a:lnTo>
                  </a:path>
                </a:pathLst>
              </a:custGeom>
              <a:noFill/>
              <a:ln w="5715">
                <a:solidFill>
                  <a:srgbClr val="8AA39C"/>
                </a:solidFill>
              </a:ln>
            </p:spPr>
          </p:sp>
          <p:sp>
            <p:nvSpPr>
              <p:cNvPr id="209" name="Rectangle 209"/>
              <p:cNvSpPr/>
              <p:nvPr/>
            </p:nvSpPr>
            <p:spPr>
              <a:xfrm>
                <a:off x="10858500" y="3305175"/>
                <a:ext cx="342900" cy="123825"/>
              </a:xfrm>
              <a:prstGeom prst="rect">
                <a:avLst/>
              </a:prstGeom>
              <a:solidFill>
                <a:srgbClr val="B7C2BE"/>
              </a:solidFill>
              <a:ln>
                <a:noFill/>
              </a:ln>
            </p:spPr>
          </p:sp>
          <p:sp>
            <p:nvSpPr>
              <p:cNvPr id="210" name="TextBox 210"/>
              <p:cNvSpPr txBox="1"/>
              <p:nvPr/>
            </p:nvSpPr>
            <p:spPr>
              <a:xfrm>
                <a:off x="10872811" y="3463528"/>
                <a:ext cx="314278" cy="111919"/>
              </a:xfrm>
              <a:prstGeom prst="rect">
                <a:avLst/>
              </a:prstGeom>
              <a:noFill/>
              <a:ln>
                <a:noFill/>
              </a:ln>
            </p:spPr>
            <p:txBody>
              <a:bodyPr wrap="none" lIns="0" tIns="0" rIns="0" bIns="0" anchor="t" anchorCtr="0">
                <a:spAutoFit/>
              </a:bodyPr>
              <a:lstStyle/>
              <a:p>
                <a:pPr algn="ctr"/>
                <a:r>
                  <a:rPr lang="zh-CN" sz="560" b="1" dirty="0">
                    <a:solidFill>
                      <a:srgbClr val="5F6F6A"/>
                    </a:solidFill>
                    <a:latin typeface="+mn-lt"/>
                    <a:ea typeface="+mn-ea"/>
                    <a:cs typeface="+mn-cs"/>
                  </a:rPr>
                  <a:t>-1,200​</a:t>
                </a:r>
              </a:p>
            </p:txBody>
          </p:sp>
          <p:sp>
            <p:nvSpPr>
              <p:cNvPr id="211" name="Line 211"/>
              <p:cNvSpPr/>
              <p:nvPr/>
            </p:nvSpPr>
            <p:spPr>
              <a:xfrm>
                <a:off x="11201400" y="3429000"/>
                <a:ext cx="133350" cy="9525"/>
              </a:xfrm>
              <a:custGeom>
                <a:avLst/>
                <a:gdLst/>
                <a:ahLst/>
                <a:cxnLst/>
                <a:rect l="l" t="t" r="r" b="b"/>
                <a:pathLst>
                  <a:path w="133350" h="9525">
                    <a:moveTo>
                      <a:pt x="0" y="0"/>
                    </a:moveTo>
                    <a:lnTo>
                      <a:pt x="133350" y="0"/>
                    </a:lnTo>
                  </a:path>
                </a:pathLst>
              </a:custGeom>
              <a:noFill/>
              <a:ln w="5715">
                <a:solidFill>
                  <a:srgbClr val="8AA39C"/>
                </a:solidFill>
              </a:ln>
            </p:spPr>
          </p:sp>
          <p:sp>
            <p:nvSpPr>
              <p:cNvPr id="212" name="Rectangle 212"/>
              <p:cNvSpPr/>
              <p:nvPr/>
            </p:nvSpPr>
            <p:spPr>
              <a:xfrm>
                <a:off x="11334750" y="3429000"/>
                <a:ext cx="342900" cy="952500"/>
              </a:xfrm>
              <a:prstGeom prst="rect">
                <a:avLst/>
              </a:prstGeom>
              <a:solidFill>
                <a:srgbClr val="5B180B"/>
              </a:solidFill>
              <a:ln>
                <a:noFill/>
              </a:ln>
            </p:spPr>
          </p:sp>
          <p:sp>
            <p:nvSpPr>
              <p:cNvPr id="213" name="TextBox 213"/>
              <p:cNvSpPr txBox="1"/>
              <p:nvPr/>
            </p:nvSpPr>
            <p:spPr>
              <a:xfrm>
                <a:off x="11352171" y="3322082"/>
                <a:ext cx="30805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9,000​</a:t>
                </a:r>
              </a:p>
            </p:txBody>
          </p:sp>
        </p:grpSp>
        <p:grpSp>
          <p:nvGrpSpPr>
            <p:cNvPr id="227" name="Group 227"/>
            <p:cNvGrpSpPr/>
            <p:nvPr/>
          </p:nvGrpSpPr>
          <p:grpSpPr>
            <a:xfrm>
              <a:off x="8460888" y="4433649"/>
              <a:ext cx="3168067" cy="173831"/>
              <a:chOff x="8460888" y="4433649"/>
              <a:chExt cx="3168067" cy="173831"/>
            </a:xfrm>
          </p:grpSpPr>
          <p:sp>
            <p:nvSpPr>
              <p:cNvPr id="215" name="TextBox 215"/>
              <p:cNvSpPr txBox="1"/>
              <p:nvPr/>
            </p:nvSpPr>
            <p:spPr>
              <a:xfrm>
                <a:off x="8460888" y="4433649"/>
                <a:ext cx="375624"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存款守护季​</a:t>
                </a:r>
              </a:p>
            </p:txBody>
          </p:sp>
          <p:sp>
            <p:nvSpPr>
              <p:cNvPr id="216" name="TextBox 216"/>
              <p:cNvSpPr txBox="1"/>
              <p:nvPr/>
            </p:nvSpPr>
            <p:spPr>
              <a:xfrm>
                <a:off x="8559834" y="4509849"/>
                <a:ext cx="177733"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收益​</a:t>
                </a:r>
              </a:p>
            </p:txBody>
          </p:sp>
          <p:sp>
            <p:nvSpPr>
              <p:cNvPr id="217" name="TextBox 217"/>
              <p:cNvSpPr txBox="1"/>
              <p:nvPr/>
            </p:nvSpPr>
            <p:spPr>
              <a:xfrm>
                <a:off x="8937138" y="4433649"/>
                <a:ext cx="375624"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财富配置月​</a:t>
                </a:r>
              </a:p>
            </p:txBody>
          </p:sp>
          <p:sp>
            <p:nvSpPr>
              <p:cNvPr id="218" name="TextBox 218"/>
              <p:cNvSpPr txBox="1"/>
              <p:nvPr/>
            </p:nvSpPr>
            <p:spPr>
              <a:xfrm>
                <a:off x="9036084" y="4509849"/>
                <a:ext cx="177733"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收益​</a:t>
                </a:r>
              </a:p>
            </p:txBody>
          </p:sp>
          <p:sp>
            <p:nvSpPr>
              <p:cNvPr id="219" name="TextBox 219"/>
              <p:cNvSpPr txBox="1"/>
              <p:nvPr/>
            </p:nvSpPr>
            <p:spPr>
              <a:xfrm>
                <a:off x="9413388" y="4433649"/>
                <a:ext cx="375624"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年终感恩季​</a:t>
                </a:r>
              </a:p>
            </p:txBody>
          </p:sp>
          <p:sp>
            <p:nvSpPr>
              <p:cNvPr id="220" name="TextBox 220"/>
              <p:cNvSpPr txBox="1"/>
              <p:nvPr/>
            </p:nvSpPr>
            <p:spPr>
              <a:xfrm>
                <a:off x="9512334" y="4509849"/>
                <a:ext cx="177733"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收益​</a:t>
                </a:r>
              </a:p>
            </p:txBody>
          </p:sp>
          <p:sp>
            <p:nvSpPr>
              <p:cNvPr id="221" name="TextBox 221"/>
              <p:cNvSpPr txBox="1"/>
              <p:nvPr/>
            </p:nvSpPr>
            <p:spPr>
              <a:xfrm>
                <a:off x="9889638" y="4433649"/>
                <a:ext cx="375624"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商户进社区​</a:t>
                </a:r>
              </a:p>
            </p:txBody>
          </p:sp>
          <p:sp>
            <p:nvSpPr>
              <p:cNvPr id="222" name="TextBox 222"/>
              <p:cNvSpPr txBox="1"/>
              <p:nvPr/>
            </p:nvSpPr>
            <p:spPr>
              <a:xfrm>
                <a:off x="9988584" y="4509849"/>
                <a:ext cx="177733"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收益​</a:t>
                </a:r>
              </a:p>
            </p:txBody>
          </p:sp>
          <p:sp>
            <p:nvSpPr>
              <p:cNvPr id="223" name="TextBox 223"/>
              <p:cNvSpPr txBox="1"/>
              <p:nvPr/>
            </p:nvSpPr>
            <p:spPr>
              <a:xfrm>
                <a:off x="10365888" y="4433649"/>
                <a:ext cx="375624"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代发进企业​</a:t>
                </a:r>
              </a:p>
            </p:txBody>
          </p:sp>
          <p:sp>
            <p:nvSpPr>
              <p:cNvPr id="224" name="TextBox 224"/>
              <p:cNvSpPr txBox="1"/>
              <p:nvPr/>
            </p:nvSpPr>
            <p:spPr>
              <a:xfrm>
                <a:off x="10464834" y="4509849"/>
                <a:ext cx="177733"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收益​</a:t>
                </a:r>
              </a:p>
            </p:txBody>
          </p:sp>
          <p:sp>
            <p:nvSpPr>
              <p:cNvPr id="225" name="TextBox 225"/>
              <p:cNvSpPr txBox="1"/>
              <p:nvPr/>
            </p:nvSpPr>
            <p:spPr>
              <a:xfrm>
                <a:off x="10875120" y="4433649"/>
                <a:ext cx="309660" cy="97631"/>
              </a:xfrm>
              <a:prstGeom prst="rect">
                <a:avLst/>
              </a:prstGeom>
              <a:noFill/>
              <a:ln>
                <a:noFill/>
              </a:ln>
            </p:spPr>
            <p:txBody>
              <a:bodyPr wrap="none" lIns="0" tIns="0" rIns="0" bIns="0" anchor="t" anchorCtr="0">
                <a:spAutoFit/>
              </a:bodyPr>
              <a:lstStyle/>
              <a:p>
                <a:pPr algn="ctr"/>
                <a:r>
                  <a:rPr lang="zh-CN" sz="490" dirty="0">
                    <a:solidFill>
                      <a:srgbClr val="5F6F6A"/>
                    </a:solidFill>
                    <a:latin typeface="+mn-lt"/>
                    <a:ea typeface="+mn-ea"/>
                    <a:cs typeface="+mn-cs"/>
                  </a:rPr>
                  <a:t>活动成本​</a:t>
                </a:r>
              </a:p>
            </p:txBody>
          </p:sp>
          <p:sp>
            <p:nvSpPr>
              <p:cNvPr id="226" name="TextBox 226"/>
              <p:cNvSpPr txBox="1"/>
              <p:nvPr/>
            </p:nvSpPr>
            <p:spPr>
              <a:xfrm>
                <a:off x="11383445" y="4433649"/>
                <a:ext cx="245510" cy="97631"/>
              </a:xfrm>
              <a:prstGeom prst="rect">
                <a:avLst/>
              </a:prstGeom>
              <a:noFill/>
              <a:ln>
                <a:noFill/>
              </a:ln>
            </p:spPr>
            <p:txBody>
              <a:bodyPr wrap="none" lIns="0" tIns="0" rIns="0" bIns="0" anchor="t" anchorCtr="0">
                <a:spAutoFit/>
              </a:bodyPr>
              <a:lstStyle/>
              <a:p>
                <a:pPr algn="ctr"/>
                <a:r>
                  <a:rPr lang="zh-CN" sz="490" b="1" dirty="0">
                    <a:solidFill>
                      <a:srgbClr val="5B180B"/>
                    </a:solidFill>
                    <a:latin typeface="+mn-lt"/>
                    <a:ea typeface="+mn-ea"/>
                    <a:cs typeface="+mn-cs"/>
                  </a:rPr>
                  <a:t>净收益​</a:t>
                </a:r>
              </a:p>
            </p:txBody>
          </p:sp>
        </p:grpSp>
      </p:grpSp>
      <p:grpSp>
        <p:nvGrpSpPr>
          <p:cNvPr id="320" name="exec-card"/>
          <p:cNvGrpSpPr/>
          <p:nvPr/>
        </p:nvGrpSpPr>
        <p:grpSpPr>
          <a:xfrm>
            <a:off x="228600" y="4762500"/>
            <a:ext cx="11734800" cy="2019300"/>
            <a:chOff x="228600" y="4762500"/>
            <a:chExt cx="11734800" cy="2019300"/>
          </a:xfrm>
        </p:grpSpPr>
        <p:sp>
          <p:nvSpPr>
            <p:cNvPr id="229" name="Rectangle 229"/>
            <p:cNvSpPr/>
            <p:nvPr/>
          </p:nvSpPr>
          <p:spPr>
            <a:xfrm>
              <a:off x="228600" y="4762500"/>
              <a:ext cx="11734800" cy="2019300"/>
            </a:xfrm>
            <a:prstGeom prst="roundRect">
              <a:avLst>
                <a:gd name="adj" fmla="val 4717"/>
              </a:avLst>
            </a:prstGeom>
            <a:solidFill>
              <a:srgbClr val="F5FAF8"/>
            </a:solidFill>
            <a:ln w="9525">
              <a:solidFill>
                <a:srgbClr val="D9E8E2"/>
              </a:solidFill>
            </a:ln>
          </p:spPr>
        </p:sp>
        <p:sp>
          <p:nvSpPr>
            <p:cNvPr id="230" name="Rectangle 230"/>
            <p:cNvSpPr/>
            <p:nvPr/>
          </p:nvSpPr>
          <p:spPr>
            <a:xfrm>
              <a:off x="228600" y="4762500"/>
              <a:ext cx="1809750" cy="228600"/>
            </a:xfrm>
            <a:prstGeom prst="roundRect">
              <a:avLst>
                <a:gd name="adj" fmla="val 16667"/>
              </a:avLst>
            </a:prstGeom>
            <a:solidFill>
              <a:srgbClr val="5B180B"/>
            </a:solidFill>
            <a:ln>
              <a:noFill/>
            </a:ln>
          </p:spPr>
        </p:sp>
        <p:sp>
          <p:nvSpPr>
            <p:cNvPr id="231" name="TextBox 231"/>
            <p:cNvSpPr txBox="1"/>
            <p:nvPr/>
          </p:nvSpPr>
          <p:spPr>
            <a:xfrm>
              <a:off x="338138" y="4831318"/>
              <a:ext cx="1234116"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活动执行关键动作清单​</a:t>
              </a:r>
            </a:p>
          </p:txBody>
        </p:sp>
        <p:grpSp>
          <p:nvGrpSpPr>
            <p:cNvPr id="258" name="stage-1"/>
            <p:cNvGrpSpPr/>
            <p:nvPr/>
          </p:nvGrpSpPr>
          <p:grpSpPr>
            <a:xfrm>
              <a:off x="342900" y="5105400"/>
              <a:ext cx="3295650" cy="1155859"/>
              <a:chOff x="342900" y="5105400"/>
              <a:chExt cx="3295650" cy="1155859"/>
            </a:xfrm>
          </p:grpSpPr>
          <p:sp>
            <p:nvSpPr>
              <p:cNvPr id="232" name="Rectangle 232"/>
              <p:cNvSpPr/>
              <p:nvPr/>
            </p:nvSpPr>
            <p:spPr>
              <a:xfrm>
                <a:off x="342900" y="5105400"/>
                <a:ext cx="3295650" cy="285750"/>
              </a:xfrm>
              <a:prstGeom prst="roundRect">
                <a:avLst>
                  <a:gd name="adj" fmla="val 16667"/>
                </a:avLst>
              </a:prstGeom>
              <a:solidFill>
                <a:srgbClr val="5B180B"/>
              </a:solidFill>
              <a:ln>
                <a:noFill/>
              </a:ln>
            </p:spPr>
          </p:sp>
          <p:grpSp>
            <p:nvGrpSpPr>
              <p:cNvPr id="237" name="Group 237"/>
              <p:cNvGrpSpPr/>
              <p:nvPr/>
            </p:nvGrpSpPr>
            <p:grpSpPr>
              <a:xfrm>
                <a:off x="440531" y="5183981"/>
                <a:ext cx="128588" cy="128588"/>
                <a:chOff x="440531" y="5183981"/>
                <a:chExt cx="128588" cy="128588"/>
              </a:xfrm>
            </p:grpSpPr>
            <p:sp>
              <p:nvSpPr>
                <p:cNvPr id="233" name="Freeform 233"/>
                <p:cNvSpPr/>
                <p:nvPr/>
              </p:nvSpPr>
              <p:spPr>
                <a:xfrm>
                  <a:off x="454819" y="51839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234" name="Freeform 234"/>
                <p:cNvSpPr/>
                <p:nvPr/>
              </p:nvSpPr>
              <p:spPr>
                <a:xfrm>
                  <a:off x="440531" y="52697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235" name="Freeform 235"/>
                <p:cNvSpPr/>
                <p:nvPr/>
              </p:nvSpPr>
              <p:spPr>
                <a:xfrm>
                  <a:off x="533400" y="51849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236" name="Freeform 236"/>
                <p:cNvSpPr/>
                <p:nvPr/>
              </p:nvSpPr>
              <p:spPr>
                <a:xfrm>
                  <a:off x="547688" y="527077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238" name="Ellipse 238"/>
              <p:cNvSpPr/>
              <p:nvPr/>
            </p:nvSpPr>
            <p:spPr>
              <a:xfrm>
                <a:off x="638175" y="5162550"/>
                <a:ext cx="171450" cy="171450"/>
              </a:xfrm>
              <a:prstGeom prst="ellipse">
                <a:avLst/>
              </a:prstGeom>
              <a:solidFill>
                <a:srgbClr val="FFFFFF"/>
              </a:solidFill>
              <a:ln>
                <a:noFill/>
              </a:ln>
            </p:spPr>
          </p:sp>
          <p:sp>
            <p:nvSpPr>
              <p:cNvPr id="239" name="TextBox 239"/>
              <p:cNvSpPr txBox="1"/>
              <p:nvPr/>
            </p:nvSpPr>
            <p:spPr>
              <a:xfrm>
                <a:off x="639840" y="5213509"/>
                <a:ext cx="168121" cy="133350"/>
              </a:xfrm>
              <a:prstGeom prst="rect">
                <a:avLst/>
              </a:prstGeom>
              <a:noFill/>
              <a:ln>
                <a:noFill/>
              </a:ln>
            </p:spPr>
            <p:txBody>
              <a:bodyPr wrap="none" lIns="0" tIns="0" rIns="0" bIns="0" anchor="t" anchorCtr="0">
                <a:spAutoFit/>
              </a:bodyPr>
              <a:lstStyle/>
              <a:p>
                <a:pPr algn="ctr"/>
                <a:r>
                  <a:rPr lang="zh-CN" sz="680" b="1" dirty="0">
                    <a:solidFill>
                      <a:srgbClr val="5B180B"/>
                    </a:solidFill>
                    <a:latin typeface="+mn-lt"/>
                    <a:ea typeface="+mn-ea"/>
                    <a:cs typeface="+mn-cs"/>
                  </a:rPr>
                  <a:t>01​</a:t>
                </a:r>
              </a:p>
            </p:txBody>
          </p:sp>
          <p:sp>
            <p:nvSpPr>
              <p:cNvPr id="240" name="TextBox 240"/>
              <p:cNvSpPr txBox="1"/>
              <p:nvPr/>
            </p:nvSpPr>
            <p:spPr>
              <a:xfrm>
                <a:off x="871538" y="5205412"/>
                <a:ext cx="203204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活动前：名单准备与策略制定</a:t>
                </a:r>
                <a:r>
                  <a:rPr lang="zh-CN" sz="600" dirty="0">
                    <a:solidFill>
                      <a:srgbClr val="BFDDD6"/>
                    </a:solidFill>
                    <a:latin typeface="+mn-lt"/>
                    <a:ea typeface="+mn-ea"/>
                    <a:cs typeface="+mn-cs"/>
                  </a:rPr>
                  <a:t>（T-2周~T-1天）</a:t>
                </a:r>
                <a:r>
                  <a:rPr lang="zh-CN" sz="750" b="1" dirty="0">
                    <a:solidFill>
                      <a:srgbClr val="FFFFFF"/>
                    </a:solidFill>
                    <a:latin typeface="+mn-lt"/>
                    <a:ea typeface="+mn-ea"/>
                    <a:cs typeface="+mn-cs"/>
                  </a:rPr>
                  <a:t>​</a:t>
                </a:r>
              </a:p>
            </p:txBody>
          </p:sp>
          <p:grpSp>
            <p:nvGrpSpPr>
              <p:cNvPr id="257" name="Group 257"/>
              <p:cNvGrpSpPr/>
              <p:nvPr/>
            </p:nvGrpSpPr>
            <p:grpSpPr>
              <a:xfrm>
                <a:off x="432197" y="5499259"/>
                <a:ext cx="1933704" cy="762000"/>
                <a:chOff x="432197" y="5499259"/>
                <a:chExt cx="1933704" cy="762000"/>
              </a:xfrm>
            </p:grpSpPr>
            <p:grpSp>
              <p:nvGrpSpPr>
                <p:cNvPr id="243" name="Group 243"/>
                <p:cNvGrpSpPr/>
                <p:nvPr/>
              </p:nvGrpSpPr>
              <p:grpSpPr>
                <a:xfrm>
                  <a:off x="432197" y="5499497"/>
                  <a:ext cx="78581" cy="78581"/>
                  <a:chOff x="432197" y="5499497"/>
                  <a:chExt cx="78581" cy="78581"/>
                </a:xfrm>
              </p:grpSpPr>
              <p:sp>
                <p:nvSpPr>
                  <p:cNvPr id="241" name="Freeform 241"/>
                  <p:cNvSpPr/>
                  <p:nvPr/>
                </p:nvSpPr>
                <p:spPr>
                  <a:xfrm>
                    <a:off x="432197" y="54994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42" name="Freeform 242"/>
                  <p:cNvSpPr/>
                  <p:nvPr/>
                </p:nvSpPr>
                <p:spPr>
                  <a:xfrm>
                    <a:off x="458391" y="55300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44" name="TextBox 244"/>
                <p:cNvSpPr txBox="1"/>
                <p:nvPr/>
              </p:nvSpPr>
              <p:spPr>
                <a:xfrm>
                  <a:off x="566738" y="5499259"/>
                  <a:ext cx="170762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目标客群筛选与分层，生成精准营销名单​</a:t>
                  </a:r>
                </a:p>
              </p:txBody>
            </p:sp>
            <p:grpSp>
              <p:nvGrpSpPr>
                <p:cNvPr id="247" name="Group 247"/>
                <p:cNvGrpSpPr/>
                <p:nvPr/>
              </p:nvGrpSpPr>
              <p:grpSpPr>
                <a:xfrm>
                  <a:off x="432197" y="5709047"/>
                  <a:ext cx="78581" cy="78581"/>
                  <a:chOff x="432197" y="5709047"/>
                  <a:chExt cx="78581" cy="78581"/>
                </a:xfrm>
              </p:grpSpPr>
              <p:sp>
                <p:nvSpPr>
                  <p:cNvPr id="245" name="Freeform 245"/>
                  <p:cNvSpPr/>
                  <p:nvPr/>
                </p:nvSpPr>
                <p:spPr>
                  <a:xfrm>
                    <a:off x="432197" y="57090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46" name="Freeform 246"/>
                  <p:cNvSpPr/>
                  <p:nvPr/>
                </p:nvSpPr>
                <p:spPr>
                  <a:xfrm>
                    <a:off x="458391" y="57396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48" name="TextBox 248"/>
                <p:cNvSpPr txBox="1"/>
                <p:nvPr/>
              </p:nvSpPr>
              <p:spPr>
                <a:xfrm>
                  <a:off x="566738" y="5708809"/>
                  <a:ext cx="1799163"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客户标签与需求分析，制定个性化触达策略​</a:t>
                  </a:r>
                </a:p>
              </p:txBody>
            </p:sp>
            <p:grpSp>
              <p:nvGrpSpPr>
                <p:cNvPr id="251" name="Group 251"/>
                <p:cNvGrpSpPr/>
                <p:nvPr/>
              </p:nvGrpSpPr>
              <p:grpSpPr>
                <a:xfrm>
                  <a:off x="432197" y="5918597"/>
                  <a:ext cx="78581" cy="78581"/>
                  <a:chOff x="432197" y="5918597"/>
                  <a:chExt cx="78581" cy="78581"/>
                </a:xfrm>
              </p:grpSpPr>
              <p:sp>
                <p:nvSpPr>
                  <p:cNvPr id="249" name="Freeform 249"/>
                  <p:cNvSpPr/>
                  <p:nvPr/>
                </p:nvSpPr>
                <p:spPr>
                  <a:xfrm>
                    <a:off x="432197" y="59185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50" name="Freeform 250"/>
                  <p:cNvSpPr/>
                  <p:nvPr/>
                </p:nvSpPr>
                <p:spPr>
                  <a:xfrm>
                    <a:off x="458391" y="59491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52" name="TextBox 252"/>
                <p:cNvSpPr txBox="1"/>
                <p:nvPr/>
              </p:nvSpPr>
              <p:spPr>
                <a:xfrm>
                  <a:off x="566738" y="5918359"/>
                  <a:ext cx="1432997"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物料、权益、话术及系统配置准备​</a:t>
                  </a:r>
                </a:p>
              </p:txBody>
            </p:sp>
            <p:grpSp>
              <p:nvGrpSpPr>
                <p:cNvPr id="255" name="Group 255"/>
                <p:cNvGrpSpPr/>
                <p:nvPr/>
              </p:nvGrpSpPr>
              <p:grpSpPr>
                <a:xfrm>
                  <a:off x="432197" y="6128147"/>
                  <a:ext cx="78581" cy="78581"/>
                  <a:chOff x="432197" y="6128147"/>
                  <a:chExt cx="78581" cy="78581"/>
                </a:xfrm>
              </p:grpSpPr>
              <p:sp>
                <p:nvSpPr>
                  <p:cNvPr id="253" name="Freeform 253"/>
                  <p:cNvSpPr/>
                  <p:nvPr/>
                </p:nvSpPr>
                <p:spPr>
                  <a:xfrm>
                    <a:off x="432197" y="61281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54" name="Freeform 254"/>
                  <p:cNvSpPr/>
                  <p:nvPr/>
                </p:nvSpPr>
                <p:spPr>
                  <a:xfrm>
                    <a:off x="458391" y="61587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56" name="TextBox 256"/>
                <p:cNvSpPr txBox="1"/>
                <p:nvPr/>
              </p:nvSpPr>
              <p:spPr>
                <a:xfrm>
                  <a:off x="566738" y="6127909"/>
                  <a:ext cx="1568409"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渠道排期与人员培训，明确KPI与分工​</a:t>
                  </a:r>
                </a:p>
              </p:txBody>
            </p:sp>
          </p:grpSp>
        </p:grpSp>
        <p:sp>
          <p:nvSpPr>
            <p:cNvPr id="259" name="Freeform 259"/>
            <p:cNvSpPr/>
            <p:nvPr/>
          </p:nvSpPr>
          <p:spPr>
            <a:xfrm>
              <a:off x="3695700" y="5219700"/>
              <a:ext cx="95250" cy="133350"/>
            </a:xfrm>
            <a:prstGeom prst="rightArrow">
              <a:avLst/>
            </a:prstGeom>
            <a:solidFill>
              <a:srgbClr val="C9988F"/>
            </a:solidFill>
            <a:ln>
              <a:noFill/>
            </a:ln>
          </p:spPr>
        </p:sp>
        <p:grpSp>
          <p:nvGrpSpPr>
            <p:cNvPr id="286" name="stage-2"/>
            <p:cNvGrpSpPr/>
            <p:nvPr/>
          </p:nvGrpSpPr>
          <p:grpSpPr>
            <a:xfrm>
              <a:off x="3790950" y="5105400"/>
              <a:ext cx="3295650" cy="1155859"/>
              <a:chOff x="3790950" y="5105400"/>
              <a:chExt cx="3295650" cy="1155859"/>
            </a:xfrm>
          </p:grpSpPr>
          <p:sp>
            <p:nvSpPr>
              <p:cNvPr id="260" name="Rectangle 260"/>
              <p:cNvSpPr/>
              <p:nvPr/>
            </p:nvSpPr>
            <p:spPr>
              <a:xfrm>
                <a:off x="3790950" y="5105400"/>
                <a:ext cx="3295650" cy="285750"/>
              </a:xfrm>
              <a:prstGeom prst="roundRect">
                <a:avLst>
                  <a:gd name="adj" fmla="val 16667"/>
                </a:avLst>
              </a:prstGeom>
              <a:solidFill>
                <a:srgbClr val="722617"/>
              </a:solidFill>
              <a:ln>
                <a:noFill/>
              </a:ln>
            </p:spPr>
          </p:sp>
          <p:grpSp>
            <p:nvGrpSpPr>
              <p:cNvPr id="265" name="Group 265"/>
              <p:cNvGrpSpPr/>
              <p:nvPr/>
            </p:nvGrpSpPr>
            <p:grpSpPr>
              <a:xfrm>
                <a:off x="3888581" y="5191125"/>
                <a:ext cx="128587" cy="123825"/>
                <a:chOff x="3888581" y="5191125"/>
                <a:chExt cx="128587" cy="123825"/>
              </a:xfrm>
            </p:grpSpPr>
            <p:sp>
              <p:nvSpPr>
                <p:cNvPr id="261" name="Freeform 261"/>
                <p:cNvSpPr/>
                <p:nvPr/>
              </p:nvSpPr>
              <p:spPr>
                <a:xfrm>
                  <a:off x="3888581" y="524827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FFFFFF"/>
                  </a:solidFill>
                </a:ln>
              </p:spPr>
            </p:sp>
            <p:sp>
              <p:nvSpPr>
                <p:cNvPr id="262" name="Freeform 262"/>
                <p:cNvSpPr/>
                <p:nvPr/>
              </p:nvSpPr>
              <p:spPr>
                <a:xfrm>
                  <a:off x="3974306" y="521970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FFFFFF"/>
                  </a:solidFill>
                </a:ln>
              </p:spPr>
            </p:sp>
            <p:sp>
              <p:nvSpPr>
                <p:cNvPr id="263" name="Freeform 263"/>
                <p:cNvSpPr/>
                <p:nvPr/>
              </p:nvSpPr>
              <p:spPr>
                <a:xfrm>
                  <a:off x="3931444" y="519112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FFFFFF"/>
                  </a:solidFill>
                </a:ln>
              </p:spPr>
            </p:sp>
            <p:sp>
              <p:nvSpPr>
                <p:cNvPr id="264" name="Freeform 264"/>
                <p:cNvSpPr/>
                <p:nvPr/>
              </p:nvSpPr>
              <p:spPr>
                <a:xfrm>
                  <a:off x="3895725" y="5305425"/>
                  <a:ext cx="100012" cy="9525"/>
                </a:xfrm>
                <a:custGeom>
                  <a:avLst/>
                  <a:gdLst/>
                  <a:ahLst/>
                  <a:cxnLst/>
                  <a:rect l="l" t="t" r="r" b="b"/>
                  <a:pathLst>
                    <a:path w="100012" h="9525">
                      <a:moveTo>
                        <a:pt x="0" y="0"/>
                      </a:moveTo>
                      <a:lnTo>
                        <a:pt x="100012" y="0"/>
                      </a:lnTo>
                    </a:path>
                  </a:pathLst>
                </a:custGeom>
                <a:noFill/>
                <a:ln w="14288">
                  <a:solidFill>
                    <a:srgbClr val="FFFFFF"/>
                  </a:solidFill>
                </a:ln>
              </p:spPr>
            </p:sp>
          </p:grpSp>
          <p:sp>
            <p:nvSpPr>
              <p:cNvPr id="266" name="Ellipse 266"/>
              <p:cNvSpPr/>
              <p:nvPr/>
            </p:nvSpPr>
            <p:spPr>
              <a:xfrm>
                <a:off x="4086225" y="5162550"/>
                <a:ext cx="171450" cy="171450"/>
              </a:xfrm>
              <a:prstGeom prst="ellipse">
                <a:avLst/>
              </a:prstGeom>
              <a:solidFill>
                <a:srgbClr val="FFFFFF"/>
              </a:solidFill>
              <a:ln>
                <a:noFill/>
              </a:ln>
            </p:spPr>
          </p:sp>
          <p:sp>
            <p:nvSpPr>
              <p:cNvPr id="267" name="TextBox 267"/>
              <p:cNvSpPr txBox="1"/>
              <p:nvPr/>
            </p:nvSpPr>
            <p:spPr>
              <a:xfrm>
                <a:off x="4087890" y="5213509"/>
                <a:ext cx="168121" cy="133350"/>
              </a:xfrm>
              <a:prstGeom prst="rect">
                <a:avLst/>
              </a:prstGeom>
              <a:noFill/>
              <a:ln>
                <a:noFill/>
              </a:ln>
            </p:spPr>
            <p:txBody>
              <a:bodyPr wrap="none" lIns="0" tIns="0" rIns="0" bIns="0" anchor="t" anchorCtr="0">
                <a:spAutoFit/>
              </a:bodyPr>
              <a:lstStyle/>
              <a:p>
                <a:pPr algn="ctr"/>
                <a:r>
                  <a:rPr lang="zh-CN" sz="680" b="1" dirty="0">
                    <a:solidFill>
                      <a:srgbClr val="722617"/>
                    </a:solidFill>
                    <a:latin typeface="+mn-lt"/>
                    <a:ea typeface="+mn-ea"/>
                    <a:cs typeface="+mn-cs"/>
                  </a:rPr>
                  <a:t>02​</a:t>
                </a:r>
              </a:p>
            </p:txBody>
          </p:sp>
          <p:sp>
            <p:nvSpPr>
              <p:cNvPr id="268" name="TextBox 268"/>
              <p:cNvSpPr txBox="1"/>
              <p:nvPr/>
            </p:nvSpPr>
            <p:spPr>
              <a:xfrm>
                <a:off x="4319588" y="5205412"/>
                <a:ext cx="1784237"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活动中：客户触达与承接转化</a:t>
                </a:r>
                <a:r>
                  <a:rPr lang="zh-CN" sz="600" dirty="0">
                    <a:solidFill>
                      <a:srgbClr val="BFDDD6"/>
                    </a:solidFill>
                    <a:latin typeface="+mn-lt"/>
                    <a:ea typeface="+mn-ea"/>
                    <a:cs typeface="+mn-cs"/>
                  </a:rPr>
                  <a:t>（活动期）</a:t>
                </a:r>
                <a:r>
                  <a:rPr lang="zh-CN" sz="750" b="1" dirty="0">
                    <a:solidFill>
                      <a:srgbClr val="FFFFFF"/>
                    </a:solidFill>
                    <a:latin typeface="+mn-lt"/>
                    <a:ea typeface="+mn-ea"/>
                    <a:cs typeface="+mn-cs"/>
                  </a:rPr>
                  <a:t>​</a:t>
                </a:r>
              </a:p>
            </p:txBody>
          </p:sp>
          <p:grpSp>
            <p:nvGrpSpPr>
              <p:cNvPr id="285" name="Group 285"/>
              <p:cNvGrpSpPr/>
              <p:nvPr/>
            </p:nvGrpSpPr>
            <p:grpSpPr>
              <a:xfrm>
                <a:off x="3880247" y="5499259"/>
                <a:ext cx="1934222" cy="762000"/>
                <a:chOff x="3880247" y="5499259"/>
                <a:chExt cx="1934222" cy="762000"/>
              </a:xfrm>
            </p:grpSpPr>
            <p:grpSp>
              <p:nvGrpSpPr>
                <p:cNvPr id="271" name="Group 271"/>
                <p:cNvGrpSpPr/>
                <p:nvPr/>
              </p:nvGrpSpPr>
              <p:grpSpPr>
                <a:xfrm>
                  <a:off x="3880247" y="5499497"/>
                  <a:ext cx="78581" cy="78581"/>
                  <a:chOff x="3880247" y="5499497"/>
                  <a:chExt cx="78581" cy="78581"/>
                </a:xfrm>
              </p:grpSpPr>
              <p:sp>
                <p:nvSpPr>
                  <p:cNvPr id="269" name="Freeform 269"/>
                  <p:cNvSpPr/>
                  <p:nvPr/>
                </p:nvSpPr>
                <p:spPr>
                  <a:xfrm>
                    <a:off x="3880247" y="54994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70" name="Freeform 270"/>
                  <p:cNvSpPr/>
                  <p:nvPr/>
                </p:nvSpPr>
                <p:spPr>
                  <a:xfrm>
                    <a:off x="3906441" y="55300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72" name="TextBox 272"/>
                <p:cNvSpPr txBox="1"/>
                <p:nvPr/>
              </p:nvSpPr>
              <p:spPr>
                <a:xfrm>
                  <a:off x="4014788" y="5499259"/>
                  <a:ext cx="1799681"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多渠道触达（短信/APP/电话/网点/外拓）​</a:t>
                  </a:r>
                </a:p>
              </p:txBody>
            </p:sp>
            <p:grpSp>
              <p:nvGrpSpPr>
                <p:cNvPr id="275" name="Group 275"/>
                <p:cNvGrpSpPr/>
                <p:nvPr/>
              </p:nvGrpSpPr>
              <p:grpSpPr>
                <a:xfrm>
                  <a:off x="3880247" y="5709047"/>
                  <a:ext cx="78581" cy="78581"/>
                  <a:chOff x="3880247" y="5709047"/>
                  <a:chExt cx="78581" cy="78581"/>
                </a:xfrm>
              </p:grpSpPr>
              <p:sp>
                <p:nvSpPr>
                  <p:cNvPr id="273" name="Freeform 273"/>
                  <p:cNvSpPr/>
                  <p:nvPr/>
                </p:nvSpPr>
                <p:spPr>
                  <a:xfrm>
                    <a:off x="3880247" y="57090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74" name="Freeform 274"/>
                  <p:cNvSpPr/>
                  <p:nvPr/>
                </p:nvSpPr>
                <p:spPr>
                  <a:xfrm>
                    <a:off x="3906441" y="57396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76" name="TextBox 276"/>
                <p:cNvSpPr txBox="1"/>
                <p:nvPr/>
              </p:nvSpPr>
              <p:spPr>
                <a:xfrm>
                  <a:off x="4014788" y="5708809"/>
                  <a:ext cx="1341455"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到店客户接待与承接，专业讲解​</a:t>
                  </a:r>
                </a:p>
              </p:txBody>
            </p:sp>
            <p:grpSp>
              <p:nvGrpSpPr>
                <p:cNvPr id="279" name="Group 279"/>
                <p:cNvGrpSpPr/>
                <p:nvPr/>
              </p:nvGrpSpPr>
              <p:grpSpPr>
                <a:xfrm>
                  <a:off x="3880247" y="5918597"/>
                  <a:ext cx="78581" cy="78581"/>
                  <a:chOff x="3880247" y="5918597"/>
                  <a:chExt cx="78581" cy="78581"/>
                </a:xfrm>
              </p:grpSpPr>
              <p:sp>
                <p:nvSpPr>
                  <p:cNvPr id="277" name="Freeform 277"/>
                  <p:cNvSpPr/>
                  <p:nvPr/>
                </p:nvSpPr>
                <p:spPr>
                  <a:xfrm>
                    <a:off x="3880247" y="59185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78" name="Freeform 278"/>
                  <p:cNvSpPr/>
                  <p:nvPr/>
                </p:nvSpPr>
                <p:spPr>
                  <a:xfrm>
                    <a:off x="3906441" y="59491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80" name="TextBox 280"/>
                <p:cNvSpPr txBox="1"/>
                <p:nvPr/>
              </p:nvSpPr>
              <p:spPr>
                <a:xfrm>
                  <a:off x="4014788" y="5918359"/>
                  <a:ext cx="1524538"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产品匹配与方案推荐，促进当场转化​</a:t>
                  </a:r>
                </a:p>
              </p:txBody>
            </p:sp>
            <p:grpSp>
              <p:nvGrpSpPr>
                <p:cNvPr id="283" name="Group 283"/>
                <p:cNvGrpSpPr/>
                <p:nvPr/>
              </p:nvGrpSpPr>
              <p:grpSpPr>
                <a:xfrm>
                  <a:off x="3880247" y="6128147"/>
                  <a:ext cx="78581" cy="78581"/>
                  <a:chOff x="3880247" y="6128147"/>
                  <a:chExt cx="78581" cy="78581"/>
                </a:xfrm>
              </p:grpSpPr>
              <p:sp>
                <p:nvSpPr>
                  <p:cNvPr id="281" name="Freeform 281"/>
                  <p:cNvSpPr/>
                  <p:nvPr/>
                </p:nvSpPr>
                <p:spPr>
                  <a:xfrm>
                    <a:off x="3880247" y="61281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82" name="Freeform 282"/>
                  <p:cNvSpPr/>
                  <p:nvPr/>
                </p:nvSpPr>
                <p:spPr>
                  <a:xfrm>
                    <a:off x="3906441" y="61587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84" name="TextBox 284"/>
                <p:cNvSpPr txBox="1"/>
                <p:nvPr/>
              </p:nvSpPr>
              <p:spPr>
                <a:xfrm>
                  <a:off x="4014788" y="6127909"/>
                  <a:ext cx="1524538"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实时监控进度，动态调整资源与策略​</a:t>
                  </a:r>
                </a:p>
              </p:txBody>
            </p:sp>
          </p:grpSp>
        </p:grpSp>
        <p:sp>
          <p:nvSpPr>
            <p:cNvPr id="287" name="Freeform 287"/>
            <p:cNvSpPr/>
            <p:nvPr/>
          </p:nvSpPr>
          <p:spPr>
            <a:xfrm>
              <a:off x="7143750" y="5219700"/>
              <a:ext cx="95250" cy="133350"/>
            </a:xfrm>
            <a:prstGeom prst="rightArrow">
              <a:avLst/>
            </a:prstGeom>
            <a:solidFill>
              <a:srgbClr val="C9988F"/>
            </a:solidFill>
            <a:ln>
              <a:noFill/>
            </a:ln>
          </p:spPr>
        </p:sp>
        <p:grpSp>
          <p:nvGrpSpPr>
            <p:cNvPr id="313" name="stage-3"/>
            <p:cNvGrpSpPr/>
            <p:nvPr/>
          </p:nvGrpSpPr>
          <p:grpSpPr>
            <a:xfrm>
              <a:off x="7239000" y="5105400"/>
              <a:ext cx="3295650" cy="1155859"/>
              <a:chOff x="7239000" y="5105400"/>
              <a:chExt cx="3295650" cy="1155859"/>
            </a:xfrm>
          </p:grpSpPr>
          <p:sp>
            <p:nvSpPr>
              <p:cNvPr id="288" name="Rectangle 288"/>
              <p:cNvSpPr/>
              <p:nvPr/>
            </p:nvSpPr>
            <p:spPr>
              <a:xfrm>
                <a:off x="7239000" y="5105400"/>
                <a:ext cx="3295650" cy="285750"/>
              </a:xfrm>
              <a:prstGeom prst="roundRect">
                <a:avLst>
                  <a:gd name="adj" fmla="val 16667"/>
                </a:avLst>
              </a:prstGeom>
              <a:solidFill>
                <a:srgbClr val="9A412F"/>
              </a:solidFill>
              <a:ln>
                <a:noFill/>
              </a:ln>
            </p:spPr>
          </p:sp>
          <p:grpSp>
            <p:nvGrpSpPr>
              <p:cNvPr id="292" name="Group 292"/>
              <p:cNvGrpSpPr/>
              <p:nvPr/>
            </p:nvGrpSpPr>
            <p:grpSpPr>
              <a:xfrm>
                <a:off x="7336631" y="5183981"/>
                <a:ext cx="128588" cy="128588"/>
                <a:chOff x="7336631" y="5183981"/>
                <a:chExt cx="128588" cy="128588"/>
              </a:xfrm>
            </p:grpSpPr>
            <p:sp>
              <p:nvSpPr>
                <p:cNvPr id="289" name="Freeform 289"/>
                <p:cNvSpPr/>
                <p:nvPr/>
              </p:nvSpPr>
              <p:spPr>
                <a:xfrm>
                  <a:off x="7393781" y="52411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290" name="Freeform 290"/>
                <p:cNvSpPr/>
                <p:nvPr/>
              </p:nvSpPr>
              <p:spPr>
                <a:xfrm>
                  <a:off x="7365206" y="521255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291" name="Freeform 291"/>
                <p:cNvSpPr/>
                <p:nvPr/>
              </p:nvSpPr>
              <p:spPr>
                <a:xfrm>
                  <a:off x="7336631" y="51839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293" name="Ellipse 293"/>
              <p:cNvSpPr/>
              <p:nvPr/>
            </p:nvSpPr>
            <p:spPr>
              <a:xfrm>
                <a:off x="7534275" y="5162550"/>
                <a:ext cx="171450" cy="171450"/>
              </a:xfrm>
              <a:prstGeom prst="ellipse">
                <a:avLst/>
              </a:prstGeom>
              <a:solidFill>
                <a:srgbClr val="FFFFFF"/>
              </a:solidFill>
              <a:ln>
                <a:noFill/>
              </a:ln>
            </p:spPr>
          </p:sp>
          <p:sp>
            <p:nvSpPr>
              <p:cNvPr id="294" name="TextBox 294"/>
              <p:cNvSpPr txBox="1"/>
              <p:nvPr/>
            </p:nvSpPr>
            <p:spPr>
              <a:xfrm>
                <a:off x="7535940" y="5213509"/>
                <a:ext cx="168121" cy="133350"/>
              </a:xfrm>
              <a:prstGeom prst="rect">
                <a:avLst/>
              </a:prstGeom>
              <a:noFill/>
              <a:ln>
                <a:noFill/>
              </a:ln>
            </p:spPr>
            <p:txBody>
              <a:bodyPr wrap="none" lIns="0" tIns="0" rIns="0" bIns="0" anchor="t" anchorCtr="0">
                <a:spAutoFit/>
              </a:bodyPr>
              <a:lstStyle/>
              <a:p>
                <a:pPr algn="ctr"/>
                <a:r>
                  <a:rPr lang="zh-CN" sz="680" b="1" dirty="0">
                    <a:solidFill>
                      <a:srgbClr val="9A412F"/>
                    </a:solidFill>
                    <a:latin typeface="+mn-lt"/>
                    <a:ea typeface="+mn-ea"/>
                    <a:cs typeface="+mn-cs"/>
                  </a:rPr>
                  <a:t>03​</a:t>
                </a:r>
              </a:p>
            </p:txBody>
          </p:sp>
          <p:sp>
            <p:nvSpPr>
              <p:cNvPr id="295" name="TextBox 295"/>
              <p:cNvSpPr txBox="1"/>
              <p:nvPr/>
            </p:nvSpPr>
            <p:spPr>
              <a:xfrm>
                <a:off x="7767638" y="5205412"/>
                <a:ext cx="1844283"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活动后：效果跟踪与客户提升</a:t>
                </a:r>
                <a:r>
                  <a:rPr lang="zh-CN" sz="600" dirty="0">
                    <a:solidFill>
                      <a:srgbClr val="DFF0EB"/>
                    </a:solidFill>
                    <a:latin typeface="+mn-lt"/>
                    <a:ea typeface="+mn-ea"/>
                    <a:cs typeface="+mn-cs"/>
                  </a:rPr>
                  <a:t>（T+1天起）</a:t>
                </a:r>
                <a:r>
                  <a:rPr lang="zh-CN" sz="750" b="1" dirty="0">
                    <a:solidFill>
                      <a:srgbClr val="FFFFFF"/>
                    </a:solidFill>
                    <a:latin typeface="+mn-lt"/>
                    <a:ea typeface="+mn-ea"/>
                    <a:cs typeface="+mn-cs"/>
                  </a:rPr>
                  <a:t>​</a:t>
                </a:r>
              </a:p>
            </p:txBody>
          </p:sp>
          <p:grpSp>
            <p:nvGrpSpPr>
              <p:cNvPr id="312" name="Group 312"/>
              <p:cNvGrpSpPr/>
              <p:nvPr/>
            </p:nvGrpSpPr>
            <p:grpSpPr>
              <a:xfrm>
                <a:off x="7328297" y="5499259"/>
                <a:ext cx="1659079" cy="762000"/>
                <a:chOff x="7328297" y="5499259"/>
                <a:chExt cx="1659079" cy="762000"/>
              </a:xfrm>
            </p:grpSpPr>
            <p:grpSp>
              <p:nvGrpSpPr>
                <p:cNvPr id="298" name="Group 298"/>
                <p:cNvGrpSpPr/>
                <p:nvPr/>
              </p:nvGrpSpPr>
              <p:grpSpPr>
                <a:xfrm>
                  <a:off x="7328297" y="5499497"/>
                  <a:ext cx="78581" cy="78581"/>
                  <a:chOff x="7328297" y="5499497"/>
                  <a:chExt cx="78581" cy="78581"/>
                </a:xfrm>
              </p:grpSpPr>
              <p:sp>
                <p:nvSpPr>
                  <p:cNvPr id="296" name="Freeform 296"/>
                  <p:cNvSpPr/>
                  <p:nvPr/>
                </p:nvSpPr>
                <p:spPr>
                  <a:xfrm>
                    <a:off x="7328297" y="54994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297" name="Freeform 297"/>
                  <p:cNvSpPr/>
                  <p:nvPr/>
                </p:nvSpPr>
                <p:spPr>
                  <a:xfrm>
                    <a:off x="7354491" y="55300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299" name="TextBox 299"/>
                <p:cNvSpPr txBox="1"/>
                <p:nvPr/>
              </p:nvSpPr>
              <p:spPr>
                <a:xfrm>
                  <a:off x="7462838" y="5499259"/>
                  <a:ext cx="1158372"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转化客户回访与满意度调查​</a:t>
                  </a:r>
                </a:p>
              </p:txBody>
            </p:sp>
            <p:grpSp>
              <p:nvGrpSpPr>
                <p:cNvPr id="302" name="Group 302"/>
                <p:cNvGrpSpPr/>
                <p:nvPr/>
              </p:nvGrpSpPr>
              <p:grpSpPr>
                <a:xfrm>
                  <a:off x="7328297" y="5709047"/>
                  <a:ext cx="78581" cy="78581"/>
                  <a:chOff x="7328297" y="5709047"/>
                  <a:chExt cx="78581" cy="78581"/>
                </a:xfrm>
              </p:grpSpPr>
              <p:sp>
                <p:nvSpPr>
                  <p:cNvPr id="300" name="Freeform 300"/>
                  <p:cNvSpPr/>
                  <p:nvPr/>
                </p:nvSpPr>
                <p:spPr>
                  <a:xfrm>
                    <a:off x="7328297" y="57090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01" name="Freeform 301"/>
                  <p:cNvSpPr/>
                  <p:nvPr/>
                </p:nvSpPr>
                <p:spPr>
                  <a:xfrm>
                    <a:off x="7354491" y="57396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03" name="TextBox 303"/>
                <p:cNvSpPr txBox="1"/>
                <p:nvPr/>
              </p:nvSpPr>
              <p:spPr>
                <a:xfrm>
                  <a:off x="7462838" y="5708809"/>
                  <a:ext cx="1341455"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未转化客户二次触达与持续跟进​</a:t>
                  </a:r>
                </a:p>
              </p:txBody>
            </p:sp>
            <p:grpSp>
              <p:nvGrpSpPr>
                <p:cNvPr id="306" name="Group 306"/>
                <p:cNvGrpSpPr/>
                <p:nvPr/>
              </p:nvGrpSpPr>
              <p:grpSpPr>
                <a:xfrm>
                  <a:off x="7328297" y="5918597"/>
                  <a:ext cx="78581" cy="78581"/>
                  <a:chOff x="7328297" y="5918597"/>
                  <a:chExt cx="78581" cy="78581"/>
                </a:xfrm>
              </p:grpSpPr>
              <p:sp>
                <p:nvSpPr>
                  <p:cNvPr id="304" name="Freeform 304"/>
                  <p:cNvSpPr/>
                  <p:nvPr/>
                </p:nvSpPr>
                <p:spPr>
                  <a:xfrm>
                    <a:off x="7328297" y="591859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05" name="Freeform 305"/>
                  <p:cNvSpPr/>
                  <p:nvPr/>
                </p:nvSpPr>
                <p:spPr>
                  <a:xfrm>
                    <a:off x="7354491" y="594915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07" name="TextBox 307"/>
                <p:cNvSpPr txBox="1"/>
                <p:nvPr/>
              </p:nvSpPr>
              <p:spPr>
                <a:xfrm>
                  <a:off x="7462838" y="5918359"/>
                  <a:ext cx="1432997"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客户分层管理，纳入日常经营体系​</a:t>
                  </a:r>
                </a:p>
              </p:txBody>
            </p:sp>
            <p:grpSp>
              <p:nvGrpSpPr>
                <p:cNvPr id="310" name="Group 310"/>
                <p:cNvGrpSpPr/>
                <p:nvPr/>
              </p:nvGrpSpPr>
              <p:grpSpPr>
                <a:xfrm>
                  <a:off x="7328297" y="6128147"/>
                  <a:ext cx="78581" cy="78581"/>
                  <a:chOff x="7328297" y="6128147"/>
                  <a:chExt cx="78581" cy="78581"/>
                </a:xfrm>
              </p:grpSpPr>
              <p:sp>
                <p:nvSpPr>
                  <p:cNvPr id="308" name="Freeform 308"/>
                  <p:cNvSpPr/>
                  <p:nvPr/>
                </p:nvSpPr>
                <p:spPr>
                  <a:xfrm>
                    <a:off x="7328297" y="6128147"/>
                    <a:ext cx="78581" cy="78581"/>
                  </a:xfrm>
                  <a:custGeom>
                    <a:avLst/>
                    <a:gdLst/>
                    <a:ahLst/>
                    <a:cxnLst/>
                    <a:rect l="l" t="t" r="r" b="b"/>
                    <a:pathLst>
                      <a:path w="78581" h="78581">
                        <a:moveTo>
                          <a:pt x="0" y="39291"/>
                        </a:moveTo>
                        <a:cubicBezTo>
                          <a:pt x="0" y="60990"/>
                          <a:pt x="17591" y="78581"/>
                          <a:pt x="39291" y="78581"/>
                        </a:cubicBezTo>
                        <a:cubicBezTo>
                          <a:pt x="60990" y="78581"/>
                          <a:pt x="78581" y="60990"/>
                          <a:pt x="78581" y="39291"/>
                        </a:cubicBezTo>
                        <a:cubicBezTo>
                          <a:pt x="78581" y="17591"/>
                          <a:pt x="60990" y="0"/>
                          <a:pt x="39291" y="0"/>
                        </a:cubicBezTo>
                        <a:cubicBezTo>
                          <a:pt x="17591" y="0"/>
                          <a:pt x="0" y="17591"/>
                          <a:pt x="0" y="39291"/>
                        </a:cubicBezTo>
                      </a:path>
                    </a:pathLst>
                  </a:custGeom>
                  <a:noFill/>
                  <a:ln w="8731">
                    <a:solidFill>
                      <a:srgbClr val="9E402E"/>
                    </a:solidFill>
                  </a:ln>
                </p:spPr>
              </p:sp>
              <p:sp>
                <p:nvSpPr>
                  <p:cNvPr id="309" name="Freeform 309"/>
                  <p:cNvSpPr/>
                  <p:nvPr/>
                </p:nvSpPr>
                <p:spPr>
                  <a:xfrm>
                    <a:off x="7354491" y="6158706"/>
                    <a:ext cx="26194" cy="17462"/>
                  </a:xfrm>
                  <a:custGeom>
                    <a:avLst/>
                    <a:gdLst/>
                    <a:ahLst/>
                    <a:cxnLst/>
                    <a:rect l="l" t="t" r="r" b="b"/>
                    <a:pathLst>
                      <a:path w="26194" h="17462">
                        <a:moveTo>
                          <a:pt x="0" y="8731"/>
                        </a:moveTo>
                        <a:lnTo>
                          <a:pt x="8731" y="17462"/>
                        </a:lnTo>
                        <a:lnTo>
                          <a:pt x="26194" y="0"/>
                        </a:lnTo>
                      </a:path>
                    </a:pathLst>
                  </a:custGeom>
                  <a:noFill/>
                  <a:ln w="8731">
                    <a:solidFill>
                      <a:srgbClr val="9E402E"/>
                    </a:solidFill>
                  </a:ln>
                </p:spPr>
              </p:sp>
            </p:grpSp>
            <p:sp>
              <p:nvSpPr>
                <p:cNvPr id="311" name="TextBox 311"/>
                <p:cNvSpPr txBox="1"/>
                <p:nvPr/>
              </p:nvSpPr>
              <p:spPr>
                <a:xfrm>
                  <a:off x="7462838" y="6127909"/>
                  <a:ext cx="1524538"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复盘活动效果，沉淀经验与优化建议​</a:t>
                  </a:r>
                </a:p>
              </p:txBody>
            </p:sp>
          </p:grpSp>
        </p:grpSp>
        <p:sp>
          <p:nvSpPr>
            <p:cNvPr id="314" name="Rectangle 314"/>
            <p:cNvSpPr/>
            <p:nvPr/>
          </p:nvSpPr>
          <p:spPr>
            <a:xfrm>
              <a:off x="10687050" y="5105400"/>
              <a:ext cx="1162050" cy="1238250"/>
            </a:xfrm>
            <a:prstGeom prst="roundRect">
              <a:avLst>
                <a:gd name="adj" fmla="val 6557"/>
              </a:avLst>
            </a:prstGeom>
            <a:solidFill>
              <a:srgbClr val="5B180B"/>
            </a:solidFill>
            <a:ln>
              <a:noFill/>
            </a:ln>
          </p:spPr>
        </p:sp>
        <p:grpSp>
          <p:nvGrpSpPr>
            <p:cNvPr id="317" name="Group 317"/>
            <p:cNvGrpSpPr/>
            <p:nvPr/>
          </p:nvGrpSpPr>
          <p:grpSpPr>
            <a:xfrm>
              <a:off x="11153775" y="5384800"/>
              <a:ext cx="228600" cy="127000"/>
              <a:chOff x="11153775" y="5384800"/>
              <a:chExt cx="228600" cy="127000"/>
            </a:xfrm>
          </p:grpSpPr>
          <p:sp>
            <p:nvSpPr>
              <p:cNvPr id="315" name="Freeform 315"/>
              <p:cNvSpPr/>
              <p:nvPr/>
            </p:nvSpPr>
            <p:spPr>
              <a:xfrm>
                <a:off x="11153775" y="5384800"/>
                <a:ext cx="228599" cy="127000"/>
              </a:xfrm>
              <a:custGeom>
                <a:avLst/>
                <a:gdLst/>
                <a:ahLst/>
                <a:cxnLst/>
                <a:rect l="l" t="t" r="r" b="b"/>
                <a:pathLst>
                  <a:path w="228599" h="127000">
                    <a:moveTo>
                      <a:pt x="0" y="127000"/>
                    </a:moveTo>
                    <a:lnTo>
                      <a:pt x="76200" y="50800"/>
                    </a:lnTo>
                    <a:lnTo>
                      <a:pt x="127000" y="101600"/>
                    </a:lnTo>
                    <a:lnTo>
                      <a:pt x="228599" y="0"/>
                    </a:lnTo>
                  </a:path>
                </a:pathLst>
              </a:custGeom>
              <a:noFill/>
              <a:ln w="25400">
                <a:solidFill>
                  <a:srgbClr val="FFFFFF"/>
                </a:solidFill>
              </a:ln>
            </p:spPr>
          </p:sp>
          <p:sp>
            <p:nvSpPr>
              <p:cNvPr id="316" name="Freeform 316"/>
              <p:cNvSpPr/>
              <p:nvPr/>
            </p:nvSpPr>
            <p:spPr>
              <a:xfrm>
                <a:off x="11293475" y="5384800"/>
                <a:ext cx="88900" cy="88900"/>
              </a:xfrm>
              <a:custGeom>
                <a:avLst/>
                <a:gdLst/>
                <a:ahLst/>
                <a:cxnLst/>
                <a:rect l="l" t="t" r="r" b="b"/>
                <a:pathLst>
                  <a:path w="88900" h="88900">
                    <a:moveTo>
                      <a:pt x="0" y="0"/>
                    </a:moveTo>
                    <a:lnTo>
                      <a:pt x="88900" y="0"/>
                    </a:lnTo>
                    <a:lnTo>
                      <a:pt x="88900" y="88900"/>
                    </a:lnTo>
                  </a:path>
                </a:pathLst>
              </a:custGeom>
              <a:noFill/>
              <a:ln w="25400">
                <a:solidFill>
                  <a:srgbClr val="FFFFFF"/>
                </a:solidFill>
              </a:ln>
            </p:spPr>
          </p:sp>
        </p:grpSp>
        <p:sp>
          <p:nvSpPr>
            <p:cNvPr id="318" name="TextBox 318"/>
            <p:cNvSpPr txBox="1"/>
            <p:nvPr/>
          </p:nvSpPr>
          <p:spPr>
            <a:xfrm>
              <a:off x="10955467" y="5778341"/>
              <a:ext cx="625216"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从活动获客​</a:t>
              </a:r>
            </a:p>
          </p:txBody>
        </p:sp>
        <p:sp>
          <p:nvSpPr>
            <p:cNvPr id="319" name="TextBox 319"/>
            <p:cNvSpPr txBox="1"/>
            <p:nvPr/>
          </p:nvSpPr>
          <p:spPr>
            <a:xfrm>
              <a:off x="10900273" y="5968841"/>
              <a:ext cx="73560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走向长期经营​</a:t>
              </a:r>
            </a:p>
          </p:txBody>
        </p:sp>
      </p:gr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6932059" cy="542925"/>
            <a:chOff x="0" y="0"/>
            <a:chExt cx="6932059"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15​</a:t>
              </a:r>
            </a:p>
          </p:txBody>
        </p:sp>
        <p:sp>
          <p:nvSpPr>
            <p:cNvPr id="4" name="TextBox 4"/>
            <p:cNvSpPr txBox="1"/>
            <p:nvPr/>
          </p:nvSpPr>
          <p:spPr>
            <a:xfrm>
              <a:off x="942594" y="151448"/>
              <a:ext cx="5989465"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队伍作战</a:t>
              </a:r>
              <a:r>
                <a:rPr lang="zh-CN" sz="1950" b="1" dirty="0">
                  <a:solidFill>
                    <a:srgbClr val="5B180B"/>
                  </a:solidFill>
                  <a:latin typeface="+mj-lt"/>
                  <a:ea typeface="+mj-ea"/>
                  <a:cs typeface="+mj-cs"/>
                </a:rPr>
                <a:t xml:space="preserve"> | 五类岗位围绕同一客户清单协同推进</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95" name="org-card"/>
          <p:cNvGrpSpPr/>
          <p:nvPr/>
        </p:nvGrpSpPr>
        <p:grpSpPr>
          <a:xfrm>
            <a:off x="228600" y="666750"/>
            <a:ext cx="2857500" cy="6115050"/>
            <a:chOff x="228600" y="666750"/>
            <a:chExt cx="2857500" cy="6115050"/>
          </a:xfrm>
        </p:grpSpPr>
        <p:sp>
          <p:nvSpPr>
            <p:cNvPr id="7" name="Rectangle 7"/>
            <p:cNvSpPr/>
            <p:nvPr/>
          </p:nvSpPr>
          <p:spPr>
            <a:xfrm>
              <a:off x="228600" y="666750"/>
              <a:ext cx="2857500" cy="6115050"/>
            </a:xfrm>
            <a:prstGeom prst="roundRect">
              <a:avLst>
                <a:gd name="adj" fmla="val 3333"/>
              </a:avLst>
            </a:prstGeom>
            <a:solidFill>
              <a:srgbClr val="F5FAF8"/>
            </a:solidFill>
            <a:ln w="9525">
              <a:solidFill>
                <a:srgbClr val="D9E8E2"/>
              </a:solidFill>
            </a:ln>
          </p:spPr>
        </p:sp>
        <p:sp>
          <p:nvSpPr>
            <p:cNvPr id="8" name="Rectangle 8"/>
            <p:cNvSpPr/>
            <p:nvPr/>
          </p:nvSpPr>
          <p:spPr>
            <a:xfrm>
              <a:off x="228600" y="666750"/>
              <a:ext cx="2190750" cy="228600"/>
            </a:xfrm>
            <a:prstGeom prst="roundRect">
              <a:avLst>
                <a:gd name="adj" fmla="val 16667"/>
              </a:avLst>
            </a:prstGeom>
            <a:solidFill>
              <a:srgbClr val="5B180B"/>
            </a:solidFill>
            <a:ln>
              <a:noFill/>
            </a:ln>
          </p:spPr>
        </p:sp>
        <p:sp>
          <p:nvSpPr>
            <p:cNvPr id="9" name="TextBox 9"/>
            <p:cNvSpPr txBox="1"/>
            <p:nvPr/>
          </p:nvSpPr>
          <p:spPr>
            <a:xfrm>
              <a:off x="338138" y="735568"/>
              <a:ext cx="886796"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网点作战组织图​</a:t>
              </a:r>
            </a:p>
          </p:txBody>
        </p:sp>
        <p:sp>
          <p:nvSpPr>
            <p:cNvPr id="10" name="TextBox 10"/>
            <p:cNvSpPr txBox="1"/>
            <p:nvPr/>
          </p:nvSpPr>
          <p:spPr>
            <a:xfrm>
              <a:off x="1702956" y="763905"/>
              <a:ext cx="1273607" cy="119062"/>
            </a:xfrm>
            <a:prstGeom prst="rect">
              <a:avLst/>
            </a:prstGeom>
            <a:noFill/>
            <a:ln>
              <a:noFill/>
            </a:ln>
          </p:spPr>
          <p:txBody>
            <a:bodyPr wrap="none" lIns="0" tIns="0" rIns="0" bIns="0" anchor="t" anchorCtr="0">
              <a:spAutoFit/>
            </a:bodyPr>
            <a:lstStyle/>
            <a:p>
              <a:pPr algn="r"/>
              <a:r>
                <a:rPr lang="zh-CN" sz="600" dirty="0">
                  <a:solidFill>
                    <a:srgbClr val="8AA39C"/>
                  </a:solidFill>
                  <a:latin typeface="+mn-lt"/>
                  <a:ea typeface="+mn-ea"/>
                  <a:cs typeface="+mn-cs"/>
                </a:rPr>
                <a:t>同一客户清单·五岗协同·全程跟进​</a:t>
              </a:r>
            </a:p>
          </p:txBody>
        </p:sp>
        <p:grpSp>
          <p:nvGrpSpPr>
            <p:cNvPr id="16" name="org-links"/>
            <p:cNvGrpSpPr/>
            <p:nvPr/>
          </p:nvGrpSpPr>
          <p:grpSpPr>
            <a:xfrm>
              <a:off x="914400" y="2038350"/>
              <a:ext cx="1485900" cy="3086100"/>
              <a:chOff x="914400" y="2038350"/>
              <a:chExt cx="1485900" cy="3086100"/>
            </a:xfrm>
          </p:grpSpPr>
          <p:sp>
            <p:nvSpPr>
              <p:cNvPr id="11" name="Line 11"/>
              <p:cNvSpPr/>
              <p:nvPr/>
            </p:nvSpPr>
            <p:spPr>
              <a:xfrm>
                <a:off x="1657350" y="2038350"/>
                <a:ext cx="1" cy="1390650"/>
              </a:xfrm>
              <a:prstGeom prst="line">
                <a:avLst/>
              </a:prstGeom>
              <a:noFill/>
              <a:ln w="14288">
                <a:solidFill>
                  <a:srgbClr val="C9988F"/>
                </a:solidFill>
                <a:headEnd type="triangle" w="lg" len="lg"/>
                <a:tailEnd type="triangle" w="lg" len="lg"/>
              </a:ln>
            </p:spPr>
          </p:sp>
          <p:sp>
            <p:nvSpPr>
              <p:cNvPr id="12" name="Line 12"/>
              <p:cNvSpPr/>
              <p:nvPr/>
            </p:nvSpPr>
            <p:spPr>
              <a:xfrm flipH="1" flipV="1">
                <a:off x="914400" y="3676650"/>
                <a:ext cx="342900" cy="133350"/>
              </a:xfrm>
              <a:prstGeom prst="line">
                <a:avLst/>
              </a:prstGeom>
              <a:noFill/>
              <a:ln w="14288">
                <a:solidFill>
                  <a:srgbClr val="C9988F"/>
                </a:solidFill>
                <a:headEnd type="triangle" w="lg" len="lg"/>
                <a:tailEnd type="triangle" w="lg" len="lg"/>
              </a:ln>
            </p:spPr>
          </p:sp>
          <p:sp>
            <p:nvSpPr>
              <p:cNvPr id="13" name="Line 13"/>
              <p:cNvSpPr/>
              <p:nvPr/>
            </p:nvSpPr>
            <p:spPr>
              <a:xfrm flipV="1">
                <a:off x="2057400" y="3676650"/>
                <a:ext cx="342900" cy="133350"/>
              </a:xfrm>
              <a:prstGeom prst="line">
                <a:avLst/>
              </a:prstGeom>
              <a:noFill/>
              <a:ln w="14288">
                <a:solidFill>
                  <a:srgbClr val="C9988F"/>
                </a:solidFill>
                <a:headEnd type="triangle" w="lg" len="lg"/>
                <a:tailEnd type="triangle" w="lg" len="lg"/>
              </a:ln>
            </p:spPr>
          </p:sp>
          <p:sp>
            <p:nvSpPr>
              <p:cNvPr id="14" name="Line 14"/>
              <p:cNvSpPr/>
              <p:nvPr/>
            </p:nvSpPr>
            <p:spPr>
              <a:xfrm flipH="1">
                <a:off x="1066800" y="4171950"/>
                <a:ext cx="323850" cy="952500"/>
              </a:xfrm>
              <a:prstGeom prst="line">
                <a:avLst/>
              </a:prstGeom>
              <a:noFill/>
              <a:ln w="14288">
                <a:solidFill>
                  <a:srgbClr val="C9988F"/>
                </a:solidFill>
                <a:headEnd type="triangle" w="lg" len="lg"/>
                <a:tailEnd type="triangle" w="lg" len="lg"/>
              </a:ln>
            </p:spPr>
          </p:sp>
          <p:sp>
            <p:nvSpPr>
              <p:cNvPr id="15" name="Line 15"/>
              <p:cNvSpPr/>
              <p:nvPr/>
            </p:nvSpPr>
            <p:spPr>
              <a:xfrm>
                <a:off x="1924050" y="4171950"/>
                <a:ext cx="323850" cy="952500"/>
              </a:xfrm>
              <a:prstGeom prst="line">
                <a:avLst/>
              </a:prstGeom>
              <a:noFill/>
              <a:ln w="14288">
                <a:solidFill>
                  <a:srgbClr val="C9988F"/>
                </a:solidFill>
                <a:headEnd type="triangle" w="lg" len="lg"/>
                <a:tailEnd type="triangle" w="lg" len="lg"/>
              </a:ln>
            </p:spPr>
          </p:sp>
        </p:grpSp>
        <p:grpSp>
          <p:nvGrpSpPr>
            <p:cNvPr id="30" name="org-node-top"/>
            <p:cNvGrpSpPr/>
            <p:nvPr/>
          </p:nvGrpSpPr>
          <p:grpSpPr>
            <a:xfrm>
              <a:off x="1085850" y="1143000"/>
              <a:ext cx="1143000" cy="895350"/>
              <a:chOff x="1085850" y="1143000"/>
              <a:chExt cx="1143000" cy="895350"/>
            </a:xfrm>
          </p:grpSpPr>
          <p:sp>
            <p:nvSpPr>
              <p:cNvPr id="17" name="Rectangle 17"/>
              <p:cNvSpPr/>
              <p:nvPr/>
            </p:nvSpPr>
            <p:spPr>
              <a:xfrm>
                <a:off x="1085850" y="1143000"/>
                <a:ext cx="1143000" cy="895350"/>
              </a:xfrm>
              <a:prstGeom prst="roundRect">
                <a:avLst>
                  <a:gd name="adj" fmla="val 8511"/>
                </a:avLst>
              </a:prstGeom>
              <a:solidFill>
                <a:srgbClr val="5B180B"/>
              </a:solidFill>
              <a:ln>
                <a:noFill/>
              </a:ln>
            </p:spPr>
          </p:sp>
          <p:grpSp>
            <p:nvGrpSpPr>
              <p:cNvPr id="26" name="Group 26"/>
              <p:cNvGrpSpPr/>
              <p:nvPr/>
            </p:nvGrpSpPr>
            <p:grpSpPr>
              <a:xfrm>
                <a:off x="1585912" y="1243012"/>
                <a:ext cx="144463" cy="152400"/>
                <a:chOff x="1585912" y="1243012"/>
                <a:chExt cx="144463" cy="152400"/>
              </a:xfrm>
            </p:grpSpPr>
            <p:sp>
              <p:nvSpPr>
                <p:cNvPr id="18" name="Freeform 18"/>
                <p:cNvSpPr/>
                <p:nvPr/>
              </p:nvSpPr>
              <p:spPr>
                <a:xfrm>
                  <a:off x="1585912" y="1385887"/>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19" name="Freeform 19"/>
                <p:cNvSpPr/>
                <p:nvPr/>
              </p:nvSpPr>
              <p:spPr>
                <a:xfrm>
                  <a:off x="1585912" y="1298575"/>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20" name="Freeform 20"/>
                <p:cNvSpPr/>
                <p:nvPr/>
              </p:nvSpPr>
              <p:spPr>
                <a:xfrm>
                  <a:off x="1601787" y="1243012"/>
                  <a:ext cx="111125" cy="23812"/>
                </a:xfrm>
                <a:custGeom>
                  <a:avLst/>
                  <a:gdLst/>
                  <a:ahLst/>
                  <a:cxnLst/>
                  <a:rect l="l" t="t" r="r" b="b"/>
                  <a:pathLst>
                    <a:path w="111125" h="23812">
                      <a:moveTo>
                        <a:pt x="0" y="23812"/>
                      </a:moveTo>
                      <a:lnTo>
                        <a:pt x="55562" y="0"/>
                      </a:lnTo>
                      <a:lnTo>
                        <a:pt x="111125" y="23812"/>
                      </a:lnTo>
                    </a:path>
                  </a:pathLst>
                </a:custGeom>
                <a:noFill/>
                <a:ln w="15875">
                  <a:solidFill>
                    <a:srgbClr val="FFFFFF"/>
                  </a:solidFill>
                </a:ln>
              </p:spPr>
            </p:sp>
            <p:sp>
              <p:nvSpPr>
                <p:cNvPr id="21" name="Freeform 21"/>
                <p:cNvSpPr/>
                <p:nvPr/>
              </p:nvSpPr>
              <p:spPr>
                <a:xfrm>
                  <a:off x="1593850" y="129857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22" name="Freeform 22"/>
                <p:cNvSpPr/>
                <p:nvPr/>
              </p:nvSpPr>
              <p:spPr>
                <a:xfrm>
                  <a:off x="1720850" y="129857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23" name="Freeform 23"/>
                <p:cNvSpPr/>
                <p:nvPr/>
              </p:nvSpPr>
              <p:spPr>
                <a:xfrm>
                  <a:off x="1625600" y="133032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24" name="Freeform 24"/>
                <p:cNvSpPr/>
                <p:nvPr/>
              </p:nvSpPr>
              <p:spPr>
                <a:xfrm>
                  <a:off x="1657350" y="133032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25" name="Freeform 25"/>
                <p:cNvSpPr/>
                <p:nvPr/>
              </p:nvSpPr>
              <p:spPr>
                <a:xfrm>
                  <a:off x="1689100" y="1330325"/>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27" name="TextBox 27"/>
              <p:cNvSpPr txBox="1"/>
              <p:nvPr/>
            </p:nvSpPr>
            <p:spPr>
              <a:xfrm>
                <a:off x="1356004" y="1477089"/>
                <a:ext cx="60269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网点负责人​</a:t>
                </a:r>
              </a:p>
            </p:txBody>
          </p:sp>
          <p:sp>
            <p:nvSpPr>
              <p:cNvPr id="28" name="TextBox 28"/>
              <p:cNvSpPr txBox="1"/>
              <p:nvPr/>
            </p:nvSpPr>
            <p:spPr>
              <a:xfrm>
                <a:off x="1286960" y="1653778"/>
                <a:ext cx="740781" cy="111919"/>
              </a:xfrm>
              <a:prstGeom prst="rect">
                <a:avLst/>
              </a:prstGeom>
              <a:noFill/>
              <a:ln>
                <a:noFill/>
              </a:ln>
            </p:spPr>
            <p:txBody>
              <a:bodyPr wrap="none" lIns="0" tIns="0" rIns="0" bIns="0" anchor="t" anchorCtr="0">
                <a:spAutoFit/>
              </a:bodyPr>
              <a:lstStyle/>
              <a:p>
                <a:pPr algn="ctr"/>
                <a:r>
                  <a:rPr lang="zh-CN" sz="560" dirty="0">
                    <a:solidFill>
                      <a:srgbClr val="BFDDD6"/>
                    </a:solidFill>
                    <a:latin typeface="+mn-lt"/>
                    <a:ea typeface="+mn-ea"/>
                    <a:cs typeface="+mn-cs"/>
                  </a:rPr>
                  <a:t>统筹资源 · 目标把控​</a:t>
                </a:r>
              </a:p>
            </p:txBody>
          </p:sp>
          <p:sp>
            <p:nvSpPr>
              <p:cNvPr id="29" name="TextBox 29"/>
              <p:cNvSpPr txBox="1"/>
              <p:nvPr/>
            </p:nvSpPr>
            <p:spPr>
              <a:xfrm>
                <a:off x="1286960" y="1768078"/>
                <a:ext cx="740781" cy="111919"/>
              </a:xfrm>
              <a:prstGeom prst="rect">
                <a:avLst/>
              </a:prstGeom>
              <a:noFill/>
              <a:ln>
                <a:noFill/>
              </a:ln>
            </p:spPr>
            <p:txBody>
              <a:bodyPr wrap="none" lIns="0" tIns="0" rIns="0" bIns="0" anchor="t" anchorCtr="0">
                <a:spAutoFit/>
              </a:bodyPr>
              <a:lstStyle/>
              <a:p>
                <a:pPr algn="ctr"/>
                <a:r>
                  <a:rPr lang="zh-CN" sz="560" dirty="0">
                    <a:solidFill>
                      <a:srgbClr val="BFDDD6"/>
                    </a:solidFill>
                    <a:latin typeface="+mn-lt"/>
                    <a:ea typeface="+mn-ea"/>
                    <a:cs typeface="+mn-cs"/>
                  </a:rPr>
                  <a:t>过程督导 · 解决问题​</a:t>
                </a:r>
              </a:p>
            </p:txBody>
          </p:sp>
        </p:grpSp>
        <p:grpSp>
          <p:nvGrpSpPr>
            <p:cNvPr id="40" name="org-node-l1"/>
            <p:cNvGrpSpPr/>
            <p:nvPr/>
          </p:nvGrpSpPr>
          <p:grpSpPr>
            <a:xfrm>
              <a:off x="323850" y="3143250"/>
              <a:ext cx="800100" cy="1066800"/>
              <a:chOff x="323850" y="3143250"/>
              <a:chExt cx="800100" cy="1066800"/>
            </a:xfrm>
          </p:grpSpPr>
          <p:sp>
            <p:nvSpPr>
              <p:cNvPr id="31" name="Rectangle 31"/>
              <p:cNvSpPr/>
              <p:nvPr/>
            </p:nvSpPr>
            <p:spPr>
              <a:xfrm>
                <a:off x="323850" y="3143250"/>
                <a:ext cx="800100" cy="1066800"/>
              </a:xfrm>
              <a:prstGeom prst="roundRect">
                <a:avLst>
                  <a:gd name="adj" fmla="val 9524"/>
                </a:avLst>
              </a:prstGeom>
              <a:solidFill>
                <a:srgbClr val="722617"/>
              </a:solidFill>
              <a:ln>
                <a:noFill/>
              </a:ln>
            </p:spPr>
          </p:sp>
          <p:grpSp>
            <p:nvGrpSpPr>
              <p:cNvPr id="35" name="Group 35"/>
              <p:cNvGrpSpPr/>
              <p:nvPr/>
            </p:nvGrpSpPr>
            <p:grpSpPr>
              <a:xfrm>
                <a:off x="655653" y="3243262"/>
                <a:ext cx="136478" cy="142002"/>
                <a:chOff x="655653" y="3243262"/>
                <a:chExt cx="136478" cy="142002"/>
              </a:xfrm>
            </p:grpSpPr>
            <p:sp>
              <p:nvSpPr>
                <p:cNvPr id="32" name="Freeform 32"/>
                <p:cNvSpPr/>
                <p:nvPr/>
              </p:nvSpPr>
              <p:spPr>
                <a:xfrm>
                  <a:off x="676275" y="3243262"/>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FFFFFF"/>
                  </a:solidFill>
                </a:ln>
              </p:spPr>
            </p:sp>
            <p:sp>
              <p:nvSpPr>
                <p:cNvPr id="33" name="Freeform 33"/>
                <p:cNvSpPr/>
                <p:nvPr/>
              </p:nvSpPr>
              <p:spPr>
                <a:xfrm>
                  <a:off x="723900" y="3314700"/>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FFFFFF"/>
                  </a:solidFill>
                </a:ln>
              </p:spPr>
            </p:sp>
            <p:sp>
              <p:nvSpPr>
                <p:cNvPr id="34" name="Freeform 34"/>
                <p:cNvSpPr/>
                <p:nvPr/>
              </p:nvSpPr>
              <p:spPr>
                <a:xfrm>
                  <a:off x="655653" y="3314700"/>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FFFFFF"/>
                  </a:solidFill>
                </a:ln>
              </p:spPr>
            </p:sp>
          </p:grpSp>
          <p:sp>
            <p:nvSpPr>
              <p:cNvPr id="36" name="TextBox 36"/>
              <p:cNvSpPr txBox="1"/>
              <p:nvPr/>
            </p:nvSpPr>
            <p:spPr>
              <a:xfrm>
                <a:off x="475729" y="3477339"/>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理财经理​</a:t>
                </a:r>
              </a:p>
            </p:txBody>
          </p:sp>
          <p:sp>
            <p:nvSpPr>
              <p:cNvPr id="37" name="TextBox 37"/>
              <p:cNvSpPr txBox="1"/>
              <p:nvPr/>
            </p:nvSpPr>
            <p:spPr>
              <a:xfrm>
                <a:off x="472244" y="3654028"/>
                <a:ext cx="503311" cy="111919"/>
              </a:xfrm>
              <a:prstGeom prst="rect">
                <a:avLst/>
              </a:prstGeom>
              <a:noFill/>
              <a:ln>
                <a:noFill/>
              </a:ln>
            </p:spPr>
            <p:txBody>
              <a:bodyPr wrap="none" lIns="0" tIns="0" rIns="0" bIns="0" anchor="t" anchorCtr="0">
                <a:spAutoFit/>
              </a:bodyPr>
              <a:lstStyle/>
              <a:p>
                <a:pPr algn="ctr"/>
                <a:r>
                  <a:rPr lang="zh-CN" sz="560" dirty="0">
                    <a:solidFill>
                      <a:srgbClr val="DFF0EB"/>
                    </a:solidFill>
                    <a:latin typeface="+mn-lt"/>
                    <a:ea typeface="+mn-ea"/>
                    <a:cs typeface="+mn-cs"/>
                  </a:rPr>
                  <a:t>资产配置方案​</a:t>
                </a:r>
              </a:p>
            </p:txBody>
          </p:sp>
          <p:sp>
            <p:nvSpPr>
              <p:cNvPr id="38" name="TextBox 38"/>
              <p:cNvSpPr txBox="1"/>
              <p:nvPr/>
            </p:nvSpPr>
            <p:spPr>
              <a:xfrm>
                <a:off x="472244" y="3768328"/>
                <a:ext cx="503311" cy="111919"/>
              </a:xfrm>
              <a:prstGeom prst="rect">
                <a:avLst/>
              </a:prstGeom>
              <a:noFill/>
              <a:ln>
                <a:noFill/>
              </a:ln>
            </p:spPr>
            <p:txBody>
              <a:bodyPr wrap="none" lIns="0" tIns="0" rIns="0" bIns="0" anchor="t" anchorCtr="0">
                <a:spAutoFit/>
              </a:bodyPr>
              <a:lstStyle/>
              <a:p>
                <a:pPr algn="ctr"/>
                <a:r>
                  <a:rPr lang="zh-CN" sz="560" dirty="0">
                    <a:solidFill>
                      <a:srgbClr val="DFF0EB"/>
                    </a:solidFill>
                    <a:latin typeface="+mn-lt"/>
                    <a:ea typeface="+mn-ea"/>
                    <a:cs typeface="+mn-cs"/>
                  </a:rPr>
                  <a:t>深度面谈转化​</a:t>
                </a:r>
              </a:p>
            </p:txBody>
          </p:sp>
          <p:sp>
            <p:nvSpPr>
              <p:cNvPr id="39" name="TextBox 39"/>
              <p:cNvSpPr txBox="1"/>
              <p:nvPr/>
            </p:nvSpPr>
            <p:spPr>
              <a:xfrm>
                <a:off x="434551" y="3882628"/>
                <a:ext cx="578698" cy="111919"/>
              </a:xfrm>
              <a:prstGeom prst="rect">
                <a:avLst/>
              </a:prstGeom>
              <a:noFill/>
              <a:ln>
                <a:noFill/>
              </a:ln>
            </p:spPr>
            <p:txBody>
              <a:bodyPr wrap="none" lIns="0" tIns="0" rIns="0" bIns="0" anchor="t" anchorCtr="0">
                <a:spAutoFit/>
              </a:bodyPr>
              <a:lstStyle/>
              <a:p>
                <a:pPr algn="ctr"/>
                <a:r>
                  <a:rPr lang="zh-CN" sz="560" dirty="0">
                    <a:solidFill>
                      <a:srgbClr val="DFF0EB"/>
                    </a:solidFill>
                    <a:latin typeface="+mn-lt"/>
                    <a:ea typeface="+mn-ea"/>
                    <a:cs typeface="+mn-cs"/>
                  </a:rPr>
                  <a:t>高净值客户经营​</a:t>
                </a:r>
              </a:p>
            </p:txBody>
          </p:sp>
        </p:grpSp>
        <p:grpSp>
          <p:nvGrpSpPr>
            <p:cNvPr id="51" name="org-node-r1"/>
            <p:cNvGrpSpPr/>
            <p:nvPr/>
          </p:nvGrpSpPr>
          <p:grpSpPr>
            <a:xfrm>
              <a:off x="2190750" y="3143250"/>
              <a:ext cx="800100" cy="1066800"/>
              <a:chOff x="2190750" y="3143250"/>
              <a:chExt cx="800100" cy="1066800"/>
            </a:xfrm>
          </p:grpSpPr>
          <p:sp>
            <p:nvSpPr>
              <p:cNvPr id="41" name="Rectangle 41"/>
              <p:cNvSpPr/>
              <p:nvPr/>
            </p:nvSpPr>
            <p:spPr>
              <a:xfrm>
                <a:off x="2190750" y="3143250"/>
                <a:ext cx="800100" cy="1066800"/>
              </a:xfrm>
              <a:prstGeom prst="roundRect">
                <a:avLst>
                  <a:gd name="adj" fmla="val 9524"/>
                </a:avLst>
              </a:prstGeom>
              <a:solidFill>
                <a:srgbClr val="722617"/>
              </a:solidFill>
              <a:ln>
                <a:noFill/>
              </a:ln>
            </p:spPr>
          </p:sp>
          <p:grpSp>
            <p:nvGrpSpPr>
              <p:cNvPr id="46" name="Group 46"/>
              <p:cNvGrpSpPr/>
              <p:nvPr/>
            </p:nvGrpSpPr>
            <p:grpSpPr>
              <a:xfrm>
                <a:off x="2519362" y="3243262"/>
                <a:ext cx="142875" cy="142875"/>
                <a:chOff x="2519362" y="3243262"/>
                <a:chExt cx="142875" cy="142875"/>
              </a:xfrm>
            </p:grpSpPr>
            <p:sp>
              <p:nvSpPr>
                <p:cNvPr id="42" name="Freeform 42"/>
                <p:cNvSpPr/>
                <p:nvPr/>
              </p:nvSpPr>
              <p:spPr>
                <a:xfrm>
                  <a:off x="2535237" y="32432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43" name="Freeform 43"/>
                <p:cNvSpPr/>
                <p:nvPr/>
              </p:nvSpPr>
              <p:spPr>
                <a:xfrm>
                  <a:off x="2519362" y="33385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44" name="Freeform 44"/>
                <p:cNvSpPr/>
                <p:nvPr/>
              </p:nvSpPr>
              <p:spPr>
                <a:xfrm>
                  <a:off x="2622550" y="32442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45" name="Freeform 45"/>
                <p:cNvSpPr/>
                <p:nvPr/>
              </p:nvSpPr>
              <p:spPr>
                <a:xfrm>
                  <a:off x="2638425" y="33397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47" name="TextBox 47"/>
              <p:cNvSpPr txBox="1"/>
              <p:nvPr/>
            </p:nvSpPr>
            <p:spPr>
              <a:xfrm>
                <a:off x="2342629" y="3477339"/>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客户经理​</a:t>
                </a:r>
              </a:p>
            </p:txBody>
          </p:sp>
          <p:sp>
            <p:nvSpPr>
              <p:cNvPr id="48" name="TextBox 48"/>
              <p:cNvSpPr txBox="1"/>
              <p:nvPr/>
            </p:nvSpPr>
            <p:spPr>
              <a:xfrm>
                <a:off x="2339144" y="3654028"/>
                <a:ext cx="503311" cy="111919"/>
              </a:xfrm>
              <a:prstGeom prst="rect">
                <a:avLst/>
              </a:prstGeom>
              <a:noFill/>
              <a:ln>
                <a:noFill/>
              </a:ln>
            </p:spPr>
            <p:txBody>
              <a:bodyPr wrap="none" lIns="0" tIns="0" rIns="0" bIns="0" anchor="t" anchorCtr="0">
                <a:spAutoFit/>
              </a:bodyPr>
              <a:lstStyle/>
              <a:p>
                <a:pPr algn="ctr"/>
                <a:r>
                  <a:rPr lang="zh-CN" sz="560" dirty="0">
                    <a:solidFill>
                      <a:srgbClr val="DFF0EB"/>
                    </a:solidFill>
                    <a:latin typeface="+mn-lt"/>
                    <a:ea typeface="+mn-ea"/>
                    <a:cs typeface="+mn-cs"/>
                  </a:rPr>
                  <a:t>客户关系维护​</a:t>
                </a:r>
              </a:p>
            </p:txBody>
          </p:sp>
          <p:sp>
            <p:nvSpPr>
              <p:cNvPr id="49" name="TextBox 49"/>
              <p:cNvSpPr txBox="1"/>
              <p:nvPr/>
            </p:nvSpPr>
            <p:spPr>
              <a:xfrm>
                <a:off x="2339144" y="3768328"/>
                <a:ext cx="503311" cy="111919"/>
              </a:xfrm>
              <a:prstGeom prst="rect">
                <a:avLst/>
              </a:prstGeom>
              <a:noFill/>
              <a:ln>
                <a:noFill/>
              </a:ln>
            </p:spPr>
            <p:txBody>
              <a:bodyPr wrap="none" lIns="0" tIns="0" rIns="0" bIns="0" anchor="t" anchorCtr="0">
                <a:spAutoFit/>
              </a:bodyPr>
              <a:lstStyle/>
              <a:p>
                <a:pPr algn="ctr"/>
                <a:r>
                  <a:rPr lang="zh-CN" sz="560" dirty="0">
                    <a:solidFill>
                      <a:srgbClr val="DFF0EB"/>
                    </a:solidFill>
                    <a:latin typeface="+mn-lt"/>
                    <a:ea typeface="+mn-ea"/>
                    <a:cs typeface="+mn-cs"/>
                  </a:rPr>
                  <a:t>综合金融服务​</a:t>
                </a:r>
              </a:p>
            </p:txBody>
          </p:sp>
          <p:sp>
            <p:nvSpPr>
              <p:cNvPr id="50" name="TextBox 50"/>
              <p:cNvSpPr txBox="1"/>
              <p:nvPr/>
            </p:nvSpPr>
            <p:spPr>
              <a:xfrm>
                <a:off x="2339144" y="3882628"/>
                <a:ext cx="503311" cy="111919"/>
              </a:xfrm>
              <a:prstGeom prst="rect">
                <a:avLst/>
              </a:prstGeom>
              <a:noFill/>
              <a:ln>
                <a:noFill/>
              </a:ln>
            </p:spPr>
            <p:txBody>
              <a:bodyPr wrap="none" lIns="0" tIns="0" rIns="0" bIns="0" anchor="t" anchorCtr="0">
                <a:spAutoFit/>
              </a:bodyPr>
              <a:lstStyle/>
              <a:p>
                <a:pPr algn="ctr"/>
                <a:r>
                  <a:rPr lang="zh-CN" sz="560" dirty="0">
                    <a:solidFill>
                      <a:srgbClr val="DFF0EB"/>
                    </a:solidFill>
                    <a:latin typeface="+mn-lt"/>
                    <a:ea typeface="+mn-ea"/>
                    <a:cs typeface="+mn-cs"/>
                  </a:rPr>
                  <a:t>重点客户攻坚​</a:t>
                </a:r>
              </a:p>
            </p:txBody>
          </p:sp>
        </p:grpSp>
        <p:grpSp>
          <p:nvGrpSpPr>
            <p:cNvPr id="61" name="org-node-l2"/>
            <p:cNvGrpSpPr/>
            <p:nvPr/>
          </p:nvGrpSpPr>
          <p:grpSpPr>
            <a:xfrm>
              <a:off x="514350" y="5124450"/>
              <a:ext cx="952500" cy="1009650"/>
              <a:chOff x="514350" y="5124450"/>
              <a:chExt cx="952500" cy="1009650"/>
            </a:xfrm>
          </p:grpSpPr>
          <p:sp>
            <p:nvSpPr>
              <p:cNvPr id="52" name="Rectangle 52"/>
              <p:cNvSpPr/>
              <p:nvPr/>
            </p:nvSpPr>
            <p:spPr>
              <a:xfrm>
                <a:off x="514350" y="5124450"/>
                <a:ext cx="952500" cy="1009650"/>
              </a:xfrm>
              <a:prstGeom prst="roundRect">
                <a:avLst>
                  <a:gd name="adj" fmla="val 8000"/>
                </a:avLst>
              </a:prstGeom>
              <a:solidFill>
                <a:srgbClr val="9A412F"/>
              </a:solidFill>
              <a:ln>
                <a:noFill/>
              </a:ln>
            </p:spPr>
          </p:sp>
          <p:grpSp>
            <p:nvGrpSpPr>
              <p:cNvPr id="56" name="Group 56"/>
              <p:cNvGrpSpPr/>
              <p:nvPr/>
            </p:nvGrpSpPr>
            <p:grpSpPr>
              <a:xfrm>
                <a:off x="942975" y="5224462"/>
                <a:ext cx="119062" cy="142875"/>
                <a:chOff x="942975" y="5224462"/>
                <a:chExt cx="119062" cy="142875"/>
              </a:xfrm>
            </p:grpSpPr>
            <p:sp>
              <p:nvSpPr>
                <p:cNvPr id="53" name="Freeform 53"/>
                <p:cNvSpPr/>
                <p:nvPr/>
              </p:nvSpPr>
              <p:spPr>
                <a:xfrm>
                  <a:off x="958850" y="52244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54" name="Freeform 54"/>
                <p:cNvSpPr/>
                <p:nvPr/>
              </p:nvSpPr>
              <p:spPr>
                <a:xfrm>
                  <a:off x="942975" y="531971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FFFFFF"/>
                  </a:solidFill>
                </a:ln>
              </p:spPr>
            </p:sp>
            <p:sp>
              <p:nvSpPr>
                <p:cNvPr id="55" name="Freeform 55"/>
                <p:cNvSpPr/>
                <p:nvPr/>
              </p:nvSpPr>
              <p:spPr>
                <a:xfrm>
                  <a:off x="1014412" y="533558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57" name="TextBox 57"/>
              <p:cNvSpPr txBox="1"/>
              <p:nvPr/>
            </p:nvSpPr>
            <p:spPr>
              <a:xfrm>
                <a:off x="742429" y="5458539"/>
                <a:ext cx="4963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大堂经理​</a:t>
                </a:r>
              </a:p>
            </p:txBody>
          </p:sp>
          <p:sp>
            <p:nvSpPr>
              <p:cNvPr id="58" name="TextBox 58"/>
              <p:cNvSpPr txBox="1"/>
              <p:nvPr/>
            </p:nvSpPr>
            <p:spPr>
              <a:xfrm>
                <a:off x="738944" y="5635228"/>
                <a:ext cx="503311" cy="111919"/>
              </a:xfrm>
              <a:prstGeom prst="rect">
                <a:avLst/>
              </a:prstGeom>
              <a:noFill/>
              <a:ln>
                <a:noFill/>
              </a:ln>
            </p:spPr>
            <p:txBody>
              <a:bodyPr wrap="none" lIns="0" tIns="0" rIns="0" bIns="0" anchor="t" anchorCtr="0">
                <a:spAutoFit/>
              </a:bodyPr>
              <a:lstStyle/>
              <a:p>
                <a:pPr algn="ctr"/>
                <a:r>
                  <a:rPr lang="zh-CN" sz="560" dirty="0">
                    <a:solidFill>
                      <a:srgbClr val="EAF6F2"/>
                    </a:solidFill>
                    <a:latin typeface="+mn-lt"/>
                    <a:ea typeface="+mn-ea"/>
                    <a:cs typeface="+mn-cs"/>
                  </a:rPr>
                  <a:t>客户识别分流​</a:t>
                </a:r>
              </a:p>
            </p:txBody>
          </p:sp>
          <p:sp>
            <p:nvSpPr>
              <p:cNvPr id="59" name="TextBox 59"/>
              <p:cNvSpPr txBox="1"/>
              <p:nvPr/>
            </p:nvSpPr>
            <p:spPr>
              <a:xfrm>
                <a:off x="814332" y="5749528"/>
                <a:ext cx="352537" cy="111919"/>
              </a:xfrm>
              <a:prstGeom prst="rect">
                <a:avLst/>
              </a:prstGeom>
              <a:noFill/>
              <a:ln>
                <a:noFill/>
              </a:ln>
            </p:spPr>
            <p:txBody>
              <a:bodyPr wrap="none" lIns="0" tIns="0" rIns="0" bIns="0" anchor="t" anchorCtr="0">
                <a:spAutoFit/>
              </a:bodyPr>
              <a:lstStyle/>
              <a:p>
                <a:pPr algn="ctr"/>
                <a:r>
                  <a:rPr lang="zh-CN" sz="560" dirty="0">
                    <a:solidFill>
                      <a:srgbClr val="EAF6F2"/>
                    </a:solidFill>
                    <a:latin typeface="+mn-lt"/>
                    <a:ea typeface="+mn-ea"/>
                    <a:cs typeface="+mn-cs"/>
                  </a:rPr>
                  <a:t>厅堂转介​</a:t>
                </a:r>
              </a:p>
            </p:txBody>
          </p:sp>
          <p:sp>
            <p:nvSpPr>
              <p:cNvPr id="60" name="TextBox 60"/>
              <p:cNvSpPr txBox="1"/>
              <p:nvPr/>
            </p:nvSpPr>
            <p:spPr>
              <a:xfrm>
                <a:off x="814332" y="5863828"/>
                <a:ext cx="352537" cy="111919"/>
              </a:xfrm>
              <a:prstGeom prst="rect">
                <a:avLst/>
              </a:prstGeom>
              <a:noFill/>
              <a:ln>
                <a:noFill/>
              </a:ln>
            </p:spPr>
            <p:txBody>
              <a:bodyPr wrap="none" lIns="0" tIns="0" rIns="0" bIns="0" anchor="t" anchorCtr="0">
                <a:spAutoFit/>
              </a:bodyPr>
              <a:lstStyle/>
              <a:p>
                <a:pPr algn="ctr"/>
                <a:r>
                  <a:rPr lang="zh-CN" sz="560" dirty="0">
                    <a:solidFill>
                      <a:srgbClr val="EAF6F2"/>
                    </a:solidFill>
                    <a:latin typeface="+mn-lt"/>
                    <a:ea typeface="+mn-ea"/>
                    <a:cs typeface="+mn-cs"/>
                  </a:rPr>
                  <a:t>精准推荐​</a:t>
                </a:r>
              </a:p>
            </p:txBody>
          </p:sp>
        </p:grpSp>
        <p:grpSp>
          <p:nvGrpSpPr>
            <p:cNvPr id="70" name="org-node-r2"/>
            <p:cNvGrpSpPr/>
            <p:nvPr/>
          </p:nvGrpSpPr>
          <p:grpSpPr>
            <a:xfrm>
              <a:off x="1847850" y="5124450"/>
              <a:ext cx="952500" cy="1009650"/>
              <a:chOff x="1847850" y="5124450"/>
              <a:chExt cx="952500" cy="1009650"/>
            </a:xfrm>
          </p:grpSpPr>
          <p:sp>
            <p:nvSpPr>
              <p:cNvPr id="62" name="Rectangle 62"/>
              <p:cNvSpPr/>
              <p:nvPr/>
            </p:nvSpPr>
            <p:spPr>
              <a:xfrm>
                <a:off x="1847850" y="5124450"/>
                <a:ext cx="952500" cy="1009650"/>
              </a:xfrm>
              <a:prstGeom prst="roundRect">
                <a:avLst>
                  <a:gd name="adj" fmla="val 8000"/>
                </a:avLst>
              </a:prstGeom>
              <a:solidFill>
                <a:srgbClr val="9A412F"/>
              </a:solidFill>
              <a:ln>
                <a:noFill/>
              </a:ln>
            </p:spPr>
          </p:sp>
          <p:grpSp>
            <p:nvGrpSpPr>
              <p:cNvPr id="65" name="Group 65"/>
              <p:cNvGrpSpPr/>
              <p:nvPr/>
            </p:nvGrpSpPr>
            <p:grpSpPr>
              <a:xfrm>
                <a:off x="2249178" y="5220978"/>
                <a:ext cx="149844" cy="149844"/>
                <a:chOff x="2249178" y="5220978"/>
                <a:chExt cx="149844" cy="149844"/>
              </a:xfrm>
            </p:grpSpPr>
            <p:sp>
              <p:nvSpPr>
                <p:cNvPr id="63" name="Freeform 63"/>
                <p:cNvSpPr/>
                <p:nvPr/>
              </p:nvSpPr>
              <p:spPr>
                <a:xfrm>
                  <a:off x="2249178" y="522097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64" name="Freeform 64"/>
                <p:cNvSpPr/>
                <p:nvPr/>
              </p:nvSpPr>
              <p:spPr>
                <a:xfrm>
                  <a:off x="2300287" y="527208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66" name="TextBox 66"/>
              <p:cNvSpPr txBox="1"/>
              <p:nvPr/>
            </p:nvSpPr>
            <p:spPr>
              <a:xfrm>
                <a:off x="2182279" y="5458539"/>
                <a:ext cx="2836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柜员​</a:t>
                </a:r>
              </a:p>
            </p:txBody>
          </p:sp>
          <p:sp>
            <p:nvSpPr>
              <p:cNvPr id="67" name="TextBox 67"/>
              <p:cNvSpPr txBox="1"/>
              <p:nvPr/>
            </p:nvSpPr>
            <p:spPr>
              <a:xfrm>
                <a:off x="2072444" y="5635228"/>
                <a:ext cx="503311" cy="111919"/>
              </a:xfrm>
              <a:prstGeom prst="rect">
                <a:avLst/>
              </a:prstGeom>
              <a:noFill/>
              <a:ln>
                <a:noFill/>
              </a:ln>
            </p:spPr>
            <p:txBody>
              <a:bodyPr wrap="none" lIns="0" tIns="0" rIns="0" bIns="0" anchor="t" anchorCtr="0">
                <a:spAutoFit/>
              </a:bodyPr>
              <a:lstStyle/>
              <a:p>
                <a:pPr algn="ctr"/>
                <a:r>
                  <a:rPr lang="zh-CN" sz="560" dirty="0">
                    <a:solidFill>
                      <a:srgbClr val="EAF6F2"/>
                    </a:solidFill>
                    <a:latin typeface="+mn-lt"/>
                    <a:ea typeface="+mn-ea"/>
                    <a:cs typeface="+mn-cs"/>
                  </a:rPr>
                  <a:t>业务办理触点​</a:t>
                </a:r>
              </a:p>
            </p:txBody>
          </p:sp>
          <p:sp>
            <p:nvSpPr>
              <p:cNvPr id="68" name="TextBox 68"/>
              <p:cNvSpPr txBox="1"/>
              <p:nvPr/>
            </p:nvSpPr>
            <p:spPr>
              <a:xfrm>
                <a:off x="2072444" y="5749528"/>
                <a:ext cx="503311" cy="111919"/>
              </a:xfrm>
              <a:prstGeom prst="rect">
                <a:avLst/>
              </a:prstGeom>
              <a:noFill/>
              <a:ln>
                <a:noFill/>
              </a:ln>
            </p:spPr>
            <p:txBody>
              <a:bodyPr wrap="none" lIns="0" tIns="0" rIns="0" bIns="0" anchor="t" anchorCtr="0">
                <a:spAutoFit/>
              </a:bodyPr>
              <a:lstStyle/>
              <a:p>
                <a:pPr algn="ctr"/>
                <a:r>
                  <a:rPr lang="zh-CN" sz="560" dirty="0">
                    <a:solidFill>
                      <a:srgbClr val="EAF6F2"/>
                    </a:solidFill>
                    <a:latin typeface="+mn-lt"/>
                    <a:ea typeface="+mn-ea"/>
                    <a:cs typeface="+mn-cs"/>
                  </a:rPr>
                  <a:t>客户信息补充​</a:t>
                </a:r>
              </a:p>
            </p:txBody>
          </p:sp>
          <p:sp>
            <p:nvSpPr>
              <p:cNvPr id="69" name="TextBox 69"/>
              <p:cNvSpPr txBox="1"/>
              <p:nvPr/>
            </p:nvSpPr>
            <p:spPr>
              <a:xfrm>
                <a:off x="2072444" y="5863828"/>
                <a:ext cx="503311" cy="111919"/>
              </a:xfrm>
              <a:prstGeom prst="rect">
                <a:avLst/>
              </a:prstGeom>
              <a:noFill/>
              <a:ln>
                <a:noFill/>
              </a:ln>
            </p:spPr>
            <p:txBody>
              <a:bodyPr wrap="none" lIns="0" tIns="0" rIns="0" bIns="0" anchor="t" anchorCtr="0">
                <a:spAutoFit/>
              </a:bodyPr>
              <a:lstStyle/>
              <a:p>
                <a:pPr algn="ctr"/>
                <a:r>
                  <a:rPr lang="zh-CN" sz="560" dirty="0">
                    <a:solidFill>
                      <a:srgbClr val="EAF6F2"/>
                    </a:solidFill>
                    <a:latin typeface="+mn-lt"/>
                    <a:ea typeface="+mn-ea"/>
                    <a:cs typeface="+mn-cs"/>
                  </a:rPr>
                  <a:t>交叉销售推荐​</a:t>
                </a:r>
              </a:p>
            </p:txBody>
          </p:sp>
        </p:grpSp>
        <p:sp>
          <p:nvSpPr>
            <p:cNvPr id="71" name="Ellipse 71"/>
            <p:cNvSpPr/>
            <p:nvPr/>
          </p:nvSpPr>
          <p:spPr>
            <a:xfrm>
              <a:off x="1200150" y="3276600"/>
              <a:ext cx="914400" cy="914400"/>
            </a:xfrm>
            <a:prstGeom prst="ellipse">
              <a:avLst/>
            </a:prstGeom>
            <a:solidFill>
              <a:srgbClr val="5B180B"/>
            </a:solidFill>
            <a:ln w="19050">
              <a:solidFill>
                <a:srgbClr val="FFFFFF"/>
              </a:solidFill>
            </a:ln>
          </p:spPr>
        </p:sp>
        <p:grpSp>
          <p:nvGrpSpPr>
            <p:cNvPr id="78" name="Group 78"/>
            <p:cNvGrpSpPr/>
            <p:nvPr/>
          </p:nvGrpSpPr>
          <p:grpSpPr>
            <a:xfrm>
              <a:off x="1578769" y="3455194"/>
              <a:ext cx="157162" cy="157163"/>
              <a:chOff x="1578769" y="3455194"/>
              <a:chExt cx="157162" cy="157163"/>
            </a:xfrm>
          </p:grpSpPr>
          <p:sp>
            <p:nvSpPr>
              <p:cNvPr id="72" name="Freeform 72"/>
              <p:cNvSpPr/>
              <p:nvPr/>
            </p:nvSpPr>
            <p:spPr>
              <a:xfrm>
                <a:off x="1639888" y="35250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73" name="Freeform 73"/>
              <p:cNvSpPr/>
              <p:nvPr/>
            </p:nvSpPr>
            <p:spPr>
              <a:xfrm>
                <a:off x="1622425" y="358616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FFFFFF"/>
                </a:solidFill>
              </a:ln>
            </p:spPr>
          </p:sp>
          <p:sp>
            <p:nvSpPr>
              <p:cNvPr id="74" name="Freeform 74"/>
              <p:cNvSpPr/>
              <p:nvPr/>
            </p:nvSpPr>
            <p:spPr>
              <a:xfrm>
                <a:off x="1683544" y="34551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75" name="Freeform 75"/>
              <p:cNvSpPr/>
              <p:nvPr/>
            </p:nvSpPr>
            <p:spPr>
              <a:xfrm>
                <a:off x="1701006" y="351631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FFFFFF"/>
                </a:solidFill>
              </a:ln>
            </p:spPr>
          </p:sp>
          <p:sp>
            <p:nvSpPr>
              <p:cNvPr id="76" name="Freeform 76"/>
              <p:cNvSpPr/>
              <p:nvPr/>
            </p:nvSpPr>
            <p:spPr>
              <a:xfrm>
                <a:off x="1596231" y="34551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77" name="Freeform 77"/>
              <p:cNvSpPr/>
              <p:nvPr/>
            </p:nvSpPr>
            <p:spPr>
              <a:xfrm>
                <a:off x="1578769" y="351631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FFFFFF"/>
                </a:solidFill>
              </a:ln>
            </p:spPr>
          </p:sp>
        </p:grpSp>
        <p:sp>
          <p:nvSpPr>
            <p:cNvPr id="79" name="TextBox 79"/>
            <p:cNvSpPr txBox="1"/>
            <p:nvPr/>
          </p:nvSpPr>
          <p:spPr>
            <a:xfrm>
              <a:off x="1302830" y="3686889"/>
              <a:ext cx="70904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同一客户清单​</a:t>
              </a:r>
            </a:p>
          </p:txBody>
        </p:sp>
        <p:sp>
          <p:nvSpPr>
            <p:cNvPr id="80" name="TextBox 80"/>
            <p:cNvSpPr txBox="1"/>
            <p:nvPr/>
          </p:nvSpPr>
          <p:spPr>
            <a:xfrm>
              <a:off x="1286960" y="3844528"/>
              <a:ext cx="740781" cy="111919"/>
            </a:xfrm>
            <a:prstGeom prst="rect">
              <a:avLst/>
            </a:prstGeom>
            <a:noFill/>
            <a:ln>
              <a:noFill/>
            </a:ln>
          </p:spPr>
          <p:txBody>
            <a:bodyPr wrap="none" lIns="0" tIns="0" rIns="0" bIns="0" anchor="t" anchorCtr="0">
              <a:spAutoFit/>
            </a:bodyPr>
            <a:lstStyle/>
            <a:p>
              <a:pPr algn="ctr"/>
              <a:r>
                <a:rPr lang="zh-CN" sz="560" dirty="0">
                  <a:solidFill>
                    <a:srgbClr val="BFDDD6"/>
                  </a:solidFill>
                  <a:latin typeface="+mn-lt"/>
                  <a:ea typeface="+mn-ea"/>
                  <a:cs typeface="+mn-cs"/>
                </a:rPr>
                <a:t>分类分层 · 统一视图​</a:t>
              </a:r>
            </a:p>
          </p:txBody>
        </p:sp>
        <p:sp>
          <p:nvSpPr>
            <p:cNvPr id="81" name="TextBox 81"/>
            <p:cNvSpPr txBox="1"/>
            <p:nvPr/>
          </p:nvSpPr>
          <p:spPr>
            <a:xfrm>
              <a:off x="1481082" y="3958828"/>
              <a:ext cx="352537" cy="111919"/>
            </a:xfrm>
            <a:prstGeom prst="rect">
              <a:avLst/>
            </a:prstGeom>
            <a:noFill/>
            <a:ln>
              <a:noFill/>
            </a:ln>
          </p:spPr>
          <p:txBody>
            <a:bodyPr wrap="none" lIns="0" tIns="0" rIns="0" bIns="0" anchor="t" anchorCtr="0">
              <a:spAutoFit/>
            </a:bodyPr>
            <a:lstStyle/>
            <a:p>
              <a:pPr algn="ctr"/>
              <a:r>
                <a:rPr lang="zh-CN" sz="560" dirty="0">
                  <a:solidFill>
                    <a:srgbClr val="BFDDD6"/>
                  </a:solidFill>
                  <a:latin typeface="+mn-lt"/>
                  <a:ea typeface="+mn-ea"/>
                  <a:cs typeface="+mn-cs"/>
                </a:rPr>
                <a:t>全程跟进​</a:t>
              </a:r>
            </a:p>
          </p:txBody>
        </p:sp>
        <p:grpSp>
          <p:nvGrpSpPr>
            <p:cNvPr id="92" name="org-edge-labels"/>
            <p:cNvGrpSpPr/>
            <p:nvPr/>
          </p:nvGrpSpPr>
          <p:grpSpPr>
            <a:xfrm>
              <a:off x="591127" y="2800826"/>
              <a:ext cx="1973191" cy="2009775"/>
              <a:chOff x="591127" y="2800826"/>
              <a:chExt cx="1973191" cy="2009775"/>
            </a:xfrm>
          </p:grpSpPr>
          <p:sp>
            <p:nvSpPr>
              <p:cNvPr id="82" name="TextBox 82"/>
              <p:cNvSpPr txBox="1"/>
              <p:nvPr/>
            </p:nvSpPr>
            <p:spPr>
              <a:xfrm>
                <a:off x="1150432" y="2800826"/>
                <a:ext cx="328036" cy="104775"/>
              </a:xfrm>
              <a:prstGeom prst="rect">
                <a:avLst/>
              </a:prstGeom>
              <a:noFill/>
              <a:ln>
                <a:noFill/>
              </a:ln>
            </p:spPr>
            <p:txBody>
              <a:bodyPr wrap="none" lIns="0" tIns="0" rIns="0" bIns="0" anchor="t" anchorCtr="0">
                <a:spAutoFit/>
              </a:bodyPr>
              <a:lstStyle/>
              <a:p>
                <a:pPr algn="ctr"/>
                <a:r>
                  <a:rPr lang="zh-CN" sz="520" dirty="0">
                    <a:solidFill>
                      <a:srgbClr val="5F6F6A"/>
                    </a:solidFill>
                    <a:latin typeface="+mn-lt"/>
                    <a:ea typeface="+mn-ea"/>
                    <a:cs typeface="+mn-cs"/>
                  </a:rPr>
                  <a:t>任务分解​</a:t>
                </a:r>
              </a:p>
            </p:txBody>
          </p:sp>
          <p:sp>
            <p:nvSpPr>
              <p:cNvPr id="83" name="TextBox 83"/>
              <p:cNvSpPr txBox="1"/>
              <p:nvPr/>
            </p:nvSpPr>
            <p:spPr>
              <a:xfrm>
                <a:off x="1855282" y="2800826"/>
                <a:ext cx="328036" cy="104775"/>
              </a:xfrm>
              <a:prstGeom prst="rect">
                <a:avLst/>
              </a:prstGeom>
              <a:noFill/>
              <a:ln>
                <a:noFill/>
              </a:ln>
            </p:spPr>
            <p:txBody>
              <a:bodyPr wrap="none" lIns="0" tIns="0" rIns="0" bIns="0" anchor="t" anchorCtr="0">
                <a:spAutoFit/>
              </a:bodyPr>
              <a:lstStyle/>
              <a:p>
                <a:pPr algn="ctr"/>
                <a:r>
                  <a:rPr lang="zh-CN" sz="520" dirty="0">
                    <a:solidFill>
                      <a:srgbClr val="5F6F6A"/>
                    </a:solidFill>
                    <a:latin typeface="+mn-lt"/>
                    <a:ea typeface="+mn-ea"/>
                    <a:cs typeface="+mn-cs"/>
                  </a:rPr>
                  <a:t>进度反馈​</a:t>
                </a:r>
              </a:p>
            </p:txBody>
          </p:sp>
          <p:sp>
            <p:nvSpPr>
              <p:cNvPr id="84" name="TextBox 84"/>
              <p:cNvSpPr txBox="1"/>
              <p:nvPr/>
            </p:nvSpPr>
            <p:spPr>
              <a:xfrm>
                <a:off x="591127" y="3372326"/>
                <a:ext cx="328036" cy="104775"/>
              </a:xfrm>
              <a:prstGeom prst="rect">
                <a:avLst/>
              </a:prstGeom>
              <a:noFill/>
              <a:ln>
                <a:noFill/>
              </a:ln>
            </p:spPr>
            <p:txBody>
              <a:bodyPr wrap="none" lIns="0" tIns="0" rIns="0" bIns="0" anchor="t" anchorCtr="0">
                <a:spAutoFit/>
              </a:bodyPr>
              <a:lstStyle/>
              <a:p>
                <a:pPr algn="r"/>
                <a:r>
                  <a:rPr lang="zh-CN" sz="520" dirty="0">
                    <a:solidFill>
                      <a:srgbClr val="5F6F6A"/>
                    </a:solidFill>
                    <a:latin typeface="+mn-lt"/>
                    <a:ea typeface="+mn-ea"/>
                    <a:cs typeface="+mn-cs"/>
                  </a:rPr>
                  <a:t>客户推荐​</a:t>
                </a:r>
              </a:p>
            </p:txBody>
          </p:sp>
          <p:sp>
            <p:nvSpPr>
              <p:cNvPr id="85" name="TextBox 85"/>
              <p:cNvSpPr txBox="1"/>
              <p:nvPr/>
            </p:nvSpPr>
            <p:spPr>
              <a:xfrm>
                <a:off x="610177" y="3943826"/>
                <a:ext cx="328036" cy="104775"/>
              </a:xfrm>
              <a:prstGeom prst="rect">
                <a:avLst/>
              </a:prstGeom>
              <a:noFill/>
              <a:ln>
                <a:noFill/>
              </a:ln>
            </p:spPr>
            <p:txBody>
              <a:bodyPr wrap="none" lIns="0" tIns="0" rIns="0" bIns="0" anchor="t" anchorCtr="0">
                <a:spAutoFit/>
              </a:bodyPr>
              <a:lstStyle/>
              <a:p>
                <a:pPr algn="r"/>
                <a:r>
                  <a:rPr lang="zh-CN" sz="520" dirty="0">
                    <a:solidFill>
                      <a:srgbClr val="5F6F6A"/>
                    </a:solidFill>
                    <a:latin typeface="+mn-lt"/>
                    <a:ea typeface="+mn-ea"/>
                    <a:cs typeface="+mn-cs"/>
                  </a:rPr>
                  <a:t>需求反馈​</a:t>
                </a:r>
              </a:p>
            </p:txBody>
          </p:sp>
          <p:sp>
            <p:nvSpPr>
              <p:cNvPr id="86" name="TextBox 86"/>
              <p:cNvSpPr txBox="1"/>
              <p:nvPr/>
            </p:nvSpPr>
            <p:spPr>
              <a:xfrm>
                <a:off x="2236282" y="3372326"/>
                <a:ext cx="328036" cy="104775"/>
              </a:xfrm>
              <a:prstGeom prst="rect">
                <a:avLst/>
              </a:prstGeom>
              <a:noFill/>
              <a:ln>
                <a:noFill/>
              </a:ln>
            </p:spPr>
            <p:txBody>
              <a:bodyPr wrap="none" lIns="0" tIns="0" rIns="0" bIns="0" anchor="t" anchorCtr="0">
                <a:spAutoFit/>
              </a:bodyPr>
              <a:lstStyle/>
              <a:p>
                <a:pPr algn="ctr"/>
                <a:r>
                  <a:rPr lang="zh-CN" sz="520" dirty="0">
                    <a:solidFill>
                      <a:srgbClr val="5F6F6A"/>
                    </a:solidFill>
                    <a:latin typeface="+mn-lt"/>
                    <a:ea typeface="+mn-ea"/>
                    <a:cs typeface="+mn-cs"/>
                  </a:rPr>
                  <a:t>线索共享​</a:t>
                </a:r>
              </a:p>
            </p:txBody>
          </p:sp>
          <p:sp>
            <p:nvSpPr>
              <p:cNvPr id="87" name="TextBox 87"/>
              <p:cNvSpPr txBox="1"/>
              <p:nvPr/>
            </p:nvSpPr>
            <p:spPr>
              <a:xfrm>
                <a:off x="2217232" y="3943826"/>
                <a:ext cx="328036" cy="104775"/>
              </a:xfrm>
              <a:prstGeom prst="rect">
                <a:avLst/>
              </a:prstGeom>
              <a:noFill/>
              <a:ln>
                <a:noFill/>
              </a:ln>
            </p:spPr>
            <p:txBody>
              <a:bodyPr wrap="none" lIns="0" tIns="0" rIns="0" bIns="0" anchor="t" anchorCtr="0">
                <a:spAutoFit/>
              </a:bodyPr>
              <a:lstStyle/>
              <a:p>
                <a:pPr algn="ctr"/>
                <a:r>
                  <a:rPr lang="zh-CN" sz="520" dirty="0">
                    <a:solidFill>
                      <a:srgbClr val="5F6F6A"/>
                    </a:solidFill>
                    <a:latin typeface="+mn-lt"/>
                    <a:ea typeface="+mn-ea"/>
                    <a:cs typeface="+mn-cs"/>
                  </a:rPr>
                  <a:t>协同跟进​</a:t>
                </a:r>
              </a:p>
            </p:txBody>
          </p:sp>
          <p:sp>
            <p:nvSpPr>
              <p:cNvPr id="88" name="TextBox 88"/>
              <p:cNvSpPr txBox="1"/>
              <p:nvPr/>
            </p:nvSpPr>
            <p:spPr>
              <a:xfrm>
                <a:off x="800677" y="4572476"/>
                <a:ext cx="328036" cy="104775"/>
              </a:xfrm>
              <a:prstGeom prst="rect">
                <a:avLst/>
              </a:prstGeom>
              <a:noFill/>
              <a:ln>
                <a:noFill/>
              </a:ln>
            </p:spPr>
            <p:txBody>
              <a:bodyPr wrap="none" lIns="0" tIns="0" rIns="0" bIns="0" anchor="t" anchorCtr="0">
                <a:spAutoFit/>
              </a:bodyPr>
              <a:lstStyle/>
              <a:p>
                <a:pPr algn="r"/>
                <a:r>
                  <a:rPr lang="zh-CN" sz="520" dirty="0">
                    <a:solidFill>
                      <a:srgbClr val="5F6F6A"/>
                    </a:solidFill>
                    <a:latin typeface="+mn-lt"/>
                    <a:ea typeface="+mn-ea"/>
                    <a:cs typeface="+mn-cs"/>
                  </a:rPr>
                  <a:t>客户引流​</a:t>
                </a:r>
              </a:p>
            </p:txBody>
          </p:sp>
          <p:sp>
            <p:nvSpPr>
              <p:cNvPr id="89" name="TextBox 89"/>
              <p:cNvSpPr txBox="1"/>
              <p:nvPr/>
            </p:nvSpPr>
            <p:spPr>
              <a:xfrm>
                <a:off x="819727" y="4705826"/>
                <a:ext cx="328036" cy="104775"/>
              </a:xfrm>
              <a:prstGeom prst="rect">
                <a:avLst/>
              </a:prstGeom>
              <a:noFill/>
              <a:ln>
                <a:noFill/>
              </a:ln>
            </p:spPr>
            <p:txBody>
              <a:bodyPr wrap="none" lIns="0" tIns="0" rIns="0" bIns="0" anchor="t" anchorCtr="0">
                <a:spAutoFit/>
              </a:bodyPr>
              <a:lstStyle/>
              <a:p>
                <a:pPr algn="r"/>
                <a:r>
                  <a:rPr lang="zh-CN" sz="520" dirty="0">
                    <a:solidFill>
                      <a:srgbClr val="5F6F6A"/>
                    </a:solidFill>
                    <a:latin typeface="+mn-lt"/>
                    <a:ea typeface="+mn-ea"/>
                    <a:cs typeface="+mn-cs"/>
                  </a:rPr>
                  <a:t>机会转介​</a:t>
                </a:r>
              </a:p>
            </p:txBody>
          </p:sp>
          <p:sp>
            <p:nvSpPr>
              <p:cNvPr id="90" name="TextBox 90"/>
              <p:cNvSpPr txBox="1"/>
              <p:nvPr/>
            </p:nvSpPr>
            <p:spPr>
              <a:xfrm>
                <a:off x="2045782" y="4572476"/>
                <a:ext cx="328036" cy="104775"/>
              </a:xfrm>
              <a:prstGeom prst="rect">
                <a:avLst/>
              </a:prstGeom>
              <a:noFill/>
              <a:ln>
                <a:noFill/>
              </a:ln>
            </p:spPr>
            <p:txBody>
              <a:bodyPr wrap="none" lIns="0" tIns="0" rIns="0" bIns="0" anchor="t" anchorCtr="0">
                <a:spAutoFit/>
              </a:bodyPr>
              <a:lstStyle/>
              <a:p>
                <a:pPr algn="ctr"/>
                <a:r>
                  <a:rPr lang="zh-CN" sz="520" dirty="0">
                    <a:solidFill>
                      <a:srgbClr val="5F6F6A"/>
                    </a:solidFill>
                    <a:latin typeface="+mn-lt"/>
                    <a:ea typeface="+mn-ea"/>
                    <a:cs typeface="+mn-cs"/>
                  </a:rPr>
                  <a:t>服务支持​</a:t>
                </a:r>
              </a:p>
            </p:txBody>
          </p:sp>
          <p:sp>
            <p:nvSpPr>
              <p:cNvPr id="91" name="TextBox 91"/>
              <p:cNvSpPr txBox="1"/>
              <p:nvPr/>
            </p:nvSpPr>
            <p:spPr>
              <a:xfrm>
                <a:off x="2026732" y="4705826"/>
                <a:ext cx="328036" cy="104775"/>
              </a:xfrm>
              <a:prstGeom prst="rect">
                <a:avLst/>
              </a:prstGeom>
              <a:noFill/>
              <a:ln>
                <a:noFill/>
              </a:ln>
            </p:spPr>
            <p:txBody>
              <a:bodyPr wrap="none" lIns="0" tIns="0" rIns="0" bIns="0" anchor="t" anchorCtr="0">
                <a:spAutoFit/>
              </a:bodyPr>
              <a:lstStyle/>
              <a:p>
                <a:pPr algn="ctr"/>
                <a:r>
                  <a:rPr lang="zh-CN" sz="520" dirty="0">
                    <a:solidFill>
                      <a:srgbClr val="5F6F6A"/>
                    </a:solidFill>
                    <a:latin typeface="+mn-lt"/>
                    <a:ea typeface="+mn-ea"/>
                    <a:cs typeface="+mn-cs"/>
                  </a:rPr>
                  <a:t>信息补充​</a:t>
                </a:r>
              </a:p>
            </p:txBody>
          </p:sp>
        </p:grpSp>
        <p:sp>
          <p:nvSpPr>
            <p:cNvPr id="93" name="Rectangle 93"/>
            <p:cNvSpPr/>
            <p:nvPr/>
          </p:nvSpPr>
          <p:spPr>
            <a:xfrm>
              <a:off x="419100" y="6324600"/>
              <a:ext cx="2476500" cy="247650"/>
            </a:xfrm>
            <a:prstGeom prst="roundRect">
              <a:avLst>
                <a:gd name="adj" fmla="val 50000"/>
              </a:avLst>
            </a:prstGeom>
            <a:solidFill>
              <a:srgbClr val="E9F4F0"/>
            </a:solidFill>
            <a:ln>
              <a:noFill/>
            </a:ln>
          </p:spPr>
        </p:sp>
        <p:sp>
          <p:nvSpPr>
            <p:cNvPr id="94" name="TextBox 94"/>
            <p:cNvSpPr txBox="1"/>
            <p:nvPr/>
          </p:nvSpPr>
          <p:spPr>
            <a:xfrm>
              <a:off x="578455" y="6401514"/>
              <a:ext cx="2157791" cy="154781"/>
            </a:xfrm>
            <a:prstGeom prst="rect">
              <a:avLst/>
            </a:prstGeom>
            <a:noFill/>
            <a:ln>
              <a:noFill/>
            </a:ln>
          </p:spPr>
          <p:txBody>
            <a:bodyPr wrap="none" lIns="0" tIns="0" rIns="0" bIns="0" anchor="t" anchorCtr="0">
              <a:spAutoFit/>
            </a:bodyPr>
            <a:lstStyle/>
            <a:p>
              <a:pPr algn="ctr"/>
              <a:r>
                <a:rPr lang="zh-CN" sz="790" b="1" dirty="0">
                  <a:solidFill>
                    <a:srgbClr val="5B180B"/>
                  </a:solidFill>
                  <a:latin typeface="+mn-lt"/>
                  <a:ea typeface="+mn-ea"/>
                  <a:cs typeface="+mn-cs"/>
                </a:rPr>
                <a:t>一个客户 · 一支队伍 · 一体服务 · 全程运营​</a:t>
              </a:r>
            </a:p>
          </p:txBody>
        </p:sp>
      </p:grpSp>
      <p:grpSp>
        <p:nvGrpSpPr>
          <p:cNvPr id="126" name="kpi-row"/>
          <p:cNvGrpSpPr/>
          <p:nvPr/>
        </p:nvGrpSpPr>
        <p:grpSpPr>
          <a:xfrm>
            <a:off x="3200400" y="666750"/>
            <a:ext cx="8763000" cy="620839"/>
            <a:chOff x="3200400" y="666750"/>
            <a:chExt cx="8763000" cy="620839"/>
          </a:xfrm>
        </p:grpSpPr>
        <p:sp>
          <p:nvSpPr>
            <p:cNvPr id="96" name="Rectangle 96"/>
            <p:cNvSpPr/>
            <p:nvPr/>
          </p:nvSpPr>
          <p:spPr>
            <a:xfrm>
              <a:off x="3200400" y="666750"/>
              <a:ext cx="2838450" cy="609600"/>
            </a:xfrm>
            <a:prstGeom prst="roundRect">
              <a:avLst>
                <a:gd name="adj" fmla="val 12500"/>
              </a:avLst>
            </a:prstGeom>
            <a:solidFill>
              <a:srgbClr val="F5FAF8"/>
            </a:solidFill>
            <a:ln w="9525">
              <a:solidFill>
                <a:srgbClr val="D9E8E2"/>
              </a:solidFill>
            </a:ln>
          </p:spPr>
        </p:sp>
        <p:sp>
          <p:nvSpPr>
            <p:cNvPr id="97" name="Ellipse 97"/>
            <p:cNvSpPr/>
            <p:nvPr/>
          </p:nvSpPr>
          <p:spPr>
            <a:xfrm>
              <a:off x="3314700" y="800100"/>
              <a:ext cx="342900" cy="342900"/>
            </a:xfrm>
            <a:prstGeom prst="ellipse">
              <a:avLst/>
            </a:prstGeom>
            <a:solidFill>
              <a:srgbClr val="5B180B"/>
            </a:solidFill>
            <a:ln>
              <a:noFill/>
            </a:ln>
          </p:spPr>
        </p:sp>
        <p:grpSp>
          <p:nvGrpSpPr>
            <p:cNvPr id="102" name="Group 102"/>
            <p:cNvGrpSpPr/>
            <p:nvPr/>
          </p:nvGrpSpPr>
          <p:grpSpPr>
            <a:xfrm>
              <a:off x="3393281" y="878681"/>
              <a:ext cx="185737" cy="185738"/>
              <a:chOff x="3393281" y="878681"/>
              <a:chExt cx="185737" cy="185738"/>
            </a:xfrm>
          </p:grpSpPr>
          <p:sp>
            <p:nvSpPr>
              <p:cNvPr id="98" name="Freeform 98"/>
              <p:cNvSpPr/>
              <p:nvPr/>
            </p:nvSpPr>
            <p:spPr>
              <a:xfrm>
                <a:off x="3413919" y="8786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99" name="Freeform 99"/>
              <p:cNvSpPr/>
              <p:nvPr/>
            </p:nvSpPr>
            <p:spPr>
              <a:xfrm>
                <a:off x="3393281" y="10025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100" name="Freeform 100"/>
              <p:cNvSpPr/>
              <p:nvPr/>
            </p:nvSpPr>
            <p:spPr>
              <a:xfrm>
                <a:off x="3527424" y="8800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101" name="Freeform 101"/>
              <p:cNvSpPr/>
              <p:nvPr/>
            </p:nvSpPr>
            <p:spPr>
              <a:xfrm>
                <a:off x="3548062" y="10040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103" name="TextBox 103"/>
            <p:cNvSpPr txBox="1"/>
            <p:nvPr/>
          </p:nvSpPr>
          <p:spPr>
            <a:xfrm>
              <a:off x="3748088" y="787241"/>
              <a:ext cx="732569"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人均有效触达​</a:t>
              </a:r>
            </a:p>
          </p:txBody>
        </p:sp>
        <p:sp>
          <p:nvSpPr>
            <p:cNvPr id="104" name="TextBox 104"/>
            <p:cNvSpPr txBox="1"/>
            <p:nvPr/>
          </p:nvSpPr>
          <p:spPr>
            <a:xfrm>
              <a:off x="3744468" y="964882"/>
              <a:ext cx="746892"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35</a:t>
              </a:r>
              <a:r>
                <a:rPr lang="zh-CN" sz="900" dirty="0">
                  <a:solidFill>
                    <a:srgbClr val="5F6F6A"/>
                  </a:solidFill>
                  <a:latin typeface="+mn-lt"/>
                  <a:ea typeface="+mn-ea"/>
                  <a:cs typeface="+mn-cs"/>
                </a:rPr>
                <a:t xml:space="preserve"> 户/日</a:t>
              </a:r>
              <a:r>
                <a:rPr lang="zh-CN" sz="1650" b="1" dirty="0">
                  <a:solidFill>
                    <a:srgbClr val="5B180B"/>
                  </a:solidFill>
                  <a:latin typeface="+mn-lt"/>
                  <a:ea typeface="+mn-ea"/>
                  <a:cs typeface="+mn-cs"/>
                </a:rPr>
                <a:t>​</a:t>
              </a:r>
            </a:p>
          </p:txBody>
        </p:sp>
        <p:sp>
          <p:nvSpPr>
            <p:cNvPr id="105" name="TextBox 105"/>
            <p:cNvSpPr txBox="1"/>
            <p:nvPr/>
          </p:nvSpPr>
          <p:spPr>
            <a:xfrm>
              <a:off x="5138738" y="989886"/>
              <a:ext cx="480122"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较Q3提升​</a:t>
              </a:r>
            </a:p>
          </p:txBody>
        </p:sp>
        <p:sp>
          <p:nvSpPr>
            <p:cNvPr id="106" name="TextBox 106"/>
            <p:cNvSpPr txBox="1"/>
            <p:nvPr/>
          </p:nvSpPr>
          <p:spPr>
            <a:xfrm>
              <a:off x="5633847" y="961549"/>
              <a:ext cx="460109" cy="190690"/>
            </a:xfrm>
            <a:prstGeom prst="rect">
              <a:avLst/>
            </a:prstGeom>
            <a:noFill/>
            <a:ln>
              <a:noFill/>
            </a:ln>
          </p:spPr>
          <p:txBody>
            <a:bodyPr wrap="none" lIns="0" tIns="0" rIns="0" bIns="0" anchor="t" anchorCtr="0">
              <a:spAutoFit/>
            </a:bodyPr>
            <a:lstStyle/>
            <a:p>
              <a:pPr algn="l"/>
              <a:r>
                <a:rPr lang="zh-CN" sz="980" b="1" dirty="0">
                  <a:solidFill>
                    <a:srgbClr val="9E402E"/>
                  </a:solidFill>
                  <a:latin typeface="+mn-lt"/>
                  <a:ea typeface="+mn-ea"/>
                  <a:cs typeface="+mn-cs"/>
                </a:rPr>
                <a:t>40% ↗​</a:t>
              </a:r>
            </a:p>
          </p:txBody>
        </p:sp>
        <p:sp>
          <p:nvSpPr>
            <p:cNvPr id="107" name="Rectangle 107"/>
            <p:cNvSpPr/>
            <p:nvPr/>
          </p:nvSpPr>
          <p:spPr>
            <a:xfrm>
              <a:off x="6162675" y="666750"/>
              <a:ext cx="2838450" cy="609600"/>
            </a:xfrm>
            <a:prstGeom prst="roundRect">
              <a:avLst>
                <a:gd name="adj" fmla="val 12500"/>
              </a:avLst>
            </a:prstGeom>
            <a:solidFill>
              <a:srgbClr val="F5FAF8"/>
            </a:solidFill>
            <a:ln w="9525">
              <a:solidFill>
                <a:srgbClr val="D9E8E2"/>
              </a:solidFill>
            </a:ln>
          </p:spPr>
        </p:sp>
        <p:sp>
          <p:nvSpPr>
            <p:cNvPr id="108" name="Ellipse 108"/>
            <p:cNvSpPr/>
            <p:nvPr/>
          </p:nvSpPr>
          <p:spPr>
            <a:xfrm>
              <a:off x="6276975" y="800100"/>
              <a:ext cx="342900" cy="342900"/>
            </a:xfrm>
            <a:prstGeom prst="ellipse">
              <a:avLst/>
            </a:prstGeom>
            <a:solidFill>
              <a:srgbClr val="5B180B"/>
            </a:solidFill>
            <a:ln>
              <a:noFill/>
            </a:ln>
          </p:spPr>
        </p:sp>
        <p:grpSp>
          <p:nvGrpSpPr>
            <p:cNvPr id="111" name="Group 111"/>
            <p:cNvGrpSpPr/>
            <p:nvPr/>
          </p:nvGrpSpPr>
          <p:grpSpPr>
            <a:xfrm>
              <a:off x="6355556" y="878681"/>
              <a:ext cx="185737" cy="185737"/>
              <a:chOff x="6355556" y="878681"/>
              <a:chExt cx="185737" cy="185737"/>
            </a:xfrm>
          </p:grpSpPr>
          <p:sp>
            <p:nvSpPr>
              <p:cNvPr id="109" name="Freeform 109"/>
              <p:cNvSpPr/>
              <p:nvPr/>
            </p:nvSpPr>
            <p:spPr>
              <a:xfrm>
                <a:off x="6355556" y="8786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sp>
            <p:nvSpPr>
              <p:cNvPr id="110" name="Freeform 110"/>
              <p:cNvSpPr/>
              <p:nvPr/>
            </p:nvSpPr>
            <p:spPr>
              <a:xfrm>
                <a:off x="6417468" y="950912"/>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112" name="TextBox 112"/>
            <p:cNvSpPr txBox="1"/>
            <p:nvPr/>
          </p:nvSpPr>
          <p:spPr>
            <a:xfrm>
              <a:off x="6710362" y="787241"/>
              <a:ext cx="511792"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日均转化​</a:t>
              </a:r>
            </a:p>
          </p:txBody>
        </p:sp>
        <p:sp>
          <p:nvSpPr>
            <p:cNvPr id="113" name="TextBox 113"/>
            <p:cNvSpPr txBox="1"/>
            <p:nvPr/>
          </p:nvSpPr>
          <p:spPr>
            <a:xfrm>
              <a:off x="6706743" y="964882"/>
              <a:ext cx="687374"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8.2</a:t>
              </a:r>
              <a:r>
                <a:rPr lang="zh-CN" sz="900" dirty="0">
                  <a:solidFill>
                    <a:srgbClr val="5F6F6A"/>
                  </a:solidFill>
                  <a:latin typeface="+mn-lt"/>
                  <a:ea typeface="+mn-ea"/>
                  <a:cs typeface="+mn-cs"/>
                </a:rPr>
                <a:t xml:space="preserve"> 户</a:t>
              </a:r>
              <a:r>
                <a:rPr lang="zh-CN" sz="1650" b="1" dirty="0">
                  <a:solidFill>
                    <a:srgbClr val="5B180B"/>
                  </a:solidFill>
                  <a:latin typeface="+mn-lt"/>
                  <a:ea typeface="+mn-ea"/>
                  <a:cs typeface="+mn-cs"/>
                </a:rPr>
                <a:t>​</a:t>
              </a:r>
            </a:p>
          </p:txBody>
        </p:sp>
        <p:sp>
          <p:nvSpPr>
            <p:cNvPr id="114" name="TextBox 114"/>
            <p:cNvSpPr txBox="1"/>
            <p:nvPr/>
          </p:nvSpPr>
          <p:spPr>
            <a:xfrm>
              <a:off x="8101012" y="989886"/>
              <a:ext cx="480122"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较Q3提升​</a:t>
              </a:r>
            </a:p>
          </p:txBody>
        </p:sp>
        <p:sp>
          <p:nvSpPr>
            <p:cNvPr id="115" name="TextBox 115"/>
            <p:cNvSpPr txBox="1"/>
            <p:nvPr/>
          </p:nvSpPr>
          <p:spPr>
            <a:xfrm>
              <a:off x="8596122" y="961549"/>
              <a:ext cx="460109" cy="190690"/>
            </a:xfrm>
            <a:prstGeom prst="rect">
              <a:avLst/>
            </a:prstGeom>
            <a:noFill/>
            <a:ln>
              <a:noFill/>
            </a:ln>
          </p:spPr>
          <p:txBody>
            <a:bodyPr wrap="none" lIns="0" tIns="0" rIns="0" bIns="0" anchor="t" anchorCtr="0">
              <a:spAutoFit/>
            </a:bodyPr>
            <a:lstStyle/>
            <a:p>
              <a:pPr algn="l"/>
              <a:r>
                <a:rPr lang="zh-CN" sz="980" b="1" dirty="0">
                  <a:solidFill>
                    <a:srgbClr val="9E402E"/>
                  </a:solidFill>
                  <a:latin typeface="+mn-lt"/>
                  <a:ea typeface="+mn-ea"/>
                  <a:cs typeface="+mn-cs"/>
                </a:rPr>
                <a:t>35% ↗​</a:t>
              </a:r>
            </a:p>
          </p:txBody>
        </p:sp>
        <p:sp>
          <p:nvSpPr>
            <p:cNvPr id="116" name="Rectangle 116"/>
            <p:cNvSpPr/>
            <p:nvPr/>
          </p:nvSpPr>
          <p:spPr>
            <a:xfrm>
              <a:off x="9124950" y="666750"/>
              <a:ext cx="2838450" cy="609600"/>
            </a:xfrm>
            <a:prstGeom prst="roundRect">
              <a:avLst>
                <a:gd name="adj" fmla="val 12500"/>
              </a:avLst>
            </a:prstGeom>
            <a:solidFill>
              <a:srgbClr val="F5FAF8"/>
            </a:solidFill>
            <a:ln w="9525">
              <a:solidFill>
                <a:srgbClr val="D9E8E2"/>
              </a:solidFill>
            </a:ln>
          </p:spPr>
        </p:sp>
        <p:sp>
          <p:nvSpPr>
            <p:cNvPr id="117" name="Ellipse 117"/>
            <p:cNvSpPr/>
            <p:nvPr/>
          </p:nvSpPr>
          <p:spPr>
            <a:xfrm>
              <a:off x="9239250" y="800100"/>
              <a:ext cx="342900" cy="342900"/>
            </a:xfrm>
            <a:prstGeom prst="ellipse">
              <a:avLst/>
            </a:prstGeom>
            <a:solidFill>
              <a:srgbClr val="5B180B"/>
            </a:solidFill>
            <a:ln>
              <a:noFill/>
            </a:ln>
          </p:spPr>
        </p:sp>
        <p:grpSp>
          <p:nvGrpSpPr>
            <p:cNvPr id="121" name="Group 121"/>
            <p:cNvGrpSpPr/>
            <p:nvPr/>
          </p:nvGrpSpPr>
          <p:grpSpPr>
            <a:xfrm>
              <a:off x="9338469" y="878681"/>
              <a:ext cx="144462" cy="185737"/>
              <a:chOff x="9338469" y="878681"/>
              <a:chExt cx="144462" cy="185737"/>
            </a:xfrm>
          </p:grpSpPr>
          <p:sp>
            <p:nvSpPr>
              <p:cNvPr id="118" name="Freeform 118"/>
              <p:cNvSpPr/>
              <p:nvPr/>
            </p:nvSpPr>
            <p:spPr>
              <a:xfrm>
                <a:off x="9338469" y="940593"/>
                <a:ext cx="144462" cy="123825"/>
              </a:xfrm>
              <a:custGeom>
                <a:avLst/>
                <a:gdLst/>
                <a:ahLst/>
                <a:cxnLst/>
                <a:rect l="l" t="t" r="r" b="b"/>
                <a:pathLst>
                  <a:path w="144462" h="123825">
                    <a:moveTo>
                      <a:pt x="30956" y="0"/>
                    </a:moveTo>
                    <a:lnTo>
                      <a:pt x="20637" y="0"/>
                    </a:lnTo>
                    <a:cubicBezTo>
                      <a:pt x="9240" y="0"/>
                      <a:pt x="0" y="9240"/>
                      <a:pt x="0" y="20637"/>
                    </a:cubicBezTo>
                    <a:lnTo>
                      <a:pt x="0" y="103187"/>
                    </a:lnTo>
                    <a:cubicBezTo>
                      <a:pt x="0" y="114585"/>
                      <a:pt x="9240" y="123825"/>
                      <a:pt x="20637" y="123825"/>
                    </a:cubicBezTo>
                    <a:lnTo>
                      <a:pt x="123825" y="123825"/>
                    </a:lnTo>
                    <a:cubicBezTo>
                      <a:pt x="135222" y="123825"/>
                      <a:pt x="144462" y="114585"/>
                      <a:pt x="144462" y="103187"/>
                    </a:cubicBezTo>
                    <a:lnTo>
                      <a:pt x="144462" y="20637"/>
                    </a:lnTo>
                    <a:cubicBezTo>
                      <a:pt x="144462" y="9240"/>
                      <a:pt x="135222" y="0"/>
                      <a:pt x="123825" y="0"/>
                    </a:cubicBezTo>
                    <a:lnTo>
                      <a:pt x="113506" y="0"/>
                    </a:lnTo>
                  </a:path>
                </a:pathLst>
              </a:custGeom>
              <a:noFill/>
              <a:ln w="20637">
                <a:solidFill>
                  <a:srgbClr val="FFFFFF"/>
                </a:solidFill>
              </a:ln>
            </p:spPr>
          </p:sp>
          <p:sp>
            <p:nvSpPr>
              <p:cNvPr id="119" name="Freeform 119"/>
              <p:cNvSpPr/>
              <p:nvPr/>
            </p:nvSpPr>
            <p:spPr>
              <a:xfrm>
                <a:off x="9410700" y="878681"/>
                <a:ext cx="9525" cy="113506"/>
              </a:xfrm>
              <a:custGeom>
                <a:avLst/>
                <a:gdLst/>
                <a:ahLst/>
                <a:cxnLst/>
                <a:rect l="l" t="t" r="r" b="b"/>
                <a:pathLst>
                  <a:path w="9525" h="113506">
                    <a:moveTo>
                      <a:pt x="0" y="113506"/>
                    </a:moveTo>
                    <a:lnTo>
                      <a:pt x="0" y="0"/>
                    </a:lnTo>
                  </a:path>
                </a:pathLst>
              </a:custGeom>
              <a:noFill/>
              <a:ln w="20637">
                <a:solidFill>
                  <a:srgbClr val="FFFFFF"/>
                </a:solidFill>
              </a:ln>
            </p:spPr>
          </p:sp>
          <p:sp>
            <p:nvSpPr>
              <p:cNvPr id="120" name="Freeform 120"/>
              <p:cNvSpPr/>
              <p:nvPr/>
            </p:nvSpPr>
            <p:spPr>
              <a:xfrm>
                <a:off x="9379743" y="878681"/>
                <a:ext cx="61912" cy="30956"/>
              </a:xfrm>
              <a:custGeom>
                <a:avLst/>
                <a:gdLst/>
                <a:ahLst/>
                <a:cxnLst/>
                <a:rect l="l" t="t" r="r" b="b"/>
                <a:pathLst>
                  <a:path w="61912" h="30956">
                    <a:moveTo>
                      <a:pt x="0" y="30956"/>
                    </a:moveTo>
                    <a:lnTo>
                      <a:pt x="30956" y="0"/>
                    </a:lnTo>
                    <a:lnTo>
                      <a:pt x="61912" y="30956"/>
                    </a:lnTo>
                  </a:path>
                </a:pathLst>
              </a:custGeom>
              <a:noFill/>
              <a:ln w="20637">
                <a:solidFill>
                  <a:srgbClr val="FFFFFF"/>
                </a:solidFill>
              </a:ln>
            </p:spPr>
          </p:sp>
        </p:grpSp>
        <p:sp>
          <p:nvSpPr>
            <p:cNvPr id="122" name="TextBox 122"/>
            <p:cNvSpPr txBox="1"/>
            <p:nvPr/>
          </p:nvSpPr>
          <p:spPr>
            <a:xfrm>
              <a:off x="9672638" y="787241"/>
              <a:ext cx="622181" cy="161925"/>
            </a:xfrm>
            <a:prstGeom prst="rect">
              <a:avLst/>
            </a:prstGeom>
            <a:noFill/>
            <a:ln>
              <a:noFill/>
            </a:ln>
          </p:spPr>
          <p:txBody>
            <a:bodyPr wrap="none" lIns="0" tIns="0" rIns="0" bIns="0" anchor="t" anchorCtr="0">
              <a:spAutoFit/>
            </a:bodyPr>
            <a:lstStyle/>
            <a:p>
              <a:pPr algn="l"/>
              <a:r>
                <a:rPr lang="zh-CN" sz="820" dirty="0">
                  <a:solidFill>
                    <a:srgbClr val="5F6F6A"/>
                  </a:solidFill>
                  <a:latin typeface="+mn-lt"/>
                  <a:ea typeface="+mn-ea"/>
                  <a:cs typeface="+mn-cs"/>
                </a:rPr>
                <a:t>协同转介率​</a:t>
              </a:r>
            </a:p>
          </p:txBody>
        </p:sp>
        <p:sp>
          <p:nvSpPr>
            <p:cNvPr id="123" name="TextBox 123"/>
            <p:cNvSpPr txBox="1"/>
            <p:nvPr/>
          </p:nvSpPr>
          <p:spPr>
            <a:xfrm>
              <a:off x="9669018" y="964882"/>
              <a:ext cx="576514" cy="322707"/>
            </a:xfrm>
            <a:prstGeom prst="rect">
              <a:avLst/>
            </a:prstGeom>
            <a:noFill/>
            <a:ln>
              <a:noFill/>
            </a:ln>
          </p:spPr>
          <p:txBody>
            <a:bodyPr wrap="none" lIns="0" tIns="0" rIns="0" bIns="0" anchor="t" anchorCtr="0">
              <a:spAutoFit/>
            </a:bodyPr>
            <a:lstStyle/>
            <a:p>
              <a:pPr algn="l"/>
              <a:r>
                <a:rPr lang="zh-CN" sz="1650" b="1" dirty="0">
                  <a:solidFill>
                    <a:srgbClr val="5B180B"/>
                  </a:solidFill>
                  <a:latin typeface="+mn-lt"/>
                  <a:ea typeface="+mn-ea"/>
                  <a:cs typeface="+mn-cs"/>
                </a:rPr>
                <a:t>42%​</a:t>
              </a:r>
            </a:p>
          </p:txBody>
        </p:sp>
        <p:sp>
          <p:nvSpPr>
            <p:cNvPr id="124" name="TextBox 124"/>
            <p:cNvSpPr txBox="1"/>
            <p:nvPr/>
          </p:nvSpPr>
          <p:spPr>
            <a:xfrm>
              <a:off x="10396538" y="989886"/>
              <a:ext cx="480122" cy="140494"/>
            </a:xfrm>
            <a:prstGeom prst="rect">
              <a:avLst/>
            </a:prstGeom>
            <a:noFill/>
            <a:ln>
              <a:noFill/>
            </a:ln>
          </p:spPr>
          <p:txBody>
            <a:bodyPr wrap="none" lIns="0" tIns="0" rIns="0" bIns="0" anchor="t" anchorCtr="0">
              <a:spAutoFit/>
            </a:bodyPr>
            <a:lstStyle/>
            <a:p>
              <a:pPr algn="l"/>
              <a:r>
                <a:rPr lang="zh-CN" sz="710" dirty="0">
                  <a:solidFill>
                    <a:srgbClr val="5F6F6A"/>
                  </a:solidFill>
                  <a:latin typeface="+mn-lt"/>
                  <a:ea typeface="+mn-ea"/>
                  <a:cs typeface="+mn-cs"/>
                </a:rPr>
                <a:t>较Q3提升​</a:t>
              </a:r>
            </a:p>
          </p:txBody>
        </p:sp>
        <p:sp>
          <p:nvSpPr>
            <p:cNvPr id="125" name="TextBox 125"/>
            <p:cNvSpPr txBox="1"/>
            <p:nvPr/>
          </p:nvSpPr>
          <p:spPr>
            <a:xfrm>
              <a:off x="10891838" y="977741"/>
              <a:ext cx="490542" cy="161925"/>
            </a:xfrm>
            <a:prstGeom prst="rect">
              <a:avLst/>
            </a:prstGeom>
            <a:noFill/>
            <a:ln>
              <a:noFill/>
            </a:ln>
          </p:spPr>
          <p:txBody>
            <a:bodyPr wrap="none" lIns="0" tIns="0" rIns="0" bIns="0" anchor="t" anchorCtr="0">
              <a:spAutoFit/>
            </a:bodyPr>
            <a:lstStyle/>
            <a:p>
              <a:pPr algn="l"/>
              <a:r>
                <a:rPr lang="en-US" sz="820" b="1" dirty="0">
                  <a:solidFill>
                    <a:srgbClr val="9E402E"/>
                  </a:solidFill>
                  <a:latin typeface="+mn-lt"/>
                  <a:ea typeface="+mn-ea"/>
                  <a:cs typeface="+mn-cs"/>
                </a:rPr>
                <a:t>12pct ↗​</a:t>
              </a:r>
            </a:p>
          </p:txBody>
        </p:sp>
      </p:grpSp>
      <p:grpSp>
        <p:nvGrpSpPr>
          <p:cNvPr id="194" name="schedule-card"/>
          <p:cNvGrpSpPr/>
          <p:nvPr/>
        </p:nvGrpSpPr>
        <p:grpSpPr>
          <a:xfrm>
            <a:off x="3200400" y="1390650"/>
            <a:ext cx="4000500" cy="3657600"/>
            <a:chOff x="3200400" y="1390650"/>
            <a:chExt cx="4000500" cy="3657600"/>
          </a:xfrm>
        </p:grpSpPr>
        <p:sp>
          <p:nvSpPr>
            <p:cNvPr id="127" name="Rectangle 127"/>
            <p:cNvSpPr/>
            <p:nvPr/>
          </p:nvSpPr>
          <p:spPr>
            <a:xfrm>
              <a:off x="3200400" y="1390650"/>
              <a:ext cx="4000500" cy="3657600"/>
            </a:xfrm>
            <a:prstGeom prst="roundRect">
              <a:avLst>
                <a:gd name="adj" fmla="val 2604"/>
              </a:avLst>
            </a:prstGeom>
            <a:solidFill>
              <a:srgbClr val="F5FAF8"/>
            </a:solidFill>
            <a:ln w="9525">
              <a:solidFill>
                <a:srgbClr val="D9E8E2"/>
              </a:solidFill>
            </a:ln>
          </p:spPr>
        </p:sp>
        <p:sp>
          <p:nvSpPr>
            <p:cNvPr id="128" name="Rectangle 128"/>
            <p:cNvSpPr/>
            <p:nvPr/>
          </p:nvSpPr>
          <p:spPr>
            <a:xfrm>
              <a:off x="3200400" y="1390650"/>
              <a:ext cx="1238250" cy="228600"/>
            </a:xfrm>
            <a:prstGeom prst="roundRect">
              <a:avLst>
                <a:gd name="adj" fmla="val 16667"/>
              </a:avLst>
            </a:prstGeom>
            <a:solidFill>
              <a:srgbClr val="5B180B"/>
            </a:solidFill>
            <a:ln>
              <a:noFill/>
            </a:ln>
          </p:spPr>
        </p:sp>
        <p:sp>
          <p:nvSpPr>
            <p:cNvPr id="129" name="TextBox 129"/>
            <p:cNvSpPr txBox="1"/>
            <p:nvPr/>
          </p:nvSpPr>
          <p:spPr>
            <a:xfrm>
              <a:off x="3309938" y="1459468"/>
              <a:ext cx="771023"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每日作战日程​</a:t>
              </a:r>
            </a:p>
          </p:txBody>
        </p:sp>
        <p:sp>
          <p:nvSpPr>
            <p:cNvPr id="130" name="TextBox 130"/>
            <p:cNvSpPr txBox="1"/>
            <p:nvPr/>
          </p:nvSpPr>
          <p:spPr>
            <a:xfrm>
              <a:off x="5882373" y="1487805"/>
              <a:ext cx="1208989" cy="119062"/>
            </a:xfrm>
            <a:prstGeom prst="rect">
              <a:avLst/>
            </a:prstGeom>
            <a:noFill/>
            <a:ln>
              <a:noFill/>
            </a:ln>
          </p:spPr>
          <p:txBody>
            <a:bodyPr wrap="none" lIns="0" tIns="0" rIns="0" bIns="0" anchor="t" anchorCtr="0">
              <a:spAutoFit/>
            </a:bodyPr>
            <a:lstStyle/>
            <a:p>
              <a:pPr algn="r"/>
              <a:r>
                <a:rPr lang="zh-CN" sz="600" dirty="0">
                  <a:solidFill>
                    <a:srgbClr val="8AA39C"/>
                  </a:solidFill>
                  <a:latin typeface="+mn-lt"/>
                  <a:ea typeface="+mn-ea"/>
                  <a:cs typeface="+mn-cs"/>
                </a:rPr>
                <a:t>目标导向 · 节奏紧凑 · 执行闭环​</a:t>
              </a:r>
            </a:p>
          </p:txBody>
        </p:sp>
        <p:sp>
          <p:nvSpPr>
            <p:cNvPr id="131" name="Line 131"/>
            <p:cNvSpPr/>
            <p:nvPr/>
          </p:nvSpPr>
          <p:spPr>
            <a:xfrm>
              <a:off x="3771900" y="1809750"/>
              <a:ext cx="9525" cy="3067050"/>
            </a:xfrm>
            <a:custGeom>
              <a:avLst/>
              <a:gdLst/>
              <a:ahLst/>
              <a:cxnLst/>
              <a:rect l="l" t="t" r="r" b="b"/>
              <a:pathLst>
                <a:path w="9525" h="3067050">
                  <a:moveTo>
                    <a:pt x="0" y="0"/>
                  </a:moveTo>
                  <a:lnTo>
                    <a:pt x="0" y="3067050"/>
                  </a:lnTo>
                </a:path>
              </a:pathLst>
            </a:custGeom>
            <a:noFill/>
            <a:ln w="19050">
              <a:solidFill>
                <a:srgbClr val="C9988F"/>
              </a:solidFill>
            </a:ln>
          </p:spPr>
        </p:sp>
        <p:grpSp>
          <p:nvGrpSpPr>
            <p:cNvPr id="193" name="sched-items"/>
            <p:cNvGrpSpPr/>
            <p:nvPr/>
          </p:nvGrpSpPr>
          <p:grpSpPr>
            <a:xfrm>
              <a:off x="3322435" y="1752600"/>
              <a:ext cx="3764165" cy="2914650"/>
              <a:chOff x="3322435" y="1752600"/>
              <a:chExt cx="3764165" cy="2914650"/>
            </a:xfrm>
          </p:grpSpPr>
          <p:sp>
            <p:nvSpPr>
              <p:cNvPr id="132" name="Ellipse 132"/>
              <p:cNvSpPr/>
              <p:nvPr/>
            </p:nvSpPr>
            <p:spPr>
              <a:xfrm>
                <a:off x="3724275" y="1933575"/>
                <a:ext cx="95250" cy="95250"/>
              </a:xfrm>
              <a:prstGeom prst="ellipse">
                <a:avLst/>
              </a:prstGeom>
              <a:solidFill>
                <a:srgbClr val="5B180B"/>
              </a:solidFill>
              <a:ln>
                <a:noFill/>
              </a:ln>
            </p:spPr>
          </p:sp>
          <p:sp>
            <p:nvSpPr>
              <p:cNvPr id="133" name="TextBox 133"/>
              <p:cNvSpPr txBox="1"/>
              <p:nvPr/>
            </p:nvSpPr>
            <p:spPr>
              <a:xfrm>
                <a:off x="3322435" y="1934289"/>
                <a:ext cx="378027" cy="154781"/>
              </a:xfrm>
              <a:prstGeom prst="rect">
                <a:avLst/>
              </a:prstGeom>
              <a:noFill/>
              <a:ln>
                <a:noFill/>
              </a:ln>
            </p:spPr>
            <p:txBody>
              <a:bodyPr wrap="none" lIns="0" tIns="0" rIns="0" bIns="0" anchor="t" anchorCtr="0">
                <a:spAutoFit/>
              </a:bodyPr>
              <a:lstStyle/>
              <a:p>
                <a:pPr algn="r"/>
                <a:r>
                  <a:rPr lang="zh-CN" sz="790" b="1" dirty="0">
                    <a:solidFill>
                      <a:srgbClr val="5B180B"/>
                    </a:solidFill>
                    <a:latin typeface="+mn-lt"/>
                    <a:ea typeface="+mn-ea"/>
                    <a:cs typeface="+mn-cs"/>
                  </a:rPr>
                  <a:t>08:30​</a:t>
                </a:r>
              </a:p>
            </p:txBody>
          </p:sp>
          <p:sp>
            <p:nvSpPr>
              <p:cNvPr id="134" name="Rectangle 134"/>
              <p:cNvSpPr/>
              <p:nvPr/>
            </p:nvSpPr>
            <p:spPr>
              <a:xfrm>
                <a:off x="3886200" y="1752600"/>
                <a:ext cx="3200400" cy="476250"/>
              </a:xfrm>
              <a:prstGeom prst="roundRect">
                <a:avLst>
                  <a:gd name="adj" fmla="val 12000"/>
                </a:avLst>
              </a:prstGeom>
              <a:solidFill>
                <a:srgbClr val="FFFFFF"/>
              </a:solidFill>
              <a:ln w="7620">
                <a:solidFill>
                  <a:srgbClr val="D9E8E2"/>
                </a:solidFill>
              </a:ln>
            </p:spPr>
          </p:sp>
          <p:grpSp>
            <p:nvGrpSpPr>
              <p:cNvPr id="137" name="Group 137"/>
              <p:cNvGrpSpPr/>
              <p:nvPr/>
            </p:nvGrpSpPr>
            <p:grpSpPr>
              <a:xfrm>
                <a:off x="4006056" y="1912967"/>
                <a:ext cx="122238" cy="156340"/>
                <a:chOff x="4006056" y="1912967"/>
                <a:chExt cx="122238" cy="156340"/>
              </a:xfrm>
            </p:grpSpPr>
            <p:sp>
              <p:nvSpPr>
                <p:cNvPr id="135" name="Freeform 135"/>
                <p:cNvSpPr/>
                <p:nvPr/>
              </p:nvSpPr>
              <p:spPr>
                <a:xfrm>
                  <a:off x="4006056" y="1912967"/>
                  <a:ext cx="122238" cy="111860"/>
                </a:xfrm>
                <a:custGeom>
                  <a:avLst/>
                  <a:gdLst/>
                  <a:ahLst/>
                  <a:cxnLst/>
                  <a:rect l="l" t="t" r="r" b="b"/>
                  <a:pathLst>
                    <a:path w="122238" h="111860">
                      <a:moveTo>
                        <a:pt x="0" y="16639"/>
                      </a:moveTo>
                      <a:cubicBezTo>
                        <a:pt x="16975" y="0"/>
                        <a:pt x="44143" y="0"/>
                        <a:pt x="61119" y="16639"/>
                      </a:cubicBezTo>
                      <a:cubicBezTo>
                        <a:pt x="78094" y="33279"/>
                        <a:pt x="105262" y="33279"/>
                        <a:pt x="122238" y="16639"/>
                      </a:cubicBezTo>
                      <a:lnTo>
                        <a:pt x="122238" y="95221"/>
                      </a:lnTo>
                      <a:cubicBezTo>
                        <a:pt x="105262" y="111860"/>
                        <a:pt x="78094" y="111860"/>
                        <a:pt x="61119" y="95221"/>
                      </a:cubicBezTo>
                      <a:cubicBezTo>
                        <a:pt x="44143" y="78581"/>
                        <a:pt x="16975" y="78581"/>
                        <a:pt x="0" y="95221"/>
                      </a:cubicBezTo>
                      <a:lnTo>
                        <a:pt x="0" y="16639"/>
                      </a:lnTo>
                    </a:path>
                  </a:pathLst>
                </a:custGeom>
                <a:noFill/>
                <a:ln w="17463">
                  <a:solidFill>
                    <a:srgbClr val="5B180B"/>
                  </a:solidFill>
                </a:ln>
              </p:spPr>
            </p:sp>
            <p:sp>
              <p:nvSpPr>
                <p:cNvPr id="136" name="Freeform 136"/>
                <p:cNvSpPr/>
                <p:nvPr/>
              </p:nvSpPr>
              <p:spPr>
                <a:xfrm>
                  <a:off x="4006056" y="2008188"/>
                  <a:ext cx="9525" cy="61119"/>
                </a:xfrm>
                <a:custGeom>
                  <a:avLst/>
                  <a:gdLst/>
                  <a:ahLst/>
                  <a:cxnLst/>
                  <a:rect l="l" t="t" r="r" b="b"/>
                  <a:pathLst>
                    <a:path w="9525" h="61119">
                      <a:moveTo>
                        <a:pt x="0" y="61119"/>
                      </a:moveTo>
                      <a:lnTo>
                        <a:pt x="0" y="0"/>
                      </a:lnTo>
                    </a:path>
                  </a:pathLst>
                </a:custGeom>
                <a:noFill/>
                <a:ln w="17463">
                  <a:solidFill>
                    <a:srgbClr val="5B180B"/>
                  </a:solidFill>
                </a:ln>
              </p:spPr>
            </p:sp>
          </p:grpSp>
          <p:sp>
            <p:nvSpPr>
              <p:cNvPr id="138" name="TextBox 138"/>
              <p:cNvSpPr txBox="1"/>
              <p:nvPr/>
            </p:nvSpPr>
            <p:spPr>
              <a:xfrm>
                <a:off x="4243388" y="1858089"/>
                <a:ext cx="831875"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晨会（30分钟）​</a:t>
                </a:r>
              </a:p>
            </p:txBody>
          </p:sp>
          <p:sp>
            <p:nvSpPr>
              <p:cNvPr id="139" name="TextBox 139"/>
              <p:cNvSpPr txBox="1"/>
              <p:nvPr/>
            </p:nvSpPr>
            <p:spPr>
              <a:xfrm>
                <a:off x="4243388" y="2045732"/>
                <a:ext cx="1288953"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通报进度 · 分配名单 · 明确重点​</a:t>
                </a:r>
              </a:p>
            </p:txBody>
          </p:sp>
          <p:sp>
            <p:nvSpPr>
              <p:cNvPr id="140" name="Rectangle 140"/>
              <p:cNvSpPr/>
              <p:nvPr/>
            </p:nvSpPr>
            <p:spPr>
              <a:xfrm>
                <a:off x="6438900" y="1866900"/>
                <a:ext cx="571500" cy="266700"/>
              </a:xfrm>
              <a:prstGeom prst="roundRect">
                <a:avLst>
                  <a:gd name="adj" fmla="val 14286"/>
                </a:avLst>
              </a:prstGeom>
              <a:solidFill>
                <a:srgbClr val="E9F4F0"/>
              </a:solidFill>
              <a:ln>
                <a:noFill/>
              </a:ln>
            </p:spPr>
          </p:sp>
          <p:sp>
            <p:nvSpPr>
              <p:cNvPr id="141" name="TextBox 141"/>
              <p:cNvSpPr txBox="1"/>
              <p:nvPr/>
            </p:nvSpPr>
            <p:spPr>
              <a:xfrm>
                <a:off x="6548382" y="1920478"/>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统一目标​</a:t>
                </a:r>
              </a:p>
            </p:txBody>
          </p:sp>
          <p:sp>
            <p:nvSpPr>
              <p:cNvPr id="142" name="TextBox 142"/>
              <p:cNvSpPr txBox="1"/>
              <p:nvPr/>
            </p:nvSpPr>
            <p:spPr>
              <a:xfrm>
                <a:off x="6548382" y="2025253"/>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启动作战​</a:t>
                </a:r>
              </a:p>
            </p:txBody>
          </p:sp>
          <p:sp>
            <p:nvSpPr>
              <p:cNvPr id="143" name="Ellipse 143"/>
              <p:cNvSpPr/>
              <p:nvPr/>
            </p:nvSpPr>
            <p:spPr>
              <a:xfrm>
                <a:off x="3724275" y="2543175"/>
                <a:ext cx="95250" cy="95250"/>
              </a:xfrm>
              <a:prstGeom prst="ellipse">
                <a:avLst/>
              </a:prstGeom>
              <a:solidFill>
                <a:srgbClr val="722617"/>
              </a:solidFill>
              <a:ln>
                <a:noFill/>
              </a:ln>
            </p:spPr>
          </p:sp>
          <p:sp>
            <p:nvSpPr>
              <p:cNvPr id="144" name="TextBox 144"/>
              <p:cNvSpPr txBox="1"/>
              <p:nvPr/>
            </p:nvSpPr>
            <p:spPr>
              <a:xfrm>
                <a:off x="3322435" y="2543889"/>
                <a:ext cx="378027" cy="154781"/>
              </a:xfrm>
              <a:prstGeom prst="rect">
                <a:avLst/>
              </a:prstGeom>
              <a:noFill/>
              <a:ln>
                <a:noFill/>
              </a:ln>
            </p:spPr>
            <p:txBody>
              <a:bodyPr wrap="none" lIns="0" tIns="0" rIns="0" bIns="0" anchor="t" anchorCtr="0">
                <a:spAutoFit/>
              </a:bodyPr>
              <a:lstStyle/>
              <a:p>
                <a:pPr algn="r"/>
                <a:r>
                  <a:rPr lang="zh-CN" sz="790" b="1" dirty="0">
                    <a:solidFill>
                      <a:srgbClr val="5B180B"/>
                    </a:solidFill>
                    <a:latin typeface="+mn-lt"/>
                    <a:ea typeface="+mn-ea"/>
                    <a:cs typeface="+mn-cs"/>
                  </a:rPr>
                  <a:t>09:00​</a:t>
                </a:r>
              </a:p>
            </p:txBody>
          </p:sp>
          <p:sp>
            <p:nvSpPr>
              <p:cNvPr id="145" name="Rectangle 145"/>
              <p:cNvSpPr/>
              <p:nvPr/>
            </p:nvSpPr>
            <p:spPr>
              <a:xfrm>
                <a:off x="3886200" y="2362200"/>
                <a:ext cx="3200400" cy="476250"/>
              </a:xfrm>
              <a:prstGeom prst="roundRect">
                <a:avLst>
                  <a:gd name="adj" fmla="val 12000"/>
                </a:avLst>
              </a:prstGeom>
              <a:solidFill>
                <a:srgbClr val="FFFFFF"/>
              </a:solidFill>
              <a:ln w="7620">
                <a:solidFill>
                  <a:srgbClr val="D9E8E2"/>
                </a:solidFill>
              </a:ln>
            </p:spPr>
          </p:sp>
          <p:grpSp>
            <p:nvGrpSpPr>
              <p:cNvPr id="152" name="Group 152"/>
              <p:cNvGrpSpPr/>
              <p:nvPr/>
            </p:nvGrpSpPr>
            <p:grpSpPr>
              <a:xfrm>
                <a:off x="3992959" y="2534841"/>
                <a:ext cx="144066" cy="127397"/>
                <a:chOff x="3992959" y="2534841"/>
                <a:chExt cx="144066" cy="127397"/>
              </a:xfrm>
            </p:grpSpPr>
            <p:sp>
              <p:nvSpPr>
                <p:cNvPr id="146" name="Freeform 146"/>
                <p:cNvSpPr/>
                <p:nvPr/>
              </p:nvSpPr>
              <p:spPr>
                <a:xfrm>
                  <a:off x="3992959" y="2534841"/>
                  <a:ext cx="34925" cy="21828"/>
                </a:xfrm>
                <a:custGeom>
                  <a:avLst/>
                  <a:gdLst/>
                  <a:ahLst/>
                  <a:cxnLst/>
                  <a:rect l="l" t="t" r="r" b="b"/>
                  <a:pathLst>
                    <a:path w="34925" h="21828">
                      <a:moveTo>
                        <a:pt x="0" y="8731"/>
                      </a:moveTo>
                      <a:lnTo>
                        <a:pt x="13097" y="21828"/>
                      </a:lnTo>
                      <a:lnTo>
                        <a:pt x="34925" y="0"/>
                      </a:lnTo>
                    </a:path>
                  </a:pathLst>
                </a:custGeom>
                <a:noFill/>
                <a:ln w="17463">
                  <a:solidFill>
                    <a:srgbClr val="722617"/>
                  </a:solidFill>
                </a:ln>
              </p:spPr>
            </p:sp>
            <p:sp>
              <p:nvSpPr>
                <p:cNvPr id="147" name="Freeform 147"/>
                <p:cNvSpPr/>
                <p:nvPr/>
              </p:nvSpPr>
              <p:spPr>
                <a:xfrm>
                  <a:off x="3992959" y="2587228"/>
                  <a:ext cx="34925" cy="21828"/>
                </a:xfrm>
                <a:custGeom>
                  <a:avLst/>
                  <a:gdLst/>
                  <a:ahLst/>
                  <a:cxnLst/>
                  <a:rect l="l" t="t" r="r" b="b"/>
                  <a:pathLst>
                    <a:path w="34925" h="21828">
                      <a:moveTo>
                        <a:pt x="0" y="8731"/>
                      </a:moveTo>
                      <a:lnTo>
                        <a:pt x="13097" y="21828"/>
                      </a:lnTo>
                      <a:lnTo>
                        <a:pt x="34925" y="0"/>
                      </a:lnTo>
                    </a:path>
                  </a:pathLst>
                </a:custGeom>
                <a:noFill/>
                <a:ln w="17463">
                  <a:solidFill>
                    <a:srgbClr val="722617"/>
                  </a:solidFill>
                </a:ln>
              </p:spPr>
            </p:sp>
            <p:sp>
              <p:nvSpPr>
                <p:cNvPr id="148" name="Freeform 148"/>
                <p:cNvSpPr/>
                <p:nvPr/>
              </p:nvSpPr>
              <p:spPr>
                <a:xfrm>
                  <a:off x="3992959" y="2639616"/>
                  <a:ext cx="34925" cy="21828"/>
                </a:xfrm>
                <a:custGeom>
                  <a:avLst/>
                  <a:gdLst/>
                  <a:ahLst/>
                  <a:cxnLst/>
                  <a:rect l="l" t="t" r="r" b="b"/>
                  <a:pathLst>
                    <a:path w="34925" h="21828">
                      <a:moveTo>
                        <a:pt x="0" y="8731"/>
                      </a:moveTo>
                      <a:lnTo>
                        <a:pt x="13097" y="21828"/>
                      </a:lnTo>
                      <a:lnTo>
                        <a:pt x="34925" y="0"/>
                      </a:lnTo>
                    </a:path>
                  </a:pathLst>
                </a:custGeom>
                <a:noFill/>
                <a:ln w="17463">
                  <a:solidFill>
                    <a:srgbClr val="722617"/>
                  </a:solidFill>
                </a:ln>
              </p:spPr>
            </p:sp>
            <p:sp>
              <p:nvSpPr>
                <p:cNvPr id="149" name="Freeform 149"/>
                <p:cNvSpPr/>
                <p:nvPr/>
              </p:nvSpPr>
              <p:spPr>
                <a:xfrm>
                  <a:off x="4058444" y="2547938"/>
                  <a:ext cx="78581" cy="9525"/>
                </a:xfrm>
                <a:custGeom>
                  <a:avLst/>
                  <a:gdLst/>
                  <a:ahLst/>
                  <a:cxnLst/>
                  <a:rect l="l" t="t" r="r" b="b"/>
                  <a:pathLst>
                    <a:path w="78581" h="9525">
                      <a:moveTo>
                        <a:pt x="0" y="0"/>
                      </a:moveTo>
                      <a:lnTo>
                        <a:pt x="78581" y="0"/>
                      </a:lnTo>
                    </a:path>
                  </a:pathLst>
                </a:custGeom>
                <a:noFill/>
                <a:ln w="17463">
                  <a:solidFill>
                    <a:srgbClr val="722617"/>
                  </a:solidFill>
                </a:ln>
              </p:spPr>
            </p:sp>
            <p:sp>
              <p:nvSpPr>
                <p:cNvPr id="150" name="Freeform 150"/>
                <p:cNvSpPr/>
                <p:nvPr/>
              </p:nvSpPr>
              <p:spPr>
                <a:xfrm>
                  <a:off x="4058444" y="2600325"/>
                  <a:ext cx="78581" cy="9525"/>
                </a:xfrm>
                <a:custGeom>
                  <a:avLst/>
                  <a:gdLst/>
                  <a:ahLst/>
                  <a:cxnLst/>
                  <a:rect l="l" t="t" r="r" b="b"/>
                  <a:pathLst>
                    <a:path w="78581" h="9525">
                      <a:moveTo>
                        <a:pt x="0" y="0"/>
                      </a:moveTo>
                      <a:lnTo>
                        <a:pt x="78581" y="0"/>
                      </a:lnTo>
                    </a:path>
                  </a:pathLst>
                </a:custGeom>
                <a:noFill/>
                <a:ln w="17463">
                  <a:solidFill>
                    <a:srgbClr val="722617"/>
                  </a:solidFill>
                </a:ln>
              </p:spPr>
            </p:sp>
            <p:sp>
              <p:nvSpPr>
                <p:cNvPr id="151" name="Freeform 151"/>
                <p:cNvSpPr/>
                <p:nvPr/>
              </p:nvSpPr>
              <p:spPr>
                <a:xfrm>
                  <a:off x="4058444" y="2652713"/>
                  <a:ext cx="78581" cy="9525"/>
                </a:xfrm>
                <a:custGeom>
                  <a:avLst/>
                  <a:gdLst/>
                  <a:ahLst/>
                  <a:cxnLst/>
                  <a:rect l="l" t="t" r="r" b="b"/>
                  <a:pathLst>
                    <a:path w="78581" h="9525">
                      <a:moveTo>
                        <a:pt x="0" y="0"/>
                      </a:moveTo>
                      <a:lnTo>
                        <a:pt x="78581" y="0"/>
                      </a:lnTo>
                    </a:path>
                  </a:pathLst>
                </a:custGeom>
                <a:noFill/>
                <a:ln w="17463">
                  <a:solidFill>
                    <a:srgbClr val="722617"/>
                  </a:solidFill>
                </a:ln>
              </p:spPr>
            </p:sp>
          </p:grpSp>
          <p:sp>
            <p:nvSpPr>
              <p:cNvPr id="153" name="TextBox 153"/>
              <p:cNvSpPr txBox="1"/>
              <p:nvPr/>
            </p:nvSpPr>
            <p:spPr>
              <a:xfrm>
                <a:off x="4243388" y="2467689"/>
                <a:ext cx="110599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名单作业（1.5小时）​</a:t>
                </a:r>
              </a:p>
            </p:txBody>
          </p:sp>
          <p:sp>
            <p:nvSpPr>
              <p:cNvPr id="154" name="TextBox 154"/>
              <p:cNvSpPr txBox="1"/>
              <p:nvPr/>
            </p:nvSpPr>
            <p:spPr>
              <a:xfrm>
                <a:off x="4243388" y="2655332"/>
                <a:ext cx="1288953"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主动触达 · 电话邀约 · 预约面谈​</a:t>
                </a:r>
              </a:p>
            </p:txBody>
          </p:sp>
          <p:sp>
            <p:nvSpPr>
              <p:cNvPr id="155" name="Rectangle 155"/>
              <p:cNvSpPr/>
              <p:nvPr/>
            </p:nvSpPr>
            <p:spPr>
              <a:xfrm>
                <a:off x="6438900" y="2476500"/>
                <a:ext cx="571500" cy="266700"/>
              </a:xfrm>
              <a:prstGeom prst="roundRect">
                <a:avLst>
                  <a:gd name="adj" fmla="val 14286"/>
                </a:avLst>
              </a:prstGeom>
              <a:solidFill>
                <a:srgbClr val="E9F4F0"/>
              </a:solidFill>
              <a:ln>
                <a:noFill/>
              </a:ln>
            </p:spPr>
          </p:sp>
          <p:sp>
            <p:nvSpPr>
              <p:cNvPr id="156" name="TextBox 156"/>
              <p:cNvSpPr txBox="1"/>
              <p:nvPr/>
            </p:nvSpPr>
            <p:spPr>
              <a:xfrm>
                <a:off x="6548382" y="2530078"/>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主动触达​</a:t>
                </a:r>
              </a:p>
            </p:txBody>
          </p:sp>
          <p:sp>
            <p:nvSpPr>
              <p:cNvPr id="157" name="TextBox 157"/>
              <p:cNvSpPr txBox="1"/>
              <p:nvPr/>
            </p:nvSpPr>
            <p:spPr>
              <a:xfrm>
                <a:off x="6548382" y="2634853"/>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提升到访​</a:t>
                </a:r>
              </a:p>
            </p:txBody>
          </p:sp>
          <p:sp>
            <p:nvSpPr>
              <p:cNvPr id="158" name="Ellipse 158"/>
              <p:cNvSpPr/>
              <p:nvPr/>
            </p:nvSpPr>
            <p:spPr>
              <a:xfrm>
                <a:off x="3724275" y="3152775"/>
                <a:ext cx="95250" cy="95250"/>
              </a:xfrm>
              <a:prstGeom prst="ellipse">
                <a:avLst/>
              </a:prstGeom>
              <a:solidFill>
                <a:srgbClr val="9A412F"/>
              </a:solidFill>
              <a:ln>
                <a:noFill/>
              </a:ln>
            </p:spPr>
          </p:sp>
          <p:sp>
            <p:nvSpPr>
              <p:cNvPr id="159" name="TextBox 159"/>
              <p:cNvSpPr txBox="1"/>
              <p:nvPr/>
            </p:nvSpPr>
            <p:spPr>
              <a:xfrm>
                <a:off x="3322435" y="3153489"/>
                <a:ext cx="378027" cy="154781"/>
              </a:xfrm>
              <a:prstGeom prst="rect">
                <a:avLst/>
              </a:prstGeom>
              <a:noFill/>
              <a:ln>
                <a:noFill/>
              </a:ln>
            </p:spPr>
            <p:txBody>
              <a:bodyPr wrap="none" lIns="0" tIns="0" rIns="0" bIns="0" anchor="t" anchorCtr="0">
                <a:spAutoFit/>
              </a:bodyPr>
              <a:lstStyle/>
              <a:p>
                <a:pPr algn="r"/>
                <a:r>
                  <a:rPr lang="zh-CN" sz="790" b="1" dirty="0">
                    <a:solidFill>
                      <a:srgbClr val="5B180B"/>
                    </a:solidFill>
                    <a:latin typeface="+mn-lt"/>
                    <a:ea typeface="+mn-ea"/>
                    <a:cs typeface="+mn-cs"/>
                  </a:rPr>
                  <a:t>10:30​</a:t>
                </a:r>
              </a:p>
            </p:txBody>
          </p:sp>
          <p:sp>
            <p:nvSpPr>
              <p:cNvPr id="160" name="Rectangle 160"/>
              <p:cNvSpPr/>
              <p:nvPr/>
            </p:nvSpPr>
            <p:spPr>
              <a:xfrm>
                <a:off x="3886200" y="2971800"/>
                <a:ext cx="3200400" cy="476250"/>
              </a:xfrm>
              <a:prstGeom prst="roundRect">
                <a:avLst>
                  <a:gd name="adj" fmla="val 12000"/>
                </a:avLst>
              </a:prstGeom>
              <a:solidFill>
                <a:srgbClr val="FFFFFF"/>
              </a:solidFill>
              <a:ln w="7620">
                <a:solidFill>
                  <a:srgbClr val="D9E8E2"/>
                </a:solidFill>
              </a:ln>
            </p:spPr>
          </p:sp>
          <p:grpSp>
            <p:nvGrpSpPr>
              <p:cNvPr id="164" name="Group 164"/>
              <p:cNvGrpSpPr/>
              <p:nvPr/>
            </p:nvGrpSpPr>
            <p:grpSpPr>
              <a:xfrm>
                <a:off x="3988594" y="3131344"/>
                <a:ext cx="157163" cy="157162"/>
                <a:chOff x="3988594" y="3131344"/>
                <a:chExt cx="157163" cy="157162"/>
              </a:xfrm>
            </p:grpSpPr>
            <p:sp>
              <p:nvSpPr>
                <p:cNvPr id="161" name="Freeform 161"/>
                <p:cNvSpPr/>
                <p:nvPr/>
              </p:nvSpPr>
              <p:spPr>
                <a:xfrm>
                  <a:off x="3988594" y="3131344"/>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9A412F"/>
                  </a:solidFill>
                </a:ln>
              </p:spPr>
            </p:sp>
            <p:sp>
              <p:nvSpPr>
                <p:cNvPr id="162" name="Freeform 162"/>
                <p:cNvSpPr/>
                <p:nvPr/>
              </p:nvSpPr>
              <p:spPr>
                <a:xfrm>
                  <a:off x="4006056" y="3209925"/>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9A412F"/>
                  </a:solidFill>
                </a:ln>
              </p:spPr>
            </p:sp>
            <p:sp>
              <p:nvSpPr>
                <p:cNvPr id="163" name="Freeform 163"/>
                <p:cNvSpPr/>
                <p:nvPr/>
              </p:nvSpPr>
              <p:spPr>
                <a:xfrm>
                  <a:off x="4040981" y="3218656"/>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9A412F"/>
                  </a:solidFill>
                </a:ln>
              </p:spPr>
            </p:sp>
          </p:grpSp>
          <p:sp>
            <p:nvSpPr>
              <p:cNvPr id="165" name="TextBox 165"/>
              <p:cNvSpPr txBox="1"/>
              <p:nvPr/>
            </p:nvSpPr>
            <p:spPr>
              <a:xfrm>
                <a:off x="4243388" y="3077289"/>
                <a:ext cx="983157"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厅堂高峰（3小时）​</a:t>
                </a:r>
              </a:p>
            </p:txBody>
          </p:sp>
          <p:sp>
            <p:nvSpPr>
              <p:cNvPr id="166" name="TextBox 166"/>
              <p:cNvSpPr txBox="1"/>
              <p:nvPr/>
            </p:nvSpPr>
            <p:spPr>
              <a:xfrm>
                <a:off x="4243388" y="3264932"/>
                <a:ext cx="1288953"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把握客流 · 现场营销 · 现场转化​</a:t>
                </a:r>
              </a:p>
            </p:txBody>
          </p:sp>
          <p:sp>
            <p:nvSpPr>
              <p:cNvPr id="167" name="Rectangle 167"/>
              <p:cNvSpPr/>
              <p:nvPr/>
            </p:nvSpPr>
            <p:spPr>
              <a:xfrm>
                <a:off x="6438900" y="3086100"/>
                <a:ext cx="571500" cy="266700"/>
              </a:xfrm>
              <a:prstGeom prst="roundRect">
                <a:avLst>
                  <a:gd name="adj" fmla="val 14286"/>
                </a:avLst>
              </a:prstGeom>
              <a:solidFill>
                <a:srgbClr val="E9F4F0"/>
              </a:solidFill>
              <a:ln>
                <a:noFill/>
              </a:ln>
            </p:spPr>
          </p:sp>
          <p:sp>
            <p:nvSpPr>
              <p:cNvPr id="168" name="TextBox 168"/>
              <p:cNvSpPr txBox="1"/>
              <p:nvPr/>
            </p:nvSpPr>
            <p:spPr>
              <a:xfrm>
                <a:off x="6548382" y="3139678"/>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把握客流​</a:t>
                </a:r>
              </a:p>
            </p:txBody>
          </p:sp>
          <p:sp>
            <p:nvSpPr>
              <p:cNvPr id="169" name="TextBox 169"/>
              <p:cNvSpPr txBox="1"/>
              <p:nvPr/>
            </p:nvSpPr>
            <p:spPr>
              <a:xfrm>
                <a:off x="6548382" y="3244453"/>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即时转化​</a:t>
                </a:r>
              </a:p>
            </p:txBody>
          </p:sp>
          <p:sp>
            <p:nvSpPr>
              <p:cNvPr id="170" name="Ellipse 170"/>
              <p:cNvSpPr/>
              <p:nvPr/>
            </p:nvSpPr>
            <p:spPr>
              <a:xfrm>
                <a:off x="3724275" y="3762375"/>
                <a:ext cx="95250" cy="95250"/>
              </a:xfrm>
              <a:prstGeom prst="ellipse">
                <a:avLst/>
              </a:prstGeom>
              <a:solidFill>
                <a:srgbClr val="A75545"/>
              </a:solidFill>
              <a:ln>
                <a:noFill/>
              </a:ln>
            </p:spPr>
          </p:sp>
          <p:sp>
            <p:nvSpPr>
              <p:cNvPr id="171" name="TextBox 171"/>
              <p:cNvSpPr txBox="1"/>
              <p:nvPr/>
            </p:nvSpPr>
            <p:spPr>
              <a:xfrm>
                <a:off x="3322435" y="3763089"/>
                <a:ext cx="378027" cy="154781"/>
              </a:xfrm>
              <a:prstGeom prst="rect">
                <a:avLst/>
              </a:prstGeom>
              <a:noFill/>
              <a:ln>
                <a:noFill/>
              </a:ln>
            </p:spPr>
            <p:txBody>
              <a:bodyPr wrap="none" lIns="0" tIns="0" rIns="0" bIns="0" anchor="t" anchorCtr="0">
                <a:spAutoFit/>
              </a:bodyPr>
              <a:lstStyle/>
              <a:p>
                <a:pPr algn="r"/>
                <a:r>
                  <a:rPr lang="zh-CN" sz="790" b="1" dirty="0">
                    <a:solidFill>
                      <a:srgbClr val="5B180B"/>
                    </a:solidFill>
                    <a:latin typeface="+mn-lt"/>
                    <a:ea typeface="+mn-ea"/>
                    <a:cs typeface="+mn-cs"/>
                  </a:rPr>
                  <a:t>13:30​</a:t>
                </a:r>
              </a:p>
            </p:txBody>
          </p:sp>
          <p:sp>
            <p:nvSpPr>
              <p:cNvPr id="172" name="Rectangle 172"/>
              <p:cNvSpPr/>
              <p:nvPr/>
            </p:nvSpPr>
            <p:spPr>
              <a:xfrm>
                <a:off x="3886200" y="3581400"/>
                <a:ext cx="3200400" cy="476250"/>
              </a:xfrm>
              <a:prstGeom prst="roundRect">
                <a:avLst>
                  <a:gd name="adj" fmla="val 12000"/>
                </a:avLst>
              </a:prstGeom>
              <a:solidFill>
                <a:srgbClr val="FFFFFF"/>
              </a:solidFill>
              <a:ln w="7620">
                <a:solidFill>
                  <a:srgbClr val="D9E8E2"/>
                </a:solidFill>
              </a:ln>
            </p:spPr>
          </p:sp>
          <p:grpSp>
            <p:nvGrpSpPr>
              <p:cNvPr id="176" name="Group 176"/>
              <p:cNvGrpSpPr/>
              <p:nvPr/>
            </p:nvGrpSpPr>
            <p:grpSpPr>
              <a:xfrm>
                <a:off x="4014788" y="3740944"/>
                <a:ext cx="130969" cy="157163"/>
                <a:chOff x="4014788" y="3740944"/>
                <a:chExt cx="130969" cy="157163"/>
              </a:xfrm>
            </p:grpSpPr>
            <p:sp>
              <p:nvSpPr>
                <p:cNvPr id="173" name="Freeform 173"/>
                <p:cNvSpPr/>
                <p:nvPr/>
              </p:nvSpPr>
              <p:spPr>
                <a:xfrm>
                  <a:off x="4032250" y="37409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A75545"/>
                  </a:solidFill>
                </a:ln>
              </p:spPr>
            </p:sp>
            <p:sp>
              <p:nvSpPr>
                <p:cNvPr id="174" name="Freeform 174"/>
                <p:cNvSpPr/>
                <p:nvPr/>
              </p:nvSpPr>
              <p:spPr>
                <a:xfrm>
                  <a:off x="4014788" y="384571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A75545"/>
                  </a:solidFill>
                </a:ln>
              </p:spPr>
            </p:sp>
            <p:sp>
              <p:nvSpPr>
                <p:cNvPr id="175" name="Freeform 175"/>
                <p:cNvSpPr/>
                <p:nvPr/>
              </p:nvSpPr>
              <p:spPr>
                <a:xfrm>
                  <a:off x="4093369" y="3863181"/>
                  <a:ext cx="52388" cy="34925"/>
                </a:xfrm>
                <a:custGeom>
                  <a:avLst/>
                  <a:gdLst/>
                  <a:ahLst/>
                  <a:cxnLst/>
                  <a:rect l="l" t="t" r="r" b="b"/>
                  <a:pathLst>
                    <a:path w="52388" h="34925">
                      <a:moveTo>
                        <a:pt x="0" y="17463"/>
                      </a:moveTo>
                      <a:lnTo>
                        <a:pt x="17463" y="34925"/>
                      </a:lnTo>
                      <a:lnTo>
                        <a:pt x="52388" y="0"/>
                      </a:lnTo>
                    </a:path>
                  </a:pathLst>
                </a:custGeom>
                <a:noFill/>
                <a:ln w="17463">
                  <a:solidFill>
                    <a:srgbClr val="A75545"/>
                  </a:solidFill>
                </a:ln>
              </p:spPr>
            </p:sp>
          </p:grpSp>
          <p:sp>
            <p:nvSpPr>
              <p:cNvPr id="177" name="TextBox 177"/>
              <p:cNvSpPr txBox="1"/>
              <p:nvPr/>
            </p:nvSpPr>
            <p:spPr>
              <a:xfrm>
                <a:off x="4243388" y="3686889"/>
                <a:ext cx="983157"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外拓走访（3小时）​</a:t>
                </a:r>
              </a:p>
            </p:txBody>
          </p:sp>
          <p:sp>
            <p:nvSpPr>
              <p:cNvPr id="178" name="TextBox 178"/>
              <p:cNvSpPr txBox="1"/>
              <p:nvPr/>
            </p:nvSpPr>
            <p:spPr>
              <a:xfrm>
                <a:off x="4243388" y="3874532"/>
                <a:ext cx="1288953"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上门拜访 · 重点客户 · 异业联动​</a:t>
                </a:r>
              </a:p>
            </p:txBody>
          </p:sp>
          <p:sp>
            <p:nvSpPr>
              <p:cNvPr id="179" name="Rectangle 179"/>
              <p:cNvSpPr/>
              <p:nvPr/>
            </p:nvSpPr>
            <p:spPr>
              <a:xfrm>
                <a:off x="6438900" y="3695700"/>
                <a:ext cx="571500" cy="266700"/>
              </a:xfrm>
              <a:prstGeom prst="roundRect">
                <a:avLst>
                  <a:gd name="adj" fmla="val 14286"/>
                </a:avLst>
              </a:prstGeom>
              <a:solidFill>
                <a:srgbClr val="E9F4F0"/>
              </a:solidFill>
              <a:ln>
                <a:noFill/>
              </a:ln>
            </p:spPr>
          </p:sp>
          <p:sp>
            <p:nvSpPr>
              <p:cNvPr id="180" name="TextBox 180"/>
              <p:cNvSpPr txBox="1"/>
              <p:nvPr/>
            </p:nvSpPr>
            <p:spPr>
              <a:xfrm>
                <a:off x="6548382" y="3749278"/>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深度经营​</a:t>
                </a:r>
              </a:p>
            </p:txBody>
          </p:sp>
          <p:sp>
            <p:nvSpPr>
              <p:cNvPr id="181" name="TextBox 181"/>
              <p:cNvSpPr txBox="1"/>
              <p:nvPr/>
            </p:nvSpPr>
            <p:spPr>
              <a:xfrm>
                <a:off x="6548382" y="3854053"/>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拓展增量​</a:t>
                </a:r>
              </a:p>
            </p:txBody>
          </p:sp>
          <p:sp>
            <p:nvSpPr>
              <p:cNvPr id="182" name="Ellipse 182"/>
              <p:cNvSpPr/>
              <p:nvPr/>
            </p:nvSpPr>
            <p:spPr>
              <a:xfrm>
                <a:off x="3724275" y="4371975"/>
                <a:ext cx="95250" cy="95250"/>
              </a:xfrm>
              <a:prstGeom prst="ellipse">
                <a:avLst/>
              </a:prstGeom>
              <a:solidFill>
                <a:srgbClr val="5B180B"/>
              </a:solidFill>
              <a:ln>
                <a:noFill/>
              </a:ln>
            </p:spPr>
          </p:sp>
          <p:sp>
            <p:nvSpPr>
              <p:cNvPr id="183" name="TextBox 183"/>
              <p:cNvSpPr txBox="1"/>
              <p:nvPr/>
            </p:nvSpPr>
            <p:spPr>
              <a:xfrm>
                <a:off x="3322435" y="4372689"/>
                <a:ext cx="378027" cy="154781"/>
              </a:xfrm>
              <a:prstGeom prst="rect">
                <a:avLst/>
              </a:prstGeom>
              <a:noFill/>
              <a:ln>
                <a:noFill/>
              </a:ln>
            </p:spPr>
            <p:txBody>
              <a:bodyPr wrap="none" lIns="0" tIns="0" rIns="0" bIns="0" anchor="t" anchorCtr="0">
                <a:spAutoFit/>
              </a:bodyPr>
              <a:lstStyle/>
              <a:p>
                <a:pPr algn="r"/>
                <a:r>
                  <a:rPr lang="zh-CN" sz="790" b="1" dirty="0">
                    <a:solidFill>
                      <a:srgbClr val="5B180B"/>
                    </a:solidFill>
                    <a:latin typeface="+mn-lt"/>
                    <a:ea typeface="+mn-ea"/>
                    <a:cs typeface="+mn-cs"/>
                  </a:rPr>
                  <a:t>17:00​</a:t>
                </a:r>
              </a:p>
            </p:txBody>
          </p:sp>
          <p:sp>
            <p:nvSpPr>
              <p:cNvPr id="184" name="Rectangle 184"/>
              <p:cNvSpPr/>
              <p:nvPr/>
            </p:nvSpPr>
            <p:spPr>
              <a:xfrm>
                <a:off x="3886200" y="4191000"/>
                <a:ext cx="3200400" cy="476250"/>
              </a:xfrm>
              <a:prstGeom prst="roundRect">
                <a:avLst>
                  <a:gd name="adj" fmla="val 12000"/>
                </a:avLst>
              </a:prstGeom>
              <a:solidFill>
                <a:srgbClr val="FFFFFF"/>
              </a:solidFill>
              <a:ln w="7620">
                <a:solidFill>
                  <a:srgbClr val="D9E8E2"/>
                </a:solidFill>
              </a:ln>
            </p:spPr>
          </p:sp>
          <p:grpSp>
            <p:nvGrpSpPr>
              <p:cNvPr id="187" name="Group 187"/>
              <p:cNvGrpSpPr/>
              <p:nvPr/>
            </p:nvGrpSpPr>
            <p:grpSpPr>
              <a:xfrm>
                <a:off x="3997325" y="4355906"/>
                <a:ext cx="139700" cy="146438"/>
                <a:chOff x="3997325" y="4355906"/>
                <a:chExt cx="139700" cy="146438"/>
              </a:xfrm>
            </p:grpSpPr>
            <p:sp>
              <p:nvSpPr>
                <p:cNvPr id="185" name="Freeform 185"/>
                <p:cNvSpPr/>
                <p:nvPr/>
              </p:nvSpPr>
              <p:spPr>
                <a:xfrm>
                  <a:off x="3997325" y="4355906"/>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5B180B"/>
                  </a:solidFill>
                </a:ln>
              </p:spPr>
            </p:sp>
            <p:sp>
              <p:nvSpPr>
                <p:cNvPr id="186" name="Freeform 186"/>
                <p:cNvSpPr/>
                <p:nvPr/>
              </p:nvSpPr>
              <p:spPr>
                <a:xfrm>
                  <a:off x="3997325" y="4437856"/>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5B180B"/>
                  </a:solidFill>
                </a:ln>
              </p:spPr>
            </p:sp>
          </p:grpSp>
          <p:sp>
            <p:nvSpPr>
              <p:cNvPr id="188" name="TextBox 188"/>
              <p:cNvSpPr txBox="1"/>
              <p:nvPr/>
            </p:nvSpPr>
            <p:spPr>
              <a:xfrm>
                <a:off x="4243388" y="4296489"/>
                <a:ext cx="831875"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夕会（30分钟）​</a:t>
                </a:r>
              </a:p>
            </p:txBody>
          </p:sp>
          <p:sp>
            <p:nvSpPr>
              <p:cNvPr id="189" name="TextBox 189"/>
              <p:cNvSpPr txBox="1"/>
              <p:nvPr/>
            </p:nvSpPr>
            <p:spPr>
              <a:xfrm>
                <a:off x="4243388" y="4484132"/>
                <a:ext cx="1288953" cy="126206"/>
              </a:xfrm>
              <a:prstGeom prst="rect">
                <a:avLst/>
              </a:prstGeom>
              <a:noFill/>
              <a:ln>
                <a:noFill/>
              </a:ln>
            </p:spPr>
            <p:txBody>
              <a:bodyPr wrap="none" lIns="0" tIns="0" rIns="0" bIns="0" anchor="t" anchorCtr="0">
                <a:spAutoFit/>
              </a:bodyPr>
              <a:lstStyle/>
              <a:p>
                <a:pPr algn="l"/>
                <a:r>
                  <a:rPr lang="zh-CN" sz="640" dirty="0">
                    <a:solidFill>
                      <a:srgbClr val="5F6F6A"/>
                    </a:solidFill>
                    <a:latin typeface="+mn-lt"/>
                    <a:ea typeface="+mn-ea"/>
                    <a:cs typeface="+mn-cs"/>
                  </a:rPr>
                  <a:t>结果复盘 · 数据通报 · 明日计划​</a:t>
                </a:r>
              </a:p>
            </p:txBody>
          </p:sp>
          <p:sp>
            <p:nvSpPr>
              <p:cNvPr id="190" name="Rectangle 190"/>
              <p:cNvSpPr/>
              <p:nvPr/>
            </p:nvSpPr>
            <p:spPr>
              <a:xfrm>
                <a:off x="6438900" y="4305300"/>
                <a:ext cx="571500" cy="266700"/>
              </a:xfrm>
              <a:prstGeom prst="roundRect">
                <a:avLst>
                  <a:gd name="adj" fmla="val 14286"/>
                </a:avLst>
              </a:prstGeom>
              <a:solidFill>
                <a:srgbClr val="E9F4F0"/>
              </a:solidFill>
              <a:ln>
                <a:noFill/>
              </a:ln>
            </p:spPr>
          </p:sp>
          <p:sp>
            <p:nvSpPr>
              <p:cNvPr id="191" name="TextBox 191"/>
              <p:cNvSpPr txBox="1"/>
              <p:nvPr/>
            </p:nvSpPr>
            <p:spPr>
              <a:xfrm>
                <a:off x="6548382" y="4358878"/>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总结提升​</a:t>
                </a:r>
              </a:p>
            </p:txBody>
          </p:sp>
          <p:sp>
            <p:nvSpPr>
              <p:cNvPr id="192" name="TextBox 192"/>
              <p:cNvSpPr txBox="1"/>
              <p:nvPr/>
            </p:nvSpPr>
            <p:spPr>
              <a:xfrm>
                <a:off x="6548382" y="4463653"/>
                <a:ext cx="352537" cy="111919"/>
              </a:xfrm>
              <a:prstGeom prst="rect">
                <a:avLst/>
              </a:prstGeom>
              <a:noFill/>
              <a:ln>
                <a:noFill/>
              </a:ln>
            </p:spPr>
            <p:txBody>
              <a:bodyPr wrap="none" lIns="0" tIns="0" rIns="0" bIns="0" anchor="t" anchorCtr="0">
                <a:spAutoFit/>
              </a:bodyPr>
              <a:lstStyle/>
              <a:p>
                <a:pPr algn="ctr"/>
                <a:r>
                  <a:rPr lang="zh-CN" sz="560" dirty="0">
                    <a:solidFill>
                      <a:srgbClr val="5B180B"/>
                    </a:solidFill>
                    <a:latin typeface="+mn-lt"/>
                    <a:ea typeface="+mn-ea"/>
                    <a:cs typeface="+mn-cs"/>
                  </a:rPr>
                  <a:t>闭环管理​</a:t>
                </a:r>
              </a:p>
            </p:txBody>
          </p:sp>
        </p:grpSp>
      </p:grpSp>
      <p:grpSp>
        <p:nvGrpSpPr>
          <p:cNvPr id="279" name="board-card"/>
          <p:cNvGrpSpPr/>
          <p:nvPr/>
        </p:nvGrpSpPr>
        <p:grpSpPr>
          <a:xfrm>
            <a:off x="7315200" y="1390650"/>
            <a:ext cx="4648200" cy="3657600"/>
            <a:chOff x="7315200" y="1390650"/>
            <a:chExt cx="4648200" cy="3657600"/>
          </a:xfrm>
        </p:grpSpPr>
        <p:sp>
          <p:nvSpPr>
            <p:cNvPr id="195" name="Rectangle 195"/>
            <p:cNvSpPr/>
            <p:nvPr/>
          </p:nvSpPr>
          <p:spPr>
            <a:xfrm>
              <a:off x="7315200" y="1390650"/>
              <a:ext cx="4648200" cy="3657600"/>
            </a:xfrm>
            <a:prstGeom prst="roundRect">
              <a:avLst>
                <a:gd name="adj" fmla="val 2604"/>
              </a:avLst>
            </a:prstGeom>
            <a:solidFill>
              <a:srgbClr val="F5FAF8"/>
            </a:solidFill>
            <a:ln w="9525">
              <a:solidFill>
                <a:srgbClr val="D9E8E2"/>
              </a:solidFill>
            </a:ln>
          </p:spPr>
        </p:sp>
        <p:sp>
          <p:nvSpPr>
            <p:cNvPr id="196" name="Rectangle 196"/>
            <p:cNvSpPr/>
            <p:nvPr/>
          </p:nvSpPr>
          <p:spPr>
            <a:xfrm>
              <a:off x="7315200" y="1390650"/>
              <a:ext cx="2286000" cy="228600"/>
            </a:xfrm>
            <a:prstGeom prst="roundRect">
              <a:avLst>
                <a:gd name="adj" fmla="val 16667"/>
              </a:avLst>
            </a:prstGeom>
            <a:solidFill>
              <a:srgbClr val="5B180B"/>
            </a:solidFill>
            <a:ln>
              <a:noFill/>
            </a:ln>
          </p:spPr>
        </p:sp>
        <p:sp>
          <p:nvSpPr>
            <p:cNvPr id="197" name="TextBox 197"/>
            <p:cNvSpPr txBox="1"/>
            <p:nvPr/>
          </p:nvSpPr>
          <p:spPr>
            <a:xfrm>
              <a:off x="7424738" y="1459468"/>
              <a:ext cx="1681949"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个人作战看板</a:t>
              </a:r>
              <a:r>
                <a:rPr lang="zh-CN" sz="680" dirty="0">
                  <a:solidFill>
                    <a:srgbClr val="BFDDD6"/>
                  </a:solidFill>
                  <a:latin typeface="+mn-lt"/>
                  <a:ea typeface="+mn-ea"/>
                  <a:cs typeface="+mn-cs"/>
                </a:rPr>
                <a:t>（2026年Q4 · 10月）</a:t>
              </a:r>
              <a:r>
                <a:rPr lang="zh-CN" sz="860" b="1" dirty="0">
                  <a:solidFill>
                    <a:srgbClr val="FFFFFF"/>
                  </a:solidFill>
                  <a:latin typeface="+mn-lt"/>
                  <a:ea typeface="+mn-ea"/>
                  <a:cs typeface="+mn-cs"/>
                </a:rPr>
                <a:t>​</a:t>
              </a:r>
            </a:p>
          </p:txBody>
        </p:sp>
        <p:grpSp>
          <p:nvGrpSpPr>
            <p:cNvPr id="204" name="board-legend"/>
            <p:cNvGrpSpPr/>
            <p:nvPr/>
          </p:nvGrpSpPr>
          <p:grpSpPr>
            <a:xfrm>
              <a:off x="9582150" y="1466850"/>
              <a:ext cx="1377354" cy="120967"/>
              <a:chOff x="9582150" y="1466850"/>
              <a:chExt cx="1377354" cy="120967"/>
            </a:xfrm>
          </p:grpSpPr>
          <p:sp>
            <p:nvSpPr>
              <p:cNvPr id="198" name="Ellipse 198"/>
              <p:cNvSpPr/>
              <p:nvPr/>
            </p:nvSpPr>
            <p:spPr>
              <a:xfrm>
                <a:off x="9582150" y="1466850"/>
                <a:ext cx="76200" cy="76200"/>
              </a:xfrm>
              <a:prstGeom prst="ellipse">
                <a:avLst/>
              </a:prstGeom>
              <a:solidFill>
                <a:srgbClr val="9E402E"/>
              </a:solidFill>
              <a:ln>
                <a:noFill/>
              </a:ln>
            </p:spPr>
          </p:sp>
          <p:sp>
            <p:nvSpPr>
              <p:cNvPr id="199" name="TextBox 199"/>
              <p:cNvSpPr txBox="1"/>
              <p:nvPr/>
            </p:nvSpPr>
            <p:spPr>
              <a:xfrm>
                <a:off x="9691688" y="1468755"/>
                <a:ext cx="215494"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达成​</a:t>
                </a:r>
              </a:p>
            </p:txBody>
          </p:sp>
          <p:sp>
            <p:nvSpPr>
              <p:cNvPr id="200" name="Ellipse 200"/>
              <p:cNvSpPr/>
              <p:nvPr/>
            </p:nvSpPr>
            <p:spPr>
              <a:xfrm>
                <a:off x="10001250" y="1466850"/>
                <a:ext cx="76200" cy="76200"/>
              </a:xfrm>
              <a:prstGeom prst="ellipse">
                <a:avLst/>
              </a:prstGeom>
              <a:solidFill>
                <a:srgbClr val="C9988F"/>
              </a:solidFill>
              <a:ln>
                <a:noFill/>
              </a:ln>
            </p:spPr>
          </p:sp>
          <p:sp>
            <p:nvSpPr>
              <p:cNvPr id="201" name="TextBox 201"/>
              <p:cNvSpPr txBox="1"/>
              <p:nvPr/>
            </p:nvSpPr>
            <p:spPr>
              <a:xfrm>
                <a:off x="10110788" y="1468755"/>
                <a:ext cx="377038"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基本达成​</a:t>
                </a:r>
              </a:p>
            </p:txBody>
          </p:sp>
          <p:sp>
            <p:nvSpPr>
              <p:cNvPr id="202" name="Ellipse 202"/>
              <p:cNvSpPr/>
              <p:nvPr/>
            </p:nvSpPr>
            <p:spPr>
              <a:xfrm>
                <a:off x="10553700" y="1466850"/>
                <a:ext cx="76200" cy="76200"/>
              </a:xfrm>
              <a:prstGeom prst="ellipse">
                <a:avLst/>
              </a:prstGeom>
              <a:solidFill>
                <a:srgbClr val="C5E0D8"/>
              </a:solidFill>
              <a:ln>
                <a:noFill/>
              </a:ln>
            </p:spPr>
          </p:sp>
          <p:sp>
            <p:nvSpPr>
              <p:cNvPr id="203" name="TextBox 203"/>
              <p:cNvSpPr txBox="1"/>
              <p:nvPr/>
            </p:nvSpPr>
            <p:spPr>
              <a:xfrm>
                <a:off x="10663238" y="1468755"/>
                <a:ext cx="296266"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待提升​</a:t>
                </a:r>
              </a:p>
            </p:txBody>
          </p:sp>
        </p:grpSp>
        <p:grpSp>
          <p:nvGrpSpPr>
            <p:cNvPr id="213" name="Group 213"/>
            <p:cNvGrpSpPr/>
            <p:nvPr/>
          </p:nvGrpSpPr>
          <p:grpSpPr>
            <a:xfrm>
              <a:off x="7391400" y="1714500"/>
              <a:ext cx="4495800" cy="285750"/>
              <a:chOff x="7391400" y="1714500"/>
              <a:chExt cx="4495800" cy="285750"/>
            </a:xfrm>
          </p:grpSpPr>
          <p:sp>
            <p:nvSpPr>
              <p:cNvPr id="205" name="Rectangle 205"/>
              <p:cNvSpPr/>
              <p:nvPr/>
            </p:nvSpPr>
            <p:spPr>
              <a:xfrm>
                <a:off x="7391400" y="1714500"/>
                <a:ext cx="4495800" cy="285750"/>
              </a:xfrm>
              <a:prstGeom prst="rect">
                <a:avLst/>
              </a:prstGeom>
              <a:solidFill>
                <a:srgbClr val="5B180B"/>
              </a:solidFill>
              <a:ln>
                <a:noFill/>
              </a:ln>
            </p:spPr>
          </p:sp>
          <p:sp>
            <p:nvSpPr>
              <p:cNvPr id="206" name="TextBox 206"/>
              <p:cNvSpPr txBox="1"/>
              <p:nvPr/>
            </p:nvSpPr>
            <p:spPr>
              <a:xfrm>
                <a:off x="7558791" y="1826657"/>
                <a:ext cx="50341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姓名(岗位)​</a:t>
                </a:r>
              </a:p>
            </p:txBody>
          </p:sp>
          <p:sp>
            <p:nvSpPr>
              <p:cNvPr id="207" name="TextBox 207"/>
              <p:cNvSpPr txBox="1"/>
              <p:nvPr/>
            </p:nvSpPr>
            <p:spPr>
              <a:xfrm>
                <a:off x="8389596" y="1826657"/>
                <a:ext cx="40390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有效触达​</a:t>
                </a:r>
              </a:p>
            </p:txBody>
          </p:sp>
          <p:sp>
            <p:nvSpPr>
              <p:cNvPr id="208" name="TextBox 208"/>
              <p:cNvSpPr txBox="1"/>
              <p:nvPr/>
            </p:nvSpPr>
            <p:spPr>
              <a:xfrm>
                <a:off x="8971053" y="1826657"/>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面谈​</a:t>
                </a:r>
              </a:p>
            </p:txBody>
          </p:sp>
          <p:sp>
            <p:nvSpPr>
              <p:cNvPr id="209" name="TextBox 209"/>
              <p:cNvSpPr txBox="1"/>
              <p:nvPr/>
            </p:nvSpPr>
            <p:spPr>
              <a:xfrm>
                <a:off x="9466353" y="1826657"/>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转化​</a:t>
                </a:r>
              </a:p>
            </p:txBody>
          </p:sp>
          <p:sp>
            <p:nvSpPr>
              <p:cNvPr id="210" name="TextBox 210"/>
              <p:cNvSpPr txBox="1"/>
              <p:nvPr/>
            </p:nvSpPr>
            <p:spPr>
              <a:xfrm>
                <a:off x="9961653" y="1826657"/>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转介​</a:t>
                </a:r>
              </a:p>
            </p:txBody>
          </p:sp>
          <p:sp>
            <p:nvSpPr>
              <p:cNvPr id="211" name="TextBox 211"/>
              <p:cNvSpPr txBox="1"/>
              <p:nvPr/>
            </p:nvSpPr>
            <p:spPr>
              <a:xfrm>
                <a:off x="10442018" y="1826657"/>
                <a:ext cx="49006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协同转介率​</a:t>
                </a:r>
              </a:p>
            </p:txBody>
          </p:sp>
          <p:sp>
            <p:nvSpPr>
              <p:cNvPr id="212" name="TextBox 212"/>
              <p:cNvSpPr txBox="1"/>
              <p:nvPr/>
            </p:nvSpPr>
            <p:spPr>
              <a:xfrm>
                <a:off x="11189946" y="1826657"/>
                <a:ext cx="40390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综合得分​</a:t>
                </a:r>
              </a:p>
            </p:txBody>
          </p:sp>
        </p:grpSp>
        <p:grpSp>
          <p:nvGrpSpPr>
            <p:cNvPr id="278" name="board-rows"/>
            <p:cNvGrpSpPr/>
            <p:nvPr/>
          </p:nvGrpSpPr>
          <p:grpSpPr>
            <a:xfrm>
              <a:off x="7391400" y="2000250"/>
              <a:ext cx="4495800" cy="2476500"/>
              <a:chOff x="7391400" y="2000250"/>
              <a:chExt cx="4495800" cy="2476500"/>
            </a:xfrm>
          </p:grpSpPr>
          <p:sp>
            <p:nvSpPr>
              <p:cNvPr id="214" name="Rectangle 214"/>
              <p:cNvSpPr/>
              <p:nvPr/>
            </p:nvSpPr>
            <p:spPr>
              <a:xfrm>
                <a:off x="7391400" y="2000250"/>
                <a:ext cx="4495800" cy="419100"/>
              </a:xfrm>
              <a:prstGeom prst="rect">
                <a:avLst/>
              </a:prstGeom>
              <a:solidFill>
                <a:srgbClr val="FFFFFF"/>
              </a:solidFill>
              <a:ln w="7620">
                <a:solidFill>
                  <a:srgbClr val="D9E8E2"/>
                </a:solidFill>
              </a:ln>
            </p:spPr>
          </p:sp>
          <p:sp>
            <p:nvSpPr>
              <p:cNvPr id="215" name="TextBox 215"/>
              <p:cNvSpPr txBox="1"/>
              <p:nvPr/>
            </p:nvSpPr>
            <p:spPr>
              <a:xfrm>
                <a:off x="7675619" y="2090738"/>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张钺​</a:t>
                </a:r>
              </a:p>
            </p:txBody>
          </p:sp>
          <p:sp>
            <p:nvSpPr>
              <p:cNvPr id="216" name="TextBox 216"/>
              <p:cNvSpPr txBox="1"/>
              <p:nvPr/>
            </p:nvSpPr>
            <p:spPr>
              <a:xfrm>
                <a:off x="7596538" y="2244328"/>
                <a:ext cx="427924" cy="111919"/>
              </a:xfrm>
              <a:prstGeom prst="rect">
                <a:avLst/>
              </a:prstGeom>
              <a:noFill/>
              <a:ln>
                <a:noFill/>
              </a:ln>
            </p:spPr>
            <p:txBody>
              <a:bodyPr wrap="none" lIns="0" tIns="0" rIns="0" bIns="0" anchor="t" anchorCtr="0">
                <a:spAutoFit/>
              </a:bodyPr>
              <a:lstStyle/>
              <a:p>
                <a:pPr algn="ctr"/>
                <a:r>
                  <a:rPr lang="zh-CN" sz="560" dirty="0">
                    <a:solidFill>
                      <a:srgbClr val="8AA39C"/>
                    </a:solidFill>
                    <a:latin typeface="+mn-lt"/>
                    <a:ea typeface="+mn-ea"/>
                    <a:cs typeface="+mn-cs"/>
                  </a:rPr>
                  <a:t>网点负责人​</a:t>
                </a:r>
              </a:p>
            </p:txBody>
          </p:sp>
          <p:sp>
            <p:nvSpPr>
              <p:cNvPr id="217" name="TextBox 217"/>
              <p:cNvSpPr txBox="1"/>
              <p:nvPr/>
            </p:nvSpPr>
            <p:spPr>
              <a:xfrm>
                <a:off x="8503491" y="2166938"/>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48​</a:t>
                </a:r>
              </a:p>
            </p:txBody>
          </p:sp>
          <p:sp>
            <p:nvSpPr>
              <p:cNvPr id="218" name="TextBox 218"/>
              <p:cNvSpPr txBox="1"/>
              <p:nvPr/>
            </p:nvSpPr>
            <p:spPr>
              <a:xfrm>
                <a:off x="8998791" y="2166938"/>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12​</a:t>
                </a:r>
              </a:p>
            </p:txBody>
          </p:sp>
          <p:sp>
            <p:nvSpPr>
              <p:cNvPr id="219" name="TextBox 219"/>
              <p:cNvSpPr txBox="1"/>
              <p:nvPr/>
            </p:nvSpPr>
            <p:spPr>
              <a:xfrm>
                <a:off x="9466326" y="21669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3.1​</a:t>
                </a:r>
              </a:p>
            </p:txBody>
          </p:sp>
          <p:sp>
            <p:nvSpPr>
              <p:cNvPr id="220" name="TextBox 220"/>
              <p:cNvSpPr txBox="1"/>
              <p:nvPr/>
            </p:nvSpPr>
            <p:spPr>
              <a:xfrm>
                <a:off x="9961626" y="21669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4.0​</a:t>
                </a:r>
              </a:p>
            </p:txBody>
          </p:sp>
          <p:sp>
            <p:nvSpPr>
              <p:cNvPr id="221" name="TextBox 221"/>
              <p:cNvSpPr txBox="1"/>
              <p:nvPr/>
            </p:nvSpPr>
            <p:spPr>
              <a:xfrm>
                <a:off x="10561130" y="216693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50%​</a:t>
                </a:r>
              </a:p>
            </p:txBody>
          </p:sp>
          <p:sp>
            <p:nvSpPr>
              <p:cNvPr id="222" name="TextBox 222"/>
              <p:cNvSpPr txBox="1"/>
              <p:nvPr/>
            </p:nvSpPr>
            <p:spPr>
              <a:xfrm>
                <a:off x="11147277" y="2166938"/>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92​</a:t>
                </a:r>
              </a:p>
            </p:txBody>
          </p:sp>
          <p:sp>
            <p:nvSpPr>
              <p:cNvPr id="223" name="Rectangle 223"/>
              <p:cNvSpPr/>
              <p:nvPr/>
            </p:nvSpPr>
            <p:spPr>
              <a:xfrm>
                <a:off x="11315700" y="2152650"/>
                <a:ext cx="495300" cy="133350"/>
              </a:xfrm>
              <a:prstGeom prst="rect">
                <a:avLst/>
              </a:prstGeom>
              <a:solidFill>
                <a:srgbClr val="E3F1EC"/>
              </a:solidFill>
              <a:ln>
                <a:noFill/>
              </a:ln>
            </p:spPr>
          </p:sp>
          <p:sp>
            <p:nvSpPr>
              <p:cNvPr id="224" name="Rectangle 224"/>
              <p:cNvSpPr/>
              <p:nvPr/>
            </p:nvSpPr>
            <p:spPr>
              <a:xfrm>
                <a:off x="11315700" y="2152650"/>
                <a:ext cx="457200" cy="133350"/>
              </a:xfrm>
              <a:prstGeom prst="rect">
                <a:avLst/>
              </a:prstGeom>
              <a:solidFill>
                <a:srgbClr val="9E402E"/>
              </a:solidFill>
              <a:ln>
                <a:noFill/>
              </a:ln>
            </p:spPr>
          </p:sp>
          <p:sp>
            <p:nvSpPr>
              <p:cNvPr id="225" name="Rectangle 225"/>
              <p:cNvSpPr/>
              <p:nvPr/>
            </p:nvSpPr>
            <p:spPr>
              <a:xfrm>
                <a:off x="7391400" y="2419350"/>
                <a:ext cx="4495800" cy="419100"/>
              </a:xfrm>
              <a:prstGeom prst="rect">
                <a:avLst/>
              </a:prstGeom>
              <a:solidFill>
                <a:srgbClr val="F7FBF9"/>
              </a:solidFill>
              <a:ln w="7620">
                <a:solidFill>
                  <a:srgbClr val="D9E8E2"/>
                </a:solidFill>
              </a:ln>
            </p:spPr>
          </p:sp>
          <p:sp>
            <p:nvSpPr>
              <p:cNvPr id="226" name="TextBox 226"/>
              <p:cNvSpPr txBox="1"/>
              <p:nvPr/>
            </p:nvSpPr>
            <p:spPr>
              <a:xfrm>
                <a:off x="7675619" y="2509838"/>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李娜​</a:t>
                </a:r>
              </a:p>
            </p:txBody>
          </p:sp>
          <p:sp>
            <p:nvSpPr>
              <p:cNvPr id="227" name="TextBox 227"/>
              <p:cNvSpPr txBox="1"/>
              <p:nvPr/>
            </p:nvSpPr>
            <p:spPr>
              <a:xfrm>
                <a:off x="7634232" y="2663428"/>
                <a:ext cx="352537" cy="111919"/>
              </a:xfrm>
              <a:prstGeom prst="rect">
                <a:avLst/>
              </a:prstGeom>
              <a:noFill/>
              <a:ln>
                <a:noFill/>
              </a:ln>
            </p:spPr>
            <p:txBody>
              <a:bodyPr wrap="none" lIns="0" tIns="0" rIns="0" bIns="0" anchor="t" anchorCtr="0">
                <a:spAutoFit/>
              </a:bodyPr>
              <a:lstStyle/>
              <a:p>
                <a:pPr algn="ctr"/>
                <a:r>
                  <a:rPr lang="zh-CN" sz="560" dirty="0">
                    <a:solidFill>
                      <a:srgbClr val="8AA39C"/>
                    </a:solidFill>
                    <a:latin typeface="+mn-lt"/>
                    <a:ea typeface="+mn-ea"/>
                    <a:cs typeface="+mn-cs"/>
                  </a:rPr>
                  <a:t>理财经理​</a:t>
                </a:r>
              </a:p>
            </p:txBody>
          </p:sp>
          <p:sp>
            <p:nvSpPr>
              <p:cNvPr id="228" name="TextBox 228"/>
              <p:cNvSpPr txBox="1"/>
              <p:nvPr/>
            </p:nvSpPr>
            <p:spPr>
              <a:xfrm>
                <a:off x="8503491" y="2586038"/>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42​</a:t>
                </a:r>
              </a:p>
            </p:txBody>
          </p:sp>
          <p:sp>
            <p:nvSpPr>
              <p:cNvPr id="229" name="TextBox 229"/>
              <p:cNvSpPr txBox="1"/>
              <p:nvPr/>
            </p:nvSpPr>
            <p:spPr>
              <a:xfrm>
                <a:off x="8998791" y="2586038"/>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11​</a:t>
                </a:r>
              </a:p>
            </p:txBody>
          </p:sp>
          <p:sp>
            <p:nvSpPr>
              <p:cNvPr id="230" name="TextBox 230"/>
              <p:cNvSpPr txBox="1"/>
              <p:nvPr/>
            </p:nvSpPr>
            <p:spPr>
              <a:xfrm>
                <a:off x="9466326" y="25860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3.0​</a:t>
                </a:r>
              </a:p>
            </p:txBody>
          </p:sp>
          <p:sp>
            <p:nvSpPr>
              <p:cNvPr id="231" name="TextBox 231"/>
              <p:cNvSpPr txBox="1"/>
              <p:nvPr/>
            </p:nvSpPr>
            <p:spPr>
              <a:xfrm>
                <a:off x="9961626" y="25860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3.5​</a:t>
                </a:r>
              </a:p>
            </p:txBody>
          </p:sp>
          <p:sp>
            <p:nvSpPr>
              <p:cNvPr id="232" name="TextBox 232"/>
              <p:cNvSpPr txBox="1"/>
              <p:nvPr/>
            </p:nvSpPr>
            <p:spPr>
              <a:xfrm>
                <a:off x="10561130" y="258603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46%​</a:t>
                </a:r>
              </a:p>
            </p:txBody>
          </p:sp>
          <p:sp>
            <p:nvSpPr>
              <p:cNvPr id="233" name="TextBox 233"/>
              <p:cNvSpPr txBox="1"/>
              <p:nvPr/>
            </p:nvSpPr>
            <p:spPr>
              <a:xfrm>
                <a:off x="11147277" y="2586038"/>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88​</a:t>
                </a:r>
              </a:p>
            </p:txBody>
          </p:sp>
          <p:sp>
            <p:nvSpPr>
              <p:cNvPr id="234" name="Rectangle 234"/>
              <p:cNvSpPr/>
              <p:nvPr/>
            </p:nvSpPr>
            <p:spPr>
              <a:xfrm>
                <a:off x="11315700" y="2571750"/>
                <a:ext cx="495300" cy="133350"/>
              </a:xfrm>
              <a:prstGeom prst="rect">
                <a:avLst/>
              </a:prstGeom>
              <a:solidFill>
                <a:srgbClr val="E3F1EC"/>
              </a:solidFill>
              <a:ln>
                <a:noFill/>
              </a:ln>
            </p:spPr>
          </p:sp>
          <p:sp>
            <p:nvSpPr>
              <p:cNvPr id="235" name="Rectangle 235"/>
              <p:cNvSpPr/>
              <p:nvPr/>
            </p:nvSpPr>
            <p:spPr>
              <a:xfrm>
                <a:off x="11315700" y="2571750"/>
                <a:ext cx="438150" cy="133350"/>
              </a:xfrm>
              <a:prstGeom prst="rect">
                <a:avLst/>
              </a:prstGeom>
              <a:solidFill>
                <a:srgbClr val="9E402E"/>
              </a:solidFill>
              <a:ln>
                <a:noFill/>
              </a:ln>
            </p:spPr>
          </p:sp>
          <p:sp>
            <p:nvSpPr>
              <p:cNvPr id="236" name="Rectangle 236"/>
              <p:cNvSpPr/>
              <p:nvPr/>
            </p:nvSpPr>
            <p:spPr>
              <a:xfrm>
                <a:off x="7391400" y="2838450"/>
                <a:ext cx="4495800" cy="419100"/>
              </a:xfrm>
              <a:prstGeom prst="rect">
                <a:avLst/>
              </a:prstGeom>
              <a:solidFill>
                <a:srgbClr val="FFFFFF"/>
              </a:solidFill>
              <a:ln w="7620">
                <a:solidFill>
                  <a:srgbClr val="D9E8E2"/>
                </a:solidFill>
              </a:ln>
            </p:spPr>
          </p:sp>
          <p:sp>
            <p:nvSpPr>
              <p:cNvPr id="237" name="TextBox 237"/>
              <p:cNvSpPr txBox="1"/>
              <p:nvPr/>
            </p:nvSpPr>
            <p:spPr>
              <a:xfrm>
                <a:off x="7675619" y="2928938"/>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王强​</a:t>
                </a:r>
              </a:p>
            </p:txBody>
          </p:sp>
          <p:sp>
            <p:nvSpPr>
              <p:cNvPr id="238" name="TextBox 238"/>
              <p:cNvSpPr txBox="1"/>
              <p:nvPr/>
            </p:nvSpPr>
            <p:spPr>
              <a:xfrm>
                <a:off x="7634232" y="3082528"/>
                <a:ext cx="352537" cy="111919"/>
              </a:xfrm>
              <a:prstGeom prst="rect">
                <a:avLst/>
              </a:prstGeom>
              <a:noFill/>
              <a:ln>
                <a:noFill/>
              </a:ln>
            </p:spPr>
            <p:txBody>
              <a:bodyPr wrap="none" lIns="0" tIns="0" rIns="0" bIns="0" anchor="t" anchorCtr="0">
                <a:spAutoFit/>
              </a:bodyPr>
              <a:lstStyle/>
              <a:p>
                <a:pPr algn="ctr"/>
                <a:r>
                  <a:rPr lang="zh-CN" sz="560" dirty="0">
                    <a:solidFill>
                      <a:srgbClr val="8AA39C"/>
                    </a:solidFill>
                    <a:latin typeface="+mn-lt"/>
                    <a:ea typeface="+mn-ea"/>
                    <a:cs typeface="+mn-cs"/>
                  </a:rPr>
                  <a:t>客户经理​</a:t>
                </a:r>
              </a:p>
            </p:txBody>
          </p:sp>
          <p:sp>
            <p:nvSpPr>
              <p:cNvPr id="239" name="TextBox 239"/>
              <p:cNvSpPr txBox="1"/>
              <p:nvPr/>
            </p:nvSpPr>
            <p:spPr>
              <a:xfrm>
                <a:off x="8503491" y="3005138"/>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36​</a:t>
                </a:r>
              </a:p>
            </p:txBody>
          </p:sp>
          <p:sp>
            <p:nvSpPr>
              <p:cNvPr id="240" name="TextBox 240"/>
              <p:cNvSpPr txBox="1"/>
              <p:nvPr/>
            </p:nvSpPr>
            <p:spPr>
              <a:xfrm>
                <a:off x="9026557" y="3005138"/>
                <a:ext cx="12058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8​</a:t>
                </a:r>
              </a:p>
            </p:txBody>
          </p:sp>
          <p:sp>
            <p:nvSpPr>
              <p:cNvPr id="241" name="TextBox 241"/>
              <p:cNvSpPr txBox="1"/>
              <p:nvPr/>
            </p:nvSpPr>
            <p:spPr>
              <a:xfrm>
                <a:off x="9466326" y="30051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2.4​</a:t>
                </a:r>
              </a:p>
            </p:txBody>
          </p:sp>
          <p:sp>
            <p:nvSpPr>
              <p:cNvPr id="242" name="TextBox 242"/>
              <p:cNvSpPr txBox="1"/>
              <p:nvPr/>
            </p:nvSpPr>
            <p:spPr>
              <a:xfrm>
                <a:off x="9961626" y="30051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2.8​</a:t>
                </a:r>
              </a:p>
            </p:txBody>
          </p:sp>
          <p:sp>
            <p:nvSpPr>
              <p:cNvPr id="243" name="TextBox 243"/>
              <p:cNvSpPr txBox="1"/>
              <p:nvPr/>
            </p:nvSpPr>
            <p:spPr>
              <a:xfrm>
                <a:off x="10561130" y="300513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41%​</a:t>
                </a:r>
              </a:p>
            </p:txBody>
          </p:sp>
          <p:sp>
            <p:nvSpPr>
              <p:cNvPr id="244" name="TextBox 244"/>
              <p:cNvSpPr txBox="1"/>
              <p:nvPr/>
            </p:nvSpPr>
            <p:spPr>
              <a:xfrm>
                <a:off x="11147277" y="3005138"/>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82​</a:t>
                </a:r>
              </a:p>
            </p:txBody>
          </p:sp>
          <p:sp>
            <p:nvSpPr>
              <p:cNvPr id="245" name="Rectangle 245"/>
              <p:cNvSpPr/>
              <p:nvPr/>
            </p:nvSpPr>
            <p:spPr>
              <a:xfrm>
                <a:off x="11315700" y="2990850"/>
                <a:ext cx="495300" cy="133350"/>
              </a:xfrm>
              <a:prstGeom prst="rect">
                <a:avLst/>
              </a:prstGeom>
              <a:solidFill>
                <a:srgbClr val="E3F1EC"/>
              </a:solidFill>
              <a:ln>
                <a:noFill/>
              </a:ln>
            </p:spPr>
          </p:sp>
          <p:sp>
            <p:nvSpPr>
              <p:cNvPr id="246" name="Rectangle 246"/>
              <p:cNvSpPr/>
              <p:nvPr/>
            </p:nvSpPr>
            <p:spPr>
              <a:xfrm>
                <a:off x="11315700" y="2990850"/>
                <a:ext cx="409575" cy="133350"/>
              </a:xfrm>
              <a:prstGeom prst="rect">
                <a:avLst/>
              </a:prstGeom>
              <a:solidFill>
                <a:srgbClr val="C9988F"/>
              </a:solidFill>
              <a:ln>
                <a:noFill/>
              </a:ln>
            </p:spPr>
          </p:sp>
          <p:sp>
            <p:nvSpPr>
              <p:cNvPr id="247" name="Rectangle 247"/>
              <p:cNvSpPr/>
              <p:nvPr/>
            </p:nvSpPr>
            <p:spPr>
              <a:xfrm>
                <a:off x="7391400" y="3257550"/>
                <a:ext cx="4495800" cy="419100"/>
              </a:xfrm>
              <a:prstGeom prst="rect">
                <a:avLst/>
              </a:prstGeom>
              <a:solidFill>
                <a:srgbClr val="F7FBF9"/>
              </a:solidFill>
              <a:ln w="7620">
                <a:solidFill>
                  <a:srgbClr val="D9E8E2"/>
                </a:solidFill>
              </a:ln>
            </p:spPr>
          </p:sp>
          <p:sp>
            <p:nvSpPr>
              <p:cNvPr id="248" name="TextBox 248"/>
              <p:cNvSpPr txBox="1"/>
              <p:nvPr/>
            </p:nvSpPr>
            <p:spPr>
              <a:xfrm>
                <a:off x="7675619" y="3348038"/>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陈芳​</a:t>
                </a:r>
              </a:p>
            </p:txBody>
          </p:sp>
          <p:sp>
            <p:nvSpPr>
              <p:cNvPr id="249" name="TextBox 249"/>
              <p:cNvSpPr txBox="1"/>
              <p:nvPr/>
            </p:nvSpPr>
            <p:spPr>
              <a:xfrm>
                <a:off x="7634232" y="3501628"/>
                <a:ext cx="352537" cy="111919"/>
              </a:xfrm>
              <a:prstGeom prst="rect">
                <a:avLst/>
              </a:prstGeom>
              <a:noFill/>
              <a:ln>
                <a:noFill/>
              </a:ln>
            </p:spPr>
            <p:txBody>
              <a:bodyPr wrap="none" lIns="0" tIns="0" rIns="0" bIns="0" anchor="t" anchorCtr="0">
                <a:spAutoFit/>
              </a:bodyPr>
              <a:lstStyle/>
              <a:p>
                <a:pPr algn="ctr"/>
                <a:r>
                  <a:rPr lang="zh-CN" sz="560" dirty="0">
                    <a:solidFill>
                      <a:srgbClr val="8AA39C"/>
                    </a:solidFill>
                    <a:latin typeface="+mn-lt"/>
                    <a:ea typeface="+mn-ea"/>
                    <a:cs typeface="+mn-cs"/>
                  </a:rPr>
                  <a:t>大堂经理​</a:t>
                </a:r>
              </a:p>
            </p:txBody>
          </p:sp>
          <p:sp>
            <p:nvSpPr>
              <p:cNvPr id="250" name="TextBox 250"/>
              <p:cNvSpPr txBox="1"/>
              <p:nvPr/>
            </p:nvSpPr>
            <p:spPr>
              <a:xfrm>
                <a:off x="8503491" y="3424238"/>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32​</a:t>
                </a:r>
              </a:p>
            </p:txBody>
          </p:sp>
          <p:sp>
            <p:nvSpPr>
              <p:cNvPr id="251" name="TextBox 251"/>
              <p:cNvSpPr txBox="1"/>
              <p:nvPr/>
            </p:nvSpPr>
            <p:spPr>
              <a:xfrm>
                <a:off x="9026557" y="3424238"/>
                <a:ext cx="12058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7​</a:t>
                </a:r>
              </a:p>
            </p:txBody>
          </p:sp>
          <p:sp>
            <p:nvSpPr>
              <p:cNvPr id="252" name="TextBox 252"/>
              <p:cNvSpPr txBox="1"/>
              <p:nvPr/>
            </p:nvSpPr>
            <p:spPr>
              <a:xfrm>
                <a:off x="9466326" y="34242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1.9​</a:t>
                </a:r>
              </a:p>
            </p:txBody>
          </p:sp>
          <p:sp>
            <p:nvSpPr>
              <p:cNvPr id="253" name="TextBox 253"/>
              <p:cNvSpPr txBox="1"/>
              <p:nvPr/>
            </p:nvSpPr>
            <p:spPr>
              <a:xfrm>
                <a:off x="9961626" y="34242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2.6​</a:t>
                </a:r>
              </a:p>
            </p:txBody>
          </p:sp>
          <p:sp>
            <p:nvSpPr>
              <p:cNvPr id="254" name="TextBox 254"/>
              <p:cNvSpPr txBox="1"/>
              <p:nvPr/>
            </p:nvSpPr>
            <p:spPr>
              <a:xfrm>
                <a:off x="10561130" y="342423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38%​</a:t>
                </a:r>
              </a:p>
            </p:txBody>
          </p:sp>
          <p:sp>
            <p:nvSpPr>
              <p:cNvPr id="255" name="TextBox 255"/>
              <p:cNvSpPr txBox="1"/>
              <p:nvPr/>
            </p:nvSpPr>
            <p:spPr>
              <a:xfrm>
                <a:off x="11147277" y="3424238"/>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78​</a:t>
                </a:r>
              </a:p>
            </p:txBody>
          </p:sp>
          <p:sp>
            <p:nvSpPr>
              <p:cNvPr id="256" name="Rectangle 256"/>
              <p:cNvSpPr/>
              <p:nvPr/>
            </p:nvSpPr>
            <p:spPr>
              <a:xfrm>
                <a:off x="11315700" y="3409950"/>
                <a:ext cx="495300" cy="133350"/>
              </a:xfrm>
              <a:prstGeom prst="rect">
                <a:avLst/>
              </a:prstGeom>
              <a:solidFill>
                <a:srgbClr val="E3F1EC"/>
              </a:solidFill>
              <a:ln>
                <a:noFill/>
              </a:ln>
            </p:spPr>
          </p:sp>
          <p:sp>
            <p:nvSpPr>
              <p:cNvPr id="257" name="Rectangle 257"/>
              <p:cNvSpPr/>
              <p:nvPr/>
            </p:nvSpPr>
            <p:spPr>
              <a:xfrm>
                <a:off x="11315700" y="3409950"/>
                <a:ext cx="390525" cy="133350"/>
              </a:xfrm>
              <a:prstGeom prst="rect">
                <a:avLst/>
              </a:prstGeom>
              <a:solidFill>
                <a:srgbClr val="C9988F"/>
              </a:solidFill>
              <a:ln>
                <a:noFill/>
              </a:ln>
            </p:spPr>
          </p:sp>
          <p:sp>
            <p:nvSpPr>
              <p:cNvPr id="258" name="Rectangle 258"/>
              <p:cNvSpPr/>
              <p:nvPr/>
            </p:nvSpPr>
            <p:spPr>
              <a:xfrm>
                <a:off x="7391400" y="3676650"/>
                <a:ext cx="4495800" cy="419100"/>
              </a:xfrm>
              <a:prstGeom prst="rect">
                <a:avLst/>
              </a:prstGeom>
              <a:solidFill>
                <a:srgbClr val="FFFFFF"/>
              </a:solidFill>
              <a:ln w="7620">
                <a:solidFill>
                  <a:srgbClr val="D9E8E2"/>
                </a:solidFill>
              </a:ln>
            </p:spPr>
          </p:sp>
          <p:sp>
            <p:nvSpPr>
              <p:cNvPr id="259" name="TextBox 259"/>
              <p:cNvSpPr txBox="1"/>
              <p:nvPr/>
            </p:nvSpPr>
            <p:spPr>
              <a:xfrm>
                <a:off x="7675619" y="3767138"/>
                <a:ext cx="269762" cy="147638"/>
              </a:xfrm>
              <a:prstGeom prst="rect">
                <a:avLst/>
              </a:prstGeom>
              <a:noFill/>
              <a:ln>
                <a:noFill/>
              </a:ln>
            </p:spPr>
            <p:txBody>
              <a:bodyPr wrap="none" lIns="0" tIns="0" rIns="0" bIns="0" anchor="t" anchorCtr="0">
                <a:spAutoFit/>
              </a:bodyPr>
              <a:lstStyle/>
              <a:p>
                <a:pPr algn="ctr"/>
                <a:r>
                  <a:rPr lang="zh-CN" sz="750" b="1" dirty="0">
                    <a:solidFill>
                      <a:srgbClr val="312624"/>
                    </a:solidFill>
                    <a:latin typeface="+mn-lt"/>
                    <a:ea typeface="+mn-ea"/>
                    <a:cs typeface="+mn-cs"/>
                  </a:rPr>
                  <a:t>刘洋​</a:t>
                </a:r>
              </a:p>
            </p:txBody>
          </p:sp>
          <p:sp>
            <p:nvSpPr>
              <p:cNvPr id="260" name="TextBox 260"/>
              <p:cNvSpPr txBox="1"/>
              <p:nvPr/>
            </p:nvSpPr>
            <p:spPr>
              <a:xfrm>
                <a:off x="7709619" y="3920728"/>
                <a:ext cx="201762" cy="111919"/>
              </a:xfrm>
              <a:prstGeom prst="rect">
                <a:avLst/>
              </a:prstGeom>
              <a:noFill/>
              <a:ln>
                <a:noFill/>
              </a:ln>
            </p:spPr>
            <p:txBody>
              <a:bodyPr wrap="none" lIns="0" tIns="0" rIns="0" bIns="0" anchor="t" anchorCtr="0">
                <a:spAutoFit/>
              </a:bodyPr>
              <a:lstStyle/>
              <a:p>
                <a:pPr algn="ctr"/>
                <a:r>
                  <a:rPr lang="zh-CN" sz="560" dirty="0">
                    <a:solidFill>
                      <a:srgbClr val="8AA39C"/>
                    </a:solidFill>
                    <a:latin typeface="+mn-lt"/>
                    <a:ea typeface="+mn-ea"/>
                    <a:cs typeface="+mn-cs"/>
                  </a:rPr>
                  <a:t>柜员​</a:t>
                </a:r>
              </a:p>
            </p:txBody>
          </p:sp>
          <p:sp>
            <p:nvSpPr>
              <p:cNvPr id="261" name="TextBox 261"/>
              <p:cNvSpPr txBox="1"/>
              <p:nvPr/>
            </p:nvSpPr>
            <p:spPr>
              <a:xfrm>
                <a:off x="8503491" y="3843338"/>
                <a:ext cx="176117"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28​</a:t>
                </a:r>
              </a:p>
            </p:txBody>
          </p:sp>
          <p:sp>
            <p:nvSpPr>
              <p:cNvPr id="262" name="TextBox 262"/>
              <p:cNvSpPr txBox="1"/>
              <p:nvPr/>
            </p:nvSpPr>
            <p:spPr>
              <a:xfrm>
                <a:off x="9026557" y="3843338"/>
                <a:ext cx="120586"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6​</a:t>
                </a:r>
              </a:p>
            </p:txBody>
          </p:sp>
          <p:sp>
            <p:nvSpPr>
              <p:cNvPr id="263" name="TextBox 263"/>
              <p:cNvSpPr txBox="1"/>
              <p:nvPr/>
            </p:nvSpPr>
            <p:spPr>
              <a:xfrm>
                <a:off x="9466326" y="38433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1.8​</a:t>
                </a:r>
              </a:p>
            </p:txBody>
          </p:sp>
          <p:sp>
            <p:nvSpPr>
              <p:cNvPr id="264" name="TextBox 264"/>
              <p:cNvSpPr txBox="1"/>
              <p:nvPr/>
            </p:nvSpPr>
            <p:spPr>
              <a:xfrm>
                <a:off x="9961626" y="3843338"/>
                <a:ext cx="231648"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2.1​</a:t>
                </a:r>
              </a:p>
            </p:txBody>
          </p:sp>
          <p:sp>
            <p:nvSpPr>
              <p:cNvPr id="265" name="TextBox 265"/>
              <p:cNvSpPr txBox="1"/>
              <p:nvPr/>
            </p:nvSpPr>
            <p:spPr>
              <a:xfrm>
                <a:off x="10561130" y="3843338"/>
                <a:ext cx="251841" cy="147638"/>
              </a:xfrm>
              <a:prstGeom prst="rect">
                <a:avLst/>
              </a:prstGeom>
              <a:noFill/>
              <a:ln>
                <a:noFill/>
              </a:ln>
            </p:spPr>
            <p:txBody>
              <a:bodyPr wrap="none" lIns="0" tIns="0" rIns="0" bIns="0" anchor="t" anchorCtr="0">
                <a:spAutoFit/>
              </a:bodyPr>
              <a:lstStyle/>
              <a:p>
                <a:pPr algn="ctr"/>
                <a:r>
                  <a:rPr lang="zh-CN" sz="750" dirty="0">
                    <a:solidFill>
                      <a:srgbClr val="4A3D3A"/>
                    </a:solidFill>
                    <a:latin typeface="+mn-lt"/>
                    <a:ea typeface="+mn-ea"/>
                    <a:cs typeface="+mn-cs"/>
                  </a:rPr>
                  <a:t>35%​</a:t>
                </a:r>
              </a:p>
            </p:txBody>
          </p:sp>
          <p:sp>
            <p:nvSpPr>
              <p:cNvPr id="266" name="TextBox 266"/>
              <p:cNvSpPr txBox="1"/>
              <p:nvPr/>
            </p:nvSpPr>
            <p:spPr>
              <a:xfrm>
                <a:off x="11147277" y="3843338"/>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75​</a:t>
                </a:r>
              </a:p>
            </p:txBody>
          </p:sp>
          <p:sp>
            <p:nvSpPr>
              <p:cNvPr id="267" name="Rectangle 267"/>
              <p:cNvSpPr/>
              <p:nvPr/>
            </p:nvSpPr>
            <p:spPr>
              <a:xfrm>
                <a:off x="11315700" y="3829050"/>
                <a:ext cx="495300" cy="133350"/>
              </a:xfrm>
              <a:prstGeom prst="rect">
                <a:avLst/>
              </a:prstGeom>
              <a:solidFill>
                <a:srgbClr val="E3F1EC"/>
              </a:solidFill>
              <a:ln>
                <a:noFill/>
              </a:ln>
            </p:spPr>
          </p:sp>
          <p:sp>
            <p:nvSpPr>
              <p:cNvPr id="268" name="Rectangle 268"/>
              <p:cNvSpPr/>
              <p:nvPr/>
            </p:nvSpPr>
            <p:spPr>
              <a:xfrm>
                <a:off x="11315700" y="3829050"/>
                <a:ext cx="371475" cy="133350"/>
              </a:xfrm>
              <a:prstGeom prst="rect">
                <a:avLst/>
              </a:prstGeom>
              <a:solidFill>
                <a:srgbClr val="C5E0D8"/>
              </a:solidFill>
              <a:ln>
                <a:noFill/>
              </a:ln>
            </p:spPr>
          </p:sp>
          <p:sp>
            <p:nvSpPr>
              <p:cNvPr id="269" name="Rectangle 269"/>
              <p:cNvSpPr/>
              <p:nvPr/>
            </p:nvSpPr>
            <p:spPr>
              <a:xfrm>
                <a:off x="7391400" y="4095750"/>
                <a:ext cx="4495800" cy="381000"/>
              </a:xfrm>
              <a:prstGeom prst="rect">
                <a:avLst/>
              </a:prstGeom>
              <a:solidFill>
                <a:srgbClr val="E9F4F0"/>
              </a:solidFill>
              <a:ln>
                <a:noFill/>
              </a:ln>
            </p:spPr>
          </p:sp>
          <p:sp>
            <p:nvSpPr>
              <p:cNvPr id="270" name="TextBox 270"/>
              <p:cNvSpPr txBox="1"/>
              <p:nvPr/>
            </p:nvSpPr>
            <p:spPr>
              <a:xfrm>
                <a:off x="7574654" y="42433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网点平均​</a:t>
                </a:r>
              </a:p>
            </p:txBody>
          </p:sp>
          <p:sp>
            <p:nvSpPr>
              <p:cNvPr id="271" name="TextBox 271"/>
              <p:cNvSpPr txBox="1"/>
              <p:nvPr/>
            </p:nvSpPr>
            <p:spPr>
              <a:xfrm>
                <a:off x="8499327" y="4243388"/>
                <a:ext cx="18444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35​</a:t>
                </a:r>
              </a:p>
            </p:txBody>
          </p:sp>
          <p:sp>
            <p:nvSpPr>
              <p:cNvPr id="272" name="TextBox 272"/>
              <p:cNvSpPr txBox="1"/>
              <p:nvPr/>
            </p:nvSpPr>
            <p:spPr>
              <a:xfrm>
                <a:off x="9023780" y="4243388"/>
                <a:ext cx="126140"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8​</a:t>
                </a:r>
              </a:p>
            </p:txBody>
          </p:sp>
          <p:sp>
            <p:nvSpPr>
              <p:cNvPr id="273" name="TextBox 273"/>
              <p:cNvSpPr txBox="1"/>
              <p:nvPr/>
            </p:nvSpPr>
            <p:spPr>
              <a:xfrm>
                <a:off x="9460773" y="4243388"/>
                <a:ext cx="242754"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2.3​</a:t>
                </a:r>
              </a:p>
            </p:txBody>
          </p:sp>
          <p:sp>
            <p:nvSpPr>
              <p:cNvPr id="274" name="TextBox 274"/>
              <p:cNvSpPr txBox="1"/>
              <p:nvPr/>
            </p:nvSpPr>
            <p:spPr>
              <a:xfrm>
                <a:off x="9956073" y="4243388"/>
                <a:ext cx="242754"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3.0​</a:t>
                </a:r>
              </a:p>
            </p:txBody>
          </p:sp>
          <p:sp>
            <p:nvSpPr>
              <p:cNvPr id="275" name="TextBox 275"/>
              <p:cNvSpPr txBox="1"/>
              <p:nvPr/>
            </p:nvSpPr>
            <p:spPr>
              <a:xfrm>
                <a:off x="10555072" y="4243388"/>
                <a:ext cx="263957"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42%​</a:t>
                </a:r>
              </a:p>
            </p:txBody>
          </p:sp>
          <p:sp>
            <p:nvSpPr>
              <p:cNvPr id="276" name="Rectangle 276"/>
              <p:cNvSpPr/>
              <p:nvPr/>
            </p:nvSpPr>
            <p:spPr>
              <a:xfrm>
                <a:off x="11239500" y="4171950"/>
                <a:ext cx="571500" cy="228600"/>
              </a:xfrm>
              <a:prstGeom prst="roundRect">
                <a:avLst>
                  <a:gd name="adj" fmla="val 16667"/>
                </a:avLst>
              </a:prstGeom>
              <a:solidFill>
                <a:srgbClr val="5B180B"/>
              </a:solidFill>
              <a:ln>
                <a:noFill/>
              </a:ln>
            </p:spPr>
          </p:sp>
          <p:sp>
            <p:nvSpPr>
              <p:cNvPr id="277" name="TextBox 277"/>
              <p:cNvSpPr txBox="1"/>
              <p:nvPr/>
            </p:nvSpPr>
            <p:spPr>
              <a:xfrm>
                <a:off x="11406015" y="4228624"/>
                <a:ext cx="23847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83​</a:t>
                </a:r>
              </a:p>
            </p:txBody>
          </p:sp>
        </p:grpSp>
      </p:grpSp>
      <p:grpSp>
        <p:nvGrpSpPr>
          <p:cNvPr id="337" name="incentive-card"/>
          <p:cNvGrpSpPr/>
          <p:nvPr/>
        </p:nvGrpSpPr>
        <p:grpSpPr>
          <a:xfrm>
            <a:off x="3200400" y="5162550"/>
            <a:ext cx="8763000" cy="1619250"/>
            <a:chOff x="3200400" y="5162550"/>
            <a:chExt cx="8763000" cy="1619250"/>
          </a:xfrm>
        </p:grpSpPr>
        <p:sp>
          <p:nvSpPr>
            <p:cNvPr id="280" name="Rectangle 280"/>
            <p:cNvSpPr/>
            <p:nvPr/>
          </p:nvSpPr>
          <p:spPr>
            <a:xfrm>
              <a:off x="3200400" y="5162550"/>
              <a:ext cx="8763000" cy="1619250"/>
            </a:xfrm>
            <a:prstGeom prst="roundRect">
              <a:avLst>
                <a:gd name="adj" fmla="val 5882"/>
              </a:avLst>
            </a:prstGeom>
            <a:solidFill>
              <a:srgbClr val="F5FAF8"/>
            </a:solidFill>
            <a:ln w="9525">
              <a:solidFill>
                <a:srgbClr val="D9E8E2"/>
              </a:solidFill>
            </a:ln>
          </p:spPr>
        </p:sp>
        <p:sp>
          <p:nvSpPr>
            <p:cNvPr id="281" name="Rectangle 281"/>
            <p:cNvSpPr/>
            <p:nvPr/>
          </p:nvSpPr>
          <p:spPr>
            <a:xfrm>
              <a:off x="3200400" y="5162550"/>
              <a:ext cx="1238250" cy="228600"/>
            </a:xfrm>
            <a:prstGeom prst="roundRect">
              <a:avLst>
                <a:gd name="adj" fmla="val 16667"/>
              </a:avLst>
            </a:prstGeom>
            <a:solidFill>
              <a:srgbClr val="5B180B"/>
            </a:solidFill>
            <a:ln>
              <a:noFill/>
            </a:ln>
          </p:spPr>
        </p:sp>
        <p:sp>
          <p:nvSpPr>
            <p:cNvPr id="282" name="TextBox 282"/>
            <p:cNvSpPr txBox="1"/>
            <p:nvPr/>
          </p:nvSpPr>
          <p:spPr>
            <a:xfrm>
              <a:off x="3309938" y="5231368"/>
              <a:ext cx="771023"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激励考核机制​</a:t>
              </a:r>
            </a:p>
          </p:txBody>
        </p:sp>
        <p:sp>
          <p:nvSpPr>
            <p:cNvPr id="283" name="TextBox 283"/>
            <p:cNvSpPr txBox="1"/>
            <p:nvPr/>
          </p:nvSpPr>
          <p:spPr>
            <a:xfrm>
              <a:off x="10551986" y="5259705"/>
              <a:ext cx="1301877" cy="119062"/>
            </a:xfrm>
            <a:prstGeom prst="rect">
              <a:avLst/>
            </a:prstGeom>
            <a:noFill/>
            <a:ln>
              <a:noFill/>
            </a:ln>
          </p:spPr>
          <p:txBody>
            <a:bodyPr wrap="none" lIns="0" tIns="0" rIns="0" bIns="0" anchor="t" anchorCtr="0">
              <a:spAutoFit/>
            </a:bodyPr>
            <a:lstStyle/>
            <a:p>
              <a:pPr algn="r"/>
              <a:r>
                <a:rPr lang="zh-CN" sz="600" dirty="0">
                  <a:solidFill>
                    <a:srgbClr val="8AA39C"/>
                  </a:solidFill>
                  <a:latin typeface="+mn-lt"/>
                  <a:ea typeface="+mn-ea"/>
                  <a:cs typeface="+mn-cs"/>
                </a:rPr>
                <a:t>重结果 · 强过程 · 促协同 · 守合规​</a:t>
              </a:r>
            </a:p>
          </p:txBody>
        </p:sp>
        <p:grpSp>
          <p:nvGrpSpPr>
            <p:cNvPr id="327" name="inc-blocks"/>
            <p:cNvGrpSpPr/>
            <p:nvPr/>
          </p:nvGrpSpPr>
          <p:grpSpPr>
            <a:xfrm>
              <a:off x="3314700" y="5524500"/>
              <a:ext cx="7391400" cy="1143000"/>
              <a:chOff x="3314700" y="5524500"/>
              <a:chExt cx="7391400" cy="1143000"/>
            </a:xfrm>
          </p:grpSpPr>
          <p:sp>
            <p:nvSpPr>
              <p:cNvPr id="284" name="Rectangle 284"/>
              <p:cNvSpPr/>
              <p:nvPr/>
            </p:nvSpPr>
            <p:spPr>
              <a:xfrm>
                <a:off x="3314700" y="5524500"/>
                <a:ext cx="1676400" cy="1143000"/>
              </a:xfrm>
              <a:prstGeom prst="roundRect">
                <a:avLst>
                  <a:gd name="adj" fmla="val 6667"/>
                </a:avLst>
              </a:prstGeom>
              <a:solidFill>
                <a:srgbClr val="FFFFFF"/>
              </a:solidFill>
              <a:ln w="7620">
                <a:solidFill>
                  <a:srgbClr val="D9E8E2"/>
                </a:solidFill>
              </a:ln>
            </p:spPr>
          </p:sp>
          <p:grpSp>
            <p:nvGrpSpPr>
              <p:cNvPr id="288" name="Group 288"/>
              <p:cNvGrpSpPr/>
              <p:nvPr/>
            </p:nvGrpSpPr>
            <p:grpSpPr>
              <a:xfrm>
                <a:off x="3433762" y="5643562"/>
                <a:ext cx="142875" cy="142875"/>
                <a:chOff x="3433762" y="5643562"/>
                <a:chExt cx="142875" cy="142875"/>
              </a:xfrm>
            </p:grpSpPr>
            <p:sp>
              <p:nvSpPr>
                <p:cNvPr id="285" name="Freeform 285"/>
                <p:cNvSpPr/>
                <p:nvPr/>
              </p:nvSpPr>
              <p:spPr>
                <a:xfrm>
                  <a:off x="3497262" y="57070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5B180B"/>
                  </a:solidFill>
                </a:ln>
              </p:spPr>
            </p:sp>
            <p:sp>
              <p:nvSpPr>
                <p:cNvPr id="286" name="Freeform 286"/>
                <p:cNvSpPr/>
                <p:nvPr/>
              </p:nvSpPr>
              <p:spPr>
                <a:xfrm>
                  <a:off x="3465512" y="56753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5B180B"/>
                  </a:solidFill>
                </a:ln>
              </p:spPr>
            </p:sp>
            <p:sp>
              <p:nvSpPr>
                <p:cNvPr id="287" name="Freeform 287"/>
                <p:cNvSpPr/>
                <p:nvPr/>
              </p:nvSpPr>
              <p:spPr>
                <a:xfrm>
                  <a:off x="3433762" y="56435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5B180B"/>
                  </a:solidFill>
                </a:ln>
              </p:spPr>
            </p:sp>
          </p:grpSp>
          <p:sp>
            <p:nvSpPr>
              <p:cNvPr id="289" name="TextBox 289"/>
              <p:cNvSpPr txBox="1"/>
              <p:nvPr/>
            </p:nvSpPr>
            <p:spPr>
              <a:xfrm>
                <a:off x="3671888" y="5606891"/>
                <a:ext cx="514828"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结果指标​</a:t>
                </a:r>
              </a:p>
            </p:txBody>
          </p:sp>
          <p:sp>
            <p:nvSpPr>
              <p:cNvPr id="290" name="TextBox 290"/>
              <p:cNvSpPr txBox="1"/>
              <p:nvPr/>
            </p:nvSpPr>
            <p:spPr>
              <a:xfrm>
                <a:off x="3671316" y="5715952"/>
                <a:ext cx="366873" cy="205359"/>
              </a:xfrm>
              <a:prstGeom prst="rect">
                <a:avLst/>
              </a:prstGeom>
              <a:noFill/>
              <a:ln>
                <a:noFill/>
              </a:ln>
            </p:spPr>
            <p:txBody>
              <a:bodyPr wrap="none" lIns="0" tIns="0" rIns="0" bIns="0" anchor="t" anchorCtr="0">
                <a:spAutoFit/>
              </a:bodyPr>
              <a:lstStyle/>
              <a:p>
                <a:pPr algn="l"/>
                <a:r>
                  <a:rPr lang="zh-CN" sz="1050" b="1" dirty="0">
                    <a:solidFill>
                      <a:srgbClr val="5B180B"/>
                    </a:solidFill>
                    <a:latin typeface="+mn-lt"/>
                    <a:ea typeface="+mn-ea"/>
                    <a:cs typeface="+mn-cs"/>
                  </a:rPr>
                  <a:t>50%​</a:t>
                </a:r>
              </a:p>
            </p:txBody>
          </p:sp>
          <p:sp>
            <p:nvSpPr>
              <p:cNvPr id="291" name="TextBox 291"/>
              <p:cNvSpPr txBox="1"/>
              <p:nvPr/>
            </p:nvSpPr>
            <p:spPr>
              <a:xfrm>
                <a:off x="3405188" y="598908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产品销售量​</a:t>
                </a:r>
              </a:p>
            </p:txBody>
          </p:sp>
          <p:sp>
            <p:nvSpPr>
              <p:cNvPr id="292" name="TextBox 292"/>
              <p:cNvSpPr txBox="1"/>
              <p:nvPr/>
            </p:nvSpPr>
            <p:spPr>
              <a:xfrm>
                <a:off x="3405188" y="614148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客户新增数​</a:t>
                </a:r>
              </a:p>
            </p:txBody>
          </p:sp>
          <p:sp>
            <p:nvSpPr>
              <p:cNvPr id="293" name="TextBox 293"/>
              <p:cNvSpPr txBox="1"/>
              <p:nvPr/>
            </p:nvSpPr>
            <p:spPr>
              <a:xfrm>
                <a:off x="3405188" y="6293882"/>
                <a:ext cx="559994"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AUM提升量​</a:t>
                </a:r>
              </a:p>
            </p:txBody>
          </p:sp>
          <p:sp>
            <p:nvSpPr>
              <p:cNvPr id="294" name="Freeform 294"/>
              <p:cNvSpPr/>
              <p:nvPr/>
            </p:nvSpPr>
            <p:spPr>
              <a:xfrm>
                <a:off x="5048250" y="5715000"/>
                <a:ext cx="152400" cy="152400"/>
              </a:xfrm>
              <a:prstGeom prst="mathPlus">
                <a:avLst/>
              </a:prstGeom>
              <a:solidFill>
                <a:srgbClr val="5B180B"/>
              </a:solidFill>
              <a:ln>
                <a:noFill/>
              </a:ln>
            </p:spPr>
          </p:sp>
          <p:sp>
            <p:nvSpPr>
              <p:cNvPr id="295" name="Rectangle 295"/>
              <p:cNvSpPr/>
              <p:nvPr/>
            </p:nvSpPr>
            <p:spPr>
              <a:xfrm>
                <a:off x="5219700" y="5524500"/>
                <a:ext cx="1676400" cy="1143000"/>
              </a:xfrm>
              <a:prstGeom prst="roundRect">
                <a:avLst>
                  <a:gd name="adj" fmla="val 6667"/>
                </a:avLst>
              </a:prstGeom>
              <a:solidFill>
                <a:srgbClr val="FFFFFF"/>
              </a:solidFill>
              <a:ln w="7620">
                <a:solidFill>
                  <a:srgbClr val="D9E8E2"/>
                </a:solidFill>
              </a:ln>
            </p:spPr>
          </p:sp>
          <p:grpSp>
            <p:nvGrpSpPr>
              <p:cNvPr id="300" name="Group 300"/>
              <p:cNvGrpSpPr/>
              <p:nvPr/>
            </p:nvGrpSpPr>
            <p:grpSpPr>
              <a:xfrm>
                <a:off x="5338762" y="5651500"/>
                <a:ext cx="142875" cy="136525"/>
                <a:chOff x="5338762" y="5651500"/>
                <a:chExt cx="142875" cy="136525"/>
              </a:xfrm>
            </p:grpSpPr>
            <p:sp>
              <p:nvSpPr>
                <p:cNvPr id="296" name="Freeform 296"/>
                <p:cNvSpPr/>
                <p:nvPr/>
              </p:nvSpPr>
              <p:spPr>
                <a:xfrm>
                  <a:off x="5338762" y="57150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722617"/>
                  </a:solidFill>
                </a:ln>
              </p:spPr>
            </p:sp>
            <p:sp>
              <p:nvSpPr>
                <p:cNvPr id="297" name="Freeform 297"/>
                <p:cNvSpPr/>
                <p:nvPr/>
              </p:nvSpPr>
              <p:spPr>
                <a:xfrm>
                  <a:off x="5434012" y="56832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722617"/>
                  </a:solidFill>
                </a:ln>
              </p:spPr>
            </p:sp>
            <p:sp>
              <p:nvSpPr>
                <p:cNvPr id="298" name="Freeform 298"/>
                <p:cNvSpPr/>
                <p:nvPr/>
              </p:nvSpPr>
              <p:spPr>
                <a:xfrm>
                  <a:off x="5386387" y="56515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722617"/>
                  </a:solidFill>
                </a:ln>
              </p:spPr>
            </p:sp>
            <p:sp>
              <p:nvSpPr>
                <p:cNvPr id="299" name="Freeform 299"/>
                <p:cNvSpPr/>
                <p:nvPr/>
              </p:nvSpPr>
              <p:spPr>
                <a:xfrm>
                  <a:off x="5346700" y="5778500"/>
                  <a:ext cx="111125" cy="9525"/>
                </a:xfrm>
                <a:custGeom>
                  <a:avLst/>
                  <a:gdLst/>
                  <a:ahLst/>
                  <a:cxnLst/>
                  <a:rect l="l" t="t" r="r" b="b"/>
                  <a:pathLst>
                    <a:path w="111125" h="9525">
                      <a:moveTo>
                        <a:pt x="0" y="0"/>
                      </a:moveTo>
                      <a:lnTo>
                        <a:pt x="111125" y="0"/>
                      </a:lnTo>
                    </a:path>
                  </a:pathLst>
                </a:custGeom>
                <a:noFill/>
                <a:ln w="15875">
                  <a:solidFill>
                    <a:srgbClr val="722617"/>
                  </a:solidFill>
                </a:ln>
              </p:spPr>
            </p:sp>
          </p:grpSp>
          <p:sp>
            <p:nvSpPr>
              <p:cNvPr id="301" name="TextBox 301"/>
              <p:cNvSpPr txBox="1"/>
              <p:nvPr/>
            </p:nvSpPr>
            <p:spPr>
              <a:xfrm>
                <a:off x="5576888" y="5606891"/>
                <a:ext cx="514828"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过程指标​</a:t>
                </a:r>
              </a:p>
            </p:txBody>
          </p:sp>
          <p:sp>
            <p:nvSpPr>
              <p:cNvPr id="302" name="TextBox 302"/>
              <p:cNvSpPr txBox="1"/>
              <p:nvPr/>
            </p:nvSpPr>
            <p:spPr>
              <a:xfrm>
                <a:off x="5576316" y="5715952"/>
                <a:ext cx="366873" cy="205359"/>
              </a:xfrm>
              <a:prstGeom prst="rect">
                <a:avLst/>
              </a:prstGeom>
              <a:noFill/>
              <a:ln>
                <a:noFill/>
              </a:ln>
            </p:spPr>
            <p:txBody>
              <a:bodyPr wrap="none" lIns="0" tIns="0" rIns="0" bIns="0" anchor="t" anchorCtr="0">
                <a:spAutoFit/>
              </a:bodyPr>
              <a:lstStyle/>
              <a:p>
                <a:pPr algn="l"/>
                <a:r>
                  <a:rPr lang="zh-CN" sz="1050" b="1" dirty="0">
                    <a:solidFill>
                      <a:srgbClr val="722617"/>
                    </a:solidFill>
                    <a:latin typeface="+mn-lt"/>
                    <a:ea typeface="+mn-ea"/>
                    <a:cs typeface="+mn-cs"/>
                  </a:rPr>
                  <a:t>30%​</a:t>
                </a:r>
              </a:p>
            </p:txBody>
          </p:sp>
          <p:sp>
            <p:nvSpPr>
              <p:cNvPr id="303" name="TextBox 303"/>
              <p:cNvSpPr txBox="1"/>
              <p:nvPr/>
            </p:nvSpPr>
            <p:spPr>
              <a:xfrm>
                <a:off x="5310188" y="598908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有效触达量​</a:t>
                </a:r>
              </a:p>
            </p:txBody>
          </p:sp>
          <p:sp>
            <p:nvSpPr>
              <p:cNvPr id="304" name="TextBox 304"/>
              <p:cNvSpPr txBox="1"/>
              <p:nvPr/>
            </p:nvSpPr>
            <p:spPr>
              <a:xfrm>
                <a:off x="5310188" y="614148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面访完成量​</a:t>
                </a:r>
              </a:p>
            </p:txBody>
          </p:sp>
          <p:sp>
            <p:nvSpPr>
              <p:cNvPr id="305" name="TextBox 305"/>
              <p:cNvSpPr txBox="1"/>
              <p:nvPr/>
            </p:nvSpPr>
            <p:spPr>
              <a:xfrm>
                <a:off x="5310188" y="629388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客户建档量​</a:t>
                </a:r>
              </a:p>
            </p:txBody>
          </p:sp>
          <p:sp>
            <p:nvSpPr>
              <p:cNvPr id="306" name="Freeform 306"/>
              <p:cNvSpPr/>
              <p:nvPr/>
            </p:nvSpPr>
            <p:spPr>
              <a:xfrm>
                <a:off x="6953250" y="5715000"/>
                <a:ext cx="152400" cy="152400"/>
              </a:xfrm>
              <a:prstGeom prst="mathPlus">
                <a:avLst/>
              </a:prstGeom>
              <a:solidFill>
                <a:srgbClr val="5B180B"/>
              </a:solidFill>
              <a:ln>
                <a:noFill/>
              </a:ln>
            </p:spPr>
          </p:sp>
          <p:sp>
            <p:nvSpPr>
              <p:cNvPr id="307" name="Rectangle 307"/>
              <p:cNvSpPr/>
              <p:nvPr/>
            </p:nvSpPr>
            <p:spPr>
              <a:xfrm>
                <a:off x="7124700" y="5524500"/>
                <a:ext cx="1676400" cy="1143000"/>
              </a:xfrm>
              <a:prstGeom prst="roundRect">
                <a:avLst>
                  <a:gd name="adj" fmla="val 6667"/>
                </a:avLst>
              </a:prstGeom>
              <a:solidFill>
                <a:srgbClr val="FFFFFF"/>
              </a:solidFill>
              <a:ln w="7620">
                <a:solidFill>
                  <a:srgbClr val="D9E8E2"/>
                </a:solidFill>
              </a:ln>
            </p:spPr>
          </p:sp>
          <p:grpSp>
            <p:nvGrpSpPr>
              <p:cNvPr id="311" name="Group 311"/>
              <p:cNvGrpSpPr/>
              <p:nvPr/>
            </p:nvGrpSpPr>
            <p:grpSpPr>
              <a:xfrm>
                <a:off x="7259637" y="5643562"/>
                <a:ext cx="111125" cy="142875"/>
                <a:chOff x="7259637" y="5643562"/>
                <a:chExt cx="111125" cy="142875"/>
              </a:xfrm>
            </p:grpSpPr>
            <p:sp>
              <p:nvSpPr>
                <p:cNvPr id="308" name="Freeform 308"/>
                <p:cNvSpPr/>
                <p:nvPr/>
              </p:nvSpPr>
              <p:spPr>
                <a:xfrm>
                  <a:off x="7259637" y="569118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9A412F"/>
                  </a:solidFill>
                </a:ln>
              </p:spPr>
            </p:sp>
            <p:sp>
              <p:nvSpPr>
                <p:cNvPr id="309" name="Freeform 309"/>
                <p:cNvSpPr/>
                <p:nvPr/>
              </p:nvSpPr>
              <p:spPr>
                <a:xfrm>
                  <a:off x="7315200" y="5643562"/>
                  <a:ext cx="9525" cy="87312"/>
                </a:xfrm>
                <a:custGeom>
                  <a:avLst/>
                  <a:gdLst/>
                  <a:ahLst/>
                  <a:cxnLst/>
                  <a:rect l="l" t="t" r="r" b="b"/>
                  <a:pathLst>
                    <a:path w="9525" h="87312">
                      <a:moveTo>
                        <a:pt x="0" y="87312"/>
                      </a:moveTo>
                      <a:lnTo>
                        <a:pt x="0" y="0"/>
                      </a:lnTo>
                    </a:path>
                  </a:pathLst>
                </a:custGeom>
                <a:noFill/>
                <a:ln w="15875">
                  <a:solidFill>
                    <a:srgbClr val="9A412F"/>
                  </a:solidFill>
                </a:ln>
              </p:spPr>
            </p:sp>
            <p:sp>
              <p:nvSpPr>
                <p:cNvPr id="310" name="Freeform 310"/>
                <p:cNvSpPr/>
                <p:nvPr/>
              </p:nvSpPr>
              <p:spPr>
                <a:xfrm>
                  <a:off x="7291387" y="5643562"/>
                  <a:ext cx="47625" cy="23812"/>
                </a:xfrm>
                <a:custGeom>
                  <a:avLst/>
                  <a:gdLst/>
                  <a:ahLst/>
                  <a:cxnLst/>
                  <a:rect l="l" t="t" r="r" b="b"/>
                  <a:pathLst>
                    <a:path w="47625" h="23812">
                      <a:moveTo>
                        <a:pt x="0" y="23812"/>
                      </a:moveTo>
                      <a:lnTo>
                        <a:pt x="23812" y="0"/>
                      </a:lnTo>
                      <a:lnTo>
                        <a:pt x="47625" y="23812"/>
                      </a:lnTo>
                    </a:path>
                  </a:pathLst>
                </a:custGeom>
                <a:noFill/>
                <a:ln w="15875">
                  <a:solidFill>
                    <a:srgbClr val="9A412F"/>
                  </a:solidFill>
                </a:ln>
              </p:spPr>
            </p:sp>
          </p:grpSp>
          <p:sp>
            <p:nvSpPr>
              <p:cNvPr id="312" name="TextBox 312"/>
              <p:cNvSpPr txBox="1"/>
              <p:nvPr/>
            </p:nvSpPr>
            <p:spPr>
              <a:xfrm>
                <a:off x="7481888" y="5606891"/>
                <a:ext cx="514828"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协同指标​</a:t>
                </a:r>
              </a:p>
            </p:txBody>
          </p:sp>
          <p:sp>
            <p:nvSpPr>
              <p:cNvPr id="313" name="TextBox 313"/>
              <p:cNvSpPr txBox="1"/>
              <p:nvPr/>
            </p:nvSpPr>
            <p:spPr>
              <a:xfrm>
                <a:off x="7481316" y="5715952"/>
                <a:ext cx="366873" cy="205359"/>
              </a:xfrm>
              <a:prstGeom prst="rect">
                <a:avLst/>
              </a:prstGeom>
              <a:noFill/>
              <a:ln>
                <a:noFill/>
              </a:ln>
            </p:spPr>
            <p:txBody>
              <a:bodyPr wrap="none" lIns="0" tIns="0" rIns="0" bIns="0" anchor="t" anchorCtr="0">
                <a:spAutoFit/>
              </a:bodyPr>
              <a:lstStyle/>
              <a:p>
                <a:pPr algn="l"/>
                <a:r>
                  <a:rPr lang="zh-CN" sz="1050" b="1" dirty="0">
                    <a:solidFill>
                      <a:srgbClr val="9A412F"/>
                    </a:solidFill>
                    <a:latin typeface="+mn-lt"/>
                    <a:ea typeface="+mn-ea"/>
                    <a:cs typeface="+mn-cs"/>
                  </a:rPr>
                  <a:t>10%​</a:t>
                </a:r>
              </a:p>
            </p:txBody>
          </p:sp>
          <p:sp>
            <p:nvSpPr>
              <p:cNvPr id="314" name="TextBox 314"/>
              <p:cNvSpPr txBox="1"/>
              <p:nvPr/>
            </p:nvSpPr>
            <p:spPr>
              <a:xfrm>
                <a:off x="7215188" y="598908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转介客户数​</a:t>
                </a:r>
              </a:p>
            </p:txBody>
          </p:sp>
          <p:sp>
            <p:nvSpPr>
              <p:cNvPr id="315" name="TextBox 315"/>
              <p:cNvSpPr txBox="1"/>
              <p:nvPr/>
            </p:nvSpPr>
            <p:spPr>
              <a:xfrm>
                <a:off x="7215188" y="614148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协同执行率​</a:t>
                </a:r>
              </a:p>
            </p:txBody>
          </p:sp>
          <p:sp>
            <p:nvSpPr>
              <p:cNvPr id="316" name="TextBox 316"/>
              <p:cNvSpPr txBox="1"/>
              <p:nvPr/>
            </p:nvSpPr>
            <p:spPr>
              <a:xfrm>
                <a:off x="7215188" y="629388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跨岗合作质量​</a:t>
                </a:r>
              </a:p>
            </p:txBody>
          </p:sp>
          <p:sp>
            <p:nvSpPr>
              <p:cNvPr id="317" name="Freeform 317"/>
              <p:cNvSpPr/>
              <p:nvPr/>
            </p:nvSpPr>
            <p:spPr>
              <a:xfrm>
                <a:off x="8858250" y="5715000"/>
                <a:ext cx="152400" cy="152400"/>
              </a:xfrm>
              <a:prstGeom prst="mathPlus">
                <a:avLst/>
              </a:prstGeom>
              <a:solidFill>
                <a:srgbClr val="5B180B"/>
              </a:solidFill>
              <a:ln>
                <a:noFill/>
              </a:ln>
            </p:spPr>
          </p:sp>
          <p:sp>
            <p:nvSpPr>
              <p:cNvPr id="318" name="Rectangle 318"/>
              <p:cNvSpPr/>
              <p:nvPr/>
            </p:nvSpPr>
            <p:spPr>
              <a:xfrm>
                <a:off x="9029700" y="5524500"/>
                <a:ext cx="1676400" cy="1143000"/>
              </a:xfrm>
              <a:prstGeom prst="roundRect">
                <a:avLst>
                  <a:gd name="adj" fmla="val 6667"/>
                </a:avLst>
              </a:prstGeom>
              <a:solidFill>
                <a:srgbClr val="FFFFFF"/>
              </a:solidFill>
              <a:ln w="7620">
                <a:solidFill>
                  <a:srgbClr val="D9E8E2"/>
                </a:solidFill>
              </a:ln>
            </p:spPr>
          </p:sp>
          <p:grpSp>
            <p:nvGrpSpPr>
              <p:cNvPr id="321" name="Group 321"/>
              <p:cNvGrpSpPr/>
              <p:nvPr/>
            </p:nvGrpSpPr>
            <p:grpSpPr>
              <a:xfrm>
                <a:off x="9138050" y="5643562"/>
                <a:ext cx="155005" cy="142875"/>
                <a:chOff x="9138050" y="5643562"/>
                <a:chExt cx="155005" cy="142875"/>
              </a:xfrm>
            </p:grpSpPr>
            <p:sp>
              <p:nvSpPr>
                <p:cNvPr id="319" name="Freeform 319"/>
                <p:cNvSpPr/>
                <p:nvPr/>
              </p:nvSpPr>
              <p:spPr>
                <a:xfrm>
                  <a:off x="9138050" y="564356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A75545"/>
                  </a:solidFill>
                </a:ln>
              </p:spPr>
            </p:sp>
            <p:sp>
              <p:nvSpPr>
                <p:cNvPr id="320" name="Freeform 320"/>
                <p:cNvSpPr/>
                <p:nvPr/>
              </p:nvSpPr>
              <p:spPr>
                <a:xfrm>
                  <a:off x="9244012" y="5754687"/>
                  <a:ext cx="47625" cy="31750"/>
                </a:xfrm>
                <a:custGeom>
                  <a:avLst/>
                  <a:gdLst/>
                  <a:ahLst/>
                  <a:cxnLst/>
                  <a:rect l="l" t="t" r="r" b="b"/>
                  <a:pathLst>
                    <a:path w="47625" h="31750">
                      <a:moveTo>
                        <a:pt x="0" y="15875"/>
                      </a:moveTo>
                      <a:lnTo>
                        <a:pt x="15875" y="31750"/>
                      </a:lnTo>
                      <a:lnTo>
                        <a:pt x="47625" y="0"/>
                      </a:lnTo>
                    </a:path>
                  </a:pathLst>
                </a:custGeom>
                <a:noFill/>
                <a:ln w="15875">
                  <a:solidFill>
                    <a:srgbClr val="A75545"/>
                  </a:solidFill>
                </a:ln>
              </p:spPr>
            </p:sp>
          </p:grpSp>
          <p:sp>
            <p:nvSpPr>
              <p:cNvPr id="322" name="TextBox 322"/>
              <p:cNvSpPr txBox="1"/>
              <p:nvPr/>
            </p:nvSpPr>
            <p:spPr>
              <a:xfrm>
                <a:off x="9386888" y="5606891"/>
                <a:ext cx="514828" cy="161925"/>
              </a:xfrm>
              <a:prstGeom prst="rect">
                <a:avLst/>
              </a:prstGeom>
              <a:noFill/>
              <a:ln>
                <a:noFill/>
              </a:ln>
            </p:spPr>
            <p:txBody>
              <a:bodyPr wrap="none" lIns="0" tIns="0" rIns="0" bIns="0" anchor="t" anchorCtr="0">
                <a:spAutoFit/>
              </a:bodyPr>
              <a:lstStyle/>
              <a:p>
                <a:pPr algn="l"/>
                <a:r>
                  <a:rPr lang="zh-CN" sz="820" b="1" dirty="0">
                    <a:solidFill>
                      <a:srgbClr val="312624"/>
                    </a:solidFill>
                    <a:latin typeface="+mn-lt"/>
                    <a:ea typeface="+mn-ea"/>
                    <a:cs typeface="+mn-cs"/>
                  </a:rPr>
                  <a:t>合规指标​</a:t>
                </a:r>
              </a:p>
            </p:txBody>
          </p:sp>
          <p:sp>
            <p:nvSpPr>
              <p:cNvPr id="323" name="TextBox 323"/>
              <p:cNvSpPr txBox="1"/>
              <p:nvPr/>
            </p:nvSpPr>
            <p:spPr>
              <a:xfrm>
                <a:off x="9386316" y="5715952"/>
                <a:ext cx="366873" cy="205359"/>
              </a:xfrm>
              <a:prstGeom prst="rect">
                <a:avLst/>
              </a:prstGeom>
              <a:noFill/>
              <a:ln>
                <a:noFill/>
              </a:ln>
            </p:spPr>
            <p:txBody>
              <a:bodyPr wrap="none" lIns="0" tIns="0" rIns="0" bIns="0" anchor="t" anchorCtr="0">
                <a:spAutoFit/>
              </a:bodyPr>
              <a:lstStyle/>
              <a:p>
                <a:pPr algn="l"/>
                <a:r>
                  <a:rPr lang="zh-CN" sz="1050" b="1" dirty="0">
                    <a:solidFill>
                      <a:srgbClr val="A75545"/>
                    </a:solidFill>
                    <a:latin typeface="+mn-lt"/>
                    <a:ea typeface="+mn-ea"/>
                    <a:cs typeface="+mn-cs"/>
                  </a:rPr>
                  <a:t>10%​</a:t>
                </a:r>
              </a:p>
            </p:txBody>
          </p:sp>
          <p:sp>
            <p:nvSpPr>
              <p:cNvPr id="324" name="TextBox 324"/>
              <p:cNvSpPr txBox="1"/>
              <p:nvPr/>
            </p:nvSpPr>
            <p:spPr>
              <a:xfrm>
                <a:off x="9120188" y="5989082"/>
                <a:ext cx="563895"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客户适当性​</a:t>
                </a:r>
              </a:p>
            </p:txBody>
          </p:sp>
          <p:sp>
            <p:nvSpPr>
              <p:cNvPr id="325" name="TextBox 325"/>
              <p:cNvSpPr txBox="1"/>
              <p:nvPr/>
            </p:nvSpPr>
            <p:spPr>
              <a:xfrm>
                <a:off x="9120188" y="614148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销售行为规范​</a:t>
                </a:r>
              </a:p>
            </p:txBody>
          </p:sp>
          <p:sp>
            <p:nvSpPr>
              <p:cNvPr id="326" name="TextBox 326"/>
              <p:cNvSpPr txBox="1"/>
              <p:nvPr/>
            </p:nvSpPr>
            <p:spPr>
              <a:xfrm>
                <a:off x="9120188" y="629388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零投诉零风险​</a:t>
                </a:r>
              </a:p>
            </p:txBody>
          </p:sp>
        </p:grpSp>
        <p:sp>
          <p:nvSpPr>
            <p:cNvPr id="328" name="Rectangle 328"/>
            <p:cNvSpPr/>
            <p:nvPr/>
          </p:nvSpPr>
          <p:spPr>
            <a:xfrm>
              <a:off x="10820400" y="5524500"/>
              <a:ext cx="1028700" cy="1143000"/>
            </a:xfrm>
            <a:prstGeom prst="roundRect">
              <a:avLst>
                <a:gd name="adj" fmla="val 7407"/>
              </a:avLst>
            </a:prstGeom>
            <a:solidFill>
              <a:srgbClr val="5B180B"/>
            </a:solidFill>
            <a:ln>
              <a:noFill/>
            </a:ln>
          </p:spPr>
        </p:sp>
        <p:grpSp>
          <p:nvGrpSpPr>
            <p:cNvPr id="332" name="Group 332"/>
            <p:cNvGrpSpPr/>
            <p:nvPr/>
          </p:nvGrpSpPr>
          <p:grpSpPr>
            <a:xfrm>
              <a:off x="11255541" y="5676900"/>
              <a:ext cx="155409" cy="155409"/>
              <a:chOff x="11255541" y="5676900"/>
              <a:chExt cx="155409" cy="155409"/>
            </a:xfrm>
          </p:grpSpPr>
          <p:sp>
            <p:nvSpPr>
              <p:cNvPr id="329" name="Freeform 329"/>
              <p:cNvSpPr/>
              <p:nvPr/>
            </p:nvSpPr>
            <p:spPr>
              <a:xfrm>
                <a:off x="11258550" y="5676900"/>
                <a:ext cx="152400" cy="152400"/>
              </a:xfrm>
              <a:custGeom>
                <a:avLst/>
                <a:gdLst/>
                <a:ahLst/>
                <a:cxnLst/>
                <a:rect l="l" t="t" r="r" b="b"/>
                <a:pathLst>
                  <a:path w="152400" h="152400">
                    <a:moveTo>
                      <a:pt x="0" y="85725"/>
                    </a:moveTo>
                    <a:cubicBezTo>
                      <a:pt x="34959" y="89880"/>
                      <a:pt x="62520" y="117441"/>
                      <a:pt x="66675" y="152400"/>
                    </a:cubicBezTo>
                    <a:cubicBezTo>
                      <a:pt x="83792" y="142532"/>
                      <a:pt x="94598" y="124522"/>
                      <a:pt x="95250" y="104775"/>
                    </a:cubicBezTo>
                    <a:cubicBezTo>
                      <a:pt x="127957" y="93269"/>
                      <a:pt x="150512" y="63195"/>
                      <a:pt x="152400" y="28575"/>
                    </a:cubicBezTo>
                    <a:cubicBezTo>
                      <a:pt x="152400" y="12793"/>
                      <a:pt x="139607" y="0"/>
                      <a:pt x="123825" y="0"/>
                    </a:cubicBezTo>
                    <a:cubicBezTo>
                      <a:pt x="89205" y="1888"/>
                      <a:pt x="59131" y="24443"/>
                      <a:pt x="47625" y="57150"/>
                    </a:cubicBezTo>
                    <a:cubicBezTo>
                      <a:pt x="27878" y="57802"/>
                      <a:pt x="9868" y="68608"/>
                      <a:pt x="0" y="85725"/>
                    </a:cubicBezTo>
                  </a:path>
                </a:pathLst>
              </a:custGeom>
              <a:noFill/>
              <a:ln w="19050">
                <a:solidFill>
                  <a:srgbClr val="FFFFFF"/>
                </a:solidFill>
              </a:ln>
            </p:spPr>
          </p:sp>
          <p:sp>
            <p:nvSpPr>
              <p:cNvPr id="330" name="Freeform 330"/>
              <p:cNvSpPr/>
              <p:nvPr/>
            </p:nvSpPr>
            <p:spPr>
              <a:xfrm>
                <a:off x="11255541" y="5772150"/>
                <a:ext cx="60159" cy="60159"/>
              </a:xfrm>
              <a:custGeom>
                <a:avLst/>
                <a:gdLst/>
                <a:ahLst/>
                <a:cxnLst/>
                <a:rect l="l" t="t" r="r" b="b"/>
                <a:pathLst>
                  <a:path w="60159" h="60159">
                    <a:moveTo>
                      <a:pt x="31584" y="0"/>
                    </a:moveTo>
                    <a:cubicBezTo>
                      <a:pt x="11304" y="11449"/>
                      <a:pt x="0" y="34057"/>
                      <a:pt x="3009" y="57150"/>
                    </a:cubicBezTo>
                    <a:cubicBezTo>
                      <a:pt x="26101" y="60159"/>
                      <a:pt x="48710" y="48854"/>
                      <a:pt x="60159" y="28575"/>
                    </a:cubicBezTo>
                  </a:path>
                </a:pathLst>
              </a:custGeom>
              <a:noFill/>
              <a:ln w="19050">
                <a:solidFill>
                  <a:srgbClr val="FFFFFF"/>
                </a:solidFill>
              </a:ln>
            </p:spPr>
          </p:sp>
          <p:sp>
            <p:nvSpPr>
              <p:cNvPr id="331" name="Freeform 331"/>
              <p:cNvSpPr/>
              <p:nvPr/>
            </p:nvSpPr>
            <p:spPr>
              <a:xfrm>
                <a:off x="11353800" y="57150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grpSp>
        <p:sp>
          <p:nvSpPr>
            <p:cNvPr id="333" name="TextBox 333"/>
            <p:cNvSpPr txBox="1"/>
            <p:nvPr/>
          </p:nvSpPr>
          <p:spPr>
            <a:xfrm>
              <a:off x="11015648" y="5980986"/>
              <a:ext cx="638204"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以客户为中心​</a:t>
              </a:r>
            </a:p>
          </p:txBody>
        </p:sp>
        <p:sp>
          <p:nvSpPr>
            <p:cNvPr id="334" name="TextBox 334"/>
            <p:cNvSpPr txBox="1"/>
            <p:nvPr/>
          </p:nvSpPr>
          <p:spPr>
            <a:xfrm>
              <a:off x="11015648" y="6114336"/>
              <a:ext cx="638204"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以团队为力量​</a:t>
              </a:r>
            </a:p>
          </p:txBody>
        </p:sp>
        <p:sp>
          <p:nvSpPr>
            <p:cNvPr id="335" name="TextBox 335"/>
            <p:cNvSpPr txBox="1"/>
            <p:nvPr/>
          </p:nvSpPr>
          <p:spPr>
            <a:xfrm>
              <a:off x="11041037" y="6240780"/>
              <a:ext cx="587426" cy="119062"/>
            </a:xfrm>
            <a:prstGeom prst="rect">
              <a:avLst/>
            </a:prstGeom>
            <a:noFill/>
            <a:ln>
              <a:noFill/>
            </a:ln>
          </p:spPr>
          <p:txBody>
            <a:bodyPr wrap="none" lIns="0" tIns="0" rIns="0" bIns="0" anchor="t" anchorCtr="0">
              <a:spAutoFit/>
            </a:bodyPr>
            <a:lstStyle/>
            <a:p>
              <a:pPr algn="ctr"/>
              <a:r>
                <a:rPr lang="zh-CN" sz="600" dirty="0">
                  <a:solidFill>
                    <a:srgbClr val="BFDDD6"/>
                  </a:solidFill>
                  <a:latin typeface="+mn-lt"/>
                  <a:ea typeface="+mn-ea"/>
                  <a:cs typeface="+mn-cs"/>
                </a:rPr>
                <a:t>打赢2026年Q4​</a:t>
              </a:r>
            </a:p>
          </p:txBody>
        </p:sp>
        <p:sp>
          <p:nvSpPr>
            <p:cNvPr id="336" name="TextBox 336"/>
            <p:cNvSpPr txBox="1"/>
            <p:nvPr/>
          </p:nvSpPr>
          <p:spPr>
            <a:xfrm>
              <a:off x="11087672" y="6355080"/>
              <a:ext cx="494157" cy="119062"/>
            </a:xfrm>
            <a:prstGeom prst="rect">
              <a:avLst/>
            </a:prstGeom>
            <a:noFill/>
            <a:ln>
              <a:noFill/>
            </a:ln>
          </p:spPr>
          <p:txBody>
            <a:bodyPr wrap="none" lIns="0" tIns="0" rIns="0" bIns="0" anchor="t" anchorCtr="0">
              <a:spAutoFit/>
            </a:bodyPr>
            <a:lstStyle/>
            <a:p>
              <a:pPr algn="ctr"/>
              <a:r>
                <a:rPr lang="zh-CN" sz="600" dirty="0">
                  <a:solidFill>
                    <a:srgbClr val="BFDDD6"/>
                  </a:solidFill>
                  <a:latin typeface="+mn-lt"/>
                  <a:ea typeface="+mn-ea"/>
                  <a:cs typeface="+mn-cs"/>
                </a:rPr>
                <a:t>营销攻坚战！</a:t>
              </a:r>
            </a:p>
          </p:txBody>
        </p:sp>
      </p:gr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8084523" cy="542925"/>
            <a:chOff x="0" y="0"/>
            <a:chExt cx="8084523"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16​</a:t>
              </a:r>
            </a:p>
          </p:txBody>
        </p:sp>
        <p:sp>
          <p:nvSpPr>
            <p:cNvPr id="4" name="TextBox 4"/>
            <p:cNvSpPr txBox="1"/>
            <p:nvPr/>
          </p:nvSpPr>
          <p:spPr>
            <a:xfrm>
              <a:off x="942594" y="151448"/>
              <a:ext cx="714192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过程管理</a:t>
              </a:r>
              <a:r>
                <a:rPr lang="zh-CN" sz="1950" b="1" dirty="0">
                  <a:solidFill>
                    <a:srgbClr val="5B180B"/>
                  </a:solidFill>
                  <a:latin typeface="+mj-lt"/>
                  <a:ea typeface="+mj-ea"/>
                  <a:cs typeface="+mj-cs"/>
                </a:rPr>
                <a:t xml:space="preserve"> | 用“日清、周结、月复盘”把目标压实到人到户</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70" name="rhythm-row"/>
          <p:cNvGrpSpPr/>
          <p:nvPr/>
        </p:nvGrpSpPr>
        <p:grpSpPr>
          <a:xfrm>
            <a:off x="228600" y="666750"/>
            <a:ext cx="11734800" cy="1047750"/>
            <a:chOff x="228600" y="666750"/>
            <a:chExt cx="11734800" cy="1047750"/>
          </a:xfrm>
        </p:grpSpPr>
        <p:sp>
          <p:nvSpPr>
            <p:cNvPr id="7" name="Rectangle 7"/>
            <p:cNvSpPr/>
            <p:nvPr/>
          </p:nvSpPr>
          <p:spPr>
            <a:xfrm>
              <a:off x="228600" y="666750"/>
              <a:ext cx="571500" cy="1047750"/>
            </a:xfrm>
            <a:prstGeom prst="roundRect">
              <a:avLst>
                <a:gd name="adj" fmla="val 13333"/>
              </a:avLst>
            </a:prstGeom>
            <a:solidFill>
              <a:srgbClr val="5B180B"/>
            </a:solidFill>
            <a:ln>
              <a:noFill/>
            </a:ln>
          </p:spPr>
        </p:sp>
        <p:sp>
          <p:nvSpPr>
            <p:cNvPr id="8" name="TextBox 8"/>
            <p:cNvSpPr txBox="1"/>
            <p:nvPr/>
          </p:nvSpPr>
          <p:spPr>
            <a:xfrm>
              <a:off x="339375" y="999649"/>
              <a:ext cx="34994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管理​</a:t>
              </a:r>
            </a:p>
          </p:txBody>
        </p:sp>
        <p:sp>
          <p:nvSpPr>
            <p:cNvPr id="9" name="TextBox 9"/>
            <p:cNvSpPr txBox="1"/>
            <p:nvPr/>
          </p:nvSpPr>
          <p:spPr>
            <a:xfrm>
              <a:off x="339375" y="1190149"/>
              <a:ext cx="34994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节奏​</a:t>
              </a:r>
            </a:p>
          </p:txBody>
        </p:sp>
        <p:sp>
          <p:nvSpPr>
            <p:cNvPr id="10" name="Rectangle 10"/>
            <p:cNvSpPr/>
            <p:nvPr/>
          </p:nvSpPr>
          <p:spPr>
            <a:xfrm>
              <a:off x="895350" y="666750"/>
              <a:ext cx="3048000" cy="1047750"/>
            </a:xfrm>
            <a:prstGeom prst="roundRect">
              <a:avLst>
                <a:gd name="adj" fmla="val 7273"/>
              </a:avLst>
            </a:prstGeom>
            <a:solidFill>
              <a:srgbClr val="FFFFFF"/>
            </a:solidFill>
            <a:ln w="9525">
              <a:solidFill>
                <a:srgbClr val="D9E8E2"/>
              </a:solidFill>
            </a:ln>
          </p:spPr>
        </p:sp>
        <p:sp>
          <p:nvSpPr>
            <p:cNvPr id="11" name="Rectangle 11"/>
            <p:cNvSpPr/>
            <p:nvPr/>
          </p:nvSpPr>
          <p:spPr>
            <a:xfrm>
              <a:off x="895350" y="666750"/>
              <a:ext cx="3048000" cy="228600"/>
            </a:xfrm>
            <a:prstGeom prst="roundRect">
              <a:avLst>
                <a:gd name="adj" fmla="val 33333"/>
              </a:avLst>
            </a:prstGeom>
            <a:solidFill>
              <a:srgbClr val="5B180B"/>
            </a:solidFill>
            <a:ln>
              <a:noFill/>
            </a:ln>
          </p:spPr>
        </p:sp>
        <p:sp>
          <p:nvSpPr>
            <p:cNvPr id="12" name="Rectangle 12"/>
            <p:cNvSpPr/>
            <p:nvPr/>
          </p:nvSpPr>
          <p:spPr>
            <a:xfrm>
              <a:off x="895350" y="781050"/>
              <a:ext cx="3048000" cy="114300"/>
            </a:xfrm>
            <a:prstGeom prst="rect">
              <a:avLst/>
            </a:prstGeom>
            <a:solidFill>
              <a:srgbClr val="5B180B"/>
            </a:solidFill>
            <a:ln>
              <a:noFill/>
            </a:ln>
          </p:spPr>
        </p:sp>
        <p:grpSp>
          <p:nvGrpSpPr>
            <p:cNvPr id="15" name="Group 15"/>
            <p:cNvGrpSpPr/>
            <p:nvPr/>
          </p:nvGrpSpPr>
          <p:grpSpPr>
            <a:xfrm>
              <a:off x="990600" y="723900"/>
              <a:ext cx="114300" cy="114300"/>
              <a:chOff x="990600" y="723900"/>
              <a:chExt cx="114300" cy="114300"/>
            </a:xfrm>
          </p:grpSpPr>
          <p:sp>
            <p:nvSpPr>
              <p:cNvPr id="13" name="Freeform 13"/>
              <p:cNvSpPr/>
              <p:nvPr/>
            </p:nvSpPr>
            <p:spPr>
              <a:xfrm>
                <a:off x="990600" y="7239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sp>
            <p:nvSpPr>
              <p:cNvPr id="14" name="Freeform 14"/>
              <p:cNvSpPr/>
              <p:nvPr/>
            </p:nvSpPr>
            <p:spPr>
              <a:xfrm>
                <a:off x="1047750" y="749300"/>
                <a:ext cx="19050" cy="50800"/>
              </a:xfrm>
              <a:custGeom>
                <a:avLst/>
                <a:gdLst/>
                <a:ahLst/>
                <a:cxnLst/>
                <a:rect l="l" t="t" r="r" b="b"/>
                <a:pathLst>
                  <a:path w="19050" h="50800">
                    <a:moveTo>
                      <a:pt x="0" y="0"/>
                    </a:moveTo>
                    <a:lnTo>
                      <a:pt x="0" y="31750"/>
                    </a:lnTo>
                    <a:lnTo>
                      <a:pt x="19050" y="50800"/>
                    </a:lnTo>
                  </a:path>
                </a:pathLst>
              </a:custGeom>
              <a:noFill/>
              <a:ln w="12700">
                <a:solidFill>
                  <a:srgbClr val="FFFFFF"/>
                </a:solidFill>
              </a:ln>
            </p:spPr>
          </p:sp>
        </p:grpSp>
        <p:sp>
          <p:nvSpPr>
            <p:cNvPr id="16" name="TextBox 16"/>
            <p:cNvSpPr txBox="1"/>
            <p:nvPr/>
          </p:nvSpPr>
          <p:spPr>
            <a:xfrm>
              <a:off x="1176338" y="739616"/>
              <a:ext cx="758510"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每日 · 盯执行​</a:t>
              </a:r>
            </a:p>
          </p:txBody>
        </p:sp>
        <p:grpSp>
          <p:nvGrpSpPr>
            <p:cNvPr id="32" name="rhythm-daily"/>
            <p:cNvGrpSpPr/>
            <p:nvPr/>
          </p:nvGrpSpPr>
          <p:grpSpPr>
            <a:xfrm>
              <a:off x="1137110" y="989886"/>
              <a:ext cx="2412081" cy="575786"/>
              <a:chOff x="1137110" y="989886"/>
              <a:chExt cx="2412081" cy="575786"/>
            </a:xfrm>
          </p:grpSpPr>
          <p:sp>
            <p:nvSpPr>
              <p:cNvPr id="17" name="TextBox 17"/>
              <p:cNvSpPr txBox="1"/>
              <p:nvPr/>
            </p:nvSpPr>
            <p:spPr>
              <a:xfrm>
                <a:off x="1262709" y="989886"/>
                <a:ext cx="255883" cy="140494"/>
              </a:xfrm>
              <a:prstGeom prst="rect">
                <a:avLst/>
              </a:prstGeom>
              <a:noFill/>
              <a:ln>
                <a:noFill/>
              </a:ln>
            </p:spPr>
            <p:txBody>
              <a:bodyPr wrap="none" lIns="0" tIns="0" rIns="0" bIns="0" anchor="t" anchorCtr="0">
                <a:spAutoFit/>
              </a:bodyPr>
              <a:lstStyle/>
              <a:p>
                <a:pPr algn="ctr"/>
                <a:r>
                  <a:rPr lang="zh-CN" sz="710" b="1" dirty="0">
                    <a:solidFill>
                      <a:srgbClr val="5B180B"/>
                    </a:solidFill>
                    <a:latin typeface="+mn-lt"/>
                    <a:ea typeface="+mn-ea"/>
                    <a:cs typeface="+mn-cs"/>
                  </a:rPr>
                  <a:t>晨会​</a:t>
                </a:r>
              </a:p>
            </p:txBody>
          </p:sp>
          <p:sp>
            <p:nvSpPr>
              <p:cNvPr id="18" name="TextBox 18"/>
              <p:cNvSpPr txBox="1"/>
              <p:nvPr/>
            </p:nvSpPr>
            <p:spPr>
              <a:xfrm>
                <a:off x="1137110" y="1120378"/>
                <a:ext cx="507081" cy="111919"/>
              </a:xfrm>
              <a:prstGeom prst="rect">
                <a:avLst/>
              </a:prstGeom>
              <a:noFill/>
              <a:ln>
                <a:noFill/>
              </a:ln>
            </p:spPr>
            <p:txBody>
              <a:bodyPr wrap="none" lIns="0" tIns="0" rIns="0" bIns="0" anchor="t" anchorCtr="0">
                <a:spAutoFit/>
              </a:bodyPr>
              <a:lstStyle/>
              <a:p>
                <a:pPr algn="ctr"/>
                <a:r>
                  <a:rPr lang="zh-CN" sz="560" dirty="0">
                    <a:solidFill>
                      <a:srgbClr val="8AA39C"/>
                    </a:solidFill>
                    <a:latin typeface="+mn-lt"/>
                    <a:ea typeface="+mn-ea"/>
                    <a:cs typeface="+mn-cs"/>
                  </a:rPr>
                  <a:t>08:30-09:00​</a:t>
                </a:r>
              </a:p>
            </p:txBody>
          </p:sp>
          <p:sp>
            <p:nvSpPr>
              <p:cNvPr id="19" name="TextBox 19"/>
              <p:cNvSpPr txBox="1"/>
              <p:nvPr/>
            </p:nvSpPr>
            <p:spPr>
              <a:xfrm>
                <a:off x="1214382" y="1244203"/>
                <a:ext cx="35253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明确目标​</a:t>
                </a:r>
              </a:p>
            </p:txBody>
          </p:sp>
          <p:sp>
            <p:nvSpPr>
              <p:cNvPr id="20" name="TextBox 20"/>
              <p:cNvSpPr txBox="1"/>
              <p:nvPr/>
            </p:nvSpPr>
            <p:spPr>
              <a:xfrm>
                <a:off x="1214382" y="1348978"/>
                <a:ext cx="35253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分配名单​</a:t>
                </a:r>
              </a:p>
            </p:txBody>
          </p:sp>
          <p:sp>
            <p:nvSpPr>
              <p:cNvPr id="21" name="TextBox 21"/>
              <p:cNvSpPr txBox="1"/>
              <p:nvPr/>
            </p:nvSpPr>
            <p:spPr>
              <a:xfrm>
                <a:off x="1214382" y="1453753"/>
                <a:ext cx="35253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激发士气​</a:t>
                </a:r>
              </a:p>
            </p:txBody>
          </p:sp>
          <p:sp>
            <p:nvSpPr>
              <p:cNvPr id="22" name="TextBox 22"/>
              <p:cNvSpPr txBox="1"/>
              <p:nvPr/>
            </p:nvSpPr>
            <p:spPr>
              <a:xfrm>
                <a:off x="2215209" y="989886"/>
                <a:ext cx="255883" cy="140494"/>
              </a:xfrm>
              <a:prstGeom prst="rect">
                <a:avLst/>
              </a:prstGeom>
              <a:noFill/>
              <a:ln>
                <a:noFill/>
              </a:ln>
            </p:spPr>
            <p:txBody>
              <a:bodyPr wrap="none" lIns="0" tIns="0" rIns="0" bIns="0" anchor="t" anchorCtr="0">
                <a:spAutoFit/>
              </a:bodyPr>
              <a:lstStyle/>
              <a:p>
                <a:pPr algn="ctr"/>
                <a:r>
                  <a:rPr lang="zh-CN" sz="710" b="1" dirty="0">
                    <a:solidFill>
                      <a:srgbClr val="5B180B"/>
                    </a:solidFill>
                    <a:latin typeface="+mn-lt"/>
                    <a:ea typeface="+mn-ea"/>
                    <a:cs typeface="+mn-cs"/>
                  </a:rPr>
                  <a:t>午盘​</a:t>
                </a:r>
              </a:p>
            </p:txBody>
          </p:sp>
          <p:sp>
            <p:nvSpPr>
              <p:cNvPr id="23" name="TextBox 23"/>
              <p:cNvSpPr txBox="1"/>
              <p:nvPr/>
            </p:nvSpPr>
            <p:spPr>
              <a:xfrm>
                <a:off x="2089610" y="1120378"/>
                <a:ext cx="507081" cy="111919"/>
              </a:xfrm>
              <a:prstGeom prst="rect">
                <a:avLst/>
              </a:prstGeom>
              <a:noFill/>
              <a:ln>
                <a:noFill/>
              </a:ln>
            </p:spPr>
            <p:txBody>
              <a:bodyPr wrap="none" lIns="0" tIns="0" rIns="0" bIns="0" anchor="t" anchorCtr="0">
                <a:spAutoFit/>
              </a:bodyPr>
              <a:lstStyle/>
              <a:p>
                <a:pPr algn="ctr"/>
                <a:r>
                  <a:rPr lang="zh-CN" sz="560" dirty="0">
                    <a:solidFill>
                      <a:srgbClr val="8AA39C"/>
                    </a:solidFill>
                    <a:latin typeface="+mn-lt"/>
                    <a:ea typeface="+mn-ea"/>
                    <a:cs typeface="+mn-cs"/>
                  </a:rPr>
                  <a:t>12:00-13:00​</a:t>
                </a:r>
              </a:p>
            </p:txBody>
          </p:sp>
          <p:sp>
            <p:nvSpPr>
              <p:cNvPr id="24" name="TextBox 24"/>
              <p:cNvSpPr txBox="1"/>
              <p:nvPr/>
            </p:nvSpPr>
            <p:spPr>
              <a:xfrm>
                <a:off x="2166882" y="1244203"/>
                <a:ext cx="35253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跟进进度​</a:t>
                </a:r>
              </a:p>
            </p:txBody>
          </p:sp>
          <p:sp>
            <p:nvSpPr>
              <p:cNvPr id="25" name="TextBox 25"/>
              <p:cNvSpPr txBox="1"/>
              <p:nvPr/>
            </p:nvSpPr>
            <p:spPr>
              <a:xfrm>
                <a:off x="2166882" y="1348978"/>
                <a:ext cx="35253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解决问题​</a:t>
                </a:r>
              </a:p>
            </p:txBody>
          </p:sp>
          <p:sp>
            <p:nvSpPr>
              <p:cNvPr id="26" name="TextBox 26"/>
              <p:cNvSpPr txBox="1"/>
              <p:nvPr/>
            </p:nvSpPr>
            <p:spPr>
              <a:xfrm>
                <a:off x="2166882" y="1453753"/>
                <a:ext cx="35253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调整策略​</a:t>
                </a:r>
              </a:p>
            </p:txBody>
          </p:sp>
          <p:sp>
            <p:nvSpPr>
              <p:cNvPr id="27" name="TextBox 27"/>
              <p:cNvSpPr txBox="1"/>
              <p:nvPr/>
            </p:nvSpPr>
            <p:spPr>
              <a:xfrm>
                <a:off x="3167709" y="989886"/>
                <a:ext cx="255883" cy="140494"/>
              </a:xfrm>
              <a:prstGeom prst="rect">
                <a:avLst/>
              </a:prstGeom>
              <a:noFill/>
              <a:ln>
                <a:noFill/>
              </a:ln>
            </p:spPr>
            <p:txBody>
              <a:bodyPr wrap="none" lIns="0" tIns="0" rIns="0" bIns="0" anchor="t" anchorCtr="0">
                <a:spAutoFit/>
              </a:bodyPr>
              <a:lstStyle/>
              <a:p>
                <a:pPr algn="ctr"/>
                <a:r>
                  <a:rPr lang="zh-CN" sz="710" b="1" dirty="0">
                    <a:solidFill>
                      <a:srgbClr val="5B180B"/>
                    </a:solidFill>
                    <a:latin typeface="+mn-lt"/>
                    <a:ea typeface="+mn-ea"/>
                    <a:cs typeface="+mn-cs"/>
                  </a:rPr>
                  <a:t>夕会​</a:t>
                </a:r>
              </a:p>
            </p:txBody>
          </p:sp>
          <p:sp>
            <p:nvSpPr>
              <p:cNvPr id="28" name="TextBox 28"/>
              <p:cNvSpPr txBox="1"/>
              <p:nvPr/>
            </p:nvSpPr>
            <p:spPr>
              <a:xfrm>
                <a:off x="3042110" y="1120378"/>
                <a:ext cx="507081" cy="111919"/>
              </a:xfrm>
              <a:prstGeom prst="rect">
                <a:avLst/>
              </a:prstGeom>
              <a:noFill/>
              <a:ln>
                <a:noFill/>
              </a:ln>
            </p:spPr>
            <p:txBody>
              <a:bodyPr wrap="none" lIns="0" tIns="0" rIns="0" bIns="0" anchor="t" anchorCtr="0">
                <a:spAutoFit/>
              </a:bodyPr>
              <a:lstStyle/>
              <a:p>
                <a:pPr algn="ctr"/>
                <a:r>
                  <a:rPr lang="zh-CN" sz="560" dirty="0">
                    <a:solidFill>
                      <a:srgbClr val="8AA39C"/>
                    </a:solidFill>
                    <a:latin typeface="+mn-lt"/>
                    <a:ea typeface="+mn-ea"/>
                    <a:cs typeface="+mn-cs"/>
                  </a:rPr>
                  <a:t>17:00-18:00​</a:t>
                </a:r>
              </a:p>
            </p:txBody>
          </p:sp>
          <p:sp>
            <p:nvSpPr>
              <p:cNvPr id="29" name="TextBox 29"/>
              <p:cNvSpPr txBox="1"/>
              <p:nvPr/>
            </p:nvSpPr>
            <p:spPr>
              <a:xfrm>
                <a:off x="3119382" y="1244203"/>
                <a:ext cx="35253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复盘成果​</a:t>
                </a:r>
              </a:p>
            </p:txBody>
          </p:sp>
          <p:sp>
            <p:nvSpPr>
              <p:cNvPr id="30" name="TextBox 30"/>
              <p:cNvSpPr txBox="1"/>
              <p:nvPr/>
            </p:nvSpPr>
            <p:spPr>
              <a:xfrm>
                <a:off x="3119382" y="1348978"/>
                <a:ext cx="35253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梳理明日​</a:t>
                </a:r>
              </a:p>
            </p:txBody>
          </p:sp>
          <p:sp>
            <p:nvSpPr>
              <p:cNvPr id="31" name="TextBox 31"/>
              <p:cNvSpPr txBox="1"/>
              <p:nvPr/>
            </p:nvSpPr>
            <p:spPr>
              <a:xfrm>
                <a:off x="3119382" y="1453753"/>
                <a:ext cx="35253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固化动作​</a:t>
                </a:r>
              </a:p>
            </p:txBody>
          </p:sp>
        </p:grpSp>
        <p:sp>
          <p:nvSpPr>
            <p:cNvPr id="33" name="Freeform 33"/>
            <p:cNvSpPr/>
            <p:nvPr/>
          </p:nvSpPr>
          <p:spPr>
            <a:xfrm>
              <a:off x="3962400" y="1104900"/>
              <a:ext cx="76200" cy="133350"/>
            </a:xfrm>
            <a:prstGeom prst="chevron">
              <a:avLst/>
            </a:prstGeom>
            <a:solidFill>
              <a:srgbClr val="C9988F"/>
            </a:solidFill>
            <a:ln>
              <a:noFill/>
            </a:ln>
          </p:spPr>
        </p:sp>
        <p:sp>
          <p:nvSpPr>
            <p:cNvPr id="34" name="Rectangle 34"/>
            <p:cNvSpPr/>
            <p:nvPr/>
          </p:nvSpPr>
          <p:spPr>
            <a:xfrm>
              <a:off x="4038600" y="666750"/>
              <a:ext cx="3048000" cy="1047750"/>
            </a:xfrm>
            <a:prstGeom prst="roundRect">
              <a:avLst>
                <a:gd name="adj" fmla="val 7273"/>
              </a:avLst>
            </a:prstGeom>
            <a:solidFill>
              <a:srgbClr val="FFFFFF"/>
            </a:solidFill>
            <a:ln w="9525">
              <a:solidFill>
                <a:srgbClr val="D9E8E2"/>
              </a:solidFill>
            </a:ln>
          </p:spPr>
        </p:sp>
        <p:sp>
          <p:nvSpPr>
            <p:cNvPr id="35" name="Rectangle 35"/>
            <p:cNvSpPr/>
            <p:nvPr/>
          </p:nvSpPr>
          <p:spPr>
            <a:xfrm>
              <a:off x="4038600" y="666750"/>
              <a:ext cx="3048000" cy="228600"/>
            </a:xfrm>
            <a:prstGeom prst="roundRect">
              <a:avLst>
                <a:gd name="adj" fmla="val 33333"/>
              </a:avLst>
            </a:prstGeom>
            <a:solidFill>
              <a:srgbClr val="722617"/>
            </a:solidFill>
            <a:ln>
              <a:noFill/>
            </a:ln>
          </p:spPr>
        </p:sp>
        <p:sp>
          <p:nvSpPr>
            <p:cNvPr id="36" name="Rectangle 36"/>
            <p:cNvSpPr/>
            <p:nvPr/>
          </p:nvSpPr>
          <p:spPr>
            <a:xfrm>
              <a:off x="4038600" y="781050"/>
              <a:ext cx="3048000" cy="114300"/>
            </a:xfrm>
            <a:prstGeom prst="rect">
              <a:avLst/>
            </a:prstGeom>
            <a:solidFill>
              <a:srgbClr val="722617"/>
            </a:solidFill>
            <a:ln>
              <a:noFill/>
            </a:ln>
          </p:spPr>
        </p:sp>
        <p:grpSp>
          <p:nvGrpSpPr>
            <p:cNvPr id="43" name="Group 43"/>
            <p:cNvGrpSpPr/>
            <p:nvPr/>
          </p:nvGrpSpPr>
          <p:grpSpPr>
            <a:xfrm>
              <a:off x="4140200" y="723900"/>
              <a:ext cx="101600" cy="114300"/>
              <a:chOff x="4140200" y="723900"/>
              <a:chExt cx="101600" cy="114300"/>
            </a:xfrm>
          </p:grpSpPr>
          <p:sp>
            <p:nvSpPr>
              <p:cNvPr id="37" name="Freeform 37"/>
              <p:cNvSpPr/>
              <p:nvPr/>
            </p:nvSpPr>
            <p:spPr>
              <a:xfrm>
                <a:off x="4140200" y="736600"/>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FFFFFF"/>
                </a:solidFill>
              </a:ln>
            </p:spPr>
          </p:sp>
          <p:sp>
            <p:nvSpPr>
              <p:cNvPr id="38" name="Freeform 38"/>
              <p:cNvSpPr/>
              <p:nvPr/>
            </p:nvSpPr>
            <p:spPr>
              <a:xfrm>
                <a:off x="4216400" y="723900"/>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39" name="Freeform 39"/>
              <p:cNvSpPr/>
              <p:nvPr/>
            </p:nvSpPr>
            <p:spPr>
              <a:xfrm>
                <a:off x="4165600" y="723900"/>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40" name="Freeform 40"/>
              <p:cNvSpPr/>
              <p:nvPr/>
            </p:nvSpPr>
            <p:spPr>
              <a:xfrm>
                <a:off x="4140200" y="774700"/>
                <a:ext cx="101600" cy="9525"/>
              </a:xfrm>
              <a:custGeom>
                <a:avLst/>
                <a:gdLst/>
                <a:ahLst/>
                <a:cxnLst/>
                <a:rect l="l" t="t" r="r" b="b"/>
                <a:pathLst>
                  <a:path w="101600" h="9525">
                    <a:moveTo>
                      <a:pt x="0" y="0"/>
                    </a:moveTo>
                    <a:lnTo>
                      <a:pt x="101600" y="0"/>
                    </a:lnTo>
                  </a:path>
                </a:pathLst>
              </a:custGeom>
              <a:noFill/>
              <a:ln w="12700">
                <a:solidFill>
                  <a:srgbClr val="FFFFFF"/>
                </a:solidFill>
              </a:ln>
            </p:spPr>
          </p:sp>
          <p:sp>
            <p:nvSpPr>
              <p:cNvPr id="41" name="Freeform 41"/>
              <p:cNvSpPr/>
              <p:nvPr/>
            </p:nvSpPr>
            <p:spPr>
              <a:xfrm>
                <a:off x="4184650" y="800100"/>
                <a:ext cx="9525" cy="9525"/>
              </a:xfrm>
              <a:custGeom>
                <a:avLst/>
                <a:gdLst/>
                <a:ahLst/>
                <a:cxnLst/>
                <a:rect l="l" t="t" r="r" b="b"/>
                <a:pathLst>
                  <a:path w="9525" h="9525">
                    <a:moveTo>
                      <a:pt x="0" y="0"/>
                    </a:moveTo>
                    <a:lnTo>
                      <a:pt x="6350" y="0"/>
                    </a:lnTo>
                  </a:path>
                </a:pathLst>
              </a:custGeom>
              <a:noFill/>
              <a:ln w="12700">
                <a:solidFill>
                  <a:srgbClr val="FFFFFF"/>
                </a:solidFill>
              </a:ln>
            </p:spPr>
          </p:sp>
          <p:sp>
            <p:nvSpPr>
              <p:cNvPr id="42" name="Freeform 42"/>
              <p:cNvSpPr/>
              <p:nvPr/>
            </p:nvSpPr>
            <p:spPr>
              <a:xfrm>
                <a:off x="4191000" y="800100"/>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44" name="TextBox 44"/>
            <p:cNvSpPr txBox="1"/>
            <p:nvPr/>
          </p:nvSpPr>
          <p:spPr>
            <a:xfrm>
              <a:off x="4319588" y="739616"/>
              <a:ext cx="758510"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每周 · 看管道​</a:t>
              </a:r>
            </a:p>
          </p:txBody>
        </p:sp>
        <p:grpSp>
          <p:nvGrpSpPr>
            <p:cNvPr id="50" name="Group 50"/>
            <p:cNvGrpSpPr/>
            <p:nvPr/>
          </p:nvGrpSpPr>
          <p:grpSpPr>
            <a:xfrm>
              <a:off x="4186238" y="997982"/>
              <a:ext cx="1339306" cy="697706"/>
              <a:chOff x="4186238" y="997982"/>
              <a:chExt cx="1339306" cy="697706"/>
            </a:xfrm>
          </p:grpSpPr>
          <p:sp>
            <p:nvSpPr>
              <p:cNvPr id="45" name="TextBox 45"/>
              <p:cNvSpPr txBox="1"/>
              <p:nvPr/>
            </p:nvSpPr>
            <p:spPr>
              <a:xfrm>
                <a:off x="4186238" y="997982"/>
                <a:ext cx="133930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周度营销管道复盘会（每周一）​</a:t>
                </a:r>
              </a:p>
            </p:txBody>
          </p:sp>
          <p:sp>
            <p:nvSpPr>
              <p:cNvPr id="46" name="TextBox 46"/>
              <p:cNvSpPr txBox="1"/>
              <p:nvPr/>
            </p:nvSpPr>
            <p:spPr>
              <a:xfrm>
                <a:off x="4186238" y="1140857"/>
                <a:ext cx="99467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各网点漏斗转化率分析​</a:t>
                </a:r>
              </a:p>
            </p:txBody>
          </p:sp>
          <p:sp>
            <p:nvSpPr>
              <p:cNvPr id="47" name="TextBox 47"/>
              <p:cNvSpPr txBox="1"/>
              <p:nvPr/>
            </p:nvSpPr>
            <p:spPr>
              <a:xfrm>
                <a:off x="4186238" y="1283732"/>
                <a:ext cx="82236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客户经理进度通报​</a:t>
                </a:r>
              </a:p>
            </p:txBody>
          </p:sp>
          <p:sp>
            <p:nvSpPr>
              <p:cNvPr id="48" name="TextBox 48"/>
              <p:cNvSpPr txBox="1"/>
              <p:nvPr/>
            </p:nvSpPr>
            <p:spPr>
              <a:xfrm>
                <a:off x="4186238" y="1426607"/>
                <a:ext cx="108083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优秀案例分享与经验复制​</a:t>
                </a:r>
              </a:p>
            </p:txBody>
          </p:sp>
          <p:sp>
            <p:nvSpPr>
              <p:cNvPr id="49" name="TextBox 49"/>
              <p:cNvSpPr txBox="1"/>
              <p:nvPr/>
            </p:nvSpPr>
            <p:spPr>
              <a:xfrm>
                <a:off x="4186238" y="1569482"/>
                <a:ext cx="108083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识别风险、集中资源支持​</a:t>
                </a:r>
              </a:p>
            </p:txBody>
          </p:sp>
        </p:grpSp>
        <p:sp>
          <p:nvSpPr>
            <p:cNvPr id="51" name="Freeform 51"/>
            <p:cNvSpPr/>
            <p:nvPr/>
          </p:nvSpPr>
          <p:spPr>
            <a:xfrm>
              <a:off x="7105650" y="1104900"/>
              <a:ext cx="76200" cy="133350"/>
            </a:xfrm>
            <a:prstGeom prst="chevron">
              <a:avLst/>
            </a:prstGeom>
            <a:solidFill>
              <a:srgbClr val="C9988F"/>
            </a:solidFill>
            <a:ln>
              <a:noFill/>
            </a:ln>
          </p:spPr>
        </p:sp>
        <p:sp>
          <p:nvSpPr>
            <p:cNvPr id="52" name="Rectangle 52"/>
            <p:cNvSpPr/>
            <p:nvPr/>
          </p:nvSpPr>
          <p:spPr>
            <a:xfrm>
              <a:off x="7181850" y="666750"/>
              <a:ext cx="3048000" cy="1047750"/>
            </a:xfrm>
            <a:prstGeom prst="roundRect">
              <a:avLst>
                <a:gd name="adj" fmla="val 7273"/>
              </a:avLst>
            </a:prstGeom>
            <a:solidFill>
              <a:srgbClr val="FFFFFF"/>
            </a:solidFill>
            <a:ln w="9525">
              <a:solidFill>
                <a:srgbClr val="D9E8E2"/>
              </a:solidFill>
            </a:ln>
          </p:spPr>
        </p:sp>
        <p:sp>
          <p:nvSpPr>
            <p:cNvPr id="53" name="Rectangle 53"/>
            <p:cNvSpPr/>
            <p:nvPr/>
          </p:nvSpPr>
          <p:spPr>
            <a:xfrm>
              <a:off x="7181850" y="666750"/>
              <a:ext cx="3048000" cy="228600"/>
            </a:xfrm>
            <a:prstGeom prst="roundRect">
              <a:avLst>
                <a:gd name="adj" fmla="val 33333"/>
              </a:avLst>
            </a:prstGeom>
            <a:solidFill>
              <a:srgbClr val="9A412F"/>
            </a:solidFill>
            <a:ln>
              <a:noFill/>
            </a:ln>
          </p:spPr>
        </p:sp>
        <p:sp>
          <p:nvSpPr>
            <p:cNvPr id="54" name="Rectangle 54"/>
            <p:cNvSpPr/>
            <p:nvPr/>
          </p:nvSpPr>
          <p:spPr>
            <a:xfrm>
              <a:off x="7181850" y="781050"/>
              <a:ext cx="3048000" cy="114300"/>
            </a:xfrm>
            <a:prstGeom prst="rect">
              <a:avLst/>
            </a:prstGeom>
            <a:solidFill>
              <a:srgbClr val="9A412F"/>
            </a:solidFill>
            <a:ln>
              <a:noFill/>
            </a:ln>
          </p:spPr>
        </p:sp>
        <p:grpSp>
          <p:nvGrpSpPr>
            <p:cNvPr id="57" name="Group 57"/>
            <p:cNvGrpSpPr/>
            <p:nvPr/>
          </p:nvGrpSpPr>
          <p:grpSpPr>
            <a:xfrm>
              <a:off x="7283450" y="742950"/>
              <a:ext cx="101600" cy="92075"/>
              <a:chOff x="7283450" y="742950"/>
              <a:chExt cx="101600" cy="92075"/>
            </a:xfrm>
          </p:grpSpPr>
          <p:sp>
            <p:nvSpPr>
              <p:cNvPr id="55" name="Freeform 55"/>
              <p:cNvSpPr/>
              <p:nvPr/>
            </p:nvSpPr>
            <p:spPr>
              <a:xfrm>
                <a:off x="7283450" y="825500"/>
                <a:ext cx="101600" cy="9525"/>
              </a:xfrm>
              <a:custGeom>
                <a:avLst/>
                <a:gdLst/>
                <a:ahLst/>
                <a:cxnLst/>
                <a:rect l="l" t="t" r="r" b="b"/>
                <a:pathLst>
                  <a:path w="101600" h="9525">
                    <a:moveTo>
                      <a:pt x="0" y="0"/>
                    </a:moveTo>
                    <a:lnTo>
                      <a:pt x="101600" y="0"/>
                    </a:lnTo>
                  </a:path>
                </a:pathLst>
              </a:custGeom>
              <a:noFill/>
              <a:ln w="12700">
                <a:solidFill>
                  <a:srgbClr val="FFFFFF"/>
                </a:solidFill>
              </a:ln>
            </p:spPr>
          </p:sp>
          <p:sp>
            <p:nvSpPr>
              <p:cNvPr id="56" name="Freeform 56"/>
              <p:cNvSpPr/>
              <p:nvPr/>
            </p:nvSpPr>
            <p:spPr>
              <a:xfrm>
                <a:off x="7283450" y="74295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FFFFFF"/>
                </a:solidFill>
              </a:ln>
            </p:spPr>
          </p:sp>
        </p:grpSp>
        <p:sp>
          <p:nvSpPr>
            <p:cNvPr id="58" name="TextBox 58"/>
            <p:cNvSpPr txBox="1"/>
            <p:nvPr/>
          </p:nvSpPr>
          <p:spPr>
            <a:xfrm>
              <a:off x="7462838" y="739616"/>
              <a:ext cx="758510"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每月 · 调策略​</a:t>
              </a:r>
            </a:p>
          </p:txBody>
        </p:sp>
        <p:grpSp>
          <p:nvGrpSpPr>
            <p:cNvPr id="64" name="Group 64"/>
            <p:cNvGrpSpPr/>
            <p:nvPr/>
          </p:nvGrpSpPr>
          <p:grpSpPr>
            <a:xfrm>
              <a:off x="7329488" y="997982"/>
              <a:ext cx="1166993" cy="697706"/>
              <a:chOff x="7329488" y="997982"/>
              <a:chExt cx="1166993" cy="697706"/>
            </a:xfrm>
          </p:grpSpPr>
          <p:sp>
            <p:nvSpPr>
              <p:cNvPr id="59" name="TextBox 59"/>
              <p:cNvSpPr txBox="1"/>
              <p:nvPr/>
            </p:nvSpPr>
            <p:spPr>
              <a:xfrm>
                <a:off x="7329488" y="997982"/>
                <a:ext cx="1166993"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月度经营复盘会（每月初）​</a:t>
                </a:r>
              </a:p>
            </p:txBody>
          </p:sp>
          <p:sp>
            <p:nvSpPr>
              <p:cNvPr id="60" name="TextBox 60"/>
              <p:cNvSpPr txBox="1"/>
              <p:nvPr/>
            </p:nvSpPr>
            <p:spPr>
              <a:xfrm>
                <a:off x="7329488" y="1140857"/>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对标目标找差距​</a:t>
                </a:r>
              </a:p>
            </p:txBody>
          </p:sp>
          <p:sp>
            <p:nvSpPr>
              <p:cNvPr id="61" name="TextBox 61"/>
              <p:cNvSpPr txBox="1"/>
              <p:nvPr/>
            </p:nvSpPr>
            <p:spPr>
              <a:xfrm>
                <a:off x="7329488" y="1283732"/>
                <a:ext cx="1166993"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调整客群、产品与资源策略​</a:t>
                </a:r>
              </a:p>
            </p:txBody>
          </p:sp>
          <p:sp>
            <p:nvSpPr>
              <p:cNvPr id="62" name="TextBox 62"/>
              <p:cNvSpPr txBox="1"/>
              <p:nvPr/>
            </p:nvSpPr>
            <p:spPr>
              <a:xfrm>
                <a:off x="7329488" y="1426607"/>
                <a:ext cx="108083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优化下月营销计划与名单​</a:t>
                </a:r>
              </a:p>
            </p:txBody>
          </p:sp>
          <p:sp>
            <p:nvSpPr>
              <p:cNvPr id="63" name="TextBox 63"/>
              <p:cNvSpPr txBox="1"/>
              <p:nvPr/>
            </p:nvSpPr>
            <p:spPr>
              <a:xfrm>
                <a:off x="7329488" y="1569482"/>
                <a:ext cx="82236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形成闭环管理机制​</a:t>
                </a:r>
              </a:p>
            </p:txBody>
          </p:sp>
        </p:grpSp>
        <p:grpSp>
          <p:nvGrpSpPr>
            <p:cNvPr id="69" name="slogan-card"/>
            <p:cNvGrpSpPr/>
            <p:nvPr/>
          </p:nvGrpSpPr>
          <p:grpSpPr>
            <a:xfrm>
              <a:off x="10344150" y="666750"/>
              <a:ext cx="1619250" cy="1047750"/>
              <a:chOff x="10344150" y="666750"/>
              <a:chExt cx="1619250" cy="1047750"/>
            </a:xfrm>
          </p:grpSpPr>
          <p:sp>
            <p:nvSpPr>
              <p:cNvPr id="65" name="Rectangle 65"/>
              <p:cNvSpPr/>
              <p:nvPr/>
            </p:nvSpPr>
            <p:spPr>
              <a:xfrm>
                <a:off x="10344150" y="666750"/>
                <a:ext cx="1619250" cy="1047750"/>
              </a:xfrm>
              <a:prstGeom prst="roundRect">
                <a:avLst>
                  <a:gd name="adj" fmla="val 7273"/>
                </a:avLst>
              </a:prstGeom>
              <a:solidFill>
                <a:srgbClr val="E9F4F0"/>
              </a:solidFill>
              <a:ln>
                <a:noFill/>
              </a:ln>
            </p:spPr>
          </p:sp>
          <p:sp>
            <p:nvSpPr>
              <p:cNvPr id="66" name="TextBox 66"/>
              <p:cNvSpPr txBox="1"/>
              <p:nvPr/>
            </p:nvSpPr>
            <p:spPr>
              <a:xfrm>
                <a:off x="10738131" y="937260"/>
                <a:ext cx="831289" cy="234696"/>
              </a:xfrm>
              <a:prstGeom prst="rect">
                <a:avLst/>
              </a:prstGeom>
              <a:noFill/>
              <a:ln>
                <a:noFill/>
              </a:ln>
            </p:spPr>
            <p:txBody>
              <a:bodyPr wrap="none" lIns="0" tIns="0" rIns="0" bIns="0" anchor="t" anchorCtr="0">
                <a:spAutoFit/>
              </a:bodyPr>
              <a:lstStyle/>
              <a:p>
                <a:pPr algn="ctr"/>
                <a:r>
                  <a:rPr lang="zh-CN" sz="1200" b="1" i="1" spc="150" dirty="0">
                    <a:solidFill>
                      <a:srgbClr val="5B180B"/>
                    </a:solidFill>
                    <a:latin typeface="+mn-lt"/>
                    <a:ea typeface="+mn-ea"/>
                    <a:cs typeface="+mn-cs"/>
                  </a:rPr>
                  <a:t>盯住过程​</a:t>
                </a:r>
              </a:p>
            </p:txBody>
          </p:sp>
          <p:sp>
            <p:nvSpPr>
              <p:cNvPr id="67" name="TextBox 67"/>
              <p:cNvSpPr txBox="1"/>
              <p:nvPr/>
            </p:nvSpPr>
            <p:spPr>
              <a:xfrm>
                <a:off x="10556394" y="1165860"/>
                <a:ext cx="1194763" cy="234696"/>
              </a:xfrm>
              <a:prstGeom prst="rect">
                <a:avLst/>
              </a:prstGeom>
              <a:noFill/>
              <a:ln>
                <a:noFill/>
              </a:ln>
            </p:spPr>
            <p:txBody>
              <a:bodyPr wrap="none" lIns="0" tIns="0" rIns="0" bIns="0" anchor="t" anchorCtr="0">
                <a:spAutoFit/>
              </a:bodyPr>
              <a:lstStyle/>
              <a:p>
                <a:pPr algn="ctr"/>
                <a:r>
                  <a:rPr lang="zh-CN" sz="1200" b="1" i="1" spc="150" dirty="0">
                    <a:solidFill>
                      <a:srgbClr val="5B180B"/>
                    </a:solidFill>
                    <a:latin typeface="+mn-lt"/>
                    <a:ea typeface="+mn-ea"/>
                    <a:cs typeface="+mn-cs"/>
                  </a:rPr>
                  <a:t>才能赢得结果​</a:t>
                </a:r>
              </a:p>
            </p:txBody>
          </p:sp>
          <p:sp>
            <p:nvSpPr>
              <p:cNvPr id="68" name="Freeform 68"/>
              <p:cNvSpPr/>
              <p:nvPr/>
            </p:nvSpPr>
            <p:spPr>
              <a:xfrm>
                <a:off x="10553700" y="1428750"/>
                <a:ext cx="1200150" cy="76200"/>
              </a:xfrm>
              <a:custGeom>
                <a:avLst/>
                <a:gdLst/>
                <a:ahLst/>
                <a:cxnLst/>
                <a:rect l="l" t="t" r="r" b="b"/>
                <a:pathLst>
                  <a:path w="1200150" h="76200">
                    <a:moveTo>
                      <a:pt x="0" y="19050"/>
                    </a:moveTo>
                    <a:cubicBezTo>
                      <a:pt x="381000" y="76200"/>
                      <a:pt x="914400" y="76200"/>
                      <a:pt x="1200150" y="0"/>
                    </a:cubicBezTo>
                  </a:path>
                </a:pathLst>
              </a:custGeom>
              <a:noFill/>
              <a:ln w="23812" cap="rnd">
                <a:solidFill>
                  <a:srgbClr val="9A412F"/>
                </a:solidFill>
              </a:ln>
            </p:spPr>
          </p:sp>
        </p:grpSp>
      </p:grpSp>
      <p:grpSp>
        <p:nvGrpSpPr>
          <p:cNvPr id="162" name="dash-card"/>
          <p:cNvGrpSpPr/>
          <p:nvPr/>
        </p:nvGrpSpPr>
        <p:grpSpPr>
          <a:xfrm>
            <a:off x="228600" y="1809750"/>
            <a:ext cx="6438900" cy="2324100"/>
            <a:chOff x="228600" y="1809750"/>
            <a:chExt cx="6438900" cy="2324100"/>
          </a:xfrm>
        </p:grpSpPr>
        <p:sp>
          <p:nvSpPr>
            <p:cNvPr id="71" name="Rectangle 71"/>
            <p:cNvSpPr/>
            <p:nvPr/>
          </p:nvSpPr>
          <p:spPr>
            <a:xfrm>
              <a:off x="228600" y="1809750"/>
              <a:ext cx="6438900" cy="2324100"/>
            </a:xfrm>
            <a:prstGeom prst="roundRect">
              <a:avLst>
                <a:gd name="adj" fmla="val 4098"/>
              </a:avLst>
            </a:prstGeom>
            <a:solidFill>
              <a:srgbClr val="F5FAF8"/>
            </a:solidFill>
            <a:ln w="9525">
              <a:solidFill>
                <a:srgbClr val="D9E8E2"/>
              </a:solidFill>
            </a:ln>
          </p:spPr>
        </p:sp>
        <p:sp>
          <p:nvSpPr>
            <p:cNvPr id="72" name="Rectangle 72"/>
            <p:cNvSpPr/>
            <p:nvPr/>
          </p:nvSpPr>
          <p:spPr>
            <a:xfrm>
              <a:off x="228600" y="1809750"/>
              <a:ext cx="3810000" cy="228600"/>
            </a:xfrm>
            <a:prstGeom prst="roundRect">
              <a:avLst>
                <a:gd name="adj" fmla="val 16667"/>
              </a:avLst>
            </a:prstGeom>
            <a:solidFill>
              <a:srgbClr val="5B180B"/>
            </a:solidFill>
            <a:ln>
              <a:noFill/>
            </a:ln>
          </p:spPr>
        </p:sp>
        <p:sp>
          <p:nvSpPr>
            <p:cNvPr id="73" name="TextBox 73"/>
            <p:cNvSpPr txBox="1"/>
            <p:nvPr/>
          </p:nvSpPr>
          <p:spPr>
            <a:xfrm>
              <a:off x="338138" y="1878568"/>
              <a:ext cx="2413546"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2026年Q4 营销冲刺作战驾驶舱</a:t>
              </a:r>
              <a:r>
                <a:rPr lang="zh-CN" sz="640" dirty="0">
                  <a:solidFill>
                    <a:srgbClr val="BFDDD6"/>
                  </a:solidFill>
                  <a:latin typeface="+mn-lt"/>
                  <a:ea typeface="+mn-ea"/>
                  <a:cs typeface="+mn-cs"/>
                </a:rPr>
                <a:t>（截至12月20日）</a:t>
              </a:r>
              <a:r>
                <a:rPr lang="zh-CN" sz="860" b="1" dirty="0">
                  <a:solidFill>
                    <a:srgbClr val="FFFFFF"/>
                  </a:solidFill>
                  <a:latin typeface="+mn-lt"/>
                  <a:ea typeface="+mn-ea"/>
                  <a:cs typeface="+mn-cs"/>
                </a:rPr>
                <a:t>​</a:t>
              </a:r>
            </a:p>
          </p:txBody>
        </p:sp>
        <p:grpSp>
          <p:nvGrpSpPr>
            <p:cNvPr id="83" name="Group 83"/>
            <p:cNvGrpSpPr/>
            <p:nvPr/>
          </p:nvGrpSpPr>
          <p:grpSpPr>
            <a:xfrm>
              <a:off x="342900" y="2133600"/>
              <a:ext cx="6191250" cy="247650"/>
              <a:chOff x="342900" y="2133600"/>
              <a:chExt cx="6191250" cy="247650"/>
            </a:xfrm>
          </p:grpSpPr>
          <p:sp>
            <p:nvSpPr>
              <p:cNvPr id="74" name="Rectangle 74"/>
              <p:cNvSpPr/>
              <p:nvPr/>
            </p:nvSpPr>
            <p:spPr>
              <a:xfrm>
                <a:off x="342900" y="2133600"/>
                <a:ext cx="6191250" cy="247650"/>
              </a:xfrm>
              <a:prstGeom prst="rect">
                <a:avLst/>
              </a:prstGeom>
              <a:solidFill>
                <a:srgbClr val="722617"/>
              </a:solidFill>
              <a:ln>
                <a:noFill/>
              </a:ln>
            </p:spPr>
          </p:sp>
          <p:sp>
            <p:nvSpPr>
              <p:cNvPr id="75" name="TextBox 75"/>
              <p:cNvSpPr txBox="1"/>
              <p:nvPr/>
            </p:nvSpPr>
            <p:spPr>
              <a:xfrm>
                <a:off x="829763" y="2222659"/>
                <a:ext cx="24547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指标​</a:t>
                </a:r>
              </a:p>
            </p:txBody>
          </p:sp>
          <p:sp>
            <p:nvSpPr>
              <p:cNvPr id="76" name="TextBox 76"/>
              <p:cNvSpPr txBox="1"/>
              <p:nvPr/>
            </p:nvSpPr>
            <p:spPr>
              <a:xfrm>
                <a:off x="1576422" y="2222659"/>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季度目标​</a:t>
                </a:r>
              </a:p>
            </p:txBody>
          </p:sp>
          <p:sp>
            <p:nvSpPr>
              <p:cNvPr id="77" name="TextBox 77"/>
              <p:cNvSpPr txBox="1"/>
              <p:nvPr/>
            </p:nvSpPr>
            <p:spPr>
              <a:xfrm>
                <a:off x="2243172" y="2222659"/>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累计完成​</a:t>
                </a:r>
              </a:p>
            </p:txBody>
          </p:sp>
          <p:sp>
            <p:nvSpPr>
              <p:cNvPr id="78" name="TextBox 78"/>
              <p:cNvSpPr txBox="1"/>
              <p:nvPr/>
            </p:nvSpPr>
            <p:spPr>
              <a:xfrm>
                <a:off x="3012842" y="2222659"/>
                <a:ext cx="337015"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完成率​</a:t>
                </a:r>
              </a:p>
            </p:txBody>
          </p:sp>
          <p:sp>
            <p:nvSpPr>
              <p:cNvPr id="79" name="TextBox 79"/>
              <p:cNvSpPr txBox="1"/>
              <p:nvPr/>
            </p:nvSpPr>
            <p:spPr>
              <a:xfrm>
                <a:off x="3633822" y="2222659"/>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同比增幅​</a:t>
                </a:r>
              </a:p>
            </p:txBody>
          </p:sp>
          <p:sp>
            <p:nvSpPr>
              <p:cNvPr id="80" name="TextBox 80"/>
              <p:cNvSpPr txBox="1"/>
              <p:nvPr/>
            </p:nvSpPr>
            <p:spPr>
              <a:xfrm>
                <a:off x="4331001" y="2222659"/>
                <a:ext cx="52009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较目标差距​</a:t>
                </a:r>
              </a:p>
            </p:txBody>
          </p:sp>
          <p:sp>
            <p:nvSpPr>
              <p:cNvPr id="81" name="TextBox 81"/>
              <p:cNvSpPr txBox="1"/>
              <p:nvPr/>
            </p:nvSpPr>
            <p:spPr>
              <a:xfrm>
                <a:off x="5081622" y="2222659"/>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全年预测​</a:t>
                </a:r>
              </a:p>
            </p:txBody>
          </p:sp>
          <p:sp>
            <p:nvSpPr>
              <p:cNvPr id="82" name="TextBox 82"/>
              <p:cNvSpPr txBox="1"/>
              <p:nvPr/>
            </p:nvSpPr>
            <p:spPr>
              <a:xfrm>
                <a:off x="5805522" y="2222659"/>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达成预期​</a:t>
                </a:r>
              </a:p>
            </p:txBody>
          </p:sp>
        </p:grpSp>
        <p:grpSp>
          <p:nvGrpSpPr>
            <p:cNvPr id="161" name="dash-rows"/>
            <p:cNvGrpSpPr/>
            <p:nvPr/>
          </p:nvGrpSpPr>
          <p:grpSpPr>
            <a:xfrm>
              <a:off x="342900" y="2381250"/>
              <a:ext cx="6191250" cy="1619250"/>
              <a:chOff x="342900" y="2381250"/>
              <a:chExt cx="6191250" cy="1619250"/>
            </a:xfrm>
          </p:grpSpPr>
          <p:sp>
            <p:nvSpPr>
              <p:cNvPr id="84" name="Rectangle 84"/>
              <p:cNvSpPr/>
              <p:nvPr/>
            </p:nvSpPr>
            <p:spPr>
              <a:xfrm>
                <a:off x="342900" y="2381250"/>
                <a:ext cx="6191250" cy="323850"/>
              </a:xfrm>
              <a:prstGeom prst="rect">
                <a:avLst/>
              </a:prstGeom>
              <a:solidFill>
                <a:srgbClr val="FFFFFF"/>
              </a:solidFill>
              <a:ln w="7620">
                <a:solidFill>
                  <a:srgbClr val="D9E8E2"/>
                </a:solidFill>
              </a:ln>
            </p:spPr>
          </p:sp>
          <p:grpSp>
            <p:nvGrpSpPr>
              <p:cNvPr id="88" name="Group 88"/>
              <p:cNvGrpSpPr/>
              <p:nvPr/>
            </p:nvGrpSpPr>
            <p:grpSpPr>
              <a:xfrm>
                <a:off x="520700" y="2476500"/>
                <a:ext cx="101600" cy="114300"/>
                <a:chOff x="520700" y="2476500"/>
                <a:chExt cx="101600" cy="114300"/>
              </a:xfrm>
            </p:grpSpPr>
            <p:sp>
              <p:nvSpPr>
                <p:cNvPr id="85" name="Freeform 85"/>
                <p:cNvSpPr/>
                <p:nvPr/>
              </p:nvSpPr>
              <p:spPr>
                <a:xfrm>
                  <a:off x="520700" y="247650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5B180B"/>
                  </a:solidFill>
                </a:ln>
              </p:spPr>
            </p:sp>
            <p:sp>
              <p:nvSpPr>
                <p:cNvPr id="86" name="Freeform 86"/>
                <p:cNvSpPr/>
                <p:nvPr/>
              </p:nvSpPr>
              <p:spPr>
                <a:xfrm>
                  <a:off x="520700" y="24955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5B180B"/>
                  </a:solidFill>
                </a:ln>
              </p:spPr>
            </p:sp>
            <p:sp>
              <p:nvSpPr>
                <p:cNvPr id="87" name="Freeform 87"/>
                <p:cNvSpPr/>
                <p:nvPr/>
              </p:nvSpPr>
              <p:spPr>
                <a:xfrm>
                  <a:off x="520700" y="25336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5B180B"/>
                  </a:solidFill>
                </a:ln>
              </p:spPr>
            </p:sp>
          </p:grpSp>
          <p:sp>
            <p:nvSpPr>
              <p:cNvPr id="89" name="TextBox 89"/>
              <p:cNvSpPr txBox="1"/>
              <p:nvPr/>
            </p:nvSpPr>
            <p:spPr>
              <a:xfrm>
                <a:off x="642912" y="2496264"/>
                <a:ext cx="619175"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存款(亿元)​</a:t>
                </a:r>
              </a:p>
            </p:txBody>
          </p:sp>
          <p:sp>
            <p:nvSpPr>
              <p:cNvPr id="90" name="TextBox 90"/>
              <p:cNvSpPr txBox="1"/>
              <p:nvPr/>
            </p:nvSpPr>
            <p:spPr>
              <a:xfrm>
                <a:off x="1680799" y="250436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120​</a:t>
                </a:r>
              </a:p>
            </p:txBody>
          </p:sp>
          <p:sp>
            <p:nvSpPr>
              <p:cNvPr id="91" name="TextBox 91"/>
              <p:cNvSpPr txBox="1"/>
              <p:nvPr/>
            </p:nvSpPr>
            <p:spPr>
              <a:xfrm>
                <a:off x="2373834" y="2504361"/>
                <a:ext cx="167232"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98​</a:t>
                </a:r>
              </a:p>
            </p:txBody>
          </p:sp>
          <p:sp>
            <p:nvSpPr>
              <p:cNvPr id="92" name="Rectangle 92"/>
              <p:cNvSpPr/>
              <p:nvPr/>
            </p:nvSpPr>
            <p:spPr>
              <a:xfrm>
                <a:off x="2876550" y="2438400"/>
                <a:ext cx="609600" cy="152400"/>
              </a:xfrm>
              <a:prstGeom prst="roundRect">
                <a:avLst>
                  <a:gd name="adj" fmla="val 50000"/>
                </a:avLst>
              </a:prstGeom>
              <a:solidFill>
                <a:srgbClr val="C9988F"/>
              </a:solidFill>
              <a:ln>
                <a:noFill/>
              </a:ln>
            </p:spPr>
          </p:sp>
          <p:sp>
            <p:nvSpPr>
              <p:cNvPr id="93" name="TextBox 93"/>
              <p:cNvSpPr txBox="1"/>
              <p:nvPr/>
            </p:nvSpPr>
            <p:spPr>
              <a:xfrm>
                <a:off x="3008380" y="2479834"/>
                <a:ext cx="3459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81.7%​</a:t>
                </a:r>
              </a:p>
            </p:txBody>
          </p:sp>
          <p:sp>
            <p:nvSpPr>
              <p:cNvPr id="94" name="TextBox 94"/>
              <p:cNvSpPr txBox="1"/>
              <p:nvPr/>
            </p:nvSpPr>
            <p:spPr>
              <a:xfrm>
                <a:off x="3640110" y="2504361"/>
                <a:ext cx="415980" cy="140494"/>
              </a:xfrm>
              <a:prstGeom prst="rect">
                <a:avLst/>
              </a:prstGeom>
              <a:noFill/>
              <a:ln>
                <a:noFill/>
              </a:ln>
            </p:spPr>
            <p:txBody>
              <a:bodyPr wrap="none" lIns="0" tIns="0" rIns="0" bIns="0" anchor="t" anchorCtr="0">
                <a:spAutoFit/>
              </a:bodyPr>
              <a:lstStyle/>
              <a:p>
                <a:pPr algn="ctr"/>
                <a:r>
                  <a:rPr lang="zh-CN" sz="710" b="1" dirty="0">
                    <a:solidFill>
                      <a:srgbClr val="9E402E"/>
                    </a:solidFill>
                    <a:latin typeface="+mn-lt"/>
                    <a:ea typeface="+mn-ea"/>
                    <a:cs typeface="+mn-cs"/>
                  </a:rPr>
                  <a:t>+12.5%​</a:t>
                </a:r>
              </a:p>
            </p:txBody>
          </p:sp>
          <p:sp>
            <p:nvSpPr>
              <p:cNvPr id="95" name="TextBox 95"/>
              <p:cNvSpPr txBox="1"/>
              <p:nvPr/>
            </p:nvSpPr>
            <p:spPr>
              <a:xfrm>
                <a:off x="4475892" y="2504361"/>
                <a:ext cx="230315" cy="140494"/>
              </a:xfrm>
              <a:prstGeom prst="rect">
                <a:avLst/>
              </a:prstGeom>
              <a:noFill/>
              <a:ln>
                <a:noFill/>
              </a:ln>
            </p:spPr>
            <p:txBody>
              <a:bodyPr wrap="none" lIns="0" tIns="0" rIns="0" bIns="0" anchor="t" anchorCtr="0">
                <a:spAutoFit/>
              </a:bodyPr>
              <a:lstStyle/>
              <a:p>
                <a:pPr algn="ctr"/>
                <a:r>
                  <a:rPr lang="zh-CN" sz="710" b="1" dirty="0">
                    <a:solidFill>
                      <a:srgbClr val="C24833"/>
                    </a:solidFill>
                    <a:latin typeface="+mn-lt"/>
                    <a:ea typeface="+mn-ea"/>
                    <a:cs typeface="+mn-cs"/>
                  </a:rPr>
                  <a:t>-22​</a:t>
                </a:r>
              </a:p>
            </p:txBody>
          </p:sp>
          <p:sp>
            <p:nvSpPr>
              <p:cNvPr id="96" name="TextBox 96"/>
              <p:cNvSpPr txBox="1"/>
              <p:nvPr/>
            </p:nvSpPr>
            <p:spPr>
              <a:xfrm>
                <a:off x="5185999" y="250436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118​</a:t>
                </a:r>
              </a:p>
            </p:txBody>
          </p:sp>
          <p:sp>
            <p:nvSpPr>
              <p:cNvPr id="97" name="TextBox 97"/>
              <p:cNvSpPr txBox="1"/>
              <p:nvPr/>
            </p:nvSpPr>
            <p:spPr>
              <a:xfrm>
                <a:off x="5894606" y="2504361"/>
                <a:ext cx="250387" cy="140494"/>
              </a:xfrm>
              <a:prstGeom prst="rect">
                <a:avLst/>
              </a:prstGeom>
              <a:noFill/>
              <a:ln>
                <a:noFill/>
              </a:ln>
            </p:spPr>
            <p:txBody>
              <a:bodyPr wrap="none" lIns="0" tIns="0" rIns="0" bIns="0" anchor="t" anchorCtr="0">
                <a:spAutoFit/>
              </a:bodyPr>
              <a:lstStyle/>
              <a:p>
                <a:pPr algn="ctr"/>
                <a:r>
                  <a:rPr lang="zh-CN" sz="710" b="1" dirty="0">
                    <a:solidFill>
                      <a:srgbClr val="5B180B"/>
                    </a:solidFill>
                    <a:latin typeface="+mn-lt"/>
                    <a:ea typeface="+mn-ea"/>
                    <a:cs typeface="+mn-cs"/>
                  </a:rPr>
                  <a:t>98%​</a:t>
                </a:r>
              </a:p>
            </p:txBody>
          </p:sp>
          <p:sp>
            <p:nvSpPr>
              <p:cNvPr id="98" name="Rectangle 98"/>
              <p:cNvSpPr/>
              <p:nvPr/>
            </p:nvSpPr>
            <p:spPr>
              <a:xfrm>
                <a:off x="342900" y="2705100"/>
                <a:ext cx="6191250" cy="323850"/>
              </a:xfrm>
              <a:prstGeom prst="rect">
                <a:avLst/>
              </a:prstGeom>
              <a:solidFill>
                <a:srgbClr val="F7FBF9"/>
              </a:solidFill>
              <a:ln w="7620">
                <a:solidFill>
                  <a:srgbClr val="D9E8E2"/>
                </a:solidFill>
              </a:ln>
            </p:spPr>
          </p:sp>
          <p:grpSp>
            <p:nvGrpSpPr>
              <p:cNvPr id="104" name="Group 104"/>
              <p:cNvGrpSpPr/>
              <p:nvPr/>
            </p:nvGrpSpPr>
            <p:grpSpPr>
              <a:xfrm>
                <a:off x="514350" y="2799499"/>
                <a:ext cx="114300" cy="115151"/>
                <a:chOff x="514350" y="2799499"/>
                <a:chExt cx="114300" cy="115151"/>
              </a:xfrm>
            </p:grpSpPr>
            <p:sp>
              <p:nvSpPr>
                <p:cNvPr id="99" name="Freeform 99"/>
                <p:cNvSpPr/>
                <p:nvPr/>
              </p:nvSpPr>
              <p:spPr>
                <a:xfrm>
                  <a:off x="552450" y="285115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5B180B"/>
                  </a:solidFill>
                </a:ln>
              </p:spPr>
            </p:sp>
            <p:sp>
              <p:nvSpPr>
                <p:cNvPr id="100" name="Freeform 100"/>
                <p:cNvSpPr/>
                <p:nvPr/>
              </p:nvSpPr>
              <p:spPr>
                <a:xfrm>
                  <a:off x="552450" y="287020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5B180B"/>
                  </a:solidFill>
                </a:ln>
              </p:spPr>
            </p:sp>
            <p:sp>
              <p:nvSpPr>
                <p:cNvPr id="101" name="Freeform 101"/>
                <p:cNvSpPr/>
                <p:nvPr/>
              </p:nvSpPr>
              <p:spPr>
                <a:xfrm>
                  <a:off x="514350" y="279949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5B180B"/>
                  </a:solidFill>
                </a:ln>
              </p:spPr>
            </p:sp>
            <p:sp>
              <p:nvSpPr>
                <p:cNvPr id="102" name="Freeform 102"/>
                <p:cNvSpPr/>
                <p:nvPr/>
              </p:nvSpPr>
              <p:spPr>
                <a:xfrm>
                  <a:off x="514350" y="281940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5B180B"/>
                  </a:solidFill>
                </a:ln>
              </p:spPr>
            </p:sp>
            <p:sp>
              <p:nvSpPr>
                <p:cNvPr id="103" name="Freeform 103"/>
                <p:cNvSpPr/>
                <p:nvPr/>
              </p:nvSpPr>
              <p:spPr>
                <a:xfrm>
                  <a:off x="514350" y="2851150"/>
                  <a:ext cx="12700" cy="12700"/>
                </a:xfrm>
                <a:custGeom>
                  <a:avLst/>
                  <a:gdLst/>
                  <a:ahLst/>
                  <a:cxnLst/>
                  <a:rect l="l" t="t" r="r" b="b"/>
                  <a:pathLst>
                    <a:path w="12700" h="12700">
                      <a:moveTo>
                        <a:pt x="0" y="0"/>
                      </a:moveTo>
                      <a:cubicBezTo>
                        <a:pt x="0" y="5639"/>
                        <a:pt x="4902" y="9208"/>
                        <a:pt x="12700" y="12700"/>
                      </a:cubicBezTo>
                    </a:path>
                  </a:pathLst>
                </a:custGeom>
                <a:noFill/>
                <a:ln w="12700">
                  <a:solidFill>
                    <a:srgbClr val="5B180B"/>
                  </a:solidFill>
                </a:ln>
              </p:spPr>
            </p:sp>
          </p:grpSp>
          <p:sp>
            <p:nvSpPr>
              <p:cNvPr id="105" name="TextBox 105"/>
              <p:cNvSpPr txBox="1"/>
              <p:nvPr/>
            </p:nvSpPr>
            <p:spPr>
              <a:xfrm>
                <a:off x="638385" y="2820114"/>
                <a:ext cx="628230"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AUM(亿元)​</a:t>
                </a:r>
              </a:p>
            </p:txBody>
          </p:sp>
          <p:sp>
            <p:nvSpPr>
              <p:cNvPr id="106" name="TextBox 106"/>
              <p:cNvSpPr txBox="1"/>
              <p:nvPr/>
            </p:nvSpPr>
            <p:spPr>
              <a:xfrm>
                <a:off x="1680799" y="282821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180​</a:t>
                </a:r>
              </a:p>
            </p:txBody>
          </p:sp>
          <p:sp>
            <p:nvSpPr>
              <p:cNvPr id="107" name="TextBox 107"/>
              <p:cNvSpPr txBox="1"/>
              <p:nvPr/>
            </p:nvSpPr>
            <p:spPr>
              <a:xfrm>
                <a:off x="2347549" y="282821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152​</a:t>
                </a:r>
              </a:p>
            </p:txBody>
          </p:sp>
          <p:sp>
            <p:nvSpPr>
              <p:cNvPr id="108" name="Rectangle 108"/>
              <p:cNvSpPr/>
              <p:nvPr/>
            </p:nvSpPr>
            <p:spPr>
              <a:xfrm>
                <a:off x="2876550" y="2762250"/>
                <a:ext cx="609600" cy="152400"/>
              </a:xfrm>
              <a:prstGeom prst="roundRect">
                <a:avLst>
                  <a:gd name="adj" fmla="val 50000"/>
                </a:avLst>
              </a:prstGeom>
              <a:solidFill>
                <a:srgbClr val="9A412F"/>
              </a:solidFill>
              <a:ln>
                <a:noFill/>
              </a:ln>
            </p:spPr>
          </p:sp>
          <p:sp>
            <p:nvSpPr>
              <p:cNvPr id="109" name="TextBox 109"/>
              <p:cNvSpPr txBox="1"/>
              <p:nvPr/>
            </p:nvSpPr>
            <p:spPr>
              <a:xfrm>
                <a:off x="3008380" y="2803684"/>
                <a:ext cx="3459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84.4%​</a:t>
                </a:r>
              </a:p>
            </p:txBody>
          </p:sp>
          <p:sp>
            <p:nvSpPr>
              <p:cNvPr id="110" name="TextBox 110"/>
              <p:cNvSpPr txBox="1"/>
              <p:nvPr/>
            </p:nvSpPr>
            <p:spPr>
              <a:xfrm>
                <a:off x="3640110" y="2828211"/>
                <a:ext cx="415980" cy="140494"/>
              </a:xfrm>
              <a:prstGeom prst="rect">
                <a:avLst/>
              </a:prstGeom>
              <a:noFill/>
              <a:ln>
                <a:noFill/>
              </a:ln>
            </p:spPr>
            <p:txBody>
              <a:bodyPr wrap="none" lIns="0" tIns="0" rIns="0" bIns="0" anchor="t" anchorCtr="0">
                <a:spAutoFit/>
              </a:bodyPr>
              <a:lstStyle/>
              <a:p>
                <a:pPr algn="ctr"/>
                <a:r>
                  <a:rPr lang="zh-CN" sz="710" b="1" dirty="0">
                    <a:solidFill>
                      <a:srgbClr val="9E402E"/>
                    </a:solidFill>
                    <a:latin typeface="+mn-lt"/>
                    <a:ea typeface="+mn-ea"/>
                    <a:cs typeface="+mn-cs"/>
                  </a:rPr>
                  <a:t>+15.6%​</a:t>
                </a:r>
              </a:p>
            </p:txBody>
          </p:sp>
          <p:sp>
            <p:nvSpPr>
              <p:cNvPr id="111" name="TextBox 111"/>
              <p:cNvSpPr txBox="1"/>
              <p:nvPr/>
            </p:nvSpPr>
            <p:spPr>
              <a:xfrm>
                <a:off x="4475892" y="2828211"/>
                <a:ext cx="230315" cy="140494"/>
              </a:xfrm>
              <a:prstGeom prst="rect">
                <a:avLst/>
              </a:prstGeom>
              <a:noFill/>
              <a:ln>
                <a:noFill/>
              </a:ln>
            </p:spPr>
            <p:txBody>
              <a:bodyPr wrap="none" lIns="0" tIns="0" rIns="0" bIns="0" anchor="t" anchorCtr="0">
                <a:spAutoFit/>
              </a:bodyPr>
              <a:lstStyle/>
              <a:p>
                <a:pPr algn="ctr"/>
                <a:r>
                  <a:rPr lang="zh-CN" sz="710" b="1" dirty="0">
                    <a:solidFill>
                      <a:srgbClr val="C24833"/>
                    </a:solidFill>
                    <a:latin typeface="+mn-lt"/>
                    <a:ea typeface="+mn-ea"/>
                    <a:cs typeface="+mn-cs"/>
                  </a:rPr>
                  <a:t>-28​</a:t>
                </a:r>
              </a:p>
            </p:txBody>
          </p:sp>
          <p:sp>
            <p:nvSpPr>
              <p:cNvPr id="112" name="TextBox 112"/>
              <p:cNvSpPr txBox="1"/>
              <p:nvPr/>
            </p:nvSpPr>
            <p:spPr>
              <a:xfrm>
                <a:off x="5185999" y="282821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190​</a:t>
                </a:r>
              </a:p>
            </p:txBody>
          </p:sp>
          <p:sp>
            <p:nvSpPr>
              <p:cNvPr id="113" name="TextBox 113"/>
              <p:cNvSpPr txBox="1"/>
              <p:nvPr/>
            </p:nvSpPr>
            <p:spPr>
              <a:xfrm>
                <a:off x="5867008" y="2828211"/>
                <a:ext cx="305585" cy="140494"/>
              </a:xfrm>
              <a:prstGeom prst="rect">
                <a:avLst/>
              </a:prstGeom>
              <a:noFill/>
              <a:ln>
                <a:noFill/>
              </a:ln>
            </p:spPr>
            <p:txBody>
              <a:bodyPr wrap="none" lIns="0" tIns="0" rIns="0" bIns="0" anchor="t" anchorCtr="0">
                <a:spAutoFit/>
              </a:bodyPr>
              <a:lstStyle/>
              <a:p>
                <a:pPr algn="ctr"/>
                <a:r>
                  <a:rPr lang="zh-CN" sz="710" b="1" dirty="0">
                    <a:solidFill>
                      <a:srgbClr val="9E402E"/>
                    </a:solidFill>
                    <a:latin typeface="+mn-lt"/>
                    <a:ea typeface="+mn-ea"/>
                    <a:cs typeface="+mn-cs"/>
                  </a:rPr>
                  <a:t>106%​</a:t>
                </a:r>
              </a:p>
            </p:txBody>
          </p:sp>
          <p:sp>
            <p:nvSpPr>
              <p:cNvPr id="114" name="Rectangle 114"/>
              <p:cNvSpPr/>
              <p:nvPr/>
            </p:nvSpPr>
            <p:spPr>
              <a:xfrm>
                <a:off x="342900" y="3028950"/>
                <a:ext cx="6191250" cy="323850"/>
              </a:xfrm>
              <a:prstGeom prst="rect">
                <a:avLst/>
              </a:prstGeom>
              <a:solidFill>
                <a:srgbClr val="FFFFFF"/>
              </a:solidFill>
              <a:ln w="7620">
                <a:solidFill>
                  <a:srgbClr val="D9E8E2"/>
                </a:solidFill>
              </a:ln>
            </p:spPr>
          </p:sp>
          <p:grpSp>
            <p:nvGrpSpPr>
              <p:cNvPr id="117" name="Group 117"/>
              <p:cNvGrpSpPr/>
              <p:nvPr/>
            </p:nvGrpSpPr>
            <p:grpSpPr>
              <a:xfrm>
                <a:off x="520700" y="3130550"/>
                <a:ext cx="101600" cy="101600"/>
                <a:chOff x="520700" y="3130550"/>
                <a:chExt cx="101600" cy="101600"/>
              </a:xfrm>
            </p:grpSpPr>
            <p:sp>
              <p:nvSpPr>
                <p:cNvPr id="115" name="Freeform 115"/>
                <p:cNvSpPr/>
                <p:nvPr/>
              </p:nvSpPr>
              <p:spPr>
                <a:xfrm>
                  <a:off x="520700" y="3130550"/>
                  <a:ext cx="95250" cy="101600"/>
                </a:xfrm>
                <a:custGeom>
                  <a:avLst/>
                  <a:gdLst/>
                  <a:ahLst/>
                  <a:cxnLst/>
                  <a:rect l="l" t="t" r="r" b="b"/>
                  <a:pathLst>
                    <a:path w="95250" h="101600">
                      <a:moveTo>
                        <a:pt x="82550" y="25400"/>
                      </a:moveTo>
                      <a:lnTo>
                        <a:pt x="82550" y="6350"/>
                      </a:lnTo>
                      <a:cubicBezTo>
                        <a:pt x="82550" y="2843"/>
                        <a:pt x="79707" y="0"/>
                        <a:pt x="76200" y="0"/>
                      </a:cubicBezTo>
                      <a:lnTo>
                        <a:pt x="12700" y="0"/>
                      </a:lnTo>
                      <a:cubicBezTo>
                        <a:pt x="5686" y="0"/>
                        <a:pt x="0" y="5686"/>
                        <a:pt x="0" y="12700"/>
                      </a:cubicBezTo>
                      <a:cubicBezTo>
                        <a:pt x="0" y="19714"/>
                        <a:pt x="5686" y="25400"/>
                        <a:pt x="12700" y="25400"/>
                      </a:cubicBezTo>
                      <a:lnTo>
                        <a:pt x="88900" y="25400"/>
                      </a:lnTo>
                      <a:cubicBezTo>
                        <a:pt x="92407" y="25400"/>
                        <a:pt x="95250" y="28243"/>
                        <a:pt x="95250" y="31750"/>
                      </a:cubicBezTo>
                      <a:lnTo>
                        <a:pt x="95250" y="50800"/>
                      </a:lnTo>
                      <a:moveTo>
                        <a:pt x="95250" y="76200"/>
                      </a:moveTo>
                      <a:lnTo>
                        <a:pt x="95250" y="95250"/>
                      </a:lnTo>
                      <a:cubicBezTo>
                        <a:pt x="95250" y="98757"/>
                        <a:pt x="92407" y="101600"/>
                        <a:pt x="88900" y="101600"/>
                      </a:cubicBezTo>
                      <a:lnTo>
                        <a:pt x="12700" y="101600"/>
                      </a:lnTo>
                      <a:cubicBezTo>
                        <a:pt x="5686" y="101600"/>
                        <a:pt x="0" y="95914"/>
                        <a:pt x="0" y="88900"/>
                      </a:cubicBezTo>
                      <a:lnTo>
                        <a:pt x="0" y="12700"/>
                      </a:lnTo>
                    </a:path>
                  </a:pathLst>
                </a:custGeom>
                <a:noFill/>
                <a:ln w="12700">
                  <a:solidFill>
                    <a:srgbClr val="5B180B"/>
                  </a:solidFill>
                </a:ln>
              </p:spPr>
            </p:sp>
            <p:sp>
              <p:nvSpPr>
                <p:cNvPr id="116" name="Freeform 116"/>
                <p:cNvSpPr/>
                <p:nvPr/>
              </p:nvSpPr>
              <p:spPr>
                <a:xfrm>
                  <a:off x="584200" y="3181350"/>
                  <a:ext cx="38100" cy="25400"/>
                </a:xfrm>
                <a:custGeom>
                  <a:avLst/>
                  <a:gdLst/>
                  <a:ahLst/>
                  <a:cxnLst/>
                  <a:rect l="l" t="t" r="r" b="b"/>
                  <a:pathLst>
                    <a:path w="38100" h="25400">
                      <a:moveTo>
                        <a:pt x="38100" y="0"/>
                      </a:moveTo>
                      <a:lnTo>
                        <a:pt x="38100" y="25400"/>
                      </a:lnTo>
                      <a:lnTo>
                        <a:pt x="12700" y="25400"/>
                      </a:lnTo>
                      <a:cubicBezTo>
                        <a:pt x="5686" y="25400"/>
                        <a:pt x="0" y="19714"/>
                        <a:pt x="0" y="12700"/>
                      </a:cubicBezTo>
                      <a:cubicBezTo>
                        <a:pt x="0" y="5686"/>
                        <a:pt x="5686" y="0"/>
                        <a:pt x="12700" y="0"/>
                      </a:cubicBezTo>
                      <a:lnTo>
                        <a:pt x="38100" y="0"/>
                      </a:lnTo>
                    </a:path>
                  </a:pathLst>
                </a:custGeom>
                <a:noFill/>
                <a:ln w="12700">
                  <a:solidFill>
                    <a:srgbClr val="5B180B"/>
                  </a:solidFill>
                </a:ln>
              </p:spPr>
            </p:sp>
          </p:grpSp>
          <p:sp>
            <p:nvSpPr>
              <p:cNvPr id="118" name="TextBox 118"/>
              <p:cNvSpPr txBox="1"/>
              <p:nvPr/>
            </p:nvSpPr>
            <p:spPr>
              <a:xfrm>
                <a:off x="642912" y="3143964"/>
                <a:ext cx="619175"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中收(亿元)​</a:t>
                </a:r>
              </a:p>
            </p:txBody>
          </p:sp>
          <p:sp>
            <p:nvSpPr>
              <p:cNvPr id="119" name="TextBox 119"/>
              <p:cNvSpPr txBox="1"/>
              <p:nvPr/>
            </p:nvSpPr>
            <p:spPr>
              <a:xfrm>
                <a:off x="1680799" y="315206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8.0​</a:t>
                </a:r>
              </a:p>
            </p:txBody>
          </p:sp>
          <p:sp>
            <p:nvSpPr>
              <p:cNvPr id="120" name="TextBox 120"/>
              <p:cNvSpPr txBox="1"/>
              <p:nvPr/>
            </p:nvSpPr>
            <p:spPr>
              <a:xfrm>
                <a:off x="2347549" y="315206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6.1​</a:t>
                </a:r>
              </a:p>
            </p:txBody>
          </p:sp>
          <p:sp>
            <p:nvSpPr>
              <p:cNvPr id="121" name="Rectangle 121"/>
              <p:cNvSpPr/>
              <p:nvPr/>
            </p:nvSpPr>
            <p:spPr>
              <a:xfrm>
                <a:off x="2876550" y="3086100"/>
                <a:ext cx="609600" cy="152400"/>
              </a:xfrm>
              <a:prstGeom prst="roundRect">
                <a:avLst>
                  <a:gd name="adj" fmla="val 50000"/>
                </a:avLst>
              </a:prstGeom>
              <a:solidFill>
                <a:srgbClr val="C5E0D8"/>
              </a:solidFill>
              <a:ln>
                <a:noFill/>
              </a:ln>
            </p:spPr>
          </p:sp>
          <p:sp>
            <p:nvSpPr>
              <p:cNvPr id="122" name="TextBox 122"/>
              <p:cNvSpPr txBox="1"/>
              <p:nvPr/>
            </p:nvSpPr>
            <p:spPr>
              <a:xfrm>
                <a:off x="3008380" y="3127534"/>
                <a:ext cx="345940" cy="133350"/>
              </a:xfrm>
              <a:prstGeom prst="rect">
                <a:avLst/>
              </a:prstGeom>
              <a:noFill/>
              <a:ln>
                <a:noFill/>
              </a:ln>
            </p:spPr>
            <p:txBody>
              <a:bodyPr wrap="none" lIns="0" tIns="0" rIns="0" bIns="0" anchor="t" anchorCtr="0">
                <a:spAutoFit/>
              </a:bodyPr>
              <a:lstStyle/>
              <a:p>
                <a:pPr algn="ctr"/>
                <a:r>
                  <a:rPr lang="zh-CN" sz="680" b="1" dirty="0">
                    <a:solidFill>
                      <a:srgbClr val="3B130B"/>
                    </a:solidFill>
                    <a:latin typeface="+mn-lt"/>
                    <a:ea typeface="+mn-ea"/>
                    <a:cs typeface="+mn-cs"/>
                  </a:rPr>
                  <a:t>76.3%​</a:t>
                </a:r>
              </a:p>
            </p:txBody>
          </p:sp>
          <p:sp>
            <p:nvSpPr>
              <p:cNvPr id="123" name="TextBox 123"/>
              <p:cNvSpPr txBox="1"/>
              <p:nvPr/>
            </p:nvSpPr>
            <p:spPr>
              <a:xfrm>
                <a:off x="3640110" y="3152061"/>
                <a:ext cx="415980" cy="140494"/>
              </a:xfrm>
              <a:prstGeom prst="rect">
                <a:avLst/>
              </a:prstGeom>
              <a:noFill/>
              <a:ln>
                <a:noFill/>
              </a:ln>
            </p:spPr>
            <p:txBody>
              <a:bodyPr wrap="none" lIns="0" tIns="0" rIns="0" bIns="0" anchor="t" anchorCtr="0">
                <a:spAutoFit/>
              </a:bodyPr>
              <a:lstStyle/>
              <a:p>
                <a:pPr algn="ctr"/>
                <a:r>
                  <a:rPr lang="zh-CN" sz="710" b="1" dirty="0">
                    <a:solidFill>
                      <a:srgbClr val="9E402E"/>
                    </a:solidFill>
                    <a:latin typeface="+mn-lt"/>
                    <a:ea typeface="+mn-ea"/>
                    <a:cs typeface="+mn-cs"/>
                  </a:rPr>
                  <a:t>+18.1%​</a:t>
                </a:r>
              </a:p>
            </p:txBody>
          </p:sp>
          <p:sp>
            <p:nvSpPr>
              <p:cNvPr id="124" name="TextBox 124"/>
              <p:cNvSpPr txBox="1"/>
              <p:nvPr/>
            </p:nvSpPr>
            <p:spPr>
              <a:xfrm>
                <a:off x="4448294" y="3152061"/>
                <a:ext cx="285513" cy="140494"/>
              </a:xfrm>
              <a:prstGeom prst="rect">
                <a:avLst/>
              </a:prstGeom>
              <a:noFill/>
              <a:ln>
                <a:noFill/>
              </a:ln>
            </p:spPr>
            <p:txBody>
              <a:bodyPr wrap="none" lIns="0" tIns="0" rIns="0" bIns="0" anchor="t" anchorCtr="0">
                <a:spAutoFit/>
              </a:bodyPr>
              <a:lstStyle/>
              <a:p>
                <a:pPr algn="ctr"/>
                <a:r>
                  <a:rPr lang="zh-CN" sz="710" b="1" dirty="0">
                    <a:solidFill>
                      <a:srgbClr val="C24833"/>
                    </a:solidFill>
                    <a:latin typeface="+mn-lt"/>
                    <a:ea typeface="+mn-ea"/>
                    <a:cs typeface="+mn-cs"/>
                  </a:rPr>
                  <a:t>-1.9​</a:t>
                </a:r>
              </a:p>
            </p:txBody>
          </p:sp>
          <p:sp>
            <p:nvSpPr>
              <p:cNvPr id="125" name="TextBox 125"/>
              <p:cNvSpPr txBox="1"/>
              <p:nvPr/>
            </p:nvSpPr>
            <p:spPr>
              <a:xfrm>
                <a:off x="5185999" y="315206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7.8​</a:t>
                </a:r>
              </a:p>
            </p:txBody>
          </p:sp>
          <p:sp>
            <p:nvSpPr>
              <p:cNvPr id="126" name="TextBox 126"/>
              <p:cNvSpPr txBox="1"/>
              <p:nvPr/>
            </p:nvSpPr>
            <p:spPr>
              <a:xfrm>
                <a:off x="5894606" y="3152061"/>
                <a:ext cx="250387" cy="140494"/>
              </a:xfrm>
              <a:prstGeom prst="rect">
                <a:avLst/>
              </a:prstGeom>
              <a:noFill/>
              <a:ln>
                <a:noFill/>
              </a:ln>
            </p:spPr>
            <p:txBody>
              <a:bodyPr wrap="none" lIns="0" tIns="0" rIns="0" bIns="0" anchor="t" anchorCtr="0">
                <a:spAutoFit/>
              </a:bodyPr>
              <a:lstStyle/>
              <a:p>
                <a:pPr algn="ctr"/>
                <a:r>
                  <a:rPr lang="zh-CN" sz="710" b="1" dirty="0">
                    <a:solidFill>
                      <a:srgbClr val="5B180B"/>
                    </a:solidFill>
                    <a:latin typeface="+mn-lt"/>
                    <a:ea typeface="+mn-ea"/>
                    <a:cs typeface="+mn-cs"/>
                  </a:rPr>
                  <a:t>98%​</a:t>
                </a:r>
              </a:p>
            </p:txBody>
          </p:sp>
          <p:sp>
            <p:nvSpPr>
              <p:cNvPr id="127" name="Rectangle 127"/>
              <p:cNvSpPr/>
              <p:nvPr/>
            </p:nvSpPr>
            <p:spPr>
              <a:xfrm>
                <a:off x="342900" y="3352800"/>
                <a:ext cx="6191250" cy="323850"/>
              </a:xfrm>
              <a:prstGeom prst="rect">
                <a:avLst/>
              </a:prstGeom>
              <a:solidFill>
                <a:srgbClr val="F7FBF9"/>
              </a:solidFill>
              <a:ln w="7620">
                <a:solidFill>
                  <a:srgbClr val="D9E8E2"/>
                </a:solidFill>
              </a:ln>
            </p:spPr>
          </p:sp>
          <p:grpSp>
            <p:nvGrpSpPr>
              <p:cNvPr id="136" name="Group 136"/>
              <p:cNvGrpSpPr/>
              <p:nvPr/>
            </p:nvGrpSpPr>
            <p:grpSpPr>
              <a:xfrm>
                <a:off x="514350" y="3448050"/>
                <a:ext cx="117475" cy="123825"/>
                <a:chOff x="514350" y="3448050"/>
                <a:chExt cx="117475" cy="123825"/>
              </a:xfrm>
            </p:grpSpPr>
            <p:sp>
              <p:nvSpPr>
                <p:cNvPr id="128" name="Freeform 128"/>
                <p:cNvSpPr/>
                <p:nvPr/>
              </p:nvSpPr>
              <p:spPr>
                <a:xfrm>
                  <a:off x="514350" y="3562350"/>
                  <a:ext cx="114300" cy="9525"/>
                </a:xfrm>
                <a:custGeom>
                  <a:avLst/>
                  <a:gdLst/>
                  <a:ahLst/>
                  <a:cxnLst/>
                  <a:rect l="l" t="t" r="r" b="b"/>
                  <a:pathLst>
                    <a:path w="114300" h="9525">
                      <a:moveTo>
                        <a:pt x="0" y="0"/>
                      </a:moveTo>
                      <a:lnTo>
                        <a:pt x="114300" y="0"/>
                      </a:lnTo>
                    </a:path>
                  </a:pathLst>
                </a:custGeom>
                <a:noFill/>
                <a:ln w="12700">
                  <a:solidFill>
                    <a:srgbClr val="5B180B"/>
                  </a:solidFill>
                </a:ln>
              </p:spPr>
            </p:sp>
            <p:sp>
              <p:nvSpPr>
                <p:cNvPr id="129" name="Freeform 129"/>
                <p:cNvSpPr/>
                <p:nvPr/>
              </p:nvSpPr>
              <p:spPr>
                <a:xfrm>
                  <a:off x="514350" y="3492500"/>
                  <a:ext cx="114300" cy="9525"/>
                </a:xfrm>
                <a:custGeom>
                  <a:avLst/>
                  <a:gdLst/>
                  <a:ahLst/>
                  <a:cxnLst/>
                  <a:rect l="l" t="t" r="r" b="b"/>
                  <a:pathLst>
                    <a:path w="114300" h="9525">
                      <a:moveTo>
                        <a:pt x="0" y="0"/>
                      </a:moveTo>
                      <a:lnTo>
                        <a:pt x="114300" y="0"/>
                      </a:lnTo>
                    </a:path>
                  </a:pathLst>
                </a:custGeom>
                <a:noFill/>
                <a:ln w="12700">
                  <a:solidFill>
                    <a:srgbClr val="5B180B"/>
                  </a:solidFill>
                </a:ln>
              </p:spPr>
            </p:sp>
            <p:sp>
              <p:nvSpPr>
                <p:cNvPr id="130" name="Freeform 130"/>
                <p:cNvSpPr/>
                <p:nvPr/>
              </p:nvSpPr>
              <p:spPr>
                <a:xfrm>
                  <a:off x="527050" y="3448050"/>
                  <a:ext cx="88900" cy="19050"/>
                </a:xfrm>
                <a:custGeom>
                  <a:avLst/>
                  <a:gdLst/>
                  <a:ahLst/>
                  <a:cxnLst/>
                  <a:rect l="l" t="t" r="r" b="b"/>
                  <a:pathLst>
                    <a:path w="88900" h="19050">
                      <a:moveTo>
                        <a:pt x="0" y="19050"/>
                      </a:moveTo>
                      <a:lnTo>
                        <a:pt x="44450" y="0"/>
                      </a:lnTo>
                      <a:lnTo>
                        <a:pt x="88900" y="19050"/>
                      </a:lnTo>
                    </a:path>
                  </a:pathLst>
                </a:custGeom>
                <a:noFill/>
                <a:ln w="12700">
                  <a:solidFill>
                    <a:srgbClr val="5B180B"/>
                  </a:solidFill>
                </a:ln>
              </p:spPr>
            </p:sp>
            <p:sp>
              <p:nvSpPr>
                <p:cNvPr id="131" name="Freeform 131"/>
                <p:cNvSpPr/>
                <p:nvPr/>
              </p:nvSpPr>
              <p:spPr>
                <a:xfrm>
                  <a:off x="520700" y="3492500"/>
                  <a:ext cx="9525" cy="69850"/>
                </a:xfrm>
                <a:custGeom>
                  <a:avLst/>
                  <a:gdLst/>
                  <a:ahLst/>
                  <a:cxnLst/>
                  <a:rect l="l" t="t" r="r" b="b"/>
                  <a:pathLst>
                    <a:path w="9525" h="69850">
                      <a:moveTo>
                        <a:pt x="0" y="0"/>
                      </a:moveTo>
                      <a:lnTo>
                        <a:pt x="0" y="69850"/>
                      </a:lnTo>
                    </a:path>
                  </a:pathLst>
                </a:custGeom>
                <a:noFill/>
                <a:ln w="12700">
                  <a:solidFill>
                    <a:srgbClr val="5B180B"/>
                  </a:solidFill>
                </a:ln>
              </p:spPr>
            </p:sp>
            <p:sp>
              <p:nvSpPr>
                <p:cNvPr id="132" name="Freeform 132"/>
                <p:cNvSpPr/>
                <p:nvPr/>
              </p:nvSpPr>
              <p:spPr>
                <a:xfrm>
                  <a:off x="622300" y="3492500"/>
                  <a:ext cx="9525" cy="69850"/>
                </a:xfrm>
                <a:custGeom>
                  <a:avLst/>
                  <a:gdLst/>
                  <a:ahLst/>
                  <a:cxnLst/>
                  <a:rect l="l" t="t" r="r" b="b"/>
                  <a:pathLst>
                    <a:path w="9525" h="69850">
                      <a:moveTo>
                        <a:pt x="0" y="0"/>
                      </a:moveTo>
                      <a:lnTo>
                        <a:pt x="0" y="69850"/>
                      </a:lnTo>
                    </a:path>
                  </a:pathLst>
                </a:custGeom>
                <a:noFill/>
                <a:ln w="12700">
                  <a:solidFill>
                    <a:srgbClr val="5B180B"/>
                  </a:solidFill>
                </a:ln>
              </p:spPr>
            </p:sp>
            <p:sp>
              <p:nvSpPr>
                <p:cNvPr id="133" name="Freeform 133"/>
                <p:cNvSpPr/>
                <p:nvPr/>
              </p:nvSpPr>
              <p:spPr>
                <a:xfrm>
                  <a:off x="546100" y="3517900"/>
                  <a:ext cx="9525" cy="19050"/>
                </a:xfrm>
                <a:custGeom>
                  <a:avLst/>
                  <a:gdLst/>
                  <a:ahLst/>
                  <a:cxnLst/>
                  <a:rect l="l" t="t" r="r" b="b"/>
                  <a:pathLst>
                    <a:path w="9525" h="19050">
                      <a:moveTo>
                        <a:pt x="0" y="0"/>
                      </a:moveTo>
                      <a:lnTo>
                        <a:pt x="0" y="19050"/>
                      </a:lnTo>
                    </a:path>
                  </a:pathLst>
                </a:custGeom>
                <a:noFill/>
                <a:ln w="12700">
                  <a:solidFill>
                    <a:srgbClr val="5B180B"/>
                  </a:solidFill>
                </a:ln>
              </p:spPr>
            </p:sp>
            <p:sp>
              <p:nvSpPr>
                <p:cNvPr id="134" name="Freeform 134"/>
                <p:cNvSpPr/>
                <p:nvPr/>
              </p:nvSpPr>
              <p:spPr>
                <a:xfrm>
                  <a:off x="571500" y="3517900"/>
                  <a:ext cx="9525" cy="19050"/>
                </a:xfrm>
                <a:custGeom>
                  <a:avLst/>
                  <a:gdLst/>
                  <a:ahLst/>
                  <a:cxnLst/>
                  <a:rect l="l" t="t" r="r" b="b"/>
                  <a:pathLst>
                    <a:path w="9525" h="19050">
                      <a:moveTo>
                        <a:pt x="0" y="0"/>
                      </a:moveTo>
                      <a:lnTo>
                        <a:pt x="0" y="19050"/>
                      </a:lnTo>
                    </a:path>
                  </a:pathLst>
                </a:custGeom>
                <a:noFill/>
                <a:ln w="12700">
                  <a:solidFill>
                    <a:srgbClr val="5B180B"/>
                  </a:solidFill>
                </a:ln>
              </p:spPr>
            </p:sp>
            <p:sp>
              <p:nvSpPr>
                <p:cNvPr id="135" name="Freeform 135"/>
                <p:cNvSpPr/>
                <p:nvPr/>
              </p:nvSpPr>
              <p:spPr>
                <a:xfrm>
                  <a:off x="596900" y="3517900"/>
                  <a:ext cx="9525" cy="19050"/>
                </a:xfrm>
                <a:custGeom>
                  <a:avLst/>
                  <a:gdLst/>
                  <a:ahLst/>
                  <a:cxnLst/>
                  <a:rect l="l" t="t" r="r" b="b"/>
                  <a:pathLst>
                    <a:path w="9525" h="19050">
                      <a:moveTo>
                        <a:pt x="0" y="0"/>
                      </a:moveTo>
                      <a:lnTo>
                        <a:pt x="0" y="19050"/>
                      </a:lnTo>
                    </a:path>
                  </a:pathLst>
                </a:custGeom>
                <a:noFill/>
                <a:ln w="12700">
                  <a:solidFill>
                    <a:srgbClr val="5B180B"/>
                  </a:solidFill>
                </a:ln>
              </p:spPr>
            </p:sp>
          </p:grpSp>
          <p:sp>
            <p:nvSpPr>
              <p:cNvPr id="137" name="TextBox 137"/>
              <p:cNvSpPr txBox="1"/>
              <p:nvPr/>
            </p:nvSpPr>
            <p:spPr>
              <a:xfrm>
                <a:off x="642912" y="3467814"/>
                <a:ext cx="619175"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贷款(亿元)​</a:t>
                </a:r>
              </a:p>
            </p:txBody>
          </p:sp>
          <p:sp>
            <p:nvSpPr>
              <p:cNvPr id="138" name="TextBox 138"/>
              <p:cNvSpPr txBox="1"/>
              <p:nvPr/>
            </p:nvSpPr>
            <p:spPr>
              <a:xfrm>
                <a:off x="1680799" y="347591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150​</a:t>
                </a:r>
              </a:p>
            </p:txBody>
          </p:sp>
          <p:sp>
            <p:nvSpPr>
              <p:cNvPr id="139" name="TextBox 139"/>
              <p:cNvSpPr txBox="1"/>
              <p:nvPr/>
            </p:nvSpPr>
            <p:spPr>
              <a:xfrm>
                <a:off x="2347549" y="347591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123​</a:t>
                </a:r>
              </a:p>
            </p:txBody>
          </p:sp>
          <p:sp>
            <p:nvSpPr>
              <p:cNvPr id="140" name="Rectangle 140"/>
              <p:cNvSpPr/>
              <p:nvPr/>
            </p:nvSpPr>
            <p:spPr>
              <a:xfrm>
                <a:off x="2876550" y="3409950"/>
                <a:ext cx="609600" cy="152400"/>
              </a:xfrm>
              <a:prstGeom prst="roundRect">
                <a:avLst>
                  <a:gd name="adj" fmla="val 50000"/>
                </a:avLst>
              </a:prstGeom>
              <a:solidFill>
                <a:srgbClr val="C9988F"/>
              </a:solidFill>
              <a:ln>
                <a:noFill/>
              </a:ln>
            </p:spPr>
          </p:sp>
          <p:sp>
            <p:nvSpPr>
              <p:cNvPr id="141" name="TextBox 141"/>
              <p:cNvSpPr txBox="1"/>
              <p:nvPr/>
            </p:nvSpPr>
            <p:spPr>
              <a:xfrm>
                <a:off x="3008380" y="3451384"/>
                <a:ext cx="3459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82.0%​</a:t>
                </a:r>
              </a:p>
            </p:txBody>
          </p:sp>
          <p:sp>
            <p:nvSpPr>
              <p:cNvPr id="142" name="TextBox 142"/>
              <p:cNvSpPr txBox="1"/>
              <p:nvPr/>
            </p:nvSpPr>
            <p:spPr>
              <a:xfrm>
                <a:off x="3640110" y="3475911"/>
                <a:ext cx="415980" cy="140494"/>
              </a:xfrm>
              <a:prstGeom prst="rect">
                <a:avLst/>
              </a:prstGeom>
              <a:noFill/>
              <a:ln>
                <a:noFill/>
              </a:ln>
            </p:spPr>
            <p:txBody>
              <a:bodyPr wrap="none" lIns="0" tIns="0" rIns="0" bIns="0" anchor="t" anchorCtr="0">
                <a:spAutoFit/>
              </a:bodyPr>
              <a:lstStyle/>
              <a:p>
                <a:pPr algn="ctr"/>
                <a:r>
                  <a:rPr lang="zh-CN" sz="710" b="1" dirty="0">
                    <a:solidFill>
                      <a:srgbClr val="9E402E"/>
                    </a:solidFill>
                    <a:latin typeface="+mn-lt"/>
                    <a:ea typeface="+mn-ea"/>
                    <a:cs typeface="+mn-cs"/>
                  </a:rPr>
                  <a:t>+10.3%​</a:t>
                </a:r>
              </a:p>
            </p:txBody>
          </p:sp>
          <p:sp>
            <p:nvSpPr>
              <p:cNvPr id="143" name="TextBox 143"/>
              <p:cNvSpPr txBox="1"/>
              <p:nvPr/>
            </p:nvSpPr>
            <p:spPr>
              <a:xfrm>
                <a:off x="4475892" y="3475911"/>
                <a:ext cx="230315" cy="140494"/>
              </a:xfrm>
              <a:prstGeom prst="rect">
                <a:avLst/>
              </a:prstGeom>
              <a:noFill/>
              <a:ln>
                <a:noFill/>
              </a:ln>
            </p:spPr>
            <p:txBody>
              <a:bodyPr wrap="none" lIns="0" tIns="0" rIns="0" bIns="0" anchor="t" anchorCtr="0">
                <a:spAutoFit/>
              </a:bodyPr>
              <a:lstStyle/>
              <a:p>
                <a:pPr algn="ctr"/>
                <a:r>
                  <a:rPr lang="zh-CN" sz="710" b="1" dirty="0">
                    <a:solidFill>
                      <a:srgbClr val="C24833"/>
                    </a:solidFill>
                    <a:latin typeface="+mn-lt"/>
                    <a:ea typeface="+mn-ea"/>
                    <a:cs typeface="+mn-cs"/>
                  </a:rPr>
                  <a:t>-27​</a:t>
                </a:r>
              </a:p>
            </p:txBody>
          </p:sp>
          <p:sp>
            <p:nvSpPr>
              <p:cNvPr id="144" name="TextBox 144"/>
              <p:cNvSpPr txBox="1"/>
              <p:nvPr/>
            </p:nvSpPr>
            <p:spPr>
              <a:xfrm>
                <a:off x="5185999" y="3475911"/>
                <a:ext cx="219801"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147​</a:t>
                </a:r>
              </a:p>
            </p:txBody>
          </p:sp>
          <p:sp>
            <p:nvSpPr>
              <p:cNvPr id="145" name="TextBox 145"/>
              <p:cNvSpPr txBox="1"/>
              <p:nvPr/>
            </p:nvSpPr>
            <p:spPr>
              <a:xfrm>
                <a:off x="5894606" y="3475911"/>
                <a:ext cx="250387" cy="140494"/>
              </a:xfrm>
              <a:prstGeom prst="rect">
                <a:avLst/>
              </a:prstGeom>
              <a:noFill/>
              <a:ln>
                <a:noFill/>
              </a:ln>
            </p:spPr>
            <p:txBody>
              <a:bodyPr wrap="none" lIns="0" tIns="0" rIns="0" bIns="0" anchor="t" anchorCtr="0">
                <a:spAutoFit/>
              </a:bodyPr>
              <a:lstStyle/>
              <a:p>
                <a:pPr algn="ctr"/>
                <a:r>
                  <a:rPr lang="zh-CN" sz="710" b="1" dirty="0">
                    <a:solidFill>
                      <a:srgbClr val="5B180B"/>
                    </a:solidFill>
                    <a:latin typeface="+mn-lt"/>
                    <a:ea typeface="+mn-ea"/>
                    <a:cs typeface="+mn-cs"/>
                  </a:rPr>
                  <a:t>98%​</a:t>
                </a:r>
              </a:p>
            </p:txBody>
          </p:sp>
          <p:sp>
            <p:nvSpPr>
              <p:cNvPr id="146" name="Rectangle 146"/>
              <p:cNvSpPr/>
              <p:nvPr/>
            </p:nvSpPr>
            <p:spPr>
              <a:xfrm>
                <a:off x="342900" y="3676650"/>
                <a:ext cx="6191250" cy="323850"/>
              </a:xfrm>
              <a:prstGeom prst="rect">
                <a:avLst/>
              </a:prstGeom>
              <a:solidFill>
                <a:srgbClr val="FFFFFF"/>
              </a:solidFill>
              <a:ln w="7620">
                <a:solidFill>
                  <a:srgbClr val="D9E8E2"/>
                </a:solidFill>
              </a:ln>
            </p:spPr>
          </p:sp>
          <p:grpSp>
            <p:nvGrpSpPr>
              <p:cNvPr id="151" name="Group 151"/>
              <p:cNvGrpSpPr/>
              <p:nvPr/>
            </p:nvGrpSpPr>
            <p:grpSpPr>
              <a:xfrm>
                <a:off x="514350" y="3771900"/>
                <a:ext cx="114300" cy="114301"/>
                <a:chOff x="514350" y="3771900"/>
                <a:chExt cx="114300" cy="114301"/>
              </a:xfrm>
            </p:grpSpPr>
            <p:sp>
              <p:nvSpPr>
                <p:cNvPr id="147" name="Freeform 147"/>
                <p:cNvSpPr/>
                <p:nvPr/>
              </p:nvSpPr>
              <p:spPr>
                <a:xfrm>
                  <a:off x="527050" y="37719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5B180B"/>
                  </a:solidFill>
                </a:ln>
              </p:spPr>
            </p:sp>
            <p:sp>
              <p:nvSpPr>
                <p:cNvPr id="148" name="Freeform 148"/>
                <p:cNvSpPr/>
                <p:nvPr/>
              </p:nvSpPr>
              <p:spPr>
                <a:xfrm>
                  <a:off x="514350" y="38481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5B180B"/>
                  </a:solidFill>
                </a:ln>
              </p:spPr>
            </p:sp>
            <p:sp>
              <p:nvSpPr>
                <p:cNvPr id="149" name="Freeform 149"/>
                <p:cNvSpPr/>
                <p:nvPr/>
              </p:nvSpPr>
              <p:spPr>
                <a:xfrm>
                  <a:off x="596900" y="37727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5B180B"/>
                  </a:solidFill>
                </a:ln>
              </p:spPr>
            </p:sp>
            <p:sp>
              <p:nvSpPr>
                <p:cNvPr id="150" name="Freeform 150"/>
                <p:cNvSpPr/>
                <p:nvPr/>
              </p:nvSpPr>
              <p:spPr>
                <a:xfrm>
                  <a:off x="609600" y="38490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5B180B"/>
                  </a:solidFill>
                </a:ln>
              </p:spPr>
            </p:sp>
          </p:grpSp>
          <p:sp>
            <p:nvSpPr>
              <p:cNvPr id="152" name="TextBox 152"/>
              <p:cNvSpPr txBox="1"/>
              <p:nvPr/>
            </p:nvSpPr>
            <p:spPr>
              <a:xfrm>
                <a:off x="589737" y="3791664"/>
                <a:ext cx="725525"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新增客户(户)​</a:t>
                </a:r>
              </a:p>
            </p:txBody>
          </p:sp>
          <p:sp>
            <p:nvSpPr>
              <p:cNvPr id="153" name="TextBox 153"/>
              <p:cNvSpPr txBox="1"/>
              <p:nvPr/>
            </p:nvSpPr>
            <p:spPr>
              <a:xfrm>
                <a:off x="1601946" y="3799761"/>
                <a:ext cx="377509"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12,000​</a:t>
                </a:r>
              </a:p>
            </p:txBody>
          </p:sp>
          <p:sp>
            <p:nvSpPr>
              <p:cNvPr id="154" name="TextBox 154"/>
              <p:cNvSpPr txBox="1"/>
              <p:nvPr/>
            </p:nvSpPr>
            <p:spPr>
              <a:xfrm>
                <a:off x="2294980" y="3799761"/>
                <a:ext cx="324940"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9,860​</a:t>
                </a:r>
              </a:p>
            </p:txBody>
          </p:sp>
          <p:sp>
            <p:nvSpPr>
              <p:cNvPr id="155" name="Rectangle 155"/>
              <p:cNvSpPr/>
              <p:nvPr/>
            </p:nvSpPr>
            <p:spPr>
              <a:xfrm>
                <a:off x="2876550" y="3733800"/>
                <a:ext cx="609600" cy="152400"/>
              </a:xfrm>
              <a:prstGeom prst="roundRect">
                <a:avLst>
                  <a:gd name="adj" fmla="val 50000"/>
                </a:avLst>
              </a:prstGeom>
              <a:solidFill>
                <a:srgbClr val="C9988F"/>
              </a:solidFill>
              <a:ln>
                <a:noFill/>
              </a:ln>
            </p:spPr>
          </p:sp>
          <p:sp>
            <p:nvSpPr>
              <p:cNvPr id="156" name="TextBox 156"/>
              <p:cNvSpPr txBox="1"/>
              <p:nvPr/>
            </p:nvSpPr>
            <p:spPr>
              <a:xfrm>
                <a:off x="3008380" y="3775234"/>
                <a:ext cx="3459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82.2%​</a:t>
                </a:r>
              </a:p>
            </p:txBody>
          </p:sp>
          <p:sp>
            <p:nvSpPr>
              <p:cNvPr id="157" name="TextBox 157"/>
              <p:cNvSpPr txBox="1"/>
              <p:nvPr/>
            </p:nvSpPr>
            <p:spPr>
              <a:xfrm>
                <a:off x="3640110" y="3799761"/>
                <a:ext cx="415980" cy="140494"/>
              </a:xfrm>
              <a:prstGeom prst="rect">
                <a:avLst/>
              </a:prstGeom>
              <a:noFill/>
              <a:ln>
                <a:noFill/>
              </a:ln>
            </p:spPr>
            <p:txBody>
              <a:bodyPr wrap="none" lIns="0" tIns="0" rIns="0" bIns="0" anchor="t" anchorCtr="0">
                <a:spAutoFit/>
              </a:bodyPr>
              <a:lstStyle/>
              <a:p>
                <a:pPr algn="ctr"/>
                <a:r>
                  <a:rPr lang="zh-CN" sz="710" b="1" dirty="0">
                    <a:solidFill>
                      <a:srgbClr val="9E402E"/>
                    </a:solidFill>
                    <a:latin typeface="+mn-lt"/>
                    <a:ea typeface="+mn-ea"/>
                    <a:cs typeface="+mn-cs"/>
                  </a:rPr>
                  <a:t>+22.4%​</a:t>
                </a:r>
              </a:p>
            </p:txBody>
          </p:sp>
          <p:sp>
            <p:nvSpPr>
              <p:cNvPr id="158" name="TextBox 158"/>
              <p:cNvSpPr txBox="1"/>
              <p:nvPr/>
            </p:nvSpPr>
            <p:spPr>
              <a:xfrm>
                <a:off x="4393096" y="3799761"/>
                <a:ext cx="395908" cy="140494"/>
              </a:xfrm>
              <a:prstGeom prst="rect">
                <a:avLst/>
              </a:prstGeom>
              <a:noFill/>
              <a:ln>
                <a:noFill/>
              </a:ln>
            </p:spPr>
            <p:txBody>
              <a:bodyPr wrap="none" lIns="0" tIns="0" rIns="0" bIns="0" anchor="t" anchorCtr="0">
                <a:spAutoFit/>
              </a:bodyPr>
              <a:lstStyle/>
              <a:p>
                <a:pPr algn="ctr"/>
                <a:r>
                  <a:rPr lang="zh-CN" sz="710" b="1" dirty="0">
                    <a:solidFill>
                      <a:srgbClr val="C24833"/>
                    </a:solidFill>
                    <a:latin typeface="+mn-lt"/>
                    <a:ea typeface="+mn-ea"/>
                    <a:cs typeface="+mn-cs"/>
                  </a:rPr>
                  <a:t>-2,140​</a:t>
                </a:r>
              </a:p>
            </p:txBody>
          </p:sp>
          <p:sp>
            <p:nvSpPr>
              <p:cNvPr id="159" name="TextBox 159"/>
              <p:cNvSpPr txBox="1"/>
              <p:nvPr/>
            </p:nvSpPr>
            <p:spPr>
              <a:xfrm>
                <a:off x="5107146" y="3799761"/>
                <a:ext cx="377509" cy="140494"/>
              </a:xfrm>
              <a:prstGeom prst="rect">
                <a:avLst/>
              </a:prstGeom>
              <a:noFill/>
              <a:ln>
                <a:noFill/>
              </a:ln>
            </p:spPr>
            <p:txBody>
              <a:bodyPr wrap="none" lIns="0" tIns="0" rIns="0" bIns="0" anchor="t" anchorCtr="0">
                <a:spAutoFit/>
              </a:bodyPr>
              <a:lstStyle/>
              <a:p>
                <a:pPr algn="ctr"/>
                <a:r>
                  <a:rPr lang="zh-CN" sz="710" dirty="0">
                    <a:solidFill>
                      <a:srgbClr val="4A3D3A"/>
                    </a:solidFill>
                    <a:latin typeface="+mn-lt"/>
                    <a:ea typeface="+mn-ea"/>
                    <a:cs typeface="+mn-cs"/>
                  </a:rPr>
                  <a:t>11,800​</a:t>
                </a:r>
              </a:p>
            </p:txBody>
          </p:sp>
          <p:sp>
            <p:nvSpPr>
              <p:cNvPr id="160" name="TextBox 160"/>
              <p:cNvSpPr txBox="1"/>
              <p:nvPr/>
            </p:nvSpPr>
            <p:spPr>
              <a:xfrm>
                <a:off x="5894606" y="3799761"/>
                <a:ext cx="250387" cy="140494"/>
              </a:xfrm>
              <a:prstGeom prst="rect">
                <a:avLst/>
              </a:prstGeom>
              <a:noFill/>
              <a:ln>
                <a:noFill/>
              </a:ln>
            </p:spPr>
            <p:txBody>
              <a:bodyPr wrap="none" lIns="0" tIns="0" rIns="0" bIns="0" anchor="t" anchorCtr="0">
                <a:spAutoFit/>
              </a:bodyPr>
              <a:lstStyle/>
              <a:p>
                <a:pPr algn="ctr"/>
                <a:r>
                  <a:rPr lang="zh-CN" sz="710" b="1" dirty="0">
                    <a:solidFill>
                      <a:srgbClr val="5B180B"/>
                    </a:solidFill>
                    <a:latin typeface="+mn-lt"/>
                    <a:ea typeface="+mn-ea"/>
                    <a:cs typeface="+mn-cs"/>
                  </a:rPr>
                  <a:t>98%​</a:t>
                </a:r>
              </a:p>
            </p:txBody>
          </p:sp>
        </p:grpSp>
      </p:grpSp>
      <p:grpSp>
        <p:nvGrpSpPr>
          <p:cNvPr id="216" name="warn-card"/>
          <p:cNvGrpSpPr/>
          <p:nvPr/>
        </p:nvGrpSpPr>
        <p:grpSpPr>
          <a:xfrm>
            <a:off x="6781800" y="1809750"/>
            <a:ext cx="5181600" cy="2324100"/>
            <a:chOff x="6781800" y="1809750"/>
            <a:chExt cx="5181600" cy="2324100"/>
          </a:xfrm>
        </p:grpSpPr>
        <p:sp>
          <p:nvSpPr>
            <p:cNvPr id="163" name="Rectangle 163"/>
            <p:cNvSpPr/>
            <p:nvPr/>
          </p:nvSpPr>
          <p:spPr>
            <a:xfrm>
              <a:off x="6781800" y="1809750"/>
              <a:ext cx="5181600" cy="2324100"/>
            </a:xfrm>
            <a:prstGeom prst="roundRect">
              <a:avLst>
                <a:gd name="adj" fmla="val 4098"/>
              </a:avLst>
            </a:prstGeom>
            <a:solidFill>
              <a:srgbClr val="F5FAF8"/>
            </a:solidFill>
            <a:ln w="9525">
              <a:solidFill>
                <a:srgbClr val="D9E8E2"/>
              </a:solidFill>
            </a:ln>
          </p:spPr>
        </p:sp>
        <p:sp>
          <p:nvSpPr>
            <p:cNvPr id="164" name="Rectangle 164"/>
            <p:cNvSpPr/>
            <p:nvPr/>
          </p:nvSpPr>
          <p:spPr>
            <a:xfrm>
              <a:off x="6781800" y="1809750"/>
              <a:ext cx="1524000" cy="228600"/>
            </a:xfrm>
            <a:prstGeom prst="roundRect">
              <a:avLst>
                <a:gd name="adj" fmla="val 16667"/>
              </a:avLst>
            </a:prstGeom>
            <a:solidFill>
              <a:srgbClr val="5B180B"/>
            </a:solidFill>
            <a:ln>
              <a:noFill/>
            </a:ln>
          </p:spPr>
        </p:sp>
        <p:sp>
          <p:nvSpPr>
            <p:cNvPr id="165" name="TextBox 165"/>
            <p:cNvSpPr txBox="1"/>
            <p:nvPr/>
          </p:nvSpPr>
          <p:spPr>
            <a:xfrm>
              <a:off x="6891338" y="1878568"/>
              <a:ext cx="1118343"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预警监控与纠偏策略​</a:t>
              </a:r>
            </a:p>
          </p:txBody>
        </p:sp>
        <p:grpSp>
          <p:nvGrpSpPr>
            <p:cNvPr id="171" name="Group 171"/>
            <p:cNvGrpSpPr/>
            <p:nvPr/>
          </p:nvGrpSpPr>
          <p:grpSpPr>
            <a:xfrm>
              <a:off x="6877050" y="2114550"/>
              <a:ext cx="4991100" cy="228600"/>
              <a:chOff x="6877050" y="2114550"/>
              <a:chExt cx="4991100" cy="228600"/>
            </a:xfrm>
          </p:grpSpPr>
          <p:sp>
            <p:nvSpPr>
              <p:cNvPr id="166" name="Rectangle 166"/>
              <p:cNvSpPr/>
              <p:nvPr/>
            </p:nvSpPr>
            <p:spPr>
              <a:xfrm>
                <a:off x="6877050" y="2114550"/>
                <a:ext cx="4991100" cy="228600"/>
              </a:xfrm>
              <a:prstGeom prst="rect">
                <a:avLst/>
              </a:prstGeom>
              <a:solidFill>
                <a:srgbClr val="722617"/>
              </a:solidFill>
              <a:ln>
                <a:noFill/>
              </a:ln>
            </p:spPr>
          </p:sp>
          <p:sp>
            <p:nvSpPr>
              <p:cNvPr id="167" name="TextBox 167"/>
              <p:cNvSpPr txBox="1"/>
              <p:nvPr/>
            </p:nvSpPr>
            <p:spPr>
              <a:xfrm>
                <a:off x="7040063" y="2194084"/>
                <a:ext cx="245473"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指标​</a:t>
                </a:r>
              </a:p>
            </p:txBody>
          </p:sp>
          <p:sp>
            <p:nvSpPr>
              <p:cNvPr id="168" name="TextBox 168"/>
              <p:cNvSpPr txBox="1"/>
              <p:nvPr/>
            </p:nvSpPr>
            <p:spPr>
              <a:xfrm>
                <a:off x="7520022" y="2194084"/>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预警状态​</a:t>
                </a:r>
              </a:p>
            </p:txBody>
          </p:sp>
          <p:sp>
            <p:nvSpPr>
              <p:cNvPr id="169" name="TextBox 169"/>
              <p:cNvSpPr txBox="1"/>
              <p:nvPr/>
            </p:nvSpPr>
            <p:spPr>
              <a:xfrm>
                <a:off x="8377272" y="2194084"/>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主要问题​</a:t>
                </a:r>
              </a:p>
            </p:txBody>
          </p:sp>
          <p:sp>
            <p:nvSpPr>
              <p:cNvPr id="170" name="TextBox 170"/>
              <p:cNvSpPr txBox="1"/>
              <p:nvPr/>
            </p:nvSpPr>
            <p:spPr>
              <a:xfrm>
                <a:off x="10282272" y="2194084"/>
                <a:ext cx="428557"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纠偏策略​</a:t>
                </a:r>
              </a:p>
            </p:txBody>
          </p:sp>
        </p:grpSp>
        <p:grpSp>
          <p:nvGrpSpPr>
            <p:cNvPr id="207" name="warn-rows"/>
            <p:cNvGrpSpPr/>
            <p:nvPr/>
          </p:nvGrpSpPr>
          <p:grpSpPr>
            <a:xfrm>
              <a:off x="6877050" y="2343150"/>
              <a:ext cx="4991100" cy="1352788"/>
              <a:chOff x="6877050" y="2343150"/>
              <a:chExt cx="4991100" cy="1352788"/>
            </a:xfrm>
          </p:grpSpPr>
          <p:sp>
            <p:nvSpPr>
              <p:cNvPr id="172" name="Rectangle 172"/>
              <p:cNvSpPr/>
              <p:nvPr/>
            </p:nvSpPr>
            <p:spPr>
              <a:xfrm>
                <a:off x="6877050" y="2343150"/>
                <a:ext cx="4991100" cy="266700"/>
              </a:xfrm>
              <a:prstGeom prst="rect">
                <a:avLst/>
              </a:prstGeom>
              <a:solidFill>
                <a:srgbClr val="FFFFFF"/>
              </a:solidFill>
              <a:ln w="7620">
                <a:solidFill>
                  <a:srgbClr val="D9E8E2"/>
                </a:solidFill>
              </a:ln>
            </p:spPr>
          </p:sp>
          <p:sp>
            <p:nvSpPr>
              <p:cNvPr id="173" name="TextBox 173"/>
              <p:cNvSpPr txBox="1"/>
              <p:nvPr/>
            </p:nvSpPr>
            <p:spPr>
              <a:xfrm>
                <a:off x="7047003" y="2445782"/>
                <a:ext cx="231594"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存款​</a:t>
                </a:r>
              </a:p>
            </p:txBody>
          </p:sp>
          <p:sp>
            <p:nvSpPr>
              <p:cNvPr id="174" name="Rectangle 174"/>
              <p:cNvSpPr/>
              <p:nvPr/>
            </p:nvSpPr>
            <p:spPr>
              <a:xfrm>
                <a:off x="7581900" y="2400300"/>
                <a:ext cx="323850" cy="152400"/>
              </a:xfrm>
              <a:prstGeom prst="roundRect">
                <a:avLst>
                  <a:gd name="adj" fmla="val 50000"/>
                </a:avLst>
              </a:prstGeom>
              <a:solidFill>
                <a:srgbClr val="D93D22"/>
              </a:solidFill>
              <a:ln>
                <a:noFill/>
              </a:ln>
            </p:spPr>
          </p:sp>
          <p:sp>
            <p:nvSpPr>
              <p:cNvPr id="175" name="TextBox 175"/>
              <p:cNvSpPr txBox="1"/>
              <p:nvPr/>
            </p:nvSpPr>
            <p:spPr>
              <a:xfrm>
                <a:off x="7628028" y="2445782"/>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黄灯​</a:t>
                </a:r>
              </a:p>
            </p:txBody>
          </p:sp>
          <p:sp>
            <p:nvSpPr>
              <p:cNvPr id="176" name="TextBox 176"/>
              <p:cNvSpPr txBox="1"/>
              <p:nvPr/>
            </p:nvSpPr>
            <p:spPr>
              <a:xfrm>
                <a:off x="8132310" y="2445782"/>
                <a:ext cx="918479"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大额对公存款进度偏慢​</a:t>
                </a:r>
              </a:p>
            </p:txBody>
          </p:sp>
          <p:sp>
            <p:nvSpPr>
              <p:cNvPr id="177" name="TextBox 177"/>
              <p:cNvSpPr txBox="1"/>
              <p:nvPr/>
            </p:nvSpPr>
            <p:spPr>
              <a:xfrm>
                <a:off x="9729788" y="2398157"/>
                <a:ext cx="99467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加大重点企业拜访频次​</a:t>
                </a:r>
              </a:p>
            </p:txBody>
          </p:sp>
          <p:sp>
            <p:nvSpPr>
              <p:cNvPr id="178" name="TextBox 178"/>
              <p:cNvSpPr txBox="1"/>
              <p:nvPr/>
            </p:nvSpPr>
            <p:spPr>
              <a:xfrm>
                <a:off x="9729788" y="2502932"/>
                <a:ext cx="99467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联动对公条线专项攻坚​</a:t>
                </a:r>
              </a:p>
            </p:txBody>
          </p:sp>
          <p:sp>
            <p:nvSpPr>
              <p:cNvPr id="179" name="Rectangle 179"/>
              <p:cNvSpPr/>
              <p:nvPr/>
            </p:nvSpPr>
            <p:spPr>
              <a:xfrm>
                <a:off x="6877050" y="2609850"/>
                <a:ext cx="4991100" cy="266700"/>
              </a:xfrm>
              <a:prstGeom prst="rect">
                <a:avLst/>
              </a:prstGeom>
              <a:solidFill>
                <a:srgbClr val="F7FBF9"/>
              </a:solidFill>
              <a:ln w="7620">
                <a:solidFill>
                  <a:srgbClr val="D9E8E2"/>
                </a:solidFill>
              </a:ln>
            </p:spPr>
          </p:sp>
          <p:sp>
            <p:nvSpPr>
              <p:cNvPr id="180" name="TextBox 180"/>
              <p:cNvSpPr txBox="1"/>
              <p:nvPr/>
            </p:nvSpPr>
            <p:spPr>
              <a:xfrm>
                <a:off x="7043335" y="2712482"/>
                <a:ext cx="238930" cy="126206"/>
              </a:xfrm>
              <a:prstGeom prst="rect">
                <a:avLst/>
              </a:prstGeom>
              <a:noFill/>
              <a:ln>
                <a:noFill/>
              </a:ln>
            </p:spPr>
            <p:txBody>
              <a:bodyPr wrap="none" lIns="0" tIns="0" rIns="0" bIns="0" anchor="t" anchorCtr="0">
                <a:spAutoFit/>
              </a:bodyPr>
              <a:lstStyle/>
              <a:p>
                <a:pPr algn="ctr"/>
                <a:r>
                  <a:rPr lang="en-US" sz="640" b="1" dirty="0">
                    <a:solidFill>
                      <a:srgbClr val="312624"/>
                    </a:solidFill>
                    <a:latin typeface="+mn-lt"/>
                    <a:ea typeface="+mn-ea"/>
                    <a:cs typeface="+mn-cs"/>
                  </a:rPr>
                  <a:t>AUM​</a:t>
                </a:r>
              </a:p>
            </p:txBody>
          </p:sp>
          <p:sp>
            <p:nvSpPr>
              <p:cNvPr id="181" name="Rectangle 181"/>
              <p:cNvSpPr/>
              <p:nvPr/>
            </p:nvSpPr>
            <p:spPr>
              <a:xfrm>
                <a:off x="7581900" y="2667000"/>
                <a:ext cx="323850" cy="152400"/>
              </a:xfrm>
              <a:prstGeom prst="roundRect">
                <a:avLst>
                  <a:gd name="adj" fmla="val 50000"/>
                </a:avLst>
              </a:prstGeom>
              <a:solidFill>
                <a:srgbClr val="9E402E"/>
              </a:solidFill>
              <a:ln>
                <a:noFill/>
              </a:ln>
            </p:spPr>
          </p:sp>
          <p:sp>
            <p:nvSpPr>
              <p:cNvPr id="182" name="TextBox 182"/>
              <p:cNvSpPr txBox="1"/>
              <p:nvPr/>
            </p:nvSpPr>
            <p:spPr>
              <a:xfrm>
                <a:off x="7628028" y="2712482"/>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绿灯​</a:t>
                </a:r>
              </a:p>
            </p:txBody>
          </p:sp>
          <p:sp>
            <p:nvSpPr>
              <p:cNvPr id="183" name="TextBox 183"/>
              <p:cNvSpPr txBox="1"/>
              <p:nvPr/>
            </p:nvSpPr>
            <p:spPr>
              <a:xfrm>
                <a:off x="8390781" y="2712482"/>
                <a:ext cx="4015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进度良好​</a:t>
                </a:r>
              </a:p>
            </p:txBody>
          </p:sp>
          <p:sp>
            <p:nvSpPr>
              <p:cNvPr id="184" name="TextBox 184"/>
              <p:cNvSpPr txBox="1"/>
              <p:nvPr/>
            </p:nvSpPr>
            <p:spPr>
              <a:xfrm>
                <a:off x="9729788" y="2664857"/>
                <a:ext cx="82236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保持当前推进节奏​</a:t>
                </a:r>
              </a:p>
            </p:txBody>
          </p:sp>
          <p:sp>
            <p:nvSpPr>
              <p:cNvPr id="185" name="TextBox 185"/>
              <p:cNvSpPr txBox="1"/>
              <p:nvPr/>
            </p:nvSpPr>
            <p:spPr>
              <a:xfrm>
                <a:off x="9729788" y="2769632"/>
                <a:ext cx="90852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深化高净值客户经营​</a:t>
                </a:r>
              </a:p>
            </p:txBody>
          </p:sp>
          <p:sp>
            <p:nvSpPr>
              <p:cNvPr id="186" name="Rectangle 186"/>
              <p:cNvSpPr/>
              <p:nvPr/>
            </p:nvSpPr>
            <p:spPr>
              <a:xfrm>
                <a:off x="6877050" y="2876550"/>
                <a:ext cx="4991100" cy="266700"/>
              </a:xfrm>
              <a:prstGeom prst="rect">
                <a:avLst/>
              </a:prstGeom>
              <a:solidFill>
                <a:srgbClr val="FFFFFF"/>
              </a:solidFill>
              <a:ln w="7620">
                <a:solidFill>
                  <a:srgbClr val="D9E8E2"/>
                </a:solidFill>
              </a:ln>
            </p:spPr>
          </p:sp>
          <p:sp>
            <p:nvSpPr>
              <p:cNvPr id="187" name="TextBox 187"/>
              <p:cNvSpPr txBox="1"/>
              <p:nvPr/>
            </p:nvSpPr>
            <p:spPr>
              <a:xfrm>
                <a:off x="7047003" y="2979182"/>
                <a:ext cx="231594"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中收​</a:t>
                </a:r>
              </a:p>
            </p:txBody>
          </p:sp>
          <p:sp>
            <p:nvSpPr>
              <p:cNvPr id="188" name="Rectangle 188"/>
              <p:cNvSpPr/>
              <p:nvPr/>
            </p:nvSpPr>
            <p:spPr>
              <a:xfrm>
                <a:off x="7581900" y="2933700"/>
                <a:ext cx="323850" cy="152400"/>
              </a:xfrm>
              <a:prstGeom prst="roundRect">
                <a:avLst>
                  <a:gd name="adj" fmla="val 50000"/>
                </a:avLst>
              </a:prstGeom>
              <a:solidFill>
                <a:srgbClr val="C24833"/>
              </a:solidFill>
              <a:ln>
                <a:noFill/>
              </a:ln>
            </p:spPr>
          </p:sp>
          <p:sp>
            <p:nvSpPr>
              <p:cNvPr id="189" name="TextBox 189"/>
              <p:cNvSpPr txBox="1"/>
              <p:nvPr/>
            </p:nvSpPr>
            <p:spPr>
              <a:xfrm>
                <a:off x="7628028" y="2979182"/>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红灯​</a:t>
                </a:r>
              </a:p>
            </p:txBody>
          </p:sp>
          <p:sp>
            <p:nvSpPr>
              <p:cNvPr id="190" name="TextBox 190"/>
              <p:cNvSpPr txBox="1"/>
              <p:nvPr/>
            </p:nvSpPr>
            <p:spPr>
              <a:xfrm>
                <a:off x="8175389" y="2979182"/>
                <a:ext cx="83232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保险、理财销售滞后​</a:t>
                </a:r>
              </a:p>
            </p:txBody>
          </p:sp>
          <p:sp>
            <p:nvSpPr>
              <p:cNvPr id="191" name="TextBox 191"/>
              <p:cNvSpPr txBox="1"/>
              <p:nvPr/>
            </p:nvSpPr>
            <p:spPr>
              <a:xfrm>
                <a:off x="9729788" y="2931557"/>
                <a:ext cx="108083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增加产品专项培训与辅导​</a:t>
                </a:r>
              </a:p>
            </p:txBody>
          </p:sp>
          <p:sp>
            <p:nvSpPr>
              <p:cNvPr id="192" name="TextBox 192"/>
              <p:cNvSpPr txBox="1"/>
              <p:nvPr/>
            </p:nvSpPr>
            <p:spPr>
              <a:xfrm>
                <a:off x="9729788" y="3036332"/>
                <a:ext cx="99467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开展重点客户陪访辅导​</a:t>
                </a:r>
              </a:p>
            </p:txBody>
          </p:sp>
          <p:sp>
            <p:nvSpPr>
              <p:cNvPr id="193" name="Rectangle 193"/>
              <p:cNvSpPr/>
              <p:nvPr/>
            </p:nvSpPr>
            <p:spPr>
              <a:xfrm>
                <a:off x="6877050" y="3143250"/>
                <a:ext cx="4991100" cy="266700"/>
              </a:xfrm>
              <a:prstGeom prst="rect">
                <a:avLst/>
              </a:prstGeom>
              <a:solidFill>
                <a:srgbClr val="F7FBF9"/>
              </a:solidFill>
              <a:ln w="7620">
                <a:solidFill>
                  <a:srgbClr val="D9E8E2"/>
                </a:solidFill>
              </a:ln>
            </p:spPr>
          </p:sp>
          <p:sp>
            <p:nvSpPr>
              <p:cNvPr id="194" name="TextBox 194"/>
              <p:cNvSpPr txBox="1"/>
              <p:nvPr/>
            </p:nvSpPr>
            <p:spPr>
              <a:xfrm>
                <a:off x="7047003" y="3245882"/>
                <a:ext cx="231594"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贷款​</a:t>
                </a:r>
              </a:p>
            </p:txBody>
          </p:sp>
          <p:sp>
            <p:nvSpPr>
              <p:cNvPr id="195" name="Rectangle 195"/>
              <p:cNvSpPr/>
              <p:nvPr/>
            </p:nvSpPr>
            <p:spPr>
              <a:xfrm>
                <a:off x="7581900" y="3200400"/>
                <a:ext cx="323850" cy="152400"/>
              </a:xfrm>
              <a:prstGeom prst="roundRect">
                <a:avLst>
                  <a:gd name="adj" fmla="val 50000"/>
                </a:avLst>
              </a:prstGeom>
              <a:solidFill>
                <a:srgbClr val="D93D22"/>
              </a:solidFill>
              <a:ln>
                <a:noFill/>
              </a:ln>
            </p:spPr>
          </p:sp>
          <p:sp>
            <p:nvSpPr>
              <p:cNvPr id="196" name="TextBox 196"/>
              <p:cNvSpPr txBox="1"/>
              <p:nvPr/>
            </p:nvSpPr>
            <p:spPr>
              <a:xfrm>
                <a:off x="7628028" y="3245882"/>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黄灯​</a:t>
                </a:r>
              </a:p>
            </p:txBody>
          </p:sp>
          <p:sp>
            <p:nvSpPr>
              <p:cNvPr id="197" name="TextBox 197"/>
              <p:cNvSpPr txBox="1"/>
              <p:nvPr/>
            </p:nvSpPr>
            <p:spPr>
              <a:xfrm>
                <a:off x="8218467" y="3245882"/>
                <a:ext cx="74616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优质项目储备不足​</a:t>
                </a:r>
              </a:p>
            </p:txBody>
          </p:sp>
          <p:sp>
            <p:nvSpPr>
              <p:cNvPr id="198" name="TextBox 198"/>
              <p:cNvSpPr txBox="1"/>
              <p:nvPr/>
            </p:nvSpPr>
            <p:spPr>
              <a:xfrm>
                <a:off x="9729788" y="3198257"/>
                <a:ext cx="1080836"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加快项目上报与审批推进​</a:t>
                </a:r>
              </a:p>
            </p:txBody>
          </p:sp>
          <p:sp>
            <p:nvSpPr>
              <p:cNvPr id="199" name="TextBox 199"/>
              <p:cNvSpPr txBox="1"/>
              <p:nvPr/>
            </p:nvSpPr>
            <p:spPr>
              <a:xfrm>
                <a:off x="9729788" y="3303032"/>
                <a:ext cx="1166993"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加大园区、产业链客户拓展​</a:t>
                </a:r>
              </a:p>
            </p:txBody>
          </p:sp>
          <p:sp>
            <p:nvSpPr>
              <p:cNvPr id="200" name="Rectangle 200"/>
              <p:cNvSpPr/>
              <p:nvPr/>
            </p:nvSpPr>
            <p:spPr>
              <a:xfrm>
                <a:off x="6877050" y="3409950"/>
                <a:ext cx="4991100" cy="266700"/>
              </a:xfrm>
              <a:prstGeom prst="rect">
                <a:avLst/>
              </a:prstGeom>
              <a:solidFill>
                <a:srgbClr val="FFFFFF"/>
              </a:solidFill>
              <a:ln w="7620">
                <a:solidFill>
                  <a:srgbClr val="D9E8E2"/>
                </a:solidFill>
              </a:ln>
            </p:spPr>
          </p:sp>
          <p:sp>
            <p:nvSpPr>
              <p:cNvPr id="201" name="TextBox 201"/>
              <p:cNvSpPr txBox="1"/>
              <p:nvPr/>
            </p:nvSpPr>
            <p:spPr>
              <a:xfrm>
                <a:off x="6960846" y="3512582"/>
                <a:ext cx="403908"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新增客户​</a:t>
                </a:r>
              </a:p>
            </p:txBody>
          </p:sp>
          <p:sp>
            <p:nvSpPr>
              <p:cNvPr id="202" name="Rectangle 202"/>
              <p:cNvSpPr/>
              <p:nvPr/>
            </p:nvSpPr>
            <p:spPr>
              <a:xfrm>
                <a:off x="7581900" y="3467100"/>
                <a:ext cx="323850" cy="152400"/>
              </a:xfrm>
              <a:prstGeom prst="roundRect">
                <a:avLst>
                  <a:gd name="adj" fmla="val 50000"/>
                </a:avLst>
              </a:prstGeom>
              <a:solidFill>
                <a:srgbClr val="9E402E"/>
              </a:solidFill>
              <a:ln>
                <a:noFill/>
              </a:ln>
            </p:spPr>
          </p:sp>
          <p:sp>
            <p:nvSpPr>
              <p:cNvPr id="203" name="TextBox 203"/>
              <p:cNvSpPr txBox="1"/>
              <p:nvPr/>
            </p:nvSpPr>
            <p:spPr>
              <a:xfrm>
                <a:off x="7628028" y="3512582"/>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绿灯​</a:t>
                </a:r>
              </a:p>
            </p:txBody>
          </p:sp>
          <p:sp>
            <p:nvSpPr>
              <p:cNvPr id="204" name="TextBox 204"/>
              <p:cNvSpPr txBox="1"/>
              <p:nvPr/>
            </p:nvSpPr>
            <p:spPr>
              <a:xfrm>
                <a:off x="8304624" y="3512582"/>
                <a:ext cx="57385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基本达成预期​</a:t>
                </a:r>
              </a:p>
            </p:txBody>
          </p:sp>
          <p:sp>
            <p:nvSpPr>
              <p:cNvPr id="205" name="TextBox 205"/>
              <p:cNvSpPr txBox="1"/>
              <p:nvPr/>
            </p:nvSpPr>
            <p:spPr>
              <a:xfrm>
                <a:off x="9729788" y="3464957"/>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持续外拓不松劲​</a:t>
                </a:r>
              </a:p>
            </p:txBody>
          </p:sp>
          <p:sp>
            <p:nvSpPr>
              <p:cNvPr id="206" name="TextBox 206"/>
              <p:cNvSpPr txBox="1"/>
              <p:nvPr/>
            </p:nvSpPr>
            <p:spPr>
              <a:xfrm>
                <a:off x="9729788" y="356973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提升有效户占比​</a:t>
                </a:r>
              </a:p>
            </p:txBody>
          </p:sp>
        </p:grpSp>
        <p:sp>
          <p:nvSpPr>
            <p:cNvPr id="208" name="Rectangle 208"/>
            <p:cNvSpPr/>
            <p:nvPr/>
          </p:nvSpPr>
          <p:spPr>
            <a:xfrm>
              <a:off x="6877050" y="3714750"/>
              <a:ext cx="4991100" cy="381000"/>
            </a:xfrm>
            <a:prstGeom prst="roundRect">
              <a:avLst>
                <a:gd name="adj" fmla="val 12500"/>
              </a:avLst>
            </a:prstGeom>
            <a:solidFill>
              <a:srgbClr val="FBF3DC"/>
            </a:solidFill>
            <a:ln>
              <a:noFill/>
            </a:ln>
          </p:spPr>
        </p:sp>
        <p:grpSp>
          <p:nvGrpSpPr>
            <p:cNvPr id="212" name="Group 212"/>
            <p:cNvGrpSpPr/>
            <p:nvPr/>
          </p:nvGrpSpPr>
          <p:grpSpPr>
            <a:xfrm>
              <a:off x="6974681" y="3821906"/>
              <a:ext cx="128588" cy="128588"/>
              <a:chOff x="6974681" y="3821906"/>
              <a:chExt cx="128588" cy="128588"/>
            </a:xfrm>
          </p:grpSpPr>
          <p:sp>
            <p:nvSpPr>
              <p:cNvPr id="209" name="Freeform 209"/>
              <p:cNvSpPr/>
              <p:nvPr/>
            </p:nvSpPr>
            <p:spPr>
              <a:xfrm>
                <a:off x="7031831" y="38790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B8432F"/>
                </a:solidFill>
              </a:ln>
            </p:spPr>
          </p:sp>
          <p:sp>
            <p:nvSpPr>
              <p:cNvPr id="210" name="Freeform 210"/>
              <p:cNvSpPr/>
              <p:nvPr/>
            </p:nvSpPr>
            <p:spPr>
              <a:xfrm>
                <a:off x="7003256" y="38504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B8432F"/>
                </a:solidFill>
              </a:ln>
            </p:spPr>
          </p:sp>
          <p:sp>
            <p:nvSpPr>
              <p:cNvPr id="211" name="Freeform 211"/>
              <p:cNvSpPr/>
              <p:nvPr/>
            </p:nvSpPr>
            <p:spPr>
              <a:xfrm>
                <a:off x="6974681" y="38219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B8432F"/>
                </a:solidFill>
              </a:ln>
            </p:spPr>
          </p:sp>
        </p:grpSp>
        <p:sp>
          <p:nvSpPr>
            <p:cNvPr id="213" name="TextBox 213"/>
            <p:cNvSpPr txBox="1"/>
            <p:nvPr/>
          </p:nvSpPr>
          <p:spPr>
            <a:xfrm>
              <a:off x="7196138" y="3768328"/>
              <a:ext cx="1924360" cy="111919"/>
            </a:xfrm>
            <a:prstGeom prst="rect">
              <a:avLst/>
            </a:prstGeom>
            <a:noFill/>
            <a:ln>
              <a:noFill/>
            </a:ln>
          </p:spPr>
          <p:txBody>
            <a:bodyPr wrap="none" lIns="0" tIns="0" rIns="0" bIns="0" anchor="t" anchorCtr="0">
              <a:spAutoFit/>
            </a:bodyPr>
            <a:lstStyle/>
            <a:p>
              <a:pPr algn="l"/>
              <a:r>
                <a:rPr lang="zh-CN" sz="560" dirty="0">
                  <a:solidFill>
                    <a:srgbClr val="5A2A22"/>
                  </a:solidFill>
                  <a:latin typeface="+mn-lt"/>
                  <a:ea typeface="+mn-ea"/>
                  <a:cs typeface="+mn-cs"/>
                </a:rPr>
                <a:t>纠偏原则：① 发现一项、研究一项、解决一项、辅导一项​</a:t>
              </a:r>
            </a:p>
          </p:txBody>
        </p:sp>
        <p:sp>
          <p:nvSpPr>
            <p:cNvPr id="214" name="TextBox 214"/>
            <p:cNvSpPr txBox="1"/>
            <p:nvPr/>
          </p:nvSpPr>
          <p:spPr>
            <a:xfrm>
              <a:off x="7196138" y="3873103"/>
              <a:ext cx="1547424" cy="111919"/>
            </a:xfrm>
            <a:prstGeom prst="rect">
              <a:avLst/>
            </a:prstGeom>
            <a:noFill/>
            <a:ln>
              <a:noFill/>
            </a:ln>
          </p:spPr>
          <p:txBody>
            <a:bodyPr wrap="none" lIns="0" tIns="0" rIns="0" bIns="0" anchor="t" anchorCtr="0">
              <a:spAutoFit/>
            </a:bodyPr>
            <a:lstStyle/>
            <a:p>
              <a:pPr algn="l"/>
              <a:r>
                <a:rPr lang="zh-CN" sz="560" dirty="0">
                  <a:solidFill>
                    <a:srgbClr val="5A2A22"/>
                  </a:solidFill>
                  <a:latin typeface="+mn-lt"/>
                  <a:ea typeface="+mn-ea"/>
                  <a:cs typeface="+mn-cs"/>
                </a:rPr>
                <a:t>② 资源向重点问题倾斜，责任到人、时限明确​</a:t>
              </a:r>
            </a:p>
          </p:txBody>
        </p:sp>
        <p:sp>
          <p:nvSpPr>
            <p:cNvPr id="215" name="TextBox 215"/>
            <p:cNvSpPr txBox="1"/>
            <p:nvPr/>
          </p:nvSpPr>
          <p:spPr>
            <a:xfrm>
              <a:off x="7196138" y="3977878"/>
              <a:ext cx="1245875" cy="111919"/>
            </a:xfrm>
            <a:prstGeom prst="rect">
              <a:avLst/>
            </a:prstGeom>
            <a:noFill/>
            <a:ln>
              <a:noFill/>
            </a:ln>
          </p:spPr>
          <p:txBody>
            <a:bodyPr wrap="none" lIns="0" tIns="0" rIns="0" bIns="0" anchor="t" anchorCtr="0">
              <a:spAutoFit/>
            </a:bodyPr>
            <a:lstStyle/>
            <a:p>
              <a:pPr algn="l"/>
              <a:r>
                <a:rPr lang="zh-CN" sz="560" dirty="0">
                  <a:solidFill>
                    <a:srgbClr val="5A2A22"/>
                  </a:solidFill>
                  <a:latin typeface="+mn-lt"/>
                  <a:ea typeface="+mn-ea"/>
                  <a:cs typeface="+mn-cs"/>
                </a:rPr>
                <a:t>③ 动态跟踪效果，未达预期立即调整​</a:t>
              </a:r>
            </a:p>
          </p:txBody>
        </p:sp>
      </p:grpSp>
      <p:grpSp>
        <p:nvGrpSpPr>
          <p:cNvPr id="259" name="loop-card"/>
          <p:cNvGrpSpPr/>
          <p:nvPr/>
        </p:nvGrpSpPr>
        <p:grpSpPr>
          <a:xfrm>
            <a:off x="228600" y="4248150"/>
            <a:ext cx="6438900" cy="2533650"/>
            <a:chOff x="228600" y="4248150"/>
            <a:chExt cx="6438900" cy="2533650"/>
          </a:xfrm>
        </p:grpSpPr>
        <p:sp>
          <p:nvSpPr>
            <p:cNvPr id="217" name="Rectangle 217"/>
            <p:cNvSpPr/>
            <p:nvPr/>
          </p:nvSpPr>
          <p:spPr>
            <a:xfrm>
              <a:off x="228600" y="4248150"/>
              <a:ext cx="6438900" cy="2533650"/>
            </a:xfrm>
            <a:prstGeom prst="roundRect">
              <a:avLst>
                <a:gd name="adj" fmla="val 3759"/>
              </a:avLst>
            </a:prstGeom>
            <a:solidFill>
              <a:srgbClr val="F5FAF8"/>
            </a:solidFill>
            <a:ln w="9525">
              <a:solidFill>
                <a:srgbClr val="D9E8E2"/>
              </a:solidFill>
            </a:ln>
          </p:spPr>
        </p:sp>
        <p:sp>
          <p:nvSpPr>
            <p:cNvPr id="218" name="Rectangle 218"/>
            <p:cNvSpPr/>
            <p:nvPr/>
          </p:nvSpPr>
          <p:spPr>
            <a:xfrm>
              <a:off x="228600" y="4248150"/>
              <a:ext cx="1428750" cy="228600"/>
            </a:xfrm>
            <a:prstGeom prst="roundRect">
              <a:avLst>
                <a:gd name="adj" fmla="val 16667"/>
              </a:avLst>
            </a:prstGeom>
            <a:solidFill>
              <a:srgbClr val="5B180B"/>
            </a:solidFill>
            <a:ln>
              <a:noFill/>
            </a:ln>
          </p:spPr>
        </p:sp>
        <p:sp>
          <p:nvSpPr>
            <p:cNvPr id="219" name="TextBox 219"/>
            <p:cNvSpPr txBox="1"/>
            <p:nvPr/>
          </p:nvSpPr>
          <p:spPr>
            <a:xfrm>
              <a:off x="338138" y="4316968"/>
              <a:ext cx="1002570"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问题闭环管理流程​</a:t>
              </a:r>
            </a:p>
          </p:txBody>
        </p:sp>
        <p:sp>
          <p:nvSpPr>
            <p:cNvPr id="220" name="Freeform 220"/>
            <p:cNvSpPr/>
            <p:nvPr/>
          </p:nvSpPr>
          <p:spPr>
            <a:xfrm>
              <a:off x="342900" y="4572000"/>
              <a:ext cx="1123950" cy="342900"/>
            </a:xfrm>
            <a:prstGeom prst="homePlate">
              <a:avLst>
                <a:gd name="adj" fmla="val 30000"/>
              </a:avLst>
            </a:prstGeom>
            <a:solidFill>
              <a:srgbClr val="5B180B"/>
            </a:solidFill>
            <a:ln>
              <a:noFill/>
            </a:ln>
          </p:spPr>
        </p:sp>
        <p:sp>
          <p:nvSpPr>
            <p:cNvPr id="221" name="Freeform 221"/>
            <p:cNvSpPr/>
            <p:nvPr/>
          </p:nvSpPr>
          <p:spPr>
            <a:xfrm>
              <a:off x="1600200" y="4572000"/>
              <a:ext cx="1123950" cy="342900"/>
            </a:xfrm>
            <a:prstGeom prst="homePlate">
              <a:avLst>
                <a:gd name="adj" fmla="val 30000"/>
              </a:avLst>
            </a:prstGeom>
            <a:solidFill>
              <a:srgbClr val="722617"/>
            </a:solidFill>
            <a:ln>
              <a:noFill/>
            </a:ln>
          </p:spPr>
        </p:sp>
        <p:sp>
          <p:nvSpPr>
            <p:cNvPr id="222" name="Freeform 222"/>
            <p:cNvSpPr/>
            <p:nvPr/>
          </p:nvSpPr>
          <p:spPr>
            <a:xfrm>
              <a:off x="2857500" y="4572000"/>
              <a:ext cx="1123950" cy="342900"/>
            </a:xfrm>
            <a:prstGeom prst="homePlate">
              <a:avLst>
                <a:gd name="adj" fmla="val 30000"/>
              </a:avLst>
            </a:prstGeom>
            <a:solidFill>
              <a:srgbClr val="9A412F"/>
            </a:solidFill>
            <a:ln>
              <a:noFill/>
            </a:ln>
          </p:spPr>
        </p:sp>
        <p:sp>
          <p:nvSpPr>
            <p:cNvPr id="223" name="Freeform 223"/>
            <p:cNvSpPr/>
            <p:nvPr/>
          </p:nvSpPr>
          <p:spPr>
            <a:xfrm>
              <a:off x="4114800" y="4572000"/>
              <a:ext cx="1123950" cy="342900"/>
            </a:xfrm>
            <a:prstGeom prst="homePlate">
              <a:avLst>
                <a:gd name="adj" fmla="val 30000"/>
              </a:avLst>
            </a:prstGeom>
            <a:solidFill>
              <a:srgbClr val="A75545"/>
            </a:solidFill>
            <a:ln>
              <a:noFill/>
            </a:ln>
          </p:spPr>
        </p:sp>
        <p:sp>
          <p:nvSpPr>
            <p:cNvPr id="224" name="Freeform 224"/>
            <p:cNvSpPr/>
            <p:nvPr/>
          </p:nvSpPr>
          <p:spPr>
            <a:xfrm>
              <a:off x="5372100" y="4572000"/>
              <a:ext cx="1123950" cy="342900"/>
            </a:xfrm>
            <a:prstGeom prst="homePlate">
              <a:avLst>
                <a:gd name="adj" fmla="val 30000"/>
              </a:avLst>
            </a:prstGeom>
            <a:solidFill>
              <a:srgbClr val="AE6C5F"/>
            </a:solidFill>
            <a:ln>
              <a:noFill/>
            </a:ln>
          </p:spPr>
        </p:sp>
        <p:grpSp>
          <p:nvGrpSpPr>
            <p:cNvPr id="235" name="loop-titles"/>
            <p:cNvGrpSpPr/>
            <p:nvPr/>
          </p:nvGrpSpPr>
          <p:grpSpPr>
            <a:xfrm>
              <a:off x="560601" y="4624388"/>
              <a:ext cx="5717748" cy="262413"/>
              <a:chOff x="560601" y="4624388"/>
              <a:chExt cx="5717748" cy="262413"/>
            </a:xfrm>
          </p:grpSpPr>
          <p:sp>
            <p:nvSpPr>
              <p:cNvPr id="225" name="TextBox 225"/>
              <p:cNvSpPr txBox="1"/>
              <p:nvPr/>
            </p:nvSpPr>
            <p:spPr>
              <a:xfrm>
                <a:off x="623973" y="4624388"/>
                <a:ext cx="561804"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① 发现偏差​</a:t>
                </a:r>
              </a:p>
            </p:txBody>
          </p:sp>
          <p:sp>
            <p:nvSpPr>
              <p:cNvPr id="226" name="TextBox 226"/>
              <p:cNvSpPr txBox="1"/>
              <p:nvPr/>
            </p:nvSpPr>
            <p:spPr>
              <a:xfrm>
                <a:off x="1881273" y="4624388"/>
                <a:ext cx="561804"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② 定位原因​</a:t>
                </a:r>
              </a:p>
            </p:txBody>
          </p:sp>
          <p:sp>
            <p:nvSpPr>
              <p:cNvPr id="227" name="TextBox 227"/>
              <p:cNvSpPr txBox="1"/>
              <p:nvPr/>
            </p:nvSpPr>
            <p:spPr>
              <a:xfrm>
                <a:off x="3138573" y="4624388"/>
                <a:ext cx="561804"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③ 调整名单​</a:t>
                </a:r>
              </a:p>
            </p:txBody>
          </p:sp>
          <p:sp>
            <p:nvSpPr>
              <p:cNvPr id="228" name="TextBox 228"/>
              <p:cNvSpPr txBox="1"/>
              <p:nvPr/>
            </p:nvSpPr>
            <p:spPr>
              <a:xfrm>
                <a:off x="4395873" y="4624388"/>
                <a:ext cx="561804"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④ 强化辅导​</a:t>
                </a:r>
              </a:p>
            </p:txBody>
          </p:sp>
          <p:sp>
            <p:nvSpPr>
              <p:cNvPr id="229" name="TextBox 229"/>
              <p:cNvSpPr txBox="1"/>
              <p:nvPr/>
            </p:nvSpPr>
            <p:spPr>
              <a:xfrm>
                <a:off x="5653173" y="4624388"/>
                <a:ext cx="561804"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⑤ 验证改善​</a:t>
                </a:r>
              </a:p>
            </p:txBody>
          </p:sp>
          <p:sp>
            <p:nvSpPr>
              <p:cNvPr id="230" name="TextBox 230"/>
              <p:cNvSpPr txBox="1"/>
              <p:nvPr/>
            </p:nvSpPr>
            <p:spPr>
              <a:xfrm>
                <a:off x="560601" y="4782026"/>
                <a:ext cx="688548" cy="104775"/>
              </a:xfrm>
              <a:prstGeom prst="rect">
                <a:avLst/>
              </a:prstGeom>
              <a:noFill/>
              <a:ln>
                <a:noFill/>
              </a:ln>
            </p:spPr>
            <p:txBody>
              <a:bodyPr wrap="none" lIns="0" tIns="0" rIns="0" bIns="0" anchor="t" anchorCtr="0">
                <a:spAutoFit/>
              </a:bodyPr>
              <a:lstStyle/>
              <a:p>
                <a:pPr algn="ctr"/>
                <a:r>
                  <a:rPr lang="zh-CN" sz="520" dirty="0">
                    <a:solidFill>
                      <a:srgbClr val="BFDDD6"/>
                    </a:solidFill>
                    <a:latin typeface="+mn-lt"/>
                    <a:ea typeface="+mn-ea"/>
                    <a:cs typeface="+mn-cs"/>
                  </a:rPr>
                  <a:t>数据异常 · 一线反馈​</a:t>
                </a:r>
              </a:p>
            </p:txBody>
          </p:sp>
          <p:sp>
            <p:nvSpPr>
              <p:cNvPr id="231" name="TextBox 231"/>
              <p:cNvSpPr txBox="1"/>
              <p:nvPr/>
            </p:nvSpPr>
            <p:spPr>
              <a:xfrm>
                <a:off x="1847652" y="4782026"/>
                <a:ext cx="629046" cy="104775"/>
              </a:xfrm>
              <a:prstGeom prst="rect">
                <a:avLst/>
              </a:prstGeom>
              <a:noFill/>
              <a:ln>
                <a:noFill/>
              </a:ln>
            </p:spPr>
            <p:txBody>
              <a:bodyPr wrap="none" lIns="0" tIns="0" rIns="0" bIns="0" anchor="t" anchorCtr="0">
                <a:spAutoFit/>
              </a:bodyPr>
              <a:lstStyle/>
              <a:p>
                <a:pPr algn="ctr"/>
                <a:r>
                  <a:rPr lang="zh-CN" sz="520" dirty="0">
                    <a:solidFill>
                      <a:srgbClr val="BFDDD6"/>
                    </a:solidFill>
                    <a:latin typeface="+mn-lt"/>
                    <a:ea typeface="+mn-ea"/>
                    <a:cs typeface="+mn-cs"/>
                  </a:rPr>
                  <a:t>客户 / 产品 / 渠道​</a:t>
                </a:r>
              </a:p>
            </p:txBody>
          </p:sp>
          <p:sp>
            <p:nvSpPr>
              <p:cNvPr id="232" name="TextBox 232"/>
              <p:cNvSpPr txBox="1"/>
              <p:nvPr/>
            </p:nvSpPr>
            <p:spPr>
              <a:xfrm>
                <a:off x="3075201" y="4782026"/>
                <a:ext cx="688548" cy="104775"/>
              </a:xfrm>
              <a:prstGeom prst="rect">
                <a:avLst/>
              </a:prstGeom>
              <a:noFill/>
              <a:ln>
                <a:noFill/>
              </a:ln>
            </p:spPr>
            <p:txBody>
              <a:bodyPr wrap="none" lIns="0" tIns="0" rIns="0" bIns="0" anchor="t" anchorCtr="0">
                <a:spAutoFit/>
              </a:bodyPr>
              <a:lstStyle/>
              <a:p>
                <a:pPr algn="ctr"/>
                <a:r>
                  <a:rPr lang="zh-CN" sz="520" dirty="0">
                    <a:solidFill>
                      <a:srgbClr val="DFF0EB"/>
                    </a:solidFill>
                    <a:latin typeface="+mn-lt"/>
                    <a:ea typeface="+mn-ea"/>
                    <a:cs typeface="+mn-cs"/>
                  </a:rPr>
                  <a:t>聚焦名单 · 精准发力​</a:t>
                </a:r>
              </a:p>
            </p:txBody>
          </p:sp>
          <p:sp>
            <p:nvSpPr>
              <p:cNvPr id="233" name="TextBox 233"/>
              <p:cNvSpPr txBox="1"/>
              <p:nvPr/>
            </p:nvSpPr>
            <p:spPr>
              <a:xfrm>
                <a:off x="4332501" y="4782026"/>
                <a:ext cx="688548" cy="104775"/>
              </a:xfrm>
              <a:prstGeom prst="rect">
                <a:avLst/>
              </a:prstGeom>
              <a:noFill/>
              <a:ln>
                <a:noFill/>
              </a:ln>
            </p:spPr>
            <p:txBody>
              <a:bodyPr wrap="none" lIns="0" tIns="0" rIns="0" bIns="0" anchor="t" anchorCtr="0">
                <a:spAutoFit/>
              </a:bodyPr>
              <a:lstStyle/>
              <a:p>
                <a:pPr algn="ctr"/>
                <a:r>
                  <a:rPr lang="zh-CN" sz="520" dirty="0">
                    <a:solidFill>
                      <a:srgbClr val="EAF6F2"/>
                    </a:solidFill>
                    <a:latin typeface="+mn-lt"/>
                    <a:ea typeface="+mn-ea"/>
                    <a:cs typeface="+mn-cs"/>
                  </a:rPr>
                  <a:t>资源支持 · 提升能力​</a:t>
                </a:r>
              </a:p>
            </p:txBody>
          </p:sp>
          <p:sp>
            <p:nvSpPr>
              <p:cNvPr id="234" name="TextBox 234"/>
              <p:cNvSpPr txBox="1"/>
              <p:nvPr/>
            </p:nvSpPr>
            <p:spPr>
              <a:xfrm>
                <a:off x="5589801" y="4782026"/>
                <a:ext cx="688548" cy="104775"/>
              </a:xfrm>
              <a:prstGeom prst="rect">
                <a:avLst/>
              </a:prstGeom>
              <a:noFill/>
              <a:ln>
                <a:noFill/>
              </a:ln>
            </p:spPr>
            <p:txBody>
              <a:bodyPr wrap="none" lIns="0" tIns="0" rIns="0" bIns="0" anchor="t" anchorCtr="0">
                <a:spAutoFit/>
              </a:bodyPr>
              <a:lstStyle/>
              <a:p>
                <a:pPr algn="ctr"/>
                <a:r>
                  <a:rPr lang="zh-CN" sz="520" dirty="0">
                    <a:solidFill>
                      <a:srgbClr val="EAF6F2"/>
                    </a:solidFill>
                    <a:latin typeface="+mn-lt"/>
                    <a:ea typeface="+mn-ea"/>
                    <a:cs typeface="+mn-cs"/>
                  </a:rPr>
                  <a:t>跟踪结果 · 闭环销号​</a:t>
                </a:r>
              </a:p>
            </p:txBody>
          </p:sp>
        </p:grpSp>
        <p:grpSp>
          <p:nvGrpSpPr>
            <p:cNvPr id="256" name="loop-bullets"/>
            <p:cNvGrpSpPr/>
            <p:nvPr/>
          </p:nvGrpSpPr>
          <p:grpSpPr>
            <a:xfrm>
              <a:off x="376238" y="4987528"/>
              <a:ext cx="5759486" cy="511969"/>
              <a:chOff x="376238" y="4987528"/>
              <a:chExt cx="5759486" cy="511969"/>
            </a:xfrm>
          </p:grpSpPr>
          <p:sp>
            <p:nvSpPr>
              <p:cNvPr id="236" name="TextBox 236"/>
              <p:cNvSpPr txBox="1"/>
              <p:nvPr/>
            </p:nvSpPr>
            <p:spPr>
              <a:xfrm>
                <a:off x="376238" y="4987528"/>
                <a:ext cx="579511"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系统数据监控​</a:t>
                </a:r>
              </a:p>
            </p:txBody>
          </p:sp>
          <p:sp>
            <p:nvSpPr>
              <p:cNvPr id="237" name="TextBox 237"/>
              <p:cNvSpPr txBox="1"/>
              <p:nvPr/>
            </p:nvSpPr>
            <p:spPr>
              <a:xfrm>
                <a:off x="376238" y="5120878"/>
                <a:ext cx="579511"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网点日报数据​</a:t>
                </a:r>
              </a:p>
            </p:txBody>
          </p:sp>
          <p:sp>
            <p:nvSpPr>
              <p:cNvPr id="238" name="TextBox 238"/>
              <p:cNvSpPr txBox="1"/>
              <p:nvPr/>
            </p:nvSpPr>
            <p:spPr>
              <a:xfrm>
                <a:off x="376238" y="5254228"/>
                <a:ext cx="579511"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客户经理反馈​</a:t>
                </a:r>
              </a:p>
            </p:txBody>
          </p:sp>
          <p:sp>
            <p:nvSpPr>
              <p:cNvPr id="239" name="TextBox 239"/>
              <p:cNvSpPr txBox="1"/>
              <p:nvPr/>
            </p:nvSpPr>
            <p:spPr>
              <a:xfrm>
                <a:off x="376238" y="5387578"/>
                <a:ext cx="579511"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上级通报发现​</a:t>
                </a:r>
              </a:p>
            </p:txBody>
          </p:sp>
          <p:sp>
            <p:nvSpPr>
              <p:cNvPr id="240" name="TextBox 240"/>
              <p:cNvSpPr txBox="1"/>
              <p:nvPr/>
            </p:nvSpPr>
            <p:spPr>
              <a:xfrm>
                <a:off x="1633538" y="4987528"/>
                <a:ext cx="6624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客户/产品/渠道​</a:t>
                </a:r>
              </a:p>
            </p:txBody>
          </p:sp>
          <p:sp>
            <p:nvSpPr>
              <p:cNvPr id="241" name="TextBox 241"/>
              <p:cNvSpPr txBox="1"/>
              <p:nvPr/>
            </p:nvSpPr>
            <p:spPr>
              <a:xfrm>
                <a:off x="1633538" y="5120878"/>
                <a:ext cx="66243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能力/动作/资源​</a:t>
                </a:r>
              </a:p>
            </p:txBody>
          </p:sp>
          <p:sp>
            <p:nvSpPr>
              <p:cNvPr id="242" name="TextBox 242"/>
              <p:cNvSpPr txBox="1"/>
              <p:nvPr/>
            </p:nvSpPr>
            <p:spPr>
              <a:xfrm>
                <a:off x="1633538" y="5254228"/>
                <a:ext cx="579511"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内部协作环境​</a:t>
                </a:r>
              </a:p>
            </p:txBody>
          </p:sp>
          <p:sp>
            <p:nvSpPr>
              <p:cNvPr id="243" name="TextBox 243"/>
              <p:cNvSpPr txBox="1"/>
              <p:nvPr/>
            </p:nvSpPr>
            <p:spPr>
              <a:xfrm>
                <a:off x="1633538" y="5387578"/>
                <a:ext cx="654898"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定位与定性结合​</a:t>
                </a:r>
              </a:p>
            </p:txBody>
          </p:sp>
          <p:sp>
            <p:nvSpPr>
              <p:cNvPr id="244" name="TextBox 244"/>
              <p:cNvSpPr txBox="1"/>
              <p:nvPr/>
            </p:nvSpPr>
            <p:spPr>
              <a:xfrm>
                <a:off x="2890838" y="4987528"/>
                <a:ext cx="730286"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更新目标客户清单​</a:t>
                </a:r>
              </a:p>
            </p:txBody>
          </p:sp>
          <p:sp>
            <p:nvSpPr>
              <p:cNvPr id="245" name="TextBox 245"/>
              <p:cNvSpPr txBox="1"/>
              <p:nvPr/>
            </p:nvSpPr>
            <p:spPr>
              <a:xfrm>
                <a:off x="2890838" y="5120878"/>
                <a:ext cx="813140"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区分优先级(A/B/C)​</a:t>
                </a:r>
              </a:p>
            </p:txBody>
          </p:sp>
          <p:sp>
            <p:nvSpPr>
              <p:cNvPr id="246" name="TextBox 246"/>
              <p:cNvSpPr txBox="1"/>
              <p:nvPr/>
            </p:nvSpPr>
            <p:spPr>
              <a:xfrm>
                <a:off x="2890838" y="5254228"/>
                <a:ext cx="654898"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匹配产品与策略​</a:t>
                </a:r>
              </a:p>
            </p:txBody>
          </p:sp>
          <p:sp>
            <p:nvSpPr>
              <p:cNvPr id="247" name="TextBox 247"/>
              <p:cNvSpPr txBox="1"/>
              <p:nvPr/>
            </p:nvSpPr>
            <p:spPr>
              <a:xfrm>
                <a:off x="2890838" y="5387578"/>
                <a:ext cx="805673"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明确责任人与时间表​</a:t>
                </a:r>
              </a:p>
            </p:txBody>
          </p:sp>
          <p:sp>
            <p:nvSpPr>
              <p:cNvPr id="248" name="TextBox 248"/>
              <p:cNvSpPr txBox="1"/>
              <p:nvPr/>
            </p:nvSpPr>
            <p:spPr>
              <a:xfrm>
                <a:off x="4148138" y="4987528"/>
                <a:ext cx="730286"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条线专家下沉辅导​</a:t>
                </a:r>
              </a:p>
            </p:txBody>
          </p:sp>
          <p:sp>
            <p:nvSpPr>
              <p:cNvPr id="249" name="TextBox 249"/>
              <p:cNvSpPr txBox="1"/>
              <p:nvPr/>
            </p:nvSpPr>
            <p:spPr>
              <a:xfrm>
                <a:off x="4148138" y="5120878"/>
                <a:ext cx="696361"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一对一陪访/示范​</a:t>
                </a:r>
              </a:p>
            </p:txBody>
          </p:sp>
          <p:sp>
            <p:nvSpPr>
              <p:cNvPr id="250" name="TextBox 250"/>
              <p:cNvSpPr txBox="1"/>
              <p:nvPr/>
            </p:nvSpPr>
            <p:spPr>
              <a:xfrm>
                <a:off x="4148138" y="5254228"/>
                <a:ext cx="579511"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典型案例分享​</a:t>
                </a:r>
              </a:p>
            </p:txBody>
          </p:sp>
          <p:sp>
            <p:nvSpPr>
              <p:cNvPr id="251" name="TextBox 251"/>
              <p:cNvSpPr txBox="1"/>
              <p:nvPr/>
            </p:nvSpPr>
            <p:spPr>
              <a:xfrm>
                <a:off x="4148138" y="5387578"/>
                <a:ext cx="730286"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强化营销技能培训​</a:t>
                </a:r>
              </a:p>
            </p:txBody>
          </p:sp>
          <p:sp>
            <p:nvSpPr>
              <p:cNvPr id="252" name="TextBox 252"/>
              <p:cNvSpPr txBox="1"/>
              <p:nvPr/>
            </p:nvSpPr>
            <p:spPr>
              <a:xfrm>
                <a:off x="5405438" y="4987528"/>
                <a:ext cx="579511"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设定验证周期​</a:t>
                </a:r>
              </a:p>
            </p:txBody>
          </p:sp>
          <p:sp>
            <p:nvSpPr>
              <p:cNvPr id="253" name="TextBox 253"/>
              <p:cNvSpPr txBox="1"/>
              <p:nvPr/>
            </p:nvSpPr>
            <p:spPr>
              <a:xfrm>
                <a:off x="5405438" y="5120878"/>
                <a:ext cx="730286"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对比关键指标变化​</a:t>
                </a:r>
              </a:p>
            </p:txBody>
          </p:sp>
          <p:sp>
            <p:nvSpPr>
              <p:cNvPr id="254" name="TextBox 254"/>
              <p:cNvSpPr txBox="1"/>
              <p:nvPr/>
            </p:nvSpPr>
            <p:spPr>
              <a:xfrm>
                <a:off x="5405438" y="5254228"/>
                <a:ext cx="654898"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达到预期则关闭​</a:t>
                </a:r>
              </a:p>
            </p:txBody>
          </p:sp>
          <p:sp>
            <p:nvSpPr>
              <p:cNvPr id="255" name="TextBox 255"/>
              <p:cNvSpPr txBox="1"/>
              <p:nvPr/>
            </p:nvSpPr>
            <p:spPr>
              <a:xfrm>
                <a:off x="5405438" y="5387578"/>
                <a:ext cx="654898"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未达预期则递进​</a:t>
                </a:r>
              </a:p>
            </p:txBody>
          </p:sp>
        </p:grpSp>
        <p:sp>
          <p:nvSpPr>
            <p:cNvPr id="257" name="Rectangle 257"/>
            <p:cNvSpPr/>
            <p:nvPr/>
          </p:nvSpPr>
          <p:spPr>
            <a:xfrm>
              <a:off x="342900" y="5715000"/>
              <a:ext cx="6153150" cy="247650"/>
            </a:xfrm>
            <a:prstGeom prst="roundRect">
              <a:avLst>
                <a:gd name="adj" fmla="val 50000"/>
              </a:avLst>
            </a:prstGeom>
            <a:solidFill>
              <a:srgbClr val="5B180B"/>
            </a:solidFill>
            <a:ln>
              <a:noFill/>
            </a:ln>
          </p:spPr>
        </p:sp>
        <p:sp>
          <p:nvSpPr>
            <p:cNvPr id="258" name="TextBox 258"/>
            <p:cNvSpPr txBox="1"/>
            <p:nvPr/>
          </p:nvSpPr>
          <p:spPr>
            <a:xfrm>
              <a:off x="1766689" y="5791914"/>
              <a:ext cx="3305571"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以数据说话 · 以行动闭环 · 让每一个偏差都被看见、被解决、被验证​</a:t>
              </a:r>
            </a:p>
          </p:txBody>
        </p:sp>
      </p:grpSp>
      <p:grpSp>
        <p:nvGrpSpPr>
          <p:cNvPr id="307" name="raci-card"/>
          <p:cNvGrpSpPr/>
          <p:nvPr/>
        </p:nvGrpSpPr>
        <p:grpSpPr>
          <a:xfrm>
            <a:off x="6781800" y="4248150"/>
            <a:ext cx="5181600" cy="2533650"/>
            <a:chOff x="6781800" y="4248150"/>
            <a:chExt cx="5181600" cy="2533650"/>
          </a:xfrm>
        </p:grpSpPr>
        <p:sp>
          <p:nvSpPr>
            <p:cNvPr id="260" name="Rectangle 260"/>
            <p:cNvSpPr/>
            <p:nvPr/>
          </p:nvSpPr>
          <p:spPr>
            <a:xfrm>
              <a:off x="6781800" y="4248150"/>
              <a:ext cx="5181600" cy="2533650"/>
            </a:xfrm>
            <a:prstGeom prst="roundRect">
              <a:avLst>
                <a:gd name="adj" fmla="val 3759"/>
              </a:avLst>
            </a:prstGeom>
            <a:solidFill>
              <a:srgbClr val="F5FAF8"/>
            </a:solidFill>
            <a:ln w="9525">
              <a:solidFill>
                <a:srgbClr val="D9E8E2"/>
              </a:solidFill>
            </a:ln>
          </p:spPr>
        </p:sp>
        <p:sp>
          <p:nvSpPr>
            <p:cNvPr id="261" name="Rectangle 261"/>
            <p:cNvSpPr/>
            <p:nvPr/>
          </p:nvSpPr>
          <p:spPr>
            <a:xfrm>
              <a:off x="6781800" y="4248150"/>
              <a:ext cx="1809750" cy="228600"/>
            </a:xfrm>
            <a:prstGeom prst="roundRect">
              <a:avLst>
                <a:gd name="adj" fmla="val 16667"/>
              </a:avLst>
            </a:prstGeom>
            <a:solidFill>
              <a:srgbClr val="5B180B"/>
            </a:solidFill>
            <a:ln>
              <a:noFill/>
            </a:ln>
          </p:spPr>
        </p:sp>
        <p:sp>
          <p:nvSpPr>
            <p:cNvPr id="262" name="TextBox 262"/>
            <p:cNvSpPr txBox="1"/>
            <p:nvPr/>
          </p:nvSpPr>
          <p:spPr>
            <a:xfrm>
              <a:off x="6891338" y="4316968"/>
              <a:ext cx="1407339"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RACI 责任分工表（示例）​</a:t>
              </a:r>
            </a:p>
          </p:txBody>
        </p:sp>
        <p:grpSp>
          <p:nvGrpSpPr>
            <p:cNvPr id="273" name="Group 273"/>
            <p:cNvGrpSpPr/>
            <p:nvPr/>
          </p:nvGrpSpPr>
          <p:grpSpPr>
            <a:xfrm>
              <a:off x="6877050" y="4552950"/>
              <a:ext cx="4991100" cy="286226"/>
              <a:chOff x="6877050" y="4552950"/>
              <a:chExt cx="4991100" cy="286226"/>
            </a:xfrm>
          </p:grpSpPr>
          <p:sp>
            <p:nvSpPr>
              <p:cNvPr id="263" name="Rectangle 263"/>
              <p:cNvSpPr/>
              <p:nvPr/>
            </p:nvSpPr>
            <p:spPr>
              <a:xfrm>
                <a:off x="6877050" y="4552950"/>
                <a:ext cx="4991100" cy="285750"/>
              </a:xfrm>
              <a:prstGeom prst="rect">
                <a:avLst/>
              </a:prstGeom>
              <a:solidFill>
                <a:srgbClr val="722617"/>
              </a:solidFill>
              <a:ln>
                <a:noFill/>
              </a:ln>
            </p:spPr>
          </p:sp>
          <p:sp>
            <p:nvSpPr>
              <p:cNvPr id="264" name="TextBox 264"/>
              <p:cNvSpPr txBox="1"/>
              <p:nvPr/>
            </p:nvSpPr>
            <p:spPr>
              <a:xfrm>
                <a:off x="7332753" y="4674632"/>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事项​</a:t>
                </a:r>
              </a:p>
            </p:txBody>
          </p:sp>
          <p:sp>
            <p:nvSpPr>
              <p:cNvPr id="265" name="TextBox 265"/>
              <p:cNvSpPr txBox="1"/>
              <p:nvPr/>
            </p:nvSpPr>
            <p:spPr>
              <a:xfrm>
                <a:off x="8435129" y="4607957"/>
                <a:ext cx="31284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R 负责​</a:t>
                </a:r>
              </a:p>
            </p:txBody>
          </p:sp>
          <p:sp>
            <p:nvSpPr>
              <p:cNvPr id="266" name="TextBox 266"/>
              <p:cNvSpPr txBox="1"/>
              <p:nvPr/>
            </p:nvSpPr>
            <p:spPr>
              <a:xfrm>
                <a:off x="8333482" y="4734401"/>
                <a:ext cx="516136" cy="104775"/>
              </a:xfrm>
              <a:prstGeom prst="rect">
                <a:avLst/>
              </a:prstGeom>
              <a:noFill/>
              <a:ln>
                <a:noFill/>
              </a:ln>
            </p:spPr>
            <p:txBody>
              <a:bodyPr wrap="none" lIns="0" tIns="0" rIns="0" bIns="0" anchor="t" anchorCtr="0">
                <a:spAutoFit/>
              </a:bodyPr>
              <a:lstStyle/>
              <a:p>
                <a:pPr algn="ctr"/>
                <a:r>
                  <a:rPr lang="en-US" sz="520" dirty="0">
                    <a:solidFill>
                      <a:srgbClr val="FFFFFF"/>
                    </a:solidFill>
                    <a:latin typeface="+mn-lt"/>
                    <a:ea typeface="+mn-ea"/>
                    <a:cs typeface="+mn-cs"/>
                  </a:rPr>
                  <a:t>(Responsible)​</a:t>
                </a:r>
              </a:p>
            </p:txBody>
          </p:sp>
          <p:sp>
            <p:nvSpPr>
              <p:cNvPr id="267" name="TextBox 267"/>
              <p:cNvSpPr txBox="1"/>
              <p:nvPr/>
            </p:nvSpPr>
            <p:spPr>
              <a:xfrm>
                <a:off x="9387629" y="4607957"/>
                <a:ext cx="31284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A 批准​</a:t>
                </a:r>
              </a:p>
            </p:txBody>
          </p:sp>
          <p:sp>
            <p:nvSpPr>
              <p:cNvPr id="268" name="TextBox 268"/>
              <p:cNvSpPr txBox="1"/>
              <p:nvPr/>
            </p:nvSpPr>
            <p:spPr>
              <a:xfrm>
                <a:off x="9277187" y="4734401"/>
                <a:ext cx="533727" cy="104775"/>
              </a:xfrm>
              <a:prstGeom prst="rect">
                <a:avLst/>
              </a:prstGeom>
              <a:noFill/>
              <a:ln>
                <a:noFill/>
              </a:ln>
            </p:spPr>
            <p:txBody>
              <a:bodyPr wrap="none" lIns="0" tIns="0" rIns="0" bIns="0" anchor="t" anchorCtr="0">
                <a:spAutoFit/>
              </a:bodyPr>
              <a:lstStyle/>
              <a:p>
                <a:pPr algn="ctr"/>
                <a:r>
                  <a:rPr lang="en-US" sz="520" dirty="0">
                    <a:solidFill>
                      <a:srgbClr val="FFFFFF"/>
                    </a:solidFill>
                    <a:latin typeface="+mn-lt"/>
                    <a:ea typeface="+mn-ea"/>
                    <a:cs typeface="+mn-cs"/>
                  </a:rPr>
                  <a:t>(Accountable)​</a:t>
                </a:r>
              </a:p>
            </p:txBody>
          </p:sp>
          <p:sp>
            <p:nvSpPr>
              <p:cNvPr id="269" name="TextBox 269"/>
              <p:cNvSpPr txBox="1"/>
              <p:nvPr/>
            </p:nvSpPr>
            <p:spPr>
              <a:xfrm>
                <a:off x="10340129" y="4607957"/>
                <a:ext cx="31284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C 咨询​</a:t>
                </a:r>
              </a:p>
            </p:txBody>
          </p:sp>
          <p:sp>
            <p:nvSpPr>
              <p:cNvPr id="270" name="TextBox 270"/>
              <p:cNvSpPr txBox="1"/>
              <p:nvPr/>
            </p:nvSpPr>
            <p:spPr>
              <a:xfrm>
                <a:off x="10268132" y="4734401"/>
                <a:ext cx="456836" cy="104775"/>
              </a:xfrm>
              <a:prstGeom prst="rect">
                <a:avLst/>
              </a:prstGeom>
              <a:noFill/>
              <a:ln>
                <a:noFill/>
              </a:ln>
            </p:spPr>
            <p:txBody>
              <a:bodyPr wrap="none" lIns="0" tIns="0" rIns="0" bIns="0" anchor="t" anchorCtr="0">
                <a:spAutoFit/>
              </a:bodyPr>
              <a:lstStyle/>
              <a:p>
                <a:pPr algn="ctr"/>
                <a:r>
                  <a:rPr lang="en-US" sz="520" dirty="0">
                    <a:solidFill>
                      <a:srgbClr val="FFFFFF"/>
                    </a:solidFill>
                    <a:latin typeface="+mn-lt"/>
                    <a:ea typeface="+mn-ea"/>
                    <a:cs typeface="+mn-cs"/>
                  </a:rPr>
                  <a:t>(Consulted)​</a:t>
                </a:r>
              </a:p>
            </p:txBody>
          </p:sp>
          <p:sp>
            <p:nvSpPr>
              <p:cNvPr id="271" name="TextBox 271"/>
              <p:cNvSpPr txBox="1"/>
              <p:nvPr/>
            </p:nvSpPr>
            <p:spPr>
              <a:xfrm>
                <a:off x="11304577" y="4607957"/>
                <a:ext cx="28894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I 知会​</a:t>
                </a:r>
              </a:p>
            </p:txBody>
          </p:sp>
          <p:sp>
            <p:nvSpPr>
              <p:cNvPr id="272" name="TextBox 272"/>
              <p:cNvSpPr txBox="1"/>
              <p:nvPr/>
            </p:nvSpPr>
            <p:spPr>
              <a:xfrm>
                <a:off x="11232794" y="4734401"/>
                <a:ext cx="432511" cy="104775"/>
              </a:xfrm>
              <a:prstGeom prst="rect">
                <a:avLst/>
              </a:prstGeom>
              <a:noFill/>
              <a:ln>
                <a:noFill/>
              </a:ln>
            </p:spPr>
            <p:txBody>
              <a:bodyPr wrap="none" lIns="0" tIns="0" rIns="0" bIns="0" anchor="t" anchorCtr="0">
                <a:spAutoFit/>
              </a:bodyPr>
              <a:lstStyle/>
              <a:p>
                <a:pPr algn="ctr"/>
                <a:r>
                  <a:rPr lang="en-US" sz="520" dirty="0">
                    <a:solidFill>
                      <a:srgbClr val="FFFFFF"/>
                    </a:solidFill>
                    <a:latin typeface="+mn-lt"/>
                    <a:ea typeface="+mn-ea"/>
                    <a:cs typeface="+mn-cs"/>
                  </a:rPr>
                  <a:t>(Informed)​</a:t>
                </a:r>
              </a:p>
            </p:txBody>
          </p:sp>
        </p:grpSp>
        <p:grpSp>
          <p:nvGrpSpPr>
            <p:cNvPr id="304" name="raci-rows"/>
            <p:cNvGrpSpPr/>
            <p:nvPr/>
          </p:nvGrpSpPr>
          <p:grpSpPr>
            <a:xfrm>
              <a:off x="6877050" y="4838700"/>
              <a:ext cx="4991100" cy="1238250"/>
              <a:chOff x="6877050" y="4838700"/>
              <a:chExt cx="4991100" cy="1238250"/>
            </a:xfrm>
          </p:grpSpPr>
          <p:sp>
            <p:nvSpPr>
              <p:cNvPr id="274" name="Rectangle 274"/>
              <p:cNvSpPr/>
              <p:nvPr/>
            </p:nvSpPr>
            <p:spPr>
              <a:xfrm>
                <a:off x="6877050" y="4838700"/>
                <a:ext cx="4991100" cy="247650"/>
              </a:xfrm>
              <a:prstGeom prst="rect">
                <a:avLst/>
              </a:prstGeom>
              <a:solidFill>
                <a:srgbClr val="FFFFFF"/>
              </a:solidFill>
              <a:ln w="7620">
                <a:solidFill>
                  <a:srgbClr val="D9E8E2"/>
                </a:solidFill>
              </a:ln>
            </p:spPr>
          </p:sp>
          <p:sp>
            <p:nvSpPr>
              <p:cNvPr id="275" name="TextBox 275"/>
              <p:cNvSpPr txBox="1"/>
              <p:nvPr/>
            </p:nvSpPr>
            <p:spPr>
              <a:xfrm>
                <a:off x="7117361" y="4931807"/>
                <a:ext cx="662378"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目标分解与下达​</a:t>
                </a:r>
              </a:p>
            </p:txBody>
          </p:sp>
          <p:sp>
            <p:nvSpPr>
              <p:cNvPr id="276" name="TextBox 276"/>
              <p:cNvSpPr txBox="1"/>
              <p:nvPr/>
            </p:nvSpPr>
            <p:spPr>
              <a:xfrm>
                <a:off x="8390781" y="4931807"/>
                <a:ext cx="4015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支行行长​</a:t>
                </a:r>
              </a:p>
            </p:txBody>
          </p:sp>
          <p:sp>
            <p:nvSpPr>
              <p:cNvPr id="277" name="TextBox 277"/>
              <p:cNvSpPr txBox="1"/>
              <p:nvPr/>
            </p:nvSpPr>
            <p:spPr>
              <a:xfrm>
                <a:off x="9257124" y="4931807"/>
                <a:ext cx="57385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分行分管领导​</a:t>
                </a:r>
              </a:p>
            </p:txBody>
          </p:sp>
          <p:sp>
            <p:nvSpPr>
              <p:cNvPr id="278" name="TextBox 278"/>
              <p:cNvSpPr txBox="1"/>
              <p:nvPr/>
            </p:nvSpPr>
            <p:spPr>
              <a:xfrm>
                <a:off x="10209624" y="4931807"/>
                <a:ext cx="57385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各条线负责人​</a:t>
                </a:r>
              </a:p>
            </p:txBody>
          </p:sp>
          <p:sp>
            <p:nvSpPr>
              <p:cNvPr id="279" name="TextBox 279"/>
              <p:cNvSpPr txBox="1"/>
              <p:nvPr/>
            </p:nvSpPr>
            <p:spPr>
              <a:xfrm>
                <a:off x="11248281" y="4931807"/>
                <a:ext cx="4015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全体网点​</a:t>
                </a:r>
              </a:p>
            </p:txBody>
          </p:sp>
          <p:sp>
            <p:nvSpPr>
              <p:cNvPr id="280" name="Rectangle 280"/>
              <p:cNvSpPr/>
              <p:nvPr/>
            </p:nvSpPr>
            <p:spPr>
              <a:xfrm>
                <a:off x="6877050" y="5086350"/>
                <a:ext cx="4991100" cy="247650"/>
              </a:xfrm>
              <a:prstGeom prst="rect">
                <a:avLst/>
              </a:prstGeom>
              <a:solidFill>
                <a:srgbClr val="F7FBF9"/>
              </a:solidFill>
              <a:ln w="7620">
                <a:solidFill>
                  <a:srgbClr val="D9E8E2"/>
                </a:solidFill>
              </a:ln>
            </p:spPr>
          </p:sp>
          <p:sp>
            <p:nvSpPr>
              <p:cNvPr id="281" name="TextBox 281"/>
              <p:cNvSpPr txBox="1"/>
              <p:nvPr/>
            </p:nvSpPr>
            <p:spPr>
              <a:xfrm>
                <a:off x="7117361" y="5179457"/>
                <a:ext cx="662378"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名单制定与调整​</a:t>
                </a:r>
              </a:p>
            </p:txBody>
          </p:sp>
          <p:sp>
            <p:nvSpPr>
              <p:cNvPr id="282" name="TextBox 282"/>
              <p:cNvSpPr txBox="1"/>
              <p:nvPr/>
            </p:nvSpPr>
            <p:spPr>
              <a:xfrm>
                <a:off x="8347702" y="5179457"/>
                <a:ext cx="487695"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网点负责人​</a:t>
                </a:r>
              </a:p>
            </p:txBody>
          </p:sp>
          <p:sp>
            <p:nvSpPr>
              <p:cNvPr id="283" name="TextBox 283"/>
              <p:cNvSpPr txBox="1"/>
              <p:nvPr/>
            </p:nvSpPr>
            <p:spPr>
              <a:xfrm>
                <a:off x="9343281" y="5179457"/>
                <a:ext cx="4015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支行行长​</a:t>
                </a:r>
              </a:p>
            </p:txBody>
          </p:sp>
          <p:sp>
            <p:nvSpPr>
              <p:cNvPr id="284" name="TextBox 284"/>
              <p:cNvSpPr txBox="1"/>
              <p:nvPr/>
            </p:nvSpPr>
            <p:spPr>
              <a:xfrm>
                <a:off x="10185931" y="5179457"/>
                <a:ext cx="6212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公司/零售条线​</a:t>
                </a:r>
              </a:p>
            </p:txBody>
          </p:sp>
          <p:sp>
            <p:nvSpPr>
              <p:cNvPr id="285" name="TextBox 285"/>
              <p:cNvSpPr txBox="1"/>
              <p:nvPr/>
            </p:nvSpPr>
            <p:spPr>
              <a:xfrm>
                <a:off x="11162124" y="5179457"/>
                <a:ext cx="57385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相关客户经理​</a:t>
                </a:r>
              </a:p>
            </p:txBody>
          </p:sp>
          <p:sp>
            <p:nvSpPr>
              <p:cNvPr id="286" name="Rectangle 286"/>
              <p:cNvSpPr/>
              <p:nvPr/>
            </p:nvSpPr>
            <p:spPr>
              <a:xfrm>
                <a:off x="6877050" y="5334000"/>
                <a:ext cx="4991100" cy="247650"/>
              </a:xfrm>
              <a:prstGeom prst="rect">
                <a:avLst/>
              </a:prstGeom>
              <a:solidFill>
                <a:srgbClr val="FFFFFF"/>
              </a:solidFill>
              <a:ln w="7620">
                <a:solidFill>
                  <a:srgbClr val="D9E8E2"/>
                </a:solidFill>
              </a:ln>
            </p:spPr>
          </p:sp>
          <p:sp>
            <p:nvSpPr>
              <p:cNvPr id="287" name="TextBox 287"/>
              <p:cNvSpPr txBox="1"/>
              <p:nvPr/>
            </p:nvSpPr>
            <p:spPr>
              <a:xfrm>
                <a:off x="7117361" y="5427107"/>
                <a:ext cx="662378"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客户营销与跟进​</a:t>
                </a:r>
              </a:p>
            </p:txBody>
          </p:sp>
          <p:sp>
            <p:nvSpPr>
              <p:cNvPr id="288" name="TextBox 288"/>
              <p:cNvSpPr txBox="1"/>
              <p:nvPr/>
            </p:nvSpPr>
            <p:spPr>
              <a:xfrm>
                <a:off x="8390781" y="5427107"/>
                <a:ext cx="4015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客户经理​</a:t>
                </a:r>
              </a:p>
            </p:txBody>
          </p:sp>
          <p:sp>
            <p:nvSpPr>
              <p:cNvPr id="289" name="TextBox 289"/>
              <p:cNvSpPr txBox="1"/>
              <p:nvPr/>
            </p:nvSpPr>
            <p:spPr>
              <a:xfrm>
                <a:off x="9300202" y="5427107"/>
                <a:ext cx="487695"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网点负责人​</a:t>
                </a:r>
              </a:p>
            </p:txBody>
          </p:sp>
          <p:sp>
            <p:nvSpPr>
              <p:cNvPr id="290" name="TextBox 290"/>
              <p:cNvSpPr txBox="1"/>
              <p:nvPr/>
            </p:nvSpPr>
            <p:spPr>
              <a:xfrm>
                <a:off x="10185931" y="5427107"/>
                <a:ext cx="6212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产品经理/专家​</a:t>
                </a:r>
              </a:p>
            </p:txBody>
          </p:sp>
          <p:sp>
            <p:nvSpPr>
              <p:cNvPr id="291" name="TextBox 291"/>
              <p:cNvSpPr txBox="1"/>
              <p:nvPr/>
            </p:nvSpPr>
            <p:spPr>
              <a:xfrm>
                <a:off x="11205202" y="5427107"/>
                <a:ext cx="487695"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支行管理层​</a:t>
                </a:r>
              </a:p>
            </p:txBody>
          </p:sp>
          <p:sp>
            <p:nvSpPr>
              <p:cNvPr id="292" name="Rectangle 292"/>
              <p:cNvSpPr/>
              <p:nvPr/>
            </p:nvSpPr>
            <p:spPr>
              <a:xfrm>
                <a:off x="6877050" y="5581650"/>
                <a:ext cx="4991100" cy="247650"/>
              </a:xfrm>
              <a:prstGeom prst="rect">
                <a:avLst/>
              </a:prstGeom>
              <a:solidFill>
                <a:srgbClr val="F7FBF9"/>
              </a:solidFill>
              <a:ln w="7620">
                <a:solidFill>
                  <a:srgbClr val="D9E8E2"/>
                </a:solidFill>
              </a:ln>
            </p:spPr>
          </p:sp>
          <p:sp>
            <p:nvSpPr>
              <p:cNvPr id="293" name="TextBox 293"/>
              <p:cNvSpPr txBox="1"/>
              <p:nvPr/>
            </p:nvSpPr>
            <p:spPr>
              <a:xfrm>
                <a:off x="7117361" y="5674757"/>
                <a:ext cx="662378"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过程督导与辅导​</a:t>
                </a:r>
              </a:p>
            </p:txBody>
          </p:sp>
          <p:sp>
            <p:nvSpPr>
              <p:cNvPr id="294" name="TextBox 294"/>
              <p:cNvSpPr txBox="1"/>
              <p:nvPr/>
            </p:nvSpPr>
            <p:spPr>
              <a:xfrm>
                <a:off x="8390781" y="5674757"/>
                <a:ext cx="4015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条线团队​</a:t>
                </a:r>
              </a:p>
            </p:txBody>
          </p:sp>
          <p:sp>
            <p:nvSpPr>
              <p:cNvPr id="295" name="TextBox 295"/>
              <p:cNvSpPr txBox="1"/>
              <p:nvPr/>
            </p:nvSpPr>
            <p:spPr>
              <a:xfrm>
                <a:off x="9343281" y="5674757"/>
                <a:ext cx="4015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支行行长​</a:t>
                </a:r>
              </a:p>
            </p:txBody>
          </p:sp>
          <p:sp>
            <p:nvSpPr>
              <p:cNvPr id="296" name="TextBox 296"/>
              <p:cNvSpPr txBox="1"/>
              <p:nvPr/>
            </p:nvSpPr>
            <p:spPr>
              <a:xfrm>
                <a:off x="10220678" y="5674757"/>
                <a:ext cx="551744"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HR/培训团队​</a:t>
                </a:r>
              </a:p>
            </p:txBody>
          </p:sp>
          <p:sp>
            <p:nvSpPr>
              <p:cNvPr id="297" name="TextBox 297"/>
              <p:cNvSpPr txBox="1"/>
              <p:nvPr/>
            </p:nvSpPr>
            <p:spPr>
              <a:xfrm>
                <a:off x="11248281" y="5674757"/>
                <a:ext cx="4015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全体网点​</a:t>
                </a:r>
              </a:p>
            </p:txBody>
          </p:sp>
          <p:sp>
            <p:nvSpPr>
              <p:cNvPr id="298" name="Rectangle 298"/>
              <p:cNvSpPr/>
              <p:nvPr/>
            </p:nvSpPr>
            <p:spPr>
              <a:xfrm>
                <a:off x="6877050" y="5829300"/>
                <a:ext cx="4991100" cy="247650"/>
              </a:xfrm>
              <a:prstGeom prst="rect">
                <a:avLst/>
              </a:prstGeom>
              <a:solidFill>
                <a:srgbClr val="FFFFFF"/>
              </a:solidFill>
              <a:ln w="7620">
                <a:solidFill>
                  <a:srgbClr val="D9E8E2"/>
                </a:solidFill>
              </a:ln>
            </p:spPr>
          </p:sp>
          <p:sp>
            <p:nvSpPr>
              <p:cNvPr id="299" name="TextBox 299"/>
              <p:cNvSpPr txBox="1"/>
              <p:nvPr/>
            </p:nvSpPr>
            <p:spPr>
              <a:xfrm>
                <a:off x="7117361" y="5922407"/>
                <a:ext cx="662378"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效果评估与复盘​</a:t>
                </a:r>
              </a:p>
            </p:txBody>
          </p:sp>
          <p:sp>
            <p:nvSpPr>
              <p:cNvPr id="300" name="TextBox 300"/>
              <p:cNvSpPr txBox="1"/>
              <p:nvPr/>
            </p:nvSpPr>
            <p:spPr>
              <a:xfrm>
                <a:off x="8347702" y="5922407"/>
                <a:ext cx="487695"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网点负责人​</a:t>
                </a:r>
              </a:p>
            </p:txBody>
          </p:sp>
          <p:sp>
            <p:nvSpPr>
              <p:cNvPr id="301" name="TextBox 301"/>
              <p:cNvSpPr txBox="1"/>
              <p:nvPr/>
            </p:nvSpPr>
            <p:spPr>
              <a:xfrm>
                <a:off x="9343281" y="5922407"/>
                <a:ext cx="401538"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支行行长​</a:t>
                </a:r>
              </a:p>
            </p:txBody>
          </p:sp>
          <p:sp>
            <p:nvSpPr>
              <p:cNvPr id="302" name="TextBox 302"/>
              <p:cNvSpPr txBox="1"/>
              <p:nvPr/>
            </p:nvSpPr>
            <p:spPr>
              <a:xfrm>
                <a:off x="10272088" y="5922407"/>
                <a:ext cx="448925"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团队/条线​</a:t>
                </a:r>
              </a:p>
            </p:txBody>
          </p:sp>
          <p:sp>
            <p:nvSpPr>
              <p:cNvPr id="303" name="TextBox 303"/>
              <p:cNvSpPr txBox="1"/>
              <p:nvPr/>
            </p:nvSpPr>
            <p:spPr>
              <a:xfrm>
                <a:off x="11205202" y="5922407"/>
                <a:ext cx="487695"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支行管理层​</a:t>
                </a:r>
              </a:p>
            </p:txBody>
          </p:sp>
        </p:grpSp>
        <p:sp>
          <p:nvSpPr>
            <p:cNvPr id="305" name="TextBox 305"/>
            <p:cNvSpPr txBox="1"/>
            <p:nvPr/>
          </p:nvSpPr>
          <p:spPr>
            <a:xfrm>
              <a:off x="10149363" y="6450806"/>
              <a:ext cx="1705452" cy="220028"/>
            </a:xfrm>
            <a:prstGeom prst="rect">
              <a:avLst/>
            </a:prstGeom>
            <a:noFill/>
            <a:ln>
              <a:noFill/>
            </a:ln>
          </p:spPr>
          <p:txBody>
            <a:bodyPr wrap="none" lIns="0" tIns="0" rIns="0" bIns="0" anchor="t" anchorCtr="0">
              <a:spAutoFit/>
            </a:bodyPr>
            <a:lstStyle/>
            <a:p>
              <a:pPr algn="r"/>
              <a:r>
                <a:rPr lang="zh-CN" sz="1120" b="1" i="1" spc="150" dirty="0">
                  <a:solidFill>
                    <a:srgbClr val="5B180B"/>
                  </a:solidFill>
                  <a:latin typeface="+mn-lt"/>
                  <a:ea typeface="+mn-ea"/>
                  <a:cs typeface="+mn-cs"/>
                </a:rPr>
                <a:t>过程到位 · 目标必达​</a:t>
              </a:r>
            </a:p>
          </p:txBody>
        </p:sp>
        <p:sp>
          <p:nvSpPr>
            <p:cNvPr id="306" name="Freeform 306"/>
            <p:cNvSpPr/>
            <p:nvPr/>
          </p:nvSpPr>
          <p:spPr>
            <a:xfrm>
              <a:off x="10001250" y="6610350"/>
              <a:ext cx="1847850" cy="76200"/>
            </a:xfrm>
            <a:custGeom>
              <a:avLst/>
              <a:gdLst/>
              <a:ahLst/>
              <a:cxnLst/>
              <a:rect l="l" t="t" r="r" b="b"/>
              <a:pathLst>
                <a:path w="1847850" h="76200">
                  <a:moveTo>
                    <a:pt x="0" y="19050"/>
                  </a:moveTo>
                  <a:cubicBezTo>
                    <a:pt x="762000" y="76200"/>
                    <a:pt x="1428750" y="76200"/>
                    <a:pt x="1847850" y="0"/>
                  </a:cubicBezTo>
                </a:path>
              </a:pathLst>
            </a:custGeom>
            <a:noFill/>
            <a:ln w="23812" cap="rnd">
              <a:solidFill>
                <a:srgbClr val="9A412F"/>
              </a:solidFill>
            </a:ln>
          </p:spPr>
        </p:sp>
      </p:gr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8318899" cy="542925"/>
            <a:chOff x="0" y="0"/>
            <a:chExt cx="8318899"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3" name="TextBox 3"/>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17​</a:t>
              </a:r>
            </a:p>
          </p:txBody>
        </p:sp>
        <p:sp>
          <p:nvSpPr>
            <p:cNvPr id="4" name="TextBox 4"/>
            <p:cNvSpPr txBox="1"/>
            <p:nvPr/>
          </p:nvSpPr>
          <p:spPr>
            <a:xfrm>
              <a:off x="942594" y="151448"/>
              <a:ext cx="7376305"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合规风控</a:t>
              </a:r>
              <a:r>
                <a:rPr lang="zh-CN" sz="1950" b="1" dirty="0">
                  <a:solidFill>
                    <a:srgbClr val="5B180B"/>
                  </a:solidFill>
                  <a:latin typeface="+mj-lt"/>
                  <a:ea typeface="+mj-ea"/>
                  <a:cs typeface="+mj-cs"/>
                </a:rPr>
                <a:t xml:space="preserve"> | 营销冲刺必须守住适当性、消保与数据安全底线</a:t>
              </a:r>
              <a:r>
                <a:rPr lang="zh-CN" sz="1950" b="1" dirty="0">
                  <a:solidFill>
                    <a:srgbClr val="1A1A1A"/>
                  </a:solidFill>
                  <a:latin typeface="+mj-lt"/>
                  <a:ea typeface="+mj-ea"/>
                  <a:cs typeface="+mj-cs"/>
                </a:rPr>
                <a:t>​</a:t>
              </a:r>
            </a:p>
          </p:txBody>
        </p:sp>
        <p:sp>
          <p:nvSpPr>
            <p:cNvPr id="5" name="Line 5"/>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61" name="defense-card"/>
          <p:cNvGrpSpPr/>
          <p:nvPr/>
        </p:nvGrpSpPr>
        <p:grpSpPr>
          <a:xfrm>
            <a:off x="228600" y="666750"/>
            <a:ext cx="2819400" cy="3238500"/>
            <a:chOff x="228600" y="666750"/>
            <a:chExt cx="2819400" cy="3238500"/>
          </a:xfrm>
        </p:grpSpPr>
        <p:sp>
          <p:nvSpPr>
            <p:cNvPr id="7" name="Rectangle 7"/>
            <p:cNvSpPr/>
            <p:nvPr/>
          </p:nvSpPr>
          <p:spPr>
            <a:xfrm>
              <a:off x="228600" y="666750"/>
              <a:ext cx="2819400" cy="3238500"/>
            </a:xfrm>
            <a:prstGeom prst="roundRect">
              <a:avLst>
                <a:gd name="adj" fmla="val 3378"/>
              </a:avLst>
            </a:prstGeom>
            <a:solidFill>
              <a:srgbClr val="F5FAF8"/>
            </a:solidFill>
            <a:ln w="9525">
              <a:solidFill>
                <a:srgbClr val="D9E8E2"/>
              </a:solidFill>
            </a:ln>
          </p:spPr>
        </p:sp>
        <p:sp>
          <p:nvSpPr>
            <p:cNvPr id="8" name="Rectangle 8"/>
            <p:cNvSpPr/>
            <p:nvPr/>
          </p:nvSpPr>
          <p:spPr>
            <a:xfrm>
              <a:off x="228600" y="666750"/>
              <a:ext cx="1238250" cy="228600"/>
            </a:xfrm>
            <a:prstGeom prst="roundRect">
              <a:avLst>
                <a:gd name="adj" fmla="val 16667"/>
              </a:avLst>
            </a:prstGeom>
            <a:solidFill>
              <a:srgbClr val="5B180B"/>
            </a:solidFill>
            <a:ln>
              <a:noFill/>
            </a:ln>
          </p:spPr>
        </p:sp>
        <p:sp>
          <p:nvSpPr>
            <p:cNvPr id="9" name="TextBox 9"/>
            <p:cNvSpPr txBox="1"/>
            <p:nvPr/>
          </p:nvSpPr>
          <p:spPr>
            <a:xfrm>
              <a:off x="338138" y="735568"/>
              <a:ext cx="771023"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三道防线协同​</a:t>
              </a:r>
            </a:p>
          </p:txBody>
        </p:sp>
        <p:sp>
          <p:nvSpPr>
            <p:cNvPr id="10" name="TextBox 10"/>
            <p:cNvSpPr txBox="1"/>
            <p:nvPr/>
          </p:nvSpPr>
          <p:spPr>
            <a:xfrm>
              <a:off x="1538288" y="759857"/>
              <a:ext cx="832322" cy="126206"/>
            </a:xfrm>
            <a:prstGeom prst="rect">
              <a:avLst/>
            </a:prstGeom>
            <a:noFill/>
            <a:ln>
              <a:noFill/>
            </a:ln>
          </p:spPr>
          <p:txBody>
            <a:bodyPr wrap="none" lIns="0" tIns="0" rIns="0" bIns="0" anchor="t" anchorCtr="0">
              <a:spAutoFit/>
            </a:bodyPr>
            <a:lstStyle/>
            <a:p>
              <a:pPr algn="l"/>
              <a:r>
                <a:rPr lang="zh-CN" sz="640" dirty="0">
                  <a:solidFill>
                    <a:srgbClr val="8AA39C"/>
                  </a:solidFill>
                  <a:latin typeface="+mn-lt"/>
                  <a:ea typeface="+mn-ea"/>
                  <a:cs typeface="+mn-cs"/>
                </a:rPr>
                <a:t>各司其职、联动管控​</a:t>
              </a:r>
            </a:p>
          </p:txBody>
        </p:sp>
        <p:grpSp>
          <p:nvGrpSpPr>
            <p:cNvPr id="28" name="line-1"/>
            <p:cNvGrpSpPr/>
            <p:nvPr/>
          </p:nvGrpSpPr>
          <p:grpSpPr>
            <a:xfrm>
              <a:off x="323850" y="971550"/>
              <a:ext cx="2628900" cy="895350"/>
              <a:chOff x="323850" y="971550"/>
              <a:chExt cx="2628900" cy="895350"/>
            </a:xfrm>
          </p:grpSpPr>
          <p:sp>
            <p:nvSpPr>
              <p:cNvPr id="11" name="Rectangle 11"/>
              <p:cNvSpPr/>
              <p:nvPr/>
            </p:nvSpPr>
            <p:spPr>
              <a:xfrm>
                <a:off x="323850" y="971550"/>
                <a:ext cx="2628900" cy="895350"/>
              </a:xfrm>
              <a:prstGeom prst="roundRect">
                <a:avLst>
                  <a:gd name="adj" fmla="val 6383"/>
                </a:avLst>
              </a:prstGeom>
              <a:solidFill>
                <a:srgbClr val="FFFFFF"/>
              </a:solidFill>
              <a:ln w="7620">
                <a:solidFill>
                  <a:srgbClr val="D9E8E2"/>
                </a:solidFill>
              </a:ln>
            </p:spPr>
          </p:sp>
          <p:sp>
            <p:nvSpPr>
              <p:cNvPr id="12" name="Rectangle 12"/>
              <p:cNvSpPr/>
              <p:nvPr/>
            </p:nvSpPr>
            <p:spPr>
              <a:xfrm>
                <a:off x="323850" y="971550"/>
                <a:ext cx="1905000" cy="209550"/>
              </a:xfrm>
              <a:prstGeom prst="roundRect">
                <a:avLst>
                  <a:gd name="adj" fmla="val 27273"/>
                </a:avLst>
              </a:prstGeom>
              <a:solidFill>
                <a:srgbClr val="5B180B"/>
              </a:solidFill>
              <a:ln>
                <a:noFill/>
              </a:ln>
            </p:spPr>
          </p:sp>
          <p:sp>
            <p:nvSpPr>
              <p:cNvPr id="13" name="Rectangle 13"/>
              <p:cNvSpPr/>
              <p:nvPr/>
            </p:nvSpPr>
            <p:spPr>
              <a:xfrm>
                <a:off x="323850" y="1085850"/>
                <a:ext cx="1905000" cy="95250"/>
              </a:xfrm>
              <a:prstGeom prst="rect">
                <a:avLst/>
              </a:prstGeom>
              <a:solidFill>
                <a:srgbClr val="5B180B"/>
              </a:solidFill>
              <a:ln>
                <a:noFill/>
              </a:ln>
            </p:spPr>
          </p:sp>
          <p:sp>
            <p:nvSpPr>
              <p:cNvPr id="14" name="TextBox 14"/>
              <p:cNvSpPr txBox="1"/>
              <p:nvPr/>
            </p:nvSpPr>
            <p:spPr>
              <a:xfrm>
                <a:off x="395288" y="1037511"/>
                <a:ext cx="1020525"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第一道防线　网点岗位​</a:t>
                </a:r>
              </a:p>
            </p:txBody>
          </p:sp>
          <p:grpSp>
            <p:nvGrpSpPr>
              <p:cNvPr id="19" name="Group 19"/>
              <p:cNvGrpSpPr/>
              <p:nvPr/>
            </p:nvGrpSpPr>
            <p:grpSpPr>
              <a:xfrm>
                <a:off x="431006" y="1364456"/>
                <a:ext cx="185737" cy="185738"/>
                <a:chOff x="431006" y="1364456"/>
                <a:chExt cx="185737" cy="185738"/>
              </a:xfrm>
            </p:grpSpPr>
            <p:sp>
              <p:nvSpPr>
                <p:cNvPr id="15" name="Freeform 15"/>
                <p:cNvSpPr/>
                <p:nvPr/>
              </p:nvSpPr>
              <p:spPr>
                <a:xfrm>
                  <a:off x="451644" y="13644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5B180B"/>
                  </a:solidFill>
                </a:ln>
              </p:spPr>
            </p:sp>
            <p:sp>
              <p:nvSpPr>
                <p:cNvPr id="16" name="Freeform 16"/>
                <p:cNvSpPr/>
                <p:nvPr/>
              </p:nvSpPr>
              <p:spPr>
                <a:xfrm>
                  <a:off x="431006" y="14882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5B180B"/>
                  </a:solidFill>
                </a:ln>
              </p:spPr>
            </p:sp>
            <p:sp>
              <p:nvSpPr>
                <p:cNvPr id="17" name="Freeform 17"/>
                <p:cNvSpPr/>
                <p:nvPr/>
              </p:nvSpPr>
              <p:spPr>
                <a:xfrm>
                  <a:off x="565149" y="13657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5B180B"/>
                  </a:solidFill>
                </a:ln>
              </p:spPr>
            </p:sp>
            <p:sp>
              <p:nvSpPr>
                <p:cNvPr id="18" name="Freeform 18"/>
                <p:cNvSpPr/>
                <p:nvPr/>
              </p:nvSpPr>
              <p:spPr>
                <a:xfrm>
                  <a:off x="585787" y="14898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5B180B"/>
                  </a:solidFill>
                </a:ln>
              </p:spPr>
            </p:sp>
          </p:grpSp>
          <p:grpSp>
            <p:nvGrpSpPr>
              <p:cNvPr id="24" name="Group 24"/>
              <p:cNvGrpSpPr/>
              <p:nvPr/>
            </p:nvGrpSpPr>
            <p:grpSpPr>
              <a:xfrm>
                <a:off x="738188" y="1264682"/>
                <a:ext cx="908522" cy="526256"/>
                <a:chOff x="738188" y="1264682"/>
                <a:chExt cx="908522" cy="526256"/>
              </a:xfrm>
            </p:grpSpPr>
            <p:sp>
              <p:nvSpPr>
                <p:cNvPr id="20" name="TextBox 20"/>
                <p:cNvSpPr txBox="1"/>
                <p:nvPr/>
              </p:nvSpPr>
              <p:spPr>
                <a:xfrm>
                  <a:off x="738188" y="126468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落实适当性管理​</a:t>
                  </a:r>
                </a:p>
              </p:txBody>
            </p:sp>
            <p:sp>
              <p:nvSpPr>
                <p:cNvPr id="21" name="TextBox 21"/>
                <p:cNvSpPr txBox="1"/>
                <p:nvPr/>
              </p:nvSpPr>
              <p:spPr>
                <a:xfrm>
                  <a:off x="738188" y="139803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规范销售行为​</a:t>
                  </a:r>
                </a:p>
              </p:txBody>
            </p:sp>
            <p:sp>
              <p:nvSpPr>
                <p:cNvPr id="22" name="TextBox 22"/>
                <p:cNvSpPr txBox="1"/>
                <p:nvPr/>
              </p:nvSpPr>
              <p:spPr>
                <a:xfrm>
                  <a:off x="738188" y="1531382"/>
                  <a:ext cx="90852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做好客户告知与双录​</a:t>
                  </a:r>
                </a:p>
              </p:txBody>
            </p:sp>
            <p:sp>
              <p:nvSpPr>
                <p:cNvPr id="23" name="TextBox 23"/>
                <p:cNvSpPr txBox="1"/>
                <p:nvPr/>
              </p:nvSpPr>
              <p:spPr>
                <a:xfrm>
                  <a:off x="738188" y="166473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识别并上报风险​</a:t>
                  </a:r>
                </a:p>
              </p:txBody>
            </p:sp>
          </p:grpSp>
          <p:sp>
            <p:nvSpPr>
              <p:cNvPr id="25" name="Rectangle 25"/>
              <p:cNvSpPr/>
              <p:nvPr/>
            </p:nvSpPr>
            <p:spPr>
              <a:xfrm>
                <a:off x="2305050" y="1238250"/>
                <a:ext cx="571500" cy="552450"/>
              </a:xfrm>
              <a:prstGeom prst="roundRect">
                <a:avLst>
                  <a:gd name="adj" fmla="val 8621"/>
                </a:avLst>
              </a:prstGeom>
              <a:solidFill>
                <a:srgbClr val="E9F4F0"/>
              </a:solidFill>
              <a:ln>
                <a:noFill/>
              </a:ln>
            </p:spPr>
          </p:sp>
          <p:sp>
            <p:nvSpPr>
              <p:cNvPr id="26" name="TextBox 26"/>
              <p:cNvSpPr txBox="1"/>
              <p:nvPr/>
            </p:nvSpPr>
            <p:spPr>
              <a:xfrm>
                <a:off x="2388846" y="1398032"/>
                <a:ext cx="40390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人人合规​</a:t>
                </a:r>
              </a:p>
            </p:txBody>
          </p:sp>
          <p:sp>
            <p:nvSpPr>
              <p:cNvPr id="27" name="TextBox 27"/>
              <p:cNvSpPr txBox="1"/>
              <p:nvPr/>
            </p:nvSpPr>
            <p:spPr>
              <a:xfrm>
                <a:off x="2388846" y="1550432"/>
                <a:ext cx="40390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事事留痕​</a:t>
                </a:r>
              </a:p>
            </p:txBody>
          </p:sp>
        </p:grpSp>
        <p:grpSp>
          <p:nvGrpSpPr>
            <p:cNvPr id="44" name="line-2"/>
            <p:cNvGrpSpPr/>
            <p:nvPr/>
          </p:nvGrpSpPr>
          <p:grpSpPr>
            <a:xfrm>
              <a:off x="323850" y="1943100"/>
              <a:ext cx="2628900" cy="895350"/>
              <a:chOff x="323850" y="1943100"/>
              <a:chExt cx="2628900" cy="895350"/>
            </a:xfrm>
          </p:grpSpPr>
          <p:sp>
            <p:nvSpPr>
              <p:cNvPr id="29" name="Rectangle 29"/>
              <p:cNvSpPr/>
              <p:nvPr/>
            </p:nvSpPr>
            <p:spPr>
              <a:xfrm>
                <a:off x="323850" y="1943100"/>
                <a:ext cx="2628900" cy="895350"/>
              </a:xfrm>
              <a:prstGeom prst="roundRect">
                <a:avLst>
                  <a:gd name="adj" fmla="val 6383"/>
                </a:avLst>
              </a:prstGeom>
              <a:solidFill>
                <a:srgbClr val="FFFFFF"/>
              </a:solidFill>
              <a:ln w="7620">
                <a:solidFill>
                  <a:srgbClr val="D9E8E2"/>
                </a:solidFill>
              </a:ln>
            </p:spPr>
          </p:sp>
          <p:sp>
            <p:nvSpPr>
              <p:cNvPr id="30" name="Rectangle 30"/>
              <p:cNvSpPr/>
              <p:nvPr/>
            </p:nvSpPr>
            <p:spPr>
              <a:xfrm>
                <a:off x="323850" y="1943100"/>
                <a:ext cx="1905000" cy="209550"/>
              </a:xfrm>
              <a:prstGeom prst="roundRect">
                <a:avLst>
                  <a:gd name="adj" fmla="val 27273"/>
                </a:avLst>
              </a:prstGeom>
              <a:solidFill>
                <a:srgbClr val="722617"/>
              </a:solidFill>
              <a:ln>
                <a:noFill/>
              </a:ln>
            </p:spPr>
          </p:sp>
          <p:sp>
            <p:nvSpPr>
              <p:cNvPr id="31" name="Rectangle 31"/>
              <p:cNvSpPr/>
              <p:nvPr/>
            </p:nvSpPr>
            <p:spPr>
              <a:xfrm>
                <a:off x="323850" y="2057400"/>
                <a:ext cx="1905000" cy="95250"/>
              </a:xfrm>
              <a:prstGeom prst="rect">
                <a:avLst/>
              </a:prstGeom>
              <a:solidFill>
                <a:srgbClr val="722617"/>
              </a:solidFill>
              <a:ln>
                <a:noFill/>
              </a:ln>
            </p:spPr>
          </p:sp>
          <p:sp>
            <p:nvSpPr>
              <p:cNvPr id="32" name="TextBox 32"/>
              <p:cNvSpPr txBox="1"/>
              <p:nvPr/>
            </p:nvSpPr>
            <p:spPr>
              <a:xfrm>
                <a:off x="395288" y="2009061"/>
                <a:ext cx="1020525"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第二道防线　业务管理​</a:t>
                </a:r>
              </a:p>
            </p:txBody>
          </p:sp>
          <p:grpSp>
            <p:nvGrpSpPr>
              <p:cNvPr id="35" name="Group 35"/>
              <p:cNvGrpSpPr/>
              <p:nvPr/>
            </p:nvGrpSpPr>
            <p:grpSpPr>
              <a:xfrm>
                <a:off x="426476" y="2331476"/>
                <a:ext cx="194797" cy="194797"/>
                <a:chOff x="426476" y="2331476"/>
                <a:chExt cx="194797" cy="194797"/>
              </a:xfrm>
            </p:grpSpPr>
            <p:sp>
              <p:nvSpPr>
                <p:cNvPr id="33" name="Freeform 33"/>
                <p:cNvSpPr/>
                <p:nvPr/>
              </p:nvSpPr>
              <p:spPr>
                <a:xfrm>
                  <a:off x="426476" y="2331476"/>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722617"/>
                  </a:solidFill>
                </a:ln>
              </p:spPr>
            </p:sp>
            <p:sp>
              <p:nvSpPr>
                <p:cNvPr id="34" name="Freeform 34"/>
                <p:cNvSpPr/>
                <p:nvPr/>
              </p:nvSpPr>
              <p:spPr>
                <a:xfrm>
                  <a:off x="492918" y="2397918"/>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722617"/>
                  </a:solidFill>
                </a:ln>
              </p:spPr>
            </p:sp>
          </p:grpSp>
          <p:grpSp>
            <p:nvGrpSpPr>
              <p:cNvPr id="40" name="Group 40"/>
              <p:cNvGrpSpPr/>
              <p:nvPr/>
            </p:nvGrpSpPr>
            <p:grpSpPr>
              <a:xfrm>
                <a:off x="738188" y="2236232"/>
                <a:ext cx="908522" cy="526256"/>
                <a:chOff x="738188" y="2236232"/>
                <a:chExt cx="908522" cy="526256"/>
              </a:xfrm>
            </p:grpSpPr>
            <p:sp>
              <p:nvSpPr>
                <p:cNvPr id="36" name="TextBox 36"/>
                <p:cNvSpPr txBox="1"/>
                <p:nvPr/>
              </p:nvSpPr>
              <p:spPr>
                <a:xfrm>
                  <a:off x="738188" y="223623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制定制度与流程​</a:t>
                  </a:r>
                </a:p>
              </p:txBody>
            </p:sp>
            <p:sp>
              <p:nvSpPr>
                <p:cNvPr id="37" name="TextBox 37"/>
                <p:cNvSpPr txBox="1"/>
                <p:nvPr/>
              </p:nvSpPr>
              <p:spPr>
                <a:xfrm>
                  <a:off x="738188" y="236958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开展培训与辅导​</a:t>
                  </a:r>
                </a:p>
              </p:txBody>
            </p:sp>
            <p:sp>
              <p:nvSpPr>
                <p:cNvPr id="38" name="TextBox 38"/>
                <p:cNvSpPr txBox="1"/>
                <p:nvPr/>
              </p:nvSpPr>
              <p:spPr>
                <a:xfrm>
                  <a:off x="738188" y="2502932"/>
                  <a:ext cx="90852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监测预警与数据分析​</a:t>
                  </a:r>
                </a:p>
              </p:txBody>
            </p:sp>
            <p:sp>
              <p:nvSpPr>
                <p:cNvPr id="39" name="TextBox 39"/>
                <p:cNvSpPr txBox="1"/>
                <p:nvPr/>
              </p:nvSpPr>
              <p:spPr>
                <a:xfrm>
                  <a:off x="738188" y="263628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推动问题整改​</a:t>
                  </a:r>
                </a:p>
              </p:txBody>
            </p:sp>
          </p:grpSp>
          <p:sp>
            <p:nvSpPr>
              <p:cNvPr id="41" name="Rectangle 41"/>
              <p:cNvSpPr/>
              <p:nvPr/>
            </p:nvSpPr>
            <p:spPr>
              <a:xfrm>
                <a:off x="2305050" y="2209800"/>
                <a:ext cx="571500" cy="552450"/>
              </a:xfrm>
              <a:prstGeom prst="roundRect">
                <a:avLst>
                  <a:gd name="adj" fmla="val 8621"/>
                </a:avLst>
              </a:prstGeom>
              <a:solidFill>
                <a:srgbClr val="E9F4F0"/>
              </a:solidFill>
              <a:ln>
                <a:noFill/>
              </a:ln>
            </p:spPr>
          </p:sp>
          <p:sp>
            <p:nvSpPr>
              <p:cNvPr id="42" name="TextBox 42"/>
              <p:cNvSpPr txBox="1"/>
              <p:nvPr/>
            </p:nvSpPr>
            <p:spPr>
              <a:xfrm>
                <a:off x="2388846" y="2369582"/>
                <a:ext cx="40390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流程管控​</a:t>
                </a:r>
              </a:p>
            </p:txBody>
          </p:sp>
          <p:sp>
            <p:nvSpPr>
              <p:cNvPr id="43" name="TextBox 43"/>
              <p:cNvSpPr txBox="1"/>
              <p:nvPr/>
            </p:nvSpPr>
            <p:spPr>
              <a:xfrm>
                <a:off x="2388846" y="2521982"/>
                <a:ext cx="40390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风险前置​</a:t>
                </a:r>
              </a:p>
            </p:txBody>
          </p:sp>
        </p:grpSp>
        <p:grpSp>
          <p:nvGrpSpPr>
            <p:cNvPr id="60" name="line-3"/>
            <p:cNvGrpSpPr/>
            <p:nvPr/>
          </p:nvGrpSpPr>
          <p:grpSpPr>
            <a:xfrm>
              <a:off x="323850" y="2914650"/>
              <a:ext cx="2628900" cy="895350"/>
              <a:chOff x="323850" y="2914650"/>
              <a:chExt cx="2628900" cy="895350"/>
            </a:xfrm>
          </p:grpSpPr>
          <p:sp>
            <p:nvSpPr>
              <p:cNvPr id="45" name="Rectangle 45"/>
              <p:cNvSpPr/>
              <p:nvPr/>
            </p:nvSpPr>
            <p:spPr>
              <a:xfrm>
                <a:off x="323850" y="2914650"/>
                <a:ext cx="2628900" cy="895350"/>
              </a:xfrm>
              <a:prstGeom prst="roundRect">
                <a:avLst>
                  <a:gd name="adj" fmla="val 6383"/>
                </a:avLst>
              </a:prstGeom>
              <a:solidFill>
                <a:srgbClr val="FFFFFF"/>
              </a:solidFill>
              <a:ln w="7620">
                <a:solidFill>
                  <a:srgbClr val="D9E8E2"/>
                </a:solidFill>
              </a:ln>
            </p:spPr>
          </p:sp>
          <p:sp>
            <p:nvSpPr>
              <p:cNvPr id="46" name="Rectangle 46"/>
              <p:cNvSpPr/>
              <p:nvPr/>
            </p:nvSpPr>
            <p:spPr>
              <a:xfrm>
                <a:off x="323850" y="2914650"/>
                <a:ext cx="1905000" cy="209550"/>
              </a:xfrm>
              <a:prstGeom prst="roundRect">
                <a:avLst>
                  <a:gd name="adj" fmla="val 27273"/>
                </a:avLst>
              </a:prstGeom>
              <a:solidFill>
                <a:srgbClr val="9A412F"/>
              </a:solidFill>
              <a:ln>
                <a:noFill/>
              </a:ln>
            </p:spPr>
          </p:sp>
          <p:sp>
            <p:nvSpPr>
              <p:cNvPr id="47" name="Rectangle 47"/>
              <p:cNvSpPr/>
              <p:nvPr/>
            </p:nvSpPr>
            <p:spPr>
              <a:xfrm>
                <a:off x="323850" y="3028950"/>
                <a:ext cx="1905000" cy="95250"/>
              </a:xfrm>
              <a:prstGeom prst="rect">
                <a:avLst/>
              </a:prstGeom>
              <a:solidFill>
                <a:srgbClr val="9A412F"/>
              </a:solidFill>
              <a:ln>
                <a:noFill/>
              </a:ln>
            </p:spPr>
          </p:sp>
          <p:sp>
            <p:nvSpPr>
              <p:cNvPr id="48" name="TextBox 48"/>
              <p:cNvSpPr txBox="1"/>
              <p:nvPr/>
            </p:nvSpPr>
            <p:spPr>
              <a:xfrm>
                <a:off x="395288" y="2980611"/>
                <a:ext cx="1020525"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第三道防线　合规审计​</a:t>
                </a:r>
              </a:p>
            </p:txBody>
          </p:sp>
          <p:grpSp>
            <p:nvGrpSpPr>
              <p:cNvPr id="51" name="Group 51"/>
              <p:cNvGrpSpPr/>
              <p:nvPr/>
            </p:nvGrpSpPr>
            <p:grpSpPr>
              <a:xfrm>
                <a:off x="417081" y="3307556"/>
                <a:ext cx="201506" cy="185737"/>
                <a:chOff x="417081" y="3307556"/>
                <a:chExt cx="201506" cy="185737"/>
              </a:xfrm>
            </p:grpSpPr>
            <p:sp>
              <p:nvSpPr>
                <p:cNvPr id="49" name="Freeform 49"/>
                <p:cNvSpPr/>
                <p:nvPr/>
              </p:nvSpPr>
              <p:spPr>
                <a:xfrm>
                  <a:off x="417081" y="330755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9A412F"/>
                  </a:solidFill>
                </a:ln>
              </p:spPr>
            </p:sp>
            <p:sp>
              <p:nvSpPr>
                <p:cNvPr id="50" name="Freeform 50"/>
                <p:cNvSpPr/>
                <p:nvPr/>
              </p:nvSpPr>
              <p:spPr>
                <a:xfrm>
                  <a:off x="554831" y="3452018"/>
                  <a:ext cx="61912" cy="41275"/>
                </a:xfrm>
                <a:custGeom>
                  <a:avLst/>
                  <a:gdLst/>
                  <a:ahLst/>
                  <a:cxnLst/>
                  <a:rect l="l" t="t" r="r" b="b"/>
                  <a:pathLst>
                    <a:path w="61912" h="41275">
                      <a:moveTo>
                        <a:pt x="0" y="20637"/>
                      </a:moveTo>
                      <a:lnTo>
                        <a:pt x="20637" y="41275"/>
                      </a:lnTo>
                      <a:lnTo>
                        <a:pt x="61912" y="0"/>
                      </a:lnTo>
                    </a:path>
                  </a:pathLst>
                </a:custGeom>
                <a:noFill/>
                <a:ln w="20637">
                  <a:solidFill>
                    <a:srgbClr val="9A412F"/>
                  </a:solidFill>
                </a:ln>
              </p:spPr>
            </p:sp>
          </p:grpSp>
          <p:grpSp>
            <p:nvGrpSpPr>
              <p:cNvPr id="56" name="Group 56"/>
              <p:cNvGrpSpPr/>
              <p:nvPr/>
            </p:nvGrpSpPr>
            <p:grpSpPr>
              <a:xfrm>
                <a:off x="738188" y="3207782"/>
                <a:ext cx="736209" cy="526256"/>
                <a:chOff x="738188" y="3207782"/>
                <a:chExt cx="736209" cy="526256"/>
              </a:xfrm>
            </p:grpSpPr>
            <p:sp>
              <p:nvSpPr>
                <p:cNvPr id="52" name="TextBox 52"/>
                <p:cNvSpPr txBox="1"/>
                <p:nvPr/>
              </p:nvSpPr>
              <p:spPr>
                <a:xfrm>
                  <a:off x="738188" y="320778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独立检查与审计​</a:t>
                  </a:r>
                </a:p>
              </p:txBody>
            </p:sp>
            <p:sp>
              <p:nvSpPr>
                <p:cNvPr id="53" name="TextBox 53"/>
                <p:cNvSpPr txBox="1"/>
                <p:nvPr/>
              </p:nvSpPr>
              <p:spPr>
                <a:xfrm>
                  <a:off x="738188" y="334113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评估制度有效性​</a:t>
                  </a:r>
                </a:p>
              </p:txBody>
            </p:sp>
            <p:sp>
              <p:nvSpPr>
                <p:cNvPr id="54" name="TextBox 54"/>
                <p:cNvSpPr txBox="1"/>
                <p:nvPr/>
              </p:nvSpPr>
              <p:spPr>
                <a:xfrm>
                  <a:off x="738188" y="3474482"/>
                  <a:ext cx="736209"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追踪整改与问责​</a:t>
                  </a:r>
                </a:p>
              </p:txBody>
            </p:sp>
            <p:sp>
              <p:nvSpPr>
                <p:cNvPr id="55" name="TextBox 55"/>
                <p:cNvSpPr txBox="1"/>
                <p:nvPr/>
              </p:nvSpPr>
              <p:spPr>
                <a:xfrm>
                  <a:off x="738188" y="3607832"/>
                  <a:ext cx="650052" cy="126206"/>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640" dirty="0">
                      <a:solidFill>
                        <a:srgbClr val="4A3D3A"/>
                      </a:solidFill>
                      <a:latin typeface="+mn-lt"/>
                      <a:ea typeface="+mn-ea"/>
                      <a:cs typeface="+mn-cs"/>
                    </a:rPr>
                    <a:t>提出改进建议​</a:t>
                  </a:r>
                </a:p>
              </p:txBody>
            </p:sp>
          </p:grpSp>
          <p:sp>
            <p:nvSpPr>
              <p:cNvPr id="57" name="Rectangle 57"/>
              <p:cNvSpPr/>
              <p:nvPr/>
            </p:nvSpPr>
            <p:spPr>
              <a:xfrm>
                <a:off x="2305050" y="3181350"/>
                <a:ext cx="571500" cy="552450"/>
              </a:xfrm>
              <a:prstGeom prst="roundRect">
                <a:avLst>
                  <a:gd name="adj" fmla="val 8621"/>
                </a:avLst>
              </a:prstGeom>
              <a:solidFill>
                <a:srgbClr val="E9F4F0"/>
              </a:solidFill>
              <a:ln>
                <a:noFill/>
              </a:ln>
            </p:spPr>
          </p:sp>
          <p:sp>
            <p:nvSpPr>
              <p:cNvPr id="58" name="TextBox 58"/>
              <p:cNvSpPr txBox="1"/>
              <p:nvPr/>
            </p:nvSpPr>
            <p:spPr>
              <a:xfrm>
                <a:off x="2388846" y="3341132"/>
                <a:ext cx="40390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独立监督​</a:t>
                </a:r>
              </a:p>
            </p:txBody>
          </p:sp>
          <p:sp>
            <p:nvSpPr>
              <p:cNvPr id="59" name="TextBox 59"/>
              <p:cNvSpPr txBox="1"/>
              <p:nvPr/>
            </p:nvSpPr>
            <p:spPr>
              <a:xfrm>
                <a:off x="2388846" y="3493532"/>
                <a:ext cx="40390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严肃问责​</a:t>
                </a:r>
              </a:p>
            </p:txBody>
          </p:sp>
        </p:grpSp>
      </p:grpSp>
      <p:grpSp>
        <p:nvGrpSpPr>
          <p:cNvPr id="154" name="risk-matrix"/>
          <p:cNvGrpSpPr/>
          <p:nvPr/>
        </p:nvGrpSpPr>
        <p:grpSpPr>
          <a:xfrm>
            <a:off x="3162300" y="666750"/>
            <a:ext cx="4838700" cy="3238500"/>
            <a:chOff x="3162300" y="666750"/>
            <a:chExt cx="4838700" cy="3238500"/>
          </a:xfrm>
        </p:grpSpPr>
        <p:sp>
          <p:nvSpPr>
            <p:cNvPr id="62" name="Rectangle 62"/>
            <p:cNvSpPr/>
            <p:nvPr/>
          </p:nvSpPr>
          <p:spPr>
            <a:xfrm>
              <a:off x="3162300" y="666750"/>
              <a:ext cx="4838700" cy="3238500"/>
            </a:xfrm>
            <a:prstGeom prst="roundRect">
              <a:avLst>
                <a:gd name="adj" fmla="val 2941"/>
              </a:avLst>
            </a:prstGeom>
            <a:solidFill>
              <a:srgbClr val="F5FAF8"/>
            </a:solidFill>
            <a:ln w="9525">
              <a:solidFill>
                <a:srgbClr val="D9E8E2"/>
              </a:solidFill>
            </a:ln>
          </p:spPr>
        </p:sp>
        <p:sp>
          <p:nvSpPr>
            <p:cNvPr id="63" name="Rectangle 63"/>
            <p:cNvSpPr/>
            <p:nvPr/>
          </p:nvSpPr>
          <p:spPr>
            <a:xfrm>
              <a:off x="3162300" y="666750"/>
              <a:ext cx="2286000" cy="228600"/>
            </a:xfrm>
            <a:prstGeom prst="roundRect">
              <a:avLst>
                <a:gd name="adj" fmla="val 16667"/>
              </a:avLst>
            </a:prstGeom>
            <a:solidFill>
              <a:srgbClr val="5B180B"/>
            </a:solidFill>
            <a:ln>
              <a:noFill/>
            </a:ln>
          </p:spPr>
        </p:sp>
        <p:sp>
          <p:nvSpPr>
            <p:cNvPr id="64" name="TextBox 64"/>
            <p:cNvSpPr txBox="1"/>
            <p:nvPr/>
          </p:nvSpPr>
          <p:spPr>
            <a:xfrm>
              <a:off x="3271838" y="735568"/>
              <a:ext cx="1795476"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重点风险矩阵</a:t>
              </a:r>
              <a:r>
                <a:rPr lang="zh-CN" sz="640" dirty="0">
                  <a:solidFill>
                    <a:srgbClr val="BFDDD6"/>
                  </a:solidFill>
                  <a:latin typeface="+mn-lt"/>
                  <a:ea typeface="+mn-ea"/>
                  <a:cs typeface="+mn-cs"/>
                </a:rPr>
                <a:t>（2026年Q4 营销冲刺期）</a:t>
              </a:r>
              <a:r>
                <a:rPr lang="zh-CN" sz="860" b="1" dirty="0">
                  <a:solidFill>
                    <a:srgbClr val="FFFFFF"/>
                  </a:solidFill>
                  <a:latin typeface="+mn-lt"/>
                  <a:ea typeface="+mn-ea"/>
                  <a:cs typeface="+mn-cs"/>
                </a:rPr>
                <a:t>​</a:t>
              </a:r>
            </a:p>
          </p:txBody>
        </p:sp>
        <p:grpSp>
          <p:nvGrpSpPr>
            <p:cNvPr id="72" name="Group 72"/>
            <p:cNvGrpSpPr/>
            <p:nvPr/>
          </p:nvGrpSpPr>
          <p:grpSpPr>
            <a:xfrm>
              <a:off x="3276600" y="952500"/>
              <a:ext cx="4629150" cy="228600"/>
              <a:chOff x="3276600" y="952500"/>
              <a:chExt cx="4629150" cy="228600"/>
            </a:xfrm>
          </p:grpSpPr>
          <p:sp>
            <p:nvSpPr>
              <p:cNvPr id="65" name="Rectangle 65"/>
              <p:cNvSpPr/>
              <p:nvPr/>
            </p:nvSpPr>
            <p:spPr>
              <a:xfrm>
                <a:off x="3276600" y="952500"/>
                <a:ext cx="4629150" cy="228600"/>
              </a:xfrm>
              <a:prstGeom prst="rect">
                <a:avLst/>
              </a:prstGeom>
              <a:solidFill>
                <a:srgbClr val="722617"/>
              </a:solidFill>
              <a:ln>
                <a:noFill/>
              </a:ln>
            </p:spPr>
          </p:sp>
          <p:sp>
            <p:nvSpPr>
              <p:cNvPr id="66" name="TextBox 66"/>
              <p:cNvSpPr txBox="1"/>
              <p:nvPr/>
            </p:nvSpPr>
            <p:spPr>
              <a:xfrm>
                <a:off x="3436596" y="1036082"/>
                <a:ext cx="40390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风险事件​</a:t>
                </a:r>
              </a:p>
            </p:txBody>
          </p:sp>
          <p:sp>
            <p:nvSpPr>
              <p:cNvPr id="67" name="TextBox 67"/>
              <p:cNvSpPr txBox="1"/>
              <p:nvPr/>
            </p:nvSpPr>
            <p:spPr>
              <a:xfrm>
                <a:off x="4032125" y="1036082"/>
                <a:ext cx="31775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可能性​</a:t>
                </a:r>
              </a:p>
            </p:txBody>
          </p:sp>
          <p:sp>
            <p:nvSpPr>
              <p:cNvPr id="68" name="TextBox 68"/>
              <p:cNvSpPr txBox="1"/>
              <p:nvPr/>
            </p:nvSpPr>
            <p:spPr>
              <a:xfrm>
                <a:off x="4389096" y="1036082"/>
                <a:ext cx="40390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影响程度​</a:t>
                </a:r>
              </a:p>
            </p:txBody>
          </p:sp>
          <p:sp>
            <p:nvSpPr>
              <p:cNvPr id="69" name="TextBox 69"/>
              <p:cNvSpPr txBox="1"/>
              <p:nvPr/>
            </p:nvSpPr>
            <p:spPr>
              <a:xfrm>
                <a:off x="4789146" y="1036082"/>
                <a:ext cx="40390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风险等级​</a:t>
                </a:r>
              </a:p>
            </p:txBody>
          </p:sp>
          <p:sp>
            <p:nvSpPr>
              <p:cNvPr id="70" name="TextBox 70"/>
              <p:cNvSpPr txBox="1"/>
              <p:nvPr/>
            </p:nvSpPr>
            <p:spPr>
              <a:xfrm>
                <a:off x="5760696" y="1036082"/>
                <a:ext cx="40390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主要表现​</a:t>
                </a:r>
              </a:p>
            </p:txBody>
          </p:sp>
          <p:sp>
            <p:nvSpPr>
              <p:cNvPr id="71" name="TextBox 71"/>
              <p:cNvSpPr txBox="1"/>
              <p:nvPr/>
            </p:nvSpPr>
            <p:spPr>
              <a:xfrm>
                <a:off x="7113246" y="1036082"/>
                <a:ext cx="40390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管控重点​</a:t>
                </a:r>
              </a:p>
            </p:txBody>
          </p:sp>
        </p:grpSp>
        <p:grpSp>
          <p:nvGrpSpPr>
            <p:cNvPr id="145" name="risk-rows"/>
            <p:cNvGrpSpPr/>
            <p:nvPr/>
          </p:nvGrpSpPr>
          <p:grpSpPr>
            <a:xfrm>
              <a:off x="3276600" y="1181100"/>
              <a:ext cx="4629150" cy="2400300"/>
              <a:chOff x="3276600" y="1181100"/>
              <a:chExt cx="4629150" cy="2400300"/>
            </a:xfrm>
          </p:grpSpPr>
          <p:sp>
            <p:nvSpPr>
              <p:cNvPr id="73" name="Rectangle 73"/>
              <p:cNvSpPr/>
              <p:nvPr/>
            </p:nvSpPr>
            <p:spPr>
              <a:xfrm>
                <a:off x="3276600" y="1181100"/>
                <a:ext cx="4629150" cy="400050"/>
              </a:xfrm>
              <a:prstGeom prst="rect">
                <a:avLst/>
              </a:prstGeom>
              <a:solidFill>
                <a:srgbClr val="FFFFFF"/>
              </a:solidFill>
              <a:ln w="7620">
                <a:solidFill>
                  <a:srgbClr val="D9E8E2"/>
                </a:solidFill>
              </a:ln>
            </p:spPr>
          </p:sp>
          <p:sp>
            <p:nvSpPr>
              <p:cNvPr id="74" name="TextBox 74"/>
              <p:cNvSpPr txBox="1"/>
              <p:nvPr/>
            </p:nvSpPr>
            <p:spPr>
              <a:xfrm>
                <a:off x="3424272" y="1346359"/>
                <a:ext cx="428557" cy="133350"/>
              </a:xfrm>
              <a:prstGeom prst="rect">
                <a:avLst/>
              </a:prstGeom>
              <a:noFill/>
              <a:ln>
                <a:noFill/>
              </a:ln>
            </p:spPr>
            <p:txBody>
              <a:bodyPr wrap="none" lIns="0" tIns="0" rIns="0" bIns="0" anchor="t" anchorCtr="0">
                <a:spAutoFit/>
              </a:bodyPr>
              <a:lstStyle/>
              <a:p>
                <a:pPr algn="ctr"/>
                <a:r>
                  <a:rPr lang="zh-CN" sz="680" b="1" dirty="0">
                    <a:solidFill>
                      <a:srgbClr val="312624"/>
                    </a:solidFill>
                    <a:latin typeface="+mn-lt"/>
                    <a:ea typeface="+mn-ea"/>
                    <a:cs typeface="+mn-cs"/>
                  </a:rPr>
                  <a:t>误导销售​</a:t>
                </a:r>
              </a:p>
            </p:txBody>
          </p:sp>
          <p:sp>
            <p:nvSpPr>
              <p:cNvPr id="75" name="Rectangle 75"/>
              <p:cNvSpPr/>
              <p:nvPr/>
            </p:nvSpPr>
            <p:spPr>
              <a:xfrm>
                <a:off x="4019550" y="1181100"/>
                <a:ext cx="381000" cy="400050"/>
              </a:xfrm>
              <a:prstGeom prst="rect">
                <a:avLst/>
              </a:prstGeom>
              <a:solidFill>
                <a:srgbClr val="FBF3DC"/>
              </a:solidFill>
              <a:ln>
                <a:noFill/>
              </a:ln>
            </p:spPr>
          </p:sp>
          <p:sp>
            <p:nvSpPr>
              <p:cNvPr id="76" name="TextBox 76"/>
              <p:cNvSpPr txBox="1"/>
              <p:nvPr/>
            </p:nvSpPr>
            <p:spPr>
              <a:xfrm>
                <a:off x="4142689" y="1354455"/>
                <a:ext cx="134722" cy="119062"/>
              </a:xfrm>
              <a:prstGeom prst="rect">
                <a:avLst/>
              </a:prstGeom>
              <a:noFill/>
              <a:ln>
                <a:noFill/>
              </a:ln>
            </p:spPr>
            <p:txBody>
              <a:bodyPr wrap="none" lIns="0" tIns="0" rIns="0" bIns="0" anchor="t" anchorCtr="0">
                <a:spAutoFit/>
              </a:bodyPr>
              <a:lstStyle/>
              <a:p>
                <a:pPr algn="ctr"/>
                <a:r>
                  <a:rPr lang="zh-CN" sz="600" dirty="0">
                    <a:solidFill>
                      <a:srgbClr val="8A2716"/>
                    </a:solidFill>
                    <a:latin typeface="+mn-lt"/>
                    <a:ea typeface="+mn-ea"/>
                    <a:cs typeface="+mn-cs"/>
                  </a:rPr>
                  <a:t>中​</a:t>
                </a:r>
              </a:p>
            </p:txBody>
          </p:sp>
          <p:sp>
            <p:nvSpPr>
              <p:cNvPr id="77" name="Rectangle 77"/>
              <p:cNvSpPr/>
              <p:nvPr/>
            </p:nvSpPr>
            <p:spPr>
              <a:xfrm>
                <a:off x="4400550" y="1181100"/>
                <a:ext cx="381000" cy="400050"/>
              </a:xfrm>
              <a:prstGeom prst="rect">
                <a:avLst/>
              </a:prstGeom>
              <a:solidFill>
                <a:srgbClr val="FBEDEB"/>
              </a:solidFill>
              <a:ln>
                <a:noFill/>
              </a:ln>
            </p:spPr>
          </p:sp>
          <p:sp>
            <p:nvSpPr>
              <p:cNvPr id="78" name="TextBox 78"/>
              <p:cNvSpPr txBox="1"/>
              <p:nvPr/>
            </p:nvSpPr>
            <p:spPr>
              <a:xfrm>
                <a:off x="4523689" y="1354455"/>
                <a:ext cx="134722" cy="119062"/>
              </a:xfrm>
              <a:prstGeom prst="rect">
                <a:avLst/>
              </a:prstGeom>
              <a:noFill/>
              <a:ln>
                <a:noFill/>
              </a:ln>
            </p:spPr>
            <p:txBody>
              <a:bodyPr wrap="none" lIns="0" tIns="0" rIns="0" bIns="0" anchor="t" anchorCtr="0">
                <a:spAutoFit/>
              </a:bodyPr>
              <a:lstStyle/>
              <a:p>
                <a:pPr algn="ctr"/>
                <a:r>
                  <a:rPr lang="zh-CN" sz="600" dirty="0">
                    <a:solidFill>
                      <a:srgbClr val="C24833"/>
                    </a:solidFill>
                    <a:latin typeface="+mn-lt"/>
                    <a:ea typeface="+mn-ea"/>
                    <a:cs typeface="+mn-cs"/>
                  </a:rPr>
                  <a:t>高​</a:t>
                </a:r>
              </a:p>
            </p:txBody>
          </p:sp>
          <p:sp>
            <p:nvSpPr>
              <p:cNvPr id="79" name="Rectangle 79"/>
              <p:cNvSpPr/>
              <p:nvPr/>
            </p:nvSpPr>
            <p:spPr>
              <a:xfrm>
                <a:off x="4781550" y="1181100"/>
                <a:ext cx="400050" cy="400050"/>
              </a:xfrm>
              <a:prstGeom prst="rect">
                <a:avLst/>
              </a:prstGeom>
              <a:solidFill>
                <a:srgbClr val="C24833"/>
              </a:solidFill>
              <a:ln>
                <a:noFill/>
              </a:ln>
            </p:spPr>
          </p:sp>
          <p:sp>
            <p:nvSpPr>
              <p:cNvPr id="80" name="TextBox 80"/>
              <p:cNvSpPr txBox="1"/>
              <p:nvPr/>
            </p:nvSpPr>
            <p:spPr>
              <a:xfrm>
                <a:off x="4913104" y="1354455"/>
                <a:ext cx="13694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a:t>
                </a:r>
              </a:p>
            </p:txBody>
          </p:sp>
          <p:sp>
            <p:nvSpPr>
              <p:cNvPr id="81" name="TextBox 81"/>
              <p:cNvSpPr txBox="1"/>
              <p:nvPr/>
            </p:nvSpPr>
            <p:spPr>
              <a:xfrm>
                <a:off x="5531815" y="1297305"/>
                <a:ext cx="861670"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夸大收益、隐瞒风险、​</a:t>
                </a:r>
              </a:p>
            </p:txBody>
          </p:sp>
          <p:sp>
            <p:nvSpPr>
              <p:cNvPr id="82" name="TextBox 82"/>
              <p:cNvSpPr txBox="1"/>
              <p:nvPr/>
            </p:nvSpPr>
            <p:spPr>
              <a:xfrm>
                <a:off x="5693359" y="141160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使用误导话术​</a:t>
                </a:r>
              </a:p>
            </p:txBody>
          </p:sp>
          <p:sp>
            <p:nvSpPr>
              <p:cNvPr id="83" name="TextBox 83"/>
              <p:cNvSpPr txBox="1"/>
              <p:nvPr/>
            </p:nvSpPr>
            <p:spPr>
              <a:xfrm>
                <a:off x="7045909" y="129730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销售话术管理​</a:t>
                </a:r>
              </a:p>
            </p:txBody>
          </p:sp>
          <p:sp>
            <p:nvSpPr>
              <p:cNvPr id="84" name="TextBox 84"/>
              <p:cNvSpPr txBox="1"/>
              <p:nvPr/>
            </p:nvSpPr>
            <p:spPr>
              <a:xfrm>
                <a:off x="7126681" y="1411605"/>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双录检查​</a:t>
                </a:r>
              </a:p>
            </p:txBody>
          </p:sp>
          <p:sp>
            <p:nvSpPr>
              <p:cNvPr id="85" name="Rectangle 85"/>
              <p:cNvSpPr/>
              <p:nvPr/>
            </p:nvSpPr>
            <p:spPr>
              <a:xfrm>
                <a:off x="3276600" y="1581150"/>
                <a:ext cx="4629150" cy="400050"/>
              </a:xfrm>
              <a:prstGeom prst="rect">
                <a:avLst/>
              </a:prstGeom>
              <a:solidFill>
                <a:srgbClr val="F7FBF9"/>
              </a:solidFill>
              <a:ln w="7620">
                <a:solidFill>
                  <a:srgbClr val="D9E8E2"/>
                </a:solidFill>
              </a:ln>
            </p:spPr>
          </p:sp>
          <p:sp>
            <p:nvSpPr>
              <p:cNvPr id="86" name="TextBox 86"/>
              <p:cNvSpPr txBox="1"/>
              <p:nvPr/>
            </p:nvSpPr>
            <p:spPr>
              <a:xfrm>
                <a:off x="3378501" y="1746409"/>
                <a:ext cx="520098" cy="133350"/>
              </a:xfrm>
              <a:prstGeom prst="rect">
                <a:avLst/>
              </a:prstGeom>
              <a:noFill/>
              <a:ln>
                <a:noFill/>
              </a:ln>
            </p:spPr>
            <p:txBody>
              <a:bodyPr wrap="none" lIns="0" tIns="0" rIns="0" bIns="0" anchor="t" anchorCtr="0">
                <a:spAutoFit/>
              </a:bodyPr>
              <a:lstStyle/>
              <a:p>
                <a:pPr algn="ctr"/>
                <a:r>
                  <a:rPr lang="zh-CN" sz="680" b="1" dirty="0">
                    <a:solidFill>
                      <a:srgbClr val="312624"/>
                    </a:solidFill>
                    <a:latin typeface="+mn-lt"/>
                    <a:ea typeface="+mn-ea"/>
                    <a:cs typeface="+mn-cs"/>
                  </a:rPr>
                  <a:t>适当性错配​</a:t>
                </a:r>
              </a:p>
            </p:txBody>
          </p:sp>
          <p:sp>
            <p:nvSpPr>
              <p:cNvPr id="87" name="Rectangle 87"/>
              <p:cNvSpPr/>
              <p:nvPr/>
            </p:nvSpPr>
            <p:spPr>
              <a:xfrm>
                <a:off x="4019550" y="1581150"/>
                <a:ext cx="381000" cy="400050"/>
              </a:xfrm>
              <a:prstGeom prst="rect">
                <a:avLst/>
              </a:prstGeom>
              <a:solidFill>
                <a:srgbClr val="FBF3DC"/>
              </a:solidFill>
              <a:ln>
                <a:noFill/>
              </a:ln>
            </p:spPr>
          </p:sp>
          <p:sp>
            <p:nvSpPr>
              <p:cNvPr id="88" name="TextBox 88"/>
              <p:cNvSpPr txBox="1"/>
              <p:nvPr/>
            </p:nvSpPr>
            <p:spPr>
              <a:xfrm>
                <a:off x="4142689" y="1754505"/>
                <a:ext cx="134722" cy="119062"/>
              </a:xfrm>
              <a:prstGeom prst="rect">
                <a:avLst/>
              </a:prstGeom>
              <a:noFill/>
              <a:ln>
                <a:noFill/>
              </a:ln>
            </p:spPr>
            <p:txBody>
              <a:bodyPr wrap="none" lIns="0" tIns="0" rIns="0" bIns="0" anchor="t" anchorCtr="0">
                <a:spAutoFit/>
              </a:bodyPr>
              <a:lstStyle/>
              <a:p>
                <a:pPr algn="ctr"/>
                <a:r>
                  <a:rPr lang="zh-CN" sz="600" dirty="0">
                    <a:solidFill>
                      <a:srgbClr val="8A2716"/>
                    </a:solidFill>
                    <a:latin typeface="+mn-lt"/>
                    <a:ea typeface="+mn-ea"/>
                    <a:cs typeface="+mn-cs"/>
                  </a:rPr>
                  <a:t>中​</a:t>
                </a:r>
              </a:p>
            </p:txBody>
          </p:sp>
          <p:sp>
            <p:nvSpPr>
              <p:cNvPr id="89" name="Rectangle 89"/>
              <p:cNvSpPr/>
              <p:nvPr/>
            </p:nvSpPr>
            <p:spPr>
              <a:xfrm>
                <a:off x="4400550" y="1581150"/>
                <a:ext cx="381000" cy="400050"/>
              </a:xfrm>
              <a:prstGeom prst="rect">
                <a:avLst/>
              </a:prstGeom>
              <a:solidFill>
                <a:srgbClr val="FBEDEB"/>
              </a:solidFill>
              <a:ln>
                <a:noFill/>
              </a:ln>
            </p:spPr>
          </p:sp>
          <p:sp>
            <p:nvSpPr>
              <p:cNvPr id="90" name="TextBox 90"/>
              <p:cNvSpPr txBox="1"/>
              <p:nvPr/>
            </p:nvSpPr>
            <p:spPr>
              <a:xfrm>
                <a:off x="4523689" y="1754505"/>
                <a:ext cx="134722" cy="119062"/>
              </a:xfrm>
              <a:prstGeom prst="rect">
                <a:avLst/>
              </a:prstGeom>
              <a:noFill/>
              <a:ln>
                <a:noFill/>
              </a:ln>
            </p:spPr>
            <p:txBody>
              <a:bodyPr wrap="none" lIns="0" tIns="0" rIns="0" bIns="0" anchor="t" anchorCtr="0">
                <a:spAutoFit/>
              </a:bodyPr>
              <a:lstStyle/>
              <a:p>
                <a:pPr algn="ctr"/>
                <a:r>
                  <a:rPr lang="zh-CN" sz="600" dirty="0">
                    <a:solidFill>
                      <a:srgbClr val="C24833"/>
                    </a:solidFill>
                    <a:latin typeface="+mn-lt"/>
                    <a:ea typeface="+mn-ea"/>
                    <a:cs typeface="+mn-cs"/>
                  </a:rPr>
                  <a:t>高​</a:t>
                </a:r>
              </a:p>
            </p:txBody>
          </p:sp>
          <p:sp>
            <p:nvSpPr>
              <p:cNvPr id="91" name="Rectangle 91"/>
              <p:cNvSpPr/>
              <p:nvPr/>
            </p:nvSpPr>
            <p:spPr>
              <a:xfrm>
                <a:off x="4781550" y="1581150"/>
                <a:ext cx="400050" cy="400050"/>
              </a:xfrm>
              <a:prstGeom prst="rect">
                <a:avLst/>
              </a:prstGeom>
              <a:solidFill>
                <a:srgbClr val="C24833"/>
              </a:solidFill>
              <a:ln>
                <a:noFill/>
              </a:ln>
            </p:spPr>
          </p:sp>
          <p:sp>
            <p:nvSpPr>
              <p:cNvPr id="92" name="TextBox 92"/>
              <p:cNvSpPr txBox="1"/>
              <p:nvPr/>
            </p:nvSpPr>
            <p:spPr>
              <a:xfrm>
                <a:off x="4913104" y="1754505"/>
                <a:ext cx="13694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a:t>
                </a:r>
              </a:p>
            </p:txBody>
          </p:sp>
          <p:sp>
            <p:nvSpPr>
              <p:cNvPr id="93" name="TextBox 93"/>
              <p:cNvSpPr txBox="1"/>
              <p:nvPr/>
            </p:nvSpPr>
            <p:spPr>
              <a:xfrm>
                <a:off x="5572201" y="1697355"/>
                <a:ext cx="78089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产品风险等级与客户​</a:t>
                </a:r>
              </a:p>
            </p:txBody>
          </p:sp>
          <p:sp>
            <p:nvSpPr>
              <p:cNvPr id="94" name="TextBox 94"/>
              <p:cNvSpPr txBox="1"/>
              <p:nvPr/>
            </p:nvSpPr>
            <p:spPr>
              <a:xfrm>
                <a:off x="5652973" y="1811655"/>
                <a:ext cx="61935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承受能力不匹配​</a:t>
                </a:r>
              </a:p>
            </p:txBody>
          </p:sp>
          <p:sp>
            <p:nvSpPr>
              <p:cNvPr id="95" name="TextBox 95"/>
              <p:cNvSpPr txBox="1"/>
              <p:nvPr/>
            </p:nvSpPr>
            <p:spPr>
              <a:xfrm>
                <a:off x="6965137" y="1697355"/>
                <a:ext cx="700126"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风险评估严格把关​</a:t>
                </a:r>
              </a:p>
            </p:txBody>
          </p:sp>
          <p:sp>
            <p:nvSpPr>
              <p:cNvPr id="96" name="TextBox 96"/>
              <p:cNvSpPr txBox="1"/>
              <p:nvPr/>
            </p:nvSpPr>
            <p:spPr>
              <a:xfrm>
                <a:off x="7045909" y="181165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产品准入控制​</a:t>
                </a:r>
              </a:p>
            </p:txBody>
          </p:sp>
          <p:sp>
            <p:nvSpPr>
              <p:cNvPr id="97" name="Rectangle 97"/>
              <p:cNvSpPr/>
              <p:nvPr/>
            </p:nvSpPr>
            <p:spPr>
              <a:xfrm>
                <a:off x="3276600" y="1981200"/>
                <a:ext cx="4629150" cy="400050"/>
              </a:xfrm>
              <a:prstGeom prst="rect">
                <a:avLst/>
              </a:prstGeom>
              <a:solidFill>
                <a:srgbClr val="FFFFFF"/>
              </a:solidFill>
              <a:ln w="7620">
                <a:solidFill>
                  <a:srgbClr val="D9E8E2"/>
                </a:solidFill>
              </a:ln>
            </p:spPr>
          </p:sp>
          <p:sp>
            <p:nvSpPr>
              <p:cNvPr id="98" name="TextBox 98"/>
              <p:cNvSpPr txBox="1"/>
              <p:nvPr/>
            </p:nvSpPr>
            <p:spPr>
              <a:xfrm>
                <a:off x="3332730" y="2146459"/>
                <a:ext cx="611640" cy="133350"/>
              </a:xfrm>
              <a:prstGeom prst="rect">
                <a:avLst/>
              </a:prstGeom>
              <a:noFill/>
              <a:ln>
                <a:noFill/>
              </a:ln>
            </p:spPr>
            <p:txBody>
              <a:bodyPr wrap="none" lIns="0" tIns="0" rIns="0" bIns="0" anchor="t" anchorCtr="0">
                <a:spAutoFit/>
              </a:bodyPr>
              <a:lstStyle/>
              <a:p>
                <a:pPr algn="ctr"/>
                <a:r>
                  <a:rPr lang="zh-CN" sz="680" b="1" dirty="0">
                    <a:solidFill>
                      <a:srgbClr val="312624"/>
                    </a:solidFill>
                    <a:latin typeface="+mn-lt"/>
                    <a:ea typeface="+mn-ea"/>
                    <a:cs typeface="+mn-cs"/>
                  </a:rPr>
                  <a:t>客户信息泄露​</a:t>
                </a:r>
              </a:p>
            </p:txBody>
          </p:sp>
          <p:sp>
            <p:nvSpPr>
              <p:cNvPr id="99" name="Rectangle 99"/>
              <p:cNvSpPr/>
              <p:nvPr/>
            </p:nvSpPr>
            <p:spPr>
              <a:xfrm>
                <a:off x="4019550" y="1981200"/>
                <a:ext cx="381000" cy="400050"/>
              </a:xfrm>
              <a:prstGeom prst="rect">
                <a:avLst/>
              </a:prstGeom>
              <a:solidFill>
                <a:srgbClr val="E6F4EC"/>
              </a:solidFill>
              <a:ln>
                <a:noFill/>
              </a:ln>
            </p:spPr>
          </p:sp>
          <p:sp>
            <p:nvSpPr>
              <p:cNvPr id="100" name="TextBox 100"/>
              <p:cNvSpPr txBox="1"/>
              <p:nvPr/>
            </p:nvSpPr>
            <p:spPr>
              <a:xfrm>
                <a:off x="4142689" y="2154555"/>
                <a:ext cx="134722" cy="119062"/>
              </a:xfrm>
              <a:prstGeom prst="rect">
                <a:avLst/>
              </a:prstGeom>
              <a:noFill/>
              <a:ln>
                <a:noFill/>
              </a:ln>
            </p:spPr>
            <p:txBody>
              <a:bodyPr wrap="none" lIns="0" tIns="0" rIns="0" bIns="0" anchor="t" anchorCtr="0">
                <a:spAutoFit/>
              </a:bodyPr>
              <a:lstStyle/>
              <a:p>
                <a:pPr algn="ctr"/>
                <a:r>
                  <a:rPr lang="zh-CN" sz="600" dirty="0">
                    <a:solidFill>
                      <a:srgbClr val="9E402E"/>
                    </a:solidFill>
                    <a:latin typeface="+mn-lt"/>
                    <a:ea typeface="+mn-ea"/>
                    <a:cs typeface="+mn-cs"/>
                  </a:rPr>
                  <a:t>低​</a:t>
                </a:r>
              </a:p>
            </p:txBody>
          </p:sp>
          <p:sp>
            <p:nvSpPr>
              <p:cNvPr id="101" name="Rectangle 101"/>
              <p:cNvSpPr/>
              <p:nvPr/>
            </p:nvSpPr>
            <p:spPr>
              <a:xfrm>
                <a:off x="4400550" y="1981200"/>
                <a:ext cx="381000" cy="400050"/>
              </a:xfrm>
              <a:prstGeom prst="rect">
                <a:avLst/>
              </a:prstGeom>
              <a:solidFill>
                <a:srgbClr val="FBEDEB"/>
              </a:solidFill>
              <a:ln>
                <a:noFill/>
              </a:ln>
            </p:spPr>
          </p:sp>
          <p:sp>
            <p:nvSpPr>
              <p:cNvPr id="102" name="TextBox 102"/>
              <p:cNvSpPr txBox="1"/>
              <p:nvPr/>
            </p:nvSpPr>
            <p:spPr>
              <a:xfrm>
                <a:off x="4523689" y="2154555"/>
                <a:ext cx="134722" cy="119062"/>
              </a:xfrm>
              <a:prstGeom prst="rect">
                <a:avLst/>
              </a:prstGeom>
              <a:noFill/>
              <a:ln>
                <a:noFill/>
              </a:ln>
            </p:spPr>
            <p:txBody>
              <a:bodyPr wrap="none" lIns="0" tIns="0" rIns="0" bIns="0" anchor="t" anchorCtr="0">
                <a:spAutoFit/>
              </a:bodyPr>
              <a:lstStyle/>
              <a:p>
                <a:pPr algn="ctr"/>
                <a:r>
                  <a:rPr lang="zh-CN" sz="600" dirty="0">
                    <a:solidFill>
                      <a:srgbClr val="C24833"/>
                    </a:solidFill>
                    <a:latin typeface="+mn-lt"/>
                    <a:ea typeface="+mn-ea"/>
                    <a:cs typeface="+mn-cs"/>
                  </a:rPr>
                  <a:t>高​</a:t>
                </a:r>
              </a:p>
            </p:txBody>
          </p:sp>
          <p:sp>
            <p:nvSpPr>
              <p:cNvPr id="103" name="Rectangle 103"/>
              <p:cNvSpPr/>
              <p:nvPr/>
            </p:nvSpPr>
            <p:spPr>
              <a:xfrm>
                <a:off x="4781550" y="1981200"/>
                <a:ext cx="400050" cy="400050"/>
              </a:xfrm>
              <a:prstGeom prst="rect">
                <a:avLst/>
              </a:prstGeom>
              <a:solidFill>
                <a:srgbClr val="C24833"/>
              </a:solidFill>
              <a:ln>
                <a:noFill/>
              </a:ln>
            </p:spPr>
          </p:sp>
          <p:sp>
            <p:nvSpPr>
              <p:cNvPr id="104" name="TextBox 104"/>
              <p:cNvSpPr txBox="1"/>
              <p:nvPr/>
            </p:nvSpPr>
            <p:spPr>
              <a:xfrm>
                <a:off x="4913104" y="2154555"/>
                <a:ext cx="13694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a:t>
                </a:r>
              </a:p>
            </p:txBody>
          </p:sp>
          <p:sp>
            <p:nvSpPr>
              <p:cNvPr id="105" name="TextBox 105"/>
              <p:cNvSpPr txBox="1"/>
              <p:nvPr/>
            </p:nvSpPr>
            <p:spPr>
              <a:xfrm>
                <a:off x="5612587" y="2097405"/>
                <a:ext cx="700126"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违规查询、泄露或​</a:t>
                </a:r>
              </a:p>
            </p:txBody>
          </p:sp>
          <p:sp>
            <p:nvSpPr>
              <p:cNvPr id="106" name="TextBox 106"/>
              <p:cNvSpPr txBox="1"/>
              <p:nvPr/>
            </p:nvSpPr>
            <p:spPr>
              <a:xfrm>
                <a:off x="5693359" y="221170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买卖客户信息​</a:t>
                </a:r>
              </a:p>
            </p:txBody>
          </p:sp>
          <p:sp>
            <p:nvSpPr>
              <p:cNvPr id="107" name="TextBox 107"/>
              <p:cNvSpPr txBox="1"/>
              <p:nvPr/>
            </p:nvSpPr>
            <p:spPr>
              <a:xfrm>
                <a:off x="7045909" y="209740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数据权限管控​</a:t>
                </a:r>
              </a:p>
            </p:txBody>
          </p:sp>
          <p:sp>
            <p:nvSpPr>
              <p:cNvPr id="108" name="TextBox 108"/>
              <p:cNvSpPr txBox="1"/>
              <p:nvPr/>
            </p:nvSpPr>
            <p:spPr>
              <a:xfrm>
                <a:off x="7045909" y="221170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操作留痕审计​</a:t>
                </a:r>
              </a:p>
            </p:txBody>
          </p:sp>
          <p:sp>
            <p:nvSpPr>
              <p:cNvPr id="109" name="Rectangle 109"/>
              <p:cNvSpPr/>
              <p:nvPr/>
            </p:nvSpPr>
            <p:spPr>
              <a:xfrm>
                <a:off x="3276600" y="2381250"/>
                <a:ext cx="4629150" cy="400050"/>
              </a:xfrm>
              <a:prstGeom prst="rect">
                <a:avLst/>
              </a:prstGeom>
              <a:solidFill>
                <a:srgbClr val="F7FBF9"/>
              </a:solidFill>
              <a:ln w="7620">
                <a:solidFill>
                  <a:srgbClr val="D9E8E2"/>
                </a:solidFill>
              </a:ln>
            </p:spPr>
          </p:sp>
          <p:sp>
            <p:nvSpPr>
              <p:cNvPr id="110" name="TextBox 110"/>
              <p:cNvSpPr txBox="1"/>
              <p:nvPr/>
            </p:nvSpPr>
            <p:spPr>
              <a:xfrm>
                <a:off x="3424272" y="2546509"/>
                <a:ext cx="428557" cy="133350"/>
              </a:xfrm>
              <a:prstGeom prst="rect">
                <a:avLst/>
              </a:prstGeom>
              <a:noFill/>
              <a:ln>
                <a:noFill/>
              </a:ln>
            </p:spPr>
            <p:txBody>
              <a:bodyPr wrap="none" lIns="0" tIns="0" rIns="0" bIns="0" anchor="t" anchorCtr="0">
                <a:spAutoFit/>
              </a:bodyPr>
              <a:lstStyle/>
              <a:p>
                <a:pPr algn="ctr"/>
                <a:r>
                  <a:rPr lang="zh-CN" sz="680" b="1" dirty="0">
                    <a:solidFill>
                      <a:srgbClr val="312624"/>
                    </a:solidFill>
                    <a:latin typeface="+mn-lt"/>
                    <a:ea typeface="+mn-ea"/>
                    <a:cs typeface="+mn-cs"/>
                  </a:rPr>
                  <a:t>过度营销​</a:t>
                </a:r>
              </a:p>
            </p:txBody>
          </p:sp>
          <p:sp>
            <p:nvSpPr>
              <p:cNvPr id="111" name="Rectangle 111"/>
              <p:cNvSpPr/>
              <p:nvPr/>
            </p:nvSpPr>
            <p:spPr>
              <a:xfrm>
                <a:off x="4019550" y="2381250"/>
                <a:ext cx="381000" cy="400050"/>
              </a:xfrm>
              <a:prstGeom prst="rect">
                <a:avLst/>
              </a:prstGeom>
              <a:solidFill>
                <a:srgbClr val="FBEDEB"/>
              </a:solidFill>
              <a:ln>
                <a:noFill/>
              </a:ln>
            </p:spPr>
          </p:sp>
          <p:sp>
            <p:nvSpPr>
              <p:cNvPr id="112" name="TextBox 112"/>
              <p:cNvSpPr txBox="1"/>
              <p:nvPr/>
            </p:nvSpPr>
            <p:spPr>
              <a:xfrm>
                <a:off x="4142689" y="2554605"/>
                <a:ext cx="134722" cy="119062"/>
              </a:xfrm>
              <a:prstGeom prst="rect">
                <a:avLst/>
              </a:prstGeom>
              <a:noFill/>
              <a:ln>
                <a:noFill/>
              </a:ln>
            </p:spPr>
            <p:txBody>
              <a:bodyPr wrap="none" lIns="0" tIns="0" rIns="0" bIns="0" anchor="t" anchorCtr="0">
                <a:spAutoFit/>
              </a:bodyPr>
              <a:lstStyle/>
              <a:p>
                <a:pPr algn="ctr"/>
                <a:r>
                  <a:rPr lang="zh-CN" sz="600" dirty="0">
                    <a:solidFill>
                      <a:srgbClr val="C24833"/>
                    </a:solidFill>
                    <a:latin typeface="+mn-lt"/>
                    <a:ea typeface="+mn-ea"/>
                    <a:cs typeface="+mn-cs"/>
                  </a:rPr>
                  <a:t>高​</a:t>
                </a:r>
              </a:p>
            </p:txBody>
          </p:sp>
          <p:sp>
            <p:nvSpPr>
              <p:cNvPr id="113" name="Rectangle 113"/>
              <p:cNvSpPr/>
              <p:nvPr/>
            </p:nvSpPr>
            <p:spPr>
              <a:xfrm>
                <a:off x="4400550" y="2381250"/>
                <a:ext cx="381000" cy="400050"/>
              </a:xfrm>
              <a:prstGeom prst="rect">
                <a:avLst/>
              </a:prstGeom>
              <a:solidFill>
                <a:srgbClr val="FBF3DC"/>
              </a:solidFill>
              <a:ln>
                <a:noFill/>
              </a:ln>
            </p:spPr>
          </p:sp>
          <p:sp>
            <p:nvSpPr>
              <p:cNvPr id="114" name="TextBox 114"/>
              <p:cNvSpPr txBox="1"/>
              <p:nvPr/>
            </p:nvSpPr>
            <p:spPr>
              <a:xfrm>
                <a:off x="4523689" y="2554605"/>
                <a:ext cx="134722" cy="119062"/>
              </a:xfrm>
              <a:prstGeom prst="rect">
                <a:avLst/>
              </a:prstGeom>
              <a:noFill/>
              <a:ln>
                <a:noFill/>
              </a:ln>
            </p:spPr>
            <p:txBody>
              <a:bodyPr wrap="none" lIns="0" tIns="0" rIns="0" bIns="0" anchor="t" anchorCtr="0">
                <a:spAutoFit/>
              </a:bodyPr>
              <a:lstStyle/>
              <a:p>
                <a:pPr algn="ctr"/>
                <a:r>
                  <a:rPr lang="zh-CN" sz="600" dirty="0">
                    <a:solidFill>
                      <a:srgbClr val="8A2716"/>
                    </a:solidFill>
                    <a:latin typeface="+mn-lt"/>
                    <a:ea typeface="+mn-ea"/>
                    <a:cs typeface="+mn-cs"/>
                  </a:rPr>
                  <a:t>中​</a:t>
                </a:r>
              </a:p>
            </p:txBody>
          </p:sp>
          <p:sp>
            <p:nvSpPr>
              <p:cNvPr id="115" name="Rectangle 115"/>
              <p:cNvSpPr/>
              <p:nvPr/>
            </p:nvSpPr>
            <p:spPr>
              <a:xfrm>
                <a:off x="4781550" y="2381250"/>
                <a:ext cx="400050" cy="400050"/>
              </a:xfrm>
              <a:prstGeom prst="rect">
                <a:avLst/>
              </a:prstGeom>
              <a:solidFill>
                <a:srgbClr val="E8624A"/>
              </a:solidFill>
              <a:ln>
                <a:noFill/>
              </a:ln>
            </p:spPr>
          </p:sp>
          <p:sp>
            <p:nvSpPr>
              <p:cNvPr id="116" name="TextBox 116"/>
              <p:cNvSpPr txBox="1"/>
              <p:nvPr/>
            </p:nvSpPr>
            <p:spPr>
              <a:xfrm>
                <a:off x="4913104" y="2554605"/>
                <a:ext cx="13694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中​</a:t>
                </a:r>
              </a:p>
            </p:txBody>
          </p:sp>
          <p:sp>
            <p:nvSpPr>
              <p:cNvPr id="117" name="TextBox 117"/>
              <p:cNvSpPr txBox="1"/>
              <p:nvPr/>
            </p:nvSpPr>
            <p:spPr>
              <a:xfrm>
                <a:off x="5572201" y="2497455"/>
                <a:ext cx="78089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频繁营销骚扰客户、​</a:t>
                </a:r>
              </a:p>
            </p:txBody>
          </p:sp>
          <p:sp>
            <p:nvSpPr>
              <p:cNvPr id="118" name="TextBox 118"/>
              <p:cNvSpPr txBox="1"/>
              <p:nvPr/>
            </p:nvSpPr>
            <p:spPr>
              <a:xfrm>
                <a:off x="5693359" y="261175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增加客户压力​</a:t>
                </a:r>
              </a:p>
            </p:txBody>
          </p:sp>
          <p:sp>
            <p:nvSpPr>
              <p:cNvPr id="119" name="TextBox 119"/>
              <p:cNvSpPr txBox="1"/>
              <p:nvPr/>
            </p:nvSpPr>
            <p:spPr>
              <a:xfrm>
                <a:off x="7045909" y="249745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营销频次管理​</a:t>
                </a:r>
              </a:p>
            </p:txBody>
          </p:sp>
          <p:sp>
            <p:nvSpPr>
              <p:cNvPr id="120" name="TextBox 120"/>
              <p:cNvSpPr txBox="1"/>
              <p:nvPr/>
            </p:nvSpPr>
            <p:spPr>
              <a:xfrm>
                <a:off x="7045909" y="261175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客户投诉监测​</a:t>
                </a:r>
              </a:p>
            </p:txBody>
          </p:sp>
          <p:sp>
            <p:nvSpPr>
              <p:cNvPr id="121" name="Rectangle 121"/>
              <p:cNvSpPr/>
              <p:nvPr/>
            </p:nvSpPr>
            <p:spPr>
              <a:xfrm>
                <a:off x="3276600" y="2781300"/>
                <a:ext cx="4629150" cy="400050"/>
              </a:xfrm>
              <a:prstGeom prst="rect">
                <a:avLst/>
              </a:prstGeom>
              <a:solidFill>
                <a:srgbClr val="FFFFFF"/>
              </a:solidFill>
              <a:ln w="7620">
                <a:solidFill>
                  <a:srgbClr val="D9E8E2"/>
                </a:solidFill>
              </a:ln>
            </p:spPr>
          </p:sp>
          <p:sp>
            <p:nvSpPr>
              <p:cNvPr id="122" name="TextBox 122"/>
              <p:cNvSpPr txBox="1"/>
              <p:nvPr/>
            </p:nvSpPr>
            <p:spPr>
              <a:xfrm>
                <a:off x="3424272" y="2946559"/>
                <a:ext cx="428557" cy="133350"/>
              </a:xfrm>
              <a:prstGeom prst="rect">
                <a:avLst/>
              </a:prstGeom>
              <a:noFill/>
              <a:ln>
                <a:noFill/>
              </a:ln>
            </p:spPr>
            <p:txBody>
              <a:bodyPr wrap="none" lIns="0" tIns="0" rIns="0" bIns="0" anchor="t" anchorCtr="0">
                <a:spAutoFit/>
              </a:bodyPr>
              <a:lstStyle/>
              <a:p>
                <a:pPr algn="ctr"/>
                <a:r>
                  <a:rPr lang="zh-CN" sz="680" b="1" dirty="0">
                    <a:solidFill>
                      <a:srgbClr val="312624"/>
                    </a:solidFill>
                    <a:latin typeface="+mn-lt"/>
                    <a:ea typeface="+mn-ea"/>
                    <a:cs typeface="+mn-cs"/>
                  </a:rPr>
                  <a:t>利益冲突​</a:t>
                </a:r>
              </a:p>
            </p:txBody>
          </p:sp>
          <p:sp>
            <p:nvSpPr>
              <p:cNvPr id="123" name="Rectangle 123"/>
              <p:cNvSpPr/>
              <p:nvPr/>
            </p:nvSpPr>
            <p:spPr>
              <a:xfrm>
                <a:off x="4019550" y="2781300"/>
                <a:ext cx="381000" cy="400050"/>
              </a:xfrm>
              <a:prstGeom prst="rect">
                <a:avLst/>
              </a:prstGeom>
              <a:solidFill>
                <a:srgbClr val="FBF3DC"/>
              </a:solidFill>
              <a:ln>
                <a:noFill/>
              </a:ln>
            </p:spPr>
          </p:sp>
          <p:sp>
            <p:nvSpPr>
              <p:cNvPr id="124" name="TextBox 124"/>
              <p:cNvSpPr txBox="1"/>
              <p:nvPr/>
            </p:nvSpPr>
            <p:spPr>
              <a:xfrm>
                <a:off x="4142689" y="2954655"/>
                <a:ext cx="134722" cy="119062"/>
              </a:xfrm>
              <a:prstGeom prst="rect">
                <a:avLst/>
              </a:prstGeom>
              <a:noFill/>
              <a:ln>
                <a:noFill/>
              </a:ln>
            </p:spPr>
            <p:txBody>
              <a:bodyPr wrap="none" lIns="0" tIns="0" rIns="0" bIns="0" anchor="t" anchorCtr="0">
                <a:spAutoFit/>
              </a:bodyPr>
              <a:lstStyle/>
              <a:p>
                <a:pPr algn="ctr"/>
                <a:r>
                  <a:rPr lang="zh-CN" sz="600" dirty="0">
                    <a:solidFill>
                      <a:srgbClr val="8A2716"/>
                    </a:solidFill>
                    <a:latin typeface="+mn-lt"/>
                    <a:ea typeface="+mn-ea"/>
                    <a:cs typeface="+mn-cs"/>
                  </a:rPr>
                  <a:t>中​</a:t>
                </a:r>
              </a:p>
            </p:txBody>
          </p:sp>
          <p:sp>
            <p:nvSpPr>
              <p:cNvPr id="125" name="Rectangle 125"/>
              <p:cNvSpPr/>
              <p:nvPr/>
            </p:nvSpPr>
            <p:spPr>
              <a:xfrm>
                <a:off x="4400550" y="2781300"/>
                <a:ext cx="381000" cy="400050"/>
              </a:xfrm>
              <a:prstGeom prst="rect">
                <a:avLst/>
              </a:prstGeom>
              <a:solidFill>
                <a:srgbClr val="FBF3DC"/>
              </a:solidFill>
              <a:ln>
                <a:noFill/>
              </a:ln>
            </p:spPr>
          </p:sp>
          <p:sp>
            <p:nvSpPr>
              <p:cNvPr id="126" name="TextBox 126"/>
              <p:cNvSpPr txBox="1"/>
              <p:nvPr/>
            </p:nvSpPr>
            <p:spPr>
              <a:xfrm>
                <a:off x="4523689" y="2954655"/>
                <a:ext cx="134722" cy="119062"/>
              </a:xfrm>
              <a:prstGeom prst="rect">
                <a:avLst/>
              </a:prstGeom>
              <a:noFill/>
              <a:ln>
                <a:noFill/>
              </a:ln>
            </p:spPr>
            <p:txBody>
              <a:bodyPr wrap="none" lIns="0" tIns="0" rIns="0" bIns="0" anchor="t" anchorCtr="0">
                <a:spAutoFit/>
              </a:bodyPr>
              <a:lstStyle/>
              <a:p>
                <a:pPr algn="ctr"/>
                <a:r>
                  <a:rPr lang="zh-CN" sz="600" dirty="0">
                    <a:solidFill>
                      <a:srgbClr val="8A2716"/>
                    </a:solidFill>
                    <a:latin typeface="+mn-lt"/>
                    <a:ea typeface="+mn-ea"/>
                    <a:cs typeface="+mn-cs"/>
                  </a:rPr>
                  <a:t>中​</a:t>
                </a:r>
              </a:p>
            </p:txBody>
          </p:sp>
          <p:sp>
            <p:nvSpPr>
              <p:cNvPr id="127" name="Rectangle 127"/>
              <p:cNvSpPr/>
              <p:nvPr/>
            </p:nvSpPr>
            <p:spPr>
              <a:xfrm>
                <a:off x="4781550" y="2781300"/>
                <a:ext cx="400050" cy="400050"/>
              </a:xfrm>
              <a:prstGeom prst="rect">
                <a:avLst/>
              </a:prstGeom>
              <a:solidFill>
                <a:srgbClr val="E8624A"/>
              </a:solidFill>
              <a:ln>
                <a:noFill/>
              </a:ln>
            </p:spPr>
          </p:sp>
          <p:sp>
            <p:nvSpPr>
              <p:cNvPr id="128" name="TextBox 128"/>
              <p:cNvSpPr txBox="1"/>
              <p:nvPr/>
            </p:nvSpPr>
            <p:spPr>
              <a:xfrm>
                <a:off x="4913104" y="2954655"/>
                <a:ext cx="13694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中​</a:t>
                </a:r>
              </a:p>
            </p:txBody>
          </p:sp>
          <p:sp>
            <p:nvSpPr>
              <p:cNvPr id="129" name="TextBox 129"/>
              <p:cNvSpPr txBox="1"/>
              <p:nvPr/>
            </p:nvSpPr>
            <p:spPr>
              <a:xfrm>
                <a:off x="5652973" y="2897505"/>
                <a:ext cx="61935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不当销售输送、​</a:t>
                </a:r>
              </a:p>
            </p:txBody>
          </p:sp>
          <p:sp>
            <p:nvSpPr>
              <p:cNvPr id="130" name="TextBox 130"/>
              <p:cNvSpPr txBox="1"/>
              <p:nvPr/>
            </p:nvSpPr>
            <p:spPr>
              <a:xfrm>
                <a:off x="5612587" y="3011805"/>
                <a:ext cx="700126"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代销产品利益冲突​</a:t>
                </a:r>
              </a:p>
            </p:txBody>
          </p:sp>
          <p:sp>
            <p:nvSpPr>
              <p:cNvPr id="131" name="TextBox 131"/>
              <p:cNvSpPr txBox="1"/>
              <p:nvPr/>
            </p:nvSpPr>
            <p:spPr>
              <a:xfrm>
                <a:off x="7005523" y="2897505"/>
                <a:ext cx="61935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销售与激励管理​</a:t>
                </a:r>
              </a:p>
            </p:txBody>
          </p:sp>
          <p:sp>
            <p:nvSpPr>
              <p:cNvPr id="132" name="TextBox 132"/>
              <p:cNvSpPr txBox="1"/>
              <p:nvPr/>
            </p:nvSpPr>
            <p:spPr>
              <a:xfrm>
                <a:off x="7045909" y="301180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关联交易审查​</a:t>
                </a:r>
              </a:p>
            </p:txBody>
          </p:sp>
          <p:sp>
            <p:nvSpPr>
              <p:cNvPr id="133" name="Rectangle 133"/>
              <p:cNvSpPr/>
              <p:nvPr/>
            </p:nvSpPr>
            <p:spPr>
              <a:xfrm>
                <a:off x="3276600" y="3181350"/>
                <a:ext cx="4629150" cy="400050"/>
              </a:xfrm>
              <a:prstGeom prst="rect">
                <a:avLst/>
              </a:prstGeom>
              <a:solidFill>
                <a:srgbClr val="F7FBF9"/>
              </a:solidFill>
              <a:ln w="7620">
                <a:solidFill>
                  <a:srgbClr val="D9E8E2"/>
                </a:solidFill>
              </a:ln>
            </p:spPr>
          </p:sp>
          <p:sp>
            <p:nvSpPr>
              <p:cNvPr id="134" name="TextBox 134"/>
              <p:cNvSpPr txBox="1"/>
              <p:nvPr/>
            </p:nvSpPr>
            <p:spPr>
              <a:xfrm>
                <a:off x="3424272" y="3346609"/>
                <a:ext cx="428557" cy="133350"/>
              </a:xfrm>
              <a:prstGeom prst="rect">
                <a:avLst/>
              </a:prstGeom>
              <a:noFill/>
              <a:ln>
                <a:noFill/>
              </a:ln>
            </p:spPr>
            <p:txBody>
              <a:bodyPr wrap="none" lIns="0" tIns="0" rIns="0" bIns="0" anchor="t" anchorCtr="0">
                <a:spAutoFit/>
              </a:bodyPr>
              <a:lstStyle/>
              <a:p>
                <a:pPr algn="ctr"/>
                <a:r>
                  <a:rPr lang="zh-CN" sz="680" b="1" dirty="0">
                    <a:solidFill>
                      <a:srgbClr val="312624"/>
                    </a:solidFill>
                    <a:latin typeface="+mn-lt"/>
                    <a:ea typeface="+mn-ea"/>
                    <a:cs typeface="+mn-cs"/>
                  </a:rPr>
                  <a:t>资金用途​</a:t>
                </a:r>
              </a:p>
            </p:txBody>
          </p:sp>
          <p:sp>
            <p:nvSpPr>
              <p:cNvPr id="135" name="Rectangle 135"/>
              <p:cNvSpPr/>
              <p:nvPr/>
            </p:nvSpPr>
            <p:spPr>
              <a:xfrm>
                <a:off x="4019550" y="3181350"/>
                <a:ext cx="381000" cy="400050"/>
              </a:xfrm>
              <a:prstGeom prst="rect">
                <a:avLst/>
              </a:prstGeom>
              <a:solidFill>
                <a:srgbClr val="FBF3DC"/>
              </a:solidFill>
              <a:ln>
                <a:noFill/>
              </a:ln>
            </p:spPr>
          </p:sp>
          <p:sp>
            <p:nvSpPr>
              <p:cNvPr id="136" name="TextBox 136"/>
              <p:cNvSpPr txBox="1"/>
              <p:nvPr/>
            </p:nvSpPr>
            <p:spPr>
              <a:xfrm>
                <a:off x="4142689" y="3354705"/>
                <a:ext cx="134722" cy="119062"/>
              </a:xfrm>
              <a:prstGeom prst="rect">
                <a:avLst/>
              </a:prstGeom>
              <a:noFill/>
              <a:ln>
                <a:noFill/>
              </a:ln>
            </p:spPr>
            <p:txBody>
              <a:bodyPr wrap="none" lIns="0" tIns="0" rIns="0" bIns="0" anchor="t" anchorCtr="0">
                <a:spAutoFit/>
              </a:bodyPr>
              <a:lstStyle/>
              <a:p>
                <a:pPr algn="ctr"/>
                <a:r>
                  <a:rPr lang="zh-CN" sz="600" dirty="0">
                    <a:solidFill>
                      <a:srgbClr val="8A2716"/>
                    </a:solidFill>
                    <a:latin typeface="+mn-lt"/>
                    <a:ea typeface="+mn-ea"/>
                    <a:cs typeface="+mn-cs"/>
                  </a:rPr>
                  <a:t>中​</a:t>
                </a:r>
              </a:p>
            </p:txBody>
          </p:sp>
          <p:sp>
            <p:nvSpPr>
              <p:cNvPr id="137" name="Rectangle 137"/>
              <p:cNvSpPr/>
              <p:nvPr/>
            </p:nvSpPr>
            <p:spPr>
              <a:xfrm>
                <a:off x="4400550" y="3181350"/>
                <a:ext cx="381000" cy="400050"/>
              </a:xfrm>
              <a:prstGeom prst="rect">
                <a:avLst/>
              </a:prstGeom>
              <a:solidFill>
                <a:srgbClr val="FBF3DC"/>
              </a:solidFill>
              <a:ln>
                <a:noFill/>
              </a:ln>
            </p:spPr>
          </p:sp>
          <p:sp>
            <p:nvSpPr>
              <p:cNvPr id="138" name="TextBox 138"/>
              <p:cNvSpPr txBox="1"/>
              <p:nvPr/>
            </p:nvSpPr>
            <p:spPr>
              <a:xfrm>
                <a:off x="4523689" y="3354705"/>
                <a:ext cx="134722" cy="119062"/>
              </a:xfrm>
              <a:prstGeom prst="rect">
                <a:avLst/>
              </a:prstGeom>
              <a:noFill/>
              <a:ln>
                <a:noFill/>
              </a:ln>
            </p:spPr>
            <p:txBody>
              <a:bodyPr wrap="none" lIns="0" tIns="0" rIns="0" bIns="0" anchor="t" anchorCtr="0">
                <a:spAutoFit/>
              </a:bodyPr>
              <a:lstStyle/>
              <a:p>
                <a:pPr algn="ctr"/>
                <a:r>
                  <a:rPr lang="zh-CN" sz="600" dirty="0">
                    <a:solidFill>
                      <a:srgbClr val="8A2716"/>
                    </a:solidFill>
                    <a:latin typeface="+mn-lt"/>
                    <a:ea typeface="+mn-ea"/>
                    <a:cs typeface="+mn-cs"/>
                  </a:rPr>
                  <a:t>中​</a:t>
                </a:r>
              </a:p>
            </p:txBody>
          </p:sp>
          <p:sp>
            <p:nvSpPr>
              <p:cNvPr id="139" name="Rectangle 139"/>
              <p:cNvSpPr/>
              <p:nvPr/>
            </p:nvSpPr>
            <p:spPr>
              <a:xfrm>
                <a:off x="4781550" y="3181350"/>
                <a:ext cx="400050" cy="400050"/>
              </a:xfrm>
              <a:prstGeom prst="rect">
                <a:avLst/>
              </a:prstGeom>
              <a:solidFill>
                <a:srgbClr val="C24833"/>
              </a:solidFill>
              <a:ln>
                <a:noFill/>
              </a:ln>
            </p:spPr>
          </p:sp>
          <p:sp>
            <p:nvSpPr>
              <p:cNvPr id="140" name="TextBox 140"/>
              <p:cNvSpPr txBox="1"/>
              <p:nvPr/>
            </p:nvSpPr>
            <p:spPr>
              <a:xfrm>
                <a:off x="4913104" y="3354705"/>
                <a:ext cx="13694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高​</a:t>
                </a:r>
              </a:p>
            </p:txBody>
          </p:sp>
          <p:sp>
            <p:nvSpPr>
              <p:cNvPr id="141" name="TextBox 141"/>
              <p:cNvSpPr txBox="1"/>
              <p:nvPr/>
            </p:nvSpPr>
            <p:spPr>
              <a:xfrm>
                <a:off x="5652973" y="3297555"/>
                <a:ext cx="61935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贷款资金挪用、​</a:t>
                </a:r>
              </a:p>
            </p:txBody>
          </p:sp>
          <p:sp>
            <p:nvSpPr>
              <p:cNvPr id="142" name="TextBox 142"/>
              <p:cNvSpPr txBox="1"/>
              <p:nvPr/>
            </p:nvSpPr>
            <p:spPr>
              <a:xfrm>
                <a:off x="5693359" y="341185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流入限制领域​</a:t>
                </a:r>
              </a:p>
            </p:txBody>
          </p:sp>
          <p:sp>
            <p:nvSpPr>
              <p:cNvPr id="143" name="TextBox 143"/>
              <p:cNvSpPr txBox="1"/>
              <p:nvPr/>
            </p:nvSpPr>
            <p:spPr>
              <a:xfrm>
                <a:off x="6924751" y="3297555"/>
                <a:ext cx="78089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用途核实与提款检查​</a:t>
                </a:r>
              </a:p>
            </p:txBody>
          </p:sp>
          <p:sp>
            <p:nvSpPr>
              <p:cNvPr id="144" name="TextBox 144"/>
              <p:cNvSpPr txBox="1"/>
              <p:nvPr/>
            </p:nvSpPr>
            <p:spPr>
              <a:xfrm>
                <a:off x="7045909" y="3411855"/>
                <a:ext cx="538582"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异常交易监测​</a:t>
                </a:r>
              </a:p>
            </p:txBody>
          </p:sp>
        </p:grpSp>
        <p:grpSp>
          <p:nvGrpSpPr>
            <p:cNvPr id="153" name="Group 153"/>
            <p:cNvGrpSpPr/>
            <p:nvPr/>
          </p:nvGrpSpPr>
          <p:grpSpPr>
            <a:xfrm>
              <a:off x="3271838" y="3695700"/>
              <a:ext cx="2648560" cy="130492"/>
              <a:chOff x="3271838" y="3695700"/>
              <a:chExt cx="2648560" cy="130492"/>
            </a:xfrm>
          </p:grpSpPr>
          <p:sp>
            <p:nvSpPr>
              <p:cNvPr id="146" name="TextBox 146"/>
              <p:cNvSpPr txBox="1"/>
              <p:nvPr/>
            </p:nvSpPr>
            <p:spPr>
              <a:xfrm>
                <a:off x="3271838" y="3707130"/>
                <a:ext cx="619354"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风险等级说明：​</a:t>
                </a:r>
              </a:p>
            </p:txBody>
          </p:sp>
          <p:sp>
            <p:nvSpPr>
              <p:cNvPr id="147" name="Rectangle 147"/>
              <p:cNvSpPr/>
              <p:nvPr/>
            </p:nvSpPr>
            <p:spPr>
              <a:xfrm>
                <a:off x="3905250" y="3695700"/>
                <a:ext cx="114300" cy="95250"/>
              </a:xfrm>
              <a:prstGeom prst="rect">
                <a:avLst/>
              </a:prstGeom>
              <a:solidFill>
                <a:srgbClr val="C24833"/>
              </a:solidFill>
              <a:ln>
                <a:noFill/>
              </a:ln>
            </p:spPr>
          </p:sp>
          <p:sp>
            <p:nvSpPr>
              <p:cNvPr id="148" name="TextBox 148"/>
              <p:cNvSpPr txBox="1"/>
              <p:nvPr/>
            </p:nvSpPr>
            <p:spPr>
              <a:xfrm>
                <a:off x="4052888" y="3707130"/>
                <a:ext cx="457810"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高（红色）​</a:t>
                </a:r>
              </a:p>
            </p:txBody>
          </p:sp>
          <p:sp>
            <p:nvSpPr>
              <p:cNvPr id="149" name="Rectangle 149"/>
              <p:cNvSpPr/>
              <p:nvPr/>
            </p:nvSpPr>
            <p:spPr>
              <a:xfrm>
                <a:off x="4610100" y="3695700"/>
                <a:ext cx="114300" cy="95250"/>
              </a:xfrm>
              <a:prstGeom prst="rect">
                <a:avLst/>
              </a:prstGeom>
              <a:solidFill>
                <a:srgbClr val="E8624A"/>
              </a:solidFill>
              <a:ln>
                <a:noFill/>
              </a:ln>
            </p:spPr>
          </p:sp>
          <p:sp>
            <p:nvSpPr>
              <p:cNvPr id="150" name="TextBox 150"/>
              <p:cNvSpPr txBox="1"/>
              <p:nvPr/>
            </p:nvSpPr>
            <p:spPr>
              <a:xfrm>
                <a:off x="4757738" y="3707130"/>
                <a:ext cx="457810"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中（黄色）​</a:t>
                </a:r>
              </a:p>
            </p:txBody>
          </p:sp>
          <p:sp>
            <p:nvSpPr>
              <p:cNvPr id="151" name="Rectangle 151"/>
              <p:cNvSpPr/>
              <p:nvPr/>
            </p:nvSpPr>
            <p:spPr>
              <a:xfrm>
                <a:off x="5314950" y="3695700"/>
                <a:ext cx="114300" cy="95250"/>
              </a:xfrm>
              <a:prstGeom prst="rect">
                <a:avLst/>
              </a:prstGeom>
              <a:solidFill>
                <a:srgbClr val="9E402E"/>
              </a:solidFill>
              <a:ln>
                <a:noFill/>
              </a:ln>
            </p:spPr>
          </p:sp>
          <p:sp>
            <p:nvSpPr>
              <p:cNvPr id="152" name="TextBox 152"/>
              <p:cNvSpPr txBox="1"/>
              <p:nvPr/>
            </p:nvSpPr>
            <p:spPr>
              <a:xfrm>
                <a:off x="5462588" y="3707130"/>
                <a:ext cx="457810" cy="119062"/>
              </a:xfrm>
              <a:prstGeom prst="rect">
                <a:avLst/>
              </a:prstGeom>
              <a:noFill/>
              <a:ln>
                <a:noFill/>
              </a:ln>
            </p:spPr>
            <p:txBody>
              <a:bodyPr wrap="none" lIns="0" tIns="0" rIns="0" bIns="0" anchor="t" anchorCtr="0">
                <a:spAutoFit/>
              </a:bodyPr>
              <a:lstStyle/>
              <a:p>
                <a:pPr algn="l"/>
                <a:r>
                  <a:rPr lang="zh-CN" sz="600" dirty="0">
                    <a:solidFill>
                      <a:srgbClr val="5F6F6A"/>
                    </a:solidFill>
                    <a:latin typeface="+mn-lt"/>
                    <a:ea typeface="+mn-ea"/>
                    <a:cs typeface="+mn-cs"/>
                  </a:rPr>
                  <a:t>低（绿色）​</a:t>
                </a:r>
              </a:p>
            </p:txBody>
          </p:sp>
        </p:grpSp>
      </p:grpSp>
      <p:grpSp>
        <p:nvGrpSpPr>
          <p:cNvPr id="189" name="kpi-card"/>
          <p:cNvGrpSpPr/>
          <p:nvPr/>
        </p:nvGrpSpPr>
        <p:grpSpPr>
          <a:xfrm>
            <a:off x="8115300" y="666750"/>
            <a:ext cx="3848100" cy="1143000"/>
            <a:chOff x="8115300" y="666750"/>
            <a:chExt cx="3848100" cy="1143000"/>
          </a:xfrm>
        </p:grpSpPr>
        <p:sp>
          <p:nvSpPr>
            <p:cNvPr id="155" name="Rectangle 155"/>
            <p:cNvSpPr/>
            <p:nvPr/>
          </p:nvSpPr>
          <p:spPr>
            <a:xfrm>
              <a:off x="8115300" y="666750"/>
              <a:ext cx="3848100" cy="1143000"/>
            </a:xfrm>
            <a:prstGeom prst="roundRect">
              <a:avLst>
                <a:gd name="adj" fmla="val 8333"/>
              </a:avLst>
            </a:prstGeom>
            <a:solidFill>
              <a:srgbClr val="F5FAF8"/>
            </a:solidFill>
            <a:ln w="9525">
              <a:solidFill>
                <a:srgbClr val="D9E8E2"/>
              </a:solidFill>
            </a:ln>
          </p:spPr>
        </p:sp>
        <p:sp>
          <p:nvSpPr>
            <p:cNvPr id="156" name="Rectangle 156"/>
            <p:cNvSpPr/>
            <p:nvPr/>
          </p:nvSpPr>
          <p:spPr>
            <a:xfrm>
              <a:off x="8115300" y="666750"/>
              <a:ext cx="2286000" cy="228600"/>
            </a:xfrm>
            <a:prstGeom prst="roundRect">
              <a:avLst>
                <a:gd name="adj" fmla="val 16667"/>
              </a:avLst>
            </a:prstGeom>
            <a:solidFill>
              <a:srgbClr val="5B180B"/>
            </a:solidFill>
            <a:ln>
              <a:noFill/>
            </a:ln>
          </p:spPr>
        </p:sp>
        <p:sp>
          <p:nvSpPr>
            <p:cNvPr id="157" name="TextBox 157"/>
            <p:cNvSpPr txBox="1"/>
            <p:nvPr/>
          </p:nvSpPr>
          <p:spPr>
            <a:xfrm>
              <a:off x="8224838" y="735568"/>
              <a:ext cx="1568929"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合规风控关键指标</a:t>
              </a:r>
              <a:r>
                <a:rPr lang="zh-CN" sz="640" dirty="0">
                  <a:solidFill>
                    <a:srgbClr val="BFDDD6"/>
                  </a:solidFill>
                  <a:latin typeface="+mn-lt"/>
                  <a:ea typeface="+mn-ea"/>
                  <a:cs typeface="+mn-cs"/>
                </a:rPr>
                <a:t>（2026年Q4）</a:t>
              </a:r>
              <a:r>
                <a:rPr lang="zh-CN" sz="860" b="1" dirty="0">
                  <a:solidFill>
                    <a:srgbClr val="FFFFFF"/>
                  </a:solidFill>
                  <a:latin typeface="+mn-lt"/>
                  <a:ea typeface="+mn-ea"/>
                  <a:cs typeface="+mn-cs"/>
                </a:rPr>
                <a:t>​</a:t>
              </a:r>
            </a:p>
          </p:txBody>
        </p:sp>
        <p:grpSp>
          <p:nvGrpSpPr>
            <p:cNvPr id="188" name="kpi-mini"/>
            <p:cNvGrpSpPr/>
            <p:nvPr/>
          </p:nvGrpSpPr>
          <p:grpSpPr>
            <a:xfrm>
              <a:off x="8191500" y="952500"/>
              <a:ext cx="3695700" cy="781050"/>
              <a:chOff x="8191500" y="952500"/>
              <a:chExt cx="3695700" cy="781050"/>
            </a:xfrm>
          </p:grpSpPr>
          <p:sp>
            <p:nvSpPr>
              <p:cNvPr id="158" name="Rectangle 158"/>
              <p:cNvSpPr/>
              <p:nvPr/>
            </p:nvSpPr>
            <p:spPr>
              <a:xfrm>
                <a:off x="8191500" y="952500"/>
                <a:ext cx="895350" cy="781050"/>
              </a:xfrm>
              <a:prstGeom prst="roundRect">
                <a:avLst>
                  <a:gd name="adj" fmla="val 7317"/>
                </a:avLst>
              </a:prstGeom>
              <a:solidFill>
                <a:srgbClr val="FFFFFF"/>
              </a:solidFill>
              <a:ln w="7620">
                <a:solidFill>
                  <a:srgbClr val="D9E8E2"/>
                </a:solidFill>
              </a:ln>
            </p:spPr>
          </p:sp>
          <p:grpSp>
            <p:nvGrpSpPr>
              <p:cNvPr id="161" name="Group 161"/>
              <p:cNvGrpSpPr/>
              <p:nvPr/>
            </p:nvGrpSpPr>
            <p:grpSpPr>
              <a:xfrm>
                <a:off x="8574881" y="1033462"/>
                <a:ext cx="128587" cy="85725"/>
                <a:chOff x="8574881" y="1033462"/>
                <a:chExt cx="128587" cy="85725"/>
              </a:xfrm>
            </p:grpSpPr>
            <p:sp>
              <p:nvSpPr>
                <p:cNvPr id="159" name="Freeform 159"/>
                <p:cNvSpPr/>
                <p:nvPr/>
              </p:nvSpPr>
              <p:spPr>
                <a:xfrm>
                  <a:off x="8660606" y="1044672"/>
                  <a:ext cx="42862" cy="63306"/>
                </a:xfrm>
                <a:custGeom>
                  <a:avLst/>
                  <a:gdLst/>
                  <a:ahLst/>
                  <a:cxnLst/>
                  <a:rect l="l" t="t" r="r" b="b"/>
                  <a:pathLst>
                    <a:path w="42862" h="63306">
                      <a:moveTo>
                        <a:pt x="0" y="17365"/>
                      </a:moveTo>
                      <a:lnTo>
                        <a:pt x="32525" y="1106"/>
                      </a:lnTo>
                      <a:cubicBezTo>
                        <a:pt x="34739" y="0"/>
                        <a:pt x="37368" y="118"/>
                        <a:pt x="39474" y="1419"/>
                      </a:cubicBezTo>
                      <a:cubicBezTo>
                        <a:pt x="41579" y="2720"/>
                        <a:pt x="42861" y="5018"/>
                        <a:pt x="42862" y="7493"/>
                      </a:cubicBezTo>
                      <a:lnTo>
                        <a:pt x="42862" y="55813"/>
                      </a:lnTo>
                      <a:cubicBezTo>
                        <a:pt x="42861" y="58288"/>
                        <a:pt x="41579" y="60586"/>
                        <a:pt x="39474" y="61887"/>
                      </a:cubicBezTo>
                      <a:cubicBezTo>
                        <a:pt x="37368" y="63187"/>
                        <a:pt x="34739" y="63306"/>
                        <a:pt x="32525" y="62200"/>
                      </a:cubicBezTo>
                      <a:lnTo>
                        <a:pt x="0" y="45940"/>
                      </a:lnTo>
                      <a:lnTo>
                        <a:pt x="0" y="17365"/>
                      </a:lnTo>
                    </a:path>
                  </a:pathLst>
                </a:custGeom>
                <a:noFill/>
                <a:ln w="14288">
                  <a:solidFill>
                    <a:srgbClr val="5B180B"/>
                  </a:solidFill>
                </a:ln>
              </p:spPr>
            </p:sp>
            <p:sp>
              <p:nvSpPr>
                <p:cNvPr id="160" name="Freeform 160"/>
                <p:cNvSpPr/>
                <p:nvPr/>
              </p:nvSpPr>
              <p:spPr>
                <a:xfrm>
                  <a:off x="8574881" y="1033462"/>
                  <a:ext cx="85725" cy="85725"/>
                </a:xfrm>
                <a:custGeom>
                  <a:avLst/>
                  <a:gdLst/>
                  <a:ahLst/>
                  <a:cxnLst/>
                  <a:rect l="l" t="t" r="r" b="b"/>
                  <a:pathLst>
                    <a:path w="85725" h="85725">
                      <a:moveTo>
                        <a:pt x="0" y="14288"/>
                      </a:moveTo>
                      <a:cubicBezTo>
                        <a:pt x="0" y="6397"/>
                        <a:pt x="6397" y="0"/>
                        <a:pt x="14288" y="0"/>
                      </a:cubicBezTo>
                      <a:lnTo>
                        <a:pt x="71438" y="0"/>
                      </a:lnTo>
                      <a:cubicBezTo>
                        <a:pt x="79328" y="0"/>
                        <a:pt x="85725" y="6397"/>
                        <a:pt x="85725" y="14288"/>
                      </a:cubicBezTo>
                      <a:lnTo>
                        <a:pt x="85725" y="71438"/>
                      </a:lnTo>
                      <a:cubicBezTo>
                        <a:pt x="85725" y="79328"/>
                        <a:pt x="79328" y="85725"/>
                        <a:pt x="71438" y="85725"/>
                      </a:cubicBezTo>
                      <a:lnTo>
                        <a:pt x="14288" y="85725"/>
                      </a:lnTo>
                      <a:cubicBezTo>
                        <a:pt x="6397" y="85725"/>
                        <a:pt x="0" y="79328"/>
                        <a:pt x="0" y="71438"/>
                      </a:cubicBezTo>
                      <a:lnTo>
                        <a:pt x="0" y="14288"/>
                      </a:lnTo>
                    </a:path>
                  </a:pathLst>
                </a:custGeom>
                <a:noFill/>
                <a:ln w="14288">
                  <a:solidFill>
                    <a:srgbClr val="5B180B"/>
                  </a:solidFill>
                </a:ln>
              </p:spPr>
            </p:sp>
          </p:grpSp>
          <p:sp>
            <p:nvSpPr>
              <p:cNvPr id="162" name="TextBox 162"/>
              <p:cNvSpPr txBox="1"/>
              <p:nvPr/>
            </p:nvSpPr>
            <p:spPr>
              <a:xfrm>
                <a:off x="8410270" y="1211580"/>
                <a:ext cx="457810"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双录覆盖率​</a:t>
                </a:r>
              </a:p>
            </p:txBody>
          </p:sp>
          <p:sp>
            <p:nvSpPr>
              <p:cNvPr id="163" name="TextBox 163"/>
              <p:cNvSpPr txBox="1"/>
              <p:nvPr/>
            </p:nvSpPr>
            <p:spPr>
              <a:xfrm>
                <a:off x="8399948" y="1345406"/>
                <a:ext cx="478454" cy="220028"/>
              </a:xfrm>
              <a:prstGeom prst="rect">
                <a:avLst/>
              </a:prstGeom>
              <a:noFill/>
              <a:ln>
                <a:noFill/>
              </a:ln>
            </p:spPr>
            <p:txBody>
              <a:bodyPr wrap="none" lIns="0" tIns="0" rIns="0" bIns="0" anchor="t" anchorCtr="0">
                <a:spAutoFit/>
              </a:bodyPr>
              <a:lstStyle/>
              <a:p>
                <a:pPr algn="ctr"/>
                <a:r>
                  <a:rPr lang="zh-CN" sz="1120" b="1" dirty="0">
                    <a:solidFill>
                      <a:srgbClr val="5B180B"/>
                    </a:solidFill>
                    <a:latin typeface="+mn-lt"/>
                    <a:ea typeface="+mn-ea"/>
                    <a:cs typeface="+mn-cs"/>
                  </a:rPr>
                  <a:t>100%​</a:t>
                </a:r>
              </a:p>
            </p:txBody>
          </p:sp>
          <p:sp>
            <p:nvSpPr>
              <p:cNvPr id="164" name="TextBox 164"/>
              <p:cNvSpPr txBox="1"/>
              <p:nvPr/>
            </p:nvSpPr>
            <p:spPr>
              <a:xfrm>
                <a:off x="8319435" y="1566624"/>
                <a:ext cx="639479" cy="97631"/>
              </a:xfrm>
              <a:prstGeom prst="rect">
                <a:avLst/>
              </a:prstGeom>
              <a:noFill/>
              <a:ln>
                <a:noFill/>
              </a:ln>
            </p:spPr>
            <p:txBody>
              <a:bodyPr wrap="none" lIns="0" tIns="0" rIns="0" bIns="0" anchor="t" anchorCtr="0">
                <a:spAutoFit/>
              </a:bodyPr>
              <a:lstStyle/>
              <a:p>
                <a:pPr algn="ctr"/>
                <a:r>
                  <a:rPr lang="zh-CN" sz="490" dirty="0">
                    <a:solidFill>
                      <a:srgbClr val="8AA39C"/>
                    </a:solidFill>
                    <a:latin typeface="+mn-lt"/>
                    <a:ea typeface="+mn-ea"/>
                    <a:cs typeface="+mn-cs"/>
                  </a:rPr>
                  <a:t>应录尽录、完整合规​</a:t>
                </a:r>
              </a:p>
            </p:txBody>
          </p:sp>
          <p:sp>
            <p:nvSpPr>
              <p:cNvPr id="165" name="Rectangle 165"/>
              <p:cNvSpPr/>
              <p:nvPr/>
            </p:nvSpPr>
            <p:spPr>
              <a:xfrm>
                <a:off x="9124950" y="952500"/>
                <a:ext cx="895350" cy="781050"/>
              </a:xfrm>
              <a:prstGeom prst="roundRect">
                <a:avLst>
                  <a:gd name="adj" fmla="val 7317"/>
                </a:avLst>
              </a:prstGeom>
              <a:solidFill>
                <a:srgbClr val="FFFFFF"/>
              </a:solidFill>
              <a:ln w="7620">
                <a:solidFill>
                  <a:srgbClr val="D9E8E2"/>
                </a:solidFill>
              </a:ln>
            </p:spPr>
          </p:sp>
          <p:grpSp>
            <p:nvGrpSpPr>
              <p:cNvPr id="171" name="Group 171"/>
              <p:cNvGrpSpPr/>
              <p:nvPr/>
            </p:nvGrpSpPr>
            <p:grpSpPr>
              <a:xfrm>
                <a:off x="9522619" y="1012031"/>
                <a:ext cx="100012" cy="128588"/>
                <a:chOff x="9522619" y="1012031"/>
                <a:chExt cx="100012" cy="128588"/>
              </a:xfrm>
            </p:grpSpPr>
            <p:sp>
              <p:nvSpPr>
                <p:cNvPr id="166" name="Freeform 166"/>
                <p:cNvSpPr/>
                <p:nvPr/>
              </p:nvSpPr>
              <p:spPr>
                <a:xfrm>
                  <a:off x="9586912" y="101203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5B180B"/>
                  </a:solidFill>
                </a:ln>
              </p:spPr>
            </p:sp>
            <p:sp>
              <p:nvSpPr>
                <p:cNvPr id="167" name="Freeform 167"/>
                <p:cNvSpPr/>
                <p:nvPr/>
              </p:nvSpPr>
              <p:spPr>
                <a:xfrm>
                  <a:off x="9522619" y="101203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5B180B"/>
                  </a:solidFill>
                </a:ln>
              </p:spPr>
            </p:sp>
            <p:sp>
              <p:nvSpPr>
                <p:cNvPr id="168" name="Freeform 168"/>
                <p:cNvSpPr/>
                <p:nvPr/>
              </p:nvSpPr>
              <p:spPr>
                <a:xfrm>
                  <a:off x="9551194" y="1054894"/>
                  <a:ext cx="9525" cy="9525"/>
                </a:xfrm>
                <a:custGeom>
                  <a:avLst/>
                  <a:gdLst/>
                  <a:ahLst/>
                  <a:cxnLst/>
                  <a:rect l="l" t="t" r="r" b="b"/>
                  <a:pathLst>
                    <a:path w="9525" h="9525">
                      <a:moveTo>
                        <a:pt x="0" y="0"/>
                      </a:moveTo>
                      <a:lnTo>
                        <a:pt x="7144" y="0"/>
                      </a:lnTo>
                    </a:path>
                  </a:pathLst>
                </a:custGeom>
                <a:noFill/>
                <a:ln w="14288">
                  <a:solidFill>
                    <a:srgbClr val="5B180B"/>
                  </a:solidFill>
                </a:ln>
              </p:spPr>
            </p:sp>
            <p:sp>
              <p:nvSpPr>
                <p:cNvPr id="169" name="Freeform 169"/>
                <p:cNvSpPr/>
                <p:nvPr/>
              </p:nvSpPr>
              <p:spPr>
                <a:xfrm>
                  <a:off x="9551194" y="1083469"/>
                  <a:ext cx="42862" cy="9525"/>
                </a:xfrm>
                <a:custGeom>
                  <a:avLst/>
                  <a:gdLst/>
                  <a:ahLst/>
                  <a:cxnLst/>
                  <a:rect l="l" t="t" r="r" b="b"/>
                  <a:pathLst>
                    <a:path w="42862" h="9525">
                      <a:moveTo>
                        <a:pt x="0" y="0"/>
                      </a:moveTo>
                      <a:lnTo>
                        <a:pt x="42862" y="0"/>
                      </a:lnTo>
                    </a:path>
                  </a:pathLst>
                </a:custGeom>
                <a:noFill/>
                <a:ln w="14288">
                  <a:solidFill>
                    <a:srgbClr val="5B180B"/>
                  </a:solidFill>
                </a:ln>
              </p:spPr>
            </p:sp>
            <p:sp>
              <p:nvSpPr>
                <p:cNvPr id="170" name="Freeform 170"/>
                <p:cNvSpPr/>
                <p:nvPr/>
              </p:nvSpPr>
              <p:spPr>
                <a:xfrm>
                  <a:off x="9551194" y="1112044"/>
                  <a:ext cx="42862" cy="9525"/>
                </a:xfrm>
                <a:custGeom>
                  <a:avLst/>
                  <a:gdLst/>
                  <a:ahLst/>
                  <a:cxnLst/>
                  <a:rect l="l" t="t" r="r" b="b"/>
                  <a:pathLst>
                    <a:path w="42862" h="9525">
                      <a:moveTo>
                        <a:pt x="0" y="0"/>
                      </a:moveTo>
                      <a:lnTo>
                        <a:pt x="42862" y="0"/>
                      </a:lnTo>
                    </a:path>
                  </a:pathLst>
                </a:custGeom>
                <a:noFill/>
                <a:ln w="14288">
                  <a:solidFill>
                    <a:srgbClr val="5B180B"/>
                  </a:solidFill>
                </a:ln>
              </p:spPr>
            </p:sp>
          </p:grpSp>
          <p:sp>
            <p:nvSpPr>
              <p:cNvPr id="172" name="TextBox 172"/>
              <p:cNvSpPr txBox="1"/>
              <p:nvPr/>
            </p:nvSpPr>
            <p:spPr>
              <a:xfrm>
                <a:off x="9262948" y="1211580"/>
                <a:ext cx="619354"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风险测评有效率​</a:t>
                </a:r>
              </a:p>
            </p:txBody>
          </p:sp>
          <p:sp>
            <p:nvSpPr>
              <p:cNvPr id="173" name="TextBox 173"/>
              <p:cNvSpPr txBox="1"/>
              <p:nvPr/>
            </p:nvSpPr>
            <p:spPr>
              <a:xfrm>
                <a:off x="9333398" y="1345406"/>
                <a:ext cx="478454" cy="220028"/>
              </a:xfrm>
              <a:prstGeom prst="rect">
                <a:avLst/>
              </a:prstGeom>
              <a:noFill/>
              <a:ln>
                <a:noFill/>
              </a:ln>
            </p:spPr>
            <p:txBody>
              <a:bodyPr wrap="none" lIns="0" tIns="0" rIns="0" bIns="0" anchor="t" anchorCtr="0">
                <a:spAutoFit/>
              </a:bodyPr>
              <a:lstStyle/>
              <a:p>
                <a:pPr algn="ctr"/>
                <a:r>
                  <a:rPr lang="zh-CN" sz="1120" b="1" dirty="0">
                    <a:solidFill>
                      <a:srgbClr val="5B180B"/>
                    </a:solidFill>
                    <a:latin typeface="+mn-lt"/>
                    <a:ea typeface="+mn-ea"/>
                    <a:cs typeface="+mn-cs"/>
                  </a:rPr>
                  <a:t>100%​</a:t>
                </a:r>
              </a:p>
            </p:txBody>
          </p:sp>
          <p:sp>
            <p:nvSpPr>
              <p:cNvPr id="174" name="TextBox 174"/>
              <p:cNvSpPr txBox="1"/>
              <p:nvPr/>
            </p:nvSpPr>
            <p:spPr>
              <a:xfrm>
                <a:off x="9252885" y="1566624"/>
                <a:ext cx="639479" cy="97631"/>
              </a:xfrm>
              <a:prstGeom prst="rect">
                <a:avLst/>
              </a:prstGeom>
              <a:noFill/>
              <a:ln>
                <a:noFill/>
              </a:ln>
            </p:spPr>
            <p:txBody>
              <a:bodyPr wrap="none" lIns="0" tIns="0" rIns="0" bIns="0" anchor="t" anchorCtr="0">
                <a:spAutoFit/>
              </a:bodyPr>
              <a:lstStyle/>
              <a:p>
                <a:pPr algn="ctr"/>
                <a:r>
                  <a:rPr lang="zh-CN" sz="490" dirty="0">
                    <a:solidFill>
                      <a:srgbClr val="8AA39C"/>
                    </a:solidFill>
                    <a:latin typeface="+mn-lt"/>
                    <a:ea typeface="+mn-ea"/>
                    <a:cs typeface="+mn-cs"/>
                  </a:rPr>
                  <a:t>有效测评、匹配销售​</a:t>
                </a:r>
              </a:p>
            </p:txBody>
          </p:sp>
          <p:sp>
            <p:nvSpPr>
              <p:cNvPr id="175" name="Rectangle 175"/>
              <p:cNvSpPr/>
              <p:nvPr/>
            </p:nvSpPr>
            <p:spPr>
              <a:xfrm>
                <a:off x="10058400" y="952500"/>
                <a:ext cx="895350" cy="781050"/>
              </a:xfrm>
              <a:prstGeom prst="roundRect">
                <a:avLst>
                  <a:gd name="adj" fmla="val 7317"/>
                </a:avLst>
              </a:prstGeom>
              <a:solidFill>
                <a:srgbClr val="FFFFFF"/>
              </a:solidFill>
              <a:ln w="7620">
                <a:solidFill>
                  <a:srgbClr val="D9E8E2"/>
                </a:solidFill>
              </a:ln>
            </p:spPr>
          </p:sp>
          <p:sp>
            <p:nvSpPr>
              <p:cNvPr id="176" name="Freeform 176"/>
              <p:cNvSpPr/>
              <p:nvPr/>
            </p:nvSpPr>
            <p:spPr>
              <a:xfrm>
                <a:off x="10434466" y="1013639"/>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5B180B"/>
                </a:solidFill>
              </a:ln>
            </p:spPr>
          </p:sp>
          <p:sp>
            <p:nvSpPr>
              <p:cNvPr id="177" name="TextBox 177"/>
              <p:cNvSpPr txBox="1"/>
              <p:nvPr/>
            </p:nvSpPr>
            <p:spPr>
              <a:xfrm>
                <a:off x="10111588" y="1211580"/>
                <a:ext cx="788975"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客户投诉24小时响应​</a:t>
                </a:r>
              </a:p>
            </p:txBody>
          </p:sp>
          <p:sp>
            <p:nvSpPr>
              <p:cNvPr id="178" name="TextBox 178"/>
              <p:cNvSpPr txBox="1"/>
              <p:nvPr/>
            </p:nvSpPr>
            <p:spPr>
              <a:xfrm>
                <a:off x="10266848" y="1345406"/>
                <a:ext cx="478454" cy="220028"/>
              </a:xfrm>
              <a:prstGeom prst="rect">
                <a:avLst/>
              </a:prstGeom>
              <a:noFill/>
              <a:ln>
                <a:noFill/>
              </a:ln>
            </p:spPr>
            <p:txBody>
              <a:bodyPr wrap="none" lIns="0" tIns="0" rIns="0" bIns="0" anchor="t" anchorCtr="0">
                <a:spAutoFit/>
              </a:bodyPr>
              <a:lstStyle/>
              <a:p>
                <a:pPr algn="ctr"/>
                <a:r>
                  <a:rPr lang="zh-CN" sz="1120" b="1" dirty="0">
                    <a:solidFill>
                      <a:srgbClr val="5B180B"/>
                    </a:solidFill>
                    <a:latin typeface="+mn-lt"/>
                    <a:ea typeface="+mn-ea"/>
                    <a:cs typeface="+mn-cs"/>
                  </a:rPr>
                  <a:t>100%​</a:t>
                </a:r>
              </a:p>
            </p:txBody>
          </p:sp>
          <p:sp>
            <p:nvSpPr>
              <p:cNvPr id="179" name="TextBox 179"/>
              <p:cNvSpPr txBox="1"/>
              <p:nvPr/>
            </p:nvSpPr>
            <p:spPr>
              <a:xfrm>
                <a:off x="10186335" y="1566624"/>
                <a:ext cx="639479" cy="97631"/>
              </a:xfrm>
              <a:prstGeom prst="rect">
                <a:avLst/>
              </a:prstGeom>
              <a:noFill/>
              <a:ln>
                <a:noFill/>
              </a:ln>
            </p:spPr>
            <p:txBody>
              <a:bodyPr wrap="none" lIns="0" tIns="0" rIns="0" bIns="0" anchor="t" anchorCtr="0">
                <a:spAutoFit/>
              </a:bodyPr>
              <a:lstStyle/>
              <a:p>
                <a:pPr algn="ctr"/>
                <a:r>
                  <a:rPr lang="zh-CN" sz="490" dirty="0">
                    <a:solidFill>
                      <a:srgbClr val="8AA39C"/>
                    </a:solidFill>
                    <a:latin typeface="+mn-lt"/>
                    <a:ea typeface="+mn-ea"/>
                    <a:cs typeface="+mn-cs"/>
                  </a:rPr>
                  <a:t>快速响应、闭环处理​</a:t>
                </a:r>
              </a:p>
            </p:txBody>
          </p:sp>
          <p:sp>
            <p:nvSpPr>
              <p:cNvPr id="180" name="Rectangle 180"/>
              <p:cNvSpPr/>
              <p:nvPr/>
            </p:nvSpPr>
            <p:spPr>
              <a:xfrm>
                <a:off x="10991850" y="952500"/>
                <a:ext cx="895350" cy="781050"/>
              </a:xfrm>
              <a:prstGeom prst="roundRect">
                <a:avLst>
                  <a:gd name="adj" fmla="val 7317"/>
                </a:avLst>
              </a:prstGeom>
              <a:solidFill>
                <a:srgbClr val="FBEDEB"/>
              </a:solidFill>
              <a:ln w="7620">
                <a:solidFill>
                  <a:srgbClr val="F3CBC4"/>
                </a:solidFill>
              </a:ln>
            </p:spPr>
          </p:sp>
          <p:grpSp>
            <p:nvGrpSpPr>
              <p:cNvPr id="184" name="Group 184"/>
              <p:cNvGrpSpPr/>
              <p:nvPr/>
            </p:nvGrpSpPr>
            <p:grpSpPr>
              <a:xfrm>
                <a:off x="11367479" y="1009658"/>
                <a:ext cx="144086" cy="123788"/>
                <a:chOff x="11367479" y="1009658"/>
                <a:chExt cx="144086" cy="123788"/>
              </a:xfrm>
            </p:grpSpPr>
            <p:sp>
              <p:nvSpPr>
                <p:cNvPr id="181" name="Freeform 181"/>
                <p:cNvSpPr/>
                <p:nvPr/>
              </p:nvSpPr>
              <p:spPr>
                <a:xfrm>
                  <a:off x="11439525" y="1054894"/>
                  <a:ext cx="9525" cy="28575"/>
                </a:xfrm>
                <a:custGeom>
                  <a:avLst/>
                  <a:gdLst/>
                  <a:ahLst/>
                  <a:cxnLst/>
                  <a:rect l="l" t="t" r="r" b="b"/>
                  <a:pathLst>
                    <a:path w="9525" h="28575">
                      <a:moveTo>
                        <a:pt x="0" y="0"/>
                      </a:moveTo>
                      <a:lnTo>
                        <a:pt x="0" y="28575"/>
                      </a:lnTo>
                    </a:path>
                  </a:pathLst>
                </a:custGeom>
                <a:noFill/>
                <a:ln w="14288">
                  <a:solidFill>
                    <a:srgbClr val="C24833"/>
                  </a:solidFill>
                </a:ln>
              </p:spPr>
            </p:sp>
            <p:sp>
              <p:nvSpPr>
                <p:cNvPr id="182" name="Freeform 182"/>
                <p:cNvSpPr/>
                <p:nvPr/>
              </p:nvSpPr>
              <p:spPr>
                <a:xfrm>
                  <a:off x="11367479" y="1009658"/>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C24833"/>
                  </a:solidFill>
                </a:ln>
              </p:spPr>
            </p:sp>
            <p:sp>
              <p:nvSpPr>
                <p:cNvPr id="183" name="Freeform 183"/>
                <p:cNvSpPr/>
                <p:nvPr/>
              </p:nvSpPr>
              <p:spPr>
                <a:xfrm>
                  <a:off x="11439525" y="1104900"/>
                  <a:ext cx="9525" cy="9525"/>
                </a:xfrm>
                <a:custGeom>
                  <a:avLst/>
                  <a:gdLst/>
                  <a:ahLst/>
                  <a:cxnLst/>
                  <a:rect l="l" t="t" r="r" b="b"/>
                  <a:pathLst>
                    <a:path w="9525" h="9525">
                      <a:moveTo>
                        <a:pt x="0" y="0"/>
                      </a:moveTo>
                      <a:lnTo>
                        <a:pt x="71" y="0"/>
                      </a:lnTo>
                    </a:path>
                  </a:pathLst>
                </a:custGeom>
                <a:noFill/>
                <a:ln w="14288">
                  <a:solidFill>
                    <a:srgbClr val="C24833"/>
                  </a:solidFill>
                </a:ln>
              </p:spPr>
            </p:sp>
          </p:grpSp>
          <p:sp>
            <p:nvSpPr>
              <p:cNvPr id="185" name="TextBox 185"/>
              <p:cNvSpPr txBox="1"/>
              <p:nvPr/>
            </p:nvSpPr>
            <p:spPr>
              <a:xfrm>
                <a:off x="11089462" y="1211580"/>
                <a:ext cx="700126"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高风险事件发生数​</a:t>
                </a:r>
              </a:p>
            </p:txBody>
          </p:sp>
          <p:sp>
            <p:nvSpPr>
              <p:cNvPr id="186" name="TextBox 186"/>
              <p:cNvSpPr txBox="1"/>
              <p:nvPr/>
            </p:nvSpPr>
            <p:spPr>
              <a:xfrm>
                <a:off x="11346738" y="1345406"/>
                <a:ext cx="185574" cy="220028"/>
              </a:xfrm>
              <a:prstGeom prst="rect">
                <a:avLst/>
              </a:prstGeom>
              <a:noFill/>
              <a:ln>
                <a:noFill/>
              </a:ln>
            </p:spPr>
            <p:txBody>
              <a:bodyPr wrap="none" lIns="0" tIns="0" rIns="0" bIns="0" anchor="t" anchorCtr="0">
                <a:spAutoFit/>
              </a:bodyPr>
              <a:lstStyle/>
              <a:p>
                <a:pPr algn="ctr"/>
                <a:r>
                  <a:rPr lang="zh-CN" sz="1120" b="1" dirty="0">
                    <a:solidFill>
                      <a:srgbClr val="C24833"/>
                    </a:solidFill>
                    <a:latin typeface="+mn-lt"/>
                    <a:ea typeface="+mn-ea"/>
                    <a:cs typeface="+mn-cs"/>
                  </a:rPr>
                  <a:t>0​</a:t>
                </a:r>
              </a:p>
            </p:txBody>
          </p:sp>
          <p:sp>
            <p:nvSpPr>
              <p:cNvPr id="187" name="TextBox 187"/>
              <p:cNvSpPr txBox="1"/>
              <p:nvPr/>
            </p:nvSpPr>
            <p:spPr>
              <a:xfrm>
                <a:off x="11152767" y="1566624"/>
                <a:ext cx="573515" cy="97631"/>
              </a:xfrm>
              <a:prstGeom prst="rect">
                <a:avLst/>
              </a:prstGeom>
              <a:noFill/>
              <a:ln>
                <a:noFill/>
              </a:ln>
            </p:spPr>
            <p:txBody>
              <a:bodyPr wrap="none" lIns="0" tIns="0" rIns="0" bIns="0" anchor="t" anchorCtr="0">
                <a:spAutoFit/>
              </a:bodyPr>
              <a:lstStyle/>
              <a:p>
                <a:pPr algn="ctr"/>
                <a:r>
                  <a:rPr lang="zh-CN" sz="490" dirty="0">
                    <a:solidFill>
                      <a:srgbClr val="8AA39C"/>
                    </a:solidFill>
                    <a:latin typeface="+mn-lt"/>
                    <a:ea typeface="+mn-ea"/>
                    <a:cs typeface="+mn-cs"/>
                  </a:rPr>
                  <a:t>零容忍、严防死守​</a:t>
                </a:r>
              </a:p>
            </p:txBody>
          </p:sp>
        </p:grpSp>
      </p:grpSp>
      <p:grpSp>
        <p:nvGrpSpPr>
          <p:cNvPr id="238" name="process-card"/>
          <p:cNvGrpSpPr/>
          <p:nvPr/>
        </p:nvGrpSpPr>
        <p:grpSpPr>
          <a:xfrm>
            <a:off x="8115300" y="1905000"/>
            <a:ext cx="3848100" cy="2000250"/>
            <a:chOff x="8115300" y="1905000"/>
            <a:chExt cx="3848100" cy="2000250"/>
          </a:xfrm>
        </p:grpSpPr>
        <p:sp>
          <p:nvSpPr>
            <p:cNvPr id="190" name="Rectangle 190"/>
            <p:cNvSpPr/>
            <p:nvPr/>
          </p:nvSpPr>
          <p:spPr>
            <a:xfrm>
              <a:off x="8115300" y="1905000"/>
              <a:ext cx="3848100" cy="2000250"/>
            </a:xfrm>
            <a:prstGeom prst="roundRect">
              <a:avLst>
                <a:gd name="adj" fmla="val 4762"/>
              </a:avLst>
            </a:prstGeom>
            <a:solidFill>
              <a:srgbClr val="F5FAF8"/>
            </a:solidFill>
            <a:ln w="9525">
              <a:solidFill>
                <a:srgbClr val="D9E8E2"/>
              </a:solidFill>
            </a:ln>
          </p:spPr>
        </p:sp>
        <p:sp>
          <p:nvSpPr>
            <p:cNvPr id="191" name="Rectangle 191"/>
            <p:cNvSpPr/>
            <p:nvPr/>
          </p:nvSpPr>
          <p:spPr>
            <a:xfrm>
              <a:off x="8115300" y="1905000"/>
              <a:ext cx="1524000" cy="228600"/>
            </a:xfrm>
            <a:prstGeom prst="roundRect">
              <a:avLst>
                <a:gd name="adj" fmla="val 16667"/>
              </a:avLst>
            </a:prstGeom>
            <a:solidFill>
              <a:srgbClr val="5B180B"/>
            </a:solidFill>
            <a:ln>
              <a:noFill/>
            </a:ln>
          </p:spPr>
        </p:sp>
        <p:sp>
          <p:nvSpPr>
            <p:cNvPr id="192" name="TextBox 192"/>
            <p:cNvSpPr txBox="1"/>
            <p:nvPr/>
          </p:nvSpPr>
          <p:spPr>
            <a:xfrm>
              <a:off x="8224838" y="1973818"/>
              <a:ext cx="1118343"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全流程合规控制要点​</a:t>
              </a:r>
            </a:p>
          </p:txBody>
        </p:sp>
        <p:grpSp>
          <p:nvGrpSpPr>
            <p:cNvPr id="198" name="Group 198"/>
            <p:cNvGrpSpPr/>
            <p:nvPr/>
          </p:nvGrpSpPr>
          <p:grpSpPr>
            <a:xfrm>
              <a:off x="8210550" y="2190750"/>
              <a:ext cx="3714750" cy="228600"/>
              <a:chOff x="8210550" y="2190750"/>
              <a:chExt cx="3714750" cy="228600"/>
            </a:xfrm>
          </p:grpSpPr>
          <p:sp>
            <p:nvSpPr>
              <p:cNvPr id="193" name="Rectangle 193"/>
              <p:cNvSpPr/>
              <p:nvPr/>
            </p:nvSpPr>
            <p:spPr>
              <a:xfrm>
                <a:off x="8210550" y="2190750"/>
                <a:ext cx="3714750" cy="228600"/>
              </a:xfrm>
              <a:prstGeom prst="rect">
                <a:avLst/>
              </a:prstGeom>
              <a:solidFill>
                <a:srgbClr val="722617"/>
              </a:solidFill>
              <a:ln>
                <a:noFill/>
              </a:ln>
            </p:spPr>
          </p:sp>
          <p:sp>
            <p:nvSpPr>
              <p:cNvPr id="194" name="TextBox 194"/>
              <p:cNvSpPr txBox="1"/>
              <p:nvPr/>
            </p:nvSpPr>
            <p:spPr>
              <a:xfrm>
                <a:off x="8380503" y="2274332"/>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阶段​</a:t>
                </a:r>
              </a:p>
            </p:txBody>
          </p:sp>
          <p:sp>
            <p:nvSpPr>
              <p:cNvPr id="195" name="TextBox 195"/>
              <p:cNvSpPr txBox="1"/>
              <p:nvPr/>
            </p:nvSpPr>
            <p:spPr>
              <a:xfrm>
                <a:off x="8970189" y="2274332"/>
                <a:ext cx="57622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关键控制事项​</a:t>
                </a:r>
              </a:p>
            </p:txBody>
          </p:sp>
          <p:sp>
            <p:nvSpPr>
              <p:cNvPr id="196" name="TextBox 196"/>
              <p:cNvSpPr txBox="1"/>
              <p:nvPr/>
            </p:nvSpPr>
            <p:spPr>
              <a:xfrm>
                <a:off x="10294596" y="2274332"/>
                <a:ext cx="40390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具体要求​</a:t>
                </a:r>
              </a:p>
            </p:txBody>
          </p:sp>
          <p:sp>
            <p:nvSpPr>
              <p:cNvPr id="197" name="TextBox 197"/>
              <p:cNvSpPr txBox="1"/>
              <p:nvPr/>
            </p:nvSpPr>
            <p:spPr>
              <a:xfrm>
                <a:off x="11389971" y="2274332"/>
                <a:ext cx="403908"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责任岗位​</a:t>
                </a:r>
              </a:p>
            </p:txBody>
          </p:sp>
        </p:grpSp>
        <p:grpSp>
          <p:nvGrpSpPr>
            <p:cNvPr id="237" name="proc-rows"/>
            <p:cNvGrpSpPr/>
            <p:nvPr/>
          </p:nvGrpSpPr>
          <p:grpSpPr>
            <a:xfrm>
              <a:off x="8210550" y="2419350"/>
              <a:ext cx="3714750" cy="1428750"/>
              <a:chOff x="8210550" y="2419350"/>
              <a:chExt cx="3714750" cy="1428750"/>
            </a:xfrm>
          </p:grpSpPr>
          <p:sp>
            <p:nvSpPr>
              <p:cNvPr id="199" name="Rectangle 199"/>
              <p:cNvSpPr/>
              <p:nvPr/>
            </p:nvSpPr>
            <p:spPr>
              <a:xfrm>
                <a:off x="8210550" y="2419350"/>
                <a:ext cx="3714750" cy="476250"/>
              </a:xfrm>
              <a:prstGeom prst="rect">
                <a:avLst/>
              </a:prstGeom>
              <a:solidFill>
                <a:srgbClr val="FFFFFF"/>
              </a:solidFill>
              <a:ln w="7620">
                <a:solidFill>
                  <a:srgbClr val="D9E8E2"/>
                </a:solidFill>
              </a:ln>
            </p:spPr>
          </p:sp>
          <p:grpSp>
            <p:nvGrpSpPr>
              <p:cNvPr id="202" name="Group 202"/>
              <p:cNvGrpSpPr/>
              <p:nvPr/>
            </p:nvGrpSpPr>
            <p:grpSpPr>
              <a:xfrm>
                <a:off x="8265319" y="2512219"/>
                <a:ext cx="100012" cy="100012"/>
                <a:chOff x="8265319" y="2512219"/>
                <a:chExt cx="100012" cy="100012"/>
              </a:xfrm>
            </p:grpSpPr>
            <p:sp>
              <p:nvSpPr>
                <p:cNvPr id="200" name="Freeform 200"/>
                <p:cNvSpPr/>
                <p:nvPr/>
              </p:nvSpPr>
              <p:spPr>
                <a:xfrm>
                  <a:off x="8265319" y="2512219"/>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5B180B"/>
                  </a:solidFill>
                </a:ln>
              </p:spPr>
            </p:sp>
            <p:sp>
              <p:nvSpPr>
                <p:cNvPr id="201" name="Freeform 201"/>
                <p:cNvSpPr/>
                <p:nvPr/>
              </p:nvSpPr>
              <p:spPr>
                <a:xfrm>
                  <a:off x="8331994" y="2578894"/>
                  <a:ext cx="33337" cy="33337"/>
                </a:xfrm>
                <a:custGeom>
                  <a:avLst/>
                  <a:gdLst/>
                  <a:ahLst/>
                  <a:cxnLst/>
                  <a:rect l="l" t="t" r="r" b="b"/>
                  <a:pathLst>
                    <a:path w="33337" h="33337">
                      <a:moveTo>
                        <a:pt x="33337" y="33337"/>
                      </a:moveTo>
                      <a:lnTo>
                        <a:pt x="0" y="0"/>
                      </a:lnTo>
                    </a:path>
                  </a:pathLst>
                </a:custGeom>
                <a:noFill/>
                <a:ln w="11112">
                  <a:solidFill>
                    <a:srgbClr val="5B180B"/>
                  </a:solidFill>
                </a:ln>
              </p:spPr>
            </p:sp>
          </p:grpSp>
          <p:sp>
            <p:nvSpPr>
              <p:cNvPr id="203" name="TextBox 203"/>
              <p:cNvSpPr txBox="1"/>
              <p:nvPr/>
            </p:nvSpPr>
            <p:spPr>
              <a:xfrm>
                <a:off x="8380503" y="2541032"/>
                <a:ext cx="231594"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售前​</a:t>
                </a:r>
              </a:p>
            </p:txBody>
          </p:sp>
          <p:sp>
            <p:nvSpPr>
              <p:cNvPr id="204" name="TextBox 204"/>
              <p:cNvSpPr txBox="1"/>
              <p:nvPr/>
            </p:nvSpPr>
            <p:spPr>
              <a:xfrm>
                <a:off x="8262280" y="2667476"/>
                <a:ext cx="468041" cy="104775"/>
              </a:xfrm>
              <a:prstGeom prst="rect">
                <a:avLst/>
              </a:prstGeom>
              <a:noFill/>
              <a:ln>
                <a:noFill/>
              </a:ln>
            </p:spPr>
            <p:txBody>
              <a:bodyPr wrap="none" lIns="0" tIns="0" rIns="0" bIns="0" anchor="t" anchorCtr="0">
                <a:spAutoFit/>
              </a:bodyPr>
              <a:lstStyle/>
              <a:p>
                <a:pPr algn="ctr"/>
                <a:r>
                  <a:rPr lang="zh-CN" sz="520" dirty="0">
                    <a:solidFill>
                      <a:srgbClr val="8AA39C"/>
                    </a:solidFill>
                    <a:latin typeface="+mn-lt"/>
                    <a:ea typeface="+mn-ea"/>
                    <a:cs typeface="+mn-cs"/>
                  </a:rPr>
                  <a:t>（客户触达）​</a:t>
                </a:r>
              </a:p>
            </p:txBody>
          </p:sp>
          <p:sp>
            <p:nvSpPr>
              <p:cNvPr id="205" name="TextBox 205"/>
              <p:cNvSpPr txBox="1"/>
              <p:nvPr/>
            </p:nvSpPr>
            <p:spPr>
              <a:xfrm>
                <a:off x="9080995" y="2549128"/>
                <a:ext cx="354610" cy="111919"/>
              </a:xfrm>
              <a:prstGeom prst="rect">
                <a:avLst/>
              </a:prstGeom>
              <a:noFill/>
              <a:ln>
                <a:noFill/>
              </a:ln>
            </p:spPr>
            <p:txBody>
              <a:bodyPr wrap="none" lIns="0" tIns="0" rIns="0" bIns="0" anchor="t" anchorCtr="0">
                <a:spAutoFit/>
              </a:bodyPr>
              <a:lstStyle/>
              <a:p>
                <a:pPr algn="ctr"/>
                <a:r>
                  <a:rPr lang="zh-CN" sz="560" b="1" dirty="0">
                    <a:solidFill>
                      <a:srgbClr val="4A3D3A"/>
                    </a:solidFill>
                    <a:latin typeface="+mn-lt"/>
                    <a:ea typeface="+mn-ea"/>
                    <a:cs typeface="+mn-cs"/>
                  </a:rPr>
                  <a:t>客户识别​</a:t>
                </a:r>
              </a:p>
            </p:txBody>
          </p:sp>
          <p:sp>
            <p:nvSpPr>
              <p:cNvPr id="206" name="TextBox 206"/>
              <p:cNvSpPr txBox="1"/>
              <p:nvPr/>
            </p:nvSpPr>
            <p:spPr>
              <a:xfrm>
                <a:off x="9080995" y="2663428"/>
                <a:ext cx="354610" cy="111919"/>
              </a:xfrm>
              <a:prstGeom prst="rect">
                <a:avLst/>
              </a:prstGeom>
              <a:noFill/>
              <a:ln>
                <a:noFill/>
              </a:ln>
            </p:spPr>
            <p:txBody>
              <a:bodyPr wrap="none" lIns="0" tIns="0" rIns="0" bIns="0" anchor="t" anchorCtr="0">
                <a:spAutoFit/>
              </a:bodyPr>
              <a:lstStyle/>
              <a:p>
                <a:pPr algn="ctr"/>
                <a:r>
                  <a:rPr lang="zh-CN" sz="560" b="1" dirty="0">
                    <a:solidFill>
                      <a:srgbClr val="4A3D3A"/>
                    </a:solidFill>
                    <a:latin typeface="+mn-lt"/>
                    <a:ea typeface="+mn-ea"/>
                    <a:cs typeface="+mn-cs"/>
                  </a:rPr>
                  <a:t>与适当性​</a:t>
                </a:r>
              </a:p>
            </p:txBody>
          </p:sp>
          <p:sp>
            <p:nvSpPr>
              <p:cNvPr id="207" name="TextBox 207"/>
              <p:cNvSpPr txBox="1"/>
              <p:nvPr/>
            </p:nvSpPr>
            <p:spPr>
              <a:xfrm>
                <a:off x="9786938" y="2491978"/>
                <a:ext cx="956447"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完成身份识别与风险测评​</a:t>
                </a:r>
              </a:p>
            </p:txBody>
          </p:sp>
          <p:sp>
            <p:nvSpPr>
              <p:cNvPr id="208" name="TextBox 208"/>
              <p:cNvSpPr txBox="1"/>
              <p:nvPr/>
            </p:nvSpPr>
            <p:spPr>
              <a:xfrm>
                <a:off x="9786938" y="2606278"/>
                <a:ext cx="579511"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匹配适当产品​</a:t>
                </a:r>
              </a:p>
            </p:txBody>
          </p:sp>
          <p:sp>
            <p:nvSpPr>
              <p:cNvPr id="209" name="TextBox 209"/>
              <p:cNvSpPr txBox="1"/>
              <p:nvPr/>
            </p:nvSpPr>
            <p:spPr>
              <a:xfrm>
                <a:off x="9786938" y="2720578"/>
                <a:ext cx="1257996"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营销内容合规、使用统一宣传材料​</a:t>
                </a:r>
              </a:p>
            </p:txBody>
          </p:sp>
          <p:sp>
            <p:nvSpPr>
              <p:cNvPr id="210" name="TextBox 210"/>
              <p:cNvSpPr txBox="1"/>
              <p:nvPr/>
            </p:nvSpPr>
            <p:spPr>
              <a:xfrm>
                <a:off x="11403406" y="2621280"/>
                <a:ext cx="377038" cy="119062"/>
              </a:xfrm>
              <a:prstGeom prst="rect">
                <a:avLst/>
              </a:prstGeom>
              <a:noFill/>
              <a:ln>
                <a:noFill/>
              </a:ln>
            </p:spPr>
            <p:txBody>
              <a:bodyPr wrap="none" lIns="0" tIns="0" rIns="0" bIns="0" anchor="t" anchorCtr="0">
                <a:spAutoFit/>
              </a:bodyPr>
              <a:lstStyle/>
              <a:p>
                <a:pPr algn="ctr"/>
                <a:r>
                  <a:rPr lang="zh-CN" sz="600" dirty="0">
                    <a:solidFill>
                      <a:srgbClr val="4A3D3A"/>
                    </a:solidFill>
                    <a:latin typeface="+mn-lt"/>
                    <a:ea typeface="+mn-ea"/>
                    <a:cs typeface="+mn-cs"/>
                  </a:rPr>
                  <a:t>客户经理​</a:t>
                </a:r>
              </a:p>
            </p:txBody>
          </p:sp>
          <p:sp>
            <p:nvSpPr>
              <p:cNvPr id="211" name="Rectangle 211"/>
              <p:cNvSpPr/>
              <p:nvPr/>
            </p:nvSpPr>
            <p:spPr>
              <a:xfrm>
                <a:off x="8210550" y="2895600"/>
                <a:ext cx="3714750" cy="476250"/>
              </a:xfrm>
              <a:prstGeom prst="rect">
                <a:avLst/>
              </a:prstGeom>
              <a:solidFill>
                <a:srgbClr val="F7FBF9"/>
              </a:solidFill>
              <a:ln w="7620">
                <a:solidFill>
                  <a:srgbClr val="D9E8E2"/>
                </a:solidFill>
              </a:ln>
            </p:spPr>
          </p:sp>
          <p:grpSp>
            <p:nvGrpSpPr>
              <p:cNvPr id="214" name="Group 214"/>
              <p:cNvGrpSpPr/>
              <p:nvPr/>
            </p:nvGrpSpPr>
            <p:grpSpPr>
              <a:xfrm>
                <a:off x="8265319" y="3005137"/>
                <a:ext cx="100012" cy="66675"/>
                <a:chOff x="8265319" y="3005137"/>
                <a:chExt cx="100012" cy="66675"/>
              </a:xfrm>
            </p:grpSpPr>
            <p:sp>
              <p:nvSpPr>
                <p:cNvPr id="212" name="Freeform 212"/>
                <p:cNvSpPr/>
                <p:nvPr/>
              </p:nvSpPr>
              <p:spPr>
                <a:xfrm>
                  <a:off x="8331994" y="3013856"/>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5B180B"/>
                  </a:solidFill>
                </a:ln>
              </p:spPr>
            </p:sp>
            <p:sp>
              <p:nvSpPr>
                <p:cNvPr id="213" name="Freeform 213"/>
                <p:cNvSpPr/>
                <p:nvPr/>
              </p:nvSpPr>
              <p:spPr>
                <a:xfrm>
                  <a:off x="8265319" y="3005137"/>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5B180B"/>
                  </a:solidFill>
                </a:ln>
              </p:spPr>
            </p:sp>
          </p:grpSp>
          <p:sp>
            <p:nvSpPr>
              <p:cNvPr id="215" name="TextBox 215"/>
              <p:cNvSpPr txBox="1"/>
              <p:nvPr/>
            </p:nvSpPr>
            <p:spPr>
              <a:xfrm>
                <a:off x="8380503" y="3017282"/>
                <a:ext cx="231594"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售中​</a:t>
                </a:r>
              </a:p>
            </p:txBody>
          </p:sp>
          <p:sp>
            <p:nvSpPr>
              <p:cNvPr id="216" name="TextBox 216"/>
              <p:cNvSpPr txBox="1"/>
              <p:nvPr/>
            </p:nvSpPr>
            <p:spPr>
              <a:xfrm>
                <a:off x="8262280" y="3143726"/>
                <a:ext cx="468041" cy="104775"/>
              </a:xfrm>
              <a:prstGeom prst="rect">
                <a:avLst/>
              </a:prstGeom>
              <a:noFill/>
              <a:ln>
                <a:noFill/>
              </a:ln>
            </p:spPr>
            <p:txBody>
              <a:bodyPr wrap="none" lIns="0" tIns="0" rIns="0" bIns="0" anchor="t" anchorCtr="0">
                <a:spAutoFit/>
              </a:bodyPr>
              <a:lstStyle/>
              <a:p>
                <a:pPr algn="ctr"/>
                <a:r>
                  <a:rPr lang="zh-CN" sz="520" dirty="0">
                    <a:solidFill>
                      <a:srgbClr val="8AA39C"/>
                    </a:solidFill>
                    <a:latin typeface="+mn-lt"/>
                    <a:ea typeface="+mn-ea"/>
                    <a:cs typeface="+mn-cs"/>
                  </a:rPr>
                  <a:t>（销售过程）​</a:t>
                </a:r>
              </a:p>
            </p:txBody>
          </p:sp>
          <p:sp>
            <p:nvSpPr>
              <p:cNvPr id="217" name="TextBox 217"/>
              <p:cNvSpPr txBox="1"/>
              <p:nvPr/>
            </p:nvSpPr>
            <p:spPr>
              <a:xfrm>
                <a:off x="9118689" y="3025378"/>
                <a:ext cx="279223" cy="111919"/>
              </a:xfrm>
              <a:prstGeom prst="rect">
                <a:avLst/>
              </a:prstGeom>
              <a:noFill/>
              <a:ln>
                <a:noFill/>
              </a:ln>
            </p:spPr>
            <p:txBody>
              <a:bodyPr wrap="none" lIns="0" tIns="0" rIns="0" bIns="0" anchor="t" anchorCtr="0">
                <a:spAutoFit/>
              </a:bodyPr>
              <a:lstStyle/>
              <a:p>
                <a:pPr algn="ctr"/>
                <a:r>
                  <a:rPr lang="zh-CN" sz="560" b="1" dirty="0">
                    <a:solidFill>
                      <a:srgbClr val="4A3D3A"/>
                    </a:solidFill>
                    <a:latin typeface="+mn-lt"/>
                    <a:ea typeface="+mn-ea"/>
                    <a:cs typeface="+mn-cs"/>
                  </a:rPr>
                  <a:t>双录与​</a:t>
                </a:r>
              </a:p>
            </p:txBody>
          </p:sp>
          <p:sp>
            <p:nvSpPr>
              <p:cNvPr id="218" name="TextBox 218"/>
              <p:cNvSpPr txBox="1"/>
              <p:nvPr/>
            </p:nvSpPr>
            <p:spPr>
              <a:xfrm>
                <a:off x="9080995" y="3139678"/>
                <a:ext cx="354610" cy="111919"/>
              </a:xfrm>
              <a:prstGeom prst="rect">
                <a:avLst/>
              </a:prstGeom>
              <a:noFill/>
              <a:ln>
                <a:noFill/>
              </a:ln>
            </p:spPr>
            <p:txBody>
              <a:bodyPr wrap="none" lIns="0" tIns="0" rIns="0" bIns="0" anchor="t" anchorCtr="0">
                <a:spAutoFit/>
              </a:bodyPr>
              <a:lstStyle/>
              <a:p>
                <a:pPr algn="ctr"/>
                <a:r>
                  <a:rPr lang="zh-CN" sz="560" b="1" dirty="0">
                    <a:solidFill>
                      <a:srgbClr val="4A3D3A"/>
                    </a:solidFill>
                    <a:latin typeface="+mn-lt"/>
                    <a:ea typeface="+mn-ea"/>
                    <a:cs typeface="+mn-cs"/>
                  </a:rPr>
                  <a:t>信息披露​</a:t>
                </a:r>
              </a:p>
            </p:txBody>
          </p:sp>
          <p:sp>
            <p:nvSpPr>
              <p:cNvPr id="219" name="TextBox 219"/>
              <p:cNvSpPr txBox="1"/>
              <p:nvPr/>
            </p:nvSpPr>
            <p:spPr>
              <a:xfrm>
                <a:off x="9786938" y="2968228"/>
                <a:ext cx="730286"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关键环节全程双录​</a:t>
                </a:r>
              </a:p>
            </p:txBody>
          </p:sp>
          <p:sp>
            <p:nvSpPr>
              <p:cNvPr id="220" name="TextBox 220"/>
              <p:cNvSpPr txBox="1"/>
              <p:nvPr/>
            </p:nvSpPr>
            <p:spPr>
              <a:xfrm>
                <a:off x="9786938" y="3082528"/>
                <a:ext cx="805673"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充分揭示风险与费用​</a:t>
                </a:r>
              </a:p>
            </p:txBody>
          </p:sp>
          <p:sp>
            <p:nvSpPr>
              <p:cNvPr id="221" name="TextBox 221"/>
              <p:cNvSpPr txBox="1"/>
              <p:nvPr/>
            </p:nvSpPr>
            <p:spPr>
              <a:xfrm>
                <a:off x="9786938" y="3196828"/>
                <a:ext cx="1107222"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不得替代客户决策或误导销售​</a:t>
                </a:r>
              </a:p>
            </p:txBody>
          </p:sp>
          <p:sp>
            <p:nvSpPr>
              <p:cNvPr id="222" name="TextBox 222"/>
              <p:cNvSpPr txBox="1"/>
              <p:nvPr/>
            </p:nvSpPr>
            <p:spPr>
              <a:xfrm>
                <a:off x="11394925" y="3044428"/>
                <a:ext cx="394000"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客户经理/​</a:t>
                </a:r>
              </a:p>
            </p:txBody>
          </p:sp>
          <p:sp>
            <p:nvSpPr>
              <p:cNvPr id="223" name="TextBox 223"/>
              <p:cNvSpPr txBox="1"/>
              <p:nvPr/>
            </p:nvSpPr>
            <p:spPr>
              <a:xfrm>
                <a:off x="11377963" y="3149203"/>
                <a:ext cx="427924"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网点负责人​</a:t>
                </a:r>
              </a:p>
            </p:txBody>
          </p:sp>
          <p:sp>
            <p:nvSpPr>
              <p:cNvPr id="224" name="Rectangle 224"/>
              <p:cNvSpPr/>
              <p:nvPr/>
            </p:nvSpPr>
            <p:spPr>
              <a:xfrm>
                <a:off x="8210550" y="3371850"/>
                <a:ext cx="3714750" cy="476250"/>
              </a:xfrm>
              <a:prstGeom prst="rect">
                <a:avLst/>
              </a:prstGeom>
              <a:solidFill>
                <a:srgbClr val="FFFFFF"/>
              </a:solidFill>
              <a:ln w="7620">
                <a:solidFill>
                  <a:srgbClr val="D9E8E2"/>
                </a:solidFill>
              </a:ln>
            </p:spPr>
          </p:sp>
          <p:grpSp>
            <p:nvGrpSpPr>
              <p:cNvPr id="227" name="Group 227"/>
              <p:cNvGrpSpPr/>
              <p:nvPr/>
            </p:nvGrpSpPr>
            <p:grpSpPr>
              <a:xfrm>
                <a:off x="8270875" y="3468131"/>
                <a:ext cx="88900" cy="93187"/>
                <a:chOff x="8270875" y="3468131"/>
                <a:chExt cx="88900" cy="93187"/>
              </a:xfrm>
            </p:grpSpPr>
            <p:sp>
              <p:nvSpPr>
                <p:cNvPr id="225" name="Freeform 225"/>
                <p:cNvSpPr/>
                <p:nvPr/>
              </p:nvSpPr>
              <p:spPr>
                <a:xfrm>
                  <a:off x="8270875" y="3468131"/>
                  <a:ext cx="88900" cy="41037"/>
                </a:xfrm>
                <a:custGeom>
                  <a:avLst/>
                  <a:gdLst/>
                  <a:ahLst/>
                  <a:cxnLst/>
                  <a:rect l="l" t="t" r="r" b="b"/>
                  <a:pathLst>
                    <a:path w="88900" h="41037">
                      <a:moveTo>
                        <a:pt x="88900" y="41037"/>
                      </a:moveTo>
                      <a:cubicBezTo>
                        <a:pt x="86107" y="20938"/>
                        <a:pt x="70208" y="5194"/>
                        <a:pt x="50082" y="2597"/>
                      </a:cubicBezTo>
                      <a:cubicBezTo>
                        <a:pt x="29956" y="0"/>
                        <a:pt x="10582" y="11193"/>
                        <a:pt x="2778" y="29925"/>
                      </a:cubicBezTo>
                      <a:moveTo>
                        <a:pt x="0" y="7700"/>
                      </a:moveTo>
                      <a:lnTo>
                        <a:pt x="0" y="29925"/>
                      </a:lnTo>
                      <a:lnTo>
                        <a:pt x="22225" y="29925"/>
                      </a:lnTo>
                    </a:path>
                  </a:pathLst>
                </a:custGeom>
                <a:noFill/>
                <a:ln w="11112">
                  <a:solidFill>
                    <a:srgbClr val="5B180B"/>
                  </a:solidFill>
                </a:ln>
              </p:spPr>
            </p:sp>
            <p:sp>
              <p:nvSpPr>
                <p:cNvPr id="226" name="Freeform 226"/>
                <p:cNvSpPr/>
                <p:nvPr/>
              </p:nvSpPr>
              <p:spPr>
                <a:xfrm>
                  <a:off x="8270875" y="3520281"/>
                  <a:ext cx="88900" cy="41037"/>
                </a:xfrm>
                <a:custGeom>
                  <a:avLst/>
                  <a:gdLst/>
                  <a:ahLst/>
                  <a:cxnLst/>
                  <a:rect l="l" t="t" r="r" b="b"/>
                  <a:pathLst>
                    <a:path w="88900" h="41037">
                      <a:moveTo>
                        <a:pt x="0" y="0"/>
                      </a:moveTo>
                      <a:cubicBezTo>
                        <a:pt x="2793" y="20100"/>
                        <a:pt x="18692" y="35844"/>
                        <a:pt x="38818" y="38441"/>
                      </a:cubicBezTo>
                      <a:cubicBezTo>
                        <a:pt x="58944" y="41037"/>
                        <a:pt x="78318" y="29845"/>
                        <a:pt x="86122" y="11112"/>
                      </a:cubicBezTo>
                      <a:moveTo>
                        <a:pt x="88900" y="33337"/>
                      </a:moveTo>
                      <a:lnTo>
                        <a:pt x="88900" y="11112"/>
                      </a:lnTo>
                      <a:lnTo>
                        <a:pt x="66675" y="11112"/>
                      </a:lnTo>
                    </a:path>
                  </a:pathLst>
                </a:custGeom>
                <a:noFill/>
                <a:ln w="11112">
                  <a:solidFill>
                    <a:srgbClr val="5B180B"/>
                  </a:solidFill>
                </a:ln>
              </p:spPr>
            </p:sp>
          </p:grpSp>
          <p:sp>
            <p:nvSpPr>
              <p:cNvPr id="228" name="TextBox 228"/>
              <p:cNvSpPr txBox="1"/>
              <p:nvPr/>
            </p:nvSpPr>
            <p:spPr>
              <a:xfrm>
                <a:off x="8380503" y="3493532"/>
                <a:ext cx="231594"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售后​</a:t>
                </a:r>
              </a:p>
            </p:txBody>
          </p:sp>
          <p:sp>
            <p:nvSpPr>
              <p:cNvPr id="229" name="TextBox 229"/>
              <p:cNvSpPr txBox="1"/>
              <p:nvPr/>
            </p:nvSpPr>
            <p:spPr>
              <a:xfrm>
                <a:off x="8262280" y="3619976"/>
                <a:ext cx="468041" cy="104775"/>
              </a:xfrm>
              <a:prstGeom prst="rect">
                <a:avLst/>
              </a:prstGeom>
              <a:noFill/>
              <a:ln>
                <a:noFill/>
              </a:ln>
            </p:spPr>
            <p:txBody>
              <a:bodyPr wrap="none" lIns="0" tIns="0" rIns="0" bIns="0" anchor="t" anchorCtr="0">
                <a:spAutoFit/>
              </a:bodyPr>
              <a:lstStyle/>
              <a:p>
                <a:pPr algn="ctr"/>
                <a:r>
                  <a:rPr lang="zh-CN" sz="520" dirty="0">
                    <a:solidFill>
                      <a:srgbClr val="8AA39C"/>
                    </a:solidFill>
                    <a:latin typeface="+mn-lt"/>
                    <a:ea typeface="+mn-ea"/>
                    <a:cs typeface="+mn-cs"/>
                  </a:rPr>
                  <a:t>（持续服务）​</a:t>
                </a:r>
              </a:p>
            </p:txBody>
          </p:sp>
          <p:sp>
            <p:nvSpPr>
              <p:cNvPr id="230" name="TextBox 230"/>
              <p:cNvSpPr txBox="1"/>
              <p:nvPr/>
            </p:nvSpPr>
            <p:spPr>
              <a:xfrm>
                <a:off x="8967914" y="3463528"/>
                <a:ext cx="580772" cy="111919"/>
              </a:xfrm>
              <a:prstGeom prst="rect">
                <a:avLst/>
              </a:prstGeom>
              <a:noFill/>
              <a:ln>
                <a:noFill/>
              </a:ln>
            </p:spPr>
            <p:txBody>
              <a:bodyPr wrap="none" lIns="0" tIns="0" rIns="0" bIns="0" anchor="t" anchorCtr="0">
                <a:spAutoFit/>
              </a:bodyPr>
              <a:lstStyle/>
              <a:p>
                <a:pPr algn="ctr"/>
                <a:r>
                  <a:rPr lang="zh-CN" sz="560" b="1" dirty="0">
                    <a:solidFill>
                      <a:srgbClr val="4A3D3A"/>
                    </a:solidFill>
                    <a:latin typeface="+mn-lt"/>
                    <a:ea typeface="+mn-ea"/>
                    <a:cs typeface="+mn-cs"/>
                  </a:rPr>
                  <a:t>产品存续与回访​</a:t>
                </a:r>
              </a:p>
            </p:txBody>
          </p:sp>
          <p:sp>
            <p:nvSpPr>
              <p:cNvPr id="231" name="TextBox 231"/>
              <p:cNvSpPr txBox="1"/>
              <p:nvPr/>
            </p:nvSpPr>
            <p:spPr>
              <a:xfrm>
                <a:off x="9043301" y="3577828"/>
                <a:ext cx="429997" cy="111919"/>
              </a:xfrm>
              <a:prstGeom prst="rect">
                <a:avLst/>
              </a:prstGeom>
              <a:noFill/>
              <a:ln>
                <a:noFill/>
              </a:ln>
            </p:spPr>
            <p:txBody>
              <a:bodyPr wrap="none" lIns="0" tIns="0" rIns="0" bIns="0" anchor="t" anchorCtr="0">
                <a:spAutoFit/>
              </a:bodyPr>
              <a:lstStyle/>
              <a:p>
                <a:pPr algn="ctr"/>
                <a:r>
                  <a:rPr lang="zh-CN" sz="560" b="1" dirty="0">
                    <a:solidFill>
                      <a:srgbClr val="4A3D3A"/>
                    </a:solidFill>
                    <a:latin typeface="+mn-lt"/>
                    <a:ea typeface="+mn-ea"/>
                    <a:cs typeface="+mn-cs"/>
                  </a:rPr>
                  <a:t>及投诉处理​</a:t>
                </a:r>
              </a:p>
            </p:txBody>
          </p:sp>
          <p:sp>
            <p:nvSpPr>
              <p:cNvPr id="232" name="TextBox 232"/>
              <p:cNvSpPr txBox="1"/>
              <p:nvPr/>
            </p:nvSpPr>
            <p:spPr>
              <a:xfrm>
                <a:off x="9786938" y="3444478"/>
                <a:ext cx="654898"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关注存续期表现​</a:t>
                </a:r>
              </a:p>
            </p:txBody>
          </p:sp>
          <p:sp>
            <p:nvSpPr>
              <p:cNvPr id="233" name="TextBox 233"/>
              <p:cNvSpPr txBox="1"/>
              <p:nvPr/>
            </p:nvSpPr>
            <p:spPr>
              <a:xfrm>
                <a:off x="9786938" y="3558778"/>
                <a:ext cx="1382385"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投诉24小时内响应、3个工作日内办结​</a:t>
                </a:r>
              </a:p>
            </p:txBody>
          </p:sp>
          <p:sp>
            <p:nvSpPr>
              <p:cNvPr id="234" name="TextBox 234"/>
              <p:cNvSpPr txBox="1"/>
              <p:nvPr/>
            </p:nvSpPr>
            <p:spPr>
              <a:xfrm>
                <a:off x="9786938" y="3673078"/>
                <a:ext cx="805673" cy="111919"/>
              </a:xfrm>
              <a:prstGeom prst="rect">
                <a:avLst/>
              </a:prstGeom>
              <a:noFill/>
              <a:ln>
                <a:noFill/>
              </a:ln>
            </p:spPr>
            <p:txBody>
              <a:bodyPr wrap="none" lIns="0" tIns="0" rIns="0" bIns="0" anchor="t" anchorCtr="0">
                <a:spAutoFit/>
              </a:bodyPr>
              <a:lstStyle/>
              <a:p>
                <a:pPr algn="l" marL="76200" indent="-76200">
                  <a:buClr>
                    <a:srgbClr val="4A3D3A"/>
                  </a:buClr>
                  <a:buSzTx/>
                  <a:buFontTx/>
                  <a:buChar char="•"/>
                </a:pPr>
                <a:r>
                  <a:rPr lang="zh-CN" sz="560" dirty="0">
                    <a:solidFill>
                      <a:srgbClr val="4A3D3A"/>
                    </a:solidFill>
                    <a:latin typeface="+mn-lt"/>
                    <a:ea typeface="+mn-ea"/>
                    <a:cs typeface="+mn-cs"/>
                  </a:rPr>
                  <a:t>形成闭环、举一反三​</a:t>
                </a:r>
              </a:p>
            </p:txBody>
          </p:sp>
          <p:sp>
            <p:nvSpPr>
              <p:cNvPr id="235" name="TextBox 235"/>
              <p:cNvSpPr txBox="1"/>
              <p:nvPr/>
            </p:nvSpPr>
            <p:spPr>
              <a:xfrm>
                <a:off x="11357232" y="3520678"/>
                <a:ext cx="469387"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网点负责人/​</a:t>
                </a:r>
              </a:p>
            </p:txBody>
          </p:sp>
          <p:sp>
            <p:nvSpPr>
              <p:cNvPr id="236" name="TextBox 236"/>
              <p:cNvSpPr txBox="1"/>
              <p:nvPr/>
            </p:nvSpPr>
            <p:spPr>
              <a:xfrm>
                <a:off x="11453350" y="3625453"/>
                <a:ext cx="277150"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合规岗​</a:t>
                </a:r>
              </a:p>
            </p:txBody>
          </p:sp>
        </p:grpSp>
      </p:grpSp>
      <p:grpSp>
        <p:nvGrpSpPr>
          <p:cNvPr id="299" name="incident-card"/>
          <p:cNvGrpSpPr/>
          <p:nvPr/>
        </p:nvGrpSpPr>
        <p:grpSpPr>
          <a:xfrm>
            <a:off x="228600" y="4019550"/>
            <a:ext cx="5905500" cy="2762250"/>
            <a:chOff x="228600" y="4019550"/>
            <a:chExt cx="5905500" cy="2762250"/>
          </a:xfrm>
        </p:grpSpPr>
        <p:sp>
          <p:nvSpPr>
            <p:cNvPr id="239" name="Rectangle 239"/>
            <p:cNvSpPr/>
            <p:nvPr/>
          </p:nvSpPr>
          <p:spPr>
            <a:xfrm>
              <a:off x="228600" y="4019550"/>
              <a:ext cx="5905500" cy="2762250"/>
            </a:xfrm>
            <a:prstGeom prst="roundRect">
              <a:avLst>
                <a:gd name="adj" fmla="val 3448"/>
              </a:avLst>
            </a:prstGeom>
            <a:solidFill>
              <a:srgbClr val="F5FAF8"/>
            </a:solidFill>
            <a:ln w="9525">
              <a:solidFill>
                <a:srgbClr val="D9E8E2"/>
              </a:solidFill>
            </a:ln>
          </p:spPr>
        </p:sp>
        <p:sp>
          <p:nvSpPr>
            <p:cNvPr id="240" name="Rectangle 240"/>
            <p:cNvSpPr/>
            <p:nvPr/>
          </p:nvSpPr>
          <p:spPr>
            <a:xfrm>
              <a:off x="228600" y="4019550"/>
              <a:ext cx="1524000" cy="228600"/>
            </a:xfrm>
            <a:prstGeom prst="roundRect">
              <a:avLst>
                <a:gd name="adj" fmla="val 16667"/>
              </a:avLst>
            </a:prstGeom>
            <a:solidFill>
              <a:srgbClr val="5B180B"/>
            </a:solidFill>
            <a:ln>
              <a:noFill/>
            </a:ln>
          </p:spPr>
        </p:sp>
        <p:sp>
          <p:nvSpPr>
            <p:cNvPr id="241" name="TextBox 241"/>
            <p:cNvSpPr txBox="1"/>
            <p:nvPr/>
          </p:nvSpPr>
          <p:spPr>
            <a:xfrm>
              <a:off x="338138" y="4088368"/>
              <a:ext cx="1002570"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异常事件处理流程​</a:t>
              </a:r>
            </a:p>
          </p:txBody>
        </p:sp>
        <p:sp>
          <p:nvSpPr>
            <p:cNvPr id="242" name="TextBox 242"/>
            <p:cNvSpPr txBox="1"/>
            <p:nvPr/>
          </p:nvSpPr>
          <p:spPr>
            <a:xfrm>
              <a:off x="1862138" y="4112657"/>
              <a:ext cx="832322" cy="126206"/>
            </a:xfrm>
            <a:prstGeom prst="rect">
              <a:avLst/>
            </a:prstGeom>
            <a:noFill/>
            <a:ln>
              <a:noFill/>
            </a:ln>
          </p:spPr>
          <p:txBody>
            <a:bodyPr wrap="none" lIns="0" tIns="0" rIns="0" bIns="0" anchor="t" anchorCtr="0">
              <a:spAutoFit/>
            </a:bodyPr>
            <a:lstStyle/>
            <a:p>
              <a:pPr algn="l"/>
              <a:r>
                <a:rPr lang="zh-CN" sz="640" dirty="0">
                  <a:solidFill>
                    <a:srgbClr val="8AA39C"/>
                  </a:solidFill>
                  <a:latin typeface="+mn-lt"/>
                  <a:ea typeface="+mn-ea"/>
                  <a:cs typeface="+mn-cs"/>
                </a:rPr>
                <a:t>及时处置、闭环管理​</a:t>
              </a:r>
            </a:p>
          </p:txBody>
        </p:sp>
        <p:sp>
          <p:nvSpPr>
            <p:cNvPr id="243" name="Freeform 243"/>
            <p:cNvSpPr/>
            <p:nvPr/>
          </p:nvSpPr>
          <p:spPr>
            <a:xfrm>
              <a:off x="1428750" y="4953000"/>
              <a:ext cx="76200" cy="114300"/>
            </a:xfrm>
            <a:prstGeom prst="chevron">
              <a:avLst/>
            </a:prstGeom>
            <a:solidFill>
              <a:srgbClr val="C9988F"/>
            </a:solidFill>
            <a:ln>
              <a:noFill/>
            </a:ln>
          </p:spPr>
        </p:sp>
        <p:sp>
          <p:nvSpPr>
            <p:cNvPr id="244" name="Freeform 244"/>
            <p:cNvSpPr/>
            <p:nvPr/>
          </p:nvSpPr>
          <p:spPr>
            <a:xfrm>
              <a:off x="2590800" y="4953000"/>
              <a:ext cx="76200" cy="114300"/>
            </a:xfrm>
            <a:prstGeom prst="chevron">
              <a:avLst/>
            </a:prstGeom>
            <a:solidFill>
              <a:srgbClr val="C9988F"/>
            </a:solidFill>
            <a:ln>
              <a:noFill/>
            </a:ln>
          </p:spPr>
        </p:sp>
        <p:sp>
          <p:nvSpPr>
            <p:cNvPr id="245" name="Freeform 245"/>
            <p:cNvSpPr/>
            <p:nvPr/>
          </p:nvSpPr>
          <p:spPr>
            <a:xfrm>
              <a:off x="3752850" y="4953000"/>
              <a:ext cx="76200" cy="114300"/>
            </a:xfrm>
            <a:prstGeom prst="chevron">
              <a:avLst/>
            </a:prstGeom>
            <a:solidFill>
              <a:srgbClr val="C9988F"/>
            </a:solidFill>
            <a:ln>
              <a:noFill/>
            </a:ln>
          </p:spPr>
        </p:sp>
        <p:sp>
          <p:nvSpPr>
            <p:cNvPr id="246" name="Freeform 246"/>
            <p:cNvSpPr/>
            <p:nvPr/>
          </p:nvSpPr>
          <p:spPr>
            <a:xfrm>
              <a:off x="4914900" y="4953000"/>
              <a:ext cx="76200" cy="114300"/>
            </a:xfrm>
            <a:prstGeom prst="chevron">
              <a:avLst/>
            </a:prstGeom>
            <a:solidFill>
              <a:srgbClr val="C9988F"/>
            </a:solidFill>
            <a:ln>
              <a:noFill/>
            </a:ln>
          </p:spPr>
        </p:sp>
        <p:grpSp>
          <p:nvGrpSpPr>
            <p:cNvPr id="298" name="inc-steps"/>
            <p:cNvGrpSpPr/>
            <p:nvPr/>
          </p:nvGrpSpPr>
          <p:grpSpPr>
            <a:xfrm>
              <a:off x="511564" y="4419600"/>
              <a:ext cx="5377673" cy="1263967"/>
              <a:chOff x="511564" y="4419600"/>
              <a:chExt cx="5377673" cy="1263967"/>
            </a:xfrm>
          </p:grpSpPr>
          <p:sp>
            <p:nvSpPr>
              <p:cNvPr id="247" name="Ellipse 247"/>
              <p:cNvSpPr/>
              <p:nvPr/>
            </p:nvSpPr>
            <p:spPr>
              <a:xfrm>
                <a:off x="666750" y="4419600"/>
                <a:ext cx="419100" cy="419100"/>
              </a:xfrm>
              <a:prstGeom prst="ellipse">
                <a:avLst/>
              </a:prstGeom>
              <a:solidFill>
                <a:srgbClr val="E9F4F0"/>
              </a:solidFill>
              <a:ln>
                <a:noFill/>
              </a:ln>
            </p:spPr>
          </p:sp>
          <p:grpSp>
            <p:nvGrpSpPr>
              <p:cNvPr id="251" name="Group 251"/>
              <p:cNvGrpSpPr/>
              <p:nvPr/>
            </p:nvGrpSpPr>
            <p:grpSpPr>
              <a:xfrm>
                <a:off x="772234" y="4532853"/>
                <a:ext cx="208123" cy="178805"/>
                <a:chOff x="772234" y="4532853"/>
                <a:chExt cx="208123" cy="178805"/>
              </a:xfrm>
            </p:grpSpPr>
            <p:sp>
              <p:nvSpPr>
                <p:cNvPr id="248" name="Freeform 248"/>
                <p:cNvSpPr/>
                <p:nvPr/>
              </p:nvSpPr>
              <p:spPr>
                <a:xfrm>
                  <a:off x="876300" y="4598193"/>
                  <a:ext cx="9525" cy="41275"/>
                </a:xfrm>
                <a:custGeom>
                  <a:avLst/>
                  <a:gdLst/>
                  <a:ahLst/>
                  <a:cxnLst/>
                  <a:rect l="l" t="t" r="r" b="b"/>
                  <a:pathLst>
                    <a:path w="9525" h="41275">
                      <a:moveTo>
                        <a:pt x="0" y="0"/>
                      </a:moveTo>
                      <a:lnTo>
                        <a:pt x="0" y="41275"/>
                      </a:lnTo>
                    </a:path>
                  </a:pathLst>
                </a:custGeom>
                <a:noFill/>
                <a:ln w="20637">
                  <a:solidFill>
                    <a:srgbClr val="5B180B"/>
                  </a:solidFill>
                </a:ln>
              </p:spPr>
            </p:sp>
            <p:sp>
              <p:nvSpPr>
                <p:cNvPr id="249" name="Freeform 249"/>
                <p:cNvSpPr/>
                <p:nvPr/>
              </p:nvSpPr>
              <p:spPr>
                <a:xfrm>
                  <a:off x="772234" y="4532853"/>
                  <a:ext cx="208123" cy="178805"/>
                </a:xfrm>
                <a:custGeom>
                  <a:avLst/>
                  <a:gdLst/>
                  <a:ahLst/>
                  <a:cxnLst/>
                  <a:rect l="l" t="t" r="r" b="b"/>
                  <a:pathLst>
                    <a:path w="208123" h="178805">
                      <a:moveTo>
                        <a:pt x="87174" y="9526"/>
                      </a:moveTo>
                      <a:lnTo>
                        <a:pt x="3530" y="149180"/>
                      </a:lnTo>
                      <a:cubicBezTo>
                        <a:pt x="21" y="155256"/>
                        <a:pt x="0" y="162738"/>
                        <a:pt x="3474" y="168834"/>
                      </a:cubicBezTo>
                      <a:cubicBezTo>
                        <a:pt x="6948" y="174931"/>
                        <a:pt x="13395" y="178726"/>
                        <a:pt x="20412" y="178805"/>
                      </a:cubicBezTo>
                      <a:lnTo>
                        <a:pt x="187719" y="178805"/>
                      </a:lnTo>
                      <a:cubicBezTo>
                        <a:pt x="194732" y="178724"/>
                        <a:pt x="201176" y="174930"/>
                        <a:pt x="204650" y="168837"/>
                      </a:cubicBezTo>
                      <a:cubicBezTo>
                        <a:pt x="208123" y="162744"/>
                        <a:pt x="208104" y="155266"/>
                        <a:pt x="204601" y="149190"/>
                      </a:cubicBezTo>
                      <a:lnTo>
                        <a:pt x="120957" y="9516"/>
                      </a:lnTo>
                      <a:cubicBezTo>
                        <a:pt x="117378" y="3609"/>
                        <a:pt x="110973" y="0"/>
                        <a:pt x="104065" y="0"/>
                      </a:cubicBezTo>
                      <a:cubicBezTo>
                        <a:pt x="97158" y="0"/>
                        <a:pt x="90753" y="3609"/>
                        <a:pt x="87174" y="9516"/>
                      </a:cubicBezTo>
                    </a:path>
                  </a:pathLst>
                </a:custGeom>
                <a:noFill/>
                <a:ln w="20637">
                  <a:solidFill>
                    <a:srgbClr val="5B180B"/>
                  </a:solidFill>
                </a:ln>
              </p:spPr>
            </p:sp>
            <p:sp>
              <p:nvSpPr>
                <p:cNvPr id="250" name="Freeform 250"/>
                <p:cNvSpPr/>
                <p:nvPr/>
              </p:nvSpPr>
              <p:spPr>
                <a:xfrm>
                  <a:off x="876300" y="4670424"/>
                  <a:ext cx="9525" cy="9525"/>
                </a:xfrm>
                <a:custGeom>
                  <a:avLst/>
                  <a:gdLst/>
                  <a:ahLst/>
                  <a:cxnLst/>
                  <a:rect l="l" t="t" r="r" b="b"/>
                  <a:pathLst>
                    <a:path w="9525" h="9525">
                      <a:moveTo>
                        <a:pt x="0" y="0"/>
                      </a:moveTo>
                      <a:lnTo>
                        <a:pt x="103" y="0"/>
                      </a:lnTo>
                    </a:path>
                  </a:pathLst>
                </a:custGeom>
                <a:noFill/>
                <a:ln w="20637">
                  <a:solidFill>
                    <a:srgbClr val="5B180B"/>
                  </a:solidFill>
                </a:ln>
              </p:spPr>
            </p:sp>
          </p:grpSp>
          <p:sp>
            <p:nvSpPr>
              <p:cNvPr id="252" name="TextBox 252"/>
              <p:cNvSpPr txBox="1"/>
              <p:nvPr/>
            </p:nvSpPr>
            <p:spPr>
              <a:xfrm>
                <a:off x="628129" y="496323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发现上报​</a:t>
                </a:r>
              </a:p>
            </p:txBody>
          </p:sp>
          <p:sp>
            <p:nvSpPr>
              <p:cNvPr id="253" name="TextBox 253"/>
              <p:cNvSpPr txBox="1"/>
              <p:nvPr/>
            </p:nvSpPr>
            <p:spPr>
              <a:xfrm>
                <a:off x="528526" y="5158978"/>
                <a:ext cx="695549"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员工/系统发现异常​</a:t>
                </a:r>
              </a:p>
            </p:txBody>
          </p:sp>
          <p:sp>
            <p:nvSpPr>
              <p:cNvPr id="254" name="TextBox 254"/>
              <p:cNvSpPr txBox="1"/>
              <p:nvPr/>
            </p:nvSpPr>
            <p:spPr>
              <a:xfrm>
                <a:off x="511564" y="5273278"/>
                <a:ext cx="729473"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立即上报网点负责人​</a:t>
                </a:r>
              </a:p>
            </p:txBody>
          </p:sp>
          <p:sp>
            <p:nvSpPr>
              <p:cNvPr id="255" name="Rectangle 255"/>
              <p:cNvSpPr/>
              <p:nvPr/>
            </p:nvSpPr>
            <p:spPr>
              <a:xfrm>
                <a:off x="533400" y="5505450"/>
                <a:ext cx="685800" cy="171450"/>
              </a:xfrm>
              <a:prstGeom prst="roundRect">
                <a:avLst>
                  <a:gd name="adj" fmla="val 50000"/>
                </a:avLst>
              </a:prstGeom>
              <a:solidFill>
                <a:srgbClr val="5B180B"/>
              </a:solidFill>
              <a:ln>
                <a:noFill/>
              </a:ln>
            </p:spPr>
          </p:sp>
          <p:sp>
            <p:nvSpPr>
              <p:cNvPr id="256" name="TextBox 256"/>
              <p:cNvSpPr txBox="1"/>
              <p:nvPr/>
            </p:nvSpPr>
            <p:spPr>
              <a:xfrm>
                <a:off x="647395" y="5564505"/>
                <a:ext cx="457810"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时限：实时​</a:t>
                </a:r>
              </a:p>
            </p:txBody>
          </p:sp>
          <p:sp>
            <p:nvSpPr>
              <p:cNvPr id="257" name="Ellipse 257"/>
              <p:cNvSpPr/>
              <p:nvPr/>
            </p:nvSpPr>
            <p:spPr>
              <a:xfrm>
                <a:off x="1828800" y="4419600"/>
                <a:ext cx="419100" cy="419100"/>
              </a:xfrm>
              <a:prstGeom prst="ellipse">
                <a:avLst/>
              </a:prstGeom>
              <a:solidFill>
                <a:srgbClr val="E9F4F0"/>
              </a:solidFill>
              <a:ln>
                <a:noFill/>
              </a:ln>
            </p:spPr>
          </p:sp>
          <p:grpSp>
            <p:nvGrpSpPr>
              <p:cNvPr id="260" name="Group 260"/>
              <p:cNvGrpSpPr/>
              <p:nvPr/>
            </p:nvGrpSpPr>
            <p:grpSpPr>
              <a:xfrm>
                <a:off x="1945481" y="4536281"/>
                <a:ext cx="185737" cy="185737"/>
                <a:chOff x="1945481" y="4536281"/>
                <a:chExt cx="185737" cy="185737"/>
              </a:xfrm>
            </p:grpSpPr>
            <p:sp>
              <p:nvSpPr>
                <p:cNvPr id="258" name="Freeform 258"/>
                <p:cNvSpPr/>
                <p:nvPr/>
              </p:nvSpPr>
              <p:spPr>
                <a:xfrm>
                  <a:off x="1945481" y="4536281"/>
                  <a:ext cx="144462" cy="144462"/>
                </a:xfrm>
                <a:custGeom>
                  <a:avLst/>
                  <a:gdLst/>
                  <a:ahLst/>
                  <a:cxnLst/>
                  <a:rect l="l" t="t" r="r" b="b"/>
                  <a:pathLst>
                    <a:path w="144462" h="144462">
                      <a:moveTo>
                        <a:pt x="0" y="72231"/>
                      </a:moveTo>
                      <a:cubicBezTo>
                        <a:pt x="0" y="112123"/>
                        <a:pt x="32339" y="144462"/>
                        <a:pt x="72231" y="144462"/>
                      </a:cubicBezTo>
                      <a:cubicBezTo>
                        <a:pt x="112123" y="144462"/>
                        <a:pt x="144462" y="112123"/>
                        <a:pt x="144462" y="72231"/>
                      </a:cubicBezTo>
                      <a:cubicBezTo>
                        <a:pt x="144462" y="32339"/>
                        <a:pt x="112123" y="0"/>
                        <a:pt x="72231" y="0"/>
                      </a:cubicBezTo>
                      <a:cubicBezTo>
                        <a:pt x="32339" y="0"/>
                        <a:pt x="0" y="32339"/>
                        <a:pt x="0" y="72231"/>
                      </a:cubicBezTo>
                    </a:path>
                  </a:pathLst>
                </a:custGeom>
                <a:noFill/>
                <a:ln w="20637">
                  <a:solidFill>
                    <a:srgbClr val="5B180B"/>
                  </a:solidFill>
                </a:ln>
              </p:spPr>
            </p:sp>
            <p:sp>
              <p:nvSpPr>
                <p:cNvPr id="259" name="Freeform 259"/>
                <p:cNvSpPr/>
                <p:nvPr/>
              </p:nvSpPr>
              <p:spPr>
                <a:xfrm>
                  <a:off x="2069306" y="4660106"/>
                  <a:ext cx="61912" cy="61912"/>
                </a:xfrm>
                <a:custGeom>
                  <a:avLst/>
                  <a:gdLst/>
                  <a:ahLst/>
                  <a:cxnLst/>
                  <a:rect l="l" t="t" r="r" b="b"/>
                  <a:pathLst>
                    <a:path w="61912" h="61912">
                      <a:moveTo>
                        <a:pt x="61912" y="61912"/>
                      </a:moveTo>
                      <a:lnTo>
                        <a:pt x="0" y="0"/>
                      </a:lnTo>
                    </a:path>
                  </a:pathLst>
                </a:custGeom>
                <a:noFill/>
                <a:ln w="20637">
                  <a:solidFill>
                    <a:srgbClr val="5B180B"/>
                  </a:solidFill>
                </a:ln>
              </p:spPr>
            </p:sp>
          </p:grpSp>
          <p:sp>
            <p:nvSpPr>
              <p:cNvPr id="261" name="TextBox 261"/>
              <p:cNvSpPr txBox="1"/>
              <p:nvPr/>
            </p:nvSpPr>
            <p:spPr>
              <a:xfrm>
                <a:off x="1790179" y="496323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调查核实​</a:t>
                </a:r>
              </a:p>
            </p:txBody>
          </p:sp>
          <p:sp>
            <p:nvSpPr>
              <p:cNvPr id="262" name="TextBox 262"/>
              <p:cNvSpPr txBox="1"/>
              <p:nvPr/>
            </p:nvSpPr>
            <p:spPr>
              <a:xfrm>
                <a:off x="1673614" y="5158978"/>
                <a:ext cx="729473"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网点与业务管理部门​</a:t>
                </a:r>
              </a:p>
            </p:txBody>
          </p:sp>
          <p:sp>
            <p:nvSpPr>
              <p:cNvPr id="263" name="TextBox 263"/>
              <p:cNvSpPr txBox="1"/>
              <p:nvPr/>
            </p:nvSpPr>
            <p:spPr>
              <a:xfrm>
                <a:off x="1673614" y="5273278"/>
                <a:ext cx="729473"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联合调查、核实事实​</a:t>
                </a:r>
              </a:p>
            </p:txBody>
          </p:sp>
          <p:sp>
            <p:nvSpPr>
              <p:cNvPr id="264" name="Rectangle 264"/>
              <p:cNvSpPr/>
              <p:nvPr/>
            </p:nvSpPr>
            <p:spPr>
              <a:xfrm>
                <a:off x="1638300" y="5505450"/>
                <a:ext cx="800100" cy="171450"/>
              </a:xfrm>
              <a:prstGeom prst="roundRect">
                <a:avLst>
                  <a:gd name="adj" fmla="val 50000"/>
                </a:avLst>
              </a:prstGeom>
              <a:solidFill>
                <a:srgbClr val="722617"/>
              </a:solidFill>
              <a:ln>
                <a:noFill/>
              </a:ln>
            </p:spPr>
          </p:sp>
          <p:sp>
            <p:nvSpPr>
              <p:cNvPr id="265" name="TextBox 265"/>
              <p:cNvSpPr txBox="1"/>
              <p:nvPr/>
            </p:nvSpPr>
            <p:spPr>
              <a:xfrm>
                <a:off x="1706461" y="5564505"/>
                <a:ext cx="6637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时限：1个工作日​</a:t>
                </a:r>
              </a:p>
            </p:txBody>
          </p:sp>
          <p:sp>
            <p:nvSpPr>
              <p:cNvPr id="266" name="Ellipse 266"/>
              <p:cNvSpPr/>
              <p:nvPr/>
            </p:nvSpPr>
            <p:spPr>
              <a:xfrm>
                <a:off x="2990850" y="4419600"/>
                <a:ext cx="419100" cy="419100"/>
              </a:xfrm>
              <a:prstGeom prst="ellipse">
                <a:avLst/>
              </a:prstGeom>
              <a:solidFill>
                <a:srgbClr val="E9F4F0"/>
              </a:solidFill>
              <a:ln>
                <a:noFill/>
              </a:ln>
            </p:spPr>
          </p:sp>
          <p:grpSp>
            <p:nvGrpSpPr>
              <p:cNvPr id="272" name="Group 272"/>
              <p:cNvGrpSpPr/>
              <p:nvPr/>
            </p:nvGrpSpPr>
            <p:grpSpPr>
              <a:xfrm>
                <a:off x="3107531" y="4536281"/>
                <a:ext cx="185737" cy="184943"/>
                <a:chOff x="3107531" y="4536281"/>
                <a:chExt cx="185737" cy="184943"/>
              </a:xfrm>
            </p:grpSpPr>
            <p:sp>
              <p:nvSpPr>
                <p:cNvPr id="267" name="Freeform 267"/>
                <p:cNvSpPr/>
                <p:nvPr/>
              </p:nvSpPr>
              <p:spPr>
                <a:xfrm>
                  <a:off x="3148806" y="4711699"/>
                  <a:ext cx="103187" cy="9525"/>
                </a:xfrm>
                <a:custGeom>
                  <a:avLst/>
                  <a:gdLst/>
                  <a:ahLst/>
                  <a:cxnLst/>
                  <a:rect l="l" t="t" r="r" b="b"/>
                  <a:pathLst>
                    <a:path w="103187" h="9525">
                      <a:moveTo>
                        <a:pt x="0" y="0"/>
                      </a:moveTo>
                      <a:lnTo>
                        <a:pt x="103187" y="0"/>
                      </a:lnTo>
                    </a:path>
                  </a:pathLst>
                </a:custGeom>
                <a:noFill/>
                <a:ln w="20637">
                  <a:solidFill>
                    <a:srgbClr val="5B180B"/>
                  </a:solidFill>
                </a:ln>
              </p:spPr>
            </p:sp>
            <p:sp>
              <p:nvSpPr>
                <p:cNvPr id="268" name="Freeform 268"/>
                <p:cNvSpPr/>
                <p:nvPr/>
              </p:nvSpPr>
              <p:spPr>
                <a:xfrm>
                  <a:off x="3138487" y="4556919"/>
                  <a:ext cx="123825" cy="10319"/>
                </a:xfrm>
                <a:custGeom>
                  <a:avLst/>
                  <a:gdLst/>
                  <a:ahLst/>
                  <a:cxnLst/>
                  <a:rect l="l" t="t" r="r" b="b"/>
                  <a:pathLst>
                    <a:path w="123825" h="10319">
                      <a:moveTo>
                        <a:pt x="0" y="10319"/>
                      </a:moveTo>
                      <a:lnTo>
                        <a:pt x="61912" y="0"/>
                      </a:lnTo>
                      <a:lnTo>
                        <a:pt x="123825" y="10319"/>
                      </a:lnTo>
                    </a:path>
                  </a:pathLst>
                </a:custGeom>
                <a:noFill/>
                <a:ln w="20637">
                  <a:solidFill>
                    <a:srgbClr val="5B180B"/>
                  </a:solidFill>
                </a:ln>
              </p:spPr>
            </p:sp>
            <p:sp>
              <p:nvSpPr>
                <p:cNvPr id="269" name="Freeform 269"/>
                <p:cNvSpPr/>
                <p:nvPr/>
              </p:nvSpPr>
              <p:spPr>
                <a:xfrm>
                  <a:off x="3200400" y="4536281"/>
                  <a:ext cx="9525" cy="175418"/>
                </a:xfrm>
                <a:custGeom>
                  <a:avLst/>
                  <a:gdLst/>
                  <a:ahLst/>
                  <a:cxnLst/>
                  <a:rect l="l" t="t" r="r" b="b"/>
                  <a:pathLst>
                    <a:path w="9525" h="175418">
                      <a:moveTo>
                        <a:pt x="0" y="0"/>
                      </a:moveTo>
                      <a:lnTo>
                        <a:pt x="0" y="175418"/>
                      </a:lnTo>
                    </a:path>
                  </a:pathLst>
                </a:custGeom>
                <a:noFill/>
                <a:ln w="20637">
                  <a:solidFill>
                    <a:srgbClr val="5B180B"/>
                  </a:solidFill>
                </a:ln>
              </p:spPr>
            </p:sp>
            <p:sp>
              <p:nvSpPr>
                <p:cNvPr id="270" name="Freeform 270"/>
                <p:cNvSpPr/>
                <p:nvPr/>
              </p:nvSpPr>
              <p:spPr>
                <a:xfrm>
                  <a:off x="3107531" y="4567237"/>
                  <a:ext cx="61912" cy="92868"/>
                </a:xfrm>
                <a:custGeom>
                  <a:avLst/>
                  <a:gdLst/>
                  <a:ahLst/>
                  <a:cxnLst/>
                  <a:rect l="l" t="t" r="r" b="b"/>
                  <a:pathLst>
                    <a:path w="61912" h="92868">
                      <a:moveTo>
                        <a:pt x="61912" y="61912"/>
                      </a:moveTo>
                      <a:lnTo>
                        <a:pt x="30956" y="0"/>
                      </a:lnTo>
                      <a:lnTo>
                        <a:pt x="0" y="61912"/>
                      </a:lnTo>
                      <a:cubicBezTo>
                        <a:pt x="0" y="79009"/>
                        <a:pt x="13860" y="92868"/>
                        <a:pt x="30956" y="92868"/>
                      </a:cubicBezTo>
                      <a:cubicBezTo>
                        <a:pt x="48053" y="92868"/>
                        <a:pt x="61912" y="79009"/>
                        <a:pt x="61912" y="61912"/>
                      </a:cubicBezTo>
                    </a:path>
                  </a:pathLst>
                </a:custGeom>
                <a:noFill/>
                <a:ln w="20637">
                  <a:solidFill>
                    <a:srgbClr val="5B180B"/>
                  </a:solidFill>
                </a:ln>
              </p:spPr>
            </p:sp>
            <p:sp>
              <p:nvSpPr>
                <p:cNvPr id="271" name="Freeform 271"/>
                <p:cNvSpPr/>
                <p:nvPr/>
              </p:nvSpPr>
              <p:spPr>
                <a:xfrm>
                  <a:off x="3231356" y="4567237"/>
                  <a:ext cx="61912" cy="92868"/>
                </a:xfrm>
                <a:custGeom>
                  <a:avLst/>
                  <a:gdLst/>
                  <a:ahLst/>
                  <a:cxnLst/>
                  <a:rect l="l" t="t" r="r" b="b"/>
                  <a:pathLst>
                    <a:path w="61912" h="92868">
                      <a:moveTo>
                        <a:pt x="61912" y="61912"/>
                      </a:moveTo>
                      <a:lnTo>
                        <a:pt x="30956" y="0"/>
                      </a:lnTo>
                      <a:lnTo>
                        <a:pt x="0" y="61912"/>
                      </a:lnTo>
                      <a:cubicBezTo>
                        <a:pt x="0" y="79009"/>
                        <a:pt x="13860" y="92868"/>
                        <a:pt x="30956" y="92868"/>
                      </a:cubicBezTo>
                      <a:cubicBezTo>
                        <a:pt x="48053" y="92868"/>
                        <a:pt x="61912" y="79009"/>
                        <a:pt x="61912" y="61912"/>
                      </a:cubicBezTo>
                    </a:path>
                  </a:pathLst>
                </a:custGeom>
                <a:noFill/>
                <a:ln w="20637">
                  <a:solidFill>
                    <a:srgbClr val="5B180B"/>
                  </a:solidFill>
                </a:ln>
              </p:spPr>
            </p:sp>
          </p:grpSp>
          <p:sp>
            <p:nvSpPr>
              <p:cNvPr id="273" name="TextBox 273"/>
              <p:cNvSpPr txBox="1"/>
              <p:nvPr/>
            </p:nvSpPr>
            <p:spPr>
              <a:xfrm>
                <a:off x="2952229" y="496323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处置决策​</a:t>
                </a:r>
              </a:p>
            </p:txBody>
          </p:sp>
          <p:sp>
            <p:nvSpPr>
              <p:cNvPr id="274" name="TextBox 274"/>
              <p:cNvSpPr txBox="1"/>
              <p:nvPr/>
            </p:nvSpPr>
            <p:spPr>
              <a:xfrm>
                <a:off x="2873357" y="5158978"/>
                <a:ext cx="654086"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依据制度进行处置​</a:t>
                </a:r>
              </a:p>
            </p:txBody>
          </p:sp>
          <p:sp>
            <p:nvSpPr>
              <p:cNvPr id="275" name="TextBox 275"/>
              <p:cNvSpPr txBox="1"/>
              <p:nvPr/>
            </p:nvSpPr>
            <p:spPr>
              <a:xfrm>
                <a:off x="2835664" y="5273278"/>
                <a:ext cx="729473"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必要时启动应急机制​</a:t>
                </a:r>
              </a:p>
            </p:txBody>
          </p:sp>
          <p:sp>
            <p:nvSpPr>
              <p:cNvPr id="276" name="Rectangle 276"/>
              <p:cNvSpPr/>
              <p:nvPr/>
            </p:nvSpPr>
            <p:spPr>
              <a:xfrm>
                <a:off x="2800350" y="5505450"/>
                <a:ext cx="800100" cy="171450"/>
              </a:xfrm>
              <a:prstGeom prst="roundRect">
                <a:avLst>
                  <a:gd name="adj" fmla="val 50000"/>
                </a:avLst>
              </a:prstGeom>
              <a:solidFill>
                <a:srgbClr val="9A412F"/>
              </a:solidFill>
              <a:ln>
                <a:noFill/>
              </a:ln>
            </p:spPr>
          </p:sp>
          <p:sp>
            <p:nvSpPr>
              <p:cNvPr id="277" name="TextBox 277"/>
              <p:cNvSpPr txBox="1"/>
              <p:nvPr/>
            </p:nvSpPr>
            <p:spPr>
              <a:xfrm>
                <a:off x="2868511" y="5564505"/>
                <a:ext cx="6637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时限：2个工作日​</a:t>
                </a:r>
              </a:p>
            </p:txBody>
          </p:sp>
          <p:sp>
            <p:nvSpPr>
              <p:cNvPr id="278" name="Ellipse 278"/>
              <p:cNvSpPr/>
              <p:nvPr/>
            </p:nvSpPr>
            <p:spPr>
              <a:xfrm>
                <a:off x="4152900" y="4419600"/>
                <a:ext cx="419100" cy="419100"/>
              </a:xfrm>
              <a:prstGeom prst="ellipse">
                <a:avLst/>
              </a:prstGeom>
              <a:solidFill>
                <a:srgbClr val="E9F4F0"/>
              </a:solidFill>
              <a:ln>
                <a:noFill/>
              </a:ln>
            </p:spPr>
          </p:sp>
          <p:grpSp>
            <p:nvGrpSpPr>
              <p:cNvPr id="283" name="Group 283"/>
              <p:cNvGrpSpPr/>
              <p:nvPr/>
            </p:nvGrpSpPr>
            <p:grpSpPr>
              <a:xfrm>
                <a:off x="4290219" y="4546600"/>
                <a:ext cx="154780" cy="175418"/>
                <a:chOff x="4290219" y="4546600"/>
                <a:chExt cx="154780" cy="175418"/>
              </a:xfrm>
            </p:grpSpPr>
            <p:sp>
              <p:nvSpPr>
                <p:cNvPr id="279" name="Freeform 279"/>
                <p:cNvSpPr/>
                <p:nvPr/>
              </p:nvSpPr>
              <p:spPr>
                <a:xfrm>
                  <a:off x="4290219" y="4546600"/>
                  <a:ext cx="123825" cy="165099"/>
                </a:xfrm>
                <a:custGeom>
                  <a:avLst/>
                  <a:gdLst/>
                  <a:ahLst/>
                  <a:cxnLst/>
                  <a:rect l="l" t="t" r="r" b="b"/>
                  <a:pathLst>
                    <a:path w="123825" h="165099">
                      <a:moveTo>
                        <a:pt x="47621" y="165099"/>
                      </a:moveTo>
                      <a:lnTo>
                        <a:pt x="20637" y="165099"/>
                      </a:lnTo>
                      <a:cubicBezTo>
                        <a:pt x="9240" y="165099"/>
                        <a:pt x="0" y="155860"/>
                        <a:pt x="0" y="144462"/>
                      </a:cubicBezTo>
                      <a:lnTo>
                        <a:pt x="0" y="20637"/>
                      </a:lnTo>
                      <a:cubicBezTo>
                        <a:pt x="0" y="9240"/>
                        <a:pt x="9240" y="0"/>
                        <a:pt x="20637" y="0"/>
                      </a:cubicBezTo>
                      <a:lnTo>
                        <a:pt x="103187" y="0"/>
                      </a:lnTo>
                      <a:cubicBezTo>
                        <a:pt x="114585" y="0"/>
                        <a:pt x="123825" y="9240"/>
                        <a:pt x="123825" y="20637"/>
                      </a:cubicBezTo>
                      <a:lnTo>
                        <a:pt x="123825" y="103187"/>
                      </a:lnTo>
                    </a:path>
                  </a:pathLst>
                </a:custGeom>
                <a:noFill/>
                <a:ln w="20637">
                  <a:solidFill>
                    <a:srgbClr val="5B180B"/>
                  </a:solidFill>
                </a:ln>
              </p:spPr>
            </p:sp>
            <p:sp>
              <p:nvSpPr>
                <p:cNvPr id="280" name="Freeform 280"/>
                <p:cNvSpPr/>
                <p:nvPr/>
              </p:nvSpPr>
              <p:spPr>
                <a:xfrm>
                  <a:off x="4383087" y="4680743"/>
                  <a:ext cx="61912" cy="41275"/>
                </a:xfrm>
                <a:custGeom>
                  <a:avLst/>
                  <a:gdLst/>
                  <a:ahLst/>
                  <a:cxnLst/>
                  <a:rect l="l" t="t" r="r" b="b"/>
                  <a:pathLst>
                    <a:path w="61912" h="41275">
                      <a:moveTo>
                        <a:pt x="0" y="20637"/>
                      </a:moveTo>
                      <a:lnTo>
                        <a:pt x="20637" y="41275"/>
                      </a:lnTo>
                      <a:lnTo>
                        <a:pt x="61912" y="0"/>
                      </a:lnTo>
                    </a:path>
                  </a:pathLst>
                </a:custGeom>
                <a:noFill/>
                <a:ln w="20637">
                  <a:solidFill>
                    <a:srgbClr val="5B180B"/>
                  </a:solidFill>
                </a:ln>
              </p:spPr>
            </p:sp>
            <p:sp>
              <p:nvSpPr>
                <p:cNvPr id="281" name="Freeform 281"/>
                <p:cNvSpPr/>
                <p:nvPr/>
              </p:nvSpPr>
              <p:spPr>
                <a:xfrm>
                  <a:off x="4331493" y="4587875"/>
                  <a:ext cx="41275" cy="9525"/>
                </a:xfrm>
                <a:custGeom>
                  <a:avLst/>
                  <a:gdLst/>
                  <a:ahLst/>
                  <a:cxnLst/>
                  <a:rect l="l" t="t" r="r" b="b"/>
                  <a:pathLst>
                    <a:path w="41275" h="9525">
                      <a:moveTo>
                        <a:pt x="0" y="0"/>
                      </a:moveTo>
                      <a:lnTo>
                        <a:pt x="41275" y="0"/>
                      </a:lnTo>
                    </a:path>
                  </a:pathLst>
                </a:custGeom>
                <a:noFill/>
                <a:ln w="20637">
                  <a:solidFill>
                    <a:srgbClr val="5B180B"/>
                  </a:solidFill>
                </a:ln>
              </p:spPr>
            </p:sp>
            <p:sp>
              <p:nvSpPr>
                <p:cNvPr id="282" name="Freeform 282"/>
                <p:cNvSpPr/>
                <p:nvPr/>
              </p:nvSpPr>
              <p:spPr>
                <a:xfrm>
                  <a:off x="4331493" y="4629150"/>
                  <a:ext cx="20637" cy="9525"/>
                </a:xfrm>
                <a:custGeom>
                  <a:avLst/>
                  <a:gdLst/>
                  <a:ahLst/>
                  <a:cxnLst/>
                  <a:rect l="l" t="t" r="r" b="b"/>
                  <a:pathLst>
                    <a:path w="20637" h="9525">
                      <a:moveTo>
                        <a:pt x="0" y="0"/>
                      </a:moveTo>
                      <a:lnTo>
                        <a:pt x="20637" y="0"/>
                      </a:lnTo>
                    </a:path>
                  </a:pathLst>
                </a:custGeom>
                <a:noFill/>
                <a:ln w="20637">
                  <a:solidFill>
                    <a:srgbClr val="5B180B"/>
                  </a:solidFill>
                </a:ln>
              </p:spPr>
            </p:sp>
          </p:grpSp>
          <p:sp>
            <p:nvSpPr>
              <p:cNvPr id="284" name="TextBox 284"/>
              <p:cNvSpPr txBox="1"/>
              <p:nvPr/>
            </p:nvSpPr>
            <p:spPr>
              <a:xfrm>
                <a:off x="4114279" y="496323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整改落实​</a:t>
                </a:r>
              </a:p>
            </p:txBody>
          </p:sp>
          <p:sp>
            <p:nvSpPr>
              <p:cNvPr id="285" name="TextBox 285"/>
              <p:cNvSpPr txBox="1"/>
              <p:nvPr/>
            </p:nvSpPr>
            <p:spPr>
              <a:xfrm>
                <a:off x="4110794" y="5158978"/>
                <a:ext cx="503311"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制定整改措施​</a:t>
                </a:r>
              </a:p>
            </p:txBody>
          </p:sp>
          <p:sp>
            <p:nvSpPr>
              <p:cNvPr id="286" name="TextBox 286"/>
              <p:cNvSpPr txBox="1"/>
              <p:nvPr/>
            </p:nvSpPr>
            <p:spPr>
              <a:xfrm>
                <a:off x="4035407" y="5273278"/>
                <a:ext cx="654086"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明确责任人和时限​</a:t>
                </a:r>
              </a:p>
            </p:txBody>
          </p:sp>
          <p:sp>
            <p:nvSpPr>
              <p:cNvPr id="287" name="Rectangle 287"/>
              <p:cNvSpPr/>
              <p:nvPr/>
            </p:nvSpPr>
            <p:spPr>
              <a:xfrm>
                <a:off x="3962400" y="5505450"/>
                <a:ext cx="800100" cy="171450"/>
              </a:xfrm>
              <a:prstGeom prst="roundRect">
                <a:avLst>
                  <a:gd name="adj" fmla="val 50000"/>
                </a:avLst>
              </a:prstGeom>
              <a:solidFill>
                <a:srgbClr val="A75545"/>
              </a:solidFill>
              <a:ln>
                <a:noFill/>
              </a:ln>
            </p:spPr>
          </p:sp>
          <p:sp>
            <p:nvSpPr>
              <p:cNvPr id="288" name="TextBox 288"/>
              <p:cNvSpPr txBox="1"/>
              <p:nvPr/>
            </p:nvSpPr>
            <p:spPr>
              <a:xfrm>
                <a:off x="4030561" y="5564505"/>
                <a:ext cx="6637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时限：3个工作日​</a:t>
                </a:r>
              </a:p>
            </p:txBody>
          </p:sp>
          <p:sp>
            <p:nvSpPr>
              <p:cNvPr id="289" name="Ellipse 289"/>
              <p:cNvSpPr/>
              <p:nvPr/>
            </p:nvSpPr>
            <p:spPr>
              <a:xfrm>
                <a:off x="5314950" y="4419600"/>
                <a:ext cx="419100" cy="419100"/>
              </a:xfrm>
              <a:prstGeom prst="ellipse">
                <a:avLst/>
              </a:prstGeom>
              <a:solidFill>
                <a:srgbClr val="E9F4F0"/>
              </a:solidFill>
              <a:ln>
                <a:noFill/>
              </a:ln>
            </p:spPr>
          </p:sp>
          <p:grpSp>
            <p:nvGrpSpPr>
              <p:cNvPr id="292" name="Group 292"/>
              <p:cNvGrpSpPr/>
              <p:nvPr/>
            </p:nvGrpSpPr>
            <p:grpSpPr>
              <a:xfrm>
                <a:off x="5441950" y="4542619"/>
                <a:ext cx="165099" cy="173061"/>
                <a:chOff x="5441950" y="4542619"/>
                <a:chExt cx="165099" cy="173061"/>
              </a:xfrm>
            </p:grpSpPr>
            <p:sp>
              <p:nvSpPr>
                <p:cNvPr id="290" name="Freeform 290"/>
                <p:cNvSpPr/>
                <p:nvPr/>
              </p:nvSpPr>
              <p:spPr>
                <a:xfrm>
                  <a:off x="5441950" y="4542619"/>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5B180B"/>
                  </a:solidFill>
                </a:ln>
              </p:spPr>
            </p:sp>
            <p:sp>
              <p:nvSpPr>
                <p:cNvPr id="291" name="Freeform 291"/>
                <p:cNvSpPr/>
                <p:nvPr/>
              </p:nvSpPr>
              <p:spPr>
                <a:xfrm>
                  <a:off x="5441950" y="4639468"/>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5B180B"/>
                  </a:solidFill>
                </a:ln>
              </p:spPr>
            </p:sp>
          </p:grpSp>
          <p:sp>
            <p:nvSpPr>
              <p:cNvPr id="293" name="TextBox 293"/>
              <p:cNvSpPr txBox="1"/>
              <p:nvPr/>
            </p:nvSpPr>
            <p:spPr>
              <a:xfrm>
                <a:off x="5276329" y="4963239"/>
                <a:ext cx="496341" cy="154781"/>
              </a:xfrm>
              <a:prstGeom prst="rect">
                <a:avLst/>
              </a:prstGeom>
              <a:noFill/>
              <a:ln>
                <a:noFill/>
              </a:ln>
            </p:spPr>
            <p:txBody>
              <a:bodyPr wrap="none" lIns="0" tIns="0" rIns="0" bIns="0" anchor="t" anchorCtr="0">
                <a:spAutoFit/>
              </a:bodyPr>
              <a:lstStyle/>
              <a:p>
                <a:pPr algn="ctr"/>
                <a:r>
                  <a:rPr lang="zh-CN" sz="790" b="1" dirty="0">
                    <a:solidFill>
                      <a:srgbClr val="312624"/>
                    </a:solidFill>
                    <a:latin typeface="+mn-lt"/>
                    <a:ea typeface="+mn-ea"/>
                    <a:cs typeface="+mn-cs"/>
                  </a:rPr>
                  <a:t>复盘改进​</a:t>
                </a:r>
              </a:p>
            </p:txBody>
          </p:sp>
          <p:sp>
            <p:nvSpPr>
              <p:cNvPr id="294" name="TextBox 294"/>
              <p:cNvSpPr txBox="1"/>
              <p:nvPr/>
            </p:nvSpPr>
            <p:spPr>
              <a:xfrm>
                <a:off x="5159764" y="5158978"/>
                <a:ext cx="729473"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分析原因、完善流程​</a:t>
                </a:r>
              </a:p>
            </p:txBody>
          </p:sp>
          <p:sp>
            <p:nvSpPr>
              <p:cNvPr id="295" name="TextBox 295"/>
              <p:cNvSpPr txBox="1"/>
              <p:nvPr/>
            </p:nvSpPr>
            <p:spPr>
              <a:xfrm>
                <a:off x="5197457" y="5273278"/>
                <a:ext cx="654086" cy="111919"/>
              </a:xfrm>
              <a:prstGeom prst="rect">
                <a:avLst/>
              </a:prstGeom>
              <a:noFill/>
              <a:ln>
                <a:noFill/>
              </a:ln>
            </p:spPr>
            <p:txBody>
              <a:bodyPr wrap="none" lIns="0" tIns="0" rIns="0" bIns="0" anchor="t" anchorCtr="0">
                <a:spAutoFit/>
              </a:bodyPr>
              <a:lstStyle/>
              <a:p>
                <a:pPr algn="ctr"/>
                <a:r>
                  <a:rPr lang="zh-CN" sz="560" dirty="0">
                    <a:solidFill>
                      <a:srgbClr val="4A3D3A"/>
                    </a:solidFill>
                    <a:latin typeface="+mn-lt"/>
                    <a:ea typeface="+mn-ea"/>
                    <a:cs typeface="+mn-cs"/>
                  </a:rPr>
                  <a:t>与机制，纳入考核​</a:t>
                </a:r>
              </a:p>
            </p:txBody>
          </p:sp>
          <p:sp>
            <p:nvSpPr>
              <p:cNvPr id="296" name="Rectangle 296"/>
              <p:cNvSpPr/>
              <p:nvPr/>
            </p:nvSpPr>
            <p:spPr>
              <a:xfrm>
                <a:off x="5181600" y="5505450"/>
                <a:ext cx="685800" cy="171450"/>
              </a:xfrm>
              <a:prstGeom prst="roundRect">
                <a:avLst>
                  <a:gd name="adj" fmla="val 50000"/>
                </a:avLst>
              </a:prstGeom>
              <a:solidFill>
                <a:srgbClr val="AE6C5F"/>
              </a:solidFill>
              <a:ln>
                <a:noFill/>
              </a:ln>
            </p:spPr>
          </p:sp>
          <p:sp>
            <p:nvSpPr>
              <p:cNvPr id="297" name="TextBox 297"/>
              <p:cNvSpPr txBox="1"/>
              <p:nvPr/>
            </p:nvSpPr>
            <p:spPr>
              <a:xfrm>
                <a:off x="5335981" y="5564505"/>
                <a:ext cx="37703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持续优化​</a:t>
                </a:r>
              </a:p>
            </p:txBody>
          </p:sp>
        </p:grpSp>
      </p:grpSp>
      <p:grpSp>
        <p:nvGrpSpPr>
          <p:cNvPr id="363" name="ban-card"/>
          <p:cNvGrpSpPr/>
          <p:nvPr/>
        </p:nvGrpSpPr>
        <p:grpSpPr>
          <a:xfrm>
            <a:off x="6248400" y="4019550"/>
            <a:ext cx="5715000" cy="2762250"/>
            <a:chOff x="6248400" y="4019550"/>
            <a:chExt cx="5715000" cy="2762250"/>
          </a:xfrm>
        </p:grpSpPr>
        <p:sp>
          <p:nvSpPr>
            <p:cNvPr id="300" name="Rectangle 300"/>
            <p:cNvSpPr/>
            <p:nvPr/>
          </p:nvSpPr>
          <p:spPr>
            <a:xfrm>
              <a:off x="6248400" y="4019550"/>
              <a:ext cx="5715000" cy="2762250"/>
            </a:xfrm>
            <a:prstGeom prst="roundRect">
              <a:avLst>
                <a:gd name="adj" fmla="val 3448"/>
              </a:avLst>
            </a:prstGeom>
            <a:solidFill>
              <a:srgbClr val="FDF4F3"/>
            </a:solidFill>
            <a:ln w="9525">
              <a:solidFill>
                <a:srgbClr val="F3CBC4"/>
              </a:solidFill>
            </a:ln>
          </p:spPr>
        </p:sp>
        <p:sp>
          <p:nvSpPr>
            <p:cNvPr id="301" name="Rectangle 301"/>
            <p:cNvSpPr/>
            <p:nvPr/>
          </p:nvSpPr>
          <p:spPr>
            <a:xfrm>
              <a:off x="6248400" y="4019550"/>
              <a:ext cx="1428750" cy="228600"/>
            </a:xfrm>
            <a:prstGeom prst="roundRect">
              <a:avLst>
                <a:gd name="adj" fmla="val 16667"/>
              </a:avLst>
            </a:prstGeom>
            <a:solidFill>
              <a:srgbClr val="C24833"/>
            </a:solidFill>
            <a:ln>
              <a:noFill/>
            </a:ln>
          </p:spPr>
        </p:sp>
        <p:sp>
          <p:nvSpPr>
            <p:cNvPr id="302" name="TextBox 302"/>
            <p:cNvSpPr txBox="1"/>
            <p:nvPr/>
          </p:nvSpPr>
          <p:spPr>
            <a:xfrm>
              <a:off x="6357938" y="4088368"/>
              <a:ext cx="886796"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严禁的六类行为​</a:t>
              </a:r>
            </a:p>
          </p:txBody>
        </p:sp>
        <p:sp>
          <p:nvSpPr>
            <p:cNvPr id="303" name="TextBox 303"/>
            <p:cNvSpPr txBox="1"/>
            <p:nvPr/>
          </p:nvSpPr>
          <p:spPr>
            <a:xfrm>
              <a:off x="7767638" y="4112657"/>
              <a:ext cx="576221" cy="126206"/>
            </a:xfrm>
            <a:prstGeom prst="rect">
              <a:avLst/>
            </a:prstGeom>
            <a:noFill/>
            <a:ln>
              <a:noFill/>
            </a:ln>
          </p:spPr>
          <p:txBody>
            <a:bodyPr wrap="none" lIns="0" tIns="0" rIns="0" bIns="0" anchor="t" anchorCtr="0">
              <a:spAutoFit/>
            </a:bodyPr>
            <a:lstStyle/>
            <a:p>
              <a:pPr algn="l"/>
              <a:r>
                <a:rPr lang="zh-CN" sz="640" b="1" dirty="0">
                  <a:solidFill>
                    <a:srgbClr val="C24833"/>
                  </a:solidFill>
                  <a:latin typeface="+mn-lt"/>
                  <a:ea typeface="+mn-ea"/>
                  <a:cs typeface="+mn-cs"/>
                </a:rPr>
                <a:t>红线不可触碰​</a:t>
              </a:r>
            </a:p>
          </p:txBody>
        </p:sp>
        <p:grpSp>
          <p:nvGrpSpPr>
            <p:cNvPr id="362" name="ban-items"/>
            <p:cNvGrpSpPr/>
            <p:nvPr/>
          </p:nvGrpSpPr>
          <p:grpSpPr>
            <a:xfrm>
              <a:off x="6362700" y="4362450"/>
              <a:ext cx="5486400" cy="2305050"/>
              <a:chOff x="6362700" y="4362450"/>
              <a:chExt cx="5486400" cy="2305050"/>
            </a:xfrm>
          </p:grpSpPr>
          <p:sp>
            <p:nvSpPr>
              <p:cNvPr id="304" name="Rectangle 304"/>
              <p:cNvSpPr/>
              <p:nvPr/>
            </p:nvSpPr>
            <p:spPr>
              <a:xfrm>
                <a:off x="6362700" y="4362450"/>
                <a:ext cx="1752600" cy="1104900"/>
              </a:xfrm>
              <a:prstGeom prst="roundRect">
                <a:avLst>
                  <a:gd name="adj" fmla="val 5172"/>
                </a:avLst>
              </a:prstGeom>
              <a:solidFill>
                <a:srgbClr val="FFFFFF"/>
              </a:solidFill>
              <a:ln w="7620">
                <a:solidFill>
                  <a:srgbClr val="F3CBC4"/>
                </a:solidFill>
              </a:ln>
            </p:spPr>
          </p:sp>
          <p:sp>
            <p:nvSpPr>
              <p:cNvPr id="305" name="Ellipse 305"/>
              <p:cNvSpPr/>
              <p:nvPr/>
            </p:nvSpPr>
            <p:spPr>
              <a:xfrm>
                <a:off x="6438900" y="4457700"/>
                <a:ext cx="190500" cy="190500"/>
              </a:xfrm>
              <a:prstGeom prst="ellipse">
                <a:avLst/>
              </a:prstGeom>
              <a:solidFill>
                <a:srgbClr val="C24833"/>
              </a:solidFill>
              <a:ln>
                <a:noFill/>
              </a:ln>
            </p:spPr>
          </p:sp>
          <p:sp>
            <p:nvSpPr>
              <p:cNvPr id="306" name="TextBox 306"/>
              <p:cNvSpPr txBox="1"/>
              <p:nvPr/>
            </p:nvSpPr>
            <p:spPr>
              <a:xfrm>
                <a:off x="6476522" y="451818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sp>
            <p:nvSpPr>
              <p:cNvPr id="307" name="Freeform 307"/>
              <p:cNvSpPr/>
              <p:nvPr/>
            </p:nvSpPr>
            <p:spPr>
              <a:xfrm>
                <a:off x="6702234" y="448329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C24833"/>
                </a:solidFill>
              </a:ln>
            </p:spPr>
          </p:sp>
          <p:sp>
            <p:nvSpPr>
              <p:cNvPr id="308" name="TextBox 308"/>
              <p:cNvSpPr txBox="1"/>
              <p:nvPr/>
            </p:nvSpPr>
            <p:spPr>
              <a:xfrm>
                <a:off x="6948488" y="4511516"/>
                <a:ext cx="514828" cy="161925"/>
              </a:xfrm>
              <a:prstGeom prst="rect">
                <a:avLst/>
              </a:prstGeom>
              <a:noFill/>
              <a:ln>
                <a:noFill/>
              </a:ln>
            </p:spPr>
            <p:txBody>
              <a:bodyPr wrap="none" lIns="0" tIns="0" rIns="0" bIns="0" anchor="t" anchorCtr="0">
                <a:spAutoFit/>
              </a:bodyPr>
              <a:lstStyle/>
              <a:p>
                <a:pPr algn="l"/>
                <a:r>
                  <a:rPr lang="zh-CN" sz="820" b="1" dirty="0">
                    <a:solidFill>
                      <a:srgbClr val="C24833"/>
                    </a:solidFill>
                    <a:latin typeface="+mn-lt"/>
                    <a:ea typeface="+mn-ea"/>
                    <a:cs typeface="+mn-cs"/>
                  </a:rPr>
                  <a:t>虚假宣传​</a:t>
                </a:r>
              </a:p>
            </p:txBody>
          </p:sp>
          <p:sp>
            <p:nvSpPr>
              <p:cNvPr id="309" name="TextBox 309"/>
              <p:cNvSpPr txBox="1"/>
              <p:nvPr/>
            </p:nvSpPr>
            <p:spPr>
              <a:xfrm>
                <a:off x="6453188" y="4788932"/>
                <a:ext cx="1004636"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不得夸大收益、隐瞒风险​</a:t>
                </a:r>
              </a:p>
            </p:txBody>
          </p:sp>
          <p:sp>
            <p:nvSpPr>
              <p:cNvPr id="310" name="TextBox 310"/>
              <p:cNvSpPr txBox="1"/>
              <p:nvPr/>
            </p:nvSpPr>
            <p:spPr>
              <a:xfrm>
                <a:off x="6453188" y="4941332"/>
                <a:ext cx="746166"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或使用误导性话术​</a:t>
                </a:r>
              </a:p>
            </p:txBody>
          </p:sp>
          <p:sp>
            <p:nvSpPr>
              <p:cNvPr id="311" name="Rectangle 311"/>
              <p:cNvSpPr/>
              <p:nvPr/>
            </p:nvSpPr>
            <p:spPr>
              <a:xfrm>
                <a:off x="8229600" y="4362450"/>
                <a:ext cx="1752600" cy="1104900"/>
              </a:xfrm>
              <a:prstGeom prst="roundRect">
                <a:avLst>
                  <a:gd name="adj" fmla="val 5172"/>
                </a:avLst>
              </a:prstGeom>
              <a:solidFill>
                <a:srgbClr val="FFFFFF"/>
              </a:solidFill>
              <a:ln w="7620">
                <a:solidFill>
                  <a:srgbClr val="F3CBC4"/>
                </a:solidFill>
              </a:ln>
            </p:spPr>
          </p:sp>
          <p:sp>
            <p:nvSpPr>
              <p:cNvPr id="312" name="Ellipse 312"/>
              <p:cNvSpPr/>
              <p:nvPr/>
            </p:nvSpPr>
            <p:spPr>
              <a:xfrm>
                <a:off x="8305800" y="4457700"/>
                <a:ext cx="190500" cy="190500"/>
              </a:xfrm>
              <a:prstGeom prst="ellipse">
                <a:avLst/>
              </a:prstGeom>
              <a:solidFill>
                <a:srgbClr val="C24833"/>
              </a:solidFill>
              <a:ln>
                <a:noFill/>
              </a:ln>
            </p:spPr>
          </p:sp>
          <p:sp>
            <p:nvSpPr>
              <p:cNvPr id="313" name="TextBox 313"/>
              <p:cNvSpPr txBox="1"/>
              <p:nvPr/>
            </p:nvSpPr>
            <p:spPr>
              <a:xfrm>
                <a:off x="8343422" y="451818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grpSp>
            <p:nvGrpSpPr>
              <p:cNvPr id="318" name="Group 318"/>
              <p:cNvGrpSpPr/>
              <p:nvPr/>
            </p:nvGrpSpPr>
            <p:grpSpPr>
              <a:xfrm>
                <a:off x="8585200" y="4481512"/>
                <a:ext cx="127000" cy="142875"/>
                <a:chOff x="8585200" y="4481512"/>
                <a:chExt cx="127000" cy="142875"/>
              </a:xfrm>
            </p:grpSpPr>
            <p:sp>
              <p:nvSpPr>
                <p:cNvPr id="314" name="Freeform 314"/>
                <p:cNvSpPr/>
                <p:nvPr/>
              </p:nvSpPr>
              <p:spPr>
                <a:xfrm>
                  <a:off x="8585200" y="45926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C24833"/>
                  </a:solidFill>
                </a:ln>
              </p:spPr>
            </p:sp>
            <p:sp>
              <p:nvSpPr>
                <p:cNvPr id="315" name="Freeform 315"/>
                <p:cNvSpPr/>
                <p:nvPr/>
              </p:nvSpPr>
              <p:spPr>
                <a:xfrm>
                  <a:off x="8672512" y="45926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C24833"/>
                  </a:solidFill>
                </a:ln>
              </p:spPr>
            </p:sp>
            <p:sp>
              <p:nvSpPr>
                <p:cNvPr id="316" name="Freeform 316"/>
                <p:cNvSpPr/>
                <p:nvPr/>
              </p:nvSpPr>
              <p:spPr>
                <a:xfrm>
                  <a:off x="8585200" y="4481512"/>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C24833"/>
                  </a:solidFill>
                </a:ln>
              </p:spPr>
            </p:sp>
            <p:sp>
              <p:nvSpPr>
                <p:cNvPr id="317" name="Freeform 317"/>
                <p:cNvSpPr/>
                <p:nvPr/>
              </p:nvSpPr>
              <p:spPr>
                <a:xfrm>
                  <a:off x="8601075" y="4497387"/>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C24833"/>
                  </a:solidFill>
                </a:ln>
              </p:spPr>
            </p:sp>
          </p:grpSp>
          <p:sp>
            <p:nvSpPr>
              <p:cNvPr id="319" name="TextBox 319"/>
              <p:cNvSpPr txBox="1"/>
              <p:nvPr/>
            </p:nvSpPr>
            <p:spPr>
              <a:xfrm>
                <a:off x="8815388" y="4511516"/>
                <a:ext cx="514828" cy="161925"/>
              </a:xfrm>
              <a:prstGeom prst="rect">
                <a:avLst/>
              </a:prstGeom>
              <a:noFill/>
              <a:ln>
                <a:noFill/>
              </a:ln>
            </p:spPr>
            <p:txBody>
              <a:bodyPr wrap="none" lIns="0" tIns="0" rIns="0" bIns="0" anchor="t" anchorCtr="0">
                <a:spAutoFit/>
              </a:bodyPr>
              <a:lstStyle/>
              <a:p>
                <a:pPr algn="l"/>
                <a:r>
                  <a:rPr lang="zh-CN" sz="820" b="1" dirty="0">
                    <a:solidFill>
                      <a:srgbClr val="C24833"/>
                    </a:solidFill>
                    <a:latin typeface="+mn-lt"/>
                    <a:ea typeface="+mn-ea"/>
                    <a:cs typeface="+mn-cs"/>
                  </a:rPr>
                  <a:t>强制搭售​</a:t>
                </a:r>
              </a:p>
            </p:txBody>
          </p:sp>
          <p:sp>
            <p:nvSpPr>
              <p:cNvPr id="320" name="TextBox 320"/>
              <p:cNvSpPr txBox="1"/>
              <p:nvPr/>
            </p:nvSpPr>
            <p:spPr>
              <a:xfrm>
                <a:off x="8320088" y="4788932"/>
                <a:ext cx="1090793"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不得以办理其他业务为条件​</a:t>
                </a:r>
              </a:p>
            </p:txBody>
          </p:sp>
          <p:sp>
            <p:nvSpPr>
              <p:cNvPr id="321" name="TextBox 321"/>
              <p:cNvSpPr txBox="1"/>
              <p:nvPr/>
            </p:nvSpPr>
            <p:spPr>
              <a:xfrm>
                <a:off x="8320088" y="4941332"/>
                <a:ext cx="573852"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强制销售产品​</a:t>
                </a:r>
              </a:p>
            </p:txBody>
          </p:sp>
          <p:sp>
            <p:nvSpPr>
              <p:cNvPr id="322" name="Rectangle 322"/>
              <p:cNvSpPr/>
              <p:nvPr/>
            </p:nvSpPr>
            <p:spPr>
              <a:xfrm>
                <a:off x="10096500" y="4362450"/>
                <a:ext cx="1752600" cy="1104900"/>
              </a:xfrm>
              <a:prstGeom prst="roundRect">
                <a:avLst>
                  <a:gd name="adj" fmla="val 5172"/>
                </a:avLst>
              </a:prstGeom>
              <a:solidFill>
                <a:srgbClr val="FFFFFF"/>
              </a:solidFill>
              <a:ln w="7620">
                <a:solidFill>
                  <a:srgbClr val="F3CBC4"/>
                </a:solidFill>
              </a:ln>
            </p:spPr>
          </p:sp>
          <p:sp>
            <p:nvSpPr>
              <p:cNvPr id="323" name="Ellipse 323"/>
              <p:cNvSpPr/>
              <p:nvPr/>
            </p:nvSpPr>
            <p:spPr>
              <a:xfrm>
                <a:off x="10172700" y="4457700"/>
                <a:ext cx="190500" cy="190500"/>
              </a:xfrm>
              <a:prstGeom prst="ellipse">
                <a:avLst/>
              </a:prstGeom>
              <a:solidFill>
                <a:srgbClr val="C24833"/>
              </a:solidFill>
              <a:ln>
                <a:noFill/>
              </a:ln>
            </p:spPr>
          </p:sp>
          <p:sp>
            <p:nvSpPr>
              <p:cNvPr id="324" name="TextBox 324"/>
              <p:cNvSpPr txBox="1"/>
              <p:nvPr/>
            </p:nvSpPr>
            <p:spPr>
              <a:xfrm>
                <a:off x="10210322" y="451818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grpSp>
            <p:nvGrpSpPr>
              <p:cNvPr id="328" name="Group 328"/>
              <p:cNvGrpSpPr/>
              <p:nvPr/>
            </p:nvGrpSpPr>
            <p:grpSpPr>
              <a:xfrm>
                <a:off x="10467975" y="4481512"/>
                <a:ext cx="119062" cy="142875"/>
                <a:chOff x="10467975" y="4481512"/>
                <a:chExt cx="119062" cy="142875"/>
              </a:xfrm>
            </p:grpSpPr>
            <p:sp>
              <p:nvSpPr>
                <p:cNvPr id="325" name="Freeform 325"/>
                <p:cNvSpPr/>
                <p:nvPr/>
              </p:nvSpPr>
              <p:spPr>
                <a:xfrm>
                  <a:off x="10483850" y="44815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C24833"/>
                  </a:solidFill>
                </a:ln>
              </p:spPr>
            </p:sp>
            <p:sp>
              <p:nvSpPr>
                <p:cNvPr id="326" name="Freeform 326"/>
                <p:cNvSpPr/>
                <p:nvPr/>
              </p:nvSpPr>
              <p:spPr>
                <a:xfrm>
                  <a:off x="10467975" y="45767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C24833"/>
                  </a:solidFill>
                </a:ln>
              </p:spPr>
            </p:sp>
            <p:sp>
              <p:nvSpPr>
                <p:cNvPr id="327" name="Freeform 327"/>
                <p:cNvSpPr/>
                <p:nvPr/>
              </p:nvSpPr>
              <p:spPr>
                <a:xfrm>
                  <a:off x="10539412" y="4592637"/>
                  <a:ext cx="47625" cy="31750"/>
                </a:xfrm>
                <a:custGeom>
                  <a:avLst/>
                  <a:gdLst/>
                  <a:ahLst/>
                  <a:cxnLst/>
                  <a:rect l="l" t="t" r="r" b="b"/>
                  <a:pathLst>
                    <a:path w="47625" h="31750">
                      <a:moveTo>
                        <a:pt x="0" y="15875"/>
                      </a:moveTo>
                      <a:lnTo>
                        <a:pt x="15875" y="31750"/>
                      </a:lnTo>
                      <a:lnTo>
                        <a:pt x="47625" y="0"/>
                      </a:lnTo>
                    </a:path>
                  </a:pathLst>
                </a:custGeom>
                <a:noFill/>
                <a:ln w="15875">
                  <a:solidFill>
                    <a:srgbClr val="C24833"/>
                  </a:solidFill>
                </a:ln>
              </p:spPr>
            </p:sp>
          </p:grpSp>
          <p:sp>
            <p:nvSpPr>
              <p:cNvPr id="329" name="TextBox 329"/>
              <p:cNvSpPr txBox="1"/>
              <p:nvPr/>
            </p:nvSpPr>
            <p:spPr>
              <a:xfrm>
                <a:off x="10682288" y="4511516"/>
                <a:ext cx="514828" cy="161925"/>
              </a:xfrm>
              <a:prstGeom prst="rect">
                <a:avLst/>
              </a:prstGeom>
              <a:noFill/>
              <a:ln>
                <a:noFill/>
              </a:ln>
            </p:spPr>
            <p:txBody>
              <a:bodyPr wrap="none" lIns="0" tIns="0" rIns="0" bIns="0" anchor="t" anchorCtr="0">
                <a:spAutoFit/>
              </a:bodyPr>
              <a:lstStyle/>
              <a:p>
                <a:pPr algn="l"/>
                <a:r>
                  <a:rPr lang="zh-CN" sz="820" b="1" dirty="0">
                    <a:solidFill>
                      <a:srgbClr val="C24833"/>
                    </a:solidFill>
                    <a:latin typeface="+mn-lt"/>
                    <a:ea typeface="+mn-ea"/>
                    <a:cs typeface="+mn-cs"/>
                  </a:rPr>
                  <a:t>代客操作​</a:t>
                </a:r>
              </a:p>
            </p:txBody>
          </p:sp>
          <p:sp>
            <p:nvSpPr>
              <p:cNvPr id="330" name="TextBox 330"/>
              <p:cNvSpPr txBox="1"/>
              <p:nvPr/>
            </p:nvSpPr>
            <p:spPr>
              <a:xfrm>
                <a:off x="10186988" y="4788932"/>
                <a:ext cx="1090793"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不得代客户进行风险测评、​</a:t>
                </a:r>
              </a:p>
            </p:txBody>
          </p:sp>
          <p:sp>
            <p:nvSpPr>
              <p:cNvPr id="331" name="TextBox 331"/>
              <p:cNvSpPr txBox="1"/>
              <p:nvPr/>
            </p:nvSpPr>
            <p:spPr>
              <a:xfrm>
                <a:off x="10186988" y="4941332"/>
                <a:ext cx="660009"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签名或操作账户​</a:t>
                </a:r>
              </a:p>
            </p:txBody>
          </p:sp>
          <p:sp>
            <p:nvSpPr>
              <p:cNvPr id="332" name="Rectangle 332"/>
              <p:cNvSpPr/>
              <p:nvPr/>
            </p:nvSpPr>
            <p:spPr>
              <a:xfrm>
                <a:off x="6362700" y="5562600"/>
                <a:ext cx="1752600" cy="1104900"/>
              </a:xfrm>
              <a:prstGeom prst="roundRect">
                <a:avLst>
                  <a:gd name="adj" fmla="val 5172"/>
                </a:avLst>
              </a:prstGeom>
              <a:solidFill>
                <a:srgbClr val="FFFFFF"/>
              </a:solidFill>
              <a:ln w="7620">
                <a:solidFill>
                  <a:srgbClr val="F3CBC4"/>
                </a:solidFill>
              </a:ln>
            </p:spPr>
          </p:sp>
          <p:sp>
            <p:nvSpPr>
              <p:cNvPr id="333" name="Ellipse 333"/>
              <p:cNvSpPr/>
              <p:nvPr/>
            </p:nvSpPr>
            <p:spPr>
              <a:xfrm>
                <a:off x="6438900" y="5657850"/>
                <a:ext cx="190500" cy="190500"/>
              </a:xfrm>
              <a:prstGeom prst="ellipse">
                <a:avLst/>
              </a:prstGeom>
              <a:solidFill>
                <a:srgbClr val="C24833"/>
              </a:solidFill>
              <a:ln>
                <a:noFill/>
              </a:ln>
            </p:spPr>
          </p:sp>
          <p:sp>
            <p:nvSpPr>
              <p:cNvPr id="334" name="TextBox 334"/>
              <p:cNvSpPr txBox="1"/>
              <p:nvPr/>
            </p:nvSpPr>
            <p:spPr>
              <a:xfrm>
                <a:off x="6476522" y="57183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grpSp>
            <p:nvGrpSpPr>
              <p:cNvPr id="338" name="Group 338"/>
              <p:cNvGrpSpPr/>
              <p:nvPr/>
            </p:nvGrpSpPr>
            <p:grpSpPr>
              <a:xfrm>
                <a:off x="6713553" y="5681662"/>
                <a:ext cx="136478" cy="142002"/>
                <a:chOff x="6713553" y="5681662"/>
                <a:chExt cx="136478" cy="142002"/>
              </a:xfrm>
            </p:grpSpPr>
            <p:sp>
              <p:nvSpPr>
                <p:cNvPr id="335" name="Freeform 335"/>
                <p:cNvSpPr/>
                <p:nvPr/>
              </p:nvSpPr>
              <p:spPr>
                <a:xfrm>
                  <a:off x="6734175" y="5681662"/>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C24833"/>
                  </a:solidFill>
                </a:ln>
              </p:spPr>
            </p:sp>
            <p:sp>
              <p:nvSpPr>
                <p:cNvPr id="336" name="Freeform 336"/>
                <p:cNvSpPr/>
                <p:nvPr/>
              </p:nvSpPr>
              <p:spPr>
                <a:xfrm>
                  <a:off x="6781800" y="5753100"/>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C24833"/>
                  </a:solidFill>
                </a:ln>
              </p:spPr>
            </p:sp>
            <p:sp>
              <p:nvSpPr>
                <p:cNvPr id="337" name="Freeform 337"/>
                <p:cNvSpPr/>
                <p:nvPr/>
              </p:nvSpPr>
              <p:spPr>
                <a:xfrm>
                  <a:off x="6713553" y="5753100"/>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C24833"/>
                  </a:solidFill>
                </a:ln>
              </p:spPr>
            </p:sp>
          </p:grpSp>
          <p:sp>
            <p:nvSpPr>
              <p:cNvPr id="339" name="TextBox 339"/>
              <p:cNvSpPr txBox="1"/>
              <p:nvPr/>
            </p:nvSpPr>
            <p:spPr>
              <a:xfrm>
                <a:off x="6948488" y="5711666"/>
                <a:ext cx="514828" cy="161925"/>
              </a:xfrm>
              <a:prstGeom prst="rect">
                <a:avLst/>
              </a:prstGeom>
              <a:noFill/>
              <a:ln>
                <a:noFill/>
              </a:ln>
            </p:spPr>
            <p:txBody>
              <a:bodyPr wrap="none" lIns="0" tIns="0" rIns="0" bIns="0" anchor="t" anchorCtr="0">
                <a:spAutoFit/>
              </a:bodyPr>
              <a:lstStyle/>
              <a:p>
                <a:pPr algn="l"/>
                <a:r>
                  <a:rPr lang="zh-CN" sz="820" b="1" dirty="0">
                    <a:solidFill>
                      <a:srgbClr val="C24833"/>
                    </a:solidFill>
                    <a:latin typeface="+mn-lt"/>
                    <a:ea typeface="+mn-ea"/>
                    <a:cs typeface="+mn-cs"/>
                  </a:rPr>
                  <a:t>不当激励​</a:t>
                </a:r>
              </a:p>
            </p:txBody>
          </p:sp>
          <p:sp>
            <p:nvSpPr>
              <p:cNvPr id="340" name="TextBox 340"/>
              <p:cNvSpPr txBox="1"/>
              <p:nvPr/>
            </p:nvSpPr>
            <p:spPr>
              <a:xfrm>
                <a:off x="6453188" y="5989082"/>
                <a:ext cx="832322"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不得以不当利益诱导​</a:t>
                </a:r>
              </a:p>
            </p:txBody>
          </p:sp>
          <p:sp>
            <p:nvSpPr>
              <p:cNvPr id="341" name="TextBox 341"/>
              <p:cNvSpPr txBox="1"/>
              <p:nvPr/>
            </p:nvSpPr>
            <p:spPr>
              <a:xfrm>
                <a:off x="6453188" y="6141482"/>
                <a:ext cx="573852"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客户购买产品​</a:t>
                </a:r>
              </a:p>
            </p:txBody>
          </p:sp>
          <p:sp>
            <p:nvSpPr>
              <p:cNvPr id="342" name="Rectangle 342"/>
              <p:cNvSpPr/>
              <p:nvPr/>
            </p:nvSpPr>
            <p:spPr>
              <a:xfrm>
                <a:off x="8229600" y="5562600"/>
                <a:ext cx="1752600" cy="1104900"/>
              </a:xfrm>
              <a:prstGeom prst="roundRect">
                <a:avLst>
                  <a:gd name="adj" fmla="val 5172"/>
                </a:avLst>
              </a:prstGeom>
              <a:solidFill>
                <a:srgbClr val="FFFFFF"/>
              </a:solidFill>
              <a:ln w="7620">
                <a:solidFill>
                  <a:srgbClr val="F3CBC4"/>
                </a:solidFill>
              </a:ln>
            </p:spPr>
          </p:sp>
          <p:sp>
            <p:nvSpPr>
              <p:cNvPr id="343" name="Ellipse 343"/>
              <p:cNvSpPr/>
              <p:nvPr/>
            </p:nvSpPr>
            <p:spPr>
              <a:xfrm>
                <a:off x="8305800" y="5657850"/>
                <a:ext cx="190500" cy="190500"/>
              </a:xfrm>
              <a:prstGeom prst="ellipse">
                <a:avLst/>
              </a:prstGeom>
              <a:solidFill>
                <a:srgbClr val="C24833"/>
              </a:solidFill>
              <a:ln>
                <a:noFill/>
              </a:ln>
            </p:spPr>
          </p:sp>
          <p:sp>
            <p:nvSpPr>
              <p:cNvPr id="344" name="TextBox 344"/>
              <p:cNvSpPr txBox="1"/>
              <p:nvPr/>
            </p:nvSpPr>
            <p:spPr>
              <a:xfrm>
                <a:off x="8343422" y="57183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5​</a:t>
                </a:r>
              </a:p>
            </p:txBody>
          </p:sp>
          <p:grpSp>
            <p:nvGrpSpPr>
              <p:cNvPr id="348" name="Group 348"/>
              <p:cNvGrpSpPr/>
              <p:nvPr/>
            </p:nvGrpSpPr>
            <p:grpSpPr>
              <a:xfrm>
                <a:off x="8593137" y="5681662"/>
                <a:ext cx="111125" cy="142875"/>
                <a:chOff x="8593137" y="5681662"/>
                <a:chExt cx="111125" cy="142875"/>
              </a:xfrm>
            </p:grpSpPr>
            <p:sp>
              <p:nvSpPr>
                <p:cNvPr id="345" name="Freeform 345"/>
                <p:cNvSpPr/>
                <p:nvPr/>
              </p:nvSpPr>
              <p:spPr>
                <a:xfrm>
                  <a:off x="8593137" y="5745162"/>
                  <a:ext cx="111125" cy="79375"/>
                </a:xfrm>
                <a:custGeom>
                  <a:avLst/>
                  <a:gdLst/>
                  <a:ahLst/>
                  <a:cxnLst/>
                  <a:rect l="l" t="t" r="r" b="b"/>
                  <a:pathLst>
                    <a:path w="111125" h="79375">
                      <a:moveTo>
                        <a:pt x="0" y="15875"/>
                      </a:moveTo>
                      <a:cubicBezTo>
                        <a:pt x="0" y="7107"/>
                        <a:pt x="7107" y="0"/>
                        <a:pt x="15875" y="0"/>
                      </a:cubicBezTo>
                      <a:lnTo>
                        <a:pt x="95250" y="0"/>
                      </a:lnTo>
                      <a:cubicBezTo>
                        <a:pt x="104017" y="0"/>
                        <a:pt x="111125" y="7107"/>
                        <a:pt x="111125" y="15875"/>
                      </a:cubicBezTo>
                      <a:lnTo>
                        <a:pt x="111125" y="63500"/>
                      </a:lnTo>
                      <a:cubicBezTo>
                        <a:pt x="111125" y="72267"/>
                        <a:pt x="104017" y="79375"/>
                        <a:pt x="95250" y="79375"/>
                      </a:cubicBezTo>
                      <a:lnTo>
                        <a:pt x="15875" y="79375"/>
                      </a:lnTo>
                      <a:cubicBezTo>
                        <a:pt x="7107" y="79375"/>
                        <a:pt x="0" y="72267"/>
                        <a:pt x="0" y="63500"/>
                      </a:cubicBezTo>
                      <a:lnTo>
                        <a:pt x="0" y="15875"/>
                      </a:lnTo>
                    </a:path>
                  </a:pathLst>
                </a:custGeom>
                <a:noFill/>
                <a:ln w="15875">
                  <a:solidFill>
                    <a:srgbClr val="C24833"/>
                  </a:solidFill>
                </a:ln>
              </p:spPr>
            </p:sp>
            <p:sp>
              <p:nvSpPr>
                <p:cNvPr id="346" name="Freeform 346"/>
                <p:cNvSpPr/>
                <p:nvPr/>
              </p:nvSpPr>
              <p:spPr>
                <a:xfrm>
                  <a:off x="8640762" y="57769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C24833"/>
                  </a:solidFill>
                </a:ln>
              </p:spPr>
            </p:sp>
            <p:sp>
              <p:nvSpPr>
                <p:cNvPr id="347" name="Freeform 347"/>
                <p:cNvSpPr/>
                <p:nvPr/>
              </p:nvSpPr>
              <p:spPr>
                <a:xfrm>
                  <a:off x="8616950" y="5681662"/>
                  <a:ext cx="63500" cy="63500"/>
                </a:xfrm>
                <a:custGeom>
                  <a:avLst/>
                  <a:gdLst/>
                  <a:ahLst/>
                  <a:cxnLst/>
                  <a:rect l="l" t="t" r="r" b="b"/>
                  <a:pathLst>
                    <a:path w="63500" h="63500">
                      <a:moveTo>
                        <a:pt x="0" y="63500"/>
                      </a:moveTo>
                      <a:lnTo>
                        <a:pt x="0" y="31750"/>
                      </a:lnTo>
                      <a:cubicBezTo>
                        <a:pt x="0" y="14215"/>
                        <a:pt x="14215" y="0"/>
                        <a:pt x="31750" y="0"/>
                      </a:cubicBezTo>
                      <a:cubicBezTo>
                        <a:pt x="49285" y="0"/>
                        <a:pt x="63500" y="14215"/>
                        <a:pt x="63500" y="31750"/>
                      </a:cubicBezTo>
                      <a:lnTo>
                        <a:pt x="63500" y="63500"/>
                      </a:lnTo>
                    </a:path>
                  </a:pathLst>
                </a:custGeom>
                <a:noFill/>
                <a:ln w="15875">
                  <a:solidFill>
                    <a:srgbClr val="C24833"/>
                  </a:solidFill>
                </a:ln>
              </p:spPr>
            </p:sp>
          </p:grpSp>
          <p:sp>
            <p:nvSpPr>
              <p:cNvPr id="349" name="TextBox 349"/>
              <p:cNvSpPr txBox="1"/>
              <p:nvPr/>
            </p:nvSpPr>
            <p:spPr>
              <a:xfrm>
                <a:off x="8815388" y="5711666"/>
                <a:ext cx="514828" cy="161925"/>
              </a:xfrm>
              <a:prstGeom prst="rect">
                <a:avLst/>
              </a:prstGeom>
              <a:noFill/>
              <a:ln>
                <a:noFill/>
              </a:ln>
            </p:spPr>
            <p:txBody>
              <a:bodyPr wrap="none" lIns="0" tIns="0" rIns="0" bIns="0" anchor="t" anchorCtr="0">
                <a:spAutoFit/>
              </a:bodyPr>
              <a:lstStyle/>
              <a:p>
                <a:pPr algn="l"/>
                <a:r>
                  <a:rPr lang="zh-CN" sz="820" b="1" dirty="0">
                    <a:solidFill>
                      <a:srgbClr val="C24833"/>
                    </a:solidFill>
                    <a:latin typeface="+mn-lt"/>
                    <a:ea typeface="+mn-ea"/>
                    <a:cs typeface="+mn-cs"/>
                  </a:rPr>
                  <a:t>泄露信息​</a:t>
                </a:r>
              </a:p>
            </p:txBody>
          </p:sp>
          <p:sp>
            <p:nvSpPr>
              <p:cNvPr id="350" name="TextBox 350"/>
              <p:cNvSpPr txBox="1"/>
              <p:nvPr/>
            </p:nvSpPr>
            <p:spPr>
              <a:xfrm>
                <a:off x="8320088" y="5989082"/>
                <a:ext cx="1263106"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不得违规查询、泄露、买卖客户​</a:t>
                </a:r>
              </a:p>
            </p:txBody>
          </p:sp>
          <p:sp>
            <p:nvSpPr>
              <p:cNvPr id="351" name="TextBox 351"/>
              <p:cNvSpPr txBox="1"/>
              <p:nvPr/>
            </p:nvSpPr>
            <p:spPr>
              <a:xfrm>
                <a:off x="8320088" y="6141482"/>
                <a:ext cx="918479"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信息或用于授权外用途​</a:t>
                </a:r>
              </a:p>
            </p:txBody>
          </p:sp>
          <p:sp>
            <p:nvSpPr>
              <p:cNvPr id="352" name="Rectangle 352"/>
              <p:cNvSpPr/>
              <p:nvPr/>
            </p:nvSpPr>
            <p:spPr>
              <a:xfrm>
                <a:off x="10096500" y="5562600"/>
                <a:ext cx="1752600" cy="1104900"/>
              </a:xfrm>
              <a:prstGeom prst="roundRect">
                <a:avLst>
                  <a:gd name="adj" fmla="val 5172"/>
                </a:avLst>
              </a:prstGeom>
              <a:solidFill>
                <a:srgbClr val="FFFFFF"/>
              </a:solidFill>
              <a:ln w="7620">
                <a:solidFill>
                  <a:srgbClr val="F3CBC4"/>
                </a:solidFill>
              </a:ln>
            </p:spPr>
          </p:sp>
          <p:sp>
            <p:nvSpPr>
              <p:cNvPr id="353" name="Ellipse 353"/>
              <p:cNvSpPr/>
              <p:nvPr/>
            </p:nvSpPr>
            <p:spPr>
              <a:xfrm>
                <a:off x="10172700" y="5657850"/>
                <a:ext cx="190500" cy="190500"/>
              </a:xfrm>
              <a:prstGeom prst="ellipse">
                <a:avLst/>
              </a:prstGeom>
              <a:solidFill>
                <a:srgbClr val="C24833"/>
              </a:solidFill>
              <a:ln>
                <a:noFill/>
              </a:ln>
            </p:spPr>
          </p:sp>
          <p:sp>
            <p:nvSpPr>
              <p:cNvPr id="354" name="TextBox 354"/>
              <p:cNvSpPr txBox="1"/>
              <p:nvPr/>
            </p:nvSpPr>
            <p:spPr>
              <a:xfrm>
                <a:off x="10210322" y="5718334"/>
                <a:ext cx="115256"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6​</a:t>
                </a:r>
              </a:p>
            </p:txBody>
          </p:sp>
          <p:grpSp>
            <p:nvGrpSpPr>
              <p:cNvPr id="358" name="Group 358"/>
              <p:cNvGrpSpPr/>
              <p:nvPr/>
            </p:nvGrpSpPr>
            <p:grpSpPr>
              <a:xfrm>
                <a:off x="10444162" y="5697537"/>
                <a:ext cx="142875" cy="111125"/>
                <a:chOff x="10444162" y="5697537"/>
                <a:chExt cx="142875" cy="111125"/>
              </a:xfrm>
            </p:grpSpPr>
            <p:sp>
              <p:nvSpPr>
                <p:cNvPr id="355" name="Freeform 355"/>
                <p:cNvSpPr/>
                <p:nvPr/>
              </p:nvSpPr>
              <p:spPr>
                <a:xfrm>
                  <a:off x="10444162" y="5697537"/>
                  <a:ext cx="111125" cy="79375"/>
                </a:xfrm>
                <a:custGeom>
                  <a:avLst/>
                  <a:gdLst/>
                  <a:ahLst/>
                  <a:cxnLst/>
                  <a:rect l="l" t="t" r="r" b="b"/>
                  <a:pathLst>
                    <a:path w="111125" h="79375">
                      <a:moveTo>
                        <a:pt x="31750" y="79375"/>
                      </a:moveTo>
                      <a:lnTo>
                        <a:pt x="7937" y="79375"/>
                      </a:lnTo>
                      <a:cubicBezTo>
                        <a:pt x="3554" y="79375"/>
                        <a:pt x="0" y="75821"/>
                        <a:pt x="0" y="71437"/>
                      </a:cubicBezTo>
                      <a:lnTo>
                        <a:pt x="0" y="7937"/>
                      </a:lnTo>
                      <a:cubicBezTo>
                        <a:pt x="0" y="3554"/>
                        <a:pt x="3554" y="0"/>
                        <a:pt x="7937" y="0"/>
                      </a:cubicBezTo>
                      <a:lnTo>
                        <a:pt x="103187" y="0"/>
                      </a:lnTo>
                      <a:cubicBezTo>
                        <a:pt x="107571" y="0"/>
                        <a:pt x="111125" y="3554"/>
                        <a:pt x="111125" y="7937"/>
                      </a:cubicBezTo>
                      <a:lnTo>
                        <a:pt x="111125" y="31750"/>
                      </a:lnTo>
                    </a:path>
                  </a:pathLst>
                </a:custGeom>
                <a:noFill/>
                <a:ln w="15875">
                  <a:solidFill>
                    <a:srgbClr val="C24833"/>
                  </a:solidFill>
                </a:ln>
              </p:spPr>
            </p:sp>
            <p:sp>
              <p:nvSpPr>
                <p:cNvPr id="356" name="Freeform 356"/>
                <p:cNvSpPr/>
                <p:nvPr/>
              </p:nvSpPr>
              <p:spPr>
                <a:xfrm>
                  <a:off x="10475912" y="5729287"/>
                  <a:ext cx="111125" cy="79375"/>
                </a:xfrm>
                <a:custGeom>
                  <a:avLst/>
                  <a:gdLst/>
                  <a:ahLst/>
                  <a:cxnLst/>
                  <a:rect l="l" t="t" r="r" b="b"/>
                  <a:pathLst>
                    <a:path w="111125" h="79375">
                      <a:moveTo>
                        <a:pt x="0" y="7937"/>
                      </a:moveTo>
                      <a:cubicBezTo>
                        <a:pt x="0" y="3554"/>
                        <a:pt x="3554" y="0"/>
                        <a:pt x="7937" y="0"/>
                      </a:cubicBezTo>
                      <a:lnTo>
                        <a:pt x="103187" y="0"/>
                      </a:lnTo>
                      <a:cubicBezTo>
                        <a:pt x="107571" y="0"/>
                        <a:pt x="111125" y="3554"/>
                        <a:pt x="111125" y="7937"/>
                      </a:cubicBezTo>
                      <a:lnTo>
                        <a:pt x="111125" y="71437"/>
                      </a:lnTo>
                      <a:cubicBezTo>
                        <a:pt x="111125" y="75821"/>
                        <a:pt x="107571" y="79375"/>
                        <a:pt x="103187" y="79375"/>
                      </a:cubicBezTo>
                      <a:lnTo>
                        <a:pt x="7937" y="79375"/>
                      </a:lnTo>
                      <a:cubicBezTo>
                        <a:pt x="3554" y="79375"/>
                        <a:pt x="0" y="75821"/>
                        <a:pt x="0" y="71437"/>
                      </a:cubicBezTo>
                      <a:lnTo>
                        <a:pt x="0" y="7937"/>
                      </a:lnTo>
                    </a:path>
                  </a:pathLst>
                </a:custGeom>
                <a:noFill/>
                <a:ln w="15875">
                  <a:solidFill>
                    <a:srgbClr val="C24833"/>
                  </a:solidFill>
                </a:ln>
              </p:spPr>
            </p:sp>
            <p:sp>
              <p:nvSpPr>
                <p:cNvPr id="357" name="Freeform 357"/>
                <p:cNvSpPr/>
                <p:nvPr/>
              </p:nvSpPr>
              <p:spPr>
                <a:xfrm>
                  <a:off x="10515600" y="57531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C24833"/>
                  </a:solidFill>
                </a:ln>
              </p:spPr>
            </p:sp>
          </p:grpSp>
          <p:sp>
            <p:nvSpPr>
              <p:cNvPr id="359" name="TextBox 359"/>
              <p:cNvSpPr txBox="1"/>
              <p:nvPr/>
            </p:nvSpPr>
            <p:spPr>
              <a:xfrm>
                <a:off x="10682288" y="5711666"/>
                <a:ext cx="514828" cy="161925"/>
              </a:xfrm>
              <a:prstGeom prst="rect">
                <a:avLst/>
              </a:prstGeom>
              <a:noFill/>
              <a:ln>
                <a:noFill/>
              </a:ln>
            </p:spPr>
            <p:txBody>
              <a:bodyPr wrap="none" lIns="0" tIns="0" rIns="0" bIns="0" anchor="t" anchorCtr="0">
                <a:spAutoFit/>
              </a:bodyPr>
              <a:lstStyle/>
              <a:p>
                <a:pPr algn="l"/>
                <a:r>
                  <a:rPr lang="zh-CN" sz="820" b="1" dirty="0">
                    <a:solidFill>
                      <a:srgbClr val="C24833"/>
                    </a:solidFill>
                    <a:latin typeface="+mn-lt"/>
                    <a:ea typeface="+mn-ea"/>
                    <a:cs typeface="+mn-cs"/>
                  </a:rPr>
                  <a:t>挪用资金​</a:t>
                </a:r>
              </a:p>
            </p:txBody>
          </p:sp>
          <p:sp>
            <p:nvSpPr>
              <p:cNvPr id="360" name="TextBox 360"/>
              <p:cNvSpPr txBox="1"/>
              <p:nvPr/>
            </p:nvSpPr>
            <p:spPr>
              <a:xfrm>
                <a:off x="10186988" y="5989082"/>
                <a:ext cx="1004636"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不得挪用客户资金或协助​</a:t>
                </a:r>
              </a:p>
            </p:txBody>
          </p:sp>
          <p:sp>
            <p:nvSpPr>
              <p:cNvPr id="361" name="TextBox 361"/>
              <p:cNvSpPr txBox="1"/>
              <p:nvPr/>
            </p:nvSpPr>
            <p:spPr>
              <a:xfrm>
                <a:off x="10186988" y="6141482"/>
                <a:ext cx="746166" cy="126206"/>
              </a:xfrm>
              <a:prstGeom prst="rect">
                <a:avLst/>
              </a:prstGeom>
              <a:noFill/>
              <a:ln>
                <a:noFill/>
              </a:ln>
            </p:spPr>
            <p:txBody>
              <a:bodyPr wrap="none" lIns="0" tIns="0" rIns="0" bIns="0" anchor="t" anchorCtr="0">
                <a:spAutoFit/>
              </a:bodyPr>
              <a:lstStyle/>
              <a:p>
                <a:pPr algn="l"/>
                <a:r>
                  <a:rPr lang="zh-CN" sz="640" dirty="0">
                    <a:solidFill>
                      <a:srgbClr val="5A3B36"/>
                    </a:solidFill>
                    <a:latin typeface="+mn-lt"/>
                    <a:ea typeface="+mn-ea"/>
                    <a:cs typeface="+mn-cs"/>
                  </a:rPr>
                  <a:t>客户套取信贷资金​</a:t>
                </a:r>
              </a:p>
            </p:txBody>
          </p:sp>
        </p:grpSp>
      </p:gr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17-ground"/>
          <p:cNvSpPr/>
          <p:nvPr/>
        </p:nvSpPr>
        <p:spPr>
          <a:xfrm>
            <a:off x="0" y="6096000"/>
            <a:ext cx="12192000" cy="762000"/>
          </a:xfrm>
          <a:prstGeom prst="rect">
            <a:avLst/>
          </a:prstGeom>
          <a:gradFill>
            <a:gsLst>
              <a:gs pos="0">
                <a:srgbClr val="FFFFFF">
                  <a:alpha val="0"/>
                </a:srgbClr>
              </a:gs>
              <a:gs pos="100000">
                <a:srgbClr val="DCEEE7"/>
              </a:gs>
            </a:gsLst>
            <a:lin ang="5400000" scaled="1"/>
          </a:gradFill>
          <a:ln>
            <a:noFill/>
          </a:ln>
        </p:spPr>
      </p:sp>
      <p:sp>
        <p:nvSpPr>
          <p:cNvPr id="3" name="p17-city-l"/>
          <p:cNvSpPr/>
          <p:nvPr/>
        </p:nvSpPr>
        <p:spPr>
          <a:xfrm>
            <a:off x="0" y="6210300"/>
            <a:ext cx="1695450" cy="647700"/>
          </a:xfrm>
          <a:custGeom>
            <a:avLst/>
            <a:gdLst/>
            <a:ahLst/>
            <a:cxnLst/>
            <a:rect l="l" t="t" r="r" b="b"/>
            <a:pathLst>
              <a:path w="1695450" h="647700">
                <a:moveTo>
                  <a:pt x="0" y="647700"/>
                </a:moveTo>
                <a:lnTo>
                  <a:pt x="0" y="361950"/>
                </a:lnTo>
                <a:lnTo>
                  <a:pt x="209550" y="361950"/>
                </a:lnTo>
                <a:lnTo>
                  <a:pt x="209550" y="209550"/>
                </a:lnTo>
                <a:lnTo>
                  <a:pt x="381000" y="209550"/>
                </a:lnTo>
                <a:lnTo>
                  <a:pt x="381000" y="361950"/>
                </a:lnTo>
                <a:lnTo>
                  <a:pt x="514350" y="361950"/>
                </a:lnTo>
                <a:lnTo>
                  <a:pt x="514350" y="76200"/>
                </a:lnTo>
                <a:lnTo>
                  <a:pt x="704850" y="76200"/>
                </a:lnTo>
                <a:lnTo>
                  <a:pt x="704850" y="361950"/>
                </a:lnTo>
                <a:lnTo>
                  <a:pt x="819150" y="361950"/>
                </a:lnTo>
                <a:lnTo>
                  <a:pt x="819150" y="171450"/>
                </a:lnTo>
                <a:lnTo>
                  <a:pt x="990600" y="171450"/>
                </a:lnTo>
                <a:lnTo>
                  <a:pt x="990600" y="361950"/>
                </a:lnTo>
                <a:lnTo>
                  <a:pt x="1143000" y="361950"/>
                </a:lnTo>
                <a:lnTo>
                  <a:pt x="1143000" y="0"/>
                </a:lnTo>
                <a:lnTo>
                  <a:pt x="1333500" y="0"/>
                </a:lnTo>
                <a:lnTo>
                  <a:pt x="1333500" y="361950"/>
                </a:lnTo>
                <a:lnTo>
                  <a:pt x="1447800" y="361950"/>
                </a:lnTo>
                <a:lnTo>
                  <a:pt x="1447800" y="228600"/>
                </a:lnTo>
                <a:lnTo>
                  <a:pt x="1600200" y="228600"/>
                </a:lnTo>
                <a:lnTo>
                  <a:pt x="1600200" y="361950"/>
                </a:lnTo>
                <a:lnTo>
                  <a:pt x="1695450" y="361950"/>
                </a:lnTo>
                <a:lnTo>
                  <a:pt x="1695450" y="647700"/>
                </a:lnTo>
                <a:close/>
              </a:path>
            </a:pathLst>
          </a:custGeom>
          <a:solidFill>
            <a:srgbClr val="CFE6DD"/>
          </a:solidFill>
          <a:ln>
            <a:noFill/>
          </a:ln>
        </p:spPr>
      </p:sp>
      <p:sp>
        <p:nvSpPr>
          <p:cNvPr id="4" name="p17-city-r"/>
          <p:cNvSpPr/>
          <p:nvPr/>
        </p:nvSpPr>
        <p:spPr>
          <a:xfrm>
            <a:off x="10553700" y="6210300"/>
            <a:ext cx="1638300" cy="647700"/>
          </a:xfrm>
          <a:custGeom>
            <a:avLst/>
            <a:gdLst/>
            <a:ahLst/>
            <a:cxnLst/>
            <a:rect l="l" t="t" r="r" b="b"/>
            <a:pathLst>
              <a:path w="1638300" h="647700">
                <a:moveTo>
                  <a:pt x="1638300" y="647700"/>
                </a:moveTo>
                <a:lnTo>
                  <a:pt x="1638300" y="381000"/>
                </a:lnTo>
                <a:lnTo>
                  <a:pt x="1447800" y="381000"/>
                </a:lnTo>
                <a:lnTo>
                  <a:pt x="1447800" y="209550"/>
                </a:lnTo>
                <a:lnTo>
                  <a:pt x="1295400" y="209550"/>
                </a:lnTo>
                <a:lnTo>
                  <a:pt x="1295400" y="381000"/>
                </a:lnTo>
                <a:lnTo>
                  <a:pt x="1162050" y="381000"/>
                </a:lnTo>
                <a:lnTo>
                  <a:pt x="1162050" y="76200"/>
                </a:lnTo>
                <a:lnTo>
                  <a:pt x="990600" y="76200"/>
                </a:lnTo>
                <a:lnTo>
                  <a:pt x="990600" y="381000"/>
                </a:lnTo>
                <a:lnTo>
                  <a:pt x="876300" y="381000"/>
                </a:lnTo>
                <a:lnTo>
                  <a:pt x="876300" y="209550"/>
                </a:lnTo>
                <a:lnTo>
                  <a:pt x="704850" y="209550"/>
                </a:lnTo>
                <a:lnTo>
                  <a:pt x="704850" y="381000"/>
                </a:lnTo>
                <a:lnTo>
                  <a:pt x="571500" y="381000"/>
                </a:lnTo>
                <a:lnTo>
                  <a:pt x="571500" y="0"/>
                </a:lnTo>
                <a:lnTo>
                  <a:pt x="381000" y="0"/>
                </a:lnTo>
                <a:lnTo>
                  <a:pt x="381000" y="381000"/>
                </a:lnTo>
                <a:lnTo>
                  <a:pt x="266700" y="381000"/>
                </a:lnTo>
                <a:lnTo>
                  <a:pt x="266700" y="266700"/>
                </a:lnTo>
                <a:lnTo>
                  <a:pt x="95250" y="266700"/>
                </a:lnTo>
                <a:lnTo>
                  <a:pt x="95250" y="381000"/>
                </a:lnTo>
                <a:lnTo>
                  <a:pt x="0" y="381000"/>
                </a:lnTo>
                <a:lnTo>
                  <a:pt x="0" y="647700"/>
                </a:lnTo>
                <a:close/>
              </a:path>
            </a:pathLst>
          </a:custGeom>
          <a:solidFill>
            <a:srgbClr val="CFE6DD"/>
          </a:solidFill>
          <a:ln>
            <a:noFill/>
          </a:ln>
        </p:spPr>
      </p:sp>
      <p:grpSp>
        <p:nvGrpSpPr>
          <p:cNvPr id="9" name="page-header"/>
          <p:cNvGrpSpPr/>
          <p:nvPr/>
        </p:nvGrpSpPr>
        <p:grpSpPr>
          <a:xfrm>
            <a:off x="0" y="0"/>
            <a:ext cx="7252419" cy="542925"/>
            <a:chOff x="0" y="0"/>
            <a:chExt cx="7252419" cy="542925"/>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5B180B"/>
            </a:solidFill>
            <a:ln>
              <a:noFill/>
            </a:ln>
          </p:spPr>
        </p:sp>
        <p:sp>
          <p:nvSpPr>
            <p:cNvPr id="6" name="TextBox 6"/>
            <p:cNvSpPr txBox="1"/>
            <p:nvPr/>
          </p:nvSpPr>
          <p:spPr>
            <a:xfrm>
              <a:off x="123063" y="143351"/>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18​</a:t>
              </a:r>
            </a:p>
          </p:txBody>
        </p:sp>
        <p:sp>
          <p:nvSpPr>
            <p:cNvPr id="7" name="TextBox 7"/>
            <p:cNvSpPr txBox="1"/>
            <p:nvPr/>
          </p:nvSpPr>
          <p:spPr>
            <a:xfrm>
              <a:off x="942594" y="151448"/>
              <a:ext cx="6309825"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百日决胜</a:t>
              </a:r>
              <a:r>
                <a:rPr lang="zh-CN" sz="1950" b="1" dirty="0">
                  <a:solidFill>
                    <a:srgbClr val="5B180B"/>
                  </a:solidFill>
                  <a:latin typeface="+mj-lt"/>
                  <a:ea typeface="+mj-ea"/>
                  <a:cs typeface="+mj-cs"/>
                </a:rPr>
                <a:t xml:space="preserve"> | 以12周作战节奏确保五项目标全面兑现</a:t>
              </a:r>
              <a:r>
                <a:rPr lang="zh-CN" sz="1950" b="1" dirty="0">
                  <a:solidFill>
                    <a:srgbClr val="1A1A1A"/>
                  </a:solidFill>
                  <a:latin typeface="+mj-lt"/>
                  <a:ea typeface="+mj-ea"/>
                  <a:cs typeface="+mj-cs"/>
                </a:rPr>
                <a:t>​</a:t>
              </a:r>
            </a:p>
          </p:txBody>
        </p:sp>
        <p:sp>
          <p:nvSpPr>
            <p:cNvPr id="8" name="Line 8"/>
            <p:cNvSpPr/>
            <p:nvPr/>
          </p:nvSpPr>
          <p:spPr>
            <a:xfrm>
              <a:off x="952500" y="533400"/>
              <a:ext cx="5143500" cy="9525"/>
            </a:xfrm>
            <a:custGeom>
              <a:avLst/>
              <a:gdLst/>
              <a:ahLst/>
              <a:cxnLst/>
              <a:rect l="l" t="t" r="r" b="b"/>
              <a:pathLst>
                <a:path w="5143500" h="9525">
                  <a:moveTo>
                    <a:pt x="0" y="0"/>
                  </a:moveTo>
                  <a:lnTo>
                    <a:pt x="5143500" y="0"/>
                  </a:lnTo>
                </a:path>
              </a:pathLst>
            </a:custGeom>
            <a:noFill/>
            <a:ln w="14288">
              <a:solidFill>
                <a:srgbClr val="5B180B"/>
              </a:solidFill>
            </a:ln>
          </p:spPr>
        </p:sp>
      </p:grpSp>
      <p:grpSp>
        <p:nvGrpSpPr>
          <p:cNvPr id="128" name="campaign-card"/>
          <p:cNvGrpSpPr/>
          <p:nvPr/>
        </p:nvGrpSpPr>
        <p:grpSpPr>
          <a:xfrm>
            <a:off x="228600" y="666750"/>
            <a:ext cx="7239000" cy="2305050"/>
            <a:chOff x="228600" y="666750"/>
            <a:chExt cx="7239000" cy="2305050"/>
          </a:xfrm>
        </p:grpSpPr>
        <p:sp>
          <p:nvSpPr>
            <p:cNvPr id="10" name="Rectangle 10"/>
            <p:cNvSpPr/>
            <p:nvPr/>
          </p:nvSpPr>
          <p:spPr>
            <a:xfrm>
              <a:off x="228600" y="666750"/>
              <a:ext cx="7239000" cy="2305050"/>
            </a:xfrm>
            <a:prstGeom prst="roundRect">
              <a:avLst>
                <a:gd name="adj" fmla="val 4132"/>
              </a:avLst>
            </a:prstGeom>
            <a:solidFill>
              <a:srgbClr val="F5FAF8"/>
            </a:solidFill>
            <a:ln w="9525">
              <a:solidFill>
                <a:srgbClr val="D9E8E2"/>
              </a:solidFill>
            </a:ln>
          </p:spPr>
        </p:sp>
        <p:sp>
          <p:nvSpPr>
            <p:cNvPr id="11" name="Rectangle 11"/>
            <p:cNvSpPr/>
            <p:nvPr/>
          </p:nvSpPr>
          <p:spPr>
            <a:xfrm>
              <a:off x="228600" y="666750"/>
              <a:ext cx="1619250" cy="228600"/>
            </a:xfrm>
            <a:prstGeom prst="roundRect">
              <a:avLst>
                <a:gd name="adj" fmla="val 16667"/>
              </a:avLst>
            </a:prstGeom>
            <a:solidFill>
              <a:srgbClr val="5B180B"/>
            </a:solidFill>
            <a:ln>
              <a:noFill/>
            </a:ln>
          </p:spPr>
        </p:sp>
        <p:sp>
          <p:nvSpPr>
            <p:cNvPr id="12" name="TextBox 12"/>
            <p:cNvSpPr txBox="1"/>
            <p:nvPr/>
          </p:nvSpPr>
          <p:spPr>
            <a:xfrm>
              <a:off x="338138" y="735568"/>
              <a:ext cx="1118343"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五大专项战役及目标​</a:t>
              </a:r>
            </a:p>
          </p:txBody>
        </p:sp>
        <p:grpSp>
          <p:nvGrpSpPr>
            <p:cNvPr id="36" name="camp-1"/>
            <p:cNvGrpSpPr/>
            <p:nvPr/>
          </p:nvGrpSpPr>
          <p:grpSpPr>
            <a:xfrm>
              <a:off x="342900" y="971550"/>
              <a:ext cx="1352550" cy="1918097"/>
              <a:chOff x="342900" y="971550"/>
              <a:chExt cx="1352550" cy="1918097"/>
            </a:xfrm>
          </p:grpSpPr>
          <p:sp>
            <p:nvSpPr>
              <p:cNvPr id="13" name="Rectangle 13"/>
              <p:cNvSpPr/>
              <p:nvPr/>
            </p:nvSpPr>
            <p:spPr>
              <a:xfrm>
                <a:off x="342900" y="971550"/>
                <a:ext cx="1352550" cy="1905000"/>
              </a:xfrm>
              <a:prstGeom prst="roundRect">
                <a:avLst>
                  <a:gd name="adj" fmla="val 4225"/>
                </a:avLst>
              </a:prstGeom>
              <a:solidFill>
                <a:srgbClr val="FFFFFF"/>
              </a:solidFill>
              <a:ln w="7620">
                <a:solidFill>
                  <a:srgbClr val="D9E8E2"/>
                </a:solidFill>
              </a:ln>
            </p:spPr>
          </p:sp>
          <p:sp>
            <p:nvSpPr>
              <p:cNvPr id="14" name="Rectangle 14"/>
              <p:cNvSpPr/>
              <p:nvPr/>
            </p:nvSpPr>
            <p:spPr>
              <a:xfrm>
                <a:off x="342900" y="971550"/>
                <a:ext cx="1352550" cy="247650"/>
              </a:xfrm>
              <a:prstGeom prst="roundRect">
                <a:avLst>
                  <a:gd name="adj" fmla="val 23077"/>
                </a:avLst>
              </a:prstGeom>
              <a:solidFill>
                <a:srgbClr val="5B180B"/>
              </a:solidFill>
              <a:ln>
                <a:noFill/>
              </a:ln>
            </p:spPr>
          </p:sp>
          <p:sp>
            <p:nvSpPr>
              <p:cNvPr id="15" name="Rectangle 15"/>
              <p:cNvSpPr/>
              <p:nvPr/>
            </p:nvSpPr>
            <p:spPr>
              <a:xfrm>
                <a:off x="342900" y="1104900"/>
                <a:ext cx="1352550" cy="114300"/>
              </a:xfrm>
              <a:prstGeom prst="rect">
                <a:avLst/>
              </a:prstGeom>
              <a:solidFill>
                <a:srgbClr val="5B180B"/>
              </a:solidFill>
              <a:ln>
                <a:noFill/>
              </a:ln>
            </p:spPr>
          </p:sp>
          <p:sp>
            <p:nvSpPr>
              <p:cNvPr id="16" name="TextBox 16"/>
              <p:cNvSpPr txBox="1"/>
              <p:nvPr/>
            </p:nvSpPr>
            <p:spPr>
              <a:xfrm>
                <a:off x="414338" y="1062038"/>
                <a:ext cx="184447" cy="147638"/>
              </a:xfrm>
              <a:prstGeom prst="rect">
                <a:avLst/>
              </a:prstGeom>
              <a:noFill/>
              <a:ln>
                <a:noFill/>
              </a:ln>
            </p:spPr>
            <p:txBody>
              <a:bodyPr wrap="none" lIns="0" tIns="0" rIns="0" bIns="0" anchor="t" anchorCtr="0">
                <a:spAutoFit/>
              </a:bodyPr>
              <a:lstStyle/>
              <a:p>
                <a:pPr algn="l"/>
                <a:r>
                  <a:rPr lang="zh-CN" sz="750" b="1" dirty="0">
                    <a:solidFill>
                      <a:srgbClr val="BFDDD6"/>
                    </a:solidFill>
                    <a:latin typeface="+mn-lt"/>
                    <a:ea typeface="+mn-ea"/>
                    <a:cs typeface="+mn-cs"/>
                  </a:rPr>
                  <a:t>01​</a:t>
                </a:r>
              </a:p>
            </p:txBody>
          </p:sp>
          <p:sp>
            <p:nvSpPr>
              <p:cNvPr id="17" name="TextBox 17"/>
              <p:cNvSpPr txBox="1"/>
              <p:nvPr/>
            </p:nvSpPr>
            <p:spPr>
              <a:xfrm>
                <a:off x="585788" y="1057989"/>
                <a:ext cx="49634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稳存增储​</a:t>
                </a:r>
              </a:p>
            </p:txBody>
          </p:sp>
          <p:grpSp>
            <p:nvGrpSpPr>
              <p:cNvPr id="23" name="Group 23"/>
              <p:cNvGrpSpPr/>
              <p:nvPr/>
            </p:nvGrpSpPr>
            <p:grpSpPr>
              <a:xfrm>
                <a:off x="464344" y="1320424"/>
                <a:ext cx="157162" cy="158333"/>
                <a:chOff x="464344" y="1320424"/>
                <a:chExt cx="157162" cy="158333"/>
              </a:xfrm>
            </p:grpSpPr>
            <p:sp>
              <p:nvSpPr>
                <p:cNvPr id="18" name="Freeform 18"/>
                <p:cNvSpPr/>
                <p:nvPr/>
              </p:nvSpPr>
              <p:spPr>
                <a:xfrm>
                  <a:off x="516731" y="1391444"/>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5B180B"/>
                  </a:solidFill>
                </a:ln>
              </p:spPr>
            </p:sp>
            <p:sp>
              <p:nvSpPr>
                <p:cNvPr id="19" name="Freeform 19"/>
                <p:cNvSpPr/>
                <p:nvPr/>
              </p:nvSpPr>
              <p:spPr>
                <a:xfrm>
                  <a:off x="516731" y="1417638"/>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5B180B"/>
                  </a:solidFill>
                </a:ln>
              </p:spPr>
            </p:sp>
            <p:sp>
              <p:nvSpPr>
                <p:cNvPr id="20" name="Freeform 20"/>
                <p:cNvSpPr/>
                <p:nvPr/>
              </p:nvSpPr>
              <p:spPr>
                <a:xfrm>
                  <a:off x="464344" y="1320424"/>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5B180B"/>
                  </a:solidFill>
                </a:ln>
              </p:spPr>
            </p:sp>
            <p:sp>
              <p:nvSpPr>
                <p:cNvPr id="21" name="Freeform 21"/>
                <p:cNvSpPr/>
                <p:nvPr/>
              </p:nvSpPr>
              <p:spPr>
                <a:xfrm>
                  <a:off x="464344" y="1347788"/>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5B180B"/>
                  </a:solidFill>
                </a:ln>
              </p:spPr>
            </p:sp>
            <p:sp>
              <p:nvSpPr>
                <p:cNvPr id="22" name="Freeform 22"/>
                <p:cNvSpPr/>
                <p:nvPr/>
              </p:nvSpPr>
              <p:spPr>
                <a:xfrm>
                  <a:off x="464344" y="1391444"/>
                  <a:ext cx="17463" cy="17463"/>
                </a:xfrm>
                <a:custGeom>
                  <a:avLst/>
                  <a:gdLst/>
                  <a:ahLst/>
                  <a:cxnLst/>
                  <a:rect l="l" t="t" r="r" b="b"/>
                  <a:pathLst>
                    <a:path w="17463" h="17463">
                      <a:moveTo>
                        <a:pt x="0" y="0"/>
                      </a:moveTo>
                      <a:cubicBezTo>
                        <a:pt x="0" y="7753"/>
                        <a:pt x="6741" y="12660"/>
                        <a:pt x="17463" y="17463"/>
                      </a:cubicBezTo>
                    </a:path>
                  </a:pathLst>
                </a:custGeom>
                <a:noFill/>
                <a:ln w="17463">
                  <a:solidFill>
                    <a:srgbClr val="5B180B"/>
                  </a:solidFill>
                </a:ln>
              </p:spPr>
            </p:sp>
          </p:grpSp>
          <p:sp>
            <p:nvSpPr>
              <p:cNvPr id="24" name="TextBox 24"/>
              <p:cNvSpPr txBox="1"/>
              <p:nvPr/>
            </p:nvSpPr>
            <p:spPr>
              <a:xfrm>
                <a:off x="719138" y="1325880"/>
                <a:ext cx="377038"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稳存固本​</a:t>
                </a:r>
              </a:p>
            </p:txBody>
          </p:sp>
          <p:sp>
            <p:nvSpPr>
              <p:cNvPr id="25" name="TextBox 25"/>
              <p:cNvSpPr txBox="1"/>
              <p:nvPr/>
            </p:nvSpPr>
            <p:spPr>
              <a:xfrm>
                <a:off x="719138" y="1430655"/>
                <a:ext cx="377038"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筑牢突破​</a:t>
                </a:r>
              </a:p>
            </p:txBody>
          </p:sp>
          <p:sp>
            <p:nvSpPr>
              <p:cNvPr id="26" name="TextBox 26"/>
              <p:cNvSpPr txBox="1"/>
              <p:nvPr/>
            </p:nvSpPr>
            <p:spPr>
              <a:xfrm>
                <a:off x="414338" y="1615678"/>
                <a:ext cx="203836"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目标​</a:t>
                </a:r>
              </a:p>
            </p:txBody>
          </p:sp>
          <p:sp>
            <p:nvSpPr>
              <p:cNvPr id="27" name="TextBox 27"/>
              <p:cNvSpPr txBox="1"/>
              <p:nvPr/>
            </p:nvSpPr>
            <p:spPr>
              <a:xfrm>
                <a:off x="414338" y="1725930"/>
                <a:ext cx="668625"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 xml:space="preserve">新增存款 </a:t>
                </a:r>
                <a:r>
                  <a:rPr lang="zh-CN" sz="600" b="1" dirty="0">
                    <a:solidFill>
                      <a:srgbClr val="5B180B"/>
                    </a:solidFill>
                    <a:latin typeface="+mn-lt"/>
                    <a:ea typeface="+mn-ea"/>
                    <a:cs typeface="+mn-cs"/>
                  </a:rPr>
                  <a:t>1.20亿</a:t>
                </a:r>
                <a:r>
                  <a:rPr lang="zh-CN" sz="600" dirty="0">
                    <a:solidFill>
                      <a:srgbClr val="4A3D3A"/>
                    </a:solidFill>
                    <a:latin typeface="+mn-lt"/>
                    <a:ea typeface="+mn-ea"/>
                    <a:cs typeface="+mn-cs"/>
                  </a:rPr>
                  <a:t>​</a:t>
                </a:r>
              </a:p>
            </p:txBody>
          </p:sp>
          <p:sp>
            <p:nvSpPr>
              <p:cNvPr id="28" name="TextBox 28"/>
              <p:cNvSpPr txBox="1"/>
              <p:nvPr/>
            </p:nvSpPr>
            <p:spPr>
              <a:xfrm>
                <a:off x="414338" y="1901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重点客群​</a:t>
                </a:r>
              </a:p>
            </p:txBody>
          </p:sp>
          <p:sp>
            <p:nvSpPr>
              <p:cNvPr id="29" name="TextBox 29"/>
              <p:cNvSpPr txBox="1"/>
              <p:nvPr/>
            </p:nvSpPr>
            <p:spPr>
              <a:xfrm>
                <a:off x="414338" y="2015728"/>
                <a:ext cx="729473"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对公、零售、高净值​</a:t>
                </a:r>
              </a:p>
            </p:txBody>
          </p:sp>
          <p:sp>
            <p:nvSpPr>
              <p:cNvPr id="30" name="TextBox 30"/>
              <p:cNvSpPr txBox="1"/>
              <p:nvPr/>
            </p:nvSpPr>
            <p:spPr>
              <a:xfrm>
                <a:off x="414338" y="2120503"/>
                <a:ext cx="578698"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及流失预警客户​</a:t>
                </a:r>
              </a:p>
            </p:txBody>
          </p:sp>
          <p:sp>
            <p:nvSpPr>
              <p:cNvPr id="31" name="TextBox 31"/>
              <p:cNvSpPr txBox="1"/>
              <p:nvPr/>
            </p:nvSpPr>
            <p:spPr>
              <a:xfrm>
                <a:off x="414338" y="2282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核心举措​</a:t>
                </a:r>
              </a:p>
            </p:txBody>
          </p:sp>
          <p:sp>
            <p:nvSpPr>
              <p:cNvPr id="32" name="TextBox 32"/>
              <p:cNvSpPr txBox="1"/>
              <p:nvPr/>
            </p:nvSpPr>
            <p:spPr>
              <a:xfrm>
                <a:off x="414338" y="2396728"/>
                <a:ext cx="804860"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到期预警、产品组合、​</a:t>
                </a:r>
              </a:p>
            </p:txBody>
          </p:sp>
          <p:sp>
            <p:nvSpPr>
              <p:cNvPr id="33" name="TextBox 33"/>
              <p:cNvSpPr txBox="1"/>
              <p:nvPr/>
            </p:nvSpPr>
            <p:spPr>
              <a:xfrm>
                <a:off x="414338" y="2501503"/>
                <a:ext cx="35253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上门维护​</a:t>
                </a:r>
              </a:p>
            </p:txBody>
          </p:sp>
          <p:sp>
            <p:nvSpPr>
              <p:cNvPr id="34" name="TextBox 34"/>
              <p:cNvSpPr txBox="1"/>
              <p:nvPr/>
            </p:nvSpPr>
            <p:spPr>
              <a:xfrm>
                <a:off x="414338" y="2663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责任单位​</a:t>
                </a:r>
              </a:p>
            </p:txBody>
          </p:sp>
          <p:sp>
            <p:nvSpPr>
              <p:cNvPr id="35" name="TextBox 35"/>
              <p:cNvSpPr txBox="1"/>
              <p:nvPr/>
            </p:nvSpPr>
            <p:spPr>
              <a:xfrm>
                <a:off x="414338" y="2777728"/>
                <a:ext cx="846323"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公司/零售条线、各网点​</a:t>
                </a:r>
              </a:p>
            </p:txBody>
          </p:sp>
        </p:grpSp>
        <p:grpSp>
          <p:nvGrpSpPr>
            <p:cNvPr id="57" name="camp-2"/>
            <p:cNvGrpSpPr/>
            <p:nvPr/>
          </p:nvGrpSpPr>
          <p:grpSpPr>
            <a:xfrm>
              <a:off x="1771650" y="971550"/>
              <a:ext cx="1352550" cy="1918097"/>
              <a:chOff x="1771650" y="971550"/>
              <a:chExt cx="1352550" cy="1918097"/>
            </a:xfrm>
          </p:grpSpPr>
          <p:sp>
            <p:nvSpPr>
              <p:cNvPr id="37" name="Rectangle 37"/>
              <p:cNvSpPr/>
              <p:nvPr/>
            </p:nvSpPr>
            <p:spPr>
              <a:xfrm>
                <a:off x="1771650" y="971550"/>
                <a:ext cx="1352550" cy="1905000"/>
              </a:xfrm>
              <a:prstGeom prst="roundRect">
                <a:avLst>
                  <a:gd name="adj" fmla="val 4225"/>
                </a:avLst>
              </a:prstGeom>
              <a:solidFill>
                <a:srgbClr val="FFFFFF"/>
              </a:solidFill>
              <a:ln w="7620">
                <a:solidFill>
                  <a:srgbClr val="D9E8E2"/>
                </a:solidFill>
              </a:ln>
            </p:spPr>
          </p:sp>
          <p:sp>
            <p:nvSpPr>
              <p:cNvPr id="38" name="Rectangle 38"/>
              <p:cNvSpPr/>
              <p:nvPr/>
            </p:nvSpPr>
            <p:spPr>
              <a:xfrm>
                <a:off x="1771650" y="971550"/>
                <a:ext cx="1352550" cy="247650"/>
              </a:xfrm>
              <a:prstGeom prst="roundRect">
                <a:avLst>
                  <a:gd name="adj" fmla="val 23077"/>
                </a:avLst>
              </a:prstGeom>
              <a:solidFill>
                <a:srgbClr val="6A2113"/>
              </a:solidFill>
              <a:ln>
                <a:noFill/>
              </a:ln>
            </p:spPr>
          </p:sp>
          <p:sp>
            <p:nvSpPr>
              <p:cNvPr id="39" name="Rectangle 39"/>
              <p:cNvSpPr/>
              <p:nvPr/>
            </p:nvSpPr>
            <p:spPr>
              <a:xfrm>
                <a:off x="1771650" y="1104900"/>
                <a:ext cx="1352550" cy="114300"/>
              </a:xfrm>
              <a:prstGeom prst="rect">
                <a:avLst/>
              </a:prstGeom>
              <a:solidFill>
                <a:srgbClr val="6A2113"/>
              </a:solidFill>
              <a:ln>
                <a:noFill/>
              </a:ln>
            </p:spPr>
          </p:sp>
          <p:sp>
            <p:nvSpPr>
              <p:cNvPr id="40" name="TextBox 40"/>
              <p:cNvSpPr txBox="1"/>
              <p:nvPr/>
            </p:nvSpPr>
            <p:spPr>
              <a:xfrm>
                <a:off x="1843088" y="1062038"/>
                <a:ext cx="184447" cy="147638"/>
              </a:xfrm>
              <a:prstGeom prst="rect">
                <a:avLst/>
              </a:prstGeom>
              <a:noFill/>
              <a:ln>
                <a:noFill/>
              </a:ln>
            </p:spPr>
            <p:txBody>
              <a:bodyPr wrap="none" lIns="0" tIns="0" rIns="0" bIns="0" anchor="t" anchorCtr="0">
                <a:spAutoFit/>
              </a:bodyPr>
              <a:lstStyle/>
              <a:p>
                <a:pPr algn="l"/>
                <a:r>
                  <a:rPr lang="zh-CN" sz="750" b="1" dirty="0">
                    <a:solidFill>
                      <a:srgbClr val="BFDDD6"/>
                    </a:solidFill>
                    <a:latin typeface="+mn-lt"/>
                    <a:ea typeface="+mn-ea"/>
                    <a:cs typeface="+mn-cs"/>
                  </a:rPr>
                  <a:t>02​</a:t>
                </a:r>
              </a:p>
            </p:txBody>
          </p:sp>
          <p:sp>
            <p:nvSpPr>
              <p:cNvPr id="41" name="TextBox 41"/>
              <p:cNvSpPr txBox="1"/>
              <p:nvPr/>
            </p:nvSpPr>
            <p:spPr>
              <a:xfrm>
                <a:off x="2014538" y="1057989"/>
                <a:ext cx="49634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财富提升​</a:t>
                </a:r>
              </a:p>
            </p:txBody>
          </p:sp>
          <p:grpSp>
            <p:nvGrpSpPr>
              <p:cNvPr id="44" name="Group 44"/>
              <p:cNvGrpSpPr/>
              <p:nvPr/>
            </p:nvGrpSpPr>
            <p:grpSpPr>
              <a:xfrm>
                <a:off x="1901825" y="1347788"/>
                <a:ext cx="139700" cy="123031"/>
                <a:chOff x="1901825" y="1347788"/>
                <a:chExt cx="139700" cy="123031"/>
              </a:xfrm>
            </p:grpSpPr>
            <p:sp>
              <p:nvSpPr>
                <p:cNvPr id="42" name="Freeform 42"/>
                <p:cNvSpPr/>
                <p:nvPr/>
              </p:nvSpPr>
              <p:spPr>
                <a:xfrm>
                  <a:off x="1901825" y="1461294"/>
                  <a:ext cx="139700" cy="9525"/>
                </a:xfrm>
                <a:custGeom>
                  <a:avLst/>
                  <a:gdLst/>
                  <a:ahLst/>
                  <a:cxnLst/>
                  <a:rect l="l" t="t" r="r" b="b"/>
                  <a:pathLst>
                    <a:path w="139700" h="9525">
                      <a:moveTo>
                        <a:pt x="0" y="0"/>
                      </a:moveTo>
                      <a:lnTo>
                        <a:pt x="139700" y="0"/>
                      </a:lnTo>
                    </a:path>
                  </a:pathLst>
                </a:custGeom>
                <a:noFill/>
                <a:ln w="17463">
                  <a:solidFill>
                    <a:srgbClr val="5B180B"/>
                  </a:solidFill>
                </a:ln>
              </p:spPr>
            </p:sp>
            <p:sp>
              <p:nvSpPr>
                <p:cNvPr id="43" name="Freeform 43"/>
                <p:cNvSpPr/>
                <p:nvPr/>
              </p:nvSpPr>
              <p:spPr>
                <a:xfrm>
                  <a:off x="1901825" y="1347788"/>
                  <a:ext cx="139700" cy="78581"/>
                </a:xfrm>
                <a:custGeom>
                  <a:avLst/>
                  <a:gdLst/>
                  <a:ahLst/>
                  <a:cxnLst/>
                  <a:rect l="l" t="t" r="r" b="b"/>
                  <a:pathLst>
                    <a:path w="139700" h="78581">
                      <a:moveTo>
                        <a:pt x="0" y="78581"/>
                      </a:moveTo>
                      <a:lnTo>
                        <a:pt x="34925" y="26194"/>
                      </a:lnTo>
                      <a:lnTo>
                        <a:pt x="69850" y="43656"/>
                      </a:lnTo>
                      <a:lnTo>
                        <a:pt x="104775" y="0"/>
                      </a:lnTo>
                      <a:lnTo>
                        <a:pt x="139700" y="34925"/>
                      </a:lnTo>
                    </a:path>
                  </a:pathLst>
                </a:custGeom>
                <a:noFill/>
                <a:ln w="17463">
                  <a:solidFill>
                    <a:srgbClr val="5B180B"/>
                  </a:solidFill>
                </a:ln>
              </p:spPr>
            </p:sp>
          </p:grpSp>
          <p:sp>
            <p:nvSpPr>
              <p:cNvPr id="45" name="TextBox 45"/>
              <p:cNvSpPr txBox="1"/>
              <p:nvPr/>
            </p:nvSpPr>
            <p:spPr>
              <a:xfrm>
                <a:off x="2147888" y="1325880"/>
                <a:ext cx="375895"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做大AUM​</a:t>
                </a:r>
              </a:p>
            </p:txBody>
          </p:sp>
          <p:sp>
            <p:nvSpPr>
              <p:cNvPr id="46" name="TextBox 46"/>
              <p:cNvSpPr txBox="1"/>
              <p:nvPr/>
            </p:nvSpPr>
            <p:spPr>
              <a:xfrm>
                <a:off x="2147888" y="1430655"/>
                <a:ext cx="377038"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提升价值​</a:t>
                </a:r>
              </a:p>
            </p:txBody>
          </p:sp>
          <p:sp>
            <p:nvSpPr>
              <p:cNvPr id="47" name="TextBox 47"/>
              <p:cNvSpPr txBox="1"/>
              <p:nvPr/>
            </p:nvSpPr>
            <p:spPr>
              <a:xfrm>
                <a:off x="1843088" y="1615678"/>
                <a:ext cx="203836"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目标​</a:t>
                </a:r>
              </a:p>
            </p:txBody>
          </p:sp>
          <p:sp>
            <p:nvSpPr>
              <p:cNvPr id="48" name="TextBox 48"/>
              <p:cNvSpPr txBox="1"/>
              <p:nvPr/>
            </p:nvSpPr>
            <p:spPr>
              <a:xfrm>
                <a:off x="1843088" y="1725930"/>
                <a:ext cx="666339"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 xml:space="preserve">新增AUM </a:t>
                </a:r>
                <a:r>
                  <a:rPr lang="zh-CN" sz="600" b="1" dirty="0">
                    <a:solidFill>
                      <a:srgbClr val="5B180B"/>
                    </a:solidFill>
                    <a:latin typeface="+mn-lt"/>
                    <a:ea typeface="+mn-ea"/>
                    <a:cs typeface="+mn-cs"/>
                  </a:rPr>
                  <a:t>1.65亿</a:t>
                </a:r>
                <a:r>
                  <a:rPr lang="zh-CN" sz="600" dirty="0">
                    <a:solidFill>
                      <a:srgbClr val="4A3D3A"/>
                    </a:solidFill>
                    <a:latin typeface="+mn-lt"/>
                    <a:ea typeface="+mn-ea"/>
                    <a:cs typeface="+mn-cs"/>
                  </a:rPr>
                  <a:t>​</a:t>
                </a:r>
              </a:p>
            </p:txBody>
          </p:sp>
          <p:sp>
            <p:nvSpPr>
              <p:cNvPr id="49" name="TextBox 49"/>
              <p:cNvSpPr txBox="1"/>
              <p:nvPr/>
            </p:nvSpPr>
            <p:spPr>
              <a:xfrm>
                <a:off x="1843088" y="1901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重点客群​</a:t>
                </a:r>
              </a:p>
            </p:txBody>
          </p:sp>
          <p:sp>
            <p:nvSpPr>
              <p:cNvPr id="50" name="TextBox 50"/>
              <p:cNvSpPr txBox="1"/>
              <p:nvPr/>
            </p:nvSpPr>
            <p:spPr>
              <a:xfrm>
                <a:off x="1843088" y="2015728"/>
                <a:ext cx="578698"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中高净值、潜力​</a:t>
                </a:r>
              </a:p>
            </p:txBody>
          </p:sp>
          <p:sp>
            <p:nvSpPr>
              <p:cNvPr id="51" name="TextBox 51"/>
              <p:cNvSpPr txBox="1"/>
              <p:nvPr/>
            </p:nvSpPr>
            <p:spPr>
              <a:xfrm>
                <a:off x="1843088" y="2120503"/>
                <a:ext cx="35253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提升客户​</a:t>
                </a:r>
              </a:p>
            </p:txBody>
          </p:sp>
          <p:sp>
            <p:nvSpPr>
              <p:cNvPr id="52" name="TextBox 52"/>
              <p:cNvSpPr txBox="1"/>
              <p:nvPr/>
            </p:nvSpPr>
            <p:spPr>
              <a:xfrm>
                <a:off x="1843088" y="2282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核心举措​</a:t>
                </a:r>
              </a:p>
            </p:txBody>
          </p:sp>
          <p:sp>
            <p:nvSpPr>
              <p:cNvPr id="53" name="TextBox 53"/>
              <p:cNvSpPr txBox="1"/>
              <p:nvPr/>
            </p:nvSpPr>
            <p:spPr>
              <a:xfrm>
                <a:off x="1843088" y="2396728"/>
                <a:ext cx="812399"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基金/理财/保险配置、​</a:t>
                </a:r>
              </a:p>
            </p:txBody>
          </p:sp>
          <p:sp>
            <p:nvSpPr>
              <p:cNvPr id="54" name="TextBox 54"/>
              <p:cNvSpPr txBox="1"/>
              <p:nvPr/>
            </p:nvSpPr>
            <p:spPr>
              <a:xfrm>
                <a:off x="1843088" y="2501503"/>
                <a:ext cx="35253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资产检视​</a:t>
                </a:r>
              </a:p>
            </p:txBody>
          </p:sp>
          <p:sp>
            <p:nvSpPr>
              <p:cNvPr id="55" name="TextBox 55"/>
              <p:cNvSpPr txBox="1"/>
              <p:nvPr/>
            </p:nvSpPr>
            <p:spPr>
              <a:xfrm>
                <a:off x="1843088" y="2663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责任单位​</a:t>
                </a:r>
              </a:p>
            </p:txBody>
          </p:sp>
          <p:sp>
            <p:nvSpPr>
              <p:cNvPr id="56" name="TextBox 56"/>
              <p:cNvSpPr txBox="1"/>
              <p:nvPr/>
            </p:nvSpPr>
            <p:spPr>
              <a:xfrm>
                <a:off x="1843088" y="2777728"/>
                <a:ext cx="654086"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财富团队、各网点​</a:t>
                </a:r>
              </a:p>
            </p:txBody>
          </p:sp>
        </p:grpSp>
        <p:grpSp>
          <p:nvGrpSpPr>
            <p:cNvPr id="79" name="camp-3"/>
            <p:cNvGrpSpPr/>
            <p:nvPr/>
          </p:nvGrpSpPr>
          <p:grpSpPr>
            <a:xfrm>
              <a:off x="3200400" y="971550"/>
              <a:ext cx="1352550" cy="1918097"/>
              <a:chOff x="3200400" y="971550"/>
              <a:chExt cx="1352550" cy="1918097"/>
            </a:xfrm>
          </p:grpSpPr>
          <p:sp>
            <p:nvSpPr>
              <p:cNvPr id="58" name="Rectangle 58"/>
              <p:cNvSpPr/>
              <p:nvPr/>
            </p:nvSpPr>
            <p:spPr>
              <a:xfrm>
                <a:off x="3200400" y="971550"/>
                <a:ext cx="1352550" cy="1905000"/>
              </a:xfrm>
              <a:prstGeom prst="roundRect">
                <a:avLst>
                  <a:gd name="adj" fmla="val 4225"/>
                </a:avLst>
              </a:prstGeom>
              <a:solidFill>
                <a:srgbClr val="FFFFFF"/>
              </a:solidFill>
              <a:ln w="7620">
                <a:solidFill>
                  <a:srgbClr val="D9E8E2"/>
                </a:solidFill>
              </a:ln>
            </p:spPr>
          </p:sp>
          <p:sp>
            <p:nvSpPr>
              <p:cNvPr id="59" name="Rectangle 59"/>
              <p:cNvSpPr/>
              <p:nvPr/>
            </p:nvSpPr>
            <p:spPr>
              <a:xfrm>
                <a:off x="3200400" y="971550"/>
                <a:ext cx="1352550" cy="247650"/>
              </a:xfrm>
              <a:prstGeom prst="roundRect">
                <a:avLst>
                  <a:gd name="adj" fmla="val 23077"/>
                </a:avLst>
              </a:prstGeom>
              <a:solidFill>
                <a:srgbClr val="7A2B1B"/>
              </a:solidFill>
              <a:ln>
                <a:noFill/>
              </a:ln>
            </p:spPr>
          </p:sp>
          <p:sp>
            <p:nvSpPr>
              <p:cNvPr id="60" name="Rectangle 60"/>
              <p:cNvSpPr/>
              <p:nvPr/>
            </p:nvSpPr>
            <p:spPr>
              <a:xfrm>
                <a:off x="3200400" y="1104900"/>
                <a:ext cx="1352550" cy="114300"/>
              </a:xfrm>
              <a:prstGeom prst="rect">
                <a:avLst/>
              </a:prstGeom>
              <a:solidFill>
                <a:srgbClr val="7A2B1B"/>
              </a:solidFill>
              <a:ln>
                <a:noFill/>
              </a:ln>
            </p:spPr>
          </p:sp>
          <p:sp>
            <p:nvSpPr>
              <p:cNvPr id="61" name="TextBox 61"/>
              <p:cNvSpPr txBox="1"/>
              <p:nvPr/>
            </p:nvSpPr>
            <p:spPr>
              <a:xfrm>
                <a:off x="3271838" y="1062038"/>
                <a:ext cx="184447" cy="147638"/>
              </a:xfrm>
              <a:prstGeom prst="rect">
                <a:avLst/>
              </a:prstGeom>
              <a:noFill/>
              <a:ln>
                <a:noFill/>
              </a:ln>
            </p:spPr>
            <p:txBody>
              <a:bodyPr wrap="none" lIns="0" tIns="0" rIns="0" bIns="0" anchor="t" anchorCtr="0">
                <a:spAutoFit/>
              </a:bodyPr>
              <a:lstStyle/>
              <a:p>
                <a:pPr algn="l"/>
                <a:r>
                  <a:rPr lang="zh-CN" sz="750" b="1" dirty="0">
                    <a:solidFill>
                      <a:srgbClr val="BFDDD6"/>
                    </a:solidFill>
                    <a:latin typeface="+mn-lt"/>
                    <a:ea typeface="+mn-ea"/>
                    <a:cs typeface="+mn-cs"/>
                  </a:rPr>
                  <a:t>03​</a:t>
                </a:r>
              </a:p>
            </p:txBody>
          </p:sp>
          <p:sp>
            <p:nvSpPr>
              <p:cNvPr id="62" name="TextBox 62"/>
              <p:cNvSpPr txBox="1"/>
              <p:nvPr/>
            </p:nvSpPr>
            <p:spPr>
              <a:xfrm>
                <a:off x="3443288" y="1057989"/>
                <a:ext cx="49634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信贷获客​</a:t>
                </a:r>
              </a:p>
            </p:txBody>
          </p:sp>
          <p:grpSp>
            <p:nvGrpSpPr>
              <p:cNvPr id="66" name="Group 66"/>
              <p:cNvGrpSpPr/>
              <p:nvPr/>
            </p:nvGrpSpPr>
            <p:grpSpPr>
              <a:xfrm>
                <a:off x="3321844" y="1339056"/>
                <a:ext cx="157163" cy="122238"/>
                <a:chOff x="3321844" y="1339056"/>
                <a:chExt cx="157163" cy="122238"/>
              </a:xfrm>
            </p:grpSpPr>
            <p:sp>
              <p:nvSpPr>
                <p:cNvPr id="63" name="Freeform 63"/>
                <p:cNvSpPr/>
                <p:nvPr/>
              </p:nvSpPr>
              <p:spPr>
                <a:xfrm>
                  <a:off x="3321844" y="1339056"/>
                  <a:ext cx="122238" cy="87313"/>
                </a:xfrm>
                <a:custGeom>
                  <a:avLst/>
                  <a:gdLst/>
                  <a:ahLst/>
                  <a:cxnLst/>
                  <a:rect l="l" t="t" r="r" b="b"/>
                  <a:pathLst>
                    <a:path w="122238" h="87313">
                      <a:moveTo>
                        <a:pt x="34925" y="87313"/>
                      </a:moveTo>
                      <a:lnTo>
                        <a:pt x="8731" y="87313"/>
                      </a:lnTo>
                      <a:cubicBezTo>
                        <a:pt x="3909" y="87313"/>
                        <a:pt x="0" y="83403"/>
                        <a:pt x="0" y="78581"/>
                      </a:cubicBezTo>
                      <a:lnTo>
                        <a:pt x="0" y="8731"/>
                      </a:lnTo>
                      <a:cubicBezTo>
                        <a:pt x="0" y="3909"/>
                        <a:pt x="3909" y="0"/>
                        <a:pt x="8731" y="0"/>
                      </a:cubicBezTo>
                      <a:lnTo>
                        <a:pt x="113506" y="0"/>
                      </a:lnTo>
                      <a:cubicBezTo>
                        <a:pt x="118328" y="0"/>
                        <a:pt x="122238" y="3909"/>
                        <a:pt x="122238" y="8731"/>
                      </a:cubicBezTo>
                      <a:lnTo>
                        <a:pt x="122238" y="34925"/>
                      </a:lnTo>
                    </a:path>
                  </a:pathLst>
                </a:custGeom>
                <a:noFill/>
                <a:ln w="17463">
                  <a:solidFill>
                    <a:srgbClr val="5B180B"/>
                  </a:solidFill>
                </a:ln>
              </p:spPr>
            </p:sp>
            <p:sp>
              <p:nvSpPr>
                <p:cNvPr id="64" name="Freeform 64"/>
                <p:cNvSpPr/>
                <p:nvPr/>
              </p:nvSpPr>
              <p:spPr>
                <a:xfrm>
                  <a:off x="3356769" y="1373981"/>
                  <a:ext cx="122238" cy="87313"/>
                </a:xfrm>
                <a:custGeom>
                  <a:avLst/>
                  <a:gdLst/>
                  <a:ahLst/>
                  <a:cxnLst/>
                  <a:rect l="l" t="t" r="r" b="b"/>
                  <a:pathLst>
                    <a:path w="122238" h="87313">
                      <a:moveTo>
                        <a:pt x="0" y="8731"/>
                      </a:moveTo>
                      <a:cubicBezTo>
                        <a:pt x="0" y="3909"/>
                        <a:pt x="3909" y="0"/>
                        <a:pt x="8731" y="0"/>
                      </a:cubicBezTo>
                      <a:lnTo>
                        <a:pt x="113506" y="0"/>
                      </a:lnTo>
                      <a:cubicBezTo>
                        <a:pt x="118328" y="0"/>
                        <a:pt x="122238" y="3909"/>
                        <a:pt x="122238" y="8731"/>
                      </a:cubicBezTo>
                      <a:lnTo>
                        <a:pt x="122238" y="78581"/>
                      </a:lnTo>
                      <a:cubicBezTo>
                        <a:pt x="122238" y="83403"/>
                        <a:pt x="118328" y="87313"/>
                        <a:pt x="113506" y="87313"/>
                      </a:cubicBezTo>
                      <a:lnTo>
                        <a:pt x="8731" y="87313"/>
                      </a:lnTo>
                      <a:cubicBezTo>
                        <a:pt x="3909" y="87313"/>
                        <a:pt x="0" y="83403"/>
                        <a:pt x="0" y="78581"/>
                      </a:cubicBezTo>
                      <a:lnTo>
                        <a:pt x="0" y="8731"/>
                      </a:lnTo>
                    </a:path>
                  </a:pathLst>
                </a:custGeom>
                <a:noFill/>
                <a:ln w="17463">
                  <a:solidFill>
                    <a:srgbClr val="5B180B"/>
                  </a:solidFill>
                </a:ln>
              </p:spPr>
            </p:sp>
            <p:sp>
              <p:nvSpPr>
                <p:cNvPr id="65" name="Freeform 65"/>
                <p:cNvSpPr/>
                <p:nvPr/>
              </p:nvSpPr>
              <p:spPr>
                <a:xfrm>
                  <a:off x="3400425" y="1400175"/>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5B180B"/>
                  </a:solidFill>
                </a:ln>
              </p:spPr>
            </p:sp>
          </p:grpSp>
          <p:sp>
            <p:nvSpPr>
              <p:cNvPr id="67" name="TextBox 67"/>
              <p:cNvSpPr txBox="1"/>
              <p:nvPr/>
            </p:nvSpPr>
            <p:spPr>
              <a:xfrm>
                <a:off x="3576638" y="1325880"/>
                <a:ext cx="377038"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优质信贷​</a:t>
                </a:r>
              </a:p>
            </p:txBody>
          </p:sp>
          <p:sp>
            <p:nvSpPr>
              <p:cNvPr id="68" name="TextBox 68"/>
              <p:cNvSpPr txBox="1"/>
              <p:nvPr/>
            </p:nvSpPr>
            <p:spPr>
              <a:xfrm>
                <a:off x="3576638" y="1430655"/>
                <a:ext cx="377038"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精准获客​</a:t>
                </a:r>
              </a:p>
            </p:txBody>
          </p:sp>
          <p:sp>
            <p:nvSpPr>
              <p:cNvPr id="69" name="TextBox 69"/>
              <p:cNvSpPr txBox="1"/>
              <p:nvPr/>
            </p:nvSpPr>
            <p:spPr>
              <a:xfrm>
                <a:off x="3271838" y="1615678"/>
                <a:ext cx="203836"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目标​</a:t>
                </a:r>
              </a:p>
            </p:txBody>
          </p:sp>
          <p:sp>
            <p:nvSpPr>
              <p:cNvPr id="70" name="TextBox 70"/>
              <p:cNvSpPr txBox="1"/>
              <p:nvPr/>
            </p:nvSpPr>
            <p:spPr>
              <a:xfrm>
                <a:off x="3271838" y="1725930"/>
                <a:ext cx="796042"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 xml:space="preserve">新增消费贷 </a:t>
                </a:r>
                <a:r>
                  <a:rPr lang="zh-CN" sz="600" b="1" dirty="0">
                    <a:solidFill>
                      <a:srgbClr val="5B180B"/>
                    </a:solidFill>
                    <a:latin typeface="+mn-lt"/>
                    <a:ea typeface="+mn-ea"/>
                    <a:cs typeface="+mn-cs"/>
                  </a:rPr>
                  <a:t>3,800万</a:t>
                </a:r>
                <a:r>
                  <a:rPr lang="zh-CN" sz="600" dirty="0">
                    <a:solidFill>
                      <a:srgbClr val="4A3D3A"/>
                    </a:solidFill>
                    <a:latin typeface="+mn-lt"/>
                    <a:ea typeface="+mn-ea"/>
                    <a:cs typeface="+mn-cs"/>
                  </a:rPr>
                  <a:t>​</a:t>
                </a:r>
              </a:p>
            </p:txBody>
          </p:sp>
          <p:sp>
            <p:nvSpPr>
              <p:cNvPr id="71" name="TextBox 71"/>
              <p:cNvSpPr txBox="1"/>
              <p:nvPr/>
            </p:nvSpPr>
            <p:spPr>
              <a:xfrm>
                <a:off x="3271838" y="1901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重点客群​</a:t>
                </a:r>
              </a:p>
            </p:txBody>
          </p:sp>
          <p:sp>
            <p:nvSpPr>
              <p:cNvPr id="72" name="TextBox 72"/>
              <p:cNvSpPr txBox="1"/>
              <p:nvPr/>
            </p:nvSpPr>
            <p:spPr>
              <a:xfrm>
                <a:off x="3271838" y="2015728"/>
                <a:ext cx="503311"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小微企业主、​</a:t>
                </a:r>
              </a:p>
            </p:txBody>
          </p:sp>
          <p:sp>
            <p:nvSpPr>
              <p:cNvPr id="73" name="TextBox 73"/>
              <p:cNvSpPr txBox="1"/>
              <p:nvPr/>
            </p:nvSpPr>
            <p:spPr>
              <a:xfrm>
                <a:off x="3271838" y="2120503"/>
                <a:ext cx="427924"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年轻上班族​</a:t>
                </a:r>
              </a:p>
            </p:txBody>
          </p:sp>
          <p:sp>
            <p:nvSpPr>
              <p:cNvPr id="74" name="TextBox 74"/>
              <p:cNvSpPr txBox="1"/>
              <p:nvPr/>
            </p:nvSpPr>
            <p:spPr>
              <a:xfrm>
                <a:off x="3271838" y="2282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核心举措​</a:t>
                </a:r>
              </a:p>
            </p:txBody>
          </p:sp>
          <p:sp>
            <p:nvSpPr>
              <p:cNvPr id="75" name="TextBox 75"/>
              <p:cNvSpPr txBox="1"/>
              <p:nvPr/>
            </p:nvSpPr>
            <p:spPr>
              <a:xfrm>
                <a:off x="3271838" y="2396728"/>
                <a:ext cx="88024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名单制营销、快速审批、​</a:t>
                </a:r>
              </a:p>
            </p:txBody>
          </p:sp>
          <p:sp>
            <p:nvSpPr>
              <p:cNvPr id="76" name="TextBox 76"/>
              <p:cNvSpPr txBox="1"/>
              <p:nvPr/>
            </p:nvSpPr>
            <p:spPr>
              <a:xfrm>
                <a:off x="3271838" y="2501503"/>
                <a:ext cx="35253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优质服务​</a:t>
                </a:r>
              </a:p>
            </p:txBody>
          </p:sp>
          <p:sp>
            <p:nvSpPr>
              <p:cNvPr id="77" name="TextBox 77"/>
              <p:cNvSpPr txBox="1"/>
              <p:nvPr/>
            </p:nvSpPr>
            <p:spPr>
              <a:xfrm>
                <a:off x="3271838" y="2663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责任单位​</a:t>
                </a:r>
              </a:p>
            </p:txBody>
          </p:sp>
          <p:sp>
            <p:nvSpPr>
              <p:cNvPr id="78" name="TextBox 78"/>
              <p:cNvSpPr txBox="1"/>
              <p:nvPr/>
            </p:nvSpPr>
            <p:spPr>
              <a:xfrm>
                <a:off x="3271838" y="2777728"/>
                <a:ext cx="846323"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公司/零售条线、各网点​</a:t>
                </a:r>
              </a:p>
            </p:txBody>
          </p:sp>
        </p:grpSp>
        <p:grpSp>
          <p:nvGrpSpPr>
            <p:cNvPr id="102" name="camp-4"/>
            <p:cNvGrpSpPr/>
            <p:nvPr/>
          </p:nvGrpSpPr>
          <p:grpSpPr>
            <a:xfrm>
              <a:off x="4629150" y="971550"/>
              <a:ext cx="1352550" cy="1918097"/>
              <a:chOff x="4629150" y="971550"/>
              <a:chExt cx="1352550" cy="1918097"/>
            </a:xfrm>
          </p:grpSpPr>
          <p:sp>
            <p:nvSpPr>
              <p:cNvPr id="80" name="Rectangle 80"/>
              <p:cNvSpPr/>
              <p:nvPr/>
            </p:nvSpPr>
            <p:spPr>
              <a:xfrm>
                <a:off x="4629150" y="971550"/>
                <a:ext cx="1352550" cy="1905000"/>
              </a:xfrm>
              <a:prstGeom prst="roundRect">
                <a:avLst>
                  <a:gd name="adj" fmla="val 4225"/>
                </a:avLst>
              </a:prstGeom>
              <a:solidFill>
                <a:srgbClr val="FFFFFF"/>
              </a:solidFill>
              <a:ln w="7620">
                <a:solidFill>
                  <a:srgbClr val="D9E8E2"/>
                </a:solidFill>
              </a:ln>
            </p:spPr>
          </p:sp>
          <p:sp>
            <p:nvSpPr>
              <p:cNvPr id="81" name="Rectangle 81"/>
              <p:cNvSpPr/>
              <p:nvPr/>
            </p:nvSpPr>
            <p:spPr>
              <a:xfrm>
                <a:off x="4629150" y="971550"/>
                <a:ext cx="1352550" cy="247650"/>
              </a:xfrm>
              <a:prstGeom prst="roundRect">
                <a:avLst>
                  <a:gd name="adj" fmla="val 23077"/>
                </a:avLst>
              </a:prstGeom>
              <a:solidFill>
                <a:srgbClr val="9A412F"/>
              </a:solidFill>
              <a:ln>
                <a:noFill/>
              </a:ln>
            </p:spPr>
          </p:sp>
          <p:sp>
            <p:nvSpPr>
              <p:cNvPr id="82" name="Rectangle 82"/>
              <p:cNvSpPr/>
              <p:nvPr/>
            </p:nvSpPr>
            <p:spPr>
              <a:xfrm>
                <a:off x="4629150" y="1104900"/>
                <a:ext cx="1352550" cy="114300"/>
              </a:xfrm>
              <a:prstGeom prst="rect">
                <a:avLst/>
              </a:prstGeom>
              <a:solidFill>
                <a:srgbClr val="9A412F"/>
              </a:solidFill>
              <a:ln>
                <a:noFill/>
              </a:ln>
            </p:spPr>
          </p:sp>
          <p:sp>
            <p:nvSpPr>
              <p:cNvPr id="83" name="TextBox 83"/>
              <p:cNvSpPr txBox="1"/>
              <p:nvPr/>
            </p:nvSpPr>
            <p:spPr>
              <a:xfrm>
                <a:off x="4700588" y="1062038"/>
                <a:ext cx="184447" cy="147638"/>
              </a:xfrm>
              <a:prstGeom prst="rect">
                <a:avLst/>
              </a:prstGeom>
              <a:noFill/>
              <a:ln>
                <a:noFill/>
              </a:ln>
            </p:spPr>
            <p:txBody>
              <a:bodyPr wrap="none" lIns="0" tIns="0" rIns="0" bIns="0" anchor="t" anchorCtr="0">
                <a:spAutoFit/>
              </a:bodyPr>
              <a:lstStyle/>
              <a:p>
                <a:pPr algn="l"/>
                <a:r>
                  <a:rPr lang="zh-CN" sz="750" b="1" dirty="0">
                    <a:solidFill>
                      <a:srgbClr val="DFF0EB"/>
                    </a:solidFill>
                    <a:latin typeface="+mn-lt"/>
                    <a:ea typeface="+mn-ea"/>
                    <a:cs typeface="+mn-cs"/>
                  </a:rPr>
                  <a:t>04​</a:t>
                </a:r>
              </a:p>
            </p:txBody>
          </p:sp>
          <p:sp>
            <p:nvSpPr>
              <p:cNvPr id="84" name="TextBox 84"/>
              <p:cNvSpPr txBox="1"/>
              <p:nvPr/>
            </p:nvSpPr>
            <p:spPr>
              <a:xfrm>
                <a:off x="4872038" y="1057989"/>
                <a:ext cx="49634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场景拓客​</a:t>
                </a:r>
              </a:p>
            </p:txBody>
          </p:sp>
          <p:grpSp>
            <p:nvGrpSpPr>
              <p:cNvPr id="89" name="Group 89"/>
              <p:cNvGrpSpPr/>
              <p:nvPr/>
            </p:nvGrpSpPr>
            <p:grpSpPr>
              <a:xfrm>
                <a:off x="4759325" y="1321594"/>
                <a:ext cx="139701" cy="157162"/>
                <a:chOff x="4759325" y="1321594"/>
                <a:chExt cx="139701" cy="157162"/>
              </a:xfrm>
            </p:grpSpPr>
            <p:sp>
              <p:nvSpPr>
                <p:cNvPr id="85" name="Freeform 85"/>
                <p:cNvSpPr/>
                <p:nvPr/>
              </p:nvSpPr>
              <p:spPr>
                <a:xfrm>
                  <a:off x="4759325" y="14438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5B180B"/>
                  </a:solidFill>
                </a:ln>
              </p:spPr>
            </p:sp>
            <p:sp>
              <p:nvSpPr>
                <p:cNvPr id="86" name="Freeform 86"/>
                <p:cNvSpPr/>
                <p:nvPr/>
              </p:nvSpPr>
              <p:spPr>
                <a:xfrm>
                  <a:off x="4855369" y="14438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5B180B"/>
                  </a:solidFill>
                </a:ln>
              </p:spPr>
            </p:sp>
            <p:sp>
              <p:nvSpPr>
                <p:cNvPr id="87" name="Freeform 87"/>
                <p:cNvSpPr/>
                <p:nvPr/>
              </p:nvSpPr>
              <p:spPr>
                <a:xfrm>
                  <a:off x="4759325" y="1321594"/>
                  <a:ext cx="113506" cy="122238"/>
                </a:xfrm>
                <a:custGeom>
                  <a:avLst/>
                  <a:gdLst/>
                  <a:ahLst/>
                  <a:cxnLst/>
                  <a:rect l="l" t="t" r="r" b="b"/>
                  <a:pathLst>
                    <a:path w="113506" h="122238">
                      <a:moveTo>
                        <a:pt x="113506" y="122238"/>
                      </a:moveTo>
                      <a:lnTo>
                        <a:pt x="17463" y="122238"/>
                      </a:lnTo>
                      <a:lnTo>
                        <a:pt x="17463" y="0"/>
                      </a:lnTo>
                      <a:lnTo>
                        <a:pt x="0" y="0"/>
                      </a:lnTo>
                    </a:path>
                  </a:pathLst>
                </a:custGeom>
                <a:noFill/>
                <a:ln w="17463">
                  <a:solidFill>
                    <a:srgbClr val="5B180B"/>
                  </a:solidFill>
                </a:ln>
              </p:spPr>
            </p:sp>
            <p:sp>
              <p:nvSpPr>
                <p:cNvPr id="88" name="Freeform 88"/>
                <p:cNvSpPr/>
                <p:nvPr/>
              </p:nvSpPr>
              <p:spPr>
                <a:xfrm>
                  <a:off x="4776788" y="1339056"/>
                  <a:ext cx="122238" cy="69850"/>
                </a:xfrm>
                <a:custGeom>
                  <a:avLst/>
                  <a:gdLst/>
                  <a:ahLst/>
                  <a:cxnLst/>
                  <a:rect l="l" t="t" r="r" b="b"/>
                  <a:pathLst>
                    <a:path w="122238" h="69850">
                      <a:moveTo>
                        <a:pt x="0" y="0"/>
                      </a:moveTo>
                      <a:lnTo>
                        <a:pt x="122238" y="8731"/>
                      </a:lnTo>
                      <a:lnTo>
                        <a:pt x="113506" y="69850"/>
                      </a:lnTo>
                      <a:lnTo>
                        <a:pt x="0" y="69850"/>
                      </a:lnTo>
                    </a:path>
                  </a:pathLst>
                </a:custGeom>
                <a:noFill/>
                <a:ln w="17463">
                  <a:solidFill>
                    <a:srgbClr val="5B180B"/>
                  </a:solidFill>
                </a:ln>
              </p:spPr>
            </p:sp>
          </p:grpSp>
          <p:sp>
            <p:nvSpPr>
              <p:cNvPr id="90" name="TextBox 90"/>
              <p:cNvSpPr txBox="1"/>
              <p:nvPr/>
            </p:nvSpPr>
            <p:spPr>
              <a:xfrm>
                <a:off x="5005388" y="1325880"/>
                <a:ext cx="377038"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场景生态​</a:t>
                </a:r>
              </a:p>
            </p:txBody>
          </p:sp>
          <p:sp>
            <p:nvSpPr>
              <p:cNvPr id="91" name="TextBox 91"/>
              <p:cNvSpPr txBox="1"/>
              <p:nvPr/>
            </p:nvSpPr>
            <p:spPr>
              <a:xfrm>
                <a:off x="5005388" y="1430655"/>
                <a:ext cx="377038"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流量转化​</a:t>
                </a:r>
              </a:p>
            </p:txBody>
          </p:sp>
          <p:sp>
            <p:nvSpPr>
              <p:cNvPr id="92" name="TextBox 92"/>
              <p:cNvSpPr txBox="1"/>
              <p:nvPr/>
            </p:nvSpPr>
            <p:spPr>
              <a:xfrm>
                <a:off x="4700588" y="1615678"/>
                <a:ext cx="203836"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目标​</a:t>
                </a:r>
              </a:p>
            </p:txBody>
          </p:sp>
          <p:sp>
            <p:nvSpPr>
              <p:cNvPr id="93" name="TextBox 93"/>
              <p:cNvSpPr txBox="1"/>
              <p:nvPr/>
            </p:nvSpPr>
            <p:spPr>
              <a:xfrm>
                <a:off x="4700588" y="1725930"/>
                <a:ext cx="715270"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 xml:space="preserve">新增客户 </a:t>
                </a:r>
                <a:r>
                  <a:rPr lang="zh-CN" sz="600" b="1" dirty="0">
                    <a:solidFill>
                      <a:srgbClr val="5B180B"/>
                    </a:solidFill>
                    <a:latin typeface="+mn-lt"/>
                    <a:ea typeface="+mn-ea"/>
                    <a:cs typeface="+mn-cs"/>
                  </a:rPr>
                  <a:t>1,260户</a:t>
                </a:r>
                <a:r>
                  <a:rPr lang="zh-CN" sz="600" dirty="0">
                    <a:solidFill>
                      <a:srgbClr val="4A3D3A"/>
                    </a:solidFill>
                    <a:latin typeface="+mn-lt"/>
                    <a:ea typeface="+mn-ea"/>
                    <a:cs typeface="+mn-cs"/>
                  </a:rPr>
                  <a:t>​</a:t>
                </a:r>
              </a:p>
            </p:txBody>
          </p:sp>
          <p:sp>
            <p:nvSpPr>
              <p:cNvPr id="94" name="TextBox 94"/>
              <p:cNvSpPr txBox="1"/>
              <p:nvPr/>
            </p:nvSpPr>
            <p:spPr>
              <a:xfrm>
                <a:off x="4700588" y="1901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重点客群​</a:t>
                </a:r>
              </a:p>
            </p:txBody>
          </p:sp>
          <p:sp>
            <p:nvSpPr>
              <p:cNvPr id="95" name="TextBox 95"/>
              <p:cNvSpPr txBox="1"/>
              <p:nvPr/>
            </p:nvSpPr>
            <p:spPr>
              <a:xfrm>
                <a:off x="4700588" y="2015728"/>
                <a:ext cx="729473"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商圈、社区、校园、​</a:t>
                </a:r>
              </a:p>
            </p:txBody>
          </p:sp>
          <p:sp>
            <p:nvSpPr>
              <p:cNvPr id="96" name="TextBox 96"/>
              <p:cNvSpPr txBox="1"/>
              <p:nvPr/>
            </p:nvSpPr>
            <p:spPr>
              <a:xfrm>
                <a:off x="4700588" y="2120503"/>
                <a:ext cx="201762"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职场​</a:t>
                </a:r>
              </a:p>
            </p:txBody>
          </p:sp>
          <p:sp>
            <p:nvSpPr>
              <p:cNvPr id="97" name="TextBox 97"/>
              <p:cNvSpPr txBox="1"/>
              <p:nvPr/>
            </p:nvSpPr>
            <p:spPr>
              <a:xfrm>
                <a:off x="4700588" y="2282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核心举措​</a:t>
                </a:r>
              </a:p>
            </p:txBody>
          </p:sp>
          <p:sp>
            <p:nvSpPr>
              <p:cNvPr id="98" name="TextBox 98"/>
              <p:cNvSpPr txBox="1"/>
              <p:nvPr/>
            </p:nvSpPr>
            <p:spPr>
              <a:xfrm>
                <a:off x="4700588" y="2396728"/>
                <a:ext cx="804860"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场景合作、联合活动、​</a:t>
                </a:r>
              </a:p>
            </p:txBody>
          </p:sp>
          <p:sp>
            <p:nvSpPr>
              <p:cNvPr id="99" name="TextBox 99"/>
              <p:cNvSpPr txBox="1"/>
              <p:nvPr/>
            </p:nvSpPr>
            <p:spPr>
              <a:xfrm>
                <a:off x="4700588" y="2501503"/>
                <a:ext cx="503311"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代发商圈特惠​</a:t>
                </a:r>
              </a:p>
            </p:txBody>
          </p:sp>
          <p:sp>
            <p:nvSpPr>
              <p:cNvPr id="100" name="TextBox 100"/>
              <p:cNvSpPr txBox="1"/>
              <p:nvPr/>
            </p:nvSpPr>
            <p:spPr>
              <a:xfrm>
                <a:off x="4700588" y="2663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责任单位​</a:t>
                </a:r>
              </a:p>
            </p:txBody>
          </p:sp>
          <p:sp>
            <p:nvSpPr>
              <p:cNvPr id="101" name="TextBox 101"/>
              <p:cNvSpPr txBox="1"/>
              <p:nvPr/>
            </p:nvSpPr>
            <p:spPr>
              <a:xfrm>
                <a:off x="4700588" y="2777728"/>
                <a:ext cx="88024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渠道与场景团队、各网点​</a:t>
                </a:r>
              </a:p>
            </p:txBody>
          </p:sp>
        </p:grpSp>
        <p:grpSp>
          <p:nvGrpSpPr>
            <p:cNvPr id="127" name="camp-5"/>
            <p:cNvGrpSpPr/>
            <p:nvPr/>
          </p:nvGrpSpPr>
          <p:grpSpPr>
            <a:xfrm>
              <a:off x="6057900" y="971550"/>
              <a:ext cx="1314450" cy="1918097"/>
              <a:chOff x="6057900" y="971550"/>
              <a:chExt cx="1314450" cy="1918097"/>
            </a:xfrm>
          </p:grpSpPr>
          <p:sp>
            <p:nvSpPr>
              <p:cNvPr id="103" name="Rectangle 103"/>
              <p:cNvSpPr/>
              <p:nvPr/>
            </p:nvSpPr>
            <p:spPr>
              <a:xfrm>
                <a:off x="6057900" y="971550"/>
                <a:ext cx="1314450" cy="1905000"/>
              </a:xfrm>
              <a:prstGeom prst="roundRect">
                <a:avLst>
                  <a:gd name="adj" fmla="val 4348"/>
                </a:avLst>
              </a:prstGeom>
              <a:solidFill>
                <a:srgbClr val="FFFFFF"/>
              </a:solidFill>
              <a:ln w="7620">
                <a:solidFill>
                  <a:srgbClr val="D9E8E2"/>
                </a:solidFill>
              </a:ln>
            </p:spPr>
          </p:sp>
          <p:sp>
            <p:nvSpPr>
              <p:cNvPr id="104" name="Rectangle 104"/>
              <p:cNvSpPr/>
              <p:nvPr/>
            </p:nvSpPr>
            <p:spPr>
              <a:xfrm>
                <a:off x="6057900" y="971550"/>
                <a:ext cx="1314450" cy="247650"/>
              </a:xfrm>
              <a:prstGeom prst="roundRect">
                <a:avLst>
                  <a:gd name="adj" fmla="val 23077"/>
                </a:avLst>
              </a:prstGeom>
              <a:solidFill>
                <a:srgbClr val="A75545"/>
              </a:solidFill>
              <a:ln>
                <a:noFill/>
              </a:ln>
            </p:spPr>
          </p:sp>
          <p:sp>
            <p:nvSpPr>
              <p:cNvPr id="105" name="Rectangle 105"/>
              <p:cNvSpPr/>
              <p:nvPr/>
            </p:nvSpPr>
            <p:spPr>
              <a:xfrm>
                <a:off x="6057900" y="1104900"/>
                <a:ext cx="1314450" cy="114300"/>
              </a:xfrm>
              <a:prstGeom prst="rect">
                <a:avLst/>
              </a:prstGeom>
              <a:solidFill>
                <a:srgbClr val="A75545"/>
              </a:solidFill>
              <a:ln>
                <a:noFill/>
              </a:ln>
            </p:spPr>
          </p:sp>
          <p:sp>
            <p:nvSpPr>
              <p:cNvPr id="106" name="TextBox 106"/>
              <p:cNvSpPr txBox="1"/>
              <p:nvPr/>
            </p:nvSpPr>
            <p:spPr>
              <a:xfrm>
                <a:off x="6129338" y="1062038"/>
                <a:ext cx="184447" cy="147638"/>
              </a:xfrm>
              <a:prstGeom prst="rect">
                <a:avLst/>
              </a:prstGeom>
              <a:noFill/>
              <a:ln>
                <a:noFill/>
              </a:ln>
            </p:spPr>
            <p:txBody>
              <a:bodyPr wrap="none" lIns="0" tIns="0" rIns="0" bIns="0" anchor="t" anchorCtr="0">
                <a:spAutoFit/>
              </a:bodyPr>
              <a:lstStyle/>
              <a:p>
                <a:pPr algn="l"/>
                <a:r>
                  <a:rPr lang="zh-CN" sz="750" b="1" dirty="0">
                    <a:solidFill>
                      <a:srgbClr val="EAF6F2"/>
                    </a:solidFill>
                    <a:latin typeface="+mn-lt"/>
                    <a:ea typeface="+mn-ea"/>
                    <a:cs typeface="+mn-cs"/>
                  </a:rPr>
                  <a:t>05​</a:t>
                </a:r>
              </a:p>
            </p:txBody>
          </p:sp>
          <p:sp>
            <p:nvSpPr>
              <p:cNvPr id="107" name="TextBox 107"/>
              <p:cNvSpPr txBox="1"/>
              <p:nvPr/>
            </p:nvSpPr>
            <p:spPr>
              <a:xfrm>
                <a:off x="6300788" y="1057989"/>
                <a:ext cx="49634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客户经营​</a:t>
                </a:r>
              </a:p>
            </p:txBody>
          </p:sp>
          <p:grpSp>
            <p:nvGrpSpPr>
              <p:cNvPr id="114" name="Group 114"/>
              <p:cNvGrpSpPr/>
              <p:nvPr/>
            </p:nvGrpSpPr>
            <p:grpSpPr>
              <a:xfrm>
                <a:off x="6179344" y="1321594"/>
                <a:ext cx="157162" cy="157163"/>
                <a:chOff x="6179344" y="1321594"/>
                <a:chExt cx="157162" cy="157163"/>
              </a:xfrm>
            </p:grpSpPr>
            <p:sp>
              <p:nvSpPr>
                <p:cNvPr id="108" name="Freeform 108"/>
                <p:cNvSpPr/>
                <p:nvPr/>
              </p:nvSpPr>
              <p:spPr>
                <a:xfrm>
                  <a:off x="6240463" y="13914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5B180B"/>
                  </a:solidFill>
                </a:ln>
              </p:spPr>
            </p:sp>
            <p:sp>
              <p:nvSpPr>
                <p:cNvPr id="109" name="Freeform 109"/>
                <p:cNvSpPr/>
                <p:nvPr/>
              </p:nvSpPr>
              <p:spPr>
                <a:xfrm>
                  <a:off x="6223000" y="145256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5B180B"/>
                  </a:solidFill>
                </a:ln>
              </p:spPr>
            </p:sp>
            <p:sp>
              <p:nvSpPr>
                <p:cNvPr id="110" name="Freeform 110"/>
                <p:cNvSpPr/>
                <p:nvPr/>
              </p:nvSpPr>
              <p:spPr>
                <a:xfrm>
                  <a:off x="6284119" y="13215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5B180B"/>
                  </a:solidFill>
                </a:ln>
              </p:spPr>
            </p:sp>
            <p:sp>
              <p:nvSpPr>
                <p:cNvPr id="111" name="Freeform 111"/>
                <p:cNvSpPr/>
                <p:nvPr/>
              </p:nvSpPr>
              <p:spPr>
                <a:xfrm>
                  <a:off x="6301581" y="138271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5B180B"/>
                  </a:solidFill>
                </a:ln>
              </p:spPr>
            </p:sp>
            <p:sp>
              <p:nvSpPr>
                <p:cNvPr id="112" name="Freeform 112"/>
                <p:cNvSpPr/>
                <p:nvPr/>
              </p:nvSpPr>
              <p:spPr>
                <a:xfrm>
                  <a:off x="6196806" y="13215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5B180B"/>
                  </a:solidFill>
                </a:ln>
              </p:spPr>
            </p:sp>
            <p:sp>
              <p:nvSpPr>
                <p:cNvPr id="113" name="Freeform 113"/>
                <p:cNvSpPr/>
                <p:nvPr/>
              </p:nvSpPr>
              <p:spPr>
                <a:xfrm>
                  <a:off x="6179344" y="138271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5B180B"/>
                  </a:solidFill>
                </a:ln>
              </p:spPr>
            </p:sp>
          </p:grpSp>
          <p:sp>
            <p:nvSpPr>
              <p:cNvPr id="115" name="TextBox 115"/>
              <p:cNvSpPr txBox="1"/>
              <p:nvPr/>
            </p:nvSpPr>
            <p:spPr>
              <a:xfrm>
                <a:off x="6434138" y="1325880"/>
                <a:ext cx="377038"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深耕存量​</a:t>
                </a:r>
              </a:p>
            </p:txBody>
          </p:sp>
          <p:sp>
            <p:nvSpPr>
              <p:cNvPr id="116" name="TextBox 116"/>
              <p:cNvSpPr txBox="1"/>
              <p:nvPr/>
            </p:nvSpPr>
            <p:spPr>
              <a:xfrm>
                <a:off x="6434138" y="1430655"/>
                <a:ext cx="377038" cy="119062"/>
              </a:xfrm>
              <a:prstGeom prst="rect">
                <a:avLst/>
              </a:prstGeom>
              <a:noFill/>
              <a:ln>
                <a:noFill/>
              </a:ln>
            </p:spPr>
            <p:txBody>
              <a:bodyPr wrap="none" lIns="0" tIns="0" rIns="0" bIns="0" anchor="t" anchorCtr="0">
                <a:spAutoFit/>
              </a:bodyPr>
              <a:lstStyle/>
              <a:p>
                <a:pPr algn="l"/>
                <a:r>
                  <a:rPr lang="zh-CN" sz="600" dirty="0">
                    <a:solidFill>
                      <a:srgbClr val="5B180B"/>
                    </a:solidFill>
                    <a:latin typeface="+mn-lt"/>
                    <a:ea typeface="+mn-ea"/>
                    <a:cs typeface="+mn-cs"/>
                  </a:rPr>
                  <a:t>提升黏性​</a:t>
                </a:r>
              </a:p>
            </p:txBody>
          </p:sp>
          <p:sp>
            <p:nvSpPr>
              <p:cNvPr id="117" name="TextBox 117"/>
              <p:cNvSpPr txBox="1"/>
              <p:nvPr/>
            </p:nvSpPr>
            <p:spPr>
              <a:xfrm>
                <a:off x="6129338" y="1615678"/>
                <a:ext cx="203836"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目标​</a:t>
                </a:r>
              </a:p>
            </p:txBody>
          </p:sp>
          <p:sp>
            <p:nvSpPr>
              <p:cNvPr id="118" name="TextBox 118"/>
              <p:cNvSpPr txBox="1"/>
              <p:nvPr/>
            </p:nvSpPr>
            <p:spPr>
              <a:xfrm>
                <a:off x="6129338" y="1725930"/>
                <a:ext cx="621979" cy="119062"/>
              </a:xfrm>
              <a:prstGeom prst="rect">
                <a:avLst/>
              </a:prstGeom>
              <a:noFill/>
              <a:ln>
                <a:noFill/>
              </a:ln>
            </p:spPr>
            <p:txBody>
              <a:bodyPr wrap="none" lIns="0" tIns="0" rIns="0" bIns="0" anchor="t" anchorCtr="0">
                <a:spAutoFit/>
              </a:bodyPr>
              <a:lstStyle/>
              <a:p>
                <a:pPr algn="l"/>
                <a:r>
                  <a:rPr lang="zh-CN" sz="600" dirty="0">
                    <a:solidFill>
                      <a:srgbClr val="4A3D3A"/>
                    </a:solidFill>
                    <a:latin typeface="+mn-lt"/>
                    <a:ea typeface="+mn-ea"/>
                    <a:cs typeface="+mn-cs"/>
                  </a:rPr>
                  <a:t xml:space="preserve">新增中收 </a:t>
                </a:r>
                <a:r>
                  <a:rPr lang="zh-CN" sz="600" b="1" dirty="0">
                    <a:solidFill>
                      <a:srgbClr val="5B180B"/>
                    </a:solidFill>
                    <a:latin typeface="+mn-lt"/>
                    <a:ea typeface="+mn-ea"/>
                    <a:cs typeface="+mn-cs"/>
                  </a:rPr>
                  <a:t>420万</a:t>
                </a:r>
                <a:r>
                  <a:rPr lang="zh-CN" sz="600" dirty="0">
                    <a:solidFill>
                      <a:srgbClr val="4A3D3A"/>
                    </a:solidFill>
                    <a:latin typeface="+mn-lt"/>
                    <a:ea typeface="+mn-ea"/>
                    <a:cs typeface="+mn-cs"/>
                  </a:rPr>
                  <a:t>​</a:t>
                </a:r>
              </a:p>
            </p:txBody>
          </p:sp>
          <p:sp>
            <p:nvSpPr>
              <p:cNvPr id="119" name="TextBox 119"/>
              <p:cNvSpPr txBox="1"/>
              <p:nvPr/>
            </p:nvSpPr>
            <p:spPr>
              <a:xfrm>
                <a:off x="6129338" y="1901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重点客群​</a:t>
                </a:r>
              </a:p>
            </p:txBody>
          </p:sp>
          <p:sp>
            <p:nvSpPr>
              <p:cNvPr id="120" name="TextBox 120"/>
              <p:cNvSpPr txBox="1"/>
              <p:nvPr/>
            </p:nvSpPr>
            <p:spPr>
              <a:xfrm>
                <a:off x="6129338" y="2015728"/>
                <a:ext cx="578698"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存量低效客户、​</a:t>
                </a:r>
              </a:p>
            </p:txBody>
          </p:sp>
          <p:sp>
            <p:nvSpPr>
              <p:cNvPr id="121" name="TextBox 121"/>
              <p:cNvSpPr txBox="1"/>
              <p:nvPr/>
            </p:nvSpPr>
            <p:spPr>
              <a:xfrm>
                <a:off x="6129338" y="2120503"/>
                <a:ext cx="544774"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代发/低动客户​</a:t>
                </a:r>
              </a:p>
            </p:txBody>
          </p:sp>
          <p:sp>
            <p:nvSpPr>
              <p:cNvPr id="122" name="TextBox 122"/>
              <p:cNvSpPr txBox="1"/>
              <p:nvPr/>
            </p:nvSpPr>
            <p:spPr>
              <a:xfrm>
                <a:off x="6129338" y="2282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核心举措​</a:t>
                </a:r>
              </a:p>
            </p:txBody>
          </p:sp>
          <p:sp>
            <p:nvSpPr>
              <p:cNvPr id="123" name="TextBox 123"/>
              <p:cNvSpPr txBox="1"/>
              <p:nvPr/>
            </p:nvSpPr>
            <p:spPr>
              <a:xfrm>
                <a:off x="6129338" y="2396728"/>
                <a:ext cx="804860"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分层经营、交叉销售、​</a:t>
                </a:r>
              </a:p>
            </p:txBody>
          </p:sp>
          <p:sp>
            <p:nvSpPr>
              <p:cNvPr id="124" name="TextBox 124"/>
              <p:cNvSpPr txBox="1"/>
              <p:nvPr/>
            </p:nvSpPr>
            <p:spPr>
              <a:xfrm>
                <a:off x="6129338" y="2501503"/>
                <a:ext cx="352537"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客户关怀​</a:t>
                </a:r>
              </a:p>
            </p:txBody>
          </p:sp>
          <p:sp>
            <p:nvSpPr>
              <p:cNvPr id="125" name="TextBox 125"/>
              <p:cNvSpPr txBox="1"/>
              <p:nvPr/>
            </p:nvSpPr>
            <p:spPr>
              <a:xfrm>
                <a:off x="6129338" y="2663428"/>
                <a:ext cx="354610" cy="111919"/>
              </a:xfrm>
              <a:prstGeom prst="rect">
                <a:avLst/>
              </a:prstGeom>
              <a:noFill/>
              <a:ln>
                <a:noFill/>
              </a:ln>
            </p:spPr>
            <p:txBody>
              <a:bodyPr wrap="none" lIns="0" tIns="0" rIns="0" bIns="0" anchor="t" anchorCtr="0">
                <a:spAutoFit/>
              </a:bodyPr>
              <a:lstStyle/>
              <a:p>
                <a:pPr algn="l"/>
                <a:r>
                  <a:rPr lang="zh-CN" sz="560" b="1" dirty="0">
                    <a:solidFill>
                      <a:srgbClr val="8AA39C"/>
                    </a:solidFill>
                    <a:latin typeface="+mn-lt"/>
                    <a:ea typeface="+mn-ea"/>
                    <a:cs typeface="+mn-cs"/>
                  </a:rPr>
                  <a:t>责任单位​</a:t>
                </a:r>
              </a:p>
            </p:txBody>
          </p:sp>
          <p:sp>
            <p:nvSpPr>
              <p:cNvPr id="126" name="TextBox 126"/>
              <p:cNvSpPr txBox="1"/>
              <p:nvPr/>
            </p:nvSpPr>
            <p:spPr>
              <a:xfrm>
                <a:off x="6129338" y="2777728"/>
                <a:ext cx="804860" cy="111919"/>
              </a:xfrm>
              <a:prstGeom prst="rect">
                <a:avLst/>
              </a:prstGeom>
              <a:noFill/>
              <a:ln>
                <a:noFill/>
              </a:ln>
            </p:spPr>
            <p:txBody>
              <a:bodyPr wrap="none" lIns="0" tIns="0" rIns="0" bIns="0" anchor="t" anchorCtr="0">
                <a:spAutoFit/>
              </a:bodyPr>
              <a:lstStyle/>
              <a:p>
                <a:pPr algn="l"/>
                <a:r>
                  <a:rPr lang="zh-CN" sz="560" dirty="0">
                    <a:solidFill>
                      <a:srgbClr val="4A3D3A"/>
                    </a:solidFill>
                    <a:latin typeface="+mn-lt"/>
                    <a:ea typeface="+mn-ea"/>
                    <a:cs typeface="+mn-cs"/>
                  </a:rPr>
                  <a:t>客户经营团队、各网点​</a:t>
                </a:r>
              </a:p>
            </p:txBody>
          </p:sp>
        </p:grpSp>
      </p:grpSp>
      <p:grpSp>
        <p:nvGrpSpPr>
          <p:cNvPr id="192" name="result-card"/>
          <p:cNvGrpSpPr/>
          <p:nvPr/>
        </p:nvGrpSpPr>
        <p:grpSpPr>
          <a:xfrm>
            <a:off x="7581900" y="666750"/>
            <a:ext cx="4381500" cy="2305050"/>
            <a:chOff x="7581900" y="666750"/>
            <a:chExt cx="4381500" cy="2305050"/>
          </a:xfrm>
        </p:grpSpPr>
        <p:sp>
          <p:nvSpPr>
            <p:cNvPr id="129" name="Rectangle 129"/>
            <p:cNvSpPr/>
            <p:nvPr/>
          </p:nvSpPr>
          <p:spPr>
            <a:xfrm>
              <a:off x="7581900" y="666750"/>
              <a:ext cx="4381500" cy="2305050"/>
            </a:xfrm>
            <a:prstGeom prst="roundRect">
              <a:avLst>
                <a:gd name="adj" fmla="val 4132"/>
              </a:avLst>
            </a:prstGeom>
            <a:solidFill>
              <a:srgbClr val="F5FAF8"/>
            </a:solidFill>
            <a:ln w="9525">
              <a:solidFill>
                <a:srgbClr val="D9E8E2"/>
              </a:solidFill>
            </a:ln>
          </p:spPr>
        </p:sp>
        <p:sp>
          <p:nvSpPr>
            <p:cNvPr id="130" name="Rectangle 130"/>
            <p:cNvSpPr/>
            <p:nvPr/>
          </p:nvSpPr>
          <p:spPr>
            <a:xfrm>
              <a:off x="7581900" y="666750"/>
              <a:ext cx="1905000" cy="228600"/>
            </a:xfrm>
            <a:prstGeom prst="roundRect">
              <a:avLst>
                <a:gd name="adj" fmla="val 16667"/>
              </a:avLst>
            </a:prstGeom>
            <a:solidFill>
              <a:srgbClr val="5B180B"/>
            </a:solidFill>
            <a:ln>
              <a:noFill/>
            </a:ln>
          </p:spPr>
        </p:sp>
        <p:sp>
          <p:nvSpPr>
            <p:cNvPr id="131" name="TextBox 131"/>
            <p:cNvSpPr txBox="1"/>
            <p:nvPr/>
          </p:nvSpPr>
          <p:spPr>
            <a:xfrm>
              <a:off x="7691438" y="735568"/>
              <a:ext cx="1337382"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预期总体成果</a:t>
              </a:r>
              <a:r>
                <a:rPr lang="zh-CN" sz="640" dirty="0">
                  <a:solidFill>
                    <a:srgbClr val="BFDDD6"/>
                  </a:solidFill>
                  <a:latin typeface="+mn-lt"/>
                  <a:ea typeface="+mn-ea"/>
                  <a:cs typeface="+mn-cs"/>
                </a:rPr>
                <a:t>（2026年Q4）</a:t>
              </a:r>
              <a:r>
                <a:rPr lang="zh-CN" sz="860" b="1" dirty="0">
                  <a:solidFill>
                    <a:srgbClr val="FFFFFF"/>
                  </a:solidFill>
                  <a:latin typeface="+mn-lt"/>
                  <a:ea typeface="+mn-ea"/>
                  <a:cs typeface="+mn-cs"/>
                </a:rPr>
                <a:t>​</a:t>
              </a:r>
            </a:p>
          </p:txBody>
        </p:sp>
        <p:grpSp>
          <p:nvGrpSpPr>
            <p:cNvPr id="191" name="result-rows"/>
            <p:cNvGrpSpPr/>
            <p:nvPr/>
          </p:nvGrpSpPr>
          <p:grpSpPr>
            <a:xfrm>
              <a:off x="7677150" y="971550"/>
              <a:ext cx="4191000" cy="1991106"/>
              <a:chOff x="7677150" y="971550"/>
              <a:chExt cx="4191000" cy="1991106"/>
            </a:xfrm>
          </p:grpSpPr>
          <p:sp>
            <p:nvSpPr>
              <p:cNvPr id="132" name="Rectangle 132"/>
              <p:cNvSpPr/>
              <p:nvPr/>
            </p:nvSpPr>
            <p:spPr>
              <a:xfrm>
                <a:off x="7677150" y="971550"/>
                <a:ext cx="4191000" cy="304800"/>
              </a:xfrm>
              <a:prstGeom prst="roundRect">
                <a:avLst>
                  <a:gd name="adj" fmla="val 15625"/>
                </a:avLst>
              </a:prstGeom>
              <a:solidFill>
                <a:srgbClr val="FFFFFF"/>
              </a:solidFill>
              <a:ln w="7620">
                <a:solidFill>
                  <a:srgbClr val="D9E8E2"/>
                </a:solidFill>
              </a:ln>
            </p:spPr>
          </p:sp>
          <p:sp>
            <p:nvSpPr>
              <p:cNvPr id="133" name="Ellipse 133"/>
              <p:cNvSpPr/>
              <p:nvPr/>
            </p:nvSpPr>
            <p:spPr>
              <a:xfrm>
                <a:off x="7753350" y="1009650"/>
                <a:ext cx="228600" cy="228600"/>
              </a:xfrm>
              <a:prstGeom prst="ellipse">
                <a:avLst/>
              </a:prstGeom>
              <a:solidFill>
                <a:srgbClr val="5B180B"/>
              </a:solidFill>
              <a:ln>
                <a:noFill/>
              </a:ln>
            </p:spPr>
          </p:sp>
          <p:grpSp>
            <p:nvGrpSpPr>
              <p:cNvPr id="139" name="Group 139"/>
              <p:cNvGrpSpPr/>
              <p:nvPr/>
            </p:nvGrpSpPr>
            <p:grpSpPr>
              <a:xfrm>
                <a:off x="7803356" y="1058699"/>
                <a:ext cx="128588" cy="129545"/>
                <a:chOff x="7803356" y="1058699"/>
                <a:chExt cx="128588" cy="129545"/>
              </a:xfrm>
            </p:grpSpPr>
            <p:sp>
              <p:nvSpPr>
                <p:cNvPr id="134" name="Freeform 134"/>
                <p:cNvSpPr/>
                <p:nvPr/>
              </p:nvSpPr>
              <p:spPr>
                <a:xfrm>
                  <a:off x="7846219" y="111680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FFFFFF"/>
                  </a:solidFill>
                </a:ln>
              </p:spPr>
            </p:sp>
            <p:sp>
              <p:nvSpPr>
                <p:cNvPr id="135" name="Freeform 135"/>
                <p:cNvSpPr/>
                <p:nvPr/>
              </p:nvSpPr>
              <p:spPr>
                <a:xfrm>
                  <a:off x="7846219" y="113823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FFFFFF"/>
                  </a:solidFill>
                </a:ln>
              </p:spPr>
            </p:sp>
            <p:sp>
              <p:nvSpPr>
                <p:cNvPr id="136" name="Freeform 136"/>
                <p:cNvSpPr/>
                <p:nvPr/>
              </p:nvSpPr>
              <p:spPr>
                <a:xfrm>
                  <a:off x="7803356" y="105869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FFFFFF"/>
                  </a:solidFill>
                </a:ln>
              </p:spPr>
            </p:sp>
            <p:sp>
              <p:nvSpPr>
                <p:cNvPr id="137" name="Freeform 137"/>
                <p:cNvSpPr/>
                <p:nvPr/>
              </p:nvSpPr>
              <p:spPr>
                <a:xfrm>
                  <a:off x="7803356" y="108108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FFFFFF"/>
                  </a:solidFill>
                </a:ln>
              </p:spPr>
            </p:sp>
            <p:sp>
              <p:nvSpPr>
                <p:cNvPr id="138" name="Freeform 138"/>
                <p:cNvSpPr/>
                <p:nvPr/>
              </p:nvSpPr>
              <p:spPr>
                <a:xfrm>
                  <a:off x="7803356" y="111680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FFFFFF"/>
                  </a:solidFill>
                </a:ln>
              </p:spPr>
            </p:sp>
          </p:grpSp>
          <p:sp>
            <p:nvSpPr>
              <p:cNvPr id="140" name="TextBox 140"/>
              <p:cNvSpPr txBox="1"/>
              <p:nvPr/>
            </p:nvSpPr>
            <p:spPr>
              <a:xfrm>
                <a:off x="8072438" y="10770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新增存款​</a:t>
                </a:r>
              </a:p>
            </p:txBody>
          </p:sp>
          <p:sp>
            <p:nvSpPr>
              <p:cNvPr id="141" name="TextBox 141"/>
              <p:cNvSpPr txBox="1"/>
              <p:nvPr/>
            </p:nvSpPr>
            <p:spPr>
              <a:xfrm>
                <a:off x="9225393" y="1043464"/>
                <a:ext cx="782334" cy="249364"/>
              </a:xfrm>
              <a:prstGeom prst="rect">
                <a:avLst/>
              </a:prstGeom>
              <a:noFill/>
              <a:ln>
                <a:noFill/>
              </a:ln>
            </p:spPr>
            <p:txBody>
              <a:bodyPr wrap="none" lIns="0" tIns="0" rIns="0" bIns="0" anchor="t" anchorCtr="0">
                <a:spAutoFit/>
              </a:bodyPr>
              <a:lstStyle/>
              <a:p>
                <a:pPr algn="r"/>
                <a:r>
                  <a:rPr lang="zh-CN" sz="1280" b="1" dirty="0">
                    <a:solidFill>
                      <a:srgbClr val="5B180B"/>
                    </a:solidFill>
                    <a:latin typeface="+mn-lt"/>
                    <a:ea typeface="+mn-ea"/>
                    <a:cs typeface="+mn-cs"/>
                  </a:rPr>
                  <a:t>+1.20亿​</a:t>
                </a:r>
              </a:p>
            </p:txBody>
          </p:sp>
          <p:sp>
            <p:nvSpPr>
              <p:cNvPr id="142" name="TextBox 142"/>
              <p:cNvSpPr txBox="1"/>
              <p:nvPr/>
            </p:nvSpPr>
            <p:spPr>
              <a:xfrm>
                <a:off x="11400625" y="1059180"/>
                <a:ext cx="377038" cy="119062"/>
              </a:xfrm>
              <a:prstGeom prst="rect">
                <a:avLst/>
              </a:prstGeom>
              <a:noFill/>
              <a:ln>
                <a:noFill/>
              </a:ln>
            </p:spPr>
            <p:txBody>
              <a:bodyPr wrap="none" lIns="0" tIns="0" rIns="0" bIns="0" anchor="t" anchorCtr="0">
                <a:spAutoFit/>
              </a:bodyPr>
              <a:lstStyle/>
              <a:p>
                <a:pPr algn="r"/>
                <a:r>
                  <a:rPr lang="zh-CN" sz="600" dirty="0">
                    <a:solidFill>
                      <a:srgbClr val="5F6F6A"/>
                    </a:solidFill>
                    <a:latin typeface="+mn-lt"/>
                    <a:ea typeface="+mn-ea"/>
                    <a:cs typeface="+mn-cs"/>
                  </a:rPr>
                  <a:t>较三季度​</a:t>
                </a:r>
              </a:p>
            </p:txBody>
          </p:sp>
          <p:sp>
            <p:nvSpPr>
              <p:cNvPr id="143" name="TextBox 143"/>
              <p:cNvSpPr txBox="1"/>
              <p:nvPr/>
            </p:nvSpPr>
            <p:spPr>
              <a:xfrm>
                <a:off x="11412741" y="1163955"/>
                <a:ext cx="364922" cy="119062"/>
              </a:xfrm>
              <a:prstGeom prst="rect">
                <a:avLst/>
              </a:prstGeom>
              <a:noFill/>
              <a:ln>
                <a:noFill/>
              </a:ln>
            </p:spPr>
            <p:txBody>
              <a:bodyPr wrap="none" lIns="0" tIns="0" rIns="0" bIns="0" anchor="t" anchorCtr="0">
                <a:spAutoFit/>
              </a:bodyPr>
              <a:lstStyle/>
              <a:p>
                <a:pPr algn="r"/>
                <a:r>
                  <a:rPr lang="zh-CN" sz="600" dirty="0">
                    <a:solidFill>
                      <a:srgbClr val="9E402E"/>
                    </a:solidFill>
                    <a:latin typeface="+mn-lt"/>
                    <a:ea typeface="+mn-ea"/>
                    <a:cs typeface="+mn-cs"/>
                  </a:rPr>
                  <a:t>提升35%​</a:t>
                </a:r>
              </a:p>
            </p:txBody>
          </p:sp>
          <p:sp>
            <p:nvSpPr>
              <p:cNvPr id="144" name="Rectangle 144"/>
              <p:cNvSpPr/>
              <p:nvPr/>
            </p:nvSpPr>
            <p:spPr>
              <a:xfrm>
                <a:off x="7677150" y="1314450"/>
                <a:ext cx="4191000" cy="304800"/>
              </a:xfrm>
              <a:prstGeom prst="roundRect">
                <a:avLst>
                  <a:gd name="adj" fmla="val 15625"/>
                </a:avLst>
              </a:prstGeom>
              <a:solidFill>
                <a:srgbClr val="FFFFFF"/>
              </a:solidFill>
              <a:ln w="7620">
                <a:solidFill>
                  <a:srgbClr val="D9E8E2"/>
                </a:solidFill>
              </a:ln>
            </p:spPr>
          </p:sp>
          <p:sp>
            <p:nvSpPr>
              <p:cNvPr id="145" name="Ellipse 145"/>
              <p:cNvSpPr/>
              <p:nvPr/>
            </p:nvSpPr>
            <p:spPr>
              <a:xfrm>
                <a:off x="7753350" y="1352550"/>
                <a:ext cx="228600" cy="228600"/>
              </a:xfrm>
              <a:prstGeom prst="ellipse">
                <a:avLst/>
              </a:prstGeom>
              <a:solidFill>
                <a:srgbClr val="5B180B"/>
              </a:solidFill>
              <a:ln>
                <a:noFill/>
              </a:ln>
            </p:spPr>
          </p:sp>
          <p:grpSp>
            <p:nvGrpSpPr>
              <p:cNvPr id="148" name="Group 148"/>
              <p:cNvGrpSpPr/>
              <p:nvPr/>
            </p:nvGrpSpPr>
            <p:grpSpPr>
              <a:xfrm>
                <a:off x="7810500" y="1423988"/>
                <a:ext cx="114300" cy="102393"/>
                <a:chOff x="7810500" y="1423988"/>
                <a:chExt cx="114300" cy="102393"/>
              </a:xfrm>
            </p:grpSpPr>
            <p:sp>
              <p:nvSpPr>
                <p:cNvPr id="146" name="Freeform 146"/>
                <p:cNvSpPr/>
                <p:nvPr/>
              </p:nvSpPr>
              <p:spPr>
                <a:xfrm>
                  <a:off x="7810500" y="1516856"/>
                  <a:ext cx="114300" cy="9525"/>
                </a:xfrm>
                <a:custGeom>
                  <a:avLst/>
                  <a:gdLst/>
                  <a:ahLst/>
                  <a:cxnLst/>
                  <a:rect l="l" t="t" r="r" b="b"/>
                  <a:pathLst>
                    <a:path w="114300" h="9525">
                      <a:moveTo>
                        <a:pt x="0" y="0"/>
                      </a:moveTo>
                      <a:lnTo>
                        <a:pt x="114300" y="0"/>
                      </a:lnTo>
                    </a:path>
                  </a:pathLst>
                </a:custGeom>
                <a:noFill/>
                <a:ln w="14288">
                  <a:solidFill>
                    <a:srgbClr val="FFFFFF"/>
                  </a:solidFill>
                </a:ln>
              </p:spPr>
            </p:sp>
            <p:sp>
              <p:nvSpPr>
                <p:cNvPr id="147" name="Freeform 147"/>
                <p:cNvSpPr/>
                <p:nvPr/>
              </p:nvSpPr>
              <p:spPr>
                <a:xfrm>
                  <a:off x="7810500" y="1423988"/>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FFFFFF"/>
                  </a:solidFill>
                </a:ln>
              </p:spPr>
            </p:sp>
          </p:grpSp>
          <p:sp>
            <p:nvSpPr>
              <p:cNvPr id="149" name="TextBox 149"/>
              <p:cNvSpPr txBox="1"/>
              <p:nvPr/>
            </p:nvSpPr>
            <p:spPr>
              <a:xfrm>
                <a:off x="8072438" y="1419939"/>
                <a:ext cx="505396"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新增AUM​</a:t>
                </a:r>
              </a:p>
            </p:txBody>
          </p:sp>
          <p:sp>
            <p:nvSpPr>
              <p:cNvPr id="150" name="TextBox 150"/>
              <p:cNvSpPr txBox="1"/>
              <p:nvPr/>
            </p:nvSpPr>
            <p:spPr>
              <a:xfrm>
                <a:off x="9225393" y="1386364"/>
                <a:ext cx="782334" cy="249364"/>
              </a:xfrm>
              <a:prstGeom prst="rect">
                <a:avLst/>
              </a:prstGeom>
              <a:noFill/>
              <a:ln>
                <a:noFill/>
              </a:ln>
            </p:spPr>
            <p:txBody>
              <a:bodyPr wrap="none" lIns="0" tIns="0" rIns="0" bIns="0" anchor="t" anchorCtr="0">
                <a:spAutoFit/>
              </a:bodyPr>
              <a:lstStyle/>
              <a:p>
                <a:pPr algn="r"/>
                <a:r>
                  <a:rPr lang="zh-CN" sz="1280" b="1" dirty="0">
                    <a:solidFill>
                      <a:srgbClr val="5B180B"/>
                    </a:solidFill>
                    <a:latin typeface="+mn-lt"/>
                    <a:ea typeface="+mn-ea"/>
                    <a:cs typeface="+mn-cs"/>
                  </a:rPr>
                  <a:t>+1.65亿​</a:t>
                </a:r>
              </a:p>
            </p:txBody>
          </p:sp>
          <p:sp>
            <p:nvSpPr>
              <p:cNvPr id="151" name="TextBox 151"/>
              <p:cNvSpPr txBox="1"/>
              <p:nvPr/>
            </p:nvSpPr>
            <p:spPr>
              <a:xfrm>
                <a:off x="11400625" y="1402080"/>
                <a:ext cx="377038" cy="119062"/>
              </a:xfrm>
              <a:prstGeom prst="rect">
                <a:avLst/>
              </a:prstGeom>
              <a:noFill/>
              <a:ln>
                <a:noFill/>
              </a:ln>
            </p:spPr>
            <p:txBody>
              <a:bodyPr wrap="none" lIns="0" tIns="0" rIns="0" bIns="0" anchor="t" anchorCtr="0">
                <a:spAutoFit/>
              </a:bodyPr>
              <a:lstStyle/>
              <a:p>
                <a:pPr algn="r"/>
                <a:r>
                  <a:rPr lang="zh-CN" sz="600" dirty="0">
                    <a:solidFill>
                      <a:srgbClr val="5F6F6A"/>
                    </a:solidFill>
                    <a:latin typeface="+mn-lt"/>
                    <a:ea typeface="+mn-ea"/>
                    <a:cs typeface="+mn-cs"/>
                  </a:rPr>
                  <a:t>较三季度​</a:t>
                </a:r>
              </a:p>
            </p:txBody>
          </p:sp>
          <p:sp>
            <p:nvSpPr>
              <p:cNvPr id="152" name="TextBox 152"/>
              <p:cNvSpPr txBox="1"/>
              <p:nvPr/>
            </p:nvSpPr>
            <p:spPr>
              <a:xfrm>
                <a:off x="11412741" y="1506855"/>
                <a:ext cx="364922" cy="119062"/>
              </a:xfrm>
              <a:prstGeom prst="rect">
                <a:avLst/>
              </a:prstGeom>
              <a:noFill/>
              <a:ln>
                <a:noFill/>
              </a:ln>
            </p:spPr>
            <p:txBody>
              <a:bodyPr wrap="none" lIns="0" tIns="0" rIns="0" bIns="0" anchor="t" anchorCtr="0">
                <a:spAutoFit/>
              </a:bodyPr>
              <a:lstStyle/>
              <a:p>
                <a:pPr algn="r"/>
                <a:r>
                  <a:rPr lang="zh-CN" sz="600" dirty="0">
                    <a:solidFill>
                      <a:srgbClr val="9E402E"/>
                    </a:solidFill>
                    <a:latin typeface="+mn-lt"/>
                    <a:ea typeface="+mn-ea"/>
                    <a:cs typeface="+mn-cs"/>
                  </a:rPr>
                  <a:t>提升40%​</a:t>
                </a:r>
              </a:p>
            </p:txBody>
          </p:sp>
          <p:sp>
            <p:nvSpPr>
              <p:cNvPr id="153" name="Rectangle 153"/>
              <p:cNvSpPr/>
              <p:nvPr/>
            </p:nvSpPr>
            <p:spPr>
              <a:xfrm>
                <a:off x="7677150" y="1657350"/>
                <a:ext cx="4191000" cy="304800"/>
              </a:xfrm>
              <a:prstGeom prst="roundRect">
                <a:avLst>
                  <a:gd name="adj" fmla="val 15625"/>
                </a:avLst>
              </a:prstGeom>
              <a:solidFill>
                <a:srgbClr val="FFFFFF"/>
              </a:solidFill>
              <a:ln w="7620">
                <a:solidFill>
                  <a:srgbClr val="D9E8E2"/>
                </a:solidFill>
              </a:ln>
            </p:spPr>
          </p:sp>
          <p:sp>
            <p:nvSpPr>
              <p:cNvPr id="154" name="Ellipse 154"/>
              <p:cNvSpPr/>
              <p:nvPr/>
            </p:nvSpPr>
            <p:spPr>
              <a:xfrm>
                <a:off x="7753350" y="1695450"/>
                <a:ext cx="228600" cy="228600"/>
              </a:xfrm>
              <a:prstGeom prst="ellipse">
                <a:avLst/>
              </a:prstGeom>
              <a:solidFill>
                <a:srgbClr val="5B180B"/>
              </a:solidFill>
              <a:ln>
                <a:noFill/>
              </a:ln>
            </p:spPr>
          </p:sp>
          <p:grpSp>
            <p:nvGrpSpPr>
              <p:cNvPr id="157" name="Group 157"/>
              <p:cNvGrpSpPr/>
              <p:nvPr/>
            </p:nvGrpSpPr>
            <p:grpSpPr>
              <a:xfrm>
                <a:off x="7810500" y="1752600"/>
                <a:ext cx="114300" cy="114300"/>
                <a:chOff x="7810500" y="1752600"/>
                <a:chExt cx="114300" cy="114300"/>
              </a:xfrm>
            </p:grpSpPr>
            <p:sp>
              <p:nvSpPr>
                <p:cNvPr id="155" name="Freeform 155"/>
                <p:cNvSpPr/>
                <p:nvPr/>
              </p:nvSpPr>
              <p:spPr>
                <a:xfrm>
                  <a:off x="7810500" y="1752600"/>
                  <a:ext cx="107156" cy="114300"/>
                </a:xfrm>
                <a:custGeom>
                  <a:avLst/>
                  <a:gdLst/>
                  <a:ahLst/>
                  <a:cxnLst/>
                  <a:rect l="l" t="t" r="r" b="b"/>
                  <a:pathLst>
                    <a:path w="107156" h="114300">
                      <a:moveTo>
                        <a:pt x="92869" y="28575"/>
                      </a:moveTo>
                      <a:lnTo>
                        <a:pt x="92869" y="7144"/>
                      </a:lnTo>
                      <a:cubicBezTo>
                        <a:pt x="92869" y="3198"/>
                        <a:pt x="89670" y="0"/>
                        <a:pt x="85725" y="0"/>
                      </a:cubicBezTo>
                      <a:lnTo>
                        <a:pt x="14288" y="0"/>
                      </a:lnTo>
                      <a:cubicBezTo>
                        <a:pt x="6397" y="0"/>
                        <a:pt x="0" y="6397"/>
                        <a:pt x="0" y="14288"/>
                      </a:cubicBezTo>
                      <a:cubicBezTo>
                        <a:pt x="0" y="22178"/>
                        <a:pt x="6397" y="28575"/>
                        <a:pt x="14288" y="28575"/>
                      </a:cubicBezTo>
                      <a:lnTo>
                        <a:pt x="100012" y="28575"/>
                      </a:lnTo>
                      <a:cubicBezTo>
                        <a:pt x="103958" y="28575"/>
                        <a:pt x="107156" y="31773"/>
                        <a:pt x="107156" y="35719"/>
                      </a:cubicBezTo>
                      <a:lnTo>
                        <a:pt x="107156" y="57150"/>
                      </a:lnTo>
                      <a:moveTo>
                        <a:pt x="107156" y="85725"/>
                      </a:moveTo>
                      <a:lnTo>
                        <a:pt x="107156" y="107156"/>
                      </a:lnTo>
                      <a:cubicBezTo>
                        <a:pt x="107156" y="111102"/>
                        <a:pt x="103958" y="114300"/>
                        <a:pt x="100012" y="114300"/>
                      </a:cubicBezTo>
                      <a:lnTo>
                        <a:pt x="14288" y="114300"/>
                      </a:lnTo>
                      <a:cubicBezTo>
                        <a:pt x="6397" y="114300"/>
                        <a:pt x="0" y="107903"/>
                        <a:pt x="0" y="100012"/>
                      </a:cubicBezTo>
                      <a:lnTo>
                        <a:pt x="0" y="14288"/>
                      </a:lnTo>
                    </a:path>
                  </a:pathLst>
                </a:custGeom>
                <a:noFill/>
                <a:ln w="14288">
                  <a:solidFill>
                    <a:srgbClr val="FFFFFF"/>
                  </a:solidFill>
                </a:ln>
              </p:spPr>
            </p:sp>
            <p:sp>
              <p:nvSpPr>
                <p:cNvPr id="156" name="Freeform 156"/>
                <p:cNvSpPr/>
                <p:nvPr/>
              </p:nvSpPr>
              <p:spPr>
                <a:xfrm>
                  <a:off x="7881938" y="1809750"/>
                  <a:ext cx="42862" cy="28575"/>
                </a:xfrm>
                <a:custGeom>
                  <a:avLst/>
                  <a:gdLst/>
                  <a:ahLst/>
                  <a:cxnLst/>
                  <a:rect l="l" t="t" r="r" b="b"/>
                  <a:pathLst>
                    <a:path w="42862" h="28575">
                      <a:moveTo>
                        <a:pt x="42862" y="0"/>
                      </a:moveTo>
                      <a:lnTo>
                        <a:pt x="42862" y="28575"/>
                      </a:lnTo>
                      <a:lnTo>
                        <a:pt x="14288" y="28575"/>
                      </a:lnTo>
                      <a:cubicBezTo>
                        <a:pt x="6397" y="28575"/>
                        <a:pt x="0" y="22178"/>
                        <a:pt x="0" y="14288"/>
                      </a:cubicBezTo>
                      <a:cubicBezTo>
                        <a:pt x="0" y="6397"/>
                        <a:pt x="6397" y="0"/>
                        <a:pt x="14288" y="0"/>
                      </a:cubicBezTo>
                      <a:lnTo>
                        <a:pt x="42862" y="0"/>
                      </a:lnTo>
                    </a:path>
                  </a:pathLst>
                </a:custGeom>
                <a:noFill/>
                <a:ln w="14288">
                  <a:solidFill>
                    <a:srgbClr val="FFFFFF"/>
                  </a:solidFill>
                </a:ln>
              </p:spPr>
            </p:sp>
          </p:grpSp>
          <p:sp>
            <p:nvSpPr>
              <p:cNvPr id="158" name="TextBox 158"/>
              <p:cNvSpPr txBox="1"/>
              <p:nvPr/>
            </p:nvSpPr>
            <p:spPr>
              <a:xfrm>
                <a:off x="8072438" y="17628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新增中收​</a:t>
                </a:r>
              </a:p>
            </p:txBody>
          </p:sp>
          <p:sp>
            <p:nvSpPr>
              <p:cNvPr id="159" name="TextBox 159"/>
              <p:cNvSpPr txBox="1"/>
              <p:nvPr/>
            </p:nvSpPr>
            <p:spPr>
              <a:xfrm>
                <a:off x="9424415" y="1729264"/>
                <a:ext cx="583312" cy="249364"/>
              </a:xfrm>
              <a:prstGeom prst="rect">
                <a:avLst/>
              </a:prstGeom>
              <a:noFill/>
              <a:ln>
                <a:noFill/>
              </a:ln>
            </p:spPr>
            <p:txBody>
              <a:bodyPr wrap="none" lIns="0" tIns="0" rIns="0" bIns="0" anchor="t" anchorCtr="0">
                <a:spAutoFit/>
              </a:bodyPr>
              <a:lstStyle/>
              <a:p>
                <a:pPr algn="r"/>
                <a:r>
                  <a:rPr lang="zh-CN" sz="1280" b="1" dirty="0">
                    <a:solidFill>
                      <a:srgbClr val="5B180B"/>
                    </a:solidFill>
                    <a:latin typeface="+mn-lt"/>
                    <a:ea typeface="+mn-ea"/>
                    <a:cs typeface="+mn-cs"/>
                  </a:rPr>
                  <a:t>420万​</a:t>
                </a:r>
              </a:p>
            </p:txBody>
          </p:sp>
          <p:sp>
            <p:nvSpPr>
              <p:cNvPr id="160" name="TextBox 160"/>
              <p:cNvSpPr txBox="1"/>
              <p:nvPr/>
            </p:nvSpPr>
            <p:spPr>
              <a:xfrm>
                <a:off x="11400625" y="1744980"/>
                <a:ext cx="377038" cy="119062"/>
              </a:xfrm>
              <a:prstGeom prst="rect">
                <a:avLst/>
              </a:prstGeom>
              <a:noFill/>
              <a:ln>
                <a:noFill/>
              </a:ln>
            </p:spPr>
            <p:txBody>
              <a:bodyPr wrap="none" lIns="0" tIns="0" rIns="0" bIns="0" anchor="t" anchorCtr="0">
                <a:spAutoFit/>
              </a:bodyPr>
              <a:lstStyle/>
              <a:p>
                <a:pPr algn="r"/>
                <a:r>
                  <a:rPr lang="zh-CN" sz="600" dirty="0">
                    <a:solidFill>
                      <a:srgbClr val="5F6F6A"/>
                    </a:solidFill>
                    <a:latin typeface="+mn-lt"/>
                    <a:ea typeface="+mn-ea"/>
                    <a:cs typeface="+mn-cs"/>
                  </a:rPr>
                  <a:t>较三季度​</a:t>
                </a:r>
              </a:p>
            </p:txBody>
          </p:sp>
          <p:sp>
            <p:nvSpPr>
              <p:cNvPr id="161" name="TextBox 161"/>
              <p:cNvSpPr txBox="1"/>
              <p:nvPr/>
            </p:nvSpPr>
            <p:spPr>
              <a:xfrm>
                <a:off x="11412741" y="1849755"/>
                <a:ext cx="364922" cy="119062"/>
              </a:xfrm>
              <a:prstGeom prst="rect">
                <a:avLst/>
              </a:prstGeom>
              <a:noFill/>
              <a:ln>
                <a:noFill/>
              </a:ln>
            </p:spPr>
            <p:txBody>
              <a:bodyPr wrap="none" lIns="0" tIns="0" rIns="0" bIns="0" anchor="t" anchorCtr="0">
                <a:spAutoFit/>
              </a:bodyPr>
              <a:lstStyle/>
              <a:p>
                <a:pPr algn="r"/>
                <a:r>
                  <a:rPr lang="zh-CN" sz="600" dirty="0">
                    <a:solidFill>
                      <a:srgbClr val="9E402E"/>
                    </a:solidFill>
                    <a:latin typeface="+mn-lt"/>
                    <a:ea typeface="+mn-ea"/>
                    <a:cs typeface="+mn-cs"/>
                  </a:rPr>
                  <a:t>提升50%​</a:t>
                </a:r>
              </a:p>
            </p:txBody>
          </p:sp>
          <p:sp>
            <p:nvSpPr>
              <p:cNvPr id="162" name="Rectangle 162"/>
              <p:cNvSpPr/>
              <p:nvPr/>
            </p:nvSpPr>
            <p:spPr>
              <a:xfrm>
                <a:off x="7677150" y="2000250"/>
                <a:ext cx="4191000" cy="304800"/>
              </a:xfrm>
              <a:prstGeom prst="roundRect">
                <a:avLst>
                  <a:gd name="adj" fmla="val 15625"/>
                </a:avLst>
              </a:prstGeom>
              <a:solidFill>
                <a:srgbClr val="FFFFFF"/>
              </a:solidFill>
              <a:ln w="7620">
                <a:solidFill>
                  <a:srgbClr val="D9E8E2"/>
                </a:solidFill>
              </a:ln>
            </p:spPr>
          </p:sp>
          <p:sp>
            <p:nvSpPr>
              <p:cNvPr id="163" name="Ellipse 163"/>
              <p:cNvSpPr/>
              <p:nvPr/>
            </p:nvSpPr>
            <p:spPr>
              <a:xfrm>
                <a:off x="7753350" y="2038350"/>
                <a:ext cx="228600" cy="228600"/>
              </a:xfrm>
              <a:prstGeom prst="ellipse">
                <a:avLst/>
              </a:prstGeom>
              <a:solidFill>
                <a:srgbClr val="5B180B"/>
              </a:solidFill>
              <a:ln>
                <a:noFill/>
              </a:ln>
            </p:spPr>
          </p:sp>
          <p:grpSp>
            <p:nvGrpSpPr>
              <p:cNvPr id="167" name="Group 167"/>
              <p:cNvGrpSpPr/>
              <p:nvPr/>
            </p:nvGrpSpPr>
            <p:grpSpPr>
              <a:xfrm>
                <a:off x="7803356" y="2102644"/>
                <a:ext cx="128587" cy="100013"/>
                <a:chOff x="7803356" y="2102644"/>
                <a:chExt cx="128587" cy="100013"/>
              </a:xfrm>
            </p:grpSpPr>
            <p:sp>
              <p:nvSpPr>
                <p:cNvPr id="164" name="Freeform 164"/>
                <p:cNvSpPr/>
                <p:nvPr/>
              </p:nvSpPr>
              <p:spPr>
                <a:xfrm>
                  <a:off x="7803356" y="2102644"/>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FFFFFF"/>
                  </a:solidFill>
                </a:ln>
              </p:spPr>
            </p:sp>
            <p:sp>
              <p:nvSpPr>
                <p:cNvPr id="165" name="Freeform 165"/>
                <p:cNvSpPr/>
                <p:nvPr/>
              </p:nvSpPr>
              <p:spPr>
                <a:xfrm>
                  <a:off x="7831931" y="2131219"/>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FFFFFF"/>
                  </a:solidFill>
                </a:ln>
              </p:spPr>
            </p:sp>
            <p:sp>
              <p:nvSpPr>
                <p:cNvPr id="166" name="Freeform 166"/>
                <p:cNvSpPr/>
                <p:nvPr/>
              </p:nvSpPr>
              <p:spPr>
                <a:xfrm>
                  <a:off x="7867650" y="215265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grpSp>
          <p:sp>
            <p:nvSpPr>
              <p:cNvPr id="168" name="TextBox 168"/>
              <p:cNvSpPr txBox="1"/>
              <p:nvPr/>
            </p:nvSpPr>
            <p:spPr>
              <a:xfrm>
                <a:off x="8072438" y="2105739"/>
                <a:ext cx="60269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新增消费贷​</a:t>
                </a:r>
              </a:p>
            </p:txBody>
          </p:sp>
          <p:sp>
            <p:nvSpPr>
              <p:cNvPr id="169" name="TextBox 169"/>
              <p:cNvSpPr txBox="1"/>
              <p:nvPr/>
            </p:nvSpPr>
            <p:spPr>
              <a:xfrm>
                <a:off x="9225393" y="2072164"/>
                <a:ext cx="782334" cy="249364"/>
              </a:xfrm>
              <a:prstGeom prst="rect">
                <a:avLst/>
              </a:prstGeom>
              <a:noFill/>
              <a:ln>
                <a:noFill/>
              </a:ln>
            </p:spPr>
            <p:txBody>
              <a:bodyPr wrap="none" lIns="0" tIns="0" rIns="0" bIns="0" anchor="t" anchorCtr="0">
                <a:spAutoFit/>
              </a:bodyPr>
              <a:lstStyle/>
              <a:p>
                <a:pPr algn="r"/>
                <a:r>
                  <a:rPr lang="zh-CN" sz="1280" b="1" dirty="0">
                    <a:solidFill>
                      <a:srgbClr val="5B180B"/>
                    </a:solidFill>
                    <a:latin typeface="+mn-lt"/>
                    <a:ea typeface="+mn-ea"/>
                    <a:cs typeface="+mn-cs"/>
                  </a:rPr>
                  <a:t>3,800万​</a:t>
                </a:r>
              </a:p>
            </p:txBody>
          </p:sp>
          <p:sp>
            <p:nvSpPr>
              <p:cNvPr id="170" name="TextBox 170"/>
              <p:cNvSpPr txBox="1"/>
              <p:nvPr/>
            </p:nvSpPr>
            <p:spPr>
              <a:xfrm>
                <a:off x="11400625" y="2087880"/>
                <a:ext cx="377038" cy="119062"/>
              </a:xfrm>
              <a:prstGeom prst="rect">
                <a:avLst/>
              </a:prstGeom>
              <a:noFill/>
              <a:ln>
                <a:noFill/>
              </a:ln>
            </p:spPr>
            <p:txBody>
              <a:bodyPr wrap="none" lIns="0" tIns="0" rIns="0" bIns="0" anchor="t" anchorCtr="0">
                <a:spAutoFit/>
              </a:bodyPr>
              <a:lstStyle/>
              <a:p>
                <a:pPr algn="r"/>
                <a:r>
                  <a:rPr lang="zh-CN" sz="600" dirty="0">
                    <a:solidFill>
                      <a:srgbClr val="5F6F6A"/>
                    </a:solidFill>
                    <a:latin typeface="+mn-lt"/>
                    <a:ea typeface="+mn-ea"/>
                    <a:cs typeface="+mn-cs"/>
                  </a:rPr>
                  <a:t>较三季度​</a:t>
                </a:r>
              </a:p>
            </p:txBody>
          </p:sp>
          <p:sp>
            <p:nvSpPr>
              <p:cNvPr id="171" name="TextBox 171"/>
              <p:cNvSpPr txBox="1"/>
              <p:nvPr/>
            </p:nvSpPr>
            <p:spPr>
              <a:xfrm>
                <a:off x="11412741" y="2192655"/>
                <a:ext cx="364922" cy="119062"/>
              </a:xfrm>
              <a:prstGeom prst="rect">
                <a:avLst/>
              </a:prstGeom>
              <a:noFill/>
              <a:ln>
                <a:noFill/>
              </a:ln>
            </p:spPr>
            <p:txBody>
              <a:bodyPr wrap="none" lIns="0" tIns="0" rIns="0" bIns="0" anchor="t" anchorCtr="0">
                <a:spAutoFit/>
              </a:bodyPr>
              <a:lstStyle/>
              <a:p>
                <a:pPr algn="r"/>
                <a:r>
                  <a:rPr lang="zh-CN" sz="600" dirty="0">
                    <a:solidFill>
                      <a:srgbClr val="9E402E"/>
                    </a:solidFill>
                    <a:latin typeface="+mn-lt"/>
                    <a:ea typeface="+mn-ea"/>
                    <a:cs typeface="+mn-cs"/>
                  </a:rPr>
                  <a:t>提升60%​</a:t>
                </a:r>
              </a:p>
            </p:txBody>
          </p:sp>
          <p:sp>
            <p:nvSpPr>
              <p:cNvPr id="172" name="Rectangle 172"/>
              <p:cNvSpPr/>
              <p:nvPr/>
            </p:nvSpPr>
            <p:spPr>
              <a:xfrm>
                <a:off x="7677150" y="2343150"/>
                <a:ext cx="4191000" cy="304800"/>
              </a:xfrm>
              <a:prstGeom prst="roundRect">
                <a:avLst>
                  <a:gd name="adj" fmla="val 15625"/>
                </a:avLst>
              </a:prstGeom>
              <a:solidFill>
                <a:srgbClr val="FFFFFF"/>
              </a:solidFill>
              <a:ln w="7620">
                <a:solidFill>
                  <a:srgbClr val="D9E8E2"/>
                </a:solidFill>
              </a:ln>
            </p:spPr>
          </p:sp>
          <p:sp>
            <p:nvSpPr>
              <p:cNvPr id="173" name="Ellipse 173"/>
              <p:cNvSpPr/>
              <p:nvPr/>
            </p:nvSpPr>
            <p:spPr>
              <a:xfrm>
                <a:off x="7753350" y="2381250"/>
                <a:ext cx="228600" cy="228600"/>
              </a:xfrm>
              <a:prstGeom prst="ellipse">
                <a:avLst/>
              </a:prstGeom>
              <a:solidFill>
                <a:srgbClr val="5B180B"/>
              </a:solidFill>
              <a:ln>
                <a:noFill/>
              </a:ln>
            </p:spPr>
          </p:sp>
          <p:grpSp>
            <p:nvGrpSpPr>
              <p:cNvPr id="178" name="Group 178"/>
              <p:cNvGrpSpPr/>
              <p:nvPr/>
            </p:nvGrpSpPr>
            <p:grpSpPr>
              <a:xfrm>
                <a:off x="7803356" y="2431256"/>
                <a:ext cx="128587" cy="128588"/>
                <a:chOff x="7803356" y="2431256"/>
                <a:chExt cx="128587" cy="128588"/>
              </a:xfrm>
            </p:grpSpPr>
            <p:sp>
              <p:nvSpPr>
                <p:cNvPr id="174" name="Freeform 174"/>
                <p:cNvSpPr/>
                <p:nvPr/>
              </p:nvSpPr>
              <p:spPr>
                <a:xfrm>
                  <a:off x="7817644" y="24312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75" name="Freeform 175"/>
                <p:cNvSpPr/>
                <p:nvPr/>
              </p:nvSpPr>
              <p:spPr>
                <a:xfrm>
                  <a:off x="7803356" y="251698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176" name="Freeform 176"/>
                <p:cNvSpPr/>
                <p:nvPr/>
              </p:nvSpPr>
              <p:spPr>
                <a:xfrm>
                  <a:off x="7896225" y="243218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177" name="Freeform 177"/>
                <p:cNvSpPr/>
                <p:nvPr/>
              </p:nvSpPr>
              <p:spPr>
                <a:xfrm>
                  <a:off x="7910512" y="251805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179" name="TextBox 179"/>
              <p:cNvSpPr txBox="1"/>
              <p:nvPr/>
            </p:nvSpPr>
            <p:spPr>
              <a:xfrm>
                <a:off x="8072438" y="2448639"/>
                <a:ext cx="496341" cy="154781"/>
              </a:xfrm>
              <a:prstGeom prst="rect">
                <a:avLst/>
              </a:prstGeom>
              <a:noFill/>
              <a:ln>
                <a:noFill/>
              </a:ln>
            </p:spPr>
            <p:txBody>
              <a:bodyPr wrap="none" lIns="0" tIns="0" rIns="0" bIns="0" anchor="t" anchorCtr="0">
                <a:spAutoFit/>
              </a:bodyPr>
              <a:lstStyle/>
              <a:p>
                <a:pPr algn="l"/>
                <a:r>
                  <a:rPr lang="zh-CN" sz="790" b="1" dirty="0">
                    <a:solidFill>
                      <a:srgbClr val="312624"/>
                    </a:solidFill>
                    <a:latin typeface="+mn-lt"/>
                    <a:ea typeface="+mn-ea"/>
                    <a:cs typeface="+mn-cs"/>
                  </a:rPr>
                  <a:t>新增客户​</a:t>
                </a:r>
              </a:p>
            </p:txBody>
          </p:sp>
          <p:sp>
            <p:nvSpPr>
              <p:cNvPr id="180" name="TextBox 180"/>
              <p:cNvSpPr txBox="1"/>
              <p:nvPr/>
            </p:nvSpPr>
            <p:spPr>
              <a:xfrm>
                <a:off x="9225393" y="2415064"/>
                <a:ext cx="782334" cy="249364"/>
              </a:xfrm>
              <a:prstGeom prst="rect">
                <a:avLst/>
              </a:prstGeom>
              <a:noFill/>
              <a:ln>
                <a:noFill/>
              </a:ln>
            </p:spPr>
            <p:txBody>
              <a:bodyPr wrap="none" lIns="0" tIns="0" rIns="0" bIns="0" anchor="t" anchorCtr="0">
                <a:spAutoFit/>
              </a:bodyPr>
              <a:lstStyle/>
              <a:p>
                <a:pPr algn="r"/>
                <a:r>
                  <a:rPr lang="zh-CN" sz="1280" b="1" dirty="0">
                    <a:solidFill>
                      <a:srgbClr val="5B180B"/>
                    </a:solidFill>
                    <a:latin typeface="+mn-lt"/>
                    <a:ea typeface="+mn-ea"/>
                    <a:cs typeface="+mn-cs"/>
                  </a:rPr>
                  <a:t>1,260户​</a:t>
                </a:r>
              </a:p>
            </p:txBody>
          </p:sp>
          <p:sp>
            <p:nvSpPr>
              <p:cNvPr id="181" name="TextBox 181"/>
              <p:cNvSpPr txBox="1"/>
              <p:nvPr/>
            </p:nvSpPr>
            <p:spPr>
              <a:xfrm>
                <a:off x="11400625" y="2430780"/>
                <a:ext cx="377038" cy="119062"/>
              </a:xfrm>
              <a:prstGeom prst="rect">
                <a:avLst/>
              </a:prstGeom>
              <a:noFill/>
              <a:ln>
                <a:noFill/>
              </a:ln>
            </p:spPr>
            <p:txBody>
              <a:bodyPr wrap="none" lIns="0" tIns="0" rIns="0" bIns="0" anchor="t" anchorCtr="0">
                <a:spAutoFit/>
              </a:bodyPr>
              <a:lstStyle/>
              <a:p>
                <a:pPr algn="r"/>
                <a:r>
                  <a:rPr lang="zh-CN" sz="600" dirty="0">
                    <a:solidFill>
                      <a:srgbClr val="5F6F6A"/>
                    </a:solidFill>
                    <a:latin typeface="+mn-lt"/>
                    <a:ea typeface="+mn-ea"/>
                    <a:cs typeface="+mn-cs"/>
                  </a:rPr>
                  <a:t>较三季度​</a:t>
                </a:r>
              </a:p>
            </p:txBody>
          </p:sp>
          <p:sp>
            <p:nvSpPr>
              <p:cNvPr id="182" name="TextBox 182"/>
              <p:cNvSpPr txBox="1"/>
              <p:nvPr/>
            </p:nvSpPr>
            <p:spPr>
              <a:xfrm>
                <a:off x="11412741" y="2535555"/>
                <a:ext cx="364922" cy="119062"/>
              </a:xfrm>
              <a:prstGeom prst="rect">
                <a:avLst/>
              </a:prstGeom>
              <a:noFill/>
              <a:ln>
                <a:noFill/>
              </a:ln>
            </p:spPr>
            <p:txBody>
              <a:bodyPr wrap="none" lIns="0" tIns="0" rIns="0" bIns="0" anchor="t" anchorCtr="0">
                <a:spAutoFit/>
              </a:bodyPr>
              <a:lstStyle/>
              <a:p>
                <a:pPr algn="r"/>
                <a:r>
                  <a:rPr lang="zh-CN" sz="600" dirty="0">
                    <a:solidFill>
                      <a:srgbClr val="9E402E"/>
                    </a:solidFill>
                    <a:latin typeface="+mn-lt"/>
                    <a:ea typeface="+mn-ea"/>
                    <a:cs typeface="+mn-cs"/>
                  </a:rPr>
                  <a:t>提升45%​</a:t>
                </a:r>
              </a:p>
            </p:txBody>
          </p:sp>
          <p:sp>
            <p:nvSpPr>
              <p:cNvPr id="183" name="Rectangle 183"/>
              <p:cNvSpPr/>
              <p:nvPr/>
            </p:nvSpPr>
            <p:spPr>
              <a:xfrm>
                <a:off x="7677150" y="2686050"/>
                <a:ext cx="4191000" cy="228600"/>
              </a:xfrm>
              <a:prstGeom prst="roundRect">
                <a:avLst>
                  <a:gd name="adj" fmla="val 20833"/>
                </a:avLst>
              </a:prstGeom>
              <a:solidFill>
                <a:srgbClr val="E9F4F0"/>
              </a:solidFill>
              <a:ln>
                <a:noFill/>
              </a:ln>
            </p:spPr>
          </p:sp>
          <p:sp>
            <p:nvSpPr>
              <p:cNvPr id="184" name="Ellipse 184"/>
              <p:cNvSpPr/>
              <p:nvPr/>
            </p:nvSpPr>
            <p:spPr>
              <a:xfrm>
                <a:off x="7781925" y="2714625"/>
                <a:ext cx="171450" cy="171450"/>
              </a:xfrm>
              <a:prstGeom prst="ellipse">
                <a:avLst/>
              </a:prstGeom>
              <a:solidFill>
                <a:srgbClr val="5B180B"/>
              </a:solidFill>
              <a:ln>
                <a:noFill/>
              </a:ln>
            </p:spPr>
          </p:sp>
          <p:grpSp>
            <p:nvGrpSpPr>
              <p:cNvPr id="187" name="Group 187"/>
              <p:cNvGrpSpPr/>
              <p:nvPr/>
            </p:nvGrpSpPr>
            <p:grpSpPr>
              <a:xfrm>
                <a:off x="7810145" y="2750344"/>
                <a:ext cx="108504" cy="100012"/>
                <a:chOff x="7810145" y="2750344"/>
                <a:chExt cx="108504" cy="100012"/>
              </a:xfrm>
            </p:grpSpPr>
            <p:sp>
              <p:nvSpPr>
                <p:cNvPr id="185" name="Freeform 185"/>
                <p:cNvSpPr/>
                <p:nvPr/>
              </p:nvSpPr>
              <p:spPr>
                <a:xfrm>
                  <a:off x="7810145" y="2750344"/>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FFFFFF"/>
                  </a:solidFill>
                </a:ln>
              </p:spPr>
            </p:sp>
            <p:sp>
              <p:nvSpPr>
                <p:cNvPr id="186" name="Freeform 186"/>
                <p:cNvSpPr/>
                <p:nvPr/>
              </p:nvSpPr>
              <p:spPr>
                <a:xfrm>
                  <a:off x="7884319" y="2828131"/>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188" name="TextBox 188"/>
              <p:cNvSpPr txBox="1"/>
              <p:nvPr/>
            </p:nvSpPr>
            <p:spPr>
              <a:xfrm>
                <a:off x="8072438" y="2757488"/>
                <a:ext cx="673622" cy="147638"/>
              </a:xfrm>
              <a:prstGeom prst="rect">
                <a:avLst/>
              </a:prstGeom>
              <a:noFill/>
              <a:ln>
                <a:noFill/>
              </a:ln>
            </p:spPr>
            <p:txBody>
              <a:bodyPr wrap="none" lIns="0" tIns="0" rIns="0" bIns="0" anchor="t" anchorCtr="0">
                <a:spAutoFit/>
              </a:bodyPr>
              <a:lstStyle/>
              <a:p>
                <a:pPr algn="l"/>
                <a:r>
                  <a:rPr lang="zh-CN" sz="750" b="1" dirty="0">
                    <a:solidFill>
                      <a:srgbClr val="312624"/>
                    </a:solidFill>
                    <a:latin typeface="+mn-lt"/>
                    <a:ea typeface="+mn-ea"/>
                    <a:cs typeface="+mn-cs"/>
                  </a:rPr>
                  <a:t>重大合规事件​</a:t>
                </a:r>
              </a:p>
            </p:txBody>
          </p:sp>
          <p:sp>
            <p:nvSpPr>
              <p:cNvPr id="189" name="TextBox 189"/>
              <p:cNvSpPr txBox="1"/>
              <p:nvPr/>
            </p:nvSpPr>
            <p:spPr>
              <a:xfrm>
                <a:off x="9808571" y="2727960"/>
                <a:ext cx="198775" cy="234696"/>
              </a:xfrm>
              <a:prstGeom prst="rect">
                <a:avLst/>
              </a:prstGeom>
              <a:noFill/>
              <a:ln>
                <a:noFill/>
              </a:ln>
            </p:spPr>
            <p:txBody>
              <a:bodyPr wrap="none" lIns="0" tIns="0" rIns="0" bIns="0" anchor="t" anchorCtr="0">
                <a:spAutoFit/>
              </a:bodyPr>
              <a:lstStyle/>
              <a:p>
                <a:pPr algn="r"/>
                <a:r>
                  <a:rPr lang="zh-CN" sz="1200" b="1" dirty="0">
                    <a:solidFill>
                      <a:srgbClr val="5B180B"/>
                    </a:solidFill>
                    <a:latin typeface="+mn-lt"/>
                    <a:ea typeface="+mn-ea"/>
                    <a:cs typeface="+mn-cs"/>
                  </a:rPr>
                  <a:t>0​</a:t>
                </a:r>
              </a:p>
            </p:txBody>
          </p:sp>
          <p:sp>
            <p:nvSpPr>
              <p:cNvPr id="190" name="TextBox 190"/>
              <p:cNvSpPr txBox="1"/>
              <p:nvPr/>
            </p:nvSpPr>
            <p:spPr>
              <a:xfrm>
                <a:off x="10984649" y="2773680"/>
                <a:ext cx="793013" cy="119062"/>
              </a:xfrm>
              <a:prstGeom prst="rect">
                <a:avLst/>
              </a:prstGeom>
              <a:noFill/>
              <a:ln>
                <a:noFill/>
              </a:ln>
            </p:spPr>
            <p:txBody>
              <a:bodyPr wrap="none" lIns="0" tIns="0" rIns="0" bIns="0" anchor="t" anchorCtr="0">
                <a:spAutoFit/>
              </a:bodyPr>
              <a:lstStyle/>
              <a:p>
                <a:pPr algn="r"/>
                <a:r>
                  <a:rPr lang="zh-CN" sz="600" dirty="0">
                    <a:solidFill>
                      <a:srgbClr val="5F6F6A"/>
                    </a:solidFill>
                    <a:latin typeface="+mn-lt"/>
                    <a:ea typeface="+mn-ea"/>
                    <a:cs typeface="+mn-cs"/>
                  </a:rPr>
                  <a:t>坚守底线 · 安全运营​</a:t>
                </a:r>
              </a:p>
            </p:txBody>
          </p:sp>
        </p:grpSp>
      </p:grpSp>
      <p:grpSp>
        <p:nvGrpSpPr>
          <p:cNvPr id="276" name="timeline-card"/>
          <p:cNvGrpSpPr/>
          <p:nvPr/>
        </p:nvGrpSpPr>
        <p:grpSpPr>
          <a:xfrm>
            <a:off x="228600" y="3067050"/>
            <a:ext cx="7239000" cy="1428750"/>
            <a:chOff x="228600" y="3067050"/>
            <a:chExt cx="7239000" cy="1428750"/>
          </a:xfrm>
        </p:grpSpPr>
        <p:sp>
          <p:nvSpPr>
            <p:cNvPr id="193" name="Rectangle 193"/>
            <p:cNvSpPr/>
            <p:nvPr/>
          </p:nvSpPr>
          <p:spPr>
            <a:xfrm>
              <a:off x="228600" y="3067050"/>
              <a:ext cx="7239000" cy="1428750"/>
            </a:xfrm>
            <a:prstGeom prst="roundRect">
              <a:avLst>
                <a:gd name="adj" fmla="val 6667"/>
              </a:avLst>
            </a:prstGeom>
            <a:solidFill>
              <a:srgbClr val="F5FAF8"/>
            </a:solidFill>
            <a:ln w="9525">
              <a:solidFill>
                <a:srgbClr val="D9E8E2"/>
              </a:solidFill>
            </a:ln>
          </p:spPr>
        </p:sp>
        <p:sp>
          <p:nvSpPr>
            <p:cNvPr id="194" name="Rectangle 194"/>
            <p:cNvSpPr/>
            <p:nvPr/>
          </p:nvSpPr>
          <p:spPr>
            <a:xfrm>
              <a:off x="228600" y="3067050"/>
              <a:ext cx="2286000" cy="228600"/>
            </a:xfrm>
            <a:prstGeom prst="roundRect">
              <a:avLst>
                <a:gd name="adj" fmla="val 16667"/>
              </a:avLst>
            </a:prstGeom>
            <a:solidFill>
              <a:srgbClr val="5B180B"/>
            </a:solidFill>
            <a:ln>
              <a:noFill/>
            </a:ln>
          </p:spPr>
        </p:sp>
        <p:sp>
          <p:nvSpPr>
            <p:cNvPr id="195" name="TextBox 195"/>
            <p:cNvSpPr txBox="1"/>
            <p:nvPr/>
          </p:nvSpPr>
          <p:spPr>
            <a:xfrm>
              <a:off x="338138" y="3135868"/>
              <a:ext cx="1646228"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12周作战节奏</a:t>
              </a:r>
              <a:r>
                <a:rPr lang="zh-CN" sz="640" dirty="0">
                  <a:solidFill>
                    <a:srgbClr val="BFDDD6"/>
                  </a:solidFill>
                  <a:latin typeface="+mn-lt"/>
                  <a:ea typeface="+mn-ea"/>
                  <a:cs typeface="+mn-cs"/>
                </a:rPr>
                <a:t>（2026年10月-12月）</a:t>
              </a:r>
              <a:r>
                <a:rPr lang="zh-CN" sz="860" b="1" dirty="0">
                  <a:solidFill>
                    <a:srgbClr val="FFFFFF"/>
                  </a:solidFill>
                  <a:latin typeface="+mn-lt"/>
                  <a:ea typeface="+mn-ea"/>
                  <a:cs typeface="+mn-cs"/>
                </a:rPr>
                <a:t>​</a:t>
              </a:r>
            </a:p>
          </p:txBody>
        </p:sp>
        <p:sp>
          <p:nvSpPr>
            <p:cNvPr id="196" name="Freeform 196"/>
            <p:cNvSpPr/>
            <p:nvPr/>
          </p:nvSpPr>
          <p:spPr>
            <a:xfrm>
              <a:off x="342900" y="3352800"/>
              <a:ext cx="857250" cy="285750"/>
            </a:xfrm>
            <a:prstGeom prst="chevron">
              <a:avLst>
                <a:gd name="adj" fmla="val 35000"/>
              </a:avLst>
            </a:prstGeom>
            <a:solidFill>
              <a:srgbClr val="5B180B"/>
            </a:solidFill>
            <a:ln>
              <a:noFill/>
            </a:ln>
          </p:spPr>
        </p:sp>
        <p:sp>
          <p:nvSpPr>
            <p:cNvPr id="197" name="Freeform 197"/>
            <p:cNvSpPr/>
            <p:nvPr/>
          </p:nvSpPr>
          <p:spPr>
            <a:xfrm>
              <a:off x="1219200" y="3352800"/>
              <a:ext cx="857250" cy="285750"/>
            </a:xfrm>
            <a:prstGeom prst="chevron">
              <a:avLst>
                <a:gd name="adj" fmla="val 35000"/>
              </a:avLst>
            </a:prstGeom>
            <a:solidFill>
              <a:srgbClr val="6A2113"/>
            </a:solidFill>
            <a:ln>
              <a:noFill/>
            </a:ln>
          </p:spPr>
        </p:sp>
        <p:sp>
          <p:nvSpPr>
            <p:cNvPr id="198" name="Freeform 198"/>
            <p:cNvSpPr/>
            <p:nvPr/>
          </p:nvSpPr>
          <p:spPr>
            <a:xfrm>
              <a:off x="2095500" y="3352800"/>
              <a:ext cx="857250" cy="285750"/>
            </a:xfrm>
            <a:prstGeom prst="chevron">
              <a:avLst>
                <a:gd name="adj" fmla="val 35000"/>
              </a:avLst>
            </a:prstGeom>
            <a:solidFill>
              <a:srgbClr val="7A2B1B"/>
            </a:solidFill>
            <a:ln>
              <a:noFill/>
            </a:ln>
          </p:spPr>
        </p:sp>
        <p:sp>
          <p:nvSpPr>
            <p:cNvPr id="199" name="Freeform 199"/>
            <p:cNvSpPr/>
            <p:nvPr/>
          </p:nvSpPr>
          <p:spPr>
            <a:xfrm>
              <a:off x="2971800" y="3352800"/>
              <a:ext cx="857250" cy="285750"/>
            </a:xfrm>
            <a:prstGeom prst="chevron">
              <a:avLst>
                <a:gd name="adj" fmla="val 35000"/>
              </a:avLst>
            </a:prstGeom>
            <a:solidFill>
              <a:srgbClr val="9A412F"/>
            </a:solidFill>
            <a:ln>
              <a:noFill/>
            </a:ln>
          </p:spPr>
        </p:sp>
        <p:sp>
          <p:nvSpPr>
            <p:cNvPr id="200" name="Freeform 200"/>
            <p:cNvSpPr/>
            <p:nvPr/>
          </p:nvSpPr>
          <p:spPr>
            <a:xfrm>
              <a:off x="3848100" y="3352800"/>
              <a:ext cx="857250" cy="285750"/>
            </a:xfrm>
            <a:prstGeom prst="chevron">
              <a:avLst>
                <a:gd name="adj" fmla="val 35000"/>
              </a:avLst>
            </a:prstGeom>
            <a:solidFill>
              <a:srgbClr val="A34C3B"/>
            </a:solidFill>
            <a:ln>
              <a:noFill/>
            </a:ln>
          </p:spPr>
        </p:sp>
        <p:sp>
          <p:nvSpPr>
            <p:cNvPr id="201" name="Freeform 201"/>
            <p:cNvSpPr/>
            <p:nvPr/>
          </p:nvSpPr>
          <p:spPr>
            <a:xfrm>
              <a:off x="4724400" y="3352800"/>
              <a:ext cx="857250" cy="285750"/>
            </a:xfrm>
            <a:prstGeom prst="chevron">
              <a:avLst>
                <a:gd name="adj" fmla="val 35000"/>
              </a:avLst>
            </a:prstGeom>
            <a:solidFill>
              <a:srgbClr val="A75545"/>
            </a:solidFill>
            <a:ln>
              <a:noFill/>
            </a:ln>
          </p:spPr>
        </p:sp>
        <p:sp>
          <p:nvSpPr>
            <p:cNvPr id="202" name="Freeform 202"/>
            <p:cNvSpPr/>
            <p:nvPr/>
          </p:nvSpPr>
          <p:spPr>
            <a:xfrm>
              <a:off x="5600700" y="3352800"/>
              <a:ext cx="857250" cy="285750"/>
            </a:xfrm>
            <a:prstGeom prst="chevron">
              <a:avLst>
                <a:gd name="adj" fmla="val 35000"/>
              </a:avLst>
            </a:prstGeom>
            <a:solidFill>
              <a:srgbClr val="AE6152"/>
            </a:solidFill>
            <a:ln>
              <a:noFill/>
            </a:ln>
          </p:spPr>
        </p:sp>
        <p:sp>
          <p:nvSpPr>
            <p:cNvPr id="203" name="Freeform 203"/>
            <p:cNvSpPr/>
            <p:nvPr/>
          </p:nvSpPr>
          <p:spPr>
            <a:xfrm>
              <a:off x="6477000" y="3352800"/>
              <a:ext cx="857250" cy="285750"/>
            </a:xfrm>
            <a:prstGeom prst="chevron">
              <a:avLst>
                <a:gd name="adj" fmla="val 35000"/>
              </a:avLst>
            </a:prstGeom>
            <a:solidFill>
              <a:srgbClr val="AE6C5F"/>
            </a:solidFill>
            <a:ln>
              <a:noFill/>
            </a:ln>
          </p:spPr>
        </p:sp>
        <p:grpSp>
          <p:nvGrpSpPr>
            <p:cNvPr id="220" name="tl-labels"/>
            <p:cNvGrpSpPr/>
            <p:nvPr/>
          </p:nvGrpSpPr>
          <p:grpSpPr>
            <a:xfrm>
              <a:off x="549992" y="3398282"/>
              <a:ext cx="6633406" cy="218598"/>
              <a:chOff x="549992" y="3398282"/>
              <a:chExt cx="6633406" cy="218598"/>
            </a:xfrm>
          </p:grpSpPr>
          <p:sp>
            <p:nvSpPr>
              <p:cNvPr id="204" name="TextBox 204"/>
              <p:cNvSpPr txBox="1"/>
              <p:nvPr/>
            </p:nvSpPr>
            <p:spPr>
              <a:xfrm>
                <a:off x="600145" y="3398282"/>
                <a:ext cx="38086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第1-2周​</a:t>
                </a:r>
              </a:p>
            </p:txBody>
          </p:sp>
          <p:sp>
            <p:nvSpPr>
              <p:cNvPr id="205" name="TextBox 205"/>
              <p:cNvSpPr txBox="1"/>
              <p:nvPr/>
            </p:nvSpPr>
            <p:spPr>
              <a:xfrm>
                <a:off x="549992" y="3519249"/>
                <a:ext cx="481166"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(10.1-10.14)​</a:t>
                </a:r>
              </a:p>
            </p:txBody>
          </p:sp>
          <p:sp>
            <p:nvSpPr>
              <p:cNvPr id="206" name="TextBox 206"/>
              <p:cNvSpPr txBox="1"/>
              <p:nvPr/>
            </p:nvSpPr>
            <p:spPr>
              <a:xfrm>
                <a:off x="1526200" y="3398282"/>
                <a:ext cx="281350"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第3周​</a:t>
                </a:r>
              </a:p>
            </p:txBody>
          </p:sp>
          <p:sp>
            <p:nvSpPr>
              <p:cNvPr id="207" name="TextBox 207"/>
              <p:cNvSpPr txBox="1"/>
              <p:nvPr/>
            </p:nvSpPr>
            <p:spPr>
              <a:xfrm>
                <a:off x="1408152" y="3519249"/>
                <a:ext cx="517446"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(10.15-10.21)​</a:t>
                </a:r>
              </a:p>
            </p:txBody>
          </p:sp>
          <p:sp>
            <p:nvSpPr>
              <p:cNvPr id="208" name="TextBox 208"/>
              <p:cNvSpPr txBox="1"/>
              <p:nvPr/>
            </p:nvSpPr>
            <p:spPr>
              <a:xfrm>
                <a:off x="2352745" y="3398282"/>
                <a:ext cx="38086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第4-5周​</a:t>
                </a:r>
              </a:p>
            </p:txBody>
          </p:sp>
          <p:sp>
            <p:nvSpPr>
              <p:cNvPr id="209" name="TextBox 209"/>
              <p:cNvSpPr txBox="1"/>
              <p:nvPr/>
            </p:nvSpPr>
            <p:spPr>
              <a:xfrm>
                <a:off x="2302592" y="3519249"/>
                <a:ext cx="481166"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(10.22-11.4)​</a:t>
                </a:r>
              </a:p>
            </p:txBody>
          </p:sp>
          <p:sp>
            <p:nvSpPr>
              <p:cNvPr id="210" name="TextBox 210"/>
              <p:cNvSpPr txBox="1"/>
              <p:nvPr/>
            </p:nvSpPr>
            <p:spPr>
              <a:xfrm>
                <a:off x="3229045" y="3398282"/>
                <a:ext cx="38086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第6-7周​</a:t>
                </a:r>
              </a:p>
            </p:txBody>
          </p:sp>
          <p:sp>
            <p:nvSpPr>
              <p:cNvPr id="211" name="TextBox 211"/>
              <p:cNvSpPr txBox="1"/>
              <p:nvPr/>
            </p:nvSpPr>
            <p:spPr>
              <a:xfrm>
                <a:off x="3178892" y="3519249"/>
                <a:ext cx="481166"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(11.5-11.18)​</a:t>
                </a:r>
              </a:p>
            </p:txBody>
          </p:sp>
          <p:sp>
            <p:nvSpPr>
              <p:cNvPr id="212" name="TextBox 212"/>
              <p:cNvSpPr txBox="1"/>
              <p:nvPr/>
            </p:nvSpPr>
            <p:spPr>
              <a:xfrm>
                <a:off x="4155100" y="3398282"/>
                <a:ext cx="281350"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第8周​</a:t>
                </a:r>
              </a:p>
            </p:txBody>
          </p:sp>
          <p:sp>
            <p:nvSpPr>
              <p:cNvPr id="213" name="TextBox 213"/>
              <p:cNvSpPr txBox="1"/>
              <p:nvPr/>
            </p:nvSpPr>
            <p:spPr>
              <a:xfrm>
                <a:off x="4037052" y="3519249"/>
                <a:ext cx="517446"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(11.19-11.25)​</a:t>
                </a:r>
              </a:p>
            </p:txBody>
          </p:sp>
          <p:sp>
            <p:nvSpPr>
              <p:cNvPr id="214" name="TextBox 214"/>
              <p:cNvSpPr txBox="1"/>
              <p:nvPr/>
            </p:nvSpPr>
            <p:spPr>
              <a:xfrm>
                <a:off x="4956767" y="3398282"/>
                <a:ext cx="430616"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第9-10周​</a:t>
                </a:r>
              </a:p>
            </p:txBody>
          </p:sp>
          <p:sp>
            <p:nvSpPr>
              <p:cNvPr id="215" name="TextBox 215"/>
              <p:cNvSpPr txBox="1"/>
              <p:nvPr/>
            </p:nvSpPr>
            <p:spPr>
              <a:xfrm>
                <a:off x="4931492" y="3519249"/>
                <a:ext cx="481166"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(11.26-12.9)​</a:t>
                </a:r>
              </a:p>
            </p:txBody>
          </p:sp>
          <p:sp>
            <p:nvSpPr>
              <p:cNvPr id="216" name="TextBox 216"/>
              <p:cNvSpPr txBox="1"/>
              <p:nvPr/>
            </p:nvSpPr>
            <p:spPr>
              <a:xfrm>
                <a:off x="5882822" y="3398282"/>
                <a:ext cx="33110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第11周​</a:t>
                </a:r>
              </a:p>
            </p:txBody>
          </p:sp>
          <p:sp>
            <p:nvSpPr>
              <p:cNvPr id="217" name="TextBox 217"/>
              <p:cNvSpPr txBox="1"/>
              <p:nvPr/>
            </p:nvSpPr>
            <p:spPr>
              <a:xfrm>
                <a:off x="5789652" y="3519249"/>
                <a:ext cx="517446"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(12.10-12.23)​</a:t>
                </a:r>
              </a:p>
            </p:txBody>
          </p:sp>
          <p:sp>
            <p:nvSpPr>
              <p:cNvPr id="218" name="TextBox 218"/>
              <p:cNvSpPr txBox="1"/>
              <p:nvPr/>
            </p:nvSpPr>
            <p:spPr>
              <a:xfrm>
                <a:off x="6759122" y="3398282"/>
                <a:ext cx="33110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第12周​</a:t>
                </a:r>
              </a:p>
            </p:txBody>
          </p:sp>
          <p:sp>
            <p:nvSpPr>
              <p:cNvPr id="219" name="TextBox 219"/>
              <p:cNvSpPr txBox="1"/>
              <p:nvPr/>
            </p:nvSpPr>
            <p:spPr>
              <a:xfrm>
                <a:off x="6665952" y="3519249"/>
                <a:ext cx="517446" cy="97631"/>
              </a:xfrm>
              <a:prstGeom prst="rect">
                <a:avLst/>
              </a:prstGeom>
              <a:noFill/>
              <a:ln>
                <a:noFill/>
              </a:ln>
            </p:spPr>
            <p:txBody>
              <a:bodyPr wrap="none" lIns="0" tIns="0" rIns="0" bIns="0" anchor="t" anchorCtr="0">
                <a:spAutoFit/>
              </a:bodyPr>
              <a:lstStyle/>
              <a:p>
                <a:pPr algn="ctr"/>
                <a:r>
                  <a:rPr lang="zh-CN" sz="490" dirty="0">
                    <a:solidFill>
                      <a:srgbClr val="FFFFFF"/>
                    </a:solidFill>
                    <a:latin typeface="+mn-lt"/>
                    <a:ea typeface="+mn-ea"/>
                    <a:cs typeface="+mn-cs"/>
                  </a:rPr>
                  <a:t>(12.24-12.31)​</a:t>
                </a:r>
              </a:p>
            </p:txBody>
          </p:sp>
        </p:grpSp>
        <p:grpSp>
          <p:nvGrpSpPr>
            <p:cNvPr id="275" name="tl-stages"/>
            <p:cNvGrpSpPr/>
            <p:nvPr/>
          </p:nvGrpSpPr>
          <p:grpSpPr>
            <a:xfrm>
              <a:off x="457002" y="3719512"/>
              <a:ext cx="6763146" cy="614839"/>
              <a:chOff x="457002" y="3719512"/>
              <a:chExt cx="6763146" cy="614839"/>
            </a:xfrm>
          </p:grpSpPr>
          <p:grpSp>
            <p:nvGrpSpPr>
              <p:cNvPr id="227" name="Group 227"/>
              <p:cNvGrpSpPr/>
              <p:nvPr/>
            </p:nvGrpSpPr>
            <p:grpSpPr>
              <a:xfrm>
                <a:off x="723106" y="3731419"/>
                <a:ext cx="130968" cy="116681"/>
                <a:chOff x="723106" y="3731419"/>
                <a:chExt cx="130968" cy="116681"/>
              </a:xfrm>
            </p:grpSpPr>
            <p:sp>
              <p:nvSpPr>
                <p:cNvPr id="221" name="Freeform 221"/>
                <p:cNvSpPr/>
                <p:nvPr/>
              </p:nvSpPr>
              <p:spPr>
                <a:xfrm>
                  <a:off x="723106" y="3731419"/>
                  <a:ext cx="31750" cy="19844"/>
                </a:xfrm>
                <a:custGeom>
                  <a:avLst/>
                  <a:gdLst/>
                  <a:ahLst/>
                  <a:cxnLst/>
                  <a:rect l="l" t="t" r="r" b="b"/>
                  <a:pathLst>
                    <a:path w="31750" h="19844">
                      <a:moveTo>
                        <a:pt x="0" y="7937"/>
                      </a:moveTo>
                      <a:lnTo>
                        <a:pt x="11906" y="19844"/>
                      </a:lnTo>
                      <a:lnTo>
                        <a:pt x="31750" y="0"/>
                      </a:lnTo>
                    </a:path>
                  </a:pathLst>
                </a:custGeom>
                <a:noFill/>
                <a:ln w="15875">
                  <a:solidFill>
                    <a:srgbClr val="5B180B"/>
                  </a:solidFill>
                </a:ln>
              </p:spPr>
            </p:sp>
            <p:sp>
              <p:nvSpPr>
                <p:cNvPr id="222" name="Freeform 222"/>
                <p:cNvSpPr/>
                <p:nvPr/>
              </p:nvSpPr>
              <p:spPr>
                <a:xfrm>
                  <a:off x="723106" y="3779044"/>
                  <a:ext cx="31750" cy="19844"/>
                </a:xfrm>
                <a:custGeom>
                  <a:avLst/>
                  <a:gdLst/>
                  <a:ahLst/>
                  <a:cxnLst/>
                  <a:rect l="l" t="t" r="r" b="b"/>
                  <a:pathLst>
                    <a:path w="31750" h="19844">
                      <a:moveTo>
                        <a:pt x="0" y="7937"/>
                      </a:moveTo>
                      <a:lnTo>
                        <a:pt x="11906" y="19844"/>
                      </a:lnTo>
                      <a:lnTo>
                        <a:pt x="31750" y="0"/>
                      </a:lnTo>
                    </a:path>
                  </a:pathLst>
                </a:custGeom>
                <a:noFill/>
                <a:ln w="15875">
                  <a:solidFill>
                    <a:srgbClr val="5B180B"/>
                  </a:solidFill>
                </a:ln>
              </p:spPr>
            </p:sp>
            <p:sp>
              <p:nvSpPr>
                <p:cNvPr id="223" name="Freeform 223"/>
                <p:cNvSpPr/>
                <p:nvPr/>
              </p:nvSpPr>
              <p:spPr>
                <a:xfrm>
                  <a:off x="723106" y="3826669"/>
                  <a:ext cx="31750" cy="19844"/>
                </a:xfrm>
                <a:custGeom>
                  <a:avLst/>
                  <a:gdLst/>
                  <a:ahLst/>
                  <a:cxnLst/>
                  <a:rect l="l" t="t" r="r" b="b"/>
                  <a:pathLst>
                    <a:path w="31750" h="19844">
                      <a:moveTo>
                        <a:pt x="0" y="7937"/>
                      </a:moveTo>
                      <a:lnTo>
                        <a:pt x="11906" y="19844"/>
                      </a:lnTo>
                      <a:lnTo>
                        <a:pt x="31750" y="0"/>
                      </a:lnTo>
                    </a:path>
                  </a:pathLst>
                </a:custGeom>
                <a:noFill/>
                <a:ln w="15875">
                  <a:solidFill>
                    <a:srgbClr val="5B180B"/>
                  </a:solidFill>
                </a:ln>
              </p:spPr>
            </p:sp>
            <p:sp>
              <p:nvSpPr>
                <p:cNvPr id="224" name="Freeform 224"/>
                <p:cNvSpPr/>
                <p:nvPr/>
              </p:nvSpPr>
              <p:spPr>
                <a:xfrm>
                  <a:off x="782637" y="3743325"/>
                  <a:ext cx="71437" cy="9525"/>
                </a:xfrm>
                <a:custGeom>
                  <a:avLst/>
                  <a:gdLst/>
                  <a:ahLst/>
                  <a:cxnLst/>
                  <a:rect l="l" t="t" r="r" b="b"/>
                  <a:pathLst>
                    <a:path w="71437" h="9525">
                      <a:moveTo>
                        <a:pt x="0" y="0"/>
                      </a:moveTo>
                      <a:lnTo>
                        <a:pt x="71437" y="0"/>
                      </a:lnTo>
                    </a:path>
                  </a:pathLst>
                </a:custGeom>
                <a:noFill/>
                <a:ln w="15875">
                  <a:solidFill>
                    <a:srgbClr val="5B180B"/>
                  </a:solidFill>
                </a:ln>
              </p:spPr>
            </p:sp>
            <p:sp>
              <p:nvSpPr>
                <p:cNvPr id="225" name="Freeform 225"/>
                <p:cNvSpPr/>
                <p:nvPr/>
              </p:nvSpPr>
              <p:spPr>
                <a:xfrm>
                  <a:off x="782637" y="3790950"/>
                  <a:ext cx="71437" cy="9525"/>
                </a:xfrm>
                <a:custGeom>
                  <a:avLst/>
                  <a:gdLst/>
                  <a:ahLst/>
                  <a:cxnLst/>
                  <a:rect l="l" t="t" r="r" b="b"/>
                  <a:pathLst>
                    <a:path w="71437" h="9525">
                      <a:moveTo>
                        <a:pt x="0" y="0"/>
                      </a:moveTo>
                      <a:lnTo>
                        <a:pt x="71437" y="0"/>
                      </a:lnTo>
                    </a:path>
                  </a:pathLst>
                </a:custGeom>
                <a:noFill/>
                <a:ln w="15875">
                  <a:solidFill>
                    <a:srgbClr val="5B180B"/>
                  </a:solidFill>
                </a:ln>
              </p:spPr>
            </p:sp>
            <p:sp>
              <p:nvSpPr>
                <p:cNvPr id="226" name="Freeform 226"/>
                <p:cNvSpPr/>
                <p:nvPr/>
              </p:nvSpPr>
              <p:spPr>
                <a:xfrm>
                  <a:off x="782637" y="3838575"/>
                  <a:ext cx="71437" cy="9525"/>
                </a:xfrm>
                <a:custGeom>
                  <a:avLst/>
                  <a:gdLst/>
                  <a:ahLst/>
                  <a:cxnLst/>
                  <a:rect l="l" t="t" r="r" b="b"/>
                  <a:pathLst>
                    <a:path w="71437" h="9525">
                      <a:moveTo>
                        <a:pt x="0" y="0"/>
                      </a:moveTo>
                      <a:lnTo>
                        <a:pt x="71437" y="0"/>
                      </a:lnTo>
                    </a:path>
                  </a:pathLst>
                </a:custGeom>
                <a:noFill/>
                <a:ln w="15875">
                  <a:solidFill>
                    <a:srgbClr val="5B180B"/>
                  </a:solidFill>
                </a:ln>
              </p:spPr>
            </p:sp>
          </p:grpSp>
          <p:sp>
            <p:nvSpPr>
              <p:cNvPr id="228" name="TextBox 228"/>
              <p:cNvSpPr txBox="1"/>
              <p:nvPr/>
            </p:nvSpPr>
            <p:spPr>
              <a:xfrm>
                <a:off x="535679" y="39766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名单激活​</a:t>
                </a:r>
              </a:p>
            </p:txBody>
          </p:sp>
          <p:sp>
            <p:nvSpPr>
              <p:cNvPr id="229" name="TextBox 229"/>
              <p:cNvSpPr txBox="1"/>
              <p:nvPr/>
            </p:nvSpPr>
            <p:spPr>
              <a:xfrm>
                <a:off x="457002" y="4134326"/>
                <a:ext cx="629046"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客户分层 需求识别​</a:t>
                </a:r>
              </a:p>
            </p:txBody>
          </p:sp>
          <p:sp>
            <p:nvSpPr>
              <p:cNvPr id="230" name="TextBox 230"/>
              <p:cNvSpPr txBox="1"/>
              <p:nvPr/>
            </p:nvSpPr>
            <p:spPr>
              <a:xfrm>
                <a:off x="607507" y="4229576"/>
                <a:ext cx="328036"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目标分解​</a:t>
                </a:r>
              </a:p>
            </p:txBody>
          </p:sp>
          <p:sp>
            <p:nvSpPr>
              <p:cNvPr id="231" name="Freeform 231"/>
              <p:cNvSpPr/>
              <p:nvPr/>
            </p:nvSpPr>
            <p:spPr>
              <a:xfrm>
                <a:off x="1587309" y="372129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5B180B"/>
                </a:solidFill>
              </a:ln>
            </p:spPr>
          </p:sp>
          <p:sp>
            <p:nvSpPr>
              <p:cNvPr id="232" name="TextBox 232"/>
              <p:cNvSpPr txBox="1"/>
              <p:nvPr/>
            </p:nvSpPr>
            <p:spPr>
              <a:xfrm>
                <a:off x="1411979" y="39766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首轮触达​</a:t>
                </a:r>
              </a:p>
            </p:txBody>
          </p:sp>
          <p:sp>
            <p:nvSpPr>
              <p:cNvPr id="233" name="TextBox 233"/>
              <p:cNvSpPr txBox="1"/>
              <p:nvPr/>
            </p:nvSpPr>
            <p:spPr>
              <a:xfrm>
                <a:off x="1375303" y="4134326"/>
                <a:ext cx="545043"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电话+短信+企微​</a:t>
                </a:r>
              </a:p>
            </p:txBody>
          </p:sp>
          <p:sp>
            <p:nvSpPr>
              <p:cNvPr id="234" name="TextBox 234"/>
              <p:cNvSpPr txBox="1"/>
              <p:nvPr/>
            </p:nvSpPr>
            <p:spPr>
              <a:xfrm>
                <a:off x="1434805" y="4229576"/>
                <a:ext cx="426039"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触达率≥80%​</a:t>
                </a:r>
              </a:p>
            </p:txBody>
          </p:sp>
          <p:grpSp>
            <p:nvGrpSpPr>
              <p:cNvPr id="237" name="Group 237"/>
              <p:cNvGrpSpPr/>
              <p:nvPr/>
            </p:nvGrpSpPr>
            <p:grpSpPr>
              <a:xfrm>
                <a:off x="2487612" y="3720261"/>
                <a:ext cx="111125" cy="142126"/>
                <a:chOff x="2487612" y="3720261"/>
                <a:chExt cx="111125" cy="142126"/>
              </a:xfrm>
            </p:grpSpPr>
            <p:sp>
              <p:nvSpPr>
                <p:cNvPr id="235" name="Freeform 235"/>
                <p:cNvSpPr/>
                <p:nvPr/>
              </p:nvSpPr>
              <p:spPr>
                <a:xfrm>
                  <a:off x="2487612" y="3720261"/>
                  <a:ext cx="111125" cy="101691"/>
                </a:xfrm>
                <a:custGeom>
                  <a:avLst/>
                  <a:gdLst/>
                  <a:ahLst/>
                  <a:cxnLst/>
                  <a:rect l="l" t="t" r="r" b="b"/>
                  <a:pathLst>
                    <a:path w="111125" h="101691">
                      <a:moveTo>
                        <a:pt x="0" y="15127"/>
                      </a:moveTo>
                      <a:cubicBezTo>
                        <a:pt x="15432" y="0"/>
                        <a:pt x="40130" y="0"/>
                        <a:pt x="55562" y="15127"/>
                      </a:cubicBezTo>
                      <a:cubicBezTo>
                        <a:pt x="70995" y="30253"/>
                        <a:pt x="95693" y="30253"/>
                        <a:pt x="111125" y="15127"/>
                      </a:cubicBezTo>
                      <a:lnTo>
                        <a:pt x="111125" y="86564"/>
                      </a:lnTo>
                      <a:cubicBezTo>
                        <a:pt x="95693" y="101691"/>
                        <a:pt x="70995" y="101691"/>
                        <a:pt x="55562" y="86564"/>
                      </a:cubicBezTo>
                      <a:cubicBezTo>
                        <a:pt x="40130" y="71437"/>
                        <a:pt x="15432" y="71437"/>
                        <a:pt x="0" y="86564"/>
                      </a:cubicBezTo>
                      <a:lnTo>
                        <a:pt x="0" y="15127"/>
                      </a:lnTo>
                    </a:path>
                  </a:pathLst>
                </a:custGeom>
                <a:noFill/>
                <a:ln w="15875">
                  <a:solidFill>
                    <a:srgbClr val="5B180B"/>
                  </a:solidFill>
                </a:ln>
              </p:spPr>
            </p:sp>
            <p:sp>
              <p:nvSpPr>
                <p:cNvPr id="236" name="Freeform 236"/>
                <p:cNvSpPr/>
                <p:nvPr/>
              </p:nvSpPr>
              <p:spPr>
                <a:xfrm>
                  <a:off x="2487612" y="3806825"/>
                  <a:ext cx="9525" cy="55562"/>
                </a:xfrm>
                <a:custGeom>
                  <a:avLst/>
                  <a:gdLst/>
                  <a:ahLst/>
                  <a:cxnLst/>
                  <a:rect l="l" t="t" r="r" b="b"/>
                  <a:pathLst>
                    <a:path w="9525" h="55562">
                      <a:moveTo>
                        <a:pt x="0" y="55562"/>
                      </a:moveTo>
                      <a:lnTo>
                        <a:pt x="0" y="0"/>
                      </a:lnTo>
                    </a:path>
                  </a:pathLst>
                </a:custGeom>
                <a:noFill/>
                <a:ln w="15875">
                  <a:solidFill>
                    <a:srgbClr val="5B180B"/>
                  </a:solidFill>
                </a:ln>
              </p:spPr>
            </p:sp>
          </p:grpSp>
          <p:sp>
            <p:nvSpPr>
              <p:cNvPr id="238" name="TextBox 238"/>
              <p:cNvSpPr txBox="1"/>
              <p:nvPr/>
            </p:nvSpPr>
            <p:spPr>
              <a:xfrm>
                <a:off x="2288279" y="39766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活动引流​</a:t>
                </a:r>
              </a:p>
            </p:txBody>
          </p:sp>
          <p:sp>
            <p:nvSpPr>
              <p:cNvPr id="239" name="TextBox 239"/>
              <p:cNvSpPr txBox="1"/>
              <p:nvPr/>
            </p:nvSpPr>
            <p:spPr>
              <a:xfrm>
                <a:off x="2251603" y="4134326"/>
                <a:ext cx="545043"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厅堂+外拓+场景​</a:t>
                </a:r>
              </a:p>
            </p:txBody>
          </p:sp>
          <p:sp>
            <p:nvSpPr>
              <p:cNvPr id="240" name="TextBox 240"/>
              <p:cNvSpPr txBox="1"/>
              <p:nvPr/>
            </p:nvSpPr>
            <p:spPr>
              <a:xfrm>
                <a:off x="2325106" y="4229576"/>
                <a:ext cx="398038"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中客群活动​</a:t>
                </a:r>
              </a:p>
            </p:txBody>
          </p:sp>
          <p:grpSp>
            <p:nvGrpSpPr>
              <p:cNvPr id="244" name="Group 244"/>
              <p:cNvGrpSpPr/>
              <p:nvPr/>
            </p:nvGrpSpPr>
            <p:grpSpPr>
              <a:xfrm>
                <a:off x="3371850" y="3719512"/>
                <a:ext cx="119062" cy="142875"/>
                <a:chOff x="3371850" y="3719512"/>
                <a:chExt cx="119062" cy="142875"/>
              </a:xfrm>
            </p:grpSpPr>
            <p:sp>
              <p:nvSpPr>
                <p:cNvPr id="241" name="Freeform 241"/>
                <p:cNvSpPr/>
                <p:nvPr/>
              </p:nvSpPr>
              <p:spPr>
                <a:xfrm>
                  <a:off x="3387725" y="37195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5B180B"/>
                  </a:solidFill>
                </a:ln>
              </p:spPr>
            </p:sp>
            <p:sp>
              <p:nvSpPr>
                <p:cNvPr id="242" name="Freeform 242"/>
                <p:cNvSpPr/>
                <p:nvPr/>
              </p:nvSpPr>
              <p:spPr>
                <a:xfrm>
                  <a:off x="3371850" y="38147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5B180B"/>
                  </a:solidFill>
                </a:ln>
              </p:spPr>
            </p:sp>
            <p:sp>
              <p:nvSpPr>
                <p:cNvPr id="243" name="Freeform 243"/>
                <p:cNvSpPr/>
                <p:nvPr/>
              </p:nvSpPr>
              <p:spPr>
                <a:xfrm>
                  <a:off x="3443287" y="3830637"/>
                  <a:ext cx="47625" cy="31750"/>
                </a:xfrm>
                <a:custGeom>
                  <a:avLst/>
                  <a:gdLst/>
                  <a:ahLst/>
                  <a:cxnLst/>
                  <a:rect l="l" t="t" r="r" b="b"/>
                  <a:pathLst>
                    <a:path w="47625" h="31750">
                      <a:moveTo>
                        <a:pt x="0" y="15875"/>
                      </a:moveTo>
                      <a:lnTo>
                        <a:pt x="15875" y="31750"/>
                      </a:lnTo>
                      <a:lnTo>
                        <a:pt x="47625" y="0"/>
                      </a:lnTo>
                    </a:path>
                  </a:pathLst>
                </a:custGeom>
                <a:noFill/>
                <a:ln w="15875">
                  <a:solidFill>
                    <a:srgbClr val="5B180B"/>
                  </a:solidFill>
                </a:ln>
              </p:spPr>
            </p:sp>
          </p:grpSp>
          <p:sp>
            <p:nvSpPr>
              <p:cNvPr id="245" name="TextBox 245"/>
              <p:cNvSpPr txBox="1"/>
              <p:nvPr/>
            </p:nvSpPr>
            <p:spPr>
              <a:xfrm>
                <a:off x="3164579" y="39766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重点面谈​</a:t>
                </a:r>
              </a:p>
            </p:txBody>
          </p:sp>
          <p:sp>
            <p:nvSpPr>
              <p:cNvPr id="246" name="TextBox 246"/>
              <p:cNvSpPr txBox="1"/>
              <p:nvPr/>
            </p:nvSpPr>
            <p:spPr>
              <a:xfrm>
                <a:off x="3131403" y="4134326"/>
                <a:ext cx="538043"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高价值客户上门​</a:t>
                </a:r>
              </a:p>
            </p:txBody>
          </p:sp>
          <p:sp>
            <p:nvSpPr>
              <p:cNvPr id="247" name="TextBox 247"/>
              <p:cNvSpPr txBox="1"/>
              <p:nvPr/>
            </p:nvSpPr>
            <p:spPr>
              <a:xfrm>
                <a:off x="3096402" y="4229576"/>
                <a:ext cx="608046"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深度沟通链式转化​</a:t>
                </a:r>
              </a:p>
            </p:txBody>
          </p:sp>
          <p:grpSp>
            <p:nvGrpSpPr>
              <p:cNvPr id="250" name="Group 250"/>
              <p:cNvGrpSpPr/>
              <p:nvPr/>
            </p:nvGrpSpPr>
            <p:grpSpPr>
              <a:xfrm>
                <a:off x="4232275" y="3724387"/>
                <a:ext cx="127000" cy="133125"/>
                <a:chOff x="4232275" y="3724387"/>
                <a:chExt cx="127000" cy="133125"/>
              </a:xfrm>
            </p:grpSpPr>
            <p:sp>
              <p:nvSpPr>
                <p:cNvPr id="248" name="Freeform 248"/>
                <p:cNvSpPr/>
                <p:nvPr/>
              </p:nvSpPr>
              <p:spPr>
                <a:xfrm>
                  <a:off x="4232275" y="372438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5B180B"/>
                  </a:solidFill>
                </a:ln>
              </p:spPr>
            </p:sp>
            <p:sp>
              <p:nvSpPr>
                <p:cNvPr id="249" name="Freeform 249"/>
                <p:cNvSpPr/>
                <p:nvPr/>
              </p:nvSpPr>
              <p:spPr>
                <a:xfrm>
                  <a:off x="4232275" y="379888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5B180B"/>
                  </a:solidFill>
                </a:ln>
              </p:spPr>
            </p:sp>
          </p:grpSp>
          <p:sp>
            <p:nvSpPr>
              <p:cNvPr id="251" name="TextBox 251"/>
              <p:cNvSpPr txBox="1"/>
              <p:nvPr/>
            </p:nvSpPr>
            <p:spPr>
              <a:xfrm>
                <a:off x="4040879" y="39766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中期校准​</a:t>
                </a:r>
              </a:p>
            </p:txBody>
          </p:sp>
          <p:sp>
            <p:nvSpPr>
              <p:cNvPr id="252" name="TextBox 252"/>
              <p:cNvSpPr txBox="1"/>
              <p:nvPr/>
            </p:nvSpPr>
            <p:spPr>
              <a:xfrm>
                <a:off x="3962202" y="4134326"/>
                <a:ext cx="629046"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复盘进度 查漏补缺​</a:t>
                </a:r>
              </a:p>
            </p:txBody>
          </p:sp>
          <p:sp>
            <p:nvSpPr>
              <p:cNvPr id="253" name="TextBox 253"/>
              <p:cNvSpPr txBox="1"/>
              <p:nvPr/>
            </p:nvSpPr>
            <p:spPr>
              <a:xfrm>
                <a:off x="4112707" y="4229576"/>
                <a:ext cx="328036"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调整策略​</a:t>
                </a:r>
              </a:p>
            </p:txBody>
          </p:sp>
          <p:grpSp>
            <p:nvGrpSpPr>
              <p:cNvPr id="257" name="Group 257"/>
              <p:cNvGrpSpPr/>
              <p:nvPr/>
            </p:nvGrpSpPr>
            <p:grpSpPr>
              <a:xfrm>
                <a:off x="5100637" y="3719512"/>
                <a:ext cx="142875" cy="142875"/>
                <a:chOff x="5100637" y="3719512"/>
                <a:chExt cx="142875" cy="142875"/>
              </a:xfrm>
            </p:grpSpPr>
            <p:sp>
              <p:nvSpPr>
                <p:cNvPr id="254" name="Freeform 254"/>
                <p:cNvSpPr/>
                <p:nvPr/>
              </p:nvSpPr>
              <p:spPr>
                <a:xfrm>
                  <a:off x="5164137" y="37830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5B180B"/>
                  </a:solidFill>
                </a:ln>
              </p:spPr>
            </p:sp>
            <p:sp>
              <p:nvSpPr>
                <p:cNvPr id="255" name="Freeform 255"/>
                <p:cNvSpPr/>
                <p:nvPr/>
              </p:nvSpPr>
              <p:spPr>
                <a:xfrm>
                  <a:off x="5132387" y="37512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5B180B"/>
                  </a:solidFill>
                </a:ln>
              </p:spPr>
            </p:sp>
            <p:sp>
              <p:nvSpPr>
                <p:cNvPr id="256" name="Freeform 256"/>
                <p:cNvSpPr/>
                <p:nvPr/>
              </p:nvSpPr>
              <p:spPr>
                <a:xfrm>
                  <a:off x="5100637" y="37195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5B180B"/>
                  </a:solidFill>
                </a:ln>
              </p:spPr>
            </p:sp>
          </p:grpSp>
          <p:sp>
            <p:nvSpPr>
              <p:cNvPr id="258" name="TextBox 258"/>
              <p:cNvSpPr txBox="1"/>
              <p:nvPr/>
            </p:nvSpPr>
            <p:spPr>
              <a:xfrm>
                <a:off x="4917179" y="39766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二次攻坚​</a:t>
                </a:r>
              </a:p>
            </p:txBody>
          </p:sp>
          <p:sp>
            <p:nvSpPr>
              <p:cNvPr id="259" name="TextBox 259"/>
              <p:cNvSpPr txBox="1"/>
              <p:nvPr/>
            </p:nvSpPr>
            <p:spPr>
              <a:xfrm>
                <a:off x="4884003" y="4134326"/>
                <a:ext cx="538043"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针对未达标客群​</a:t>
                </a:r>
              </a:p>
            </p:txBody>
          </p:sp>
          <p:sp>
            <p:nvSpPr>
              <p:cNvPr id="260" name="TextBox 260"/>
              <p:cNvSpPr txBox="1"/>
              <p:nvPr/>
            </p:nvSpPr>
            <p:spPr>
              <a:xfrm>
                <a:off x="4849002" y="4229576"/>
                <a:ext cx="608046"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调整策略加强跟进​</a:t>
                </a:r>
              </a:p>
            </p:txBody>
          </p:sp>
          <p:grpSp>
            <p:nvGrpSpPr>
              <p:cNvPr id="264" name="Group 264"/>
              <p:cNvGrpSpPr/>
              <p:nvPr/>
            </p:nvGrpSpPr>
            <p:grpSpPr>
              <a:xfrm>
                <a:off x="5976937" y="3719512"/>
                <a:ext cx="142875" cy="142875"/>
                <a:chOff x="5976937" y="3719512"/>
                <a:chExt cx="142875" cy="142875"/>
              </a:xfrm>
            </p:grpSpPr>
            <p:sp>
              <p:nvSpPr>
                <p:cNvPr id="261" name="Freeform 261"/>
                <p:cNvSpPr/>
                <p:nvPr/>
              </p:nvSpPr>
              <p:spPr>
                <a:xfrm>
                  <a:off x="5976937" y="371951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5B180B"/>
                  </a:solidFill>
                </a:ln>
              </p:spPr>
            </p:sp>
            <p:sp>
              <p:nvSpPr>
                <p:cNvPr id="262" name="Freeform 262"/>
                <p:cNvSpPr/>
                <p:nvPr/>
              </p:nvSpPr>
              <p:spPr>
                <a:xfrm>
                  <a:off x="5992812" y="379095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5B180B"/>
                  </a:solidFill>
                </a:ln>
              </p:spPr>
            </p:sp>
            <p:sp>
              <p:nvSpPr>
                <p:cNvPr id="263" name="Freeform 263"/>
                <p:cNvSpPr/>
                <p:nvPr/>
              </p:nvSpPr>
              <p:spPr>
                <a:xfrm>
                  <a:off x="6024562" y="379888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5B180B"/>
                  </a:solidFill>
                </a:ln>
              </p:spPr>
            </p:sp>
          </p:grpSp>
          <p:sp>
            <p:nvSpPr>
              <p:cNvPr id="265" name="TextBox 265"/>
              <p:cNvSpPr txBox="1"/>
              <p:nvPr/>
            </p:nvSpPr>
            <p:spPr>
              <a:xfrm>
                <a:off x="5793479" y="39766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到店承接​</a:t>
                </a:r>
              </a:p>
            </p:txBody>
          </p:sp>
          <p:sp>
            <p:nvSpPr>
              <p:cNvPr id="266" name="TextBox 266"/>
              <p:cNvSpPr txBox="1"/>
              <p:nvPr/>
            </p:nvSpPr>
            <p:spPr>
              <a:xfrm>
                <a:off x="5711302" y="4134326"/>
                <a:ext cx="636046"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到期资金100%承接​</a:t>
                </a:r>
              </a:p>
            </p:txBody>
          </p:sp>
          <p:sp>
            <p:nvSpPr>
              <p:cNvPr id="267" name="TextBox 267"/>
              <p:cNvSpPr txBox="1"/>
              <p:nvPr/>
            </p:nvSpPr>
            <p:spPr>
              <a:xfrm>
                <a:off x="5760303" y="4229576"/>
                <a:ext cx="538043"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存量客户转介绍​</a:t>
                </a:r>
              </a:p>
            </p:txBody>
          </p:sp>
          <p:grpSp>
            <p:nvGrpSpPr>
              <p:cNvPr id="271" name="Group 271"/>
              <p:cNvGrpSpPr/>
              <p:nvPr/>
            </p:nvGrpSpPr>
            <p:grpSpPr>
              <a:xfrm>
                <a:off x="6856428" y="3719512"/>
                <a:ext cx="136478" cy="142002"/>
                <a:chOff x="6856428" y="3719512"/>
                <a:chExt cx="136478" cy="142002"/>
              </a:xfrm>
            </p:grpSpPr>
            <p:sp>
              <p:nvSpPr>
                <p:cNvPr id="268" name="Freeform 268"/>
                <p:cNvSpPr/>
                <p:nvPr/>
              </p:nvSpPr>
              <p:spPr>
                <a:xfrm>
                  <a:off x="6877050" y="3719512"/>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5B180B"/>
                  </a:solidFill>
                </a:ln>
              </p:spPr>
            </p:sp>
            <p:sp>
              <p:nvSpPr>
                <p:cNvPr id="269" name="Freeform 269"/>
                <p:cNvSpPr/>
                <p:nvPr/>
              </p:nvSpPr>
              <p:spPr>
                <a:xfrm>
                  <a:off x="6924675" y="3790950"/>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5B180B"/>
                  </a:solidFill>
                </a:ln>
              </p:spPr>
            </p:sp>
            <p:sp>
              <p:nvSpPr>
                <p:cNvPr id="270" name="Freeform 270"/>
                <p:cNvSpPr/>
                <p:nvPr/>
              </p:nvSpPr>
              <p:spPr>
                <a:xfrm>
                  <a:off x="6856428" y="3790950"/>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5B180B"/>
                  </a:solidFill>
                </a:ln>
              </p:spPr>
            </p:sp>
          </p:grpSp>
          <p:sp>
            <p:nvSpPr>
              <p:cNvPr id="272" name="TextBox 272"/>
              <p:cNvSpPr txBox="1"/>
              <p:nvPr/>
            </p:nvSpPr>
            <p:spPr>
              <a:xfrm>
                <a:off x="6669779" y="3976688"/>
                <a:ext cx="471692" cy="147638"/>
              </a:xfrm>
              <a:prstGeom prst="rect">
                <a:avLst/>
              </a:prstGeom>
              <a:noFill/>
              <a:ln>
                <a:noFill/>
              </a:ln>
            </p:spPr>
            <p:txBody>
              <a:bodyPr wrap="none" lIns="0" tIns="0" rIns="0" bIns="0" anchor="t" anchorCtr="0">
                <a:spAutoFit/>
              </a:bodyPr>
              <a:lstStyle/>
              <a:p>
                <a:pPr algn="ctr"/>
                <a:r>
                  <a:rPr lang="zh-CN" sz="750" b="1" dirty="0">
                    <a:solidFill>
                      <a:srgbClr val="5B180B"/>
                    </a:solidFill>
                    <a:latin typeface="+mn-lt"/>
                    <a:ea typeface="+mn-ea"/>
                    <a:cs typeface="+mn-cs"/>
                  </a:rPr>
                  <a:t>年终收官​</a:t>
                </a:r>
              </a:p>
            </p:txBody>
          </p:sp>
          <p:sp>
            <p:nvSpPr>
              <p:cNvPr id="273" name="TextBox 273"/>
              <p:cNvSpPr txBox="1"/>
              <p:nvPr/>
            </p:nvSpPr>
            <p:spPr>
              <a:xfrm>
                <a:off x="6591102" y="4134326"/>
                <a:ext cx="629046"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全面冲刺 确保达成​</a:t>
                </a:r>
              </a:p>
            </p:txBody>
          </p:sp>
          <p:sp>
            <p:nvSpPr>
              <p:cNvPr id="274" name="TextBox 274"/>
              <p:cNvSpPr txBox="1"/>
              <p:nvPr/>
            </p:nvSpPr>
            <p:spPr>
              <a:xfrm>
                <a:off x="6591102" y="4229576"/>
                <a:ext cx="629046" cy="104775"/>
              </a:xfrm>
              <a:prstGeom prst="rect">
                <a:avLst/>
              </a:prstGeom>
              <a:noFill/>
              <a:ln>
                <a:noFill/>
              </a:ln>
            </p:spPr>
            <p:txBody>
              <a:bodyPr wrap="none" lIns="0" tIns="0" rIns="0" bIns="0" anchor="t" anchorCtr="0">
                <a:spAutoFit/>
              </a:bodyPr>
              <a:lstStyle/>
              <a:p>
                <a:pPr algn="ctr"/>
                <a:r>
                  <a:rPr lang="zh-CN" sz="520" dirty="0">
                    <a:solidFill>
                      <a:srgbClr val="4A3D3A"/>
                    </a:solidFill>
                    <a:latin typeface="+mn-lt"/>
                    <a:ea typeface="+mn-ea"/>
                    <a:cs typeface="+mn-cs"/>
                  </a:rPr>
                  <a:t>总结复盘 固化成果​</a:t>
                </a:r>
              </a:p>
            </p:txBody>
          </p:sp>
        </p:grpSp>
      </p:grpSp>
      <p:grpSp>
        <p:nvGrpSpPr>
          <p:cNvPr id="331" name="task-card"/>
          <p:cNvGrpSpPr/>
          <p:nvPr/>
        </p:nvGrpSpPr>
        <p:grpSpPr>
          <a:xfrm>
            <a:off x="228600" y="4610100"/>
            <a:ext cx="7239000" cy="1809750"/>
            <a:chOff x="228600" y="4610100"/>
            <a:chExt cx="7239000" cy="1809750"/>
          </a:xfrm>
        </p:grpSpPr>
        <p:sp>
          <p:nvSpPr>
            <p:cNvPr id="277" name="Rectangle 277"/>
            <p:cNvSpPr/>
            <p:nvPr/>
          </p:nvSpPr>
          <p:spPr>
            <a:xfrm>
              <a:off x="228600" y="4610100"/>
              <a:ext cx="7239000" cy="1809750"/>
            </a:xfrm>
            <a:prstGeom prst="roundRect">
              <a:avLst>
                <a:gd name="adj" fmla="val 5263"/>
              </a:avLst>
            </a:prstGeom>
            <a:solidFill>
              <a:srgbClr val="F5FAF8"/>
            </a:solidFill>
            <a:ln w="9525">
              <a:solidFill>
                <a:srgbClr val="D9E8E2"/>
              </a:solidFill>
            </a:ln>
          </p:spPr>
        </p:sp>
        <p:sp>
          <p:nvSpPr>
            <p:cNvPr id="278" name="Rectangle 278"/>
            <p:cNvSpPr/>
            <p:nvPr/>
          </p:nvSpPr>
          <p:spPr>
            <a:xfrm>
              <a:off x="228600" y="4610100"/>
              <a:ext cx="2286000" cy="228600"/>
            </a:xfrm>
            <a:prstGeom prst="roundRect">
              <a:avLst>
                <a:gd name="adj" fmla="val 16667"/>
              </a:avLst>
            </a:prstGeom>
            <a:solidFill>
              <a:srgbClr val="5B180B"/>
            </a:solidFill>
            <a:ln>
              <a:noFill/>
            </a:ln>
          </p:spPr>
        </p:sp>
        <p:sp>
          <p:nvSpPr>
            <p:cNvPr id="279" name="TextBox 279"/>
            <p:cNvSpPr txBox="1"/>
            <p:nvPr/>
          </p:nvSpPr>
          <p:spPr>
            <a:xfrm>
              <a:off x="338138" y="4678918"/>
              <a:ext cx="1460278"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重点任务分解</a:t>
              </a:r>
              <a:r>
                <a:rPr lang="zh-CN" sz="640" dirty="0">
                  <a:solidFill>
                    <a:srgbClr val="BFDDD6"/>
                  </a:solidFill>
                  <a:latin typeface="+mn-lt"/>
                  <a:ea typeface="+mn-ea"/>
                  <a:cs typeface="+mn-cs"/>
                </a:rPr>
                <a:t>（关键量化指标）</a:t>
              </a:r>
              <a:r>
                <a:rPr lang="zh-CN" sz="860" b="1" dirty="0">
                  <a:solidFill>
                    <a:srgbClr val="FFFFFF"/>
                  </a:solidFill>
                  <a:latin typeface="+mn-lt"/>
                  <a:ea typeface="+mn-ea"/>
                  <a:cs typeface="+mn-cs"/>
                </a:rPr>
                <a:t>​</a:t>
              </a:r>
            </a:p>
          </p:txBody>
        </p:sp>
        <p:grpSp>
          <p:nvGrpSpPr>
            <p:cNvPr id="287" name="Group 287"/>
            <p:cNvGrpSpPr/>
            <p:nvPr/>
          </p:nvGrpSpPr>
          <p:grpSpPr>
            <a:xfrm>
              <a:off x="342900" y="4895850"/>
              <a:ext cx="7048500" cy="209550"/>
              <a:chOff x="342900" y="4895850"/>
              <a:chExt cx="7048500" cy="209550"/>
            </a:xfrm>
          </p:grpSpPr>
          <p:sp>
            <p:nvSpPr>
              <p:cNvPr id="280" name="Rectangle 280"/>
              <p:cNvSpPr/>
              <p:nvPr/>
            </p:nvSpPr>
            <p:spPr>
              <a:xfrm>
                <a:off x="342900" y="4895850"/>
                <a:ext cx="7048500" cy="209550"/>
              </a:xfrm>
              <a:prstGeom prst="rect">
                <a:avLst/>
              </a:prstGeom>
              <a:solidFill>
                <a:srgbClr val="722617"/>
              </a:solidFill>
              <a:ln>
                <a:noFill/>
              </a:ln>
            </p:spPr>
          </p:sp>
          <p:sp>
            <p:nvSpPr>
              <p:cNvPr id="281" name="TextBox 281"/>
              <p:cNvSpPr txBox="1"/>
              <p:nvPr/>
            </p:nvSpPr>
            <p:spPr>
              <a:xfrm>
                <a:off x="846228" y="4969907"/>
                <a:ext cx="231594"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项目​</a:t>
                </a:r>
              </a:p>
            </p:txBody>
          </p:sp>
          <p:sp>
            <p:nvSpPr>
              <p:cNvPr id="282" name="TextBox 282"/>
              <p:cNvSpPr txBox="1"/>
              <p:nvPr/>
            </p:nvSpPr>
            <p:spPr>
              <a:xfrm>
                <a:off x="1753519" y="4969907"/>
                <a:ext cx="41726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10月目标​</a:t>
                </a:r>
              </a:p>
            </p:txBody>
          </p:sp>
          <p:sp>
            <p:nvSpPr>
              <p:cNvPr id="283" name="TextBox 283"/>
              <p:cNvSpPr txBox="1"/>
              <p:nvPr/>
            </p:nvSpPr>
            <p:spPr>
              <a:xfrm>
                <a:off x="2515519" y="4969907"/>
                <a:ext cx="41726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11月目标​</a:t>
                </a:r>
              </a:p>
            </p:txBody>
          </p:sp>
          <p:sp>
            <p:nvSpPr>
              <p:cNvPr id="284" name="TextBox 284"/>
              <p:cNvSpPr txBox="1"/>
              <p:nvPr/>
            </p:nvSpPr>
            <p:spPr>
              <a:xfrm>
                <a:off x="3277519" y="4969907"/>
                <a:ext cx="41726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12月目标​</a:t>
                </a:r>
              </a:p>
            </p:txBody>
          </p:sp>
          <p:sp>
            <p:nvSpPr>
              <p:cNvPr id="285" name="TextBox 285"/>
              <p:cNvSpPr txBox="1"/>
              <p:nvPr/>
            </p:nvSpPr>
            <p:spPr>
              <a:xfrm>
                <a:off x="4117847" y="4969907"/>
                <a:ext cx="35585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Q4合计​</a:t>
                </a:r>
              </a:p>
            </p:txBody>
          </p:sp>
          <p:sp>
            <p:nvSpPr>
              <p:cNvPr id="286" name="TextBox 286"/>
              <p:cNvSpPr txBox="1"/>
              <p:nvPr/>
            </p:nvSpPr>
            <p:spPr>
              <a:xfrm>
                <a:off x="5769789" y="4969907"/>
                <a:ext cx="57622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主动动作举措​</a:t>
                </a:r>
              </a:p>
            </p:txBody>
          </p:sp>
        </p:grpSp>
        <p:grpSp>
          <p:nvGrpSpPr>
            <p:cNvPr id="330" name="task-rows"/>
            <p:cNvGrpSpPr/>
            <p:nvPr/>
          </p:nvGrpSpPr>
          <p:grpSpPr>
            <a:xfrm>
              <a:off x="342900" y="5105400"/>
              <a:ext cx="7048500" cy="1257300"/>
              <a:chOff x="342900" y="5105400"/>
              <a:chExt cx="7048500" cy="1257300"/>
            </a:xfrm>
          </p:grpSpPr>
          <p:sp>
            <p:nvSpPr>
              <p:cNvPr id="288" name="Rectangle 288"/>
              <p:cNvSpPr/>
              <p:nvPr/>
            </p:nvSpPr>
            <p:spPr>
              <a:xfrm>
                <a:off x="342900" y="5105400"/>
                <a:ext cx="7048500" cy="209550"/>
              </a:xfrm>
              <a:prstGeom prst="rect">
                <a:avLst/>
              </a:prstGeom>
              <a:solidFill>
                <a:srgbClr val="FFFFFF"/>
              </a:solidFill>
              <a:ln w="7620">
                <a:solidFill>
                  <a:srgbClr val="D9E8E2"/>
                </a:solidFill>
              </a:ln>
            </p:spPr>
          </p:sp>
          <p:sp>
            <p:nvSpPr>
              <p:cNvPr id="289" name="TextBox 289"/>
              <p:cNvSpPr txBox="1"/>
              <p:nvPr/>
            </p:nvSpPr>
            <p:spPr>
              <a:xfrm>
                <a:off x="624159" y="5179457"/>
                <a:ext cx="675732"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新增存款(亿元)​</a:t>
                </a:r>
              </a:p>
            </p:txBody>
          </p:sp>
          <p:sp>
            <p:nvSpPr>
              <p:cNvPr id="290" name="TextBox 290"/>
              <p:cNvSpPr txBox="1"/>
              <p:nvPr/>
            </p:nvSpPr>
            <p:spPr>
              <a:xfrm>
                <a:off x="1838922" y="5179457"/>
                <a:ext cx="24645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0.30​</a:t>
                </a:r>
              </a:p>
            </p:txBody>
          </p:sp>
          <p:sp>
            <p:nvSpPr>
              <p:cNvPr id="291" name="TextBox 291"/>
              <p:cNvSpPr txBox="1"/>
              <p:nvPr/>
            </p:nvSpPr>
            <p:spPr>
              <a:xfrm>
                <a:off x="2600922" y="5179457"/>
                <a:ext cx="24645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0.40​</a:t>
                </a:r>
              </a:p>
            </p:txBody>
          </p:sp>
          <p:sp>
            <p:nvSpPr>
              <p:cNvPr id="292" name="TextBox 292"/>
              <p:cNvSpPr txBox="1"/>
              <p:nvPr/>
            </p:nvSpPr>
            <p:spPr>
              <a:xfrm>
                <a:off x="3362922" y="5179457"/>
                <a:ext cx="24645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0.50​</a:t>
                </a:r>
              </a:p>
            </p:txBody>
          </p:sp>
          <p:sp>
            <p:nvSpPr>
              <p:cNvPr id="293" name="TextBox 293"/>
              <p:cNvSpPr txBox="1"/>
              <p:nvPr/>
            </p:nvSpPr>
            <p:spPr>
              <a:xfrm>
                <a:off x="4166624" y="5179457"/>
                <a:ext cx="258303"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1.20​</a:t>
                </a:r>
              </a:p>
            </p:txBody>
          </p:sp>
          <p:sp>
            <p:nvSpPr>
              <p:cNvPr id="294" name="TextBox 294"/>
              <p:cNvSpPr txBox="1"/>
              <p:nvPr/>
            </p:nvSpPr>
            <p:spPr>
              <a:xfrm>
                <a:off x="5254033" y="5179457"/>
                <a:ext cx="1607734"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到期预警、专班推动、重点客户上门维护​</a:t>
                </a:r>
              </a:p>
            </p:txBody>
          </p:sp>
          <p:sp>
            <p:nvSpPr>
              <p:cNvPr id="295" name="Rectangle 295"/>
              <p:cNvSpPr/>
              <p:nvPr/>
            </p:nvSpPr>
            <p:spPr>
              <a:xfrm>
                <a:off x="342900" y="5314950"/>
                <a:ext cx="7048500" cy="209550"/>
              </a:xfrm>
              <a:prstGeom prst="rect">
                <a:avLst/>
              </a:prstGeom>
              <a:solidFill>
                <a:srgbClr val="F7FBF9"/>
              </a:solidFill>
              <a:ln w="7620">
                <a:solidFill>
                  <a:srgbClr val="D9E8E2"/>
                </a:solidFill>
              </a:ln>
            </p:spPr>
          </p:sp>
          <p:sp>
            <p:nvSpPr>
              <p:cNvPr id="296" name="TextBox 296"/>
              <p:cNvSpPr txBox="1"/>
              <p:nvPr/>
            </p:nvSpPr>
            <p:spPr>
              <a:xfrm>
                <a:off x="620491" y="5389007"/>
                <a:ext cx="683068"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新增AUM(亿元)​</a:t>
                </a:r>
              </a:p>
            </p:txBody>
          </p:sp>
          <p:sp>
            <p:nvSpPr>
              <p:cNvPr id="297" name="TextBox 297"/>
              <p:cNvSpPr txBox="1"/>
              <p:nvPr/>
            </p:nvSpPr>
            <p:spPr>
              <a:xfrm>
                <a:off x="1838922" y="5389007"/>
                <a:ext cx="24645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0.40​</a:t>
                </a:r>
              </a:p>
            </p:txBody>
          </p:sp>
          <p:sp>
            <p:nvSpPr>
              <p:cNvPr id="298" name="TextBox 298"/>
              <p:cNvSpPr txBox="1"/>
              <p:nvPr/>
            </p:nvSpPr>
            <p:spPr>
              <a:xfrm>
                <a:off x="2600922" y="5389007"/>
                <a:ext cx="24645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0.55​</a:t>
                </a:r>
              </a:p>
            </p:txBody>
          </p:sp>
          <p:sp>
            <p:nvSpPr>
              <p:cNvPr id="299" name="TextBox 299"/>
              <p:cNvSpPr txBox="1"/>
              <p:nvPr/>
            </p:nvSpPr>
            <p:spPr>
              <a:xfrm>
                <a:off x="3362922" y="5389007"/>
                <a:ext cx="24645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0.70​</a:t>
                </a:r>
              </a:p>
            </p:txBody>
          </p:sp>
          <p:sp>
            <p:nvSpPr>
              <p:cNvPr id="300" name="TextBox 300"/>
              <p:cNvSpPr txBox="1"/>
              <p:nvPr/>
            </p:nvSpPr>
            <p:spPr>
              <a:xfrm>
                <a:off x="4166624" y="5389007"/>
                <a:ext cx="258303"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1.65​</a:t>
                </a:r>
              </a:p>
            </p:txBody>
          </p:sp>
          <p:sp>
            <p:nvSpPr>
              <p:cNvPr id="301" name="TextBox 301"/>
              <p:cNvSpPr txBox="1"/>
              <p:nvPr/>
            </p:nvSpPr>
            <p:spPr>
              <a:xfrm>
                <a:off x="5426347" y="5389007"/>
                <a:ext cx="126310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资产配置、产品联动、客户沙龙​</a:t>
                </a:r>
              </a:p>
            </p:txBody>
          </p:sp>
          <p:sp>
            <p:nvSpPr>
              <p:cNvPr id="302" name="Rectangle 302"/>
              <p:cNvSpPr/>
              <p:nvPr/>
            </p:nvSpPr>
            <p:spPr>
              <a:xfrm>
                <a:off x="342900" y="5524500"/>
                <a:ext cx="7048500" cy="209550"/>
              </a:xfrm>
              <a:prstGeom prst="rect">
                <a:avLst/>
              </a:prstGeom>
              <a:solidFill>
                <a:srgbClr val="FFFFFF"/>
              </a:solidFill>
              <a:ln w="7620">
                <a:solidFill>
                  <a:srgbClr val="D9E8E2"/>
                </a:solidFill>
              </a:ln>
            </p:spPr>
          </p:sp>
          <p:sp>
            <p:nvSpPr>
              <p:cNvPr id="303" name="TextBox 303"/>
              <p:cNvSpPr txBox="1"/>
              <p:nvPr/>
            </p:nvSpPr>
            <p:spPr>
              <a:xfrm>
                <a:off x="581080" y="5598557"/>
                <a:ext cx="761889"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新增消费贷(万元)​</a:t>
                </a:r>
              </a:p>
            </p:txBody>
          </p:sp>
          <p:sp>
            <p:nvSpPr>
              <p:cNvPr id="304" name="TextBox 304"/>
              <p:cNvSpPr txBox="1"/>
              <p:nvPr/>
            </p:nvSpPr>
            <p:spPr>
              <a:xfrm>
                <a:off x="1862615" y="5598557"/>
                <a:ext cx="199070"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900​</a:t>
                </a:r>
              </a:p>
            </p:txBody>
          </p:sp>
          <p:sp>
            <p:nvSpPr>
              <p:cNvPr id="305" name="TextBox 305"/>
              <p:cNvSpPr txBox="1"/>
              <p:nvPr/>
            </p:nvSpPr>
            <p:spPr>
              <a:xfrm>
                <a:off x="2577229" y="5598557"/>
                <a:ext cx="29384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1,200​</a:t>
                </a:r>
              </a:p>
            </p:txBody>
          </p:sp>
          <p:sp>
            <p:nvSpPr>
              <p:cNvPr id="306" name="TextBox 306"/>
              <p:cNvSpPr txBox="1"/>
              <p:nvPr/>
            </p:nvSpPr>
            <p:spPr>
              <a:xfrm>
                <a:off x="3339229" y="5598557"/>
                <a:ext cx="293842"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1,700​</a:t>
                </a:r>
              </a:p>
            </p:txBody>
          </p:sp>
          <p:sp>
            <p:nvSpPr>
              <p:cNvPr id="307" name="TextBox 307"/>
              <p:cNvSpPr txBox="1"/>
              <p:nvPr/>
            </p:nvSpPr>
            <p:spPr>
              <a:xfrm>
                <a:off x="4141746" y="5598557"/>
                <a:ext cx="30805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3,800​</a:t>
                </a:r>
              </a:p>
            </p:txBody>
          </p:sp>
          <p:sp>
            <p:nvSpPr>
              <p:cNvPr id="308" name="TextBox 308"/>
              <p:cNvSpPr txBox="1"/>
              <p:nvPr/>
            </p:nvSpPr>
            <p:spPr>
              <a:xfrm>
                <a:off x="5426347" y="5598557"/>
                <a:ext cx="126310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名单营销、快速审批、场景引流​</a:t>
                </a:r>
              </a:p>
            </p:txBody>
          </p:sp>
          <p:sp>
            <p:nvSpPr>
              <p:cNvPr id="309" name="Rectangle 309"/>
              <p:cNvSpPr/>
              <p:nvPr/>
            </p:nvSpPr>
            <p:spPr>
              <a:xfrm>
                <a:off x="342900" y="5734050"/>
                <a:ext cx="7048500" cy="209550"/>
              </a:xfrm>
              <a:prstGeom prst="rect">
                <a:avLst/>
              </a:prstGeom>
              <a:solidFill>
                <a:srgbClr val="F7FBF9"/>
              </a:solidFill>
              <a:ln w="7620">
                <a:solidFill>
                  <a:srgbClr val="D9E8E2"/>
                </a:solidFill>
              </a:ln>
            </p:spPr>
          </p:sp>
          <p:sp>
            <p:nvSpPr>
              <p:cNvPr id="310" name="TextBox 310"/>
              <p:cNvSpPr txBox="1"/>
              <p:nvPr/>
            </p:nvSpPr>
            <p:spPr>
              <a:xfrm>
                <a:off x="624159" y="5808107"/>
                <a:ext cx="675732"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新增中收(万元)​</a:t>
                </a:r>
              </a:p>
            </p:txBody>
          </p:sp>
          <p:sp>
            <p:nvSpPr>
              <p:cNvPr id="311" name="TextBox 311"/>
              <p:cNvSpPr txBox="1"/>
              <p:nvPr/>
            </p:nvSpPr>
            <p:spPr>
              <a:xfrm>
                <a:off x="1862615" y="5808107"/>
                <a:ext cx="199070"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100​</a:t>
                </a:r>
              </a:p>
            </p:txBody>
          </p:sp>
          <p:sp>
            <p:nvSpPr>
              <p:cNvPr id="312" name="TextBox 312"/>
              <p:cNvSpPr txBox="1"/>
              <p:nvPr/>
            </p:nvSpPr>
            <p:spPr>
              <a:xfrm>
                <a:off x="2624615" y="5808107"/>
                <a:ext cx="199070"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140​</a:t>
                </a:r>
              </a:p>
            </p:txBody>
          </p:sp>
          <p:sp>
            <p:nvSpPr>
              <p:cNvPr id="313" name="TextBox 313"/>
              <p:cNvSpPr txBox="1"/>
              <p:nvPr/>
            </p:nvSpPr>
            <p:spPr>
              <a:xfrm>
                <a:off x="3386615" y="5808107"/>
                <a:ext cx="199070"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180​</a:t>
                </a:r>
              </a:p>
            </p:txBody>
          </p:sp>
          <p:sp>
            <p:nvSpPr>
              <p:cNvPr id="314" name="TextBox 314"/>
              <p:cNvSpPr txBox="1"/>
              <p:nvPr/>
            </p:nvSpPr>
            <p:spPr>
              <a:xfrm>
                <a:off x="4191501" y="5808107"/>
                <a:ext cx="208547"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420​</a:t>
                </a:r>
              </a:p>
            </p:txBody>
          </p:sp>
          <p:sp>
            <p:nvSpPr>
              <p:cNvPr id="315" name="TextBox 315"/>
              <p:cNvSpPr txBox="1"/>
              <p:nvPr/>
            </p:nvSpPr>
            <p:spPr>
              <a:xfrm>
                <a:off x="5426347" y="5808107"/>
                <a:ext cx="126310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交叉营销、增值服务、活动联动​</a:t>
                </a:r>
              </a:p>
            </p:txBody>
          </p:sp>
          <p:sp>
            <p:nvSpPr>
              <p:cNvPr id="316" name="Rectangle 316"/>
              <p:cNvSpPr/>
              <p:nvPr/>
            </p:nvSpPr>
            <p:spPr>
              <a:xfrm>
                <a:off x="342900" y="5943600"/>
                <a:ext cx="7048500" cy="209550"/>
              </a:xfrm>
              <a:prstGeom prst="rect">
                <a:avLst/>
              </a:prstGeom>
              <a:solidFill>
                <a:srgbClr val="FFFFFF"/>
              </a:solidFill>
              <a:ln w="7620">
                <a:solidFill>
                  <a:srgbClr val="D9E8E2"/>
                </a:solidFill>
              </a:ln>
            </p:spPr>
          </p:sp>
          <p:sp>
            <p:nvSpPr>
              <p:cNvPr id="317" name="TextBox 317"/>
              <p:cNvSpPr txBox="1"/>
              <p:nvPr/>
            </p:nvSpPr>
            <p:spPr>
              <a:xfrm>
                <a:off x="667237" y="6017657"/>
                <a:ext cx="589576"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新增客户(户)​</a:t>
                </a:r>
              </a:p>
            </p:txBody>
          </p:sp>
          <p:sp>
            <p:nvSpPr>
              <p:cNvPr id="318" name="TextBox 318"/>
              <p:cNvSpPr txBox="1"/>
              <p:nvPr/>
            </p:nvSpPr>
            <p:spPr>
              <a:xfrm>
                <a:off x="1862615" y="6017657"/>
                <a:ext cx="199070"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300​</a:t>
                </a:r>
              </a:p>
            </p:txBody>
          </p:sp>
          <p:sp>
            <p:nvSpPr>
              <p:cNvPr id="319" name="TextBox 319"/>
              <p:cNvSpPr txBox="1"/>
              <p:nvPr/>
            </p:nvSpPr>
            <p:spPr>
              <a:xfrm>
                <a:off x="2624615" y="6017657"/>
                <a:ext cx="199070"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400​</a:t>
                </a:r>
              </a:p>
            </p:txBody>
          </p:sp>
          <p:sp>
            <p:nvSpPr>
              <p:cNvPr id="320" name="TextBox 320"/>
              <p:cNvSpPr txBox="1"/>
              <p:nvPr/>
            </p:nvSpPr>
            <p:spPr>
              <a:xfrm>
                <a:off x="3386615" y="6017657"/>
                <a:ext cx="199070"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560​</a:t>
                </a:r>
              </a:p>
            </p:txBody>
          </p:sp>
          <p:sp>
            <p:nvSpPr>
              <p:cNvPr id="321" name="TextBox 321"/>
              <p:cNvSpPr txBox="1"/>
              <p:nvPr/>
            </p:nvSpPr>
            <p:spPr>
              <a:xfrm>
                <a:off x="4141746" y="6017657"/>
                <a:ext cx="308058"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1,260​</a:t>
                </a:r>
              </a:p>
            </p:txBody>
          </p:sp>
          <p:sp>
            <p:nvSpPr>
              <p:cNvPr id="322" name="TextBox 322"/>
              <p:cNvSpPr txBox="1"/>
              <p:nvPr/>
            </p:nvSpPr>
            <p:spPr>
              <a:xfrm>
                <a:off x="5335882" y="6017657"/>
                <a:ext cx="144403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场景拓展、社区/园区/商圈联合营销​</a:t>
                </a:r>
              </a:p>
            </p:txBody>
          </p:sp>
          <p:sp>
            <p:nvSpPr>
              <p:cNvPr id="323" name="Rectangle 323"/>
              <p:cNvSpPr/>
              <p:nvPr/>
            </p:nvSpPr>
            <p:spPr>
              <a:xfrm>
                <a:off x="342900" y="6153150"/>
                <a:ext cx="7048500" cy="209550"/>
              </a:xfrm>
              <a:prstGeom prst="rect">
                <a:avLst/>
              </a:prstGeom>
              <a:solidFill>
                <a:srgbClr val="F7FBF9"/>
              </a:solidFill>
              <a:ln w="7620">
                <a:solidFill>
                  <a:srgbClr val="D9E8E2"/>
                </a:solidFill>
              </a:ln>
            </p:spPr>
          </p:sp>
          <p:sp>
            <p:nvSpPr>
              <p:cNvPr id="324" name="TextBox 324"/>
              <p:cNvSpPr txBox="1"/>
              <p:nvPr/>
            </p:nvSpPr>
            <p:spPr>
              <a:xfrm>
                <a:off x="581080" y="6227207"/>
                <a:ext cx="761889" cy="126206"/>
              </a:xfrm>
              <a:prstGeom prst="rect">
                <a:avLst/>
              </a:prstGeom>
              <a:noFill/>
              <a:ln>
                <a:noFill/>
              </a:ln>
            </p:spPr>
            <p:txBody>
              <a:bodyPr wrap="none" lIns="0" tIns="0" rIns="0" bIns="0" anchor="t" anchorCtr="0">
                <a:spAutoFit/>
              </a:bodyPr>
              <a:lstStyle/>
              <a:p>
                <a:pPr algn="ctr"/>
                <a:r>
                  <a:rPr lang="zh-CN" sz="640" b="1" dirty="0">
                    <a:solidFill>
                      <a:srgbClr val="312624"/>
                    </a:solidFill>
                    <a:latin typeface="+mn-lt"/>
                    <a:ea typeface="+mn-ea"/>
                    <a:cs typeface="+mn-cs"/>
                  </a:rPr>
                  <a:t>重大合规事件(起)​</a:t>
                </a:r>
              </a:p>
            </p:txBody>
          </p:sp>
          <p:sp>
            <p:nvSpPr>
              <p:cNvPr id="325" name="TextBox 325"/>
              <p:cNvSpPr txBox="1"/>
              <p:nvPr/>
            </p:nvSpPr>
            <p:spPr>
              <a:xfrm>
                <a:off x="1910001" y="6227207"/>
                <a:ext cx="104297"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0​</a:t>
                </a:r>
              </a:p>
            </p:txBody>
          </p:sp>
          <p:sp>
            <p:nvSpPr>
              <p:cNvPr id="326" name="TextBox 326"/>
              <p:cNvSpPr txBox="1"/>
              <p:nvPr/>
            </p:nvSpPr>
            <p:spPr>
              <a:xfrm>
                <a:off x="2672001" y="6227207"/>
                <a:ext cx="104297"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0​</a:t>
                </a:r>
              </a:p>
            </p:txBody>
          </p:sp>
          <p:sp>
            <p:nvSpPr>
              <p:cNvPr id="327" name="TextBox 327"/>
              <p:cNvSpPr txBox="1"/>
              <p:nvPr/>
            </p:nvSpPr>
            <p:spPr>
              <a:xfrm>
                <a:off x="3434001" y="6227207"/>
                <a:ext cx="104297"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0​</a:t>
                </a:r>
              </a:p>
            </p:txBody>
          </p:sp>
          <p:sp>
            <p:nvSpPr>
              <p:cNvPr id="328" name="TextBox 328"/>
              <p:cNvSpPr txBox="1"/>
              <p:nvPr/>
            </p:nvSpPr>
            <p:spPr>
              <a:xfrm>
                <a:off x="4241257" y="6227207"/>
                <a:ext cx="109036" cy="126206"/>
              </a:xfrm>
              <a:prstGeom prst="rect">
                <a:avLst/>
              </a:prstGeom>
              <a:noFill/>
              <a:ln>
                <a:noFill/>
              </a:ln>
            </p:spPr>
            <p:txBody>
              <a:bodyPr wrap="none" lIns="0" tIns="0" rIns="0" bIns="0" anchor="t" anchorCtr="0">
                <a:spAutoFit/>
              </a:bodyPr>
              <a:lstStyle/>
              <a:p>
                <a:pPr algn="ctr"/>
                <a:r>
                  <a:rPr lang="zh-CN" sz="640" b="1" dirty="0">
                    <a:solidFill>
                      <a:srgbClr val="5B180B"/>
                    </a:solidFill>
                    <a:latin typeface="+mn-lt"/>
                    <a:ea typeface="+mn-ea"/>
                    <a:cs typeface="+mn-cs"/>
                  </a:rPr>
                  <a:t>0​</a:t>
                </a:r>
              </a:p>
            </p:txBody>
          </p:sp>
          <p:sp>
            <p:nvSpPr>
              <p:cNvPr id="329" name="TextBox 329"/>
              <p:cNvSpPr txBox="1"/>
              <p:nvPr/>
            </p:nvSpPr>
            <p:spPr>
              <a:xfrm>
                <a:off x="5426347" y="6227207"/>
                <a:ext cx="1263106" cy="126206"/>
              </a:xfrm>
              <a:prstGeom prst="rect">
                <a:avLst/>
              </a:prstGeom>
              <a:noFill/>
              <a:ln>
                <a:noFill/>
              </a:ln>
            </p:spPr>
            <p:txBody>
              <a:bodyPr wrap="none" lIns="0" tIns="0" rIns="0" bIns="0" anchor="t" anchorCtr="0">
                <a:spAutoFit/>
              </a:bodyPr>
              <a:lstStyle/>
              <a:p>
                <a:pPr algn="ctr"/>
                <a:r>
                  <a:rPr lang="zh-CN" sz="640" dirty="0">
                    <a:solidFill>
                      <a:srgbClr val="4A3D3A"/>
                    </a:solidFill>
                    <a:latin typeface="+mn-lt"/>
                    <a:ea typeface="+mn-ea"/>
                    <a:cs typeface="+mn-cs"/>
                  </a:rPr>
                  <a:t>合规培训、风险排查、全程管控​</a:t>
                </a:r>
              </a:p>
            </p:txBody>
          </p:sp>
        </p:grpSp>
      </p:grpSp>
      <p:grpSp>
        <p:nvGrpSpPr>
          <p:cNvPr id="369" name="support-card"/>
          <p:cNvGrpSpPr/>
          <p:nvPr/>
        </p:nvGrpSpPr>
        <p:grpSpPr>
          <a:xfrm>
            <a:off x="7581900" y="3067050"/>
            <a:ext cx="4381500" cy="3352800"/>
            <a:chOff x="7581900" y="3067050"/>
            <a:chExt cx="4381500" cy="3352800"/>
          </a:xfrm>
        </p:grpSpPr>
        <p:sp>
          <p:nvSpPr>
            <p:cNvPr id="332" name="Rectangle 332"/>
            <p:cNvSpPr/>
            <p:nvPr/>
          </p:nvSpPr>
          <p:spPr>
            <a:xfrm>
              <a:off x="7581900" y="3067050"/>
              <a:ext cx="4381500" cy="3352800"/>
            </a:xfrm>
            <a:prstGeom prst="roundRect">
              <a:avLst>
                <a:gd name="adj" fmla="val 2841"/>
              </a:avLst>
            </a:prstGeom>
            <a:solidFill>
              <a:srgbClr val="F5FAF8"/>
            </a:solidFill>
            <a:ln w="9525">
              <a:solidFill>
                <a:srgbClr val="D9E8E2"/>
              </a:solidFill>
            </a:ln>
          </p:spPr>
        </p:sp>
        <p:sp>
          <p:nvSpPr>
            <p:cNvPr id="333" name="Rectangle 333"/>
            <p:cNvSpPr/>
            <p:nvPr/>
          </p:nvSpPr>
          <p:spPr>
            <a:xfrm>
              <a:off x="7581900" y="3067050"/>
              <a:ext cx="1143000" cy="228600"/>
            </a:xfrm>
            <a:prstGeom prst="roundRect">
              <a:avLst>
                <a:gd name="adj" fmla="val 16667"/>
              </a:avLst>
            </a:prstGeom>
            <a:solidFill>
              <a:srgbClr val="5B180B"/>
            </a:solidFill>
            <a:ln>
              <a:noFill/>
            </a:ln>
          </p:spPr>
        </p:sp>
        <p:sp>
          <p:nvSpPr>
            <p:cNvPr id="334" name="TextBox 334"/>
            <p:cNvSpPr txBox="1"/>
            <p:nvPr/>
          </p:nvSpPr>
          <p:spPr>
            <a:xfrm>
              <a:off x="7691438" y="3135868"/>
              <a:ext cx="539477"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保障举措​</a:t>
              </a:r>
            </a:p>
          </p:txBody>
        </p:sp>
        <p:grpSp>
          <p:nvGrpSpPr>
            <p:cNvPr id="368" name="support-rows"/>
            <p:cNvGrpSpPr/>
            <p:nvPr/>
          </p:nvGrpSpPr>
          <p:grpSpPr>
            <a:xfrm>
              <a:off x="7677150" y="3409950"/>
              <a:ext cx="4191000" cy="2895600"/>
              <a:chOff x="7677150" y="3409950"/>
              <a:chExt cx="4191000" cy="2895600"/>
            </a:xfrm>
          </p:grpSpPr>
          <p:sp>
            <p:nvSpPr>
              <p:cNvPr id="335" name="Rectangle 335"/>
              <p:cNvSpPr/>
              <p:nvPr/>
            </p:nvSpPr>
            <p:spPr>
              <a:xfrm>
                <a:off x="7677150" y="3409950"/>
                <a:ext cx="4191000" cy="666750"/>
              </a:xfrm>
              <a:prstGeom prst="roundRect">
                <a:avLst>
                  <a:gd name="adj" fmla="val 8571"/>
                </a:avLst>
              </a:prstGeom>
              <a:solidFill>
                <a:srgbClr val="FFFFFF"/>
              </a:solidFill>
              <a:ln w="7620">
                <a:solidFill>
                  <a:srgbClr val="D9E8E2"/>
                </a:solidFill>
              </a:ln>
            </p:spPr>
          </p:sp>
          <p:sp>
            <p:nvSpPr>
              <p:cNvPr id="336" name="Ellipse 336"/>
              <p:cNvSpPr/>
              <p:nvPr/>
            </p:nvSpPr>
            <p:spPr>
              <a:xfrm>
                <a:off x="7791450" y="3571875"/>
                <a:ext cx="342900" cy="342900"/>
              </a:xfrm>
              <a:prstGeom prst="ellipse">
                <a:avLst/>
              </a:prstGeom>
              <a:solidFill>
                <a:srgbClr val="5B180B"/>
              </a:solidFill>
              <a:ln>
                <a:noFill/>
              </a:ln>
            </p:spPr>
          </p:sp>
          <p:grpSp>
            <p:nvGrpSpPr>
              <p:cNvPr id="342" name="Group 342"/>
              <p:cNvGrpSpPr/>
              <p:nvPr/>
            </p:nvGrpSpPr>
            <p:grpSpPr>
              <a:xfrm>
                <a:off x="7870031" y="3650456"/>
                <a:ext cx="185737" cy="185737"/>
                <a:chOff x="7870031" y="3650456"/>
                <a:chExt cx="185737" cy="185737"/>
              </a:xfrm>
            </p:grpSpPr>
            <p:sp>
              <p:nvSpPr>
                <p:cNvPr id="337" name="Freeform 337"/>
                <p:cNvSpPr/>
                <p:nvPr/>
              </p:nvSpPr>
              <p:spPr>
                <a:xfrm>
                  <a:off x="7870031" y="3774281"/>
                  <a:ext cx="61912" cy="61912"/>
                </a:xfrm>
                <a:custGeom>
                  <a:avLst/>
                  <a:gdLst/>
                  <a:ahLst/>
                  <a:cxnLst/>
                  <a:rect l="l" t="t" r="r" b="b"/>
                  <a:pathLst>
                    <a:path w="61912" h="61912">
                      <a:moveTo>
                        <a:pt x="0" y="20637"/>
                      </a:moveTo>
                      <a:cubicBezTo>
                        <a:pt x="0" y="9240"/>
                        <a:pt x="9240" y="0"/>
                        <a:pt x="20637" y="0"/>
                      </a:cubicBezTo>
                      <a:lnTo>
                        <a:pt x="41275" y="0"/>
                      </a:lnTo>
                      <a:cubicBezTo>
                        <a:pt x="52673" y="0"/>
                        <a:pt x="61912" y="9240"/>
                        <a:pt x="61912" y="20637"/>
                      </a:cubicBezTo>
                      <a:lnTo>
                        <a:pt x="61912" y="41275"/>
                      </a:lnTo>
                      <a:cubicBezTo>
                        <a:pt x="61912" y="52673"/>
                        <a:pt x="52673" y="61912"/>
                        <a:pt x="41275" y="61912"/>
                      </a:cubicBezTo>
                      <a:lnTo>
                        <a:pt x="20637" y="61912"/>
                      </a:lnTo>
                      <a:cubicBezTo>
                        <a:pt x="9240" y="61912"/>
                        <a:pt x="0" y="52673"/>
                        <a:pt x="0" y="41275"/>
                      </a:cubicBezTo>
                      <a:lnTo>
                        <a:pt x="0" y="20637"/>
                      </a:lnTo>
                    </a:path>
                  </a:pathLst>
                </a:custGeom>
                <a:noFill/>
                <a:ln w="20637">
                  <a:solidFill>
                    <a:srgbClr val="FFFFFF"/>
                  </a:solidFill>
                </a:ln>
              </p:spPr>
            </p:sp>
            <p:sp>
              <p:nvSpPr>
                <p:cNvPr id="338" name="Freeform 338"/>
                <p:cNvSpPr/>
                <p:nvPr/>
              </p:nvSpPr>
              <p:spPr>
                <a:xfrm>
                  <a:off x="7993856" y="3774281"/>
                  <a:ext cx="61912" cy="61912"/>
                </a:xfrm>
                <a:custGeom>
                  <a:avLst/>
                  <a:gdLst/>
                  <a:ahLst/>
                  <a:cxnLst/>
                  <a:rect l="l" t="t" r="r" b="b"/>
                  <a:pathLst>
                    <a:path w="61912" h="61912">
                      <a:moveTo>
                        <a:pt x="0" y="20637"/>
                      </a:moveTo>
                      <a:cubicBezTo>
                        <a:pt x="0" y="9240"/>
                        <a:pt x="9240" y="0"/>
                        <a:pt x="20637" y="0"/>
                      </a:cubicBezTo>
                      <a:lnTo>
                        <a:pt x="41275" y="0"/>
                      </a:lnTo>
                      <a:cubicBezTo>
                        <a:pt x="52673" y="0"/>
                        <a:pt x="61912" y="9240"/>
                        <a:pt x="61912" y="20637"/>
                      </a:cubicBezTo>
                      <a:lnTo>
                        <a:pt x="61912" y="41275"/>
                      </a:lnTo>
                      <a:cubicBezTo>
                        <a:pt x="61912" y="52673"/>
                        <a:pt x="52673" y="61912"/>
                        <a:pt x="41275" y="61912"/>
                      </a:cubicBezTo>
                      <a:lnTo>
                        <a:pt x="20637" y="61912"/>
                      </a:lnTo>
                      <a:cubicBezTo>
                        <a:pt x="9240" y="61912"/>
                        <a:pt x="0" y="52673"/>
                        <a:pt x="0" y="41275"/>
                      </a:cubicBezTo>
                      <a:lnTo>
                        <a:pt x="0" y="20637"/>
                      </a:lnTo>
                    </a:path>
                  </a:pathLst>
                </a:custGeom>
                <a:noFill/>
                <a:ln w="20637">
                  <a:solidFill>
                    <a:srgbClr val="FFFFFF"/>
                  </a:solidFill>
                </a:ln>
              </p:spPr>
            </p:sp>
            <p:sp>
              <p:nvSpPr>
                <p:cNvPr id="339" name="Freeform 339"/>
                <p:cNvSpPr/>
                <p:nvPr/>
              </p:nvSpPr>
              <p:spPr>
                <a:xfrm>
                  <a:off x="7931943" y="3650456"/>
                  <a:ext cx="61912" cy="61912"/>
                </a:xfrm>
                <a:custGeom>
                  <a:avLst/>
                  <a:gdLst/>
                  <a:ahLst/>
                  <a:cxnLst/>
                  <a:rect l="l" t="t" r="r" b="b"/>
                  <a:pathLst>
                    <a:path w="61912" h="61912">
                      <a:moveTo>
                        <a:pt x="0" y="20637"/>
                      </a:moveTo>
                      <a:cubicBezTo>
                        <a:pt x="0" y="9240"/>
                        <a:pt x="9240" y="0"/>
                        <a:pt x="20637" y="0"/>
                      </a:cubicBezTo>
                      <a:lnTo>
                        <a:pt x="41275" y="0"/>
                      </a:lnTo>
                      <a:cubicBezTo>
                        <a:pt x="52673" y="0"/>
                        <a:pt x="61912" y="9240"/>
                        <a:pt x="61912" y="20637"/>
                      </a:cubicBezTo>
                      <a:lnTo>
                        <a:pt x="61912" y="41275"/>
                      </a:lnTo>
                      <a:cubicBezTo>
                        <a:pt x="61912" y="52673"/>
                        <a:pt x="52673" y="61912"/>
                        <a:pt x="41275" y="61912"/>
                      </a:cubicBezTo>
                      <a:lnTo>
                        <a:pt x="20637" y="61912"/>
                      </a:lnTo>
                      <a:cubicBezTo>
                        <a:pt x="9240" y="61912"/>
                        <a:pt x="0" y="52673"/>
                        <a:pt x="0" y="41275"/>
                      </a:cubicBezTo>
                      <a:lnTo>
                        <a:pt x="0" y="20637"/>
                      </a:lnTo>
                    </a:path>
                  </a:pathLst>
                </a:custGeom>
                <a:noFill/>
                <a:ln w="20637">
                  <a:solidFill>
                    <a:srgbClr val="FFFFFF"/>
                  </a:solidFill>
                </a:ln>
              </p:spPr>
            </p:sp>
            <p:sp>
              <p:nvSpPr>
                <p:cNvPr id="340" name="Freeform 340"/>
                <p:cNvSpPr/>
                <p:nvPr/>
              </p:nvSpPr>
              <p:spPr>
                <a:xfrm>
                  <a:off x="7900987" y="3743325"/>
                  <a:ext cx="123825" cy="30956"/>
                </a:xfrm>
                <a:custGeom>
                  <a:avLst/>
                  <a:gdLst/>
                  <a:ahLst/>
                  <a:cxnLst/>
                  <a:rect l="l" t="t" r="r" b="b"/>
                  <a:pathLst>
                    <a:path w="123825" h="30956">
                      <a:moveTo>
                        <a:pt x="0" y="30956"/>
                      </a:moveTo>
                      <a:lnTo>
                        <a:pt x="0" y="20637"/>
                      </a:lnTo>
                      <a:cubicBezTo>
                        <a:pt x="0" y="9240"/>
                        <a:pt x="9240" y="0"/>
                        <a:pt x="20637" y="0"/>
                      </a:cubicBezTo>
                      <a:lnTo>
                        <a:pt x="103187" y="0"/>
                      </a:lnTo>
                      <a:cubicBezTo>
                        <a:pt x="114585" y="0"/>
                        <a:pt x="123825" y="9240"/>
                        <a:pt x="123825" y="20637"/>
                      </a:cubicBezTo>
                      <a:lnTo>
                        <a:pt x="123825" y="30956"/>
                      </a:lnTo>
                    </a:path>
                  </a:pathLst>
                </a:custGeom>
                <a:noFill/>
                <a:ln w="20637">
                  <a:solidFill>
                    <a:srgbClr val="FFFFFF"/>
                  </a:solidFill>
                </a:ln>
              </p:spPr>
            </p:sp>
            <p:sp>
              <p:nvSpPr>
                <p:cNvPr id="341" name="Freeform 341"/>
                <p:cNvSpPr/>
                <p:nvPr/>
              </p:nvSpPr>
              <p:spPr>
                <a:xfrm>
                  <a:off x="7962900" y="3712368"/>
                  <a:ext cx="9525" cy="30956"/>
                </a:xfrm>
                <a:custGeom>
                  <a:avLst/>
                  <a:gdLst/>
                  <a:ahLst/>
                  <a:cxnLst/>
                  <a:rect l="l" t="t" r="r" b="b"/>
                  <a:pathLst>
                    <a:path w="9525" h="30956">
                      <a:moveTo>
                        <a:pt x="0" y="0"/>
                      </a:moveTo>
                      <a:lnTo>
                        <a:pt x="0" y="30956"/>
                      </a:lnTo>
                    </a:path>
                  </a:pathLst>
                </a:custGeom>
                <a:noFill/>
                <a:ln w="20637">
                  <a:solidFill>
                    <a:srgbClr val="FFFFFF"/>
                  </a:solidFill>
                </a:ln>
              </p:spPr>
            </p:sp>
          </p:grpSp>
          <p:sp>
            <p:nvSpPr>
              <p:cNvPr id="343" name="TextBox 343"/>
              <p:cNvSpPr txBox="1"/>
              <p:nvPr/>
            </p:nvSpPr>
            <p:spPr>
              <a:xfrm>
                <a:off x="8262938" y="3602593"/>
                <a:ext cx="539477"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组织保障​</a:t>
                </a:r>
              </a:p>
            </p:txBody>
          </p:sp>
          <p:sp>
            <p:nvSpPr>
              <p:cNvPr id="344" name="TextBox 344"/>
              <p:cNvSpPr txBox="1"/>
              <p:nvPr/>
            </p:nvSpPr>
            <p:spPr>
              <a:xfrm>
                <a:off x="8262938" y="3813334"/>
                <a:ext cx="1840357"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总行统筹 · 条线协同 · 网点主战 · 专班跟进​</a:t>
                </a:r>
              </a:p>
            </p:txBody>
          </p:sp>
          <p:sp>
            <p:nvSpPr>
              <p:cNvPr id="345" name="Rectangle 345"/>
              <p:cNvSpPr/>
              <p:nvPr/>
            </p:nvSpPr>
            <p:spPr>
              <a:xfrm>
                <a:off x="7677150" y="4152900"/>
                <a:ext cx="4191000" cy="666750"/>
              </a:xfrm>
              <a:prstGeom prst="roundRect">
                <a:avLst>
                  <a:gd name="adj" fmla="val 8571"/>
                </a:avLst>
              </a:prstGeom>
              <a:solidFill>
                <a:srgbClr val="FFFFFF"/>
              </a:solidFill>
              <a:ln w="7620">
                <a:solidFill>
                  <a:srgbClr val="D9E8E2"/>
                </a:solidFill>
              </a:ln>
            </p:spPr>
          </p:sp>
          <p:sp>
            <p:nvSpPr>
              <p:cNvPr id="346" name="Ellipse 346"/>
              <p:cNvSpPr/>
              <p:nvPr/>
            </p:nvSpPr>
            <p:spPr>
              <a:xfrm>
                <a:off x="7791450" y="4314825"/>
                <a:ext cx="342900" cy="342900"/>
              </a:xfrm>
              <a:prstGeom prst="ellipse">
                <a:avLst/>
              </a:prstGeom>
              <a:solidFill>
                <a:srgbClr val="722617"/>
              </a:solidFill>
              <a:ln>
                <a:noFill/>
              </a:ln>
            </p:spPr>
          </p:sp>
          <p:grpSp>
            <p:nvGrpSpPr>
              <p:cNvPr id="350" name="Group 350"/>
              <p:cNvGrpSpPr/>
              <p:nvPr/>
            </p:nvGrpSpPr>
            <p:grpSpPr>
              <a:xfrm>
                <a:off x="7880350" y="4393406"/>
                <a:ext cx="165099" cy="185737"/>
                <a:chOff x="7880350" y="4393406"/>
                <a:chExt cx="165099" cy="185737"/>
              </a:xfrm>
            </p:grpSpPr>
            <p:sp>
              <p:nvSpPr>
                <p:cNvPr id="347" name="Freeform 347"/>
                <p:cNvSpPr/>
                <p:nvPr/>
              </p:nvSpPr>
              <p:spPr>
                <a:xfrm>
                  <a:off x="7880350" y="439340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FFFFFF"/>
                  </a:solidFill>
                </a:ln>
              </p:spPr>
            </p:sp>
            <p:sp>
              <p:nvSpPr>
                <p:cNvPr id="348" name="Freeform 348"/>
                <p:cNvSpPr/>
                <p:nvPr/>
              </p:nvSpPr>
              <p:spPr>
                <a:xfrm>
                  <a:off x="7880350" y="442436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sp>
              <p:nvSpPr>
                <p:cNvPr id="349" name="Freeform 349"/>
                <p:cNvSpPr/>
                <p:nvPr/>
              </p:nvSpPr>
              <p:spPr>
                <a:xfrm>
                  <a:off x="7880350" y="448627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grpSp>
          <p:sp>
            <p:nvSpPr>
              <p:cNvPr id="351" name="TextBox 351"/>
              <p:cNvSpPr txBox="1"/>
              <p:nvPr/>
            </p:nvSpPr>
            <p:spPr>
              <a:xfrm>
                <a:off x="8262938" y="4345543"/>
                <a:ext cx="539477"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资源保障​</a:t>
                </a:r>
              </a:p>
            </p:txBody>
          </p:sp>
          <p:sp>
            <p:nvSpPr>
              <p:cNvPr id="352" name="TextBox 352"/>
              <p:cNvSpPr txBox="1"/>
              <p:nvPr/>
            </p:nvSpPr>
            <p:spPr>
              <a:xfrm>
                <a:off x="8262938" y="4556284"/>
                <a:ext cx="1812895"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产品、费用、审批绿色通道 · 重点资源倾斜​</a:t>
                </a:r>
              </a:p>
            </p:txBody>
          </p:sp>
          <p:sp>
            <p:nvSpPr>
              <p:cNvPr id="353" name="Rectangle 353"/>
              <p:cNvSpPr/>
              <p:nvPr/>
            </p:nvSpPr>
            <p:spPr>
              <a:xfrm>
                <a:off x="7677150" y="4895850"/>
                <a:ext cx="4191000" cy="666750"/>
              </a:xfrm>
              <a:prstGeom prst="roundRect">
                <a:avLst>
                  <a:gd name="adj" fmla="val 8571"/>
                </a:avLst>
              </a:prstGeom>
              <a:solidFill>
                <a:srgbClr val="FFFFFF"/>
              </a:solidFill>
              <a:ln w="7620">
                <a:solidFill>
                  <a:srgbClr val="D9E8E2"/>
                </a:solidFill>
              </a:ln>
            </p:spPr>
          </p:sp>
          <p:sp>
            <p:nvSpPr>
              <p:cNvPr id="354" name="Ellipse 354"/>
              <p:cNvSpPr/>
              <p:nvPr/>
            </p:nvSpPr>
            <p:spPr>
              <a:xfrm>
                <a:off x="7791450" y="5057775"/>
                <a:ext cx="342900" cy="342900"/>
              </a:xfrm>
              <a:prstGeom prst="ellipse">
                <a:avLst/>
              </a:prstGeom>
              <a:solidFill>
                <a:srgbClr val="9A412F"/>
              </a:solidFill>
              <a:ln>
                <a:noFill/>
              </a:ln>
            </p:spPr>
          </p:sp>
          <p:grpSp>
            <p:nvGrpSpPr>
              <p:cNvPr id="357" name="Group 357"/>
              <p:cNvGrpSpPr/>
              <p:nvPr/>
            </p:nvGrpSpPr>
            <p:grpSpPr>
              <a:xfrm>
                <a:off x="7865501" y="5131826"/>
                <a:ext cx="194797" cy="194797"/>
                <a:chOff x="7865501" y="5131826"/>
                <a:chExt cx="194797" cy="194797"/>
              </a:xfrm>
            </p:grpSpPr>
            <p:sp>
              <p:nvSpPr>
                <p:cNvPr id="355" name="Freeform 355"/>
                <p:cNvSpPr/>
                <p:nvPr/>
              </p:nvSpPr>
              <p:spPr>
                <a:xfrm>
                  <a:off x="7865501" y="5131826"/>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FFFFFF"/>
                  </a:solidFill>
                </a:ln>
              </p:spPr>
            </p:sp>
            <p:sp>
              <p:nvSpPr>
                <p:cNvPr id="356" name="Freeform 356"/>
                <p:cNvSpPr/>
                <p:nvPr/>
              </p:nvSpPr>
              <p:spPr>
                <a:xfrm>
                  <a:off x="7931943" y="5198268"/>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FFFFFF"/>
                  </a:solidFill>
                </a:ln>
              </p:spPr>
            </p:sp>
          </p:grpSp>
          <p:sp>
            <p:nvSpPr>
              <p:cNvPr id="358" name="TextBox 358"/>
              <p:cNvSpPr txBox="1"/>
              <p:nvPr/>
            </p:nvSpPr>
            <p:spPr>
              <a:xfrm>
                <a:off x="8262938" y="5088493"/>
                <a:ext cx="539477"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过程管理​</a:t>
                </a:r>
              </a:p>
            </p:txBody>
          </p:sp>
          <p:sp>
            <p:nvSpPr>
              <p:cNvPr id="359" name="TextBox 359"/>
              <p:cNvSpPr txBox="1"/>
              <p:nvPr/>
            </p:nvSpPr>
            <p:spPr>
              <a:xfrm>
                <a:off x="8262938" y="5299234"/>
                <a:ext cx="1748815"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周通报 · 月点评 · 红黄牌预警 · 动态调整​</a:t>
                </a:r>
              </a:p>
            </p:txBody>
          </p:sp>
          <p:sp>
            <p:nvSpPr>
              <p:cNvPr id="360" name="Rectangle 360"/>
              <p:cNvSpPr/>
              <p:nvPr/>
            </p:nvSpPr>
            <p:spPr>
              <a:xfrm>
                <a:off x="7677150" y="5638800"/>
                <a:ext cx="4191000" cy="666750"/>
              </a:xfrm>
              <a:prstGeom prst="roundRect">
                <a:avLst>
                  <a:gd name="adj" fmla="val 8571"/>
                </a:avLst>
              </a:prstGeom>
              <a:solidFill>
                <a:srgbClr val="FFFFFF"/>
              </a:solidFill>
              <a:ln w="7620">
                <a:solidFill>
                  <a:srgbClr val="D9E8E2"/>
                </a:solidFill>
              </a:ln>
            </p:spPr>
          </p:sp>
          <p:sp>
            <p:nvSpPr>
              <p:cNvPr id="361" name="Ellipse 361"/>
              <p:cNvSpPr/>
              <p:nvPr/>
            </p:nvSpPr>
            <p:spPr>
              <a:xfrm>
                <a:off x="7791450" y="5800725"/>
                <a:ext cx="342900" cy="342900"/>
              </a:xfrm>
              <a:prstGeom prst="ellipse">
                <a:avLst/>
              </a:prstGeom>
              <a:solidFill>
                <a:srgbClr val="A75545"/>
              </a:solidFill>
              <a:ln>
                <a:noFill/>
              </a:ln>
            </p:spPr>
          </p:sp>
          <p:grpSp>
            <p:nvGrpSpPr>
              <p:cNvPr id="365" name="Group 365"/>
              <p:cNvGrpSpPr/>
              <p:nvPr/>
            </p:nvGrpSpPr>
            <p:grpSpPr>
              <a:xfrm>
                <a:off x="7874179" y="5879306"/>
                <a:ext cx="177421" cy="184602"/>
                <a:chOff x="7874179" y="5879306"/>
                <a:chExt cx="177421" cy="184602"/>
              </a:xfrm>
            </p:grpSpPr>
            <p:sp>
              <p:nvSpPr>
                <p:cNvPr id="362" name="Freeform 362"/>
                <p:cNvSpPr/>
                <p:nvPr/>
              </p:nvSpPr>
              <p:spPr>
                <a:xfrm>
                  <a:off x="7900987" y="5879306"/>
                  <a:ext cx="123825" cy="123825"/>
                </a:xfrm>
                <a:custGeom>
                  <a:avLst/>
                  <a:gdLst/>
                  <a:ahLst/>
                  <a:cxnLst/>
                  <a:rect l="l" t="t" r="r" b="b"/>
                  <a:pathLst>
                    <a:path w="123825" h="123825">
                      <a:moveTo>
                        <a:pt x="0" y="61912"/>
                      </a:moveTo>
                      <a:cubicBezTo>
                        <a:pt x="0" y="96106"/>
                        <a:pt x="27719" y="123825"/>
                        <a:pt x="61912" y="123825"/>
                      </a:cubicBezTo>
                      <a:cubicBezTo>
                        <a:pt x="96106" y="123825"/>
                        <a:pt x="123825" y="96106"/>
                        <a:pt x="123825" y="61912"/>
                      </a:cubicBezTo>
                      <a:cubicBezTo>
                        <a:pt x="123825" y="27719"/>
                        <a:pt x="96106" y="0"/>
                        <a:pt x="61912" y="0"/>
                      </a:cubicBezTo>
                      <a:cubicBezTo>
                        <a:pt x="27719" y="0"/>
                        <a:pt x="0" y="27719"/>
                        <a:pt x="0" y="61912"/>
                      </a:cubicBezTo>
                    </a:path>
                  </a:pathLst>
                </a:custGeom>
                <a:noFill/>
                <a:ln w="20637">
                  <a:solidFill>
                    <a:srgbClr val="FFFFFF"/>
                  </a:solidFill>
                </a:ln>
              </p:spPr>
            </p:sp>
            <p:sp>
              <p:nvSpPr>
                <p:cNvPr id="363" name="Freeform 363"/>
                <p:cNvSpPr/>
                <p:nvPr/>
              </p:nvSpPr>
              <p:spPr>
                <a:xfrm>
                  <a:off x="7962900" y="5972175"/>
                  <a:ext cx="88700" cy="91733"/>
                </a:xfrm>
                <a:custGeom>
                  <a:avLst/>
                  <a:gdLst/>
                  <a:ahLst/>
                  <a:cxnLst/>
                  <a:rect l="l" t="t" r="r" b="b"/>
                  <a:pathLst>
                    <a:path w="88700" h="91733">
                      <a:moveTo>
                        <a:pt x="0" y="30956"/>
                      </a:moveTo>
                      <a:lnTo>
                        <a:pt x="35084" y="91733"/>
                      </a:lnTo>
                      <a:lnTo>
                        <a:pt x="51573" y="58373"/>
                      </a:lnTo>
                      <a:lnTo>
                        <a:pt x="88700" y="60767"/>
                      </a:lnTo>
                      <a:lnTo>
                        <a:pt x="53616" y="0"/>
                      </a:lnTo>
                    </a:path>
                  </a:pathLst>
                </a:custGeom>
                <a:noFill/>
                <a:ln w="20637">
                  <a:solidFill>
                    <a:srgbClr val="FFFFFF"/>
                  </a:solidFill>
                </a:ln>
              </p:spPr>
            </p:sp>
            <p:sp>
              <p:nvSpPr>
                <p:cNvPr id="364" name="Freeform 364"/>
                <p:cNvSpPr/>
                <p:nvPr/>
              </p:nvSpPr>
              <p:spPr>
                <a:xfrm>
                  <a:off x="7874179" y="5972175"/>
                  <a:ext cx="88700" cy="91723"/>
                </a:xfrm>
                <a:custGeom>
                  <a:avLst/>
                  <a:gdLst/>
                  <a:ahLst/>
                  <a:cxnLst/>
                  <a:rect l="l" t="t" r="r" b="b"/>
                  <a:pathLst>
                    <a:path w="88700" h="91723">
                      <a:moveTo>
                        <a:pt x="35084" y="0"/>
                      </a:moveTo>
                      <a:lnTo>
                        <a:pt x="0" y="60777"/>
                      </a:lnTo>
                      <a:lnTo>
                        <a:pt x="37127" y="58373"/>
                      </a:lnTo>
                      <a:lnTo>
                        <a:pt x="53616" y="91723"/>
                      </a:lnTo>
                      <a:lnTo>
                        <a:pt x="88700" y="30956"/>
                      </a:lnTo>
                    </a:path>
                  </a:pathLst>
                </a:custGeom>
                <a:noFill/>
                <a:ln w="20637">
                  <a:solidFill>
                    <a:srgbClr val="FFFFFF"/>
                  </a:solidFill>
                </a:ln>
              </p:spPr>
            </p:sp>
          </p:grpSp>
          <p:sp>
            <p:nvSpPr>
              <p:cNvPr id="366" name="TextBox 366"/>
              <p:cNvSpPr txBox="1"/>
              <p:nvPr/>
            </p:nvSpPr>
            <p:spPr>
              <a:xfrm>
                <a:off x="8262938" y="5831443"/>
                <a:ext cx="539477" cy="169069"/>
              </a:xfrm>
              <a:prstGeom prst="rect">
                <a:avLst/>
              </a:prstGeom>
              <a:noFill/>
              <a:ln>
                <a:noFill/>
              </a:ln>
            </p:spPr>
            <p:txBody>
              <a:bodyPr wrap="none" lIns="0" tIns="0" rIns="0" bIns="0" anchor="t" anchorCtr="0">
                <a:spAutoFit/>
              </a:bodyPr>
              <a:lstStyle/>
              <a:p>
                <a:pPr algn="l"/>
                <a:r>
                  <a:rPr lang="zh-CN" sz="860" b="1" dirty="0">
                    <a:solidFill>
                      <a:srgbClr val="312624"/>
                    </a:solidFill>
                    <a:latin typeface="+mn-lt"/>
                    <a:ea typeface="+mn-ea"/>
                    <a:cs typeface="+mn-cs"/>
                  </a:rPr>
                  <a:t>激励考核​</a:t>
                </a:r>
              </a:p>
            </p:txBody>
          </p:sp>
          <p:sp>
            <p:nvSpPr>
              <p:cNvPr id="367" name="TextBox 367"/>
              <p:cNvSpPr txBox="1"/>
              <p:nvPr/>
            </p:nvSpPr>
            <p:spPr>
              <a:xfrm>
                <a:off x="8262938" y="6042184"/>
                <a:ext cx="1840357" cy="133350"/>
              </a:xfrm>
              <a:prstGeom prst="rect">
                <a:avLst/>
              </a:prstGeom>
              <a:noFill/>
              <a:ln>
                <a:noFill/>
              </a:ln>
            </p:spPr>
            <p:txBody>
              <a:bodyPr wrap="none" lIns="0" tIns="0" rIns="0" bIns="0" anchor="t" anchorCtr="0">
                <a:spAutoFit/>
              </a:bodyPr>
              <a:lstStyle/>
              <a:p>
                <a:pPr algn="l"/>
                <a:r>
                  <a:rPr lang="zh-CN" sz="680" dirty="0">
                    <a:solidFill>
                      <a:srgbClr val="4A3D3A"/>
                    </a:solidFill>
                    <a:latin typeface="+mn-lt"/>
                    <a:ea typeface="+mn-ea"/>
                    <a:cs typeface="+mn-cs"/>
                  </a:rPr>
                  <a:t>量化考核 · 即时激励 · 结果导向 · 奖优罚劣​</a:t>
                </a:r>
              </a:p>
            </p:txBody>
          </p:sp>
        </p:grpSp>
      </p:grpSp>
      <p:grpSp>
        <p:nvGrpSpPr>
          <p:cNvPr id="371" name="final-slogan"/>
          <p:cNvGrpSpPr/>
          <p:nvPr/>
        </p:nvGrpSpPr>
        <p:grpSpPr>
          <a:xfrm>
            <a:off x="2999550" y="6573679"/>
            <a:ext cx="6192901" cy="308039"/>
            <a:chOff x="2999550" y="6573679"/>
            <a:chExt cx="6192901" cy="308039"/>
          </a:xfrm>
        </p:grpSpPr>
        <p:sp>
          <p:nvSpPr>
            <p:cNvPr id="370" name="TextBox 370"/>
            <p:cNvSpPr txBox="1"/>
            <p:nvPr/>
          </p:nvSpPr>
          <p:spPr>
            <a:xfrm>
              <a:off x="2999550" y="6573679"/>
              <a:ext cx="6192901" cy="308039"/>
            </a:xfrm>
            <a:prstGeom prst="rect">
              <a:avLst/>
            </a:prstGeom>
            <a:noFill/>
            <a:ln>
              <a:noFill/>
            </a:ln>
          </p:spPr>
          <p:txBody>
            <a:bodyPr wrap="none" lIns="0" tIns="0" rIns="0" bIns="0" anchor="t" anchorCtr="0">
              <a:spAutoFit/>
            </a:bodyPr>
            <a:lstStyle/>
            <a:p>
              <a:pPr algn="ctr"/>
              <a:r>
                <a:rPr lang="zh-CN" sz="1580" b="1" i="1" spc="150" dirty="0">
                  <a:solidFill>
                    <a:srgbClr val="5B180B"/>
                  </a:solidFill>
                  <a:latin typeface="+mn-lt"/>
                  <a:ea typeface="+mn-ea"/>
                  <a:cs typeface="+mn-cs"/>
                </a:rPr>
                <a:t>把目标落实到名单，把名单落实到动作，把动作落实到结果​</a:t>
              </a:r>
            </a:p>
          </p:txBody>
        </p:sp>
      </p:gr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arc1"/>
          <p:cNvSpPr/>
          <p:nvPr/>
        </p:nvSpPr>
        <p:spPr>
          <a:xfrm>
            <a:off x="8572500" y="-571500"/>
            <a:ext cx="4000500" cy="4000500"/>
          </a:xfrm>
          <a:custGeom>
            <a:avLst/>
            <a:gdLst/>
            <a:ahLst/>
            <a:cxnLst/>
            <a:rect l="l" t="t" r="r" b="b"/>
            <a:pathLst>
              <a:path w="4000500" h="4000500">
                <a:moveTo>
                  <a:pt x="0" y="0"/>
                </a:moveTo>
                <a:cubicBezTo>
                  <a:pt x="2209415" y="0"/>
                  <a:pt x="4000500" y="1791085"/>
                  <a:pt x="4000500" y="4000500"/>
                </a:cubicBezTo>
              </a:path>
            </a:pathLst>
          </a:custGeom>
          <a:noFill/>
          <a:ln w="19050">
            <a:solidFill>
              <a:srgbClr val="C9796B">
                <a:alpha val="55000"/>
              </a:srgbClr>
            </a:solidFill>
          </a:ln>
        </p:spPr>
      </p:sp>
      <p:sp>
        <p:nvSpPr>
          <p:cNvPr id="3" name="deco-arc2"/>
          <p:cNvSpPr/>
          <p:nvPr/>
        </p:nvSpPr>
        <p:spPr>
          <a:xfrm>
            <a:off x="9144000" y="-571500"/>
            <a:ext cx="3264126" cy="3429000"/>
          </a:xfrm>
          <a:custGeom>
            <a:avLst/>
            <a:gdLst/>
            <a:ahLst/>
            <a:cxnLst/>
            <a:rect l="l" t="t" r="r" b="b"/>
            <a:pathLst>
              <a:path w="3264126" h="3429000">
                <a:moveTo>
                  <a:pt x="0" y="0"/>
                </a:moveTo>
                <a:cubicBezTo>
                  <a:pt x="884286" y="24904"/>
                  <a:pt x="1722417" y="400255"/>
                  <a:pt x="2329829" y="1043397"/>
                </a:cubicBezTo>
                <a:cubicBezTo>
                  <a:pt x="2937242" y="1686540"/>
                  <a:pt x="3264126" y="2544734"/>
                  <a:pt x="3238500" y="3429000"/>
                </a:cubicBezTo>
              </a:path>
            </a:pathLst>
          </a:custGeom>
          <a:noFill/>
          <a:ln w="11430">
            <a:solidFill>
              <a:srgbClr val="C9796B">
                <a:alpha val="40000"/>
              </a:srgbClr>
            </a:solidFill>
          </a:ln>
        </p:spPr>
      </p:sp>
      <p:sp>
        <p:nvSpPr>
          <p:cNvPr id="4" name="deco-city"/>
          <p:cNvSpPr/>
          <p:nvPr/>
        </p:nvSpPr>
        <p:spPr>
          <a:xfrm>
            <a:off x="7524750" y="2286000"/>
            <a:ext cx="4667250" cy="1809750"/>
          </a:xfrm>
          <a:custGeom>
            <a:avLst/>
            <a:gdLst/>
            <a:ahLst/>
            <a:cxnLst/>
            <a:rect l="l" t="t" r="r" b="b"/>
            <a:pathLst>
              <a:path w="4667250" h="1809750">
                <a:moveTo>
                  <a:pt x="0" y="1809750"/>
                </a:moveTo>
                <a:lnTo>
                  <a:pt x="0" y="762000"/>
                </a:lnTo>
                <a:lnTo>
                  <a:pt x="133350" y="762000"/>
                </a:lnTo>
                <a:lnTo>
                  <a:pt x="133350" y="285750"/>
                </a:lnTo>
                <a:lnTo>
                  <a:pt x="285750" y="285750"/>
                </a:lnTo>
                <a:lnTo>
                  <a:pt x="285750" y="1809750"/>
                </a:lnTo>
                <a:moveTo>
                  <a:pt x="476250" y="1809750"/>
                </a:moveTo>
                <a:lnTo>
                  <a:pt x="476250" y="571500"/>
                </a:lnTo>
                <a:lnTo>
                  <a:pt x="666750" y="571500"/>
                </a:lnTo>
                <a:lnTo>
                  <a:pt x="666750" y="0"/>
                </a:lnTo>
                <a:lnTo>
                  <a:pt x="800100" y="0"/>
                </a:lnTo>
                <a:lnTo>
                  <a:pt x="800100" y="1809750"/>
                </a:lnTo>
                <a:moveTo>
                  <a:pt x="1028700" y="1809750"/>
                </a:moveTo>
                <a:lnTo>
                  <a:pt x="1028700" y="857250"/>
                </a:lnTo>
                <a:lnTo>
                  <a:pt x="1181100" y="857250"/>
                </a:lnTo>
                <a:lnTo>
                  <a:pt x="1181100" y="428625"/>
                </a:lnTo>
                <a:lnTo>
                  <a:pt x="1314450" y="428625"/>
                </a:lnTo>
                <a:lnTo>
                  <a:pt x="1314450" y="1809750"/>
                </a:lnTo>
                <a:moveTo>
                  <a:pt x="3962400" y="1809750"/>
                </a:moveTo>
                <a:lnTo>
                  <a:pt x="3962400" y="571500"/>
                </a:lnTo>
                <a:lnTo>
                  <a:pt x="4133850" y="571500"/>
                </a:lnTo>
                <a:lnTo>
                  <a:pt x="4133850" y="142875"/>
                </a:lnTo>
                <a:lnTo>
                  <a:pt x="4267200" y="142875"/>
                </a:lnTo>
                <a:lnTo>
                  <a:pt x="4267200" y="1809750"/>
                </a:lnTo>
                <a:moveTo>
                  <a:pt x="4400550" y="1809750"/>
                </a:moveTo>
                <a:lnTo>
                  <a:pt x="4400550" y="952500"/>
                </a:lnTo>
                <a:lnTo>
                  <a:pt x="4533900" y="952500"/>
                </a:lnTo>
                <a:lnTo>
                  <a:pt x="4533900" y="571500"/>
                </a:lnTo>
                <a:lnTo>
                  <a:pt x="4667250" y="571500"/>
                </a:lnTo>
                <a:lnTo>
                  <a:pt x="4667250" y="1809750"/>
                </a:lnTo>
                <a:moveTo>
                  <a:pt x="285750" y="1809750"/>
                </a:moveTo>
                <a:lnTo>
                  <a:pt x="285750" y="1095375"/>
                </a:lnTo>
                <a:lnTo>
                  <a:pt x="571500" y="1095375"/>
                </a:lnTo>
                <a:moveTo>
                  <a:pt x="3714750" y="1809750"/>
                </a:moveTo>
                <a:lnTo>
                  <a:pt x="3714750" y="1190625"/>
                </a:lnTo>
                <a:lnTo>
                  <a:pt x="4152900" y="1190625"/>
                </a:lnTo>
              </a:path>
            </a:pathLst>
          </a:custGeom>
          <a:noFill/>
          <a:ln w="14288">
            <a:solidFill>
              <a:srgbClr val="C9796B">
                <a:alpha val="50000"/>
              </a:srgbClr>
            </a:solidFill>
          </a:ln>
        </p:spPr>
      </p:sp>
      <p:sp>
        <p:nvSpPr>
          <p:cNvPr id="5" name="deco-pediment"/>
          <p:cNvSpPr/>
          <p:nvPr/>
        </p:nvSpPr>
        <p:spPr>
          <a:xfrm>
            <a:off x="8267700" y="1447800"/>
            <a:ext cx="3086100" cy="685800"/>
          </a:xfrm>
          <a:custGeom>
            <a:avLst/>
            <a:gdLst/>
            <a:ahLst/>
            <a:cxnLst/>
            <a:rect l="l" t="t" r="r" b="b"/>
            <a:pathLst>
              <a:path w="3086100" h="685800">
                <a:moveTo>
                  <a:pt x="1543050" y="0"/>
                </a:moveTo>
                <a:lnTo>
                  <a:pt x="3086100" y="685800"/>
                </a:lnTo>
                <a:lnTo>
                  <a:pt x="0" y="685800"/>
                </a:lnTo>
                <a:close/>
              </a:path>
            </a:pathLst>
          </a:custGeom>
          <a:solidFill>
            <a:srgbClr val="F5EBD8"/>
          </a:solidFill>
          <a:ln w="23812">
            <a:solidFill>
              <a:srgbClr val="C26D5E"/>
            </a:solidFill>
          </a:ln>
        </p:spPr>
      </p:sp>
      <p:sp>
        <p:nvSpPr>
          <p:cNvPr id="6" name="deco-pediment-dot"/>
          <p:cNvSpPr/>
          <p:nvPr/>
        </p:nvSpPr>
        <p:spPr>
          <a:xfrm>
            <a:off x="9696450" y="1790700"/>
            <a:ext cx="228600" cy="228600"/>
          </a:xfrm>
          <a:prstGeom prst="ellipse">
            <a:avLst/>
          </a:prstGeom>
          <a:solidFill>
            <a:srgbClr val="E4B4AC"/>
          </a:solidFill>
          <a:ln w="14288">
            <a:solidFill>
              <a:srgbClr val="C26D5E"/>
            </a:solidFill>
          </a:ln>
        </p:spPr>
      </p:sp>
      <p:sp>
        <p:nvSpPr>
          <p:cNvPr id="7" name="deco-arch"/>
          <p:cNvSpPr/>
          <p:nvPr/>
        </p:nvSpPr>
        <p:spPr>
          <a:xfrm>
            <a:off x="8439150" y="2190750"/>
            <a:ext cx="2743200" cy="228600"/>
          </a:xfrm>
          <a:prstGeom prst="rect">
            <a:avLst/>
          </a:prstGeom>
          <a:solidFill>
            <a:srgbClr val="F1E6CE"/>
          </a:solidFill>
          <a:ln w="19050">
            <a:solidFill>
              <a:srgbClr val="C26D5E"/>
            </a:solidFill>
          </a:ln>
        </p:spPr>
      </p:sp>
      <p:sp>
        <p:nvSpPr>
          <p:cNvPr id="8" name="deco-col-1"/>
          <p:cNvSpPr/>
          <p:nvPr/>
        </p:nvSpPr>
        <p:spPr>
          <a:xfrm>
            <a:off x="8591550" y="2476500"/>
            <a:ext cx="209550" cy="1562100"/>
          </a:xfrm>
          <a:prstGeom prst="rect">
            <a:avLst/>
          </a:prstGeom>
          <a:solidFill>
            <a:srgbClr val="FAF4E6"/>
          </a:solidFill>
          <a:ln w="17145">
            <a:solidFill>
              <a:srgbClr val="C26D5E"/>
            </a:solidFill>
          </a:ln>
        </p:spPr>
      </p:sp>
      <p:sp>
        <p:nvSpPr>
          <p:cNvPr id="9" name="deco-col-2"/>
          <p:cNvSpPr/>
          <p:nvPr/>
        </p:nvSpPr>
        <p:spPr>
          <a:xfrm>
            <a:off x="9163050" y="2476500"/>
            <a:ext cx="209550" cy="1562100"/>
          </a:xfrm>
          <a:prstGeom prst="rect">
            <a:avLst/>
          </a:prstGeom>
          <a:solidFill>
            <a:srgbClr val="FAF4E6"/>
          </a:solidFill>
          <a:ln w="17145">
            <a:solidFill>
              <a:srgbClr val="C26D5E"/>
            </a:solidFill>
          </a:ln>
        </p:spPr>
      </p:sp>
      <p:sp>
        <p:nvSpPr>
          <p:cNvPr id="10" name="deco-col-3"/>
          <p:cNvSpPr/>
          <p:nvPr/>
        </p:nvSpPr>
        <p:spPr>
          <a:xfrm>
            <a:off x="9734550" y="2476500"/>
            <a:ext cx="209550" cy="1562100"/>
          </a:xfrm>
          <a:prstGeom prst="rect">
            <a:avLst/>
          </a:prstGeom>
          <a:solidFill>
            <a:srgbClr val="FAF4E6"/>
          </a:solidFill>
          <a:ln w="17145">
            <a:solidFill>
              <a:srgbClr val="C26D5E"/>
            </a:solidFill>
          </a:ln>
        </p:spPr>
      </p:sp>
      <p:sp>
        <p:nvSpPr>
          <p:cNvPr id="11" name="deco-col-4"/>
          <p:cNvSpPr/>
          <p:nvPr/>
        </p:nvSpPr>
        <p:spPr>
          <a:xfrm>
            <a:off x="10306050" y="2476500"/>
            <a:ext cx="209550" cy="1562100"/>
          </a:xfrm>
          <a:prstGeom prst="rect">
            <a:avLst/>
          </a:prstGeom>
          <a:solidFill>
            <a:srgbClr val="FAF4E6"/>
          </a:solidFill>
          <a:ln w="17145">
            <a:solidFill>
              <a:srgbClr val="C26D5E"/>
            </a:solidFill>
          </a:ln>
        </p:spPr>
      </p:sp>
      <p:sp>
        <p:nvSpPr>
          <p:cNvPr id="12" name="deco-col-5"/>
          <p:cNvSpPr/>
          <p:nvPr/>
        </p:nvSpPr>
        <p:spPr>
          <a:xfrm>
            <a:off x="10877550" y="2476500"/>
            <a:ext cx="209550" cy="1562100"/>
          </a:xfrm>
          <a:prstGeom prst="rect">
            <a:avLst/>
          </a:prstGeom>
          <a:solidFill>
            <a:srgbClr val="FAF4E6"/>
          </a:solidFill>
          <a:ln w="17145">
            <a:solidFill>
              <a:srgbClr val="C26D5E"/>
            </a:solidFill>
          </a:ln>
        </p:spPr>
      </p:sp>
      <p:sp>
        <p:nvSpPr>
          <p:cNvPr id="13" name="deco-step1"/>
          <p:cNvSpPr/>
          <p:nvPr/>
        </p:nvSpPr>
        <p:spPr>
          <a:xfrm>
            <a:off x="8420100" y="4095750"/>
            <a:ext cx="2781300" cy="142875"/>
          </a:xfrm>
          <a:prstGeom prst="rect">
            <a:avLst/>
          </a:prstGeom>
          <a:solidFill>
            <a:srgbClr val="F1E6CE"/>
          </a:solidFill>
          <a:ln w="17145">
            <a:solidFill>
              <a:srgbClr val="C26D5E"/>
            </a:solidFill>
          </a:ln>
        </p:spPr>
      </p:sp>
      <p:sp>
        <p:nvSpPr>
          <p:cNvPr id="14" name="deco-step2"/>
          <p:cNvSpPr/>
          <p:nvPr/>
        </p:nvSpPr>
        <p:spPr>
          <a:xfrm>
            <a:off x="8248650" y="4295775"/>
            <a:ext cx="3124200" cy="142875"/>
          </a:xfrm>
          <a:prstGeom prst="rect">
            <a:avLst/>
          </a:prstGeom>
          <a:solidFill>
            <a:srgbClr val="EFE3C8"/>
          </a:solidFill>
          <a:ln w="17145">
            <a:solidFill>
              <a:srgbClr val="C26D5E"/>
            </a:solidFill>
          </a:ln>
        </p:spPr>
      </p:sp>
      <p:sp>
        <p:nvSpPr>
          <p:cNvPr id="15" name="deco-ribbon-main"/>
          <p:cNvSpPr/>
          <p:nvPr/>
        </p:nvSpPr>
        <p:spPr>
          <a:xfrm>
            <a:off x="0" y="4476750"/>
            <a:ext cx="12192000" cy="2381250"/>
          </a:xfrm>
          <a:custGeom>
            <a:avLst/>
            <a:gdLst/>
            <a:ahLst/>
            <a:cxnLst/>
            <a:rect l="l" t="t" r="r" b="b"/>
            <a:pathLst>
              <a:path w="12192000" h="2381250">
                <a:moveTo>
                  <a:pt x="0" y="2343150"/>
                </a:moveTo>
                <a:cubicBezTo>
                  <a:pt x="2381250" y="1200150"/>
                  <a:pt x="4095750" y="2343150"/>
                  <a:pt x="6191250" y="1581150"/>
                </a:cubicBezTo>
                <a:cubicBezTo>
                  <a:pt x="8382000" y="781050"/>
                  <a:pt x="9620250" y="1676400"/>
                  <a:pt x="12192000" y="0"/>
                </a:cubicBezTo>
                <a:lnTo>
                  <a:pt x="12192000" y="2381250"/>
                </a:lnTo>
                <a:lnTo>
                  <a:pt x="0" y="2381250"/>
                </a:lnTo>
                <a:close/>
              </a:path>
            </a:pathLst>
          </a:custGeom>
          <a:gradFill>
            <a:gsLst>
              <a:gs pos="0">
                <a:srgbClr val="8E2B14"/>
              </a:gs>
              <a:gs pos="45000">
                <a:srgbClr val="A3381F"/>
              </a:gs>
              <a:gs pos="100000">
                <a:srgbClr val="C85E46"/>
              </a:gs>
            </a:gsLst>
            <a:lin ang="1308084" scaled="1"/>
          </a:gradFill>
          <a:ln>
            <a:noFill/>
          </a:ln>
        </p:spPr>
      </p:sp>
      <p:sp>
        <p:nvSpPr>
          <p:cNvPr id="16" name="deco-ribbon-deep"/>
          <p:cNvSpPr/>
          <p:nvPr/>
        </p:nvSpPr>
        <p:spPr>
          <a:xfrm>
            <a:off x="0" y="5334000"/>
            <a:ext cx="12192000" cy="1790700"/>
          </a:xfrm>
          <a:custGeom>
            <a:avLst/>
            <a:gdLst/>
            <a:ahLst/>
            <a:cxnLst/>
            <a:rect l="l" t="t" r="r" b="b"/>
            <a:pathLst>
              <a:path w="12192000" h="1790700">
                <a:moveTo>
                  <a:pt x="0" y="1543050"/>
                </a:moveTo>
                <a:cubicBezTo>
                  <a:pt x="2476500" y="914400"/>
                  <a:pt x="4476750" y="1790700"/>
                  <a:pt x="6667500" y="1028700"/>
                </a:cubicBezTo>
                <a:cubicBezTo>
                  <a:pt x="8858250" y="285750"/>
                  <a:pt x="10287000" y="1028700"/>
                  <a:pt x="12192000" y="0"/>
                </a:cubicBezTo>
                <a:lnTo>
                  <a:pt x="12192000" y="990600"/>
                </a:lnTo>
                <a:cubicBezTo>
                  <a:pt x="9810750" y="1333500"/>
                  <a:pt x="2476500" y="1447800"/>
                  <a:pt x="0" y="1543050"/>
                </a:cubicBezTo>
                <a:close/>
              </a:path>
            </a:pathLst>
          </a:custGeom>
          <a:gradFill>
            <a:gsLst>
              <a:gs pos="0">
                <a:srgbClr val="7E2511">
                  <a:alpha val="90000"/>
                </a:srgbClr>
              </a:gs>
              <a:gs pos="100000">
                <a:srgbClr val="B04830">
                  <a:alpha val="90000"/>
                </a:srgbClr>
              </a:gs>
            </a:gsLst>
            <a:lin ang="0" scaled="1"/>
          </a:gradFill>
          <a:ln>
            <a:noFill/>
          </a:ln>
        </p:spPr>
      </p:sp>
      <p:sp>
        <p:nvSpPr>
          <p:cNvPr id="17" name="deco-ribbon-gold"/>
          <p:cNvSpPr/>
          <p:nvPr/>
        </p:nvSpPr>
        <p:spPr>
          <a:xfrm>
            <a:off x="0" y="3829050"/>
            <a:ext cx="12192000" cy="2400300"/>
          </a:xfrm>
          <a:custGeom>
            <a:avLst/>
            <a:gdLst/>
            <a:ahLst/>
            <a:cxnLst/>
            <a:rect l="l" t="t" r="r" b="b"/>
            <a:pathLst>
              <a:path w="12192000" h="2400300">
                <a:moveTo>
                  <a:pt x="0" y="2228850"/>
                </a:moveTo>
                <a:cubicBezTo>
                  <a:pt x="2857500" y="1314450"/>
                  <a:pt x="5334000" y="2400300"/>
                  <a:pt x="7905750" y="1562100"/>
                </a:cubicBezTo>
                <a:cubicBezTo>
                  <a:pt x="10001250" y="895350"/>
                  <a:pt x="11239500" y="266700"/>
                  <a:pt x="12192000" y="0"/>
                </a:cubicBezTo>
              </a:path>
            </a:pathLst>
          </a:custGeom>
          <a:noFill/>
          <a:ln w="23812">
            <a:solidFill>
              <a:srgbClr val="D99285">
                <a:alpha val="85000"/>
              </a:srgbClr>
            </a:solidFill>
          </a:ln>
        </p:spPr>
      </p:sp>
      <p:grpSp>
        <p:nvGrpSpPr>
          <p:cNvPr id="23" name="cover-title"/>
          <p:cNvGrpSpPr/>
          <p:nvPr/>
        </p:nvGrpSpPr>
        <p:grpSpPr>
          <a:xfrm>
            <a:off x="628650" y="1143000"/>
            <a:ext cx="6594759" cy="1600200"/>
            <a:chOff x="628650" y="1143000"/>
            <a:chExt cx="6594759" cy="1600200"/>
          </a:xfrm>
        </p:grpSpPr>
        <p:sp>
          <p:nvSpPr>
            <p:cNvPr id="18" name="Rectangle 18"/>
            <p:cNvSpPr/>
            <p:nvPr/>
          </p:nvSpPr>
          <p:spPr>
            <a:xfrm>
              <a:off x="628650" y="1143000"/>
              <a:ext cx="85725" cy="1600200"/>
            </a:xfrm>
            <a:prstGeom prst="rect">
              <a:avLst/>
            </a:prstGeom>
            <a:solidFill>
              <a:srgbClr val="A3381F"/>
            </a:solidFill>
            <a:ln>
              <a:noFill/>
            </a:ln>
          </p:spPr>
        </p:sp>
        <p:sp>
          <p:nvSpPr>
            <p:cNvPr id="19" name="TextBox 19"/>
            <p:cNvSpPr txBox="1"/>
            <p:nvPr/>
          </p:nvSpPr>
          <p:spPr>
            <a:xfrm>
              <a:off x="896874" y="1342072"/>
              <a:ext cx="5830443" cy="674751"/>
            </a:xfrm>
            <a:prstGeom prst="rect">
              <a:avLst/>
            </a:prstGeom>
            <a:noFill/>
            <a:ln>
              <a:noFill/>
            </a:ln>
          </p:spPr>
          <p:txBody>
            <a:bodyPr wrap="none" lIns="0" tIns="0" rIns="0" bIns="0" anchor="t" anchorCtr="0">
              <a:spAutoFit/>
            </a:bodyPr>
            <a:lstStyle/>
            <a:p>
              <a:pPr algn="l"/>
              <a:r>
                <a:rPr lang="zh-CN" sz="3450" b="1" spc="150" dirty="0">
                  <a:solidFill>
                    <a:srgbClr val="A3381F"/>
                  </a:solidFill>
                  <a:latin typeface="+mn-lt"/>
                  <a:ea typeface="+mn-ea"/>
                  <a:cs typeface="+mn-cs"/>
                </a:rPr>
                <a:t>银行客户分层分类管理方案</a:t>
              </a:r>
            </a:p>
          </p:txBody>
        </p:sp>
        <p:sp>
          <p:nvSpPr>
            <p:cNvPr id="20" name="TextBox 20"/>
            <p:cNvSpPr txBox="1"/>
            <p:nvPr/>
          </p:nvSpPr>
          <p:spPr>
            <a:xfrm>
              <a:off x="926211" y="2094071"/>
              <a:ext cx="6297198" cy="278702"/>
            </a:xfrm>
            <a:prstGeom prst="rect">
              <a:avLst/>
            </a:prstGeom>
            <a:noFill/>
            <a:ln>
              <a:noFill/>
            </a:ln>
          </p:spPr>
          <p:txBody>
            <a:bodyPr wrap="none" lIns="0" tIns="0" rIns="0" bIns="0" anchor="t" anchorCtr="0">
              <a:spAutoFit/>
            </a:bodyPr>
            <a:lstStyle/>
            <a:p>
              <a:pPr algn="l"/>
              <a:r>
                <a:rPr lang="zh-CN" sz="1420" spc="75" dirty="0">
                  <a:solidFill>
                    <a:srgbClr val="3F3F3F"/>
                  </a:solidFill>
                  <a:latin typeface="+mn-lt"/>
                  <a:ea typeface="+mn-ea"/>
                  <a:cs typeface="+mn-cs"/>
                </a:rPr>
                <a:t>构建客户识别—分层分类—差异维护—权益驱动—价值提升一体化经营体系</a:t>
              </a:r>
            </a:p>
          </p:txBody>
        </p:sp>
        <p:sp>
          <p:nvSpPr>
            <p:cNvPr id="21" name="Rectangle 21"/>
            <p:cNvSpPr/>
            <p:nvPr/>
          </p:nvSpPr>
          <p:spPr>
            <a:xfrm>
              <a:off x="933450" y="2495550"/>
              <a:ext cx="419100" cy="47625"/>
            </a:xfrm>
            <a:prstGeom prst="rect">
              <a:avLst/>
            </a:prstGeom>
            <a:solidFill>
              <a:srgbClr val="A3381F"/>
            </a:solidFill>
            <a:ln>
              <a:noFill/>
            </a:ln>
          </p:spPr>
        </p:sp>
        <p:sp>
          <p:nvSpPr>
            <p:cNvPr id="22" name="Rectangle 22"/>
            <p:cNvSpPr/>
            <p:nvPr/>
          </p:nvSpPr>
          <p:spPr>
            <a:xfrm>
              <a:off x="1428750" y="2495550"/>
              <a:ext cx="419100" cy="47625"/>
            </a:xfrm>
            <a:prstGeom prst="rect">
              <a:avLst/>
            </a:prstGeom>
            <a:solidFill>
              <a:srgbClr val="C26D5E"/>
            </a:solidFill>
            <a:ln>
              <a:noFill/>
            </a:ln>
          </p:spPr>
        </p:sp>
      </p:grpSp>
      <p:grpSp>
        <p:nvGrpSpPr>
          <p:cNvPr id="25" name="cover-keywords"/>
          <p:cNvGrpSpPr/>
          <p:nvPr/>
        </p:nvGrpSpPr>
        <p:grpSpPr>
          <a:xfrm>
            <a:off x="926973" y="3158014"/>
            <a:ext cx="4320794" cy="249364"/>
            <a:chOff x="926973" y="3158014"/>
            <a:chExt cx="4320794" cy="249364"/>
          </a:xfrm>
        </p:grpSpPr>
        <p:sp>
          <p:nvSpPr>
            <p:cNvPr id="24" name="TextBox 24"/>
            <p:cNvSpPr txBox="1"/>
            <p:nvPr/>
          </p:nvSpPr>
          <p:spPr>
            <a:xfrm>
              <a:off x="926973" y="3158014"/>
              <a:ext cx="4320794" cy="249364"/>
            </a:xfrm>
            <a:prstGeom prst="rect">
              <a:avLst/>
            </a:prstGeom>
            <a:noFill/>
            <a:ln>
              <a:noFill/>
            </a:ln>
          </p:spPr>
          <p:txBody>
            <a:bodyPr wrap="none" lIns="0" tIns="0" rIns="0" bIns="0" anchor="t" anchorCtr="0">
              <a:spAutoFit/>
            </a:bodyPr>
            <a:lstStyle/>
            <a:p>
              <a:pPr algn="l"/>
              <a:r>
                <a:rPr lang="zh-CN" sz="1280" b="1" dirty="0">
                  <a:solidFill>
                    <a:srgbClr val="333333"/>
                  </a:solidFill>
                  <a:latin typeface="+mn-lt"/>
                  <a:ea typeface="+mn-ea"/>
                  <a:cs typeface="+mn-cs"/>
                </a:rPr>
                <a:t>客户价值</a:t>
              </a:r>
              <a:r>
                <a:rPr lang="zh-CN" sz="1280" b="1" dirty="0">
                  <a:solidFill>
                    <a:srgbClr val="C26D5E"/>
                  </a:solidFill>
                  <a:latin typeface="+mn-lt"/>
                  <a:ea typeface="+mn-ea"/>
                  <a:cs typeface="+mn-cs"/>
                </a:rPr>
                <a:t xml:space="preserve">　｜　</a:t>
              </a:r>
              <a:r>
                <a:rPr lang="zh-CN" sz="1280" b="1" dirty="0">
                  <a:solidFill>
                    <a:srgbClr val="333333"/>
                  </a:solidFill>
                  <a:latin typeface="+mn-lt"/>
                  <a:ea typeface="+mn-ea"/>
                  <a:cs typeface="+mn-cs"/>
                </a:rPr>
                <a:t>精细运营</a:t>
              </a:r>
              <a:r>
                <a:rPr lang="zh-CN" sz="1280" b="1" dirty="0">
                  <a:solidFill>
                    <a:srgbClr val="C26D5E"/>
                  </a:solidFill>
                  <a:latin typeface="+mn-lt"/>
                  <a:ea typeface="+mn-ea"/>
                  <a:cs typeface="+mn-cs"/>
                </a:rPr>
                <a:t xml:space="preserve">　｜　</a:t>
              </a:r>
              <a:r>
                <a:rPr lang="zh-CN" sz="1280" b="1" dirty="0">
                  <a:solidFill>
                    <a:srgbClr val="333333"/>
                  </a:solidFill>
                  <a:latin typeface="+mn-lt"/>
                  <a:ea typeface="+mn-ea"/>
                  <a:cs typeface="+mn-cs"/>
                </a:rPr>
                <a:t>差异服务</a:t>
              </a:r>
              <a:r>
                <a:rPr lang="zh-CN" sz="1280" b="1" dirty="0">
                  <a:solidFill>
                    <a:srgbClr val="C26D5E"/>
                  </a:solidFill>
                  <a:latin typeface="+mn-lt"/>
                  <a:ea typeface="+mn-ea"/>
                  <a:cs typeface="+mn-cs"/>
                </a:rPr>
                <a:t xml:space="preserve">　｜　</a:t>
              </a:r>
              <a:r>
                <a:rPr lang="zh-CN" sz="1280" b="1" dirty="0">
                  <a:solidFill>
                    <a:srgbClr val="333333"/>
                  </a:solidFill>
                  <a:latin typeface="+mn-lt"/>
                  <a:ea typeface="+mn-ea"/>
                  <a:cs typeface="+mn-cs"/>
                </a:rPr>
                <a:t>数字驱动</a:t>
              </a:r>
            </a:p>
          </p:txBody>
        </p:sp>
      </p:grpSp>
      <p:grpSp>
        <p:nvGrpSpPr>
          <p:cNvPr id="73" name="cover-concepts"/>
          <p:cNvGrpSpPr/>
          <p:nvPr/>
        </p:nvGrpSpPr>
        <p:grpSpPr>
          <a:xfrm>
            <a:off x="476250" y="4048125"/>
            <a:ext cx="7715250" cy="2333625"/>
            <a:chOff x="476250" y="4048125"/>
            <a:chExt cx="7715250" cy="2333625"/>
          </a:xfrm>
        </p:grpSpPr>
        <p:sp>
          <p:nvSpPr>
            <p:cNvPr id="26" name="Rectangle 26"/>
            <p:cNvSpPr/>
            <p:nvPr/>
          </p:nvSpPr>
          <p:spPr>
            <a:xfrm>
              <a:off x="476250" y="4048125"/>
              <a:ext cx="7715250" cy="2333625"/>
            </a:xfrm>
            <a:prstGeom prst="roundRect">
              <a:avLst>
                <a:gd name="adj" fmla="val 7347"/>
              </a:avLst>
            </a:prstGeom>
            <a:solidFill>
              <a:srgbClr val="FFFFFF"/>
            </a:solidFill>
            <a:ln>
              <a:noFill/>
            </a:ln>
            <a:effectLst>
              <a:outerShdw blurRad="152400" dist="57150" dir="5400000" algn="ctr" rotWithShape="0">
                <a:srgbClr val="000000">
                  <a:alpha val="7500"/>
                </a:srgbClr>
              </a:outerShdw>
            </a:effectLst>
          </p:spPr>
        </p:sp>
        <p:sp>
          <p:nvSpPr>
            <p:cNvPr id="27" name="Line 27"/>
            <p:cNvSpPr/>
            <p:nvPr/>
          </p:nvSpPr>
          <p:spPr>
            <a:xfrm>
              <a:off x="2019300" y="4476750"/>
              <a:ext cx="9525" cy="1619250"/>
            </a:xfrm>
            <a:custGeom>
              <a:avLst/>
              <a:gdLst/>
              <a:ahLst/>
              <a:cxnLst/>
              <a:rect l="l" t="t" r="r" b="b"/>
              <a:pathLst>
                <a:path w="9525" h="1619250">
                  <a:moveTo>
                    <a:pt x="0" y="0"/>
                  </a:moveTo>
                  <a:lnTo>
                    <a:pt x="0" y="1619250"/>
                  </a:lnTo>
                </a:path>
              </a:pathLst>
            </a:custGeom>
            <a:noFill/>
            <a:ln w="9525">
              <a:solidFill>
                <a:srgbClr val="E6D9C0"/>
              </a:solidFill>
            </a:ln>
          </p:spPr>
        </p:sp>
        <p:sp>
          <p:nvSpPr>
            <p:cNvPr id="28" name="Line 28"/>
            <p:cNvSpPr/>
            <p:nvPr/>
          </p:nvSpPr>
          <p:spPr>
            <a:xfrm>
              <a:off x="3524250" y="4476750"/>
              <a:ext cx="9525" cy="1619250"/>
            </a:xfrm>
            <a:custGeom>
              <a:avLst/>
              <a:gdLst/>
              <a:ahLst/>
              <a:cxnLst/>
              <a:rect l="l" t="t" r="r" b="b"/>
              <a:pathLst>
                <a:path w="9525" h="1619250">
                  <a:moveTo>
                    <a:pt x="0" y="0"/>
                  </a:moveTo>
                  <a:lnTo>
                    <a:pt x="0" y="1619250"/>
                  </a:lnTo>
                </a:path>
              </a:pathLst>
            </a:custGeom>
            <a:noFill/>
            <a:ln w="9525">
              <a:solidFill>
                <a:srgbClr val="E6D9C0"/>
              </a:solidFill>
            </a:ln>
          </p:spPr>
        </p:sp>
        <p:sp>
          <p:nvSpPr>
            <p:cNvPr id="29" name="Line 29"/>
            <p:cNvSpPr/>
            <p:nvPr/>
          </p:nvSpPr>
          <p:spPr>
            <a:xfrm>
              <a:off x="5029200" y="4476750"/>
              <a:ext cx="9525" cy="1619250"/>
            </a:xfrm>
            <a:custGeom>
              <a:avLst/>
              <a:gdLst/>
              <a:ahLst/>
              <a:cxnLst/>
              <a:rect l="l" t="t" r="r" b="b"/>
              <a:pathLst>
                <a:path w="9525" h="1619250">
                  <a:moveTo>
                    <a:pt x="0" y="0"/>
                  </a:moveTo>
                  <a:lnTo>
                    <a:pt x="0" y="1619250"/>
                  </a:lnTo>
                </a:path>
              </a:pathLst>
            </a:custGeom>
            <a:noFill/>
            <a:ln w="9525">
              <a:solidFill>
                <a:srgbClr val="E6D9C0"/>
              </a:solidFill>
            </a:ln>
          </p:spPr>
        </p:sp>
        <p:sp>
          <p:nvSpPr>
            <p:cNvPr id="30" name="Line 30"/>
            <p:cNvSpPr/>
            <p:nvPr/>
          </p:nvSpPr>
          <p:spPr>
            <a:xfrm>
              <a:off x="6534150" y="4476750"/>
              <a:ext cx="9525" cy="1619250"/>
            </a:xfrm>
            <a:custGeom>
              <a:avLst/>
              <a:gdLst/>
              <a:ahLst/>
              <a:cxnLst/>
              <a:rect l="l" t="t" r="r" b="b"/>
              <a:pathLst>
                <a:path w="9525" h="1619250">
                  <a:moveTo>
                    <a:pt x="0" y="0"/>
                  </a:moveTo>
                  <a:lnTo>
                    <a:pt x="0" y="1619250"/>
                  </a:lnTo>
                </a:path>
              </a:pathLst>
            </a:custGeom>
            <a:noFill/>
            <a:ln w="9525">
              <a:solidFill>
                <a:srgbClr val="E6D9C0"/>
              </a:solidFill>
            </a:ln>
          </p:spPr>
        </p:sp>
        <p:sp>
          <p:nvSpPr>
            <p:cNvPr id="31" name="Ellipse 31"/>
            <p:cNvSpPr/>
            <p:nvPr/>
          </p:nvSpPr>
          <p:spPr>
            <a:xfrm>
              <a:off x="1000125" y="4438650"/>
              <a:ext cx="495300" cy="495300"/>
            </a:xfrm>
            <a:prstGeom prst="ellipse">
              <a:avLst/>
            </a:prstGeom>
            <a:solidFill>
              <a:srgbClr val="FBF4E7"/>
            </a:solidFill>
            <a:ln w="14288">
              <a:solidFill>
                <a:srgbClr val="C26D5E"/>
              </a:solidFill>
            </a:ln>
          </p:spPr>
        </p:sp>
        <p:grpSp>
          <p:nvGrpSpPr>
            <p:cNvPr id="36" name="Group 36"/>
            <p:cNvGrpSpPr/>
            <p:nvPr/>
          </p:nvGrpSpPr>
          <p:grpSpPr>
            <a:xfrm>
              <a:off x="1140619" y="4579144"/>
              <a:ext cx="214313" cy="214313"/>
              <a:chOff x="1140619" y="4579144"/>
              <a:chExt cx="214313" cy="214313"/>
            </a:xfrm>
          </p:grpSpPr>
          <p:sp>
            <p:nvSpPr>
              <p:cNvPr id="32" name="Freeform 32"/>
              <p:cNvSpPr/>
              <p:nvPr/>
            </p:nvSpPr>
            <p:spPr>
              <a:xfrm>
                <a:off x="1164431" y="4579144"/>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A3381F"/>
                </a:solidFill>
              </a:ln>
            </p:spPr>
          </p:sp>
          <p:sp>
            <p:nvSpPr>
              <p:cNvPr id="33" name="Freeform 33"/>
              <p:cNvSpPr/>
              <p:nvPr/>
            </p:nvSpPr>
            <p:spPr>
              <a:xfrm>
                <a:off x="1140619" y="4722019"/>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23812">
                <a:solidFill>
                  <a:srgbClr val="A3381F"/>
                </a:solidFill>
              </a:ln>
            </p:spPr>
          </p:sp>
          <p:sp>
            <p:nvSpPr>
              <p:cNvPr id="34" name="Freeform 34"/>
              <p:cNvSpPr/>
              <p:nvPr/>
            </p:nvSpPr>
            <p:spPr>
              <a:xfrm>
                <a:off x="1295400" y="4580692"/>
                <a:ext cx="35812" cy="92273"/>
              </a:xfrm>
              <a:custGeom>
                <a:avLst/>
                <a:gdLst/>
                <a:ahLst/>
                <a:cxnLst/>
                <a:rect l="l" t="t" r="r" b="b"/>
                <a:pathLst>
                  <a:path w="35812" h="92273">
                    <a:moveTo>
                      <a:pt x="0" y="0"/>
                    </a:moveTo>
                    <a:cubicBezTo>
                      <a:pt x="21073" y="5396"/>
                      <a:pt x="35812" y="24384"/>
                      <a:pt x="35812" y="46137"/>
                    </a:cubicBezTo>
                    <a:cubicBezTo>
                      <a:pt x="35812" y="67890"/>
                      <a:pt x="21073" y="86878"/>
                      <a:pt x="0" y="92273"/>
                    </a:cubicBezTo>
                  </a:path>
                </a:pathLst>
              </a:custGeom>
              <a:noFill/>
              <a:ln w="23812">
                <a:solidFill>
                  <a:srgbClr val="A3381F"/>
                </a:solidFill>
              </a:ln>
            </p:spPr>
          </p:sp>
          <p:sp>
            <p:nvSpPr>
              <p:cNvPr id="35" name="Freeform 35"/>
              <p:cNvSpPr/>
              <p:nvPr/>
            </p:nvSpPr>
            <p:spPr>
              <a:xfrm>
                <a:off x="1319213" y="4723805"/>
                <a:ext cx="35719" cy="69652"/>
              </a:xfrm>
              <a:custGeom>
                <a:avLst/>
                <a:gdLst/>
                <a:ahLst/>
                <a:cxnLst/>
                <a:rect l="l" t="t" r="r" b="b"/>
                <a:pathLst>
                  <a:path w="35719" h="69652">
                    <a:moveTo>
                      <a:pt x="35719" y="69652"/>
                    </a:moveTo>
                    <a:lnTo>
                      <a:pt x="35719" y="45839"/>
                    </a:lnTo>
                    <a:cubicBezTo>
                      <a:pt x="35594" y="24224"/>
                      <a:pt x="20929" y="5403"/>
                      <a:pt x="0" y="0"/>
                    </a:cubicBezTo>
                  </a:path>
                </a:pathLst>
              </a:custGeom>
              <a:noFill/>
              <a:ln w="23812">
                <a:solidFill>
                  <a:srgbClr val="A3381F"/>
                </a:solidFill>
              </a:ln>
            </p:spPr>
          </p:sp>
        </p:grpSp>
        <p:sp>
          <p:nvSpPr>
            <p:cNvPr id="37" name="TextBox 37"/>
            <p:cNvSpPr txBox="1"/>
            <p:nvPr/>
          </p:nvSpPr>
          <p:spPr>
            <a:xfrm>
              <a:off x="940511" y="5126831"/>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精准识别</a:t>
              </a:r>
            </a:p>
          </p:txBody>
        </p:sp>
        <p:sp>
          <p:nvSpPr>
            <p:cNvPr id="38" name="TextBox 38"/>
            <p:cNvSpPr txBox="1"/>
            <p:nvPr/>
          </p:nvSpPr>
          <p:spPr>
            <a:xfrm>
              <a:off x="923963" y="5401389"/>
              <a:ext cx="647624"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多维数据融合</a:t>
              </a:r>
            </a:p>
          </p:txBody>
        </p:sp>
        <p:sp>
          <p:nvSpPr>
            <p:cNvPr id="39" name="TextBox 39"/>
            <p:cNvSpPr txBox="1"/>
            <p:nvPr/>
          </p:nvSpPr>
          <p:spPr>
            <a:xfrm>
              <a:off x="806978" y="5563314"/>
              <a:ext cx="881593"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构建360°客户视图</a:t>
              </a:r>
            </a:p>
          </p:txBody>
        </p:sp>
        <p:sp>
          <p:nvSpPr>
            <p:cNvPr id="40" name="Ellipse 40"/>
            <p:cNvSpPr/>
            <p:nvPr/>
          </p:nvSpPr>
          <p:spPr>
            <a:xfrm>
              <a:off x="2524125" y="4438650"/>
              <a:ext cx="495300" cy="495300"/>
            </a:xfrm>
            <a:prstGeom prst="ellipse">
              <a:avLst/>
            </a:prstGeom>
            <a:solidFill>
              <a:srgbClr val="FBF4E7"/>
            </a:solidFill>
            <a:ln w="14288">
              <a:solidFill>
                <a:srgbClr val="C26D5E"/>
              </a:solidFill>
            </a:ln>
          </p:spPr>
        </p:sp>
        <p:grpSp>
          <p:nvGrpSpPr>
            <p:cNvPr id="46" name="Group 46"/>
            <p:cNvGrpSpPr/>
            <p:nvPr/>
          </p:nvGrpSpPr>
          <p:grpSpPr>
            <a:xfrm>
              <a:off x="2664619" y="4579144"/>
              <a:ext cx="214312" cy="214312"/>
              <a:chOff x="2664619" y="4579144"/>
              <a:chExt cx="214312" cy="214312"/>
            </a:xfrm>
          </p:grpSpPr>
          <p:sp>
            <p:nvSpPr>
              <p:cNvPr id="41" name="Freeform 41"/>
              <p:cNvSpPr/>
              <p:nvPr/>
            </p:nvSpPr>
            <p:spPr>
              <a:xfrm>
                <a:off x="2747962" y="457914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A3381F"/>
                </a:solidFill>
              </a:ln>
            </p:spPr>
          </p:sp>
          <p:sp>
            <p:nvSpPr>
              <p:cNvPr id="42" name="Freeform 42"/>
              <p:cNvSpPr/>
              <p:nvPr/>
            </p:nvSpPr>
            <p:spPr>
              <a:xfrm>
                <a:off x="2664619" y="4745831"/>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A3381F"/>
                </a:solidFill>
              </a:ln>
            </p:spPr>
          </p:sp>
          <p:sp>
            <p:nvSpPr>
              <p:cNvPr id="43" name="Freeform 43"/>
              <p:cNvSpPr/>
              <p:nvPr/>
            </p:nvSpPr>
            <p:spPr>
              <a:xfrm>
                <a:off x="2831306" y="4745831"/>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A3381F"/>
                </a:solidFill>
              </a:ln>
            </p:spPr>
          </p:sp>
          <p:sp>
            <p:nvSpPr>
              <p:cNvPr id="44" name="Freeform 44"/>
              <p:cNvSpPr/>
              <p:nvPr/>
            </p:nvSpPr>
            <p:spPr>
              <a:xfrm>
                <a:off x="2706291" y="4698206"/>
                <a:ext cx="130969" cy="53578"/>
              </a:xfrm>
              <a:custGeom>
                <a:avLst/>
                <a:gdLst/>
                <a:ahLst/>
                <a:cxnLst/>
                <a:rect l="l" t="t" r="r" b="b"/>
                <a:pathLst>
                  <a:path w="130969" h="53578">
                    <a:moveTo>
                      <a:pt x="0" y="53578"/>
                    </a:moveTo>
                    <a:lnTo>
                      <a:pt x="65484" y="0"/>
                    </a:lnTo>
                    <a:lnTo>
                      <a:pt x="130969" y="53578"/>
                    </a:lnTo>
                  </a:path>
                </a:pathLst>
              </a:custGeom>
              <a:noFill/>
              <a:ln w="23812">
                <a:solidFill>
                  <a:srgbClr val="A3381F"/>
                </a:solidFill>
              </a:ln>
            </p:spPr>
          </p:sp>
          <p:sp>
            <p:nvSpPr>
              <p:cNvPr id="45" name="Freeform 45"/>
              <p:cNvSpPr/>
              <p:nvPr/>
            </p:nvSpPr>
            <p:spPr>
              <a:xfrm>
                <a:off x="2771775" y="4626769"/>
                <a:ext cx="9525" cy="71438"/>
              </a:xfrm>
              <a:custGeom>
                <a:avLst/>
                <a:gdLst/>
                <a:ahLst/>
                <a:cxnLst/>
                <a:rect l="l" t="t" r="r" b="b"/>
                <a:pathLst>
                  <a:path w="9525" h="71438">
                    <a:moveTo>
                      <a:pt x="0" y="0"/>
                    </a:moveTo>
                    <a:lnTo>
                      <a:pt x="0" y="71438"/>
                    </a:lnTo>
                  </a:path>
                </a:pathLst>
              </a:custGeom>
              <a:noFill/>
              <a:ln w="23812">
                <a:solidFill>
                  <a:srgbClr val="A3381F"/>
                </a:solidFill>
              </a:ln>
            </p:spPr>
          </p:sp>
        </p:grpSp>
        <p:sp>
          <p:nvSpPr>
            <p:cNvPr id="47" name="TextBox 47"/>
            <p:cNvSpPr txBox="1"/>
            <p:nvPr/>
          </p:nvSpPr>
          <p:spPr>
            <a:xfrm>
              <a:off x="2313737" y="5126831"/>
              <a:ext cx="916076"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科学分层分类</a:t>
              </a:r>
            </a:p>
          </p:txBody>
        </p:sp>
        <p:sp>
          <p:nvSpPr>
            <p:cNvPr id="48" name="TextBox 48"/>
            <p:cNvSpPr txBox="1"/>
            <p:nvPr/>
          </p:nvSpPr>
          <p:spPr>
            <a:xfrm>
              <a:off x="2259192" y="5401389"/>
              <a:ext cx="1025166"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 xml:space="preserve">价值贡献+成长潜力　</a:t>
              </a:r>
            </a:p>
          </p:txBody>
        </p:sp>
        <p:sp>
          <p:nvSpPr>
            <p:cNvPr id="49" name="TextBox 49"/>
            <p:cNvSpPr txBox="1"/>
            <p:nvPr/>
          </p:nvSpPr>
          <p:spPr>
            <a:xfrm>
              <a:off x="2394788" y="5563314"/>
              <a:ext cx="753974"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双维度分层分类</a:t>
              </a:r>
            </a:p>
          </p:txBody>
        </p:sp>
        <p:sp>
          <p:nvSpPr>
            <p:cNvPr id="50" name="Ellipse 50"/>
            <p:cNvSpPr/>
            <p:nvPr/>
          </p:nvSpPr>
          <p:spPr>
            <a:xfrm>
              <a:off x="4029075" y="4438650"/>
              <a:ext cx="495300" cy="495300"/>
            </a:xfrm>
            <a:prstGeom prst="ellipse">
              <a:avLst/>
            </a:prstGeom>
            <a:solidFill>
              <a:srgbClr val="FBF4E7"/>
            </a:solidFill>
            <a:ln w="14288">
              <a:solidFill>
                <a:srgbClr val="C26D5E"/>
              </a:solidFill>
            </a:ln>
          </p:spPr>
        </p:sp>
        <p:grpSp>
          <p:nvGrpSpPr>
            <p:cNvPr id="54" name="Group 54"/>
            <p:cNvGrpSpPr/>
            <p:nvPr/>
          </p:nvGrpSpPr>
          <p:grpSpPr>
            <a:xfrm>
              <a:off x="4169569" y="4579144"/>
              <a:ext cx="214312" cy="214312"/>
              <a:chOff x="4169569" y="4579144"/>
              <a:chExt cx="214312" cy="214312"/>
            </a:xfrm>
          </p:grpSpPr>
          <p:sp>
            <p:nvSpPr>
              <p:cNvPr id="51" name="Freeform 51"/>
              <p:cNvSpPr/>
              <p:nvPr/>
            </p:nvSpPr>
            <p:spPr>
              <a:xfrm>
                <a:off x="4264819" y="467439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A3381F"/>
                </a:solidFill>
              </a:ln>
            </p:spPr>
          </p:sp>
          <p:sp>
            <p:nvSpPr>
              <p:cNvPr id="52" name="Freeform 52"/>
              <p:cNvSpPr/>
              <p:nvPr/>
            </p:nvSpPr>
            <p:spPr>
              <a:xfrm>
                <a:off x="4217194" y="4626769"/>
                <a:ext cx="119062" cy="119062"/>
              </a:xfrm>
              <a:custGeom>
                <a:avLst/>
                <a:gdLst/>
                <a:ahLst/>
                <a:cxnLst/>
                <a:rect l="l" t="t" r="r" b="b"/>
                <a:pathLst>
                  <a:path w="119062" h="119062">
                    <a:moveTo>
                      <a:pt x="0" y="59531"/>
                    </a:moveTo>
                    <a:cubicBezTo>
                      <a:pt x="0" y="92409"/>
                      <a:pt x="26653" y="119062"/>
                      <a:pt x="59531" y="119062"/>
                    </a:cubicBezTo>
                    <a:cubicBezTo>
                      <a:pt x="92409" y="119062"/>
                      <a:pt x="119062" y="92409"/>
                      <a:pt x="119062" y="59531"/>
                    </a:cubicBezTo>
                    <a:cubicBezTo>
                      <a:pt x="119062" y="26653"/>
                      <a:pt x="92409" y="0"/>
                      <a:pt x="59531" y="0"/>
                    </a:cubicBezTo>
                    <a:cubicBezTo>
                      <a:pt x="26653" y="0"/>
                      <a:pt x="0" y="26653"/>
                      <a:pt x="0" y="59531"/>
                    </a:cubicBezTo>
                  </a:path>
                </a:pathLst>
              </a:custGeom>
              <a:noFill/>
              <a:ln w="23812">
                <a:solidFill>
                  <a:srgbClr val="A3381F"/>
                </a:solidFill>
              </a:ln>
            </p:spPr>
          </p:sp>
          <p:sp>
            <p:nvSpPr>
              <p:cNvPr id="53" name="Freeform 53"/>
              <p:cNvSpPr/>
              <p:nvPr/>
            </p:nvSpPr>
            <p:spPr>
              <a:xfrm>
                <a:off x="4169569" y="4579144"/>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rgbClr val="A3381F"/>
                </a:solidFill>
              </a:ln>
            </p:spPr>
          </p:sp>
        </p:grpSp>
        <p:sp>
          <p:nvSpPr>
            <p:cNvPr id="55" name="TextBox 55"/>
            <p:cNvSpPr txBox="1"/>
            <p:nvPr/>
          </p:nvSpPr>
          <p:spPr>
            <a:xfrm>
              <a:off x="3894074" y="5126831"/>
              <a:ext cx="765302"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差异化维护</a:t>
              </a:r>
            </a:p>
          </p:txBody>
        </p:sp>
        <p:sp>
          <p:nvSpPr>
            <p:cNvPr id="56" name="TextBox 56"/>
            <p:cNvSpPr txBox="1"/>
            <p:nvPr/>
          </p:nvSpPr>
          <p:spPr>
            <a:xfrm>
              <a:off x="3952913" y="5401389"/>
              <a:ext cx="647624"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匹配客户需求</a:t>
              </a:r>
            </a:p>
          </p:txBody>
        </p:sp>
        <p:sp>
          <p:nvSpPr>
            <p:cNvPr id="57" name="TextBox 57"/>
            <p:cNvSpPr txBox="1"/>
            <p:nvPr/>
          </p:nvSpPr>
          <p:spPr>
            <a:xfrm>
              <a:off x="3793388" y="5563314"/>
              <a:ext cx="966673"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定制精细化经营策略</a:t>
              </a:r>
            </a:p>
          </p:txBody>
        </p:sp>
        <p:sp>
          <p:nvSpPr>
            <p:cNvPr id="58" name="Ellipse 58"/>
            <p:cNvSpPr/>
            <p:nvPr/>
          </p:nvSpPr>
          <p:spPr>
            <a:xfrm>
              <a:off x="5534025" y="4438650"/>
              <a:ext cx="495300" cy="495300"/>
            </a:xfrm>
            <a:prstGeom prst="ellipse">
              <a:avLst/>
            </a:prstGeom>
            <a:solidFill>
              <a:srgbClr val="FBF4E7"/>
            </a:solidFill>
            <a:ln w="14288">
              <a:solidFill>
                <a:srgbClr val="C26D5E"/>
              </a:solidFill>
            </a:ln>
          </p:spPr>
        </p:sp>
        <p:grpSp>
          <p:nvGrpSpPr>
            <p:cNvPr id="62" name="Group 62"/>
            <p:cNvGrpSpPr/>
            <p:nvPr/>
          </p:nvGrpSpPr>
          <p:grpSpPr>
            <a:xfrm>
              <a:off x="5679305" y="4579144"/>
              <a:ext cx="204716" cy="213003"/>
              <a:chOff x="5679305" y="4579144"/>
              <a:chExt cx="204716" cy="213003"/>
            </a:xfrm>
          </p:grpSpPr>
          <p:sp>
            <p:nvSpPr>
              <p:cNvPr id="59" name="Freeform 59"/>
              <p:cNvSpPr/>
              <p:nvPr/>
            </p:nvSpPr>
            <p:spPr>
              <a:xfrm>
                <a:off x="5710238" y="4579144"/>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3812">
                <a:solidFill>
                  <a:srgbClr val="A3381F"/>
                </a:solidFill>
              </a:ln>
            </p:spPr>
          </p:sp>
          <p:sp>
            <p:nvSpPr>
              <p:cNvPr id="60" name="Freeform 60"/>
              <p:cNvSpPr/>
              <p:nvPr/>
            </p:nvSpPr>
            <p:spPr>
              <a:xfrm>
                <a:off x="5781675" y="4686300"/>
                <a:ext cx="102346" cy="105847"/>
              </a:xfrm>
              <a:custGeom>
                <a:avLst/>
                <a:gdLst/>
                <a:ahLst/>
                <a:cxnLst/>
                <a:rect l="l" t="t" r="r" b="b"/>
                <a:pathLst>
                  <a:path w="102346" h="105847">
                    <a:moveTo>
                      <a:pt x="0" y="35719"/>
                    </a:moveTo>
                    <a:lnTo>
                      <a:pt x="40481" y="105847"/>
                    </a:lnTo>
                    <a:lnTo>
                      <a:pt x="59507" y="67354"/>
                    </a:lnTo>
                    <a:lnTo>
                      <a:pt x="102346" y="70116"/>
                    </a:lnTo>
                    <a:lnTo>
                      <a:pt x="61865" y="0"/>
                    </a:lnTo>
                  </a:path>
                </a:pathLst>
              </a:custGeom>
              <a:noFill/>
              <a:ln w="23812">
                <a:solidFill>
                  <a:srgbClr val="A3381F"/>
                </a:solidFill>
              </a:ln>
            </p:spPr>
          </p:sp>
          <p:sp>
            <p:nvSpPr>
              <p:cNvPr id="61" name="Freeform 61"/>
              <p:cNvSpPr/>
              <p:nvPr/>
            </p:nvSpPr>
            <p:spPr>
              <a:xfrm>
                <a:off x="5679305" y="4686300"/>
                <a:ext cx="102346" cy="105835"/>
              </a:xfrm>
              <a:custGeom>
                <a:avLst/>
                <a:gdLst/>
                <a:ahLst/>
                <a:cxnLst/>
                <a:rect l="l" t="t" r="r" b="b"/>
                <a:pathLst>
                  <a:path w="102346" h="105835">
                    <a:moveTo>
                      <a:pt x="40481" y="0"/>
                    </a:moveTo>
                    <a:lnTo>
                      <a:pt x="0" y="70128"/>
                    </a:lnTo>
                    <a:lnTo>
                      <a:pt x="42839" y="67354"/>
                    </a:lnTo>
                    <a:lnTo>
                      <a:pt x="61865" y="105835"/>
                    </a:lnTo>
                    <a:lnTo>
                      <a:pt x="102346" y="35719"/>
                    </a:lnTo>
                  </a:path>
                </a:pathLst>
              </a:custGeom>
              <a:noFill/>
              <a:ln w="23812">
                <a:solidFill>
                  <a:srgbClr val="A3381F"/>
                </a:solidFill>
              </a:ln>
            </p:spPr>
          </p:sp>
        </p:grpSp>
        <p:sp>
          <p:nvSpPr>
            <p:cNvPr id="63" name="TextBox 63"/>
            <p:cNvSpPr txBox="1"/>
            <p:nvPr/>
          </p:nvSpPr>
          <p:spPr>
            <a:xfrm>
              <a:off x="5474411" y="5126831"/>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权益驱动</a:t>
              </a:r>
            </a:p>
          </p:txBody>
        </p:sp>
        <p:sp>
          <p:nvSpPr>
            <p:cNvPr id="64" name="TextBox 64"/>
            <p:cNvSpPr txBox="1"/>
            <p:nvPr/>
          </p:nvSpPr>
          <p:spPr>
            <a:xfrm>
              <a:off x="5351513" y="5401389"/>
              <a:ext cx="860323"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权益体系精准匹配</a:t>
              </a:r>
            </a:p>
          </p:txBody>
        </p:sp>
        <p:sp>
          <p:nvSpPr>
            <p:cNvPr id="65" name="TextBox 65"/>
            <p:cNvSpPr txBox="1"/>
            <p:nvPr/>
          </p:nvSpPr>
          <p:spPr>
            <a:xfrm>
              <a:off x="5245164" y="5563314"/>
              <a:ext cx="1073023"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提升客户黏性与活跃度</a:t>
              </a:r>
            </a:p>
          </p:txBody>
        </p:sp>
        <p:sp>
          <p:nvSpPr>
            <p:cNvPr id="66" name="Ellipse 66"/>
            <p:cNvSpPr/>
            <p:nvPr/>
          </p:nvSpPr>
          <p:spPr>
            <a:xfrm>
              <a:off x="7038975" y="4438650"/>
              <a:ext cx="495300" cy="495300"/>
            </a:xfrm>
            <a:prstGeom prst="ellipse">
              <a:avLst/>
            </a:prstGeom>
            <a:solidFill>
              <a:srgbClr val="FBF4E7"/>
            </a:solidFill>
            <a:ln w="14288">
              <a:solidFill>
                <a:srgbClr val="C26D5E"/>
              </a:solidFill>
            </a:ln>
          </p:spPr>
        </p:sp>
        <p:grpSp>
          <p:nvGrpSpPr>
            <p:cNvPr id="69" name="Group 69"/>
            <p:cNvGrpSpPr/>
            <p:nvPr/>
          </p:nvGrpSpPr>
          <p:grpSpPr>
            <a:xfrm>
              <a:off x="7179469" y="4626769"/>
              <a:ext cx="214313" cy="119062"/>
              <a:chOff x="7179469" y="4626769"/>
              <a:chExt cx="214313" cy="119062"/>
            </a:xfrm>
          </p:grpSpPr>
          <p:sp>
            <p:nvSpPr>
              <p:cNvPr id="67" name="Freeform 67"/>
              <p:cNvSpPr/>
              <p:nvPr/>
            </p:nvSpPr>
            <p:spPr>
              <a:xfrm>
                <a:off x="7179469" y="4626769"/>
                <a:ext cx="214312" cy="119062"/>
              </a:xfrm>
              <a:custGeom>
                <a:avLst/>
                <a:gdLst/>
                <a:ahLst/>
                <a:cxnLst/>
                <a:rect l="l" t="t" r="r" b="b"/>
                <a:pathLst>
                  <a:path w="214312" h="119062">
                    <a:moveTo>
                      <a:pt x="0" y="119062"/>
                    </a:moveTo>
                    <a:lnTo>
                      <a:pt x="71438" y="47625"/>
                    </a:lnTo>
                    <a:lnTo>
                      <a:pt x="119062" y="95250"/>
                    </a:lnTo>
                    <a:lnTo>
                      <a:pt x="214312" y="0"/>
                    </a:lnTo>
                  </a:path>
                </a:pathLst>
              </a:custGeom>
              <a:noFill/>
              <a:ln w="23812">
                <a:solidFill>
                  <a:srgbClr val="A3381F"/>
                </a:solidFill>
              </a:ln>
            </p:spPr>
          </p:sp>
          <p:sp>
            <p:nvSpPr>
              <p:cNvPr id="68" name="Freeform 68"/>
              <p:cNvSpPr/>
              <p:nvPr/>
            </p:nvSpPr>
            <p:spPr>
              <a:xfrm>
                <a:off x="7310438" y="4626769"/>
                <a:ext cx="83344" cy="83344"/>
              </a:xfrm>
              <a:custGeom>
                <a:avLst/>
                <a:gdLst/>
                <a:ahLst/>
                <a:cxnLst/>
                <a:rect l="l" t="t" r="r" b="b"/>
                <a:pathLst>
                  <a:path w="83344" h="83344">
                    <a:moveTo>
                      <a:pt x="0" y="0"/>
                    </a:moveTo>
                    <a:lnTo>
                      <a:pt x="83344" y="0"/>
                    </a:lnTo>
                    <a:lnTo>
                      <a:pt x="83344" y="83344"/>
                    </a:lnTo>
                  </a:path>
                </a:pathLst>
              </a:custGeom>
              <a:noFill/>
              <a:ln w="23812">
                <a:solidFill>
                  <a:srgbClr val="A3381F"/>
                </a:solidFill>
              </a:ln>
            </p:spPr>
          </p:sp>
        </p:grpSp>
        <p:sp>
          <p:nvSpPr>
            <p:cNvPr id="70" name="TextBox 70"/>
            <p:cNvSpPr txBox="1"/>
            <p:nvPr/>
          </p:nvSpPr>
          <p:spPr>
            <a:xfrm>
              <a:off x="6979361" y="5126831"/>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价值提升</a:t>
              </a:r>
            </a:p>
          </p:txBody>
        </p:sp>
        <p:sp>
          <p:nvSpPr>
            <p:cNvPr id="71" name="TextBox 71"/>
            <p:cNvSpPr txBox="1"/>
            <p:nvPr/>
          </p:nvSpPr>
          <p:spPr>
            <a:xfrm>
              <a:off x="6962813" y="5401389"/>
              <a:ext cx="647624"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深挖客户潜力</a:t>
              </a:r>
            </a:p>
          </p:txBody>
        </p:sp>
        <p:sp>
          <p:nvSpPr>
            <p:cNvPr id="72" name="TextBox 72"/>
            <p:cNvSpPr txBox="1"/>
            <p:nvPr/>
          </p:nvSpPr>
          <p:spPr>
            <a:xfrm>
              <a:off x="6750114" y="5563314"/>
              <a:ext cx="1073023" cy="154781"/>
            </a:xfrm>
            <a:prstGeom prst="rect">
              <a:avLst/>
            </a:prstGeom>
            <a:noFill/>
            <a:ln>
              <a:noFill/>
            </a:ln>
          </p:spPr>
          <p:txBody>
            <a:bodyPr wrap="none" lIns="0" tIns="0" rIns="0" bIns="0" anchor="t" anchorCtr="0">
              <a:spAutoFit/>
            </a:bodyPr>
            <a:lstStyle/>
            <a:p>
              <a:pPr algn="ctr"/>
              <a:r>
                <a:rPr lang="zh-CN" sz="790" dirty="0">
                  <a:solidFill>
                    <a:srgbClr val="6B6B6B"/>
                  </a:solidFill>
                  <a:latin typeface="+mn-lt"/>
                  <a:ea typeface="+mn-ea"/>
                  <a:cs typeface="+mn-cs"/>
                </a:rPr>
                <a:t>实现客户价值持续增长</a:t>
              </a:r>
            </a:p>
          </p:txBody>
        </p:sp>
      </p:gr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942594" y="151448"/>
              <a:ext cx="4457700"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建设背景：客户经营进入</a:t>
              </a:r>
              <a:r>
                <a:rPr lang="zh-CN" sz="1950" b="1" dirty="0">
                  <a:solidFill>
                    <a:srgbClr val="A3381F"/>
                  </a:solidFill>
                  <a:latin typeface="SimSun"/>
                  <a:ea typeface="SimSun"/>
                  <a:cs typeface="SimSun"/>
                </a:rPr>
                <a:t>精细化阶段</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18" name="concl-banner"/>
          <p:cNvGrpSpPr/>
          <p:nvPr/>
        </p:nvGrpSpPr>
        <p:grpSpPr>
          <a:xfrm>
            <a:off x="571500" y="800100"/>
            <a:ext cx="11049000" cy="495300"/>
            <a:chOff x="571500" y="800100"/>
            <a:chExt cx="11049000" cy="495300"/>
          </a:xfrm>
        </p:grpSpPr>
        <p:sp>
          <p:nvSpPr>
            <p:cNvPr id="7" name="Rectangle 7"/>
            <p:cNvSpPr/>
            <p:nvPr/>
          </p:nvSpPr>
          <p:spPr>
            <a:xfrm>
              <a:off x="571500" y="800100"/>
              <a:ext cx="11049000" cy="495300"/>
            </a:xfrm>
            <a:prstGeom prst="roundRect">
              <a:avLst>
                <a:gd name="adj" fmla="val 50000"/>
              </a:avLst>
            </a:prstGeom>
            <a:solidFill>
              <a:srgbClr val="FFFDF6"/>
            </a:solidFill>
            <a:ln w="14288">
              <a:solidFill>
                <a:srgbClr val="C26D5E"/>
              </a:solidFill>
            </a:ln>
          </p:spPr>
        </p:sp>
        <p:sp>
          <p:nvSpPr>
            <p:cNvPr id="8" name="Ellipse 8"/>
            <p:cNvSpPr/>
            <p:nvPr/>
          </p:nvSpPr>
          <p:spPr>
            <a:xfrm>
              <a:off x="904875" y="885825"/>
              <a:ext cx="323850" cy="323850"/>
            </a:xfrm>
            <a:prstGeom prst="ellipse">
              <a:avLst/>
            </a:prstGeom>
            <a:solidFill>
              <a:srgbClr val="C26D5E"/>
            </a:solidFill>
            <a:ln>
              <a:noFill/>
            </a:ln>
          </p:spPr>
        </p:sp>
        <p:grpSp>
          <p:nvGrpSpPr>
            <p:cNvPr id="13" name="Group 13"/>
            <p:cNvGrpSpPr/>
            <p:nvPr/>
          </p:nvGrpSpPr>
          <p:grpSpPr>
            <a:xfrm>
              <a:off x="988219" y="977900"/>
              <a:ext cx="157163" cy="149225"/>
              <a:chOff x="988219" y="977900"/>
              <a:chExt cx="157163" cy="149225"/>
            </a:xfrm>
          </p:grpSpPr>
          <p:sp>
            <p:nvSpPr>
              <p:cNvPr id="9" name="Freeform 9"/>
              <p:cNvSpPr/>
              <p:nvPr/>
            </p:nvSpPr>
            <p:spPr>
              <a:xfrm>
                <a:off x="988219" y="10477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10" name="Freeform 10"/>
              <p:cNvSpPr/>
              <p:nvPr/>
            </p:nvSpPr>
            <p:spPr>
              <a:xfrm>
                <a:off x="1092994" y="10128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11" name="Freeform 11"/>
              <p:cNvSpPr/>
              <p:nvPr/>
            </p:nvSpPr>
            <p:spPr>
              <a:xfrm>
                <a:off x="1040606" y="9779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12" name="Freeform 12"/>
              <p:cNvSpPr/>
              <p:nvPr/>
            </p:nvSpPr>
            <p:spPr>
              <a:xfrm>
                <a:off x="996950" y="1117600"/>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14" name="TextBox 14"/>
            <p:cNvSpPr txBox="1"/>
            <p:nvPr/>
          </p:nvSpPr>
          <p:spPr>
            <a:xfrm>
              <a:off x="1346073" y="976789"/>
              <a:ext cx="741223" cy="249364"/>
            </a:xfrm>
            <a:prstGeom prst="rect">
              <a:avLst/>
            </a:prstGeom>
            <a:noFill/>
            <a:ln>
              <a:noFill/>
            </a:ln>
          </p:spPr>
          <p:txBody>
            <a:bodyPr wrap="none" lIns="0" tIns="0" rIns="0" bIns="0" anchor="t" anchorCtr="0">
              <a:spAutoFit/>
            </a:bodyPr>
            <a:lstStyle/>
            <a:p>
              <a:pPr algn="l"/>
              <a:r>
                <a:rPr lang="zh-CN" sz="1280" b="1" dirty="0">
                  <a:solidFill>
                    <a:srgbClr val="A24B3C"/>
                  </a:solidFill>
                  <a:latin typeface="SimSun"/>
                  <a:ea typeface="SimSun"/>
                  <a:cs typeface="SimSun"/>
                </a:rPr>
                <a:t>核心结论</a:t>
              </a:r>
            </a:p>
          </p:txBody>
        </p:sp>
        <p:sp>
          <p:nvSpPr>
            <p:cNvPr id="15" name="Line 15"/>
            <p:cNvSpPr/>
            <p:nvPr/>
          </p:nvSpPr>
          <p:spPr>
            <a:xfrm>
              <a:off x="2362200" y="914400"/>
              <a:ext cx="9525" cy="266700"/>
            </a:xfrm>
            <a:custGeom>
              <a:avLst/>
              <a:gdLst/>
              <a:ahLst/>
              <a:cxnLst/>
              <a:rect l="l" t="t" r="r" b="b"/>
              <a:pathLst>
                <a:path w="9525" h="266700">
                  <a:moveTo>
                    <a:pt x="0" y="0"/>
                  </a:moveTo>
                  <a:lnTo>
                    <a:pt x="0" y="266700"/>
                  </a:lnTo>
                </a:path>
              </a:pathLst>
            </a:custGeom>
            <a:noFill/>
            <a:ln w="9525">
              <a:solidFill>
                <a:srgbClr val="C26D5E"/>
              </a:solidFill>
            </a:ln>
          </p:spPr>
        </p:sp>
        <p:sp>
          <p:nvSpPr>
            <p:cNvPr id="16" name="TextBox 16"/>
            <p:cNvSpPr txBox="1"/>
            <p:nvPr/>
          </p:nvSpPr>
          <p:spPr>
            <a:xfrm>
              <a:off x="2640711" y="970121"/>
              <a:ext cx="3455365" cy="278702"/>
            </a:xfrm>
            <a:prstGeom prst="rect">
              <a:avLst/>
            </a:prstGeom>
            <a:noFill/>
            <a:ln>
              <a:noFill/>
            </a:ln>
          </p:spPr>
          <p:txBody>
            <a:bodyPr wrap="none" lIns="0" tIns="0" rIns="0" bIns="0" anchor="t" anchorCtr="0">
              <a:spAutoFit/>
            </a:bodyPr>
            <a:lstStyle/>
            <a:p>
              <a:pPr algn="l"/>
              <a:r>
                <a:rPr lang="zh-CN" sz="1420" b="1" dirty="0">
                  <a:solidFill>
                    <a:srgbClr val="A3381F"/>
                  </a:solidFill>
                  <a:latin typeface="+mn-lt"/>
                  <a:ea typeface="+mn-ea"/>
                  <a:cs typeface="+mn-cs"/>
                </a:rPr>
                <a:t>从产品销售转向客户全生命周期价值经营</a:t>
              </a:r>
            </a:p>
          </p:txBody>
        </p:sp>
        <p:sp>
          <p:nvSpPr>
            <p:cNvPr id="17" name="Rectangle 17"/>
            <p:cNvSpPr/>
            <p:nvPr/>
          </p:nvSpPr>
          <p:spPr>
            <a:xfrm rot="2700000">
              <a:off x="11391900" y="1009650"/>
              <a:ext cx="76200" cy="76200"/>
            </a:xfrm>
            <a:prstGeom prst="rect">
              <a:avLst/>
            </a:prstGeom>
            <a:solidFill>
              <a:srgbClr val="C26D5E"/>
            </a:solidFill>
            <a:ln>
              <a:noFill/>
            </a:ln>
          </p:spPr>
        </p:sp>
      </p:grpSp>
      <p:grpSp>
        <p:nvGrpSpPr>
          <p:cNvPr id="37" name="pain-card-1"/>
          <p:cNvGrpSpPr/>
          <p:nvPr/>
        </p:nvGrpSpPr>
        <p:grpSpPr>
          <a:xfrm>
            <a:off x="381000" y="1428750"/>
            <a:ext cx="1562100" cy="3962400"/>
            <a:chOff x="381000" y="1428750"/>
            <a:chExt cx="1562100" cy="3962400"/>
          </a:xfrm>
        </p:grpSpPr>
        <p:sp>
          <p:nvSpPr>
            <p:cNvPr id="19" name="Rectangle 19"/>
            <p:cNvSpPr/>
            <p:nvPr/>
          </p:nvSpPr>
          <p:spPr>
            <a:xfrm>
              <a:off x="381000" y="1428750"/>
              <a:ext cx="1562100" cy="3962400"/>
            </a:xfrm>
            <a:prstGeom prst="roundRect">
              <a:avLst>
                <a:gd name="adj" fmla="val 6098"/>
              </a:avLst>
            </a:prstGeom>
            <a:solidFill>
              <a:srgbClr val="FFFFFF"/>
            </a:solidFill>
            <a:ln w="9525">
              <a:solidFill>
                <a:srgbClr val="E6D9C0"/>
              </a:solidFill>
            </a:ln>
          </p:spPr>
        </p:sp>
        <p:sp>
          <p:nvSpPr>
            <p:cNvPr id="20" name="Rectangle 20"/>
            <p:cNvSpPr/>
            <p:nvPr/>
          </p:nvSpPr>
          <p:spPr>
            <a:xfrm>
              <a:off x="1543050" y="1485900"/>
              <a:ext cx="381000" cy="228600"/>
            </a:xfrm>
            <a:prstGeom prst="roundRect">
              <a:avLst>
                <a:gd name="adj" fmla="val 25000"/>
              </a:avLst>
            </a:prstGeom>
            <a:solidFill>
              <a:srgbClr val="C26D5E"/>
            </a:solidFill>
            <a:ln>
              <a:noFill/>
            </a:ln>
          </p:spPr>
        </p:sp>
        <p:sp>
          <p:nvSpPr>
            <p:cNvPr id="21" name="TextBox 21"/>
            <p:cNvSpPr txBox="1"/>
            <p:nvPr/>
          </p:nvSpPr>
          <p:spPr>
            <a:xfrm>
              <a:off x="1652409" y="15425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01</a:t>
              </a:r>
            </a:p>
          </p:txBody>
        </p:sp>
        <p:sp>
          <p:nvSpPr>
            <p:cNvPr id="22" name="Ellipse 22"/>
            <p:cNvSpPr/>
            <p:nvPr/>
          </p:nvSpPr>
          <p:spPr>
            <a:xfrm>
              <a:off x="923925" y="1714500"/>
              <a:ext cx="476250" cy="476250"/>
            </a:xfrm>
            <a:prstGeom prst="ellipse">
              <a:avLst/>
            </a:prstGeom>
            <a:solidFill>
              <a:srgbClr val="A3381F"/>
            </a:solidFill>
            <a:ln>
              <a:noFill/>
            </a:ln>
          </p:spPr>
        </p:sp>
        <p:grpSp>
          <p:nvGrpSpPr>
            <p:cNvPr id="28" name="Group 28"/>
            <p:cNvGrpSpPr/>
            <p:nvPr/>
          </p:nvGrpSpPr>
          <p:grpSpPr>
            <a:xfrm>
              <a:off x="1069181" y="1858373"/>
              <a:ext cx="185737" cy="187120"/>
              <a:chOff x="1069181" y="1858373"/>
              <a:chExt cx="185737" cy="187120"/>
            </a:xfrm>
          </p:grpSpPr>
          <p:sp>
            <p:nvSpPr>
              <p:cNvPr id="23" name="Freeform 23"/>
              <p:cNvSpPr/>
              <p:nvPr/>
            </p:nvSpPr>
            <p:spPr>
              <a:xfrm>
                <a:off x="1131093" y="1942306"/>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FFFFFF"/>
                </a:solidFill>
              </a:ln>
            </p:spPr>
          </p:sp>
          <p:sp>
            <p:nvSpPr>
              <p:cNvPr id="24" name="Freeform 24"/>
              <p:cNvSpPr/>
              <p:nvPr/>
            </p:nvSpPr>
            <p:spPr>
              <a:xfrm>
                <a:off x="1131093" y="1973262"/>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FFFFFF"/>
                </a:solidFill>
              </a:ln>
            </p:spPr>
          </p:sp>
          <p:sp>
            <p:nvSpPr>
              <p:cNvPr id="25" name="Freeform 25"/>
              <p:cNvSpPr/>
              <p:nvPr/>
            </p:nvSpPr>
            <p:spPr>
              <a:xfrm>
                <a:off x="1069181" y="1858373"/>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FFFFFF"/>
                </a:solidFill>
              </a:ln>
            </p:spPr>
          </p:sp>
          <p:sp>
            <p:nvSpPr>
              <p:cNvPr id="26" name="Freeform 26"/>
              <p:cNvSpPr/>
              <p:nvPr/>
            </p:nvSpPr>
            <p:spPr>
              <a:xfrm>
                <a:off x="1069181" y="1890712"/>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FFFFFF"/>
                </a:solidFill>
              </a:ln>
            </p:spPr>
          </p:sp>
          <p:sp>
            <p:nvSpPr>
              <p:cNvPr id="27" name="Freeform 27"/>
              <p:cNvSpPr/>
              <p:nvPr/>
            </p:nvSpPr>
            <p:spPr>
              <a:xfrm>
                <a:off x="1069181" y="1942306"/>
                <a:ext cx="20637" cy="20637"/>
              </a:xfrm>
              <a:custGeom>
                <a:avLst/>
                <a:gdLst/>
                <a:ahLst/>
                <a:cxnLst/>
                <a:rect l="l" t="t" r="r" b="b"/>
                <a:pathLst>
                  <a:path w="20637" h="20637">
                    <a:moveTo>
                      <a:pt x="0" y="0"/>
                    </a:moveTo>
                    <a:cubicBezTo>
                      <a:pt x="0" y="9163"/>
                      <a:pt x="7966" y="14962"/>
                      <a:pt x="20637" y="20637"/>
                    </a:cubicBezTo>
                  </a:path>
                </a:pathLst>
              </a:custGeom>
              <a:noFill/>
              <a:ln w="20637">
                <a:solidFill>
                  <a:srgbClr val="FFFFFF"/>
                </a:solidFill>
              </a:ln>
            </p:spPr>
          </p:sp>
        </p:grpSp>
        <p:sp>
          <p:nvSpPr>
            <p:cNvPr id="29" name="TextBox 29"/>
            <p:cNvSpPr txBox="1"/>
            <p:nvPr/>
          </p:nvSpPr>
          <p:spPr>
            <a:xfrm>
              <a:off x="854786" y="2374106"/>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存量经营</a:t>
              </a:r>
            </a:p>
          </p:txBody>
        </p:sp>
        <p:sp>
          <p:nvSpPr>
            <p:cNvPr id="30" name="TextBox 30"/>
            <p:cNvSpPr txBox="1"/>
            <p:nvPr/>
          </p:nvSpPr>
          <p:spPr>
            <a:xfrm>
              <a:off x="854786" y="2574131"/>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成为重点</a:t>
              </a:r>
            </a:p>
          </p:txBody>
        </p:sp>
        <p:sp>
          <p:nvSpPr>
            <p:cNvPr id="31" name="Ellipse 31"/>
            <p:cNvSpPr/>
            <p:nvPr/>
          </p:nvSpPr>
          <p:spPr>
            <a:xfrm>
              <a:off x="509588" y="2947988"/>
              <a:ext cx="47625" cy="47625"/>
            </a:xfrm>
            <a:prstGeom prst="ellipse">
              <a:avLst/>
            </a:prstGeom>
            <a:solidFill>
              <a:srgbClr val="C26D5E"/>
            </a:solidFill>
            <a:ln>
              <a:noFill/>
            </a:ln>
          </p:spPr>
        </p:sp>
        <p:sp>
          <p:nvSpPr>
            <p:cNvPr id="32" name="TextBox 32"/>
            <p:cNvSpPr txBox="1"/>
            <p:nvPr/>
          </p:nvSpPr>
          <p:spPr>
            <a:xfrm>
              <a:off x="623888" y="293298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增量红利见顶</a:t>
              </a:r>
              <a:br/>
              <a:r>
                <a:rPr lang="zh-CN" sz="710" dirty="0">
                  <a:solidFill>
                    <a:srgbClr val="4A4A4A"/>
                  </a:solidFill>
                  <a:latin typeface="+mn-lt"/>
                  <a:ea typeface="+mn-ea"/>
                  <a:cs typeface="+mn-cs"/>
                </a:rPr>
                <a:t>存量价值挖掘空间受限</a:t>
              </a:r>
            </a:p>
          </p:txBody>
        </p:sp>
        <p:sp>
          <p:nvSpPr>
            <p:cNvPr id="33" name="Ellipse 33"/>
            <p:cNvSpPr/>
            <p:nvPr/>
          </p:nvSpPr>
          <p:spPr>
            <a:xfrm>
              <a:off x="509588" y="3328988"/>
              <a:ext cx="47625" cy="47625"/>
            </a:xfrm>
            <a:prstGeom prst="ellipse">
              <a:avLst/>
            </a:prstGeom>
            <a:solidFill>
              <a:srgbClr val="C26D5E"/>
            </a:solidFill>
            <a:ln>
              <a:noFill/>
            </a:ln>
          </p:spPr>
        </p:sp>
        <p:sp>
          <p:nvSpPr>
            <p:cNvPr id="34" name="TextBox 34"/>
            <p:cNvSpPr txBox="1"/>
            <p:nvPr/>
          </p:nvSpPr>
          <p:spPr>
            <a:xfrm>
              <a:off x="623888" y="3313986"/>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客户结构分化加剧</a:t>
              </a:r>
              <a:br/>
              <a:r>
                <a:rPr lang="zh-CN" sz="710" dirty="0">
                  <a:solidFill>
                    <a:srgbClr val="4A4A4A"/>
                  </a:solidFill>
                  <a:latin typeface="+mn-lt"/>
                  <a:ea typeface="+mn-ea"/>
                  <a:cs typeface="+mn-cs"/>
                </a:rPr>
                <a:t>头部下沉</a:t>
              </a:r>
            </a:p>
          </p:txBody>
        </p:sp>
        <p:sp>
          <p:nvSpPr>
            <p:cNvPr id="35" name="Ellipse 35"/>
            <p:cNvSpPr/>
            <p:nvPr/>
          </p:nvSpPr>
          <p:spPr>
            <a:xfrm>
              <a:off x="509588" y="3709988"/>
              <a:ext cx="47625" cy="47625"/>
            </a:xfrm>
            <a:prstGeom prst="ellipse">
              <a:avLst/>
            </a:prstGeom>
            <a:solidFill>
              <a:srgbClr val="C26D5E"/>
            </a:solidFill>
            <a:ln>
              <a:noFill/>
            </a:ln>
          </p:spPr>
        </p:sp>
        <p:sp>
          <p:nvSpPr>
            <p:cNvPr id="36" name="TextBox 36"/>
            <p:cNvSpPr txBox="1"/>
            <p:nvPr/>
          </p:nvSpPr>
          <p:spPr>
            <a:xfrm>
              <a:off x="623888" y="369498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长尾客户激活成本高</a:t>
              </a:r>
              <a:br/>
              <a:r>
                <a:rPr lang="zh-CN" sz="710" dirty="0">
                  <a:solidFill>
                    <a:srgbClr val="4A4A4A"/>
                  </a:solidFill>
                  <a:latin typeface="+mn-lt"/>
                  <a:ea typeface="+mn-ea"/>
                  <a:cs typeface="+mn-cs"/>
                </a:rPr>
                <a:t>流失风险上升</a:t>
              </a:r>
            </a:p>
          </p:txBody>
        </p:sp>
      </p:grpSp>
      <p:grpSp>
        <p:nvGrpSpPr>
          <p:cNvPr id="53" name="pain-card-2"/>
          <p:cNvGrpSpPr/>
          <p:nvPr/>
        </p:nvGrpSpPr>
        <p:grpSpPr>
          <a:xfrm>
            <a:off x="2019300" y="1428750"/>
            <a:ext cx="1562100" cy="3962400"/>
            <a:chOff x="2019300" y="1428750"/>
            <a:chExt cx="1562100" cy="3962400"/>
          </a:xfrm>
        </p:grpSpPr>
        <p:sp>
          <p:nvSpPr>
            <p:cNvPr id="38" name="Rectangle 38"/>
            <p:cNvSpPr/>
            <p:nvPr/>
          </p:nvSpPr>
          <p:spPr>
            <a:xfrm>
              <a:off x="2019300" y="1428750"/>
              <a:ext cx="1562100" cy="3962400"/>
            </a:xfrm>
            <a:prstGeom prst="roundRect">
              <a:avLst>
                <a:gd name="adj" fmla="val 6098"/>
              </a:avLst>
            </a:prstGeom>
            <a:solidFill>
              <a:srgbClr val="FFFFFF"/>
            </a:solidFill>
            <a:ln w="9525">
              <a:solidFill>
                <a:srgbClr val="E6D9C0"/>
              </a:solidFill>
            </a:ln>
          </p:spPr>
        </p:sp>
        <p:sp>
          <p:nvSpPr>
            <p:cNvPr id="39" name="Rectangle 39"/>
            <p:cNvSpPr/>
            <p:nvPr/>
          </p:nvSpPr>
          <p:spPr>
            <a:xfrm>
              <a:off x="3181350" y="1485900"/>
              <a:ext cx="381000" cy="228600"/>
            </a:xfrm>
            <a:prstGeom prst="roundRect">
              <a:avLst>
                <a:gd name="adj" fmla="val 25000"/>
              </a:avLst>
            </a:prstGeom>
            <a:solidFill>
              <a:srgbClr val="C26D5E"/>
            </a:solidFill>
            <a:ln>
              <a:noFill/>
            </a:ln>
          </p:spPr>
        </p:sp>
        <p:sp>
          <p:nvSpPr>
            <p:cNvPr id="40" name="TextBox 40"/>
            <p:cNvSpPr txBox="1"/>
            <p:nvPr/>
          </p:nvSpPr>
          <p:spPr>
            <a:xfrm>
              <a:off x="3290709" y="15425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02</a:t>
              </a:r>
            </a:p>
          </p:txBody>
        </p:sp>
        <p:sp>
          <p:nvSpPr>
            <p:cNvPr id="41" name="Ellipse 41"/>
            <p:cNvSpPr/>
            <p:nvPr/>
          </p:nvSpPr>
          <p:spPr>
            <a:xfrm>
              <a:off x="2562225" y="1714500"/>
              <a:ext cx="476250" cy="476250"/>
            </a:xfrm>
            <a:prstGeom prst="ellipse">
              <a:avLst/>
            </a:prstGeom>
            <a:solidFill>
              <a:srgbClr val="C26D5E"/>
            </a:solidFill>
            <a:ln>
              <a:noFill/>
            </a:ln>
          </p:spPr>
        </p:sp>
        <p:grpSp>
          <p:nvGrpSpPr>
            <p:cNvPr id="46" name="Group 46"/>
            <p:cNvGrpSpPr/>
            <p:nvPr/>
          </p:nvGrpSpPr>
          <p:grpSpPr>
            <a:xfrm>
              <a:off x="2707481" y="1859756"/>
              <a:ext cx="185737" cy="175418"/>
              <a:chOff x="2707481" y="1859756"/>
              <a:chExt cx="185737" cy="175418"/>
            </a:xfrm>
          </p:grpSpPr>
          <p:sp>
            <p:nvSpPr>
              <p:cNvPr id="42" name="Freeform 42"/>
              <p:cNvSpPr/>
              <p:nvPr/>
            </p:nvSpPr>
            <p:spPr>
              <a:xfrm>
                <a:off x="2707481" y="1901031"/>
                <a:ext cx="185737" cy="134143"/>
              </a:xfrm>
              <a:custGeom>
                <a:avLst/>
                <a:gdLst/>
                <a:ahLst/>
                <a:cxnLst/>
                <a:rect l="l" t="t" r="r" b="b"/>
                <a:pathLst>
                  <a:path w="185737" h="134143">
                    <a:moveTo>
                      <a:pt x="0" y="20637"/>
                    </a:moveTo>
                    <a:cubicBezTo>
                      <a:pt x="0" y="9240"/>
                      <a:pt x="9240" y="0"/>
                      <a:pt x="20637" y="0"/>
                    </a:cubicBezTo>
                    <a:lnTo>
                      <a:pt x="165099" y="0"/>
                    </a:lnTo>
                    <a:cubicBezTo>
                      <a:pt x="176497" y="0"/>
                      <a:pt x="185737" y="9240"/>
                      <a:pt x="185737" y="20637"/>
                    </a:cubicBezTo>
                    <a:lnTo>
                      <a:pt x="185737" y="113506"/>
                    </a:lnTo>
                    <a:cubicBezTo>
                      <a:pt x="185737" y="124904"/>
                      <a:pt x="176497" y="134143"/>
                      <a:pt x="165099" y="134143"/>
                    </a:cubicBezTo>
                    <a:lnTo>
                      <a:pt x="20637" y="134143"/>
                    </a:lnTo>
                    <a:cubicBezTo>
                      <a:pt x="9240" y="134143"/>
                      <a:pt x="0" y="124904"/>
                      <a:pt x="0" y="113506"/>
                    </a:cubicBezTo>
                    <a:lnTo>
                      <a:pt x="0" y="20637"/>
                    </a:lnTo>
                  </a:path>
                </a:pathLst>
              </a:custGeom>
              <a:noFill/>
              <a:ln w="20637">
                <a:solidFill>
                  <a:srgbClr val="FFFFFF"/>
                </a:solidFill>
              </a:ln>
            </p:spPr>
          </p:sp>
          <p:sp>
            <p:nvSpPr>
              <p:cNvPr id="43" name="Freeform 43"/>
              <p:cNvSpPr/>
              <p:nvPr/>
            </p:nvSpPr>
            <p:spPr>
              <a:xfrm>
                <a:off x="2759075" y="1859756"/>
                <a:ext cx="82550" cy="41275"/>
              </a:xfrm>
              <a:custGeom>
                <a:avLst/>
                <a:gdLst/>
                <a:ahLst/>
                <a:cxnLst/>
                <a:rect l="l" t="t" r="r" b="b"/>
                <a:pathLst>
                  <a:path w="82550" h="41275">
                    <a:moveTo>
                      <a:pt x="0" y="41275"/>
                    </a:moveTo>
                    <a:lnTo>
                      <a:pt x="0" y="20637"/>
                    </a:lnTo>
                    <a:cubicBezTo>
                      <a:pt x="0" y="9240"/>
                      <a:pt x="9240" y="0"/>
                      <a:pt x="20637" y="0"/>
                    </a:cubicBezTo>
                    <a:lnTo>
                      <a:pt x="61912" y="0"/>
                    </a:lnTo>
                    <a:cubicBezTo>
                      <a:pt x="73310" y="0"/>
                      <a:pt x="82550" y="9240"/>
                      <a:pt x="82550" y="20637"/>
                    </a:cubicBezTo>
                    <a:lnTo>
                      <a:pt x="82550" y="41275"/>
                    </a:lnTo>
                  </a:path>
                </a:pathLst>
              </a:custGeom>
              <a:noFill/>
              <a:ln w="20637">
                <a:solidFill>
                  <a:srgbClr val="FFFFFF"/>
                </a:solidFill>
              </a:ln>
            </p:spPr>
          </p:sp>
          <p:sp>
            <p:nvSpPr>
              <p:cNvPr id="44" name="Freeform 44"/>
              <p:cNvSpPr/>
              <p:nvPr/>
            </p:nvSpPr>
            <p:spPr>
              <a:xfrm>
                <a:off x="2800350" y="1952625"/>
                <a:ext cx="9525" cy="9525"/>
              </a:xfrm>
              <a:custGeom>
                <a:avLst/>
                <a:gdLst/>
                <a:ahLst/>
                <a:cxnLst/>
                <a:rect l="l" t="t" r="r" b="b"/>
                <a:pathLst>
                  <a:path w="9525" h="9525">
                    <a:moveTo>
                      <a:pt x="0" y="0"/>
                    </a:moveTo>
                    <a:lnTo>
                      <a:pt x="0" y="103"/>
                    </a:lnTo>
                  </a:path>
                </a:pathLst>
              </a:custGeom>
              <a:noFill/>
              <a:ln w="20637">
                <a:solidFill>
                  <a:srgbClr val="FFFFFF"/>
                </a:solidFill>
              </a:ln>
            </p:spPr>
          </p:sp>
          <p:sp>
            <p:nvSpPr>
              <p:cNvPr id="45" name="Freeform 45"/>
              <p:cNvSpPr/>
              <p:nvPr/>
            </p:nvSpPr>
            <p:spPr>
              <a:xfrm>
                <a:off x="2707481" y="1962943"/>
                <a:ext cx="185737" cy="29435"/>
              </a:xfrm>
              <a:custGeom>
                <a:avLst/>
                <a:gdLst/>
                <a:ahLst/>
                <a:cxnLst/>
                <a:rect l="l" t="t" r="r" b="b"/>
                <a:pathLst>
                  <a:path w="185737" h="29435">
                    <a:moveTo>
                      <a:pt x="0" y="0"/>
                    </a:moveTo>
                    <a:cubicBezTo>
                      <a:pt x="58414" y="29435"/>
                      <a:pt x="127323" y="29435"/>
                      <a:pt x="185737" y="0"/>
                    </a:cubicBezTo>
                  </a:path>
                </a:pathLst>
              </a:custGeom>
              <a:noFill/>
              <a:ln w="20637">
                <a:solidFill>
                  <a:srgbClr val="FFFFFF"/>
                </a:solidFill>
              </a:ln>
            </p:spPr>
          </p:sp>
        </p:grpSp>
        <p:sp>
          <p:nvSpPr>
            <p:cNvPr id="47" name="TextBox 47"/>
            <p:cNvSpPr txBox="1"/>
            <p:nvPr/>
          </p:nvSpPr>
          <p:spPr>
            <a:xfrm>
              <a:off x="2493086" y="2374106"/>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综合金融</a:t>
              </a:r>
            </a:p>
          </p:txBody>
        </p:sp>
        <p:sp>
          <p:nvSpPr>
            <p:cNvPr id="48" name="TextBox 48"/>
            <p:cNvSpPr txBox="1"/>
            <p:nvPr/>
          </p:nvSpPr>
          <p:spPr>
            <a:xfrm>
              <a:off x="2493086" y="2574131"/>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需求升级</a:t>
              </a:r>
            </a:p>
          </p:txBody>
        </p:sp>
        <p:sp>
          <p:nvSpPr>
            <p:cNvPr id="49" name="Ellipse 49"/>
            <p:cNvSpPr/>
            <p:nvPr/>
          </p:nvSpPr>
          <p:spPr>
            <a:xfrm>
              <a:off x="2147888" y="2947988"/>
              <a:ext cx="47625" cy="47625"/>
            </a:xfrm>
            <a:prstGeom prst="ellipse">
              <a:avLst/>
            </a:prstGeom>
            <a:solidFill>
              <a:srgbClr val="C26D5E"/>
            </a:solidFill>
            <a:ln>
              <a:noFill/>
            </a:ln>
          </p:spPr>
        </p:sp>
        <p:sp>
          <p:nvSpPr>
            <p:cNvPr id="50" name="TextBox 50"/>
            <p:cNvSpPr txBox="1"/>
            <p:nvPr/>
          </p:nvSpPr>
          <p:spPr>
            <a:xfrm>
              <a:off x="2262188" y="2932986"/>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需求从单一产品向</a:t>
              </a:r>
              <a:br/>
              <a:r>
                <a:rPr lang="zh-CN" sz="710" dirty="0">
                  <a:solidFill>
                    <a:srgbClr val="4A4A4A"/>
                  </a:solidFill>
                  <a:latin typeface="+mn-lt"/>
                  <a:ea typeface="+mn-ea"/>
                  <a:cs typeface="+mn-cs"/>
                </a:rPr>
                <a:t>综合解决方案转变</a:t>
              </a:r>
            </a:p>
          </p:txBody>
        </p:sp>
        <p:sp>
          <p:nvSpPr>
            <p:cNvPr id="51" name="Ellipse 51"/>
            <p:cNvSpPr/>
            <p:nvPr/>
          </p:nvSpPr>
          <p:spPr>
            <a:xfrm>
              <a:off x="2147888" y="3367088"/>
              <a:ext cx="47625" cy="47625"/>
            </a:xfrm>
            <a:prstGeom prst="ellipse">
              <a:avLst/>
            </a:prstGeom>
            <a:solidFill>
              <a:srgbClr val="C26D5E"/>
            </a:solidFill>
            <a:ln>
              <a:noFill/>
            </a:ln>
          </p:spPr>
        </p:sp>
        <p:sp>
          <p:nvSpPr>
            <p:cNvPr id="52" name="TextBox 52"/>
            <p:cNvSpPr txBox="1"/>
            <p:nvPr/>
          </p:nvSpPr>
          <p:spPr>
            <a:xfrm>
              <a:off x="2262188" y="335208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跨产品、跨机构、</a:t>
              </a:r>
              <a:br/>
              <a:r>
                <a:rPr lang="zh-CN" sz="710" dirty="0">
                  <a:solidFill>
                    <a:srgbClr val="4A4A4A"/>
                  </a:solidFill>
                  <a:latin typeface="+mn-lt"/>
                  <a:ea typeface="+mn-ea"/>
                  <a:cs typeface="+mn-cs"/>
                </a:rPr>
                <a:t>跨场景协同需求增强</a:t>
              </a:r>
            </a:p>
          </p:txBody>
        </p:sp>
      </p:grpSp>
      <p:grpSp>
        <p:nvGrpSpPr>
          <p:cNvPr id="68" name="pain-card-3"/>
          <p:cNvGrpSpPr/>
          <p:nvPr/>
        </p:nvGrpSpPr>
        <p:grpSpPr>
          <a:xfrm>
            <a:off x="3657600" y="1428750"/>
            <a:ext cx="1562100" cy="3962400"/>
            <a:chOff x="3657600" y="1428750"/>
            <a:chExt cx="1562100" cy="3962400"/>
          </a:xfrm>
        </p:grpSpPr>
        <p:sp>
          <p:nvSpPr>
            <p:cNvPr id="54" name="Rectangle 54"/>
            <p:cNvSpPr/>
            <p:nvPr/>
          </p:nvSpPr>
          <p:spPr>
            <a:xfrm>
              <a:off x="3657600" y="1428750"/>
              <a:ext cx="1562100" cy="3962400"/>
            </a:xfrm>
            <a:prstGeom prst="roundRect">
              <a:avLst>
                <a:gd name="adj" fmla="val 6098"/>
              </a:avLst>
            </a:prstGeom>
            <a:solidFill>
              <a:srgbClr val="FFFFFF"/>
            </a:solidFill>
            <a:ln w="9525">
              <a:solidFill>
                <a:srgbClr val="E6D9C0"/>
              </a:solidFill>
            </a:ln>
          </p:spPr>
        </p:sp>
        <p:sp>
          <p:nvSpPr>
            <p:cNvPr id="55" name="Rectangle 55"/>
            <p:cNvSpPr/>
            <p:nvPr/>
          </p:nvSpPr>
          <p:spPr>
            <a:xfrm>
              <a:off x="4819650" y="1485900"/>
              <a:ext cx="381000" cy="228600"/>
            </a:xfrm>
            <a:prstGeom prst="roundRect">
              <a:avLst>
                <a:gd name="adj" fmla="val 25000"/>
              </a:avLst>
            </a:prstGeom>
            <a:solidFill>
              <a:srgbClr val="C26D5E"/>
            </a:solidFill>
            <a:ln>
              <a:noFill/>
            </a:ln>
          </p:spPr>
        </p:sp>
        <p:sp>
          <p:nvSpPr>
            <p:cNvPr id="56" name="TextBox 56"/>
            <p:cNvSpPr txBox="1"/>
            <p:nvPr/>
          </p:nvSpPr>
          <p:spPr>
            <a:xfrm>
              <a:off x="4929009" y="15425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03</a:t>
              </a:r>
            </a:p>
          </p:txBody>
        </p:sp>
        <p:sp>
          <p:nvSpPr>
            <p:cNvPr id="57" name="Ellipse 57"/>
            <p:cNvSpPr/>
            <p:nvPr/>
          </p:nvSpPr>
          <p:spPr>
            <a:xfrm>
              <a:off x="4200525" y="1714500"/>
              <a:ext cx="476250" cy="476250"/>
            </a:xfrm>
            <a:prstGeom prst="ellipse">
              <a:avLst/>
            </a:prstGeom>
            <a:solidFill>
              <a:srgbClr val="A3381F"/>
            </a:solidFill>
            <a:ln>
              <a:noFill/>
            </a:ln>
          </p:spPr>
        </p:sp>
        <p:grpSp>
          <p:nvGrpSpPr>
            <p:cNvPr id="60" name="Group 60"/>
            <p:cNvGrpSpPr/>
            <p:nvPr/>
          </p:nvGrpSpPr>
          <p:grpSpPr>
            <a:xfrm>
              <a:off x="4342905" y="1861530"/>
              <a:ext cx="186549" cy="186839"/>
              <a:chOff x="4342905" y="1861530"/>
              <a:chExt cx="186549" cy="186839"/>
            </a:xfrm>
          </p:grpSpPr>
          <p:sp>
            <p:nvSpPr>
              <p:cNvPr id="58" name="Freeform 58"/>
              <p:cNvSpPr/>
              <p:nvPr/>
            </p:nvSpPr>
            <p:spPr>
              <a:xfrm>
                <a:off x="4342905" y="1861530"/>
                <a:ext cx="186549" cy="186839"/>
              </a:xfrm>
              <a:custGeom>
                <a:avLst/>
                <a:gdLst/>
                <a:ahLst/>
                <a:cxnLst/>
                <a:rect l="l" t="t" r="r" b="b"/>
                <a:pathLst>
                  <a:path w="186549" h="186839">
                    <a:moveTo>
                      <a:pt x="75107" y="289"/>
                    </a:moveTo>
                    <a:cubicBezTo>
                      <a:pt x="30427" y="10647"/>
                      <a:pt x="0" y="52071"/>
                      <a:pt x="3479" y="97804"/>
                    </a:cubicBezTo>
                    <a:cubicBezTo>
                      <a:pt x="6959" y="143536"/>
                      <a:pt x="43303" y="179880"/>
                      <a:pt x="89035" y="183360"/>
                    </a:cubicBezTo>
                    <a:cubicBezTo>
                      <a:pt x="134768" y="186839"/>
                      <a:pt x="176192" y="156411"/>
                      <a:pt x="186549" y="111732"/>
                    </a:cubicBezTo>
                    <a:cubicBezTo>
                      <a:pt x="186549" y="106033"/>
                      <a:pt x="181930" y="101413"/>
                      <a:pt x="176231" y="101413"/>
                    </a:cubicBezTo>
                    <a:lnTo>
                      <a:pt x="106063" y="101413"/>
                    </a:lnTo>
                    <a:cubicBezTo>
                      <a:pt x="94666" y="101413"/>
                      <a:pt x="85426" y="92173"/>
                      <a:pt x="85426" y="80775"/>
                    </a:cubicBezTo>
                    <a:lnTo>
                      <a:pt x="85426" y="8544"/>
                    </a:lnTo>
                    <a:cubicBezTo>
                      <a:pt x="85167" y="6075"/>
                      <a:pt x="83930" y="3812"/>
                      <a:pt x="81991" y="2261"/>
                    </a:cubicBezTo>
                    <a:cubicBezTo>
                      <a:pt x="80052" y="710"/>
                      <a:pt x="77573" y="0"/>
                      <a:pt x="75107" y="289"/>
                    </a:cubicBezTo>
                  </a:path>
                </a:pathLst>
              </a:custGeom>
              <a:noFill/>
              <a:ln w="20637">
                <a:solidFill>
                  <a:srgbClr val="FFFFFF"/>
                </a:solidFill>
              </a:ln>
            </p:spPr>
          </p:sp>
          <p:sp>
            <p:nvSpPr>
              <p:cNvPr id="59" name="Freeform 59"/>
              <p:cNvSpPr/>
              <p:nvPr/>
            </p:nvSpPr>
            <p:spPr>
              <a:xfrm>
                <a:off x="4469606" y="1864916"/>
                <a:ext cx="56753" cy="56753"/>
              </a:xfrm>
              <a:custGeom>
                <a:avLst/>
                <a:gdLst/>
                <a:ahLst/>
                <a:cxnLst/>
                <a:rect l="l" t="t" r="r" b="b"/>
                <a:pathLst>
                  <a:path w="56753" h="56753">
                    <a:moveTo>
                      <a:pt x="0" y="0"/>
                    </a:moveTo>
                    <a:cubicBezTo>
                      <a:pt x="26538" y="9344"/>
                      <a:pt x="47409" y="30215"/>
                      <a:pt x="56753" y="56753"/>
                    </a:cubicBezTo>
                    <a:lnTo>
                      <a:pt x="10319" y="56753"/>
                    </a:lnTo>
                    <a:cubicBezTo>
                      <a:pt x="4620" y="56753"/>
                      <a:pt x="0" y="52133"/>
                      <a:pt x="0" y="46434"/>
                    </a:cubicBezTo>
                    <a:lnTo>
                      <a:pt x="0" y="0"/>
                    </a:lnTo>
                  </a:path>
                </a:pathLst>
              </a:custGeom>
              <a:noFill/>
              <a:ln w="20637">
                <a:solidFill>
                  <a:srgbClr val="FFFFFF"/>
                </a:solidFill>
              </a:ln>
            </p:spPr>
          </p:sp>
        </p:grpSp>
        <p:sp>
          <p:nvSpPr>
            <p:cNvPr id="61" name="TextBox 61"/>
            <p:cNvSpPr txBox="1"/>
            <p:nvPr/>
          </p:nvSpPr>
          <p:spPr>
            <a:xfrm>
              <a:off x="3675109" y="2488406"/>
              <a:ext cx="1527083"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 xml:space="preserve">单一AUM分层局限　　</a:t>
              </a:r>
            </a:p>
          </p:txBody>
        </p:sp>
        <p:sp>
          <p:nvSpPr>
            <p:cNvPr id="62" name="Ellipse 62"/>
            <p:cNvSpPr/>
            <p:nvPr/>
          </p:nvSpPr>
          <p:spPr>
            <a:xfrm>
              <a:off x="3786188" y="2947988"/>
              <a:ext cx="47625" cy="47625"/>
            </a:xfrm>
            <a:prstGeom prst="ellipse">
              <a:avLst/>
            </a:prstGeom>
            <a:solidFill>
              <a:srgbClr val="C26D5E"/>
            </a:solidFill>
            <a:ln>
              <a:noFill/>
            </a:ln>
          </p:spPr>
        </p:sp>
        <p:sp>
          <p:nvSpPr>
            <p:cNvPr id="63" name="TextBox 63"/>
            <p:cNvSpPr txBox="1"/>
            <p:nvPr/>
          </p:nvSpPr>
          <p:spPr>
            <a:xfrm>
              <a:off x="3900488" y="293298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 xml:space="preserve">仅以AUM分层　</a:t>
              </a:r>
              <a:br/>
              <a:r>
                <a:rPr lang="zh-CN" sz="710" dirty="0">
                  <a:solidFill>
                    <a:srgbClr val="4A4A4A"/>
                  </a:solidFill>
                  <a:latin typeface="+mn-lt"/>
                  <a:ea typeface="+mn-ea"/>
                  <a:cs typeface="+mn-cs"/>
                </a:rPr>
                <a:t>难以反映客户真实价值</a:t>
              </a:r>
            </a:p>
          </p:txBody>
        </p:sp>
        <p:sp>
          <p:nvSpPr>
            <p:cNvPr id="64" name="Ellipse 64"/>
            <p:cNvSpPr/>
            <p:nvPr/>
          </p:nvSpPr>
          <p:spPr>
            <a:xfrm>
              <a:off x="3786188" y="3367088"/>
              <a:ext cx="47625" cy="47625"/>
            </a:xfrm>
            <a:prstGeom prst="ellipse">
              <a:avLst/>
            </a:prstGeom>
            <a:solidFill>
              <a:srgbClr val="C26D5E"/>
            </a:solidFill>
            <a:ln>
              <a:noFill/>
            </a:ln>
          </p:spPr>
        </p:sp>
        <p:sp>
          <p:nvSpPr>
            <p:cNvPr id="65" name="TextBox 65"/>
            <p:cNvSpPr txBox="1"/>
            <p:nvPr/>
          </p:nvSpPr>
          <p:spPr>
            <a:xfrm>
              <a:off x="3900488" y="335208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忽略贡献度、潜力、</a:t>
              </a:r>
              <a:br/>
              <a:r>
                <a:rPr lang="zh-CN" sz="710" dirty="0">
                  <a:solidFill>
                    <a:srgbClr val="4A4A4A"/>
                  </a:solidFill>
                  <a:latin typeface="+mn-lt"/>
                  <a:ea typeface="+mn-ea"/>
                  <a:cs typeface="+mn-cs"/>
                </a:rPr>
                <a:t>关系等多维因素</a:t>
              </a:r>
            </a:p>
          </p:txBody>
        </p:sp>
        <p:sp>
          <p:nvSpPr>
            <p:cNvPr id="66" name="Ellipse 66"/>
            <p:cNvSpPr/>
            <p:nvPr/>
          </p:nvSpPr>
          <p:spPr>
            <a:xfrm>
              <a:off x="3786188" y="3786188"/>
              <a:ext cx="47625" cy="47625"/>
            </a:xfrm>
            <a:prstGeom prst="ellipse">
              <a:avLst/>
            </a:prstGeom>
            <a:solidFill>
              <a:srgbClr val="C26D5E"/>
            </a:solidFill>
            <a:ln>
              <a:noFill/>
            </a:ln>
          </p:spPr>
        </p:sp>
        <p:sp>
          <p:nvSpPr>
            <p:cNvPr id="67" name="TextBox 67"/>
            <p:cNvSpPr txBox="1"/>
            <p:nvPr/>
          </p:nvSpPr>
          <p:spPr>
            <a:xfrm>
              <a:off x="3900488" y="377118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分层导致策略同质化</a:t>
              </a:r>
              <a:br/>
              <a:r>
                <a:rPr lang="zh-CN" sz="710" dirty="0">
                  <a:solidFill>
                    <a:srgbClr val="4A4A4A"/>
                  </a:solidFill>
                  <a:latin typeface="+mn-lt"/>
                  <a:ea typeface="+mn-ea"/>
                  <a:cs typeface="+mn-cs"/>
                </a:rPr>
                <a:t>资源配置错配</a:t>
              </a:r>
            </a:p>
          </p:txBody>
        </p:sp>
      </p:grpSp>
      <p:grpSp>
        <p:nvGrpSpPr>
          <p:cNvPr id="83" name="pain-card-4"/>
          <p:cNvGrpSpPr/>
          <p:nvPr/>
        </p:nvGrpSpPr>
        <p:grpSpPr>
          <a:xfrm>
            <a:off x="5295900" y="1428750"/>
            <a:ext cx="1562100" cy="3962400"/>
            <a:chOff x="5295900" y="1428750"/>
            <a:chExt cx="1562100" cy="3962400"/>
          </a:xfrm>
        </p:grpSpPr>
        <p:sp>
          <p:nvSpPr>
            <p:cNvPr id="69" name="Rectangle 69"/>
            <p:cNvSpPr/>
            <p:nvPr/>
          </p:nvSpPr>
          <p:spPr>
            <a:xfrm>
              <a:off x="5295900" y="1428750"/>
              <a:ext cx="1562100" cy="3962400"/>
            </a:xfrm>
            <a:prstGeom prst="roundRect">
              <a:avLst>
                <a:gd name="adj" fmla="val 6098"/>
              </a:avLst>
            </a:prstGeom>
            <a:solidFill>
              <a:srgbClr val="FFFFFF"/>
            </a:solidFill>
            <a:ln w="9525">
              <a:solidFill>
                <a:srgbClr val="E6D9C0"/>
              </a:solidFill>
            </a:ln>
          </p:spPr>
        </p:sp>
        <p:sp>
          <p:nvSpPr>
            <p:cNvPr id="70" name="Rectangle 70"/>
            <p:cNvSpPr/>
            <p:nvPr/>
          </p:nvSpPr>
          <p:spPr>
            <a:xfrm>
              <a:off x="6457950" y="1485900"/>
              <a:ext cx="381000" cy="228600"/>
            </a:xfrm>
            <a:prstGeom prst="roundRect">
              <a:avLst>
                <a:gd name="adj" fmla="val 25000"/>
              </a:avLst>
            </a:prstGeom>
            <a:solidFill>
              <a:srgbClr val="C26D5E"/>
            </a:solidFill>
            <a:ln>
              <a:noFill/>
            </a:ln>
          </p:spPr>
        </p:sp>
        <p:sp>
          <p:nvSpPr>
            <p:cNvPr id="71" name="TextBox 71"/>
            <p:cNvSpPr txBox="1"/>
            <p:nvPr/>
          </p:nvSpPr>
          <p:spPr>
            <a:xfrm>
              <a:off x="6567309" y="15425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04</a:t>
              </a:r>
            </a:p>
          </p:txBody>
        </p:sp>
        <p:sp>
          <p:nvSpPr>
            <p:cNvPr id="72" name="Ellipse 72"/>
            <p:cNvSpPr/>
            <p:nvPr/>
          </p:nvSpPr>
          <p:spPr>
            <a:xfrm>
              <a:off x="5838825" y="1714500"/>
              <a:ext cx="476250" cy="476250"/>
            </a:xfrm>
            <a:prstGeom prst="ellipse">
              <a:avLst/>
            </a:prstGeom>
            <a:solidFill>
              <a:srgbClr val="C26D5E"/>
            </a:solidFill>
            <a:ln>
              <a:noFill/>
            </a:ln>
          </p:spPr>
        </p:sp>
        <p:grpSp>
          <p:nvGrpSpPr>
            <p:cNvPr id="76" name="Group 76"/>
            <p:cNvGrpSpPr/>
            <p:nvPr/>
          </p:nvGrpSpPr>
          <p:grpSpPr>
            <a:xfrm>
              <a:off x="6015037" y="1859756"/>
              <a:ext cx="123825" cy="185737"/>
              <a:chOff x="6015037" y="1859756"/>
              <a:chExt cx="123825" cy="185737"/>
            </a:xfrm>
          </p:grpSpPr>
          <p:sp>
            <p:nvSpPr>
              <p:cNvPr id="73" name="Freeform 73"/>
              <p:cNvSpPr/>
              <p:nvPr/>
            </p:nvSpPr>
            <p:spPr>
              <a:xfrm>
                <a:off x="6015037" y="1859756"/>
                <a:ext cx="123825" cy="185737"/>
              </a:xfrm>
              <a:custGeom>
                <a:avLst/>
                <a:gdLst/>
                <a:ahLst/>
                <a:cxnLst/>
                <a:rect l="l" t="t" r="r" b="b"/>
                <a:pathLst>
                  <a:path w="123825" h="185737">
                    <a:moveTo>
                      <a:pt x="0" y="20637"/>
                    </a:moveTo>
                    <a:cubicBezTo>
                      <a:pt x="0" y="9240"/>
                      <a:pt x="9240" y="0"/>
                      <a:pt x="20637" y="0"/>
                    </a:cubicBezTo>
                    <a:lnTo>
                      <a:pt x="103187" y="0"/>
                    </a:lnTo>
                    <a:cubicBezTo>
                      <a:pt x="114585" y="0"/>
                      <a:pt x="123825" y="9240"/>
                      <a:pt x="123825" y="20637"/>
                    </a:cubicBezTo>
                    <a:lnTo>
                      <a:pt x="123825" y="165099"/>
                    </a:lnTo>
                    <a:cubicBezTo>
                      <a:pt x="123825" y="176497"/>
                      <a:pt x="114585" y="185737"/>
                      <a:pt x="103187" y="185737"/>
                    </a:cubicBezTo>
                    <a:lnTo>
                      <a:pt x="20637" y="185737"/>
                    </a:lnTo>
                    <a:cubicBezTo>
                      <a:pt x="9240" y="185737"/>
                      <a:pt x="0" y="176497"/>
                      <a:pt x="0" y="165099"/>
                    </a:cubicBezTo>
                    <a:lnTo>
                      <a:pt x="0" y="20637"/>
                    </a:lnTo>
                  </a:path>
                </a:pathLst>
              </a:custGeom>
              <a:noFill/>
              <a:ln w="20637">
                <a:solidFill>
                  <a:srgbClr val="FFFFFF"/>
                </a:solidFill>
              </a:ln>
            </p:spPr>
          </p:sp>
          <p:sp>
            <p:nvSpPr>
              <p:cNvPr id="74" name="Freeform 74"/>
              <p:cNvSpPr/>
              <p:nvPr/>
            </p:nvSpPr>
            <p:spPr>
              <a:xfrm>
                <a:off x="6066631" y="1870075"/>
                <a:ext cx="20637" cy="9525"/>
              </a:xfrm>
              <a:custGeom>
                <a:avLst/>
                <a:gdLst/>
                <a:ahLst/>
                <a:cxnLst/>
                <a:rect l="l" t="t" r="r" b="b"/>
                <a:pathLst>
                  <a:path w="20637" h="9525">
                    <a:moveTo>
                      <a:pt x="0" y="0"/>
                    </a:moveTo>
                    <a:lnTo>
                      <a:pt x="20637" y="0"/>
                    </a:lnTo>
                  </a:path>
                </a:pathLst>
              </a:custGeom>
              <a:noFill/>
              <a:ln w="20637">
                <a:solidFill>
                  <a:srgbClr val="FFFFFF"/>
                </a:solidFill>
              </a:ln>
            </p:spPr>
          </p:sp>
          <p:sp>
            <p:nvSpPr>
              <p:cNvPr id="75" name="Freeform 75"/>
              <p:cNvSpPr/>
              <p:nvPr/>
            </p:nvSpPr>
            <p:spPr>
              <a:xfrm>
                <a:off x="6076950" y="2004218"/>
                <a:ext cx="9525" cy="9525"/>
              </a:xfrm>
              <a:custGeom>
                <a:avLst/>
                <a:gdLst/>
                <a:ahLst/>
                <a:cxnLst/>
                <a:rect l="l" t="t" r="r" b="b"/>
                <a:pathLst>
                  <a:path w="9525" h="9525">
                    <a:moveTo>
                      <a:pt x="0" y="0"/>
                    </a:moveTo>
                    <a:lnTo>
                      <a:pt x="0" y="103"/>
                    </a:lnTo>
                  </a:path>
                </a:pathLst>
              </a:custGeom>
              <a:noFill/>
              <a:ln w="20637">
                <a:solidFill>
                  <a:srgbClr val="FFFFFF"/>
                </a:solidFill>
              </a:ln>
            </p:spPr>
          </p:sp>
        </p:grpSp>
        <p:sp>
          <p:nvSpPr>
            <p:cNvPr id="77" name="TextBox 77"/>
            <p:cNvSpPr txBox="1"/>
            <p:nvPr/>
          </p:nvSpPr>
          <p:spPr>
            <a:xfrm>
              <a:off x="5769686" y="2374106"/>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线上长尾</a:t>
              </a:r>
            </a:p>
          </p:txBody>
        </p:sp>
        <p:sp>
          <p:nvSpPr>
            <p:cNvPr id="78" name="TextBox 78"/>
            <p:cNvSpPr txBox="1"/>
            <p:nvPr/>
          </p:nvSpPr>
          <p:spPr>
            <a:xfrm>
              <a:off x="5769686" y="2574131"/>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缺少维护</a:t>
              </a:r>
            </a:p>
          </p:txBody>
        </p:sp>
        <p:sp>
          <p:nvSpPr>
            <p:cNvPr id="79" name="Ellipse 79"/>
            <p:cNvSpPr/>
            <p:nvPr/>
          </p:nvSpPr>
          <p:spPr>
            <a:xfrm>
              <a:off x="5424488" y="2947988"/>
              <a:ext cx="47625" cy="47625"/>
            </a:xfrm>
            <a:prstGeom prst="ellipse">
              <a:avLst/>
            </a:prstGeom>
            <a:solidFill>
              <a:srgbClr val="C26D5E"/>
            </a:solidFill>
            <a:ln>
              <a:noFill/>
            </a:ln>
          </p:spPr>
        </p:sp>
        <p:sp>
          <p:nvSpPr>
            <p:cNvPr id="80" name="TextBox 80"/>
            <p:cNvSpPr txBox="1"/>
            <p:nvPr/>
          </p:nvSpPr>
          <p:spPr>
            <a:xfrm>
              <a:off x="5538788" y="2932986"/>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线上触点未富集</a:t>
              </a:r>
              <a:br/>
              <a:r>
                <a:rPr lang="zh-CN" sz="710" dirty="0">
                  <a:solidFill>
                    <a:srgbClr val="4A4A4A"/>
                  </a:solidFill>
                  <a:latin typeface="+mn-lt"/>
                  <a:ea typeface="+mn-ea"/>
                  <a:cs typeface="+mn-cs"/>
                </a:rPr>
                <a:t>长尾客户维护不足</a:t>
              </a:r>
            </a:p>
          </p:txBody>
        </p:sp>
        <p:sp>
          <p:nvSpPr>
            <p:cNvPr id="81" name="Ellipse 81"/>
            <p:cNvSpPr/>
            <p:nvPr/>
          </p:nvSpPr>
          <p:spPr>
            <a:xfrm>
              <a:off x="5424488" y="3367088"/>
              <a:ext cx="47625" cy="47625"/>
            </a:xfrm>
            <a:prstGeom prst="ellipse">
              <a:avLst/>
            </a:prstGeom>
            <a:solidFill>
              <a:srgbClr val="C26D5E"/>
            </a:solidFill>
            <a:ln>
              <a:noFill/>
            </a:ln>
          </p:spPr>
        </p:sp>
        <p:sp>
          <p:nvSpPr>
            <p:cNvPr id="82" name="TextBox 82"/>
            <p:cNvSpPr txBox="1"/>
            <p:nvPr/>
          </p:nvSpPr>
          <p:spPr>
            <a:xfrm>
              <a:off x="5538788" y="335208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缺乏持续运营与互动</a:t>
              </a:r>
              <a:br/>
              <a:r>
                <a:rPr lang="zh-CN" sz="710" dirty="0">
                  <a:solidFill>
                    <a:srgbClr val="4A4A4A"/>
                  </a:solidFill>
                  <a:latin typeface="+mn-lt"/>
                  <a:ea typeface="+mn-ea"/>
                  <a:cs typeface="+mn-cs"/>
                </a:rPr>
                <a:t>活跃度低黏性弱</a:t>
              </a:r>
            </a:p>
          </p:txBody>
        </p:sp>
      </p:grpSp>
      <p:grpSp>
        <p:nvGrpSpPr>
          <p:cNvPr id="100" name="pain-card-5"/>
          <p:cNvGrpSpPr/>
          <p:nvPr/>
        </p:nvGrpSpPr>
        <p:grpSpPr>
          <a:xfrm>
            <a:off x="6934200" y="1428750"/>
            <a:ext cx="1562100" cy="3962400"/>
            <a:chOff x="6934200" y="1428750"/>
            <a:chExt cx="1562100" cy="3962400"/>
          </a:xfrm>
        </p:grpSpPr>
        <p:sp>
          <p:nvSpPr>
            <p:cNvPr id="84" name="Rectangle 84"/>
            <p:cNvSpPr/>
            <p:nvPr/>
          </p:nvSpPr>
          <p:spPr>
            <a:xfrm>
              <a:off x="6934200" y="1428750"/>
              <a:ext cx="1562100" cy="3962400"/>
            </a:xfrm>
            <a:prstGeom prst="roundRect">
              <a:avLst>
                <a:gd name="adj" fmla="val 6098"/>
              </a:avLst>
            </a:prstGeom>
            <a:solidFill>
              <a:srgbClr val="FFFFFF"/>
            </a:solidFill>
            <a:ln w="9525">
              <a:solidFill>
                <a:srgbClr val="E6D9C0"/>
              </a:solidFill>
            </a:ln>
          </p:spPr>
        </p:sp>
        <p:sp>
          <p:nvSpPr>
            <p:cNvPr id="85" name="Rectangle 85"/>
            <p:cNvSpPr/>
            <p:nvPr/>
          </p:nvSpPr>
          <p:spPr>
            <a:xfrm>
              <a:off x="8096250" y="1485900"/>
              <a:ext cx="381000" cy="228600"/>
            </a:xfrm>
            <a:prstGeom prst="roundRect">
              <a:avLst>
                <a:gd name="adj" fmla="val 25000"/>
              </a:avLst>
            </a:prstGeom>
            <a:solidFill>
              <a:srgbClr val="C26D5E"/>
            </a:solidFill>
            <a:ln>
              <a:noFill/>
            </a:ln>
          </p:spPr>
        </p:sp>
        <p:sp>
          <p:nvSpPr>
            <p:cNvPr id="86" name="TextBox 86"/>
            <p:cNvSpPr txBox="1"/>
            <p:nvPr/>
          </p:nvSpPr>
          <p:spPr>
            <a:xfrm>
              <a:off x="8205609" y="15425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05</a:t>
              </a:r>
            </a:p>
          </p:txBody>
        </p:sp>
        <p:sp>
          <p:nvSpPr>
            <p:cNvPr id="87" name="Ellipse 87"/>
            <p:cNvSpPr/>
            <p:nvPr/>
          </p:nvSpPr>
          <p:spPr>
            <a:xfrm>
              <a:off x="7477125" y="1714500"/>
              <a:ext cx="476250" cy="476250"/>
            </a:xfrm>
            <a:prstGeom prst="ellipse">
              <a:avLst/>
            </a:prstGeom>
            <a:solidFill>
              <a:srgbClr val="A3381F"/>
            </a:solidFill>
            <a:ln>
              <a:noFill/>
            </a:ln>
          </p:spPr>
        </p:sp>
        <p:grpSp>
          <p:nvGrpSpPr>
            <p:cNvPr id="91" name="Group 91"/>
            <p:cNvGrpSpPr/>
            <p:nvPr/>
          </p:nvGrpSpPr>
          <p:grpSpPr>
            <a:xfrm>
              <a:off x="7632700" y="1859756"/>
              <a:ext cx="165099" cy="185737"/>
              <a:chOff x="7632700" y="1859756"/>
              <a:chExt cx="165099" cy="185737"/>
            </a:xfrm>
          </p:grpSpPr>
          <p:sp>
            <p:nvSpPr>
              <p:cNvPr id="88" name="Freeform 88"/>
              <p:cNvSpPr/>
              <p:nvPr/>
            </p:nvSpPr>
            <p:spPr>
              <a:xfrm>
                <a:off x="7632700" y="185975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FFFFFF"/>
                </a:solidFill>
              </a:ln>
            </p:spPr>
          </p:sp>
          <p:sp>
            <p:nvSpPr>
              <p:cNvPr id="89" name="Freeform 89"/>
              <p:cNvSpPr/>
              <p:nvPr/>
            </p:nvSpPr>
            <p:spPr>
              <a:xfrm>
                <a:off x="7632700" y="189071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sp>
            <p:nvSpPr>
              <p:cNvPr id="90" name="Freeform 90"/>
              <p:cNvSpPr/>
              <p:nvPr/>
            </p:nvSpPr>
            <p:spPr>
              <a:xfrm>
                <a:off x="7632700" y="195262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FFFFFF"/>
                </a:solidFill>
              </a:ln>
            </p:spPr>
          </p:sp>
        </p:grpSp>
        <p:sp>
          <p:nvSpPr>
            <p:cNvPr id="92" name="TextBox 92"/>
            <p:cNvSpPr txBox="1"/>
            <p:nvPr/>
          </p:nvSpPr>
          <p:spPr>
            <a:xfrm>
              <a:off x="7407986" y="2374106"/>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数据标签</a:t>
              </a:r>
            </a:p>
          </p:txBody>
        </p:sp>
        <p:sp>
          <p:nvSpPr>
            <p:cNvPr id="93" name="TextBox 93"/>
            <p:cNvSpPr txBox="1"/>
            <p:nvPr/>
          </p:nvSpPr>
          <p:spPr>
            <a:xfrm>
              <a:off x="7407986" y="2574131"/>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口径不一</a:t>
              </a:r>
            </a:p>
          </p:txBody>
        </p:sp>
        <p:sp>
          <p:nvSpPr>
            <p:cNvPr id="94" name="Ellipse 94"/>
            <p:cNvSpPr/>
            <p:nvPr/>
          </p:nvSpPr>
          <p:spPr>
            <a:xfrm>
              <a:off x="7062788" y="2947988"/>
              <a:ext cx="47625" cy="47625"/>
            </a:xfrm>
            <a:prstGeom prst="ellipse">
              <a:avLst/>
            </a:prstGeom>
            <a:solidFill>
              <a:srgbClr val="C26D5E"/>
            </a:solidFill>
            <a:ln>
              <a:noFill/>
            </a:ln>
          </p:spPr>
        </p:sp>
        <p:sp>
          <p:nvSpPr>
            <p:cNvPr id="95" name="TextBox 95"/>
            <p:cNvSpPr txBox="1"/>
            <p:nvPr/>
          </p:nvSpPr>
          <p:spPr>
            <a:xfrm>
              <a:off x="7177088" y="2932986"/>
              <a:ext cx="64071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标签定义不统一</a:t>
              </a:r>
              <a:br/>
              <a:r>
                <a:rPr lang="zh-CN" sz="710" dirty="0">
                  <a:solidFill>
                    <a:srgbClr val="4A4A4A"/>
                  </a:solidFill>
                  <a:latin typeface="+mn-lt"/>
                  <a:ea typeface="+mn-ea"/>
                  <a:cs typeface="+mn-cs"/>
                </a:rPr>
                <a:t>口径标准不一致</a:t>
              </a:r>
            </a:p>
          </p:txBody>
        </p:sp>
        <p:sp>
          <p:nvSpPr>
            <p:cNvPr id="96" name="Ellipse 96"/>
            <p:cNvSpPr/>
            <p:nvPr/>
          </p:nvSpPr>
          <p:spPr>
            <a:xfrm>
              <a:off x="7062788" y="3367088"/>
              <a:ext cx="47625" cy="47625"/>
            </a:xfrm>
            <a:prstGeom prst="ellipse">
              <a:avLst/>
            </a:prstGeom>
            <a:solidFill>
              <a:srgbClr val="C26D5E"/>
            </a:solidFill>
            <a:ln>
              <a:noFill/>
            </a:ln>
          </p:spPr>
        </p:sp>
        <p:sp>
          <p:nvSpPr>
            <p:cNvPr id="97" name="TextBox 97"/>
            <p:cNvSpPr txBox="1"/>
            <p:nvPr/>
          </p:nvSpPr>
          <p:spPr>
            <a:xfrm>
              <a:off x="7177088" y="3352086"/>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数据孤岛导致标签</a:t>
              </a:r>
              <a:br/>
              <a:r>
                <a:rPr lang="zh-CN" sz="710" dirty="0">
                  <a:solidFill>
                    <a:srgbClr val="4A4A4A"/>
                  </a:solidFill>
                  <a:latin typeface="+mn-lt"/>
                  <a:ea typeface="+mn-ea"/>
                  <a:cs typeface="+mn-cs"/>
                </a:rPr>
                <a:t>重复、冲突、缺失</a:t>
              </a:r>
            </a:p>
          </p:txBody>
        </p:sp>
        <p:sp>
          <p:nvSpPr>
            <p:cNvPr id="98" name="Ellipse 98"/>
            <p:cNvSpPr/>
            <p:nvPr/>
          </p:nvSpPr>
          <p:spPr>
            <a:xfrm>
              <a:off x="7062788" y="3786188"/>
              <a:ext cx="47625" cy="47625"/>
            </a:xfrm>
            <a:prstGeom prst="ellipse">
              <a:avLst/>
            </a:prstGeom>
            <a:solidFill>
              <a:srgbClr val="C26D5E"/>
            </a:solidFill>
            <a:ln>
              <a:noFill/>
            </a:ln>
          </p:spPr>
        </p:sp>
        <p:sp>
          <p:nvSpPr>
            <p:cNvPr id="99" name="TextBox 99"/>
            <p:cNvSpPr txBox="1"/>
            <p:nvPr/>
          </p:nvSpPr>
          <p:spPr>
            <a:xfrm>
              <a:off x="7177088" y="377118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影响客户画像准确性</a:t>
              </a:r>
              <a:br/>
              <a:r>
                <a:rPr lang="zh-CN" sz="710" dirty="0">
                  <a:solidFill>
                    <a:srgbClr val="4A4A4A"/>
                  </a:solidFill>
                  <a:latin typeface="+mn-lt"/>
                  <a:ea typeface="+mn-ea"/>
                  <a:cs typeface="+mn-cs"/>
                </a:rPr>
                <a:t>与策略执行效果</a:t>
              </a:r>
            </a:p>
          </p:txBody>
        </p:sp>
      </p:grpSp>
      <p:grpSp>
        <p:nvGrpSpPr>
          <p:cNvPr id="117" name="pain-card-6"/>
          <p:cNvGrpSpPr/>
          <p:nvPr/>
        </p:nvGrpSpPr>
        <p:grpSpPr>
          <a:xfrm>
            <a:off x="8572500" y="1428750"/>
            <a:ext cx="1562100" cy="3962400"/>
            <a:chOff x="8572500" y="1428750"/>
            <a:chExt cx="1562100" cy="3962400"/>
          </a:xfrm>
        </p:grpSpPr>
        <p:sp>
          <p:nvSpPr>
            <p:cNvPr id="101" name="Rectangle 101"/>
            <p:cNvSpPr/>
            <p:nvPr/>
          </p:nvSpPr>
          <p:spPr>
            <a:xfrm>
              <a:off x="8572500" y="1428750"/>
              <a:ext cx="1562100" cy="3962400"/>
            </a:xfrm>
            <a:prstGeom prst="roundRect">
              <a:avLst>
                <a:gd name="adj" fmla="val 6098"/>
              </a:avLst>
            </a:prstGeom>
            <a:solidFill>
              <a:srgbClr val="FFFFFF"/>
            </a:solidFill>
            <a:ln w="9525">
              <a:solidFill>
                <a:srgbClr val="E6D9C0"/>
              </a:solidFill>
            </a:ln>
          </p:spPr>
        </p:sp>
        <p:sp>
          <p:nvSpPr>
            <p:cNvPr id="102" name="Rectangle 102"/>
            <p:cNvSpPr/>
            <p:nvPr/>
          </p:nvSpPr>
          <p:spPr>
            <a:xfrm>
              <a:off x="9734550" y="1485900"/>
              <a:ext cx="381000" cy="228600"/>
            </a:xfrm>
            <a:prstGeom prst="roundRect">
              <a:avLst>
                <a:gd name="adj" fmla="val 25000"/>
              </a:avLst>
            </a:prstGeom>
            <a:solidFill>
              <a:srgbClr val="C26D5E"/>
            </a:solidFill>
            <a:ln>
              <a:noFill/>
            </a:ln>
          </p:spPr>
        </p:sp>
        <p:sp>
          <p:nvSpPr>
            <p:cNvPr id="103" name="TextBox 103"/>
            <p:cNvSpPr txBox="1"/>
            <p:nvPr/>
          </p:nvSpPr>
          <p:spPr>
            <a:xfrm>
              <a:off x="9843909" y="15425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06</a:t>
              </a:r>
            </a:p>
          </p:txBody>
        </p:sp>
        <p:sp>
          <p:nvSpPr>
            <p:cNvPr id="104" name="Ellipse 104"/>
            <p:cNvSpPr/>
            <p:nvPr/>
          </p:nvSpPr>
          <p:spPr>
            <a:xfrm>
              <a:off x="9115425" y="1714500"/>
              <a:ext cx="476250" cy="476250"/>
            </a:xfrm>
            <a:prstGeom prst="ellipse">
              <a:avLst/>
            </a:prstGeom>
            <a:solidFill>
              <a:srgbClr val="C26D5E"/>
            </a:solidFill>
            <a:ln>
              <a:noFill/>
            </a:ln>
          </p:spPr>
        </p:sp>
        <p:grpSp>
          <p:nvGrpSpPr>
            <p:cNvPr id="108" name="Group 108"/>
            <p:cNvGrpSpPr/>
            <p:nvPr/>
          </p:nvGrpSpPr>
          <p:grpSpPr>
            <a:xfrm>
              <a:off x="9264829" y="1859756"/>
              <a:ext cx="177421" cy="184602"/>
              <a:chOff x="9264829" y="1859756"/>
              <a:chExt cx="177421" cy="184602"/>
            </a:xfrm>
          </p:grpSpPr>
          <p:sp>
            <p:nvSpPr>
              <p:cNvPr id="105" name="Freeform 105"/>
              <p:cNvSpPr/>
              <p:nvPr/>
            </p:nvSpPr>
            <p:spPr>
              <a:xfrm>
                <a:off x="9291637" y="1859756"/>
                <a:ext cx="123825" cy="123825"/>
              </a:xfrm>
              <a:custGeom>
                <a:avLst/>
                <a:gdLst/>
                <a:ahLst/>
                <a:cxnLst/>
                <a:rect l="l" t="t" r="r" b="b"/>
                <a:pathLst>
                  <a:path w="123825" h="123825">
                    <a:moveTo>
                      <a:pt x="0" y="61912"/>
                    </a:moveTo>
                    <a:cubicBezTo>
                      <a:pt x="0" y="96106"/>
                      <a:pt x="27719" y="123825"/>
                      <a:pt x="61912" y="123825"/>
                    </a:cubicBezTo>
                    <a:cubicBezTo>
                      <a:pt x="96106" y="123825"/>
                      <a:pt x="123825" y="96106"/>
                      <a:pt x="123825" y="61912"/>
                    </a:cubicBezTo>
                    <a:cubicBezTo>
                      <a:pt x="123825" y="27719"/>
                      <a:pt x="96106" y="0"/>
                      <a:pt x="61912" y="0"/>
                    </a:cubicBezTo>
                    <a:cubicBezTo>
                      <a:pt x="27719" y="0"/>
                      <a:pt x="0" y="27719"/>
                      <a:pt x="0" y="61912"/>
                    </a:cubicBezTo>
                  </a:path>
                </a:pathLst>
              </a:custGeom>
              <a:noFill/>
              <a:ln w="20637">
                <a:solidFill>
                  <a:srgbClr val="FFFFFF"/>
                </a:solidFill>
              </a:ln>
            </p:spPr>
          </p:sp>
          <p:sp>
            <p:nvSpPr>
              <p:cNvPr id="106" name="Freeform 106"/>
              <p:cNvSpPr/>
              <p:nvPr/>
            </p:nvSpPr>
            <p:spPr>
              <a:xfrm>
                <a:off x="9353550" y="1952625"/>
                <a:ext cx="88700" cy="91733"/>
              </a:xfrm>
              <a:custGeom>
                <a:avLst/>
                <a:gdLst/>
                <a:ahLst/>
                <a:cxnLst/>
                <a:rect l="l" t="t" r="r" b="b"/>
                <a:pathLst>
                  <a:path w="88700" h="91733">
                    <a:moveTo>
                      <a:pt x="0" y="30956"/>
                    </a:moveTo>
                    <a:lnTo>
                      <a:pt x="35084" y="91733"/>
                    </a:lnTo>
                    <a:lnTo>
                      <a:pt x="51573" y="58373"/>
                    </a:lnTo>
                    <a:lnTo>
                      <a:pt x="88700" y="60767"/>
                    </a:lnTo>
                    <a:lnTo>
                      <a:pt x="53616" y="0"/>
                    </a:lnTo>
                  </a:path>
                </a:pathLst>
              </a:custGeom>
              <a:noFill/>
              <a:ln w="20637">
                <a:solidFill>
                  <a:srgbClr val="FFFFFF"/>
                </a:solidFill>
              </a:ln>
            </p:spPr>
          </p:sp>
          <p:sp>
            <p:nvSpPr>
              <p:cNvPr id="107" name="Freeform 107"/>
              <p:cNvSpPr/>
              <p:nvPr/>
            </p:nvSpPr>
            <p:spPr>
              <a:xfrm>
                <a:off x="9264829" y="1952625"/>
                <a:ext cx="88700" cy="91723"/>
              </a:xfrm>
              <a:custGeom>
                <a:avLst/>
                <a:gdLst/>
                <a:ahLst/>
                <a:cxnLst/>
                <a:rect l="l" t="t" r="r" b="b"/>
                <a:pathLst>
                  <a:path w="88700" h="91723">
                    <a:moveTo>
                      <a:pt x="35084" y="0"/>
                    </a:moveTo>
                    <a:lnTo>
                      <a:pt x="0" y="60777"/>
                    </a:lnTo>
                    <a:lnTo>
                      <a:pt x="37127" y="58373"/>
                    </a:lnTo>
                    <a:lnTo>
                      <a:pt x="53616" y="91723"/>
                    </a:lnTo>
                    <a:lnTo>
                      <a:pt x="88700" y="30956"/>
                    </a:lnTo>
                  </a:path>
                </a:pathLst>
              </a:custGeom>
              <a:noFill/>
              <a:ln w="20637">
                <a:solidFill>
                  <a:srgbClr val="FFFFFF"/>
                </a:solidFill>
              </a:ln>
            </p:spPr>
          </p:sp>
        </p:grpSp>
        <p:sp>
          <p:nvSpPr>
            <p:cNvPr id="109" name="TextBox 109"/>
            <p:cNvSpPr txBox="1"/>
            <p:nvPr/>
          </p:nvSpPr>
          <p:spPr>
            <a:xfrm>
              <a:off x="9046286" y="2374106"/>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权益投入</a:t>
              </a:r>
            </a:p>
          </p:txBody>
        </p:sp>
        <p:sp>
          <p:nvSpPr>
            <p:cNvPr id="110" name="TextBox 110"/>
            <p:cNvSpPr txBox="1"/>
            <p:nvPr/>
          </p:nvSpPr>
          <p:spPr>
            <a:xfrm>
              <a:off x="9046286" y="2574131"/>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缺乏联动</a:t>
              </a:r>
            </a:p>
          </p:txBody>
        </p:sp>
        <p:sp>
          <p:nvSpPr>
            <p:cNvPr id="111" name="Ellipse 111"/>
            <p:cNvSpPr/>
            <p:nvPr/>
          </p:nvSpPr>
          <p:spPr>
            <a:xfrm>
              <a:off x="8701088" y="2947988"/>
              <a:ext cx="47625" cy="47625"/>
            </a:xfrm>
            <a:prstGeom prst="ellipse">
              <a:avLst/>
            </a:prstGeom>
            <a:solidFill>
              <a:srgbClr val="C26D5E"/>
            </a:solidFill>
            <a:ln>
              <a:noFill/>
            </a:ln>
          </p:spPr>
        </p:sp>
        <p:sp>
          <p:nvSpPr>
            <p:cNvPr id="112" name="TextBox 112"/>
            <p:cNvSpPr txBox="1"/>
            <p:nvPr/>
          </p:nvSpPr>
          <p:spPr>
            <a:xfrm>
              <a:off x="8815388" y="2932986"/>
              <a:ext cx="64071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权益资源分散</a:t>
              </a:r>
              <a:br/>
              <a:r>
                <a:rPr lang="zh-CN" sz="710" dirty="0">
                  <a:solidFill>
                    <a:srgbClr val="4A4A4A"/>
                  </a:solidFill>
                  <a:latin typeface="+mn-lt"/>
                  <a:ea typeface="+mn-ea"/>
                  <a:cs typeface="+mn-cs"/>
                </a:rPr>
                <a:t>投入依据不清晰</a:t>
              </a:r>
            </a:p>
          </p:txBody>
        </p:sp>
        <p:sp>
          <p:nvSpPr>
            <p:cNvPr id="113" name="Ellipse 113"/>
            <p:cNvSpPr/>
            <p:nvPr/>
          </p:nvSpPr>
          <p:spPr>
            <a:xfrm>
              <a:off x="8701088" y="3367088"/>
              <a:ext cx="47625" cy="47625"/>
            </a:xfrm>
            <a:prstGeom prst="ellipse">
              <a:avLst/>
            </a:prstGeom>
            <a:solidFill>
              <a:srgbClr val="C26D5E"/>
            </a:solidFill>
            <a:ln>
              <a:noFill/>
            </a:ln>
          </p:spPr>
        </p:sp>
        <p:sp>
          <p:nvSpPr>
            <p:cNvPr id="114" name="TextBox 114"/>
            <p:cNvSpPr txBox="1"/>
            <p:nvPr/>
          </p:nvSpPr>
          <p:spPr>
            <a:xfrm>
              <a:off x="8815388" y="335208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缺乏跨部门、跨条线</a:t>
              </a:r>
              <a:br/>
              <a:r>
                <a:rPr lang="zh-CN" sz="710" dirty="0">
                  <a:solidFill>
                    <a:srgbClr val="4A4A4A"/>
                  </a:solidFill>
                  <a:latin typeface="+mn-lt"/>
                  <a:ea typeface="+mn-ea"/>
                  <a:cs typeface="+mn-cs"/>
                </a:rPr>
                <a:t>协同机制</a:t>
              </a:r>
            </a:p>
          </p:txBody>
        </p:sp>
        <p:sp>
          <p:nvSpPr>
            <p:cNvPr id="115" name="Ellipse 115"/>
            <p:cNvSpPr/>
            <p:nvPr/>
          </p:nvSpPr>
          <p:spPr>
            <a:xfrm>
              <a:off x="8701088" y="3786188"/>
              <a:ext cx="47625" cy="47625"/>
            </a:xfrm>
            <a:prstGeom prst="ellipse">
              <a:avLst/>
            </a:prstGeom>
            <a:solidFill>
              <a:srgbClr val="C26D5E"/>
            </a:solidFill>
            <a:ln>
              <a:noFill/>
            </a:ln>
          </p:spPr>
        </p:sp>
        <p:sp>
          <p:nvSpPr>
            <p:cNvPr id="116" name="TextBox 116"/>
            <p:cNvSpPr txBox="1"/>
            <p:nvPr/>
          </p:nvSpPr>
          <p:spPr>
            <a:xfrm>
              <a:off x="8815388" y="3771186"/>
              <a:ext cx="64071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权益使用效率低</a:t>
              </a:r>
              <a:br/>
              <a:r>
                <a:rPr lang="zh-CN" sz="710" dirty="0">
                  <a:solidFill>
                    <a:srgbClr val="4A4A4A"/>
                  </a:solidFill>
                  <a:latin typeface="+mn-lt"/>
                  <a:ea typeface="+mn-ea"/>
                  <a:cs typeface="+mn-cs"/>
                </a:rPr>
                <a:t>客户感知有限</a:t>
              </a:r>
            </a:p>
          </p:txBody>
        </p:sp>
      </p:grpSp>
      <p:grpSp>
        <p:nvGrpSpPr>
          <p:cNvPr id="133" name="pain-card-7"/>
          <p:cNvGrpSpPr/>
          <p:nvPr/>
        </p:nvGrpSpPr>
        <p:grpSpPr>
          <a:xfrm>
            <a:off x="10210800" y="1428750"/>
            <a:ext cx="1562100" cy="3962400"/>
            <a:chOff x="10210800" y="1428750"/>
            <a:chExt cx="1562100" cy="3962400"/>
          </a:xfrm>
        </p:grpSpPr>
        <p:sp>
          <p:nvSpPr>
            <p:cNvPr id="118" name="Rectangle 118"/>
            <p:cNvSpPr/>
            <p:nvPr/>
          </p:nvSpPr>
          <p:spPr>
            <a:xfrm>
              <a:off x="10210800" y="1428750"/>
              <a:ext cx="1562100" cy="3962400"/>
            </a:xfrm>
            <a:prstGeom prst="roundRect">
              <a:avLst>
                <a:gd name="adj" fmla="val 6098"/>
              </a:avLst>
            </a:prstGeom>
            <a:solidFill>
              <a:srgbClr val="FFFFFF"/>
            </a:solidFill>
            <a:ln w="9525">
              <a:solidFill>
                <a:srgbClr val="E6D9C0"/>
              </a:solidFill>
            </a:ln>
          </p:spPr>
        </p:sp>
        <p:sp>
          <p:nvSpPr>
            <p:cNvPr id="119" name="Rectangle 119"/>
            <p:cNvSpPr/>
            <p:nvPr/>
          </p:nvSpPr>
          <p:spPr>
            <a:xfrm>
              <a:off x="11372850" y="1485900"/>
              <a:ext cx="381000" cy="228600"/>
            </a:xfrm>
            <a:prstGeom prst="roundRect">
              <a:avLst>
                <a:gd name="adj" fmla="val 25000"/>
              </a:avLst>
            </a:prstGeom>
            <a:solidFill>
              <a:srgbClr val="C26D5E"/>
            </a:solidFill>
            <a:ln>
              <a:noFill/>
            </a:ln>
          </p:spPr>
        </p:sp>
        <p:sp>
          <p:nvSpPr>
            <p:cNvPr id="120" name="TextBox 120"/>
            <p:cNvSpPr txBox="1"/>
            <p:nvPr/>
          </p:nvSpPr>
          <p:spPr>
            <a:xfrm>
              <a:off x="11482209" y="15425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07</a:t>
              </a:r>
            </a:p>
          </p:txBody>
        </p:sp>
        <p:sp>
          <p:nvSpPr>
            <p:cNvPr id="121" name="Ellipse 121"/>
            <p:cNvSpPr/>
            <p:nvPr/>
          </p:nvSpPr>
          <p:spPr>
            <a:xfrm>
              <a:off x="10753725" y="1714500"/>
              <a:ext cx="476250" cy="476250"/>
            </a:xfrm>
            <a:prstGeom prst="ellipse">
              <a:avLst/>
            </a:prstGeom>
            <a:solidFill>
              <a:srgbClr val="A3381F"/>
            </a:solidFill>
            <a:ln>
              <a:noFill/>
            </a:ln>
          </p:spPr>
        </p:sp>
        <p:grpSp>
          <p:nvGrpSpPr>
            <p:cNvPr id="124" name="Group 124"/>
            <p:cNvGrpSpPr/>
            <p:nvPr/>
          </p:nvGrpSpPr>
          <p:grpSpPr>
            <a:xfrm>
              <a:off x="10885056" y="1859756"/>
              <a:ext cx="201506" cy="185737"/>
              <a:chOff x="10885056" y="1859756"/>
              <a:chExt cx="201506" cy="185737"/>
            </a:xfrm>
          </p:grpSpPr>
          <p:sp>
            <p:nvSpPr>
              <p:cNvPr id="122" name="Freeform 122"/>
              <p:cNvSpPr/>
              <p:nvPr/>
            </p:nvSpPr>
            <p:spPr>
              <a:xfrm>
                <a:off x="10885056" y="185975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FFFFFF"/>
                </a:solidFill>
              </a:ln>
            </p:spPr>
          </p:sp>
          <p:sp>
            <p:nvSpPr>
              <p:cNvPr id="123" name="Freeform 123"/>
              <p:cNvSpPr/>
              <p:nvPr/>
            </p:nvSpPr>
            <p:spPr>
              <a:xfrm>
                <a:off x="11022806" y="2004218"/>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125" name="TextBox 125"/>
            <p:cNvSpPr txBox="1"/>
            <p:nvPr/>
          </p:nvSpPr>
          <p:spPr>
            <a:xfrm>
              <a:off x="10609199" y="2374106"/>
              <a:ext cx="765302"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消保与隐私</a:t>
              </a:r>
            </a:p>
          </p:txBody>
        </p:sp>
        <p:sp>
          <p:nvSpPr>
            <p:cNvPr id="126" name="TextBox 126"/>
            <p:cNvSpPr txBox="1"/>
            <p:nvPr/>
          </p:nvSpPr>
          <p:spPr>
            <a:xfrm>
              <a:off x="10684586" y="2574131"/>
              <a:ext cx="614528"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要求提高</a:t>
              </a:r>
            </a:p>
          </p:txBody>
        </p:sp>
        <p:sp>
          <p:nvSpPr>
            <p:cNvPr id="127" name="Ellipse 127"/>
            <p:cNvSpPr/>
            <p:nvPr/>
          </p:nvSpPr>
          <p:spPr>
            <a:xfrm>
              <a:off x="10339388" y="2947988"/>
              <a:ext cx="47625" cy="47625"/>
            </a:xfrm>
            <a:prstGeom prst="ellipse">
              <a:avLst/>
            </a:prstGeom>
            <a:solidFill>
              <a:srgbClr val="C26D5E"/>
            </a:solidFill>
            <a:ln>
              <a:noFill/>
            </a:ln>
          </p:spPr>
        </p:sp>
        <p:sp>
          <p:nvSpPr>
            <p:cNvPr id="128" name="TextBox 128"/>
            <p:cNvSpPr txBox="1"/>
            <p:nvPr/>
          </p:nvSpPr>
          <p:spPr>
            <a:xfrm>
              <a:off x="10453688" y="293298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监管趋严，消保与隐私</a:t>
              </a:r>
              <a:br/>
              <a:r>
                <a:rPr lang="zh-CN" sz="710" dirty="0">
                  <a:solidFill>
                    <a:srgbClr val="4A4A4A"/>
                  </a:solidFill>
                  <a:latin typeface="+mn-lt"/>
                  <a:ea typeface="+mn-ea"/>
                  <a:cs typeface="+mn-cs"/>
                </a:rPr>
                <a:t>保护要求不断提升</a:t>
              </a:r>
            </a:p>
          </p:txBody>
        </p:sp>
        <p:sp>
          <p:nvSpPr>
            <p:cNvPr id="129" name="Ellipse 129"/>
            <p:cNvSpPr/>
            <p:nvPr/>
          </p:nvSpPr>
          <p:spPr>
            <a:xfrm>
              <a:off x="10339388" y="3367088"/>
              <a:ext cx="47625" cy="47625"/>
            </a:xfrm>
            <a:prstGeom prst="ellipse">
              <a:avLst/>
            </a:prstGeom>
            <a:solidFill>
              <a:srgbClr val="C26D5E"/>
            </a:solidFill>
            <a:ln>
              <a:noFill/>
            </a:ln>
          </p:spPr>
        </p:sp>
        <p:sp>
          <p:nvSpPr>
            <p:cNvPr id="130" name="TextBox 130"/>
            <p:cNvSpPr txBox="1"/>
            <p:nvPr/>
          </p:nvSpPr>
          <p:spPr>
            <a:xfrm>
              <a:off x="10453688" y="3352086"/>
              <a:ext cx="911225" cy="40719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信息安全使用与透明度</a:t>
              </a:r>
              <a:br/>
              <a:r>
                <a:rPr lang="zh-CN" sz="710" dirty="0">
                  <a:solidFill>
                    <a:srgbClr val="4A4A4A"/>
                  </a:solidFill>
                  <a:latin typeface="+mn-lt"/>
                  <a:ea typeface="+mn-ea"/>
                  <a:cs typeface="+mn-cs"/>
                </a:rPr>
                <a:t>合规要求提高</a:t>
              </a:r>
              <a:br/>
              <a:r>
                <a:rPr lang="zh-CN" sz="710" dirty="0">
                  <a:solidFill>
                    <a:srgbClr val="4A4A4A"/>
                  </a:solidFill>
                  <a:latin typeface="+mn-lt"/>
                  <a:ea typeface="+mn-ea"/>
                  <a:cs typeface="+mn-cs"/>
                </a:rPr>
                <a:t>合规成本上升</a:t>
              </a:r>
            </a:p>
          </p:txBody>
        </p:sp>
        <p:sp>
          <p:nvSpPr>
            <p:cNvPr id="131" name="Ellipse 131"/>
            <p:cNvSpPr/>
            <p:nvPr/>
          </p:nvSpPr>
          <p:spPr>
            <a:xfrm>
              <a:off x="10339388" y="3919538"/>
              <a:ext cx="47625" cy="47625"/>
            </a:xfrm>
            <a:prstGeom prst="ellipse">
              <a:avLst/>
            </a:prstGeom>
            <a:solidFill>
              <a:srgbClr val="C26D5E"/>
            </a:solidFill>
            <a:ln>
              <a:noFill/>
            </a:ln>
          </p:spPr>
        </p:sp>
        <p:sp>
          <p:nvSpPr>
            <p:cNvPr id="132" name="TextBox 132"/>
            <p:cNvSpPr txBox="1"/>
            <p:nvPr/>
          </p:nvSpPr>
          <p:spPr>
            <a:xfrm>
              <a:off x="10453688" y="3904536"/>
              <a:ext cx="73088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精细化风控与管理</a:t>
              </a:r>
              <a:br/>
              <a:r>
                <a:rPr lang="zh-CN" sz="710" dirty="0">
                  <a:solidFill>
                    <a:srgbClr val="4A4A4A"/>
                  </a:solidFill>
                  <a:latin typeface="+mn-lt"/>
                  <a:ea typeface="+mn-ea"/>
                  <a:cs typeface="+mn-cs"/>
                </a:rPr>
                <a:t>压力加大</a:t>
              </a:r>
            </a:p>
          </p:txBody>
        </p:sp>
      </p:grpSp>
      <p:grpSp>
        <p:nvGrpSpPr>
          <p:cNvPr id="155" name="compare-bar"/>
          <p:cNvGrpSpPr/>
          <p:nvPr/>
        </p:nvGrpSpPr>
        <p:grpSpPr>
          <a:xfrm>
            <a:off x="381000" y="5505450"/>
            <a:ext cx="11391900" cy="1085850"/>
            <a:chOff x="381000" y="5505450"/>
            <a:chExt cx="11391900" cy="1085850"/>
          </a:xfrm>
        </p:grpSpPr>
        <p:sp>
          <p:nvSpPr>
            <p:cNvPr id="134" name="Rectangle 134"/>
            <p:cNvSpPr/>
            <p:nvPr/>
          </p:nvSpPr>
          <p:spPr>
            <a:xfrm>
              <a:off x="381000" y="5505450"/>
              <a:ext cx="11391900" cy="1085850"/>
            </a:xfrm>
            <a:prstGeom prst="roundRect">
              <a:avLst>
                <a:gd name="adj" fmla="val 10526"/>
              </a:avLst>
            </a:prstGeom>
            <a:solidFill>
              <a:srgbClr val="FFFFFF"/>
            </a:solidFill>
            <a:ln w="9525">
              <a:solidFill>
                <a:srgbClr val="E6D9C0"/>
              </a:solidFill>
            </a:ln>
          </p:spPr>
        </p:sp>
        <p:sp>
          <p:nvSpPr>
            <p:cNvPr id="135" name="Ellipse 135"/>
            <p:cNvSpPr/>
            <p:nvPr/>
          </p:nvSpPr>
          <p:spPr>
            <a:xfrm>
              <a:off x="771525" y="5791200"/>
              <a:ext cx="514350" cy="514350"/>
            </a:xfrm>
            <a:prstGeom prst="ellipse">
              <a:avLst/>
            </a:prstGeom>
            <a:solidFill>
              <a:srgbClr val="EDEFF2"/>
            </a:solidFill>
            <a:ln>
              <a:noFill/>
            </a:ln>
          </p:spPr>
        </p:sp>
        <p:grpSp>
          <p:nvGrpSpPr>
            <p:cNvPr id="144" name="Group 144"/>
            <p:cNvGrpSpPr/>
            <p:nvPr/>
          </p:nvGrpSpPr>
          <p:grpSpPr>
            <a:xfrm>
              <a:off x="914400" y="5934075"/>
              <a:ext cx="228599" cy="238124"/>
              <a:chOff x="914400" y="5934075"/>
              <a:chExt cx="228599" cy="238124"/>
            </a:xfrm>
          </p:grpSpPr>
          <p:sp>
            <p:nvSpPr>
              <p:cNvPr id="136" name="Freeform 136"/>
              <p:cNvSpPr/>
              <p:nvPr/>
            </p:nvSpPr>
            <p:spPr>
              <a:xfrm>
                <a:off x="914400" y="6162674"/>
                <a:ext cx="228599" cy="9525"/>
              </a:xfrm>
              <a:custGeom>
                <a:avLst/>
                <a:gdLst/>
                <a:ahLst/>
                <a:cxnLst/>
                <a:rect l="l" t="t" r="r" b="b"/>
                <a:pathLst>
                  <a:path w="228599" h="9525">
                    <a:moveTo>
                      <a:pt x="0" y="0"/>
                    </a:moveTo>
                    <a:lnTo>
                      <a:pt x="228599" y="0"/>
                    </a:lnTo>
                  </a:path>
                </a:pathLst>
              </a:custGeom>
              <a:noFill/>
              <a:ln w="25400">
                <a:solidFill>
                  <a:srgbClr val="7D5C55"/>
                </a:solidFill>
              </a:ln>
            </p:spPr>
          </p:sp>
          <p:sp>
            <p:nvSpPr>
              <p:cNvPr id="137" name="Freeform 137"/>
              <p:cNvSpPr/>
              <p:nvPr/>
            </p:nvSpPr>
            <p:spPr>
              <a:xfrm>
                <a:off x="914400" y="6022975"/>
                <a:ext cx="228599" cy="9525"/>
              </a:xfrm>
              <a:custGeom>
                <a:avLst/>
                <a:gdLst/>
                <a:ahLst/>
                <a:cxnLst/>
                <a:rect l="l" t="t" r="r" b="b"/>
                <a:pathLst>
                  <a:path w="228599" h="9525">
                    <a:moveTo>
                      <a:pt x="0" y="0"/>
                    </a:moveTo>
                    <a:lnTo>
                      <a:pt x="228599" y="0"/>
                    </a:lnTo>
                  </a:path>
                </a:pathLst>
              </a:custGeom>
              <a:noFill/>
              <a:ln w="25400">
                <a:solidFill>
                  <a:srgbClr val="7D5C55"/>
                </a:solidFill>
              </a:ln>
            </p:spPr>
          </p:sp>
          <p:sp>
            <p:nvSpPr>
              <p:cNvPr id="138" name="Freeform 138"/>
              <p:cNvSpPr/>
              <p:nvPr/>
            </p:nvSpPr>
            <p:spPr>
              <a:xfrm>
                <a:off x="939800" y="5934075"/>
                <a:ext cx="177800" cy="38100"/>
              </a:xfrm>
              <a:custGeom>
                <a:avLst/>
                <a:gdLst/>
                <a:ahLst/>
                <a:cxnLst/>
                <a:rect l="l" t="t" r="r" b="b"/>
                <a:pathLst>
                  <a:path w="177800" h="38100">
                    <a:moveTo>
                      <a:pt x="0" y="38100"/>
                    </a:moveTo>
                    <a:lnTo>
                      <a:pt x="88900" y="0"/>
                    </a:lnTo>
                    <a:lnTo>
                      <a:pt x="177800" y="38100"/>
                    </a:lnTo>
                  </a:path>
                </a:pathLst>
              </a:custGeom>
              <a:noFill/>
              <a:ln w="25400">
                <a:solidFill>
                  <a:srgbClr val="7D5C55"/>
                </a:solidFill>
              </a:ln>
            </p:spPr>
          </p:sp>
          <p:sp>
            <p:nvSpPr>
              <p:cNvPr id="139" name="Freeform 139"/>
              <p:cNvSpPr/>
              <p:nvPr/>
            </p:nvSpPr>
            <p:spPr>
              <a:xfrm>
                <a:off x="927100" y="6022975"/>
                <a:ext cx="9525" cy="139700"/>
              </a:xfrm>
              <a:custGeom>
                <a:avLst/>
                <a:gdLst/>
                <a:ahLst/>
                <a:cxnLst/>
                <a:rect l="l" t="t" r="r" b="b"/>
                <a:pathLst>
                  <a:path w="9525" h="139700">
                    <a:moveTo>
                      <a:pt x="0" y="0"/>
                    </a:moveTo>
                    <a:lnTo>
                      <a:pt x="0" y="139700"/>
                    </a:lnTo>
                  </a:path>
                </a:pathLst>
              </a:custGeom>
              <a:noFill/>
              <a:ln w="25400">
                <a:solidFill>
                  <a:srgbClr val="7D5C55"/>
                </a:solidFill>
              </a:ln>
            </p:spPr>
          </p:sp>
          <p:sp>
            <p:nvSpPr>
              <p:cNvPr id="140" name="Freeform 140"/>
              <p:cNvSpPr/>
              <p:nvPr/>
            </p:nvSpPr>
            <p:spPr>
              <a:xfrm>
                <a:off x="1130299" y="6022975"/>
                <a:ext cx="9525" cy="139700"/>
              </a:xfrm>
              <a:custGeom>
                <a:avLst/>
                <a:gdLst/>
                <a:ahLst/>
                <a:cxnLst/>
                <a:rect l="l" t="t" r="r" b="b"/>
                <a:pathLst>
                  <a:path w="9525" h="139700">
                    <a:moveTo>
                      <a:pt x="0" y="0"/>
                    </a:moveTo>
                    <a:lnTo>
                      <a:pt x="0" y="139700"/>
                    </a:lnTo>
                  </a:path>
                </a:pathLst>
              </a:custGeom>
              <a:noFill/>
              <a:ln w="25400">
                <a:solidFill>
                  <a:srgbClr val="7D5C55"/>
                </a:solidFill>
              </a:ln>
            </p:spPr>
          </p:sp>
          <p:sp>
            <p:nvSpPr>
              <p:cNvPr id="141" name="Freeform 141"/>
              <p:cNvSpPr/>
              <p:nvPr/>
            </p:nvSpPr>
            <p:spPr>
              <a:xfrm>
                <a:off x="977900" y="6073775"/>
                <a:ext cx="9525" cy="38100"/>
              </a:xfrm>
              <a:custGeom>
                <a:avLst/>
                <a:gdLst/>
                <a:ahLst/>
                <a:cxnLst/>
                <a:rect l="l" t="t" r="r" b="b"/>
                <a:pathLst>
                  <a:path w="9525" h="38100">
                    <a:moveTo>
                      <a:pt x="0" y="0"/>
                    </a:moveTo>
                    <a:lnTo>
                      <a:pt x="0" y="38100"/>
                    </a:lnTo>
                  </a:path>
                </a:pathLst>
              </a:custGeom>
              <a:noFill/>
              <a:ln w="25400">
                <a:solidFill>
                  <a:srgbClr val="7D5C55"/>
                </a:solidFill>
              </a:ln>
            </p:spPr>
          </p:sp>
          <p:sp>
            <p:nvSpPr>
              <p:cNvPr id="142" name="Freeform 142"/>
              <p:cNvSpPr/>
              <p:nvPr/>
            </p:nvSpPr>
            <p:spPr>
              <a:xfrm>
                <a:off x="1028700" y="6073775"/>
                <a:ext cx="9525" cy="38100"/>
              </a:xfrm>
              <a:custGeom>
                <a:avLst/>
                <a:gdLst/>
                <a:ahLst/>
                <a:cxnLst/>
                <a:rect l="l" t="t" r="r" b="b"/>
                <a:pathLst>
                  <a:path w="9525" h="38100">
                    <a:moveTo>
                      <a:pt x="0" y="0"/>
                    </a:moveTo>
                    <a:lnTo>
                      <a:pt x="0" y="38100"/>
                    </a:lnTo>
                  </a:path>
                </a:pathLst>
              </a:custGeom>
              <a:noFill/>
              <a:ln w="25400">
                <a:solidFill>
                  <a:srgbClr val="7D5C55"/>
                </a:solidFill>
              </a:ln>
            </p:spPr>
          </p:sp>
          <p:sp>
            <p:nvSpPr>
              <p:cNvPr id="143" name="Freeform 143"/>
              <p:cNvSpPr/>
              <p:nvPr/>
            </p:nvSpPr>
            <p:spPr>
              <a:xfrm>
                <a:off x="1079499" y="6073775"/>
                <a:ext cx="9525" cy="38100"/>
              </a:xfrm>
              <a:custGeom>
                <a:avLst/>
                <a:gdLst/>
                <a:ahLst/>
                <a:cxnLst/>
                <a:rect l="l" t="t" r="r" b="b"/>
                <a:pathLst>
                  <a:path w="9525" h="38100">
                    <a:moveTo>
                      <a:pt x="0" y="0"/>
                    </a:moveTo>
                    <a:lnTo>
                      <a:pt x="0" y="38100"/>
                    </a:lnTo>
                  </a:path>
                </a:pathLst>
              </a:custGeom>
              <a:noFill/>
              <a:ln w="25400">
                <a:solidFill>
                  <a:srgbClr val="7D5C55"/>
                </a:solidFill>
              </a:ln>
            </p:spPr>
          </p:sp>
        </p:grpSp>
        <p:sp>
          <p:nvSpPr>
            <p:cNvPr id="145" name="TextBox 145"/>
            <p:cNvSpPr txBox="1"/>
            <p:nvPr/>
          </p:nvSpPr>
          <p:spPr>
            <a:xfrm>
              <a:off x="1858899" y="5830729"/>
              <a:ext cx="866800" cy="308039"/>
            </a:xfrm>
            <a:prstGeom prst="rect">
              <a:avLst/>
            </a:prstGeom>
            <a:noFill/>
            <a:ln>
              <a:noFill/>
            </a:ln>
          </p:spPr>
          <p:txBody>
            <a:bodyPr wrap="none" lIns="0" tIns="0" rIns="0" bIns="0" anchor="t" anchorCtr="0">
              <a:spAutoFit/>
            </a:bodyPr>
            <a:lstStyle/>
            <a:p>
              <a:pPr algn="l"/>
              <a:r>
                <a:rPr lang="zh-CN" sz="1580" b="1" dirty="0">
                  <a:solidFill>
                    <a:srgbClr val="5E3A33"/>
                  </a:solidFill>
                  <a:latin typeface="+mn-lt"/>
                  <a:ea typeface="+mn-ea"/>
                  <a:cs typeface="+mn-cs"/>
                </a:rPr>
                <a:t>粗放经营</a:t>
              </a:r>
            </a:p>
          </p:txBody>
        </p:sp>
        <p:sp>
          <p:nvSpPr>
            <p:cNvPr id="146" name="TextBox 146"/>
            <p:cNvSpPr txBox="1"/>
            <p:nvPr/>
          </p:nvSpPr>
          <p:spPr>
            <a:xfrm>
              <a:off x="1804988" y="6212443"/>
              <a:ext cx="3019628"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以产品为中心｜分层粗放｜被动响应｜资源分散｜数据割裂</a:t>
              </a:r>
            </a:p>
          </p:txBody>
        </p:sp>
        <p:sp>
          <p:nvSpPr>
            <p:cNvPr id="147" name="Freeform 147"/>
            <p:cNvSpPr/>
            <p:nvPr/>
          </p:nvSpPr>
          <p:spPr>
            <a:xfrm>
              <a:off x="5238750" y="5772150"/>
              <a:ext cx="1381125" cy="552450"/>
            </a:xfrm>
            <a:prstGeom prst="rightArrow">
              <a:avLst/>
            </a:prstGeom>
            <a:solidFill>
              <a:srgbClr val="A3381F"/>
            </a:solidFill>
            <a:ln>
              <a:noFill/>
            </a:ln>
          </p:spPr>
        </p:sp>
        <p:sp>
          <p:nvSpPr>
            <p:cNvPr id="148" name="Ellipse 148"/>
            <p:cNvSpPr/>
            <p:nvPr/>
          </p:nvSpPr>
          <p:spPr>
            <a:xfrm>
              <a:off x="7267575" y="5791200"/>
              <a:ext cx="514350" cy="514350"/>
            </a:xfrm>
            <a:prstGeom prst="ellipse">
              <a:avLst/>
            </a:prstGeom>
            <a:solidFill>
              <a:srgbClr val="A3381F"/>
            </a:solidFill>
            <a:ln>
              <a:noFill/>
            </a:ln>
          </p:spPr>
        </p:sp>
        <p:grpSp>
          <p:nvGrpSpPr>
            <p:cNvPr id="152" name="Group 152"/>
            <p:cNvGrpSpPr/>
            <p:nvPr/>
          </p:nvGrpSpPr>
          <p:grpSpPr>
            <a:xfrm>
              <a:off x="7410450" y="5934075"/>
              <a:ext cx="228599" cy="228599"/>
              <a:chOff x="7410450" y="5934075"/>
              <a:chExt cx="228599" cy="228599"/>
            </a:xfrm>
          </p:grpSpPr>
          <p:sp>
            <p:nvSpPr>
              <p:cNvPr id="149" name="Freeform 149"/>
              <p:cNvSpPr/>
              <p:nvPr/>
            </p:nvSpPr>
            <p:spPr>
              <a:xfrm>
                <a:off x="7512050" y="60356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FFFFFF"/>
                </a:solidFill>
              </a:ln>
            </p:spPr>
          </p:sp>
          <p:sp>
            <p:nvSpPr>
              <p:cNvPr id="150" name="Freeform 150"/>
              <p:cNvSpPr/>
              <p:nvPr/>
            </p:nvSpPr>
            <p:spPr>
              <a:xfrm>
                <a:off x="7461250" y="59848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FFFFFF"/>
                </a:solidFill>
              </a:ln>
            </p:spPr>
          </p:sp>
          <p:sp>
            <p:nvSpPr>
              <p:cNvPr id="151" name="Freeform 151"/>
              <p:cNvSpPr/>
              <p:nvPr/>
            </p:nvSpPr>
            <p:spPr>
              <a:xfrm>
                <a:off x="7410450" y="5934075"/>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FFFFFF"/>
                </a:solidFill>
              </a:ln>
            </p:spPr>
          </p:sp>
        </p:grpSp>
        <p:sp>
          <p:nvSpPr>
            <p:cNvPr id="153" name="TextBox 153"/>
            <p:cNvSpPr txBox="1"/>
            <p:nvPr/>
          </p:nvSpPr>
          <p:spPr>
            <a:xfrm>
              <a:off x="8354949" y="5830729"/>
              <a:ext cx="866800" cy="308039"/>
            </a:xfrm>
            <a:prstGeom prst="rect">
              <a:avLst/>
            </a:prstGeom>
            <a:noFill/>
            <a:ln>
              <a:noFill/>
            </a:ln>
          </p:spPr>
          <p:txBody>
            <a:bodyPr wrap="none" lIns="0" tIns="0" rIns="0" bIns="0" anchor="t" anchorCtr="0">
              <a:spAutoFit/>
            </a:bodyPr>
            <a:lstStyle/>
            <a:p>
              <a:pPr algn="l"/>
              <a:r>
                <a:rPr lang="zh-CN" sz="1580" b="1" dirty="0">
                  <a:solidFill>
                    <a:srgbClr val="A3381F"/>
                  </a:solidFill>
                  <a:latin typeface="+mn-lt"/>
                  <a:ea typeface="+mn-ea"/>
                  <a:cs typeface="+mn-cs"/>
                </a:rPr>
                <a:t>精细经营</a:t>
              </a:r>
            </a:p>
          </p:txBody>
        </p:sp>
        <p:sp>
          <p:nvSpPr>
            <p:cNvPr id="154" name="TextBox 154"/>
            <p:cNvSpPr txBox="1"/>
            <p:nvPr/>
          </p:nvSpPr>
          <p:spPr>
            <a:xfrm>
              <a:off x="8167688" y="6212443"/>
              <a:ext cx="3019628"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以客户为中心｜精准分层｜主动经营｜资源协同｜数据统一</a:t>
              </a:r>
            </a:p>
          </p:txBody>
        </p:sp>
      </p:gr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03</a:t>
              </a:r>
            </a:p>
          </p:txBody>
        </p:sp>
        <p:sp>
          <p:nvSpPr>
            <p:cNvPr id="4" name="TextBox 4"/>
            <p:cNvSpPr txBox="1"/>
            <p:nvPr/>
          </p:nvSpPr>
          <p:spPr>
            <a:xfrm>
              <a:off x="942594" y="151448"/>
              <a:ext cx="4735068"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总体目标：建立</a:t>
              </a:r>
              <a:r>
                <a:rPr lang="zh-CN" sz="1950" b="1" dirty="0">
                  <a:solidFill>
                    <a:srgbClr val="A3381F"/>
                  </a:solidFill>
                  <a:latin typeface="SimSun"/>
                  <a:ea typeface="SimSun"/>
                  <a:cs typeface="SimSun"/>
                </a:rPr>
                <a:t>五位一体</a:t>
              </a:r>
              <a:r>
                <a:rPr lang="zh-CN" sz="1950" b="1" dirty="0">
                  <a:solidFill>
                    <a:srgbClr val="1F1F1F"/>
                  </a:solidFill>
                  <a:latin typeface="SimSun"/>
                  <a:ea typeface="SimSun"/>
                  <a:cs typeface="SimSun"/>
                </a:rPr>
                <a:t>客户经营体系</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17" name="ring-1"/>
          <p:cNvGrpSpPr/>
          <p:nvPr/>
        </p:nvGrpSpPr>
        <p:grpSpPr>
          <a:xfrm>
            <a:off x="885825" y="1314450"/>
            <a:ext cx="1371600" cy="1726882"/>
            <a:chOff x="885825" y="1314450"/>
            <a:chExt cx="1371600" cy="1726882"/>
          </a:xfrm>
        </p:grpSpPr>
        <p:sp>
          <p:nvSpPr>
            <p:cNvPr id="7" name="Ellipse 7"/>
            <p:cNvSpPr/>
            <p:nvPr/>
          </p:nvSpPr>
          <p:spPr>
            <a:xfrm>
              <a:off x="885825" y="1314450"/>
              <a:ext cx="1371600" cy="1371600"/>
            </a:xfrm>
            <a:prstGeom prst="ellipse">
              <a:avLst/>
            </a:prstGeom>
            <a:solidFill>
              <a:srgbClr val="FFFFFF"/>
            </a:solidFill>
            <a:ln w="28575">
              <a:solidFill>
                <a:srgbClr val="A3381F"/>
              </a:solidFill>
            </a:ln>
          </p:spPr>
        </p:sp>
        <p:sp>
          <p:nvSpPr>
            <p:cNvPr id="8" name="Ellipse 8"/>
            <p:cNvSpPr/>
            <p:nvPr/>
          </p:nvSpPr>
          <p:spPr>
            <a:xfrm>
              <a:off x="971550" y="1400175"/>
              <a:ext cx="1200150" cy="1200150"/>
            </a:xfrm>
            <a:prstGeom prst="ellipse">
              <a:avLst/>
            </a:prstGeom>
            <a:noFill/>
            <a:ln w="9525">
              <a:solidFill>
                <a:srgbClr val="E4B4AC"/>
              </a:solidFill>
            </a:ln>
          </p:spPr>
        </p:sp>
        <p:grpSp>
          <p:nvGrpSpPr>
            <p:cNvPr id="13" name="Group 13"/>
            <p:cNvGrpSpPr/>
            <p:nvPr/>
          </p:nvGrpSpPr>
          <p:grpSpPr>
            <a:xfrm>
              <a:off x="1450181" y="1526381"/>
              <a:ext cx="242888" cy="242889"/>
              <a:chOff x="1450181" y="1526381"/>
              <a:chExt cx="242888" cy="242889"/>
            </a:xfrm>
          </p:grpSpPr>
          <p:sp>
            <p:nvSpPr>
              <p:cNvPr id="9" name="Freeform 9"/>
              <p:cNvSpPr/>
              <p:nvPr/>
            </p:nvSpPr>
            <p:spPr>
              <a:xfrm>
                <a:off x="1477169" y="1526381"/>
                <a:ext cx="107950" cy="107950"/>
              </a:xfrm>
              <a:custGeom>
                <a:avLst/>
                <a:gdLst/>
                <a:ahLst/>
                <a:cxnLst/>
                <a:rect l="l" t="t" r="r" b="b"/>
                <a:pathLst>
                  <a:path w="107950" h="107950">
                    <a:moveTo>
                      <a:pt x="0" y="53975"/>
                    </a:moveTo>
                    <a:cubicBezTo>
                      <a:pt x="0" y="83785"/>
                      <a:pt x="24165" y="107950"/>
                      <a:pt x="53975" y="107950"/>
                    </a:cubicBezTo>
                    <a:cubicBezTo>
                      <a:pt x="83785" y="107950"/>
                      <a:pt x="107950" y="83785"/>
                      <a:pt x="107950" y="53975"/>
                    </a:cubicBezTo>
                    <a:cubicBezTo>
                      <a:pt x="107950" y="24165"/>
                      <a:pt x="83785" y="0"/>
                      <a:pt x="53975" y="0"/>
                    </a:cubicBezTo>
                    <a:cubicBezTo>
                      <a:pt x="24165" y="0"/>
                      <a:pt x="0" y="24165"/>
                      <a:pt x="0" y="53975"/>
                    </a:cubicBezTo>
                  </a:path>
                </a:pathLst>
              </a:custGeom>
              <a:noFill/>
              <a:ln w="26988">
                <a:solidFill>
                  <a:srgbClr val="A3381F"/>
                </a:solidFill>
              </a:ln>
            </p:spPr>
          </p:sp>
          <p:sp>
            <p:nvSpPr>
              <p:cNvPr id="10" name="Freeform 10"/>
              <p:cNvSpPr/>
              <p:nvPr/>
            </p:nvSpPr>
            <p:spPr>
              <a:xfrm>
                <a:off x="1450181" y="1688307"/>
                <a:ext cx="161925" cy="80963"/>
              </a:xfrm>
              <a:custGeom>
                <a:avLst/>
                <a:gdLst/>
                <a:ahLst/>
                <a:cxnLst/>
                <a:rect l="l" t="t" r="r" b="b"/>
                <a:pathLst>
                  <a:path w="161925" h="80963">
                    <a:moveTo>
                      <a:pt x="0" y="80963"/>
                    </a:moveTo>
                    <a:lnTo>
                      <a:pt x="0" y="53975"/>
                    </a:lnTo>
                    <a:cubicBezTo>
                      <a:pt x="0" y="24165"/>
                      <a:pt x="24165" y="0"/>
                      <a:pt x="53975" y="0"/>
                    </a:cubicBezTo>
                    <a:lnTo>
                      <a:pt x="107950" y="0"/>
                    </a:lnTo>
                    <a:cubicBezTo>
                      <a:pt x="137760" y="0"/>
                      <a:pt x="161925" y="24165"/>
                      <a:pt x="161925" y="53975"/>
                    </a:cubicBezTo>
                    <a:lnTo>
                      <a:pt x="161925" y="80963"/>
                    </a:lnTo>
                  </a:path>
                </a:pathLst>
              </a:custGeom>
              <a:noFill/>
              <a:ln w="26988">
                <a:solidFill>
                  <a:srgbClr val="A3381F"/>
                </a:solidFill>
              </a:ln>
            </p:spPr>
          </p:sp>
          <p:sp>
            <p:nvSpPr>
              <p:cNvPr id="11" name="Freeform 11"/>
              <p:cNvSpPr/>
              <p:nvPr/>
            </p:nvSpPr>
            <p:spPr>
              <a:xfrm>
                <a:off x="1625601" y="1528136"/>
                <a:ext cx="40587" cy="104577"/>
              </a:xfrm>
              <a:custGeom>
                <a:avLst/>
                <a:gdLst/>
                <a:ahLst/>
                <a:cxnLst/>
                <a:rect l="l" t="t" r="r" b="b"/>
                <a:pathLst>
                  <a:path w="40587" h="104577">
                    <a:moveTo>
                      <a:pt x="0" y="0"/>
                    </a:moveTo>
                    <a:cubicBezTo>
                      <a:pt x="23883" y="6115"/>
                      <a:pt x="40587" y="27635"/>
                      <a:pt x="40587" y="52288"/>
                    </a:cubicBezTo>
                    <a:cubicBezTo>
                      <a:pt x="40587" y="76942"/>
                      <a:pt x="23883" y="98462"/>
                      <a:pt x="0" y="104577"/>
                    </a:cubicBezTo>
                  </a:path>
                </a:pathLst>
              </a:custGeom>
              <a:noFill/>
              <a:ln w="26988">
                <a:solidFill>
                  <a:srgbClr val="A3381F"/>
                </a:solidFill>
              </a:ln>
            </p:spPr>
          </p:sp>
          <p:sp>
            <p:nvSpPr>
              <p:cNvPr id="12" name="Freeform 12"/>
              <p:cNvSpPr/>
              <p:nvPr/>
            </p:nvSpPr>
            <p:spPr>
              <a:xfrm>
                <a:off x="1652588" y="1690331"/>
                <a:ext cx="40481" cy="78939"/>
              </a:xfrm>
              <a:custGeom>
                <a:avLst/>
                <a:gdLst/>
                <a:ahLst/>
                <a:cxnLst/>
                <a:rect l="l" t="t" r="r" b="b"/>
                <a:pathLst>
                  <a:path w="40481" h="78939">
                    <a:moveTo>
                      <a:pt x="40481" y="78939"/>
                    </a:moveTo>
                    <a:lnTo>
                      <a:pt x="40481" y="51951"/>
                    </a:lnTo>
                    <a:cubicBezTo>
                      <a:pt x="40340" y="27454"/>
                      <a:pt x="23720" y="6124"/>
                      <a:pt x="0" y="0"/>
                    </a:cubicBezTo>
                  </a:path>
                </a:pathLst>
              </a:custGeom>
              <a:noFill/>
              <a:ln w="26988">
                <a:solidFill>
                  <a:srgbClr val="A3381F"/>
                </a:solidFill>
              </a:ln>
            </p:spPr>
          </p:sp>
        </p:grpSp>
        <p:sp>
          <p:nvSpPr>
            <p:cNvPr id="14" name="TextBox 14"/>
            <p:cNvSpPr txBox="1"/>
            <p:nvPr/>
          </p:nvSpPr>
          <p:spPr>
            <a:xfrm>
              <a:off x="1113587" y="2050256"/>
              <a:ext cx="916076" cy="220028"/>
            </a:xfrm>
            <a:prstGeom prst="rect">
              <a:avLst/>
            </a:prstGeom>
            <a:noFill/>
            <a:ln>
              <a:noFill/>
            </a:ln>
          </p:spPr>
          <p:txBody>
            <a:bodyPr wrap="none" lIns="0" tIns="0" rIns="0" bIns="0" anchor="t" anchorCtr="0">
              <a:spAutoFit/>
            </a:bodyPr>
            <a:lstStyle/>
            <a:p>
              <a:pPr algn="ctr"/>
              <a:r>
                <a:rPr lang="zh-CN" sz="1120" b="1" dirty="0">
                  <a:solidFill>
                    <a:srgbClr val="5E3A33"/>
                  </a:solidFill>
                  <a:latin typeface="+mn-lt"/>
                  <a:ea typeface="+mn-ea"/>
                  <a:cs typeface="+mn-cs"/>
                </a:rPr>
                <a:t>统一客户视图</a:t>
              </a:r>
            </a:p>
          </p:txBody>
        </p:sp>
        <p:sp>
          <p:nvSpPr>
            <p:cNvPr id="15" name="Ellipse 15"/>
            <p:cNvSpPr/>
            <p:nvPr/>
          </p:nvSpPr>
          <p:spPr>
            <a:xfrm>
              <a:off x="1447800" y="2790825"/>
              <a:ext cx="247650" cy="247650"/>
            </a:xfrm>
            <a:prstGeom prst="ellipse">
              <a:avLst/>
            </a:prstGeom>
            <a:solidFill>
              <a:srgbClr val="A3381F"/>
            </a:solidFill>
            <a:ln>
              <a:noFill/>
            </a:ln>
          </p:spPr>
        </p:sp>
        <p:sp>
          <p:nvSpPr>
            <p:cNvPr id="16" name="TextBox 16"/>
            <p:cNvSpPr txBox="1"/>
            <p:nvPr/>
          </p:nvSpPr>
          <p:spPr>
            <a:xfrm>
              <a:off x="1496894" y="28651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01</a:t>
              </a:r>
            </a:p>
          </p:txBody>
        </p:sp>
      </p:grpSp>
      <p:sp>
        <p:nvSpPr>
          <p:cNvPr id="18" name="Freeform 18"/>
          <p:cNvSpPr/>
          <p:nvPr/>
        </p:nvSpPr>
        <p:spPr>
          <a:xfrm>
            <a:off x="2314575" y="1866900"/>
            <a:ext cx="685800" cy="266700"/>
          </a:xfrm>
          <a:prstGeom prst="rightArrow">
            <a:avLst/>
          </a:prstGeom>
          <a:solidFill>
            <a:srgbClr val="A3381F"/>
          </a:solidFill>
          <a:ln>
            <a:noFill/>
          </a:ln>
        </p:spPr>
      </p:sp>
      <p:grpSp>
        <p:nvGrpSpPr>
          <p:cNvPr id="30" name="ring-2"/>
          <p:cNvGrpSpPr/>
          <p:nvPr/>
        </p:nvGrpSpPr>
        <p:grpSpPr>
          <a:xfrm>
            <a:off x="3124200" y="1314450"/>
            <a:ext cx="1371600" cy="1726882"/>
            <a:chOff x="3124200" y="1314450"/>
            <a:chExt cx="1371600" cy="1726882"/>
          </a:xfrm>
        </p:grpSpPr>
        <p:sp>
          <p:nvSpPr>
            <p:cNvPr id="19" name="Ellipse 19"/>
            <p:cNvSpPr/>
            <p:nvPr/>
          </p:nvSpPr>
          <p:spPr>
            <a:xfrm>
              <a:off x="3124200" y="1314450"/>
              <a:ext cx="1371600" cy="1371600"/>
            </a:xfrm>
            <a:prstGeom prst="ellipse">
              <a:avLst/>
            </a:prstGeom>
            <a:solidFill>
              <a:srgbClr val="FFFFFF"/>
            </a:solidFill>
            <a:ln w="28575">
              <a:solidFill>
                <a:srgbClr val="A3381F"/>
              </a:solidFill>
            </a:ln>
          </p:spPr>
        </p:sp>
        <p:sp>
          <p:nvSpPr>
            <p:cNvPr id="20" name="Ellipse 20"/>
            <p:cNvSpPr/>
            <p:nvPr/>
          </p:nvSpPr>
          <p:spPr>
            <a:xfrm>
              <a:off x="3209925" y="1400175"/>
              <a:ext cx="1200150" cy="1200150"/>
            </a:xfrm>
            <a:prstGeom prst="ellipse">
              <a:avLst/>
            </a:prstGeom>
            <a:noFill/>
            <a:ln w="9525">
              <a:solidFill>
                <a:srgbClr val="E4B4AC"/>
              </a:solidFill>
            </a:ln>
          </p:spPr>
        </p:sp>
        <p:grpSp>
          <p:nvGrpSpPr>
            <p:cNvPr id="26" name="Group 26"/>
            <p:cNvGrpSpPr/>
            <p:nvPr/>
          </p:nvGrpSpPr>
          <p:grpSpPr>
            <a:xfrm>
              <a:off x="3688556" y="1526381"/>
              <a:ext cx="242888" cy="242888"/>
              <a:chOff x="3688556" y="1526381"/>
              <a:chExt cx="242888" cy="242888"/>
            </a:xfrm>
          </p:grpSpPr>
          <p:sp>
            <p:nvSpPr>
              <p:cNvPr id="21" name="Freeform 21"/>
              <p:cNvSpPr/>
              <p:nvPr/>
            </p:nvSpPr>
            <p:spPr>
              <a:xfrm>
                <a:off x="3783013" y="1526381"/>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A3381F"/>
                </a:solidFill>
              </a:ln>
            </p:spPr>
          </p:sp>
          <p:sp>
            <p:nvSpPr>
              <p:cNvPr id="22" name="Freeform 22"/>
              <p:cNvSpPr/>
              <p:nvPr/>
            </p:nvSpPr>
            <p:spPr>
              <a:xfrm>
                <a:off x="3688556" y="1715294"/>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A3381F"/>
                </a:solidFill>
              </a:ln>
            </p:spPr>
          </p:sp>
          <p:sp>
            <p:nvSpPr>
              <p:cNvPr id="23" name="Freeform 23"/>
              <p:cNvSpPr/>
              <p:nvPr/>
            </p:nvSpPr>
            <p:spPr>
              <a:xfrm>
                <a:off x="3877469" y="1715294"/>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A3381F"/>
                </a:solidFill>
              </a:ln>
            </p:spPr>
          </p:sp>
          <p:sp>
            <p:nvSpPr>
              <p:cNvPr id="24" name="Freeform 24"/>
              <p:cNvSpPr/>
              <p:nvPr/>
            </p:nvSpPr>
            <p:spPr>
              <a:xfrm>
                <a:off x="3735785" y="1661319"/>
                <a:ext cx="148432" cy="60722"/>
              </a:xfrm>
              <a:custGeom>
                <a:avLst/>
                <a:gdLst/>
                <a:ahLst/>
                <a:cxnLst/>
                <a:rect l="l" t="t" r="r" b="b"/>
                <a:pathLst>
                  <a:path w="148432" h="60722">
                    <a:moveTo>
                      <a:pt x="0" y="60722"/>
                    </a:moveTo>
                    <a:lnTo>
                      <a:pt x="74216" y="0"/>
                    </a:lnTo>
                    <a:lnTo>
                      <a:pt x="148432" y="60722"/>
                    </a:lnTo>
                  </a:path>
                </a:pathLst>
              </a:custGeom>
              <a:noFill/>
              <a:ln w="26988">
                <a:solidFill>
                  <a:srgbClr val="A3381F"/>
                </a:solidFill>
              </a:ln>
            </p:spPr>
          </p:sp>
          <p:sp>
            <p:nvSpPr>
              <p:cNvPr id="25" name="Freeform 25"/>
              <p:cNvSpPr/>
              <p:nvPr/>
            </p:nvSpPr>
            <p:spPr>
              <a:xfrm>
                <a:off x="3810000" y="1580356"/>
                <a:ext cx="9525" cy="80963"/>
              </a:xfrm>
              <a:custGeom>
                <a:avLst/>
                <a:gdLst/>
                <a:ahLst/>
                <a:cxnLst/>
                <a:rect l="l" t="t" r="r" b="b"/>
                <a:pathLst>
                  <a:path w="9525" h="80963">
                    <a:moveTo>
                      <a:pt x="0" y="0"/>
                    </a:moveTo>
                    <a:lnTo>
                      <a:pt x="0" y="80963"/>
                    </a:lnTo>
                  </a:path>
                </a:pathLst>
              </a:custGeom>
              <a:noFill/>
              <a:ln w="26988">
                <a:solidFill>
                  <a:srgbClr val="A3381F"/>
                </a:solidFill>
              </a:ln>
            </p:spPr>
          </p:sp>
        </p:grpSp>
        <p:sp>
          <p:nvSpPr>
            <p:cNvPr id="27" name="TextBox 27"/>
            <p:cNvSpPr txBox="1"/>
            <p:nvPr/>
          </p:nvSpPr>
          <p:spPr>
            <a:xfrm>
              <a:off x="3351962" y="2050256"/>
              <a:ext cx="916076" cy="220028"/>
            </a:xfrm>
            <a:prstGeom prst="rect">
              <a:avLst/>
            </a:prstGeom>
            <a:noFill/>
            <a:ln>
              <a:noFill/>
            </a:ln>
          </p:spPr>
          <p:txBody>
            <a:bodyPr wrap="none" lIns="0" tIns="0" rIns="0" bIns="0" anchor="t" anchorCtr="0">
              <a:spAutoFit/>
            </a:bodyPr>
            <a:lstStyle/>
            <a:p>
              <a:pPr algn="ctr"/>
              <a:r>
                <a:rPr lang="zh-CN" sz="1120" b="1" dirty="0">
                  <a:solidFill>
                    <a:srgbClr val="5E3A33"/>
                  </a:solidFill>
                  <a:latin typeface="+mn-lt"/>
                  <a:ea typeface="+mn-ea"/>
                  <a:cs typeface="+mn-cs"/>
                </a:rPr>
                <a:t>统一分层标准</a:t>
              </a:r>
            </a:p>
          </p:txBody>
        </p:sp>
        <p:sp>
          <p:nvSpPr>
            <p:cNvPr id="28" name="Ellipse 28"/>
            <p:cNvSpPr/>
            <p:nvPr/>
          </p:nvSpPr>
          <p:spPr>
            <a:xfrm>
              <a:off x="3686175" y="2790825"/>
              <a:ext cx="247650" cy="247650"/>
            </a:xfrm>
            <a:prstGeom prst="ellipse">
              <a:avLst/>
            </a:prstGeom>
            <a:solidFill>
              <a:srgbClr val="A3381F"/>
            </a:solidFill>
            <a:ln>
              <a:noFill/>
            </a:ln>
          </p:spPr>
        </p:sp>
        <p:sp>
          <p:nvSpPr>
            <p:cNvPr id="29" name="TextBox 29"/>
            <p:cNvSpPr txBox="1"/>
            <p:nvPr/>
          </p:nvSpPr>
          <p:spPr>
            <a:xfrm>
              <a:off x="3735269" y="28651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02</a:t>
              </a:r>
            </a:p>
          </p:txBody>
        </p:sp>
      </p:grpSp>
      <p:sp>
        <p:nvSpPr>
          <p:cNvPr id="31" name="Freeform 31"/>
          <p:cNvSpPr/>
          <p:nvPr/>
        </p:nvSpPr>
        <p:spPr>
          <a:xfrm>
            <a:off x="4552950" y="1866900"/>
            <a:ext cx="685800" cy="266700"/>
          </a:xfrm>
          <a:prstGeom prst="rightArrow">
            <a:avLst/>
          </a:prstGeom>
          <a:solidFill>
            <a:srgbClr val="A3381F"/>
          </a:solidFill>
          <a:ln>
            <a:noFill/>
          </a:ln>
        </p:spPr>
      </p:sp>
      <p:grpSp>
        <p:nvGrpSpPr>
          <p:cNvPr id="40" name="ring-3"/>
          <p:cNvGrpSpPr/>
          <p:nvPr/>
        </p:nvGrpSpPr>
        <p:grpSpPr>
          <a:xfrm>
            <a:off x="5362575" y="1314450"/>
            <a:ext cx="1371600" cy="1726882"/>
            <a:chOff x="5362575" y="1314450"/>
            <a:chExt cx="1371600" cy="1726882"/>
          </a:xfrm>
        </p:grpSpPr>
        <p:sp>
          <p:nvSpPr>
            <p:cNvPr id="32" name="Ellipse 32"/>
            <p:cNvSpPr/>
            <p:nvPr/>
          </p:nvSpPr>
          <p:spPr>
            <a:xfrm>
              <a:off x="5362575" y="1314450"/>
              <a:ext cx="1371600" cy="1371600"/>
            </a:xfrm>
            <a:prstGeom prst="ellipse">
              <a:avLst/>
            </a:prstGeom>
            <a:solidFill>
              <a:srgbClr val="FFFFFF"/>
            </a:solidFill>
            <a:ln w="28575">
              <a:solidFill>
                <a:srgbClr val="A3381F"/>
              </a:solidFill>
            </a:ln>
          </p:spPr>
        </p:sp>
        <p:sp>
          <p:nvSpPr>
            <p:cNvPr id="33" name="Ellipse 33"/>
            <p:cNvSpPr/>
            <p:nvPr/>
          </p:nvSpPr>
          <p:spPr>
            <a:xfrm>
              <a:off x="5448300" y="1400175"/>
              <a:ext cx="1200150" cy="1200150"/>
            </a:xfrm>
            <a:prstGeom prst="ellipse">
              <a:avLst/>
            </a:prstGeom>
            <a:noFill/>
            <a:ln w="9525">
              <a:solidFill>
                <a:srgbClr val="E4B4AC"/>
              </a:solidFill>
            </a:ln>
          </p:spPr>
        </p:sp>
        <p:grpSp>
          <p:nvGrpSpPr>
            <p:cNvPr id="36" name="Group 36"/>
            <p:cNvGrpSpPr/>
            <p:nvPr/>
          </p:nvGrpSpPr>
          <p:grpSpPr>
            <a:xfrm>
              <a:off x="5926931" y="1526381"/>
              <a:ext cx="246086" cy="246086"/>
              <a:chOff x="5926931" y="1526381"/>
              <a:chExt cx="246086" cy="246086"/>
            </a:xfrm>
          </p:grpSpPr>
          <p:sp>
            <p:nvSpPr>
              <p:cNvPr id="34" name="Freeform 34"/>
              <p:cNvSpPr/>
              <p:nvPr/>
            </p:nvSpPr>
            <p:spPr>
              <a:xfrm>
                <a:off x="5974160" y="1573610"/>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6988">
                <a:solidFill>
                  <a:srgbClr val="A3381F"/>
                </a:solidFill>
              </a:ln>
            </p:spPr>
          </p:sp>
          <p:sp>
            <p:nvSpPr>
              <p:cNvPr id="35" name="Freeform 35"/>
              <p:cNvSpPr/>
              <p:nvPr/>
            </p:nvSpPr>
            <p:spPr>
              <a:xfrm>
                <a:off x="5926931" y="1526381"/>
                <a:ext cx="246086" cy="246086"/>
              </a:xfrm>
              <a:custGeom>
                <a:avLst/>
                <a:gdLst/>
                <a:ahLst/>
                <a:cxnLst/>
                <a:rect l="l" t="t" r="r" b="b"/>
                <a:pathLst>
                  <a:path w="246086" h="246086">
                    <a:moveTo>
                      <a:pt x="0" y="40481"/>
                    </a:moveTo>
                    <a:lnTo>
                      <a:pt x="0" y="110271"/>
                    </a:lnTo>
                    <a:cubicBezTo>
                      <a:pt x="2" y="117428"/>
                      <a:pt x="2846" y="124291"/>
                      <a:pt x="7907" y="129351"/>
                    </a:cubicBezTo>
                    <a:lnTo>
                      <a:pt x="111944" y="233388"/>
                    </a:lnTo>
                    <a:cubicBezTo>
                      <a:pt x="124644" y="246086"/>
                      <a:pt x="145232" y="246086"/>
                      <a:pt x="157931" y="233388"/>
                    </a:cubicBezTo>
                    <a:lnTo>
                      <a:pt x="233388" y="157931"/>
                    </a:lnTo>
                    <a:cubicBezTo>
                      <a:pt x="246086" y="145232"/>
                      <a:pt x="246086" y="124644"/>
                      <a:pt x="233388" y="111944"/>
                    </a:cubicBezTo>
                    <a:lnTo>
                      <a:pt x="129351" y="7907"/>
                    </a:lnTo>
                    <a:cubicBezTo>
                      <a:pt x="124291" y="2846"/>
                      <a:pt x="117428" y="2"/>
                      <a:pt x="110271" y="0"/>
                    </a:cubicBezTo>
                    <a:lnTo>
                      <a:pt x="40481" y="0"/>
                    </a:lnTo>
                    <a:cubicBezTo>
                      <a:pt x="29745" y="0"/>
                      <a:pt x="19448" y="4265"/>
                      <a:pt x="11857" y="11857"/>
                    </a:cubicBezTo>
                    <a:cubicBezTo>
                      <a:pt x="4265" y="19448"/>
                      <a:pt x="0" y="29745"/>
                      <a:pt x="0" y="40481"/>
                    </a:cubicBezTo>
                  </a:path>
                </a:pathLst>
              </a:custGeom>
              <a:noFill/>
              <a:ln w="26988">
                <a:solidFill>
                  <a:srgbClr val="A3381F"/>
                </a:solidFill>
              </a:ln>
            </p:spPr>
          </p:sp>
        </p:grpSp>
        <p:sp>
          <p:nvSpPr>
            <p:cNvPr id="37" name="TextBox 37"/>
            <p:cNvSpPr txBox="1"/>
            <p:nvPr/>
          </p:nvSpPr>
          <p:spPr>
            <a:xfrm>
              <a:off x="5590337" y="2050256"/>
              <a:ext cx="916076" cy="220028"/>
            </a:xfrm>
            <a:prstGeom prst="rect">
              <a:avLst/>
            </a:prstGeom>
            <a:noFill/>
            <a:ln>
              <a:noFill/>
            </a:ln>
          </p:spPr>
          <p:txBody>
            <a:bodyPr wrap="none" lIns="0" tIns="0" rIns="0" bIns="0" anchor="t" anchorCtr="0">
              <a:spAutoFit/>
            </a:bodyPr>
            <a:lstStyle/>
            <a:p>
              <a:pPr algn="ctr"/>
              <a:r>
                <a:rPr lang="zh-CN" sz="1120" b="1" dirty="0">
                  <a:solidFill>
                    <a:srgbClr val="5E3A33"/>
                  </a:solidFill>
                  <a:latin typeface="+mn-lt"/>
                  <a:ea typeface="+mn-ea"/>
                  <a:cs typeface="+mn-cs"/>
                </a:rPr>
                <a:t>统一标签口径</a:t>
              </a:r>
            </a:p>
          </p:txBody>
        </p:sp>
        <p:sp>
          <p:nvSpPr>
            <p:cNvPr id="38" name="Ellipse 38"/>
            <p:cNvSpPr/>
            <p:nvPr/>
          </p:nvSpPr>
          <p:spPr>
            <a:xfrm>
              <a:off x="5924550" y="2790825"/>
              <a:ext cx="247650" cy="247650"/>
            </a:xfrm>
            <a:prstGeom prst="ellipse">
              <a:avLst/>
            </a:prstGeom>
            <a:solidFill>
              <a:srgbClr val="A3381F"/>
            </a:solidFill>
            <a:ln>
              <a:noFill/>
            </a:ln>
          </p:spPr>
        </p:sp>
        <p:sp>
          <p:nvSpPr>
            <p:cNvPr id="39" name="TextBox 39"/>
            <p:cNvSpPr txBox="1"/>
            <p:nvPr/>
          </p:nvSpPr>
          <p:spPr>
            <a:xfrm>
              <a:off x="5973644" y="28651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03</a:t>
              </a:r>
            </a:p>
          </p:txBody>
        </p:sp>
      </p:grpSp>
      <p:sp>
        <p:nvSpPr>
          <p:cNvPr id="41" name="Freeform 41"/>
          <p:cNvSpPr/>
          <p:nvPr/>
        </p:nvSpPr>
        <p:spPr>
          <a:xfrm>
            <a:off x="6791325" y="1866900"/>
            <a:ext cx="685800" cy="266700"/>
          </a:xfrm>
          <a:prstGeom prst="rightArrow">
            <a:avLst/>
          </a:prstGeom>
          <a:solidFill>
            <a:srgbClr val="A3381F"/>
          </a:solidFill>
          <a:ln>
            <a:noFill/>
          </a:ln>
        </p:spPr>
      </p:sp>
      <p:grpSp>
        <p:nvGrpSpPr>
          <p:cNvPr id="50" name="ring-4"/>
          <p:cNvGrpSpPr/>
          <p:nvPr/>
        </p:nvGrpSpPr>
        <p:grpSpPr>
          <a:xfrm>
            <a:off x="7600950" y="1314450"/>
            <a:ext cx="1371600" cy="1726882"/>
            <a:chOff x="7600950" y="1314450"/>
            <a:chExt cx="1371600" cy="1726882"/>
          </a:xfrm>
        </p:grpSpPr>
        <p:sp>
          <p:nvSpPr>
            <p:cNvPr id="42" name="Ellipse 42"/>
            <p:cNvSpPr/>
            <p:nvPr/>
          </p:nvSpPr>
          <p:spPr>
            <a:xfrm>
              <a:off x="7600950" y="1314450"/>
              <a:ext cx="1371600" cy="1371600"/>
            </a:xfrm>
            <a:prstGeom prst="ellipse">
              <a:avLst/>
            </a:prstGeom>
            <a:solidFill>
              <a:srgbClr val="FFFFFF"/>
            </a:solidFill>
            <a:ln w="28575">
              <a:solidFill>
                <a:srgbClr val="A3381F"/>
              </a:solidFill>
            </a:ln>
          </p:spPr>
        </p:sp>
        <p:sp>
          <p:nvSpPr>
            <p:cNvPr id="43" name="Ellipse 43"/>
            <p:cNvSpPr/>
            <p:nvPr/>
          </p:nvSpPr>
          <p:spPr>
            <a:xfrm>
              <a:off x="7686675" y="1400175"/>
              <a:ext cx="1200150" cy="1200150"/>
            </a:xfrm>
            <a:prstGeom prst="ellipse">
              <a:avLst/>
            </a:prstGeom>
            <a:noFill/>
            <a:ln w="9525">
              <a:solidFill>
                <a:srgbClr val="E4B4AC"/>
              </a:solidFill>
            </a:ln>
          </p:spPr>
        </p:sp>
        <p:grpSp>
          <p:nvGrpSpPr>
            <p:cNvPr id="46" name="Group 46"/>
            <p:cNvGrpSpPr/>
            <p:nvPr/>
          </p:nvGrpSpPr>
          <p:grpSpPr>
            <a:xfrm>
              <a:off x="8159383" y="1520458"/>
              <a:ext cx="254736" cy="254736"/>
              <a:chOff x="8159383" y="1520458"/>
              <a:chExt cx="254736" cy="254736"/>
            </a:xfrm>
          </p:grpSpPr>
          <p:sp>
            <p:nvSpPr>
              <p:cNvPr id="44" name="Freeform 44"/>
              <p:cNvSpPr/>
              <p:nvPr/>
            </p:nvSpPr>
            <p:spPr>
              <a:xfrm>
                <a:off x="8159383" y="1520458"/>
                <a:ext cx="254736" cy="254736"/>
              </a:xfrm>
              <a:custGeom>
                <a:avLst/>
                <a:gdLst/>
                <a:ahLst/>
                <a:cxnLst/>
                <a:rect l="l" t="t" r="r" b="b"/>
                <a:pathLst>
                  <a:path w="254736" h="254736">
                    <a:moveTo>
                      <a:pt x="104766" y="23695"/>
                    </a:moveTo>
                    <a:cubicBezTo>
                      <a:pt x="110514" y="0"/>
                      <a:pt x="144222" y="0"/>
                      <a:pt x="149970" y="23695"/>
                    </a:cubicBezTo>
                    <a:cubicBezTo>
                      <a:pt x="151719" y="30915"/>
                      <a:pt x="156812" y="36865"/>
                      <a:pt x="163675" y="39709"/>
                    </a:cubicBezTo>
                    <a:cubicBezTo>
                      <a:pt x="170538" y="42552"/>
                      <a:pt x="178347" y="41947"/>
                      <a:pt x="184689" y="38079"/>
                    </a:cubicBezTo>
                    <a:cubicBezTo>
                      <a:pt x="205510" y="25395"/>
                      <a:pt x="229354" y="49225"/>
                      <a:pt x="216670" y="70060"/>
                    </a:cubicBezTo>
                    <a:cubicBezTo>
                      <a:pt x="212808" y="76400"/>
                      <a:pt x="212204" y="84202"/>
                      <a:pt x="215044" y="91061"/>
                    </a:cubicBezTo>
                    <a:cubicBezTo>
                      <a:pt x="217884" y="97920"/>
                      <a:pt x="223827" y="103012"/>
                      <a:pt x="231041" y="104766"/>
                    </a:cubicBezTo>
                    <a:cubicBezTo>
                      <a:pt x="254736" y="110514"/>
                      <a:pt x="254736" y="144222"/>
                      <a:pt x="231041" y="149970"/>
                    </a:cubicBezTo>
                    <a:cubicBezTo>
                      <a:pt x="223821" y="151719"/>
                      <a:pt x="217870" y="156812"/>
                      <a:pt x="215027" y="163675"/>
                    </a:cubicBezTo>
                    <a:cubicBezTo>
                      <a:pt x="212183" y="170538"/>
                      <a:pt x="212789" y="178347"/>
                      <a:pt x="216656" y="184689"/>
                    </a:cubicBezTo>
                    <a:cubicBezTo>
                      <a:pt x="229340" y="205510"/>
                      <a:pt x="205510" y="229354"/>
                      <a:pt x="184676" y="216670"/>
                    </a:cubicBezTo>
                    <a:cubicBezTo>
                      <a:pt x="178336" y="212808"/>
                      <a:pt x="170533" y="212204"/>
                      <a:pt x="163674" y="215044"/>
                    </a:cubicBezTo>
                    <a:cubicBezTo>
                      <a:pt x="156816" y="217884"/>
                      <a:pt x="151724" y="223827"/>
                      <a:pt x="149970" y="231041"/>
                    </a:cubicBezTo>
                    <a:cubicBezTo>
                      <a:pt x="144222" y="254736"/>
                      <a:pt x="110514" y="254736"/>
                      <a:pt x="104766" y="231041"/>
                    </a:cubicBezTo>
                    <a:cubicBezTo>
                      <a:pt x="103016" y="223821"/>
                      <a:pt x="97924" y="217870"/>
                      <a:pt x="91061" y="215027"/>
                    </a:cubicBezTo>
                    <a:cubicBezTo>
                      <a:pt x="84198" y="212183"/>
                      <a:pt x="76389" y="212789"/>
                      <a:pt x="70046" y="216656"/>
                    </a:cubicBezTo>
                    <a:cubicBezTo>
                      <a:pt x="49225" y="229340"/>
                      <a:pt x="25382" y="205510"/>
                      <a:pt x="38066" y="184676"/>
                    </a:cubicBezTo>
                    <a:cubicBezTo>
                      <a:pt x="41928" y="178336"/>
                      <a:pt x="42532" y="170533"/>
                      <a:pt x="39692" y="163674"/>
                    </a:cubicBezTo>
                    <a:cubicBezTo>
                      <a:pt x="36852" y="156816"/>
                      <a:pt x="30908" y="151724"/>
                      <a:pt x="23695" y="149970"/>
                    </a:cubicBezTo>
                    <a:cubicBezTo>
                      <a:pt x="0" y="144222"/>
                      <a:pt x="0" y="110514"/>
                      <a:pt x="23695" y="104766"/>
                    </a:cubicBezTo>
                    <a:cubicBezTo>
                      <a:pt x="30915" y="103016"/>
                      <a:pt x="36865" y="97924"/>
                      <a:pt x="39709" y="91061"/>
                    </a:cubicBezTo>
                    <a:cubicBezTo>
                      <a:pt x="42552" y="84198"/>
                      <a:pt x="41947" y="76389"/>
                      <a:pt x="38079" y="70046"/>
                    </a:cubicBezTo>
                    <a:cubicBezTo>
                      <a:pt x="25395" y="49225"/>
                      <a:pt x="49225" y="25382"/>
                      <a:pt x="70060" y="38066"/>
                    </a:cubicBezTo>
                    <a:cubicBezTo>
                      <a:pt x="83553" y="46270"/>
                      <a:pt x="101041" y="39011"/>
                      <a:pt x="104766" y="23695"/>
                    </a:cubicBezTo>
                  </a:path>
                </a:pathLst>
              </a:custGeom>
              <a:noFill/>
              <a:ln w="26988">
                <a:solidFill>
                  <a:srgbClr val="A3381F"/>
                </a:solidFill>
              </a:ln>
            </p:spPr>
          </p:sp>
          <p:sp>
            <p:nvSpPr>
              <p:cNvPr id="45" name="Freeform 45"/>
              <p:cNvSpPr/>
              <p:nvPr/>
            </p:nvSpPr>
            <p:spPr>
              <a:xfrm>
                <a:off x="8246269" y="1607344"/>
                <a:ext cx="80963" cy="80963"/>
              </a:xfrm>
              <a:custGeom>
                <a:avLst/>
                <a:gdLst/>
                <a:ahLst/>
                <a:cxnLst/>
                <a:rect l="l" t="t" r="r" b="b"/>
                <a:pathLst>
                  <a:path w="80963" h="80963">
                    <a:moveTo>
                      <a:pt x="0" y="40481"/>
                    </a:moveTo>
                    <a:cubicBezTo>
                      <a:pt x="0" y="62839"/>
                      <a:pt x="18124" y="80963"/>
                      <a:pt x="40481" y="80963"/>
                    </a:cubicBezTo>
                    <a:cubicBezTo>
                      <a:pt x="62839" y="80963"/>
                      <a:pt x="80963" y="62839"/>
                      <a:pt x="80963" y="40481"/>
                    </a:cubicBezTo>
                    <a:cubicBezTo>
                      <a:pt x="80963" y="18124"/>
                      <a:pt x="62839" y="0"/>
                      <a:pt x="40481" y="0"/>
                    </a:cubicBezTo>
                    <a:cubicBezTo>
                      <a:pt x="18124" y="0"/>
                      <a:pt x="0" y="18124"/>
                      <a:pt x="0" y="40481"/>
                    </a:cubicBezTo>
                  </a:path>
                </a:pathLst>
              </a:custGeom>
              <a:noFill/>
              <a:ln w="26988">
                <a:solidFill>
                  <a:srgbClr val="A3381F"/>
                </a:solidFill>
              </a:ln>
            </p:spPr>
          </p:sp>
        </p:grpSp>
        <p:sp>
          <p:nvSpPr>
            <p:cNvPr id="47" name="TextBox 47"/>
            <p:cNvSpPr txBox="1"/>
            <p:nvPr/>
          </p:nvSpPr>
          <p:spPr>
            <a:xfrm>
              <a:off x="7828712" y="2050256"/>
              <a:ext cx="916076" cy="220028"/>
            </a:xfrm>
            <a:prstGeom prst="rect">
              <a:avLst/>
            </a:prstGeom>
            <a:noFill/>
            <a:ln>
              <a:noFill/>
            </a:ln>
          </p:spPr>
          <p:txBody>
            <a:bodyPr wrap="none" lIns="0" tIns="0" rIns="0" bIns="0" anchor="t" anchorCtr="0">
              <a:spAutoFit/>
            </a:bodyPr>
            <a:lstStyle/>
            <a:p>
              <a:pPr algn="ctr"/>
              <a:r>
                <a:rPr lang="zh-CN" sz="1120" b="1" dirty="0">
                  <a:solidFill>
                    <a:srgbClr val="5E3A33"/>
                  </a:solidFill>
                  <a:latin typeface="+mn-lt"/>
                  <a:ea typeface="+mn-ea"/>
                  <a:cs typeface="+mn-cs"/>
                </a:rPr>
                <a:t>统一维护机制</a:t>
              </a:r>
            </a:p>
          </p:txBody>
        </p:sp>
        <p:sp>
          <p:nvSpPr>
            <p:cNvPr id="48" name="Ellipse 48"/>
            <p:cNvSpPr/>
            <p:nvPr/>
          </p:nvSpPr>
          <p:spPr>
            <a:xfrm>
              <a:off x="8162925" y="2790825"/>
              <a:ext cx="247650" cy="247650"/>
            </a:xfrm>
            <a:prstGeom prst="ellipse">
              <a:avLst/>
            </a:prstGeom>
            <a:solidFill>
              <a:srgbClr val="A3381F"/>
            </a:solidFill>
            <a:ln>
              <a:noFill/>
            </a:ln>
          </p:spPr>
        </p:sp>
        <p:sp>
          <p:nvSpPr>
            <p:cNvPr id="49" name="TextBox 49"/>
            <p:cNvSpPr txBox="1"/>
            <p:nvPr/>
          </p:nvSpPr>
          <p:spPr>
            <a:xfrm>
              <a:off x="8212019" y="28651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04</a:t>
              </a:r>
            </a:p>
          </p:txBody>
        </p:sp>
      </p:grpSp>
      <p:sp>
        <p:nvSpPr>
          <p:cNvPr id="51" name="Freeform 51"/>
          <p:cNvSpPr/>
          <p:nvPr/>
        </p:nvSpPr>
        <p:spPr>
          <a:xfrm>
            <a:off x="9029700" y="1866900"/>
            <a:ext cx="685800" cy="266700"/>
          </a:xfrm>
          <a:prstGeom prst="rightArrow">
            <a:avLst/>
          </a:prstGeom>
          <a:solidFill>
            <a:srgbClr val="A3381F"/>
          </a:solidFill>
          <a:ln>
            <a:noFill/>
          </a:ln>
        </p:spPr>
      </p:sp>
      <p:grpSp>
        <p:nvGrpSpPr>
          <p:cNvPr id="61" name="ring-5"/>
          <p:cNvGrpSpPr/>
          <p:nvPr/>
        </p:nvGrpSpPr>
        <p:grpSpPr>
          <a:xfrm>
            <a:off x="9839325" y="1314450"/>
            <a:ext cx="1371600" cy="1726882"/>
            <a:chOff x="9839325" y="1314450"/>
            <a:chExt cx="1371600" cy="1726882"/>
          </a:xfrm>
        </p:grpSpPr>
        <p:sp>
          <p:nvSpPr>
            <p:cNvPr id="52" name="Ellipse 52"/>
            <p:cNvSpPr/>
            <p:nvPr/>
          </p:nvSpPr>
          <p:spPr>
            <a:xfrm>
              <a:off x="9839325" y="1314450"/>
              <a:ext cx="1371600" cy="1371600"/>
            </a:xfrm>
            <a:prstGeom prst="ellipse">
              <a:avLst/>
            </a:prstGeom>
            <a:solidFill>
              <a:srgbClr val="FFFFFF"/>
            </a:solidFill>
            <a:ln w="28575">
              <a:solidFill>
                <a:srgbClr val="A3381F"/>
              </a:solidFill>
            </a:ln>
          </p:spPr>
        </p:sp>
        <p:sp>
          <p:nvSpPr>
            <p:cNvPr id="53" name="Ellipse 53"/>
            <p:cNvSpPr/>
            <p:nvPr/>
          </p:nvSpPr>
          <p:spPr>
            <a:xfrm>
              <a:off x="9925050" y="1400175"/>
              <a:ext cx="1200150" cy="1200150"/>
            </a:xfrm>
            <a:prstGeom prst="ellipse">
              <a:avLst/>
            </a:prstGeom>
            <a:noFill/>
            <a:ln w="9525">
              <a:solidFill>
                <a:srgbClr val="E4B4AC"/>
              </a:solidFill>
            </a:ln>
          </p:spPr>
        </p:sp>
        <p:grpSp>
          <p:nvGrpSpPr>
            <p:cNvPr id="57" name="Group 57"/>
            <p:cNvGrpSpPr/>
            <p:nvPr/>
          </p:nvGrpSpPr>
          <p:grpSpPr>
            <a:xfrm>
              <a:off x="10409106" y="1526381"/>
              <a:ext cx="232012" cy="241404"/>
              <a:chOff x="10409106" y="1526381"/>
              <a:chExt cx="232012" cy="241404"/>
            </a:xfrm>
          </p:grpSpPr>
          <p:sp>
            <p:nvSpPr>
              <p:cNvPr id="54" name="Freeform 54"/>
              <p:cNvSpPr/>
              <p:nvPr/>
            </p:nvSpPr>
            <p:spPr>
              <a:xfrm>
                <a:off x="10444163" y="1526381"/>
                <a:ext cx="161925" cy="161925"/>
              </a:xfrm>
              <a:custGeom>
                <a:avLst/>
                <a:gdLst/>
                <a:ahLst/>
                <a:cxnLst/>
                <a:rect l="l" t="t" r="r" b="b"/>
                <a:pathLst>
                  <a:path w="161925" h="161925">
                    <a:moveTo>
                      <a:pt x="0" y="80963"/>
                    </a:moveTo>
                    <a:cubicBezTo>
                      <a:pt x="0" y="125677"/>
                      <a:pt x="36248" y="161925"/>
                      <a:pt x="80963" y="161925"/>
                    </a:cubicBezTo>
                    <a:cubicBezTo>
                      <a:pt x="125677" y="161925"/>
                      <a:pt x="161925" y="125677"/>
                      <a:pt x="161925" y="80963"/>
                    </a:cubicBezTo>
                    <a:cubicBezTo>
                      <a:pt x="161925" y="36248"/>
                      <a:pt x="125677" y="0"/>
                      <a:pt x="80963" y="0"/>
                    </a:cubicBezTo>
                    <a:cubicBezTo>
                      <a:pt x="36248" y="0"/>
                      <a:pt x="0" y="36248"/>
                      <a:pt x="0" y="80963"/>
                    </a:cubicBezTo>
                  </a:path>
                </a:pathLst>
              </a:custGeom>
              <a:noFill/>
              <a:ln w="26988">
                <a:solidFill>
                  <a:srgbClr val="A3381F"/>
                </a:solidFill>
              </a:ln>
            </p:spPr>
          </p:sp>
          <p:sp>
            <p:nvSpPr>
              <p:cNvPr id="55" name="Freeform 55"/>
              <p:cNvSpPr/>
              <p:nvPr/>
            </p:nvSpPr>
            <p:spPr>
              <a:xfrm>
                <a:off x="10525125" y="1647825"/>
                <a:ext cx="115993" cy="119960"/>
              </a:xfrm>
              <a:custGeom>
                <a:avLst/>
                <a:gdLst/>
                <a:ahLst/>
                <a:cxnLst/>
                <a:rect l="l" t="t" r="r" b="b"/>
                <a:pathLst>
                  <a:path w="115993" h="119960">
                    <a:moveTo>
                      <a:pt x="0" y="40481"/>
                    </a:moveTo>
                    <a:lnTo>
                      <a:pt x="45879" y="119960"/>
                    </a:lnTo>
                    <a:lnTo>
                      <a:pt x="67442" y="76334"/>
                    </a:lnTo>
                    <a:lnTo>
                      <a:pt x="115993" y="79465"/>
                    </a:lnTo>
                    <a:lnTo>
                      <a:pt x="70114" y="0"/>
                    </a:lnTo>
                  </a:path>
                </a:pathLst>
              </a:custGeom>
              <a:noFill/>
              <a:ln w="26988">
                <a:solidFill>
                  <a:srgbClr val="A3381F"/>
                </a:solidFill>
              </a:ln>
            </p:spPr>
          </p:sp>
          <p:sp>
            <p:nvSpPr>
              <p:cNvPr id="56" name="Freeform 56"/>
              <p:cNvSpPr/>
              <p:nvPr/>
            </p:nvSpPr>
            <p:spPr>
              <a:xfrm>
                <a:off x="10409106" y="1647825"/>
                <a:ext cx="115993" cy="119946"/>
              </a:xfrm>
              <a:custGeom>
                <a:avLst/>
                <a:gdLst/>
                <a:ahLst/>
                <a:cxnLst/>
                <a:rect l="l" t="t" r="r" b="b"/>
                <a:pathLst>
                  <a:path w="115993" h="119946">
                    <a:moveTo>
                      <a:pt x="45879" y="0"/>
                    </a:moveTo>
                    <a:lnTo>
                      <a:pt x="0" y="79478"/>
                    </a:lnTo>
                    <a:lnTo>
                      <a:pt x="48551" y="76334"/>
                    </a:lnTo>
                    <a:lnTo>
                      <a:pt x="70114" y="119946"/>
                    </a:lnTo>
                    <a:lnTo>
                      <a:pt x="115993" y="40481"/>
                    </a:lnTo>
                  </a:path>
                </a:pathLst>
              </a:custGeom>
              <a:noFill/>
              <a:ln w="26988">
                <a:solidFill>
                  <a:srgbClr val="A3381F"/>
                </a:solidFill>
              </a:ln>
            </p:spPr>
          </p:sp>
        </p:grpSp>
        <p:sp>
          <p:nvSpPr>
            <p:cNvPr id="58" name="TextBox 58"/>
            <p:cNvSpPr txBox="1"/>
            <p:nvPr/>
          </p:nvSpPr>
          <p:spPr>
            <a:xfrm>
              <a:off x="10067087" y="2050256"/>
              <a:ext cx="916076" cy="220028"/>
            </a:xfrm>
            <a:prstGeom prst="rect">
              <a:avLst/>
            </a:prstGeom>
            <a:noFill/>
            <a:ln>
              <a:noFill/>
            </a:ln>
          </p:spPr>
          <p:txBody>
            <a:bodyPr wrap="none" lIns="0" tIns="0" rIns="0" bIns="0" anchor="t" anchorCtr="0">
              <a:spAutoFit/>
            </a:bodyPr>
            <a:lstStyle/>
            <a:p>
              <a:pPr algn="ctr"/>
              <a:r>
                <a:rPr lang="zh-CN" sz="1120" b="1" dirty="0">
                  <a:solidFill>
                    <a:srgbClr val="5E3A33"/>
                  </a:solidFill>
                  <a:latin typeface="+mn-lt"/>
                  <a:ea typeface="+mn-ea"/>
                  <a:cs typeface="+mn-cs"/>
                </a:rPr>
                <a:t>统一权益平台</a:t>
              </a:r>
            </a:p>
          </p:txBody>
        </p:sp>
        <p:sp>
          <p:nvSpPr>
            <p:cNvPr id="59" name="Ellipse 59"/>
            <p:cNvSpPr/>
            <p:nvPr/>
          </p:nvSpPr>
          <p:spPr>
            <a:xfrm>
              <a:off x="10401300" y="2790825"/>
              <a:ext cx="247650" cy="247650"/>
            </a:xfrm>
            <a:prstGeom prst="ellipse">
              <a:avLst/>
            </a:prstGeom>
            <a:solidFill>
              <a:srgbClr val="A3381F"/>
            </a:solidFill>
            <a:ln>
              <a:noFill/>
            </a:ln>
          </p:spPr>
        </p:sp>
        <p:sp>
          <p:nvSpPr>
            <p:cNvPr id="60" name="TextBox 60"/>
            <p:cNvSpPr txBox="1"/>
            <p:nvPr/>
          </p:nvSpPr>
          <p:spPr>
            <a:xfrm>
              <a:off x="10450394" y="28651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05</a:t>
              </a:r>
            </a:p>
          </p:txBody>
        </p:sp>
      </p:grpSp>
      <p:grpSp>
        <p:nvGrpSpPr>
          <p:cNvPr id="67" name="unity-banner"/>
          <p:cNvGrpSpPr/>
          <p:nvPr/>
        </p:nvGrpSpPr>
        <p:grpSpPr>
          <a:xfrm>
            <a:off x="3524250" y="3124200"/>
            <a:ext cx="5143500" cy="419100"/>
            <a:chOff x="3524250" y="3124200"/>
            <a:chExt cx="5143500" cy="419100"/>
          </a:xfrm>
        </p:grpSpPr>
        <p:sp>
          <p:nvSpPr>
            <p:cNvPr id="62" name="Rectangle 62"/>
            <p:cNvSpPr/>
            <p:nvPr/>
          </p:nvSpPr>
          <p:spPr>
            <a:xfrm>
              <a:off x="3524250" y="3124200"/>
              <a:ext cx="5143500" cy="419100"/>
            </a:xfrm>
            <a:prstGeom prst="roundRect">
              <a:avLst>
                <a:gd name="adj" fmla="val 50000"/>
              </a:avLst>
            </a:prstGeom>
            <a:gradFill>
              <a:gsLst>
                <a:gs pos="0">
                  <a:srgbClr val="A3381F"/>
                </a:gs>
                <a:gs pos="100000">
                  <a:srgbClr val="C85E46"/>
                </a:gs>
              </a:gsLst>
              <a:lin ang="0" scaled="1"/>
            </a:gradFill>
            <a:ln>
              <a:noFill/>
            </a:ln>
          </p:spPr>
        </p:sp>
        <p:grpSp>
          <p:nvGrpSpPr>
            <p:cNvPr id="65" name="Group 65"/>
            <p:cNvGrpSpPr/>
            <p:nvPr/>
          </p:nvGrpSpPr>
          <p:grpSpPr>
            <a:xfrm>
              <a:off x="3806825" y="3260531"/>
              <a:ext cx="139700" cy="146438"/>
              <a:chOff x="3806825" y="3260531"/>
              <a:chExt cx="139700" cy="146438"/>
            </a:xfrm>
          </p:grpSpPr>
          <p:sp>
            <p:nvSpPr>
              <p:cNvPr id="63" name="Freeform 63"/>
              <p:cNvSpPr/>
              <p:nvPr/>
            </p:nvSpPr>
            <p:spPr>
              <a:xfrm>
                <a:off x="3806825" y="3260531"/>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FFFFFF"/>
                </a:solidFill>
              </a:ln>
            </p:spPr>
          </p:sp>
          <p:sp>
            <p:nvSpPr>
              <p:cNvPr id="64" name="Freeform 64"/>
              <p:cNvSpPr/>
              <p:nvPr/>
            </p:nvSpPr>
            <p:spPr>
              <a:xfrm>
                <a:off x="3806825" y="3342481"/>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FFFFFF"/>
                </a:solidFill>
              </a:ln>
            </p:spPr>
          </p:sp>
        </p:grpSp>
        <p:sp>
          <p:nvSpPr>
            <p:cNvPr id="66" name="TextBox 66"/>
            <p:cNvSpPr txBox="1"/>
            <p:nvPr/>
          </p:nvSpPr>
          <p:spPr>
            <a:xfrm>
              <a:off x="4452544" y="3262789"/>
              <a:ext cx="3286912"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五位一体　闭环运营　持续迭代　价值提升</a:t>
              </a:r>
            </a:p>
          </p:txBody>
        </p:sp>
      </p:grpSp>
      <p:grpSp>
        <p:nvGrpSpPr>
          <p:cNvPr id="102" name="goal-card-1"/>
          <p:cNvGrpSpPr/>
          <p:nvPr/>
        </p:nvGrpSpPr>
        <p:grpSpPr>
          <a:xfrm>
            <a:off x="381000" y="3810000"/>
            <a:ext cx="3714750" cy="2305050"/>
            <a:chOff x="381000" y="3810000"/>
            <a:chExt cx="3714750" cy="2305050"/>
          </a:xfrm>
        </p:grpSpPr>
        <p:sp>
          <p:nvSpPr>
            <p:cNvPr id="68" name="Rectangle 68"/>
            <p:cNvSpPr/>
            <p:nvPr/>
          </p:nvSpPr>
          <p:spPr>
            <a:xfrm>
              <a:off x="381000" y="3810000"/>
              <a:ext cx="3714750" cy="2305050"/>
            </a:xfrm>
            <a:prstGeom prst="roundRect">
              <a:avLst>
                <a:gd name="adj" fmla="val 4959"/>
              </a:avLst>
            </a:prstGeom>
            <a:solidFill>
              <a:srgbClr val="FFFFFF"/>
            </a:solidFill>
            <a:ln w="9525">
              <a:solidFill>
                <a:srgbClr val="E6D9C0"/>
              </a:solidFill>
            </a:ln>
          </p:spPr>
        </p:sp>
        <p:sp>
          <p:nvSpPr>
            <p:cNvPr id="69" name="Rectangle 69"/>
            <p:cNvSpPr/>
            <p:nvPr/>
          </p:nvSpPr>
          <p:spPr>
            <a:xfrm>
              <a:off x="914400" y="4000500"/>
              <a:ext cx="285750" cy="285750"/>
            </a:xfrm>
            <a:prstGeom prst="roundRect">
              <a:avLst>
                <a:gd name="adj" fmla="val 23333"/>
              </a:avLst>
            </a:prstGeom>
            <a:solidFill>
              <a:srgbClr val="C26D5E"/>
            </a:solidFill>
            <a:ln>
              <a:noFill/>
            </a:ln>
          </p:spPr>
        </p:sp>
        <p:grpSp>
          <p:nvGrpSpPr>
            <p:cNvPr id="73" name="Group 73"/>
            <p:cNvGrpSpPr/>
            <p:nvPr/>
          </p:nvGrpSpPr>
          <p:grpSpPr>
            <a:xfrm>
              <a:off x="992981" y="4079081"/>
              <a:ext cx="128588" cy="128588"/>
              <a:chOff x="992981" y="4079081"/>
              <a:chExt cx="128588" cy="128588"/>
            </a:xfrm>
          </p:grpSpPr>
          <p:sp>
            <p:nvSpPr>
              <p:cNvPr id="70" name="Freeform 70"/>
              <p:cNvSpPr/>
              <p:nvPr/>
            </p:nvSpPr>
            <p:spPr>
              <a:xfrm>
                <a:off x="1050131" y="41362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71" name="Freeform 71"/>
              <p:cNvSpPr/>
              <p:nvPr/>
            </p:nvSpPr>
            <p:spPr>
              <a:xfrm>
                <a:off x="1021556" y="410765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72" name="Freeform 72"/>
              <p:cNvSpPr/>
              <p:nvPr/>
            </p:nvSpPr>
            <p:spPr>
              <a:xfrm>
                <a:off x="992981" y="40790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74" name="TextBox 74"/>
            <p:cNvSpPr txBox="1"/>
            <p:nvPr/>
          </p:nvSpPr>
          <p:spPr>
            <a:xfrm>
              <a:off x="1346073" y="4081939"/>
              <a:ext cx="702208" cy="249364"/>
            </a:xfrm>
            <a:prstGeom prst="rect">
              <a:avLst/>
            </a:prstGeom>
            <a:noFill/>
            <a:ln>
              <a:noFill/>
            </a:ln>
          </p:spPr>
          <p:txBody>
            <a:bodyPr wrap="none" lIns="0" tIns="0" rIns="0" bIns="0" anchor="t" anchorCtr="0">
              <a:spAutoFit/>
            </a:bodyPr>
            <a:lstStyle/>
            <a:p>
              <a:pPr algn="l"/>
              <a:r>
                <a:rPr lang="zh-CN" sz="1280" b="1" dirty="0">
                  <a:solidFill>
                    <a:srgbClr val="A3381F"/>
                  </a:solidFill>
                  <a:latin typeface="+mn-lt"/>
                  <a:ea typeface="+mn-ea"/>
                  <a:cs typeface="+mn-cs"/>
                </a:rPr>
                <a:t>经营目标</a:t>
              </a:r>
            </a:p>
          </p:txBody>
        </p:sp>
        <p:sp>
          <p:nvSpPr>
            <p:cNvPr id="75" name="Line 75"/>
            <p:cNvSpPr/>
            <p:nvPr/>
          </p:nvSpPr>
          <p:spPr>
            <a:xfrm>
              <a:off x="762000" y="4400550"/>
              <a:ext cx="2952750" cy="9525"/>
            </a:xfrm>
            <a:custGeom>
              <a:avLst/>
              <a:gdLst/>
              <a:ahLst/>
              <a:cxnLst/>
              <a:rect l="l" t="t" r="r" b="b"/>
              <a:pathLst>
                <a:path w="2952750" h="9525">
                  <a:moveTo>
                    <a:pt x="0" y="0"/>
                  </a:moveTo>
                  <a:lnTo>
                    <a:pt x="2952750" y="0"/>
                  </a:lnTo>
                </a:path>
              </a:pathLst>
            </a:custGeom>
            <a:noFill/>
            <a:ln w="9525">
              <a:solidFill>
                <a:srgbClr val="E6D9C0"/>
              </a:solidFill>
            </a:ln>
          </p:spPr>
        </p:sp>
        <p:sp>
          <p:nvSpPr>
            <p:cNvPr id="76" name="Ellipse 76"/>
            <p:cNvSpPr/>
            <p:nvPr/>
          </p:nvSpPr>
          <p:spPr>
            <a:xfrm>
              <a:off x="609600" y="4714875"/>
              <a:ext cx="476250" cy="476250"/>
            </a:xfrm>
            <a:prstGeom prst="ellipse">
              <a:avLst/>
            </a:prstGeom>
            <a:solidFill>
              <a:srgbClr val="F9EFEA"/>
            </a:solidFill>
            <a:ln>
              <a:noFill/>
            </a:ln>
          </p:spPr>
        </p:sp>
        <p:grpSp>
          <p:nvGrpSpPr>
            <p:cNvPr id="79" name="Group 79"/>
            <p:cNvGrpSpPr/>
            <p:nvPr/>
          </p:nvGrpSpPr>
          <p:grpSpPr>
            <a:xfrm>
              <a:off x="771525" y="4895850"/>
              <a:ext cx="152400" cy="133350"/>
              <a:chOff x="771525" y="4895850"/>
              <a:chExt cx="152400" cy="133350"/>
            </a:xfrm>
          </p:grpSpPr>
          <p:sp>
            <p:nvSpPr>
              <p:cNvPr id="77" name="Freeform 77"/>
              <p:cNvSpPr/>
              <p:nvPr/>
            </p:nvSpPr>
            <p:spPr>
              <a:xfrm>
                <a:off x="771525" y="5019675"/>
                <a:ext cx="152400" cy="9525"/>
              </a:xfrm>
              <a:custGeom>
                <a:avLst/>
                <a:gdLst/>
                <a:ahLst/>
                <a:cxnLst/>
                <a:rect l="l" t="t" r="r" b="b"/>
                <a:pathLst>
                  <a:path w="152400" h="9525">
                    <a:moveTo>
                      <a:pt x="0" y="0"/>
                    </a:moveTo>
                    <a:lnTo>
                      <a:pt x="152400" y="0"/>
                    </a:lnTo>
                  </a:path>
                </a:pathLst>
              </a:custGeom>
              <a:noFill/>
              <a:ln w="19050">
                <a:solidFill>
                  <a:srgbClr val="A3381F"/>
                </a:solidFill>
              </a:ln>
            </p:spPr>
          </p:sp>
          <p:sp>
            <p:nvSpPr>
              <p:cNvPr id="78" name="Freeform 78"/>
              <p:cNvSpPr/>
              <p:nvPr/>
            </p:nvSpPr>
            <p:spPr>
              <a:xfrm>
                <a:off x="771525" y="48958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A3381F"/>
                </a:solidFill>
              </a:ln>
            </p:spPr>
          </p:sp>
        </p:grpSp>
        <p:sp>
          <p:nvSpPr>
            <p:cNvPr id="80" name="TextBox 80"/>
            <p:cNvSpPr txBox="1"/>
            <p:nvPr/>
          </p:nvSpPr>
          <p:spPr>
            <a:xfrm>
              <a:off x="526606" y="5347097"/>
              <a:ext cx="642239"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识别高价值</a:t>
              </a:r>
            </a:p>
          </p:txBody>
        </p:sp>
        <p:sp>
          <p:nvSpPr>
            <p:cNvPr id="81" name="Ellipse 81"/>
            <p:cNvSpPr/>
            <p:nvPr/>
          </p:nvSpPr>
          <p:spPr>
            <a:xfrm>
              <a:off x="1533525" y="4714875"/>
              <a:ext cx="476250" cy="476250"/>
            </a:xfrm>
            <a:prstGeom prst="ellipse">
              <a:avLst/>
            </a:prstGeom>
            <a:solidFill>
              <a:srgbClr val="F9EFEA"/>
            </a:solidFill>
            <a:ln>
              <a:noFill/>
            </a:ln>
          </p:spPr>
        </p:sp>
        <p:grpSp>
          <p:nvGrpSpPr>
            <p:cNvPr id="85" name="Group 85"/>
            <p:cNvGrpSpPr/>
            <p:nvPr/>
          </p:nvGrpSpPr>
          <p:grpSpPr>
            <a:xfrm>
              <a:off x="1685925" y="4867275"/>
              <a:ext cx="171450" cy="171450"/>
              <a:chOff x="1685925" y="4867275"/>
              <a:chExt cx="171450" cy="171450"/>
            </a:xfrm>
          </p:grpSpPr>
          <p:sp>
            <p:nvSpPr>
              <p:cNvPr id="82" name="Freeform 82"/>
              <p:cNvSpPr/>
              <p:nvPr/>
            </p:nvSpPr>
            <p:spPr>
              <a:xfrm>
                <a:off x="1685925" y="4867275"/>
                <a:ext cx="171450" cy="85725"/>
              </a:xfrm>
              <a:custGeom>
                <a:avLst/>
                <a:gdLst/>
                <a:ahLst/>
                <a:cxnLst/>
                <a:rect l="l" t="t" r="r" b="b"/>
                <a:pathLst>
                  <a:path w="171450" h="85725">
                    <a:moveTo>
                      <a:pt x="0" y="85725"/>
                    </a:moveTo>
                    <a:lnTo>
                      <a:pt x="9525" y="85725"/>
                    </a:lnTo>
                    <a:moveTo>
                      <a:pt x="85725" y="0"/>
                    </a:moveTo>
                    <a:lnTo>
                      <a:pt x="85725" y="9525"/>
                    </a:lnTo>
                    <a:moveTo>
                      <a:pt x="161925" y="85725"/>
                    </a:moveTo>
                    <a:lnTo>
                      <a:pt x="171450" y="85725"/>
                    </a:lnTo>
                    <a:moveTo>
                      <a:pt x="24765" y="24765"/>
                    </a:moveTo>
                    <a:lnTo>
                      <a:pt x="31433" y="31432"/>
                    </a:lnTo>
                    <a:moveTo>
                      <a:pt x="146685" y="24765"/>
                    </a:moveTo>
                    <a:lnTo>
                      <a:pt x="140017" y="31432"/>
                    </a:lnTo>
                  </a:path>
                </a:pathLst>
              </a:custGeom>
              <a:noFill/>
              <a:ln w="19050">
                <a:solidFill>
                  <a:srgbClr val="A3381F"/>
                </a:solidFill>
              </a:ln>
            </p:spPr>
          </p:sp>
          <p:sp>
            <p:nvSpPr>
              <p:cNvPr id="83" name="Freeform 83"/>
              <p:cNvSpPr/>
              <p:nvPr/>
            </p:nvSpPr>
            <p:spPr>
              <a:xfrm>
                <a:off x="1719987" y="4905375"/>
                <a:ext cx="103327" cy="133350"/>
              </a:xfrm>
              <a:custGeom>
                <a:avLst/>
                <a:gdLst/>
                <a:ahLst/>
                <a:cxnLst/>
                <a:rect l="l" t="t" r="r" b="b"/>
                <a:pathLst>
                  <a:path w="103327" h="133350">
                    <a:moveTo>
                      <a:pt x="23088" y="85725"/>
                    </a:moveTo>
                    <a:cubicBezTo>
                      <a:pt x="6689" y="73425"/>
                      <a:pt x="0" y="52012"/>
                      <a:pt x="6482" y="32565"/>
                    </a:cubicBezTo>
                    <a:cubicBezTo>
                      <a:pt x="12965" y="13117"/>
                      <a:pt x="31164" y="0"/>
                      <a:pt x="51663" y="0"/>
                    </a:cubicBezTo>
                    <a:cubicBezTo>
                      <a:pt x="72163" y="0"/>
                      <a:pt x="90362" y="13117"/>
                      <a:pt x="96845" y="32565"/>
                    </a:cubicBezTo>
                    <a:cubicBezTo>
                      <a:pt x="103327" y="52012"/>
                      <a:pt x="96638" y="73425"/>
                      <a:pt x="80238" y="85725"/>
                    </a:cubicBezTo>
                    <a:cubicBezTo>
                      <a:pt x="72696" y="93191"/>
                      <a:pt x="69159" y="103802"/>
                      <a:pt x="70713" y="114300"/>
                    </a:cubicBezTo>
                    <a:cubicBezTo>
                      <a:pt x="70713" y="124821"/>
                      <a:pt x="62184" y="133350"/>
                      <a:pt x="51663" y="133350"/>
                    </a:cubicBezTo>
                    <a:cubicBezTo>
                      <a:pt x="41142" y="133350"/>
                      <a:pt x="32613" y="124821"/>
                      <a:pt x="32613" y="114300"/>
                    </a:cubicBezTo>
                    <a:cubicBezTo>
                      <a:pt x="34168" y="103802"/>
                      <a:pt x="30631" y="93191"/>
                      <a:pt x="23088" y="85725"/>
                    </a:cubicBezTo>
                  </a:path>
                </a:pathLst>
              </a:custGeom>
              <a:noFill/>
              <a:ln w="19050">
                <a:solidFill>
                  <a:srgbClr val="A3381F"/>
                </a:solidFill>
              </a:ln>
            </p:spPr>
          </p:sp>
          <p:sp>
            <p:nvSpPr>
              <p:cNvPr id="84" name="Freeform 84"/>
              <p:cNvSpPr/>
              <p:nvPr/>
            </p:nvSpPr>
            <p:spPr>
              <a:xfrm>
                <a:off x="1749742" y="5000625"/>
                <a:ext cx="43815" cy="9525"/>
              </a:xfrm>
              <a:custGeom>
                <a:avLst/>
                <a:gdLst/>
                <a:ahLst/>
                <a:cxnLst/>
                <a:rect l="l" t="t" r="r" b="b"/>
                <a:pathLst>
                  <a:path w="43815" h="9525">
                    <a:moveTo>
                      <a:pt x="0" y="0"/>
                    </a:moveTo>
                    <a:lnTo>
                      <a:pt x="43815" y="0"/>
                    </a:lnTo>
                  </a:path>
                </a:pathLst>
              </a:custGeom>
              <a:noFill/>
              <a:ln w="19050">
                <a:solidFill>
                  <a:srgbClr val="A3381F"/>
                </a:solidFill>
              </a:ln>
            </p:spPr>
          </p:sp>
        </p:grpSp>
        <p:sp>
          <p:nvSpPr>
            <p:cNvPr id="86" name="TextBox 86"/>
            <p:cNvSpPr txBox="1"/>
            <p:nvPr/>
          </p:nvSpPr>
          <p:spPr>
            <a:xfrm>
              <a:off x="1513802" y="5347097"/>
              <a:ext cx="515696"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培育潜力</a:t>
              </a:r>
            </a:p>
          </p:txBody>
        </p:sp>
        <p:sp>
          <p:nvSpPr>
            <p:cNvPr id="87" name="Ellipse 87"/>
            <p:cNvSpPr/>
            <p:nvPr/>
          </p:nvSpPr>
          <p:spPr>
            <a:xfrm>
              <a:off x="2457450" y="4714875"/>
              <a:ext cx="476250" cy="476250"/>
            </a:xfrm>
            <a:prstGeom prst="ellipse">
              <a:avLst/>
            </a:prstGeom>
            <a:solidFill>
              <a:srgbClr val="F9EFEA"/>
            </a:solidFill>
            <a:ln>
              <a:noFill/>
            </a:ln>
          </p:spPr>
        </p:sp>
        <p:grpSp>
          <p:nvGrpSpPr>
            <p:cNvPr id="94" name="Group 94"/>
            <p:cNvGrpSpPr/>
            <p:nvPr/>
          </p:nvGrpSpPr>
          <p:grpSpPr>
            <a:xfrm>
              <a:off x="2609850" y="4867275"/>
              <a:ext cx="171450" cy="171450"/>
              <a:chOff x="2609850" y="4867275"/>
              <a:chExt cx="171450" cy="171450"/>
            </a:xfrm>
          </p:grpSpPr>
          <p:sp>
            <p:nvSpPr>
              <p:cNvPr id="88" name="Freeform 88"/>
              <p:cNvSpPr/>
              <p:nvPr/>
            </p:nvSpPr>
            <p:spPr>
              <a:xfrm>
                <a:off x="2676525" y="49434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3381F"/>
                </a:solidFill>
              </a:ln>
            </p:spPr>
          </p:sp>
          <p:sp>
            <p:nvSpPr>
              <p:cNvPr id="89" name="Freeform 89"/>
              <p:cNvSpPr/>
              <p:nvPr/>
            </p:nvSpPr>
            <p:spPr>
              <a:xfrm>
                <a:off x="2657475" y="50101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A3381F"/>
                </a:solidFill>
              </a:ln>
            </p:spPr>
          </p:sp>
          <p:sp>
            <p:nvSpPr>
              <p:cNvPr id="90" name="Freeform 90"/>
              <p:cNvSpPr/>
              <p:nvPr/>
            </p:nvSpPr>
            <p:spPr>
              <a:xfrm>
                <a:off x="2724150" y="48672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3381F"/>
                </a:solidFill>
              </a:ln>
            </p:spPr>
          </p:sp>
          <p:sp>
            <p:nvSpPr>
              <p:cNvPr id="91" name="Freeform 91"/>
              <p:cNvSpPr/>
              <p:nvPr/>
            </p:nvSpPr>
            <p:spPr>
              <a:xfrm>
                <a:off x="2743200" y="49339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A3381F"/>
                </a:solidFill>
              </a:ln>
            </p:spPr>
          </p:sp>
          <p:sp>
            <p:nvSpPr>
              <p:cNvPr id="92" name="Freeform 92"/>
              <p:cNvSpPr/>
              <p:nvPr/>
            </p:nvSpPr>
            <p:spPr>
              <a:xfrm>
                <a:off x="2628900" y="48672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3381F"/>
                </a:solidFill>
              </a:ln>
            </p:spPr>
          </p:sp>
          <p:sp>
            <p:nvSpPr>
              <p:cNvPr id="93" name="Freeform 93"/>
              <p:cNvSpPr/>
              <p:nvPr/>
            </p:nvSpPr>
            <p:spPr>
              <a:xfrm>
                <a:off x="2609850" y="49339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A3381F"/>
                </a:solidFill>
              </a:ln>
            </p:spPr>
          </p:sp>
        </p:grpSp>
        <p:sp>
          <p:nvSpPr>
            <p:cNvPr id="95" name="TextBox 95"/>
            <p:cNvSpPr txBox="1"/>
            <p:nvPr/>
          </p:nvSpPr>
          <p:spPr>
            <a:xfrm>
              <a:off x="2437727" y="5347097"/>
              <a:ext cx="515696"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激活长尾</a:t>
              </a:r>
            </a:p>
          </p:txBody>
        </p:sp>
        <p:sp>
          <p:nvSpPr>
            <p:cNvPr id="96" name="Ellipse 96"/>
            <p:cNvSpPr/>
            <p:nvPr/>
          </p:nvSpPr>
          <p:spPr>
            <a:xfrm>
              <a:off x="3381375" y="4714875"/>
              <a:ext cx="476250" cy="476250"/>
            </a:xfrm>
            <a:prstGeom prst="ellipse">
              <a:avLst/>
            </a:prstGeom>
            <a:solidFill>
              <a:srgbClr val="F9EFEA"/>
            </a:solidFill>
            <a:ln>
              <a:noFill/>
            </a:ln>
          </p:spPr>
        </p:sp>
        <p:grpSp>
          <p:nvGrpSpPr>
            <p:cNvPr id="100" name="Group 100"/>
            <p:cNvGrpSpPr/>
            <p:nvPr/>
          </p:nvGrpSpPr>
          <p:grpSpPr>
            <a:xfrm>
              <a:off x="3562350" y="4867275"/>
              <a:ext cx="142875" cy="171450"/>
              <a:chOff x="3562350" y="4867275"/>
              <a:chExt cx="142875" cy="171450"/>
            </a:xfrm>
          </p:grpSpPr>
          <p:sp>
            <p:nvSpPr>
              <p:cNvPr id="97" name="Freeform 97"/>
              <p:cNvSpPr/>
              <p:nvPr/>
            </p:nvSpPr>
            <p:spPr>
              <a:xfrm>
                <a:off x="3581400" y="48672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A3381F"/>
                </a:solidFill>
              </a:ln>
            </p:spPr>
          </p:sp>
          <p:sp>
            <p:nvSpPr>
              <p:cNvPr id="98" name="Freeform 98"/>
              <p:cNvSpPr/>
              <p:nvPr/>
            </p:nvSpPr>
            <p:spPr>
              <a:xfrm>
                <a:off x="3562350" y="49815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A3381F"/>
                </a:solidFill>
              </a:ln>
            </p:spPr>
          </p:sp>
          <p:sp>
            <p:nvSpPr>
              <p:cNvPr id="99" name="Freeform 99"/>
              <p:cNvSpPr/>
              <p:nvPr/>
            </p:nvSpPr>
            <p:spPr>
              <a:xfrm>
                <a:off x="3648075" y="5000625"/>
                <a:ext cx="57150" cy="38100"/>
              </a:xfrm>
              <a:custGeom>
                <a:avLst/>
                <a:gdLst/>
                <a:ahLst/>
                <a:cxnLst/>
                <a:rect l="l" t="t" r="r" b="b"/>
                <a:pathLst>
                  <a:path w="57150" h="38100">
                    <a:moveTo>
                      <a:pt x="0" y="19050"/>
                    </a:moveTo>
                    <a:lnTo>
                      <a:pt x="19050" y="38100"/>
                    </a:lnTo>
                    <a:lnTo>
                      <a:pt x="57150" y="0"/>
                    </a:lnTo>
                  </a:path>
                </a:pathLst>
              </a:custGeom>
              <a:noFill/>
              <a:ln w="19050">
                <a:solidFill>
                  <a:srgbClr val="A3381F"/>
                </a:solidFill>
              </a:ln>
            </p:spPr>
          </p:sp>
        </p:grpSp>
        <p:sp>
          <p:nvSpPr>
            <p:cNvPr id="101" name="TextBox 101"/>
            <p:cNvSpPr txBox="1"/>
            <p:nvPr/>
          </p:nvSpPr>
          <p:spPr>
            <a:xfrm>
              <a:off x="3361652" y="5347097"/>
              <a:ext cx="515696"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挽留流失</a:t>
              </a:r>
            </a:p>
          </p:txBody>
        </p:sp>
      </p:grpSp>
      <p:grpSp>
        <p:nvGrpSpPr>
          <p:cNvPr id="142" name="goal-card-2"/>
          <p:cNvGrpSpPr/>
          <p:nvPr/>
        </p:nvGrpSpPr>
        <p:grpSpPr>
          <a:xfrm>
            <a:off x="4238625" y="3810000"/>
            <a:ext cx="3714750" cy="2305050"/>
            <a:chOff x="4238625" y="3810000"/>
            <a:chExt cx="3714750" cy="2305050"/>
          </a:xfrm>
        </p:grpSpPr>
        <p:sp>
          <p:nvSpPr>
            <p:cNvPr id="103" name="Rectangle 103"/>
            <p:cNvSpPr/>
            <p:nvPr/>
          </p:nvSpPr>
          <p:spPr>
            <a:xfrm>
              <a:off x="4238625" y="3810000"/>
              <a:ext cx="3714750" cy="2305050"/>
            </a:xfrm>
            <a:prstGeom prst="roundRect">
              <a:avLst>
                <a:gd name="adj" fmla="val 4959"/>
              </a:avLst>
            </a:prstGeom>
            <a:solidFill>
              <a:srgbClr val="FFFFFF"/>
            </a:solidFill>
            <a:ln w="9525">
              <a:solidFill>
                <a:srgbClr val="E6D9C0"/>
              </a:solidFill>
            </a:ln>
          </p:spPr>
        </p:sp>
        <p:sp>
          <p:nvSpPr>
            <p:cNvPr id="104" name="Rectangle 104"/>
            <p:cNvSpPr/>
            <p:nvPr/>
          </p:nvSpPr>
          <p:spPr>
            <a:xfrm>
              <a:off x="4772025" y="4000500"/>
              <a:ext cx="285750" cy="285750"/>
            </a:xfrm>
            <a:prstGeom prst="roundRect">
              <a:avLst>
                <a:gd name="adj" fmla="val 23333"/>
              </a:avLst>
            </a:prstGeom>
            <a:solidFill>
              <a:srgbClr val="C26D5E"/>
            </a:solidFill>
            <a:ln>
              <a:noFill/>
            </a:ln>
          </p:spPr>
        </p:sp>
        <p:grpSp>
          <p:nvGrpSpPr>
            <p:cNvPr id="109" name="Group 109"/>
            <p:cNvGrpSpPr/>
            <p:nvPr/>
          </p:nvGrpSpPr>
          <p:grpSpPr>
            <a:xfrm>
              <a:off x="4864894" y="4086225"/>
              <a:ext cx="107156" cy="121444"/>
              <a:chOff x="4864894" y="4086225"/>
              <a:chExt cx="107156" cy="121444"/>
            </a:xfrm>
          </p:grpSpPr>
          <p:sp>
            <p:nvSpPr>
              <p:cNvPr id="105" name="Freeform 105"/>
              <p:cNvSpPr/>
              <p:nvPr/>
            </p:nvSpPr>
            <p:spPr>
              <a:xfrm>
                <a:off x="4864894" y="4086225"/>
                <a:ext cx="85725" cy="114300"/>
              </a:xfrm>
              <a:custGeom>
                <a:avLst/>
                <a:gdLst/>
                <a:ahLst/>
                <a:cxnLst/>
                <a:rect l="l" t="t" r="r" b="b"/>
                <a:pathLst>
                  <a:path w="85725" h="114300">
                    <a:moveTo>
                      <a:pt x="32968" y="114300"/>
                    </a:moveTo>
                    <a:lnTo>
                      <a:pt x="14288" y="114300"/>
                    </a:lnTo>
                    <a:cubicBezTo>
                      <a:pt x="6397" y="114300"/>
                      <a:pt x="0" y="107903"/>
                      <a:pt x="0" y="100012"/>
                    </a:cubicBezTo>
                    <a:lnTo>
                      <a:pt x="0" y="14288"/>
                    </a:lnTo>
                    <a:cubicBezTo>
                      <a:pt x="0" y="6397"/>
                      <a:pt x="6397" y="0"/>
                      <a:pt x="14288" y="0"/>
                    </a:cubicBezTo>
                    <a:lnTo>
                      <a:pt x="71438" y="0"/>
                    </a:lnTo>
                    <a:cubicBezTo>
                      <a:pt x="79328" y="0"/>
                      <a:pt x="85725" y="6397"/>
                      <a:pt x="85725" y="14288"/>
                    </a:cubicBezTo>
                    <a:lnTo>
                      <a:pt x="85725" y="71438"/>
                    </a:lnTo>
                  </a:path>
                </a:pathLst>
              </a:custGeom>
              <a:noFill/>
              <a:ln w="14288">
                <a:solidFill>
                  <a:srgbClr val="FFFFFF"/>
                </a:solidFill>
              </a:ln>
            </p:spPr>
          </p:sp>
          <p:sp>
            <p:nvSpPr>
              <p:cNvPr id="106" name="Freeform 106"/>
              <p:cNvSpPr/>
              <p:nvPr/>
            </p:nvSpPr>
            <p:spPr>
              <a:xfrm>
                <a:off x="4929188" y="4179094"/>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sp>
            <p:nvSpPr>
              <p:cNvPr id="107" name="Freeform 107"/>
              <p:cNvSpPr/>
              <p:nvPr/>
            </p:nvSpPr>
            <p:spPr>
              <a:xfrm>
                <a:off x="4893469" y="4114800"/>
                <a:ext cx="28575" cy="9525"/>
              </a:xfrm>
              <a:custGeom>
                <a:avLst/>
                <a:gdLst/>
                <a:ahLst/>
                <a:cxnLst/>
                <a:rect l="l" t="t" r="r" b="b"/>
                <a:pathLst>
                  <a:path w="28575" h="9525">
                    <a:moveTo>
                      <a:pt x="0" y="0"/>
                    </a:moveTo>
                    <a:lnTo>
                      <a:pt x="28575" y="0"/>
                    </a:lnTo>
                  </a:path>
                </a:pathLst>
              </a:custGeom>
              <a:noFill/>
              <a:ln w="14288">
                <a:solidFill>
                  <a:srgbClr val="FFFFFF"/>
                </a:solidFill>
              </a:ln>
            </p:spPr>
          </p:sp>
          <p:sp>
            <p:nvSpPr>
              <p:cNvPr id="108" name="Freeform 108"/>
              <p:cNvSpPr/>
              <p:nvPr/>
            </p:nvSpPr>
            <p:spPr>
              <a:xfrm>
                <a:off x="4893469" y="4143375"/>
                <a:ext cx="14288" cy="9525"/>
              </a:xfrm>
              <a:custGeom>
                <a:avLst/>
                <a:gdLst/>
                <a:ahLst/>
                <a:cxnLst/>
                <a:rect l="l" t="t" r="r" b="b"/>
                <a:pathLst>
                  <a:path w="14288" h="9525">
                    <a:moveTo>
                      <a:pt x="0" y="0"/>
                    </a:moveTo>
                    <a:lnTo>
                      <a:pt x="14288" y="0"/>
                    </a:lnTo>
                  </a:path>
                </a:pathLst>
              </a:custGeom>
              <a:noFill/>
              <a:ln w="14288">
                <a:solidFill>
                  <a:srgbClr val="FFFFFF"/>
                </a:solidFill>
              </a:ln>
            </p:spPr>
          </p:sp>
        </p:grpSp>
        <p:sp>
          <p:nvSpPr>
            <p:cNvPr id="110" name="TextBox 110"/>
            <p:cNvSpPr txBox="1"/>
            <p:nvPr/>
          </p:nvSpPr>
          <p:spPr>
            <a:xfrm>
              <a:off x="5203698" y="4081939"/>
              <a:ext cx="702208" cy="249364"/>
            </a:xfrm>
            <a:prstGeom prst="rect">
              <a:avLst/>
            </a:prstGeom>
            <a:noFill/>
            <a:ln>
              <a:noFill/>
            </a:ln>
          </p:spPr>
          <p:txBody>
            <a:bodyPr wrap="none" lIns="0" tIns="0" rIns="0" bIns="0" anchor="t" anchorCtr="0">
              <a:spAutoFit/>
            </a:bodyPr>
            <a:lstStyle/>
            <a:p>
              <a:pPr algn="l"/>
              <a:r>
                <a:rPr lang="zh-CN" sz="1280" b="1" dirty="0">
                  <a:solidFill>
                    <a:srgbClr val="A3381F"/>
                  </a:solidFill>
                  <a:latin typeface="+mn-lt"/>
                  <a:ea typeface="+mn-ea"/>
                  <a:cs typeface="+mn-cs"/>
                </a:rPr>
                <a:t>管理目标</a:t>
              </a:r>
            </a:p>
          </p:txBody>
        </p:sp>
        <p:sp>
          <p:nvSpPr>
            <p:cNvPr id="111" name="Line 111"/>
            <p:cNvSpPr/>
            <p:nvPr/>
          </p:nvSpPr>
          <p:spPr>
            <a:xfrm>
              <a:off x="4619625" y="4400550"/>
              <a:ext cx="2952750" cy="9525"/>
            </a:xfrm>
            <a:custGeom>
              <a:avLst/>
              <a:gdLst/>
              <a:ahLst/>
              <a:cxnLst/>
              <a:rect l="l" t="t" r="r" b="b"/>
              <a:pathLst>
                <a:path w="2952750" h="9525">
                  <a:moveTo>
                    <a:pt x="0" y="0"/>
                  </a:moveTo>
                  <a:lnTo>
                    <a:pt x="2952750" y="0"/>
                  </a:lnTo>
                </a:path>
              </a:pathLst>
            </a:custGeom>
            <a:noFill/>
            <a:ln w="9525">
              <a:solidFill>
                <a:srgbClr val="E6D9C0"/>
              </a:solidFill>
            </a:ln>
          </p:spPr>
        </p:sp>
        <p:sp>
          <p:nvSpPr>
            <p:cNvPr id="112" name="Ellipse 112"/>
            <p:cNvSpPr/>
            <p:nvPr/>
          </p:nvSpPr>
          <p:spPr>
            <a:xfrm>
              <a:off x="4371975" y="4714875"/>
              <a:ext cx="476250" cy="476250"/>
            </a:xfrm>
            <a:prstGeom prst="ellipse">
              <a:avLst/>
            </a:prstGeom>
            <a:solidFill>
              <a:srgbClr val="F9EFEA"/>
            </a:solidFill>
            <a:ln>
              <a:noFill/>
            </a:ln>
          </p:spPr>
        </p:sp>
        <p:grpSp>
          <p:nvGrpSpPr>
            <p:cNvPr id="115" name="Group 115"/>
            <p:cNvGrpSpPr/>
            <p:nvPr/>
          </p:nvGrpSpPr>
          <p:grpSpPr>
            <a:xfrm>
              <a:off x="4524375" y="4895850"/>
              <a:ext cx="171450" cy="114300"/>
              <a:chOff x="4524375" y="4895850"/>
              <a:chExt cx="171450" cy="114300"/>
            </a:xfrm>
          </p:grpSpPr>
          <p:sp>
            <p:nvSpPr>
              <p:cNvPr id="113" name="Freeform 113"/>
              <p:cNvSpPr/>
              <p:nvPr/>
            </p:nvSpPr>
            <p:spPr>
              <a:xfrm>
                <a:off x="4591050" y="49339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3381F"/>
                </a:solidFill>
              </a:ln>
            </p:spPr>
          </p:sp>
          <p:sp>
            <p:nvSpPr>
              <p:cNvPr id="114" name="Freeform 114"/>
              <p:cNvSpPr/>
              <p:nvPr/>
            </p:nvSpPr>
            <p:spPr>
              <a:xfrm>
                <a:off x="4524375" y="4895850"/>
                <a:ext cx="171450" cy="114300"/>
              </a:xfrm>
              <a:custGeom>
                <a:avLst/>
                <a:gdLst/>
                <a:ahLst/>
                <a:cxnLst/>
                <a:rect l="l" t="t" r="r" b="b"/>
                <a:pathLst>
                  <a:path w="171450" h="114300">
                    <a:moveTo>
                      <a:pt x="171450" y="57150"/>
                    </a:moveTo>
                    <a:cubicBezTo>
                      <a:pt x="148590" y="95250"/>
                      <a:pt x="120015" y="114300"/>
                      <a:pt x="85725" y="114300"/>
                    </a:cubicBezTo>
                    <a:cubicBezTo>
                      <a:pt x="51435" y="114300"/>
                      <a:pt x="22860" y="95250"/>
                      <a:pt x="0" y="57150"/>
                    </a:cubicBezTo>
                    <a:cubicBezTo>
                      <a:pt x="22860" y="19050"/>
                      <a:pt x="51435" y="0"/>
                      <a:pt x="85725" y="0"/>
                    </a:cubicBezTo>
                    <a:cubicBezTo>
                      <a:pt x="120015" y="0"/>
                      <a:pt x="148590" y="19050"/>
                      <a:pt x="171450" y="57150"/>
                    </a:cubicBezTo>
                  </a:path>
                </a:pathLst>
              </a:custGeom>
              <a:noFill/>
              <a:ln w="19050">
                <a:solidFill>
                  <a:srgbClr val="A3381F"/>
                </a:solidFill>
              </a:ln>
            </p:spPr>
          </p:sp>
        </p:grpSp>
        <p:sp>
          <p:nvSpPr>
            <p:cNvPr id="116" name="TextBox 116"/>
            <p:cNvSpPr txBox="1"/>
            <p:nvPr/>
          </p:nvSpPr>
          <p:spPr>
            <a:xfrm>
              <a:off x="4415523" y="5347097"/>
              <a:ext cx="389153"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可识别</a:t>
              </a:r>
            </a:p>
          </p:txBody>
        </p:sp>
        <p:sp>
          <p:nvSpPr>
            <p:cNvPr id="117" name="Ellipse 117"/>
            <p:cNvSpPr/>
            <p:nvPr/>
          </p:nvSpPr>
          <p:spPr>
            <a:xfrm>
              <a:off x="5114925" y="4714875"/>
              <a:ext cx="476250" cy="476250"/>
            </a:xfrm>
            <a:prstGeom prst="ellipse">
              <a:avLst/>
            </a:prstGeom>
            <a:solidFill>
              <a:srgbClr val="F9EFEA"/>
            </a:solidFill>
            <a:ln>
              <a:noFill/>
            </a:ln>
          </p:spPr>
        </p:sp>
        <p:grpSp>
          <p:nvGrpSpPr>
            <p:cNvPr id="123" name="Group 123"/>
            <p:cNvGrpSpPr/>
            <p:nvPr/>
          </p:nvGrpSpPr>
          <p:grpSpPr>
            <a:xfrm>
              <a:off x="5267325" y="4867275"/>
              <a:ext cx="171450" cy="171450"/>
              <a:chOff x="5267325" y="4867275"/>
              <a:chExt cx="171450" cy="171450"/>
            </a:xfrm>
          </p:grpSpPr>
          <p:sp>
            <p:nvSpPr>
              <p:cNvPr id="118" name="Freeform 118"/>
              <p:cNvSpPr/>
              <p:nvPr/>
            </p:nvSpPr>
            <p:spPr>
              <a:xfrm>
                <a:off x="5305425" y="5029200"/>
                <a:ext cx="95250" cy="9525"/>
              </a:xfrm>
              <a:custGeom>
                <a:avLst/>
                <a:gdLst/>
                <a:ahLst/>
                <a:cxnLst/>
                <a:rect l="l" t="t" r="r" b="b"/>
                <a:pathLst>
                  <a:path w="95250" h="9525">
                    <a:moveTo>
                      <a:pt x="0" y="0"/>
                    </a:moveTo>
                    <a:lnTo>
                      <a:pt x="95250" y="0"/>
                    </a:lnTo>
                  </a:path>
                </a:pathLst>
              </a:custGeom>
              <a:noFill/>
              <a:ln w="19050">
                <a:solidFill>
                  <a:srgbClr val="A3381F"/>
                </a:solidFill>
              </a:ln>
            </p:spPr>
          </p:sp>
          <p:sp>
            <p:nvSpPr>
              <p:cNvPr id="119" name="Freeform 119"/>
              <p:cNvSpPr/>
              <p:nvPr/>
            </p:nvSpPr>
            <p:spPr>
              <a:xfrm>
                <a:off x="5295900" y="4886325"/>
                <a:ext cx="114300" cy="9525"/>
              </a:xfrm>
              <a:custGeom>
                <a:avLst/>
                <a:gdLst/>
                <a:ahLst/>
                <a:cxnLst/>
                <a:rect l="l" t="t" r="r" b="b"/>
                <a:pathLst>
                  <a:path w="114300" h="9525">
                    <a:moveTo>
                      <a:pt x="0" y="9525"/>
                    </a:moveTo>
                    <a:lnTo>
                      <a:pt x="57150" y="0"/>
                    </a:lnTo>
                    <a:lnTo>
                      <a:pt x="114300" y="9525"/>
                    </a:lnTo>
                  </a:path>
                </a:pathLst>
              </a:custGeom>
              <a:noFill/>
              <a:ln w="19050">
                <a:solidFill>
                  <a:srgbClr val="A3381F"/>
                </a:solidFill>
              </a:ln>
            </p:spPr>
          </p:sp>
          <p:sp>
            <p:nvSpPr>
              <p:cNvPr id="120" name="Freeform 120"/>
              <p:cNvSpPr/>
              <p:nvPr/>
            </p:nvSpPr>
            <p:spPr>
              <a:xfrm>
                <a:off x="5353050" y="4867275"/>
                <a:ext cx="9525" cy="161925"/>
              </a:xfrm>
              <a:custGeom>
                <a:avLst/>
                <a:gdLst/>
                <a:ahLst/>
                <a:cxnLst/>
                <a:rect l="l" t="t" r="r" b="b"/>
                <a:pathLst>
                  <a:path w="9525" h="161925">
                    <a:moveTo>
                      <a:pt x="0" y="0"/>
                    </a:moveTo>
                    <a:lnTo>
                      <a:pt x="0" y="161925"/>
                    </a:lnTo>
                  </a:path>
                </a:pathLst>
              </a:custGeom>
              <a:noFill/>
              <a:ln w="19050">
                <a:solidFill>
                  <a:srgbClr val="A3381F"/>
                </a:solidFill>
              </a:ln>
            </p:spPr>
          </p:sp>
          <p:sp>
            <p:nvSpPr>
              <p:cNvPr id="121" name="Freeform 121"/>
              <p:cNvSpPr/>
              <p:nvPr/>
            </p:nvSpPr>
            <p:spPr>
              <a:xfrm>
                <a:off x="5267325" y="489585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A3381F"/>
                </a:solidFill>
              </a:ln>
            </p:spPr>
          </p:sp>
          <p:sp>
            <p:nvSpPr>
              <p:cNvPr id="122" name="Freeform 122"/>
              <p:cNvSpPr/>
              <p:nvPr/>
            </p:nvSpPr>
            <p:spPr>
              <a:xfrm>
                <a:off x="5381625" y="489585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A3381F"/>
                </a:solidFill>
              </a:ln>
            </p:spPr>
          </p:sp>
        </p:grpSp>
        <p:sp>
          <p:nvSpPr>
            <p:cNvPr id="124" name="TextBox 124"/>
            <p:cNvSpPr txBox="1"/>
            <p:nvPr/>
          </p:nvSpPr>
          <p:spPr>
            <a:xfrm>
              <a:off x="5158473" y="5347097"/>
              <a:ext cx="389153"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可判断</a:t>
              </a:r>
            </a:p>
          </p:txBody>
        </p:sp>
        <p:sp>
          <p:nvSpPr>
            <p:cNvPr id="125" name="Ellipse 125"/>
            <p:cNvSpPr/>
            <p:nvPr/>
          </p:nvSpPr>
          <p:spPr>
            <a:xfrm>
              <a:off x="5857875" y="4714875"/>
              <a:ext cx="476250" cy="476250"/>
            </a:xfrm>
            <a:prstGeom prst="ellipse">
              <a:avLst/>
            </a:prstGeom>
            <a:solidFill>
              <a:srgbClr val="F9EFEA"/>
            </a:solidFill>
            <a:ln>
              <a:noFill/>
            </a:ln>
          </p:spPr>
        </p:sp>
        <p:grpSp>
          <p:nvGrpSpPr>
            <p:cNvPr id="129" name="Group 129"/>
            <p:cNvGrpSpPr/>
            <p:nvPr/>
          </p:nvGrpSpPr>
          <p:grpSpPr>
            <a:xfrm>
              <a:off x="6029325" y="4867275"/>
              <a:ext cx="133350" cy="171450"/>
              <a:chOff x="6029325" y="4867275"/>
              <a:chExt cx="133350" cy="171450"/>
            </a:xfrm>
          </p:grpSpPr>
          <p:sp>
            <p:nvSpPr>
              <p:cNvPr id="126" name="Freeform 126"/>
              <p:cNvSpPr/>
              <p:nvPr/>
            </p:nvSpPr>
            <p:spPr>
              <a:xfrm>
                <a:off x="6029325" y="492442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A3381F"/>
                </a:solidFill>
              </a:ln>
            </p:spPr>
          </p:sp>
          <p:sp>
            <p:nvSpPr>
              <p:cNvPr id="127" name="Freeform 127"/>
              <p:cNvSpPr/>
              <p:nvPr/>
            </p:nvSpPr>
            <p:spPr>
              <a:xfrm>
                <a:off x="6096000" y="4867275"/>
                <a:ext cx="9525" cy="104775"/>
              </a:xfrm>
              <a:custGeom>
                <a:avLst/>
                <a:gdLst/>
                <a:ahLst/>
                <a:cxnLst/>
                <a:rect l="l" t="t" r="r" b="b"/>
                <a:pathLst>
                  <a:path w="9525" h="104775">
                    <a:moveTo>
                      <a:pt x="0" y="104775"/>
                    </a:moveTo>
                    <a:lnTo>
                      <a:pt x="0" y="0"/>
                    </a:lnTo>
                  </a:path>
                </a:pathLst>
              </a:custGeom>
              <a:noFill/>
              <a:ln w="19050">
                <a:solidFill>
                  <a:srgbClr val="A3381F"/>
                </a:solidFill>
              </a:ln>
            </p:spPr>
          </p:sp>
          <p:sp>
            <p:nvSpPr>
              <p:cNvPr id="128" name="Freeform 128"/>
              <p:cNvSpPr/>
              <p:nvPr/>
            </p:nvSpPr>
            <p:spPr>
              <a:xfrm>
                <a:off x="6067425" y="4867275"/>
                <a:ext cx="57150" cy="28575"/>
              </a:xfrm>
              <a:custGeom>
                <a:avLst/>
                <a:gdLst/>
                <a:ahLst/>
                <a:cxnLst/>
                <a:rect l="l" t="t" r="r" b="b"/>
                <a:pathLst>
                  <a:path w="57150" h="28575">
                    <a:moveTo>
                      <a:pt x="0" y="28575"/>
                    </a:moveTo>
                    <a:lnTo>
                      <a:pt x="28575" y="0"/>
                    </a:lnTo>
                    <a:lnTo>
                      <a:pt x="57150" y="28575"/>
                    </a:lnTo>
                  </a:path>
                </a:pathLst>
              </a:custGeom>
              <a:noFill/>
              <a:ln w="19050">
                <a:solidFill>
                  <a:srgbClr val="A3381F"/>
                </a:solidFill>
              </a:ln>
            </p:spPr>
          </p:sp>
        </p:grpSp>
        <p:sp>
          <p:nvSpPr>
            <p:cNvPr id="130" name="TextBox 130"/>
            <p:cNvSpPr txBox="1"/>
            <p:nvPr/>
          </p:nvSpPr>
          <p:spPr>
            <a:xfrm>
              <a:off x="5901423" y="5347097"/>
              <a:ext cx="389153"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可派发</a:t>
              </a:r>
            </a:p>
          </p:txBody>
        </p:sp>
        <p:sp>
          <p:nvSpPr>
            <p:cNvPr id="131" name="Ellipse 131"/>
            <p:cNvSpPr/>
            <p:nvPr/>
          </p:nvSpPr>
          <p:spPr>
            <a:xfrm>
              <a:off x="6600825" y="4714875"/>
              <a:ext cx="476250" cy="476250"/>
            </a:xfrm>
            <a:prstGeom prst="ellipse">
              <a:avLst/>
            </a:prstGeom>
            <a:solidFill>
              <a:srgbClr val="F9EFEA"/>
            </a:solidFill>
            <a:ln>
              <a:noFill/>
            </a:ln>
          </p:spPr>
        </p:sp>
        <p:grpSp>
          <p:nvGrpSpPr>
            <p:cNvPr id="134" name="Group 134"/>
            <p:cNvGrpSpPr/>
            <p:nvPr/>
          </p:nvGrpSpPr>
          <p:grpSpPr>
            <a:xfrm>
              <a:off x="6772275" y="4868173"/>
              <a:ext cx="133350" cy="170552"/>
              <a:chOff x="6772275" y="4868173"/>
              <a:chExt cx="133350" cy="170552"/>
            </a:xfrm>
          </p:grpSpPr>
          <p:sp>
            <p:nvSpPr>
              <p:cNvPr id="132" name="Freeform 132"/>
              <p:cNvSpPr/>
              <p:nvPr/>
            </p:nvSpPr>
            <p:spPr>
              <a:xfrm>
                <a:off x="6772275" y="4868173"/>
                <a:ext cx="133350" cy="122029"/>
              </a:xfrm>
              <a:custGeom>
                <a:avLst/>
                <a:gdLst/>
                <a:ahLst/>
                <a:cxnLst/>
                <a:rect l="l" t="t" r="r" b="b"/>
                <a:pathLst>
                  <a:path w="133350" h="122029">
                    <a:moveTo>
                      <a:pt x="0" y="18152"/>
                    </a:moveTo>
                    <a:cubicBezTo>
                      <a:pt x="18519" y="0"/>
                      <a:pt x="48156" y="0"/>
                      <a:pt x="66675" y="18152"/>
                    </a:cubicBezTo>
                    <a:cubicBezTo>
                      <a:pt x="85194" y="36304"/>
                      <a:pt x="114831" y="36304"/>
                      <a:pt x="133350" y="18152"/>
                    </a:cubicBezTo>
                    <a:lnTo>
                      <a:pt x="133350" y="103877"/>
                    </a:lnTo>
                    <a:cubicBezTo>
                      <a:pt x="114831" y="122029"/>
                      <a:pt x="85194" y="122029"/>
                      <a:pt x="66675" y="103877"/>
                    </a:cubicBezTo>
                    <a:cubicBezTo>
                      <a:pt x="48156" y="85725"/>
                      <a:pt x="18519" y="85725"/>
                      <a:pt x="0" y="103877"/>
                    </a:cubicBezTo>
                    <a:lnTo>
                      <a:pt x="0" y="18152"/>
                    </a:lnTo>
                  </a:path>
                </a:pathLst>
              </a:custGeom>
              <a:noFill/>
              <a:ln w="19050">
                <a:solidFill>
                  <a:srgbClr val="A3381F"/>
                </a:solidFill>
              </a:ln>
            </p:spPr>
          </p:sp>
          <p:sp>
            <p:nvSpPr>
              <p:cNvPr id="133" name="Freeform 133"/>
              <p:cNvSpPr/>
              <p:nvPr/>
            </p:nvSpPr>
            <p:spPr>
              <a:xfrm>
                <a:off x="6772275" y="4972050"/>
                <a:ext cx="9525" cy="66675"/>
              </a:xfrm>
              <a:custGeom>
                <a:avLst/>
                <a:gdLst/>
                <a:ahLst/>
                <a:cxnLst/>
                <a:rect l="l" t="t" r="r" b="b"/>
                <a:pathLst>
                  <a:path w="9525" h="66675">
                    <a:moveTo>
                      <a:pt x="0" y="66675"/>
                    </a:moveTo>
                    <a:lnTo>
                      <a:pt x="0" y="0"/>
                    </a:lnTo>
                  </a:path>
                </a:pathLst>
              </a:custGeom>
              <a:noFill/>
              <a:ln w="19050">
                <a:solidFill>
                  <a:srgbClr val="A3381F"/>
                </a:solidFill>
              </a:ln>
            </p:spPr>
          </p:sp>
        </p:grpSp>
        <p:sp>
          <p:nvSpPr>
            <p:cNvPr id="135" name="TextBox 135"/>
            <p:cNvSpPr txBox="1"/>
            <p:nvPr/>
          </p:nvSpPr>
          <p:spPr>
            <a:xfrm>
              <a:off x="6644373" y="5347097"/>
              <a:ext cx="389153"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可追踪</a:t>
              </a:r>
            </a:p>
          </p:txBody>
        </p:sp>
        <p:sp>
          <p:nvSpPr>
            <p:cNvPr id="136" name="Ellipse 136"/>
            <p:cNvSpPr/>
            <p:nvPr/>
          </p:nvSpPr>
          <p:spPr>
            <a:xfrm>
              <a:off x="7343775" y="4714875"/>
              <a:ext cx="476250" cy="476250"/>
            </a:xfrm>
            <a:prstGeom prst="ellipse">
              <a:avLst/>
            </a:prstGeom>
            <a:solidFill>
              <a:srgbClr val="F9EFEA"/>
            </a:solidFill>
            <a:ln>
              <a:noFill/>
            </a:ln>
          </p:spPr>
        </p:sp>
        <p:grpSp>
          <p:nvGrpSpPr>
            <p:cNvPr id="140" name="Group 140"/>
            <p:cNvGrpSpPr/>
            <p:nvPr/>
          </p:nvGrpSpPr>
          <p:grpSpPr>
            <a:xfrm>
              <a:off x="7500004" y="4867275"/>
              <a:ext cx="163773" cy="170402"/>
              <a:chOff x="7500004" y="4867275"/>
              <a:chExt cx="163773" cy="170402"/>
            </a:xfrm>
          </p:grpSpPr>
          <p:sp>
            <p:nvSpPr>
              <p:cNvPr id="137" name="Freeform 137"/>
              <p:cNvSpPr/>
              <p:nvPr/>
            </p:nvSpPr>
            <p:spPr>
              <a:xfrm>
                <a:off x="7524750" y="486727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A3381F"/>
                </a:solidFill>
              </a:ln>
            </p:spPr>
          </p:sp>
          <p:sp>
            <p:nvSpPr>
              <p:cNvPr id="138" name="Freeform 138"/>
              <p:cNvSpPr/>
              <p:nvPr/>
            </p:nvSpPr>
            <p:spPr>
              <a:xfrm>
                <a:off x="7581900" y="495300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A3381F"/>
                </a:solidFill>
              </a:ln>
            </p:spPr>
          </p:sp>
          <p:sp>
            <p:nvSpPr>
              <p:cNvPr id="139" name="Freeform 139"/>
              <p:cNvSpPr/>
              <p:nvPr/>
            </p:nvSpPr>
            <p:spPr>
              <a:xfrm>
                <a:off x="7500004" y="495300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A3381F"/>
                </a:solidFill>
              </a:ln>
            </p:spPr>
          </p:sp>
        </p:grpSp>
        <p:sp>
          <p:nvSpPr>
            <p:cNvPr id="141" name="TextBox 141"/>
            <p:cNvSpPr txBox="1"/>
            <p:nvPr/>
          </p:nvSpPr>
          <p:spPr>
            <a:xfrm>
              <a:off x="7387323" y="5347097"/>
              <a:ext cx="389153"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可评价</a:t>
              </a:r>
            </a:p>
          </p:txBody>
        </p:sp>
      </p:grpSp>
      <p:grpSp>
        <p:nvGrpSpPr>
          <p:cNvPr id="168" name="goal-card-3"/>
          <p:cNvGrpSpPr/>
          <p:nvPr/>
        </p:nvGrpSpPr>
        <p:grpSpPr>
          <a:xfrm>
            <a:off x="8096250" y="3810000"/>
            <a:ext cx="3714750" cy="2305050"/>
            <a:chOff x="8096250" y="3810000"/>
            <a:chExt cx="3714750" cy="2305050"/>
          </a:xfrm>
        </p:grpSpPr>
        <p:sp>
          <p:nvSpPr>
            <p:cNvPr id="143" name="Rectangle 143"/>
            <p:cNvSpPr/>
            <p:nvPr/>
          </p:nvSpPr>
          <p:spPr>
            <a:xfrm>
              <a:off x="8096250" y="3810000"/>
              <a:ext cx="3714750" cy="2305050"/>
            </a:xfrm>
            <a:prstGeom prst="roundRect">
              <a:avLst>
                <a:gd name="adj" fmla="val 4959"/>
              </a:avLst>
            </a:prstGeom>
            <a:solidFill>
              <a:srgbClr val="FFFFFF"/>
            </a:solidFill>
            <a:ln w="9525">
              <a:solidFill>
                <a:srgbClr val="E6D9C0"/>
              </a:solidFill>
            </a:ln>
          </p:spPr>
        </p:sp>
        <p:sp>
          <p:nvSpPr>
            <p:cNvPr id="144" name="Rectangle 144"/>
            <p:cNvSpPr/>
            <p:nvPr/>
          </p:nvSpPr>
          <p:spPr>
            <a:xfrm>
              <a:off x="8629650" y="4000500"/>
              <a:ext cx="285750" cy="285750"/>
            </a:xfrm>
            <a:prstGeom prst="roundRect">
              <a:avLst>
                <a:gd name="adj" fmla="val 23333"/>
              </a:avLst>
            </a:prstGeom>
            <a:solidFill>
              <a:srgbClr val="C26D5E"/>
            </a:solidFill>
            <a:ln>
              <a:noFill/>
            </a:ln>
          </p:spPr>
        </p:sp>
        <p:grpSp>
          <p:nvGrpSpPr>
            <p:cNvPr id="148" name="Group 148"/>
            <p:cNvGrpSpPr/>
            <p:nvPr/>
          </p:nvGrpSpPr>
          <p:grpSpPr>
            <a:xfrm>
              <a:off x="8713119" y="4086225"/>
              <a:ext cx="116556" cy="116556"/>
              <a:chOff x="8713119" y="4086225"/>
              <a:chExt cx="116556" cy="116556"/>
            </a:xfrm>
          </p:grpSpPr>
          <p:sp>
            <p:nvSpPr>
              <p:cNvPr id="145" name="Freeform 145"/>
              <p:cNvSpPr/>
              <p:nvPr/>
            </p:nvSpPr>
            <p:spPr>
              <a:xfrm>
                <a:off x="8715375" y="4086225"/>
                <a:ext cx="114300" cy="114300"/>
              </a:xfrm>
              <a:custGeom>
                <a:avLst/>
                <a:gdLst/>
                <a:ahLst/>
                <a:cxnLst/>
                <a:rect l="l" t="t" r="r" b="b"/>
                <a:pathLst>
                  <a:path w="114300" h="114300">
                    <a:moveTo>
                      <a:pt x="0" y="64294"/>
                    </a:moveTo>
                    <a:cubicBezTo>
                      <a:pt x="26219" y="67410"/>
                      <a:pt x="46890" y="88081"/>
                      <a:pt x="50006" y="114300"/>
                    </a:cubicBezTo>
                    <a:cubicBezTo>
                      <a:pt x="62844" y="106899"/>
                      <a:pt x="70948" y="93392"/>
                      <a:pt x="71438" y="78581"/>
                    </a:cubicBezTo>
                    <a:cubicBezTo>
                      <a:pt x="95968" y="69952"/>
                      <a:pt x="112884" y="47396"/>
                      <a:pt x="114300" y="21431"/>
                    </a:cubicBezTo>
                    <a:cubicBezTo>
                      <a:pt x="114300" y="9595"/>
                      <a:pt x="104705" y="0"/>
                      <a:pt x="92869" y="0"/>
                    </a:cubicBezTo>
                    <a:cubicBezTo>
                      <a:pt x="66904" y="1416"/>
                      <a:pt x="44348" y="18332"/>
                      <a:pt x="35719" y="42862"/>
                    </a:cubicBezTo>
                    <a:cubicBezTo>
                      <a:pt x="20908" y="43352"/>
                      <a:pt x="7401" y="51456"/>
                      <a:pt x="0" y="64294"/>
                    </a:cubicBezTo>
                  </a:path>
                </a:pathLst>
              </a:custGeom>
              <a:noFill/>
              <a:ln w="14288">
                <a:solidFill>
                  <a:srgbClr val="FFFFFF"/>
                </a:solidFill>
              </a:ln>
            </p:spPr>
          </p:sp>
          <p:sp>
            <p:nvSpPr>
              <p:cNvPr id="146" name="Freeform 146"/>
              <p:cNvSpPr/>
              <p:nvPr/>
            </p:nvSpPr>
            <p:spPr>
              <a:xfrm>
                <a:off x="8713119" y="4157662"/>
                <a:ext cx="45119" cy="45119"/>
              </a:xfrm>
              <a:custGeom>
                <a:avLst/>
                <a:gdLst/>
                <a:ahLst/>
                <a:cxnLst/>
                <a:rect l="l" t="t" r="r" b="b"/>
                <a:pathLst>
                  <a:path w="45119" h="45119">
                    <a:moveTo>
                      <a:pt x="23688" y="0"/>
                    </a:moveTo>
                    <a:cubicBezTo>
                      <a:pt x="8478" y="8587"/>
                      <a:pt x="0" y="25543"/>
                      <a:pt x="2256" y="42862"/>
                    </a:cubicBezTo>
                    <a:cubicBezTo>
                      <a:pt x="19576" y="45119"/>
                      <a:pt x="36532" y="36641"/>
                      <a:pt x="45119" y="21431"/>
                    </a:cubicBezTo>
                  </a:path>
                </a:pathLst>
              </a:custGeom>
              <a:noFill/>
              <a:ln w="14288">
                <a:solidFill>
                  <a:srgbClr val="FFFFFF"/>
                </a:solidFill>
              </a:ln>
            </p:spPr>
          </p:sp>
          <p:sp>
            <p:nvSpPr>
              <p:cNvPr id="147" name="Freeform 147"/>
              <p:cNvSpPr/>
              <p:nvPr/>
            </p:nvSpPr>
            <p:spPr>
              <a:xfrm>
                <a:off x="8786812" y="4114800"/>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grpSp>
        <p:sp>
          <p:nvSpPr>
            <p:cNvPr id="149" name="TextBox 149"/>
            <p:cNvSpPr txBox="1"/>
            <p:nvPr/>
          </p:nvSpPr>
          <p:spPr>
            <a:xfrm>
              <a:off x="9061323" y="4081939"/>
              <a:ext cx="702208" cy="249364"/>
            </a:xfrm>
            <a:prstGeom prst="rect">
              <a:avLst/>
            </a:prstGeom>
            <a:noFill/>
            <a:ln>
              <a:noFill/>
            </a:ln>
          </p:spPr>
          <p:txBody>
            <a:bodyPr wrap="none" lIns="0" tIns="0" rIns="0" bIns="0" anchor="t" anchorCtr="0">
              <a:spAutoFit/>
            </a:bodyPr>
            <a:lstStyle/>
            <a:p>
              <a:pPr algn="l"/>
              <a:r>
                <a:rPr lang="zh-CN" sz="1280" b="1" dirty="0">
                  <a:solidFill>
                    <a:srgbClr val="A3381F"/>
                  </a:solidFill>
                  <a:latin typeface="+mn-lt"/>
                  <a:ea typeface="+mn-ea"/>
                  <a:cs typeface="+mn-cs"/>
                </a:rPr>
                <a:t>能力目标</a:t>
              </a:r>
            </a:p>
          </p:txBody>
        </p:sp>
        <p:sp>
          <p:nvSpPr>
            <p:cNvPr id="150" name="Line 150"/>
            <p:cNvSpPr/>
            <p:nvPr/>
          </p:nvSpPr>
          <p:spPr>
            <a:xfrm>
              <a:off x="8477250" y="4400550"/>
              <a:ext cx="2952750" cy="9525"/>
            </a:xfrm>
            <a:custGeom>
              <a:avLst/>
              <a:gdLst/>
              <a:ahLst/>
              <a:cxnLst/>
              <a:rect l="l" t="t" r="r" b="b"/>
              <a:pathLst>
                <a:path w="2952750" h="9525">
                  <a:moveTo>
                    <a:pt x="0" y="0"/>
                  </a:moveTo>
                  <a:lnTo>
                    <a:pt x="2952750" y="0"/>
                  </a:lnTo>
                </a:path>
              </a:pathLst>
            </a:custGeom>
            <a:noFill/>
            <a:ln w="9525">
              <a:solidFill>
                <a:srgbClr val="E6D9C0"/>
              </a:solidFill>
            </a:ln>
          </p:spPr>
        </p:sp>
        <p:sp>
          <p:nvSpPr>
            <p:cNvPr id="151" name="Ellipse 151"/>
            <p:cNvSpPr/>
            <p:nvPr/>
          </p:nvSpPr>
          <p:spPr>
            <a:xfrm>
              <a:off x="8477250" y="4714875"/>
              <a:ext cx="476250" cy="476250"/>
            </a:xfrm>
            <a:prstGeom prst="ellipse">
              <a:avLst/>
            </a:prstGeom>
            <a:solidFill>
              <a:srgbClr val="F9EFEA"/>
            </a:solidFill>
            <a:ln>
              <a:noFill/>
            </a:ln>
          </p:spPr>
        </p:sp>
        <p:grpSp>
          <p:nvGrpSpPr>
            <p:cNvPr id="155" name="Group 155"/>
            <p:cNvGrpSpPr/>
            <p:nvPr/>
          </p:nvGrpSpPr>
          <p:grpSpPr>
            <a:xfrm>
              <a:off x="8639175" y="4867275"/>
              <a:ext cx="152400" cy="171450"/>
              <a:chOff x="8639175" y="4867275"/>
              <a:chExt cx="152400" cy="171450"/>
            </a:xfrm>
          </p:grpSpPr>
          <p:sp>
            <p:nvSpPr>
              <p:cNvPr id="152" name="Freeform 152"/>
              <p:cNvSpPr/>
              <p:nvPr/>
            </p:nvSpPr>
            <p:spPr>
              <a:xfrm>
                <a:off x="8639175" y="486727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A3381F"/>
                </a:solidFill>
              </a:ln>
            </p:spPr>
          </p:sp>
          <p:sp>
            <p:nvSpPr>
              <p:cNvPr id="153" name="Freeform 153"/>
              <p:cNvSpPr/>
              <p:nvPr/>
            </p:nvSpPr>
            <p:spPr>
              <a:xfrm>
                <a:off x="8639175" y="48958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A3381F"/>
                </a:solidFill>
              </a:ln>
            </p:spPr>
          </p:sp>
          <p:sp>
            <p:nvSpPr>
              <p:cNvPr id="154" name="Freeform 154"/>
              <p:cNvSpPr/>
              <p:nvPr/>
            </p:nvSpPr>
            <p:spPr>
              <a:xfrm>
                <a:off x="8639175" y="49530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A3381F"/>
                </a:solidFill>
              </a:ln>
            </p:spPr>
          </p:sp>
        </p:grpSp>
        <p:sp>
          <p:nvSpPr>
            <p:cNvPr id="156" name="TextBox 156"/>
            <p:cNvSpPr txBox="1"/>
            <p:nvPr/>
          </p:nvSpPr>
          <p:spPr>
            <a:xfrm>
              <a:off x="8457527" y="5347097"/>
              <a:ext cx="515696"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数据驱动</a:t>
              </a:r>
            </a:p>
          </p:txBody>
        </p:sp>
        <p:sp>
          <p:nvSpPr>
            <p:cNvPr id="157" name="Ellipse 157"/>
            <p:cNvSpPr/>
            <p:nvPr/>
          </p:nvSpPr>
          <p:spPr>
            <a:xfrm>
              <a:off x="9715500" y="4714875"/>
              <a:ext cx="476250" cy="476250"/>
            </a:xfrm>
            <a:prstGeom prst="ellipse">
              <a:avLst/>
            </a:prstGeom>
            <a:solidFill>
              <a:srgbClr val="F9EFEA"/>
            </a:solidFill>
            <a:ln>
              <a:noFill/>
            </a:ln>
          </p:spPr>
        </p:sp>
        <p:grpSp>
          <p:nvGrpSpPr>
            <p:cNvPr id="160" name="Group 160"/>
            <p:cNvGrpSpPr/>
            <p:nvPr/>
          </p:nvGrpSpPr>
          <p:grpSpPr>
            <a:xfrm>
              <a:off x="9863719" y="4863094"/>
              <a:ext cx="179813" cy="179813"/>
              <a:chOff x="9863719" y="4863094"/>
              <a:chExt cx="179813" cy="179813"/>
            </a:xfrm>
          </p:grpSpPr>
          <p:sp>
            <p:nvSpPr>
              <p:cNvPr id="158" name="Freeform 158"/>
              <p:cNvSpPr/>
              <p:nvPr/>
            </p:nvSpPr>
            <p:spPr>
              <a:xfrm>
                <a:off x="9863719" y="486309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A3381F"/>
                </a:solidFill>
              </a:ln>
            </p:spPr>
          </p:sp>
          <p:sp>
            <p:nvSpPr>
              <p:cNvPr id="159" name="Freeform 159"/>
              <p:cNvSpPr/>
              <p:nvPr/>
            </p:nvSpPr>
            <p:spPr>
              <a:xfrm>
                <a:off x="9925050" y="49244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A3381F"/>
                </a:solidFill>
              </a:ln>
            </p:spPr>
          </p:sp>
        </p:grpSp>
        <p:sp>
          <p:nvSpPr>
            <p:cNvPr id="161" name="TextBox 161"/>
            <p:cNvSpPr txBox="1"/>
            <p:nvPr/>
          </p:nvSpPr>
          <p:spPr>
            <a:xfrm>
              <a:off x="9695777" y="5347097"/>
              <a:ext cx="515696"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策略统一</a:t>
              </a:r>
            </a:p>
          </p:txBody>
        </p:sp>
        <p:sp>
          <p:nvSpPr>
            <p:cNvPr id="162" name="Ellipse 162"/>
            <p:cNvSpPr/>
            <p:nvPr/>
          </p:nvSpPr>
          <p:spPr>
            <a:xfrm>
              <a:off x="10953750" y="4714875"/>
              <a:ext cx="476250" cy="476250"/>
            </a:xfrm>
            <a:prstGeom prst="ellipse">
              <a:avLst/>
            </a:prstGeom>
            <a:solidFill>
              <a:srgbClr val="F9EFEA"/>
            </a:solidFill>
            <a:ln>
              <a:noFill/>
            </a:ln>
          </p:spPr>
        </p:sp>
        <p:grpSp>
          <p:nvGrpSpPr>
            <p:cNvPr id="166" name="Group 166"/>
            <p:cNvGrpSpPr/>
            <p:nvPr/>
          </p:nvGrpSpPr>
          <p:grpSpPr>
            <a:xfrm>
              <a:off x="11115674" y="4872146"/>
              <a:ext cx="157041" cy="161688"/>
              <a:chOff x="11115674" y="4872146"/>
              <a:chExt cx="157041" cy="161688"/>
            </a:xfrm>
          </p:grpSpPr>
          <p:sp>
            <p:nvSpPr>
              <p:cNvPr id="163" name="Freeform 163"/>
              <p:cNvSpPr/>
              <p:nvPr/>
            </p:nvSpPr>
            <p:spPr>
              <a:xfrm>
                <a:off x="11163300" y="4924425"/>
                <a:ext cx="57150" cy="57150"/>
              </a:xfrm>
              <a:custGeom>
                <a:avLst/>
                <a:gdLst/>
                <a:ahLst/>
                <a:cxnLst/>
                <a:rect l="l" t="t" r="r" b="b"/>
                <a:pathLst>
                  <a:path w="57150" h="57150">
                    <a:moveTo>
                      <a:pt x="0" y="57150"/>
                    </a:moveTo>
                    <a:lnTo>
                      <a:pt x="57150" y="0"/>
                    </a:lnTo>
                  </a:path>
                </a:pathLst>
              </a:custGeom>
              <a:noFill/>
              <a:ln w="19050">
                <a:solidFill>
                  <a:srgbClr val="A3381F"/>
                </a:solidFill>
              </a:ln>
            </p:spPr>
          </p:sp>
          <p:sp>
            <p:nvSpPr>
              <p:cNvPr id="164" name="Freeform 164"/>
              <p:cNvSpPr/>
              <p:nvPr/>
            </p:nvSpPr>
            <p:spPr>
              <a:xfrm>
                <a:off x="11182350" y="4872146"/>
                <a:ext cx="90365" cy="90379"/>
              </a:xfrm>
              <a:custGeom>
                <a:avLst/>
                <a:gdLst/>
                <a:ahLst/>
                <a:cxnLst/>
                <a:rect l="l" t="t" r="r" b="b"/>
                <a:pathLst>
                  <a:path w="90365" h="90379">
                    <a:moveTo>
                      <a:pt x="0" y="23704"/>
                    </a:moveTo>
                    <a:lnTo>
                      <a:pt x="4410" y="18599"/>
                    </a:lnTo>
                    <a:cubicBezTo>
                      <a:pt x="23011" y="0"/>
                      <a:pt x="53168" y="2"/>
                      <a:pt x="71766" y="18603"/>
                    </a:cubicBezTo>
                    <a:cubicBezTo>
                      <a:pt x="90365" y="37204"/>
                      <a:pt x="90363" y="67361"/>
                      <a:pt x="71761" y="85959"/>
                    </a:cubicBezTo>
                    <a:lnTo>
                      <a:pt x="66675" y="90379"/>
                    </a:lnTo>
                  </a:path>
                </a:pathLst>
              </a:custGeom>
              <a:noFill/>
              <a:ln w="19050">
                <a:solidFill>
                  <a:srgbClr val="A3381F"/>
                </a:solidFill>
              </a:ln>
            </p:spPr>
          </p:sp>
          <p:sp>
            <p:nvSpPr>
              <p:cNvPr id="165" name="Freeform 165"/>
              <p:cNvSpPr/>
              <p:nvPr/>
            </p:nvSpPr>
            <p:spPr>
              <a:xfrm>
                <a:off x="11115674" y="4943475"/>
                <a:ext cx="85726" cy="90359"/>
              </a:xfrm>
              <a:custGeom>
                <a:avLst/>
                <a:gdLst/>
                <a:ahLst/>
                <a:cxnLst/>
                <a:rect l="l" t="t" r="r" b="b"/>
                <a:pathLst>
                  <a:path w="85726" h="90359">
                    <a:moveTo>
                      <a:pt x="85726" y="66675"/>
                    </a:moveTo>
                    <a:lnTo>
                      <a:pt x="81945" y="71761"/>
                    </a:lnTo>
                    <a:cubicBezTo>
                      <a:pt x="63138" y="90359"/>
                      <a:pt x="32867" y="90359"/>
                      <a:pt x="14060" y="71761"/>
                    </a:cubicBezTo>
                    <a:cubicBezTo>
                      <a:pt x="5063" y="62865"/>
                      <a:pt x="0" y="50738"/>
                      <a:pt x="0" y="38086"/>
                    </a:cubicBezTo>
                    <a:cubicBezTo>
                      <a:pt x="0" y="25433"/>
                      <a:pt x="5063" y="13306"/>
                      <a:pt x="14060" y="4410"/>
                    </a:cubicBezTo>
                    <a:lnTo>
                      <a:pt x="19051" y="0"/>
                    </a:lnTo>
                  </a:path>
                </a:pathLst>
              </a:custGeom>
              <a:noFill/>
              <a:ln w="19050">
                <a:solidFill>
                  <a:srgbClr val="A3381F"/>
                </a:solidFill>
              </a:ln>
            </p:spPr>
          </p:sp>
        </p:grpSp>
        <p:sp>
          <p:nvSpPr>
            <p:cNvPr id="167" name="TextBox 167"/>
            <p:cNvSpPr txBox="1"/>
            <p:nvPr/>
          </p:nvSpPr>
          <p:spPr>
            <a:xfrm>
              <a:off x="10934027" y="5347097"/>
              <a:ext cx="515696" cy="183356"/>
            </a:xfrm>
            <a:prstGeom prst="rect">
              <a:avLst/>
            </a:prstGeom>
            <a:noFill/>
            <a:ln>
              <a:noFill/>
            </a:ln>
          </p:spPr>
          <p:txBody>
            <a:bodyPr wrap="none" lIns="0" tIns="0" rIns="0" bIns="0" anchor="t" anchorCtr="0">
              <a:spAutoFit/>
            </a:bodyPr>
            <a:lstStyle/>
            <a:p>
              <a:pPr algn="ctr"/>
              <a:r>
                <a:rPr lang="zh-CN" sz="940" b="1" dirty="0">
                  <a:solidFill>
                    <a:srgbClr val="4A4A4A"/>
                  </a:solidFill>
                  <a:latin typeface="+mn-lt"/>
                  <a:ea typeface="+mn-ea"/>
                  <a:cs typeface="+mn-cs"/>
                </a:rPr>
                <a:t>渠道协同</a:t>
              </a:r>
            </a:p>
          </p:txBody>
        </p:sp>
      </p:gr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04</a:t>
              </a:r>
            </a:p>
          </p:txBody>
        </p:sp>
        <p:sp>
          <p:nvSpPr>
            <p:cNvPr id="4" name="TextBox 4"/>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总体架构：</a:t>
              </a:r>
              <a:r>
                <a:rPr lang="zh-CN" sz="1950" b="1" dirty="0">
                  <a:solidFill>
                    <a:srgbClr val="A3381F"/>
                  </a:solidFill>
                  <a:latin typeface="SimSun"/>
                  <a:ea typeface="SimSun"/>
                  <a:cs typeface="SimSun"/>
                </a:rPr>
                <a:t>一套标准、三维识别、五类能力</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24" name="row-standard"/>
          <p:cNvGrpSpPr/>
          <p:nvPr/>
        </p:nvGrpSpPr>
        <p:grpSpPr>
          <a:xfrm>
            <a:off x="381000" y="762000"/>
            <a:ext cx="7962900" cy="704850"/>
            <a:chOff x="381000" y="762000"/>
            <a:chExt cx="7962900" cy="704850"/>
          </a:xfrm>
        </p:grpSpPr>
        <p:sp>
          <p:nvSpPr>
            <p:cNvPr id="7" name="Rectangle 7"/>
            <p:cNvSpPr/>
            <p:nvPr/>
          </p:nvSpPr>
          <p:spPr>
            <a:xfrm>
              <a:off x="381000" y="762000"/>
              <a:ext cx="1219200" cy="704850"/>
            </a:xfrm>
            <a:prstGeom prst="roundRect">
              <a:avLst>
                <a:gd name="adj" fmla="val 10811"/>
              </a:avLst>
            </a:prstGeom>
            <a:solidFill>
              <a:srgbClr val="F3EADA"/>
            </a:solidFill>
            <a:ln>
              <a:noFill/>
            </a:ln>
          </p:spPr>
        </p:sp>
        <p:sp>
          <p:nvSpPr>
            <p:cNvPr id="8" name="Rectangle 8"/>
            <p:cNvSpPr/>
            <p:nvPr/>
          </p:nvSpPr>
          <p:spPr>
            <a:xfrm>
              <a:off x="381000" y="762000"/>
              <a:ext cx="47625" cy="704850"/>
            </a:xfrm>
            <a:prstGeom prst="rect">
              <a:avLst/>
            </a:prstGeom>
            <a:solidFill>
              <a:srgbClr val="A3381F"/>
            </a:solidFill>
            <a:ln>
              <a:noFill/>
            </a:ln>
          </p:spPr>
        </p:sp>
        <p:sp>
          <p:nvSpPr>
            <p:cNvPr id="9" name="TextBox 9"/>
            <p:cNvSpPr txBox="1"/>
            <p:nvPr/>
          </p:nvSpPr>
          <p:spPr>
            <a:xfrm>
              <a:off x="546354" y="937260"/>
              <a:ext cx="496824" cy="234696"/>
            </a:xfrm>
            <a:prstGeom prst="rect">
              <a:avLst/>
            </a:prstGeom>
            <a:noFill/>
            <a:ln>
              <a:noFill/>
            </a:ln>
          </p:spPr>
          <p:txBody>
            <a:bodyPr wrap="none" lIns="0" tIns="0" rIns="0" bIns="0" anchor="t" anchorCtr="0">
              <a:spAutoFit/>
            </a:bodyPr>
            <a:lstStyle/>
            <a:p>
              <a:pPr algn="l"/>
              <a:r>
                <a:rPr lang="zh-CN" sz="1200" b="1" dirty="0">
                  <a:solidFill>
                    <a:srgbClr val="A3381F"/>
                  </a:solidFill>
                  <a:latin typeface="+mn-lt"/>
                  <a:ea typeface="+mn-ea"/>
                  <a:cs typeface="+mn-cs"/>
                </a:rPr>
                <a:t>标准层</a:t>
              </a:r>
            </a:p>
          </p:txBody>
        </p:sp>
        <p:sp>
          <p:nvSpPr>
            <p:cNvPr id="10" name="TextBox 10"/>
            <p:cNvSpPr txBox="1"/>
            <p:nvPr/>
          </p:nvSpPr>
          <p:spPr>
            <a:xfrm>
              <a:off x="547688" y="1180386"/>
              <a:ext cx="37020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夯实基础</a:t>
              </a:r>
              <a:br/>
              <a:r>
                <a:rPr lang="zh-CN" sz="710" dirty="0">
                  <a:solidFill>
                    <a:srgbClr val="6B6B6B"/>
                  </a:solidFill>
                  <a:latin typeface="+mn-lt"/>
                  <a:ea typeface="+mn-ea"/>
                  <a:cs typeface="+mn-cs"/>
                </a:rPr>
                <a:t>统一尺度</a:t>
              </a:r>
            </a:p>
          </p:txBody>
        </p:sp>
        <p:sp>
          <p:nvSpPr>
            <p:cNvPr id="11" name="Rectangle 11"/>
            <p:cNvSpPr/>
            <p:nvPr/>
          </p:nvSpPr>
          <p:spPr>
            <a:xfrm>
              <a:off x="1676400" y="800100"/>
              <a:ext cx="6667500" cy="628650"/>
            </a:xfrm>
            <a:prstGeom prst="roundRect">
              <a:avLst>
                <a:gd name="adj" fmla="val 12121"/>
              </a:avLst>
            </a:prstGeom>
            <a:solidFill>
              <a:srgbClr val="FFFFFF"/>
            </a:solidFill>
            <a:ln w="9525">
              <a:solidFill>
                <a:srgbClr val="E6D9C0"/>
              </a:solidFill>
            </a:ln>
          </p:spPr>
        </p:sp>
        <p:sp>
          <p:nvSpPr>
            <p:cNvPr id="12" name="Ellipse 12"/>
            <p:cNvSpPr/>
            <p:nvPr/>
          </p:nvSpPr>
          <p:spPr>
            <a:xfrm>
              <a:off x="1819275" y="933450"/>
              <a:ext cx="361950" cy="361950"/>
            </a:xfrm>
            <a:prstGeom prst="ellipse">
              <a:avLst/>
            </a:prstGeom>
            <a:solidFill>
              <a:srgbClr val="A3381F"/>
            </a:solidFill>
            <a:ln>
              <a:noFill/>
            </a:ln>
          </p:spPr>
        </p:sp>
        <p:grpSp>
          <p:nvGrpSpPr>
            <p:cNvPr id="21" name="Group 21"/>
            <p:cNvGrpSpPr/>
            <p:nvPr/>
          </p:nvGrpSpPr>
          <p:grpSpPr>
            <a:xfrm>
              <a:off x="1921669" y="1035844"/>
              <a:ext cx="157956" cy="166687"/>
              <a:chOff x="1921669" y="1035844"/>
              <a:chExt cx="157956" cy="166687"/>
            </a:xfrm>
          </p:grpSpPr>
          <p:sp>
            <p:nvSpPr>
              <p:cNvPr id="13" name="Freeform 13"/>
              <p:cNvSpPr/>
              <p:nvPr/>
            </p:nvSpPr>
            <p:spPr>
              <a:xfrm>
                <a:off x="1921669" y="1193006"/>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14" name="Freeform 14"/>
              <p:cNvSpPr/>
              <p:nvPr/>
            </p:nvSpPr>
            <p:spPr>
              <a:xfrm>
                <a:off x="1921669" y="1096963"/>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15" name="Freeform 15"/>
              <p:cNvSpPr/>
              <p:nvPr/>
            </p:nvSpPr>
            <p:spPr>
              <a:xfrm>
                <a:off x="1939131" y="1035844"/>
                <a:ext cx="122238" cy="26194"/>
              </a:xfrm>
              <a:custGeom>
                <a:avLst/>
                <a:gdLst/>
                <a:ahLst/>
                <a:cxnLst/>
                <a:rect l="l" t="t" r="r" b="b"/>
                <a:pathLst>
                  <a:path w="122238" h="26194">
                    <a:moveTo>
                      <a:pt x="0" y="26194"/>
                    </a:moveTo>
                    <a:lnTo>
                      <a:pt x="61119" y="0"/>
                    </a:lnTo>
                    <a:lnTo>
                      <a:pt x="122238" y="26194"/>
                    </a:lnTo>
                  </a:path>
                </a:pathLst>
              </a:custGeom>
              <a:noFill/>
              <a:ln w="17463">
                <a:solidFill>
                  <a:srgbClr val="FFFFFF"/>
                </a:solidFill>
              </a:ln>
            </p:spPr>
          </p:sp>
          <p:sp>
            <p:nvSpPr>
              <p:cNvPr id="16" name="Freeform 16"/>
              <p:cNvSpPr/>
              <p:nvPr/>
            </p:nvSpPr>
            <p:spPr>
              <a:xfrm>
                <a:off x="1930400" y="1096963"/>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17" name="Freeform 17"/>
              <p:cNvSpPr/>
              <p:nvPr/>
            </p:nvSpPr>
            <p:spPr>
              <a:xfrm>
                <a:off x="2070100" y="1096963"/>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18" name="Freeform 18"/>
              <p:cNvSpPr/>
              <p:nvPr/>
            </p:nvSpPr>
            <p:spPr>
              <a:xfrm>
                <a:off x="1965325" y="1131888"/>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19" name="Freeform 19"/>
              <p:cNvSpPr/>
              <p:nvPr/>
            </p:nvSpPr>
            <p:spPr>
              <a:xfrm>
                <a:off x="2000250" y="1131888"/>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20" name="Freeform 20"/>
              <p:cNvSpPr/>
              <p:nvPr/>
            </p:nvSpPr>
            <p:spPr>
              <a:xfrm>
                <a:off x="2035175" y="1131888"/>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22" name="TextBox 22"/>
            <p:cNvSpPr txBox="1"/>
            <p:nvPr/>
          </p:nvSpPr>
          <p:spPr>
            <a:xfrm>
              <a:off x="2318385" y="954881"/>
              <a:ext cx="1519174" cy="220028"/>
            </a:xfrm>
            <a:prstGeom prst="rect">
              <a:avLst/>
            </a:prstGeom>
            <a:noFill/>
            <a:ln>
              <a:noFill/>
            </a:ln>
          </p:spPr>
          <p:txBody>
            <a:bodyPr wrap="none" lIns="0" tIns="0" rIns="0" bIns="0" anchor="t" anchorCtr="0">
              <a:spAutoFit/>
            </a:bodyPr>
            <a:lstStyle/>
            <a:p>
              <a:pPr algn="l"/>
              <a:r>
                <a:rPr lang="zh-CN" sz="1120" b="1" dirty="0">
                  <a:solidFill>
                    <a:srgbClr val="5E3A33"/>
                  </a:solidFill>
                  <a:latin typeface="+mn-lt"/>
                  <a:ea typeface="+mn-ea"/>
                  <a:cs typeface="+mn-cs"/>
                </a:rPr>
                <a:t>一套全行统一客户标准</a:t>
              </a:r>
            </a:p>
          </p:txBody>
        </p:sp>
        <p:sp>
          <p:nvSpPr>
            <p:cNvPr id="23" name="TextBox 23"/>
            <p:cNvSpPr txBox="1"/>
            <p:nvPr/>
          </p:nvSpPr>
          <p:spPr>
            <a:xfrm>
              <a:off x="2319338" y="1225391"/>
              <a:ext cx="3652342"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统一定义　</a:t>
              </a:r>
              <a:r>
                <a:rPr lang="zh-CN" sz="820" dirty="0">
                  <a:solidFill>
                    <a:srgbClr val="C26D5E"/>
                  </a:solidFill>
                  <a:latin typeface="+mn-lt"/>
                  <a:ea typeface="+mn-ea"/>
                  <a:cs typeface="+mn-cs"/>
                </a:rPr>
                <a:t>｜</a:t>
              </a:r>
              <a:r>
                <a:rPr lang="zh-CN" sz="820" dirty="0">
                  <a:solidFill>
                    <a:srgbClr val="6B6B6B"/>
                  </a:solidFill>
                  <a:latin typeface="+mn-lt"/>
                  <a:ea typeface="+mn-ea"/>
                  <a:cs typeface="+mn-cs"/>
                </a:rPr>
                <a:t xml:space="preserve">　统一口径　</a:t>
              </a:r>
              <a:r>
                <a:rPr lang="zh-CN" sz="820" dirty="0">
                  <a:solidFill>
                    <a:srgbClr val="C26D5E"/>
                  </a:solidFill>
                  <a:latin typeface="+mn-lt"/>
                  <a:ea typeface="+mn-ea"/>
                  <a:cs typeface="+mn-cs"/>
                </a:rPr>
                <a:t>｜</a:t>
              </a:r>
              <a:r>
                <a:rPr lang="zh-CN" sz="820" dirty="0">
                  <a:solidFill>
                    <a:srgbClr val="6B6B6B"/>
                  </a:solidFill>
                  <a:latin typeface="+mn-lt"/>
                  <a:ea typeface="+mn-ea"/>
                  <a:cs typeface="+mn-cs"/>
                </a:rPr>
                <a:t xml:space="preserve">　统一编码　</a:t>
              </a:r>
              <a:r>
                <a:rPr lang="zh-CN" sz="820" dirty="0">
                  <a:solidFill>
                    <a:srgbClr val="C26D5E"/>
                  </a:solidFill>
                  <a:latin typeface="+mn-lt"/>
                  <a:ea typeface="+mn-ea"/>
                  <a:cs typeface="+mn-cs"/>
                </a:rPr>
                <a:t>｜</a:t>
              </a:r>
              <a:r>
                <a:rPr lang="zh-CN" sz="820" dirty="0">
                  <a:solidFill>
                    <a:srgbClr val="6B6B6B"/>
                  </a:solidFill>
                  <a:latin typeface="+mn-lt"/>
                  <a:ea typeface="+mn-ea"/>
                  <a:cs typeface="+mn-cs"/>
                </a:rPr>
                <a:t xml:space="preserve">　统一维度　</a:t>
              </a:r>
              <a:r>
                <a:rPr lang="zh-CN" sz="820" dirty="0">
                  <a:solidFill>
                    <a:srgbClr val="C26D5E"/>
                  </a:solidFill>
                  <a:latin typeface="+mn-lt"/>
                  <a:ea typeface="+mn-ea"/>
                  <a:cs typeface="+mn-cs"/>
                </a:rPr>
                <a:t>｜</a:t>
              </a:r>
              <a:r>
                <a:rPr lang="zh-CN" sz="820" dirty="0">
                  <a:solidFill>
                    <a:srgbClr val="6B6B6B"/>
                  </a:solidFill>
                  <a:latin typeface="+mn-lt"/>
                  <a:ea typeface="+mn-ea"/>
                  <a:cs typeface="+mn-cs"/>
                </a:rPr>
                <a:t xml:space="preserve">　统一数据源</a:t>
              </a:r>
            </a:p>
          </p:txBody>
        </p:sp>
      </p:grpSp>
      <p:grpSp>
        <p:nvGrpSpPr>
          <p:cNvPr id="56" name="row-identify"/>
          <p:cNvGrpSpPr/>
          <p:nvPr/>
        </p:nvGrpSpPr>
        <p:grpSpPr>
          <a:xfrm>
            <a:off x="381000" y="1562100"/>
            <a:ext cx="7962900" cy="914400"/>
            <a:chOff x="381000" y="1562100"/>
            <a:chExt cx="7962900" cy="914400"/>
          </a:xfrm>
        </p:grpSpPr>
        <p:sp>
          <p:nvSpPr>
            <p:cNvPr id="25" name="Rectangle 25"/>
            <p:cNvSpPr/>
            <p:nvPr/>
          </p:nvSpPr>
          <p:spPr>
            <a:xfrm>
              <a:off x="381000" y="1562100"/>
              <a:ext cx="1219200" cy="914400"/>
            </a:xfrm>
            <a:prstGeom prst="roundRect">
              <a:avLst>
                <a:gd name="adj" fmla="val 8333"/>
              </a:avLst>
            </a:prstGeom>
            <a:solidFill>
              <a:srgbClr val="F3EADA"/>
            </a:solidFill>
            <a:ln>
              <a:noFill/>
            </a:ln>
          </p:spPr>
        </p:sp>
        <p:sp>
          <p:nvSpPr>
            <p:cNvPr id="26" name="Rectangle 26"/>
            <p:cNvSpPr/>
            <p:nvPr/>
          </p:nvSpPr>
          <p:spPr>
            <a:xfrm>
              <a:off x="381000" y="1562100"/>
              <a:ext cx="47625" cy="914400"/>
            </a:xfrm>
            <a:prstGeom prst="rect">
              <a:avLst/>
            </a:prstGeom>
            <a:solidFill>
              <a:srgbClr val="A3381F"/>
            </a:solidFill>
            <a:ln>
              <a:noFill/>
            </a:ln>
          </p:spPr>
        </p:sp>
        <p:sp>
          <p:nvSpPr>
            <p:cNvPr id="27" name="TextBox 27"/>
            <p:cNvSpPr txBox="1"/>
            <p:nvPr/>
          </p:nvSpPr>
          <p:spPr>
            <a:xfrm>
              <a:off x="546354" y="1775460"/>
              <a:ext cx="496824" cy="234696"/>
            </a:xfrm>
            <a:prstGeom prst="rect">
              <a:avLst/>
            </a:prstGeom>
            <a:noFill/>
            <a:ln>
              <a:noFill/>
            </a:ln>
          </p:spPr>
          <p:txBody>
            <a:bodyPr wrap="none" lIns="0" tIns="0" rIns="0" bIns="0" anchor="t" anchorCtr="0">
              <a:spAutoFit/>
            </a:bodyPr>
            <a:lstStyle/>
            <a:p>
              <a:pPr algn="l"/>
              <a:r>
                <a:rPr lang="zh-CN" sz="1200" b="1" dirty="0">
                  <a:solidFill>
                    <a:srgbClr val="A3381F"/>
                  </a:solidFill>
                  <a:latin typeface="+mn-lt"/>
                  <a:ea typeface="+mn-ea"/>
                  <a:cs typeface="+mn-cs"/>
                </a:rPr>
                <a:t>识别层</a:t>
              </a:r>
            </a:p>
          </p:txBody>
        </p:sp>
        <p:sp>
          <p:nvSpPr>
            <p:cNvPr id="28" name="TextBox 28"/>
            <p:cNvSpPr txBox="1"/>
            <p:nvPr/>
          </p:nvSpPr>
          <p:spPr>
            <a:xfrm>
              <a:off x="547688" y="2018586"/>
              <a:ext cx="37020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精准识别</a:t>
              </a:r>
              <a:br/>
              <a:r>
                <a:rPr lang="zh-CN" sz="710" dirty="0">
                  <a:solidFill>
                    <a:srgbClr val="6B6B6B"/>
                  </a:solidFill>
                  <a:latin typeface="+mn-lt"/>
                  <a:ea typeface="+mn-ea"/>
                  <a:cs typeface="+mn-cs"/>
                </a:rPr>
                <a:t>动态洞察</a:t>
              </a:r>
            </a:p>
          </p:txBody>
        </p:sp>
        <p:sp>
          <p:nvSpPr>
            <p:cNvPr id="29" name="Rectangle 29"/>
            <p:cNvSpPr/>
            <p:nvPr/>
          </p:nvSpPr>
          <p:spPr>
            <a:xfrm>
              <a:off x="1676400" y="1600200"/>
              <a:ext cx="6667500" cy="838200"/>
            </a:xfrm>
            <a:prstGeom prst="roundRect">
              <a:avLst>
                <a:gd name="adj" fmla="val 9091"/>
              </a:avLst>
            </a:prstGeom>
            <a:solidFill>
              <a:srgbClr val="FFFFFF"/>
            </a:solidFill>
            <a:ln w="9525">
              <a:solidFill>
                <a:srgbClr val="E6D9C0"/>
              </a:solidFill>
            </a:ln>
          </p:spPr>
        </p:sp>
        <p:sp>
          <p:nvSpPr>
            <p:cNvPr id="30" name="TextBox 30"/>
            <p:cNvSpPr txBox="1"/>
            <p:nvPr/>
          </p:nvSpPr>
          <p:spPr>
            <a:xfrm>
              <a:off x="3751885" y="1685449"/>
              <a:ext cx="2516530" cy="190690"/>
            </a:xfrm>
            <a:prstGeom prst="rect">
              <a:avLst/>
            </a:prstGeom>
            <a:noFill/>
            <a:ln>
              <a:noFill/>
            </a:ln>
          </p:spPr>
          <p:txBody>
            <a:bodyPr wrap="none" lIns="0" tIns="0" rIns="0" bIns="0" anchor="t" anchorCtr="0">
              <a:spAutoFit/>
            </a:bodyPr>
            <a:lstStyle/>
            <a:p>
              <a:pPr algn="ctr"/>
              <a:r>
                <a:rPr lang="zh-CN" sz="980" b="1" dirty="0">
                  <a:solidFill>
                    <a:srgbClr val="A3381F"/>
                  </a:solidFill>
                  <a:latin typeface="+mn-lt"/>
                  <a:ea typeface="+mn-ea"/>
                  <a:cs typeface="+mn-cs"/>
                </a:rPr>
                <a:t>三维识别：价值分层、客群分类、动态标签</a:t>
              </a:r>
            </a:p>
          </p:txBody>
        </p:sp>
        <p:sp>
          <p:nvSpPr>
            <p:cNvPr id="31" name="Ellipse 31"/>
            <p:cNvSpPr/>
            <p:nvPr/>
          </p:nvSpPr>
          <p:spPr>
            <a:xfrm>
              <a:off x="1876425" y="1971675"/>
              <a:ext cx="285750" cy="285750"/>
            </a:xfrm>
            <a:prstGeom prst="ellipse">
              <a:avLst/>
            </a:prstGeom>
            <a:solidFill>
              <a:srgbClr val="A3381F"/>
            </a:solidFill>
            <a:ln>
              <a:noFill/>
            </a:ln>
          </p:spPr>
        </p:sp>
        <p:grpSp>
          <p:nvGrpSpPr>
            <p:cNvPr id="37" name="Group 37"/>
            <p:cNvGrpSpPr/>
            <p:nvPr/>
          </p:nvGrpSpPr>
          <p:grpSpPr>
            <a:xfrm>
              <a:off x="1955006" y="2050256"/>
              <a:ext cx="128588" cy="128588"/>
              <a:chOff x="1955006" y="2050256"/>
              <a:chExt cx="128588" cy="128588"/>
            </a:xfrm>
          </p:grpSpPr>
          <p:sp>
            <p:nvSpPr>
              <p:cNvPr id="32" name="Freeform 32"/>
              <p:cNvSpPr/>
              <p:nvPr/>
            </p:nvSpPr>
            <p:spPr>
              <a:xfrm>
                <a:off x="2005012" y="20502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33" name="Freeform 33"/>
              <p:cNvSpPr/>
              <p:nvPr/>
            </p:nvSpPr>
            <p:spPr>
              <a:xfrm>
                <a:off x="1955006" y="21502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34" name="Freeform 34"/>
              <p:cNvSpPr/>
              <p:nvPr/>
            </p:nvSpPr>
            <p:spPr>
              <a:xfrm>
                <a:off x="2055019" y="21502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35" name="Freeform 35"/>
              <p:cNvSpPr/>
              <p:nvPr/>
            </p:nvSpPr>
            <p:spPr>
              <a:xfrm>
                <a:off x="1980009" y="2121694"/>
                <a:ext cx="78581" cy="32147"/>
              </a:xfrm>
              <a:custGeom>
                <a:avLst/>
                <a:gdLst/>
                <a:ahLst/>
                <a:cxnLst/>
                <a:rect l="l" t="t" r="r" b="b"/>
                <a:pathLst>
                  <a:path w="78581" h="32147">
                    <a:moveTo>
                      <a:pt x="0" y="32147"/>
                    </a:moveTo>
                    <a:lnTo>
                      <a:pt x="39291" y="0"/>
                    </a:lnTo>
                    <a:lnTo>
                      <a:pt x="78581" y="32147"/>
                    </a:lnTo>
                  </a:path>
                </a:pathLst>
              </a:custGeom>
              <a:noFill/>
              <a:ln w="14288">
                <a:solidFill>
                  <a:srgbClr val="FFFFFF"/>
                </a:solidFill>
              </a:ln>
            </p:spPr>
          </p:sp>
          <p:sp>
            <p:nvSpPr>
              <p:cNvPr id="36" name="Freeform 36"/>
              <p:cNvSpPr/>
              <p:nvPr/>
            </p:nvSpPr>
            <p:spPr>
              <a:xfrm>
                <a:off x="2019300" y="2078831"/>
                <a:ext cx="9525" cy="42862"/>
              </a:xfrm>
              <a:custGeom>
                <a:avLst/>
                <a:gdLst/>
                <a:ahLst/>
                <a:cxnLst/>
                <a:rect l="l" t="t" r="r" b="b"/>
                <a:pathLst>
                  <a:path w="9525" h="42862">
                    <a:moveTo>
                      <a:pt x="0" y="0"/>
                    </a:moveTo>
                    <a:lnTo>
                      <a:pt x="0" y="42862"/>
                    </a:lnTo>
                  </a:path>
                </a:pathLst>
              </a:custGeom>
              <a:noFill/>
              <a:ln w="14288">
                <a:solidFill>
                  <a:srgbClr val="FFFFFF"/>
                </a:solidFill>
              </a:ln>
            </p:spPr>
          </p:sp>
        </p:grpSp>
        <p:sp>
          <p:nvSpPr>
            <p:cNvPr id="38" name="TextBox 38"/>
            <p:cNvSpPr txBox="1"/>
            <p:nvPr/>
          </p:nvSpPr>
          <p:spPr>
            <a:xfrm>
              <a:off x="2261997" y="198072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价值分层</a:t>
              </a:r>
            </a:p>
          </p:txBody>
        </p:sp>
        <p:sp>
          <p:nvSpPr>
            <p:cNvPr id="39" name="TextBox 39"/>
            <p:cNvSpPr txBox="1"/>
            <p:nvPr/>
          </p:nvSpPr>
          <p:spPr>
            <a:xfrm>
              <a:off x="2262188" y="2180511"/>
              <a:ext cx="73088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基于客户价值贡献</a:t>
              </a:r>
              <a:br/>
              <a:r>
                <a:rPr lang="zh-CN" sz="710" dirty="0">
                  <a:solidFill>
                    <a:srgbClr val="6B6B6B"/>
                  </a:solidFill>
                  <a:latin typeface="+mn-lt"/>
                  <a:ea typeface="+mn-ea"/>
                  <a:cs typeface="+mn-cs"/>
                </a:rPr>
                <a:t>划分价值层级</a:t>
              </a:r>
            </a:p>
          </p:txBody>
        </p:sp>
        <p:sp>
          <p:nvSpPr>
            <p:cNvPr id="40" name="Ellipse 40"/>
            <p:cNvSpPr/>
            <p:nvPr/>
          </p:nvSpPr>
          <p:spPr>
            <a:xfrm>
              <a:off x="4124325" y="1971675"/>
              <a:ext cx="285750" cy="285750"/>
            </a:xfrm>
            <a:prstGeom prst="ellipse">
              <a:avLst/>
            </a:prstGeom>
            <a:solidFill>
              <a:srgbClr val="C26D5E"/>
            </a:solidFill>
            <a:ln>
              <a:noFill/>
            </a:ln>
          </p:spPr>
        </p:sp>
        <p:grpSp>
          <p:nvGrpSpPr>
            <p:cNvPr id="47" name="Group 47"/>
            <p:cNvGrpSpPr/>
            <p:nvPr/>
          </p:nvGrpSpPr>
          <p:grpSpPr>
            <a:xfrm>
              <a:off x="4202906" y="2050256"/>
              <a:ext cx="128588" cy="128587"/>
              <a:chOff x="4202906" y="2050256"/>
              <a:chExt cx="128588" cy="128587"/>
            </a:xfrm>
          </p:grpSpPr>
          <p:sp>
            <p:nvSpPr>
              <p:cNvPr id="41" name="Freeform 41"/>
              <p:cNvSpPr/>
              <p:nvPr/>
            </p:nvSpPr>
            <p:spPr>
              <a:xfrm>
                <a:off x="4252912" y="21074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42" name="Freeform 42"/>
              <p:cNvSpPr/>
              <p:nvPr/>
            </p:nvSpPr>
            <p:spPr>
              <a:xfrm>
                <a:off x="4238625" y="215741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FFFFFF"/>
                </a:solidFill>
              </a:ln>
            </p:spPr>
          </p:sp>
          <p:sp>
            <p:nvSpPr>
              <p:cNvPr id="43" name="Freeform 43"/>
              <p:cNvSpPr/>
              <p:nvPr/>
            </p:nvSpPr>
            <p:spPr>
              <a:xfrm>
                <a:off x="4288631" y="20502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44" name="Freeform 44"/>
              <p:cNvSpPr/>
              <p:nvPr/>
            </p:nvSpPr>
            <p:spPr>
              <a:xfrm>
                <a:off x="4302919" y="210026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FFFFFF"/>
                </a:solidFill>
              </a:ln>
            </p:spPr>
          </p:sp>
          <p:sp>
            <p:nvSpPr>
              <p:cNvPr id="45" name="Freeform 45"/>
              <p:cNvSpPr/>
              <p:nvPr/>
            </p:nvSpPr>
            <p:spPr>
              <a:xfrm>
                <a:off x="4217194" y="20502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46" name="Freeform 46"/>
              <p:cNvSpPr/>
              <p:nvPr/>
            </p:nvSpPr>
            <p:spPr>
              <a:xfrm>
                <a:off x="4202906" y="210026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FFFFFF"/>
                </a:solidFill>
              </a:ln>
            </p:spPr>
          </p:sp>
        </p:grpSp>
        <p:sp>
          <p:nvSpPr>
            <p:cNvPr id="48" name="TextBox 48"/>
            <p:cNvSpPr txBox="1"/>
            <p:nvPr/>
          </p:nvSpPr>
          <p:spPr>
            <a:xfrm>
              <a:off x="4509897" y="198072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客群分类</a:t>
              </a:r>
            </a:p>
          </p:txBody>
        </p:sp>
        <p:sp>
          <p:nvSpPr>
            <p:cNvPr id="49" name="TextBox 49"/>
            <p:cNvSpPr txBox="1"/>
            <p:nvPr/>
          </p:nvSpPr>
          <p:spPr>
            <a:xfrm>
              <a:off x="4510088" y="2180511"/>
              <a:ext cx="82105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基于客群特征与需求</a:t>
              </a:r>
              <a:br/>
              <a:r>
                <a:rPr lang="zh-CN" sz="710" dirty="0">
                  <a:solidFill>
                    <a:srgbClr val="6B6B6B"/>
                  </a:solidFill>
                  <a:latin typeface="+mn-lt"/>
                  <a:ea typeface="+mn-ea"/>
                  <a:cs typeface="+mn-cs"/>
                </a:rPr>
                <a:t>进行客群划分</a:t>
              </a:r>
            </a:p>
          </p:txBody>
        </p:sp>
        <p:sp>
          <p:nvSpPr>
            <p:cNvPr id="50" name="Ellipse 50"/>
            <p:cNvSpPr/>
            <p:nvPr/>
          </p:nvSpPr>
          <p:spPr>
            <a:xfrm>
              <a:off x="6372225" y="1971675"/>
              <a:ext cx="285750" cy="285750"/>
            </a:xfrm>
            <a:prstGeom prst="ellipse">
              <a:avLst/>
            </a:prstGeom>
            <a:solidFill>
              <a:srgbClr val="A3381F"/>
            </a:solidFill>
            <a:ln>
              <a:noFill/>
            </a:ln>
          </p:spPr>
        </p:sp>
        <p:grpSp>
          <p:nvGrpSpPr>
            <p:cNvPr id="53" name="Group 53"/>
            <p:cNvGrpSpPr/>
            <p:nvPr/>
          </p:nvGrpSpPr>
          <p:grpSpPr>
            <a:xfrm>
              <a:off x="6450806" y="2050256"/>
              <a:ext cx="130281" cy="130281"/>
              <a:chOff x="6450806" y="2050256"/>
              <a:chExt cx="130281" cy="130281"/>
            </a:xfrm>
          </p:grpSpPr>
          <p:sp>
            <p:nvSpPr>
              <p:cNvPr id="51" name="Freeform 51"/>
              <p:cNvSpPr/>
              <p:nvPr/>
            </p:nvSpPr>
            <p:spPr>
              <a:xfrm>
                <a:off x="6475809" y="2075259"/>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52" name="Freeform 52"/>
              <p:cNvSpPr/>
              <p:nvPr/>
            </p:nvSpPr>
            <p:spPr>
              <a:xfrm>
                <a:off x="6450806" y="2050256"/>
                <a:ext cx="130281" cy="130281"/>
              </a:xfrm>
              <a:custGeom>
                <a:avLst/>
                <a:gdLst/>
                <a:ahLst/>
                <a:cxnLst/>
                <a:rect l="l" t="t" r="r" b="b"/>
                <a:pathLst>
                  <a:path w="130281" h="130281">
                    <a:moveTo>
                      <a:pt x="0" y="21431"/>
                    </a:moveTo>
                    <a:lnTo>
                      <a:pt x="0" y="58379"/>
                    </a:lnTo>
                    <a:cubicBezTo>
                      <a:pt x="1" y="62168"/>
                      <a:pt x="1507" y="65801"/>
                      <a:pt x="4186" y="68480"/>
                    </a:cubicBezTo>
                    <a:lnTo>
                      <a:pt x="59265" y="123558"/>
                    </a:lnTo>
                    <a:cubicBezTo>
                      <a:pt x="65988" y="130281"/>
                      <a:pt x="76887" y="130281"/>
                      <a:pt x="83610" y="123558"/>
                    </a:cubicBezTo>
                    <a:lnTo>
                      <a:pt x="123558" y="83610"/>
                    </a:lnTo>
                    <a:cubicBezTo>
                      <a:pt x="130281" y="76887"/>
                      <a:pt x="130281" y="65988"/>
                      <a:pt x="123558" y="59265"/>
                    </a:cubicBezTo>
                    <a:lnTo>
                      <a:pt x="68480" y="4186"/>
                    </a:lnTo>
                    <a:cubicBezTo>
                      <a:pt x="65801" y="1507"/>
                      <a:pt x="62168" y="1"/>
                      <a:pt x="58379" y="0"/>
                    </a:cubicBezTo>
                    <a:lnTo>
                      <a:pt x="21431" y="0"/>
                    </a:lnTo>
                    <a:cubicBezTo>
                      <a:pt x="15747" y="0"/>
                      <a:pt x="10296" y="2258"/>
                      <a:pt x="6277" y="6277"/>
                    </a:cubicBezTo>
                    <a:cubicBezTo>
                      <a:pt x="2258" y="10296"/>
                      <a:pt x="0" y="15747"/>
                      <a:pt x="0" y="21431"/>
                    </a:cubicBezTo>
                  </a:path>
                </a:pathLst>
              </a:custGeom>
              <a:noFill/>
              <a:ln w="14288">
                <a:solidFill>
                  <a:srgbClr val="FFFFFF"/>
                </a:solidFill>
              </a:ln>
            </p:spPr>
          </p:sp>
        </p:grpSp>
        <p:sp>
          <p:nvSpPr>
            <p:cNvPr id="54" name="TextBox 54"/>
            <p:cNvSpPr txBox="1"/>
            <p:nvPr/>
          </p:nvSpPr>
          <p:spPr>
            <a:xfrm>
              <a:off x="6757797" y="198072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动态标签</a:t>
              </a:r>
            </a:p>
          </p:txBody>
        </p:sp>
        <p:sp>
          <p:nvSpPr>
            <p:cNvPr id="55" name="TextBox 55"/>
            <p:cNvSpPr txBox="1"/>
            <p:nvPr/>
          </p:nvSpPr>
          <p:spPr>
            <a:xfrm>
              <a:off x="6757988" y="2180511"/>
              <a:ext cx="55054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多维标签体系</a:t>
              </a:r>
              <a:br/>
              <a:r>
                <a:rPr lang="zh-CN" sz="710" dirty="0">
                  <a:solidFill>
                    <a:srgbClr val="6B6B6B"/>
                  </a:solidFill>
                  <a:latin typeface="+mn-lt"/>
                  <a:ea typeface="+mn-ea"/>
                  <a:cs typeface="+mn-cs"/>
                </a:rPr>
                <a:t>动态更新迭代</a:t>
              </a:r>
            </a:p>
          </p:txBody>
        </p:sp>
      </p:grpSp>
      <p:grpSp>
        <p:nvGrpSpPr>
          <p:cNvPr id="122" name="row-ability"/>
          <p:cNvGrpSpPr/>
          <p:nvPr/>
        </p:nvGrpSpPr>
        <p:grpSpPr>
          <a:xfrm>
            <a:off x="381000" y="2571750"/>
            <a:ext cx="7962900" cy="1809750"/>
            <a:chOff x="381000" y="2571750"/>
            <a:chExt cx="7962900" cy="1809750"/>
          </a:xfrm>
        </p:grpSpPr>
        <p:sp>
          <p:nvSpPr>
            <p:cNvPr id="57" name="Rectangle 57"/>
            <p:cNvSpPr/>
            <p:nvPr/>
          </p:nvSpPr>
          <p:spPr>
            <a:xfrm>
              <a:off x="381000" y="2571750"/>
              <a:ext cx="1219200" cy="1809750"/>
            </a:xfrm>
            <a:prstGeom prst="roundRect">
              <a:avLst>
                <a:gd name="adj" fmla="val 6250"/>
              </a:avLst>
            </a:prstGeom>
            <a:solidFill>
              <a:srgbClr val="F3EADA"/>
            </a:solidFill>
            <a:ln>
              <a:noFill/>
            </a:ln>
          </p:spPr>
        </p:sp>
        <p:sp>
          <p:nvSpPr>
            <p:cNvPr id="58" name="Rectangle 58"/>
            <p:cNvSpPr/>
            <p:nvPr/>
          </p:nvSpPr>
          <p:spPr>
            <a:xfrm>
              <a:off x="381000" y="2571750"/>
              <a:ext cx="47625" cy="1809750"/>
            </a:xfrm>
            <a:prstGeom prst="rect">
              <a:avLst/>
            </a:prstGeom>
            <a:solidFill>
              <a:srgbClr val="A3381F"/>
            </a:solidFill>
            <a:ln>
              <a:noFill/>
            </a:ln>
          </p:spPr>
        </p:sp>
        <p:sp>
          <p:nvSpPr>
            <p:cNvPr id="59" name="TextBox 59"/>
            <p:cNvSpPr txBox="1"/>
            <p:nvPr/>
          </p:nvSpPr>
          <p:spPr>
            <a:xfrm>
              <a:off x="546354" y="2785110"/>
              <a:ext cx="496824" cy="234696"/>
            </a:xfrm>
            <a:prstGeom prst="rect">
              <a:avLst/>
            </a:prstGeom>
            <a:noFill/>
            <a:ln>
              <a:noFill/>
            </a:ln>
          </p:spPr>
          <p:txBody>
            <a:bodyPr wrap="none" lIns="0" tIns="0" rIns="0" bIns="0" anchor="t" anchorCtr="0">
              <a:spAutoFit/>
            </a:bodyPr>
            <a:lstStyle/>
            <a:p>
              <a:pPr algn="l"/>
              <a:r>
                <a:rPr lang="zh-CN" sz="1200" b="1" dirty="0">
                  <a:solidFill>
                    <a:srgbClr val="A3381F"/>
                  </a:solidFill>
                  <a:latin typeface="+mn-lt"/>
                  <a:ea typeface="+mn-ea"/>
                  <a:cs typeface="+mn-cs"/>
                </a:rPr>
                <a:t>能力层</a:t>
              </a:r>
            </a:p>
          </p:txBody>
        </p:sp>
        <p:sp>
          <p:nvSpPr>
            <p:cNvPr id="60" name="TextBox 60"/>
            <p:cNvSpPr txBox="1"/>
            <p:nvPr/>
          </p:nvSpPr>
          <p:spPr>
            <a:xfrm>
              <a:off x="547688" y="3028236"/>
              <a:ext cx="37020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赋能业务</a:t>
              </a:r>
              <a:br/>
              <a:r>
                <a:rPr lang="zh-CN" sz="710" dirty="0">
                  <a:solidFill>
                    <a:srgbClr val="6B6B6B"/>
                  </a:solidFill>
                  <a:latin typeface="+mn-lt"/>
                  <a:ea typeface="+mn-ea"/>
                  <a:cs typeface="+mn-cs"/>
                </a:rPr>
                <a:t>闭环管理</a:t>
              </a:r>
            </a:p>
          </p:txBody>
        </p:sp>
        <p:sp>
          <p:nvSpPr>
            <p:cNvPr id="61" name="Rectangle 61"/>
            <p:cNvSpPr/>
            <p:nvPr/>
          </p:nvSpPr>
          <p:spPr>
            <a:xfrm>
              <a:off x="1676400" y="2609850"/>
              <a:ext cx="6667500" cy="1733550"/>
            </a:xfrm>
            <a:prstGeom prst="roundRect">
              <a:avLst>
                <a:gd name="adj" fmla="val 4396"/>
              </a:avLst>
            </a:prstGeom>
            <a:solidFill>
              <a:srgbClr val="FFFFFF"/>
            </a:solidFill>
            <a:ln w="9525">
              <a:solidFill>
                <a:srgbClr val="E6D9C0"/>
              </a:solidFill>
            </a:ln>
          </p:spPr>
        </p:sp>
        <p:sp>
          <p:nvSpPr>
            <p:cNvPr id="62" name="TextBox 62"/>
            <p:cNvSpPr txBox="1"/>
            <p:nvPr/>
          </p:nvSpPr>
          <p:spPr>
            <a:xfrm>
              <a:off x="3092247" y="2695099"/>
              <a:ext cx="3835806" cy="190690"/>
            </a:xfrm>
            <a:prstGeom prst="rect">
              <a:avLst/>
            </a:prstGeom>
            <a:noFill/>
            <a:ln>
              <a:noFill/>
            </a:ln>
          </p:spPr>
          <p:txBody>
            <a:bodyPr wrap="none" lIns="0" tIns="0" rIns="0" bIns="0" anchor="t" anchorCtr="0">
              <a:spAutoFit/>
            </a:bodyPr>
            <a:lstStyle/>
            <a:p>
              <a:pPr algn="ctr"/>
              <a:r>
                <a:rPr lang="zh-CN" sz="980" b="1" dirty="0">
                  <a:solidFill>
                    <a:srgbClr val="A3381F"/>
                  </a:solidFill>
                  <a:latin typeface="+mn-lt"/>
                  <a:ea typeface="+mn-ea"/>
                  <a:cs typeface="+mn-cs"/>
                </a:rPr>
                <a:t>五类能力：客户洞察、策略配置、任务执行、权益管理、效果评价</a:t>
              </a:r>
            </a:p>
          </p:txBody>
        </p:sp>
        <p:sp>
          <p:nvSpPr>
            <p:cNvPr id="63" name="Ellipse 63"/>
            <p:cNvSpPr/>
            <p:nvPr/>
          </p:nvSpPr>
          <p:spPr>
            <a:xfrm>
              <a:off x="1866900" y="2952750"/>
              <a:ext cx="304800" cy="304800"/>
            </a:xfrm>
            <a:prstGeom prst="ellipse">
              <a:avLst/>
            </a:prstGeom>
            <a:solidFill>
              <a:srgbClr val="A3381F"/>
            </a:solidFill>
            <a:ln>
              <a:noFill/>
            </a:ln>
          </p:spPr>
        </p:sp>
        <p:grpSp>
          <p:nvGrpSpPr>
            <p:cNvPr id="66" name="Group 66"/>
            <p:cNvGrpSpPr/>
            <p:nvPr/>
          </p:nvGrpSpPr>
          <p:grpSpPr>
            <a:xfrm>
              <a:off x="1955006" y="3062288"/>
              <a:ext cx="128588" cy="85725"/>
              <a:chOff x="1955006" y="3062288"/>
              <a:chExt cx="128588" cy="85725"/>
            </a:xfrm>
          </p:grpSpPr>
          <p:sp>
            <p:nvSpPr>
              <p:cNvPr id="64" name="Freeform 64"/>
              <p:cNvSpPr/>
              <p:nvPr/>
            </p:nvSpPr>
            <p:spPr>
              <a:xfrm>
                <a:off x="2005012" y="309086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65" name="Freeform 65"/>
              <p:cNvSpPr/>
              <p:nvPr/>
            </p:nvSpPr>
            <p:spPr>
              <a:xfrm>
                <a:off x="1955006" y="3062288"/>
                <a:ext cx="128588" cy="85725"/>
              </a:xfrm>
              <a:custGeom>
                <a:avLst/>
                <a:gdLst/>
                <a:ahLst/>
                <a:cxnLst/>
                <a:rect l="l" t="t" r="r" b="b"/>
                <a:pathLst>
                  <a:path w="128588" h="85725">
                    <a:moveTo>
                      <a:pt x="128588" y="42862"/>
                    </a:moveTo>
                    <a:cubicBezTo>
                      <a:pt x="111442" y="71438"/>
                      <a:pt x="90011" y="85725"/>
                      <a:pt x="64294" y="85725"/>
                    </a:cubicBezTo>
                    <a:cubicBezTo>
                      <a:pt x="38576" y="85725"/>
                      <a:pt x="17145" y="71438"/>
                      <a:pt x="0" y="42862"/>
                    </a:cubicBezTo>
                    <a:cubicBezTo>
                      <a:pt x="17145" y="14288"/>
                      <a:pt x="38576" y="0"/>
                      <a:pt x="64294" y="0"/>
                    </a:cubicBezTo>
                    <a:cubicBezTo>
                      <a:pt x="90011" y="0"/>
                      <a:pt x="111442" y="14288"/>
                      <a:pt x="128588" y="42862"/>
                    </a:cubicBezTo>
                  </a:path>
                </a:pathLst>
              </a:custGeom>
              <a:noFill/>
              <a:ln w="14288">
                <a:solidFill>
                  <a:srgbClr val="FFFFFF"/>
                </a:solidFill>
              </a:ln>
            </p:spPr>
          </p:sp>
        </p:grpSp>
        <p:sp>
          <p:nvSpPr>
            <p:cNvPr id="67" name="TextBox 67"/>
            <p:cNvSpPr txBox="1"/>
            <p:nvPr/>
          </p:nvSpPr>
          <p:spPr>
            <a:xfrm>
              <a:off x="2300288" y="3051572"/>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客户洞察</a:t>
              </a:r>
            </a:p>
          </p:txBody>
        </p:sp>
        <p:sp>
          <p:nvSpPr>
            <p:cNvPr id="68" name="Ellipse 68"/>
            <p:cNvSpPr/>
            <p:nvPr/>
          </p:nvSpPr>
          <p:spPr>
            <a:xfrm>
              <a:off x="1847850" y="3409950"/>
              <a:ext cx="38100" cy="38100"/>
            </a:xfrm>
            <a:prstGeom prst="ellipse">
              <a:avLst/>
            </a:prstGeom>
            <a:solidFill>
              <a:srgbClr val="C26D5E"/>
            </a:solidFill>
            <a:ln>
              <a:noFill/>
            </a:ln>
          </p:spPr>
        </p:sp>
        <p:sp>
          <p:nvSpPr>
            <p:cNvPr id="69" name="TextBox 69"/>
            <p:cNvSpPr txBox="1"/>
            <p:nvPr/>
          </p:nvSpPr>
          <p:spPr>
            <a:xfrm>
              <a:off x="1938338" y="3390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客户画像</a:t>
              </a:r>
            </a:p>
          </p:txBody>
        </p:sp>
        <p:sp>
          <p:nvSpPr>
            <p:cNvPr id="70" name="Ellipse 70"/>
            <p:cNvSpPr/>
            <p:nvPr/>
          </p:nvSpPr>
          <p:spPr>
            <a:xfrm>
              <a:off x="1847850" y="3600450"/>
              <a:ext cx="38100" cy="38100"/>
            </a:xfrm>
            <a:prstGeom prst="ellipse">
              <a:avLst/>
            </a:prstGeom>
            <a:solidFill>
              <a:srgbClr val="C26D5E"/>
            </a:solidFill>
            <a:ln>
              <a:noFill/>
            </a:ln>
          </p:spPr>
        </p:sp>
        <p:sp>
          <p:nvSpPr>
            <p:cNvPr id="71" name="TextBox 71"/>
            <p:cNvSpPr txBox="1"/>
            <p:nvPr/>
          </p:nvSpPr>
          <p:spPr>
            <a:xfrm>
              <a:off x="1938338" y="35806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需求洞察</a:t>
              </a:r>
            </a:p>
          </p:txBody>
        </p:sp>
        <p:sp>
          <p:nvSpPr>
            <p:cNvPr id="72" name="Ellipse 72"/>
            <p:cNvSpPr/>
            <p:nvPr/>
          </p:nvSpPr>
          <p:spPr>
            <a:xfrm>
              <a:off x="1847850" y="3790950"/>
              <a:ext cx="38100" cy="38100"/>
            </a:xfrm>
            <a:prstGeom prst="ellipse">
              <a:avLst/>
            </a:prstGeom>
            <a:solidFill>
              <a:srgbClr val="C26D5E"/>
            </a:solidFill>
            <a:ln>
              <a:noFill/>
            </a:ln>
          </p:spPr>
        </p:sp>
        <p:sp>
          <p:nvSpPr>
            <p:cNvPr id="73" name="TextBox 73"/>
            <p:cNvSpPr txBox="1"/>
            <p:nvPr/>
          </p:nvSpPr>
          <p:spPr>
            <a:xfrm>
              <a:off x="1938338" y="3771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机会识别</a:t>
              </a:r>
            </a:p>
          </p:txBody>
        </p:sp>
        <p:sp>
          <p:nvSpPr>
            <p:cNvPr id="74" name="Ellipse 74"/>
            <p:cNvSpPr/>
            <p:nvPr/>
          </p:nvSpPr>
          <p:spPr>
            <a:xfrm>
              <a:off x="3114675" y="2952750"/>
              <a:ext cx="304800" cy="304800"/>
            </a:xfrm>
            <a:prstGeom prst="ellipse">
              <a:avLst/>
            </a:prstGeom>
            <a:solidFill>
              <a:srgbClr val="C26D5E"/>
            </a:solidFill>
            <a:ln>
              <a:noFill/>
            </a:ln>
          </p:spPr>
        </p:sp>
        <p:grpSp>
          <p:nvGrpSpPr>
            <p:cNvPr id="77" name="Group 77"/>
            <p:cNvGrpSpPr/>
            <p:nvPr/>
          </p:nvGrpSpPr>
          <p:grpSpPr>
            <a:xfrm>
              <a:off x="3199645" y="3037720"/>
              <a:ext cx="134860" cy="134860"/>
              <a:chOff x="3199645" y="3037720"/>
              <a:chExt cx="134860" cy="134860"/>
            </a:xfrm>
          </p:grpSpPr>
          <p:sp>
            <p:nvSpPr>
              <p:cNvPr id="75" name="Freeform 75"/>
              <p:cNvSpPr/>
              <p:nvPr/>
            </p:nvSpPr>
            <p:spPr>
              <a:xfrm>
                <a:off x="3199645" y="3037720"/>
                <a:ext cx="134860" cy="134860"/>
              </a:xfrm>
              <a:custGeom>
                <a:avLst/>
                <a:gdLst/>
                <a:ahLst/>
                <a:cxnLst/>
                <a:rect l="l" t="t" r="r" b="b"/>
                <a:pathLst>
                  <a:path w="134860" h="134860">
                    <a:moveTo>
                      <a:pt x="55464" y="12544"/>
                    </a:moveTo>
                    <a:cubicBezTo>
                      <a:pt x="58507" y="0"/>
                      <a:pt x="76352" y="0"/>
                      <a:pt x="79396" y="12544"/>
                    </a:cubicBezTo>
                    <a:cubicBezTo>
                      <a:pt x="80322" y="16367"/>
                      <a:pt x="83018" y="19517"/>
                      <a:pt x="86651" y="21022"/>
                    </a:cubicBezTo>
                    <a:cubicBezTo>
                      <a:pt x="90285" y="22528"/>
                      <a:pt x="94419" y="22207"/>
                      <a:pt x="97777" y="20160"/>
                    </a:cubicBezTo>
                    <a:cubicBezTo>
                      <a:pt x="108799" y="13445"/>
                      <a:pt x="121422" y="26060"/>
                      <a:pt x="114707" y="37090"/>
                    </a:cubicBezTo>
                    <a:cubicBezTo>
                      <a:pt x="112663" y="40447"/>
                      <a:pt x="112343" y="44578"/>
                      <a:pt x="113847" y="48209"/>
                    </a:cubicBezTo>
                    <a:cubicBezTo>
                      <a:pt x="115350" y="51840"/>
                      <a:pt x="118496" y="54535"/>
                      <a:pt x="122315" y="55464"/>
                    </a:cubicBezTo>
                    <a:cubicBezTo>
                      <a:pt x="134860" y="58507"/>
                      <a:pt x="134860" y="76352"/>
                      <a:pt x="122315" y="79396"/>
                    </a:cubicBezTo>
                    <a:cubicBezTo>
                      <a:pt x="118493" y="80322"/>
                      <a:pt x="115343" y="83018"/>
                      <a:pt x="113837" y="86651"/>
                    </a:cubicBezTo>
                    <a:cubicBezTo>
                      <a:pt x="112332" y="90285"/>
                      <a:pt x="112653" y="94419"/>
                      <a:pt x="114700" y="97777"/>
                    </a:cubicBezTo>
                    <a:cubicBezTo>
                      <a:pt x="121415" y="108799"/>
                      <a:pt x="108799" y="121422"/>
                      <a:pt x="97769" y="114707"/>
                    </a:cubicBezTo>
                    <a:cubicBezTo>
                      <a:pt x="94413" y="112663"/>
                      <a:pt x="90282" y="112343"/>
                      <a:pt x="86651" y="113847"/>
                    </a:cubicBezTo>
                    <a:cubicBezTo>
                      <a:pt x="83020" y="115350"/>
                      <a:pt x="80324" y="118496"/>
                      <a:pt x="79396" y="122315"/>
                    </a:cubicBezTo>
                    <a:cubicBezTo>
                      <a:pt x="76352" y="134860"/>
                      <a:pt x="58507" y="134860"/>
                      <a:pt x="55464" y="122315"/>
                    </a:cubicBezTo>
                    <a:cubicBezTo>
                      <a:pt x="54538" y="118493"/>
                      <a:pt x="51842" y="115343"/>
                      <a:pt x="48209" y="113837"/>
                    </a:cubicBezTo>
                    <a:cubicBezTo>
                      <a:pt x="44575" y="112332"/>
                      <a:pt x="40441" y="112653"/>
                      <a:pt x="37083" y="114700"/>
                    </a:cubicBezTo>
                    <a:cubicBezTo>
                      <a:pt x="26060" y="121415"/>
                      <a:pt x="13437" y="108799"/>
                      <a:pt x="20153" y="97769"/>
                    </a:cubicBezTo>
                    <a:cubicBezTo>
                      <a:pt x="22197" y="94413"/>
                      <a:pt x="22517" y="90282"/>
                      <a:pt x="21013" y="86651"/>
                    </a:cubicBezTo>
                    <a:cubicBezTo>
                      <a:pt x="19510" y="83020"/>
                      <a:pt x="16363" y="80324"/>
                      <a:pt x="12544" y="79396"/>
                    </a:cubicBezTo>
                    <a:cubicBezTo>
                      <a:pt x="0" y="76352"/>
                      <a:pt x="0" y="58507"/>
                      <a:pt x="12544" y="55464"/>
                    </a:cubicBezTo>
                    <a:cubicBezTo>
                      <a:pt x="16367" y="54538"/>
                      <a:pt x="19517" y="51842"/>
                      <a:pt x="21022" y="48209"/>
                    </a:cubicBezTo>
                    <a:cubicBezTo>
                      <a:pt x="22528" y="44575"/>
                      <a:pt x="22207" y="40441"/>
                      <a:pt x="20160" y="37083"/>
                    </a:cubicBezTo>
                    <a:cubicBezTo>
                      <a:pt x="13445" y="26060"/>
                      <a:pt x="26060" y="13437"/>
                      <a:pt x="37090" y="20153"/>
                    </a:cubicBezTo>
                    <a:cubicBezTo>
                      <a:pt x="44234" y="24496"/>
                      <a:pt x="53492" y="20653"/>
                      <a:pt x="55464" y="12544"/>
                    </a:cubicBezTo>
                  </a:path>
                </a:pathLst>
              </a:custGeom>
              <a:noFill/>
              <a:ln w="14288">
                <a:solidFill>
                  <a:srgbClr val="FFFFFF"/>
                </a:solidFill>
              </a:ln>
            </p:spPr>
          </p:sp>
          <p:sp>
            <p:nvSpPr>
              <p:cNvPr id="76" name="Freeform 76"/>
              <p:cNvSpPr/>
              <p:nvPr/>
            </p:nvSpPr>
            <p:spPr>
              <a:xfrm>
                <a:off x="3245644" y="3083719"/>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FFFFFF"/>
                </a:solidFill>
              </a:ln>
            </p:spPr>
          </p:sp>
        </p:grpSp>
        <p:sp>
          <p:nvSpPr>
            <p:cNvPr id="78" name="TextBox 78"/>
            <p:cNvSpPr txBox="1"/>
            <p:nvPr/>
          </p:nvSpPr>
          <p:spPr>
            <a:xfrm>
              <a:off x="3548062" y="3051572"/>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策略配置</a:t>
              </a:r>
            </a:p>
          </p:txBody>
        </p:sp>
        <p:sp>
          <p:nvSpPr>
            <p:cNvPr id="79" name="Ellipse 79"/>
            <p:cNvSpPr/>
            <p:nvPr/>
          </p:nvSpPr>
          <p:spPr>
            <a:xfrm>
              <a:off x="3095625" y="3409950"/>
              <a:ext cx="38100" cy="38100"/>
            </a:xfrm>
            <a:prstGeom prst="ellipse">
              <a:avLst/>
            </a:prstGeom>
            <a:solidFill>
              <a:srgbClr val="C26D5E"/>
            </a:solidFill>
            <a:ln>
              <a:noFill/>
            </a:ln>
          </p:spPr>
        </p:sp>
        <p:sp>
          <p:nvSpPr>
            <p:cNvPr id="80" name="TextBox 80"/>
            <p:cNvSpPr txBox="1"/>
            <p:nvPr/>
          </p:nvSpPr>
          <p:spPr>
            <a:xfrm>
              <a:off x="3186112" y="3390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策略制定</a:t>
              </a:r>
            </a:p>
          </p:txBody>
        </p:sp>
        <p:sp>
          <p:nvSpPr>
            <p:cNvPr id="81" name="Ellipse 81"/>
            <p:cNvSpPr/>
            <p:nvPr/>
          </p:nvSpPr>
          <p:spPr>
            <a:xfrm>
              <a:off x="3095625" y="3600450"/>
              <a:ext cx="38100" cy="38100"/>
            </a:xfrm>
            <a:prstGeom prst="ellipse">
              <a:avLst/>
            </a:prstGeom>
            <a:solidFill>
              <a:srgbClr val="C26D5E"/>
            </a:solidFill>
            <a:ln>
              <a:noFill/>
            </a:ln>
          </p:spPr>
        </p:sp>
        <p:sp>
          <p:nvSpPr>
            <p:cNvPr id="82" name="TextBox 82"/>
            <p:cNvSpPr txBox="1"/>
            <p:nvPr/>
          </p:nvSpPr>
          <p:spPr>
            <a:xfrm>
              <a:off x="3186112" y="35806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产品匹配</a:t>
              </a:r>
            </a:p>
          </p:txBody>
        </p:sp>
        <p:sp>
          <p:nvSpPr>
            <p:cNvPr id="83" name="Ellipse 83"/>
            <p:cNvSpPr/>
            <p:nvPr/>
          </p:nvSpPr>
          <p:spPr>
            <a:xfrm>
              <a:off x="3095625" y="3790950"/>
              <a:ext cx="38100" cy="38100"/>
            </a:xfrm>
            <a:prstGeom prst="ellipse">
              <a:avLst/>
            </a:prstGeom>
            <a:solidFill>
              <a:srgbClr val="C26D5E"/>
            </a:solidFill>
            <a:ln>
              <a:noFill/>
            </a:ln>
          </p:spPr>
        </p:sp>
        <p:sp>
          <p:nvSpPr>
            <p:cNvPr id="84" name="TextBox 84"/>
            <p:cNvSpPr txBox="1"/>
            <p:nvPr/>
          </p:nvSpPr>
          <p:spPr>
            <a:xfrm>
              <a:off x="3186112" y="3771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资源配置</a:t>
              </a:r>
            </a:p>
          </p:txBody>
        </p:sp>
        <p:sp>
          <p:nvSpPr>
            <p:cNvPr id="85" name="Ellipse 85"/>
            <p:cNvSpPr/>
            <p:nvPr/>
          </p:nvSpPr>
          <p:spPr>
            <a:xfrm>
              <a:off x="4362450" y="2952750"/>
              <a:ext cx="304800" cy="304800"/>
            </a:xfrm>
            <a:prstGeom prst="ellipse">
              <a:avLst/>
            </a:prstGeom>
            <a:solidFill>
              <a:srgbClr val="A3381F"/>
            </a:solidFill>
            <a:ln>
              <a:noFill/>
            </a:ln>
          </p:spPr>
        </p:sp>
        <p:grpSp>
          <p:nvGrpSpPr>
            <p:cNvPr id="90" name="Group 90"/>
            <p:cNvGrpSpPr/>
            <p:nvPr/>
          </p:nvGrpSpPr>
          <p:grpSpPr>
            <a:xfrm>
              <a:off x="4464844" y="3048000"/>
              <a:ext cx="107156" cy="121444"/>
              <a:chOff x="4464844" y="3048000"/>
              <a:chExt cx="107156" cy="121444"/>
            </a:xfrm>
          </p:grpSpPr>
          <p:sp>
            <p:nvSpPr>
              <p:cNvPr id="86" name="Freeform 86"/>
              <p:cNvSpPr/>
              <p:nvPr/>
            </p:nvSpPr>
            <p:spPr>
              <a:xfrm>
                <a:off x="4464844" y="3048000"/>
                <a:ext cx="85725" cy="114300"/>
              </a:xfrm>
              <a:custGeom>
                <a:avLst/>
                <a:gdLst/>
                <a:ahLst/>
                <a:cxnLst/>
                <a:rect l="l" t="t" r="r" b="b"/>
                <a:pathLst>
                  <a:path w="85725" h="114300">
                    <a:moveTo>
                      <a:pt x="32968" y="114300"/>
                    </a:moveTo>
                    <a:lnTo>
                      <a:pt x="14288" y="114300"/>
                    </a:lnTo>
                    <a:cubicBezTo>
                      <a:pt x="6397" y="114300"/>
                      <a:pt x="0" y="107903"/>
                      <a:pt x="0" y="100012"/>
                    </a:cubicBezTo>
                    <a:lnTo>
                      <a:pt x="0" y="14288"/>
                    </a:lnTo>
                    <a:cubicBezTo>
                      <a:pt x="0" y="6397"/>
                      <a:pt x="6397" y="0"/>
                      <a:pt x="14288" y="0"/>
                    </a:cubicBezTo>
                    <a:lnTo>
                      <a:pt x="71438" y="0"/>
                    </a:lnTo>
                    <a:cubicBezTo>
                      <a:pt x="79328" y="0"/>
                      <a:pt x="85725" y="6397"/>
                      <a:pt x="85725" y="14288"/>
                    </a:cubicBezTo>
                    <a:lnTo>
                      <a:pt x="85725" y="71438"/>
                    </a:lnTo>
                  </a:path>
                </a:pathLst>
              </a:custGeom>
              <a:noFill/>
              <a:ln w="14288">
                <a:solidFill>
                  <a:srgbClr val="FFFFFF"/>
                </a:solidFill>
              </a:ln>
            </p:spPr>
          </p:sp>
          <p:sp>
            <p:nvSpPr>
              <p:cNvPr id="87" name="Freeform 87"/>
              <p:cNvSpPr/>
              <p:nvPr/>
            </p:nvSpPr>
            <p:spPr>
              <a:xfrm>
                <a:off x="4529138" y="314086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sp>
            <p:nvSpPr>
              <p:cNvPr id="88" name="Freeform 88"/>
              <p:cNvSpPr/>
              <p:nvPr/>
            </p:nvSpPr>
            <p:spPr>
              <a:xfrm>
                <a:off x="4493419" y="3076575"/>
                <a:ext cx="28575" cy="9525"/>
              </a:xfrm>
              <a:custGeom>
                <a:avLst/>
                <a:gdLst/>
                <a:ahLst/>
                <a:cxnLst/>
                <a:rect l="l" t="t" r="r" b="b"/>
                <a:pathLst>
                  <a:path w="28575" h="9525">
                    <a:moveTo>
                      <a:pt x="0" y="0"/>
                    </a:moveTo>
                    <a:lnTo>
                      <a:pt x="28575" y="0"/>
                    </a:lnTo>
                  </a:path>
                </a:pathLst>
              </a:custGeom>
              <a:noFill/>
              <a:ln w="14288">
                <a:solidFill>
                  <a:srgbClr val="FFFFFF"/>
                </a:solidFill>
              </a:ln>
            </p:spPr>
          </p:sp>
          <p:sp>
            <p:nvSpPr>
              <p:cNvPr id="89" name="Freeform 89"/>
              <p:cNvSpPr/>
              <p:nvPr/>
            </p:nvSpPr>
            <p:spPr>
              <a:xfrm>
                <a:off x="4493419" y="3105150"/>
                <a:ext cx="14288" cy="9525"/>
              </a:xfrm>
              <a:custGeom>
                <a:avLst/>
                <a:gdLst/>
                <a:ahLst/>
                <a:cxnLst/>
                <a:rect l="l" t="t" r="r" b="b"/>
                <a:pathLst>
                  <a:path w="14288" h="9525">
                    <a:moveTo>
                      <a:pt x="0" y="0"/>
                    </a:moveTo>
                    <a:lnTo>
                      <a:pt x="14288" y="0"/>
                    </a:lnTo>
                  </a:path>
                </a:pathLst>
              </a:custGeom>
              <a:noFill/>
              <a:ln w="14288">
                <a:solidFill>
                  <a:srgbClr val="FFFFFF"/>
                </a:solidFill>
              </a:ln>
            </p:spPr>
          </p:sp>
        </p:grpSp>
        <p:sp>
          <p:nvSpPr>
            <p:cNvPr id="91" name="TextBox 91"/>
            <p:cNvSpPr txBox="1"/>
            <p:nvPr/>
          </p:nvSpPr>
          <p:spPr>
            <a:xfrm>
              <a:off x="4795838" y="3051572"/>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任务执行</a:t>
              </a:r>
            </a:p>
          </p:txBody>
        </p:sp>
        <p:sp>
          <p:nvSpPr>
            <p:cNvPr id="92" name="Ellipse 92"/>
            <p:cNvSpPr/>
            <p:nvPr/>
          </p:nvSpPr>
          <p:spPr>
            <a:xfrm>
              <a:off x="4343400" y="3409950"/>
              <a:ext cx="38100" cy="38100"/>
            </a:xfrm>
            <a:prstGeom prst="ellipse">
              <a:avLst/>
            </a:prstGeom>
            <a:solidFill>
              <a:srgbClr val="C26D5E"/>
            </a:solidFill>
            <a:ln>
              <a:noFill/>
            </a:ln>
          </p:spPr>
        </p:sp>
        <p:sp>
          <p:nvSpPr>
            <p:cNvPr id="93" name="TextBox 93"/>
            <p:cNvSpPr txBox="1"/>
            <p:nvPr/>
          </p:nvSpPr>
          <p:spPr>
            <a:xfrm>
              <a:off x="4433888" y="3390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任务分解</a:t>
              </a:r>
            </a:p>
          </p:txBody>
        </p:sp>
        <p:sp>
          <p:nvSpPr>
            <p:cNvPr id="94" name="Ellipse 94"/>
            <p:cNvSpPr/>
            <p:nvPr/>
          </p:nvSpPr>
          <p:spPr>
            <a:xfrm>
              <a:off x="4343400" y="3600450"/>
              <a:ext cx="38100" cy="38100"/>
            </a:xfrm>
            <a:prstGeom prst="ellipse">
              <a:avLst/>
            </a:prstGeom>
            <a:solidFill>
              <a:srgbClr val="C26D5E"/>
            </a:solidFill>
            <a:ln>
              <a:noFill/>
            </a:ln>
          </p:spPr>
        </p:sp>
        <p:sp>
          <p:nvSpPr>
            <p:cNvPr id="95" name="TextBox 95"/>
            <p:cNvSpPr txBox="1"/>
            <p:nvPr/>
          </p:nvSpPr>
          <p:spPr>
            <a:xfrm>
              <a:off x="4433888" y="35806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执行跟踪</a:t>
              </a:r>
            </a:p>
          </p:txBody>
        </p:sp>
        <p:sp>
          <p:nvSpPr>
            <p:cNvPr id="96" name="Ellipse 96"/>
            <p:cNvSpPr/>
            <p:nvPr/>
          </p:nvSpPr>
          <p:spPr>
            <a:xfrm>
              <a:off x="4343400" y="3790950"/>
              <a:ext cx="38100" cy="38100"/>
            </a:xfrm>
            <a:prstGeom prst="ellipse">
              <a:avLst/>
            </a:prstGeom>
            <a:solidFill>
              <a:srgbClr val="C26D5E"/>
            </a:solidFill>
            <a:ln>
              <a:noFill/>
            </a:ln>
          </p:spPr>
        </p:sp>
        <p:sp>
          <p:nvSpPr>
            <p:cNvPr id="97" name="TextBox 97"/>
            <p:cNvSpPr txBox="1"/>
            <p:nvPr/>
          </p:nvSpPr>
          <p:spPr>
            <a:xfrm>
              <a:off x="4433888" y="3771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过程管理</a:t>
              </a:r>
            </a:p>
          </p:txBody>
        </p:sp>
        <p:sp>
          <p:nvSpPr>
            <p:cNvPr id="98" name="Ellipse 98"/>
            <p:cNvSpPr/>
            <p:nvPr/>
          </p:nvSpPr>
          <p:spPr>
            <a:xfrm>
              <a:off x="5610225" y="2952750"/>
              <a:ext cx="304800" cy="304800"/>
            </a:xfrm>
            <a:prstGeom prst="ellipse">
              <a:avLst/>
            </a:prstGeom>
            <a:solidFill>
              <a:srgbClr val="C26D5E"/>
            </a:solidFill>
            <a:ln>
              <a:noFill/>
            </a:ln>
          </p:spPr>
        </p:sp>
        <p:grpSp>
          <p:nvGrpSpPr>
            <p:cNvPr id="103" name="Group 103"/>
            <p:cNvGrpSpPr/>
            <p:nvPr/>
          </p:nvGrpSpPr>
          <p:grpSpPr>
            <a:xfrm>
              <a:off x="5698331" y="3040611"/>
              <a:ext cx="128588" cy="128833"/>
              <a:chOff x="5698331" y="3040611"/>
              <a:chExt cx="128588" cy="128833"/>
            </a:xfrm>
          </p:grpSpPr>
          <p:sp>
            <p:nvSpPr>
              <p:cNvPr id="99" name="Freeform 99"/>
              <p:cNvSpPr/>
              <p:nvPr/>
            </p:nvSpPr>
            <p:spPr>
              <a:xfrm>
                <a:off x="5698331" y="3076575"/>
                <a:ext cx="128588" cy="28575"/>
              </a:xfrm>
              <a:custGeom>
                <a:avLst/>
                <a:gdLst/>
                <a:ahLst/>
                <a:cxnLst/>
                <a:rect l="l" t="t" r="r" b="b"/>
                <a:pathLst>
                  <a:path w="128588" h="28575">
                    <a:moveTo>
                      <a:pt x="0" y="7144"/>
                    </a:moveTo>
                    <a:cubicBezTo>
                      <a:pt x="0" y="3198"/>
                      <a:pt x="3198" y="0"/>
                      <a:pt x="7144" y="0"/>
                    </a:cubicBezTo>
                    <a:lnTo>
                      <a:pt x="121444" y="0"/>
                    </a:lnTo>
                    <a:cubicBezTo>
                      <a:pt x="125389" y="0"/>
                      <a:pt x="128588" y="3198"/>
                      <a:pt x="128588" y="7144"/>
                    </a:cubicBezTo>
                    <a:lnTo>
                      <a:pt x="128588" y="21431"/>
                    </a:lnTo>
                    <a:cubicBezTo>
                      <a:pt x="128588" y="25377"/>
                      <a:pt x="125389" y="28575"/>
                      <a:pt x="121444" y="28575"/>
                    </a:cubicBezTo>
                    <a:lnTo>
                      <a:pt x="7144" y="28575"/>
                    </a:lnTo>
                    <a:cubicBezTo>
                      <a:pt x="3198" y="28575"/>
                      <a:pt x="0" y="25377"/>
                      <a:pt x="0" y="21431"/>
                    </a:cubicBezTo>
                    <a:lnTo>
                      <a:pt x="0" y="7144"/>
                    </a:lnTo>
                  </a:path>
                </a:pathLst>
              </a:custGeom>
              <a:noFill/>
              <a:ln w="14288">
                <a:solidFill>
                  <a:srgbClr val="FFFFFF"/>
                </a:solidFill>
              </a:ln>
            </p:spPr>
          </p:sp>
          <p:sp>
            <p:nvSpPr>
              <p:cNvPr id="100" name="Freeform 100"/>
              <p:cNvSpPr/>
              <p:nvPr/>
            </p:nvSpPr>
            <p:spPr>
              <a:xfrm>
                <a:off x="5762625" y="3076575"/>
                <a:ext cx="9525" cy="92869"/>
              </a:xfrm>
              <a:custGeom>
                <a:avLst/>
                <a:gdLst/>
                <a:ahLst/>
                <a:cxnLst/>
                <a:rect l="l" t="t" r="r" b="b"/>
                <a:pathLst>
                  <a:path w="9525" h="92869">
                    <a:moveTo>
                      <a:pt x="0" y="0"/>
                    </a:moveTo>
                    <a:lnTo>
                      <a:pt x="0" y="92869"/>
                    </a:lnTo>
                  </a:path>
                </a:pathLst>
              </a:custGeom>
              <a:noFill/>
              <a:ln w="14288">
                <a:solidFill>
                  <a:srgbClr val="FFFFFF"/>
                </a:solidFill>
              </a:ln>
            </p:spPr>
          </p:sp>
          <p:sp>
            <p:nvSpPr>
              <p:cNvPr id="101" name="Freeform 101"/>
              <p:cNvSpPr/>
              <p:nvPr/>
            </p:nvSpPr>
            <p:spPr>
              <a:xfrm>
                <a:off x="5712619" y="3105150"/>
                <a:ext cx="100012" cy="64294"/>
              </a:xfrm>
              <a:custGeom>
                <a:avLst/>
                <a:gdLst/>
                <a:ahLst/>
                <a:cxnLst/>
                <a:rect l="l" t="t" r="r" b="b"/>
                <a:pathLst>
                  <a:path w="100012" h="64294">
                    <a:moveTo>
                      <a:pt x="100012" y="0"/>
                    </a:moveTo>
                    <a:lnTo>
                      <a:pt x="100012" y="50006"/>
                    </a:lnTo>
                    <a:cubicBezTo>
                      <a:pt x="100012" y="57897"/>
                      <a:pt x="93616" y="64294"/>
                      <a:pt x="85725" y="64294"/>
                    </a:cubicBezTo>
                    <a:lnTo>
                      <a:pt x="14288" y="64294"/>
                    </a:lnTo>
                    <a:cubicBezTo>
                      <a:pt x="6397" y="64294"/>
                      <a:pt x="0" y="57897"/>
                      <a:pt x="0" y="50006"/>
                    </a:cubicBezTo>
                    <a:lnTo>
                      <a:pt x="0" y="0"/>
                    </a:lnTo>
                  </a:path>
                </a:pathLst>
              </a:custGeom>
              <a:noFill/>
              <a:ln w="14288">
                <a:solidFill>
                  <a:srgbClr val="FFFFFF"/>
                </a:solidFill>
              </a:ln>
            </p:spPr>
          </p:sp>
          <p:sp>
            <p:nvSpPr>
              <p:cNvPr id="102" name="Freeform 102"/>
              <p:cNvSpPr/>
              <p:nvPr/>
            </p:nvSpPr>
            <p:spPr>
              <a:xfrm>
                <a:off x="5712619" y="3040611"/>
                <a:ext cx="100012" cy="35964"/>
              </a:xfrm>
              <a:custGeom>
                <a:avLst/>
                <a:gdLst/>
                <a:ahLst/>
                <a:cxnLst/>
                <a:rect l="l" t="t" r="r" b="b"/>
                <a:pathLst>
                  <a:path w="100012" h="35964">
                    <a:moveTo>
                      <a:pt x="17859" y="35964"/>
                    </a:moveTo>
                    <a:cubicBezTo>
                      <a:pt x="7996" y="35964"/>
                      <a:pt x="0" y="27969"/>
                      <a:pt x="0" y="18105"/>
                    </a:cubicBezTo>
                    <a:cubicBezTo>
                      <a:pt x="0" y="8242"/>
                      <a:pt x="7996" y="246"/>
                      <a:pt x="17859" y="246"/>
                    </a:cubicBezTo>
                    <a:cubicBezTo>
                      <a:pt x="31963" y="0"/>
                      <a:pt x="44718" y="14172"/>
                      <a:pt x="50006" y="35964"/>
                    </a:cubicBezTo>
                    <a:cubicBezTo>
                      <a:pt x="55295" y="14172"/>
                      <a:pt x="68050" y="0"/>
                      <a:pt x="82153" y="246"/>
                    </a:cubicBezTo>
                    <a:cubicBezTo>
                      <a:pt x="92017" y="246"/>
                      <a:pt x="100012" y="8242"/>
                      <a:pt x="100012" y="18105"/>
                    </a:cubicBezTo>
                    <a:cubicBezTo>
                      <a:pt x="100012" y="27969"/>
                      <a:pt x="92017" y="35964"/>
                      <a:pt x="82153" y="35964"/>
                    </a:cubicBezTo>
                  </a:path>
                </a:pathLst>
              </a:custGeom>
              <a:noFill/>
              <a:ln w="14288">
                <a:solidFill>
                  <a:srgbClr val="FFFFFF"/>
                </a:solidFill>
              </a:ln>
            </p:spPr>
          </p:sp>
        </p:grpSp>
        <p:sp>
          <p:nvSpPr>
            <p:cNvPr id="104" name="TextBox 104"/>
            <p:cNvSpPr txBox="1"/>
            <p:nvPr/>
          </p:nvSpPr>
          <p:spPr>
            <a:xfrm>
              <a:off x="6043612" y="3051572"/>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权益管理</a:t>
              </a:r>
            </a:p>
          </p:txBody>
        </p:sp>
        <p:sp>
          <p:nvSpPr>
            <p:cNvPr id="105" name="Ellipse 105"/>
            <p:cNvSpPr/>
            <p:nvPr/>
          </p:nvSpPr>
          <p:spPr>
            <a:xfrm>
              <a:off x="5591175" y="3409950"/>
              <a:ext cx="38100" cy="38100"/>
            </a:xfrm>
            <a:prstGeom prst="ellipse">
              <a:avLst/>
            </a:prstGeom>
            <a:solidFill>
              <a:srgbClr val="C26D5E"/>
            </a:solidFill>
            <a:ln>
              <a:noFill/>
            </a:ln>
          </p:spPr>
        </p:sp>
        <p:sp>
          <p:nvSpPr>
            <p:cNvPr id="106" name="TextBox 106"/>
            <p:cNvSpPr txBox="1"/>
            <p:nvPr/>
          </p:nvSpPr>
          <p:spPr>
            <a:xfrm>
              <a:off x="5681662" y="3390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权益设计</a:t>
              </a:r>
            </a:p>
          </p:txBody>
        </p:sp>
        <p:sp>
          <p:nvSpPr>
            <p:cNvPr id="107" name="Ellipse 107"/>
            <p:cNvSpPr/>
            <p:nvPr/>
          </p:nvSpPr>
          <p:spPr>
            <a:xfrm>
              <a:off x="5591175" y="3600450"/>
              <a:ext cx="38100" cy="38100"/>
            </a:xfrm>
            <a:prstGeom prst="ellipse">
              <a:avLst/>
            </a:prstGeom>
            <a:solidFill>
              <a:srgbClr val="C26D5E"/>
            </a:solidFill>
            <a:ln>
              <a:noFill/>
            </a:ln>
          </p:spPr>
        </p:sp>
        <p:sp>
          <p:nvSpPr>
            <p:cNvPr id="108" name="TextBox 108"/>
            <p:cNvSpPr txBox="1"/>
            <p:nvPr/>
          </p:nvSpPr>
          <p:spPr>
            <a:xfrm>
              <a:off x="5681662" y="35806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权益发放</a:t>
              </a:r>
            </a:p>
          </p:txBody>
        </p:sp>
        <p:sp>
          <p:nvSpPr>
            <p:cNvPr id="109" name="Ellipse 109"/>
            <p:cNvSpPr/>
            <p:nvPr/>
          </p:nvSpPr>
          <p:spPr>
            <a:xfrm>
              <a:off x="5591175" y="3790950"/>
              <a:ext cx="38100" cy="38100"/>
            </a:xfrm>
            <a:prstGeom prst="ellipse">
              <a:avLst/>
            </a:prstGeom>
            <a:solidFill>
              <a:srgbClr val="C26D5E"/>
            </a:solidFill>
            <a:ln>
              <a:noFill/>
            </a:ln>
          </p:spPr>
        </p:sp>
        <p:sp>
          <p:nvSpPr>
            <p:cNvPr id="110" name="TextBox 110"/>
            <p:cNvSpPr txBox="1"/>
            <p:nvPr/>
          </p:nvSpPr>
          <p:spPr>
            <a:xfrm>
              <a:off x="5681662" y="3771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权益使用</a:t>
              </a:r>
            </a:p>
          </p:txBody>
        </p:sp>
        <p:sp>
          <p:nvSpPr>
            <p:cNvPr id="111" name="Ellipse 111"/>
            <p:cNvSpPr/>
            <p:nvPr/>
          </p:nvSpPr>
          <p:spPr>
            <a:xfrm>
              <a:off x="6858000" y="2952750"/>
              <a:ext cx="304800" cy="304800"/>
            </a:xfrm>
            <a:prstGeom prst="ellipse">
              <a:avLst/>
            </a:prstGeom>
            <a:solidFill>
              <a:srgbClr val="A3381F"/>
            </a:solidFill>
            <a:ln>
              <a:noFill/>
            </a:ln>
          </p:spPr>
        </p:sp>
        <p:grpSp>
          <p:nvGrpSpPr>
            <p:cNvPr id="114" name="Group 114"/>
            <p:cNvGrpSpPr/>
            <p:nvPr/>
          </p:nvGrpSpPr>
          <p:grpSpPr>
            <a:xfrm>
              <a:off x="6953250" y="3062288"/>
              <a:ext cx="114300" cy="102393"/>
              <a:chOff x="6953250" y="3062288"/>
              <a:chExt cx="114300" cy="102393"/>
            </a:xfrm>
          </p:grpSpPr>
          <p:sp>
            <p:nvSpPr>
              <p:cNvPr id="112" name="Freeform 112"/>
              <p:cNvSpPr/>
              <p:nvPr/>
            </p:nvSpPr>
            <p:spPr>
              <a:xfrm>
                <a:off x="6953250" y="3155156"/>
                <a:ext cx="114300" cy="9525"/>
              </a:xfrm>
              <a:custGeom>
                <a:avLst/>
                <a:gdLst/>
                <a:ahLst/>
                <a:cxnLst/>
                <a:rect l="l" t="t" r="r" b="b"/>
                <a:pathLst>
                  <a:path w="114300" h="9525">
                    <a:moveTo>
                      <a:pt x="0" y="0"/>
                    </a:moveTo>
                    <a:lnTo>
                      <a:pt x="114300" y="0"/>
                    </a:lnTo>
                  </a:path>
                </a:pathLst>
              </a:custGeom>
              <a:noFill/>
              <a:ln w="14288">
                <a:solidFill>
                  <a:srgbClr val="FFFFFF"/>
                </a:solidFill>
              </a:ln>
            </p:spPr>
          </p:sp>
          <p:sp>
            <p:nvSpPr>
              <p:cNvPr id="113" name="Freeform 113"/>
              <p:cNvSpPr/>
              <p:nvPr/>
            </p:nvSpPr>
            <p:spPr>
              <a:xfrm>
                <a:off x="6953250" y="3062288"/>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FFFFFF"/>
                </a:solidFill>
              </a:ln>
            </p:spPr>
          </p:sp>
        </p:grpSp>
        <p:sp>
          <p:nvSpPr>
            <p:cNvPr id="115" name="TextBox 115"/>
            <p:cNvSpPr txBox="1"/>
            <p:nvPr/>
          </p:nvSpPr>
          <p:spPr>
            <a:xfrm>
              <a:off x="7291388" y="3051572"/>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效果评价</a:t>
              </a:r>
            </a:p>
          </p:txBody>
        </p:sp>
        <p:sp>
          <p:nvSpPr>
            <p:cNvPr id="116" name="Ellipse 116"/>
            <p:cNvSpPr/>
            <p:nvPr/>
          </p:nvSpPr>
          <p:spPr>
            <a:xfrm>
              <a:off x="6838950" y="3409950"/>
              <a:ext cx="38100" cy="38100"/>
            </a:xfrm>
            <a:prstGeom prst="ellipse">
              <a:avLst/>
            </a:prstGeom>
            <a:solidFill>
              <a:srgbClr val="C26D5E"/>
            </a:solidFill>
            <a:ln>
              <a:noFill/>
            </a:ln>
          </p:spPr>
        </p:sp>
        <p:sp>
          <p:nvSpPr>
            <p:cNvPr id="117" name="TextBox 117"/>
            <p:cNvSpPr txBox="1"/>
            <p:nvPr/>
          </p:nvSpPr>
          <p:spPr>
            <a:xfrm>
              <a:off x="6929438" y="3390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指标监测</a:t>
              </a:r>
            </a:p>
          </p:txBody>
        </p:sp>
        <p:sp>
          <p:nvSpPr>
            <p:cNvPr id="118" name="Ellipse 118"/>
            <p:cNvSpPr/>
            <p:nvPr/>
          </p:nvSpPr>
          <p:spPr>
            <a:xfrm>
              <a:off x="6838950" y="3600450"/>
              <a:ext cx="38100" cy="38100"/>
            </a:xfrm>
            <a:prstGeom prst="ellipse">
              <a:avLst/>
            </a:prstGeom>
            <a:solidFill>
              <a:srgbClr val="C26D5E"/>
            </a:solidFill>
            <a:ln>
              <a:noFill/>
            </a:ln>
          </p:spPr>
        </p:sp>
        <p:sp>
          <p:nvSpPr>
            <p:cNvPr id="119" name="TextBox 119"/>
            <p:cNvSpPr txBox="1"/>
            <p:nvPr/>
          </p:nvSpPr>
          <p:spPr>
            <a:xfrm>
              <a:off x="6929438" y="35806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效果评估</a:t>
              </a:r>
            </a:p>
          </p:txBody>
        </p:sp>
        <p:sp>
          <p:nvSpPr>
            <p:cNvPr id="120" name="Ellipse 120"/>
            <p:cNvSpPr/>
            <p:nvPr/>
          </p:nvSpPr>
          <p:spPr>
            <a:xfrm>
              <a:off x="6838950" y="3790950"/>
              <a:ext cx="38100" cy="38100"/>
            </a:xfrm>
            <a:prstGeom prst="ellipse">
              <a:avLst/>
            </a:prstGeom>
            <a:solidFill>
              <a:srgbClr val="C26D5E"/>
            </a:solidFill>
            <a:ln>
              <a:noFill/>
            </a:ln>
          </p:spPr>
        </p:sp>
        <p:sp>
          <p:nvSpPr>
            <p:cNvPr id="121" name="TextBox 121"/>
            <p:cNvSpPr txBox="1"/>
            <p:nvPr/>
          </p:nvSpPr>
          <p:spPr>
            <a:xfrm>
              <a:off x="6929438" y="3771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持续优化</a:t>
              </a:r>
            </a:p>
          </p:txBody>
        </p:sp>
      </p:grpSp>
      <p:grpSp>
        <p:nvGrpSpPr>
          <p:cNvPr id="158" name="row-foundation"/>
          <p:cNvGrpSpPr/>
          <p:nvPr/>
        </p:nvGrpSpPr>
        <p:grpSpPr>
          <a:xfrm>
            <a:off x="381000" y="4476750"/>
            <a:ext cx="7962900" cy="1219200"/>
            <a:chOff x="381000" y="4476750"/>
            <a:chExt cx="7962900" cy="1219200"/>
          </a:xfrm>
        </p:grpSpPr>
        <p:sp>
          <p:nvSpPr>
            <p:cNvPr id="123" name="Rectangle 123"/>
            <p:cNvSpPr/>
            <p:nvPr/>
          </p:nvSpPr>
          <p:spPr>
            <a:xfrm>
              <a:off x="381000" y="4476750"/>
              <a:ext cx="1219200" cy="1219200"/>
            </a:xfrm>
            <a:prstGeom prst="roundRect">
              <a:avLst>
                <a:gd name="adj" fmla="val 6250"/>
              </a:avLst>
            </a:prstGeom>
            <a:solidFill>
              <a:srgbClr val="F3EADA"/>
            </a:solidFill>
            <a:ln>
              <a:noFill/>
            </a:ln>
          </p:spPr>
        </p:sp>
        <p:sp>
          <p:nvSpPr>
            <p:cNvPr id="124" name="Rectangle 124"/>
            <p:cNvSpPr/>
            <p:nvPr/>
          </p:nvSpPr>
          <p:spPr>
            <a:xfrm>
              <a:off x="381000" y="4476750"/>
              <a:ext cx="47625" cy="1219200"/>
            </a:xfrm>
            <a:prstGeom prst="rect">
              <a:avLst/>
            </a:prstGeom>
            <a:solidFill>
              <a:srgbClr val="A3381F"/>
            </a:solidFill>
            <a:ln>
              <a:noFill/>
            </a:ln>
          </p:spPr>
        </p:sp>
        <p:sp>
          <p:nvSpPr>
            <p:cNvPr id="125" name="TextBox 125"/>
            <p:cNvSpPr txBox="1"/>
            <p:nvPr/>
          </p:nvSpPr>
          <p:spPr>
            <a:xfrm>
              <a:off x="546735" y="4793456"/>
              <a:ext cx="765302"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基础保障层</a:t>
              </a:r>
            </a:p>
          </p:txBody>
        </p:sp>
        <p:sp>
          <p:nvSpPr>
            <p:cNvPr id="126" name="TextBox 126"/>
            <p:cNvSpPr txBox="1"/>
            <p:nvPr/>
          </p:nvSpPr>
          <p:spPr>
            <a:xfrm>
              <a:off x="547688" y="5028486"/>
              <a:ext cx="37020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统一底座</a:t>
              </a:r>
              <a:br/>
              <a:r>
                <a:rPr lang="zh-CN" sz="710" dirty="0">
                  <a:solidFill>
                    <a:srgbClr val="6B6B6B"/>
                  </a:solidFill>
                  <a:latin typeface="+mn-lt"/>
                  <a:ea typeface="+mn-ea"/>
                  <a:cs typeface="+mn-cs"/>
                </a:rPr>
                <a:t>协同支撑</a:t>
              </a:r>
            </a:p>
          </p:txBody>
        </p:sp>
        <p:sp>
          <p:nvSpPr>
            <p:cNvPr id="127" name="Rectangle 127"/>
            <p:cNvSpPr/>
            <p:nvPr/>
          </p:nvSpPr>
          <p:spPr>
            <a:xfrm>
              <a:off x="1676400" y="4514850"/>
              <a:ext cx="6667500" cy="1143000"/>
            </a:xfrm>
            <a:prstGeom prst="roundRect">
              <a:avLst>
                <a:gd name="adj" fmla="val 6667"/>
              </a:avLst>
            </a:prstGeom>
            <a:solidFill>
              <a:srgbClr val="FFFFFF"/>
            </a:solidFill>
            <a:ln w="9525">
              <a:solidFill>
                <a:srgbClr val="E6D9C0"/>
              </a:solidFill>
            </a:ln>
          </p:spPr>
        </p:sp>
        <p:sp>
          <p:nvSpPr>
            <p:cNvPr id="128" name="Ellipse 128"/>
            <p:cNvSpPr/>
            <p:nvPr/>
          </p:nvSpPr>
          <p:spPr>
            <a:xfrm>
              <a:off x="2009775" y="4714875"/>
              <a:ext cx="323850" cy="323850"/>
            </a:xfrm>
            <a:prstGeom prst="ellipse">
              <a:avLst/>
            </a:prstGeom>
            <a:solidFill>
              <a:srgbClr val="A3381F"/>
            </a:solidFill>
            <a:ln>
              <a:noFill/>
            </a:ln>
          </p:spPr>
        </p:sp>
        <p:grpSp>
          <p:nvGrpSpPr>
            <p:cNvPr id="132" name="Group 132"/>
            <p:cNvGrpSpPr/>
            <p:nvPr/>
          </p:nvGrpSpPr>
          <p:grpSpPr>
            <a:xfrm>
              <a:off x="2114550" y="4812506"/>
              <a:ext cx="114300" cy="128588"/>
              <a:chOff x="2114550" y="4812506"/>
              <a:chExt cx="114300" cy="128588"/>
            </a:xfrm>
          </p:grpSpPr>
          <p:sp>
            <p:nvSpPr>
              <p:cNvPr id="129" name="Freeform 129"/>
              <p:cNvSpPr/>
              <p:nvPr/>
            </p:nvSpPr>
            <p:spPr>
              <a:xfrm>
                <a:off x="2114550" y="481250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130" name="Freeform 130"/>
              <p:cNvSpPr/>
              <p:nvPr/>
            </p:nvSpPr>
            <p:spPr>
              <a:xfrm>
                <a:off x="2114550" y="483393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131" name="Freeform 131"/>
              <p:cNvSpPr/>
              <p:nvPr/>
            </p:nvSpPr>
            <p:spPr>
              <a:xfrm>
                <a:off x="2114550" y="487680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sp>
          <p:nvSpPr>
            <p:cNvPr id="133" name="TextBox 133"/>
            <p:cNvSpPr txBox="1"/>
            <p:nvPr/>
          </p:nvSpPr>
          <p:spPr>
            <a:xfrm>
              <a:off x="2433447" y="481917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统一数据</a:t>
              </a:r>
            </a:p>
          </p:txBody>
        </p:sp>
        <p:sp>
          <p:nvSpPr>
            <p:cNvPr id="134" name="TextBox 134"/>
            <p:cNvSpPr txBox="1"/>
            <p:nvPr/>
          </p:nvSpPr>
          <p:spPr>
            <a:xfrm>
              <a:off x="2433638" y="5038011"/>
              <a:ext cx="55054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统一数据标准</a:t>
              </a:r>
              <a:br/>
              <a:r>
                <a:rPr lang="zh-CN" sz="710" dirty="0">
                  <a:solidFill>
                    <a:srgbClr val="6B6B6B"/>
                  </a:solidFill>
                  <a:latin typeface="+mn-lt"/>
                  <a:ea typeface="+mn-ea"/>
                  <a:cs typeface="+mn-cs"/>
                </a:rPr>
                <a:t>打通数据孤岛</a:t>
              </a:r>
            </a:p>
          </p:txBody>
        </p:sp>
        <p:sp>
          <p:nvSpPr>
            <p:cNvPr id="135" name="Ellipse 135"/>
            <p:cNvSpPr/>
            <p:nvPr/>
          </p:nvSpPr>
          <p:spPr>
            <a:xfrm>
              <a:off x="3686175" y="4714875"/>
              <a:ext cx="323850" cy="323850"/>
            </a:xfrm>
            <a:prstGeom prst="ellipse">
              <a:avLst/>
            </a:prstGeom>
            <a:solidFill>
              <a:srgbClr val="C26D5E"/>
            </a:solidFill>
            <a:ln>
              <a:noFill/>
            </a:ln>
          </p:spPr>
        </p:sp>
        <p:grpSp>
          <p:nvGrpSpPr>
            <p:cNvPr id="141" name="Group 141"/>
            <p:cNvGrpSpPr/>
            <p:nvPr/>
          </p:nvGrpSpPr>
          <p:grpSpPr>
            <a:xfrm>
              <a:off x="3783806" y="4812506"/>
              <a:ext cx="128587" cy="130969"/>
              <a:chOff x="3783806" y="4812506"/>
              <a:chExt cx="128587" cy="130969"/>
            </a:xfrm>
          </p:grpSpPr>
          <p:sp>
            <p:nvSpPr>
              <p:cNvPr id="136" name="Freeform 136"/>
              <p:cNvSpPr/>
              <p:nvPr/>
            </p:nvSpPr>
            <p:spPr>
              <a:xfrm>
                <a:off x="3812381" y="4933950"/>
                <a:ext cx="71438" cy="9525"/>
              </a:xfrm>
              <a:custGeom>
                <a:avLst/>
                <a:gdLst/>
                <a:ahLst/>
                <a:cxnLst/>
                <a:rect l="l" t="t" r="r" b="b"/>
                <a:pathLst>
                  <a:path w="71438" h="9525">
                    <a:moveTo>
                      <a:pt x="0" y="0"/>
                    </a:moveTo>
                    <a:lnTo>
                      <a:pt x="71438" y="0"/>
                    </a:lnTo>
                  </a:path>
                </a:pathLst>
              </a:custGeom>
              <a:noFill/>
              <a:ln w="14288">
                <a:solidFill>
                  <a:srgbClr val="FFFFFF"/>
                </a:solidFill>
              </a:ln>
            </p:spPr>
          </p:sp>
          <p:sp>
            <p:nvSpPr>
              <p:cNvPr id="137" name="Freeform 137"/>
              <p:cNvSpPr/>
              <p:nvPr/>
            </p:nvSpPr>
            <p:spPr>
              <a:xfrm>
                <a:off x="3805238" y="4826794"/>
                <a:ext cx="85725" cy="9525"/>
              </a:xfrm>
              <a:custGeom>
                <a:avLst/>
                <a:gdLst/>
                <a:ahLst/>
                <a:cxnLst/>
                <a:rect l="l" t="t" r="r" b="b"/>
                <a:pathLst>
                  <a:path w="85725" h="9525">
                    <a:moveTo>
                      <a:pt x="0" y="7144"/>
                    </a:moveTo>
                    <a:lnTo>
                      <a:pt x="42862" y="0"/>
                    </a:lnTo>
                    <a:lnTo>
                      <a:pt x="85725" y="7144"/>
                    </a:lnTo>
                  </a:path>
                </a:pathLst>
              </a:custGeom>
              <a:noFill/>
              <a:ln w="14288">
                <a:solidFill>
                  <a:srgbClr val="FFFFFF"/>
                </a:solidFill>
              </a:ln>
            </p:spPr>
          </p:sp>
          <p:sp>
            <p:nvSpPr>
              <p:cNvPr id="138" name="Freeform 138"/>
              <p:cNvSpPr/>
              <p:nvPr/>
            </p:nvSpPr>
            <p:spPr>
              <a:xfrm>
                <a:off x="3848100" y="4812506"/>
                <a:ext cx="9525" cy="121444"/>
              </a:xfrm>
              <a:custGeom>
                <a:avLst/>
                <a:gdLst/>
                <a:ahLst/>
                <a:cxnLst/>
                <a:rect l="l" t="t" r="r" b="b"/>
                <a:pathLst>
                  <a:path w="9525" h="121444">
                    <a:moveTo>
                      <a:pt x="0" y="0"/>
                    </a:moveTo>
                    <a:lnTo>
                      <a:pt x="0" y="121444"/>
                    </a:lnTo>
                  </a:path>
                </a:pathLst>
              </a:custGeom>
              <a:noFill/>
              <a:ln w="14288">
                <a:solidFill>
                  <a:srgbClr val="FFFFFF"/>
                </a:solidFill>
              </a:ln>
            </p:spPr>
          </p:sp>
          <p:sp>
            <p:nvSpPr>
              <p:cNvPr id="139" name="Freeform 139"/>
              <p:cNvSpPr/>
              <p:nvPr/>
            </p:nvSpPr>
            <p:spPr>
              <a:xfrm>
                <a:off x="3783806" y="4833938"/>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FFFFFF"/>
                </a:solidFill>
              </a:ln>
            </p:spPr>
          </p:sp>
          <p:sp>
            <p:nvSpPr>
              <p:cNvPr id="140" name="Freeform 140"/>
              <p:cNvSpPr/>
              <p:nvPr/>
            </p:nvSpPr>
            <p:spPr>
              <a:xfrm>
                <a:off x="3869531" y="4833938"/>
                <a:ext cx="42862" cy="64294"/>
              </a:xfrm>
              <a:custGeom>
                <a:avLst/>
                <a:gdLst/>
                <a:ahLst/>
                <a:cxnLst/>
                <a:rect l="l" t="t" r="r" b="b"/>
                <a:pathLst>
                  <a:path w="42862" h="64294">
                    <a:moveTo>
                      <a:pt x="42862" y="42862"/>
                    </a:moveTo>
                    <a:lnTo>
                      <a:pt x="21431" y="0"/>
                    </a:lnTo>
                    <a:lnTo>
                      <a:pt x="0" y="42862"/>
                    </a:lnTo>
                    <a:cubicBezTo>
                      <a:pt x="0" y="54699"/>
                      <a:pt x="9595" y="64294"/>
                      <a:pt x="21431" y="64294"/>
                    </a:cubicBezTo>
                    <a:cubicBezTo>
                      <a:pt x="33267" y="64294"/>
                      <a:pt x="42862" y="54699"/>
                      <a:pt x="42862" y="42862"/>
                    </a:cubicBezTo>
                  </a:path>
                </a:pathLst>
              </a:custGeom>
              <a:noFill/>
              <a:ln w="14288">
                <a:solidFill>
                  <a:srgbClr val="FFFFFF"/>
                </a:solidFill>
              </a:ln>
            </p:spPr>
          </p:sp>
        </p:grpSp>
        <p:sp>
          <p:nvSpPr>
            <p:cNvPr id="142" name="TextBox 142"/>
            <p:cNvSpPr txBox="1"/>
            <p:nvPr/>
          </p:nvSpPr>
          <p:spPr>
            <a:xfrm>
              <a:off x="4109847" y="481917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统一规则</a:t>
              </a:r>
            </a:p>
          </p:txBody>
        </p:sp>
        <p:sp>
          <p:nvSpPr>
            <p:cNvPr id="143" name="TextBox 143"/>
            <p:cNvSpPr txBox="1"/>
            <p:nvPr/>
          </p:nvSpPr>
          <p:spPr>
            <a:xfrm>
              <a:off x="4110038" y="5038011"/>
              <a:ext cx="55054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统一业务规则</a:t>
              </a:r>
              <a:br/>
              <a:r>
                <a:rPr lang="zh-CN" sz="710" dirty="0">
                  <a:solidFill>
                    <a:srgbClr val="6B6B6B"/>
                  </a:solidFill>
                  <a:latin typeface="+mn-lt"/>
                  <a:ea typeface="+mn-ea"/>
                  <a:cs typeface="+mn-cs"/>
                </a:rPr>
                <a:t>确保规则一致</a:t>
              </a:r>
            </a:p>
          </p:txBody>
        </p:sp>
        <p:sp>
          <p:nvSpPr>
            <p:cNvPr id="144" name="Ellipse 144"/>
            <p:cNvSpPr/>
            <p:nvPr/>
          </p:nvSpPr>
          <p:spPr>
            <a:xfrm>
              <a:off x="5362575" y="4714875"/>
              <a:ext cx="323850" cy="323850"/>
            </a:xfrm>
            <a:prstGeom prst="ellipse">
              <a:avLst/>
            </a:prstGeom>
            <a:solidFill>
              <a:srgbClr val="A3381F"/>
            </a:solidFill>
            <a:ln>
              <a:noFill/>
            </a:ln>
          </p:spPr>
        </p:sp>
        <p:sp>
          <p:nvSpPr>
            <p:cNvPr id="145" name="Freeform 145"/>
            <p:cNvSpPr/>
            <p:nvPr/>
          </p:nvSpPr>
          <p:spPr>
            <a:xfrm>
              <a:off x="5452891" y="481411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FFFFFF"/>
              </a:solidFill>
            </a:ln>
          </p:spPr>
        </p:sp>
        <p:sp>
          <p:nvSpPr>
            <p:cNvPr id="146" name="TextBox 146"/>
            <p:cNvSpPr txBox="1"/>
            <p:nvPr/>
          </p:nvSpPr>
          <p:spPr>
            <a:xfrm>
              <a:off x="5786247" y="481917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统一触达</a:t>
              </a:r>
            </a:p>
          </p:txBody>
        </p:sp>
        <p:sp>
          <p:nvSpPr>
            <p:cNvPr id="147" name="TextBox 147"/>
            <p:cNvSpPr txBox="1"/>
            <p:nvPr/>
          </p:nvSpPr>
          <p:spPr>
            <a:xfrm>
              <a:off x="5786438" y="5038011"/>
              <a:ext cx="55054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统一触达通道</a:t>
              </a:r>
              <a:br/>
              <a:r>
                <a:rPr lang="zh-CN" sz="710" dirty="0">
                  <a:solidFill>
                    <a:srgbClr val="6B6B6B"/>
                  </a:solidFill>
                  <a:latin typeface="+mn-lt"/>
                  <a:ea typeface="+mn-ea"/>
                  <a:cs typeface="+mn-cs"/>
                </a:rPr>
                <a:t>提升触达效率</a:t>
              </a:r>
            </a:p>
          </p:txBody>
        </p:sp>
        <p:sp>
          <p:nvSpPr>
            <p:cNvPr id="148" name="Ellipse 148"/>
            <p:cNvSpPr/>
            <p:nvPr/>
          </p:nvSpPr>
          <p:spPr>
            <a:xfrm>
              <a:off x="7038975" y="4714875"/>
              <a:ext cx="323850" cy="323850"/>
            </a:xfrm>
            <a:prstGeom prst="ellipse">
              <a:avLst/>
            </a:prstGeom>
            <a:solidFill>
              <a:srgbClr val="C26D5E"/>
            </a:solidFill>
            <a:ln>
              <a:noFill/>
            </a:ln>
          </p:spPr>
        </p:sp>
        <p:grpSp>
          <p:nvGrpSpPr>
            <p:cNvPr id="155" name="Group 155"/>
            <p:cNvGrpSpPr/>
            <p:nvPr/>
          </p:nvGrpSpPr>
          <p:grpSpPr>
            <a:xfrm>
              <a:off x="7140178" y="4823222"/>
              <a:ext cx="117872" cy="105965"/>
              <a:chOff x="7140178" y="4823222"/>
              <a:chExt cx="117872" cy="105965"/>
            </a:xfrm>
          </p:grpSpPr>
          <p:sp>
            <p:nvSpPr>
              <p:cNvPr id="149" name="Freeform 149"/>
              <p:cNvSpPr/>
              <p:nvPr/>
            </p:nvSpPr>
            <p:spPr>
              <a:xfrm>
                <a:off x="7140178" y="4823222"/>
                <a:ext cx="28575" cy="17859"/>
              </a:xfrm>
              <a:custGeom>
                <a:avLst/>
                <a:gdLst/>
                <a:ahLst/>
                <a:cxnLst/>
                <a:rect l="l" t="t" r="r" b="b"/>
                <a:pathLst>
                  <a:path w="28575" h="17859">
                    <a:moveTo>
                      <a:pt x="0" y="7144"/>
                    </a:moveTo>
                    <a:lnTo>
                      <a:pt x="10716" y="17859"/>
                    </a:lnTo>
                    <a:lnTo>
                      <a:pt x="28575" y="0"/>
                    </a:lnTo>
                  </a:path>
                </a:pathLst>
              </a:custGeom>
              <a:noFill/>
              <a:ln w="14288">
                <a:solidFill>
                  <a:srgbClr val="FFFFFF"/>
                </a:solidFill>
              </a:ln>
            </p:spPr>
          </p:sp>
          <p:sp>
            <p:nvSpPr>
              <p:cNvPr id="150" name="Freeform 150"/>
              <p:cNvSpPr/>
              <p:nvPr/>
            </p:nvSpPr>
            <p:spPr>
              <a:xfrm>
                <a:off x="7140178" y="4866084"/>
                <a:ext cx="28575" cy="17859"/>
              </a:xfrm>
              <a:custGeom>
                <a:avLst/>
                <a:gdLst/>
                <a:ahLst/>
                <a:cxnLst/>
                <a:rect l="l" t="t" r="r" b="b"/>
                <a:pathLst>
                  <a:path w="28575" h="17859">
                    <a:moveTo>
                      <a:pt x="0" y="7144"/>
                    </a:moveTo>
                    <a:lnTo>
                      <a:pt x="10716" y="17859"/>
                    </a:lnTo>
                    <a:lnTo>
                      <a:pt x="28575" y="0"/>
                    </a:lnTo>
                  </a:path>
                </a:pathLst>
              </a:custGeom>
              <a:noFill/>
              <a:ln w="14288">
                <a:solidFill>
                  <a:srgbClr val="FFFFFF"/>
                </a:solidFill>
              </a:ln>
            </p:spPr>
          </p:sp>
          <p:sp>
            <p:nvSpPr>
              <p:cNvPr id="151" name="Freeform 151"/>
              <p:cNvSpPr/>
              <p:nvPr/>
            </p:nvSpPr>
            <p:spPr>
              <a:xfrm>
                <a:off x="7140178" y="4908947"/>
                <a:ext cx="28575" cy="17859"/>
              </a:xfrm>
              <a:custGeom>
                <a:avLst/>
                <a:gdLst/>
                <a:ahLst/>
                <a:cxnLst/>
                <a:rect l="l" t="t" r="r" b="b"/>
                <a:pathLst>
                  <a:path w="28575" h="17859">
                    <a:moveTo>
                      <a:pt x="0" y="7144"/>
                    </a:moveTo>
                    <a:lnTo>
                      <a:pt x="10716" y="17859"/>
                    </a:lnTo>
                    <a:lnTo>
                      <a:pt x="28575" y="0"/>
                    </a:lnTo>
                  </a:path>
                </a:pathLst>
              </a:custGeom>
              <a:noFill/>
              <a:ln w="14288">
                <a:solidFill>
                  <a:srgbClr val="FFFFFF"/>
                </a:solidFill>
              </a:ln>
            </p:spPr>
          </p:sp>
          <p:sp>
            <p:nvSpPr>
              <p:cNvPr id="152" name="Freeform 152"/>
              <p:cNvSpPr/>
              <p:nvPr/>
            </p:nvSpPr>
            <p:spPr>
              <a:xfrm>
                <a:off x="7193756" y="4833938"/>
                <a:ext cx="64294" cy="9525"/>
              </a:xfrm>
              <a:custGeom>
                <a:avLst/>
                <a:gdLst/>
                <a:ahLst/>
                <a:cxnLst/>
                <a:rect l="l" t="t" r="r" b="b"/>
                <a:pathLst>
                  <a:path w="64294" h="9525">
                    <a:moveTo>
                      <a:pt x="0" y="0"/>
                    </a:moveTo>
                    <a:lnTo>
                      <a:pt x="64294" y="0"/>
                    </a:lnTo>
                  </a:path>
                </a:pathLst>
              </a:custGeom>
              <a:noFill/>
              <a:ln w="14288">
                <a:solidFill>
                  <a:srgbClr val="FFFFFF"/>
                </a:solidFill>
              </a:ln>
            </p:spPr>
          </p:sp>
          <p:sp>
            <p:nvSpPr>
              <p:cNvPr id="153" name="Freeform 153"/>
              <p:cNvSpPr/>
              <p:nvPr/>
            </p:nvSpPr>
            <p:spPr>
              <a:xfrm>
                <a:off x="7193756" y="4876800"/>
                <a:ext cx="64294" cy="9525"/>
              </a:xfrm>
              <a:custGeom>
                <a:avLst/>
                <a:gdLst/>
                <a:ahLst/>
                <a:cxnLst/>
                <a:rect l="l" t="t" r="r" b="b"/>
                <a:pathLst>
                  <a:path w="64294" h="9525">
                    <a:moveTo>
                      <a:pt x="0" y="0"/>
                    </a:moveTo>
                    <a:lnTo>
                      <a:pt x="64294" y="0"/>
                    </a:lnTo>
                  </a:path>
                </a:pathLst>
              </a:custGeom>
              <a:noFill/>
              <a:ln w="14288">
                <a:solidFill>
                  <a:srgbClr val="FFFFFF"/>
                </a:solidFill>
              </a:ln>
            </p:spPr>
          </p:sp>
          <p:sp>
            <p:nvSpPr>
              <p:cNvPr id="154" name="Freeform 154"/>
              <p:cNvSpPr/>
              <p:nvPr/>
            </p:nvSpPr>
            <p:spPr>
              <a:xfrm>
                <a:off x="7193756" y="4919662"/>
                <a:ext cx="64294" cy="9525"/>
              </a:xfrm>
              <a:custGeom>
                <a:avLst/>
                <a:gdLst/>
                <a:ahLst/>
                <a:cxnLst/>
                <a:rect l="l" t="t" r="r" b="b"/>
                <a:pathLst>
                  <a:path w="64294" h="9525">
                    <a:moveTo>
                      <a:pt x="0" y="0"/>
                    </a:moveTo>
                    <a:lnTo>
                      <a:pt x="64294" y="0"/>
                    </a:lnTo>
                  </a:path>
                </a:pathLst>
              </a:custGeom>
              <a:noFill/>
              <a:ln w="14288">
                <a:solidFill>
                  <a:srgbClr val="FFFFFF"/>
                </a:solidFill>
              </a:ln>
            </p:spPr>
          </p:sp>
        </p:grpSp>
        <p:sp>
          <p:nvSpPr>
            <p:cNvPr id="156" name="TextBox 156"/>
            <p:cNvSpPr txBox="1"/>
            <p:nvPr/>
          </p:nvSpPr>
          <p:spPr>
            <a:xfrm>
              <a:off x="7462647" y="481917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统一考核</a:t>
              </a:r>
            </a:p>
          </p:txBody>
        </p:sp>
        <p:sp>
          <p:nvSpPr>
            <p:cNvPr id="157" name="TextBox 157"/>
            <p:cNvSpPr txBox="1"/>
            <p:nvPr/>
          </p:nvSpPr>
          <p:spPr>
            <a:xfrm>
              <a:off x="7462838" y="5038011"/>
              <a:ext cx="55054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6B6B6B"/>
                  </a:solidFill>
                  <a:latin typeface="+mn-lt"/>
                  <a:ea typeface="+mn-ea"/>
                  <a:cs typeface="+mn-cs"/>
                </a:rPr>
                <a:t>统一考核体系</a:t>
              </a:r>
              <a:br/>
              <a:r>
                <a:rPr lang="zh-CN" sz="710" dirty="0">
                  <a:solidFill>
                    <a:srgbClr val="6B6B6B"/>
                  </a:solidFill>
                  <a:latin typeface="+mn-lt"/>
                  <a:ea typeface="+mn-ea"/>
                  <a:cs typeface="+mn-cs"/>
                </a:rPr>
                <a:t>强化结果导向</a:t>
              </a:r>
            </a:p>
          </p:txBody>
        </p:sp>
      </p:grpSp>
      <p:grpSp>
        <p:nvGrpSpPr>
          <p:cNvPr id="202" name="org-column"/>
          <p:cNvGrpSpPr/>
          <p:nvPr/>
        </p:nvGrpSpPr>
        <p:grpSpPr>
          <a:xfrm>
            <a:off x="8496300" y="762000"/>
            <a:ext cx="3314700" cy="4686300"/>
            <a:chOff x="8496300" y="762000"/>
            <a:chExt cx="3314700" cy="4686300"/>
          </a:xfrm>
        </p:grpSpPr>
        <p:sp>
          <p:nvSpPr>
            <p:cNvPr id="159" name="Rectangle 159"/>
            <p:cNvSpPr/>
            <p:nvPr/>
          </p:nvSpPr>
          <p:spPr>
            <a:xfrm>
              <a:off x="8496300" y="762000"/>
              <a:ext cx="3314700" cy="323850"/>
            </a:xfrm>
            <a:prstGeom prst="roundRect">
              <a:avLst>
                <a:gd name="adj" fmla="val 17647"/>
              </a:avLst>
            </a:prstGeom>
            <a:solidFill>
              <a:srgbClr val="A3381F"/>
            </a:solidFill>
            <a:ln>
              <a:noFill/>
            </a:ln>
          </p:spPr>
        </p:sp>
        <p:sp>
          <p:nvSpPr>
            <p:cNvPr id="160" name="TextBox 160"/>
            <p:cNvSpPr txBox="1"/>
            <p:nvPr/>
          </p:nvSpPr>
          <p:spPr>
            <a:xfrm>
              <a:off x="9770999" y="85963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组织实施层</a:t>
              </a:r>
            </a:p>
          </p:txBody>
        </p:sp>
        <p:sp>
          <p:nvSpPr>
            <p:cNvPr id="161" name="Rectangle 161"/>
            <p:cNvSpPr/>
            <p:nvPr/>
          </p:nvSpPr>
          <p:spPr>
            <a:xfrm>
              <a:off x="8496300" y="1162050"/>
              <a:ext cx="3314700" cy="914400"/>
            </a:xfrm>
            <a:prstGeom prst="roundRect">
              <a:avLst>
                <a:gd name="adj" fmla="val 10417"/>
              </a:avLst>
            </a:prstGeom>
            <a:solidFill>
              <a:srgbClr val="FFFFFF"/>
            </a:solidFill>
            <a:ln w="9525">
              <a:solidFill>
                <a:srgbClr val="E6D9C0"/>
              </a:solidFill>
            </a:ln>
          </p:spPr>
        </p:sp>
        <p:sp>
          <p:nvSpPr>
            <p:cNvPr id="162" name="Ellipse 162"/>
            <p:cNvSpPr/>
            <p:nvPr/>
          </p:nvSpPr>
          <p:spPr>
            <a:xfrm>
              <a:off x="8620125" y="1419225"/>
              <a:ext cx="400050" cy="400050"/>
            </a:xfrm>
            <a:prstGeom prst="ellipse">
              <a:avLst/>
            </a:prstGeom>
            <a:solidFill>
              <a:srgbClr val="A3381F"/>
            </a:solidFill>
            <a:ln>
              <a:noFill/>
            </a:ln>
          </p:spPr>
        </p:sp>
        <p:grpSp>
          <p:nvGrpSpPr>
            <p:cNvPr id="171" name="Group 171"/>
            <p:cNvGrpSpPr/>
            <p:nvPr/>
          </p:nvGrpSpPr>
          <p:grpSpPr>
            <a:xfrm>
              <a:off x="8734425" y="1533525"/>
              <a:ext cx="171450" cy="180975"/>
              <a:chOff x="8734425" y="1533525"/>
              <a:chExt cx="171450" cy="180975"/>
            </a:xfrm>
          </p:grpSpPr>
          <p:sp>
            <p:nvSpPr>
              <p:cNvPr id="163" name="Freeform 163"/>
              <p:cNvSpPr/>
              <p:nvPr/>
            </p:nvSpPr>
            <p:spPr>
              <a:xfrm>
                <a:off x="8734425" y="1704975"/>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64" name="Freeform 164"/>
              <p:cNvSpPr/>
              <p:nvPr/>
            </p:nvSpPr>
            <p:spPr>
              <a:xfrm>
                <a:off x="8734425" y="1600200"/>
                <a:ext cx="171450" cy="9525"/>
              </a:xfrm>
              <a:custGeom>
                <a:avLst/>
                <a:gdLst/>
                <a:ahLst/>
                <a:cxnLst/>
                <a:rect l="l" t="t" r="r" b="b"/>
                <a:pathLst>
                  <a:path w="171450" h="9525">
                    <a:moveTo>
                      <a:pt x="0" y="0"/>
                    </a:moveTo>
                    <a:lnTo>
                      <a:pt x="171450" y="0"/>
                    </a:lnTo>
                  </a:path>
                </a:pathLst>
              </a:custGeom>
              <a:noFill/>
              <a:ln w="19050">
                <a:solidFill>
                  <a:srgbClr val="FFFFFF"/>
                </a:solidFill>
              </a:ln>
            </p:spPr>
          </p:sp>
          <p:sp>
            <p:nvSpPr>
              <p:cNvPr id="165" name="Freeform 165"/>
              <p:cNvSpPr/>
              <p:nvPr/>
            </p:nvSpPr>
            <p:spPr>
              <a:xfrm>
                <a:off x="8753475" y="1533525"/>
                <a:ext cx="133350" cy="28575"/>
              </a:xfrm>
              <a:custGeom>
                <a:avLst/>
                <a:gdLst/>
                <a:ahLst/>
                <a:cxnLst/>
                <a:rect l="l" t="t" r="r" b="b"/>
                <a:pathLst>
                  <a:path w="133350" h="28575">
                    <a:moveTo>
                      <a:pt x="0" y="28575"/>
                    </a:moveTo>
                    <a:lnTo>
                      <a:pt x="66675" y="0"/>
                    </a:lnTo>
                    <a:lnTo>
                      <a:pt x="133350" y="28575"/>
                    </a:lnTo>
                  </a:path>
                </a:pathLst>
              </a:custGeom>
              <a:noFill/>
              <a:ln w="19050">
                <a:solidFill>
                  <a:srgbClr val="FFFFFF"/>
                </a:solidFill>
              </a:ln>
            </p:spPr>
          </p:sp>
          <p:sp>
            <p:nvSpPr>
              <p:cNvPr id="166" name="Freeform 166"/>
              <p:cNvSpPr/>
              <p:nvPr/>
            </p:nvSpPr>
            <p:spPr>
              <a:xfrm>
                <a:off x="8743950" y="16002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67" name="Freeform 167"/>
              <p:cNvSpPr/>
              <p:nvPr/>
            </p:nvSpPr>
            <p:spPr>
              <a:xfrm>
                <a:off x="8896350" y="1600200"/>
                <a:ext cx="9525" cy="104775"/>
              </a:xfrm>
              <a:custGeom>
                <a:avLst/>
                <a:gdLst/>
                <a:ahLst/>
                <a:cxnLst/>
                <a:rect l="l" t="t" r="r" b="b"/>
                <a:pathLst>
                  <a:path w="9525" h="104775">
                    <a:moveTo>
                      <a:pt x="0" y="0"/>
                    </a:moveTo>
                    <a:lnTo>
                      <a:pt x="0" y="104775"/>
                    </a:lnTo>
                  </a:path>
                </a:pathLst>
              </a:custGeom>
              <a:noFill/>
              <a:ln w="19050">
                <a:solidFill>
                  <a:srgbClr val="FFFFFF"/>
                </a:solidFill>
              </a:ln>
            </p:spPr>
          </p:sp>
          <p:sp>
            <p:nvSpPr>
              <p:cNvPr id="168" name="Freeform 168"/>
              <p:cNvSpPr/>
              <p:nvPr/>
            </p:nvSpPr>
            <p:spPr>
              <a:xfrm>
                <a:off x="8782050" y="16383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69" name="Freeform 169"/>
              <p:cNvSpPr/>
              <p:nvPr/>
            </p:nvSpPr>
            <p:spPr>
              <a:xfrm>
                <a:off x="8820150" y="1638300"/>
                <a:ext cx="9525" cy="28575"/>
              </a:xfrm>
              <a:custGeom>
                <a:avLst/>
                <a:gdLst/>
                <a:ahLst/>
                <a:cxnLst/>
                <a:rect l="l" t="t" r="r" b="b"/>
                <a:pathLst>
                  <a:path w="9525" h="28575">
                    <a:moveTo>
                      <a:pt x="0" y="0"/>
                    </a:moveTo>
                    <a:lnTo>
                      <a:pt x="0" y="28575"/>
                    </a:lnTo>
                  </a:path>
                </a:pathLst>
              </a:custGeom>
              <a:noFill/>
              <a:ln w="19050">
                <a:solidFill>
                  <a:srgbClr val="FFFFFF"/>
                </a:solidFill>
              </a:ln>
            </p:spPr>
          </p:sp>
          <p:sp>
            <p:nvSpPr>
              <p:cNvPr id="170" name="Freeform 170"/>
              <p:cNvSpPr/>
              <p:nvPr/>
            </p:nvSpPr>
            <p:spPr>
              <a:xfrm>
                <a:off x="8858250" y="1638300"/>
                <a:ext cx="9525" cy="28575"/>
              </a:xfrm>
              <a:custGeom>
                <a:avLst/>
                <a:gdLst/>
                <a:ahLst/>
                <a:cxnLst/>
                <a:rect l="l" t="t" r="r" b="b"/>
                <a:pathLst>
                  <a:path w="9525" h="28575">
                    <a:moveTo>
                      <a:pt x="0" y="0"/>
                    </a:moveTo>
                    <a:lnTo>
                      <a:pt x="0" y="28575"/>
                    </a:lnTo>
                  </a:path>
                </a:pathLst>
              </a:custGeom>
              <a:noFill/>
              <a:ln w="19050">
                <a:solidFill>
                  <a:srgbClr val="FFFFFF"/>
                </a:solidFill>
              </a:ln>
            </p:spPr>
          </p:sp>
        </p:grpSp>
        <p:sp>
          <p:nvSpPr>
            <p:cNvPr id="172" name="TextBox 172"/>
            <p:cNvSpPr txBox="1"/>
            <p:nvPr/>
          </p:nvSpPr>
          <p:spPr>
            <a:xfrm>
              <a:off x="9138666" y="1429702"/>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总行统筹</a:t>
              </a:r>
            </a:p>
          </p:txBody>
        </p:sp>
        <p:sp>
          <p:nvSpPr>
            <p:cNvPr id="173" name="TextBox 173"/>
            <p:cNvSpPr txBox="1"/>
            <p:nvPr/>
          </p:nvSpPr>
          <p:spPr>
            <a:xfrm>
              <a:off x="9139238" y="1656636"/>
              <a:ext cx="1376322"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战略规划 · 标准制定 · 资源统筹</a:t>
              </a:r>
            </a:p>
          </p:txBody>
        </p:sp>
        <p:sp>
          <p:nvSpPr>
            <p:cNvPr id="174" name="Freeform 174"/>
            <p:cNvSpPr/>
            <p:nvPr/>
          </p:nvSpPr>
          <p:spPr>
            <a:xfrm>
              <a:off x="10039350" y="2095500"/>
              <a:ext cx="228600" cy="152400"/>
            </a:xfrm>
            <a:prstGeom prst="downArrow">
              <a:avLst/>
            </a:prstGeom>
            <a:solidFill>
              <a:srgbClr val="A3381F"/>
            </a:solidFill>
            <a:ln>
              <a:noFill/>
            </a:ln>
          </p:spPr>
        </p:sp>
        <p:sp>
          <p:nvSpPr>
            <p:cNvPr id="175" name="Rectangle 175"/>
            <p:cNvSpPr/>
            <p:nvPr/>
          </p:nvSpPr>
          <p:spPr>
            <a:xfrm>
              <a:off x="8496300" y="2286000"/>
              <a:ext cx="3314700" cy="914400"/>
            </a:xfrm>
            <a:prstGeom prst="roundRect">
              <a:avLst>
                <a:gd name="adj" fmla="val 10417"/>
              </a:avLst>
            </a:prstGeom>
            <a:solidFill>
              <a:srgbClr val="FFFFFF"/>
            </a:solidFill>
            <a:ln w="9525">
              <a:solidFill>
                <a:srgbClr val="E6D9C0"/>
              </a:solidFill>
            </a:ln>
          </p:spPr>
        </p:sp>
        <p:sp>
          <p:nvSpPr>
            <p:cNvPr id="176" name="Ellipse 176"/>
            <p:cNvSpPr/>
            <p:nvPr/>
          </p:nvSpPr>
          <p:spPr>
            <a:xfrm>
              <a:off x="8620125" y="2543175"/>
              <a:ext cx="400050" cy="400050"/>
            </a:xfrm>
            <a:prstGeom prst="ellipse">
              <a:avLst/>
            </a:prstGeom>
            <a:solidFill>
              <a:srgbClr val="C26D5E"/>
            </a:solidFill>
            <a:ln>
              <a:noFill/>
            </a:ln>
          </p:spPr>
        </p:sp>
        <p:grpSp>
          <p:nvGrpSpPr>
            <p:cNvPr id="181" name="Group 181"/>
            <p:cNvGrpSpPr/>
            <p:nvPr/>
          </p:nvGrpSpPr>
          <p:grpSpPr>
            <a:xfrm>
              <a:off x="8734425" y="2657475"/>
              <a:ext cx="171450" cy="161925"/>
              <a:chOff x="8734425" y="2657475"/>
              <a:chExt cx="171450" cy="161925"/>
            </a:xfrm>
          </p:grpSpPr>
          <p:sp>
            <p:nvSpPr>
              <p:cNvPr id="177" name="Freeform 177"/>
              <p:cNvSpPr/>
              <p:nvPr/>
            </p:nvSpPr>
            <p:spPr>
              <a:xfrm>
                <a:off x="8734425" y="26955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FFFFFF"/>
                </a:solidFill>
              </a:ln>
            </p:spPr>
          </p:sp>
          <p:sp>
            <p:nvSpPr>
              <p:cNvPr id="178" name="Freeform 178"/>
              <p:cNvSpPr/>
              <p:nvPr/>
            </p:nvSpPr>
            <p:spPr>
              <a:xfrm>
                <a:off x="8782050" y="26574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FFFFFF"/>
                </a:solidFill>
              </a:ln>
            </p:spPr>
          </p:sp>
          <p:sp>
            <p:nvSpPr>
              <p:cNvPr id="179" name="Freeform 179"/>
              <p:cNvSpPr/>
              <p:nvPr/>
            </p:nvSpPr>
            <p:spPr>
              <a:xfrm>
                <a:off x="8820150" y="2743200"/>
                <a:ext cx="9525" cy="9525"/>
              </a:xfrm>
              <a:custGeom>
                <a:avLst/>
                <a:gdLst/>
                <a:ahLst/>
                <a:cxnLst/>
                <a:rect l="l" t="t" r="r" b="b"/>
                <a:pathLst>
                  <a:path w="9525" h="9525">
                    <a:moveTo>
                      <a:pt x="0" y="0"/>
                    </a:moveTo>
                    <a:lnTo>
                      <a:pt x="0" y="95"/>
                    </a:lnTo>
                  </a:path>
                </a:pathLst>
              </a:custGeom>
              <a:noFill/>
              <a:ln w="19050">
                <a:solidFill>
                  <a:srgbClr val="FFFFFF"/>
                </a:solidFill>
              </a:ln>
            </p:spPr>
          </p:sp>
          <p:sp>
            <p:nvSpPr>
              <p:cNvPr id="180" name="Freeform 180"/>
              <p:cNvSpPr/>
              <p:nvPr/>
            </p:nvSpPr>
            <p:spPr>
              <a:xfrm>
                <a:off x="8734425" y="27527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FFFFFF"/>
                </a:solidFill>
              </a:ln>
            </p:spPr>
          </p:sp>
        </p:grpSp>
        <p:sp>
          <p:nvSpPr>
            <p:cNvPr id="182" name="TextBox 182"/>
            <p:cNvSpPr txBox="1"/>
            <p:nvPr/>
          </p:nvSpPr>
          <p:spPr>
            <a:xfrm>
              <a:off x="9138666" y="2553652"/>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分行运营</a:t>
              </a:r>
            </a:p>
          </p:txBody>
        </p:sp>
        <p:sp>
          <p:nvSpPr>
            <p:cNvPr id="183" name="TextBox 183"/>
            <p:cNvSpPr txBox="1"/>
            <p:nvPr/>
          </p:nvSpPr>
          <p:spPr>
            <a:xfrm>
              <a:off x="9139238" y="2780586"/>
              <a:ext cx="1376322"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方案落地 · 过程管理 · 效果监控</a:t>
              </a:r>
            </a:p>
          </p:txBody>
        </p:sp>
        <p:sp>
          <p:nvSpPr>
            <p:cNvPr id="184" name="Freeform 184"/>
            <p:cNvSpPr/>
            <p:nvPr/>
          </p:nvSpPr>
          <p:spPr>
            <a:xfrm>
              <a:off x="10039350" y="3219450"/>
              <a:ext cx="228600" cy="152400"/>
            </a:xfrm>
            <a:prstGeom prst="downArrow">
              <a:avLst/>
            </a:prstGeom>
            <a:solidFill>
              <a:srgbClr val="A3381F"/>
            </a:solidFill>
            <a:ln>
              <a:noFill/>
            </a:ln>
          </p:spPr>
        </p:sp>
        <p:sp>
          <p:nvSpPr>
            <p:cNvPr id="185" name="Rectangle 185"/>
            <p:cNvSpPr/>
            <p:nvPr/>
          </p:nvSpPr>
          <p:spPr>
            <a:xfrm>
              <a:off x="8496300" y="3409950"/>
              <a:ext cx="3314700" cy="914400"/>
            </a:xfrm>
            <a:prstGeom prst="roundRect">
              <a:avLst>
                <a:gd name="adj" fmla="val 10417"/>
              </a:avLst>
            </a:prstGeom>
            <a:solidFill>
              <a:srgbClr val="FFFFFF"/>
            </a:solidFill>
            <a:ln w="9525">
              <a:solidFill>
                <a:srgbClr val="E6D9C0"/>
              </a:solidFill>
            </a:ln>
          </p:spPr>
        </p:sp>
        <p:sp>
          <p:nvSpPr>
            <p:cNvPr id="186" name="Ellipse 186"/>
            <p:cNvSpPr/>
            <p:nvPr/>
          </p:nvSpPr>
          <p:spPr>
            <a:xfrm>
              <a:off x="8620125" y="3667125"/>
              <a:ext cx="400050" cy="400050"/>
            </a:xfrm>
            <a:prstGeom prst="ellipse">
              <a:avLst/>
            </a:prstGeom>
            <a:solidFill>
              <a:srgbClr val="A3381F"/>
            </a:solidFill>
            <a:ln>
              <a:noFill/>
            </a:ln>
          </p:spPr>
        </p:sp>
        <p:grpSp>
          <p:nvGrpSpPr>
            <p:cNvPr id="190" name="Group 190"/>
            <p:cNvGrpSpPr/>
            <p:nvPr/>
          </p:nvGrpSpPr>
          <p:grpSpPr>
            <a:xfrm>
              <a:off x="8734425" y="3781425"/>
              <a:ext cx="171450" cy="171450"/>
              <a:chOff x="8734425" y="3781425"/>
              <a:chExt cx="171450" cy="171450"/>
            </a:xfrm>
          </p:grpSpPr>
          <p:sp>
            <p:nvSpPr>
              <p:cNvPr id="187" name="Freeform 187"/>
              <p:cNvSpPr/>
              <p:nvPr/>
            </p:nvSpPr>
            <p:spPr>
              <a:xfrm>
                <a:off x="8734425" y="378142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FFFFFF"/>
                </a:solidFill>
              </a:ln>
            </p:spPr>
          </p:sp>
          <p:sp>
            <p:nvSpPr>
              <p:cNvPr id="188" name="Freeform 188"/>
              <p:cNvSpPr/>
              <p:nvPr/>
            </p:nvSpPr>
            <p:spPr>
              <a:xfrm>
                <a:off x="8753475" y="386715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FFFFFF"/>
                </a:solidFill>
              </a:ln>
            </p:spPr>
          </p:sp>
          <p:sp>
            <p:nvSpPr>
              <p:cNvPr id="189" name="Freeform 189"/>
              <p:cNvSpPr/>
              <p:nvPr/>
            </p:nvSpPr>
            <p:spPr>
              <a:xfrm>
                <a:off x="8791575" y="387667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FFFFFF"/>
                </a:solidFill>
              </a:ln>
            </p:spPr>
          </p:sp>
        </p:grpSp>
        <p:sp>
          <p:nvSpPr>
            <p:cNvPr id="191" name="TextBox 191"/>
            <p:cNvSpPr txBox="1"/>
            <p:nvPr/>
          </p:nvSpPr>
          <p:spPr>
            <a:xfrm>
              <a:off x="9138666" y="3677602"/>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支行执行</a:t>
              </a:r>
            </a:p>
          </p:txBody>
        </p:sp>
        <p:sp>
          <p:nvSpPr>
            <p:cNvPr id="192" name="TextBox 192"/>
            <p:cNvSpPr txBox="1"/>
            <p:nvPr/>
          </p:nvSpPr>
          <p:spPr>
            <a:xfrm>
              <a:off x="9139238" y="3904536"/>
              <a:ext cx="1170824"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任务分属地执行 · 进度反馈</a:t>
              </a:r>
            </a:p>
          </p:txBody>
        </p:sp>
        <p:sp>
          <p:nvSpPr>
            <p:cNvPr id="193" name="Freeform 193"/>
            <p:cNvSpPr/>
            <p:nvPr/>
          </p:nvSpPr>
          <p:spPr>
            <a:xfrm>
              <a:off x="10039350" y="4343400"/>
              <a:ext cx="228600" cy="152400"/>
            </a:xfrm>
            <a:prstGeom prst="downArrow">
              <a:avLst/>
            </a:prstGeom>
            <a:solidFill>
              <a:srgbClr val="A3381F"/>
            </a:solidFill>
            <a:ln>
              <a:noFill/>
            </a:ln>
          </p:spPr>
        </p:sp>
        <p:sp>
          <p:nvSpPr>
            <p:cNvPr id="194" name="Rectangle 194"/>
            <p:cNvSpPr/>
            <p:nvPr/>
          </p:nvSpPr>
          <p:spPr>
            <a:xfrm>
              <a:off x="8496300" y="4533900"/>
              <a:ext cx="3314700" cy="914400"/>
            </a:xfrm>
            <a:prstGeom prst="roundRect">
              <a:avLst>
                <a:gd name="adj" fmla="val 10417"/>
              </a:avLst>
            </a:prstGeom>
            <a:solidFill>
              <a:srgbClr val="FFFFFF"/>
            </a:solidFill>
            <a:ln w="9525">
              <a:solidFill>
                <a:srgbClr val="E6D9C0"/>
              </a:solidFill>
            </a:ln>
          </p:spPr>
        </p:sp>
        <p:sp>
          <p:nvSpPr>
            <p:cNvPr id="195" name="Ellipse 195"/>
            <p:cNvSpPr/>
            <p:nvPr/>
          </p:nvSpPr>
          <p:spPr>
            <a:xfrm>
              <a:off x="8620125" y="4791075"/>
              <a:ext cx="400050" cy="400050"/>
            </a:xfrm>
            <a:prstGeom prst="ellipse">
              <a:avLst/>
            </a:prstGeom>
            <a:solidFill>
              <a:srgbClr val="C26D5E"/>
            </a:solidFill>
            <a:ln>
              <a:noFill/>
            </a:ln>
          </p:spPr>
        </p:sp>
        <p:grpSp>
          <p:nvGrpSpPr>
            <p:cNvPr id="199" name="Group 199"/>
            <p:cNvGrpSpPr/>
            <p:nvPr/>
          </p:nvGrpSpPr>
          <p:grpSpPr>
            <a:xfrm>
              <a:off x="8763000" y="4905375"/>
              <a:ext cx="142875" cy="171450"/>
              <a:chOff x="8763000" y="4905375"/>
              <a:chExt cx="142875" cy="171450"/>
            </a:xfrm>
          </p:grpSpPr>
          <p:sp>
            <p:nvSpPr>
              <p:cNvPr id="196" name="Freeform 196"/>
              <p:cNvSpPr/>
              <p:nvPr/>
            </p:nvSpPr>
            <p:spPr>
              <a:xfrm>
                <a:off x="8782050" y="49053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97" name="Freeform 197"/>
              <p:cNvSpPr/>
              <p:nvPr/>
            </p:nvSpPr>
            <p:spPr>
              <a:xfrm>
                <a:off x="8763000" y="501967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FFFFFF"/>
                </a:solidFill>
              </a:ln>
            </p:spPr>
          </p:sp>
          <p:sp>
            <p:nvSpPr>
              <p:cNvPr id="198" name="Freeform 198"/>
              <p:cNvSpPr/>
              <p:nvPr/>
            </p:nvSpPr>
            <p:spPr>
              <a:xfrm>
                <a:off x="8848725" y="503872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200" name="TextBox 200"/>
            <p:cNvSpPr txBox="1"/>
            <p:nvPr/>
          </p:nvSpPr>
          <p:spPr>
            <a:xfrm>
              <a:off x="9138666" y="4801552"/>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经理维护</a:t>
              </a:r>
            </a:p>
          </p:txBody>
        </p:sp>
        <p:sp>
          <p:nvSpPr>
            <p:cNvPr id="201" name="TextBox 201"/>
            <p:cNvSpPr txBox="1"/>
            <p:nvPr/>
          </p:nvSpPr>
          <p:spPr>
            <a:xfrm>
              <a:off x="9139238" y="5028486"/>
              <a:ext cx="1376322"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客户经营 · 关系维护 · 价值提升</a:t>
              </a:r>
            </a:p>
          </p:txBody>
        </p:sp>
      </p:grpSp>
      <p:grpSp>
        <p:nvGrpSpPr>
          <p:cNvPr id="212" name="concl-banner4"/>
          <p:cNvGrpSpPr/>
          <p:nvPr/>
        </p:nvGrpSpPr>
        <p:grpSpPr>
          <a:xfrm>
            <a:off x="381000" y="5829300"/>
            <a:ext cx="11430000" cy="876300"/>
            <a:chOff x="381000" y="5829300"/>
            <a:chExt cx="11430000" cy="876300"/>
          </a:xfrm>
        </p:grpSpPr>
        <p:sp>
          <p:nvSpPr>
            <p:cNvPr id="203" name="Rectangle 203"/>
            <p:cNvSpPr/>
            <p:nvPr/>
          </p:nvSpPr>
          <p:spPr>
            <a:xfrm>
              <a:off x="381000" y="5829300"/>
              <a:ext cx="11430000" cy="876300"/>
            </a:xfrm>
            <a:prstGeom prst="roundRect">
              <a:avLst>
                <a:gd name="adj" fmla="val 13043"/>
              </a:avLst>
            </a:prstGeom>
            <a:gradFill>
              <a:gsLst>
                <a:gs pos="0">
                  <a:srgbClr val="A3381F"/>
                </a:gs>
                <a:gs pos="100000">
                  <a:srgbClr val="B04830"/>
                </a:gs>
              </a:gsLst>
              <a:lin ang="0" scaled="1"/>
            </a:gradFill>
            <a:ln>
              <a:noFill/>
            </a:ln>
          </p:spPr>
        </p:sp>
        <p:sp>
          <p:nvSpPr>
            <p:cNvPr id="204" name="Polygon 204"/>
            <p:cNvSpPr/>
            <p:nvPr/>
          </p:nvSpPr>
          <p:spPr>
            <a:xfrm>
              <a:off x="381000" y="5829300"/>
              <a:ext cx="857250" cy="495300"/>
            </a:xfrm>
            <a:custGeom>
              <a:avLst/>
              <a:gdLst/>
              <a:ahLst/>
              <a:cxnLst/>
              <a:rect l="l" t="t" r="r" b="b"/>
              <a:pathLst>
                <a:path w="857250" h="495300">
                  <a:moveTo>
                    <a:pt x="0" y="0"/>
                  </a:moveTo>
                  <a:lnTo>
                    <a:pt x="857250" y="0"/>
                  </a:lnTo>
                  <a:lnTo>
                    <a:pt x="628650" y="495300"/>
                  </a:lnTo>
                  <a:lnTo>
                    <a:pt x="0" y="495300"/>
                  </a:lnTo>
                  <a:close/>
                </a:path>
              </a:pathLst>
            </a:custGeom>
            <a:solidFill>
              <a:srgbClr val="7E2511"/>
            </a:solidFill>
            <a:ln>
              <a:noFill/>
            </a:ln>
          </p:spPr>
        </p:sp>
        <p:sp>
          <p:nvSpPr>
            <p:cNvPr id="205" name="Polygon 205"/>
            <p:cNvSpPr/>
            <p:nvPr/>
          </p:nvSpPr>
          <p:spPr>
            <a:xfrm>
              <a:off x="10953750" y="5829300"/>
              <a:ext cx="857250" cy="381000"/>
            </a:xfrm>
            <a:custGeom>
              <a:avLst/>
              <a:gdLst/>
              <a:ahLst/>
              <a:cxnLst/>
              <a:rect l="l" t="t" r="r" b="b"/>
              <a:pathLst>
                <a:path w="857250" h="381000">
                  <a:moveTo>
                    <a:pt x="857250" y="0"/>
                  </a:moveTo>
                  <a:lnTo>
                    <a:pt x="0" y="0"/>
                  </a:lnTo>
                  <a:lnTo>
                    <a:pt x="228600" y="381000"/>
                  </a:lnTo>
                  <a:lnTo>
                    <a:pt x="857250" y="381000"/>
                  </a:lnTo>
                  <a:close/>
                </a:path>
              </a:pathLst>
            </a:custGeom>
            <a:solidFill>
              <a:srgbClr val="C85E46"/>
            </a:solidFill>
            <a:ln>
              <a:noFill/>
            </a:ln>
          </p:spPr>
        </p:sp>
        <p:sp>
          <p:nvSpPr>
            <p:cNvPr id="206" name="Ellipse 206"/>
            <p:cNvSpPr/>
            <p:nvPr/>
          </p:nvSpPr>
          <p:spPr>
            <a:xfrm>
              <a:off x="838200" y="6057900"/>
              <a:ext cx="419100" cy="419100"/>
            </a:xfrm>
            <a:prstGeom prst="ellipse">
              <a:avLst/>
            </a:prstGeom>
            <a:solidFill>
              <a:srgbClr val="FFFFFF"/>
            </a:solidFill>
            <a:ln>
              <a:noFill/>
            </a:ln>
          </p:spPr>
        </p:sp>
        <p:grpSp>
          <p:nvGrpSpPr>
            <p:cNvPr id="209" name="Group 209"/>
            <p:cNvGrpSpPr/>
            <p:nvPr/>
          </p:nvGrpSpPr>
          <p:grpSpPr>
            <a:xfrm>
              <a:off x="949171" y="6181725"/>
              <a:ext cx="186006" cy="171450"/>
              <a:chOff x="949171" y="6181725"/>
              <a:chExt cx="186006" cy="171450"/>
            </a:xfrm>
          </p:grpSpPr>
          <p:sp>
            <p:nvSpPr>
              <p:cNvPr id="207" name="Freeform 207"/>
              <p:cNvSpPr/>
              <p:nvPr/>
            </p:nvSpPr>
            <p:spPr>
              <a:xfrm>
                <a:off x="949171" y="61817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1"/>
                    </a:cubicBezTo>
                  </a:path>
                </a:pathLst>
              </a:custGeom>
              <a:noFill/>
              <a:ln w="19050">
                <a:solidFill>
                  <a:srgbClr val="A3381F"/>
                </a:solidFill>
              </a:ln>
            </p:spPr>
          </p:sp>
          <p:sp>
            <p:nvSpPr>
              <p:cNvPr id="208" name="Freeform 208"/>
              <p:cNvSpPr/>
              <p:nvPr/>
            </p:nvSpPr>
            <p:spPr>
              <a:xfrm>
                <a:off x="1076325" y="6315075"/>
                <a:ext cx="57150" cy="38100"/>
              </a:xfrm>
              <a:custGeom>
                <a:avLst/>
                <a:gdLst/>
                <a:ahLst/>
                <a:cxnLst/>
                <a:rect l="l" t="t" r="r" b="b"/>
                <a:pathLst>
                  <a:path w="57150" h="38100">
                    <a:moveTo>
                      <a:pt x="0" y="19050"/>
                    </a:moveTo>
                    <a:lnTo>
                      <a:pt x="19050" y="38100"/>
                    </a:lnTo>
                    <a:lnTo>
                      <a:pt x="57150" y="0"/>
                    </a:lnTo>
                  </a:path>
                </a:pathLst>
              </a:custGeom>
              <a:noFill/>
              <a:ln w="19050">
                <a:solidFill>
                  <a:srgbClr val="A3381F"/>
                </a:solidFill>
              </a:ln>
            </p:spPr>
          </p:sp>
        </p:grpSp>
        <p:sp>
          <p:nvSpPr>
            <p:cNvPr id="210" name="TextBox 210"/>
            <p:cNvSpPr txBox="1"/>
            <p:nvPr/>
          </p:nvSpPr>
          <p:spPr>
            <a:xfrm>
              <a:off x="3376346" y="6088856"/>
              <a:ext cx="543930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以统一标准为基础，以三维识别为核心，以五类能力为抓手，以四个统一为保障，</a:t>
              </a:r>
            </a:p>
          </p:txBody>
        </p:sp>
        <p:sp>
          <p:nvSpPr>
            <p:cNvPr id="211" name="TextBox 211"/>
            <p:cNvSpPr txBox="1"/>
            <p:nvPr/>
          </p:nvSpPr>
          <p:spPr>
            <a:xfrm>
              <a:off x="4808703" y="6355556"/>
              <a:ext cx="2574595" cy="220028"/>
            </a:xfrm>
            <a:prstGeom prst="rect">
              <a:avLst/>
            </a:prstGeom>
            <a:noFill/>
            <a:ln>
              <a:noFill/>
            </a:ln>
          </p:spPr>
          <p:txBody>
            <a:bodyPr wrap="none" lIns="0" tIns="0" rIns="0" bIns="0" anchor="t" anchorCtr="0">
              <a:spAutoFit/>
            </a:bodyPr>
            <a:lstStyle/>
            <a:p>
              <a:pPr algn="ctr"/>
              <a:r>
                <a:rPr lang="zh-CN" sz="1120" b="1" dirty="0">
                  <a:solidFill>
                    <a:srgbClr val="FFC3B8"/>
                  </a:solidFill>
                  <a:latin typeface="+mn-lt"/>
                  <a:ea typeface="+mn-ea"/>
                  <a:cs typeface="+mn-cs"/>
                </a:rPr>
                <a:t>驱动客户经营精细化、智能化、体系化</a:t>
              </a:r>
            </a:p>
          </p:txBody>
        </p:sp>
      </p:gr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05</a:t>
              </a:r>
            </a:p>
          </p:txBody>
        </p:sp>
        <p:sp>
          <p:nvSpPr>
            <p:cNvPr id="4" name="TextBox 4"/>
            <p:cNvSpPr txBox="1"/>
            <p:nvPr/>
          </p:nvSpPr>
          <p:spPr>
            <a:xfrm>
              <a:off x="942594" y="151448"/>
              <a:ext cx="390296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客户分层与客户分类的</a:t>
              </a:r>
              <a:r>
                <a:rPr lang="zh-CN" sz="1950" b="1" dirty="0">
                  <a:solidFill>
                    <a:srgbClr val="A3381F"/>
                  </a:solidFill>
                  <a:latin typeface="SimSun"/>
                  <a:ea typeface="SimSun"/>
                  <a:cs typeface="SimSun"/>
                </a:rPr>
                <a:t>逻辑关系</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39" name="col-fen-ceng"/>
          <p:cNvGrpSpPr/>
          <p:nvPr/>
        </p:nvGrpSpPr>
        <p:grpSpPr>
          <a:xfrm>
            <a:off x="342900" y="762000"/>
            <a:ext cx="2095500" cy="4572000"/>
            <a:chOff x="342900" y="762000"/>
            <a:chExt cx="2095500" cy="4572000"/>
          </a:xfrm>
        </p:grpSpPr>
        <p:sp>
          <p:nvSpPr>
            <p:cNvPr id="7" name="Rectangle 7"/>
            <p:cNvSpPr/>
            <p:nvPr/>
          </p:nvSpPr>
          <p:spPr>
            <a:xfrm>
              <a:off x="342900" y="762000"/>
              <a:ext cx="2095500" cy="4572000"/>
            </a:xfrm>
            <a:prstGeom prst="roundRect">
              <a:avLst>
                <a:gd name="adj" fmla="val 4545"/>
              </a:avLst>
            </a:prstGeom>
            <a:solidFill>
              <a:srgbClr val="FFFFFF"/>
            </a:solidFill>
            <a:ln w="9525">
              <a:solidFill>
                <a:srgbClr val="E6D9C0"/>
              </a:solidFill>
            </a:ln>
          </p:spPr>
        </p:sp>
        <p:sp>
          <p:nvSpPr>
            <p:cNvPr id="8" name="Rectangle 8"/>
            <p:cNvSpPr/>
            <p:nvPr/>
          </p:nvSpPr>
          <p:spPr>
            <a:xfrm>
              <a:off x="342900" y="762000"/>
              <a:ext cx="2095500" cy="323850"/>
            </a:xfrm>
            <a:prstGeom prst="roundRect">
              <a:avLst>
                <a:gd name="adj" fmla="val 29412"/>
              </a:avLst>
            </a:prstGeom>
            <a:solidFill>
              <a:srgbClr val="A3381F"/>
            </a:solidFill>
            <a:ln>
              <a:noFill/>
            </a:ln>
          </p:spPr>
        </p:sp>
        <p:sp>
          <p:nvSpPr>
            <p:cNvPr id="9" name="Rectangle 9"/>
            <p:cNvSpPr/>
            <p:nvPr/>
          </p:nvSpPr>
          <p:spPr>
            <a:xfrm>
              <a:off x="342900" y="952500"/>
              <a:ext cx="2095500" cy="133350"/>
            </a:xfrm>
            <a:prstGeom prst="rect">
              <a:avLst/>
            </a:prstGeom>
            <a:solidFill>
              <a:srgbClr val="A3381F"/>
            </a:solidFill>
            <a:ln>
              <a:noFill/>
            </a:ln>
          </p:spPr>
        </p:sp>
        <p:sp>
          <p:nvSpPr>
            <p:cNvPr id="10" name="TextBox 10"/>
            <p:cNvSpPr txBox="1"/>
            <p:nvPr/>
          </p:nvSpPr>
          <p:spPr>
            <a:xfrm>
              <a:off x="1210414" y="859631"/>
              <a:ext cx="36047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分 层</a:t>
              </a:r>
            </a:p>
          </p:txBody>
        </p:sp>
        <p:sp>
          <p:nvSpPr>
            <p:cNvPr id="11" name="TextBox 11"/>
            <p:cNvSpPr txBox="1"/>
            <p:nvPr/>
          </p:nvSpPr>
          <p:spPr>
            <a:xfrm>
              <a:off x="689902" y="1194197"/>
              <a:ext cx="1401496" cy="183356"/>
            </a:xfrm>
            <a:prstGeom prst="rect">
              <a:avLst/>
            </a:prstGeom>
            <a:noFill/>
            <a:ln>
              <a:noFill/>
            </a:ln>
          </p:spPr>
          <p:txBody>
            <a:bodyPr wrap="none" lIns="0" tIns="0" rIns="0" bIns="0" anchor="t" anchorCtr="0">
              <a:spAutoFit/>
            </a:bodyPr>
            <a:lstStyle/>
            <a:p>
              <a:pPr algn="ctr"/>
              <a:r>
                <a:rPr lang="zh-CN" sz="940" b="1" dirty="0">
                  <a:solidFill>
                    <a:srgbClr val="A3381F"/>
                  </a:solidFill>
                  <a:latin typeface="+mn-lt"/>
                  <a:ea typeface="+mn-ea"/>
                  <a:cs typeface="+mn-cs"/>
                </a:rPr>
                <a:t>价值多高、投入多少资源</a:t>
              </a:r>
            </a:p>
          </p:txBody>
        </p:sp>
        <p:sp>
          <p:nvSpPr>
            <p:cNvPr id="12" name="Rectangle 12"/>
            <p:cNvSpPr/>
            <p:nvPr/>
          </p:nvSpPr>
          <p:spPr>
            <a:xfrm>
              <a:off x="495300" y="1447800"/>
              <a:ext cx="38100" cy="133350"/>
            </a:xfrm>
            <a:prstGeom prst="rect">
              <a:avLst/>
            </a:prstGeom>
            <a:solidFill>
              <a:srgbClr val="C26D5E"/>
            </a:solidFill>
            <a:ln>
              <a:noFill/>
            </a:ln>
          </p:spPr>
        </p:sp>
        <p:sp>
          <p:nvSpPr>
            <p:cNvPr id="13" name="TextBox 13"/>
            <p:cNvSpPr txBox="1"/>
            <p:nvPr/>
          </p:nvSpPr>
          <p:spPr>
            <a:xfrm>
              <a:off x="585788" y="146494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分层逻辑</a:t>
              </a:r>
            </a:p>
          </p:txBody>
        </p:sp>
        <p:sp>
          <p:nvSpPr>
            <p:cNvPr id="14" name="Ellipse 14"/>
            <p:cNvSpPr/>
            <p:nvPr/>
          </p:nvSpPr>
          <p:spPr>
            <a:xfrm>
              <a:off x="533400" y="1714500"/>
              <a:ext cx="38100" cy="38100"/>
            </a:xfrm>
            <a:prstGeom prst="ellipse">
              <a:avLst/>
            </a:prstGeom>
            <a:solidFill>
              <a:srgbClr val="C26D5E"/>
            </a:solidFill>
            <a:ln>
              <a:noFill/>
            </a:ln>
          </p:spPr>
        </p:sp>
        <p:sp>
          <p:nvSpPr>
            <p:cNvPr id="15" name="TextBox 15"/>
            <p:cNvSpPr txBox="1"/>
            <p:nvPr/>
          </p:nvSpPr>
          <p:spPr>
            <a:xfrm>
              <a:off x="623888" y="169473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以客户对我行的综合贡</a:t>
              </a:r>
              <a:br/>
              <a:r>
                <a:rPr lang="zh-CN" sz="710" dirty="0">
                  <a:solidFill>
                    <a:srgbClr val="4A4A4A"/>
                  </a:solidFill>
                  <a:latin typeface="+mn-lt"/>
                  <a:ea typeface="+mn-ea"/>
                  <a:cs typeface="+mn-cs"/>
                </a:rPr>
                <a:t>献价值为核心</a:t>
              </a:r>
            </a:p>
          </p:txBody>
        </p:sp>
        <p:sp>
          <p:nvSpPr>
            <p:cNvPr id="16" name="Ellipse 16"/>
            <p:cNvSpPr/>
            <p:nvPr/>
          </p:nvSpPr>
          <p:spPr>
            <a:xfrm>
              <a:off x="533400" y="2038350"/>
              <a:ext cx="38100" cy="38100"/>
            </a:xfrm>
            <a:prstGeom prst="ellipse">
              <a:avLst/>
            </a:prstGeom>
            <a:solidFill>
              <a:srgbClr val="C26D5E"/>
            </a:solidFill>
            <a:ln>
              <a:noFill/>
            </a:ln>
          </p:spPr>
        </p:sp>
        <p:sp>
          <p:nvSpPr>
            <p:cNvPr id="17" name="TextBox 17"/>
            <p:cNvSpPr txBox="1"/>
            <p:nvPr/>
          </p:nvSpPr>
          <p:spPr>
            <a:xfrm>
              <a:off x="623888" y="201858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资源投入越多，价值越</a:t>
              </a:r>
              <a:br/>
              <a:r>
                <a:rPr lang="zh-CN" sz="710" dirty="0">
                  <a:solidFill>
                    <a:srgbClr val="4A4A4A"/>
                  </a:solidFill>
                  <a:latin typeface="+mn-lt"/>
                  <a:ea typeface="+mn-ea"/>
                  <a:cs typeface="+mn-cs"/>
                </a:rPr>
                <a:t>高、潜力越大</a:t>
              </a:r>
            </a:p>
          </p:txBody>
        </p:sp>
        <p:sp>
          <p:nvSpPr>
            <p:cNvPr id="18" name="Rectangle 18"/>
            <p:cNvSpPr/>
            <p:nvPr/>
          </p:nvSpPr>
          <p:spPr>
            <a:xfrm>
              <a:off x="495300" y="2438400"/>
              <a:ext cx="38100" cy="133350"/>
            </a:xfrm>
            <a:prstGeom prst="rect">
              <a:avLst/>
            </a:prstGeom>
            <a:solidFill>
              <a:srgbClr val="C26D5E"/>
            </a:solidFill>
            <a:ln>
              <a:noFill/>
            </a:ln>
          </p:spPr>
        </p:sp>
        <p:sp>
          <p:nvSpPr>
            <p:cNvPr id="19" name="TextBox 19"/>
            <p:cNvSpPr txBox="1"/>
            <p:nvPr/>
          </p:nvSpPr>
          <p:spPr>
            <a:xfrm>
              <a:off x="585788" y="245554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典型分层</a:t>
              </a:r>
            </a:p>
          </p:txBody>
        </p:sp>
        <p:sp>
          <p:nvSpPr>
            <p:cNvPr id="20" name="Rectangle 20"/>
            <p:cNvSpPr/>
            <p:nvPr/>
          </p:nvSpPr>
          <p:spPr>
            <a:xfrm>
              <a:off x="495300" y="2686050"/>
              <a:ext cx="247650" cy="171450"/>
            </a:xfrm>
            <a:prstGeom prst="roundRect">
              <a:avLst>
                <a:gd name="adj" fmla="val 22222"/>
              </a:avLst>
            </a:prstGeom>
            <a:solidFill>
              <a:srgbClr val="7E2511"/>
            </a:solidFill>
            <a:ln>
              <a:noFill/>
            </a:ln>
          </p:spPr>
        </p:sp>
        <p:sp>
          <p:nvSpPr>
            <p:cNvPr id="21" name="TextBox 21"/>
            <p:cNvSpPr txBox="1"/>
            <p:nvPr/>
          </p:nvSpPr>
          <p:spPr>
            <a:xfrm>
              <a:off x="552755" y="2728912"/>
              <a:ext cx="132740"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V1</a:t>
              </a:r>
            </a:p>
          </p:txBody>
        </p:sp>
        <p:sp>
          <p:nvSpPr>
            <p:cNvPr id="22" name="TextBox 22"/>
            <p:cNvSpPr txBox="1"/>
            <p:nvPr/>
          </p:nvSpPr>
          <p:spPr>
            <a:xfrm>
              <a:off x="814388" y="2726293"/>
              <a:ext cx="356845"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战略级</a:t>
              </a:r>
            </a:p>
          </p:txBody>
        </p:sp>
        <p:sp>
          <p:nvSpPr>
            <p:cNvPr id="23" name="TextBox 23"/>
            <p:cNvSpPr txBox="1"/>
            <p:nvPr/>
          </p:nvSpPr>
          <p:spPr>
            <a:xfrm>
              <a:off x="1233488" y="2746534"/>
              <a:ext cx="833399"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贡献最高、战略合作</a:t>
              </a:r>
            </a:p>
          </p:txBody>
        </p:sp>
        <p:sp>
          <p:nvSpPr>
            <p:cNvPr id="24" name="Rectangle 24"/>
            <p:cNvSpPr/>
            <p:nvPr/>
          </p:nvSpPr>
          <p:spPr>
            <a:xfrm>
              <a:off x="495300" y="2933700"/>
              <a:ext cx="247650" cy="171450"/>
            </a:xfrm>
            <a:prstGeom prst="roundRect">
              <a:avLst>
                <a:gd name="adj" fmla="val 22222"/>
              </a:avLst>
            </a:prstGeom>
            <a:solidFill>
              <a:srgbClr val="A3381F"/>
            </a:solidFill>
            <a:ln>
              <a:noFill/>
            </a:ln>
          </p:spPr>
        </p:sp>
        <p:sp>
          <p:nvSpPr>
            <p:cNvPr id="25" name="TextBox 25"/>
            <p:cNvSpPr txBox="1"/>
            <p:nvPr/>
          </p:nvSpPr>
          <p:spPr>
            <a:xfrm>
              <a:off x="552755" y="2976562"/>
              <a:ext cx="132740"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V2</a:t>
              </a:r>
            </a:p>
          </p:txBody>
        </p:sp>
        <p:sp>
          <p:nvSpPr>
            <p:cNvPr id="26" name="TextBox 26"/>
            <p:cNvSpPr txBox="1"/>
            <p:nvPr/>
          </p:nvSpPr>
          <p:spPr>
            <a:xfrm>
              <a:off x="814388" y="2973943"/>
              <a:ext cx="356845"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核心级</a:t>
              </a:r>
            </a:p>
          </p:txBody>
        </p:sp>
        <p:sp>
          <p:nvSpPr>
            <p:cNvPr id="27" name="TextBox 27"/>
            <p:cNvSpPr txBox="1"/>
            <p:nvPr/>
          </p:nvSpPr>
          <p:spPr>
            <a:xfrm>
              <a:off x="1233488" y="2994184"/>
              <a:ext cx="741858"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贡献高、稳定增长</a:t>
              </a:r>
            </a:p>
          </p:txBody>
        </p:sp>
        <p:sp>
          <p:nvSpPr>
            <p:cNvPr id="28" name="Rectangle 28"/>
            <p:cNvSpPr/>
            <p:nvPr/>
          </p:nvSpPr>
          <p:spPr>
            <a:xfrm>
              <a:off x="495300" y="3181350"/>
              <a:ext cx="247650" cy="171450"/>
            </a:xfrm>
            <a:prstGeom prst="roundRect">
              <a:avLst>
                <a:gd name="adj" fmla="val 22222"/>
              </a:avLst>
            </a:prstGeom>
            <a:solidFill>
              <a:srgbClr val="C85E46"/>
            </a:solidFill>
            <a:ln>
              <a:noFill/>
            </a:ln>
          </p:spPr>
        </p:sp>
        <p:sp>
          <p:nvSpPr>
            <p:cNvPr id="29" name="TextBox 29"/>
            <p:cNvSpPr txBox="1"/>
            <p:nvPr/>
          </p:nvSpPr>
          <p:spPr>
            <a:xfrm>
              <a:off x="552755" y="3224212"/>
              <a:ext cx="132740"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V3</a:t>
              </a:r>
            </a:p>
          </p:txBody>
        </p:sp>
        <p:sp>
          <p:nvSpPr>
            <p:cNvPr id="30" name="TextBox 30"/>
            <p:cNvSpPr txBox="1"/>
            <p:nvPr/>
          </p:nvSpPr>
          <p:spPr>
            <a:xfrm>
              <a:off x="814388" y="3221593"/>
              <a:ext cx="356845"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成长级</a:t>
              </a:r>
            </a:p>
          </p:txBody>
        </p:sp>
        <p:sp>
          <p:nvSpPr>
            <p:cNvPr id="31" name="TextBox 31"/>
            <p:cNvSpPr txBox="1"/>
            <p:nvPr/>
          </p:nvSpPr>
          <p:spPr>
            <a:xfrm>
              <a:off x="1233488" y="3241834"/>
              <a:ext cx="741858"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贡献中、成长可期</a:t>
              </a:r>
            </a:p>
          </p:txBody>
        </p:sp>
        <p:sp>
          <p:nvSpPr>
            <p:cNvPr id="32" name="Rectangle 32"/>
            <p:cNvSpPr/>
            <p:nvPr/>
          </p:nvSpPr>
          <p:spPr>
            <a:xfrm>
              <a:off x="495300" y="3429000"/>
              <a:ext cx="247650" cy="171450"/>
            </a:xfrm>
            <a:prstGeom prst="roundRect">
              <a:avLst>
                <a:gd name="adj" fmla="val 22222"/>
              </a:avLst>
            </a:prstGeom>
            <a:solidFill>
              <a:srgbClr val="D28F80"/>
            </a:solidFill>
            <a:ln>
              <a:noFill/>
            </a:ln>
          </p:spPr>
        </p:sp>
        <p:sp>
          <p:nvSpPr>
            <p:cNvPr id="33" name="TextBox 33"/>
            <p:cNvSpPr txBox="1"/>
            <p:nvPr/>
          </p:nvSpPr>
          <p:spPr>
            <a:xfrm>
              <a:off x="552755" y="3471862"/>
              <a:ext cx="132740"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V4</a:t>
              </a:r>
            </a:p>
          </p:txBody>
        </p:sp>
        <p:sp>
          <p:nvSpPr>
            <p:cNvPr id="34" name="TextBox 34"/>
            <p:cNvSpPr txBox="1"/>
            <p:nvPr/>
          </p:nvSpPr>
          <p:spPr>
            <a:xfrm>
              <a:off x="814388" y="3469243"/>
              <a:ext cx="356845"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普通级</a:t>
              </a:r>
            </a:p>
          </p:txBody>
        </p:sp>
        <p:sp>
          <p:nvSpPr>
            <p:cNvPr id="35" name="TextBox 35"/>
            <p:cNvSpPr txBox="1"/>
            <p:nvPr/>
          </p:nvSpPr>
          <p:spPr>
            <a:xfrm>
              <a:off x="1233488" y="3489484"/>
              <a:ext cx="741858"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贡献低、基础维系</a:t>
              </a:r>
            </a:p>
          </p:txBody>
        </p:sp>
        <p:sp>
          <p:nvSpPr>
            <p:cNvPr id="36" name="Rectangle 36"/>
            <p:cNvSpPr/>
            <p:nvPr/>
          </p:nvSpPr>
          <p:spPr>
            <a:xfrm>
              <a:off x="457200" y="4762500"/>
              <a:ext cx="1866900" cy="457200"/>
            </a:xfrm>
            <a:prstGeom prst="roundRect">
              <a:avLst>
                <a:gd name="adj" fmla="val 16667"/>
              </a:avLst>
            </a:prstGeom>
            <a:solidFill>
              <a:srgbClr val="FBF4E7"/>
            </a:solidFill>
            <a:ln>
              <a:noFill/>
            </a:ln>
          </p:spPr>
        </p:sp>
        <p:sp>
          <p:nvSpPr>
            <p:cNvPr id="37" name="TextBox 37"/>
            <p:cNvSpPr txBox="1"/>
            <p:nvPr/>
          </p:nvSpPr>
          <p:spPr>
            <a:xfrm>
              <a:off x="528638" y="4848939"/>
              <a:ext cx="647624" cy="154781"/>
            </a:xfrm>
            <a:prstGeom prst="rect">
              <a:avLst/>
            </a:prstGeom>
            <a:noFill/>
            <a:ln>
              <a:noFill/>
            </a:ln>
          </p:spPr>
          <p:txBody>
            <a:bodyPr wrap="none" lIns="0" tIns="0" rIns="0" bIns="0" anchor="t" anchorCtr="0">
              <a:spAutoFit/>
            </a:bodyPr>
            <a:lstStyle/>
            <a:p>
              <a:pPr algn="l"/>
              <a:r>
                <a:rPr lang="zh-CN" sz="790" b="1" dirty="0">
                  <a:solidFill>
                    <a:srgbClr val="A24B3C"/>
                  </a:solidFill>
                  <a:latin typeface="+mn-lt"/>
                  <a:ea typeface="+mn-ea"/>
                  <a:cs typeface="+mn-cs"/>
                </a:rPr>
                <a:t>资源投入原则</a:t>
              </a:r>
            </a:p>
          </p:txBody>
        </p:sp>
        <p:sp>
          <p:nvSpPr>
            <p:cNvPr id="38" name="TextBox 38"/>
            <p:cNvSpPr txBox="1"/>
            <p:nvPr/>
          </p:nvSpPr>
          <p:spPr>
            <a:xfrm>
              <a:off x="528638" y="5028486"/>
              <a:ext cx="1347648"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价值越高、潜力越大，投入越多</a:t>
              </a:r>
            </a:p>
          </p:txBody>
        </p:sp>
      </p:grpSp>
      <p:grpSp>
        <p:nvGrpSpPr>
          <p:cNvPr id="68" name="col-fen-lei"/>
          <p:cNvGrpSpPr/>
          <p:nvPr/>
        </p:nvGrpSpPr>
        <p:grpSpPr>
          <a:xfrm>
            <a:off x="2524125" y="762000"/>
            <a:ext cx="2095500" cy="4572000"/>
            <a:chOff x="2524125" y="762000"/>
            <a:chExt cx="2095500" cy="4572000"/>
          </a:xfrm>
        </p:grpSpPr>
        <p:sp>
          <p:nvSpPr>
            <p:cNvPr id="40" name="Rectangle 40"/>
            <p:cNvSpPr/>
            <p:nvPr/>
          </p:nvSpPr>
          <p:spPr>
            <a:xfrm>
              <a:off x="2524125" y="762000"/>
              <a:ext cx="2095500" cy="4572000"/>
            </a:xfrm>
            <a:prstGeom prst="roundRect">
              <a:avLst>
                <a:gd name="adj" fmla="val 4545"/>
              </a:avLst>
            </a:prstGeom>
            <a:solidFill>
              <a:srgbClr val="FFFFFF"/>
            </a:solidFill>
            <a:ln w="9525">
              <a:solidFill>
                <a:srgbClr val="E6D9C0"/>
              </a:solidFill>
            </a:ln>
          </p:spPr>
        </p:sp>
        <p:sp>
          <p:nvSpPr>
            <p:cNvPr id="41" name="Rectangle 41"/>
            <p:cNvSpPr/>
            <p:nvPr/>
          </p:nvSpPr>
          <p:spPr>
            <a:xfrm>
              <a:off x="2524125" y="762000"/>
              <a:ext cx="2095500" cy="323850"/>
            </a:xfrm>
            <a:prstGeom prst="roundRect">
              <a:avLst>
                <a:gd name="adj" fmla="val 29412"/>
              </a:avLst>
            </a:prstGeom>
            <a:solidFill>
              <a:srgbClr val="A3381F"/>
            </a:solidFill>
            <a:ln>
              <a:noFill/>
            </a:ln>
          </p:spPr>
        </p:sp>
        <p:sp>
          <p:nvSpPr>
            <p:cNvPr id="42" name="Rectangle 42"/>
            <p:cNvSpPr/>
            <p:nvPr/>
          </p:nvSpPr>
          <p:spPr>
            <a:xfrm>
              <a:off x="2524125" y="952500"/>
              <a:ext cx="2095500" cy="133350"/>
            </a:xfrm>
            <a:prstGeom prst="rect">
              <a:avLst/>
            </a:prstGeom>
            <a:solidFill>
              <a:srgbClr val="A3381F"/>
            </a:solidFill>
            <a:ln>
              <a:noFill/>
            </a:ln>
          </p:spPr>
        </p:sp>
        <p:sp>
          <p:nvSpPr>
            <p:cNvPr id="43" name="TextBox 43"/>
            <p:cNvSpPr txBox="1"/>
            <p:nvPr/>
          </p:nvSpPr>
          <p:spPr>
            <a:xfrm>
              <a:off x="3391639" y="859631"/>
              <a:ext cx="36047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分 类</a:t>
              </a:r>
            </a:p>
          </p:txBody>
        </p:sp>
        <p:sp>
          <p:nvSpPr>
            <p:cNvPr id="44" name="TextBox 44"/>
            <p:cNvSpPr txBox="1"/>
            <p:nvPr/>
          </p:nvSpPr>
          <p:spPr>
            <a:xfrm>
              <a:off x="2934398" y="1194197"/>
              <a:ext cx="1274953" cy="183356"/>
            </a:xfrm>
            <a:prstGeom prst="rect">
              <a:avLst/>
            </a:prstGeom>
            <a:noFill/>
            <a:ln>
              <a:noFill/>
            </a:ln>
          </p:spPr>
          <p:txBody>
            <a:bodyPr wrap="none" lIns="0" tIns="0" rIns="0" bIns="0" anchor="t" anchorCtr="0">
              <a:spAutoFit/>
            </a:bodyPr>
            <a:lstStyle/>
            <a:p>
              <a:pPr algn="ctr"/>
              <a:r>
                <a:rPr lang="zh-CN" sz="940" b="1" dirty="0">
                  <a:solidFill>
                    <a:srgbClr val="A3381F"/>
                  </a:solidFill>
                  <a:latin typeface="+mn-lt"/>
                  <a:ea typeface="+mn-ea"/>
                  <a:cs typeface="+mn-cs"/>
                </a:rPr>
                <a:t>客户是谁、有什么需求</a:t>
              </a:r>
            </a:p>
          </p:txBody>
        </p:sp>
        <p:sp>
          <p:nvSpPr>
            <p:cNvPr id="45" name="Rectangle 45"/>
            <p:cNvSpPr/>
            <p:nvPr/>
          </p:nvSpPr>
          <p:spPr>
            <a:xfrm>
              <a:off x="2676525" y="1447800"/>
              <a:ext cx="38100" cy="133350"/>
            </a:xfrm>
            <a:prstGeom prst="rect">
              <a:avLst/>
            </a:prstGeom>
            <a:solidFill>
              <a:srgbClr val="C26D5E"/>
            </a:solidFill>
            <a:ln>
              <a:noFill/>
            </a:ln>
          </p:spPr>
        </p:sp>
        <p:sp>
          <p:nvSpPr>
            <p:cNvPr id="46" name="TextBox 46"/>
            <p:cNvSpPr txBox="1"/>
            <p:nvPr/>
          </p:nvSpPr>
          <p:spPr>
            <a:xfrm>
              <a:off x="2767012" y="146494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分类维度</a:t>
              </a:r>
            </a:p>
          </p:txBody>
        </p:sp>
        <p:sp>
          <p:nvSpPr>
            <p:cNvPr id="47" name="Ellipse 47"/>
            <p:cNvSpPr/>
            <p:nvPr/>
          </p:nvSpPr>
          <p:spPr>
            <a:xfrm>
              <a:off x="2714625" y="1714500"/>
              <a:ext cx="38100" cy="38100"/>
            </a:xfrm>
            <a:prstGeom prst="ellipse">
              <a:avLst/>
            </a:prstGeom>
            <a:solidFill>
              <a:srgbClr val="C26D5E"/>
            </a:solidFill>
            <a:ln>
              <a:noFill/>
            </a:ln>
          </p:spPr>
        </p:sp>
        <p:sp>
          <p:nvSpPr>
            <p:cNvPr id="48" name="TextBox 48"/>
            <p:cNvSpPr txBox="1"/>
            <p:nvPr/>
          </p:nvSpPr>
          <p:spPr>
            <a:xfrm>
              <a:off x="2805112" y="169473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客户个体：对公／个人</a:t>
              </a:r>
              <a:br/>
              <a:r>
                <a:rPr lang="zh-CN" sz="710" dirty="0">
                  <a:solidFill>
                    <a:srgbClr val="4A4A4A"/>
                  </a:solidFill>
                  <a:latin typeface="+mn-lt"/>
                  <a:ea typeface="+mn-ea"/>
                  <a:cs typeface="+mn-cs"/>
                </a:rPr>
                <a:t>高净值／普通</a:t>
              </a:r>
            </a:p>
          </p:txBody>
        </p:sp>
        <p:sp>
          <p:nvSpPr>
            <p:cNvPr id="49" name="Ellipse 49"/>
            <p:cNvSpPr/>
            <p:nvPr/>
          </p:nvSpPr>
          <p:spPr>
            <a:xfrm>
              <a:off x="2714625" y="2095500"/>
              <a:ext cx="38100" cy="38100"/>
            </a:xfrm>
            <a:prstGeom prst="ellipse">
              <a:avLst/>
            </a:prstGeom>
            <a:solidFill>
              <a:srgbClr val="C26D5E"/>
            </a:solidFill>
            <a:ln>
              <a:noFill/>
            </a:ln>
          </p:spPr>
        </p:sp>
        <p:sp>
          <p:nvSpPr>
            <p:cNvPr id="50" name="TextBox 50"/>
            <p:cNvSpPr txBox="1"/>
            <p:nvPr/>
          </p:nvSpPr>
          <p:spPr>
            <a:xfrm>
              <a:off x="2805112" y="2075736"/>
              <a:ext cx="1443228"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角色：管理者／使用者／决策者等</a:t>
              </a:r>
            </a:p>
          </p:txBody>
        </p:sp>
        <p:sp>
          <p:nvSpPr>
            <p:cNvPr id="51" name="Ellipse 51"/>
            <p:cNvSpPr/>
            <p:nvPr/>
          </p:nvSpPr>
          <p:spPr>
            <a:xfrm>
              <a:off x="2714625" y="2305050"/>
              <a:ext cx="38100" cy="38100"/>
            </a:xfrm>
            <a:prstGeom prst="ellipse">
              <a:avLst/>
            </a:prstGeom>
            <a:solidFill>
              <a:srgbClr val="C26D5E"/>
            </a:solidFill>
            <a:ln>
              <a:noFill/>
            </a:ln>
          </p:spPr>
        </p:sp>
        <p:sp>
          <p:nvSpPr>
            <p:cNvPr id="52" name="TextBox 52"/>
            <p:cNvSpPr txBox="1"/>
            <p:nvPr/>
          </p:nvSpPr>
          <p:spPr>
            <a:xfrm>
              <a:off x="2805112" y="2285286"/>
              <a:ext cx="115648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行业属性：行业／细分赛道</a:t>
              </a:r>
            </a:p>
          </p:txBody>
        </p:sp>
        <p:sp>
          <p:nvSpPr>
            <p:cNvPr id="53" name="Rectangle 53"/>
            <p:cNvSpPr/>
            <p:nvPr/>
          </p:nvSpPr>
          <p:spPr>
            <a:xfrm>
              <a:off x="2676525" y="2495550"/>
              <a:ext cx="38100" cy="133350"/>
            </a:xfrm>
            <a:prstGeom prst="rect">
              <a:avLst/>
            </a:prstGeom>
            <a:solidFill>
              <a:srgbClr val="C26D5E"/>
            </a:solidFill>
            <a:ln>
              <a:noFill/>
            </a:ln>
          </p:spPr>
        </p:sp>
        <p:sp>
          <p:nvSpPr>
            <p:cNvPr id="54" name="TextBox 54"/>
            <p:cNvSpPr txBox="1"/>
            <p:nvPr/>
          </p:nvSpPr>
          <p:spPr>
            <a:xfrm>
              <a:off x="2767012" y="251269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需求图谱</a:t>
              </a:r>
            </a:p>
          </p:txBody>
        </p:sp>
        <p:sp>
          <p:nvSpPr>
            <p:cNvPr id="55" name="Ellipse 55"/>
            <p:cNvSpPr/>
            <p:nvPr/>
          </p:nvSpPr>
          <p:spPr>
            <a:xfrm>
              <a:off x="2714625" y="2762250"/>
              <a:ext cx="38100" cy="38100"/>
            </a:xfrm>
            <a:prstGeom prst="ellipse">
              <a:avLst/>
            </a:prstGeom>
            <a:solidFill>
              <a:srgbClr val="C26D5E"/>
            </a:solidFill>
            <a:ln>
              <a:noFill/>
            </a:ln>
          </p:spPr>
        </p:sp>
        <p:sp>
          <p:nvSpPr>
            <p:cNvPr id="56" name="TextBox 56"/>
            <p:cNvSpPr txBox="1"/>
            <p:nvPr/>
          </p:nvSpPr>
          <p:spPr>
            <a:xfrm>
              <a:off x="2805112" y="2742486"/>
              <a:ext cx="58300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经营发展需求</a:t>
              </a:r>
            </a:p>
          </p:txBody>
        </p:sp>
        <p:sp>
          <p:nvSpPr>
            <p:cNvPr id="57" name="Ellipse 57"/>
            <p:cNvSpPr/>
            <p:nvPr/>
          </p:nvSpPr>
          <p:spPr>
            <a:xfrm>
              <a:off x="2714625" y="2943225"/>
              <a:ext cx="38100" cy="38100"/>
            </a:xfrm>
            <a:prstGeom prst="ellipse">
              <a:avLst/>
            </a:prstGeom>
            <a:solidFill>
              <a:srgbClr val="C26D5E"/>
            </a:solidFill>
            <a:ln>
              <a:noFill/>
            </a:ln>
          </p:spPr>
        </p:sp>
        <p:sp>
          <p:nvSpPr>
            <p:cNvPr id="58" name="TextBox 58"/>
            <p:cNvSpPr txBox="1"/>
            <p:nvPr/>
          </p:nvSpPr>
          <p:spPr>
            <a:xfrm>
              <a:off x="2805112" y="2923461"/>
              <a:ext cx="67858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融资与资金需求</a:t>
              </a:r>
            </a:p>
          </p:txBody>
        </p:sp>
        <p:sp>
          <p:nvSpPr>
            <p:cNvPr id="59" name="Ellipse 59"/>
            <p:cNvSpPr/>
            <p:nvPr/>
          </p:nvSpPr>
          <p:spPr>
            <a:xfrm>
              <a:off x="2714625" y="3124200"/>
              <a:ext cx="38100" cy="38100"/>
            </a:xfrm>
            <a:prstGeom prst="ellipse">
              <a:avLst/>
            </a:prstGeom>
            <a:solidFill>
              <a:srgbClr val="C26D5E"/>
            </a:solidFill>
            <a:ln>
              <a:noFill/>
            </a:ln>
          </p:spPr>
        </p:sp>
        <p:sp>
          <p:nvSpPr>
            <p:cNvPr id="60" name="TextBox 60"/>
            <p:cNvSpPr txBox="1"/>
            <p:nvPr/>
          </p:nvSpPr>
          <p:spPr>
            <a:xfrm>
              <a:off x="2805112" y="3104436"/>
              <a:ext cx="58300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投资理财需求</a:t>
              </a:r>
            </a:p>
          </p:txBody>
        </p:sp>
        <p:sp>
          <p:nvSpPr>
            <p:cNvPr id="61" name="Ellipse 61"/>
            <p:cNvSpPr/>
            <p:nvPr/>
          </p:nvSpPr>
          <p:spPr>
            <a:xfrm>
              <a:off x="2714625" y="3305175"/>
              <a:ext cx="38100" cy="38100"/>
            </a:xfrm>
            <a:prstGeom prst="ellipse">
              <a:avLst/>
            </a:prstGeom>
            <a:solidFill>
              <a:srgbClr val="C26D5E"/>
            </a:solidFill>
            <a:ln>
              <a:noFill/>
            </a:ln>
          </p:spPr>
        </p:sp>
        <p:sp>
          <p:nvSpPr>
            <p:cNvPr id="62" name="TextBox 62"/>
            <p:cNvSpPr txBox="1"/>
            <p:nvPr/>
          </p:nvSpPr>
          <p:spPr>
            <a:xfrm>
              <a:off x="2805112" y="3285411"/>
              <a:ext cx="67858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交易与结算需求</a:t>
              </a:r>
            </a:p>
          </p:txBody>
        </p:sp>
        <p:sp>
          <p:nvSpPr>
            <p:cNvPr id="63" name="Ellipse 63"/>
            <p:cNvSpPr/>
            <p:nvPr/>
          </p:nvSpPr>
          <p:spPr>
            <a:xfrm>
              <a:off x="2714625" y="3486150"/>
              <a:ext cx="38100" cy="38100"/>
            </a:xfrm>
            <a:prstGeom prst="ellipse">
              <a:avLst/>
            </a:prstGeom>
            <a:solidFill>
              <a:srgbClr val="C26D5E"/>
            </a:solidFill>
            <a:ln>
              <a:noFill/>
            </a:ln>
          </p:spPr>
        </p:sp>
        <p:sp>
          <p:nvSpPr>
            <p:cNvPr id="64" name="TextBox 64"/>
            <p:cNvSpPr txBox="1"/>
            <p:nvPr/>
          </p:nvSpPr>
          <p:spPr>
            <a:xfrm>
              <a:off x="2805112" y="3466386"/>
              <a:ext cx="58300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风险管理需求</a:t>
              </a:r>
            </a:p>
          </p:txBody>
        </p:sp>
        <p:sp>
          <p:nvSpPr>
            <p:cNvPr id="65" name="Rectangle 65"/>
            <p:cNvSpPr/>
            <p:nvPr/>
          </p:nvSpPr>
          <p:spPr>
            <a:xfrm>
              <a:off x="2676525" y="3733800"/>
              <a:ext cx="38100" cy="133350"/>
            </a:xfrm>
            <a:prstGeom prst="rect">
              <a:avLst/>
            </a:prstGeom>
            <a:solidFill>
              <a:srgbClr val="C26D5E"/>
            </a:solidFill>
            <a:ln>
              <a:noFill/>
            </a:ln>
          </p:spPr>
        </p:sp>
        <p:sp>
          <p:nvSpPr>
            <p:cNvPr id="66" name="TextBox 66"/>
            <p:cNvSpPr txBox="1"/>
            <p:nvPr/>
          </p:nvSpPr>
          <p:spPr>
            <a:xfrm>
              <a:off x="2767012" y="375094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分类目的</a:t>
              </a:r>
            </a:p>
          </p:txBody>
        </p:sp>
        <p:sp>
          <p:nvSpPr>
            <p:cNvPr id="67" name="TextBox 67"/>
            <p:cNvSpPr txBox="1"/>
            <p:nvPr/>
          </p:nvSpPr>
          <p:spPr>
            <a:xfrm>
              <a:off x="2767012" y="3961686"/>
              <a:ext cx="91122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A4A4A"/>
                  </a:solidFill>
                  <a:latin typeface="+mn-lt"/>
                  <a:ea typeface="+mn-ea"/>
                  <a:cs typeface="+mn-cs"/>
                </a:rPr>
                <a:t>定位客户身份与场景，</a:t>
              </a:r>
              <a:br/>
              <a:r>
                <a:rPr lang="zh-CN" sz="710" dirty="0">
                  <a:solidFill>
                    <a:srgbClr val="4A4A4A"/>
                  </a:solidFill>
                  <a:latin typeface="+mn-lt"/>
                  <a:ea typeface="+mn-ea"/>
                  <a:cs typeface="+mn-cs"/>
                </a:rPr>
                <a:t>识别核心需求与痛点</a:t>
              </a:r>
            </a:p>
          </p:txBody>
        </p:sp>
      </p:grpSp>
      <p:grpSp>
        <p:nvGrpSpPr>
          <p:cNvPr id="102" name="col-biao-qian"/>
          <p:cNvGrpSpPr/>
          <p:nvPr/>
        </p:nvGrpSpPr>
        <p:grpSpPr>
          <a:xfrm>
            <a:off x="4705350" y="762000"/>
            <a:ext cx="2762250" cy="4572000"/>
            <a:chOff x="4705350" y="762000"/>
            <a:chExt cx="2762250" cy="4572000"/>
          </a:xfrm>
        </p:grpSpPr>
        <p:sp>
          <p:nvSpPr>
            <p:cNvPr id="69" name="Rectangle 69"/>
            <p:cNvSpPr/>
            <p:nvPr/>
          </p:nvSpPr>
          <p:spPr>
            <a:xfrm>
              <a:off x="4705350" y="762000"/>
              <a:ext cx="2762250" cy="4572000"/>
            </a:xfrm>
            <a:prstGeom prst="roundRect">
              <a:avLst>
                <a:gd name="adj" fmla="val 3448"/>
              </a:avLst>
            </a:prstGeom>
            <a:solidFill>
              <a:srgbClr val="FFFFFF"/>
            </a:solidFill>
            <a:ln w="9525">
              <a:solidFill>
                <a:srgbClr val="E6D9C0"/>
              </a:solidFill>
            </a:ln>
          </p:spPr>
        </p:sp>
        <p:sp>
          <p:nvSpPr>
            <p:cNvPr id="70" name="Rectangle 70"/>
            <p:cNvSpPr/>
            <p:nvPr/>
          </p:nvSpPr>
          <p:spPr>
            <a:xfrm>
              <a:off x="4705350" y="762000"/>
              <a:ext cx="2762250" cy="323850"/>
            </a:xfrm>
            <a:prstGeom prst="roundRect">
              <a:avLst>
                <a:gd name="adj" fmla="val 29412"/>
              </a:avLst>
            </a:prstGeom>
            <a:solidFill>
              <a:srgbClr val="A3381F"/>
            </a:solidFill>
            <a:ln>
              <a:noFill/>
            </a:ln>
          </p:spPr>
        </p:sp>
        <p:sp>
          <p:nvSpPr>
            <p:cNvPr id="71" name="Rectangle 71"/>
            <p:cNvSpPr/>
            <p:nvPr/>
          </p:nvSpPr>
          <p:spPr>
            <a:xfrm>
              <a:off x="4705350" y="952500"/>
              <a:ext cx="2762250" cy="133350"/>
            </a:xfrm>
            <a:prstGeom prst="rect">
              <a:avLst/>
            </a:prstGeom>
            <a:solidFill>
              <a:srgbClr val="A3381F"/>
            </a:solidFill>
            <a:ln>
              <a:noFill/>
            </a:ln>
          </p:spPr>
        </p:sp>
        <p:sp>
          <p:nvSpPr>
            <p:cNvPr id="72" name="TextBox 72"/>
            <p:cNvSpPr txBox="1"/>
            <p:nvPr/>
          </p:nvSpPr>
          <p:spPr>
            <a:xfrm>
              <a:off x="5906239" y="859631"/>
              <a:ext cx="36047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标 签</a:t>
              </a:r>
            </a:p>
          </p:txBody>
        </p:sp>
        <p:sp>
          <p:nvSpPr>
            <p:cNvPr id="73" name="TextBox 73"/>
            <p:cNvSpPr txBox="1"/>
            <p:nvPr/>
          </p:nvSpPr>
          <p:spPr>
            <a:xfrm>
              <a:off x="5575541" y="1194197"/>
              <a:ext cx="1021867" cy="183356"/>
            </a:xfrm>
            <a:prstGeom prst="rect">
              <a:avLst/>
            </a:prstGeom>
            <a:noFill/>
            <a:ln>
              <a:noFill/>
            </a:ln>
          </p:spPr>
          <p:txBody>
            <a:bodyPr wrap="none" lIns="0" tIns="0" rIns="0" bIns="0" anchor="t" anchorCtr="0">
              <a:spAutoFit/>
            </a:bodyPr>
            <a:lstStyle/>
            <a:p>
              <a:pPr algn="ctr"/>
              <a:r>
                <a:rPr lang="zh-CN" sz="940" b="1" dirty="0">
                  <a:solidFill>
                    <a:srgbClr val="A3381F"/>
                  </a:solidFill>
                  <a:latin typeface="+mn-lt"/>
                  <a:ea typeface="+mn-ea"/>
                  <a:cs typeface="+mn-cs"/>
                </a:rPr>
                <a:t>通过哪些特征识别</a:t>
              </a:r>
            </a:p>
          </p:txBody>
        </p:sp>
        <p:sp>
          <p:nvSpPr>
            <p:cNvPr id="74" name="Rectangle 74"/>
            <p:cNvSpPr/>
            <p:nvPr/>
          </p:nvSpPr>
          <p:spPr>
            <a:xfrm>
              <a:off x="5562600" y="1371600"/>
              <a:ext cx="1047750" cy="171450"/>
            </a:xfrm>
            <a:prstGeom prst="roundRect">
              <a:avLst>
                <a:gd name="adj" fmla="val 50000"/>
              </a:avLst>
            </a:prstGeom>
            <a:solidFill>
              <a:srgbClr val="A3381F"/>
            </a:solidFill>
            <a:ln>
              <a:noFill/>
            </a:ln>
          </p:spPr>
        </p:sp>
        <p:sp>
          <p:nvSpPr>
            <p:cNvPr id="75" name="TextBox 75"/>
            <p:cNvSpPr txBox="1"/>
            <p:nvPr/>
          </p:nvSpPr>
          <p:spPr>
            <a:xfrm>
              <a:off x="5794972" y="1418511"/>
              <a:ext cx="58300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价值层级主轴</a:t>
              </a:r>
            </a:p>
          </p:txBody>
        </p:sp>
        <p:sp>
          <p:nvSpPr>
            <p:cNvPr id="76" name="TextBox 76"/>
            <p:cNvSpPr txBox="1"/>
            <p:nvPr/>
          </p:nvSpPr>
          <p:spPr>
            <a:xfrm>
              <a:off x="4938712" y="1599486"/>
              <a:ext cx="105105"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高</a:t>
              </a:r>
            </a:p>
          </p:txBody>
        </p:sp>
        <p:sp>
          <p:nvSpPr>
            <p:cNvPr id="77" name="Line 77"/>
            <p:cNvSpPr/>
            <p:nvPr/>
          </p:nvSpPr>
          <p:spPr>
            <a:xfrm>
              <a:off x="4981575" y="1752600"/>
              <a:ext cx="9525" cy="838200"/>
            </a:xfrm>
            <a:custGeom>
              <a:avLst/>
              <a:gdLst/>
              <a:ahLst/>
              <a:cxnLst/>
              <a:rect l="l" t="t" r="r" b="b"/>
              <a:pathLst>
                <a:path w="9525" h="838200">
                  <a:moveTo>
                    <a:pt x="0" y="0"/>
                  </a:moveTo>
                  <a:lnTo>
                    <a:pt x="0" y="838200"/>
                  </a:lnTo>
                </a:path>
              </a:pathLst>
            </a:custGeom>
            <a:noFill/>
            <a:ln w="9525">
              <a:solidFill>
                <a:srgbClr val="B9B9B9"/>
              </a:solidFill>
            </a:ln>
          </p:spPr>
        </p:sp>
        <p:sp>
          <p:nvSpPr>
            <p:cNvPr id="78" name="Polygon 78"/>
            <p:cNvSpPr/>
            <p:nvPr/>
          </p:nvSpPr>
          <p:spPr>
            <a:xfrm>
              <a:off x="4953000" y="2590800"/>
              <a:ext cx="57150" cy="76200"/>
            </a:xfrm>
            <a:custGeom>
              <a:avLst/>
              <a:gdLst/>
              <a:ahLst/>
              <a:cxnLst/>
              <a:rect l="l" t="t" r="r" b="b"/>
              <a:pathLst>
                <a:path w="57150" h="76200">
                  <a:moveTo>
                    <a:pt x="28575" y="76200"/>
                  </a:moveTo>
                  <a:lnTo>
                    <a:pt x="0" y="0"/>
                  </a:lnTo>
                  <a:lnTo>
                    <a:pt x="57150" y="0"/>
                  </a:lnTo>
                  <a:close/>
                </a:path>
              </a:pathLst>
            </a:custGeom>
            <a:solidFill>
              <a:srgbClr val="B9B9B9"/>
            </a:solidFill>
            <a:ln>
              <a:noFill/>
            </a:ln>
          </p:spPr>
        </p:sp>
        <p:sp>
          <p:nvSpPr>
            <p:cNvPr id="79" name="TextBox 79"/>
            <p:cNvSpPr txBox="1"/>
            <p:nvPr/>
          </p:nvSpPr>
          <p:spPr>
            <a:xfrm>
              <a:off x="4938712" y="2742486"/>
              <a:ext cx="105105"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低</a:t>
              </a:r>
            </a:p>
          </p:txBody>
        </p:sp>
        <p:sp>
          <p:nvSpPr>
            <p:cNvPr id="80" name="Polygon 80"/>
            <p:cNvSpPr/>
            <p:nvPr/>
          </p:nvSpPr>
          <p:spPr>
            <a:xfrm>
              <a:off x="5857875" y="1562100"/>
              <a:ext cx="457200" cy="266700"/>
            </a:xfrm>
            <a:custGeom>
              <a:avLst/>
              <a:gdLst/>
              <a:ahLst/>
              <a:cxnLst/>
              <a:rect l="l" t="t" r="r" b="b"/>
              <a:pathLst>
                <a:path w="457200" h="266700">
                  <a:moveTo>
                    <a:pt x="76200" y="0"/>
                  </a:moveTo>
                  <a:lnTo>
                    <a:pt x="381000" y="0"/>
                  </a:lnTo>
                  <a:lnTo>
                    <a:pt x="457200" y="266700"/>
                  </a:lnTo>
                  <a:lnTo>
                    <a:pt x="0" y="266700"/>
                  </a:lnTo>
                  <a:close/>
                </a:path>
              </a:pathLst>
            </a:custGeom>
            <a:solidFill>
              <a:srgbClr val="7E2511"/>
            </a:solidFill>
            <a:ln>
              <a:noFill/>
            </a:ln>
          </p:spPr>
        </p:sp>
        <p:sp>
          <p:nvSpPr>
            <p:cNvPr id="81" name="TextBox 81"/>
            <p:cNvSpPr txBox="1"/>
            <p:nvPr/>
          </p:nvSpPr>
          <p:spPr>
            <a:xfrm>
              <a:off x="5851855" y="1652588"/>
              <a:ext cx="4692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V1 战略级</a:t>
              </a:r>
            </a:p>
          </p:txBody>
        </p:sp>
        <p:sp>
          <p:nvSpPr>
            <p:cNvPr id="82" name="Polygon 82"/>
            <p:cNvSpPr/>
            <p:nvPr/>
          </p:nvSpPr>
          <p:spPr>
            <a:xfrm>
              <a:off x="5705475" y="1866900"/>
              <a:ext cx="762000" cy="266700"/>
            </a:xfrm>
            <a:custGeom>
              <a:avLst/>
              <a:gdLst/>
              <a:ahLst/>
              <a:cxnLst/>
              <a:rect l="l" t="t" r="r" b="b"/>
              <a:pathLst>
                <a:path w="762000" h="266700">
                  <a:moveTo>
                    <a:pt x="76200" y="0"/>
                  </a:moveTo>
                  <a:lnTo>
                    <a:pt x="685800" y="0"/>
                  </a:lnTo>
                  <a:lnTo>
                    <a:pt x="762000" y="266700"/>
                  </a:lnTo>
                  <a:lnTo>
                    <a:pt x="0" y="266700"/>
                  </a:lnTo>
                  <a:close/>
                </a:path>
              </a:pathLst>
            </a:custGeom>
            <a:solidFill>
              <a:srgbClr val="A3381F"/>
            </a:solidFill>
            <a:ln>
              <a:noFill/>
            </a:ln>
          </p:spPr>
        </p:sp>
        <p:sp>
          <p:nvSpPr>
            <p:cNvPr id="83" name="TextBox 83"/>
            <p:cNvSpPr txBox="1"/>
            <p:nvPr/>
          </p:nvSpPr>
          <p:spPr>
            <a:xfrm>
              <a:off x="5851855" y="1957388"/>
              <a:ext cx="4692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V2 核心级</a:t>
              </a:r>
            </a:p>
          </p:txBody>
        </p:sp>
        <p:sp>
          <p:nvSpPr>
            <p:cNvPr id="84" name="Polygon 84"/>
            <p:cNvSpPr/>
            <p:nvPr/>
          </p:nvSpPr>
          <p:spPr>
            <a:xfrm>
              <a:off x="5553075" y="2171700"/>
              <a:ext cx="1066800" cy="266700"/>
            </a:xfrm>
            <a:custGeom>
              <a:avLst/>
              <a:gdLst/>
              <a:ahLst/>
              <a:cxnLst/>
              <a:rect l="l" t="t" r="r" b="b"/>
              <a:pathLst>
                <a:path w="1066800" h="266700">
                  <a:moveTo>
                    <a:pt x="76200" y="0"/>
                  </a:moveTo>
                  <a:lnTo>
                    <a:pt x="990600" y="0"/>
                  </a:lnTo>
                  <a:lnTo>
                    <a:pt x="1066800" y="266700"/>
                  </a:lnTo>
                  <a:lnTo>
                    <a:pt x="0" y="266700"/>
                  </a:lnTo>
                  <a:close/>
                </a:path>
              </a:pathLst>
            </a:custGeom>
            <a:solidFill>
              <a:srgbClr val="C85E46"/>
            </a:solidFill>
            <a:ln>
              <a:noFill/>
            </a:ln>
          </p:spPr>
        </p:sp>
        <p:sp>
          <p:nvSpPr>
            <p:cNvPr id="85" name="TextBox 85"/>
            <p:cNvSpPr txBox="1"/>
            <p:nvPr/>
          </p:nvSpPr>
          <p:spPr>
            <a:xfrm>
              <a:off x="5851855" y="2262188"/>
              <a:ext cx="4692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V3 成长级</a:t>
              </a:r>
            </a:p>
          </p:txBody>
        </p:sp>
        <p:sp>
          <p:nvSpPr>
            <p:cNvPr id="86" name="Polygon 86"/>
            <p:cNvSpPr/>
            <p:nvPr/>
          </p:nvSpPr>
          <p:spPr>
            <a:xfrm>
              <a:off x="5400675" y="2476500"/>
              <a:ext cx="1371600" cy="266700"/>
            </a:xfrm>
            <a:custGeom>
              <a:avLst/>
              <a:gdLst/>
              <a:ahLst/>
              <a:cxnLst/>
              <a:rect l="l" t="t" r="r" b="b"/>
              <a:pathLst>
                <a:path w="1371600" h="266700">
                  <a:moveTo>
                    <a:pt x="76200" y="0"/>
                  </a:moveTo>
                  <a:lnTo>
                    <a:pt x="1295400" y="0"/>
                  </a:lnTo>
                  <a:lnTo>
                    <a:pt x="1371600" y="266700"/>
                  </a:lnTo>
                  <a:lnTo>
                    <a:pt x="0" y="266700"/>
                  </a:lnTo>
                  <a:close/>
                </a:path>
              </a:pathLst>
            </a:custGeom>
            <a:solidFill>
              <a:srgbClr val="D28F80"/>
            </a:solidFill>
            <a:ln>
              <a:noFill/>
            </a:ln>
          </p:spPr>
        </p:sp>
        <p:sp>
          <p:nvSpPr>
            <p:cNvPr id="87" name="TextBox 87"/>
            <p:cNvSpPr txBox="1"/>
            <p:nvPr/>
          </p:nvSpPr>
          <p:spPr>
            <a:xfrm>
              <a:off x="5851855" y="2566988"/>
              <a:ext cx="4692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V4 普通级</a:t>
              </a:r>
            </a:p>
          </p:txBody>
        </p:sp>
        <p:sp>
          <p:nvSpPr>
            <p:cNvPr id="88" name="Line 88"/>
            <p:cNvSpPr/>
            <p:nvPr/>
          </p:nvSpPr>
          <p:spPr>
            <a:xfrm>
              <a:off x="4914900" y="2933700"/>
              <a:ext cx="2343150" cy="9525"/>
            </a:xfrm>
            <a:custGeom>
              <a:avLst/>
              <a:gdLst/>
              <a:ahLst/>
              <a:cxnLst/>
              <a:rect l="l" t="t" r="r" b="b"/>
              <a:pathLst>
                <a:path w="2343150" h="9525">
                  <a:moveTo>
                    <a:pt x="0" y="0"/>
                  </a:moveTo>
                  <a:lnTo>
                    <a:pt x="2343150" y="0"/>
                  </a:lnTo>
                </a:path>
              </a:pathLst>
            </a:custGeom>
            <a:noFill/>
            <a:ln w="14288">
              <a:solidFill>
                <a:srgbClr val="C26D5E"/>
              </a:solidFill>
            </a:ln>
          </p:spPr>
        </p:sp>
        <p:sp>
          <p:nvSpPr>
            <p:cNvPr id="89" name="Polygon 89"/>
            <p:cNvSpPr/>
            <p:nvPr/>
          </p:nvSpPr>
          <p:spPr>
            <a:xfrm>
              <a:off x="4876800" y="2895600"/>
              <a:ext cx="76200" cy="76200"/>
            </a:xfrm>
            <a:custGeom>
              <a:avLst/>
              <a:gdLst/>
              <a:ahLst/>
              <a:cxnLst/>
              <a:rect l="l" t="t" r="r" b="b"/>
              <a:pathLst>
                <a:path w="76200" h="76200">
                  <a:moveTo>
                    <a:pt x="0" y="38100"/>
                  </a:moveTo>
                  <a:lnTo>
                    <a:pt x="76200" y="0"/>
                  </a:lnTo>
                  <a:lnTo>
                    <a:pt x="76200" y="76200"/>
                  </a:lnTo>
                  <a:close/>
                </a:path>
              </a:pathLst>
            </a:custGeom>
            <a:solidFill>
              <a:srgbClr val="C26D5E"/>
            </a:solidFill>
            <a:ln>
              <a:noFill/>
            </a:ln>
          </p:spPr>
        </p:sp>
        <p:sp>
          <p:nvSpPr>
            <p:cNvPr id="90" name="Polygon 90"/>
            <p:cNvSpPr/>
            <p:nvPr/>
          </p:nvSpPr>
          <p:spPr>
            <a:xfrm>
              <a:off x="7219950" y="2895600"/>
              <a:ext cx="76200" cy="76200"/>
            </a:xfrm>
            <a:custGeom>
              <a:avLst/>
              <a:gdLst/>
              <a:ahLst/>
              <a:cxnLst/>
              <a:rect l="l" t="t" r="r" b="b"/>
              <a:pathLst>
                <a:path w="76200" h="76200">
                  <a:moveTo>
                    <a:pt x="76200" y="38100"/>
                  </a:moveTo>
                  <a:lnTo>
                    <a:pt x="0" y="0"/>
                  </a:lnTo>
                  <a:lnTo>
                    <a:pt x="0" y="76200"/>
                  </a:lnTo>
                  <a:close/>
                </a:path>
              </a:pathLst>
            </a:custGeom>
            <a:solidFill>
              <a:srgbClr val="C26D5E"/>
            </a:solidFill>
            <a:ln>
              <a:noFill/>
            </a:ln>
          </p:spPr>
        </p:sp>
        <p:sp>
          <p:nvSpPr>
            <p:cNvPr id="91" name="TextBox 91"/>
            <p:cNvSpPr txBox="1"/>
            <p:nvPr/>
          </p:nvSpPr>
          <p:spPr>
            <a:xfrm>
              <a:off x="4963325" y="3051334"/>
              <a:ext cx="284150" cy="133350"/>
            </a:xfrm>
            <a:prstGeom prst="rect">
              <a:avLst/>
            </a:prstGeom>
            <a:noFill/>
            <a:ln>
              <a:noFill/>
            </a:ln>
          </p:spPr>
          <p:txBody>
            <a:bodyPr wrap="none" lIns="0" tIns="0" rIns="0" bIns="0" anchor="t" anchorCtr="0">
              <a:spAutoFit/>
            </a:bodyPr>
            <a:lstStyle/>
            <a:p>
              <a:pPr algn="ctr"/>
              <a:r>
                <a:rPr lang="zh-CN" sz="680" dirty="0">
                  <a:solidFill>
                    <a:srgbClr val="4A4A4A"/>
                  </a:solidFill>
                  <a:latin typeface="+mn-lt"/>
                  <a:ea typeface="+mn-ea"/>
                  <a:cs typeface="+mn-cs"/>
                </a:rPr>
                <a:t>认知期</a:t>
              </a:r>
            </a:p>
          </p:txBody>
        </p:sp>
        <p:sp>
          <p:nvSpPr>
            <p:cNvPr id="92" name="TextBox 92"/>
            <p:cNvSpPr txBox="1"/>
            <p:nvPr/>
          </p:nvSpPr>
          <p:spPr>
            <a:xfrm>
              <a:off x="5449100" y="3051334"/>
              <a:ext cx="284150" cy="133350"/>
            </a:xfrm>
            <a:prstGeom prst="rect">
              <a:avLst/>
            </a:prstGeom>
            <a:noFill/>
            <a:ln>
              <a:noFill/>
            </a:ln>
          </p:spPr>
          <p:txBody>
            <a:bodyPr wrap="none" lIns="0" tIns="0" rIns="0" bIns="0" anchor="t" anchorCtr="0">
              <a:spAutoFit/>
            </a:bodyPr>
            <a:lstStyle/>
            <a:p>
              <a:pPr algn="ctr"/>
              <a:r>
                <a:rPr lang="zh-CN" sz="680" dirty="0">
                  <a:solidFill>
                    <a:srgbClr val="4A4A4A"/>
                  </a:solidFill>
                  <a:latin typeface="+mn-lt"/>
                  <a:ea typeface="+mn-ea"/>
                  <a:cs typeface="+mn-cs"/>
                </a:rPr>
                <a:t>导入期</a:t>
              </a:r>
            </a:p>
          </p:txBody>
        </p:sp>
        <p:sp>
          <p:nvSpPr>
            <p:cNvPr id="93" name="TextBox 93"/>
            <p:cNvSpPr txBox="1"/>
            <p:nvPr/>
          </p:nvSpPr>
          <p:spPr>
            <a:xfrm>
              <a:off x="5934875" y="3051334"/>
              <a:ext cx="284150" cy="133350"/>
            </a:xfrm>
            <a:prstGeom prst="rect">
              <a:avLst/>
            </a:prstGeom>
            <a:noFill/>
            <a:ln>
              <a:noFill/>
            </a:ln>
          </p:spPr>
          <p:txBody>
            <a:bodyPr wrap="none" lIns="0" tIns="0" rIns="0" bIns="0" anchor="t" anchorCtr="0">
              <a:spAutoFit/>
            </a:bodyPr>
            <a:lstStyle/>
            <a:p>
              <a:pPr algn="ctr"/>
              <a:r>
                <a:rPr lang="zh-CN" sz="680" dirty="0">
                  <a:solidFill>
                    <a:srgbClr val="4A4A4A"/>
                  </a:solidFill>
                  <a:latin typeface="+mn-lt"/>
                  <a:ea typeface="+mn-ea"/>
                  <a:cs typeface="+mn-cs"/>
                </a:rPr>
                <a:t>成长期</a:t>
              </a:r>
            </a:p>
          </p:txBody>
        </p:sp>
        <p:sp>
          <p:nvSpPr>
            <p:cNvPr id="94" name="TextBox 94"/>
            <p:cNvSpPr txBox="1"/>
            <p:nvPr/>
          </p:nvSpPr>
          <p:spPr>
            <a:xfrm>
              <a:off x="6420650" y="3051334"/>
              <a:ext cx="284150" cy="133350"/>
            </a:xfrm>
            <a:prstGeom prst="rect">
              <a:avLst/>
            </a:prstGeom>
            <a:noFill/>
            <a:ln>
              <a:noFill/>
            </a:ln>
          </p:spPr>
          <p:txBody>
            <a:bodyPr wrap="none" lIns="0" tIns="0" rIns="0" bIns="0" anchor="t" anchorCtr="0">
              <a:spAutoFit/>
            </a:bodyPr>
            <a:lstStyle/>
            <a:p>
              <a:pPr algn="ctr"/>
              <a:r>
                <a:rPr lang="zh-CN" sz="680" dirty="0">
                  <a:solidFill>
                    <a:srgbClr val="4A4A4A"/>
                  </a:solidFill>
                  <a:latin typeface="+mn-lt"/>
                  <a:ea typeface="+mn-ea"/>
                  <a:cs typeface="+mn-cs"/>
                </a:rPr>
                <a:t>成熟期</a:t>
              </a:r>
            </a:p>
          </p:txBody>
        </p:sp>
        <p:sp>
          <p:nvSpPr>
            <p:cNvPr id="95" name="TextBox 95"/>
            <p:cNvSpPr txBox="1"/>
            <p:nvPr/>
          </p:nvSpPr>
          <p:spPr>
            <a:xfrm>
              <a:off x="6906425" y="3051334"/>
              <a:ext cx="284150" cy="133350"/>
            </a:xfrm>
            <a:prstGeom prst="rect">
              <a:avLst/>
            </a:prstGeom>
            <a:noFill/>
            <a:ln>
              <a:noFill/>
            </a:ln>
          </p:spPr>
          <p:txBody>
            <a:bodyPr wrap="none" lIns="0" tIns="0" rIns="0" bIns="0" anchor="t" anchorCtr="0">
              <a:spAutoFit/>
            </a:bodyPr>
            <a:lstStyle/>
            <a:p>
              <a:pPr algn="ctr"/>
              <a:r>
                <a:rPr lang="zh-CN" sz="680" dirty="0">
                  <a:solidFill>
                    <a:srgbClr val="4A4A4A"/>
                  </a:solidFill>
                  <a:latin typeface="+mn-lt"/>
                  <a:ea typeface="+mn-ea"/>
                  <a:cs typeface="+mn-cs"/>
                </a:rPr>
                <a:t>衰退期</a:t>
              </a:r>
            </a:p>
          </p:txBody>
        </p:sp>
        <p:sp>
          <p:nvSpPr>
            <p:cNvPr id="96" name="Rectangle 96"/>
            <p:cNvSpPr/>
            <p:nvPr/>
          </p:nvSpPr>
          <p:spPr>
            <a:xfrm>
              <a:off x="5562600" y="3219450"/>
              <a:ext cx="1047750" cy="171450"/>
            </a:xfrm>
            <a:prstGeom prst="roundRect">
              <a:avLst>
                <a:gd name="adj" fmla="val 50000"/>
              </a:avLst>
            </a:prstGeom>
            <a:solidFill>
              <a:srgbClr val="C26D5E"/>
            </a:solidFill>
            <a:ln>
              <a:noFill/>
            </a:ln>
          </p:spPr>
        </p:sp>
        <p:sp>
          <p:nvSpPr>
            <p:cNvPr id="97" name="TextBox 97"/>
            <p:cNvSpPr txBox="1"/>
            <p:nvPr/>
          </p:nvSpPr>
          <p:spPr>
            <a:xfrm>
              <a:off x="5699392" y="3266361"/>
              <a:ext cx="77416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生命周期需求横轴</a:t>
              </a:r>
            </a:p>
          </p:txBody>
        </p:sp>
        <p:sp>
          <p:nvSpPr>
            <p:cNvPr id="98" name="Rectangle 98"/>
            <p:cNvSpPr/>
            <p:nvPr/>
          </p:nvSpPr>
          <p:spPr>
            <a:xfrm>
              <a:off x="4895850" y="3467100"/>
              <a:ext cx="2381250" cy="495300"/>
            </a:xfrm>
            <a:prstGeom prst="roundRect">
              <a:avLst>
                <a:gd name="adj" fmla="val 15385"/>
              </a:avLst>
            </a:prstGeom>
            <a:solidFill>
              <a:srgbClr val="F3EADA"/>
            </a:solidFill>
            <a:ln w="9525">
              <a:solidFill>
                <a:srgbClr val="C26D5E"/>
              </a:solidFill>
            </a:ln>
          </p:spPr>
        </p:sp>
        <p:sp>
          <p:nvSpPr>
            <p:cNvPr id="99" name="TextBox 99"/>
            <p:cNvSpPr txBox="1"/>
            <p:nvPr/>
          </p:nvSpPr>
          <p:spPr>
            <a:xfrm>
              <a:off x="5734393" y="3554968"/>
              <a:ext cx="704164" cy="169069"/>
            </a:xfrm>
            <a:prstGeom prst="rect">
              <a:avLst/>
            </a:prstGeom>
            <a:noFill/>
            <a:ln>
              <a:noFill/>
            </a:ln>
          </p:spPr>
          <p:txBody>
            <a:bodyPr wrap="none" lIns="0" tIns="0" rIns="0" bIns="0" anchor="t" anchorCtr="0">
              <a:spAutoFit/>
            </a:bodyPr>
            <a:lstStyle/>
            <a:p>
              <a:pPr algn="ctr"/>
              <a:r>
                <a:rPr lang="zh-CN" sz="860" b="1" dirty="0">
                  <a:solidFill>
                    <a:srgbClr val="5E3A33"/>
                  </a:solidFill>
                  <a:latin typeface="+mn-lt"/>
                  <a:ea typeface="+mn-ea"/>
                  <a:cs typeface="+mn-cs"/>
                </a:rPr>
                <a:t>动态标签底座</a:t>
              </a:r>
            </a:p>
          </p:txBody>
        </p:sp>
        <p:sp>
          <p:nvSpPr>
            <p:cNvPr id="100" name="TextBox 100"/>
            <p:cNvSpPr txBox="1"/>
            <p:nvPr/>
          </p:nvSpPr>
          <p:spPr>
            <a:xfrm>
              <a:off x="4955751" y="3765709"/>
              <a:ext cx="2261448" cy="133350"/>
            </a:xfrm>
            <a:prstGeom prst="rect">
              <a:avLst/>
            </a:prstGeom>
            <a:noFill/>
            <a:ln>
              <a:noFill/>
            </a:ln>
          </p:spPr>
          <p:txBody>
            <a:bodyPr wrap="none" lIns="0" tIns="0" rIns="0" bIns="0" anchor="t" anchorCtr="0">
              <a:spAutoFit/>
            </a:bodyPr>
            <a:lstStyle/>
            <a:p>
              <a:pPr algn="ctr"/>
              <a:r>
                <a:rPr lang="zh-CN" sz="680" dirty="0">
                  <a:solidFill>
                    <a:srgbClr val="4A4A4A"/>
                  </a:solidFill>
                  <a:latin typeface="+mn-lt"/>
                  <a:ea typeface="+mn-ea"/>
                  <a:cs typeface="+mn-cs"/>
                </a:rPr>
                <a:t>基本属性 · 行为特征 · 价值贡献 · 风险偏好 · 关系网络</a:t>
              </a:r>
            </a:p>
          </p:txBody>
        </p:sp>
        <p:sp>
          <p:nvSpPr>
            <p:cNvPr id="101" name="TextBox 101"/>
            <p:cNvSpPr txBox="1"/>
            <p:nvPr/>
          </p:nvSpPr>
          <p:spPr>
            <a:xfrm>
              <a:off x="5540692" y="4095036"/>
              <a:ext cx="109156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6B6B6B"/>
                  </a:solidFill>
                  <a:latin typeface="+mn-lt"/>
                  <a:ea typeface="+mn-ea"/>
                  <a:cs typeface="+mn-cs"/>
                </a:rPr>
                <a:t>多维标签体系，持续更新</a:t>
              </a:r>
              <a:br/>
              <a:r>
                <a:rPr lang="zh-CN" sz="710" dirty="0">
                  <a:solidFill>
                    <a:srgbClr val="6B6B6B"/>
                  </a:solidFill>
                  <a:latin typeface="+mn-lt"/>
                  <a:ea typeface="+mn-ea"/>
                  <a:cs typeface="+mn-cs"/>
                </a:rPr>
                <a:t>支撑识别、洞察与策略匹配</a:t>
              </a:r>
            </a:p>
          </p:txBody>
        </p:sp>
      </p:grpSp>
      <p:grpSp>
        <p:nvGrpSpPr>
          <p:cNvPr id="131" name="col-wei-hu"/>
          <p:cNvGrpSpPr/>
          <p:nvPr/>
        </p:nvGrpSpPr>
        <p:grpSpPr>
          <a:xfrm>
            <a:off x="7553325" y="762000"/>
            <a:ext cx="2095500" cy="4572000"/>
            <a:chOff x="7553325" y="762000"/>
            <a:chExt cx="2095500" cy="4572000"/>
          </a:xfrm>
        </p:grpSpPr>
        <p:sp>
          <p:nvSpPr>
            <p:cNvPr id="103" name="Rectangle 103"/>
            <p:cNvSpPr/>
            <p:nvPr/>
          </p:nvSpPr>
          <p:spPr>
            <a:xfrm>
              <a:off x="7553325" y="762000"/>
              <a:ext cx="2095500" cy="4572000"/>
            </a:xfrm>
            <a:prstGeom prst="roundRect">
              <a:avLst>
                <a:gd name="adj" fmla="val 4545"/>
              </a:avLst>
            </a:prstGeom>
            <a:solidFill>
              <a:srgbClr val="FFFFFF"/>
            </a:solidFill>
            <a:ln w="9525">
              <a:solidFill>
                <a:srgbClr val="E6D9C0"/>
              </a:solidFill>
            </a:ln>
          </p:spPr>
        </p:sp>
        <p:sp>
          <p:nvSpPr>
            <p:cNvPr id="104" name="Rectangle 104"/>
            <p:cNvSpPr/>
            <p:nvPr/>
          </p:nvSpPr>
          <p:spPr>
            <a:xfrm>
              <a:off x="7553325" y="762000"/>
              <a:ext cx="2095500" cy="323850"/>
            </a:xfrm>
            <a:prstGeom prst="roundRect">
              <a:avLst>
                <a:gd name="adj" fmla="val 29412"/>
              </a:avLst>
            </a:prstGeom>
            <a:solidFill>
              <a:srgbClr val="A3381F"/>
            </a:solidFill>
            <a:ln>
              <a:noFill/>
            </a:ln>
          </p:spPr>
        </p:sp>
        <p:sp>
          <p:nvSpPr>
            <p:cNvPr id="105" name="Rectangle 105"/>
            <p:cNvSpPr/>
            <p:nvPr/>
          </p:nvSpPr>
          <p:spPr>
            <a:xfrm>
              <a:off x="7553325" y="952500"/>
              <a:ext cx="2095500" cy="133350"/>
            </a:xfrm>
            <a:prstGeom prst="rect">
              <a:avLst/>
            </a:prstGeom>
            <a:solidFill>
              <a:srgbClr val="A3381F"/>
            </a:solidFill>
            <a:ln>
              <a:noFill/>
            </a:ln>
          </p:spPr>
        </p:sp>
        <p:sp>
          <p:nvSpPr>
            <p:cNvPr id="106" name="TextBox 106"/>
            <p:cNvSpPr txBox="1"/>
            <p:nvPr/>
          </p:nvSpPr>
          <p:spPr>
            <a:xfrm>
              <a:off x="8420839" y="859631"/>
              <a:ext cx="36047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维 护</a:t>
              </a:r>
            </a:p>
          </p:txBody>
        </p:sp>
        <p:sp>
          <p:nvSpPr>
            <p:cNvPr id="107" name="TextBox 107"/>
            <p:cNvSpPr txBox="1"/>
            <p:nvPr/>
          </p:nvSpPr>
          <p:spPr>
            <a:xfrm>
              <a:off x="7773784" y="1194197"/>
              <a:ext cx="1654581" cy="183356"/>
            </a:xfrm>
            <a:prstGeom prst="rect">
              <a:avLst/>
            </a:prstGeom>
            <a:noFill/>
            <a:ln>
              <a:noFill/>
            </a:ln>
          </p:spPr>
          <p:txBody>
            <a:bodyPr wrap="none" lIns="0" tIns="0" rIns="0" bIns="0" anchor="t" anchorCtr="0">
              <a:spAutoFit/>
            </a:bodyPr>
            <a:lstStyle/>
            <a:p>
              <a:pPr algn="ctr"/>
              <a:r>
                <a:rPr lang="zh-CN" sz="940" b="1" dirty="0">
                  <a:solidFill>
                    <a:srgbClr val="A3381F"/>
                  </a:solidFill>
                  <a:latin typeface="+mn-lt"/>
                  <a:ea typeface="+mn-ea"/>
                  <a:cs typeface="+mn-cs"/>
                </a:rPr>
                <a:t>谁来服务、多久联系、做什么</a:t>
              </a:r>
            </a:p>
          </p:txBody>
        </p:sp>
        <p:sp>
          <p:nvSpPr>
            <p:cNvPr id="108" name="Rectangle 108"/>
            <p:cNvSpPr/>
            <p:nvPr/>
          </p:nvSpPr>
          <p:spPr>
            <a:xfrm>
              <a:off x="7705725" y="1447800"/>
              <a:ext cx="38100" cy="133350"/>
            </a:xfrm>
            <a:prstGeom prst="rect">
              <a:avLst/>
            </a:prstGeom>
            <a:solidFill>
              <a:srgbClr val="C26D5E"/>
            </a:solidFill>
            <a:ln>
              <a:noFill/>
            </a:ln>
          </p:spPr>
        </p:sp>
        <p:sp>
          <p:nvSpPr>
            <p:cNvPr id="109" name="TextBox 109"/>
            <p:cNvSpPr txBox="1"/>
            <p:nvPr/>
          </p:nvSpPr>
          <p:spPr>
            <a:xfrm>
              <a:off x="7796212" y="146494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服务机制</a:t>
              </a:r>
            </a:p>
          </p:txBody>
        </p:sp>
        <p:sp>
          <p:nvSpPr>
            <p:cNvPr id="110" name="Ellipse 110"/>
            <p:cNvSpPr/>
            <p:nvPr/>
          </p:nvSpPr>
          <p:spPr>
            <a:xfrm>
              <a:off x="7743825" y="1714500"/>
              <a:ext cx="38100" cy="38100"/>
            </a:xfrm>
            <a:prstGeom prst="ellipse">
              <a:avLst/>
            </a:prstGeom>
            <a:solidFill>
              <a:srgbClr val="C26D5E"/>
            </a:solidFill>
            <a:ln>
              <a:noFill/>
            </a:ln>
          </p:spPr>
        </p:sp>
        <p:sp>
          <p:nvSpPr>
            <p:cNvPr id="111" name="TextBox 111"/>
            <p:cNvSpPr txBox="1"/>
            <p:nvPr/>
          </p:nvSpPr>
          <p:spPr>
            <a:xfrm>
              <a:off x="7834312" y="1694736"/>
              <a:ext cx="92231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明确服务责任人/团队</a:t>
              </a:r>
            </a:p>
          </p:txBody>
        </p:sp>
        <p:sp>
          <p:nvSpPr>
            <p:cNvPr id="112" name="Ellipse 112"/>
            <p:cNvSpPr/>
            <p:nvPr/>
          </p:nvSpPr>
          <p:spPr>
            <a:xfrm>
              <a:off x="7743825" y="1924050"/>
              <a:ext cx="38100" cy="38100"/>
            </a:xfrm>
            <a:prstGeom prst="ellipse">
              <a:avLst/>
            </a:prstGeom>
            <a:solidFill>
              <a:srgbClr val="C26D5E"/>
            </a:solidFill>
            <a:ln>
              <a:noFill/>
            </a:ln>
          </p:spPr>
        </p:sp>
        <p:sp>
          <p:nvSpPr>
            <p:cNvPr id="113" name="TextBox 113"/>
            <p:cNvSpPr txBox="1"/>
            <p:nvPr/>
          </p:nvSpPr>
          <p:spPr>
            <a:xfrm>
              <a:off x="7834312" y="1904286"/>
              <a:ext cx="106090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设置触达频率与关键触点</a:t>
              </a:r>
            </a:p>
          </p:txBody>
        </p:sp>
        <p:sp>
          <p:nvSpPr>
            <p:cNvPr id="114" name="Ellipse 114"/>
            <p:cNvSpPr/>
            <p:nvPr/>
          </p:nvSpPr>
          <p:spPr>
            <a:xfrm>
              <a:off x="7743825" y="2133600"/>
              <a:ext cx="38100" cy="38100"/>
            </a:xfrm>
            <a:prstGeom prst="ellipse">
              <a:avLst/>
            </a:prstGeom>
            <a:solidFill>
              <a:srgbClr val="C26D5E"/>
            </a:solidFill>
            <a:ln>
              <a:noFill/>
            </a:ln>
          </p:spPr>
        </p:sp>
        <p:sp>
          <p:nvSpPr>
            <p:cNvPr id="115" name="TextBox 115"/>
            <p:cNvSpPr txBox="1"/>
            <p:nvPr/>
          </p:nvSpPr>
          <p:spPr>
            <a:xfrm>
              <a:off x="7834312" y="2113836"/>
              <a:ext cx="106090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制定服务动作与解决方案</a:t>
              </a:r>
            </a:p>
          </p:txBody>
        </p:sp>
        <p:sp>
          <p:nvSpPr>
            <p:cNvPr id="116" name="Ellipse 116"/>
            <p:cNvSpPr/>
            <p:nvPr/>
          </p:nvSpPr>
          <p:spPr>
            <a:xfrm>
              <a:off x="7743825" y="2343150"/>
              <a:ext cx="38100" cy="38100"/>
            </a:xfrm>
            <a:prstGeom prst="ellipse">
              <a:avLst/>
            </a:prstGeom>
            <a:solidFill>
              <a:srgbClr val="C26D5E"/>
            </a:solidFill>
            <a:ln>
              <a:noFill/>
            </a:ln>
          </p:spPr>
        </p:sp>
        <p:sp>
          <p:nvSpPr>
            <p:cNvPr id="117" name="TextBox 117"/>
            <p:cNvSpPr txBox="1"/>
            <p:nvPr/>
          </p:nvSpPr>
          <p:spPr>
            <a:xfrm>
              <a:off x="7834312" y="2323386"/>
              <a:ext cx="96532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记录与追踪，闭环管理</a:t>
              </a:r>
            </a:p>
          </p:txBody>
        </p:sp>
        <p:sp>
          <p:nvSpPr>
            <p:cNvPr id="118" name="Rectangle 118"/>
            <p:cNvSpPr/>
            <p:nvPr/>
          </p:nvSpPr>
          <p:spPr>
            <a:xfrm>
              <a:off x="7705725" y="2590800"/>
              <a:ext cx="38100" cy="133350"/>
            </a:xfrm>
            <a:prstGeom prst="rect">
              <a:avLst/>
            </a:prstGeom>
            <a:solidFill>
              <a:srgbClr val="C26D5E"/>
            </a:solidFill>
            <a:ln>
              <a:noFill/>
            </a:ln>
          </p:spPr>
        </p:sp>
        <p:sp>
          <p:nvSpPr>
            <p:cNvPr id="119" name="TextBox 119"/>
            <p:cNvSpPr txBox="1"/>
            <p:nvPr/>
          </p:nvSpPr>
          <p:spPr>
            <a:xfrm>
              <a:off x="7796212" y="260794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维护要素</a:t>
              </a:r>
            </a:p>
          </p:txBody>
        </p:sp>
        <p:sp>
          <p:nvSpPr>
            <p:cNvPr id="120" name="TextBox 120"/>
            <p:cNvSpPr txBox="1"/>
            <p:nvPr/>
          </p:nvSpPr>
          <p:spPr>
            <a:xfrm>
              <a:off x="7796212" y="2833688"/>
              <a:ext cx="413385" cy="147638"/>
            </a:xfrm>
            <a:prstGeom prst="rect">
              <a:avLst/>
            </a:prstGeom>
            <a:noFill/>
            <a:ln>
              <a:noFill/>
            </a:ln>
          </p:spPr>
          <p:txBody>
            <a:bodyPr wrap="none" lIns="0" tIns="0" rIns="0" bIns="0" anchor="t" anchorCtr="0">
              <a:spAutoFit/>
            </a:bodyPr>
            <a:lstStyle/>
            <a:p>
              <a:pPr algn="l"/>
              <a:r>
                <a:rPr lang="zh-CN" sz="750" b="1" dirty="0">
                  <a:solidFill>
                    <a:srgbClr val="A24B3C"/>
                  </a:solidFill>
                  <a:latin typeface="+mn-lt"/>
                  <a:ea typeface="+mn-ea"/>
                  <a:cs typeface="+mn-cs"/>
                </a:rPr>
                <a:t>服务主体</a:t>
              </a:r>
            </a:p>
          </p:txBody>
        </p:sp>
        <p:sp>
          <p:nvSpPr>
            <p:cNvPr id="121" name="TextBox 121"/>
            <p:cNvSpPr txBox="1"/>
            <p:nvPr/>
          </p:nvSpPr>
          <p:spPr>
            <a:xfrm>
              <a:off x="8329612" y="2841784"/>
              <a:ext cx="883747" cy="133350"/>
            </a:xfrm>
            <a:prstGeom prst="rect">
              <a:avLst/>
            </a:prstGeom>
            <a:noFill/>
            <a:ln>
              <a:noFill/>
            </a:ln>
          </p:spPr>
          <p:txBody>
            <a:bodyPr wrap="none" lIns="0" tIns="0" rIns="0" bIns="0" anchor="t" anchorCtr="0">
              <a:spAutoFit/>
            </a:bodyPr>
            <a:lstStyle/>
            <a:p>
              <a:pPr algn="l"/>
              <a:r>
                <a:rPr lang="zh-CN" sz="680" dirty="0">
                  <a:solidFill>
                    <a:srgbClr val="4A4A4A"/>
                  </a:solidFill>
                  <a:latin typeface="+mn-lt"/>
                  <a:ea typeface="+mn-ea"/>
                  <a:cs typeface="+mn-cs"/>
                </a:rPr>
                <a:t xml:space="preserve">客户经理/专业团队　</a:t>
              </a:r>
            </a:p>
          </p:txBody>
        </p:sp>
        <p:sp>
          <p:nvSpPr>
            <p:cNvPr id="122" name="TextBox 122"/>
            <p:cNvSpPr txBox="1"/>
            <p:nvPr/>
          </p:nvSpPr>
          <p:spPr>
            <a:xfrm>
              <a:off x="7796212" y="3033712"/>
              <a:ext cx="413385" cy="147638"/>
            </a:xfrm>
            <a:prstGeom prst="rect">
              <a:avLst/>
            </a:prstGeom>
            <a:noFill/>
            <a:ln>
              <a:noFill/>
            </a:ln>
          </p:spPr>
          <p:txBody>
            <a:bodyPr wrap="none" lIns="0" tIns="0" rIns="0" bIns="0" anchor="t" anchorCtr="0">
              <a:spAutoFit/>
            </a:bodyPr>
            <a:lstStyle/>
            <a:p>
              <a:pPr algn="l"/>
              <a:r>
                <a:rPr lang="zh-CN" sz="750" b="1" dirty="0">
                  <a:solidFill>
                    <a:srgbClr val="A24B3C"/>
                  </a:solidFill>
                  <a:latin typeface="+mn-lt"/>
                  <a:ea typeface="+mn-ea"/>
                  <a:cs typeface="+mn-cs"/>
                </a:rPr>
                <a:t>联系频率</a:t>
              </a:r>
            </a:p>
          </p:txBody>
        </p:sp>
        <p:sp>
          <p:nvSpPr>
            <p:cNvPr id="123" name="TextBox 123"/>
            <p:cNvSpPr txBox="1"/>
            <p:nvPr/>
          </p:nvSpPr>
          <p:spPr>
            <a:xfrm>
              <a:off x="8329612" y="3041809"/>
              <a:ext cx="760166" cy="133350"/>
            </a:xfrm>
            <a:prstGeom prst="rect">
              <a:avLst/>
            </a:prstGeom>
            <a:noFill/>
            <a:ln>
              <a:noFill/>
            </a:ln>
          </p:spPr>
          <p:txBody>
            <a:bodyPr wrap="none" lIns="0" tIns="0" rIns="0" bIns="0" anchor="t" anchorCtr="0">
              <a:spAutoFit/>
            </a:bodyPr>
            <a:lstStyle/>
            <a:p>
              <a:pPr algn="l"/>
              <a:r>
                <a:rPr lang="zh-CN" sz="680" dirty="0">
                  <a:solidFill>
                    <a:srgbClr val="4A4A4A"/>
                  </a:solidFill>
                  <a:latin typeface="+mn-lt"/>
                  <a:ea typeface="+mn-ea"/>
                  <a:cs typeface="+mn-cs"/>
                </a:rPr>
                <a:t xml:space="preserve">日/周/月/季/年　</a:t>
              </a:r>
            </a:p>
          </p:txBody>
        </p:sp>
        <p:sp>
          <p:nvSpPr>
            <p:cNvPr id="124" name="TextBox 124"/>
            <p:cNvSpPr txBox="1"/>
            <p:nvPr/>
          </p:nvSpPr>
          <p:spPr>
            <a:xfrm>
              <a:off x="7796212" y="3233738"/>
              <a:ext cx="413385" cy="147638"/>
            </a:xfrm>
            <a:prstGeom prst="rect">
              <a:avLst/>
            </a:prstGeom>
            <a:noFill/>
            <a:ln>
              <a:noFill/>
            </a:ln>
          </p:spPr>
          <p:txBody>
            <a:bodyPr wrap="none" lIns="0" tIns="0" rIns="0" bIns="0" anchor="t" anchorCtr="0">
              <a:spAutoFit/>
            </a:bodyPr>
            <a:lstStyle/>
            <a:p>
              <a:pPr algn="l"/>
              <a:r>
                <a:rPr lang="zh-CN" sz="750" b="1" dirty="0">
                  <a:solidFill>
                    <a:srgbClr val="A24B3C"/>
                  </a:solidFill>
                  <a:latin typeface="+mn-lt"/>
                  <a:ea typeface="+mn-ea"/>
                  <a:cs typeface="+mn-cs"/>
                </a:rPr>
                <a:t>服务动作</a:t>
              </a:r>
            </a:p>
          </p:txBody>
        </p:sp>
        <p:sp>
          <p:nvSpPr>
            <p:cNvPr id="125" name="TextBox 125"/>
            <p:cNvSpPr txBox="1"/>
            <p:nvPr/>
          </p:nvSpPr>
          <p:spPr>
            <a:xfrm>
              <a:off x="7796212" y="3394234"/>
              <a:ext cx="1217874" cy="133350"/>
            </a:xfrm>
            <a:prstGeom prst="rect">
              <a:avLst/>
            </a:prstGeom>
            <a:noFill/>
            <a:ln>
              <a:noFill/>
            </a:ln>
          </p:spPr>
          <p:txBody>
            <a:bodyPr wrap="none" lIns="0" tIns="0" rIns="0" bIns="0" anchor="t" anchorCtr="0">
              <a:spAutoFit/>
            </a:bodyPr>
            <a:lstStyle/>
            <a:p>
              <a:pPr algn="l"/>
              <a:r>
                <a:rPr lang="zh-CN" sz="680" dirty="0">
                  <a:solidFill>
                    <a:srgbClr val="4A4A4A"/>
                  </a:solidFill>
                  <a:latin typeface="+mn-lt"/>
                  <a:ea typeface="+mn-ea"/>
                  <a:cs typeface="+mn-cs"/>
                </a:rPr>
                <a:t xml:space="preserve">拜访/沟通/方案/活动/培训　</a:t>
              </a:r>
            </a:p>
          </p:txBody>
        </p:sp>
        <p:sp>
          <p:nvSpPr>
            <p:cNvPr id="126" name="TextBox 126"/>
            <p:cNvSpPr txBox="1"/>
            <p:nvPr/>
          </p:nvSpPr>
          <p:spPr>
            <a:xfrm>
              <a:off x="7796212" y="3586162"/>
              <a:ext cx="413385" cy="147638"/>
            </a:xfrm>
            <a:prstGeom prst="rect">
              <a:avLst/>
            </a:prstGeom>
            <a:noFill/>
            <a:ln>
              <a:noFill/>
            </a:ln>
          </p:spPr>
          <p:txBody>
            <a:bodyPr wrap="none" lIns="0" tIns="0" rIns="0" bIns="0" anchor="t" anchorCtr="0">
              <a:spAutoFit/>
            </a:bodyPr>
            <a:lstStyle/>
            <a:p>
              <a:pPr algn="l"/>
              <a:r>
                <a:rPr lang="zh-CN" sz="750" b="1" dirty="0">
                  <a:solidFill>
                    <a:srgbClr val="A24B3C"/>
                  </a:solidFill>
                  <a:latin typeface="+mn-lt"/>
                  <a:ea typeface="+mn-ea"/>
                  <a:cs typeface="+mn-cs"/>
                </a:rPr>
                <a:t>管理工具</a:t>
              </a:r>
            </a:p>
          </p:txBody>
        </p:sp>
        <p:sp>
          <p:nvSpPr>
            <p:cNvPr id="127" name="TextBox 127"/>
            <p:cNvSpPr txBox="1"/>
            <p:nvPr/>
          </p:nvSpPr>
          <p:spPr>
            <a:xfrm>
              <a:off x="8329612" y="3594259"/>
              <a:ext cx="790910" cy="133350"/>
            </a:xfrm>
            <a:prstGeom prst="rect">
              <a:avLst/>
            </a:prstGeom>
            <a:noFill/>
            <a:ln>
              <a:noFill/>
            </a:ln>
          </p:spPr>
          <p:txBody>
            <a:bodyPr wrap="none" lIns="0" tIns="0" rIns="0" bIns="0" anchor="t" anchorCtr="0">
              <a:spAutoFit/>
            </a:bodyPr>
            <a:lstStyle/>
            <a:p>
              <a:pPr algn="l"/>
              <a:r>
                <a:rPr lang="zh-CN" sz="680" dirty="0">
                  <a:solidFill>
                    <a:srgbClr val="4A4A4A"/>
                  </a:solidFill>
                  <a:latin typeface="+mn-lt"/>
                  <a:ea typeface="+mn-ea"/>
                  <a:cs typeface="+mn-cs"/>
                </a:rPr>
                <a:t xml:space="preserve">CRM/工作台账等　</a:t>
              </a:r>
            </a:p>
          </p:txBody>
        </p:sp>
        <p:sp>
          <p:nvSpPr>
            <p:cNvPr id="128" name="Rectangle 128"/>
            <p:cNvSpPr/>
            <p:nvPr/>
          </p:nvSpPr>
          <p:spPr>
            <a:xfrm>
              <a:off x="7705725" y="3857625"/>
              <a:ext cx="38100" cy="133350"/>
            </a:xfrm>
            <a:prstGeom prst="rect">
              <a:avLst/>
            </a:prstGeom>
            <a:solidFill>
              <a:srgbClr val="C26D5E"/>
            </a:solidFill>
            <a:ln>
              <a:noFill/>
            </a:ln>
          </p:spPr>
        </p:sp>
        <p:sp>
          <p:nvSpPr>
            <p:cNvPr id="129" name="TextBox 129"/>
            <p:cNvSpPr txBox="1"/>
            <p:nvPr/>
          </p:nvSpPr>
          <p:spPr>
            <a:xfrm>
              <a:off x="7796212" y="3874770"/>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维护目标</a:t>
              </a:r>
            </a:p>
          </p:txBody>
        </p:sp>
        <p:sp>
          <p:nvSpPr>
            <p:cNvPr id="130" name="TextBox 130"/>
            <p:cNvSpPr txBox="1"/>
            <p:nvPr/>
          </p:nvSpPr>
          <p:spPr>
            <a:xfrm>
              <a:off x="7796212" y="4095036"/>
              <a:ext cx="1001395" cy="388144"/>
            </a:xfrm>
            <a:prstGeom prst="rect">
              <a:avLst/>
            </a:prstGeom>
            <a:noFill/>
            <a:ln>
              <a:noFill/>
            </a:ln>
          </p:spPr>
          <p:txBody>
            <a:bodyPr wrap="none" lIns="0" tIns="0" rIns="0" bIns="0" anchor="t" anchorCtr="0">
              <a:spAutoFit/>
            </a:bodyPr>
            <a:lstStyle/>
            <a:p>
              <a:pPr algn="l">
                <a:lnSpc>
                  <a:spcPts val="975"/>
                </a:lnSpc>
              </a:pPr>
              <a:r>
                <a:rPr lang="zh-CN" sz="710" dirty="0">
                  <a:solidFill>
                    <a:srgbClr val="4A4A4A"/>
                  </a:solidFill>
                  <a:latin typeface="+mn-lt"/>
                  <a:ea typeface="+mn-ea"/>
                  <a:cs typeface="+mn-cs"/>
                </a:rPr>
                <a:t>建立长期信任关系，提升</a:t>
              </a:r>
              <a:br/>
              <a:r>
                <a:rPr lang="zh-CN" sz="710" dirty="0">
                  <a:solidFill>
                    <a:srgbClr val="4A4A4A"/>
                  </a:solidFill>
                  <a:latin typeface="+mn-lt"/>
                  <a:ea typeface="+mn-ea"/>
                  <a:cs typeface="+mn-cs"/>
                </a:rPr>
                <a:t>满意度与忠诚度，促进业</a:t>
              </a:r>
              <a:br/>
              <a:r>
                <a:rPr lang="zh-CN" sz="710" dirty="0">
                  <a:solidFill>
                    <a:srgbClr val="4A4A4A"/>
                  </a:solidFill>
                  <a:latin typeface="+mn-lt"/>
                  <a:ea typeface="+mn-ea"/>
                  <a:cs typeface="+mn-cs"/>
                </a:rPr>
                <a:t>务持续增长</a:t>
              </a:r>
            </a:p>
          </p:txBody>
        </p:sp>
      </p:grpSp>
      <p:grpSp>
        <p:nvGrpSpPr>
          <p:cNvPr id="162" name="col-quan-yi"/>
          <p:cNvGrpSpPr/>
          <p:nvPr/>
        </p:nvGrpSpPr>
        <p:grpSpPr>
          <a:xfrm>
            <a:off x="9734550" y="762000"/>
            <a:ext cx="2095500" cy="4572000"/>
            <a:chOff x="9734550" y="762000"/>
            <a:chExt cx="2095500" cy="4572000"/>
          </a:xfrm>
        </p:grpSpPr>
        <p:sp>
          <p:nvSpPr>
            <p:cNvPr id="132" name="Rectangle 132"/>
            <p:cNvSpPr/>
            <p:nvPr/>
          </p:nvSpPr>
          <p:spPr>
            <a:xfrm>
              <a:off x="9734550" y="762000"/>
              <a:ext cx="2095500" cy="4572000"/>
            </a:xfrm>
            <a:prstGeom prst="roundRect">
              <a:avLst>
                <a:gd name="adj" fmla="val 4545"/>
              </a:avLst>
            </a:prstGeom>
            <a:solidFill>
              <a:srgbClr val="FFFFFF"/>
            </a:solidFill>
            <a:ln w="9525">
              <a:solidFill>
                <a:srgbClr val="E6D9C0"/>
              </a:solidFill>
            </a:ln>
          </p:spPr>
        </p:sp>
        <p:sp>
          <p:nvSpPr>
            <p:cNvPr id="133" name="Rectangle 133"/>
            <p:cNvSpPr/>
            <p:nvPr/>
          </p:nvSpPr>
          <p:spPr>
            <a:xfrm>
              <a:off x="9734550" y="762000"/>
              <a:ext cx="2095500" cy="323850"/>
            </a:xfrm>
            <a:prstGeom prst="roundRect">
              <a:avLst>
                <a:gd name="adj" fmla="val 29412"/>
              </a:avLst>
            </a:prstGeom>
            <a:solidFill>
              <a:srgbClr val="A3381F"/>
            </a:solidFill>
            <a:ln>
              <a:noFill/>
            </a:ln>
          </p:spPr>
        </p:sp>
        <p:sp>
          <p:nvSpPr>
            <p:cNvPr id="134" name="Rectangle 134"/>
            <p:cNvSpPr/>
            <p:nvPr/>
          </p:nvSpPr>
          <p:spPr>
            <a:xfrm>
              <a:off x="9734550" y="952500"/>
              <a:ext cx="2095500" cy="133350"/>
            </a:xfrm>
            <a:prstGeom prst="rect">
              <a:avLst/>
            </a:prstGeom>
            <a:solidFill>
              <a:srgbClr val="A3381F"/>
            </a:solidFill>
            <a:ln>
              <a:noFill/>
            </a:ln>
          </p:spPr>
        </p:sp>
        <p:sp>
          <p:nvSpPr>
            <p:cNvPr id="135" name="TextBox 135"/>
            <p:cNvSpPr txBox="1"/>
            <p:nvPr/>
          </p:nvSpPr>
          <p:spPr>
            <a:xfrm>
              <a:off x="10602064" y="859631"/>
              <a:ext cx="36047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权 益</a:t>
              </a:r>
            </a:p>
          </p:txBody>
        </p:sp>
        <p:sp>
          <p:nvSpPr>
            <p:cNvPr id="136" name="TextBox 136"/>
            <p:cNvSpPr txBox="1"/>
            <p:nvPr/>
          </p:nvSpPr>
          <p:spPr>
            <a:xfrm>
              <a:off x="10208095" y="1194197"/>
              <a:ext cx="1148410" cy="183356"/>
            </a:xfrm>
            <a:prstGeom prst="rect">
              <a:avLst/>
            </a:prstGeom>
            <a:noFill/>
            <a:ln>
              <a:noFill/>
            </a:ln>
          </p:spPr>
          <p:txBody>
            <a:bodyPr wrap="none" lIns="0" tIns="0" rIns="0" bIns="0" anchor="t" anchorCtr="0">
              <a:spAutoFit/>
            </a:bodyPr>
            <a:lstStyle/>
            <a:p>
              <a:pPr algn="ctr"/>
              <a:r>
                <a:rPr lang="zh-CN" sz="940" b="1" dirty="0">
                  <a:solidFill>
                    <a:srgbClr val="A3381F"/>
                  </a:solidFill>
                  <a:latin typeface="+mn-lt"/>
                  <a:ea typeface="+mn-ea"/>
                  <a:cs typeface="+mn-cs"/>
                </a:rPr>
                <a:t>以何种服务促进成长</a:t>
              </a:r>
            </a:p>
          </p:txBody>
        </p:sp>
        <p:sp>
          <p:nvSpPr>
            <p:cNvPr id="137" name="Rectangle 137"/>
            <p:cNvSpPr/>
            <p:nvPr/>
          </p:nvSpPr>
          <p:spPr>
            <a:xfrm>
              <a:off x="9886950" y="1447800"/>
              <a:ext cx="38100" cy="133350"/>
            </a:xfrm>
            <a:prstGeom prst="rect">
              <a:avLst/>
            </a:prstGeom>
            <a:solidFill>
              <a:srgbClr val="C26D5E"/>
            </a:solidFill>
            <a:ln>
              <a:noFill/>
            </a:ln>
          </p:spPr>
        </p:sp>
        <p:sp>
          <p:nvSpPr>
            <p:cNvPr id="138" name="TextBox 138"/>
            <p:cNvSpPr txBox="1"/>
            <p:nvPr/>
          </p:nvSpPr>
          <p:spPr>
            <a:xfrm>
              <a:off x="9977438" y="146494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权益体系</a:t>
              </a:r>
            </a:p>
          </p:txBody>
        </p:sp>
        <p:sp>
          <p:nvSpPr>
            <p:cNvPr id="139" name="Ellipse 139"/>
            <p:cNvSpPr/>
            <p:nvPr/>
          </p:nvSpPr>
          <p:spPr>
            <a:xfrm>
              <a:off x="9925050" y="1714500"/>
              <a:ext cx="38100" cy="38100"/>
            </a:xfrm>
            <a:prstGeom prst="ellipse">
              <a:avLst/>
            </a:prstGeom>
            <a:solidFill>
              <a:srgbClr val="C26D5E"/>
            </a:solidFill>
            <a:ln>
              <a:noFill/>
            </a:ln>
          </p:spPr>
        </p:sp>
        <p:sp>
          <p:nvSpPr>
            <p:cNvPr id="140" name="TextBox 140"/>
            <p:cNvSpPr txBox="1"/>
            <p:nvPr/>
          </p:nvSpPr>
          <p:spPr>
            <a:xfrm>
              <a:off x="10015538" y="1694736"/>
              <a:ext cx="91122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4A4A4A"/>
                  </a:solidFill>
                  <a:latin typeface="+mn-lt"/>
                  <a:ea typeface="+mn-ea"/>
                  <a:cs typeface="+mn-cs"/>
                </a:rPr>
                <a:t>围绕客户分层与分类，</a:t>
              </a:r>
              <a:br/>
              <a:r>
                <a:rPr lang="zh-CN" sz="710" dirty="0">
                  <a:solidFill>
                    <a:srgbClr val="4A4A4A"/>
                  </a:solidFill>
                  <a:latin typeface="+mn-lt"/>
                  <a:ea typeface="+mn-ea"/>
                  <a:cs typeface="+mn-cs"/>
                </a:rPr>
                <a:t>匹配差异化权益</a:t>
              </a:r>
            </a:p>
          </p:txBody>
        </p:sp>
        <p:sp>
          <p:nvSpPr>
            <p:cNvPr id="141" name="Ellipse 141"/>
            <p:cNvSpPr/>
            <p:nvPr/>
          </p:nvSpPr>
          <p:spPr>
            <a:xfrm>
              <a:off x="9925050" y="2038350"/>
              <a:ext cx="38100" cy="38100"/>
            </a:xfrm>
            <a:prstGeom prst="ellipse">
              <a:avLst/>
            </a:prstGeom>
            <a:solidFill>
              <a:srgbClr val="C26D5E"/>
            </a:solidFill>
            <a:ln>
              <a:noFill/>
            </a:ln>
          </p:spPr>
        </p:sp>
        <p:sp>
          <p:nvSpPr>
            <p:cNvPr id="142" name="TextBox 142"/>
            <p:cNvSpPr txBox="1"/>
            <p:nvPr/>
          </p:nvSpPr>
          <p:spPr>
            <a:xfrm>
              <a:off x="10015538" y="2018586"/>
              <a:ext cx="115648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金融权益＋非金融服务结合</a:t>
              </a:r>
            </a:p>
          </p:txBody>
        </p:sp>
        <p:sp>
          <p:nvSpPr>
            <p:cNvPr id="143" name="Ellipse 143"/>
            <p:cNvSpPr/>
            <p:nvPr/>
          </p:nvSpPr>
          <p:spPr>
            <a:xfrm>
              <a:off x="9925050" y="2247900"/>
              <a:ext cx="38100" cy="38100"/>
            </a:xfrm>
            <a:prstGeom prst="ellipse">
              <a:avLst/>
            </a:prstGeom>
            <a:solidFill>
              <a:srgbClr val="C26D5E"/>
            </a:solidFill>
            <a:ln>
              <a:noFill/>
            </a:ln>
          </p:spPr>
        </p:sp>
        <p:sp>
          <p:nvSpPr>
            <p:cNvPr id="144" name="TextBox 144"/>
            <p:cNvSpPr txBox="1"/>
            <p:nvPr/>
          </p:nvSpPr>
          <p:spPr>
            <a:xfrm>
              <a:off x="10015538" y="2228136"/>
              <a:ext cx="115648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动态调整，激励成长与贡献</a:t>
              </a:r>
            </a:p>
          </p:txBody>
        </p:sp>
        <p:sp>
          <p:nvSpPr>
            <p:cNvPr id="145" name="Rectangle 145"/>
            <p:cNvSpPr/>
            <p:nvPr/>
          </p:nvSpPr>
          <p:spPr>
            <a:xfrm>
              <a:off x="9886950" y="2495550"/>
              <a:ext cx="38100" cy="133350"/>
            </a:xfrm>
            <a:prstGeom prst="rect">
              <a:avLst/>
            </a:prstGeom>
            <a:solidFill>
              <a:srgbClr val="C26D5E"/>
            </a:solidFill>
            <a:ln>
              <a:noFill/>
            </a:ln>
          </p:spPr>
        </p:sp>
        <p:sp>
          <p:nvSpPr>
            <p:cNvPr id="146" name="TextBox 146"/>
            <p:cNvSpPr txBox="1"/>
            <p:nvPr/>
          </p:nvSpPr>
          <p:spPr>
            <a:xfrm>
              <a:off x="9977438" y="251269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权益示例</a:t>
              </a:r>
            </a:p>
          </p:txBody>
        </p:sp>
        <p:sp>
          <p:nvSpPr>
            <p:cNvPr id="147" name="Ellipse 147"/>
            <p:cNvSpPr/>
            <p:nvPr/>
          </p:nvSpPr>
          <p:spPr>
            <a:xfrm>
              <a:off x="9925050" y="2762250"/>
              <a:ext cx="38100" cy="38100"/>
            </a:xfrm>
            <a:prstGeom prst="ellipse">
              <a:avLst/>
            </a:prstGeom>
            <a:solidFill>
              <a:srgbClr val="C26D5E"/>
            </a:solidFill>
            <a:ln>
              <a:noFill/>
            </a:ln>
          </p:spPr>
        </p:sp>
        <p:sp>
          <p:nvSpPr>
            <p:cNvPr id="148" name="TextBox 148"/>
            <p:cNvSpPr txBox="1"/>
            <p:nvPr/>
          </p:nvSpPr>
          <p:spPr>
            <a:xfrm>
              <a:off x="10015538" y="2742486"/>
              <a:ext cx="86974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专属产品与利率优惠</a:t>
              </a:r>
            </a:p>
          </p:txBody>
        </p:sp>
        <p:sp>
          <p:nvSpPr>
            <p:cNvPr id="149" name="Ellipse 149"/>
            <p:cNvSpPr/>
            <p:nvPr/>
          </p:nvSpPr>
          <p:spPr>
            <a:xfrm>
              <a:off x="9925050" y="2971800"/>
              <a:ext cx="38100" cy="38100"/>
            </a:xfrm>
            <a:prstGeom prst="ellipse">
              <a:avLst/>
            </a:prstGeom>
            <a:solidFill>
              <a:srgbClr val="C26D5E"/>
            </a:solidFill>
            <a:ln>
              <a:noFill/>
            </a:ln>
          </p:spPr>
        </p:sp>
        <p:sp>
          <p:nvSpPr>
            <p:cNvPr id="150" name="TextBox 150"/>
            <p:cNvSpPr txBox="1"/>
            <p:nvPr/>
          </p:nvSpPr>
          <p:spPr>
            <a:xfrm>
              <a:off x="10015538" y="2952036"/>
              <a:ext cx="86974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优先审批与绿色通道</a:t>
              </a:r>
            </a:p>
          </p:txBody>
        </p:sp>
        <p:sp>
          <p:nvSpPr>
            <p:cNvPr id="151" name="Ellipse 151"/>
            <p:cNvSpPr/>
            <p:nvPr/>
          </p:nvSpPr>
          <p:spPr>
            <a:xfrm>
              <a:off x="9925050" y="3181350"/>
              <a:ext cx="38100" cy="38100"/>
            </a:xfrm>
            <a:prstGeom prst="ellipse">
              <a:avLst/>
            </a:prstGeom>
            <a:solidFill>
              <a:srgbClr val="C26D5E"/>
            </a:solidFill>
            <a:ln>
              <a:noFill/>
            </a:ln>
          </p:spPr>
        </p:sp>
        <p:sp>
          <p:nvSpPr>
            <p:cNvPr id="152" name="TextBox 152"/>
            <p:cNvSpPr txBox="1"/>
            <p:nvPr/>
          </p:nvSpPr>
          <p:spPr>
            <a:xfrm>
              <a:off x="10015538" y="3161586"/>
              <a:ext cx="106090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专属客户经理与顾问服务</a:t>
              </a:r>
            </a:p>
          </p:txBody>
        </p:sp>
        <p:sp>
          <p:nvSpPr>
            <p:cNvPr id="153" name="Ellipse 153"/>
            <p:cNvSpPr/>
            <p:nvPr/>
          </p:nvSpPr>
          <p:spPr>
            <a:xfrm>
              <a:off x="9925050" y="3390900"/>
              <a:ext cx="38100" cy="38100"/>
            </a:xfrm>
            <a:prstGeom prst="ellipse">
              <a:avLst/>
            </a:prstGeom>
            <a:solidFill>
              <a:srgbClr val="C26D5E"/>
            </a:solidFill>
            <a:ln>
              <a:noFill/>
            </a:ln>
          </p:spPr>
        </p:sp>
        <p:sp>
          <p:nvSpPr>
            <p:cNvPr id="154" name="TextBox 154"/>
            <p:cNvSpPr txBox="1"/>
            <p:nvPr/>
          </p:nvSpPr>
          <p:spPr>
            <a:xfrm>
              <a:off x="10015538" y="3371136"/>
              <a:ext cx="106090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增值服务与生态资源对接</a:t>
              </a:r>
            </a:p>
          </p:txBody>
        </p:sp>
        <p:sp>
          <p:nvSpPr>
            <p:cNvPr id="155" name="Ellipse 155"/>
            <p:cNvSpPr/>
            <p:nvPr/>
          </p:nvSpPr>
          <p:spPr>
            <a:xfrm>
              <a:off x="9925050" y="3600450"/>
              <a:ext cx="38100" cy="38100"/>
            </a:xfrm>
            <a:prstGeom prst="ellipse">
              <a:avLst/>
            </a:prstGeom>
            <a:solidFill>
              <a:srgbClr val="C26D5E"/>
            </a:solidFill>
            <a:ln>
              <a:noFill/>
            </a:ln>
          </p:spPr>
        </p:sp>
        <p:sp>
          <p:nvSpPr>
            <p:cNvPr id="156" name="TextBox 156"/>
            <p:cNvSpPr txBox="1"/>
            <p:nvPr/>
          </p:nvSpPr>
          <p:spPr>
            <a:xfrm>
              <a:off x="10015538" y="3580686"/>
              <a:ext cx="86974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专属活动与学习交流</a:t>
              </a:r>
            </a:p>
          </p:txBody>
        </p:sp>
        <p:sp>
          <p:nvSpPr>
            <p:cNvPr id="157" name="Ellipse 157"/>
            <p:cNvSpPr/>
            <p:nvPr/>
          </p:nvSpPr>
          <p:spPr>
            <a:xfrm>
              <a:off x="9925050" y="3810000"/>
              <a:ext cx="38100" cy="38100"/>
            </a:xfrm>
            <a:prstGeom prst="ellipse">
              <a:avLst/>
            </a:prstGeom>
            <a:solidFill>
              <a:srgbClr val="C26D5E"/>
            </a:solidFill>
            <a:ln>
              <a:noFill/>
            </a:ln>
          </p:spPr>
        </p:sp>
        <p:sp>
          <p:nvSpPr>
            <p:cNvPr id="158" name="TextBox 158"/>
            <p:cNvSpPr txBox="1"/>
            <p:nvPr/>
          </p:nvSpPr>
          <p:spPr>
            <a:xfrm>
              <a:off x="10015538" y="3790236"/>
              <a:ext cx="96532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积分／里程／成长激励</a:t>
              </a:r>
            </a:p>
          </p:txBody>
        </p:sp>
        <p:sp>
          <p:nvSpPr>
            <p:cNvPr id="159" name="Rectangle 159"/>
            <p:cNvSpPr/>
            <p:nvPr/>
          </p:nvSpPr>
          <p:spPr>
            <a:xfrm>
              <a:off x="9886950" y="4057650"/>
              <a:ext cx="38100" cy="133350"/>
            </a:xfrm>
            <a:prstGeom prst="rect">
              <a:avLst/>
            </a:prstGeom>
            <a:solidFill>
              <a:srgbClr val="C26D5E"/>
            </a:solidFill>
            <a:ln>
              <a:noFill/>
            </a:ln>
          </p:spPr>
        </p:sp>
        <p:sp>
          <p:nvSpPr>
            <p:cNvPr id="160" name="TextBox 160"/>
            <p:cNvSpPr txBox="1"/>
            <p:nvPr/>
          </p:nvSpPr>
          <p:spPr>
            <a:xfrm>
              <a:off x="9977438" y="4074795"/>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核心价值</a:t>
              </a:r>
            </a:p>
          </p:txBody>
        </p:sp>
        <p:sp>
          <p:nvSpPr>
            <p:cNvPr id="161" name="TextBox 161"/>
            <p:cNvSpPr txBox="1"/>
            <p:nvPr/>
          </p:nvSpPr>
          <p:spPr>
            <a:xfrm>
              <a:off x="9977438" y="4295061"/>
              <a:ext cx="1001395" cy="388144"/>
            </a:xfrm>
            <a:prstGeom prst="rect">
              <a:avLst/>
            </a:prstGeom>
            <a:noFill/>
            <a:ln>
              <a:noFill/>
            </a:ln>
          </p:spPr>
          <p:txBody>
            <a:bodyPr wrap="none" lIns="0" tIns="0" rIns="0" bIns="0" anchor="t" anchorCtr="0">
              <a:spAutoFit/>
            </a:bodyPr>
            <a:lstStyle/>
            <a:p>
              <a:pPr algn="l">
                <a:lnSpc>
                  <a:spcPts val="975"/>
                </a:lnSpc>
              </a:pPr>
              <a:r>
                <a:rPr lang="zh-CN" sz="710" dirty="0">
                  <a:solidFill>
                    <a:srgbClr val="4A4A4A"/>
                  </a:solidFill>
                  <a:latin typeface="+mn-lt"/>
                  <a:ea typeface="+mn-ea"/>
                  <a:cs typeface="+mn-cs"/>
                </a:rPr>
                <a:t>增强客户黏性与归属感，</a:t>
              </a:r>
              <a:br/>
              <a:r>
                <a:rPr lang="zh-CN" sz="710" dirty="0">
                  <a:solidFill>
                    <a:srgbClr val="4A4A4A"/>
                  </a:solidFill>
                  <a:latin typeface="+mn-lt"/>
                  <a:ea typeface="+mn-ea"/>
                  <a:cs typeface="+mn-cs"/>
                </a:rPr>
                <a:t>激发成长动能，提升综合</a:t>
              </a:r>
              <a:br/>
              <a:r>
                <a:rPr lang="zh-CN" sz="710" dirty="0">
                  <a:solidFill>
                    <a:srgbClr val="4A4A4A"/>
                  </a:solidFill>
                  <a:latin typeface="+mn-lt"/>
                  <a:ea typeface="+mn-ea"/>
                  <a:cs typeface="+mn-cs"/>
                </a:rPr>
                <a:t>贡献</a:t>
              </a:r>
            </a:p>
          </p:txBody>
        </p:sp>
      </p:grpSp>
      <p:grpSp>
        <p:nvGrpSpPr>
          <p:cNvPr id="182" name="concl-banner5"/>
          <p:cNvGrpSpPr/>
          <p:nvPr/>
        </p:nvGrpSpPr>
        <p:grpSpPr>
          <a:xfrm>
            <a:off x="381000" y="5448300"/>
            <a:ext cx="11430000" cy="1200150"/>
            <a:chOff x="381000" y="5448300"/>
            <a:chExt cx="11430000" cy="1200150"/>
          </a:xfrm>
        </p:grpSpPr>
        <p:sp>
          <p:nvSpPr>
            <p:cNvPr id="163" name="Rectangle 163"/>
            <p:cNvSpPr/>
            <p:nvPr/>
          </p:nvSpPr>
          <p:spPr>
            <a:xfrm>
              <a:off x="381000" y="5448300"/>
              <a:ext cx="11430000" cy="1200150"/>
            </a:xfrm>
            <a:prstGeom prst="roundRect">
              <a:avLst>
                <a:gd name="adj" fmla="val 9524"/>
              </a:avLst>
            </a:prstGeom>
            <a:solidFill>
              <a:srgbClr val="FFFFFF"/>
            </a:solidFill>
            <a:ln w="9525">
              <a:solidFill>
                <a:srgbClr val="E6D9C0"/>
              </a:solidFill>
            </a:ln>
          </p:spPr>
        </p:sp>
        <p:sp>
          <p:nvSpPr>
            <p:cNvPr id="164" name="Ellipse 164"/>
            <p:cNvSpPr/>
            <p:nvPr/>
          </p:nvSpPr>
          <p:spPr>
            <a:xfrm>
              <a:off x="714375" y="5791200"/>
              <a:ext cx="514350" cy="514350"/>
            </a:xfrm>
            <a:prstGeom prst="ellipse">
              <a:avLst/>
            </a:prstGeom>
            <a:solidFill>
              <a:srgbClr val="A3381F"/>
            </a:solidFill>
            <a:ln>
              <a:noFill/>
            </a:ln>
          </p:spPr>
        </p:sp>
        <p:grpSp>
          <p:nvGrpSpPr>
            <p:cNvPr id="168" name="Group 168"/>
            <p:cNvGrpSpPr/>
            <p:nvPr/>
          </p:nvGrpSpPr>
          <p:grpSpPr>
            <a:xfrm>
              <a:off x="857250" y="5934075"/>
              <a:ext cx="228599" cy="228599"/>
              <a:chOff x="857250" y="5934075"/>
              <a:chExt cx="228599" cy="228599"/>
            </a:xfrm>
          </p:grpSpPr>
          <p:sp>
            <p:nvSpPr>
              <p:cNvPr id="165" name="Freeform 165"/>
              <p:cNvSpPr/>
              <p:nvPr/>
            </p:nvSpPr>
            <p:spPr>
              <a:xfrm>
                <a:off x="958850" y="60356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FFFFFF"/>
                </a:solidFill>
              </a:ln>
            </p:spPr>
          </p:sp>
          <p:sp>
            <p:nvSpPr>
              <p:cNvPr id="166" name="Freeform 166"/>
              <p:cNvSpPr/>
              <p:nvPr/>
            </p:nvSpPr>
            <p:spPr>
              <a:xfrm>
                <a:off x="908050" y="59848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FFFFFF"/>
                </a:solidFill>
              </a:ln>
            </p:spPr>
          </p:sp>
          <p:sp>
            <p:nvSpPr>
              <p:cNvPr id="167" name="Freeform 167"/>
              <p:cNvSpPr/>
              <p:nvPr/>
            </p:nvSpPr>
            <p:spPr>
              <a:xfrm>
                <a:off x="857250" y="5934075"/>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FFFFFF"/>
                </a:solidFill>
              </a:ln>
            </p:spPr>
          </p:sp>
        </p:grpSp>
        <p:sp>
          <p:nvSpPr>
            <p:cNvPr id="169" name="TextBox 169"/>
            <p:cNvSpPr txBox="1"/>
            <p:nvPr/>
          </p:nvSpPr>
          <p:spPr>
            <a:xfrm>
              <a:off x="1421892" y="5978842"/>
              <a:ext cx="4193667" cy="264033"/>
            </a:xfrm>
            <a:prstGeom prst="rect">
              <a:avLst/>
            </a:prstGeom>
            <a:noFill/>
            <a:ln>
              <a:noFill/>
            </a:ln>
          </p:spPr>
          <p:txBody>
            <a:bodyPr wrap="none" lIns="0" tIns="0" rIns="0" bIns="0" anchor="t" anchorCtr="0">
              <a:spAutoFit/>
            </a:bodyPr>
            <a:lstStyle/>
            <a:p>
              <a:pPr algn="l"/>
              <a:r>
                <a:rPr lang="zh-CN" sz="1350" b="1" dirty="0">
                  <a:solidFill>
                    <a:srgbClr val="1F1F1F"/>
                  </a:solidFill>
                  <a:latin typeface="+mn-lt"/>
                  <a:ea typeface="+mn-ea"/>
                  <a:cs typeface="+mn-cs"/>
                </a:rPr>
                <a:t>一客户</a:t>
              </a:r>
              <a:r>
                <a:rPr lang="zh-CN" sz="1350" b="1" dirty="0">
                  <a:solidFill>
                    <a:srgbClr val="A3381F"/>
                  </a:solidFill>
                  <a:latin typeface="+mn-lt"/>
                  <a:ea typeface="+mn-ea"/>
                  <a:cs typeface="+mn-cs"/>
                </a:rPr>
                <a:t>一个</a:t>
              </a:r>
              <a:r>
                <a:rPr lang="zh-CN" sz="1350" b="1" dirty="0">
                  <a:solidFill>
                    <a:srgbClr val="1F1F1F"/>
                  </a:solidFill>
                  <a:latin typeface="+mn-lt"/>
                  <a:ea typeface="+mn-ea"/>
                  <a:cs typeface="+mn-cs"/>
                </a:rPr>
                <a:t>主层级，可属于</a:t>
              </a:r>
              <a:r>
                <a:rPr lang="zh-CN" sz="1350" b="1" dirty="0">
                  <a:solidFill>
                    <a:srgbClr val="A3381F"/>
                  </a:solidFill>
                  <a:latin typeface="+mn-lt"/>
                  <a:ea typeface="+mn-ea"/>
                  <a:cs typeface="+mn-cs"/>
                </a:rPr>
                <a:t>多个</a:t>
              </a:r>
              <a:r>
                <a:rPr lang="zh-CN" sz="1350" b="1" dirty="0">
                  <a:solidFill>
                    <a:srgbClr val="1F1F1F"/>
                  </a:solidFill>
                  <a:latin typeface="+mn-lt"/>
                  <a:ea typeface="+mn-ea"/>
                  <a:cs typeface="+mn-cs"/>
                </a:rPr>
                <a:t>分类、拥有</a:t>
              </a:r>
              <a:r>
                <a:rPr lang="zh-CN" sz="1350" b="1" dirty="0">
                  <a:solidFill>
                    <a:srgbClr val="A3381F"/>
                  </a:solidFill>
                  <a:latin typeface="+mn-lt"/>
                  <a:ea typeface="+mn-ea"/>
                  <a:cs typeface="+mn-cs"/>
                </a:rPr>
                <a:t>多个</a:t>
              </a:r>
              <a:r>
                <a:rPr lang="zh-CN" sz="1350" b="1" dirty="0">
                  <a:solidFill>
                    <a:srgbClr val="1F1F1F"/>
                  </a:solidFill>
                  <a:latin typeface="+mn-lt"/>
                  <a:ea typeface="+mn-ea"/>
                  <a:cs typeface="+mn-cs"/>
                </a:rPr>
                <a:t>标签</a:t>
              </a:r>
            </a:p>
          </p:txBody>
        </p:sp>
        <p:grpSp>
          <p:nvGrpSpPr>
            <p:cNvPr id="172" name="Group 172"/>
            <p:cNvGrpSpPr/>
            <p:nvPr/>
          </p:nvGrpSpPr>
          <p:grpSpPr>
            <a:xfrm>
              <a:off x="6496050" y="5695950"/>
              <a:ext cx="114300" cy="114300"/>
              <a:chOff x="6496050" y="5695950"/>
              <a:chExt cx="114300" cy="114300"/>
            </a:xfrm>
          </p:grpSpPr>
          <p:sp>
            <p:nvSpPr>
              <p:cNvPr id="170" name="Freeform 170"/>
              <p:cNvSpPr/>
              <p:nvPr/>
            </p:nvSpPr>
            <p:spPr>
              <a:xfrm>
                <a:off x="6496050" y="56959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26D5E"/>
                </a:solidFill>
              </a:ln>
            </p:spPr>
          </p:sp>
          <p:sp>
            <p:nvSpPr>
              <p:cNvPr id="171" name="Freeform 171"/>
              <p:cNvSpPr/>
              <p:nvPr/>
            </p:nvSpPr>
            <p:spPr>
              <a:xfrm>
                <a:off x="6534150" y="5740400"/>
                <a:ext cx="38100" cy="25400"/>
              </a:xfrm>
              <a:custGeom>
                <a:avLst/>
                <a:gdLst/>
                <a:ahLst/>
                <a:cxnLst/>
                <a:rect l="l" t="t" r="r" b="b"/>
                <a:pathLst>
                  <a:path w="38100" h="25400">
                    <a:moveTo>
                      <a:pt x="0" y="12700"/>
                    </a:moveTo>
                    <a:lnTo>
                      <a:pt x="12700" y="25400"/>
                    </a:lnTo>
                    <a:lnTo>
                      <a:pt x="38100" y="0"/>
                    </a:lnTo>
                  </a:path>
                </a:pathLst>
              </a:custGeom>
              <a:noFill/>
              <a:ln w="12700">
                <a:solidFill>
                  <a:srgbClr val="C26D5E"/>
                </a:solidFill>
              </a:ln>
            </p:spPr>
          </p:sp>
        </p:grpSp>
        <p:sp>
          <p:nvSpPr>
            <p:cNvPr id="173" name="TextBox 173"/>
            <p:cNvSpPr txBox="1"/>
            <p:nvPr/>
          </p:nvSpPr>
          <p:spPr>
            <a:xfrm>
              <a:off x="6700838" y="5715714"/>
              <a:ext cx="1498422" cy="154781"/>
            </a:xfrm>
            <a:prstGeom prst="rect">
              <a:avLst/>
            </a:prstGeom>
            <a:noFill/>
            <a:ln>
              <a:noFill/>
            </a:ln>
          </p:spPr>
          <p:txBody>
            <a:bodyPr wrap="none" lIns="0" tIns="0" rIns="0" bIns="0" anchor="t" anchorCtr="0">
              <a:spAutoFit/>
            </a:bodyPr>
            <a:lstStyle/>
            <a:p>
              <a:pPr algn="l"/>
              <a:r>
                <a:rPr lang="zh-CN" sz="790" dirty="0">
                  <a:solidFill>
                    <a:srgbClr val="4A4A4A"/>
                  </a:solidFill>
                  <a:latin typeface="+mn-lt"/>
                  <a:ea typeface="+mn-ea"/>
                  <a:cs typeface="+mn-cs"/>
                </a:rPr>
                <a:t>主层级决定资源配置的优先方向</a:t>
              </a:r>
            </a:p>
          </p:txBody>
        </p:sp>
        <p:grpSp>
          <p:nvGrpSpPr>
            <p:cNvPr id="176" name="Group 176"/>
            <p:cNvGrpSpPr/>
            <p:nvPr/>
          </p:nvGrpSpPr>
          <p:grpSpPr>
            <a:xfrm>
              <a:off x="6496050" y="5962650"/>
              <a:ext cx="114300" cy="114300"/>
              <a:chOff x="6496050" y="5962650"/>
              <a:chExt cx="114300" cy="114300"/>
            </a:xfrm>
          </p:grpSpPr>
          <p:sp>
            <p:nvSpPr>
              <p:cNvPr id="174" name="Freeform 174"/>
              <p:cNvSpPr/>
              <p:nvPr/>
            </p:nvSpPr>
            <p:spPr>
              <a:xfrm>
                <a:off x="6496050" y="59626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26D5E"/>
                </a:solidFill>
              </a:ln>
            </p:spPr>
          </p:sp>
          <p:sp>
            <p:nvSpPr>
              <p:cNvPr id="175" name="Freeform 175"/>
              <p:cNvSpPr/>
              <p:nvPr/>
            </p:nvSpPr>
            <p:spPr>
              <a:xfrm>
                <a:off x="6534150" y="6007100"/>
                <a:ext cx="38100" cy="25400"/>
              </a:xfrm>
              <a:custGeom>
                <a:avLst/>
                <a:gdLst/>
                <a:ahLst/>
                <a:cxnLst/>
                <a:rect l="l" t="t" r="r" b="b"/>
                <a:pathLst>
                  <a:path w="38100" h="25400">
                    <a:moveTo>
                      <a:pt x="0" y="12700"/>
                    </a:moveTo>
                    <a:lnTo>
                      <a:pt x="12700" y="25400"/>
                    </a:lnTo>
                    <a:lnTo>
                      <a:pt x="38100" y="0"/>
                    </a:lnTo>
                  </a:path>
                </a:pathLst>
              </a:custGeom>
              <a:noFill/>
              <a:ln w="12700">
                <a:solidFill>
                  <a:srgbClr val="C26D5E"/>
                </a:solidFill>
              </a:ln>
            </p:spPr>
          </p:sp>
        </p:grpSp>
        <p:sp>
          <p:nvSpPr>
            <p:cNvPr id="177" name="TextBox 177"/>
            <p:cNvSpPr txBox="1"/>
            <p:nvPr/>
          </p:nvSpPr>
          <p:spPr>
            <a:xfrm>
              <a:off x="6700838" y="5982414"/>
              <a:ext cx="1817472" cy="154781"/>
            </a:xfrm>
            <a:prstGeom prst="rect">
              <a:avLst/>
            </a:prstGeom>
            <a:noFill/>
            <a:ln>
              <a:noFill/>
            </a:ln>
          </p:spPr>
          <p:txBody>
            <a:bodyPr wrap="none" lIns="0" tIns="0" rIns="0" bIns="0" anchor="t" anchorCtr="0">
              <a:spAutoFit/>
            </a:bodyPr>
            <a:lstStyle/>
            <a:p>
              <a:pPr algn="l"/>
              <a:r>
                <a:rPr lang="zh-CN" sz="790" dirty="0">
                  <a:solidFill>
                    <a:srgbClr val="4A4A4A"/>
                  </a:solidFill>
                  <a:latin typeface="+mn-lt"/>
                  <a:ea typeface="+mn-ea"/>
                  <a:cs typeface="+mn-cs"/>
                </a:rPr>
                <a:t>多分类反映客户的多重身份与需求场景</a:t>
              </a:r>
            </a:p>
          </p:txBody>
        </p:sp>
        <p:grpSp>
          <p:nvGrpSpPr>
            <p:cNvPr id="180" name="Group 180"/>
            <p:cNvGrpSpPr/>
            <p:nvPr/>
          </p:nvGrpSpPr>
          <p:grpSpPr>
            <a:xfrm>
              <a:off x="6496050" y="6229350"/>
              <a:ext cx="114300" cy="114300"/>
              <a:chOff x="6496050" y="6229350"/>
              <a:chExt cx="114300" cy="114300"/>
            </a:xfrm>
          </p:grpSpPr>
          <p:sp>
            <p:nvSpPr>
              <p:cNvPr id="178" name="Freeform 178"/>
              <p:cNvSpPr/>
              <p:nvPr/>
            </p:nvSpPr>
            <p:spPr>
              <a:xfrm>
                <a:off x="6496050" y="62293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C26D5E"/>
                </a:solidFill>
              </a:ln>
            </p:spPr>
          </p:sp>
          <p:sp>
            <p:nvSpPr>
              <p:cNvPr id="179" name="Freeform 179"/>
              <p:cNvSpPr/>
              <p:nvPr/>
            </p:nvSpPr>
            <p:spPr>
              <a:xfrm>
                <a:off x="6534150" y="6273800"/>
                <a:ext cx="38100" cy="25400"/>
              </a:xfrm>
              <a:custGeom>
                <a:avLst/>
                <a:gdLst/>
                <a:ahLst/>
                <a:cxnLst/>
                <a:rect l="l" t="t" r="r" b="b"/>
                <a:pathLst>
                  <a:path w="38100" h="25400">
                    <a:moveTo>
                      <a:pt x="0" y="12700"/>
                    </a:moveTo>
                    <a:lnTo>
                      <a:pt x="12700" y="25400"/>
                    </a:lnTo>
                    <a:lnTo>
                      <a:pt x="38100" y="0"/>
                    </a:lnTo>
                  </a:path>
                </a:pathLst>
              </a:custGeom>
              <a:noFill/>
              <a:ln w="12700">
                <a:solidFill>
                  <a:srgbClr val="C26D5E"/>
                </a:solidFill>
              </a:ln>
            </p:spPr>
          </p:sp>
        </p:grpSp>
        <p:sp>
          <p:nvSpPr>
            <p:cNvPr id="181" name="TextBox 181"/>
            <p:cNvSpPr txBox="1"/>
            <p:nvPr/>
          </p:nvSpPr>
          <p:spPr>
            <a:xfrm>
              <a:off x="6700838" y="6249114"/>
              <a:ext cx="2030171" cy="154781"/>
            </a:xfrm>
            <a:prstGeom prst="rect">
              <a:avLst/>
            </a:prstGeom>
            <a:noFill/>
            <a:ln>
              <a:noFill/>
            </a:ln>
          </p:spPr>
          <p:txBody>
            <a:bodyPr wrap="none" lIns="0" tIns="0" rIns="0" bIns="0" anchor="t" anchorCtr="0">
              <a:spAutoFit/>
            </a:bodyPr>
            <a:lstStyle/>
            <a:p>
              <a:pPr algn="l"/>
              <a:r>
                <a:rPr lang="zh-CN" sz="790" dirty="0">
                  <a:solidFill>
                    <a:srgbClr val="4A4A4A"/>
                  </a:solidFill>
                  <a:latin typeface="+mn-lt"/>
                  <a:ea typeface="+mn-ea"/>
                  <a:cs typeface="+mn-cs"/>
                </a:rPr>
                <a:t>多标签支撑精细识别、动态洞察与精准服务</a:t>
              </a:r>
            </a:p>
          </p:txBody>
        </p:sp>
      </p:gr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06</a:t>
              </a:r>
            </a:p>
          </p:txBody>
        </p:sp>
        <p:sp>
          <p:nvSpPr>
            <p:cNvPr id="4" name="TextBox 4"/>
            <p:cNvSpPr txBox="1"/>
            <p:nvPr/>
          </p:nvSpPr>
          <p:spPr>
            <a:xfrm>
              <a:off x="942594" y="151448"/>
              <a:ext cx="4735068"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客户价值分层：构建全量客户</a:t>
              </a:r>
              <a:r>
                <a:rPr lang="zh-CN" sz="1950" b="1" dirty="0">
                  <a:solidFill>
                    <a:srgbClr val="A3381F"/>
                  </a:solidFill>
                  <a:latin typeface="SimSun"/>
                  <a:ea typeface="SimSun"/>
                  <a:cs typeface="SimSun"/>
                </a:rPr>
                <a:t>六级体系</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56" name="pyramid"/>
          <p:cNvGrpSpPr/>
          <p:nvPr/>
        </p:nvGrpSpPr>
        <p:grpSpPr>
          <a:xfrm>
            <a:off x="419100" y="800100"/>
            <a:ext cx="7810500" cy="4400550"/>
            <a:chOff x="419100" y="800100"/>
            <a:chExt cx="7810500" cy="4400550"/>
          </a:xfrm>
        </p:grpSpPr>
        <p:sp>
          <p:nvSpPr>
            <p:cNvPr id="7" name="Rectangle 7"/>
            <p:cNvSpPr/>
            <p:nvPr/>
          </p:nvSpPr>
          <p:spPr>
            <a:xfrm>
              <a:off x="419100" y="800100"/>
              <a:ext cx="7810500" cy="4400550"/>
            </a:xfrm>
            <a:prstGeom prst="roundRect">
              <a:avLst>
                <a:gd name="adj" fmla="val 3030"/>
              </a:avLst>
            </a:prstGeom>
            <a:solidFill>
              <a:srgbClr val="FFFFFF"/>
            </a:solidFill>
            <a:ln w="9525">
              <a:solidFill>
                <a:srgbClr val="E6D9C0"/>
              </a:solidFill>
            </a:ln>
          </p:spPr>
        </p:sp>
        <p:sp>
          <p:nvSpPr>
            <p:cNvPr id="8" name="Polygon 8"/>
            <p:cNvSpPr/>
            <p:nvPr/>
          </p:nvSpPr>
          <p:spPr>
            <a:xfrm>
              <a:off x="2762250" y="876300"/>
              <a:ext cx="2095500" cy="571500"/>
            </a:xfrm>
            <a:custGeom>
              <a:avLst/>
              <a:gdLst/>
              <a:ahLst/>
              <a:cxnLst/>
              <a:rect l="l" t="t" r="r" b="b"/>
              <a:pathLst>
                <a:path w="2095500" h="571500">
                  <a:moveTo>
                    <a:pt x="333375" y="0"/>
                  </a:moveTo>
                  <a:lnTo>
                    <a:pt x="1762125" y="0"/>
                  </a:lnTo>
                  <a:lnTo>
                    <a:pt x="2095500" y="571500"/>
                  </a:lnTo>
                  <a:lnTo>
                    <a:pt x="0" y="571500"/>
                  </a:lnTo>
                  <a:close/>
                </a:path>
              </a:pathLst>
            </a:custGeom>
            <a:solidFill>
              <a:srgbClr val="7E2511"/>
            </a:solidFill>
            <a:ln>
              <a:noFill/>
            </a:ln>
          </p:spPr>
        </p:sp>
        <p:sp>
          <p:nvSpPr>
            <p:cNvPr id="9" name="Freeform 9"/>
            <p:cNvSpPr/>
            <p:nvPr/>
          </p:nvSpPr>
          <p:spPr>
            <a:xfrm>
              <a:off x="3093244" y="1157288"/>
              <a:ext cx="157163" cy="104775"/>
            </a:xfrm>
            <a:custGeom>
              <a:avLst/>
              <a:gdLst/>
              <a:ahLst/>
              <a:cxnLst/>
              <a:rect l="l" t="t" r="r" b="b"/>
              <a:pathLst>
                <a:path w="157163" h="104775">
                  <a:moveTo>
                    <a:pt x="78581" y="0"/>
                  </a:moveTo>
                  <a:lnTo>
                    <a:pt x="113506" y="52388"/>
                  </a:lnTo>
                  <a:lnTo>
                    <a:pt x="157163" y="17463"/>
                  </a:lnTo>
                  <a:lnTo>
                    <a:pt x="139700" y="104775"/>
                  </a:lnTo>
                  <a:lnTo>
                    <a:pt x="17463" y="104775"/>
                  </a:lnTo>
                  <a:lnTo>
                    <a:pt x="0" y="17463"/>
                  </a:lnTo>
                  <a:lnTo>
                    <a:pt x="43656" y="52388"/>
                  </a:lnTo>
                  <a:lnTo>
                    <a:pt x="78581" y="0"/>
                  </a:lnTo>
                </a:path>
              </a:pathLst>
            </a:custGeom>
            <a:noFill/>
            <a:ln w="17463">
              <a:solidFill>
                <a:srgbClr val="FFFFFF"/>
              </a:solidFill>
            </a:ln>
          </p:spPr>
        </p:sp>
        <p:sp>
          <p:nvSpPr>
            <p:cNvPr id="10" name="TextBox 10"/>
            <p:cNvSpPr txBox="1"/>
            <p:nvPr/>
          </p:nvSpPr>
          <p:spPr>
            <a:xfrm>
              <a:off x="3301472" y="1127760"/>
              <a:ext cx="101705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L6　私行客户</a:t>
              </a:r>
            </a:p>
          </p:txBody>
        </p:sp>
        <p:sp>
          <p:nvSpPr>
            <p:cNvPr id="11" name="TextBox 11"/>
            <p:cNvSpPr txBox="1"/>
            <p:nvPr/>
          </p:nvSpPr>
          <p:spPr>
            <a:xfrm>
              <a:off x="4814888" y="1145143"/>
              <a:ext cx="1068850" cy="169069"/>
            </a:xfrm>
            <a:prstGeom prst="rect">
              <a:avLst/>
            </a:prstGeom>
            <a:noFill/>
            <a:ln>
              <a:noFill/>
            </a:ln>
          </p:spPr>
          <p:txBody>
            <a:bodyPr wrap="none" lIns="0" tIns="0" rIns="0" bIns="0" anchor="t" anchorCtr="0">
              <a:spAutoFit/>
            </a:bodyPr>
            <a:lstStyle/>
            <a:p>
              <a:pPr algn="l"/>
              <a:r>
                <a:rPr lang="zh-CN" sz="860" dirty="0">
                  <a:solidFill>
                    <a:srgbClr val="4A4A4A"/>
                  </a:solidFill>
                  <a:latin typeface="+mn-lt"/>
                  <a:ea typeface="+mn-ea"/>
                  <a:cs typeface="+mn-cs"/>
                </a:rPr>
                <a:t>超高净值 / 家企传承</a:t>
              </a:r>
            </a:p>
          </p:txBody>
        </p:sp>
        <p:sp>
          <p:nvSpPr>
            <p:cNvPr id="12" name="Polygon 12"/>
            <p:cNvSpPr/>
            <p:nvPr/>
          </p:nvSpPr>
          <p:spPr>
            <a:xfrm>
              <a:off x="2419350" y="1485900"/>
              <a:ext cx="2781300" cy="571500"/>
            </a:xfrm>
            <a:custGeom>
              <a:avLst/>
              <a:gdLst/>
              <a:ahLst/>
              <a:cxnLst/>
              <a:rect l="l" t="t" r="r" b="b"/>
              <a:pathLst>
                <a:path w="2781300" h="571500">
                  <a:moveTo>
                    <a:pt x="342900" y="0"/>
                  </a:moveTo>
                  <a:lnTo>
                    <a:pt x="2438400" y="0"/>
                  </a:lnTo>
                  <a:lnTo>
                    <a:pt x="2781300" y="571500"/>
                  </a:lnTo>
                  <a:lnTo>
                    <a:pt x="0" y="571500"/>
                  </a:lnTo>
                  <a:close/>
                </a:path>
              </a:pathLst>
            </a:custGeom>
            <a:solidFill>
              <a:srgbClr val="A3381F"/>
            </a:solidFill>
            <a:ln>
              <a:noFill/>
            </a:ln>
          </p:spPr>
        </p:sp>
        <p:grpSp>
          <p:nvGrpSpPr>
            <p:cNvPr id="15" name="Group 15"/>
            <p:cNvGrpSpPr/>
            <p:nvPr/>
          </p:nvGrpSpPr>
          <p:grpSpPr>
            <a:xfrm>
              <a:off x="2786010" y="1742195"/>
              <a:ext cx="157850" cy="158095"/>
              <a:chOff x="2786010" y="1742195"/>
              <a:chExt cx="157850" cy="158095"/>
            </a:xfrm>
          </p:grpSpPr>
          <p:sp>
            <p:nvSpPr>
              <p:cNvPr id="13" name="Freeform 13"/>
              <p:cNvSpPr/>
              <p:nvPr/>
            </p:nvSpPr>
            <p:spPr>
              <a:xfrm>
                <a:off x="2786010" y="1742195"/>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FFFFFF"/>
                </a:solidFill>
              </a:ln>
            </p:spPr>
          </p:sp>
          <p:sp>
            <p:nvSpPr>
              <p:cNvPr id="14" name="Freeform 14"/>
              <p:cNvSpPr/>
              <p:nvPr/>
            </p:nvSpPr>
            <p:spPr>
              <a:xfrm>
                <a:off x="2893219" y="1745059"/>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FFFFFF"/>
                </a:solidFill>
              </a:ln>
            </p:spPr>
          </p:sp>
        </p:grpSp>
        <p:sp>
          <p:nvSpPr>
            <p:cNvPr id="16" name="TextBox 16"/>
            <p:cNvSpPr txBox="1"/>
            <p:nvPr/>
          </p:nvSpPr>
          <p:spPr>
            <a:xfrm>
              <a:off x="3301472" y="1737360"/>
              <a:ext cx="101705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L5　财富客户</a:t>
              </a:r>
            </a:p>
          </p:txBody>
        </p:sp>
        <p:sp>
          <p:nvSpPr>
            <p:cNvPr id="17" name="TextBox 17"/>
            <p:cNvSpPr txBox="1"/>
            <p:nvPr/>
          </p:nvSpPr>
          <p:spPr>
            <a:xfrm>
              <a:off x="5157788" y="1754743"/>
              <a:ext cx="1068850" cy="169069"/>
            </a:xfrm>
            <a:prstGeom prst="rect">
              <a:avLst/>
            </a:prstGeom>
            <a:noFill/>
            <a:ln>
              <a:noFill/>
            </a:ln>
          </p:spPr>
          <p:txBody>
            <a:bodyPr wrap="none" lIns="0" tIns="0" rIns="0" bIns="0" anchor="t" anchorCtr="0">
              <a:spAutoFit/>
            </a:bodyPr>
            <a:lstStyle/>
            <a:p>
              <a:pPr algn="l"/>
              <a:r>
                <a:rPr lang="zh-CN" sz="860" dirty="0">
                  <a:solidFill>
                    <a:srgbClr val="4A4A4A"/>
                  </a:solidFill>
                  <a:latin typeface="+mn-lt"/>
                  <a:ea typeface="+mn-ea"/>
                  <a:cs typeface="+mn-cs"/>
                </a:rPr>
                <a:t>多元配置 / 综合经营</a:t>
              </a:r>
            </a:p>
          </p:txBody>
        </p:sp>
        <p:sp>
          <p:nvSpPr>
            <p:cNvPr id="18" name="Polygon 18"/>
            <p:cNvSpPr/>
            <p:nvPr/>
          </p:nvSpPr>
          <p:spPr>
            <a:xfrm>
              <a:off x="2076450" y="2095500"/>
              <a:ext cx="3467100" cy="571500"/>
            </a:xfrm>
            <a:custGeom>
              <a:avLst/>
              <a:gdLst/>
              <a:ahLst/>
              <a:cxnLst/>
              <a:rect l="l" t="t" r="r" b="b"/>
              <a:pathLst>
                <a:path w="3467100" h="571500">
                  <a:moveTo>
                    <a:pt x="342900" y="0"/>
                  </a:moveTo>
                  <a:lnTo>
                    <a:pt x="3124200" y="0"/>
                  </a:lnTo>
                  <a:lnTo>
                    <a:pt x="3467100" y="571500"/>
                  </a:lnTo>
                  <a:lnTo>
                    <a:pt x="0" y="571500"/>
                  </a:lnTo>
                  <a:close/>
                </a:path>
              </a:pathLst>
            </a:custGeom>
            <a:solidFill>
              <a:srgbClr val="C26D5E"/>
            </a:solidFill>
            <a:ln>
              <a:noFill/>
            </a:ln>
          </p:spPr>
        </p:sp>
        <p:grpSp>
          <p:nvGrpSpPr>
            <p:cNvPr id="21" name="Group 21"/>
            <p:cNvGrpSpPr/>
            <p:nvPr/>
          </p:nvGrpSpPr>
          <p:grpSpPr>
            <a:xfrm>
              <a:off x="2483644" y="2367756"/>
              <a:ext cx="157163" cy="128438"/>
              <a:chOff x="2483644" y="2367756"/>
              <a:chExt cx="157163" cy="128438"/>
            </a:xfrm>
          </p:grpSpPr>
          <p:sp>
            <p:nvSpPr>
              <p:cNvPr id="19" name="Freeform 19"/>
              <p:cNvSpPr/>
              <p:nvPr/>
            </p:nvSpPr>
            <p:spPr>
              <a:xfrm>
                <a:off x="2483644" y="2367756"/>
                <a:ext cx="157163" cy="128438"/>
              </a:xfrm>
              <a:custGeom>
                <a:avLst/>
                <a:gdLst/>
                <a:ahLst/>
                <a:cxnLst/>
                <a:rect l="l" t="t" r="r" b="b"/>
                <a:pathLst>
                  <a:path w="157163" h="128438">
                    <a:moveTo>
                      <a:pt x="26194" y="0"/>
                    </a:moveTo>
                    <a:lnTo>
                      <a:pt x="130969" y="0"/>
                    </a:lnTo>
                    <a:lnTo>
                      <a:pt x="157163" y="43656"/>
                    </a:lnTo>
                    <a:lnTo>
                      <a:pt x="82947" y="126603"/>
                    </a:lnTo>
                    <a:cubicBezTo>
                      <a:pt x="81797" y="127776"/>
                      <a:pt x="80224" y="128438"/>
                      <a:pt x="78581" y="128438"/>
                    </a:cubicBezTo>
                    <a:cubicBezTo>
                      <a:pt x="76939" y="128438"/>
                      <a:pt x="75365" y="127776"/>
                      <a:pt x="74216" y="126603"/>
                    </a:cubicBezTo>
                    <a:lnTo>
                      <a:pt x="0" y="43656"/>
                    </a:lnTo>
                    <a:lnTo>
                      <a:pt x="26194" y="0"/>
                    </a:lnTo>
                  </a:path>
                </a:pathLst>
              </a:custGeom>
              <a:noFill/>
              <a:ln w="17463">
                <a:solidFill>
                  <a:srgbClr val="FFFFFF"/>
                </a:solidFill>
              </a:ln>
            </p:spPr>
          </p:sp>
          <p:sp>
            <p:nvSpPr>
              <p:cNvPr id="20" name="Freeform 20"/>
              <p:cNvSpPr/>
              <p:nvPr/>
            </p:nvSpPr>
            <p:spPr>
              <a:xfrm>
                <a:off x="2527300" y="2400935"/>
                <a:ext cx="17463" cy="27940"/>
              </a:xfrm>
              <a:custGeom>
                <a:avLst/>
                <a:gdLst/>
                <a:ahLst/>
                <a:cxnLst/>
                <a:rect l="l" t="t" r="r" b="b"/>
                <a:pathLst>
                  <a:path w="17463" h="27940">
                    <a:moveTo>
                      <a:pt x="17463" y="27940"/>
                    </a:moveTo>
                    <a:lnTo>
                      <a:pt x="0" y="8731"/>
                    </a:lnTo>
                    <a:lnTo>
                      <a:pt x="5239" y="0"/>
                    </a:lnTo>
                  </a:path>
                </a:pathLst>
              </a:custGeom>
              <a:noFill/>
              <a:ln w="17463">
                <a:solidFill>
                  <a:srgbClr val="FFFFFF"/>
                </a:solidFill>
              </a:ln>
            </p:spPr>
          </p:sp>
        </p:grpSp>
        <p:sp>
          <p:nvSpPr>
            <p:cNvPr id="22" name="TextBox 22"/>
            <p:cNvSpPr txBox="1"/>
            <p:nvPr/>
          </p:nvSpPr>
          <p:spPr>
            <a:xfrm>
              <a:off x="3301472" y="2346960"/>
              <a:ext cx="101705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L4　贵宾客户</a:t>
              </a:r>
            </a:p>
          </p:txBody>
        </p:sp>
        <p:sp>
          <p:nvSpPr>
            <p:cNvPr id="23" name="TextBox 23"/>
            <p:cNvSpPr txBox="1"/>
            <p:nvPr/>
          </p:nvSpPr>
          <p:spPr>
            <a:xfrm>
              <a:off x="5500688" y="2364343"/>
              <a:ext cx="1186917" cy="169069"/>
            </a:xfrm>
            <a:prstGeom prst="rect">
              <a:avLst/>
            </a:prstGeom>
            <a:noFill/>
            <a:ln>
              <a:noFill/>
            </a:ln>
          </p:spPr>
          <p:txBody>
            <a:bodyPr wrap="none" lIns="0" tIns="0" rIns="0" bIns="0" anchor="t" anchorCtr="0">
              <a:spAutoFit/>
            </a:bodyPr>
            <a:lstStyle/>
            <a:p>
              <a:pPr algn="l"/>
              <a:r>
                <a:rPr lang="zh-CN" sz="860" dirty="0">
                  <a:solidFill>
                    <a:srgbClr val="4A4A4A"/>
                  </a:solidFill>
                  <a:latin typeface="+mn-lt"/>
                  <a:ea typeface="+mn-ea"/>
                  <a:cs typeface="+mn-cs"/>
                </a:rPr>
                <a:t xml:space="preserve">较高AUM / 留存提升　</a:t>
              </a:r>
            </a:p>
          </p:txBody>
        </p:sp>
        <p:sp>
          <p:nvSpPr>
            <p:cNvPr id="24" name="Polygon 24"/>
            <p:cNvSpPr/>
            <p:nvPr/>
          </p:nvSpPr>
          <p:spPr>
            <a:xfrm>
              <a:off x="1733550" y="2705100"/>
              <a:ext cx="4152900" cy="571500"/>
            </a:xfrm>
            <a:custGeom>
              <a:avLst/>
              <a:gdLst/>
              <a:ahLst/>
              <a:cxnLst/>
              <a:rect l="l" t="t" r="r" b="b"/>
              <a:pathLst>
                <a:path w="4152900" h="571500">
                  <a:moveTo>
                    <a:pt x="342900" y="0"/>
                  </a:moveTo>
                  <a:lnTo>
                    <a:pt x="3810000" y="0"/>
                  </a:lnTo>
                  <a:lnTo>
                    <a:pt x="4152900" y="571500"/>
                  </a:lnTo>
                  <a:lnTo>
                    <a:pt x="0" y="571500"/>
                  </a:lnTo>
                  <a:close/>
                </a:path>
              </a:pathLst>
            </a:custGeom>
            <a:solidFill>
              <a:srgbClr val="D99285"/>
            </a:solidFill>
            <a:ln>
              <a:noFill/>
            </a:ln>
          </p:spPr>
        </p:sp>
        <p:grpSp>
          <p:nvGrpSpPr>
            <p:cNvPr id="27" name="Group 27"/>
            <p:cNvGrpSpPr/>
            <p:nvPr/>
          </p:nvGrpSpPr>
          <p:grpSpPr>
            <a:xfrm>
              <a:off x="2140744" y="2994819"/>
              <a:ext cx="157163" cy="87313"/>
              <a:chOff x="2140744" y="2994819"/>
              <a:chExt cx="157163" cy="87313"/>
            </a:xfrm>
          </p:grpSpPr>
          <p:sp>
            <p:nvSpPr>
              <p:cNvPr id="25" name="Freeform 25"/>
              <p:cNvSpPr/>
              <p:nvPr/>
            </p:nvSpPr>
            <p:spPr>
              <a:xfrm>
                <a:off x="2140744" y="299481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FFFFFF"/>
                </a:solidFill>
              </a:ln>
            </p:spPr>
          </p:sp>
          <p:sp>
            <p:nvSpPr>
              <p:cNvPr id="26" name="Freeform 26"/>
              <p:cNvSpPr/>
              <p:nvPr/>
            </p:nvSpPr>
            <p:spPr>
              <a:xfrm>
                <a:off x="2236788" y="2994819"/>
                <a:ext cx="61119" cy="61119"/>
              </a:xfrm>
              <a:custGeom>
                <a:avLst/>
                <a:gdLst/>
                <a:ahLst/>
                <a:cxnLst/>
                <a:rect l="l" t="t" r="r" b="b"/>
                <a:pathLst>
                  <a:path w="61119" h="61119">
                    <a:moveTo>
                      <a:pt x="0" y="0"/>
                    </a:moveTo>
                    <a:lnTo>
                      <a:pt x="61119" y="0"/>
                    </a:lnTo>
                    <a:lnTo>
                      <a:pt x="61119" y="61119"/>
                    </a:lnTo>
                  </a:path>
                </a:pathLst>
              </a:custGeom>
              <a:noFill/>
              <a:ln w="17463">
                <a:solidFill>
                  <a:srgbClr val="FFFFFF"/>
                </a:solidFill>
              </a:ln>
            </p:spPr>
          </p:sp>
        </p:grpSp>
        <p:sp>
          <p:nvSpPr>
            <p:cNvPr id="28" name="TextBox 28"/>
            <p:cNvSpPr txBox="1"/>
            <p:nvPr/>
          </p:nvSpPr>
          <p:spPr>
            <a:xfrm>
              <a:off x="3301472" y="2956560"/>
              <a:ext cx="101705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L3　成长客户</a:t>
              </a:r>
            </a:p>
          </p:txBody>
        </p:sp>
        <p:sp>
          <p:nvSpPr>
            <p:cNvPr id="29" name="TextBox 29"/>
            <p:cNvSpPr txBox="1"/>
            <p:nvPr/>
          </p:nvSpPr>
          <p:spPr>
            <a:xfrm>
              <a:off x="5843588" y="2973943"/>
              <a:ext cx="1416169" cy="169069"/>
            </a:xfrm>
            <a:prstGeom prst="rect">
              <a:avLst/>
            </a:prstGeom>
            <a:noFill/>
            <a:ln>
              <a:noFill/>
            </a:ln>
          </p:spPr>
          <p:txBody>
            <a:bodyPr wrap="none" lIns="0" tIns="0" rIns="0" bIns="0" anchor="t" anchorCtr="0">
              <a:spAutoFit/>
            </a:bodyPr>
            <a:lstStyle/>
            <a:p>
              <a:pPr algn="l"/>
              <a:r>
                <a:rPr lang="zh-CN" sz="860" dirty="0">
                  <a:solidFill>
                    <a:srgbClr val="4A4A4A"/>
                  </a:solidFill>
                  <a:latin typeface="+mn-lt"/>
                  <a:ea typeface="+mn-ea"/>
                  <a:cs typeface="+mn-cs"/>
                </a:rPr>
                <a:t>资产收入提升 / 主账户迁移</a:t>
              </a:r>
            </a:p>
          </p:txBody>
        </p:sp>
        <p:sp>
          <p:nvSpPr>
            <p:cNvPr id="30" name="Polygon 30"/>
            <p:cNvSpPr/>
            <p:nvPr/>
          </p:nvSpPr>
          <p:spPr>
            <a:xfrm>
              <a:off x="1390650" y="3314700"/>
              <a:ext cx="4838700" cy="571500"/>
            </a:xfrm>
            <a:custGeom>
              <a:avLst/>
              <a:gdLst/>
              <a:ahLst/>
              <a:cxnLst/>
              <a:rect l="l" t="t" r="r" b="b"/>
              <a:pathLst>
                <a:path w="4838700" h="571500">
                  <a:moveTo>
                    <a:pt x="342900" y="0"/>
                  </a:moveTo>
                  <a:lnTo>
                    <a:pt x="4495800" y="0"/>
                  </a:lnTo>
                  <a:lnTo>
                    <a:pt x="4838700" y="571500"/>
                  </a:lnTo>
                  <a:lnTo>
                    <a:pt x="0" y="571500"/>
                  </a:lnTo>
                  <a:close/>
                </a:path>
              </a:pathLst>
            </a:custGeom>
            <a:solidFill>
              <a:srgbClr val="E8DCC3"/>
            </a:solidFill>
            <a:ln>
              <a:noFill/>
            </a:ln>
          </p:spPr>
        </p:sp>
        <p:grpSp>
          <p:nvGrpSpPr>
            <p:cNvPr id="35" name="Group 35"/>
            <p:cNvGrpSpPr/>
            <p:nvPr/>
          </p:nvGrpSpPr>
          <p:grpSpPr>
            <a:xfrm>
              <a:off x="1797844" y="3578225"/>
              <a:ext cx="157163" cy="149225"/>
              <a:chOff x="1797844" y="3578225"/>
              <a:chExt cx="157163" cy="149225"/>
            </a:xfrm>
          </p:grpSpPr>
          <p:sp>
            <p:nvSpPr>
              <p:cNvPr id="31" name="Freeform 31"/>
              <p:cNvSpPr/>
              <p:nvPr/>
            </p:nvSpPr>
            <p:spPr>
              <a:xfrm>
                <a:off x="1797844" y="364807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32" name="Freeform 32"/>
              <p:cNvSpPr/>
              <p:nvPr/>
            </p:nvSpPr>
            <p:spPr>
              <a:xfrm>
                <a:off x="1902619" y="361315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33" name="Freeform 33"/>
              <p:cNvSpPr/>
              <p:nvPr/>
            </p:nvSpPr>
            <p:spPr>
              <a:xfrm>
                <a:off x="1850231" y="357822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34" name="Freeform 34"/>
              <p:cNvSpPr/>
              <p:nvPr/>
            </p:nvSpPr>
            <p:spPr>
              <a:xfrm>
                <a:off x="1806575" y="3717925"/>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36" name="TextBox 36"/>
            <p:cNvSpPr txBox="1"/>
            <p:nvPr/>
          </p:nvSpPr>
          <p:spPr>
            <a:xfrm>
              <a:off x="3301472" y="3566160"/>
              <a:ext cx="101705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L2　有效客户</a:t>
              </a:r>
            </a:p>
          </p:txBody>
        </p:sp>
        <p:sp>
          <p:nvSpPr>
            <p:cNvPr id="37" name="TextBox 37"/>
            <p:cNvSpPr txBox="1"/>
            <p:nvPr/>
          </p:nvSpPr>
          <p:spPr>
            <a:xfrm>
              <a:off x="6186488" y="3583543"/>
              <a:ext cx="1068850" cy="169069"/>
            </a:xfrm>
            <a:prstGeom prst="rect">
              <a:avLst/>
            </a:prstGeom>
            <a:noFill/>
            <a:ln>
              <a:noFill/>
            </a:ln>
          </p:spPr>
          <p:txBody>
            <a:bodyPr wrap="none" lIns="0" tIns="0" rIns="0" bIns="0" anchor="t" anchorCtr="0">
              <a:spAutoFit/>
            </a:bodyPr>
            <a:lstStyle/>
            <a:p>
              <a:pPr algn="l"/>
              <a:r>
                <a:rPr lang="zh-CN" sz="860" dirty="0">
                  <a:solidFill>
                    <a:srgbClr val="4A4A4A"/>
                  </a:solidFill>
                  <a:latin typeface="+mn-lt"/>
                  <a:ea typeface="+mn-ea"/>
                  <a:cs typeface="+mn-cs"/>
                </a:rPr>
                <a:t>稳定交易 / 产品深化</a:t>
              </a:r>
            </a:p>
          </p:txBody>
        </p:sp>
        <p:sp>
          <p:nvSpPr>
            <p:cNvPr id="38" name="Polygon 38"/>
            <p:cNvSpPr/>
            <p:nvPr/>
          </p:nvSpPr>
          <p:spPr>
            <a:xfrm>
              <a:off x="1047750" y="3924300"/>
              <a:ext cx="5524500" cy="571500"/>
            </a:xfrm>
            <a:custGeom>
              <a:avLst/>
              <a:gdLst/>
              <a:ahLst/>
              <a:cxnLst/>
              <a:rect l="l" t="t" r="r" b="b"/>
              <a:pathLst>
                <a:path w="5524500" h="571500">
                  <a:moveTo>
                    <a:pt x="342900" y="0"/>
                  </a:moveTo>
                  <a:lnTo>
                    <a:pt x="5181600" y="0"/>
                  </a:lnTo>
                  <a:lnTo>
                    <a:pt x="5524500" y="571500"/>
                  </a:lnTo>
                  <a:lnTo>
                    <a:pt x="0" y="571500"/>
                  </a:lnTo>
                  <a:close/>
                </a:path>
              </a:pathLst>
            </a:custGeom>
            <a:solidFill>
              <a:srgbClr val="E3E0DA"/>
            </a:solidFill>
            <a:ln>
              <a:noFill/>
            </a:ln>
          </p:spPr>
        </p:sp>
        <p:grpSp>
          <p:nvGrpSpPr>
            <p:cNvPr id="45" name="Group 45"/>
            <p:cNvGrpSpPr/>
            <p:nvPr/>
          </p:nvGrpSpPr>
          <p:grpSpPr>
            <a:xfrm>
              <a:off x="1454944" y="4179094"/>
              <a:ext cx="157162" cy="157163"/>
              <a:chOff x="1454944" y="4179094"/>
              <a:chExt cx="157162" cy="157163"/>
            </a:xfrm>
          </p:grpSpPr>
          <p:sp>
            <p:nvSpPr>
              <p:cNvPr id="39" name="Freeform 39"/>
              <p:cNvSpPr/>
              <p:nvPr/>
            </p:nvSpPr>
            <p:spPr>
              <a:xfrm>
                <a:off x="1516063" y="42489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D5C55"/>
                </a:solidFill>
              </a:ln>
            </p:spPr>
          </p:sp>
          <p:sp>
            <p:nvSpPr>
              <p:cNvPr id="40" name="Freeform 40"/>
              <p:cNvSpPr/>
              <p:nvPr/>
            </p:nvSpPr>
            <p:spPr>
              <a:xfrm>
                <a:off x="1498600" y="431006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7D5C55"/>
                </a:solidFill>
              </a:ln>
            </p:spPr>
          </p:sp>
          <p:sp>
            <p:nvSpPr>
              <p:cNvPr id="41" name="Freeform 41"/>
              <p:cNvSpPr/>
              <p:nvPr/>
            </p:nvSpPr>
            <p:spPr>
              <a:xfrm>
                <a:off x="1559719" y="41790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D5C55"/>
                </a:solidFill>
              </a:ln>
            </p:spPr>
          </p:sp>
          <p:sp>
            <p:nvSpPr>
              <p:cNvPr id="42" name="Freeform 42"/>
              <p:cNvSpPr/>
              <p:nvPr/>
            </p:nvSpPr>
            <p:spPr>
              <a:xfrm>
                <a:off x="1577181" y="424021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7D5C55"/>
                </a:solidFill>
              </a:ln>
            </p:spPr>
          </p:sp>
          <p:sp>
            <p:nvSpPr>
              <p:cNvPr id="43" name="Freeform 43"/>
              <p:cNvSpPr/>
              <p:nvPr/>
            </p:nvSpPr>
            <p:spPr>
              <a:xfrm>
                <a:off x="1472406" y="41790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7D5C55"/>
                </a:solidFill>
              </a:ln>
            </p:spPr>
          </p:sp>
          <p:sp>
            <p:nvSpPr>
              <p:cNvPr id="44" name="Freeform 44"/>
              <p:cNvSpPr/>
              <p:nvPr/>
            </p:nvSpPr>
            <p:spPr>
              <a:xfrm>
                <a:off x="1454944" y="424021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7D5C55"/>
                </a:solidFill>
              </a:ln>
            </p:spPr>
          </p:sp>
        </p:grpSp>
        <p:sp>
          <p:nvSpPr>
            <p:cNvPr id="46" name="TextBox 46"/>
            <p:cNvSpPr txBox="1"/>
            <p:nvPr/>
          </p:nvSpPr>
          <p:spPr>
            <a:xfrm>
              <a:off x="3301472" y="4175760"/>
              <a:ext cx="1017057" cy="234696"/>
            </a:xfrm>
            <a:prstGeom prst="rect">
              <a:avLst/>
            </a:prstGeom>
            <a:noFill/>
            <a:ln>
              <a:noFill/>
            </a:ln>
          </p:spPr>
          <p:txBody>
            <a:bodyPr wrap="none" lIns="0" tIns="0" rIns="0" bIns="0" anchor="t" anchorCtr="0">
              <a:spAutoFit/>
            </a:bodyPr>
            <a:lstStyle/>
            <a:p>
              <a:pPr algn="ctr"/>
              <a:r>
                <a:rPr lang="zh-CN" sz="1200" b="1" dirty="0">
                  <a:solidFill>
                    <a:srgbClr val="4A4A4A"/>
                  </a:solidFill>
                  <a:latin typeface="+mn-lt"/>
                  <a:ea typeface="+mn-ea"/>
                  <a:cs typeface="+mn-cs"/>
                </a:rPr>
                <a:t>L1　基础客户</a:t>
              </a:r>
            </a:p>
          </p:txBody>
        </p:sp>
        <p:sp>
          <p:nvSpPr>
            <p:cNvPr id="47" name="TextBox 47"/>
            <p:cNvSpPr txBox="1"/>
            <p:nvPr/>
          </p:nvSpPr>
          <p:spPr>
            <a:xfrm>
              <a:off x="6529388" y="4193143"/>
              <a:ext cx="1068850" cy="169069"/>
            </a:xfrm>
            <a:prstGeom prst="rect">
              <a:avLst/>
            </a:prstGeom>
            <a:noFill/>
            <a:ln>
              <a:noFill/>
            </a:ln>
          </p:spPr>
          <p:txBody>
            <a:bodyPr wrap="none" lIns="0" tIns="0" rIns="0" bIns="0" anchor="t" anchorCtr="0">
              <a:spAutoFit/>
            </a:bodyPr>
            <a:lstStyle/>
            <a:p>
              <a:pPr algn="l"/>
              <a:r>
                <a:rPr lang="zh-CN" sz="860" dirty="0">
                  <a:solidFill>
                    <a:srgbClr val="4A4A4A"/>
                  </a:solidFill>
                  <a:latin typeface="+mn-lt"/>
                  <a:ea typeface="+mn-ea"/>
                  <a:cs typeface="+mn-cs"/>
                </a:rPr>
                <a:t>低资产低活跃 / 激活</a:t>
              </a:r>
            </a:p>
          </p:txBody>
        </p:sp>
        <p:sp>
          <p:nvSpPr>
            <p:cNvPr id="48" name="Polygon 48"/>
            <p:cNvSpPr/>
            <p:nvPr/>
          </p:nvSpPr>
          <p:spPr>
            <a:xfrm>
              <a:off x="704850" y="4533900"/>
              <a:ext cx="6210300" cy="571500"/>
            </a:xfrm>
            <a:custGeom>
              <a:avLst/>
              <a:gdLst/>
              <a:ahLst/>
              <a:cxnLst/>
              <a:rect l="l" t="t" r="r" b="b"/>
              <a:pathLst>
                <a:path w="6210300" h="571500">
                  <a:moveTo>
                    <a:pt x="342900" y="0"/>
                  </a:moveTo>
                  <a:lnTo>
                    <a:pt x="5867400" y="0"/>
                  </a:lnTo>
                  <a:lnTo>
                    <a:pt x="6210300" y="571500"/>
                  </a:lnTo>
                  <a:lnTo>
                    <a:pt x="0" y="571500"/>
                  </a:lnTo>
                  <a:close/>
                </a:path>
              </a:pathLst>
            </a:custGeom>
            <a:solidFill>
              <a:srgbClr val="D5D2CB"/>
            </a:solidFill>
            <a:ln>
              <a:noFill/>
            </a:ln>
          </p:spPr>
        </p:sp>
        <p:grpSp>
          <p:nvGrpSpPr>
            <p:cNvPr id="53" name="Group 53"/>
            <p:cNvGrpSpPr/>
            <p:nvPr/>
          </p:nvGrpSpPr>
          <p:grpSpPr>
            <a:xfrm>
              <a:off x="1138238" y="4788694"/>
              <a:ext cx="139700" cy="165894"/>
              <a:chOff x="1138238" y="4788694"/>
              <a:chExt cx="139700" cy="165894"/>
            </a:xfrm>
          </p:grpSpPr>
          <p:sp>
            <p:nvSpPr>
              <p:cNvPr id="49" name="Freeform 49"/>
              <p:cNvSpPr/>
              <p:nvPr/>
            </p:nvSpPr>
            <p:spPr>
              <a:xfrm>
                <a:off x="1155700" y="47886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7D5C55"/>
                </a:solidFill>
              </a:ln>
            </p:spPr>
          </p:sp>
          <p:sp>
            <p:nvSpPr>
              <p:cNvPr id="50" name="Freeform 50"/>
              <p:cNvSpPr/>
              <p:nvPr/>
            </p:nvSpPr>
            <p:spPr>
              <a:xfrm>
                <a:off x="1225550" y="4928394"/>
                <a:ext cx="52388" cy="9525"/>
              </a:xfrm>
              <a:custGeom>
                <a:avLst/>
                <a:gdLst/>
                <a:ahLst/>
                <a:cxnLst/>
                <a:rect l="l" t="t" r="r" b="b"/>
                <a:pathLst>
                  <a:path w="52388" h="9525">
                    <a:moveTo>
                      <a:pt x="0" y="0"/>
                    </a:moveTo>
                    <a:lnTo>
                      <a:pt x="52388" y="0"/>
                    </a:lnTo>
                  </a:path>
                </a:pathLst>
              </a:custGeom>
              <a:noFill/>
              <a:ln w="17463">
                <a:solidFill>
                  <a:srgbClr val="7D5C55"/>
                </a:solidFill>
              </a:ln>
            </p:spPr>
          </p:sp>
          <p:sp>
            <p:nvSpPr>
              <p:cNvPr id="51" name="Freeform 51"/>
              <p:cNvSpPr/>
              <p:nvPr/>
            </p:nvSpPr>
            <p:spPr>
              <a:xfrm>
                <a:off x="1251744" y="4902200"/>
                <a:ext cx="9525" cy="52388"/>
              </a:xfrm>
              <a:custGeom>
                <a:avLst/>
                <a:gdLst/>
                <a:ahLst/>
                <a:cxnLst/>
                <a:rect l="l" t="t" r="r" b="b"/>
                <a:pathLst>
                  <a:path w="9525" h="52388">
                    <a:moveTo>
                      <a:pt x="0" y="0"/>
                    </a:moveTo>
                    <a:lnTo>
                      <a:pt x="0" y="52388"/>
                    </a:lnTo>
                  </a:path>
                </a:pathLst>
              </a:custGeom>
              <a:noFill/>
              <a:ln w="17463">
                <a:solidFill>
                  <a:srgbClr val="7D5C55"/>
                </a:solidFill>
              </a:ln>
            </p:spPr>
          </p:sp>
          <p:sp>
            <p:nvSpPr>
              <p:cNvPr id="52" name="Freeform 52"/>
              <p:cNvSpPr/>
              <p:nvPr/>
            </p:nvSpPr>
            <p:spPr>
              <a:xfrm>
                <a:off x="1138238" y="48934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7D5C55"/>
                </a:solidFill>
              </a:ln>
            </p:spPr>
          </p:sp>
        </p:grpSp>
        <p:sp>
          <p:nvSpPr>
            <p:cNvPr id="54" name="TextBox 54"/>
            <p:cNvSpPr txBox="1"/>
            <p:nvPr/>
          </p:nvSpPr>
          <p:spPr>
            <a:xfrm>
              <a:off x="3301472" y="4785360"/>
              <a:ext cx="1017057" cy="234696"/>
            </a:xfrm>
            <a:prstGeom prst="rect">
              <a:avLst/>
            </a:prstGeom>
            <a:noFill/>
            <a:ln>
              <a:noFill/>
            </a:ln>
          </p:spPr>
          <p:txBody>
            <a:bodyPr wrap="none" lIns="0" tIns="0" rIns="0" bIns="0" anchor="t" anchorCtr="0">
              <a:spAutoFit/>
            </a:bodyPr>
            <a:lstStyle/>
            <a:p>
              <a:pPr algn="ctr"/>
              <a:r>
                <a:rPr lang="zh-CN" sz="1200" b="1" dirty="0">
                  <a:solidFill>
                    <a:srgbClr val="4A4A4A"/>
                  </a:solidFill>
                  <a:latin typeface="+mn-lt"/>
                  <a:ea typeface="+mn-ea"/>
                  <a:cs typeface="+mn-cs"/>
                </a:rPr>
                <a:t>L0　潜在客户</a:t>
              </a:r>
            </a:p>
          </p:txBody>
        </p:sp>
        <p:sp>
          <p:nvSpPr>
            <p:cNvPr id="55" name="TextBox 55"/>
            <p:cNvSpPr txBox="1"/>
            <p:nvPr/>
          </p:nvSpPr>
          <p:spPr>
            <a:xfrm>
              <a:off x="6872288" y="4802743"/>
              <a:ext cx="1184623" cy="169069"/>
            </a:xfrm>
            <a:prstGeom prst="rect">
              <a:avLst/>
            </a:prstGeom>
            <a:noFill/>
            <a:ln>
              <a:noFill/>
            </a:ln>
          </p:spPr>
          <p:txBody>
            <a:bodyPr wrap="none" lIns="0" tIns="0" rIns="0" bIns="0" anchor="t" anchorCtr="0">
              <a:spAutoFit/>
            </a:bodyPr>
            <a:lstStyle/>
            <a:p>
              <a:pPr algn="l"/>
              <a:r>
                <a:rPr lang="zh-CN" sz="860" dirty="0">
                  <a:solidFill>
                    <a:srgbClr val="4A4A4A"/>
                  </a:solidFill>
                  <a:latin typeface="+mn-lt"/>
                  <a:ea typeface="+mn-ea"/>
                  <a:cs typeface="+mn-cs"/>
                </a:rPr>
                <a:t>留资未开户 / 开户转化</a:t>
              </a:r>
            </a:p>
          </p:txBody>
        </p:sp>
      </p:grpSp>
      <p:grpSp>
        <p:nvGrpSpPr>
          <p:cNvPr id="106" name="service-ladder"/>
          <p:cNvGrpSpPr/>
          <p:nvPr/>
        </p:nvGrpSpPr>
        <p:grpSpPr>
          <a:xfrm>
            <a:off x="9048750" y="838200"/>
            <a:ext cx="2809875" cy="4400550"/>
            <a:chOff x="9048750" y="838200"/>
            <a:chExt cx="2809875" cy="4400550"/>
          </a:xfrm>
        </p:grpSpPr>
        <p:sp>
          <p:nvSpPr>
            <p:cNvPr id="57" name="Rectangle 57"/>
            <p:cNvSpPr/>
            <p:nvPr/>
          </p:nvSpPr>
          <p:spPr>
            <a:xfrm>
              <a:off x="9048750" y="838200"/>
              <a:ext cx="2809875" cy="4400550"/>
            </a:xfrm>
            <a:prstGeom prst="roundRect">
              <a:avLst>
                <a:gd name="adj" fmla="val 4746"/>
              </a:avLst>
            </a:prstGeom>
            <a:solidFill>
              <a:srgbClr val="FFFFFF"/>
            </a:solidFill>
            <a:ln w="9525">
              <a:solidFill>
                <a:srgbClr val="E6D9C0"/>
              </a:solidFill>
            </a:ln>
          </p:spPr>
        </p:sp>
        <p:sp>
          <p:nvSpPr>
            <p:cNvPr id="58" name="Rectangle 58"/>
            <p:cNvSpPr/>
            <p:nvPr/>
          </p:nvSpPr>
          <p:spPr>
            <a:xfrm>
              <a:off x="9601200" y="971550"/>
              <a:ext cx="1714500" cy="266700"/>
            </a:xfrm>
            <a:prstGeom prst="roundRect">
              <a:avLst>
                <a:gd name="adj" fmla="val 50000"/>
              </a:avLst>
            </a:prstGeom>
            <a:solidFill>
              <a:srgbClr val="A3381F"/>
            </a:solidFill>
            <a:ln>
              <a:noFill/>
            </a:ln>
          </p:spPr>
        </p:sp>
        <p:sp>
          <p:nvSpPr>
            <p:cNvPr id="59" name="TextBox 59"/>
            <p:cNvSpPr txBox="1"/>
            <p:nvPr/>
          </p:nvSpPr>
          <p:spPr>
            <a:xfrm>
              <a:off x="9925787" y="1047274"/>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服务资源由低到高</a:t>
              </a:r>
            </a:p>
          </p:txBody>
        </p:sp>
        <p:sp>
          <p:nvSpPr>
            <p:cNvPr id="60" name="TextBox 60"/>
            <p:cNvSpPr txBox="1"/>
            <p:nvPr/>
          </p:nvSpPr>
          <p:spPr>
            <a:xfrm>
              <a:off x="9473133" y="1399699"/>
              <a:ext cx="141834" cy="190690"/>
            </a:xfrm>
            <a:prstGeom prst="rect">
              <a:avLst/>
            </a:prstGeom>
            <a:noFill/>
            <a:ln>
              <a:noFill/>
            </a:ln>
          </p:spPr>
          <p:txBody>
            <a:bodyPr wrap="none" lIns="0" tIns="0" rIns="0" bIns="0" anchor="t" anchorCtr="0">
              <a:spAutoFit/>
            </a:bodyPr>
            <a:lstStyle/>
            <a:p>
              <a:pPr algn="ctr"/>
              <a:r>
                <a:rPr lang="zh-CN" sz="980" b="1" dirty="0">
                  <a:solidFill>
                    <a:srgbClr val="A3381F"/>
                  </a:solidFill>
                  <a:latin typeface="+mn-lt"/>
                  <a:ea typeface="+mn-ea"/>
                  <a:cs typeface="+mn-cs"/>
                </a:rPr>
                <a:t>高</a:t>
              </a:r>
            </a:p>
          </p:txBody>
        </p:sp>
        <p:sp>
          <p:nvSpPr>
            <p:cNvPr id="61" name="TextBox 61"/>
            <p:cNvSpPr txBox="1"/>
            <p:nvPr/>
          </p:nvSpPr>
          <p:spPr>
            <a:xfrm>
              <a:off x="9473133" y="5000149"/>
              <a:ext cx="141834" cy="190690"/>
            </a:xfrm>
            <a:prstGeom prst="rect">
              <a:avLst/>
            </a:prstGeom>
            <a:noFill/>
            <a:ln>
              <a:noFill/>
            </a:ln>
          </p:spPr>
          <p:txBody>
            <a:bodyPr wrap="none" lIns="0" tIns="0" rIns="0" bIns="0" anchor="t" anchorCtr="0">
              <a:spAutoFit/>
            </a:bodyPr>
            <a:lstStyle/>
            <a:p>
              <a:pPr algn="ctr"/>
              <a:r>
                <a:rPr lang="zh-CN" sz="980" b="1" dirty="0">
                  <a:solidFill>
                    <a:srgbClr val="8A8A8A"/>
                  </a:solidFill>
                  <a:latin typeface="+mn-lt"/>
                  <a:ea typeface="+mn-ea"/>
                  <a:cs typeface="+mn-cs"/>
                </a:rPr>
                <a:t>低</a:t>
              </a:r>
            </a:p>
          </p:txBody>
        </p:sp>
        <p:sp>
          <p:nvSpPr>
            <p:cNvPr id="62" name="Polygon 62"/>
            <p:cNvSpPr/>
            <p:nvPr/>
          </p:nvSpPr>
          <p:spPr>
            <a:xfrm>
              <a:off x="9410700" y="1619250"/>
              <a:ext cx="266700" cy="3200400"/>
            </a:xfrm>
            <a:custGeom>
              <a:avLst/>
              <a:gdLst/>
              <a:ahLst/>
              <a:cxnLst/>
              <a:rect l="l" t="t" r="r" b="b"/>
              <a:pathLst>
                <a:path w="266700" h="3200400">
                  <a:moveTo>
                    <a:pt x="133350" y="0"/>
                  </a:moveTo>
                  <a:lnTo>
                    <a:pt x="266700" y="685800"/>
                  </a:lnTo>
                  <a:lnTo>
                    <a:pt x="266700" y="3200400"/>
                  </a:lnTo>
                  <a:lnTo>
                    <a:pt x="0" y="3200400"/>
                  </a:lnTo>
                  <a:lnTo>
                    <a:pt x="0" y="685800"/>
                  </a:lnTo>
                  <a:close/>
                </a:path>
              </a:pathLst>
            </a:custGeom>
            <a:gradFill>
              <a:gsLst>
                <a:gs pos="0">
                  <a:srgbClr val="D99285"/>
                </a:gs>
                <a:gs pos="100000">
                  <a:srgbClr val="A3381F"/>
                </a:gs>
              </a:gsLst>
              <a:lin ang="16200000" scaled="1"/>
            </a:gradFill>
            <a:ln>
              <a:noFill/>
            </a:ln>
          </p:spPr>
        </p:sp>
        <p:sp>
          <p:nvSpPr>
            <p:cNvPr id="63" name="Line 63"/>
            <p:cNvSpPr/>
            <p:nvPr/>
          </p:nvSpPr>
          <p:spPr>
            <a:xfrm>
              <a:off x="9734550" y="1809750"/>
              <a:ext cx="400050" cy="9525"/>
            </a:xfrm>
            <a:custGeom>
              <a:avLst/>
              <a:gdLst/>
              <a:ahLst/>
              <a:cxnLst/>
              <a:rect l="l" t="t" r="r" b="b"/>
              <a:pathLst>
                <a:path w="400050" h="9525">
                  <a:moveTo>
                    <a:pt x="0" y="0"/>
                  </a:moveTo>
                  <a:lnTo>
                    <a:pt x="400050" y="0"/>
                  </a:lnTo>
                </a:path>
              </a:pathLst>
            </a:custGeom>
            <a:noFill/>
            <a:ln w="9525">
              <a:solidFill>
                <a:srgbClr val="C9796B">
                  <a:alpha val="70000"/>
                </a:srgbClr>
              </a:solidFill>
              <a:custDash>
                <a:ds d="200000" sp="300000"/>
              </a:custDash>
            </a:ln>
          </p:spPr>
        </p:sp>
        <p:sp>
          <p:nvSpPr>
            <p:cNvPr id="64" name="Ellipse 64"/>
            <p:cNvSpPr/>
            <p:nvPr/>
          </p:nvSpPr>
          <p:spPr>
            <a:xfrm>
              <a:off x="10201275" y="1628775"/>
              <a:ext cx="361950" cy="361950"/>
            </a:xfrm>
            <a:prstGeom prst="ellipse">
              <a:avLst/>
            </a:prstGeom>
            <a:solidFill>
              <a:srgbClr val="A3381F"/>
            </a:solidFill>
            <a:ln>
              <a:noFill/>
            </a:ln>
          </p:spPr>
        </p:sp>
        <p:sp>
          <p:nvSpPr>
            <p:cNvPr id="65" name="Freeform 65"/>
            <p:cNvSpPr/>
            <p:nvPr/>
          </p:nvSpPr>
          <p:spPr>
            <a:xfrm>
              <a:off x="10310812" y="1762125"/>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FFFFFF"/>
              </a:solidFill>
            </a:ln>
          </p:spPr>
        </p:sp>
        <p:sp>
          <p:nvSpPr>
            <p:cNvPr id="66" name="TextBox 66"/>
            <p:cNvSpPr txBox="1"/>
            <p:nvPr/>
          </p:nvSpPr>
          <p:spPr>
            <a:xfrm>
              <a:off x="10662856" y="1690926"/>
              <a:ext cx="554152" cy="198025"/>
            </a:xfrm>
            <a:prstGeom prst="rect">
              <a:avLst/>
            </a:prstGeom>
            <a:noFill/>
            <a:ln>
              <a:noFill/>
            </a:ln>
          </p:spPr>
          <p:txBody>
            <a:bodyPr wrap="none" lIns="0" tIns="0" rIns="0" bIns="0" anchor="t" anchorCtr="0">
              <a:spAutoFit/>
            </a:bodyPr>
            <a:lstStyle/>
            <a:p>
              <a:pPr algn="l"/>
              <a:r>
                <a:rPr lang="zh-CN" sz="1010" b="1" dirty="0">
                  <a:solidFill>
                    <a:srgbClr val="5E3A33"/>
                  </a:solidFill>
                  <a:latin typeface="+mn-lt"/>
                  <a:ea typeface="+mn-ea"/>
                  <a:cs typeface="+mn-cs"/>
                </a:rPr>
                <a:t>专属定制</a:t>
              </a:r>
            </a:p>
          </p:txBody>
        </p:sp>
        <p:sp>
          <p:nvSpPr>
            <p:cNvPr id="67" name="TextBox 67"/>
            <p:cNvSpPr txBox="1"/>
            <p:nvPr/>
          </p:nvSpPr>
          <p:spPr>
            <a:xfrm>
              <a:off x="10663238" y="1885236"/>
              <a:ext cx="583006"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私行专属团队</a:t>
              </a:r>
            </a:p>
          </p:txBody>
        </p:sp>
        <p:sp>
          <p:nvSpPr>
            <p:cNvPr id="68" name="Line 68"/>
            <p:cNvSpPr/>
            <p:nvPr/>
          </p:nvSpPr>
          <p:spPr>
            <a:xfrm>
              <a:off x="9734550" y="2362200"/>
              <a:ext cx="400050" cy="9525"/>
            </a:xfrm>
            <a:custGeom>
              <a:avLst/>
              <a:gdLst/>
              <a:ahLst/>
              <a:cxnLst/>
              <a:rect l="l" t="t" r="r" b="b"/>
              <a:pathLst>
                <a:path w="400050" h="9525">
                  <a:moveTo>
                    <a:pt x="0" y="0"/>
                  </a:moveTo>
                  <a:lnTo>
                    <a:pt x="400050" y="0"/>
                  </a:lnTo>
                </a:path>
              </a:pathLst>
            </a:custGeom>
            <a:noFill/>
            <a:ln w="9525">
              <a:solidFill>
                <a:srgbClr val="C9796B">
                  <a:alpha val="70000"/>
                </a:srgbClr>
              </a:solidFill>
              <a:custDash>
                <a:ds d="200000" sp="300000"/>
              </a:custDash>
            </a:ln>
          </p:spPr>
        </p:sp>
        <p:sp>
          <p:nvSpPr>
            <p:cNvPr id="69" name="Ellipse 69"/>
            <p:cNvSpPr/>
            <p:nvPr/>
          </p:nvSpPr>
          <p:spPr>
            <a:xfrm>
              <a:off x="10201275" y="2181225"/>
              <a:ext cx="361950" cy="361950"/>
            </a:xfrm>
            <a:prstGeom prst="ellipse">
              <a:avLst/>
            </a:prstGeom>
            <a:solidFill>
              <a:srgbClr val="A3381F"/>
            </a:solidFill>
            <a:ln>
              <a:noFill/>
            </a:ln>
          </p:spPr>
        </p:sp>
        <p:grpSp>
          <p:nvGrpSpPr>
            <p:cNvPr id="76" name="Group 76"/>
            <p:cNvGrpSpPr/>
            <p:nvPr/>
          </p:nvGrpSpPr>
          <p:grpSpPr>
            <a:xfrm>
              <a:off x="10310812" y="2290762"/>
              <a:ext cx="142875" cy="142875"/>
              <a:chOff x="10310812" y="2290762"/>
              <a:chExt cx="142875" cy="142875"/>
            </a:xfrm>
          </p:grpSpPr>
          <p:sp>
            <p:nvSpPr>
              <p:cNvPr id="70" name="Freeform 70"/>
              <p:cNvSpPr/>
              <p:nvPr/>
            </p:nvSpPr>
            <p:spPr>
              <a:xfrm>
                <a:off x="10366375" y="23542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71" name="Freeform 71"/>
              <p:cNvSpPr/>
              <p:nvPr/>
            </p:nvSpPr>
            <p:spPr>
              <a:xfrm>
                <a:off x="10350500" y="24098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FFFFFF"/>
                </a:solidFill>
              </a:ln>
            </p:spPr>
          </p:sp>
          <p:sp>
            <p:nvSpPr>
              <p:cNvPr id="72" name="Freeform 72"/>
              <p:cNvSpPr/>
              <p:nvPr/>
            </p:nvSpPr>
            <p:spPr>
              <a:xfrm>
                <a:off x="10406062" y="22907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73" name="Freeform 73"/>
              <p:cNvSpPr/>
              <p:nvPr/>
            </p:nvSpPr>
            <p:spPr>
              <a:xfrm>
                <a:off x="10421937" y="23463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FFFFFF"/>
                </a:solidFill>
              </a:ln>
            </p:spPr>
          </p:sp>
          <p:sp>
            <p:nvSpPr>
              <p:cNvPr id="74" name="Freeform 74"/>
              <p:cNvSpPr/>
              <p:nvPr/>
            </p:nvSpPr>
            <p:spPr>
              <a:xfrm>
                <a:off x="10326687" y="22907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75" name="Freeform 75"/>
              <p:cNvSpPr/>
              <p:nvPr/>
            </p:nvSpPr>
            <p:spPr>
              <a:xfrm>
                <a:off x="10310812" y="23463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FFFFFF"/>
                </a:solidFill>
              </a:ln>
            </p:spPr>
          </p:sp>
        </p:grpSp>
        <p:sp>
          <p:nvSpPr>
            <p:cNvPr id="77" name="TextBox 77"/>
            <p:cNvSpPr txBox="1"/>
            <p:nvPr/>
          </p:nvSpPr>
          <p:spPr>
            <a:xfrm>
              <a:off x="10662856" y="2243376"/>
              <a:ext cx="554152" cy="198025"/>
            </a:xfrm>
            <a:prstGeom prst="rect">
              <a:avLst/>
            </a:prstGeom>
            <a:noFill/>
            <a:ln>
              <a:noFill/>
            </a:ln>
          </p:spPr>
          <p:txBody>
            <a:bodyPr wrap="none" lIns="0" tIns="0" rIns="0" bIns="0" anchor="t" anchorCtr="0">
              <a:spAutoFit/>
            </a:bodyPr>
            <a:lstStyle/>
            <a:p>
              <a:pPr algn="l"/>
              <a:r>
                <a:rPr lang="zh-CN" sz="1010" b="1" dirty="0">
                  <a:solidFill>
                    <a:srgbClr val="5E3A33"/>
                  </a:solidFill>
                  <a:latin typeface="+mn-lt"/>
                  <a:ea typeface="+mn-ea"/>
                  <a:cs typeface="+mn-cs"/>
                </a:rPr>
                <a:t>综合经营</a:t>
              </a:r>
            </a:p>
          </p:txBody>
        </p:sp>
        <p:sp>
          <p:nvSpPr>
            <p:cNvPr id="78" name="TextBox 78"/>
            <p:cNvSpPr txBox="1"/>
            <p:nvPr/>
          </p:nvSpPr>
          <p:spPr>
            <a:xfrm>
              <a:off x="10663238" y="2437686"/>
              <a:ext cx="678586"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多专业协同服务</a:t>
              </a:r>
            </a:p>
          </p:txBody>
        </p:sp>
        <p:sp>
          <p:nvSpPr>
            <p:cNvPr id="79" name="Line 79"/>
            <p:cNvSpPr/>
            <p:nvPr/>
          </p:nvSpPr>
          <p:spPr>
            <a:xfrm>
              <a:off x="9734550" y="2914650"/>
              <a:ext cx="400050" cy="9525"/>
            </a:xfrm>
            <a:custGeom>
              <a:avLst/>
              <a:gdLst/>
              <a:ahLst/>
              <a:cxnLst/>
              <a:rect l="l" t="t" r="r" b="b"/>
              <a:pathLst>
                <a:path w="400050" h="9525">
                  <a:moveTo>
                    <a:pt x="0" y="0"/>
                  </a:moveTo>
                  <a:lnTo>
                    <a:pt x="400050" y="0"/>
                  </a:lnTo>
                </a:path>
              </a:pathLst>
            </a:custGeom>
            <a:noFill/>
            <a:ln w="9525">
              <a:solidFill>
                <a:srgbClr val="C9796B">
                  <a:alpha val="70000"/>
                </a:srgbClr>
              </a:solidFill>
              <a:custDash>
                <a:ds d="200000" sp="300000"/>
              </a:custDash>
            </a:ln>
          </p:spPr>
        </p:sp>
        <p:sp>
          <p:nvSpPr>
            <p:cNvPr id="80" name="Ellipse 80"/>
            <p:cNvSpPr/>
            <p:nvPr/>
          </p:nvSpPr>
          <p:spPr>
            <a:xfrm>
              <a:off x="10201275" y="2733675"/>
              <a:ext cx="361950" cy="361950"/>
            </a:xfrm>
            <a:prstGeom prst="ellipse">
              <a:avLst/>
            </a:prstGeom>
            <a:solidFill>
              <a:srgbClr val="C26D5E"/>
            </a:solidFill>
            <a:ln>
              <a:noFill/>
            </a:ln>
          </p:spPr>
        </p:sp>
        <p:grpSp>
          <p:nvGrpSpPr>
            <p:cNvPr id="84" name="Group 84"/>
            <p:cNvGrpSpPr/>
            <p:nvPr/>
          </p:nvGrpSpPr>
          <p:grpSpPr>
            <a:xfrm>
              <a:off x="10314003" y="2843212"/>
              <a:ext cx="136478" cy="142002"/>
              <a:chOff x="10314003" y="2843212"/>
              <a:chExt cx="136478" cy="142002"/>
            </a:xfrm>
          </p:grpSpPr>
          <p:sp>
            <p:nvSpPr>
              <p:cNvPr id="81" name="Freeform 81"/>
              <p:cNvSpPr/>
              <p:nvPr/>
            </p:nvSpPr>
            <p:spPr>
              <a:xfrm>
                <a:off x="10334625" y="2843212"/>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FFFFFF"/>
                </a:solidFill>
              </a:ln>
            </p:spPr>
          </p:sp>
          <p:sp>
            <p:nvSpPr>
              <p:cNvPr id="82" name="Freeform 82"/>
              <p:cNvSpPr/>
              <p:nvPr/>
            </p:nvSpPr>
            <p:spPr>
              <a:xfrm>
                <a:off x="10382250" y="2914650"/>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FFFFFF"/>
                </a:solidFill>
              </a:ln>
            </p:spPr>
          </p:sp>
          <p:sp>
            <p:nvSpPr>
              <p:cNvPr id="83" name="Freeform 83"/>
              <p:cNvSpPr/>
              <p:nvPr/>
            </p:nvSpPr>
            <p:spPr>
              <a:xfrm>
                <a:off x="10314003" y="2914650"/>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FFFFFF"/>
                </a:solidFill>
              </a:ln>
            </p:spPr>
          </p:sp>
        </p:grpSp>
        <p:sp>
          <p:nvSpPr>
            <p:cNvPr id="85" name="TextBox 85"/>
            <p:cNvSpPr txBox="1"/>
            <p:nvPr/>
          </p:nvSpPr>
          <p:spPr>
            <a:xfrm>
              <a:off x="10662856" y="2795826"/>
              <a:ext cx="554152" cy="198025"/>
            </a:xfrm>
            <a:prstGeom prst="rect">
              <a:avLst/>
            </a:prstGeom>
            <a:noFill/>
            <a:ln>
              <a:noFill/>
            </a:ln>
          </p:spPr>
          <p:txBody>
            <a:bodyPr wrap="none" lIns="0" tIns="0" rIns="0" bIns="0" anchor="t" anchorCtr="0">
              <a:spAutoFit/>
            </a:bodyPr>
            <a:lstStyle/>
            <a:p>
              <a:pPr algn="l"/>
              <a:r>
                <a:rPr lang="zh-CN" sz="1010" b="1" dirty="0">
                  <a:solidFill>
                    <a:srgbClr val="5E3A33"/>
                  </a:solidFill>
                  <a:latin typeface="+mn-lt"/>
                  <a:ea typeface="+mn-ea"/>
                  <a:cs typeface="+mn-cs"/>
                </a:rPr>
                <a:t>专属服务</a:t>
              </a:r>
            </a:p>
          </p:txBody>
        </p:sp>
        <p:sp>
          <p:nvSpPr>
            <p:cNvPr id="86" name="TextBox 86"/>
            <p:cNvSpPr txBox="1"/>
            <p:nvPr/>
          </p:nvSpPr>
          <p:spPr>
            <a:xfrm>
              <a:off x="10663238" y="2990136"/>
              <a:ext cx="583006"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贵宾专属权益</a:t>
              </a:r>
            </a:p>
          </p:txBody>
        </p:sp>
        <p:sp>
          <p:nvSpPr>
            <p:cNvPr id="87" name="Line 87"/>
            <p:cNvSpPr/>
            <p:nvPr/>
          </p:nvSpPr>
          <p:spPr>
            <a:xfrm>
              <a:off x="9734550" y="3467100"/>
              <a:ext cx="400050" cy="9525"/>
            </a:xfrm>
            <a:custGeom>
              <a:avLst/>
              <a:gdLst/>
              <a:ahLst/>
              <a:cxnLst/>
              <a:rect l="l" t="t" r="r" b="b"/>
              <a:pathLst>
                <a:path w="400050" h="9525">
                  <a:moveTo>
                    <a:pt x="0" y="0"/>
                  </a:moveTo>
                  <a:lnTo>
                    <a:pt x="400050" y="0"/>
                  </a:lnTo>
                </a:path>
              </a:pathLst>
            </a:custGeom>
            <a:noFill/>
            <a:ln w="9525">
              <a:solidFill>
                <a:srgbClr val="C9796B">
                  <a:alpha val="70000"/>
                </a:srgbClr>
              </a:solidFill>
              <a:custDash>
                <a:ds d="200000" sp="300000"/>
              </a:custDash>
            </a:ln>
          </p:spPr>
        </p:sp>
        <p:sp>
          <p:nvSpPr>
            <p:cNvPr id="88" name="Ellipse 88"/>
            <p:cNvSpPr/>
            <p:nvPr/>
          </p:nvSpPr>
          <p:spPr>
            <a:xfrm>
              <a:off x="10201275" y="3286125"/>
              <a:ext cx="361950" cy="361950"/>
            </a:xfrm>
            <a:prstGeom prst="ellipse">
              <a:avLst/>
            </a:prstGeom>
            <a:solidFill>
              <a:srgbClr val="C26D5E"/>
            </a:solidFill>
            <a:ln>
              <a:noFill/>
            </a:ln>
          </p:spPr>
        </p:sp>
        <p:grpSp>
          <p:nvGrpSpPr>
            <p:cNvPr id="91" name="Group 91"/>
            <p:cNvGrpSpPr/>
            <p:nvPr/>
          </p:nvGrpSpPr>
          <p:grpSpPr>
            <a:xfrm>
              <a:off x="10310812" y="3427412"/>
              <a:ext cx="142875" cy="79375"/>
              <a:chOff x="10310812" y="3427412"/>
              <a:chExt cx="142875" cy="79375"/>
            </a:xfrm>
          </p:grpSpPr>
          <p:sp>
            <p:nvSpPr>
              <p:cNvPr id="89" name="Freeform 89"/>
              <p:cNvSpPr/>
              <p:nvPr/>
            </p:nvSpPr>
            <p:spPr>
              <a:xfrm>
                <a:off x="10310812" y="342741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90" name="Freeform 90"/>
              <p:cNvSpPr/>
              <p:nvPr/>
            </p:nvSpPr>
            <p:spPr>
              <a:xfrm>
                <a:off x="10398125" y="3427412"/>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92" name="TextBox 92"/>
            <p:cNvSpPr txBox="1"/>
            <p:nvPr/>
          </p:nvSpPr>
          <p:spPr>
            <a:xfrm>
              <a:off x="10662856" y="3348276"/>
              <a:ext cx="554152" cy="198025"/>
            </a:xfrm>
            <a:prstGeom prst="rect">
              <a:avLst/>
            </a:prstGeom>
            <a:noFill/>
            <a:ln>
              <a:noFill/>
            </a:ln>
          </p:spPr>
          <p:txBody>
            <a:bodyPr wrap="none" lIns="0" tIns="0" rIns="0" bIns="0" anchor="t" anchorCtr="0">
              <a:spAutoFit/>
            </a:bodyPr>
            <a:lstStyle/>
            <a:p>
              <a:pPr algn="l"/>
              <a:r>
                <a:rPr lang="zh-CN" sz="1010" b="1" dirty="0">
                  <a:solidFill>
                    <a:srgbClr val="5E3A33"/>
                  </a:solidFill>
                  <a:latin typeface="+mn-lt"/>
                  <a:ea typeface="+mn-ea"/>
                  <a:cs typeface="+mn-cs"/>
                </a:rPr>
                <a:t>优先服务</a:t>
              </a:r>
            </a:p>
          </p:txBody>
        </p:sp>
        <p:sp>
          <p:nvSpPr>
            <p:cNvPr id="93" name="TextBox 93"/>
            <p:cNvSpPr txBox="1"/>
            <p:nvPr/>
          </p:nvSpPr>
          <p:spPr>
            <a:xfrm>
              <a:off x="10663238" y="3542586"/>
              <a:ext cx="678586"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产品与服务优先</a:t>
              </a:r>
            </a:p>
          </p:txBody>
        </p:sp>
        <p:sp>
          <p:nvSpPr>
            <p:cNvPr id="94" name="Line 94"/>
            <p:cNvSpPr/>
            <p:nvPr/>
          </p:nvSpPr>
          <p:spPr>
            <a:xfrm>
              <a:off x="9734550" y="4019550"/>
              <a:ext cx="400050" cy="9525"/>
            </a:xfrm>
            <a:custGeom>
              <a:avLst/>
              <a:gdLst/>
              <a:ahLst/>
              <a:cxnLst/>
              <a:rect l="l" t="t" r="r" b="b"/>
              <a:pathLst>
                <a:path w="400050" h="9525">
                  <a:moveTo>
                    <a:pt x="0" y="0"/>
                  </a:moveTo>
                  <a:lnTo>
                    <a:pt x="400050" y="0"/>
                  </a:lnTo>
                </a:path>
              </a:pathLst>
            </a:custGeom>
            <a:noFill/>
            <a:ln w="9525">
              <a:solidFill>
                <a:srgbClr val="C9796B">
                  <a:alpha val="70000"/>
                </a:srgbClr>
              </a:solidFill>
              <a:custDash>
                <a:ds d="200000" sp="300000"/>
              </a:custDash>
            </a:ln>
          </p:spPr>
        </p:sp>
        <p:sp>
          <p:nvSpPr>
            <p:cNvPr id="95" name="Ellipse 95"/>
            <p:cNvSpPr/>
            <p:nvPr/>
          </p:nvSpPr>
          <p:spPr>
            <a:xfrm>
              <a:off x="10201275" y="3838575"/>
              <a:ext cx="361950" cy="361950"/>
            </a:xfrm>
            <a:prstGeom prst="ellipse">
              <a:avLst/>
            </a:prstGeom>
            <a:solidFill>
              <a:srgbClr val="8A8A8A"/>
            </a:solidFill>
            <a:ln>
              <a:noFill/>
            </a:ln>
          </p:spPr>
        </p:sp>
        <p:grpSp>
          <p:nvGrpSpPr>
            <p:cNvPr id="98" name="Group 98"/>
            <p:cNvGrpSpPr/>
            <p:nvPr/>
          </p:nvGrpSpPr>
          <p:grpSpPr>
            <a:xfrm>
              <a:off x="10307328" y="3944628"/>
              <a:ext cx="149844" cy="149844"/>
              <a:chOff x="10307328" y="3944628"/>
              <a:chExt cx="149844" cy="149844"/>
            </a:xfrm>
          </p:grpSpPr>
          <p:sp>
            <p:nvSpPr>
              <p:cNvPr id="96" name="Freeform 96"/>
              <p:cNvSpPr/>
              <p:nvPr/>
            </p:nvSpPr>
            <p:spPr>
              <a:xfrm>
                <a:off x="10307328" y="394462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97" name="Freeform 97"/>
              <p:cNvSpPr/>
              <p:nvPr/>
            </p:nvSpPr>
            <p:spPr>
              <a:xfrm>
                <a:off x="10358437" y="399573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99" name="TextBox 99"/>
            <p:cNvSpPr txBox="1"/>
            <p:nvPr/>
          </p:nvSpPr>
          <p:spPr>
            <a:xfrm>
              <a:off x="10662856" y="3900726"/>
              <a:ext cx="554152" cy="198025"/>
            </a:xfrm>
            <a:prstGeom prst="rect">
              <a:avLst/>
            </a:prstGeom>
            <a:noFill/>
            <a:ln>
              <a:noFill/>
            </a:ln>
          </p:spPr>
          <p:txBody>
            <a:bodyPr wrap="none" lIns="0" tIns="0" rIns="0" bIns="0" anchor="t" anchorCtr="0">
              <a:spAutoFit/>
            </a:bodyPr>
            <a:lstStyle/>
            <a:p>
              <a:pPr algn="l"/>
              <a:r>
                <a:rPr lang="zh-CN" sz="1010" b="1" dirty="0">
                  <a:solidFill>
                    <a:srgbClr val="5E3A33"/>
                  </a:solidFill>
                  <a:latin typeface="+mn-lt"/>
                  <a:ea typeface="+mn-ea"/>
                  <a:cs typeface="+mn-cs"/>
                </a:rPr>
                <a:t>标准服务</a:t>
              </a:r>
            </a:p>
          </p:txBody>
        </p:sp>
        <p:sp>
          <p:nvSpPr>
            <p:cNvPr id="100" name="TextBox 100"/>
            <p:cNvSpPr txBox="1"/>
            <p:nvPr/>
          </p:nvSpPr>
          <p:spPr>
            <a:xfrm>
              <a:off x="10663238" y="4095036"/>
              <a:ext cx="678586"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标准化服务支持</a:t>
              </a:r>
            </a:p>
          </p:txBody>
        </p:sp>
        <p:sp>
          <p:nvSpPr>
            <p:cNvPr id="101" name="Line 101"/>
            <p:cNvSpPr/>
            <p:nvPr/>
          </p:nvSpPr>
          <p:spPr>
            <a:xfrm>
              <a:off x="9734550" y="4572000"/>
              <a:ext cx="400050" cy="9525"/>
            </a:xfrm>
            <a:custGeom>
              <a:avLst/>
              <a:gdLst/>
              <a:ahLst/>
              <a:cxnLst/>
              <a:rect l="l" t="t" r="r" b="b"/>
              <a:pathLst>
                <a:path w="400050" h="9525">
                  <a:moveTo>
                    <a:pt x="0" y="0"/>
                  </a:moveTo>
                  <a:lnTo>
                    <a:pt x="400050" y="0"/>
                  </a:lnTo>
                </a:path>
              </a:pathLst>
            </a:custGeom>
            <a:noFill/>
            <a:ln w="9525">
              <a:solidFill>
                <a:srgbClr val="C9796B">
                  <a:alpha val="70000"/>
                </a:srgbClr>
              </a:solidFill>
              <a:custDash>
                <a:ds d="200000" sp="300000"/>
              </a:custDash>
            </a:ln>
          </p:spPr>
        </p:sp>
        <p:sp>
          <p:nvSpPr>
            <p:cNvPr id="102" name="Ellipse 102"/>
            <p:cNvSpPr/>
            <p:nvPr/>
          </p:nvSpPr>
          <p:spPr>
            <a:xfrm>
              <a:off x="10201275" y="4391025"/>
              <a:ext cx="361950" cy="361950"/>
            </a:xfrm>
            <a:prstGeom prst="ellipse">
              <a:avLst/>
            </a:prstGeom>
            <a:solidFill>
              <a:srgbClr val="8A8A8A"/>
            </a:solidFill>
            <a:ln>
              <a:noFill/>
            </a:ln>
          </p:spPr>
        </p:sp>
        <p:sp>
          <p:nvSpPr>
            <p:cNvPr id="103" name="Freeform 103"/>
            <p:cNvSpPr/>
            <p:nvPr/>
          </p:nvSpPr>
          <p:spPr>
            <a:xfrm>
              <a:off x="10302684" y="450234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FFFFFF"/>
              </a:solidFill>
            </a:ln>
          </p:spPr>
        </p:sp>
        <p:sp>
          <p:nvSpPr>
            <p:cNvPr id="104" name="TextBox 104"/>
            <p:cNvSpPr txBox="1"/>
            <p:nvPr/>
          </p:nvSpPr>
          <p:spPr>
            <a:xfrm>
              <a:off x="10662856" y="4453176"/>
              <a:ext cx="554152" cy="198025"/>
            </a:xfrm>
            <a:prstGeom prst="rect">
              <a:avLst/>
            </a:prstGeom>
            <a:noFill/>
            <a:ln>
              <a:noFill/>
            </a:ln>
          </p:spPr>
          <p:txBody>
            <a:bodyPr wrap="none" lIns="0" tIns="0" rIns="0" bIns="0" anchor="t" anchorCtr="0">
              <a:spAutoFit/>
            </a:bodyPr>
            <a:lstStyle/>
            <a:p>
              <a:pPr algn="l"/>
              <a:r>
                <a:rPr lang="zh-CN" sz="1010" b="1" dirty="0">
                  <a:solidFill>
                    <a:srgbClr val="5E3A33"/>
                  </a:solidFill>
                  <a:latin typeface="+mn-lt"/>
                  <a:ea typeface="+mn-ea"/>
                  <a:cs typeface="+mn-cs"/>
                </a:rPr>
                <a:t>基础触达</a:t>
              </a:r>
            </a:p>
          </p:txBody>
        </p:sp>
        <p:sp>
          <p:nvSpPr>
            <p:cNvPr id="105" name="TextBox 105"/>
            <p:cNvSpPr txBox="1"/>
            <p:nvPr/>
          </p:nvSpPr>
          <p:spPr>
            <a:xfrm>
              <a:off x="10663238" y="4647486"/>
              <a:ext cx="583006"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基础信息触达</a:t>
              </a:r>
            </a:p>
          </p:txBody>
        </p:sp>
      </p:gr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07</a:t>
              </a:r>
            </a:p>
          </p:txBody>
        </p:sp>
        <p:sp>
          <p:nvSpPr>
            <p:cNvPr id="4" name="TextBox 4"/>
            <p:cNvSpPr txBox="1"/>
            <p:nvPr/>
          </p:nvSpPr>
          <p:spPr>
            <a:xfrm>
              <a:off x="942594" y="151448"/>
              <a:ext cx="5111942"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分层模型：从单一AUM转向</a:t>
              </a:r>
              <a:r>
                <a:rPr lang="zh-CN" sz="1950" b="1" dirty="0">
                  <a:solidFill>
                    <a:srgbClr val="A3381F"/>
                  </a:solidFill>
                  <a:latin typeface="SimSun"/>
                  <a:ea typeface="SimSun"/>
                  <a:cs typeface="SimSun"/>
                </a:rPr>
                <a:t>综合价值评分</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9" name="formula-banner"/>
          <p:cNvGrpSpPr/>
          <p:nvPr/>
        </p:nvGrpSpPr>
        <p:grpSpPr>
          <a:xfrm>
            <a:off x="381000" y="781050"/>
            <a:ext cx="11430000" cy="476250"/>
            <a:chOff x="381000" y="781050"/>
            <a:chExt cx="11430000" cy="476250"/>
          </a:xfrm>
        </p:grpSpPr>
        <p:sp>
          <p:nvSpPr>
            <p:cNvPr id="7" name="Rectangle 7"/>
            <p:cNvSpPr/>
            <p:nvPr/>
          </p:nvSpPr>
          <p:spPr>
            <a:xfrm>
              <a:off x="381000" y="781050"/>
              <a:ext cx="11430000" cy="476250"/>
            </a:xfrm>
            <a:prstGeom prst="roundRect">
              <a:avLst>
                <a:gd name="adj" fmla="val 20000"/>
              </a:avLst>
            </a:prstGeom>
            <a:solidFill>
              <a:srgbClr val="FFFFFF"/>
            </a:solidFill>
            <a:ln w="14288">
              <a:solidFill>
                <a:srgbClr val="C26D5E"/>
              </a:solidFill>
            </a:ln>
          </p:spPr>
        </p:sp>
        <p:sp>
          <p:nvSpPr>
            <p:cNvPr id="8" name="TextBox 8"/>
            <p:cNvSpPr txBox="1"/>
            <p:nvPr/>
          </p:nvSpPr>
          <p:spPr>
            <a:xfrm>
              <a:off x="2543000" y="965835"/>
              <a:ext cx="7106000" cy="234696"/>
            </a:xfrm>
            <a:prstGeom prst="rect">
              <a:avLst/>
            </a:prstGeom>
            <a:noFill/>
            <a:ln>
              <a:noFill/>
            </a:ln>
          </p:spPr>
          <p:txBody>
            <a:bodyPr wrap="none" lIns="0" tIns="0" rIns="0" bIns="0" anchor="t" anchorCtr="0">
              <a:spAutoFit/>
            </a:bodyPr>
            <a:lstStyle/>
            <a:p>
              <a:pPr algn="ctr"/>
              <a:r>
                <a:rPr lang="en-US" sz="1500" b="1" dirty="0">
                  <a:solidFill>
                    <a:srgbClr val="A3381F"/>
                  </a:solidFill>
                  <a:latin typeface="+mn-lt"/>
                  <a:ea typeface="+mn-ea"/>
                  <a:cs typeface="+mn-cs"/>
                </a:rPr>
                <a:t>CVS</a:t>
              </a:r>
              <a:r>
                <a:rPr lang="zh-CN" sz="1120" b="1" dirty="0">
                  <a:solidFill>
                    <a:srgbClr val="A24B3C"/>
                  </a:solidFill>
                  <a:latin typeface="+mn-lt"/>
                  <a:ea typeface="+mn-ea"/>
                  <a:cs typeface="+mn-cs"/>
                </a:rPr>
                <a:t>＝</a:t>
              </a:r>
              <a:r>
                <a:rPr lang="zh-CN" sz="1120" b="1" dirty="0">
                  <a:solidFill>
                    <a:srgbClr val="5E3A33"/>
                  </a:solidFill>
                  <a:latin typeface="+mn-lt"/>
                  <a:ea typeface="+mn-ea"/>
                  <a:cs typeface="+mn-cs"/>
                </a:rPr>
                <a:t>当前价值</a:t>
              </a:r>
              <a:r>
                <a:rPr lang="zh-CN" sz="1120" b="1" dirty="0">
                  <a:solidFill>
                    <a:srgbClr val="A3381F"/>
                  </a:solidFill>
                  <a:latin typeface="+mn-lt"/>
                  <a:ea typeface="+mn-ea"/>
                  <a:cs typeface="+mn-cs"/>
                </a:rPr>
                <a:t>35%</a:t>
              </a:r>
              <a:r>
                <a:rPr lang="zh-CN" sz="1120" b="1" dirty="0">
                  <a:solidFill>
                    <a:srgbClr val="A24B3C"/>
                  </a:solidFill>
                  <a:latin typeface="+mn-lt"/>
                  <a:ea typeface="+mn-ea"/>
                  <a:cs typeface="+mn-cs"/>
                </a:rPr>
                <a:t xml:space="preserve"> ＋ </a:t>
              </a:r>
              <a:r>
                <a:rPr lang="zh-CN" sz="1120" b="1" dirty="0">
                  <a:solidFill>
                    <a:srgbClr val="5E3A33"/>
                  </a:solidFill>
                  <a:latin typeface="+mn-lt"/>
                  <a:ea typeface="+mn-ea"/>
                  <a:cs typeface="+mn-cs"/>
                </a:rPr>
                <a:t>综合贡献</a:t>
              </a:r>
              <a:r>
                <a:rPr lang="zh-CN" sz="1120" b="1" dirty="0">
                  <a:solidFill>
                    <a:srgbClr val="A3381F"/>
                  </a:solidFill>
                  <a:latin typeface="+mn-lt"/>
                  <a:ea typeface="+mn-ea"/>
                  <a:cs typeface="+mn-cs"/>
                </a:rPr>
                <a:t>20%</a:t>
              </a:r>
              <a:r>
                <a:rPr lang="zh-CN" sz="1120" b="1" dirty="0">
                  <a:solidFill>
                    <a:srgbClr val="A24B3C"/>
                  </a:solidFill>
                  <a:latin typeface="+mn-lt"/>
                  <a:ea typeface="+mn-ea"/>
                  <a:cs typeface="+mn-cs"/>
                </a:rPr>
                <a:t xml:space="preserve"> ＋ </a:t>
              </a:r>
              <a:r>
                <a:rPr lang="zh-CN" sz="1120" b="1" dirty="0">
                  <a:solidFill>
                    <a:srgbClr val="5E3A33"/>
                  </a:solidFill>
                  <a:latin typeface="+mn-lt"/>
                  <a:ea typeface="+mn-ea"/>
                  <a:cs typeface="+mn-cs"/>
                </a:rPr>
                <a:t>活跃程度</a:t>
              </a:r>
              <a:r>
                <a:rPr lang="zh-CN" sz="1120" b="1" dirty="0">
                  <a:solidFill>
                    <a:srgbClr val="A3381F"/>
                  </a:solidFill>
                  <a:latin typeface="+mn-lt"/>
                  <a:ea typeface="+mn-ea"/>
                  <a:cs typeface="+mn-cs"/>
                </a:rPr>
                <a:t>15%</a:t>
              </a:r>
              <a:r>
                <a:rPr lang="zh-CN" sz="1120" b="1" dirty="0">
                  <a:solidFill>
                    <a:srgbClr val="A24B3C"/>
                  </a:solidFill>
                  <a:latin typeface="+mn-lt"/>
                  <a:ea typeface="+mn-ea"/>
                  <a:cs typeface="+mn-cs"/>
                </a:rPr>
                <a:t xml:space="preserve"> ＋ </a:t>
              </a:r>
              <a:r>
                <a:rPr lang="zh-CN" sz="1120" b="1" dirty="0">
                  <a:solidFill>
                    <a:srgbClr val="5E3A33"/>
                  </a:solidFill>
                  <a:latin typeface="+mn-lt"/>
                  <a:ea typeface="+mn-ea"/>
                  <a:cs typeface="+mn-cs"/>
                </a:rPr>
                <a:t>成长潜力</a:t>
              </a:r>
              <a:r>
                <a:rPr lang="zh-CN" sz="1120" b="1" dirty="0">
                  <a:solidFill>
                    <a:srgbClr val="A3381F"/>
                  </a:solidFill>
                  <a:latin typeface="+mn-lt"/>
                  <a:ea typeface="+mn-ea"/>
                  <a:cs typeface="+mn-cs"/>
                </a:rPr>
                <a:t>15%</a:t>
              </a:r>
              <a:r>
                <a:rPr lang="zh-CN" sz="1120" b="1" dirty="0">
                  <a:solidFill>
                    <a:srgbClr val="A24B3C"/>
                  </a:solidFill>
                  <a:latin typeface="+mn-lt"/>
                  <a:ea typeface="+mn-ea"/>
                  <a:cs typeface="+mn-cs"/>
                </a:rPr>
                <a:t xml:space="preserve"> ＋ </a:t>
              </a:r>
              <a:r>
                <a:rPr lang="zh-CN" sz="1120" b="1" dirty="0">
                  <a:solidFill>
                    <a:srgbClr val="5E3A33"/>
                  </a:solidFill>
                  <a:latin typeface="+mn-lt"/>
                  <a:ea typeface="+mn-ea"/>
                  <a:cs typeface="+mn-cs"/>
                </a:rPr>
                <a:t>关系深度</a:t>
              </a:r>
              <a:r>
                <a:rPr lang="zh-CN" sz="1120" b="1" dirty="0">
                  <a:solidFill>
                    <a:srgbClr val="A3381F"/>
                  </a:solidFill>
                  <a:latin typeface="+mn-lt"/>
                  <a:ea typeface="+mn-ea"/>
                  <a:cs typeface="+mn-cs"/>
                </a:rPr>
                <a:t>10%</a:t>
              </a:r>
              <a:r>
                <a:rPr lang="zh-CN" sz="1120" b="1" dirty="0">
                  <a:solidFill>
                    <a:srgbClr val="A24B3C"/>
                  </a:solidFill>
                  <a:latin typeface="+mn-lt"/>
                  <a:ea typeface="+mn-ea"/>
                  <a:cs typeface="+mn-cs"/>
                </a:rPr>
                <a:t>－</a:t>
              </a:r>
              <a:r>
                <a:rPr lang="zh-CN" sz="1120" b="1" dirty="0">
                  <a:solidFill>
                    <a:srgbClr val="5E3A33"/>
                  </a:solidFill>
                  <a:latin typeface="+mn-lt"/>
                  <a:ea typeface="+mn-ea"/>
                  <a:cs typeface="+mn-cs"/>
                </a:rPr>
                <a:t>风险成本</a:t>
              </a:r>
              <a:r>
                <a:rPr lang="zh-CN" sz="1120" b="1" dirty="0">
                  <a:solidFill>
                    <a:srgbClr val="A3381F"/>
                  </a:solidFill>
                  <a:latin typeface="+mn-lt"/>
                  <a:ea typeface="+mn-ea"/>
                  <a:cs typeface="+mn-cs"/>
                </a:rPr>
                <a:t xml:space="preserve">5%　</a:t>
              </a:r>
            </a:p>
          </p:txBody>
        </p:sp>
      </p:grpSp>
      <p:grpSp>
        <p:nvGrpSpPr>
          <p:cNvPr id="36" name="panel-donut"/>
          <p:cNvGrpSpPr/>
          <p:nvPr/>
        </p:nvGrpSpPr>
        <p:grpSpPr>
          <a:xfrm>
            <a:off x="381000" y="1352550"/>
            <a:ext cx="3714750" cy="4076700"/>
            <a:chOff x="381000" y="1352550"/>
            <a:chExt cx="3714750" cy="4076700"/>
          </a:xfrm>
        </p:grpSpPr>
        <p:sp>
          <p:nvSpPr>
            <p:cNvPr id="10" name="Rectangle 10"/>
            <p:cNvSpPr/>
            <p:nvPr/>
          </p:nvSpPr>
          <p:spPr>
            <a:xfrm>
              <a:off x="381000" y="1352550"/>
              <a:ext cx="3714750" cy="4076700"/>
            </a:xfrm>
            <a:prstGeom prst="roundRect">
              <a:avLst>
                <a:gd name="adj" fmla="val 3077"/>
              </a:avLst>
            </a:prstGeom>
            <a:solidFill>
              <a:srgbClr val="FFFFFF"/>
            </a:solidFill>
            <a:ln w="9525">
              <a:solidFill>
                <a:srgbClr val="E6D9C0"/>
              </a:solidFill>
            </a:ln>
          </p:spPr>
        </p:sp>
        <p:sp>
          <p:nvSpPr>
            <p:cNvPr id="11" name="Rectangle 11"/>
            <p:cNvSpPr/>
            <p:nvPr/>
          </p:nvSpPr>
          <p:spPr>
            <a:xfrm>
              <a:off x="1524000" y="1485900"/>
              <a:ext cx="1428750" cy="247650"/>
            </a:xfrm>
            <a:prstGeom prst="roundRect">
              <a:avLst>
                <a:gd name="adj" fmla="val 50000"/>
              </a:avLst>
            </a:prstGeom>
            <a:solidFill>
              <a:srgbClr val="A3381F"/>
            </a:solidFill>
            <a:ln>
              <a:noFill/>
            </a:ln>
          </p:spPr>
        </p:sp>
        <p:sp>
          <p:nvSpPr>
            <p:cNvPr id="12" name="TextBox 12"/>
            <p:cNvSpPr txBox="1"/>
            <p:nvPr/>
          </p:nvSpPr>
          <p:spPr>
            <a:xfrm>
              <a:off x="1853984" y="1556147"/>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六维权重分布</a:t>
              </a:r>
            </a:p>
          </p:txBody>
        </p:sp>
        <p:sp>
          <p:nvSpPr>
            <p:cNvPr id="13" name="Freeform 13"/>
            <p:cNvSpPr/>
            <p:nvPr/>
          </p:nvSpPr>
          <p:spPr>
            <a:xfrm>
              <a:off x="2047875" y="2400250"/>
              <a:ext cx="1011464" cy="1512620"/>
            </a:xfrm>
            <a:custGeom>
              <a:avLst/>
              <a:gdLst/>
              <a:ahLst/>
              <a:cxnLst/>
              <a:rect l="l" t="t" r="r" b="b"/>
              <a:pathLst>
                <a:path w="1011464" h="1512620">
                  <a:moveTo>
                    <a:pt x="0" y="381050"/>
                  </a:moveTo>
                  <a:lnTo>
                    <a:pt x="0" y="50"/>
                  </a:lnTo>
                  <a:cubicBezTo>
                    <a:pt x="358246" y="0"/>
                    <a:pt x="686223" y="200967"/>
                    <a:pt x="848844" y="520178"/>
                  </a:cubicBezTo>
                  <a:cubicBezTo>
                    <a:pt x="1011464" y="839388"/>
                    <a:pt x="981221" y="1222848"/>
                    <a:pt x="770573" y="1512620"/>
                  </a:cubicBezTo>
                  <a:lnTo>
                    <a:pt x="461963" y="1288782"/>
                  </a:lnTo>
                  <a:cubicBezTo>
                    <a:pt x="588423" y="1114973"/>
                    <a:pt x="606664" y="884905"/>
                    <a:pt x="509172" y="693339"/>
                  </a:cubicBezTo>
                  <a:cubicBezTo>
                    <a:pt x="411681" y="501774"/>
                    <a:pt x="214947" y="381111"/>
                    <a:pt x="0" y="381050"/>
                  </a:cubicBezTo>
                  <a:close/>
                </a:path>
              </a:pathLst>
            </a:custGeom>
            <a:solidFill>
              <a:srgbClr val="A3381F"/>
            </a:solidFill>
            <a:ln>
              <a:noFill/>
            </a:ln>
          </p:spPr>
        </p:sp>
        <p:sp>
          <p:nvSpPr>
            <p:cNvPr id="14" name="Freeform 14"/>
            <p:cNvSpPr/>
            <p:nvPr/>
          </p:nvSpPr>
          <p:spPr>
            <a:xfrm>
              <a:off x="1753553" y="3689032"/>
              <a:ext cx="1064895" cy="697149"/>
            </a:xfrm>
            <a:custGeom>
              <a:avLst/>
              <a:gdLst/>
              <a:ahLst/>
              <a:cxnLst/>
              <a:rect l="l" t="t" r="r" b="b"/>
              <a:pathLst>
                <a:path w="1064895" h="697149">
                  <a:moveTo>
                    <a:pt x="756285" y="0"/>
                  </a:moveTo>
                  <a:lnTo>
                    <a:pt x="1064895" y="223838"/>
                  </a:lnTo>
                  <a:cubicBezTo>
                    <a:pt x="822282" y="557568"/>
                    <a:pt x="392386" y="697149"/>
                    <a:pt x="0" y="569595"/>
                  </a:cubicBezTo>
                  <a:lnTo>
                    <a:pt x="118110" y="207645"/>
                  </a:lnTo>
                  <a:cubicBezTo>
                    <a:pt x="353356" y="283769"/>
                    <a:pt x="610876" y="199978"/>
                    <a:pt x="756285" y="0"/>
                  </a:cubicBezTo>
                  <a:close/>
                </a:path>
              </a:pathLst>
            </a:custGeom>
            <a:solidFill>
              <a:srgbClr val="C26D5E"/>
            </a:solidFill>
            <a:ln>
              <a:noFill/>
            </a:ln>
          </p:spPr>
        </p:sp>
        <p:sp>
          <p:nvSpPr>
            <p:cNvPr id="15" name="Freeform 15"/>
            <p:cNvSpPr/>
            <p:nvPr/>
          </p:nvSpPr>
          <p:spPr>
            <a:xfrm>
              <a:off x="1142048" y="3529012"/>
              <a:ext cx="729615" cy="729615"/>
            </a:xfrm>
            <a:custGeom>
              <a:avLst/>
              <a:gdLst/>
              <a:ahLst/>
              <a:cxnLst/>
              <a:rect l="l" t="t" r="r" b="b"/>
              <a:pathLst>
                <a:path w="729615" h="729615">
                  <a:moveTo>
                    <a:pt x="729615" y="367665"/>
                  </a:moveTo>
                  <a:lnTo>
                    <a:pt x="611505" y="729615"/>
                  </a:lnTo>
                  <a:cubicBezTo>
                    <a:pt x="321551" y="635393"/>
                    <a:pt x="94222" y="408064"/>
                    <a:pt x="0" y="118110"/>
                  </a:cubicBezTo>
                  <a:lnTo>
                    <a:pt x="361950" y="0"/>
                  </a:lnTo>
                  <a:cubicBezTo>
                    <a:pt x="418430" y="174438"/>
                    <a:pt x="555177" y="311185"/>
                    <a:pt x="729615" y="367665"/>
                  </a:cubicBezTo>
                  <a:close/>
                </a:path>
              </a:pathLst>
            </a:custGeom>
            <a:solidFill>
              <a:srgbClr val="5E3A33"/>
            </a:solidFill>
            <a:ln>
              <a:noFill/>
            </a:ln>
          </p:spPr>
        </p:sp>
        <p:sp>
          <p:nvSpPr>
            <p:cNvPr id="16" name="Freeform 16"/>
            <p:cNvSpPr/>
            <p:nvPr/>
          </p:nvSpPr>
          <p:spPr>
            <a:xfrm>
              <a:off x="1047753" y="2792730"/>
              <a:ext cx="538159" cy="854393"/>
            </a:xfrm>
            <a:custGeom>
              <a:avLst/>
              <a:gdLst/>
              <a:ahLst/>
              <a:cxnLst/>
              <a:rect l="l" t="t" r="r" b="b"/>
              <a:pathLst>
                <a:path w="538159" h="854393">
                  <a:moveTo>
                    <a:pt x="456244" y="736283"/>
                  </a:moveTo>
                  <a:lnTo>
                    <a:pt x="94294" y="854393"/>
                  </a:lnTo>
                  <a:cubicBezTo>
                    <a:pt x="0" y="564365"/>
                    <a:pt x="50285" y="246722"/>
                    <a:pt x="229549" y="0"/>
                  </a:cubicBezTo>
                  <a:lnTo>
                    <a:pt x="538159" y="223838"/>
                  </a:lnTo>
                  <a:cubicBezTo>
                    <a:pt x="430403" y="371694"/>
                    <a:pt x="399950" y="562203"/>
                    <a:pt x="456244" y="736283"/>
                  </a:cubicBezTo>
                  <a:close/>
                </a:path>
              </a:pathLst>
            </a:custGeom>
            <a:solidFill>
              <a:srgbClr val="C85E46"/>
            </a:solidFill>
            <a:ln>
              <a:noFill/>
            </a:ln>
          </p:spPr>
        </p:sp>
        <p:sp>
          <p:nvSpPr>
            <p:cNvPr id="17" name="Freeform 17"/>
            <p:cNvSpPr/>
            <p:nvPr/>
          </p:nvSpPr>
          <p:spPr>
            <a:xfrm>
              <a:off x="1277302" y="2446972"/>
              <a:ext cx="594360" cy="569595"/>
            </a:xfrm>
            <a:custGeom>
              <a:avLst/>
              <a:gdLst/>
              <a:ahLst/>
              <a:cxnLst/>
              <a:rect l="l" t="t" r="r" b="b"/>
              <a:pathLst>
                <a:path w="594360" h="569595">
                  <a:moveTo>
                    <a:pt x="308610" y="569595"/>
                  </a:moveTo>
                  <a:lnTo>
                    <a:pt x="0" y="345758"/>
                  </a:lnTo>
                  <a:cubicBezTo>
                    <a:pt x="118271" y="183121"/>
                    <a:pt x="284982" y="62089"/>
                    <a:pt x="476250" y="0"/>
                  </a:cubicBezTo>
                  <a:lnTo>
                    <a:pt x="594360" y="361950"/>
                  </a:lnTo>
                  <a:cubicBezTo>
                    <a:pt x="479573" y="399254"/>
                    <a:pt x="379544" y="471942"/>
                    <a:pt x="308610" y="569595"/>
                  </a:cubicBezTo>
                  <a:close/>
                </a:path>
              </a:pathLst>
            </a:custGeom>
            <a:solidFill>
              <a:srgbClr val="D99285"/>
            </a:solidFill>
            <a:ln>
              <a:noFill/>
            </a:ln>
          </p:spPr>
        </p:sp>
        <p:sp>
          <p:nvSpPr>
            <p:cNvPr id="18" name="Freeform 18"/>
            <p:cNvSpPr/>
            <p:nvPr/>
          </p:nvSpPr>
          <p:spPr>
            <a:xfrm>
              <a:off x="1753552" y="2400300"/>
              <a:ext cx="294323" cy="408622"/>
            </a:xfrm>
            <a:custGeom>
              <a:avLst/>
              <a:gdLst/>
              <a:ahLst/>
              <a:cxnLst/>
              <a:rect l="l" t="t" r="r" b="b"/>
              <a:pathLst>
                <a:path w="294323" h="408622">
                  <a:moveTo>
                    <a:pt x="118110" y="408622"/>
                  </a:moveTo>
                  <a:lnTo>
                    <a:pt x="0" y="46672"/>
                  </a:lnTo>
                  <a:cubicBezTo>
                    <a:pt x="95051" y="15769"/>
                    <a:pt x="194374" y="19"/>
                    <a:pt x="294323" y="0"/>
                  </a:cubicBezTo>
                  <a:lnTo>
                    <a:pt x="294323" y="381000"/>
                  </a:lnTo>
                  <a:cubicBezTo>
                    <a:pt x="234501" y="380928"/>
                    <a:pt x="175040" y="390249"/>
                    <a:pt x="118110" y="408622"/>
                  </a:cubicBezTo>
                  <a:close/>
                </a:path>
              </a:pathLst>
            </a:custGeom>
            <a:solidFill>
              <a:srgbClr val="7D5C55"/>
            </a:solidFill>
            <a:ln>
              <a:noFill/>
            </a:ln>
          </p:spPr>
        </p:sp>
        <p:sp>
          <p:nvSpPr>
            <p:cNvPr id="19" name="Ellipse 19"/>
            <p:cNvSpPr/>
            <p:nvPr/>
          </p:nvSpPr>
          <p:spPr>
            <a:xfrm>
              <a:off x="1552575" y="2857500"/>
              <a:ext cx="990600" cy="990600"/>
            </a:xfrm>
            <a:prstGeom prst="ellipse">
              <a:avLst/>
            </a:prstGeom>
            <a:solidFill>
              <a:srgbClr val="FFFFFF"/>
            </a:solidFill>
            <a:ln>
              <a:noFill/>
            </a:ln>
          </p:spPr>
        </p:sp>
        <p:sp>
          <p:nvSpPr>
            <p:cNvPr id="20" name="TextBox 20"/>
            <p:cNvSpPr txBox="1"/>
            <p:nvPr/>
          </p:nvSpPr>
          <p:spPr>
            <a:xfrm>
              <a:off x="1647139" y="3209449"/>
              <a:ext cx="801472" cy="190690"/>
            </a:xfrm>
            <a:prstGeom prst="rect">
              <a:avLst/>
            </a:prstGeom>
            <a:noFill/>
            <a:ln>
              <a:noFill/>
            </a:ln>
          </p:spPr>
          <p:txBody>
            <a:bodyPr wrap="none" lIns="0" tIns="0" rIns="0" bIns="0" anchor="t" anchorCtr="0">
              <a:spAutoFit/>
            </a:bodyPr>
            <a:lstStyle/>
            <a:p>
              <a:pPr algn="ctr"/>
              <a:r>
                <a:rPr lang="zh-CN" sz="980" b="1" dirty="0">
                  <a:solidFill>
                    <a:srgbClr val="5E3A33"/>
                  </a:solidFill>
                  <a:latin typeface="+mn-lt"/>
                  <a:ea typeface="+mn-ea"/>
                  <a:cs typeface="+mn-cs"/>
                </a:rPr>
                <a:t>综合价值评分</a:t>
              </a:r>
            </a:p>
          </p:txBody>
        </p:sp>
        <p:sp>
          <p:nvSpPr>
            <p:cNvPr id="21" name="TextBox 21"/>
            <p:cNvSpPr txBox="1"/>
            <p:nvPr/>
          </p:nvSpPr>
          <p:spPr>
            <a:xfrm>
              <a:off x="1695785" y="3368040"/>
              <a:ext cx="704179" cy="352044"/>
            </a:xfrm>
            <a:prstGeom prst="rect">
              <a:avLst/>
            </a:prstGeom>
            <a:noFill/>
            <a:ln>
              <a:noFill/>
            </a:ln>
          </p:spPr>
          <p:txBody>
            <a:bodyPr wrap="none" lIns="0" tIns="0" rIns="0" bIns="0" anchor="t" anchorCtr="0">
              <a:spAutoFit/>
            </a:bodyPr>
            <a:lstStyle/>
            <a:p>
              <a:pPr algn="ctr"/>
              <a:r>
                <a:rPr lang="zh-CN" sz="1800" b="1" dirty="0">
                  <a:solidFill>
                    <a:srgbClr val="A3381F"/>
                  </a:solidFill>
                  <a:latin typeface="+mn-lt"/>
                  <a:ea typeface="+mn-ea"/>
                  <a:cs typeface="+mn-cs"/>
                </a:rPr>
                <a:t xml:space="preserve">CVS　</a:t>
              </a:r>
            </a:p>
          </p:txBody>
        </p:sp>
        <p:sp>
          <p:nvSpPr>
            <p:cNvPr id="22" name="TextBox 22"/>
            <p:cNvSpPr txBox="1"/>
            <p:nvPr/>
          </p:nvSpPr>
          <p:spPr>
            <a:xfrm>
              <a:off x="3109912" y="266914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当前价值</a:t>
              </a:r>
            </a:p>
          </p:txBody>
        </p:sp>
        <p:sp>
          <p:nvSpPr>
            <p:cNvPr id="23" name="TextBox 23"/>
            <p:cNvSpPr txBox="1"/>
            <p:nvPr/>
          </p:nvSpPr>
          <p:spPr>
            <a:xfrm>
              <a:off x="3109912" y="2825591"/>
              <a:ext cx="334343" cy="161925"/>
            </a:xfrm>
            <a:prstGeom prst="rect">
              <a:avLst/>
            </a:prstGeom>
            <a:noFill/>
            <a:ln>
              <a:noFill/>
            </a:ln>
          </p:spPr>
          <p:txBody>
            <a:bodyPr wrap="none" lIns="0" tIns="0" rIns="0" bIns="0" anchor="t" anchorCtr="0">
              <a:spAutoFit/>
            </a:bodyPr>
            <a:lstStyle/>
            <a:p>
              <a:pPr algn="l"/>
              <a:r>
                <a:rPr lang="zh-CN" sz="820" b="1" dirty="0">
                  <a:solidFill>
                    <a:srgbClr val="A3381F"/>
                  </a:solidFill>
                  <a:latin typeface="+mn-lt"/>
                  <a:ea typeface="+mn-ea"/>
                  <a:cs typeface="+mn-cs"/>
                </a:rPr>
                <a:t xml:space="preserve">35%　</a:t>
              </a:r>
            </a:p>
          </p:txBody>
        </p:sp>
        <p:sp>
          <p:nvSpPr>
            <p:cNvPr id="24" name="TextBox 24"/>
            <p:cNvSpPr txBox="1"/>
            <p:nvPr/>
          </p:nvSpPr>
          <p:spPr>
            <a:xfrm>
              <a:off x="2414588" y="434554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综合贡献</a:t>
              </a:r>
            </a:p>
          </p:txBody>
        </p:sp>
        <p:sp>
          <p:nvSpPr>
            <p:cNvPr id="25" name="TextBox 25"/>
            <p:cNvSpPr txBox="1"/>
            <p:nvPr/>
          </p:nvSpPr>
          <p:spPr>
            <a:xfrm>
              <a:off x="2414588" y="4501991"/>
              <a:ext cx="334343" cy="161925"/>
            </a:xfrm>
            <a:prstGeom prst="rect">
              <a:avLst/>
            </a:prstGeom>
            <a:noFill/>
            <a:ln>
              <a:noFill/>
            </a:ln>
          </p:spPr>
          <p:txBody>
            <a:bodyPr wrap="none" lIns="0" tIns="0" rIns="0" bIns="0" anchor="t" anchorCtr="0">
              <a:spAutoFit/>
            </a:bodyPr>
            <a:lstStyle/>
            <a:p>
              <a:pPr algn="l"/>
              <a:r>
                <a:rPr lang="zh-CN" sz="820" b="1" dirty="0">
                  <a:solidFill>
                    <a:srgbClr val="A24B3C"/>
                  </a:solidFill>
                  <a:latin typeface="+mn-lt"/>
                  <a:ea typeface="+mn-ea"/>
                  <a:cs typeface="+mn-cs"/>
                </a:rPr>
                <a:t xml:space="preserve">20%　</a:t>
              </a:r>
            </a:p>
          </p:txBody>
        </p:sp>
        <p:sp>
          <p:nvSpPr>
            <p:cNvPr id="26" name="TextBox 26"/>
            <p:cNvSpPr txBox="1"/>
            <p:nvPr/>
          </p:nvSpPr>
          <p:spPr>
            <a:xfrm>
              <a:off x="732295" y="4059793"/>
              <a:ext cx="472618" cy="169069"/>
            </a:xfrm>
            <a:prstGeom prst="rect">
              <a:avLst/>
            </a:prstGeom>
            <a:noFill/>
            <a:ln>
              <a:noFill/>
            </a:ln>
          </p:spPr>
          <p:txBody>
            <a:bodyPr wrap="none" lIns="0" tIns="0" rIns="0" bIns="0" anchor="t" anchorCtr="0">
              <a:spAutoFit/>
            </a:bodyPr>
            <a:lstStyle/>
            <a:p>
              <a:pPr algn="r"/>
              <a:r>
                <a:rPr lang="zh-CN" sz="860" b="1" dirty="0">
                  <a:solidFill>
                    <a:srgbClr val="5E3A33"/>
                  </a:solidFill>
                  <a:latin typeface="+mn-lt"/>
                  <a:ea typeface="+mn-ea"/>
                  <a:cs typeface="+mn-cs"/>
                </a:rPr>
                <a:t>活跃程度</a:t>
              </a:r>
            </a:p>
          </p:txBody>
        </p:sp>
        <p:sp>
          <p:nvSpPr>
            <p:cNvPr id="27" name="TextBox 27"/>
            <p:cNvSpPr txBox="1"/>
            <p:nvPr/>
          </p:nvSpPr>
          <p:spPr>
            <a:xfrm>
              <a:off x="870570" y="4216241"/>
              <a:ext cx="334343" cy="161925"/>
            </a:xfrm>
            <a:prstGeom prst="rect">
              <a:avLst/>
            </a:prstGeom>
            <a:noFill/>
            <a:ln>
              <a:noFill/>
            </a:ln>
          </p:spPr>
          <p:txBody>
            <a:bodyPr wrap="none" lIns="0" tIns="0" rIns="0" bIns="0" anchor="t" anchorCtr="0">
              <a:spAutoFit/>
            </a:bodyPr>
            <a:lstStyle/>
            <a:p>
              <a:pPr algn="r"/>
              <a:r>
                <a:rPr lang="zh-CN" sz="820" b="1" dirty="0">
                  <a:solidFill>
                    <a:srgbClr val="5E3A33"/>
                  </a:solidFill>
                  <a:latin typeface="+mn-lt"/>
                  <a:ea typeface="+mn-ea"/>
                  <a:cs typeface="+mn-cs"/>
                </a:rPr>
                <a:t xml:space="preserve">　15%</a:t>
              </a:r>
            </a:p>
          </p:txBody>
        </p:sp>
        <p:sp>
          <p:nvSpPr>
            <p:cNvPr id="28" name="TextBox 28"/>
            <p:cNvSpPr txBox="1"/>
            <p:nvPr/>
          </p:nvSpPr>
          <p:spPr>
            <a:xfrm>
              <a:off x="465595" y="3021568"/>
              <a:ext cx="472618" cy="169069"/>
            </a:xfrm>
            <a:prstGeom prst="rect">
              <a:avLst/>
            </a:prstGeom>
            <a:noFill/>
            <a:ln>
              <a:noFill/>
            </a:ln>
          </p:spPr>
          <p:txBody>
            <a:bodyPr wrap="none" lIns="0" tIns="0" rIns="0" bIns="0" anchor="t" anchorCtr="0">
              <a:spAutoFit/>
            </a:bodyPr>
            <a:lstStyle/>
            <a:p>
              <a:pPr algn="r"/>
              <a:r>
                <a:rPr lang="zh-CN" sz="860" b="1" dirty="0">
                  <a:solidFill>
                    <a:srgbClr val="5E3A33"/>
                  </a:solidFill>
                  <a:latin typeface="+mn-lt"/>
                  <a:ea typeface="+mn-ea"/>
                  <a:cs typeface="+mn-cs"/>
                </a:rPr>
                <a:t>成长潜力</a:t>
              </a:r>
            </a:p>
          </p:txBody>
        </p:sp>
        <p:sp>
          <p:nvSpPr>
            <p:cNvPr id="29" name="TextBox 29"/>
            <p:cNvSpPr txBox="1"/>
            <p:nvPr/>
          </p:nvSpPr>
          <p:spPr>
            <a:xfrm>
              <a:off x="603870" y="3178016"/>
              <a:ext cx="334343" cy="161925"/>
            </a:xfrm>
            <a:prstGeom prst="rect">
              <a:avLst/>
            </a:prstGeom>
            <a:noFill/>
            <a:ln>
              <a:noFill/>
            </a:ln>
          </p:spPr>
          <p:txBody>
            <a:bodyPr wrap="none" lIns="0" tIns="0" rIns="0" bIns="0" anchor="t" anchorCtr="0">
              <a:spAutoFit/>
            </a:bodyPr>
            <a:lstStyle/>
            <a:p>
              <a:pPr algn="r"/>
              <a:r>
                <a:rPr lang="zh-CN" sz="820" b="1" dirty="0">
                  <a:solidFill>
                    <a:srgbClr val="C85E46"/>
                  </a:solidFill>
                  <a:latin typeface="+mn-lt"/>
                  <a:ea typeface="+mn-ea"/>
                  <a:cs typeface="+mn-cs"/>
                </a:rPr>
                <a:t xml:space="preserve">　15%</a:t>
              </a:r>
            </a:p>
          </p:txBody>
        </p:sp>
        <p:sp>
          <p:nvSpPr>
            <p:cNvPr id="30" name="TextBox 30"/>
            <p:cNvSpPr txBox="1"/>
            <p:nvPr/>
          </p:nvSpPr>
          <p:spPr>
            <a:xfrm>
              <a:off x="875170" y="2240518"/>
              <a:ext cx="472618" cy="169069"/>
            </a:xfrm>
            <a:prstGeom prst="rect">
              <a:avLst/>
            </a:prstGeom>
            <a:noFill/>
            <a:ln>
              <a:noFill/>
            </a:ln>
          </p:spPr>
          <p:txBody>
            <a:bodyPr wrap="none" lIns="0" tIns="0" rIns="0" bIns="0" anchor="t" anchorCtr="0">
              <a:spAutoFit/>
            </a:bodyPr>
            <a:lstStyle/>
            <a:p>
              <a:pPr algn="r"/>
              <a:r>
                <a:rPr lang="zh-CN" sz="860" b="1" dirty="0">
                  <a:solidFill>
                    <a:srgbClr val="5E3A33"/>
                  </a:solidFill>
                  <a:latin typeface="+mn-lt"/>
                  <a:ea typeface="+mn-ea"/>
                  <a:cs typeface="+mn-cs"/>
                </a:rPr>
                <a:t>关系深度</a:t>
              </a:r>
            </a:p>
          </p:txBody>
        </p:sp>
        <p:sp>
          <p:nvSpPr>
            <p:cNvPr id="31" name="TextBox 31"/>
            <p:cNvSpPr txBox="1"/>
            <p:nvPr/>
          </p:nvSpPr>
          <p:spPr>
            <a:xfrm>
              <a:off x="1013445" y="2396966"/>
              <a:ext cx="334343" cy="161925"/>
            </a:xfrm>
            <a:prstGeom prst="rect">
              <a:avLst/>
            </a:prstGeom>
            <a:noFill/>
            <a:ln>
              <a:noFill/>
            </a:ln>
          </p:spPr>
          <p:txBody>
            <a:bodyPr wrap="none" lIns="0" tIns="0" rIns="0" bIns="0" anchor="t" anchorCtr="0">
              <a:spAutoFit/>
            </a:bodyPr>
            <a:lstStyle/>
            <a:p>
              <a:pPr algn="r"/>
              <a:r>
                <a:rPr lang="zh-CN" sz="820" b="1" dirty="0">
                  <a:solidFill>
                    <a:srgbClr val="A24B3C"/>
                  </a:solidFill>
                  <a:latin typeface="+mn-lt"/>
                  <a:ea typeface="+mn-ea"/>
                  <a:cs typeface="+mn-cs"/>
                </a:rPr>
                <a:t xml:space="preserve">　10%</a:t>
              </a:r>
            </a:p>
          </p:txBody>
        </p:sp>
        <p:sp>
          <p:nvSpPr>
            <p:cNvPr id="32" name="TextBox 32"/>
            <p:cNvSpPr txBox="1"/>
            <p:nvPr/>
          </p:nvSpPr>
          <p:spPr>
            <a:xfrm>
              <a:off x="1389520" y="2030968"/>
              <a:ext cx="472618" cy="169069"/>
            </a:xfrm>
            <a:prstGeom prst="rect">
              <a:avLst/>
            </a:prstGeom>
            <a:noFill/>
            <a:ln>
              <a:noFill/>
            </a:ln>
          </p:spPr>
          <p:txBody>
            <a:bodyPr wrap="none" lIns="0" tIns="0" rIns="0" bIns="0" anchor="t" anchorCtr="0">
              <a:spAutoFit/>
            </a:bodyPr>
            <a:lstStyle/>
            <a:p>
              <a:pPr algn="r"/>
              <a:r>
                <a:rPr lang="zh-CN" sz="860" b="1" dirty="0">
                  <a:solidFill>
                    <a:srgbClr val="5E3A33"/>
                  </a:solidFill>
                  <a:latin typeface="+mn-lt"/>
                  <a:ea typeface="+mn-ea"/>
                  <a:cs typeface="+mn-cs"/>
                </a:rPr>
                <a:t>风险成本</a:t>
              </a:r>
            </a:p>
          </p:txBody>
        </p:sp>
        <p:sp>
          <p:nvSpPr>
            <p:cNvPr id="33" name="TextBox 33"/>
            <p:cNvSpPr txBox="1"/>
            <p:nvPr/>
          </p:nvSpPr>
          <p:spPr>
            <a:xfrm>
              <a:off x="1591544" y="2187416"/>
              <a:ext cx="270594" cy="161925"/>
            </a:xfrm>
            <a:prstGeom prst="rect">
              <a:avLst/>
            </a:prstGeom>
            <a:noFill/>
            <a:ln>
              <a:noFill/>
            </a:ln>
          </p:spPr>
          <p:txBody>
            <a:bodyPr wrap="none" lIns="0" tIns="0" rIns="0" bIns="0" anchor="t" anchorCtr="0">
              <a:spAutoFit/>
            </a:bodyPr>
            <a:lstStyle/>
            <a:p>
              <a:pPr algn="r"/>
              <a:r>
                <a:rPr lang="zh-CN" sz="820" b="1" dirty="0">
                  <a:solidFill>
                    <a:srgbClr val="7D5C55"/>
                  </a:solidFill>
                  <a:latin typeface="+mn-lt"/>
                  <a:ea typeface="+mn-ea"/>
                  <a:cs typeface="+mn-cs"/>
                </a:rPr>
                <a:t xml:space="preserve">　5%</a:t>
              </a:r>
            </a:p>
          </p:txBody>
        </p:sp>
        <p:sp>
          <p:nvSpPr>
            <p:cNvPr id="34" name="Ellipse 34"/>
            <p:cNvSpPr/>
            <p:nvPr/>
          </p:nvSpPr>
          <p:spPr>
            <a:xfrm>
              <a:off x="809625" y="5191125"/>
              <a:ext cx="57150" cy="57150"/>
            </a:xfrm>
            <a:prstGeom prst="ellipse">
              <a:avLst/>
            </a:prstGeom>
            <a:solidFill>
              <a:srgbClr val="A3381F"/>
            </a:solidFill>
            <a:ln>
              <a:noFill/>
            </a:ln>
          </p:spPr>
        </p:sp>
        <p:sp>
          <p:nvSpPr>
            <p:cNvPr id="35" name="TextBox 35"/>
            <p:cNvSpPr txBox="1"/>
            <p:nvPr/>
          </p:nvSpPr>
          <p:spPr>
            <a:xfrm>
              <a:off x="928688" y="5172789"/>
              <a:ext cx="1860012"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权重合计100%（风险成本为负向权重）</a:t>
              </a:r>
            </a:p>
          </p:txBody>
        </p:sp>
      </p:grpSp>
      <p:grpSp>
        <p:nvGrpSpPr>
          <p:cNvPr id="67" name="panel-radar"/>
          <p:cNvGrpSpPr/>
          <p:nvPr/>
        </p:nvGrpSpPr>
        <p:grpSpPr>
          <a:xfrm>
            <a:off x="4238625" y="1352550"/>
            <a:ext cx="4191000" cy="4076700"/>
            <a:chOff x="4238625" y="1352550"/>
            <a:chExt cx="4191000" cy="4076700"/>
          </a:xfrm>
        </p:grpSpPr>
        <p:sp>
          <p:nvSpPr>
            <p:cNvPr id="37" name="Rectangle 37"/>
            <p:cNvSpPr/>
            <p:nvPr/>
          </p:nvSpPr>
          <p:spPr>
            <a:xfrm>
              <a:off x="4238625" y="1352550"/>
              <a:ext cx="4191000" cy="4076700"/>
            </a:xfrm>
            <a:prstGeom prst="roundRect">
              <a:avLst>
                <a:gd name="adj" fmla="val 2804"/>
              </a:avLst>
            </a:prstGeom>
            <a:solidFill>
              <a:srgbClr val="FFFFFF"/>
            </a:solidFill>
            <a:ln w="9525">
              <a:solidFill>
                <a:srgbClr val="E6D9C0"/>
              </a:solidFill>
            </a:ln>
          </p:spPr>
        </p:sp>
        <p:sp>
          <p:nvSpPr>
            <p:cNvPr id="38" name="Rectangle 38"/>
            <p:cNvSpPr/>
            <p:nvPr/>
          </p:nvSpPr>
          <p:spPr>
            <a:xfrm>
              <a:off x="5619750" y="1485900"/>
              <a:ext cx="1428750" cy="247650"/>
            </a:xfrm>
            <a:prstGeom prst="roundRect">
              <a:avLst>
                <a:gd name="adj" fmla="val 50000"/>
              </a:avLst>
            </a:prstGeom>
            <a:solidFill>
              <a:srgbClr val="A3381F"/>
            </a:solidFill>
            <a:ln>
              <a:noFill/>
            </a:ln>
          </p:spPr>
        </p:sp>
        <p:sp>
          <p:nvSpPr>
            <p:cNvPr id="39" name="TextBox 39"/>
            <p:cNvSpPr txBox="1"/>
            <p:nvPr/>
          </p:nvSpPr>
          <p:spPr>
            <a:xfrm>
              <a:off x="5886463" y="1556147"/>
              <a:ext cx="895325"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六维能力雷达图</a:t>
              </a:r>
            </a:p>
          </p:txBody>
        </p:sp>
        <p:sp>
          <p:nvSpPr>
            <p:cNvPr id="40" name="Polygon 40"/>
            <p:cNvSpPr/>
            <p:nvPr/>
          </p:nvSpPr>
          <p:spPr>
            <a:xfrm>
              <a:off x="5064442" y="2190750"/>
              <a:ext cx="2063115" cy="2381250"/>
            </a:xfrm>
            <a:custGeom>
              <a:avLst/>
              <a:gdLst/>
              <a:ahLst/>
              <a:cxnLst/>
              <a:rect l="l" t="t" r="r" b="b"/>
              <a:pathLst>
                <a:path w="2063115" h="2381250">
                  <a:moveTo>
                    <a:pt x="1031557" y="0"/>
                  </a:moveTo>
                  <a:lnTo>
                    <a:pt x="2063115" y="595312"/>
                  </a:lnTo>
                  <a:lnTo>
                    <a:pt x="2063115" y="1785938"/>
                  </a:lnTo>
                  <a:lnTo>
                    <a:pt x="1031557" y="2381250"/>
                  </a:lnTo>
                  <a:lnTo>
                    <a:pt x="0" y="1785938"/>
                  </a:lnTo>
                  <a:lnTo>
                    <a:pt x="0" y="595312"/>
                  </a:lnTo>
                  <a:close/>
                </a:path>
              </a:pathLst>
            </a:custGeom>
            <a:noFill/>
            <a:ln w="9525">
              <a:solidFill>
                <a:srgbClr val="E0D5C2"/>
              </a:solidFill>
            </a:ln>
          </p:spPr>
        </p:sp>
        <p:sp>
          <p:nvSpPr>
            <p:cNvPr id="41" name="Polygon 41"/>
            <p:cNvSpPr/>
            <p:nvPr/>
          </p:nvSpPr>
          <p:spPr>
            <a:xfrm>
              <a:off x="5322570" y="2487930"/>
              <a:ext cx="1546860" cy="1786890"/>
            </a:xfrm>
            <a:custGeom>
              <a:avLst/>
              <a:gdLst/>
              <a:ahLst/>
              <a:cxnLst/>
              <a:rect l="l" t="t" r="r" b="b"/>
              <a:pathLst>
                <a:path w="1546860" h="1786890">
                  <a:moveTo>
                    <a:pt x="773430" y="0"/>
                  </a:moveTo>
                  <a:lnTo>
                    <a:pt x="1546860" y="446723"/>
                  </a:lnTo>
                  <a:lnTo>
                    <a:pt x="1546860" y="1340168"/>
                  </a:lnTo>
                  <a:lnTo>
                    <a:pt x="773430" y="1786890"/>
                  </a:lnTo>
                  <a:lnTo>
                    <a:pt x="0" y="1340168"/>
                  </a:lnTo>
                  <a:lnTo>
                    <a:pt x="0" y="446723"/>
                  </a:lnTo>
                  <a:close/>
                </a:path>
              </a:pathLst>
            </a:custGeom>
            <a:noFill/>
            <a:ln w="9525">
              <a:solidFill>
                <a:srgbClr val="E0D5C2"/>
              </a:solidFill>
            </a:ln>
          </p:spPr>
        </p:sp>
        <p:sp>
          <p:nvSpPr>
            <p:cNvPr id="42" name="Polygon 42"/>
            <p:cNvSpPr/>
            <p:nvPr/>
          </p:nvSpPr>
          <p:spPr>
            <a:xfrm>
              <a:off x="5580698" y="2786062"/>
              <a:ext cx="1030605" cy="1190625"/>
            </a:xfrm>
            <a:custGeom>
              <a:avLst/>
              <a:gdLst/>
              <a:ahLst/>
              <a:cxnLst/>
              <a:rect l="l" t="t" r="r" b="b"/>
              <a:pathLst>
                <a:path w="1030605" h="1190625">
                  <a:moveTo>
                    <a:pt x="515303" y="0"/>
                  </a:moveTo>
                  <a:lnTo>
                    <a:pt x="1030605" y="298133"/>
                  </a:lnTo>
                  <a:lnTo>
                    <a:pt x="1030605" y="892492"/>
                  </a:lnTo>
                  <a:lnTo>
                    <a:pt x="515303" y="1190625"/>
                  </a:lnTo>
                  <a:lnTo>
                    <a:pt x="0" y="892492"/>
                  </a:lnTo>
                  <a:lnTo>
                    <a:pt x="0" y="298133"/>
                  </a:lnTo>
                  <a:close/>
                </a:path>
              </a:pathLst>
            </a:custGeom>
            <a:noFill/>
            <a:ln w="9525">
              <a:solidFill>
                <a:srgbClr val="E0D5C2"/>
              </a:solidFill>
            </a:ln>
          </p:spPr>
        </p:sp>
        <p:sp>
          <p:nvSpPr>
            <p:cNvPr id="43" name="Polygon 43"/>
            <p:cNvSpPr/>
            <p:nvPr/>
          </p:nvSpPr>
          <p:spPr>
            <a:xfrm>
              <a:off x="5837872" y="3084195"/>
              <a:ext cx="516255" cy="594360"/>
            </a:xfrm>
            <a:custGeom>
              <a:avLst/>
              <a:gdLst/>
              <a:ahLst/>
              <a:cxnLst/>
              <a:rect l="l" t="t" r="r" b="b"/>
              <a:pathLst>
                <a:path w="516255" h="594360">
                  <a:moveTo>
                    <a:pt x="258128" y="0"/>
                  </a:moveTo>
                  <a:lnTo>
                    <a:pt x="516255" y="148590"/>
                  </a:lnTo>
                  <a:lnTo>
                    <a:pt x="516255" y="445770"/>
                  </a:lnTo>
                  <a:lnTo>
                    <a:pt x="258128" y="594360"/>
                  </a:lnTo>
                  <a:lnTo>
                    <a:pt x="0" y="445770"/>
                  </a:lnTo>
                  <a:lnTo>
                    <a:pt x="0" y="148590"/>
                  </a:lnTo>
                  <a:close/>
                </a:path>
              </a:pathLst>
            </a:custGeom>
            <a:noFill/>
            <a:ln w="9525">
              <a:solidFill>
                <a:srgbClr val="E0D5C2"/>
              </a:solidFill>
            </a:ln>
          </p:spPr>
        </p:sp>
        <p:sp>
          <p:nvSpPr>
            <p:cNvPr id="44" name="Line 44"/>
            <p:cNvSpPr/>
            <p:nvPr/>
          </p:nvSpPr>
          <p:spPr>
            <a:xfrm>
              <a:off x="6096000" y="2190750"/>
              <a:ext cx="9525" cy="1190625"/>
            </a:xfrm>
            <a:custGeom>
              <a:avLst/>
              <a:gdLst/>
              <a:ahLst/>
              <a:cxnLst/>
              <a:rect l="l" t="t" r="r" b="b"/>
              <a:pathLst>
                <a:path w="9525" h="1190625">
                  <a:moveTo>
                    <a:pt x="0" y="1190625"/>
                  </a:moveTo>
                  <a:lnTo>
                    <a:pt x="0" y="0"/>
                  </a:lnTo>
                </a:path>
              </a:pathLst>
            </a:custGeom>
            <a:noFill/>
            <a:ln w="9525">
              <a:solidFill>
                <a:srgbClr val="E0D5C2"/>
              </a:solidFill>
            </a:ln>
          </p:spPr>
        </p:sp>
        <p:sp>
          <p:nvSpPr>
            <p:cNvPr id="45" name="Line 45"/>
            <p:cNvSpPr/>
            <p:nvPr/>
          </p:nvSpPr>
          <p:spPr>
            <a:xfrm>
              <a:off x="6096000" y="2786062"/>
              <a:ext cx="1031557" cy="595312"/>
            </a:xfrm>
            <a:custGeom>
              <a:avLst/>
              <a:gdLst/>
              <a:ahLst/>
              <a:cxnLst/>
              <a:rect l="l" t="t" r="r" b="b"/>
              <a:pathLst>
                <a:path w="1031557" h="595312">
                  <a:moveTo>
                    <a:pt x="0" y="595312"/>
                  </a:moveTo>
                  <a:lnTo>
                    <a:pt x="1031557" y="0"/>
                  </a:lnTo>
                </a:path>
              </a:pathLst>
            </a:custGeom>
            <a:noFill/>
            <a:ln w="9525">
              <a:solidFill>
                <a:srgbClr val="E0D5C2"/>
              </a:solidFill>
            </a:ln>
          </p:spPr>
        </p:sp>
        <p:sp>
          <p:nvSpPr>
            <p:cNvPr id="46" name="Line 46"/>
            <p:cNvSpPr/>
            <p:nvPr/>
          </p:nvSpPr>
          <p:spPr>
            <a:xfrm>
              <a:off x="6096000" y="3381375"/>
              <a:ext cx="1031557" cy="595312"/>
            </a:xfrm>
            <a:custGeom>
              <a:avLst/>
              <a:gdLst/>
              <a:ahLst/>
              <a:cxnLst/>
              <a:rect l="l" t="t" r="r" b="b"/>
              <a:pathLst>
                <a:path w="1031557" h="595312">
                  <a:moveTo>
                    <a:pt x="0" y="0"/>
                  </a:moveTo>
                  <a:lnTo>
                    <a:pt x="1031557" y="595312"/>
                  </a:lnTo>
                </a:path>
              </a:pathLst>
            </a:custGeom>
            <a:noFill/>
            <a:ln w="9525">
              <a:solidFill>
                <a:srgbClr val="E0D5C2"/>
              </a:solidFill>
            </a:ln>
          </p:spPr>
        </p:sp>
        <p:sp>
          <p:nvSpPr>
            <p:cNvPr id="47" name="Line 47"/>
            <p:cNvSpPr/>
            <p:nvPr/>
          </p:nvSpPr>
          <p:spPr>
            <a:xfrm>
              <a:off x="6096000" y="3381375"/>
              <a:ext cx="9525" cy="1190625"/>
            </a:xfrm>
            <a:custGeom>
              <a:avLst/>
              <a:gdLst/>
              <a:ahLst/>
              <a:cxnLst/>
              <a:rect l="l" t="t" r="r" b="b"/>
              <a:pathLst>
                <a:path w="9525" h="1190625">
                  <a:moveTo>
                    <a:pt x="0" y="0"/>
                  </a:moveTo>
                  <a:lnTo>
                    <a:pt x="0" y="1190625"/>
                  </a:lnTo>
                </a:path>
              </a:pathLst>
            </a:custGeom>
            <a:noFill/>
            <a:ln w="9525">
              <a:solidFill>
                <a:srgbClr val="E0D5C2"/>
              </a:solidFill>
            </a:ln>
          </p:spPr>
        </p:sp>
        <p:sp>
          <p:nvSpPr>
            <p:cNvPr id="48" name="Line 48"/>
            <p:cNvSpPr/>
            <p:nvPr/>
          </p:nvSpPr>
          <p:spPr>
            <a:xfrm>
              <a:off x="5064442" y="3381375"/>
              <a:ext cx="1031557" cy="595312"/>
            </a:xfrm>
            <a:custGeom>
              <a:avLst/>
              <a:gdLst/>
              <a:ahLst/>
              <a:cxnLst/>
              <a:rect l="l" t="t" r="r" b="b"/>
              <a:pathLst>
                <a:path w="1031557" h="595312">
                  <a:moveTo>
                    <a:pt x="1031557" y="0"/>
                  </a:moveTo>
                  <a:lnTo>
                    <a:pt x="0" y="595312"/>
                  </a:lnTo>
                </a:path>
              </a:pathLst>
            </a:custGeom>
            <a:noFill/>
            <a:ln w="9525">
              <a:solidFill>
                <a:srgbClr val="E0D5C2"/>
              </a:solidFill>
            </a:ln>
          </p:spPr>
        </p:sp>
        <p:sp>
          <p:nvSpPr>
            <p:cNvPr id="49" name="Line 49"/>
            <p:cNvSpPr/>
            <p:nvPr/>
          </p:nvSpPr>
          <p:spPr>
            <a:xfrm>
              <a:off x="5064442" y="2786062"/>
              <a:ext cx="1031557" cy="595312"/>
            </a:xfrm>
            <a:custGeom>
              <a:avLst/>
              <a:gdLst/>
              <a:ahLst/>
              <a:cxnLst/>
              <a:rect l="l" t="t" r="r" b="b"/>
              <a:pathLst>
                <a:path w="1031557" h="595312">
                  <a:moveTo>
                    <a:pt x="1031557" y="595312"/>
                  </a:moveTo>
                  <a:lnTo>
                    <a:pt x="0" y="0"/>
                  </a:lnTo>
                </a:path>
              </a:pathLst>
            </a:custGeom>
            <a:noFill/>
            <a:ln w="9525">
              <a:solidFill>
                <a:srgbClr val="E0D5C2"/>
              </a:solidFill>
            </a:ln>
          </p:spPr>
        </p:sp>
        <p:sp>
          <p:nvSpPr>
            <p:cNvPr id="50" name="Polygon 50"/>
            <p:cNvSpPr/>
            <p:nvPr/>
          </p:nvSpPr>
          <p:spPr>
            <a:xfrm>
              <a:off x="5456872" y="2369820"/>
              <a:ext cx="1412558" cy="1964055"/>
            </a:xfrm>
            <a:custGeom>
              <a:avLst/>
              <a:gdLst/>
              <a:ahLst/>
              <a:cxnLst/>
              <a:rect l="l" t="t" r="r" b="b"/>
              <a:pathLst>
                <a:path w="1412558" h="1964055">
                  <a:moveTo>
                    <a:pt x="639128" y="0"/>
                  </a:moveTo>
                  <a:lnTo>
                    <a:pt x="1340168" y="606742"/>
                  </a:lnTo>
                  <a:lnTo>
                    <a:pt x="1412558" y="1458277"/>
                  </a:lnTo>
                  <a:lnTo>
                    <a:pt x="639128" y="1964055"/>
                  </a:lnTo>
                  <a:lnTo>
                    <a:pt x="0" y="1381125"/>
                  </a:lnTo>
                  <a:lnTo>
                    <a:pt x="205740" y="762000"/>
                  </a:lnTo>
                  <a:close/>
                </a:path>
              </a:pathLst>
            </a:custGeom>
            <a:solidFill>
              <a:srgbClr val="C26D5E">
                <a:alpha val="35000"/>
              </a:srgbClr>
            </a:solidFill>
            <a:ln w="14288">
              <a:solidFill>
                <a:srgbClr val="A24B3C"/>
              </a:solidFill>
            </a:ln>
          </p:spPr>
        </p:sp>
        <p:sp>
          <p:nvSpPr>
            <p:cNvPr id="51" name="Ellipse 51"/>
            <p:cNvSpPr/>
            <p:nvPr/>
          </p:nvSpPr>
          <p:spPr>
            <a:xfrm>
              <a:off x="6062662" y="2336482"/>
              <a:ext cx="66675" cy="66675"/>
            </a:xfrm>
            <a:prstGeom prst="ellipse">
              <a:avLst/>
            </a:prstGeom>
            <a:solidFill>
              <a:srgbClr val="A3381F"/>
            </a:solidFill>
            <a:ln>
              <a:noFill/>
            </a:ln>
          </p:spPr>
        </p:sp>
        <p:sp>
          <p:nvSpPr>
            <p:cNvPr id="52" name="Ellipse 52"/>
            <p:cNvSpPr/>
            <p:nvPr/>
          </p:nvSpPr>
          <p:spPr>
            <a:xfrm>
              <a:off x="6763702" y="2943225"/>
              <a:ext cx="66675" cy="66675"/>
            </a:xfrm>
            <a:prstGeom prst="ellipse">
              <a:avLst/>
            </a:prstGeom>
            <a:solidFill>
              <a:srgbClr val="A3381F"/>
            </a:solidFill>
            <a:ln>
              <a:noFill/>
            </a:ln>
          </p:spPr>
        </p:sp>
        <p:sp>
          <p:nvSpPr>
            <p:cNvPr id="53" name="Ellipse 53"/>
            <p:cNvSpPr/>
            <p:nvPr/>
          </p:nvSpPr>
          <p:spPr>
            <a:xfrm>
              <a:off x="6836092" y="3794760"/>
              <a:ext cx="66675" cy="66675"/>
            </a:xfrm>
            <a:prstGeom prst="ellipse">
              <a:avLst/>
            </a:prstGeom>
            <a:solidFill>
              <a:srgbClr val="A3381F"/>
            </a:solidFill>
            <a:ln>
              <a:noFill/>
            </a:ln>
          </p:spPr>
        </p:sp>
        <p:sp>
          <p:nvSpPr>
            <p:cNvPr id="54" name="Ellipse 54"/>
            <p:cNvSpPr/>
            <p:nvPr/>
          </p:nvSpPr>
          <p:spPr>
            <a:xfrm>
              <a:off x="6062662" y="4300538"/>
              <a:ext cx="66675" cy="66675"/>
            </a:xfrm>
            <a:prstGeom prst="ellipse">
              <a:avLst/>
            </a:prstGeom>
            <a:solidFill>
              <a:srgbClr val="A3381F"/>
            </a:solidFill>
            <a:ln>
              <a:noFill/>
            </a:ln>
          </p:spPr>
        </p:sp>
        <p:sp>
          <p:nvSpPr>
            <p:cNvPr id="55" name="Ellipse 55"/>
            <p:cNvSpPr/>
            <p:nvPr/>
          </p:nvSpPr>
          <p:spPr>
            <a:xfrm>
              <a:off x="5423535" y="3717608"/>
              <a:ext cx="66675" cy="66675"/>
            </a:xfrm>
            <a:prstGeom prst="ellipse">
              <a:avLst/>
            </a:prstGeom>
            <a:solidFill>
              <a:srgbClr val="A3381F"/>
            </a:solidFill>
            <a:ln>
              <a:noFill/>
            </a:ln>
          </p:spPr>
        </p:sp>
        <p:sp>
          <p:nvSpPr>
            <p:cNvPr id="56" name="Ellipse 56"/>
            <p:cNvSpPr/>
            <p:nvPr/>
          </p:nvSpPr>
          <p:spPr>
            <a:xfrm>
              <a:off x="5629275" y="3098482"/>
              <a:ext cx="66675" cy="66675"/>
            </a:xfrm>
            <a:prstGeom prst="ellipse">
              <a:avLst/>
            </a:prstGeom>
            <a:solidFill>
              <a:srgbClr val="A3381F"/>
            </a:solidFill>
            <a:ln>
              <a:noFill/>
            </a:ln>
          </p:spPr>
        </p:sp>
        <p:sp>
          <p:nvSpPr>
            <p:cNvPr id="57" name="TextBox 57"/>
            <p:cNvSpPr txBox="1"/>
            <p:nvPr/>
          </p:nvSpPr>
          <p:spPr>
            <a:xfrm>
              <a:off x="6167438" y="3074432"/>
              <a:ext cx="104297" cy="126206"/>
            </a:xfrm>
            <a:prstGeom prst="rect">
              <a:avLst/>
            </a:prstGeom>
            <a:noFill/>
            <a:ln>
              <a:noFill/>
            </a:ln>
          </p:spPr>
          <p:txBody>
            <a:bodyPr wrap="none" lIns="0" tIns="0" rIns="0" bIns="0" anchor="t" anchorCtr="0">
              <a:spAutoFit/>
            </a:bodyPr>
            <a:lstStyle/>
            <a:p>
              <a:pPr algn="l"/>
              <a:r>
                <a:rPr lang="zh-CN" sz="640" dirty="0">
                  <a:solidFill>
                    <a:srgbClr val="9A9A9A"/>
                  </a:solidFill>
                  <a:latin typeface="+mn-lt"/>
                  <a:ea typeface="+mn-ea"/>
                  <a:cs typeface="+mn-cs"/>
                </a:rPr>
                <a:t>25</a:t>
              </a:r>
            </a:p>
          </p:txBody>
        </p:sp>
        <p:sp>
          <p:nvSpPr>
            <p:cNvPr id="58" name="TextBox 58"/>
            <p:cNvSpPr txBox="1"/>
            <p:nvPr/>
          </p:nvSpPr>
          <p:spPr>
            <a:xfrm>
              <a:off x="6167438" y="2769632"/>
              <a:ext cx="104297" cy="126206"/>
            </a:xfrm>
            <a:prstGeom prst="rect">
              <a:avLst/>
            </a:prstGeom>
            <a:noFill/>
            <a:ln>
              <a:noFill/>
            </a:ln>
          </p:spPr>
          <p:txBody>
            <a:bodyPr wrap="none" lIns="0" tIns="0" rIns="0" bIns="0" anchor="t" anchorCtr="0">
              <a:spAutoFit/>
            </a:bodyPr>
            <a:lstStyle/>
            <a:p>
              <a:pPr algn="l"/>
              <a:r>
                <a:rPr lang="zh-CN" sz="640" dirty="0">
                  <a:solidFill>
                    <a:srgbClr val="9A9A9A"/>
                  </a:solidFill>
                  <a:latin typeface="+mn-lt"/>
                  <a:ea typeface="+mn-ea"/>
                  <a:cs typeface="+mn-cs"/>
                </a:rPr>
                <a:t>50</a:t>
              </a:r>
            </a:p>
          </p:txBody>
        </p:sp>
        <p:sp>
          <p:nvSpPr>
            <p:cNvPr id="59" name="TextBox 59"/>
            <p:cNvSpPr txBox="1"/>
            <p:nvPr/>
          </p:nvSpPr>
          <p:spPr>
            <a:xfrm>
              <a:off x="6167438" y="2474357"/>
              <a:ext cx="104297" cy="126206"/>
            </a:xfrm>
            <a:prstGeom prst="rect">
              <a:avLst/>
            </a:prstGeom>
            <a:noFill/>
            <a:ln>
              <a:noFill/>
            </a:ln>
          </p:spPr>
          <p:txBody>
            <a:bodyPr wrap="none" lIns="0" tIns="0" rIns="0" bIns="0" anchor="t" anchorCtr="0">
              <a:spAutoFit/>
            </a:bodyPr>
            <a:lstStyle/>
            <a:p>
              <a:pPr algn="l"/>
              <a:r>
                <a:rPr lang="zh-CN" sz="640" dirty="0">
                  <a:solidFill>
                    <a:srgbClr val="9A9A9A"/>
                  </a:solidFill>
                  <a:latin typeface="+mn-lt"/>
                  <a:ea typeface="+mn-ea"/>
                  <a:cs typeface="+mn-cs"/>
                </a:rPr>
                <a:t>75</a:t>
              </a:r>
            </a:p>
          </p:txBody>
        </p:sp>
        <p:sp>
          <p:nvSpPr>
            <p:cNvPr id="60" name="TextBox 60"/>
            <p:cNvSpPr txBox="1"/>
            <p:nvPr/>
          </p:nvSpPr>
          <p:spPr>
            <a:xfrm>
              <a:off x="6167438" y="2179082"/>
              <a:ext cx="151684" cy="126206"/>
            </a:xfrm>
            <a:prstGeom prst="rect">
              <a:avLst/>
            </a:prstGeom>
            <a:noFill/>
            <a:ln>
              <a:noFill/>
            </a:ln>
          </p:spPr>
          <p:txBody>
            <a:bodyPr wrap="none" lIns="0" tIns="0" rIns="0" bIns="0" anchor="t" anchorCtr="0">
              <a:spAutoFit/>
            </a:bodyPr>
            <a:lstStyle/>
            <a:p>
              <a:pPr algn="l"/>
              <a:r>
                <a:rPr lang="zh-CN" sz="640" dirty="0">
                  <a:solidFill>
                    <a:srgbClr val="9A9A9A"/>
                  </a:solidFill>
                  <a:latin typeface="+mn-lt"/>
                  <a:ea typeface="+mn-ea"/>
                  <a:cs typeface="+mn-cs"/>
                </a:rPr>
                <a:t>100</a:t>
              </a:r>
            </a:p>
          </p:txBody>
        </p:sp>
        <p:sp>
          <p:nvSpPr>
            <p:cNvPr id="61" name="TextBox 61"/>
            <p:cNvSpPr txBox="1"/>
            <p:nvPr/>
          </p:nvSpPr>
          <p:spPr>
            <a:xfrm>
              <a:off x="5848921" y="1903095"/>
              <a:ext cx="494157" cy="176212"/>
            </a:xfrm>
            <a:prstGeom prst="rect">
              <a:avLst/>
            </a:prstGeom>
            <a:noFill/>
            <a:ln>
              <a:noFill/>
            </a:ln>
          </p:spPr>
          <p:txBody>
            <a:bodyPr wrap="none" lIns="0" tIns="0" rIns="0" bIns="0" anchor="t" anchorCtr="0">
              <a:spAutoFit/>
            </a:bodyPr>
            <a:lstStyle/>
            <a:p>
              <a:pPr algn="ctr"/>
              <a:r>
                <a:rPr lang="zh-CN" sz="900" b="1" dirty="0">
                  <a:solidFill>
                    <a:srgbClr val="A3381F"/>
                  </a:solidFill>
                  <a:latin typeface="+mn-lt"/>
                  <a:ea typeface="+mn-ea"/>
                  <a:cs typeface="+mn-cs"/>
                </a:rPr>
                <a:t>当前价值</a:t>
              </a:r>
            </a:p>
          </p:txBody>
        </p:sp>
        <p:sp>
          <p:nvSpPr>
            <p:cNvPr id="62" name="TextBox 62"/>
            <p:cNvSpPr txBox="1"/>
            <p:nvPr/>
          </p:nvSpPr>
          <p:spPr>
            <a:xfrm>
              <a:off x="7177088" y="2598420"/>
              <a:ext cx="494157"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综合贡献</a:t>
              </a:r>
            </a:p>
          </p:txBody>
        </p:sp>
        <p:sp>
          <p:nvSpPr>
            <p:cNvPr id="63" name="TextBox 63"/>
            <p:cNvSpPr txBox="1"/>
            <p:nvPr/>
          </p:nvSpPr>
          <p:spPr>
            <a:xfrm>
              <a:off x="7177088" y="4046220"/>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活跃程度</a:t>
              </a:r>
            </a:p>
          </p:txBody>
        </p:sp>
        <p:sp>
          <p:nvSpPr>
            <p:cNvPr id="64" name="TextBox 64"/>
            <p:cNvSpPr txBox="1"/>
            <p:nvPr/>
          </p:nvSpPr>
          <p:spPr>
            <a:xfrm>
              <a:off x="5848921" y="4855845"/>
              <a:ext cx="494157" cy="176212"/>
            </a:xfrm>
            <a:prstGeom prst="rect">
              <a:avLst/>
            </a:prstGeom>
            <a:noFill/>
            <a:ln>
              <a:noFill/>
            </a:ln>
          </p:spPr>
          <p:txBody>
            <a:bodyPr wrap="none" lIns="0" tIns="0" rIns="0" bIns="0" anchor="t" anchorCtr="0">
              <a:spAutoFit/>
            </a:bodyPr>
            <a:lstStyle/>
            <a:p>
              <a:pPr algn="ctr"/>
              <a:r>
                <a:rPr lang="zh-CN" sz="900" b="1" dirty="0">
                  <a:solidFill>
                    <a:srgbClr val="A3381F"/>
                  </a:solidFill>
                  <a:latin typeface="+mn-lt"/>
                  <a:ea typeface="+mn-ea"/>
                  <a:cs typeface="+mn-cs"/>
                </a:rPr>
                <a:t>成长潜力</a:t>
              </a:r>
            </a:p>
          </p:txBody>
        </p:sp>
        <p:sp>
          <p:nvSpPr>
            <p:cNvPr id="65" name="TextBox 65"/>
            <p:cNvSpPr txBox="1"/>
            <p:nvPr/>
          </p:nvSpPr>
          <p:spPr>
            <a:xfrm>
              <a:off x="4520756" y="4046220"/>
              <a:ext cx="494157" cy="176212"/>
            </a:xfrm>
            <a:prstGeom prst="rect">
              <a:avLst/>
            </a:prstGeom>
            <a:noFill/>
            <a:ln>
              <a:noFill/>
            </a:ln>
          </p:spPr>
          <p:txBody>
            <a:bodyPr wrap="none" lIns="0" tIns="0" rIns="0" bIns="0" anchor="t" anchorCtr="0">
              <a:spAutoFit/>
            </a:bodyPr>
            <a:lstStyle/>
            <a:p>
              <a:pPr algn="r"/>
              <a:r>
                <a:rPr lang="zh-CN" sz="900" b="1" dirty="0">
                  <a:solidFill>
                    <a:srgbClr val="A24B3C"/>
                  </a:solidFill>
                  <a:latin typeface="+mn-lt"/>
                  <a:ea typeface="+mn-ea"/>
                  <a:cs typeface="+mn-cs"/>
                </a:rPr>
                <a:t>关系深度</a:t>
              </a:r>
            </a:p>
          </p:txBody>
        </p:sp>
        <p:sp>
          <p:nvSpPr>
            <p:cNvPr id="66" name="TextBox 66"/>
            <p:cNvSpPr txBox="1"/>
            <p:nvPr/>
          </p:nvSpPr>
          <p:spPr>
            <a:xfrm>
              <a:off x="4520756" y="2598420"/>
              <a:ext cx="494157" cy="176212"/>
            </a:xfrm>
            <a:prstGeom prst="rect">
              <a:avLst/>
            </a:prstGeom>
            <a:noFill/>
            <a:ln>
              <a:noFill/>
            </a:ln>
          </p:spPr>
          <p:txBody>
            <a:bodyPr wrap="none" lIns="0" tIns="0" rIns="0" bIns="0" anchor="t" anchorCtr="0">
              <a:spAutoFit/>
            </a:bodyPr>
            <a:lstStyle/>
            <a:p>
              <a:pPr algn="r"/>
              <a:r>
                <a:rPr lang="zh-CN" sz="900" b="1" dirty="0">
                  <a:solidFill>
                    <a:srgbClr val="5E3A33"/>
                  </a:solidFill>
                  <a:latin typeface="+mn-lt"/>
                  <a:ea typeface="+mn-ea"/>
                  <a:cs typeface="+mn-cs"/>
                </a:rPr>
                <a:t>风险成本</a:t>
              </a:r>
            </a:p>
          </p:txBody>
        </p:sp>
      </p:grpSp>
      <p:grpSp>
        <p:nvGrpSpPr>
          <p:cNvPr id="126" name="panel-table"/>
          <p:cNvGrpSpPr/>
          <p:nvPr/>
        </p:nvGrpSpPr>
        <p:grpSpPr>
          <a:xfrm>
            <a:off x="8572500" y="1352550"/>
            <a:ext cx="3293890" cy="4076700"/>
            <a:chOff x="8572500" y="1352550"/>
            <a:chExt cx="3293890" cy="4076700"/>
          </a:xfrm>
        </p:grpSpPr>
        <p:sp>
          <p:nvSpPr>
            <p:cNvPr id="68" name="Rectangle 68"/>
            <p:cNvSpPr/>
            <p:nvPr/>
          </p:nvSpPr>
          <p:spPr>
            <a:xfrm>
              <a:off x="8572500" y="1352550"/>
              <a:ext cx="3286125" cy="4076700"/>
            </a:xfrm>
            <a:prstGeom prst="roundRect">
              <a:avLst>
                <a:gd name="adj" fmla="val 3478"/>
              </a:avLst>
            </a:prstGeom>
            <a:solidFill>
              <a:srgbClr val="FFFFFF"/>
            </a:solidFill>
            <a:ln w="9525">
              <a:solidFill>
                <a:srgbClr val="E6D9C0"/>
              </a:solidFill>
            </a:ln>
          </p:spPr>
        </p:sp>
        <p:sp>
          <p:nvSpPr>
            <p:cNvPr id="69" name="Rectangle 69"/>
            <p:cNvSpPr/>
            <p:nvPr/>
          </p:nvSpPr>
          <p:spPr>
            <a:xfrm>
              <a:off x="8572500" y="1352550"/>
              <a:ext cx="3286125" cy="323850"/>
            </a:xfrm>
            <a:prstGeom prst="roundRect">
              <a:avLst>
                <a:gd name="adj" fmla="val 35294"/>
              </a:avLst>
            </a:prstGeom>
            <a:solidFill>
              <a:srgbClr val="A3381F"/>
            </a:solidFill>
            <a:ln>
              <a:noFill/>
            </a:ln>
          </p:spPr>
        </p:sp>
        <p:sp>
          <p:nvSpPr>
            <p:cNvPr id="70" name="Rectangle 70"/>
            <p:cNvSpPr/>
            <p:nvPr/>
          </p:nvSpPr>
          <p:spPr>
            <a:xfrm>
              <a:off x="8572500" y="1524000"/>
              <a:ext cx="3286125" cy="152400"/>
            </a:xfrm>
            <a:prstGeom prst="rect">
              <a:avLst/>
            </a:prstGeom>
            <a:solidFill>
              <a:srgbClr val="A3381F"/>
            </a:solidFill>
            <a:ln>
              <a:noFill/>
            </a:ln>
          </p:spPr>
        </p:sp>
        <p:sp>
          <p:nvSpPr>
            <p:cNvPr id="71" name="TextBox 71"/>
            <p:cNvSpPr txBox="1"/>
            <p:nvPr/>
          </p:nvSpPr>
          <p:spPr>
            <a:xfrm>
              <a:off x="9245244" y="146637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维度</a:t>
              </a:r>
            </a:p>
          </p:txBody>
        </p:sp>
        <p:sp>
          <p:nvSpPr>
            <p:cNvPr id="72" name="TextBox 72"/>
            <p:cNvSpPr txBox="1"/>
            <p:nvPr/>
          </p:nvSpPr>
          <p:spPr>
            <a:xfrm>
              <a:off x="10373462" y="1466374"/>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核心指标（示例）</a:t>
              </a:r>
            </a:p>
          </p:txBody>
        </p:sp>
        <p:sp>
          <p:nvSpPr>
            <p:cNvPr id="73" name="Line 73"/>
            <p:cNvSpPr/>
            <p:nvPr/>
          </p:nvSpPr>
          <p:spPr>
            <a:xfrm>
              <a:off x="10096500" y="1352550"/>
              <a:ext cx="9525" cy="4076700"/>
            </a:xfrm>
            <a:custGeom>
              <a:avLst/>
              <a:gdLst/>
              <a:ahLst/>
              <a:cxnLst/>
              <a:rect l="l" t="t" r="r" b="b"/>
              <a:pathLst>
                <a:path w="9525" h="4076700">
                  <a:moveTo>
                    <a:pt x="0" y="0"/>
                  </a:moveTo>
                  <a:lnTo>
                    <a:pt x="0" y="4076700"/>
                  </a:lnTo>
                </a:path>
              </a:pathLst>
            </a:custGeom>
            <a:noFill/>
            <a:ln w="9525">
              <a:solidFill>
                <a:srgbClr val="E6D9C0"/>
              </a:solidFill>
            </a:ln>
          </p:spPr>
        </p:sp>
        <p:grpSp>
          <p:nvGrpSpPr>
            <p:cNvPr id="79" name="Group 79"/>
            <p:cNvGrpSpPr/>
            <p:nvPr/>
          </p:nvGrpSpPr>
          <p:grpSpPr>
            <a:xfrm>
              <a:off x="8765381" y="1830224"/>
              <a:ext cx="128588" cy="129544"/>
              <a:chOff x="8765381" y="1830224"/>
              <a:chExt cx="128588" cy="129544"/>
            </a:xfrm>
          </p:grpSpPr>
          <p:sp>
            <p:nvSpPr>
              <p:cNvPr id="74" name="Freeform 74"/>
              <p:cNvSpPr/>
              <p:nvPr/>
            </p:nvSpPr>
            <p:spPr>
              <a:xfrm>
                <a:off x="8808244" y="188833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A3381F"/>
                </a:solidFill>
              </a:ln>
            </p:spPr>
          </p:sp>
          <p:sp>
            <p:nvSpPr>
              <p:cNvPr id="75" name="Freeform 75"/>
              <p:cNvSpPr/>
              <p:nvPr/>
            </p:nvSpPr>
            <p:spPr>
              <a:xfrm>
                <a:off x="8808244" y="190976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A3381F"/>
                </a:solidFill>
              </a:ln>
            </p:spPr>
          </p:sp>
          <p:sp>
            <p:nvSpPr>
              <p:cNvPr id="76" name="Freeform 76"/>
              <p:cNvSpPr/>
              <p:nvPr/>
            </p:nvSpPr>
            <p:spPr>
              <a:xfrm>
                <a:off x="8765381" y="183022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A3381F"/>
                </a:solidFill>
              </a:ln>
            </p:spPr>
          </p:sp>
          <p:sp>
            <p:nvSpPr>
              <p:cNvPr id="77" name="Freeform 77"/>
              <p:cNvSpPr/>
              <p:nvPr/>
            </p:nvSpPr>
            <p:spPr>
              <a:xfrm>
                <a:off x="8765381" y="185261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A3381F"/>
                </a:solidFill>
              </a:ln>
            </p:spPr>
          </p:sp>
          <p:sp>
            <p:nvSpPr>
              <p:cNvPr id="78" name="Freeform 78"/>
              <p:cNvSpPr/>
              <p:nvPr/>
            </p:nvSpPr>
            <p:spPr>
              <a:xfrm>
                <a:off x="8765381" y="188833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A3381F"/>
                </a:solidFill>
              </a:ln>
            </p:spPr>
          </p:sp>
        </p:grpSp>
        <p:sp>
          <p:nvSpPr>
            <p:cNvPr id="80" name="TextBox 80"/>
            <p:cNvSpPr txBox="1"/>
            <p:nvPr/>
          </p:nvSpPr>
          <p:spPr>
            <a:xfrm>
              <a:off x="9005888" y="1841897"/>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当前价值</a:t>
              </a:r>
            </a:p>
          </p:txBody>
        </p:sp>
        <p:sp>
          <p:nvSpPr>
            <p:cNvPr id="81" name="TextBox 81"/>
            <p:cNvSpPr txBox="1"/>
            <p:nvPr/>
          </p:nvSpPr>
          <p:spPr>
            <a:xfrm>
              <a:off x="9005888" y="2029539"/>
              <a:ext cx="535159" cy="154781"/>
            </a:xfrm>
            <a:prstGeom prst="rect">
              <a:avLst/>
            </a:prstGeom>
            <a:noFill/>
            <a:ln>
              <a:noFill/>
            </a:ln>
          </p:spPr>
          <p:txBody>
            <a:bodyPr wrap="none" lIns="0" tIns="0" rIns="0" bIns="0" anchor="t" anchorCtr="0">
              <a:spAutoFit/>
            </a:bodyPr>
            <a:lstStyle/>
            <a:p>
              <a:pPr algn="l"/>
              <a:r>
                <a:rPr lang="zh-CN" sz="790" b="1" dirty="0">
                  <a:solidFill>
                    <a:srgbClr val="A24B3C"/>
                  </a:solidFill>
                  <a:latin typeface="+mn-lt"/>
                  <a:ea typeface="+mn-ea"/>
                  <a:cs typeface="+mn-cs"/>
                </a:rPr>
                <a:t xml:space="preserve">（35%）　</a:t>
              </a:r>
            </a:p>
          </p:txBody>
        </p:sp>
        <p:sp>
          <p:nvSpPr>
            <p:cNvPr id="82" name="TextBox 82"/>
            <p:cNvSpPr txBox="1"/>
            <p:nvPr/>
          </p:nvSpPr>
          <p:spPr>
            <a:xfrm>
              <a:off x="10206038" y="1968341"/>
              <a:ext cx="1660352"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 xml:space="preserve">月日均AUM、存款、投资、贷款　</a:t>
              </a:r>
            </a:p>
          </p:txBody>
        </p:sp>
        <p:sp>
          <p:nvSpPr>
            <p:cNvPr id="83" name="Line 83"/>
            <p:cNvSpPr/>
            <p:nvPr/>
          </p:nvSpPr>
          <p:spPr>
            <a:xfrm>
              <a:off x="8686800" y="2219325"/>
              <a:ext cx="3057525" cy="9525"/>
            </a:xfrm>
            <a:custGeom>
              <a:avLst/>
              <a:gdLst/>
              <a:ahLst/>
              <a:cxnLst/>
              <a:rect l="l" t="t" r="r" b="b"/>
              <a:pathLst>
                <a:path w="3057525" h="9525">
                  <a:moveTo>
                    <a:pt x="0" y="0"/>
                  </a:moveTo>
                  <a:lnTo>
                    <a:pt x="3057525" y="0"/>
                  </a:lnTo>
                </a:path>
              </a:pathLst>
            </a:custGeom>
            <a:noFill/>
            <a:ln w="9525">
              <a:solidFill>
                <a:srgbClr val="F0E8D8"/>
              </a:solidFill>
            </a:ln>
          </p:spPr>
        </p:sp>
        <p:grpSp>
          <p:nvGrpSpPr>
            <p:cNvPr id="88" name="Group 88"/>
            <p:cNvGrpSpPr/>
            <p:nvPr/>
          </p:nvGrpSpPr>
          <p:grpSpPr>
            <a:xfrm>
              <a:off x="8765381" y="2374106"/>
              <a:ext cx="128588" cy="121444"/>
              <a:chOff x="8765381" y="2374106"/>
              <a:chExt cx="128588" cy="121444"/>
            </a:xfrm>
          </p:grpSpPr>
          <p:sp>
            <p:nvSpPr>
              <p:cNvPr id="84" name="Freeform 84"/>
              <p:cNvSpPr/>
              <p:nvPr/>
            </p:nvSpPr>
            <p:spPr>
              <a:xfrm>
                <a:off x="8765381" y="2402681"/>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C26D5E"/>
                </a:solidFill>
              </a:ln>
            </p:spPr>
          </p:sp>
          <p:sp>
            <p:nvSpPr>
              <p:cNvPr id="85" name="Freeform 85"/>
              <p:cNvSpPr/>
              <p:nvPr/>
            </p:nvSpPr>
            <p:spPr>
              <a:xfrm>
                <a:off x="8801100" y="2374106"/>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C26D5E"/>
                </a:solidFill>
              </a:ln>
            </p:spPr>
          </p:sp>
          <p:sp>
            <p:nvSpPr>
              <p:cNvPr id="86" name="Freeform 86"/>
              <p:cNvSpPr/>
              <p:nvPr/>
            </p:nvSpPr>
            <p:spPr>
              <a:xfrm>
                <a:off x="8829675" y="2438400"/>
                <a:ext cx="9525" cy="9525"/>
              </a:xfrm>
              <a:custGeom>
                <a:avLst/>
                <a:gdLst/>
                <a:ahLst/>
                <a:cxnLst/>
                <a:rect l="l" t="t" r="r" b="b"/>
                <a:pathLst>
                  <a:path w="9525" h="9525">
                    <a:moveTo>
                      <a:pt x="0" y="0"/>
                    </a:moveTo>
                    <a:lnTo>
                      <a:pt x="0" y="71"/>
                    </a:lnTo>
                  </a:path>
                </a:pathLst>
              </a:custGeom>
              <a:noFill/>
              <a:ln w="14288">
                <a:solidFill>
                  <a:srgbClr val="C26D5E"/>
                </a:solidFill>
              </a:ln>
            </p:spPr>
          </p:sp>
          <p:sp>
            <p:nvSpPr>
              <p:cNvPr id="87" name="Freeform 87"/>
              <p:cNvSpPr/>
              <p:nvPr/>
            </p:nvSpPr>
            <p:spPr>
              <a:xfrm>
                <a:off x="8765381" y="2445544"/>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C26D5E"/>
                </a:solidFill>
              </a:ln>
            </p:spPr>
          </p:sp>
        </p:grpSp>
        <p:sp>
          <p:nvSpPr>
            <p:cNvPr id="89" name="TextBox 89"/>
            <p:cNvSpPr txBox="1"/>
            <p:nvPr/>
          </p:nvSpPr>
          <p:spPr>
            <a:xfrm>
              <a:off x="9005888" y="2384822"/>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综合贡献</a:t>
              </a:r>
            </a:p>
          </p:txBody>
        </p:sp>
        <p:sp>
          <p:nvSpPr>
            <p:cNvPr id="90" name="TextBox 90"/>
            <p:cNvSpPr txBox="1"/>
            <p:nvPr/>
          </p:nvSpPr>
          <p:spPr>
            <a:xfrm>
              <a:off x="9005888" y="2572464"/>
              <a:ext cx="535159" cy="154781"/>
            </a:xfrm>
            <a:prstGeom prst="rect">
              <a:avLst/>
            </a:prstGeom>
            <a:noFill/>
            <a:ln>
              <a:noFill/>
            </a:ln>
          </p:spPr>
          <p:txBody>
            <a:bodyPr wrap="none" lIns="0" tIns="0" rIns="0" bIns="0" anchor="t" anchorCtr="0">
              <a:spAutoFit/>
            </a:bodyPr>
            <a:lstStyle/>
            <a:p>
              <a:pPr algn="l"/>
              <a:r>
                <a:rPr lang="zh-CN" sz="790" b="1" dirty="0">
                  <a:solidFill>
                    <a:srgbClr val="A24B3C"/>
                  </a:solidFill>
                  <a:latin typeface="+mn-lt"/>
                  <a:ea typeface="+mn-ea"/>
                  <a:cs typeface="+mn-cs"/>
                </a:rPr>
                <a:t xml:space="preserve">（20%）　</a:t>
              </a:r>
            </a:p>
          </p:txBody>
        </p:sp>
        <p:sp>
          <p:nvSpPr>
            <p:cNvPr id="91" name="TextBox 91"/>
            <p:cNvSpPr txBox="1"/>
            <p:nvPr/>
          </p:nvSpPr>
          <p:spPr>
            <a:xfrm>
              <a:off x="10206038" y="2511266"/>
              <a:ext cx="1416248"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 xml:space="preserve">FTP利润、中收、结算贡献　</a:t>
              </a:r>
            </a:p>
          </p:txBody>
        </p:sp>
        <p:sp>
          <p:nvSpPr>
            <p:cNvPr id="92" name="Line 92"/>
            <p:cNvSpPr/>
            <p:nvPr/>
          </p:nvSpPr>
          <p:spPr>
            <a:xfrm>
              <a:off x="8686800" y="2762250"/>
              <a:ext cx="3057525" cy="9525"/>
            </a:xfrm>
            <a:custGeom>
              <a:avLst/>
              <a:gdLst/>
              <a:ahLst/>
              <a:cxnLst/>
              <a:rect l="l" t="t" r="r" b="b"/>
              <a:pathLst>
                <a:path w="3057525" h="9525">
                  <a:moveTo>
                    <a:pt x="0" y="0"/>
                  </a:moveTo>
                  <a:lnTo>
                    <a:pt x="3057525" y="0"/>
                  </a:lnTo>
                </a:path>
              </a:pathLst>
            </a:custGeom>
            <a:noFill/>
            <a:ln w="9525">
              <a:solidFill>
                <a:srgbClr val="F0E8D8"/>
              </a:solidFill>
            </a:ln>
          </p:spPr>
        </p:sp>
        <p:grpSp>
          <p:nvGrpSpPr>
            <p:cNvPr id="96" name="Group 96"/>
            <p:cNvGrpSpPr/>
            <p:nvPr/>
          </p:nvGrpSpPr>
          <p:grpSpPr>
            <a:xfrm>
              <a:off x="8786812" y="2917031"/>
              <a:ext cx="85725" cy="128588"/>
              <a:chOff x="8786812" y="2917031"/>
              <a:chExt cx="85725" cy="128588"/>
            </a:xfrm>
          </p:grpSpPr>
          <p:sp>
            <p:nvSpPr>
              <p:cNvPr id="93" name="Freeform 93"/>
              <p:cNvSpPr/>
              <p:nvPr/>
            </p:nvSpPr>
            <p:spPr>
              <a:xfrm>
                <a:off x="8786812" y="2917031"/>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5E3A33"/>
                </a:solidFill>
              </a:ln>
            </p:spPr>
          </p:sp>
          <p:sp>
            <p:nvSpPr>
              <p:cNvPr id="94" name="Freeform 94"/>
              <p:cNvSpPr/>
              <p:nvPr/>
            </p:nvSpPr>
            <p:spPr>
              <a:xfrm>
                <a:off x="8822531" y="2924175"/>
                <a:ext cx="14288" cy="9525"/>
              </a:xfrm>
              <a:custGeom>
                <a:avLst/>
                <a:gdLst/>
                <a:ahLst/>
                <a:cxnLst/>
                <a:rect l="l" t="t" r="r" b="b"/>
                <a:pathLst>
                  <a:path w="14288" h="9525">
                    <a:moveTo>
                      <a:pt x="0" y="0"/>
                    </a:moveTo>
                    <a:lnTo>
                      <a:pt x="14288" y="0"/>
                    </a:lnTo>
                  </a:path>
                </a:pathLst>
              </a:custGeom>
              <a:noFill/>
              <a:ln w="14288">
                <a:solidFill>
                  <a:srgbClr val="5E3A33"/>
                </a:solidFill>
              </a:ln>
            </p:spPr>
          </p:sp>
          <p:sp>
            <p:nvSpPr>
              <p:cNvPr id="95" name="Freeform 95"/>
              <p:cNvSpPr/>
              <p:nvPr/>
            </p:nvSpPr>
            <p:spPr>
              <a:xfrm>
                <a:off x="8829675" y="3017044"/>
                <a:ext cx="9525" cy="9525"/>
              </a:xfrm>
              <a:custGeom>
                <a:avLst/>
                <a:gdLst/>
                <a:ahLst/>
                <a:cxnLst/>
                <a:rect l="l" t="t" r="r" b="b"/>
                <a:pathLst>
                  <a:path w="9525" h="9525">
                    <a:moveTo>
                      <a:pt x="0" y="0"/>
                    </a:moveTo>
                    <a:lnTo>
                      <a:pt x="0" y="71"/>
                    </a:lnTo>
                  </a:path>
                </a:pathLst>
              </a:custGeom>
              <a:noFill/>
              <a:ln w="14288">
                <a:solidFill>
                  <a:srgbClr val="5E3A33"/>
                </a:solidFill>
              </a:ln>
            </p:spPr>
          </p:sp>
        </p:grpSp>
        <p:sp>
          <p:nvSpPr>
            <p:cNvPr id="97" name="TextBox 97"/>
            <p:cNvSpPr txBox="1"/>
            <p:nvPr/>
          </p:nvSpPr>
          <p:spPr>
            <a:xfrm>
              <a:off x="9005888" y="2927747"/>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活跃程度</a:t>
              </a:r>
            </a:p>
          </p:txBody>
        </p:sp>
        <p:sp>
          <p:nvSpPr>
            <p:cNvPr id="98" name="TextBox 98"/>
            <p:cNvSpPr txBox="1"/>
            <p:nvPr/>
          </p:nvSpPr>
          <p:spPr>
            <a:xfrm>
              <a:off x="9005888" y="3115389"/>
              <a:ext cx="535159" cy="154781"/>
            </a:xfrm>
            <a:prstGeom prst="rect">
              <a:avLst/>
            </a:prstGeom>
            <a:noFill/>
            <a:ln>
              <a:noFill/>
            </a:ln>
          </p:spPr>
          <p:txBody>
            <a:bodyPr wrap="none" lIns="0" tIns="0" rIns="0" bIns="0" anchor="t" anchorCtr="0">
              <a:spAutoFit/>
            </a:bodyPr>
            <a:lstStyle/>
            <a:p>
              <a:pPr algn="l"/>
              <a:r>
                <a:rPr lang="zh-CN" sz="790" b="1" dirty="0">
                  <a:solidFill>
                    <a:srgbClr val="A24B3C"/>
                  </a:solidFill>
                  <a:latin typeface="+mn-lt"/>
                  <a:ea typeface="+mn-ea"/>
                  <a:cs typeface="+mn-cs"/>
                </a:rPr>
                <a:t xml:space="preserve">（15%）　</a:t>
              </a:r>
            </a:p>
          </p:txBody>
        </p:sp>
        <p:sp>
          <p:nvSpPr>
            <p:cNvPr id="99" name="TextBox 99"/>
            <p:cNvSpPr txBox="1"/>
            <p:nvPr/>
          </p:nvSpPr>
          <p:spPr>
            <a:xfrm>
              <a:off x="10206038" y="3054191"/>
              <a:ext cx="1223797"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登录、支付、转账、咨询</a:t>
              </a:r>
            </a:p>
          </p:txBody>
        </p:sp>
        <p:sp>
          <p:nvSpPr>
            <p:cNvPr id="100" name="Line 100"/>
            <p:cNvSpPr/>
            <p:nvPr/>
          </p:nvSpPr>
          <p:spPr>
            <a:xfrm>
              <a:off x="8686800" y="3305175"/>
              <a:ext cx="3057525" cy="9525"/>
            </a:xfrm>
            <a:custGeom>
              <a:avLst/>
              <a:gdLst/>
              <a:ahLst/>
              <a:cxnLst/>
              <a:rect l="l" t="t" r="r" b="b"/>
              <a:pathLst>
                <a:path w="3057525" h="9525">
                  <a:moveTo>
                    <a:pt x="0" y="0"/>
                  </a:moveTo>
                  <a:lnTo>
                    <a:pt x="3057525" y="0"/>
                  </a:lnTo>
                </a:path>
              </a:pathLst>
            </a:custGeom>
            <a:noFill/>
            <a:ln w="9525">
              <a:solidFill>
                <a:srgbClr val="F0E8D8"/>
              </a:solidFill>
            </a:ln>
          </p:spPr>
        </p:sp>
        <p:grpSp>
          <p:nvGrpSpPr>
            <p:cNvPr id="103" name="Group 103"/>
            <p:cNvGrpSpPr/>
            <p:nvPr/>
          </p:nvGrpSpPr>
          <p:grpSpPr>
            <a:xfrm>
              <a:off x="8765381" y="3488531"/>
              <a:ext cx="128588" cy="71438"/>
              <a:chOff x="8765381" y="3488531"/>
              <a:chExt cx="128588" cy="71438"/>
            </a:xfrm>
          </p:grpSpPr>
          <p:sp>
            <p:nvSpPr>
              <p:cNvPr id="101" name="Freeform 101"/>
              <p:cNvSpPr/>
              <p:nvPr/>
            </p:nvSpPr>
            <p:spPr>
              <a:xfrm>
                <a:off x="8765381" y="3488531"/>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C85E46"/>
                </a:solidFill>
              </a:ln>
            </p:spPr>
          </p:sp>
          <p:sp>
            <p:nvSpPr>
              <p:cNvPr id="102" name="Freeform 102"/>
              <p:cNvSpPr/>
              <p:nvPr/>
            </p:nvSpPr>
            <p:spPr>
              <a:xfrm>
                <a:off x="8843962" y="3488531"/>
                <a:ext cx="50006" cy="50006"/>
              </a:xfrm>
              <a:custGeom>
                <a:avLst/>
                <a:gdLst/>
                <a:ahLst/>
                <a:cxnLst/>
                <a:rect l="l" t="t" r="r" b="b"/>
                <a:pathLst>
                  <a:path w="50006" h="50006">
                    <a:moveTo>
                      <a:pt x="0" y="0"/>
                    </a:moveTo>
                    <a:lnTo>
                      <a:pt x="50006" y="0"/>
                    </a:lnTo>
                    <a:lnTo>
                      <a:pt x="50006" y="50006"/>
                    </a:lnTo>
                  </a:path>
                </a:pathLst>
              </a:custGeom>
              <a:noFill/>
              <a:ln w="14288">
                <a:solidFill>
                  <a:srgbClr val="C85E46"/>
                </a:solidFill>
              </a:ln>
            </p:spPr>
          </p:sp>
        </p:grpSp>
        <p:sp>
          <p:nvSpPr>
            <p:cNvPr id="104" name="TextBox 104"/>
            <p:cNvSpPr txBox="1"/>
            <p:nvPr/>
          </p:nvSpPr>
          <p:spPr>
            <a:xfrm>
              <a:off x="9005888" y="3470672"/>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成长潜力</a:t>
              </a:r>
            </a:p>
          </p:txBody>
        </p:sp>
        <p:sp>
          <p:nvSpPr>
            <p:cNvPr id="105" name="TextBox 105"/>
            <p:cNvSpPr txBox="1"/>
            <p:nvPr/>
          </p:nvSpPr>
          <p:spPr>
            <a:xfrm>
              <a:off x="9005888" y="3658314"/>
              <a:ext cx="535159" cy="154781"/>
            </a:xfrm>
            <a:prstGeom prst="rect">
              <a:avLst/>
            </a:prstGeom>
            <a:noFill/>
            <a:ln>
              <a:noFill/>
            </a:ln>
          </p:spPr>
          <p:txBody>
            <a:bodyPr wrap="none" lIns="0" tIns="0" rIns="0" bIns="0" anchor="t" anchorCtr="0">
              <a:spAutoFit/>
            </a:bodyPr>
            <a:lstStyle/>
            <a:p>
              <a:pPr algn="l"/>
              <a:r>
                <a:rPr lang="zh-CN" sz="790" b="1" dirty="0">
                  <a:solidFill>
                    <a:srgbClr val="A24B3C"/>
                  </a:solidFill>
                  <a:latin typeface="+mn-lt"/>
                  <a:ea typeface="+mn-ea"/>
                  <a:cs typeface="+mn-cs"/>
                </a:rPr>
                <a:t xml:space="preserve">（15%）　</a:t>
              </a:r>
            </a:p>
          </p:txBody>
        </p:sp>
        <p:sp>
          <p:nvSpPr>
            <p:cNvPr id="106" name="TextBox 106"/>
            <p:cNvSpPr txBox="1"/>
            <p:nvPr/>
          </p:nvSpPr>
          <p:spPr>
            <a:xfrm>
              <a:off x="10206038" y="3597116"/>
              <a:ext cx="1334186"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资产增速、收入、资金流入</a:t>
              </a:r>
            </a:p>
          </p:txBody>
        </p:sp>
        <p:sp>
          <p:nvSpPr>
            <p:cNvPr id="107" name="Line 107"/>
            <p:cNvSpPr/>
            <p:nvPr/>
          </p:nvSpPr>
          <p:spPr>
            <a:xfrm>
              <a:off x="8686800" y="3848100"/>
              <a:ext cx="3057525" cy="9525"/>
            </a:xfrm>
            <a:custGeom>
              <a:avLst/>
              <a:gdLst/>
              <a:ahLst/>
              <a:cxnLst/>
              <a:rect l="l" t="t" r="r" b="b"/>
              <a:pathLst>
                <a:path w="3057525" h="9525">
                  <a:moveTo>
                    <a:pt x="0" y="0"/>
                  </a:moveTo>
                  <a:lnTo>
                    <a:pt x="3057525" y="0"/>
                  </a:lnTo>
                </a:path>
              </a:pathLst>
            </a:custGeom>
            <a:noFill/>
            <a:ln w="9525">
              <a:solidFill>
                <a:srgbClr val="F0E8D8"/>
              </a:solidFill>
            </a:ln>
          </p:spPr>
        </p:sp>
        <p:grpSp>
          <p:nvGrpSpPr>
            <p:cNvPr id="114" name="Group 114"/>
            <p:cNvGrpSpPr/>
            <p:nvPr/>
          </p:nvGrpSpPr>
          <p:grpSpPr>
            <a:xfrm>
              <a:off x="8765381" y="4002881"/>
              <a:ext cx="128588" cy="128588"/>
              <a:chOff x="8765381" y="4002881"/>
              <a:chExt cx="128588" cy="128588"/>
            </a:xfrm>
          </p:grpSpPr>
          <p:sp>
            <p:nvSpPr>
              <p:cNvPr id="108" name="Freeform 108"/>
              <p:cNvSpPr/>
              <p:nvPr/>
            </p:nvSpPr>
            <p:spPr>
              <a:xfrm>
                <a:off x="8815388" y="40600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26D5E"/>
                </a:solidFill>
              </a:ln>
            </p:spPr>
          </p:sp>
          <p:sp>
            <p:nvSpPr>
              <p:cNvPr id="109" name="Freeform 109"/>
              <p:cNvSpPr/>
              <p:nvPr/>
            </p:nvSpPr>
            <p:spPr>
              <a:xfrm>
                <a:off x="8801100" y="411003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C26D5E"/>
                </a:solidFill>
              </a:ln>
            </p:spPr>
          </p:sp>
          <p:sp>
            <p:nvSpPr>
              <p:cNvPr id="110" name="Freeform 110"/>
              <p:cNvSpPr/>
              <p:nvPr/>
            </p:nvSpPr>
            <p:spPr>
              <a:xfrm>
                <a:off x="8851106" y="40028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26D5E"/>
                </a:solidFill>
              </a:ln>
            </p:spPr>
          </p:sp>
          <p:sp>
            <p:nvSpPr>
              <p:cNvPr id="111" name="Freeform 111"/>
              <p:cNvSpPr/>
              <p:nvPr/>
            </p:nvSpPr>
            <p:spPr>
              <a:xfrm>
                <a:off x="8865394" y="405288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C26D5E"/>
                </a:solidFill>
              </a:ln>
            </p:spPr>
          </p:sp>
          <p:sp>
            <p:nvSpPr>
              <p:cNvPr id="112" name="Freeform 112"/>
              <p:cNvSpPr/>
              <p:nvPr/>
            </p:nvSpPr>
            <p:spPr>
              <a:xfrm>
                <a:off x="8779669" y="40028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C26D5E"/>
                </a:solidFill>
              </a:ln>
            </p:spPr>
          </p:sp>
          <p:sp>
            <p:nvSpPr>
              <p:cNvPr id="113" name="Freeform 113"/>
              <p:cNvSpPr/>
              <p:nvPr/>
            </p:nvSpPr>
            <p:spPr>
              <a:xfrm>
                <a:off x="8765381" y="405288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C26D5E"/>
                </a:solidFill>
              </a:ln>
            </p:spPr>
          </p:sp>
        </p:grpSp>
        <p:sp>
          <p:nvSpPr>
            <p:cNvPr id="115" name="TextBox 115"/>
            <p:cNvSpPr txBox="1"/>
            <p:nvPr/>
          </p:nvSpPr>
          <p:spPr>
            <a:xfrm>
              <a:off x="9005888" y="4013597"/>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关系深度</a:t>
              </a:r>
            </a:p>
          </p:txBody>
        </p:sp>
        <p:sp>
          <p:nvSpPr>
            <p:cNvPr id="116" name="TextBox 116"/>
            <p:cNvSpPr txBox="1"/>
            <p:nvPr/>
          </p:nvSpPr>
          <p:spPr>
            <a:xfrm>
              <a:off x="9005888" y="4201239"/>
              <a:ext cx="535159" cy="154781"/>
            </a:xfrm>
            <a:prstGeom prst="rect">
              <a:avLst/>
            </a:prstGeom>
            <a:noFill/>
            <a:ln>
              <a:noFill/>
            </a:ln>
          </p:spPr>
          <p:txBody>
            <a:bodyPr wrap="none" lIns="0" tIns="0" rIns="0" bIns="0" anchor="t" anchorCtr="0">
              <a:spAutoFit/>
            </a:bodyPr>
            <a:lstStyle/>
            <a:p>
              <a:pPr algn="l"/>
              <a:r>
                <a:rPr lang="zh-CN" sz="790" b="1" dirty="0">
                  <a:solidFill>
                    <a:srgbClr val="A24B3C"/>
                  </a:solidFill>
                  <a:latin typeface="+mn-lt"/>
                  <a:ea typeface="+mn-ea"/>
                  <a:cs typeface="+mn-cs"/>
                </a:rPr>
                <a:t xml:space="preserve">（10%）　</a:t>
              </a:r>
            </a:p>
          </p:txBody>
        </p:sp>
        <p:sp>
          <p:nvSpPr>
            <p:cNvPr id="117" name="TextBox 117"/>
            <p:cNvSpPr txBox="1"/>
            <p:nvPr/>
          </p:nvSpPr>
          <p:spPr>
            <a:xfrm>
              <a:off x="10206038" y="4140041"/>
              <a:ext cx="1223797"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产品数、代发、主账户率</a:t>
              </a:r>
            </a:p>
          </p:txBody>
        </p:sp>
        <p:sp>
          <p:nvSpPr>
            <p:cNvPr id="118" name="Line 118"/>
            <p:cNvSpPr/>
            <p:nvPr/>
          </p:nvSpPr>
          <p:spPr>
            <a:xfrm>
              <a:off x="8686800" y="4391025"/>
              <a:ext cx="3057525" cy="9525"/>
            </a:xfrm>
            <a:custGeom>
              <a:avLst/>
              <a:gdLst/>
              <a:ahLst/>
              <a:cxnLst/>
              <a:rect l="l" t="t" r="r" b="b"/>
              <a:pathLst>
                <a:path w="3057525" h="9525">
                  <a:moveTo>
                    <a:pt x="0" y="0"/>
                  </a:moveTo>
                  <a:lnTo>
                    <a:pt x="3057525" y="0"/>
                  </a:lnTo>
                </a:path>
              </a:pathLst>
            </a:custGeom>
            <a:noFill/>
            <a:ln w="9525">
              <a:solidFill>
                <a:srgbClr val="F0E8D8"/>
              </a:solidFill>
            </a:ln>
          </p:spPr>
        </p:sp>
        <p:grpSp>
          <p:nvGrpSpPr>
            <p:cNvPr id="122" name="Group 122"/>
            <p:cNvGrpSpPr/>
            <p:nvPr/>
          </p:nvGrpSpPr>
          <p:grpSpPr>
            <a:xfrm>
              <a:off x="8757629" y="4543433"/>
              <a:ext cx="144086" cy="123788"/>
              <a:chOff x="8757629" y="4543433"/>
              <a:chExt cx="144086" cy="123788"/>
            </a:xfrm>
          </p:grpSpPr>
          <p:sp>
            <p:nvSpPr>
              <p:cNvPr id="119" name="Freeform 119"/>
              <p:cNvSpPr/>
              <p:nvPr/>
            </p:nvSpPr>
            <p:spPr>
              <a:xfrm>
                <a:off x="8829675" y="4588669"/>
                <a:ext cx="9525" cy="28575"/>
              </a:xfrm>
              <a:custGeom>
                <a:avLst/>
                <a:gdLst/>
                <a:ahLst/>
                <a:cxnLst/>
                <a:rect l="l" t="t" r="r" b="b"/>
                <a:pathLst>
                  <a:path w="9525" h="28575">
                    <a:moveTo>
                      <a:pt x="0" y="0"/>
                    </a:moveTo>
                    <a:lnTo>
                      <a:pt x="0" y="28575"/>
                    </a:lnTo>
                  </a:path>
                </a:pathLst>
              </a:custGeom>
              <a:noFill/>
              <a:ln w="14288">
                <a:solidFill>
                  <a:srgbClr val="7D5C55"/>
                </a:solidFill>
              </a:ln>
            </p:spPr>
          </p:sp>
          <p:sp>
            <p:nvSpPr>
              <p:cNvPr id="120" name="Freeform 120"/>
              <p:cNvSpPr/>
              <p:nvPr/>
            </p:nvSpPr>
            <p:spPr>
              <a:xfrm>
                <a:off x="8757629" y="4543433"/>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7D5C55"/>
                </a:solidFill>
              </a:ln>
            </p:spPr>
          </p:sp>
          <p:sp>
            <p:nvSpPr>
              <p:cNvPr id="121" name="Freeform 121"/>
              <p:cNvSpPr/>
              <p:nvPr/>
            </p:nvSpPr>
            <p:spPr>
              <a:xfrm>
                <a:off x="8829675" y="4638675"/>
                <a:ext cx="9525" cy="9525"/>
              </a:xfrm>
              <a:custGeom>
                <a:avLst/>
                <a:gdLst/>
                <a:ahLst/>
                <a:cxnLst/>
                <a:rect l="l" t="t" r="r" b="b"/>
                <a:pathLst>
                  <a:path w="9525" h="9525">
                    <a:moveTo>
                      <a:pt x="0" y="0"/>
                    </a:moveTo>
                    <a:lnTo>
                      <a:pt x="71" y="0"/>
                    </a:lnTo>
                  </a:path>
                </a:pathLst>
              </a:custGeom>
              <a:noFill/>
              <a:ln w="14288">
                <a:solidFill>
                  <a:srgbClr val="7D5C55"/>
                </a:solidFill>
              </a:ln>
            </p:spPr>
          </p:sp>
        </p:grpSp>
        <p:sp>
          <p:nvSpPr>
            <p:cNvPr id="123" name="TextBox 123"/>
            <p:cNvSpPr txBox="1"/>
            <p:nvPr/>
          </p:nvSpPr>
          <p:spPr>
            <a:xfrm>
              <a:off x="9005888" y="4556522"/>
              <a:ext cx="515696"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风险成本</a:t>
              </a:r>
            </a:p>
          </p:txBody>
        </p:sp>
        <p:sp>
          <p:nvSpPr>
            <p:cNvPr id="124" name="TextBox 124"/>
            <p:cNvSpPr txBox="1"/>
            <p:nvPr/>
          </p:nvSpPr>
          <p:spPr>
            <a:xfrm>
              <a:off x="9005888" y="4744164"/>
              <a:ext cx="535159" cy="154781"/>
            </a:xfrm>
            <a:prstGeom prst="rect">
              <a:avLst/>
            </a:prstGeom>
            <a:noFill/>
            <a:ln>
              <a:noFill/>
            </a:ln>
          </p:spPr>
          <p:txBody>
            <a:bodyPr wrap="none" lIns="0" tIns="0" rIns="0" bIns="0" anchor="t" anchorCtr="0">
              <a:spAutoFit/>
            </a:bodyPr>
            <a:lstStyle/>
            <a:p>
              <a:pPr algn="l"/>
              <a:r>
                <a:rPr lang="zh-CN" sz="790" b="1" dirty="0">
                  <a:solidFill>
                    <a:srgbClr val="7D5C55"/>
                  </a:solidFill>
                  <a:latin typeface="+mn-lt"/>
                  <a:ea typeface="+mn-ea"/>
                  <a:cs typeface="+mn-cs"/>
                </a:rPr>
                <a:t xml:space="preserve">（-5%）　</a:t>
              </a:r>
            </a:p>
          </p:txBody>
        </p:sp>
        <p:sp>
          <p:nvSpPr>
            <p:cNvPr id="125" name="TextBox 125"/>
            <p:cNvSpPr txBox="1"/>
            <p:nvPr/>
          </p:nvSpPr>
          <p:spPr>
            <a:xfrm>
              <a:off x="10206038" y="4682966"/>
              <a:ext cx="1113409" cy="161925"/>
            </a:xfrm>
            <a:prstGeom prst="rect">
              <a:avLst/>
            </a:prstGeom>
            <a:noFill/>
            <a:ln>
              <a:noFill/>
            </a:ln>
          </p:spPr>
          <p:txBody>
            <a:bodyPr wrap="none" lIns="0" tIns="0" rIns="0" bIns="0" anchor="t" anchorCtr="0">
              <a:spAutoFit/>
            </a:bodyPr>
            <a:lstStyle/>
            <a:p>
              <a:pPr algn="l"/>
              <a:r>
                <a:rPr lang="zh-CN" sz="820" dirty="0">
                  <a:solidFill>
                    <a:srgbClr val="4A4A4A"/>
                  </a:solidFill>
                  <a:latin typeface="+mn-lt"/>
                  <a:ea typeface="+mn-ea"/>
                  <a:cs typeface="+mn-cs"/>
                </a:rPr>
                <a:t>风险、投诉、服务成本</a:t>
              </a:r>
            </a:p>
          </p:txBody>
        </p:sp>
      </p:grpSp>
      <p:grpSp>
        <p:nvGrpSpPr>
          <p:cNvPr id="135" name="slogan-band"/>
          <p:cNvGrpSpPr/>
          <p:nvPr/>
        </p:nvGrpSpPr>
        <p:grpSpPr>
          <a:xfrm>
            <a:off x="381000" y="5572125"/>
            <a:ext cx="11430000" cy="1066800"/>
            <a:chOff x="381000" y="5572125"/>
            <a:chExt cx="11430000" cy="1066800"/>
          </a:xfrm>
        </p:grpSpPr>
        <p:sp>
          <p:nvSpPr>
            <p:cNvPr id="127" name="Rectangle 127"/>
            <p:cNvSpPr/>
            <p:nvPr/>
          </p:nvSpPr>
          <p:spPr>
            <a:xfrm>
              <a:off x="381000" y="5572125"/>
              <a:ext cx="11430000" cy="1066800"/>
            </a:xfrm>
            <a:prstGeom prst="roundRect">
              <a:avLst>
                <a:gd name="adj" fmla="val 10714"/>
              </a:avLst>
            </a:prstGeom>
            <a:solidFill>
              <a:srgbClr val="FBF4E7"/>
            </a:solidFill>
            <a:ln w="9525">
              <a:solidFill>
                <a:srgbClr val="E4B4AC"/>
              </a:solidFill>
            </a:ln>
          </p:spPr>
        </p:sp>
        <p:sp>
          <p:nvSpPr>
            <p:cNvPr id="128" name="Polygon 128"/>
            <p:cNvSpPr/>
            <p:nvPr/>
          </p:nvSpPr>
          <p:spPr>
            <a:xfrm>
              <a:off x="819150" y="5953125"/>
              <a:ext cx="285750" cy="304800"/>
            </a:xfrm>
            <a:custGeom>
              <a:avLst/>
              <a:gdLst/>
              <a:ahLst/>
              <a:cxnLst/>
              <a:rect l="l" t="t" r="r" b="b"/>
              <a:pathLst>
                <a:path w="285750" h="304800">
                  <a:moveTo>
                    <a:pt x="0" y="0"/>
                  </a:moveTo>
                  <a:lnTo>
                    <a:pt x="285750" y="152400"/>
                  </a:lnTo>
                  <a:lnTo>
                    <a:pt x="0" y="304800"/>
                  </a:lnTo>
                  <a:close/>
                </a:path>
              </a:pathLst>
            </a:custGeom>
            <a:solidFill>
              <a:srgbClr val="A3381F"/>
            </a:solidFill>
            <a:ln>
              <a:noFill/>
            </a:ln>
          </p:spPr>
        </p:sp>
        <p:sp>
          <p:nvSpPr>
            <p:cNvPr id="129" name="Polygon 129"/>
            <p:cNvSpPr/>
            <p:nvPr/>
          </p:nvSpPr>
          <p:spPr>
            <a:xfrm>
              <a:off x="11087100" y="5953125"/>
              <a:ext cx="285750" cy="304800"/>
            </a:xfrm>
            <a:custGeom>
              <a:avLst/>
              <a:gdLst/>
              <a:ahLst/>
              <a:cxnLst/>
              <a:rect l="l" t="t" r="r" b="b"/>
              <a:pathLst>
                <a:path w="285750" h="304800">
                  <a:moveTo>
                    <a:pt x="285750" y="0"/>
                  </a:moveTo>
                  <a:lnTo>
                    <a:pt x="0" y="152400"/>
                  </a:lnTo>
                  <a:lnTo>
                    <a:pt x="285750" y="304800"/>
                  </a:lnTo>
                  <a:close/>
                </a:path>
              </a:pathLst>
            </a:custGeom>
            <a:solidFill>
              <a:srgbClr val="A3381F"/>
            </a:solidFill>
            <a:ln>
              <a:noFill/>
            </a:ln>
          </p:spPr>
        </p:sp>
        <p:sp>
          <p:nvSpPr>
            <p:cNvPr id="130" name="TextBox 130"/>
            <p:cNvSpPr txBox="1"/>
            <p:nvPr/>
          </p:nvSpPr>
          <p:spPr>
            <a:xfrm>
              <a:off x="4678680" y="5853112"/>
              <a:ext cx="1234440" cy="440055"/>
            </a:xfrm>
            <a:prstGeom prst="rect">
              <a:avLst/>
            </a:prstGeom>
            <a:noFill/>
            <a:ln>
              <a:noFill/>
            </a:ln>
          </p:spPr>
          <p:txBody>
            <a:bodyPr wrap="none" lIns="0" tIns="0" rIns="0" bIns="0" anchor="t" anchorCtr="0">
              <a:spAutoFit/>
            </a:bodyPr>
            <a:lstStyle/>
            <a:p>
              <a:pPr algn="ctr"/>
              <a:r>
                <a:rPr lang="zh-CN" sz="2250" b="1" dirty="0">
                  <a:solidFill>
                    <a:srgbClr val="A3381F"/>
                  </a:solidFill>
                  <a:latin typeface="+mn-lt"/>
                  <a:ea typeface="+mn-ea"/>
                  <a:cs typeface="+mn-cs"/>
                </a:rPr>
                <a:t>当前价值</a:t>
              </a:r>
            </a:p>
          </p:txBody>
        </p:sp>
        <p:sp>
          <p:nvSpPr>
            <p:cNvPr id="131" name="Ellipse 131"/>
            <p:cNvSpPr/>
            <p:nvPr/>
          </p:nvSpPr>
          <p:spPr>
            <a:xfrm>
              <a:off x="5962650" y="5867400"/>
              <a:ext cx="266700" cy="266700"/>
            </a:xfrm>
            <a:prstGeom prst="ellipse">
              <a:avLst/>
            </a:prstGeom>
            <a:solidFill>
              <a:srgbClr val="C26D5E"/>
            </a:solidFill>
            <a:ln>
              <a:noFill/>
            </a:ln>
          </p:spPr>
        </p:sp>
        <p:sp>
          <p:nvSpPr>
            <p:cNvPr id="132" name="TextBox 132"/>
            <p:cNvSpPr txBox="1"/>
            <p:nvPr/>
          </p:nvSpPr>
          <p:spPr>
            <a:xfrm>
              <a:off x="5998274" y="5921692"/>
              <a:ext cx="195453"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a:t>
              </a:r>
            </a:p>
          </p:txBody>
        </p:sp>
        <p:sp>
          <p:nvSpPr>
            <p:cNvPr id="133" name="TextBox 133"/>
            <p:cNvSpPr txBox="1"/>
            <p:nvPr/>
          </p:nvSpPr>
          <p:spPr>
            <a:xfrm>
              <a:off x="6278880" y="5853112"/>
              <a:ext cx="1234440" cy="440055"/>
            </a:xfrm>
            <a:prstGeom prst="rect">
              <a:avLst/>
            </a:prstGeom>
            <a:noFill/>
            <a:ln>
              <a:noFill/>
            </a:ln>
          </p:spPr>
          <p:txBody>
            <a:bodyPr wrap="none" lIns="0" tIns="0" rIns="0" bIns="0" anchor="t" anchorCtr="0">
              <a:spAutoFit/>
            </a:bodyPr>
            <a:lstStyle/>
            <a:p>
              <a:pPr algn="ctr"/>
              <a:r>
                <a:rPr lang="zh-CN" sz="2250" b="1" dirty="0">
                  <a:solidFill>
                    <a:srgbClr val="A24B3C"/>
                  </a:solidFill>
                  <a:latin typeface="+mn-lt"/>
                  <a:ea typeface="+mn-ea"/>
                  <a:cs typeface="+mn-cs"/>
                </a:rPr>
                <a:t>未来潜力</a:t>
              </a:r>
            </a:p>
          </p:txBody>
        </p:sp>
        <p:sp>
          <p:nvSpPr>
            <p:cNvPr id="134" name="TextBox 134"/>
            <p:cNvSpPr txBox="1"/>
            <p:nvPr/>
          </p:nvSpPr>
          <p:spPr>
            <a:xfrm>
              <a:off x="3970401" y="6344602"/>
              <a:ext cx="4251198" cy="205359"/>
            </a:xfrm>
            <a:prstGeom prst="rect">
              <a:avLst/>
            </a:prstGeom>
            <a:noFill/>
            <a:ln>
              <a:noFill/>
            </a:ln>
          </p:spPr>
          <p:txBody>
            <a:bodyPr wrap="none" lIns="0" tIns="0" rIns="0" bIns="0" anchor="t" anchorCtr="0">
              <a:spAutoFit/>
            </a:bodyPr>
            <a:lstStyle/>
            <a:p>
              <a:pPr algn="ctr"/>
              <a:r>
                <a:rPr lang="zh-CN" sz="1050" b="1" dirty="0">
                  <a:solidFill>
                    <a:srgbClr val="5E3A33"/>
                  </a:solidFill>
                  <a:latin typeface="+mn-lt"/>
                  <a:ea typeface="+mn-ea"/>
                  <a:cs typeface="+mn-cs"/>
                </a:rPr>
                <a:t>更全面评估客户价值，精准分层，差异化经营，驱动长期可持续增长</a:t>
              </a:r>
            </a:p>
          </p:txBody>
        </p:sp>
      </p:gr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08</a:t>
              </a:r>
            </a:p>
          </p:txBody>
        </p:sp>
        <p:sp>
          <p:nvSpPr>
            <p:cNvPr id="4" name="TextBox 4"/>
            <p:cNvSpPr txBox="1"/>
            <p:nvPr/>
          </p:nvSpPr>
          <p:spPr>
            <a:xfrm>
              <a:off x="942594" y="151448"/>
              <a:ext cx="4180332"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客户分类：建立</a:t>
              </a:r>
              <a:r>
                <a:rPr lang="zh-CN" sz="1950" b="1" dirty="0">
                  <a:solidFill>
                    <a:srgbClr val="A3381F"/>
                  </a:solidFill>
                  <a:latin typeface="SimSun"/>
                  <a:ea typeface="SimSun"/>
                  <a:cs typeface="SimSun"/>
                </a:rPr>
                <a:t>八维客群</a:t>
              </a:r>
              <a:r>
                <a:rPr lang="zh-CN" sz="1950" b="1" dirty="0">
                  <a:solidFill>
                    <a:srgbClr val="1F1F1F"/>
                  </a:solidFill>
                  <a:latin typeface="SimSun"/>
                  <a:ea typeface="SimSun"/>
                  <a:cs typeface="SimSun"/>
                </a:rPr>
                <a:t>识别体系</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16" name="center-hub"/>
          <p:cNvGrpSpPr/>
          <p:nvPr/>
        </p:nvGrpSpPr>
        <p:grpSpPr>
          <a:xfrm>
            <a:off x="5181600" y="1943100"/>
            <a:ext cx="1828800" cy="1828800"/>
            <a:chOff x="5181600" y="1943100"/>
            <a:chExt cx="1828800" cy="1828800"/>
          </a:xfrm>
        </p:grpSpPr>
        <p:sp>
          <p:nvSpPr>
            <p:cNvPr id="7" name="Ellipse 7"/>
            <p:cNvSpPr/>
            <p:nvPr/>
          </p:nvSpPr>
          <p:spPr>
            <a:xfrm>
              <a:off x="5181600" y="1943100"/>
              <a:ext cx="1828800" cy="1828800"/>
            </a:xfrm>
            <a:prstGeom prst="ellipse">
              <a:avLst/>
            </a:prstGeom>
            <a:noFill/>
            <a:ln w="14288">
              <a:solidFill>
                <a:srgbClr val="E4B4AC"/>
              </a:solidFill>
            </a:ln>
          </p:spPr>
        </p:sp>
        <p:sp>
          <p:nvSpPr>
            <p:cNvPr id="8" name="Ellipse 8"/>
            <p:cNvSpPr/>
            <p:nvPr/>
          </p:nvSpPr>
          <p:spPr>
            <a:xfrm>
              <a:off x="5372100" y="2133600"/>
              <a:ext cx="1447800" cy="1447800"/>
            </a:xfrm>
            <a:prstGeom prst="ellipse">
              <a:avLst/>
            </a:prstGeom>
            <a:solidFill>
              <a:srgbClr val="A3381F"/>
            </a:solidFill>
            <a:ln>
              <a:noFill/>
            </a:ln>
          </p:spPr>
        </p:sp>
        <p:sp>
          <p:nvSpPr>
            <p:cNvPr id="9" name="Ellipse 9"/>
            <p:cNvSpPr/>
            <p:nvPr/>
          </p:nvSpPr>
          <p:spPr>
            <a:xfrm>
              <a:off x="5448300" y="2209800"/>
              <a:ext cx="1295400" cy="1295400"/>
            </a:xfrm>
            <a:prstGeom prst="ellipse">
              <a:avLst/>
            </a:prstGeom>
            <a:noFill/>
            <a:ln w="9525">
              <a:solidFill>
                <a:srgbClr val="C85E46">
                  <a:alpha val="70000"/>
                </a:srgbClr>
              </a:solidFill>
            </a:ln>
          </p:spPr>
        </p:sp>
        <p:grpSp>
          <p:nvGrpSpPr>
            <p:cNvPr id="14" name="Group 14"/>
            <p:cNvGrpSpPr/>
            <p:nvPr/>
          </p:nvGrpSpPr>
          <p:grpSpPr>
            <a:xfrm>
              <a:off x="5895975" y="2524125"/>
              <a:ext cx="400049" cy="400050"/>
              <a:chOff x="5895975" y="2524125"/>
              <a:chExt cx="400049" cy="400050"/>
            </a:xfrm>
          </p:grpSpPr>
          <p:sp>
            <p:nvSpPr>
              <p:cNvPr id="10" name="Freeform 10"/>
              <p:cNvSpPr/>
              <p:nvPr/>
            </p:nvSpPr>
            <p:spPr>
              <a:xfrm>
                <a:off x="5940425" y="2524125"/>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44450">
                <a:solidFill>
                  <a:srgbClr val="FFFFFF"/>
                </a:solidFill>
              </a:ln>
            </p:spPr>
          </p:sp>
          <p:sp>
            <p:nvSpPr>
              <p:cNvPr id="11" name="Freeform 11"/>
              <p:cNvSpPr/>
              <p:nvPr/>
            </p:nvSpPr>
            <p:spPr>
              <a:xfrm>
                <a:off x="5895975" y="2790825"/>
                <a:ext cx="266700" cy="133350"/>
              </a:xfrm>
              <a:custGeom>
                <a:avLst/>
                <a:gdLst/>
                <a:ahLst/>
                <a:cxnLst/>
                <a:rect l="l" t="t" r="r" b="b"/>
                <a:pathLst>
                  <a:path w="266700" h="133350">
                    <a:moveTo>
                      <a:pt x="0" y="133350"/>
                    </a:moveTo>
                    <a:lnTo>
                      <a:pt x="0" y="88900"/>
                    </a:lnTo>
                    <a:cubicBezTo>
                      <a:pt x="0" y="39802"/>
                      <a:pt x="39802" y="0"/>
                      <a:pt x="88900" y="0"/>
                    </a:cubicBezTo>
                    <a:lnTo>
                      <a:pt x="177800" y="0"/>
                    </a:lnTo>
                    <a:cubicBezTo>
                      <a:pt x="226898" y="0"/>
                      <a:pt x="266700" y="39802"/>
                      <a:pt x="266700" y="88900"/>
                    </a:cubicBezTo>
                    <a:lnTo>
                      <a:pt x="266700" y="133350"/>
                    </a:lnTo>
                  </a:path>
                </a:pathLst>
              </a:custGeom>
              <a:noFill/>
              <a:ln w="44450">
                <a:solidFill>
                  <a:srgbClr val="FFFFFF"/>
                </a:solidFill>
              </a:ln>
            </p:spPr>
          </p:sp>
          <p:sp>
            <p:nvSpPr>
              <p:cNvPr id="12" name="Freeform 12"/>
              <p:cNvSpPr/>
              <p:nvPr/>
            </p:nvSpPr>
            <p:spPr>
              <a:xfrm>
                <a:off x="6184899" y="2527014"/>
                <a:ext cx="66849" cy="172244"/>
              </a:xfrm>
              <a:custGeom>
                <a:avLst/>
                <a:gdLst/>
                <a:ahLst/>
                <a:cxnLst/>
                <a:rect l="l" t="t" r="r" b="b"/>
                <a:pathLst>
                  <a:path w="66849" h="172244">
                    <a:moveTo>
                      <a:pt x="0" y="0"/>
                    </a:moveTo>
                    <a:cubicBezTo>
                      <a:pt x="39336" y="10072"/>
                      <a:pt x="66849" y="45517"/>
                      <a:pt x="66849" y="86122"/>
                    </a:cubicBezTo>
                    <a:cubicBezTo>
                      <a:pt x="66849" y="126727"/>
                      <a:pt x="39336" y="162172"/>
                      <a:pt x="0" y="172244"/>
                    </a:cubicBezTo>
                  </a:path>
                </a:pathLst>
              </a:custGeom>
              <a:noFill/>
              <a:ln w="44450">
                <a:solidFill>
                  <a:srgbClr val="FFFFFF"/>
                </a:solidFill>
              </a:ln>
            </p:spPr>
          </p:sp>
          <p:sp>
            <p:nvSpPr>
              <p:cNvPr id="13" name="Freeform 13"/>
              <p:cNvSpPr/>
              <p:nvPr/>
            </p:nvSpPr>
            <p:spPr>
              <a:xfrm>
                <a:off x="6229349" y="2794158"/>
                <a:ext cx="66675" cy="130016"/>
              </a:xfrm>
              <a:custGeom>
                <a:avLst/>
                <a:gdLst/>
                <a:ahLst/>
                <a:cxnLst/>
                <a:rect l="l" t="t" r="r" b="b"/>
                <a:pathLst>
                  <a:path w="66675" h="130016">
                    <a:moveTo>
                      <a:pt x="66675" y="130016"/>
                    </a:moveTo>
                    <a:lnTo>
                      <a:pt x="66675" y="85566"/>
                    </a:lnTo>
                    <a:cubicBezTo>
                      <a:pt x="66443" y="45218"/>
                      <a:pt x="39067" y="10086"/>
                      <a:pt x="0" y="0"/>
                    </a:cubicBezTo>
                  </a:path>
                </a:pathLst>
              </a:custGeom>
              <a:noFill/>
              <a:ln w="44450">
                <a:solidFill>
                  <a:srgbClr val="FFFFFF"/>
                </a:solidFill>
              </a:ln>
            </p:spPr>
          </p:sp>
        </p:grpSp>
        <p:sp>
          <p:nvSpPr>
            <p:cNvPr id="15" name="TextBox 15"/>
            <p:cNvSpPr txBox="1"/>
            <p:nvPr/>
          </p:nvSpPr>
          <p:spPr>
            <a:xfrm>
              <a:off x="5807964" y="31727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全量客户</a:t>
              </a:r>
            </a:p>
          </p:txBody>
        </p:sp>
      </p:grpSp>
      <p:sp>
        <p:nvSpPr>
          <p:cNvPr id="17" name="Line 17"/>
          <p:cNvSpPr/>
          <p:nvPr/>
        </p:nvSpPr>
        <p:spPr>
          <a:xfrm>
            <a:off x="4114800" y="1419225"/>
            <a:ext cx="1457325" cy="628650"/>
          </a:xfrm>
          <a:custGeom>
            <a:avLst/>
            <a:gdLst/>
            <a:ahLst/>
            <a:cxnLst/>
            <a:rect l="l" t="t" r="r" b="b"/>
            <a:pathLst>
              <a:path w="1457325" h="628650">
                <a:moveTo>
                  <a:pt x="0" y="0"/>
                </a:moveTo>
                <a:lnTo>
                  <a:pt x="1457325" y="628650"/>
                </a:lnTo>
              </a:path>
            </a:pathLst>
          </a:custGeom>
          <a:noFill/>
          <a:ln w="11430">
            <a:solidFill>
              <a:srgbClr val="C9796B"/>
            </a:solidFill>
            <a:custDash>
              <a:ds d="250000" sp="250000"/>
            </a:custDash>
          </a:ln>
        </p:spPr>
      </p:sp>
      <p:sp>
        <p:nvSpPr>
          <p:cNvPr id="18" name="Line 18"/>
          <p:cNvSpPr/>
          <p:nvPr/>
        </p:nvSpPr>
        <p:spPr>
          <a:xfrm>
            <a:off x="4114800" y="2466975"/>
            <a:ext cx="1104900" cy="228600"/>
          </a:xfrm>
          <a:custGeom>
            <a:avLst/>
            <a:gdLst/>
            <a:ahLst/>
            <a:cxnLst/>
            <a:rect l="l" t="t" r="r" b="b"/>
            <a:pathLst>
              <a:path w="1104900" h="228600">
                <a:moveTo>
                  <a:pt x="0" y="0"/>
                </a:moveTo>
                <a:lnTo>
                  <a:pt x="1104900" y="228600"/>
                </a:lnTo>
              </a:path>
            </a:pathLst>
          </a:custGeom>
          <a:noFill/>
          <a:ln w="11430">
            <a:solidFill>
              <a:srgbClr val="C9796B"/>
            </a:solidFill>
            <a:custDash>
              <a:ds d="250000" sp="250000"/>
            </a:custDash>
          </a:ln>
        </p:spPr>
      </p:sp>
      <p:sp>
        <p:nvSpPr>
          <p:cNvPr id="19" name="Line 19"/>
          <p:cNvSpPr/>
          <p:nvPr/>
        </p:nvSpPr>
        <p:spPr>
          <a:xfrm>
            <a:off x="4114800" y="3019425"/>
            <a:ext cx="1104900" cy="495300"/>
          </a:xfrm>
          <a:custGeom>
            <a:avLst/>
            <a:gdLst/>
            <a:ahLst/>
            <a:cxnLst/>
            <a:rect l="l" t="t" r="r" b="b"/>
            <a:pathLst>
              <a:path w="1104900" h="495300">
                <a:moveTo>
                  <a:pt x="0" y="495300"/>
                </a:moveTo>
                <a:lnTo>
                  <a:pt x="1104900" y="0"/>
                </a:lnTo>
              </a:path>
            </a:pathLst>
          </a:custGeom>
          <a:noFill/>
          <a:ln w="11430">
            <a:solidFill>
              <a:srgbClr val="C9796B"/>
            </a:solidFill>
            <a:custDash>
              <a:ds d="250000" sp="250000"/>
            </a:custDash>
          </a:ln>
        </p:spPr>
      </p:sp>
      <p:sp>
        <p:nvSpPr>
          <p:cNvPr id="20" name="Line 20"/>
          <p:cNvSpPr/>
          <p:nvPr/>
        </p:nvSpPr>
        <p:spPr>
          <a:xfrm>
            <a:off x="4114800" y="3667125"/>
            <a:ext cx="1457325" cy="895350"/>
          </a:xfrm>
          <a:custGeom>
            <a:avLst/>
            <a:gdLst/>
            <a:ahLst/>
            <a:cxnLst/>
            <a:rect l="l" t="t" r="r" b="b"/>
            <a:pathLst>
              <a:path w="1457325" h="895350">
                <a:moveTo>
                  <a:pt x="0" y="895350"/>
                </a:moveTo>
                <a:lnTo>
                  <a:pt x="1457325" y="0"/>
                </a:lnTo>
              </a:path>
            </a:pathLst>
          </a:custGeom>
          <a:noFill/>
          <a:ln w="11430">
            <a:solidFill>
              <a:srgbClr val="C9796B"/>
            </a:solidFill>
            <a:custDash>
              <a:ds d="250000" sp="250000"/>
            </a:custDash>
          </a:ln>
        </p:spPr>
      </p:sp>
      <p:sp>
        <p:nvSpPr>
          <p:cNvPr id="21" name="Line 21"/>
          <p:cNvSpPr/>
          <p:nvPr/>
        </p:nvSpPr>
        <p:spPr>
          <a:xfrm>
            <a:off x="6619875" y="1419225"/>
            <a:ext cx="1457325" cy="628650"/>
          </a:xfrm>
          <a:custGeom>
            <a:avLst/>
            <a:gdLst/>
            <a:ahLst/>
            <a:cxnLst/>
            <a:rect l="l" t="t" r="r" b="b"/>
            <a:pathLst>
              <a:path w="1457325" h="628650">
                <a:moveTo>
                  <a:pt x="1457325" y="0"/>
                </a:moveTo>
                <a:lnTo>
                  <a:pt x="0" y="628650"/>
                </a:lnTo>
              </a:path>
            </a:pathLst>
          </a:custGeom>
          <a:noFill/>
          <a:ln w="11430">
            <a:solidFill>
              <a:srgbClr val="C9796B"/>
            </a:solidFill>
            <a:custDash>
              <a:ds d="250000" sp="250000"/>
            </a:custDash>
          </a:ln>
        </p:spPr>
      </p:sp>
      <p:sp>
        <p:nvSpPr>
          <p:cNvPr id="22" name="Line 22"/>
          <p:cNvSpPr/>
          <p:nvPr/>
        </p:nvSpPr>
        <p:spPr>
          <a:xfrm>
            <a:off x="6972300" y="2466975"/>
            <a:ext cx="1104900" cy="228600"/>
          </a:xfrm>
          <a:custGeom>
            <a:avLst/>
            <a:gdLst/>
            <a:ahLst/>
            <a:cxnLst/>
            <a:rect l="l" t="t" r="r" b="b"/>
            <a:pathLst>
              <a:path w="1104900" h="228600">
                <a:moveTo>
                  <a:pt x="1104900" y="0"/>
                </a:moveTo>
                <a:lnTo>
                  <a:pt x="0" y="228600"/>
                </a:lnTo>
              </a:path>
            </a:pathLst>
          </a:custGeom>
          <a:noFill/>
          <a:ln w="11430">
            <a:solidFill>
              <a:srgbClr val="C9796B"/>
            </a:solidFill>
            <a:custDash>
              <a:ds d="250000" sp="250000"/>
            </a:custDash>
          </a:ln>
        </p:spPr>
      </p:sp>
      <p:sp>
        <p:nvSpPr>
          <p:cNvPr id="23" name="Line 23"/>
          <p:cNvSpPr/>
          <p:nvPr/>
        </p:nvSpPr>
        <p:spPr>
          <a:xfrm>
            <a:off x="6972300" y="3019425"/>
            <a:ext cx="1104900" cy="495300"/>
          </a:xfrm>
          <a:custGeom>
            <a:avLst/>
            <a:gdLst/>
            <a:ahLst/>
            <a:cxnLst/>
            <a:rect l="l" t="t" r="r" b="b"/>
            <a:pathLst>
              <a:path w="1104900" h="495300">
                <a:moveTo>
                  <a:pt x="1104900" y="495300"/>
                </a:moveTo>
                <a:lnTo>
                  <a:pt x="0" y="0"/>
                </a:lnTo>
              </a:path>
            </a:pathLst>
          </a:custGeom>
          <a:noFill/>
          <a:ln w="11430">
            <a:solidFill>
              <a:srgbClr val="C9796B"/>
            </a:solidFill>
            <a:custDash>
              <a:ds d="250000" sp="250000"/>
            </a:custDash>
          </a:ln>
        </p:spPr>
      </p:sp>
      <p:sp>
        <p:nvSpPr>
          <p:cNvPr id="24" name="Line 24"/>
          <p:cNvSpPr/>
          <p:nvPr/>
        </p:nvSpPr>
        <p:spPr>
          <a:xfrm>
            <a:off x="6619875" y="3667125"/>
            <a:ext cx="1457325" cy="895350"/>
          </a:xfrm>
          <a:custGeom>
            <a:avLst/>
            <a:gdLst/>
            <a:ahLst/>
            <a:cxnLst/>
            <a:rect l="l" t="t" r="r" b="b"/>
            <a:pathLst>
              <a:path w="1457325" h="895350">
                <a:moveTo>
                  <a:pt x="1457325" y="895350"/>
                </a:moveTo>
                <a:lnTo>
                  <a:pt x="0" y="0"/>
                </a:lnTo>
              </a:path>
            </a:pathLst>
          </a:custGeom>
          <a:noFill/>
          <a:ln w="11430">
            <a:solidFill>
              <a:srgbClr val="C9796B"/>
            </a:solidFill>
            <a:custDash>
              <a:ds d="250000" sp="250000"/>
            </a:custDash>
          </a:ln>
        </p:spPr>
      </p:sp>
      <p:grpSp>
        <p:nvGrpSpPr>
          <p:cNvPr id="34" name="dim-card-1"/>
          <p:cNvGrpSpPr/>
          <p:nvPr/>
        </p:nvGrpSpPr>
        <p:grpSpPr>
          <a:xfrm>
            <a:off x="571500" y="952500"/>
            <a:ext cx="3543300" cy="933450"/>
            <a:chOff x="571500" y="952500"/>
            <a:chExt cx="3543300" cy="933450"/>
          </a:xfrm>
        </p:grpSpPr>
        <p:sp>
          <p:nvSpPr>
            <p:cNvPr id="25" name="Rectangle 25"/>
            <p:cNvSpPr/>
            <p:nvPr/>
          </p:nvSpPr>
          <p:spPr>
            <a:xfrm>
              <a:off x="571500" y="952500"/>
              <a:ext cx="3543300" cy="933450"/>
            </a:xfrm>
            <a:prstGeom prst="roundRect">
              <a:avLst>
                <a:gd name="adj" fmla="val 10204"/>
              </a:avLst>
            </a:prstGeom>
            <a:solidFill>
              <a:srgbClr val="FFFFFF"/>
            </a:solidFill>
            <a:ln w="9525">
              <a:solidFill>
                <a:srgbClr val="E6D9C0"/>
              </a:solidFill>
            </a:ln>
          </p:spPr>
        </p:sp>
        <p:sp>
          <p:nvSpPr>
            <p:cNvPr id="26" name="Rectangle 26"/>
            <p:cNvSpPr/>
            <p:nvPr/>
          </p:nvSpPr>
          <p:spPr>
            <a:xfrm>
              <a:off x="723900" y="1200150"/>
              <a:ext cx="381000" cy="381000"/>
            </a:xfrm>
            <a:prstGeom prst="roundRect">
              <a:avLst>
                <a:gd name="adj" fmla="val 22500"/>
              </a:avLst>
            </a:prstGeom>
            <a:solidFill>
              <a:srgbClr val="A3381F"/>
            </a:solidFill>
            <a:ln>
              <a:noFill/>
            </a:ln>
          </p:spPr>
        </p:sp>
        <p:sp>
          <p:nvSpPr>
            <p:cNvPr id="27" name="TextBox 27"/>
            <p:cNvSpPr txBox="1"/>
            <p:nvPr/>
          </p:nvSpPr>
          <p:spPr>
            <a:xfrm>
              <a:off x="821613" y="132635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01</a:t>
              </a:r>
            </a:p>
          </p:txBody>
        </p:sp>
        <p:sp>
          <p:nvSpPr>
            <p:cNvPr id="28" name="Ellipse 28"/>
            <p:cNvSpPr/>
            <p:nvPr/>
          </p:nvSpPr>
          <p:spPr>
            <a:xfrm>
              <a:off x="1257300" y="1162050"/>
              <a:ext cx="457200" cy="457200"/>
            </a:xfrm>
            <a:prstGeom prst="ellipse">
              <a:avLst/>
            </a:prstGeom>
            <a:solidFill>
              <a:srgbClr val="FBF4E7"/>
            </a:solidFill>
            <a:ln w="11430">
              <a:solidFill>
                <a:srgbClr val="C26D5E"/>
              </a:solidFill>
            </a:ln>
          </p:spPr>
        </p:sp>
        <p:grpSp>
          <p:nvGrpSpPr>
            <p:cNvPr id="31" name="Group 31"/>
            <p:cNvGrpSpPr/>
            <p:nvPr/>
          </p:nvGrpSpPr>
          <p:grpSpPr>
            <a:xfrm>
              <a:off x="1400651" y="1303595"/>
              <a:ext cx="175755" cy="179791"/>
              <a:chOff x="1400651" y="1303595"/>
              <a:chExt cx="175755" cy="179791"/>
            </a:xfrm>
          </p:grpSpPr>
          <p:sp>
            <p:nvSpPr>
              <p:cNvPr id="29" name="Freeform 29"/>
              <p:cNvSpPr/>
              <p:nvPr/>
            </p:nvSpPr>
            <p:spPr>
              <a:xfrm>
                <a:off x="1485900" y="1352550"/>
                <a:ext cx="19050" cy="57150"/>
              </a:xfrm>
              <a:custGeom>
                <a:avLst/>
                <a:gdLst/>
                <a:ahLst/>
                <a:cxnLst/>
                <a:rect l="l" t="t" r="r" b="b"/>
                <a:pathLst>
                  <a:path w="19050" h="57150">
                    <a:moveTo>
                      <a:pt x="0" y="0"/>
                    </a:moveTo>
                    <a:lnTo>
                      <a:pt x="0" y="38100"/>
                    </a:lnTo>
                    <a:lnTo>
                      <a:pt x="19050" y="57150"/>
                    </a:lnTo>
                  </a:path>
                </a:pathLst>
              </a:custGeom>
              <a:noFill/>
              <a:ln w="19050">
                <a:solidFill>
                  <a:srgbClr val="A3381F"/>
                </a:solidFill>
              </a:ln>
            </p:spPr>
          </p:sp>
          <p:sp>
            <p:nvSpPr>
              <p:cNvPr id="30" name="Freeform 30"/>
              <p:cNvSpPr/>
              <p:nvPr/>
            </p:nvSpPr>
            <p:spPr>
              <a:xfrm>
                <a:off x="1400651" y="1303595"/>
                <a:ext cx="175755" cy="179791"/>
              </a:xfrm>
              <a:custGeom>
                <a:avLst/>
                <a:gdLst/>
                <a:ahLst/>
                <a:cxnLst/>
                <a:rect l="l" t="t" r="r" b="b"/>
                <a:pathLst>
                  <a:path w="175755" h="179791">
                    <a:moveTo>
                      <a:pt x="0" y="77530"/>
                    </a:moveTo>
                    <a:cubicBezTo>
                      <a:pt x="4419" y="34148"/>
                      <a:pt x="40701" y="996"/>
                      <a:pt x="84305" y="498"/>
                    </a:cubicBezTo>
                    <a:cubicBezTo>
                      <a:pt x="127908" y="0"/>
                      <a:pt x="164938" y="32315"/>
                      <a:pt x="170347" y="75585"/>
                    </a:cubicBezTo>
                    <a:cubicBezTo>
                      <a:pt x="175755" y="118854"/>
                      <a:pt x="147820" y="159290"/>
                      <a:pt x="105435" y="169540"/>
                    </a:cubicBezTo>
                    <a:cubicBezTo>
                      <a:pt x="63050" y="179791"/>
                      <a:pt x="19724" y="156590"/>
                      <a:pt x="4762" y="115630"/>
                    </a:cubicBezTo>
                    <a:moveTo>
                      <a:pt x="0" y="163255"/>
                    </a:moveTo>
                    <a:lnTo>
                      <a:pt x="0" y="115630"/>
                    </a:lnTo>
                    <a:lnTo>
                      <a:pt x="47625" y="115630"/>
                    </a:lnTo>
                  </a:path>
                </a:pathLst>
              </a:custGeom>
              <a:noFill/>
              <a:ln w="19050">
                <a:solidFill>
                  <a:srgbClr val="A3381F"/>
                </a:solidFill>
              </a:ln>
            </p:spPr>
          </p:sp>
        </p:grpSp>
        <p:sp>
          <p:nvSpPr>
            <p:cNvPr id="32" name="TextBox 32"/>
            <p:cNvSpPr txBox="1"/>
            <p:nvPr/>
          </p:nvSpPr>
          <p:spPr>
            <a:xfrm>
              <a:off x="1861185" y="121205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生命周期</a:t>
              </a:r>
            </a:p>
          </p:txBody>
        </p:sp>
        <p:sp>
          <p:nvSpPr>
            <p:cNvPr id="33" name="TextBox 33"/>
            <p:cNvSpPr txBox="1"/>
            <p:nvPr/>
          </p:nvSpPr>
          <p:spPr>
            <a:xfrm>
              <a:off x="1862138" y="1496139"/>
              <a:ext cx="1684534"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 xml:space="preserve">学生/职场/成家/育儿/中年/养老　</a:t>
              </a:r>
            </a:p>
          </p:txBody>
        </p:sp>
      </p:grpSp>
      <p:grpSp>
        <p:nvGrpSpPr>
          <p:cNvPr id="45" name="dim-card-2"/>
          <p:cNvGrpSpPr/>
          <p:nvPr/>
        </p:nvGrpSpPr>
        <p:grpSpPr>
          <a:xfrm>
            <a:off x="571500" y="2000250"/>
            <a:ext cx="3543300" cy="933450"/>
            <a:chOff x="571500" y="2000250"/>
            <a:chExt cx="3543300" cy="933450"/>
          </a:xfrm>
        </p:grpSpPr>
        <p:sp>
          <p:nvSpPr>
            <p:cNvPr id="35" name="Rectangle 35"/>
            <p:cNvSpPr/>
            <p:nvPr/>
          </p:nvSpPr>
          <p:spPr>
            <a:xfrm>
              <a:off x="571500" y="2000250"/>
              <a:ext cx="3543300" cy="933450"/>
            </a:xfrm>
            <a:prstGeom prst="roundRect">
              <a:avLst>
                <a:gd name="adj" fmla="val 10204"/>
              </a:avLst>
            </a:prstGeom>
            <a:solidFill>
              <a:srgbClr val="FFFFFF"/>
            </a:solidFill>
            <a:ln w="9525">
              <a:solidFill>
                <a:srgbClr val="E6D9C0"/>
              </a:solidFill>
            </a:ln>
          </p:spPr>
        </p:sp>
        <p:sp>
          <p:nvSpPr>
            <p:cNvPr id="36" name="Rectangle 36"/>
            <p:cNvSpPr/>
            <p:nvPr/>
          </p:nvSpPr>
          <p:spPr>
            <a:xfrm>
              <a:off x="723900" y="2247900"/>
              <a:ext cx="381000" cy="381000"/>
            </a:xfrm>
            <a:prstGeom prst="roundRect">
              <a:avLst>
                <a:gd name="adj" fmla="val 22500"/>
              </a:avLst>
            </a:prstGeom>
            <a:solidFill>
              <a:srgbClr val="C26D5E"/>
            </a:solidFill>
            <a:ln>
              <a:noFill/>
            </a:ln>
          </p:spPr>
        </p:sp>
        <p:sp>
          <p:nvSpPr>
            <p:cNvPr id="37" name="TextBox 37"/>
            <p:cNvSpPr txBox="1"/>
            <p:nvPr/>
          </p:nvSpPr>
          <p:spPr>
            <a:xfrm>
              <a:off x="821613" y="237410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02</a:t>
              </a:r>
            </a:p>
          </p:txBody>
        </p:sp>
        <p:sp>
          <p:nvSpPr>
            <p:cNvPr id="38" name="Ellipse 38"/>
            <p:cNvSpPr/>
            <p:nvPr/>
          </p:nvSpPr>
          <p:spPr>
            <a:xfrm>
              <a:off x="1257300" y="2209800"/>
              <a:ext cx="457200" cy="457200"/>
            </a:xfrm>
            <a:prstGeom prst="ellipse">
              <a:avLst/>
            </a:prstGeom>
            <a:solidFill>
              <a:srgbClr val="FBF4E7"/>
            </a:solidFill>
            <a:ln w="11430">
              <a:solidFill>
                <a:srgbClr val="C26D5E"/>
              </a:solidFill>
            </a:ln>
          </p:spPr>
        </p:sp>
        <p:grpSp>
          <p:nvGrpSpPr>
            <p:cNvPr id="42" name="Group 42"/>
            <p:cNvGrpSpPr/>
            <p:nvPr/>
          </p:nvGrpSpPr>
          <p:grpSpPr>
            <a:xfrm>
              <a:off x="1400175" y="2352675"/>
              <a:ext cx="171450" cy="171450"/>
              <a:chOff x="1400175" y="2352675"/>
              <a:chExt cx="171450" cy="171450"/>
            </a:xfrm>
          </p:grpSpPr>
          <p:sp>
            <p:nvSpPr>
              <p:cNvPr id="39" name="Freeform 39"/>
              <p:cNvSpPr/>
              <p:nvPr/>
            </p:nvSpPr>
            <p:spPr>
              <a:xfrm>
                <a:off x="1400175" y="235267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A24B3C"/>
                </a:solidFill>
              </a:ln>
            </p:spPr>
          </p:sp>
          <p:sp>
            <p:nvSpPr>
              <p:cNvPr id="40" name="Freeform 40"/>
              <p:cNvSpPr/>
              <p:nvPr/>
            </p:nvSpPr>
            <p:spPr>
              <a:xfrm>
                <a:off x="1419225" y="243840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A24B3C"/>
                </a:solidFill>
              </a:ln>
            </p:spPr>
          </p:sp>
          <p:sp>
            <p:nvSpPr>
              <p:cNvPr id="41" name="Freeform 41"/>
              <p:cNvSpPr/>
              <p:nvPr/>
            </p:nvSpPr>
            <p:spPr>
              <a:xfrm>
                <a:off x="1457325" y="244792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A24B3C"/>
                </a:solidFill>
              </a:ln>
            </p:spPr>
          </p:sp>
        </p:grpSp>
        <p:sp>
          <p:nvSpPr>
            <p:cNvPr id="43" name="TextBox 43"/>
            <p:cNvSpPr txBox="1"/>
            <p:nvPr/>
          </p:nvSpPr>
          <p:spPr>
            <a:xfrm>
              <a:off x="1861185" y="225980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客户来源</a:t>
              </a:r>
            </a:p>
          </p:txBody>
        </p:sp>
        <p:sp>
          <p:nvSpPr>
            <p:cNvPr id="44" name="TextBox 44"/>
            <p:cNvSpPr txBox="1"/>
            <p:nvPr/>
          </p:nvSpPr>
          <p:spPr>
            <a:xfrm>
              <a:off x="1862138" y="2543889"/>
              <a:ext cx="1519692"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 xml:space="preserve">到店/线上/代发/按揭/信用卡　</a:t>
              </a:r>
            </a:p>
          </p:txBody>
        </p:sp>
      </p:grpSp>
      <p:grpSp>
        <p:nvGrpSpPr>
          <p:cNvPr id="55" name="dim-card-3"/>
          <p:cNvGrpSpPr/>
          <p:nvPr/>
        </p:nvGrpSpPr>
        <p:grpSpPr>
          <a:xfrm>
            <a:off x="571500" y="3048000"/>
            <a:ext cx="3543300" cy="933450"/>
            <a:chOff x="571500" y="3048000"/>
            <a:chExt cx="3543300" cy="933450"/>
          </a:xfrm>
        </p:grpSpPr>
        <p:sp>
          <p:nvSpPr>
            <p:cNvPr id="46" name="Rectangle 46"/>
            <p:cNvSpPr/>
            <p:nvPr/>
          </p:nvSpPr>
          <p:spPr>
            <a:xfrm>
              <a:off x="571500" y="3048000"/>
              <a:ext cx="3543300" cy="933450"/>
            </a:xfrm>
            <a:prstGeom prst="roundRect">
              <a:avLst>
                <a:gd name="adj" fmla="val 10204"/>
              </a:avLst>
            </a:prstGeom>
            <a:solidFill>
              <a:srgbClr val="FFFFFF"/>
            </a:solidFill>
            <a:ln w="9525">
              <a:solidFill>
                <a:srgbClr val="E6D9C0"/>
              </a:solidFill>
            </a:ln>
          </p:spPr>
        </p:sp>
        <p:sp>
          <p:nvSpPr>
            <p:cNvPr id="47" name="Rectangle 47"/>
            <p:cNvSpPr/>
            <p:nvPr/>
          </p:nvSpPr>
          <p:spPr>
            <a:xfrm>
              <a:off x="723900" y="3295650"/>
              <a:ext cx="381000" cy="381000"/>
            </a:xfrm>
            <a:prstGeom prst="roundRect">
              <a:avLst>
                <a:gd name="adj" fmla="val 22500"/>
              </a:avLst>
            </a:prstGeom>
            <a:solidFill>
              <a:srgbClr val="A3381F"/>
            </a:solidFill>
            <a:ln>
              <a:noFill/>
            </a:ln>
          </p:spPr>
        </p:sp>
        <p:sp>
          <p:nvSpPr>
            <p:cNvPr id="48" name="TextBox 48"/>
            <p:cNvSpPr txBox="1"/>
            <p:nvPr/>
          </p:nvSpPr>
          <p:spPr>
            <a:xfrm>
              <a:off x="821613" y="342185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03</a:t>
              </a:r>
            </a:p>
          </p:txBody>
        </p:sp>
        <p:sp>
          <p:nvSpPr>
            <p:cNvPr id="49" name="Ellipse 49"/>
            <p:cNvSpPr/>
            <p:nvPr/>
          </p:nvSpPr>
          <p:spPr>
            <a:xfrm>
              <a:off x="1257300" y="3257550"/>
              <a:ext cx="457200" cy="457200"/>
            </a:xfrm>
            <a:prstGeom prst="ellipse">
              <a:avLst/>
            </a:prstGeom>
            <a:solidFill>
              <a:srgbClr val="FBF4E7"/>
            </a:solidFill>
            <a:ln w="11430">
              <a:solidFill>
                <a:srgbClr val="C26D5E"/>
              </a:solidFill>
            </a:ln>
          </p:spPr>
        </p:sp>
        <p:grpSp>
          <p:nvGrpSpPr>
            <p:cNvPr id="52" name="Group 52"/>
            <p:cNvGrpSpPr/>
            <p:nvPr/>
          </p:nvGrpSpPr>
          <p:grpSpPr>
            <a:xfrm>
              <a:off x="1397520" y="3402063"/>
              <a:ext cx="172200" cy="172467"/>
              <a:chOff x="1397520" y="3402063"/>
              <a:chExt cx="172200" cy="172467"/>
            </a:xfrm>
          </p:grpSpPr>
          <p:sp>
            <p:nvSpPr>
              <p:cNvPr id="50" name="Freeform 50"/>
              <p:cNvSpPr/>
              <p:nvPr/>
            </p:nvSpPr>
            <p:spPr>
              <a:xfrm>
                <a:off x="1397520" y="3402063"/>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9050">
                <a:solidFill>
                  <a:srgbClr val="A3381F"/>
                </a:solidFill>
              </a:ln>
            </p:spPr>
          </p:sp>
          <p:sp>
            <p:nvSpPr>
              <p:cNvPr id="51" name="Freeform 51"/>
              <p:cNvSpPr/>
              <p:nvPr/>
            </p:nvSpPr>
            <p:spPr>
              <a:xfrm>
                <a:off x="1514475" y="3405188"/>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9050">
                <a:solidFill>
                  <a:srgbClr val="A3381F"/>
                </a:solidFill>
              </a:ln>
            </p:spPr>
          </p:sp>
        </p:grpSp>
        <p:sp>
          <p:nvSpPr>
            <p:cNvPr id="53" name="TextBox 53"/>
            <p:cNvSpPr txBox="1"/>
            <p:nvPr/>
          </p:nvSpPr>
          <p:spPr>
            <a:xfrm>
              <a:off x="1861185" y="330755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资产结构</a:t>
              </a:r>
            </a:p>
          </p:txBody>
        </p:sp>
        <p:sp>
          <p:nvSpPr>
            <p:cNvPr id="54" name="TextBox 54"/>
            <p:cNvSpPr txBox="1"/>
            <p:nvPr/>
          </p:nvSpPr>
          <p:spPr>
            <a:xfrm>
              <a:off x="1862138" y="3591639"/>
              <a:ext cx="1413342"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 xml:space="preserve">存款/理财/基金/保险/贷款　</a:t>
              </a:r>
            </a:p>
          </p:txBody>
        </p:sp>
      </p:grpSp>
      <p:grpSp>
        <p:nvGrpSpPr>
          <p:cNvPr id="65" name="dim-card-4"/>
          <p:cNvGrpSpPr/>
          <p:nvPr/>
        </p:nvGrpSpPr>
        <p:grpSpPr>
          <a:xfrm>
            <a:off x="571500" y="4095750"/>
            <a:ext cx="3543300" cy="933450"/>
            <a:chOff x="571500" y="4095750"/>
            <a:chExt cx="3543300" cy="933450"/>
          </a:xfrm>
        </p:grpSpPr>
        <p:sp>
          <p:nvSpPr>
            <p:cNvPr id="56" name="Rectangle 56"/>
            <p:cNvSpPr/>
            <p:nvPr/>
          </p:nvSpPr>
          <p:spPr>
            <a:xfrm>
              <a:off x="571500" y="4095750"/>
              <a:ext cx="3543300" cy="933450"/>
            </a:xfrm>
            <a:prstGeom prst="roundRect">
              <a:avLst>
                <a:gd name="adj" fmla="val 10204"/>
              </a:avLst>
            </a:prstGeom>
            <a:solidFill>
              <a:srgbClr val="FFFFFF"/>
            </a:solidFill>
            <a:ln w="9525">
              <a:solidFill>
                <a:srgbClr val="E6D9C0"/>
              </a:solidFill>
            </a:ln>
          </p:spPr>
        </p:sp>
        <p:sp>
          <p:nvSpPr>
            <p:cNvPr id="57" name="Rectangle 57"/>
            <p:cNvSpPr/>
            <p:nvPr/>
          </p:nvSpPr>
          <p:spPr>
            <a:xfrm>
              <a:off x="723900" y="4343400"/>
              <a:ext cx="381000" cy="381000"/>
            </a:xfrm>
            <a:prstGeom prst="roundRect">
              <a:avLst>
                <a:gd name="adj" fmla="val 22500"/>
              </a:avLst>
            </a:prstGeom>
            <a:solidFill>
              <a:srgbClr val="C26D5E"/>
            </a:solidFill>
            <a:ln>
              <a:noFill/>
            </a:ln>
          </p:spPr>
        </p:sp>
        <p:sp>
          <p:nvSpPr>
            <p:cNvPr id="58" name="TextBox 58"/>
            <p:cNvSpPr txBox="1"/>
            <p:nvPr/>
          </p:nvSpPr>
          <p:spPr>
            <a:xfrm>
              <a:off x="821613" y="446960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04</a:t>
              </a:r>
            </a:p>
          </p:txBody>
        </p:sp>
        <p:sp>
          <p:nvSpPr>
            <p:cNvPr id="59" name="Ellipse 59"/>
            <p:cNvSpPr/>
            <p:nvPr/>
          </p:nvSpPr>
          <p:spPr>
            <a:xfrm>
              <a:off x="1257300" y="4305300"/>
              <a:ext cx="457200" cy="457200"/>
            </a:xfrm>
            <a:prstGeom prst="ellipse">
              <a:avLst/>
            </a:prstGeom>
            <a:solidFill>
              <a:srgbClr val="FBF4E7"/>
            </a:solidFill>
            <a:ln w="11430">
              <a:solidFill>
                <a:srgbClr val="C26D5E"/>
              </a:solidFill>
            </a:ln>
          </p:spPr>
        </p:sp>
        <p:grpSp>
          <p:nvGrpSpPr>
            <p:cNvPr id="62" name="Group 62"/>
            <p:cNvGrpSpPr/>
            <p:nvPr/>
          </p:nvGrpSpPr>
          <p:grpSpPr>
            <a:xfrm>
              <a:off x="1409700" y="4457700"/>
              <a:ext cx="152400" cy="152400"/>
              <a:chOff x="1409700" y="4457700"/>
              <a:chExt cx="152400" cy="152400"/>
            </a:xfrm>
          </p:grpSpPr>
          <p:sp>
            <p:nvSpPr>
              <p:cNvPr id="60" name="Freeform 60"/>
              <p:cNvSpPr/>
              <p:nvPr/>
            </p:nvSpPr>
            <p:spPr>
              <a:xfrm>
                <a:off x="1409700" y="4457700"/>
                <a:ext cx="142875" cy="152400"/>
              </a:xfrm>
              <a:custGeom>
                <a:avLst/>
                <a:gdLst/>
                <a:ahLst/>
                <a:cxnLst/>
                <a:rect l="l" t="t" r="r" b="b"/>
                <a:pathLst>
                  <a:path w="142875" h="152400">
                    <a:moveTo>
                      <a:pt x="123825" y="38100"/>
                    </a:moveTo>
                    <a:lnTo>
                      <a:pt x="123825" y="9525"/>
                    </a:lnTo>
                    <a:cubicBezTo>
                      <a:pt x="123825" y="4264"/>
                      <a:pt x="119561" y="0"/>
                      <a:pt x="114300" y="0"/>
                    </a:cubicBezTo>
                    <a:lnTo>
                      <a:pt x="19050" y="0"/>
                    </a:lnTo>
                    <a:cubicBezTo>
                      <a:pt x="8529" y="0"/>
                      <a:pt x="0" y="8529"/>
                      <a:pt x="0" y="19050"/>
                    </a:cubicBezTo>
                    <a:cubicBezTo>
                      <a:pt x="0" y="29571"/>
                      <a:pt x="8529" y="38100"/>
                      <a:pt x="19050" y="38100"/>
                    </a:cubicBezTo>
                    <a:lnTo>
                      <a:pt x="133350" y="38100"/>
                    </a:lnTo>
                    <a:cubicBezTo>
                      <a:pt x="138611" y="38100"/>
                      <a:pt x="142875" y="42364"/>
                      <a:pt x="142875" y="47625"/>
                    </a:cubicBezTo>
                    <a:lnTo>
                      <a:pt x="142875" y="76200"/>
                    </a:lnTo>
                    <a:moveTo>
                      <a:pt x="142875" y="114300"/>
                    </a:moveTo>
                    <a:lnTo>
                      <a:pt x="142875" y="142875"/>
                    </a:lnTo>
                    <a:cubicBezTo>
                      <a:pt x="142875" y="148136"/>
                      <a:pt x="138611" y="152400"/>
                      <a:pt x="133350" y="152400"/>
                    </a:cubicBezTo>
                    <a:lnTo>
                      <a:pt x="19050" y="152400"/>
                    </a:lnTo>
                    <a:cubicBezTo>
                      <a:pt x="8529" y="152400"/>
                      <a:pt x="0" y="143871"/>
                      <a:pt x="0" y="133350"/>
                    </a:cubicBezTo>
                    <a:lnTo>
                      <a:pt x="0" y="19050"/>
                    </a:lnTo>
                  </a:path>
                </a:pathLst>
              </a:custGeom>
              <a:noFill/>
              <a:ln w="19050">
                <a:solidFill>
                  <a:srgbClr val="A24B3C"/>
                </a:solidFill>
              </a:ln>
            </p:spPr>
          </p:sp>
          <p:sp>
            <p:nvSpPr>
              <p:cNvPr id="61" name="Freeform 61"/>
              <p:cNvSpPr/>
              <p:nvPr/>
            </p:nvSpPr>
            <p:spPr>
              <a:xfrm>
                <a:off x="1504950" y="4533900"/>
                <a:ext cx="57150" cy="38100"/>
              </a:xfrm>
              <a:custGeom>
                <a:avLst/>
                <a:gdLst/>
                <a:ahLst/>
                <a:cxnLst/>
                <a:rect l="l" t="t" r="r" b="b"/>
                <a:pathLst>
                  <a:path w="57150" h="38100">
                    <a:moveTo>
                      <a:pt x="57150" y="0"/>
                    </a:moveTo>
                    <a:lnTo>
                      <a:pt x="57150" y="38100"/>
                    </a:lnTo>
                    <a:lnTo>
                      <a:pt x="19050" y="38100"/>
                    </a:lnTo>
                    <a:cubicBezTo>
                      <a:pt x="8529" y="38100"/>
                      <a:pt x="0" y="29571"/>
                      <a:pt x="0" y="19050"/>
                    </a:cubicBezTo>
                    <a:cubicBezTo>
                      <a:pt x="0" y="8529"/>
                      <a:pt x="8529" y="0"/>
                      <a:pt x="19050" y="0"/>
                    </a:cubicBezTo>
                    <a:lnTo>
                      <a:pt x="57150" y="0"/>
                    </a:lnTo>
                  </a:path>
                </a:pathLst>
              </a:custGeom>
              <a:noFill/>
              <a:ln w="19050">
                <a:solidFill>
                  <a:srgbClr val="A24B3C"/>
                </a:solidFill>
              </a:ln>
            </p:spPr>
          </p:sp>
        </p:grpSp>
        <p:sp>
          <p:nvSpPr>
            <p:cNvPr id="63" name="TextBox 63"/>
            <p:cNvSpPr txBox="1"/>
            <p:nvPr/>
          </p:nvSpPr>
          <p:spPr>
            <a:xfrm>
              <a:off x="1861185" y="431720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金融需求</a:t>
              </a:r>
            </a:p>
          </p:txBody>
        </p:sp>
        <p:sp>
          <p:nvSpPr>
            <p:cNvPr id="64" name="TextBox 64"/>
            <p:cNvSpPr txBox="1"/>
            <p:nvPr/>
          </p:nvSpPr>
          <p:spPr>
            <a:xfrm>
              <a:off x="1862138" y="4582239"/>
              <a:ext cx="107804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6B6B6B"/>
                  </a:solidFill>
                  <a:latin typeface="+mn-lt"/>
                  <a:ea typeface="+mn-ea"/>
                  <a:cs typeface="+mn-cs"/>
                </a:rPr>
                <a:t xml:space="preserve">支付/增值/融资/住房　</a:t>
              </a:r>
              <a:br/>
              <a:r>
                <a:rPr lang="zh-CN" sz="790" dirty="0">
                  <a:solidFill>
                    <a:srgbClr val="6B6B6B"/>
                  </a:solidFill>
                  <a:latin typeface="+mn-lt"/>
                  <a:ea typeface="+mn-ea"/>
                  <a:cs typeface="+mn-cs"/>
                </a:rPr>
                <a:t xml:space="preserve">教育/养老/跨境/传承　</a:t>
              </a:r>
            </a:p>
          </p:txBody>
        </p:sp>
      </p:grpSp>
      <p:grpSp>
        <p:nvGrpSpPr>
          <p:cNvPr id="76" name="dim-card-5"/>
          <p:cNvGrpSpPr/>
          <p:nvPr/>
        </p:nvGrpSpPr>
        <p:grpSpPr>
          <a:xfrm>
            <a:off x="8077200" y="952500"/>
            <a:ext cx="3543300" cy="933450"/>
            <a:chOff x="8077200" y="952500"/>
            <a:chExt cx="3543300" cy="933450"/>
          </a:xfrm>
        </p:grpSpPr>
        <p:sp>
          <p:nvSpPr>
            <p:cNvPr id="66" name="Rectangle 66"/>
            <p:cNvSpPr/>
            <p:nvPr/>
          </p:nvSpPr>
          <p:spPr>
            <a:xfrm>
              <a:off x="8077200" y="952500"/>
              <a:ext cx="3543300" cy="933450"/>
            </a:xfrm>
            <a:prstGeom prst="roundRect">
              <a:avLst>
                <a:gd name="adj" fmla="val 10204"/>
              </a:avLst>
            </a:prstGeom>
            <a:solidFill>
              <a:srgbClr val="FFFFFF"/>
            </a:solidFill>
            <a:ln w="9525">
              <a:solidFill>
                <a:srgbClr val="E6D9C0"/>
              </a:solidFill>
            </a:ln>
          </p:spPr>
        </p:sp>
        <p:sp>
          <p:nvSpPr>
            <p:cNvPr id="67" name="Rectangle 67"/>
            <p:cNvSpPr/>
            <p:nvPr/>
          </p:nvSpPr>
          <p:spPr>
            <a:xfrm>
              <a:off x="8229600" y="1200150"/>
              <a:ext cx="381000" cy="381000"/>
            </a:xfrm>
            <a:prstGeom prst="roundRect">
              <a:avLst>
                <a:gd name="adj" fmla="val 22500"/>
              </a:avLst>
            </a:prstGeom>
            <a:solidFill>
              <a:srgbClr val="C26D5E"/>
            </a:solidFill>
            <a:ln>
              <a:noFill/>
            </a:ln>
          </p:spPr>
        </p:sp>
        <p:sp>
          <p:nvSpPr>
            <p:cNvPr id="68" name="TextBox 68"/>
            <p:cNvSpPr txBox="1"/>
            <p:nvPr/>
          </p:nvSpPr>
          <p:spPr>
            <a:xfrm>
              <a:off x="8327313" y="132635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05</a:t>
              </a:r>
            </a:p>
          </p:txBody>
        </p:sp>
        <p:sp>
          <p:nvSpPr>
            <p:cNvPr id="69" name="Ellipse 69"/>
            <p:cNvSpPr/>
            <p:nvPr/>
          </p:nvSpPr>
          <p:spPr>
            <a:xfrm>
              <a:off x="8763000" y="1162050"/>
              <a:ext cx="457200" cy="457200"/>
            </a:xfrm>
            <a:prstGeom prst="ellipse">
              <a:avLst/>
            </a:prstGeom>
            <a:solidFill>
              <a:srgbClr val="FBF4E7"/>
            </a:solidFill>
            <a:ln w="11430">
              <a:solidFill>
                <a:srgbClr val="C26D5E"/>
              </a:solidFill>
            </a:ln>
          </p:spPr>
        </p:sp>
        <p:grpSp>
          <p:nvGrpSpPr>
            <p:cNvPr id="73" name="Group 73"/>
            <p:cNvGrpSpPr/>
            <p:nvPr/>
          </p:nvGrpSpPr>
          <p:grpSpPr>
            <a:xfrm>
              <a:off x="8934450" y="1304925"/>
              <a:ext cx="114300" cy="171450"/>
              <a:chOff x="8934450" y="1304925"/>
              <a:chExt cx="114300" cy="171450"/>
            </a:xfrm>
          </p:grpSpPr>
          <p:sp>
            <p:nvSpPr>
              <p:cNvPr id="70" name="Freeform 70"/>
              <p:cNvSpPr/>
              <p:nvPr/>
            </p:nvSpPr>
            <p:spPr>
              <a:xfrm>
                <a:off x="8934450" y="130492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A24B3C"/>
                </a:solidFill>
              </a:ln>
            </p:spPr>
          </p:sp>
          <p:sp>
            <p:nvSpPr>
              <p:cNvPr id="71" name="Freeform 71"/>
              <p:cNvSpPr/>
              <p:nvPr/>
            </p:nvSpPr>
            <p:spPr>
              <a:xfrm>
                <a:off x="8982075" y="1314450"/>
                <a:ext cx="19050" cy="9525"/>
              </a:xfrm>
              <a:custGeom>
                <a:avLst/>
                <a:gdLst/>
                <a:ahLst/>
                <a:cxnLst/>
                <a:rect l="l" t="t" r="r" b="b"/>
                <a:pathLst>
                  <a:path w="19050" h="9525">
                    <a:moveTo>
                      <a:pt x="0" y="0"/>
                    </a:moveTo>
                    <a:lnTo>
                      <a:pt x="19050" y="0"/>
                    </a:lnTo>
                  </a:path>
                </a:pathLst>
              </a:custGeom>
              <a:noFill/>
              <a:ln w="19050">
                <a:solidFill>
                  <a:srgbClr val="A24B3C"/>
                </a:solidFill>
              </a:ln>
            </p:spPr>
          </p:sp>
          <p:sp>
            <p:nvSpPr>
              <p:cNvPr id="72" name="Freeform 72"/>
              <p:cNvSpPr/>
              <p:nvPr/>
            </p:nvSpPr>
            <p:spPr>
              <a:xfrm>
                <a:off x="8991600" y="1438275"/>
                <a:ext cx="9525" cy="9525"/>
              </a:xfrm>
              <a:custGeom>
                <a:avLst/>
                <a:gdLst/>
                <a:ahLst/>
                <a:cxnLst/>
                <a:rect l="l" t="t" r="r" b="b"/>
                <a:pathLst>
                  <a:path w="9525" h="9525">
                    <a:moveTo>
                      <a:pt x="0" y="0"/>
                    </a:moveTo>
                    <a:lnTo>
                      <a:pt x="0" y="95"/>
                    </a:lnTo>
                  </a:path>
                </a:pathLst>
              </a:custGeom>
              <a:noFill/>
              <a:ln w="19050">
                <a:solidFill>
                  <a:srgbClr val="A24B3C"/>
                </a:solidFill>
              </a:ln>
            </p:spPr>
          </p:sp>
        </p:grpSp>
        <p:sp>
          <p:nvSpPr>
            <p:cNvPr id="74" name="TextBox 74"/>
            <p:cNvSpPr txBox="1"/>
            <p:nvPr/>
          </p:nvSpPr>
          <p:spPr>
            <a:xfrm>
              <a:off x="9366885" y="121205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行为偏好</a:t>
              </a:r>
            </a:p>
          </p:txBody>
        </p:sp>
        <p:sp>
          <p:nvSpPr>
            <p:cNvPr id="75" name="TextBox 75"/>
            <p:cNvSpPr txBox="1"/>
            <p:nvPr/>
          </p:nvSpPr>
          <p:spPr>
            <a:xfrm>
              <a:off x="9367838" y="1496139"/>
              <a:ext cx="1142150"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 xml:space="preserve">线上/网点/价格/活动　</a:t>
              </a:r>
            </a:p>
          </p:txBody>
        </p:sp>
      </p:grpSp>
      <p:grpSp>
        <p:nvGrpSpPr>
          <p:cNvPr id="86" name="dim-card-6"/>
          <p:cNvGrpSpPr/>
          <p:nvPr/>
        </p:nvGrpSpPr>
        <p:grpSpPr>
          <a:xfrm>
            <a:off x="8077200" y="2000250"/>
            <a:ext cx="3543300" cy="933450"/>
            <a:chOff x="8077200" y="2000250"/>
            <a:chExt cx="3543300" cy="933450"/>
          </a:xfrm>
        </p:grpSpPr>
        <p:sp>
          <p:nvSpPr>
            <p:cNvPr id="77" name="Rectangle 77"/>
            <p:cNvSpPr/>
            <p:nvPr/>
          </p:nvSpPr>
          <p:spPr>
            <a:xfrm>
              <a:off x="8077200" y="2000250"/>
              <a:ext cx="3543300" cy="933450"/>
            </a:xfrm>
            <a:prstGeom prst="roundRect">
              <a:avLst>
                <a:gd name="adj" fmla="val 10204"/>
              </a:avLst>
            </a:prstGeom>
            <a:solidFill>
              <a:srgbClr val="FFFFFF"/>
            </a:solidFill>
            <a:ln w="9525">
              <a:solidFill>
                <a:srgbClr val="E6D9C0"/>
              </a:solidFill>
            </a:ln>
          </p:spPr>
        </p:sp>
        <p:sp>
          <p:nvSpPr>
            <p:cNvPr id="78" name="Rectangle 78"/>
            <p:cNvSpPr/>
            <p:nvPr/>
          </p:nvSpPr>
          <p:spPr>
            <a:xfrm>
              <a:off x="8229600" y="2247900"/>
              <a:ext cx="381000" cy="381000"/>
            </a:xfrm>
            <a:prstGeom prst="roundRect">
              <a:avLst>
                <a:gd name="adj" fmla="val 22500"/>
              </a:avLst>
            </a:prstGeom>
            <a:solidFill>
              <a:srgbClr val="A3381F"/>
            </a:solidFill>
            <a:ln>
              <a:noFill/>
            </a:ln>
          </p:spPr>
        </p:sp>
        <p:sp>
          <p:nvSpPr>
            <p:cNvPr id="79" name="TextBox 79"/>
            <p:cNvSpPr txBox="1"/>
            <p:nvPr/>
          </p:nvSpPr>
          <p:spPr>
            <a:xfrm>
              <a:off x="8327313" y="237410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06</a:t>
              </a:r>
            </a:p>
          </p:txBody>
        </p:sp>
        <p:sp>
          <p:nvSpPr>
            <p:cNvPr id="80" name="Ellipse 80"/>
            <p:cNvSpPr/>
            <p:nvPr/>
          </p:nvSpPr>
          <p:spPr>
            <a:xfrm>
              <a:off x="8763000" y="2209800"/>
              <a:ext cx="457200" cy="457200"/>
            </a:xfrm>
            <a:prstGeom prst="ellipse">
              <a:avLst/>
            </a:prstGeom>
            <a:solidFill>
              <a:srgbClr val="FBF4E7"/>
            </a:solidFill>
            <a:ln w="11430">
              <a:solidFill>
                <a:srgbClr val="C26D5E"/>
              </a:solidFill>
            </a:ln>
          </p:spPr>
        </p:sp>
        <p:grpSp>
          <p:nvGrpSpPr>
            <p:cNvPr id="83" name="Group 83"/>
            <p:cNvGrpSpPr/>
            <p:nvPr/>
          </p:nvGrpSpPr>
          <p:grpSpPr>
            <a:xfrm>
              <a:off x="8905875" y="2390775"/>
              <a:ext cx="171450" cy="95250"/>
              <a:chOff x="8905875" y="2390775"/>
              <a:chExt cx="171450" cy="95250"/>
            </a:xfrm>
          </p:grpSpPr>
          <p:sp>
            <p:nvSpPr>
              <p:cNvPr id="81" name="Freeform 81"/>
              <p:cNvSpPr/>
              <p:nvPr/>
            </p:nvSpPr>
            <p:spPr>
              <a:xfrm>
                <a:off x="8905875" y="239077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A3381F"/>
                </a:solidFill>
              </a:ln>
            </p:spPr>
          </p:sp>
          <p:sp>
            <p:nvSpPr>
              <p:cNvPr id="82" name="Freeform 82"/>
              <p:cNvSpPr/>
              <p:nvPr/>
            </p:nvSpPr>
            <p:spPr>
              <a:xfrm>
                <a:off x="9010650" y="2390775"/>
                <a:ext cx="66675" cy="66675"/>
              </a:xfrm>
              <a:custGeom>
                <a:avLst/>
                <a:gdLst/>
                <a:ahLst/>
                <a:cxnLst/>
                <a:rect l="l" t="t" r="r" b="b"/>
                <a:pathLst>
                  <a:path w="66675" h="66675">
                    <a:moveTo>
                      <a:pt x="0" y="0"/>
                    </a:moveTo>
                    <a:lnTo>
                      <a:pt x="66675" y="0"/>
                    </a:lnTo>
                    <a:lnTo>
                      <a:pt x="66675" y="66675"/>
                    </a:lnTo>
                  </a:path>
                </a:pathLst>
              </a:custGeom>
              <a:noFill/>
              <a:ln w="19050">
                <a:solidFill>
                  <a:srgbClr val="A3381F"/>
                </a:solidFill>
              </a:ln>
            </p:spPr>
          </p:sp>
        </p:grpSp>
        <p:sp>
          <p:nvSpPr>
            <p:cNvPr id="84" name="TextBox 84"/>
            <p:cNvSpPr txBox="1"/>
            <p:nvPr/>
          </p:nvSpPr>
          <p:spPr>
            <a:xfrm>
              <a:off x="9366885" y="225980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价值状态</a:t>
              </a:r>
            </a:p>
          </p:txBody>
        </p:sp>
        <p:sp>
          <p:nvSpPr>
            <p:cNvPr id="85" name="TextBox 85"/>
            <p:cNvSpPr txBox="1"/>
            <p:nvPr/>
          </p:nvSpPr>
          <p:spPr>
            <a:xfrm>
              <a:off x="9367838" y="2543889"/>
              <a:ext cx="1461200"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 xml:space="preserve">高价值/潜力/沉睡/流失预警　</a:t>
              </a:r>
            </a:p>
          </p:txBody>
        </p:sp>
      </p:grpSp>
      <p:grpSp>
        <p:nvGrpSpPr>
          <p:cNvPr id="96" name="dim-card-7"/>
          <p:cNvGrpSpPr/>
          <p:nvPr/>
        </p:nvGrpSpPr>
        <p:grpSpPr>
          <a:xfrm>
            <a:off x="8077200" y="3048000"/>
            <a:ext cx="3543300" cy="933450"/>
            <a:chOff x="8077200" y="3048000"/>
            <a:chExt cx="3543300" cy="933450"/>
          </a:xfrm>
        </p:grpSpPr>
        <p:sp>
          <p:nvSpPr>
            <p:cNvPr id="87" name="Rectangle 87"/>
            <p:cNvSpPr/>
            <p:nvPr/>
          </p:nvSpPr>
          <p:spPr>
            <a:xfrm>
              <a:off x="8077200" y="3048000"/>
              <a:ext cx="3543300" cy="933450"/>
            </a:xfrm>
            <a:prstGeom prst="roundRect">
              <a:avLst>
                <a:gd name="adj" fmla="val 10204"/>
              </a:avLst>
            </a:prstGeom>
            <a:solidFill>
              <a:srgbClr val="FFFFFF"/>
            </a:solidFill>
            <a:ln w="9525">
              <a:solidFill>
                <a:srgbClr val="E6D9C0"/>
              </a:solidFill>
            </a:ln>
          </p:spPr>
        </p:sp>
        <p:sp>
          <p:nvSpPr>
            <p:cNvPr id="88" name="Rectangle 88"/>
            <p:cNvSpPr/>
            <p:nvPr/>
          </p:nvSpPr>
          <p:spPr>
            <a:xfrm>
              <a:off x="8229600" y="3295650"/>
              <a:ext cx="381000" cy="381000"/>
            </a:xfrm>
            <a:prstGeom prst="roundRect">
              <a:avLst>
                <a:gd name="adj" fmla="val 22500"/>
              </a:avLst>
            </a:prstGeom>
            <a:solidFill>
              <a:srgbClr val="C26D5E"/>
            </a:solidFill>
            <a:ln>
              <a:noFill/>
            </a:ln>
          </p:spPr>
        </p:sp>
        <p:sp>
          <p:nvSpPr>
            <p:cNvPr id="89" name="TextBox 89"/>
            <p:cNvSpPr txBox="1"/>
            <p:nvPr/>
          </p:nvSpPr>
          <p:spPr>
            <a:xfrm>
              <a:off x="8327313" y="342185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07</a:t>
              </a:r>
            </a:p>
          </p:txBody>
        </p:sp>
        <p:sp>
          <p:nvSpPr>
            <p:cNvPr id="90" name="Ellipse 90"/>
            <p:cNvSpPr/>
            <p:nvPr/>
          </p:nvSpPr>
          <p:spPr>
            <a:xfrm>
              <a:off x="8763000" y="3257550"/>
              <a:ext cx="457200" cy="457200"/>
            </a:xfrm>
            <a:prstGeom prst="ellipse">
              <a:avLst/>
            </a:prstGeom>
            <a:solidFill>
              <a:srgbClr val="FBF4E7"/>
            </a:solidFill>
            <a:ln w="11430">
              <a:solidFill>
                <a:srgbClr val="C26D5E"/>
              </a:solidFill>
            </a:ln>
          </p:spPr>
        </p:sp>
        <p:grpSp>
          <p:nvGrpSpPr>
            <p:cNvPr id="93" name="Group 93"/>
            <p:cNvGrpSpPr/>
            <p:nvPr/>
          </p:nvGrpSpPr>
          <p:grpSpPr>
            <a:xfrm>
              <a:off x="8893021" y="3400425"/>
              <a:ext cx="186006" cy="171450"/>
              <a:chOff x="8893021" y="3400425"/>
              <a:chExt cx="186006" cy="171450"/>
            </a:xfrm>
          </p:grpSpPr>
          <p:sp>
            <p:nvSpPr>
              <p:cNvPr id="91" name="Freeform 91"/>
              <p:cNvSpPr/>
              <p:nvPr/>
            </p:nvSpPr>
            <p:spPr>
              <a:xfrm>
                <a:off x="8893021" y="34004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A24B3C"/>
                </a:solidFill>
              </a:ln>
            </p:spPr>
          </p:sp>
          <p:sp>
            <p:nvSpPr>
              <p:cNvPr id="92" name="Freeform 92"/>
              <p:cNvSpPr/>
              <p:nvPr/>
            </p:nvSpPr>
            <p:spPr>
              <a:xfrm>
                <a:off x="9020175" y="3533775"/>
                <a:ext cx="57150" cy="38100"/>
              </a:xfrm>
              <a:custGeom>
                <a:avLst/>
                <a:gdLst/>
                <a:ahLst/>
                <a:cxnLst/>
                <a:rect l="l" t="t" r="r" b="b"/>
                <a:pathLst>
                  <a:path w="57150" h="38100">
                    <a:moveTo>
                      <a:pt x="0" y="19050"/>
                    </a:moveTo>
                    <a:lnTo>
                      <a:pt x="19050" y="38100"/>
                    </a:lnTo>
                    <a:lnTo>
                      <a:pt x="57150" y="0"/>
                    </a:lnTo>
                  </a:path>
                </a:pathLst>
              </a:custGeom>
              <a:noFill/>
              <a:ln w="19050">
                <a:solidFill>
                  <a:srgbClr val="A24B3C"/>
                </a:solidFill>
              </a:ln>
            </p:spPr>
          </p:sp>
        </p:grpSp>
        <p:sp>
          <p:nvSpPr>
            <p:cNvPr id="94" name="TextBox 94"/>
            <p:cNvSpPr txBox="1"/>
            <p:nvPr/>
          </p:nvSpPr>
          <p:spPr>
            <a:xfrm>
              <a:off x="9366885" y="330755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风险属性</a:t>
              </a:r>
            </a:p>
          </p:txBody>
        </p:sp>
        <p:sp>
          <p:nvSpPr>
            <p:cNvPr id="95" name="TextBox 95"/>
            <p:cNvSpPr txBox="1"/>
            <p:nvPr/>
          </p:nvSpPr>
          <p:spPr>
            <a:xfrm>
              <a:off x="9367838" y="3591639"/>
              <a:ext cx="1413342"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 xml:space="preserve">承受/信用/欺诈/洗钱/投诉　</a:t>
              </a:r>
            </a:p>
          </p:txBody>
        </p:sp>
      </p:grpSp>
      <p:grpSp>
        <p:nvGrpSpPr>
          <p:cNvPr id="110" name="dim-card-8"/>
          <p:cNvGrpSpPr/>
          <p:nvPr/>
        </p:nvGrpSpPr>
        <p:grpSpPr>
          <a:xfrm>
            <a:off x="8077200" y="4095750"/>
            <a:ext cx="3543300" cy="933450"/>
            <a:chOff x="8077200" y="4095750"/>
            <a:chExt cx="3543300" cy="933450"/>
          </a:xfrm>
        </p:grpSpPr>
        <p:sp>
          <p:nvSpPr>
            <p:cNvPr id="97" name="Rectangle 97"/>
            <p:cNvSpPr/>
            <p:nvPr/>
          </p:nvSpPr>
          <p:spPr>
            <a:xfrm>
              <a:off x="8077200" y="4095750"/>
              <a:ext cx="3543300" cy="933450"/>
            </a:xfrm>
            <a:prstGeom prst="roundRect">
              <a:avLst>
                <a:gd name="adj" fmla="val 10204"/>
              </a:avLst>
            </a:prstGeom>
            <a:solidFill>
              <a:srgbClr val="FFFFFF"/>
            </a:solidFill>
            <a:ln w="9525">
              <a:solidFill>
                <a:srgbClr val="E6D9C0"/>
              </a:solidFill>
            </a:ln>
          </p:spPr>
        </p:sp>
        <p:sp>
          <p:nvSpPr>
            <p:cNvPr id="98" name="Rectangle 98"/>
            <p:cNvSpPr/>
            <p:nvPr/>
          </p:nvSpPr>
          <p:spPr>
            <a:xfrm>
              <a:off x="8229600" y="4343400"/>
              <a:ext cx="381000" cy="381000"/>
            </a:xfrm>
            <a:prstGeom prst="roundRect">
              <a:avLst>
                <a:gd name="adj" fmla="val 22500"/>
              </a:avLst>
            </a:prstGeom>
            <a:solidFill>
              <a:srgbClr val="A3381F"/>
            </a:solidFill>
            <a:ln>
              <a:noFill/>
            </a:ln>
          </p:spPr>
        </p:sp>
        <p:sp>
          <p:nvSpPr>
            <p:cNvPr id="99" name="TextBox 99"/>
            <p:cNvSpPr txBox="1"/>
            <p:nvPr/>
          </p:nvSpPr>
          <p:spPr>
            <a:xfrm>
              <a:off x="8327313" y="4469606"/>
              <a:ext cx="18557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08</a:t>
              </a:r>
            </a:p>
          </p:txBody>
        </p:sp>
        <p:sp>
          <p:nvSpPr>
            <p:cNvPr id="100" name="Ellipse 100"/>
            <p:cNvSpPr/>
            <p:nvPr/>
          </p:nvSpPr>
          <p:spPr>
            <a:xfrm>
              <a:off x="8763000" y="4305300"/>
              <a:ext cx="457200" cy="457200"/>
            </a:xfrm>
            <a:prstGeom prst="ellipse">
              <a:avLst/>
            </a:prstGeom>
            <a:solidFill>
              <a:srgbClr val="FBF4E7"/>
            </a:solidFill>
            <a:ln w="11430">
              <a:solidFill>
                <a:srgbClr val="C26D5E"/>
              </a:solidFill>
            </a:ln>
          </p:spPr>
        </p:sp>
        <p:grpSp>
          <p:nvGrpSpPr>
            <p:cNvPr id="107" name="Group 107"/>
            <p:cNvGrpSpPr/>
            <p:nvPr/>
          </p:nvGrpSpPr>
          <p:grpSpPr>
            <a:xfrm>
              <a:off x="8905875" y="4448175"/>
              <a:ext cx="171450" cy="171450"/>
              <a:chOff x="8905875" y="4448175"/>
              <a:chExt cx="171450" cy="171450"/>
            </a:xfrm>
          </p:grpSpPr>
          <p:sp>
            <p:nvSpPr>
              <p:cNvPr id="101" name="Freeform 101"/>
              <p:cNvSpPr/>
              <p:nvPr/>
            </p:nvSpPr>
            <p:spPr>
              <a:xfrm>
                <a:off x="8972550" y="4524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3381F"/>
                </a:solidFill>
              </a:ln>
            </p:spPr>
          </p:sp>
          <p:sp>
            <p:nvSpPr>
              <p:cNvPr id="102" name="Freeform 102"/>
              <p:cNvSpPr/>
              <p:nvPr/>
            </p:nvSpPr>
            <p:spPr>
              <a:xfrm>
                <a:off x="8953500" y="45910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A3381F"/>
                </a:solidFill>
              </a:ln>
            </p:spPr>
          </p:sp>
          <p:sp>
            <p:nvSpPr>
              <p:cNvPr id="103" name="Freeform 103"/>
              <p:cNvSpPr/>
              <p:nvPr/>
            </p:nvSpPr>
            <p:spPr>
              <a:xfrm>
                <a:off x="9020175" y="44481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3381F"/>
                </a:solidFill>
              </a:ln>
            </p:spPr>
          </p:sp>
          <p:sp>
            <p:nvSpPr>
              <p:cNvPr id="104" name="Freeform 104"/>
              <p:cNvSpPr/>
              <p:nvPr/>
            </p:nvSpPr>
            <p:spPr>
              <a:xfrm>
                <a:off x="9039225" y="45148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A3381F"/>
                </a:solidFill>
              </a:ln>
            </p:spPr>
          </p:sp>
          <p:sp>
            <p:nvSpPr>
              <p:cNvPr id="105" name="Freeform 105"/>
              <p:cNvSpPr/>
              <p:nvPr/>
            </p:nvSpPr>
            <p:spPr>
              <a:xfrm>
                <a:off x="8924925" y="44481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3381F"/>
                </a:solidFill>
              </a:ln>
            </p:spPr>
          </p:sp>
          <p:sp>
            <p:nvSpPr>
              <p:cNvPr id="106" name="Freeform 106"/>
              <p:cNvSpPr/>
              <p:nvPr/>
            </p:nvSpPr>
            <p:spPr>
              <a:xfrm>
                <a:off x="8905875" y="45148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A3381F"/>
                </a:solidFill>
              </a:ln>
            </p:spPr>
          </p:sp>
        </p:grpSp>
        <p:sp>
          <p:nvSpPr>
            <p:cNvPr id="108" name="TextBox 108"/>
            <p:cNvSpPr txBox="1"/>
            <p:nvPr/>
          </p:nvSpPr>
          <p:spPr>
            <a:xfrm>
              <a:off x="9366885" y="435530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特色客群</a:t>
              </a:r>
            </a:p>
          </p:txBody>
        </p:sp>
        <p:sp>
          <p:nvSpPr>
            <p:cNvPr id="109" name="TextBox 109"/>
            <p:cNvSpPr txBox="1"/>
            <p:nvPr/>
          </p:nvSpPr>
          <p:spPr>
            <a:xfrm>
              <a:off x="9367838" y="4639389"/>
              <a:ext cx="1673899"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 xml:space="preserve">老年/新市民/小微业主/跨境人士　</a:t>
              </a:r>
            </a:p>
          </p:txBody>
        </p:sp>
      </p:grpSp>
      <p:grpSp>
        <p:nvGrpSpPr>
          <p:cNvPr id="118" name="example-band"/>
          <p:cNvGrpSpPr/>
          <p:nvPr/>
        </p:nvGrpSpPr>
        <p:grpSpPr>
          <a:xfrm>
            <a:off x="381000" y="5295900"/>
            <a:ext cx="11430000" cy="1333500"/>
            <a:chOff x="381000" y="5295900"/>
            <a:chExt cx="11430000" cy="1333500"/>
          </a:xfrm>
        </p:grpSpPr>
        <p:sp>
          <p:nvSpPr>
            <p:cNvPr id="111" name="Rectangle 111"/>
            <p:cNvSpPr/>
            <p:nvPr/>
          </p:nvSpPr>
          <p:spPr>
            <a:xfrm>
              <a:off x="381000" y="5295900"/>
              <a:ext cx="11430000" cy="1333500"/>
            </a:xfrm>
            <a:prstGeom prst="roundRect">
              <a:avLst>
                <a:gd name="adj" fmla="val 10000"/>
              </a:avLst>
            </a:prstGeom>
            <a:solidFill>
              <a:srgbClr val="FFFFFF"/>
            </a:solidFill>
            <a:ln w="9525">
              <a:solidFill>
                <a:srgbClr val="E6D9C0"/>
              </a:solidFill>
            </a:ln>
          </p:spPr>
        </p:sp>
        <p:sp>
          <p:nvSpPr>
            <p:cNvPr id="112" name="Ellipse 112"/>
            <p:cNvSpPr/>
            <p:nvPr/>
          </p:nvSpPr>
          <p:spPr>
            <a:xfrm>
              <a:off x="2600325" y="5705475"/>
              <a:ext cx="514350" cy="514350"/>
            </a:xfrm>
            <a:prstGeom prst="ellipse">
              <a:avLst/>
            </a:prstGeom>
            <a:solidFill>
              <a:srgbClr val="A3381F"/>
            </a:solidFill>
            <a:ln>
              <a:noFill/>
            </a:ln>
          </p:spPr>
        </p:sp>
        <p:grpSp>
          <p:nvGrpSpPr>
            <p:cNvPr id="116" name="Group 116"/>
            <p:cNvGrpSpPr/>
            <p:nvPr/>
          </p:nvGrpSpPr>
          <p:grpSpPr>
            <a:xfrm>
              <a:off x="2743200" y="5848350"/>
              <a:ext cx="228599" cy="228599"/>
              <a:chOff x="2743200" y="5848350"/>
              <a:chExt cx="228599" cy="228599"/>
            </a:xfrm>
          </p:grpSpPr>
          <p:sp>
            <p:nvSpPr>
              <p:cNvPr id="113" name="Freeform 113"/>
              <p:cNvSpPr/>
              <p:nvPr/>
            </p:nvSpPr>
            <p:spPr>
              <a:xfrm>
                <a:off x="2844800" y="59499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FFFFFF"/>
                </a:solidFill>
              </a:ln>
            </p:spPr>
          </p:sp>
          <p:sp>
            <p:nvSpPr>
              <p:cNvPr id="114" name="Freeform 114"/>
              <p:cNvSpPr/>
              <p:nvPr/>
            </p:nvSpPr>
            <p:spPr>
              <a:xfrm>
                <a:off x="2794000" y="589915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FFFFFF"/>
                </a:solidFill>
              </a:ln>
            </p:spPr>
          </p:sp>
          <p:sp>
            <p:nvSpPr>
              <p:cNvPr id="115" name="Freeform 115"/>
              <p:cNvSpPr/>
              <p:nvPr/>
            </p:nvSpPr>
            <p:spPr>
              <a:xfrm>
                <a:off x="2743200" y="584835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FFFFFF"/>
                </a:solidFill>
              </a:ln>
            </p:spPr>
          </p:sp>
        </p:grpSp>
        <p:sp>
          <p:nvSpPr>
            <p:cNvPr id="117" name="TextBox 117"/>
            <p:cNvSpPr txBox="1"/>
            <p:nvPr/>
          </p:nvSpPr>
          <p:spPr>
            <a:xfrm>
              <a:off x="3383661" y="5885021"/>
              <a:ext cx="5205439" cy="278702"/>
            </a:xfrm>
            <a:prstGeom prst="rect">
              <a:avLst/>
            </a:prstGeom>
            <a:noFill/>
            <a:ln>
              <a:noFill/>
            </a:ln>
          </p:spPr>
          <p:txBody>
            <a:bodyPr wrap="none" lIns="0" tIns="0" rIns="0" bIns="0" anchor="t" anchorCtr="0">
              <a:spAutoFit/>
            </a:bodyPr>
            <a:lstStyle/>
            <a:p>
              <a:pPr algn="l"/>
              <a:r>
                <a:rPr lang="zh-CN" sz="1420" b="1" dirty="0">
                  <a:solidFill>
                    <a:srgbClr val="A3381F"/>
                  </a:solidFill>
                  <a:latin typeface="+mn-lt"/>
                  <a:ea typeface="+mn-ea"/>
                  <a:cs typeface="+mn-cs"/>
                </a:rPr>
                <a:t xml:space="preserve">35岁　</a:t>
              </a:r>
              <a:r>
                <a:rPr lang="zh-CN" sz="1420" b="1" dirty="0">
                  <a:solidFill>
                    <a:srgbClr val="A24B3C"/>
                  </a:solidFill>
                  <a:latin typeface="+mn-lt"/>
                  <a:ea typeface="+mn-ea"/>
                  <a:cs typeface="+mn-cs"/>
                </a:rPr>
                <a:t>＋</a:t>
              </a:r>
              <a:r>
                <a:rPr lang="zh-CN" sz="1420" b="1" dirty="0">
                  <a:solidFill>
                    <a:srgbClr val="A3381F"/>
                  </a:solidFill>
                  <a:latin typeface="+mn-lt"/>
                  <a:ea typeface="+mn-ea"/>
                  <a:cs typeface="+mn-cs"/>
                </a:rPr>
                <a:t xml:space="preserve">　代发　</a:t>
              </a:r>
              <a:r>
                <a:rPr lang="zh-CN" sz="1420" b="1" dirty="0">
                  <a:solidFill>
                    <a:srgbClr val="A24B3C"/>
                  </a:solidFill>
                  <a:latin typeface="+mn-lt"/>
                  <a:ea typeface="+mn-ea"/>
                  <a:cs typeface="+mn-cs"/>
                </a:rPr>
                <a:t>＋</a:t>
              </a:r>
              <a:r>
                <a:rPr lang="zh-CN" sz="1420" b="1" dirty="0">
                  <a:solidFill>
                    <a:srgbClr val="A3381F"/>
                  </a:solidFill>
                  <a:latin typeface="+mn-lt"/>
                  <a:ea typeface="+mn-ea"/>
                  <a:cs typeface="+mn-cs"/>
                </a:rPr>
                <a:t xml:space="preserve">　按揭　</a:t>
              </a:r>
              <a:r>
                <a:rPr lang="zh-CN" sz="1420" b="1" dirty="0">
                  <a:solidFill>
                    <a:srgbClr val="A24B3C"/>
                  </a:solidFill>
                  <a:latin typeface="+mn-lt"/>
                  <a:ea typeface="+mn-ea"/>
                  <a:cs typeface="+mn-cs"/>
                </a:rPr>
                <a:t>＋</a:t>
              </a:r>
              <a:r>
                <a:rPr lang="zh-CN" sz="1420" b="1" dirty="0">
                  <a:solidFill>
                    <a:srgbClr val="A3381F"/>
                  </a:solidFill>
                  <a:latin typeface="+mn-lt"/>
                  <a:ea typeface="+mn-ea"/>
                  <a:cs typeface="+mn-cs"/>
                </a:rPr>
                <a:t xml:space="preserve">　育儿家庭　</a:t>
              </a:r>
              <a:r>
                <a:rPr lang="zh-CN" sz="1420" b="1" dirty="0">
                  <a:solidFill>
                    <a:srgbClr val="A24B3C"/>
                  </a:solidFill>
                  <a:latin typeface="+mn-lt"/>
                  <a:ea typeface="+mn-ea"/>
                  <a:cs typeface="+mn-cs"/>
                </a:rPr>
                <a:t>＋</a:t>
              </a:r>
              <a:r>
                <a:rPr lang="zh-CN" sz="1420" b="1" dirty="0">
                  <a:solidFill>
                    <a:srgbClr val="A3381F"/>
                  </a:solidFill>
                  <a:latin typeface="+mn-lt"/>
                  <a:ea typeface="+mn-ea"/>
                  <a:cs typeface="+mn-cs"/>
                </a:rPr>
                <a:t xml:space="preserve">　财富成长型</a:t>
              </a:r>
            </a:p>
          </p:txBody>
        </p:sp>
      </p:gr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09</a:t>
              </a:r>
            </a:p>
          </p:txBody>
        </p:sp>
        <p:sp>
          <p:nvSpPr>
            <p:cNvPr id="4" name="TextBox 4"/>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标签体系：形成</a:t>
              </a:r>
              <a:r>
                <a:rPr lang="zh-CN" sz="1950" b="1" dirty="0">
                  <a:solidFill>
                    <a:srgbClr val="A3381F"/>
                  </a:solidFill>
                  <a:latin typeface="SimSun"/>
                  <a:ea typeface="SimSun"/>
                  <a:cs typeface="SimSun"/>
                </a:rPr>
                <a:t>可计算、可调用</a:t>
              </a:r>
              <a:r>
                <a:rPr lang="zh-CN" sz="1950" b="1" dirty="0">
                  <a:solidFill>
                    <a:srgbClr val="1F1F1F"/>
                  </a:solidFill>
                  <a:latin typeface="SimSun"/>
                  <a:ea typeface="SimSun"/>
                  <a:cs typeface="SimSun"/>
                </a:rPr>
                <a:t>的客户画像</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90" name="tag-wheel"/>
          <p:cNvGrpSpPr/>
          <p:nvPr/>
        </p:nvGrpSpPr>
        <p:grpSpPr>
          <a:xfrm>
            <a:off x="381000" y="800100"/>
            <a:ext cx="7905750" cy="4057650"/>
            <a:chOff x="381000" y="800100"/>
            <a:chExt cx="7905750" cy="4057650"/>
          </a:xfrm>
        </p:grpSpPr>
        <p:sp>
          <p:nvSpPr>
            <p:cNvPr id="7" name="Rectangle 7"/>
            <p:cNvSpPr/>
            <p:nvPr/>
          </p:nvSpPr>
          <p:spPr>
            <a:xfrm>
              <a:off x="381000" y="800100"/>
              <a:ext cx="7905750" cy="4057650"/>
            </a:xfrm>
            <a:prstGeom prst="roundRect">
              <a:avLst>
                <a:gd name="adj" fmla="val 3286"/>
              </a:avLst>
            </a:prstGeom>
            <a:solidFill>
              <a:srgbClr val="FFFFFF"/>
            </a:solidFill>
            <a:ln w="9525">
              <a:solidFill>
                <a:srgbClr val="E6D9C0"/>
              </a:solidFill>
            </a:ln>
          </p:spPr>
        </p:sp>
        <p:sp>
          <p:nvSpPr>
            <p:cNvPr id="8" name="Ellipse 8"/>
            <p:cNvSpPr/>
            <p:nvPr/>
          </p:nvSpPr>
          <p:spPr>
            <a:xfrm>
              <a:off x="2571750" y="1352550"/>
              <a:ext cx="2857500" cy="2857500"/>
            </a:xfrm>
            <a:prstGeom prst="ellipse">
              <a:avLst/>
            </a:prstGeom>
            <a:noFill/>
            <a:ln w="11430">
              <a:solidFill>
                <a:srgbClr val="C9796B"/>
              </a:solidFill>
              <a:custDash>
                <a:ds d="166667" sp="333333"/>
              </a:custDash>
            </a:ln>
          </p:spPr>
        </p:sp>
        <p:sp>
          <p:nvSpPr>
            <p:cNvPr id="9" name="Ellipse 9"/>
            <p:cNvSpPr/>
            <p:nvPr/>
          </p:nvSpPr>
          <p:spPr>
            <a:xfrm>
              <a:off x="3371850" y="2152650"/>
              <a:ext cx="1257300" cy="1257300"/>
            </a:xfrm>
            <a:prstGeom prst="ellipse">
              <a:avLst/>
            </a:prstGeom>
            <a:solidFill>
              <a:srgbClr val="A3381F"/>
            </a:solidFill>
            <a:ln>
              <a:noFill/>
            </a:ln>
          </p:spPr>
        </p:sp>
        <p:sp>
          <p:nvSpPr>
            <p:cNvPr id="10" name="TextBox 10"/>
            <p:cNvSpPr txBox="1"/>
            <p:nvPr/>
          </p:nvSpPr>
          <p:spPr>
            <a:xfrm>
              <a:off x="3652266" y="2575560"/>
              <a:ext cx="335280" cy="234696"/>
            </a:xfrm>
            <a:prstGeom prst="rect">
              <a:avLst/>
            </a:prstGeom>
            <a:noFill/>
            <a:ln>
              <a:noFill/>
            </a:ln>
          </p:spPr>
          <p:txBody>
            <a:bodyPr wrap="none" lIns="0" tIns="0" rIns="0" bIns="0" anchor="t" anchorCtr="0">
              <a:spAutoFit/>
            </a:bodyPr>
            <a:lstStyle/>
            <a:p>
              <a:pPr algn="r"/>
              <a:r>
                <a:rPr lang="zh-CN" sz="1200" b="1" dirty="0">
                  <a:solidFill>
                    <a:srgbClr val="FFFFFF"/>
                  </a:solidFill>
                  <a:latin typeface="+mn-lt"/>
                  <a:ea typeface="+mn-ea"/>
                  <a:cs typeface="+mn-cs"/>
                </a:rPr>
                <a:t>客户</a:t>
              </a:r>
            </a:p>
          </p:txBody>
        </p:sp>
        <p:sp>
          <p:nvSpPr>
            <p:cNvPr id="11" name="TextBox 11"/>
            <p:cNvSpPr txBox="1"/>
            <p:nvPr/>
          </p:nvSpPr>
          <p:spPr>
            <a:xfrm>
              <a:off x="4013454" y="2575560"/>
              <a:ext cx="292067"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360</a:t>
              </a:r>
            </a:p>
          </p:txBody>
        </p:sp>
        <p:sp>
          <p:nvSpPr>
            <p:cNvPr id="12" name="TextBox 12"/>
            <p:cNvSpPr txBox="1"/>
            <p:nvPr/>
          </p:nvSpPr>
          <p:spPr>
            <a:xfrm>
              <a:off x="3821709" y="2796064"/>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画像</a:t>
              </a:r>
            </a:p>
          </p:txBody>
        </p:sp>
        <p:grpSp>
          <p:nvGrpSpPr>
            <p:cNvPr id="16" name="Group 16"/>
            <p:cNvGrpSpPr/>
            <p:nvPr/>
          </p:nvGrpSpPr>
          <p:grpSpPr>
            <a:xfrm>
              <a:off x="3948113" y="3055144"/>
              <a:ext cx="130969" cy="157163"/>
              <a:chOff x="3948113" y="3055144"/>
              <a:chExt cx="130969" cy="157163"/>
            </a:xfrm>
          </p:grpSpPr>
          <p:sp>
            <p:nvSpPr>
              <p:cNvPr id="13" name="Freeform 13"/>
              <p:cNvSpPr/>
              <p:nvPr/>
            </p:nvSpPr>
            <p:spPr>
              <a:xfrm>
                <a:off x="3965575" y="30551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4" name="Freeform 14"/>
              <p:cNvSpPr/>
              <p:nvPr/>
            </p:nvSpPr>
            <p:spPr>
              <a:xfrm>
                <a:off x="3948113" y="315991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FFFFFF"/>
                </a:solidFill>
              </a:ln>
            </p:spPr>
          </p:sp>
          <p:sp>
            <p:nvSpPr>
              <p:cNvPr id="15" name="Freeform 15"/>
              <p:cNvSpPr/>
              <p:nvPr/>
            </p:nvSpPr>
            <p:spPr>
              <a:xfrm>
                <a:off x="4026694" y="3177381"/>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17" name="Ellipse 17"/>
            <p:cNvSpPr/>
            <p:nvPr/>
          </p:nvSpPr>
          <p:spPr>
            <a:xfrm>
              <a:off x="3838575" y="1190625"/>
              <a:ext cx="323850" cy="323850"/>
            </a:xfrm>
            <a:prstGeom prst="ellipse">
              <a:avLst/>
            </a:prstGeom>
            <a:solidFill>
              <a:srgbClr val="A3381F"/>
            </a:solidFill>
            <a:ln>
              <a:noFill/>
            </a:ln>
          </p:spPr>
        </p:sp>
        <p:grpSp>
          <p:nvGrpSpPr>
            <p:cNvPr id="21" name="Group 21"/>
            <p:cNvGrpSpPr/>
            <p:nvPr/>
          </p:nvGrpSpPr>
          <p:grpSpPr>
            <a:xfrm>
              <a:off x="3957638" y="1288256"/>
              <a:ext cx="107155" cy="128588"/>
              <a:chOff x="3957638" y="1288256"/>
              <a:chExt cx="107155" cy="128588"/>
            </a:xfrm>
          </p:grpSpPr>
          <p:sp>
            <p:nvSpPr>
              <p:cNvPr id="18" name="Freeform 18"/>
              <p:cNvSpPr/>
              <p:nvPr/>
            </p:nvSpPr>
            <p:spPr>
              <a:xfrm>
                <a:off x="3971925" y="12882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9" name="Freeform 19"/>
              <p:cNvSpPr/>
              <p:nvPr/>
            </p:nvSpPr>
            <p:spPr>
              <a:xfrm>
                <a:off x="3957638" y="1373981"/>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FFFFFF"/>
                </a:solidFill>
              </a:ln>
            </p:spPr>
          </p:sp>
          <p:sp>
            <p:nvSpPr>
              <p:cNvPr id="20" name="Freeform 20"/>
              <p:cNvSpPr/>
              <p:nvPr/>
            </p:nvSpPr>
            <p:spPr>
              <a:xfrm>
                <a:off x="4021931" y="138826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22" name="TextBox 22"/>
            <p:cNvSpPr txBox="1"/>
            <p:nvPr/>
          </p:nvSpPr>
          <p:spPr>
            <a:xfrm>
              <a:off x="3699355" y="969645"/>
              <a:ext cx="602291" cy="176212"/>
            </a:xfrm>
            <a:prstGeom prst="rect">
              <a:avLst/>
            </a:prstGeom>
            <a:noFill/>
            <a:ln>
              <a:noFill/>
            </a:ln>
          </p:spPr>
          <p:txBody>
            <a:bodyPr wrap="none" lIns="0" tIns="0" rIns="0" bIns="0" anchor="t" anchorCtr="0">
              <a:spAutoFit/>
            </a:bodyPr>
            <a:lstStyle/>
            <a:p>
              <a:pPr algn="ctr"/>
              <a:r>
                <a:rPr lang="zh-CN" sz="900" b="1" dirty="0">
                  <a:solidFill>
                    <a:srgbClr val="A3381F"/>
                  </a:solidFill>
                  <a:latin typeface="+mn-lt"/>
                  <a:ea typeface="+mn-ea"/>
                  <a:cs typeface="+mn-cs"/>
                </a:rPr>
                <a:t>1</a:t>
              </a:r>
              <a:r>
                <a:rPr lang="zh-CN" sz="900" b="1" dirty="0">
                  <a:solidFill>
                    <a:srgbClr val="5E3A33"/>
                  </a:solidFill>
                  <a:latin typeface="+mn-lt"/>
                  <a:ea typeface="+mn-ea"/>
                  <a:cs typeface="+mn-cs"/>
                </a:rPr>
                <a:t xml:space="preserve"> 基础属性</a:t>
              </a:r>
            </a:p>
          </p:txBody>
        </p:sp>
        <p:sp>
          <p:nvSpPr>
            <p:cNvPr id="23" name="Ellipse 23"/>
            <p:cNvSpPr/>
            <p:nvPr/>
          </p:nvSpPr>
          <p:spPr>
            <a:xfrm>
              <a:off x="4552950" y="1381125"/>
              <a:ext cx="323850" cy="323850"/>
            </a:xfrm>
            <a:prstGeom prst="ellipse">
              <a:avLst/>
            </a:prstGeom>
            <a:solidFill>
              <a:srgbClr val="C26D5E"/>
            </a:solidFill>
            <a:ln>
              <a:noFill/>
            </a:ln>
          </p:spPr>
        </p:sp>
        <p:grpSp>
          <p:nvGrpSpPr>
            <p:cNvPr id="30" name="Group 30"/>
            <p:cNvGrpSpPr/>
            <p:nvPr/>
          </p:nvGrpSpPr>
          <p:grpSpPr>
            <a:xfrm>
              <a:off x="4650581" y="1478756"/>
              <a:ext cx="128588" cy="128587"/>
              <a:chOff x="4650581" y="1478756"/>
              <a:chExt cx="128588" cy="128587"/>
            </a:xfrm>
          </p:grpSpPr>
          <p:sp>
            <p:nvSpPr>
              <p:cNvPr id="24" name="Freeform 24"/>
              <p:cNvSpPr/>
              <p:nvPr/>
            </p:nvSpPr>
            <p:spPr>
              <a:xfrm>
                <a:off x="4700588" y="153590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25" name="Freeform 25"/>
              <p:cNvSpPr/>
              <p:nvPr/>
            </p:nvSpPr>
            <p:spPr>
              <a:xfrm>
                <a:off x="4686300" y="1585912"/>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FFFFFF"/>
                </a:solidFill>
              </a:ln>
            </p:spPr>
          </p:sp>
          <p:sp>
            <p:nvSpPr>
              <p:cNvPr id="26" name="Freeform 26"/>
              <p:cNvSpPr/>
              <p:nvPr/>
            </p:nvSpPr>
            <p:spPr>
              <a:xfrm>
                <a:off x="4736306" y="14787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27" name="Freeform 27"/>
              <p:cNvSpPr/>
              <p:nvPr/>
            </p:nvSpPr>
            <p:spPr>
              <a:xfrm>
                <a:off x="4750594" y="1528762"/>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FFFFFF"/>
                </a:solidFill>
              </a:ln>
            </p:spPr>
          </p:sp>
          <p:sp>
            <p:nvSpPr>
              <p:cNvPr id="28" name="Freeform 28"/>
              <p:cNvSpPr/>
              <p:nvPr/>
            </p:nvSpPr>
            <p:spPr>
              <a:xfrm>
                <a:off x="4664869" y="14787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29" name="Freeform 29"/>
              <p:cNvSpPr/>
              <p:nvPr/>
            </p:nvSpPr>
            <p:spPr>
              <a:xfrm>
                <a:off x="4650581" y="1528762"/>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FFFFFF"/>
                </a:solidFill>
              </a:ln>
            </p:spPr>
          </p:sp>
        </p:grpSp>
        <p:sp>
          <p:nvSpPr>
            <p:cNvPr id="31" name="TextBox 31"/>
            <p:cNvSpPr txBox="1"/>
            <p:nvPr/>
          </p:nvSpPr>
          <p:spPr>
            <a:xfrm>
              <a:off x="4910138" y="1141095"/>
              <a:ext cx="602291" cy="176212"/>
            </a:xfrm>
            <a:prstGeom prst="rect">
              <a:avLst/>
            </a:prstGeom>
            <a:noFill/>
            <a:ln>
              <a:noFill/>
            </a:ln>
          </p:spPr>
          <p:txBody>
            <a:bodyPr wrap="none" lIns="0" tIns="0" rIns="0" bIns="0" anchor="t" anchorCtr="0">
              <a:spAutoFit/>
            </a:bodyPr>
            <a:lstStyle/>
            <a:p>
              <a:pPr algn="l"/>
              <a:r>
                <a:rPr lang="zh-CN" sz="900" b="1" dirty="0">
                  <a:solidFill>
                    <a:srgbClr val="A3381F"/>
                  </a:solidFill>
                  <a:latin typeface="+mn-lt"/>
                  <a:ea typeface="+mn-ea"/>
                  <a:cs typeface="+mn-cs"/>
                </a:rPr>
                <a:t>2</a:t>
              </a:r>
              <a:r>
                <a:rPr lang="zh-CN" sz="900" b="1" dirty="0">
                  <a:solidFill>
                    <a:srgbClr val="5E3A33"/>
                  </a:solidFill>
                  <a:latin typeface="+mn-lt"/>
                  <a:ea typeface="+mn-ea"/>
                  <a:cs typeface="+mn-cs"/>
                </a:rPr>
                <a:t xml:space="preserve"> 客户关系</a:t>
              </a:r>
            </a:p>
          </p:txBody>
        </p:sp>
        <p:sp>
          <p:nvSpPr>
            <p:cNvPr id="32" name="Ellipse 32"/>
            <p:cNvSpPr/>
            <p:nvPr/>
          </p:nvSpPr>
          <p:spPr>
            <a:xfrm>
              <a:off x="5076825" y="1905000"/>
              <a:ext cx="323850" cy="323850"/>
            </a:xfrm>
            <a:prstGeom prst="ellipse">
              <a:avLst/>
            </a:prstGeom>
            <a:solidFill>
              <a:srgbClr val="A3381F"/>
            </a:solidFill>
            <a:ln>
              <a:noFill/>
            </a:ln>
          </p:spPr>
        </p:sp>
        <p:grpSp>
          <p:nvGrpSpPr>
            <p:cNvPr id="35" name="Group 35"/>
            <p:cNvGrpSpPr/>
            <p:nvPr/>
          </p:nvGrpSpPr>
          <p:grpSpPr>
            <a:xfrm>
              <a:off x="5172465" y="2003860"/>
              <a:ext cx="129150" cy="129350"/>
              <a:chOff x="5172465" y="2003860"/>
              <a:chExt cx="129150" cy="129350"/>
            </a:xfrm>
          </p:grpSpPr>
          <p:sp>
            <p:nvSpPr>
              <p:cNvPr id="33" name="Freeform 33"/>
              <p:cNvSpPr/>
              <p:nvPr/>
            </p:nvSpPr>
            <p:spPr>
              <a:xfrm>
                <a:off x="5172465" y="2003860"/>
                <a:ext cx="129150" cy="129350"/>
              </a:xfrm>
              <a:custGeom>
                <a:avLst/>
                <a:gdLst/>
                <a:ahLst/>
                <a:cxnLst/>
                <a:rect l="l" t="t" r="r" b="b"/>
                <a:pathLst>
                  <a:path w="129150" h="129350">
                    <a:moveTo>
                      <a:pt x="51998" y="200"/>
                    </a:moveTo>
                    <a:cubicBezTo>
                      <a:pt x="21065" y="7371"/>
                      <a:pt x="0" y="36049"/>
                      <a:pt x="2409" y="67710"/>
                    </a:cubicBezTo>
                    <a:cubicBezTo>
                      <a:pt x="4818" y="99372"/>
                      <a:pt x="29979" y="124533"/>
                      <a:pt x="61640" y="126942"/>
                    </a:cubicBezTo>
                    <a:cubicBezTo>
                      <a:pt x="93301" y="129350"/>
                      <a:pt x="121979" y="108285"/>
                      <a:pt x="129150" y="77353"/>
                    </a:cubicBezTo>
                    <a:cubicBezTo>
                      <a:pt x="129150" y="73407"/>
                      <a:pt x="125952" y="70209"/>
                      <a:pt x="122006" y="70209"/>
                    </a:cubicBezTo>
                    <a:lnTo>
                      <a:pt x="73429" y="70209"/>
                    </a:lnTo>
                    <a:cubicBezTo>
                      <a:pt x="65538" y="70209"/>
                      <a:pt x="59141" y="63812"/>
                      <a:pt x="59141" y="55922"/>
                    </a:cubicBezTo>
                    <a:lnTo>
                      <a:pt x="59141" y="5915"/>
                    </a:lnTo>
                    <a:cubicBezTo>
                      <a:pt x="58962" y="4206"/>
                      <a:pt x="58106" y="2639"/>
                      <a:pt x="56763" y="1565"/>
                    </a:cubicBezTo>
                    <a:cubicBezTo>
                      <a:pt x="55421" y="492"/>
                      <a:pt x="53705" y="0"/>
                      <a:pt x="51998" y="200"/>
                    </a:cubicBezTo>
                  </a:path>
                </a:pathLst>
              </a:custGeom>
              <a:noFill/>
              <a:ln w="14288">
                <a:solidFill>
                  <a:srgbClr val="FFFFFF"/>
                </a:solidFill>
              </a:ln>
            </p:spPr>
          </p:sp>
          <p:sp>
            <p:nvSpPr>
              <p:cNvPr id="34" name="Freeform 34"/>
              <p:cNvSpPr/>
              <p:nvPr/>
            </p:nvSpPr>
            <p:spPr>
              <a:xfrm>
                <a:off x="5260181" y="2006203"/>
                <a:ext cx="39291" cy="39291"/>
              </a:xfrm>
              <a:custGeom>
                <a:avLst/>
                <a:gdLst/>
                <a:ahLst/>
                <a:cxnLst/>
                <a:rect l="l" t="t" r="r" b="b"/>
                <a:pathLst>
                  <a:path w="39291" h="39291">
                    <a:moveTo>
                      <a:pt x="0" y="0"/>
                    </a:moveTo>
                    <a:cubicBezTo>
                      <a:pt x="18372" y="6469"/>
                      <a:pt x="32822" y="20918"/>
                      <a:pt x="39291" y="39291"/>
                    </a:cubicBezTo>
                    <a:lnTo>
                      <a:pt x="7144" y="39291"/>
                    </a:lnTo>
                    <a:cubicBezTo>
                      <a:pt x="3198" y="39291"/>
                      <a:pt x="0" y="36092"/>
                      <a:pt x="0" y="32147"/>
                    </a:cubicBezTo>
                    <a:lnTo>
                      <a:pt x="0" y="0"/>
                    </a:lnTo>
                  </a:path>
                </a:pathLst>
              </a:custGeom>
              <a:noFill/>
              <a:ln w="14288">
                <a:solidFill>
                  <a:srgbClr val="FFFFFF"/>
                </a:solidFill>
              </a:ln>
            </p:spPr>
          </p:sp>
        </p:grpSp>
        <p:sp>
          <p:nvSpPr>
            <p:cNvPr id="36" name="TextBox 36"/>
            <p:cNvSpPr txBox="1"/>
            <p:nvPr/>
          </p:nvSpPr>
          <p:spPr>
            <a:xfrm>
              <a:off x="5576888" y="1817370"/>
              <a:ext cx="602291" cy="176212"/>
            </a:xfrm>
            <a:prstGeom prst="rect">
              <a:avLst/>
            </a:prstGeom>
            <a:noFill/>
            <a:ln>
              <a:noFill/>
            </a:ln>
          </p:spPr>
          <p:txBody>
            <a:bodyPr wrap="none" lIns="0" tIns="0" rIns="0" bIns="0" anchor="t" anchorCtr="0">
              <a:spAutoFit/>
            </a:bodyPr>
            <a:lstStyle/>
            <a:p>
              <a:pPr algn="l"/>
              <a:r>
                <a:rPr lang="zh-CN" sz="900" b="1" dirty="0">
                  <a:solidFill>
                    <a:srgbClr val="A3381F"/>
                  </a:solidFill>
                  <a:latin typeface="+mn-lt"/>
                  <a:ea typeface="+mn-ea"/>
                  <a:cs typeface="+mn-cs"/>
                </a:rPr>
                <a:t>3</a:t>
              </a:r>
              <a:r>
                <a:rPr lang="zh-CN" sz="900" b="1" dirty="0">
                  <a:solidFill>
                    <a:srgbClr val="5E3A33"/>
                  </a:solidFill>
                  <a:latin typeface="+mn-lt"/>
                  <a:ea typeface="+mn-ea"/>
                  <a:cs typeface="+mn-cs"/>
                </a:rPr>
                <a:t xml:space="preserve"> 资产负债</a:t>
              </a:r>
            </a:p>
          </p:txBody>
        </p:sp>
        <p:sp>
          <p:nvSpPr>
            <p:cNvPr id="37" name="Ellipse 37"/>
            <p:cNvSpPr/>
            <p:nvPr/>
          </p:nvSpPr>
          <p:spPr>
            <a:xfrm>
              <a:off x="5267325" y="2619375"/>
              <a:ext cx="323850" cy="323850"/>
            </a:xfrm>
            <a:prstGeom prst="ellipse">
              <a:avLst/>
            </a:prstGeom>
            <a:solidFill>
              <a:srgbClr val="C26D5E"/>
            </a:solidFill>
            <a:ln>
              <a:noFill/>
            </a:ln>
          </p:spPr>
        </p:sp>
        <p:grpSp>
          <p:nvGrpSpPr>
            <p:cNvPr id="42" name="Group 42"/>
            <p:cNvGrpSpPr/>
            <p:nvPr/>
          </p:nvGrpSpPr>
          <p:grpSpPr>
            <a:xfrm>
              <a:off x="5372100" y="2717006"/>
              <a:ext cx="114300" cy="128588"/>
              <a:chOff x="5372100" y="2717006"/>
              <a:chExt cx="114300" cy="128588"/>
            </a:xfrm>
          </p:grpSpPr>
          <p:sp>
            <p:nvSpPr>
              <p:cNvPr id="38" name="Freeform 38"/>
              <p:cNvSpPr/>
              <p:nvPr/>
            </p:nvSpPr>
            <p:spPr>
              <a:xfrm>
                <a:off x="5372100" y="2717006"/>
                <a:ext cx="114300" cy="128588"/>
              </a:xfrm>
              <a:custGeom>
                <a:avLst/>
                <a:gdLst/>
                <a:ahLst/>
                <a:cxnLst/>
                <a:rect l="l" t="t" r="r" b="b"/>
                <a:pathLst>
                  <a:path w="114300" h="128588">
                    <a:moveTo>
                      <a:pt x="57150" y="0"/>
                    </a:moveTo>
                    <a:lnTo>
                      <a:pt x="114300" y="32147"/>
                    </a:lnTo>
                    <a:lnTo>
                      <a:pt x="114300" y="96441"/>
                    </a:lnTo>
                    <a:lnTo>
                      <a:pt x="57150" y="128588"/>
                    </a:lnTo>
                    <a:lnTo>
                      <a:pt x="0" y="96441"/>
                    </a:lnTo>
                    <a:lnTo>
                      <a:pt x="0" y="32147"/>
                    </a:lnTo>
                    <a:lnTo>
                      <a:pt x="57150" y="0"/>
                    </a:lnTo>
                  </a:path>
                </a:pathLst>
              </a:custGeom>
              <a:noFill/>
              <a:ln w="14288">
                <a:solidFill>
                  <a:srgbClr val="FFFFFF"/>
                </a:solidFill>
              </a:ln>
            </p:spPr>
          </p:sp>
          <p:sp>
            <p:nvSpPr>
              <p:cNvPr id="39" name="Freeform 39"/>
              <p:cNvSpPr/>
              <p:nvPr/>
            </p:nvSpPr>
            <p:spPr>
              <a:xfrm>
                <a:off x="5429250" y="2749153"/>
                <a:ext cx="57150" cy="32147"/>
              </a:xfrm>
              <a:custGeom>
                <a:avLst/>
                <a:gdLst/>
                <a:ahLst/>
                <a:cxnLst/>
                <a:rect l="l" t="t" r="r" b="b"/>
                <a:pathLst>
                  <a:path w="57150" h="32147">
                    <a:moveTo>
                      <a:pt x="0" y="32147"/>
                    </a:moveTo>
                    <a:lnTo>
                      <a:pt x="57150" y="0"/>
                    </a:lnTo>
                  </a:path>
                </a:pathLst>
              </a:custGeom>
              <a:noFill/>
              <a:ln w="14288">
                <a:solidFill>
                  <a:srgbClr val="FFFFFF"/>
                </a:solidFill>
              </a:ln>
            </p:spPr>
          </p:sp>
          <p:sp>
            <p:nvSpPr>
              <p:cNvPr id="40" name="Freeform 40"/>
              <p:cNvSpPr/>
              <p:nvPr/>
            </p:nvSpPr>
            <p:spPr>
              <a:xfrm>
                <a:off x="5429250" y="2781300"/>
                <a:ext cx="9525" cy="64294"/>
              </a:xfrm>
              <a:custGeom>
                <a:avLst/>
                <a:gdLst/>
                <a:ahLst/>
                <a:cxnLst/>
                <a:rect l="l" t="t" r="r" b="b"/>
                <a:pathLst>
                  <a:path w="9525" h="64294">
                    <a:moveTo>
                      <a:pt x="0" y="0"/>
                    </a:moveTo>
                    <a:lnTo>
                      <a:pt x="0" y="64294"/>
                    </a:lnTo>
                  </a:path>
                </a:pathLst>
              </a:custGeom>
              <a:noFill/>
              <a:ln w="14288">
                <a:solidFill>
                  <a:srgbClr val="FFFFFF"/>
                </a:solidFill>
              </a:ln>
            </p:spPr>
          </p:sp>
          <p:sp>
            <p:nvSpPr>
              <p:cNvPr id="41" name="Freeform 41"/>
              <p:cNvSpPr/>
              <p:nvPr/>
            </p:nvSpPr>
            <p:spPr>
              <a:xfrm>
                <a:off x="5372100" y="2749153"/>
                <a:ext cx="57150" cy="32147"/>
              </a:xfrm>
              <a:custGeom>
                <a:avLst/>
                <a:gdLst/>
                <a:ahLst/>
                <a:cxnLst/>
                <a:rect l="l" t="t" r="r" b="b"/>
                <a:pathLst>
                  <a:path w="57150" h="32147">
                    <a:moveTo>
                      <a:pt x="57150" y="32147"/>
                    </a:moveTo>
                    <a:lnTo>
                      <a:pt x="0" y="0"/>
                    </a:lnTo>
                  </a:path>
                </a:pathLst>
              </a:custGeom>
              <a:noFill/>
              <a:ln w="14288">
                <a:solidFill>
                  <a:srgbClr val="FFFFFF"/>
                </a:solidFill>
              </a:ln>
            </p:spPr>
          </p:sp>
        </p:grpSp>
        <p:sp>
          <p:nvSpPr>
            <p:cNvPr id="43" name="TextBox 43"/>
            <p:cNvSpPr txBox="1"/>
            <p:nvPr/>
          </p:nvSpPr>
          <p:spPr>
            <a:xfrm>
              <a:off x="5824538" y="2722245"/>
              <a:ext cx="602291" cy="176212"/>
            </a:xfrm>
            <a:prstGeom prst="rect">
              <a:avLst/>
            </a:prstGeom>
            <a:noFill/>
            <a:ln>
              <a:noFill/>
            </a:ln>
          </p:spPr>
          <p:txBody>
            <a:bodyPr wrap="none" lIns="0" tIns="0" rIns="0" bIns="0" anchor="t" anchorCtr="0">
              <a:spAutoFit/>
            </a:bodyPr>
            <a:lstStyle/>
            <a:p>
              <a:pPr algn="l"/>
              <a:r>
                <a:rPr lang="zh-CN" sz="900" b="1" dirty="0">
                  <a:solidFill>
                    <a:srgbClr val="A3381F"/>
                  </a:solidFill>
                  <a:latin typeface="+mn-lt"/>
                  <a:ea typeface="+mn-ea"/>
                  <a:cs typeface="+mn-cs"/>
                </a:rPr>
                <a:t>4</a:t>
              </a:r>
              <a:r>
                <a:rPr lang="zh-CN" sz="900" b="1" dirty="0">
                  <a:solidFill>
                    <a:srgbClr val="5E3A33"/>
                  </a:solidFill>
                  <a:latin typeface="+mn-lt"/>
                  <a:ea typeface="+mn-ea"/>
                  <a:cs typeface="+mn-cs"/>
                </a:rPr>
                <a:t xml:space="preserve"> 产品持有</a:t>
              </a:r>
            </a:p>
          </p:txBody>
        </p:sp>
        <p:sp>
          <p:nvSpPr>
            <p:cNvPr id="44" name="Ellipse 44"/>
            <p:cNvSpPr/>
            <p:nvPr/>
          </p:nvSpPr>
          <p:spPr>
            <a:xfrm>
              <a:off x="5076825" y="3333750"/>
              <a:ext cx="323850" cy="323850"/>
            </a:xfrm>
            <a:prstGeom prst="ellipse">
              <a:avLst/>
            </a:prstGeom>
            <a:solidFill>
              <a:srgbClr val="A3381F"/>
            </a:solidFill>
            <a:ln>
              <a:noFill/>
            </a:ln>
          </p:spPr>
        </p:sp>
        <p:grpSp>
          <p:nvGrpSpPr>
            <p:cNvPr id="49" name="Group 49"/>
            <p:cNvGrpSpPr/>
            <p:nvPr/>
          </p:nvGrpSpPr>
          <p:grpSpPr>
            <a:xfrm>
              <a:off x="5174456" y="3438525"/>
              <a:ext cx="128588" cy="114299"/>
              <a:chOff x="5174456" y="3438525"/>
              <a:chExt cx="128588" cy="114299"/>
            </a:xfrm>
          </p:grpSpPr>
          <p:sp>
            <p:nvSpPr>
              <p:cNvPr id="45" name="Freeform 45"/>
              <p:cNvSpPr/>
              <p:nvPr/>
            </p:nvSpPr>
            <p:spPr>
              <a:xfrm>
                <a:off x="5174456" y="3459956"/>
                <a:ext cx="128588" cy="9525"/>
              </a:xfrm>
              <a:custGeom>
                <a:avLst/>
                <a:gdLst/>
                <a:ahLst/>
                <a:cxnLst/>
                <a:rect l="l" t="t" r="r" b="b"/>
                <a:pathLst>
                  <a:path w="128588" h="9525">
                    <a:moveTo>
                      <a:pt x="128588" y="0"/>
                    </a:moveTo>
                    <a:lnTo>
                      <a:pt x="0" y="0"/>
                    </a:lnTo>
                  </a:path>
                </a:pathLst>
              </a:custGeom>
              <a:noFill/>
              <a:ln w="14288">
                <a:solidFill>
                  <a:srgbClr val="FFFFFF"/>
                </a:solidFill>
              </a:ln>
            </p:spPr>
          </p:sp>
          <p:sp>
            <p:nvSpPr>
              <p:cNvPr id="46" name="Freeform 46"/>
              <p:cNvSpPr/>
              <p:nvPr/>
            </p:nvSpPr>
            <p:spPr>
              <a:xfrm>
                <a:off x="5281612" y="3438525"/>
                <a:ext cx="21431" cy="42862"/>
              </a:xfrm>
              <a:custGeom>
                <a:avLst/>
                <a:gdLst/>
                <a:ahLst/>
                <a:cxnLst/>
                <a:rect l="l" t="t" r="r" b="b"/>
                <a:pathLst>
                  <a:path w="21431" h="42862">
                    <a:moveTo>
                      <a:pt x="0" y="42862"/>
                    </a:moveTo>
                    <a:lnTo>
                      <a:pt x="21431" y="21431"/>
                    </a:lnTo>
                    <a:lnTo>
                      <a:pt x="0" y="0"/>
                    </a:lnTo>
                  </a:path>
                </a:pathLst>
              </a:custGeom>
              <a:noFill/>
              <a:ln w="14288">
                <a:solidFill>
                  <a:srgbClr val="FFFFFF"/>
                </a:solidFill>
              </a:ln>
            </p:spPr>
          </p:sp>
          <p:sp>
            <p:nvSpPr>
              <p:cNvPr id="47" name="Freeform 47"/>
              <p:cNvSpPr/>
              <p:nvPr/>
            </p:nvSpPr>
            <p:spPr>
              <a:xfrm>
                <a:off x="5174456" y="3509962"/>
                <a:ext cx="21431" cy="42862"/>
              </a:xfrm>
              <a:custGeom>
                <a:avLst/>
                <a:gdLst/>
                <a:ahLst/>
                <a:cxnLst/>
                <a:rect l="l" t="t" r="r" b="b"/>
                <a:pathLst>
                  <a:path w="21431" h="42862">
                    <a:moveTo>
                      <a:pt x="21431" y="42862"/>
                    </a:moveTo>
                    <a:lnTo>
                      <a:pt x="0" y="21431"/>
                    </a:lnTo>
                    <a:lnTo>
                      <a:pt x="21431" y="0"/>
                    </a:lnTo>
                  </a:path>
                </a:pathLst>
              </a:custGeom>
              <a:noFill/>
              <a:ln w="14288">
                <a:solidFill>
                  <a:srgbClr val="FFFFFF"/>
                </a:solidFill>
              </a:ln>
            </p:spPr>
          </p:sp>
          <p:sp>
            <p:nvSpPr>
              <p:cNvPr id="48" name="Freeform 48"/>
              <p:cNvSpPr/>
              <p:nvPr/>
            </p:nvSpPr>
            <p:spPr>
              <a:xfrm>
                <a:off x="5174456" y="3531394"/>
                <a:ext cx="128588" cy="9525"/>
              </a:xfrm>
              <a:custGeom>
                <a:avLst/>
                <a:gdLst/>
                <a:ahLst/>
                <a:cxnLst/>
                <a:rect l="l" t="t" r="r" b="b"/>
                <a:pathLst>
                  <a:path w="128588" h="9525">
                    <a:moveTo>
                      <a:pt x="0" y="0"/>
                    </a:moveTo>
                    <a:lnTo>
                      <a:pt x="128588" y="0"/>
                    </a:lnTo>
                  </a:path>
                </a:pathLst>
              </a:custGeom>
              <a:noFill/>
              <a:ln w="14288">
                <a:solidFill>
                  <a:srgbClr val="FFFFFF"/>
                </a:solidFill>
              </a:ln>
            </p:spPr>
          </p:sp>
        </p:grpSp>
        <p:sp>
          <p:nvSpPr>
            <p:cNvPr id="50" name="TextBox 50"/>
            <p:cNvSpPr txBox="1"/>
            <p:nvPr/>
          </p:nvSpPr>
          <p:spPr>
            <a:xfrm>
              <a:off x="5576888" y="3636645"/>
              <a:ext cx="602291" cy="176212"/>
            </a:xfrm>
            <a:prstGeom prst="rect">
              <a:avLst/>
            </a:prstGeom>
            <a:noFill/>
            <a:ln>
              <a:noFill/>
            </a:ln>
          </p:spPr>
          <p:txBody>
            <a:bodyPr wrap="none" lIns="0" tIns="0" rIns="0" bIns="0" anchor="t" anchorCtr="0">
              <a:spAutoFit/>
            </a:bodyPr>
            <a:lstStyle/>
            <a:p>
              <a:pPr algn="l"/>
              <a:r>
                <a:rPr lang="zh-CN" sz="900" b="1" dirty="0">
                  <a:solidFill>
                    <a:srgbClr val="A3381F"/>
                  </a:solidFill>
                  <a:latin typeface="+mn-lt"/>
                  <a:ea typeface="+mn-ea"/>
                  <a:cs typeface="+mn-cs"/>
                </a:rPr>
                <a:t>5</a:t>
              </a:r>
              <a:r>
                <a:rPr lang="zh-CN" sz="900" b="1" dirty="0">
                  <a:solidFill>
                    <a:srgbClr val="5E3A33"/>
                  </a:solidFill>
                  <a:latin typeface="+mn-lt"/>
                  <a:ea typeface="+mn-ea"/>
                  <a:cs typeface="+mn-cs"/>
                </a:rPr>
                <a:t xml:space="preserve"> 交易行为</a:t>
              </a:r>
            </a:p>
          </p:txBody>
        </p:sp>
        <p:sp>
          <p:nvSpPr>
            <p:cNvPr id="51" name="Ellipse 51"/>
            <p:cNvSpPr/>
            <p:nvPr/>
          </p:nvSpPr>
          <p:spPr>
            <a:xfrm>
              <a:off x="4552950" y="3857625"/>
              <a:ext cx="323850" cy="323850"/>
            </a:xfrm>
            <a:prstGeom prst="ellipse">
              <a:avLst/>
            </a:prstGeom>
            <a:solidFill>
              <a:srgbClr val="C26D5E"/>
            </a:solidFill>
            <a:ln>
              <a:noFill/>
            </a:ln>
          </p:spPr>
        </p:sp>
        <p:grpSp>
          <p:nvGrpSpPr>
            <p:cNvPr id="55" name="Group 55"/>
            <p:cNvGrpSpPr/>
            <p:nvPr/>
          </p:nvGrpSpPr>
          <p:grpSpPr>
            <a:xfrm>
              <a:off x="4672012" y="3955256"/>
              <a:ext cx="85725" cy="128588"/>
              <a:chOff x="4672012" y="3955256"/>
              <a:chExt cx="85725" cy="128588"/>
            </a:xfrm>
          </p:grpSpPr>
          <p:sp>
            <p:nvSpPr>
              <p:cNvPr id="52" name="Freeform 52"/>
              <p:cNvSpPr/>
              <p:nvPr/>
            </p:nvSpPr>
            <p:spPr>
              <a:xfrm>
                <a:off x="4672012" y="3955256"/>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FFFFFF"/>
                </a:solidFill>
              </a:ln>
            </p:spPr>
          </p:sp>
          <p:sp>
            <p:nvSpPr>
              <p:cNvPr id="53" name="Freeform 53"/>
              <p:cNvSpPr/>
              <p:nvPr/>
            </p:nvSpPr>
            <p:spPr>
              <a:xfrm>
                <a:off x="4707731" y="3962400"/>
                <a:ext cx="14288" cy="9525"/>
              </a:xfrm>
              <a:custGeom>
                <a:avLst/>
                <a:gdLst/>
                <a:ahLst/>
                <a:cxnLst/>
                <a:rect l="l" t="t" r="r" b="b"/>
                <a:pathLst>
                  <a:path w="14288" h="9525">
                    <a:moveTo>
                      <a:pt x="0" y="0"/>
                    </a:moveTo>
                    <a:lnTo>
                      <a:pt x="14288" y="0"/>
                    </a:lnTo>
                  </a:path>
                </a:pathLst>
              </a:custGeom>
              <a:noFill/>
              <a:ln w="14288">
                <a:solidFill>
                  <a:srgbClr val="FFFFFF"/>
                </a:solidFill>
              </a:ln>
            </p:spPr>
          </p:sp>
          <p:sp>
            <p:nvSpPr>
              <p:cNvPr id="54" name="Freeform 54"/>
              <p:cNvSpPr/>
              <p:nvPr/>
            </p:nvSpPr>
            <p:spPr>
              <a:xfrm>
                <a:off x="4714875" y="4055269"/>
                <a:ext cx="9525" cy="9525"/>
              </a:xfrm>
              <a:custGeom>
                <a:avLst/>
                <a:gdLst/>
                <a:ahLst/>
                <a:cxnLst/>
                <a:rect l="l" t="t" r="r" b="b"/>
                <a:pathLst>
                  <a:path w="9525" h="9525">
                    <a:moveTo>
                      <a:pt x="0" y="0"/>
                    </a:moveTo>
                    <a:lnTo>
                      <a:pt x="0" y="71"/>
                    </a:lnTo>
                  </a:path>
                </a:pathLst>
              </a:custGeom>
              <a:noFill/>
              <a:ln w="14288">
                <a:solidFill>
                  <a:srgbClr val="FFFFFF"/>
                </a:solidFill>
              </a:ln>
            </p:spPr>
          </p:sp>
        </p:grpSp>
        <p:sp>
          <p:nvSpPr>
            <p:cNvPr id="56" name="TextBox 56"/>
            <p:cNvSpPr txBox="1"/>
            <p:nvPr/>
          </p:nvSpPr>
          <p:spPr>
            <a:xfrm>
              <a:off x="4910138" y="4303395"/>
              <a:ext cx="602291" cy="176212"/>
            </a:xfrm>
            <a:prstGeom prst="rect">
              <a:avLst/>
            </a:prstGeom>
            <a:noFill/>
            <a:ln>
              <a:noFill/>
            </a:ln>
          </p:spPr>
          <p:txBody>
            <a:bodyPr wrap="none" lIns="0" tIns="0" rIns="0" bIns="0" anchor="t" anchorCtr="0">
              <a:spAutoFit/>
            </a:bodyPr>
            <a:lstStyle/>
            <a:p>
              <a:pPr algn="l"/>
              <a:r>
                <a:rPr lang="zh-CN" sz="900" b="1" dirty="0">
                  <a:solidFill>
                    <a:srgbClr val="A3381F"/>
                  </a:solidFill>
                  <a:latin typeface="+mn-lt"/>
                  <a:ea typeface="+mn-ea"/>
                  <a:cs typeface="+mn-cs"/>
                </a:rPr>
                <a:t>6</a:t>
              </a:r>
              <a:r>
                <a:rPr lang="zh-CN" sz="900" b="1" dirty="0">
                  <a:solidFill>
                    <a:srgbClr val="5E3A33"/>
                  </a:solidFill>
                  <a:latin typeface="+mn-lt"/>
                  <a:ea typeface="+mn-ea"/>
                  <a:cs typeface="+mn-cs"/>
                </a:rPr>
                <a:t xml:space="preserve"> 渠道偏好</a:t>
              </a:r>
            </a:p>
          </p:txBody>
        </p:sp>
        <p:sp>
          <p:nvSpPr>
            <p:cNvPr id="57" name="Ellipse 57"/>
            <p:cNvSpPr/>
            <p:nvPr/>
          </p:nvSpPr>
          <p:spPr>
            <a:xfrm>
              <a:off x="3838575" y="4048125"/>
              <a:ext cx="323850" cy="323850"/>
            </a:xfrm>
            <a:prstGeom prst="ellipse">
              <a:avLst/>
            </a:prstGeom>
            <a:solidFill>
              <a:srgbClr val="A3381F"/>
            </a:solidFill>
            <a:ln>
              <a:noFill/>
            </a:ln>
          </p:spPr>
        </p:sp>
        <p:sp>
          <p:nvSpPr>
            <p:cNvPr id="58" name="Freeform 58"/>
            <p:cNvSpPr/>
            <p:nvPr/>
          </p:nvSpPr>
          <p:spPr>
            <a:xfrm>
              <a:off x="3933733" y="4151067"/>
              <a:ext cx="133405" cy="116133"/>
            </a:xfrm>
            <a:custGeom>
              <a:avLst/>
              <a:gdLst/>
              <a:ahLst/>
              <a:cxnLst/>
              <a:rect l="l" t="t" r="r" b="b"/>
              <a:pathLst>
                <a:path w="133405" h="116133">
                  <a:moveTo>
                    <a:pt x="120346" y="63069"/>
                  </a:moveTo>
                  <a:lnTo>
                    <a:pt x="66767" y="116133"/>
                  </a:lnTo>
                  <a:lnTo>
                    <a:pt x="13189" y="63069"/>
                  </a:lnTo>
                  <a:cubicBezTo>
                    <a:pt x="3555" y="53693"/>
                    <a:pt x="0" y="39702"/>
                    <a:pt x="3992" y="26865"/>
                  </a:cubicBezTo>
                  <a:cubicBezTo>
                    <a:pt x="7983" y="14027"/>
                    <a:pt x="18845" y="4518"/>
                    <a:pt x="32097" y="2259"/>
                  </a:cubicBezTo>
                  <a:cubicBezTo>
                    <a:pt x="45350" y="0"/>
                    <a:pt x="58748" y="5373"/>
                    <a:pt x="66767" y="16163"/>
                  </a:cubicBezTo>
                  <a:cubicBezTo>
                    <a:pt x="74820" y="5453"/>
                    <a:pt x="88190" y="151"/>
                    <a:pt x="101395" y="2431"/>
                  </a:cubicBezTo>
                  <a:cubicBezTo>
                    <a:pt x="114599" y="4712"/>
                    <a:pt x="125416" y="14191"/>
                    <a:pt x="129411" y="26981"/>
                  </a:cubicBezTo>
                  <a:cubicBezTo>
                    <a:pt x="133405" y="39772"/>
                    <a:pt x="129905" y="53722"/>
                    <a:pt x="120346" y="63112"/>
                  </a:cubicBezTo>
                </a:path>
              </a:pathLst>
            </a:custGeom>
            <a:noFill/>
            <a:ln w="14288">
              <a:solidFill>
                <a:srgbClr val="FFFFFF"/>
              </a:solidFill>
            </a:ln>
          </p:spPr>
        </p:sp>
        <p:sp>
          <p:nvSpPr>
            <p:cNvPr id="59" name="TextBox 59"/>
            <p:cNvSpPr txBox="1"/>
            <p:nvPr/>
          </p:nvSpPr>
          <p:spPr>
            <a:xfrm>
              <a:off x="3699355" y="4551045"/>
              <a:ext cx="602291" cy="176212"/>
            </a:xfrm>
            <a:prstGeom prst="rect">
              <a:avLst/>
            </a:prstGeom>
            <a:noFill/>
            <a:ln>
              <a:noFill/>
            </a:ln>
          </p:spPr>
          <p:txBody>
            <a:bodyPr wrap="none" lIns="0" tIns="0" rIns="0" bIns="0" anchor="t" anchorCtr="0">
              <a:spAutoFit/>
            </a:bodyPr>
            <a:lstStyle/>
            <a:p>
              <a:pPr algn="ctr"/>
              <a:r>
                <a:rPr lang="zh-CN" sz="900" b="1" dirty="0">
                  <a:solidFill>
                    <a:srgbClr val="A3381F"/>
                  </a:solidFill>
                  <a:latin typeface="+mn-lt"/>
                  <a:ea typeface="+mn-ea"/>
                  <a:cs typeface="+mn-cs"/>
                </a:rPr>
                <a:t>7</a:t>
              </a:r>
              <a:r>
                <a:rPr lang="zh-CN" sz="900" b="1" dirty="0">
                  <a:solidFill>
                    <a:srgbClr val="5E3A33"/>
                  </a:solidFill>
                  <a:latin typeface="+mn-lt"/>
                  <a:ea typeface="+mn-ea"/>
                  <a:cs typeface="+mn-cs"/>
                </a:rPr>
                <a:t xml:space="preserve"> 兴趣需求</a:t>
              </a:r>
            </a:p>
          </p:txBody>
        </p:sp>
        <p:sp>
          <p:nvSpPr>
            <p:cNvPr id="60" name="Ellipse 60"/>
            <p:cNvSpPr/>
            <p:nvPr/>
          </p:nvSpPr>
          <p:spPr>
            <a:xfrm>
              <a:off x="3124200" y="3857625"/>
              <a:ext cx="323850" cy="323850"/>
            </a:xfrm>
            <a:prstGeom prst="ellipse">
              <a:avLst/>
            </a:prstGeom>
            <a:solidFill>
              <a:srgbClr val="C26D5E"/>
            </a:solidFill>
            <a:ln>
              <a:noFill/>
            </a:ln>
          </p:spPr>
        </p:sp>
        <p:grpSp>
          <p:nvGrpSpPr>
            <p:cNvPr id="63" name="Group 63"/>
            <p:cNvGrpSpPr/>
            <p:nvPr/>
          </p:nvGrpSpPr>
          <p:grpSpPr>
            <a:xfrm>
              <a:off x="3221831" y="3969544"/>
              <a:ext cx="128588" cy="105085"/>
              <a:chOff x="3221831" y="3969544"/>
              <a:chExt cx="128588" cy="105085"/>
            </a:xfrm>
          </p:grpSpPr>
          <p:sp>
            <p:nvSpPr>
              <p:cNvPr id="61" name="Freeform 61"/>
              <p:cNvSpPr/>
              <p:nvPr/>
            </p:nvSpPr>
            <p:spPr>
              <a:xfrm>
                <a:off x="3221831" y="3969544"/>
                <a:ext cx="128588" cy="105085"/>
              </a:xfrm>
              <a:custGeom>
                <a:avLst/>
                <a:gdLst/>
                <a:ahLst/>
                <a:cxnLst/>
                <a:rect l="l" t="t" r="r" b="b"/>
                <a:pathLst>
                  <a:path w="128588" h="105085">
                    <a:moveTo>
                      <a:pt x="21431" y="0"/>
                    </a:moveTo>
                    <a:lnTo>
                      <a:pt x="107156" y="0"/>
                    </a:lnTo>
                    <a:lnTo>
                      <a:pt x="128588" y="35719"/>
                    </a:lnTo>
                    <a:lnTo>
                      <a:pt x="67866" y="103584"/>
                    </a:lnTo>
                    <a:cubicBezTo>
                      <a:pt x="66925" y="104544"/>
                      <a:pt x="65638" y="105085"/>
                      <a:pt x="64294" y="105085"/>
                    </a:cubicBezTo>
                    <a:cubicBezTo>
                      <a:pt x="62950" y="105085"/>
                      <a:pt x="61662" y="104544"/>
                      <a:pt x="60722" y="103584"/>
                    </a:cubicBezTo>
                    <a:lnTo>
                      <a:pt x="0" y="35719"/>
                    </a:lnTo>
                    <a:lnTo>
                      <a:pt x="21431" y="0"/>
                    </a:lnTo>
                  </a:path>
                </a:pathLst>
              </a:custGeom>
              <a:noFill/>
              <a:ln w="14288">
                <a:solidFill>
                  <a:srgbClr val="FFFFFF"/>
                </a:solidFill>
              </a:ln>
            </p:spPr>
          </p:sp>
          <p:sp>
            <p:nvSpPr>
              <p:cNvPr id="62" name="Freeform 62"/>
              <p:cNvSpPr/>
              <p:nvPr/>
            </p:nvSpPr>
            <p:spPr>
              <a:xfrm>
                <a:off x="3257550" y="3996690"/>
                <a:ext cx="14288" cy="22860"/>
              </a:xfrm>
              <a:custGeom>
                <a:avLst/>
                <a:gdLst/>
                <a:ahLst/>
                <a:cxnLst/>
                <a:rect l="l" t="t" r="r" b="b"/>
                <a:pathLst>
                  <a:path w="14288" h="22860">
                    <a:moveTo>
                      <a:pt x="14288" y="22860"/>
                    </a:moveTo>
                    <a:lnTo>
                      <a:pt x="0" y="7144"/>
                    </a:lnTo>
                    <a:lnTo>
                      <a:pt x="4286" y="0"/>
                    </a:lnTo>
                  </a:path>
                </a:pathLst>
              </a:custGeom>
              <a:noFill/>
              <a:ln w="14288">
                <a:solidFill>
                  <a:srgbClr val="FFFFFF"/>
                </a:solidFill>
              </a:ln>
            </p:spPr>
          </p:sp>
        </p:grpSp>
        <p:sp>
          <p:nvSpPr>
            <p:cNvPr id="64" name="TextBox 64"/>
            <p:cNvSpPr txBox="1"/>
            <p:nvPr/>
          </p:nvSpPr>
          <p:spPr>
            <a:xfrm>
              <a:off x="2488572" y="4303395"/>
              <a:ext cx="602291" cy="176212"/>
            </a:xfrm>
            <a:prstGeom prst="rect">
              <a:avLst/>
            </a:prstGeom>
            <a:noFill/>
            <a:ln>
              <a:noFill/>
            </a:ln>
          </p:spPr>
          <p:txBody>
            <a:bodyPr wrap="none" lIns="0" tIns="0" rIns="0" bIns="0" anchor="t" anchorCtr="0">
              <a:spAutoFit/>
            </a:bodyPr>
            <a:lstStyle/>
            <a:p>
              <a:pPr algn="r"/>
              <a:r>
                <a:rPr lang="zh-CN" sz="900" b="1" dirty="0">
                  <a:solidFill>
                    <a:srgbClr val="A3381F"/>
                  </a:solidFill>
                  <a:latin typeface="+mn-lt"/>
                  <a:ea typeface="+mn-ea"/>
                  <a:cs typeface="+mn-cs"/>
                </a:rPr>
                <a:t>8</a:t>
              </a:r>
              <a:r>
                <a:rPr lang="zh-CN" sz="900" b="1" dirty="0">
                  <a:solidFill>
                    <a:srgbClr val="5E3A33"/>
                  </a:solidFill>
                  <a:latin typeface="+mn-lt"/>
                  <a:ea typeface="+mn-ea"/>
                  <a:cs typeface="+mn-cs"/>
                </a:rPr>
                <a:t xml:space="preserve"> 客户价值</a:t>
              </a:r>
            </a:p>
          </p:txBody>
        </p:sp>
        <p:sp>
          <p:nvSpPr>
            <p:cNvPr id="65" name="Ellipse 65"/>
            <p:cNvSpPr/>
            <p:nvPr/>
          </p:nvSpPr>
          <p:spPr>
            <a:xfrm>
              <a:off x="2600325" y="3333750"/>
              <a:ext cx="323850" cy="323850"/>
            </a:xfrm>
            <a:prstGeom prst="ellipse">
              <a:avLst/>
            </a:prstGeom>
            <a:solidFill>
              <a:srgbClr val="A3381F"/>
            </a:solidFill>
            <a:ln>
              <a:noFill/>
            </a:ln>
          </p:spPr>
        </p:sp>
        <p:grpSp>
          <p:nvGrpSpPr>
            <p:cNvPr id="68" name="Group 68"/>
            <p:cNvGrpSpPr/>
            <p:nvPr/>
          </p:nvGrpSpPr>
          <p:grpSpPr>
            <a:xfrm>
              <a:off x="2698313" y="3430384"/>
              <a:ext cx="131817" cy="134843"/>
              <a:chOff x="2698313" y="3430384"/>
              <a:chExt cx="131817" cy="134843"/>
            </a:xfrm>
          </p:grpSpPr>
          <p:sp>
            <p:nvSpPr>
              <p:cNvPr id="66" name="Freeform 66"/>
              <p:cNvSpPr/>
              <p:nvPr/>
            </p:nvSpPr>
            <p:spPr>
              <a:xfrm>
                <a:off x="2762250" y="3467100"/>
                <a:ext cx="14288" cy="42862"/>
              </a:xfrm>
              <a:custGeom>
                <a:avLst/>
                <a:gdLst/>
                <a:ahLst/>
                <a:cxnLst/>
                <a:rect l="l" t="t" r="r" b="b"/>
                <a:pathLst>
                  <a:path w="14288" h="42862">
                    <a:moveTo>
                      <a:pt x="0" y="0"/>
                    </a:moveTo>
                    <a:lnTo>
                      <a:pt x="0" y="28575"/>
                    </a:lnTo>
                    <a:lnTo>
                      <a:pt x="14288" y="42862"/>
                    </a:lnTo>
                  </a:path>
                </a:pathLst>
              </a:custGeom>
              <a:noFill/>
              <a:ln w="14288">
                <a:solidFill>
                  <a:srgbClr val="FFFFFF"/>
                </a:solidFill>
              </a:ln>
            </p:spPr>
          </p:sp>
          <p:sp>
            <p:nvSpPr>
              <p:cNvPr id="67" name="Freeform 67"/>
              <p:cNvSpPr/>
              <p:nvPr/>
            </p:nvSpPr>
            <p:spPr>
              <a:xfrm>
                <a:off x="2698313" y="3430384"/>
                <a:ext cx="131817" cy="134843"/>
              </a:xfrm>
              <a:custGeom>
                <a:avLst/>
                <a:gdLst/>
                <a:ahLst/>
                <a:cxnLst/>
                <a:rect l="l" t="t" r="r" b="b"/>
                <a:pathLst>
                  <a:path w="131817" h="134843">
                    <a:moveTo>
                      <a:pt x="0" y="58148"/>
                    </a:moveTo>
                    <a:cubicBezTo>
                      <a:pt x="3314" y="25611"/>
                      <a:pt x="30526" y="747"/>
                      <a:pt x="63228" y="374"/>
                    </a:cubicBezTo>
                    <a:cubicBezTo>
                      <a:pt x="95931" y="0"/>
                      <a:pt x="123703" y="24236"/>
                      <a:pt x="127760" y="56688"/>
                    </a:cubicBezTo>
                    <a:cubicBezTo>
                      <a:pt x="131817" y="89141"/>
                      <a:pt x="110865" y="119467"/>
                      <a:pt x="79076" y="127155"/>
                    </a:cubicBezTo>
                    <a:cubicBezTo>
                      <a:pt x="47288" y="134843"/>
                      <a:pt x="14793" y="117442"/>
                      <a:pt x="3572" y="86723"/>
                    </a:cubicBezTo>
                    <a:moveTo>
                      <a:pt x="0" y="122441"/>
                    </a:moveTo>
                    <a:lnTo>
                      <a:pt x="0" y="86723"/>
                    </a:lnTo>
                    <a:lnTo>
                      <a:pt x="35719" y="86723"/>
                    </a:lnTo>
                  </a:path>
                </a:pathLst>
              </a:custGeom>
              <a:noFill/>
              <a:ln w="14288">
                <a:solidFill>
                  <a:srgbClr val="FFFFFF"/>
                </a:solidFill>
              </a:ln>
            </p:spPr>
          </p:sp>
        </p:grpSp>
        <p:sp>
          <p:nvSpPr>
            <p:cNvPr id="69" name="TextBox 69"/>
            <p:cNvSpPr txBox="1"/>
            <p:nvPr/>
          </p:nvSpPr>
          <p:spPr>
            <a:xfrm>
              <a:off x="1821822" y="3636645"/>
              <a:ext cx="602291" cy="176212"/>
            </a:xfrm>
            <a:prstGeom prst="rect">
              <a:avLst/>
            </a:prstGeom>
            <a:noFill/>
            <a:ln>
              <a:noFill/>
            </a:ln>
          </p:spPr>
          <p:txBody>
            <a:bodyPr wrap="none" lIns="0" tIns="0" rIns="0" bIns="0" anchor="t" anchorCtr="0">
              <a:spAutoFit/>
            </a:bodyPr>
            <a:lstStyle/>
            <a:p>
              <a:pPr algn="r"/>
              <a:r>
                <a:rPr lang="zh-CN" sz="900" b="1" dirty="0">
                  <a:solidFill>
                    <a:srgbClr val="A3381F"/>
                  </a:solidFill>
                  <a:latin typeface="+mn-lt"/>
                  <a:ea typeface="+mn-ea"/>
                  <a:cs typeface="+mn-cs"/>
                </a:rPr>
                <a:t>9</a:t>
              </a:r>
              <a:r>
                <a:rPr lang="zh-CN" sz="900" b="1" dirty="0">
                  <a:solidFill>
                    <a:srgbClr val="5E3A33"/>
                  </a:solidFill>
                  <a:latin typeface="+mn-lt"/>
                  <a:ea typeface="+mn-ea"/>
                  <a:cs typeface="+mn-cs"/>
                </a:rPr>
                <a:t xml:space="preserve"> 生命周期</a:t>
              </a:r>
            </a:p>
          </p:txBody>
        </p:sp>
        <p:sp>
          <p:nvSpPr>
            <p:cNvPr id="70" name="Ellipse 70"/>
            <p:cNvSpPr/>
            <p:nvPr/>
          </p:nvSpPr>
          <p:spPr>
            <a:xfrm>
              <a:off x="2409825" y="2619375"/>
              <a:ext cx="323850" cy="323850"/>
            </a:xfrm>
            <a:prstGeom prst="ellipse">
              <a:avLst/>
            </a:prstGeom>
            <a:solidFill>
              <a:srgbClr val="C26D5E"/>
            </a:solidFill>
            <a:ln>
              <a:noFill/>
            </a:ln>
          </p:spPr>
        </p:sp>
        <p:sp>
          <p:nvSpPr>
            <p:cNvPr id="71" name="Freeform 71"/>
            <p:cNvSpPr/>
            <p:nvPr/>
          </p:nvSpPr>
          <p:spPr>
            <a:xfrm>
              <a:off x="2500141" y="271861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FFFFFF"/>
              </a:solidFill>
            </a:ln>
          </p:spPr>
        </p:sp>
        <p:sp>
          <p:nvSpPr>
            <p:cNvPr id="72" name="TextBox 72"/>
            <p:cNvSpPr txBox="1"/>
            <p:nvPr/>
          </p:nvSpPr>
          <p:spPr>
            <a:xfrm>
              <a:off x="1504203" y="2722245"/>
              <a:ext cx="672259" cy="176212"/>
            </a:xfrm>
            <a:prstGeom prst="rect">
              <a:avLst/>
            </a:prstGeom>
            <a:noFill/>
            <a:ln>
              <a:noFill/>
            </a:ln>
          </p:spPr>
          <p:txBody>
            <a:bodyPr wrap="none" lIns="0" tIns="0" rIns="0" bIns="0" anchor="t" anchorCtr="0">
              <a:spAutoFit/>
            </a:bodyPr>
            <a:lstStyle/>
            <a:p>
              <a:pPr algn="r"/>
              <a:r>
                <a:rPr lang="zh-CN" sz="900" b="1" dirty="0">
                  <a:solidFill>
                    <a:srgbClr val="A3381F"/>
                  </a:solidFill>
                  <a:latin typeface="+mn-lt"/>
                  <a:ea typeface="+mn-ea"/>
                  <a:cs typeface="+mn-cs"/>
                </a:rPr>
                <a:t>10</a:t>
              </a:r>
              <a:r>
                <a:rPr lang="zh-CN" sz="900" b="1" dirty="0">
                  <a:solidFill>
                    <a:srgbClr val="5E3A33"/>
                  </a:solidFill>
                  <a:latin typeface="+mn-lt"/>
                  <a:ea typeface="+mn-ea"/>
                  <a:cs typeface="+mn-cs"/>
                </a:rPr>
                <a:t xml:space="preserve"> 营销响应</a:t>
              </a:r>
            </a:p>
          </p:txBody>
        </p:sp>
        <p:sp>
          <p:nvSpPr>
            <p:cNvPr id="73" name="Ellipse 73"/>
            <p:cNvSpPr/>
            <p:nvPr/>
          </p:nvSpPr>
          <p:spPr>
            <a:xfrm>
              <a:off x="2600325" y="1905000"/>
              <a:ext cx="323850" cy="323850"/>
            </a:xfrm>
            <a:prstGeom prst="ellipse">
              <a:avLst/>
            </a:prstGeom>
            <a:solidFill>
              <a:srgbClr val="A3381F"/>
            </a:solidFill>
            <a:ln>
              <a:noFill/>
            </a:ln>
          </p:spPr>
        </p:sp>
        <p:grpSp>
          <p:nvGrpSpPr>
            <p:cNvPr id="76" name="Group 76"/>
            <p:cNvGrpSpPr/>
            <p:nvPr/>
          </p:nvGrpSpPr>
          <p:grpSpPr>
            <a:xfrm>
              <a:off x="2688315" y="2002631"/>
              <a:ext cx="139505" cy="128588"/>
              <a:chOff x="2688315" y="2002631"/>
              <a:chExt cx="139505" cy="128588"/>
            </a:xfrm>
          </p:grpSpPr>
          <p:sp>
            <p:nvSpPr>
              <p:cNvPr id="74" name="Freeform 74"/>
              <p:cNvSpPr/>
              <p:nvPr/>
            </p:nvSpPr>
            <p:spPr>
              <a:xfrm>
                <a:off x="2688315" y="200263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FFFFFF"/>
                </a:solidFill>
              </a:ln>
            </p:spPr>
          </p:sp>
          <p:sp>
            <p:nvSpPr>
              <p:cNvPr id="75" name="Freeform 75"/>
              <p:cNvSpPr/>
              <p:nvPr/>
            </p:nvSpPr>
            <p:spPr>
              <a:xfrm>
                <a:off x="2783681" y="2102644"/>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77" name="TextBox 77"/>
            <p:cNvSpPr txBox="1"/>
            <p:nvPr/>
          </p:nvSpPr>
          <p:spPr>
            <a:xfrm>
              <a:off x="1751853" y="1817370"/>
              <a:ext cx="672259" cy="176212"/>
            </a:xfrm>
            <a:prstGeom prst="rect">
              <a:avLst/>
            </a:prstGeom>
            <a:noFill/>
            <a:ln>
              <a:noFill/>
            </a:ln>
          </p:spPr>
          <p:txBody>
            <a:bodyPr wrap="none" lIns="0" tIns="0" rIns="0" bIns="0" anchor="t" anchorCtr="0">
              <a:spAutoFit/>
            </a:bodyPr>
            <a:lstStyle/>
            <a:p>
              <a:pPr algn="r"/>
              <a:r>
                <a:rPr lang="zh-CN" sz="900" b="1" dirty="0">
                  <a:solidFill>
                    <a:srgbClr val="A3381F"/>
                  </a:solidFill>
                  <a:latin typeface="+mn-lt"/>
                  <a:ea typeface="+mn-ea"/>
                  <a:cs typeface="+mn-cs"/>
                </a:rPr>
                <a:t>11</a:t>
              </a:r>
              <a:r>
                <a:rPr lang="zh-CN" sz="900" b="1" dirty="0">
                  <a:solidFill>
                    <a:srgbClr val="5E3A33"/>
                  </a:solidFill>
                  <a:latin typeface="+mn-lt"/>
                  <a:ea typeface="+mn-ea"/>
                  <a:cs typeface="+mn-cs"/>
                </a:rPr>
                <a:t xml:space="preserve"> 风险合规</a:t>
              </a:r>
            </a:p>
          </p:txBody>
        </p:sp>
        <p:sp>
          <p:nvSpPr>
            <p:cNvPr id="78" name="Ellipse 78"/>
            <p:cNvSpPr/>
            <p:nvPr/>
          </p:nvSpPr>
          <p:spPr>
            <a:xfrm>
              <a:off x="3124200" y="1381125"/>
              <a:ext cx="323850" cy="323850"/>
            </a:xfrm>
            <a:prstGeom prst="ellipse">
              <a:avLst/>
            </a:prstGeom>
            <a:solidFill>
              <a:srgbClr val="C26D5E"/>
            </a:solidFill>
            <a:ln>
              <a:noFill/>
            </a:ln>
          </p:spPr>
        </p:sp>
        <p:grpSp>
          <p:nvGrpSpPr>
            <p:cNvPr id="88" name="Group 88"/>
            <p:cNvGrpSpPr/>
            <p:nvPr/>
          </p:nvGrpSpPr>
          <p:grpSpPr>
            <a:xfrm>
              <a:off x="3236119" y="1471612"/>
              <a:ext cx="100012" cy="135732"/>
              <a:chOff x="3236119" y="1471612"/>
              <a:chExt cx="100012" cy="135732"/>
            </a:xfrm>
          </p:grpSpPr>
          <p:sp>
            <p:nvSpPr>
              <p:cNvPr id="79" name="Freeform 79"/>
              <p:cNvSpPr/>
              <p:nvPr/>
            </p:nvSpPr>
            <p:spPr>
              <a:xfrm>
                <a:off x="3243262" y="1485900"/>
                <a:ext cx="85725" cy="57150"/>
              </a:xfrm>
              <a:custGeom>
                <a:avLst/>
                <a:gdLst/>
                <a:ahLst/>
                <a:cxnLst/>
                <a:rect l="l" t="t" r="r" b="b"/>
                <a:pathLst>
                  <a:path w="85725" h="57150">
                    <a:moveTo>
                      <a:pt x="0" y="14288"/>
                    </a:moveTo>
                    <a:cubicBezTo>
                      <a:pt x="0" y="6397"/>
                      <a:pt x="6397" y="0"/>
                      <a:pt x="14288" y="0"/>
                    </a:cubicBezTo>
                    <a:lnTo>
                      <a:pt x="71438" y="0"/>
                    </a:lnTo>
                    <a:cubicBezTo>
                      <a:pt x="79328" y="0"/>
                      <a:pt x="85725" y="6397"/>
                      <a:pt x="85725" y="14288"/>
                    </a:cubicBezTo>
                    <a:lnTo>
                      <a:pt x="85725" y="42862"/>
                    </a:lnTo>
                    <a:cubicBezTo>
                      <a:pt x="85725" y="50753"/>
                      <a:pt x="79328" y="57150"/>
                      <a:pt x="71438" y="57150"/>
                    </a:cubicBezTo>
                    <a:lnTo>
                      <a:pt x="14288" y="57150"/>
                    </a:lnTo>
                    <a:cubicBezTo>
                      <a:pt x="6397" y="57150"/>
                      <a:pt x="0" y="50753"/>
                      <a:pt x="0" y="42862"/>
                    </a:cubicBezTo>
                    <a:lnTo>
                      <a:pt x="0" y="14288"/>
                    </a:lnTo>
                  </a:path>
                </a:pathLst>
              </a:custGeom>
              <a:noFill/>
              <a:ln w="14288">
                <a:solidFill>
                  <a:srgbClr val="FFFFFF"/>
                </a:solidFill>
              </a:ln>
            </p:spPr>
          </p:sp>
          <p:sp>
            <p:nvSpPr>
              <p:cNvPr id="80" name="Freeform 80"/>
              <p:cNvSpPr/>
              <p:nvPr/>
            </p:nvSpPr>
            <p:spPr>
              <a:xfrm>
                <a:off x="3286125" y="1471612"/>
                <a:ext cx="9525" cy="14288"/>
              </a:xfrm>
              <a:custGeom>
                <a:avLst/>
                <a:gdLst/>
                <a:ahLst/>
                <a:cxnLst/>
                <a:rect l="l" t="t" r="r" b="b"/>
                <a:pathLst>
                  <a:path w="9525" h="14288">
                    <a:moveTo>
                      <a:pt x="0" y="0"/>
                    </a:moveTo>
                    <a:lnTo>
                      <a:pt x="0" y="14288"/>
                    </a:lnTo>
                  </a:path>
                </a:pathLst>
              </a:custGeom>
              <a:noFill/>
              <a:ln w="14288">
                <a:solidFill>
                  <a:srgbClr val="FFFFFF"/>
                </a:solidFill>
              </a:ln>
            </p:spPr>
          </p:sp>
          <p:sp>
            <p:nvSpPr>
              <p:cNvPr id="81" name="Freeform 81"/>
              <p:cNvSpPr/>
              <p:nvPr/>
            </p:nvSpPr>
            <p:spPr>
              <a:xfrm>
                <a:off x="3264694" y="1543050"/>
                <a:ext cx="9525" cy="64294"/>
              </a:xfrm>
              <a:custGeom>
                <a:avLst/>
                <a:gdLst/>
                <a:ahLst/>
                <a:cxnLst/>
                <a:rect l="l" t="t" r="r" b="b"/>
                <a:pathLst>
                  <a:path w="9525" h="64294">
                    <a:moveTo>
                      <a:pt x="0" y="0"/>
                    </a:moveTo>
                    <a:lnTo>
                      <a:pt x="0" y="64294"/>
                    </a:lnTo>
                  </a:path>
                </a:pathLst>
              </a:custGeom>
              <a:noFill/>
              <a:ln w="14288">
                <a:solidFill>
                  <a:srgbClr val="FFFFFF"/>
                </a:solidFill>
              </a:ln>
            </p:spPr>
          </p:sp>
          <p:sp>
            <p:nvSpPr>
              <p:cNvPr id="82" name="Freeform 82"/>
              <p:cNvSpPr/>
              <p:nvPr/>
            </p:nvSpPr>
            <p:spPr>
              <a:xfrm>
                <a:off x="3307556" y="1543050"/>
                <a:ext cx="9525" cy="64294"/>
              </a:xfrm>
              <a:custGeom>
                <a:avLst/>
                <a:gdLst/>
                <a:ahLst/>
                <a:cxnLst/>
                <a:rect l="l" t="t" r="r" b="b"/>
                <a:pathLst>
                  <a:path w="9525" h="64294">
                    <a:moveTo>
                      <a:pt x="0" y="0"/>
                    </a:moveTo>
                    <a:lnTo>
                      <a:pt x="0" y="64294"/>
                    </a:lnTo>
                  </a:path>
                </a:pathLst>
              </a:custGeom>
              <a:noFill/>
              <a:ln w="14288">
                <a:solidFill>
                  <a:srgbClr val="FFFFFF"/>
                </a:solidFill>
              </a:ln>
            </p:spPr>
          </p:sp>
          <p:sp>
            <p:nvSpPr>
              <p:cNvPr id="83" name="Freeform 83"/>
              <p:cNvSpPr/>
              <p:nvPr/>
            </p:nvSpPr>
            <p:spPr>
              <a:xfrm>
                <a:off x="3236119" y="1557338"/>
                <a:ext cx="28575" cy="14288"/>
              </a:xfrm>
              <a:custGeom>
                <a:avLst/>
                <a:gdLst/>
                <a:ahLst/>
                <a:cxnLst/>
                <a:rect l="l" t="t" r="r" b="b"/>
                <a:pathLst>
                  <a:path w="28575" h="14288">
                    <a:moveTo>
                      <a:pt x="0" y="14288"/>
                    </a:moveTo>
                    <a:lnTo>
                      <a:pt x="28575" y="0"/>
                    </a:lnTo>
                  </a:path>
                </a:pathLst>
              </a:custGeom>
              <a:noFill/>
              <a:ln w="14288">
                <a:solidFill>
                  <a:srgbClr val="FFFFFF"/>
                </a:solidFill>
              </a:ln>
            </p:spPr>
          </p:sp>
          <p:sp>
            <p:nvSpPr>
              <p:cNvPr id="84" name="Freeform 84"/>
              <p:cNvSpPr/>
              <p:nvPr/>
            </p:nvSpPr>
            <p:spPr>
              <a:xfrm>
                <a:off x="3307556" y="1557338"/>
                <a:ext cx="28575" cy="14288"/>
              </a:xfrm>
              <a:custGeom>
                <a:avLst/>
                <a:gdLst/>
                <a:ahLst/>
                <a:cxnLst/>
                <a:rect l="l" t="t" r="r" b="b"/>
                <a:pathLst>
                  <a:path w="28575" h="14288">
                    <a:moveTo>
                      <a:pt x="0" y="0"/>
                    </a:moveTo>
                    <a:lnTo>
                      <a:pt x="28575" y="14288"/>
                    </a:lnTo>
                  </a:path>
                </a:pathLst>
              </a:custGeom>
              <a:noFill/>
              <a:ln w="14288">
                <a:solidFill>
                  <a:srgbClr val="FFFFFF"/>
                </a:solidFill>
              </a:ln>
            </p:spPr>
          </p:sp>
          <p:sp>
            <p:nvSpPr>
              <p:cNvPr id="85" name="Freeform 85"/>
              <p:cNvSpPr/>
              <p:nvPr/>
            </p:nvSpPr>
            <p:spPr>
              <a:xfrm>
                <a:off x="3264694" y="1585912"/>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86" name="Freeform 86"/>
              <p:cNvSpPr/>
              <p:nvPr/>
            </p:nvSpPr>
            <p:spPr>
              <a:xfrm>
                <a:off x="3271838" y="1514475"/>
                <a:ext cx="9525" cy="9525"/>
              </a:xfrm>
              <a:custGeom>
                <a:avLst/>
                <a:gdLst/>
                <a:ahLst/>
                <a:cxnLst/>
                <a:rect l="l" t="t" r="r" b="b"/>
                <a:pathLst>
                  <a:path w="9525" h="9525">
                    <a:moveTo>
                      <a:pt x="0" y="0"/>
                    </a:moveTo>
                    <a:lnTo>
                      <a:pt x="0" y="71"/>
                    </a:lnTo>
                  </a:path>
                </a:pathLst>
              </a:custGeom>
              <a:noFill/>
              <a:ln w="14288">
                <a:solidFill>
                  <a:srgbClr val="FFFFFF"/>
                </a:solidFill>
              </a:ln>
            </p:spPr>
          </p:sp>
          <p:sp>
            <p:nvSpPr>
              <p:cNvPr id="87" name="Freeform 87"/>
              <p:cNvSpPr/>
              <p:nvPr/>
            </p:nvSpPr>
            <p:spPr>
              <a:xfrm>
                <a:off x="3300412" y="1514475"/>
                <a:ext cx="9525" cy="9525"/>
              </a:xfrm>
              <a:custGeom>
                <a:avLst/>
                <a:gdLst/>
                <a:ahLst/>
                <a:cxnLst/>
                <a:rect l="l" t="t" r="r" b="b"/>
                <a:pathLst>
                  <a:path w="9525" h="9525">
                    <a:moveTo>
                      <a:pt x="0" y="0"/>
                    </a:moveTo>
                    <a:lnTo>
                      <a:pt x="0" y="71"/>
                    </a:lnTo>
                  </a:path>
                </a:pathLst>
              </a:custGeom>
              <a:noFill/>
              <a:ln w="14288">
                <a:solidFill>
                  <a:srgbClr val="FFFFFF"/>
                </a:solidFill>
              </a:ln>
            </p:spPr>
          </p:sp>
        </p:grpSp>
        <p:sp>
          <p:nvSpPr>
            <p:cNvPr id="89" name="TextBox 89"/>
            <p:cNvSpPr txBox="1"/>
            <p:nvPr/>
          </p:nvSpPr>
          <p:spPr>
            <a:xfrm>
              <a:off x="2418603" y="1141095"/>
              <a:ext cx="672259" cy="176212"/>
            </a:xfrm>
            <a:prstGeom prst="rect">
              <a:avLst/>
            </a:prstGeom>
            <a:noFill/>
            <a:ln>
              <a:noFill/>
            </a:ln>
          </p:spPr>
          <p:txBody>
            <a:bodyPr wrap="none" lIns="0" tIns="0" rIns="0" bIns="0" anchor="t" anchorCtr="0">
              <a:spAutoFit/>
            </a:bodyPr>
            <a:lstStyle/>
            <a:p>
              <a:pPr algn="r"/>
              <a:r>
                <a:rPr lang="zh-CN" sz="900" b="1" dirty="0">
                  <a:solidFill>
                    <a:srgbClr val="A3381F"/>
                  </a:solidFill>
                  <a:latin typeface="+mn-lt"/>
                  <a:ea typeface="+mn-ea"/>
                  <a:cs typeface="+mn-cs"/>
                </a:rPr>
                <a:t>12</a:t>
              </a:r>
              <a:r>
                <a:rPr lang="zh-CN" sz="900" b="1" dirty="0">
                  <a:solidFill>
                    <a:srgbClr val="5E3A33"/>
                  </a:solidFill>
                  <a:latin typeface="+mn-lt"/>
                  <a:ea typeface="+mn-ea"/>
                  <a:cs typeface="+mn-cs"/>
                </a:rPr>
                <a:t xml:space="preserve"> 预测模型</a:t>
              </a:r>
            </a:p>
          </p:txBody>
        </p:sp>
      </p:grpSp>
      <p:grpSp>
        <p:nvGrpSpPr>
          <p:cNvPr id="127" name="typical-tags"/>
          <p:cNvGrpSpPr/>
          <p:nvPr/>
        </p:nvGrpSpPr>
        <p:grpSpPr>
          <a:xfrm>
            <a:off x="8477250" y="800100"/>
            <a:ext cx="3333750" cy="4057650"/>
            <a:chOff x="8477250" y="800100"/>
            <a:chExt cx="3333750" cy="4057650"/>
          </a:xfrm>
        </p:grpSpPr>
        <p:sp>
          <p:nvSpPr>
            <p:cNvPr id="91" name="Rectangle 91"/>
            <p:cNvSpPr/>
            <p:nvPr/>
          </p:nvSpPr>
          <p:spPr>
            <a:xfrm>
              <a:off x="8477250" y="800100"/>
              <a:ext cx="3333750" cy="4057650"/>
            </a:xfrm>
            <a:prstGeom prst="roundRect">
              <a:avLst>
                <a:gd name="adj" fmla="val 4000"/>
              </a:avLst>
            </a:prstGeom>
            <a:solidFill>
              <a:srgbClr val="FFFFFF"/>
            </a:solidFill>
            <a:ln w="9525">
              <a:solidFill>
                <a:srgbClr val="E6D9C0"/>
              </a:solidFill>
            </a:ln>
          </p:spPr>
        </p:sp>
        <p:sp>
          <p:nvSpPr>
            <p:cNvPr id="92" name="Rectangle 92"/>
            <p:cNvSpPr/>
            <p:nvPr/>
          </p:nvSpPr>
          <p:spPr>
            <a:xfrm>
              <a:off x="9544050" y="933450"/>
              <a:ext cx="1200150" cy="285750"/>
            </a:xfrm>
            <a:prstGeom prst="roundRect">
              <a:avLst>
                <a:gd name="adj" fmla="val 50000"/>
              </a:avLst>
            </a:prstGeom>
            <a:solidFill>
              <a:srgbClr val="A3381F"/>
            </a:solidFill>
            <a:ln>
              <a:noFill/>
            </a:ln>
          </p:spPr>
        </p:sp>
        <p:sp>
          <p:nvSpPr>
            <p:cNvPr id="93" name="TextBox 93"/>
            <p:cNvSpPr txBox="1"/>
            <p:nvPr/>
          </p:nvSpPr>
          <p:spPr>
            <a:xfrm>
              <a:off x="9802805" y="1024176"/>
              <a:ext cx="682640"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典 型 标 签</a:t>
              </a:r>
            </a:p>
          </p:txBody>
        </p:sp>
        <p:sp>
          <p:nvSpPr>
            <p:cNvPr id="94" name="Rectangle 94"/>
            <p:cNvSpPr/>
            <p:nvPr/>
          </p:nvSpPr>
          <p:spPr>
            <a:xfrm>
              <a:off x="8629650" y="1352550"/>
              <a:ext cx="3028950" cy="495300"/>
            </a:xfrm>
            <a:prstGeom prst="roundRect">
              <a:avLst>
                <a:gd name="adj" fmla="val 17308"/>
              </a:avLst>
            </a:prstGeom>
            <a:solidFill>
              <a:srgbClr val="FBF7EF"/>
            </a:solidFill>
            <a:ln w="9525">
              <a:solidFill>
                <a:srgbClr val="E6D9C0"/>
              </a:solidFill>
            </a:ln>
          </p:spPr>
        </p:sp>
        <p:grpSp>
          <p:nvGrpSpPr>
            <p:cNvPr id="97" name="Group 97"/>
            <p:cNvGrpSpPr/>
            <p:nvPr/>
          </p:nvGrpSpPr>
          <p:grpSpPr>
            <a:xfrm>
              <a:off x="8810625" y="1552575"/>
              <a:ext cx="171450" cy="95250"/>
              <a:chOff x="8810625" y="1552575"/>
              <a:chExt cx="171450" cy="95250"/>
            </a:xfrm>
          </p:grpSpPr>
          <p:sp>
            <p:nvSpPr>
              <p:cNvPr id="95" name="Freeform 95"/>
              <p:cNvSpPr/>
              <p:nvPr/>
            </p:nvSpPr>
            <p:spPr>
              <a:xfrm>
                <a:off x="8810625" y="155257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A3381F"/>
                </a:solidFill>
              </a:ln>
            </p:spPr>
          </p:sp>
          <p:sp>
            <p:nvSpPr>
              <p:cNvPr id="96" name="Freeform 96"/>
              <p:cNvSpPr/>
              <p:nvPr/>
            </p:nvSpPr>
            <p:spPr>
              <a:xfrm>
                <a:off x="8915400" y="1552575"/>
                <a:ext cx="66675" cy="66675"/>
              </a:xfrm>
              <a:custGeom>
                <a:avLst/>
                <a:gdLst/>
                <a:ahLst/>
                <a:cxnLst/>
                <a:rect l="l" t="t" r="r" b="b"/>
                <a:pathLst>
                  <a:path w="66675" h="66675">
                    <a:moveTo>
                      <a:pt x="0" y="0"/>
                    </a:moveTo>
                    <a:lnTo>
                      <a:pt x="66675" y="0"/>
                    </a:lnTo>
                    <a:lnTo>
                      <a:pt x="66675" y="66675"/>
                    </a:lnTo>
                  </a:path>
                </a:pathLst>
              </a:custGeom>
              <a:noFill/>
              <a:ln w="19050">
                <a:solidFill>
                  <a:srgbClr val="A3381F"/>
                </a:solidFill>
              </a:ln>
            </p:spPr>
          </p:sp>
        </p:grpSp>
        <p:sp>
          <p:nvSpPr>
            <p:cNvPr id="98" name="TextBox 98"/>
            <p:cNvSpPr txBox="1"/>
            <p:nvPr/>
          </p:nvSpPr>
          <p:spPr>
            <a:xfrm>
              <a:off x="9158097" y="15520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资产增速</a:t>
              </a:r>
            </a:p>
          </p:txBody>
        </p:sp>
        <p:sp>
          <p:nvSpPr>
            <p:cNvPr id="99" name="Rectangle 99"/>
            <p:cNvSpPr/>
            <p:nvPr/>
          </p:nvSpPr>
          <p:spPr>
            <a:xfrm>
              <a:off x="8629650" y="1905000"/>
              <a:ext cx="3028950" cy="495300"/>
            </a:xfrm>
            <a:prstGeom prst="roundRect">
              <a:avLst>
                <a:gd name="adj" fmla="val 17308"/>
              </a:avLst>
            </a:prstGeom>
            <a:solidFill>
              <a:srgbClr val="FBF7EF"/>
            </a:solidFill>
            <a:ln w="9525">
              <a:solidFill>
                <a:srgbClr val="E6D9C0"/>
              </a:solidFill>
            </a:ln>
          </p:spPr>
        </p:sp>
        <p:grpSp>
          <p:nvGrpSpPr>
            <p:cNvPr id="104" name="Group 104"/>
            <p:cNvGrpSpPr/>
            <p:nvPr/>
          </p:nvGrpSpPr>
          <p:grpSpPr>
            <a:xfrm>
              <a:off x="8820150" y="2066925"/>
              <a:ext cx="152400" cy="171450"/>
              <a:chOff x="8820150" y="2066925"/>
              <a:chExt cx="152400" cy="171450"/>
            </a:xfrm>
          </p:grpSpPr>
          <p:sp>
            <p:nvSpPr>
              <p:cNvPr id="100" name="Freeform 100"/>
              <p:cNvSpPr/>
              <p:nvPr/>
            </p:nvSpPr>
            <p:spPr>
              <a:xfrm>
                <a:off x="8820150" y="20669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rgbClr val="C26D5E"/>
                </a:solidFill>
              </a:ln>
            </p:spPr>
          </p:sp>
          <p:sp>
            <p:nvSpPr>
              <p:cNvPr id="101" name="Freeform 101"/>
              <p:cNvSpPr/>
              <p:nvPr/>
            </p:nvSpPr>
            <p:spPr>
              <a:xfrm>
                <a:off x="8896350" y="2109788"/>
                <a:ext cx="76200" cy="42862"/>
              </a:xfrm>
              <a:custGeom>
                <a:avLst/>
                <a:gdLst/>
                <a:ahLst/>
                <a:cxnLst/>
                <a:rect l="l" t="t" r="r" b="b"/>
                <a:pathLst>
                  <a:path w="76200" h="42862">
                    <a:moveTo>
                      <a:pt x="0" y="42862"/>
                    </a:moveTo>
                    <a:lnTo>
                      <a:pt x="76200" y="0"/>
                    </a:lnTo>
                  </a:path>
                </a:pathLst>
              </a:custGeom>
              <a:noFill/>
              <a:ln w="19050">
                <a:solidFill>
                  <a:srgbClr val="C26D5E"/>
                </a:solidFill>
              </a:ln>
            </p:spPr>
          </p:sp>
          <p:sp>
            <p:nvSpPr>
              <p:cNvPr id="102" name="Freeform 102"/>
              <p:cNvSpPr/>
              <p:nvPr/>
            </p:nvSpPr>
            <p:spPr>
              <a:xfrm>
                <a:off x="8896350" y="2152650"/>
                <a:ext cx="9525" cy="85725"/>
              </a:xfrm>
              <a:custGeom>
                <a:avLst/>
                <a:gdLst/>
                <a:ahLst/>
                <a:cxnLst/>
                <a:rect l="l" t="t" r="r" b="b"/>
                <a:pathLst>
                  <a:path w="9525" h="85725">
                    <a:moveTo>
                      <a:pt x="0" y="0"/>
                    </a:moveTo>
                    <a:lnTo>
                      <a:pt x="0" y="85725"/>
                    </a:lnTo>
                  </a:path>
                </a:pathLst>
              </a:custGeom>
              <a:noFill/>
              <a:ln w="19050">
                <a:solidFill>
                  <a:srgbClr val="C26D5E"/>
                </a:solidFill>
              </a:ln>
            </p:spPr>
          </p:sp>
          <p:sp>
            <p:nvSpPr>
              <p:cNvPr id="103" name="Freeform 103"/>
              <p:cNvSpPr/>
              <p:nvPr/>
            </p:nvSpPr>
            <p:spPr>
              <a:xfrm>
                <a:off x="8820150" y="2109788"/>
                <a:ext cx="76200" cy="42862"/>
              </a:xfrm>
              <a:custGeom>
                <a:avLst/>
                <a:gdLst/>
                <a:ahLst/>
                <a:cxnLst/>
                <a:rect l="l" t="t" r="r" b="b"/>
                <a:pathLst>
                  <a:path w="76200" h="42862">
                    <a:moveTo>
                      <a:pt x="76200" y="42862"/>
                    </a:moveTo>
                    <a:lnTo>
                      <a:pt x="0" y="0"/>
                    </a:lnTo>
                  </a:path>
                </a:pathLst>
              </a:custGeom>
              <a:noFill/>
              <a:ln w="19050">
                <a:solidFill>
                  <a:srgbClr val="C26D5E"/>
                </a:solidFill>
              </a:ln>
            </p:spPr>
          </p:sp>
        </p:grpSp>
        <p:sp>
          <p:nvSpPr>
            <p:cNvPr id="105" name="TextBox 105"/>
            <p:cNvSpPr txBox="1"/>
            <p:nvPr/>
          </p:nvSpPr>
          <p:spPr>
            <a:xfrm>
              <a:off x="9158097" y="210454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产品空白</a:t>
              </a:r>
            </a:p>
          </p:txBody>
        </p:sp>
        <p:sp>
          <p:nvSpPr>
            <p:cNvPr id="106" name="Rectangle 106"/>
            <p:cNvSpPr/>
            <p:nvPr/>
          </p:nvSpPr>
          <p:spPr>
            <a:xfrm>
              <a:off x="8629650" y="2457450"/>
              <a:ext cx="3028950" cy="495300"/>
            </a:xfrm>
            <a:prstGeom prst="roundRect">
              <a:avLst>
                <a:gd name="adj" fmla="val 17308"/>
              </a:avLst>
            </a:prstGeom>
            <a:solidFill>
              <a:srgbClr val="FBF7EF"/>
            </a:solidFill>
            <a:ln w="9525">
              <a:solidFill>
                <a:srgbClr val="E6D9C0"/>
              </a:solidFill>
            </a:ln>
          </p:spPr>
        </p:sp>
        <p:grpSp>
          <p:nvGrpSpPr>
            <p:cNvPr id="109" name="Group 109"/>
            <p:cNvGrpSpPr/>
            <p:nvPr/>
          </p:nvGrpSpPr>
          <p:grpSpPr>
            <a:xfrm>
              <a:off x="8810625" y="2657475"/>
              <a:ext cx="171450" cy="95250"/>
              <a:chOff x="8810625" y="2657475"/>
              <a:chExt cx="171450" cy="95250"/>
            </a:xfrm>
          </p:grpSpPr>
          <p:sp>
            <p:nvSpPr>
              <p:cNvPr id="107" name="Freeform 107"/>
              <p:cNvSpPr/>
              <p:nvPr/>
            </p:nvSpPr>
            <p:spPr>
              <a:xfrm>
                <a:off x="8810625" y="2657475"/>
                <a:ext cx="171450" cy="95250"/>
              </a:xfrm>
              <a:custGeom>
                <a:avLst/>
                <a:gdLst/>
                <a:ahLst/>
                <a:cxnLst/>
                <a:rect l="l" t="t" r="r" b="b"/>
                <a:pathLst>
                  <a:path w="171450" h="95250">
                    <a:moveTo>
                      <a:pt x="0" y="0"/>
                    </a:moveTo>
                    <a:lnTo>
                      <a:pt x="57150" y="57150"/>
                    </a:lnTo>
                    <a:lnTo>
                      <a:pt x="95250" y="19050"/>
                    </a:lnTo>
                    <a:lnTo>
                      <a:pt x="171450" y="95250"/>
                    </a:lnTo>
                  </a:path>
                </a:pathLst>
              </a:custGeom>
              <a:noFill/>
              <a:ln w="19050">
                <a:solidFill>
                  <a:srgbClr val="A3381F"/>
                </a:solidFill>
              </a:ln>
            </p:spPr>
          </p:sp>
          <p:sp>
            <p:nvSpPr>
              <p:cNvPr id="108" name="Freeform 108"/>
              <p:cNvSpPr/>
              <p:nvPr/>
            </p:nvSpPr>
            <p:spPr>
              <a:xfrm>
                <a:off x="8915400" y="2686050"/>
                <a:ext cx="66675" cy="66675"/>
              </a:xfrm>
              <a:custGeom>
                <a:avLst/>
                <a:gdLst/>
                <a:ahLst/>
                <a:cxnLst/>
                <a:rect l="l" t="t" r="r" b="b"/>
                <a:pathLst>
                  <a:path w="66675" h="66675">
                    <a:moveTo>
                      <a:pt x="66675" y="0"/>
                    </a:moveTo>
                    <a:lnTo>
                      <a:pt x="66675" y="66675"/>
                    </a:lnTo>
                    <a:lnTo>
                      <a:pt x="0" y="66675"/>
                    </a:lnTo>
                  </a:path>
                </a:pathLst>
              </a:custGeom>
              <a:noFill/>
              <a:ln w="19050">
                <a:solidFill>
                  <a:srgbClr val="A3381F"/>
                </a:solidFill>
              </a:ln>
            </p:spPr>
          </p:sp>
        </p:grpSp>
        <p:sp>
          <p:nvSpPr>
            <p:cNvPr id="110" name="TextBox 110"/>
            <p:cNvSpPr txBox="1"/>
            <p:nvPr/>
          </p:nvSpPr>
          <p:spPr>
            <a:xfrm>
              <a:off x="9158097" y="26569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资金流失</a:t>
              </a:r>
            </a:p>
          </p:txBody>
        </p:sp>
        <p:sp>
          <p:nvSpPr>
            <p:cNvPr id="111" name="Rectangle 111"/>
            <p:cNvSpPr/>
            <p:nvPr/>
          </p:nvSpPr>
          <p:spPr>
            <a:xfrm>
              <a:off x="8629650" y="3009900"/>
              <a:ext cx="3028950" cy="495300"/>
            </a:xfrm>
            <a:prstGeom prst="roundRect">
              <a:avLst>
                <a:gd name="adj" fmla="val 17308"/>
              </a:avLst>
            </a:prstGeom>
            <a:solidFill>
              <a:srgbClr val="FBF7EF"/>
            </a:solidFill>
            <a:ln w="9525">
              <a:solidFill>
                <a:srgbClr val="E6D9C0"/>
              </a:solidFill>
            </a:ln>
          </p:spPr>
        </p:sp>
        <p:grpSp>
          <p:nvGrpSpPr>
            <p:cNvPr id="114" name="Group 114"/>
            <p:cNvGrpSpPr/>
            <p:nvPr/>
          </p:nvGrpSpPr>
          <p:grpSpPr>
            <a:xfrm>
              <a:off x="8810625" y="3171825"/>
              <a:ext cx="171450" cy="171450"/>
              <a:chOff x="8810625" y="3171825"/>
              <a:chExt cx="171450" cy="171450"/>
            </a:xfrm>
          </p:grpSpPr>
          <p:sp>
            <p:nvSpPr>
              <p:cNvPr id="112" name="Freeform 112"/>
              <p:cNvSpPr/>
              <p:nvPr/>
            </p:nvSpPr>
            <p:spPr>
              <a:xfrm>
                <a:off x="8810625" y="31718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26D5E"/>
                </a:solidFill>
              </a:ln>
            </p:spPr>
          </p:sp>
          <p:sp>
            <p:nvSpPr>
              <p:cNvPr id="113" name="Freeform 113"/>
              <p:cNvSpPr/>
              <p:nvPr/>
            </p:nvSpPr>
            <p:spPr>
              <a:xfrm>
                <a:off x="8896350" y="3209925"/>
                <a:ext cx="28575" cy="76200"/>
              </a:xfrm>
              <a:custGeom>
                <a:avLst/>
                <a:gdLst/>
                <a:ahLst/>
                <a:cxnLst/>
                <a:rect l="l" t="t" r="r" b="b"/>
                <a:pathLst>
                  <a:path w="28575" h="76200">
                    <a:moveTo>
                      <a:pt x="0" y="0"/>
                    </a:moveTo>
                    <a:lnTo>
                      <a:pt x="0" y="47625"/>
                    </a:lnTo>
                    <a:lnTo>
                      <a:pt x="28575" y="76200"/>
                    </a:lnTo>
                  </a:path>
                </a:pathLst>
              </a:custGeom>
              <a:noFill/>
              <a:ln w="19050">
                <a:solidFill>
                  <a:srgbClr val="C26D5E"/>
                </a:solidFill>
              </a:ln>
            </p:spPr>
          </p:sp>
        </p:grpSp>
        <p:sp>
          <p:nvSpPr>
            <p:cNvPr id="115" name="TextBox 115"/>
            <p:cNvSpPr txBox="1"/>
            <p:nvPr/>
          </p:nvSpPr>
          <p:spPr>
            <a:xfrm>
              <a:off x="9158097" y="3209449"/>
              <a:ext cx="801472"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最佳联系时间</a:t>
              </a:r>
            </a:p>
          </p:txBody>
        </p:sp>
        <p:sp>
          <p:nvSpPr>
            <p:cNvPr id="116" name="Rectangle 116"/>
            <p:cNvSpPr/>
            <p:nvPr/>
          </p:nvSpPr>
          <p:spPr>
            <a:xfrm>
              <a:off x="8629650" y="3562350"/>
              <a:ext cx="3028950" cy="495300"/>
            </a:xfrm>
            <a:prstGeom prst="roundRect">
              <a:avLst>
                <a:gd name="adj" fmla="val 17308"/>
              </a:avLst>
            </a:prstGeom>
            <a:solidFill>
              <a:srgbClr val="FBF7EF"/>
            </a:solidFill>
            <a:ln w="9525">
              <a:solidFill>
                <a:srgbClr val="E6D9C0"/>
              </a:solidFill>
            </a:ln>
          </p:spPr>
        </p:sp>
        <p:grpSp>
          <p:nvGrpSpPr>
            <p:cNvPr id="120" name="Group 120"/>
            <p:cNvGrpSpPr/>
            <p:nvPr/>
          </p:nvGrpSpPr>
          <p:grpSpPr>
            <a:xfrm>
              <a:off x="8817141" y="3733800"/>
              <a:ext cx="155409" cy="155409"/>
              <a:chOff x="8817141" y="3733800"/>
              <a:chExt cx="155409" cy="155409"/>
            </a:xfrm>
          </p:grpSpPr>
          <p:sp>
            <p:nvSpPr>
              <p:cNvPr id="117" name="Freeform 117"/>
              <p:cNvSpPr/>
              <p:nvPr/>
            </p:nvSpPr>
            <p:spPr>
              <a:xfrm>
                <a:off x="8820150" y="3733800"/>
                <a:ext cx="152400" cy="152400"/>
              </a:xfrm>
              <a:custGeom>
                <a:avLst/>
                <a:gdLst/>
                <a:ahLst/>
                <a:cxnLst/>
                <a:rect l="l" t="t" r="r" b="b"/>
                <a:pathLst>
                  <a:path w="152400" h="152400">
                    <a:moveTo>
                      <a:pt x="0" y="85725"/>
                    </a:moveTo>
                    <a:cubicBezTo>
                      <a:pt x="34959" y="89880"/>
                      <a:pt x="62520" y="117441"/>
                      <a:pt x="66675" y="152400"/>
                    </a:cubicBezTo>
                    <a:cubicBezTo>
                      <a:pt x="83792" y="142532"/>
                      <a:pt x="94598" y="124522"/>
                      <a:pt x="95250" y="104775"/>
                    </a:cubicBezTo>
                    <a:cubicBezTo>
                      <a:pt x="127957" y="93269"/>
                      <a:pt x="150512" y="63195"/>
                      <a:pt x="152400" y="28575"/>
                    </a:cubicBezTo>
                    <a:cubicBezTo>
                      <a:pt x="152400" y="12793"/>
                      <a:pt x="139607" y="0"/>
                      <a:pt x="123825" y="0"/>
                    </a:cubicBezTo>
                    <a:cubicBezTo>
                      <a:pt x="89205" y="1888"/>
                      <a:pt x="59131" y="24443"/>
                      <a:pt x="47625" y="57150"/>
                    </a:cubicBezTo>
                    <a:cubicBezTo>
                      <a:pt x="27878" y="57802"/>
                      <a:pt x="9868" y="68608"/>
                      <a:pt x="0" y="85725"/>
                    </a:cubicBezTo>
                  </a:path>
                </a:pathLst>
              </a:custGeom>
              <a:noFill/>
              <a:ln w="19050">
                <a:solidFill>
                  <a:srgbClr val="A3381F"/>
                </a:solidFill>
              </a:ln>
            </p:spPr>
          </p:sp>
          <p:sp>
            <p:nvSpPr>
              <p:cNvPr id="118" name="Freeform 118"/>
              <p:cNvSpPr/>
              <p:nvPr/>
            </p:nvSpPr>
            <p:spPr>
              <a:xfrm>
                <a:off x="8817141" y="3829050"/>
                <a:ext cx="60159" cy="60159"/>
              </a:xfrm>
              <a:custGeom>
                <a:avLst/>
                <a:gdLst/>
                <a:ahLst/>
                <a:cxnLst/>
                <a:rect l="l" t="t" r="r" b="b"/>
                <a:pathLst>
                  <a:path w="60159" h="60159">
                    <a:moveTo>
                      <a:pt x="31584" y="0"/>
                    </a:moveTo>
                    <a:cubicBezTo>
                      <a:pt x="11304" y="11449"/>
                      <a:pt x="0" y="34057"/>
                      <a:pt x="3009" y="57150"/>
                    </a:cubicBezTo>
                    <a:cubicBezTo>
                      <a:pt x="26101" y="60159"/>
                      <a:pt x="48710" y="48854"/>
                      <a:pt x="60159" y="28575"/>
                    </a:cubicBezTo>
                  </a:path>
                </a:pathLst>
              </a:custGeom>
              <a:noFill/>
              <a:ln w="19050">
                <a:solidFill>
                  <a:srgbClr val="A3381F"/>
                </a:solidFill>
              </a:ln>
            </p:spPr>
          </p:sp>
          <p:sp>
            <p:nvSpPr>
              <p:cNvPr id="119" name="Freeform 119"/>
              <p:cNvSpPr/>
              <p:nvPr/>
            </p:nvSpPr>
            <p:spPr>
              <a:xfrm>
                <a:off x="8915400" y="37719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A3381F"/>
                </a:solidFill>
              </a:ln>
            </p:spPr>
          </p:sp>
        </p:grpSp>
        <p:sp>
          <p:nvSpPr>
            <p:cNvPr id="121" name="TextBox 121"/>
            <p:cNvSpPr txBox="1"/>
            <p:nvPr/>
          </p:nvSpPr>
          <p:spPr>
            <a:xfrm>
              <a:off x="9158097" y="37618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升级概率</a:t>
              </a:r>
            </a:p>
          </p:txBody>
        </p:sp>
        <p:sp>
          <p:nvSpPr>
            <p:cNvPr id="122" name="Rectangle 122"/>
            <p:cNvSpPr/>
            <p:nvPr/>
          </p:nvSpPr>
          <p:spPr>
            <a:xfrm>
              <a:off x="8629650" y="4114800"/>
              <a:ext cx="3028950" cy="495300"/>
            </a:xfrm>
            <a:prstGeom prst="roundRect">
              <a:avLst>
                <a:gd name="adj" fmla="val 17308"/>
              </a:avLst>
            </a:prstGeom>
            <a:solidFill>
              <a:srgbClr val="FBF7EF"/>
            </a:solidFill>
            <a:ln w="9525">
              <a:solidFill>
                <a:srgbClr val="E6D9C0"/>
              </a:solidFill>
            </a:ln>
          </p:spPr>
        </p:sp>
        <p:grpSp>
          <p:nvGrpSpPr>
            <p:cNvPr id="125" name="Group 125"/>
            <p:cNvGrpSpPr/>
            <p:nvPr/>
          </p:nvGrpSpPr>
          <p:grpSpPr>
            <a:xfrm>
              <a:off x="8810625" y="4295775"/>
              <a:ext cx="171450" cy="140114"/>
              <a:chOff x="8810625" y="4295775"/>
              <a:chExt cx="171450" cy="140114"/>
            </a:xfrm>
          </p:grpSpPr>
          <p:sp>
            <p:nvSpPr>
              <p:cNvPr id="123" name="Freeform 123"/>
              <p:cNvSpPr/>
              <p:nvPr/>
            </p:nvSpPr>
            <p:spPr>
              <a:xfrm>
                <a:off x="8810625" y="4295775"/>
                <a:ext cx="171450" cy="140114"/>
              </a:xfrm>
              <a:custGeom>
                <a:avLst/>
                <a:gdLst/>
                <a:ahLst/>
                <a:cxnLst/>
                <a:rect l="l" t="t" r="r" b="b"/>
                <a:pathLst>
                  <a:path w="171450" h="140114">
                    <a:moveTo>
                      <a:pt x="28575" y="0"/>
                    </a:moveTo>
                    <a:lnTo>
                      <a:pt x="142875" y="0"/>
                    </a:lnTo>
                    <a:lnTo>
                      <a:pt x="171450" y="47625"/>
                    </a:lnTo>
                    <a:lnTo>
                      <a:pt x="90488" y="138112"/>
                    </a:lnTo>
                    <a:cubicBezTo>
                      <a:pt x="89233" y="139392"/>
                      <a:pt x="87517" y="140114"/>
                      <a:pt x="85725" y="140114"/>
                    </a:cubicBezTo>
                    <a:cubicBezTo>
                      <a:pt x="83933" y="140114"/>
                      <a:pt x="82217" y="139392"/>
                      <a:pt x="80962" y="138112"/>
                    </a:cubicBezTo>
                    <a:lnTo>
                      <a:pt x="0" y="47625"/>
                    </a:lnTo>
                    <a:lnTo>
                      <a:pt x="28575" y="0"/>
                    </a:lnTo>
                  </a:path>
                </a:pathLst>
              </a:custGeom>
              <a:noFill/>
              <a:ln w="19050">
                <a:solidFill>
                  <a:srgbClr val="C26D5E"/>
                </a:solidFill>
              </a:ln>
            </p:spPr>
          </p:sp>
          <p:sp>
            <p:nvSpPr>
              <p:cNvPr id="124" name="Freeform 124"/>
              <p:cNvSpPr/>
              <p:nvPr/>
            </p:nvSpPr>
            <p:spPr>
              <a:xfrm>
                <a:off x="8858250" y="4331970"/>
                <a:ext cx="19050" cy="30480"/>
              </a:xfrm>
              <a:custGeom>
                <a:avLst/>
                <a:gdLst/>
                <a:ahLst/>
                <a:cxnLst/>
                <a:rect l="l" t="t" r="r" b="b"/>
                <a:pathLst>
                  <a:path w="19050" h="30480">
                    <a:moveTo>
                      <a:pt x="19050" y="30480"/>
                    </a:moveTo>
                    <a:lnTo>
                      <a:pt x="0" y="9525"/>
                    </a:lnTo>
                    <a:lnTo>
                      <a:pt x="5715" y="0"/>
                    </a:lnTo>
                  </a:path>
                </a:pathLst>
              </a:custGeom>
              <a:noFill/>
              <a:ln w="19050">
                <a:solidFill>
                  <a:srgbClr val="C26D5E"/>
                </a:solidFill>
              </a:ln>
            </p:spPr>
          </p:sp>
        </p:grpSp>
        <p:sp>
          <p:nvSpPr>
            <p:cNvPr id="126" name="TextBox 126"/>
            <p:cNvSpPr txBox="1"/>
            <p:nvPr/>
          </p:nvSpPr>
          <p:spPr>
            <a:xfrm>
              <a:off x="9158097" y="4314349"/>
              <a:ext cx="801472"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下一最佳产品</a:t>
              </a:r>
            </a:p>
          </p:txBody>
        </p:sp>
      </p:grpSp>
      <p:grpSp>
        <p:nvGrpSpPr>
          <p:cNvPr id="140" name="band-shishi"/>
          <p:cNvGrpSpPr/>
          <p:nvPr/>
        </p:nvGrpSpPr>
        <p:grpSpPr>
          <a:xfrm>
            <a:off x="381000" y="4991100"/>
            <a:ext cx="2762250" cy="1638300"/>
            <a:chOff x="381000" y="4991100"/>
            <a:chExt cx="2762250" cy="1638300"/>
          </a:xfrm>
        </p:grpSpPr>
        <p:sp>
          <p:nvSpPr>
            <p:cNvPr id="128" name="Rectangle 128"/>
            <p:cNvSpPr/>
            <p:nvPr/>
          </p:nvSpPr>
          <p:spPr>
            <a:xfrm>
              <a:off x="381000" y="4991100"/>
              <a:ext cx="2762250" cy="1638300"/>
            </a:xfrm>
            <a:prstGeom prst="roundRect">
              <a:avLst>
                <a:gd name="adj" fmla="val 6977"/>
              </a:avLst>
            </a:prstGeom>
            <a:solidFill>
              <a:srgbClr val="FFFFFF"/>
            </a:solidFill>
            <a:ln w="9525">
              <a:solidFill>
                <a:srgbClr val="E6D9C0"/>
              </a:solidFill>
            </a:ln>
          </p:spPr>
        </p:sp>
        <p:sp>
          <p:nvSpPr>
            <p:cNvPr id="129" name="Rectangle 129"/>
            <p:cNvSpPr/>
            <p:nvPr/>
          </p:nvSpPr>
          <p:spPr>
            <a:xfrm>
              <a:off x="381000" y="4991100"/>
              <a:ext cx="2762250" cy="342900"/>
            </a:xfrm>
            <a:prstGeom prst="roundRect">
              <a:avLst>
                <a:gd name="adj" fmla="val 33333"/>
              </a:avLst>
            </a:prstGeom>
            <a:solidFill>
              <a:srgbClr val="A3381F"/>
            </a:solidFill>
            <a:ln>
              <a:noFill/>
            </a:ln>
          </p:spPr>
        </p:sp>
        <p:sp>
          <p:nvSpPr>
            <p:cNvPr id="130" name="Rectangle 130"/>
            <p:cNvSpPr/>
            <p:nvPr/>
          </p:nvSpPr>
          <p:spPr>
            <a:xfrm>
              <a:off x="381000" y="5181600"/>
              <a:ext cx="2762250" cy="152400"/>
            </a:xfrm>
            <a:prstGeom prst="rect">
              <a:avLst/>
            </a:prstGeom>
            <a:solidFill>
              <a:srgbClr val="A3381F"/>
            </a:solidFill>
            <a:ln>
              <a:noFill/>
            </a:ln>
          </p:spPr>
        </p:sp>
        <p:sp>
          <p:nvSpPr>
            <p:cNvPr id="131" name="TextBox 131"/>
            <p:cNvSpPr txBox="1"/>
            <p:nvPr/>
          </p:nvSpPr>
          <p:spPr>
            <a:xfrm>
              <a:off x="1485049" y="511040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事实标签</a:t>
              </a:r>
            </a:p>
          </p:txBody>
        </p:sp>
        <p:sp>
          <p:nvSpPr>
            <p:cNvPr id="132" name="Ellipse 132"/>
            <p:cNvSpPr/>
            <p:nvPr/>
          </p:nvSpPr>
          <p:spPr>
            <a:xfrm>
              <a:off x="723900" y="5638800"/>
              <a:ext cx="419100" cy="419100"/>
            </a:xfrm>
            <a:prstGeom prst="ellipse">
              <a:avLst/>
            </a:prstGeom>
            <a:solidFill>
              <a:srgbClr val="FBF4E7"/>
            </a:solidFill>
            <a:ln w="11430">
              <a:solidFill>
                <a:srgbClr val="C26D5E"/>
              </a:solidFill>
            </a:ln>
          </p:spPr>
        </p:sp>
        <p:grpSp>
          <p:nvGrpSpPr>
            <p:cNvPr id="138" name="Group 138"/>
            <p:cNvGrpSpPr/>
            <p:nvPr/>
          </p:nvGrpSpPr>
          <p:grpSpPr>
            <a:xfrm>
              <a:off x="872331" y="5769769"/>
              <a:ext cx="122238" cy="157163"/>
              <a:chOff x="872331" y="5769769"/>
              <a:chExt cx="122238" cy="157163"/>
            </a:xfrm>
          </p:grpSpPr>
          <p:sp>
            <p:nvSpPr>
              <p:cNvPr id="133" name="Freeform 133"/>
              <p:cNvSpPr/>
              <p:nvPr/>
            </p:nvSpPr>
            <p:spPr>
              <a:xfrm>
                <a:off x="950913" y="5769769"/>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A3381F"/>
                </a:solidFill>
              </a:ln>
            </p:spPr>
          </p:sp>
          <p:sp>
            <p:nvSpPr>
              <p:cNvPr id="134" name="Freeform 134"/>
              <p:cNvSpPr/>
              <p:nvPr/>
            </p:nvSpPr>
            <p:spPr>
              <a:xfrm>
                <a:off x="872331" y="5769769"/>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A3381F"/>
                </a:solidFill>
              </a:ln>
            </p:spPr>
          </p:sp>
          <p:sp>
            <p:nvSpPr>
              <p:cNvPr id="135" name="Freeform 135"/>
              <p:cNvSpPr/>
              <p:nvPr/>
            </p:nvSpPr>
            <p:spPr>
              <a:xfrm>
                <a:off x="907256" y="5822156"/>
                <a:ext cx="9525" cy="9525"/>
              </a:xfrm>
              <a:custGeom>
                <a:avLst/>
                <a:gdLst/>
                <a:ahLst/>
                <a:cxnLst/>
                <a:rect l="l" t="t" r="r" b="b"/>
                <a:pathLst>
                  <a:path w="9525" h="9525">
                    <a:moveTo>
                      <a:pt x="0" y="0"/>
                    </a:moveTo>
                    <a:lnTo>
                      <a:pt x="8731" y="0"/>
                    </a:lnTo>
                  </a:path>
                </a:pathLst>
              </a:custGeom>
              <a:noFill/>
              <a:ln w="17463">
                <a:solidFill>
                  <a:srgbClr val="A3381F"/>
                </a:solidFill>
              </a:ln>
            </p:spPr>
          </p:sp>
          <p:sp>
            <p:nvSpPr>
              <p:cNvPr id="136" name="Freeform 136"/>
              <p:cNvSpPr/>
              <p:nvPr/>
            </p:nvSpPr>
            <p:spPr>
              <a:xfrm>
                <a:off x="907256" y="5857081"/>
                <a:ext cx="52388" cy="9525"/>
              </a:xfrm>
              <a:custGeom>
                <a:avLst/>
                <a:gdLst/>
                <a:ahLst/>
                <a:cxnLst/>
                <a:rect l="l" t="t" r="r" b="b"/>
                <a:pathLst>
                  <a:path w="52388" h="9525">
                    <a:moveTo>
                      <a:pt x="0" y="0"/>
                    </a:moveTo>
                    <a:lnTo>
                      <a:pt x="52388" y="0"/>
                    </a:lnTo>
                  </a:path>
                </a:pathLst>
              </a:custGeom>
              <a:noFill/>
              <a:ln w="17463">
                <a:solidFill>
                  <a:srgbClr val="A3381F"/>
                </a:solidFill>
              </a:ln>
            </p:spPr>
          </p:sp>
          <p:sp>
            <p:nvSpPr>
              <p:cNvPr id="137" name="Freeform 137"/>
              <p:cNvSpPr/>
              <p:nvPr/>
            </p:nvSpPr>
            <p:spPr>
              <a:xfrm>
                <a:off x="907256" y="5892006"/>
                <a:ext cx="52388" cy="9525"/>
              </a:xfrm>
              <a:custGeom>
                <a:avLst/>
                <a:gdLst/>
                <a:ahLst/>
                <a:cxnLst/>
                <a:rect l="l" t="t" r="r" b="b"/>
                <a:pathLst>
                  <a:path w="52388" h="9525">
                    <a:moveTo>
                      <a:pt x="0" y="0"/>
                    </a:moveTo>
                    <a:lnTo>
                      <a:pt x="52388" y="0"/>
                    </a:lnTo>
                  </a:path>
                </a:pathLst>
              </a:custGeom>
              <a:noFill/>
              <a:ln w="17463">
                <a:solidFill>
                  <a:srgbClr val="A3381F"/>
                </a:solidFill>
              </a:ln>
            </p:spPr>
          </p:sp>
        </p:grpSp>
        <p:sp>
          <p:nvSpPr>
            <p:cNvPr id="139" name="TextBox 139"/>
            <p:cNvSpPr txBox="1"/>
            <p:nvPr/>
          </p:nvSpPr>
          <p:spPr>
            <a:xfrm>
              <a:off x="1309688" y="5804297"/>
              <a:ext cx="921582"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年龄 / 开户网点</a:t>
              </a:r>
            </a:p>
          </p:txBody>
        </p:sp>
      </p:grpSp>
      <p:grpSp>
        <p:nvGrpSpPr>
          <p:cNvPr id="153" name="band-tongji"/>
          <p:cNvGrpSpPr/>
          <p:nvPr/>
        </p:nvGrpSpPr>
        <p:grpSpPr>
          <a:xfrm>
            <a:off x="3238500" y="4991100"/>
            <a:ext cx="2762250" cy="1638300"/>
            <a:chOff x="3238500" y="4991100"/>
            <a:chExt cx="2762250" cy="1638300"/>
          </a:xfrm>
        </p:grpSpPr>
        <p:sp>
          <p:nvSpPr>
            <p:cNvPr id="141" name="Rectangle 141"/>
            <p:cNvSpPr/>
            <p:nvPr/>
          </p:nvSpPr>
          <p:spPr>
            <a:xfrm>
              <a:off x="3238500" y="4991100"/>
              <a:ext cx="2762250" cy="1638300"/>
            </a:xfrm>
            <a:prstGeom prst="roundRect">
              <a:avLst>
                <a:gd name="adj" fmla="val 6977"/>
              </a:avLst>
            </a:prstGeom>
            <a:solidFill>
              <a:srgbClr val="FFFFFF"/>
            </a:solidFill>
            <a:ln w="9525">
              <a:solidFill>
                <a:srgbClr val="E6D9C0"/>
              </a:solidFill>
            </a:ln>
          </p:spPr>
        </p:sp>
        <p:sp>
          <p:nvSpPr>
            <p:cNvPr id="142" name="Rectangle 142"/>
            <p:cNvSpPr/>
            <p:nvPr/>
          </p:nvSpPr>
          <p:spPr>
            <a:xfrm>
              <a:off x="3238500" y="4991100"/>
              <a:ext cx="2762250" cy="342900"/>
            </a:xfrm>
            <a:prstGeom prst="roundRect">
              <a:avLst>
                <a:gd name="adj" fmla="val 33333"/>
              </a:avLst>
            </a:prstGeom>
            <a:solidFill>
              <a:srgbClr val="C26D5E"/>
            </a:solidFill>
            <a:ln>
              <a:noFill/>
            </a:ln>
          </p:spPr>
        </p:sp>
        <p:sp>
          <p:nvSpPr>
            <p:cNvPr id="143" name="Rectangle 143"/>
            <p:cNvSpPr/>
            <p:nvPr/>
          </p:nvSpPr>
          <p:spPr>
            <a:xfrm>
              <a:off x="3238500" y="5181600"/>
              <a:ext cx="2762250" cy="152400"/>
            </a:xfrm>
            <a:prstGeom prst="rect">
              <a:avLst/>
            </a:prstGeom>
            <a:solidFill>
              <a:srgbClr val="C26D5E"/>
            </a:solidFill>
            <a:ln>
              <a:noFill/>
            </a:ln>
          </p:spPr>
        </p:sp>
        <p:sp>
          <p:nvSpPr>
            <p:cNvPr id="144" name="TextBox 144"/>
            <p:cNvSpPr txBox="1"/>
            <p:nvPr/>
          </p:nvSpPr>
          <p:spPr>
            <a:xfrm>
              <a:off x="4342549" y="511040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统计标签</a:t>
              </a:r>
            </a:p>
          </p:txBody>
        </p:sp>
        <p:sp>
          <p:nvSpPr>
            <p:cNvPr id="145" name="Ellipse 145"/>
            <p:cNvSpPr/>
            <p:nvPr/>
          </p:nvSpPr>
          <p:spPr>
            <a:xfrm>
              <a:off x="3581400" y="5638800"/>
              <a:ext cx="419100" cy="419100"/>
            </a:xfrm>
            <a:prstGeom prst="ellipse">
              <a:avLst/>
            </a:prstGeom>
            <a:solidFill>
              <a:srgbClr val="FBF4E7"/>
            </a:solidFill>
            <a:ln w="11430">
              <a:solidFill>
                <a:srgbClr val="C26D5E"/>
              </a:solidFill>
            </a:ln>
          </p:spPr>
        </p:sp>
        <p:grpSp>
          <p:nvGrpSpPr>
            <p:cNvPr id="150" name="Group 150"/>
            <p:cNvGrpSpPr/>
            <p:nvPr/>
          </p:nvGrpSpPr>
          <p:grpSpPr>
            <a:xfrm>
              <a:off x="3712369" y="5778500"/>
              <a:ext cx="157163" cy="149225"/>
              <a:chOff x="3712369" y="5778500"/>
              <a:chExt cx="157163" cy="149225"/>
            </a:xfrm>
          </p:grpSpPr>
          <p:sp>
            <p:nvSpPr>
              <p:cNvPr id="146" name="Freeform 146"/>
              <p:cNvSpPr/>
              <p:nvPr/>
            </p:nvSpPr>
            <p:spPr>
              <a:xfrm>
                <a:off x="3712369" y="58483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A24B3C"/>
                </a:solidFill>
              </a:ln>
            </p:spPr>
          </p:sp>
          <p:sp>
            <p:nvSpPr>
              <p:cNvPr id="147" name="Freeform 147"/>
              <p:cNvSpPr/>
              <p:nvPr/>
            </p:nvSpPr>
            <p:spPr>
              <a:xfrm>
                <a:off x="3817144" y="58134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A24B3C"/>
                </a:solidFill>
              </a:ln>
            </p:spPr>
          </p:sp>
          <p:sp>
            <p:nvSpPr>
              <p:cNvPr id="148" name="Freeform 148"/>
              <p:cNvSpPr/>
              <p:nvPr/>
            </p:nvSpPr>
            <p:spPr>
              <a:xfrm>
                <a:off x="3764756" y="57785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A24B3C"/>
                </a:solidFill>
              </a:ln>
            </p:spPr>
          </p:sp>
          <p:sp>
            <p:nvSpPr>
              <p:cNvPr id="149" name="Freeform 149"/>
              <p:cNvSpPr/>
              <p:nvPr/>
            </p:nvSpPr>
            <p:spPr>
              <a:xfrm>
                <a:off x="3721100" y="5918200"/>
                <a:ext cx="122238" cy="9525"/>
              </a:xfrm>
              <a:custGeom>
                <a:avLst/>
                <a:gdLst/>
                <a:ahLst/>
                <a:cxnLst/>
                <a:rect l="l" t="t" r="r" b="b"/>
                <a:pathLst>
                  <a:path w="122238" h="9525">
                    <a:moveTo>
                      <a:pt x="0" y="0"/>
                    </a:moveTo>
                    <a:lnTo>
                      <a:pt x="122238" y="0"/>
                    </a:lnTo>
                  </a:path>
                </a:pathLst>
              </a:custGeom>
              <a:noFill/>
              <a:ln w="17463">
                <a:solidFill>
                  <a:srgbClr val="A24B3C"/>
                </a:solidFill>
              </a:ln>
            </p:spPr>
          </p:sp>
        </p:grpSp>
        <p:sp>
          <p:nvSpPr>
            <p:cNvPr id="151" name="TextBox 151"/>
            <p:cNvSpPr txBox="1"/>
            <p:nvPr/>
          </p:nvSpPr>
          <p:spPr>
            <a:xfrm>
              <a:off x="4167188" y="5728097"/>
              <a:ext cx="535310"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30日交易</a:t>
              </a:r>
            </a:p>
          </p:txBody>
        </p:sp>
        <p:sp>
          <p:nvSpPr>
            <p:cNvPr id="152" name="TextBox 152"/>
            <p:cNvSpPr txBox="1"/>
            <p:nvPr/>
          </p:nvSpPr>
          <p:spPr>
            <a:xfrm>
              <a:off x="4167188" y="5918597"/>
              <a:ext cx="269248" cy="183356"/>
            </a:xfrm>
            <a:prstGeom prst="rect">
              <a:avLst/>
            </a:prstGeom>
            <a:noFill/>
            <a:ln>
              <a:noFill/>
            </a:ln>
          </p:spPr>
          <p:txBody>
            <a:bodyPr wrap="none" lIns="0" tIns="0" rIns="0" bIns="0" anchor="t" anchorCtr="0">
              <a:spAutoFit/>
            </a:bodyPr>
            <a:lstStyle/>
            <a:p>
              <a:pPr algn="l"/>
              <a:r>
                <a:rPr lang="en-US" sz="940" b="1" dirty="0">
                  <a:solidFill>
                    <a:srgbClr val="5E3A33"/>
                  </a:solidFill>
                  <a:latin typeface="+mn-lt"/>
                  <a:ea typeface="+mn-ea"/>
                  <a:cs typeface="+mn-cs"/>
                </a:rPr>
                <a:t>AUM</a:t>
              </a:r>
            </a:p>
          </p:txBody>
        </p:sp>
      </p:grpSp>
      <p:grpSp>
        <p:nvGrpSpPr>
          <p:cNvPr id="163" name="band-guize"/>
          <p:cNvGrpSpPr/>
          <p:nvPr/>
        </p:nvGrpSpPr>
        <p:grpSpPr>
          <a:xfrm>
            <a:off x="6096000" y="4991100"/>
            <a:ext cx="2762250" cy="1638300"/>
            <a:chOff x="6096000" y="4991100"/>
            <a:chExt cx="2762250" cy="1638300"/>
          </a:xfrm>
        </p:grpSpPr>
        <p:sp>
          <p:nvSpPr>
            <p:cNvPr id="154" name="Rectangle 154"/>
            <p:cNvSpPr/>
            <p:nvPr/>
          </p:nvSpPr>
          <p:spPr>
            <a:xfrm>
              <a:off x="6096000" y="4991100"/>
              <a:ext cx="2762250" cy="1638300"/>
            </a:xfrm>
            <a:prstGeom prst="roundRect">
              <a:avLst>
                <a:gd name="adj" fmla="val 6977"/>
              </a:avLst>
            </a:prstGeom>
            <a:solidFill>
              <a:srgbClr val="FFFFFF"/>
            </a:solidFill>
            <a:ln w="9525">
              <a:solidFill>
                <a:srgbClr val="E6D9C0"/>
              </a:solidFill>
            </a:ln>
          </p:spPr>
        </p:sp>
        <p:sp>
          <p:nvSpPr>
            <p:cNvPr id="155" name="Rectangle 155"/>
            <p:cNvSpPr/>
            <p:nvPr/>
          </p:nvSpPr>
          <p:spPr>
            <a:xfrm>
              <a:off x="6096000" y="4991100"/>
              <a:ext cx="2762250" cy="342900"/>
            </a:xfrm>
            <a:prstGeom prst="roundRect">
              <a:avLst>
                <a:gd name="adj" fmla="val 33333"/>
              </a:avLst>
            </a:prstGeom>
            <a:solidFill>
              <a:srgbClr val="A3381F"/>
            </a:solidFill>
            <a:ln>
              <a:noFill/>
            </a:ln>
          </p:spPr>
        </p:sp>
        <p:sp>
          <p:nvSpPr>
            <p:cNvPr id="156" name="Rectangle 156"/>
            <p:cNvSpPr/>
            <p:nvPr/>
          </p:nvSpPr>
          <p:spPr>
            <a:xfrm>
              <a:off x="6096000" y="5181600"/>
              <a:ext cx="2762250" cy="152400"/>
            </a:xfrm>
            <a:prstGeom prst="rect">
              <a:avLst/>
            </a:prstGeom>
            <a:solidFill>
              <a:srgbClr val="A3381F"/>
            </a:solidFill>
            <a:ln>
              <a:noFill/>
            </a:ln>
          </p:spPr>
        </p:sp>
        <p:sp>
          <p:nvSpPr>
            <p:cNvPr id="157" name="TextBox 157"/>
            <p:cNvSpPr txBox="1"/>
            <p:nvPr/>
          </p:nvSpPr>
          <p:spPr>
            <a:xfrm>
              <a:off x="7200049" y="511040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规则标签</a:t>
              </a:r>
            </a:p>
          </p:txBody>
        </p:sp>
        <p:sp>
          <p:nvSpPr>
            <p:cNvPr id="158" name="Ellipse 158"/>
            <p:cNvSpPr/>
            <p:nvPr/>
          </p:nvSpPr>
          <p:spPr>
            <a:xfrm>
              <a:off x="6438900" y="5638800"/>
              <a:ext cx="419100" cy="419100"/>
            </a:xfrm>
            <a:prstGeom prst="ellipse">
              <a:avLst/>
            </a:prstGeom>
            <a:solidFill>
              <a:srgbClr val="FBF4E7"/>
            </a:solidFill>
            <a:ln w="11430">
              <a:solidFill>
                <a:srgbClr val="C26D5E"/>
              </a:solidFill>
            </a:ln>
          </p:spPr>
        </p:sp>
        <p:grpSp>
          <p:nvGrpSpPr>
            <p:cNvPr id="161" name="Group 161"/>
            <p:cNvGrpSpPr/>
            <p:nvPr/>
          </p:nvGrpSpPr>
          <p:grpSpPr>
            <a:xfrm>
              <a:off x="6569869" y="5769769"/>
              <a:ext cx="159232" cy="159232"/>
              <a:chOff x="6569869" y="5769769"/>
              <a:chExt cx="159232" cy="159232"/>
            </a:xfrm>
          </p:grpSpPr>
          <p:sp>
            <p:nvSpPr>
              <p:cNvPr id="159" name="Freeform 159"/>
              <p:cNvSpPr/>
              <p:nvPr/>
            </p:nvSpPr>
            <p:spPr>
              <a:xfrm>
                <a:off x="6600428" y="5800328"/>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A3381F"/>
                </a:solidFill>
              </a:ln>
            </p:spPr>
          </p:sp>
          <p:sp>
            <p:nvSpPr>
              <p:cNvPr id="160" name="Freeform 160"/>
              <p:cNvSpPr/>
              <p:nvPr/>
            </p:nvSpPr>
            <p:spPr>
              <a:xfrm>
                <a:off x="6569869" y="5769769"/>
                <a:ext cx="159232" cy="159232"/>
              </a:xfrm>
              <a:custGeom>
                <a:avLst/>
                <a:gdLst/>
                <a:ahLst/>
                <a:cxnLst/>
                <a:rect l="l" t="t" r="r" b="b"/>
                <a:pathLst>
                  <a:path w="159232" h="159232">
                    <a:moveTo>
                      <a:pt x="0" y="26194"/>
                    </a:moveTo>
                    <a:lnTo>
                      <a:pt x="0" y="71352"/>
                    </a:lnTo>
                    <a:cubicBezTo>
                      <a:pt x="1" y="75983"/>
                      <a:pt x="1841" y="80424"/>
                      <a:pt x="5117" y="83698"/>
                    </a:cubicBezTo>
                    <a:lnTo>
                      <a:pt x="72434" y="151016"/>
                    </a:lnTo>
                    <a:cubicBezTo>
                      <a:pt x="80652" y="159232"/>
                      <a:pt x="93973" y="159232"/>
                      <a:pt x="102191" y="151016"/>
                    </a:cubicBezTo>
                    <a:lnTo>
                      <a:pt x="151016" y="102191"/>
                    </a:lnTo>
                    <a:cubicBezTo>
                      <a:pt x="159232" y="93973"/>
                      <a:pt x="159232" y="80652"/>
                      <a:pt x="151016" y="72434"/>
                    </a:cubicBezTo>
                    <a:lnTo>
                      <a:pt x="83698" y="5117"/>
                    </a:lnTo>
                    <a:cubicBezTo>
                      <a:pt x="80424" y="1841"/>
                      <a:pt x="75983" y="1"/>
                      <a:pt x="71352" y="0"/>
                    </a:cubicBezTo>
                    <a:lnTo>
                      <a:pt x="26194" y="0"/>
                    </a:lnTo>
                    <a:cubicBezTo>
                      <a:pt x="19247" y="0"/>
                      <a:pt x="12584" y="2760"/>
                      <a:pt x="7672" y="7672"/>
                    </a:cubicBezTo>
                    <a:cubicBezTo>
                      <a:pt x="2760" y="12584"/>
                      <a:pt x="0" y="19247"/>
                      <a:pt x="0" y="26194"/>
                    </a:cubicBezTo>
                  </a:path>
                </a:pathLst>
              </a:custGeom>
              <a:noFill/>
              <a:ln w="17463">
                <a:solidFill>
                  <a:srgbClr val="A3381F"/>
                </a:solidFill>
              </a:ln>
            </p:spPr>
          </p:sp>
        </p:grpSp>
        <p:sp>
          <p:nvSpPr>
            <p:cNvPr id="162" name="TextBox 162"/>
            <p:cNvSpPr txBox="1"/>
            <p:nvPr/>
          </p:nvSpPr>
          <p:spPr>
            <a:xfrm>
              <a:off x="7024688" y="5804297"/>
              <a:ext cx="668497"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贵宾 / 代发</a:t>
              </a:r>
            </a:p>
          </p:txBody>
        </p:sp>
      </p:grpSp>
      <p:grpSp>
        <p:nvGrpSpPr>
          <p:cNvPr id="180" name="band-moxing"/>
          <p:cNvGrpSpPr/>
          <p:nvPr/>
        </p:nvGrpSpPr>
        <p:grpSpPr>
          <a:xfrm>
            <a:off x="8953500" y="4991100"/>
            <a:ext cx="2762250" cy="1638300"/>
            <a:chOff x="8953500" y="4991100"/>
            <a:chExt cx="2762250" cy="1638300"/>
          </a:xfrm>
        </p:grpSpPr>
        <p:sp>
          <p:nvSpPr>
            <p:cNvPr id="164" name="Rectangle 164"/>
            <p:cNvSpPr/>
            <p:nvPr/>
          </p:nvSpPr>
          <p:spPr>
            <a:xfrm>
              <a:off x="8953500" y="4991100"/>
              <a:ext cx="2762250" cy="1638300"/>
            </a:xfrm>
            <a:prstGeom prst="roundRect">
              <a:avLst>
                <a:gd name="adj" fmla="val 6977"/>
              </a:avLst>
            </a:prstGeom>
            <a:solidFill>
              <a:srgbClr val="FFFFFF"/>
            </a:solidFill>
            <a:ln w="9525">
              <a:solidFill>
                <a:srgbClr val="E6D9C0"/>
              </a:solidFill>
            </a:ln>
          </p:spPr>
        </p:sp>
        <p:sp>
          <p:nvSpPr>
            <p:cNvPr id="165" name="Rectangle 165"/>
            <p:cNvSpPr/>
            <p:nvPr/>
          </p:nvSpPr>
          <p:spPr>
            <a:xfrm>
              <a:off x="8953500" y="4991100"/>
              <a:ext cx="2762250" cy="342900"/>
            </a:xfrm>
            <a:prstGeom prst="roundRect">
              <a:avLst>
                <a:gd name="adj" fmla="val 33333"/>
              </a:avLst>
            </a:prstGeom>
            <a:solidFill>
              <a:srgbClr val="C26D5E"/>
            </a:solidFill>
            <a:ln>
              <a:noFill/>
            </a:ln>
          </p:spPr>
        </p:sp>
        <p:sp>
          <p:nvSpPr>
            <p:cNvPr id="166" name="Rectangle 166"/>
            <p:cNvSpPr/>
            <p:nvPr/>
          </p:nvSpPr>
          <p:spPr>
            <a:xfrm>
              <a:off x="8953500" y="5181600"/>
              <a:ext cx="2762250" cy="152400"/>
            </a:xfrm>
            <a:prstGeom prst="rect">
              <a:avLst/>
            </a:prstGeom>
            <a:solidFill>
              <a:srgbClr val="C26D5E"/>
            </a:solidFill>
            <a:ln>
              <a:noFill/>
            </a:ln>
          </p:spPr>
        </p:sp>
        <p:sp>
          <p:nvSpPr>
            <p:cNvPr id="167" name="TextBox 167"/>
            <p:cNvSpPr txBox="1"/>
            <p:nvPr/>
          </p:nvSpPr>
          <p:spPr>
            <a:xfrm>
              <a:off x="10057549" y="511040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模型标签</a:t>
              </a:r>
            </a:p>
          </p:txBody>
        </p:sp>
        <p:sp>
          <p:nvSpPr>
            <p:cNvPr id="168" name="Ellipse 168"/>
            <p:cNvSpPr/>
            <p:nvPr/>
          </p:nvSpPr>
          <p:spPr>
            <a:xfrm>
              <a:off x="9296400" y="5638800"/>
              <a:ext cx="419100" cy="419100"/>
            </a:xfrm>
            <a:prstGeom prst="ellipse">
              <a:avLst/>
            </a:prstGeom>
            <a:solidFill>
              <a:srgbClr val="FBF4E7"/>
            </a:solidFill>
            <a:ln w="11430">
              <a:solidFill>
                <a:srgbClr val="C26D5E"/>
              </a:solidFill>
            </a:ln>
          </p:spPr>
        </p:sp>
        <p:grpSp>
          <p:nvGrpSpPr>
            <p:cNvPr id="178" name="Group 178"/>
            <p:cNvGrpSpPr/>
            <p:nvPr/>
          </p:nvGrpSpPr>
          <p:grpSpPr>
            <a:xfrm>
              <a:off x="9444831" y="5761038"/>
              <a:ext cx="122238" cy="165893"/>
              <a:chOff x="9444831" y="5761038"/>
              <a:chExt cx="122238" cy="165893"/>
            </a:xfrm>
          </p:grpSpPr>
          <p:sp>
            <p:nvSpPr>
              <p:cNvPr id="169" name="Freeform 169"/>
              <p:cNvSpPr/>
              <p:nvPr/>
            </p:nvSpPr>
            <p:spPr>
              <a:xfrm>
                <a:off x="9453563" y="5778500"/>
                <a:ext cx="104775" cy="69850"/>
              </a:xfrm>
              <a:custGeom>
                <a:avLst/>
                <a:gdLst/>
                <a:ahLst/>
                <a:cxnLst/>
                <a:rect l="l" t="t" r="r" b="b"/>
                <a:pathLst>
                  <a:path w="104775" h="69850">
                    <a:moveTo>
                      <a:pt x="0" y="17463"/>
                    </a:moveTo>
                    <a:cubicBezTo>
                      <a:pt x="0" y="7818"/>
                      <a:pt x="7818" y="0"/>
                      <a:pt x="17463" y="0"/>
                    </a:cubicBezTo>
                    <a:lnTo>
                      <a:pt x="87313" y="0"/>
                    </a:lnTo>
                    <a:cubicBezTo>
                      <a:pt x="96957" y="0"/>
                      <a:pt x="104775" y="7818"/>
                      <a:pt x="104775" y="17463"/>
                    </a:cubicBezTo>
                    <a:lnTo>
                      <a:pt x="104775" y="52388"/>
                    </a:lnTo>
                    <a:cubicBezTo>
                      <a:pt x="104775" y="62032"/>
                      <a:pt x="96957" y="69850"/>
                      <a:pt x="87313" y="69850"/>
                    </a:cubicBezTo>
                    <a:lnTo>
                      <a:pt x="17463" y="69850"/>
                    </a:lnTo>
                    <a:cubicBezTo>
                      <a:pt x="7818" y="69850"/>
                      <a:pt x="0" y="62032"/>
                      <a:pt x="0" y="52388"/>
                    </a:cubicBezTo>
                    <a:lnTo>
                      <a:pt x="0" y="17463"/>
                    </a:lnTo>
                  </a:path>
                </a:pathLst>
              </a:custGeom>
              <a:noFill/>
              <a:ln w="17463">
                <a:solidFill>
                  <a:srgbClr val="A24B3C"/>
                </a:solidFill>
              </a:ln>
            </p:spPr>
          </p:sp>
          <p:sp>
            <p:nvSpPr>
              <p:cNvPr id="170" name="Freeform 170"/>
              <p:cNvSpPr/>
              <p:nvPr/>
            </p:nvSpPr>
            <p:spPr>
              <a:xfrm>
                <a:off x="9505950" y="5761038"/>
                <a:ext cx="9525" cy="17463"/>
              </a:xfrm>
              <a:custGeom>
                <a:avLst/>
                <a:gdLst/>
                <a:ahLst/>
                <a:cxnLst/>
                <a:rect l="l" t="t" r="r" b="b"/>
                <a:pathLst>
                  <a:path w="9525" h="17463">
                    <a:moveTo>
                      <a:pt x="0" y="0"/>
                    </a:moveTo>
                    <a:lnTo>
                      <a:pt x="0" y="17463"/>
                    </a:lnTo>
                  </a:path>
                </a:pathLst>
              </a:custGeom>
              <a:noFill/>
              <a:ln w="17463">
                <a:solidFill>
                  <a:srgbClr val="A24B3C"/>
                </a:solidFill>
              </a:ln>
            </p:spPr>
          </p:sp>
          <p:sp>
            <p:nvSpPr>
              <p:cNvPr id="171" name="Freeform 171"/>
              <p:cNvSpPr/>
              <p:nvPr/>
            </p:nvSpPr>
            <p:spPr>
              <a:xfrm>
                <a:off x="9479756" y="5848350"/>
                <a:ext cx="9525" cy="78581"/>
              </a:xfrm>
              <a:custGeom>
                <a:avLst/>
                <a:gdLst/>
                <a:ahLst/>
                <a:cxnLst/>
                <a:rect l="l" t="t" r="r" b="b"/>
                <a:pathLst>
                  <a:path w="9525" h="78581">
                    <a:moveTo>
                      <a:pt x="0" y="0"/>
                    </a:moveTo>
                    <a:lnTo>
                      <a:pt x="0" y="78581"/>
                    </a:lnTo>
                  </a:path>
                </a:pathLst>
              </a:custGeom>
              <a:noFill/>
              <a:ln w="17463">
                <a:solidFill>
                  <a:srgbClr val="A24B3C"/>
                </a:solidFill>
              </a:ln>
            </p:spPr>
          </p:sp>
          <p:sp>
            <p:nvSpPr>
              <p:cNvPr id="172" name="Freeform 172"/>
              <p:cNvSpPr/>
              <p:nvPr/>
            </p:nvSpPr>
            <p:spPr>
              <a:xfrm>
                <a:off x="9532144" y="5848350"/>
                <a:ext cx="9525" cy="78581"/>
              </a:xfrm>
              <a:custGeom>
                <a:avLst/>
                <a:gdLst/>
                <a:ahLst/>
                <a:cxnLst/>
                <a:rect l="l" t="t" r="r" b="b"/>
                <a:pathLst>
                  <a:path w="9525" h="78581">
                    <a:moveTo>
                      <a:pt x="0" y="0"/>
                    </a:moveTo>
                    <a:lnTo>
                      <a:pt x="0" y="78581"/>
                    </a:lnTo>
                  </a:path>
                </a:pathLst>
              </a:custGeom>
              <a:noFill/>
              <a:ln w="17463">
                <a:solidFill>
                  <a:srgbClr val="A24B3C"/>
                </a:solidFill>
              </a:ln>
            </p:spPr>
          </p:sp>
          <p:sp>
            <p:nvSpPr>
              <p:cNvPr id="173" name="Freeform 173"/>
              <p:cNvSpPr/>
              <p:nvPr/>
            </p:nvSpPr>
            <p:spPr>
              <a:xfrm>
                <a:off x="9444831" y="5865813"/>
                <a:ext cx="34925" cy="17463"/>
              </a:xfrm>
              <a:custGeom>
                <a:avLst/>
                <a:gdLst/>
                <a:ahLst/>
                <a:cxnLst/>
                <a:rect l="l" t="t" r="r" b="b"/>
                <a:pathLst>
                  <a:path w="34925" h="17463">
                    <a:moveTo>
                      <a:pt x="0" y="17463"/>
                    </a:moveTo>
                    <a:lnTo>
                      <a:pt x="34925" y="0"/>
                    </a:lnTo>
                  </a:path>
                </a:pathLst>
              </a:custGeom>
              <a:noFill/>
              <a:ln w="17463">
                <a:solidFill>
                  <a:srgbClr val="A24B3C"/>
                </a:solidFill>
              </a:ln>
            </p:spPr>
          </p:sp>
          <p:sp>
            <p:nvSpPr>
              <p:cNvPr id="174" name="Freeform 174"/>
              <p:cNvSpPr/>
              <p:nvPr/>
            </p:nvSpPr>
            <p:spPr>
              <a:xfrm>
                <a:off x="9532144" y="5865813"/>
                <a:ext cx="34925" cy="17463"/>
              </a:xfrm>
              <a:custGeom>
                <a:avLst/>
                <a:gdLst/>
                <a:ahLst/>
                <a:cxnLst/>
                <a:rect l="l" t="t" r="r" b="b"/>
                <a:pathLst>
                  <a:path w="34925" h="17463">
                    <a:moveTo>
                      <a:pt x="0" y="0"/>
                    </a:moveTo>
                    <a:lnTo>
                      <a:pt x="34925" y="17463"/>
                    </a:lnTo>
                  </a:path>
                </a:pathLst>
              </a:custGeom>
              <a:noFill/>
              <a:ln w="17463">
                <a:solidFill>
                  <a:srgbClr val="A24B3C"/>
                </a:solidFill>
              </a:ln>
            </p:spPr>
          </p:sp>
          <p:sp>
            <p:nvSpPr>
              <p:cNvPr id="175" name="Freeform 175"/>
              <p:cNvSpPr/>
              <p:nvPr/>
            </p:nvSpPr>
            <p:spPr>
              <a:xfrm>
                <a:off x="9479756" y="5900738"/>
                <a:ext cx="52388" cy="9525"/>
              </a:xfrm>
              <a:custGeom>
                <a:avLst/>
                <a:gdLst/>
                <a:ahLst/>
                <a:cxnLst/>
                <a:rect l="l" t="t" r="r" b="b"/>
                <a:pathLst>
                  <a:path w="52388" h="9525">
                    <a:moveTo>
                      <a:pt x="0" y="0"/>
                    </a:moveTo>
                    <a:lnTo>
                      <a:pt x="52388" y="0"/>
                    </a:lnTo>
                  </a:path>
                </a:pathLst>
              </a:custGeom>
              <a:noFill/>
              <a:ln w="17463">
                <a:solidFill>
                  <a:srgbClr val="A24B3C"/>
                </a:solidFill>
              </a:ln>
            </p:spPr>
          </p:sp>
          <p:sp>
            <p:nvSpPr>
              <p:cNvPr id="176" name="Freeform 176"/>
              <p:cNvSpPr/>
              <p:nvPr/>
            </p:nvSpPr>
            <p:spPr>
              <a:xfrm>
                <a:off x="9488488" y="5813425"/>
                <a:ext cx="9525" cy="9525"/>
              </a:xfrm>
              <a:custGeom>
                <a:avLst/>
                <a:gdLst/>
                <a:ahLst/>
                <a:cxnLst/>
                <a:rect l="l" t="t" r="r" b="b"/>
                <a:pathLst>
                  <a:path w="9525" h="9525">
                    <a:moveTo>
                      <a:pt x="0" y="0"/>
                    </a:moveTo>
                    <a:lnTo>
                      <a:pt x="0" y="87"/>
                    </a:lnTo>
                  </a:path>
                </a:pathLst>
              </a:custGeom>
              <a:noFill/>
              <a:ln w="17463">
                <a:solidFill>
                  <a:srgbClr val="A24B3C"/>
                </a:solidFill>
              </a:ln>
            </p:spPr>
          </p:sp>
          <p:sp>
            <p:nvSpPr>
              <p:cNvPr id="177" name="Freeform 177"/>
              <p:cNvSpPr/>
              <p:nvPr/>
            </p:nvSpPr>
            <p:spPr>
              <a:xfrm>
                <a:off x="9523413" y="5813425"/>
                <a:ext cx="9525" cy="9525"/>
              </a:xfrm>
              <a:custGeom>
                <a:avLst/>
                <a:gdLst/>
                <a:ahLst/>
                <a:cxnLst/>
                <a:rect l="l" t="t" r="r" b="b"/>
                <a:pathLst>
                  <a:path w="9525" h="9525">
                    <a:moveTo>
                      <a:pt x="0" y="0"/>
                    </a:moveTo>
                    <a:lnTo>
                      <a:pt x="0" y="87"/>
                    </a:lnTo>
                  </a:path>
                </a:pathLst>
              </a:custGeom>
              <a:noFill/>
              <a:ln w="17463">
                <a:solidFill>
                  <a:srgbClr val="A24B3C"/>
                </a:solidFill>
              </a:ln>
            </p:spPr>
          </p:sp>
        </p:grpSp>
        <p:sp>
          <p:nvSpPr>
            <p:cNvPr id="179" name="TextBox 179"/>
            <p:cNvSpPr txBox="1"/>
            <p:nvPr/>
          </p:nvSpPr>
          <p:spPr>
            <a:xfrm>
              <a:off x="9882188" y="5804297"/>
              <a:ext cx="1174668"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流失概率 / 购买倾向</a:t>
              </a:r>
            </a:p>
          </p:txBody>
        </p:sp>
      </p:gr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10</a:t>
              </a:r>
            </a:p>
          </p:txBody>
        </p:sp>
        <p:sp>
          <p:nvSpPr>
            <p:cNvPr id="4" name="TextBox 4"/>
            <p:cNvSpPr txBox="1"/>
            <p:nvPr/>
          </p:nvSpPr>
          <p:spPr>
            <a:xfrm>
              <a:off x="942594" y="151448"/>
              <a:ext cx="4735068"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标签治理：从标签数量转向</a:t>
              </a:r>
              <a:r>
                <a:rPr lang="zh-CN" sz="1950" b="1" dirty="0">
                  <a:solidFill>
                    <a:srgbClr val="A3381F"/>
                  </a:solidFill>
                  <a:latin typeface="SimSun"/>
                  <a:ea typeface="SimSun"/>
                  <a:cs typeface="SimSun"/>
                </a:rPr>
                <a:t>标签有效性</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64" name="lifecycle-steps"/>
          <p:cNvGrpSpPr/>
          <p:nvPr/>
        </p:nvGrpSpPr>
        <p:grpSpPr>
          <a:xfrm>
            <a:off x="381000" y="866299"/>
            <a:ext cx="11220450" cy="1076801"/>
            <a:chOff x="381000" y="866299"/>
            <a:chExt cx="11220450" cy="1076801"/>
          </a:xfrm>
        </p:grpSpPr>
        <p:sp>
          <p:nvSpPr>
            <p:cNvPr id="7" name="TextBox 7"/>
            <p:cNvSpPr txBox="1"/>
            <p:nvPr/>
          </p:nvSpPr>
          <p:spPr>
            <a:xfrm>
              <a:off x="5233518" y="866299"/>
              <a:ext cx="1724965" cy="190690"/>
            </a:xfrm>
            <a:prstGeom prst="rect">
              <a:avLst/>
            </a:prstGeom>
            <a:noFill/>
            <a:ln>
              <a:noFill/>
            </a:ln>
          </p:spPr>
          <p:txBody>
            <a:bodyPr wrap="none" lIns="0" tIns="0" rIns="0" bIns="0" anchor="t" anchorCtr="0">
              <a:spAutoFit/>
            </a:bodyPr>
            <a:lstStyle/>
            <a:p>
              <a:pPr algn="ctr"/>
              <a:r>
                <a:rPr lang="zh-CN" sz="980" b="1" dirty="0">
                  <a:solidFill>
                    <a:srgbClr val="A3381F"/>
                  </a:solidFill>
                  <a:latin typeface="+mn-lt"/>
                  <a:ea typeface="+mn-ea"/>
                  <a:cs typeface="+mn-cs"/>
                </a:rPr>
                <a:t>标签全生命周期管理（七步）</a:t>
              </a:r>
            </a:p>
          </p:txBody>
        </p:sp>
        <p:sp>
          <p:nvSpPr>
            <p:cNvPr id="8" name="Rectangle 8"/>
            <p:cNvSpPr/>
            <p:nvPr/>
          </p:nvSpPr>
          <p:spPr>
            <a:xfrm>
              <a:off x="381000" y="1047750"/>
              <a:ext cx="1504950" cy="895350"/>
            </a:xfrm>
            <a:prstGeom prst="roundRect">
              <a:avLst>
                <a:gd name="adj" fmla="val 8511"/>
              </a:avLst>
            </a:prstGeom>
            <a:solidFill>
              <a:srgbClr val="FFFFFF"/>
            </a:solidFill>
            <a:ln w="9525">
              <a:solidFill>
                <a:srgbClr val="E6D9C0"/>
              </a:solidFill>
            </a:ln>
          </p:spPr>
        </p:sp>
        <p:sp>
          <p:nvSpPr>
            <p:cNvPr id="9" name="Ellipse 9"/>
            <p:cNvSpPr/>
            <p:nvPr/>
          </p:nvSpPr>
          <p:spPr>
            <a:xfrm>
              <a:off x="447675" y="1114425"/>
              <a:ext cx="209550" cy="209550"/>
            </a:xfrm>
            <a:prstGeom prst="ellipse">
              <a:avLst/>
            </a:prstGeom>
            <a:solidFill>
              <a:srgbClr val="A3381F"/>
            </a:solidFill>
            <a:ln>
              <a:noFill/>
            </a:ln>
          </p:spPr>
        </p:sp>
        <p:sp>
          <p:nvSpPr>
            <p:cNvPr id="10" name="TextBox 10"/>
            <p:cNvSpPr txBox="1"/>
            <p:nvPr/>
          </p:nvSpPr>
          <p:spPr>
            <a:xfrm>
              <a:off x="522810" y="1188482"/>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a:t>
              </a:r>
            </a:p>
          </p:txBody>
        </p:sp>
        <p:grpSp>
          <p:nvGrpSpPr>
            <p:cNvPr id="16" name="Group 16"/>
            <p:cNvGrpSpPr/>
            <p:nvPr/>
          </p:nvGrpSpPr>
          <p:grpSpPr>
            <a:xfrm>
              <a:off x="1061244" y="1231106"/>
              <a:ext cx="144462" cy="185737"/>
              <a:chOff x="1061244" y="1231106"/>
              <a:chExt cx="144462" cy="185737"/>
            </a:xfrm>
          </p:grpSpPr>
          <p:sp>
            <p:nvSpPr>
              <p:cNvPr id="11" name="Freeform 11"/>
              <p:cNvSpPr/>
              <p:nvPr/>
            </p:nvSpPr>
            <p:spPr>
              <a:xfrm>
                <a:off x="1154112" y="123110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A3381F"/>
                </a:solidFill>
              </a:ln>
            </p:spPr>
          </p:sp>
          <p:sp>
            <p:nvSpPr>
              <p:cNvPr id="12" name="Freeform 12"/>
              <p:cNvSpPr/>
              <p:nvPr/>
            </p:nvSpPr>
            <p:spPr>
              <a:xfrm>
                <a:off x="1061244" y="1231106"/>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A3381F"/>
                </a:solidFill>
              </a:ln>
            </p:spPr>
          </p:sp>
          <p:sp>
            <p:nvSpPr>
              <p:cNvPr id="13" name="Freeform 13"/>
              <p:cNvSpPr/>
              <p:nvPr/>
            </p:nvSpPr>
            <p:spPr>
              <a:xfrm>
                <a:off x="1102518" y="1293018"/>
                <a:ext cx="10319" cy="9525"/>
              </a:xfrm>
              <a:custGeom>
                <a:avLst/>
                <a:gdLst/>
                <a:ahLst/>
                <a:cxnLst/>
                <a:rect l="l" t="t" r="r" b="b"/>
                <a:pathLst>
                  <a:path w="10319" h="9525">
                    <a:moveTo>
                      <a:pt x="0" y="0"/>
                    </a:moveTo>
                    <a:lnTo>
                      <a:pt x="10319" y="0"/>
                    </a:lnTo>
                  </a:path>
                </a:pathLst>
              </a:custGeom>
              <a:noFill/>
              <a:ln w="20637">
                <a:solidFill>
                  <a:srgbClr val="A3381F"/>
                </a:solidFill>
              </a:ln>
            </p:spPr>
          </p:sp>
          <p:sp>
            <p:nvSpPr>
              <p:cNvPr id="14" name="Freeform 14"/>
              <p:cNvSpPr/>
              <p:nvPr/>
            </p:nvSpPr>
            <p:spPr>
              <a:xfrm>
                <a:off x="1102518" y="1334293"/>
                <a:ext cx="61912" cy="9525"/>
              </a:xfrm>
              <a:custGeom>
                <a:avLst/>
                <a:gdLst/>
                <a:ahLst/>
                <a:cxnLst/>
                <a:rect l="l" t="t" r="r" b="b"/>
                <a:pathLst>
                  <a:path w="61912" h="9525">
                    <a:moveTo>
                      <a:pt x="0" y="0"/>
                    </a:moveTo>
                    <a:lnTo>
                      <a:pt x="61912" y="0"/>
                    </a:lnTo>
                  </a:path>
                </a:pathLst>
              </a:custGeom>
              <a:noFill/>
              <a:ln w="20637">
                <a:solidFill>
                  <a:srgbClr val="A3381F"/>
                </a:solidFill>
              </a:ln>
            </p:spPr>
          </p:sp>
          <p:sp>
            <p:nvSpPr>
              <p:cNvPr id="15" name="Freeform 15"/>
              <p:cNvSpPr/>
              <p:nvPr/>
            </p:nvSpPr>
            <p:spPr>
              <a:xfrm>
                <a:off x="1102518" y="1375568"/>
                <a:ext cx="61912" cy="9525"/>
              </a:xfrm>
              <a:custGeom>
                <a:avLst/>
                <a:gdLst/>
                <a:ahLst/>
                <a:cxnLst/>
                <a:rect l="l" t="t" r="r" b="b"/>
                <a:pathLst>
                  <a:path w="61912" h="9525">
                    <a:moveTo>
                      <a:pt x="0" y="0"/>
                    </a:moveTo>
                    <a:lnTo>
                      <a:pt x="61912" y="0"/>
                    </a:lnTo>
                  </a:path>
                </a:pathLst>
              </a:custGeom>
              <a:noFill/>
              <a:ln w="20637">
                <a:solidFill>
                  <a:srgbClr val="A3381F"/>
                </a:solidFill>
              </a:ln>
            </p:spPr>
          </p:sp>
        </p:grpSp>
        <p:sp>
          <p:nvSpPr>
            <p:cNvPr id="17" name="TextBox 17"/>
            <p:cNvSpPr txBox="1"/>
            <p:nvPr/>
          </p:nvSpPr>
          <p:spPr>
            <a:xfrm>
              <a:off x="875627" y="1651397"/>
              <a:ext cx="515696" cy="183356"/>
            </a:xfrm>
            <a:prstGeom prst="rect">
              <a:avLst/>
            </a:prstGeom>
            <a:noFill/>
            <a:ln>
              <a:noFill/>
            </a:ln>
          </p:spPr>
          <p:txBody>
            <a:bodyPr wrap="none" lIns="0" tIns="0" rIns="0" bIns="0" anchor="t" anchorCtr="0">
              <a:spAutoFit/>
            </a:bodyPr>
            <a:lstStyle/>
            <a:p>
              <a:pPr algn="ctr"/>
              <a:r>
                <a:rPr lang="zh-CN" sz="940" b="1" dirty="0">
                  <a:solidFill>
                    <a:srgbClr val="5E3A33"/>
                  </a:solidFill>
                  <a:latin typeface="+mn-lt"/>
                  <a:ea typeface="+mn-ea"/>
                  <a:cs typeface="+mn-cs"/>
                </a:rPr>
                <a:t>业务申请</a:t>
              </a:r>
            </a:p>
          </p:txBody>
        </p:sp>
        <p:sp>
          <p:nvSpPr>
            <p:cNvPr id="18" name="Rectangle 18"/>
            <p:cNvSpPr/>
            <p:nvPr/>
          </p:nvSpPr>
          <p:spPr>
            <a:xfrm>
              <a:off x="2000250" y="1047750"/>
              <a:ext cx="1504950" cy="895350"/>
            </a:xfrm>
            <a:prstGeom prst="roundRect">
              <a:avLst>
                <a:gd name="adj" fmla="val 8511"/>
              </a:avLst>
            </a:prstGeom>
            <a:solidFill>
              <a:srgbClr val="FFFFFF"/>
            </a:solidFill>
            <a:ln w="9525">
              <a:solidFill>
                <a:srgbClr val="E6D9C0"/>
              </a:solidFill>
            </a:ln>
          </p:spPr>
        </p:sp>
        <p:sp>
          <p:nvSpPr>
            <p:cNvPr id="19" name="Ellipse 19"/>
            <p:cNvSpPr/>
            <p:nvPr/>
          </p:nvSpPr>
          <p:spPr>
            <a:xfrm>
              <a:off x="2066925" y="1114425"/>
              <a:ext cx="209550" cy="209550"/>
            </a:xfrm>
            <a:prstGeom prst="ellipse">
              <a:avLst/>
            </a:prstGeom>
            <a:solidFill>
              <a:srgbClr val="A3381F"/>
            </a:solidFill>
            <a:ln>
              <a:noFill/>
            </a:ln>
          </p:spPr>
        </p:sp>
        <p:sp>
          <p:nvSpPr>
            <p:cNvPr id="20" name="TextBox 20"/>
            <p:cNvSpPr txBox="1"/>
            <p:nvPr/>
          </p:nvSpPr>
          <p:spPr>
            <a:xfrm>
              <a:off x="2142060" y="1188482"/>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a:t>
              </a:r>
            </a:p>
          </p:txBody>
        </p:sp>
        <p:grpSp>
          <p:nvGrpSpPr>
            <p:cNvPr id="24" name="Group 24"/>
            <p:cNvGrpSpPr/>
            <p:nvPr/>
          </p:nvGrpSpPr>
          <p:grpSpPr>
            <a:xfrm>
              <a:off x="2670175" y="1231106"/>
              <a:ext cx="165099" cy="185737"/>
              <a:chOff x="2670175" y="1231106"/>
              <a:chExt cx="165099" cy="185737"/>
            </a:xfrm>
          </p:grpSpPr>
          <p:sp>
            <p:nvSpPr>
              <p:cNvPr id="21" name="Freeform 21"/>
              <p:cNvSpPr/>
              <p:nvPr/>
            </p:nvSpPr>
            <p:spPr>
              <a:xfrm>
                <a:off x="2670175" y="1231106"/>
                <a:ext cx="165099" cy="61912"/>
              </a:xfrm>
              <a:custGeom>
                <a:avLst/>
                <a:gdLst/>
                <a:ahLst/>
                <a:cxnLst/>
                <a:rect l="l" t="t" r="r" b="b"/>
                <a:pathLst>
                  <a:path w="165099" h="61912">
                    <a:moveTo>
                      <a:pt x="0" y="30956"/>
                    </a:moveTo>
                    <a:cubicBezTo>
                      <a:pt x="0" y="48053"/>
                      <a:pt x="36959" y="61912"/>
                      <a:pt x="82550" y="61912"/>
                    </a:cubicBezTo>
                    <a:cubicBezTo>
                      <a:pt x="128141" y="61912"/>
                      <a:pt x="165099" y="48053"/>
                      <a:pt x="165099" y="30956"/>
                    </a:cubicBezTo>
                    <a:cubicBezTo>
                      <a:pt x="165099" y="13860"/>
                      <a:pt x="128141" y="0"/>
                      <a:pt x="82550" y="0"/>
                    </a:cubicBezTo>
                    <a:cubicBezTo>
                      <a:pt x="36959" y="0"/>
                      <a:pt x="0" y="13860"/>
                      <a:pt x="0" y="30956"/>
                    </a:cubicBezTo>
                  </a:path>
                </a:pathLst>
              </a:custGeom>
              <a:noFill/>
              <a:ln w="20637">
                <a:solidFill>
                  <a:srgbClr val="A3381F"/>
                </a:solidFill>
              </a:ln>
            </p:spPr>
          </p:sp>
          <p:sp>
            <p:nvSpPr>
              <p:cNvPr id="22" name="Freeform 22"/>
              <p:cNvSpPr/>
              <p:nvPr/>
            </p:nvSpPr>
            <p:spPr>
              <a:xfrm>
                <a:off x="2670175" y="1262062"/>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A3381F"/>
                </a:solidFill>
              </a:ln>
            </p:spPr>
          </p:sp>
          <p:sp>
            <p:nvSpPr>
              <p:cNvPr id="23" name="Freeform 23"/>
              <p:cNvSpPr/>
              <p:nvPr/>
            </p:nvSpPr>
            <p:spPr>
              <a:xfrm>
                <a:off x="2670175" y="1323975"/>
                <a:ext cx="165099" cy="92868"/>
              </a:xfrm>
              <a:custGeom>
                <a:avLst/>
                <a:gdLst/>
                <a:ahLst/>
                <a:cxnLst/>
                <a:rect l="l" t="t" r="r" b="b"/>
                <a:pathLst>
                  <a:path w="165099" h="92868">
                    <a:moveTo>
                      <a:pt x="0" y="0"/>
                    </a:moveTo>
                    <a:lnTo>
                      <a:pt x="0" y="61912"/>
                    </a:lnTo>
                    <a:cubicBezTo>
                      <a:pt x="0" y="79009"/>
                      <a:pt x="36959" y="92868"/>
                      <a:pt x="82550" y="92868"/>
                    </a:cubicBezTo>
                    <a:cubicBezTo>
                      <a:pt x="128141" y="92868"/>
                      <a:pt x="165099" y="79009"/>
                      <a:pt x="165099" y="61912"/>
                    </a:cubicBezTo>
                    <a:lnTo>
                      <a:pt x="165099" y="0"/>
                    </a:lnTo>
                  </a:path>
                </a:pathLst>
              </a:custGeom>
              <a:noFill/>
              <a:ln w="20637">
                <a:solidFill>
                  <a:srgbClr val="A3381F"/>
                </a:solidFill>
              </a:ln>
            </p:spPr>
          </p:sp>
        </p:grpSp>
        <p:sp>
          <p:nvSpPr>
            <p:cNvPr id="25" name="TextBox 25"/>
            <p:cNvSpPr txBox="1"/>
            <p:nvPr/>
          </p:nvSpPr>
          <p:spPr>
            <a:xfrm>
              <a:off x="2494877" y="1651397"/>
              <a:ext cx="515696" cy="183356"/>
            </a:xfrm>
            <a:prstGeom prst="rect">
              <a:avLst/>
            </a:prstGeom>
            <a:noFill/>
            <a:ln>
              <a:noFill/>
            </a:ln>
          </p:spPr>
          <p:txBody>
            <a:bodyPr wrap="none" lIns="0" tIns="0" rIns="0" bIns="0" anchor="t" anchorCtr="0">
              <a:spAutoFit/>
            </a:bodyPr>
            <a:lstStyle/>
            <a:p>
              <a:pPr algn="ctr"/>
              <a:r>
                <a:rPr lang="zh-CN" sz="940" b="1" dirty="0">
                  <a:solidFill>
                    <a:srgbClr val="5E3A33"/>
                  </a:solidFill>
                  <a:latin typeface="+mn-lt"/>
                  <a:ea typeface="+mn-ea"/>
                  <a:cs typeface="+mn-cs"/>
                </a:rPr>
                <a:t>数据评估</a:t>
              </a:r>
            </a:p>
          </p:txBody>
        </p:sp>
        <p:sp>
          <p:nvSpPr>
            <p:cNvPr id="26" name="Rectangle 26"/>
            <p:cNvSpPr/>
            <p:nvPr/>
          </p:nvSpPr>
          <p:spPr>
            <a:xfrm>
              <a:off x="3619500" y="1047750"/>
              <a:ext cx="1504950" cy="895350"/>
            </a:xfrm>
            <a:prstGeom prst="roundRect">
              <a:avLst>
                <a:gd name="adj" fmla="val 8511"/>
              </a:avLst>
            </a:prstGeom>
            <a:solidFill>
              <a:srgbClr val="FFFFFF"/>
            </a:solidFill>
            <a:ln w="9525">
              <a:solidFill>
                <a:srgbClr val="E6D9C0"/>
              </a:solidFill>
            </a:ln>
          </p:spPr>
        </p:sp>
        <p:sp>
          <p:nvSpPr>
            <p:cNvPr id="27" name="Ellipse 27"/>
            <p:cNvSpPr/>
            <p:nvPr/>
          </p:nvSpPr>
          <p:spPr>
            <a:xfrm>
              <a:off x="3686175" y="1114425"/>
              <a:ext cx="209550" cy="209550"/>
            </a:xfrm>
            <a:prstGeom prst="ellipse">
              <a:avLst/>
            </a:prstGeom>
            <a:solidFill>
              <a:srgbClr val="A3381F"/>
            </a:solidFill>
            <a:ln>
              <a:noFill/>
            </a:ln>
          </p:spPr>
        </p:sp>
        <p:sp>
          <p:nvSpPr>
            <p:cNvPr id="28" name="TextBox 28"/>
            <p:cNvSpPr txBox="1"/>
            <p:nvPr/>
          </p:nvSpPr>
          <p:spPr>
            <a:xfrm>
              <a:off x="3761310" y="1188482"/>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a:t>
              </a:r>
            </a:p>
          </p:txBody>
        </p:sp>
        <p:grpSp>
          <p:nvGrpSpPr>
            <p:cNvPr id="31" name="Group 31"/>
            <p:cNvGrpSpPr/>
            <p:nvPr/>
          </p:nvGrpSpPr>
          <p:grpSpPr>
            <a:xfrm>
              <a:off x="4274576" y="1226576"/>
              <a:ext cx="194797" cy="194797"/>
              <a:chOff x="4274576" y="1226576"/>
              <a:chExt cx="194797" cy="194797"/>
            </a:xfrm>
          </p:grpSpPr>
          <p:sp>
            <p:nvSpPr>
              <p:cNvPr id="29" name="Freeform 29"/>
              <p:cNvSpPr/>
              <p:nvPr/>
            </p:nvSpPr>
            <p:spPr>
              <a:xfrm>
                <a:off x="4274576" y="1226576"/>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A3381F"/>
                </a:solidFill>
              </a:ln>
            </p:spPr>
          </p:sp>
          <p:sp>
            <p:nvSpPr>
              <p:cNvPr id="30" name="Freeform 30"/>
              <p:cNvSpPr/>
              <p:nvPr/>
            </p:nvSpPr>
            <p:spPr>
              <a:xfrm>
                <a:off x="4341018" y="1293018"/>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A3381F"/>
                </a:solidFill>
              </a:ln>
            </p:spPr>
          </p:sp>
        </p:grpSp>
        <p:sp>
          <p:nvSpPr>
            <p:cNvPr id="32" name="TextBox 32"/>
            <p:cNvSpPr txBox="1"/>
            <p:nvPr/>
          </p:nvSpPr>
          <p:spPr>
            <a:xfrm>
              <a:off x="4114127" y="1651397"/>
              <a:ext cx="515696" cy="183356"/>
            </a:xfrm>
            <a:prstGeom prst="rect">
              <a:avLst/>
            </a:prstGeom>
            <a:noFill/>
            <a:ln>
              <a:noFill/>
            </a:ln>
          </p:spPr>
          <p:txBody>
            <a:bodyPr wrap="none" lIns="0" tIns="0" rIns="0" bIns="0" anchor="t" anchorCtr="0">
              <a:spAutoFit/>
            </a:bodyPr>
            <a:lstStyle/>
            <a:p>
              <a:pPr algn="ctr"/>
              <a:r>
                <a:rPr lang="zh-CN" sz="940" b="1" dirty="0">
                  <a:solidFill>
                    <a:srgbClr val="5E3A33"/>
                  </a:solidFill>
                  <a:latin typeface="+mn-lt"/>
                  <a:ea typeface="+mn-ea"/>
                  <a:cs typeface="+mn-cs"/>
                </a:rPr>
                <a:t>规则开发</a:t>
              </a:r>
            </a:p>
          </p:txBody>
        </p:sp>
        <p:sp>
          <p:nvSpPr>
            <p:cNvPr id="33" name="Rectangle 33"/>
            <p:cNvSpPr/>
            <p:nvPr/>
          </p:nvSpPr>
          <p:spPr>
            <a:xfrm>
              <a:off x="5238750" y="1047750"/>
              <a:ext cx="1504950" cy="895350"/>
            </a:xfrm>
            <a:prstGeom prst="roundRect">
              <a:avLst>
                <a:gd name="adj" fmla="val 8511"/>
              </a:avLst>
            </a:prstGeom>
            <a:solidFill>
              <a:srgbClr val="FFFFFF"/>
            </a:solidFill>
            <a:ln w="9525">
              <a:solidFill>
                <a:srgbClr val="E6D9C0"/>
              </a:solidFill>
            </a:ln>
          </p:spPr>
        </p:sp>
        <p:sp>
          <p:nvSpPr>
            <p:cNvPr id="34" name="Ellipse 34"/>
            <p:cNvSpPr/>
            <p:nvPr/>
          </p:nvSpPr>
          <p:spPr>
            <a:xfrm>
              <a:off x="5305425" y="1114425"/>
              <a:ext cx="209550" cy="209550"/>
            </a:xfrm>
            <a:prstGeom prst="ellipse">
              <a:avLst/>
            </a:prstGeom>
            <a:solidFill>
              <a:srgbClr val="A3381F"/>
            </a:solidFill>
            <a:ln>
              <a:noFill/>
            </a:ln>
          </p:spPr>
        </p:sp>
        <p:sp>
          <p:nvSpPr>
            <p:cNvPr id="35" name="TextBox 35"/>
            <p:cNvSpPr txBox="1"/>
            <p:nvPr/>
          </p:nvSpPr>
          <p:spPr>
            <a:xfrm>
              <a:off x="5380560" y="1188482"/>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4</a:t>
              </a:r>
            </a:p>
          </p:txBody>
        </p:sp>
        <p:grpSp>
          <p:nvGrpSpPr>
            <p:cNvPr id="38" name="Group 38"/>
            <p:cNvGrpSpPr/>
            <p:nvPr/>
          </p:nvGrpSpPr>
          <p:grpSpPr>
            <a:xfrm>
              <a:off x="5884431" y="1231106"/>
              <a:ext cx="201506" cy="185737"/>
              <a:chOff x="5884431" y="1231106"/>
              <a:chExt cx="201506" cy="185737"/>
            </a:xfrm>
          </p:grpSpPr>
          <p:sp>
            <p:nvSpPr>
              <p:cNvPr id="36" name="Freeform 36"/>
              <p:cNvSpPr/>
              <p:nvPr/>
            </p:nvSpPr>
            <p:spPr>
              <a:xfrm>
                <a:off x="5884431" y="123110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A3381F"/>
                </a:solidFill>
              </a:ln>
            </p:spPr>
          </p:sp>
          <p:sp>
            <p:nvSpPr>
              <p:cNvPr id="37" name="Freeform 37"/>
              <p:cNvSpPr/>
              <p:nvPr/>
            </p:nvSpPr>
            <p:spPr>
              <a:xfrm>
                <a:off x="6022181" y="1375568"/>
                <a:ext cx="61912" cy="41275"/>
              </a:xfrm>
              <a:custGeom>
                <a:avLst/>
                <a:gdLst/>
                <a:ahLst/>
                <a:cxnLst/>
                <a:rect l="l" t="t" r="r" b="b"/>
                <a:pathLst>
                  <a:path w="61912" h="41275">
                    <a:moveTo>
                      <a:pt x="0" y="20637"/>
                    </a:moveTo>
                    <a:lnTo>
                      <a:pt x="20637" y="41275"/>
                    </a:lnTo>
                    <a:lnTo>
                      <a:pt x="61912" y="0"/>
                    </a:lnTo>
                  </a:path>
                </a:pathLst>
              </a:custGeom>
              <a:noFill/>
              <a:ln w="20637">
                <a:solidFill>
                  <a:srgbClr val="A3381F"/>
                </a:solidFill>
              </a:ln>
            </p:spPr>
          </p:sp>
        </p:grpSp>
        <p:sp>
          <p:nvSpPr>
            <p:cNvPr id="39" name="TextBox 39"/>
            <p:cNvSpPr txBox="1"/>
            <p:nvPr/>
          </p:nvSpPr>
          <p:spPr>
            <a:xfrm>
              <a:off x="5733377" y="1651397"/>
              <a:ext cx="515696" cy="183356"/>
            </a:xfrm>
            <a:prstGeom prst="rect">
              <a:avLst/>
            </a:prstGeom>
            <a:noFill/>
            <a:ln>
              <a:noFill/>
            </a:ln>
          </p:spPr>
          <p:txBody>
            <a:bodyPr wrap="none" lIns="0" tIns="0" rIns="0" bIns="0" anchor="t" anchorCtr="0">
              <a:spAutoFit/>
            </a:bodyPr>
            <a:lstStyle/>
            <a:p>
              <a:pPr algn="ctr"/>
              <a:r>
                <a:rPr lang="zh-CN" sz="940" b="1" dirty="0">
                  <a:solidFill>
                    <a:srgbClr val="5E3A33"/>
                  </a:solidFill>
                  <a:latin typeface="+mn-lt"/>
                  <a:ea typeface="+mn-ea"/>
                  <a:cs typeface="+mn-cs"/>
                </a:rPr>
                <a:t>测试审批</a:t>
              </a:r>
            </a:p>
          </p:txBody>
        </p:sp>
        <p:sp>
          <p:nvSpPr>
            <p:cNvPr id="40" name="Rectangle 40"/>
            <p:cNvSpPr/>
            <p:nvPr/>
          </p:nvSpPr>
          <p:spPr>
            <a:xfrm>
              <a:off x="6858000" y="1047750"/>
              <a:ext cx="1504950" cy="895350"/>
            </a:xfrm>
            <a:prstGeom prst="roundRect">
              <a:avLst>
                <a:gd name="adj" fmla="val 8511"/>
              </a:avLst>
            </a:prstGeom>
            <a:solidFill>
              <a:srgbClr val="FFFFFF"/>
            </a:solidFill>
            <a:ln w="9525">
              <a:solidFill>
                <a:srgbClr val="E6D9C0"/>
              </a:solidFill>
            </a:ln>
          </p:spPr>
        </p:sp>
        <p:sp>
          <p:nvSpPr>
            <p:cNvPr id="41" name="Ellipse 41"/>
            <p:cNvSpPr/>
            <p:nvPr/>
          </p:nvSpPr>
          <p:spPr>
            <a:xfrm>
              <a:off x="6924675" y="1114425"/>
              <a:ext cx="209550" cy="209550"/>
            </a:xfrm>
            <a:prstGeom prst="ellipse">
              <a:avLst/>
            </a:prstGeom>
            <a:solidFill>
              <a:srgbClr val="A3381F"/>
            </a:solidFill>
            <a:ln>
              <a:noFill/>
            </a:ln>
          </p:spPr>
        </p:sp>
        <p:sp>
          <p:nvSpPr>
            <p:cNvPr id="42" name="TextBox 42"/>
            <p:cNvSpPr txBox="1"/>
            <p:nvPr/>
          </p:nvSpPr>
          <p:spPr>
            <a:xfrm>
              <a:off x="6999810" y="1188482"/>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a:t>
              </a:r>
            </a:p>
          </p:txBody>
        </p:sp>
        <p:grpSp>
          <p:nvGrpSpPr>
            <p:cNvPr id="45" name="Group 45"/>
            <p:cNvGrpSpPr/>
            <p:nvPr/>
          </p:nvGrpSpPr>
          <p:grpSpPr>
            <a:xfrm>
              <a:off x="7538244" y="1232079"/>
              <a:ext cx="144462" cy="184764"/>
              <a:chOff x="7538244" y="1232079"/>
              <a:chExt cx="144462" cy="184764"/>
            </a:xfrm>
          </p:grpSpPr>
          <p:sp>
            <p:nvSpPr>
              <p:cNvPr id="43" name="Freeform 43"/>
              <p:cNvSpPr/>
              <p:nvPr/>
            </p:nvSpPr>
            <p:spPr>
              <a:xfrm>
                <a:off x="7538244" y="1232079"/>
                <a:ext cx="144462" cy="132198"/>
              </a:xfrm>
              <a:custGeom>
                <a:avLst/>
                <a:gdLst/>
                <a:ahLst/>
                <a:cxnLst/>
                <a:rect l="l" t="t" r="r" b="b"/>
                <a:pathLst>
                  <a:path w="144462" h="132198">
                    <a:moveTo>
                      <a:pt x="0" y="19665"/>
                    </a:moveTo>
                    <a:cubicBezTo>
                      <a:pt x="20062" y="0"/>
                      <a:pt x="52169" y="0"/>
                      <a:pt x="72231" y="19665"/>
                    </a:cubicBezTo>
                    <a:cubicBezTo>
                      <a:pt x="92293" y="39329"/>
                      <a:pt x="124400" y="39329"/>
                      <a:pt x="144462" y="19665"/>
                    </a:cubicBezTo>
                    <a:lnTo>
                      <a:pt x="144462" y="112533"/>
                    </a:lnTo>
                    <a:cubicBezTo>
                      <a:pt x="124400" y="132198"/>
                      <a:pt x="92293" y="132198"/>
                      <a:pt x="72231" y="112533"/>
                    </a:cubicBezTo>
                    <a:cubicBezTo>
                      <a:pt x="52169" y="92868"/>
                      <a:pt x="20062" y="92868"/>
                      <a:pt x="0" y="112533"/>
                    </a:cubicBezTo>
                    <a:lnTo>
                      <a:pt x="0" y="19665"/>
                    </a:lnTo>
                  </a:path>
                </a:pathLst>
              </a:custGeom>
              <a:noFill/>
              <a:ln w="20637">
                <a:solidFill>
                  <a:srgbClr val="A3381F"/>
                </a:solidFill>
              </a:ln>
            </p:spPr>
          </p:sp>
          <p:sp>
            <p:nvSpPr>
              <p:cNvPr id="44" name="Freeform 44"/>
              <p:cNvSpPr/>
              <p:nvPr/>
            </p:nvSpPr>
            <p:spPr>
              <a:xfrm>
                <a:off x="7538244" y="1344612"/>
                <a:ext cx="9525" cy="72231"/>
              </a:xfrm>
              <a:custGeom>
                <a:avLst/>
                <a:gdLst/>
                <a:ahLst/>
                <a:cxnLst/>
                <a:rect l="l" t="t" r="r" b="b"/>
                <a:pathLst>
                  <a:path w="9525" h="72231">
                    <a:moveTo>
                      <a:pt x="0" y="72231"/>
                    </a:moveTo>
                    <a:lnTo>
                      <a:pt x="0" y="0"/>
                    </a:lnTo>
                  </a:path>
                </a:pathLst>
              </a:custGeom>
              <a:noFill/>
              <a:ln w="20637">
                <a:solidFill>
                  <a:srgbClr val="A3381F"/>
                </a:solidFill>
              </a:ln>
            </p:spPr>
          </p:sp>
        </p:grpSp>
        <p:sp>
          <p:nvSpPr>
            <p:cNvPr id="46" name="TextBox 46"/>
            <p:cNvSpPr txBox="1"/>
            <p:nvPr/>
          </p:nvSpPr>
          <p:spPr>
            <a:xfrm>
              <a:off x="7352627" y="1651397"/>
              <a:ext cx="515696" cy="183356"/>
            </a:xfrm>
            <a:prstGeom prst="rect">
              <a:avLst/>
            </a:prstGeom>
            <a:noFill/>
            <a:ln>
              <a:noFill/>
            </a:ln>
          </p:spPr>
          <p:txBody>
            <a:bodyPr wrap="none" lIns="0" tIns="0" rIns="0" bIns="0" anchor="t" anchorCtr="0">
              <a:spAutoFit/>
            </a:bodyPr>
            <a:lstStyle/>
            <a:p>
              <a:pPr algn="ctr"/>
              <a:r>
                <a:rPr lang="zh-CN" sz="940" b="1" dirty="0">
                  <a:solidFill>
                    <a:srgbClr val="5E3A33"/>
                  </a:solidFill>
                  <a:latin typeface="+mn-lt"/>
                  <a:ea typeface="+mn-ea"/>
                  <a:cs typeface="+mn-cs"/>
                </a:rPr>
                <a:t>发布使用</a:t>
              </a:r>
            </a:p>
          </p:txBody>
        </p:sp>
        <p:sp>
          <p:nvSpPr>
            <p:cNvPr id="47" name="Rectangle 47"/>
            <p:cNvSpPr/>
            <p:nvPr/>
          </p:nvSpPr>
          <p:spPr>
            <a:xfrm>
              <a:off x="8477250" y="1047750"/>
              <a:ext cx="1504950" cy="895350"/>
            </a:xfrm>
            <a:prstGeom prst="roundRect">
              <a:avLst>
                <a:gd name="adj" fmla="val 8511"/>
              </a:avLst>
            </a:prstGeom>
            <a:solidFill>
              <a:srgbClr val="FFFFFF"/>
            </a:solidFill>
            <a:ln w="9525">
              <a:solidFill>
                <a:srgbClr val="E6D9C0"/>
              </a:solidFill>
            </a:ln>
          </p:spPr>
        </p:sp>
        <p:sp>
          <p:nvSpPr>
            <p:cNvPr id="48" name="Ellipse 48"/>
            <p:cNvSpPr/>
            <p:nvPr/>
          </p:nvSpPr>
          <p:spPr>
            <a:xfrm>
              <a:off x="8543925" y="1114425"/>
              <a:ext cx="209550" cy="209550"/>
            </a:xfrm>
            <a:prstGeom prst="ellipse">
              <a:avLst/>
            </a:prstGeom>
            <a:solidFill>
              <a:srgbClr val="A3381F"/>
            </a:solidFill>
            <a:ln>
              <a:noFill/>
            </a:ln>
          </p:spPr>
        </p:sp>
        <p:sp>
          <p:nvSpPr>
            <p:cNvPr id="49" name="TextBox 49"/>
            <p:cNvSpPr txBox="1"/>
            <p:nvPr/>
          </p:nvSpPr>
          <p:spPr>
            <a:xfrm>
              <a:off x="8619060" y="1188482"/>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6</a:t>
              </a:r>
            </a:p>
          </p:txBody>
        </p:sp>
        <p:grpSp>
          <p:nvGrpSpPr>
            <p:cNvPr id="52" name="Group 52"/>
            <p:cNvGrpSpPr/>
            <p:nvPr/>
          </p:nvGrpSpPr>
          <p:grpSpPr>
            <a:xfrm>
              <a:off x="9147175" y="1262062"/>
              <a:ext cx="165099" cy="143669"/>
              <a:chOff x="9147175" y="1262062"/>
              <a:chExt cx="165099" cy="143669"/>
            </a:xfrm>
          </p:grpSpPr>
          <p:sp>
            <p:nvSpPr>
              <p:cNvPr id="50" name="Freeform 50"/>
              <p:cNvSpPr/>
              <p:nvPr/>
            </p:nvSpPr>
            <p:spPr>
              <a:xfrm>
                <a:off x="9147175" y="1396206"/>
                <a:ext cx="165099" cy="9525"/>
              </a:xfrm>
              <a:custGeom>
                <a:avLst/>
                <a:gdLst/>
                <a:ahLst/>
                <a:cxnLst/>
                <a:rect l="l" t="t" r="r" b="b"/>
                <a:pathLst>
                  <a:path w="165099" h="9525">
                    <a:moveTo>
                      <a:pt x="0" y="0"/>
                    </a:moveTo>
                    <a:lnTo>
                      <a:pt x="165099" y="0"/>
                    </a:lnTo>
                  </a:path>
                </a:pathLst>
              </a:custGeom>
              <a:noFill/>
              <a:ln w="20637">
                <a:solidFill>
                  <a:srgbClr val="A3381F"/>
                </a:solidFill>
              </a:ln>
            </p:spPr>
          </p:sp>
          <p:sp>
            <p:nvSpPr>
              <p:cNvPr id="51" name="Freeform 51"/>
              <p:cNvSpPr/>
              <p:nvPr/>
            </p:nvSpPr>
            <p:spPr>
              <a:xfrm>
                <a:off x="9147175" y="1262062"/>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20637">
                <a:solidFill>
                  <a:srgbClr val="A3381F"/>
                </a:solidFill>
              </a:ln>
            </p:spPr>
          </p:sp>
        </p:grpSp>
        <p:sp>
          <p:nvSpPr>
            <p:cNvPr id="53" name="TextBox 53"/>
            <p:cNvSpPr txBox="1"/>
            <p:nvPr/>
          </p:nvSpPr>
          <p:spPr>
            <a:xfrm>
              <a:off x="8971877" y="1651397"/>
              <a:ext cx="515696" cy="183356"/>
            </a:xfrm>
            <a:prstGeom prst="rect">
              <a:avLst/>
            </a:prstGeom>
            <a:noFill/>
            <a:ln>
              <a:noFill/>
            </a:ln>
          </p:spPr>
          <p:txBody>
            <a:bodyPr wrap="none" lIns="0" tIns="0" rIns="0" bIns="0" anchor="t" anchorCtr="0">
              <a:spAutoFit/>
            </a:bodyPr>
            <a:lstStyle/>
            <a:p>
              <a:pPr algn="ctr"/>
              <a:r>
                <a:rPr lang="zh-CN" sz="940" b="1" dirty="0">
                  <a:solidFill>
                    <a:srgbClr val="5E3A33"/>
                  </a:solidFill>
                  <a:latin typeface="+mn-lt"/>
                  <a:ea typeface="+mn-ea"/>
                  <a:cs typeface="+mn-cs"/>
                </a:rPr>
                <a:t>效果回溯</a:t>
              </a:r>
            </a:p>
          </p:txBody>
        </p:sp>
        <p:sp>
          <p:nvSpPr>
            <p:cNvPr id="54" name="Rectangle 54"/>
            <p:cNvSpPr/>
            <p:nvPr/>
          </p:nvSpPr>
          <p:spPr>
            <a:xfrm>
              <a:off x="10096500" y="1047750"/>
              <a:ext cx="1504950" cy="895350"/>
            </a:xfrm>
            <a:prstGeom prst="roundRect">
              <a:avLst>
                <a:gd name="adj" fmla="val 8511"/>
              </a:avLst>
            </a:prstGeom>
            <a:solidFill>
              <a:srgbClr val="FFFFFF"/>
            </a:solidFill>
            <a:ln w="9525">
              <a:solidFill>
                <a:srgbClr val="E6D9C0"/>
              </a:solidFill>
            </a:ln>
          </p:spPr>
        </p:sp>
        <p:sp>
          <p:nvSpPr>
            <p:cNvPr id="55" name="Ellipse 55"/>
            <p:cNvSpPr/>
            <p:nvPr/>
          </p:nvSpPr>
          <p:spPr>
            <a:xfrm>
              <a:off x="10163175" y="1114425"/>
              <a:ext cx="209550" cy="209550"/>
            </a:xfrm>
            <a:prstGeom prst="ellipse">
              <a:avLst/>
            </a:prstGeom>
            <a:solidFill>
              <a:srgbClr val="A3381F"/>
            </a:solidFill>
            <a:ln>
              <a:noFill/>
            </a:ln>
          </p:spPr>
        </p:sp>
        <p:sp>
          <p:nvSpPr>
            <p:cNvPr id="56" name="TextBox 56"/>
            <p:cNvSpPr txBox="1"/>
            <p:nvPr/>
          </p:nvSpPr>
          <p:spPr>
            <a:xfrm>
              <a:off x="10238310" y="1188482"/>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7</a:t>
              </a:r>
            </a:p>
          </p:txBody>
        </p:sp>
        <p:grpSp>
          <p:nvGrpSpPr>
            <p:cNvPr id="62" name="Group 62"/>
            <p:cNvGrpSpPr/>
            <p:nvPr/>
          </p:nvGrpSpPr>
          <p:grpSpPr>
            <a:xfrm>
              <a:off x="10766425" y="1231106"/>
              <a:ext cx="165099" cy="185737"/>
              <a:chOff x="10766425" y="1231106"/>
              <a:chExt cx="165099" cy="185737"/>
            </a:xfrm>
          </p:grpSpPr>
          <p:sp>
            <p:nvSpPr>
              <p:cNvPr id="57" name="Freeform 57"/>
              <p:cNvSpPr/>
              <p:nvPr/>
            </p:nvSpPr>
            <p:spPr>
              <a:xfrm>
                <a:off x="10766425" y="1272381"/>
                <a:ext cx="165099" cy="9525"/>
              </a:xfrm>
              <a:custGeom>
                <a:avLst/>
                <a:gdLst/>
                <a:ahLst/>
                <a:cxnLst/>
                <a:rect l="l" t="t" r="r" b="b"/>
                <a:pathLst>
                  <a:path w="165099" h="9525">
                    <a:moveTo>
                      <a:pt x="0" y="0"/>
                    </a:moveTo>
                    <a:lnTo>
                      <a:pt x="165099" y="0"/>
                    </a:lnTo>
                  </a:path>
                </a:pathLst>
              </a:custGeom>
              <a:noFill/>
              <a:ln w="20637">
                <a:solidFill>
                  <a:srgbClr val="A3381F"/>
                </a:solidFill>
              </a:ln>
            </p:spPr>
          </p:sp>
          <p:sp>
            <p:nvSpPr>
              <p:cNvPr id="58" name="Freeform 58"/>
              <p:cNvSpPr/>
              <p:nvPr/>
            </p:nvSpPr>
            <p:spPr>
              <a:xfrm>
                <a:off x="10828337" y="1313656"/>
                <a:ext cx="9525" cy="61912"/>
              </a:xfrm>
              <a:custGeom>
                <a:avLst/>
                <a:gdLst/>
                <a:ahLst/>
                <a:cxnLst/>
                <a:rect l="l" t="t" r="r" b="b"/>
                <a:pathLst>
                  <a:path w="9525" h="61912">
                    <a:moveTo>
                      <a:pt x="0" y="0"/>
                    </a:moveTo>
                    <a:lnTo>
                      <a:pt x="0" y="61912"/>
                    </a:lnTo>
                  </a:path>
                </a:pathLst>
              </a:custGeom>
              <a:noFill/>
              <a:ln w="20637">
                <a:solidFill>
                  <a:srgbClr val="A3381F"/>
                </a:solidFill>
              </a:ln>
            </p:spPr>
          </p:sp>
          <p:sp>
            <p:nvSpPr>
              <p:cNvPr id="59" name="Freeform 59"/>
              <p:cNvSpPr/>
              <p:nvPr/>
            </p:nvSpPr>
            <p:spPr>
              <a:xfrm>
                <a:off x="10869612" y="1313656"/>
                <a:ext cx="9525" cy="61912"/>
              </a:xfrm>
              <a:custGeom>
                <a:avLst/>
                <a:gdLst/>
                <a:ahLst/>
                <a:cxnLst/>
                <a:rect l="l" t="t" r="r" b="b"/>
                <a:pathLst>
                  <a:path w="9525" h="61912">
                    <a:moveTo>
                      <a:pt x="0" y="0"/>
                    </a:moveTo>
                    <a:lnTo>
                      <a:pt x="0" y="61912"/>
                    </a:lnTo>
                  </a:path>
                </a:pathLst>
              </a:custGeom>
              <a:noFill/>
              <a:ln w="20637">
                <a:solidFill>
                  <a:srgbClr val="A3381F"/>
                </a:solidFill>
              </a:ln>
            </p:spPr>
          </p:sp>
          <p:sp>
            <p:nvSpPr>
              <p:cNvPr id="60" name="Freeform 60"/>
              <p:cNvSpPr/>
              <p:nvPr/>
            </p:nvSpPr>
            <p:spPr>
              <a:xfrm>
                <a:off x="10776744" y="1272381"/>
                <a:ext cx="144462" cy="144462"/>
              </a:xfrm>
              <a:custGeom>
                <a:avLst/>
                <a:gdLst/>
                <a:ahLst/>
                <a:cxnLst/>
                <a:rect l="l" t="t" r="r" b="b"/>
                <a:pathLst>
                  <a:path w="144462" h="144462">
                    <a:moveTo>
                      <a:pt x="0" y="0"/>
                    </a:moveTo>
                    <a:lnTo>
                      <a:pt x="10319" y="123825"/>
                    </a:lnTo>
                    <a:cubicBezTo>
                      <a:pt x="10319" y="135222"/>
                      <a:pt x="19558" y="144462"/>
                      <a:pt x="30956" y="144462"/>
                    </a:cubicBezTo>
                    <a:lnTo>
                      <a:pt x="113506" y="144462"/>
                    </a:lnTo>
                    <a:cubicBezTo>
                      <a:pt x="124904" y="144462"/>
                      <a:pt x="134143" y="135222"/>
                      <a:pt x="134143" y="123825"/>
                    </a:cubicBezTo>
                    <a:lnTo>
                      <a:pt x="144462" y="0"/>
                    </a:lnTo>
                  </a:path>
                </a:pathLst>
              </a:custGeom>
              <a:noFill/>
              <a:ln w="20637">
                <a:solidFill>
                  <a:srgbClr val="A3381F"/>
                </a:solidFill>
              </a:ln>
            </p:spPr>
          </p:sp>
          <p:sp>
            <p:nvSpPr>
              <p:cNvPr id="61" name="Freeform 61"/>
              <p:cNvSpPr/>
              <p:nvPr/>
            </p:nvSpPr>
            <p:spPr>
              <a:xfrm>
                <a:off x="10818018" y="1231106"/>
                <a:ext cx="61912" cy="41275"/>
              </a:xfrm>
              <a:custGeom>
                <a:avLst/>
                <a:gdLst/>
                <a:ahLst/>
                <a:cxnLst/>
                <a:rect l="l" t="t" r="r" b="b"/>
                <a:pathLst>
                  <a:path w="61912" h="41275">
                    <a:moveTo>
                      <a:pt x="0" y="41275"/>
                    </a:moveTo>
                    <a:lnTo>
                      <a:pt x="0" y="10319"/>
                    </a:lnTo>
                    <a:cubicBezTo>
                      <a:pt x="0" y="4620"/>
                      <a:pt x="4620" y="0"/>
                      <a:pt x="10319" y="0"/>
                    </a:cubicBezTo>
                    <a:lnTo>
                      <a:pt x="51594" y="0"/>
                    </a:lnTo>
                    <a:cubicBezTo>
                      <a:pt x="57292" y="0"/>
                      <a:pt x="61912" y="4620"/>
                      <a:pt x="61912" y="10319"/>
                    </a:cubicBezTo>
                    <a:lnTo>
                      <a:pt x="61912" y="41275"/>
                    </a:lnTo>
                  </a:path>
                </a:pathLst>
              </a:custGeom>
              <a:noFill/>
              <a:ln w="20637">
                <a:solidFill>
                  <a:srgbClr val="A3381F"/>
                </a:solidFill>
              </a:ln>
            </p:spPr>
          </p:sp>
        </p:grpSp>
        <p:sp>
          <p:nvSpPr>
            <p:cNvPr id="63" name="TextBox 63"/>
            <p:cNvSpPr txBox="1"/>
            <p:nvPr/>
          </p:nvSpPr>
          <p:spPr>
            <a:xfrm>
              <a:off x="10591127" y="1651397"/>
              <a:ext cx="515696" cy="183356"/>
            </a:xfrm>
            <a:prstGeom prst="rect">
              <a:avLst/>
            </a:prstGeom>
            <a:noFill/>
            <a:ln>
              <a:noFill/>
            </a:ln>
          </p:spPr>
          <p:txBody>
            <a:bodyPr wrap="none" lIns="0" tIns="0" rIns="0" bIns="0" anchor="t" anchorCtr="0">
              <a:spAutoFit/>
            </a:bodyPr>
            <a:lstStyle/>
            <a:p>
              <a:pPr algn="ctr"/>
              <a:r>
                <a:rPr lang="zh-CN" sz="940" b="1" dirty="0">
                  <a:solidFill>
                    <a:srgbClr val="5E3A33"/>
                  </a:solidFill>
                  <a:latin typeface="+mn-lt"/>
                  <a:ea typeface="+mn-ea"/>
                  <a:cs typeface="+mn-cs"/>
                </a:rPr>
                <a:t>停用归档</a:t>
              </a:r>
            </a:p>
          </p:txBody>
        </p:sp>
      </p:grpSp>
      <p:sp>
        <p:nvSpPr>
          <p:cNvPr id="65" name="Freeform 65"/>
          <p:cNvSpPr/>
          <p:nvPr/>
        </p:nvSpPr>
        <p:spPr>
          <a:xfrm>
            <a:off x="1895475" y="1333500"/>
            <a:ext cx="95250" cy="247650"/>
          </a:xfrm>
          <a:prstGeom prst="chevron">
            <a:avLst/>
          </a:prstGeom>
          <a:solidFill>
            <a:srgbClr val="C26D5E"/>
          </a:solidFill>
          <a:ln>
            <a:noFill/>
          </a:ln>
        </p:spPr>
      </p:sp>
      <p:sp>
        <p:nvSpPr>
          <p:cNvPr id="66" name="Freeform 66"/>
          <p:cNvSpPr/>
          <p:nvPr/>
        </p:nvSpPr>
        <p:spPr>
          <a:xfrm>
            <a:off x="3514725" y="1333500"/>
            <a:ext cx="95250" cy="247650"/>
          </a:xfrm>
          <a:prstGeom prst="chevron">
            <a:avLst/>
          </a:prstGeom>
          <a:solidFill>
            <a:srgbClr val="C26D5E"/>
          </a:solidFill>
          <a:ln>
            <a:noFill/>
          </a:ln>
        </p:spPr>
      </p:sp>
      <p:sp>
        <p:nvSpPr>
          <p:cNvPr id="67" name="Freeform 67"/>
          <p:cNvSpPr/>
          <p:nvPr/>
        </p:nvSpPr>
        <p:spPr>
          <a:xfrm>
            <a:off x="5133975" y="1333500"/>
            <a:ext cx="95250" cy="247650"/>
          </a:xfrm>
          <a:prstGeom prst="chevron">
            <a:avLst/>
          </a:prstGeom>
          <a:solidFill>
            <a:srgbClr val="C26D5E"/>
          </a:solidFill>
          <a:ln>
            <a:noFill/>
          </a:ln>
        </p:spPr>
      </p:sp>
      <p:sp>
        <p:nvSpPr>
          <p:cNvPr id="68" name="Freeform 68"/>
          <p:cNvSpPr/>
          <p:nvPr/>
        </p:nvSpPr>
        <p:spPr>
          <a:xfrm>
            <a:off x="6753225" y="1333500"/>
            <a:ext cx="95250" cy="247650"/>
          </a:xfrm>
          <a:prstGeom prst="chevron">
            <a:avLst/>
          </a:prstGeom>
          <a:solidFill>
            <a:srgbClr val="C26D5E"/>
          </a:solidFill>
          <a:ln>
            <a:noFill/>
          </a:ln>
        </p:spPr>
      </p:sp>
      <p:sp>
        <p:nvSpPr>
          <p:cNvPr id="69" name="Freeform 69"/>
          <p:cNvSpPr/>
          <p:nvPr/>
        </p:nvSpPr>
        <p:spPr>
          <a:xfrm>
            <a:off x="8372475" y="1333500"/>
            <a:ext cx="95250" cy="247650"/>
          </a:xfrm>
          <a:prstGeom prst="chevron">
            <a:avLst/>
          </a:prstGeom>
          <a:solidFill>
            <a:srgbClr val="C26D5E"/>
          </a:solidFill>
          <a:ln>
            <a:noFill/>
          </a:ln>
        </p:spPr>
      </p:sp>
      <p:sp>
        <p:nvSpPr>
          <p:cNvPr id="70" name="Freeform 70"/>
          <p:cNvSpPr/>
          <p:nvPr/>
        </p:nvSpPr>
        <p:spPr>
          <a:xfrm>
            <a:off x="9991725" y="1333500"/>
            <a:ext cx="95250" cy="247650"/>
          </a:xfrm>
          <a:prstGeom prst="chevron">
            <a:avLst/>
          </a:prstGeom>
          <a:solidFill>
            <a:srgbClr val="C26D5E"/>
          </a:solidFill>
          <a:ln>
            <a:noFill/>
          </a:ln>
        </p:spPr>
      </p:sp>
      <p:grpSp>
        <p:nvGrpSpPr>
          <p:cNvPr id="144" name="nine-factors"/>
          <p:cNvGrpSpPr/>
          <p:nvPr/>
        </p:nvGrpSpPr>
        <p:grpSpPr>
          <a:xfrm>
            <a:off x="381000" y="2161699"/>
            <a:ext cx="7239000" cy="2315051"/>
            <a:chOff x="381000" y="2161699"/>
            <a:chExt cx="7239000" cy="2315051"/>
          </a:xfrm>
        </p:grpSpPr>
        <p:sp>
          <p:nvSpPr>
            <p:cNvPr id="71" name="TextBox 71"/>
            <p:cNvSpPr txBox="1"/>
            <p:nvPr/>
          </p:nvSpPr>
          <p:spPr>
            <a:xfrm>
              <a:off x="3533800" y="2161699"/>
              <a:ext cx="933399" cy="190690"/>
            </a:xfrm>
            <a:prstGeom prst="rect">
              <a:avLst/>
            </a:prstGeom>
            <a:noFill/>
            <a:ln>
              <a:noFill/>
            </a:ln>
          </p:spPr>
          <p:txBody>
            <a:bodyPr wrap="none" lIns="0" tIns="0" rIns="0" bIns="0" anchor="t" anchorCtr="0">
              <a:spAutoFit/>
            </a:bodyPr>
            <a:lstStyle/>
            <a:p>
              <a:pPr algn="ctr"/>
              <a:r>
                <a:rPr lang="zh-CN" sz="980" b="1" dirty="0">
                  <a:solidFill>
                    <a:srgbClr val="A3381F"/>
                  </a:solidFill>
                  <a:latin typeface="+mn-lt"/>
                  <a:ea typeface="+mn-ea"/>
                  <a:cs typeface="+mn-cs"/>
                </a:rPr>
                <a:t>标签治理九要素</a:t>
              </a:r>
            </a:p>
          </p:txBody>
        </p:sp>
        <p:sp>
          <p:nvSpPr>
            <p:cNvPr id="72" name="Rectangle 72"/>
            <p:cNvSpPr/>
            <p:nvPr/>
          </p:nvSpPr>
          <p:spPr>
            <a:xfrm>
              <a:off x="381000" y="2343150"/>
              <a:ext cx="2343150" cy="685800"/>
            </a:xfrm>
            <a:prstGeom prst="roundRect">
              <a:avLst>
                <a:gd name="adj" fmla="val 11111"/>
              </a:avLst>
            </a:prstGeom>
            <a:solidFill>
              <a:srgbClr val="FFFFFF"/>
            </a:solidFill>
            <a:ln w="9525">
              <a:solidFill>
                <a:srgbClr val="E6D9C0"/>
              </a:solidFill>
            </a:ln>
          </p:spPr>
        </p:sp>
        <p:sp>
          <p:nvSpPr>
            <p:cNvPr id="73" name="Ellipse 73"/>
            <p:cNvSpPr/>
            <p:nvPr/>
          </p:nvSpPr>
          <p:spPr>
            <a:xfrm>
              <a:off x="476250" y="2438400"/>
              <a:ext cx="304800" cy="304800"/>
            </a:xfrm>
            <a:prstGeom prst="ellipse">
              <a:avLst/>
            </a:prstGeom>
            <a:solidFill>
              <a:srgbClr val="C26D5E"/>
            </a:solidFill>
            <a:ln>
              <a:noFill/>
            </a:ln>
          </p:spPr>
        </p:sp>
        <p:grpSp>
          <p:nvGrpSpPr>
            <p:cNvPr id="77" name="Group 77"/>
            <p:cNvGrpSpPr/>
            <p:nvPr/>
          </p:nvGrpSpPr>
          <p:grpSpPr>
            <a:xfrm>
              <a:off x="564356" y="2526506"/>
              <a:ext cx="128588" cy="128588"/>
              <a:chOff x="564356" y="2526506"/>
              <a:chExt cx="128588" cy="128588"/>
            </a:xfrm>
          </p:grpSpPr>
          <p:sp>
            <p:nvSpPr>
              <p:cNvPr id="74" name="Freeform 74"/>
              <p:cNvSpPr/>
              <p:nvPr/>
            </p:nvSpPr>
            <p:spPr>
              <a:xfrm>
                <a:off x="621506" y="25836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75" name="Freeform 75"/>
              <p:cNvSpPr/>
              <p:nvPr/>
            </p:nvSpPr>
            <p:spPr>
              <a:xfrm>
                <a:off x="592931" y="25550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76" name="Freeform 76"/>
              <p:cNvSpPr/>
              <p:nvPr/>
            </p:nvSpPr>
            <p:spPr>
              <a:xfrm>
                <a:off x="564356" y="25265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78" name="TextBox 78"/>
            <p:cNvSpPr txBox="1"/>
            <p:nvPr/>
          </p:nvSpPr>
          <p:spPr>
            <a:xfrm>
              <a:off x="871538" y="245959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业务定义</a:t>
              </a:r>
            </a:p>
          </p:txBody>
        </p:sp>
        <p:sp>
          <p:nvSpPr>
            <p:cNvPr id="79" name="TextBox 79"/>
            <p:cNvSpPr txBox="1"/>
            <p:nvPr/>
          </p:nvSpPr>
          <p:spPr>
            <a:xfrm>
              <a:off x="871538" y="2655332"/>
              <a:ext cx="7410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B6B6B"/>
                  </a:solidFill>
                  <a:latin typeface="+mn-lt"/>
                  <a:ea typeface="+mn-ea"/>
                  <a:cs typeface="+mn-cs"/>
                </a:rPr>
                <a:t>明确标签业务含义与</a:t>
              </a:r>
              <a:br/>
              <a:r>
                <a:rPr lang="zh-CN" sz="640" dirty="0">
                  <a:solidFill>
                    <a:srgbClr val="6B6B6B"/>
                  </a:solidFill>
                  <a:latin typeface="+mn-lt"/>
                  <a:ea typeface="+mn-ea"/>
                  <a:cs typeface="+mn-cs"/>
                </a:rPr>
                <a:t>业务目标与价值</a:t>
              </a:r>
            </a:p>
          </p:txBody>
        </p:sp>
        <p:sp>
          <p:nvSpPr>
            <p:cNvPr id="80" name="Rectangle 80"/>
            <p:cNvSpPr/>
            <p:nvPr/>
          </p:nvSpPr>
          <p:spPr>
            <a:xfrm>
              <a:off x="2828925" y="2343150"/>
              <a:ext cx="2343150" cy="685800"/>
            </a:xfrm>
            <a:prstGeom prst="roundRect">
              <a:avLst>
                <a:gd name="adj" fmla="val 11111"/>
              </a:avLst>
            </a:prstGeom>
            <a:solidFill>
              <a:srgbClr val="FFFFFF"/>
            </a:solidFill>
            <a:ln w="9525">
              <a:solidFill>
                <a:srgbClr val="E6D9C0"/>
              </a:solidFill>
            </a:ln>
          </p:spPr>
        </p:sp>
        <p:sp>
          <p:nvSpPr>
            <p:cNvPr id="81" name="Ellipse 81"/>
            <p:cNvSpPr/>
            <p:nvPr/>
          </p:nvSpPr>
          <p:spPr>
            <a:xfrm>
              <a:off x="2924175" y="2438400"/>
              <a:ext cx="304800" cy="304800"/>
            </a:xfrm>
            <a:prstGeom prst="ellipse">
              <a:avLst/>
            </a:prstGeom>
            <a:solidFill>
              <a:srgbClr val="C26D5E"/>
            </a:solidFill>
            <a:ln>
              <a:noFill/>
            </a:ln>
          </p:spPr>
        </p:sp>
        <p:grpSp>
          <p:nvGrpSpPr>
            <p:cNvPr id="85" name="Group 85"/>
            <p:cNvGrpSpPr/>
            <p:nvPr/>
          </p:nvGrpSpPr>
          <p:grpSpPr>
            <a:xfrm>
              <a:off x="3019425" y="2526506"/>
              <a:ext cx="114300" cy="128588"/>
              <a:chOff x="3019425" y="2526506"/>
              <a:chExt cx="114300" cy="128588"/>
            </a:xfrm>
          </p:grpSpPr>
          <p:sp>
            <p:nvSpPr>
              <p:cNvPr id="82" name="Freeform 82"/>
              <p:cNvSpPr/>
              <p:nvPr/>
            </p:nvSpPr>
            <p:spPr>
              <a:xfrm>
                <a:off x="3019425" y="252650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83" name="Freeform 83"/>
              <p:cNvSpPr/>
              <p:nvPr/>
            </p:nvSpPr>
            <p:spPr>
              <a:xfrm>
                <a:off x="3019425" y="254793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84" name="Freeform 84"/>
              <p:cNvSpPr/>
              <p:nvPr/>
            </p:nvSpPr>
            <p:spPr>
              <a:xfrm>
                <a:off x="3019425" y="259080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sp>
          <p:nvSpPr>
            <p:cNvPr id="86" name="TextBox 86"/>
            <p:cNvSpPr txBox="1"/>
            <p:nvPr/>
          </p:nvSpPr>
          <p:spPr>
            <a:xfrm>
              <a:off x="3319462" y="245959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数据来源</a:t>
              </a:r>
            </a:p>
          </p:txBody>
        </p:sp>
        <p:sp>
          <p:nvSpPr>
            <p:cNvPr id="87" name="TextBox 87"/>
            <p:cNvSpPr txBox="1"/>
            <p:nvPr/>
          </p:nvSpPr>
          <p:spPr>
            <a:xfrm>
              <a:off x="3319462" y="2655332"/>
              <a:ext cx="7410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B6B6B"/>
                  </a:solidFill>
                  <a:latin typeface="+mn-lt"/>
                  <a:ea typeface="+mn-ea"/>
                  <a:cs typeface="+mn-cs"/>
                </a:rPr>
                <a:t>明确数据源系统、表</a:t>
              </a:r>
              <a:br/>
              <a:r>
                <a:rPr lang="zh-CN" sz="640" dirty="0">
                  <a:solidFill>
                    <a:srgbClr val="6B6B6B"/>
                  </a:solidFill>
                  <a:latin typeface="+mn-lt"/>
                  <a:ea typeface="+mn-ea"/>
                  <a:cs typeface="+mn-cs"/>
                </a:rPr>
                <a:t>及字段来源</a:t>
              </a:r>
            </a:p>
          </p:txBody>
        </p:sp>
        <p:sp>
          <p:nvSpPr>
            <p:cNvPr id="88" name="Rectangle 88"/>
            <p:cNvSpPr/>
            <p:nvPr/>
          </p:nvSpPr>
          <p:spPr>
            <a:xfrm>
              <a:off x="5276850" y="2343150"/>
              <a:ext cx="2343150" cy="685800"/>
            </a:xfrm>
            <a:prstGeom prst="roundRect">
              <a:avLst>
                <a:gd name="adj" fmla="val 11111"/>
              </a:avLst>
            </a:prstGeom>
            <a:solidFill>
              <a:srgbClr val="FFFFFF"/>
            </a:solidFill>
            <a:ln w="9525">
              <a:solidFill>
                <a:srgbClr val="E6D9C0"/>
              </a:solidFill>
            </a:ln>
          </p:spPr>
        </p:sp>
        <p:sp>
          <p:nvSpPr>
            <p:cNvPr id="89" name="Ellipse 89"/>
            <p:cNvSpPr/>
            <p:nvPr/>
          </p:nvSpPr>
          <p:spPr>
            <a:xfrm>
              <a:off x="5372100" y="2438400"/>
              <a:ext cx="304800" cy="304800"/>
            </a:xfrm>
            <a:prstGeom prst="ellipse">
              <a:avLst/>
            </a:prstGeom>
            <a:solidFill>
              <a:srgbClr val="C26D5E"/>
            </a:solidFill>
            <a:ln>
              <a:noFill/>
            </a:ln>
          </p:spPr>
        </p:sp>
        <p:sp>
          <p:nvSpPr>
            <p:cNvPr id="90" name="Freeform 90"/>
            <p:cNvSpPr/>
            <p:nvPr/>
          </p:nvSpPr>
          <p:spPr>
            <a:xfrm>
              <a:off x="5467350" y="2533650"/>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FFFFFF"/>
              </a:solidFill>
            </a:ln>
          </p:spPr>
        </p:sp>
        <p:sp>
          <p:nvSpPr>
            <p:cNvPr id="91" name="TextBox 91"/>
            <p:cNvSpPr txBox="1"/>
            <p:nvPr/>
          </p:nvSpPr>
          <p:spPr>
            <a:xfrm>
              <a:off x="5767388" y="245959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计算口径</a:t>
              </a:r>
            </a:p>
          </p:txBody>
        </p:sp>
        <p:sp>
          <p:nvSpPr>
            <p:cNvPr id="92" name="TextBox 92"/>
            <p:cNvSpPr txBox="1"/>
            <p:nvPr/>
          </p:nvSpPr>
          <p:spPr>
            <a:xfrm>
              <a:off x="5767388" y="2655332"/>
              <a:ext cx="82232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B6B6B"/>
                  </a:solidFill>
                  <a:latin typeface="+mn-lt"/>
                  <a:ea typeface="+mn-ea"/>
                  <a:cs typeface="+mn-cs"/>
                </a:rPr>
                <a:t>明确计算逻辑、算子、</a:t>
              </a:r>
              <a:br/>
              <a:r>
                <a:rPr lang="zh-CN" sz="640" dirty="0">
                  <a:solidFill>
                    <a:srgbClr val="6B6B6B"/>
                  </a:solidFill>
                  <a:latin typeface="+mn-lt"/>
                  <a:ea typeface="+mn-ea"/>
                  <a:cs typeface="+mn-cs"/>
                </a:rPr>
                <a:t>过滤条件与规则</a:t>
              </a:r>
            </a:p>
          </p:txBody>
        </p:sp>
        <p:sp>
          <p:nvSpPr>
            <p:cNvPr id="93" name="Rectangle 93"/>
            <p:cNvSpPr/>
            <p:nvPr/>
          </p:nvSpPr>
          <p:spPr>
            <a:xfrm>
              <a:off x="381000" y="3067050"/>
              <a:ext cx="2343150" cy="685800"/>
            </a:xfrm>
            <a:prstGeom prst="roundRect">
              <a:avLst>
                <a:gd name="adj" fmla="val 11111"/>
              </a:avLst>
            </a:prstGeom>
            <a:solidFill>
              <a:srgbClr val="FFFFFF"/>
            </a:solidFill>
            <a:ln w="9525">
              <a:solidFill>
                <a:srgbClr val="E6D9C0"/>
              </a:solidFill>
            </a:ln>
          </p:spPr>
        </p:sp>
        <p:sp>
          <p:nvSpPr>
            <p:cNvPr id="94" name="Ellipse 94"/>
            <p:cNvSpPr/>
            <p:nvPr/>
          </p:nvSpPr>
          <p:spPr>
            <a:xfrm>
              <a:off x="476250" y="3162300"/>
              <a:ext cx="304800" cy="304800"/>
            </a:xfrm>
            <a:prstGeom prst="ellipse">
              <a:avLst/>
            </a:prstGeom>
            <a:solidFill>
              <a:srgbClr val="C26D5E"/>
            </a:solidFill>
            <a:ln>
              <a:noFill/>
            </a:ln>
          </p:spPr>
        </p:sp>
        <p:grpSp>
          <p:nvGrpSpPr>
            <p:cNvPr id="97" name="Group 97"/>
            <p:cNvGrpSpPr/>
            <p:nvPr/>
          </p:nvGrpSpPr>
          <p:grpSpPr>
            <a:xfrm>
              <a:off x="564356" y="3250406"/>
              <a:ext cx="128588" cy="128588"/>
              <a:chOff x="564356" y="3250406"/>
              <a:chExt cx="128588" cy="128588"/>
            </a:xfrm>
          </p:grpSpPr>
          <p:sp>
            <p:nvSpPr>
              <p:cNvPr id="95" name="Freeform 95"/>
              <p:cNvSpPr/>
              <p:nvPr/>
            </p:nvSpPr>
            <p:spPr>
              <a:xfrm>
                <a:off x="564356" y="32504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sp>
            <p:nvSpPr>
              <p:cNvPr id="96" name="Freeform 96"/>
              <p:cNvSpPr/>
              <p:nvPr/>
            </p:nvSpPr>
            <p:spPr>
              <a:xfrm>
                <a:off x="628650" y="3278981"/>
                <a:ext cx="21431" cy="57150"/>
              </a:xfrm>
              <a:custGeom>
                <a:avLst/>
                <a:gdLst/>
                <a:ahLst/>
                <a:cxnLst/>
                <a:rect l="l" t="t" r="r" b="b"/>
                <a:pathLst>
                  <a:path w="21431" h="57150">
                    <a:moveTo>
                      <a:pt x="0" y="0"/>
                    </a:moveTo>
                    <a:lnTo>
                      <a:pt x="0" y="35719"/>
                    </a:lnTo>
                    <a:lnTo>
                      <a:pt x="21431" y="57150"/>
                    </a:lnTo>
                  </a:path>
                </a:pathLst>
              </a:custGeom>
              <a:noFill/>
              <a:ln w="14288">
                <a:solidFill>
                  <a:srgbClr val="FFFFFF"/>
                </a:solidFill>
              </a:ln>
            </p:spPr>
          </p:sp>
        </p:grpSp>
        <p:sp>
          <p:nvSpPr>
            <p:cNvPr id="98" name="TextBox 98"/>
            <p:cNvSpPr txBox="1"/>
            <p:nvPr/>
          </p:nvSpPr>
          <p:spPr>
            <a:xfrm>
              <a:off x="871538" y="318349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更新频率</a:t>
              </a:r>
            </a:p>
          </p:txBody>
        </p:sp>
        <p:sp>
          <p:nvSpPr>
            <p:cNvPr id="99" name="TextBox 99"/>
            <p:cNvSpPr txBox="1"/>
            <p:nvPr/>
          </p:nvSpPr>
          <p:spPr>
            <a:xfrm>
              <a:off x="871538" y="3379232"/>
              <a:ext cx="7410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B6B6B"/>
                  </a:solidFill>
                  <a:latin typeface="+mn-lt"/>
                  <a:ea typeface="+mn-ea"/>
                  <a:cs typeface="+mn-cs"/>
                </a:rPr>
                <a:t>明确标签刷新周期与</a:t>
              </a:r>
              <a:br/>
              <a:r>
                <a:rPr lang="zh-CN" sz="640" dirty="0">
                  <a:solidFill>
                    <a:srgbClr val="6B6B6B"/>
                  </a:solidFill>
                  <a:latin typeface="+mn-lt"/>
                  <a:ea typeface="+mn-ea"/>
                  <a:cs typeface="+mn-cs"/>
                </a:rPr>
                <a:t>更新时间点</a:t>
              </a:r>
            </a:p>
          </p:txBody>
        </p:sp>
        <p:sp>
          <p:nvSpPr>
            <p:cNvPr id="100" name="Rectangle 100"/>
            <p:cNvSpPr/>
            <p:nvPr/>
          </p:nvSpPr>
          <p:spPr>
            <a:xfrm>
              <a:off x="2828925" y="3067050"/>
              <a:ext cx="2343150" cy="685800"/>
            </a:xfrm>
            <a:prstGeom prst="roundRect">
              <a:avLst>
                <a:gd name="adj" fmla="val 11111"/>
              </a:avLst>
            </a:prstGeom>
            <a:solidFill>
              <a:srgbClr val="FFFFFF"/>
            </a:solidFill>
            <a:ln w="9525">
              <a:solidFill>
                <a:srgbClr val="E6D9C0"/>
              </a:solidFill>
            </a:ln>
          </p:spPr>
        </p:sp>
        <p:sp>
          <p:nvSpPr>
            <p:cNvPr id="101" name="Ellipse 101"/>
            <p:cNvSpPr/>
            <p:nvPr/>
          </p:nvSpPr>
          <p:spPr>
            <a:xfrm>
              <a:off x="2924175" y="3162300"/>
              <a:ext cx="304800" cy="304800"/>
            </a:xfrm>
            <a:prstGeom prst="ellipse">
              <a:avLst/>
            </a:prstGeom>
            <a:solidFill>
              <a:srgbClr val="C26D5E"/>
            </a:solidFill>
            <a:ln>
              <a:noFill/>
            </a:ln>
          </p:spPr>
        </p:sp>
        <p:grpSp>
          <p:nvGrpSpPr>
            <p:cNvPr id="106" name="Group 106"/>
            <p:cNvGrpSpPr/>
            <p:nvPr/>
          </p:nvGrpSpPr>
          <p:grpSpPr>
            <a:xfrm>
              <a:off x="3012281" y="3250406"/>
              <a:ext cx="128588" cy="128588"/>
              <a:chOff x="3012281" y="3250406"/>
              <a:chExt cx="128588" cy="128588"/>
            </a:xfrm>
          </p:grpSpPr>
          <p:sp>
            <p:nvSpPr>
              <p:cNvPr id="102" name="Freeform 102"/>
              <p:cNvSpPr/>
              <p:nvPr/>
            </p:nvSpPr>
            <p:spPr>
              <a:xfrm>
                <a:off x="3026569" y="32504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03" name="Freeform 103"/>
              <p:cNvSpPr/>
              <p:nvPr/>
            </p:nvSpPr>
            <p:spPr>
              <a:xfrm>
                <a:off x="3012281" y="33361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104" name="Freeform 104"/>
              <p:cNvSpPr/>
              <p:nvPr/>
            </p:nvSpPr>
            <p:spPr>
              <a:xfrm>
                <a:off x="3105150" y="32513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105" name="Freeform 105"/>
              <p:cNvSpPr/>
              <p:nvPr/>
            </p:nvSpPr>
            <p:spPr>
              <a:xfrm>
                <a:off x="3119438" y="33372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107" name="TextBox 107"/>
            <p:cNvSpPr txBox="1"/>
            <p:nvPr/>
          </p:nvSpPr>
          <p:spPr>
            <a:xfrm>
              <a:off x="3319462" y="318349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责任部门</a:t>
              </a:r>
            </a:p>
          </p:txBody>
        </p:sp>
        <p:sp>
          <p:nvSpPr>
            <p:cNvPr id="108" name="TextBox 108"/>
            <p:cNvSpPr txBox="1"/>
            <p:nvPr/>
          </p:nvSpPr>
          <p:spPr>
            <a:xfrm>
              <a:off x="3319462" y="3379232"/>
              <a:ext cx="1317873"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 xml:space="preserve">明确数据Owner及协同配合部门　</a:t>
              </a:r>
            </a:p>
          </p:txBody>
        </p:sp>
        <p:sp>
          <p:nvSpPr>
            <p:cNvPr id="109" name="Rectangle 109"/>
            <p:cNvSpPr/>
            <p:nvPr/>
          </p:nvSpPr>
          <p:spPr>
            <a:xfrm>
              <a:off x="5276850" y="3067050"/>
              <a:ext cx="2343150" cy="685800"/>
            </a:xfrm>
            <a:prstGeom prst="roundRect">
              <a:avLst>
                <a:gd name="adj" fmla="val 11111"/>
              </a:avLst>
            </a:prstGeom>
            <a:solidFill>
              <a:srgbClr val="FFFFFF"/>
            </a:solidFill>
            <a:ln w="9525">
              <a:solidFill>
                <a:srgbClr val="E6D9C0"/>
              </a:solidFill>
            </a:ln>
          </p:spPr>
        </p:sp>
        <p:sp>
          <p:nvSpPr>
            <p:cNvPr id="110" name="Ellipse 110"/>
            <p:cNvSpPr/>
            <p:nvPr/>
          </p:nvSpPr>
          <p:spPr>
            <a:xfrm>
              <a:off x="5372100" y="3162300"/>
              <a:ext cx="304800" cy="304800"/>
            </a:xfrm>
            <a:prstGeom prst="ellipse">
              <a:avLst/>
            </a:prstGeom>
            <a:solidFill>
              <a:srgbClr val="C26D5E"/>
            </a:solidFill>
            <a:ln>
              <a:noFill/>
            </a:ln>
          </p:spPr>
        </p:sp>
        <p:grpSp>
          <p:nvGrpSpPr>
            <p:cNvPr id="114" name="Group 114"/>
            <p:cNvGrpSpPr/>
            <p:nvPr/>
          </p:nvGrpSpPr>
          <p:grpSpPr>
            <a:xfrm>
              <a:off x="5474494" y="3250406"/>
              <a:ext cx="100012" cy="128588"/>
              <a:chOff x="5474494" y="3250406"/>
              <a:chExt cx="100012" cy="128588"/>
            </a:xfrm>
          </p:grpSpPr>
          <p:sp>
            <p:nvSpPr>
              <p:cNvPr id="111" name="Freeform 111"/>
              <p:cNvSpPr/>
              <p:nvPr/>
            </p:nvSpPr>
            <p:spPr>
              <a:xfrm>
                <a:off x="5474494" y="3307556"/>
                <a:ext cx="100012" cy="71438"/>
              </a:xfrm>
              <a:custGeom>
                <a:avLst/>
                <a:gdLst/>
                <a:ahLst/>
                <a:cxnLst/>
                <a:rect l="l" t="t" r="r" b="b"/>
                <a:pathLst>
                  <a:path w="100012" h="71438">
                    <a:moveTo>
                      <a:pt x="0" y="14288"/>
                    </a:moveTo>
                    <a:cubicBezTo>
                      <a:pt x="0" y="6397"/>
                      <a:pt x="6397" y="0"/>
                      <a:pt x="14288" y="0"/>
                    </a:cubicBezTo>
                    <a:lnTo>
                      <a:pt x="85725" y="0"/>
                    </a:lnTo>
                    <a:cubicBezTo>
                      <a:pt x="93616" y="0"/>
                      <a:pt x="100012" y="6397"/>
                      <a:pt x="100012" y="14288"/>
                    </a:cubicBezTo>
                    <a:lnTo>
                      <a:pt x="100012" y="57150"/>
                    </a:lnTo>
                    <a:cubicBezTo>
                      <a:pt x="100012" y="65041"/>
                      <a:pt x="93616" y="71438"/>
                      <a:pt x="85725" y="71438"/>
                    </a:cubicBezTo>
                    <a:lnTo>
                      <a:pt x="14288" y="71438"/>
                    </a:lnTo>
                    <a:cubicBezTo>
                      <a:pt x="6397" y="71438"/>
                      <a:pt x="0" y="65041"/>
                      <a:pt x="0" y="57150"/>
                    </a:cubicBezTo>
                    <a:lnTo>
                      <a:pt x="0" y="14288"/>
                    </a:lnTo>
                  </a:path>
                </a:pathLst>
              </a:custGeom>
              <a:noFill/>
              <a:ln w="14288">
                <a:solidFill>
                  <a:srgbClr val="FFFFFF"/>
                </a:solidFill>
              </a:ln>
            </p:spPr>
          </p:sp>
          <p:sp>
            <p:nvSpPr>
              <p:cNvPr id="112" name="Freeform 112"/>
              <p:cNvSpPr/>
              <p:nvPr/>
            </p:nvSpPr>
            <p:spPr>
              <a:xfrm>
                <a:off x="5517356" y="33361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113" name="Freeform 113"/>
              <p:cNvSpPr/>
              <p:nvPr/>
            </p:nvSpPr>
            <p:spPr>
              <a:xfrm>
                <a:off x="5495925" y="3250406"/>
                <a:ext cx="57150" cy="57150"/>
              </a:xfrm>
              <a:custGeom>
                <a:avLst/>
                <a:gdLst/>
                <a:ahLst/>
                <a:cxnLst/>
                <a:rect l="l" t="t" r="r" b="b"/>
                <a:pathLst>
                  <a:path w="57150" h="57150">
                    <a:moveTo>
                      <a:pt x="0" y="57150"/>
                    </a:moveTo>
                    <a:lnTo>
                      <a:pt x="0" y="28575"/>
                    </a:lnTo>
                    <a:cubicBezTo>
                      <a:pt x="0" y="12793"/>
                      <a:pt x="12793" y="0"/>
                      <a:pt x="28575" y="0"/>
                    </a:cubicBezTo>
                    <a:cubicBezTo>
                      <a:pt x="44357" y="0"/>
                      <a:pt x="57150" y="12793"/>
                      <a:pt x="57150" y="28575"/>
                    </a:cubicBezTo>
                    <a:lnTo>
                      <a:pt x="57150" y="57150"/>
                    </a:lnTo>
                  </a:path>
                </a:pathLst>
              </a:custGeom>
              <a:noFill/>
              <a:ln w="14288">
                <a:solidFill>
                  <a:srgbClr val="FFFFFF"/>
                </a:solidFill>
              </a:ln>
            </p:spPr>
          </p:sp>
        </p:grpSp>
        <p:sp>
          <p:nvSpPr>
            <p:cNvPr id="115" name="TextBox 115"/>
            <p:cNvSpPr txBox="1"/>
            <p:nvPr/>
          </p:nvSpPr>
          <p:spPr>
            <a:xfrm>
              <a:off x="5767388" y="318349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使用权限</a:t>
              </a:r>
            </a:p>
          </p:txBody>
        </p:sp>
        <p:sp>
          <p:nvSpPr>
            <p:cNvPr id="116" name="TextBox 116"/>
            <p:cNvSpPr txBox="1"/>
            <p:nvPr/>
          </p:nvSpPr>
          <p:spPr>
            <a:xfrm>
              <a:off x="5767388" y="3379232"/>
              <a:ext cx="7410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B6B6B"/>
                  </a:solidFill>
                  <a:latin typeface="+mn-lt"/>
                  <a:ea typeface="+mn-ea"/>
                  <a:cs typeface="+mn-cs"/>
                </a:rPr>
                <a:t>明确可见范围、可用</a:t>
              </a:r>
              <a:br/>
              <a:r>
                <a:rPr lang="zh-CN" sz="640" dirty="0">
                  <a:solidFill>
                    <a:srgbClr val="6B6B6B"/>
                  </a:solidFill>
                  <a:latin typeface="+mn-lt"/>
                  <a:ea typeface="+mn-ea"/>
                  <a:cs typeface="+mn-cs"/>
                </a:rPr>
                <a:t>范围权限</a:t>
              </a:r>
            </a:p>
          </p:txBody>
        </p:sp>
        <p:sp>
          <p:nvSpPr>
            <p:cNvPr id="117" name="Rectangle 117"/>
            <p:cNvSpPr/>
            <p:nvPr/>
          </p:nvSpPr>
          <p:spPr>
            <a:xfrm>
              <a:off x="381000" y="3790950"/>
              <a:ext cx="2343150" cy="685800"/>
            </a:xfrm>
            <a:prstGeom prst="roundRect">
              <a:avLst>
                <a:gd name="adj" fmla="val 11111"/>
              </a:avLst>
            </a:prstGeom>
            <a:solidFill>
              <a:srgbClr val="FFFFFF"/>
            </a:solidFill>
            <a:ln w="9525">
              <a:solidFill>
                <a:srgbClr val="E6D9C0"/>
              </a:solidFill>
            </a:ln>
          </p:spPr>
        </p:sp>
        <p:sp>
          <p:nvSpPr>
            <p:cNvPr id="118" name="Ellipse 118"/>
            <p:cNvSpPr/>
            <p:nvPr/>
          </p:nvSpPr>
          <p:spPr>
            <a:xfrm>
              <a:off x="476250" y="3886200"/>
              <a:ext cx="304800" cy="304800"/>
            </a:xfrm>
            <a:prstGeom prst="ellipse">
              <a:avLst/>
            </a:prstGeom>
            <a:solidFill>
              <a:srgbClr val="C26D5E"/>
            </a:solidFill>
            <a:ln>
              <a:noFill/>
            </a:ln>
          </p:spPr>
        </p:sp>
        <p:grpSp>
          <p:nvGrpSpPr>
            <p:cNvPr id="121" name="Group 121"/>
            <p:cNvGrpSpPr/>
            <p:nvPr/>
          </p:nvGrpSpPr>
          <p:grpSpPr>
            <a:xfrm>
              <a:off x="564356" y="3974306"/>
              <a:ext cx="128587" cy="128587"/>
              <a:chOff x="564356" y="3974306"/>
              <a:chExt cx="128587" cy="128587"/>
            </a:xfrm>
          </p:grpSpPr>
          <p:sp>
            <p:nvSpPr>
              <p:cNvPr id="119" name="Freeform 119"/>
              <p:cNvSpPr/>
              <p:nvPr/>
            </p:nvSpPr>
            <p:spPr>
              <a:xfrm>
                <a:off x="564356" y="3974306"/>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FFFFFF"/>
                </a:solidFill>
              </a:ln>
            </p:spPr>
          </p:sp>
          <p:sp>
            <p:nvSpPr>
              <p:cNvPr id="120" name="Freeform 120"/>
              <p:cNvSpPr/>
              <p:nvPr/>
            </p:nvSpPr>
            <p:spPr>
              <a:xfrm>
                <a:off x="650081" y="4060031"/>
                <a:ext cx="42862" cy="42862"/>
              </a:xfrm>
              <a:custGeom>
                <a:avLst/>
                <a:gdLst/>
                <a:ahLst/>
                <a:cxnLst/>
                <a:rect l="l" t="t" r="r" b="b"/>
                <a:pathLst>
                  <a:path w="42862" h="42862">
                    <a:moveTo>
                      <a:pt x="42862" y="42862"/>
                    </a:moveTo>
                    <a:lnTo>
                      <a:pt x="0" y="0"/>
                    </a:lnTo>
                  </a:path>
                </a:pathLst>
              </a:custGeom>
              <a:noFill/>
              <a:ln w="14288">
                <a:solidFill>
                  <a:srgbClr val="FFFFFF"/>
                </a:solidFill>
              </a:ln>
            </p:spPr>
          </p:sp>
        </p:grpSp>
        <p:sp>
          <p:nvSpPr>
            <p:cNvPr id="122" name="TextBox 122"/>
            <p:cNvSpPr txBox="1"/>
            <p:nvPr/>
          </p:nvSpPr>
          <p:spPr>
            <a:xfrm>
              <a:off x="871538" y="390739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适用场景</a:t>
              </a:r>
            </a:p>
          </p:txBody>
        </p:sp>
        <p:sp>
          <p:nvSpPr>
            <p:cNvPr id="123" name="TextBox 123"/>
            <p:cNvSpPr txBox="1"/>
            <p:nvPr/>
          </p:nvSpPr>
          <p:spPr>
            <a:xfrm>
              <a:off x="871538" y="4103132"/>
              <a:ext cx="7410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B6B6B"/>
                  </a:solidFill>
                  <a:latin typeface="+mn-lt"/>
                  <a:ea typeface="+mn-ea"/>
                  <a:cs typeface="+mn-cs"/>
                </a:rPr>
                <a:t>明确标签适用的业务</a:t>
              </a:r>
              <a:br/>
              <a:r>
                <a:rPr lang="zh-CN" sz="640" dirty="0">
                  <a:solidFill>
                    <a:srgbClr val="6B6B6B"/>
                  </a:solidFill>
                  <a:latin typeface="+mn-lt"/>
                  <a:ea typeface="+mn-ea"/>
                  <a:cs typeface="+mn-cs"/>
                </a:rPr>
                <a:t>场景与使用方式</a:t>
              </a:r>
            </a:p>
          </p:txBody>
        </p:sp>
        <p:sp>
          <p:nvSpPr>
            <p:cNvPr id="124" name="Rectangle 124"/>
            <p:cNvSpPr/>
            <p:nvPr/>
          </p:nvSpPr>
          <p:spPr>
            <a:xfrm>
              <a:off x="2828925" y="3790950"/>
              <a:ext cx="2343150" cy="685800"/>
            </a:xfrm>
            <a:prstGeom prst="roundRect">
              <a:avLst>
                <a:gd name="adj" fmla="val 11111"/>
              </a:avLst>
            </a:prstGeom>
            <a:solidFill>
              <a:srgbClr val="FFFFFF"/>
            </a:solidFill>
            <a:ln w="9525">
              <a:solidFill>
                <a:srgbClr val="E6D9C0"/>
              </a:solidFill>
            </a:ln>
          </p:spPr>
        </p:sp>
        <p:sp>
          <p:nvSpPr>
            <p:cNvPr id="125" name="Ellipse 125"/>
            <p:cNvSpPr/>
            <p:nvPr/>
          </p:nvSpPr>
          <p:spPr>
            <a:xfrm>
              <a:off x="2924175" y="3886200"/>
              <a:ext cx="304800" cy="304800"/>
            </a:xfrm>
            <a:prstGeom prst="ellipse">
              <a:avLst/>
            </a:prstGeom>
            <a:solidFill>
              <a:srgbClr val="C26D5E"/>
            </a:solidFill>
            <a:ln>
              <a:noFill/>
            </a:ln>
          </p:spPr>
        </p:sp>
        <p:grpSp>
          <p:nvGrpSpPr>
            <p:cNvPr id="132" name="Group 132"/>
            <p:cNvGrpSpPr/>
            <p:nvPr/>
          </p:nvGrpSpPr>
          <p:grpSpPr>
            <a:xfrm>
              <a:off x="3019425" y="3974306"/>
              <a:ext cx="114300" cy="128588"/>
              <a:chOff x="3019425" y="3974306"/>
              <a:chExt cx="114300" cy="128588"/>
            </a:xfrm>
          </p:grpSpPr>
          <p:sp>
            <p:nvSpPr>
              <p:cNvPr id="126" name="Freeform 126"/>
              <p:cNvSpPr/>
              <p:nvPr/>
            </p:nvSpPr>
            <p:spPr>
              <a:xfrm>
                <a:off x="3019425" y="3988594"/>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FFFFFF"/>
                </a:solidFill>
              </a:ln>
            </p:spPr>
          </p:sp>
          <p:sp>
            <p:nvSpPr>
              <p:cNvPr id="127" name="Freeform 127"/>
              <p:cNvSpPr/>
              <p:nvPr/>
            </p:nvSpPr>
            <p:spPr>
              <a:xfrm>
                <a:off x="3105150" y="3974306"/>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128" name="Freeform 128"/>
              <p:cNvSpPr/>
              <p:nvPr/>
            </p:nvSpPr>
            <p:spPr>
              <a:xfrm>
                <a:off x="3048000" y="3974306"/>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129" name="Freeform 129"/>
              <p:cNvSpPr/>
              <p:nvPr/>
            </p:nvSpPr>
            <p:spPr>
              <a:xfrm>
                <a:off x="3019425" y="4031456"/>
                <a:ext cx="114300" cy="9525"/>
              </a:xfrm>
              <a:custGeom>
                <a:avLst/>
                <a:gdLst/>
                <a:ahLst/>
                <a:cxnLst/>
                <a:rect l="l" t="t" r="r" b="b"/>
                <a:pathLst>
                  <a:path w="114300" h="9525">
                    <a:moveTo>
                      <a:pt x="0" y="0"/>
                    </a:moveTo>
                    <a:lnTo>
                      <a:pt x="114300" y="0"/>
                    </a:lnTo>
                  </a:path>
                </a:pathLst>
              </a:custGeom>
              <a:noFill/>
              <a:ln w="14288">
                <a:solidFill>
                  <a:srgbClr val="FFFFFF"/>
                </a:solidFill>
              </a:ln>
            </p:spPr>
          </p:sp>
          <p:sp>
            <p:nvSpPr>
              <p:cNvPr id="130" name="Freeform 130"/>
              <p:cNvSpPr/>
              <p:nvPr/>
            </p:nvSpPr>
            <p:spPr>
              <a:xfrm>
                <a:off x="3069431" y="4060031"/>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131" name="Freeform 131"/>
              <p:cNvSpPr/>
              <p:nvPr/>
            </p:nvSpPr>
            <p:spPr>
              <a:xfrm>
                <a:off x="3076575" y="4060031"/>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133" name="TextBox 133"/>
            <p:cNvSpPr txBox="1"/>
            <p:nvPr/>
          </p:nvSpPr>
          <p:spPr>
            <a:xfrm>
              <a:off x="3319462" y="390739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生效失效</a:t>
              </a:r>
            </a:p>
          </p:txBody>
        </p:sp>
        <p:sp>
          <p:nvSpPr>
            <p:cNvPr id="134" name="TextBox 134"/>
            <p:cNvSpPr txBox="1"/>
            <p:nvPr/>
          </p:nvSpPr>
          <p:spPr>
            <a:xfrm>
              <a:off x="3319462" y="4103132"/>
              <a:ext cx="7410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B6B6B"/>
                  </a:solidFill>
                  <a:latin typeface="+mn-lt"/>
                  <a:ea typeface="+mn-ea"/>
                  <a:cs typeface="+mn-cs"/>
                </a:rPr>
                <a:t>明确生效时间、失效</a:t>
              </a:r>
              <a:br/>
              <a:r>
                <a:rPr lang="zh-CN" sz="640" dirty="0">
                  <a:solidFill>
                    <a:srgbClr val="6B6B6B"/>
                  </a:solidFill>
                  <a:latin typeface="+mn-lt"/>
                  <a:ea typeface="+mn-ea"/>
                  <a:cs typeface="+mn-cs"/>
                </a:rPr>
                <a:t>时间与条件</a:t>
              </a:r>
            </a:p>
          </p:txBody>
        </p:sp>
        <p:sp>
          <p:nvSpPr>
            <p:cNvPr id="135" name="Rectangle 135"/>
            <p:cNvSpPr/>
            <p:nvPr/>
          </p:nvSpPr>
          <p:spPr>
            <a:xfrm>
              <a:off x="5276850" y="3790950"/>
              <a:ext cx="2343150" cy="685800"/>
            </a:xfrm>
            <a:prstGeom prst="roundRect">
              <a:avLst>
                <a:gd name="adj" fmla="val 11111"/>
              </a:avLst>
            </a:prstGeom>
            <a:solidFill>
              <a:srgbClr val="FFFFFF"/>
            </a:solidFill>
            <a:ln w="9525">
              <a:solidFill>
                <a:srgbClr val="E6D9C0"/>
              </a:solidFill>
            </a:ln>
          </p:spPr>
        </p:sp>
        <p:sp>
          <p:nvSpPr>
            <p:cNvPr id="136" name="Ellipse 136"/>
            <p:cNvSpPr/>
            <p:nvPr/>
          </p:nvSpPr>
          <p:spPr>
            <a:xfrm>
              <a:off x="5372100" y="3886200"/>
              <a:ext cx="304800" cy="304800"/>
            </a:xfrm>
            <a:prstGeom prst="ellipse">
              <a:avLst/>
            </a:prstGeom>
            <a:solidFill>
              <a:srgbClr val="C26D5E"/>
            </a:solidFill>
            <a:ln>
              <a:noFill/>
            </a:ln>
          </p:spPr>
        </p:sp>
        <p:grpSp>
          <p:nvGrpSpPr>
            <p:cNvPr id="141" name="Group 141"/>
            <p:cNvGrpSpPr/>
            <p:nvPr/>
          </p:nvGrpSpPr>
          <p:grpSpPr>
            <a:xfrm>
              <a:off x="5474494" y="3981450"/>
              <a:ext cx="107156" cy="121444"/>
              <a:chOff x="5474494" y="3981450"/>
              <a:chExt cx="107156" cy="121444"/>
            </a:xfrm>
          </p:grpSpPr>
          <p:sp>
            <p:nvSpPr>
              <p:cNvPr id="137" name="Freeform 137"/>
              <p:cNvSpPr/>
              <p:nvPr/>
            </p:nvSpPr>
            <p:spPr>
              <a:xfrm>
                <a:off x="5474494" y="3981450"/>
                <a:ext cx="85725" cy="114300"/>
              </a:xfrm>
              <a:custGeom>
                <a:avLst/>
                <a:gdLst/>
                <a:ahLst/>
                <a:cxnLst/>
                <a:rect l="l" t="t" r="r" b="b"/>
                <a:pathLst>
                  <a:path w="85725" h="114300">
                    <a:moveTo>
                      <a:pt x="32968" y="114300"/>
                    </a:moveTo>
                    <a:lnTo>
                      <a:pt x="14288" y="114300"/>
                    </a:lnTo>
                    <a:cubicBezTo>
                      <a:pt x="6397" y="114300"/>
                      <a:pt x="0" y="107903"/>
                      <a:pt x="0" y="100012"/>
                    </a:cubicBezTo>
                    <a:lnTo>
                      <a:pt x="0" y="14288"/>
                    </a:lnTo>
                    <a:cubicBezTo>
                      <a:pt x="0" y="6397"/>
                      <a:pt x="6397" y="0"/>
                      <a:pt x="14288" y="0"/>
                    </a:cubicBezTo>
                    <a:lnTo>
                      <a:pt x="71438" y="0"/>
                    </a:lnTo>
                    <a:cubicBezTo>
                      <a:pt x="79328" y="0"/>
                      <a:pt x="85725" y="6397"/>
                      <a:pt x="85725" y="14288"/>
                    </a:cubicBezTo>
                    <a:lnTo>
                      <a:pt x="85725" y="71438"/>
                    </a:lnTo>
                  </a:path>
                </a:pathLst>
              </a:custGeom>
              <a:noFill/>
              <a:ln w="14288">
                <a:solidFill>
                  <a:srgbClr val="FFFFFF"/>
                </a:solidFill>
              </a:ln>
            </p:spPr>
          </p:sp>
          <p:sp>
            <p:nvSpPr>
              <p:cNvPr id="138" name="Freeform 138"/>
              <p:cNvSpPr/>
              <p:nvPr/>
            </p:nvSpPr>
            <p:spPr>
              <a:xfrm>
                <a:off x="5538788" y="407431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sp>
            <p:nvSpPr>
              <p:cNvPr id="139" name="Freeform 139"/>
              <p:cNvSpPr/>
              <p:nvPr/>
            </p:nvSpPr>
            <p:spPr>
              <a:xfrm>
                <a:off x="5503069" y="4010025"/>
                <a:ext cx="28575" cy="9525"/>
              </a:xfrm>
              <a:custGeom>
                <a:avLst/>
                <a:gdLst/>
                <a:ahLst/>
                <a:cxnLst/>
                <a:rect l="l" t="t" r="r" b="b"/>
                <a:pathLst>
                  <a:path w="28575" h="9525">
                    <a:moveTo>
                      <a:pt x="0" y="0"/>
                    </a:moveTo>
                    <a:lnTo>
                      <a:pt x="28575" y="0"/>
                    </a:lnTo>
                  </a:path>
                </a:pathLst>
              </a:custGeom>
              <a:noFill/>
              <a:ln w="14288">
                <a:solidFill>
                  <a:srgbClr val="FFFFFF"/>
                </a:solidFill>
              </a:ln>
            </p:spPr>
          </p:sp>
          <p:sp>
            <p:nvSpPr>
              <p:cNvPr id="140" name="Freeform 140"/>
              <p:cNvSpPr/>
              <p:nvPr/>
            </p:nvSpPr>
            <p:spPr>
              <a:xfrm>
                <a:off x="5503069" y="4038600"/>
                <a:ext cx="14288" cy="9525"/>
              </a:xfrm>
              <a:custGeom>
                <a:avLst/>
                <a:gdLst/>
                <a:ahLst/>
                <a:cxnLst/>
                <a:rect l="l" t="t" r="r" b="b"/>
                <a:pathLst>
                  <a:path w="14288" h="9525">
                    <a:moveTo>
                      <a:pt x="0" y="0"/>
                    </a:moveTo>
                    <a:lnTo>
                      <a:pt x="14288" y="0"/>
                    </a:lnTo>
                  </a:path>
                </a:pathLst>
              </a:custGeom>
              <a:noFill/>
              <a:ln w="14288">
                <a:solidFill>
                  <a:srgbClr val="FFFFFF"/>
                </a:solidFill>
              </a:ln>
            </p:spPr>
          </p:sp>
        </p:grpSp>
        <p:sp>
          <p:nvSpPr>
            <p:cNvPr id="142" name="TextBox 142"/>
            <p:cNvSpPr txBox="1"/>
            <p:nvPr/>
          </p:nvSpPr>
          <p:spPr>
            <a:xfrm>
              <a:off x="5767388" y="3907393"/>
              <a:ext cx="472618" cy="169069"/>
            </a:xfrm>
            <a:prstGeom prst="rect">
              <a:avLst/>
            </a:prstGeom>
            <a:noFill/>
            <a:ln>
              <a:noFill/>
            </a:ln>
          </p:spPr>
          <p:txBody>
            <a:bodyPr wrap="none" lIns="0" tIns="0" rIns="0" bIns="0" anchor="t" anchorCtr="0">
              <a:spAutoFit/>
            </a:bodyPr>
            <a:lstStyle/>
            <a:p>
              <a:pPr algn="l"/>
              <a:r>
                <a:rPr lang="zh-CN" sz="860" b="1" dirty="0">
                  <a:solidFill>
                    <a:srgbClr val="5E3A33"/>
                  </a:solidFill>
                  <a:latin typeface="+mn-lt"/>
                  <a:ea typeface="+mn-ea"/>
                  <a:cs typeface="+mn-cs"/>
                </a:rPr>
                <a:t>质量标准</a:t>
              </a:r>
            </a:p>
          </p:txBody>
        </p:sp>
        <p:sp>
          <p:nvSpPr>
            <p:cNvPr id="143" name="TextBox 143"/>
            <p:cNvSpPr txBox="1"/>
            <p:nvPr/>
          </p:nvSpPr>
          <p:spPr>
            <a:xfrm>
              <a:off x="5767388" y="4103132"/>
              <a:ext cx="741045" cy="250031"/>
            </a:xfrm>
            <a:prstGeom prst="rect">
              <a:avLst/>
            </a:prstGeom>
            <a:noFill/>
            <a:ln>
              <a:noFill/>
            </a:ln>
          </p:spPr>
          <p:txBody>
            <a:bodyPr wrap="none" lIns="0" tIns="0" rIns="0" bIns="0" anchor="t" anchorCtr="0">
              <a:spAutoFit/>
            </a:bodyPr>
            <a:lstStyle/>
            <a:p>
              <a:pPr algn="l">
                <a:lnSpc>
                  <a:spcPts val="975"/>
                </a:lnSpc>
              </a:pPr>
              <a:r>
                <a:rPr lang="zh-CN" sz="640" dirty="0">
                  <a:solidFill>
                    <a:srgbClr val="6B6B6B"/>
                  </a:solidFill>
                  <a:latin typeface="+mn-lt"/>
                  <a:ea typeface="+mn-ea"/>
                  <a:cs typeface="+mn-cs"/>
                </a:rPr>
                <a:t>明确质量检验规则与</a:t>
              </a:r>
              <a:br/>
              <a:r>
                <a:rPr lang="zh-CN" sz="640" dirty="0">
                  <a:solidFill>
                    <a:srgbClr val="6B6B6B"/>
                  </a:solidFill>
                  <a:latin typeface="+mn-lt"/>
                  <a:ea typeface="+mn-ea"/>
                  <a:cs typeface="+mn-cs"/>
                </a:rPr>
                <a:t>可接受阈值标准</a:t>
              </a:r>
            </a:p>
          </p:txBody>
        </p:sp>
      </p:grpSp>
      <p:grpSp>
        <p:nvGrpSpPr>
          <p:cNvPr id="180" name="clean-actions"/>
          <p:cNvGrpSpPr/>
          <p:nvPr/>
        </p:nvGrpSpPr>
        <p:grpSpPr>
          <a:xfrm>
            <a:off x="381000" y="4619149"/>
            <a:ext cx="7191375" cy="1133951"/>
            <a:chOff x="381000" y="4619149"/>
            <a:chExt cx="7191375" cy="1133951"/>
          </a:xfrm>
        </p:grpSpPr>
        <p:sp>
          <p:nvSpPr>
            <p:cNvPr id="145" name="TextBox 145"/>
            <p:cNvSpPr txBox="1"/>
            <p:nvPr/>
          </p:nvSpPr>
          <p:spPr>
            <a:xfrm>
              <a:off x="2808199" y="4619149"/>
              <a:ext cx="2384603" cy="190690"/>
            </a:xfrm>
            <a:prstGeom prst="rect">
              <a:avLst/>
            </a:prstGeom>
            <a:noFill/>
            <a:ln>
              <a:noFill/>
            </a:ln>
          </p:spPr>
          <p:txBody>
            <a:bodyPr wrap="none" lIns="0" tIns="0" rIns="0" bIns="0" anchor="t" anchorCtr="0">
              <a:spAutoFit/>
            </a:bodyPr>
            <a:lstStyle/>
            <a:p>
              <a:pPr algn="ctr"/>
              <a:r>
                <a:rPr lang="zh-CN" sz="980" b="1" dirty="0">
                  <a:solidFill>
                    <a:srgbClr val="A3381F"/>
                  </a:solidFill>
                  <a:latin typeface="+mn-lt"/>
                  <a:ea typeface="+mn-ea"/>
                  <a:cs typeface="+mn-cs"/>
                </a:rPr>
                <a:t>标签治理关键动作（聚焦低效标签治理）</a:t>
              </a:r>
            </a:p>
          </p:txBody>
        </p:sp>
        <p:sp>
          <p:nvSpPr>
            <p:cNvPr id="146" name="Rectangle 146"/>
            <p:cNvSpPr/>
            <p:nvPr/>
          </p:nvSpPr>
          <p:spPr>
            <a:xfrm>
              <a:off x="381000" y="4800600"/>
              <a:ext cx="1733550" cy="952500"/>
            </a:xfrm>
            <a:prstGeom prst="roundRect">
              <a:avLst>
                <a:gd name="adj" fmla="val 8000"/>
              </a:avLst>
            </a:prstGeom>
            <a:solidFill>
              <a:srgbClr val="FFFFFF"/>
            </a:solidFill>
            <a:ln w="9525">
              <a:solidFill>
                <a:srgbClr val="E6D9C0"/>
              </a:solidFill>
            </a:ln>
          </p:spPr>
        </p:sp>
        <p:sp>
          <p:nvSpPr>
            <p:cNvPr id="147" name="Ellipse 147"/>
            <p:cNvSpPr/>
            <p:nvPr/>
          </p:nvSpPr>
          <p:spPr>
            <a:xfrm>
              <a:off x="495300" y="4914900"/>
              <a:ext cx="304800" cy="304800"/>
            </a:xfrm>
            <a:prstGeom prst="ellipse">
              <a:avLst/>
            </a:prstGeom>
            <a:solidFill>
              <a:srgbClr val="A3381F"/>
            </a:solidFill>
            <a:ln>
              <a:noFill/>
            </a:ln>
          </p:spPr>
        </p:sp>
        <p:grpSp>
          <p:nvGrpSpPr>
            <p:cNvPr id="150" name="Group 150"/>
            <p:cNvGrpSpPr/>
            <p:nvPr/>
          </p:nvGrpSpPr>
          <p:grpSpPr>
            <a:xfrm>
              <a:off x="590550" y="5007394"/>
              <a:ext cx="114300" cy="119813"/>
              <a:chOff x="590550" y="5007394"/>
              <a:chExt cx="114300" cy="119813"/>
            </a:xfrm>
          </p:grpSpPr>
          <p:sp>
            <p:nvSpPr>
              <p:cNvPr id="148" name="Freeform 148"/>
              <p:cNvSpPr/>
              <p:nvPr/>
            </p:nvSpPr>
            <p:spPr>
              <a:xfrm>
                <a:off x="590550" y="5007394"/>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FFFFFF"/>
                </a:solidFill>
              </a:ln>
            </p:spPr>
          </p:sp>
          <p:sp>
            <p:nvSpPr>
              <p:cNvPr id="149" name="Freeform 149"/>
              <p:cNvSpPr/>
              <p:nvPr/>
            </p:nvSpPr>
            <p:spPr>
              <a:xfrm>
                <a:off x="590550" y="5074444"/>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FFFFFF"/>
                </a:solidFill>
              </a:ln>
            </p:spPr>
          </p:sp>
        </p:grpSp>
        <p:sp>
          <p:nvSpPr>
            <p:cNvPr id="151" name="TextBox 151"/>
            <p:cNvSpPr txBox="1"/>
            <p:nvPr/>
          </p:nvSpPr>
          <p:spPr>
            <a:xfrm>
              <a:off x="871538" y="5025866"/>
              <a:ext cx="671855" cy="161925"/>
            </a:xfrm>
            <a:prstGeom prst="rect">
              <a:avLst/>
            </a:prstGeom>
            <a:noFill/>
            <a:ln>
              <a:noFill/>
            </a:ln>
          </p:spPr>
          <p:txBody>
            <a:bodyPr wrap="none" lIns="0" tIns="0" rIns="0" bIns="0" anchor="t" anchorCtr="0">
              <a:spAutoFit/>
            </a:bodyPr>
            <a:lstStyle/>
            <a:p>
              <a:pPr algn="l"/>
              <a:r>
                <a:rPr lang="zh-CN" sz="820" b="1" dirty="0">
                  <a:solidFill>
                    <a:srgbClr val="A3381F"/>
                  </a:solidFill>
                  <a:latin typeface="+mn-lt"/>
                  <a:ea typeface="+mn-ea"/>
                  <a:cs typeface="+mn-cs"/>
                </a:rPr>
                <a:t>清理重复标签</a:t>
              </a:r>
            </a:p>
          </p:txBody>
        </p:sp>
        <p:sp>
          <p:nvSpPr>
            <p:cNvPr id="152" name="TextBox 152"/>
            <p:cNvSpPr txBox="1"/>
            <p:nvPr/>
          </p:nvSpPr>
          <p:spPr>
            <a:xfrm>
              <a:off x="509588" y="5322332"/>
              <a:ext cx="741045" cy="259556"/>
            </a:xfrm>
            <a:prstGeom prst="rect">
              <a:avLst/>
            </a:prstGeom>
            <a:noFill/>
            <a:ln>
              <a:noFill/>
            </a:ln>
          </p:spPr>
          <p:txBody>
            <a:bodyPr wrap="none" lIns="0" tIns="0" rIns="0" bIns="0" anchor="t" anchorCtr="0">
              <a:spAutoFit/>
            </a:bodyPr>
            <a:lstStyle/>
            <a:p>
              <a:pPr algn="l">
                <a:lnSpc>
                  <a:spcPts val="1050"/>
                </a:lnSpc>
              </a:pPr>
              <a:r>
                <a:rPr lang="zh-CN" sz="640" dirty="0">
                  <a:solidFill>
                    <a:srgbClr val="6B6B6B"/>
                  </a:solidFill>
                  <a:latin typeface="+mn-lt"/>
                  <a:ea typeface="+mn-ea"/>
                  <a:cs typeface="+mn-cs"/>
                </a:rPr>
                <a:t>识别定义重复口径的</a:t>
              </a:r>
              <a:br/>
              <a:r>
                <a:rPr lang="zh-CN" sz="640" dirty="0">
                  <a:solidFill>
                    <a:srgbClr val="6B6B6B"/>
                  </a:solidFill>
                  <a:latin typeface="+mn-lt"/>
                  <a:ea typeface="+mn-ea"/>
                  <a:cs typeface="+mn-cs"/>
                </a:rPr>
                <a:t>标签合并精简</a:t>
              </a:r>
            </a:p>
          </p:txBody>
        </p:sp>
        <p:sp>
          <p:nvSpPr>
            <p:cNvPr id="153" name="Rectangle 153"/>
            <p:cNvSpPr/>
            <p:nvPr/>
          </p:nvSpPr>
          <p:spPr>
            <a:xfrm>
              <a:off x="2200275" y="4800600"/>
              <a:ext cx="1733550" cy="952500"/>
            </a:xfrm>
            <a:prstGeom prst="roundRect">
              <a:avLst>
                <a:gd name="adj" fmla="val 8000"/>
              </a:avLst>
            </a:prstGeom>
            <a:solidFill>
              <a:srgbClr val="FFFFFF"/>
            </a:solidFill>
            <a:ln w="9525">
              <a:solidFill>
                <a:srgbClr val="E6D9C0"/>
              </a:solidFill>
            </a:ln>
          </p:spPr>
        </p:sp>
        <p:sp>
          <p:nvSpPr>
            <p:cNvPr id="154" name="Ellipse 154"/>
            <p:cNvSpPr/>
            <p:nvPr/>
          </p:nvSpPr>
          <p:spPr>
            <a:xfrm>
              <a:off x="2314575" y="4914900"/>
              <a:ext cx="304800" cy="304800"/>
            </a:xfrm>
            <a:prstGeom prst="ellipse">
              <a:avLst/>
            </a:prstGeom>
            <a:solidFill>
              <a:srgbClr val="C26D5E"/>
            </a:solidFill>
            <a:ln>
              <a:noFill/>
            </a:ln>
          </p:spPr>
        </p:sp>
        <p:grpSp>
          <p:nvGrpSpPr>
            <p:cNvPr id="159" name="Group 159"/>
            <p:cNvGrpSpPr/>
            <p:nvPr/>
          </p:nvGrpSpPr>
          <p:grpSpPr>
            <a:xfrm>
              <a:off x="2402681" y="5010150"/>
              <a:ext cx="128588" cy="114300"/>
              <a:chOff x="2402681" y="5010150"/>
              <a:chExt cx="128588" cy="114300"/>
            </a:xfrm>
          </p:grpSpPr>
          <p:sp>
            <p:nvSpPr>
              <p:cNvPr id="155" name="Freeform 155"/>
              <p:cNvSpPr/>
              <p:nvPr/>
            </p:nvSpPr>
            <p:spPr>
              <a:xfrm>
                <a:off x="2402681" y="5031581"/>
                <a:ext cx="128588" cy="9525"/>
              </a:xfrm>
              <a:custGeom>
                <a:avLst/>
                <a:gdLst/>
                <a:ahLst/>
                <a:cxnLst/>
                <a:rect l="l" t="t" r="r" b="b"/>
                <a:pathLst>
                  <a:path w="128588" h="9525">
                    <a:moveTo>
                      <a:pt x="128588" y="0"/>
                    </a:moveTo>
                    <a:lnTo>
                      <a:pt x="0" y="0"/>
                    </a:lnTo>
                  </a:path>
                </a:pathLst>
              </a:custGeom>
              <a:noFill/>
              <a:ln w="14288">
                <a:solidFill>
                  <a:srgbClr val="FFFFFF"/>
                </a:solidFill>
              </a:ln>
            </p:spPr>
          </p:sp>
          <p:sp>
            <p:nvSpPr>
              <p:cNvPr id="156" name="Freeform 156"/>
              <p:cNvSpPr/>
              <p:nvPr/>
            </p:nvSpPr>
            <p:spPr>
              <a:xfrm>
                <a:off x="2509838" y="5010150"/>
                <a:ext cx="21431" cy="42862"/>
              </a:xfrm>
              <a:custGeom>
                <a:avLst/>
                <a:gdLst/>
                <a:ahLst/>
                <a:cxnLst/>
                <a:rect l="l" t="t" r="r" b="b"/>
                <a:pathLst>
                  <a:path w="21431" h="42862">
                    <a:moveTo>
                      <a:pt x="0" y="42862"/>
                    </a:moveTo>
                    <a:lnTo>
                      <a:pt x="21431" y="21431"/>
                    </a:lnTo>
                    <a:lnTo>
                      <a:pt x="0" y="0"/>
                    </a:lnTo>
                  </a:path>
                </a:pathLst>
              </a:custGeom>
              <a:noFill/>
              <a:ln w="14288">
                <a:solidFill>
                  <a:srgbClr val="FFFFFF"/>
                </a:solidFill>
              </a:ln>
            </p:spPr>
          </p:sp>
          <p:sp>
            <p:nvSpPr>
              <p:cNvPr id="157" name="Freeform 157"/>
              <p:cNvSpPr/>
              <p:nvPr/>
            </p:nvSpPr>
            <p:spPr>
              <a:xfrm>
                <a:off x="2402681" y="5081588"/>
                <a:ext cx="21431" cy="42862"/>
              </a:xfrm>
              <a:custGeom>
                <a:avLst/>
                <a:gdLst/>
                <a:ahLst/>
                <a:cxnLst/>
                <a:rect l="l" t="t" r="r" b="b"/>
                <a:pathLst>
                  <a:path w="21431" h="42862">
                    <a:moveTo>
                      <a:pt x="21431" y="42862"/>
                    </a:moveTo>
                    <a:lnTo>
                      <a:pt x="0" y="21431"/>
                    </a:lnTo>
                    <a:lnTo>
                      <a:pt x="21431" y="0"/>
                    </a:lnTo>
                  </a:path>
                </a:pathLst>
              </a:custGeom>
              <a:noFill/>
              <a:ln w="14288">
                <a:solidFill>
                  <a:srgbClr val="FFFFFF"/>
                </a:solidFill>
              </a:ln>
            </p:spPr>
          </p:sp>
          <p:sp>
            <p:nvSpPr>
              <p:cNvPr id="158" name="Freeform 158"/>
              <p:cNvSpPr/>
              <p:nvPr/>
            </p:nvSpPr>
            <p:spPr>
              <a:xfrm>
                <a:off x="2402681" y="5103019"/>
                <a:ext cx="128588" cy="9525"/>
              </a:xfrm>
              <a:custGeom>
                <a:avLst/>
                <a:gdLst/>
                <a:ahLst/>
                <a:cxnLst/>
                <a:rect l="l" t="t" r="r" b="b"/>
                <a:pathLst>
                  <a:path w="128588" h="9525">
                    <a:moveTo>
                      <a:pt x="0" y="0"/>
                    </a:moveTo>
                    <a:lnTo>
                      <a:pt x="128588" y="0"/>
                    </a:lnTo>
                  </a:path>
                </a:pathLst>
              </a:custGeom>
              <a:noFill/>
              <a:ln w="14288">
                <a:solidFill>
                  <a:srgbClr val="FFFFFF"/>
                </a:solidFill>
              </a:ln>
            </p:spPr>
          </p:sp>
        </p:grpSp>
        <p:sp>
          <p:nvSpPr>
            <p:cNvPr id="160" name="TextBox 160"/>
            <p:cNvSpPr txBox="1"/>
            <p:nvPr/>
          </p:nvSpPr>
          <p:spPr>
            <a:xfrm>
              <a:off x="2690812" y="5025866"/>
              <a:ext cx="671855" cy="161925"/>
            </a:xfrm>
            <a:prstGeom prst="rect">
              <a:avLst/>
            </a:prstGeom>
            <a:noFill/>
            <a:ln>
              <a:noFill/>
            </a:ln>
          </p:spPr>
          <p:txBody>
            <a:bodyPr wrap="none" lIns="0" tIns="0" rIns="0" bIns="0" anchor="t" anchorCtr="0">
              <a:spAutoFit/>
            </a:bodyPr>
            <a:lstStyle/>
            <a:p>
              <a:pPr algn="l"/>
              <a:r>
                <a:rPr lang="zh-CN" sz="820" b="1" dirty="0">
                  <a:solidFill>
                    <a:srgbClr val="A3381F"/>
                  </a:solidFill>
                  <a:latin typeface="+mn-lt"/>
                  <a:ea typeface="+mn-ea"/>
                  <a:cs typeface="+mn-cs"/>
                </a:rPr>
                <a:t>清理冲突标签</a:t>
              </a:r>
            </a:p>
          </p:txBody>
        </p:sp>
        <p:sp>
          <p:nvSpPr>
            <p:cNvPr id="161" name="TextBox 161"/>
            <p:cNvSpPr txBox="1"/>
            <p:nvPr/>
          </p:nvSpPr>
          <p:spPr>
            <a:xfrm>
              <a:off x="2328862" y="5322332"/>
              <a:ext cx="903605" cy="259556"/>
            </a:xfrm>
            <a:prstGeom prst="rect">
              <a:avLst/>
            </a:prstGeom>
            <a:noFill/>
            <a:ln>
              <a:noFill/>
            </a:ln>
          </p:spPr>
          <p:txBody>
            <a:bodyPr wrap="none" lIns="0" tIns="0" rIns="0" bIns="0" anchor="t" anchorCtr="0">
              <a:spAutoFit/>
            </a:bodyPr>
            <a:lstStyle/>
            <a:p>
              <a:pPr algn="l">
                <a:lnSpc>
                  <a:spcPts val="1050"/>
                </a:lnSpc>
              </a:pPr>
              <a:r>
                <a:rPr lang="zh-CN" sz="640" dirty="0">
                  <a:solidFill>
                    <a:srgbClr val="6B6B6B"/>
                  </a:solidFill>
                  <a:latin typeface="+mn-lt"/>
                  <a:ea typeface="+mn-ea"/>
                  <a:cs typeface="+mn-cs"/>
                </a:rPr>
                <a:t>识别口径冲突、逻辑</a:t>
              </a:r>
              <a:br/>
              <a:r>
                <a:rPr lang="zh-CN" sz="640" dirty="0">
                  <a:solidFill>
                    <a:srgbClr val="6B6B6B"/>
                  </a:solidFill>
                  <a:latin typeface="+mn-lt"/>
                  <a:ea typeface="+mn-ea"/>
                  <a:cs typeface="+mn-cs"/>
                </a:rPr>
                <a:t>矛盾的标签统一消除歧义</a:t>
              </a:r>
            </a:p>
          </p:txBody>
        </p:sp>
        <p:sp>
          <p:nvSpPr>
            <p:cNvPr id="162" name="Rectangle 162"/>
            <p:cNvSpPr/>
            <p:nvPr/>
          </p:nvSpPr>
          <p:spPr>
            <a:xfrm>
              <a:off x="4019550" y="4800600"/>
              <a:ext cx="1733550" cy="952500"/>
            </a:xfrm>
            <a:prstGeom prst="roundRect">
              <a:avLst>
                <a:gd name="adj" fmla="val 8000"/>
              </a:avLst>
            </a:prstGeom>
            <a:solidFill>
              <a:srgbClr val="FFFFFF"/>
            </a:solidFill>
            <a:ln w="9525">
              <a:solidFill>
                <a:srgbClr val="E6D9C0"/>
              </a:solidFill>
            </a:ln>
          </p:spPr>
        </p:sp>
        <p:sp>
          <p:nvSpPr>
            <p:cNvPr id="163" name="Ellipse 163"/>
            <p:cNvSpPr/>
            <p:nvPr/>
          </p:nvSpPr>
          <p:spPr>
            <a:xfrm>
              <a:off x="4133850" y="4914900"/>
              <a:ext cx="304800" cy="304800"/>
            </a:xfrm>
            <a:prstGeom prst="ellipse">
              <a:avLst/>
            </a:prstGeom>
            <a:solidFill>
              <a:srgbClr val="A3381F"/>
            </a:solidFill>
            <a:ln>
              <a:noFill/>
            </a:ln>
          </p:spPr>
        </p:sp>
        <p:grpSp>
          <p:nvGrpSpPr>
            <p:cNvPr id="167" name="Group 167"/>
            <p:cNvGrpSpPr/>
            <p:nvPr/>
          </p:nvGrpSpPr>
          <p:grpSpPr>
            <a:xfrm>
              <a:off x="4243388" y="5024438"/>
              <a:ext cx="85725" cy="85725"/>
              <a:chOff x="4243388" y="5024438"/>
              <a:chExt cx="85725" cy="85725"/>
            </a:xfrm>
          </p:grpSpPr>
          <p:sp>
            <p:nvSpPr>
              <p:cNvPr id="164" name="Freeform 164"/>
              <p:cNvSpPr/>
              <p:nvPr/>
            </p:nvSpPr>
            <p:spPr>
              <a:xfrm>
                <a:off x="4314825" y="5095875"/>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165" name="Freeform 165"/>
              <p:cNvSpPr/>
              <p:nvPr/>
            </p:nvSpPr>
            <p:spPr>
              <a:xfrm>
                <a:off x="4243388" y="5024438"/>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166" name="Freeform 166"/>
              <p:cNvSpPr/>
              <p:nvPr/>
            </p:nvSpPr>
            <p:spPr>
              <a:xfrm>
                <a:off x="4243388" y="5024438"/>
                <a:ext cx="85725" cy="85725"/>
              </a:xfrm>
              <a:custGeom>
                <a:avLst/>
                <a:gdLst/>
                <a:ahLst/>
                <a:cxnLst/>
                <a:rect l="l" t="t" r="r" b="b"/>
                <a:pathLst>
                  <a:path w="85725" h="85725">
                    <a:moveTo>
                      <a:pt x="0" y="85725"/>
                    </a:moveTo>
                    <a:lnTo>
                      <a:pt x="85725" y="0"/>
                    </a:lnTo>
                  </a:path>
                </a:pathLst>
              </a:custGeom>
              <a:noFill/>
              <a:ln w="14288">
                <a:solidFill>
                  <a:srgbClr val="FFFFFF"/>
                </a:solidFill>
              </a:ln>
            </p:spPr>
          </p:sp>
        </p:grpSp>
        <p:sp>
          <p:nvSpPr>
            <p:cNvPr id="168" name="TextBox 168"/>
            <p:cNvSpPr txBox="1"/>
            <p:nvPr/>
          </p:nvSpPr>
          <p:spPr>
            <a:xfrm>
              <a:off x="4510088" y="5025866"/>
              <a:ext cx="892632" cy="161925"/>
            </a:xfrm>
            <a:prstGeom prst="rect">
              <a:avLst/>
            </a:prstGeom>
            <a:noFill/>
            <a:ln>
              <a:noFill/>
            </a:ln>
          </p:spPr>
          <p:txBody>
            <a:bodyPr wrap="none" lIns="0" tIns="0" rIns="0" bIns="0" anchor="t" anchorCtr="0">
              <a:spAutoFit/>
            </a:bodyPr>
            <a:lstStyle/>
            <a:p>
              <a:pPr algn="l"/>
              <a:r>
                <a:rPr lang="zh-CN" sz="820" b="1" dirty="0">
                  <a:solidFill>
                    <a:srgbClr val="A3381F"/>
                  </a:solidFill>
                  <a:latin typeface="+mn-lt"/>
                  <a:ea typeface="+mn-ea"/>
                  <a:cs typeface="+mn-cs"/>
                </a:rPr>
                <a:t>清理低准确率标签</a:t>
              </a:r>
            </a:p>
          </p:txBody>
        </p:sp>
        <p:sp>
          <p:nvSpPr>
            <p:cNvPr id="169" name="TextBox 169"/>
            <p:cNvSpPr txBox="1"/>
            <p:nvPr/>
          </p:nvSpPr>
          <p:spPr>
            <a:xfrm>
              <a:off x="4148138" y="5322332"/>
              <a:ext cx="903605" cy="259556"/>
            </a:xfrm>
            <a:prstGeom prst="rect">
              <a:avLst/>
            </a:prstGeom>
            <a:noFill/>
            <a:ln>
              <a:noFill/>
            </a:ln>
          </p:spPr>
          <p:txBody>
            <a:bodyPr wrap="none" lIns="0" tIns="0" rIns="0" bIns="0" anchor="t" anchorCtr="0">
              <a:spAutoFit/>
            </a:bodyPr>
            <a:lstStyle/>
            <a:p>
              <a:pPr algn="l">
                <a:lnSpc>
                  <a:spcPts val="1050"/>
                </a:lnSpc>
              </a:pPr>
              <a:r>
                <a:rPr lang="zh-CN" sz="640" dirty="0">
                  <a:solidFill>
                    <a:srgbClr val="6B6B6B"/>
                  </a:solidFill>
                  <a:latin typeface="+mn-lt"/>
                  <a:ea typeface="+mn-ea"/>
                  <a:cs typeface="+mn-cs"/>
                </a:rPr>
                <a:t>识别准确率低于阈值的</a:t>
              </a:r>
              <a:br/>
              <a:r>
                <a:rPr lang="zh-CN" sz="640" dirty="0">
                  <a:solidFill>
                    <a:srgbClr val="6B6B6B"/>
                  </a:solidFill>
                  <a:latin typeface="+mn-lt"/>
                  <a:ea typeface="+mn-ea"/>
                  <a:cs typeface="+mn-cs"/>
                </a:rPr>
                <a:t>标签优化算法或下架处理</a:t>
              </a:r>
            </a:p>
          </p:txBody>
        </p:sp>
        <p:sp>
          <p:nvSpPr>
            <p:cNvPr id="170" name="Rectangle 170"/>
            <p:cNvSpPr/>
            <p:nvPr/>
          </p:nvSpPr>
          <p:spPr>
            <a:xfrm>
              <a:off x="5838825" y="4800600"/>
              <a:ext cx="1733550" cy="952500"/>
            </a:xfrm>
            <a:prstGeom prst="roundRect">
              <a:avLst>
                <a:gd name="adj" fmla="val 8000"/>
              </a:avLst>
            </a:prstGeom>
            <a:solidFill>
              <a:srgbClr val="FFFFFF"/>
            </a:solidFill>
            <a:ln w="9525">
              <a:solidFill>
                <a:srgbClr val="E6D9C0"/>
              </a:solidFill>
            </a:ln>
          </p:spPr>
        </p:sp>
        <p:sp>
          <p:nvSpPr>
            <p:cNvPr id="171" name="Ellipse 171"/>
            <p:cNvSpPr/>
            <p:nvPr/>
          </p:nvSpPr>
          <p:spPr>
            <a:xfrm>
              <a:off x="5953125" y="4914900"/>
              <a:ext cx="304800" cy="304800"/>
            </a:xfrm>
            <a:prstGeom prst="ellipse">
              <a:avLst/>
            </a:prstGeom>
            <a:solidFill>
              <a:srgbClr val="C26D5E"/>
            </a:solidFill>
            <a:ln>
              <a:noFill/>
            </a:ln>
          </p:spPr>
        </p:sp>
        <p:grpSp>
          <p:nvGrpSpPr>
            <p:cNvPr id="177" name="Group 177"/>
            <p:cNvGrpSpPr/>
            <p:nvPr/>
          </p:nvGrpSpPr>
          <p:grpSpPr>
            <a:xfrm>
              <a:off x="6048375" y="5003006"/>
              <a:ext cx="114300" cy="128587"/>
              <a:chOff x="6048375" y="5003006"/>
              <a:chExt cx="114300" cy="128587"/>
            </a:xfrm>
          </p:grpSpPr>
          <p:sp>
            <p:nvSpPr>
              <p:cNvPr id="172" name="Freeform 172"/>
              <p:cNvSpPr/>
              <p:nvPr/>
            </p:nvSpPr>
            <p:spPr>
              <a:xfrm>
                <a:off x="6048375" y="5031581"/>
                <a:ext cx="114300" cy="9525"/>
              </a:xfrm>
              <a:custGeom>
                <a:avLst/>
                <a:gdLst/>
                <a:ahLst/>
                <a:cxnLst/>
                <a:rect l="l" t="t" r="r" b="b"/>
                <a:pathLst>
                  <a:path w="114300" h="9525">
                    <a:moveTo>
                      <a:pt x="0" y="0"/>
                    </a:moveTo>
                    <a:lnTo>
                      <a:pt x="114300" y="0"/>
                    </a:lnTo>
                  </a:path>
                </a:pathLst>
              </a:custGeom>
              <a:noFill/>
              <a:ln w="14288">
                <a:solidFill>
                  <a:srgbClr val="FFFFFF"/>
                </a:solidFill>
              </a:ln>
            </p:spPr>
          </p:sp>
          <p:sp>
            <p:nvSpPr>
              <p:cNvPr id="173" name="Freeform 173"/>
              <p:cNvSpPr/>
              <p:nvPr/>
            </p:nvSpPr>
            <p:spPr>
              <a:xfrm>
                <a:off x="6091238" y="5060156"/>
                <a:ext cx="9525" cy="42862"/>
              </a:xfrm>
              <a:custGeom>
                <a:avLst/>
                <a:gdLst/>
                <a:ahLst/>
                <a:cxnLst/>
                <a:rect l="l" t="t" r="r" b="b"/>
                <a:pathLst>
                  <a:path w="9525" h="42862">
                    <a:moveTo>
                      <a:pt x="0" y="0"/>
                    </a:moveTo>
                    <a:lnTo>
                      <a:pt x="0" y="42862"/>
                    </a:lnTo>
                  </a:path>
                </a:pathLst>
              </a:custGeom>
              <a:noFill/>
              <a:ln w="14288">
                <a:solidFill>
                  <a:srgbClr val="FFFFFF"/>
                </a:solidFill>
              </a:ln>
            </p:spPr>
          </p:sp>
          <p:sp>
            <p:nvSpPr>
              <p:cNvPr id="174" name="Freeform 174"/>
              <p:cNvSpPr/>
              <p:nvPr/>
            </p:nvSpPr>
            <p:spPr>
              <a:xfrm>
                <a:off x="6119812" y="5060156"/>
                <a:ext cx="9525" cy="42862"/>
              </a:xfrm>
              <a:custGeom>
                <a:avLst/>
                <a:gdLst/>
                <a:ahLst/>
                <a:cxnLst/>
                <a:rect l="l" t="t" r="r" b="b"/>
                <a:pathLst>
                  <a:path w="9525" h="42862">
                    <a:moveTo>
                      <a:pt x="0" y="0"/>
                    </a:moveTo>
                    <a:lnTo>
                      <a:pt x="0" y="42862"/>
                    </a:lnTo>
                  </a:path>
                </a:pathLst>
              </a:custGeom>
              <a:noFill/>
              <a:ln w="14288">
                <a:solidFill>
                  <a:srgbClr val="FFFFFF"/>
                </a:solidFill>
              </a:ln>
            </p:spPr>
          </p:sp>
          <p:sp>
            <p:nvSpPr>
              <p:cNvPr id="175" name="Freeform 175"/>
              <p:cNvSpPr/>
              <p:nvPr/>
            </p:nvSpPr>
            <p:spPr>
              <a:xfrm>
                <a:off x="6055519" y="5031581"/>
                <a:ext cx="100012" cy="100012"/>
              </a:xfrm>
              <a:custGeom>
                <a:avLst/>
                <a:gdLst/>
                <a:ahLst/>
                <a:cxnLst/>
                <a:rect l="l" t="t" r="r" b="b"/>
                <a:pathLst>
                  <a:path w="100012" h="100012">
                    <a:moveTo>
                      <a:pt x="0" y="0"/>
                    </a:moveTo>
                    <a:lnTo>
                      <a:pt x="7144" y="85725"/>
                    </a:lnTo>
                    <a:cubicBezTo>
                      <a:pt x="7144" y="93616"/>
                      <a:pt x="13540" y="100012"/>
                      <a:pt x="21431" y="100012"/>
                    </a:cubicBezTo>
                    <a:lnTo>
                      <a:pt x="78581" y="100012"/>
                    </a:lnTo>
                    <a:cubicBezTo>
                      <a:pt x="86472" y="100012"/>
                      <a:pt x="92869" y="93616"/>
                      <a:pt x="92869" y="85725"/>
                    </a:cubicBezTo>
                    <a:lnTo>
                      <a:pt x="100012" y="0"/>
                    </a:lnTo>
                  </a:path>
                </a:pathLst>
              </a:custGeom>
              <a:noFill/>
              <a:ln w="14288">
                <a:solidFill>
                  <a:srgbClr val="FFFFFF"/>
                </a:solidFill>
              </a:ln>
            </p:spPr>
          </p:sp>
          <p:sp>
            <p:nvSpPr>
              <p:cNvPr id="176" name="Freeform 176"/>
              <p:cNvSpPr/>
              <p:nvPr/>
            </p:nvSpPr>
            <p:spPr>
              <a:xfrm>
                <a:off x="6084094" y="5003006"/>
                <a:ext cx="42862" cy="28575"/>
              </a:xfrm>
              <a:custGeom>
                <a:avLst/>
                <a:gdLst/>
                <a:ahLst/>
                <a:cxnLst/>
                <a:rect l="l" t="t" r="r" b="b"/>
                <a:pathLst>
                  <a:path w="42862" h="28575">
                    <a:moveTo>
                      <a:pt x="0" y="28575"/>
                    </a:moveTo>
                    <a:lnTo>
                      <a:pt x="0" y="7144"/>
                    </a:lnTo>
                    <a:cubicBezTo>
                      <a:pt x="0" y="3198"/>
                      <a:pt x="3198" y="0"/>
                      <a:pt x="7144" y="0"/>
                    </a:cubicBezTo>
                    <a:lnTo>
                      <a:pt x="35719" y="0"/>
                    </a:lnTo>
                    <a:cubicBezTo>
                      <a:pt x="39664" y="0"/>
                      <a:pt x="42862" y="3198"/>
                      <a:pt x="42862" y="7144"/>
                    </a:cubicBezTo>
                    <a:lnTo>
                      <a:pt x="42862" y="28575"/>
                    </a:lnTo>
                  </a:path>
                </a:pathLst>
              </a:custGeom>
              <a:noFill/>
              <a:ln w="14288">
                <a:solidFill>
                  <a:srgbClr val="FFFFFF"/>
                </a:solidFill>
              </a:ln>
            </p:spPr>
          </p:sp>
        </p:grpSp>
        <p:sp>
          <p:nvSpPr>
            <p:cNvPr id="178" name="TextBox 178"/>
            <p:cNvSpPr txBox="1"/>
            <p:nvPr/>
          </p:nvSpPr>
          <p:spPr>
            <a:xfrm>
              <a:off x="6329362" y="5025866"/>
              <a:ext cx="1003021" cy="161925"/>
            </a:xfrm>
            <a:prstGeom prst="rect">
              <a:avLst/>
            </a:prstGeom>
            <a:noFill/>
            <a:ln>
              <a:noFill/>
            </a:ln>
          </p:spPr>
          <p:txBody>
            <a:bodyPr wrap="none" lIns="0" tIns="0" rIns="0" bIns="0" anchor="t" anchorCtr="0">
              <a:spAutoFit/>
            </a:bodyPr>
            <a:lstStyle/>
            <a:p>
              <a:pPr algn="l"/>
              <a:r>
                <a:rPr lang="zh-CN" sz="820" b="1" dirty="0">
                  <a:solidFill>
                    <a:srgbClr val="A3381F"/>
                  </a:solidFill>
                  <a:latin typeface="+mn-lt"/>
                  <a:ea typeface="+mn-ea"/>
                  <a:cs typeface="+mn-cs"/>
                </a:rPr>
                <a:t>清理长期未使用标签</a:t>
              </a:r>
            </a:p>
          </p:txBody>
        </p:sp>
        <p:sp>
          <p:nvSpPr>
            <p:cNvPr id="179" name="TextBox 179"/>
            <p:cNvSpPr txBox="1"/>
            <p:nvPr/>
          </p:nvSpPr>
          <p:spPr>
            <a:xfrm>
              <a:off x="5967412" y="5322332"/>
              <a:ext cx="822325" cy="259556"/>
            </a:xfrm>
            <a:prstGeom prst="rect">
              <a:avLst/>
            </a:prstGeom>
            <a:noFill/>
            <a:ln>
              <a:noFill/>
            </a:ln>
          </p:spPr>
          <p:txBody>
            <a:bodyPr wrap="none" lIns="0" tIns="0" rIns="0" bIns="0" anchor="t" anchorCtr="0">
              <a:spAutoFit/>
            </a:bodyPr>
            <a:lstStyle/>
            <a:p>
              <a:pPr algn="l">
                <a:lnSpc>
                  <a:spcPts val="1050"/>
                </a:lnSpc>
              </a:pPr>
              <a:r>
                <a:rPr lang="zh-CN" sz="640" dirty="0">
                  <a:solidFill>
                    <a:srgbClr val="6B6B6B"/>
                  </a:solidFill>
                  <a:latin typeface="+mn-lt"/>
                  <a:ea typeface="+mn-ea"/>
                  <a:cs typeface="+mn-cs"/>
                </a:rPr>
                <a:t>识别长期未调用的标签</a:t>
              </a:r>
              <a:br/>
              <a:r>
                <a:rPr lang="zh-CN" sz="640" dirty="0">
                  <a:solidFill>
                    <a:srgbClr val="6B6B6B"/>
                  </a:solidFill>
                  <a:latin typeface="+mn-lt"/>
                  <a:ea typeface="+mn-ea"/>
                  <a:cs typeface="+mn-cs"/>
                </a:rPr>
                <a:t>评估价值后进行下线</a:t>
              </a:r>
            </a:p>
          </p:txBody>
        </p:sp>
      </p:grpSp>
      <p:grpSp>
        <p:nvGrpSpPr>
          <p:cNvPr id="215" name="validity-dashboard"/>
          <p:cNvGrpSpPr/>
          <p:nvPr/>
        </p:nvGrpSpPr>
        <p:grpSpPr>
          <a:xfrm>
            <a:off x="7810500" y="2095500"/>
            <a:ext cx="4000500" cy="3714750"/>
            <a:chOff x="7810500" y="2095500"/>
            <a:chExt cx="4000500" cy="3714750"/>
          </a:xfrm>
        </p:grpSpPr>
        <p:sp>
          <p:nvSpPr>
            <p:cNvPr id="181" name="Rectangle 181"/>
            <p:cNvSpPr/>
            <p:nvPr/>
          </p:nvSpPr>
          <p:spPr>
            <a:xfrm>
              <a:off x="7810500" y="2095500"/>
              <a:ext cx="4000500" cy="3714750"/>
            </a:xfrm>
            <a:prstGeom prst="roundRect">
              <a:avLst>
                <a:gd name="adj" fmla="val 3077"/>
              </a:avLst>
            </a:prstGeom>
            <a:solidFill>
              <a:srgbClr val="FFFFFF"/>
            </a:solidFill>
            <a:ln w="9525">
              <a:solidFill>
                <a:srgbClr val="E6D9C0"/>
              </a:solidFill>
            </a:ln>
          </p:spPr>
        </p:sp>
        <p:sp>
          <p:nvSpPr>
            <p:cNvPr id="182" name="Rectangle 182"/>
            <p:cNvSpPr/>
            <p:nvPr/>
          </p:nvSpPr>
          <p:spPr>
            <a:xfrm>
              <a:off x="8667750" y="2209800"/>
              <a:ext cx="2286000" cy="247650"/>
            </a:xfrm>
            <a:prstGeom prst="roundRect">
              <a:avLst>
                <a:gd name="adj" fmla="val 50000"/>
              </a:avLst>
            </a:prstGeom>
            <a:solidFill>
              <a:srgbClr val="A3381F"/>
            </a:solidFill>
            <a:ln>
              <a:noFill/>
            </a:ln>
          </p:spPr>
        </p:sp>
        <p:sp>
          <p:nvSpPr>
            <p:cNvPr id="183" name="TextBox 183"/>
            <p:cNvSpPr txBox="1"/>
            <p:nvPr/>
          </p:nvSpPr>
          <p:spPr>
            <a:xfrm>
              <a:off x="8920188" y="2280047"/>
              <a:ext cx="178112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标签有效性仪表盘（关键指标）</a:t>
              </a:r>
            </a:p>
          </p:txBody>
        </p:sp>
        <p:sp>
          <p:nvSpPr>
            <p:cNvPr id="184" name="TextBox 184"/>
            <p:cNvSpPr txBox="1"/>
            <p:nvPr/>
          </p:nvSpPr>
          <p:spPr>
            <a:xfrm>
              <a:off x="11254489" y="2644378"/>
              <a:ext cx="427924" cy="111919"/>
            </a:xfrm>
            <a:prstGeom prst="rect">
              <a:avLst/>
            </a:prstGeom>
            <a:noFill/>
            <a:ln>
              <a:noFill/>
            </a:ln>
          </p:spPr>
          <p:txBody>
            <a:bodyPr wrap="none" lIns="0" tIns="0" rIns="0" bIns="0" anchor="t" anchorCtr="0">
              <a:spAutoFit/>
            </a:bodyPr>
            <a:lstStyle/>
            <a:p>
              <a:pPr algn="r"/>
              <a:r>
                <a:rPr lang="zh-CN" sz="560" dirty="0">
                  <a:solidFill>
                    <a:srgbClr val="9A9A9A"/>
                  </a:solidFill>
                  <a:latin typeface="+mn-lt"/>
                  <a:ea typeface="+mn-ea"/>
                  <a:cs typeface="+mn-cs"/>
                </a:rPr>
                <a:t xml:space="preserve">近6期趋势　</a:t>
              </a:r>
            </a:p>
          </p:txBody>
        </p:sp>
        <p:sp>
          <p:nvSpPr>
            <p:cNvPr id="185" name="Ellipse 185"/>
            <p:cNvSpPr/>
            <p:nvPr/>
          </p:nvSpPr>
          <p:spPr>
            <a:xfrm>
              <a:off x="8010525" y="2686050"/>
              <a:ext cx="361950" cy="361950"/>
            </a:xfrm>
            <a:prstGeom prst="ellipse">
              <a:avLst/>
            </a:prstGeom>
            <a:noFill/>
            <a:ln w="57150">
              <a:solidFill>
                <a:srgbClr val="EFEAE0"/>
              </a:solidFill>
            </a:ln>
          </p:spPr>
        </p:sp>
        <p:sp>
          <p:nvSpPr>
            <p:cNvPr id="186" name="Arc 186"/>
            <p:cNvSpPr/>
            <p:nvPr/>
          </p:nvSpPr>
          <p:spPr>
            <a:xfrm>
              <a:off x="7981950" y="2657476"/>
              <a:ext cx="419095" cy="419087"/>
            </a:xfrm>
            <a:custGeom>
              <a:avLst/>
              <a:gdLst/>
              <a:ahLst/>
              <a:cxnLst/>
              <a:rect l="l" t="t" r="r" b="b"/>
              <a:pathLst>
                <a:path w="419095" h="419087">
                  <a:moveTo>
                    <a:pt x="0" y="209549"/>
                  </a:moveTo>
                  <a:lnTo>
                    <a:pt x="1014" y="188963"/>
                  </a:lnTo>
                  <a:lnTo>
                    <a:pt x="4044" y="168577"/>
                  </a:lnTo>
                  <a:lnTo>
                    <a:pt x="9063" y="148588"/>
                  </a:lnTo>
                  <a:lnTo>
                    <a:pt x="16022" y="129187"/>
                  </a:lnTo>
                  <a:lnTo>
                    <a:pt x="24852" y="110565"/>
                  </a:lnTo>
                  <a:lnTo>
                    <a:pt x="35469" y="92900"/>
                  </a:lnTo>
                  <a:lnTo>
                    <a:pt x="47770" y="76363"/>
                  </a:lnTo>
                  <a:lnTo>
                    <a:pt x="61636" y="61114"/>
                  </a:lnTo>
                  <a:lnTo>
                    <a:pt x="76933" y="47302"/>
                  </a:lnTo>
                  <a:lnTo>
                    <a:pt x="93513" y="35059"/>
                  </a:lnTo>
                  <a:lnTo>
                    <a:pt x="111215" y="24504"/>
                  </a:lnTo>
                  <a:lnTo>
                    <a:pt x="129869" y="15739"/>
                  </a:lnTo>
                  <a:lnTo>
                    <a:pt x="149293" y="8849"/>
                  </a:lnTo>
                  <a:lnTo>
                    <a:pt x="169301" y="3900"/>
                  </a:lnTo>
                  <a:lnTo>
                    <a:pt x="189697" y="941"/>
                  </a:lnTo>
                  <a:lnTo>
                    <a:pt x="210286" y="0"/>
                  </a:lnTo>
                  <a:lnTo>
                    <a:pt x="230868" y="1086"/>
                  </a:lnTo>
                  <a:lnTo>
                    <a:pt x="251243" y="4188"/>
                  </a:lnTo>
                  <a:lnTo>
                    <a:pt x="271215" y="9277"/>
                  </a:lnTo>
                  <a:lnTo>
                    <a:pt x="290591" y="16304"/>
                  </a:lnTo>
                  <a:lnTo>
                    <a:pt x="309182" y="25199"/>
                  </a:lnTo>
                  <a:lnTo>
                    <a:pt x="326810" y="35879"/>
                  </a:lnTo>
                  <a:lnTo>
                    <a:pt x="343303" y="48238"/>
                  </a:lnTo>
                  <a:lnTo>
                    <a:pt x="358503" y="62157"/>
                  </a:lnTo>
                  <a:lnTo>
                    <a:pt x="372261" y="77503"/>
                  </a:lnTo>
                  <a:lnTo>
                    <a:pt x="384446" y="94125"/>
                  </a:lnTo>
                  <a:lnTo>
                    <a:pt x="394939" y="111865"/>
                  </a:lnTo>
                  <a:lnTo>
                    <a:pt x="403638" y="130549"/>
                  </a:lnTo>
                  <a:lnTo>
                    <a:pt x="410460" y="149997"/>
                  </a:lnTo>
                  <a:lnTo>
                    <a:pt x="415338" y="170022"/>
                  </a:lnTo>
                  <a:lnTo>
                    <a:pt x="418226" y="190429"/>
                  </a:lnTo>
                  <a:lnTo>
                    <a:pt x="419095" y="211021"/>
                  </a:lnTo>
                  <a:lnTo>
                    <a:pt x="417937" y="231598"/>
                  </a:lnTo>
                  <a:lnTo>
                    <a:pt x="414763" y="251963"/>
                  </a:lnTo>
                  <a:lnTo>
                    <a:pt x="409604" y="271917"/>
                  </a:lnTo>
                  <a:lnTo>
                    <a:pt x="402509" y="291267"/>
                  </a:lnTo>
                  <a:lnTo>
                    <a:pt x="393548" y="309828"/>
                  </a:lnTo>
                  <a:lnTo>
                    <a:pt x="382807" y="327418"/>
                  </a:lnTo>
                  <a:lnTo>
                    <a:pt x="370390" y="343868"/>
                  </a:lnTo>
                  <a:lnTo>
                    <a:pt x="356417" y="359018"/>
                  </a:lnTo>
                  <a:lnTo>
                    <a:pt x="341024" y="372723"/>
                  </a:lnTo>
                  <a:lnTo>
                    <a:pt x="324358" y="384849"/>
                  </a:lnTo>
                  <a:lnTo>
                    <a:pt x="306582" y="395279"/>
                  </a:lnTo>
                  <a:lnTo>
                    <a:pt x="287868" y="403913"/>
                  </a:lnTo>
                  <a:lnTo>
                    <a:pt x="268395" y="410667"/>
                  </a:lnTo>
                  <a:lnTo>
                    <a:pt x="248354" y="415475"/>
                  </a:lnTo>
                  <a:lnTo>
                    <a:pt x="227937" y="418290"/>
                  </a:lnTo>
                  <a:lnTo>
                    <a:pt x="207342" y="419087"/>
                  </a:lnTo>
                  <a:lnTo>
                    <a:pt x="186769" y="417857"/>
                  </a:lnTo>
                  <a:lnTo>
                    <a:pt x="166416" y="414611"/>
                  </a:lnTo>
                  <a:lnTo>
                    <a:pt x="146480" y="409382"/>
                  </a:lnTo>
                  <a:lnTo>
                    <a:pt x="127154" y="402220"/>
                  </a:lnTo>
                  <a:lnTo>
                    <a:pt x="108625" y="393194"/>
                  </a:lnTo>
                  <a:lnTo>
                    <a:pt x="91073" y="382391"/>
                  </a:lnTo>
                  <a:lnTo>
                    <a:pt x="74667" y="369916"/>
                  </a:lnTo>
                  <a:lnTo>
                    <a:pt x="59565" y="355890"/>
                  </a:lnTo>
                  <a:lnTo>
                    <a:pt x="45915" y="340449"/>
                  </a:lnTo>
                  <a:lnTo>
                    <a:pt x="33847" y="323741"/>
                  </a:lnTo>
                  <a:lnTo>
                    <a:pt x="23480" y="305928"/>
                  </a:lnTo>
                  <a:lnTo>
                    <a:pt x="74226" y="279643"/>
                  </a:lnTo>
                  <a:lnTo>
                    <a:pt x="81766" y="292597"/>
                  </a:lnTo>
                  <a:lnTo>
                    <a:pt x="90543" y="304749"/>
                  </a:lnTo>
                  <a:lnTo>
                    <a:pt x="100470" y="315979"/>
                  </a:lnTo>
                  <a:lnTo>
                    <a:pt x="111453" y="326180"/>
                  </a:lnTo>
                  <a:lnTo>
                    <a:pt x="123385" y="335252"/>
                  </a:lnTo>
                  <a:lnTo>
                    <a:pt x="136150" y="343109"/>
                  </a:lnTo>
                  <a:lnTo>
                    <a:pt x="149626" y="349673"/>
                  </a:lnTo>
                  <a:lnTo>
                    <a:pt x="163681" y="354882"/>
                  </a:lnTo>
                  <a:lnTo>
                    <a:pt x="178179" y="358685"/>
                  </a:lnTo>
                  <a:lnTo>
                    <a:pt x="192982" y="361045"/>
                  </a:lnTo>
                  <a:lnTo>
                    <a:pt x="207944" y="361940"/>
                  </a:lnTo>
                  <a:lnTo>
                    <a:pt x="222922" y="361361"/>
                  </a:lnTo>
                  <a:lnTo>
                    <a:pt x="237771" y="359313"/>
                  </a:lnTo>
                  <a:lnTo>
                    <a:pt x="252347" y="355816"/>
                  </a:lnTo>
                  <a:lnTo>
                    <a:pt x="266508" y="350905"/>
                  </a:lnTo>
                  <a:lnTo>
                    <a:pt x="280119" y="344626"/>
                  </a:lnTo>
                  <a:lnTo>
                    <a:pt x="293047" y="337040"/>
                  </a:lnTo>
                  <a:lnTo>
                    <a:pt x="305167" y="328221"/>
                  </a:lnTo>
                  <a:lnTo>
                    <a:pt x="316363" y="318254"/>
                  </a:lnTo>
                  <a:lnTo>
                    <a:pt x="326525" y="307235"/>
                  </a:lnTo>
                  <a:lnTo>
                    <a:pt x="335555" y="295272"/>
                  </a:lnTo>
                  <a:lnTo>
                    <a:pt x="343367" y="282479"/>
                  </a:lnTo>
                  <a:lnTo>
                    <a:pt x="349884" y="268981"/>
                  </a:lnTo>
                  <a:lnTo>
                    <a:pt x="355044" y="254907"/>
                  </a:lnTo>
                  <a:lnTo>
                    <a:pt x="358796" y="240395"/>
                  </a:lnTo>
                  <a:lnTo>
                    <a:pt x="361104" y="225585"/>
                  </a:lnTo>
                  <a:lnTo>
                    <a:pt x="361946" y="210619"/>
                  </a:lnTo>
                  <a:lnTo>
                    <a:pt x="361314" y="195643"/>
                  </a:lnTo>
                  <a:lnTo>
                    <a:pt x="359214" y="180802"/>
                  </a:lnTo>
                  <a:lnTo>
                    <a:pt x="355666" y="166239"/>
                  </a:lnTo>
                  <a:lnTo>
                    <a:pt x="350705" y="152094"/>
                  </a:lnTo>
                  <a:lnTo>
                    <a:pt x="344378" y="138506"/>
                  </a:lnTo>
                  <a:lnTo>
                    <a:pt x="336747" y="125604"/>
                  </a:lnTo>
                  <a:lnTo>
                    <a:pt x="327886" y="113515"/>
                  </a:lnTo>
                  <a:lnTo>
                    <a:pt x="317879" y="102355"/>
                  </a:lnTo>
                  <a:lnTo>
                    <a:pt x="306825" y="92232"/>
                  </a:lnTo>
                  <a:lnTo>
                    <a:pt x="294830" y="83243"/>
                  </a:lnTo>
                  <a:lnTo>
                    <a:pt x="282010" y="75477"/>
                  </a:lnTo>
                  <a:lnTo>
                    <a:pt x="268489" y="69007"/>
                  </a:lnTo>
                  <a:lnTo>
                    <a:pt x="254397" y="63897"/>
                  </a:lnTo>
                  <a:lnTo>
                    <a:pt x="239872" y="60196"/>
                  </a:lnTo>
                  <a:lnTo>
                    <a:pt x="225054" y="57939"/>
                  </a:lnTo>
                  <a:lnTo>
                    <a:pt x="210085" y="57150"/>
                  </a:lnTo>
                  <a:lnTo>
                    <a:pt x="195112" y="57834"/>
                  </a:lnTo>
                  <a:lnTo>
                    <a:pt x="180278" y="59986"/>
                  </a:lnTo>
                  <a:lnTo>
                    <a:pt x="165727" y="63585"/>
                  </a:lnTo>
                  <a:lnTo>
                    <a:pt x="151600" y="68596"/>
                  </a:lnTo>
                  <a:lnTo>
                    <a:pt x="138034" y="74971"/>
                  </a:lnTo>
                  <a:lnTo>
                    <a:pt x="125159" y="82647"/>
                  </a:lnTo>
                  <a:lnTo>
                    <a:pt x="113101" y="91551"/>
                  </a:lnTo>
                  <a:lnTo>
                    <a:pt x="101976" y="101597"/>
                  </a:lnTo>
                  <a:lnTo>
                    <a:pt x="91892" y="112686"/>
                  </a:lnTo>
                  <a:lnTo>
                    <a:pt x="82946" y="124713"/>
                  </a:lnTo>
                  <a:lnTo>
                    <a:pt x="75224" y="137560"/>
                  </a:lnTo>
                  <a:lnTo>
                    <a:pt x="68802" y="151104"/>
                  </a:lnTo>
                  <a:lnTo>
                    <a:pt x="63741" y="165213"/>
                  </a:lnTo>
                  <a:lnTo>
                    <a:pt x="60091" y="179751"/>
                  </a:lnTo>
                  <a:lnTo>
                    <a:pt x="57887" y="194578"/>
                  </a:lnTo>
                  <a:lnTo>
                    <a:pt x="57150" y="209549"/>
                  </a:lnTo>
                  <a:close/>
                </a:path>
              </a:pathLst>
            </a:custGeom>
            <a:solidFill>
              <a:srgbClr val="A3381F"/>
            </a:solidFill>
            <a:ln>
              <a:noFill/>
            </a:ln>
          </p:spPr>
        </p:sp>
        <p:sp>
          <p:nvSpPr>
            <p:cNvPr id="187" name="TextBox 187"/>
            <p:cNvSpPr txBox="1"/>
            <p:nvPr/>
          </p:nvSpPr>
          <p:spPr>
            <a:xfrm>
              <a:off x="8491538" y="2693670"/>
              <a:ext cx="372999"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覆盖率</a:t>
              </a:r>
            </a:p>
          </p:txBody>
        </p:sp>
        <p:sp>
          <p:nvSpPr>
            <p:cNvPr id="188" name="TextBox 188"/>
            <p:cNvSpPr txBox="1"/>
            <p:nvPr/>
          </p:nvSpPr>
          <p:spPr>
            <a:xfrm>
              <a:off x="8491538" y="2893457"/>
              <a:ext cx="957250"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有标签覆盖目标对象占比</a:t>
              </a:r>
            </a:p>
          </p:txBody>
        </p:sp>
        <p:sp>
          <p:nvSpPr>
            <p:cNvPr id="189" name="TextBox 189"/>
            <p:cNvSpPr txBox="1"/>
            <p:nvPr/>
          </p:nvSpPr>
          <p:spPr>
            <a:xfrm>
              <a:off x="9898761" y="2789396"/>
              <a:ext cx="606597" cy="278702"/>
            </a:xfrm>
            <a:prstGeom prst="rect">
              <a:avLst/>
            </a:prstGeom>
            <a:noFill/>
            <a:ln>
              <a:noFill/>
            </a:ln>
          </p:spPr>
          <p:txBody>
            <a:bodyPr wrap="none" lIns="0" tIns="0" rIns="0" bIns="0" anchor="t" anchorCtr="0">
              <a:spAutoFit/>
            </a:bodyPr>
            <a:lstStyle/>
            <a:p>
              <a:pPr algn="l"/>
              <a:r>
                <a:rPr lang="zh-CN" sz="1420" b="1" dirty="0">
                  <a:solidFill>
                    <a:srgbClr val="A3381F"/>
                  </a:solidFill>
                  <a:latin typeface="+mn-lt"/>
                  <a:ea typeface="+mn-ea"/>
                  <a:cs typeface="+mn-cs"/>
                </a:rPr>
                <a:t>92.6%</a:t>
              </a:r>
            </a:p>
          </p:txBody>
        </p:sp>
        <p:sp>
          <p:nvSpPr>
            <p:cNvPr id="190" name="Polyline 190"/>
            <p:cNvSpPr/>
            <p:nvPr/>
          </p:nvSpPr>
          <p:spPr>
            <a:xfrm>
              <a:off x="10763250" y="2895600"/>
              <a:ext cx="762000" cy="104775"/>
            </a:xfrm>
            <a:custGeom>
              <a:avLst/>
              <a:gdLst/>
              <a:ahLst/>
              <a:cxnLst/>
              <a:rect l="l" t="t" r="r" b="b"/>
              <a:pathLst>
                <a:path w="762000" h="104775">
                  <a:moveTo>
                    <a:pt x="0" y="104775"/>
                  </a:moveTo>
                  <a:lnTo>
                    <a:pt x="152400" y="76200"/>
                  </a:lnTo>
                  <a:lnTo>
                    <a:pt x="304800" y="85725"/>
                  </a:lnTo>
                  <a:lnTo>
                    <a:pt x="457200" y="38100"/>
                  </a:lnTo>
                  <a:lnTo>
                    <a:pt x="609600" y="47625"/>
                  </a:lnTo>
                  <a:lnTo>
                    <a:pt x="762000" y="0"/>
                  </a:lnTo>
                </a:path>
              </a:pathLst>
            </a:custGeom>
            <a:noFill/>
            <a:ln w="14288">
              <a:solidFill>
                <a:srgbClr val="A3381F"/>
              </a:solidFill>
            </a:ln>
          </p:spPr>
        </p:sp>
        <p:sp>
          <p:nvSpPr>
            <p:cNvPr id="191" name="Ellipse 191"/>
            <p:cNvSpPr/>
            <p:nvPr/>
          </p:nvSpPr>
          <p:spPr>
            <a:xfrm>
              <a:off x="8010525" y="3314700"/>
              <a:ext cx="361950" cy="361950"/>
            </a:xfrm>
            <a:prstGeom prst="ellipse">
              <a:avLst/>
            </a:prstGeom>
            <a:noFill/>
            <a:ln w="57150">
              <a:solidFill>
                <a:srgbClr val="EFEAE0"/>
              </a:solidFill>
            </a:ln>
          </p:spPr>
        </p:sp>
        <p:sp>
          <p:nvSpPr>
            <p:cNvPr id="192" name="Arc 192"/>
            <p:cNvSpPr/>
            <p:nvPr/>
          </p:nvSpPr>
          <p:spPr>
            <a:xfrm>
              <a:off x="7981950" y="3286135"/>
              <a:ext cx="419062" cy="419004"/>
            </a:xfrm>
            <a:custGeom>
              <a:avLst/>
              <a:gdLst/>
              <a:ahLst/>
              <a:cxnLst/>
              <a:rect l="l" t="t" r="r" b="b"/>
              <a:pathLst>
                <a:path w="419062" h="419004">
                  <a:moveTo>
                    <a:pt x="0" y="209540"/>
                  </a:moveTo>
                  <a:lnTo>
                    <a:pt x="1021" y="188876"/>
                  </a:lnTo>
                  <a:lnTo>
                    <a:pt x="4075" y="168414"/>
                  </a:lnTo>
                  <a:lnTo>
                    <a:pt x="9132" y="148352"/>
                  </a:lnTo>
                  <a:lnTo>
                    <a:pt x="16143" y="128887"/>
                  </a:lnTo>
                  <a:lnTo>
                    <a:pt x="25039" y="110208"/>
                  </a:lnTo>
                  <a:lnTo>
                    <a:pt x="35734" y="92497"/>
                  </a:lnTo>
                  <a:lnTo>
                    <a:pt x="48123" y="75927"/>
                  </a:lnTo>
                  <a:lnTo>
                    <a:pt x="62085" y="60660"/>
                  </a:lnTo>
                  <a:lnTo>
                    <a:pt x="77485" y="46844"/>
                  </a:lnTo>
                  <a:lnTo>
                    <a:pt x="94173" y="34614"/>
                  </a:lnTo>
                  <a:lnTo>
                    <a:pt x="111985" y="24089"/>
                  </a:lnTo>
                  <a:lnTo>
                    <a:pt x="130748" y="15372"/>
                  </a:lnTo>
                  <a:lnTo>
                    <a:pt x="150279" y="8547"/>
                  </a:lnTo>
                  <a:lnTo>
                    <a:pt x="170388" y="3682"/>
                  </a:lnTo>
                  <a:lnTo>
                    <a:pt x="190879" y="824"/>
                  </a:lnTo>
                  <a:lnTo>
                    <a:pt x="211552" y="0"/>
                  </a:lnTo>
                  <a:lnTo>
                    <a:pt x="232205" y="1219"/>
                  </a:lnTo>
                  <a:lnTo>
                    <a:pt x="252638" y="4468"/>
                  </a:lnTo>
                  <a:lnTo>
                    <a:pt x="272650" y="9717"/>
                  </a:lnTo>
                  <a:lnTo>
                    <a:pt x="292048" y="16913"/>
                  </a:lnTo>
                  <a:lnTo>
                    <a:pt x="310641" y="25987"/>
                  </a:lnTo>
                  <a:lnTo>
                    <a:pt x="328249" y="36850"/>
                  </a:lnTo>
                  <a:lnTo>
                    <a:pt x="344699" y="49397"/>
                  </a:lnTo>
                  <a:lnTo>
                    <a:pt x="359833" y="63505"/>
                  </a:lnTo>
                  <a:lnTo>
                    <a:pt x="373501" y="79036"/>
                  </a:lnTo>
                  <a:lnTo>
                    <a:pt x="385571" y="95840"/>
                  </a:lnTo>
                  <a:lnTo>
                    <a:pt x="395925" y="113752"/>
                  </a:lnTo>
                  <a:lnTo>
                    <a:pt x="404463" y="132597"/>
                  </a:lnTo>
                  <a:lnTo>
                    <a:pt x="411100" y="152193"/>
                  </a:lnTo>
                  <a:lnTo>
                    <a:pt x="415773" y="172348"/>
                  </a:lnTo>
                  <a:lnTo>
                    <a:pt x="418435" y="192865"/>
                  </a:lnTo>
                  <a:lnTo>
                    <a:pt x="419062" y="213545"/>
                  </a:lnTo>
                  <a:lnTo>
                    <a:pt x="417646" y="234185"/>
                  </a:lnTo>
                  <a:lnTo>
                    <a:pt x="414201" y="254586"/>
                  </a:lnTo>
                  <a:lnTo>
                    <a:pt x="408762" y="274547"/>
                  </a:lnTo>
                  <a:lnTo>
                    <a:pt x="401380" y="293875"/>
                  </a:lnTo>
                  <a:lnTo>
                    <a:pt x="392129" y="312380"/>
                  </a:lnTo>
                  <a:lnTo>
                    <a:pt x="381098" y="329884"/>
                  </a:lnTo>
                  <a:lnTo>
                    <a:pt x="368395" y="346214"/>
                  </a:lnTo>
                  <a:lnTo>
                    <a:pt x="354143" y="361211"/>
                  </a:lnTo>
                  <a:lnTo>
                    <a:pt x="338482" y="374731"/>
                  </a:lnTo>
                  <a:lnTo>
                    <a:pt x="321564" y="386640"/>
                  </a:lnTo>
                  <a:lnTo>
                    <a:pt x="303554" y="396822"/>
                  </a:lnTo>
                  <a:lnTo>
                    <a:pt x="284627" y="405179"/>
                  </a:lnTo>
                  <a:lnTo>
                    <a:pt x="264969" y="411629"/>
                  </a:lnTo>
                  <a:lnTo>
                    <a:pt x="244771" y="416109"/>
                  </a:lnTo>
                  <a:lnTo>
                    <a:pt x="224229" y="418576"/>
                  </a:lnTo>
                  <a:lnTo>
                    <a:pt x="203544" y="419004"/>
                  </a:lnTo>
                  <a:lnTo>
                    <a:pt x="182918" y="417391"/>
                  </a:lnTo>
                  <a:lnTo>
                    <a:pt x="162551" y="413752"/>
                  </a:lnTo>
                  <a:lnTo>
                    <a:pt x="142643" y="408122"/>
                  </a:lnTo>
                  <a:lnTo>
                    <a:pt x="123387" y="400556"/>
                  </a:lnTo>
                  <a:lnTo>
                    <a:pt x="104970" y="391129"/>
                  </a:lnTo>
                  <a:lnTo>
                    <a:pt x="87573" y="379931"/>
                  </a:lnTo>
                  <a:lnTo>
                    <a:pt x="71365" y="367072"/>
                  </a:lnTo>
                  <a:lnTo>
                    <a:pt x="56504" y="352678"/>
                  </a:lnTo>
                  <a:lnTo>
                    <a:pt x="43135" y="336888"/>
                  </a:lnTo>
                  <a:lnTo>
                    <a:pt x="31389" y="319857"/>
                  </a:lnTo>
                  <a:lnTo>
                    <a:pt x="21379" y="301750"/>
                  </a:lnTo>
                  <a:lnTo>
                    <a:pt x="13203" y="282745"/>
                  </a:lnTo>
                  <a:lnTo>
                    <a:pt x="66752" y="262780"/>
                  </a:lnTo>
                  <a:lnTo>
                    <a:pt x="72698" y="276602"/>
                  </a:lnTo>
                  <a:lnTo>
                    <a:pt x="79978" y="289771"/>
                  </a:lnTo>
                  <a:lnTo>
                    <a:pt x="88521" y="302157"/>
                  </a:lnTo>
                  <a:lnTo>
                    <a:pt x="98244" y="313640"/>
                  </a:lnTo>
                  <a:lnTo>
                    <a:pt x="109052" y="324109"/>
                  </a:lnTo>
                  <a:lnTo>
                    <a:pt x="120840" y="333461"/>
                  </a:lnTo>
                  <a:lnTo>
                    <a:pt x="133492" y="341605"/>
                  </a:lnTo>
                  <a:lnTo>
                    <a:pt x="146886" y="348461"/>
                  </a:lnTo>
                  <a:lnTo>
                    <a:pt x="160890" y="353963"/>
                  </a:lnTo>
                  <a:lnTo>
                    <a:pt x="175369" y="358058"/>
                  </a:lnTo>
                  <a:lnTo>
                    <a:pt x="190181" y="360705"/>
                  </a:lnTo>
                  <a:lnTo>
                    <a:pt x="205182" y="361878"/>
                  </a:lnTo>
                  <a:lnTo>
                    <a:pt x="220226" y="361566"/>
                  </a:lnTo>
                  <a:lnTo>
                    <a:pt x="235165" y="359772"/>
                  </a:lnTo>
                  <a:lnTo>
                    <a:pt x="249855" y="356514"/>
                  </a:lnTo>
                  <a:lnTo>
                    <a:pt x="264152" y="351823"/>
                  </a:lnTo>
                  <a:lnTo>
                    <a:pt x="277916" y="345745"/>
                  </a:lnTo>
                  <a:lnTo>
                    <a:pt x="291014" y="338340"/>
                  </a:lnTo>
                  <a:lnTo>
                    <a:pt x="303319" y="329679"/>
                  </a:lnTo>
                  <a:lnTo>
                    <a:pt x="314709" y="319847"/>
                  </a:lnTo>
                  <a:lnTo>
                    <a:pt x="325073" y="308939"/>
                  </a:lnTo>
                  <a:lnTo>
                    <a:pt x="334312" y="297063"/>
                  </a:lnTo>
                  <a:lnTo>
                    <a:pt x="342335" y="284333"/>
                  </a:lnTo>
                  <a:lnTo>
                    <a:pt x="349063" y="270875"/>
                  </a:lnTo>
                  <a:lnTo>
                    <a:pt x="354431" y="256818"/>
                  </a:lnTo>
                  <a:lnTo>
                    <a:pt x="358387" y="242301"/>
                  </a:lnTo>
                  <a:lnTo>
                    <a:pt x="360892" y="227464"/>
                  </a:lnTo>
                  <a:lnTo>
                    <a:pt x="361922" y="212452"/>
                  </a:lnTo>
                  <a:lnTo>
                    <a:pt x="361467" y="197413"/>
                  </a:lnTo>
                  <a:lnTo>
                    <a:pt x="359530" y="182491"/>
                  </a:lnTo>
                  <a:lnTo>
                    <a:pt x="356132" y="167833"/>
                  </a:lnTo>
                  <a:lnTo>
                    <a:pt x="351305" y="153582"/>
                  </a:lnTo>
                  <a:lnTo>
                    <a:pt x="345096" y="139876"/>
                  </a:lnTo>
                  <a:lnTo>
                    <a:pt x="337565" y="126849"/>
                  </a:lnTo>
                  <a:lnTo>
                    <a:pt x="328787" y="114628"/>
                  </a:lnTo>
                  <a:lnTo>
                    <a:pt x="318846" y="103333"/>
                  </a:lnTo>
                  <a:lnTo>
                    <a:pt x="307840" y="93073"/>
                  </a:lnTo>
                  <a:lnTo>
                    <a:pt x="295876" y="83948"/>
                  </a:lnTo>
                  <a:lnTo>
                    <a:pt x="283071" y="76047"/>
                  </a:lnTo>
                  <a:lnTo>
                    <a:pt x="269548" y="69448"/>
                  </a:lnTo>
                  <a:lnTo>
                    <a:pt x="255441" y="64214"/>
                  </a:lnTo>
                  <a:lnTo>
                    <a:pt x="240887" y="60397"/>
                  </a:lnTo>
                  <a:lnTo>
                    <a:pt x="226027" y="58034"/>
                  </a:lnTo>
                  <a:lnTo>
                    <a:pt x="211006" y="57147"/>
                  </a:lnTo>
                  <a:lnTo>
                    <a:pt x="195971" y="57747"/>
                  </a:lnTo>
                  <a:lnTo>
                    <a:pt x="181069" y="59825"/>
                  </a:lnTo>
                  <a:lnTo>
                    <a:pt x="166444" y="63364"/>
                  </a:lnTo>
                  <a:lnTo>
                    <a:pt x="152239" y="68327"/>
                  </a:lnTo>
                  <a:lnTo>
                    <a:pt x="138594" y="74667"/>
                  </a:lnTo>
                  <a:lnTo>
                    <a:pt x="125639" y="82321"/>
                  </a:lnTo>
                  <a:lnTo>
                    <a:pt x="113503" y="91216"/>
                  </a:lnTo>
                  <a:lnTo>
                    <a:pt x="102303" y="101264"/>
                  </a:lnTo>
                  <a:lnTo>
                    <a:pt x="92148" y="112367"/>
                  </a:lnTo>
                  <a:lnTo>
                    <a:pt x="83138" y="124418"/>
                  </a:lnTo>
                  <a:lnTo>
                    <a:pt x="75360" y="137299"/>
                  </a:lnTo>
                  <a:lnTo>
                    <a:pt x="68890" y="150883"/>
                  </a:lnTo>
                  <a:lnTo>
                    <a:pt x="63792" y="165040"/>
                  </a:lnTo>
                  <a:lnTo>
                    <a:pt x="60114" y="179630"/>
                  </a:lnTo>
                  <a:lnTo>
                    <a:pt x="57893" y="194512"/>
                  </a:lnTo>
                  <a:lnTo>
                    <a:pt x="57150" y="209540"/>
                  </a:lnTo>
                  <a:close/>
                </a:path>
              </a:pathLst>
            </a:custGeom>
            <a:solidFill>
              <a:srgbClr val="C26D5E"/>
            </a:solidFill>
            <a:ln>
              <a:noFill/>
            </a:ln>
          </p:spPr>
        </p:sp>
        <p:sp>
          <p:nvSpPr>
            <p:cNvPr id="193" name="TextBox 193"/>
            <p:cNvSpPr txBox="1"/>
            <p:nvPr/>
          </p:nvSpPr>
          <p:spPr>
            <a:xfrm>
              <a:off x="8491538" y="3322320"/>
              <a:ext cx="372999"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准确性</a:t>
              </a:r>
            </a:p>
          </p:txBody>
        </p:sp>
        <p:sp>
          <p:nvSpPr>
            <p:cNvPr id="194" name="TextBox 194"/>
            <p:cNvSpPr txBox="1"/>
            <p:nvPr/>
          </p:nvSpPr>
          <p:spPr>
            <a:xfrm>
              <a:off x="8491538" y="3522107"/>
              <a:ext cx="871093"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标签值与事实一致占比</a:t>
              </a:r>
            </a:p>
          </p:txBody>
        </p:sp>
        <p:sp>
          <p:nvSpPr>
            <p:cNvPr id="195" name="TextBox 195"/>
            <p:cNvSpPr txBox="1"/>
            <p:nvPr/>
          </p:nvSpPr>
          <p:spPr>
            <a:xfrm>
              <a:off x="9898761" y="3418046"/>
              <a:ext cx="606597" cy="278702"/>
            </a:xfrm>
            <a:prstGeom prst="rect">
              <a:avLst/>
            </a:prstGeom>
            <a:noFill/>
            <a:ln>
              <a:noFill/>
            </a:ln>
          </p:spPr>
          <p:txBody>
            <a:bodyPr wrap="none" lIns="0" tIns="0" rIns="0" bIns="0" anchor="t" anchorCtr="0">
              <a:spAutoFit/>
            </a:bodyPr>
            <a:lstStyle/>
            <a:p>
              <a:pPr algn="l"/>
              <a:r>
                <a:rPr lang="zh-CN" sz="1420" b="1" dirty="0">
                  <a:solidFill>
                    <a:srgbClr val="A24B3C"/>
                  </a:solidFill>
                  <a:latin typeface="+mn-lt"/>
                  <a:ea typeface="+mn-ea"/>
                  <a:cs typeface="+mn-cs"/>
                </a:rPr>
                <a:t>94.3%</a:t>
              </a:r>
            </a:p>
          </p:txBody>
        </p:sp>
        <p:sp>
          <p:nvSpPr>
            <p:cNvPr id="196" name="Polyline 196"/>
            <p:cNvSpPr/>
            <p:nvPr/>
          </p:nvSpPr>
          <p:spPr>
            <a:xfrm>
              <a:off x="10763250" y="3552825"/>
              <a:ext cx="762000" cy="85725"/>
            </a:xfrm>
            <a:custGeom>
              <a:avLst/>
              <a:gdLst/>
              <a:ahLst/>
              <a:cxnLst/>
              <a:rect l="l" t="t" r="r" b="b"/>
              <a:pathLst>
                <a:path w="762000" h="85725">
                  <a:moveTo>
                    <a:pt x="0" y="76200"/>
                  </a:moveTo>
                  <a:lnTo>
                    <a:pt x="152400" y="85725"/>
                  </a:lnTo>
                  <a:lnTo>
                    <a:pt x="304800" y="38100"/>
                  </a:lnTo>
                  <a:lnTo>
                    <a:pt x="457200" y="47625"/>
                  </a:lnTo>
                  <a:lnTo>
                    <a:pt x="609600" y="0"/>
                  </a:lnTo>
                  <a:lnTo>
                    <a:pt x="762000" y="9525"/>
                  </a:lnTo>
                </a:path>
              </a:pathLst>
            </a:custGeom>
            <a:noFill/>
            <a:ln w="14288">
              <a:solidFill>
                <a:srgbClr val="C26D5E"/>
              </a:solidFill>
            </a:ln>
          </p:spPr>
        </p:sp>
        <p:sp>
          <p:nvSpPr>
            <p:cNvPr id="197" name="Ellipse 197"/>
            <p:cNvSpPr/>
            <p:nvPr/>
          </p:nvSpPr>
          <p:spPr>
            <a:xfrm>
              <a:off x="8010525" y="3943350"/>
              <a:ext cx="361950" cy="361950"/>
            </a:xfrm>
            <a:prstGeom prst="ellipse">
              <a:avLst/>
            </a:prstGeom>
            <a:noFill/>
            <a:ln w="57150">
              <a:solidFill>
                <a:srgbClr val="EFEAE0"/>
              </a:solidFill>
            </a:ln>
          </p:spPr>
        </p:sp>
        <p:sp>
          <p:nvSpPr>
            <p:cNvPr id="198" name="Arc 198"/>
            <p:cNvSpPr/>
            <p:nvPr/>
          </p:nvSpPr>
          <p:spPr>
            <a:xfrm>
              <a:off x="7981950" y="3914796"/>
              <a:ext cx="419018" cy="418894"/>
            </a:xfrm>
            <a:custGeom>
              <a:avLst/>
              <a:gdLst/>
              <a:ahLst/>
              <a:cxnLst/>
              <a:rect l="l" t="t" r="r" b="b"/>
              <a:pathLst>
                <a:path w="419018" h="418894">
                  <a:moveTo>
                    <a:pt x="0" y="209529"/>
                  </a:moveTo>
                  <a:lnTo>
                    <a:pt x="1027" y="188807"/>
                  </a:lnTo>
                  <a:lnTo>
                    <a:pt x="4098" y="168288"/>
                  </a:lnTo>
                  <a:lnTo>
                    <a:pt x="9184" y="148173"/>
                  </a:lnTo>
                  <a:lnTo>
                    <a:pt x="16233" y="128660"/>
                  </a:lnTo>
                  <a:lnTo>
                    <a:pt x="25178" y="109940"/>
                  </a:lnTo>
                  <a:lnTo>
                    <a:pt x="35930" y="92195"/>
                  </a:lnTo>
                  <a:lnTo>
                    <a:pt x="48384" y="75601"/>
                  </a:lnTo>
                  <a:lnTo>
                    <a:pt x="62418" y="60320"/>
                  </a:lnTo>
                  <a:lnTo>
                    <a:pt x="77894" y="46502"/>
                  </a:lnTo>
                  <a:lnTo>
                    <a:pt x="94661" y="34282"/>
                  </a:lnTo>
                  <a:lnTo>
                    <a:pt x="112554" y="23779"/>
                  </a:lnTo>
                  <a:lnTo>
                    <a:pt x="131399" y="15098"/>
                  </a:lnTo>
                  <a:lnTo>
                    <a:pt x="151009" y="8323"/>
                  </a:lnTo>
                  <a:lnTo>
                    <a:pt x="171193" y="3520"/>
                  </a:lnTo>
                  <a:lnTo>
                    <a:pt x="191753" y="737"/>
                  </a:lnTo>
                  <a:lnTo>
                    <a:pt x="212487" y="0"/>
                  </a:lnTo>
                  <a:lnTo>
                    <a:pt x="233193" y="1317"/>
                  </a:lnTo>
                  <a:lnTo>
                    <a:pt x="253667" y="4676"/>
                  </a:lnTo>
                  <a:lnTo>
                    <a:pt x="273709" y="10043"/>
                  </a:lnTo>
                  <a:lnTo>
                    <a:pt x="293121" y="17365"/>
                  </a:lnTo>
                  <a:lnTo>
                    <a:pt x="311715" y="26571"/>
                  </a:lnTo>
                  <a:lnTo>
                    <a:pt x="329306" y="37571"/>
                  </a:lnTo>
                  <a:lnTo>
                    <a:pt x="345724" y="50257"/>
                  </a:lnTo>
                  <a:lnTo>
                    <a:pt x="360807" y="64503"/>
                  </a:lnTo>
                  <a:lnTo>
                    <a:pt x="374407" y="80172"/>
                  </a:lnTo>
                  <a:lnTo>
                    <a:pt x="386391" y="97109"/>
                  </a:lnTo>
                  <a:lnTo>
                    <a:pt x="396641" y="115147"/>
                  </a:lnTo>
                  <a:lnTo>
                    <a:pt x="405058" y="134111"/>
                  </a:lnTo>
                  <a:lnTo>
                    <a:pt x="411558" y="153814"/>
                  </a:lnTo>
                  <a:lnTo>
                    <a:pt x="416077" y="174064"/>
                  </a:lnTo>
                  <a:lnTo>
                    <a:pt x="418572" y="194661"/>
                  </a:lnTo>
                  <a:lnTo>
                    <a:pt x="419018" y="215404"/>
                  </a:lnTo>
                  <a:lnTo>
                    <a:pt x="417410" y="236089"/>
                  </a:lnTo>
                  <a:lnTo>
                    <a:pt x="413765" y="256514"/>
                  </a:lnTo>
                  <a:lnTo>
                    <a:pt x="408118" y="276478"/>
                  </a:lnTo>
                  <a:lnTo>
                    <a:pt x="400524" y="295786"/>
                  </a:lnTo>
                  <a:lnTo>
                    <a:pt x="391058" y="314249"/>
                  </a:lnTo>
                  <a:lnTo>
                    <a:pt x="379813" y="331684"/>
                  </a:lnTo>
                  <a:lnTo>
                    <a:pt x="366898" y="347923"/>
                  </a:lnTo>
                  <a:lnTo>
                    <a:pt x="352441" y="362804"/>
                  </a:lnTo>
                  <a:lnTo>
                    <a:pt x="336584" y="376184"/>
                  </a:lnTo>
                  <a:lnTo>
                    <a:pt x="319481" y="387929"/>
                  </a:lnTo>
                  <a:lnTo>
                    <a:pt x="301300" y="397925"/>
                  </a:lnTo>
                  <a:lnTo>
                    <a:pt x="282220" y="406075"/>
                  </a:lnTo>
                  <a:lnTo>
                    <a:pt x="262428" y="412298"/>
                  </a:lnTo>
                  <a:lnTo>
                    <a:pt x="242117" y="416533"/>
                  </a:lnTo>
                  <a:lnTo>
                    <a:pt x="221487" y="418739"/>
                  </a:lnTo>
                  <a:lnTo>
                    <a:pt x="200740" y="418894"/>
                  </a:lnTo>
                  <a:lnTo>
                    <a:pt x="180079" y="416997"/>
                  </a:lnTo>
                  <a:lnTo>
                    <a:pt x="159708" y="413065"/>
                  </a:lnTo>
                  <a:lnTo>
                    <a:pt x="139824" y="407139"/>
                  </a:lnTo>
                  <a:lnTo>
                    <a:pt x="120625" y="399275"/>
                  </a:lnTo>
                  <a:lnTo>
                    <a:pt x="102297" y="389552"/>
                  </a:lnTo>
                  <a:lnTo>
                    <a:pt x="85020" y="378063"/>
                  </a:lnTo>
                  <a:lnTo>
                    <a:pt x="68965" y="364922"/>
                  </a:lnTo>
                  <a:lnTo>
                    <a:pt x="54287" y="350258"/>
                  </a:lnTo>
                  <a:lnTo>
                    <a:pt x="41132" y="334215"/>
                  </a:lnTo>
                  <a:lnTo>
                    <a:pt x="29627" y="316949"/>
                  </a:lnTo>
                  <a:lnTo>
                    <a:pt x="19886" y="298630"/>
                  </a:lnTo>
                  <a:lnTo>
                    <a:pt x="12005" y="279438"/>
                  </a:lnTo>
                  <a:lnTo>
                    <a:pt x="6060" y="259560"/>
                  </a:lnTo>
                  <a:lnTo>
                    <a:pt x="61557" y="245915"/>
                  </a:lnTo>
                  <a:lnTo>
                    <a:pt x="65881" y="260372"/>
                  </a:lnTo>
                  <a:lnTo>
                    <a:pt x="71613" y="274330"/>
                  </a:lnTo>
                  <a:lnTo>
                    <a:pt x="78697" y="287653"/>
                  </a:lnTo>
                  <a:lnTo>
                    <a:pt x="87064" y="300210"/>
                  </a:lnTo>
                  <a:lnTo>
                    <a:pt x="96631" y="311878"/>
                  </a:lnTo>
                  <a:lnTo>
                    <a:pt x="107306" y="322542"/>
                  </a:lnTo>
                  <a:lnTo>
                    <a:pt x="118983" y="332099"/>
                  </a:lnTo>
                  <a:lnTo>
                    <a:pt x="131548" y="340455"/>
                  </a:lnTo>
                  <a:lnTo>
                    <a:pt x="144877" y="347526"/>
                  </a:lnTo>
                  <a:lnTo>
                    <a:pt x="158840" y="353245"/>
                  </a:lnTo>
                  <a:lnTo>
                    <a:pt x="173301" y="357556"/>
                  </a:lnTo>
                  <a:lnTo>
                    <a:pt x="188117" y="360415"/>
                  </a:lnTo>
                  <a:lnTo>
                    <a:pt x="203143" y="361795"/>
                  </a:lnTo>
                  <a:lnTo>
                    <a:pt x="218232" y="361682"/>
                  </a:lnTo>
                  <a:lnTo>
                    <a:pt x="233235" y="360078"/>
                  </a:lnTo>
                  <a:lnTo>
                    <a:pt x="248007" y="356998"/>
                  </a:lnTo>
                  <a:lnTo>
                    <a:pt x="262401" y="352472"/>
                  </a:lnTo>
                  <a:lnTo>
                    <a:pt x="276278" y="346545"/>
                  </a:lnTo>
                  <a:lnTo>
                    <a:pt x="289500" y="339275"/>
                  </a:lnTo>
                  <a:lnTo>
                    <a:pt x="301938" y="330732"/>
                  </a:lnTo>
                  <a:lnTo>
                    <a:pt x="313471" y="321002"/>
                  </a:lnTo>
                  <a:lnTo>
                    <a:pt x="323985" y="310179"/>
                  </a:lnTo>
                  <a:lnTo>
                    <a:pt x="333377" y="298369"/>
                  </a:lnTo>
                  <a:lnTo>
                    <a:pt x="341556" y="285689"/>
                  </a:lnTo>
                  <a:lnTo>
                    <a:pt x="348440" y="272262"/>
                  </a:lnTo>
                  <a:lnTo>
                    <a:pt x="353963" y="258219"/>
                  </a:lnTo>
                  <a:lnTo>
                    <a:pt x="358070" y="243700"/>
                  </a:lnTo>
                  <a:lnTo>
                    <a:pt x="360721" y="228845"/>
                  </a:lnTo>
                  <a:lnTo>
                    <a:pt x="361890" y="213802"/>
                  </a:lnTo>
                  <a:lnTo>
                    <a:pt x="361566" y="198716"/>
                  </a:lnTo>
                  <a:lnTo>
                    <a:pt x="359751" y="183736"/>
                  </a:lnTo>
                  <a:lnTo>
                    <a:pt x="356465" y="169009"/>
                  </a:lnTo>
                  <a:lnTo>
                    <a:pt x="351737" y="154680"/>
                  </a:lnTo>
                  <a:lnTo>
                    <a:pt x="345616" y="140888"/>
                  </a:lnTo>
                  <a:lnTo>
                    <a:pt x="338162" y="127769"/>
                  </a:lnTo>
                  <a:lnTo>
                    <a:pt x="329446" y="115451"/>
                  </a:lnTo>
                  <a:lnTo>
                    <a:pt x="319555" y="104056"/>
                  </a:lnTo>
                  <a:lnTo>
                    <a:pt x="308586" y="93695"/>
                  </a:lnTo>
                  <a:lnTo>
                    <a:pt x="296645" y="84469"/>
                  </a:lnTo>
                  <a:lnTo>
                    <a:pt x="283851" y="76469"/>
                  </a:lnTo>
                  <a:lnTo>
                    <a:pt x="270329" y="69774"/>
                  </a:lnTo>
                  <a:lnTo>
                    <a:pt x="256211" y="64448"/>
                  </a:lnTo>
                  <a:lnTo>
                    <a:pt x="241635" y="60545"/>
                  </a:lnTo>
                  <a:lnTo>
                    <a:pt x="226745" y="58103"/>
                  </a:lnTo>
                  <a:lnTo>
                    <a:pt x="211686" y="57144"/>
                  </a:lnTo>
                  <a:lnTo>
                    <a:pt x="196607" y="57680"/>
                  </a:lnTo>
                  <a:lnTo>
                    <a:pt x="181654" y="59704"/>
                  </a:lnTo>
                  <a:lnTo>
                    <a:pt x="166975" y="63197"/>
                  </a:lnTo>
                  <a:lnTo>
                    <a:pt x="152713" y="68125"/>
                  </a:lnTo>
                  <a:lnTo>
                    <a:pt x="139008" y="74438"/>
                  </a:lnTo>
                  <a:lnTo>
                    <a:pt x="125995" y="82077"/>
                  </a:lnTo>
                  <a:lnTo>
                    <a:pt x="113800" y="90964"/>
                  </a:lnTo>
                  <a:lnTo>
                    <a:pt x="102545" y="101014"/>
                  </a:lnTo>
                  <a:lnTo>
                    <a:pt x="92338" y="112127"/>
                  </a:lnTo>
                  <a:lnTo>
                    <a:pt x="83281" y="124196"/>
                  </a:lnTo>
                  <a:lnTo>
                    <a:pt x="75461" y="137100"/>
                  </a:lnTo>
                  <a:lnTo>
                    <a:pt x="68956" y="150715"/>
                  </a:lnTo>
                  <a:lnTo>
                    <a:pt x="63829" y="164907"/>
                  </a:lnTo>
                  <a:lnTo>
                    <a:pt x="60131" y="179536"/>
                  </a:lnTo>
                  <a:lnTo>
                    <a:pt x="57897" y="194459"/>
                  </a:lnTo>
                  <a:lnTo>
                    <a:pt x="57150" y="209529"/>
                  </a:lnTo>
                  <a:close/>
                </a:path>
              </a:pathLst>
            </a:custGeom>
            <a:solidFill>
              <a:srgbClr val="5E3A33"/>
            </a:solidFill>
            <a:ln>
              <a:noFill/>
            </a:ln>
          </p:spPr>
        </p:sp>
        <p:sp>
          <p:nvSpPr>
            <p:cNvPr id="199" name="TextBox 199"/>
            <p:cNvSpPr txBox="1"/>
            <p:nvPr/>
          </p:nvSpPr>
          <p:spPr>
            <a:xfrm>
              <a:off x="8491538" y="3950970"/>
              <a:ext cx="372999"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及时率</a:t>
              </a:r>
            </a:p>
          </p:txBody>
        </p:sp>
        <p:sp>
          <p:nvSpPr>
            <p:cNvPr id="200" name="TextBox 200"/>
            <p:cNvSpPr txBox="1"/>
            <p:nvPr/>
          </p:nvSpPr>
          <p:spPr>
            <a:xfrm>
              <a:off x="8491538" y="4150757"/>
              <a:ext cx="871093"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在规定时间更新的占比</a:t>
              </a:r>
            </a:p>
          </p:txBody>
        </p:sp>
        <p:sp>
          <p:nvSpPr>
            <p:cNvPr id="201" name="TextBox 201"/>
            <p:cNvSpPr txBox="1"/>
            <p:nvPr/>
          </p:nvSpPr>
          <p:spPr>
            <a:xfrm>
              <a:off x="9898761" y="4046696"/>
              <a:ext cx="606597" cy="278702"/>
            </a:xfrm>
            <a:prstGeom prst="rect">
              <a:avLst/>
            </a:prstGeom>
            <a:noFill/>
            <a:ln>
              <a:noFill/>
            </a:ln>
          </p:spPr>
          <p:txBody>
            <a:bodyPr wrap="none" lIns="0" tIns="0" rIns="0" bIns="0" anchor="t" anchorCtr="0">
              <a:spAutoFit/>
            </a:bodyPr>
            <a:lstStyle/>
            <a:p>
              <a:pPr algn="l"/>
              <a:r>
                <a:rPr lang="zh-CN" sz="1420" b="1" dirty="0">
                  <a:solidFill>
                    <a:srgbClr val="5E3A33"/>
                  </a:solidFill>
                  <a:latin typeface="+mn-lt"/>
                  <a:ea typeface="+mn-ea"/>
                  <a:cs typeface="+mn-cs"/>
                </a:rPr>
                <a:t>96.1%</a:t>
              </a:r>
            </a:p>
          </p:txBody>
        </p:sp>
        <p:sp>
          <p:nvSpPr>
            <p:cNvPr id="202" name="Polyline 202"/>
            <p:cNvSpPr/>
            <p:nvPr/>
          </p:nvSpPr>
          <p:spPr>
            <a:xfrm>
              <a:off x="10763250" y="4133850"/>
              <a:ext cx="762000" cy="123825"/>
            </a:xfrm>
            <a:custGeom>
              <a:avLst/>
              <a:gdLst/>
              <a:ahLst/>
              <a:cxnLst/>
              <a:rect l="l" t="t" r="r" b="b"/>
              <a:pathLst>
                <a:path w="762000" h="123825">
                  <a:moveTo>
                    <a:pt x="0" y="123825"/>
                  </a:moveTo>
                  <a:lnTo>
                    <a:pt x="152400" y="76200"/>
                  </a:lnTo>
                  <a:lnTo>
                    <a:pt x="304800" y="85725"/>
                  </a:lnTo>
                  <a:lnTo>
                    <a:pt x="457200" y="38100"/>
                  </a:lnTo>
                  <a:lnTo>
                    <a:pt x="609600" y="47625"/>
                  </a:lnTo>
                  <a:lnTo>
                    <a:pt x="762000" y="0"/>
                  </a:lnTo>
                </a:path>
              </a:pathLst>
            </a:custGeom>
            <a:noFill/>
            <a:ln w="14288">
              <a:solidFill>
                <a:srgbClr val="5E3A33"/>
              </a:solidFill>
            </a:ln>
          </p:spPr>
        </p:sp>
        <p:sp>
          <p:nvSpPr>
            <p:cNvPr id="203" name="Ellipse 203"/>
            <p:cNvSpPr/>
            <p:nvPr/>
          </p:nvSpPr>
          <p:spPr>
            <a:xfrm>
              <a:off x="8010525" y="4572000"/>
              <a:ext cx="361950" cy="361950"/>
            </a:xfrm>
            <a:prstGeom prst="ellipse">
              <a:avLst/>
            </a:prstGeom>
            <a:noFill/>
            <a:ln w="57150">
              <a:solidFill>
                <a:srgbClr val="EFEAE0"/>
              </a:solidFill>
            </a:ln>
          </p:spPr>
        </p:sp>
        <p:sp>
          <p:nvSpPr>
            <p:cNvPr id="204" name="Arc 204"/>
            <p:cNvSpPr/>
            <p:nvPr/>
          </p:nvSpPr>
          <p:spPr>
            <a:xfrm>
              <a:off x="7981950" y="4543428"/>
              <a:ext cx="419087" cy="419067"/>
            </a:xfrm>
            <a:custGeom>
              <a:avLst/>
              <a:gdLst/>
              <a:ahLst/>
              <a:cxnLst/>
              <a:rect l="l" t="t" r="r" b="b"/>
              <a:pathLst>
                <a:path w="419087" h="419067">
                  <a:moveTo>
                    <a:pt x="0" y="209547"/>
                  </a:moveTo>
                  <a:lnTo>
                    <a:pt x="1016" y="188934"/>
                  </a:lnTo>
                  <a:lnTo>
                    <a:pt x="4055" y="168521"/>
                  </a:lnTo>
                  <a:lnTo>
                    <a:pt x="9087" y="148506"/>
                  </a:lnTo>
                  <a:lnTo>
                    <a:pt x="16064" y="129083"/>
                  </a:lnTo>
                  <a:lnTo>
                    <a:pt x="24917" y="110441"/>
                  </a:lnTo>
                  <a:lnTo>
                    <a:pt x="35561" y="92760"/>
                  </a:lnTo>
                  <a:lnTo>
                    <a:pt x="47893" y="76211"/>
                  </a:lnTo>
                  <a:lnTo>
                    <a:pt x="61793" y="60956"/>
                  </a:lnTo>
                  <a:lnTo>
                    <a:pt x="77126" y="47143"/>
                  </a:lnTo>
                  <a:lnTo>
                    <a:pt x="93743" y="34904"/>
                  </a:lnTo>
                  <a:lnTo>
                    <a:pt x="111484" y="24359"/>
                  </a:lnTo>
                  <a:lnTo>
                    <a:pt x="130176" y="15611"/>
                  </a:lnTo>
                  <a:lnTo>
                    <a:pt x="149638" y="8744"/>
                  </a:lnTo>
                  <a:lnTo>
                    <a:pt x="169681" y="3824"/>
                  </a:lnTo>
                  <a:lnTo>
                    <a:pt x="190110" y="900"/>
                  </a:lnTo>
                  <a:lnTo>
                    <a:pt x="210729" y="0"/>
                  </a:lnTo>
                  <a:lnTo>
                    <a:pt x="231335" y="1132"/>
                  </a:lnTo>
                  <a:lnTo>
                    <a:pt x="251731" y="4286"/>
                  </a:lnTo>
                  <a:lnTo>
                    <a:pt x="271717" y="9431"/>
                  </a:lnTo>
                  <a:lnTo>
                    <a:pt x="291100" y="16516"/>
                  </a:lnTo>
                  <a:lnTo>
                    <a:pt x="309693" y="25474"/>
                  </a:lnTo>
                  <a:lnTo>
                    <a:pt x="327314" y="36218"/>
                  </a:lnTo>
                  <a:lnTo>
                    <a:pt x="343792" y="48642"/>
                  </a:lnTo>
                  <a:lnTo>
                    <a:pt x="358969" y="62628"/>
                  </a:lnTo>
                  <a:lnTo>
                    <a:pt x="372696" y="78038"/>
                  </a:lnTo>
                  <a:lnTo>
                    <a:pt x="384841" y="94724"/>
                  </a:lnTo>
                  <a:lnTo>
                    <a:pt x="395286" y="112524"/>
                  </a:lnTo>
                  <a:lnTo>
                    <a:pt x="403929" y="131265"/>
                  </a:lnTo>
                  <a:lnTo>
                    <a:pt x="410687" y="150765"/>
                  </a:lnTo>
                  <a:lnTo>
                    <a:pt x="415493" y="170835"/>
                  </a:lnTo>
                  <a:lnTo>
                    <a:pt x="418302" y="191281"/>
                  </a:lnTo>
                  <a:lnTo>
                    <a:pt x="419087" y="211904"/>
                  </a:lnTo>
                  <a:lnTo>
                    <a:pt x="417839" y="232504"/>
                  </a:lnTo>
                  <a:lnTo>
                    <a:pt x="414570" y="252881"/>
                  </a:lnTo>
                  <a:lnTo>
                    <a:pt x="409313" y="272838"/>
                  </a:lnTo>
                  <a:lnTo>
                    <a:pt x="402119" y="292182"/>
                  </a:lnTo>
                  <a:lnTo>
                    <a:pt x="393056" y="310723"/>
                  </a:lnTo>
                  <a:lnTo>
                    <a:pt x="382214" y="328284"/>
                  </a:lnTo>
                  <a:lnTo>
                    <a:pt x="369697" y="344692"/>
                  </a:lnTo>
                  <a:lnTo>
                    <a:pt x="355626" y="359790"/>
                  </a:lnTo>
                  <a:lnTo>
                    <a:pt x="340139" y="373430"/>
                  </a:lnTo>
                  <a:lnTo>
                    <a:pt x="323385" y="385481"/>
                  </a:lnTo>
                  <a:lnTo>
                    <a:pt x="305526" y="395825"/>
                  </a:lnTo>
                  <a:lnTo>
                    <a:pt x="286737" y="404363"/>
                  </a:lnTo>
                  <a:lnTo>
                    <a:pt x="267199" y="411011"/>
                  </a:lnTo>
                  <a:lnTo>
                    <a:pt x="247102" y="415704"/>
                  </a:lnTo>
                  <a:lnTo>
                    <a:pt x="226641" y="418399"/>
                  </a:lnTo>
                  <a:lnTo>
                    <a:pt x="206014" y="419067"/>
                  </a:lnTo>
                  <a:lnTo>
                    <a:pt x="185421" y="417703"/>
                  </a:lnTo>
                  <a:lnTo>
                    <a:pt x="165063" y="414320"/>
                  </a:lnTo>
                  <a:lnTo>
                    <a:pt x="177196" y="358473"/>
                  </a:lnTo>
                  <a:lnTo>
                    <a:pt x="192002" y="360933"/>
                  </a:lnTo>
                  <a:lnTo>
                    <a:pt x="206978" y="361925"/>
                  </a:lnTo>
                  <a:lnTo>
                    <a:pt x="221980" y="361439"/>
                  </a:lnTo>
                  <a:lnTo>
                    <a:pt x="236861" y="359480"/>
                  </a:lnTo>
                  <a:lnTo>
                    <a:pt x="251477" y="356066"/>
                  </a:lnTo>
                  <a:lnTo>
                    <a:pt x="265686" y="351231"/>
                  </a:lnTo>
                  <a:lnTo>
                    <a:pt x="279351" y="345022"/>
                  </a:lnTo>
                  <a:lnTo>
                    <a:pt x="292339" y="337499"/>
                  </a:lnTo>
                  <a:lnTo>
                    <a:pt x="304524" y="328735"/>
                  </a:lnTo>
                  <a:lnTo>
                    <a:pt x="315787" y="318814"/>
                  </a:lnTo>
                  <a:lnTo>
                    <a:pt x="326020" y="307834"/>
                  </a:lnTo>
                  <a:lnTo>
                    <a:pt x="335124" y="295901"/>
                  </a:lnTo>
                  <a:lnTo>
                    <a:pt x="343009" y="283130"/>
                  </a:lnTo>
                  <a:lnTo>
                    <a:pt x="349600" y="269645"/>
                  </a:lnTo>
                  <a:lnTo>
                    <a:pt x="354832" y="255577"/>
                  </a:lnTo>
                  <a:lnTo>
                    <a:pt x="358656" y="241063"/>
                  </a:lnTo>
                  <a:lnTo>
                    <a:pt x="361033" y="226243"/>
                  </a:lnTo>
                  <a:lnTo>
                    <a:pt x="361940" y="211261"/>
                  </a:lnTo>
                  <a:lnTo>
                    <a:pt x="361370" y="196263"/>
                  </a:lnTo>
                  <a:lnTo>
                    <a:pt x="359327" y="181393"/>
                  </a:lnTo>
                  <a:lnTo>
                    <a:pt x="355831" y="166796"/>
                  </a:lnTo>
                  <a:lnTo>
                    <a:pt x="350916" y="152614"/>
                  </a:lnTo>
                  <a:lnTo>
                    <a:pt x="344631" y="138985"/>
                  </a:lnTo>
                  <a:lnTo>
                    <a:pt x="337035" y="126040"/>
                  </a:lnTo>
                  <a:lnTo>
                    <a:pt x="328202" y="113904"/>
                  </a:lnTo>
                  <a:lnTo>
                    <a:pt x="318218" y="102697"/>
                  </a:lnTo>
                  <a:lnTo>
                    <a:pt x="307181" y="92525"/>
                  </a:lnTo>
                  <a:lnTo>
                    <a:pt x="295196" y="83489"/>
                  </a:lnTo>
                  <a:lnTo>
                    <a:pt x="282381" y="75676"/>
                  </a:lnTo>
                  <a:lnTo>
                    <a:pt x="268859" y="69161"/>
                  </a:lnTo>
                  <a:lnTo>
                    <a:pt x="254762" y="64008"/>
                  </a:lnTo>
                  <a:lnTo>
                    <a:pt x="240227" y="60266"/>
                  </a:lnTo>
                  <a:lnTo>
                    <a:pt x="225394" y="57973"/>
                  </a:lnTo>
                  <a:lnTo>
                    <a:pt x="210407" y="57149"/>
                  </a:lnTo>
                  <a:lnTo>
                    <a:pt x="195412" y="57804"/>
                  </a:lnTo>
                  <a:lnTo>
                    <a:pt x="180554" y="59930"/>
                  </a:lnTo>
                  <a:lnTo>
                    <a:pt x="165978" y="63508"/>
                  </a:lnTo>
                  <a:lnTo>
                    <a:pt x="151824" y="68503"/>
                  </a:lnTo>
                  <a:lnTo>
                    <a:pt x="138229" y="74865"/>
                  </a:lnTo>
                  <a:lnTo>
                    <a:pt x="125327" y="82534"/>
                  </a:lnTo>
                  <a:lnTo>
                    <a:pt x="113242" y="91435"/>
                  </a:lnTo>
                  <a:lnTo>
                    <a:pt x="102090" y="101481"/>
                  </a:lnTo>
                  <a:lnTo>
                    <a:pt x="91981" y="112576"/>
                  </a:lnTo>
                  <a:lnTo>
                    <a:pt x="83013" y="124611"/>
                  </a:lnTo>
                  <a:lnTo>
                    <a:pt x="75272" y="137470"/>
                  </a:lnTo>
                  <a:lnTo>
                    <a:pt x="68833" y="151028"/>
                  </a:lnTo>
                  <a:lnTo>
                    <a:pt x="63759" y="165154"/>
                  </a:lnTo>
                  <a:lnTo>
                    <a:pt x="60099" y="179710"/>
                  </a:lnTo>
                  <a:lnTo>
                    <a:pt x="57889" y="194556"/>
                  </a:lnTo>
                  <a:lnTo>
                    <a:pt x="57150" y="209547"/>
                  </a:lnTo>
                  <a:close/>
                </a:path>
              </a:pathLst>
            </a:custGeom>
            <a:solidFill>
              <a:srgbClr val="C85E46"/>
            </a:solidFill>
            <a:ln>
              <a:noFill/>
            </a:ln>
          </p:spPr>
        </p:sp>
        <p:sp>
          <p:nvSpPr>
            <p:cNvPr id="205" name="TextBox 205"/>
            <p:cNvSpPr txBox="1"/>
            <p:nvPr/>
          </p:nvSpPr>
          <p:spPr>
            <a:xfrm>
              <a:off x="8491538" y="4579620"/>
              <a:ext cx="372999"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调用率</a:t>
              </a:r>
            </a:p>
          </p:txBody>
        </p:sp>
        <p:sp>
          <p:nvSpPr>
            <p:cNvPr id="206" name="TextBox 206"/>
            <p:cNvSpPr txBox="1"/>
            <p:nvPr/>
          </p:nvSpPr>
          <p:spPr>
            <a:xfrm>
              <a:off x="8491538" y="4779407"/>
              <a:ext cx="871093"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被有效调用的次数占比</a:t>
              </a:r>
            </a:p>
          </p:txBody>
        </p:sp>
        <p:sp>
          <p:nvSpPr>
            <p:cNvPr id="207" name="TextBox 207"/>
            <p:cNvSpPr txBox="1"/>
            <p:nvPr/>
          </p:nvSpPr>
          <p:spPr>
            <a:xfrm>
              <a:off x="9898761" y="4675346"/>
              <a:ext cx="606597" cy="278702"/>
            </a:xfrm>
            <a:prstGeom prst="rect">
              <a:avLst/>
            </a:prstGeom>
            <a:noFill/>
            <a:ln>
              <a:noFill/>
            </a:ln>
          </p:spPr>
          <p:txBody>
            <a:bodyPr wrap="none" lIns="0" tIns="0" rIns="0" bIns="0" anchor="t" anchorCtr="0">
              <a:spAutoFit/>
            </a:bodyPr>
            <a:lstStyle/>
            <a:p>
              <a:pPr algn="l"/>
              <a:r>
                <a:rPr lang="zh-CN" sz="1420" b="1" dirty="0">
                  <a:solidFill>
                    <a:srgbClr val="C85E46"/>
                  </a:solidFill>
                  <a:latin typeface="+mn-lt"/>
                  <a:ea typeface="+mn-ea"/>
                  <a:cs typeface="+mn-cs"/>
                </a:rPr>
                <a:t>78.4%</a:t>
              </a:r>
            </a:p>
          </p:txBody>
        </p:sp>
        <p:sp>
          <p:nvSpPr>
            <p:cNvPr id="208" name="Polyline 208"/>
            <p:cNvSpPr/>
            <p:nvPr/>
          </p:nvSpPr>
          <p:spPr>
            <a:xfrm>
              <a:off x="10763250" y="4676775"/>
              <a:ext cx="762000" cy="57150"/>
            </a:xfrm>
            <a:custGeom>
              <a:avLst/>
              <a:gdLst/>
              <a:ahLst/>
              <a:cxnLst/>
              <a:rect l="l" t="t" r="r" b="b"/>
              <a:pathLst>
                <a:path w="762000" h="57150">
                  <a:moveTo>
                    <a:pt x="0" y="19050"/>
                  </a:moveTo>
                  <a:lnTo>
                    <a:pt x="152400" y="57150"/>
                  </a:lnTo>
                  <a:lnTo>
                    <a:pt x="304800" y="9525"/>
                  </a:lnTo>
                  <a:lnTo>
                    <a:pt x="457200" y="47625"/>
                  </a:lnTo>
                  <a:lnTo>
                    <a:pt x="609600" y="0"/>
                  </a:lnTo>
                  <a:lnTo>
                    <a:pt x="762000" y="28575"/>
                  </a:lnTo>
                </a:path>
              </a:pathLst>
            </a:custGeom>
            <a:noFill/>
            <a:ln w="14288">
              <a:solidFill>
                <a:srgbClr val="C85E46"/>
              </a:solidFill>
            </a:ln>
          </p:spPr>
        </p:sp>
        <p:sp>
          <p:nvSpPr>
            <p:cNvPr id="209" name="Ellipse 209"/>
            <p:cNvSpPr/>
            <p:nvPr/>
          </p:nvSpPr>
          <p:spPr>
            <a:xfrm>
              <a:off x="8010525" y="5200650"/>
              <a:ext cx="361950" cy="361950"/>
            </a:xfrm>
            <a:prstGeom prst="ellipse">
              <a:avLst/>
            </a:prstGeom>
            <a:noFill/>
            <a:ln w="57150">
              <a:solidFill>
                <a:srgbClr val="EFEAE0"/>
              </a:solidFill>
            </a:ln>
          </p:spPr>
        </p:sp>
        <p:sp>
          <p:nvSpPr>
            <p:cNvPr id="210" name="Arc 210"/>
            <p:cNvSpPr/>
            <p:nvPr/>
          </p:nvSpPr>
          <p:spPr>
            <a:xfrm>
              <a:off x="7981950" y="5172140"/>
              <a:ext cx="295750" cy="209485"/>
            </a:xfrm>
            <a:custGeom>
              <a:avLst/>
              <a:gdLst/>
              <a:ahLst/>
              <a:cxnLst/>
              <a:rect l="l" t="t" r="r" b="b"/>
              <a:pathLst>
                <a:path w="295750" h="209485">
                  <a:moveTo>
                    <a:pt x="0" y="209485"/>
                  </a:moveTo>
                  <a:lnTo>
                    <a:pt x="1041" y="188619"/>
                  </a:lnTo>
                  <a:lnTo>
                    <a:pt x="4155" y="167961"/>
                  </a:lnTo>
                  <a:lnTo>
                    <a:pt x="9310" y="147716"/>
                  </a:lnTo>
                  <a:lnTo>
                    <a:pt x="16456" y="128085"/>
                  </a:lnTo>
                  <a:lnTo>
                    <a:pt x="25521" y="109263"/>
                  </a:lnTo>
                  <a:lnTo>
                    <a:pt x="36414" y="91437"/>
                  </a:lnTo>
                  <a:lnTo>
                    <a:pt x="49029" y="74784"/>
                  </a:lnTo>
                  <a:lnTo>
                    <a:pt x="63239" y="59470"/>
                  </a:lnTo>
                  <a:lnTo>
                    <a:pt x="78903" y="45647"/>
                  </a:lnTo>
                  <a:lnTo>
                    <a:pt x="95866" y="33453"/>
                  </a:lnTo>
                  <a:lnTo>
                    <a:pt x="113959" y="23008"/>
                  </a:lnTo>
                  <a:lnTo>
                    <a:pt x="133002" y="14417"/>
                  </a:lnTo>
                  <a:lnTo>
                    <a:pt x="152805" y="7764"/>
                  </a:lnTo>
                  <a:lnTo>
                    <a:pt x="173173" y="3116"/>
                  </a:lnTo>
                  <a:lnTo>
                    <a:pt x="193902" y="520"/>
                  </a:lnTo>
                  <a:lnTo>
                    <a:pt x="214787" y="0"/>
                  </a:lnTo>
                  <a:lnTo>
                    <a:pt x="235619" y="1562"/>
                  </a:lnTo>
                  <a:lnTo>
                    <a:pt x="256193" y="5192"/>
                  </a:lnTo>
                  <a:lnTo>
                    <a:pt x="276303" y="10851"/>
                  </a:lnTo>
                  <a:lnTo>
                    <a:pt x="295750" y="18485"/>
                  </a:lnTo>
                  <a:lnTo>
                    <a:pt x="272241" y="70576"/>
                  </a:lnTo>
                  <a:lnTo>
                    <a:pt x="258098" y="65024"/>
                  </a:lnTo>
                  <a:lnTo>
                    <a:pt x="243472" y="60908"/>
                  </a:lnTo>
                  <a:lnTo>
                    <a:pt x="228510" y="58269"/>
                  </a:lnTo>
                  <a:lnTo>
                    <a:pt x="213359" y="57132"/>
                  </a:lnTo>
                  <a:lnTo>
                    <a:pt x="198170" y="57510"/>
                  </a:lnTo>
                  <a:lnTo>
                    <a:pt x="183094" y="59398"/>
                  </a:lnTo>
                  <a:lnTo>
                    <a:pt x="168281" y="62779"/>
                  </a:lnTo>
                  <a:lnTo>
                    <a:pt x="153878" y="67617"/>
                  </a:lnTo>
                  <a:lnTo>
                    <a:pt x="140029" y="73865"/>
                  </a:lnTo>
                  <a:lnTo>
                    <a:pt x="126871" y="81462"/>
                  </a:lnTo>
                  <a:lnTo>
                    <a:pt x="114534" y="90330"/>
                  </a:lnTo>
                  <a:lnTo>
                    <a:pt x="103142" y="100383"/>
                  </a:lnTo>
                  <a:lnTo>
                    <a:pt x="92807" y="111521"/>
                  </a:lnTo>
                  <a:lnTo>
                    <a:pt x="83633" y="123632"/>
                  </a:lnTo>
                  <a:lnTo>
                    <a:pt x="75710" y="136596"/>
                  </a:lnTo>
                  <a:lnTo>
                    <a:pt x="69118" y="150285"/>
                  </a:lnTo>
                  <a:lnTo>
                    <a:pt x="63921" y="164562"/>
                  </a:lnTo>
                  <a:lnTo>
                    <a:pt x="60172" y="179286"/>
                  </a:lnTo>
                  <a:lnTo>
                    <a:pt x="57907" y="194310"/>
                  </a:lnTo>
                  <a:lnTo>
                    <a:pt x="57150" y="209485"/>
                  </a:lnTo>
                  <a:close/>
                </a:path>
              </a:pathLst>
            </a:custGeom>
            <a:solidFill>
              <a:srgbClr val="A24B3C"/>
            </a:solidFill>
            <a:ln>
              <a:noFill/>
            </a:ln>
          </p:spPr>
        </p:sp>
        <p:sp>
          <p:nvSpPr>
            <p:cNvPr id="211" name="TextBox 211"/>
            <p:cNvSpPr txBox="1"/>
            <p:nvPr/>
          </p:nvSpPr>
          <p:spPr>
            <a:xfrm>
              <a:off x="8491538" y="5208270"/>
              <a:ext cx="372999"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贡献率</a:t>
              </a:r>
            </a:p>
          </p:txBody>
        </p:sp>
        <p:sp>
          <p:nvSpPr>
            <p:cNvPr id="212" name="TextBox 212"/>
            <p:cNvSpPr txBox="1"/>
            <p:nvPr/>
          </p:nvSpPr>
          <p:spPr>
            <a:xfrm>
              <a:off x="8491538" y="5408057"/>
              <a:ext cx="1129563"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标签对业务指标提升的贡献度</a:t>
              </a:r>
            </a:p>
          </p:txBody>
        </p:sp>
        <p:sp>
          <p:nvSpPr>
            <p:cNvPr id="213" name="TextBox 213"/>
            <p:cNvSpPr txBox="1"/>
            <p:nvPr/>
          </p:nvSpPr>
          <p:spPr>
            <a:xfrm>
              <a:off x="9898761" y="5303996"/>
              <a:ext cx="606597" cy="278702"/>
            </a:xfrm>
            <a:prstGeom prst="rect">
              <a:avLst/>
            </a:prstGeom>
            <a:noFill/>
            <a:ln>
              <a:noFill/>
            </a:ln>
          </p:spPr>
          <p:txBody>
            <a:bodyPr wrap="none" lIns="0" tIns="0" rIns="0" bIns="0" anchor="t" anchorCtr="0">
              <a:spAutoFit/>
            </a:bodyPr>
            <a:lstStyle/>
            <a:p>
              <a:pPr algn="l"/>
              <a:r>
                <a:rPr lang="zh-CN" sz="1420" b="1" dirty="0">
                  <a:solidFill>
                    <a:srgbClr val="A24B3C"/>
                  </a:solidFill>
                  <a:latin typeface="+mn-lt"/>
                  <a:ea typeface="+mn-ea"/>
                  <a:cs typeface="+mn-cs"/>
                </a:rPr>
                <a:t>31.7%</a:t>
              </a:r>
            </a:p>
          </p:txBody>
        </p:sp>
        <p:sp>
          <p:nvSpPr>
            <p:cNvPr id="214" name="Polyline 214"/>
            <p:cNvSpPr/>
            <p:nvPr/>
          </p:nvSpPr>
          <p:spPr>
            <a:xfrm>
              <a:off x="10763250" y="5391150"/>
              <a:ext cx="762000" cy="123825"/>
            </a:xfrm>
            <a:custGeom>
              <a:avLst/>
              <a:gdLst/>
              <a:ahLst/>
              <a:cxnLst/>
              <a:rect l="l" t="t" r="r" b="b"/>
              <a:pathLst>
                <a:path w="762000" h="123825">
                  <a:moveTo>
                    <a:pt x="0" y="123825"/>
                  </a:moveTo>
                  <a:lnTo>
                    <a:pt x="152400" y="76200"/>
                  </a:lnTo>
                  <a:lnTo>
                    <a:pt x="304800" y="95250"/>
                  </a:lnTo>
                  <a:lnTo>
                    <a:pt x="457200" y="38100"/>
                  </a:lnTo>
                  <a:lnTo>
                    <a:pt x="609600" y="57150"/>
                  </a:lnTo>
                  <a:lnTo>
                    <a:pt x="762000" y="0"/>
                  </a:lnTo>
                </a:path>
              </a:pathLst>
            </a:custGeom>
            <a:noFill/>
            <a:ln w="14288">
              <a:solidFill>
                <a:srgbClr val="A24B3C"/>
              </a:solidFill>
            </a:ln>
          </p:spPr>
        </p:sp>
      </p:grpSp>
      <p:grpSp>
        <p:nvGrpSpPr>
          <p:cNvPr id="226" name="formula-band"/>
          <p:cNvGrpSpPr/>
          <p:nvPr/>
        </p:nvGrpSpPr>
        <p:grpSpPr>
          <a:xfrm>
            <a:off x="381000" y="5886450"/>
            <a:ext cx="11430000" cy="800100"/>
            <a:chOff x="381000" y="5886450"/>
            <a:chExt cx="11430000" cy="800100"/>
          </a:xfrm>
        </p:grpSpPr>
        <p:sp>
          <p:nvSpPr>
            <p:cNvPr id="216" name="Rectangle 216"/>
            <p:cNvSpPr/>
            <p:nvPr/>
          </p:nvSpPr>
          <p:spPr>
            <a:xfrm>
              <a:off x="381000" y="5886450"/>
              <a:ext cx="11430000" cy="800100"/>
            </a:xfrm>
            <a:prstGeom prst="roundRect">
              <a:avLst>
                <a:gd name="adj" fmla="val 14286"/>
              </a:avLst>
            </a:prstGeom>
            <a:solidFill>
              <a:srgbClr val="FFFFFF"/>
            </a:solidFill>
            <a:ln w="9525">
              <a:solidFill>
                <a:srgbClr val="E6D9C0"/>
              </a:solidFill>
            </a:ln>
          </p:spPr>
        </p:sp>
        <p:sp>
          <p:nvSpPr>
            <p:cNvPr id="217" name="Ellipse 217"/>
            <p:cNvSpPr/>
            <p:nvPr/>
          </p:nvSpPr>
          <p:spPr>
            <a:xfrm>
              <a:off x="685800" y="6096000"/>
              <a:ext cx="381000" cy="381000"/>
            </a:xfrm>
            <a:prstGeom prst="ellipse">
              <a:avLst/>
            </a:prstGeom>
            <a:solidFill>
              <a:srgbClr val="A3381F"/>
            </a:solidFill>
            <a:ln>
              <a:noFill/>
            </a:ln>
          </p:spPr>
        </p:sp>
        <p:grpSp>
          <p:nvGrpSpPr>
            <p:cNvPr id="221" name="Group 221"/>
            <p:cNvGrpSpPr/>
            <p:nvPr/>
          </p:nvGrpSpPr>
          <p:grpSpPr>
            <a:xfrm>
              <a:off x="790575" y="6200775"/>
              <a:ext cx="171450" cy="171450"/>
              <a:chOff x="790575" y="6200775"/>
              <a:chExt cx="171450" cy="171450"/>
            </a:xfrm>
          </p:grpSpPr>
          <p:sp>
            <p:nvSpPr>
              <p:cNvPr id="218" name="Freeform 218"/>
              <p:cNvSpPr/>
              <p:nvPr/>
            </p:nvSpPr>
            <p:spPr>
              <a:xfrm>
                <a:off x="866775" y="62769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219" name="Freeform 219"/>
              <p:cNvSpPr/>
              <p:nvPr/>
            </p:nvSpPr>
            <p:spPr>
              <a:xfrm>
                <a:off x="828675" y="623887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FFFFFF"/>
                </a:solidFill>
              </a:ln>
            </p:spPr>
          </p:sp>
          <p:sp>
            <p:nvSpPr>
              <p:cNvPr id="220" name="Freeform 220"/>
              <p:cNvSpPr/>
              <p:nvPr/>
            </p:nvSpPr>
            <p:spPr>
              <a:xfrm>
                <a:off x="790575" y="62007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grpSp>
        <p:sp>
          <p:nvSpPr>
            <p:cNvPr id="222" name="TextBox 222"/>
            <p:cNvSpPr txBox="1"/>
            <p:nvPr/>
          </p:nvSpPr>
          <p:spPr>
            <a:xfrm>
              <a:off x="1233488" y="6125289"/>
              <a:ext cx="434924" cy="154781"/>
            </a:xfrm>
            <a:prstGeom prst="rect">
              <a:avLst/>
            </a:prstGeom>
            <a:noFill/>
            <a:ln>
              <a:noFill/>
            </a:ln>
          </p:spPr>
          <p:txBody>
            <a:bodyPr wrap="none" lIns="0" tIns="0" rIns="0" bIns="0" anchor="t" anchorCtr="0">
              <a:spAutoFit/>
            </a:bodyPr>
            <a:lstStyle/>
            <a:p>
              <a:pPr algn="l"/>
              <a:r>
                <a:rPr lang="zh-CN" sz="790" b="1" dirty="0">
                  <a:solidFill>
                    <a:srgbClr val="A3381F"/>
                  </a:solidFill>
                  <a:latin typeface="+mn-lt"/>
                  <a:ea typeface="+mn-ea"/>
                  <a:cs typeface="+mn-cs"/>
                </a:rPr>
                <a:t>核心目标</a:t>
              </a:r>
            </a:p>
          </p:txBody>
        </p:sp>
        <p:sp>
          <p:nvSpPr>
            <p:cNvPr id="223" name="TextBox 223"/>
            <p:cNvSpPr txBox="1"/>
            <p:nvPr/>
          </p:nvSpPr>
          <p:spPr>
            <a:xfrm>
              <a:off x="1233488" y="6334839"/>
              <a:ext cx="3838118" cy="154781"/>
            </a:xfrm>
            <a:prstGeom prst="rect">
              <a:avLst/>
            </a:prstGeom>
            <a:noFill/>
            <a:ln>
              <a:noFill/>
            </a:ln>
          </p:spPr>
          <p:txBody>
            <a:bodyPr wrap="none" lIns="0" tIns="0" rIns="0" bIns="0" anchor="t" anchorCtr="0">
              <a:spAutoFit/>
            </a:bodyPr>
            <a:lstStyle/>
            <a:p>
              <a:pPr algn="l"/>
              <a:r>
                <a:rPr lang="zh-CN" sz="790" dirty="0">
                  <a:solidFill>
                    <a:srgbClr val="4A4A4A"/>
                  </a:solidFill>
                  <a:latin typeface="+mn-lt"/>
                  <a:ea typeface="+mn-ea"/>
                  <a:cs typeface="+mn-cs"/>
                </a:rPr>
                <a:t>以有效性驱动标签价值，提升标签质量与业务贡献，支撑精细化运营与智能化决策</a:t>
              </a:r>
            </a:p>
          </p:txBody>
        </p:sp>
        <p:sp>
          <p:nvSpPr>
            <p:cNvPr id="224" name="Line 224"/>
            <p:cNvSpPr/>
            <p:nvPr/>
          </p:nvSpPr>
          <p:spPr>
            <a:xfrm>
              <a:off x="7048500" y="6019800"/>
              <a:ext cx="9525" cy="533400"/>
            </a:xfrm>
            <a:custGeom>
              <a:avLst/>
              <a:gdLst/>
              <a:ahLst/>
              <a:cxnLst/>
              <a:rect l="l" t="t" r="r" b="b"/>
              <a:pathLst>
                <a:path w="9525" h="533400">
                  <a:moveTo>
                    <a:pt x="0" y="0"/>
                  </a:moveTo>
                  <a:lnTo>
                    <a:pt x="0" y="533400"/>
                  </a:lnTo>
                </a:path>
              </a:pathLst>
            </a:custGeom>
            <a:noFill/>
            <a:ln w="9525">
              <a:solidFill>
                <a:srgbClr val="E6D9C0"/>
              </a:solidFill>
            </a:ln>
          </p:spPr>
        </p:sp>
        <p:sp>
          <p:nvSpPr>
            <p:cNvPr id="225" name="TextBox 225"/>
            <p:cNvSpPr txBox="1"/>
            <p:nvPr/>
          </p:nvSpPr>
          <p:spPr>
            <a:xfrm>
              <a:off x="7347585" y="6231731"/>
              <a:ext cx="3636800"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高质量标签</a:t>
              </a:r>
              <a:r>
                <a:rPr lang="zh-CN" sz="1120" b="1" dirty="0">
                  <a:solidFill>
                    <a:srgbClr val="A24B3C"/>
                  </a:solidFill>
                  <a:latin typeface="+mn-lt"/>
                  <a:ea typeface="+mn-ea"/>
                  <a:cs typeface="+mn-cs"/>
                </a:rPr>
                <a:t xml:space="preserve"> × </a:t>
              </a:r>
              <a:r>
                <a:rPr lang="zh-CN" sz="1120" b="1" dirty="0">
                  <a:solidFill>
                    <a:srgbClr val="A3381F"/>
                  </a:solidFill>
                  <a:latin typeface="+mn-lt"/>
                  <a:ea typeface="+mn-ea"/>
                  <a:cs typeface="+mn-cs"/>
                </a:rPr>
                <a:t>高可用标签</a:t>
              </a:r>
              <a:r>
                <a:rPr lang="zh-CN" sz="1120" b="1" dirty="0">
                  <a:solidFill>
                    <a:srgbClr val="A24B3C"/>
                  </a:solidFill>
                  <a:latin typeface="+mn-lt"/>
                  <a:ea typeface="+mn-ea"/>
                  <a:cs typeface="+mn-cs"/>
                </a:rPr>
                <a:t xml:space="preserve"> × </a:t>
              </a:r>
              <a:r>
                <a:rPr lang="zh-CN" sz="1120" b="1" dirty="0">
                  <a:solidFill>
                    <a:srgbClr val="A3381F"/>
                  </a:solidFill>
                  <a:latin typeface="+mn-lt"/>
                  <a:ea typeface="+mn-ea"/>
                  <a:cs typeface="+mn-cs"/>
                </a:rPr>
                <a:t>高价值场景</a:t>
              </a:r>
              <a:r>
                <a:rPr lang="zh-CN" sz="1120" b="1" dirty="0">
                  <a:solidFill>
                    <a:srgbClr val="A24B3C"/>
                  </a:solidFill>
                  <a:latin typeface="+mn-lt"/>
                  <a:ea typeface="+mn-ea"/>
                  <a:cs typeface="+mn-cs"/>
                </a:rPr>
                <a:t xml:space="preserve"> ＝ </a:t>
              </a:r>
              <a:r>
                <a:rPr lang="zh-CN" sz="1120" b="1" dirty="0">
                  <a:solidFill>
                    <a:srgbClr val="A3381F"/>
                  </a:solidFill>
                  <a:latin typeface="+mn-lt"/>
                  <a:ea typeface="+mn-ea"/>
                  <a:cs typeface="+mn-cs"/>
                </a:rPr>
                <a:t>高业务贡献</a:t>
              </a:r>
            </a:p>
          </p:txBody>
        </p:sp>
      </p:gr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11</a:t>
              </a:r>
            </a:p>
          </p:txBody>
        </p:sp>
        <p:sp>
          <p:nvSpPr>
            <p:cNvPr id="4" name="TextBox 4"/>
            <p:cNvSpPr txBox="1"/>
            <p:nvPr/>
          </p:nvSpPr>
          <p:spPr>
            <a:xfrm>
              <a:off x="942594" y="151448"/>
              <a:ext cx="5567172"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差异化维护：明确</a:t>
              </a:r>
              <a:r>
                <a:rPr lang="zh-CN" sz="1950" b="1" dirty="0">
                  <a:solidFill>
                    <a:srgbClr val="A3381F"/>
                  </a:solidFill>
                  <a:latin typeface="SimSun"/>
                  <a:ea typeface="SimSun"/>
                  <a:cs typeface="SimSun"/>
                </a:rPr>
                <a:t>谁维护、维护谁、如何维护</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27" name="matrix-headers"/>
          <p:cNvGrpSpPr/>
          <p:nvPr/>
        </p:nvGrpSpPr>
        <p:grpSpPr>
          <a:xfrm>
            <a:off x="381000" y="800100"/>
            <a:ext cx="11430000" cy="304800"/>
            <a:chOff x="381000" y="800100"/>
            <a:chExt cx="11430000" cy="304800"/>
          </a:xfrm>
        </p:grpSpPr>
        <p:sp>
          <p:nvSpPr>
            <p:cNvPr id="7" name="Rectangle 7"/>
            <p:cNvSpPr/>
            <p:nvPr/>
          </p:nvSpPr>
          <p:spPr>
            <a:xfrm>
              <a:off x="381000" y="800100"/>
              <a:ext cx="2000250" cy="304800"/>
            </a:xfrm>
            <a:prstGeom prst="roundRect">
              <a:avLst>
                <a:gd name="adj" fmla="val 18750"/>
              </a:avLst>
            </a:prstGeom>
            <a:solidFill>
              <a:srgbClr val="A3381F"/>
            </a:solidFill>
            <a:ln>
              <a:noFill/>
            </a:ln>
          </p:spPr>
        </p:sp>
        <p:grpSp>
          <p:nvGrpSpPr>
            <p:cNvPr id="12" name="Group 12"/>
            <p:cNvGrpSpPr/>
            <p:nvPr/>
          </p:nvGrpSpPr>
          <p:grpSpPr>
            <a:xfrm>
              <a:off x="744141" y="896541"/>
              <a:ext cx="121444" cy="121443"/>
              <a:chOff x="744141" y="896541"/>
              <a:chExt cx="121444" cy="121443"/>
            </a:xfrm>
          </p:grpSpPr>
          <p:sp>
            <p:nvSpPr>
              <p:cNvPr id="8" name="Freeform 8"/>
              <p:cNvSpPr/>
              <p:nvPr/>
            </p:nvSpPr>
            <p:spPr>
              <a:xfrm>
                <a:off x="757634" y="896541"/>
                <a:ext cx="53975" cy="53975"/>
              </a:xfrm>
              <a:custGeom>
                <a:avLst/>
                <a:gdLst/>
                <a:ahLst/>
                <a:cxnLst/>
                <a:rect l="l" t="t" r="r" b="b"/>
                <a:pathLst>
                  <a:path w="53975" h="53975">
                    <a:moveTo>
                      <a:pt x="0" y="26987"/>
                    </a:moveTo>
                    <a:cubicBezTo>
                      <a:pt x="0" y="41892"/>
                      <a:pt x="12083" y="53975"/>
                      <a:pt x="26987" y="53975"/>
                    </a:cubicBezTo>
                    <a:cubicBezTo>
                      <a:pt x="41892" y="53975"/>
                      <a:pt x="53975" y="41892"/>
                      <a:pt x="53975" y="26987"/>
                    </a:cubicBezTo>
                    <a:cubicBezTo>
                      <a:pt x="53975" y="12083"/>
                      <a:pt x="41892" y="0"/>
                      <a:pt x="26987" y="0"/>
                    </a:cubicBezTo>
                    <a:cubicBezTo>
                      <a:pt x="12083" y="0"/>
                      <a:pt x="0" y="12083"/>
                      <a:pt x="0" y="26987"/>
                    </a:cubicBezTo>
                  </a:path>
                </a:pathLst>
              </a:custGeom>
              <a:noFill/>
              <a:ln w="13494">
                <a:solidFill>
                  <a:srgbClr val="FFFFFF"/>
                </a:solidFill>
              </a:ln>
            </p:spPr>
          </p:sp>
          <p:sp>
            <p:nvSpPr>
              <p:cNvPr id="9" name="Freeform 9"/>
              <p:cNvSpPr/>
              <p:nvPr/>
            </p:nvSpPr>
            <p:spPr>
              <a:xfrm>
                <a:off x="744141" y="977503"/>
                <a:ext cx="80962" cy="40481"/>
              </a:xfrm>
              <a:custGeom>
                <a:avLst/>
                <a:gdLst/>
                <a:ahLst/>
                <a:cxnLst/>
                <a:rect l="l" t="t" r="r" b="b"/>
                <a:pathLst>
                  <a:path w="80962" h="40481">
                    <a:moveTo>
                      <a:pt x="0" y="40481"/>
                    </a:moveTo>
                    <a:lnTo>
                      <a:pt x="0" y="26987"/>
                    </a:lnTo>
                    <a:cubicBezTo>
                      <a:pt x="0" y="12083"/>
                      <a:pt x="12083" y="0"/>
                      <a:pt x="26987" y="0"/>
                    </a:cubicBezTo>
                    <a:lnTo>
                      <a:pt x="53975" y="0"/>
                    </a:lnTo>
                    <a:cubicBezTo>
                      <a:pt x="68880" y="0"/>
                      <a:pt x="80962" y="12083"/>
                      <a:pt x="80962" y="26987"/>
                    </a:cubicBezTo>
                    <a:lnTo>
                      <a:pt x="80962" y="40481"/>
                    </a:lnTo>
                  </a:path>
                </a:pathLst>
              </a:custGeom>
              <a:noFill/>
              <a:ln w="13494">
                <a:solidFill>
                  <a:srgbClr val="FFFFFF"/>
                </a:solidFill>
              </a:ln>
            </p:spPr>
          </p:sp>
          <p:sp>
            <p:nvSpPr>
              <p:cNvPr id="10" name="Freeform 10"/>
              <p:cNvSpPr/>
              <p:nvPr/>
            </p:nvSpPr>
            <p:spPr>
              <a:xfrm>
                <a:off x="831850" y="897418"/>
                <a:ext cx="20294" cy="52288"/>
              </a:xfrm>
              <a:custGeom>
                <a:avLst/>
                <a:gdLst/>
                <a:ahLst/>
                <a:cxnLst/>
                <a:rect l="l" t="t" r="r" b="b"/>
                <a:pathLst>
                  <a:path w="20294" h="52288">
                    <a:moveTo>
                      <a:pt x="0" y="0"/>
                    </a:moveTo>
                    <a:cubicBezTo>
                      <a:pt x="11941" y="3057"/>
                      <a:pt x="20294" y="13818"/>
                      <a:pt x="20294" y="26144"/>
                    </a:cubicBezTo>
                    <a:cubicBezTo>
                      <a:pt x="20294" y="38471"/>
                      <a:pt x="11941" y="49231"/>
                      <a:pt x="0" y="52288"/>
                    </a:cubicBezTo>
                  </a:path>
                </a:pathLst>
              </a:custGeom>
              <a:noFill/>
              <a:ln w="13494">
                <a:solidFill>
                  <a:srgbClr val="FFFFFF"/>
                </a:solidFill>
              </a:ln>
            </p:spPr>
          </p:sp>
          <p:sp>
            <p:nvSpPr>
              <p:cNvPr id="11" name="Freeform 11"/>
              <p:cNvSpPr/>
              <p:nvPr/>
            </p:nvSpPr>
            <p:spPr>
              <a:xfrm>
                <a:off x="845344" y="978515"/>
                <a:ext cx="20241" cy="39469"/>
              </a:xfrm>
              <a:custGeom>
                <a:avLst/>
                <a:gdLst/>
                <a:ahLst/>
                <a:cxnLst/>
                <a:rect l="l" t="t" r="r" b="b"/>
                <a:pathLst>
                  <a:path w="20241" h="39469">
                    <a:moveTo>
                      <a:pt x="20241" y="39469"/>
                    </a:moveTo>
                    <a:lnTo>
                      <a:pt x="20241" y="25975"/>
                    </a:lnTo>
                    <a:cubicBezTo>
                      <a:pt x="20170" y="13727"/>
                      <a:pt x="11860" y="3062"/>
                      <a:pt x="0" y="0"/>
                    </a:cubicBezTo>
                  </a:path>
                </a:pathLst>
              </a:custGeom>
              <a:noFill/>
              <a:ln w="13494">
                <a:solidFill>
                  <a:srgbClr val="FFFFFF"/>
                </a:solidFill>
              </a:ln>
            </p:spPr>
          </p:sp>
        </p:grpSp>
        <p:sp>
          <p:nvSpPr>
            <p:cNvPr id="13" name="TextBox 13"/>
            <p:cNvSpPr txBox="1"/>
            <p:nvPr/>
          </p:nvSpPr>
          <p:spPr>
            <a:xfrm>
              <a:off x="1170724" y="90035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客户分层</a:t>
              </a:r>
            </a:p>
          </p:txBody>
        </p:sp>
        <p:sp>
          <p:nvSpPr>
            <p:cNvPr id="14" name="Rectangle 14"/>
            <p:cNvSpPr/>
            <p:nvPr/>
          </p:nvSpPr>
          <p:spPr>
            <a:xfrm>
              <a:off x="2552700" y="800100"/>
              <a:ext cx="1647825" cy="304800"/>
            </a:xfrm>
            <a:prstGeom prst="roundRect">
              <a:avLst>
                <a:gd name="adj" fmla="val 18750"/>
              </a:avLst>
            </a:prstGeom>
            <a:solidFill>
              <a:srgbClr val="5E3A33"/>
            </a:solidFill>
            <a:ln>
              <a:noFill/>
            </a:ln>
          </p:spPr>
        </p:sp>
        <p:sp>
          <p:nvSpPr>
            <p:cNvPr id="15" name="TextBox 15"/>
            <p:cNvSpPr txBox="1"/>
            <p:nvPr/>
          </p:nvSpPr>
          <p:spPr>
            <a:xfrm>
              <a:off x="3162757" y="900351"/>
              <a:ext cx="418186"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谁维护</a:t>
              </a:r>
            </a:p>
          </p:txBody>
        </p:sp>
        <p:sp>
          <p:nvSpPr>
            <p:cNvPr id="16" name="Rectangle 16"/>
            <p:cNvSpPr/>
            <p:nvPr/>
          </p:nvSpPr>
          <p:spPr>
            <a:xfrm>
              <a:off x="4371975" y="800100"/>
              <a:ext cx="2286000" cy="304800"/>
            </a:xfrm>
            <a:prstGeom prst="roundRect">
              <a:avLst>
                <a:gd name="adj" fmla="val 18750"/>
              </a:avLst>
            </a:prstGeom>
            <a:solidFill>
              <a:srgbClr val="5E3A33"/>
            </a:solidFill>
            <a:ln>
              <a:noFill/>
            </a:ln>
          </p:spPr>
        </p:sp>
        <p:sp>
          <p:nvSpPr>
            <p:cNvPr id="17" name="TextBox 17"/>
            <p:cNvSpPr txBox="1"/>
            <p:nvPr/>
          </p:nvSpPr>
          <p:spPr>
            <a:xfrm>
              <a:off x="4883877" y="900351"/>
              <a:ext cx="1262196"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维护频率 / 触达节奏</a:t>
              </a:r>
            </a:p>
          </p:txBody>
        </p:sp>
        <p:sp>
          <p:nvSpPr>
            <p:cNvPr id="18" name="Rectangle 18"/>
            <p:cNvSpPr/>
            <p:nvPr/>
          </p:nvSpPr>
          <p:spPr>
            <a:xfrm>
              <a:off x="6772275" y="800100"/>
              <a:ext cx="2333625" cy="304800"/>
            </a:xfrm>
            <a:prstGeom prst="roundRect">
              <a:avLst>
                <a:gd name="adj" fmla="val 18750"/>
              </a:avLst>
            </a:prstGeom>
            <a:solidFill>
              <a:srgbClr val="5E3A33"/>
            </a:solidFill>
            <a:ln>
              <a:noFill/>
            </a:ln>
          </p:spPr>
        </p:sp>
        <p:sp>
          <p:nvSpPr>
            <p:cNvPr id="19" name="TextBox 19"/>
            <p:cNvSpPr txBox="1"/>
            <p:nvPr/>
          </p:nvSpPr>
          <p:spPr>
            <a:xfrm>
              <a:off x="7249350" y="900351"/>
              <a:ext cx="1369949"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如何维护（核心动作）</a:t>
              </a:r>
            </a:p>
          </p:txBody>
        </p:sp>
        <p:sp>
          <p:nvSpPr>
            <p:cNvPr id="20" name="Rectangle 20"/>
            <p:cNvSpPr/>
            <p:nvPr/>
          </p:nvSpPr>
          <p:spPr>
            <a:xfrm>
              <a:off x="9220200" y="800100"/>
              <a:ext cx="2590800" cy="304800"/>
            </a:xfrm>
            <a:prstGeom prst="roundRect">
              <a:avLst>
                <a:gd name="adj" fmla="val 18750"/>
              </a:avLst>
            </a:prstGeom>
            <a:solidFill>
              <a:srgbClr val="A3381F"/>
            </a:solidFill>
            <a:ln>
              <a:noFill/>
            </a:ln>
          </p:spPr>
        </p:sp>
        <p:grpSp>
          <p:nvGrpSpPr>
            <p:cNvPr id="25" name="Group 25"/>
            <p:cNvGrpSpPr/>
            <p:nvPr/>
          </p:nvGrpSpPr>
          <p:grpSpPr>
            <a:xfrm>
              <a:off x="10154841" y="903287"/>
              <a:ext cx="121443" cy="117475"/>
              <a:chOff x="10154841" y="903287"/>
              <a:chExt cx="121443" cy="117475"/>
            </a:xfrm>
          </p:grpSpPr>
          <p:sp>
            <p:nvSpPr>
              <p:cNvPr id="21" name="Freeform 21"/>
              <p:cNvSpPr/>
              <p:nvPr/>
            </p:nvSpPr>
            <p:spPr>
              <a:xfrm>
                <a:off x="10154841" y="957262"/>
                <a:ext cx="40481" cy="53975"/>
              </a:xfrm>
              <a:custGeom>
                <a:avLst/>
                <a:gdLst/>
                <a:ahLst/>
                <a:cxnLst/>
                <a:rect l="l" t="t" r="r" b="b"/>
                <a:pathLst>
                  <a:path w="40481" h="53975">
                    <a:moveTo>
                      <a:pt x="0" y="6747"/>
                    </a:moveTo>
                    <a:cubicBezTo>
                      <a:pt x="0" y="3021"/>
                      <a:pt x="3021" y="0"/>
                      <a:pt x="6747" y="0"/>
                    </a:cubicBezTo>
                    <a:lnTo>
                      <a:pt x="33734" y="0"/>
                    </a:lnTo>
                    <a:cubicBezTo>
                      <a:pt x="37461" y="0"/>
                      <a:pt x="40481" y="3021"/>
                      <a:pt x="40481" y="6747"/>
                    </a:cubicBezTo>
                    <a:lnTo>
                      <a:pt x="40481" y="47228"/>
                    </a:lnTo>
                    <a:cubicBezTo>
                      <a:pt x="40481" y="50954"/>
                      <a:pt x="37461" y="53975"/>
                      <a:pt x="33734" y="53975"/>
                    </a:cubicBezTo>
                    <a:lnTo>
                      <a:pt x="6747" y="53975"/>
                    </a:lnTo>
                    <a:cubicBezTo>
                      <a:pt x="3021" y="53975"/>
                      <a:pt x="0" y="50954"/>
                      <a:pt x="0" y="47228"/>
                    </a:cubicBezTo>
                    <a:lnTo>
                      <a:pt x="0" y="6747"/>
                    </a:lnTo>
                  </a:path>
                </a:pathLst>
              </a:custGeom>
              <a:noFill/>
              <a:ln w="13494">
                <a:solidFill>
                  <a:srgbClr val="FFFFFF"/>
                </a:solidFill>
              </a:ln>
            </p:spPr>
          </p:sp>
          <p:sp>
            <p:nvSpPr>
              <p:cNvPr id="22" name="Freeform 22"/>
              <p:cNvSpPr/>
              <p:nvPr/>
            </p:nvSpPr>
            <p:spPr>
              <a:xfrm>
                <a:off x="10235803" y="930275"/>
                <a:ext cx="40481" cy="80962"/>
              </a:xfrm>
              <a:custGeom>
                <a:avLst/>
                <a:gdLst/>
                <a:ahLst/>
                <a:cxnLst/>
                <a:rect l="l" t="t" r="r" b="b"/>
                <a:pathLst>
                  <a:path w="40481" h="80962">
                    <a:moveTo>
                      <a:pt x="0" y="6747"/>
                    </a:moveTo>
                    <a:cubicBezTo>
                      <a:pt x="0" y="3021"/>
                      <a:pt x="3021" y="0"/>
                      <a:pt x="6747" y="0"/>
                    </a:cubicBezTo>
                    <a:lnTo>
                      <a:pt x="33734" y="0"/>
                    </a:lnTo>
                    <a:cubicBezTo>
                      <a:pt x="37461" y="0"/>
                      <a:pt x="40481" y="3021"/>
                      <a:pt x="40481" y="6747"/>
                    </a:cubicBezTo>
                    <a:lnTo>
                      <a:pt x="40481" y="74216"/>
                    </a:lnTo>
                    <a:cubicBezTo>
                      <a:pt x="40481" y="77942"/>
                      <a:pt x="37461" y="80962"/>
                      <a:pt x="33734" y="80962"/>
                    </a:cubicBezTo>
                    <a:lnTo>
                      <a:pt x="6747" y="80962"/>
                    </a:lnTo>
                    <a:cubicBezTo>
                      <a:pt x="3021" y="80962"/>
                      <a:pt x="0" y="77942"/>
                      <a:pt x="0" y="74216"/>
                    </a:cubicBezTo>
                    <a:lnTo>
                      <a:pt x="0" y="6747"/>
                    </a:lnTo>
                  </a:path>
                </a:pathLst>
              </a:custGeom>
              <a:noFill/>
              <a:ln w="13494">
                <a:solidFill>
                  <a:srgbClr val="FFFFFF"/>
                </a:solidFill>
              </a:ln>
            </p:spPr>
          </p:sp>
          <p:sp>
            <p:nvSpPr>
              <p:cNvPr id="23" name="Freeform 23"/>
              <p:cNvSpPr/>
              <p:nvPr/>
            </p:nvSpPr>
            <p:spPr>
              <a:xfrm>
                <a:off x="10195322" y="903287"/>
                <a:ext cx="40481" cy="107950"/>
              </a:xfrm>
              <a:custGeom>
                <a:avLst/>
                <a:gdLst/>
                <a:ahLst/>
                <a:cxnLst/>
                <a:rect l="l" t="t" r="r" b="b"/>
                <a:pathLst>
                  <a:path w="40481" h="107950">
                    <a:moveTo>
                      <a:pt x="0" y="6747"/>
                    </a:moveTo>
                    <a:cubicBezTo>
                      <a:pt x="0" y="3021"/>
                      <a:pt x="3021" y="0"/>
                      <a:pt x="6747" y="0"/>
                    </a:cubicBezTo>
                    <a:lnTo>
                      <a:pt x="33734" y="0"/>
                    </a:lnTo>
                    <a:cubicBezTo>
                      <a:pt x="37461" y="0"/>
                      <a:pt x="40481" y="3021"/>
                      <a:pt x="40481" y="6747"/>
                    </a:cubicBezTo>
                    <a:lnTo>
                      <a:pt x="40481" y="101203"/>
                    </a:lnTo>
                    <a:cubicBezTo>
                      <a:pt x="40481" y="104929"/>
                      <a:pt x="37461" y="107950"/>
                      <a:pt x="33734" y="107950"/>
                    </a:cubicBezTo>
                    <a:lnTo>
                      <a:pt x="6747" y="107950"/>
                    </a:lnTo>
                    <a:cubicBezTo>
                      <a:pt x="3021" y="107950"/>
                      <a:pt x="0" y="104929"/>
                      <a:pt x="0" y="101203"/>
                    </a:cubicBezTo>
                    <a:lnTo>
                      <a:pt x="0" y="6747"/>
                    </a:lnTo>
                  </a:path>
                </a:pathLst>
              </a:custGeom>
              <a:noFill/>
              <a:ln w="13494">
                <a:solidFill>
                  <a:srgbClr val="FFFFFF"/>
                </a:solidFill>
              </a:ln>
            </p:spPr>
          </p:sp>
          <p:sp>
            <p:nvSpPr>
              <p:cNvPr id="24" name="Freeform 24"/>
              <p:cNvSpPr/>
              <p:nvPr/>
            </p:nvSpPr>
            <p:spPr>
              <a:xfrm>
                <a:off x="10161587" y="1011237"/>
                <a:ext cx="94456" cy="9525"/>
              </a:xfrm>
              <a:custGeom>
                <a:avLst/>
                <a:gdLst/>
                <a:ahLst/>
                <a:cxnLst/>
                <a:rect l="l" t="t" r="r" b="b"/>
                <a:pathLst>
                  <a:path w="94456" h="9525">
                    <a:moveTo>
                      <a:pt x="0" y="0"/>
                    </a:moveTo>
                    <a:lnTo>
                      <a:pt x="94456" y="0"/>
                    </a:lnTo>
                  </a:path>
                </a:pathLst>
              </a:custGeom>
              <a:noFill/>
              <a:ln w="13494">
                <a:solidFill>
                  <a:srgbClr val="FFFFFF"/>
                </a:solidFill>
              </a:ln>
            </p:spPr>
          </p:sp>
        </p:grpSp>
        <p:sp>
          <p:nvSpPr>
            <p:cNvPr id="26" name="TextBox 26"/>
            <p:cNvSpPr txBox="1"/>
            <p:nvPr/>
          </p:nvSpPr>
          <p:spPr>
            <a:xfrm>
              <a:off x="10486174" y="90035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资源强度</a:t>
              </a:r>
            </a:p>
          </p:txBody>
        </p:sp>
      </p:grpSp>
      <p:grpSp>
        <p:nvGrpSpPr>
          <p:cNvPr id="42" name="maint-row-1"/>
          <p:cNvGrpSpPr/>
          <p:nvPr/>
        </p:nvGrpSpPr>
        <p:grpSpPr>
          <a:xfrm>
            <a:off x="381000" y="1219200"/>
            <a:ext cx="8724900" cy="666750"/>
            <a:chOff x="381000" y="1219200"/>
            <a:chExt cx="8724900" cy="666750"/>
          </a:xfrm>
        </p:grpSpPr>
        <p:sp>
          <p:nvSpPr>
            <p:cNvPr id="28" name="Rectangle 28"/>
            <p:cNvSpPr/>
            <p:nvPr/>
          </p:nvSpPr>
          <p:spPr>
            <a:xfrm>
              <a:off x="381000" y="1219200"/>
              <a:ext cx="2000250" cy="666750"/>
            </a:xfrm>
            <a:prstGeom prst="roundRect">
              <a:avLst>
                <a:gd name="adj" fmla="val 12857"/>
              </a:avLst>
            </a:prstGeom>
            <a:solidFill>
              <a:srgbClr val="FFFFFF"/>
            </a:solidFill>
            <a:ln w="9525">
              <a:solidFill>
                <a:srgbClr val="E6D9C0"/>
              </a:solidFill>
            </a:ln>
          </p:spPr>
        </p:sp>
        <p:sp>
          <p:nvSpPr>
            <p:cNvPr id="29" name="Ellipse 29"/>
            <p:cNvSpPr/>
            <p:nvPr/>
          </p:nvSpPr>
          <p:spPr>
            <a:xfrm>
              <a:off x="523875" y="1362075"/>
              <a:ext cx="381000" cy="381000"/>
            </a:xfrm>
            <a:prstGeom prst="ellipse">
              <a:avLst/>
            </a:prstGeom>
            <a:solidFill>
              <a:srgbClr val="A3381F"/>
            </a:solidFill>
            <a:ln>
              <a:noFill/>
            </a:ln>
          </p:spPr>
        </p:sp>
        <p:grpSp>
          <p:nvGrpSpPr>
            <p:cNvPr id="34" name="Group 34"/>
            <p:cNvGrpSpPr/>
            <p:nvPr/>
          </p:nvGrpSpPr>
          <p:grpSpPr>
            <a:xfrm>
              <a:off x="642937" y="1481137"/>
              <a:ext cx="142875" cy="142875"/>
              <a:chOff x="642937" y="1481137"/>
              <a:chExt cx="142875" cy="142875"/>
            </a:xfrm>
          </p:grpSpPr>
          <p:sp>
            <p:nvSpPr>
              <p:cNvPr id="30" name="Freeform 30"/>
              <p:cNvSpPr/>
              <p:nvPr/>
            </p:nvSpPr>
            <p:spPr>
              <a:xfrm>
                <a:off x="658812" y="148113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31" name="Freeform 31"/>
              <p:cNvSpPr/>
              <p:nvPr/>
            </p:nvSpPr>
            <p:spPr>
              <a:xfrm>
                <a:off x="642937" y="157638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32" name="Freeform 32"/>
              <p:cNvSpPr/>
              <p:nvPr/>
            </p:nvSpPr>
            <p:spPr>
              <a:xfrm>
                <a:off x="746125" y="1482169"/>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33" name="Freeform 33"/>
              <p:cNvSpPr/>
              <p:nvPr/>
            </p:nvSpPr>
            <p:spPr>
              <a:xfrm>
                <a:off x="762000" y="1577578"/>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35" name="TextBox 35"/>
            <p:cNvSpPr txBox="1"/>
            <p:nvPr/>
          </p:nvSpPr>
          <p:spPr>
            <a:xfrm>
              <a:off x="1004697" y="1504474"/>
              <a:ext cx="877660"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潜在/基础客户</a:t>
              </a:r>
            </a:p>
          </p:txBody>
        </p:sp>
        <p:sp>
          <p:nvSpPr>
            <p:cNvPr id="36" name="Rectangle 36"/>
            <p:cNvSpPr/>
            <p:nvPr/>
          </p:nvSpPr>
          <p:spPr>
            <a:xfrm>
              <a:off x="2552700" y="1219200"/>
              <a:ext cx="1647825" cy="666750"/>
            </a:xfrm>
            <a:prstGeom prst="roundRect">
              <a:avLst>
                <a:gd name="adj" fmla="val 12857"/>
              </a:avLst>
            </a:prstGeom>
            <a:solidFill>
              <a:srgbClr val="FFFFFF"/>
            </a:solidFill>
            <a:ln w="9525">
              <a:solidFill>
                <a:srgbClr val="E6D9C0"/>
              </a:solidFill>
            </a:ln>
          </p:spPr>
        </p:sp>
        <p:sp>
          <p:nvSpPr>
            <p:cNvPr id="37" name="TextBox 37"/>
            <p:cNvSpPr txBox="1"/>
            <p:nvPr/>
          </p:nvSpPr>
          <p:spPr>
            <a:xfrm>
              <a:off x="2924188" y="1508522"/>
              <a:ext cx="895325"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数字化运营中心</a:t>
              </a:r>
            </a:p>
          </p:txBody>
        </p:sp>
        <p:sp>
          <p:nvSpPr>
            <p:cNvPr id="38" name="Rectangle 38"/>
            <p:cNvSpPr/>
            <p:nvPr/>
          </p:nvSpPr>
          <p:spPr>
            <a:xfrm>
              <a:off x="4371975" y="1219200"/>
              <a:ext cx="2286000" cy="666750"/>
            </a:xfrm>
            <a:prstGeom prst="roundRect">
              <a:avLst>
                <a:gd name="adj" fmla="val 12857"/>
              </a:avLst>
            </a:prstGeom>
            <a:solidFill>
              <a:srgbClr val="FFFFFF"/>
            </a:solidFill>
            <a:ln w="9525">
              <a:solidFill>
                <a:srgbClr val="E6D9C0"/>
              </a:solidFill>
            </a:ln>
          </p:spPr>
        </p:sp>
        <p:sp>
          <p:nvSpPr>
            <p:cNvPr id="39" name="TextBox 39"/>
            <p:cNvSpPr txBox="1"/>
            <p:nvPr/>
          </p:nvSpPr>
          <p:spPr>
            <a:xfrm>
              <a:off x="5257127" y="1508522"/>
              <a:ext cx="515696"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事件触发</a:t>
              </a:r>
            </a:p>
          </p:txBody>
        </p:sp>
        <p:sp>
          <p:nvSpPr>
            <p:cNvPr id="40" name="Rectangle 40"/>
            <p:cNvSpPr/>
            <p:nvPr/>
          </p:nvSpPr>
          <p:spPr>
            <a:xfrm>
              <a:off x="6772275" y="1219200"/>
              <a:ext cx="2333625" cy="666750"/>
            </a:xfrm>
            <a:prstGeom prst="roundRect">
              <a:avLst>
                <a:gd name="adj" fmla="val 12857"/>
              </a:avLst>
            </a:prstGeom>
            <a:solidFill>
              <a:srgbClr val="FFFFFF"/>
            </a:solidFill>
            <a:ln w="9525">
              <a:solidFill>
                <a:srgbClr val="E6D9C0"/>
              </a:solidFill>
            </a:ln>
          </p:spPr>
        </p:sp>
        <p:sp>
          <p:nvSpPr>
            <p:cNvPr id="41" name="TextBox 41"/>
            <p:cNvSpPr txBox="1"/>
            <p:nvPr/>
          </p:nvSpPr>
          <p:spPr>
            <a:xfrm>
              <a:off x="7676477" y="1508522"/>
              <a:ext cx="515696"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开户激活</a:t>
              </a:r>
            </a:p>
          </p:txBody>
        </p:sp>
      </p:grpSp>
      <p:sp>
        <p:nvSpPr>
          <p:cNvPr id="43" name="Freeform 43"/>
          <p:cNvSpPr/>
          <p:nvPr/>
        </p:nvSpPr>
        <p:spPr>
          <a:xfrm>
            <a:off x="2400300" y="1466850"/>
            <a:ext cx="95250" cy="171450"/>
          </a:xfrm>
          <a:prstGeom prst="chevron">
            <a:avLst/>
          </a:prstGeom>
          <a:solidFill>
            <a:srgbClr val="C26D5E"/>
          </a:solidFill>
          <a:ln>
            <a:noFill/>
          </a:ln>
        </p:spPr>
      </p:sp>
      <p:grpSp>
        <p:nvGrpSpPr>
          <p:cNvPr id="57" name="maint-row-2"/>
          <p:cNvGrpSpPr/>
          <p:nvPr/>
        </p:nvGrpSpPr>
        <p:grpSpPr>
          <a:xfrm>
            <a:off x="381000" y="1943100"/>
            <a:ext cx="8724900" cy="666750"/>
            <a:chOff x="381000" y="1943100"/>
            <a:chExt cx="8724900" cy="666750"/>
          </a:xfrm>
        </p:grpSpPr>
        <p:sp>
          <p:nvSpPr>
            <p:cNvPr id="44" name="Rectangle 44"/>
            <p:cNvSpPr/>
            <p:nvPr/>
          </p:nvSpPr>
          <p:spPr>
            <a:xfrm>
              <a:off x="381000" y="1943100"/>
              <a:ext cx="2000250" cy="666750"/>
            </a:xfrm>
            <a:prstGeom prst="roundRect">
              <a:avLst>
                <a:gd name="adj" fmla="val 12857"/>
              </a:avLst>
            </a:prstGeom>
            <a:solidFill>
              <a:srgbClr val="FFFFFF"/>
            </a:solidFill>
            <a:ln w="9525">
              <a:solidFill>
                <a:srgbClr val="E6D9C0"/>
              </a:solidFill>
            </a:ln>
          </p:spPr>
        </p:sp>
        <p:sp>
          <p:nvSpPr>
            <p:cNvPr id="45" name="Ellipse 45"/>
            <p:cNvSpPr/>
            <p:nvPr/>
          </p:nvSpPr>
          <p:spPr>
            <a:xfrm>
              <a:off x="523875" y="2085975"/>
              <a:ext cx="381000" cy="381000"/>
            </a:xfrm>
            <a:prstGeom prst="ellipse">
              <a:avLst/>
            </a:prstGeom>
            <a:solidFill>
              <a:srgbClr val="C26D5E"/>
            </a:solidFill>
            <a:ln>
              <a:noFill/>
            </a:ln>
          </p:spPr>
        </p:sp>
        <p:grpSp>
          <p:nvGrpSpPr>
            <p:cNvPr id="49" name="Group 49"/>
            <p:cNvGrpSpPr/>
            <p:nvPr/>
          </p:nvGrpSpPr>
          <p:grpSpPr>
            <a:xfrm>
              <a:off x="666750" y="2205037"/>
              <a:ext cx="119062" cy="142875"/>
              <a:chOff x="666750" y="2205037"/>
              <a:chExt cx="119062" cy="142875"/>
            </a:xfrm>
          </p:grpSpPr>
          <p:sp>
            <p:nvSpPr>
              <p:cNvPr id="46" name="Freeform 46"/>
              <p:cNvSpPr/>
              <p:nvPr/>
            </p:nvSpPr>
            <p:spPr>
              <a:xfrm>
                <a:off x="682625" y="220503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47" name="Freeform 47"/>
              <p:cNvSpPr/>
              <p:nvPr/>
            </p:nvSpPr>
            <p:spPr>
              <a:xfrm>
                <a:off x="666750" y="2300287"/>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FFFFFF"/>
                </a:solidFill>
              </a:ln>
            </p:spPr>
          </p:sp>
          <p:sp>
            <p:nvSpPr>
              <p:cNvPr id="48" name="Freeform 48"/>
              <p:cNvSpPr/>
              <p:nvPr/>
            </p:nvSpPr>
            <p:spPr>
              <a:xfrm>
                <a:off x="738187" y="2316162"/>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50" name="TextBox 50"/>
            <p:cNvSpPr txBox="1"/>
            <p:nvPr/>
          </p:nvSpPr>
          <p:spPr>
            <a:xfrm>
              <a:off x="1004697" y="222837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有效客户</a:t>
              </a:r>
            </a:p>
          </p:txBody>
        </p:sp>
        <p:sp>
          <p:nvSpPr>
            <p:cNvPr id="51" name="Rectangle 51"/>
            <p:cNvSpPr/>
            <p:nvPr/>
          </p:nvSpPr>
          <p:spPr>
            <a:xfrm>
              <a:off x="2552700" y="1943100"/>
              <a:ext cx="1647825" cy="666750"/>
            </a:xfrm>
            <a:prstGeom prst="roundRect">
              <a:avLst>
                <a:gd name="adj" fmla="val 12857"/>
              </a:avLst>
            </a:prstGeom>
            <a:solidFill>
              <a:srgbClr val="FFFFFF"/>
            </a:solidFill>
            <a:ln w="9525">
              <a:solidFill>
                <a:srgbClr val="E6D9C0"/>
              </a:solidFill>
            </a:ln>
          </p:spPr>
        </p:sp>
        <p:sp>
          <p:nvSpPr>
            <p:cNvPr id="52" name="TextBox 52"/>
            <p:cNvSpPr txBox="1"/>
            <p:nvPr/>
          </p:nvSpPr>
          <p:spPr>
            <a:xfrm>
              <a:off x="3114002" y="2232422"/>
              <a:ext cx="515696"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远程银行</a:t>
              </a:r>
            </a:p>
          </p:txBody>
        </p:sp>
        <p:sp>
          <p:nvSpPr>
            <p:cNvPr id="53" name="Rectangle 53"/>
            <p:cNvSpPr/>
            <p:nvPr/>
          </p:nvSpPr>
          <p:spPr>
            <a:xfrm>
              <a:off x="4371975" y="1943100"/>
              <a:ext cx="2286000" cy="666750"/>
            </a:xfrm>
            <a:prstGeom prst="roundRect">
              <a:avLst>
                <a:gd name="adj" fmla="val 12857"/>
              </a:avLst>
            </a:prstGeom>
            <a:solidFill>
              <a:srgbClr val="FFFFFF"/>
            </a:solidFill>
            <a:ln w="9525">
              <a:solidFill>
                <a:srgbClr val="E6D9C0"/>
              </a:solidFill>
            </a:ln>
          </p:spPr>
        </p:sp>
        <p:sp>
          <p:nvSpPr>
            <p:cNvPr id="54" name="TextBox 54"/>
            <p:cNvSpPr txBox="1"/>
            <p:nvPr/>
          </p:nvSpPr>
          <p:spPr>
            <a:xfrm>
              <a:off x="5130584" y="2232422"/>
              <a:ext cx="768782"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每月自动触达</a:t>
              </a:r>
            </a:p>
          </p:txBody>
        </p:sp>
        <p:sp>
          <p:nvSpPr>
            <p:cNvPr id="55" name="Rectangle 55"/>
            <p:cNvSpPr/>
            <p:nvPr/>
          </p:nvSpPr>
          <p:spPr>
            <a:xfrm>
              <a:off x="6772275" y="1943100"/>
              <a:ext cx="2333625" cy="666750"/>
            </a:xfrm>
            <a:prstGeom prst="roundRect">
              <a:avLst>
                <a:gd name="adj" fmla="val 12857"/>
              </a:avLst>
            </a:prstGeom>
            <a:solidFill>
              <a:srgbClr val="FFFFFF"/>
            </a:solidFill>
            <a:ln w="9525">
              <a:solidFill>
                <a:srgbClr val="E6D9C0"/>
              </a:solidFill>
            </a:ln>
          </p:spPr>
        </p:sp>
        <p:sp>
          <p:nvSpPr>
            <p:cNvPr id="56" name="TextBox 56"/>
            <p:cNvSpPr txBox="1"/>
            <p:nvPr/>
          </p:nvSpPr>
          <p:spPr>
            <a:xfrm>
              <a:off x="7676477" y="2232422"/>
              <a:ext cx="515696"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产品补缺</a:t>
              </a:r>
            </a:p>
          </p:txBody>
        </p:sp>
      </p:grpSp>
      <p:sp>
        <p:nvSpPr>
          <p:cNvPr id="58" name="Freeform 58"/>
          <p:cNvSpPr/>
          <p:nvPr/>
        </p:nvSpPr>
        <p:spPr>
          <a:xfrm>
            <a:off x="2400300" y="2190750"/>
            <a:ext cx="95250" cy="171450"/>
          </a:xfrm>
          <a:prstGeom prst="chevron">
            <a:avLst/>
          </a:prstGeom>
          <a:solidFill>
            <a:srgbClr val="C26D5E"/>
          </a:solidFill>
          <a:ln>
            <a:noFill/>
          </a:ln>
        </p:spPr>
      </p:sp>
      <p:grpSp>
        <p:nvGrpSpPr>
          <p:cNvPr id="71" name="maint-row-3"/>
          <p:cNvGrpSpPr/>
          <p:nvPr/>
        </p:nvGrpSpPr>
        <p:grpSpPr>
          <a:xfrm>
            <a:off x="381000" y="2667000"/>
            <a:ext cx="8724900" cy="666750"/>
            <a:chOff x="381000" y="2667000"/>
            <a:chExt cx="8724900" cy="666750"/>
          </a:xfrm>
        </p:grpSpPr>
        <p:sp>
          <p:nvSpPr>
            <p:cNvPr id="59" name="Rectangle 59"/>
            <p:cNvSpPr/>
            <p:nvPr/>
          </p:nvSpPr>
          <p:spPr>
            <a:xfrm>
              <a:off x="381000" y="2667000"/>
              <a:ext cx="2000250" cy="666750"/>
            </a:xfrm>
            <a:prstGeom prst="roundRect">
              <a:avLst>
                <a:gd name="adj" fmla="val 12857"/>
              </a:avLst>
            </a:prstGeom>
            <a:solidFill>
              <a:srgbClr val="FFFFFF"/>
            </a:solidFill>
            <a:ln w="9525">
              <a:solidFill>
                <a:srgbClr val="E6D9C0"/>
              </a:solidFill>
            </a:ln>
          </p:spPr>
        </p:sp>
        <p:sp>
          <p:nvSpPr>
            <p:cNvPr id="60" name="Ellipse 60"/>
            <p:cNvSpPr/>
            <p:nvPr/>
          </p:nvSpPr>
          <p:spPr>
            <a:xfrm>
              <a:off x="523875" y="2809875"/>
              <a:ext cx="381000" cy="381000"/>
            </a:xfrm>
            <a:prstGeom prst="ellipse">
              <a:avLst/>
            </a:prstGeom>
            <a:solidFill>
              <a:srgbClr val="A3381F"/>
            </a:solidFill>
            <a:ln>
              <a:noFill/>
            </a:ln>
          </p:spPr>
        </p:sp>
        <p:grpSp>
          <p:nvGrpSpPr>
            <p:cNvPr id="63" name="Group 63"/>
            <p:cNvGrpSpPr/>
            <p:nvPr/>
          </p:nvGrpSpPr>
          <p:grpSpPr>
            <a:xfrm>
              <a:off x="642937" y="2960687"/>
              <a:ext cx="142875" cy="79375"/>
              <a:chOff x="642937" y="2960687"/>
              <a:chExt cx="142875" cy="79375"/>
            </a:xfrm>
          </p:grpSpPr>
          <p:sp>
            <p:nvSpPr>
              <p:cNvPr id="61" name="Freeform 61"/>
              <p:cNvSpPr/>
              <p:nvPr/>
            </p:nvSpPr>
            <p:spPr>
              <a:xfrm>
                <a:off x="642937" y="2960687"/>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62" name="Freeform 62"/>
              <p:cNvSpPr/>
              <p:nvPr/>
            </p:nvSpPr>
            <p:spPr>
              <a:xfrm>
                <a:off x="730250" y="2960687"/>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64" name="TextBox 64"/>
            <p:cNvSpPr txBox="1"/>
            <p:nvPr/>
          </p:nvSpPr>
          <p:spPr>
            <a:xfrm>
              <a:off x="1004697" y="295227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成长客户</a:t>
              </a:r>
            </a:p>
          </p:txBody>
        </p:sp>
        <p:sp>
          <p:nvSpPr>
            <p:cNvPr id="65" name="Rectangle 65"/>
            <p:cNvSpPr/>
            <p:nvPr/>
          </p:nvSpPr>
          <p:spPr>
            <a:xfrm>
              <a:off x="2552700" y="2667000"/>
              <a:ext cx="1647825" cy="666750"/>
            </a:xfrm>
            <a:prstGeom prst="roundRect">
              <a:avLst>
                <a:gd name="adj" fmla="val 12857"/>
              </a:avLst>
            </a:prstGeom>
            <a:solidFill>
              <a:srgbClr val="FFFFFF"/>
            </a:solidFill>
            <a:ln w="9525">
              <a:solidFill>
                <a:srgbClr val="E6D9C0"/>
              </a:solidFill>
            </a:ln>
          </p:spPr>
        </p:sp>
        <p:sp>
          <p:nvSpPr>
            <p:cNvPr id="66" name="TextBox 66"/>
            <p:cNvSpPr txBox="1"/>
            <p:nvPr/>
          </p:nvSpPr>
          <p:spPr>
            <a:xfrm>
              <a:off x="2924188" y="2956322"/>
              <a:ext cx="895325"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远程经理＋网点</a:t>
              </a:r>
            </a:p>
          </p:txBody>
        </p:sp>
        <p:sp>
          <p:nvSpPr>
            <p:cNvPr id="67" name="Rectangle 67"/>
            <p:cNvSpPr/>
            <p:nvPr/>
          </p:nvSpPr>
          <p:spPr>
            <a:xfrm>
              <a:off x="4371975" y="2667000"/>
              <a:ext cx="2286000" cy="666750"/>
            </a:xfrm>
            <a:prstGeom prst="roundRect">
              <a:avLst>
                <a:gd name="adj" fmla="val 12857"/>
              </a:avLst>
            </a:prstGeom>
            <a:solidFill>
              <a:srgbClr val="FFFFFF"/>
            </a:solidFill>
            <a:ln w="9525">
              <a:solidFill>
                <a:srgbClr val="E6D9C0"/>
              </a:solidFill>
            </a:ln>
          </p:spPr>
        </p:sp>
        <p:sp>
          <p:nvSpPr>
            <p:cNvPr id="68" name="TextBox 68"/>
            <p:cNvSpPr txBox="1"/>
            <p:nvPr/>
          </p:nvSpPr>
          <p:spPr>
            <a:xfrm>
              <a:off x="5130584" y="2956322"/>
              <a:ext cx="768782"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每月有效互动</a:t>
              </a:r>
            </a:p>
          </p:txBody>
        </p:sp>
        <p:sp>
          <p:nvSpPr>
            <p:cNvPr id="69" name="Rectangle 69"/>
            <p:cNvSpPr/>
            <p:nvPr/>
          </p:nvSpPr>
          <p:spPr>
            <a:xfrm>
              <a:off x="6772275" y="2667000"/>
              <a:ext cx="2333625" cy="666750"/>
            </a:xfrm>
            <a:prstGeom prst="roundRect">
              <a:avLst>
                <a:gd name="adj" fmla="val 12857"/>
              </a:avLst>
            </a:prstGeom>
            <a:solidFill>
              <a:srgbClr val="FFFFFF"/>
            </a:solidFill>
            <a:ln w="9525">
              <a:solidFill>
                <a:srgbClr val="E6D9C0"/>
              </a:solidFill>
            </a:ln>
          </p:spPr>
        </p:sp>
        <p:sp>
          <p:nvSpPr>
            <p:cNvPr id="70" name="TextBox 70"/>
            <p:cNvSpPr txBox="1"/>
            <p:nvPr/>
          </p:nvSpPr>
          <p:spPr>
            <a:xfrm>
              <a:off x="7613206" y="2956322"/>
              <a:ext cx="642239"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主账户迁移</a:t>
              </a:r>
            </a:p>
          </p:txBody>
        </p:sp>
      </p:grpSp>
      <p:sp>
        <p:nvSpPr>
          <p:cNvPr id="72" name="Freeform 72"/>
          <p:cNvSpPr/>
          <p:nvPr/>
        </p:nvSpPr>
        <p:spPr>
          <a:xfrm>
            <a:off x="2400300" y="2914650"/>
            <a:ext cx="95250" cy="171450"/>
          </a:xfrm>
          <a:prstGeom prst="chevron">
            <a:avLst/>
          </a:prstGeom>
          <a:solidFill>
            <a:srgbClr val="C26D5E"/>
          </a:solidFill>
          <a:ln>
            <a:noFill/>
          </a:ln>
        </p:spPr>
      </p:sp>
      <p:grpSp>
        <p:nvGrpSpPr>
          <p:cNvPr id="85" name="maint-row-4"/>
          <p:cNvGrpSpPr/>
          <p:nvPr/>
        </p:nvGrpSpPr>
        <p:grpSpPr>
          <a:xfrm>
            <a:off x="381000" y="3390900"/>
            <a:ext cx="8724900" cy="666750"/>
            <a:chOff x="381000" y="3390900"/>
            <a:chExt cx="8724900" cy="666750"/>
          </a:xfrm>
        </p:grpSpPr>
        <p:sp>
          <p:nvSpPr>
            <p:cNvPr id="73" name="Rectangle 73"/>
            <p:cNvSpPr/>
            <p:nvPr/>
          </p:nvSpPr>
          <p:spPr>
            <a:xfrm>
              <a:off x="381000" y="3390900"/>
              <a:ext cx="2000250" cy="666750"/>
            </a:xfrm>
            <a:prstGeom prst="roundRect">
              <a:avLst>
                <a:gd name="adj" fmla="val 12857"/>
              </a:avLst>
            </a:prstGeom>
            <a:solidFill>
              <a:srgbClr val="FFFFFF"/>
            </a:solidFill>
            <a:ln w="9525">
              <a:solidFill>
                <a:srgbClr val="E6D9C0"/>
              </a:solidFill>
            </a:ln>
          </p:spPr>
        </p:sp>
        <p:sp>
          <p:nvSpPr>
            <p:cNvPr id="74" name="Ellipse 74"/>
            <p:cNvSpPr/>
            <p:nvPr/>
          </p:nvSpPr>
          <p:spPr>
            <a:xfrm>
              <a:off x="523875" y="3533775"/>
              <a:ext cx="381000" cy="381000"/>
            </a:xfrm>
            <a:prstGeom prst="ellipse">
              <a:avLst/>
            </a:prstGeom>
            <a:solidFill>
              <a:srgbClr val="C26D5E"/>
            </a:solidFill>
            <a:ln>
              <a:noFill/>
            </a:ln>
          </p:spPr>
        </p:sp>
        <p:grpSp>
          <p:nvGrpSpPr>
            <p:cNvPr id="77" name="Group 77"/>
            <p:cNvGrpSpPr/>
            <p:nvPr/>
          </p:nvGrpSpPr>
          <p:grpSpPr>
            <a:xfrm>
              <a:off x="642937" y="3668712"/>
              <a:ext cx="142875" cy="116761"/>
              <a:chOff x="642937" y="3668712"/>
              <a:chExt cx="142875" cy="116761"/>
            </a:xfrm>
          </p:grpSpPr>
          <p:sp>
            <p:nvSpPr>
              <p:cNvPr id="75" name="Freeform 75"/>
              <p:cNvSpPr/>
              <p:nvPr/>
            </p:nvSpPr>
            <p:spPr>
              <a:xfrm>
                <a:off x="642937" y="3668712"/>
                <a:ext cx="142875" cy="116761"/>
              </a:xfrm>
              <a:custGeom>
                <a:avLst/>
                <a:gdLst/>
                <a:ahLst/>
                <a:cxnLst/>
                <a:rect l="l" t="t" r="r" b="b"/>
                <a:pathLst>
                  <a:path w="142875" h="116761">
                    <a:moveTo>
                      <a:pt x="23812" y="0"/>
                    </a:moveTo>
                    <a:lnTo>
                      <a:pt x="119062" y="0"/>
                    </a:lnTo>
                    <a:lnTo>
                      <a:pt x="142875" y="39687"/>
                    </a:lnTo>
                    <a:lnTo>
                      <a:pt x="75406" y="115094"/>
                    </a:lnTo>
                    <a:cubicBezTo>
                      <a:pt x="74361" y="116160"/>
                      <a:pt x="72931" y="116761"/>
                      <a:pt x="71437" y="116761"/>
                    </a:cubicBezTo>
                    <a:cubicBezTo>
                      <a:pt x="69944" y="116761"/>
                      <a:pt x="68514" y="116160"/>
                      <a:pt x="67469" y="115094"/>
                    </a:cubicBezTo>
                    <a:lnTo>
                      <a:pt x="0" y="39687"/>
                    </a:lnTo>
                    <a:lnTo>
                      <a:pt x="23812" y="0"/>
                    </a:lnTo>
                  </a:path>
                </a:pathLst>
              </a:custGeom>
              <a:noFill/>
              <a:ln w="15875">
                <a:solidFill>
                  <a:srgbClr val="FFFFFF"/>
                </a:solidFill>
              </a:ln>
            </p:spPr>
          </p:sp>
          <p:sp>
            <p:nvSpPr>
              <p:cNvPr id="76" name="Freeform 76"/>
              <p:cNvSpPr/>
              <p:nvPr/>
            </p:nvSpPr>
            <p:spPr>
              <a:xfrm>
                <a:off x="682625" y="3698875"/>
                <a:ext cx="15875" cy="25400"/>
              </a:xfrm>
              <a:custGeom>
                <a:avLst/>
                <a:gdLst/>
                <a:ahLst/>
                <a:cxnLst/>
                <a:rect l="l" t="t" r="r" b="b"/>
                <a:pathLst>
                  <a:path w="15875" h="25400">
                    <a:moveTo>
                      <a:pt x="15875" y="25400"/>
                    </a:moveTo>
                    <a:lnTo>
                      <a:pt x="0" y="7937"/>
                    </a:lnTo>
                    <a:lnTo>
                      <a:pt x="4762" y="0"/>
                    </a:lnTo>
                  </a:path>
                </a:pathLst>
              </a:custGeom>
              <a:noFill/>
              <a:ln w="15875">
                <a:solidFill>
                  <a:srgbClr val="FFFFFF"/>
                </a:solidFill>
              </a:ln>
            </p:spPr>
          </p:sp>
        </p:grpSp>
        <p:sp>
          <p:nvSpPr>
            <p:cNvPr id="78" name="TextBox 78"/>
            <p:cNvSpPr txBox="1"/>
            <p:nvPr/>
          </p:nvSpPr>
          <p:spPr>
            <a:xfrm>
              <a:off x="1004697" y="367617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贵宾客户</a:t>
              </a:r>
            </a:p>
          </p:txBody>
        </p:sp>
        <p:sp>
          <p:nvSpPr>
            <p:cNvPr id="79" name="Rectangle 79"/>
            <p:cNvSpPr/>
            <p:nvPr/>
          </p:nvSpPr>
          <p:spPr>
            <a:xfrm>
              <a:off x="2552700" y="3390900"/>
              <a:ext cx="1647825" cy="666750"/>
            </a:xfrm>
            <a:prstGeom prst="roundRect">
              <a:avLst>
                <a:gd name="adj" fmla="val 12857"/>
              </a:avLst>
            </a:prstGeom>
            <a:solidFill>
              <a:srgbClr val="FFFFFF"/>
            </a:solidFill>
            <a:ln w="9525">
              <a:solidFill>
                <a:srgbClr val="E6D9C0"/>
              </a:solidFill>
            </a:ln>
          </p:spPr>
        </p:sp>
        <p:sp>
          <p:nvSpPr>
            <p:cNvPr id="80" name="TextBox 80"/>
            <p:cNvSpPr txBox="1"/>
            <p:nvPr/>
          </p:nvSpPr>
          <p:spPr>
            <a:xfrm>
              <a:off x="2987459" y="3680222"/>
              <a:ext cx="768782"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专属客户经理</a:t>
              </a:r>
            </a:p>
          </p:txBody>
        </p:sp>
        <p:sp>
          <p:nvSpPr>
            <p:cNvPr id="81" name="Rectangle 81"/>
            <p:cNvSpPr/>
            <p:nvPr/>
          </p:nvSpPr>
          <p:spPr>
            <a:xfrm>
              <a:off x="4371975" y="3390900"/>
              <a:ext cx="2286000" cy="666750"/>
            </a:xfrm>
            <a:prstGeom prst="roundRect">
              <a:avLst>
                <a:gd name="adj" fmla="val 12857"/>
              </a:avLst>
            </a:prstGeom>
            <a:solidFill>
              <a:srgbClr val="FFFFFF"/>
            </a:solidFill>
            <a:ln w="9525">
              <a:solidFill>
                <a:srgbClr val="E6D9C0"/>
              </a:solidFill>
            </a:ln>
          </p:spPr>
        </p:sp>
        <p:sp>
          <p:nvSpPr>
            <p:cNvPr id="82" name="TextBox 82"/>
            <p:cNvSpPr txBox="1"/>
            <p:nvPr/>
          </p:nvSpPr>
          <p:spPr>
            <a:xfrm>
              <a:off x="5152729" y="3680222"/>
              <a:ext cx="724492"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 xml:space="preserve">每月1—2次　</a:t>
              </a:r>
            </a:p>
          </p:txBody>
        </p:sp>
        <p:sp>
          <p:nvSpPr>
            <p:cNvPr id="83" name="Rectangle 83"/>
            <p:cNvSpPr/>
            <p:nvPr/>
          </p:nvSpPr>
          <p:spPr>
            <a:xfrm>
              <a:off x="6772275" y="3390900"/>
              <a:ext cx="2333625" cy="666750"/>
            </a:xfrm>
            <a:prstGeom prst="roundRect">
              <a:avLst>
                <a:gd name="adj" fmla="val 12857"/>
              </a:avLst>
            </a:prstGeom>
            <a:solidFill>
              <a:srgbClr val="FFFFFF"/>
            </a:solidFill>
            <a:ln w="9525">
              <a:solidFill>
                <a:srgbClr val="E6D9C0"/>
              </a:solidFill>
            </a:ln>
          </p:spPr>
        </p:sp>
        <p:sp>
          <p:nvSpPr>
            <p:cNvPr id="84" name="TextBox 84"/>
            <p:cNvSpPr txBox="1"/>
            <p:nvPr/>
          </p:nvSpPr>
          <p:spPr>
            <a:xfrm>
              <a:off x="7676477" y="3680222"/>
              <a:ext cx="515696"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留存提升</a:t>
              </a:r>
            </a:p>
          </p:txBody>
        </p:sp>
      </p:grpSp>
      <p:sp>
        <p:nvSpPr>
          <p:cNvPr id="86" name="Freeform 86"/>
          <p:cNvSpPr/>
          <p:nvPr/>
        </p:nvSpPr>
        <p:spPr>
          <a:xfrm>
            <a:off x="2400300" y="3638550"/>
            <a:ext cx="95250" cy="171450"/>
          </a:xfrm>
          <a:prstGeom prst="chevron">
            <a:avLst/>
          </a:prstGeom>
          <a:solidFill>
            <a:srgbClr val="C26D5E"/>
          </a:solidFill>
          <a:ln>
            <a:noFill/>
          </a:ln>
        </p:spPr>
      </p:sp>
      <p:grpSp>
        <p:nvGrpSpPr>
          <p:cNvPr id="97" name="maint-row-5"/>
          <p:cNvGrpSpPr/>
          <p:nvPr/>
        </p:nvGrpSpPr>
        <p:grpSpPr>
          <a:xfrm>
            <a:off x="381000" y="4114800"/>
            <a:ext cx="8724900" cy="666750"/>
            <a:chOff x="381000" y="4114800"/>
            <a:chExt cx="8724900" cy="666750"/>
          </a:xfrm>
        </p:grpSpPr>
        <p:sp>
          <p:nvSpPr>
            <p:cNvPr id="87" name="Rectangle 87"/>
            <p:cNvSpPr/>
            <p:nvPr/>
          </p:nvSpPr>
          <p:spPr>
            <a:xfrm>
              <a:off x="381000" y="4114800"/>
              <a:ext cx="2000250" cy="666750"/>
            </a:xfrm>
            <a:prstGeom prst="roundRect">
              <a:avLst>
                <a:gd name="adj" fmla="val 12857"/>
              </a:avLst>
            </a:prstGeom>
            <a:solidFill>
              <a:srgbClr val="FFFFFF"/>
            </a:solidFill>
            <a:ln w="9525">
              <a:solidFill>
                <a:srgbClr val="E6D9C0"/>
              </a:solidFill>
            </a:ln>
          </p:spPr>
        </p:sp>
        <p:sp>
          <p:nvSpPr>
            <p:cNvPr id="88" name="Ellipse 88"/>
            <p:cNvSpPr/>
            <p:nvPr/>
          </p:nvSpPr>
          <p:spPr>
            <a:xfrm>
              <a:off x="523875" y="4257675"/>
              <a:ext cx="381000" cy="381000"/>
            </a:xfrm>
            <a:prstGeom prst="ellipse">
              <a:avLst/>
            </a:prstGeom>
            <a:solidFill>
              <a:srgbClr val="A3381F"/>
            </a:solidFill>
            <a:ln>
              <a:noFill/>
            </a:ln>
          </p:spPr>
        </p:sp>
        <p:sp>
          <p:nvSpPr>
            <p:cNvPr id="89" name="Freeform 89"/>
            <p:cNvSpPr/>
            <p:nvPr/>
          </p:nvSpPr>
          <p:spPr>
            <a:xfrm>
              <a:off x="642937" y="4400550"/>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FFFFFF"/>
              </a:solidFill>
            </a:ln>
          </p:spPr>
        </p:sp>
        <p:sp>
          <p:nvSpPr>
            <p:cNvPr id="90" name="TextBox 90"/>
            <p:cNvSpPr txBox="1"/>
            <p:nvPr/>
          </p:nvSpPr>
          <p:spPr>
            <a:xfrm>
              <a:off x="1004697" y="440007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财富客户</a:t>
              </a:r>
            </a:p>
          </p:txBody>
        </p:sp>
        <p:sp>
          <p:nvSpPr>
            <p:cNvPr id="91" name="Rectangle 91"/>
            <p:cNvSpPr/>
            <p:nvPr/>
          </p:nvSpPr>
          <p:spPr>
            <a:xfrm>
              <a:off x="2552700" y="4114800"/>
              <a:ext cx="1647825" cy="666750"/>
            </a:xfrm>
            <a:prstGeom prst="roundRect">
              <a:avLst>
                <a:gd name="adj" fmla="val 12857"/>
              </a:avLst>
            </a:prstGeom>
            <a:solidFill>
              <a:srgbClr val="FFFFFF"/>
            </a:solidFill>
            <a:ln w="9525">
              <a:solidFill>
                <a:srgbClr val="E6D9C0"/>
              </a:solidFill>
            </a:ln>
          </p:spPr>
        </p:sp>
        <p:sp>
          <p:nvSpPr>
            <p:cNvPr id="92" name="TextBox 92"/>
            <p:cNvSpPr txBox="1"/>
            <p:nvPr/>
          </p:nvSpPr>
          <p:spPr>
            <a:xfrm>
              <a:off x="3114002" y="4404122"/>
              <a:ext cx="515696"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财富顾问</a:t>
              </a:r>
            </a:p>
          </p:txBody>
        </p:sp>
        <p:sp>
          <p:nvSpPr>
            <p:cNvPr id="93" name="Rectangle 93"/>
            <p:cNvSpPr/>
            <p:nvPr/>
          </p:nvSpPr>
          <p:spPr>
            <a:xfrm>
              <a:off x="4371975" y="4114800"/>
              <a:ext cx="2286000" cy="666750"/>
            </a:xfrm>
            <a:prstGeom prst="roundRect">
              <a:avLst>
                <a:gd name="adj" fmla="val 12857"/>
              </a:avLst>
            </a:prstGeom>
            <a:solidFill>
              <a:srgbClr val="FFFFFF"/>
            </a:solidFill>
            <a:ln w="9525">
              <a:solidFill>
                <a:srgbClr val="E6D9C0"/>
              </a:solidFill>
            </a:ln>
          </p:spPr>
        </p:sp>
        <p:sp>
          <p:nvSpPr>
            <p:cNvPr id="94" name="TextBox 94"/>
            <p:cNvSpPr txBox="1"/>
            <p:nvPr/>
          </p:nvSpPr>
          <p:spPr>
            <a:xfrm>
              <a:off x="5095785" y="4404122"/>
              <a:ext cx="838380"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 xml:space="preserve">每月至少1次　</a:t>
              </a:r>
            </a:p>
          </p:txBody>
        </p:sp>
        <p:sp>
          <p:nvSpPr>
            <p:cNvPr id="95" name="Rectangle 95"/>
            <p:cNvSpPr/>
            <p:nvPr/>
          </p:nvSpPr>
          <p:spPr>
            <a:xfrm>
              <a:off x="6772275" y="4114800"/>
              <a:ext cx="2333625" cy="666750"/>
            </a:xfrm>
            <a:prstGeom prst="roundRect">
              <a:avLst>
                <a:gd name="adj" fmla="val 12857"/>
              </a:avLst>
            </a:prstGeom>
            <a:solidFill>
              <a:srgbClr val="FFFFFF"/>
            </a:solidFill>
            <a:ln w="9525">
              <a:solidFill>
                <a:srgbClr val="E6D9C0"/>
              </a:solidFill>
            </a:ln>
          </p:spPr>
        </p:sp>
        <p:sp>
          <p:nvSpPr>
            <p:cNvPr id="96" name="TextBox 96"/>
            <p:cNvSpPr txBox="1"/>
            <p:nvPr/>
          </p:nvSpPr>
          <p:spPr>
            <a:xfrm>
              <a:off x="7676477" y="4404122"/>
              <a:ext cx="515696"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资产配置</a:t>
              </a:r>
            </a:p>
          </p:txBody>
        </p:sp>
      </p:grpSp>
      <p:sp>
        <p:nvSpPr>
          <p:cNvPr id="98" name="Freeform 98"/>
          <p:cNvSpPr/>
          <p:nvPr/>
        </p:nvSpPr>
        <p:spPr>
          <a:xfrm>
            <a:off x="2400300" y="4362450"/>
            <a:ext cx="95250" cy="171450"/>
          </a:xfrm>
          <a:prstGeom prst="chevron">
            <a:avLst/>
          </a:prstGeom>
          <a:solidFill>
            <a:srgbClr val="C26D5E"/>
          </a:solidFill>
          <a:ln>
            <a:noFill/>
          </a:ln>
        </p:spPr>
      </p:sp>
      <p:grpSp>
        <p:nvGrpSpPr>
          <p:cNvPr id="113" name="maint-row-6"/>
          <p:cNvGrpSpPr/>
          <p:nvPr/>
        </p:nvGrpSpPr>
        <p:grpSpPr>
          <a:xfrm>
            <a:off x="381000" y="4838700"/>
            <a:ext cx="8724900" cy="666750"/>
            <a:chOff x="381000" y="4838700"/>
            <a:chExt cx="8724900" cy="666750"/>
          </a:xfrm>
        </p:grpSpPr>
        <p:sp>
          <p:nvSpPr>
            <p:cNvPr id="99" name="Rectangle 99"/>
            <p:cNvSpPr/>
            <p:nvPr/>
          </p:nvSpPr>
          <p:spPr>
            <a:xfrm>
              <a:off x="381000" y="4838700"/>
              <a:ext cx="2000250" cy="666750"/>
            </a:xfrm>
            <a:prstGeom prst="roundRect">
              <a:avLst>
                <a:gd name="adj" fmla="val 12857"/>
              </a:avLst>
            </a:prstGeom>
            <a:solidFill>
              <a:srgbClr val="FFFFFF"/>
            </a:solidFill>
            <a:ln w="9525">
              <a:solidFill>
                <a:srgbClr val="E6D9C0"/>
              </a:solidFill>
            </a:ln>
          </p:spPr>
        </p:sp>
        <p:sp>
          <p:nvSpPr>
            <p:cNvPr id="100" name="Ellipse 100"/>
            <p:cNvSpPr/>
            <p:nvPr/>
          </p:nvSpPr>
          <p:spPr>
            <a:xfrm>
              <a:off x="523875" y="4981575"/>
              <a:ext cx="381000" cy="381000"/>
            </a:xfrm>
            <a:prstGeom prst="ellipse">
              <a:avLst/>
            </a:prstGeom>
            <a:solidFill>
              <a:srgbClr val="C26D5E"/>
            </a:solidFill>
            <a:ln>
              <a:noFill/>
            </a:ln>
          </p:spPr>
        </p:sp>
        <p:grpSp>
          <p:nvGrpSpPr>
            <p:cNvPr id="105" name="Group 105"/>
            <p:cNvGrpSpPr/>
            <p:nvPr/>
          </p:nvGrpSpPr>
          <p:grpSpPr>
            <a:xfrm>
              <a:off x="658812" y="5100637"/>
              <a:ext cx="111125" cy="142875"/>
              <a:chOff x="658812" y="5100637"/>
              <a:chExt cx="111125" cy="142875"/>
            </a:xfrm>
          </p:grpSpPr>
          <p:sp>
            <p:nvSpPr>
              <p:cNvPr id="101" name="Freeform 101"/>
              <p:cNvSpPr/>
              <p:nvPr/>
            </p:nvSpPr>
            <p:spPr>
              <a:xfrm>
                <a:off x="658812" y="5116512"/>
                <a:ext cx="111125" cy="127000"/>
              </a:xfrm>
              <a:custGeom>
                <a:avLst/>
                <a:gdLst/>
                <a:ahLst/>
                <a:cxnLst/>
                <a:rect l="l" t="t" r="r" b="b"/>
                <a:pathLst>
                  <a:path w="111125" h="127000">
                    <a:moveTo>
                      <a:pt x="31750" y="0"/>
                    </a:moveTo>
                    <a:lnTo>
                      <a:pt x="15875" y="0"/>
                    </a:lnTo>
                    <a:cubicBezTo>
                      <a:pt x="7107" y="0"/>
                      <a:pt x="0" y="7107"/>
                      <a:pt x="0" y="15875"/>
                    </a:cubicBezTo>
                    <a:lnTo>
                      <a:pt x="0" y="111125"/>
                    </a:lnTo>
                    <a:cubicBezTo>
                      <a:pt x="0" y="119892"/>
                      <a:pt x="7107" y="127000"/>
                      <a:pt x="15875" y="127000"/>
                    </a:cubicBezTo>
                    <a:lnTo>
                      <a:pt x="95250" y="127000"/>
                    </a:lnTo>
                    <a:cubicBezTo>
                      <a:pt x="104017" y="127000"/>
                      <a:pt x="111125" y="119892"/>
                      <a:pt x="111125" y="111125"/>
                    </a:cubicBezTo>
                    <a:lnTo>
                      <a:pt x="111125" y="15875"/>
                    </a:lnTo>
                    <a:cubicBezTo>
                      <a:pt x="111125" y="7107"/>
                      <a:pt x="104017" y="0"/>
                      <a:pt x="95250" y="0"/>
                    </a:cubicBezTo>
                    <a:lnTo>
                      <a:pt x="79375" y="0"/>
                    </a:lnTo>
                  </a:path>
                </a:pathLst>
              </a:custGeom>
              <a:noFill/>
              <a:ln w="15875">
                <a:solidFill>
                  <a:srgbClr val="FFFFFF"/>
                </a:solidFill>
              </a:ln>
            </p:spPr>
          </p:sp>
          <p:sp>
            <p:nvSpPr>
              <p:cNvPr id="102" name="Freeform 102"/>
              <p:cNvSpPr/>
              <p:nvPr/>
            </p:nvSpPr>
            <p:spPr>
              <a:xfrm>
                <a:off x="690562" y="5100637"/>
                <a:ext cx="47625" cy="31750"/>
              </a:xfrm>
              <a:custGeom>
                <a:avLst/>
                <a:gdLst/>
                <a:ahLst/>
                <a:cxnLst/>
                <a:rect l="l" t="t" r="r" b="b"/>
                <a:pathLst>
                  <a:path w="47625" h="31750">
                    <a:moveTo>
                      <a:pt x="0" y="15875"/>
                    </a:moveTo>
                    <a:cubicBezTo>
                      <a:pt x="0" y="7107"/>
                      <a:pt x="7107" y="0"/>
                      <a:pt x="15875" y="0"/>
                    </a:cubicBezTo>
                    <a:lnTo>
                      <a:pt x="31750" y="0"/>
                    </a:lnTo>
                    <a:cubicBezTo>
                      <a:pt x="40518" y="0"/>
                      <a:pt x="47625" y="7107"/>
                      <a:pt x="47625" y="15875"/>
                    </a:cubicBezTo>
                    <a:cubicBezTo>
                      <a:pt x="47625" y="24643"/>
                      <a:pt x="40518" y="31750"/>
                      <a:pt x="31750" y="31750"/>
                    </a:cubicBezTo>
                    <a:lnTo>
                      <a:pt x="15875" y="31750"/>
                    </a:lnTo>
                    <a:cubicBezTo>
                      <a:pt x="7107" y="31750"/>
                      <a:pt x="0" y="24643"/>
                      <a:pt x="0" y="15875"/>
                    </a:cubicBezTo>
                  </a:path>
                </a:pathLst>
              </a:custGeom>
              <a:noFill/>
              <a:ln w="15875">
                <a:solidFill>
                  <a:srgbClr val="FFFFFF"/>
                </a:solidFill>
              </a:ln>
            </p:spPr>
          </p:sp>
          <p:sp>
            <p:nvSpPr>
              <p:cNvPr id="103" name="Freeform 103"/>
              <p:cNvSpPr/>
              <p:nvPr/>
            </p:nvSpPr>
            <p:spPr>
              <a:xfrm>
                <a:off x="698500" y="5164137"/>
                <a:ext cx="31750" cy="47625"/>
              </a:xfrm>
              <a:custGeom>
                <a:avLst/>
                <a:gdLst/>
                <a:ahLst/>
                <a:cxnLst/>
                <a:rect l="l" t="t" r="r" b="b"/>
                <a:pathLst>
                  <a:path w="31750" h="47625">
                    <a:moveTo>
                      <a:pt x="31750" y="0"/>
                    </a:moveTo>
                    <a:lnTo>
                      <a:pt x="11906" y="0"/>
                    </a:lnTo>
                    <a:cubicBezTo>
                      <a:pt x="5331" y="0"/>
                      <a:pt x="0" y="5331"/>
                      <a:pt x="0" y="11906"/>
                    </a:cubicBezTo>
                    <a:cubicBezTo>
                      <a:pt x="0" y="18482"/>
                      <a:pt x="5331" y="23812"/>
                      <a:pt x="11906" y="23812"/>
                    </a:cubicBezTo>
                    <a:lnTo>
                      <a:pt x="19844" y="23812"/>
                    </a:lnTo>
                    <a:cubicBezTo>
                      <a:pt x="26419" y="23812"/>
                      <a:pt x="31750" y="29143"/>
                      <a:pt x="31750" y="35719"/>
                    </a:cubicBezTo>
                    <a:cubicBezTo>
                      <a:pt x="31750" y="42294"/>
                      <a:pt x="26419" y="47625"/>
                      <a:pt x="19844" y="47625"/>
                    </a:cubicBezTo>
                    <a:lnTo>
                      <a:pt x="0" y="47625"/>
                    </a:lnTo>
                  </a:path>
                </a:pathLst>
              </a:custGeom>
              <a:noFill/>
              <a:ln w="15875">
                <a:solidFill>
                  <a:srgbClr val="FFFFFF"/>
                </a:solidFill>
              </a:ln>
            </p:spPr>
          </p:sp>
          <p:sp>
            <p:nvSpPr>
              <p:cNvPr id="104" name="Freeform 104"/>
              <p:cNvSpPr/>
              <p:nvPr/>
            </p:nvSpPr>
            <p:spPr>
              <a:xfrm>
                <a:off x="714375" y="5156200"/>
                <a:ext cx="9525" cy="63500"/>
              </a:xfrm>
              <a:custGeom>
                <a:avLst/>
                <a:gdLst/>
                <a:ahLst/>
                <a:cxnLst/>
                <a:rect l="l" t="t" r="r" b="b"/>
                <a:pathLst>
                  <a:path w="9525" h="63500">
                    <a:moveTo>
                      <a:pt x="0" y="55562"/>
                    </a:moveTo>
                    <a:lnTo>
                      <a:pt x="0" y="63500"/>
                    </a:lnTo>
                    <a:moveTo>
                      <a:pt x="0" y="0"/>
                    </a:moveTo>
                    <a:lnTo>
                      <a:pt x="0" y="7937"/>
                    </a:lnTo>
                  </a:path>
                </a:pathLst>
              </a:custGeom>
              <a:noFill/>
              <a:ln w="15875">
                <a:solidFill>
                  <a:srgbClr val="FFFFFF"/>
                </a:solidFill>
              </a:ln>
            </p:spPr>
          </p:sp>
        </p:grpSp>
        <p:sp>
          <p:nvSpPr>
            <p:cNvPr id="106" name="TextBox 106"/>
            <p:cNvSpPr txBox="1"/>
            <p:nvPr/>
          </p:nvSpPr>
          <p:spPr>
            <a:xfrm>
              <a:off x="1004697" y="5123974"/>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私行客户</a:t>
              </a:r>
            </a:p>
          </p:txBody>
        </p:sp>
        <p:sp>
          <p:nvSpPr>
            <p:cNvPr id="107" name="Rectangle 107"/>
            <p:cNvSpPr/>
            <p:nvPr/>
          </p:nvSpPr>
          <p:spPr>
            <a:xfrm>
              <a:off x="2552700" y="4838700"/>
              <a:ext cx="1647825" cy="666750"/>
            </a:xfrm>
            <a:prstGeom prst="roundRect">
              <a:avLst>
                <a:gd name="adj" fmla="val 12857"/>
              </a:avLst>
            </a:prstGeom>
            <a:solidFill>
              <a:srgbClr val="FFFFFF"/>
            </a:solidFill>
            <a:ln w="9525">
              <a:solidFill>
                <a:srgbClr val="E6D9C0"/>
              </a:solidFill>
            </a:ln>
          </p:spPr>
        </p:sp>
        <p:sp>
          <p:nvSpPr>
            <p:cNvPr id="108" name="TextBox 108"/>
            <p:cNvSpPr txBox="1"/>
            <p:nvPr/>
          </p:nvSpPr>
          <p:spPr>
            <a:xfrm>
              <a:off x="3042434" y="5128022"/>
              <a:ext cx="658833"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 xml:space="preserve">1＋N团队　</a:t>
              </a:r>
            </a:p>
          </p:txBody>
        </p:sp>
        <p:sp>
          <p:nvSpPr>
            <p:cNvPr id="109" name="Rectangle 109"/>
            <p:cNvSpPr/>
            <p:nvPr/>
          </p:nvSpPr>
          <p:spPr>
            <a:xfrm>
              <a:off x="4371975" y="4838700"/>
              <a:ext cx="2286000" cy="666750"/>
            </a:xfrm>
            <a:prstGeom prst="roundRect">
              <a:avLst>
                <a:gd name="adj" fmla="val 12857"/>
              </a:avLst>
            </a:prstGeom>
            <a:solidFill>
              <a:srgbClr val="FFFFFF"/>
            </a:solidFill>
            <a:ln w="9525">
              <a:solidFill>
                <a:srgbClr val="E6D9C0"/>
              </a:solidFill>
            </a:ln>
          </p:spPr>
        </p:sp>
        <p:sp>
          <p:nvSpPr>
            <p:cNvPr id="110" name="TextBox 110"/>
            <p:cNvSpPr txBox="1"/>
            <p:nvPr/>
          </p:nvSpPr>
          <p:spPr>
            <a:xfrm>
              <a:off x="5320398" y="5128022"/>
              <a:ext cx="389153"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按计划</a:t>
              </a:r>
            </a:p>
          </p:txBody>
        </p:sp>
        <p:sp>
          <p:nvSpPr>
            <p:cNvPr id="111" name="Rectangle 111"/>
            <p:cNvSpPr/>
            <p:nvPr/>
          </p:nvSpPr>
          <p:spPr>
            <a:xfrm>
              <a:off x="6772275" y="4838700"/>
              <a:ext cx="2333625" cy="666750"/>
            </a:xfrm>
            <a:prstGeom prst="roundRect">
              <a:avLst>
                <a:gd name="adj" fmla="val 12857"/>
              </a:avLst>
            </a:prstGeom>
            <a:solidFill>
              <a:srgbClr val="FFFFFF"/>
            </a:solidFill>
            <a:ln w="9525">
              <a:solidFill>
                <a:srgbClr val="E6D9C0"/>
              </a:solidFill>
            </a:ln>
          </p:spPr>
        </p:sp>
        <p:sp>
          <p:nvSpPr>
            <p:cNvPr id="112" name="TextBox 112"/>
            <p:cNvSpPr txBox="1"/>
            <p:nvPr/>
          </p:nvSpPr>
          <p:spPr>
            <a:xfrm>
              <a:off x="7676477" y="5128022"/>
              <a:ext cx="515696" cy="183356"/>
            </a:xfrm>
            <a:prstGeom prst="rect">
              <a:avLst/>
            </a:prstGeom>
            <a:noFill/>
            <a:ln>
              <a:noFill/>
            </a:ln>
          </p:spPr>
          <p:txBody>
            <a:bodyPr wrap="none" lIns="0" tIns="0" rIns="0" bIns="0" anchor="t" anchorCtr="0">
              <a:spAutoFit/>
            </a:bodyPr>
            <a:lstStyle/>
            <a:p>
              <a:pPr algn="ctr"/>
              <a:r>
                <a:rPr lang="zh-CN" sz="940" dirty="0">
                  <a:solidFill>
                    <a:srgbClr val="5E3A33"/>
                  </a:solidFill>
                  <a:latin typeface="+mn-lt"/>
                  <a:ea typeface="+mn-ea"/>
                  <a:cs typeface="+mn-cs"/>
                </a:rPr>
                <a:t>家企传承</a:t>
              </a:r>
            </a:p>
          </p:txBody>
        </p:sp>
      </p:grpSp>
      <p:sp>
        <p:nvSpPr>
          <p:cNvPr id="114" name="Freeform 114"/>
          <p:cNvSpPr/>
          <p:nvPr/>
        </p:nvSpPr>
        <p:spPr>
          <a:xfrm>
            <a:off x="2400300" y="5086350"/>
            <a:ext cx="95250" cy="171450"/>
          </a:xfrm>
          <a:prstGeom prst="chevron">
            <a:avLst/>
          </a:prstGeom>
          <a:solidFill>
            <a:srgbClr val="C26D5E"/>
          </a:solidFill>
          <a:ln>
            <a:noFill/>
          </a:ln>
        </p:spPr>
      </p:sp>
      <p:grpSp>
        <p:nvGrpSpPr>
          <p:cNvPr id="124" name="strength-arrow"/>
          <p:cNvGrpSpPr/>
          <p:nvPr/>
        </p:nvGrpSpPr>
        <p:grpSpPr>
          <a:xfrm>
            <a:off x="9715500" y="1418749"/>
            <a:ext cx="2000250" cy="4095940"/>
            <a:chOff x="9715500" y="1418749"/>
            <a:chExt cx="2000250" cy="4095940"/>
          </a:xfrm>
        </p:grpSpPr>
        <p:sp>
          <p:nvSpPr>
            <p:cNvPr id="115" name="Polygon 115"/>
            <p:cNvSpPr/>
            <p:nvPr/>
          </p:nvSpPr>
          <p:spPr>
            <a:xfrm>
              <a:off x="9715500" y="1428750"/>
              <a:ext cx="419100" cy="4076700"/>
            </a:xfrm>
            <a:custGeom>
              <a:avLst/>
              <a:gdLst/>
              <a:ahLst/>
              <a:cxnLst/>
              <a:rect l="l" t="t" r="r" b="b"/>
              <a:pathLst>
                <a:path w="419100" h="4076700">
                  <a:moveTo>
                    <a:pt x="0" y="0"/>
                  </a:moveTo>
                  <a:lnTo>
                    <a:pt x="419100" y="0"/>
                  </a:lnTo>
                  <a:lnTo>
                    <a:pt x="419100" y="3333750"/>
                  </a:lnTo>
                  <a:lnTo>
                    <a:pt x="342900" y="3333750"/>
                  </a:lnTo>
                  <a:lnTo>
                    <a:pt x="209550" y="4076700"/>
                  </a:lnTo>
                  <a:lnTo>
                    <a:pt x="76200" y="3333750"/>
                  </a:lnTo>
                  <a:lnTo>
                    <a:pt x="0" y="3333750"/>
                  </a:lnTo>
                  <a:close/>
                </a:path>
              </a:pathLst>
            </a:custGeom>
            <a:gradFill>
              <a:gsLst>
                <a:gs pos="0">
                  <a:srgbClr val="D99285"/>
                </a:gs>
                <a:gs pos="100000">
                  <a:srgbClr val="A3381F"/>
                </a:gs>
              </a:gsLst>
              <a:lin ang="5400000" scaled="1"/>
            </a:gradFill>
            <a:ln>
              <a:noFill/>
            </a:ln>
          </p:spPr>
        </p:sp>
        <p:sp>
          <p:nvSpPr>
            <p:cNvPr id="116" name="TextBox 116"/>
            <p:cNvSpPr txBox="1"/>
            <p:nvPr/>
          </p:nvSpPr>
          <p:spPr>
            <a:xfrm>
              <a:off x="10282047" y="1418749"/>
              <a:ext cx="141834" cy="190690"/>
            </a:xfrm>
            <a:prstGeom prst="rect">
              <a:avLst/>
            </a:prstGeom>
            <a:noFill/>
            <a:ln>
              <a:noFill/>
            </a:ln>
          </p:spPr>
          <p:txBody>
            <a:bodyPr wrap="none" lIns="0" tIns="0" rIns="0" bIns="0" anchor="t" anchorCtr="0">
              <a:spAutoFit/>
            </a:bodyPr>
            <a:lstStyle/>
            <a:p>
              <a:pPr algn="l"/>
              <a:r>
                <a:rPr lang="zh-CN" sz="980" b="1" dirty="0">
                  <a:solidFill>
                    <a:srgbClr val="8A8A8A"/>
                  </a:solidFill>
                  <a:latin typeface="+mn-lt"/>
                  <a:ea typeface="+mn-ea"/>
                  <a:cs typeface="+mn-cs"/>
                </a:rPr>
                <a:t>低</a:t>
              </a:r>
            </a:p>
          </p:txBody>
        </p:sp>
        <p:sp>
          <p:nvSpPr>
            <p:cNvPr id="117" name="TextBox 117"/>
            <p:cNvSpPr txBox="1"/>
            <p:nvPr/>
          </p:nvSpPr>
          <p:spPr>
            <a:xfrm>
              <a:off x="10282047" y="5323999"/>
              <a:ext cx="141834" cy="190690"/>
            </a:xfrm>
            <a:prstGeom prst="rect">
              <a:avLst/>
            </a:prstGeom>
            <a:noFill/>
            <a:ln>
              <a:noFill/>
            </a:ln>
          </p:spPr>
          <p:txBody>
            <a:bodyPr wrap="none" lIns="0" tIns="0" rIns="0" bIns="0" anchor="t" anchorCtr="0">
              <a:spAutoFit/>
            </a:bodyPr>
            <a:lstStyle/>
            <a:p>
              <a:pPr algn="l"/>
              <a:r>
                <a:rPr lang="zh-CN" sz="980" b="1" dirty="0">
                  <a:solidFill>
                    <a:srgbClr val="A3381F"/>
                  </a:solidFill>
                  <a:latin typeface="+mn-lt"/>
                  <a:ea typeface="+mn-ea"/>
                  <a:cs typeface="+mn-cs"/>
                </a:rPr>
                <a:t>高</a:t>
              </a:r>
            </a:p>
          </p:txBody>
        </p:sp>
        <p:sp>
          <p:nvSpPr>
            <p:cNvPr id="118" name="Line 118"/>
            <p:cNvSpPr/>
            <p:nvPr/>
          </p:nvSpPr>
          <p:spPr>
            <a:xfrm>
              <a:off x="10191750" y="1552575"/>
              <a:ext cx="1524000" cy="9525"/>
            </a:xfrm>
            <a:custGeom>
              <a:avLst/>
              <a:gdLst/>
              <a:ahLst/>
              <a:cxnLst/>
              <a:rect l="l" t="t" r="r" b="b"/>
              <a:pathLst>
                <a:path w="1524000" h="9525">
                  <a:moveTo>
                    <a:pt x="0" y="0"/>
                  </a:moveTo>
                  <a:lnTo>
                    <a:pt x="1524000" y="0"/>
                  </a:lnTo>
                </a:path>
              </a:pathLst>
            </a:custGeom>
            <a:noFill/>
            <a:ln w="9525">
              <a:solidFill>
                <a:srgbClr val="C9796B">
                  <a:alpha val="60000"/>
                </a:srgbClr>
              </a:solidFill>
              <a:custDash>
                <a:ds d="200000" sp="300000"/>
              </a:custDash>
            </a:ln>
          </p:spPr>
        </p:sp>
        <p:sp>
          <p:nvSpPr>
            <p:cNvPr id="119" name="Line 119"/>
            <p:cNvSpPr/>
            <p:nvPr/>
          </p:nvSpPr>
          <p:spPr>
            <a:xfrm>
              <a:off x="10191750" y="2276475"/>
              <a:ext cx="1524000" cy="9525"/>
            </a:xfrm>
            <a:custGeom>
              <a:avLst/>
              <a:gdLst/>
              <a:ahLst/>
              <a:cxnLst/>
              <a:rect l="l" t="t" r="r" b="b"/>
              <a:pathLst>
                <a:path w="1524000" h="9525">
                  <a:moveTo>
                    <a:pt x="0" y="0"/>
                  </a:moveTo>
                  <a:lnTo>
                    <a:pt x="1524000" y="0"/>
                  </a:lnTo>
                </a:path>
              </a:pathLst>
            </a:custGeom>
            <a:noFill/>
            <a:ln w="9525">
              <a:solidFill>
                <a:srgbClr val="C9796B">
                  <a:alpha val="60000"/>
                </a:srgbClr>
              </a:solidFill>
              <a:custDash>
                <a:ds d="200000" sp="300000"/>
              </a:custDash>
            </a:ln>
          </p:spPr>
        </p:sp>
        <p:sp>
          <p:nvSpPr>
            <p:cNvPr id="120" name="Line 120"/>
            <p:cNvSpPr/>
            <p:nvPr/>
          </p:nvSpPr>
          <p:spPr>
            <a:xfrm>
              <a:off x="10191750" y="3000375"/>
              <a:ext cx="1524000" cy="9525"/>
            </a:xfrm>
            <a:custGeom>
              <a:avLst/>
              <a:gdLst/>
              <a:ahLst/>
              <a:cxnLst/>
              <a:rect l="l" t="t" r="r" b="b"/>
              <a:pathLst>
                <a:path w="1524000" h="9525">
                  <a:moveTo>
                    <a:pt x="0" y="0"/>
                  </a:moveTo>
                  <a:lnTo>
                    <a:pt x="1524000" y="0"/>
                  </a:lnTo>
                </a:path>
              </a:pathLst>
            </a:custGeom>
            <a:noFill/>
            <a:ln w="9525">
              <a:solidFill>
                <a:srgbClr val="C9796B">
                  <a:alpha val="60000"/>
                </a:srgbClr>
              </a:solidFill>
              <a:custDash>
                <a:ds d="200000" sp="300000"/>
              </a:custDash>
            </a:ln>
          </p:spPr>
        </p:sp>
        <p:sp>
          <p:nvSpPr>
            <p:cNvPr id="121" name="Line 121"/>
            <p:cNvSpPr/>
            <p:nvPr/>
          </p:nvSpPr>
          <p:spPr>
            <a:xfrm>
              <a:off x="10191750" y="3724275"/>
              <a:ext cx="1524000" cy="9525"/>
            </a:xfrm>
            <a:custGeom>
              <a:avLst/>
              <a:gdLst/>
              <a:ahLst/>
              <a:cxnLst/>
              <a:rect l="l" t="t" r="r" b="b"/>
              <a:pathLst>
                <a:path w="1524000" h="9525">
                  <a:moveTo>
                    <a:pt x="0" y="0"/>
                  </a:moveTo>
                  <a:lnTo>
                    <a:pt x="1524000" y="0"/>
                  </a:lnTo>
                </a:path>
              </a:pathLst>
            </a:custGeom>
            <a:noFill/>
            <a:ln w="9525">
              <a:solidFill>
                <a:srgbClr val="C9796B">
                  <a:alpha val="60000"/>
                </a:srgbClr>
              </a:solidFill>
              <a:custDash>
                <a:ds d="200000" sp="300000"/>
              </a:custDash>
            </a:ln>
          </p:spPr>
        </p:sp>
        <p:sp>
          <p:nvSpPr>
            <p:cNvPr id="122" name="Line 122"/>
            <p:cNvSpPr/>
            <p:nvPr/>
          </p:nvSpPr>
          <p:spPr>
            <a:xfrm>
              <a:off x="10191750" y="4448175"/>
              <a:ext cx="1524000" cy="9525"/>
            </a:xfrm>
            <a:custGeom>
              <a:avLst/>
              <a:gdLst/>
              <a:ahLst/>
              <a:cxnLst/>
              <a:rect l="l" t="t" r="r" b="b"/>
              <a:pathLst>
                <a:path w="1524000" h="9525">
                  <a:moveTo>
                    <a:pt x="0" y="0"/>
                  </a:moveTo>
                  <a:lnTo>
                    <a:pt x="1524000" y="0"/>
                  </a:lnTo>
                </a:path>
              </a:pathLst>
            </a:custGeom>
            <a:noFill/>
            <a:ln w="9525">
              <a:solidFill>
                <a:srgbClr val="C9796B">
                  <a:alpha val="60000"/>
                </a:srgbClr>
              </a:solidFill>
              <a:custDash>
                <a:ds d="200000" sp="300000"/>
              </a:custDash>
            </a:ln>
          </p:spPr>
        </p:sp>
        <p:sp>
          <p:nvSpPr>
            <p:cNvPr id="123" name="Line 123"/>
            <p:cNvSpPr/>
            <p:nvPr/>
          </p:nvSpPr>
          <p:spPr>
            <a:xfrm>
              <a:off x="10191750" y="5172075"/>
              <a:ext cx="1524000" cy="9525"/>
            </a:xfrm>
            <a:custGeom>
              <a:avLst/>
              <a:gdLst/>
              <a:ahLst/>
              <a:cxnLst/>
              <a:rect l="l" t="t" r="r" b="b"/>
              <a:pathLst>
                <a:path w="1524000" h="9525">
                  <a:moveTo>
                    <a:pt x="0" y="0"/>
                  </a:moveTo>
                  <a:lnTo>
                    <a:pt x="1524000" y="0"/>
                  </a:lnTo>
                </a:path>
              </a:pathLst>
            </a:custGeom>
            <a:noFill/>
            <a:ln w="9525">
              <a:solidFill>
                <a:srgbClr val="C9796B">
                  <a:alpha val="60000"/>
                </a:srgbClr>
              </a:solidFill>
              <a:custDash>
                <a:ds d="200000" sp="300000"/>
              </a:custDash>
            </a:ln>
          </p:spPr>
        </p:sp>
      </p:grpSp>
      <p:grpSp>
        <p:nvGrpSpPr>
          <p:cNvPr id="150" name="principle-band"/>
          <p:cNvGrpSpPr/>
          <p:nvPr/>
        </p:nvGrpSpPr>
        <p:grpSpPr>
          <a:xfrm>
            <a:off x="381000" y="5695950"/>
            <a:ext cx="11430000" cy="971550"/>
            <a:chOff x="381000" y="5695950"/>
            <a:chExt cx="11430000" cy="971550"/>
          </a:xfrm>
        </p:grpSpPr>
        <p:sp>
          <p:nvSpPr>
            <p:cNvPr id="125" name="Rectangle 125"/>
            <p:cNvSpPr/>
            <p:nvPr/>
          </p:nvSpPr>
          <p:spPr>
            <a:xfrm>
              <a:off x="381000" y="5695950"/>
              <a:ext cx="11430000" cy="971550"/>
            </a:xfrm>
            <a:prstGeom prst="roundRect">
              <a:avLst>
                <a:gd name="adj" fmla="val 11765"/>
              </a:avLst>
            </a:prstGeom>
            <a:solidFill>
              <a:srgbClr val="FFFFFF"/>
            </a:solidFill>
            <a:ln w="9525">
              <a:solidFill>
                <a:srgbClr val="E6D9C0"/>
              </a:solidFill>
            </a:ln>
          </p:spPr>
        </p:sp>
        <p:sp>
          <p:nvSpPr>
            <p:cNvPr id="126" name="Rectangle 126"/>
            <p:cNvSpPr/>
            <p:nvPr/>
          </p:nvSpPr>
          <p:spPr>
            <a:xfrm>
              <a:off x="609600" y="5981700"/>
              <a:ext cx="1504950" cy="400050"/>
            </a:xfrm>
            <a:prstGeom prst="roundRect">
              <a:avLst>
                <a:gd name="adj" fmla="val 19048"/>
              </a:avLst>
            </a:prstGeom>
            <a:solidFill>
              <a:srgbClr val="C26D5E"/>
            </a:solidFill>
            <a:ln>
              <a:noFill/>
            </a:ln>
          </p:spPr>
        </p:sp>
        <p:sp>
          <p:nvSpPr>
            <p:cNvPr id="127" name="TextBox 127"/>
            <p:cNvSpPr txBox="1"/>
            <p:nvPr/>
          </p:nvSpPr>
          <p:spPr>
            <a:xfrm>
              <a:off x="829412" y="6133624"/>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维护资源配置原则</a:t>
              </a:r>
            </a:p>
          </p:txBody>
        </p:sp>
        <p:sp>
          <p:nvSpPr>
            <p:cNvPr id="128" name="Ellipse 128"/>
            <p:cNvSpPr/>
            <p:nvPr/>
          </p:nvSpPr>
          <p:spPr>
            <a:xfrm>
              <a:off x="2400300" y="5991225"/>
              <a:ext cx="381000" cy="381000"/>
            </a:xfrm>
            <a:prstGeom prst="ellipse">
              <a:avLst/>
            </a:prstGeom>
            <a:solidFill>
              <a:srgbClr val="A3381F"/>
            </a:solidFill>
            <a:ln>
              <a:noFill/>
            </a:ln>
          </p:spPr>
        </p:sp>
        <p:sp>
          <p:nvSpPr>
            <p:cNvPr id="129" name="Freeform 129"/>
            <p:cNvSpPr/>
            <p:nvPr/>
          </p:nvSpPr>
          <p:spPr>
            <a:xfrm>
              <a:off x="2519362" y="6134100"/>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FFFFFF"/>
              </a:solidFill>
            </a:ln>
          </p:spPr>
        </p:sp>
        <p:sp>
          <p:nvSpPr>
            <p:cNvPr id="130" name="TextBox 130"/>
            <p:cNvSpPr txBox="1"/>
            <p:nvPr/>
          </p:nvSpPr>
          <p:spPr>
            <a:xfrm>
              <a:off x="2889885" y="6126956"/>
              <a:ext cx="916076"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高层专业服务</a:t>
              </a:r>
            </a:p>
          </p:txBody>
        </p:sp>
        <p:sp>
          <p:nvSpPr>
            <p:cNvPr id="131" name="TextBox 131"/>
            <p:cNvSpPr txBox="1"/>
            <p:nvPr/>
          </p:nvSpPr>
          <p:spPr>
            <a:xfrm>
              <a:off x="4203192" y="6102668"/>
              <a:ext cx="195453" cy="264033"/>
            </a:xfrm>
            <a:prstGeom prst="rect">
              <a:avLst/>
            </a:prstGeom>
            <a:noFill/>
            <a:ln>
              <a:noFill/>
            </a:ln>
          </p:spPr>
          <p:txBody>
            <a:bodyPr wrap="none" lIns="0" tIns="0" rIns="0" bIns="0" anchor="t" anchorCtr="0">
              <a:spAutoFit/>
            </a:bodyPr>
            <a:lstStyle/>
            <a:p>
              <a:pPr algn="l"/>
              <a:r>
                <a:rPr lang="zh-CN" sz="1350" b="1" dirty="0">
                  <a:solidFill>
                    <a:srgbClr val="A24B3C"/>
                  </a:solidFill>
                  <a:latin typeface="+mn-lt"/>
                  <a:ea typeface="+mn-ea"/>
                  <a:cs typeface="+mn-cs"/>
                </a:rPr>
                <a:t>＞</a:t>
              </a:r>
            </a:p>
          </p:txBody>
        </p:sp>
        <p:sp>
          <p:nvSpPr>
            <p:cNvPr id="132" name="Ellipse 132"/>
            <p:cNvSpPr/>
            <p:nvPr/>
          </p:nvSpPr>
          <p:spPr>
            <a:xfrm>
              <a:off x="4495800" y="5991225"/>
              <a:ext cx="381000" cy="381000"/>
            </a:xfrm>
            <a:prstGeom prst="ellipse">
              <a:avLst/>
            </a:prstGeom>
            <a:solidFill>
              <a:srgbClr val="C26D5E"/>
            </a:solidFill>
            <a:ln>
              <a:noFill/>
            </a:ln>
          </p:spPr>
        </p:sp>
        <p:grpSp>
          <p:nvGrpSpPr>
            <p:cNvPr id="135" name="Group 135"/>
            <p:cNvGrpSpPr/>
            <p:nvPr/>
          </p:nvGrpSpPr>
          <p:grpSpPr>
            <a:xfrm>
              <a:off x="4614862" y="6142037"/>
              <a:ext cx="142875" cy="79375"/>
              <a:chOff x="4614862" y="6142037"/>
              <a:chExt cx="142875" cy="79375"/>
            </a:xfrm>
          </p:grpSpPr>
          <p:sp>
            <p:nvSpPr>
              <p:cNvPr id="133" name="Freeform 133"/>
              <p:cNvSpPr/>
              <p:nvPr/>
            </p:nvSpPr>
            <p:spPr>
              <a:xfrm>
                <a:off x="4614862" y="6142037"/>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134" name="Freeform 134"/>
              <p:cNvSpPr/>
              <p:nvPr/>
            </p:nvSpPr>
            <p:spPr>
              <a:xfrm>
                <a:off x="4702175" y="6142037"/>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136" name="TextBox 136"/>
            <p:cNvSpPr txBox="1"/>
            <p:nvPr/>
          </p:nvSpPr>
          <p:spPr>
            <a:xfrm>
              <a:off x="4985385" y="6126956"/>
              <a:ext cx="916076" cy="220028"/>
            </a:xfrm>
            <a:prstGeom prst="rect">
              <a:avLst/>
            </a:prstGeom>
            <a:noFill/>
            <a:ln>
              <a:noFill/>
            </a:ln>
          </p:spPr>
          <p:txBody>
            <a:bodyPr wrap="none" lIns="0" tIns="0" rIns="0" bIns="0" anchor="t" anchorCtr="0">
              <a:spAutoFit/>
            </a:bodyPr>
            <a:lstStyle/>
            <a:p>
              <a:pPr algn="l"/>
              <a:r>
                <a:rPr lang="zh-CN" sz="1120" b="1" dirty="0">
                  <a:solidFill>
                    <a:srgbClr val="A24B3C"/>
                  </a:solidFill>
                  <a:latin typeface="+mn-lt"/>
                  <a:ea typeface="+mn-ea"/>
                  <a:cs typeface="+mn-cs"/>
                </a:rPr>
                <a:t>中层成长培育</a:t>
              </a:r>
            </a:p>
          </p:txBody>
        </p:sp>
        <p:sp>
          <p:nvSpPr>
            <p:cNvPr id="137" name="TextBox 137"/>
            <p:cNvSpPr txBox="1"/>
            <p:nvPr/>
          </p:nvSpPr>
          <p:spPr>
            <a:xfrm>
              <a:off x="6298692" y="6102668"/>
              <a:ext cx="195453" cy="264033"/>
            </a:xfrm>
            <a:prstGeom prst="rect">
              <a:avLst/>
            </a:prstGeom>
            <a:noFill/>
            <a:ln>
              <a:noFill/>
            </a:ln>
          </p:spPr>
          <p:txBody>
            <a:bodyPr wrap="none" lIns="0" tIns="0" rIns="0" bIns="0" anchor="t" anchorCtr="0">
              <a:spAutoFit/>
            </a:bodyPr>
            <a:lstStyle/>
            <a:p>
              <a:pPr algn="l"/>
              <a:r>
                <a:rPr lang="zh-CN" sz="1350" b="1" dirty="0">
                  <a:solidFill>
                    <a:srgbClr val="A24B3C"/>
                  </a:solidFill>
                  <a:latin typeface="+mn-lt"/>
                  <a:ea typeface="+mn-ea"/>
                  <a:cs typeface="+mn-cs"/>
                </a:rPr>
                <a:t>＞</a:t>
              </a:r>
            </a:p>
          </p:txBody>
        </p:sp>
        <p:sp>
          <p:nvSpPr>
            <p:cNvPr id="138" name="Ellipse 138"/>
            <p:cNvSpPr/>
            <p:nvPr/>
          </p:nvSpPr>
          <p:spPr>
            <a:xfrm>
              <a:off x="6591300" y="5991225"/>
              <a:ext cx="381000" cy="381000"/>
            </a:xfrm>
            <a:prstGeom prst="ellipse">
              <a:avLst/>
            </a:prstGeom>
            <a:solidFill>
              <a:srgbClr val="8A8A8A"/>
            </a:solidFill>
            <a:ln>
              <a:noFill/>
            </a:ln>
          </p:spPr>
        </p:sp>
        <p:grpSp>
          <p:nvGrpSpPr>
            <p:cNvPr id="148" name="Group 148"/>
            <p:cNvGrpSpPr/>
            <p:nvPr/>
          </p:nvGrpSpPr>
          <p:grpSpPr>
            <a:xfrm>
              <a:off x="6726237" y="6102350"/>
              <a:ext cx="111125" cy="150812"/>
              <a:chOff x="6726237" y="6102350"/>
              <a:chExt cx="111125" cy="150812"/>
            </a:xfrm>
          </p:grpSpPr>
          <p:sp>
            <p:nvSpPr>
              <p:cNvPr id="139" name="Freeform 139"/>
              <p:cNvSpPr/>
              <p:nvPr/>
            </p:nvSpPr>
            <p:spPr>
              <a:xfrm>
                <a:off x="6734175" y="6118225"/>
                <a:ext cx="95250" cy="63500"/>
              </a:xfrm>
              <a:custGeom>
                <a:avLst/>
                <a:gdLst/>
                <a:ahLst/>
                <a:cxnLst/>
                <a:rect l="l" t="t" r="r" b="b"/>
                <a:pathLst>
                  <a:path w="95250" h="63500">
                    <a:moveTo>
                      <a:pt x="0" y="15875"/>
                    </a:moveTo>
                    <a:cubicBezTo>
                      <a:pt x="0" y="7107"/>
                      <a:pt x="7107" y="0"/>
                      <a:pt x="15875" y="0"/>
                    </a:cubicBezTo>
                    <a:lnTo>
                      <a:pt x="79375" y="0"/>
                    </a:lnTo>
                    <a:cubicBezTo>
                      <a:pt x="88142" y="0"/>
                      <a:pt x="95250" y="7107"/>
                      <a:pt x="95250" y="15875"/>
                    </a:cubicBezTo>
                    <a:lnTo>
                      <a:pt x="95250" y="47625"/>
                    </a:lnTo>
                    <a:cubicBezTo>
                      <a:pt x="95250" y="56392"/>
                      <a:pt x="88142" y="63500"/>
                      <a:pt x="79375" y="63500"/>
                    </a:cubicBezTo>
                    <a:lnTo>
                      <a:pt x="15875" y="63500"/>
                    </a:lnTo>
                    <a:cubicBezTo>
                      <a:pt x="7107" y="63500"/>
                      <a:pt x="0" y="56392"/>
                      <a:pt x="0" y="47625"/>
                    </a:cubicBezTo>
                    <a:lnTo>
                      <a:pt x="0" y="15875"/>
                    </a:lnTo>
                  </a:path>
                </a:pathLst>
              </a:custGeom>
              <a:noFill/>
              <a:ln w="15875">
                <a:solidFill>
                  <a:srgbClr val="FFFFFF"/>
                </a:solidFill>
              </a:ln>
            </p:spPr>
          </p:sp>
          <p:sp>
            <p:nvSpPr>
              <p:cNvPr id="140" name="Freeform 140"/>
              <p:cNvSpPr/>
              <p:nvPr/>
            </p:nvSpPr>
            <p:spPr>
              <a:xfrm>
                <a:off x="6781800" y="6102350"/>
                <a:ext cx="9525" cy="15875"/>
              </a:xfrm>
              <a:custGeom>
                <a:avLst/>
                <a:gdLst/>
                <a:ahLst/>
                <a:cxnLst/>
                <a:rect l="l" t="t" r="r" b="b"/>
                <a:pathLst>
                  <a:path w="9525" h="15875">
                    <a:moveTo>
                      <a:pt x="0" y="0"/>
                    </a:moveTo>
                    <a:lnTo>
                      <a:pt x="0" y="15875"/>
                    </a:lnTo>
                  </a:path>
                </a:pathLst>
              </a:custGeom>
              <a:noFill/>
              <a:ln w="15875">
                <a:solidFill>
                  <a:srgbClr val="FFFFFF"/>
                </a:solidFill>
              </a:ln>
            </p:spPr>
          </p:sp>
          <p:sp>
            <p:nvSpPr>
              <p:cNvPr id="141" name="Freeform 141"/>
              <p:cNvSpPr/>
              <p:nvPr/>
            </p:nvSpPr>
            <p:spPr>
              <a:xfrm>
                <a:off x="6757987" y="6181725"/>
                <a:ext cx="9525" cy="71437"/>
              </a:xfrm>
              <a:custGeom>
                <a:avLst/>
                <a:gdLst/>
                <a:ahLst/>
                <a:cxnLst/>
                <a:rect l="l" t="t" r="r" b="b"/>
                <a:pathLst>
                  <a:path w="9525" h="71437">
                    <a:moveTo>
                      <a:pt x="0" y="0"/>
                    </a:moveTo>
                    <a:lnTo>
                      <a:pt x="0" y="71437"/>
                    </a:lnTo>
                  </a:path>
                </a:pathLst>
              </a:custGeom>
              <a:noFill/>
              <a:ln w="15875">
                <a:solidFill>
                  <a:srgbClr val="FFFFFF"/>
                </a:solidFill>
              </a:ln>
            </p:spPr>
          </p:sp>
          <p:sp>
            <p:nvSpPr>
              <p:cNvPr id="142" name="Freeform 142"/>
              <p:cNvSpPr/>
              <p:nvPr/>
            </p:nvSpPr>
            <p:spPr>
              <a:xfrm>
                <a:off x="6805612" y="6181725"/>
                <a:ext cx="9525" cy="71437"/>
              </a:xfrm>
              <a:custGeom>
                <a:avLst/>
                <a:gdLst/>
                <a:ahLst/>
                <a:cxnLst/>
                <a:rect l="l" t="t" r="r" b="b"/>
                <a:pathLst>
                  <a:path w="9525" h="71437">
                    <a:moveTo>
                      <a:pt x="0" y="0"/>
                    </a:moveTo>
                    <a:lnTo>
                      <a:pt x="0" y="71437"/>
                    </a:lnTo>
                  </a:path>
                </a:pathLst>
              </a:custGeom>
              <a:noFill/>
              <a:ln w="15875">
                <a:solidFill>
                  <a:srgbClr val="FFFFFF"/>
                </a:solidFill>
              </a:ln>
            </p:spPr>
          </p:sp>
          <p:sp>
            <p:nvSpPr>
              <p:cNvPr id="143" name="Freeform 143"/>
              <p:cNvSpPr/>
              <p:nvPr/>
            </p:nvSpPr>
            <p:spPr>
              <a:xfrm>
                <a:off x="6726237" y="6197600"/>
                <a:ext cx="31750" cy="15875"/>
              </a:xfrm>
              <a:custGeom>
                <a:avLst/>
                <a:gdLst/>
                <a:ahLst/>
                <a:cxnLst/>
                <a:rect l="l" t="t" r="r" b="b"/>
                <a:pathLst>
                  <a:path w="31750" h="15875">
                    <a:moveTo>
                      <a:pt x="0" y="15875"/>
                    </a:moveTo>
                    <a:lnTo>
                      <a:pt x="31750" y="0"/>
                    </a:lnTo>
                  </a:path>
                </a:pathLst>
              </a:custGeom>
              <a:noFill/>
              <a:ln w="15875">
                <a:solidFill>
                  <a:srgbClr val="FFFFFF"/>
                </a:solidFill>
              </a:ln>
            </p:spPr>
          </p:sp>
          <p:sp>
            <p:nvSpPr>
              <p:cNvPr id="144" name="Freeform 144"/>
              <p:cNvSpPr/>
              <p:nvPr/>
            </p:nvSpPr>
            <p:spPr>
              <a:xfrm>
                <a:off x="6805612" y="6197600"/>
                <a:ext cx="31750" cy="15875"/>
              </a:xfrm>
              <a:custGeom>
                <a:avLst/>
                <a:gdLst/>
                <a:ahLst/>
                <a:cxnLst/>
                <a:rect l="l" t="t" r="r" b="b"/>
                <a:pathLst>
                  <a:path w="31750" h="15875">
                    <a:moveTo>
                      <a:pt x="0" y="0"/>
                    </a:moveTo>
                    <a:lnTo>
                      <a:pt x="31750" y="15875"/>
                    </a:lnTo>
                  </a:path>
                </a:pathLst>
              </a:custGeom>
              <a:noFill/>
              <a:ln w="15875">
                <a:solidFill>
                  <a:srgbClr val="FFFFFF"/>
                </a:solidFill>
              </a:ln>
            </p:spPr>
          </p:sp>
          <p:sp>
            <p:nvSpPr>
              <p:cNvPr id="145" name="Freeform 145"/>
              <p:cNvSpPr/>
              <p:nvPr/>
            </p:nvSpPr>
            <p:spPr>
              <a:xfrm>
                <a:off x="6757987" y="6229350"/>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146" name="Freeform 146"/>
              <p:cNvSpPr/>
              <p:nvPr/>
            </p:nvSpPr>
            <p:spPr>
              <a:xfrm>
                <a:off x="6765925" y="6149975"/>
                <a:ext cx="9525" cy="9525"/>
              </a:xfrm>
              <a:custGeom>
                <a:avLst/>
                <a:gdLst/>
                <a:ahLst/>
                <a:cxnLst/>
                <a:rect l="l" t="t" r="r" b="b"/>
                <a:pathLst>
                  <a:path w="9525" h="9525">
                    <a:moveTo>
                      <a:pt x="0" y="0"/>
                    </a:moveTo>
                    <a:lnTo>
                      <a:pt x="0" y="79"/>
                    </a:lnTo>
                  </a:path>
                </a:pathLst>
              </a:custGeom>
              <a:noFill/>
              <a:ln w="15875">
                <a:solidFill>
                  <a:srgbClr val="FFFFFF"/>
                </a:solidFill>
              </a:ln>
            </p:spPr>
          </p:sp>
          <p:sp>
            <p:nvSpPr>
              <p:cNvPr id="147" name="Freeform 147"/>
              <p:cNvSpPr/>
              <p:nvPr/>
            </p:nvSpPr>
            <p:spPr>
              <a:xfrm>
                <a:off x="6797675" y="6149975"/>
                <a:ext cx="9525" cy="9525"/>
              </a:xfrm>
              <a:custGeom>
                <a:avLst/>
                <a:gdLst/>
                <a:ahLst/>
                <a:cxnLst/>
                <a:rect l="l" t="t" r="r" b="b"/>
                <a:pathLst>
                  <a:path w="9525" h="9525">
                    <a:moveTo>
                      <a:pt x="0" y="0"/>
                    </a:moveTo>
                    <a:lnTo>
                      <a:pt x="0" y="79"/>
                    </a:lnTo>
                  </a:path>
                </a:pathLst>
              </a:custGeom>
              <a:noFill/>
              <a:ln w="15875">
                <a:solidFill>
                  <a:srgbClr val="FFFFFF"/>
                </a:solidFill>
              </a:ln>
            </p:spPr>
          </p:sp>
        </p:grpSp>
        <p:sp>
          <p:nvSpPr>
            <p:cNvPr id="149" name="TextBox 149"/>
            <p:cNvSpPr txBox="1"/>
            <p:nvPr/>
          </p:nvSpPr>
          <p:spPr>
            <a:xfrm>
              <a:off x="7080885" y="6126956"/>
              <a:ext cx="916076" cy="220028"/>
            </a:xfrm>
            <a:prstGeom prst="rect">
              <a:avLst/>
            </a:prstGeom>
            <a:noFill/>
            <a:ln>
              <a:noFill/>
            </a:ln>
          </p:spPr>
          <p:txBody>
            <a:bodyPr wrap="none" lIns="0" tIns="0" rIns="0" bIns="0" anchor="t" anchorCtr="0">
              <a:spAutoFit/>
            </a:bodyPr>
            <a:lstStyle/>
            <a:p>
              <a:pPr algn="l"/>
              <a:r>
                <a:rPr lang="zh-CN" sz="1120" b="1" dirty="0">
                  <a:solidFill>
                    <a:srgbClr val="7D5C55"/>
                  </a:solidFill>
                  <a:latin typeface="+mn-lt"/>
                  <a:ea typeface="+mn-ea"/>
                  <a:cs typeface="+mn-cs"/>
                </a:rPr>
                <a:t>长尾自动运营</a:t>
              </a:r>
            </a:p>
          </p:txBody>
        </p:sp>
      </p:gr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12</a:t>
              </a:r>
            </a:p>
          </p:txBody>
        </p:sp>
        <p:sp>
          <p:nvSpPr>
            <p:cNvPr id="4" name="TextBox 4"/>
            <p:cNvSpPr txBox="1"/>
            <p:nvPr/>
          </p:nvSpPr>
          <p:spPr>
            <a:xfrm>
              <a:off x="942594" y="151448"/>
              <a:ext cx="5012436"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生命周期经营：覆盖客户</a:t>
              </a:r>
              <a:r>
                <a:rPr lang="zh-CN" sz="1950" b="1" dirty="0">
                  <a:solidFill>
                    <a:srgbClr val="A3381F"/>
                  </a:solidFill>
                  <a:latin typeface="SimSun"/>
                  <a:ea typeface="SimSun"/>
                  <a:cs typeface="SimSun"/>
                </a:rPr>
                <a:t>六阶段关键旅程</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21" name="stage-1"/>
          <p:cNvGrpSpPr/>
          <p:nvPr/>
        </p:nvGrpSpPr>
        <p:grpSpPr>
          <a:xfrm>
            <a:off x="1276350" y="762000"/>
            <a:ext cx="1600200" cy="1562100"/>
            <a:chOff x="1276350" y="762000"/>
            <a:chExt cx="1600200" cy="1562100"/>
          </a:xfrm>
        </p:grpSpPr>
        <p:sp>
          <p:nvSpPr>
            <p:cNvPr id="7" name="Rectangle 7"/>
            <p:cNvSpPr/>
            <p:nvPr/>
          </p:nvSpPr>
          <p:spPr>
            <a:xfrm>
              <a:off x="1276350" y="762000"/>
              <a:ext cx="1600200" cy="1562100"/>
            </a:xfrm>
            <a:prstGeom prst="roundRect">
              <a:avLst>
                <a:gd name="adj" fmla="val 5488"/>
              </a:avLst>
            </a:prstGeom>
            <a:solidFill>
              <a:srgbClr val="FFFFFF"/>
            </a:solidFill>
            <a:ln w="9525">
              <a:solidFill>
                <a:srgbClr val="E6D9C0"/>
              </a:solidFill>
            </a:ln>
          </p:spPr>
        </p:sp>
        <p:sp>
          <p:nvSpPr>
            <p:cNvPr id="8" name="Rectangle 8"/>
            <p:cNvSpPr/>
            <p:nvPr/>
          </p:nvSpPr>
          <p:spPr>
            <a:xfrm>
              <a:off x="1276350" y="762000"/>
              <a:ext cx="1600200" cy="304800"/>
            </a:xfrm>
            <a:prstGeom prst="roundRect">
              <a:avLst>
                <a:gd name="adj" fmla="val 28125"/>
              </a:avLst>
            </a:prstGeom>
            <a:solidFill>
              <a:srgbClr val="A3381F"/>
            </a:solidFill>
            <a:ln>
              <a:noFill/>
            </a:ln>
          </p:spPr>
        </p:sp>
        <p:sp>
          <p:nvSpPr>
            <p:cNvPr id="9" name="Rectangle 9"/>
            <p:cNvSpPr/>
            <p:nvPr/>
          </p:nvSpPr>
          <p:spPr>
            <a:xfrm>
              <a:off x="1276350" y="933450"/>
              <a:ext cx="1600200" cy="133350"/>
            </a:xfrm>
            <a:prstGeom prst="rect">
              <a:avLst/>
            </a:prstGeom>
            <a:solidFill>
              <a:srgbClr val="A3381F"/>
            </a:solidFill>
            <a:ln>
              <a:noFill/>
            </a:ln>
          </p:spPr>
        </p:sp>
        <p:sp>
          <p:nvSpPr>
            <p:cNvPr id="10" name="Ellipse 10"/>
            <p:cNvSpPr/>
            <p:nvPr/>
          </p:nvSpPr>
          <p:spPr>
            <a:xfrm>
              <a:off x="1390650" y="800100"/>
              <a:ext cx="228600" cy="228600"/>
            </a:xfrm>
            <a:prstGeom prst="ellipse">
              <a:avLst/>
            </a:prstGeom>
            <a:solidFill>
              <a:srgbClr val="E4B4AC"/>
            </a:solidFill>
            <a:ln>
              <a:noFill/>
            </a:ln>
          </p:spPr>
        </p:sp>
        <p:sp>
          <p:nvSpPr>
            <p:cNvPr id="11" name="TextBox 11"/>
            <p:cNvSpPr txBox="1"/>
            <p:nvPr/>
          </p:nvSpPr>
          <p:spPr>
            <a:xfrm>
              <a:off x="1438770" y="867489"/>
              <a:ext cx="132359" cy="154781"/>
            </a:xfrm>
            <a:prstGeom prst="rect">
              <a:avLst/>
            </a:prstGeom>
            <a:noFill/>
            <a:ln>
              <a:noFill/>
            </a:ln>
          </p:spPr>
          <p:txBody>
            <a:bodyPr wrap="none" lIns="0" tIns="0" rIns="0" bIns="0" anchor="t" anchorCtr="0">
              <a:spAutoFit/>
            </a:bodyPr>
            <a:lstStyle/>
            <a:p>
              <a:pPr algn="ctr"/>
              <a:r>
                <a:rPr lang="zh-CN" sz="790" b="1" dirty="0">
                  <a:solidFill>
                    <a:srgbClr val="7E2511"/>
                  </a:solidFill>
                  <a:latin typeface="+mn-lt"/>
                  <a:ea typeface="+mn-ea"/>
                  <a:cs typeface="+mn-cs"/>
                </a:rPr>
                <a:t>01</a:t>
              </a:r>
            </a:p>
          </p:txBody>
        </p:sp>
        <p:sp>
          <p:nvSpPr>
            <p:cNvPr id="12" name="TextBox 12"/>
            <p:cNvSpPr txBox="1"/>
            <p:nvPr/>
          </p:nvSpPr>
          <p:spPr>
            <a:xfrm>
              <a:off x="1984172" y="854154"/>
              <a:ext cx="451256"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获客期</a:t>
              </a:r>
            </a:p>
          </p:txBody>
        </p:sp>
        <p:grpSp>
          <p:nvGrpSpPr>
            <p:cNvPr id="17" name="Group 17"/>
            <p:cNvGrpSpPr/>
            <p:nvPr/>
          </p:nvGrpSpPr>
          <p:grpSpPr>
            <a:xfrm>
              <a:off x="2009775" y="1195388"/>
              <a:ext cx="177801" cy="211138"/>
              <a:chOff x="2009775" y="1195388"/>
              <a:chExt cx="177801" cy="211138"/>
            </a:xfrm>
          </p:grpSpPr>
          <p:sp>
            <p:nvSpPr>
              <p:cNvPr id="13" name="Freeform 13"/>
              <p:cNvSpPr/>
              <p:nvPr/>
            </p:nvSpPr>
            <p:spPr>
              <a:xfrm>
                <a:off x="2032000" y="11953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A3381F"/>
                </a:solidFill>
              </a:ln>
            </p:spPr>
          </p:sp>
          <p:sp>
            <p:nvSpPr>
              <p:cNvPr id="14" name="Freeform 14"/>
              <p:cNvSpPr/>
              <p:nvPr/>
            </p:nvSpPr>
            <p:spPr>
              <a:xfrm>
                <a:off x="2120901" y="1373188"/>
                <a:ext cx="66675" cy="9525"/>
              </a:xfrm>
              <a:custGeom>
                <a:avLst/>
                <a:gdLst/>
                <a:ahLst/>
                <a:cxnLst/>
                <a:rect l="l" t="t" r="r" b="b"/>
                <a:pathLst>
                  <a:path w="66675" h="9525">
                    <a:moveTo>
                      <a:pt x="0" y="0"/>
                    </a:moveTo>
                    <a:lnTo>
                      <a:pt x="66675" y="0"/>
                    </a:lnTo>
                  </a:path>
                </a:pathLst>
              </a:custGeom>
              <a:noFill/>
              <a:ln w="22225">
                <a:solidFill>
                  <a:srgbClr val="A3381F"/>
                </a:solidFill>
              </a:ln>
            </p:spPr>
          </p:sp>
          <p:sp>
            <p:nvSpPr>
              <p:cNvPr id="15" name="Freeform 15"/>
              <p:cNvSpPr/>
              <p:nvPr/>
            </p:nvSpPr>
            <p:spPr>
              <a:xfrm>
                <a:off x="2154238" y="1339851"/>
                <a:ext cx="9525" cy="66675"/>
              </a:xfrm>
              <a:custGeom>
                <a:avLst/>
                <a:gdLst/>
                <a:ahLst/>
                <a:cxnLst/>
                <a:rect l="l" t="t" r="r" b="b"/>
                <a:pathLst>
                  <a:path w="9525" h="66675">
                    <a:moveTo>
                      <a:pt x="0" y="0"/>
                    </a:moveTo>
                    <a:lnTo>
                      <a:pt x="0" y="66675"/>
                    </a:lnTo>
                  </a:path>
                </a:pathLst>
              </a:custGeom>
              <a:noFill/>
              <a:ln w="22225">
                <a:solidFill>
                  <a:srgbClr val="A3381F"/>
                </a:solidFill>
              </a:ln>
            </p:spPr>
          </p:sp>
          <p:sp>
            <p:nvSpPr>
              <p:cNvPr id="16" name="Freeform 16"/>
              <p:cNvSpPr/>
              <p:nvPr/>
            </p:nvSpPr>
            <p:spPr>
              <a:xfrm>
                <a:off x="2009775" y="132873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A3381F"/>
                </a:solidFill>
              </a:ln>
            </p:spPr>
          </p:sp>
        </p:grpSp>
        <p:sp>
          <p:nvSpPr>
            <p:cNvPr id="18" name="TextBox 18"/>
            <p:cNvSpPr txBox="1"/>
            <p:nvPr/>
          </p:nvSpPr>
          <p:spPr>
            <a:xfrm>
              <a:off x="1758662" y="1637586"/>
              <a:ext cx="635575"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留存→开户　　</a:t>
              </a:r>
            </a:p>
          </p:txBody>
        </p:sp>
        <p:sp>
          <p:nvSpPr>
            <p:cNvPr id="19" name="Line 19"/>
            <p:cNvSpPr/>
            <p:nvPr/>
          </p:nvSpPr>
          <p:spPr>
            <a:xfrm>
              <a:off x="1562100" y="1828800"/>
              <a:ext cx="1028700" cy="9525"/>
            </a:xfrm>
            <a:custGeom>
              <a:avLst/>
              <a:gdLst/>
              <a:ahLst/>
              <a:cxnLst/>
              <a:rect l="l" t="t" r="r" b="b"/>
              <a:pathLst>
                <a:path w="1028700" h="9525">
                  <a:moveTo>
                    <a:pt x="0" y="0"/>
                  </a:moveTo>
                  <a:lnTo>
                    <a:pt x="1028700" y="0"/>
                  </a:lnTo>
                </a:path>
              </a:pathLst>
            </a:custGeom>
            <a:noFill/>
            <a:ln w="9525">
              <a:solidFill>
                <a:srgbClr val="E4B4AC"/>
              </a:solidFill>
            </a:ln>
          </p:spPr>
        </p:sp>
        <p:sp>
          <p:nvSpPr>
            <p:cNvPr id="20" name="TextBox 20"/>
            <p:cNvSpPr txBox="1"/>
            <p:nvPr/>
          </p:nvSpPr>
          <p:spPr>
            <a:xfrm>
              <a:off x="1898028" y="2002393"/>
              <a:ext cx="356845" cy="169069"/>
            </a:xfrm>
            <a:prstGeom prst="rect">
              <a:avLst/>
            </a:prstGeom>
            <a:noFill/>
            <a:ln>
              <a:noFill/>
            </a:ln>
          </p:spPr>
          <p:txBody>
            <a:bodyPr wrap="none" lIns="0" tIns="0" rIns="0" bIns="0" anchor="t" anchorCtr="0">
              <a:spAutoFit/>
            </a:bodyPr>
            <a:lstStyle/>
            <a:p>
              <a:pPr algn="ctr"/>
              <a:r>
                <a:rPr lang="zh-CN" sz="860" b="1" dirty="0">
                  <a:solidFill>
                    <a:srgbClr val="A3381F"/>
                  </a:solidFill>
                  <a:latin typeface="+mn-lt"/>
                  <a:ea typeface="+mn-ea"/>
                  <a:cs typeface="+mn-cs"/>
                </a:rPr>
                <a:t>转化率</a:t>
              </a:r>
            </a:p>
          </p:txBody>
        </p:sp>
      </p:grpSp>
      <p:sp>
        <p:nvSpPr>
          <p:cNvPr id="22" name="Freeform 22"/>
          <p:cNvSpPr/>
          <p:nvPr/>
        </p:nvSpPr>
        <p:spPr>
          <a:xfrm>
            <a:off x="2895600" y="1409700"/>
            <a:ext cx="76200" cy="209550"/>
          </a:xfrm>
          <a:prstGeom prst="chevron">
            <a:avLst/>
          </a:prstGeom>
          <a:solidFill>
            <a:srgbClr val="C26D5E"/>
          </a:solidFill>
          <a:ln>
            <a:noFill/>
          </a:ln>
        </p:spPr>
      </p:sp>
      <p:grpSp>
        <p:nvGrpSpPr>
          <p:cNvPr id="37" name="stage-2"/>
          <p:cNvGrpSpPr/>
          <p:nvPr/>
        </p:nvGrpSpPr>
        <p:grpSpPr>
          <a:xfrm>
            <a:off x="2990850" y="762000"/>
            <a:ext cx="1600200" cy="1562100"/>
            <a:chOff x="2990850" y="762000"/>
            <a:chExt cx="1600200" cy="1562100"/>
          </a:xfrm>
        </p:grpSpPr>
        <p:sp>
          <p:nvSpPr>
            <p:cNvPr id="23" name="Rectangle 23"/>
            <p:cNvSpPr/>
            <p:nvPr/>
          </p:nvSpPr>
          <p:spPr>
            <a:xfrm>
              <a:off x="2990850" y="762000"/>
              <a:ext cx="1600200" cy="1562100"/>
            </a:xfrm>
            <a:prstGeom prst="roundRect">
              <a:avLst>
                <a:gd name="adj" fmla="val 5488"/>
              </a:avLst>
            </a:prstGeom>
            <a:solidFill>
              <a:srgbClr val="FFFFFF"/>
            </a:solidFill>
            <a:ln w="9525">
              <a:solidFill>
                <a:srgbClr val="E6D9C0"/>
              </a:solidFill>
            </a:ln>
          </p:spPr>
        </p:sp>
        <p:sp>
          <p:nvSpPr>
            <p:cNvPr id="24" name="Rectangle 24"/>
            <p:cNvSpPr/>
            <p:nvPr/>
          </p:nvSpPr>
          <p:spPr>
            <a:xfrm>
              <a:off x="2990850" y="762000"/>
              <a:ext cx="1600200" cy="304800"/>
            </a:xfrm>
            <a:prstGeom prst="roundRect">
              <a:avLst>
                <a:gd name="adj" fmla="val 28125"/>
              </a:avLst>
            </a:prstGeom>
            <a:solidFill>
              <a:srgbClr val="A3381F"/>
            </a:solidFill>
            <a:ln>
              <a:noFill/>
            </a:ln>
          </p:spPr>
        </p:sp>
        <p:sp>
          <p:nvSpPr>
            <p:cNvPr id="25" name="Rectangle 25"/>
            <p:cNvSpPr/>
            <p:nvPr/>
          </p:nvSpPr>
          <p:spPr>
            <a:xfrm>
              <a:off x="2990850" y="933450"/>
              <a:ext cx="1600200" cy="133350"/>
            </a:xfrm>
            <a:prstGeom prst="rect">
              <a:avLst/>
            </a:prstGeom>
            <a:solidFill>
              <a:srgbClr val="A3381F"/>
            </a:solidFill>
            <a:ln>
              <a:noFill/>
            </a:ln>
          </p:spPr>
        </p:sp>
        <p:sp>
          <p:nvSpPr>
            <p:cNvPr id="26" name="Ellipse 26"/>
            <p:cNvSpPr/>
            <p:nvPr/>
          </p:nvSpPr>
          <p:spPr>
            <a:xfrm>
              <a:off x="3105150" y="800100"/>
              <a:ext cx="228600" cy="228600"/>
            </a:xfrm>
            <a:prstGeom prst="ellipse">
              <a:avLst/>
            </a:prstGeom>
            <a:solidFill>
              <a:srgbClr val="E4B4AC"/>
            </a:solidFill>
            <a:ln>
              <a:noFill/>
            </a:ln>
          </p:spPr>
        </p:sp>
        <p:sp>
          <p:nvSpPr>
            <p:cNvPr id="27" name="TextBox 27"/>
            <p:cNvSpPr txBox="1"/>
            <p:nvPr/>
          </p:nvSpPr>
          <p:spPr>
            <a:xfrm>
              <a:off x="3153270" y="867489"/>
              <a:ext cx="132359" cy="154781"/>
            </a:xfrm>
            <a:prstGeom prst="rect">
              <a:avLst/>
            </a:prstGeom>
            <a:noFill/>
            <a:ln>
              <a:noFill/>
            </a:ln>
          </p:spPr>
          <p:txBody>
            <a:bodyPr wrap="none" lIns="0" tIns="0" rIns="0" bIns="0" anchor="t" anchorCtr="0">
              <a:spAutoFit/>
            </a:bodyPr>
            <a:lstStyle/>
            <a:p>
              <a:pPr algn="ctr"/>
              <a:r>
                <a:rPr lang="zh-CN" sz="790" b="1" dirty="0">
                  <a:solidFill>
                    <a:srgbClr val="7E2511"/>
                  </a:solidFill>
                  <a:latin typeface="+mn-lt"/>
                  <a:ea typeface="+mn-ea"/>
                  <a:cs typeface="+mn-cs"/>
                </a:rPr>
                <a:t>02</a:t>
              </a:r>
            </a:p>
          </p:txBody>
        </p:sp>
        <p:sp>
          <p:nvSpPr>
            <p:cNvPr id="28" name="TextBox 28"/>
            <p:cNvSpPr txBox="1"/>
            <p:nvPr/>
          </p:nvSpPr>
          <p:spPr>
            <a:xfrm>
              <a:off x="3698672" y="854154"/>
              <a:ext cx="451256"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新客期</a:t>
              </a:r>
            </a:p>
          </p:txBody>
        </p:sp>
        <p:grpSp>
          <p:nvGrpSpPr>
            <p:cNvPr id="32" name="Group 32"/>
            <p:cNvGrpSpPr/>
            <p:nvPr/>
          </p:nvGrpSpPr>
          <p:grpSpPr>
            <a:xfrm>
              <a:off x="3724275" y="1195388"/>
              <a:ext cx="133350" cy="200026"/>
              <a:chOff x="3724275" y="1195388"/>
              <a:chExt cx="133350" cy="200026"/>
            </a:xfrm>
          </p:grpSpPr>
          <p:sp>
            <p:nvSpPr>
              <p:cNvPr id="29" name="Freeform 29"/>
              <p:cNvSpPr/>
              <p:nvPr/>
            </p:nvSpPr>
            <p:spPr>
              <a:xfrm>
                <a:off x="3724275" y="1195388"/>
                <a:ext cx="133350" cy="200026"/>
              </a:xfrm>
              <a:custGeom>
                <a:avLst/>
                <a:gdLst/>
                <a:ahLst/>
                <a:cxnLst/>
                <a:rect l="l" t="t" r="r" b="b"/>
                <a:pathLst>
                  <a:path w="133350" h="200026">
                    <a:moveTo>
                      <a:pt x="0" y="22225"/>
                    </a:moveTo>
                    <a:cubicBezTo>
                      <a:pt x="0" y="9950"/>
                      <a:pt x="9950" y="0"/>
                      <a:pt x="22225" y="0"/>
                    </a:cubicBezTo>
                    <a:lnTo>
                      <a:pt x="111125" y="0"/>
                    </a:lnTo>
                    <a:cubicBezTo>
                      <a:pt x="123400" y="0"/>
                      <a:pt x="133350" y="9950"/>
                      <a:pt x="133350" y="22225"/>
                    </a:cubicBezTo>
                    <a:lnTo>
                      <a:pt x="133350" y="177801"/>
                    </a:lnTo>
                    <a:cubicBezTo>
                      <a:pt x="133350" y="190075"/>
                      <a:pt x="123400" y="200026"/>
                      <a:pt x="111125" y="200026"/>
                    </a:cubicBezTo>
                    <a:lnTo>
                      <a:pt x="22225" y="200026"/>
                    </a:lnTo>
                    <a:cubicBezTo>
                      <a:pt x="9950" y="200026"/>
                      <a:pt x="0" y="190075"/>
                      <a:pt x="0" y="177801"/>
                    </a:cubicBezTo>
                    <a:lnTo>
                      <a:pt x="0" y="22225"/>
                    </a:lnTo>
                  </a:path>
                </a:pathLst>
              </a:custGeom>
              <a:noFill/>
              <a:ln w="22225">
                <a:solidFill>
                  <a:srgbClr val="A3381F"/>
                </a:solidFill>
              </a:ln>
            </p:spPr>
          </p:sp>
          <p:sp>
            <p:nvSpPr>
              <p:cNvPr id="30" name="Freeform 30"/>
              <p:cNvSpPr/>
              <p:nvPr/>
            </p:nvSpPr>
            <p:spPr>
              <a:xfrm>
                <a:off x="3779838" y="1206500"/>
                <a:ext cx="22225" cy="9525"/>
              </a:xfrm>
              <a:custGeom>
                <a:avLst/>
                <a:gdLst/>
                <a:ahLst/>
                <a:cxnLst/>
                <a:rect l="l" t="t" r="r" b="b"/>
                <a:pathLst>
                  <a:path w="22225" h="9525">
                    <a:moveTo>
                      <a:pt x="0" y="0"/>
                    </a:moveTo>
                    <a:lnTo>
                      <a:pt x="22225" y="0"/>
                    </a:lnTo>
                  </a:path>
                </a:pathLst>
              </a:custGeom>
              <a:noFill/>
              <a:ln w="22225">
                <a:solidFill>
                  <a:srgbClr val="A3381F"/>
                </a:solidFill>
              </a:ln>
            </p:spPr>
          </p:sp>
          <p:sp>
            <p:nvSpPr>
              <p:cNvPr id="31" name="Freeform 31"/>
              <p:cNvSpPr/>
              <p:nvPr/>
            </p:nvSpPr>
            <p:spPr>
              <a:xfrm>
                <a:off x="3790950" y="1350963"/>
                <a:ext cx="9525" cy="9525"/>
              </a:xfrm>
              <a:custGeom>
                <a:avLst/>
                <a:gdLst/>
                <a:ahLst/>
                <a:cxnLst/>
                <a:rect l="l" t="t" r="r" b="b"/>
                <a:pathLst>
                  <a:path w="9525" h="9525">
                    <a:moveTo>
                      <a:pt x="0" y="0"/>
                    </a:moveTo>
                    <a:lnTo>
                      <a:pt x="0" y="111"/>
                    </a:lnTo>
                  </a:path>
                </a:pathLst>
              </a:custGeom>
              <a:noFill/>
              <a:ln w="22225">
                <a:solidFill>
                  <a:srgbClr val="A3381F"/>
                </a:solidFill>
              </a:ln>
            </p:spPr>
          </p:sp>
        </p:grpSp>
        <p:sp>
          <p:nvSpPr>
            <p:cNvPr id="33" name="TextBox 33"/>
            <p:cNvSpPr txBox="1"/>
            <p:nvPr/>
          </p:nvSpPr>
          <p:spPr>
            <a:xfrm>
              <a:off x="3494668" y="1637586"/>
              <a:ext cx="592564"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首登→首绑→　</a:t>
              </a:r>
            </a:p>
          </p:txBody>
        </p:sp>
        <p:sp>
          <p:nvSpPr>
            <p:cNvPr id="34" name="TextBox 34"/>
            <p:cNvSpPr txBox="1"/>
            <p:nvPr/>
          </p:nvSpPr>
          <p:spPr>
            <a:xfrm>
              <a:off x="3425372" y="1770936"/>
              <a:ext cx="731156"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首存→首笔交易　</a:t>
              </a:r>
            </a:p>
          </p:txBody>
        </p:sp>
        <p:sp>
          <p:nvSpPr>
            <p:cNvPr id="35" name="Line 35"/>
            <p:cNvSpPr/>
            <p:nvPr/>
          </p:nvSpPr>
          <p:spPr>
            <a:xfrm>
              <a:off x="3276600" y="1924050"/>
              <a:ext cx="1028700" cy="9525"/>
            </a:xfrm>
            <a:custGeom>
              <a:avLst/>
              <a:gdLst/>
              <a:ahLst/>
              <a:cxnLst/>
              <a:rect l="l" t="t" r="r" b="b"/>
              <a:pathLst>
                <a:path w="1028700" h="9525">
                  <a:moveTo>
                    <a:pt x="0" y="0"/>
                  </a:moveTo>
                  <a:lnTo>
                    <a:pt x="1028700" y="0"/>
                  </a:lnTo>
                </a:path>
              </a:pathLst>
            </a:custGeom>
            <a:noFill/>
            <a:ln w="9525">
              <a:solidFill>
                <a:srgbClr val="E4B4AC"/>
              </a:solidFill>
            </a:ln>
          </p:spPr>
        </p:sp>
        <p:sp>
          <p:nvSpPr>
            <p:cNvPr id="36" name="TextBox 36"/>
            <p:cNvSpPr txBox="1"/>
            <p:nvPr/>
          </p:nvSpPr>
          <p:spPr>
            <a:xfrm>
              <a:off x="3612528" y="2059543"/>
              <a:ext cx="356845" cy="169069"/>
            </a:xfrm>
            <a:prstGeom prst="rect">
              <a:avLst/>
            </a:prstGeom>
            <a:noFill/>
            <a:ln>
              <a:noFill/>
            </a:ln>
          </p:spPr>
          <p:txBody>
            <a:bodyPr wrap="none" lIns="0" tIns="0" rIns="0" bIns="0" anchor="t" anchorCtr="0">
              <a:spAutoFit/>
            </a:bodyPr>
            <a:lstStyle/>
            <a:p>
              <a:pPr algn="ctr"/>
              <a:r>
                <a:rPr lang="zh-CN" sz="860" b="1" dirty="0">
                  <a:solidFill>
                    <a:srgbClr val="A3381F"/>
                  </a:solidFill>
                  <a:latin typeface="+mn-lt"/>
                  <a:ea typeface="+mn-ea"/>
                  <a:cs typeface="+mn-cs"/>
                </a:rPr>
                <a:t>激活率</a:t>
              </a:r>
            </a:p>
          </p:txBody>
        </p:sp>
      </p:grpSp>
      <p:sp>
        <p:nvSpPr>
          <p:cNvPr id="38" name="Freeform 38"/>
          <p:cNvSpPr/>
          <p:nvPr/>
        </p:nvSpPr>
        <p:spPr>
          <a:xfrm>
            <a:off x="4610100" y="1409700"/>
            <a:ext cx="76200" cy="209550"/>
          </a:xfrm>
          <a:prstGeom prst="chevron">
            <a:avLst/>
          </a:prstGeom>
          <a:solidFill>
            <a:srgbClr val="C26D5E"/>
          </a:solidFill>
          <a:ln>
            <a:noFill/>
          </a:ln>
        </p:spPr>
      </p:sp>
      <p:grpSp>
        <p:nvGrpSpPr>
          <p:cNvPr id="52" name="stage-3"/>
          <p:cNvGrpSpPr/>
          <p:nvPr/>
        </p:nvGrpSpPr>
        <p:grpSpPr>
          <a:xfrm>
            <a:off x="4705350" y="762000"/>
            <a:ext cx="1600200" cy="1562100"/>
            <a:chOff x="4705350" y="762000"/>
            <a:chExt cx="1600200" cy="1562100"/>
          </a:xfrm>
        </p:grpSpPr>
        <p:sp>
          <p:nvSpPr>
            <p:cNvPr id="39" name="Rectangle 39"/>
            <p:cNvSpPr/>
            <p:nvPr/>
          </p:nvSpPr>
          <p:spPr>
            <a:xfrm>
              <a:off x="4705350" y="762000"/>
              <a:ext cx="1600200" cy="1562100"/>
            </a:xfrm>
            <a:prstGeom prst="roundRect">
              <a:avLst>
                <a:gd name="adj" fmla="val 5488"/>
              </a:avLst>
            </a:prstGeom>
            <a:solidFill>
              <a:srgbClr val="FFFFFF"/>
            </a:solidFill>
            <a:ln w="9525">
              <a:solidFill>
                <a:srgbClr val="E6D9C0"/>
              </a:solidFill>
            </a:ln>
          </p:spPr>
        </p:sp>
        <p:sp>
          <p:nvSpPr>
            <p:cNvPr id="40" name="Rectangle 40"/>
            <p:cNvSpPr/>
            <p:nvPr/>
          </p:nvSpPr>
          <p:spPr>
            <a:xfrm>
              <a:off x="4705350" y="762000"/>
              <a:ext cx="1600200" cy="304800"/>
            </a:xfrm>
            <a:prstGeom prst="roundRect">
              <a:avLst>
                <a:gd name="adj" fmla="val 28125"/>
              </a:avLst>
            </a:prstGeom>
            <a:solidFill>
              <a:srgbClr val="A3381F"/>
            </a:solidFill>
            <a:ln>
              <a:noFill/>
            </a:ln>
          </p:spPr>
        </p:sp>
        <p:sp>
          <p:nvSpPr>
            <p:cNvPr id="41" name="Rectangle 41"/>
            <p:cNvSpPr/>
            <p:nvPr/>
          </p:nvSpPr>
          <p:spPr>
            <a:xfrm>
              <a:off x="4705350" y="933450"/>
              <a:ext cx="1600200" cy="133350"/>
            </a:xfrm>
            <a:prstGeom prst="rect">
              <a:avLst/>
            </a:prstGeom>
            <a:solidFill>
              <a:srgbClr val="A3381F"/>
            </a:solidFill>
            <a:ln>
              <a:noFill/>
            </a:ln>
          </p:spPr>
        </p:sp>
        <p:sp>
          <p:nvSpPr>
            <p:cNvPr id="42" name="Ellipse 42"/>
            <p:cNvSpPr/>
            <p:nvPr/>
          </p:nvSpPr>
          <p:spPr>
            <a:xfrm>
              <a:off x="4819650" y="800100"/>
              <a:ext cx="228600" cy="228600"/>
            </a:xfrm>
            <a:prstGeom prst="ellipse">
              <a:avLst/>
            </a:prstGeom>
            <a:solidFill>
              <a:srgbClr val="E4B4AC"/>
            </a:solidFill>
            <a:ln>
              <a:noFill/>
            </a:ln>
          </p:spPr>
        </p:sp>
        <p:sp>
          <p:nvSpPr>
            <p:cNvPr id="43" name="TextBox 43"/>
            <p:cNvSpPr txBox="1"/>
            <p:nvPr/>
          </p:nvSpPr>
          <p:spPr>
            <a:xfrm>
              <a:off x="4867770" y="867489"/>
              <a:ext cx="132359" cy="154781"/>
            </a:xfrm>
            <a:prstGeom prst="rect">
              <a:avLst/>
            </a:prstGeom>
            <a:noFill/>
            <a:ln>
              <a:noFill/>
            </a:ln>
          </p:spPr>
          <p:txBody>
            <a:bodyPr wrap="none" lIns="0" tIns="0" rIns="0" bIns="0" anchor="t" anchorCtr="0">
              <a:spAutoFit/>
            </a:bodyPr>
            <a:lstStyle/>
            <a:p>
              <a:pPr algn="ctr"/>
              <a:r>
                <a:rPr lang="zh-CN" sz="790" b="1" dirty="0">
                  <a:solidFill>
                    <a:srgbClr val="7E2511"/>
                  </a:solidFill>
                  <a:latin typeface="+mn-lt"/>
                  <a:ea typeface="+mn-ea"/>
                  <a:cs typeface="+mn-cs"/>
                </a:rPr>
                <a:t>03</a:t>
              </a:r>
            </a:p>
          </p:txBody>
        </p:sp>
        <p:sp>
          <p:nvSpPr>
            <p:cNvPr id="44" name="TextBox 44"/>
            <p:cNvSpPr txBox="1"/>
            <p:nvPr/>
          </p:nvSpPr>
          <p:spPr>
            <a:xfrm>
              <a:off x="5413172" y="854154"/>
              <a:ext cx="451256"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成长期</a:t>
              </a:r>
            </a:p>
          </p:txBody>
        </p:sp>
        <p:grpSp>
          <p:nvGrpSpPr>
            <p:cNvPr id="47" name="Group 47"/>
            <p:cNvGrpSpPr/>
            <p:nvPr/>
          </p:nvGrpSpPr>
          <p:grpSpPr>
            <a:xfrm>
              <a:off x="5405438" y="1239838"/>
              <a:ext cx="200026" cy="111125"/>
              <a:chOff x="5405438" y="1239838"/>
              <a:chExt cx="200026" cy="111125"/>
            </a:xfrm>
          </p:grpSpPr>
          <p:sp>
            <p:nvSpPr>
              <p:cNvPr id="45" name="Freeform 45"/>
              <p:cNvSpPr/>
              <p:nvPr/>
            </p:nvSpPr>
            <p:spPr>
              <a:xfrm>
                <a:off x="5405438" y="12398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A3381F"/>
                </a:solidFill>
              </a:ln>
            </p:spPr>
          </p:sp>
          <p:sp>
            <p:nvSpPr>
              <p:cNvPr id="46" name="Freeform 46"/>
              <p:cNvSpPr/>
              <p:nvPr/>
            </p:nvSpPr>
            <p:spPr>
              <a:xfrm>
                <a:off x="5527675" y="1239838"/>
                <a:ext cx="77788" cy="77788"/>
              </a:xfrm>
              <a:custGeom>
                <a:avLst/>
                <a:gdLst/>
                <a:ahLst/>
                <a:cxnLst/>
                <a:rect l="l" t="t" r="r" b="b"/>
                <a:pathLst>
                  <a:path w="77788" h="77788">
                    <a:moveTo>
                      <a:pt x="0" y="0"/>
                    </a:moveTo>
                    <a:lnTo>
                      <a:pt x="77788" y="0"/>
                    </a:lnTo>
                    <a:lnTo>
                      <a:pt x="77788" y="77788"/>
                    </a:lnTo>
                  </a:path>
                </a:pathLst>
              </a:custGeom>
              <a:noFill/>
              <a:ln w="22225">
                <a:solidFill>
                  <a:srgbClr val="A3381F"/>
                </a:solidFill>
              </a:ln>
            </p:spPr>
          </p:sp>
        </p:grpSp>
        <p:sp>
          <p:nvSpPr>
            <p:cNvPr id="48" name="TextBox 48"/>
            <p:cNvSpPr txBox="1"/>
            <p:nvPr/>
          </p:nvSpPr>
          <p:spPr>
            <a:xfrm>
              <a:off x="4996502" y="1637586"/>
              <a:ext cx="1017896"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代发深化→产品补缺　　</a:t>
              </a:r>
            </a:p>
          </p:txBody>
        </p:sp>
        <p:sp>
          <p:nvSpPr>
            <p:cNvPr id="49" name="TextBox 49"/>
            <p:cNvSpPr txBox="1"/>
            <p:nvPr/>
          </p:nvSpPr>
          <p:spPr>
            <a:xfrm>
              <a:off x="5139872" y="1770936"/>
              <a:ext cx="731156"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→主账户迁移　　</a:t>
              </a:r>
            </a:p>
          </p:txBody>
        </p:sp>
        <p:sp>
          <p:nvSpPr>
            <p:cNvPr id="50" name="Line 50"/>
            <p:cNvSpPr/>
            <p:nvPr/>
          </p:nvSpPr>
          <p:spPr>
            <a:xfrm>
              <a:off x="4991100" y="1924050"/>
              <a:ext cx="1028700" cy="9525"/>
            </a:xfrm>
            <a:custGeom>
              <a:avLst/>
              <a:gdLst/>
              <a:ahLst/>
              <a:cxnLst/>
              <a:rect l="l" t="t" r="r" b="b"/>
              <a:pathLst>
                <a:path w="1028700" h="9525">
                  <a:moveTo>
                    <a:pt x="0" y="0"/>
                  </a:moveTo>
                  <a:lnTo>
                    <a:pt x="1028700" y="0"/>
                  </a:lnTo>
                </a:path>
              </a:pathLst>
            </a:custGeom>
            <a:noFill/>
            <a:ln w="9525">
              <a:solidFill>
                <a:srgbClr val="E4B4AC"/>
              </a:solidFill>
            </a:ln>
          </p:spPr>
        </p:sp>
        <p:sp>
          <p:nvSpPr>
            <p:cNvPr id="51" name="TextBox 51"/>
            <p:cNvSpPr txBox="1"/>
            <p:nvPr/>
          </p:nvSpPr>
          <p:spPr>
            <a:xfrm>
              <a:off x="5208218" y="2059543"/>
              <a:ext cx="594464" cy="169069"/>
            </a:xfrm>
            <a:prstGeom prst="rect">
              <a:avLst/>
            </a:prstGeom>
            <a:noFill/>
            <a:ln>
              <a:noFill/>
            </a:ln>
          </p:spPr>
          <p:txBody>
            <a:bodyPr wrap="none" lIns="0" tIns="0" rIns="0" bIns="0" anchor="t" anchorCtr="0">
              <a:spAutoFit/>
            </a:bodyPr>
            <a:lstStyle/>
            <a:p>
              <a:pPr algn="ctr"/>
              <a:r>
                <a:rPr lang="zh-CN" sz="860" b="1" dirty="0">
                  <a:solidFill>
                    <a:srgbClr val="A3381F"/>
                  </a:solidFill>
                  <a:latin typeface="+mn-lt"/>
                  <a:ea typeface="+mn-ea"/>
                  <a:cs typeface="+mn-cs"/>
                </a:rPr>
                <a:t xml:space="preserve">AUM增长　</a:t>
              </a:r>
            </a:p>
          </p:txBody>
        </p:sp>
      </p:grpSp>
      <p:sp>
        <p:nvSpPr>
          <p:cNvPr id="53" name="Freeform 53"/>
          <p:cNvSpPr/>
          <p:nvPr/>
        </p:nvSpPr>
        <p:spPr>
          <a:xfrm>
            <a:off x="6324600" y="1409700"/>
            <a:ext cx="76200" cy="209550"/>
          </a:xfrm>
          <a:prstGeom prst="chevron">
            <a:avLst/>
          </a:prstGeom>
          <a:solidFill>
            <a:srgbClr val="C26D5E"/>
          </a:solidFill>
          <a:ln>
            <a:noFill/>
          </a:ln>
        </p:spPr>
      </p:sp>
      <p:grpSp>
        <p:nvGrpSpPr>
          <p:cNvPr id="67" name="stage-4"/>
          <p:cNvGrpSpPr/>
          <p:nvPr/>
        </p:nvGrpSpPr>
        <p:grpSpPr>
          <a:xfrm>
            <a:off x="6419850" y="762000"/>
            <a:ext cx="1600200" cy="1562100"/>
            <a:chOff x="6419850" y="762000"/>
            <a:chExt cx="1600200" cy="1562100"/>
          </a:xfrm>
        </p:grpSpPr>
        <p:sp>
          <p:nvSpPr>
            <p:cNvPr id="54" name="Rectangle 54"/>
            <p:cNvSpPr/>
            <p:nvPr/>
          </p:nvSpPr>
          <p:spPr>
            <a:xfrm>
              <a:off x="6419850" y="762000"/>
              <a:ext cx="1600200" cy="1562100"/>
            </a:xfrm>
            <a:prstGeom prst="roundRect">
              <a:avLst>
                <a:gd name="adj" fmla="val 5488"/>
              </a:avLst>
            </a:prstGeom>
            <a:solidFill>
              <a:srgbClr val="FFFFFF"/>
            </a:solidFill>
            <a:ln w="9525">
              <a:solidFill>
                <a:srgbClr val="E6D9C0"/>
              </a:solidFill>
            </a:ln>
          </p:spPr>
        </p:sp>
        <p:sp>
          <p:nvSpPr>
            <p:cNvPr id="55" name="Rectangle 55"/>
            <p:cNvSpPr/>
            <p:nvPr/>
          </p:nvSpPr>
          <p:spPr>
            <a:xfrm>
              <a:off x="6419850" y="762000"/>
              <a:ext cx="1600200" cy="304800"/>
            </a:xfrm>
            <a:prstGeom prst="roundRect">
              <a:avLst>
                <a:gd name="adj" fmla="val 28125"/>
              </a:avLst>
            </a:prstGeom>
            <a:solidFill>
              <a:srgbClr val="A3381F"/>
            </a:solidFill>
            <a:ln>
              <a:noFill/>
            </a:ln>
          </p:spPr>
        </p:sp>
        <p:sp>
          <p:nvSpPr>
            <p:cNvPr id="56" name="Rectangle 56"/>
            <p:cNvSpPr/>
            <p:nvPr/>
          </p:nvSpPr>
          <p:spPr>
            <a:xfrm>
              <a:off x="6419850" y="933450"/>
              <a:ext cx="1600200" cy="133350"/>
            </a:xfrm>
            <a:prstGeom prst="rect">
              <a:avLst/>
            </a:prstGeom>
            <a:solidFill>
              <a:srgbClr val="A3381F"/>
            </a:solidFill>
            <a:ln>
              <a:noFill/>
            </a:ln>
          </p:spPr>
        </p:sp>
        <p:sp>
          <p:nvSpPr>
            <p:cNvPr id="57" name="Ellipse 57"/>
            <p:cNvSpPr/>
            <p:nvPr/>
          </p:nvSpPr>
          <p:spPr>
            <a:xfrm>
              <a:off x="6534150" y="800100"/>
              <a:ext cx="228600" cy="228600"/>
            </a:xfrm>
            <a:prstGeom prst="ellipse">
              <a:avLst/>
            </a:prstGeom>
            <a:solidFill>
              <a:srgbClr val="E4B4AC"/>
            </a:solidFill>
            <a:ln>
              <a:noFill/>
            </a:ln>
          </p:spPr>
        </p:sp>
        <p:sp>
          <p:nvSpPr>
            <p:cNvPr id="58" name="TextBox 58"/>
            <p:cNvSpPr txBox="1"/>
            <p:nvPr/>
          </p:nvSpPr>
          <p:spPr>
            <a:xfrm>
              <a:off x="6582270" y="867489"/>
              <a:ext cx="132359" cy="154781"/>
            </a:xfrm>
            <a:prstGeom prst="rect">
              <a:avLst/>
            </a:prstGeom>
            <a:noFill/>
            <a:ln>
              <a:noFill/>
            </a:ln>
          </p:spPr>
          <p:txBody>
            <a:bodyPr wrap="none" lIns="0" tIns="0" rIns="0" bIns="0" anchor="t" anchorCtr="0">
              <a:spAutoFit/>
            </a:bodyPr>
            <a:lstStyle/>
            <a:p>
              <a:pPr algn="ctr"/>
              <a:r>
                <a:rPr lang="zh-CN" sz="790" b="1" dirty="0">
                  <a:solidFill>
                    <a:srgbClr val="7E2511"/>
                  </a:solidFill>
                  <a:latin typeface="+mn-lt"/>
                  <a:ea typeface="+mn-ea"/>
                  <a:cs typeface="+mn-cs"/>
                </a:rPr>
                <a:t>04</a:t>
              </a:r>
            </a:p>
          </p:txBody>
        </p:sp>
        <p:sp>
          <p:nvSpPr>
            <p:cNvPr id="59" name="TextBox 59"/>
            <p:cNvSpPr txBox="1"/>
            <p:nvPr/>
          </p:nvSpPr>
          <p:spPr>
            <a:xfrm>
              <a:off x="7127672" y="854154"/>
              <a:ext cx="451256"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成熟期</a:t>
              </a:r>
            </a:p>
          </p:txBody>
        </p:sp>
        <p:grpSp>
          <p:nvGrpSpPr>
            <p:cNvPr id="62" name="Group 62"/>
            <p:cNvGrpSpPr/>
            <p:nvPr/>
          </p:nvGrpSpPr>
          <p:grpSpPr>
            <a:xfrm>
              <a:off x="7116840" y="1197298"/>
              <a:ext cx="200901" cy="201212"/>
              <a:chOff x="7116840" y="1197298"/>
              <a:chExt cx="200901" cy="201212"/>
            </a:xfrm>
          </p:grpSpPr>
          <p:sp>
            <p:nvSpPr>
              <p:cNvPr id="60" name="Freeform 60"/>
              <p:cNvSpPr/>
              <p:nvPr/>
            </p:nvSpPr>
            <p:spPr>
              <a:xfrm>
                <a:off x="7116840" y="119729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14223" y="109214"/>
                    </a:lnTo>
                    <a:cubicBezTo>
                      <a:pt x="101948" y="109214"/>
                      <a:pt x="91998" y="99264"/>
                      <a:pt x="91998" y="86989"/>
                    </a:cubicBezTo>
                    <a:lnTo>
                      <a:pt x="91998" y="9202"/>
                    </a:lnTo>
                    <a:cubicBezTo>
                      <a:pt x="91719" y="6542"/>
                      <a:pt x="90387" y="4105"/>
                      <a:pt x="88299" y="2435"/>
                    </a:cubicBezTo>
                    <a:cubicBezTo>
                      <a:pt x="86211" y="765"/>
                      <a:pt x="83541" y="0"/>
                      <a:pt x="80885" y="312"/>
                    </a:cubicBezTo>
                  </a:path>
                </a:pathLst>
              </a:custGeom>
              <a:noFill/>
              <a:ln w="22225">
                <a:solidFill>
                  <a:srgbClr val="A3381F"/>
                </a:solidFill>
              </a:ln>
            </p:spPr>
          </p:sp>
          <p:sp>
            <p:nvSpPr>
              <p:cNvPr id="61" name="Freeform 61"/>
              <p:cNvSpPr/>
              <p:nvPr/>
            </p:nvSpPr>
            <p:spPr>
              <a:xfrm>
                <a:off x="7253288" y="1200944"/>
                <a:ext cx="61119" cy="61119"/>
              </a:xfrm>
              <a:custGeom>
                <a:avLst/>
                <a:gdLst/>
                <a:ahLst/>
                <a:cxnLst/>
                <a:rect l="l" t="t" r="r" b="b"/>
                <a:pathLst>
                  <a:path w="61119" h="61119">
                    <a:moveTo>
                      <a:pt x="0" y="0"/>
                    </a:moveTo>
                    <a:cubicBezTo>
                      <a:pt x="28579" y="10063"/>
                      <a:pt x="51056" y="32540"/>
                      <a:pt x="61119" y="61119"/>
                    </a:cubicBezTo>
                    <a:lnTo>
                      <a:pt x="11113" y="61119"/>
                    </a:lnTo>
                    <a:cubicBezTo>
                      <a:pt x="4975" y="61119"/>
                      <a:pt x="0" y="56144"/>
                      <a:pt x="0" y="50006"/>
                    </a:cubicBezTo>
                    <a:lnTo>
                      <a:pt x="0" y="0"/>
                    </a:lnTo>
                  </a:path>
                </a:pathLst>
              </a:custGeom>
              <a:noFill/>
              <a:ln w="22225">
                <a:solidFill>
                  <a:srgbClr val="A3381F"/>
                </a:solidFill>
              </a:ln>
            </p:spPr>
          </p:sp>
        </p:grpSp>
        <p:sp>
          <p:nvSpPr>
            <p:cNvPr id="63" name="TextBox 63"/>
            <p:cNvSpPr txBox="1"/>
            <p:nvPr/>
          </p:nvSpPr>
          <p:spPr>
            <a:xfrm>
              <a:off x="6711002" y="1637586"/>
              <a:ext cx="1017896"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资产配置→交叉经营　　</a:t>
              </a:r>
            </a:p>
          </p:txBody>
        </p:sp>
        <p:sp>
          <p:nvSpPr>
            <p:cNvPr id="64" name="TextBox 64"/>
            <p:cNvSpPr txBox="1"/>
            <p:nvPr/>
          </p:nvSpPr>
          <p:spPr>
            <a:xfrm>
              <a:off x="6902162" y="1770936"/>
              <a:ext cx="635575"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→家庭金融　　</a:t>
              </a:r>
            </a:p>
          </p:txBody>
        </p:sp>
        <p:sp>
          <p:nvSpPr>
            <p:cNvPr id="65" name="Line 65"/>
            <p:cNvSpPr/>
            <p:nvPr/>
          </p:nvSpPr>
          <p:spPr>
            <a:xfrm>
              <a:off x="6705600" y="1924050"/>
              <a:ext cx="1028700" cy="9525"/>
            </a:xfrm>
            <a:custGeom>
              <a:avLst/>
              <a:gdLst/>
              <a:ahLst/>
              <a:cxnLst/>
              <a:rect l="l" t="t" r="r" b="b"/>
              <a:pathLst>
                <a:path w="1028700" h="9525">
                  <a:moveTo>
                    <a:pt x="0" y="0"/>
                  </a:moveTo>
                  <a:lnTo>
                    <a:pt x="1028700" y="0"/>
                  </a:lnTo>
                </a:path>
              </a:pathLst>
            </a:custGeom>
            <a:noFill/>
            <a:ln w="9525">
              <a:solidFill>
                <a:srgbClr val="E4B4AC"/>
              </a:solidFill>
            </a:ln>
          </p:spPr>
        </p:sp>
        <p:sp>
          <p:nvSpPr>
            <p:cNvPr id="66" name="TextBox 66"/>
            <p:cNvSpPr txBox="1"/>
            <p:nvPr/>
          </p:nvSpPr>
          <p:spPr>
            <a:xfrm>
              <a:off x="6983641" y="2059543"/>
              <a:ext cx="472618" cy="169069"/>
            </a:xfrm>
            <a:prstGeom prst="rect">
              <a:avLst/>
            </a:prstGeom>
            <a:noFill/>
            <a:ln>
              <a:noFill/>
            </a:ln>
          </p:spPr>
          <p:txBody>
            <a:bodyPr wrap="none" lIns="0" tIns="0" rIns="0" bIns="0" anchor="t" anchorCtr="0">
              <a:spAutoFit/>
            </a:bodyPr>
            <a:lstStyle/>
            <a:p>
              <a:pPr algn="ctr"/>
              <a:r>
                <a:rPr lang="zh-CN" sz="860" b="1" dirty="0">
                  <a:solidFill>
                    <a:srgbClr val="A3381F"/>
                  </a:solidFill>
                  <a:latin typeface="+mn-lt"/>
                  <a:ea typeface="+mn-ea"/>
                  <a:cs typeface="+mn-cs"/>
                </a:rPr>
                <a:t>综合贡献</a:t>
              </a:r>
            </a:p>
          </p:txBody>
        </p:sp>
      </p:grpSp>
      <p:sp>
        <p:nvSpPr>
          <p:cNvPr id="68" name="Freeform 68"/>
          <p:cNvSpPr/>
          <p:nvPr/>
        </p:nvSpPr>
        <p:spPr>
          <a:xfrm>
            <a:off x="8039100" y="1409700"/>
            <a:ext cx="76200" cy="209550"/>
          </a:xfrm>
          <a:prstGeom prst="chevron">
            <a:avLst/>
          </a:prstGeom>
          <a:solidFill>
            <a:srgbClr val="C26D5E"/>
          </a:solidFill>
          <a:ln>
            <a:noFill/>
          </a:ln>
        </p:spPr>
      </p:sp>
      <p:grpSp>
        <p:nvGrpSpPr>
          <p:cNvPr id="83" name="stage-5"/>
          <p:cNvGrpSpPr/>
          <p:nvPr/>
        </p:nvGrpSpPr>
        <p:grpSpPr>
          <a:xfrm>
            <a:off x="8134350" y="762000"/>
            <a:ext cx="1600200" cy="1562100"/>
            <a:chOff x="8134350" y="762000"/>
            <a:chExt cx="1600200" cy="1562100"/>
          </a:xfrm>
        </p:grpSpPr>
        <p:sp>
          <p:nvSpPr>
            <p:cNvPr id="69" name="Rectangle 69"/>
            <p:cNvSpPr/>
            <p:nvPr/>
          </p:nvSpPr>
          <p:spPr>
            <a:xfrm>
              <a:off x="8134350" y="762000"/>
              <a:ext cx="1600200" cy="1562100"/>
            </a:xfrm>
            <a:prstGeom prst="roundRect">
              <a:avLst>
                <a:gd name="adj" fmla="val 5488"/>
              </a:avLst>
            </a:prstGeom>
            <a:solidFill>
              <a:srgbClr val="FFFFFF"/>
            </a:solidFill>
            <a:ln w="9525">
              <a:solidFill>
                <a:srgbClr val="E6D9C0"/>
              </a:solidFill>
            </a:ln>
          </p:spPr>
        </p:sp>
        <p:sp>
          <p:nvSpPr>
            <p:cNvPr id="70" name="Rectangle 70"/>
            <p:cNvSpPr/>
            <p:nvPr/>
          </p:nvSpPr>
          <p:spPr>
            <a:xfrm>
              <a:off x="8134350" y="762000"/>
              <a:ext cx="1600200" cy="304800"/>
            </a:xfrm>
            <a:prstGeom prst="roundRect">
              <a:avLst>
                <a:gd name="adj" fmla="val 28125"/>
              </a:avLst>
            </a:prstGeom>
            <a:solidFill>
              <a:srgbClr val="A3381F"/>
            </a:solidFill>
            <a:ln>
              <a:noFill/>
            </a:ln>
          </p:spPr>
        </p:sp>
        <p:sp>
          <p:nvSpPr>
            <p:cNvPr id="71" name="Rectangle 71"/>
            <p:cNvSpPr/>
            <p:nvPr/>
          </p:nvSpPr>
          <p:spPr>
            <a:xfrm>
              <a:off x="8134350" y="933450"/>
              <a:ext cx="1600200" cy="133350"/>
            </a:xfrm>
            <a:prstGeom prst="rect">
              <a:avLst/>
            </a:prstGeom>
            <a:solidFill>
              <a:srgbClr val="A3381F"/>
            </a:solidFill>
            <a:ln>
              <a:noFill/>
            </a:ln>
          </p:spPr>
        </p:sp>
        <p:sp>
          <p:nvSpPr>
            <p:cNvPr id="72" name="Ellipse 72"/>
            <p:cNvSpPr/>
            <p:nvPr/>
          </p:nvSpPr>
          <p:spPr>
            <a:xfrm>
              <a:off x="8248650" y="800100"/>
              <a:ext cx="228600" cy="228600"/>
            </a:xfrm>
            <a:prstGeom prst="ellipse">
              <a:avLst/>
            </a:prstGeom>
            <a:solidFill>
              <a:srgbClr val="E4B4AC"/>
            </a:solidFill>
            <a:ln>
              <a:noFill/>
            </a:ln>
          </p:spPr>
        </p:sp>
        <p:sp>
          <p:nvSpPr>
            <p:cNvPr id="73" name="TextBox 73"/>
            <p:cNvSpPr txBox="1"/>
            <p:nvPr/>
          </p:nvSpPr>
          <p:spPr>
            <a:xfrm>
              <a:off x="8296770" y="867489"/>
              <a:ext cx="132359" cy="154781"/>
            </a:xfrm>
            <a:prstGeom prst="rect">
              <a:avLst/>
            </a:prstGeom>
            <a:noFill/>
            <a:ln>
              <a:noFill/>
            </a:ln>
          </p:spPr>
          <p:txBody>
            <a:bodyPr wrap="none" lIns="0" tIns="0" rIns="0" bIns="0" anchor="t" anchorCtr="0">
              <a:spAutoFit/>
            </a:bodyPr>
            <a:lstStyle/>
            <a:p>
              <a:pPr algn="ctr"/>
              <a:r>
                <a:rPr lang="zh-CN" sz="790" b="1" dirty="0">
                  <a:solidFill>
                    <a:srgbClr val="7E2511"/>
                  </a:solidFill>
                  <a:latin typeface="+mn-lt"/>
                  <a:ea typeface="+mn-ea"/>
                  <a:cs typeface="+mn-cs"/>
                </a:rPr>
                <a:t>05</a:t>
              </a:r>
            </a:p>
          </p:txBody>
        </p:sp>
        <p:sp>
          <p:nvSpPr>
            <p:cNvPr id="74" name="TextBox 74"/>
            <p:cNvSpPr txBox="1"/>
            <p:nvPr/>
          </p:nvSpPr>
          <p:spPr>
            <a:xfrm>
              <a:off x="8842172" y="854154"/>
              <a:ext cx="451256"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预警期</a:t>
              </a:r>
            </a:p>
          </p:txBody>
        </p:sp>
        <p:grpSp>
          <p:nvGrpSpPr>
            <p:cNvPr id="78" name="Group 78"/>
            <p:cNvGrpSpPr/>
            <p:nvPr/>
          </p:nvGrpSpPr>
          <p:grpSpPr>
            <a:xfrm>
              <a:off x="8822379" y="1191696"/>
              <a:ext cx="224134" cy="192560"/>
              <a:chOff x="8822379" y="1191696"/>
              <a:chExt cx="224134" cy="192560"/>
            </a:xfrm>
          </p:grpSpPr>
          <p:sp>
            <p:nvSpPr>
              <p:cNvPr id="75" name="Freeform 75"/>
              <p:cNvSpPr/>
              <p:nvPr/>
            </p:nvSpPr>
            <p:spPr>
              <a:xfrm>
                <a:off x="8934450" y="1262063"/>
                <a:ext cx="9525" cy="44450"/>
              </a:xfrm>
              <a:custGeom>
                <a:avLst/>
                <a:gdLst/>
                <a:ahLst/>
                <a:cxnLst/>
                <a:rect l="l" t="t" r="r" b="b"/>
                <a:pathLst>
                  <a:path w="9525" h="44450">
                    <a:moveTo>
                      <a:pt x="0" y="0"/>
                    </a:moveTo>
                    <a:lnTo>
                      <a:pt x="0" y="44450"/>
                    </a:lnTo>
                  </a:path>
                </a:pathLst>
              </a:custGeom>
              <a:noFill/>
              <a:ln w="22225">
                <a:solidFill>
                  <a:srgbClr val="A3381F"/>
                </a:solidFill>
              </a:ln>
            </p:spPr>
          </p:sp>
          <p:sp>
            <p:nvSpPr>
              <p:cNvPr id="76" name="Freeform 76"/>
              <p:cNvSpPr/>
              <p:nvPr/>
            </p:nvSpPr>
            <p:spPr>
              <a:xfrm>
                <a:off x="8822379" y="119169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A3381F"/>
                </a:solidFill>
              </a:ln>
            </p:spPr>
          </p:sp>
          <p:sp>
            <p:nvSpPr>
              <p:cNvPr id="77" name="Freeform 77"/>
              <p:cNvSpPr/>
              <p:nvPr/>
            </p:nvSpPr>
            <p:spPr>
              <a:xfrm>
                <a:off x="8934450" y="1339851"/>
                <a:ext cx="9525" cy="9525"/>
              </a:xfrm>
              <a:custGeom>
                <a:avLst/>
                <a:gdLst/>
                <a:ahLst/>
                <a:cxnLst/>
                <a:rect l="l" t="t" r="r" b="b"/>
                <a:pathLst>
                  <a:path w="9525" h="9525">
                    <a:moveTo>
                      <a:pt x="0" y="0"/>
                    </a:moveTo>
                    <a:lnTo>
                      <a:pt x="111" y="0"/>
                    </a:lnTo>
                  </a:path>
                </a:pathLst>
              </a:custGeom>
              <a:noFill/>
              <a:ln w="22225">
                <a:solidFill>
                  <a:srgbClr val="A3381F"/>
                </a:solidFill>
              </a:ln>
            </p:spPr>
          </p:sp>
        </p:grpSp>
        <p:sp>
          <p:nvSpPr>
            <p:cNvPr id="79" name="TextBox 79"/>
            <p:cNvSpPr txBox="1"/>
            <p:nvPr/>
          </p:nvSpPr>
          <p:spPr>
            <a:xfrm>
              <a:off x="8425502" y="1637586"/>
              <a:ext cx="1017896"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活跃下降→资金流出　　</a:t>
              </a:r>
            </a:p>
          </p:txBody>
        </p:sp>
        <p:sp>
          <p:nvSpPr>
            <p:cNvPr id="80" name="TextBox 80"/>
            <p:cNvSpPr txBox="1"/>
            <p:nvPr/>
          </p:nvSpPr>
          <p:spPr>
            <a:xfrm>
              <a:off x="8616662" y="1770936"/>
              <a:ext cx="635575"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→代发中断　　</a:t>
              </a:r>
            </a:p>
          </p:txBody>
        </p:sp>
        <p:sp>
          <p:nvSpPr>
            <p:cNvPr id="81" name="Line 81"/>
            <p:cNvSpPr/>
            <p:nvPr/>
          </p:nvSpPr>
          <p:spPr>
            <a:xfrm>
              <a:off x="8420100" y="1924050"/>
              <a:ext cx="1028700" cy="9525"/>
            </a:xfrm>
            <a:custGeom>
              <a:avLst/>
              <a:gdLst/>
              <a:ahLst/>
              <a:cxnLst/>
              <a:rect l="l" t="t" r="r" b="b"/>
              <a:pathLst>
                <a:path w="1028700" h="9525">
                  <a:moveTo>
                    <a:pt x="0" y="0"/>
                  </a:moveTo>
                  <a:lnTo>
                    <a:pt x="1028700" y="0"/>
                  </a:lnTo>
                </a:path>
              </a:pathLst>
            </a:custGeom>
            <a:noFill/>
            <a:ln w="9525">
              <a:solidFill>
                <a:srgbClr val="E4B4AC"/>
              </a:solidFill>
            </a:ln>
          </p:spPr>
        </p:sp>
        <p:sp>
          <p:nvSpPr>
            <p:cNvPr id="82" name="TextBox 82"/>
            <p:cNvSpPr txBox="1"/>
            <p:nvPr/>
          </p:nvSpPr>
          <p:spPr>
            <a:xfrm>
              <a:off x="8698141" y="2059543"/>
              <a:ext cx="472618" cy="169069"/>
            </a:xfrm>
            <a:prstGeom prst="rect">
              <a:avLst/>
            </a:prstGeom>
            <a:noFill/>
            <a:ln>
              <a:noFill/>
            </a:ln>
          </p:spPr>
          <p:txBody>
            <a:bodyPr wrap="none" lIns="0" tIns="0" rIns="0" bIns="0" anchor="t" anchorCtr="0">
              <a:spAutoFit/>
            </a:bodyPr>
            <a:lstStyle/>
            <a:p>
              <a:pPr algn="ctr"/>
              <a:r>
                <a:rPr lang="zh-CN" sz="860" b="1" dirty="0">
                  <a:solidFill>
                    <a:srgbClr val="A3381F"/>
                  </a:solidFill>
                  <a:latin typeface="+mn-lt"/>
                  <a:ea typeface="+mn-ea"/>
                  <a:cs typeface="+mn-cs"/>
                </a:rPr>
                <a:t>预警命中</a:t>
              </a:r>
            </a:p>
          </p:txBody>
        </p:sp>
      </p:grpSp>
      <p:sp>
        <p:nvSpPr>
          <p:cNvPr id="84" name="Freeform 84"/>
          <p:cNvSpPr/>
          <p:nvPr/>
        </p:nvSpPr>
        <p:spPr>
          <a:xfrm>
            <a:off x="9753600" y="1409700"/>
            <a:ext cx="76200" cy="209550"/>
          </a:xfrm>
          <a:prstGeom prst="chevron">
            <a:avLst/>
          </a:prstGeom>
          <a:solidFill>
            <a:srgbClr val="C26D5E"/>
          </a:solidFill>
          <a:ln>
            <a:noFill/>
          </a:ln>
        </p:spPr>
      </p:sp>
      <p:grpSp>
        <p:nvGrpSpPr>
          <p:cNvPr id="96" name="stage-6"/>
          <p:cNvGrpSpPr/>
          <p:nvPr/>
        </p:nvGrpSpPr>
        <p:grpSpPr>
          <a:xfrm>
            <a:off x="9848850" y="762000"/>
            <a:ext cx="1600200" cy="1562100"/>
            <a:chOff x="9848850" y="762000"/>
            <a:chExt cx="1600200" cy="1562100"/>
          </a:xfrm>
        </p:grpSpPr>
        <p:sp>
          <p:nvSpPr>
            <p:cNvPr id="85" name="Rectangle 85"/>
            <p:cNvSpPr/>
            <p:nvPr/>
          </p:nvSpPr>
          <p:spPr>
            <a:xfrm>
              <a:off x="9848850" y="762000"/>
              <a:ext cx="1600200" cy="1562100"/>
            </a:xfrm>
            <a:prstGeom prst="roundRect">
              <a:avLst>
                <a:gd name="adj" fmla="val 5488"/>
              </a:avLst>
            </a:prstGeom>
            <a:solidFill>
              <a:srgbClr val="FFFFFF"/>
            </a:solidFill>
            <a:ln w="9525">
              <a:solidFill>
                <a:srgbClr val="E6D9C0"/>
              </a:solidFill>
            </a:ln>
          </p:spPr>
        </p:sp>
        <p:sp>
          <p:nvSpPr>
            <p:cNvPr id="86" name="Rectangle 86"/>
            <p:cNvSpPr/>
            <p:nvPr/>
          </p:nvSpPr>
          <p:spPr>
            <a:xfrm>
              <a:off x="9848850" y="762000"/>
              <a:ext cx="1600200" cy="304800"/>
            </a:xfrm>
            <a:prstGeom prst="roundRect">
              <a:avLst>
                <a:gd name="adj" fmla="val 28125"/>
              </a:avLst>
            </a:prstGeom>
            <a:solidFill>
              <a:srgbClr val="A3381F"/>
            </a:solidFill>
            <a:ln>
              <a:noFill/>
            </a:ln>
          </p:spPr>
        </p:sp>
        <p:sp>
          <p:nvSpPr>
            <p:cNvPr id="87" name="Rectangle 87"/>
            <p:cNvSpPr/>
            <p:nvPr/>
          </p:nvSpPr>
          <p:spPr>
            <a:xfrm>
              <a:off x="9848850" y="933450"/>
              <a:ext cx="1600200" cy="133350"/>
            </a:xfrm>
            <a:prstGeom prst="rect">
              <a:avLst/>
            </a:prstGeom>
            <a:solidFill>
              <a:srgbClr val="A3381F"/>
            </a:solidFill>
            <a:ln>
              <a:noFill/>
            </a:ln>
          </p:spPr>
        </p:sp>
        <p:sp>
          <p:nvSpPr>
            <p:cNvPr id="88" name="Ellipse 88"/>
            <p:cNvSpPr/>
            <p:nvPr/>
          </p:nvSpPr>
          <p:spPr>
            <a:xfrm>
              <a:off x="9963150" y="800100"/>
              <a:ext cx="228600" cy="228600"/>
            </a:xfrm>
            <a:prstGeom prst="ellipse">
              <a:avLst/>
            </a:prstGeom>
            <a:solidFill>
              <a:srgbClr val="E4B4AC"/>
            </a:solidFill>
            <a:ln>
              <a:noFill/>
            </a:ln>
          </p:spPr>
        </p:sp>
        <p:sp>
          <p:nvSpPr>
            <p:cNvPr id="89" name="TextBox 89"/>
            <p:cNvSpPr txBox="1"/>
            <p:nvPr/>
          </p:nvSpPr>
          <p:spPr>
            <a:xfrm>
              <a:off x="10011270" y="867489"/>
              <a:ext cx="132359" cy="154781"/>
            </a:xfrm>
            <a:prstGeom prst="rect">
              <a:avLst/>
            </a:prstGeom>
            <a:noFill/>
            <a:ln>
              <a:noFill/>
            </a:ln>
          </p:spPr>
          <p:txBody>
            <a:bodyPr wrap="none" lIns="0" tIns="0" rIns="0" bIns="0" anchor="t" anchorCtr="0">
              <a:spAutoFit/>
            </a:bodyPr>
            <a:lstStyle/>
            <a:p>
              <a:pPr algn="ctr"/>
              <a:r>
                <a:rPr lang="zh-CN" sz="790" b="1" dirty="0">
                  <a:solidFill>
                    <a:srgbClr val="7E2511"/>
                  </a:solidFill>
                  <a:latin typeface="+mn-lt"/>
                  <a:ea typeface="+mn-ea"/>
                  <a:cs typeface="+mn-cs"/>
                </a:rPr>
                <a:t>06</a:t>
              </a:r>
            </a:p>
          </p:txBody>
        </p:sp>
        <p:sp>
          <p:nvSpPr>
            <p:cNvPr id="90" name="TextBox 90"/>
            <p:cNvSpPr txBox="1"/>
            <p:nvPr/>
          </p:nvSpPr>
          <p:spPr>
            <a:xfrm>
              <a:off x="10556672" y="854154"/>
              <a:ext cx="451256"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挽回期</a:t>
              </a:r>
            </a:p>
          </p:txBody>
        </p:sp>
        <p:sp>
          <p:nvSpPr>
            <p:cNvPr id="91" name="Freeform 91"/>
            <p:cNvSpPr/>
            <p:nvPr/>
          </p:nvSpPr>
          <p:spPr>
            <a:xfrm>
              <a:off x="10545090" y="1203649"/>
              <a:ext cx="207520" cy="180651"/>
            </a:xfrm>
            <a:custGeom>
              <a:avLst/>
              <a:gdLst/>
              <a:ahLst/>
              <a:cxnLst/>
              <a:rect l="l" t="t" r="r" b="b"/>
              <a:pathLst>
                <a:path w="207520" h="180651">
                  <a:moveTo>
                    <a:pt x="187205" y="98107"/>
                  </a:moveTo>
                  <a:lnTo>
                    <a:pt x="103861" y="180651"/>
                  </a:lnTo>
                  <a:lnTo>
                    <a:pt x="20517" y="98107"/>
                  </a:lnTo>
                  <a:cubicBezTo>
                    <a:pt x="5529" y="83523"/>
                    <a:pt x="0" y="61759"/>
                    <a:pt x="6209" y="41790"/>
                  </a:cubicBezTo>
                  <a:cubicBezTo>
                    <a:pt x="12418" y="21820"/>
                    <a:pt x="29314" y="7029"/>
                    <a:pt x="49929" y="3514"/>
                  </a:cubicBezTo>
                  <a:cubicBezTo>
                    <a:pt x="70544" y="0"/>
                    <a:pt x="91386" y="8358"/>
                    <a:pt x="103861" y="25143"/>
                  </a:cubicBezTo>
                  <a:cubicBezTo>
                    <a:pt x="116388" y="8483"/>
                    <a:pt x="137185" y="235"/>
                    <a:pt x="157725" y="3782"/>
                  </a:cubicBezTo>
                  <a:cubicBezTo>
                    <a:pt x="178266" y="7329"/>
                    <a:pt x="195093" y="22074"/>
                    <a:pt x="201306" y="41971"/>
                  </a:cubicBezTo>
                  <a:cubicBezTo>
                    <a:pt x="207520" y="61867"/>
                    <a:pt x="202075" y="83568"/>
                    <a:pt x="187205" y="98174"/>
                  </a:cubicBezTo>
                </a:path>
              </a:pathLst>
            </a:custGeom>
            <a:noFill/>
            <a:ln w="22225">
              <a:solidFill>
                <a:srgbClr val="A3381F"/>
              </a:solidFill>
            </a:ln>
          </p:spPr>
        </p:sp>
        <p:sp>
          <p:nvSpPr>
            <p:cNvPr id="92" name="TextBox 92"/>
            <p:cNvSpPr txBox="1"/>
            <p:nvPr/>
          </p:nvSpPr>
          <p:spPr>
            <a:xfrm>
              <a:off x="10140002" y="1637586"/>
              <a:ext cx="1017896"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原因诊断→经理介入　　</a:t>
              </a:r>
            </a:p>
          </p:txBody>
        </p:sp>
        <p:sp>
          <p:nvSpPr>
            <p:cNvPr id="93" name="TextBox 93"/>
            <p:cNvSpPr txBox="1"/>
            <p:nvPr/>
          </p:nvSpPr>
          <p:spPr>
            <a:xfrm>
              <a:off x="10331162" y="1770936"/>
              <a:ext cx="635575" cy="140494"/>
            </a:xfrm>
            <a:prstGeom prst="rect">
              <a:avLst/>
            </a:prstGeom>
            <a:noFill/>
            <a:ln>
              <a:noFill/>
            </a:ln>
          </p:spPr>
          <p:txBody>
            <a:bodyPr wrap="none" lIns="0" tIns="0" rIns="0" bIns="0" anchor="t" anchorCtr="0">
              <a:spAutoFit/>
            </a:bodyPr>
            <a:lstStyle/>
            <a:p>
              <a:pPr algn="ctr"/>
              <a:r>
                <a:rPr lang="zh-CN" sz="710" dirty="0">
                  <a:solidFill>
                    <a:srgbClr val="5E3A33"/>
                  </a:solidFill>
                  <a:latin typeface="+mn-lt"/>
                  <a:ea typeface="+mn-ea"/>
                  <a:cs typeface="+mn-cs"/>
                </a:rPr>
                <a:t xml:space="preserve">→定向关怀　　</a:t>
              </a:r>
            </a:p>
          </p:txBody>
        </p:sp>
        <p:sp>
          <p:nvSpPr>
            <p:cNvPr id="94" name="Line 94"/>
            <p:cNvSpPr/>
            <p:nvPr/>
          </p:nvSpPr>
          <p:spPr>
            <a:xfrm>
              <a:off x="10134600" y="1924050"/>
              <a:ext cx="1028700" cy="9525"/>
            </a:xfrm>
            <a:custGeom>
              <a:avLst/>
              <a:gdLst/>
              <a:ahLst/>
              <a:cxnLst/>
              <a:rect l="l" t="t" r="r" b="b"/>
              <a:pathLst>
                <a:path w="1028700" h="9525">
                  <a:moveTo>
                    <a:pt x="0" y="0"/>
                  </a:moveTo>
                  <a:lnTo>
                    <a:pt x="1028700" y="0"/>
                  </a:lnTo>
                </a:path>
              </a:pathLst>
            </a:custGeom>
            <a:noFill/>
            <a:ln w="9525">
              <a:solidFill>
                <a:srgbClr val="E4B4AC"/>
              </a:solidFill>
            </a:ln>
          </p:spPr>
        </p:sp>
        <p:sp>
          <p:nvSpPr>
            <p:cNvPr id="95" name="TextBox 95"/>
            <p:cNvSpPr txBox="1"/>
            <p:nvPr/>
          </p:nvSpPr>
          <p:spPr>
            <a:xfrm>
              <a:off x="10470528" y="2059543"/>
              <a:ext cx="356845" cy="169069"/>
            </a:xfrm>
            <a:prstGeom prst="rect">
              <a:avLst/>
            </a:prstGeom>
            <a:noFill/>
            <a:ln>
              <a:noFill/>
            </a:ln>
          </p:spPr>
          <p:txBody>
            <a:bodyPr wrap="none" lIns="0" tIns="0" rIns="0" bIns="0" anchor="t" anchorCtr="0">
              <a:spAutoFit/>
            </a:bodyPr>
            <a:lstStyle/>
            <a:p>
              <a:pPr algn="ctr"/>
              <a:r>
                <a:rPr lang="zh-CN" sz="860" b="1" dirty="0">
                  <a:solidFill>
                    <a:srgbClr val="A3381F"/>
                  </a:solidFill>
                  <a:latin typeface="+mn-lt"/>
                  <a:ea typeface="+mn-ea"/>
                  <a:cs typeface="+mn-cs"/>
                </a:rPr>
                <a:t>挽回率</a:t>
              </a:r>
            </a:p>
          </p:txBody>
        </p:sp>
      </p:grpSp>
      <p:grpSp>
        <p:nvGrpSpPr>
          <p:cNvPr id="122" name="matrix-row-status"/>
          <p:cNvGrpSpPr/>
          <p:nvPr/>
        </p:nvGrpSpPr>
        <p:grpSpPr>
          <a:xfrm>
            <a:off x="381000" y="2400300"/>
            <a:ext cx="11068050" cy="647700"/>
            <a:chOff x="381000" y="2400300"/>
            <a:chExt cx="11068050" cy="647700"/>
          </a:xfrm>
        </p:grpSpPr>
        <p:sp>
          <p:nvSpPr>
            <p:cNvPr id="97" name="Rectangle 97"/>
            <p:cNvSpPr/>
            <p:nvPr/>
          </p:nvSpPr>
          <p:spPr>
            <a:xfrm>
              <a:off x="381000" y="2400300"/>
              <a:ext cx="838200" cy="647700"/>
            </a:xfrm>
            <a:prstGeom prst="roundRect">
              <a:avLst>
                <a:gd name="adj" fmla="val 11765"/>
              </a:avLst>
            </a:prstGeom>
            <a:solidFill>
              <a:srgbClr val="5E3A33"/>
            </a:solidFill>
            <a:ln>
              <a:noFill/>
            </a:ln>
          </p:spPr>
        </p:sp>
        <p:grpSp>
          <p:nvGrpSpPr>
            <p:cNvPr id="102" name="Group 102"/>
            <p:cNvGrpSpPr/>
            <p:nvPr/>
          </p:nvGrpSpPr>
          <p:grpSpPr>
            <a:xfrm>
              <a:off x="728662" y="2519362"/>
              <a:ext cx="142875" cy="142875"/>
              <a:chOff x="728662" y="2519362"/>
              <a:chExt cx="142875" cy="142875"/>
            </a:xfrm>
          </p:grpSpPr>
          <p:sp>
            <p:nvSpPr>
              <p:cNvPr id="98" name="Freeform 98"/>
              <p:cNvSpPr/>
              <p:nvPr/>
            </p:nvSpPr>
            <p:spPr>
              <a:xfrm>
                <a:off x="744537" y="25193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99" name="Freeform 99"/>
              <p:cNvSpPr/>
              <p:nvPr/>
            </p:nvSpPr>
            <p:spPr>
              <a:xfrm>
                <a:off x="728662" y="26146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100" name="Freeform 100"/>
              <p:cNvSpPr/>
              <p:nvPr/>
            </p:nvSpPr>
            <p:spPr>
              <a:xfrm>
                <a:off x="831850" y="25203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101" name="Freeform 101"/>
              <p:cNvSpPr/>
              <p:nvPr/>
            </p:nvSpPr>
            <p:spPr>
              <a:xfrm>
                <a:off x="847725" y="26158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103" name="TextBox 103"/>
            <p:cNvSpPr txBox="1"/>
            <p:nvPr/>
          </p:nvSpPr>
          <p:spPr>
            <a:xfrm>
              <a:off x="563791" y="28024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客户状态</a:t>
              </a:r>
            </a:p>
          </p:txBody>
        </p:sp>
        <p:sp>
          <p:nvSpPr>
            <p:cNvPr id="104" name="Rectangle 104"/>
            <p:cNvSpPr/>
            <p:nvPr/>
          </p:nvSpPr>
          <p:spPr>
            <a:xfrm>
              <a:off x="1276350" y="2400300"/>
              <a:ext cx="1600200" cy="647700"/>
            </a:xfrm>
            <a:prstGeom prst="roundRect">
              <a:avLst>
                <a:gd name="adj" fmla="val 8824"/>
              </a:avLst>
            </a:prstGeom>
            <a:solidFill>
              <a:srgbClr val="FFFFFF"/>
            </a:solidFill>
            <a:ln w="9525">
              <a:solidFill>
                <a:srgbClr val="E6D9C0"/>
              </a:solidFill>
            </a:ln>
          </p:spPr>
        </p:sp>
        <p:sp>
          <p:nvSpPr>
            <p:cNvPr id="105" name="TextBox 105"/>
            <p:cNvSpPr txBox="1"/>
            <p:nvPr/>
          </p:nvSpPr>
          <p:spPr>
            <a:xfrm>
              <a:off x="1366838" y="2594134"/>
              <a:ext cx="375691" cy="133350"/>
            </a:xfrm>
            <a:prstGeom prst="rect">
              <a:avLst/>
            </a:prstGeom>
            <a:noFill/>
            <a:ln>
              <a:noFill/>
            </a:ln>
          </p:spPr>
          <p:txBody>
            <a:bodyPr wrap="none" lIns="0" tIns="0" rIns="0" bIns="0" anchor="t" anchorCtr="0">
              <a:spAutoFit/>
            </a:bodyPr>
            <a:lstStyle/>
            <a:p>
              <a:pPr algn="l"/>
              <a:r>
                <a:rPr lang="zh-CN" sz="680" b="1" dirty="0">
                  <a:solidFill>
                    <a:srgbClr val="5E3A33"/>
                  </a:solidFill>
                  <a:latin typeface="+mn-lt"/>
                  <a:ea typeface="+mn-ea"/>
                  <a:cs typeface="+mn-cs"/>
                </a:rPr>
                <a:t>潜在客户</a:t>
              </a:r>
            </a:p>
          </p:txBody>
        </p:sp>
        <p:sp>
          <p:nvSpPr>
            <p:cNvPr id="106" name="TextBox 106"/>
            <p:cNvSpPr txBox="1"/>
            <p:nvPr/>
          </p:nvSpPr>
          <p:spPr>
            <a:xfrm>
              <a:off x="1366838" y="2769632"/>
              <a:ext cx="698779"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有需求未建立关系</a:t>
              </a:r>
            </a:p>
          </p:txBody>
        </p:sp>
        <p:sp>
          <p:nvSpPr>
            <p:cNvPr id="107" name="Rectangle 107"/>
            <p:cNvSpPr/>
            <p:nvPr/>
          </p:nvSpPr>
          <p:spPr>
            <a:xfrm>
              <a:off x="2990850" y="2400300"/>
              <a:ext cx="1600200" cy="647700"/>
            </a:xfrm>
            <a:prstGeom prst="roundRect">
              <a:avLst>
                <a:gd name="adj" fmla="val 8824"/>
              </a:avLst>
            </a:prstGeom>
            <a:solidFill>
              <a:srgbClr val="FFFFFF"/>
            </a:solidFill>
            <a:ln w="9525">
              <a:solidFill>
                <a:srgbClr val="E6D9C0"/>
              </a:solidFill>
            </a:ln>
          </p:spPr>
        </p:sp>
        <p:sp>
          <p:nvSpPr>
            <p:cNvPr id="108" name="TextBox 108"/>
            <p:cNvSpPr txBox="1"/>
            <p:nvPr/>
          </p:nvSpPr>
          <p:spPr>
            <a:xfrm>
              <a:off x="3081338" y="2594134"/>
              <a:ext cx="467233" cy="133350"/>
            </a:xfrm>
            <a:prstGeom prst="rect">
              <a:avLst/>
            </a:prstGeom>
            <a:noFill/>
            <a:ln>
              <a:noFill/>
            </a:ln>
          </p:spPr>
          <p:txBody>
            <a:bodyPr wrap="none" lIns="0" tIns="0" rIns="0" bIns="0" anchor="t" anchorCtr="0">
              <a:spAutoFit/>
            </a:bodyPr>
            <a:lstStyle/>
            <a:p>
              <a:pPr algn="l"/>
              <a:r>
                <a:rPr lang="zh-CN" sz="680" b="1" dirty="0">
                  <a:solidFill>
                    <a:srgbClr val="5E3A33"/>
                  </a:solidFill>
                  <a:latin typeface="+mn-lt"/>
                  <a:ea typeface="+mn-ea"/>
                  <a:cs typeface="+mn-cs"/>
                </a:rPr>
                <a:t>新建立关系</a:t>
              </a:r>
            </a:p>
          </p:txBody>
        </p:sp>
        <p:sp>
          <p:nvSpPr>
            <p:cNvPr id="109" name="TextBox 109"/>
            <p:cNvSpPr txBox="1"/>
            <p:nvPr/>
          </p:nvSpPr>
          <p:spPr>
            <a:xfrm>
              <a:off x="3081338" y="2769632"/>
              <a:ext cx="612623"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初体验探索需求</a:t>
              </a:r>
            </a:p>
          </p:txBody>
        </p:sp>
        <p:sp>
          <p:nvSpPr>
            <p:cNvPr id="110" name="Rectangle 110"/>
            <p:cNvSpPr/>
            <p:nvPr/>
          </p:nvSpPr>
          <p:spPr>
            <a:xfrm>
              <a:off x="4705350" y="2400300"/>
              <a:ext cx="1600200" cy="647700"/>
            </a:xfrm>
            <a:prstGeom prst="roundRect">
              <a:avLst>
                <a:gd name="adj" fmla="val 8824"/>
              </a:avLst>
            </a:prstGeom>
            <a:solidFill>
              <a:srgbClr val="FFFFFF"/>
            </a:solidFill>
            <a:ln w="9525">
              <a:solidFill>
                <a:srgbClr val="E6D9C0"/>
              </a:solidFill>
            </a:ln>
          </p:spPr>
        </p:sp>
        <p:sp>
          <p:nvSpPr>
            <p:cNvPr id="111" name="TextBox 111"/>
            <p:cNvSpPr txBox="1"/>
            <p:nvPr/>
          </p:nvSpPr>
          <p:spPr>
            <a:xfrm>
              <a:off x="4795838" y="2594134"/>
              <a:ext cx="375691" cy="133350"/>
            </a:xfrm>
            <a:prstGeom prst="rect">
              <a:avLst/>
            </a:prstGeom>
            <a:noFill/>
            <a:ln>
              <a:noFill/>
            </a:ln>
          </p:spPr>
          <p:txBody>
            <a:bodyPr wrap="none" lIns="0" tIns="0" rIns="0" bIns="0" anchor="t" anchorCtr="0">
              <a:spAutoFit/>
            </a:bodyPr>
            <a:lstStyle/>
            <a:p>
              <a:pPr algn="l"/>
              <a:r>
                <a:rPr lang="zh-CN" sz="680" b="1" dirty="0">
                  <a:solidFill>
                    <a:srgbClr val="5E3A33"/>
                  </a:solidFill>
                  <a:latin typeface="+mn-lt"/>
                  <a:ea typeface="+mn-ea"/>
                  <a:cs typeface="+mn-cs"/>
                </a:rPr>
                <a:t>使用加深</a:t>
              </a:r>
            </a:p>
          </p:txBody>
        </p:sp>
        <p:sp>
          <p:nvSpPr>
            <p:cNvPr id="112" name="TextBox 112"/>
            <p:cNvSpPr txBox="1"/>
            <p:nvPr/>
          </p:nvSpPr>
          <p:spPr>
            <a:xfrm>
              <a:off x="4795838" y="2769632"/>
              <a:ext cx="354152"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价值提升</a:t>
              </a:r>
            </a:p>
          </p:txBody>
        </p:sp>
        <p:sp>
          <p:nvSpPr>
            <p:cNvPr id="113" name="Rectangle 113"/>
            <p:cNvSpPr/>
            <p:nvPr/>
          </p:nvSpPr>
          <p:spPr>
            <a:xfrm>
              <a:off x="6419850" y="2400300"/>
              <a:ext cx="1600200" cy="647700"/>
            </a:xfrm>
            <a:prstGeom prst="roundRect">
              <a:avLst>
                <a:gd name="adj" fmla="val 8824"/>
              </a:avLst>
            </a:prstGeom>
            <a:solidFill>
              <a:srgbClr val="FFFFFF"/>
            </a:solidFill>
            <a:ln w="9525">
              <a:solidFill>
                <a:srgbClr val="E6D9C0"/>
              </a:solidFill>
            </a:ln>
          </p:spPr>
        </p:sp>
        <p:sp>
          <p:nvSpPr>
            <p:cNvPr id="114" name="TextBox 114"/>
            <p:cNvSpPr txBox="1"/>
            <p:nvPr/>
          </p:nvSpPr>
          <p:spPr>
            <a:xfrm>
              <a:off x="6510338" y="2594134"/>
              <a:ext cx="375691" cy="133350"/>
            </a:xfrm>
            <a:prstGeom prst="rect">
              <a:avLst/>
            </a:prstGeom>
            <a:noFill/>
            <a:ln>
              <a:noFill/>
            </a:ln>
          </p:spPr>
          <p:txBody>
            <a:bodyPr wrap="none" lIns="0" tIns="0" rIns="0" bIns="0" anchor="t" anchorCtr="0">
              <a:spAutoFit/>
            </a:bodyPr>
            <a:lstStyle/>
            <a:p>
              <a:pPr algn="l"/>
              <a:r>
                <a:rPr lang="zh-CN" sz="680" b="1" dirty="0">
                  <a:solidFill>
                    <a:srgbClr val="5E3A33"/>
                  </a:solidFill>
                  <a:latin typeface="+mn-lt"/>
                  <a:ea typeface="+mn-ea"/>
                  <a:cs typeface="+mn-cs"/>
                </a:rPr>
                <a:t>稳定使用</a:t>
              </a:r>
            </a:p>
          </p:txBody>
        </p:sp>
        <p:sp>
          <p:nvSpPr>
            <p:cNvPr id="115" name="TextBox 115"/>
            <p:cNvSpPr txBox="1"/>
            <p:nvPr/>
          </p:nvSpPr>
          <p:spPr>
            <a:xfrm>
              <a:off x="6510338" y="2769632"/>
              <a:ext cx="354152"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贡献提升</a:t>
              </a:r>
            </a:p>
          </p:txBody>
        </p:sp>
        <p:sp>
          <p:nvSpPr>
            <p:cNvPr id="116" name="Rectangle 116"/>
            <p:cNvSpPr/>
            <p:nvPr/>
          </p:nvSpPr>
          <p:spPr>
            <a:xfrm>
              <a:off x="8134350" y="2400300"/>
              <a:ext cx="1600200" cy="647700"/>
            </a:xfrm>
            <a:prstGeom prst="roundRect">
              <a:avLst>
                <a:gd name="adj" fmla="val 8824"/>
              </a:avLst>
            </a:prstGeom>
            <a:solidFill>
              <a:srgbClr val="FFFFFF"/>
            </a:solidFill>
            <a:ln w="9525">
              <a:solidFill>
                <a:srgbClr val="E6D9C0"/>
              </a:solidFill>
            </a:ln>
          </p:spPr>
        </p:sp>
        <p:sp>
          <p:nvSpPr>
            <p:cNvPr id="117" name="TextBox 117"/>
            <p:cNvSpPr txBox="1"/>
            <p:nvPr/>
          </p:nvSpPr>
          <p:spPr>
            <a:xfrm>
              <a:off x="8224838" y="2594134"/>
              <a:ext cx="770693" cy="133350"/>
            </a:xfrm>
            <a:prstGeom prst="rect">
              <a:avLst/>
            </a:prstGeom>
            <a:noFill/>
            <a:ln>
              <a:noFill/>
            </a:ln>
          </p:spPr>
          <p:txBody>
            <a:bodyPr wrap="none" lIns="0" tIns="0" rIns="0" bIns="0" anchor="t" anchorCtr="0">
              <a:spAutoFit/>
            </a:bodyPr>
            <a:lstStyle/>
            <a:p>
              <a:pPr algn="l"/>
              <a:r>
                <a:rPr lang="zh-CN" sz="680" b="1" dirty="0">
                  <a:solidFill>
                    <a:srgbClr val="5E3A33"/>
                  </a:solidFill>
                  <a:latin typeface="+mn-lt"/>
                  <a:ea typeface="+mn-ea"/>
                  <a:cs typeface="+mn-cs"/>
                </a:rPr>
                <a:t>关系弱化 活跃降低</a:t>
              </a:r>
            </a:p>
          </p:txBody>
        </p:sp>
        <p:sp>
          <p:nvSpPr>
            <p:cNvPr id="118" name="TextBox 118"/>
            <p:cNvSpPr txBox="1"/>
            <p:nvPr/>
          </p:nvSpPr>
          <p:spPr>
            <a:xfrm>
              <a:off x="8224838" y="2769632"/>
              <a:ext cx="354152"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风险上升</a:t>
              </a:r>
            </a:p>
          </p:txBody>
        </p:sp>
        <p:sp>
          <p:nvSpPr>
            <p:cNvPr id="119" name="Rectangle 119"/>
            <p:cNvSpPr/>
            <p:nvPr/>
          </p:nvSpPr>
          <p:spPr>
            <a:xfrm>
              <a:off x="9848850" y="2400300"/>
              <a:ext cx="1600200" cy="647700"/>
            </a:xfrm>
            <a:prstGeom prst="roundRect">
              <a:avLst>
                <a:gd name="adj" fmla="val 8824"/>
              </a:avLst>
            </a:prstGeom>
            <a:solidFill>
              <a:srgbClr val="FFFFFF"/>
            </a:solidFill>
            <a:ln w="9525">
              <a:solidFill>
                <a:srgbClr val="E6D9C0"/>
              </a:solidFill>
            </a:ln>
          </p:spPr>
        </p:sp>
        <p:sp>
          <p:nvSpPr>
            <p:cNvPr id="120" name="TextBox 120"/>
            <p:cNvSpPr txBox="1"/>
            <p:nvPr/>
          </p:nvSpPr>
          <p:spPr>
            <a:xfrm>
              <a:off x="9939338" y="2594134"/>
              <a:ext cx="770693" cy="133350"/>
            </a:xfrm>
            <a:prstGeom prst="rect">
              <a:avLst/>
            </a:prstGeom>
            <a:noFill/>
            <a:ln>
              <a:noFill/>
            </a:ln>
          </p:spPr>
          <p:txBody>
            <a:bodyPr wrap="none" lIns="0" tIns="0" rIns="0" bIns="0" anchor="t" anchorCtr="0">
              <a:spAutoFit/>
            </a:bodyPr>
            <a:lstStyle/>
            <a:p>
              <a:pPr algn="l"/>
              <a:r>
                <a:rPr lang="zh-CN" sz="680" b="1" dirty="0">
                  <a:solidFill>
                    <a:srgbClr val="5E3A33"/>
                  </a:solidFill>
                  <a:latin typeface="+mn-lt"/>
                  <a:ea typeface="+mn-ea"/>
                  <a:cs typeface="+mn-cs"/>
                </a:rPr>
                <a:t>流失倾向 信心不足</a:t>
              </a:r>
            </a:p>
          </p:txBody>
        </p:sp>
        <p:sp>
          <p:nvSpPr>
            <p:cNvPr id="121" name="TextBox 121"/>
            <p:cNvSpPr txBox="1"/>
            <p:nvPr/>
          </p:nvSpPr>
          <p:spPr>
            <a:xfrm>
              <a:off x="9939338" y="2769632"/>
              <a:ext cx="354152" cy="126206"/>
            </a:xfrm>
            <a:prstGeom prst="rect">
              <a:avLst/>
            </a:prstGeom>
            <a:noFill/>
            <a:ln>
              <a:noFill/>
            </a:ln>
          </p:spPr>
          <p:txBody>
            <a:bodyPr wrap="none" lIns="0" tIns="0" rIns="0" bIns="0" anchor="t" anchorCtr="0">
              <a:spAutoFit/>
            </a:bodyPr>
            <a:lstStyle/>
            <a:p>
              <a:pPr algn="l"/>
              <a:r>
                <a:rPr lang="zh-CN" sz="640" dirty="0">
                  <a:solidFill>
                    <a:srgbClr val="6B6B6B"/>
                  </a:solidFill>
                  <a:latin typeface="+mn-lt"/>
                  <a:ea typeface="+mn-ea"/>
                  <a:cs typeface="+mn-cs"/>
                </a:rPr>
                <a:t>价值流失</a:t>
              </a:r>
            </a:p>
          </p:txBody>
        </p:sp>
      </p:grpSp>
      <p:grpSp>
        <p:nvGrpSpPr>
          <p:cNvPr id="167" name="matrix-row-task"/>
          <p:cNvGrpSpPr/>
          <p:nvPr/>
        </p:nvGrpSpPr>
        <p:grpSpPr>
          <a:xfrm>
            <a:off x="381000" y="3086100"/>
            <a:ext cx="11068050" cy="647700"/>
            <a:chOff x="381000" y="3086100"/>
            <a:chExt cx="11068050" cy="647700"/>
          </a:xfrm>
        </p:grpSpPr>
        <p:sp>
          <p:nvSpPr>
            <p:cNvPr id="123" name="Rectangle 123"/>
            <p:cNvSpPr/>
            <p:nvPr/>
          </p:nvSpPr>
          <p:spPr>
            <a:xfrm>
              <a:off x="381000" y="3086100"/>
              <a:ext cx="838200" cy="647700"/>
            </a:xfrm>
            <a:prstGeom prst="roundRect">
              <a:avLst>
                <a:gd name="adj" fmla="val 11765"/>
              </a:avLst>
            </a:prstGeom>
            <a:solidFill>
              <a:srgbClr val="5E3A33"/>
            </a:solidFill>
            <a:ln>
              <a:noFill/>
            </a:ln>
          </p:spPr>
        </p:sp>
        <p:grpSp>
          <p:nvGrpSpPr>
            <p:cNvPr id="127" name="Group 127"/>
            <p:cNvGrpSpPr/>
            <p:nvPr/>
          </p:nvGrpSpPr>
          <p:grpSpPr>
            <a:xfrm>
              <a:off x="728662" y="3205162"/>
              <a:ext cx="142875" cy="142875"/>
              <a:chOff x="728662" y="3205162"/>
              <a:chExt cx="142875" cy="142875"/>
            </a:xfrm>
          </p:grpSpPr>
          <p:sp>
            <p:nvSpPr>
              <p:cNvPr id="124" name="Freeform 124"/>
              <p:cNvSpPr/>
              <p:nvPr/>
            </p:nvSpPr>
            <p:spPr>
              <a:xfrm>
                <a:off x="792162" y="32686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125" name="Freeform 125"/>
              <p:cNvSpPr/>
              <p:nvPr/>
            </p:nvSpPr>
            <p:spPr>
              <a:xfrm>
                <a:off x="760412" y="32369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126" name="Freeform 126"/>
              <p:cNvSpPr/>
              <p:nvPr/>
            </p:nvSpPr>
            <p:spPr>
              <a:xfrm>
                <a:off x="728662" y="32051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128" name="TextBox 128"/>
            <p:cNvSpPr txBox="1"/>
            <p:nvPr/>
          </p:nvSpPr>
          <p:spPr>
            <a:xfrm>
              <a:off x="563791" y="34882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经营任务</a:t>
              </a:r>
            </a:p>
          </p:txBody>
        </p:sp>
        <p:sp>
          <p:nvSpPr>
            <p:cNvPr id="129" name="Rectangle 129"/>
            <p:cNvSpPr/>
            <p:nvPr/>
          </p:nvSpPr>
          <p:spPr>
            <a:xfrm>
              <a:off x="1276350" y="3086100"/>
              <a:ext cx="1600200" cy="647700"/>
            </a:xfrm>
            <a:prstGeom prst="roundRect">
              <a:avLst>
                <a:gd name="adj" fmla="val 8824"/>
              </a:avLst>
            </a:prstGeom>
            <a:solidFill>
              <a:srgbClr val="FFFFFF"/>
            </a:solidFill>
            <a:ln w="9525">
              <a:solidFill>
                <a:srgbClr val="E6D9C0"/>
              </a:solidFill>
            </a:ln>
          </p:spPr>
        </p:sp>
        <p:sp>
          <p:nvSpPr>
            <p:cNvPr id="130" name="Ellipse 130"/>
            <p:cNvSpPr/>
            <p:nvPr/>
          </p:nvSpPr>
          <p:spPr>
            <a:xfrm>
              <a:off x="1373505" y="3221355"/>
              <a:ext cx="34290" cy="34290"/>
            </a:xfrm>
            <a:prstGeom prst="ellipse">
              <a:avLst/>
            </a:prstGeom>
            <a:solidFill>
              <a:srgbClr val="C26D5E"/>
            </a:solidFill>
            <a:ln>
              <a:noFill/>
            </a:ln>
          </p:spPr>
        </p:sp>
        <p:sp>
          <p:nvSpPr>
            <p:cNvPr id="131" name="TextBox 131"/>
            <p:cNvSpPr txBox="1"/>
            <p:nvPr/>
          </p:nvSpPr>
          <p:spPr>
            <a:xfrm>
              <a:off x="1452562" y="3207782"/>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扩大触达覆盖</a:t>
              </a:r>
            </a:p>
          </p:txBody>
        </p:sp>
        <p:sp>
          <p:nvSpPr>
            <p:cNvPr id="132" name="Ellipse 132"/>
            <p:cNvSpPr/>
            <p:nvPr/>
          </p:nvSpPr>
          <p:spPr>
            <a:xfrm>
              <a:off x="1373505" y="3383280"/>
              <a:ext cx="34290" cy="34290"/>
            </a:xfrm>
            <a:prstGeom prst="ellipse">
              <a:avLst/>
            </a:prstGeom>
            <a:solidFill>
              <a:srgbClr val="C26D5E"/>
            </a:solidFill>
            <a:ln>
              <a:noFill/>
            </a:ln>
          </p:spPr>
        </p:sp>
        <p:sp>
          <p:nvSpPr>
            <p:cNvPr id="133" name="TextBox 133"/>
            <p:cNvSpPr txBox="1"/>
            <p:nvPr/>
          </p:nvSpPr>
          <p:spPr>
            <a:xfrm>
              <a:off x="1452562" y="3369707"/>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促进出资转化</a:t>
              </a:r>
            </a:p>
          </p:txBody>
        </p:sp>
        <p:sp>
          <p:nvSpPr>
            <p:cNvPr id="134" name="Ellipse 134"/>
            <p:cNvSpPr/>
            <p:nvPr/>
          </p:nvSpPr>
          <p:spPr>
            <a:xfrm>
              <a:off x="1373505" y="3545205"/>
              <a:ext cx="34290" cy="34290"/>
            </a:xfrm>
            <a:prstGeom prst="ellipse">
              <a:avLst/>
            </a:prstGeom>
            <a:solidFill>
              <a:srgbClr val="C26D5E"/>
            </a:solidFill>
            <a:ln>
              <a:noFill/>
            </a:ln>
          </p:spPr>
        </p:sp>
        <p:sp>
          <p:nvSpPr>
            <p:cNvPr id="135" name="TextBox 135"/>
            <p:cNvSpPr txBox="1"/>
            <p:nvPr/>
          </p:nvSpPr>
          <p:spPr>
            <a:xfrm>
              <a:off x="1452562" y="3531632"/>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降低开户门槛</a:t>
              </a:r>
            </a:p>
          </p:txBody>
        </p:sp>
        <p:sp>
          <p:nvSpPr>
            <p:cNvPr id="136" name="Rectangle 136"/>
            <p:cNvSpPr/>
            <p:nvPr/>
          </p:nvSpPr>
          <p:spPr>
            <a:xfrm>
              <a:off x="2990850" y="3086100"/>
              <a:ext cx="1600200" cy="647700"/>
            </a:xfrm>
            <a:prstGeom prst="roundRect">
              <a:avLst>
                <a:gd name="adj" fmla="val 8824"/>
              </a:avLst>
            </a:prstGeom>
            <a:solidFill>
              <a:srgbClr val="FFFFFF"/>
            </a:solidFill>
            <a:ln w="9525">
              <a:solidFill>
                <a:srgbClr val="E6D9C0"/>
              </a:solidFill>
            </a:ln>
          </p:spPr>
        </p:sp>
        <p:sp>
          <p:nvSpPr>
            <p:cNvPr id="137" name="Ellipse 137"/>
            <p:cNvSpPr/>
            <p:nvPr/>
          </p:nvSpPr>
          <p:spPr>
            <a:xfrm>
              <a:off x="3088005" y="3221355"/>
              <a:ext cx="34290" cy="34290"/>
            </a:xfrm>
            <a:prstGeom prst="ellipse">
              <a:avLst/>
            </a:prstGeom>
            <a:solidFill>
              <a:srgbClr val="C26D5E"/>
            </a:solidFill>
            <a:ln>
              <a:noFill/>
            </a:ln>
          </p:spPr>
        </p:sp>
        <p:sp>
          <p:nvSpPr>
            <p:cNvPr id="138" name="TextBox 138"/>
            <p:cNvSpPr txBox="1"/>
            <p:nvPr/>
          </p:nvSpPr>
          <p:spPr>
            <a:xfrm>
              <a:off x="3167062" y="3207782"/>
              <a:ext cx="78493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引导首登首绑首交易</a:t>
              </a:r>
            </a:p>
          </p:txBody>
        </p:sp>
        <p:sp>
          <p:nvSpPr>
            <p:cNvPr id="139" name="Ellipse 139"/>
            <p:cNvSpPr/>
            <p:nvPr/>
          </p:nvSpPr>
          <p:spPr>
            <a:xfrm>
              <a:off x="3088005" y="3383280"/>
              <a:ext cx="34290" cy="34290"/>
            </a:xfrm>
            <a:prstGeom prst="ellipse">
              <a:avLst/>
            </a:prstGeom>
            <a:solidFill>
              <a:srgbClr val="C26D5E"/>
            </a:solidFill>
            <a:ln>
              <a:noFill/>
            </a:ln>
          </p:spPr>
        </p:sp>
        <p:sp>
          <p:nvSpPr>
            <p:cNvPr id="140" name="TextBox 140"/>
            <p:cNvSpPr txBox="1"/>
            <p:nvPr/>
          </p:nvSpPr>
          <p:spPr>
            <a:xfrm>
              <a:off x="3167062" y="3369707"/>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快速激活使用</a:t>
              </a:r>
            </a:p>
          </p:txBody>
        </p:sp>
        <p:sp>
          <p:nvSpPr>
            <p:cNvPr id="141" name="Rectangle 141"/>
            <p:cNvSpPr/>
            <p:nvPr/>
          </p:nvSpPr>
          <p:spPr>
            <a:xfrm>
              <a:off x="4705350" y="3086100"/>
              <a:ext cx="1600200" cy="647700"/>
            </a:xfrm>
            <a:prstGeom prst="roundRect">
              <a:avLst>
                <a:gd name="adj" fmla="val 8824"/>
              </a:avLst>
            </a:prstGeom>
            <a:solidFill>
              <a:srgbClr val="FFFFFF"/>
            </a:solidFill>
            <a:ln w="9525">
              <a:solidFill>
                <a:srgbClr val="E6D9C0"/>
              </a:solidFill>
            </a:ln>
          </p:spPr>
        </p:sp>
        <p:sp>
          <p:nvSpPr>
            <p:cNvPr id="142" name="Ellipse 142"/>
            <p:cNvSpPr/>
            <p:nvPr/>
          </p:nvSpPr>
          <p:spPr>
            <a:xfrm>
              <a:off x="4802505" y="3221355"/>
              <a:ext cx="34290" cy="34290"/>
            </a:xfrm>
            <a:prstGeom prst="ellipse">
              <a:avLst/>
            </a:prstGeom>
            <a:solidFill>
              <a:srgbClr val="C26D5E"/>
            </a:solidFill>
            <a:ln>
              <a:noFill/>
            </a:ln>
          </p:spPr>
        </p:sp>
        <p:sp>
          <p:nvSpPr>
            <p:cNvPr id="143" name="TextBox 143"/>
            <p:cNvSpPr txBox="1"/>
            <p:nvPr/>
          </p:nvSpPr>
          <p:spPr>
            <a:xfrm>
              <a:off x="4881562" y="3207782"/>
              <a:ext cx="871093"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深化关系，补产品缺口</a:t>
              </a:r>
            </a:p>
          </p:txBody>
        </p:sp>
        <p:sp>
          <p:nvSpPr>
            <p:cNvPr id="144" name="Ellipse 144"/>
            <p:cNvSpPr/>
            <p:nvPr/>
          </p:nvSpPr>
          <p:spPr>
            <a:xfrm>
              <a:off x="4802505" y="3383280"/>
              <a:ext cx="34290" cy="34290"/>
            </a:xfrm>
            <a:prstGeom prst="ellipse">
              <a:avLst/>
            </a:prstGeom>
            <a:solidFill>
              <a:srgbClr val="C26D5E"/>
            </a:solidFill>
            <a:ln>
              <a:noFill/>
            </a:ln>
          </p:spPr>
        </p:sp>
        <p:sp>
          <p:nvSpPr>
            <p:cNvPr id="145" name="TextBox 145"/>
            <p:cNvSpPr txBox="1"/>
            <p:nvPr/>
          </p:nvSpPr>
          <p:spPr>
            <a:xfrm>
              <a:off x="4881562" y="3369707"/>
              <a:ext cx="612623"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推动主账户迁移</a:t>
              </a:r>
            </a:p>
          </p:txBody>
        </p:sp>
        <p:sp>
          <p:nvSpPr>
            <p:cNvPr id="146" name="Rectangle 146"/>
            <p:cNvSpPr/>
            <p:nvPr/>
          </p:nvSpPr>
          <p:spPr>
            <a:xfrm>
              <a:off x="6419850" y="3086100"/>
              <a:ext cx="1600200" cy="647700"/>
            </a:xfrm>
            <a:prstGeom prst="roundRect">
              <a:avLst>
                <a:gd name="adj" fmla="val 8824"/>
              </a:avLst>
            </a:prstGeom>
            <a:solidFill>
              <a:srgbClr val="FFFFFF"/>
            </a:solidFill>
            <a:ln w="9525">
              <a:solidFill>
                <a:srgbClr val="E6D9C0"/>
              </a:solidFill>
            </a:ln>
          </p:spPr>
        </p:sp>
        <p:sp>
          <p:nvSpPr>
            <p:cNvPr id="147" name="Ellipse 147"/>
            <p:cNvSpPr/>
            <p:nvPr/>
          </p:nvSpPr>
          <p:spPr>
            <a:xfrm>
              <a:off x="6517005" y="3221355"/>
              <a:ext cx="34290" cy="34290"/>
            </a:xfrm>
            <a:prstGeom prst="ellipse">
              <a:avLst/>
            </a:prstGeom>
            <a:solidFill>
              <a:srgbClr val="C26D5E"/>
            </a:solidFill>
            <a:ln>
              <a:noFill/>
            </a:ln>
          </p:spPr>
        </p:sp>
        <p:sp>
          <p:nvSpPr>
            <p:cNvPr id="148" name="TextBox 148"/>
            <p:cNvSpPr txBox="1"/>
            <p:nvPr/>
          </p:nvSpPr>
          <p:spPr>
            <a:xfrm>
              <a:off x="6596062" y="3207782"/>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优化资产配置</a:t>
              </a:r>
            </a:p>
          </p:txBody>
        </p:sp>
        <p:sp>
          <p:nvSpPr>
            <p:cNvPr id="149" name="Ellipse 149"/>
            <p:cNvSpPr/>
            <p:nvPr/>
          </p:nvSpPr>
          <p:spPr>
            <a:xfrm>
              <a:off x="6517005" y="3383280"/>
              <a:ext cx="34290" cy="34290"/>
            </a:xfrm>
            <a:prstGeom prst="ellipse">
              <a:avLst/>
            </a:prstGeom>
            <a:solidFill>
              <a:srgbClr val="C26D5E"/>
            </a:solidFill>
            <a:ln>
              <a:noFill/>
            </a:ln>
          </p:spPr>
        </p:sp>
        <p:sp>
          <p:nvSpPr>
            <p:cNvPr id="150" name="TextBox 150"/>
            <p:cNvSpPr txBox="1"/>
            <p:nvPr/>
          </p:nvSpPr>
          <p:spPr>
            <a:xfrm>
              <a:off x="6596062" y="3369707"/>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拓展交叉产品</a:t>
              </a:r>
            </a:p>
          </p:txBody>
        </p:sp>
        <p:sp>
          <p:nvSpPr>
            <p:cNvPr id="151" name="Ellipse 151"/>
            <p:cNvSpPr/>
            <p:nvPr/>
          </p:nvSpPr>
          <p:spPr>
            <a:xfrm>
              <a:off x="6517005" y="3545205"/>
              <a:ext cx="34290" cy="34290"/>
            </a:xfrm>
            <a:prstGeom prst="ellipse">
              <a:avLst/>
            </a:prstGeom>
            <a:solidFill>
              <a:srgbClr val="C26D5E"/>
            </a:solidFill>
            <a:ln>
              <a:noFill/>
            </a:ln>
          </p:spPr>
        </p:sp>
        <p:sp>
          <p:nvSpPr>
            <p:cNvPr id="152" name="TextBox 152"/>
            <p:cNvSpPr txBox="1"/>
            <p:nvPr/>
          </p:nvSpPr>
          <p:spPr>
            <a:xfrm>
              <a:off x="6596062" y="3531632"/>
              <a:ext cx="698779"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延伸家庭金融服务</a:t>
              </a:r>
            </a:p>
          </p:txBody>
        </p:sp>
        <p:sp>
          <p:nvSpPr>
            <p:cNvPr id="153" name="Rectangle 153"/>
            <p:cNvSpPr/>
            <p:nvPr/>
          </p:nvSpPr>
          <p:spPr>
            <a:xfrm>
              <a:off x="8134350" y="3086100"/>
              <a:ext cx="1600200" cy="647700"/>
            </a:xfrm>
            <a:prstGeom prst="roundRect">
              <a:avLst>
                <a:gd name="adj" fmla="val 8824"/>
              </a:avLst>
            </a:prstGeom>
            <a:solidFill>
              <a:srgbClr val="FFFFFF"/>
            </a:solidFill>
            <a:ln w="9525">
              <a:solidFill>
                <a:srgbClr val="E6D9C0"/>
              </a:solidFill>
            </a:ln>
          </p:spPr>
        </p:sp>
        <p:sp>
          <p:nvSpPr>
            <p:cNvPr id="154" name="Ellipse 154"/>
            <p:cNvSpPr/>
            <p:nvPr/>
          </p:nvSpPr>
          <p:spPr>
            <a:xfrm>
              <a:off x="8231505" y="3221355"/>
              <a:ext cx="34290" cy="34290"/>
            </a:xfrm>
            <a:prstGeom prst="ellipse">
              <a:avLst/>
            </a:prstGeom>
            <a:solidFill>
              <a:srgbClr val="C26D5E"/>
            </a:solidFill>
            <a:ln>
              <a:noFill/>
            </a:ln>
          </p:spPr>
        </p:sp>
        <p:sp>
          <p:nvSpPr>
            <p:cNvPr id="155" name="TextBox 155"/>
            <p:cNvSpPr txBox="1"/>
            <p:nvPr/>
          </p:nvSpPr>
          <p:spPr>
            <a:xfrm>
              <a:off x="8310562" y="3207782"/>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识别风险信号</a:t>
              </a:r>
            </a:p>
          </p:txBody>
        </p:sp>
        <p:sp>
          <p:nvSpPr>
            <p:cNvPr id="156" name="Ellipse 156"/>
            <p:cNvSpPr/>
            <p:nvPr/>
          </p:nvSpPr>
          <p:spPr>
            <a:xfrm>
              <a:off x="8231505" y="3383280"/>
              <a:ext cx="34290" cy="34290"/>
            </a:xfrm>
            <a:prstGeom prst="ellipse">
              <a:avLst/>
            </a:prstGeom>
            <a:solidFill>
              <a:srgbClr val="C26D5E"/>
            </a:solidFill>
            <a:ln>
              <a:noFill/>
            </a:ln>
          </p:spPr>
        </p:sp>
        <p:sp>
          <p:nvSpPr>
            <p:cNvPr id="157" name="TextBox 157"/>
            <p:cNvSpPr txBox="1"/>
            <p:nvPr/>
          </p:nvSpPr>
          <p:spPr>
            <a:xfrm>
              <a:off x="8310562" y="3369707"/>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分析流失原因</a:t>
              </a:r>
            </a:p>
          </p:txBody>
        </p:sp>
        <p:sp>
          <p:nvSpPr>
            <p:cNvPr id="158" name="Ellipse 158"/>
            <p:cNvSpPr/>
            <p:nvPr/>
          </p:nvSpPr>
          <p:spPr>
            <a:xfrm>
              <a:off x="8231505" y="3545205"/>
              <a:ext cx="34290" cy="34290"/>
            </a:xfrm>
            <a:prstGeom prst="ellipse">
              <a:avLst/>
            </a:prstGeom>
            <a:solidFill>
              <a:srgbClr val="C26D5E"/>
            </a:solidFill>
            <a:ln>
              <a:noFill/>
            </a:ln>
          </p:spPr>
        </p:sp>
        <p:sp>
          <p:nvSpPr>
            <p:cNvPr id="159" name="TextBox 159"/>
            <p:cNvSpPr txBox="1"/>
            <p:nvPr/>
          </p:nvSpPr>
          <p:spPr>
            <a:xfrm>
              <a:off x="8310562" y="3531632"/>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触发预警干预</a:t>
              </a:r>
            </a:p>
          </p:txBody>
        </p:sp>
        <p:sp>
          <p:nvSpPr>
            <p:cNvPr id="160" name="Rectangle 160"/>
            <p:cNvSpPr/>
            <p:nvPr/>
          </p:nvSpPr>
          <p:spPr>
            <a:xfrm>
              <a:off x="9848850" y="3086100"/>
              <a:ext cx="1600200" cy="647700"/>
            </a:xfrm>
            <a:prstGeom prst="roundRect">
              <a:avLst>
                <a:gd name="adj" fmla="val 8824"/>
              </a:avLst>
            </a:prstGeom>
            <a:solidFill>
              <a:srgbClr val="FFFFFF"/>
            </a:solidFill>
            <a:ln w="9525">
              <a:solidFill>
                <a:srgbClr val="E6D9C0"/>
              </a:solidFill>
            </a:ln>
          </p:spPr>
        </p:sp>
        <p:sp>
          <p:nvSpPr>
            <p:cNvPr id="161" name="Ellipse 161"/>
            <p:cNvSpPr/>
            <p:nvPr/>
          </p:nvSpPr>
          <p:spPr>
            <a:xfrm>
              <a:off x="9946005" y="3221355"/>
              <a:ext cx="34290" cy="34290"/>
            </a:xfrm>
            <a:prstGeom prst="ellipse">
              <a:avLst/>
            </a:prstGeom>
            <a:solidFill>
              <a:srgbClr val="C26D5E"/>
            </a:solidFill>
            <a:ln>
              <a:noFill/>
            </a:ln>
          </p:spPr>
        </p:sp>
        <p:sp>
          <p:nvSpPr>
            <p:cNvPr id="162" name="TextBox 162"/>
            <p:cNvSpPr txBox="1"/>
            <p:nvPr/>
          </p:nvSpPr>
          <p:spPr>
            <a:xfrm>
              <a:off x="10025062" y="3207782"/>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精准原因诊断</a:t>
              </a:r>
            </a:p>
          </p:txBody>
        </p:sp>
        <p:sp>
          <p:nvSpPr>
            <p:cNvPr id="163" name="Ellipse 163"/>
            <p:cNvSpPr/>
            <p:nvPr/>
          </p:nvSpPr>
          <p:spPr>
            <a:xfrm>
              <a:off x="9946005" y="3383280"/>
              <a:ext cx="34290" cy="34290"/>
            </a:xfrm>
            <a:prstGeom prst="ellipse">
              <a:avLst/>
            </a:prstGeom>
            <a:solidFill>
              <a:srgbClr val="C26D5E"/>
            </a:solidFill>
            <a:ln>
              <a:noFill/>
            </a:ln>
          </p:spPr>
        </p:sp>
        <p:sp>
          <p:nvSpPr>
            <p:cNvPr id="164" name="TextBox 164"/>
            <p:cNvSpPr txBox="1"/>
            <p:nvPr/>
          </p:nvSpPr>
          <p:spPr>
            <a:xfrm>
              <a:off x="10025062" y="3369707"/>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经理主动介入</a:t>
              </a:r>
            </a:p>
          </p:txBody>
        </p:sp>
        <p:sp>
          <p:nvSpPr>
            <p:cNvPr id="165" name="Ellipse 165"/>
            <p:cNvSpPr/>
            <p:nvPr/>
          </p:nvSpPr>
          <p:spPr>
            <a:xfrm>
              <a:off x="9946005" y="3545205"/>
              <a:ext cx="34290" cy="34290"/>
            </a:xfrm>
            <a:prstGeom prst="ellipse">
              <a:avLst/>
            </a:prstGeom>
            <a:solidFill>
              <a:srgbClr val="C26D5E"/>
            </a:solidFill>
            <a:ln>
              <a:noFill/>
            </a:ln>
          </p:spPr>
        </p:sp>
        <p:sp>
          <p:nvSpPr>
            <p:cNvPr id="166" name="TextBox 166"/>
            <p:cNvSpPr txBox="1"/>
            <p:nvPr/>
          </p:nvSpPr>
          <p:spPr>
            <a:xfrm>
              <a:off x="10025062" y="3531632"/>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定向关怀挽回</a:t>
              </a:r>
            </a:p>
          </p:txBody>
        </p:sp>
      </p:grpSp>
      <p:grpSp>
        <p:nvGrpSpPr>
          <p:cNvPr id="279" name="matrix-row-channel"/>
          <p:cNvGrpSpPr/>
          <p:nvPr/>
        </p:nvGrpSpPr>
        <p:grpSpPr>
          <a:xfrm>
            <a:off x="381000" y="3771900"/>
            <a:ext cx="11068050" cy="647700"/>
            <a:chOff x="381000" y="3771900"/>
            <a:chExt cx="11068050" cy="647700"/>
          </a:xfrm>
        </p:grpSpPr>
        <p:sp>
          <p:nvSpPr>
            <p:cNvPr id="168" name="Rectangle 168"/>
            <p:cNvSpPr/>
            <p:nvPr/>
          </p:nvSpPr>
          <p:spPr>
            <a:xfrm>
              <a:off x="381000" y="3771900"/>
              <a:ext cx="838200" cy="647700"/>
            </a:xfrm>
            <a:prstGeom prst="roundRect">
              <a:avLst>
                <a:gd name="adj" fmla="val 11765"/>
              </a:avLst>
            </a:prstGeom>
            <a:solidFill>
              <a:srgbClr val="5E3A33"/>
            </a:solidFill>
            <a:ln>
              <a:noFill/>
            </a:ln>
          </p:spPr>
        </p:sp>
        <p:grpSp>
          <p:nvGrpSpPr>
            <p:cNvPr id="172" name="Group 172"/>
            <p:cNvGrpSpPr/>
            <p:nvPr/>
          </p:nvGrpSpPr>
          <p:grpSpPr>
            <a:xfrm>
              <a:off x="744537" y="3890962"/>
              <a:ext cx="111125" cy="142875"/>
              <a:chOff x="744537" y="3890962"/>
              <a:chExt cx="111125" cy="142875"/>
            </a:xfrm>
          </p:grpSpPr>
          <p:sp>
            <p:nvSpPr>
              <p:cNvPr id="169" name="Freeform 169"/>
              <p:cNvSpPr/>
              <p:nvPr/>
            </p:nvSpPr>
            <p:spPr>
              <a:xfrm>
                <a:off x="744537" y="393858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FFFFFF"/>
                </a:solidFill>
              </a:ln>
            </p:spPr>
          </p:sp>
          <p:sp>
            <p:nvSpPr>
              <p:cNvPr id="170" name="Freeform 170"/>
              <p:cNvSpPr/>
              <p:nvPr/>
            </p:nvSpPr>
            <p:spPr>
              <a:xfrm>
                <a:off x="800100" y="3890962"/>
                <a:ext cx="9525" cy="87312"/>
              </a:xfrm>
              <a:custGeom>
                <a:avLst/>
                <a:gdLst/>
                <a:ahLst/>
                <a:cxnLst/>
                <a:rect l="l" t="t" r="r" b="b"/>
                <a:pathLst>
                  <a:path w="9525" h="87312">
                    <a:moveTo>
                      <a:pt x="0" y="87312"/>
                    </a:moveTo>
                    <a:lnTo>
                      <a:pt x="0" y="0"/>
                    </a:lnTo>
                  </a:path>
                </a:pathLst>
              </a:custGeom>
              <a:noFill/>
              <a:ln w="15875">
                <a:solidFill>
                  <a:srgbClr val="FFFFFF"/>
                </a:solidFill>
              </a:ln>
            </p:spPr>
          </p:sp>
          <p:sp>
            <p:nvSpPr>
              <p:cNvPr id="171" name="Freeform 171"/>
              <p:cNvSpPr/>
              <p:nvPr/>
            </p:nvSpPr>
            <p:spPr>
              <a:xfrm>
                <a:off x="776287" y="3890962"/>
                <a:ext cx="47625" cy="23812"/>
              </a:xfrm>
              <a:custGeom>
                <a:avLst/>
                <a:gdLst/>
                <a:ahLst/>
                <a:cxnLst/>
                <a:rect l="l" t="t" r="r" b="b"/>
                <a:pathLst>
                  <a:path w="47625" h="23812">
                    <a:moveTo>
                      <a:pt x="0" y="23812"/>
                    </a:moveTo>
                    <a:lnTo>
                      <a:pt x="23812" y="0"/>
                    </a:lnTo>
                    <a:lnTo>
                      <a:pt x="47625" y="23812"/>
                    </a:lnTo>
                  </a:path>
                </a:pathLst>
              </a:custGeom>
              <a:noFill/>
              <a:ln w="15875">
                <a:solidFill>
                  <a:srgbClr val="FFFFFF"/>
                </a:solidFill>
              </a:ln>
            </p:spPr>
          </p:sp>
        </p:grpSp>
        <p:sp>
          <p:nvSpPr>
            <p:cNvPr id="173" name="TextBox 173"/>
            <p:cNvSpPr txBox="1"/>
            <p:nvPr/>
          </p:nvSpPr>
          <p:spPr>
            <a:xfrm>
              <a:off x="563791" y="41740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触达渠道</a:t>
              </a:r>
            </a:p>
          </p:txBody>
        </p:sp>
        <p:sp>
          <p:nvSpPr>
            <p:cNvPr id="174" name="Rectangle 174"/>
            <p:cNvSpPr/>
            <p:nvPr/>
          </p:nvSpPr>
          <p:spPr>
            <a:xfrm>
              <a:off x="1276350" y="3771900"/>
              <a:ext cx="1600200" cy="647700"/>
            </a:xfrm>
            <a:prstGeom prst="roundRect">
              <a:avLst>
                <a:gd name="adj" fmla="val 8824"/>
              </a:avLst>
            </a:prstGeom>
            <a:solidFill>
              <a:srgbClr val="FFFFFF"/>
            </a:solidFill>
            <a:ln w="9525">
              <a:solidFill>
                <a:srgbClr val="E6D9C0"/>
              </a:solidFill>
            </a:ln>
          </p:spPr>
        </p:sp>
        <p:grpSp>
          <p:nvGrpSpPr>
            <p:cNvPr id="178" name="Group 178"/>
            <p:cNvGrpSpPr/>
            <p:nvPr/>
          </p:nvGrpSpPr>
          <p:grpSpPr>
            <a:xfrm>
              <a:off x="1473994" y="3923109"/>
              <a:ext cx="71438" cy="107156"/>
              <a:chOff x="1473994" y="3923109"/>
              <a:chExt cx="71438" cy="107156"/>
            </a:xfrm>
          </p:grpSpPr>
          <p:sp>
            <p:nvSpPr>
              <p:cNvPr id="175" name="Freeform 175"/>
              <p:cNvSpPr/>
              <p:nvPr/>
            </p:nvSpPr>
            <p:spPr>
              <a:xfrm>
                <a:off x="1473994" y="3923109"/>
                <a:ext cx="71438" cy="107156"/>
              </a:xfrm>
              <a:custGeom>
                <a:avLst/>
                <a:gdLst/>
                <a:ahLst/>
                <a:cxnLst/>
                <a:rect l="l" t="t" r="r" b="b"/>
                <a:pathLst>
                  <a:path w="71438" h="107156">
                    <a:moveTo>
                      <a:pt x="0" y="11906"/>
                    </a:moveTo>
                    <a:cubicBezTo>
                      <a:pt x="0" y="5331"/>
                      <a:pt x="5331" y="0"/>
                      <a:pt x="11906" y="0"/>
                    </a:cubicBezTo>
                    <a:lnTo>
                      <a:pt x="59531" y="0"/>
                    </a:lnTo>
                    <a:cubicBezTo>
                      <a:pt x="66107" y="0"/>
                      <a:pt x="71438" y="5331"/>
                      <a:pt x="71438" y="11906"/>
                    </a:cubicBezTo>
                    <a:lnTo>
                      <a:pt x="71438" y="95250"/>
                    </a:lnTo>
                    <a:cubicBezTo>
                      <a:pt x="71438" y="101826"/>
                      <a:pt x="66107" y="107156"/>
                      <a:pt x="59531" y="107156"/>
                    </a:cubicBezTo>
                    <a:lnTo>
                      <a:pt x="11906" y="107156"/>
                    </a:lnTo>
                    <a:cubicBezTo>
                      <a:pt x="5331" y="107156"/>
                      <a:pt x="0" y="101826"/>
                      <a:pt x="0" y="95250"/>
                    </a:cubicBezTo>
                    <a:lnTo>
                      <a:pt x="0" y="11906"/>
                    </a:lnTo>
                  </a:path>
                </a:pathLst>
              </a:custGeom>
              <a:noFill/>
              <a:ln w="11906">
                <a:solidFill>
                  <a:srgbClr val="A3381F"/>
                </a:solidFill>
              </a:ln>
            </p:spPr>
          </p:sp>
          <p:sp>
            <p:nvSpPr>
              <p:cNvPr id="176" name="Freeform 176"/>
              <p:cNvSpPr/>
              <p:nvPr/>
            </p:nvSpPr>
            <p:spPr>
              <a:xfrm>
                <a:off x="1503759" y="3929062"/>
                <a:ext cx="11906" cy="9525"/>
              </a:xfrm>
              <a:custGeom>
                <a:avLst/>
                <a:gdLst/>
                <a:ahLst/>
                <a:cxnLst/>
                <a:rect l="l" t="t" r="r" b="b"/>
                <a:pathLst>
                  <a:path w="11906" h="9525">
                    <a:moveTo>
                      <a:pt x="0" y="0"/>
                    </a:moveTo>
                    <a:lnTo>
                      <a:pt x="11906" y="0"/>
                    </a:lnTo>
                  </a:path>
                </a:pathLst>
              </a:custGeom>
              <a:noFill/>
              <a:ln w="11906">
                <a:solidFill>
                  <a:srgbClr val="A3381F"/>
                </a:solidFill>
              </a:ln>
            </p:spPr>
          </p:sp>
          <p:sp>
            <p:nvSpPr>
              <p:cNvPr id="177" name="Freeform 177"/>
              <p:cNvSpPr/>
              <p:nvPr/>
            </p:nvSpPr>
            <p:spPr>
              <a:xfrm>
                <a:off x="1509712" y="4006453"/>
                <a:ext cx="9525" cy="9525"/>
              </a:xfrm>
              <a:custGeom>
                <a:avLst/>
                <a:gdLst/>
                <a:ahLst/>
                <a:cxnLst/>
                <a:rect l="l" t="t" r="r" b="b"/>
                <a:pathLst>
                  <a:path w="9525" h="9525">
                    <a:moveTo>
                      <a:pt x="0" y="0"/>
                    </a:moveTo>
                    <a:lnTo>
                      <a:pt x="0" y="60"/>
                    </a:lnTo>
                  </a:path>
                </a:pathLst>
              </a:custGeom>
              <a:noFill/>
              <a:ln w="11906">
                <a:solidFill>
                  <a:srgbClr val="A3381F"/>
                </a:solidFill>
              </a:ln>
            </p:spPr>
          </p:sp>
        </p:grpSp>
        <p:sp>
          <p:nvSpPr>
            <p:cNvPr id="179" name="TextBox 179"/>
            <p:cNvSpPr txBox="1"/>
            <p:nvPr/>
          </p:nvSpPr>
          <p:spPr>
            <a:xfrm>
              <a:off x="13494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线上广告</a:t>
              </a:r>
            </a:p>
          </p:txBody>
        </p:sp>
        <p:grpSp>
          <p:nvGrpSpPr>
            <p:cNvPr id="186" name="Group 186"/>
            <p:cNvGrpSpPr/>
            <p:nvPr/>
          </p:nvGrpSpPr>
          <p:grpSpPr>
            <a:xfrm>
              <a:off x="1951434" y="3923109"/>
              <a:ext cx="107156" cy="107156"/>
              <a:chOff x="1951434" y="3923109"/>
              <a:chExt cx="107156" cy="107156"/>
            </a:xfrm>
          </p:grpSpPr>
          <p:sp>
            <p:nvSpPr>
              <p:cNvPr id="180" name="Freeform 180"/>
              <p:cNvSpPr/>
              <p:nvPr/>
            </p:nvSpPr>
            <p:spPr>
              <a:xfrm>
                <a:off x="1993106" y="397073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C26D5E"/>
                </a:solidFill>
              </a:ln>
            </p:spPr>
          </p:sp>
          <p:sp>
            <p:nvSpPr>
              <p:cNvPr id="181" name="Freeform 181"/>
              <p:cNvSpPr/>
              <p:nvPr/>
            </p:nvSpPr>
            <p:spPr>
              <a:xfrm>
                <a:off x="1981200" y="4012406"/>
                <a:ext cx="47625" cy="17859"/>
              </a:xfrm>
              <a:custGeom>
                <a:avLst/>
                <a:gdLst/>
                <a:ahLst/>
                <a:cxnLst/>
                <a:rect l="l" t="t" r="r" b="b"/>
                <a:pathLst>
                  <a:path w="47625" h="17859">
                    <a:moveTo>
                      <a:pt x="0" y="17859"/>
                    </a:moveTo>
                    <a:lnTo>
                      <a:pt x="0" y="11906"/>
                    </a:lnTo>
                    <a:cubicBezTo>
                      <a:pt x="0" y="5331"/>
                      <a:pt x="5331" y="0"/>
                      <a:pt x="11906" y="0"/>
                    </a:cubicBezTo>
                    <a:lnTo>
                      <a:pt x="35719" y="0"/>
                    </a:lnTo>
                    <a:cubicBezTo>
                      <a:pt x="42294" y="0"/>
                      <a:pt x="47625" y="5331"/>
                      <a:pt x="47625" y="11906"/>
                    </a:cubicBezTo>
                    <a:lnTo>
                      <a:pt x="47625" y="17859"/>
                    </a:lnTo>
                  </a:path>
                </a:pathLst>
              </a:custGeom>
              <a:noFill/>
              <a:ln w="11906">
                <a:solidFill>
                  <a:srgbClr val="C26D5E"/>
                </a:solidFill>
              </a:ln>
            </p:spPr>
          </p:sp>
          <p:sp>
            <p:nvSpPr>
              <p:cNvPr id="182" name="Freeform 182"/>
              <p:cNvSpPr/>
              <p:nvPr/>
            </p:nvSpPr>
            <p:spPr>
              <a:xfrm>
                <a:off x="2022872"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C26D5E"/>
                </a:solidFill>
              </a:ln>
            </p:spPr>
          </p:sp>
          <p:sp>
            <p:nvSpPr>
              <p:cNvPr id="183" name="Freeform 183"/>
              <p:cNvSpPr/>
              <p:nvPr/>
            </p:nvSpPr>
            <p:spPr>
              <a:xfrm>
                <a:off x="2034778" y="3964781"/>
                <a:ext cx="23812" cy="17859"/>
              </a:xfrm>
              <a:custGeom>
                <a:avLst/>
                <a:gdLst/>
                <a:ahLst/>
                <a:cxnLst/>
                <a:rect l="l" t="t" r="r" b="b"/>
                <a:pathLst>
                  <a:path w="23812" h="17859">
                    <a:moveTo>
                      <a:pt x="0" y="0"/>
                    </a:moveTo>
                    <a:lnTo>
                      <a:pt x="11906" y="0"/>
                    </a:lnTo>
                    <a:cubicBezTo>
                      <a:pt x="18482" y="0"/>
                      <a:pt x="23812" y="5331"/>
                      <a:pt x="23812" y="11906"/>
                    </a:cubicBezTo>
                    <a:lnTo>
                      <a:pt x="23812" y="17859"/>
                    </a:lnTo>
                  </a:path>
                </a:pathLst>
              </a:custGeom>
              <a:noFill/>
              <a:ln w="11906">
                <a:solidFill>
                  <a:srgbClr val="C26D5E"/>
                </a:solidFill>
              </a:ln>
            </p:spPr>
          </p:sp>
          <p:sp>
            <p:nvSpPr>
              <p:cNvPr id="184" name="Freeform 184"/>
              <p:cNvSpPr/>
              <p:nvPr/>
            </p:nvSpPr>
            <p:spPr>
              <a:xfrm>
                <a:off x="1963341"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C26D5E"/>
                </a:solidFill>
              </a:ln>
            </p:spPr>
          </p:sp>
          <p:sp>
            <p:nvSpPr>
              <p:cNvPr id="185" name="Freeform 185"/>
              <p:cNvSpPr/>
              <p:nvPr/>
            </p:nvSpPr>
            <p:spPr>
              <a:xfrm>
                <a:off x="1951434" y="3964781"/>
                <a:ext cx="23812" cy="17859"/>
              </a:xfrm>
              <a:custGeom>
                <a:avLst/>
                <a:gdLst/>
                <a:ahLst/>
                <a:cxnLst/>
                <a:rect l="l" t="t" r="r" b="b"/>
                <a:pathLst>
                  <a:path w="23812" h="17859">
                    <a:moveTo>
                      <a:pt x="0" y="17859"/>
                    </a:moveTo>
                    <a:lnTo>
                      <a:pt x="0" y="11906"/>
                    </a:lnTo>
                    <a:cubicBezTo>
                      <a:pt x="0" y="5331"/>
                      <a:pt x="5331" y="0"/>
                      <a:pt x="11906" y="0"/>
                    </a:cubicBezTo>
                    <a:lnTo>
                      <a:pt x="23812" y="0"/>
                    </a:lnTo>
                  </a:path>
                </a:pathLst>
              </a:custGeom>
              <a:noFill/>
              <a:ln w="11906">
                <a:solidFill>
                  <a:srgbClr val="C26D5E"/>
                </a:solidFill>
              </a:ln>
            </p:spPr>
          </p:sp>
        </p:grpSp>
        <p:sp>
          <p:nvSpPr>
            <p:cNvPr id="187" name="TextBox 187"/>
            <p:cNvSpPr txBox="1"/>
            <p:nvPr/>
          </p:nvSpPr>
          <p:spPr>
            <a:xfrm>
              <a:off x="18447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线下活动</a:t>
              </a:r>
            </a:p>
          </p:txBody>
        </p:sp>
        <p:grpSp>
          <p:nvGrpSpPr>
            <p:cNvPr id="191" name="Group 191"/>
            <p:cNvGrpSpPr/>
            <p:nvPr/>
          </p:nvGrpSpPr>
          <p:grpSpPr>
            <a:xfrm>
              <a:off x="2452687" y="3926154"/>
              <a:ext cx="98150" cy="101054"/>
              <a:chOff x="2452687" y="3926154"/>
              <a:chExt cx="98150" cy="101054"/>
            </a:xfrm>
          </p:grpSpPr>
          <p:sp>
            <p:nvSpPr>
              <p:cNvPr id="188" name="Freeform 188"/>
              <p:cNvSpPr/>
              <p:nvPr/>
            </p:nvSpPr>
            <p:spPr>
              <a:xfrm>
                <a:off x="2482453" y="3958828"/>
                <a:ext cx="35719" cy="35719"/>
              </a:xfrm>
              <a:custGeom>
                <a:avLst/>
                <a:gdLst/>
                <a:ahLst/>
                <a:cxnLst/>
                <a:rect l="l" t="t" r="r" b="b"/>
                <a:pathLst>
                  <a:path w="35719" h="35719">
                    <a:moveTo>
                      <a:pt x="0" y="35719"/>
                    </a:moveTo>
                    <a:lnTo>
                      <a:pt x="35719" y="0"/>
                    </a:lnTo>
                  </a:path>
                </a:pathLst>
              </a:custGeom>
              <a:noFill/>
              <a:ln w="11906">
                <a:solidFill>
                  <a:srgbClr val="5E3A33"/>
                </a:solidFill>
              </a:ln>
            </p:spPr>
          </p:sp>
          <p:sp>
            <p:nvSpPr>
              <p:cNvPr id="189" name="Freeform 189"/>
              <p:cNvSpPr/>
              <p:nvPr/>
            </p:nvSpPr>
            <p:spPr>
              <a:xfrm>
                <a:off x="2494359" y="3926154"/>
                <a:ext cx="56478" cy="56487"/>
              </a:xfrm>
              <a:custGeom>
                <a:avLst/>
                <a:gdLst/>
                <a:ahLst/>
                <a:cxnLst/>
                <a:rect l="l" t="t" r="r" b="b"/>
                <a:pathLst>
                  <a:path w="56478" h="56487">
                    <a:moveTo>
                      <a:pt x="0" y="14815"/>
                    </a:moveTo>
                    <a:lnTo>
                      <a:pt x="2756" y="11624"/>
                    </a:lnTo>
                    <a:cubicBezTo>
                      <a:pt x="14382" y="0"/>
                      <a:pt x="33230" y="1"/>
                      <a:pt x="44854" y="11627"/>
                    </a:cubicBezTo>
                    <a:cubicBezTo>
                      <a:pt x="56478" y="23253"/>
                      <a:pt x="56477" y="42101"/>
                      <a:pt x="44851" y="53725"/>
                    </a:cubicBezTo>
                    <a:lnTo>
                      <a:pt x="41672" y="56487"/>
                    </a:lnTo>
                  </a:path>
                </a:pathLst>
              </a:custGeom>
              <a:noFill/>
              <a:ln w="11906">
                <a:solidFill>
                  <a:srgbClr val="5E3A33"/>
                </a:solidFill>
              </a:ln>
            </p:spPr>
          </p:sp>
          <p:sp>
            <p:nvSpPr>
              <p:cNvPr id="190" name="Freeform 190"/>
              <p:cNvSpPr/>
              <p:nvPr/>
            </p:nvSpPr>
            <p:spPr>
              <a:xfrm>
                <a:off x="2452687" y="3970734"/>
                <a:ext cx="53579" cy="56474"/>
              </a:xfrm>
              <a:custGeom>
                <a:avLst/>
                <a:gdLst/>
                <a:ahLst/>
                <a:cxnLst/>
                <a:rect l="l" t="t" r="r" b="b"/>
                <a:pathLst>
                  <a:path w="53579" h="56474">
                    <a:moveTo>
                      <a:pt x="53579" y="41672"/>
                    </a:moveTo>
                    <a:lnTo>
                      <a:pt x="51216" y="44851"/>
                    </a:lnTo>
                    <a:cubicBezTo>
                      <a:pt x="39461" y="56474"/>
                      <a:pt x="20542" y="56474"/>
                      <a:pt x="8788" y="44851"/>
                    </a:cubicBezTo>
                    <a:cubicBezTo>
                      <a:pt x="3164" y="39291"/>
                      <a:pt x="0" y="31712"/>
                      <a:pt x="0" y="23804"/>
                    </a:cubicBezTo>
                    <a:cubicBezTo>
                      <a:pt x="0" y="15896"/>
                      <a:pt x="3164" y="8316"/>
                      <a:pt x="8788" y="2756"/>
                    </a:cubicBezTo>
                    <a:lnTo>
                      <a:pt x="11907" y="0"/>
                    </a:lnTo>
                  </a:path>
                </a:pathLst>
              </a:custGeom>
              <a:noFill/>
              <a:ln w="11906">
                <a:solidFill>
                  <a:srgbClr val="5E3A33"/>
                </a:solidFill>
              </a:ln>
            </p:spPr>
          </p:sp>
        </p:grpSp>
        <p:sp>
          <p:nvSpPr>
            <p:cNvPr id="192" name="TextBox 192"/>
            <p:cNvSpPr txBox="1"/>
            <p:nvPr/>
          </p:nvSpPr>
          <p:spPr>
            <a:xfrm>
              <a:off x="23400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合作渠道</a:t>
              </a:r>
            </a:p>
          </p:txBody>
        </p:sp>
        <p:sp>
          <p:nvSpPr>
            <p:cNvPr id="193" name="Rectangle 193"/>
            <p:cNvSpPr/>
            <p:nvPr/>
          </p:nvSpPr>
          <p:spPr>
            <a:xfrm>
              <a:off x="2990850" y="3771900"/>
              <a:ext cx="1600200" cy="647700"/>
            </a:xfrm>
            <a:prstGeom prst="roundRect">
              <a:avLst>
                <a:gd name="adj" fmla="val 8824"/>
              </a:avLst>
            </a:prstGeom>
            <a:solidFill>
              <a:srgbClr val="FFFFFF"/>
            </a:solidFill>
            <a:ln w="9525">
              <a:solidFill>
                <a:srgbClr val="E6D9C0"/>
              </a:solidFill>
            </a:ln>
          </p:spPr>
        </p:sp>
        <p:grpSp>
          <p:nvGrpSpPr>
            <p:cNvPr id="197" name="Group 197"/>
            <p:cNvGrpSpPr/>
            <p:nvPr/>
          </p:nvGrpSpPr>
          <p:grpSpPr>
            <a:xfrm>
              <a:off x="3188494" y="3923109"/>
              <a:ext cx="71438" cy="107156"/>
              <a:chOff x="3188494" y="3923109"/>
              <a:chExt cx="71438" cy="107156"/>
            </a:xfrm>
          </p:grpSpPr>
          <p:sp>
            <p:nvSpPr>
              <p:cNvPr id="194" name="Freeform 194"/>
              <p:cNvSpPr/>
              <p:nvPr/>
            </p:nvSpPr>
            <p:spPr>
              <a:xfrm>
                <a:off x="3188494" y="3923109"/>
                <a:ext cx="71438" cy="107156"/>
              </a:xfrm>
              <a:custGeom>
                <a:avLst/>
                <a:gdLst/>
                <a:ahLst/>
                <a:cxnLst/>
                <a:rect l="l" t="t" r="r" b="b"/>
                <a:pathLst>
                  <a:path w="71438" h="107156">
                    <a:moveTo>
                      <a:pt x="0" y="11906"/>
                    </a:moveTo>
                    <a:cubicBezTo>
                      <a:pt x="0" y="5331"/>
                      <a:pt x="5331" y="0"/>
                      <a:pt x="11906" y="0"/>
                    </a:cubicBezTo>
                    <a:lnTo>
                      <a:pt x="59531" y="0"/>
                    </a:lnTo>
                    <a:cubicBezTo>
                      <a:pt x="66107" y="0"/>
                      <a:pt x="71438" y="5331"/>
                      <a:pt x="71438" y="11906"/>
                    </a:cubicBezTo>
                    <a:lnTo>
                      <a:pt x="71438" y="95250"/>
                    </a:lnTo>
                    <a:cubicBezTo>
                      <a:pt x="71438" y="101826"/>
                      <a:pt x="66107" y="107156"/>
                      <a:pt x="59531" y="107156"/>
                    </a:cubicBezTo>
                    <a:lnTo>
                      <a:pt x="11906" y="107156"/>
                    </a:lnTo>
                    <a:cubicBezTo>
                      <a:pt x="5331" y="107156"/>
                      <a:pt x="0" y="101826"/>
                      <a:pt x="0" y="95250"/>
                    </a:cubicBezTo>
                    <a:lnTo>
                      <a:pt x="0" y="11906"/>
                    </a:lnTo>
                  </a:path>
                </a:pathLst>
              </a:custGeom>
              <a:noFill/>
              <a:ln w="11906">
                <a:solidFill>
                  <a:srgbClr val="A3381F"/>
                </a:solidFill>
              </a:ln>
            </p:spPr>
          </p:sp>
          <p:sp>
            <p:nvSpPr>
              <p:cNvPr id="195" name="Freeform 195"/>
              <p:cNvSpPr/>
              <p:nvPr/>
            </p:nvSpPr>
            <p:spPr>
              <a:xfrm>
                <a:off x="3218259" y="3929062"/>
                <a:ext cx="11906" cy="9525"/>
              </a:xfrm>
              <a:custGeom>
                <a:avLst/>
                <a:gdLst/>
                <a:ahLst/>
                <a:cxnLst/>
                <a:rect l="l" t="t" r="r" b="b"/>
                <a:pathLst>
                  <a:path w="11906" h="9525">
                    <a:moveTo>
                      <a:pt x="0" y="0"/>
                    </a:moveTo>
                    <a:lnTo>
                      <a:pt x="11906" y="0"/>
                    </a:lnTo>
                  </a:path>
                </a:pathLst>
              </a:custGeom>
              <a:noFill/>
              <a:ln w="11906">
                <a:solidFill>
                  <a:srgbClr val="A3381F"/>
                </a:solidFill>
              </a:ln>
            </p:spPr>
          </p:sp>
          <p:sp>
            <p:nvSpPr>
              <p:cNvPr id="196" name="Freeform 196"/>
              <p:cNvSpPr/>
              <p:nvPr/>
            </p:nvSpPr>
            <p:spPr>
              <a:xfrm>
                <a:off x="3224212" y="4006453"/>
                <a:ext cx="9525" cy="9525"/>
              </a:xfrm>
              <a:custGeom>
                <a:avLst/>
                <a:gdLst/>
                <a:ahLst/>
                <a:cxnLst/>
                <a:rect l="l" t="t" r="r" b="b"/>
                <a:pathLst>
                  <a:path w="9525" h="9525">
                    <a:moveTo>
                      <a:pt x="0" y="0"/>
                    </a:moveTo>
                    <a:lnTo>
                      <a:pt x="0" y="60"/>
                    </a:lnTo>
                  </a:path>
                </a:pathLst>
              </a:custGeom>
              <a:noFill/>
              <a:ln w="11906">
                <a:solidFill>
                  <a:srgbClr val="A3381F"/>
                </a:solidFill>
              </a:ln>
            </p:spPr>
          </p:sp>
        </p:grpSp>
        <p:sp>
          <p:nvSpPr>
            <p:cNvPr id="198" name="TextBox 198"/>
            <p:cNvSpPr txBox="1"/>
            <p:nvPr/>
          </p:nvSpPr>
          <p:spPr>
            <a:xfrm>
              <a:off x="2976293" y="4168378"/>
              <a:ext cx="486313"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 xml:space="preserve">APP/小程序　</a:t>
              </a:r>
            </a:p>
          </p:txBody>
        </p:sp>
        <p:sp>
          <p:nvSpPr>
            <p:cNvPr id="199" name="Freeform 199"/>
            <p:cNvSpPr/>
            <p:nvPr/>
          </p:nvSpPr>
          <p:spPr>
            <a:xfrm>
              <a:off x="3659838" y="3924449"/>
              <a:ext cx="118848" cy="105352"/>
            </a:xfrm>
            <a:custGeom>
              <a:avLst/>
              <a:gdLst/>
              <a:ahLst/>
              <a:cxnLst/>
              <a:rect l="l" t="t" r="r" b="b"/>
              <a:pathLst>
                <a:path w="118848" h="105352">
                  <a:moveTo>
                    <a:pt x="6096" y="99864"/>
                  </a:moveTo>
                  <a:lnTo>
                    <a:pt x="13835" y="76646"/>
                  </a:lnTo>
                  <a:cubicBezTo>
                    <a:pt x="0" y="56186"/>
                    <a:pt x="5346" y="29783"/>
                    <a:pt x="26337" y="14889"/>
                  </a:cubicBezTo>
                  <a:cubicBezTo>
                    <a:pt x="47327" y="0"/>
                    <a:pt x="77474" y="1220"/>
                    <a:pt x="96851" y="17746"/>
                  </a:cubicBezTo>
                  <a:cubicBezTo>
                    <a:pt x="116229" y="34278"/>
                    <a:pt x="118848" y="61002"/>
                    <a:pt x="102977" y="80260"/>
                  </a:cubicBezTo>
                  <a:cubicBezTo>
                    <a:pt x="87106" y="99518"/>
                    <a:pt x="57644" y="105352"/>
                    <a:pt x="34076" y="93911"/>
                  </a:cubicBezTo>
                  <a:lnTo>
                    <a:pt x="6096" y="99864"/>
                  </a:lnTo>
                </a:path>
              </a:pathLst>
            </a:custGeom>
            <a:noFill/>
            <a:ln w="11906">
              <a:solidFill>
                <a:srgbClr val="C26D5E"/>
              </a:solidFill>
            </a:ln>
          </p:spPr>
        </p:sp>
        <p:sp>
          <p:nvSpPr>
            <p:cNvPr id="200" name="TextBox 200"/>
            <p:cNvSpPr txBox="1"/>
            <p:nvPr/>
          </p:nvSpPr>
          <p:spPr>
            <a:xfrm>
              <a:off x="3491782" y="4168378"/>
              <a:ext cx="445935"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 xml:space="preserve">短信/Push　</a:t>
              </a:r>
            </a:p>
          </p:txBody>
        </p:sp>
        <p:grpSp>
          <p:nvGrpSpPr>
            <p:cNvPr id="204" name="Group 204"/>
            <p:cNvGrpSpPr/>
            <p:nvPr/>
          </p:nvGrpSpPr>
          <p:grpSpPr>
            <a:xfrm>
              <a:off x="4173141" y="3923109"/>
              <a:ext cx="83344" cy="107157"/>
              <a:chOff x="4173141" y="3923109"/>
              <a:chExt cx="83344" cy="107157"/>
            </a:xfrm>
          </p:grpSpPr>
          <p:sp>
            <p:nvSpPr>
              <p:cNvPr id="201" name="Freeform 201"/>
              <p:cNvSpPr/>
              <p:nvPr/>
            </p:nvSpPr>
            <p:spPr>
              <a:xfrm>
                <a:off x="4173141" y="3958828"/>
                <a:ext cx="83344" cy="71438"/>
              </a:xfrm>
              <a:custGeom>
                <a:avLst/>
                <a:gdLst/>
                <a:ahLst/>
                <a:cxnLst/>
                <a:rect l="l" t="t" r="r" b="b"/>
                <a:pathLst>
                  <a:path w="83344" h="71438">
                    <a:moveTo>
                      <a:pt x="17859" y="0"/>
                    </a:moveTo>
                    <a:lnTo>
                      <a:pt x="11906" y="0"/>
                    </a:lnTo>
                    <a:cubicBezTo>
                      <a:pt x="5331" y="0"/>
                      <a:pt x="0" y="5331"/>
                      <a:pt x="0" y="11906"/>
                    </a:cubicBezTo>
                    <a:lnTo>
                      <a:pt x="0" y="59531"/>
                    </a:lnTo>
                    <a:cubicBezTo>
                      <a:pt x="0" y="66107"/>
                      <a:pt x="5331" y="71438"/>
                      <a:pt x="11906" y="71438"/>
                    </a:cubicBezTo>
                    <a:lnTo>
                      <a:pt x="71438" y="71438"/>
                    </a:lnTo>
                    <a:cubicBezTo>
                      <a:pt x="78013" y="71438"/>
                      <a:pt x="83344" y="66107"/>
                      <a:pt x="83344" y="59531"/>
                    </a:cubicBezTo>
                    <a:lnTo>
                      <a:pt x="83344" y="11906"/>
                    </a:lnTo>
                    <a:cubicBezTo>
                      <a:pt x="83344" y="5331"/>
                      <a:pt x="78013" y="0"/>
                      <a:pt x="71438" y="0"/>
                    </a:cubicBezTo>
                    <a:lnTo>
                      <a:pt x="65484" y="0"/>
                    </a:lnTo>
                  </a:path>
                </a:pathLst>
              </a:custGeom>
              <a:noFill/>
              <a:ln w="11906">
                <a:solidFill>
                  <a:srgbClr val="5E3A33"/>
                </a:solidFill>
              </a:ln>
            </p:spPr>
          </p:sp>
          <p:sp>
            <p:nvSpPr>
              <p:cNvPr id="202" name="Freeform 202"/>
              <p:cNvSpPr/>
              <p:nvPr/>
            </p:nvSpPr>
            <p:spPr>
              <a:xfrm>
                <a:off x="4214812" y="3923109"/>
                <a:ext cx="9525" cy="65484"/>
              </a:xfrm>
              <a:custGeom>
                <a:avLst/>
                <a:gdLst/>
                <a:ahLst/>
                <a:cxnLst/>
                <a:rect l="l" t="t" r="r" b="b"/>
                <a:pathLst>
                  <a:path w="9525" h="65484">
                    <a:moveTo>
                      <a:pt x="0" y="65484"/>
                    </a:moveTo>
                    <a:lnTo>
                      <a:pt x="0" y="0"/>
                    </a:lnTo>
                  </a:path>
                </a:pathLst>
              </a:custGeom>
              <a:noFill/>
              <a:ln w="11906">
                <a:solidFill>
                  <a:srgbClr val="5E3A33"/>
                </a:solidFill>
              </a:ln>
            </p:spPr>
          </p:sp>
          <p:sp>
            <p:nvSpPr>
              <p:cNvPr id="203" name="Freeform 203"/>
              <p:cNvSpPr/>
              <p:nvPr/>
            </p:nvSpPr>
            <p:spPr>
              <a:xfrm>
                <a:off x="4196953" y="3923109"/>
                <a:ext cx="35719" cy="17859"/>
              </a:xfrm>
              <a:custGeom>
                <a:avLst/>
                <a:gdLst/>
                <a:ahLst/>
                <a:cxnLst/>
                <a:rect l="l" t="t" r="r" b="b"/>
                <a:pathLst>
                  <a:path w="35719" h="17859">
                    <a:moveTo>
                      <a:pt x="0" y="17859"/>
                    </a:moveTo>
                    <a:lnTo>
                      <a:pt x="17859" y="0"/>
                    </a:lnTo>
                    <a:lnTo>
                      <a:pt x="35719" y="17859"/>
                    </a:lnTo>
                  </a:path>
                </a:pathLst>
              </a:custGeom>
              <a:noFill/>
              <a:ln w="11906">
                <a:solidFill>
                  <a:srgbClr val="5E3A33"/>
                </a:solidFill>
              </a:ln>
            </p:spPr>
          </p:sp>
        </p:grpSp>
        <p:sp>
          <p:nvSpPr>
            <p:cNvPr id="205" name="TextBox 205"/>
            <p:cNvSpPr txBox="1"/>
            <p:nvPr/>
          </p:nvSpPr>
          <p:spPr>
            <a:xfrm>
              <a:off x="40545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微信企微</a:t>
              </a:r>
            </a:p>
          </p:txBody>
        </p:sp>
        <p:sp>
          <p:nvSpPr>
            <p:cNvPr id="206" name="Rectangle 206"/>
            <p:cNvSpPr/>
            <p:nvPr/>
          </p:nvSpPr>
          <p:spPr>
            <a:xfrm>
              <a:off x="4705350" y="3771900"/>
              <a:ext cx="1600200" cy="647700"/>
            </a:xfrm>
            <a:prstGeom prst="roundRect">
              <a:avLst>
                <a:gd name="adj" fmla="val 8824"/>
              </a:avLst>
            </a:prstGeom>
            <a:solidFill>
              <a:srgbClr val="FFFFFF"/>
            </a:solidFill>
            <a:ln w="9525">
              <a:solidFill>
                <a:srgbClr val="E6D9C0"/>
              </a:solidFill>
            </a:ln>
          </p:spPr>
        </p:sp>
        <p:grpSp>
          <p:nvGrpSpPr>
            <p:cNvPr id="213" name="Group 213"/>
            <p:cNvGrpSpPr/>
            <p:nvPr/>
          </p:nvGrpSpPr>
          <p:grpSpPr>
            <a:xfrm>
              <a:off x="4885134" y="3923109"/>
              <a:ext cx="107156" cy="107156"/>
              <a:chOff x="4885134" y="3923109"/>
              <a:chExt cx="107156" cy="107156"/>
            </a:xfrm>
          </p:grpSpPr>
          <p:sp>
            <p:nvSpPr>
              <p:cNvPr id="207" name="Freeform 207"/>
              <p:cNvSpPr/>
              <p:nvPr/>
            </p:nvSpPr>
            <p:spPr>
              <a:xfrm>
                <a:off x="4926806" y="397073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3381F"/>
                </a:solidFill>
              </a:ln>
            </p:spPr>
          </p:sp>
          <p:sp>
            <p:nvSpPr>
              <p:cNvPr id="208" name="Freeform 208"/>
              <p:cNvSpPr/>
              <p:nvPr/>
            </p:nvSpPr>
            <p:spPr>
              <a:xfrm>
                <a:off x="4914900" y="4012406"/>
                <a:ext cx="47625" cy="17859"/>
              </a:xfrm>
              <a:custGeom>
                <a:avLst/>
                <a:gdLst/>
                <a:ahLst/>
                <a:cxnLst/>
                <a:rect l="l" t="t" r="r" b="b"/>
                <a:pathLst>
                  <a:path w="47625" h="17859">
                    <a:moveTo>
                      <a:pt x="0" y="17859"/>
                    </a:moveTo>
                    <a:lnTo>
                      <a:pt x="0" y="11906"/>
                    </a:lnTo>
                    <a:cubicBezTo>
                      <a:pt x="0" y="5331"/>
                      <a:pt x="5331" y="0"/>
                      <a:pt x="11906" y="0"/>
                    </a:cubicBezTo>
                    <a:lnTo>
                      <a:pt x="35719" y="0"/>
                    </a:lnTo>
                    <a:cubicBezTo>
                      <a:pt x="42294" y="0"/>
                      <a:pt x="47625" y="5331"/>
                      <a:pt x="47625" y="11906"/>
                    </a:cubicBezTo>
                    <a:lnTo>
                      <a:pt x="47625" y="17859"/>
                    </a:lnTo>
                  </a:path>
                </a:pathLst>
              </a:custGeom>
              <a:noFill/>
              <a:ln w="11906">
                <a:solidFill>
                  <a:srgbClr val="A3381F"/>
                </a:solidFill>
              </a:ln>
            </p:spPr>
          </p:sp>
          <p:sp>
            <p:nvSpPr>
              <p:cNvPr id="209" name="Freeform 209"/>
              <p:cNvSpPr/>
              <p:nvPr/>
            </p:nvSpPr>
            <p:spPr>
              <a:xfrm>
                <a:off x="4956572"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3381F"/>
                </a:solidFill>
              </a:ln>
            </p:spPr>
          </p:sp>
          <p:sp>
            <p:nvSpPr>
              <p:cNvPr id="210" name="Freeform 210"/>
              <p:cNvSpPr/>
              <p:nvPr/>
            </p:nvSpPr>
            <p:spPr>
              <a:xfrm>
                <a:off x="4968478" y="3964781"/>
                <a:ext cx="23812" cy="17859"/>
              </a:xfrm>
              <a:custGeom>
                <a:avLst/>
                <a:gdLst/>
                <a:ahLst/>
                <a:cxnLst/>
                <a:rect l="l" t="t" r="r" b="b"/>
                <a:pathLst>
                  <a:path w="23812" h="17859">
                    <a:moveTo>
                      <a:pt x="0" y="0"/>
                    </a:moveTo>
                    <a:lnTo>
                      <a:pt x="11906" y="0"/>
                    </a:lnTo>
                    <a:cubicBezTo>
                      <a:pt x="18482" y="0"/>
                      <a:pt x="23812" y="5331"/>
                      <a:pt x="23812" y="11906"/>
                    </a:cubicBezTo>
                    <a:lnTo>
                      <a:pt x="23812" y="17859"/>
                    </a:lnTo>
                  </a:path>
                </a:pathLst>
              </a:custGeom>
              <a:noFill/>
              <a:ln w="11906">
                <a:solidFill>
                  <a:srgbClr val="A3381F"/>
                </a:solidFill>
              </a:ln>
            </p:spPr>
          </p:sp>
          <p:sp>
            <p:nvSpPr>
              <p:cNvPr id="211" name="Freeform 211"/>
              <p:cNvSpPr/>
              <p:nvPr/>
            </p:nvSpPr>
            <p:spPr>
              <a:xfrm>
                <a:off x="4897041"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3381F"/>
                </a:solidFill>
              </a:ln>
            </p:spPr>
          </p:sp>
          <p:sp>
            <p:nvSpPr>
              <p:cNvPr id="212" name="Freeform 212"/>
              <p:cNvSpPr/>
              <p:nvPr/>
            </p:nvSpPr>
            <p:spPr>
              <a:xfrm>
                <a:off x="4885134" y="3964781"/>
                <a:ext cx="23812" cy="17859"/>
              </a:xfrm>
              <a:custGeom>
                <a:avLst/>
                <a:gdLst/>
                <a:ahLst/>
                <a:cxnLst/>
                <a:rect l="l" t="t" r="r" b="b"/>
                <a:pathLst>
                  <a:path w="23812" h="17859">
                    <a:moveTo>
                      <a:pt x="0" y="17859"/>
                    </a:moveTo>
                    <a:lnTo>
                      <a:pt x="0" y="11906"/>
                    </a:lnTo>
                    <a:cubicBezTo>
                      <a:pt x="0" y="5331"/>
                      <a:pt x="5331" y="0"/>
                      <a:pt x="11906" y="0"/>
                    </a:cubicBezTo>
                    <a:lnTo>
                      <a:pt x="23812" y="0"/>
                    </a:lnTo>
                  </a:path>
                </a:pathLst>
              </a:custGeom>
              <a:noFill/>
              <a:ln w="11906">
                <a:solidFill>
                  <a:srgbClr val="A3381F"/>
                </a:solidFill>
              </a:ln>
            </p:spPr>
          </p:sp>
        </p:grpSp>
        <p:sp>
          <p:nvSpPr>
            <p:cNvPr id="214" name="TextBox 214"/>
            <p:cNvSpPr txBox="1"/>
            <p:nvPr/>
          </p:nvSpPr>
          <p:spPr>
            <a:xfrm>
              <a:off x="47784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客户经理</a:t>
              </a:r>
            </a:p>
          </p:txBody>
        </p:sp>
        <p:grpSp>
          <p:nvGrpSpPr>
            <p:cNvPr id="218" name="Group 218"/>
            <p:cNvGrpSpPr/>
            <p:nvPr/>
          </p:nvGrpSpPr>
          <p:grpSpPr>
            <a:xfrm>
              <a:off x="5398294" y="3923109"/>
              <a:ext cx="71438" cy="107156"/>
              <a:chOff x="5398294" y="3923109"/>
              <a:chExt cx="71438" cy="107156"/>
            </a:xfrm>
          </p:grpSpPr>
          <p:sp>
            <p:nvSpPr>
              <p:cNvPr id="215" name="Freeform 215"/>
              <p:cNvSpPr/>
              <p:nvPr/>
            </p:nvSpPr>
            <p:spPr>
              <a:xfrm>
                <a:off x="5398294" y="3923109"/>
                <a:ext cx="71438" cy="107156"/>
              </a:xfrm>
              <a:custGeom>
                <a:avLst/>
                <a:gdLst/>
                <a:ahLst/>
                <a:cxnLst/>
                <a:rect l="l" t="t" r="r" b="b"/>
                <a:pathLst>
                  <a:path w="71438" h="107156">
                    <a:moveTo>
                      <a:pt x="0" y="11906"/>
                    </a:moveTo>
                    <a:cubicBezTo>
                      <a:pt x="0" y="5331"/>
                      <a:pt x="5331" y="0"/>
                      <a:pt x="11906" y="0"/>
                    </a:cubicBezTo>
                    <a:lnTo>
                      <a:pt x="59531" y="0"/>
                    </a:lnTo>
                    <a:cubicBezTo>
                      <a:pt x="66107" y="0"/>
                      <a:pt x="71438" y="5331"/>
                      <a:pt x="71438" y="11906"/>
                    </a:cubicBezTo>
                    <a:lnTo>
                      <a:pt x="71438" y="95250"/>
                    </a:lnTo>
                    <a:cubicBezTo>
                      <a:pt x="71438" y="101826"/>
                      <a:pt x="66107" y="107156"/>
                      <a:pt x="59531" y="107156"/>
                    </a:cubicBezTo>
                    <a:lnTo>
                      <a:pt x="11906" y="107156"/>
                    </a:lnTo>
                    <a:cubicBezTo>
                      <a:pt x="5331" y="107156"/>
                      <a:pt x="0" y="101826"/>
                      <a:pt x="0" y="95250"/>
                    </a:cubicBezTo>
                    <a:lnTo>
                      <a:pt x="0" y="11906"/>
                    </a:lnTo>
                  </a:path>
                </a:pathLst>
              </a:custGeom>
              <a:noFill/>
              <a:ln w="11906">
                <a:solidFill>
                  <a:srgbClr val="C26D5E"/>
                </a:solidFill>
              </a:ln>
            </p:spPr>
          </p:sp>
          <p:sp>
            <p:nvSpPr>
              <p:cNvPr id="216" name="Freeform 216"/>
              <p:cNvSpPr/>
              <p:nvPr/>
            </p:nvSpPr>
            <p:spPr>
              <a:xfrm>
                <a:off x="5428059" y="3929062"/>
                <a:ext cx="11906" cy="9525"/>
              </a:xfrm>
              <a:custGeom>
                <a:avLst/>
                <a:gdLst/>
                <a:ahLst/>
                <a:cxnLst/>
                <a:rect l="l" t="t" r="r" b="b"/>
                <a:pathLst>
                  <a:path w="11906" h="9525">
                    <a:moveTo>
                      <a:pt x="0" y="0"/>
                    </a:moveTo>
                    <a:lnTo>
                      <a:pt x="11906" y="0"/>
                    </a:lnTo>
                  </a:path>
                </a:pathLst>
              </a:custGeom>
              <a:noFill/>
              <a:ln w="11906">
                <a:solidFill>
                  <a:srgbClr val="C26D5E"/>
                </a:solidFill>
              </a:ln>
            </p:spPr>
          </p:sp>
          <p:sp>
            <p:nvSpPr>
              <p:cNvPr id="217" name="Freeform 217"/>
              <p:cNvSpPr/>
              <p:nvPr/>
            </p:nvSpPr>
            <p:spPr>
              <a:xfrm>
                <a:off x="5434012" y="4006453"/>
                <a:ext cx="9525" cy="9525"/>
              </a:xfrm>
              <a:custGeom>
                <a:avLst/>
                <a:gdLst/>
                <a:ahLst/>
                <a:cxnLst/>
                <a:rect l="l" t="t" r="r" b="b"/>
                <a:pathLst>
                  <a:path w="9525" h="9525">
                    <a:moveTo>
                      <a:pt x="0" y="0"/>
                    </a:moveTo>
                    <a:lnTo>
                      <a:pt x="0" y="60"/>
                    </a:lnTo>
                  </a:path>
                </a:pathLst>
              </a:custGeom>
              <a:noFill/>
              <a:ln w="11906">
                <a:solidFill>
                  <a:srgbClr val="C26D5E"/>
                </a:solidFill>
              </a:ln>
            </p:spPr>
          </p:sp>
        </p:grpSp>
        <p:sp>
          <p:nvSpPr>
            <p:cNvPr id="219" name="TextBox 219"/>
            <p:cNvSpPr txBox="1"/>
            <p:nvPr/>
          </p:nvSpPr>
          <p:spPr>
            <a:xfrm>
              <a:off x="52737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企业网银</a:t>
              </a:r>
            </a:p>
          </p:txBody>
        </p:sp>
        <p:sp>
          <p:nvSpPr>
            <p:cNvPr id="220" name="Freeform 220"/>
            <p:cNvSpPr/>
            <p:nvPr/>
          </p:nvSpPr>
          <p:spPr>
            <a:xfrm>
              <a:off x="5869638" y="3924449"/>
              <a:ext cx="118848" cy="105352"/>
            </a:xfrm>
            <a:custGeom>
              <a:avLst/>
              <a:gdLst/>
              <a:ahLst/>
              <a:cxnLst/>
              <a:rect l="l" t="t" r="r" b="b"/>
              <a:pathLst>
                <a:path w="118848" h="105352">
                  <a:moveTo>
                    <a:pt x="6096" y="99864"/>
                  </a:moveTo>
                  <a:lnTo>
                    <a:pt x="13835" y="76646"/>
                  </a:lnTo>
                  <a:cubicBezTo>
                    <a:pt x="0" y="56186"/>
                    <a:pt x="5346" y="29783"/>
                    <a:pt x="26337" y="14889"/>
                  </a:cubicBezTo>
                  <a:cubicBezTo>
                    <a:pt x="47327" y="0"/>
                    <a:pt x="77474" y="1220"/>
                    <a:pt x="96851" y="17746"/>
                  </a:cubicBezTo>
                  <a:cubicBezTo>
                    <a:pt x="116229" y="34278"/>
                    <a:pt x="118848" y="61002"/>
                    <a:pt x="102977" y="80260"/>
                  </a:cubicBezTo>
                  <a:cubicBezTo>
                    <a:pt x="87106" y="99518"/>
                    <a:pt x="57644" y="105352"/>
                    <a:pt x="34076" y="93911"/>
                  </a:cubicBezTo>
                  <a:lnTo>
                    <a:pt x="6096" y="99864"/>
                  </a:lnTo>
                </a:path>
              </a:pathLst>
            </a:custGeom>
            <a:noFill/>
            <a:ln w="11906">
              <a:solidFill>
                <a:srgbClr val="5E3A33"/>
              </a:solidFill>
            </a:ln>
          </p:spPr>
        </p:sp>
        <p:sp>
          <p:nvSpPr>
            <p:cNvPr id="221" name="TextBox 221"/>
            <p:cNvSpPr txBox="1"/>
            <p:nvPr/>
          </p:nvSpPr>
          <p:spPr>
            <a:xfrm>
              <a:off x="57690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电话外呼</a:t>
              </a:r>
            </a:p>
          </p:txBody>
        </p:sp>
        <p:sp>
          <p:nvSpPr>
            <p:cNvPr id="222" name="Rectangle 222"/>
            <p:cNvSpPr/>
            <p:nvPr/>
          </p:nvSpPr>
          <p:spPr>
            <a:xfrm>
              <a:off x="6419850" y="3771900"/>
              <a:ext cx="1600200" cy="647700"/>
            </a:xfrm>
            <a:prstGeom prst="roundRect">
              <a:avLst>
                <a:gd name="adj" fmla="val 8824"/>
              </a:avLst>
            </a:prstGeom>
            <a:solidFill>
              <a:srgbClr val="FFFFFF"/>
            </a:solidFill>
            <a:ln w="9525">
              <a:solidFill>
                <a:srgbClr val="E6D9C0"/>
              </a:solidFill>
            </a:ln>
          </p:spPr>
        </p:sp>
        <p:grpSp>
          <p:nvGrpSpPr>
            <p:cNvPr id="229" name="Group 229"/>
            <p:cNvGrpSpPr/>
            <p:nvPr/>
          </p:nvGrpSpPr>
          <p:grpSpPr>
            <a:xfrm>
              <a:off x="6599634" y="3923109"/>
              <a:ext cx="107156" cy="107156"/>
              <a:chOff x="6599634" y="3923109"/>
              <a:chExt cx="107156" cy="107156"/>
            </a:xfrm>
          </p:grpSpPr>
          <p:sp>
            <p:nvSpPr>
              <p:cNvPr id="223" name="Freeform 223"/>
              <p:cNvSpPr/>
              <p:nvPr/>
            </p:nvSpPr>
            <p:spPr>
              <a:xfrm>
                <a:off x="6641306" y="397073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3381F"/>
                </a:solidFill>
              </a:ln>
            </p:spPr>
          </p:sp>
          <p:sp>
            <p:nvSpPr>
              <p:cNvPr id="224" name="Freeform 224"/>
              <p:cNvSpPr/>
              <p:nvPr/>
            </p:nvSpPr>
            <p:spPr>
              <a:xfrm>
                <a:off x="6629400" y="4012406"/>
                <a:ext cx="47625" cy="17859"/>
              </a:xfrm>
              <a:custGeom>
                <a:avLst/>
                <a:gdLst/>
                <a:ahLst/>
                <a:cxnLst/>
                <a:rect l="l" t="t" r="r" b="b"/>
                <a:pathLst>
                  <a:path w="47625" h="17859">
                    <a:moveTo>
                      <a:pt x="0" y="17859"/>
                    </a:moveTo>
                    <a:lnTo>
                      <a:pt x="0" y="11906"/>
                    </a:lnTo>
                    <a:cubicBezTo>
                      <a:pt x="0" y="5331"/>
                      <a:pt x="5331" y="0"/>
                      <a:pt x="11906" y="0"/>
                    </a:cubicBezTo>
                    <a:lnTo>
                      <a:pt x="35719" y="0"/>
                    </a:lnTo>
                    <a:cubicBezTo>
                      <a:pt x="42294" y="0"/>
                      <a:pt x="47625" y="5331"/>
                      <a:pt x="47625" y="11906"/>
                    </a:cubicBezTo>
                    <a:lnTo>
                      <a:pt x="47625" y="17859"/>
                    </a:lnTo>
                  </a:path>
                </a:pathLst>
              </a:custGeom>
              <a:noFill/>
              <a:ln w="11906">
                <a:solidFill>
                  <a:srgbClr val="A3381F"/>
                </a:solidFill>
              </a:ln>
            </p:spPr>
          </p:sp>
          <p:sp>
            <p:nvSpPr>
              <p:cNvPr id="225" name="Freeform 225"/>
              <p:cNvSpPr/>
              <p:nvPr/>
            </p:nvSpPr>
            <p:spPr>
              <a:xfrm>
                <a:off x="6671072"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3381F"/>
                </a:solidFill>
              </a:ln>
            </p:spPr>
          </p:sp>
          <p:sp>
            <p:nvSpPr>
              <p:cNvPr id="226" name="Freeform 226"/>
              <p:cNvSpPr/>
              <p:nvPr/>
            </p:nvSpPr>
            <p:spPr>
              <a:xfrm>
                <a:off x="6682978" y="3964781"/>
                <a:ext cx="23812" cy="17859"/>
              </a:xfrm>
              <a:custGeom>
                <a:avLst/>
                <a:gdLst/>
                <a:ahLst/>
                <a:cxnLst/>
                <a:rect l="l" t="t" r="r" b="b"/>
                <a:pathLst>
                  <a:path w="23812" h="17859">
                    <a:moveTo>
                      <a:pt x="0" y="0"/>
                    </a:moveTo>
                    <a:lnTo>
                      <a:pt x="11906" y="0"/>
                    </a:lnTo>
                    <a:cubicBezTo>
                      <a:pt x="18482" y="0"/>
                      <a:pt x="23812" y="5331"/>
                      <a:pt x="23812" y="11906"/>
                    </a:cubicBezTo>
                    <a:lnTo>
                      <a:pt x="23812" y="17859"/>
                    </a:lnTo>
                  </a:path>
                </a:pathLst>
              </a:custGeom>
              <a:noFill/>
              <a:ln w="11906">
                <a:solidFill>
                  <a:srgbClr val="A3381F"/>
                </a:solidFill>
              </a:ln>
            </p:spPr>
          </p:sp>
          <p:sp>
            <p:nvSpPr>
              <p:cNvPr id="227" name="Freeform 227"/>
              <p:cNvSpPr/>
              <p:nvPr/>
            </p:nvSpPr>
            <p:spPr>
              <a:xfrm>
                <a:off x="6611541"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3381F"/>
                </a:solidFill>
              </a:ln>
            </p:spPr>
          </p:sp>
          <p:sp>
            <p:nvSpPr>
              <p:cNvPr id="228" name="Freeform 228"/>
              <p:cNvSpPr/>
              <p:nvPr/>
            </p:nvSpPr>
            <p:spPr>
              <a:xfrm>
                <a:off x="6599634" y="3964781"/>
                <a:ext cx="23812" cy="17859"/>
              </a:xfrm>
              <a:custGeom>
                <a:avLst/>
                <a:gdLst/>
                <a:ahLst/>
                <a:cxnLst/>
                <a:rect l="l" t="t" r="r" b="b"/>
                <a:pathLst>
                  <a:path w="23812" h="17859">
                    <a:moveTo>
                      <a:pt x="0" y="17859"/>
                    </a:moveTo>
                    <a:lnTo>
                      <a:pt x="0" y="11906"/>
                    </a:lnTo>
                    <a:cubicBezTo>
                      <a:pt x="0" y="5331"/>
                      <a:pt x="5331" y="0"/>
                      <a:pt x="11906" y="0"/>
                    </a:cubicBezTo>
                    <a:lnTo>
                      <a:pt x="23812" y="0"/>
                    </a:lnTo>
                  </a:path>
                </a:pathLst>
              </a:custGeom>
              <a:noFill/>
              <a:ln w="11906">
                <a:solidFill>
                  <a:srgbClr val="A3381F"/>
                </a:solidFill>
              </a:ln>
            </p:spPr>
          </p:sp>
        </p:grpSp>
        <p:sp>
          <p:nvSpPr>
            <p:cNvPr id="230" name="TextBox 230"/>
            <p:cNvSpPr txBox="1"/>
            <p:nvPr/>
          </p:nvSpPr>
          <p:spPr>
            <a:xfrm>
              <a:off x="64929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客户经理</a:t>
              </a:r>
            </a:p>
          </p:txBody>
        </p:sp>
        <p:grpSp>
          <p:nvGrpSpPr>
            <p:cNvPr id="235" name="Group 235"/>
            <p:cNvGrpSpPr/>
            <p:nvPr/>
          </p:nvGrpSpPr>
          <p:grpSpPr>
            <a:xfrm>
              <a:off x="7094934" y="3923109"/>
              <a:ext cx="107156" cy="101204"/>
              <a:chOff x="7094934" y="3923109"/>
              <a:chExt cx="107156" cy="101204"/>
            </a:xfrm>
          </p:grpSpPr>
          <p:sp>
            <p:nvSpPr>
              <p:cNvPr id="231" name="Freeform 231"/>
              <p:cNvSpPr/>
              <p:nvPr/>
            </p:nvSpPr>
            <p:spPr>
              <a:xfrm>
                <a:off x="7094934" y="3946922"/>
                <a:ext cx="107156" cy="77391"/>
              </a:xfrm>
              <a:custGeom>
                <a:avLst/>
                <a:gdLst/>
                <a:ahLst/>
                <a:cxnLst/>
                <a:rect l="l" t="t" r="r" b="b"/>
                <a:pathLst>
                  <a:path w="107156" h="77391">
                    <a:moveTo>
                      <a:pt x="0" y="11906"/>
                    </a:moveTo>
                    <a:cubicBezTo>
                      <a:pt x="0" y="5331"/>
                      <a:pt x="5331" y="0"/>
                      <a:pt x="11906" y="0"/>
                    </a:cubicBezTo>
                    <a:lnTo>
                      <a:pt x="95250" y="0"/>
                    </a:lnTo>
                    <a:cubicBezTo>
                      <a:pt x="101826" y="0"/>
                      <a:pt x="107156" y="5331"/>
                      <a:pt x="107156" y="11906"/>
                    </a:cubicBezTo>
                    <a:lnTo>
                      <a:pt x="107156" y="65484"/>
                    </a:lnTo>
                    <a:cubicBezTo>
                      <a:pt x="107156" y="72060"/>
                      <a:pt x="101826" y="77391"/>
                      <a:pt x="95250" y="77391"/>
                    </a:cubicBezTo>
                    <a:lnTo>
                      <a:pt x="11906" y="77391"/>
                    </a:lnTo>
                    <a:cubicBezTo>
                      <a:pt x="5331" y="77391"/>
                      <a:pt x="0" y="72060"/>
                      <a:pt x="0" y="65484"/>
                    </a:cubicBezTo>
                    <a:lnTo>
                      <a:pt x="0" y="11906"/>
                    </a:lnTo>
                  </a:path>
                </a:pathLst>
              </a:custGeom>
              <a:noFill/>
              <a:ln w="11906">
                <a:solidFill>
                  <a:srgbClr val="C26D5E"/>
                </a:solidFill>
              </a:ln>
            </p:spPr>
          </p:sp>
          <p:sp>
            <p:nvSpPr>
              <p:cNvPr id="232" name="Freeform 232"/>
              <p:cNvSpPr/>
              <p:nvPr/>
            </p:nvSpPr>
            <p:spPr>
              <a:xfrm>
                <a:off x="7124700" y="3923109"/>
                <a:ext cx="47625" cy="23812"/>
              </a:xfrm>
              <a:custGeom>
                <a:avLst/>
                <a:gdLst/>
                <a:ahLst/>
                <a:cxnLst/>
                <a:rect l="l" t="t" r="r" b="b"/>
                <a:pathLst>
                  <a:path w="47625" h="23812">
                    <a:moveTo>
                      <a:pt x="0" y="23812"/>
                    </a:moveTo>
                    <a:lnTo>
                      <a:pt x="0" y="11906"/>
                    </a:lnTo>
                    <a:cubicBezTo>
                      <a:pt x="0" y="5331"/>
                      <a:pt x="5331" y="0"/>
                      <a:pt x="11906" y="0"/>
                    </a:cubicBezTo>
                    <a:lnTo>
                      <a:pt x="35719" y="0"/>
                    </a:lnTo>
                    <a:cubicBezTo>
                      <a:pt x="42294" y="0"/>
                      <a:pt x="47625" y="5331"/>
                      <a:pt x="47625" y="11906"/>
                    </a:cubicBezTo>
                    <a:lnTo>
                      <a:pt x="47625" y="23812"/>
                    </a:lnTo>
                  </a:path>
                </a:pathLst>
              </a:custGeom>
              <a:noFill/>
              <a:ln w="11906">
                <a:solidFill>
                  <a:srgbClr val="C26D5E"/>
                </a:solidFill>
              </a:ln>
            </p:spPr>
          </p:sp>
          <p:sp>
            <p:nvSpPr>
              <p:cNvPr id="233" name="Freeform 233"/>
              <p:cNvSpPr/>
              <p:nvPr/>
            </p:nvSpPr>
            <p:spPr>
              <a:xfrm>
                <a:off x="7148512" y="3976688"/>
                <a:ext cx="9525" cy="9525"/>
              </a:xfrm>
              <a:custGeom>
                <a:avLst/>
                <a:gdLst/>
                <a:ahLst/>
                <a:cxnLst/>
                <a:rect l="l" t="t" r="r" b="b"/>
                <a:pathLst>
                  <a:path w="9525" h="9525">
                    <a:moveTo>
                      <a:pt x="0" y="0"/>
                    </a:moveTo>
                    <a:lnTo>
                      <a:pt x="0" y="60"/>
                    </a:lnTo>
                  </a:path>
                </a:pathLst>
              </a:custGeom>
              <a:noFill/>
              <a:ln w="11906">
                <a:solidFill>
                  <a:srgbClr val="C26D5E"/>
                </a:solidFill>
              </a:ln>
            </p:spPr>
          </p:sp>
          <p:sp>
            <p:nvSpPr>
              <p:cNvPr id="234" name="Freeform 234"/>
              <p:cNvSpPr/>
              <p:nvPr/>
            </p:nvSpPr>
            <p:spPr>
              <a:xfrm>
                <a:off x="7094934" y="3982641"/>
                <a:ext cx="107156" cy="16982"/>
              </a:xfrm>
              <a:custGeom>
                <a:avLst/>
                <a:gdLst/>
                <a:ahLst/>
                <a:cxnLst/>
                <a:rect l="l" t="t" r="r" b="b"/>
                <a:pathLst>
                  <a:path w="107156" h="16982">
                    <a:moveTo>
                      <a:pt x="0" y="0"/>
                    </a:moveTo>
                    <a:cubicBezTo>
                      <a:pt x="33700" y="16982"/>
                      <a:pt x="73456" y="16982"/>
                      <a:pt x="107156" y="0"/>
                    </a:cubicBezTo>
                  </a:path>
                </a:pathLst>
              </a:custGeom>
              <a:noFill/>
              <a:ln w="11906">
                <a:solidFill>
                  <a:srgbClr val="C26D5E"/>
                </a:solidFill>
              </a:ln>
            </p:spPr>
          </p:sp>
        </p:grpSp>
        <p:sp>
          <p:nvSpPr>
            <p:cNvPr id="236" name="TextBox 236"/>
            <p:cNvSpPr txBox="1"/>
            <p:nvPr/>
          </p:nvSpPr>
          <p:spPr>
            <a:xfrm>
              <a:off x="69882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财富顾问</a:t>
              </a:r>
            </a:p>
          </p:txBody>
        </p:sp>
        <p:grpSp>
          <p:nvGrpSpPr>
            <p:cNvPr id="239" name="Group 239"/>
            <p:cNvGrpSpPr/>
            <p:nvPr/>
          </p:nvGrpSpPr>
          <p:grpSpPr>
            <a:xfrm>
              <a:off x="7584281" y="3935016"/>
              <a:ext cx="119062" cy="83343"/>
              <a:chOff x="7584281" y="3935016"/>
              <a:chExt cx="119062" cy="83343"/>
            </a:xfrm>
          </p:grpSpPr>
          <p:sp>
            <p:nvSpPr>
              <p:cNvPr id="237" name="Freeform 237"/>
              <p:cNvSpPr/>
              <p:nvPr/>
            </p:nvSpPr>
            <p:spPr>
              <a:xfrm>
                <a:off x="7584281" y="3935016"/>
                <a:ext cx="119062" cy="59531"/>
              </a:xfrm>
              <a:custGeom>
                <a:avLst/>
                <a:gdLst/>
                <a:ahLst/>
                <a:cxnLst/>
                <a:rect l="l" t="t" r="r" b="b"/>
                <a:pathLst>
                  <a:path w="119062" h="59531">
                    <a:moveTo>
                      <a:pt x="119062" y="23812"/>
                    </a:moveTo>
                    <a:lnTo>
                      <a:pt x="59531" y="0"/>
                    </a:lnTo>
                    <a:lnTo>
                      <a:pt x="0" y="23812"/>
                    </a:lnTo>
                    <a:lnTo>
                      <a:pt x="59531" y="47625"/>
                    </a:lnTo>
                    <a:lnTo>
                      <a:pt x="119062" y="23812"/>
                    </a:lnTo>
                    <a:lnTo>
                      <a:pt x="119062" y="59531"/>
                    </a:lnTo>
                  </a:path>
                </a:pathLst>
              </a:custGeom>
              <a:noFill/>
              <a:ln w="11906">
                <a:solidFill>
                  <a:srgbClr val="5E3A33"/>
                </a:solidFill>
              </a:ln>
            </p:spPr>
          </p:sp>
          <p:sp>
            <p:nvSpPr>
              <p:cNvPr id="238" name="Freeform 238"/>
              <p:cNvSpPr/>
              <p:nvPr/>
            </p:nvSpPr>
            <p:spPr>
              <a:xfrm>
                <a:off x="7608094" y="3968353"/>
                <a:ext cx="71438" cy="50006"/>
              </a:xfrm>
              <a:custGeom>
                <a:avLst/>
                <a:gdLst/>
                <a:ahLst/>
                <a:cxnLst/>
                <a:rect l="l" t="t" r="r" b="b"/>
                <a:pathLst>
                  <a:path w="71438" h="50006">
                    <a:moveTo>
                      <a:pt x="0" y="0"/>
                    </a:moveTo>
                    <a:lnTo>
                      <a:pt x="0" y="32147"/>
                    </a:lnTo>
                    <a:cubicBezTo>
                      <a:pt x="0" y="42010"/>
                      <a:pt x="15992" y="50006"/>
                      <a:pt x="35719" y="50006"/>
                    </a:cubicBezTo>
                    <a:cubicBezTo>
                      <a:pt x="55446" y="50006"/>
                      <a:pt x="71438" y="42010"/>
                      <a:pt x="71438" y="32147"/>
                    </a:cubicBezTo>
                    <a:lnTo>
                      <a:pt x="71438" y="0"/>
                    </a:lnTo>
                  </a:path>
                </a:pathLst>
              </a:custGeom>
              <a:noFill/>
              <a:ln w="11906">
                <a:solidFill>
                  <a:srgbClr val="5E3A33"/>
                </a:solidFill>
              </a:ln>
            </p:spPr>
          </p:sp>
        </p:grpSp>
        <p:sp>
          <p:nvSpPr>
            <p:cNvPr id="240" name="TextBox 240"/>
            <p:cNvSpPr txBox="1"/>
            <p:nvPr/>
          </p:nvSpPr>
          <p:spPr>
            <a:xfrm>
              <a:off x="74835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高端沙龙</a:t>
              </a:r>
            </a:p>
          </p:txBody>
        </p:sp>
        <p:sp>
          <p:nvSpPr>
            <p:cNvPr id="241" name="Rectangle 241"/>
            <p:cNvSpPr/>
            <p:nvPr/>
          </p:nvSpPr>
          <p:spPr>
            <a:xfrm>
              <a:off x="8134350" y="3771900"/>
              <a:ext cx="1600200" cy="647700"/>
            </a:xfrm>
            <a:prstGeom prst="roundRect">
              <a:avLst>
                <a:gd name="adj" fmla="val 8824"/>
              </a:avLst>
            </a:prstGeom>
            <a:solidFill>
              <a:srgbClr val="FFFFFF"/>
            </a:solidFill>
            <a:ln w="9525">
              <a:solidFill>
                <a:srgbClr val="E6D9C0"/>
              </a:solidFill>
            </a:ln>
          </p:spPr>
        </p:sp>
        <p:grpSp>
          <p:nvGrpSpPr>
            <p:cNvPr id="251" name="Group 251"/>
            <p:cNvGrpSpPr/>
            <p:nvPr/>
          </p:nvGrpSpPr>
          <p:grpSpPr>
            <a:xfrm>
              <a:off x="8326041" y="3917156"/>
              <a:ext cx="83343" cy="113110"/>
              <a:chOff x="8326041" y="3917156"/>
              <a:chExt cx="83343" cy="113110"/>
            </a:xfrm>
          </p:grpSpPr>
          <p:sp>
            <p:nvSpPr>
              <p:cNvPr id="242" name="Freeform 242"/>
              <p:cNvSpPr/>
              <p:nvPr/>
            </p:nvSpPr>
            <p:spPr>
              <a:xfrm>
                <a:off x="8331994" y="3929062"/>
                <a:ext cx="71438" cy="47625"/>
              </a:xfrm>
              <a:custGeom>
                <a:avLst/>
                <a:gdLst/>
                <a:ahLst/>
                <a:cxnLst/>
                <a:rect l="l" t="t" r="r" b="b"/>
                <a:pathLst>
                  <a:path w="71438" h="47625">
                    <a:moveTo>
                      <a:pt x="0" y="11906"/>
                    </a:moveTo>
                    <a:cubicBezTo>
                      <a:pt x="0" y="5331"/>
                      <a:pt x="5331" y="0"/>
                      <a:pt x="11906" y="0"/>
                    </a:cubicBezTo>
                    <a:lnTo>
                      <a:pt x="59531" y="0"/>
                    </a:lnTo>
                    <a:cubicBezTo>
                      <a:pt x="66107" y="0"/>
                      <a:pt x="71438" y="5331"/>
                      <a:pt x="71438" y="11906"/>
                    </a:cubicBezTo>
                    <a:lnTo>
                      <a:pt x="71438" y="35719"/>
                    </a:lnTo>
                    <a:cubicBezTo>
                      <a:pt x="71438" y="42294"/>
                      <a:pt x="66107" y="47625"/>
                      <a:pt x="59531" y="47625"/>
                    </a:cubicBezTo>
                    <a:lnTo>
                      <a:pt x="11906" y="47625"/>
                    </a:lnTo>
                    <a:cubicBezTo>
                      <a:pt x="5331" y="47625"/>
                      <a:pt x="0" y="42294"/>
                      <a:pt x="0" y="35719"/>
                    </a:cubicBezTo>
                    <a:lnTo>
                      <a:pt x="0" y="11906"/>
                    </a:lnTo>
                  </a:path>
                </a:pathLst>
              </a:custGeom>
              <a:noFill/>
              <a:ln w="11906">
                <a:solidFill>
                  <a:srgbClr val="A3381F"/>
                </a:solidFill>
              </a:ln>
            </p:spPr>
          </p:sp>
          <p:sp>
            <p:nvSpPr>
              <p:cNvPr id="243" name="Freeform 243"/>
              <p:cNvSpPr/>
              <p:nvPr/>
            </p:nvSpPr>
            <p:spPr>
              <a:xfrm>
                <a:off x="8367712" y="3917156"/>
                <a:ext cx="9525" cy="11906"/>
              </a:xfrm>
              <a:custGeom>
                <a:avLst/>
                <a:gdLst/>
                <a:ahLst/>
                <a:cxnLst/>
                <a:rect l="l" t="t" r="r" b="b"/>
                <a:pathLst>
                  <a:path w="9525" h="11906">
                    <a:moveTo>
                      <a:pt x="0" y="0"/>
                    </a:moveTo>
                    <a:lnTo>
                      <a:pt x="0" y="11906"/>
                    </a:lnTo>
                  </a:path>
                </a:pathLst>
              </a:custGeom>
              <a:noFill/>
              <a:ln w="11906">
                <a:solidFill>
                  <a:srgbClr val="A3381F"/>
                </a:solidFill>
              </a:ln>
            </p:spPr>
          </p:sp>
          <p:sp>
            <p:nvSpPr>
              <p:cNvPr id="244" name="Freeform 244"/>
              <p:cNvSpPr/>
              <p:nvPr/>
            </p:nvSpPr>
            <p:spPr>
              <a:xfrm>
                <a:off x="8349853" y="3976688"/>
                <a:ext cx="9525" cy="53578"/>
              </a:xfrm>
              <a:custGeom>
                <a:avLst/>
                <a:gdLst/>
                <a:ahLst/>
                <a:cxnLst/>
                <a:rect l="l" t="t" r="r" b="b"/>
                <a:pathLst>
                  <a:path w="9525" h="53578">
                    <a:moveTo>
                      <a:pt x="0" y="0"/>
                    </a:moveTo>
                    <a:lnTo>
                      <a:pt x="0" y="53578"/>
                    </a:lnTo>
                  </a:path>
                </a:pathLst>
              </a:custGeom>
              <a:noFill/>
              <a:ln w="11906">
                <a:solidFill>
                  <a:srgbClr val="A3381F"/>
                </a:solidFill>
              </a:ln>
            </p:spPr>
          </p:sp>
          <p:sp>
            <p:nvSpPr>
              <p:cNvPr id="245" name="Freeform 245"/>
              <p:cNvSpPr/>
              <p:nvPr/>
            </p:nvSpPr>
            <p:spPr>
              <a:xfrm>
                <a:off x="8385572" y="3976688"/>
                <a:ext cx="9525" cy="53578"/>
              </a:xfrm>
              <a:custGeom>
                <a:avLst/>
                <a:gdLst/>
                <a:ahLst/>
                <a:cxnLst/>
                <a:rect l="l" t="t" r="r" b="b"/>
                <a:pathLst>
                  <a:path w="9525" h="53578">
                    <a:moveTo>
                      <a:pt x="0" y="0"/>
                    </a:moveTo>
                    <a:lnTo>
                      <a:pt x="0" y="53578"/>
                    </a:lnTo>
                  </a:path>
                </a:pathLst>
              </a:custGeom>
              <a:noFill/>
              <a:ln w="11906">
                <a:solidFill>
                  <a:srgbClr val="A3381F"/>
                </a:solidFill>
              </a:ln>
            </p:spPr>
          </p:sp>
          <p:sp>
            <p:nvSpPr>
              <p:cNvPr id="246" name="Freeform 246"/>
              <p:cNvSpPr/>
              <p:nvPr/>
            </p:nvSpPr>
            <p:spPr>
              <a:xfrm>
                <a:off x="8326041" y="3988594"/>
                <a:ext cx="23812" cy="11906"/>
              </a:xfrm>
              <a:custGeom>
                <a:avLst/>
                <a:gdLst/>
                <a:ahLst/>
                <a:cxnLst/>
                <a:rect l="l" t="t" r="r" b="b"/>
                <a:pathLst>
                  <a:path w="23812" h="11906">
                    <a:moveTo>
                      <a:pt x="0" y="11906"/>
                    </a:moveTo>
                    <a:lnTo>
                      <a:pt x="23812" y="0"/>
                    </a:lnTo>
                  </a:path>
                </a:pathLst>
              </a:custGeom>
              <a:noFill/>
              <a:ln w="11906">
                <a:solidFill>
                  <a:srgbClr val="A3381F"/>
                </a:solidFill>
              </a:ln>
            </p:spPr>
          </p:sp>
          <p:sp>
            <p:nvSpPr>
              <p:cNvPr id="247" name="Freeform 247"/>
              <p:cNvSpPr/>
              <p:nvPr/>
            </p:nvSpPr>
            <p:spPr>
              <a:xfrm>
                <a:off x="8385572" y="3988594"/>
                <a:ext cx="23812" cy="11906"/>
              </a:xfrm>
              <a:custGeom>
                <a:avLst/>
                <a:gdLst/>
                <a:ahLst/>
                <a:cxnLst/>
                <a:rect l="l" t="t" r="r" b="b"/>
                <a:pathLst>
                  <a:path w="23812" h="11906">
                    <a:moveTo>
                      <a:pt x="0" y="0"/>
                    </a:moveTo>
                    <a:lnTo>
                      <a:pt x="23812" y="11906"/>
                    </a:lnTo>
                  </a:path>
                </a:pathLst>
              </a:custGeom>
              <a:noFill/>
              <a:ln w="11906">
                <a:solidFill>
                  <a:srgbClr val="A3381F"/>
                </a:solidFill>
              </a:ln>
            </p:spPr>
          </p:sp>
          <p:sp>
            <p:nvSpPr>
              <p:cNvPr id="248" name="Freeform 248"/>
              <p:cNvSpPr/>
              <p:nvPr/>
            </p:nvSpPr>
            <p:spPr>
              <a:xfrm>
                <a:off x="8349853" y="4012406"/>
                <a:ext cx="35719" cy="9525"/>
              </a:xfrm>
              <a:custGeom>
                <a:avLst/>
                <a:gdLst/>
                <a:ahLst/>
                <a:cxnLst/>
                <a:rect l="l" t="t" r="r" b="b"/>
                <a:pathLst>
                  <a:path w="35719" h="9525">
                    <a:moveTo>
                      <a:pt x="0" y="0"/>
                    </a:moveTo>
                    <a:lnTo>
                      <a:pt x="35719" y="0"/>
                    </a:lnTo>
                  </a:path>
                </a:pathLst>
              </a:custGeom>
              <a:noFill/>
              <a:ln w="11906">
                <a:solidFill>
                  <a:srgbClr val="A3381F"/>
                </a:solidFill>
              </a:ln>
            </p:spPr>
          </p:sp>
          <p:sp>
            <p:nvSpPr>
              <p:cNvPr id="249" name="Freeform 249"/>
              <p:cNvSpPr/>
              <p:nvPr/>
            </p:nvSpPr>
            <p:spPr>
              <a:xfrm>
                <a:off x="8355806" y="3952875"/>
                <a:ext cx="9525" cy="9525"/>
              </a:xfrm>
              <a:custGeom>
                <a:avLst/>
                <a:gdLst/>
                <a:ahLst/>
                <a:cxnLst/>
                <a:rect l="l" t="t" r="r" b="b"/>
                <a:pathLst>
                  <a:path w="9525" h="9525">
                    <a:moveTo>
                      <a:pt x="0" y="0"/>
                    </a:moveTo>
                    <a:lnTo>
                      <a:pt x="0" y="60"/>
                    </a:lnTo>
                  </a:path>
                </a:pathLst>
              </a:custGeom>
              <a:noFill/>
              <a:ln w="11906">
                <a:solidFill>
                  <a:srgbClr val="A3381F"/>
                </a:solidFill>
              </a:ln>
            </p:spPr>
          </p:sp>
          <p:sp>
            <p:nvSpPr>
              <p:cNvPr id="250" name="Freeform 250"/>
              <p:cNvSpPr/>
              <p:nvPr/>
            </p:nvSpPr>
            <p:spPr>
              <a:xfrm>
                <a:off x="8379619" y="3952875"/>
                <a:ext cx="9525" cy="9525"/>
              </a:xfrm>
              <a:custGeom>
                <a:avLst/>
                <a:gdLst/>
                <a:ahLst/>
                <a:cxnLst/>
                <a:rect l="l" t="t" r="r" b="b"/>
                <a:pathLst>
                  <a:path w="9525" h="9525">
                    <a:moveTo>
                      <a:pt x="0" y="0"/>
                    </a:moveTo>
                    <a:lnTo>
                      <a:pt x="0" y="60"/>
                    </a:lnTo>
                  </a:path>
                </a:pathLst>
              </a:custGeom>
              <a:noFill/>
              <a:ln w="11906">
                <a:solidFill>
                  <a:srgbClr val="A3381F"/>
                </a:solidFill>
              </a:ln>
            </p:spPr>
          </p:sp>
        </p:grpSp>
        <p:sp>
          <p:nvSpPr>
            <p:cNvPr id="252" name="TextBox 252"/>
            <p:cNvSpPr txBox="1"/>
            <p:nvPr/>
          </p:nvSpPr>
          <p:spPr>
            <a:xfrm>
              <a:off x="82074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系统预警</a:t>
              </a:r>
            </a:p>
          </p:txBody>
        </p:sp>
        <p:sp>
          <p:nvSpPr>
            <p:cNvPr id="253" name="Freeform 253"/>
            <p:cNvSpPr/>
            <p:nvPr/>
          </p:nvSpPr>
          <p:spPr>
            <a:xfrm>
              <a:off x="8803338" y="3924449"/>
              <a:ext cx="118848" cy="105352"/>
            </a:xfrm>
            <a:custGeom>
              <a:avLst/>
              <a:gdLst/>
              <a:ahLst/>
              <a:cxnLst/>
              <a:rect l="l" t="t" r="r" b="b"/>
              <a:pathLst>
                <a:path w="118848" h="105352">
                  <a:moveTo>
                    <a:pt x="6096" y="99864"/>
                  </a:moveTo>
                  <a:lnTo>
                    <a:pt x="13835" y="76646"/>
                  </a:lnTo>
                  <a:cubicBezTo>
                    <a:pt x="0" y="56186"/>
                    <a:pt x="5346" y="29783"/>
                    <a:pt x="26337" y="14889"/>
                  </a:cubicBezTo>
                  <a:cubicBezTo>
                    <a:pt x="47327" y="0"/>
                    <a:pt x="77474" y="1220"/>
                    <a:pt x="96851" y="17746"/>
                  </a:cubicBezTo>
                  <a:cubicBezTo>
                    <a:pt x="116229" y="34278"/>
                    <a:pt x="118848" y="61002"/>
                    <a:pt x="102977" y="80260"/>
                  </a:cubicBezTo>
                  <a:cubicBezTo>
                    <a:pt x="87106" y="99518"/>
                    <a:pt x="57644" y="105352"/>
                    <a:pt x="34076" y="93911"/>
                  </a:cubicBezTo>
                  <a:lnTo>
                    <a:pt x="6096" y="99864"/>
                  </a:lnTo>
                </a:path>
              </a:pathLst>
            </a:custGeom>
            <a:noFill/>
            <a:ln w="11906">
              <a:solidFill>
                <a:srgbClr val="C26D5E"/>
              </a:solidFill>
            </a:ln>
          </p:spPr>
        </p:sp>
        <p:sp>
          <p:nvSpPr>
            <p:cNvPr id="254" name="TextBox 254"/>
            <p:cNvSpPr txBox="1"/>
            <p:nvPr/>
          </p:nvSpPr>
          <p:spPr>
            <a:xfrm>
              <a:off x="8681982" y="4168378"/>
              <a:ext cx="352537"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短信/电话</a:t>
              </a:r>
            </a:p>
          </p:txBody>
        </p:sp>
        <p:grpSp>
          <p:nvGrpSpPr>
            <p:cNvPr id="261" name="Group 261"/>
            <p:cNvGrpSpPr/>
            <p:nvPr/>
          </p:nvGrpSpPr>
          <p:grpSpPr>
            <a:xfrm>
              <a:off x="9304734" y="3923109"/>
              <a:ext cx="107156" cy="107156"/>
              <a:chOff x="9304734" y="3923109"/>
              <a:chExt cx="107156" cy="107156"/>
            </a:xfrm>
          </p:grpSpPr>
          <p:sp>
            <p:nvSpPr>
              <p:cNvPr id="255" name="Freeform 255"/>
              <p:cNvSpPr/>
              <p:nvPr/>
            </p:nvSpPr>
            <p:spPr>
              <a:xfrm>
                <a:off x="9346406" y="397073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5E3A33"/>
                </a:solidFill>
              </a:ln>
            </p:spPr>
          </p:sp>
          <p:sp>
            <p:nvSpPr>
              <p:cNvPr id="256" name="Freeform 256"/>
              <p:cNvSpPr/>
              <p:nvPr/>
            </p:nvSpPr>
            <p:spPr>
              <a:xfrm>
                <a:off x="9334500" y="4012406"/>
                <a:ext cx="47625" cy="17859"/>
              </a:xfrm>
              <a:custGeom>
                <a:avLst/>
                <a:gdLst/>
                <a:ahLst/>
                <a:cxnLst/>
                <a:rect l="l" t="t" r="r" b="b"/>
                <a:pathLst>
                  <a:path w="47625" h="17859">
                    <a:moveTo>
                      <a:pt x="0" y="17859"/>
                    </a:moveTo>
                    <a:lnTo>
                      <a:pt x="0" y="11906"/>
                    </a:lnTo>
                    <a:cubicBezTo>
                      <a:pt x="0" y="5331"/>
                      <a:pt x="5331" y="0"/>
                      <a:pt x="11906" y="0"/>
                    </a:cubicBezTo>
                    <a:lnTo>
                      <a:pt x="35719" y="0"/>
                    </a:lnTo>
                    <a:cubicBezTo>
                      <a:pt x="42294" y="0"/>
                      <a:pt x="47625" y="5331"/>
                      <a:pt x="47625" y="11906"/>
                    </a:cubicBezTo>
                    <a:lnTo>
                      <a:pt x="47625" y="17859"/>
                    </a:lnTo>
                  </a:path>
                </a:pathLst>
              </a:custGeom>
              <a:noFill/>
              <a:ln w="11906">
                <a:solidFill>
                  <a:srgbClr val="5E3A33"/>
                </a:solidFill>
              </a:ln>
            </p:spPr>
          </p:sp>
          <p:sp>
            <p:nvSpPr>
              <p:cNvPr id="257" name="Freeform 257"/>
              <p:cNvSpPr/>
              <p:nvPr/>
            </p:nvSpPr>
            <p:spPr>
              <a:xfrm>
                <a:off x="9376172"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5E3A33"/>
                </a:solidFill>
              </a:ln>
            </p:spPr>
          </p:sp>
          <p:sp>
            <p:nvSpPr>
              <p:cNvPr id="258" name="Freeform 258"/>
              <p:cNvSpPr/>
              <p:nvPr/>
            </p:nvSpPr>
            <p:spPr>
              <a:xfrm>
                <a:off x="9388078" y="3964781"/>
                <a:ext cx="23812" cy="17859"/>
              </a:xfrm>
              <a:custGeom>
                <a:avLst/>
                <a:gdLst/>
                <a:ahLst/>
                <a:cxnLst/>
                <a:rect l="l" t="t" r="r" b="b"/>
                <a:pathLst>
                  <a:path w="23812" h="17859">
                    <a:moveTo>
                      <a:pt x="0" y="0"/>
                    </a:moveTo>
                    <a:lnTo>
                      <a:pt x="11906" y="0"/>
                    </a:lnTo>
                    <a:cubicBezTo>
                      <a:pt x="18482" y="0"/>
                      <a:pt x="23812" y="5331"/>
                      <a:pt x="23812" y="11906"/>
                    </a:cubicBezTo>
                    <a:lnTo>
                      <a:pt x="23812" y="17859"/>
                    </a:lnTo>
                  </a:path>
                </a:pathLst>
              </a:custGeom>
              <a:noFill/>
              <a:ln w="11906">
                <a:solidFill>
                  <a:srgbClr val="5E3A33"/>
                </a:solidFill>
              </a:ln>
            </p:spPr>
          </p:sp>
          <p:sp>
            <p:nvSpPr>
              <p:cNvPr id="259" name="Freeform 259"/>
              <p:cNvSpPr/>
              <p:nvPr/>
            </p:nvSpPr>
            <p:spPr>
              <a:xfrm>
                <a:off x="9316641"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5E3A33"/>
                </a:solidFill>
              </a:ln>
            </p:spPr>
          </p:sp>
          <p:sp>
            <p:nvSpPr>
              <p:cNvPr id="260" name="Freeform 260"/>
              <p:cNvSpPr/>
              <p:nvPr/>
            </p:nvSpPr>
            <p:spPr>
              <a:xfrm>
                <a:off x="9304734" y="3964781"/>
                <a:ext cx="23812" cy="17859"/>
              </a:xfrm>
              <a:custGeom>
                <a:avLst/>
                <a:gdLst/>
                <a:ahLst/>
                <a:cxnLst/>
                <a:rect l="l" t="t" r="r" b="b"/>
                <a:pathLst>
                  <a:path w="23812" h="17859">
                    <a:moveTo>
                      <a:pt x="0" y="17859"/>
                    </a:moveTo>
                    <a:lnTo>
                      <a:pt x="0" y="11906"/>
                    </a:lnTo>
                    <a:cubicBezTo>
                      <a:pt x="0" y="5331"/>
                      <a:pt x="5331" y="0"/>
                      <a:pt x="11906" y="0"/>
                    </a:cubicBezTo>
                    <a:lnTo>
                      <a:pt x="23812" y="0"/>
                    </a:lnTo>
                  </a:path>
                </a:pathLst>
              </a:custGeom>
              <a:noFill/>
              <a:ln w="11906">
                <a:solidFill>
                  <a:srgbClr val="5E3A33"/>
                </a:solidFill>
              </a:ln>
            </p:spPr>
          </p:sp>
        </p:grpSp>
        <p:sp>
          <p:nvSpPr>
            <p:cNvPr id="262" name="TextBox 262"/>
            <p:cNvSpPr txBox="1"/>
            <p:nvPr/>
          </p:nvSpPr>
          <p:spPr>
            <a:xfrm>
              <a:off x="91980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客户经理</a:t>
              </a:r>
            </a:p>
          </p:txBody>
        </p:sp>
        <p:sp>
          <p:nvSpPr>
            <p:cNvPr id="263" name="Rectangle 263"/>
            <p:cNvSpPr/>
            <p:nvPr/>
          </p:nvSpPr>
          <p:spPr>
            <a:xfrm>
              <a:off x="9848850" y="3771900"/>
              <a:ext cx="1600200" cy="647700"/>
            </a:xfrm>
            <a:prstGeom prst="roundRect">
              <a:avLst>
                <a:gd name="adj" fmla="val 8824"/>
              </a:avLst>
            </a:prstGeom>
            <a:solidFill>
              <a:srgbClr val="FFFFFF"/>
            </a:solidFill>
            <a:ln w="9525">
              <a:solidFill>
                <a:srgbClr val="E6D9C0"/>
              </a:solidFill>
            </a:ln>
          </p:spPr>
        </p:sp>
        <p:grpSp>
          <p:nvGrpSpPr>
            <p:cNvPr id="270" name="Group 270"/>
            <p:cNvGrpSpPr/>
            <p:nvPr/>
          </p:nvGrpSpPr>
          <p:grpSpPr>
            <a:xfrm>
              <a:off x="10028634" y="3923109"/>
              <a:ext cx="107156" cy="107156"/>
              <a:chOff x="10028634" y="3923109"/>
              <a:chExt cx="107156" cy="107156"/>
            </a:xfrm>
          </p:grpSpPr>
          <p:sp>
            <p:nvSpPr>
              <p:cNvPr id="264" name="Freeform 264"/>
              <p:cNvSpPr/>
              <p:nvPr/>
            </p:nvSpPr>
            <p:spPr>
              <a:xfrm>
                <a:off x="10070306" y="397073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3381F"/>
                </a:solidFill>
              </a:ln>
            </p:spPr>
          </p:sp>
          <p:sp>
            <p:nvSpPr>
              <p:cNvPr id="265" name="Freeform 265"/>
              <p:cNvSpPr/>
              <p:nvPr/>
            </p:nvSpPr>
            <p:spPr>
              <a:xfrm>
                <a:off x="10058400" y="4012406"/>
                <a:ext cx="47625" cy="17859"/>
              </a:xfrm>
              <a:custGeom>
                <a:avLst/>
                <a:gdLst/>
                <a:ahLst/>
                <a:cxnLst/>
                <a:rect l="l" t="t" r="r" b="b"/>
                <a:pathLst>
                  <a:path w="47625" h="17859">
                    <a:moveTo>
                      <a:pt x="0" y="17859"/>
                    </a:moveTo>
                    <a:lnTo>
                      <a:pt x="0" y="11906"/>
                    </a:lnTo>
                    <a:cubicBezTo>
                      <a:pt x="0" y="5331"/>
                      <a:pt x="5331" y="0"/>
                      <a:pt x="11906" y="0"/>
                    </a:cubicBezTo>
                    <a:lnTo>
                      <a:pt x="35719" y="0"/>
                    </a:lnTo>
                    <a:cubicBezTo>
                      <a:pt x="42294" y="0"/>
                      <a:pt x="47625" y="5331"/>
                      <a:pt x="47625" y="11906"/>
                    </a:cubicBezTo>
                    <a:lnTo>
                      <a:pt x="47625" y="17859"/>
                    </a:lnTo>
                  </a:path>
                </a:pathLst>
              </a:custGeom>
              <a:noFill/>
              <a:ln w="11906">
                <a:solidFill>
                  <a:srgbClr val="A3381F"/>
                </a:solidFill>
              </a:ln>
            </p:spPr>
          </p:sp>
          <p:sp>
            <p:nvSpPr>
              <p:cNvPr id="266" name="Freeform 266"/>
              <p:cNvSpPr/>
              <p:nvPr/>
            </p:nvSpPr>
            <p:spPr>
              <a:xfrm>
                <a:off x="10100072"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3381F"/>
                </a:solidFill>
              </a:ln>
            </p:spPr>
          </p:sp>
          <p:sp>
            <p:nvSpPr>
              <p:cNvPr id="267" name="Freeform 267"/>
              <p:cNvSpPr/>
              <p:nvPr/>
            </p:nvSpPr>
            <p:spPr>
              <a:xfrm>
                <a:off x="10111978" y="3964781"/>
                <a:ext cx="23812" cy="17859"/>
              </a:xfrm>
              <a:custGeom>
                <a:avLst/>
                <a:gdLst/>
                <a:ahLst/>
                <a:cxnLst/>
                <a:rect l="l" t="t" r="r" b="b"/>
                <a:pathLst>
                  <a:path w="23812" h="17859">
                    <a:moveTo>
                      <a:pt x="0" y="0"/>
                    </a:moveTo>
                    <a:lnTo>
                      <a:pt x="11906" y="0"/>
                    </a:lnTo>
                    <a:cubicBezTo>
                      <a:pt x="18482" y="0"/>
                      <a:pt x="23812" y="5331"/>
                      <a:pt x="23812" y="11906"/>
                    </a:cubicBezTo>
                    <a:lnTo>
                      <a:pt x="23812" y="17859"/>
                    </a:lnTo>
                  </a:path>
                </a:pathLst>
              </a:custGeom>
              <a:noFill/>
              <a:ln w="11906">
                <a:solidFill>
                  <a:srgbClr val="A3381F"/>
                </a:solidFill>
              </a:ln>
            </p:spPr>
          </p:sp>
          <p:sp>
            <p:nvSpPr>
              <p:cNvPr id="268" name="Freeform 268"/>
              <p:cNvSpPr/>
              <p:nvPr/>
            </p:nvSpPr>
            <p:spPr>
              <a:xfrm>
                <a:off x="10040541" y="392310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3381F"/>
                </a:solidFill>
              </a:ln>
            </p:spPr>
          </p:sp>
          <p:sp>
            <p:nvSpPr>
              <p:cNvPr id="269" name="Freeform 269"/>
              <p:cNvSpPr/>
              <p:nvPr/>
            </p:nvSpPr>
            <p:spPr>
              <a:xfrm>
                <a:off x="10028634" y="3964781"/>
                <a:ext cx="23812" cy="17859"/>
              </a:xfrm>
              <a:custGeom>
                <a:avLst/>
                <a:gdLst/>
                <a:ahLst/>
                <a:cxnLst/>
                <a:rect l="l" t="t" r="r" b="b"/>
                <a:pathLst>
                  <a:path w="23812" h="17859">
                    <a:moveTo>
                      <a:pt x="0" y="17859"/>
                    </a:moveTo>
                    <a:lnTo>
                      <a:pt x="0" y="11906"/>
                    </a:lnTo>
                    <a:cubicBezTo>
                      <a:pt x="0" y="5331"/>
                      <a:pt x="5331" y="0"/>
                      <a:pt x="11906" y="0"/>
                    </a:cubicBezTo>
                    <a:lnTo>
                      <a:pt x="23812" y="0"/>
                    </a:lnTo>
                  </a:path>
                </a:pathLst>
              </a:custGeom>
              <a:noFill/>
              <a:ln w="11906">
                <a:solidFill>
                  <a:srgbClr val="A3381F"/>
                </a:solidFill>
              </a:ln>
            </p:spPr>
          </p:sp>
        </p:grpSp>
        <p:sp>
          <p:nvSpPr>
            <p:cNvPr id="271" name="TextBox 271"/>
            <p:cNvSpPr txBox="1"/>
            <p:nvPr/>
          </p:nvSpPr>
          <p:spPr>
            <a:xfrm>
              <a:off x="99219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客户经理</a:t>
              </a:r>
            </a:p>
          </p:txBody>
        </p:sp>
        <p:sp>
          <p:nvSpPr>
            <p:cNvPr id="272" name="Freeform 272"/>
            <p:cNvSpPr/>
            <p:nvPr/>
          </p:nvSpPr>
          <p:spPr>
            <a:xfrm>
              <a:off x="10517838" y="3924449"/>
              <a:ext cx="118848" cy="105352"/>
            </a:xfrm>
            <a:custGeom>
              <a:avLst/>
              <a:gdLst/>
              <a:ahLst/>
              <a:cxnLst/>
              <a:rect l="l" t="t" r="r" b="b"/>
              <a:pathLst>
                <a:path w="118848" h="105352">
                  <a:moveTo>
                    <a:pt x="6096" y="99864"/>
                  </a:moveTo>
                  <a:lnTo>
                    <a:pt x="13835" y="76646"/>
                  </a:lnTo>
                  <a:cubicBezTo>
                    <a:pt x="0" y="56186"/>
                    <a:pt x="5346" y="29783"/>
                    <a:pt x="26337" y="14889"/>
                  </a:cubicBezTo>
                  <a:cubicBezTo>
                    <a:pt x="47327" y="0"/>
                    <a:pt x="77474" y="1220"/>
                    <a:pt x="96851" y="17746"/>
                  </a:cubicBezTo>
                  <a:cubicBezTo>
                    <a:pt x="116229" y="34278"/>
                    <a:pt x="118848" y="61002"/>
                    <a:pt x="102977" y="80260"/>
                  </a:cubicBezTo>
                  <a:cubicBezTo>
                    <a:pt x="87106" y="99518"/>
                    <a:pt x="57644" y="105352"/>
                    <a:pt x="34076" y="93911"/>
                  </a:cubicBezTo>
                  <a:lnTo>
                    <a:pt x="6096" y="99864"/>
                  </a:lnTo>
                </a:path>
              </a:pathLst>
            </a:custGeom>
            <a:noFill/>
            <a:ln w="11906">
              <a:solidFill>
                <a:srgbClr val="C26D5E"/>
              </a:solidFill>
            </a:ln>
          </p:spPr>
        </p:sp>
        <p:sp>
          <p:nvSpPr>
            <p:cNvPr id="273" name="TextBox 273"/>
            <p:cNvSpPr txBox="1"/>
            <p:nvPr/>
          </p:nvSpPr>
          <p:spPr>
            <a:xfrm>
              <a:off x="104172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电话外呼</a:t>
              </a:r>
            </a:p>
          </p:txBody>
        </p:sp>
        <p:grpSp>
          <p:nvGrpSpPr>
            <p:cNvPr id="277" name="Group 277"/>
            <p:cNvGrpSpPr/>
            <p:nvPr/>
          </p:nvGrpSpPr>
          <p:grpSpPr>
            <a:xfrm>
              <a:off x="11021628" y="3923109"/>
              <a:ext cx="102357" cy="106502"/>
              <a:chOff x="11021628" y="3923109"/>
              <a:chExt cx="102357" cy="106502"/>
            </a:xfrm>
          </p:grpSpPr>
          <p:sp>
            <p:nvSpPr>
              <p:cNvPr id="274" name="Freeform 274"/>
              <p:cNvSpPr/>
              <p:nvPr/>
            </p:nvSpPr>
            <p:spPr>
              <a:xfrm>
                <a:off x="11037094" y="3923109"/>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1906">
                <a:solidFill>
                  <a:srgbClr val="5E3A33"/>
                </a:solidFill>
              </a:ln>
            </p:spPr>
          </p:sp>
          <p:sp>
            <p:nvSpPr>
              <p:cNvPr id="275" name="Freeform 275"/>
              <p:cNvSpPr/>
              <p:nvPr/>
            </p:nvSpPr>
            <p:spPr>
              <a:xfrm>
                <a:off x="11072812" y="3976688"/>
                <a:ext cx="51173" cy="52923"/>
              </a:xfrm>
              <a:custGeom>
                <a:avLst/>
                <a:gdLst/>
                <a:ahLst/>
                <a:cxnLst/>
                <a:rect l="l" t="t" r="r" b="b"/>
                <a:pathLst>
                  <a:path w="51173" h="52923">
                    <a:moveTo>
                      <a:pt x="0" y="17859"/>
                    </a:moveTo>
                    <a:lnTo>
                      <a:pt x="20241" y="52923"/>
                    </a:lnTo>
                    <a:lnTo>
                      <a:pt x="29754" y="33677"/>
                    </a:lnTo>
                    <a:lnTo>
                      <a:pt x="51173" y="35058"/>
                    </a:lnTo>
                    <a:lnTo>
                      <a:pt x="30932" y="0"/>
                    </a:lnTo>
                  </a:path>
                </a:pathLst>
              </a:custGeom>
              <a:noFill/>
              <a:ln w="11906">
                <a:solidFill>
                  <a:srgbClr val="5E3A33"/>
                </a:solidFill>
              </a:ln>
            </p:spPr>
          </p:sp>
          <p:sp>
            <p:nvSpPr>
              <p:cNvPr id="276" name="Freeform 276"/>
              <p:cNvSpPr/>
              <p:nvPr/>
            </p:nvSpPr>
            <p:spPr>
              <a:xfrm>
                <a:off x="11021628" y="3976688"/>
                <a:ext cx="51173" cy="52917"/>
              </a:xfrm>
              <a:custGeom>
                <a:avLst/>
                <a:gdLst/>
                <a:ahLst/>
                <a:cxnLst/>
                <a:rect l="l" t="t" r="r" b="b"/>
                <a:pathLst>
                  <a:path w="51173" h="52917">
                    <a:moveTo>
                      <a:pt x="20241" y="0"/>
                    </a:moveTo>
                    <a:lnTo>
                      <a:pt x="0" y="35064"/>
                    </a:lnTo>
                    <a:lnTo>
                      <a:pt x="21419" y="33677"/>
                    </a:lnTo>
                    <a:lnTo>
                      <a:pt x="30932" y="52917"/>
                    </a:lnTo>
                    <a:lnTo>
                      <a:pt x="51173" y="17859"/>
                    </a:lnTo>
                  </a:path>
                </a:pathLst>
              </a:custGeom>
              <a:noFill/>
              <a:ln w="11906">
                <a:solidFill>
                  <a:srgbClr val="5E3A33"/>
                </a:solidFill>
              </a:ln>
            </p:spPr>
          </p:sp>
        </p:grpSp>
        <p:sp>
          <p:nvSpPr>
            <p:cNvPr id="278" name="TextBox 278"/>
            <p:cNvSpPr txBox="1"/>
            <p:nvPr/>
          </p:nvSpPr>
          <p:spPr>
            <a:xfrm>
              <a:off x="10912513" y="4168378"/>
              <a:ext cx="311074" cy="111919"/>
            </a:xfrm>
            <a:prstGeom prst="rect">
              <a:avLst/>
            </a:prstGeom>
            <a:noFill/>
            <a:ln>
              <a:noFill/>
            </a:ln>
          </p:spPr>
          <p:txBody>
            <a:bodyPr wrap="none" lIns="0" tIns="0" rIns="0" bIns="0" anchor="t" anchorCtr="0">
              <a:spAutoFit/>
            </a:bodyPr>
            <a:lstStyle/>
            <a:p>
              <a:pPr algn="ctr"/>
              <a:r>
                <a:rPr lang="zh-CN" sz="560" dirty="0">
                  <a:solidFill>
                    <a:srgbClr val="4A4A4A"/>
                  </a:solidFill>
                  <a:latin typeface="+mn-lt"/>
                  <a:ea typeface="+mn-ea"/>
                  <a:cs typeface="+mn-cs"/>
                </a:rPr>
                <a:t>专属活动</a:t>
              </a:r>
            </a:p>
          </p:txBody>
        </p:sp>
      </p:grpSp>
      <p:grpSp>
        <p:nvGrpSpPr>
          <p:cNvPr id="304" name="matrix-row-owner"/>
          <p:cNvGrpSpPr/>
          <p:nvPr/>
        </p:nvGrpSpPr>
        <p:grpSpPr>
          <a:xfrm>
            <a:off x="381000" y="4457700"/>
            <a:ext cx="11068050" cy="647700"/>
            <a:chOff x="381000" y="4457700"/>
            <a:chExt cx="11068050" cy="647700"/>
          </a:xfrm>
        </p:grpSpPr>
        <p:sp>
          <p:nvSpPr>
            <p:cNvPr id="280" name="Rectangle 280"/>
            <p:cNvSpPr/>
            <p:nvPr/>
          </p:nvSpPr>
          <p:spPr>
            <a:xfrm>
              <a:off x="381000" y="4457700"/>
              <a:ext cx="838200" cy="647700"/>
            </a:xfrm>
            <a:prstGeom prst="roundRect">
              <a:avLst>
                <a:gd name="adj" fmla="val 11765"/>
              </a:avLst>
            </a:prstGeom>
            <a:solidFill>
              <a:srgbClr val="5E3A33"/>
            </a:solidFill>
            <a:ln>
              <a:noFill/>
            </a:ln>
          </p:spPr>
        </p:sp>
        <p:grpSp>
          <p:nvGrpSpPr>
            <p:cNvPr id="285" name="Group 285"/>
            <p:cNvGrpSpPr/>
            <p:nvPr/>
          </p:nvGrpSpPr>
          <p:grpSpPr>
            <a:xfrm>
              <a:off x="728662" y="4576762"/>
              <a:ext cx="142875" cy="134937"/>
              <a:chOff x="728662" y="4576762"/>
              <a:chExt cx="142875" cy="134937"/>
            </a:xfrm>
          </p:grpSpPr>
          <p:sp>
            <p:nvSpPr>
              <p:cNvPr id="281" name="Freeform 281"/>
              <p:cNvSpPr/>
              <p:nvPr/>
            </p:nvSpPr>
            <p:spPr>
              <a:xfrm>
                <a:off x="728662" y="4608512"/>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FFFFFF"/>
                </a:solidFill>
              </a:ln>
            </p:spPr>
          </p:sp>
          <p:sp>
            <p:nvSpPr>
              <p:cNvPr id="282" name="Freeform 282"/>
              <p:cNvSpPr/>
              <p:nvPr/>
            </p:nvSpPr>
            <p:spPr>
              <a:xfrm>
                <a:off x="768350" y="4576762"/>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FFFFFF"/>
                </a:solidFill>
              </a:ln>
            </p:spPr>
          </p:sp>
          <p:sp>
            <p:nvSpPr>
              <p:cNvPr id="283" name="Freeform 283"/>
              <p:cNvSpPr/>
              <p:nvPr/>
            </p:nvSpPr>
            <p:spPr>
              <a:xfrm>
                <a:off x="800100" y="4648200"/>
                <a:ext cx="9525" cy="9525"/>
              </a:xfrm>
              <a:custGeom>
                <a:avLst/>
                <a:gdLst/>
                <a:ahLst/>
                <a:cxnLst/>
                <a:rect l="l" t="t" r="r" b="b"/>
                <a:pathLst>
                  <a:path w="9525" h="9525">
                    <a:moveTo>
                      <a:pt x="0" y="0"/>
                    </a:moveTo>
                    <a:lnTo>
                      <a:pt x="0" y="79"/>
                    </a:lnTo>
                  </a:path>
                </a:pathLst>
              </a:custGeom>
              <a:noFill/>
              <a:ln w="15875">
                <a:solidFill>
                  <a:srgbClr val="FFFFFF"/>
                </a:solidFill>
              </a:ln>
            </p:spPr>
          </p:sp>
          <p:sp>
            <p:nvSpPr>
              <p:cNvPr id="284" name="Freeform 284"/>
              <p:cNvSpPr/>
              <p:nvPr/>
            </p:nvSpPr>
            <p:spPr>
              <a:xfrm>
                <a:off x="728662" y="4656137"/>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FFFFFF"/>
                </a:solidFill>
              </a:ln>
            </p:spPr>
          </p:sp>
        </p:grpSp>
        <p:sp>
          <p:nvSpPr>
            <p:cNvPr id="286" name="TextBox 286"/>
            <p:cNvSpPr txBox="1"/>
            <p:nvPr/>
          </p:nvSpPr>
          <p:spPr>
            <a:xfrm>
              <a:off x="563791" y="48598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责任主体</a:t>
              </a:r>
            </a:p>
          </p:txBody>
        </p:sp>
        <p:sp>
          <p:nvSpPr>
            <p:cNvPr id="287" name="Rectangle 287"/>
            <p:cNvSpPr/>
            <p:nvPr/>
          </p:nvSpPr>
          <p:spPr>
            <a:xfrm>
              <a:off x="1276350" y="4457700"/>
              <a:ext cx="1600200" cy="647700"/>
            </a:xfrm>
            <a:prstGeom prst="roundRect">
              <a:avLst>
                <a:gd name="adj" fmla="val 8824"/>
              </a:avLst>
            </a:prstGeom>
            <a:solidFill>
              <a:srgbClr val="FFFFFF"/>
            </a:solidFill>
            <a:ln w="9525">
              <a:solidFill>
                <a:srgbClr val="E6D9C0"/>
              </a:solidFill>
            </a:ln>
          </p:spPr>
        </p:sp>
        <p:sp>
          <p:nvSpPr>
            <p:cNvPr id="288" name="TextBox 288"/>
            <p:cNvSpPr txBox="1"/>
            <p:nvPr/>
          </p:nvSpPr>
          <p:spPr>
            <a:xfrm>
              <a:off x="1366838" y="4651534"/>
              <a:ext cx="609122"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网点/渠道团队</a:t>
              </a:r>
            </a:p>
          </p:txBody>
        </p:sp>
        <p:sp>
          <p:nvSpPr>
            <p:cNvPr id="289" name="TextBox 289"/>
            <p:cNvSpPr txBox="1"/>
            <p:nvPr/>
          </p:nvSpPr>
          <p:spPr>
            <a:xfrm>
              <a:off x="1366838" y="4822984"/>
              <a:ext cx="558775"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市场运营团队</a:t>
              </a:r>
            </a:p>
          </p:txBody>
        </p:sp>
        <p:sp>
          <p:nvSpPr>
            <p:cNvPr id="290" name="Rectangle 290"/>
            <p:cNvSpPr/>
            <p:nvPr/>
          </p:nvSpPr>
          <p:spPr>
            <a:xfrm>
              <a:off x="2990850" y="4457700"/>
              <a:ext cx="1600200" cy="647700"/>
            </a:xfrm>
            <a:prstGeom prst="roundRect">
              <a:avLst>
                <a:gd name="adj" fmla="val 8824"/>
              </a:avLst>
            </a:prstGeom>
            <a:solidFill>
              <a:srgbClr val="FFFFFF"/>
            </a:solidFill>
            <a:ln w="9525">
              <a:solidFill>
                <a:srgbClr val="E6D9C0"/>
              </a:solidFill>
            </a:ln>
          </p:spPr>
        </p:sp>
        <p:sp>
          <p:nvSpPr>
            <p:cNvPr id="291" name="TextBox 291"/>
            <p:cNvSpPr txBox="1"/>
            <p:nvPr/>
          </p:nvSpPr>
          <p:spPr>
            <a:xfrm>
              <a:off x="3081338" y="4651534"/>
              <a:ext cx="609122"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网点/渠道团队</a:t>
              </a:r>
            </a:p>
          </p:txBody>
        </p:sp>
        <p:sp>
          <p:nvSpPr>
            <p:cNvPr id="292" name="TextBox 292"/>
            <p:cNvSpPr txBox="1"/>
            <p:nvPr/>
          </p:nvSpPr>
          <p:spPr>
            <a:xfrm>
              <a:off x="3081338" y="4822984"/>
              <a:ext cx="558775"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数字运营团队</a:t>
              </a:r>
            </a:p>
          </p:txBody>
        </p:sp>
        <p:sp>
          <p:nvSpPr>
            <p:cNvPr id="293" name="Rectangle 293"/>
            <p:cNvSpPr/>
            <p:nvPr/>
          </p:nvSpPr>
          <p:spPr>
            <a:xfrm>
              <a:off x="4705350" y="4457700"/>
              <a:ext cx="1600200" cy="647700"/>
            </a:xfrm>
            <a:prstGeom prst="roundRect">
              <a:avLst>
                <a:gd name="adj" fmla="val 8824"/>
              </a:avLst>
            </a:prstGeom>
            <a:solidFill>
              <a:srgbClr val="FFFFFF"/>
            </a:solidFill>
            <a:ln w="9525">
              <a:solidFill>
                <a:srgbClr val="E6D9C0"/>
              </a:solidFill>
            </a:ln>
          </p:spPr>
        </p:sp>
        <p:sp>
          <p:nvSpPr>
            <p:cNvPr id="294" name="TextBox 294"/>
            <p:cNvSpPr txBox="1"/>
            <p:nvPr/>
          </p:nvSpPr>
          <p:spPr>
            <a:xfrm>
              <a:off x="4795838" y="4651534"/>
              <a:ext cx="375691"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客户经理</a:t>
              </a:r>
            </a:p>
          </p:txBody>
        </p:sp>
        <p:sp>
          <p:nvSpPr>
            <p:cNvPr id="295" name="TextBox 295"/>
            <p:cNvSpPr txBox="1"/>
            <p:nvPr/>
          </p:nvSpPr>
          <p:spPr>
            <a:xfrm>
              <a:off x="4795838" y="4822984"/>
              <a:ext cx="375691"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产品经理</a:t>
              </a:r>
            </a:p>
          </p:txBody>
        </p:sp>
        <p:sp>
          <p:nvSpPr>
            <p:cNvPr id="296" name="Rectangle 296"/>
            <p:cNvSpPr/>
            <p:nvPr/>
          </p:nvSpPr>
          <p:spPr>
            <a:xfrm>
              <a:off x="6419850" y="4457700"/>
              <a:ext cx="1600200" cy="647700"/>
            </a:xfrm>
            <a:prstGeom prst="roundRect">
              <a:avLst>
                <a:gd name="adj" fmla="val 8824"/>
              </a:avLst>
            </a:prstGeom>
            <a:solidFill>
              <a:srgbClr val="FFFFFF"/>
            </a:solidFill>
            <a:ln w="9525">
              <a:solidFill>
                <a:srgbClr val="E6D9C0"/>
              </a:solidFill>
            </a:ln>
          </p:spPr>
        </p:sp>
        <p:sp>
          <p:nvSpPr>
            <p:cNvPr id="297" name="TextBox 297"/>
            <p:cNvSpPr txBox="1"/>
            <p:nvPr/>
          </p:nvSpPr>
          <p:spPr>
            <a:xfrm>
              <a:off x="6510338" y="4737259"/>
              <a:ext cx="558775"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财富顾问团队</a:t>
              </a:r>
            </a:p>
          </p:txBody>
        </p:sp>
        <p:sp>
          <p:nvSpPr>
            <p:cNvPr id="298" name="Rectangle 298"/>
            <p:cNvSpPr/>
            <p:nvPr/>
          </p:nvSpPr>
          <p:spPr>
            <a:xfrm>
              <a:off x="8134350" y="4457700"/>
              <a:ext cx="1600200" cy="647700"/>
            </a:xfrm>
            <a:prstGeom prst="roundRect">
              <a:avLst>
                <a:gd name="adj" fmla="val 8824"/>
              </a:avLst>
            </a:prstGeom>
            <a:solidFill>
              <a:srgbClr val="FFFFFF"/>
            </a:solidFill>
            <a:ln w="9525">
              <a:solidFill>
                <a:srgbClr val="E6D9C0"/>
              </a:solidFill>
            </a:ln>
          </p:spPr>
        </p:sp>
        <p:sp>
          <p:nvSpPr>
            <p:cNvPr id="299" name="TextBox 299"/>
            <p:cNvSpPr txBox="1"/>
            <p:nvPr/>
          </p:nvSpPr>
          <p:spPr>
            <a:xfrm>
              <a:off x="8224838" y="4651534"/>
              <a:ext cx="558775"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风险管理团队</a:t>
              </a:r>
            </a:p>
          </p:txBody>
        </p:sp>
        <p:sp>
          <p:nvSpPr>
            <p:cNvPr id="300" name="TextBox 300"/>
            <p:cNvSpPr txBox="1"/>
            <p:nvPr/>
          </p:nvSpPr>
          <p:spPr>
            <a:xfrm>
              <a:off x="8224838" y="4822984"/>
              <a:ext cx="375691"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客户经理</a:t>
              </a:r>
            </a:p>
          </p:txBody>
        </p:sp>
        <p:sp>
          <p:nvSpPr>
            <p:cNvPr id="301" name="Rectangle 301"/>
            <p:cNvSpPr/>
            <p:nvPr/>
          </p:nvSpPr>
          <p:spPr>
            <a:xfrm>
              <a:off x="9848850" y="4457700"/>
              <a:ext cx="1600200" cy="647700"/>
            </a:xfrm>
            <a:prstGeom prst="roundRect">
              <a:avLst>
                <a:gd name="adj" fmla="val 8824"/>
              </a:avLst>
            </a:prstGeom>
            <a:solidFill>
              <a:srgbClr val="FFFFFF"/>
            </a:solidFill>
            <a:ln w="9525">
              <a:solidFill>
                <a:srgbClr val="E6D9C0"/>
              </a:solidFill>
            </a:ln>
          </p:spPr>
        </p:sp>
        <p:sp>
          <p:nvSpPr>
            <p:cNvPr id="302" name="TextBox 302"/>
            <p:cNvSpPr txBox="1"/>
            <p:nvPr/>
          </p:nvSpPr>
          <p:spPr>
            <a:xfrm>
              <a:off x="9939338" y="4651534"/>
              <a:ext cx="375691"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客户经理</a:t>
              </a:r>
            </a:p>
          </p:txBody>
        </p:sp>
        <p:sp>
          <p:nvSpPr>
            <p:cNvPr id="303" name="TextBox 303"/>
            <p:cNvSpPr txBox="1"/>
            <p:nvPr/>
          </p:nvSpPr>
          <p:spPr>
            <a:xfrm>
              <a:off x="9939338" y="4822984"/>
              <a:ext cx="558775" cy="133350"/>
            </a:xfrm>
            <a:prstGeom prst="rect">
              <a:avLst/>
            </a:prstGeom>
            <a:noFill/>
            <a:ln>
              <a:noFill/>
            </a:ln>
          </p:spPr>
          <p:txBody>
            <a:bodyPr wrap="none" lIns="0" tIns="0" rIns="0" bIns="0" anchor="t" anchorCtr="0">
              <a:spAutoFit/>
            </a:bodyPr>
            <a:lstStyle/>
            <a:p>
              <a:pPr algn="l"/>
              <a:r>
                <a:rPr lang="zh-CN" sz="680" dirty="0">
                  <a:solidFill>
                    <a:srgbClr val="5E3A33"/>
                  </a:solidFill>
                  <a:latin typeface="+mn-lt"/>
                  <a:ea typeface="+mn-ea"/>
                  <a:cs typeface="+mn-cs"/>
                </a:rPr>
                <a:t>运营关怀团队</a:t>
              </a:r>
            </a:p>
          </p:txBody>
        </p:sp>
      </p:grpSp>
      <p:grpSp>
        <p:nvGrpSpPr>
          <p:cNvPr id="356" name="matrix-row-kpi"/>
          <p:cNvGrpSpPr/>
          <p:nvPr/>
        </p:nvGrpSpPr>
        <p:grpSpPr>
          <a:xfrm>
            <a:off x="381000" y="5143500"/>
            <a:ext cx="11068050" cy="647700"/>
            <a:chOff x="381000" y="5143500"/>
            <a:chExt cx="11068050" cy="647700"/>
          </a:xfrm>
        </p:grpSpPr>
        <p:sp>
          <p:nvSpPr>
            <p:cNvPr id="305" name="Rectangle 305"/>
            <p:cNvSpPr/>
            <p:nvPr/>
          </p:nvSpPr>
          <p:spPr>
            <a:xfrm>
              <a:off x="381000" y="5143500"/>
              <a:ext cx="838200" cy="647700"/>
            </a:xfrm>
            <a:prstGeom prst="roundRect">
              <a:avLst>
                <a:gd name="adj" fmla="val 11765"/>
              </a:avLst>
            </a:prstGeom>
            <a:solidFill>
              <a:srgbClr val="5E3A33"/>
            </a:solidFill>
            <a:ln>
              <a:noFill/>
            </a:ln>
          </p:spPr>
        </p:sp>
        <p:grpSp>
          <p:nvGrpSpPr>
            <p:cNvPr id="312" name="Group 312"/>
            <p:cNvGrpSpPr/>
            <p:nvPr/>
          </p:nvGrpSpPr>
          <p:grpSpPr>
            <a:xfrm>
              <a:off x="732631" y="5274469"/>
              <a:ext cx="130968" cy="116681"/>
              <a:chOff x="732631" y="5274469"/>
              <a:chExt cx="130968" cy="116681"/>
            </a:xfrm>
          </p:grpSpPr>
          <p:sp>
            <p:nvSpPr>
              <p:cNvPr id="306" name="Freeform 306"/>
              <p:cNvSpPr/>
              <p:nvPr/>
            </p:nvSpPr>
            <p:spPr>
              <a:xfrm>
                <a:off x="732631" y="5274469"/>
                <a:ext cx="31750" cy="19844"/>
              </a:xfrm>
              <a:custGeom>
                <a:avLst/>
                <a:gdLst/>
                <a:ahLst/>
                <a:cxnLst/>
                <a:rect l="l" t="t" r="r" b="b"/>
                <a:pathLst>
                  <a:path w="31750" h="19844">
                    <a:moveTo>
                      <a:pt x="0" y="7937"/>
                    </a:moveTo>
                    <a:lnTo>
                      <a:pt x="11906" y="19844"/>
                    </a:lnTo>
                    <a:lnTo>
                      <a:pt x="31750" y="0"/>
                    </a:lnTo>
                  </a:path>
                </a:pathLst>
              </a:custGeom>
              <a:noFill/>
              <a:ln w="15875">
                <a:solidFill>
                  <a:srgbClr val="FFFFFF"/>
                </a:solidFill>
              </a:ln>
            </p:spPr>
          </p:sp>
          <p:sp>
            <p:nvSpPr>
              <p:cNvPr id="307" name="Freeform 307"/>
              <p:cNvSpPr/>
              <p:nvPr/>
            </p:nvSpPr>
            <p:spPr>
              <a:xfrm>
                <a:off x="732631" y="5322094"/>
                <a:ext cx="31750" cy="19844"/>
              </a:xfrm>
              <a:custGeom>
                <a:avLst/>
                <a:gdLst/>
                <a:ahLst/>
                <a:cxnLst/>
                <a:rect l="l" t="t" r="r" b="b"/>
                <a:pathLst>
                  <a:path w="31750" h="19844">
                    <a:moveTo>
                      <a:pt x="0" y="7937"/>
                    </a:moveTo>
                    <a:lnTo>
                      <a:pt x="11906" y="19844"/>
                    </a:lnTo>
                    <a:lnTo>
                      <a:pt x="31750" y="0"/>
                    </a:lnTo>
                  </a:path>
                </a:pathLst>
              </a:custGeom>
              <a:noFill/>
              <a:ln w="15875">
                <a:solidFill>
                  <a:srgbClr val="FFFFFF"/>
                </a:solidFill>
              </a:ln>
            </p:spPr>
          </p:sp>
          <p:sp>
            <p:nvSpPr>
              <p:cNvPr id="308" name="Freeform 308"/>
              <p:cNvSpPr/>
              <p:nvPr/>
            </p:nvSpPr>
            <p:spPr>
              <a:xfrm>
                <a:off x="732631" y="5369719"/>
                <a:ext cx="31750" cy="19844"/>
              </a:xfrm>
              <a:custGeom>
                <a:avLst/>
                <a:gdLst/>
                <a:ahLst/>
                <a:cxnLst/>
                <a:rect l="l" t="t" r="r" b="b"/>
                <a:pathLst>
                  <a:path w="31750" h="19844">
                    <a:moveTo>
                      <a:pt x="0" y="7937"/>
                    </a:moveTo>
                    <a:lnTo>
                      <a:pt x="11906" y="19844"/>
                    </a:lnTo>
                    <a:lnTo>
                      <a:pt x="31750" y="0"/>
                    </a:lnTo>
                  </a:path>
                </a:pathLst>
              </a:custGeom>
              <a:noFill/>
              <a:ln w="15875">
                <a:solidFill>
                  <a:srgbClr val="FFFFFF"/>
                </a:solidFill>
              </a:ln>
            </p:spPr>
          </p:sp>
          <p:sp>
            <p:nvSpPr>
              <p:cNvPr id="309" name="Freeform 309"/>
              <p:cNvSpPr/>
              <p:nvPr/>
            </p:nvSpPr>
            <p:spPr>
              <a:xfrm>
                <a:off x="792162" y="5286375"/>
                <a:ext cx="71437" cy="9525"/>
              </a:xfrm>
              <a:custGeom>
                <a:avLst/>
                <a:gdLst/>
                <a:ahLst/>
                <a:cxnLst/>
                <a:rect l="l" t="t" r="r" b="b"/>
                <a:pathLst>
                  <a:path w="71437" h="9525">
                    <a:moveTo>
                      <a:pt x="0" y="0"/>
                    </a:moveTo>
                    <a:lnTo>
                      <a:pt x="71437" y="0"/>
                    </a:lnTo>
                  </a:path>
                </a:pathLst>
              </a:custGeom>
              <a:noFill/>
              <a:ln w="15875">
                <a:solidFill>
                  <a:srgbClr val="FFFFFF"/>
                </a:solidFill>
              </a:ln>
            </p:spPr>
          </p:sp>
          <p:sp>
            <p:nvSpPr>
              <p:cNvPr id="310" name="Freeform 310"/>
              <p:cNvSpPr/>
              <p:nvPr/>
            </p:nvSpPr>
            <p:spPr>
              <a:xfrm>
                <a:off x="792162" y="5334000"/>
                <a:ext cx="71437" cy="9525"/>
              </a:xfrm>
              <a:custGeom>
                <a:avLst/>
                <a:gdLst/>
                <a:ahLst/>
                <a:cxnLst/>
                <a:rect l="l" t="t" r="r" b="b"/>
                <a:pathLst>
                  <a:path w="71437" h="9525">
                    <a:moveTo>
                      <a:pt x="0" y="0"/>
                    </a:moveTo>
                    <a:lnTo>
                      <a:pt x="71437" y="0"/>
                    </a:lnTo>
                  </a:path>
                </a:pathLst>
              </a:custGeom>
              <a:noFill/>
              <a:ln w="15875">
                <a:solidFill>
                  <a:srgbClr val="FFFFFF"/>
                </a:solidFill>
              </a:ln>
            </p:spPr>
          </p:sp>
          <p:sp>
            <p:nvSpPr>
              <p:cNvPr id="311" name="Freeform 311"/>
              <p:cNvSpPr/>
              <p:nvPr/>
            </p:nvSpPr>
            <p:spPr>
              <a:xfrm>
                <a:off x="792162" y="5381625"/>
                <a:ext cx="71437" cy="9525"/>
              </a:xfrm>
              <a:custGeom>
                <a:avLst/>
                <a:gdLst/>
                <a:ahLst/>
                <a:cxnLst/>
                <a:rect l="l" t="t" r="r" b="b"/>
                <a:pathLst>
                  <a:path w="71437" h="9525">
                    <a:moveTo>
                      <a:pt x="0" y="0"/>
                    </a:moveTo>
                    <a:lnTo>
                      <a:pt x="71437" y="0"/>
                    </a:lnTo>
                  </a:path>
                </a:pathLst>
              </a:custGeom>
              <a:noFill/>
              <a:ln w="15875">
                <a:solidFill>
                  <a:srgbClr val="FFFFFF"/>
                </a:solidFill>
              </a:ln>
            </p:spPr>
          </p:sp>
        </p:grpSp>
        <p:sp>
          <p:nvSpPr>
            <p:cNvPr id="313" name="TextBox 313"/>
            <p:cNvSpPr txBox="1"/>
            <p:nvPr/>
          </p:nvSpPr>
          <p:spPr>
            <a:xfrm>
              <a:off x="563791" y="55456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评价指标</a:t>
              </a:r>
            </a:p>
          </p:txBody>
        </p:sp>
        <p:sp>
          <p:nvSpPr>
            <p:cNvPr id="314" name="Rectangle 314"/>
            <p:cNvSpPr/>
            <p:nvPr/>
          </p:nvSpPr>
          <p:spPr>
            <a:xfrm>
              <a:off x="1276350" y="5143500"/>
              <a:ext cx="1600200" cy="647700"/>
            </a:xfrm>
            <a:prstGeom prst="roundRect">
              <a:avLst>
                <a:gd name="adj" fmla="val 8824"/>
              </a:avLst>
            </a:prstGeom>
            <a:solidFill>
              <a:srgbClr val="FFFFFF"/>
            </a:solidFill>
            <a:ln w="9525">
              <a:solidFill>
                <a:srgbClr val="E6D9C0"/>
              </a:solidFill>
            </a:ln>
          </p:spPr>
        </p:sp>
        <p:sp>
          <p:nvSpPr>
            <p:cNvPr id="315" name="Ellipse 315"/>
            <p:cNvSpPr/>
            <p:nvPr/>
          </p:nvSpPr>
          <p:spPr>
            <a:xfrm>
              <a:off x="1373505" y="5278755"/>
              <a:ext cx="34290" cy="34290"/>
            </a:xfrm>
            <a:prstGeom prst="ellipse">
              <a:avLst/>
            </a:prstGeom>
            <a:solidFill>
              <a:srgbClr val="C26D5E"/>
            </a:solidFill>
            <a:ln>
              <a:noFill/>
            </a:ln>
          </p:spPr>
        </p:sp>
        <p:sp>
          <p:nvSpPr>
            <p:cNvPr id="316" name="TextBox 316"/>
            <p:cNvSpPr txBox="1"/>
            <p:nvPr/>
          </p:nvSpPr>
          <p:spPr>
            <a:xfrm>
              <a:off x="1452562" y="5265182"/>
              <a:ext cx="267995"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留资量</a:t>
              </a:r>
            </a:p>
          </p:txBody>
        </p:sp>
        <p:sp>
          <p:nvSpPr>
            <p:cNvPr id="317" name="Ellipse 317"/>
            <p:cNvSpPr/>
            <p:nvPr/>
          </p:nvSpPr>
          <p:spPr>
            <a:xfrm>
              <a:off x="1373505" y="5440680"/>
              <a:ext cx="34290" cy="34290"/>
            </a:xfrm>
            <a:prstGeom prst="ellipse">
              <a:avLst/>
            </a:prstGeom>
            <a:solidFill>
              <a:srgbClr val="C26D5E"/>
            </a:solidFill>
            <a:ln>
              <a:noFill/>
            </a:ln>
          </p:spPr>
        </p:sp>
        <p:sp>
          <p:nvSpPr>
            <p:cNvPr id="318" name="TextBox 318"/>
            <p:cNvSpPr txBox="1"/>
            <p:nvPr/>
          </p:nvSpPr>
          <p:spPr>
            <a:xfrm>
              <a:off x="1452562" y="5427107"/>
              <a:ext cx="440309" cy="126206"/>
            </a:xfrm>
            <a:prstGeom prst="rect">
              <a:avLst/>
            </a:prstGeom>
            <a:noFill/>
            <a:ln>
              <a:noFill/>
            </a:ln>
          </p:spPr>
          <p:txBody>
            <a:bodyPr wrap="none" lIns="0" tIns="0" rIns="0" bIns="0" anchor="t" anchorCtr="0">
              <a:spAutoFit/>
            </a:bodyPr>
            <a:lstStyle/>
            <a:p>
              <a:pPr algn="l"/>
              <a:r>
                <a:rPr lang="zh-CN" sz="640" b="1" dirty="0">
                  <a:solidFill>
                    <a:srgbClr val="A3381F"/>
                  </a:solidFill>
                  <a:latin typeface="+mn-lt"/>
                  <a:ea typeface="+mn-ea"/>
                  <a:cs typeface="+mn-cs"/>
                </a:rPr>
                <a:t>开户转化率</a:t>
              </a:r>
            </a:p>
          </p:txBody>
        </p:sp>
        <p:sp>
          <p:nvSpPr>
            <p:cNvPr id="319" name="Ellipse 319"/>
            <p:cNvSpPr/>
            <p:nvPr/>
          </p:nvSpPr>
          <p:spPr>
            <a:xfrm>
              <a:off x="1373505" y="5602605"/>
              <a:ext cx="34290" cy="34290"/>
            </a:xfrm>
            <a:prstGeom prst="ellipse">
              <a:avLst/>
            </a:prstGeom>
            <a:solidFill>
              <a:srgbClr val="C26D5E"/>
            </a:solidFill>
            <a:ln>
              <a:noFill/>
            </a:ln>
          </p:spPr>
        </p:sp>
        <p:sp>
          <p:nvSpPr>
            <p:cNvPr id="320" name="TextBox 320"/>
            <p:cNvSpPr txBox="1"/>
            <p:nvPr/>
          </p:nvSpPr>
          <p:spPr>
            <a:xfrm>
              <a:off x="1452562" y="5589032"/>
              <a:ext cx="354152"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获客成本</a:t>
              </a:r>
            </a:p>
          </p:txBody>
        </p:sp>
        <p:sp>
          <p:nvSpPr>
            <p:cNvPr id="321" name="Rectangle 321"/>
            <p:cNvSpPr/>
            <p:nvPr/>
          </p:nvSpPr>
          <p:spPr>
            <a:xfrm>
              <a:off x="2990850" y="5143500"/>
              <a:ext cx="1600200" cy="647700"/>
            </a:xfrm>
            <a:prstGeom prst="roundRect">
              <a:avLst>
                <a:gd name="adj" fmla="val 8824"/>
              </a:avLst>
            </a:prstGeom>
            <a:solidFill>
              <a:srgbClr val="FFFFFF"/>
            </a:solidFill>
            <a:ln w="9525">
              <a:solidFill>
                <a:srgbClr val="E6D9C0"/>
              </a:solidFill>
            </a:ln>
          </p:spPr>
        </p:sp>
        <p:sp>
          <p:nvSpPr>
            <p:cNvPr id="322" name="Ellipse 322"/>
            <p:cNvSpPr/>
            <p:nvPr/>
          </p:nvSpPr>
          <p:spPr>
            <a:xfrm>
              <a:off x="3088005" y="5278755"/>
              <a:ext cx="34290" cy="34290"/>
            </a:xfrm>
            <a:prstGeom prst="ellipse">
              <a:avLst/>
            </a:prstGeom>
            <a:solidFill>
              <a:srgbClr val="C26D5E"/>
            </a:solidFill>
            <a:ln>
              <a:noFill/>
            </a:ln>
          </p:spPr>
        </p:sp>
        <p:sp>
          <p:nvSpPr>
            <p:cNvPr id="323" name="TextBox 323"/>
            <p:cNvSpPr txBox="1"/>
            <p:nvPr/>
          </p:nvSpPr>
          <p:spPr>
            <a:xfrm>
              <a:off x="3167062" y="5265182"/>
              <a:ext cx="267995" cy="126206"/>
            </a:xfrm>
            <a:prstGeom prst="rect">
              <a:avLst/>
            </a:prstGeom>
            <a:noFill/>
            <a:ln>
              <a:noFill/>
            </a:ln>
          </p:spPr>
          <p:txBody>
            <a:bodyPr wrap="none" lIns="0" tIns="0" rIns="0" bIns="0" anchor="t" anchorCtr="0">
              <a:spAutoFit/>
            </a:bodyPr>
            <a:lstStyle/>
            <a:p>
              <a:pPr algn="l"/>
              <a:r>
                <a:rPr lang="zh-CN" sz="640" b="1" dirty="0">
                  <a:solidFill>
                    <a:srgbClr val="A3381F"/>
                  </a:solidFill>
                  <a:latin typeface="+mn-lt"/>
                  <a:ea typeface="+mn-ea"/>
                  <a:cs typeface="+mn-cs"/>
                </a:rPr>
                <a:t>激活率</a:t>
              </a:r>
            </a:p>
          </p:txBody>
        </p:sp>
        <p:sp>
          <p:nvSpPr>
            <p:cNvPr id="324" name="Ellipse 324"/>
            <p:cNvSpPr/>
            <p:nvPr/>
          </p:nvSpPr>
          <p:spPr>
            <a:xfrm>
              <a:off x="3088005" y="5440680"/>
              <a:ext cx="34290" cy="34290"/>
            </a:xfrm>
            <a:prstGeom prst="ellipse">
              <a:avLst/>
            </a:prstGeom>
            <a:solidFill>
              <a:srgbClr val="C26D5E"/>
            </a:solidFill>
            <a:ln>
              <a:noFill/>
            </a:ln>
          </p:spPr>
        </p:sp>
        <p:sp>
          <p:nvSpPr>
            <p:cNvPr id="325" name="TextBox 325"/>
            <p:cNvSpPr txBox="1"/>
            <p:nvPr/>
          </p:nvSpPr>
          <p:spPr>
            <a:xfrm>
              <a:off x="3167062" y="5427107"/>
              <a:ext cx="354152"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首存占比</a:t>
              </a:r>
            </a:p>
          </p:txBody>
        </p:sp>
        <p:sp>
          <p:nvSpPr>
            <p:cNvPr id="326" name="Ellipse 326"/>
            <p:cNvSpPr/>
            <p:nvPr/>
          </p:nvSpPr>
          <p:spPr>
            <a:xfrm>
              <a:off x="3088005" y="5602605"/>
              <a:ext cx="34290" cy="34290"/>
            </a:xfrm>
            <a:prstGeom prst="ellipse">
              <a:avLst/>
            </a:prstGeom>
            <a:solidFill>
              <a:srgbClr val="C26D5E"/>
            </a:solidFill>
            <a:ln>
              <a:noFill/>
            </a:ln>
          </p:spPr>
        </p:sp>
        <p:sp>
          <p:nvSpPr>
            <p:cNvPr id="327" name="TextBox 327"/>
            <p:cNvSpPr txBox="1"/>
            <p:nvPr/>
          </p:nvSpPr>
          <p:spPr>
            <a:xfrm>
              <a:off x="3167062" y="5589032"/>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首交易转化率</a:t>
              </a:r>
            </a:p>
          </p:txBody>
        </p:sp>
        <p:sp>
          <p:nvSpPr>
            <p:cNvPr id="328" name="Rectangle 328"/>
            <p:cNvSpPr/>
            <p:nvPr/>
          </p:nvSpPr>
          <p:spPr>
            <a:xfrm>
              <a:off x="4705350" y="5143500"/>
              <a:ext cx="1600200" cy="647700"/>
            </a:xfrm>
            <a:prstGeom prst="roundRect">
              <a:avLst>
                <a:gd name="adj" fmla="val 8824"/>
              </a:avLst>
            </a:prstGeom>
            <a:solidFill>
              <a:srgbClr val="FFFFFF"/>
            </a:solidFill>
            <a:ln w="9525">
              <a:solidFill>
                <a:srgbClr val="E6D9C0"/>
              </a:solidFill>
            </a:ln>
          </p:spPr>
        </p:sp>
        <p:sp>
          <p:nvSpPr>
            <p:cNvPr id="329" name="Ellipse 329"/>
            <p:cNvSpPr/>
            <p:nvPr/>
          </p:nvSpPr>
          <p:spPr>
            <a:xfrm>
              <a:off x="4802505" y="5278755"/>
              <a:ext cx="34290" cy="34290"/>
            </a:xfrm>
            <a:prstGeom prst="ellipse">
              <a:avLst/>
            </a:prstGeom>
            <a:solidFill>
              <a:srgbClr val="C26D5E"/>
            </a:solidFill>
            <a:ln>
              <a:noFill/>
            </a:ln>
          </p:spPr>
        </p:sp>
        <p:sp>
          <p:nvSpPr>
            <p:cNvPr id="330" name="TextBox 330"/>
            <p:cNvSpPr txBox="1"/>
            <p:nvPr/>
          </p:nvSpPr>
          <p:spPr>
            <a:xfrm>
              <a:off x="4881562" y="5265182"/>
              <a:ext cx="530985" cy="126206"/>
            </a:xfrm>
            <a:prstGeom prst="rect">
              <a:avLst/>
            </a:prstGeom>
            <a:noFill/>
            <a:ln>
              <a:noFill/>
            </a:ln>
          </p:spPr>
          <p:txBody>
            <a:bodyPr wrap="none" lIns="0" tIns="0" rIns="0" bIns="0" anchor="t" anchorCtr="0">
              <a:spAutoFit/>
            </a:bodyPr>
            <a:lstStyle/>
            <a:p>
              <a:pPr algn="l"/>
              <a:r>
                <a:rPr lang="zh-CN" sz="640" b="1" dirty="0">
                  <a:solidFill>
                    <a:srgbClr val="A3381F"/>
                  </a:solidFill>
                  <a:latin typeface="+mn-lt"/>
                  <a:ea typeface="+mn-ea"/>
                  <a:cs typeface="+mn-cs"/>
                </a:rPr>
                <a:t xml:space="preserve">AUM增长率　</a:t>
              </a:r>
            </a:p>
          </p:txBody>
        </p:sp>
        <p:sp>
          <p:nvSpPr>
            <p:cNvPr id="331" name="Ellipse 331"/>
            <p:cNvSpPr/>
            <p:nvPr/>
          </p:nvSpPr>
          <p:spPr>
            <a:xfrm>
              <a:off x="4802505" y="5440680"/>
              <a:ext cx="34290" cy="34290"/>
            </a:xfrm>
            <a:prstGeom prst="ellipse">
              <a:avLst/>
            </a:prstGeom>
            <a:solidFill>
              <a:srgbClr val="C26D5E"/>
            </a:solidFill>
            <a:ln>
              <a:noFill/>
            </a:ln>
          </p:spPr>
        </p:sp>
        <p:sp>
          <p:nvSpPr>
            <p:cNvPr id="332" name="TextBox 332"/>
            <p:cNvSpPr txBox="1"/>
            <p:nvPr/>
          </p:nvSpPr>
          <p:spPr>
            <a:xfrm>
              <a:off x="4881562" y="5427107"/>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代发客户占比</a:t>
              </a:r>
            </a:p>
          </p:txBody>
        </p:sp>
        <p:sp>
          <p:nvSpPr>
            <p:cNvPr id="333" name="Ellipse 333"/>
            <p:cNvSpPr/>
            <p:nvPr/>
          </p:nvSpPr>
          <p:spPr>
            <a:xfrm>
              <a:off x="4802505" y="5602605"/>
              <a:ext cx="34290" cy="34290"/>
            </a:xfrm>
            <a:prstGeom prst="ellipse">
              <a:avLst/>
            </a:prstGeom>
            <a:solidFill>
              <a:srgbClr val="C26D5E"/>
            </a:solidFill>
            <a:ln>
              <a:noFill/>
            </a:ln>
          </p:spPr>
        </p:sp>
        <p:sp>
          <p:nvSpPr>
            <p:cNvPr id="334" name="TextBox 334"/>
            <p:cNvSpPr txBox="1"/>
            <p:nvPr/>
          </p:nvSpPr>
          <p:spPr>
            <a:xfrm>
              <a:off x="4881562" y="5589032"/>
              <a:ext cx="440309"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产品补缺率</a:t>
              </a:r>
            </a:p>
          </p:txBody>
        </p:sp>
        <p:sp>
          <p:nvSpPr>
            <p:cNvPr id="335" name="Rectangle 335"/>
            <p:cNvSpPr/>
            <p:nvPr/>
          </p:nvSpPr>
          <p:spPr>
            <a:xfrm>
              <a:off x="6419850" y="5143500"/>
              <a:ext cx="1600200" cy="647700"/>
            </a:xfrm>
            <a:prstGeom prst="roundRect">
              <a:avLst>
                <a:gd name="adj" fmla="val 8824"/>
              </a:avLst>
            </a:prstGeom>
            <a:solidFill>
              <a:srgbClr val="FFFFFF"/>
            </a:solidFill>
            <a:ln w="9525">
              <a:solidFill>
                <a:srgbClr val="E6D9C0"/>
              </a:solidFill>
            </a:ln>
          </p:spPr>
        </p:sp>
        <p:sp>
          <p:nvSpPr>
            <p:cNvPr id="336" name="Ellipse 336"/>
            <p:cNvSpPr/>
            <p:nvPr/>
          </p:nvSpPr>
          <p:spPr>
            <a:xfrm>
              <a:off x="6517005" y="5278755"/>
              <a:ext cx="34290" cy="34290"/>
            </a:xfrm>
            <a:prstGeom prst="ellipse">
              <a:avLst/>
            </a:prstGeom>
            <a:solidFill>
              <a:srgbClr val="C26D5E"/>
            </a:solidFill>
            <a:ln>
              <a:noFill/>
            </a:ln>
          </p:spPr>
        </p:sp>
        <p:sp>
          <p:nvSpPr>
            <p:cNvPr id="337" name="TextBox 337"/>
            <p:cNvSpPr txBox="1"/>
            <p:nvPr/>
          </p:nvSpPr>
          <p:spPr>
            <a:xfrm>
              <a:off x="6596062" y="5265182"/>
              <a:ext cx="440309" cy="126206"/>
            </a:xfrm>
            <a:prstGeom prst="rect">
              <a:avLst/>
            </a:prstGeom>
            <a:noFill/>
            <a:ln>
              <a:noFill/>
            </a:ln>
          </p:spPr>
          <p:txBody>
            <a:bodyPr wrap="none" lIns="0" tIns="0" rIns="0" bIns="0" anchor="t" anchorCtr="0">
              <a:spAutoFit/>
            </a:bodyPr>
            <a:lstStyle/>
            <a:p>
              <a:pPr algn="l"/>
              <a:r>
                <a:rPr lang="zh-CN" sz="640" b="1" dirty="0">
                  <a:solidFill>
                    <a:srgbClr val="A3381F"/>
                  </a:solidFill>
                  <a:latin typeface="+mn-lt"/>
                  <a:ea typeface="+mn-ea"/>
                  <a:cs typeface="+mn-cs"/>
                </a:rPr>
                <a:t>综合贡献度</a:t>
              </a:r>
            </a:p>
          </p:txBody>
        </p:sp>
        <p:sp>
          <p:nvSpPr>
            <p:cNvPr id="338" name="Ellipse 338"/>
            <p:cNvSpPr/>
            <p:nvPr/>
          </p:nvSpPr>
          <p:spPr>
            <a:xfrm>
              <a:off x="6517005" y="5440680"/>
              <a:ext cx="34290" cy="34290"/>
            </a:xfrm>
            <a:prstGeom prst="ellipse">
              <a:avLst/>
            </a:prstGeom>
            <a:solidFill>
              <a:srgbClr val="C26D5E"/>
            </a:solidFill>
            <a:ln>
              <a:noFill/>
            </a:ln>
          </p:spPr>
        </p:sp>
        <p:sp>
          <p:nvSpPr>
            <p:cNvPr id="339" name="TextBox 339"/>
            <p:cNvSpPr txBox="1"/>
            <p:nvPr/>
          </p:nvSpPr>
          <p:spPr>
            <a:xfrm>
              <a:off x="6596062" y="5427107"/>
              <a:ext cx="612623"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交叉产品持有数</a:t>
              </a:r>
            </a:p>
          </p:txBody>
        </p:sp>
        <p:sp>
          <p:nvSpPr>
            <p:cNvPr id="340" name="Ellipse 340"/>
            <p:cNvSpPr/>
            <p:nvPr/>
          </p:nvSpPr>
          <p:spPr>
            <a:xfrm>
              <a:off x="6517005" y="5602605"/>
              <a:ext cx="34290" cy="34290"/>
            </a:xfrm>
            <a:prstGeom prst="ellipse">
              <a:avLst/>
            </a:prstGeom>
            <a:solidFill>
              <a:srgbClr val="C26D5E"/>
            </a:solidFill>
            <a:ln>
              <a:noFill/>
            </a:ln>
          </p:spPr>
        </p:sp>
        <p:sp>
          <p:nvSpPr>
            <p:cNvPr id="341" name="TextBox 341"/>
            <p:cNvSpPr txBox="1"/>
            <p:nvPr/>
          </p:nvSpPr>
          <p:spPr>
            <a:xfrm>
              <a:off x="6596062" y="5589032"/>
              <a:ext cx="612623"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家庭金融渗透率</a:t>
              </a:r>
            </a:p>
          </p:txBody>
        </p:sp>
        <p:sp>
          <p:nvSpPr>
            <p:cNvPr id="342" name="Rectangle 342"/>
            <p:cNvSpPr/>
            <p:nvPr/>
          </p:nvSpPr>
          <p:spPr>
            <a:xfrm>
              <a:off x="8134350" y="5143500"/>
              <a:ext cx="1600200" cy="647700"/>
            </a:xfrm>
            <a:prstGeom prst="roundRect">
              <a:avLst>
                <a:gd name="adj" fmla="val 8824"/>
              </a:avLst>
            </a:prstGeom>
            <a:solidFill>
              <a:srgbClr val="FFFFFF"/>
            </a:solidFill>
            <a:ln w="9525">
              <a:solidFill>
                <a:srgbClr val="E6D9C0"/>
              </a:solidFill>
            </a:ln>
          </p:spPr>
        </p:sp>
        <p:sp>
          <p:nvSpPr>
            <p:cNvPr id="343" name="Ellipse 343"/>
            <p:cNvSpPr/>
            <p:nvPr/>
          </p:nvSpPr>
          <p:spPr>
            <a:xfrm>
              <a:off x="8231505" y="5278755"/>
              <a:ext cx="34290" cy="34290"/>
            </a:xfrm>
            <a:prstGeom prst="ellipse">
              <a:avLst/>
            </a:prstGeom>
            <a:solidFill>
              <a:srgbClr val="C26D5E"/>
            </a:solidFill>
            <a:ln>
              <a:noFill/>
            </a:ln>
          </p:spPr>
        </p:sp>
        <p:sp>
          <p:nvSpPr>
            <p:cNvPr id="344" name="TextBox 344"/>
            <p:cNvSpPr txBox="1"/>
            <p:nvPr/>
          </p:nvSpPr>
          <p:spPr>
            <a:xfrm>
              <a:off x="8310562" y="5265182"/>
              <a:ext cx="440309" cy="126206"/>
            </a:xfrm>
            <a:prstGeom prst="rect">
              <a:avLst/>
            </a:prstGeom>
            <a:noFill/>
            <a:ln>
              <a:noFill/>
            </a:ln>
          </p:spPr>
          <p:txBody>
            <a:bodyPr wrap="none" lIns="0" tIns="0" rIns="0" bIns="0" anchor="t" anchorCtr="0">
              <a:spAutoFit/>
            </a:bodyPr>
            <a:lstStyle/>
            <a:p>
              <a:pPr algn="l"/>
              <a:r>
                <a:rPr lang="zh-CN" sz="640" b="1" dirty="0">
                  <a:solidFill>
                    <a:srgbClr val="A3381F"/>
                  </a:solidFill>
                  <a:latin typeface="+mn-lt"/>
                  <a:ea typeface="+mn-ea"/>
                  <a:cs typeface="+mn-cs"/>
                </a:rPr>
                <a:t>预警命中率</a:t>
              </a:r>
            </a:p>
          </p:txBody>
        </p:sp>
        <p:sp>
          <p:nvSpPr>
            <p:cNvPr id="345" name="Ellipse 345"/>
            <p:cNvSpPr/>
            <p:nvPr/>
          </p:nvSpPr>
          <p:spPr>
            <a:xfrm>
              <a:off x="8231505" y="5440680"/>
              <a:ext cx="34290" cy="34290"/>
            </a:xfrm>
            <a:prstGeom prst="ellipse">
              <a:avLst/>
            </a:prstGeom>
            <a:solidFill>
              <a:srgbClr val="C26D5E"/>
            </a:solidFill>
            <a:ln>
              <a:noFill/>
            </a:ln>
          </p:spPr>
        </p:sp>
        <p:sp>
          <p:nvSpPr>
            <p:cNvPr id="346" name="TextBox 346"/>
            <p:cNvSpPr txBox="1"/>
            <p:nvPr/>
          </p:nvSpPr>
          <p:spPr>
            <a:xfrm>
              <a:off x="8310562" y="5427107"/>
              <a:ext cx="526466"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活跃度下降率</a:t>
              </a:r>
            </a:p>
          </p:txBody>
        </p:sp>
        <p:sp>
          <p:nvSpPr>
            <p:cNvPr id="347" name="Ellipse 347"/>
            <p:cNvSpPr/>
            <p:nvPr/>
          </p:nvSpPr>
          <p:spPr>
            <a:xfrm>
              <a:off x="8231505" y="5602605"/>
              <a:ext cx="34290" cy="34290"/>
            </a:xfrm>
            <a:prstGeom prst="ellipse">
              <a:avLst/>
            </a:prstGeom>
            <a:solidFill>
              <a:srgbClr val="C26D5E"/>
            </a:solidFill>
            <a:ln>
              <a:noFill/>
            </a:ln>
          </p:spPr>
        </p:sp>
        <p:sp>
          <p:nvSpPr>
            <p:cNvPr id="348" name="TextBox 348"/>
            <p:cNvSpPr txBox="1"/>
            <p:nvPr/>
          </p:nvSpPr>
          <p:spPr>
            <a:xfrm>
              <a:off x="8310562" y="5589032"/>
              <a:ext cx="440309"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资金流出率</a:t>
              </a:r>
            </a:p>
          </p:txBody>
        </p:sp>
        <p:sp>
          <p:nvSpPr>
            <p:cNvPr id="349" name="Rectangle 349"/>
            <p:cNvSpPr/>
            <p:nvPr/>
          </p:nvSpPr>
          <p:spPr>
            <a:xfrm>
              <a:off x="9848850" y="5143500"/>
              <a:ext cx="1600200" cy="647700"/>
            </a:xfrm>
            <a:prstGeom prst="roundRect">
              <a:avLst>
                <a:gd name="adj" fmla="val 8824"/>
              </a:avLst>
            </a:prstGeom>
            <a:solidFill>
              <a:srgbClr val="FFFFFF"/>
            </a:solidFill>
            <a:ln w="9525">
              <a:solidFill>
                <a:srgbClr val="E6D9C0"/>
              </a:solidFill>
            </a:ln>
          </p:spPr>
        </p:sp>
        <p:sp>
          <p:nvSpPr>
            <p:cNvPr id="350" name="Ellipse 350"/>
            <p:cNvSpPr/>
            <p:nvPr/>
          </p:nvSpPr>
          <p:spPr>
            <a:xfrm>
              <a:off x="9946005" y="5278755"/>
              <a:ext cx="34290" cy="34290"/>
            </a:xfrm>
            <a:prstGeom prst="ellipse">
              <a:avLst/>
            </a:prstGeom>
            <a:solidFill>
              <a:srgbClr val="C26D5E"/>
            </a:solidFill>
            <a:ln>
              <a:noFill/>
            </a:ln>
          </p:spPr>
        </p:sp>
        <p:sp>
          <p:nvSpPr>
            <p:cNvPr id="351" name="TextBox 351"/>
            <p:cNvSpPr txBox="1"/>
            <p:nvPr/>
          </p:nvSpPr>
          <p:spPr>
            <a:xfrm>
              <a:off x="10025062" y="5265182"/>
              <a:ext cx="267995" cy="126206"/>
            </a:xfrm>
            <a:prstGeom prst="rect">
              <a:avLst/>
            </a:prstGeom>
            <a:noFill/>
            <a:ln>
              <a:noFill/>
            </a:ln>
          </p:spPr>
          <p:txBody>
            <a:bodyPr wrap="none" lIns="0" tIns="0" rIns="0" bIns="0" anchor="t" anchorCtr="0">
              <a:spAutoFit/>
            </a:bodyPr>
            <a:lstStyle/>
            <a:p>
              <a:pPr algn="l"/>
              <a:r>
                <a:rPr lang="zh-CN" sz="640" b="1" dirty="0">
                  <a:solidFill>
                    <a:srgbClr val="A3381F"/>
                  </a:solidFill>
                  <a:latin typeface="+mn-lt"/>
                  <a:ea typeface="+mn-ea"/>
                  <a:cs typeface="+mn-cs"/>
                </a:rPr>
                <a:t>挽回率</a:t>
              </a:r>
            </a:p>
          </p:txBody>
        </p:sp>
        <p:sp>
          <p:nvSpPr>
            <p:cNvPr id="352" name="Ellipse 352"/>
            <p:cNvSpPr/>
            <p:nvPr/>
          </p:nvSpPr>
          <p:spPr>
            <a:xfrm>
              <a:off x="9946005" y="5440680"/>
              <a:ext cx="34290" cy="34290"/>
            </a:xfrm>
            <a:prstGeom prst="ellipse">
              <a:avLst/>
            </a:prstGeom>
            <a:solidFill>
              <a:srgbClr val="C26D5E"/>
            </a:solidFill>
            <a:ln>
              <a:noFill/>
            </a:ln>
          </p:spPr>
        </p:sp>
        <p:sp>
          <p:nvSpPr>
            <p:cNvPr id="353" name="TextBox 353"/>
            <p:cNvSpPr txBox="1"/>
            <p:nvPr/>
          </p:nvSpPr>
          <p:spPr>
            <a:xfrm>
              <a:off x="10025062" y="5427107"/>
              <a:ext cx="698779"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挽回客户价值贡献</a:t>
              </a:r>
            </a:p>
          </p:txBody>
        </p:sp>
        <p:sp>
          <p:nvSpPr>
            <p:cNvPr id="354" name="Ellipse 354"/>
            <p:cNvSpPr/>
            <p:nvPr/>
          </p:nvSpPr>
          <p:spPr>
            <a:xfrm>
              <a:off x="9946005" y="5602605"/>
              <a:ext cx="34290" cy="34290"/>
            </a:xfrm>
            <a:prstGeom prst="ellipse">
              <a:avLst/>
            </a:prstGeom>
            <a:solidFill>
              <a:srgbClr val="C26D5E"/>
            </a:solidFill>
            <a:ln>
              <a:noFill/>
            </a:ln>
          </p:spPr>
        </p:sp>
        <p:sp>
          <p:nvSpPr>
            <p:cNvPr id="355" name="TextBox 355"/>
            <p:cNvSpPr txBox="1"/>
            <p:nvPr/>
          </p:nvSpPr>
          <p:spPr>
            <a:xfrm>
              <a:off x="10025062" y="5589032"/>
              <a:ext cx="440309" cy="126206"/>
            </a:xfrm>
            <a:prstGeom prst="rect">
              <a:avLst/>
            </a:prstGeom>
            <a:noFill/>
            <a:ln>
              <a:noFill/>
            </a:ln>
          </p:spPr>
          <p:txBody>
            <a:bodyPr wrap="none" lIns="0" tIns="0" rIns="0" bIns="0" anchor="t" anchorCtr="0">
              <a:spAutoFit/>
            </a:bodyPr>
            <a:lstStyle/>
            <a:p>
              <a:pPr algn="l"/>
              <a:r>
                <a:rPr lang="zh-CN" sz="640" dirty="0">
                  <a:solidFill>
                    <a:srgbClr val="4A4A4A"/>
                  </a:solidFill>
                  <a:latin typeface="+mn-lt"/>
                  <a:ea typeface="+mn-ea"/>
                  <a:cs typeface="+mn-cs"/>
                </a:rPr>
                <a:t>二次流失率</a:t>
              </a:r>
            </a:p>
          </p:txBody>
        </p:sp>
      </p:grpSp>
      <p:grpSp>
        <p:nvGrpSpPr>
          <p:cNvPr id="366" name="concl-banner12"/>
          <p:cNvGrpSpPr/>
          <p:nvPr/>
        </p:nvGrpSpPr>
        <p:grpSpPr>
          <a:xfrm>
            <a:off x="381000" y="5924550"/>
            <a:ext cx="11430000" cy="762000"/>
            <a:chOff x="381000" y="5924550"/>
            <a:chExt cx="11430000" cy="762000"/>
          </a:xfrm>
        </p:grpSpPr>
        <p:sp>
          <p:nvSpPr>
            <p:cNvPr id="357" name="Rectangle 357"/>
            <p:cNvSpPr/>
            <p:nvPr/>
          </p:nvSpPr>
          <p:spPr>
            <a:xfrm>
              <a:off x="381000" y="5924550"/>
              <a:ext cx="11430000" cy="762000"/>
            </a:xfrm>
            <a:prstGeom prst="roundRect">
              <a:avLst>
                <a:gd name="adj" fmla="val 15000"/>
              </a:avLst>
            </a:prstGeom>
            <a:solidFill>
              <a:srgbClr val="FBF4E7"/>
            </a:solidFill>
            <a:ln w="9525">
              <a:solidFill>
                <a:srgbClr val="E4B4AC"/>
              </a:solidFill>
            </a:ln>
          </p:spPr>
        </p:sp>
        <p:sp>
          <p:nvSpPr>
            <p:cNvPr id="358" name="Ellipse 358"/>
            <p:cNvSpPr/>
            <p:nvPr/>
          </p:nvSpPr>
          <p:spPr>
            <a:xfrm>
              <a:off x="704850" y="6096000"/>
              <a:ext cx="419100" cy="419100"/>
            </a:xfrm>
            <a:prstGeom prst="ellipse">
              <a:avLst/>
            </a:prstGeom>
            <a:solidFill>
              <a:srgbClr val="A3381F"/>
            </a:solidFill>
            <a:ln>
              <a:noFill/>
            </a:ln>
          </p:spPr>
        </p:sp>
        <p:grpSp>
          <p:nvGrpSpPr>
            <p:cNvPr id="362" name="Group 362"/>
            <p:cNvGrpSpPr/>
            <p:nvPr/>
          </p:nvGrpSpPr>
          <p:grpSpPr>
            <a:xfrm>
              <a:off x="828675" y="6219825"/>
              <a:ext cx="171450" cy="171450"/>
              <a:chOff x="828675" y="6219825"/>
              <a:chExt cx="171450" cy="171450"/>
            </a:xfrm>
          </p:grpSpPr>
          <p:sp>
            <p:nvSpPr>
              <p:cNvPr id="359" name="Freeform 359"/>
              <p:cNvSpPr/>
              <p:nvPr/>
            </p:nvSpPr>
            <p:spPr>
              <a:xfrm>
                <a:off x="904875" y="62960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360" name="Freeform 360"/>
              <p:cNvSpPr/>
              <p:nvPr/>
            </p:nvSpPr>
            <p:spPr>
              <a:xfrm>
                <a:off x="866775" y="62579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FFFFFF"/>
                </a:solidFill>
              </a:ln>
            </p:spPr>
          </p:sp>
          <p:sp>
            <p:nvSpPr>
              <p:cNvPr id="361" name="Freeform 361"/>
              <p:cNvSpPr/>
              <p:nvPr/>
            </p:nvSpPr>
            <p:spPr>
              <a:xfrm>
                <a:off x="828675" y="62198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grpSp>
        <p:sp>
          <p:nvSpPr>
            <p:cNvPr id="363" name="TextBox 363"/>
            <p:cNvSpPr txBox="1"/>
            <p:nvPr/>
          </p:nvSpPr>
          <p:spPr>
            <a:xfrm>
              <a:off x="1271397" y="6266974"/>
              <a:ext cx="537616" cy="190690"/>
            </a:xfrm>
            <a:prstGeom prst="rect">
              <a:avLst/>
            </a:prstGeom>
            <a:noFill/>
            <a:ln>
              <a:noFill/>
            </a:ln>
          </p:spPr>
          <p:txBody>
            <a:bodyPr wrap="none" lIns="0" tIns="0" rIns="0" bIns="0" anchor="t" anchorCtr="0">
              <a:spAutoFit/>
            </a:bodyPr>
            <a:lstStyle/>
            <a:p>
              <a:pPr algn="l"/>
              <a:r>
                <a:rPr lang="zh-CN" sz="980" b="1" dirty="0">
                  <a:solidFill>
                    <a:srgbClr val="A3381F"/>
                  </a:solidFill>
                  <a:latin typeface="+mn-lt"/>
                  <a:ea typeface="+mn-ea"/>
                  <a:cs typeface="+mn-cs"/>
                </a:rPr>
                <a:t>关键结论</a:t>
              </a:r>
            </a:p>
          </p:txBody>
        </p:sp>
        <p:sp>
          <p:nvSpPr>
            <p:cNvPr id="364" name="Line 364"/>
            <p:cNvSpPr/>
            <p:nvPr/>
          </p:nvSpPr>
          <p:spPr>
            <a:xfrm>
              <a:off x="2000250" y="6096000"/>
              <a:ext cx="9525" cy="419100"/>
            </a:xfrm>
            <a:custGeom>
              <a:avLst/>
              <a:gdLst/>
              <a:ahLst/>
              <a:cxnLst/>
              <a:rect l="l" t="t" r="r" b="b"/>
              <a:pathLst>
                <a:path w="9525" h="419100">
                  <a:moveTo>
                    <a:pt x="0" y="0"/>
                  </a:moveTo>
                  <a:lnTo>
                    <a:pt x="0" y="419100"/>
                  </a:lnTo>
                </a:path>
              </a:pathLst>
            </a:custGeom>
            <a:noFill/>
            <a:ln w="9525">
              <a:solidFill>
                <a:srgbClr val="E4B4AC"/>
              </a:solidFill>
            </a:ln>
          </p:spPr>
        </p:sp>
        <p:sp>
          <p:nvSpPr>
            <p:cNvPr id="365" name="TextBox 365"/>
            <p:cNvSpPr txBox="1"/>
            <p:nvPr/>
          </p:nvSpPr>
          <p:spPr>
            <a:xfrm>
              <a:off x="2205038" y="6261497"/>
              <a:ext cx="7836197" cy="183356"/>
            </a:xfrm>
            <a:prstGeom prst="rect">
              <a:avLst/>
            </a:prstGeom>
            <a:noFill/>
            <a:ln>
              <a:noFill/>
            </a:ln>
          </p:spPr>
          <p:txBody>
            <a:bodyPr wrap="none" lIns="0" tIns="0" rIns="0" bIns="0" anchor="t" anchorCtr="0">
              <a:spAutoFit/>
            </a:bodyPr>
            <a:lstStyle/>
            <a:p>
              <a:pPr algn="l"/>
              <a:r>
                <a:rPr lang="zh-CN" sz="940" dirty="0">
                  <a:solidFill>
                    <a:srgbClr val="5E3A33"/>
                  </a:solidFill>
                  <a:latin typeface="+mn-lt"/>
                  <a:ea typeface="+mn-ea"/>
                  <a:cs typeface="+mn-cs"/>
                </a:rPr>
                <a:t>以客户旅程为主线，贯通“获客-激活-成长-成熟-预警-挽回”全生命周期，</a:t>
              </a:r>
              <a:r>
                <a:rPr lang="zh-CN" sz="940" b="1" dirty="0">
                  <a:solidFill>
                    <a:srgbClr val="A3381F"/>
                  </a:solidFill>
                  <a:latin typeface="+mn-lt"/>
                  <a:ea typeface="+mn-ea"/>
                  <a:cs typeface="+mn-cs"/>
                </a:rPr>
                <a:t>分阶段经营、精准触达、数据驱动</a:t>
              </a:r>
              <a:r>
                <a:rPr lang="zh-CN" sz="940" dirty="0">
                  <a:solidFill>
                    <a:srgbClr val="5E3A33"/>
                  </a:solidFill>
                  <a:latin typeface="+mn-lt"/>
                  <a:ea typeface="+mn-ea"/>
                  <a:cs typeface="+mn-cs"/>
                </a:rPr>
                <a:t>，持续提升客户价值与经营效能</a:t>
              </a:r>
            </a:p>
          </p:txBody>
        </p:sp>
      </p:gr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13</a:t>
              </a:r>
            </a:p>
          </p:txBody>
        </p:sp>
        <p:sp>
          <p:nvSpPr>
            <p:cNvPr id="4" name="TextBox 4"/>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事件驱动经营：把客户变化转化为</a:t>
              </a:r>
              <a:r>
                <a:rPr lang="zh-CN" sz="1950" b="1" dirty="0">
                  <a:solidFill>
                    <a:srgbClr val="A3381F"/>
                  </a:solidFill>
                  <a:latin typeface="SimSun"/>
                  <a:ea typeface="SimSun"/>
                  <a:cs typeface="SimSun"/>
                </a:rPr>
                <a:t>维护任务</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52" name="event-list"/>
          <p:cNvGrpSpPr/>
          <p:nvPr/>
        </p:nvGrpSpPr>
        <p:grpSpPr>
          <a:xfrm>
            <a:off x="381000" y="838200"/>
            <a:ext cx="3238500" cy="4457700"/>
            <a:chOff x="381000" y="838200"/>
            <a:chExt cx="3238500" cy="4457700"/>
          </a:xfrm>
        </p:grpSpPr>
        <p:sp>
          <p:nvSpPr>
            <p:cNvPr id="7" name="Rectangle 7"/>
            <p:cNvSpPr/>
            <p:nvPr/>
          </p:nvSpPr>
          <p:spPr>
            <a:xfrm>
              <a:off x="381000" y="838200"/>
              <a:ext cx="3238500" cy="800100"/>
            </a:xfrm>
            <a:prstGeom prst="roundRect">
              <a:avLst>
                <a:gd name="adj" fmla="val 11905"/>
              </a:avLst>
            </a:prstGeom>
            <a:solidFill>
              <a:srgbClr val="FFFFFF"/>
            </a:solidFill>
            <a:ln w="9525">
              <a:solidFill>
                <a:srgbClr val="E6D9C0"/>
              </a:solidFill>
            </a:ln>
          </p:spPr>
        </p:sp>
        <p:sp>
          <p:nvSpPr>
            <p:cNvPr id="8" name="Ellipse 8"/>
            <p:cNvSpPr/>
            <p:nvPr/>
          </p:nvSpPr>
          <p:spPr>
            <a:xfrm>
              <a:off x="495300" y="1009650"/>
              <a:ext cx="457200" cy="457200"/>
            </a:xfrm>
            <a:prstGeom prst="ellipse">
              <a:avLst/>
            </a:prstGeom>
            <a:solidFill>
              <a:srgbClr val="A3381F"/>
            </a:solidFill>
            <a:ln>
              <a:noFill/>
            </a:ln>
          </p:spPr>
        </p:sp>
        <p:grpSp>
          <p:nvGrpSpPr>
            <p:cNvPr id="12" name="Group 12"/>
            <p:cNvGrpSpPr/>
            <p:nvPr/>
          </p:nvGrpSpPr>
          <p:grpSpPr>
            <a:xfrm>
              <a:off x="666750" y="1152525"/>
              <a:ext cx="142875" cy="171450"/>
              <a:chOff x="666750" y="1152525"/>
              <a:chExt cx="142875" cy="171450"/>
            </a:xfrm>
          </p:grpSpPr>
          <p:sp>
            <p:nvSpPr>
              <p:cNvPr id="9" name="Freeform 9"/>
              <p:cNvSpPr/>
              <p:nvPr/>
            </p:nvSpPr>
            <p:spPr>
              <a:xfrm>
                <a:off x="685800" y="11525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0" name="Freeform 10"/>
              <p:cNvSpPr/>
              <p:nvPr/>
            </p:nvSpPr>
            <p:spPr>
              <a:xfrm>
                <a:off x="666750" y="126682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FFFFFF"/>
                </a:solidFill>
              </a:ln>
            </p:spPr>
          </p:sp>
          <p:sp>
            <p:nvSpPr>
              <p:cNvPr id="11" name="Freeform 11"/>
              <p:cNvSpPr/>
              <p:nvPr/>
            </p:nvSpPr>
            <p:spPr>
              <a:xfrm>
                <a:off x="752475" y="128587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13" name="TextBox 13"/>
            <p:cNvSpPr txBox="1"/>
            <p:nvPr/>
          </p:nvSpPr>
          <p:spPr>
            <a:xfrm>
              <a:off x="1100138" y="108394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01</a:t>
              </a:r>
            </a:p>
          </p:txBody>
        </p:sp>
        <p:sp>
          <p:nvSpPr>
            <p:cNvPr id="14" name="TextBox 14"/>
            <p:cNvSpPr txBox="1"/>
            <p:nvPr/>
          </p:nvSpPr>
          <p:spPr>
            <a:xfrm>
              <a:off x="1404366" y="1077278"/>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账户事件</a:t>
              </a:r>
            </a:p>
          </p:txBody>
        </p:sp>
        <p:sp>
          <p:nvSpPr>
            <p:cNvPr id="15" name="TextBox 15"/>
            <p:cNvSpPr txBox="1"/>
            <p:nvPr/>
          </p:nvSpPr>
          <p:spPr>
            <a:xfrm>
              <a:off x="1100138" y="1366838"/>
              <a:ext cx="933355" cy="147638"/>
            </a:xfrm>
            <a:prstGeom prst="rect">
              <a:avLst/>
            </a:prstGeom>
            <a:noFill/>
            <a:ln>
              <a:noFill/>
            </a:ln>
          </p:spPr>
          <p:txBody>
            <a:bodyPr wrap="none" lIns="0" tIns="0" rIns="0" bIns="0" anchor="t" anchorCtr="0">
              <a:spAutoFit/>
            </a:bodyPr>
            <a:lstStyle/>
            <a:p>
              <a:pPr algn="l"/>
              <a:r>
                <a:rPr lang="zh-CN" sz="750" dirty="0">
                  <a:solidFill>
                    <a:srgbClr val="6B6B6B"/>
                  </a:solidFill>
                  <a:latin typeface="+mn-lt"/>
                  <a:ea typeface="+mn-ea"/>
                  <a:cs typeface="+mn-cs"/>
                </a:rPr>
                <a:t>开户未登录 / 未交易</a:t>
              </a:r>
            </a:p>
          </p:txBody>
        </p:sp>
        <p:sp>
          <p:nvSpPr>
            <p:cNvPr id="16" name="Rectangle 16"/>
            <p:cNvSpPr/>
            <p:nvPr/>
          </p:nvSpPr>
          <p:spPr>
            <a:xfrm>
              <a:off x="381000" y="1752600"/>
              <a:ext cx="3238500" cy="800100"/>
            </a:xfrm>
            <a:prstGeom prst="roundRect">
              <a:avLst>
                <a:gd name="adj" fmla="val 11905"/>
              </a:avLst>
            </a:prstGeom>
            <a:solidFill>
              <a:srgbClr val="FFFFFF"/>
            </a:solidFill>
            <a:ln w="9525">
              <a:solidFill>
                <a:srgbClr val="E6D9C0"/>
              </a:solidFill>
            </a:ln>
          </p:spPr>
        </p:sp>
        <p:sp>
          <p:nvSpPr>
            <p:cNvPr id="17" name="Ellipse 17"/>
            <p:cNvSpPr/>
            <p:nvPr/>
          </p:nvSpPr>
          <p:spPr>
            <a:xfrm>
              <a:off x="495300" y="1924050"/>
              <a:ext cx="457200" cy="457200"/>
            </a:xfrm>
            <a:prstGeom prst="ellipse">
              <a:avLst/>
            </a:prstGeom>
            <a:solidFill>
              <a:srgbClr val="C26D5E"/>
            </a:solidFill>
            <a:ln>
              <a:noFill/>
            </a:ln>
          </p:spPr>
        </p:sp>
        <p:grpSp>
          <p:nvGrpSpPr>
            <p:cNvPr id="21" name="Group 21"/>
            <p:cNvGrpSpPr/>
            <p:nvPr/>
          </p:nvGrpSpPr>
          <p:grpSpPr>
            <a:xfrm>
              <a:off x="638175" y="2085975"/>
              <a:ext cx="171450" cy="133350"/>
              <a:chOff x="638175" y="2085975"/>
              <a:chExt cx="171450" cy="133350"/>
            </a:xfrm>
          </p:grpSpPr>
          <p:sp>
            <p:nvSpPr>
              <p:cNvPr id="18" name="Freeform 18"/>
              <p:cNvSpPr/>
              <p:nvPr/>
            </p:nvSpPr>
            <p:spPr>
              <a:xfrm>
                <a:off x="638175" y="2085975"/>
                <a:ext cx="133350" cy="95250"/>
              </a:xfrm>
              <a:custGeom>
                <a:avLst/>
                <a:gdLst/>
                <a:ahLst/>
                <a:cxnLst/>
                <a:rect l="l" t="t" r="r" b="b"/>
                <a:pathLst>
                  <a:path w="133350" h="95250">
                    <a:moveTo>
                      <a:pt x="38100" y="95250"/>
                    </a:moveTo>
                    <a:lnTo>
                      <a:pt x="9525" y="95250"/>
                    </a:lnTo>
                    <a:cubicBezTo>
                      <a:pt x="4264" y="95250"/>
                      <a:pt x="0" y="90986"/>
                      <a:pt x="0" y="85725"/>
                    </a:cubicBezTo>
                    <a:lnTo>
                      <a:pt x="0" y="9525"/>
                    </a:lnTo>
                    <a:cubicBezTo>
                      <a:pt x="0" y="4264"/>
                      <a:pt x="4264" y="0"/>
                      <a:pt x="9525" y="0"/>
                    </a:cubicBezTo>
                    <a:lnTo>
                      <a:pt x="123825" y="0"/>
                    </a:lnTo>
                    <a:cubicBezTo>
                      <a:pt x="129086" y="0"/>
                      <a:pt x="133350" y="4264"/>
                      <a:pt x="133350" y="9525"/>
                    </a:cubicBezTo>
                    <a:lnTo>
                      <a:pt x="133350" y="38100"/>
                    </a:lnTo>
                  </a:path>
                </a:pathLst>
              </a:custGeom>
              <a:noFill/>
              <a:ln w="19050">
                <a:solidFill>
                  <a:srgbClr val="FFFFFF"/>
                </a:solidFill>
              </a:ln>
            </p:spPr>
          </p:sp>
          <p:sp>
            <p:nvSpPr>
              <p:cNvPr id="19" name="Freeform 19"/>
              <p:cNvSpPr/>
              <p:nvPr/>
            </p:nvSpPr>
            <p:spPr>
              <a:xfrm>
                <a:off x="676275" y="2124075"/>
                <a:ext cx="133350" cy="95250"/>
              </a:xfrm>
              <a:custGeom>
                <a:avLst/>
                <a:gdLst/>
                <a:ahLst/>
                <a:cxnLst/>
                <a:rect l="l" t="t" r="r" b="b"/>
                <a:pathLst>
                  <a:path w="133350" h="95250">
                    <a:moveTo>
                      <a:pt x="0" y="9525"/>
                    </a:moveTo>
                    <a:cubicBezTo>
                      <a:pt x="0" y="4264"/>
                      <a:pt x="4264" y="0"/>
                      <a:pt x="9525" y="0"/>
                    </a:cubicBezTo>
                    <a:lnTo>
                      <a:pt x="123825" y="0"/>
                    </a:lnTo>
                    <a:cubicBezTo>
                      <a:pt x="129086" y="0"/>
                      <a:pt x="133350" y="4264"/>
                      <a:pt x="133350" y="9525"/>
                    </a:cubicBezTo>
                    <a:lnTo>
                      <a:pt x="133350" y="85725"/>
                    </a:lnTo>
                    <a:cubicBezTo>
                      <a:pt x="133350" y="90986"/>
                      <a:pt x="129086" y="95250"/>
                      <a:pt x="123825" y="95250"/>
                    </a:cubicBezTo>
                    <a:lnTo>
                      <a:pt x="9525" y="95250"/>
                    </a:lnTo>
                    <a:cubicBezTo>
                      <a:pt x="4264" y="95250"/>
                      <a:pt x="0" y="90986"/>
                      <a:pt x="0" y="85725"/>
                    </a:cubicBezTo>
                    <a:lnTo>
                      <a:pt x="0" y="9525"/>
                    </a:lnTo>
                  </a:path>
                </a:pathLst>
              </a:custGeom>
              <a:noFill/>
              <a:ln w="19050">
                <a:solidFill>
                  <a:srgbClr val="FFFFFF"/>
                </a:solidFill>
              </a:ln>
            </p:spPr>
          </p:sp>
          <p:sp>
            <p:nvSpPr>
              <p:cNvPr id="20" name="Freeform 20"/>
              <p:cNvSpPr/>
              <p:nvPr/>
            </p:nvSpPr>
            <p:spPr>
              <a:xfrm>
                <a:off x="723900" y="21526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grpSp>
        <p:sp>
          <p:nvSpPr>
            <p:cNvPr id="22" name="TextBox 22"/>
            <p:cNvSpPr txBox="1"/>
            <p:nvPr/>
          </p:nvSpPr>
          <p:spPr>
            <a:xfrm>
              <a:off x="1100138" y="199834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02</a:t>
              </a:r>
            </a:p>
          </p:txBody>
        </p:sp>
        <p:sp>
          <p:nvSpPr>
            <p:cNvPr id="23" name="TextBox 23"/>
            <p:cNvSpPr txBox="1"/>
            <p:nvPr/>
          </p:nvSpPr>
          <p:spPr>
            <a:xfrm>
              <a:off x="1404366" y="1991678"/>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资金事件</a:t>
              </a:r>
            </a:p>
          </p:txBody>
        </p:sp>
        <p:sp>
          <p:nvSpPr>
            <p:cNvPr id="24" name="TextBox 24"/>
            <p:cNvSpPr txBox="1"/>
            <p:nvPr/>
          </p:nvSpPr>
          <p:spPr>
            <a:xfrm>
              <a:off x="1100138" y="2281238"/>
              <a:ext cx="1556290" cy="147638"/>
            </a:xfrm>
            <a:prstGeom prst="rect">
              <a:avLst/>
            </a:prstGeom>
            <a:noFill/>
            <a:ln>
              <a:noFill/>
            </a:ln>
          </p:spPr>
          <p:txBody>
            <a:bodyPr wrap="none" lIns="0" tIns="0" rIns="0" bIns="0" anchor="t" anchorCtr="0">
              <a:spAutoFit/>
            </a:bodyPr>
            <a:lstStyle/>
            <a:p>
              <a:pPr algn="l"/>
              <a:r>
                <a:rPr lang="zh-CN" sz="750" dirty="0">
                  <a:solidFill>
                    <a:srgbClr val="6B6B6B"/>
                  </a:solidFill>
                  <a:latin typeface="+mn-lt"/>
                  <a:ea typeface="+mn-ea"/>
                  <a:cs typeface="+mn-cs"/>
                </a:rPr>
                <a:t xml:space="preserve">大额转入 / 集中转出 / AUM下降　</a:t>
              </a:r>
            </a:p>
          </p:txBody>
        </p:sp>
        <p:sp>
          <p:nvSpPr>
            <p:cNvPr id="25" name="Rectangle 25"/>
            <p:cNvSpPr/>
            <p:nvPr/>
          </p:nvSpPr>
          <p:spPr>
            <a:xfrm>
              <a:off x="381000" y="2667000"/>
              <a:ext cx="3238500" cy="800100"/>
            </a:xfrm>
            <a:prstGeom prst="roundRect">
              <a:avLst>
                <a:gd name="adj" fmla="val 11905"/>
              </a:avLst>
            </a:prstGeom>
            <a:solidFill>
              <a:srgbClr val="FFFFFF"/>
            </a:solidFill>
            <a:ln w="9525">
              <a:solidFill>
                <a:srgbClr val="E6D9C0"/>
              </a:solidFill>
            </a:ln>
          </p:spPr>
        </p:sp>
        <p:sp>
          <p:nvSpPr>
            <p:cNvPr id="26" name="Ellipse 26"/>
            <p:cNvSpPr/>
            <p:nvPr/>
          </p:nvSpPr>
          <p:spPr>
            <a:xfrm>
              <a:off x="495300" y="2838450"/>
              <a:ext cx="457200" cy="457200"/>
            </a:xfrm>
            <a:prstGeom prst="ellipse">
              <a:avLst/>
            </a:prstGeom>
            <a:solidFill>
              <a:srgbClr val="A3381F"/>
            </a:solidFill>
            <a:ln>
              <a:noFill/>
            </a:ln>
          </p:spPr>
        </p:sp>
        <p:grpSp>
          <p:nvGrpSpPr>
            <p:cNvPr id="31" name="Group 31"/>
            <p:cNvGrpSpPr/>
            <p:nvPr/>
          </p:nvGrpSpPr>
          <p:grpSpPr>
            <a:xfrm>
              <a:off x="647700" y="2981325"/>
              <a:ext cx="152400" cy="171450"/>
              <a:chOff x="647700" y="2981325"/>
              <a:chExt cx="152400" cy="171450"/>
            </a:xfrm>
          </p:grpSpPr>
          <p:sp>
            <p:nvSpPr>
              <p:cNvPr id="27" name="Freeform 27"/>
              <p:cNvSpPr/>
              <p:nvPr/>
            </p:nvSpPr>
            <p:spPr>
              <a:xfrm>
                <a:off x="647700" y="29813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rgbClr val="FFFFFF"/>
                </a:solidFill>
              </a:ln>
            </p:spPr>
          </p:sp>
          <p:sp>
            <p:nvSpPr>
              <p:cNvPr id="28" name="Freeform 28"/>
              <p:cNvSpPr/>
              <p:nvPr/>
            </p:nvSpPr>
            <p:spPr>
              <a:xfrm>
                <a:off x="723900" y="3024188"/>
                <a:ext cx="76200" cy="42862"/>
              </a:xfrm>
              <a:custGeom>
                <a:avLst/>
                <a:gdLst/>
                <a:ahLst/>
                <a:cxnLst/>
                <a:rect l="l" t="t" r="r" b="b"/>
                <a:pathLst>
                  <a:path w="76200" h="42862">
                    <a:moveTo>
                      <a:pt x="0" y="42862"/>
                    </a:moveTo>
                    <a:lnTo>
                      <a:pt x="76200" y="0"/>
                    </a:lnTo>
                  </a:path>
                </a:pathLst>
              </a:custGeom>
              <a:noFill/>
              <a:ln w="19050">
                <a:solidFill>
                  <a:srgbClr val="FFFFFF"/>
                </a:solidFill>
              </a:ln>
            </p:spPr>
          </p:sp>
          <p:sp>
            <p:nvSpPr>
              <p:cNvPr id="29" name="Freeform 29"/>
              <p:cNvSpPr/>
              <p:nvPr/>
            </p:nvSpPr>
            <p:spPr>
              <a:xfrm>
                <a:off x="723900" y="3067050"/>
                <a:ext cx="9525" cy="85725"/>
              </a:xfrm>
              <a:custGeom>
                <a:avLst/>
                <a:gdLst/>
                <a:ahLst/>
                <a:cxnLst/>
                <a:rect l="l" t="t" r="r" b="b"/>
                <a:pathLst>
                  <a:path w="9525" h="85725">
                    <a:moveTo>
                      <a:pt x="0" y="0"/>
                    </a:moveTo>
                    <a:lnTo>
                      <a:pt x="0" y="85725"/>
                    </a:lnTo>
                  </a:path>
                </a:pathLst>
              </a:custGeom>
              <a:noFill/>
              <a:ln w="19050">
                <a:solidFill>
                  <a:srgbClr val="FFFFFF"/>
                </a:solidFill>
              </a:ln>
            </p:spPr>
          </p:sp>
          <p:sp>
            <p:nvSpPr>
              <p:cNvPr id="30" name="Freeform 30"/>
              <p:cNvSpPr/>
              <p:nvPr/>
            </p:nvSpPr>
            <p:spPr>
              <a:xfrm>
                <a:off x="647700" y="3024188"/>
                <a:ext cx="76200" cy="42862"/>
              </a:xfrm>
              <a:custGeom>
                <a:avLst/>
                <a:gdLst/>
                <a:ahLst/>
                <a:cxnLst/>
                <a:rect l="l" t="t" r="r" b="b"/>
                <a:pathLst>
                  <a:path w="76200" h="42862">
                    <a:moveTo>
                      <a:pt x="76200" y="42862"/>
                    </a:moveTo>
                    <a:lnTo>
                      <a:pt x="0" y="0"/>
                    </a:lnTo>
                  </a:path>
                </a:pathLst>
              </a:custGeom>
              <a:noFill/>
              <a:ln w="19050">
                <a:solidFill>
                  <a:srgbClr val="FFFFFF"/>
                </a:solidFill>
              </a:ln>
            </p:spPr>
          </p:sp>
        </p:grpSp>
        <p:sp>
          <p:nvSpPr>
            <p:cNvPr id="32" name="TextBox 32"/>
            <p:cNvSpPr txBox="1"/>
            <p:nvPr/>
          </p:nvSpPr>
          <p:spPr>
            <a:xfrm>
              <a:off x="1100138" y="291274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03</a:t>
              </a:r>
            </a:p>
          </p:txBody>
        </p:sp>
        <p:sp>
          <p:nvSpPr>
            <p:cNvPr id="33" name="TextBox 33"/>
            <p:cNvSpPr txBox="1"/>
            <p:nvPr/>
          </p:nvSpPr>
          <p:spPr>
            <a:xfrm>
              <a:off x="1404366" y="2906078"/>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产品事件</a:t>
              </a:r>
            </a:p>
          </p:txBody>
        </p:sp>
        <p:sp>
          <p:nvSpPr>
            <p:cNvPr id="34" name="TextBox 34"/>
            <p:cNvSpPr txBox="1"/>
            <p:nvPr/>
          </p:nvSpPr>
          <p:spPr>
            <a:xfrm>
              <a:off x="1100138" y="3195638"/>
              <a:ext cx="1135285" cy="147638"/>
            </a:xfrm>
            <a:prstGeom prst="rect">
              <a:avLst/>
            </a:prstGeom>
            <a:noFill/>
            <a:ln>
              <a:noFill/>
            </a:ln>
          </p:spPr>
          <p:txBody>
            <a:bodyPr wrap="none" lIns="0" tIns="0" rIns="0" bIns="0" anchor="t" anchorCtr="0">
              <a:spAutoFit/>
            </a:bodyPr>
            <a:lstStyle/>
            <a:p>
              <a:pPr algn="l"/>
              <a:r>
                <a:rPr lang="zh-CN" sz="750" dirty="0">
                  <a:solidFill>
                    <a:srgbClr val="6B6B6B"/>
                  </a:solidFill>
                  <a:latin typeface="+mn-lt"/>
                  <a:ea typeface="+mn-ea"/>
                  <a:cs typeface="+mn-cs"/>
                </a:rPr>
                <a:t>产品到期 / 风险测评到期</a:t>
              </a:r>
            </a:p>
          </p:txBody>
        </p:sp>
        <p:sp>
          <p:nvSpPr>
            <p:cNvPr id="35" name="Rectangle 35"/>
            <p:cNvSpPr/>
            <p:nvPr/>
          </p:nvSpPr>
          <p:spPr>
            <a:xfrm>
              <a:off x="381000" y="3581400"/>
              <a:ext cx="3238500" cy="800100"/>
            </a:xfrm>
            <a:prstGeom prst="roundRect">
              <a:avLst>
                <a:gd name="adj" fmla="val 11905"/>
              </a:avLst>
            </a:prstGeom>
            <a:solidFill>
              <a:srgbClr val="FFFFFF"/>
            </a:solidFill>
            <a:ln w="9525">
              <a:solidFill>
                <a:srgbClr val="E6D9C0"/>
              </a:solidFill>
            </a:ln>
          </p:spPr>
        </p:sp>
        <p:sp>
          <p:nvSpPr>
            <p:cNvPr id="36" name="Ellipse 36"/>
            <p:cNvSpPr/>
            <p:nvPr/>
          </p:nvSpPr>
          <p:spPr>
            <a:xfrm>
              <a:off x="495300" y="3752850"/>
              <a:ext cx="457200" cy="457200"/>
            </a:xfrm>
            <a:prstGeom prst="ellipse">
              <a:avLst/>
            </a:prstGeom>
            <a:solidFill>
              <a:srgbClr val="C26D5E"/>
            </a:solidFill>
            <a:ln>
              <a:noFill/>
            </a:ln>
          </p:spPr>
        </p:sp>
        <p:grpSp>
          <p:nvGrpSpPr>
            <p:cNvPr id="39" name="Group 39"/>
            <p:cNvGrpSpPr/>
            <p:nvPr/>
          </p:nvGrpSpPr>
          <p:grpSpPr>
            <a:xfrm>
              <a:off x="647700" y="3924300"/>
              <a:ext cx="152400" cy="133350"/>
              <a:chOff x="647700" y="3924300"/>
              <a:chExt cx="152400" cy="133350"/>
            </a:xfrm>
          </p:grpSpPr>
          <p:sp>
            <p:nvSpPr>
              <p:cNvPr id="37" name="Freeform 37"/>
              <p:cNvSpPr/>
              <p:nvPr/>
            </p:nvSpPr>
            <p:spPr>
              <a:xfrm>
                <a:off x="647700" y="4048125"/>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38" name="Freeform 38"/>
              <p:cNvSpPr/>
              <p:nvPr/>
            </p:nvSpPr>
            <p:spPr>
              <a:xfrm>
                <a:off x="647700" y="392430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FFFF"/>
                </a:solidFill>
              </a:ln>
            </p:spPr>
          </p:sp>
        </p:grpSp>
        <p:sp>
          <p:nvSpPr>
            <p:cNvPr id="40" name="TextBox 40"/>
            <p:cNvSpPr txBox="1"/>
            <p:nvPr/>
          </p:nvSpPr>
          <p:spPr>
            <a:xfrm>
              <a:off x="1100138" y="382714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04</a:t>
              </a:r>
            </a:p>
          </p:txBody>
        </p:sp>
        <p:sp>
          <p:nvSpPr>
            <p:cNvPr id="41" name="TextBox 41"/>
            <p:cNvSpPr txBox="1"/>
            <p:nvPr/>
          </p:nvSpPr>
          <p:spPr>
            <a:xfrm>
              <a:off x="1404366" y="3820478"/>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行为事件</a:t>
              </a:r>
            </a:p>
          </p:txBody>
        </p:sp>
        <p:sp>
          <p:nvSpPr>
            <p:cNvPr id="42" name="TextBox 42"/>
            <p:cNvSpPr txBox="1"/>
            <p:nvPr/>
          </p:nvSpPr>
          <p:spPr>
            <a:xfrm>
              <a:off x="1100138" y="4110038"/>
              <a:ext cx="933355" cy="147638"/>
            </a:xfrm>
            <a:prstGeom prst="rect">
              <a:avLst/>
            </a:prstGeom>
            <a:noFill/>
            <a:ln>
              <a:noFill/>
            </a:ln>
          </p:spPr>
          <p:txBody>
            <a:bodyPr wrap="none" lIns="0" tIns="0" rIns="0" bIns="0" anchor="t" anchorCtr="0">
              <a:spAutoFit/>
            </a:bodyPr>
            <a:lstStyle/>
            <a:p>
              <a:pPr algn="l"/>
              <a:r>
                <a:rPr lang="zh-CN" sz="750" dirty="0">
                  <a:solidFill>
                    <a:srgbClr val="6B6B6B"/>
                  </a:solidFill>
                  <a:latin typeface="+mn-lt"/>
                  <a:ea typeface="+mn-ea"/>
                  <a:cs typeface="+mn-cs"/>
                </a:rPr>
                <a:t>活跃下降 / 接近升级</a:t>
              </a:r>
            </a:p>
          </p:txBody>
        </p:sp>
        <p:sp>
          <p:nvSpPr>
            <p:cNvPr id="43" name="Rectangle 43"/>
            <p:cNvSpPr/>
            <p:nvPr/>
          </p:nvSpPr>
          <p:spPr>
            <a:xfrm>
              <a:off x="381000" y="4495800"/>
              <a:ext cx="3238500" cy="800100"/>
            </a:xfrm>
            <a:prstGeom prst="roundRect">
              <a:avLst>
                <a:gd name="adj" fmla="val 11905"/>
              </a:avLst>
            </a:prstGeom>
            <a:solidFill>
              <a:srgbClr val="FFFFFF"/>
            </a:solidFill>
            <a:ln w="9525">
              <a:solidFill>
                <a:srgbClr val="E6D9C0"/>
              </a:solidFill>
            </a:ln>
          </p:spPr>
        </p:sp>
        <p:sp>
          <p:nvSpPr>
            <p:cNvPr id="44" name="Ellipse 44"/>
            <p:cNvSpPr/>
            <p:nvPr/>
          </p:nvSpPr>
          <p:spPr>
            <a:xfrm>
              <a:off x="495300" y="4667250"/>
              <a:ext cx="457200" cy="457200"/>
            </a:xfrm>
            <a:prstGeom prst="ellipse">
              <a:avLst/>
            </a:prstGeom>
            <a:solidFill>
              <a:srgbClr val="A3381F"/>
            </a:solidFill>
            <a:ln>
              <a:noFill/>
            </a:ln>
          </p:spPr>
        </p:sp>
        <p:grpSp>
          <p:nvGrpSpPr>
            <p:cNvPr id="48" name="Group 48"/>
            <p:cNvGrpSpPr/>
            <p:nvPr/>
          </p:nvGrpSpPr>
          <p:grpSpPr>
            <a:xfrm>
              <a:off x="627839" y="4806961"/>
              <a:ext cx="192114" cy="165051"/>
              <a:chOff x="627839" y="4806961"/>
              <a:chExt cx="192114" cy="165051"/>
            </a:xfrm>
          </p:grpSpPr>
          <p:sp>
            <p:nvSpPr>
              <p:cNvPr id="45" name="Freeform 45"/>
              <p:cNvSpPr/>
              <p:nvPr/>
            </p:nvSpPr>
            <p:spPr>
              <a:xfrm>
                <a:off x="723900" y="4867275"/>
                <a:ext cx="9525" cy="38100"/>
              </a:xfrm>
              <a:custGeom>
                <a:avLst/>
                <a:gdLst/>
                <a:ahLst/>
                <a:cxnLst/>
                <a:rect l="l" t="t" r="r" b="b"/>
                <a:pathLst>
                  <a:path w="9525" h="38100">
                    <a:moveTo>
                      <a:pt x="0" y="0"/>
                    </a:moveTo>
                    <a:lnTo>
                      <a:pt x="0" y="38100"/>
                    </a:lnTo>
                  </a:path>
                </a:pathLst>
              </a:custGeom>
              <a:noFill/>
              <a:ln w="19050">
                <a:solidFill>
                  <a:srgbClr val="FFFFFF"/>
                </a:solidFill>
              </a:ln>
            </p:spPr>
          </p:sp>
          <p:sp>
            <p:nvSpPr>
              <p:cNvPr id="46" name="Freeform 46"/>
              <p:cNvSpPr/>
              <p:nvPr/>
            </p:nvSpPr>
            <p:spPr>
              <a:xfrm>
                <a:off x="627839" y="480696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FFFFFF"/>
                </a:solidFill>
              </a:ln>
            </p:spPr>
          </p:sp>
          <p:sp>
            <p:nvSpPr>
              <p:cNvPr id="47" name="Freeform 47"/>
              <p:cNvSpPr/>
              <p:nvPr/>
            </p:nvSpPr>
            <p:spPr>
              <a:xfrm>
                <a:off x="723900" y="4933950"/>
                <a:ext cx="9525" cy="9525"/>
              </a:xfrm>
              <a:custGeom>
                <a:avLst/>
                <a:gdLst/>
                <a:ahLst/>
                <a:cxnLst/>
                <a:rect l="l" t="t" r="r" b="b"/>
                <a:pathLst>
                  <a:path w="9525" h="9525">
                    <a:moveTo>
                      <a:pt x="0" y="0"/>
                    </a:moveTo>
                    <a:lnTo>
                      <a:pt x="95" y="0"/>
                    </a:lnTo>
                  </a:path>
                </a:pathLst>
              </a:custGeom>
              <a:noFill/>
              <a:ln w="19050">
                <a:solidFill>
                  <a:srgbClr val="FFFFFF"/>
                </a:solidFill>
              </a:ln>
            </p:spPr>
          </p:sp>
        </p:grpSp>
        <p:sp>
          <p:nvSpPr>
            <p:cNvPr id="49" name="TextBox 49"/>
            <p:cNvSpPr txBox="1"/>
            <p:nvPr/>
          </p:nvSpPr>
          <p:spPr>
            <a:xfrm>
              <a:off x="1100138" y="474154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05</a:t>
              </a:r>
            </a:p>
          </p:txBody>
        </p:sp>
        <p:sp>
          <p:nvSpPr>
            <p:cNvPr id="50" name="TextBox 50"/>
            <p:cNvSpPr txBox="1"/>
            <p:nvPr/>
          </p:nvSpPr>
          <p:spPr>
            <a:xfrm>
              <a:off x="1404366" y="4734878"/>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关系风险</a:t>
              </a:r>
            </a:p>
          </p:txBody>
        </p:sp>
        <p:sp>
          <p:nvSpPr>
            <p:cNvPr id="51" name="TextBox 51"/>
            <p:cNvSpPr txBox="1"/>
            <p:nvPr/>
          </p:nvSpPr>
          <p:spPr>
            <a:xfrm>
              <a:off x="1100138" y="5024438"/>
              <a:ext cx="933355" cy="147638"/>
            </a:xfrm>
            <a:prstGeom prst="rect">
              <a:avLst/>
            </a:prstGeom>
            <a:noFill/>
            <a:ln>
              <a:noFill/>
            </a:ln>
          </p:spPr>
          <p:txBody>
            <a:bodyPr wrap="none" lIns="0" tIns="0" rIns="0" bIns="0" anchor="t" anchorCtr="0">
              <a:spAutoFit/>
            </a:bodyPr>
            <a:lstStyle/>
            <a:p>
              <a:pPr algn="l"/>
              <a:r>
                <a:rPr lang="zh-CN" sz="750" dirty="0">
                  <a:solidFill>
                    <a:srgbClr val="6B6B6B"/>
                  </a:solidFill>
                  <a:latin typeface="+mn-lt"/>
                  <a:ea typeface="+mn-ea"/>
                  <a:cs typeface="+mn-cs"/>
                </a:rPr>
                <a:t>代发中断 / 投诉预警</a:t>
              </a:r>
            </a:p>
          </p:txBody>
        </p:sp>
      </p:grpSp>
      <p:sp>
        <p:nvSpPr>
          <p:cNvPr id="53" name="Line 53"/>
          <p:cNvSpPr/>
          <p:nvPr/>
        </p:nvSpPr>
        <p:spPr>
          <a:xfrm>
            <a:off x="3771900" y="1066800"/>
            <a:ext cx="9525" cy="4038600"/>
          </a:xfrm>
          <a:custGeom>
            <a:avLst/>
            <a:gdLst/>
            <a:ahLst/>
            <a:cxnLst/>
            <a:rect l="l" t="t" r="r" b="b"/>
            <a:pathLst>
              <a:path w="9525" h="4038600">
                <a:moveTo>
                  <a:pt x="0" y="0"/>
                </a:moveTo>
                <a:lnTo>
                  <a:pt x="0" y="4038600"/>
                </a:lnTo>
              </a:path>
            </a:pathLst>
          </a:custGeom>
          <a:noFill/>
          <a:ln w="11430">
            <a:solidFill>
              <a:srgbClr val="C9796B"/>
            </a:solidFill>
            <a:custDash>
              <a:ds d="250000" sp="250000"/>
            </a:custDash>
          </a:ln>
        </p:spPr>
      </p:sp>
      <p:sp>
        <p:nvSpPr>
          <p:cNvPr id="54" name="deco-dot-1"/>
          <p:cNvSpPr/>
          <p:nvPr/>
        </p:nvSpPr>
        <p:spPr>
          <a:xfrm>
            <a:off x="3743325" y="1209675"/>
            <a:ext cx="57150" cy="57150"/>
          </a:xfrm>
          <a:prstGeom prst="ellipse">
            <a:avLst/>
          </a:prstGeom>
          <a:solidFill>
            <a:srgbClr val="C26D5E"/>
          </a:solidFill>
          <a:ln>
            <a:noFill/>
          </a:ln>
        </p:spPr>
      </p:sp>
      <p:sp>
        <p:nvSpPr>
          <p:cNvPr id="55" name="deco-dot-2"/>
          <p:cNvSpPr/>
          <p:nvPr/>
        </p:nvSpPr>
        <p:spPr>
          <a:xfrm>
            <a:off x="3743325" y="2124075"/>
            <a:ext cx="57150" cy="57150"/>
          </a:xfrm>
          <a:prstGeom prst="ellipse">
            <a:avLst/>
          </a:prstGeom>
          <a:solidFill>
            <a:srgbClr val="C26D5E"/>
          </a:solidFill>
          <a:ln>
            <a:noFill/>
          </a:ln>
        </p:spPr>
      </p:sp>
      <p:sp>
        <p:nvSpPr>
          <p:cNvPr id="56" name="deco-dot-3"/>
          <p:cNvSpPr/>
          <p:nvPr/>
        </p:nvSpPr>
        <p:spPr>
          <a:xfrm>
            <a:off x="3743325" y="3038475"/>
            <a:ext cx="57150" cy="57150"/>
          </a:xfrm>
          <a:prstGeom prst="ellipse">
            <a:avLst/>
          </a:prstGeom>
          <a:solidFill>
            <a:srgbClr val="C26D5E"/>
          </a:solidFill>
          <a:ln>
            <a:noFill/>
          </a:ln>
        </p:spPr>
      </p:sp>
      <p:sp>
        <p:nvSpPr>
          <p:cNvPr id="57" name="deco-dot-4"/>
          <p:cNvSpPr/>
          <p:nvPr/>
        </p:nvSpPr>
        <p:spPr>
          <a:xfrm>
            <a:off x="3743325" y="3952875"/>
            <a:ext cx="57150" cy="57150"/>
          </a:xfrm>
          <a:prstGeom prst="ellipse">
            <a:avLst/>
          </a:prstGeom>
          <a:solidFill>
            <a:srgbClr val="C26D5E"/>
          </a:solidFill>
          <a:ln>
            <a:noFill/>
          </a:ln>
        </p:spPr>
      </p:sp>
      <p:sp>
        <p:nvSpPr>
          <p:cNvPr id="58" name="deco-dot-5"/>
          <p:cNvSpPr/>
          <p:nvPr/>
        </p:nvSpPr>
        <p:spPr>
          <a:xfrm>
            <a:off x="3743325" y="4867275"/>
            <a:ext cx="57150" cy="57150"/>
          </a:xfrm>
          <a:prstGeom prst="ellipse">
            <a:avLst/>
          </a:prstGeom>
          <a:solidFill>
            <a:srgbClr val="C26D5E"/>
          </a:solidFill>
          <a:ln>
            <a:noFill/>
          </a:ln>
        </p:spPr>
      </p:sp>
      <p:grpSp>
        <p:nvGrpSpPr>
          <p:cNvPr id="112" name="event-cycle"/>
          <p:cNvGrpSpPr/>
          <p:nvPr/>
        </p:nvGrpSpPr>
        <p:grpSpPr>
          <a:xfrm>
            <a:off x="4716691" y="1221343"/>
            <a:ext cx="3520618" cy="3331369"/>
            <a:chOff x="4716691" y="1221343"/>
            <a:chExt cx="3520618" cy="3331369"/>
          </a:xfrm>
        </p:grpSpPr>
        <p:sp>
          <p:nvSpPr>
            <p:cNvPr id="59" name="Freeform 59"/>
            <p:cNvSpPr/>
            <p:nvPr/>
          </p:nvSpPr>
          <p:spPr>
            <a:xfrm>
              <a:off x="6805612" y="1783080"/>
              <a:ext cx="438150" cy="252412"/>
            </a:xfrm>
            <a:custGeom>
              <a:avLst/>
              <a:gdLst/>
              <a:ahLst/>
              <a:cxnLst/>
              <a:rect l="l" t="t" r="r" b="b"/>
              <a:pathLst>
                <a:path w="438150" h="252412">
                  <a:moveTo>
                    <a:pt x="0" y="0"/>
                  </a:moveTo>
                  <a:cubicBezTo>
                    <a:pt x="163326" y="49766"/>
                    <a:pt x="313168" y="136087"/>
                    <a:pt x="438150" y="252412"/>
                  </a:cubicBezTo>
                </a:path>
              </a:pathLst>
            </a:custGeom>
            <a:noFill/>
            <a:ln w="19050">
              <a:solidFill>
                <a:srgbClr val="A3381F"/>
              </a:solidFill>
              <a:tailEnd type="triangle" w="lg" len="lg"/>
            </a:ln>
          </p:spPr>
        </p:sp>
        <p:sp>
          <p:nvSpPr>
            <p:cNvPr id="60" name="Freeform 60"/>
            <p:cNvSpPr/>
            <p:nvPr/>
          </p:nvSpPr>
          <p:spPr>
            <a:xfrm>
              <a:off x="7572375" y="2605088"/>
              <a:ext cx="38279" cy="504825"/>
            </a:xfrm>
            <a:custGeom>
              <a:avLst/>
              <a:gdLst/>
              <a:ahLst/>
              <a:cxnLst/>
              <a:rect l="l" t="t" r="r" b="b"/>
              <a:pathLst>
                <a:path w="38279" h="504825">
                  <a:moveTo>
                    <a:pt x="0" y="0"/>
                  </a:moveTo>
                  <a:cubicBezTo>
                    <a:pt x="38279" y="166098"/>
                    <a:pt x="38279" y="338727"/>
                    <a:pt x="0" y="504825"/>
                  </a:cubicBezTo>
                </a:path>
              </a:pathLst>
            </a:custGeom>
            <a:noFill/>
            <a:ln w="19050">
              <a:solidFill>
                <a:srgbClr val="C26D5E"/>
              </a:solidFill>
              <a:tailEnd type="triangle" w="lg" len="lg"/>
            </a:ln>
          </p:spPr>
        </p:sp>
        <p:sp>
          <p:nvSpPr>
            <p:cNvPr id="61" name="Freeform 61"/>
            <p:cNvSpPr/>
            <p:nvPr/>
          </p:nvSpPr>
          <p:spPr>
            <a:xfrm>
              <a:off x="6805612" y="3679508"/>
              <a:ext cx="438150" cy="252412"/>
            </a:xfrm>
            <a:custGeom>
              <a:avLst/>
              <a:gdLst/>
              <a:ahLst/>
              <a:cxnLst/>
              <a:rect l="l" t="t" r="r" b="b"/>
              <a:pathLst>
                <a:path w="438150" h="252412">
                  <a:moveTo>
                    <a:pt x="438150" y="0"/>
                  </a:moveTo>
                  <a:cubicBezTo>
                    <a:pt x="313168" y="116325"/>
                    <a:pt x="163326" y="202647"/>
                    <a:pt x="0" y="252412"/>
                  </a:cubicBezTo>
                </a:path>
              </a:pathLst>
            </a:custGeom>
            <a:noFill/>
            <a:ln w="19050">
              <a:solidFill>
                <a:srgbClr val="5E3A33"/>
              </a:solidFill>
              <a:tailEnd type="triangle" w="lg" len="lg"/>
            </a:ln>
          </p:spPr>
        </p:sp>
        <p:sp>
          <p:nvSpPr>
            <p:cNvPr id="62" name="Freeform 62"/>
            <p:cNvSpPr/>
            <p:nvPr/>
          </p:nvSpPr>
          <p:spPr>
            <a:xfrm>
              <a:off x="5710238" y="3679508"/>
              <a:ext cx="438150" cy="252412"/>
            </a:xfrm>
            <a:custGeom>
              <a:avLst/>
              <a:gdLst/>
              <a:ahLst/>
              <a:cxnLst/>
              <a:rect l="l" t="t" r="r" b="b"/>
              <a:pathLst>
                <a:path w="438150" h="252412">
                  <a:moveTo>
                    <a:pt x="438150" y="252412"/>
                  </a:moveTo>
                  <a:cubicBezTo>
                    <a:pt x="274824" y="202647"/>
                    <a:pt x="124982" y="116325"/>
                    <a:pt x="0" y="0"/>
                  </a:cubicBezTo>
                </a:path>
              </a:pathLst>
            </a:custGeom>
            <a:noFill/>
            <a:ln w="19050">
              <a:solidFill>
                <a:srgbClr val="A3381F"/>
              </a:solidFill>
              <a:tailEnd type="triangle" w="lg" len="lg"/>
            </a:ln>
          </p:spPr>
        </p:sp>
        <p:sp>
          <p:nvSpPr>
            <p:cNvPr id="63" name="Freeform 63"/>
            <p:cNvSpPr/>
            <p:nvPr/>
          </p:nvSpPr>
          <p:spPr>
            <a:xfrm>
              <a:off x="5343346" y="2605088"/>
              <a:ext cx="38279" cy="504825"/>
            </a:xfrm>
            <a:custGeom>
              <a:avLst/>
              <a:gdLst/>
              <a:ahLst/>
              <a:cxnLst/>
              <a:rect l="l" t="t" r="r" b="b"/>
              <a:pathLst>
                <a:path w="38279" h="504825">
                  <a:moveTo>
                    <a:pt x="38279" y="504825"/>
                  </a:moveTo>
                  <a:cubicBezTo>
                    <a:pt x="0" y="338727"/>
                    <a:pt x="0" y="166098"/>
                    <a:pt x="38279" y="0"/>
                  </a:cubicBezTo>
                </a:path>
              </a:pathLst>
            </a:custGeom>
            <a:noFill/>
            <a:ln w="19050">
              <a:solidFill>
                <a:srgbClr val="C26D5E"/>
              </a:solidFill>
              <a:tailEnd type="triangle" w="lg" len="lg"/>
            </a:ln>
          </p:spPr>
        </p:sp>
        <p:sp>
          <p:nvSpPr>
            <p:cNvPr id="64" name="Freeform 64"/>
            <p:cNvSpPr/>
            <p:nvPr/>
          </p:nvSpPr>
          <p:spPr>
            <a:xfrm>
              <a:off x="5710238" y="1783080"/>
              <a:ext cx="438150" cy="252412"/>
            </a:xfrm>
            <a:custGeom>
              <a:avLst/>
              <a:gdLst/>
              <a:ahLst/>
              <a:cxnLst/>
              <a:rect l="l" t="t" r="r" b="b"/>
              <a:pathLst>
                <a:path w="438150" h="252412">
                  <a:moveTo>
                    <a:pt x="0" y="252412"/>
                  </a:moveTo>
                  <a:cubicBezTo>
                    <a:pt x="124982" y="136087"/>
                    <a:pt x="274824" y="49766"/>
                    <a:pt x="438150" y="0"/>
                  </a:cubicBezTo>
                </a:path>
              </a:pathLst>
            </a:custGeom>
            <a:noFill/>
            <a:ln w="19050">
              <a:solidFill>
                <a:srgbClr val="5E3A33"/>
              </a:solidFill>
              <a:tailEnd type="triangle" w="lg" len="lg"/>
            </a:ln>
          </p:spPr>
        </p:sp>
        <p:sp>
          <p:nvSpPr>
            <p:cNvPr id="65" name="Ellipse 65"/>
            <p:cNvSpPr/>
            <p:nvPr/>
          </p:nvSpPr>
          <p:spPr>
            <a:xfrm>
              <a:off x="5867400" y="2247900"/>
              <a:ext cx="1219200" cy="1219200"/>
            </a:xfrm>
            <a:prstGeom prst="ellipse">
              <a:avLst/>
            </a:prstGeom>
            <a:gradFill>
              <a:gsLst>
                <a:gs pos="0">
                  <a:srgbClr val="A3381F"/>
                </a:gs>
                <a:gs pos="100000">
                  <a:srgbClr val="C85E46"/>
                </a:gs>
              </a:gsLst>
              <a:lin ang="2700000" scaled="1"/>
            </a:gradFill>
            <a:ln>
              <a:noFill/>
            </a:ln>
          </p:spPr>
        </p:sp>
        <p:sp>
          <p:nvSpPr>
            <p:cNvPr id="66" name="TextBox 66"/>
            <p:cNvSpPr txBox="1"/>
            <p:nvPr/>
          </p:nvSpPr>
          <p:spPr>
            <a:xfrm>
              <a:off x="6063958" y="2672001"/>
              <a:ext cx="82608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事件驱动闭环</a:t>
              </a:r>
            </a:p>
          </p:txBody>
        </p:sp>
        <p:sp>
          <p:nvSpPr>
            <p:cNvPr id="67" name="TextBox 67"/>
            <p:cNvSpPr txBox="1"/>
            <p:nvPr/>
          </p:nvSpPr>
          <p:spPr>
            <a:xfrm>
              <a:off x="5894718" y="2926080"/>
              <a:ext cx="1164565" cy="119062"/>
            </a:xfrm>
            <a:prstGeom prst="rect">
              <a:avLst/>
            </a:prstGeom>
            <a:noFill/>
            <a:ln>
              <a:noFill/>
            </a:ln>
          </p:spPr>
          <p:txBody>
            <a:bodyPr wrap="none" lIns="0" tIns="0" rIns="0" bIns="0" anchor="t" anchorCtr="0">
              <a:spAutoFit/>
            </a:bodyPr>
            <a:lstStyle/>
            <a:p>
              <a:pPr algn="ctr"/>
              <a:r>
                <a:rPr lang="zh-CN" sz="600" dirty="0">
                  <a:solidFill>
                    <a:srgbClr val="FFC3B8"/>
                  </a:solidFill>
                  <a:latin typeface="+mn-lt"/>
                  <a:ea typeface="+mn-ea"/>
                  <a:cs typeface="+mn-cs"/>
                </a:rPr>
                <a:t>数据驱动 · 精准识别 · 快速响应</a:t>
              </a:r>
            </a:p>
          </p:txBody>
        </p:sp>
        <p:sp>
          <p:nvSpPr>
            <p:cNvPr id="68" name="TextBox 68"/>
            <p:cNvSpPr txBox="1"/>
            <p:nvPr/>
          </p:nvSpPr>
          <p:spPr>
            <a:xfrm>
              <a:off x="6102706" y="3059430"/>
              <a:ext cx="748589" cy="119062"/>
            </a:xfrm>
            <a:prstGeom prst="rect">
              <a:avLst/>
            </a:prstGeom>
            <a:noFill/>
            <a:ln>
              <a:noFill/>
            </a:ln>
          </p:spPr>
          <p:txBody>
            <a:bodyPr wrap="none" lIns="0" tIns="0" rIns="0" bIns="0" anchor="t" anchorCtr="0">
              <a:spAutoFit/>
            </a:bodyPr>
            <a:lstStyle/>
            <a:p>
              <a:pPr algn="ctr"/>
              <a:r>
                <a:rPr lang="zh-CN" sz="600" dirty="0">
                  <a:solidFill>
                    <a:srgbClr val="FFC3B8"/>
                  </a:solidFill>
                  <a:latin typeface="+mn-lt"/>
                  <a:ea typeface="+mn-ea"/>
                  <a:cs typeface="+mn-cs"/>
                </a:rPr>
                <a:t>持续优化 · 提升价值</a:t>
              </a:r>
            </a:p>
          </p:txBody>
        </p:sp>
        <p:sp>
          <p:nvSpPr>
            <p:cNvPr id="69" name="Ellipse 69"/>
            <p:cNvSpPr/>
            <p:nvPr/>
          </p:nvSpPr>
          <p:spPr>
            <a:xfrm>
              <a:off x="6210300" y="1466850"/>
              <a:ext cx="533400" cy="533400"/>
            </a:xfrm>
            <a:prstGeom prst="ellipse">
              <a:avLst/>
            </a:prstGeom>
            <a:solidFill>
              <a:srgbClr val="FFFFFF"/>
            </a:solidFill>
            <a:ln w="19050">
              <a:solidFill>
                <a:srgbClr val="A3381F"/>
              </a:solidFill>
            </a:ln>
          </p:spPr>
        </p:sp>
        <p:grpSp>
          <p:nvGrpSpPr>
            <p:cNvPr id="72" name="Group 72"/>
            <p:cNvGrpSpPr/>
            <p:nvPr/>
          </p:nvGrpSpPr>
          <p:grpSpPr>
            <a:xfrm>
              <a:off x="6405562" y="1662112"/>
              <a:ext cx="142875" cy="142875"/>
              <a:chOff x="6405562" y="1662112"/>
              <a:chExt cx="142875" cy="142875"/>
            </a:xfrm>
          </p:grpSpPr>
          <p:sp>
            <p:nvSpPr>
              <p:cNvPr id="70" name="Freeform 70"/>
              <p:cNvSpPr/>
              <p:nvPr/>
            </p:nvSpPr>
            <p:spPr>
              <a:xfrm>
                <a:off x="6405562" y="16621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A3381F"/>
                </a:solidFill>
              </a:ln>
            </p:spPr>
          </p:sp>
          <p:sp>
            <p:nvSpPr>
              <p:cNvPr id="71" name="Freeform 71"/>
              <p:cNvSpPr/>
              <p:nvPr/>
            </p:nvSpPr>
            <p:spPr>
              <a:xfrm>
                <a:off x="6500812" y="1757362"/>
                <a:ext cx="47625" cy="47625"/>
              </a:xfrm>
              <a:custGeom>
                <a:avLst/>
                <a:gdLst/>
                <a:ahLst/>
                <a:cxnLst/>
                <a:rect l="l" t="t" r="r" b="b"/>
                <a:pathLst>
                  <a:path w="47625" h="47625">
                    <a:moveTo>
                      <a:pt x="47625" y="47625"/>
                    </a:moveTo>
                    <a:lnTo>
                      <a:pt x="0" y="0"/>
                    </a:lnTo>
                  </a:path>
                </a:pathLst>
              </a:custGeom>
              <a:noFill/>
              <a:ln w="15875">
                <a:solidFill>
                  <a:srgbClr val="A3381F"/>
                </a:solidFill>
              </a:ln>
            </p:spPr>
          </p:sp>
        </p:grpSp>
        <p:sp>
          <p:nvSpPr>
            <p:cNvPr id="73" name="Ellipse 73"/>
            <p:cNvSpPr/>
            <p:nvPr/>
          </p:nvSpPr>
          <p:spPr>
            <a:xfrm>
              <a:off x="6581775" y="1457325"/>
              <a:ext cx="171450" cy="171450"/>
            </a:xfrm>
            <a:prstGeom prst="ellipse">
              <a:avLst/>
            </a:prstGeom>
            <a:solidFill>
              <a:srgbClr val="A3381F"/>
            </a:solidFill>
            <a:ln>
              <a:noFill/>
            </a:ln>
          </p:spPr>
        </p:sp>
        <p:sp>
          <p:nvSpPr>
            <p:cNvPr id="74" name="TextBox 74"/>
            <p:cNvSpPr txBox="1"/>
            <p:nvPr/>
          </p:nvSpPr>
          <p:spPr>
            <a:xfrm>
              <a:off x="6616092" y="1511618"/>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01</a:t>
              </a:r>
            </a:p>
          </p:txBody>
        </p:sp>
        <p:sp>
          <p:nvSpPr>
            <p:cNvPr id="75" name="TextBox 75"/>
            <p:cNvSpPr txBox="1"/>
            <p:nvPr/>
          </p:nvSpPr>
          <p:spPr>
            <a:xfrm>
              <a:off x="6240691" y="1221343"/>
              <a:ext cx="472618" cy="169069"/>
            </a:xfrm>
            <a:prstGeom prst="rect">
              <a:avLst/>
            </a:prstGeom>
            <a:noFill/>
            <a:ln>
              <a:noFill/>
            </a:ln>
          </p:spPr>
          <p:txBody>
            <a:bodyPr wrap="none" lIns="0" tIns="0" rIns="0" bIns="0" anchor="t" anchorCtr="0">
              <a:spAutoFit/>
            </a:bodyPr>
            <a:lstStyle/>
            <a:p>
              <a:pPr algn="ctr"/>
              <a:r>
                <a:rPr lang="zh-CN" sz="860" b="1" dirty="0">
                  <a:solidFill>
                    <a:srgbClr val="5E3A33"/>
                  </a:solidFill>
                  <a:latin typeface="+mn-lt"/>
                  <a:ea typeface="+mn-ea"/>
                  <a:cs typeface="+mn-cs"/>
                </a:rPr>
                <a:t>事件发现</a:t>
              </a:r>
            </a:p>
          </p:txBody>
        </p:sp>
        <p:sp>
          <p:nvSpPr>
            <p:cNvPr id="76" name="Ellipse 76"/>
            <p:cNvSpPr/>
            <p:nvPr/>
          </p:nvSpPr>
          <p:spPr>
            <a:xfrm>
              <a:off x="7181850" y="2028825"/>
              <a:ext cx="533400" cy="533400"/>
            </a:xfrm>
            <a:prstGeom prst="ellipse">
              <a:avLst/>
            </a:prstGeom>
            <a:solidFill>
              <a:srgbClr val="FFFFFF"/>
            </a:solidFill>
            <a:ln w="19050">
              <a:solidFill>
                <a:srgbClr val="C26D5E"/>
              </a:solidFill>
            </a:ln>
          </p:spPr>
        </p:sp>
        <p:grpSp>
          <p:nvGrpSpPr>
            <p:cNvPr id="80" name="Group 80"/>
            <p:cNvGrpSpPr/>
            <p:nvPr/>
          </p:nvGrpSpPr>
          <p:grpSpPr>
            <a:xfrm>
              <a:off x="7400925" y="2224087"/>
              <a:ext cx="119062" cy="142875"/>
              <a:chOff x="7400925" y="2224087"/>
              <a:chExt cx="119062" cy="142875"/>
            </a:xfrm>
          </p:grpSpPr>
          <p:sp>
            <p:nvSpPr>
              <p:cNvPr id="77" name="Freeform 77"/>
              <p:cNvSpPr/>
              <p:nvPr/>
            </p:nvSpPr>
            <p:spPr>
              <a:xfrm>
                <a:off x="7416800" y="22240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A24B3C"/>
                </a:solidFill>
              </a:ln>
            </p:spPr>
          </p:sp>
          <p:sp>
            <p:nvSpPr>
              <p:cNvPr id="78" name="Freeform 78"/>
              <p:cNvSpPr/>
              <p:nvPr/>
            </p:nvSpPr>
            <p:spPr>
              <a:xfrm>
                <a:off x="7400925" y="2319337"/>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A24B3C"/>
                </a:solidFill>
              </a:ln>
            </p:spPr>
          </p:sp>
          <p:sp>
            <p:nvSpPr>
              <p:cNvPr id="79" name="Freeform 79"/>
              <p:cNvSpPr/>
              <p:nvPr/>
            </p:nvSpPr>
            <p:spPr>
              <a:xfrm>
                <a:off x="7472362" y="2335212"/>
                <a:ext cx="47625" cy="31750"/>
              </a:xfrm>
              <a:custGeom>
                <a:avLst/>
                <a:gdLst/>
                <a:ahLst/>
                <a:cxnLst/>
                <a:rect l="l" t="t" r="r" b="b"/>
                <a:pathLst>
                  <a:path w="47625" h="31750">
                    <a:moveTo>
                      <a:pt x="0" y="15875"/>
                    </a:moveTo>
                    <a:lnTo>
                      <a:pt x="15875" y="31750"/>
                    </a:lnTo>
                    <a:lnTo>
                      <a:pt x="47625" y="0"/>
                    </a:lnTo>
                  </a:path>
                </a:pathLst>
              </a:custGeom>
              <a:noFill/>
              <a:ln w="15875">
                <a:solidFill>
                  <a:srgbClr val="A24B3C"/>
                </a:solidFill>
              </a:ln>
            </p:spPr>
          </p:sp>
        </p:grpSp>
        <p:sp>
          <p:nvSpPr>
            <p:cNvPr id="81" name="Ellipse 81"/>
            <p:cNvSpPr/>
            <p:nvPr/>
          </p:nvSpPr>
          <p:spPr>
            <a:xfrm>
              <a:off x="7553325" y="2019300"/>
              <a:ext cx="171450" cy="171450"/>
            </a:xfrm>
            <a:prstGeom prst="ellipse">
              <a:avLst/>
            </a:prstGeom>
            <a:solidFill>
              <a:srgbClr val="C26D5E"/>
            </a:solidFill>
            <a:ln>
              <a:noFill/>
            </a:ln>
          </p:spPr>
        </p:sp>
        <p:sp>
          <p:nvSpPr>
            <p:cNvPr id="82" name="TextBox 82"/>
            <p:cNvSpPr txBox="1"/>
            <p:nvPr/>
          </p:nvSpPr>
          <p:spPr>
            <a:xfrm>
              <a:off x="7587642" y="2073592"/>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02</a:t>
              </a:r>
            </a:p>
          </p:txBody>
        </p:sp>
        <p:sp>
          <p:nvSpPr>
            <p:cNvPr id="83" name="TextBox 83"/>
            <p:cNvSpPr txBox="1"/>
            <p:nvPr/>
          </p:nvSpPr>
          <p:spPr>
            <a:xfrm>
              <a:off x="7764691" y="1945243"/>
              <a:ext cx="472618" cy="169069"/>
            </a:xfrm>
            <a:prstGeom prst="rect">
              <a:avLst/>
            </a:prstGeom>
            <a:noFill/>
            <a:ln>
              <a:noFill/>
            </a:ln>
          </p:spPr>
          <p:txBody>
            <a:bodyPr wrap="none" lIns="0" tIns="0" rIns="0" bIns="0" anchor="t" anchorCtr="0">
              <a:spAutoFit/>
            </a:bodyPr>
            <a:lstStyle/>
            <a:p>
              <a:pPr algn="ctr"/>
              <a:r>
                <a:rPr lang="zh-CN" sz="860" b="1" dirty="0">
                  <a:solidFill>
                    <a:srgbClr val="5E3A33"/>
                  </a:solidFill>
                  <a:latin typeface="+mn-lt"/>
                  <a:ea typeface="+mn-ea"/>
                  <a:cs typeface="+mn-cs"/>
                </a:rPr>
                <a:t>客户识别</a:t>
              </a:r>
            </a:p>
          </p:txBody>
        </p:sp>
        <p:sp>
          <p:nvSpPr>
            <p:cNvPr id="84" name="Ellipse 84"/>
            <p:cNvSpPr/>
            <p:nvPr/>
          </p:nvSpPr>
          <p:spPr>
            <a:xfrm>
              <a:off x="7181850" y="3152775"/>
              <a:ext cx="533400" cy="533400"/>
            </a:xfrm>
            <a:prstGeom prst="ellipse">
              <a:avLst/>
            </a:prstGeom>
            <a:solidFill>
              <a:srgbClr val="FFFFFF"/>
            </a:solidFill>
            <a:ln w="19050">
              <a:solidFill>
                <a:srgbClr val="5E3A33"/>
              </a:solidFill>
            </a:ln>
          </p:spPr>
        </p:sp>
        <p:grpSp>
          <p:nvGrpSpPr>
            <p:cNvPr id="87" name="Group 87"/>
            <p:cNvGrpSpPr/>
            <p:nvPr/>
          </p:nvGrpSpPr>
          <p:grpSpPr>
            <a:xfrm>
              <a:off x="7373628" y="3344553"/>
              <a:ext cx="149844" cy="149844"/>
              <a:chOff x="7373628" y="3344553"/>
              <a:chExt cx="149844" cy="149844"/>
            </a:xfrm>
          </p:grpSpPr>
          <p:sp>
            <p:nvSpPr>
              <p:cNvPr id="85" name="Freeform 85"/>
              <p:cNvSpPr/>
              <p:nvPr/>
            </p:nvSpPr>
            <p:spPr>
              <a:xfrm>
                <a:off x="7373628" y="3344553"/>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5E3A33"/>
                </a:solidFill>
              </a:ln>
            </p:spPr>
          </p:sp>
          <p:sp>
            <p:nvSpPr>
              <p:cNvPr id="86" name="Freeform 86"/>
              <p:cNvSpPr/>
              <p:nvPr/>
            </p:nvSpPr>
            <p:spPr>
              <a:xfrm>
                <a:off x="7424737" y="33956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5E3A33"/>
                </a:solidFill>
              </a:ln>
            </p:spPr>
          </p:sp>
        </p:grpSp>
        <p:sp>
          <p:nvSpPr>
            <p:cNvPr id="88" name="Ellipse 88"/>
            <p:cNvSpPr/>
            <p:nvPr/>
          </p:nvSpPr>
          <p:spPr>
            <a:xfrm>
              <a:off x="7553325" y="3143250"/>
              <a:ext cx="171450" cy="171450"/>
            </a:xfrm>
            <a:prstGeom prst="ellipse">
              <a:avLst/>
            </a:prstGeom>
            <a:solidFill>
              <a:srgbClr val="5E3A33"/>
            </a:solidFill>
            <a:ln>
              <a:noFill/>
            </a:ln>
          </p:spPr>
        </p:sp>
        <p:sp>
          <p:nvSpPr>
            <p:cNvPr id="89" name="TextBox 89"/>
            <p:cNvSpPr txBox="1"/>
            <p:nvPr/>
          </p:nvSpPr>
          <p:spPr>
            <a:xfrm>
              <a:off x="7587642" y="3197542"/>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03</a:t>
              </a:r>
            </a:p>
          </p:txBody>
        </p:sp>
        <p:sp>
          <p:nvSpPr>
            <p:cNvPr id="90" name="TextBox 90"/>
            <p:cNvSpPr txBox="1"/>
            <p:nvPr/>
          </p:nvSpPr>
          <p:spPr>
            <a:xfrm>
              <a:off x="7764691" y="3659743"/>
              <a:ext cx="472618" cy="169069"/>
            </a:xfrm>
            <a:prstGeom prst="rect">
              <a:avLst/>
            </a:prstGeom>
            <a:noFill/>
            <a:ln>
              <a:noFill/>
            </a:ln>
          </p:spPr>
          <p:txBody>
            <a:bodyPr wrap="none" lIns="0" tIns="0" rIns="0" bIns="0" anchor="t" anchorCtr="0">
              <a:spAutoFit/>
            </a:bodyPr>
            <a:lstStyle/>
            <a:p>
              <a:pPr algn="ctr"/>
              <a:r>
                <a:rPr lang="zh-CN" sz="860" b="1" dirty="0">
                  <a:solidFill>
                    <a:srgbClr val="5E3A33"/>
                  </a:solidFill>
                  <a:latin typeface="+mn-lt"/>
                  <a:ea typeface="+mn-ea"/>
                  <a:cs typeface="+mn-cs"/>
                </a:rPr>
                <a:t>策略匹配</a:t>
              </a:r>
            </a:p>
          </p:txBody>
        </p:sp>
        <p:sp>
          <p:nvSpPr>
            <p:cNvPr id="91" name="Ellipse 91"/>
            <p:cNvSpPr/>
            <p:nvPr/>
          </p:nvSpPr>
          <p:spPr>
            <a:xfrm>
              <a:off x="6210300" y="3714750"/>
              <a:ext cx="533400" cy="533400"/>
            </a:xfrm>
            <a:prstGeom prst="ellipse">
              <a:avLst/>
            </a:prstGeom>
            <a:solidFill>
              <a:srgbClr val="FFFFFF"/>
            </a:solidFill>
            <a:ln w="19050">
              <a:solidFill>
                <a:srgbClr val="A3381F"/>
              </a:solidFill>
            </a:ln>
          </p:spPr>
        </p:sp>
        <p:grpSp>
          <p:nvGrpSpPr>
            <p:cNvPr id="94" name="Group 94"/>
            <p:cNvGrpSpPr/>
            <p:nvPr/>
          </p:nvGrpSpPr>
          <p:grpSpPr>
            <a:xfrm>
              <a:off x="6421437" y="3910761"/>
              <a:ext cx="111125" cy="142126"/>
              <a:chOff x="6421437" y="3910761"/>
              <a:chExt cx="111125" cy="142126"/>
            </a:xfrm>
          </p:grpSpPr>
          <p:sp>
            <p:nvSpPr>
              <p:cNvPr id="92" name="Freeform 92"/>
              <p:cNvSpPr/>
              <p:nvPr/>
            </p:nvSpPr>
            <p:spPr>
              <a:xfrm>
                <a:off x="6421437" y="3910761"/>
                <a:ext cx="111125" cy="101691"/>
              </a:xfrm>
              <a:custGeom>
                <a:avLst/>
                <a:gdLst/>
                <a:ahLst/>
                <a:cxnLst/>
                <a:rect l="l" t="t" r="r" b="b"/>
                <a:pathLst>
                  <a:path w="111125" h="101691">
                    <a:moveTo>
                      <a:pt x="0" y="15127"/>
                    </a:moveTo>
                    <a:cubicBezTo>
                      <a:pt x="15432" y="0"/>
                      <a:pt x="40130" y="0"/>
                      <a:pt x="55562" y="15127"/>
                    </a:cubicBezTo>
                    <a:cubicBezTo>
                      <a:pt x="70995" y="30253"/>
                      <a:pt x="95693" y="30253"/>
                      <a:pt x="111125" y="15127"/>
                    </a:cubicBezTo>
                    <a:lnTo>
                      <a:pt x="111125" y="86564"/>
                    </a:lnTo>
                    <a:cubicBezTo>
                      <a:pt x="95693" y="101691"/>
                      <a:pt x="70995" y="101691"/>
                      <a:pt x="55562" y="86564"/>
                    </a:cubicBezTo>
                    <a:cubicBezTo>
                      <a:pt x="40130" y="71437"/>
                      <a:pt x="15432" y="71437"/>
                      <a:pt x="0" y="86564"/>
                    </a:cubicBezTo>
                    <a:lnTo>
                      <a:pt x="0" y="15127"/>
                    </a:lnTo>
                  </a:path>
                </a:pathLst>
              </a:custGeom>
              <a:noFill/>
              <a:ln w="15875">
                <a:solidFill>
                  <a:srgbClr val="A3381F"/>
                </a:solidFill>
              </a:ln>
            </p:spPr>
          </p:sp>
          <p:sp>
            <p:nvSpPr>
              <p:cNvPr id="93" name="Freeform 93"/>
              <p:cNvSpPr/>
              <p:nvPr/>
            </p:nvSpPr>
            <p:spPr>
              <a:xfrm>
                <a:off x="6421437" y="3997325"/>
                <a:ext cx="9525" cy="55562"/>
              </a:xfrm>
              <a:custGeom>
                <a:avLst/>
                <a:gdLst/>
                <a:ahLst/>
                <a:cxnLst/>
                <a:rect l="l" t="t" r="r" b="b"/>
                <a:pathLst>
                  <a:path w="9525" h="55562">
                    <a:moveTo>
                      <a:pt x="0" y="55562"/>
                    </a:moveTo>
                    <a:lnTo>
                      <a:pt x="0" y="0"/>
                    </a:lnTo>
                  </a:path>
                </a:pathLst>
              </a:custGeom>
              <a:noFill/>
              <a:ln w="15875">
                <a:solidFill>
                  <a:srgbClr val="A3381F"/>
                </a:solidFill>
              </a:ln>
            </p:spPr>
          </p:sp>
        </p:grpSp>
        <p:sp>
          <p:nvSpPr>
            <p:cNvPr id="95" name="Ellipse 95"/>
            <p:cNvSpPr/>
            <p:nvPr/>
          </p:nvSpPr>
          <p:spPr>
            <a:xfrm>
              <a:off x="6581775" y="3705225"/>
              <a:ext cx="171450" cy="171450"/>
            </a:xfrm>
            <a:prstGeom prst="ellipse">
              <a:avLst/>
            </a:prstGeom>
            <a:solidFill>
              <a:srgbClr val="A3381F"/>
            </a:solidFill>
            <a:ln>
              <a:noFill/>
            </a:ln>
          </p:spPr>
        </p:sp>
        <p:sp>
          <p:nvSpPr>
            <p:cNvPr id="96" name="TextBox 96"/>
            <p:cNvSpPr txBox="1"/>
            <p:nvPr/>
          </p:nvSpPr>
          <p:spPr>
            <a:xfrm>
              <a:off x="6616092" y="3759518"/>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04</a:t>
              </a:r>
            </a:p>
          </p:txBody>
        </p:sp>
        <p:sp>
          <p:nvSpPr>
            <p:cNvPr id="97" name="TextBox 97"/>
            <p:cNvSpPr txBox="1"/>
            <p:nvPr/>
          </p:nvSpPr>
          <p:spPr>
            <a:xfrm>
              <a:off x="6240691" y="4383643"/>
              <a:ext cx="472618" cy="169069"/>
            </a:xfrm>
            <a:prstGeom prst="rect">
              <a:avLst/>
            </a:prstGeom>
            <a:noFill/>
            <a:ln>
              <a:noFill/>
            </a:ln>
          </p:spPr>
          <p:txBody>
            <a:bodyPr wrap="none" lIns="0" tIns="0" rIns="0" bIns="0" anchor="t" anchorCtr="0">
              <a:spAutoFit/>
            </a:bodyPr>
            <a:lstStyle/>
            <a:p>
              <a:pPr algn="ctr"/>
              <a:r>
                <a:rPr lang="zh-CN" sz="860" b="1" dirty="0">
                  <a:solidFill>
                    <a:srgbClr val="5E3A33"/>
                  </a:solidFill>
                  <a:latin typeface="+mn-lt"/>
                  <a:ea typeface="+mn-ea"/>
                  <a:cs typeface="+mn-cs"/>
                </a:rPr>
                <a:t>任务派发</a:t>
              </a:r>
            </a:p>
          </p:txBody>
        </p:sp>
        <p:sp>
          <p:nvSpPr>
            <p:cNvPr id="98" name="Ellipse 98"/>
            <p:cNvSpPr/>
            <p:nvPr/>
          </p:nvSpPr>
          <p:spPr>
            <a:xfrm>
              <a:off x="5238750" y="3152775"/>
              <a:ext cx="533400" cy="533400"/>
            </a:xfrm>
            <a:prstGeom prst="ellipse">
              <a:avLst/>
            </a:prstGeom>
            <a:solidFill>
              <a:srgbClr val="FFFFFF"/>
            </a:solidFill>
            <a:ln w="19050">
              <a:solidFill>
                <a:srgbClr val="C26D5E"/>
              </a:solidFill>
            </a:ln>
          </p:spPr>
        </p:sp>
        <p:sp>
          <p:nvSpPr>
            <p:cNvPr id="99" name="Freeform 99"/>
            <p:cNvSpPr/>
            <p:nvPr/>
          </p:nvSpPr>
          <p:spPr>
            <a:xfrm>
              <a:off x="5425884" y="3349823"/>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A24B3C"/>
              </a:solidFill>
            </a:ln>
          </p:spPr>
        </p:sp>
        <p:sp>
          <p:nvSpPr>
            <p:cNvPr id="100" name="Ellipse 100"/>
            <p:cNvSpPr/>
            <p:nvPr/>
          </p:nvSpPr>
          <p:spPr>
            <a:xfrm>
              <a:off x="5229225" y="3143250"/>
              <a:ext cx="171450" cy="171450"/>
            </a:xfrm>
            <a:prstGeom prst="ellipse">
              <a:avLst/>
            </a:prstGeom>
            <a:solidFill>
              <a:srgbClr val="C26D5E"/>
            </a:solidFill>
            <a:ln>
              <a:noFill/>
            </a:ln>
          </p:spPr>
        </p:sp>
        <p:sp>
          <p:nvSpPr>
            <p:cNvPr id="101" name="TextBox 101"/>
            <p:cNvSpPr txBox="1"/>
            <p:nvPr/>
          </p:nvSpPr>
          <p:spPr>
            <a:xfrm>
              <a:off x="5263542" y="3197542"/>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05</a:t>
              </a:r>
            </a:p>
          </p:txBody>
        </p:sp>
        <p:sp>
          <p:nvSpPr>
            <p:cNvPr id="102" name="TextBox 102"/>
            <p:cNvSpPr txBox="1"/>
            <p:nvPr/>
          </p:nvSpPr>
          <p:spPr>
            <a:xfrm>
              <a:off x="4716691" y="3659743"/>
              <a:ext cx="472618" cy="169069"/>
            </a:xfrm>
            <a:prstGeom prst="rect">
              <a:avLst/>
            </a:prstGeom>
            <a:noFill/>
            <a:ln>
              <a:noFill/>
            </a:ln>
          </p:spPr>
          <p:txBody>
            <a:bodyPr wrap="none" lIns="0" tIns="0" rIns="0" bIns="0" anchor="t" anchorCtr="0">
              <a:spAutoFit/>
            </a:bodyPr>
            <a:lstStyle/>
            <a:p>
              <a:pPr algn="ctr"/>
              <a:r>
                <a:rPr lang="zh-CN" sz="860" b="1" dirty="0">
                  <a:solidFill>
                    <a:srgbClr val="5E3A33"/>
                  </a:solidFill>
                  <a:latin typeface="+mn-lt"/>
                  <a:ea typeface="+mn-ea"/>
                  <a:cs typeface="+mn-cs"/>
                </a:rPr>
                <a:t>渠道触达</a:t>
              </a:r>
            </a:p>
          </p:txBody>
        </p:sp>
        <p:sp>
          <p:nvSpPr>
            <p:cNvPr id="103" name="Ellipse 103"/>
            <p:cNvSpPr/>
            <p:nvPr/>
          </p:nvSpPr>
          <p:spPr>
            <a:xfrm>
              <a:off x="5238750" y="2028825"/>
              <a:ext cx="533400" cy="533400"/>
            </a:xfrm>
            <a:prstGeom prst="ellipse">
              <a:avLst/>
            </a:prstGeom>
            <a:solidFill>
              <a:srgbClr val="FFFFFF"/>
            </a:solidFill>
            <a:ln w="19050">
              <a:solidFill>
                <a:srgbClr val="5E3A33"/>
              </a:solidFill>
            </a:ln>
          </p:spPr>
        </p:sp>
        <p:grpSp>
          <p:nvGrpSpPr>
            <p:cNvPr id="108" name="Group 108"/>
            <p:cNvGrpSpPr/>
            <p:nvPr/>
          </p:nvGrpSpPr>
          <p:grpSpPr>
            <a:xfrm>
              <a:off x="5449887" y="2232025"/>
              <a:ext cx="119063" cy="134937"/>
              <a:chOff x="5449887" y="2232025"/>
              <a:chExt cx="119063" cy="134937"/>
            </a:xfrm>
          </p:grpSpPr>
          <p:sp>
            <p:nvSpPr>
              <p:cNvPr id="104" name="Freeform 104"/>
              <p:cNvSpPr/>
              <p:nvPr/>
            </p:nvSpPr>
            <p:spPr>
              <a:xfrm>
                <a:off x="5449887" y="2232025"/>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5E3A33"/>
                </a:solidFill>
              </a:ln>
            </p:spPr>
          </p:sp>
          <p:sp>
            <p:nvSpPr>
              <p:cNvPr id="105" name="Freeform 105"/>
              <p:cNvSpPr/>
              <p:nvPr/>
            </p:nvSpPr>
            <p:spPr>
              <a:xfrm>
                <a:off x="5521325" y="2335212"/>
                <a:ext cx="47625" cy="31750"/>
              </a:xfrm>
              <a:custGeom>
                <a:avLst/>
                <a:gdLst/>
                <a:ahLst/>
                <a:cxnLst/>
                <a:rect l="l" t="t" r="r" b="b"/>
                <a:pathLst>
                  <a:path w="47625" h="31750">
                    <a:moveTo>
                      <a:pt x="0" y="15875"/>
                    </a:moveTo>
                    <a:lnTo>
                      <a:pt x="15875" y="31750"/>
                    </a:lnTo>
                    <a:lnTo>
                      <a:pt x="47625" y="0"/>
                    </a:lnTo>
                  </a:path>
                </a:pathLst>
              </a:custGeom>
              <a:noFill/>
              <a:ln w="15875">
                <a:solidFill>
                  <a:srgbClr val="5E3A33"/>
                </a:solidFill>
              </a:ln>
            </p:spPr>
          </p:sp>
          <p:sp>
            <p:nvSpPr>
              <p:cNvPr id="106" name="Freeform 106"/>
              <p:cNvSpPr/>
              <p:nvPr/>
            </p:nvSpPr>
            <p:spPr>
              <a:xfrm>
                <a:off x="5481637" y="2263775"/>
                <a:ext cx="31750" cy="9525"/>
              </a:xfrm>
              <a:custGeom>
                <a:avLst/>
                <a:gdLst/>
                <a:ahLst/>
                <a:cxnLst/>
                <a:rect l="l" t="t" r="r" b="b"/>
                <a:pathLst>
                  <a:path w="31750" h="9525">
                    <a:moveTo>
                      <a:pt x="0" y="0"/>
                    </a:moveTo>
                    <a:lnTo>
                      <a:pt x="31750" y="0"/>
                    </a:lnTo>
                  </a:path>
                </a:pathLst>
              </a:custGeom>
              <a:noFill/>
              <a:ln w="15875">
                <a:solidFill>
                  <a:srgbClr val="5E3A33"/>
                </a:solidFill>
              </a:ln>
            </p:spPr>
          </p:sp>
          <p:sp>
            <p:nvSpPr>
              <p:cNvPr id="107" name="Freeform 107"/>
              <p:cNvSpPr/>
              <p:nvPr/>
            </p:nvSpPr>
            <p:spPr>
              <a:xfrm>
                <a:off x="5481637" y="2295525"/>
                <a:ext cx="15875" cy="9525"/>
              </a:xfrm>
              <a:custGeom>
                <a:avLst/>
                <a:gdLst/>
                <a:ahLst/>
                <a:cxnLst/>
                <a:rect l="l" t="t" r="r" b="b"/>
                <a:pathLst>
                  <a:path w="15875" h="9525">
                    <a:moveTo>
                      <a:pt x="0" y="0"/>
                    </a:moveTo>
                    <a:lnTo>
                      <a:pt x="15875" y="0"/>
                    </a:lnTo>
                  </a:path>
                </a:pathLst>
              </a:custGeom>
              <a:noFill/>
              <a:ln w="15875">
                <a:solidFill>
                  <a:srgbClr val="5E3A33"/>
                </a:solidFill>
              </a:ln>
            </p:spPr>
          </p:sp>
        </p:grpSp>
        <p:sp>
          <p:nvSpPr>
            <p:cNvPr id="109" name="Ellipse 109"/>
            <p:cNvSpPr/>
            <p:nvPr/>
          </p:nvSpPr>
          <p:spPr>
            <a:xfrm>
              <a:off x="5229225" y="2019300"/>
              <a:ext cx="171450" cy="171450"/>
            </a:xfrm>
            <a:prstGeom prst="ellipse">
              <a:avLst/>
            </a:prstGeom>
            <a:solidFill>
              <a:srgbClr val="5E3A33"/>
            </a:solidFill>
            <a:ln>
              <a:noFill/>
            </a:ln>
          </p:spPr>
        </p:sp>
        <p:sp>
          <p:nvSpPr>
            <p:cNvPr id="110" name="TextBox 110"/>
            <p:cNvSpPr txBox="1"/>
            <p:nvPr/>
          </p:nvSpPr>
          <p:spPr>
            <a:xfrm>
              <a:off x="5263542" y="2073592"/>
              <a:ext cx="102817"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06</a:t>
              </a:r>
            </a:p>
          </p:txBody>
        </p:sp>
        <p:sp>
          <p:nvSpPr>
            <p:cNvPr id="111" name="TextBox 111"/>
            <p:cNvSpPr txBox="1"/>
            <p:nvPr/>
          </p:nvSpPr>
          <p:spPr>
            <a:xfrm>
              <a:off x="4716691" y="1945243"/>
              <a:ext cx="472618" cy="169069"/>
            </a:xfrm>
            <a:prstGeom prst="rect">
              <a:avLst/>
            </a:prstGeom>
            <a:noFill/>
            <a:ln>
              <a:noFill/>
            </a:ln>
          </p:spPr>
          <p:txBody>
            <a:bodyPr wrap="none" lIns="0" tIns="0" rIns="0" bIns="0" anchor="t" anchorCtr="0">
              <a:spAutoFit/>
            </a:bodyPr>
            <a:lstStyle/>
            <a:p>
              <a:pPr algn="ctr"/>
              <a:r>
                <a:rPr lang="zh-CN" sz="860" b="1" dirty="0">
                  <a:solidFill>
                    <a:srgbClr val="5E3A33"/>
                  </a:solidFill>
                  <a:latin typeface="+mn-lt"/>
                  <a:ea typeface="+mn-ea"/>
                  <a:cs typeface="+mn-cs"/>
                </a:rPr>
                <a:t>结果反馈</a:t>
              </a:r>
            </a:p>
          </p:txBody>
        </p:sp>
      </p:grpSp>
      <p:grpSp>
        <p:nvGrpSpPr>
          <p:cNvPr id="141" name="sla-cards"/>
          <p:cNvGrpSpPr/>
          <p:nvPr/>
        </p:nvGrpSpPr>
        <p:grpSpPr>
          <a:xfrm>
            <a:off x="8858250" y="838200"/>
            <a:ext cx="2952750" cy="3657600"/>
            <a:chOff x="8858250" y="838200"/>
            <a:chExt cx="2952750" cy="3657600"/>
          </a:xfrm>
        </p:grpSpPr>
        <p:sp>
          <p:nvSpPr>
            <p:cNvPr id="113" name="Rectangle 113"/>
            <p:cNvSpPr/>
            <p:nvPr/>
          </p:nvSpPr>
          <p:spPr>
            <a:xfrm>
              <a:off x="8858250" y="838200"/>
              <a:ext cx="2952750" cy="1066800"/>
            </a:xfrm>
            <a:prstGeom prst="roundRect">
              <a:avLst>
                <a:gd name="adj" fmla="val 8929"/>
              </a:avLst>
            </a:prstGeom>
            <a:solidFill>
              <a:srgbClr val="FFFFFF"/>
            </a:solidFill>
            <a:ln w="9525">
              <a:solidFill>
                <a:srgbClr val="E6D9C0"/>
              </a:solidFill>
            </a:ln>
          </p:spPr>
        </p:sp>
        <p:sp>
          <p:nvSpPr>
            <p:cNvPr id="114" name="Ellipse 114"/>
            <p:cNvSpPr/>
            <p:nvPr/>
          </p:nvSpPr>
          <p:spPr>
            <a:xfrm>
              <a:off x="9029700" y="1162050"/>
              <a:ext cx="419100" cy="419100"/>
            </a:xfrm>
            <a:prstGeom prst="ellipse">
              <a:avLst/>
            </a:prstGeom>
            <a:solidFill>
              <a:srgbClr val="A3381F"/>
            </a:solidFill>
            <a:ln>
              <a:noFill/>
            </a:ln>
          </p:spPr>
        </p:sp>
        <p:grpSp>
          <p:nvGrpSpPr>
            <p:cNvPr id="118" name="Group 118"/>
            <p:cNvGrpSpPr/>
            <p:nvPr/>
          </p:nvGrpSpPr>
          <p:grpSpPr>
            <a:xfrm>
              <a:off x="9151194" y="1290118"/>
              <a:ext cx="176105" cy="151297"/>
              <a:chOff x="9151194" y="1290118"/>
              <a:chExt cx="176105" cy="151297"/>
            </a:xfrm>
          </p:grpSpPr>
          <p:sp>
            <p:nvSpPr>
              <p:cNvPr id="115" name="Freeform 115"/>
              <p:cNvSpPr/>
              <p:nvPr/>
            </p:nvSpPr>
            <p:spPr>
              <a:xfrm>
                <a:off x="9239250" y="1345406"/>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116" name="Freeform 116"/>
              <p:cNvSpPr/>
              <p:nvPr/>
            </p:nvSpPr>
            <p:spPr>
              <a:xfrm>
                <a:off x="9151194" y="1290118"/>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FFFFFF"/>
                </a:solidFill>
              </a:ln>
            </p:spPr>
          </p:sp>
          <p:sp>
            <p:nvSpPr>
              <p:cNvPr id="117" name="Freeform 117"/>
              <p:cNvSpPr/>
              <p:nvPr/>
            </p:nvSpPr>
            <p:spPr>
              <a:xfrm>
                <a:off x="9239250" y="1406525"/>
                <a:ext cx="9525" cy="9525"/>
              </a:xfrm>
              <a:custGeom>
                <a:avLst/>
                <a:gdLst/>
                <a:ahLst/>
                <a:cxnLst/>
                <a:rect l="l" t="t" r="r" b="b"/>
                <a:pathLst>
                  <a:path w="9525" h="9525">
                    <a:moveTo>
                      <a:pt x="0" y="0"/>
                    </a:moveTo>
                    <a:lnTo>
                      <a:pt x="87" y="0"/>
                    </a:lnTo>
                  </a:path>
                </a:pathLst>
              </a:custGeom>
              <a:noFill/>
              <a:ln w="17463">
                <a:solidFill>
                  <a:srgbClr val="FFFFFF"/>
                </a:solidFill>
              </a:ln>
            </p:spPr>
          </p:sp>
        </p:grpSp>
        <p:sp>
          <p:nvSpPr>
            <p:cNvPr id="119" name="Rectangle 119"/>
            <p:cNvSpPr/>
            <p:nvPr/>
          </p:nvSpPr>
          <p:spPr>
            <a:xfrm>
              <a:off x="9620250" y="1009650"/>
              <a:ext cx="1238250" cy="247650"/>
            </a:xfrm>
            <a:prstGeom prst="roundRect">
              <a:avLst>
                <a:gd name="adj" fmla="val 50000"/>
              </a:avLst>
            </a:prstGeom>
            <a:solidFill>
              <a:srgbClr val="A3381F"/>
            </a:solidFill>
            <a:ln>
              <a:noFill/>
            </a:ln>
          </p:spPr>
        </p:sp>
        <p:sp>
          <p:nvSpPr>
            <p:cNvPr id="120" name="TextBox 120"/>
            <p:cNvSpPr txBox="1"/>
            <p:nvPr/>
          </p:nvSpPr>
          <p:spPr>
            <a:xfrm>
              <a:off x="9781906" y="1079897"/>
              <a:ext cx="9149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 xml:space="preserve">高：24小时　　</a:t>
              </a:r>
            </a:p>
          </p:txBody>
        </p:sp>
        <p:sp>
          <p:nvSpPr>
            <p:cNvPr id="121" name="TextBox 121"/>
            <p:cNvSpPr txBox="1"/>
            <p:nvPr/>
          </p:nvSpPr>
          <p:spPr>
            <a:xfrm>
              <a:off x="9615488" y="1404938"/>
              <a:ext cx="1135285" cy="147638"/>
            </a:xfrm>
            <a:prstGeom prst="rect">
              <a:avLst/>
            </a:prstGeom>
            <a:noFill/>
            <a:ln>
              <a:noFill/>
            </a:ln>
          </p:spPr>
          <p:txBody>
            <a:bodyPr wrap="none" lIns="0" tIns="0" rIns="0" bIns="0" anchor="t" anchorCtr="0">
              <a:spAutoFit/>
            </a:bodyPr>
            <a:lstStyle/>
            <a:p>
              <a:pPr algn="l"/>
              <a:r>
                <a:rPr lang="zh-CN" sz="750" dirty="0">
                  <a:solidFill>
                    <a:srgbClr val="4A4A4A"/>
                  </a:solidFill>
                  <a:latin typeface="+mn-lt"/>
                  <a:ea typeface="+mn-ea"/>
                  <a:cs typeface="+mn-cs"/>
                </a:rPr>
                <a:t>高价值客户 / 高风险事件</a:t>
              </a:r>
            </a:p>
          </p:txBody>
        </p:sp>
        <p:sp>
          <p:nvSpPr>
            <p:cNvPr id="122" name="TextBox 122"/>
            <p:cNvSpPr txBox="1"/>
            <p:nvPr/>
          </p:nvSpPr>
          <p:spPr>
            <a:xfrm>
              <a:off x="9615488" y="1595438"/>
              <a:ext cx="832895" cy="147638"/>
            </a:xfrm>
            <a:prstGeom prst="rect">
              <a:avLst/>
            </a:prstGeom>
            <a:noFill/>
            <a:ln>
              <a:noFill/>
            </a:ln>
          </p:spPr>
          <p:txBody>
            <a:bodyPr wrap="none" lIns="0" tIns="0" rIns="0" bIns="0" anchor="t" anchorCtr="0">
              <a:spAutoFit/>
            </a:bodyPr>
            <a:lstStyle/>
            <a:p>
              <a:pPr algn="l"/>
              <a:r>
                <a:rPr lang="zh-CN" sz="750" b="1" dirty="0">
                  <a:solidFill>
                    <a:srgbClr val="A3381F"/>
                  </a:solidFill>
                  <a:latin typeface="+mn-lt"/>
                  <a:ea typeface="+mn-ea"/>
                  <a:cs typeface="+mn-cs"/>
                </a:rPr>
                <a:t>24小时内完成触达</a:t>
              </a:r>
            </a:p>
          </p:txBody>
        </p:sp>
        <p:sp>
          <p:nvSpPr>
            <p:cNvPr id="123" name="Rectangle 123"/>
            <p:cNvSpPr/>
            <p:nvPr/>
          </p:nvSpPr>
          <p:spPr>
            <a:xfrm>
              <a:off x="8858250" y="2133600"/>
              <a:ext cx="2952750" cy="1066800"/>
            </a:xfrm>
            <a:prstGeom prst="roundRect">
              <a:avLst>
                <a:gd name="adj" fmla="val 8929"/>
              </a:avLst>
            </a:prstGeom>
            <a:solidFill>
              <a:srgbClr val="FFFFFF"/>
            </a:solidFill>
            <a:ln w="9525">
              <a:solidFill>
                <a:srgbClr val="E6D9C0"/>
              </a:solidFill>
            </a:ln>
          </p:spPr>
        </p:sp>
        <p:sp>
          <p:nvSpPr>
            <p:cNvPr id="124" name="Ellipse 124"/>
            <p:cNvSpPr/>
            <p:nvPr/>
          </p:nvSpPr>
          <p:spPr>
            <a:xfrm>
              <a:off x="9029700" y="2457450"/>
              <a:ext cx="419100" cy="419100"/>
            </a:xfrm>
            <a:prstGeom prst="ellipse">
              <a:avLst/>
            </a:prstGeom>
            <a:solidFill>
              <a:srgbClr val="C26D5E"/>
            </a:solidFill>
            <a:ln>
              <a:noFill/>
            </a:ln>
          </p:spPr>
        </p:sp>
        <p:grpSp>
          <p:nvGrpSpPr>
            <p:cNvPr id="127" name="Group 127"/>
            <p:cNvGrpSpPr/>
            <p:nvPr/>
          </p:nvGrpSpPr>
          <p:grpSpPr>
            <a:xfrm>
              <a:off x="9160669" y="2588419"/>
              <a:ext cx="157163" cy="157163"/>
              <a:chOff x="9160669" y="2588419"/>
              <a:chExt cx="157163" cy="157163"/>
            </a:xfrm>
          </p:grpSpPr>
          <p:sp>
            <p:nvSpPr>
              <p:cNvPr id="125" name="Freeform 125"/>
              <p:cNvSpPr/>
              <p:nvPr/>
            </p:nvSpPr>
            <p:spPr>
              <a:xfrm>
                <a:off x="9160669" y="25884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sp>
            <p:nvSpPr>
              <p:cNvPr id="126" name="Freeform 126"/>
              <p:cNvSpPr/>
              <p:nvPr/>
            </p:nvSpPr>
            <p:spPr>
              <a:xfrm>
                <a:off x="9239250" y="2623344"/>
                <a:ext cx="26194" cy="69850"/>
              </a:xfrm>
              <a:custGeom>
                <a:avLst/>
                <a:gdLst/>
                <a:ahLst/>
                <a:cxnLst/>
                <a:rect l="l" t="t" r="r" b="b"/>
                <a:pathLst>
                  <a:path w="26194" h="69850">
                    <a:moveTo>
                      <a:pt x="0" y="0"/>
                    </a:moveTo>
                    <a:lnTo>
                      <a:pt x="0" y="43656"/>
                    </a:lnTo>
                    <a:lnTo>
                      <a:pt x="26194" y="69850"/>
                    </a:lnTo>
                  </a:path>
                </a:pathLst>
              </a:custGeom>
              <a:noFill/>
              <a:ln w="17463">
                <a:solidFill>
                  <a:srgbClr val="FFFFFF"/>
                </a:solidFill>
              </a:ln>
            </p:spPr>
          </p:sp>
        </p:grpSp>
        <p:sp>
          <p:nvSpPr>
            <p:cNvPr id="128" name="Rectangle 128"/>
            <p:cNvSpPr/>
            <p:nvPr/>
          </p:nvSpPr>
          <p:spPr>
            <a:xfrm>
              <a:off x="9620250" y="2305050"/>
              <a:ext cx="1238250" cy="247650"/>
            </a:xfrm>
            <a:prstGeom prst="roundRect">
              <a:avLst>
                <a:gd name="adj" fmla="val 50000"/>
              </a:avLst>
            </a:prstGeom>
            <a:solidFill>
              <a:srgbClr val="C26D5E"/>
            </a:solidFill>
            <a:ln>
              <a:noFill/>
            </a:ln>
          </p:spPr>
        </p:sp>
        <p:sp>
          <p:nvSpPr>
            <p:cNvPr id="129" name="TextBox 129"/>
            <p:cNvSpPr txBox="1"/>
            <p:nvPr/>
          </p:nvSpPr>
          <p:spPr>
            <a:xfrm>
              <a:off x="9781906" y="2375297"/>
              <a:ext cx="9149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 xml:space="preserve">中：48小时　　</a:t>
              </a:r>
            </a:p>
          </p:txBody>
        </p:sp>
        <p:sp>
          <p:nvSpPr>
            <p:cNvPr id="130" name="TextBox 130"/>
            <p:cNvSpPr txBox="1"/>
            <p:nvPr/>
          </p:nvSpPr>
          <p:spPr>
            <a:xfrm>
              <a:off x="9615488" y="2700338"/>
              <a:ext cx="1337215" cy="147638"/>
            </a:xfrm>
            <a:prstGeom prst="rect">
              <a:avLst/>
            </a:prstGeom>
            <a:noFill/>
            <a:ln>
              <a:noFill/>
            </a:ln>
          </p:spPr>
          <p:txBody>
            <a:bodyPr wrap="none" lIns="0" tIns="0" rIns="0" bIns="0" anchor="t" anchorCtr="0">
              <a:spAutoFit/>
            </a:bodyPr>
            <a:lstStyle/>
            <a:p>
              <a:pPr algn="l"/>
              <a:r>
                <a:rPr lang="zh-CN" sz="750" dirty="0">
                  <a:solidFill>
                    <a:srgbClr val="4A4A4A"/>
                  </a:solidFill>
                  <a:latin typeface="+mn-lt"/>
                  <a:ea typeface="+mn-ea"/>
                  <a:cs typeface="+mn-cs"/>
                </a:rPr>
                <a:t>中等价值客户 / 中等风险事件</a:t>
              </a:r>
            </a:p>
          </p:txBody>
        </p:sp>
        <p:sp>
          <p:nvSpPr>
            <p:cNvPr id="131" name="TextBox 131"/>
            <p:cNvSpPr txBox="1"/>
            <p:nvPr/>
          </p:nvSpPr>
          <p:spPr>
            <a:xfrm>
              <a:off x="9615488" y="2890838"/>
              <a:ext cx="832895" cy="147638"/>
            </a:xfrm>
            <a:prstGeom prst="rect">
              <a:avLst/>
            </a:prstGeom>
            <a:noFill/>
            <a:ln>
              <a:noFill/>
            </a:ln>
          </p:spPr>
          <p:txBody>
            <a:bodyPr wrap="none" lIns="0" tIns="0" rIns="0" bIns="0" anchor="t" anchorCtr="0">
              <a:spAutoFit/>
            </a:bodyPr>
            <a:lstStyle/>
            <a:p>
              <a:pPr algn="l"/>
              <a:r>
                <a:rPr lang="zh-CN" sz="750" b="1" dirty="0">
                  <a:solidFill>
                    <a:srgbClr val="A24B3C"/>
                  </a:solidFill>
                  <a:latin typeface="+mn-lt"/>
                  <a:ea typeface="+mn-ea"/>
                  <a:cs typeface="+mn-cs"/>
                </a:rPr>
                <a:t>48小时内完成触达</a:t>
              </a:r>
            </a:p>
          </p:txBody>
        </p:sp>
        <p:sp>
          <p:nvSpPr>
            <p:cNvPr id="132" name="Rectangle 132"/>
            <p:cNvSpPr/>
            <p:nvPr/>
          </p:nvSpPr>
          <p:spPr>
            <a:xfrm>
              <a:off x="8858250" y="3429000"/>
              <a:ext cx="2952750" cy="1066800"/>
            </a:xfrm>
            <a:prstGeom prst="roundRect">
              <a:avLst>
                <a:gd name="adj" fmla="val 8929"/>
              </a:avLst>
            </a:prstGeom>
            <a:solidFill>
              <a:srgbClr val="FFFFFF"/>
            </a:solidFill>
            <a:ln w="9525">
              <a:solidFill>
                <a:srgbClr val="E6D9C0"/>
              </a:solidFill>
            </a:ln>
          </p:spPr>
        </p:sp>
        <p:sp>
          <p:nvSpPr>
            <p:cNvPr id="133" name="Ellipse 133"/>
            <p:cNvSpPr/>
            <p:nvPr/>
          </p:nvSpPr>
          <p:spPr>
            <a:xfrm>
              <a:off x="9029700" y="3752850"/>
              <a:ext cx="419100" cy="419100"/>
            </a:xfrm>
            <a:prstGeom prst="ellipse">
              <a:avLst/>
            </a:prstGeom>
            <a:solidFill>
              <a:srgbClr val="5E3A33"/>
            </a:solidFill>
            <a:ln>
              <a:noFill/>
            </a:ln>
          </p:spPr>
        </p:sp>
        <p:grpSp>
          <p:nvGrpSpPr>
            <p:cNvPr id="136" name="Group 136"/>
            <p:cNvGrpSpPr/>
            <p:nvPr/>
          </p:nvGrpSpPr>
          <p:grpSpPr>
            <a:xfrm>
              <a:off x="9161105" y="3882599"/>
              <a:ext cx="161109" cy="164808"/>
              <a:chOff x="9161105" y="3882599"/>
              <a:chExt cx="161109" cy="164808"/>
            </a:xfrm>
          </p:grpSpPr>
          <p:sp>
            <p:nvSpPr>
              <p:cNvPr id="134" name="Freeform 134"/>
              <p:cNvSpPr/>
              <p:nvPr/>
            </p:nvSpPr>
            <p:spPr>
              <a:xfrm>
                <a:off x="9239250" y="3927475"/>
                <a:ext cx="17463" cy="52388"/>
              </a:xfrm>
              <a:custGeom>
                <a:avLst/>
                <a:gdLst/>
                <a:ahLst/>
                <a:cxnLst/>
                <a:rect l="l" t="t" r="r" b="b"/>
                <a:pathLst>
                  <a:path w="17463" h="52388">
                    <a:moveTo>
                      <a:pt x="0" y="0"/>
                    </a:moveTo>
                    <a:lnTo>
                      <a:pt x="0" y="34925"/>
                    </a:lnTo>
                    <a:lnTo>
                      <a:pt x="17463" y="52388"/>
                    </a:lnTo>
                  </a:path>
                </a:pathLst>
              </a:custGeom>
              <a:noFill/>
              <a:ln w="17463">
                <a:solidFill>
                  <a:srgbClr val="FFFFFF"/>
                </a:solidFill>
              </a:ln>
            </p:spPr>
          </p:sp>
          <p:sp>
            <p:nvSpPr>
              <p:cNvPr id="135" name="Freeform 135"/>
              <p:cNvSpPr/>
              <p:nvPr/>
            </p:nvSpPr>
            <p:spPr>
              <a:xfrm>
                <a:off x="9161105" y="3882599"/>
                <a:ext cx="161109" cy="164808"/>
              </a:xfrm>
              <a:custGeom>
                <a:avLst/>
                <a:gdLst/>
                <a:ahLst/>
                <a:cxnLst/>
                <a:rect l="l" t="t" r="r" b="b"/>
                <a:pathLst>
                  <a:path w="161109" h="164808">
                    <a:moveTo>
                      <a:pt x="0" y="71069"/>
                    </a:moveTo>
                    <a:cubicBezTo>
                      <a:pt x="4051" y="31302"/>
                      <a:pt x="37309" y="913"/>
                      <a:pt x="77279" y="457"/>
                    </a:cubicBezTo>
                    <a:cubicBezTo>
                      <a:pt x="117249" y="0"/>
                      <a:pt x="151193" y="29622"/>
                      <a:pt x="156151" y="69286"/>
                    </a:cubicBezTo>
                    <a:cubicBezTo>
                      <a:pt x="161109" y="108950"/>
                      <a:pt x="135501" y="146016"/>
                      <a:pt x="96649" y="155412"/>
                    </a:cubicBezTo>
                    <a:cubicBezTo>
                      <a:pt x="57796" y="164808"/>
                      <a:pt x="18081" y="143541"/>
                      <a:pt x="4366" y="105994"/>
                    </a:cubicBezTo>
                    <a:moveTo>
                      <a:pt x="0" y="149651"/>
                    </a:moveTo>
                    <a:lnTo>
                      <a:pt x="0" y="105994"/>
                    </a:lnTo>
                    <a:lnTo>
                      <a:pt x="43656" y="105994"/>
                    </a:lnTo>
                  </a:path>
                </a:pathLst>
              </a:custGeom>
              <a:noFill/>
              <a:ln w="17463">
                <a:solidFill>
                  <a:srgbClr val="FFFFFF"/>
                </a:solidFill>
              </a:ln>
            </p:spPr>
          </p:sp>
        </p:grpSp>
        <p:sp>
          <p:nvSpPr>
            <p:cNvPr id="137" name="Rectangle 137"/>
            <p:cNvSpPr/>
            <p:nvPr/>
          </p:nvSpPr>
          <p:spPr>
            <a:xfrm>
              <a:off x="9620250" y="3600450"/>
              <a:ext cx="1238250" cy="247650"/>
            </a:xfrm>
            <a:prstGeom prst="roundRect">
              <a:avLst>
                <a:gd name="adj" fmla="val 50000"/>
              </a:avLst>
            </a:prstGeom>
            <a:solidFill>
              <a:srgbClr val="5E3A33"/>
            </a:solidFill>
            <a:ln>
              <a:noFill/>
            </a:ln>
          </p:spPr>
        </p:sp>
        <p:sp>
          <p:nvSpPr>
            <p:cNvPr id="138" name="TextBox 138"/>
            <p:cNvSpPr txBox="1"/>
            <p:nvPr/>
          </p:nvSpPr>
          <p:spPr>
            <a:xfrm>
              <a:off x="9781906" y="3670697"/>
              <a:ext cx="9149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 xml:space="preserve">低：72小时　　</a:t>
              </a:r>
            </a:p>
          </p:txBody>
        </p:sp>
        <p:sp>
          <p:nvSpPr>
            <p:cNvPr id="139" name="TextBox 139"/>
            <p:cNvSpPr txBox="1"/>
            <p:nvPr/>
          </p:nvSpPr>
          <p:spPr>
            <a:xfrm>
              <a:off x="9615488" y="3995738"/>
              <a:ext cx="1135285" cy="147638"/>
            </a:xfrm>
            <a:prstGeom prst="rect">
              <a:avLst/>
            </a:prstGeom>
            <a:noFill/>
            <a:ln>
              <a:noFill/>
            </a:ln>
          </p:spPr>
          <p:txBody>
            <a:bodyPr wrap="none" lIns="0" tIns="0" rIns="0" bIns="0" anchor="t" anchorCtr="0">
              <a:spAutoFit/>
            </a:bodyPr>
            <a:lstStyle/>
            <a:p>
              <a:pPr algn="l"/>
              <a:r>
                <a:rPr lang="zh-CN" sz="750" dirty="0">
                  <a:solidFill>
                    <a:srgbClr val="4A4A4A"/>
                  </a:solidFill>
                  <a:latin typeface="+mn-lt"/>
                  <a:ea typeface="+mn-ea"/>
                  <a:cs typeface="+mn-cs"/>
                </a:rPr>
                <a:t>低价值客户 / 低风险事件</a:t>
              </a:r>
            </a:p>
          </p:txBody>
        </p:sp>
        <p:sp>
          <p:nvSpPr>
            <p:cNvPr id="140" name="TextBox 140"/>
            <p:cNvSpPr txBox="1"/>
            <p:nvPr/>
          </p:nvSpPr>
          <p:spPr>
            <a:xfrm>
              <a:off x="9615488" y="4186238"/>
              <a:ext cx="832895" cy="147638"/>
            </a:xfrm>
            <a:prstGeom prst="rect">
              <a:avLst/>
            </a:prstGeom>
            <a:noFill/>
            <a:ln>
              <a:noFill/>
            </a:ln>
          </p:spPr>
          <p:txBody>
            <a:bodyPr wrap="none" lIns="0" tIns="0" rIns="0" bIns="0" anchor="t" anchorCtr="0">
              <a:spAutoFit/>
            </a:bodyPr>
            <a:lstStyle/>
            <a:p>
              <a:pPr algn="l"/>
              <a:r>
                <a:rPr lang="zh-CN" sz="750" b="1" dirty="0">
                  <a:solidFill>
                    <a:srgbClr val="5E3A33"/>
                  </a:solidFill>
                  <a:latin typeface="+mn-lt"/>
                  <a:ea typeface="+mn-ea"/>
                  <a:cs typeface="+mn-cs"/>
                </a:rPr>
                <a:t>72小时内完成触达</a:t>
              </a:r>
            </a:p>
          </p:txBody>
        </p:sp>
      </p:grpSp>
      <p:grpSp>
        <p:nvGrpSpPr>
          <p:cNvPr id="183" name="task-elements"/>
          <p:cNvGrpSpPr/>
          <p:nvPr/>
        </p:nvGrpSpPr>
        <p:grpSpPr>
          <a:xfrm>
            <a:off x="381000" y="5619750"/>
            <a:ext cx="11430000" cy="1066800"/>
            <a:chOff x="381000" y="5619750"/>
            <a:chExt cx="11430000" cy="1066800"/>
          </a:xfrm>
        </p:grpSpPr>
        <p:sp>
          <p:nvSpPr>
            <p:cNvPr id="142" name="Rectangle 142"/>
            <p:cNvSpPr/>
            <p:nvPr/>
          </p:nvSpPr>
          <p:spPr>
            <a:xfrm>
              <a:off x="381000" y="5619750"/>
              <a:ext cx="11430000" cy="1066800"/>
            </a:xfrm>
            <a:prstGeom prst="roundRect">
              <a:avLst>
                <a:gd name="adj" fmla="val 10714"/>
              </a:avLst>
            </a:prstGeom>
            <a:solidFill>
              <a:srgbClr val="FFFFFF"/>
            </a:solidFill>
            <a:ln w="9525">
              <a:solidFill>
                <a:srgbClr val="E6D9C0"/>
              </a:solidFill>
            </a:ln>
          </p:spPr>
        </p:sp>
        <p:sp>
          <p:nvSpPr>
            <p:cNvPr id="143" name="Freeform 143"/>
            <p:cNvSpPr/>
            <p:nvPr/>
          </p:nvSpPr>
          <p:spPr>
            <a:xfrm>
              <a:off x="1285875" y="5810250"/>
              <a:ext cx="152400" cy="161925"/>
            </a:xfrm>
            <a:custGeom>
              <a:avLst/>
              <a:gdLst/>
              <a:ahLst/>
              <a:cxnLst/>
              <a:rect l="l" t="t" r="r" b="b"/>
              <a:pathLst>
                <a:path w="152400" h="161925">
                  <a:moveTo>
                    <a:pt x="0" y="0"/>
                  </a:moveTo>
                  <a:lnTo>
                    <a:pt x="152400" y="0"/>
                  </a:lnTo>
                  <a:lnTo>
                    <a:pt x="152400" y="20688"/>
                  </a:lnTo>
                  <a:cubicBezTo>
                    <a:pt x="152399" y="25740"/>
                    <a:pt x="150391" y="30585"/>
                    <a:pt x="146818" y="34157"/>
                  </a:cubicBezTo>
                  <a:lnTo>
                    <a:pt x="104775" y="76200"/>
                  </a:lnTo>
                  <a:lnTo>
                    <a:pt x="104775" y="142875"/>
                  </a:lnTo>
                  <a:lnTo>
                    <a:pt x="47625" y="161925"/>
                  </a:lnTo>
                  <a:lnTo>
                    <a:pt x="47625" y="80962"/>
                  </a:lnTo>
                  <a:lnTo>
                    <a:pt x="4953" y="34023"/>
                  </a:lnTo>
                  <a:cubicBezTo>
                    <a:pt x="1766" y="30517"/>
                    <a:pt x="1" y="25950"/>
                    <a:pt x="0" y="21212"/>
                  </a:cubicBezTo>
                  <a:lnTo>
                    <a:pt x="0" y="0"/>
                  </a:lnTo>
                </a:path>
              </a:pathLst>
            </a:custGeom>
            <a:noFill/>
            <a:ln w="19050">
              <a:solidFill>
                <a:srgbClr val="A3381F"/>
              </a:solidFill>
            </a:ln>
          </p:spPr>
        </p:sp>
        <p:sp>
          <p:nvSpPr>
            <p:cNvPr id="144" name="TextBox 144"/>
            <p:cNvSpPr txBox="1"/>
            <p:nvPr/>
          </p:nvSpPr>
          <p:spPr>
            <a:xfrm>
              <a:off x="1125766" y="6117193"/>
              <a:ext cx="472618" cy="169069"/>
            </a:xfrm>
            <a:prstGeom prst="rect">
              <a:avLst/>
            </a:prstGeom>
            <a:noFill/>
            <a:ln>
              <a:noFill/>
            </a:ln>
          </p:spPr>
          <p:txBody>
            <a:bodyPr wrap="none" lIns="0" tIns="0" rIns="0" bIns="0" anchor="t" anchorCtr="0">
              <a:spAutoFit/>
            </a:bodyPr>
            <a:lstStyle/>
            <a:p>
              <a:pPr algn="ctr"/>
              <a:r>
                <a:rPr lang="zh-CN" sz="860" b="1" dirty="0">
                  <a:solidFill>
                    <a:srgbClr val="A3381F"/>
                  </a:solidFill>
                  <a:latin typeface="+mn-lt"/>
                  <a:ea typeface="+mn-ea"/>
                  <a:cs typeface="+mn-cs"/>
                </a:rPr>
                <a:t>触发条件</a:t>
              </a:r>
            </a:p>
          </p:txBody>
        </p:sp>
        <p:sp>
          <p:nvSpPr>
            <p:cNvPr id="145" name="TextBox 145"/>
            <p:cNvSpPr txBox="1"/>
            <p:nvPr/>
          </p:nvSpPr>
          <p:spPr>
            <a:xfrm>
              <a:off x="950913" y="6331982"/>
              <a:ext cx="82232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B6B6B"/>
                  </a:solidFill>
                  <a:latin typeface="+mn-lt"/>
                  <a:ea typeface="+mn-ea"/>
                  <a:cs typeface="+mn-cs"/>
                </a:rPr>
                <a:t>事件类型、规则阈值、</a:t>
              </a:r>
              <a:br/>
              <a:r>
                <a:rPr lang="zh-CN" sz="640" dirty="0">
                  <a:solidFill>
                    <a:srgbClr val="6B6B6B"/>
                  </a:solidFill>
                  <a:latin typeface="+mn-lt"/>
                  <a:ea typeface="+mn-ea"/>
                  <a:cs typeface="+mn-cs"/>
                </a:rPr>
                <a:t>客户特征等</a:t>
              </a:r>
            </a:p>
          </p:txBody>
        </p:sp>
        <p:sp>
          <p:nvSpPr>
            <p:cNvPr id="146" name="Line 146"/>
            <p:cNvSpPr/>
            <p:nvPr/>
          </p:nvSpPr>
          <p:spPr>
            <a:xfrm>
              <a:off x="2276475" y="5772150"/>
              <a:ext cx="9525" cy="762000"/>
            </a:xfrm>
            <a:custGeom>
              <a:avLst/>
              <a:gdLst/>
              <a:ahLst/>
              <a:cxnLst/>
              <a:rect l="l" t="t" r="r" b="b"/>
              <a:pathLst>
                <a:path w="9525" h="762000">
                  <a:moveTo>
                    <a:pt x="0" y="0"/>
                  </a:moveTo>
                  <a:lnTo>
                    <a:pt x="0" y="762000"/>
                  </a:lnTo>
                </a:path>
              </a:pathLst>
            </a:custGeom>
            <a:noFill/>
            <a:ln w="9525">
              <a:solidFill>
                <a:srgbClr val="F0E8D8"/>
              </a:solidFill>
            </a:ln>
          </p:spPr>
        </p:sp>
        <p:grpSp>
          <p:nvGrpSpPr>
            <p:cNvPr id="151" name="Group 151"/>
            <p:cNvGrpSpPr/>
            <p:nvPr/>
          </p:nvGrpSpPr>
          <p:grpSpPr>
            <a:xfrm>
              <a:off x="3162300" y="5800725"/>
              <a:ext cx="171450" cy="171450"/>
              <a:chOff x="3162300" y="5800725"/>
              <a:chExt cx="171450" cy="171450"/>
            </a:xfrm>
          </p:grpSpPr>
          <p:sp>
            <p:nvSpPr>
              <p:cNvPr id="147" name="Freeform 147"/>
              <p:cNvSpPr/>
              <p:nvPr/>
            </p:nvSpPr>
            <p:spPr>
              <a:xfrm>
                <a:off x="3181350" y="58007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26D5E"/>
                </a:solidFill>
              </a:ln>
            </p:spPr>
          </p:sp>
          <p:sp>
            <p:nvSpPr>
              <p:cNvPr id="148" name="Freeform 148"/>
              <p:cNvSpPr/>
              <p:nvPr/>
            </p:nvSpPr>
            <p:spPr>
              <a:xfrm>
                <a:off x="3162300" y="59150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26D5E"/>
                </a:solidFill>
              </a:ln>
            </p:spPr>
          </p:sp>
          <p:sp>
            <p:nvSpPr>
              <p:cNvPr id="149" name="Freeform 149"/>
              <p:cNvSpPr/>
              <p:nvPr/>
            </p:nvSpPr>
            <p:spPr>
              <a:xfrm>
                <a:off x="3286125" y="58019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26D5E"/>
                </a:solidFill>
              </a:ln>
            </p:spPr>
          </p:sp>
          <p:sp>
            <p:nvSpPr>
              <p:cNvPr id="150" name="Freeform 150"/>
              <p:cNvSpPr/>
              <p:nvPr/>
            </p:nvSpPr>
            <p:spPr>
              <a:xfrm>
                <a:off x="3305175" y="59164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26D5E"/>
                </a:solidFill>
              </a:ln>
            </p:spPr>
          </p:sp>
        </p:grpSp>
        <p:sp>
          <p:nvSpPr>
            <p:cNvPr id="152" name="TextBox 152"/>
            <p:cNvSpPr txBox="1"/>
            <p:nvPr/>
          </p:nvSpPr>
          <p:spPr>
            <a:xfrm>
              <a:off x="3011716" y="6117193"/>
              <a:ext cx="472618" cy="169069"/>
            </a:xfrm>
            <a:prstGeom prst="rect">
              <a:avLst/>
            </a:prstGeom>
            <a:noFill/>
            <a:ln>
              <a:noFill/>
            </a:ln>
          </p:spPr>
          <p:txBody>
            <a:bodyPr wrap="none" lIns="0" tIns="0" rIns="0" bIns="0" anchor="t" anchorCtr="0">
              <a:spAutoFit/>
            </a:bodyPr>
            <a:lstStyle/>
            <a:p>
              <a:pPr algn="ctr"/>
              <a:r>
                <a:rPr lang="zh-CN" sz="860" b="1" dirty="0">
                  <a:solidFill>
                    <a:srgbClr val="A24B3C"/>
                  </a:solidFill>
                  <a:latin typeface="+mn-lt"/>
                  <a:ea typeface="+mn-ea"/>
                  <a:cs typeface="+mn-cs"/>
                </a:rPr>
                <a:t>目标客群</a:t>
              </a:r>
            </a:p>
          </p:txBody>
        </p:sp>
        <p:sp>
          <p:nvSpPr>
            <p:cNvPr id="153" name="TextBox 153"/>
            <p:cNvSpPr txBox="1"/>
            <p:nvPr/>
          </p:nvSpPr>
          <p:spPr>
            <a:xfrm>
              <a:off x="2836862" y="6331982"/>
              <a:ext cx="82232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B6B6B"/>
                  </a:solidFill>
                  <a:latin typeface="+mn-lt"/>
                  <a:ea typeface="+mn-ea"/>
                  <a:cs typeface="+mn-cs"/>
                </a:rPr>
                <a:t>客户分层、价值等级、</a:t>
              </a:r>
              <a:br/>
              <a:r>
                <a:rPr lang="zh-CN" sz="640" dirty="0">
                  <a:solidFill>
                    <a:srgbClr val="6B6B6B"/>
                  </a:solidFill>
                  <a:latin typeface="+mn-lt"/>
                  <a:ea typeface="+mn-ea"/>
                  <a:cs typeface="+mn-cs"/>
                </a:rPr>
                <a:t>风险等级等</a:t>
              </a:r>
            </a:p>
          </p:txBody>
        </p:sp>
        <p:sp>
          <p:nvSpPr>
            <p:cNvPr id="154" name="Line 154"/>
            <p:cNvSpPr/>
            <p:nvPr/>
          </p:nvSpPr>
          <p:spPr>
            <a:xfrm>
              <a:off x="4162425" y="5772150"/>
              <a:ext cx="9525" cy="762000"/>
            </a:xfrm>
            <a:custGeom>
              <a:avLst/>
              <a:gdLst/>
              <a:ahLst/>
              <a:cxnLst/>
              <a:rect l="l" t="t" r="r" b="b"/>
              <a:pathLst>
                <a:path w="9525" h="762000">
                  <a:moveTo>
                    <a:pt x="0" y="0"/>
                  </a:moveTo>
                  <a:lnTo>
                    <a:pt x="0" y="762000"/>
                  </a:lnTo>
                </a:path>
              </a:pathLst>
            </a:custGeom>
            <a:noFill/>
            <a:ln w="9525">
              <a:solidFill>
                <a:srgbClr val="F0E8D8"/>
              </a:solidFill>
            </a:ln>
          </p:spPr>
        </p:sp>
        <p:grpSp>
          <p:nvGrpSpPr>
            <p:cNvPr id="158" name="Group 158"/>
            <p:cNvGrpSpPr/>
            <p:nvPr/>
          </p:nvGrpSpPr>
          <p:grpSpPr>
            <a:xfrm>
              <a:off x="5048250" y="5800725"/>
              <a:ext cx="171450" cy="171450"/>
              <a:chOff x="5048250" y="5800725"/>
              <a:chExt cx="171450" cy="171450"/>
            </a:xfrm>
          </p:grpSpPr>
          <p:sp>
            <p:nvSpPr>
              <p:cNvPr id="155" name="Freeform 155"/>
              <p:cNvSpPr/>
              <p:nvPr/>
            </p:nvSpPr>
            <p:spPr>
              <a:xfrm>
                <a:off x="5124450" y="58769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5E3A33"/>
                </a:solidFill>
              </a:ln>
            </p:spPr>
          </p:sp>
          <p:sp>
            <p:nvSpPr>
              <p:cNvPr id="156" name="Freeform 156"/>
              <p:cNvSpPr/>
              <p:nvPr/>
            </p:nvSpPr>
            <p:spPr>
              <a:xfrm>
                <a:off x="5086350" y="58388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5E3A33"/>
                </a:solidFill>
              </a:ln>
            </p:spPr>
          </p:sp>
          <p:sp>
            <p:nvSpPr>
              <p:cNvPr id="157" name="Freeform 157"/>
              <p:cNvSpPr/>
              <p:nvPr/>
            </p:nvSpPr>
            <p:spPr>
              <a:xfrm>
                <a:off x="5048250" y="5800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E3A33"/>
                </a:solidFill>
              </a:ln>
            </p:spPr>
          </p:sp>
        </p:grpSp>
        <p:sp>
          <p:nvSpPr>
            <p:cNvPr id="159" name="TextBox 159"/>
            <p:cNvSpPr txBox="1"/>
            <p:nvPr/>
          </p:nvSpPr>
          <p:spPr>
            <a:xfrm>
              <a:off x="4897666" y="6117193"/>
              <a:ext cx="472618" cy="169069"/>
            </a:xfrm>
            <a:prstGeom prst="rect">
              <a:avLst/>
            </a:prstGeom>
            <a:noFill/>
            <a:ln>
              <a:noFill/>
            </a:ln>
          </p:spPr>
          <p:txBody>
            <a:bodyPr wrap="none" lIns="0" tIns="0" rIns="0" bIns="0" anchor="t" anchorCtr="0">
              <a:spAutoFit/>
            </a:bodyPr>
            <a:lstStyle/>
            <a:p>
              <a:pPr algn="ctr"/>
              <a:r>
                <a:rPr lang="zh-CN" sz="860" b="1" dirty="0">
                  <a:solidFill>
                    <a:srgbClr val="5E3A33"/>
                  </a:solidFill>
                  <a:latin typeface="+mn-lt"/>
                  <a:ea typeface="+mn-ea"/>
                  <a:cs typeface="+mn-cs"/>
                </a:rPr>
                <a:t>推荐动作</a:t>
              </a:r>
            </a:p>
          </p:txBody>
        </p:sp>
        <p:sp>
          <p:nvSpPr>
            <p:cNvPr id="160" name="TextBox 160"/>
            <p:cNvSpPr txBox="1"/>
            <p:nvPr/>
          </p:nvSpPr>
          <p:spPr>
            <a:xfrm>
              <a:off x="4722812" y="6331982"/>
              <a:ext cx="82232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B6B6B"/>
                  </a:solidFill>
                  <a:latin typeface="+mn-lt"/>
                  <a:ea typeface="+mn-ea"/>
                  <a:cs typeface="+mn-cs"/>
                </a:rPr>
                <a:t>产品推荐、关怀话术、</a:t>
              </a:r>
              <a:br/>
              <a:r>
                <a:rPr lang="zh-CN" sz="640" dirty="0">
                  <a:solidFill>
                    <a:srgbClr val="6B6B6B"/>
                  </a:solidFill>
                  <a:latin typeface="+mn-lt"/>
                  <a:ea typeface="+mn-ea"/>
                  <a:cs typeface="+mn-cs"/>
                </a:rPr>
                <a:t>服务方案等</a:t>
              </a:r>
            </a:p>
          </p:txBody>
        </p:sp>
        <p:sp>
          <p:nvSpPr>
            <p:cNvPr id="161" name="Line 161"/>
            <p:cNvSpPr/>
            <p:nvPr/>
          </p:nvSpPr>
          <p:spPr>
            <a:xfrm>
              <a:off x="6048375" y="5772150"/>
              <a:ext cx="9525" cy="762000"/>
            </a:xfrm>
            <a:custGeom>
              <a:avLst/>
              <a:gdLst/>
              <a:ahLst/>
              <a:cxnLst/>
              <a:rect l="l" t="t" r="r" b="b"/>
              <a:pathLst>
                <a:path w="9525" h="762000">
                  <a:moveTo>
                    <a:pt x="0" y="0"/>
                  </a:moveTo>
                  <a:lnTo>
                    <a:pt x="0" y="762000"/>
                  </a:lnTo>
                </a:path>
              </a:pathLst>
            </a:custGeom>
            <a:noFill/>
            <a:ln w="9525">
              <a:solidFill>
                <a:srgbClr val="F0E8D8"/>
              </a:solidFill>
            </a:ln>
          </p:spPr>
        </p:sp>
        <p:grpSp>
          <p:nvGrpSpPr>
            <p:cNvPr id="165" name="Group 165"/>
            <p:cNvGrpSpPr/>
            <p:nvPr/>
          </p:nvGrpSpPr>
          <p:grpSpPr>
            <a:xfrm>
              <a:off x="6962775" y="5800725"/>
              <a:ext cx="142875" cy="171450"/>
              <a:chOff x="6962775" y="5800725"/>
              <a:chExt cx="142875" cy="171450"/>
            </a:xfrm>
          </p:grpSpPr>
          <p:sp>
            <p:nvSpPr>
              <p:cNvPr id="162" name="Freeform 162"/>
              <p:cNvSpPr/>
              <p:nvPr/>
            </p:nvSpPr>
            <p:spPr>
              <a:xfrm>
                <a:off x="6981825" y="58007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A3381F"/>
                </a:solidFill>
              </a:ln>
            </p:spPr>
          </p:sp>
          <p:sp>
            <p:nvSpPr>
              <p:cNvPr id="163" name="Freeform 163"/>
              <p:cNvSpPr/>
              <p:nvPr/>
            </p:nvSpPr>
            <p:spPr>
              <a:xfrm>
                <a:off x="6962775" y="591502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A3381F"/>
                </a:solidFill>
              </a:ln>
            </p:spPr>
          </p:sp>
          <p:sp>
            <p:nvSpPr>
              <p:cNvPr id="164" name="Freeform 164"/>
              <p:cNvSpPr/>
              <p:nvPr/>
            </p:nvSpPr>
            <p:spPr>
              <a:xfrm>
                <a:off x="7048500" y="5934075"/>
                <a:ext cx="57150" cy="38100"/>
              </a:xfrm>
              <a:custGeom>
                <a:avLst/>
                <a:gdLst/>
                <a:ahLst/>
                <a:cxnLst/>
                <a:rect l="l" t="t" r="r" b="b"/>
                <a:pathLst>
                  <a:path w="57150" h="38100">
                    <a:moveTo>
                      <a:pt x="0" y="19050"/>
                    </a:moveTo>
                    <a:lnTo>
                      <a:pt x="19050" y="38100"/>
                    </a:lnTo>
                    <a:lnTo>
                      <a:pt x="57150" y="0"/>
                    </a:lnTo>
                  </a:path>
                </a:pathLst>
              </a:custGeom>
              <a:noFill/>
              <a:ln w="19050">
                <a:solidFill>
                  <a:srgbClr val="A3381F"/>
                </a:solidFill>
              </a:ln>
            </p:spPr>
          </p:sp>
        </p:grpSp>
        <p:sp>
          <p:nvSpPr>
            <p:cNvPr id="166" name="TextBox 166"/>
            <p:cNvSpPr txBox="1"/>
            <p:nvPr/>
          </p:nvSpPr>
          <p:spPr>
            <a:xfrm>
              <a:off x="6841503" y="6117193"/>
              <a:ext cx="356845" cy="169069"/>
            </a:xfrm>
            <a:prstGeom prst="rect">
              <a:avLst/>
            </a:prstGeom>
            <a:noFill/>
            <a:ln>
              <a:noFill/>
            </a:ln>
          </p:spPr>
          <p:txBody>
            <a:bodyPr wrap="none" lIns="0" tIns="0" rIns="0" bIns="0" anchor="t" anchorCtr="0">
              <a:spAutoFit/>
            </a:bodyPr>
            <a:lstStyle/>
            <a:p>
              <a:pPr algn="ctr"/>
              <a:r>
                <a:rPr lang="zh-CN" sz="860" b="1" dirty="0">
                  <a:solidFill>
                    <a:srgbClr val="A3381F"/>
                  </a:solidFill>
                  <a:latin typeface="+mn-lt"/>
                  <a:ea typeface="+mn-ea"/>
                  <a:cs typeface="+mn-cs"/>
                </a:rPr>
                <a:t>责任人</a:t>
              </a:r>
            </a:p>
          </p:txBody>
        </p:sp>
        <p:sp>
          <p:nvSpPr>
            <p:cNvPr id="167" name="TextBox 167"/>
            <p:cNvSpPr txBox="1"/>
            <p:nvPr/>
          </p:nvSpPr>
          <p:spPr>
            <a:xfrm>
              <a:off x="6604698" y="6331982"/>
              <a:ext cx="830453"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B6B6B"/>
                  </a:solidFill>
                  <a:latin typeface="+mn-lt"/>
                  <a:ea typeface="+mn-ea"/>
                  <a:cs typeface="+mn-cs"/>
                </a:rPr>
                <a:t xml:space="preserve">客户经理/团队/机构　</a:t>
              </a:r>
              <a:br/>
              <a:r>
                <a:rPr lang="zh-CN" sz="640" dirty="0">
                  <a:solidFill>
                    <a:srgbClr val="6B6B6B"/>
                  </a:solidFill>
                  <a:latin typeface="+mn-lt"/>
                  <a:ea typeface="+mn-ea"/>
                  <a:cs typeface="+mn-cs"/>
                </a:rPr>
                <a:t>明确到人</a:t>
              </a:r>
            </a:p>
          </p:txBody>
        </p:sp>
        <p:sp>
          <p:nvSpPr>
            <p:cNvPr id="168" name="Line 168"/>
            <p:cNvSpPr/>
            <p:nvPr/>
          </p:nvSpPr>
          <p:spPr>
            <a:xfrm>
              <a:off x="7934325" y="5772150"/>
              <a:ext cx="9525" cy="762000"/>
            </a:xfrm>
            <a:custGeom>
              <a:avLst/>
              <a:gdLst/>
              <a:ahLst/>
              <a:cxnLst/>
              <a:rect l="l" t="t" r="r" b="b"/>
              <a:pathLst>
                <a:path w="9525" h="762000">
                  <a:moveTo>
                    <a:pt x="0" y="0"/>
                  </a:moveTo>
                  <a:lnTo>
                    <a:pt x="0" y="762000"/>
                  </a:lnTo>
                </a:path>
              </a:pathLst>
            </a:custGeom>
            <a:noFill/>
            <a:ln w="9525">
              <a:solidFill>
                <a:srgbClr val="F0E8D8"/>
              </a:solidFill>
            </a:ln>
          </p:spPr>
        </p:sp>
        <p:grpSp>
          <p:nvGrpSpPr>
            <p:cNvPr id="171" name="Group 171"/>
            <p:cNvGrpSpPr/>
            <p:nvPr/>
          </p:nvGrpSpPr>
          <p:grpSpPr>
            <a:xfrm>
              <a:off x="8820150" y="5800725"/>
              <a:ext cx="171450" cy="171450"/>
              <a:chOff x="8820150" y="5800725"/>
              <a:chExt cx="171450" cy="171450"/>
            </a:xfrm>
          </p:grpSpPr>
          <p:sp>
            <p:nvSpPr>
              <p:cNvPr id="169" name="Freeform 169"/>
              <p:cNvSpPr/>
              <p:nvPr/>
            </p:nvSpPr>
            <p:spPr>
              <a:xfrm>
                <a:off x="8820150" y="5800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26D5E"/>
                </a:solidFill>
              </a:ln>
            </p:spPr>
          </p:sp>
          <p:sp>
            <p:nvSpPr>
              <p:cNvPr id="170" name="Freeform 170"/>
              <p:cNvSpPr/>
              <p:nvPr/>
            </p:nvSpPr>
            <p:spPr>
              <a:xfrm>
                <a:off x="8905875" y="5838825"/>
                <a:ext cx="28575" cy="76200"/>
              </a:xfrm>
              <a:custGeom>
                <a:avLst/>
                <a:gdLst/>
                <a:ahLst/>
                <a:cxnLst/>
                <a:rect l="l" t="t" r="r" b="b"/>
                <a:pathLst>
                  <a:path w="28575" h="76200">
                    <a:moveTo>
                      <a:pt x="0" y="0"/>
                    </a:moveTo>
                    <a:lnTo>
                      <a:pt x="0" y="47625"/>
                    </a:lnTo>
                    <a:lnTo>
                      <a:pt x="28575" y="76200"/>
                    </a:lnTo>
                  </a:path>
                </a:pathLst>
              </a:custGeom>
              <a:noFill/>
              <a:ln w="19050">
                <a:solidFill>
                  <a:srgbClr val="C26D5E"/>
                </a:solidFill>
              </a:ln>
            </p:spPr>
          </p:sp>
        </p:grpSp>
        <p:sp>
          <p:nvSpPr>
            <p:cNvPr id="172" name="TextBox 172"/>
            <p:cNvSpPr txBox="1"/>
            <p:nvPr/>
          </p:nvSpPr>
          <p:spPr>
            <a:xfrm>
              <a:off x="8669566" y="6117193"/>
              <a:ext cx="472618" cy="169069"/>
            </a:xfrm>
            <a:prstGeom prst="rect">
              <a:avLst/>
            </a:prstGeom>
            <a:noFill/>
            <a:ln>
              <a:noFill/>
            </a:ln>
          </p:spPr>
          <p:txBody>
            <a:bodyPr wrap="none" lIns="0" tIns="0" rIns="0" bIns="0" anchor="t" anchorCtr="0">
              <a:spAutoFit/>
            </a:bodyPr>
            <a:lstStyle/>
            <a:p>
              <a:pPr algn="ctr"/>
              <a:r>
                <a:rPr lang="zh-CN" sz="860" b="1" dirty="0">
                  <a:solidFill>
                    <a:srgbClr val="A24B3C"/>
                  </a:solidFill>
                  <a:latin typeface="+mn-lt"/>
                  <a:ea typeface="+mn-ea"/>
                  <a:cs typeface="+mn-cs"/>
                </a:rPr>
                <a:t>处理时限</a:t>
              </a:r>
            </a:p>
          </p:txBody>
        </p:sp>
        <p:sp>
          <p:nvSpPr>
            <p:cNvPr id="173" name="TextBox 173"/>
            <p:cNvSpPr txBox="1"/>
            <p:nvPr/>
          </p:nvSpPr>
          <p:spPr>
            <a:xfrm>
              <a:off x="8575992" y="6331982"/>
              <a:ext cx="65976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B6B6B"/>
                  </a:solidFill>
                  <a:latin typeface="+mn-lt"/>
                  <a:ea typeface="+mn-ea"/>
                  <a:cs typeface="+mn-cs"/>
                </a:rPr>
                <a:t>按优先级设定时限</a:t>
              </a:r>
              <a:br/>
              <a:r>
                <a:rPr lang="zh-CN" sz="640" dirty="0">
                  <a:solidFill>
                    <a:srgbClr val="6B6B6B"/>
                  </a:solidFill>
                  <a:latin typeface="+mn-lt"/>
                  <a:ea typeface="+mn-ea"/>
                  <a:cs typeface="+mn-cs"/>
                </a:rPr>
                <a:t>系统自动提醒</a:t>
              </a:r>
            </a:p>
          </p:txBody>
        </p:sp>
        <p:sp>
          <p:nvSpPr>
            <p:cNvPr id="174" name="Line 174"/>
            <p:cNvSpPr/>
            <p:nvPr/>
          </p:nvSpPr>
          <p:spPr>
            <a:xfrm>
              <a:off x="9820275" y="5772150"/>
              <a:ext cx="9525" cy="762000"/>
            </a:xfrm>
            <a:custGeom>
              <a:avLst/>
              <a:gdLst/>
              <a:ahLst/>
              <a:cxnLst/>
              <a:rect l="l" t="t" r="r" b="b"/>
              <a:pathLst>
                <a:path w="9525" h="762000">
                  <a:moveTo>
                    <a:pt x="0" y="0"/>
                  </a:moveTo>
                  <a:lnTo>
                    <a:pt x="0" y="762000"/>
                  </a:lnTo>
                </a:path>
              </a:pathLst>
            </a:custGeom>
            <a:noFill/>
            <a:ln w="9525">
              <a:solidFill>
                <a:srgbClr val="F0E8D8"/>
              </a:solidFill>
            </a:ln>
          </p:spPr>
        </p:sp>
        <p:grpSp>
          <p:nvGrpSpPr>
            <p:cNvPr id="180" name="Group 180"/>
            <p:cNvGrpSpPr/>
            <p:nvPr/>
          </p:nvGrpSpPr>
          <p:grpSpPr>
            <a:xfrm>
              <a:off x="10725150" y="5800725"/>
              <a:ext cx="133350" cy="171450"/>
              <a:chOff x="10725150" y="5800725"/>
              <a:chExt cx="133350" cy="171450"/>
            </a:xfrm>
          </p:grpSpPr>
          <p:sp>
            <p:nvSpPr>
              <p:cNvPr id="175" name="Freeform 175"/>
              <p:cNvSpPr/>
              <p:nvPr/>
            </p:nvSpPr>
            <p:spPr>
              <a:xfrm>
                <a:off x="10810875" y="580072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5E3A33"/>
                </a:solidFill>
              </a:ln>
            </p:spPr>
          </p:sp>
          <p:sp>
            <p:nvSpPr>
              <p:cNvPr id="176" name="Freeform 176"/>
              <p:cNvSpPr/>
              <p:nvPr/>
            </p:nvSpPr>
            <p:spPr>
              <a:xfrm>
                <a:off x="10725150" y="580072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5E3A33"/>
                </a:solidFill>
              </a:ln>
            </p:spPr>
          </p:sp>
          <p:sp>
            <p:nvSpPr>
              <p:cNvPr id="177" name="Freeform 177"/>
              <p:cNvSpPr/>
              <p:nvPr/>
            </p:nvSpPr>
            <p:spPr>
              <a:xfrm>
                <a:off x="10763250" y="5857875"/>
                <a:ext cx="9525" cy="9525"/>
              </a:xfrm>
              <a:custGeom>
                <a:avLst/>
                <a:gdLst/>
                <a:ahLst/>
                <a:cxnLst/>
                <a:rect l="l" t="t" r="r" b="b"/>
                <a:pathLst>
                  <a:path w="9525" h="9525">
                    <a:moveTo>
                      <a:pt x="0" y="0"/>
                    </a:moveTo>
                    <a:lnTo>
                      <a:pt x="9525" y="0"/>
                    </a:lnTo>
                  </a:path>
                </a:pathLst>
              </a:custGeom>
              <a:noFill/>
              <a:ln w="19050">
                <a:solidFill>
                  <a:srgbClr val="5E3A33"/>
                </a:solidFill>
              </a:ln>
            </p:spPr>
          </p:sp>
          <p:sp>
            <p:nvSpPr>
              <p:cNvPr id="178" name="Freeform 178"/>
              <p:cNvSpPr/>
              <p:nvPr/>
            </p:nvSpPr>
            <p:spPr>
              <a:xfrm>
                <a:off x="10763250" y="5895975"/>
                <a:ext cx="57150" cy="9525"/>
              </a:xfrm>
              <a:custGeom>
                <a:avLst/>
                <a:gdLst/>
                <a:ahLst/>
                <a:cxnLst/>
                <a:rect l="l" t="t" r="r" b="b"/>
                <a:pathLst>
                  <a:path w="57150" h="9525">
                    <a:moveTo>
                      <a:pt x="0" y="0"/>
                    </a:moveTo>
                    <a:lnTo>
                      <a:pt x="57150" y="0"/>
                    </a:lnTo>
                  </a:path>
                </a:pathLst>
              </a:custGeom>
              <a:noFill/>
              <a:ln w="19050">
                <a:solidFill>
                  <a:srgbClr val="5E3A33"/>
                </a:solidFill>
              </a:ln>
            </p:spPr>
          </p:sp>
          <p:sp>
            <p:nvSpPr>
              <p:cNvPr id="179" name="Freeform 179"/>
              <p:cNvSpPr/>
              <p:nvPr/>
            </p:nvSpPr>
            <p:spPr>
              <a:xfrm>
                <a:off x="10763250" y="5934075"/>
                <a:ext cx="57150" cy="9525"/>
              </a:xfrm>
              <a:custGeom>
                <a:avLst/>
                <a:gdLst/>
                <a:ahLst/>
                <a:cxnLst/>
                <a:rect l="l" t="t" r="r" b="b"/>
                <a:pathLst>
                  <a:path w="57150" h="9525">
                    <a:moveTo>
                      <a:pt x="0" y="0"/>
                    </a:moveTo>
                    <a:lnTo>
                      <a:pt x="57150" y="0"/>
                    </a:lnTo>
                  </a:path>
                </a:pathLst>
              </a:custGeom>
              <a:noFill/>
              <a:ln w="19050">
                <a:solidFill>
                  <a:srgbClr val="5E3A33"/>
                </a:solidFill>
              </a:ln>
            </p:spPr>
          </p:sp>
        </p:grpSp>
        <p:sp>
          <p:nvSpPr>
            <p:cNvPr id="181" name="TextBox 181"/>
            <p:cNvSpPr txBox="1"/>
            <p:nvPr/>
          </p:nvSpPr>
          <p:spPr>
            <a:xfrm>
              <a:off x="10555516" y="6117193"/>
              <a:ext cx="472618" cy="169069"/>
            </a:xfrm>
            <a:prstGeom prst="rect">
              <a:avLst/>
            </a:prstGeom>
            <a:noFill/>
            <a:ln>
              <a:noFill/>
            </a:ln>
          </p:spPr>
          <p:txBody>
            <a:bodyPr wrap="none" lIns="0" tIns="0" rIns="0" bIns="0" anchor="t" anchorCtr="0">
              <a:spAutoFit/>
            </a:bodyPr>
            <a:lstStyle/>
            <a:p>
              <a:pPr algn="ctr"/>
              <a:r>
                <a:rPr lang="zh-CN" sz="860" b="1" dirty="0">
                  <a:solidFill>
                    <a:srgbClr val="5E3A33"/>
                  </a:solidFill>
                  <a:latin typeface="+mn-lt"/>
                  <a:ea typeface="+mn-ea"/>
                  <a:cs typeface="+mn-cs"/>
                </a:rPr>
                <a:t>结果记录</a:t>
              </a:r>
            </a:p>
          </p:txBody>
        </p:sp>
        <p:sp>
          <p:nvSpPr>
            <p:cNvPr id="182" name="TextBox 182"/>
            <p:cNvSpPr txBox="1"/>
            <p:nvPr/>
          </p:nvSpPr>
          <p:spPr>
            <a:xfrm>
              <a:off x="10380662" y="6331982"/>
              <a:ext cx="822325" cy="250031"/>
            </a:xfrm>
            <a:prstGeom prst="rect">
              <a:avLst/>
            </a:prstGeom>
            <a:noFill/>
            <a:ln>
              <a:noFill/>
            </a:ln>
          </p:spPr>
          <p:txBody>
            <a:bodyPr wrap="none" lIns="0" tIns="0" rIns="0" bIns="0" anchor="t" anchorCtr="0">
              <a:spAutoFit/>
            </a:bodyPr>
            <a:lstStyle/>
            <a:p>
              <a:pPr algn="ctr">
                <a:lnSpc>
                  <a:spcPts val="975"/>
                </a:lnSpc>
              </a:pPr>
              <a:r>
                <a:rPr lang="zh-CN" sz="640" dirty="0">
                  <a:solidFill>
                    <a:srgbClr val="6B6B6B"/>
                  </a:solidFill>
                  <a:latin typeface="+mn-lt"/>
                  <a:ea typeface="+mn-ea"/>
                  <a:cs typeface="+mn-cs"/>
                </a:rPr>
                <a:t>触达结果、客户反馈、</a:t>
              </a:r>
              <a:br/>
              <a:r>
                <a:rPr lang="zh-CN" sz="640" dirty="0">
                  <a:solidFill>
                    <a:srgbClr val="6B6B6B"/>
                  </a:solidFill>
                  <a:latin typeface="+mn-lt"/>
                  <a:ea typeface="+mn-ea"/>
                  <a:cs typeface="+mn-cs"/>
                </a:rPr>
                <a:t>后续计划等</a:t>
              </a:r>
            </a:p>
          </p:txBody>
        </p:sp>
      </p:gr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14</a:t>
              </a:r>
            </a:p>
          </p:txBody>
        </p:sp>
        <p:sp>
          <p:nvSpPr>
            <p:cNvPr id="4" name="TextBox 4"/>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权益体系：构建</a:t>
              </a:r>
              <a:r>
                <a:rPr lang="zh-CN" sz="1950" b="1" dirty="0">
                  <a:solidFill>
                    <a:srgbClr val="A3381F"/>
                  </a:solidFill>
                  <a:latin typeface="SimSun"/>
                  <a:ea typeface="SimSun"/>
                  <a:cs typeface="SimSun"/>
                </a:rPr>
                <a:t>普惠、成长、高端</a:t>
              </a:r>
              <a:r>
                <a:rPr lang="zh-CN" sz="1950" b="1" dirty="0">
                  <a:solidFill>
                    <a:srgbClr val="1F1F1F"/>
                  </a:solidFill>
                  <a:latin typeface="SimSun"/>
                  <a:ea typeface="SimSun"/>
                  <a:cs typeface="SimSun"/>
                </a:rPr>
                <a:t>三级权益</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53" name="pyramid-3level"/>
          <p:cNvGrpSpPr/>
          <p:nvPr/>
        </p:nvGrpSpPr>
        <p:grpSpPr>
          <a:xfrm>
            <a:off x="95250" y="914400"/>
            <a:ext cx="4095750" cy="2895600"/>
            <a:chOff x="95250" y="914400"/>
            <a:chExt cx="4095750" cy="2895600"/>
          </a:xfrm>
        </p:grpSpPr>
        <p:sp>
          <p:nvSpPr>
            <p:cNvPr id="7" name="Polygon 7"/>
            <p:cNvSpPr/>
            <p:nvPr/>
          </p:nvSpPr>
          <p:spPr>
            <a:xfrm>
              <a:off x="571500" y="914400"/>
              <a:ext cx="1905000" cy="895350"/>
            </a:xfrm>
            <a:custGeom>
              <a:avLst/>
              <a:gdLst/>
              <a:ahLst/>
              <a:cxnLst/>
              <a:rect l="l" t="t" r="r" b="b"/>
              <a:pathLst>
                <a:path w="1905000" h="895350">
                  <a:moveTo>
                    <a:pt x="381000" y="0"/>
                  </a:moveTo>
                  <a:lnTo>
                    <a:pt x="1524000" y="0"/>
                  </a:lnTo>
                  <a:lnTo>
                    <a:pt x="1905000" y="895350"/>
                  </a:lnTo>
                  <a:lnTo>
                    <a:pt x="0" y="895350"/>
                  </a:lnTo>
                  <a:close/>
                </a:path>
              </a:pathLst>
            </a:custGeom>
            <a:solidFill>
              <a:srgbClr val="A3381F"/>
            </a:solidFill>
            <a:ln>
              <a:noFill/>
            </a:ln>
          </p:spPr>
        </p:sp>
        <p:sp>
          <p:nvSpPr>
            <p:cNvPr id="8" name="Freeform 8"/>
            <p:cNvSpPr/>
            <p:nvPr/>
          </p:nvSpPr>
          <p:spPr>
            <a:xfrm>
              <a:off x="1438275" y="1181100"/>
              <a:ext cx="171450" cy="114300"/>
            </a:xfrm>
            <a:custGeom>
              <a:avLst/>
              <a:gdLst/>
              <a:ahLst/>
              <a:cxnLst/>
              <a:rect l="l" t="t" r="r" b="b"/>
              <a:pathLst>
                <a:path w="171450" h="114300">
                  <a:moveTo>
                    <a:pt x="85725" y="0"/>
                  </a:moveTo>
                  <a:lnTo>
                    <a:pt x="123825" y="57150"/>
                  </a:lnTo>
                  <a:lnTo>
                    <a:pt x="171450" y="19050"/>
                  </a:lnTo>
                  <a:lnTo>
                    <a:pt x="152400" y="114300"/>
                  </a:lnTo>
                  <a:lnTo>
                    <a:pt x="19050" y="114300"/>
                  </a:lnTo>
                  <a:lnTo>
                    <a:pt x="0" y="19050"/>
                  </a:lnTo>
                  <a:lnTo>
                    <a:pt x="47625" y="57150"/>
                  </a:lnTo>
                  <a:lnTo>
                    <a:pt x="85725" y="0"/>
                  </a:lnTo>
                </a:path>
              </a:pathLst>
            </a:custGeom>
            <a:noFill/>
            <a:ln w="19050">
              <a:solidFill>
                <a:srgbClr val="FFFFFF"/>
              </a:solidFill>
            </a:ln>
          </p:spPr>
        </p:sp>
        <p:sp>
          <p:nvSpPr>
            <p:cNvPr id="9" name="TextBox 9"/>
            <p:cNvSpPr txBox="1"/>
            <p:nvPr/>
          </p:nvSpPr>
          <p:spPr>
            <a:xfrm>
              <a:off x="1216736" y="15168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高端权益</a:t>
              </a:r>
            </a:p>
          </p:txBody>
        </p:sp>
        <p:sp>
          <p:nvSpPr>
            <p:cNvPr id="10" name="Rectangle 10"/>
            <p:cNvSpPr/>
            <p:nvPr/>
          </p:nvSpPr>
          <p:spPr>
            <a:xfrm>
              <a:off x="2705100" y="914400"/>
              <a:ext cx="1485900" cy="895350"/>
            </a:xfrm>
            <a:prstGeom prst="roundRect">
              <a:avLst>
                <a:gd name="adj" fmla="val 8511"/>
              </a:avLst>
            </a:prstGeom>
            <a:solidFill>
              <a:srgbClr val="FFFFFF"/>
            </a:solidFill>
            <a:ln w="9525">
              <a:solidFill>
                <a:srgbClr val="E6D9C0"/>
              </a:solidFill>
            </a:ln>
          </p:spPr>
        </p:sp>
        <p:sp>
          <p:nvSpPr>
            <p:cNvPr id="11" name="Ellipse 11"/>
            <p:cNvSpPr/>
            <p:nvPr/>
          </p:nvSpPr>
          <p:spPr>
            <a:xfrm>
              <a:off x="2781300" y="1095375"/>
              <a:ext cx="38100" cy="38100"/>
            </a:xfrm>
            <a:prstGeom prst="ellipse">
              <a:avLst/>
            </a:prstGeom>
            <a:solidFill>
              <a:srgbClr val="C26D5E"/>
            </a:solidFill>
            <a:ln>
              <a:noFill/>
            </a:ln>
          </p:spPr>
        </p:sp>
        <p:sp>
          <p:nvSpPr>
            <p:cNvPr id="12" name="TextBox 12"/>
            <p:cNvSpPr txBox="1"/>
            <p:nvPr/>
          </p:nvSpPr>
          <p:spPr>
            <a:xfrm>
              <a:off x="2871788" y="1075611"/>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专属顾问</a:t>
              </a:r>
            </a:p>
          </p:txBody>
        </p:sp>
        <p:sp>
          <p:nvSpPr>
            <p:cNvPr id="13" name="Ellipse 13"/>
            <p:cNvSpPr/>
            <p:nvPr/>
          </p:nvSpPr>
          <p:spPr>
            <a:xfrm>
              <a:off x="2781300" y="1343025"/>
              <a:ext cx="38100" cy="38100"/>
            </a:xfrm>
            <a:prstGeom prst="ellipse">
              <a:avLst/>
            </a:prstGeom>
            <a:solidFill>
              <a:srgbClr val="C26D5E"/>
            </a:solidFill>
            <a:ln>
              <a:noFill/>
            </a:ln>
          </p:spPr>
        </p:sp>
        <p:sp>
          <p:nvSpPr>
            <p:cNvPr id="14" name="TextBox 14"/>
            <p:cNvSpPr txBox="1"/>
            <p:nvPr/>
          </p:nvSpPr>
          <p:spPr>
            <a:xfrm>
              <a:off x="2871788" y="1323261"/>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贵宾通道</a:t>
              </a:r>
            </a:p>
          </p:txBody>
        </p:sp>
        <p:sp>
          <p:nvSpPr>
            <p:cNvPr id="15" name="Ellipse 15"/>
            <p:cNvSpPr/>
            <p:nvPr/>
          </p:nvSpPr>
          <p:spPr>
            <a:xfrm>
              <a:off x="2781300" y="1590675"/>
              <a:ext cx="38100" cy="38100"/>
            </a:xfrm>
            <a:prstGeom prst="ellipse">
              <a:avLst/>
            </a:prstGeom>
            <a:solidFill>
              <a:srgbClr val="C26D5E"/>
            </a:solidFill>
            <a:ln>
              <a:noFill/>
            </a:ln>
          </p:spPr>
        </p:sp>
        <p:sp>
          <p:nvSpPr>
            <p:cNvPr id="16" name="TextBox 16"/>
            <p:cNvSpPr txBox="1"/>
            <p:nvPr/>
          </p:nvSpPr>
          <p:spPr>
            <a:xfrm>
              <a:off x="2871788" y="1570911"/>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健康医疗</a:t>
              </a:r>
            </a:p>
          </p:txBody>
        </p:sp>
        <p:sp>
          <p:nvSpPr>
            <p:cNvPr id="17" name="Ellipse 17"/>
            <p:cNvSpPr/>
            <p:nvPr/>
          </p:nvSpPr>
          <p:spPr>
            <a:xfrm>
              <a:off x="3390900" y="1095375"/>
              <a:ext cx="38100" cy="38100"/>
            </a:xfrm>
            <a:prstGeom prst="ellipse">
              <a:avLst/>
            </a:prstGeom>
            <a:solidFill>
              <a:srgbClr val="C26D5E"/>
            </a:solidFill>
            <a:ln>
              <a:noFill/>
            </a:ln>
          </p:spPr>
        </p:sp>
        <p:sp>
          <p:nvSpPr>
            <p:cNvPr id="18" name="TextBox 18"/>
            <p:cNvSpPr txBox="1"/>
            <p:nvPr/>
          </p:nvSpPr>
          <p:spPr>
            <a:xfrm>
              <a:off x="3481388" y="1075611"/>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出行礼宾</a:t>
              </a:r>
            </a:p>
          </p:txBody>
        </p:sp>
        <p:sp>
          <p:nvSpPr>
            <p:cNvPr id="19" name="Ellipse 19"/>
            <p:cNvSpPr/>
            <p:nvPr/>
          </p:nvSpPr>
          <p:spPr>
            <a:xfrm>
              <a:off x="3390900" y="1343025"/>
              <a:ext cx="38100" cy="38100"/>
            </a:xfrm>
            <a:prstGeom prst="ellipse">
              <a:avLst/>
            </a:prstGeom>
            <a:solidFill>
              <a:srgbClr val="C26D5E"/>
            </a:solidFill>
            <a:ln>
              <a:noFill/>
            </a:ln>
          </p:spPr>
        </p:sp>
        <p:sp>
          <p:nvSpPr>
            <p:cNvPr id="20" name="TextBox 20"/>
            <p:cNvSpPr txBox="1"/>
            <p:nvPr/>
          </p:nvSpPr>
          <p:spPr>
            <a:xfrm>
              <a:off x="3481388" y="1323261"/>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法律税务</a:t>
              </a:r>
            </a:p>
          </p:txBody>
        </p:sp>
        <p:sp>
          <p:nvSpPr>
            <p:cNvPr id="21" name="Ellipse 21"/>
            <p:cNvSpPr/>
            <p:nvPr/>
          </p:nvSpPr>
          <p:spPr>
            <a:xfrm>
              <a:off x="3390900" y="1590675"/>
              <a:ext cx="38100" cy="38100"/>
            </a:xfrm>
            <a:prstGeom prst="ellipse">
              <a:avLst/>
            </a:prstGeom>
            <a:solidFill>
              <a:srgbClr val="C26D5E"/>
            </a:solidFill>
            <a:ln>
              <a:noFill/>
            </a:ln>
          </p:spPr>
        </p:sp>
        <p:sp>
          <p:nvSpPr>
            <p:cNvPr id="22" name="TextBox 22"/>
            <p:cNvSpPr txBox="1"/>
            <p:nvPr/>
          </p:nvSpPr>
          <p:spPr>
            <a:xfrm>
              <a:off x="3481388" y="1570911"/>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家企传承</a:t>
              </a:r>
            </a:p>
          </p:txBody>
        </p:sp>
        <p:sp>
          <p:nvSpPr>
            <p:cNvPr id="23" name="Polygon 23"/>
            <p:cNvSpPr/>
            <p:nvPr/>
          </p:nvSpPr>
          <p:spPr>
            <a:xfrm>
              <a:off x="333375" y="1866900"/>
              <a:ext cx="2381250" cy="895350"/>
            </a:xfrm>
            <a:custGeom>
              <a:avLst/>
              <a:gdLst/>
              <a:ahLst/>
              <a:cxnLst/>
              <a:rect l="l" t="t" r="r" b="b"/>
              <a:pathLst>
                <a:path w="2381250" h="895350">
                  <a:moveTo>
                    <a:pt x="238125" y="0"/>
                  </a:moveTo>
                  <a:lnTo>
                    <a:pt x="2143125" y="0"/>
                  </a:lnTo>
                  <a:lnTo>
                    <a:pt x="2381250" y="895350"/>
                  </a:lnTo>
                  <a:lnTo>
                    <a:pt x="0" y="895350"/>
                  </a:lnTo>
                  <a:close/>
                </a:path>
              </a:pathLst>
            </a:custGeom>
            <a:solidFill>
              <a:srgbClr val="C26D5E"/>
            </a:solidFill>
            <a:ln>
              <a:noFill/>
            </a:ln>
          </p:spPr>
        </p:sp>
        <p:grpSp>
          <p:nvGrpSpPr>
            <p:cNvPr id="26" name="Group 26"/>
            <p:cNvGrpSpPr/>
            <p:nvPr/>
          </p:nvGrpSpPr>
          <p:grpSpPr>
            <a:xfrm>
              <a:off x="1438275" y="2143125"/>
              <a:ext cx="171450" cy="95250"/>
              <a:chOff x="1438275" y="2143125"/>
              <a:chExt cx="171450" cy="95250"/>
            </a:xfrm>
          </p:grpSpPr>
          <p:sp>
            <p:nvSpPr>
              <p:cNvPr id="24" name="Freeform 24"/>
              <p:cNvSpPr/>
              <p:nvPr/>
            </p:nvSpPr>
            <p:spPr>
              <a:xfrm>
                <a:off x="1438275" y="214312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FFFFFF"/>
                </a:solidFill>
              </a:ln>
            </p:spPr>
          </p:sp>
          <p:sp>
            <p:nvSpPr>
              <p:cNvPr id="25" name="Freeform 25"/>
              <p:cNvSpPr/>
              <p:nvPr/>
            </p:nvSpPr>
            <p:spPr>
              <a:xfrm>
                <a:off x="1543050" y="2143125"/>
                <a:ext cx="66675" cy="66675"/>
              </a:xfrm>
              <a:custGeom>
                <a:avLst/>
                <a:gdLst/>
                <a:ahLst/>
                <a:cxnLst/>
                <a:rect l="l" t="t" r="r" b="b"/>
                <a:pathLst>
                  <a:path w="66675" h="66675">
                    <a:moveTo>
                      <a:pt x="0" y="0"/>
                    </a:moveTo>
                    <a:lnTo>
                      <a:pt x="66675" y="0"/>
                    </a:lnTo>
                    <a:lnTo>
                      <a:pt x="66675" y="66675"/>
                    </a:lnTo>
                  </a:path>
                </a:pathLst>
              </a:custGeom>
              <a:noFill/>
              <a:ln w="19050">
                <a:solidFill>
                  <a:srgbClr val="FFFFFF"/>
                </a:solidFill>
              </a:ln>
            </p:spPr>
          </p:sp>
        </p:grpSp>
        <p:sp>
          <p:nvSpPr>
            <p:cNvPr id="27" name="TextBox 27"/>
            <p:cNvSpPr txBox="1"/>
            <p:nvPr/>
          </p:nvSpPr>
          <p:spPr>
            <a:xfrm>
              <a:off x="1216736" y="24693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成长权益</a:t>
              </a:r>
            </a:p>
          </p:txBody>
        </p:sp>
        <p:sp>
          <p:nvSpPr>
            <p:cNvPr id="28" name="Rectangle 28"/>
            <p:cNvSpPr/>
            <p:nvPr/>
          </p:nvSpPr>
          <p:spPr>
            <a:xfrm>
              <a:off x="2895600" y="1866900"/>
              <a:ext cx="1295400" cy="895350"/>
            </a:xfrm>
            <a:prstGeom prst="roundRect">
              <a:avLst>
                <a:gd name="adj" fmla="val 8511"/>
              </a:avLst>
            </a:prstGeom>
            <a:solidFill>
              <a:srgbClr val="FFFFFF"/>
            </a:solidFill>
            <a:ln w="9525">
              <a:solidFill>
                <a:srgbClr val="E6D9C0"/>
              </a:solidFill>
            </a:ln>
          </p:spPr>
        </p:sp>
        <p:sp>
          <p:nvSpPr>
            <p:cNvPr id="29" name="Ellipse 29"/>
            <p:cNvSpPr/>
            <p:nvPr/>
          </p:nvSpPr>
          <p:spPr>
            <a:xfrm>
              <a:off x="2971800" y="2038350"/>
              <a:ext cx="38100" cy="38100"/>
            </a:xfrm>
            <a:prstGeom prst="ellipse">
              <a:avLst/>
            </a:prstGeom>
            <a:solidFill>
              <a:srgbClr val="C26D5E"/>
            </a:solidFill>
            <a:ln>
              <a:noFill/>
            </a:ln>
          </p:spPr>
        </p:sp>
        <p:sp>
          <p:nvSpPr>
            <p:cNvPr id="30" name="TextBox 30"/>
            <p:cNvSpPr txBox="1"/>
            <p:nvPr/>
          </p:nvSpPr>
          <p:spPr>
            <a:xfrm>
              <a:off x="3062288" y="20185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积分加速</a:t>
              </a:r>
            </a:p>
          </p:txBody>
        </p:sp>
        <p:sp>
          <p:nvSpPr>
            <p:cNvPr id="31" name="Ellipse 31"/>
            <p:cNvSpPr/>
            <p:nvPr/>
          </p:nvSpPr>
          <p:spPr>
            <a:xfrm>
              <a:off x="2971800" y="2247900"/>
              <a:ext cx="38100" cy="38100"/>
            </a:xfrm>
            <a:prstGeom prst="ellipse">
              <a:avLst/>
            </a:prstGeom>
            <a:solidFill>
              <a:srgbClr val="C26D5E"/>
            </a:solidFill>
            <a:ln>
              <a:noFill/>
            </a:ln>
          </p:spPr>
        </p:sp>
        <p:sp>
          <p:nvSpPr>
            <p:cNvPr id="32" name="TextBox 32"/>
            <p:cNvSpPr txBox="1"/>
            <p:nvPr/>
          </p:nvSpPr>
          <p:spPr>
            <a:xfrm>
              <a:off x="3062288" y="222813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产品体验</a:t>
              </a:r>
            </a:p>
          </p:txBody>
        </p:sp>
        <p:sp>
          <p:nvSpPr>
            <p:cNvPr id="33" name="Ellipse 33"/>
            <p:cNvSpPr/>
            <p:nvPr/>
          </p:nvSpPr>
          <p:spPr>
            <a:xfrm>
              <a:off x="2971800" y="2457450"/>
              <a:ext cx="38100" cy="38100"/>
            </a:xfrm>
            <a:prstGeom prst="ellipse">
              <a:avLst/>
            </a:prstGeom>
            <a:solidFill>
              <a:srgbClr val="C26D5E"/>
            </a:solidFill>
            <a:ln>
              <a:noFill/>
            </a:ln>
          </p:spPr>
        </p:sp>
        <p:sp>
          <p:nvSpPr>
            <p:cNvPr id="34" name="TextBox 34"/>
            <p:cNvSpPr txBox="1"/>
            <p:nvPr/>
          </p:nvSpPr>
          <p:spPr>
            <a:xfrm>
              <a:off x="3062288" y="24376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财富诊断</a:t>
              </a:r>
            </a:p>
          </p:txBody>
        </p:sp>
        <p:sp>
          <p:nvSpPr>
            <p:cNvPr id="35" name="Ellipse 35"/>
            <p:cNvSpPr/>
            <p:nvPr/>
          </p:nvSpPr>
          <p:spPr>
            <a:xfrm>
              <a:off x="2971800" y="2667000"/>
              <a:ext cx="38100" cy="38100"/>
            </a:xfrm>
            <a:prstGeom prst="ellipse">
              <a:avLst/>
            </a:prstGeom>
            <a:solidFill>
              <a:srgbClr val="C26D5E"/>
            </a:solidFill>
            <a:ln>
              <a:noFill/>
            </a:ln>
          </p:spPr>
        </p:sp>
        <p:sp>
          <p:nvSpPr>
            <p:cNvPr id="36" name="TextBox 36"/>
            <p:cNvSpPr txBox="1"/>
            <p:nvPr/>
          </p:nvSpPr>
          <p:spPr>
            <a:xfrm>
              <a:off x="3062288" y="264723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主题活动</a:t>
              </a:r>
            </a:p>
          </p:txBody>
        </p:sp>
        <p:sp>
          <p:nvSpPr>
            <p:cNvPr id="37" name="Polygon 37"/>
            <p:cNvSpPr/>
            <p:nvPr/>
          </p:nvSpPr>
          <p:spPr>
            <a:xfrm>
              <a:off x="95250" y="2819400"/>
              <a:ext cx="2857500" cy="990600"/>
            </a:xfrm>
            <a:custGeom>
              <a:avLst/>
              <a:gdLst/>
              <a:ahLst/>
              <a:cxnLst/>
              <a:rect l="l" t="t" r="r" b="b"/>
              <a:pathLst>
                <a:path w="2857500" h="990600">
                  <a:moveTo>
                    <a:pt x="238125" y="0"/>
                  </a:moveTo>
                  <a:lnTo>
                    <a:pt x="2619375" y="0"/>
                  </a:lnTo>
                  <a:lnTo>
                    <a:pt x="2857500" y="990600"/>
                  </a:lnTo>
                  <a:lnTo>
                    <a:pt x="0" y="990600"/>
                  </a:lnTo>
                  <a:close/>
                </a:path>
              </a:pathLst>
            </a:custGeom>
            <a:solidFill>
              <a:srgbClr val="5E3A33"/>
            </a:solidFill>
            <a:ln>
              <a:noFill/>
            </a:ln>
          </p:spPr>
        </p:sp>
        <p:grpSp>
          <p:nvGrpSpPr>
            <p:cNvPr id="44" name="Group 44"/>
            <p:cNvGrpSpPr/>
            <p:nvPr/>
          </p:nvGrpSpPr>
          <p:grpSpPr>
            <a:xfrm>
              <a:off x="1438275" y="3095625"/>
              <a:ext cx="171450" cy="171450"/>
              <a:chOff x="1438275" y="3095625"/>
              <a:chExt cx="171450" cy="171450"/>
            </a:xfrm>
          </p:grpSpPr>
          <p:sp>
            <p:nvSpPr>
              <p:cNvPr id="38" name="Freeform 38"/>
              <p:cNvSpPr/>
              <p:nvPr/>
            </p:nvSpPr>
            <p:spPr>
              <a:xfrm>
                <a:off x="1504950" y="31718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39" name="Freeform 39"/>
              <p:cNvSpPr/>
              <p:nvPr/>
            </p:nvSpPr>
            <p:spPr>
              <a:xfrm>
                <a:off x="1485900" y="323850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FFFFFF"/>
                </a:solidFill>
              </a:ln>
            </p:spPr>
          </p:sp>
          <p:sp>
            <p:nvSpPr>
              <p:cNvPr id="40" name="Freeform 40"/>
              <p:cNvSpPr/>
              <p:nvPr/>
            </p:nvSpPr>
            <p:spPr>
              <a:xfrm>
                <a:off x="1552575" y="3095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41" name="Freeform 41"/>
              <p:cNvSpPr/>
              <p:nvPr/>
            </p:nvSpPr>
            <p:spPr>
              <a:xfrm>
                <a:off x="1571625" y="316230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FFFFFF"/>
                </a:solidFill>
              </a:ln>
            </p:spPr>
          </p:sp>
          <p:sp>
            <p:nvSpPr>
              <p:cNvPr id="42" name="Freeform 42"/>
              <p:cNvSpPr/>
              <p:nvPr/>
            </p:nvSpPr>
            <p:spPr>
              <a:xfrm>
                <a:off x="1457325" y="30956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43" name="Freeform 43"/>
              <p:cNvSpPr/>
              <p:nvPr/>
            </p:nvSpPr>
            <p:spPr>
              <a:xfrm>
                <a:off x="1438275" y="316230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FFFFFF"/>
                </a:solidFill>
              </a:ln>
            </p:spPr>
          </p:sp>
        </p:grpSp>
        <p:sp>
          <p:nvSpPr>
            <p:cNvPr id="45" name="TextBox 45"/>
            <p:cNvSpPr txBox="1"/>
            <p:nvPr/>
          </p:nvSpPr>
          <p:spPr>
            <a:xfrm>
              <a:off x="1216736" y="347900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普惠权益</a:t>
              </a:r>
            </a:p>
          </p:txBody>
        </p:sp>
        <p:sp>
          <p:nvSpPr>
            <p:cNvPr id="46" name="Rectangle 46"/>
            <p:cNvSpPr/>
            <p:nvPr/>
          </p:nvSpPr>
          <p:spPr>
            <a:xfrm>
              <a:off x="3086100" y="2819400"/>
              <a:ext cx="1104900" cy="990600"/>
            </a:xfrm>
            <a:prstGeom prst="roundRect">
              <a:avLst>
                <a:gd name="adj" fmla="val 7692"/>
              </a:avLst>
            </a:prstGeom>
            <a:solidFill>
              <a:srgbClr val="FFFFFF"/>
            </a:solidFill>
            <a:ln w="9525">
              <a:solidFill>
                <a:srgbClr val="E6D9C0"/>
              </a:solidFill>
            </a:ln>
          </p:spPr>
        </p:sp>
        <p:sp>
          <p:nvSpPr>
            <p:cNvPr id="47" name="Ellipse 47"/>
            <p:cNvSpPr/>
            <p:nvPr/>
          </p:nvSpPr>
          <p:spPr>
            <a:xfrm>
              <a:off x="3162300" y="3028950"/>
              <a:ext cx="38100" cy="38100"/>
            </a:xfrm>
            <a:prstGeom prst="ellipse">
              <a:avLst/>
            </a:prstGeom>
            <a:solidFill>
              <a:srgbClr val="C26D5E"/>
            </a:solidFill>
            <a:ln>
              <a:noFill/>
            </a:ln>
          </p:spPr>
        </p:sp>
        <p:sp>
          <p:nvSpPr>
            <p:cNvPr id="48" name="TextBox 48"/>
            <p:cNvSpPr txBox="1"/>
            <p:nvPr/>
          </p:nvSpPr>
          <p:spPr>
            <a:xfrm>
              <a:off x="3252788" y="3009186"/>
              <a:ext cx="39184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支付优惠</a:t>
              </a:r>
            </a:p>
          </p:txBody>
        </p:sp>
        <p:sp>
          <p:nvSpPr>
            <p:cNvPr id="49" name="Ellipse 49"/>
            <p:cNvSpPr/>
            <p:nvPr/>
          </p:nvSpPr>
          <p:spPr>
            <a:xfrm>
              <a:off x="3162300" y="3257550"/>
              <a:ext cx="38100" cy="38100"/>
            </a:xfrm>
            <a:prstGeom prst="ellipse">
              <a:avLst/>
            </a:prstGeom>
            <a:solidFill>
              <a:srgbClr val="C26D5E"/>
            </a:solidFill>
            <a:ln>
              <a:noFill/>
            </a:ln>
          </p:spPr>
        </p:sp>
        <p:sp>
          <p:nvSpPr>
            <p:cNvPr id="50" name="TextBox 50"/>
            <p:cNvSpPr txBox="1"/>
            <p:nvPr/>
          </p:nvSpPr>
          <p:spPr>
            <a:xfrm>
              <a:off x="3252788" y="3237786"/>
              <a:ext cx="200685"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积分</a:t>
              </a:r>
            </a:p>
          </p:txBody>
        </p:sp>
        <p:sp>
          <p:nvSpPr>
            <p:cNvPr id="51" name="Ellipse 51"/>
            <p:cNvSpPr/>
            <p:nvPr/>
          </p:nvSpPr>
          <p:spPr>
            <a:xfrm>
              <a:off x="3162300" y="3486150"/>
              <a:ext cx="38100" cy="38100"/>
            </a:xfrm>
            <a:prstGeom prst="ellipse">
              <a:avLst/>
            </a:prstGeom>
            <a:solidFill>
              <a:srgbClr val="C26D5E"/>
            </a:solidFill>
            <a:ln>
              <a:noFill/>
            </a:ln>
          </p:spPr>
        </p:sp>
        <p:sp>
          <p:nvSpPr>
            <p:cNvPr id="52" name="TextBox 52"/>
            <p:cNvSpPr txBox="1"/>
            <p:nvPr/>
          </p:nvSpPr>
          <p:spPr>
            <a:xfrm>
              <a:off x="3252788" y="3466386"/>
              <a:ext cx="37020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4A4A4A"/>
                  </a:solidFill>
                  <a:latin typeface="+mn-lt"/>
                  <a:ea typeface="+mn-ea"/>
                  <a:cs typeface="+mn-cs"/>
                </a:rPr>
                <a:t>基础费用</a:t>
              </a:r>
              <a:br/>
              <a:r>
                <a:rPr lang="zh-CN" sz="710" dirty="0">
                  <a:solidFill>
                    <a:srgbClr val="4A4A4A"/>
                  </a:solidFill>
                  <a:latin typeface="+mn-lt"/>
                  <a:ea typeface="+mn-ea"/>
                  <a:cs typeface="+mn-cs"/>
                </a:rPr>
                <a:t>减免</a:t>
              </a:r>
            </a:p>
          </p:txBody>
        </p:sp>
      </p:grpSp>
      <p:grpSp>
        <p:nvGrpSpPr>
          <p:cNvPr id="92" name="five-boards"/>
          <p:cNvGrpSpPr/>
          <p:nvPr/>
        </p:nvGrpSpPr>
        <p:grpSpPr>
          <a:xfrm>
            <a:off x="4286250" y="876300"/>
            <a:ext cx="3619500" cy="4686300"/>
            <a:chOff x="4286250" y="876300"/>
            <a:chExt cx="3619500" cy="4686300"/>
          </a:xfrm>
        </p:grpSpPr>
        <p:sp>
          <p:nvSpPr>
            <p:cNvPr id="54" name="Rectangle 54"/>
            <p:cNvSpPr/>
            <p:nvPr/>
          </p:nvSpPr>
          <p:spPr>
            <a:xfrm>
              <a:off x="5381625" y="876300"/>
              <a:ext cx="1428750" cy="266700"/>
            </a:xfrm>
            <a:prstGeom prst="roundRect">
              <a:avLst>
                <a:gd name="adj" fmla="val 50000"/>
              </a:avLst>
            </a:prstGeom>
            <a:solidFill>
              <a:srgbClr val="A3381F"/>
            </a:solidFill>
            <a:ln>
              <a:noFill/>
            </a:ln>
          </p:spPr>
        </p:sp>
        <p:sp>
          <p:nvSpPr>
            <p:cNvPr id="55" name="TextBox 55"/>
            <p:cNvSpPr txBox="1"/>
            <p:nvPr/>
          </p:nvSpPr>
          <p:spPr>
            <a:xfrm>
              <a:off x="5682958" y="947976"/>
              <a:ext cx="82608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五大权益板块</a:t>
              </a:r>
            </a:p>
          </p:txBody>
        </p:sp>
        <p:sp>
          <p:nvSpPr>
            <p:cNvPr id="56" name="Rectangle 56"/>
            <p:cNvSpPr/>
            <p:nvPr/>
          </p:nvSpPr>
          <p:spPr>
            <a:xfrm>
              <a:off x="4286250" y="1238250"/>
              <a:ext cx="3619500" cy="819150"/>
            </a:xfrm>
            <a:prstGeom prst="roundRect">
              <a:avLst>
                <a:gd name="adj" fmla="val 10465"/>
              </a:avLst>
            </a:prstGeom>
            <a:solidFill>
              <a:srgbClr val="FFFFFF"/>
            </a:solidFill>
            <a:ln w="9525">
              <a:solidFill>
                <a:srgbClr val="E6D9C0"/>
              </a:solidFill>
            </a:ln>
          </p:spPr>
        </p:sp>
        <p:sp>
          <p:nvSpPr>
            <p:cNvPr id="57" name="Ellipse 57"/>
            <p:cNvSpPr/>
            <p:nvPr/>
          </p:nvSpPr>
          <p:spPr>
            <a:xfrm>
              <a:off x="4419600" y="1457325"/>
              <a:ext cx="381000" cy="381000"/>
            </a:xfrm>
            <a:prstGeom prst="ellipse">
              <a:avLst/>
            </a:prstGeom>
            <a:solidFill>
              <a:srgbClr val="A3381F"/>
            </a:solidFill>
            <a:ln>
              <a:noFill/>
            </a:ln>
          </p:spPr>
        </p:sp>
        <p:grpSp>
          <p:nvGrpSpPr>
            <p:cNvPr id="60" name="Group 60"/>
            <p:cNvGrpSpPr/>
            <p:nvPr/>
          </p:nvGrpSpPr>
          <p:grpSpPr>
            <a:xfrm>
              <a:off x="4538662" y="1592262"/>
              <a:ext cx="142875" cy="116761"/>
              <a:chOff x="4538662" y="1592262"/>
              <a:chExt cx="142875" cy="116761"/>
            </a:xfrm>
          </p:grpSpPr>
          <p:sp>
            <p:nvSpPr>
              <p:cNvPr id="58" name="Freeform 58"/>
              <p:cNvSpPr/>
              <p:nvPr/>
            </p:nvSpPr>
            <p:spPr>
              <a:xfrm>
                <a:off x="4538662" y="1592262"/>
                <a:ext cx="142875" cy="116761"/>
              </a:xfrm>
              <a:custGeom>
                <a:avLst/>
                <a:gdLst/>
                <a:ahLst/>
                <a:cxnLst/>
                <a:rect l="l" t="t" r="r" b="b"/>
                <a:pathLst>
                  <a:path w="142875" h="116761">
                    <a:moveTo>
                      <a:pt x="23812" y="0"/>
                    </a:moveTo>
                    <a:lnTo>
                      <a:pt x="119062" y="0"/>
                    </a:lnTo>
                    <a:lnTo>
                      <a:pt x="142875" y="39687"/>
                    </a:lnTo>
                    <a:lnTo>
                      <a:pt x="75406" y="115094"/>
                    </a:lnTo>
                    <a:cubicBezTo>
                      <a:pt x="74361" y="116160"/>
                      <a:pt x="72931" y="116761"/>
                      <a:pt x="71437" y="116761"/>
                    </a:cubicBezTo>
                    <a:cubicBezTo>
                      <a:pt x="69944" y="116761"/>
                      <a:pt x="68514" y="116160"/>
                      <a:pt x="67469" y="115094"/>
                    </a:cubicBezTo>
                    <a:lnTo>
                      <a:pt x="0" y="39687"/>
                    </a:lnTo>
                    <a:lnTo>
                      <a:pt x="23812" y="0"/>
                    </a:lnTo>
                  </a:path>
                </a:pathLst>
              </a:custGeom>
              <a:noFill/>
              <a:ln w="15875">
                <a:solidFill>
                  <a:srgbClr val="FFFFFF"/>
                </a:solidFill>
              </a:ln>
            </p:spPr>
          </p:sp>
          <p:sp>
            <p:nvSpPr>
              <p:cNvPr id="59" name="Freeform 59"/>
              <p:cNvSpPr/>
              <p:nvPr/>
            </p:nvSpPr>
            <p:spPr>
              <a:xfrm>
                <a:off x="4578350" y="1622425"/>
                <a:ext cx="15875" cy="25400"/>
              </a:xfrm>
              <a:custGeom>
                <a:avLst/>
                <a:gdLst/>
                <a:ahLst/>
                <a:cxnLst/>
                <a:rect l="l" t="t" r="r" b="b"/>
                <a:pathLst>
                  <a:path w="15875" h="25400">
                    <a:moveTo>
                      <a:pt x="15875" y="25400"/>
                    </a:moveTo>
                    <a:lnTo>
                      <a:pt x="0" y="7937"/>
                    </a:lnTo>
                    <a:lnTo>
                      <a:pt x="4762" y="0"/>
                    </a:lnTo>
                  </a:path>
                </a:pathLst>
              </a:custGeom>
              <a:noFill/>
              <a:ln w="15875">
                <a:solidFill>
                  <a:srgbClr val="FFFFFF"/>
                </a:solidFill>
              </a:ln>
            </p:spPr>
          </p:sp>
        </p:grpSp>
        <p:sp>
          <p:nvSpPr>
            <p:cNvPr id="61" name="TextBox 61"/>
            <p:cNvSpPr txBox="1"/>
            <p:nvPr/>
          </p:nvSpPr>
          <p:spPr>
            <a:xfrm>
              <a:off x="4909566" y="1486852"/>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金融权益</a:t>
              </a:r>
            </a:p>
          </p:txBody>
        </p:sp>
        <p:sp>
          <p:nvSpPr>
            <p:cNvPr id="62" name="TextBox 62"/>
            <p:cNvSpPr txBox="1"/>
            <p:nvPr/>
          </p:nvSpPr>
          <p:spPr>
            <a:xfrm>
              <a:off x="4910138" y="1751886"/>
              <a:ext cx="2016709"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账户管理、手续费优惠、信贷支持、利率优惠等</a:t>
              </a:r>
            </a:p>
          </p:txBody>
        </p:sp>
        <p:sp>
          <p:nvSpPr>
            <p:cNvPr id="63" name="Rectangle 63"/>
            <p:cNvSpPr/>
            <p:nvPr/>
          </p:nvSpPr>
          <p:spPr>
            <a:xfrm>
              <a:off x="4286250" y="2114550"/>
              <a:ext cx="3619500" cy="819150"/>
            </a:xfrm>
            <a:prstGeom prst="roundRect">
              <a:avLst>
                <a:gd name="adj" fmla="val 10465"/>
              </a:avLst>
            </a:prstGeom>
            <a:solidFill>
              <a:srgbClr val="FFFFFF"/>
            </a:solidFill>
            <a:ln w="9525">
              <a:solidFill>
                <a:srgbClr val="E6D9C0"/>
              </a:solidFill>
            </a:ln>
          </p:spPr>
        </p:sp>
        <p:sp>
          <p:nvSpPr>
            <p:cNvPr id="64" name="Ellipse 64"/>
            <p:cNvSpPr/>
            <p:nvPr/>
          </p:nvSpPr>
          <p:spPr>
            <a:xfrm>
              <a:off x="4419600" y="2333625"/>
              <a:ext cx="381000" cy="381000"/>
            </a:xfrm>
            <a:prstGeom prst="ellipse">
              <a:avLst/>
            </a:prstGeom>
            <a:solidFill>
              <a:srgbClr val="C26D5E"/>
            </a:solidFill>
            <a:ln>
              <a:noFill/>
            </a:ln>
          </p:spPr>
        </p:sp>
        <p:grpSp>
          <p:nvGrpSpPr>
            <p:cNvPr id="68" name="Group 68"/>
            <p:cNvGrpSpPr/>
            <p:nvPr/>
          </p:nvGrpSpPr>
          <p:grpSpPr>
            <a:xfrm>
              <a:off x="4562475" y="2452687"/>
              <a:ext cx="119062" cy="142875"/>
              <a:chOff x="4562475" y="2452687"/>
              <a:chExt cx="119062" cy="142875"/>
            </a:xfrm>
          </p:grpSpPr>
          <p:sp>
            <p:nvSpPr>
              <p:cNvPr id="65" name="Freeform 65"/>
              <p:cNvSpPr/>
              <p:nvPr/>
            </p:nvSpPr>
            <p:spPr>
              <a:xfrm>
                <a:off x="4578350" y="24526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66" name="Freeform 66"/>
              <p:cNvSpPr/>
              <p:nvPr/>
            </p:nvSpPr>
            <p:spPr>
              <a:xfrm>
                <a:off x="4562475" y="2547937"/>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FFFFFF"/>
                </a:solidFill>
              </a:ln>
            </p:spPr>
          </p:sp>
          <p:sp>
            <p:nvSpPr>
              <p:cNvPr id="67" name="Freeform 67"/>
              <p:cNvSpPr/>
              <p:nvPr/>
            </p:nvSpPr>
            <p:spPr>
              <a:xfrm>
                <a:off x="4633912" y="2563812"/>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69" name="TextBox 69"/>
            <p:cNvSpPr txBox="1"/>
            <p:nvPr/>
          </p:nvSpPr>
          <p:spPr>
            <a:xfrm>
              <a:off x="4909566" y="2363152"/>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服务权益</a:t>
              </a:r>
            </a:p>
          </p:txBody>
        </p:sp>
        <p:sp>
          <p:nvSpPr>
            <p:cNvPr id="70" name="TextBox 70"/>
            <p:cNvSpPr txBox="1"/>
            <p:nvPr/>
          </p:nvSpPr>
          <p:spPr>
            <a:xfrm>
              <a:off x="4910138" y="2628186"/>
              <a:ext cx="1921129"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专属服务、优先办理、便捷通道、智能服务等</a:t>
              </a:r>
            </a:p>
          </p:txBody>
        </p:sp>
        <p:sp>
          <p:nvSpPr>
            <p:cNvPr id="71" name="Rectangle 71"/>
            <p:cNvSpPr/>
            <p:nvPr/>
          </p:nvSpPr>
          <p:spPr>
            <a:xfrm>
              <a:off x="4286250" y="2990850"/>
              <a:ext cx="3619500" cy="819150"/>
            </a:xfrm>
            <a:prstGeom prst="roundRect">
              <a:avLst>
                <a:gd name="adj" fmla="val 10465"/>
              </a:avLst>
            </a:prstGeom>
            <a:solidFill>
              <a:srgbClr val="FFFFFF"/>
            </a:solidFill>
            <a:ln w="9525">
              <a:solidFill>
                <a:srgbClr val="E6D9C0"/>
              </a:solidFill>
            </a:ln>
          </p:spPr>
        </p:sp>
        <p:sp>
          <p:nvSpPr>
            <p:cNvPr id="72" name="Ellipse 72"/>
            <p:cNvSpPr/>
            <p:nvPr/>
          </p:nvSpPr>
          <p:spPr>
            <a:xfrm>
              <a:off x="4419600" y="3209925"/>
              <a:ext cx="381000" cy="381000"/>
            </a:xfrm>
            <a:prstGeom prst="ellipse">
              <a:avLst/>
            </a:prstGeom>
            <a:solidFill>
              <a:srgbClr val="A3381F"/>
            </a:solidFill>
            <a:ln>
              <a:noFill/>
            </a:ln>
          </p:spPr>
        </p:sp>
        <p:grpSp>
          <p:nvGrpSpPr>
            <p:cNvPr id="75" name="Group 75"/>
            <p:cNvGrpSpPr/>
            <p:nvPr/>
          </p:nvGrpSpPr>
          <p:grpSpPr>
            <a:xfrm>
              <a:off x="4546600" y="3352800"/>
              <a:ext cx="127000" cy="112712"/>
              <a:chOff x="4546600" y="3352800"/>
              <a:chExt cx="127000" cy="112712"/>
            </a:xfrm>
          </p:grpSpPr>
          <p:sp>
            <p:nvSpPr>
              <p:cNvPr id="73" name="Freeform 73"/>
              <p:cNvSpPr/>
              <p:nvPr/>
            </p:nvSpPr>
            <p:spPr>
              <a:xfrm>
                <a:off x="4546600" y="3455987"/>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74" name="Freeform 74"/>
              <p:cNvSpPr/>
              <p:nvPr/>
            </p:nvSpPr>
            <p:spPr>
              <a:xfrm>
                <a:off x="4546600" y="3352800"/>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FFFFFF"/>
                </a:solidFill>
              </a:ln>
            </p:spPr>
          </p:sp>
        </p:grpSp>
        <p:sp>
          <p:nvSpPr>
            <p:cNvPr id="76" name="TextBox 76"/>
            <p:cNvSpPr txBox="1"/>
            <p:nvPr/>
          </p:nvSpPr>
          <p:spPr>
            <a:xfrm>
              <a:off x="4909566" y="3239452"/>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财富权益</a:t>
              </a:r>
            </a:p>
          </p:txBody>
        </p:sp>
        <p:sp>
          <p:nvSpPr>
            <p:cNvPr id="77" name="TextBox 77"/>
            <p:cNvSpPr txBox="1"/>
            <p:nvPr/>
          </p:nvSpPr>
          <p:spPr>
            <a:xfrm>
              <a:off x="4910138" y="3504486"/>
              <a:ext cx="1921129"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财富管理、资产配置、投研观点、增值策略等</a:t>
              </a:r>
            </a:p>
          </p:txBody>
        </p:sp>
        <p:sp>
          <p:nvSpPr>
            <p:cNvPr id="78" name="Rectangle 78"/>
            <p:cNvSpPr/>
            <p:nvPr/>
          </p:nvSpPr>
          <p:spPr>
            <a:xfrm>
              <a:off x="4286250" y="3867150"/>
              <a:ext cx="3619500" cy="819150"/>
            </a:xfrm>
            <a:prstGeom prst="roundRect">
              <a:avLst>
                <a:gd name="adj" fmla="val 10465"/>
              </a:avLst>
            </a:prstGeom>
            <a:solidFill>
              <a:srgbClr val="FFFFFF"/>
            </a:solidFill>
            <a:ln w="9525">
              <a:solidFill>
                <a:srgbClr val="E6D9C0"/>
              </a:solidFill>
            </a:ln>
          </p:spPr>
        </p:sp>
        <p:sp>
          <p:nvSpPr>
            <p:cNvPr id="79" name="Ellipse 79"/>
            <p:cNvSpPr/>
            <p:nvPr/>
          </p:nvSpPr>
          <p:spPr>
            <a:xfrm>
              <a:off x="4419600" y="4086225"/>
              <a:ext cx="381000" cy="381000"/>
            </a:xfrm>
            <a:prstGeom prst="ellipse">
              <a:avLst/>
            </a:prstGeom>
            <a:solidFill>
              <a:srgbClr val="C26D5E"/>
            </a:solidFill>
            <a:ln>
              <a:noFill/>
            </a:ln>
          </p:spPr>
        </p:sp>
        <p:grpSp>
          <p:nvGrpSpPr>
            <p:cNvPr id="84" name="Group 84"/>
            <p:cNvGrpSpPr/>
            <p:nvPr/>
          </p:nvGrpSpPr>
          <p:grpSpPr>
            <a:xfrm>
              <a:off x="4546600" y="4205287"/>
              <a:ext cx="127000" cy="142875"/>
              <a:chOff x="4546600" y="4205287"/>
              <a:chExt cx="127000" cy="142875"/>
            </a:xfrm>
          </p:grpSpPr>
          <p:sp>
            <p:nvSpPr>
              <p:cNvPr id="80" name="Freeform 80"/>
              <p:cNvSpPr/>
              <p:nvPr/>
            </p:nvSpPr>
            <p:spPr>
              <a:xfrm>
                <a:off x="4546600" y="43164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81" name="Freeform 81"/>
              <p:cNvSpPr/>
              <p:nvPr/>
            </p:nvSpPr>
            <p:spPr>
              <a:xfrm>
                <a:off x="4633912" y="43164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82" name="Freeform 82"/>
              <p:cNvSpPr/>
              <p:nvPr/>
            </p:nvSpPr>
            <p:spPr>
              <a:xfrm>
                <a:off x="4546600" y="4205287"/>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FFFFFF"/>
                </a:solidFill>
              </a:ln>
            </p:spPr>
          </p:sp>
          <p:sp>
            <p:nvSpPr>
              <p:cNvPr id="83" name="Freeform 83"/>
              <p:cNvSpPr/>
              <p:nvPr/>
            </p:nvSpPr>
            <p:spPr>
              <a:xfrm>
                <a:off x="4562475" y="4221162"/>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FFFFFF"/>
                </a:solidFill>
              </a:ln>
            </p:spPr>
          </p:sp>
        </p:grpSp>
        <p:sp>
          <p:nvSpPr>
            <p:cNvPr id="85" name="TextBox 85"/>
            <p:cNvSpPr txBox="1"/>
            <p:nvPr/>
          </p:nvSpPr>
          <p:spPr>
            <a:xfrm>
              <a:off x="4909566" y="4115752"/>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生活权益</a:t>
              </a:r>
            </a:p>
          </p:txBody>
        </p:sp>
        <p:sp>
          <p:nvSpPr>
            <p:cNvPr id="86" name="TextBox 86"/>
            <p:cNvSpPr txBox="1"/>
            <p:nvPr/>
          </p:nvSpPr>
          <p:spPr>
            <a:xfrm>
              <a:off x="4910138" y="4380786"/>
              <a:ext cx="2016709"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出行、健康、购物、美食、文体等品质生活礼遇</a:t>
              </a:r>
            </a:p>
          </p:txBody>
        </p:sp>
        <p:sp>
          <p:nvSpPr>
            <p:cNvPr id="87" name="Rectangle 87"/>
            <p:cNvSpPr/>
            <p:nvPr/>
          </p:nvSpPr>
          <p:spPr>
            <a:xfrm>
              <a:off x="4286250" y="4743450"/>
              <a:ext cx="3619500" cy="819150"/>
            </a:xfrm>
            <a:prstGeom prst="roundRect">
              <a:avLst>
                <a:gd name="adj" fmla="val 10465"/>
              </a:avLst>
            </a:prstGeom>
            <a:solidFill>
              <a:srgbClr val="FFFFFF"/>
            </a:solidFill>
            <a:ln w="9525">
              <a:solidFill>
                <a:srgbClr val="E6D9C0"/>
              </a:solidFill>
            </a:ln>
          </p:spPr>
        </p:sp>
        <p:sp>
          <p:nvSpPr>
            <p:cNvPr id="88" name="Ellipse 88"/>
            <p:cNvSpPr/>
            <p:nvPr/>
          </p:nvSpPr>
          <p:spPr>
            <a:xfrm>
              <a:off x="4419600" y="4962525"/>
              <a:ext cx="381000" cy="381000"/>
            </a:xfrm>
            <a:prstGeom prst="ellipse">
              <a:avLst/>
            </a:prstGeom>
            <a:solidFill>
              <a:srgbClr val="A3381F"/>
            </a:solidFill>
            <a:ln>
              <a:noFill/>
            </a:ln>
          </p:spPr>
        </p:sp>
        <p:sp>
          <p:nvSpPr>
            <p:cNvPr id="89" name="Freeform 89"/>
            <p:cNvSpPr/>
            <p:nvPr/>
          </p:nvSpPr>
          <p:spPr>
            <a:xfrm>
              <a:off x="4535914" y="5087489"/>
              <a:ext cx="148228" cy="129036"/>
            </a:xfrm>
            <a:custGeom>
              <a:avLst/>
              <a:gdLst/>
              <a:ahLst/>
              <a:cxnLst/>
              <a:rect l="l" t="t" r="r" b="b"/>
              <a:pathLst>
                <a:path w="148228" h="129036">
                  <a:moveTo>
                    <a:pt x="133717" y="70077"/>
                  </a:moveTo>
                  <a:lnTo>
                    <a:pt x="74186" y="129036"/>
                  </a:lnTo>
                  <a:lnTo>
                    <a:pt x="14655" y="70077"/>
                  </a:lnTo>
                  <a:cubicBezTo>
                    <a:pt x="3949" y="59659"/>
                    <a:pt x="0" y="44113"/>
                    <a:pt x="4435" y="29850"/>
                  </a:cubicBezTo>
                  <a:cubicBezTo>
                    <a:pt x="8870" y="15586"/>
                    <a:pt x="20939" y="5020"/>
                    <a:pt x="35663" y="2510"/>
                  </a:cubicBezTo>
                  <a:cubicBezTo>
                    <a:pt x="50388" y="0"/>
                    <a:pt x="65276" y="5970"/>
                    <a:pt x="74186" y="17959"/>
                  </a:cubicBezTo>
                  <a:cubicBezTo>
                    <a:pt x="83134" y="6059"/>
                    <a:pt x="97989" y="168"/>
                    <a:pt x="112661" y="2702"/>
                  </a:cubicBezTo>
                  <a:cubicBezTo>
                    <a:pt x="127332" y="5235"/>
                    <a:pt x="139351" y="15767"/>
                    <a:pt x="143790" y="29979"/>
                  </a:cubicBezTo>
                  <a:cubicBezTo>
                    <a:pt x="148228" y="44191"/>
                    <a:pt x="144339" y="59691"/>
                    <a:pt x="133717" y="70124"/>
                  </a:cubicBezTo>
                </a:path>
              </a:pathLst>
            </a:custGeom>
            <a:noFill/>
            <a:ln w="15875">
              <a:solidFill>
                <a:srgbClr val="FFFFFF"/>
              </a:solidFill>
            </a:ln>
          </p:spPr>
        </p:sp>
        <p:sp>
          <p:nvSpPr>
            <p:cNvPr id="90" name="TextBox 90"/>
            <p:cNvSpPr txBox="1"/>
            <p:nvPr/>
          </p:nvSpPr>
          <p:spPr>
            <a:xfrm>
              <a:off x="4909566" y="4992052"/>
              <a:ext cx="576072" cy="205359"/>
            </a:xfrm>
            <a:prstGeom prst="rect">
              <a:avLst/>
            </a:prstGeom>
            <a:noFill/>
            <a:ln>
              <a:noFill/>
            </a:ln>
          </p:spPr>
          <p:txBody>
            <a:bodyPr wrap="none" lIns="0" tIns="0" rIns="0" bIns="0" anchor="t" anchorCtr="0">
              <a:spAutoFit/>
            </a:bodyPr>
            <a:lstStyle/>
            <a:p>
              <a:pPr algn="l"/>
              <a:r>
                <a:rPr lang="zh-CN" sz="1050" b="1" dirty="0">
                  <a:solidFill>
                    <a:srgbClr val="A3381F"/>
                  </a:solidFill>
                  <a:latin typeface="+mn-lt"/>
                  <a:ea typeface="+mn-ea"/>
                  <a:cs typeface="+mn-cs"/>
                </a:rPr>
                <a:t>情感权益</a:t>
              </a:r>
            </a:p>
          </p:txBody>
        </p:sp>
        <p:sp>
          <p:nvSpPr>
            <p:cNvPr id="91" name="TextBox 91"/>
            <p:cNvSpPr txBox="1"/>
            <p:nvPr/>
          </p:nvSpPr>
          <p:spPr>
            <a:xfrm>
              <a:off x="4910138" y="5257086"/>
              <a:ext cx="1921129" cy="140494"/>
            </a:xfrm>
            <a:prstGeom prst="rect">
              <a:avLst/>
            </a:prstGeom>
            <a:noFill/>
            <a:ln>
              <a:noFill/>
            </a:ln>
          </p:spPr>
          <p:txBody>
            <a:bodyPr wrap="none" lIns="0" tIns="0" rIns="0" bIns="0" anchor="t" anchorCtr="0">
              <a:spAutoFit/>
            </a:bodyPr>
            <a:lstStyle/>
            <a:p>
              <a:pPr algn="l"/>
              <a:r>
                <a:rPr lang="zh-CN" sz="710" dirty="0">
                  <a:solidFill>
                    <a:srgbClr val="6B6B6B"/>
                  </a:solidFill>
                  <a:latin typeface="+mn-lt"/>
                  <a:ea typeface="+mn-ea"/>
                  <a:cs typeface="+mn-cs"/>
                </a:rPr>
                <a:t>生日关怀、节日问候、会员活动、社群共创等</a:t>
              </a:r>
            </a:p>
          </p:txBody>
        </p:sp>
      </p:grpSp>
      <p:grpSp>
        <p:nvGrpSpPr>
          <p:cNvPr id="131" name="growth-cycle"/>
          <p:cNvGrpSpPr/>
          <p:nvPr/>
        </p:nvGrpSpPr>
        <p:grpSpPr>
          <a:xfrm>
            <a:off x="8543925" y="876300"/>
            <a:ext cx="2724150" cy="3571875"/>
            <a:chOff x="8543925" y="876300"/>
            <a:chExt cx="2724150" cy="3571875"/>
          </a:xfrm>
        </p:grpSpPr>
        <p:sp>
          <p:nvSpPr>
            <p:cNvPr id="93" name="Rectangle 93"/>
            <p:cNvSpPr/>
            <p:nvPr/>
          </p:nvSpPr>
          <p:spPr>
            <a:xfrm>
              <a:off x="9191625" y="876300"/>
              <a:ext cx="1428750" cy="266700"/>
            </a:xfrm>
            <a:prstGeom prst="roundRect">
              <a:avLst>
                <a:gd name="adj" fmla="val 50000"/>
              </a:avLst>
            </a:prstGeom>
            <a:solidFill>
              <a:srgbClr val="A3381F"/>
            </a:solidFill>
            <a:ln>
              <a:noFill/>
            </a:ln>
          </p:spPr>
        </p:sp>
        <p:sp>
          <p:nvSpPr>
            <p:cNvPr id="94" name="TextBox 94"/>
            <p:cNvSpPr txBox="1"/>
            <p:nvPr/>
          </p:nvSpPr>
          <p:spPr>
            <a:xfrm>
              <a:off x="9492958" y="947976"/>
              <a:ext cx="82608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成长循环机制</a:t>
              </a:r>
            </a:p>
          </p:txBody>
        </p:sp>
        <p:sp>
          <p:nvSpPr>
            <p:cNvPr id="95" name="Freeform 95"/>
            <p:cNvSpPr/>
            <p:nvPr/>
          </p:nvSpPr>
          <p:spPr>
            <a:xfrm>
              <a:off x="10235565" y="2224088"/>
              <a:ext cx="533400" cy="387667"/>
            </a:xfrm>
            <a:custGeom>
              <a:avLst/>
              <a:gdLst/>
              <a:ahLst/>
              <a:cxnLst/>
              <a:rect l="l" t="t" r="r" b="b"/>
              <a:pathLst>
                <a:path w="533400" h="387667">
                  <a:moveTo>
                    <a:pt x="0" y="0"/>
                  </a:moveTo>
                  <a:cubicBezTo>
                    <a:pt x="214277" y="69652"/>
                    <a:pt x="401000" y="205359"/>
                    <a:pt x="533400" y="387667"/>
                  </a:cubicBezTo>
                </a:path>
              </a:pathLst>
            </a:custGeom>
            <a:noFill/>
            <a:ln w="19050">
              <a:solidFill>
                <a:srgbClr val="C26D5E"/>
              </a:solidFill>
              <a:tailEnd type="triangle" w="lg" len="lg"/>
            </a:ln>
          </p:spPr>
        </p:sp>
        <p:sp>
          <p:nvSpPr>
            <p:cNvPr id="96" name="Freeform 96"/>
            <p:cNvSpPr/>
            <p:nvPr/>
          </p:nvSpPr>
          <p:spPr>
            <a:xfrm>
              <a:off x="10768965" y="3238500"/>
              <a:ext cx="203835" cy="626745"/>
            </a:xfrm>
            <a:custGeom>
              <a:avLst/>
              <a:gdLst/>
              <a:ahLst/>
              <a:cxnLst/>
              <a:rect l="l" t="t" r="r" b="b"/>
              <a:pathLst>
                <a:path w="203835" h="626745">
                  <a:moveTo>
                    <a:pt x="203835" y="0"/>
                  </a:moveTo>
                  <a:cubicBezTo>
                    <a:pt x="203743" y="225193"/>
                    <a:pt x="132392" y="444580"/>
                    <a:pt x="0" y="626745"/>
                  </a:cubicBezTo>
                </a:path>
              </a:pathLst>
            </a:custGeom>
            <a:noFill/>
            <a:ln w="19050">
              <a:solidFill>
                <a:srgbClr val="C26D5E"/>
              </a:solidFill>
              <a:tailEnd type="triangle" w="lg" len="lg"/>
            </a:ln>
          </p:spPr>
        </p:sp>
        <p:sp>
          <p:nvSpPr>
            <p:cNvPr id="97" name="Freeform 97"/>
            <p:cNvSpPr/>
            <p:nvPr/>
          </p:nvSpPr>
          <p:spPr>
            <a:xfrm>
              <a:off x="9576435" y="4252912"/>
              <a:ext cx="659130" cy="69576"/>
            </a:xfrm>
            <a:custGeom>
              <a:avLst/>
              <a:gdLst/>
              <a:ahLst/>
              <a:cxnLst/>
              <a:rect l="l" t="t" r="r" b="b"/>
              <a:pathLst>
                <a:path w="659130" h="69576">
                  <a:moveTo>
                    <a:pt x="659130" y="0"/>
                  </a:moveTo>
                  <a:cubicBezTo>
                    <a:pt x="444928" y="69576"/>
                    <a:pt x="214202" y="69576"/>
                    <a:pt x="0" y="0"/>
                  </a:cubicBezTo>
                </a:path>
              </a:pathLst>
            </a:custGeom>
            <a:noFill/>
            <a:ln w="19050">
              <a:solidFill>
                <a:srgbClr val="C26D5E"/>
              </a:solidFill>
              <a:tailEnd type="triangle" w="lg" len="lg"/>
            </a:ln>
          </p:spPr>
        </p:sp>
        <p:sp>
          <p:nvSpPr>
            <p:cNvPr id="98" name="Freeform 98"/>
            <p:cNvSpPr/>
            <p:nvPr/>
          </p:nvSpPr>
          <p:spPr>
            <a:xfrm>
              <a:off x="8839200" y="3238500"/>
              <a:ext cx="203835" cy="626745"/>
            </a:xfrm>
            <a:custGeom>
              <a:avLst/>
              <a:gdLst/>
              <a:ahLst/>
              <a:cxnLst/>
              <a:rect l="l" t="t" r="r" b="b"/>
              <a:pathLst>
                <a:path w="203835" h="626745">
                  <a:moveTo>
                    <a:pt x="203835" y="626745"/>
                  </a:moveTo>
                  <a:cubicBezTo>
                    <a:pt x="71443" y="444580"/>
                    <a:pt x="92" y="225193"/>
                    <a:pt x="0" y="0"/>
                  </a:cubicBezTo>
                </a:path>
              </a:pathLst>
            </a:custGeom>
            <a:noFill/>
            <a:ln w="19050">
              <a:solidFill>
                <a:srgbClr val="C26D5E"/>
              </a:solidFill>
              <a:tailEnd type="triangle" w="lg" len="lg"/>
            </a:ln>
          </p:spPr>
        </p:sp>
        <p:sp>
          <p:nvSpPr>
            <p:cNvPr id="99" name="Freeform 99"/>
            <p:cNvSpPr/>
            <p:nvPr/>
          </p:nvSpPr>
          <p:spPr>
            <a:xfrm>
              <a:off x="9043035" y="2224088"/>
              <a:ext cx="533400" cy="387667"/>
            </a:xfrm>
            <a:custGeom>
              <a:avLst/>
              <a:gdLst/>
              <a:ahLst/>
              <a:cxnLst/>
              <a:rect l="l" t="t" r="r" b="b"/>
              <a:pathLst>
                <a:path w="533400" h="387667">
                  <a:moveTo>
                    <a:pt x="0" y="387667"/>
                  </a:moveTo>
                  <a:cubicBezTo>
                    <a:pt x="132400" y="205359"/>
                    <a:pt x="319123" y="69652"/>
                    <a:pt x="533400" y="0"/>
                  </a:cubicBezTo>
                </a:path>
              </a:pathLst>
            </a:custGeom>
            <a:noFill/>
            <a:ln w="19050">
              <a:solidFill>
                <a:srgbClr val="C26D5E"/>
              </a:solidFill>
              <a:tailEnd type="triangle" w="lg" len="lg"/>
            </a:ln>
          </p:spPr>
        </p:sp>
        <p:sp>
          <p:nvSpPr>
            <p:cNvPr id="100" name="Ellipse 100"/>
            <p:cNvSpPr/>
            <p:nvPr/>
          </p:nvSpPr>
          <p:spPr>
            <a:xfrm>
              <a:off x="9410700" y="2743200"/>
              <a:ext cx="990600" cy="990600"/>
            </a:xfrm>
            <a:prstGeom prst="ellipse">
              <a:avLst/>
            </a:prstGeom>
            <a:solidFill>
              <a:srgbClr val="FBF4E7"/>
            </a:solidFill>
            <a:ln w="14288">
              <a:solidFill>
                <a:srgbClr val="C26D5E"/>
              </a:solidFill>
            </a:ln>
          </p:spPr>
        </p:sp>
        <p:sp>
          <p:nvSpPr>
            <p:cNvPr id="101" name="TextBox 101"/>
            <p:cNvSpPr txBox="1"/>
            <p:nvPr/>
          </p:nvSpPr>
          <p:spPr>
            <a:xfrm>
              <a:off x="9648152" y="3099197"/>
              <a:ext cx="515696" cy="183356"/>
            </a:xfrm>
            <a:prstGeom prst="rect">
              <a:avLst/>
            </a:prstGeom>
            <a:noFill/>
            <a:ln>
              <a:noFill/>
            </a:ln>
          </p:spPr>
          <p:txBody>
            <a:bodyPr wrap="none" lIns="0" tIns="0" rIns="0" bIns="0" anchor="t" anchorCtr="0">
              <a:spAutoFit/>
            </a:bodyPr>
            <a:lstStyle/>
            <a:p>
              <a:pPr algn="ctr"/>
              <a:r>
                <a:rPr lang="zh-CN" sz="940" b="1" dirty="0">
                  <a:solidFill>
                    <a:srgbClr val="A3381F"/>
                  </a:solidFill>
                  <a:latin typeface="+mn-lt"/>
                  <a:ea typeface="+mn-ea"/>
                  <a:cs typeface="+mn-cs"/>
                </a:rPr>
                <a:t>客户成长</a:t>
              </a:r>
            </a:p>
          </p:txBody>
        </p:sp>
        <p:sp>
          <p:nvSpPr>
            <p:cNvPr id="102" name="TextBox 102"/>
            <p:cNvSpPr txBox="1"/>
            <p:nvPr/>
          </p:nvSpPr>
          <p:spPr>
            <a:xfrm>
              <a:off x="9648152" y="3289697"/>
              <a:ext cx="515696" cy="183356"/>
            </a:xfrm>
            <a:prstGeom prst="rect">
              <a:avLst/>
            </a:prstGeom>
            <a:noFill/>
            <a:ln>
              <a:noFill/>
            </a:ln>
          </p:spPr>
          <p:txBody>
            <a:bodyPr wrap="none" lIns="0" tIns="0" rIns="0" bIns="0" anchor="t" anchorCtr="0">
              <a:spAutoFit/>
            </a:bodyPr>
            <a:lstStyle/>
            <a:p>
              <a:pPr algn="ctr"/>
              <a:r>
                <a:rPr lang="zh-CN" sz="940" b="1" dirty="0">
                  <a:solidFill>
                    <a:srgbClr val="A3381F"/>
                  </a:solidFill>
                  <a:latin typeface="+mn-lt"/>
                  <a:ea typeface="+mn-ea"/>
                  <a:cs typeface="+mn-cs"/>
                </a:rPr>
                <a:t>价值共创</a:t>
              </a:r>
            </a:p>
          </p:txBody>
        </p:sp>
        <p:sp>
          <p:nvSpPr>
            <p:cNvPr id="103" name="Ellipse 103"/>
            <p:cNvSpPr/>
            <p:nvPr/>
          </p:nvSpPr>
          <p:spPr>
            <a:xfrm>
              <a:off x="9563100" y="1828800"/>
              <a:ext cx="685800" cy="685800"/>
            </a:xfrm>
            <a:prstGeom prst="ellipse">
              <a:avLst/>
            </a:prstGeom>
            <a:solidFill>
              <a:srgbClr val="FFFFFF"/>
            </a:solidFill>
            <a:ln w="19050">
              <a:solidFill>
                <a:srgbClr val="C26D5E"/>
              </a:solidFill>
            </a:ln>
          </p:spPr>
        </p:sp>
        <p:sp>
          <p:nvSpPr>
            <p:cNvPr id="104" name="Freeform 104"/>
            <p:cNvSpPr/>
            <p:nvPr/>
          </p:nvSpPr>
          <p:spPr>
            <a:xfrm>
              <a:off x="9826681" y="1978041"/>
              <a:ext cx="158528" cy="150757"/>
            </a:xfrm>
            <a:custGeom>
              <a:avLst/>
              <a:gdLst/>
              <a:ahLst/>
              <a:cxnLst/>
              <a:rect l="l" t="t" r="r" b="b"/>
              <a:pathLst>
                <a:path w="158528" h="150757">
                  <a:moveTo>
                    <a:pt x="79319" y="125000"/>
                  </a:moveTo>
                  <a:lnTo>
                    <a:pt x="30329" y="150757"/>
                  </a:lnTo>
                  <a:lnTo>
                    <a:pt x="39687" y="96202"/>
                  </a:lnTo>
                  <a:lnTo>
                    <a:pt x="0" y="57571"/>
                  </a:lnTo>
                  <a:lnTo>
                    <a:pt x="54769" y="49633"/>
                  </a:lnTo>
                  <a:lnTo>
                    <a:pt x="79264" y="0"/>
                  </a:lnTo>
                  <a:lnTo>
                    <a:pt x="103759" y="49633"/>
                  </a:lnTo>
                  <a:lnTo>
                    <a:pt x="158528" y="57571"/>
                  </a:lnTo>
                  <a:lnTo>
                    <a:pt x="118840" y="96202"/>
                  </a:lnTo>
                  <a:lnTo>
                    <a:pt x="128199" y="150757"/>
                  </a:lnTo>
                  <a:lnTo>
                    <a:pt x="79319" y="125000"/>
                  </a:lnTo>
                </a:path>
              </a:pathLst>
            </a:custGeom>
            <a:noFill/>
            <a:ln w="15875">
              <a:solidFill>
                <a:srgbClr val="A3381F"/>
              </a:solidFill>
            </a:ln>
          </p:spPr>
        </p:sp>
        <p:sp>
          <p:nvSpPr>
            <p:cNvPr id="105" name="TextBox 105"/>
            <p:cNvSpPr txBox="1"/>
            <p:nvPr/>
          </p:nvSpPr>
          <p:spPr>
            <a:xfrm>
              <a:off x="9790849" y="2273141"/>
              <a:ext cx="230302" cy="161925"/>
            </a:xfrm>
            <a:prstGeom prst="rect">
              <a:avLst/>
            </a:prstGeom>
            <a:noFill/>
            <a:ln>
              <a:noFill/>
            </a:ln>
          </p:spPr>
          <p:txBody>
            <a:bodyPr wrap="none" lIns="0" tIns="0" rIns="0" bIns="0" anchor="t" anchorCtr="0">
              <a:spAutoFit/>
            </a:bodyPr>
            <a:lstStyle/>
            <a:p>
              <a:pPr algn="ctr"/>
              <a:r>
                <a:rPr lang="zh-CN" sz="820" b="1" dirty="0">
                  <a:solidFill>
                    <a:srgbClr val="5E3A33"/>
                  </a:solidFill>
                  <a:latin typeface="+mn-lt"/>
                  <a:ea typeface="+mn-ea"/>
                  <a:cs typeface="+mn-cs"/>
                </a:rPr>
                <a:t>等级</a:t>
              </a:r>
            </a:p>
          </p:txBody>
        </p:sp>
        <p:sp>
          <p:nvSpPr>
            <p:cNvPr id="106" name="Ellipse 106"/>
            <p:cNvSpPr/>
            <p:nvPr/>
          </p:nvSpPr>
          <p:spPr>
            <a:xfrm>
              <a:off x="10582275" y="2562225"/>
              <a:ext cx="685800" cy="685800"/>
            </a:xfrm>
            <a:prstGeom prst="ellipse">
              <a:avLst/>
            </a:prstGeom>
            <a:solidFill>
              <a:srgbClr val="FFFFFF"/>
            </a:solidFill>
            <a:ln w="19050">
              <a:solidFill>
                <a:srgbClr val="C26D5E"/>
              </a:solidFill>
            </a:ln>
          </p:spPr>
        </p:sp>
        <p:grpSp>
          <p:nvGrpSpPr>
            <p:cNvPr id="111" name="Group 111"/>
            <p:cNvGrpSpPr/>
            <p:nvPr/>
          </p:nvGrpSpPr>
          <p:grpSpPr>
            <a:xfrm>
              <a:off x="10869612" y="2727325"/>
              <a:ext cx="119063" cy="134937"/>
              <a:chOff x="10869612" y="2727325"/>
              <a:chExt cx="119063" cy="134937"/>
            </a:xfrm>
          </p:grpSpPr>
          <p:sp>
            <p:nvSpPr>
              <p:cNvPr id="107" name="Freeform 107"/>
              <p:cNvSpPr/>
              <p:nvPr/>
            </p:nvSpPr>
            <p:spPr>
              <a:xfrm>
                <a:off x="10869612" y="2727325"/>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A3381F"/>
                </a:solidFill>
              </a:ln>
            </p:spPr>
          </p:sp>
          <p:sp>
            <p:nvSpPr>
              <p:cNvPr id="108" name="Freeform 108"/>
              <p:cNvSpPr/>
              <p:nvPr/>
            </p:nvSpPr>
            <p:spPr>
              <a:xfrm>
                <a:off x="10941050" y="2830512"/>
                <a:ext cx="47625" cy="31750"/>
              </a:xfrm>
              <a:custGeom>
                <a:avLst/>
                <a:gdLst/>
                <a:ahLst/>
                <a:cxnLst/>
                <a:rect l="l" t="t" r="r" b="b"/>
                <a:pathLst>
                  <a:path w="47625" h="31750">
                    <a:moveTo>
                      <a:pt x="0" y="15875"/>
                    </a:moveTo>
                    <a:lnTo>
                      <a:pt x="15875" y="31750"/>
                    </a:lnTo>
                    <a:lnTo>
                      <a:pt x="47625" y="0"/>
                    </a:lnTo>
                  </a:path>
                </a:pathLst>
              </a:custGeom>
              <a:noFill/>
              <a:ln w="15875">
                <a:solidFill>
                  <a:srgbClr val="A3381F"/>
                </a:solidFill>
              </a:ln>
            </p:spPr>
          </p:sp>
          <p:sp>
            <p:nvSpPr>
              <p:cNvPr id="109" name="Freeform 109"/>
              <p:cNvSpPr/>
              <p:nvPr/>
            </p:nvSpPr>
            <p:spPr>
              <a:xfrm>
                <a:off x="10901362" y="2759075"/>
                <a:ext cx="31750" cy="9525"/>
              </a:xfrm>
              <a:custGeom>
                <a:avLst/>
                <a:gdLst/>
                <a:ahLst/>
                <a:cxnLst/>
                <a:rect l="l" t="t" r="r" b="b"/>
                <a:pathLst>
                  <a:path w="31750" h="9525">
                    <a:moveTo>
                      <a:pt x="0" y="0"/>
                    </a:moveTo>
                    <a:lnTo>
                      <a:pt x="31750" y="0"/>
                    </a:lnTo>
                  </a:path>
                </a:pathLst>
              </a:custGeom>
              <a:noFill/>
              <a:ln w="15875">
                <a:solidFill>
                  <a:srgbClr val="A3381F"/>
                </a:solidFill>
              </a:ln>
            </p:spPr>
          </p:sp>
          <p:sp>
            <p:nvSpPr>
              <p:cNvPr id="110" name="Freeform 110"/>
              <p:cNvSpPr/>
              <p:nvPr/>
            </p:nvSpPr>
            <p:spPr>
              <a:xfrm>
                <a:off x="10901362" y="2790825"/>
                <a:ext cx="15875" cy="9525"/>
              </a:xfrm>
              <a:custGeom>
                <a:avLst/>
                <a:gdLst/>
                <a:ahLst/>
                <a:cxnLst/>
                <a:rect l="l" t="t" r="r" b="b"/>
                <a:pathLst>
                  <a:path w="15875" h="9525">
                    <a:moveTo>
                      <a:pt x="0" y="0"/>
                    </a:moveTo>
                    <a:lnTo>
                      <a:pt x="15875" y="0"/>
                    </a:lnTo>
                  </a:path>
                </a:pathLst>
              </a:custGeom>
              <a:noFill/>
              <a:ln w="15875">
                <a:solidFill>
                  <a:srgbClr val="A3381F"/>
                </a:solidFill>
              </a:ln>
            </p:spPr>
          </p:sp>
        </p:grpSp>
        <p:sp>
          <p:nvSpPr>
            <p:cNvPr id="112" name="TextBox 112"/>
            <p:cNvSpPr txBox="1"/>
            <p:nvPr/>
          </p:nvSpPr>
          <p:spPr>
            <a:xfrm>
              <a:off x="10810024" y="3006566"/>
              <a:ext cx="230302" cy="161925"/>
            </a:xfrm>
            <a:prstGeom prst="rect">
              <a:avLst/>
            </a:prstGeom>
            <a:noFill/>
            <a:ln>
              <a:noFill/>
            </a:ln>
          </p:spPr>
          <p:txBody>
            <a:bodyPr wrap="none" lIns="0" tIns="0" rIns="0" bIns="0" anchor="t" anchorCtr="0">
              <a:spAutoFit/>
            </a:bodyPr>
            <a:lstStyle/>
            <a:p>
              <a:pPr algn="ctr"/>
              <a:r>
                <a:rPr lang="zh-CN" sz="820" b="1" dirty="0">
                  <a:solidFill>
                    <a:srgbClr val="5E3A33"/>
                  </a:solidFill>
                  <a:latin typeface="+mn-lt"/>
                  <a:ea typeface="+mn-ea"/>
                  <a:cs typeface="+mn-cs"/>
                </a:rPr>
                <a:t>任务</a:t>
              </a:r>
            </a:p>
          </p:txBody>
        </p:sp>
        <p:sp>
          <p:nvSpPr>
            <p:cNvPr id="113" name="Ellipse 113"/>
            <p:cNvSpPr/>
            <p:nvPr/>
          </p:nvSpPr>
          <p:spPr>
            <a:xfrm>
              <a:off x="10191750" y="3762375"/>
              <a:ext cx="685800" cy="685800"/>
            </a:xfrm>
            <a:prstGeom prst="ellipse">
              <a:avLst/>
            </a:prstGeom>
            <a:solidFill>
              <a:srgbClr val="FFFFFF"/>
            </a:solidFill>
            <a:ln w="19050">
              <a:solidFill>
                <a:srgbClr val="C26D5E"/>
              </a:solidFill>
            </a:ln>
          </p:spPr>
        </p:sp>
        <p:grpSp>
          <p:nvGrpSpPr>
            <p:cNvPr id="116" name="Group 116"/>
            <p:cNvGrpSpPr/>
            <p:nvPr/>
          </p:nvGrpSpPr>
          <p:grpSpPr>
            <a:xfrm>
              <a:off x="10463212" y="3951287"/>
              <a:ext cx="142875" cy="79375"/>
              <a:chOff x="10463212" y="3951287"/>
              <a:chExt cx="142875" cy="79375"/>
            </a:xfrm>
          </p:grpSpPr>
          <p:sp>
            <p:nvSpPr>
              <p:cNvPr id="114" name="Freeform 114"/>
              <p:cNvSpPr/>
              <p:nvPr/>
            </p:nvSpPr>
            <p:spPr>
              <a:xfrm>
                <a:off x="10463212" y="3951287"/>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A3381F"/>
                </a:solidFill>
              </a:ln>
            </p:spPr>
          </p:sp>
          <p:sp>
            <p:nvSpPr>
              <p:cNvPr id="115" name="Freeform 115"/>
              <p:cNvSpPr/>
              <p:nvPr/>
            </p:nvSpPr>
            <p:spPr>
              <a:xfrm>
                <a:off x="10550525" y="3951287"/>
                <a:ext cx="55562" cy="55562"/>
              </a:xfrm>
              <a:custGeom>
                <a:avLst/>
                <a:gdLst/>
                <a:ahLst/>
                <a:cxnLst/>
                <a:rect l="l" t="t" r="r" b="b"/>
                <a:pathLst>
                  <a:path w="55562" h="55562">
                    <a:moveTo>
                      <a:pt x="0" y="0"/>
                    </a:moveTo>
                    <a:lnTo>
                      <a:pt x="55562" y="0"/>
                    </a:lnTo>
                    <a:lnTo>
                      <a:pt x="55562" y="55562"/>
                    </a:lnTo>
                  </a:path>
                </a:pathLst>
              </a:custGeom>
              <a:noFill/>
              <a:ln w="15875">
                <a:solidFill>
                  <a:srgbClr val="A3381F"/>
                </a:solidFill>
              </a:ln>
            </p:spPr>
          </p:sp>
        </p:grpSp>
        <p:sp>
          <p:nvSpPr>
            <p:cNvPr id="117" name="TextBox 117"/>
            <p:cNvSpPr txBox="1"/>
            <p:nvPr/>
          </p:nvSpPr>
          <p:spPr>
            <a:xfrm>
              <a:off x="10364305" y="4206716"/>
              <a:ext cx="340690" cy="161925"/>
            </a:xfrm>
            <a:prstGeom prst="rect">
              <a:avLst/>
            </a:prstGeom>
            <a:noFill/>
            <a:ln>
              <a:noFill/>
            </a:ln>
          </p:spPr>
          <p:txBody>
            <a:bodyPr wrap="none" lIns="0" tIns="0" rIns="0" bIns="0" anchor="t" anchorCtr="0">
              <a:spAutoFit/>
            </a:bodyPr>
            <a:lstStyle/>
            <a:p>
              <a:pPr algn="ctr"/>
              <a:r>
                <a:rPr lang="zh-CN" sz="820" b="1" dirty="0">
                  <a:solidFill>
                    <a:srgbClr val="5E3A33"/>
                  </a:solidFill>
                  <a:latin typeface="+mn-lt"/>
                  <a:ea typeface="+mn-ea"/>
                  <a:cs typeface="+mn-cs"/>
                </a:rPr>
                <a:t>成长值</a:t>
              </a:r>
            </a:p>
          </p:txBody>
        </p:sp>
        <p:sp>
          <p:nvSpPr>
            <p:cNvPr id="118" name="Ellipse 118"/>
            <p:cNvSpPr/>
            <p:nvPr/>
          </p:nvSpPr>
          <p:spPr>
            <a:xfrm>
              <a:off x="8934450" y="3762375"/>
              <a:ext cx="685800" cy="685800"/>
            </a:xfrm>
            <a:prstGeom prst="ellipse">
              <a:avLst/>
            </a:prstGeom>
            <a:solidFill>
              <a:srgbClr val="FFFFFF"/>
            </a:solidFill>
            <a:ln w="19050">
              <a:solidFill>
                <a:srgbClr val="C26D5E"/>
              </a:solidFill>
            </a:ln>
          </p:spPr>
        </p:sp>
        <p:grpSp>
          <p:nvGrpSpPr>
            <p:cNvPr id="123" name="Group 123"/>
            <p:cNvGrpSpPr/>
            <p:nvPr/>
          </p:nvGrpSpPr>
          <p:grpSpPr>
            <a:xfrm>
              <a:off x="9205912" y="3919264"/>
              <a:ext cx="142875" cy="143148"/>
              <a:chOff x="9205912" y="3919264"/>
              <a:chExt cx="142875" cy="143148"/>
            </a:xfrm>
          </p:grpSpPr>
          <p:sp>
            <p:nvSpPr>
              <p:cNvPr id="119" name="Freeform 119"/>
              <p:cNvSpPr/>
              <p:nvPr/>
            </p:nvSpPr>
            <p:spPr>
              <a:xfrm>
                <a:off x="9205912" y="3959225"/>
                <a:ext cx="142875" cy="31750"/>
              </a:xfrm>
              <a:custGeom>
                <a:avLst/>
                <a:gdLst/>
                <a:ahLst/>
                <a:cxnLst/>
                <a:rect l="l" t="t" r="r" b="b"/>
                <a:pathLst>
                  <a:path w="142875" h="31750">
                    <a:moveTo>
                      <a:pt x="0" y="7937"/>
                    </a:moveTo>
                    <a:cubicBezTo>
                      <a:pt x="0" y="3554"/>
                      <a:pt x="3554" y="0"/>
                      <a:pt x="7937" y="0"/>
                    </a:cubicBezTo>
                    <a:lnTo>
                      <a:pt x="134937" y="0"/>
                    </a:lnTo>
                    <a:cubicBezTo>
                      <a:pt x="139321" y="0"/>
                      <a:pt x="142875" y="3554"/>
                      <a:pt x="142875" y="7937"/>
                    </a:cubicBezTo>
                    <a:lnTo>
                      <a:pt x="142875" y="23812"/>
                    </a:lnTo>
                    <a:cubicBezTo>
                      <a:pt x="142875" y="28196"/>
                      <a:pt x="139321" y="31750"/>
                      <a:pt x="134937" y="31750"/>
                    </a:cubicBezTo>
                    <a:lnTo>
                      <a:pt x="7937" y="31750"/>
                    </a:lnTo>
                    <a:cubicBezTo>
                      <a:pt x="3554" y="31750"/>
                      <a:pt x="0" y="28196"/>
                      <a:pt x="0" y="23812"/>
                    </a:cubicBezTo>
                    <a:lnTo>
                      <a:pt x="0" y="7937"/>
                    </a:lnTo>
                  </a:path>
                </a:pathLst>
              </a:custGeom>
              <a:noFill/>
              <a:ln w="15875">
                <a:solidFill>
                  <a:srgbClr val="A3381F"/>
                </a:solidFill>
              </a:ln>
            </p:spPr>
          </p:sp>
          <p:sp>
            <p:nvSpPr>
              <p:cNvPr id="120" name="Freeform 120"/>
              <p:cNvSpPr/>
              <p:nvPr/>
            </p:nvSpPr>
            <p:spPr>
              <a:xfrm>
                <a:off x="9277350" y="3959225"/>
                <a:ext cx="9525" cy="103187"/>
              </a:xfrm>
              <a:custGeom>
                <a:avLst/>
                <a:gdLst/>
                <a:ahLst/>
                <a:cxnLst/>
                <a:rect l="l" t="t" r="r" b="b"/>
                <a:pathLst>
                  <a:path w="9525" h="103187">
                    <a:moveTo>
                      <a:pt x="0" y="0"/>
                    </a:moveTo>
                    <a:lnTo>
                      <a:pt x="0" y="103187"/>
                    </a:lnTo>
                  </a:path>
                </a:pathLst>
              </a:custGeom>
              <a:noFill/>
              <a:ln w="15875">
                <a:solidFill>
                  <a:srgbClr val="A3381F"/>
                </a:solidFill>
              </a:ln>
            </p:spPr>
          </p:sp>
          <p:sp>
            <p:nvSpPr>
              <p:cNvPr id="121" name="Freeform 121"/>
              <p:cNvSpPr/>
              <p:nvPr/>
            </p:nvSpPr>
            <p:spPr>
              <a:xfrm>
                <a:off x="9221787" y="3990975"/>
                <a:ext cx="111125" cy="71437"/>
              </a:xfrm>
              <a:custGeom>
                <a:avLst/>
                <a:gdLst/>
                <a:ahLst/>
                <a:cxnLst/>
                <a:rect l="l" t="t" r="r" b="b"/>
                <a:pathLst>
                  <a:path w="111125" h="71437">
                    <a:moveTo>
                      <a:pt x="111125" y="0"/>
                    </a:moveTo>
                    <a:lnTo>
                      <a:pt x="111125" y="55562"/>
                    </a:lnTo>
                    <a:cubicBezTo>
                      <a:pt x="111125" y="64330"/>
                      <a:pt x="104017" y="71437"/>
                      <a:pt x="95250" y="71437"/>
                    </a:cubicBezTo>
                    <a:lnTo>
                      <a:pt x="15875" y="71437"/>
                    </a:lnTo>
                    <a:cubicBezTo>
                      <a:pt x="7107" y="71437"/>
                      <a:pt x="0" y="64330"/>
                      <a:pt x="0" y="55562"/>
                    </a:cubicBezTo>
                    <a:lnTo>
                      <a:pt x="0" y="0"/>
                    </a:lnTo>
                  </a:path>
                </a:pathLst>
              </a:custGeom>
              <a:noFill/>
              <a:ln w="15875">
                <a:solidFill>
                  <a:srgbClr val="A3381F"/>
                </a:solidFill>
              </a:ln>
            </p:spPr>
          </p:sp>
          <p:sp>
            <p:nvSpPr>
              <p:cNvPr id="122" name="Freeform 122"/>
              <p:cNvSpPr/>
              <p:nvPr/>
            </p:nvSpPr>
            <p:spPr>
              <a:xfrm>
                <a:off x="9221787" y="3919264"/>
                <a:ext cx="111125" cy="39961"/>
              </a:xfrm>
              <a:custGeom>
                <a:avLst/>
                <a:gdLst/>
                <a:ahLst/>
                <a:cxnLst/>
                <a:rect l="l" t="t" r="r" b="b"/>
                <a:pathLst>
                  <a:path w="111125" h="39961">
                    <a:moveTo>
                      <a:pt x="19844" y="39961"/>
                    </a:moveTo>
                    <a:cubicBezTo>
                      <a:pt x="8884" y="39961"/>
                      <a:pt x="0" y="31076"/>
                      <a:pt x="0" y="20117"/>
                    </a:cubicBezTo>
                    <a:cubicBezTo>
                      <a:pt x="0" y="9157"/>
                      <a:pt x="8884" y="273"/>
                      <a:pt x="19844" y="273"/>
                    </a:cubicBezTo>
                    <a:cubicBezTo>
                      <a:pt x="35514" y="0"/>
                      <a:pt x="49687" y="15747"/>
                      <a:pt x="55562" y="39961"/>
                    </a:cubicBezTo>
                    <a:cubicBezTo>
                      <a:pt x="61438" y="15747"/>
                      <a:pt x="75611" y="0"/>
                      <a:pt x="91281" y="273"/>
                    </a:cubicBezTo>
                    <a:cubicBezTo>
                      <a:pt x="102241" y="273"/>
                      <a:pt x="111125" y="9157"/>
                      <a:pt x="111125" y="20117"/>
                    </a:cubicBezTo>
                    <a:cubicBezTo>
                      <a:pt x="111125" y="31076"/>
                      <a:pt x="102241" y="39961"/>
                      <a:pt x="91281" y="39961"/>
                    </a:cubicBezTo>
                  </a:path>
                </a:pathLst>
              </a:custGeom>
              <a:noFill/>
              <a:ln w="15875">
                <a:solidFill>
                  <a:srgbClr val="A3381F"/>
                </a:solidFill>
              </a:ln>
            </p:spPr>
          </p:sp>
        </p:grpSp>
        <p:sp>
          <p:nvSpPr>
            <p:cNvPr id="124" name="TextBox 124"/>
            <p:cNvSpPr txBox="1"/>
            <p:nvPr/>
          </p:nvSpPr>
          <p:spPr>
            <a:xfrm>
              <a:off x="9162199" y="4206716"/>
              <a:ext cx="230302" cy="161925"/>
            </a:xfrm>
            <a:prstGeom prst="rect">
              <a:avLst/>
            </a:prstGeom>
            <a:noFill/>
            <a:ln>
              <a:noFill/>
            </a:ln>
          </p:spPr>
          <p:txBody>
            <a:bodyPr wrap="none" lIns="0" tIns="0" rIns="0" bIns="0" anchor="t" anchorCtr="0">
              <a:spAutoFit/>
            </a:bodyPr>
            <a:lstStyle/>
            <a:p>
              <a:pPr algn="ctr"/>
              <a:r>
                <a:rPr lang="zh-CN" sz="820" b="1" dirty="0">
                  <a:solidFill>
                    <a:srgbClr val="5E3A33"/>
                  </a:solidFill>
                  <a:latin typeface="+mn-lt"/>
                  <a:ea typeface="+mn-ea"/>
                  <a:cs typeface="+mn-cs"/>
                </a:rPr>
                <a:t>权益</a:t>
              </a:r>
            </a:p>
          </p:txBody>
        </p:sp>
        <p:sp>
          <p:nvSpPr>
            <p:cNvPr id="125" name="Ellipse 125"/>
            <p:cNvSpPr/>
            <p:nvPr/>
          </p:nvSpPr>
          <p:spPr>
            <a:xfrm>
              <a:off x="8543925" y="2562225"/>
              <a:ext cx="685800" cy="685800"/>
            </a:xfrm>
            <a:prstGeom prst="ellipse">
              <a:avLst/>
            </a:prstGeom>
            <a:solidFill>
              <a:srgbClr val="FFFFFF"/>
            </a:solidFill>
            <a:ln w="19050">
              <a:solidFill>
                <a:srgbClr val="C26D5E"/>
              </a:solidFill>
            </a:ln>
          </p:spPr>
        </p:sp>
        <p:grpSp>
          <p:nvGrpSpPr>
            <p:cNvPr id="128" name="Group 128"/>
            <p:cNvGrpSpPr/>
            <p:nvPr/>
          </p:nvGrpSpPr>
          <p:grpSpPr>
            <a:xfrm>
              <a:off x="8829675" y="2690812"/>
              <a:ext cx="114300" cy="102394"/>
              <a:chOff x="8829675" y="2690812"/>
              <a:chExt cx="114300" cy="102394"/>
            </a:xfrm>
          </p:grpSpPr>
          <p:sp>
            <p:nvSpPr>
              <p:cNvPr id="126" name="Freeform 126"/>
              <p:cNvSpPr/>
              <p:nvPr/>
            </p:nvSpPr>
            <p:spPr>
              <a:xfrm>
                <a:off x="8829675" y="2783681"/>
                <a:ext cx="114300" cy="9525"/>
              </a:xfrm>
              <a:custGeom>
                <a:avLst/>
                <a:gdLst/>
                <a:ahLst/>
                <a:cxnLst/>
                <a:rect l="l" t="t" r="r" b="b"/>
                <a:pathLst>
                  <a:path w="114300" h="9525">
                    <a:moveTo>
                      <a:pt x="0" y="0"/>
                    </a:moveTo>
                    <a:lnTo>
                      <a:pt x="114300" y="0"/>
                    </a:lnTo>
                  </a:path>
                </a:pathLst>
              </a:custGeom>
              <a:noFill/>
              <a:ln w="14288">
                <a:solidFill>
                  <a:srgbClr val="A3381F"/>
                </a:solidFill>
              </a:ln>
            </p:spPr>
          </p:sp>
          <p:sp>
            <p:nvSpPr>
              <p:cNvPr id="127" name="Freeform 127"/>
              <p:cNvSpPr/>
              <p:nvPr/>
            </p:nvSpPr>
            <p:spPr>
              <a:xfrm>
                <a:off x="8829675" y="2690812"/>
                <a:ext cx="114300" cy="64294"/>
              </a:xfrm>
              <a:custGeom>
                <a:avLst/>
                <a:gdLst/>
                <a:ahLst/>
                <a:cxnLst/>
                <a:rect l="l" t="t" r="r" b="b"/>
                <a:pathLst>
                  <a:path w="114300" h="64294">
                    <a:moveTo>
                      <a:pt x="0" y="64294"/>
                    </a:moveTo>
                    <a:lnTo>
                      <a:pt x="28575" y="21431"/>
                    </a:lnTo>
                    <a:lnTo>
                      <a:pt x="57150" y="35719"/>
                    </a:lnTo>
                    <a:lnTo>
                      <a:pt x="85725" y="0"/>
                    </a:lnTo>
                    <a:lnTo>
                      <a:pt x="114300" y="28575"/>
                    </a:lnTo>
                  </a:path>
                </a:pathLst>
              </a:custGeom>
              <a:noFill/>
              <a:ln w="14288">
                <a:solidFill>
                  <a:srgbClr val="A3381F"/>
                </a:solidFill>
              </a:ln>
            </p:spPr>
          </p:sp>
        </p:grpSp>
        <p:sp>
          <p:nvSpPr>
            <p:cNvPr id="129" name="TextBox 129"/>
            <p:cNvSpPr txBox="1"/>
            <p:nvPr/>
          </p:nvSpPr>
          <p:spPr>
            <a:xfrm>
              <a:off x="8738692" y="2875836"/>
              <a:ext cx="296266" cy="140494"/>
            </a:xfrm>
            <a:prstGeom prst="rect">
              <a:avLst/>
            </a:prstGeom>
            <a:noFill/>
            <a:ln>
              <a:noFill/>
            </a:ln>
          </p:spPr>
          <p:txBody>
            <a:bodyPr wrap="none" lIns="0" tIns="0" rIns="0" bIns="0" anchor="t" anchorCtr="0">
              <a:spAutoFit/>
            </a:bodyPr>
            <a:lstStyle/>
            <a:p>
              <a:pPr algn="ctr"/>
              <a:r>
                <a:rPr lang="zh-CN" sz="710" b="1" dirty="0">
                  <a:solidFill>
                    <a:srgbClr val="5E3A33"/>
                  </a:solidFill>
                  <a:latin typeface="+mn-lt"/>
                  <a:ea typeface="+mn-ea"/>
                  <a:cs typeface="+mn-cs"/>
                </a:rPr>
                <a:t>活跃与</a:t>
              </a:r>
            </a:p>
          </p:txBody>
        </p:sp>
        <p:sp>
          <p:nvSpPr>
            <p:cNvPr id="130" name="TextBox 130"/>
            <p:cNvSpPr txBox="1"/>
            <p:nvPr/>
          </p:nvSpPr>
          <p:spPr>
            <a:xfrm>
              <a:off x="8640605" y="3009186"/>
              <a:ext cx="492439" cy="140494"/>
            </a:xfrm>
            <a:prstGeom prst="rect">
              <a:avLst/>
            </a:prstGeom>
            <a:noFill/>
            <a:ln>
              <a:noFill/>
            </a:ln>
          </p:spPr>
          <p:txBody>
            <a:bodyPr wrap="none" lIns="0" tIns="0" rIns="0" bIns="0" anchor="t" anchorCtr="0">
              <a:spAutoFit/>
            </a:bodyPr>
            <a:lstStyle/>
            <a:p>
              <a:pPr algn="ctr"/>
              <a:r>
                <a:rPr lang="zh-CN" sz="710" b="1" dirty="0">
                  <a:solidFill>
                    <a:srgbClr val="5E3A33"/>
                  </a:solidFill>
                  <a:latin typeface="+mn-lt"/>
                  <a:ea typeface="+mn-ea"/>
                  <a:cs typeface="+mn-cs"/>
                </a:rPr>
                <a:t xml:space="preserve">AUM提升　</a:t>
              </a:r>
            </a:p>
          </p:txBody>
        </p:sp>
      </p:grpSp>
      <p:grpSp>
        <p:nvGrpSpPr>
          <p:cNvPr id="141" name="slogan-band14"/>
          <p:cNvGrpSpPr/>
          <p:nvPr/>
        </p:nvGrpSpPr>
        <p:grpSpPr>
          <a:xfrm>
            <a:off x="381000" y="5772150"/>
            <a:ext cx="11430000" cy="914400"/>
            <a:chOff x="381000" y="5772150"/>
            <a:chExt cx="11430000" cy="914400"/>
          </a:xfrm>
        </p:grpSpPr>
        <p:sp>
          <p:nvSpPr>
            <p:cNvPr id="132" name="Rectangle 132"/>
            <p:cNvSpPr/>
            <p:nvPr/>
          </p:nvSpPr>
          <p:spPr>
            <a:xfrm>
              <a:off x="381000" y="5772150"/>
              <a:ext cx="11430000" cy="914400"/>
            </a:xfrm>
            <a:prstGeom prst="roundRect">
              <a:avLst>
                <a:gd name="adj" fmla="val 14583"/>
              </a:avLst>
            </a:prstGeom>
            <a:solidFill>
              <a:srgbClr val="FFFFFF"/>
            </a:solidFill>
            <a:ln w="14288">
              <a:solidFill>
                <a:srgbClr val="A3381F"/>
              </a:solidFill>
            </a:ln>
          </p:spPr>
        </p:sp>
        <p:sp>
          <p:nvSpPr>
            <p:cNvPr id="133" name="Ellipse 133"/>
            <p:cNvSpPr/>
            <p:nvPr/>
          </p:nvSpPr>
          <p:spPr>
            <a:xfrm>
              <a:off x="990600" y="5981700"/>
              <a:ext cx="495300" cy="495300"/>
            </a:xfrm>
            <a:prstGeom prst="ellipse">
              <a:avLst/>
            </a:prstGeom>
            <a:solidFill>
              <a:srgbClr val="A3381F"/>
            </a:solidFill>
            <a:ln>
              <a:noFill/>
            </a:ln>
          </p:spPr>
        </p:sp>
        <p:grpSp>
          <p:nvGrpSpPr>
            <p:cNvPr id="137" name="Group 137"/>
            <p:cNvGrpSpPr/>
            <p:nvPr/>
          </p:nvGrpSpPr>
          <p:grpSpPr>
            <a:xfrm>
              <a:off x="1123950" y="6115050"/>
              <a:ext cx="228599" cy="228599"/>
              <a:chOff x="1123950" y="6115050"/>
              <a:chExt cx="228599" cy="228599"/>
            </a:xfrm>
          </p:grpSpPr>
          <p:sp>
            <p:nvSpPr>
              <p:cNvPr id="134" name="Freeform 134"/>
              <p:cNvSpPr/>
              <p:nvPr/>
            </p:nvSpPr>
            <p:spPr>
              <a:xfrm>
                <a:off x="1225550" y="62166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FFFFFF"/>
                </a:solidFill>
              </a:ln>
            </p:spPr>
          </p:sp>
          <p:sp>
            <p:nvSpPr>
              <p:cNvPr id="135" name="Freeform 135"/>
              <p:cNvSpPr/>
              <p:nvPr/>
            </p:nvSpPr>
            <p:spPr>
              <a:xfrm>
                <a:off x="1174750" y="616585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FFFFFF"/>
                </a:solidFill>
              </a:ln>
            </p:spPr>
          </p:sp>
          <p:sp>
            <p:nvSpPr>
              <p:cNvPr id="136" name="Freeform 136"/>
              <p:cNvSpPr/>
              <p:nvPr/>
            </p:nvSpPr>
            <p:spPr>
              <a:xfrm>
                <a:off x="1123950" y="611505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FFFFFF"/>
                </a:solidFill>
              </a:ln>
            </p:spPr>
          </p:sp>
        </p:grpSp>
        <p:sp>
          <p:nvSpPr>
            <p:cNvPr id="138" name="TextBox 138"/>
            <p:cNvSpPr txBox="1"/>
            <p:nvPr/>
          </p:nvSpPr>
          <p:spPr>
            <a:xfrm>
              <a:off x="1857756" y="6130290"/>
              <a:ext cx="4379976" cy="352044"/>
            </a:xfrm>
            <a:prstGeom prst="rect">
              <a:avLst/>
            </a:prstGeom>
            <a:noFill/>
            <a:ln>
              <a:noFill/>
            </a:ln>
          </p:spPr>
          <p:txBody>
            <a:bodyPr wrap="none" lIns="0" tIns="0" rIns="0" bIns="0" anchor="t" anchorCtr="0">
              <a:spAutoFit/>
            </a:bodyPr>
            <a:lstStyle/>
            <a:p>
              <a:pPr algn="l"/>
              <a:r>
                <a:rPr lang="zh-CN" sz="1800" b="1" dirty="0">
                  <a:solidFill>
                    <a:srgbClr val="A3381F"/>
                  </a:solidFill>
                  <a:latin typeface="+mn-lt"/>
                  <a:ea typeface="+mn-ea"/>
                  <a:cs typeface="+mn-cs"/>
                </a:rPr>
                <a:t>权益不是成本中心</a:t>
              </a:r>
              <a:r>
                <a:rPr lang="zh-CN" sz="1800" b="1" dirty="0">
                  <a:solidFill>
                    <a:srgbClr val="5E3A33"/>
                  </a:solidFill>
                  <a:latin typeface="+mn-lt"/>
                  <a:ea typeface="+mn-ea"/>
                  <a:cs typeface="+mn-cs"/>
                </a:rPr>
                <a:t>，而是</a:t>
              </a:r>
              <a:r>
                <a:rPr lang="zh-CN" sz="1800" b="1" dirty="0">
                  <a:solidFill>
                    <a:srgbClr val="A24B3C"/>
                  </a:solidFill>
                  <a:latin typeface="+mn-lt"/>
                  <a:ea typeface="+mn-ea"/>
                  <a:cs typeface="+mn-cs"/>
                </a:rPr>
                <a:t>客户成长驱动器</a:t>
              </a:r>
            </a:p>
          </p:txBody>
        </p:sp>
        <p:sp>
          <p:nvSpPr>
            <p:cNvPr id="139" name="Freeform 139"/>
            <p:cNvSpPr/>
            <p:nvPr/>
          </p:nvSpPr>
          <p:spPr>
            <a:xfrm>
              <a:off x="9620250" y="5810250"/>
              <a:ext cx="1524000" cy="190500"/>
            </a:xfrm>
            <a:custGeom>
              <a:avLst/>
              <a:gdLst/>
              <a:ahLst/>
              <a:cxnLst/>
              <a:rect l="l" t="t" r="r" b="b"/>
              <a:pathLst>
                <a:path w="1524000" h="190500">
                  <a:moveTo>
                    <a:pt x="0" y="190500"/>
                  </a:moveTo>
                  <a:cubicBezTo>
                    <a:pt x="476250" y="0"/>
                    <a:pt x="1047750" y="0"/>
                    <a:pt x="1524000" y="190500"/>
                  </a:cubicBezTo>
                </a:path>
              </a:pathLst>
            </a:custGeom>
            <a:noFill/>
            <a:ln w="19050">
              <a:solidFill>
                <a:srgbClr val="D99285">
                  <a:alpha val="80000"/>
                </a:srgbClr>
              </a:solidFill>
            </a:ln>
          </p:spPr>
        </p:sp>
        <p:sp>
          <p:nvSpPr>
            <p:cNvPr id="140" name="Freeform 140"/>
            <p:cNvSpPr/>
            <p:nvPr/>
          </p:nvSpPr>
          <p:spPr>
            <a:xfrm>
              <a:off x="9620250" y="6457950"/>
              <a:ext cx="1524000" cy="190500"/>
            </a:xfrm>
            <a:custGeom>
              <a:avLst/>
              <a:gdLst/>
              <a:ahLst/>
              <a:cxnLst/>
              <a:rect l="l" t="t" r="r" b="b"/>
              <a:pathLst>
                <a:path w="1524000" h="190500">
                  <a:moveTo>
                    <a:pt x="0" y="0"/>
                  </a:moveTo>
                  <a:cubicBezTo>
                    <a:pt x="476250" y="190500"/>
                    <a:pt x="1047750" y="190500"/>
                    <a:pt x="1524000" y="0"/>
                  </a:cubicBezTo>
                </a:path>
              </a:pathLst>
            </a:custGeom>
            <a:noFill/>
            <a:ln w="19050">
              <a:solidFill>
                <a:srgbClr val="D99285">
                  <a:alpha val="80000"/>
                </a:srgbClr>
              </a:solidFill>
            </a:ln>
          </p:spPr>
        </p:sp>
      </p:gr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15</a:t>
              </a:r>
            </a:p>
          </p:txBody>
        </p:sp>
        <p:sp>
          <p:nvSpPr>
            <p:cNvPr id="4" name="TextBox 4"/>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权益配置与成本管控：</a:t>
              </a:r>
              <a:r>
                <a:rPr lang="zh-CN" sz="1950" b="1" dirty="0">
                  <a:solidFill>
                    <a:srgbClr val="A3381F"/>
                  </a:solidFill>
                  <a:latin typeface="SimSun"/>
                  <a:ea typeface="SimSun"/>
                  <a:cs typeface="SimSun"/>
                </a:rPr>
                <a:t>兼顾体验与投入产出</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43" name="value-matrix"/>
          <p:cNvGrpSpPr/>
          <p:nvPr/>
        </p:nvGrpSpPr>
        <p:grpSpPr>
          <a:xfrm>
            <a:off x="519112" y="876300"/>
            <a:ext cx="6129338" cy="2663666"/>
            <a:chOff x="519112" y="876300"/>
            <a:chExt cx="6129338" cy="2663666"/>
          </a:xfrm>
        </p:grpSpPr>
        <p:sp>
          <p:nvSpPr>
            <p:cNvPr id="7" name="Line 7"/>
            <p:cNvSpPr/>
            <p:nvPr/>
          </p:nvSpPr>
          <p:spPr>
            <a:xfrm>
              <a:off x="762000" y="952500"/>
              <a:ext cx="9525" cy="2286000"/>
            </a:xfrm>
            <a:custGeom>
              <a:avLst/>
              <a:gdLst/>
              <a:ahLst/>
              <a:cxnLst/>
              <a:rect l="l" t="t" r="r" b="b"/>
              <a:pathLst>
                <a:path w="9525" h="2286000">
                  <a:moveTo>
                    <a:pt x="0" y="2286000"/>
                  </a:moveTo>
                  <a:lnTo>
                    <a:pt x="0" y="0"/>
                  </a:lnTo>
                </a:path>
              </a:pathLst>
            </a:custGeom>
            <a:noFill/>
            <a:ln w="11430">
              <a:solidFill>
                <a:srgbClr val="8A8A8A"/>
              </a:solidFill>
            </a:ln>
          </p:spPr>
        </p:sp>
        <p:sp>
          <p:nvSpPr>
            <p:cNvPr id="8" name="Polygon 8"/>
            <p:cNvSpPr/>
            <p:nvPr/>
          </p:nvSpPr>
          <p:spPr>
            <a:xfrm>
              <a:off x="723900" y="876300"/>
              <a:ext cx="76200" cy="95250"/>
            </a:xfrm>
            <a:custGeom>
              <a:avLst/>
              <a:gdLst/>
              <a:ahLst/>
              <a:cxnLst/>
              <a:rect l="l" t="t" r="r" b="b"/>
              <a:pathLst>
                <a:path w="76200" h="95250">
                  <a:moveTo>
                    <a:pt x="38100" y="0"/>
                  </a:moveTo>
                  <a:lnTo>
                    <a:pt x="0" y="95250"/>
                  </a:lnTo>
                  <a:lnTo>
                    <a:pt x="76200" y="95250"/>
                  </a:lnTo>
                  <a:close/>
                </a:path>
              </a:pathLst>
            </a:custGeom>
            <a:solidFill>
              <a:srgbClr val="8A8A8A"/>
            </a:solidFill>
            <a:ln>
              <a:noFill/>
            </a:ln>
          </p:spPr>
        </p:sp>
        <p:sp>
          <p:nvSpPr>
            <p:cNvPr id="9" name="TextBox 9"/>
            <p:cNvSpPr txBox="1"/>
            <p:nvPr/>
          </p:nvSpPr>
          <p:spPr>
            <a:xfrm>
              <a:off x="551663" y="981789"/>
              <a:ext cx="115875" cy="154781"/>
            </a:xfrm>
            <a:prstGeom prst="rect">
              <a:avLst/>
            </a:prstGeom>
            <a:noFill/>
            <a:ln>
              <a:noFill/>
            </a:ln>
          </p:spPr>
          <p:txBody>
            <a:bodyPr wrap="none" lIns="0" tIns="0" rIns="0" bIns="0" anchor="t" anchorCtr="0">
              <a:spAutoFit/>
            </a:bodyPr>
            <a:lstStyle/>
            <a:p>
              <a:pPr algn="ctr"/>
              <a:r>
                <a:rPr lang="zh-CN" sz="790" b="1" dirty="0">
                  <a:solidFill>
                    <a:srgbClr val="6B6B6B"/>
                  </a:solidFill>
                  <a:latin typeface="+mn-lt"/>
                  <a:ea typeface="+mn-ea"/>
                  <a:cs typeface="+mn-cs"/>
                </a:rPr>
                <a:t>高</a:t>
              </a:r>
            </a:p>
          </p:txBody>
        </p:sp>
        <p:sp>
          <p:nvSpPr>
            <p:cNvPr id="10" name="TextBox 10"/>
            <p:cNvSpPr txBox="1"/>
            <p:nvPr/>
          </p:nvSpPr>
          <p:spPr>
            <a:xfrm>
              <a:off x="551663" y="3115389"/>
              <a:ext cx="115875" cy="154781"/>
            </a:xfrm>
            <a:prstGeom prst="rect">
              <a:avLst/>
            </a:prstGeom>
            <a:noFill/>
            <a:ln>
              <a:noFill/>
            </a:ln>
          </p:spPr>
          <p:txBody>
            <a:bodyPr wrap="none" lIns="0" tIns="0" rIns="0" bIns="0" anchor="t" anchorCtr="0">
              <a:spAutoFit/>
            </a:bodyPr>
            <a:lstStyle/>
            <a:p>
              <a:pPr algn="ctr"/>
              <a:r>
                <a:rPr lang="zh-CN" sz="790" b="1" dirty="0">
                  <a:solidFill>
                    <a:srgbClr val="6B6B6B"/>
                  </a:solidFill>
                  <a:latin typeface="+mn-lt"/>
                  <a:ea typeface="+mn-ea"/>
                  <a:cs typeface="+mn-cs"/>
                </a:rPr>
                <a:t>低</a:t>
              </a:r>
            </a:p>
          </p:txBody>
        </p:sp>
        <p:sp>
          <p:nvSpPr>
            <p:cNvPr id="11" name="TextBox 11"/>
            <p:cNvSpPr txBox="1"/>
            <p:nvPr/>
          </p:nvSpPr>
          <p:spPr>
            <a:xfrm>
              <a:off x="519112" y="1443038"/>
              <a:ext cx="104775" cy="890588"/>
            </a:xfrm>
            <a:prstGeom prst="rect">
              <a:avLst/>
            </a:prstGeom>
            <a:noFill/>
            <a:ln>
              <a:noFill/>
            </a:ln>
          </p:spPr>
          <p:txBody>
            <a:bodyPr wrap="none" lIns="0" tIns="0" rIns="0" bIns="0" anchor="t" anchorCtr="0">
              <a:spAutoFit/>
            </a:bodyPr>
            <a:lstStyle/>
            <a:p>
              <a:pPr algn="ctr">
                <a:lnSpc>
                  <a:spcPts val="975"/>
                </a:lnSpc>
              </a:pPr>
              <a:r>
                <a:rPr lang="zh-CN" sz="750" b="1" dirty="0">
                  <a:solidFill>
                    <a:srgbClr val="5E3A33"/>
                  </a:solidFill>
                  <a:latin typeface="+mn-lt"/>
                  <a:ea typeface="+mn-ea"/>
                  <a:cs typeface="+mn-cs"/>
                </a:rPr>
                <a:t>成</a:t>
              </a:r>
              <a:br/>
              <a:r>
                <a:rPr lang="zh-CN" sz="750" b="1" dirty="0">
                  <a:solidFill>
                    <a:srgbClr val="5E3A33"/>
                  </a:solidFill>
                  <a:latin typeface="+mn-lt"/>
                  <a:ea typeface="+mn-ea"/>
                  <a:cs typeface="+mn-cs"/>
                </a:rPr>
                <a:t>本</a:t>
              </a:r>
              <a:br/>
              <a:r>
                <a:rPr lang="zh-CN" sz="750" b="1" dirty="0">
                  <a:solidFill>
                    <a:srgbClr val="5E3A33"/>
                  </a:solidFill>
                  <a:latin typeface="+mn-lt"/>
                  <a:ea typeface="+mn-ea"/>
                  <a:cs typeface="+mn-cs"/>
                </a:rPr>
                <a:t>与</a:t>
              </a:r>
              <a:br/>
              <a:r>
                <a:rPr lang="zh-CN" sz="750" b="1" dirty="0">
                  <a:solidFill>
                    <a:srgbClr val="5E3A33"/>
                  </a:solidFill>
                  <a:latin typeface="+mn-lt"/>
                  <a:ea typeface="+mn-ea"/>
                  <a:cs typeface="+mn-cs"/>
                </a:rPr>
                <a:t>感</a:t>
              </a:r>
              <a:br/>
              <a:r>
                <a:rPr lang="zh-CN" sz="750" b="1" dirty="0">
                  <a:solidFill>
                    <a:srgbClr val="5E3A33"/>
                  </a:solidFill>
                  <a:latin typeface="+mn-lt"/>
                  <a:ea typeface="+mn-ea"/>
                  <a:cs typeface="+mn-cs"/>
                </a:rPr>
                <a:t>知</a:t>
              </a:r>
              <a:br/>
              <a:r>
                <a:rPr lang="zh-CN" sz="750" b="1" dirty="0">
                  <a:solidFill>
                    <a:srgbClr val="5E3A33"/>
                  </a:solidFill>
                  <a:latin typeface="+mn-lt"/>
                  <a:ea typeface="+mn-ea"/>
                  <a:cs typeface="+mn-cs"/>
                </a:rPr>
                <a:t>价</a:t>
              </a:r>
              <a:br/>
              <a:r>
                <a:rPr lang="zh-CN" sz="750" b="1" dirty="0">
                  <a:solidFill>
                    <a:srgbClr val="5E3A33"/>
                  </a:solidFill>
                  <a:latin typeface="+mn-lt"/>
                  <a:ea typeface="+mn-ea"/>
                  <a:cs typeface="+mn-cs"/>
                </a:rPr>
                <a:t>值</a:t>
              </a:r>
            </a:p>
          </p:txBody>
        </p:sp>
        <p:sp>
          <p:nvSpPr>
            <p:cNvPr id="12" name="Line 12"/>
            <p:cNvSpPr/>
            <p:nvPr/>
          </p:nvSpPr>
          <p:spPr>
            <a:xfrm>
              <a:off x="762000" y="3276600"/>
              <a:ext cx="5810250" cy="9525"/>
            </a:xfrm>
            <a:custGeom>
              <a:avLst/>
              <a:gdLst/>
              <a:ahLst/>
              <a:cxnLst/>
              <a:rect l="l" t="t" r="r" b="b"/>
              <a:pathLst>
                <a:path w="5810250" h="9525">
                  <a:moveTo>
                    <a:pt x="0" y="0"/>
                  </a:moveTo>
                  <a:lnTo>
                    <a:pt x="5810250" y="0"/>
                  </a:lnTo>
                </a:path>
              </a:pathLst>
            </a:custGeom>
            <a:noFill/>
            <a:ln w="11430">
              <a:solidFill>
                <a:srgbClr val="8A8A8A"/>
              </a:solidFill>
            </a:ln>
          </p:spPr>
        </p:sp>
        <p:sp>
          <p:nvSpPr>
            <p:cNvPr id="13" name="Polygon 13"/>
            <p:cNvSpPr/>
            <p:nvPr/>
          </p:nvSpPr>
          <p:spPr>
            <a:xfrm>
              <a:off x="6553200" y="3238500"/>
              <a:ext cx="95250" cy="76200"/>
            </a:xfrm>
            <a:custGeom>
              <a:avLst/>
              <a:gdLst/>
              <a:ahLst/>
              <a:cxnLst/>
              <a:rect l="l" t="t" r="r" b="b"/>
              <a:pathLst>
                <a:path w="95250" h="76200">
                  <a:moveTo>
                    <a:pt x="95250" y="38100"/>
                  </a:moveTo>
                  <a:lnTo>
                    <a:pt x="0" y="0"/>
                  </a:lnTo>
                  <a:lnTo>
                    <a:pt x="0" y="76200"/>
                  </a:lnTo>
                  <a:close/>
                </a:path>
              </a:pathLst>
            </a:custGeom>
            <a:solidFill>
              <a:srgbClr val="8A8A8A"/>
            </a:solidFill>
            <a:ln>
              <a:noFill/>
            </a:ln>
          </p:spPr>
        </p:sp>
        <p:sp>
          <p:nvSpPr>
            <p:cNvPr id="14" name="TextBox 14"/>
            <p:cNvSpPr txBox="1"/>
            <p:nvPr/>
          </p:nvSpPr>
          <p:spPr>
            <a:xfrm>
              <a:off x="985838" y="3363039"/>
              <a:ext cx="115875" cy="154781"/>
            </a:xfrm>
            <a:prstGeom prst="rect">
              <a:avLst/>
            </a:prstGeom>
            <a:noFill/>
            <a:ln>
              <a:noFill/>
            </a:ln>
          </p:spPr>
          <p:txBody>
            <a:bodyPr wrap="none" lIns="0" tIns="0" rIns="0" bIns="0" anchor="t" anchorCtr="0">
              <a:spAutoFit/>
            </a:bodyPr>
            <a:lstStyle/>
            <a:p>
              <a:pPr algn="l"/>
              <a:r>
                <a:rPr lang="zh-CN" sz="790" b="1" dirty="0">
                  <a:solidFill>
                    <a:srgbClr val="6B6B6B"/>
                  </a:solidFill>
                  <a:latin typeface="+mn-lt"/>
                  <a:ea typeface="+mn-ea"/>
                  <a:cs typeface="+mn-cs"/>
                </a:rPr>
                <a:t>低</a:t>
              </a:r>
            </a:p>
          </p:txBody>
        </p:sp>
        <p:sp>
          <p:nvSpPr>
            <p:cNvPr id="15" name="TextBox 15"/>
            <p:cNvSpPr txBox="1"/>
            <p:nvPr/>
          </p:nvSpPr>
          <p:spPr>
            <a:xfrm>
              <a:off x="6434138" y="3363039"/>
              <a:ext cx="115875" cy="154781"/>
            </a:xfrm>
            <a:prstGeom prst="rect">
              <a:avLst/>
            </a:prstGeom>
            <a:noFill/>
            <a:ln>
              <a:noFill/>
            </a:ln>
          </p:spPr>
          <p:txBody>
            <a:bodyPr wrap="none" lIns="0" tIns="0" rIns="0" bIns="0" anchor="t" anchorCtr="0">
              <a:spAutoFit/>
            </a:bodyPr>
            <a:lstStyle/>
            <a:p>
              <a:pPr algn="l"/>
              <a:r>
                <a:rPr lang="zh-CN" sz="790" b="1" dirty="0">
                  <a:solidFill>
                    <a:srgbClr val="6B6B6B"/>
                  </a:solidFill>
                  <a:latin typeface="+mn-lt"/>
                  <a:ea typeface="+mn-ea"/>
                  <a:cs typeface="+mn-cs"/>
                </a:rPr>
                <a:t>高</a:t>
              </a:r>
            </a:p>
          </p:txBody>
        </p:sp>
        <p:sp>
          <p:nvSpPr>
            <p:cNvPr id="16" name="TextBox 16"/>
            <p:cNvSpPr txBox="1"/>
            <p:nvPr/>
          </p:nvSpPr>
          <p:spPr>
            <a:xfrm>
              <a:off x="3489211" y="3378041"/>
              <a:ext cx="451079" cy="161925"/>
            </a:xfrm>
            <a:prstGeom prst="rect">
              <a:avLst/>
            </a:prstGeom>
            <a:noFill/>
            <a:ln>
              <a:noFill/>
            </a:ln>
          </p:spPr>
          <p:txBody>
            <a:bodyPr wrap="none" lIns="0" tIns="0" rIns="0" bIns="0" anchor="t" anchorCtr="0">
              <a:spAutoFit/>
            </a:bodyPr>
            <a:lstStyle/>
            <a:p>
              <a:pPr algn="ctr"/>
              <a:r>
                <a:rPr lang="zh-CN" sz="820" b="1" dirty="0">
                  <a:solidFill>
                    <a:srgbClr val="5E3A33"/>
                  </a:solidFill>
                  <a:latin typeface="+mn-lt"/>
                  <a:ea typeface="+mn-ea"/>
                  <a:cs typeface="+mn-cs"/>
                </a:rPr>
                <a:t>客户层级</a:t>
              </a:r>
            </a:p>
          </p:txBody>
        </p:sp>
        <p:sp>
          <p:nvSpPr>
            <p:cNvPr id="17" name="Rectangle 17"/>
            <p:cNvSpPr/>
            <p:nvPr/>
          </p:nvSpPr>
          <p:spPr>
            <a:xfrm>
              <a:off x="933450" y="952500"/>
              <a:ext cx="2762250" cy="1028700"/>
            </a:xfrm>
            <a:prstGeom prst="roundRect">
              <a:avLst>
                <a:gd name="adj" fmla="val 7407"/>
              </a:avLst>
            </a:prstGeom>
            <a:solidFill>
              <a:srgbClr val="FBF4E7"/>
            </a:solidFill>
            <a:ln w="9525">
              <a:solidFill>
                <a:srgbClr val="E6D9C0"/>
              </a:solidFill>
            </a:ln>
          </p:spPr>
        </p:sp>
        <p:grpSp>
          <p:nvGrpSpPr>
            <p:cNvPr id="22" name="Group 22"/>
            <p:cNvGrpSpPr/>
            <p:nvPr/>
          </p:nvGrpSpPr>
          <p:grpSpPr>
            <a:xfrm>
              <a:off x="1119188" y="1156905"/>
              <a:ext cx="200026" cy="200408"/>
              <a:chOff x="1119188" y="1156905"/>
              <a:chExt cx="200026" cy="200408"/>
            </a:xfrm>
          </p:grpSpPr>
          <p:sp>
            <p:nvSpPr>
              <p:cNvPr id="18" name="Freeform 18"/>
              <p:cNvSpPr/>
              <p:nvPr/>
            </p:nvSpPr>
            <p:spPr>
              <a:xfrm>
                <a:off x="1119188" y="1212850"/>
                <a:ext cx="200026" cy="44450"/>
              </a:xfrm>
              <a:custGeom>
                <a:avLst/>
                <a:gdLst/>
                <a:ahLst/>
                <a:cxnLst/>
                <a:rect l="l" t="t" r="r" b="b"/>
                <a:pathLst>
                  <a:path w="200026" h="44450">
                    <a:moveTo>
                      <a:pt x="0" y="11113"/>
                    </a:moveTo>
                    <a:cubicBezTo>
                      <a:pt x="0" y="4975"/>
                      <a:pt x="4975" y="0"/>
                      <a:pt x="11113" y="0"/>
                    </a:cubicBezTo>
                    <a:lnTo>
                      <a:pt x="188913" y="0"/>
                    </a:lnTo>
                    <a:cubicBezTo>
                      <a:pt x="195050" y="0"/>
                      <a:pt x="200026" y="4975"/>
                      <a:pt x="200026" y="11113"/>
                    </a:cubicBezTo>
                    <a:lnTo>
                      <a:pt x="200026" y="33338"/>
                    </a:lnTo>
                    <a:cubicBezTo>
                      <a:pt x="200026" y="39475"/>
                      <a:pt x="195050" y="44450"/>
                      <a:pt x="188913" y="44450"/>
                    </a:cubicBezTo>
                    <a:lnTo>
                      <a:pt x="11113" y="44450"/>
                    </a:lnTo>
                    <a:cubicBezTo>
                      <a:pt x="4975" y="44450"/>
                      <a:pt x="0" y="39475"/>
                      <a:pt x="0" y="33338"/>
                    </a:cubicBezTo>
                    <a:lnTo>
                      <a:pt x="0" y="11113"/>
                    </a:lnTo>
                  </a:path>
                </a:pathLst>
              </a:custGeom>
              <a:noFill/>
              <a:ln w="22225">
                <a:solidFill>
                  <a:srgbClr val="A24B3C"/>
                </a:solidFill>
              </a:ln>
            </p:spPr>
          </p:sp>
          <p:sp>
            <p:nvSpPr>
              <p:cNvPr id="19" name="Freeform 19"/>
              <p:cNvSpPr/>
              <p:nvPr/>
            </p:nvSpPr>
            <p:spPr>
              <a:xfrm>
                <a:off x="1219200" y="1212850"/>
                <a:ext cx="9525" cy="144463"/>
              </a:xfrm>
              <a:custGeom>
                <a:avLst/>
                <a:gdLst/>
                <a:ahLst/>
                <a:cxnLst/>
                <a:rect l="l" t="t" r="r" b="b"/>
                <a:pathLst>
                  <a:path w="9525" h="144463">
                    <a:moveTo>
                      <a:pt x="0" y="0"/>
                    </a:moveTo>
                    <a:lnTo>
                      <a:pt x="0" y="144463"/>
                    </a:lnTo>
                  </a:path>
                </a:pathLst>
              </a:custGeom>
              <a:noFill/>
              <a:ln w="22225">
                <a:solidFill>
                  <a:srgbClr val="A24B3C"/>
                </a:solidFill>
              </a:ln>
            </p:spPr>
          </p:sp>
          <p:sp>
            <p:nvSpPr>
              <p:cNvPr id="20" name="Freeform 20"/>
              <p:cNvSpPr/>
              <p:nvPr/>
            </p:nvSpPr>
            <p:spPr>
              <a:xfrm>
                <a:off x="1141413" y="1257300"/>
                <a:ext cx="155575" cy="100013"/>
              </a:xfrm>
              <a:custGeom>
                <a:avLst/>
                <a:gdLst/>
                <a:ahLst/>
                <a:cxnLst/>
                <a:rect l="l" t="t" r="r" b="b"/>
                <a:pathLst>
                  <a:path w="155575" h="100013">
                    <a:moveTo>
                      <a:pt x="155575" y="0"/>
                    </a:moveTo>
                    <a:lnTo>
                      <a:pt x="155575" y="77788"/>
                    </a:lnTo>
                    <a:cubicBezTo>
                      <a:pt x="155575" y="90062"/>
                      <a:pt x="145625" y="100013"/>
                      <a:pt x="133350" y="100013"/>
                    </a:cubicBezTo>
                    <a:lnTo>
                      <a:pt x="22225" y="100013"/>
                    </a:lnTo>
                    <a:cubicBezTo>
                      <a:pt x="9950" y="100013"/>
                      <a:pt x="0" y="90062"/>
                      <a:pt x="0" y="77788"/>
                    </a:cubicBezTo>
                    <a:lnTo>
                      <a:pt x="0" y="0"/>
                    </a:lnTo>
                  </a:path>
                </a:pathLst>
              </a:custGeom>
              <a:noFill/>
              <a:ln w="22225">
                <a:solidFill>
                  <a:srgbClr val="A24B3C"/>
                </a:solidFill>
              </a:ln>
            </p:spPr>
          </p:sp>
          <p:sp>
            <p:nvSpPr>
              <p:cNvPr id="21" name="Freeform 21"/>
              <p:cNvSpPr/>
              <p:nvPr/>
            </p:nvSpPr>
            <p:spPr>
              <a:xfrm>
                <a:off x="1141413" y="1156905"/>
                <a:ext cx="155575" cy="55945"/>
              </a:xfrm>
              <a:custGeom>
                <a:avLst/>
                <a:gdLst/>
                <a:ahLst/>
                <a:cxnLst/>
                <a:rect l="l" t="t" r="r" b="b"/>
                <a:pathLst>
                  <a:path w="155575" h="55945">
                    <a:moveTo>
                      <a:pt x="27781" y="55945"/>
                    </a:moveTo>
                    <a:cubicBezTo>
                      <a:pt x="12438" y="55945"/>
                      <a:pt x="0" y="43507"/>
                      <a:pt x="0" y="28164"/>
                    </a:cubicBezTo>
                    <a:cubicBezTo>
                      <a:pt x="0" y="12820"/>
                      <a:pt x="12438" y="382"/>
                      <a:pt x="27781" y="382"/>
                    </a:cubicBezTo>
                    <a:cubicBezTo>
                      <a:pt x="49720" y="0"/>
                      <a:pt x="69561" y="22046"/>
                      <a:pt x="77788" y="55945"/>
                    </a:cubicBezTo>
                    <a:cubicBezTo>
                      <a:pt x="86014" y="22046"/>
                      <a:pt x="105855" y="0"/>
                      <a:pt x="127794" y="382"/>
                    </a:cubicBezTo>
                    <a:cubicBezTo>
                      <a:pt x="143137" y="382"/>
                      <a:pt x="155575" y="12820"/>
                      <a:pt x="155575" y="28164"/>
                    </a:cubicBezTo>
                    <a:cubicBezTo>
                      <a:pt x="155575" y="43507"/>
                      <a:pt x="143137" y="55945"/>
                      <a:pt x="127794" y="55945"/>
                    </a:cubicBezTo>
                  </a:path>
                </a:pathLst>
              </a:custGeom>
              <a:noFill/>
              <a:ln w="22225">
                <a:solidFill>
                  <a:srgbClr val="A24B3C"/>
                </a:solidFill>
              </a:ln>
            </p:spPr>
          </p:sp>
        </p:grpSp>
        <p:sp>
          <p:nvSpPr>
            <p:cNvPr id="23" name="TextBox 23"/>
            <p:cNvSpPr txBox="1"/>
            <p:nvPr/>
          </p:nvSpPr>
          <p:spPr>
            <a:xfrm>
              <a:off x="1500188" y="1175147"/>
              <a:ext cx="841860" cy="183356"/>
            </a:xfrm>
            <a:prstGeom prst="rect">
              <a:avLst/>
            </a:prstGeom>
            <a:noFill/>
            <a:ln>
              <a:noFill/>
            </a:ln>
          </p:spPr>
          <p:txBody>
            <a:bodyPr wrap="none" lIns="0" tIns="0" rIns="0" bIns="0" anchor="t" anchorCtr="0">
              <a:spAutoFit/>
            </a:bodyPr>
            <a:lstStyle/>
            <a:p>
              <a:pPr algn="l"/>
              <a:r>
                <a:rPr lang="zh-CN" sz="940" b="1" dirty="0">
                  <a:solidFill>
                    <a:srgbClr val="A3381F"/>
                  </a:solidFill>
                  <a:latin typeface="+mn-lt"/>
                  <a:ea typeface="+mn-ea"/>
                  <a:cs typeface="+mn-cs"/>
                </a:rPr>
                <a:t>高价值-低层级</a:t>
              </a:r>
            </a:p>
          </p:txBody>
        </p:sp>
        <p:sp>
          <p:nvSpPr>
            <p:cNvPr id="24" name="TextBox 24"/>
            <p:cNvSpPr txBox="1"/>
            <p:nvPr/>
          </p:nvSpPr>
          <p:spPr>
            <a:xfrm>
              <a:off x="1500188" y="1428036"/>
              <a:ext cx="821055" cy="311944"/>
            </a:xfrm>
            <a:prstGeom prst="rect">
              <a:avLst/>
            </a:prstGeom>
            <a:noFill/>
            <a:ln>
              <a:noFill/>
            </a:ln>
          </p:spPr>
          <p:txBody>
            <a:bodyPr wrap="none" lIns="0" tIns="0" rIns="0" bIns="0" anchor="t" anchorCtr="0">
              <a:spAutoFit/>
            </a:bodyPr>
            <a:lstStyle/>
            <a:p>
              <a:pPr algn="l">
                <a:lnSpc>
                  <a:spcPts val="1350"/>
                </a:lnSpc>
              </a:pPr>
              <a:r>
                <a:rPr lang="zh-CN" sz="710" dirty="0">
                  <a:solidFill>
                    <a:srgbClr val="4A4A4A"/>
                  </a:solidFill>
                  <a:latin typeface="+mn-lt"/>
                  <a:ea typeface="+mn-ea"/>
                  <a:cs typeface="+mn-cs"/>
                </a:rPr>
                <a:t>稀缺权益，少量触达</a:t>
              </a:r>
              <a:br/>
              <a:r>
                <a:rPr lang="zh-CN" sz="710" dirty="0">
                  <a:solidFill>
                    <a:srgbClr val="4A4A4A"/>
                  </a:solidFill>
                  <a:latin typeface="+mn-lt"/>
                  <a:ea typeface="+mn-ea"/>
                  <a:cs typeface="+mn-cs"/>
                </a:rPr>
                <a:t>提升感知，促进升级</a:t>
              </a:r>
            </a:p>
          </p:txBody>
        </p:sp>
        <p:sp>
          <p:nvSpPr>
            <p:cNvPr id="25" name="Rectangle 25"/>
            <p:cNvSpPr/>
            <p:nvPr/>
          </p:nvSpPr>
          <p:spPr>
            <a:xfrm>
              <a:off x="3790950" y="952500"/>
              <a:ext cx="2762250" cy="1028700"/>
            </a:xfrm>
            <a:prstGeom prst="roundRect">
              <a:avLst>
                <a:gd name="adj" fmla="val 7407"/>
              </a:avLst>
            </a:prstGeom>
            <a:solidFill>
              <a:srgbClr val="F9EAEA"/>
            </a:solidFill>
            <a:ln w="9525">
              <a:solidFill>
                <a:srgbClr val="E6D9C0"/>
              </a:solidFill>
            </a:ln>
          </p:spPr>
        </p:sp>
        <p:grpSp>
          <p:nvGrpSpPr>
            <p:cNvPr id="28" name="Group 28"/>
            <p:cNvGrpSpPr/>
            <p:nvPr/>
          </p:nvGrpSpPr>
          <p:grpSpPr>
            <a:xfrm>
              <a:off x="3976688" y="1179513"/>
              <a:ext cx="200026" cy="163466"/>
              <a:chOff x="3976688" y="1179513"/>
              <a:chExt cx="200026" cy="163466"/>
            </a:xfrm>
          </p:grpSpPr>
          <p:sp>
            <p:nvSpPr>
              <p:cNvPr id="26" name="Freeform 26"/>
              <p:cNvSpPr/>
              <p:nvPr/>
            </p:nvSpPr>
            <p:spPr>
              <a:xfrm>
                <a:off x="3976688" y="1179513"/>
                <a:ext cx="200026" cy="163466"/>
              </a:xfrm>
              <a:custGeom>
                <a:avLst/>
                <a:gdLst/>
                <a:ahLst/>
                <a:cxnLst/>
                <a:rect l="l" t="t" r="r" b="b"/>
                <a:pathLst>
                  <a:path w="200026" h="163466">
                    <a:moveTo>
                      <a:pt x="33338" y="0"/>
                    </a:moveTo>
                    <a:lnTo>
                      <a:pt x="166688" y="0"/>
                    </a:lnTo>
                    <a:lnTo>
                      <a:pt x="200026" y="55563"/>
                    </a:lnTo>
                    <a:lnTo>
                      <a:pt x="105569" y="161132"/>
                    </a:lnTo>
                    <a:cubicBezTo>
                      <a:pt x="104106" y="162625"/>
                      <a:pt x="102103" y="163466"/>
                      <a:pt x="100013" y="163466"/>
                    </a:cubicBezTo>
                    <a:cubicBezTo>
                      <a:pt x="97922" y="163466"/>
                      <a:pt x="95920" y="162625"/>
                      <a:pt x="94457" y="161132"/>
                    </a:cubicBezTo>
                    <a:lnTo>
                      <a:pt x="0" y="55563"/>
                    </a:lnTo>
                    <a:lnTo>
                      <a:pt x="33338" y="0"/>
                    </a:lnTo>
                  </a:path>
                </a:pathLst>
              </a:custGeom>
              <a:noFill/>
              <a:ln w="22225">
                <a:solidFill>
                  <a:srgbClr val="A3381F"/>
                </a:solidFill>
              </a:ln>
            </p:spPr>
          </p:sp>
          <p:sp>
            <p:nvSpPr>
              <p:cNvPr id="27" name="Freeform 27"/>
              <p:cNvSpPr/>
              <p:nvPr/>
            </p:nvSpPr>
            <p:spPr>
              <a:xfrm>
                <a:off x="4032250" y="1221740"/>
                <a:ext cx="22225" cy="35560"/>
              </a:xfrm>
              <a:custGeom>
                <a:avLst/>
                <a:gdLst/>
                <a:ahLst/>
                <a:cxnLst/>
                <a:rect l="l" t="t" r="r" b="b"/>
                <a:pathLst>
                  <a:path w="22225" h="35560">
                    <a:moveTo>
                      <a:pt x="22225" y="35560"/>
                    </a:moveTo>
                    <a:lnTo>
                      <a:pt x="0" y="11113"/>
                    </a:lnTo>
                    <a:lnTo>
                      <a:pt x="6668" y="0"/>
                    </a:lnTo>
                  </a:path>
                </a:pathLst>
              </a:custGeom>
              <a:noFill/>
              <a:ln w="22225">
                <a:solidFill>
                  <a:srgbClr val="A3381F"/>
                </a:solidFill>
              </a:ln>
            </p:spPr>
          </p:sp>
        </p:grpSp>
        <p:sp>
          <p:nvSpPr>
            <p:cNvPr id="29" name="TextBox 29"/>
            <p:cNvSpPr txBox="1"/>
            <p:nvPr/>
          </p:nvSpPr>
          <p:spPr>
            <a:xfrm>
              <a:off x="4357688" y="1175147"/>
              <a:ext cx="841860" cy="183356"/>
            </a:xfrm>
            <a:prstGeom prst="rect">
              <a:avLst/>
            </a:prstGeom>
            <a:noFill/>
            <a:ln>
              <a:noFill/>
            </a:ln>
          </p:spPr>
          <p:txBody>
            <a:bodyPr wrap="none" lIns="0" tIns="0" rIns="0" bIns="0" anchor="t" anchorCtr="0">
              <a:spAutoFit/>
            </a:bodyPr>
            <a:lstStyle/>
            <a:p>
              <a:pPr algn="l"/>
              <a:r>
                <a:rPr lang="zh-CN" sz="940" b="1" dirty="0">
                  <a:solidFill>
                    <a:srgbClr val="A3381F"/>
                  </a:solidFill>
                  <a:latin typeface="+mn-lt"/>
                  <a:ea typeface="+mn-ea"/>
                  <a:cs typeface="+mn-cs"/>
                </a:rPr>
                <a:t>高价值-高层级</a:t>
              </a:r>
            </a:p>
          </p:txBody>
        </p:sp>
        <p:sp>
          <p:nvSpPr>
            <p:cNvPr id="30" name="TextBox 30"/>
            <p:cNvSpPr txBox="1"/>
            <p:nvPr/>
          </p:nvSpPr>
          <p:spPr>
            <a:xfrm>
              <a:off x="4357688" y="1428036"/>
              <a:ext cx="911225" cy="311944"/>
            </a:xfrm>
            <a:prstGeom prst="rect">
              <a:avLst/>
            </a:prstGeom>
            <a:noFill/>
            <a:ln>
              <a:noFill/>
            </a:ln>
          </p:spPr>
          <p:txBody>
            <a:bodyPr wrap="none" lIns="0" tIns="0" rIns="0" bIns="0" anchor="t" anchorCtr="0">
              <a:spAutoFit/>
            </a:bodyPr>
            <a:lstStyle/>
            <a:p>
              <a:pPr algn="l">
                <a:lnSpc>
                  <a:spcPts val="1350"/>
                </a:lnSpc>
              </a:pPr>
              <a:r>
                <a:rPr lang="zh-CN" sz="710" dirty="0">
                  <a:solidFill>
                    <a:srgbClr val="4A4A4A"/>
                  </a:solidFill>
                  <a:latin typeface="+mn-lt"/>
                  <a:ea typeface="+mn-ea"/>
                  <a:cs typeface="+mn-cs"/>
                </a:rPr>
                <a:t>高价值专属，强化黏性</a:t>
              </a:r>
              <a:br/>
              <a:r>
                <a:rPr lang="zh-CN" sz="710" dirty="0">
                  <a:solidFill>
                    <a:srgbClr val="4A4A4A"/>
                  </a:solidFill>
                  <a:latin typeface="+mn-lt"/>
                  <a:ea typeface="+mn-ea"/>
                  <a:cs typeface="+mn-cs"/>
                </a:rPr>
                <a:t>深度经营，提升贡献</a:t>
              </a:r>
            </a:p>
          </p:txBody>
        </p:sp>
        <p:sp>
          <p:nvSpPr>
            <p:cNvPr id="31" name="Rectangle 31"/>
            <p:cNvSpPr/>
            <p:nvPr/>
          </p:nvSpPr>
          <p:spPr>
            <a:xfrm>
              <a:off x="933450" y="2095500"/>
              <a:ext cx="2762250" cy="1028700"/>
            </a:xfrm>
            <a:prstGeom prst="roundRect">
              <a:avLst>
                <a:gd name="adj" fmla="val 7407"/>
              </a:avLst>
            </a:prstGeom>
            <a:solidFill>
              <a:srgbClr val="EEF1F5"/>
            </a:solidFill>
            <a:ln w="9525">
              <a:solidFill>
                <a:srgbClr val="E6D9C0"/>
              </a:solidFill>
            </a:ln>
          </p:spPr>
        </p:sp>
        <p:grpSp>
          <p:nvGrpSpPr>
            <p:cNvPr id="36" name="Group 36"/>
            <p:cNvGrpSpPr/>
            <p:nvPr/>
          </p:nvGrpSpPr>
          <p:grpSpPr>
            <a:xfrm>
              <a:off x="1130300" y="2300288"/>
              <a:ext cx="177800" cy="200025"/>
              <a:chOff x="1130300" y="2300288"/>
              <a:chExt cx="177800" cy="200025"/>
            </a:xfrm>
          </p:grpSpPr>
          <p:sp>
            <p:nvSpPr>
              <p:cNvPr id="32" name="Freeform 32"/>
              <p:cNvSpPr/>
              <p:nvPr/>
            </p:nvSpPr>
            <p:spPr>
              <a:xfrm>
                <a:off x="1130300" y="245586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5E3A33"/>
                </a:solidFill>
              </a:ln>
            </p:spPr>
          </p:sp>
          <p:sp>
            <p:nvSpPr>
              <p:cNvPr id="33" name="Freeform 33"/>
              <p:cNvSpPr/>
              <p:nvPr/>
            </p:nvSpPr>
            <p:spPr>
              <a:xfrm>
                <a:off x="1252538" y="245586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5E3A33"/>
                </a:solidFill>
              </a:ln>
            </p:spPr>
          </p:sp>
          <p:sp>
            <p:nvSpPr>
              <p:cNvPr id="34" name="Freeform 34"/>
              <p:cNvSpPr/>
              <p:nvPr/>
            </p:nvSpPr>
            <p:spPr>
              <a:xfrm>
                <a:off x="1130300" y="2300288"/>
                <a:ext cx="144463" cy="155575"/>
              </a:xfrm>
              <a:custGeom>
                <a:avLst/>
                <a:gdLst/>
                <a:ahLst/>
                <a:cxnLst/>
                <a:rect l="l" t="t" r="r" b="b"/>
                <a:pathLst>
                  <a:path w="144463" h="155575">
                    <a:moveTo>
                      <a:pt x="144463" y="155575"/>
                    </a:moveTo>
                    <a:lnTo>
                      <a:pt x="22225" y="155575"/>
                    </a:lnTo>
                    <a:lnTo>
                      <a:pt x="22225" y="0"/>
                    </a:lnTo>
                    <a:lnTo>
                      <a:pt x="0" y="0"/>
                    </a:lnTo>
                  </a:path>
                </a:pathLst>
              </a:custGeom>
              <a:noFill/>
              <a:ln w="22225">
                <a:solidFill>
                  <a:srgbClr val="5E3A33"/>
                </a:solidFill>
              </a:ln>
            </p:spPr>
          </p:sp>
          <p:sp>
            <p:nvSpPr>
              <p:cNvPr id="35" name="Freeform 35"/>
              <p:cNvSpPr/>
              <p:nvPr/>
            </p:nvSpPr>
            <p:spPr>
              <a:xfrm>
                <a:off x="1152525" y="2322513"/>
                <a:ext cx="155575" cy="88900"/>
              </a:xfrm>
              <a:custGeom>
                <a:avLst/>
                <a:gdLst/>
                <a:ahLst/>
                <a:cxnLst/>
                <a:rect l="l" t="t" r="r" b="b"/>
                <a:pathLst>
                  <a:path w="155575" h="88900">
                    <a:moveTo>
                      <a:pt x="0" y="0"/>
                    </a:moveTo>
                    <a:lnTo>
                      <a:pt x="155575" y="11113"/>
                    </a:lnTo>
                    <a:lnTo>
                      <a:pt x="144463" y="88900"/>
                    </a:lnTo>
                    <a:lnTo>
                      <a:pt x="0" y="88900"/>
                    </a:lnTo>
                  </a:path>
                </a:pathLst>
              </a:custGeom>
              <a:noFill/>
              <a:ln w="22225">
                <a:solidFill>
                  <a:srgbClr val="5E3A33"/>
                </a:solidFill>
              </a:ln>
            </p:spPr>
          </p:sp>
        </p:grpSp>
        <p:sp>
          <p:nvSpPr>
            <p:cNvPr id="37" name="TextBox 37"/>
            <p:cNvSpPr txBox="1"/>
            <p:nvPr/>
          </p:nvSpPr>
          <p:spPr>
            <a:xfrm>
              <a:off x="1500188" y="2318147"/>
              <a:ext cx="841860" cy="183356"/>
            </a:xfrm>
            <a:prstGeom prst="rect">
              <a:avLst/>
            </a:prstGeom>
            <a:noFill/>
            <a:ln>
              <a:noFill/>
            </a:ln>
          </p:spPr>
          <p:txBody>
            <a:bodyPr wrap="none" lIns="0" tIns="0" rIns="0" bIns="0" anchor="t" anchorCtr="0">
              <a:spAutoFit/>
            </a:bodyPr>
            <a:lstStyle/>
            <a:p>
              <a:pPr algn="l"/>
              <a:r>
                <a:rPr lang="zh-CN" sz="940" b="1" dirty="0">
                  <a:solidFill>
                    <a:srgbClr val="A3381F"/>
                  </a:solidFill>
                  <a:latin typeface="+mn-lt"/>
                  <a:ea typeface="+mn-ea"/>
                  <a:cs typeface="+mn-cs"/>
                </a:rPr>
                <a:t>低价值-低层级</a:t>
              </a:r>
            </a:p>
          </p:txBody>
        </p:sp>
        <p:sp>
          <p:nvSpPr>
            <p:cNvPr id="38" name="TextBox 38"/>
            <p:cNvSpPr txBox="1"/>
            <p:nvPr/>
          </p:nvSpPr>
          <p:spPr>
            <a:xfrm>
              <a:off x="1500188" y="2571036"/>
              <a:ext cx="911225" cy="311944"/>
            </a:xfrm>
            <a:prstGeom prst="rect">
              <a:avLst/>
            </a:prstGeom>
            <a:noFill/>
            <a:ln>
              <a:noFill/>
            </a:ln>
          </p:spPr>
          <p:txBody>
            <a:bodyPr wrap="none" lIns="0" tIns="0" rIns="0" bIns="0" anchor="t" anchorCtr="0">
              <a:spAutoFit/>
            </a:bodyPr>
            <a:lstStyle/>
            <a:p>
              <a:pPr algn="l">
                <a:lnSpc>
                  <a:spcPts val="1350"/>
                </a:lnSpc>
              </a:pPr>
              <a:r>
                <a:rPr lang="zh-CN" sz="710" dirty="0">
                  <a:solidFill>
                    <a:srgbClr val="4A4A4A"/>
                  </a:solidFill>
                  <a:latin typeface="+mn-lt"/>
                  <a:ea typeface="+mn-ea"/>
                  <a:cs typeface="+mn-cs"/>
                </a:rPr>
                <a:t>高频刚需，低成本供给</a:t>
              </a:r>
              <a:br/>
              <a:r>
                <a:rPr lang="zh-CN" sz="710" dirty="0">
                  <a:solidFill>
                    <a:srgbClr val="4A4A4A"/>
                  </a:solidFill>
                  <a:latin typeface="+mn-lt"/>
                  <a:ea typeface="+mn-ea"/>
                  <a:cs typeface="+mn-cs"/>
                </a:rPr>
                <a:t>覆盖广度，提升活跃</a:t>
              </a:r>
            </a:p>
          </p:txBody>
        </p:sp>
        <p:sp>
          <p:nvSpPr>
            <p:cNvPr id="39" name="Rectangle 39"/>
            <p:cNvSpPr/>
            <p:nvPr/>
          </p:nvSpPr>
          <p:spPr>
            <a:xfrm>
              <a:off x="3790950" y="2095500"/>
              <a:ext cx="2762250" cy="1028700"/>
            </a:xfrm>
            <a:prstGeom prst="roundRect">
              <a:avLst>
                <a:gd name="adj" fmla="val 7407"/>
              </a:avLst>
            </a:prstGeom>
            <a:solidFill>
              <a:srgbClr val="F3EADA"/>
            </a:solidFill>
            <a:ln w="9525">
              <a:solidFill>
                <a:srgbClr val="E6D9C0"/>
              </a:solidFill>
            </a:ln>
          </p:spPr>
        </p:sp>
        <p:sp>
          <p:nvSpPr>
            <p:cNvPr id="40" name="Freeform 40"/>
            <p:cNvSpPr/>
            <p:nvPr/>
          </p:nvSpPr>
          <p:spPr>
            <a:xfrm>
              <a:off x="3976688" y="2333625"/>
              <a:ext cx="200026" cy="133350"/>
            </a:xfrm>
            <a:custGeom>
              <a:avLst/>
              <a:gdLst/>
              <a:ahLst/>
              <a:cxnLst/>
              <a:rect l="l" t="t" r="r" b="b"/>
              <a:pathLst>
                <a:path w="200026" h="133350">
                  <a:moveTo>
                    <a:pt x="100013" y="0"/>
                  </a:moveTo>
                  <a:lnTo>
                    <a:pt x="144463" y="66675"/>
                  </a:lnTo>
                  <a:lnTo>
                    <a:pt x="200026" y="22225"/>
                  </a:lnTo>
                  <a:lnTo>
                    <a:pt x="177801" y="133350"/>
                  </a:lnTo>
                  <a:lnTo>
                    <a:pt x="22225" y="133350"/>
                  </a:lnTo>
                  <a:lnTo>
                    <a:pt x="0" y="22225"/>
                  </a:lnTo>
                  <a:lnTo>
                    <a:pt x="55563" y="66675"/>
                  </a:lnTo>
                  <a:lnTo>
                    <a:pt x="100013" y="0"/>
                  </a:lnTo>
                </a:path>
              </a:pathLst>
            </a:custGeom>
            <a:noFill/>
            <a:ln w="22225">
              <a:solidFill>
                <a:srgbClr val="A24B3C"/>
              </a:solidFill>
            </a:ln>
          </p:spPr>
        </p:sp>
        <p:sp>
          <p:nvSpPr>
            <p:cNvPr id="41" name="TextBox 41"/>
            <p:cNvSpPr txBox="1"/>
            <p:nvPr/>
          </p:nvSpPr>
          <p:spPr>
            <a:xfrm>
              <a:off x="4357688" y="2318147"/>
              <a:ext cx="841860" cy="183356"/>
            </a:xfrm>
            <a:prstGeom prst="rect">
              <a:avLst/>
            </a:prstGeom>
            <a:noFill/>
            <a:ln>
              <a:noFill/>
            </a:ln>
          </p:spPr>
          <p:txBody>
            <a:bodyPr wrap="none" lIns="0" tIns="0" rIns="0" bIns="0" anchor="t" anchorCtr="0">
              <a:spAutoFit/>
            </a:bodyPr>
            <a:lstStyle/>
            <a:p>
              <a:pPr algn="l"/>
              <a:r>
                <a:rPr lang="zh-CN" sz="940" b="1" dirty="0">
                  <a:solidFill>
                    <a:srgbClr val="A3381F"/>
                  </a:solidFill>
                  <a:latin typeface="+mn-lt"/>
                  <a:ea typeface="+mn-ea"/>
                  <a:cs typeface="+mn-cs"/>
                </a:rPr>
                <a:t>低价值-高层级</a:t>
              </a:r>
            </a:p>
          </p:txBody>
        </p:sp>
        <p:sp>
          <p:nvSpPr>
            <p:cNvPr id="42" name="TextBox 42"/>
            <p:cNvSpPr txBox="1"/>
            <p:nvPr/>
          </p:nvSpPr>
          <p:spPr>
            <a:xfrm>
              <a:off x="4357688" y="2571036"/>
              <a:ext cx="911225" cy="311944"/>
            </a:xfrm>
            <a:prstGeom prst="rect">
              <a:avLst/>
            </a:prstGeom>
            <a:noFill/>
            <a:ln>
              <a:noFill/>
            </a:ln>
          </p:spPr>
          <p:txBody>
            <a:bodyPr wrap="none" lIns="0" tIns="0" rIns="0" bIns="0" anchor="t" anchorCtr="0">
              <a:spAutoFit/>
            </a:bodyPr>
            <a:lstStyle/>
            <a:p>
              <a:pPr algn="l">
                <a:lnSpc>
                  <a:spcPts val="1350"/>
                </a:lnSpc>
              </a:pPr>
              <a:r>
                <a:rPr lang="zh-CN" sz="710" dirty="0">
                  <a:solidFill>
                    <a:srgbClr val="4A4A4A"/>
                  </a:solidFill>
                  <a:latin typeface="+mn-lt"/>
                  <a:ea typeface="+mn-ea"/>
                  <a:cs typeface="+mn-cs"/>
                </a:rPr>
                <a:t>基础权益，差异化配置</a:t>
              </a:r>
              <a:br/>
              <a:r>
                <a:rPr lang="zh-CN" sz="710" dirty="0">
                  <a:solidFill>
                    <a:srgbClr val="4A4A4A"/>
                  </a:solidFill>
                  <a:latin typeface="+mn-lt"/>
                  <a:ea typeface="+mn-ea"/>
                  <a:cs typeface="+mn-cs"/>
                </a:rPr>
                <a:t>保障体验，控制成本</a:t>
              </a:r>
            </a:p>
          </p:txBody>
        </p:sp>
      </p:grpSp>
      <p:grpSp>
        <p:nvGrpSpPr>
          <p:cNvPr id="60" name="config-principle"/>
          <p:cNvGrpSpPr/>
          <p:nvPr/>
        </p:nvGrpSpPr>
        <p:grpSpPr>
          <a:xfrm>
            <a:off x="6819900" y="800100"/>
            <a:ext cx="2038350" cy="2705100"/>
            <a:chOff x="6819900" y="800100"/>
            <a:chExt cx="2038350" cy="2705100"/>
          </a:xfrm>
        </p:grpSpPr>
        <p:sp>
          <p:nvSpPr>
            <p:cNvPr id="44" name="Rectangle 44"/>
            <p:cNvSpPr/>
            <p:nvPr/>
          </p:nvSpPr>
          <p:spPr>
            <a:xfrm>
              <a:off x="6819900" y="800100"/>
              <a:ext cx="2038350" cy="2705100"/>
            </a:xfrm>
            <a:prstGeom prst="roundRect">
              <a:avLst>
                <a:gd name="adj" fmla="val 4673"/>
              </a:avLst>
            </a:prstGeom>
            <a:solidFill>
              <a:srgbClr val="FFFFFF"/>
            </a:solidFill>
            <a:ln w="9525">
              <a:solidFill>
                <a:srgbClr val="E6D9C0"/>
              </a:solidFill>
            </a:ln>
          </p:spPr>
        </p:sp>
        <p:sp>
          <p:nvSpPr>
            <p:cNvPr id="45" name="Rectangle 45"/>
            <p:cNvSpPr/>
            <p:nvPr/>
          </p:nvSpPr>
          <p:spPr>
            <a:xfrm>
              <a:off x="7239000" y="952500"/>
              <a:ext cx="1200150" cy="266700"/>
            </a:xfrm>
            <a:prstGeom prst="roundRect">
              <a:avLst>
                <a:gd name="adj" fmla="val 50000"/>
              </a:avLst>
            </a:prstGeom>
            <a:solidFill>
              <a:srgbClr val="A3381F"/>
            </a:solidFill>
            <a:ln>
              <a:noFill/>
            </a:ln>
          </p:spPr>
        </p:sp>
        <p:sp>
          <p:nvSpPr>
            <p:cNvPr id="46" name="TextBox 46"/>
            <p:cNvSpPr txBox="1"/>
            <p:nvPr/>
          </p:nvSpPr>
          <p:spPr>
            <a:xfrm>
              <a:off x="7570267" y="10282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配置原则</a:t>
              </a:r>
            </a:p>
          </p:txBody>
        </p:sp>
        <p:sp>
          <p:nvSpPr>
            <p:cNvPr id="47" name="Ellipse 47"/>
            <p:cNvSpPr/>
            <p:nvPr/>
          </p:nvSpPr>
          <p:spPr>
            <a:xfrm>
              <a:off x="7010400" y="1619250"/>
              <a:ext cx="381000" cy="381000"/>
            </a:xfrm>
            <a:prstGeom prst="ellipse">
              <a:avLst/>
            </a:prstGeom>
            <a:solidFill>
              <a:srgbClr val="C26D5E"/>
            </a:solidFill>
            <a:ln>
              <a:noFill/>
            </a:ln>
          </p:spPr>
        </p:sp>
        <p:grpSp>
          <p:nvGrpSpPr>
            <p:cNvPr id="52" name="Group 52"/>
            <p:cNvGrpSpPr/>
            <p:nvPr/>
          </p:nvGrpSpPr>
          <p:grpSpPr>
            <a:xfrm>
              <a:off x="7129462" y="1738312"/>
              <a:ext cx="142875" cy="142875"/>
              <a:chOff x="7129462" y="1738312"/>
              <a:chExt cx="142875" cy="142875"/>
            </a:xfrm>
          </p:grpSpPr>
          <p:sp>
            <p:nvSpPr>
              <p:cNvPr id="48" name="Freeform 48"/>
              <p:cNvSpPr/>
              <p:nvPr/>
            </p:nvSpPr>
            <p:spPr>
              <a:xfrm>
                <a:off x="7145337" y="17383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49" name="Freeform 49"/>
              <p:cNvSpPr/>
              <p:nvPr/>
            </p:nvSpPr>
            <p:spPr>
              <a:xfrm>
                <a:off x="7129462" y="18335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50" name="Freeform 50"/>
              <p:cNvSpPr/>
              <p:nvPr/>
            </p:nvSpPr>
            <p:spPr>
              <a:xfrm>
                <a:off x="7232650" y="17393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51" name="Freeform 51"/>
              <p:cNvSpPr/>
              <p:nvPr/>
            </p:nvSpPr>
            <p:spPr>
              <a:xfrm>
                <a:off x="7248525" y="18347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53" name="TextBox 53"/>
            <p:cNvSpPr txBox="1"/>
            <p:nvPr/>
          </p:nvSpPr>
          <p:spPr>
            <a:xfrm>
              <a:off x="7500938" y="1674495"/>
              <a:ext cx="372999"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低层级</a:t>
              </a:r>
            </a:p>
          </p:txBody>
        </p:sp>
        <p:sp>
          <p:nvSpPr>
            <p:cNvPr id="54" name="TextBox 54"/>
            <p:cNvSpPr txBox="1"/>
            <p:nvPr/>
          </p:nvSpPr>
          <p:spPr>
            <a:xfrm>
              <a:off x="7500938" y="1854041"/>
              <a:ext cx="561467" cy="161925"/>
            </a:xfrm>
            <a:prstGeom prst="rect">
              <a:avLst/>
            </a:prstGeom>
            <a:noFill/>
            <a:ln>
              <a:noFill/>
            </a:ln>
          </p:spPr>
          <p:txBody>
            <a:bodyPr wrap="none" lIns="0" tIns="0" rIns="0" bIns="0" anchor="t" anchorCtr="0">
              <a:spAutoFit/>
            </a:bodyPr>
            <a:lstStyle/>
            <a:p>
              <a:pPr algn="l"/>
              <a:r>
                <a:rPr lang="zh-CN" sz="820" b="1" dirty="0">
                  <a:solidFill>
                    <a:srgbClr val="5E3A33"/>
                  </a:solidFill>
                  <a:latin typeface="+mn-lt"/>
                  <a:ea typeface="+mn-ea"/>
                  <a:cs typeface="+mn-cs"/>
                </a:rPr>
                <a:t>高频低成本</a:t>
              </a:r>
            </a:p>
          </p:txBody>
        </p:sp>
        <p:sp>
          <p:nvSpPr>
            <p:cNvPr id="55" name="Line 55"/>
            <p:cNvSpPr/>
            <p:nvPr/>
          </p:nvSpPr>
          <p:spPr>
            <a:xfrm>
              <a:off x="7048500" y="2228850"/>
              <a:ext cx="1581150" cy="9525"/>
            </a:xfrm>
            <a:custGeom>
              <a:avLst/>
              <a:gdLst/>
              <a:ahLst/>
              <a:cxnLst/>
              <a:rect l="l" t="t" r="r" b="b"/>
              <a:pathLst>
                <a:path w="1581150" h="9525">
                  <a:moveTo>
                    <a:pt x="0" y="0"/>
                  </a:moveTo>
                  <a:lnTo>
                    <a:pt x="1581150" y="0"/>
                  </a:lnTo>
                </a:path>
              </a:pathLst>
            </a:custGeom>
            <a:noFill/>
            <a:ln w="9525">
              <a:solidFill>
                <a:srgbClr val="F0E8D8"/>
              </a:solidFill>
            </a:ln>
          </p:spPr>
        </p:sp>
        <p:sp>
          <p:nvSpPr>
            <p:cNvPr id="56" name="Ellipse 56"/>
            <p:cNvSpPr/>
            <p:nvPr/>
          </p:nvSpPr>
          <p:spPr>
            <a:xfrm>
              <a:off x="7010400" y="2457450"/>
              <a:ext cx="381000" cy="381000"/>
            </a:xfrm>
            <a:prstGeom prst="ellipse">
              <a:avLst/>
            </a:prstGeom>
            <a:solidFill>
              <a:srgbClr val="A3381F"/>
            </a:solidFill>
            <a:ln>
              <a:noFill/>
            </a:ln>
          </p:spPr>
        </p:sp>
        <p:sp>
          <p:nvSpPr>
            <p:cNvPr id="57" name="Freeform 57"/>
            <p:cNvSpPr/>
            <p:nvPr/>
          </p:nvSpPr>
          <p:spPr>
            <a:xfrm>
              <a:off x="7129462" y="2600325"/>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FFFFFF"/>
              </a:solidFill>
            </a:ln>
          </p:spPr>
        </p:sp>
        <p:sp>
          <p:nvSpPr>
            <p:cNvPr id="58" name="TextBox 58"/>
            <p:cNvSpPr txBox="1"/>
            <p:nvPr/>
          </p:nvSpPr>
          <p:spPr>
            <a:xfrm>
              <a:off x="7500938" y="2512695"/>
              <a:ext cx="372999" cy="176212"/>
            </a:xfrm>
            <a:prstGeom prst="rect">
              <a:avLst/>
            </a:prstGeom>
            <a:noFill/>
            <a:ln>
              <a:noFill/>
            </a:ln>
          </p:spPr>
          <p:txBody>
            <a:bodyPr wrap="none" lIns="0" tIns="0" rIns="0" bIns="0" anchor="t" anchorCtr="0">
              <a:spAutoFit/>
            </a:bodyPr>
            <a:lstStyle/>
            <a:p>
              <a:pPr algn="l"/>
              <a:r>
                <a:rPr lang="zh-CN" sz="900" b="1" dirty="0">
                  <a:solidFill>
                    <a:srgbClr val="A3381F"/>
                  </a:solidFill>
                  <a:latin typeface="+mn-lt"/>
                  <a:ea typeface="+mn-ea"/>
                  <a:cs typeface="+mn-cs"/>
                </a:rPr>
                <a:t>高层级</a:t>
              </a:r>
            </a:p>
          </p:txBody>
        </p:sp>
        <p:sp>
          <p:nvSpPr>
            <p:cNvPr id="59" name="TextBox 59"/>
            <p:cNvSpPr txBox="1"/>
            <p:nvPr/>
          </p:nvSpPr>
          <p:spPr>
            <a:xfrm>
              <a:off x="7500938" y="2692241"/>
              <a:ext cx="561467" cy="161925"/>
            </a:xfrm>
            <a:prstGeom prst="rect">
              <a:avLst/>
            </a:prstGeom>
            <a:noFill/>
            <a:ln>
              <a:noFill/>
            </a:ln>
          </p:spPr>
          <p:txBody>
            <a:bodyPr wrap="none" lIns="0" tIns="0" rIns="0" bIns="0" anchor="t" anchorCtr="0">
              <a:spAutoFit/>
            </a:bodyPr>
            <a:lstStyle/>
            <a:p>
              <a:pPr algn="l"/>
              <a:r>
                <a:rPr lang="zh-CN" sz="820" b="1" dirty="0">
                  <a:solidFill>
                    <a:srgbClr val="5E3A33"/>
                  </a:solidFill>
                  <a:latin typeface="+mn-lt"/>
                  <a:ea typeface="+mn-ea"/>
                  <a:cs typeface="+mn-cs"/>
                </a:rPr>
                <a:t>低频高价值</a:t>
              </a:r>
            </a:p>
          </p:txBody>
        </p:sp>
      </p:grpSp>
      <p:grpSp>
        <p:nvGrpSpPr>
          <p:cNvPr id="97" name="mechanisms"/>
          <p:cNvGrpSpPr/>
          <p:nvPr/>
        </p:nvGrpSpPr>
        <p:grpSpPr>
          <a:xfrm>
            <a:off x="381000" y="3657600"/>
            <a:ext cx="8477250" cy="952500"/>
            <a:chOff x="381000" y="3657600"/>
            <a:chExt cx="8477250" cy="952500"/>
          </a:xfrm>
        </p:grpSpPr>
        <p:sp>
          <p:nvSpPr>
            <p:cNvPr id="61" name="Rectangle 61"/>
            <p:cNvSpPr/>
            <p:nvPr/>
          </p:nvSpPr>
          <p:spPr>
            <a:xfrm>
              <a:off x="381000" y="3657600"/>
              <a:ext cx="2019300" cy="952500"/>
            </a:xfrm>
            <a:prstGeom prst="roundRect">
              <a:avLst>
                <a:gd name="adj" fmla="val 9000"/>
              </a:avLst>
            </a:prstGeom>
            <a:solidFill>
              <a:srgbClr val="FFFFFF"/>
            </a:solidFill>
            <a:ln w="9525">
              <a:solidFill>
                <a:srgbClr val="E6D9C0"/>
              </a:solidFill>
            </a:ln>
          </p:spPr>
        </p:sp>
        <p:sp>
          <p:nvSpPr>
            <p:cNvPr id="62" name="Ellipse 62"/>
            <p:cNvSpPr/>
            <p:nvPr/>
          </p:nvSpPr>
          <p:spPr>
            <a:xfrm>
              <a:off x="495300" y="3771900"/>
              <a:ext cx="342900" cy="342900"/>
            </a:xfrm>
            <a:prstGeom prst="ellipse">
              <a:avLst/>
            </a:prstGeom>
            <a:solidFill>
              <a:srgbClr val="A3381F"/>
            </a:solidFill>
            <a:ln>
              <a:noFill/>
            </a:ln>
          </p:spPr>
        </p:sp>
        <p:grpSp>
          <p:nvGrpSpPr>
            <p:cNvPr id="69" name="Group 69"/>
            <p:cNvGrpSpPr/>
            <p:nvPr/>
          </p:nvGrpSpPr>
          <p:grpSpPr>
            <a:xfrm>
              <a:off x="603250" y="3871912"/>
              <a:ext cx="127000" cy="142875"/>
              <a:chOff x="603250" y="3871912"/>
              <a:chExt cx="127000" cy="142875"/>
            </a:xfrm>
          </p:grpSpPr>
          <p:sp>
            <p:nvSpPr>
              <p:cNvPr id="63" name="Freeform 63"/>
              <p:cNvSpPr/>
              <p:nvPr/>
            </p:nvSpPr>
            <p:spPr>
              <a:xfrm>
                <a:off x="603250" y="38877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FFFFFF"/>
                </a:solidFill>
              </a:ln>
            </p:spPr>
          </p:sp>
          <p:sp>
            <p:nvSpPr>
              <p:cNvPr id="64" name="Freeform 64"/>
              <p:cNvSpPr/>
              <p:nvPr/>
            </p:nvSpPr>
            <p:spPr>
              <a:xfrm>
                <a:off x="698500" y="38719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65" name="Freeform 65"/>
              <p:cNvSpPr/>
              <p:nvPr/>
            </p:nvSpPr>
            <p:spPr>
              <a:xfrm>
                <a:off x="635000" y="38719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66" name="Freeform 66"/>
              <p:cNvSpPr/>
              <p:nvPr/>
            </p:nvSpPr>
            <p:spPr>
              <a:xfrm>
                <a:off x="603250" y="3935412"/>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67" name="Freeform 67"/>
              <p:cNvSpPr/>
              <p:nvPr/>
            </p:nvSpPr>
            <p:spPr>
              <a:xfrm>
                <a:off x="658812" y="3967162"/>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68" name="Freeform 68"/>
              <p:cNvSpPr/>
              <p:nvPr/>
            </p:nvSpPr>
            <p:spPr>
              <a:xfrm>
                <a:off x="666750" y="3967162"/>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70" name="TextBox 70"/>
            <p:cNvSpPr txBox="1"/>
            <p:nvPr/>
          </p:nvSpPr>
          <p:spPr>
            <a:xfrm>
              <a:off x="909447" y="3885724"/>
              <a:ext cx="405689" cy="190690"/>
            </a:xfrm>
            <a:prstGeom prst="rect">
              <a:avLst/>
            </a:prstGeom>
            <a:noFill/>
            <a:ln>
              <a:noFill/>
            </a:ln>
          </p:spPr>
          <p:txBody>
            <a:bodyPr wrap="none" lIns="0" tIns="0" rIns="0" bIns="0" anchor="t" anchorCtr="0">
              <a:spAutoFit/>
            </a:bodyPr>
            <a:lstStyle/>
            <a:p>
              <a:pPr algn="l"/>
              <a:r>
                <a:rPr lang="zh-CN" sz="980" b="1" dirty="0">
                  <a:solidFill>
                    <a:srgbClr val="A3381F"/>
                  </a:solidFill>
                  <a:latin typeface="+mn-lt"/>
                  <a:ea typeface="+mn-ea"/>
                  <a:cs typeface="+mn-cs"/>
                </a:rPr>
                <a:t>预约制</a:t>
              </a:r>
            </a:p>
          </p:txBody>
        </p:sp>
        <p:sp>
          <p:nvSpPr>
            <p:cNvPr id="71" name="TextBox 71"/>
            <p:cNvSpPr txBox="1"/>
            <p:nvPr/>
          </p:nvSpPr>
          <p:spPr>
            <a:xfrm>
              <a:off x="528638" y="4190286"/>
              <a:ext cx="821055"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4A4A4A"/>
                  </a:solidFill>
                  <a:latin typeface="+mn-lt"/>
                  <a:ea typeface="+mn-ea"/>
                  <a:cs typeface="+mn-cs"/>
                </a:rPr>
                <a:t>先约后享，错峰服务</a:t>
              </a:r>
              <a:br/>
              <a:r>
                <a:rPr lang="zh-CN" sz="710" dirty="0">
                  <a:solidFill>
                    <a:srgbClr val="4A4A4A"/>
                  </a:solidFill>
                  <a:latin typeface="+mn-lt"/>
                  <a:ea typeface="+mn-ea"/>
                  <a:cs typeface="+mn-cs"/>
                </a:rPr>
                <a:t>提升体验，优化资源</a:t>
              </a:r>
            </a:p>
          </p:txBody>
        </p:sp>
        <p:sp>
          <p:nvSpPr>
            <p:cNvPr id="72" name="Rectangle 72"/>
            <p:cNvSpPr/>
            <p:nvPr/>
          </p:nvSpPr>
          <p:spPr>
            <a:xfrm>
              <a:off x="2533650" y="3657600"/>
              <a:ext cx="2019300" cy="952500"/>
            </a:xfrm>
            <a:prstGeom prst="roundRect">
              <a:avLst>
                <a:gd name="adj" fmla="val 9000"/>
              </a:avLst>
            </a:prstGeom>
            <a:solidFill>
              <a:srgbClr val="FFFFFF"/>
            </a:solidFill>
            <a:ln w="9525">
              <a:solidFill>
                <a:srgbClr val="E6D9C0"/>
              </a:solidFill>
            </a:ln>
          </p:spPr>
        </p:sp>
        <p:sp>
          <p:nvSpPr>
            <p:cNvPr id="73" name="Ellipse 73"/>
            <p:cNvSpPr/>
            <p:nvPr/>
          </p:nvSpPr>
          <p:spPr>
            <a:xfrm>
              <a:off x="2647950" y="3771900"/>
              <a:ext cx="342900" cy="342900"/>
            </a:xfrm>
            <a:prstGeom prst="ellipse">
              <a:avLst/>
            </a:prstGeom>
            <a:solidFill>
              <a:srgbClr val="C26D5E"/>
            </a:solidFill>
            <a:ln>
              <a:noFill/>
            </a:ln>
          </p:spPr>
        </p:sp>
        <p:grpSp>
          <p:nvGrpSpPr>
            <p:cNvPr id="77" name="Group 77"/>
            <p:cNvGrpSpPr/>
            <p:nvPr/>
          </p:nvGrpSpPr>
          <p:grpSpPr>
            <a:xfrm>
              <a:off x="2763837" y="3871912"/>
              <a:ext cx="111125" cy="142875"/>
              <a:chOff x="2763837" y="3871912"/>
              <a:chExt cx="111125" cy="142875"/>
            </a:xfrm>
          </p:grpSpPr>
          <p:sp>
            <p:nvSpPr>
              <p:cNvPr id="74" name="Freeform 74"/>
              <p:cNvSpPr/>
              <p:nvPr/>
            </p:nvSpPr>
            <p:spPr>
              <a:xfrm>
                <a:off x="2763837" y="3935412"/>
                <a:ext cx="111125" cy="79375"/>
              </a:xfrm>
              <a:custGeom>
                <a:avLst/>
                <a:gdLst/>
                <a:ahLst/>
                <a:cxnLst/>
                <a:rect l="l" t="t" r="r" b="b"/>
                <a:pathLst>
                  <a:path w="111125" h="79375">
                    <a:moveTo>
                      <a:pt x="0" y="15875"/>
                    </a:moveTo>
                    <a:cubicBezTo>
                      <a:pt x="0" y="7107"/>
                      <a:pt x="7107" y="0"/>
                      <a:pt x="15875" y="0"/>
                    </a:cubicBezTo>
                    <a:lnTo>
                      <a:pt x="95250" y="0"/>
                    </a:lnTo>
                    <a:cubicBezTo>
                      <a:pt x="104017" y="0"/>
                      <a:pt x="111125" y="7107"/>
                      <a:pt x="111125" y="15875"/>
                    </a:cubicBezTo>
                    <a:lnTo>
                      <a:pt x="111125" y="63500"/>
                    </a:lnTo>
                    <a:cubicBezTo>
                      <a:pt x="111125" y="72267"/>
                      <a:pt x="104017" y="79375"/>
                      <a:pt x="95250" y="79375"/>
                    </a:cubicBezTo>
                    <a:lnTo>
                      <a:pt x="15875" y="79375"/>
                    </a:lnTo>
                    <a:cubicBezTo>
                      <a:pt x="7107" y="79375"/>
                      <a:pt x="0" y="72267"/>
                      <a:pt x="0" y="63500"/>
                    </a:cubicBezTo>
                    <a:lnTo>
                      <a:pt x="0" y="15875"/>
                    </a:lnTo>
                  </a:path>
                </a:pathLst>
              </a:custGeom>
              <a:noFill/>
              <a:ln w="15875">
                <a:solidFill>
                  <a:srgbClr val="FFFFFF"/>
                </a:solidFill>
              </a:ln>
            </p:spPr>
          </p:sp>
          <p:sp>
            <p:nvSpPr>
              <p:cNvPr id="75" name="Freeform 75"/>
              <p:cNvSpPr/>
              <p:nvPr/>
            </p:nvSpPr>
            <p:spPr>
              <a:xfrm>
                <a:off x="2811462" y="39671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76" name="Freeform 76"/>
              <p:cNvSpPr/>
              <p:nvPr/>
            </p:nvSpPr>
            <p:spPr>
              <a:xfrm>
                <a:off x="2787650" y="3871912"/>
                <a:ext cx="63500" cy="63500"/>
              </a:xfrm>
              <a:custGeom>
                <a:avLst/>
                <a:gdLst/>
                <a:ahLst/>
                <a:cxnLst/>
                <a:rect l="l" t="t" r="r" b="b"/>
                <a:pathLst>
                  <a:path w="63500" h="63500">
                    <a:moveTo>
                      <a:pt x="0" y="63500"/>
                    </a:moveTo>
                    <a:lnTo>
                      <a:pt x="0" y="31750"/>
                    </a:lnTo>
                    <a:cubicBezTo>
                      <a:pt x="0" y="14215"/>
                      <a:pt x="14215" y="0"/>
                      <a:pt x="31750" y="0"/>
                    </a:cubicBezTo>
                    <a:cubicBezTo>
                      <a:pt x="49285" y="0"/>
                      <a:pt x="63500" y="14215"/>
                      <a:pt x="63500" y="31750"/>
                    </a:cubicBezTo>
                    <a:lnTo>
                      <a:pt x="63500" y="63500"/>
                    </a:lnTo>
                  </a:path>
                </a:pathLst>
              </a:custGeom>
              <a:noFill/>
              <a:ln w="15875">
                <a:solidFill>
                  <a:srgbClr val="FFFFFF"/>
                </a:solidFill>
              </a:ln>
            </p:spPr>
          </p:sp>
        </p:grpSp>
        <p:sp>
          <p:nvSpPr>
            <p:cNvPr id="78" name="TextBox 78"/>
            <p:cNvSpPr txBox="1"/>
            <p:nvPr/>
          </p:nvSpPr>
          <p:spPr>
            <a:xfrm>
              <a:off x="3062097" y="3885724"/>
              <a:ext cx="405689" cy="190690"/>
            </a:xfrm>
            <a:prstGeom prst="rect">
              <a:avLst/>
            </a:prstGeom>
            <a:noFill/>
            <a:ln>
              <a:noFill/>
            </a:ln>
          </p:spPr>
          <p:txBody>
            <a:bodyPr wrap="none" lIns="0" tIns="0" rIns="0" bIns="0" anchor="t" anchorCtr="0">
              <a:spAutoFit/>
            </a:bodyPr>
            <a:lstStyle/>
            <a:p>
              <a:pPr algn="l"/>
              <a:r>
                <a:rPr lang="zh-CN" sz="980" b="1" dirty="0">
                  <a:solidFill>
                    <a:srgbClr val="A3381F"/>
                  </a:solidFill>
                  <a:latin typeface="+mn-lt"/>
                  <a:ea typeface="+mn-ea"/>
                  <a:cs typeface="+mn-cs"/>
                </a:rPr>
                <a:t>限次制</a:t>
              </a:r>
            </a:p>
          </p:txBody>
        </p:sp>
        <p:sp>
          <p:nvSpPr>
            <p:cNvPr id="79" name="TextBox 79"/>
            <p:cNvSpPr txBox="1"/>
            <p:nvPr/>
          </p:nvSpPr>
          <p:spPr>
            <a:xfrm>
              <a:off x="2681288" y="4190286"/>
              <a:ext cx="821055"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4A4A4A"/>
                  </a:solidFill>
                  <a:latin typeface="+mn-lt"/>
                  <a:ea typeface="+mn-ea"/>
                  <a:cs typeface="+mn-cs"/>
                </a:rPr>
                <a:t>限定次数，合理使用</a:t>
              </a:r>
              <a:br/>
              <a:r>
                <a:rPr lang="zh-CN" sz="710" dirty="0">
                  <a:solidFill>
                    <a:srgbClr val="4A4A4A"/>
                  </a:solidFill>
                  <a:latin typeface="+mn-lt"/>
                  <a:ea typeface="+mn-ea"/>
                  <a:cs typeface="+mn-cs"/>
                </a:rPr>
                <a:t>控制成本，促进复访</a:t>
              </a:r>
            </a:p>
          </p:txBody>
        </p:sp>
        <p:sp>
          <p:nvSpPr>
            <p:cNvPr id="80" name="Rectangle 80"/>
            <p:cNvSpPr/>
            <p:nvPr/>
          </p:nvSpPr>
          <p:spPr>
            <a:xfrm>
              <a:off x="4686300" y="3657600"/>
              <a:ext cx="2019300" cy="952500"/>
            </a:xfrm>
            <a:prstGeom prst="roundRect">
              <a:avLst>
                <a:gd name="adj" fmla="val 9000"/>
              </a:avLst>
            </a:prstGeom>
            <a:solidFill>
              <a:srgbClr val="FFFFFF"/>
            </a:solidFill>
            <a:ln w="9525">
              <a:solidFill>
                <a:srgbClr val="E6D9C0"/>
              </a:solidFill>
            </a:ln>
          </p:spPr>
        </p:sp>
        <p:sp>
          <p:nvSpPr>
            <p:cNvPr id="81" name="Ellipse 81"/>
            <p:cNvSpPr/>
            <p:nvPr/>
          </p:nvSpPr>
          <p:spPr>
            <a:xfrm>
              <a:off x="4800600" y="3771900"/>
              <a:ext cx="342900" cy="342900"/>
            </a:xfrm>
            <a:prstGeom prst="ellipse">
              <a:avLst/>
            </a:prstGeom>
            <a:solidFill>
              <a:srgbClr val="A3381F"/>
            </a:solidFill>
            <a:ln>
              <a:noFill/>
            </a:ln>
          </p:spPr>
        </p:sp>
        <p:grpSp>
          <p:nvGrpSpPr>
            <p:cNvPr id="87" name="Group 87"/>
            <p:cNvGrpSpPr/>
            <p:nvPr/>
          </p:nvGrpSpPr>
          <p:grpSpPr>
            <a:xfrm>
              <a:off x="4900612" y="3870849"/>
              <a:ext cx="142875" cy="143938"/>
              <a:chOff x="4900612" y="3870849"/>
              <a:chExt cx="142875" cy="143938"/>
            </a:xfrm>
          </p:grpSpPr>
          <p:sp>
            <p:nvSpPr>
              <p:cNvPr id="82" name="Freeform 82"/>
              <p:cNvSpPr/>
              <p:nvPr/>
            </p:nvSpPr>
            <p:spPr>
              <a:xfrm>
                <a:off x="4948237" y="393541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FFFFFF"/>
                </a:solidFill>
              </a:ln>
            </p:spPr>
          </p:sp>
          <p:sp>
            <p:nvSpPr>
              <p:cNvPr id="83" name="Freeform 83"/>
              <p:cNvSpPr/>
              <p:nvPr/>
            </p:nvSpPr>
            <p:spPr>
              <a:xfrm>
                <a:off x="4948237" y="395922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FFFFFF"/>
                </a:solidFill>
              </a:ln>
            </p:spPr>
          </p:sp>
          <p:sp>
            <p:nvSpPr>
              <p:cNvPr id="84" name="Freeform 84"/>
              <p:cNvSpPr/>
              <p:nvPr/>
            </p:nvSpPr>
            <p:spPr>
              <a:xfrm>
                <a:off x="4900612" y="387084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FFFFFF"/>
                </a:solidFill>
              </a:ln>
            </p:spPr>
          </p:sp>
          <p:sp>
            <p:nvSpPr>
              <p:cNvPr id="85" name="Freeform 85"/>
              <p:cNvSpPr/>
              <p:nvPr/>
            </p:nvSpPr>
            <p:spPr>
              <a:xfrm>
                <a:off x="4900612" y="389572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FFFFFF"/>
                </a:solidFill>
              </a:ln>
            </p:spPr>
          </p:sp>
          <p:sp>
            <p:nvSpPr>
              <p:cNvPr id="86" name="Freeform 86"/>
              <p:cNvSpPr/>
              <p:nvPr/>
            </p:nvSpPr>
            <p:spPr>
              <a:xfrm>
                <a:off x="4900612" y="393541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FFFFFF"/>
                </a:solidFill>
              </a:ln>
            </p:spPr>
          </p:sp>
        </p:grpSp>
        <p:sp>
          <p:nvSpPr>
            <p:cNvPr id="88" name="TextBox 88"/>
            <p:cNvSpPr txBox="1"/>
            <p:nvPr/>
          </p:nvSpPr>
          <p:spPr>
            <a:xfrm>
              <a:off x="5214747" y="3885724"/>
              <a:ext cx="669544" cy="190690"/>
            </a:xfrm>
            <a:prstGeom prst="rect">
              <a:avLst/>
            </a:prstGeom>
            <a:noFill/>
            <a:ln>
              <a:noFill/>
            </a:ln>
          </p:spPr>
          <p:txBody>
            <a:bodyPr wrap="none" lIns="0" tIns="0" rIns="0" bIns="0" anchor="t" anchorCtr="0">
              <a:spAutoFit/>
            </a:bodyPr>
            <a:lstStyle/>
            <a:p>
              <a:pPr algn="l"/>
              <a:r>
                <a:rPr lang="zh-CN" sz="980" b="1" dirty="0">
                  <a:solidFill>
                    <a:srgbClr val="A3381F"/>
                  </a:solidFill>
                  <a:latin typeface="+mn-lt"/>
                  <a:ea typeface="+mn-ea"/>
                  <a:cs typeface="+mn-cs"/>
                </a:rPr>
                <a:t>积分兑换制</a:t>
              </a:r>
            </a:p>
          </p:txBody>
        </p:sp>
        <p:sp>
          <p:nvSpPr>
            <p:cNvPr id="89" name="TextBox 89"/>
            <p:cNvSpPr txBox="1"/>
            <p:nvPr/>
          </p:nvSpPr>
          <p:spPr>
            <a:xfrm>
              <a:off x="4833938" y="4190286"/>
              <a:ext cx="821055"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4A4A4A"/>
                  </a:solidFill>
                  <a:latin typeface="+mn-lt"/>
                  <a:ea typeface="+mn-ea"/>
                  <a:cs typeface="+mn-cs"/>
                </a:rPr>
                <a:t>积分兑换，按需选择</a:t>
              </a:r>
              <a:br/>
              <a:r>
                <a:rPr lang="zh-CN" sz="710" dirty="0">
                  <a:solidFill>
                    <a:srgbClr val="4A4A4A"/>
                  </a:solidFill>
                  <a:latin typeface="+mn-lt"/>
                  <a:ea typeface="+mn-ea"/>
                  <a:cs typeface="+mn-cs"/>
                </a:rPr>
                <a:t>激励贡献，灵活配置</a:t>
              </a:r>
            </a:p>
          </p:txBody>
        </p:sp>
        <p:sp>
          <p:nvSpPr>
            <p:cNvPr id="90" name="Rectangle 90"/>
            <p:cNvSpPr/>
            <p:nvPr/>
          </p:nvSpPr>
          <p:spPr>
            <a:xfrm>
              <a:off x="6838950" y="3657600"/>
              <a:ext cx="2019300" cy="952500"/>
            </a:xfrm>
            <a:prstGeom prst="roundRect">
              <a:avLst>
                <a:gd name="adj" fmla="val 9000"/>
              </a:avLst>
            </a:prstGeom>
            <a:solidFill>
              <a:srgbClr val="FFFFFF"/>
            </a:solidFill>
            <a:ln w="9525">
              <a:solidFill>
                <a:srgbClr val="E6D9C0"/>
              </a:solidFill>
            </a:ln>
          </p:spPr>
        </p:sp>
        <p:sp>
          <p:nvSpPr>
            <p:cNvPr id="91" name="Ellipse 91"/>
            <p:cNvSpPr/>
            <p:nvPr/>
          </p:nvSpPr>
          <p:spPr>
            <a:xfrm>
              <a:off x="6953250" y="3771900"/>
              <a:ext cx="342900" cy="342900"/>
            </a:xfrm>
            <a:prstGeom prst="ellipse">
              <a:avLst/>
            </a:prstGeom>
            <a:solidFill>
              <a:srgbClr val="C26D5E"/>
            </a:solidFill>
            <a:ln>
              <a:noFill/>
            </a:ln>
          </p:spPr>
        </p:sp>
        <p:grpSp>
          <p:nvGrpSpPr>
            <p:cNvPr id="94" name="Group 94"/>
            <p:cNvGrpSpPr/>
            <p:nvPr/>
          </p:nvGrpSpPr>
          <p:grpSpPr>
            <a:xfrm>
              <a:off x="7053262" y="3871912"/>
              <a:ext cx="142875" cy="142875"/>
              <a:chOff x="7053262" y="3871912"/>
              <a:chExt cx="142875" cy="142875"/>
            </a:xfrm>
          </p:grpSpPr>
          <p:sp>
            <p:nvSpPr>
              <p:cNvPr id="92" name="Freeform 92"/>
              <p:cNvSpPr/>
              <p:nvPr/>
            </p:nvSpPr>
            <p:spPr>
              <a:xfrm>
                <a:off x="7053262" y="38719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sp>
            <p:nvSpPr>
              <p:cNvPr id="93" name="Freeform 93"/>
              <p:cNvSpPr/>
              <p:nvPr/>
            </p:nvSpPr>
            <p:spPr>
              <a:xfrm>
                <a:off x="7100887" y="3927475"/>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95" name="TextBox 95"/>
            <p:cNvSpPr txBox="1"/>
            <p:nvPr/>
          </p:nvSpPr>
          <p:spPr>
            <a:xfrm>
              <a:off x="7367397" y="3885724"/>
              <a:ext cx="669544" cy="190690"/>
            </a:xfrm>
            <a:prstGeom prst="rect">
              <a:avLst/>
            </a:prstGeom>
            <a:noFill/>
            <a:ln>
              <a:noFill/>
            </a:ln>
          </p:spPr>
          <p:txBody>
            <a:bodyPr wrap="none" lIns="0" tIns="0" rIns="0" bIns="0" anchor="t" anchorCtr="0">
              <a:spAutoFit/>
            </a:bodyPr>
            <a:lstStyle/>
            <a:p>
              <a:pPr algn="l"/>
              <a:r>
                <a:rPr lang="zh-CN" sz="980" b="1" dirty="0">
                  <a:solidFill>
                    <a:srgbClr val="A3381F"/>
                  </a:solidFill>
                  <a:latin typeface="+mn-lt"/>
                  <a:ea typeface="+mn-ea"/>
                  <a:cs typeface="+mn-cs"/>
                </a:rPr>
                <a:t>达标解锁制</a:t>
              </a:r>
            </a:p>
          </p:txBody>
        </p:sp>
        <p:sp>
          <p:nvSpPr>
            <p:cNvPr id="96" name="TextBox 96"/>
            <p:cNvSpPr txBox="1"/>
            <p:nvPr/>
          </p:nvSpPr>
          <p:spPr>
            <a:xfrm>
              <a:off x="6986588" y="4190286"/>
              <a:ext cx="821055"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4A4A4A"/>
                  </a:solidFill>
                  <a:latin typeface="+mn-lt"/>
                  <a:ea typeface="+mn-ea"/>
                  <a:cs typeface="+mn-cs"/>
                </a:rPr>
                <a:t>达标解锁，阶梯释放</a:t>
              </a:r>
              <a:br/>
              <a:r>
                <a:rPr lang="zh-CN" sz="710" dirty="0">
                  <a:solidFill>
                    <a:srgbClr val="4A4A4A"/>
                  </a:solidFill>
                  <a:latin typeface="+mn-lt"/>
                  <a:ea typeface="+mn-ea"/>
                  <a:cs typeface="+mn-cs"/>
                </a:rPr>
                <a:t>引导行为，促进升级</a:t>
              </a:r>
            </a:p>
          </p:txBody>
        </p:sp>
      </p:grpSp>
      <p:grpSp>
        <p:nvGrpSpPr>
          <p:cNvPr id="152" name="mgmt-chain"/>
          <p:cNvGrpSpPr/>
          <p:nvPr/>
        </p:nvGrpSpPr>
        <p:grpSpPr>
          <a:xfrm>
            <a:off x="381000" y="4743450"/>
            <a:ext cx="8477250" cy="1905000"/>
            <a:chOff x="381000" y="4743450"/>
            <a:chExt cx="8477250" cy="1905000"/>
          </a:xfrm>
        </p:grpSpPr>
        <p:sp>
          <p:nvSpPr>
            <p:cNvPr id="98" name="Rectangle 98"/>
            <p:cNvSpPr/>
            <p:nvPr/>
          </p:nvSpPr>
          <p:spPr>
            <a:xfrm>
              <a:off x="381000" y="4743450"/>
              <a:ext cx="8477250" cy="1905000"/>
            </a:xfrm>
            <a:prstGeom prst="roundRect">
              <a:avLst>
                <a:gd name="adj" fmla="val 5000"/>
              </a:avLst>
            </a:prstGeom>
            <a:solidFill>
              <a:srgbClr val="FFFFFF"/>
            </a:solidFill>
            <a:ln w="9525">
              <a:solidFill>
                <a:srgbClr val="E6D9C0"/>
              </a:solidFill>
            </a:ln>
          </p:spPr>
        </p:sp>
        <p:sp>
          <p:nvSpPr>
            <p:cNvPr id="99" name="Rectangle 99"/>
            <p:cNvSpPr/>
            <p:nvPr/>
          </p:nvSpPr>
          <p:spPr>
            <a:xfrm>
              <a:off x="533400" y="4857750"/>
              <a:ext cx="38100" cy="152400"/>
            </a:xfrm>
            <a:prstGeom prst="rect">
              <a:avLst/>
            </a:prstGeom>
            <a:solidFill>
              <a:srgbClr val="A3381F"/>
            </a:solidFill>
            <a:ln>
              <a:noFill/>
            </a:ln>
          </p:spPr>
        </p:sp>
        <p:sp>
          <p:nvSpPr>
            <p:cNvPr id="100" name="TextBox 100"/>
            <p:cNvSpPr txBox="1"/>
            <p:nvPr/>
          </p:nvSpPr>
          <p:spPr>
            <a:xfrm>
              <a:off x="642747" y="4876324"/>
              <a:ext cx="537616" cy="190690"/>
            </a:xfrm>
            <a:prstGeom prst="rect">
              <a:avLst/>
            </a:prstGeom>
            <a:noFill/>
            <a:ln>
              <a:noFill/>
            </a:ln>
          </p:spPr>
          <p:txBody>
            <a:bodyPr wrap="none" lIns="0" tIns="0" rIns="0" bIns="0" anchor="t" anchorCtr="0">
              <a:spAutoFit/>
            </a:bodyPr>
            <a:lstStyle/>
            <a:p>
              <a:pPr algn="l"/>
              <a:r>
                <a:rPr lang="zh-CN" sz="980" b="1" dirty="0">
                  <a:solidFill>
                    <a:srgbClr val="A3381F"/>
                  </a:solidFill>
                  <a:latin typeface="+mn-lt"/>
                  <a:ea typeface="+mn-ea"/>
                  <a:cs typeface="+mn-cs"/>
                </a:rPr>
                <a:t>管理链路</a:t>
              </a:r>
            </a:p>
          </p:txBody>
        </p:sp>
        <p:sp>
          <p:nvSpPr>
            <p:cNvPr id="101" name="Line 101"/>
            <p:cNvSpPr/>
            <p:nvPr/>
          </p:nvSpPr>
          <p:spPr>
            <a:xfrm>
              <a:off x="952500" y="5410200"/>
              <a:ext cx="7096125" cy="9525"/>
            </a:xfrm>
            <a:custGeom>
              <a:avLst/>
              <a:gdLst/>
              <a:ahLst/>
              <a:cxnLst/>
              <a:rect l="l" t="t" r="r" b="b"/>
              <a:pathLst>
                <a:path w="7096125" h="9525">
                  <a:moveTo>
                    <a:pt x="0" y="0"/>
                  </a:moveTo>
                  <a:lnTo>
                    <a:pt x="7096125" y="0"/>
                  </a:lnTo>
                </a:path>
              </a:pathLst>
            </a:custGeom>
            <a:noFill/>
            <a:ln w="14288">
              <a:solidFill>
                <a:srgbClr val="C26D5E"/>
              </a:solidFill>
            </a:ln>
          </p:spPr>
        </p:sp>
        <p:sp>
          <p:nvSpPr>
            <p:cNvPr id="102" name="Rectangle 102"/>
            <p:cNvSpPr/>
            <p:nvPr/>
          </p:nvSpPr>
          <p:spPr>
            <a:xfrm>
              <a:off x="533400" y="5105400"/>
              <a:ext cx="857250" cy="609600"/>
            </a:xfrm>
            <a:prstGeom prst="roundRect">
              <a:avLst>
                <a:gd name="adj" fmla="val 12500"/>
              </a:avLst>
            </a:prstGeom>
            <a:solidFill>
              <a:srgbClr val="FBF7EF"/>
            </a:solidFill>
            <a:ln w="9525">
              <a:solidFill>
                <a:srgbClr val="E6D9C0"/>
              </a:solidFill>
            </a:ln>
          </p:spPr>
        </p:sp>
        <p:grpSp>
          <p:nvGrpSpPr>
            <p:cNvPr id="107" name="Group 107"/>
            <p:cNvGrpSpPr/>
            <p:nvPr/>
          </p:nvGrpSpPr>
          <p:grpSpPr>
            <a:xfrm>
              <a:off x="892175" y="5207794"/>
              <a:ext cx="139701" cy="157162"/>
              <a:chOff x="892175" y="5207794"/>
              <a:chExt cx="139701" cy="157162"/>
            </a:xfrm>
          </p:grpSpPr>
          <p:sp>
            <p:nvSpPr>
              <p:cNvPr id="103" name="Freeform 103"/>
              <p:cNvSpPr/>
              <p:nvPr/>
            </p:nvSpPr>
            <p:spPr>
              <a:xfrm>
                <a:off x="892175" y="53300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3381F"/>
                </a:solidFill>
              </a:ln>
            </p:spPr>
          </p:sp>
          <p:sp>
            <p:nvSpPr>
              <p:cNvPr id="104" name="Freeform 104"/>
              <p:cNvSpPr/>
              <p:nvPr/>
            </p:nvSpPr>
            <p:spPr>
              <a:xfrm>
                <a:off x="988219" y="53300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3381F"/>
                </a:solidFill>
              </a:ln>
            </p:spPr>
          </p:sp>
          <p:sp>
            <p:nvSpPr>
              <p:cNvPr id="105" name="Freeform 105"/>
              <p:cNvSpPr/>
              <p:nvPr/>
            </p:nvSpPr>
            <p:spPr>
              <a:xfrm>
                <a:off x="892175" y="5207794"/>
                <a:ext cx="113506" cy="122238"/>
              </a:xfrm>
              <a:custGeom>
                <a:avLst/>
                <a:gdLst/>
                <a:ahLst/>
                <a:cxnLst/>
                <a:rect l="l" t="t" r="r" b="b"/>
                <a:pathLst>
                  <a:path w="113506" h="122238">
                    <a:moveTo>
                      <a:pt x="113506" y="122238"/>
                    </a:moveTo>
                    <a:lnTo>
                      <a:pt x="17463" y="122238"/>
                    </a:lnTo>
                    <a:lnTo>
                      <a:pt x="17463" y="0"/>
                    </a:lnTo>
                    <a:lnTo>
                      <a:pt x="0" y="0"/>
                    </a:lnTo>
                  </a:path>
                </a:pathLst>
              </a:custGeom>
              <a:noFill/>
              <a:ln w="17463">
                <a:solidFill>
                  <a:srgbClr val="A3381F"/>
                </a:solidFill>
              </a:ln>
            </p:spPr>
          </p:sp>
          <p:sp>
            <p:nvSpPr>
              <p:cNvPr id="106" name="Freeform 106"/>
              <p:cNvSpPr/>
              <p:nvPr/>
            </p:nvSpPr>
            <p:spPr>
              <a:xfrm>
                <a:off x="909638" y="5225256"/>
                <a:ext cx="122238" cy="69850"/>
              </a:xfrm>
              <a:custGeom>
                <a:avLst/>
                <a:gdLst/>
                <a:ahLst/>
                <a:cxnLst/>
                <a:rect l="l" t="t" r="r" b="b"/>
                <a:pathLst>
                  <a:path w="122238" h="69850">
                    <a:moveTo>
                      <a:pt x="0" y="0"/>
                    </a:moveTo>
                    <a:lnTo>
                      <a:pt x="122238" y="8731"/>
                    </a:lnTo>
                    <a:lnTo>
                      <a:pt x="113506" y="69850"/>
                    </a:lnTo>
                    <a:lnTo>
                      <a:pt x="0" y="69850"/>
                    </a:lnTo>
                  </a:path>
                </a:pathLst>
              </a:custGeom>
              <a:noFill/>
              <a:ln w="17463">
                <a:solidFill>
                  <a:srgbClr val="A3381F"/>
                </a:solidFill>
              </a:ln>
            </p:spPr>
          </p:sp>
        </p:grpSp>
        <p:sp>
          <p:nvSpPr>
            <p:cNvPr id="108" name="TextBox 108"/>
            <p:cNvSpPr txBox="1"/>
            <p:nvPr/>
          </p:nvSpPr>
          <p:spPr>
            <a:xfrm>
              <a:off x="856298" y="5538788"/>
              <a:ext cx="211455" cy="147638"/>
            </a:xfrm>
            <a:prstGeom prst="rect">
              <a:avLst/>
            </a:prstGeom>
            <a:noFill/>
            <a:ln>
              <a:noFill/>
            </a:ln>
          </p:spPr>
          <p:txBody>
            <a:bodyPr wrap="none" lIns="0" tIns="0" rIns="0" bIns="0" anchor="t" anchorCtr="0">
              <a:spAutoFit/>
            </a:bodyPr>
            <a:lstStyle/>
            <a:p>
              <a:pPr algn="ctr"/>
              <a:r>
                <a:rPr lang="zh-CN" sz="750" b="1" dirty="0">
                  <a:solidFill>
                    <a:srgbClr val="5E3A33"/>
                  </a:solidFill>
                  <a:latin typeface="+mn-lt"/>
                  <a:ea typeface="+mn-ea"/>
                  <a:cs typeface="+mn-cs"/>
                </a:rPr>
                <a:t>采购</a:t>
              </a:r>
            </a:p>
          </p:txBody>
        </p:sp>
        <p:sp>
          <p:nvSpPr>
            <p:cNvPr id="109" name="Rectangle 109"/>
            <p:cNvSpPr/>
            <p:nvPr/>
          </p:nvSpPr>
          <p:spPr>
            <a:xfrm>
              <a:off x="1543050" y="5105400"/>
              <a:ext cx="857250" cy="609600"/>
            </a:xfrm>
            <a:prstGeom prst="roundRect">
              <a:avLst>
                <a:gd name="adj" fmla="val 12500"/>
              </a:avLst>
            </a:prstGeom>
            <a:solidFill>
              <a:srgbClr val="FBF7EF"/>
            </a:solidFill>
            <a:ln w="9525">
              <a:solidFill>
                <a:srgbClr val="E6D9C0"/>
              </a:solidFill>
            </a:ln>
          </p:spPr>
        </p:sp>
        <p:grpSp>
          <p:nvGrpSpPr>
            <p:cNvPr id="113" name="Group 113"/>
            <p:cNvGrpSpPr/>
            <p:nvPr/>
          </p:nvGrpSpPr>
          <p:grpSpPr>
            <a:xfrm>
              <a:off x="1919288" y="5207794"/>
              <a:ext cx="130969" cy="157163"/>
              <a:chOff x="1919288" y="5207794"/>
              <a:chExt cx="130969" cy="157163"/>
            </a:xfrm>
          </p:grpSpPr>
          <p:sp>
            <p:nvSpPr>
              <p:cNvPr id="110" name="Freeform 110"/>
              <p:cNvSpPr/>
              <p:nvPr/>
            </p:nvSpPr>
            <p:spPr>
              <a:xfrm>
                <a:off x="1936750" y="52077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A24B3C"/>
                </a:solidFill>
              </a:ln>
            </p:spPr>
          </p:sp>
          <p:sp>
            <p:nvSpPr>
              <p:cNvPr id="111" name="Freeform 111"/>
              <p:cNvSpPr/>
              <p:nvPr/>
            </p:nvSpPr>
            <p:spPr>
              <a:xfrm>
                <a:off x="1919288" y="53125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A24B3C"/>
                </a:solidFill>
              </a:ln>
            </p:spPr>
          </p:sp>
          <p:sp>
            <p:nvSpPr>
              <p:cNvPr id="112" name="Freeform 112"/>
              <p:cNvSpPr/>
              <p:nvPr/>
            </p:nvSpPr>
            <p:spPr>
              <a:xfrm>
                <a:off x="1997869" y="5330031"/>
                <a:ext cx="52388" cy="34925"/>
              </a:xfrm>
              <a:custGeom>
                <a:avLst/>
                <a:gdLst/>
                <a:ahLst/>
                <a:cxnLst/>
                <a:rect l="l" t="t" r="r" b="b"/>
                <a:pathLst>
                  <a:path w="52388" h="34925">
                    <a:moveTo>
                      <a:pt x="0" y="17463"/>
                    </a:moveTo>
                    <a:lnTo>
                      <a:pt x="17463" y="34925"/>
                    </a:lnTo>
                    <a:lnTo>
                      <a:pt x="52388" y="0"/>
                    </a:lnTo>
                  </a:path>
                </a:pathLst>
              </a:custGeom>
              <a:noFill/>
              <a:ln w="17463">
                <a:solidFill>
                  <a:srgbClr val="A24B3C"/>
                </a:solidFill>
              </a:ln>
            </p:spPr>
          </p:sp>
        </p:grpSp>
        <p:sp>
          <p:nvSpPr>
            <p:cNvPr id="114" name="TextBox 114"/>
            <p:cNvSpPr txBox="1"/>
            <p:nvPr/>
          </p:nvSpPr>
          <p:spPr>
            <a:xfrm>
              <a:off x="1714500" y="5538788"/>
              <a:ext cx="514350" cy="147638"/>
            </a:xfrm>
            <a:prstGeom prst="rect">
              <a:avLst/>
            </a:prstGeom>
            <a:noFill/>
            <a:ln>
              <a:noFill/>
            </a:ln>
          </p:spPr>
          <p:txBody>
            <a:bodyPr wrap="none" lIns="0" tIns="0" rIns="0" bIns="0" anchor="t" anchorCtr="0">
              <a:spAutoFit/>
            </a:bodyPr>
            <a:lstStyle/>
            <a:p>
              <a:pPr algn="ctr"/>
              <a:r>
                <a:rPr lang="zh-CN" sz="750" b="1" dirty="0">
                  <a:solidFill>
                    <a:srgbClr val="5E3A33"/>
                  </a:solidFill>
                  <a:latin typeface="+mn-lt"/>
                  <a:ea typeface="+mn-ea"/>
                  <a:cs typeface="+mn-cs"/>
                </a:rPr>
                <a:t>供应商准入</a:t>
              </a:r>
            </a:p>
          </p:txBody>
        </p:sp>
        <p:sp>
          <p:nvSpPr>
            <p:cNvPr id="115" name="Rectangle 115"/>
            <p:cNvSpPr/>
            <p:nvPr/>
          </p:nvSpPr>
          <p:spPr>
            <a:xfrm>
              <a:off x="2552700" y="5105400"/>
              <a:ext cx="857250" cy="609600"/>
            </a:xfrm>
            <a:prstGeom prst="roundRect">
              <a:avLst>
                <a:gd name="adj" fmla="val 12500"/>
              </a:avLst>
            </a:prstGeom>
            <a:solidFill>
              <a:srgbClr val="FBF7EF"/>
            </a:solidFill>
            <a:ln w="9525">
              <a:solidFill>
                <a:srgbClr val="E6D9C0"/>
              </a:solidFill>
            </a:ln>
          </p:spPr>
        </p:sp>
        <p:grpSp>
          <p:nvGrpSpPr>
            <p:cNvPr id="119" name="Group 119"/>
            <p:cNvGrpSpPr/>
            <p:nvPr/>
          </p:nvGrpSpPr>
          <p:grpSpPr>
            <a:xfrm>
              <a:off x="2911475" y="5207794"/>
              <a:ext cx="139700" cy="157162"/>
              <a:chOff x="2911475" y="5207794"/>
              <a:chExt cx="139700" cy="157162"/>
            </a:xfrm>
          </p:grpSpPr>
          <p:sp>
            <p:nvSpPr>
              <p:cNvPr id="116" name="Freeform 116"/>
              <p:cNvSpPr/>
              <p:nvPr/>
            </p:nvSpPr>
            <p:spPr>
              <a:xfrm>
                <a:off x="2911475" y="52077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A3381F"/>
                </a:solidFill>
              </a:ln>
            </p:spPr>
          </p:sp>
          <p:sp>
            <p:nvSpPr>
              <p:cNvPr id="117" name="Freeform 117"/>
              <p:cNvSpPr/>
              <p:nvPr/>
            </p:nvSpPr>
            <p:spPr>
              <a:xfrm>
                <a:off x="2911475" y="52339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A3381F"/>
                </a:solidFill>
              </a:ln>
            </p:spPr>
          </p:sp>
          <p:sp>
            <p:nvSpPr>
              <p:cNvPr id="118" name="Freeform 118"/>
              <p:cNvSpPr/>
              <p:nvPr/>
            </p:nvSpPr>
            <p:spPr>
              <a:xfrm>
                <a:off x="2911475" y="52863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A3381F"/>
                </a:solidFill>
              </a:ln>
            </p:spPr>
          </p:sp>
        </p:grpSp>
        <p:sp>
          <p:nvSpPr>
            <p:cNvPr id="120" name="TextBox 120"/>
            <p:cNvSpPr txBox="1"/>
            <p:nvPr/>
          </p:nvSpPr>
          <p:spPr>
            <a:xfrm>
              <a:off x="2875598" y="5538788"/>
              <a:ext cx="211455" cy="147638"/>
            </a:xfrm>
            <a:prstGeom prst="rect">
              <a:avLst/>
            </a:prstGeom>
            <a:noFill/>
            <a:ln>
              <a:noFill/>
            </a:ln>
          </p:spPr>
          <p:txBody>
            <a:bodyPr wrap="none" lIns="0" tIns="0" rIns="0" bIns="0" anchor="t" anchorCtr="0">
              <a:spAutoFit/>
            </a:bodyPr>
            <a:lstStyle/>
            <a:p>
              <a:pPr algn="ctr"/>
              <a:r>
                <a:rPr lang="zh-CN" sz="750" b="1" dirty="0">
                  <a:solidFill>
                    <a:srgbClr val="5E3A33"/>
                  </a:solidFill>
                  <a:latin typeface="+mn-lt"/>
                  <a:ea typeface="+mn-ea"/>
                  <a:cs typeface="+mn-cs"/>
                </a:rPr>
                <a:t>库存</a:t>
              </a:r>
            </a:p>
          </p:txBody>
        </p:sp>
        <p:sp>
          <p:nvSpPr>
            <p:cNvPr id="121" name="Rectangle 121"/>
            <p:cNvSpPr/>
            <p:nvPr/>
          </p:nvSpPr>
          <p:spPr>
            <a:xfrm>
              <a:off x="3562350" y="5105400"/>
              <a:ext cx="857250" cy="609600"/>
            </a:xfrm>
            <a:prstGeom prst="roundRect">
              <a:avLst>
                <a:gd name="adj" fmla="val 12500"/>
              </a:avLst>
            </a:prstGeom>
            <a:solidFill>
              <a:srgbClr val="FBF7EF"/>
            </a:solidFill>
            <a:ln w="9525">
              <a:solidFill>
                <a:srgbClr val="E6D9C0"/>
              </a:solidFill>
            </a:ln>
          </p:spPr>
        </p:sp>
        <p:grpSp>
          <p:nvGrpSpPr>
            <p:cNvPr id="126" name="Group 126"/>
            <p:cNvGrpSpPr/>
            <p:nvPr/>
          </p:nvGrpSpPr>
          <p:grpSpPr>
            <a:xfrm>
              <a:off x="3912394" y="5207493"/>
              <a:ext cx="157163" cy="157463"/>
              <a:chOff x="3912394" y="5207493"/>
              <a:chExt cx="157163" cy="157463"/>
            </a:xfrm>
          </p:grpSpPr>
          <p:sp>
            <p:nvSpPr>
              <p:cNvPr id="122" name="Freeform 122"/>
              <p:cNvSpPr/>
              <p:nvPr/>
            </p:nvSpPr>
            <p:spPr>
              <a:xfrm>
                <a:off x="3912394" y="5251450"/>
                <a:ext cx="157163" cy="34925"/>
              </a:xfrm>
              <a:custGeom>
                <a:avLst/>
                <a:gdLst/>
                <a:ahLst/>
                <a:cxnLst/>
                <a:rect l="l" t="t" r="r" b="b"/>
                <a:pathLst>
                  <a:path w="157163" h="34925">
                    <a:moveTo>
                      <a:pt x="0" y="8731"/>
                    </a:moveTo>
                    <a:cubicBezTo>
                      <a:pt x="0" y="3909"/>
                      <a:pt x="3909" y="0"/>
                      <a:pt x="8731" y="0"/>
                    </a:cubicBezTo>
                    <a:lnTo>
                      <a:pt x="148431" y="0"/>
                    </a:lnTo>
                    <a:cubicBezTo>
                      <a:pt x="153253" y="0"/>
                      <a:pt x="157163" y="3909"/>
                      <a:pt x="157163" y="8731"/>
                    </a:cubicBezTo>
                    <a:lnTo>
                      <a:pt x="157163" y="26194"/>
                    </a:lnTo>
                    <a:cubicBezTo>
                      <a:pt x="157163" y="31016"/>
                      <a:pt x="153253" y="34925"/>
                      <a:pt x="148431" y="34925"/>
                    </a:cubicBezTo>
                    <a:lnTo>
                      <a:pt x="8731" y="34925"/>
                    </a:lnTo>
                    <a:cubicBezTo>
                      <a:pt x="3909" y="34925"/>
                      <a:pt x="0" y="31016"/>
                      <a:pt x="0" y="26194"/>
                    </a:cubicBezTo>
                    <a:lnTo>
                      <a:pt x="0" y="8731"/>
                    </a:lnTo>
                  </a:path>
                </a:pathLst>
              </a:custGeom>
              <a:noFill/>
              <a:ln w="17463">
                <a:solidFill>
                  <a:srgbClr val="A24B3C"/>
                </a:solidFill>
              </a:ln>
            </p:spPr>
          </p:sp>
          <p:sp>
            <p:nvSpPr>
              <p:cNvPr id="123" name="Freeform 123"/>
              <p:cNvSpPr/>
              <p:nvPr/>
            </p:nvSpPr>
            <p:spPr>
              <a:xfrm>
                <a:off x="3990975" y="5251450"/>
                <a:ext cx="9525" cy="113506"/>
              </a:xfrm>
              <a:custGeom>
                <a:avLst/>
                <a:gdLst/>
                <a:ahLst/>
                <a:cxnLst/>
                <a:rect l="l" t="t" r="r" b="b"/>
                <a:pathLst>
                  <a:path w="9525" h="113506">
                    <a:moveTo>
                      <a:pt x="0" y="0"/>
                    </a:moveTo>
                    <a:lnTo>
                      <a:pt x="0" y="113506"/>
                    </a:lnTo>
                  </a:path>
                </a:pathLst>
              </a:custGeom>
              <a:noFill/>
              <a:ln w="17463">
                <a:solidFill>
                  <a:srgbClr val="A24B3C"/>
                </a:solidFill>
              </a:ln>
            </p:spPr>
          </p:sp>
          <p:sp>
            <p:nvSpPr>
              <p:cNvPr id="124" name="Freeform 124"/>
              <p:cNvSpPr/>
              <p:nvPr/>
            </p:nvSpPr>
            <p:spPr>
              <a:xfrm>
                <a:off x="3929856" y="5286375"/>
                <a:ext cx="122238" cy="78581"/>
              </a:xfrm>
              <a:custGeom>
                <a:avLst/>
                <a:gdLst/>
                <a:ahLst/>
                <a:cxnLst/>
                <a:rect l="l" t="t" r="r" b="b"/>
                <a:pathLst>
                  <a:path w="122238" h="78581">
                    <a:moveTo>
                      <a:pt x="122238" y="0"/>
                    </a:moveTo>
                    <a:lnTo>
                      <a:pt x="122238" y="61119"/>
                    </a:lnTo>
                    <a:cubicBezTo>
                      <a:pt x="122238" y="70763"/>
                      <a:pt x="114419" y="78581"/>
                      <a:pt x="104775" y="78581"/>
                    </a:cubicBezTo>
                    <a:lnTo>
                      <a:pt x="17463" y="78581"/>
                    </a:lnTo>
                    <a:cubicBezTo>
                      <a:pt x="7818" y="78581"/>
                      <a:pt x="0" y="70763"/>
                      <a:pt x="0" y="61119"/>
                    </a:cubicBezTo>
                    <a:lnTo>
                      <a:pt x="0" y="0"/>
                    </a:lnTo>
                  </a:path>
                </a:pathLst>
              </a:custGeom>
              <a:noFill/>
              <a:ln w="17463">
                <a:solidFill>
                  <a:srgbClr val="A24B3C"/>
                </a:solidFill>
              </a:ln>
            </p:spPr>
          </p:sp>
          <p:sp>
            <p:nvSpPr>
              <p:cNvPr id="125" name="Freeform 125"/>
              <p:cNvSpPr/>
              <p:nvPr/>
            </p:nvSpPr>
            <p:spPr>
              <a:xfrm>
                <a:off x="3929856" y="5207493"/>
                <a:ext cx="122238" cy="43957"/>
              </a:xfrm>
              <a:custGeom>
                <a:avLst/>
                <a:gdLst/>
                <a:ahLst/>
                <a:cxnLst/>
                <a:rect l="l" t="t" r="r" b="b"/>
                <a:pathLst>
                  <a:path w="122238" h="43957">
                    <a:moveTo>
                      <a:pt x="21828" y="43957"/>
                    </a:moveTo>
                    <a:cubicBezTo>
                      <a:pt x="9773" y="43957"/>
                      <a:pt x="0" y="34184"/>
                      <a:pt x="0" y="22128"/>
                    </a:cubicBezTo>
                    <a:cubicBezTo>
                      <a:pt x="0" y="10073"/>
                      <a:pt x="9773" y="300"/>
                      <a:pt x="21828" y="300"/>
                    </a:cubicBezTo>
                    <a:cubicBezTo>
                      <a:pt x="39066" y="0"/>
                      <a:pt x="54655" y="17322"/>
                      <a:pt x="61119" y="43957"/>
                    </a:cubicBezTo>
                    <a:cubicBezTo>
                      <a:pt x="67582" y="17322"/>
                      <a:pt x="83172" y="0"/>
                      <a:pt x="100409" y="300"/>
                    </a:cubicBezTo>
                    <a:cubicBezTo>
                      <a:pt x="112465" y="300"/>
                      <a:pt x="122238" y="10073"/>
                      <a:pt x="122238" y="22128"/>
                    </a:cubicBezTo>
                    <a:cubicBezTo>
                      <a:pt x="122238" y="34184"/>
                      <a:pt x="112465" y="43957"/>
                      <a:pt x="100409" y="43957"/>
                    </a:cubicBezTo>
                  </a:path>
                </a:pathLst>
              </a:custGeom>
              <a:noFill/>
              <a:ln w="17463">
                <a:solidFill>
                  <a:srgbClr val="A24B3C"/>
                </a:solidFill>
              </a:ln>
            </p:spPr>
          </p:sp>
        </p:grpSp>
        <p:sp>
          <p:nvSpPr>
            <p:cNvPr id="127" name="TextBox 127"/>
            <p:cNvSpPr txBox="1"/>
            <p:nvPr/>
          </p:nvSpPr>
          <p:spPr>
            <a:xfrm>
              <a:off x="3885248" y="5538788"/>
              <a:ext cx="211455" cy="147638"/>
            </a:xfrm>
            <a:prstGeom prst="rect">
              <a:avLst/>
            </a:prstGeom>
            <a:noFill/>
            <a:ln>
              <a:noFill/>
            </a:ln>
          </p:spPr>
          <p:txBody>
            <a:bodyPr wrap="none" lIns="0" tIns="0" rIns="0" bIns="0" anchor="t" anchorCtr="0">
              <a:spAutoFit/>
            </a:bodyPr>
            <a:lstStyle/>
            <a:p>
              <a:pPr algn="ctr"/>
              <a:r>
                <a:rPr lang="zh-CN" sz="750" b="1" dirty="0">
                  <a:solidFill>
                    <a:srgbClr val="5E3A33"/>
                  </a:solidFill>
                  <a:latin typeface="+mn-lt"/>
                  <a:ea typeface="+mn-ea"/>
                  <a:cs typeface="+mn-cs"/>
                </a:rPr>
                <a:t>发放</a:t>
              </a:r>
            </a:p>
          </p:txBody>
        </p:sp>
        <p:sp>
          <p:nvSpPr>
            <p:cNvPr id="128" name="Rectangle 128"/>
            <p:cNvSpPr/>
            <p:nvPr/>
          </p:nvSpPr>
          <p:spPr>
            <a:xfrm>
              <a:off x="4572000" y="5105400"/>
              <a:ext cx="857250" cy="609600"/>
            </a:xfrm>
            <a:prstGeom prst="roundRect">
              <a:avLst>
                <a:gd name="adj" fmla="val 12500"/>
              </a:avLst>
            </a:prstGeom>
            <a:solidFill>
              <a:srgbClr val="FBF7EF"/>
            </a:solidFill>
            <a:ln w="9525">
              <a:solidFill>
                <a:srgbClr val="E6D9C0"/>
              </a:solidFill>
            </a:ln>
          </p:spPr>
        </p:sp>
        <p:grpSp>
          <p:nvGrpSpPr>
            <p:cNvPr id="135" name="Group 135"/>
            <p:cNvGrpSpPr/>
            <p:nvPr/>
          </p:nvGrpSpPr>
          <p:grpSpPr>
            <a:xfrm>
              <a:off x="4930775" y="5207794"/>
              <a:ext cx="139700" cy="157162"/>
              <a:chOff x="4930775" y="5207794"/>
              <a:chExt cx="139700" cy="157162"/>
            </a:xfrm>
          </p:grpSpPr>
          <p:sp>
            <p:nvSpPr>
              <p:cNvPr id="129" name="Freeform 129"/>
              <p:cNvSpPr/>
              <p:nvPr/>
            </p:nvSpPr>
            <p:spPr>
              <a:xfrm>
                <a:off x="4930775" y="5225256"/>
                <a:ext cx="139700" cy="139700"/>
              </a:xfrm>
              <a:custGeom>
                <a:avLst/>
                <a:gdLst/>
                <a:ahLst/>
                <a:cxnLst/>
                <a:rect l="l" t="t" r="r" b="b"/>
                <a:pathLst>
                  <a:path w="139700" h="139700">
                    <a:moveTo>
                      <a:pt x="0" y="17463"/>
                    </a:moveTo>
                    <a:cubicBezTo>
                      <a:pt x="0" y="7818"/>
                      <a:pt x="7818" y="0"/>
                      <a:pt x="17463" y="0"/>
                    </a:cubicBezTo>
                    <a:lnTo>
                      <a:pt x="122238" y="0"/>
                    </a:lnTo>
                    <a:cubicBezTo>
                      <a:pt x="131882" y="0"/>
                      <a:pt x="139700" y="7818"/>
                      <a:pt x="139700" y="17463"/>
                    </a:cubicBezTo>
                    <a:lnTo>
                      <a:pt x="139700" y="122238"/>
                    </a:lnTo>
                    <a:cubicBezTo>
                      <a:pt x="139700" y="131882"/>
                      <a:pt x="131882" y="139700"/>
                      <a:pt x="122238" y="139700"/>
                    </a:cubicBezTo>
                    <a:lnTo>
                      <a:pt x="17463" y="139700"/>
                    </a:lnTo>
                    <a:cubicBezTo>
                      <a:pt x="7818" y="139700"/>
                      <a:pt x="0" y="131882"/>
                      <a:pt x="0" y="122238"/>
                    </a:cubicBezTo>
                    <a:lnTo>
                      <a:pt x="0" y="17463"/>
                    </a:lnTo>
                  </a:path>
                </a:pathLst>
              </a:custGeom>
              <a:noFill/>
              <a:ln w="17463">
                <a:solidFill>
                  <a:srgbClr val="A3381F"/>
                </a:solidFill>
              </a:ln>
            </p:spPr>
          </p:sp>
          <p:sp>
            <p:nvSpPr>
              <p:cNvPr id="130" name="Freeform 130"/>
              <p:cNvSpPr/>
              <p:nvPr/>
            </p:nvSpPr>
            <p:spPr>
              <a:xfrm>
                <a:off x="5035550" y="5207794"/>
                <a:ext cx="9525" cy="34925"/>
              </a:xfrm>
              <a:custGeom>
                <a:avLst/>
                <a:gdLst/>
                <a:ahLst/>
                <a:cxnLst/>
                <a:rect l="l" t="t" r="r" b="b"/>
                <a:pathLst>
                  <a:path w="9525" h="34925">
                    <a:moveTo>
                      <a:pt x="0" y="0"/>
                    </a:moveTo>
                    <a:lnTo>
                      <a:pt x="0" y="34925"/>
                    </a:lnTo>
                  </a:path>
                </a:pathLst>
              </a:custGeom>
              <a:noFill/>
              <a:ln w="17463">
                <a:solidFill>
                  <a:srgbClr val="A3381F"/>
                </a:solidFill>
              </a:ln>
            </p:spPr>
          </p:sp>
          <p:sp>
            <p:nvSpPr>
              <p:cNvPr id="131" name="Freeform 131"/>
              <p:cNvSpPr/>
              <p:nvPr/>
            </p:nvSpPr>
            <p:spPr>
              <a:xfrm>
                <a:off x="4965700" y="5207794"/>
                <a:ext cx="9525" cy="34925"/>
              </a:xfrm>
              <a:custGeom>
                <a:avLst/>
                <a:gdLst/>
                <a:ahLst/>
                <a:cxnLst/>
                <a:rect l="l" t="t" r="r" b="b"/>
                <a:pathLst>
                  <a:path w="9525" h="34925">
                    <a:moveTo>
                      <a:pt x="0" y="0"/>
                    </a:moveTo>
                    <a:lnTo>
                      <a:pt x="0" y="34925"/>
                    </a:lnTo>
                  </a:path>
                </a:pathLst>
              </a:custGeom>
              <a:noFill/>
              <a:ln w="17463">
                <a:solidFill>
                  <a:srgbClr val="A3381F"/>
                </a:solidFill>
              </a:ln>
            </p:spPr>
          </p:sp>
          <p:sp>
            <p:nvSpPr>
              <p:cNvPr id="132" name="Freeform 132"/>
              <p:cNvSpPr/>
              <p:nvPr/>
            </p:nvSpPr>
            <p:spPr>
              <a:xfrm>
                <a:off x="4930775" y="5277644"/>
                <a:ext cx="139700" cy="9525"/>
              </a:xfrm>
              <a:custGeom>
                <a:avLst/>
                <a:gdLst/>
                <a:ahLst/>
                <a:cxnLst/>
                <a:rect l="l" t="t" r="r" b="b"/>
                <a:pathLst>
                  <a:path w="139700" h="9525">
                    <a:moveTo>
                      <a:pt x="0" y="0"/>
                    </a:moveTo>
                    <a:lnTo>
                      <a:pt x="139700" y="0"/>
                    </a:lnTo>
                  </a:path>
                </a:pathLst>
              </a:custGeom>
              <a:noFill/>
              <a:ln w="17463">
                <a:solidFill>
                  <a:srgbClr val="A3381F"/>
                </a:solidFill>
              </a:ln>
            </p:spPr>
          </p:sp>
          <p:sp>
            <p:nvSpPr>
              <p:cNvPr id="133" name="Freeform 133"/>
              <p:cNvSpPr/>
              <p:nvPr/>
            </p:nvSpPr>
            <p:spPr>
              <a:xfrm>
                <a:off x="4991894" y="5312569"/>
                <a:ext cx="9525" cy="9525"/>
              </a:xfrm>
              <a:custGeom>
                <a:avLst/>
                <a:gdLst/>
                <a:ahLst/>
                <a:cxnLst/>
                <a:rect l="l" t="t" r="r" b="b"/>
                <a:pathLst>
                  <a:path w="9525" h="9525">
                    <a:moveTo>
                      <a:pt x="0" y="0"/>
                    </a:moveTo>
                    <a:lnTo>
                      <a:pt x="8731" y="0"/>
                    </a:lnTo>
                  </a:path>
                </a:pathLst>
              </a:custGeom>
              <a:noFill/>
              <a:ln w="17463">
                <a:solidFill>
                  <a:srgbClr val="A3381F"/>
                </a:solidFill>
              </a:ln>
            </p:spPr>
          </p:sp>
          <p:sp>
            <p:nvSpPr>
              <p:cNvPr id="134" name="Freeform 134"/>
              <p:cNvSpPr/>
              <p:nvPr/>
            </p:nvSpPr>
            <p:spPr>
              <a:xfrm>
                <a:off x="5000625" y="5312569"/>
                <a:ext cx="9525" cy="26194"/>
              </a:xfrm>
              <a:custGeom>
                <a:avLst/>
                <a:gdLst/>
                <a:ahLst/>
                <a:cxnLst/>
                <a:rect l="l" t="t" r="r" b="b"/>
                <a:pathLst>
                  <a:path w="9525" h="26194">
                    <a:moveTo>
                      <a:pt x="0" y="0"/>
                    </a:moveTo>
                    <a:lnTo>
                      <a:pt x="0" y="26194"/>
                    </a:lnTo>
                  </a:path>
                </a:pathLst>
              </a:custGeom>
              <a:noFill/>
              <a:ln w="17463">
                <a:solidFill>
                  <a:srgbClr val="A3381F"/>
                </a:solidFill>
              </a:ln>
            </p:spPr>
          </p:sp>
        </p:grpSp>
        <p:sp>
          <p:nvSpPr>
            <p:cNvPr id="136" name="TextBox 136"/>
            <p:cNvSpPr txBox="1"/>
            <p:nvPr/>
          </p:nvSpPr>
          <p:spPr>
            <a:xfrm>
              <a:off x="4894898" y="5538788"/>
              <a:ext cx="211455" cy="147638"/>
            </a:xfrm>
            <a:prstGeom prst="rect">
              <a:avLst/>
            </a:prstGeom>
            <a:noFill/>
            <a:ln>
              <a:noFill/>
            </a:ln>
          </p:spPr>
          <p:txBody>
            <a:bodyPr wrap="none" lIns="0" tIns="0" rIns="0" bIns="0" anchor="t" anchorCtr="0">
              <a:spAutoFit/>
            </a:bodyPr>
            <a:lstStyle/>
            <a:p>
              <a:pPr algn="ctr"/>
              <a:r>
                <a:rPr lang="zh-CN" sz="750" b="1" dirty="0">
                  <a:solidFill>
                    <a:srgbClr val="5E3A33"/>
                  </a:solidFill>
                  <a:latin typeface="+mn-lt"/>
                  <a:ea typeface="+mn-ea"/>
                  <a:cs typeface="+mn-cs"/>
                </a:rPr>
                <a:t>预约</a:t>
              </a:r>
            </a:p>
          </p:txBody>
        </p:sp>
        <p:sp>
          <p:nvSpPr>
            <p:cNvPr id="137" name="Rectangle 137"/>
            <p:cNvSpPr/>
            <p:nvPr/>
          </p:nvSpPr>
          <p:spPr>
            <a:xfrm>
              <a:off x="5581650" y="5105400"/>
              <a:ext cx="857250" cy="609600"/>
            </a:xfrm>
            <a:prstGeom prst="roundRect">
              <a:avLst>
                <a:gd name="adj" fmla="val 12500"/>
              </a:avLst>
            </a:prstGeom>
            <a:solidFill>
              <a:srgbClr val="FBF7EF"/>
            </a:solidFill>
            <a:ln w="9525">
              <a:solidFill>
                <a:srgbClr val="E6D9C0"/>
              </a:solidFill>
            </a:ln>
          </p:spPr>
        </p:sp>
        <p:grpSp>
          <p:nvGrpSpPr>
            <p:cNvPr id="140" name="Group 140"/>
            <p:cNvGrpSpPr/>
            <p:nvPr/>
          </p:nvGrpSpPr>
          <p:grpSpPr>
            <a:xfrm>
              <a:off x="5931694" y="5207794"/>
              <a:ext cx="157163" cy="157163"/>
              <a:chOff x="5931694" y="5207794"/>
              <a:chExt cx="157163" cy="157163"/>
            </a:xfrm>
          </p:grpSpPr>
          <p:sp>
            <p:nvSpPr>
              <p:cNvPr id="138" name="Freeform 138"/>
              <p:cNvSpPr/>
              <p:nvPr/>
            </p:nvSpPr>
            <p:spPr>
              <a:xfrm>
                <a:off x="5931694" y="52077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A24B3C"/>
                </a:solidFill>
              </a:ln>
            </p:spPr>
          </p:sp>
          <p:sp>
            <p:nvSpPr>
              <p:cNvPr id="139" name="Freeform 139"/>
              <p:cNvSpPr/>
              <p:nvPr/>
            </p:nvSpPr>
            <p:spPr>
              <a:xfrm>
                <a:off x="5984081" y="5268913"/>
                <a:ext cx="52388" cy="34925"/>
              </a:xfrm>
              <a:custGeom>
                <a:avLst/>
                <a:gdLst/>
                <a:ahLst/>
                <a:cxnLst/>
                <a:rect l="l" t="t" r="r" b="b"/>
                <a:pathLst>
                  <a:path w="52388" h="34925">
                    <a:moveTo>
                      <a:pt x="0" y="17463"/>
                    </a:moveTo>
                    <a:lnTo>
                      <a:pt x="17463" y="34925"/>
                    </a:lnTo>
                    <a:lnTo>
                      <a:pt x="52388" y="0"/>
                    </a:lnTo>
                  </a:path>
                </a:pathLst>
              </a:custGeom>
              <a:noFill/>
              <a:ln w="17463">
                <a:solidFill>
                  <a:srgbClr val="A24B3C"/>
                </a:solidFill>
              </a:ln>
            </p:spPr>
          </p:sp>
        </p:grpSp>
        <p:sp>
          <p:nvSpPr>
            <p:cNvPr id="141" name="TextBox 141"/>
            <p:cNvSpPr txBox="1"/>
            <p:nvPr/>
          </p:nvSpPr>
          <p:spPr>
            <a:xfrm>
              <a:off x="5904548" y="5538788"/>
              <a:ext cx="211455" cy="147638"/>
            </a:xfrm>
            <a:prstGeom prst="rect">
              <a:avLst/>
            </a:prstGeom>
            <a:noFill/>
            <a:ln>
              <a:noFill/>
            </a:ln>
          </p:spPr>
          <p:txBody>
            <a:bodyPr wrap="none" lIns="0" tIns="0" rIns="0" bIns="0" anchor="t" anchorCtr="0">
              <a:spAutoFit/>
            </a:bodyPr>
            <a:lstStyle/>
            <a:p>
              <a:pPr algn="ctr"/>
              <a:r>
                <a:rPr lang="zh-CN" sz="750" b="1" dirty="0">
                  <a:solidFill>
                    <a:srgbClr val="5E3A33"/>
                  </a:solidFill>
                  <a:latin typeface="+mn-lt"/>
                  <a:ea typeface="+mn-ea"/>
                  <a:cs typeface="+mn-cs"/>
                </a:rPr>
                <a:t>核销</a:t>
              </a:r>
            </a:p>
          </p:txBody>
        </p:sp>
        <p:sp>
          <p:nvSpPr>
            <p:cNvPr id="142" name="Rectangle 142"/>
            <p:cNvSpPr/>
            <p:nvPr/>
          </p:nvSpPr>
          <p:spPr>
            <a:xfrm>
              <a:off x="6591300" y="5105400"/>
              <a:ext cx="857250" cy="609600"/>
            </a:xfrm>
            <a:prstGeom prst="roundRect">
              <a:avLst>
                <a:gd name="adj" fmla="val 12500"/>
              </a:avLst>
            </a:prstGeom>
            <a:solidFill>
              <a:srgbClr val="FBF7EF"/>
            </a:solidFill>
            <a:ln w="9525">
              <a:solidFill>
                <a:srgbClr val="E6D9C0"/>
              </a:solidFill>
            </a:ln>
          </p:spPr>
        </p:sp>
        <p:sp>
          <p:nvSpPr>
            <p:cNvPr id="143" name="Freeform 143"/>
            <p:cNvSpPr/>
            <p:nvPr/>
          </p:nvSpPr>
          <p:spPr>
            <a:xfrm>
              <a:off x="6932403" y="5209758"/>
              <a:ext cx="174311" cy="154517"/>
            </a:xfrm>
            <a:custGeom>
              <a:avLst/>
              <a:gdLst/>
              <a:ahLst/>
              <a:cxnLst/>
              <a:rect l="l" t="t" r="r" b="b"/>
              <a:pathLst>
                <a:path w="174311" h="154517">
                  <a:moveTo>
                    <a:pt x="8941" y="146467"/>
                  </a:moveTo>
                  <a:lnTo>
                    <a:pt x="20291" y="112415"/>
                  </a:lnTo>
                  <a:cubicBezTo>
                    <a:pt x="0" y="82406"/>
                    <a:pt x="7841" y="43682"/>
                    <a:pt x="38627" y="21837"/>
                  </a:cubicBezTo>
                  <a:cubicBezTo>
                    <a:pt x="69413" y="0"/>
                    <a:pt x="113629" y="1790"/>
                    <a:pt x="142049" y="26028"/>
                  </a:cubicBezTo>
                  <a:cubicBezTo>
                    <a:pt x="170469" y="50275"/>
                    <a:pt x="174311" y="89469"/>
                    <a:pt x="151033" y="117715"/>
                  </a:cubicBezTo>
                  <a:cubicBezTo>
                    <a:pt x="127756" y="145960"/>
                    <a:pt x="84545" y="154517"/>
                    <a:pt x="49978" y="137736"/>
                  </a:cubicBezTo>
                  <a:lnTo>
                    <a:pt x="8941" y="146467"/>
                  </a:lnTo>
                </a:path>
              </a:pathLst>
            </a:custGeom>
            <a:noFill/>
            <a:ln w="17463">
              <a:solidFill>
                <a:srgbClr val="A3381F"/>
              </a:solidFill>
            </a:ln>
          </p:spPr>
        </p:sp>
        <p:sp>
          <p:nvSpPr>
            <p:cNvPr id="144" name="TextBox 144"/>
            <p:cNvSpPr txBox="1"/>
            <p:nvPr/>
          </p:nvSpPr>
          <p:spPr>
            <a:xfrm>
              <a:off x="6914198" y="5538788"/>
              <a:ext cx="211455" cy="147638"/>
            </a:xfrm>
            <a:prstGeom prst="rect">
              <a:avLst/>
            </a:prstGeom>
            <a:noFill/>
            <a:ln>
              <a:noFill/>
            </a:ln>
          </p:spPr>
          <p:txBody>
            <a:bodyPr wrap="none" lIns="0" tIns="0" rIns="0" bIns="0" anchor="t" anchorCtr="0">
              <a:spAutoFit/>
            </a:bodyPr>
            <a:lstStyle/>
            <a:p>
              <a:pPr algn="ctr"/>
              <a:r>
                <a:rPr lang="zh-CN" sz="750" b="1" dirty="0">
                  <a:solidFill>
                    <a:srgbClr val="5E3A33"/>
                  </a:solidFill>
                  <a:latin typeface="+mn-lt"/>
                  <a:ea typeface="+mn-ea"/>
                  <a:cs typeface="+mn-cs"/>
                </a:rPr>
                <a:t>投诉</a:t>
              </a:r>
            </a:p>
          </p:txBody>
        </p:sp>
        <p:sp>
          <p:nvSpPr>
            <p:cNvPr id="145" name="Rectangle 145"/>
            <p:cNvSpPr/>
            <p:nvPr/>
          </p:nvSpPr>
          <p:spPr>
            <a:xfrm>
              <a:off x="7600950" y="5105400"/>
              <a:ext cx="857250" cy="609600"/>
            </a:xfrm>
            <a:prstGeom prst="roundRect">
              <a:avLst>
                <a:gd name="adj" fmla="val 12500"/>
              </a:avLst>
            </a:prstGeom>
            <a:solidFill>
              <a:srgbClr val="FBF7EF"/>
            </a:solidFill>
            <a:ln w="9525">
              <a:solidFill>
                <a:srgbClr val="E6D9C0"/>
              </a:solidFill>
            </a:ln>
          </p:spPr>
        </p:sp>
        <p:grpSp>
          <p:nvGrpSpPr>
            <p:cNvPr id="148" name="Group 148"/>
            <p:cNvGrpSpPr/>
            <p:nvPr/>
          </p:nvGrpSpPr>
          <p:grpSpPr>
            <a:xfrm>
              <a:off x="7959725" y="5213156"/>
              <a:ext cx="139700" cy="146438"/>
              <a:chOff x="7959725" y="5213156"/>
              <a:chExt cx="139700" cy="146438"/>
            </a:xfrm>
          </p:grpSpPr>
          <p:sp>
            <p:nvSpPr>
              <p:cNvPr id="146" name="Freeform 146"/>
              <p:cNvSpPr/>
              <p:nvPr/>
            </p:nvSpPr>
            <p:spPr>
              <a:xfrm>
                <a:off x="7959725" y="5213156"/>
                <a:ext cx="139700" cy="64488"/>
              </a:xfrm>
              <a:custGeom>
                <a:avLst/>
                <a:gdLst/>
                <a:ahLst/>
                <a:cxnLst/>
                <a:rect l="l" t="t" r="r" b="b"/>
                <a:pathLst>
                  <a:path w="139700" h="64488">
                    <a:moveTo>
                      <a:pt x="139700" y="64488"/>
                    </a:moveTo>
                    <a:cubicBezTo>
                      <a:pt x="135311" y="32903"/>
                      <a:pt x="110327" y="8162"/>
                      <a:pt x="78701" y="4081"/>
                    </a:cubicBezTo>
                    <a:cubicBezTo>
                      <a:pt x="47074" y="0"/>
                      <a:pt x="16629" y="17589"/>
                      <a:pt x="4366" y="47025"/>
                    </a:cubicBezTo>
                    <a:moveTo>
                      <a:pt x="0" y="12100"/>
                    </a:moveTo>
                    <a:lnTo>
                      <a:pt x="0" y="47025"/>
                    </a:lnTo>
                    <a:lnTo>
                      <a:pt x="34925" y="47025"/>
                    </a:lnTo>
                  </a:path>
                </a:pathLst>
              </a:custGeom>
              <a:noFill/>
              <a:ln w="17463">
                <a:solidFill>
                  <a:srgbClr val="A24B3C"/>
                </a:solidFill>
              </a:ln>
            </p:spPr>
          </p:sp>
          <p:sp>
            <p:nvSpPr>
              <p:cNvPr id="147" name="Freeform 147"/>
              <p:cNvSpPr/>
              <p:nvPr/>
            </p:nvSpPr>
            <p:spPr>
              <a:xfrm>
                <a:off x="7959725" y="5295106"/>
                <a:ext cx="139700" cy="64488"/>
              </a:xfrm>
              <a:custGeom>
                <a:avLst/>
                <a:gdLst/>
                <a:ahLst/>
                <a:cxnLst/>
                <a:rect l="l" t="t" r="r" b="b"/>
                <a:pathLst>
                  <a:path w="139700" h="64488">
                    <a:moveTo>
                      <a:pt x="0" y="0"/>
                    </a:moveTo>
                    <a:cubicBezTo>
                      <a:pt x="4389" y="31585"/>
                      <a:pt x="29373" y="56326"/>
                      <a:pt x="60999" y="60407"/>
                    </a:cubicBezTo>
                    <a:cubicBezTo>
                      <a:pt x="92626" y="64488"/>
                      <a:pt x="123071" y="46899"/>
                      <a:pt x="135334" y="17463"/>
                    </a:cubicBezTo>
                    <a:moveTo>
                      <a:pt x="139700" y="52388"/>
                    </a:moveTo>
                    <a:lnTo>
                      <a:pt x="139700" y="17463"/>
                    </a:lnTo>
                    <a:lnTo>
                      <a:pt x="104775" y="17463"/>
                    </a:lnTo>
                  </a:path>
                </a:pathLst>
              </a:custGeom>
              <a:noFill/>
              <a:ln w="17463">
                <a:solidFill>
                  <a:srgbClr val="A24B3C"/>
                </a:solidFill>
              </a:ln>
            </p:spPr>
          </p:sp>
        </p:grpSp>
        <p:sp>
          <p:nvSpPr>
            <p:cNvPr id="149" name="TextBox 149"/>
            <p:cNvSpPr txBox="1"/>
            <p:nvPr/>
          </p:nvSpPr>
          <p:spPr>
            <a:xfrm>
              <a:off x="7923848" y="5538788"/>
              <a:ext cx="211455" cy="147638"/>
            </a:xfrm>
            <a:prstGeom prst="rect">
              <a:avLst/>
            </a:prstGeom>
            <a:noFill/>
            <a:ln>
              <a:noFill/>
            </a:ln>
          </p:spPr>
          <p:txBody>
            <a:bodyPr wrap="none" lIns="0" tIns="0" rIns="0" bIns="0" anchor="t" anchorCtr="0">
              <a:spAutoFit/>
            </a:bodyPr>
            <a:lstStyle/>
            <a:p>
              <a:pPr algn="ctr"/>
              <a:r>
                <a:rPr lang="zh-CN" sz="750" b="1" dirty="0">
                  <a:solidFill>
                    <a:srgbClr val="5E3A33"/>
                  </a:solidFill>
                  <a:latin typeface="+mn-lt"/>
                  <a:ea typeface="+mn-ea"/>
                  <a:cs typeface="+mn-cs"/>
                </a:rPr>
                <a:t>退出</a:t>
              </a:r>
            </a:p>
          </p:txBody>
        </p:sp>
        <p:sp>
          <p:nvSpPr>
            <p:cNvPr id="150" name="Freeform 150"/>
            <p:cNvSpPr/>
            <p:nvPr/>
          </p:nvSpPr>
          <p:spPr>
            <a:xfrm>
              <a:off x="962025" y="5772150"/>
              <a:ext cx="7067550" cy="209550"/>
            </a:xfrm>
            <a:custGeom>
              <a:avLst/>
              <a:gdLst/>
              <a:ahLst/>
              <a:cxnLst/>
              <a:rect l="l" t="t" r="r" b="b"/>
              <a:pathLst>
                <a:path w="7067550" h="209550">
                  <a:moveTo>
                    <a:pt x="7067550" y="0"/>
                  </a:moveTo>
                  <a:lnTo>
                    <a:pt x="7067550" y="209550"/>
                  </a:lnTo>
                  <a:lnTo>
                    <a:pt x="0" y="209550"/>
                  </a:lnTo>
                  <a:lnTo>
                    <a:pt x="0" y="57150"/>
                  </a:lnTo>
                </a:path>
              </a:pathLst>
            </a:custGeom>
            <a:noFill/>
            <a:ln w="11430">
              <a:solidFill>
                <a:srgbClr val="C26D5E"/>
              </a:solidFill>
              <a:custDash>
                <a:ds d="333333" sp="250000"/>
              </a:custDash>
              <a:tailEnd type="triangle" w="lg" len="lg"/>
            </a:ln>
          </p:spPr>
        </p:sp>
        <p:sp>
          <p:nvSpPr>
            <p:cNvPr id="151" name="TextBox 151"/>
            <p:cNvSpPr txBox="1"/>
            <p:nvPr/>
          </p:nvSpPr>
          <p:spPr>
            <a:xfrm>
              <a:off x="3321190" y="6220539"/>
              <a:ext cx="2349221" cy="154781"/>
            </a:xfrm>
            <a:prstGeom prst="rect">
              <a:avLst/>
            </a:prstGeom>
            <a:noFill/>
            <a:ln>
              <a:noFill/>
            </a:ln>
          </p:spPr>
          <p:txBody>
            <a:bodyPr wrap="none" lIns="0" tIns="0" rIns="0" bIns="0" anchor="t" anchorCtr="0">
              <a:spAutoFit/>
            </a:bodyPr>
            <a:lstStyle/>
            <a:p>
              <a:pPr algn="ctr"/>
              <a:r>
                <a:rPr lang="zh-CN" sz="790" b="1" dirty="0">
                  <a:solidFill>
                    <a:srgbClr val="A24B3C"/>
                  </a:solidFill>
                  <a:latin typeface="+mn-lt"/>
                  <a:ea typeface="+mn-ea"/>
                  <a:cs typeface="+mn-cs"/>
                </a:rPr>
                <a:t>数据驱动闭环管理，持续优化权益配置与成本结构</a:t>
              </a:r>
            </a:p>
          </p:txBody>
        </p:sp>
      </p:grpSp>
      <p:grpSp>
        <p:nvGrpSpPr>
          <p:cNvPr id="211" name="roi-column"/>
          <p:cNvGrpSpPr/>
          <p:nvPr/>
        </p:nvGrpSpPr>
        <p:grpSpPr>
          <a:xfrm>
            <a:off x="9048750" y="800100"/>
            <a:ext cx="2762250" cy="5848350"/>
            <a:chOff x="9048750" y="800100"/>
            <a:chExt cx="2762250" cy="5848350"/>
          </a:xfrm>
        </p:grpSpPr>
        <p:sp>
          <p:nvSpPr>
            <p:cNvPr id="153" name="Rectangle 153"/>
            <p:cNvSpPr/>
            <p:nvPr/>
          </p:nvSpPr>
          <p:spPr>
            <a:xfrm>
              <a:off x="9048750" y="800100"/>
              <a:ext cx="2762250" cy="5848350"/>
            </a:xfrm>
            <a:prstGeom prst="roundRect">
              <a:avLst>
                <a:gd name="adj" fmla="val 4138"/>
              </a:avLst>
            </a:prstGeom>
            <a:solidFill>
              <a:srgbClr val="FFFFFF"/>
            </a:solidFill>
            <a:ln w="9525">
              <a:solidFill>
                <a:srgbClr val="E6D9C0"/>
              </a:solidFill>
            </a:ln>
          </p:spPr>
        </p:sp>
        <p:sp>
          <p:nvSpPr>
            <p:cNvPr id="154" name="Rectangle 154"/>
            <p:cNvSpPr/>
            <p:nvPr/>
          </p:nvSpPr>
          <p:spPr>
            <a:xfrm>
              <a:off x="9429750" y="914400"/>
              <a:ext cx="2000250" cy="285750"/>
            </a:xfrm>
            <a:prstGeom prst="roundRect">
              <a:avLst>
                <a:gd name="adj" fmla="val 50000"/>
              </a:avLst>
            </a:prstGeom>
            <a:solidFill>
              <a:srgbClr val="A3381F"/>
            </a:solidFill>
            <a:ln>
              <a:noFill/>
            </a:ln>
          </p:spPr>
        </p:sp>
        <p:sp>
          <p:nvSpPr>
            <p:cNvPr id="155" name="TextBox 155"/>
            <p:cNvSpPr txBox="1"/>
            <p:nvPr/>
          </p:nvSpPr>
          <p:spPr>
            <a:xfrm>
              <a:off x="9964140" y="995601"/>
              <a:ext cx="931471"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 xml:space="preserve">权益ROI公式　</a:t>
              </a:r>
            </a:p>
          </p:txBody>
        </p:sp>
        <p:sp>
          <p:nvSpPr>
            <p:cNvPr id="156" name="TextBox 156"/>
            <p:cNvSpPr txBox="1"/>
            <p:nvPr/>
          </p:nvSpPr>
          <p:spPr>
            <a:xfrm>
              <a:off x="9335035" y="1380649"/>
              <a:ext cx="2189680" cy="190690"/>
            </a:xfrm>
            <a:prstGeom prst="rect">
              <a:avLst/>
            </a:prstGeom>
            <a:noFill/>
            <a:ln>
              <a:noFill/>
            </a:ln>
          </p:spPr>
          <p:txBody>
            <a:bodyPr wrap="none" lIns="0" tIns="0" rIns="0" bIns="0" anchor="t" anchorCtr="0">
              <a:spAutoFit/>
            </a:bodyPr>
            <a:lstStyle/>
            <a:p>
              <a:pPr algn="ctr"/>
              <a:r>
                <a:rPr lang="zh-CN" sz="980" b="1" dirty="0">
                  <a:solidFill>
                    <a:srgbClr val="A24B3C"/>
                  </a:solidFill>
                  <a:latin typeface="+mn-lt"/>
                  <a:ea typeface="+mn-ea"/>
                  <a:cs typeface="+mn-cs"/>
                </a:rPr>
                <a:t>（</a:t>
              </a:r>
              <a:r>
                <a:rPr lang="zh-CN" sz="980" b="1" dirty="0">
                  <a:solidFill>
                    <a:srgbClr val="5E3A33"/>
                  </a:solidFill>
                  <a:latin typeface="+mn-lt"/>
                  <a:ea typeface="+mn-ea"/>
                  <a:cs typeface="+mn-cs"/>
                </a:rPr>
                <a:t>增量收入</a:t>
              </a:r>
              <a:r>
                <a:rPr lang="zh-CN" sz="980" b="1" dirty="0">
                  <a:solidFill>
                    <a:srgbClr val="A24B3C"/>
                  </a:solidFill>
                  <a:latin typeface="+mn-lt"/>
                  <a:ea typeface="+mn-ea"/>
                  <a:cs typeface="+mn-cs"/>
                </a:rPr>
                <a:t xml:space="preserve"> － </a:t>
              </a:r>
              <a:r>
                <a:rPr lang="zh-CN" sz="980" b="1" dirty="0">
                  <a:solidFill>
                    <a:srgbClr val="5E3A33"/>
                  </a:solidFill>
                  <a:latin typeface="+mn-lt"/>
                  <a:ea typeface="+mn-ea"/>
                  <a:cs typeface="+mn-cs"/>
                </a:rPr>
                <a:t>权益成本</a:t>
              </a:r>
              <a:r>
                <a:rPr lang="zh-CN" sz="980" b="1" dirty="0">
                  <a:solidFill>
                    <a:srgbClr val="A24B3C"/>
                  </a:solidFill>
                  <a:latin typeface="+mn-lt"/>
                  <a:ea typeface="+mn-ea"/>
                  <a:cs typeface="+mn-cs"/>
                </a:rPr>
                <a:t xml:space="preserve">）÷ </a:t>
              </a:r>
              <a:r>
                <a:rPr lang="zh-CN" sz="980" b="1" dirty="0">
                  <a:solidFill>
                    <a:srgbClr val="5E3A33"/>
                  </a:solidFill>
                  <a:latin typeface="+mn-lt"/>
                  <a:ea typeface="+mn-ea"/>
                  <a:cs typeface="+mn-cs"/>
                </a:rPr>
                <a:t>权益成本</a:t>
              </a:r>
            </a:p>
          </p:txBody>
        </p:sp>
        <p:sp>
          <p:nvSpPr>
            <p:cNvPr id="157" name="Line 157"/>
            <p:cNvSpPr/>
            <p:nvPr/>
          </p:nvSpPr>
          <p:spPr>
            <a:xfrm>
              <a:off x="9201150" y="1752600"/>
              <a:ext cx="609600" cy="9525"/>
            </a:xfrm>
            <a:custGeom>
              <a:avLst/>
              <a:gdLst/>
              <a:ahLst/>
              <a:cxnLst/>
              <a:rect l="l" t="t" r="r" b="b"/>
              <a:pathLst>
                <a:path w="609600" h="9525">
                  <a:moveTo>
                    <a:pt x="0" y="0"/>
                  </a:moveTo>
                  <a:lnTo>
                    <a:pt x="609600" y="0"/>
                  </a:lnTo>
                </a:path>
              </a:pathLst>
            </a:custGeom>
            <a:noFill/>
            <a:ln w="9525">
              <a:solidFill>
                <a:srgbClr val="C26D5E"/>
              </a:solidFill>
            </a:ln>
          </p:spPr>
        </p:sp>
        <p:sp>
          <p:nvSpPr>
            <p:cNvPr id="158" name="TextBox 158"/>
            <p:cNvSpPr txBox="1"/>
            <p:nvPr/>
          </p:nvSpPr>
          <p:spPr>
            <a:xfrm>
              <a:off x="10061638" y="1693545"/>
              <a:ext cx="736473" cy="176212"/>
            </a:xfrm>
            <a:prstGeom prst="rect">
              <a:avLst/>
            </a:prstGeom>
            <a:noFill/>
            <a:ln>
              <a:noFill/>
            </a:ln>
          </p:spPr>
          <p:txBody>
            <a:bodyPr wrap="none" lIns="0" tIns="0" rIns="0" bIns="0" anchor="t" anchorCtr="0">
              <a:spAutoFit/>
            </a:bodyPr>
            <a:lstStyle/>
            <a:p>
              <a:pPr algn="ctr"/>
              <a:r>
                <a:rPr lang="zh-CN" sz="900" b="1" dirty="0">
                  <a:solidFill>
                    <a:srgbClr val="A24B3C"/>
                  </a:solidFill>
                  <a:latin typeface="+mn-lt"/>
                  <a:ea typeface="+mn-ea"/>
                  <a:cs typeface="+mn-cs"/>
                </a:rPr>
                <a:t>核心指标体系</a:t>
              </a:r>
            </a:p>
          </p:txBody>
        </p:sp>
        <p:sp>
          <p:nvSpPr>
            <p:cNvPr id="159" name="Line 159"/>
            <p:cNvSpPr/>
            <p:nvPr/>
          </p:nvSpPr>
          <p:spPr>
            <a:xfrm>
              <a:off x="11049000" y="1752600"/>
              <a:ext cx="609600" cy="9525"/>
            </a:xfrm>
            <a:custGeom>
              <a:avLst/>
              <a:gdLst/>
              <a:ahLst/>
              <a:cxnLst/>
              <a:rect l="l" t="t" r="r" b="b"/>
              <a:pathLst>
                <a:path w="609600" h="9525">
                  <a:moveTo>
                    <a:pt x="0" y="0"/>
                  </a:moveTo>
                  <a:lnTo>
                    <a:pt x="609600" y="0"/>
                  </a:lnTo>
                </a:path>
              </a:pathLst>
            </a:custGeom>
            <a:noFill/>
            <a:ln w="9525">
              <a:solidFill>
                <a:srgbClr val="C26D5E"/>
              </a:solidFill>
            </a:ln>
          </p:spPr>
        </p:sp>
        <p:grpSp>
          <p:nvGrpSpPr>
            <p:cNvPr id="165" name="Group 165"/>
            <p:cNvGrpSpPr/>
            <p:nvPr/>
          </p:nvGrpSpPr>
          <p:grpSpPr>
            <a:xfrm>
              <a:off x="9222581" y="1982624"/>
              <a:ext cx="128588" cy="129544"/>
              <a:chOff x="9222581" y="1982624"/>
              <a:chExt cx="128588" cy="129544"/>
            </a:xfrm>
          </p:grpSpPr>
          <p:sp>
            <p:nvSpPr>
              <p:cNvPr id="160" name="Freeform 160"/>
              <p:cNvSpPr/>
              <p:nvPr/>
            </p:nvSpPr>
            <p:spPr>
              <a:xfrm>
                <a:off x="9265444" y="204073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A3381F"/>
                </a:solidFill>
              </a:ln>
            </p:spPr>
          </p:sp>
          <p:sp>
            <p:nvSpPr>
              <p:cNvPr id="161" name="Freeform 161"/>
              <p:cNvSpPr/>
              <p:nvPr/>
            </p:nvSpPr>
            <p:spPr>
              <a:xfrm>
                <a:off x="9265444" y="206216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A3381F"/>
                </a:solidFill>
              </a:ln>
            </p:spPr>
          </p:sp>
          <p:sp>
            <p:nvSpPr>
              <p:cNvPr id="162" name="Freeform 162"/>
              <p:cNvSpPr/>
              <p:nvPr/>
            </p:nvSpPr>
            <p:spPr>
              <a:xfrm>
                <a:off x="9222581" y="198262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A3381F"/>
                </a:solidFill>
              </a:ln>
            </p:spPr>
          </p:sp>
          <p:sp>
            <p:nvSpPr>
              <p:cNvPr id="163" name="Freeform 163"/>
              <p:cNvSpPr/>
              <p:nvPr/>
            </p:nvSpPr>
            <p:spPr>
              <a:xfrm>
                <a:off x="9222581" y="200501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A3381F"/>
                </a:solidFill>
              </a:ln>
            </p:spPr>
          </p:sp>
          <p:sp>
            <p:nvSpPr>
              <p:cNvPr id="164" name="Freeform 164"/>
              <p:cNvSpPr/>
              <p:nvPr/>
            </p:nvSpPr>
            <p:spPr>
              <a:xfrm>
                <a:off x="9222581" y="204073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A3381F"/>
                </a:solidFill>
              </a:ln>
            </p:spPr>
          </p:sp>
        </p:grpSp>
        <p:sp>
          <p:nvSpPr>
            <p:cNvPr id="166" name="TextBox 166"/>
            <p:cNvSpPr txBox="1"/>
            <p:nvPr/>
          </p:nvSpPr>
          <p:spPr>
            <a:xfrm>
              <a:off x="9444038" y="2007870"/>
              <a:ext cx="494157"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单次成本</a:t>
              </a:r>
            </a:p>
          </p:txBody>
        </p:sp>
        <p:sp>
          <p:nvSpPr>
            <p:cNvPr id="167" name="TextBox 167"/>
            <p:cNvSpPr txBox="1"/>
            <p:nvPr/>
          </p:nvSpPr>
          <p:spPr>
            <a:xfrm>
              <a:off x="9444038" y="2203609"/>
              <a:ext cx="1016483"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单次权益供给的平均成本</a:t>
              </a:r>
            </a:p>
          </p:txBody>
        </p:sp>
        <p:sp>
          <p:nvSpPr>
            <p:cNvPr id="168" name="Line 168"/>
            <p:cNvSpPr/>
            <p:nvPr/>
          </p:nvSpPr>
          <p:spPr>
            <a:xfrm>
              <a:off x="9201150" y="2381250"/>
              <a:ext cx="2457450" cy="9525"/>
            </a:xfrm>
            <a:custGeom>
              <a:avLst/>
              <a:gdLst/>
              <a:ahLst/>
              <a:cxnLst/>
              <a:rect l="l" t="t" r="r" b="b"/>
              <a:pathLst>
                <a:path w="2457450" h="9525">
                  <a:moveTo>
                    <a:pt x="0" y="0"/>
                  </a:moveTo>
                  <a:lnTo>
                    <a:pt x="2457450" y="0"/>
                  </a:lnTo>
                </a:path>
              </a:pathLst>
            </a:custGeom>
            <a:noFill/>
            <a:ln w="9525">
              <a:solidFill>
                <a:srgbClr val="F0E8D8"/>
              </a:solidFill>
            </a:ln>
          </p:spPr>
        </p:sp>
        <p:grpSp>
          <p:nvGrpSpPr>
            <p:cNvPr id="173" name="Group 173"/>
            <p:cNvGrpSpPr/>
            <p:nvPr/>
          </p:nvGrpSpPr>
          <p:grpSpPr>
            <a:xfrm>
              <a:off x="9222581" y="2516736"/>
              <a:ext cx="128588" cy="128833"/>
              <a:chOff x="9222581" y="2516736"/>
              <a:chExt cx="128588" cy="128833"/>
            </a:xfrm>
          </p:grpSpPr>
          <p:sp>
            <p:nvSpPr>
              <p:cNvPr id="169" name="Freeform 169"/>
              <p:cNvSpPr/>
              <p:nvPr/>
            </p:nvSpPr>
            <p:spPr>
              <a:xfrm>
                <a:off x="9222581" y="2552700"/>
                <a:ext cx="128588" cy="28575"/>
              </a:xfrm>
              <a:custGeom>
                <a:avLst/>
                <a:gdLst/>
                <a:ahLst/>
                <a:cxnLst/>
                <a:rect l="l" t="t" r="r" b="b"/>
                <a:pathLst>
                  <a:path w="128588" h="28575">
                    <a:moveTo>
                      <a:pt x="0" y="7144"/>
                    </a:moveTo>
                    <a:cubicBezTo>
                      <a:pt x="0" y="3198"/>
                      <a:pt x="3198" y="0"/>
                      <a:pt x="7144" y="0"/>
                    </a:cubicBezTo>
                    <a:lnTo>
                      <a:pt x="121444" y="0"/>
                    </a:lnTo>
                    <a:cubicBezTo>
                      <a:pt x="125389" y="0"/>
                      <a:pt x="128588" y="3198"/>
                      <a:pt x="128588" y="7144"/>
                    </a:cubicBezTo>
                    <a:lnTo>
                      <a:pt x="128588" y="21431"/>
                    </a:lnTo>
                    <a:cubicBezTo>
                      <a:pt x="128588" y="25377"/>
                      <a:pt x="125389" y="28575"/>
                      <a:pt x="121444" y="28575"/>
                    </a:cubicBezTo>
                    <a:lnTo>
                      <a:pt x="7144" y="28575"/>
                    </a:lnTo>
                    <a:cubicBezTo>
                      <a:pt x="3198" y="28575"/>
                      <a:pt x="0" y="25377"/>
                      <a:pt x="0" y="21431"/>
                    </a:cubicBezTo>
                    <a:lnTo>
                      <a:pt x="0" y="7144"/>
                    </a:lnTo>
                  </a:path>
                </a:pathLst>
              </a:custGeom>
              <a:noFill/>
              <a:ln w="14288">
                <a:solidFill>
                  <a:srgbClr val="C26D5E"/>
                </a:solidFill>
              </a:ln>
            </p:spPr>
          </p:sp>
          <p:sp>
            <p:nvSpPr>
              <p:cNvPr id="170" name="Freeform 170"/>
              <p:cNvSpPr/>
              <p:nvPr/>
            </p:nvSpPr>
            <p:spPr>
              <a:xfrm>
                <a:off x="9286875" y="2552700"/>
                <a:ext cx="9525" cy="92869"/>
              </a:xfrm>
              <a:custGeom>
                <a:avLst/>
                <a:gdLst/>
                <a:ahLst/>
                <a:cxnLst/>
                <a:rect l="l" t="t" r="r" b="b"/>
                <a:pathLst>
                  <a:path w="9525" h="92869">
                    <a:moveTo>
                      <a:pt x="0" y="0"/>
                    </a:moveTo>
                    <a:lnTo>
                      <a:pt x="0" y="92869"/>
                    </a:lnTo>
                  </a:path>
                </a:pathLst>
              </a:custGeom>
              <a:noFill/>
              <a:ln w="14288">
                <a:solidFill>
                  <a:srgbClr val="C26D5E"/>
                </a:solidFill>
              </a:ln>
            </p:spPr>
          </p:sp>
          <p:sp>
            <p:nvSpPr>
              <p:cNvPr id="171" name="Freeform 171"/>
              <p:cNvSpPr/>
              <p:nvPr/>
            </p:nvSpPr>
            <p:spPr>
              <a:xfrm>
                <a:off x="9236869" y="2581275"/>
                <a:ext cx="100012" cy="64294"/>
              </a:xfrm>
              <a:custGeom>
                <a:avLst/>
                <a:gdLst/>
                <a:ahLst/>
                <a:cxnLst/>
                <a:rect l="l" t="t" r="r" b="b"/>
                <a:pathLst>
                  <a:path w="100012" h="64294">
                    <a:moveTo>
                      <a:pt x="100012" y="0"/>
                    </a:moveTo>
                    <a:lnTo>
                      <a:pt x="100012" y="50006"/>
                    </a:lnTo>
                    <a:cubicBezTo>
                      <a:pt x="100012" y="57897"/>
                      <a:pt x="93616" y="64294"/>
                      <a:pt x="85725" y="64294"/>
                    </a:cubicBezTo>
                    <a:lnTo>
                      <a:pt x="14288" y="64294"/>
                    </a:lnTo>
                    <a:cubicBezTo>
                      <a:pt x="6397" y="64294"/>
                      <a:pt x="0" y="57897"/>
                      <a:pt x="0" y="50006"/>
                    </a:cubicBezTo>
                    <a:lnTo>
                      <a:pt x="0" y="0"/>
                    </a:lnTo>
                  </a:path>
                </a:pathLst>
              </a:custGeom>
              <a:noFill/>
              <a:ln w="14288">
                <a:solidFill>
                  <a:srgbClr val="C26D5E"/>
                </a:solidFill>
              </a:ln>
            </p:spPr>
          </p:sp>
          <p:sp>
            <p:nvSpPr>
              <p:cNvPr id="172" name="Freeform 172"/>
              <p:cNvSpPr/>
              <p:nvPr/>
            </p:nvSpPr>
            <p:spPr>
              <a:xfrm>
                <a:off x="9236869" y="2516736"/>
                <a:ext cx="100012" cy="35964"/>
              </a:xfrm>
              <a:custGeom>
                <a:avLst/>
                <a:gdLst/>
                <a:ahLst/>
                <a:cxnLst/>
                <a:rect l="l" t="t" r="r" b="b"/>
                <a:pathLst>
                  <a:path w="100012" h="35964">
                    <a:moveTo>
                      <a:pt x="17859" y="35964"/>
                    </a:moveTo>
                    <a:cubicBezTo>
                      <a:pt x="7996" y="35964"/>
                      <a:pt x="0" y="27969"/>
                      <a:pt x="0" y="18105"/>
                    </a:cubicBezTo>
                    <a:cubicBezTo>
                      <a:pt x="0" y="8242"/>
                      <a:pt x="7996" y="246"/>
                      <a:pt x="17859" y="246"/>
                    </a:cubicBezTo>
                    <a:cubicBezTo>
                      <a:pt x="31963" y="0"/>
                      <a:pt x="44718" y="14172"/>
                      <a:pt x="50006" y="35964"/>
                    </a:cubicBezTo>
                    <a:cubicBezTo>
                      <a:pt x="55295" y="14172"/>
                      <a:pt x="68050" y="0"/>
                      <a:pt x="82153" y="246"/>
                    </a:cubicBezTo>
                    <a:cubicBezTo>
                      <a:pt x="92017" y="246"/>
                      <a:pt x="100012" y="8242"/>
                      <a:pt x="100012" y="18105"/>
                    </a:cubicBezTo>
                    <a:cubicBezTo>
                      <a:pt x="100012" y="27969"/>
                      <a:pt x="92017" y="35964"/>
                      <a:pt x="82153" y="35964"/>
                    </a:cubicBezTo>
                  </a:path>
                </a:pathLst>
              </a:custGeom>
              <a:noFill/>
              <a:ln w="14288">
                <a:solidFill>
                  <a:srgbClr val="C26D5E"/>
                </a:solidFill>
              </a:ln>
            </p:spPr>
          </p:sp>
        </p:grpSp>
        <p:sp>
          <p:nvSpPr>
            <p:cNvPr id="174" name="TextBox 174"/>
            <p:cNvSpPr txBox="1"/>
            <p:nvPr/>
          </p:nvSpPr>
          <p:spPr>
            <a:xfrm>
              <a:off x="9444038" y="2541270"/>
              <a:ext cx="372999"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领取率</a:t>
              </a:r>
            </a:p>
          </p:txBody>
        </p:sp>
        <p:sp>
          <p:nvSpPr>
            <p:cNvPr id="175" name="TextBox 175"/>
            <p:cNvSpPr txBox="1"/>
            <p:nvPr/>
          </p:nvSpPr>
          <p:spPr>
            <a:xfrm>
              <a:off x="9444038" y="2737009"/>
              <a:ext cx="883747"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 xml:space="preserve">领取人数÷触达人数　</a:t>
              </a:r>
            </a:p>
          </p:txBody>
        </p:sp>
        <p:sp>
          <p:nvSpPr>
            <p:cNvPr id="176" name="Line 176"/>
            <p:cNvSpPr/>
            <p:nvPr/>
          </p:nvSpPr>
          <p:spPr>
            <a:xfrm>
              <a:off x="9201150" y="2914650"/>
              <a:ext cx="2457450" cy="9525"/>
            </a:xfrm>
            <a:custGeom>
              <a:avLst/>
              <a:gdLst/>
              <a:ahLst/>
              <a:cxnLst/>
              <a:rect l="l" t="t" r="r" b="b"/>
              <a:pathLst>
                <a:path w="2457450" h="9525">
                  <a:moveTo>
                    <a:pt x="0" y="0"/>
                  </a:moveTo>
                  <a:lnTo>
                    <a:pt x="2457450" y="0"/>
                  </a:lnTo>
                </a:path>
              </a:pathLst>
            </a:custGeom>
            <a:noFill/>
            <a:ln w="9525">
              <a:solidFill>
                <a:srgbClr val="F0E8D8"/>
              </a:solidFill>
            </a:ln>
          </p:spPr>
        </p:sp>
        <p:grpSp>
          <p:nvGrpSpPr>
            <p:cNvPr id="179" name="Group 179"/>
            <p:cNvGrpSpPr/>
            <p:nvPr/>
          </p:nvGrpSpPr>
          <p:grpSpPr>
            <a:xfrm>
              <a:off x="9222581" y="3050381"/>
              <a:ext cx="128588" cy="128588"/>
              <a:chOff x="9222581" y="3050381"/>
              <a:chExt cx="128588" cy="128588"/>
            </a:xfrm>
          </p:grpSpPr>
          <p:sp>
            <p:nvSpPr>
              <p:cNvPr id="177" name="Freeform 177"/>
              <p:cNvSpPr/>
              <p:nvPr/>
            </p:nvSpPr>
            <p:spPr>
              <a:xfrm>
                <a:off x="9222581" y="30503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A3381F"/>
                </a:solidFill>
              </a:ln>
            </p:spPr>
          </p:sp>
          <p:sp>
            <p:nvSpPr>
              <p:cNvPr id="178" name="Freeform 178"/>
              <p:cNvSpPr/>
              <p:nvPr/>
            </p:nvSpPr>
            <p:spPr>
              <a:xfrm>
                <a:off x="9265444" y="3100388"/>
                <a:ext cx="42862" cy="28575"/>
              </a:xfrm>
              <a:custGeom>
                <a:avLst/>
                <a:gdLst/>
                <a:ahLst/>
                <a:cxnLst/>
                <a:rect l="l" t="t" r="r" b="b"/>
                <a:pathLst>
                  <a:path w="42862" h="28575">
                    <a:moveTo>
                      <a:pt x="0" y="14288"/>
                    </a:moveTo>
                    <a:lnTo>
                      <a:pt x="14288" y="28575"/>
                    </a:lnTo>
                    <a:lnTo>
                      <a:pt x="42862" y="0"/>
                    </a:lnTo>
                  </a:path>
                </a:pathLst>
              </a:custGeom>
              <a:noFill/>
              <a:ln w="14288">
                <a:solidFill>
                  <a:srgbClr val="A3381F"/>
                </a:solidFill>
              </a:ln>
            </p:spPr>
          </p:sp>
        </p:grpSp>
        <p:sp>
          <p:nvSpPr>
            <p:cNvPr id="180" name="TextBox 180"/>
            <p:cNvSpPr txBox="1"/>
            <p:nvPr/>
          </p:nvSpPr>
          <p:spPr>
            <a:xfrm>
              <a:off x="9444038" y="3074670"/>
              <a:ext cx="372999"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核销率</a:t>
              </a:r>
            </a:p>
          </p:txBody>
        </p:sp>
        <p:sp>
          <p:nvSpPr>
            <p:cNvPr id="181" name="TextBox 181"/>
            <p:cNvSpPr txBox="1"/>
            <p:nvPr/>
          </p:nvSpPr>
          <p:spPr>
            <a:xfrm>
              <a:off x="9444038" y="3270409"/>
              <a:ext cx="883747"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 xml:space="preserve">核销人数÷领取人数　</a:t>
              </a:r>
            </a:p>
          </p:txBody>
        </p:sp>
        <p:sp>
          <p:nvSpPr>
            <p:cNvPr id="182" name="Line 182"/>
            <p:cNvSpPr/>
            <p:nvPr/>
          </p:nvSpPr>
          <p:spPr>
            <a:xfrm>
              <a:off x="9201150" y="3448050"/>
              <a:ext cx="2457450" cy="9525"/>
            </a:xfrm>
            <a:custGeom>
              <a:avLst/>
              <a:gdLst/>
              <a:ahLst/>
              <a:cxnLst/>
              <a:rect l="l" t="t" r="r" b="b"/>
              <a:pathLst>
                <a:path w="2457450" h="9525">
                  <a:moveTo>
                    <a:pt x="0" y="0"/>
                  </a:moveTo>
                  <a:lnTo>
                    <a:pt x="2457450" y="0"/>
                  </a:lnTo>
                </a:path>
              </a:pathLst>
            </a:custGeom>
            <a:noFill/>
            <a:ln w="9525">
              <a:solidFill>
                <a:srgbClr val="F0E8D8"/>
              </a:solidFill>
            </a:ln>
          </p:spPr>
        </p:sp>
        <p:grpSp>
          <p:nvGrpSpPr>
            <p:cNvPr id="185" name="Group 185"/>
            <p:cNvGrpSpPr/>
            <p:nvPr/>
          </p:nvGrpSpPr>
          <p:grpSpPr>
            <a:xfrm>
              <a:off x="9222581" y="3612356"/>
              <a:ext cx="128588" cy="71438"/>
              <a:chOff x="9222581" y="3612356"/>
              <a:chExt cx="128588" cy="71438"/>
            </a:xfrm>
          </p:grpSpPr>
          <p:sp>
            <p:nvSpPr>
              <p:cNvPr id="183" name="Freeform 183"/>
              <p:cNvSpPr/>
              <p:nvPr/>
            </p:nvSpPr>
            <p:spPr>
              <a:xfrm>
                <a:off x="9222581" y="36123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C26D5E"/>
                </a:solidFill>
              </a:ln>
            </p:spPr>
          </p:sp>
          <p:sp>
            <p:nvSpPr>
              <p:cNvPr id="184" name="Freeform 184"/>
              <p:cNvSpPr/>
              <p:nvPr/>
            </p:nvSpPr>
            <p:spPr>
              <a:xfrm>
                <a:off x="9301162" y="3612356"/>
                <a:ext cx="50006" cy="50006"/>
              </a:xfrm>
              <a:custGeom>
                <a:avLst/>
                <a:gdLst/>
                <a:ahLst/>
                <a:cxnLst/>
                <a:rect l="l" t="t" r="r" b="b"/>
                <a:pathLst>
                  <a:path w="50006" h="50006">
                    <a:moveTo>
                      <a:pt x="0" y="0"/>
                    </a:moveTo>
                    <a:lnTo>
                      <a:pt x="50006" y="0"/>
                    </a:lnTo>
                    <a:lnTo>
                      <a:pt x="50006" y="50006"/>
                    </a:lnTo>
                  </a:path>
                </a:pathLst>
              </a:custGeom>
              <a:noFill/>
              <a:ln w="14288">
                <a:solidFill>
                  <a:srgbClr val="C26D5E"/>
                </a:solidFill>
              </a:ln>
            </p:spPr>
          </p:sp>
        </p:grpSp>
        <p:sp>
          <p:nvSpPr>
            <p:cNvPr id="186" name="TextBox 186"/>
            <p:cNvSpPr txBox="1"/>
            <p:nvPr/>
          </p:nvSpPr>
          <p:spPr>
            <a:xfrm>
              <a:off x="9444038" y="3608070"/>
              <a:ext cx="251841"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带动</a:t>
              </a:r>
            </a:p>
          </p:txBody>
        </p:sp>
        <p:sp>
          <p:nvSpPr>
            <p:cNvPr id="187" name="TextBox 187"/>
            <p:cNvSpPr txBox="1"/>
            <p:nvPr/>
          </p:nvSpPr>
          <p:spPr>
            <a:xfrm>
              <a:off x="9701212" y="3608070"/>
              <a:ext cx="258196" cy="176212"/>
            </a:xfrm>
            <a:prstGeom prst="rect">
              <a:avLst/>
            </a:prstGeom>
            <a:noFill/>
            <a:ln>
              <a:noFill/>
            </a:ln>
          </p:spPr>
          <p:txBody>
            <a:bodyPr wrap="none" lIns="0" tIns="0" rIns="0" bIns="0" anchor="t" anchorCtr="0">
              <a:spAutoFit/>
            </a:bodyPr>
            <a:lstStyle/>
            <a:p>
              <a:pPr algn="l"/>
              <a:r>
                <a:rPr lang="en-US" sz="900" b="1" dirty="0">
                  <a:solidFill>
                    <a:srgbClr val="5E3A33"/>
                  </a:solidFill>
                  <a:latin typeface="+mn-lt"/>
                  <a:ea typeface="+mn-ea"/>
                  <a:cs typeface="+mn-cs"/>
                </a:rPr>
                <a:t>AUM</a:t>
              </a:r>
            </a:p>
          </p:txBody>
        </p:sp>
        <p:sp>
          <p:nvSpPr>
            <p:cNvPr id="188" name="TextBox 188"/>
            <p:cNvSpPr txBox="1"/>
            <p:nvPr/>
          </p:nvSpPr>
          <p:spPr>
            <a:xfrm>
              <a:off x="9444038" y="3803809"/>
              <a:ext cx="1195421"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 xml:space="preserve">权益活动带动的AUM增量　　</a:t>
              </a:r>
            </a:p>
          </p:txBody>
        </p:sp>
        <p:sp>
          <p:nvSpPr>
            <p:cNvPr id="189" name="Line 189"/>
            <p:cNvSpPr/>
            <p:nvPr/>
          </p:nvSpPr>
          <p:spPr>
            <a:xfrm>
              <a:off x="9201150" y="3981450"/>
              <a:ext cx="2457450" cy="9525"/>
            </a:xfrm>
            <a:custGeom>
              <a:avLst/>
              <a:gdLst/>
              <a:ahLst/>
              <a:cxnLst/>
              <a:rect l="l" t="t" r="r" b="b"/>
              <a:pathLst>
                <a:path w="2457450" h="9525">
                  <a:moveTo>
                    <a:pt x="0" y="0"/>
                  </a:moveTo>
                  <a:lnTo>
                    <a:pt x="2457450" y="0"/>
                  </a:lnTo>
                </a:path>
              </a:pathLst>
            </a:custGeom>
            <a:noFill/>
            <a:ln w="9525">
              <a:solidFill>
                <a:srgbClr val="F0E8D8"/>
              </a:solidFill>
            </a:ln>
          </p:spPr>
        </p:sp>
        <p:grpSp>
          <p:nvGrpSpPr>
            <p:cNvPr id="194" name="Group 194"/>
            <p:cNvGrpSpPr/>
            <p:nvPr/>
          </p:nvGrpSpPr>
          <p:grpSpPr>
            <a:xfrm>
              <a:off x="9244012" y="4117181"/>
              <a:ext cx="114300" cy="135731"/>
              <a:chOff x="9244012" y="4117181"/>
              <a:chExt cx="114300" cy="135731"/>
            </a:xfrm>
          </p:grpSpPr>
          <p:sp>
            <p:nvSpPr>
              <p:cNvPr id="190" name="Freeform 190"/>
              <p:cNvSpPr/>
              <p:nvPr/>
            </p:nvSpPr>
            <p:spPr>
              <a:xfrm>
                <a:off x="9258300" y="41171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A3381F"/>
                </a:solidFill>
              </a:ln>
            </p:spPr>
          </p:sp>
          <p:sp>
            <p:nvSpPr>
              <p:cNvPr id="191" name="Freeform 191"/>
              <p:cNvSpPr/>
              <p:nvPr/>
            </p:nvSpPr>
            <p:spPr>
              <a:xfrm>
                <a:off x="9315450" y="4231481"/>
                <a:ext cx="42862" cy="9525"/>
              </a:xfrm>
              <a:custGeom>
                <a:avLst/>
                <a:gdLst/>
                <a:ahLst/>
                <a:cxnLst/>
                <a:rect l="l" t="t" r="r" b="b"/>
                <a:pathLst>
                  <a:path w="42862" h="9525">
                    <a:moveTo>
                      <a:pt x="0" y="0"/>
                    </a:moveTo>
                    <a:lnTo>
                      <a:pt x="42862" y="0"/>
                    </a:lnTo>
                  </a:path>
                </a:pathLst>
              </a:custGeom>
              <a:noFill/>
              <a:ln w="14288">
                <a:solidFill>
                  <a:srgbClr val="A3381F"/>
                </a:solidFill>
              </a:ln>
            </p:spPr>
          </p:sp>
          <p:sp>
            <p:nvSpPr>
              <p:cNvPr id="192" name="Freeform 192"/>
              <p:cNvSpPr/>
              <p:nvPr/>
            </p:nvSpPr>
            <p:spPr>
              <a:xfrm>
                <a:off x="9336881" y="4210050"/>
                <a:ext cx="9525" cy="42862"/>
              </a:xfrm>
              <a:custGeom>
                <a:avLst/>
                <a:gdLst/>
                <a:ahLst/>
                <a:cxnLst/>
                <a:rect l="l" t="t" r="r" b="b"/>
                <a:pathLst>
                  <a:path w="9525" h="42862">
                    <a:moveTo>
                      <a:pt x="0" y="0"/>
                    </a:moveTo>
                    <a:lnTo>
                      <a:pt x="0" y="42862"/>
                    </a:lnTo>
                  </a:path>
                </a:pathLst>
              </a:custGeom>
              <a:noFill/>
              <a:ln w="14288">
                <a:solidFill>
                  <a:srgbClr val="A3381F"/>
                </a:solidFill>
              </a:ln>
            </p:spPr>
          </p:sp>
          <p:sp>
            <p:nvSpPr>
              <p:cNvPr id="193" name="Freeform 193"/>
              <p:cNvSpPr/>
              <p:nvPr/>
            </p:nvSpPr>
            <p:spPr>
              <a:xfrm>
                <a:off x="9244012" y="420290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A3381F"/>
                </a:solidFill>
              </a:ln>
            </p:spPr>
          </p:sp>
        </p:grpSp>
        <p:sp>
          <p:nvSpPr>
            <p:cNvPr id="195" name="TextBox 195"/>
            <p:cNvSpPr txBox="1"/>
            <p:nvPr/>
          </p:nvSpPr>
          <p:spPr>
            <a:xfrm>
              <a:off x="9444038" y="4141470"/>
              <a:ext cx="372999"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升级率</a:t>
              </a:r>
            </a:p>
          </p:txBody>
        </p:sp>
        <p:sp>
          <p:nvSpPr>
            <p:cNvPr id="196" name="TextBox 196"/>
            <p:cNvSpPr txBox="1"/>
            <p:nvPr/>
          </p:nvSpPr>
          <p:spPr>
            <a:xfrm>
              <a:off x="9444038" y="4337209"/>
              <a:ext cx="924941"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活动期内客户升级比例</a:t>
              </a:r>
            </a:p>
          </p:txBody>
        </p:sp>
        <p:sp>
          <p:nvSpPr>
            <p:cNvPr id="197" name="Line 197"/>
            <p:cNvSpPr/>
            <p:nvPr/>
          </p:nvSpPr>
          <p:spPr>
            <a:xfrm>
              <a:off x="9201150" y="4514850"/>
              <a:ext cx="2457450" cy="9525"/>
            </a:xfrm>
            <a:custGeom>
              <a:avLst/>
              <a:gdLst/>
              <a:ahLst/>
              <a:cxnLst/>
              <a:rect l="l" t="t" r="r" b="b"/>
              <a:pathLst>
                <a:path w="2457450" h="9525">
                  <a:moveTo>
                    <a:pt x="0" y="0"/>
                  </a:moveTo>
                  <a:lnTo>
                    <a:pt x="2457450" y="0"/>
                  </a:lnTo>
                </a:path>
              </a:pathLst>
            </a:custGeom>
            <a:noFill/>
            <a:ln w="9525">
              <a:solidFill>
                <a:srgbClr val="F0E8D8"/>
              </a:solidFill>
            </a:ln>
          </p:spPr>
        </p:sp>
        <p:grpSp>
          <p:nvGrpSpPr>
            <p:cNvPr id="201" name="Group 201"/>
            <p:cNvGrpSpPr/>
            <p:nvPr/>
          </p:nvGrpSpPr>
          <p:grpSpPr>
            <a:xfrm>
              <a:off x="9222581" y="4650581"/>
              <a:ext cx="128588" cy="128588"/>
              <a:chOff x="9222581" y="4650581"/>
              <a:chExt cx="128588" cy="128588"/>
            </a:xfrm>
          </p:grpSpPr>
          <p:sp>
            <p:nvSpPr>
              <p:cNvPr id="198" name="Freeform 198"/>
              <p:cNvSpPr/>
              <p:nvPr/>
            </p:nvSpPr>
            <p:spPr>
              <a:xfrm>
                <a:off x="9279731" y="470773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C26D5E"/>
                </a:solidFill>
              </a:ln>
            </p:spPr>
          </p:sp>
          <p:sp>
            <p:nvSpPr>
              <p:cNvPr id="199" name="Freeform 199"/>
              <p:cNvSpPr/>
              <p:nvPr/>
            </p:nvSpPr>
            <p:spPr>
              <a:xfrm>
                <a:off x="9251156" y="467915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C26D5E"/>
                </a:solidFill>
              </a:ln>
            </p:spPr>
          </p:sp>
          <p:sp>
            <p:nvSpPr>
              <p:cNvPr id="200" name="Freeform 200"/>
              <p:cNvSpPr/>
              <p:nvPr/>
            </p:nvSpPr>
            <p:spPr>
              <a:xfrm>
                <a:off x="9222581" y="46505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C26D5E"/>
                </a:solidFill>
              </a:ln>
            </p:spPr>
          </p:sp>
        </p:grpSp>
        <p:sp>
          <p:nvSpPr>
            <p:cNvPr id="202" name="TextBox 202"/>
            <p:cNvSpPr txBox="1"/>
            <p:nvPr/>
          </p:nvSpPr>
          <p:spPr>
            <a:xfrm>
              <a:off x="9444038" y="4674870"/>
              <a:ext cx="466908" cy="176212"/>
            </a:xfrm>
            <a:prstGeom prst="rect">
              <a:avLst/>
            </a:prstGeom>
            <a:noFill/>
            <a:ln>
              <a:noFill/>
            </a:ln>
          </p:spPr>
          <p:txBody>
            <a:bodyPr wrap="none" lIns="0" tIns="0" rIns="0" bIns="0" anchor="t" anchorCtr="0">
              <a:spAutoFit/>
            </a:bodyPr>
            <a:lstStyle/>
            <a:p>
              <a:pPr algn="l"/>
              <a:r>
                <a:rPr lang="zh-CN" sz="900" b="1" dirty="0">
                  <a:solidFill>
                    <a:srgbClr val="5E3A33"/>
                  </a:solidFill>
                  <a:latin typeface="+mn-lt"/>
                  <a:ea typeface="+mn-ea"/>
                  <a:cs typeface="+mn-cs"/>
                </a:rPr>
                <a:t xml:space="preserve">ROI　　</a:t>
              </a:r>
            </a:p>
          </p:txBody>
        </p:sp>
        <p:sp>
          <p:nvSpPr>
            <p:cNvPr id="203" name="TextBox 203"/>
            <p:cNvSpPr txBox="1"/>
            <p:nvPr/>
          </p:nvSpPr>
          <p:spPr>
            <a:xfrm>
              <a:off x="9444038" y="4870609"/>
              <a:ext cx="1524538"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 xml:space="preserve">（增量收入－权益成本）÷权益成本　</a:t>
              </a:r>
            </a:p>
          </p:txBody>
        </p:sp>
        <p:sp>
          <p:nvSpPr>
            <p:cNvPr id="204" name="Rectangle 204"/>
            <p:cNvSpPr/>
            <p:nvPr/>
          </p:nvSpPr>
          <p:spPr>
            <a:xfrm>
              <a:off x="9182100" y="5219700"/>
              <a:ext cx="2495550" cy="1295400"/>
            </a:xfrm>
            <a:prstGeom prst="roundRect">
              <a:avLst>
                <a:gd name="adj" fmla="val 5882"/>
              </a:avLst>
            </a:prstGeom>
            <a:solidFill>
              <a:srgbClr val="FBF4E7"/>
            </a:solidFill>
            <a:ln>
              <a:noFill/>
            </a:ln>
          </p:spPr>
        </p:sp>
        <p:grpSp>
          <p:nvGrpSpPr>
            <p:cNvPr id="208" name="Group 208"/>
            <p:cNvGrpSpPr/>
            <p:nvPr/>
          </p:nvGrpSpPr>
          <p:grpSpPr>
            <a:xfrm>
              <a:off x="9336881" y="5374481"/>
              <a:ext cx="128588" cy="128587"/>
              <a:chOff x="9336881" y="5374481"/>
              <a:chExt cx="128588" cy="128587"/>
            </a:xfrm>
          </p:grpSpPr>
          <p:sp>
            <p:nvSpPr>
              <p:cNvPr id="205" name="Freeform 205"/>
              <p:cNvSpPr/>
              <p:nvPr/>
            </p:nvSpPr>
            <p:spPr>
              <a:xfrm>
                <a:off x="9336881" y="5374481"/>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A24B3C"/>
                </a:solidFill>
              </a:ln>
            </p:spPr>
          </p:sp>
          <p:sp>
            <p:nvSpPr>
              <p:cNvPr id="206" name="Freeform 206"/>
              <p:cNvSpPr/>
              <p:nvPr/>
            </p:nvSpPr>
            <p:spPr>
              <a:xfrm>
                <a:off x="9362427" y="5403056"/>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A24B3C"/>
                </a:solidFill>
              </a:ln>
            </p:spPr>
          </p:sp>
          <p:sp>
            <p:nvSpPr>
              <p:cNvPr id="207" name="Freeform 207"/>
              <p:cNvSpPr/>
              <p:nvPr/>
            </p:nvSpPr>
            <p:spPr>
              <a:xfrm>
                <a:off x="9384744" y="5474494"/>
                <a:ext cx="32861" cy="9525"/>
              </a:xfrm>
              <a:custGeom>
                <a:avLst/>
                <a:gdLst/>
                <a:ahLst/>
                <a:cxnLst/>
                <a:rect l="l" t="t" r="r" b="b"/>
                <a:pathLst>
                  <a:path w="32861" h="9525">
                    <a:moveTo>
                      <a:pt x="0" y="0"/>
                    </a:moveTo>
                    <a:lnTo>
                      <a:pt x="32861" y="0"/>
                    </a:lnTo>
                  </a:path>
                </a:pathLst>
              </a:custGeom>
              <a:noFill/>
              <a:ln w="14288">
                <a:solidFill>
                  <a:srgbClr val="A24B3C"/>
                </a:solidFill>
              </a:ln>
            </p:spPr>
          </p:sp>
        </p:grpSp>
        <p:sp>
          <p:nvSpPr>
            <p:cNvPr id="209" name="TextBox 209"/>
            <p:cNvSpPr txBox="1"/>
            <p:nvPr/>
          </p:nvSpPr>
          <p:spPr>
            <a:xfrm>
              <a:off x="9558338" y="5405438"/>
              <a:ext cx="693572" cy="147638"/>
            </a:xfrm>
            <a:prstGeom prst="rect">
              <a:avLst/>
            </a:prstGeom>
            <a:noFill/>
            <a:ln>
              <a:noFill/>
            </a:ln>
          </p:spPr>
          <p:txBody>
            <a:bodyPr wrap="none" lIns="0" tIns="0" rIns="0" bIns="0" anchor="t" anchorCtr="0">
              <a:spAutoFit/>
            </a:bodyPr>
            <a:lstStyle/>
            <a:p>
              <a:pPr algn="l"/>
              <a:r>
                <a:rPr lang="zh-CN" sz="750" b="1" dirty="0">
                  <a:solidFill>
                    <a:srgbClr val="A24B3C"/>
                  </a:solidFill>
                  <a:latin typeface="+mn-lt"/>
                  <a:ea typeface="+mn-ea"/>
                  <a:cs typeface="+mn-cs"/>
                </a:rPr>
                <a:t xml:space="preserve">以ROI为核心　</a:t>
              </a:r>
            </a:p>
          </p:txBody>
        </p:sp>
        <p:sp>
          <p:nvSpPr>
            <p:cNvPr id="210" name="TextBox 210"/>
            <p:cNvSpPr txBox="1"/>
            <p:nvPr/>
          </p:nvSpPr>
          <p:spPr>
            <a:xfrm>
              <a:off x="9310688" y="5676186"/>
              <a:ext cx="1271905" cy="445294"/>
            </a:xfrm>
            <a:prstGeom prst="rect">
              <a:avLst/>
            </a:prstGeom>
            <a:noFill/>
            <a:ln>
              <a:noFill/>
            </a:ln>
          </p:spPr>
          <p:txBody>
            <a:bodyPr wrap="none" lIns="0" tIns="0" rIns="0" bIns="0" anchor="t" anchorCtr="0">
              <a:spAutoFit/>
            </a:bodyPr>
            <a:lstStyle/>
            <a:p>
              <a:pPr algn="l">
                <a:lnSpc>
                  <a:spcPts val="1200"/>
                </a:lnSpc>
              </a:pPr>
              <a:r>
                <a:rPr lang="zh-CN" sz="710" dirty="0">
                  <a:solidFill>
                    <a:srgbClr val="4A4A4A"/>
                  </a:solidFill>
                  <a:latin typeface="+mn-lt"/>
                  <a:ea typeface="+mn-ea"/>
                  <a:cs typeface="+mn-cs"/>
                </a:rPr>
                <a:t>综合评估体验价值与投入产出，</a:t>
              </a:r>
              <a:br/>
              <a:r>
                <a:rPr lang="zh-CN" sz="710" dirty="0">
                  <a:solidFill>
                    <a:srgbClr val="4A4A4A"/>
                  </a:solidFill>
                  <a:latin typeface="+mn-lt"/>
                  <a:ea typeface="+mn-ea"/>
                  <a:cs typeface="+mn-cs"/>
                </a:rPr>
                <a:t>实现权益配置精细化、</a:t>
              </a:r>
              <a:br/>
              <a:r>
                <a:rPr lang="zh-CN" sz="710" dirty="0">
                  <a:solidFill>
                    <a:srgbClr val="4A4A4A"/>
                  </a:solidFill>
                  <a:latin typeface="+mn-lt"/>
                  <a:ea typeface="+mn-ea"/>
                  <a:cs typeface="+mn-cs"/>
                </a:rPr>
                <a:t>成本管控可视化</a:t>
              </a:r>
            </a:p>
          </p:txBody>
        </p:sp>
      </p:gr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wave16"/>
          <p:cNvSpPr/>
          <p:nvPr/>
        </p:nvSpPr>
        <p:spPr>
          <a:xfrm>
            <a:off x="0" y="6096000"/>
            <a:ext cx="12192000" cy="762000"/>
          </a:xfrm>
          <a:custGeom>
            <a:avLst/>
            <a:gdLst/>
            <a:ahLst/>
            <a:cxnLst/>
            <a:rect l="l" t="t" r="r" b="b"/>
            <a:pathLst>
              <a:path w="12192000" h="762000">
                <a:moveTo>
                  <a:pt x="0" y="762000"/>
                </a:moveTo>
                <a:cubicBezTo>
                  <a:pt x="2857500" y="266700"/>
                  <a:pt x="5905500" y="723900"/>
                  <a:pt x="8572500" y="381000"/>
                </a:cubicBezTo>
                <a:cubicBezTo>
                  <a:pt x="10287000" y="152400"/>
                  <a:pt x="11430000" y="209550"/>
                  <a:pt x="12192000" y="0"/>
                </a:cubicBezTo>
                <a:lnTo>
                  <a:pt x="12192000" y="762000"/>
                </a:lnTo>
                <a:close/>
              </a:path>
            </a:pathLst>
          </a:custGeom>
          <a:gradFill>
            <a:gsLst>
              <a:gs pos="0">
                <a:srgbClr val="A3381F"/>
              </a:gs>
              <a:gs pos="100000">
                <a:srgbClr val="C85E46"/>
              </a:gs>
            </a:gsLst>
            <a:lin ang="0" scaled="1"/>
          </a:gradFill>
          <a:ln>
            <a:noFill/>
          </a:ln>
        </p:spPr>
      </p:sp>
      <p:sp>
        <p:nvSpPr>
          <p:cNvPr id="3" name="deco-wave16-gold"/>
          <p:cNvSpPr/>
          <p:nvPr/>
        </p:nvSpPr>
        <p:spPr>
          <a:xfrm>
            <a:off x="0" y="5905500"/>
            <a:ext cx="12192000" cy="723900"/>
          </a:xfrm>
          <a:custGeom>
            <a:avLst/>
            <a:gdLst/>
            <a:ahLst/>
            <a:cxnLst/>
            <a:rect l="l" t="t" r="r" b="b"/>
            <a:pathLst>
              <a:path w="12192000" h="723900">
                <a:moveTo>
                  <a:pt x="0" y="723900"/>
                </a:moveTo>
                <a:cubicBezTo>
                  <a:pt x="2857500" y="247650"/>
                  <a:pt x="5905500" y="685800"/>
                  <a:pt x="8572500" y="361950"/>
                </a:cubicBezTo>
                <a:cubicBezTo>
                  <a:pt x="10287000" y="152400"/>
                  <a:pt x="11430000" y="190500"/>
                  <a:pt x="12192000" y="0"/>
                </a:cubicBezTo>
              </a:path>
            </a:pathLst>
          </a:custGeom>
          <a:noFill/>
          <a:ln w="19050">
            <a:solidFill>
              <a:srgbClr val="D99285">
                <a:alpha val="80000"/>
              </a:srgbClr>
            </a:solidFill>
          </a:ln>
        </p:spPr>
      </p:sp>
      <p:grpSp>
        <p:nvGrpSpPr>
          <p:cNvPr id="8" name="page-header"/>
          <p:cNvGrpSpPr/>
          <p:nvPr/>
        </p:nvGrpSpPr>
        <p:grpSpPr>
          <a:xfrm>
            <a:off x="0" y="0"/>
            <a:ext cx="11715750" cy="542925"/>
            <a:chOff x="0" y="0"/>
            <a:chExt cx="11715750" cy="542925"/>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5" name="TextBox 5"/>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16</a:t>
              </a:r>
            </a:p>
          </p:txBody>
        </p:sp>
        <p:sp>
          <p:nvSpPr>
            <p:cNvPr id="6" name="TextBox 6"/>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系统与运营保障：建设</a:t>
              </a:r>
              <a:r>
                <a:rPr lang="zh-CN" sz="1950" b="1" dirty="0">
                  <a:solidFill>
                    <a:srgbClr val="A3381F"/>
                  </a:solidFill>
                  <a:latin typeface="SimSun"/>
                  <a:ea typeface="SimSun"/>
                  <a:cs typeface="SimSun"/>
                </a:rPr>
                <a:t>统一数字化经营平台</a:t>
              </a:r>
            </a:p>
          </p:txBody>
        </p:sp>
        <p:sp>
          <p:nvSpPr>
            <p:cNvPr id="7" name="Line 7"/>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grpSp>
        <p:nvGrpSpPr>
          <p:cNvPr id="54" name="layer-platform"/>
          <p:cNvGrpSpPr/>
          <p:nvPr/>
        </p:nvGrpSpPr>
        <p:grpSpPr>
          <a:xfrm>
            <a:off x="381000" y="800100"/>
            <a:ext cx="7896225" cy="1333500"/>
            <a:chOff x="381000" y="800100"/>
            <a:chExt cx="7896225" cy="1333500"/>
          </a:xfrm>
        </p:grpSpPr>
        <p:sp>
          <p:nvSpPr>
            <p:cNvPr id="9" name="Rectangle 9"/>
            <p:cNvSpPr/>
            <p:nvPr/>
          </p:nvSpPr>
          <p:spPr>
            <a:xfrm>
              <a:off x="381000" y="800100"/>
              <a:ext cx="1047750" cy="1333500"/>
            </a:xfrm>
            <a:prstGeom prst="roundRect">
              <a:avLst>
                <a:gd name="adj" fmla="val 9091"/>
              </a:avLst>
            </a:prstGeom>
            <a:solidFill>
              <a:srgbClr val="F3EADA"/>
            </a:solidFill>
            <a:ln>
              <a:noFill/>
            </a:ln>
          </p:spPr>
        </p:sp>
        <p:sp>
          <p:nvSpPr>
            <p:cNvPr id="10" name="Rectangle 10"/>
            <p:cNvSpPr/>
            <p:nvPr/>
          </p:nvSpPr>
          <p:spPr>
            <a:xfrm>
              <a:off x="381000" y="800100"/>
              <a:ext cx="47625" cy="1333500"/>
            </a:xfrm>
            <a:prstGeom prst="rect">
              <a:avLst/>
            </a:prstGeom>
            <a:solidFill>
              <a:srgbClr val="C26D5E"/>
            </a:solidFill>
            <a:ln>
              <a:noFill/>
            </a:ln>
          </p:spPr>
        </p:sp>
        <p:grpSp>
          <p:nvGrpSpPr>
            <p:cNvPr id="16" name="Group 16"/>
            <p:cNvGrpSpPr/>
            <p:nvPr/>
          </p:nvGrpSpPr>
          <p:grpSpPr>
            <a:xfrm>
              <a:off x="797719" y="1159669"/>
              <a:ext cx="214312" cy="214312"/>
              <a:chOff x="797719" y="1159669"/>
              <a:chExt cx="214312" cy="214312"/>
            </a:xfrm>
          </p:grpSpPr>
          <p:sp>
            <p:nvSpPr>
              <p:cNvPr id="11" name="Freeform 11"/>
              <p:cNvSpPr/>
              <p:nvPr/>
            </p:nvSpPr>
            <p:spPr>
              <a:xfrm>
                <a:off x="881062" y="115966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A24B3C"/>
                </a:solidFill>
              </a:ln>
            </p:spPr>
          </p:sp>
          <p:sp>
            <p:nvSpPr>
              <p:cNvPr id="12" name="Freeform 12"/>
              <p:cNvSpPr/>
              <p:nvPr/>
            </p:nvSpPr>
            <p:spPr>
              <a:xfrm>
                <a:off x="797719" y="132635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A24B3C"/>
                </a:solidFill>
              </a:ln>
            </p:spPr>
          </p:sp>
          <p:sp>
            <p:nvSpPr>
              <p:cNvPr id="13" name="Freeform 13"/>
              <p:cNvSpPr/>
              <p:nvPr/>
            </p:nvSpPr>
            <p:spPr>
              <a:xfrm>
                <a:off x="964406" y="132635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A24B3C"/>
                </a:solidFill>
              </a:ln>
            </p:spPr>
          </p:sp>
          <p:sp>
            <p:nvSpPr>
              <p:cNvPr id="14" name="Freeform 14"/>
              <p:cNvSpPr/>
              <p:nvPr/>
            </p:nvSpPr>
            <p:spPr>
              <a:xfrm>
                <a:off x="839391" y="1278731"/>
                <a:ext cx="130969" cy="53578"/>
              </a:xfrm>
              <a:custGeom>
                <a:avLst/>
                <a:gdLst/>
                <a:ahLst/>
                <a:cxnLst/>
                <a:rect l="l" t="t" r="r" b="b"/>
                <a:pathLst>
                  <a:path w="130969" h="53578">
                    <a:moveTo>
                      <a:pt x="0" y="53578"/>
                    </a:moveTo>
                    <a:lnTo>
                      <a:pt x="65484" y="0"/>
                    </a:lnTo>
                    <a:lnTo>
                      <a:pt x="130969" y="53578"/>
                    </a:lnTo>
                  </a:path>
                </a:pathLst>
              </a:custGeom>
              <a:noFill/>
              <a:ln w="23812">
                <a:solidFill>
                  <a:srgbClr val="A24B3C"/>
                </a:solidFill>
              </a:ln>
            </p:spPr>
          </p:sp>
          <p:sp>
            <p:nvSpPr>
              <p:cNvPr id="15" name="Freeform 15"/>
              <p:cNvSpPr/>
              <p:nvPr/>
            </p:nvSpPr>
            <p:spPr>
              <a:xfrm>
                <a:off x="904875" y="1207294"/>
                <a:ext cx="9525" cy="71438"/>
              </a:xfrm>
              <a:custGeom>
                <a:avLst/>
                <a:gdLst/>
                <a:ahLst/>
                <a:cxnLst/>
                <a:rect l="l" t="t" r="r" b="b"/>
                <a:pathLst>
                  <a:path w="9525" h="71438">
                    <a:moveTo>
                      <a:pt x="0" y="0"/>
                    </a:moveTo>
                    <a:lnTo>
                      <a:pt x="0" y="71438"/>
                    </a:lnTo>
                  </a:path>
                </a:pathLst>
              </a:custGeom>
              <a:noFill/>
              <a:ln w="23812">
                <a:solidFill>
                  <a:srgbClr val="A24B3C"/>
                </a:solidFill>
              </a:ln>
            </p:spPr>
          </p:sp>
        </p:grpSp>
        <p:sp>
          <p:nvSpPr>
            <p:cNvPr id="17" name="TextBox 17"/>
            <p:cNvSpPr txBox="1"/>
            <p:nvPr/>
          </p:nvSpPr>
          <p:spPr>
            <a:xfrm>
              <a:off x="672998" y="1593056"/>
              <a:ext cx="463753" cy="220028"/>
            </a:xfrm>
            <a:prstGeom prst="rect">
              <a:avLst/>
            </a:prstGeom>
            <a:noFill/>
            <a:ln>
              <a:noFill/>
            </a:ln>
          </p:spPr>
          <p:txBody>
            <a:bodyPr wrap="none" lIns="0" tIns="0" rIns="0" bIns="0" anchor="t" anchorCtr="0">
              <a:spAutoFit/>
            </a:bodyPr>
            <a:lstStyle/>
            <a:p>
              <a:pPr algn="ctr"/>
              <a:r>
                <a:rPr lang="zh-CN" sz="1120" b="1" dirty="0">
                  <a:solidFill>
                    <a:srgbClr val="A24B3C"/>
                  </a:solidFill>
                  <a:latin typeface="+mn-lt"/>
                  <a:ea typeface="+mn-ea"/>
                  <a:cs typeface="+mn-cs"/>
                </a:rPr>
                <a:t>平台层</a:t>
              </a:r>
            </a:p>
          </p:txBody>
        </p:sp>
        <p:sp>
          <p:nvSpPr>
            <p:cNvPr id="18" name="Rectangle 18"/>
            <p:cNvSpPr/>
            <p:nvPr/>
          </p:nvSpPr>
          <p:spPr>
            <a:xfrm>
              <a:off x="1581150" y="933450"/>
              <a:ext cx="1028700" cy="1066800"/>
            </a:xfrm>
            <a:prstGeom prst="roundRect">
              <a:avLst>
                <a:gd name="adj" fmla="val 7407"/>
              </a:avLst>
            </a:prstGeom>
            <a:solidFill>
              <a:srgbClr val="FFFFFF"/>
            </a:solidFill>
            <a:ln w="9525">
              <a:solidFill>
                <a:srgbClr val="E6D9C0"/>
              </a:solidFill>
            </a:ln>
          </p:spPr>
        </p:sp>
        <p:grpSp>
          <p:nvGrpSpPr>
            <p:cNvPr id="21" name="Group 21"/>
            <p:cNvGrpSpPr/>
            <p:nvPr/>
          </p:nvGrpSpPr>
          <p:grpSpPr>
            <a:xfrm>
              <a:off x="1974056" y="1166813"/>
              <a:ext cx="242888" cy="161925"/>
              <a:chOff x="1974056" y="1166813"/>
              <a:chExt cx="242888" cy="161925"/>
            </a:xfrm>
          </p:grpSpPr>
          <p:sp>
            <p:nvSpPr>
              <p:cNvPr id="19" name="Freeform 19"/>
              <p:cNvSpPr/>
              <p:nvPr/>
            </p:nvSpPr>
            <p:spPr>
              <a:xfrm>
                <a:off x="2068513" y="1220788"/>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A3381F"/>
                </a:solidFill>
              </a:ln>
            </p:spPr>
          </p:sp>
          <p:sp>
            <p:nvSpPr>
              <p:cNvPr id="20" name="Freeform 20"/>
              <p:cNvSpPr/>
              <p:nvPr/>
            </p:nvSpPr>
            <p:spPr>
              <a:xfrm>
                <a:off x="1974056" y="1166813"/>
                <a:ext cx="242888" cy="161925"/>
              </a:xfrm>
              <a:custGeom>
                <a:avLst/>
                <a:gdLst/>
                <a:ahLst/>
                <a:cxnLst/>
                <a:rect l="l" t="t" r="r" b="b"/>
                <a:pathLst>
                  <a:path w="242888" h="161925">
                    <a:moveTo>
                      <a:pt x="242888" y="80963"/>
                    </a:moveTo>
                    <a:cubicBezTo>
                      <a:pt x="210503" y="134938"/>
                      <a:pt x="170022" y="161925"/>
                      <a:pt x="121444" y="161925"/>
                    </a:cubicBezTo>
                    <a:cubicBezTo>
                      <a:pt x="72866" y="161925"/>
                      <a:pt x="32385" y="134938"/>
                      <a:pt x="0" y="80963"/>
                    </a:cubicBezTo>
                    <a:cubicBezTo>
                      <a:pt x="32385" y="26988"/>
                      <a:pt x="72866" y="0"/>
                      <a:pt x="121444" y="0"/>
                    </a:cubicBezTo>
                    <a:cubicBezTo>
                      <a:pt x="170022" y="0"/>
                      <a:pt x="210503" y="26988"/>
                      <a:pt x="242888" y="80963"/>
                    </a:cubicBezTo>
                  </a:path>
                </a:pathLst>
              </a:custGeom>
              <a:noFill/>
              <a:ln w="26988">
                <a:solidFill>
                  <a:srgbClr val="A3381F"/>
                </a:solidFill>
              </a:ln>
            </p:spPr>
          </p:sp>
        </p:grpSp>
        <p:sp>
          <p:nvSpPr>
            <p:cNvPr id="22" name="TextBox 22"/>
            <p:cNvSpPr txBox="1"/>
            <p:nvPr/>
          </p:nvSpPr>
          <p:spPr>
            <a:xfrm>
              <a:off x="1732737" y="1667589"/>
              <a:ext cx="725525"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 xml:space="preserve">客户360视图　</a:t>
              </a:r>
            </a:p>
          </p:txBody>
        </p:sp>
        <p:sp>
          <p:nvSpPr>
            <p:cNvPr id="23" name="Rectangle 23"/>
            <p:cNvSpPr/>
            <p:nvPr/>
          </p:nvSpPr>
          <p:spPr>
            <a:xfrm>
              <a:off x="2714625" y="933450"/>
              <a:ext cx="1028700" cy="1066800"/>
            </a:xfrm>
            <a:prstGeom prst="roundRect">
              <a:avLst>
                <a:gd name="adj" fmla="val 7407"/>
              </a:avLst>
            </a:prstGeom>
            <a:solidFill>
              <a:srgbClr val="FFFFFF"/>
            </a:solidFill>
            <a:ln w="9525">
              <a:solidFill>
                <a:srgbClr val="E6D9C0"/>
              </a:solidFill>
            </a:ln>
          </p:spPr>
        </p:sp>
        <p:grpSp>
          <p:nvGrpSpPr>
            <p:cNvPr id="26" name="Group 26"/>
            <p:cNvGrpSpPr/>
            <p:nvPr/>
          </p:nvGrpSpPr>
          <p:grpSpPr>
            <a:xfrm>
              <a:off x="3107531" y="1126331"/>
              <a:ext cx="246086" cy="246086"/>
              <a:chOff x="3107531" y="1126331"/>
              <a:chExt cx="246086" cy="246086"/>
            </a:xfrm>
          </p:grpSpPr>
          <p:sp>
            <p:nvSpPr>
              <p:cNvPr id="24" name="Freeform 24"/>
              <p:cNvSpPr/>
              <p:nvPr/>
            </p:nvSpPr>
            <p:spPr>
              <a:xfrm>
                <a:off x="3154760" y="1173560"/>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6988">
                <a:solidFill>
                  <a:srgbClr val="A24B3C"/>
                </a:solidFill>
              </a:ln>
            </p:spPr>
          </p:sp>
          <p:sp>
            <p:nvSpPr>
              <p:cNvPr id="25" name="Freeform 25"/>
              <p:cNvSpPr/>
              <p:nvPr/>
            </p:nvSpPr>
            <p:spPr>
              <a:xfrm>
                <a:off x="3107531" y="1126331"/>
                <a:ext cx="246086" cy="246086"/>
              </a:xfrm>
              <a:custGeom>
                <a:avLst/>
                <a:gdLst/>
                <a:ahLst/>
                <a:cxnLst/>
                <a:rect l="l" t="t" r="r" b="b"/>
                <a:pathLst>
                  <a:path w="246086" h="246086">
                    <a:moveTo>
                      <a:pt x="0" y="40481"/>
                    </a:moveTo>
                    <a:lnTo>
                      <a:pt x="0" y="110271"/>
                    </a:lnTo>
                    <a:cubicBezTo>
                      <a:pt x="2" y="117428"/>
                      <a:pt x="2846" y="124291"/>
                      <a:pt x="7907" y="129351"/>
                    </a:cubicBezTo>
                    <a:lnTo>
                      <a:pt x="111944" y="233388"/>
                    </a:lnTo>
                    <a:cubicBezTo>
                      <a:pt x="124644" y="246086"/>
                      <a:pt x="145232" y="246086"/>
                      <a:pt x="157931" y="233388"/>
                    </a:cubicBezTo>
                    <a:lnTo>
                      <a:pt x="233388" y="157931"/>
                    </a:lnTo>
                    <a:cubicBezTo>
                      <a:pt x="246086" y="145232"/>
                      <a:pt x="246086" y="124644"/>
                      <a:pt x="233388" y="111944"/>
                    </a:cubicBezTo>
                    <a:lnTo>
                      <a:pt x="129351" y="7907"/>
                    </a:lnTo>
                    <a:cubicBezTo>
                      <a:pt x="124291" y="2846"/>
                      <a:pt x="117428" y="2"/>
                      <a:pt x="110271" y="0"/>
                    </a:cubicBezTo>
                    <a:lnTo>
                      <a:pt x="40481" y="0"/>
                    </a:lnTo>
                    <a:cubicBezTo>
                      <a:pt x="29745" y="0"/>
                      <a:pt x="19448" y="4265"/>
                      <a:pt x="11857" y="11857"/>
                    </a:cubicBezTo>
                    <a:cubicBezTo>
                      <a:pt x="4265" y="19448"/>
                      <a:pt x="0" y="29745"/>
                      <a:pt x="0" y="40481"/>
                    </a:cubicBezTo>
                  </a:path>
                </a:pathLst>
              </a:custGeom>
              <a:noFill/>
              <a:ln w="26988">
                <a:solidFill>
                  <a:srgbClr val="A24B3C"/>
                </a:solidFill>
              </a:ln>
            </p:spPr>
          </p:sp>
        </p:grpSp>
        <p:sp>
          <p:nvSpPr>
            <p:cNvPr id="27" name="TextBox 27"/>
            <p:cNvSpPr txBox="1"/>
            <p:nvPr/>
          </p:nvSpPr>
          <p:spPr>
            <a:xfrm>
              <a:off x="2905163" y="1667589"/>
              <a:ext cx="647624"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标签管理平台</a:t>
              </a:r>
            </a:p>
          </p:txBody>
        </p:sp>
        <p:sp>
          <p:nvSpPr>
            <p:cNvPr id="28" name="Rectangle 28"/>
            <p:cNvSpPr/>
            <p:nvPr/>
          </p:nvSpPr>
          <p:spPr>
            <a:xfrm>
              <a:off x="3848100" y="933450"/>
              <a:ext cx="1028700" cy="1066800"/>
            </a:xfrm>
            <a:prstGeom prst="roundRect">
              <a:avLst>
                <a:gd name="adj" fmla="val 7407"/>
              </a:avLst>
            </a:prstGeom>
            <a:solidFill>
              <a:srgbClr val="FFFFFF"/>
            </a:solidFill>
            <a:ln w="9525">
              <a:solidFill>
                <a:srgbClr val="E6D9C0"/>
              </a:solidFill>
            </a:ln>
          </p:spPr>
        </p:sp>
        <p:grpSp>
          <p:nvGrpSpPr>
            <p:cNvPr id="32" name="Group 32"/>
            <p:cNvGrpSpPr/>
            <p:nvPr/>
          </p:nvGrpSpPr>
          <p:grpSpPr>
            <a:xfrm>
              <a:off x="4241006" y="1126331"/>
              <a:ext cx="242888" cy="242888"/>
              <a:chOff x="4241006" y="1126331"/>
              <a:chExt cx="242888" cy="242888"/>
            </a:xfrm>
          </p:grpSpPr>
          <p:sp>
            <p:nvSpPr>
              <p:cNvPr id="29" name="Freeform 29"/>
              <p:cNvSpPr/>
              <p:nvPr/>
            </p:nvSpPr>
            <p:spPr>
              <a:xfrm>
                <a:off x="4348957" y="1234282"/>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6988">
                <a:solidFill>
                  <a:srgbClr val="A3381F"/>
                </a:solidFill>
              </a:ln>
            </p:spPr>
          </p:sp>
          <p:sp>
            <p:nvSpPr>
              <p:cNvPr id="30" name="Freeform 30"/>
              <p:cNvSpPr/>
              <p:nvPr/>
            </p:nvSpPr>
            <p:spPr>
              <a:xfrm>
                <a:off x="4294981" y="1180306"/>
                <a:ext cx="134938" cy="134938"/>
              </a:xfrm>
              <a:custGeom>
                <a:avLst/>
                <a:gdLst/>
                <a:ahLst/>
                <a:cxnLst/>
                <a:rect l="l" t="t" r="r" b="b"/>
                <a:pathLst>
                  <a:path w="134938" h="134938">
                    <a:moveTo>
                      <a:pt x="0" y="67469"/>
                    </a:moveTo>
                    <a:cubicBezTo>
                      <a:pt x="0" y="104731"/>
                      <a:pt x="30207" y="134938"/>
                      <a:pt x="67469" y="134938"/>
                    </a:cubicBezTo>
                    <a:cubicBezTo>
                      <a:pt x="104731" y="134938"/>
                      <a:pt x="134938" y="104731"/>
                      <a:pt x="134938" y="67469"/>
                    </a:cubicBezTo>
                    <a:cubicBezTo>
                      <a:pt x="134938" y="30207"/>
                      <a:pt x="104731" y="0"/>
                      <a:pt x="67469" y="0"/>
                    </a:cubicBezTo>
                    <a:cubicBezTo>
                      <a:pt x="30207" y="0"/>
                      <a:pt x="0" y="30207"/>
                      <a:pt x="0" y="67469"/>
                    </a:cubicBezTo>
                  </a:path>
                </a:pathLst>
              </a:custGeom>
              <a:noFill/>
              <a:ln w="26988">
                <a:solidFill>
                  <a:srgbClr val="A3381F"/>
                </a:solidFill>
              </a:ln>
            </p:spPr>
          </p:sp>
          <p:sp>
            <p:nvSpPr>
              <p:cNvPr id="31" name="Freeform 31"/>
              <p:cNvSpPr/>
              <p:nvPr/>
            </p:nvSpPr>
            <p:spPr>
              <a:xfrm>
                <a:off x="4241006" y="1126331"/>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26988">
                <a:solidFill>
                  <a:srgbClr val="A3381F"/>
                </a:solidFill>
              </a:ln>
            </p:spPr>
          </p:sp>
        </p:grpSp>
        <p:sp>
          <p:nvSpPr>
            <p:cNvPr id="33" name="TextBox 33"/>
            <p:cNvSpPr txBox="1"/>
            <p:nvPr/>
          </p:nvSpPr>
          <p:spPr>
            <a:xfrm>
              <a:off x="4038638" y="1667589"/>
              <a:ext cx="647624"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客群圈选平台</a:t>
              </a:r>
            </a:p>
          </p:txBody>
        </p:sp>
        <p:sp>
          <p:nvSpPr>
            <p:cNvPr id="34" name="Rectangle 34"/>
            <p:cNvSpPr/>
            <p:nvPr/>
          </p:nvSpPr>
          <p:spPr>
            <a:xfrm>
              <a:off x="4981575" y="933450"/>
              <a:ext cx="1028700" cy="1066800"/>
            </a:xfrm>
            <a:prstGeom prst="roundRect">
              <a:avLst>
                <a:gd name="adj" fmla="val 7407"/>
              </a:avLst>
            </a:prstGeom>
            <a:solidFill>
              <a:srgbClr val="FFFFFF"/>
            </a:solidFill>
            <a:ln w="9525">
              <a:solidFill>
                <a:srgbClr val="E6D9C0"/>
              </a:solidFill>
            </a:ln>
          </p:spPr>
        </p:sp>
        <p:grpSp>
          <p:nvGrpSpPr>
            <p:cNvPr id="38" name="Group 38"/>
            <p:cNvGrpSpPr/>
            <p:nvPr/>
          </p:nvGrpSpPr>
          <p:grpSpPr>
            <a:xfrm>
              <a:off x="5401469" y="1126331"/>
              <a:ext cx="188913" cy="242888"/>
              <a:chOff x="5401469" y="1126331"/>
              <a:chExt cx="188913" cy="242888"/>
            </a:xfrm>
          </p:grpSpPr>
          <p:sp>
            <p:nvSpPr>
              <p:cNvPr id="35" name="Freeform 35"/>
              <p:cNvSpPr/>
              <p:nvPr/>
            </p:nvSpPr>
            <p:spPr>
              <a:xfrm>
                <a:off x="5401469" y="1207294"/>
                <a:ext cx="188913" cy="161925"/>
              </a:xfrm>
              <a:custGeom>
                <a:avLst/>
                <a:gdLst/>
                <a:ahLst/>
                <a:cxnLst/>
                <a:rect l="l" t="t" r="r" b="b"/>
                <a:pathLst>
                  <a:path w="188913" h="161925">
                    <a:moveTo>
                      <a:pt x="40481" y="0"/>
                    </a:moveTo>
                    <a:lnTo>
                      <a:pt x="26988" y="0"/>
                    </a:lnTo>
                    <a:cubicBezTo>
                      <a:pt x="12083" y="0"/>
                      <a:pt x="0" y="12083"/>
                      <a:pt x="0" y="26988"/>
                    </a:cubicBezTo>
                    <a:lnTo>
                      <a:pt x="0" y="134938"/>
                    </a:lnTo>
                    <a:cubicBezTo>
                      <a:pt x="0" y="149843"/>
                      <a:pt x="12083" y="161925"/>
                      <a:pt x="26988" y="161925"/>
                    </a:cubicBezTo>
                    <a:lnTo>
                      <a:pt x="161925" y="161925"/>
                    </a:lnTo>
                    <a:cubicBezTo>
                      <a:pt x="176830" y="161925"/>
                      <a:pt x="188913" y="149843"/>
                      <a:pt x="188913" y="134938"/>
                    </a:cubicBezTo>
                    <a:lnTo>
                      <a:pt x="188913" y="26988"/>
                    </a:lnTo>
                    <a:cubicBezTo>
                      <a:pt x="188913" y="12083"/>
                      <a:pt x="176830" y="0"/>
                      <a:pt x="161925" y="0"/>
                    </a:cubicBezTo>
                    <a:lnTo>
                      <a:pt x="148432" y="0"/>
                    </a:lnTo>
                  </a:path>
                </a:pathLst>
              </a:custGeom>
              <a:noFill/>
              <a:ln w="26988">
                <a:solidFill>
                  <a:srgbClr val="A24B3C"/>
                </a:solidFill>
              </a:ln>
            </p:spPr>
          </p:sp>
          <p:sp>
            <p:nvSpPr>
              <p:cNvPr id="36" name="Freeform 36"/>
              <p:cNvSpPr/>
              <p:nvPr/>
            </p:nvSpPr>
            <p:spPr>
              <a:xfrm>
                <a:off x="5495925" y="1126331"/>
                <a:ext cx="9525" cy="148432"/>
              </a:xfrm>
              <a:custGeom>
                <a:avLst/>
                <a:gdLst/>
                <a:ahLst/>
                <a:cxnLst/>
                <a:rect l="l" t="t" r="r" b="b"/>
                <a:pathLst>
                  <a:path w="9525" h="148432">
                    <a:moveTo>
                      <a:pt x="0" y="148432"/>
                    </a:moveTo>
                    <a:lnTo>
                      <a:pt x="0" y="0"/>
                    </a:lnTo>
                  </a:path>
                </a:pathLst>
              </a:custGeom>
              <a:noFill/>
              <a:ln w="26988">
                <a:solidFill>
                  <a:srgbClr val="A24B3C"/>
                </a:solidFill>
              </a:ln>
            </p:spPr>
          </p:sp>
          <p:sp>
            <p:nvSpPr>
              <p:cNvPr id="37" name="Freeform 37"/>
              <p:cNvSpPr/>
              <p:nvPr/>
            </p:nvSpPr>
            <p:spPr>
              <a:xfrm>
                <a:off x="5455444" y="1126331"/>
                <a:ext cx="80963" cy="40481"/>
              </a:xfrm>
              <a:custGeom>
                <a:avLst/>
                <a:gdLst/>
                <a:ahLst/>
                <a:cxnLst/>
                <a:rect l="l" t="t" r="r" b="b"/>
                <a:pathLst>
                  <a:path w="80963" h="40481">
                    <a:moveTo>
                      <a:pt x="0" y="40481"/>
                    </a:moveTo>
                    <a:lnTo>
                      <a:pt x="40481" y="0"/>
                    </a:lnTo>
                    <a:lnTo>
                      <a:pt x="80963" y="40481"/>
                    </a:lnTo>
                  </a:path>
                </a:pathLst>
              </a:custGeom>
              <a:noFill/>
              <a:ln w="26988">
                <a:solidFill>
                  <a:srgbClr val="A24B3C"/>
                </a:solidFill>
              </a:ln>
            </p:spPr>
          </p:sp>
        </p:grpSp>
        <p:sp>
          <p:nvSpPr>
            <p:cNvPr id="39" name="TextBox 39"/>
            <p:cNvSpPr txBox="1"/>
            <p:nvPr/>
          </p:nvSpPr>
          <p:spPr>
            <a:xfrm>
              <a:off x="5172113" y="1667589"/>
              <a:ext cx="647624"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营销旅程平台</a:t>
              </a:r>
            </a:p>
          </p:txBody>
        </p:sp>
        <p:sp>
          <p:nvSpPr>
            <p:cNvPr id="40" name="Rectangle 40"/>
            <p:cNvSpPr/>
            <p:nvPr/>
          </p:nvSpPr>
          <p:spPr>
            <a:xfrm>
              <a:off x="6115050" y="933450"/>
              <a:ext cx="1028700" cy="1066800"/>
            </a:xfrm>
            <a:prstGeom prst="roundRect">
              <a:avLst>
                <a:gd name="adj" fmla="val 7407"/>
              </a:avLst>
            </a:prstGeom>
            <a:solidFill>
              <a:srgbClr val="FFFFFF"/>
            </a:solidFill>
            <a:ln w="9525">
              <a:solidFill>
                <a:srgbClr val="E6D9C0"/>
              </a:solidFill>
            </a:ln>
          </p:spPr>
        </p:sp>
        <p:grpSp>
          <p:nvGrpSpPr>
            <p:cNvPr id="45" name="Group 45"/>
            <p:cNvGrpSpPr/>
            <p:nvPr/>
          </p:nvGrpSpPr>
          <p:grpSpPr>
            <a:xfrm>
              <a:off x="6507956" y="1125867"/>
              <a:ext cx="242888" cy="243352"/>
              <a:chOff x="6507956" y="1125867"/>
              <a:chExt cx="242888" cy="243352"/>
            </a:xfrm>
          </p:grpSpPr>
          <p:sp>
            <p:nvSpPr>
              <p:cNvPr id="41" name="Freeform 41"/>
              <p:cNvSpPr/>
              <p:nvPr/>
            </p:nvSpPr>
            <p:spPr>
              <a:xfrm>
                <a:off x="6507956" y="1193800"/>
                <a:ext cx="242888" cy="53975"/>
              </a:xfrm>
              <a:custGeom>
                <a:avLst/>
                <a:gdLst/>
                <a:ahLst/>
                <a:cxnLst/>
                <a:rect l="l" t="t" r="r" b="b"/>
                <a:pathLst>
                  <a:path w="242888" h="53975">
                    <a:moveTo>
                      <a:pt x="0" y="13494"/>
                    </a:moveTo>
                    <a:cubicBezTo>
                      <a:pt x="0" y="6041"/>
                      <a:pt x="6041" y="0"/>
                      <a:pt x="13494" y="0"/>
                    </a:cubicBezTo>
                    <a:lnTo>
                      <a:pt x="229394" y="0"/>
                    </a:lnTo>
                    <a:cubicBezTo>
                      <a:pt x="236847" y="0"/>
                      <a:pt x="242888" y="6041"/>
                      <a:pt x="242888" y="13494"/>
                    </a:cubicBezTo>
                    <a:lnTo>
                      <a:pt x="242888" y="40481"/>
                    </a:lnTo>
                    <a:cubicBezTo>
                      <a:pt x="242888" y="47934"/>
                      <a:pt x="236847" y="53975"/>
                      <a:pt x="229394" y="53975"/>
                    </a:cubicBezTo>
                    <a:lnTo>
                      <a:pt x="13494" y="53975"/>
                    </a:lnTo>
                    <a:cubicBezTo>
                      <a:pt x="6041" y="53975"/>
                      <a:pt x="0" y="47934"/>
                      <a:pt x="0" y="40481"/>
                    </a:cubicBezTo>
                    <a:lnTo>
                      <a:pt x="0" y="13494"/>
                    </a:lnTo>
                  </a:path>
                </a:pathLst>
              </a:custGeom>
              <a:noFill/>
              <a:ln w="26988">
                <a:solidFill>
                  <a:srgbClr val="A3381F"/>
                </a:solidFill>
              </a:ln>
            </p:spPr>
          </p:sp>
          <p:sp>
            <p:nvSpPr>
              <p:cNvPr id="42" name="Freeform 42"/>
              <p:cNvSpPr/>
              <p:nvPr/>
            </p:nvSpPr>
            <p:spPr>
              <a:xfrm>
                <a:off x="6629400" y="1193800"/>
                <a:ext cx="9525" cy="175419"/>
              </a:xfrm>
              <a:custGeom>
                <a:avLst/>
                <a:gdLst/>
                <a:ahLst/>
                <a:cxnLst/>
                <a:rect l="l" t="t" r="r" b="b"/>
                <a:pathLst>
                  <a:path w="9525" h="175419">
                    <a:moveTo>
                      <a:pt x="0" y="0"/>
                    </a:moveTo>
                    <a:lnTo>
                      <a:pt x="0" y="175419"/>
                    </a:lnTo>
                  </a:path>
                </a:pathLst>
              </a:custGeom>
              <a:noFill/>
              <a:ln w="26988">
                <a:solidFill>
                  <a:srgbClr val="A3381F"/>
                </a:solidFill>
              </a:ln>
            </p:spPr>
          </p:sp>
          <p:sp>
            <p:nvSpPr>
              <p:cNvPr id="43" name="Freeform 43"/>
              <p:cNvSpPr/>
              <p:nvPr/>
            </p:nvSpPr>
            <p:spPr>
              <a:xfrm>
                <a:off x="6534944" y="1247775"/>
                <a:ext cx="188913" cy="121444"/>
              </a:xfrm>
              <a:custGeom>
                <a:avLst/>
                <a:gdLst/>
                <a:ahLst/>
                <a:cxnLst/>
                <a:rect l="l" t="t" r="r" b="b"/>
                <a:pathLst>
                  <a:path w="188913" h="121444">
                    <a:moveTo>
                      <a:pt x="188913" y="0"/>
                    </a:moveTo>
                    <a:lnTo>
                      <a:pt x="188913" y="94456"/>
                    </a:lnTo>
                    <a:cubicBezTo>
                      <a:pt x="188913" y="109361"/>
                      <a:pt x="176830" y="121444"/>
                      <a:pt x="161925" y="121444"/>
                    </a:cubicBezTo>
                    <a:lnTo>
                      <a:pt x="26988" y="121444"/>
                    </a:lnTo>
                    <a:cubicBezTo>
                      <a:pt x="12083" y="121444"/>
                      <a:pt x="0" y="109361"/>
                      <a:pt x="0" y="94456"/>
                    </a:cubicBezTo>
                    <a:lnTo>
                      <a:pt x="0" y="0"/>
                    </a:lnTo>
                  </a:path>
                </a:pathLst>
              </a:custGeom>
              <a:noFill/>
              <a:ln w="26988">
                <a:solidFill>
                  <a:srgbClr val="A3381F"/>
                </a:solidFill>
              </a:ln>
            </p:spPr>
          </p:sp>
          <p:sp>
            <p:nvSpPr>
              <p:cNvPr id="44" name="Freeform 44"/>
              <p:cNvSpPr/>
              <p:nvPr/>
            </p:nvSpPr>
            <p:spPr>
              <a:xfrm>
                <a:off x="6534944" y="1125867"/>
                <a:ext cx="188913" cy="67933"/>
              </a:xfrm>
              <a:custGeom>
                <a:avLst/>
                <a:gdLst/>
                <a:ahLst/>
                <a:cxnLst/>
                <a:rect l="l" t="t" r="r" b="b"/>
                <a:pathLst>
                  <a:path w="188913" h="67933">
                    <a:moveTo>
                      <a:pt x="33734" y="67933"/>
                    </a:moveTo>
                    <a:cubicBezTo>
                      <a:pt x="15103" y="67933"/>
                      <a:pt x="0" y="52830"/>
                      <a:pt x="0" y="34199"/>
                    </a:cubicBezTo>
                    <a:cubicBezTo>
                      <a:pt x="0" y="15568"/>
                      <a:pt x="15103" y="464"/>
                      <a:pt x="33734" y="464"/>
                    </a:cubicBezTo>
                    <a:cubicBezTo>
                      <a:pt x="60374" y="0"/>
                      <a:pt x="84467" y="26770"/>
                      <a:pt x="94456" y="67933"/>
                    </a:cubicBezTo>
                    <a:cubicBezTo>
                      <a:pt x="104446" y="26770"/>
                      <a:pt x="128539" y="0"/>
                      <a:pt x="155178" y="464"/>
                    </a:cubicBezTo>
                    <a:cubicBezTo>
                      <a:pt x="173810" y="464"/>
                      <a:pt x="188913" y="15568"/>
                      <a:pt x="188913" y="34199"/>
                    </a:cubicBezTo>
                    <a:cubicBezTo>
                      <a:pt x="188913" y="52830"/>
                      <a:pt x="173810" y="67933"/>
                      <a:pt x="155178" y="67933"/>
                    </a:cubicBezTo>
                  </a:path>
                </a:pathLst>
              </a:custGeom>
              <a:noFill/>
              <a:ln w="26988">
                <a:solidFill>
                  <a:srgbClr val="A3381F"/>
                </a:solidFill>
              </a:ln>
            </p:spPr>
          </p:sp>
        </p:grpSp>
        <p:sp>
          <p:nvSpPr>
            <p:cNvPr id="46" name="TextBox 46"/>
            <p:cNvSpPr txBox="1"/>
            <p:nvPr/>
          </p:nvSpPr>
          <p:spPr>
            <a:xfrm>
              <a:off x="6305588" y="1667589"/>
              <a:ext cx="647624"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权益管理平台</a:t>
              </a:r>
            </a:p>
          </p:txBody>
        </p:sp>
        <p:sp>
          <p:nvSpPr>
            <p:cNvPr id="47" name="Rectangle 47"/>
            <p:cNvSpPr/>
            <p:nvPr/>
          </p:nvSpPr>
          <p:spPr>
            <a:xfrm>
              <a:off x="7248525" y="933450"/>
              <a:ext cx="1028700" cy="1066800"/>
            </a:xfrm>
            <a:prstGeom prst="roundRect">
              <a:avLst>
                <a:gd name="adj" fmla="val 7407"/>
              </a:avLst>
            </a:prstGeom>
            <a:solidFill>
              <a:srgbClr val="FFFFFF"/>
            </a:solidFill>
            <a:ln w="9525">
              <a:solidFill>
                <a:srgbClr val="E6D9C0"/>
              </a:solidFill>
            </a:ln>
          </p:spPr>
        </p:sp>
        <p:grpSp>
          <p:nvGrpSpPr>
            <p:cNvPr id="52" name="Group 52"/>
            <p:cNvGrpSpPr/>
            <p:nvPr/>
          </p:nvGrpSpPr>
          <p:grpSpPr>
            <a:xfrm>
              <a:off x="7641431" y="1139825"/>
              <a:ext cx="242889" cy="225426"/>
              <a:chOff x="7641431" y="1139825"/>
              <a:chExt cx="242889" cy="225426"/>
            </a:xfrm>
          </p:grpSpPr>
          <p:sp>
            <p:nvSpPr>
              <p:cNvPr id="48" name="Freeform 48"/>
              <p:cNvSpPr/>
              <p:nvPr/>
            </p:nvSpPr>
            <p:spPr>
              <a:xfrm>
                <a:off x="7641431" y="1247775"/>
                <a:ext cx="80963" cy="107950"/>
              </a:xfrm>
              <a:custGeom>
                <a:avLst/>
                <a:gdLst/>
                <a:ahLst/>
                <a:cxnLst/>
                <a:rect l="l" t="t" r="r" b="b"/>
                <a:pathLst>
                  <a:path w="80963" h="107950">
                    <a:moveTo>
                      <a:pt x="0" y="13494"/>
                    </a:moveTo>
                    <a:cubicBezTo>
                      <a:pt x="0" y="6041"/>
                      <a:pt x="6041" y="0"/>
                      <a:pt x="13494" y="0"/>
                    </a:cubicBezTo>
                    <a:lnTo>
                      <a:pt x="67469" y="0"/>
                    </a:lnTo>
                    <a:cubicBezTo>
                      <a:pt x="74921" y="0"/>
                      <a:pt x="80963" y="6041"/>
                      <a:pt x="80963" y="13494"/>
                    </a:cubicBezTo>
                    <a:lnTo>
                      <a:pt x="80963" y="94456"/>
                    </a:lnTo>
                    <a:cubicBezTo>
                      <a:pt x="80963" y="101909"/>
                      <a:pt x="74921" y="107950"/>
                      <a:pt x="67469" y="107950"/>
                    </a:cubicBezTo>
                    <a:lnTo>
                      <a:pt x="13494" y="107950"/>
                    </a:lnTo>
                    <a:cubicBezTo>
                      <a:pt x="6041" y="107950"/>
                      <a:pt x="0" y="101909"/>
                      <a:pt x="0" y="94456"/>
                    </a:cubicBezTo>
                    <a:lnTo>
                      <a:pt x="0" y="13494"/>
                    </a:lnTo>
                  </a:path>
                </a:pathLst>
              </a:custGeom>
              <a:noFill/>
              <a:ln w="26988">
                <a:solidFill>
                  <a:srgbClr val="A24B3C"/>
                </a:solidFill>
              </a:ln>
            </p:spPr>
          </p:sp>
          <p:sp>
            <p:nvSpPr>
              <p:cNvPr id="49" name="Freeform 49"/>
              <p:cNvSpPr/>
              <p:nvPr/>
            </p:nvSpPr>
            <p:spPr>
              <a:xfrm>
                <a:off x="7803357" y="1193800"/>
                <a:ext cx="80963" cy="161925"/>
              </a:xfrm>
              <a:custGeom>
                <a:avLst/>
                <a:gdLst/>
                <a:ahLst/>
                <a:cxnLst/>
                <a:rect l="l" t="t" r="r" b="b"/>
                <a:pathLst>
                  <a:path w="80963" h="161925">
                    <a:moveTo>
                      <a:pt x="0" y="13494"/>
                    </a:moveTo>
                    <a:cubicBezTo>
                      <a:pt x="0" y="6041"/>
                      <a:pt x="6041" y="0"/>
                      <a:pt x="13494" y="0"/>
                    </a:cubicBezTo>
                    <a:lnTo>
                      <a:pt x="67469" y="0"/>
                    </a:lnTo>
                    <a:cubicBezTo>
                      <a:pt x="74921" y="0"/>
                      <a:pt x="80963" y="6041"/>
                      <a:pt x="80963" y="13494"/>
                    </a:cubicBezTo>
                    <a:lnTo>
                      <a:pt x="80963" y="148432"/>
                    </a:lnTo>
                    <a:cubicBezTo>
                      <a:pt x="80963" y="155884"/>
                      <a:pt x="74921" y="161925"/>
                      <a:pt x="67469" y="161925"/>
                    </a:cubicBezTo>
                    <a:lnTo>
                      <a:pt x="13494" y="161925"/>
                    </a:lnTo>
                    <a:cubicBezTo>
                      <a:pt x="6041" y="161925"/>
                      <a:pt x="0" y="155884"/>
                      <a:pt x="0" y="148432"/>
                    </a:cubicBezTo>
                    <a:lnTo>
                      <a:pt x="0" y="13494"/>
                    </a:lnTo>
                  </a:path>
                </a:pathLst>
              </a:custGeom>
              <a:noFill/>
              <a:ln w="26988">
                <a:solidFill>
                  <a:srgbClr val="A24B3C"/>
                </a:solidFill>
              </a:ln>
            </p:spPr>
          </p:sp>
          <p:sp>
            <p:nvSpPr>
              <p:cNvPr id="50" name="Freeform 50"/>
              <p:cNvSpPr/>
              <p:nvPr/>
            </p:nvSpPr>
            <p:spPr>
              <a:xfrm>
                <a:off x="7722394" y="1139825"/>
                <a:ext cx="80963" cy="215901"/>
              </a:xfrm>
              <a:custGeom>
                <a:avLst/>
                <a:gdLst/>
                <a:ahLst/>
                <a:cxnLst/>
                <a:rect l="l" t="t" r="r" b="b"/>
                <a:pathLst>
                  <a:path w="80963" h="215901">
                    <a:moveTo>
                      <a:pt x="0" y="13494"/>
                    </a:moveTo>
                    <a:cubicBezTo>
                      <a:pt x="0" y="6041"/>
                      <a:pt x="6041" y="0"/>
                      <a:pt x="13494" y="0"/>
                    </a:cubicBezTo>
                    <a:lnTo>
                      <a:pt x="67469" y="0"/>
                    </a:lnTo>
                    <a:cubicBezTo>
                      <a:pt x="74921" y="0"/>
                      <a:pt x="80963" y="6041"/>
                      <a:pt x="80963" y="13494"/>
                    </a:cubicBezTo>
                    <a:lnTo>
                      <a:pt x="80963" y="202407"/>
                    </a:lnTo>
                    <a:cubicBezTo>
                      <a:pt x="80963" y="209859"/>
                      <a:pt x="74921" y="215901"/>
                      <a:pt x="67469" y="215901"/>
                    </a:cubicBezTo>
                    <a:lnTo>
                      <a:pt x="13494" y="215901"/>
                    </a:lnTo>
                    <a:cubicBezTo>
                      <a:pt x="6041" y="215901"/>
                      <a:pt x="0" y="209859"/>
                      <a:pt x="0" y="202407"/>
                    </a:cubicBezTo>
                    <a:lnTo>
                      <a:pt x="0" y="13494"/>
                    </a:lnTo>
                  </a:path>
                </a:pathLst>
              </a:custGeom>
              <a:noFill/>
              <a:ln w="26988">
                <a:solidFill>
                  <a:srgbClr val="A24B3C"/>
                </a:solidFill>
              </a:ln>
            </p:spPr>
          </p:sp>
          <p:sp>
            <p:nvSpPr>
              <p:cNvPr id="51" name="Freeform 51"/>
              <p:cNvSpPr/>
              <p:nvPr/>
            </p:nvSpPr>
            <p:spPr>
              <a:xfrm>
                <a:off x="7654925" y="1355726"/>
                <a:ext cx="188913" cy="9525"/>
              </a:xfrm>
              <a:custGeom>
                <a:avLst/>
                <a:gdLst/>
                <a:ahLst/>
                <a:cxnLst/>
                <a:rect l="l" t="t" r="r" b="b"/>
                <a:pathLst>
                  <a:path w="188913" h="9525">
                    <a:moveTo>
                      <a:pt x="0" y="0"/>
                    </a:moveTo>
                    <a:lnTo>
                      <a:pt x="188913" y="0"/>
                    </a:lnTo>
                  </a:path>
                </a:pathLst>
              </a:custGeom>
              <a:noFill/>
              <a:ln w="26988">
                <a:solidFill>
                  <a:srgbClr val="A24B3C"/>
                </a:solidFill>
              </a:ln>
            </p:spPr>
          </p:sp>
        </p:grpSp>
        <p:sp>
          <p:nvSpPr>
            <p:cNvPr id="53" name="TextBox 53"/>
            <p:cNvSpPr txBox="1"/>
            <p:nvPr/>
          </p:nvSpPr>
          <p:spPr>
            <a:xfrm>
              <a:off x="7439063" y="1667589"/>
              <a:ext cx="647624"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经营分析平台</a:t>
              </a:r>
            </a:p>
          </p:txBody>
        </p:sp>
      </p:grpSp>
      <p:grpSp>
        <p:nvGrpSpPr>
          <p:cNvPr id="98" name="layer-channel"/>
          <p:cNvGrpSpPr/>
          <p:nvPr/>
        </p:nvGrpSpPr>
        <p:grpSpPr>
          <a:xfrm>
            <a:off x="381000" y="2266950"/>
            <a:ext cx="7896225" cy="1333500"/>
            <a:chOff x="381000" y="2266950"/>
            <a:chExt cx="7896225" cy="1333500"/>
          </a:xfrm>
        </p:grpSpPr>
        <p:sp>
          <p:nvSpPr>
            <p:cNvPr id="55" name="Rectangle 55"/>
            <p:cNvSpPr/>
            <p:nvPr/>
          </p:nvSpPr>
          <p:spPr>
            <a:xfrm>
              <a:off x="381000" y="2266950"/>
              <a:ext cx="1047750" cy="1333500"/>
            </a:xfrm>
            <a:prstGeom prst="roundRect">
              <a:avLst>
                <a:gd name="adj" fmla="val 9091"/>
              </a:avLst>
            </a:prstGeom>
            <a:solidFill>
              <a:srgbClr val="E9EDF2"/>
            </a:solidFill>
            <a:ln>
              <a:noFill/>
            </a:ln>
          </p:spPr>
        </p:sp>
        <p:sp>
          <p:nvSpPr>
            <p:cNvPr id="56" name="Rectangle 56"/>
            <p:cNvSpPr/>
            <p:nvPr/>
          </p:nvSpPr>
          <p:spPr>
            <a:xfrm>
              <a:off x="381000" y="2266950"/>
              <a:ext cx="47625" cy="1333500"/>
            </a:xfrm>
            <a:prstGeom prst="rect">
              <a:avLst/>
            </a:prstGeom>
            <a:solidFill>
              <a:srgbClr val="5E3A33"/>
            </a:solidFill>
            <a:ln>
              <a:noFill/>
            </a:ln>
          </p:spPr>
        </p:sp>
        <p:grpSp>
          <p:nvGrpSpPr>
            <p:cNvPr id="60" name="Group 60"/>
            <p:cNvGrpSpPr/>
            <p:nvPr/>
          </p:nvGrpSpPr>
          <p:grpSpPr>
            <a:xfrm>
              <a:off x="821531" y="2626519"/>
              <a:ext cx="166688" cy="214312"/>
              <a:chOff x="821531" y="2626519"/>
              <a:chExt cx="166688" cy="214312"/>
            </a:xfrm>
          </p:grpSpPr>
          <p:sp>
            <p:nvSpPr>
              <p:cNvPr id="57" name="Freeform 57"/>
              <p:cNvSpPr/>
              <p:nvPr/>
            </p:nvSpPr>
            <p:spPr>
              <a:xfrm>
                <a:off x="821531" y="2697956"/>
                <a:ext cx="166688" cy="142875"/>
              </a:xfrm>
              <a:custGeom>
                <a:avLst/>
                <a:gdLst/>
                <a:ahLst/>
                <a:cxnLst/>
                <a:rect l="l" t="t" r="r" b="b"/>
                <a:pathLst>
                  <a:path w="166688" h="142875">
                    <a:moveTo>
                      <a:pt x="35719" y="0"/>
                    </a:moveTo>
                    <a:lnTo>
                      <a:pt x="23812" y="0"/>
                    </a:lnTo>
                    <a:cubicBezTo>
                      <a:pt x="10661" y="0"/>
                      <a:pt x="0" y="10661"/>
                      <a:pt x="0" y="23812"/>
                    </a:cubicBezTo>
                    <a:lnTo>
                      <a:pt x="0" y="119062"/>
                    </a:lnTo>
                    <a:cubicBezTo>
                      <a:pt x="0" y="132214"/>
                      <a:pt x="10661" y="142875"/>
                      <a:pt x="23812" y="142875"/>
                    </a:cubicBezTo>
                    <a:lnTo>
                      <a:pt x="142875" y="142875"/>
                    </a:lnTo>
                    <a:cubicBezTo>
                      <a:pt x="156026" y="142875"/>
                      <a:pt x="166688" y="132214"/>
                      <a:pt x="166688" y="119062"/>
                    </a:cubicBezTo>
                    <a:lnTo>
                      <a:pt x="166688" y="23812"/>
                    </a:lnTo>
                    <a:cubicBezTo>
                      <a:pt x="166688" y="10661"/>
                      <a:pt x="156026" y="0"/>
                      <a:pt x="142875" y="0"/>
                    </a:cubicBezTo>
                    <a:lnTo>
                      <a:pt x="130969" y="0"/>
                    </a:lnTo>
                  </a:path>
                </a:pathLst>
              </a:custGeom>
              <a:noFill/>
              <a:ln w="23812">
                <a:solidFill>
                  <a:srgbClr val="5E3A33"/>
                </a:solidFill>
              </a:ln>
            </p:spPr>
          </p:sp>
          <p:sp>
            <p:nvSpPr>
              <p:cNvPr id="58" name="Freeform 58"/>
              <p:cNvSpPr/>
              <p:nvPr/>
            </p:nvSpPr>
            <p:spPr>
              <a:xfrm>
                <a:off x="904875" y="2626519"/>
                <a:ext cx="9525" cy="130969"/>
              </a:xfrm>
              <a:custGeom>
                <a:avLst/>
                <a:gdLst/>
                <a:ahLst/>
                <a:cxnLst/>
                <a:rect l="l" t="t" r="r" b="b"/>
                <a:pathLst>
                  <a:path w="9525" h="130969">
                    <a:moveTo>
                      <a:pt x="0" y="130969"/>
                    </a:moveTo>
                    <a:lnTo>
                      <a:pt x="0" y="0"/>
                    </a:lnTo>
                  </a:path>
                </a:pathLst>
              </a:custGeom>
              <a:noFill/>
              <a:ln w="23812">
                <a:solidFill>
                  <a:srgbClr val="5E3A33"/>
                </a:solidFill>
              </a:ln>
            </p:spPr>
          </p:sp>
          <p:sp>
            <p:nvSpPr>
              <p:cNvPr id="59" name="Freeform 59"/>
              <p:cNvSpPr/>
              <p:nvPr/>
            </p:nvSpPr>
            <p:spPr>
              <a:xfrm>
                <a:off x="869156" y="2626519"/>
                <a:ext cx="71438" cy="35719"/>
              </a:xfrm>
              <a:custGeom>
                <a:avLst/>
                <a:gdLst/>
                <a:ahLst/>
                <a:cxnLst/>
                <a:rect l="l" t="t" r="r" b="b"/>
                <a:pathLst>
                  <a:path w="71438" h="35719">
                    <a:moveTo>
                      <a:pt x="0" y="35719"/>
                    </a:moveTo>
                    <a:lnTo>
                      <a:pt x="35719" y="0"/>
                    </a:lnTo>
                    <a:lnTo>
                      <a:pt x="71438" y="35719"/>
                    </a:lnTo>
                  </a:path>
                </a:pathLst>
              </a:custGeom>
              <a:noFill/>
              <a:ln w="23812">
                <a:solidFill>
                  <a:srgbClr val="5E3A33"/>
                </a:solidFill>
              </a:ln>
            </p:spPr>
          </p:sp>
        </p:grpSp>
        <p:sp>
          <p:nvSpPr>
            <p:cNvPr id="61" name="TextBox 61"/>
            <p:cNvSpPr txBox="1"/>
            <p:nvPr/>
          </p:nvSpPr>
          <p:spPr>
            <a:xfrm>
              <a:off x="672998" y="3059906"/>
              <a:ext cx="463753" cy="220028"/>
            </a:xfrm>
            <a:prstGeom prst="rect">
              <a:avLst/>
            </a:prstGeom>
            <a:noFill/>
            <a:ln>
              <a:noFill/>
            </a:ln>
          </p:spPr>
          <p:txBody>
            <a:bodyPr wrap="none" lIns="0" tIns="0" rIns="0" bIns="0" anchor="t" anchorCtr="0">
              <a:spAutoFit/>
            </a:bodyPr>
            <a:lstStyle/>
            <a:p>
              <a:pPr algn="ctr"/>
              <a:r>
                <a:rPr lang="zh-CN" sz="1120" b="1" dirty="0">
                  <a:solidFill>
                    <a:srgbClr val="5E3A33"/>
                  </a:solidFill>
                  <a:latin typeface="+mn-lt"/>
                  <a:ea typeface="+mn-ea"/>
                  <a:cs typeface="+mn-cs"/>
                </a:rPr>
                <a:t>渠道层</a:t>
              </a:r>
            </a:p>
          </p:txBody>
        </p:sp>
        <p:sp>
          <p:nvSpPr>
            <p:cNvPr id="62" name="Rectangle 62"/>
            <p:cNvSpPr/>
            <p:nvPr/>
          </p:nvSpPr>
          <p:spPr>
            <a:xfrm>
              <a:off x="1581150" y="2400300"/>
              <a:ext cx="1028700" cy="1066800"/>
            </a:xfrm>
            <a:prstGeom prst="roundRect">
              <a:avLst>
                <a:gd name="adj" fmla="val 7407"/>
              </a:avLst>
            </a:prstGeom>
            <a:solidFill>
              <a:srgbClr val="FFFFFF"/>
            </a:solidFill>
            <a:ln w="9525">
              <a:solidFill>
                <a:srgbClr val="E6D9C0"/>
              </a:solidFill>
            </a:ln>
          </p:spPr>
        </p:sp>
        <p:grpSp>
          <p:nvGrpSpPr>
            <p:cNvPr id="67" name="Group 67"/>
            <p:cNvGrpSpPr/>
            <p:nvPr/>
          </p:nvGrpSpPr>
          <p:grpSpPr>
            <a:xfrm>
              <a:off x="1974056" y="2593181"/>
              <a:ext cx="242888" cy="229394"/>
              <a:chOff x="1974056" y="2593181"/>
              <a:chExt cx="242888" cy="229394"/>
            </a:xfrm>
          </p:grpSpPr>
          <p:sp>
            <p:nvSpPr>
              <p:cNvPr id="63" name="Freeform 63"/>
              <p:cNvSpPr/>
              <p:nvPr/>
            </p:nvSpPr>
            <p:spPr>
              <a:xfrm>
                <a:off x="1974056" y="2647156"/>
                <a:ext cx="242888" cy="175419"/>
              </a:xfrm>
              <a:custGeom>
                <a:avLst/>
                <a:gdLst/>
                <a:ahLst/>
                <a:cxnLst/>
                <a:rect l="l" t="t" r="r" b="b"/>
                <a:pathLst>
                  <a:path w="242888" h="175419">
                    <a:moveTo>
                      <a:pt x="0" y="26988"/>
                    </a:moveTo>
                    <a:cubicBezTo>
                      <a:pt x="0" y="12083"/>
                      <a:pt x="12083" y="0"/>
                      <a:pt x="26988" y="0"/>
                    </a:cubicBezTo>
                    <a:lnTo>
                      <a:pt x="215901" y="0"/>
                    </a:lnTo>
                    <a:cubicBezTo>
                      <a:pt x="230805" y="0"/>
                      <a:pt x="242888" y="12083"/>
                      <a:pt x="242888" y="26988"/>
                    </a:cubicBezTo>
                    <a:lnTo>
                      <a:pt x="242888" y="148432"/>
                    </a:lnTo>
                    <a:cubicBezTo>
                      <a:pt x="242888" y="163336"/>
                      <a:pt x="230805" y="175419"/>
                      <a:pt x="215901" y="175419"/>
                    </a:cubicBezTo>
                    <a:lnTo>
                      <a:pt x="26988" y="175419"/>
                    </a:lnTo>
                    <a:cubicBezTo>
                      <a:pt x="12083" y="175419"/>
                      <a:pt x="0" y="163336"/>
                      <a:pt x="0" y="148432"/>
                    </a:cubicBezTo>
                    <a:lnTo>
                      <a:pt x="0" y="26988"/>
                    </a:lnTo>
                  </a:path>
                </a:pathLst>
              </a:custGeom>
              <a:noFill/>
              <a:ln w="26988">
                <a:solidFill>
                  <a:srgbClr val="5E3A33"/>
                </a:solidFill>
              </a:ln>
            </p:spPr>
          </p:sp>
          <p:sp>
            <p:nvSpPr>
              <p:cNvPr id="64" name="Freeform 64"/>
              <p:cNvSpPr/>
              <p:nvPr/>
            </p:nvSpPr>
            <p:spPr>
              <a:xfrm>
                <a:off x="2041525" y="2593181"/>
                <a:ext cx="107950" cy="53975"/>
              </a:xfrm>
              <a:custGeom>
                <a:avLst/>
                <a:gdLst/>
                <a:ahLst/>
                <a:cxnLst/>
                <a:rect l="l" t="t" r="r" b="b"/>
                <a:pathLst>
                  <a:path w="107950" h="53975">
                    <a:moveTo>
                      <a:pt x="0" y="53975"/>
                    </a:moveTo>
                    <a:lnTo>
                      <a:pt x="0" y="26988"/>
                    </a:lnTo>
                    <a:cubicBezTo>
                      <a:pt x="0" y="12083"/>
                      <a:pt x="12083" y="0"/>
                      <a:pt x="26988" y="0"/>
                    </a:cubicBezTo>
                    <a:lnTo>
                      <a:pt x="80963" y="0"/>
                    </a:lnTo>
                    <a:cubicBezTo>
                      <a:pt x="95868" y="0"/>
                      <a:pt x="107950" y="12083"/>
                      <a:pt x="107950" y="26988"/>
                    </a:cubicBezTo>
                    <a:lnTo>
                      <a:pt x="107950" y="53975"/>
                    </a:lnTo>
                  </a:path>
                </a:pathLst>
              </a:custGeom>
              <a:noFill/>
              <a:ln w="26988">
                <a:solidFill>
                  <a:srgbClr val="5E3A33"/>
                </a:solidFill>
              </a:ln>
            </p:spPr>
          </p:sp>
          <p:sp>
            <p:nvSpPr>
              <p:cNvPr id="65" name="Freeform 65"/>
              <p:cNvSpPr/>
              <p:nvPr/>
            </p:nvSpPr>
            <p:spPr>
              <a:xfrm>
                <a:off x="2095500" y="2714625"/>
                <a:ext cx="9525" cy="9525"/>
              </a:xfrm>
              <a:custGeom>
                <a:avLst/>
                <a:gdLst/>
                <a:ahLst/>
                <a:cxnLst/>
                <a:rect l="l" t="t" r="r" b="b"/>
                <a:pathLst>
                  <a:path w="9525" h="9525">
                    <a:moveTo>
                      <a:pt x="0" y="0"/>
                    </a:moveTo>
                    <a:lnTo>
                      <a:pt x="0" y="135"/>
                    </a:lnTo>
                  </a:path>
                </a:pathLst>
              </a:custGeom>
              <a:noFill/>
              <a:ln w="26988">
                <a:solidFill>
                  <a:srgbClr val="5E3A33"/>
                </a:solidFill>
              </a:ln>
            </p:spPr>
          </p:sp>
          <p:sp>
            <p:nvSpPr>
              <p:cNvPr id="66" name="Freeform 66"/>
              <p:cNvSpPr/>
              <p:nvPr/>
            </p:nvSpPr>
            <p:spPr>
              <a:xfrm>
                <a:off x="1974056" y="2728119"/>
                <a:ext cx="242888" cy="38492"/>
              </a:xfrm>
              <a:custGeom>
                <a:avLst/>
                <a:gdLst/>
                <a:ahLst/>
                <a:cxnLst/>
                <a:rect l="l" t="t" r="r" b="b"/>
                <a:pathLst>
                  <a:path w="242888" h="38492">
                    <a:moveTo>
                      <a:pt x="0" y="0"/>
                    </a:moveTo>
                    <a:cubicBezTo>
                      <a:pt x="76388" y="38492"/>
                      <a:pt x="166500" y="38492"/>
                      <a:pt x="242888" y="0"/>
                    </a:cubicBezTo>
                  </a:path>
                </a:pathLst>
              </a:custGeom>
              <a:noFill/>
              <a:ln w="26988">
                <a:solidFill>
                  <a:srgbClr val="5E3A33"/>
                </a:solidFill>
              </a:ln>
            </p:spPr>
          </p:sp>
        </p:grpSp>
        <p:sp>
          <p:nvSpPr>
            <p:cNvPr id="68" name="TextBox 68"/>
            <p:cNvSpPr txBox="1"/>
            <p:nvPr/>
          </p:nvSpPr>
          <p:spPr>
            <a:xfrm>
              <a:off x="1928424" y="3134439"/>
              <a:ext cx="334153"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 xml:space="preserve">CRM　</a:t>
              </a:r>
            </a:p>
          </p:txBody>
        </p:sp>
        <p:sp>
          <p:nvSpPr>
            <p:cNvPr id="69" name="Rectangle 69"/>
            <p:cNvSpPr/>
            <p:nvPr/>
          </p:nvSpPr>
          <p:spPr>
            <a:xfrm>
              <a:off x="2714625" y="2400300"/>
              <a:ext cx="1028700" cy="1066800"/>
            </a:xfrm>
            <a:prstGeom prst="roundRect">
              <a:avLst>
                <a:gd name="adj" fmla="val 7407"/>
              </a:avLst>
            </a:prstGeom>
            <a:solidFill>
              <a:srgbClr val="FFFFFF"/>
            </a:solidFill>
            <a:ln w="9525">
              <a:solidFill>
                <a:srgbClr val="E6D9C0"/>
              </a:solidFill>
            </a:ln>
          </p:spPr>
        </p:sp>
        <p:grpSp>
          <p:nvGrpSpPr>
            <p:cNvPr id="73" name="Group 73"/>
            <p:cNvGrpSpPr/>
            <p:nvPr/>
          </p:nvGrpSpPr>
          <p:grpSpPr>
            <a:xfrm>
              <a:off x="3148013" y="2593181"/>
              <a:ext cx="161925" cy="242888"/>
              <a:chOff x="3148013" y="2593181"/>
              <a:chExt cx="161925" cy="242888"/>
            </a:xfrm>
          </p:grpSpPr>
          <p:sp>
            <p:nvSpPr>
              <p:cNvPr id="70" name="Freeform 70"/>
              <p:cNvSpPr/>
              <p:nvPr/>
            </p:nvSpPr>
            <p:spPr>
              <a:xfrm>
                <a:off x="3148013" y="2593181"/>
                <a:ext cx="161925" cy="242888"/>
              </a:xfrm>
              <a:custGeom>
                <a:avLst/>
                <a:gdLst/>
                <a:ahLst/>
                <a:cxnLst/>
                <a:rect l="l" t="t" r="r" b="b"/>
                <a:pathLst>
                  <a:path w="161925" h="242888">
                    <a:moveTo>
                      <a:pt x="0" y="26988"/>
                    </a:moveTo>
                    <a:cubicBezTo>
                      <a:pt x="0" y="12083"/>
                      <a:pt x="12083" y="0"/>
                      <a:pt x="26988" y="0"/>
                    </a:cubicBezTo>
                    <a:lnTo>
                      <a:pt x="134938" y="0"/>
                    </a:lnTo>
                    <a:cubicBezTo>
                      <a:pt x="149843" y="0"/>
                      <a:pt x="161925" y="12083"/>
                      <a:pt x="161925" y="26988"/>
                    </a:cubicBezTo>
                    <a:lnTo>
                      <a:pt x="161925" y="215901"/>
                    </a:lnTo>
                    <a:cubicBezTo>
                      <a:pt x="161925" y="230805"/>
                      <a:pt x="149843" y="242888"/>
                      <a:pt x="134938" y="242888"/>
                    </a:cubicBezTo>
                    <a:lnTo>
                      <a:pt x="26988" y="242888"/>
                    </a:lnTo>
                    <a:cubicBezTo>
                      <a:pt x="12083" y="242888"/>
                      <a:pt x="0" y="230805"/>
                      <a:pt x="0" y="215901"/>
                    </a:cubicBezTo>
                    <a:lnTo>
                      <a:pt x="0" y="26988"/>
                    </a:lnTo>
                  </a:path>
                </a:pathLst>
              </a:custGeom>
              <a:noFill/>
              <a:ln w="26988">
                <a:solidFill>
                  <a:srgbClr val="5E3A33"/>
                </a:solidFill>
              </a:ln>
            </p:spPr>
          </p:sp>
          <p:sp>
            <p:nvSpPr>
              <p:cNvPr id="71" name="Freeform 71"/>
              <p:cNvSpPr/>
              <p:nvPr/>
            </p:nvSpPr>
            <p:spPr>
              <a:xfrm>
                <a:off x="3215482" y="2606675"/>
                <a:ext cx="26988" cy="9525"/>
              </a:xfrm>
              <a:custGeom>
                <a:avLst/>
                <a:gdLst/>
                <a:ahLst/>
                <a:cxnLst/>
                <a:rect l="l" t="t" r="r" b="b"/>
                <a:pathLst>
                  <a:path w="26988" h="9525">
                    <a:moveTo>
                      <a:pt x="0" y="0"/>
                    </a:moveTo>
                    <a:lnTo>
                      <a:pt x="26988" y="0"/>
                    </a:lnTo>
                  </a:path>
                </a:pathLst>
              </a:custGeom>
              <a:noFill/>
              <a:ln w="26988">
                <a:solidFill>
                  <a:srgbClr val="5E3A33"/>
                </a:solidFill>
              </a:ln>
            </p:spPr>
          </p:sp>
          <p:sp>
            <p:nvSpPr>
              <p:cNvPr id="72" name="Freeform 72"/>
              <p:cNvSpPr/>
              <p:nvPr/>
            </p:nvSpPr>
            <p:spPr>
              <a:xfrm>
                <a:off x="3228975" y="2782094"/>
                <a:ext cx="9525" cy="9525"/>
              </a:xfrm>
              <a:custGeom>
                <a:avLst/>
                <a:gdLst/>
                <a:ahLst/>
                <a:cxnLst/>
                <a:rect l="l" t="t" r="r" b="b"/>
                <a:pathLst>
                  <a:path w="9525" h="9525">
                    <a:moveTo>
                      <a:pt x="0" y="0"/>
                    </a:moveTo>
                    <a:lnTo>
                      <a:pt x="0" y="135"/>
                    </a:lnTo>
                  </a:path>
                </a:pathLst>
              </a:custGeom>
              <a:noFill/>
              <a:ln w="26988">
                <a:solidFill>
                  <a:srgbClr val="5E3A33"/>
                </a:solidFill>
              </a:ln>
            </p:spPr>
          </p:sp>
        </p:grpSp>
        <p:sp>
          <p:nvSpPr>
            <p:cNvPr id="74" name="TextBox 74"/>
            <p:cNvSpPr txBox="1"/>
            <p:nvPr/>
          </p:nvSpPr>
          <p:spPr>
            <a:xfrm>
              <a:off x="3011513" y="3134439"/>
              <a:ext cx="434924"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手机银行</a:t>
              </a:r>
            </a:p>
          </p:txBody>
        </p:sp>
        <p:sp>
          <p:nvSpPr>
            <p:cNvPr id="75" name="Rectangle 75"/>
            <p:cNvSpPr/>
            <p:nvPr/>
          </p:nvSpPr>
          <p:spPr>
            <a:xfrm>
              <a:off x="3848100" y="2400300"/>
              <a:ext cx="1028700" cy="1066800"/>
            </a:xfrm>
            <a:prstGeom prst="roundRect">
              <a:avLst>
                <a:gd name="adj" fmla="val 7407"/>
              </a:avLst>
            </a:prstGeom>
            <a:solidFill>
              <a:srgbClr val="FFFFFF"/>
            </a:solidFill>
            <a:ln w="9525">
              <a:solidFill>
                <a:srgbClr val="E6D9C0"/>
              </a:solidFill>
            </a:ln>
          </p:spPr>
        </p:sp>
        <p:grpSp>
          <p:nvGrpSpPr>
            <p:cNvPr id="79" name="Group 79"/>
            <p:cNvGrpSpPr/>
            <p:nvPr/>
          </p:nvGrpSpPr>
          <p:grpSpPr>
            <a:xfrm>
              <a:off x="4241006" y="2593181"/>
              <a:ext cx="242888" cy="242888"/>
              <a:chOff x="4241006" y="2593181"/>
              <a:chExt cx="242888" cy="242888"/>
            </a:xfrm>
          </p:grpSpPr>
          <p:sp>
            <p:nvSpPr>
              <p:cNvPr id="76" name="Freeform 76"/>
              <p:cNvSpPr/>
              <p:nvPr/>
            </p:nvSpPr>
            <p:spPr>
              <a:xfrm>
                <a:off x="4241006" y="2593181"/>
                <a:ext cx="242888" cy="121444"/>
              </a:xfrm>
              <a:custGeom>
                <a:avLst/>
                <a:gdLst/>
                <a:ahLst/>
                <a:cxnLst/>
                <a:rect l="l" t="t" r="r" b="b"/>
                <a:pathLst>
                  <a:path w="242888" h="121444">
                    <a:moveTo>
                      <a:pt x="26988" y="121444"/>
                    </a:moveTo>
                    <a:lnTo>
                      <a:pt x="0" y="121444"/>
                    </a:lnTo>
                    <a:lnTo>
                      <a:pt x="121444" y="0"/>
                    </a:lnTo>
                    <a:lnTo>
                      <a:pt x="242888" y="121444"/>
                    </a:lnTo>
                    <a:lnTo>
                      <a:pt x="215901" y="121444"/>
                    </a:lnTo>
                  </a:path>
                </a:pathLst>
              </a:custGeom>
              <a:noFill/>
              <a:ln w="26988">
                <a:solidFill>
                  <a:srgbClr val="5E3A33"/>
                </a:solidFill>
              </a:ln>
            </p:spPr>
          </p:sp>
          <p:sp>
            <p:nvSpPr>
              <p:cNvPr id="77" name="Freeform 77"/>
              <p:cNvSpPr/>
              <p:nvPr/>
            </p:nvSpPr>
            <p:spPr>
              <a:xfrm>
                <a:off x="4267994" y="2714625"/>
                <a:ext cx="188913" cy="121444"/>
              </a:xfrm>
              <a:custGeom>
                <a:avLst/>
                <a:gdLst/>
                <a:ahLst/>
                <a:cxnLst/>
                <a:rect l="l" t="t" r="r" b="b"/>
                <a:pathLst>
                  <a:path w="188913" h="121444">
                    <a:moveTo>
                      <a:pt x="0" y="0"/>
                    </a:moveTo>
                    <a:lnTo>
                      <a:pt x="0" y="94456"/>
                    </a:lnTo>
                    <a:cubicBezTo>
                      <a:pt x="0" y="109361"/>
                      <a:pt x="12083" y="121444"/>
                      <a:pt x="26988" y="121444"/>
                    </a:cubicBezTo>
                    <a:lnTo>
                      <a:pt x="161925" y="121444"/>
                    </a:lnTo>
                    <a:cubicBezTo>
                      <a:pt x="176830" y="121444"/>
                      <a:pt x="188913" y="109361"/>
                      <a:pt x="188913" y="94456"/>
                    </a:cubicBezTo>
                    <a:lnTo>
                      <a:pt x="188913" y="0"/>
                    </a:lnTo>
                  </a:path>
                </a:pathLst>
              </a:custGeom>
              <a:noFill/>
              <a:ln w="26988">
                <a:solidFill>
                  <a:srgbClr val="5E3A33"/>
                </a:solidFill>
              </a:ln>
            </p:spPr>
          </p:sp>
          <p:sp>
            <p:nvSpPr>
              <p:cNvPr id="78" name="Freeform 78"/>
              <p:cNvSpPr/>
              <p:nvPr/>
            </p:nvSpPr>
            <p:spPr>
              <a:xfrm>
                <a:off x="4321969" y="2728119"/>
                <a:ext cx="80963" cy="107950"/>
              </a:xfrm>
              <a:custGeom>
                <a:avLst/>
                <a:gdLst/>
                <a:ahLst/>
                <a:cxnLst/>
                <a:rect l="l" t="t" r="r" b="b"/>
                <a:pathLst>
                  <a:path w="80963" h="107950">
                    <a:moveTo>
                      <a:pt x="0" y="107950"/>
                    </a:moveTo>
                    <a:lnTo>
                      <a:pt x="0" y="26988"/>
                    </a:lnTo>
                    <a:cubicBezTo>
                      <a:pt x="0" y="12083"/>
                      <a:pt x="12083" y="0"/>
                      <a:pt x="26988" y="0"/>
                    </a:cubicBezTo>
                    <a:lnTo>
                      <a:pt x="53975" y="0"/>
                    </a:lnTo>
                    <a:cubicBezTo>
                      <a:pt x="68880" y="0"/>
                      <a:pt x="80963" y="12083"/>
                      <a:pt x="80963" y="26988"/>
                    </a:cubicBezTo>
                    <a:lnTo>
                      <a:pt x="80963" y="107950"/>
                    </a:lnTo>
                  </a:path>
                </a:pathLst>
              </a:custGeom>
              <a:noFill/>
              <a:ln w="26988">
                <a:solidFill>
                  <a:srgbClr val="5E3A33"/>
                </a:solidFill>
              </a:ln>
            </p:spPr>
          </p:sp>
        </p:grpSp>
        <p:sp>
          <p:nvSpPr>
            <p:cNvPr id="80" name="TextBox 80"/>
            <p:cNvSpPr txBox="1"/>
            <p:nvPr/>
          </p:nvSpPr>
          <p:spPr>
            <a:xfrm>
              <a:off x="4251338" y="3134439"/>
              <a:ext cx="222225"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网点</a:t>
              </a:r>
            </a:p>
          </p:txBody>
        </p:sp>
        <p:sp>
          <p:nvSpPr>
            <p:cNvPr id="81" name="Rectangle 81"/>
            <p:cNvSpPr/>
            <p:nvPr/>
          </p:nvSpPr>
          <p:spPr>
            <a:xfrm>
              <a:off x="4981575" y="2400300"/>
              <a:ext cx="1028700" cy="1066800"/>
            </a:xfrm>
            <a:prstGeom prst="roundRect">
              <a:avLst>
                <a:gd name="adj" fmla="val 7407"/>
              </a:avLst>
            </a:prstGeom>
            <a:solidFill>
              <a:srgbClr val="FFFFFF"/>
            </a:solidFill>
            <a:ln w="9525">
              <a:solidFill>
                <a:srgbClr val="E6D9C0"/>
              </a:solidFill>
            </a:ln>
          </p:spPr>
        </p:sp>
        <p:grpSp>
          <p:nvGrpSpPr>
            <p:cNvPr id="84" name="Group 84"/>
            <p:cNvGrpSpPr/>
            <p:nvPr/>
          </p:nvGrpSpPr>
          <p:grpSpPr>
            <a:xfrm>
              <a:off x="5374481" y="2633663"/>
              <a:ext cx="242889" cy="161925"/>
              <a:chOff x="5374481" y="2633663"/>
              <a:chExt cx="242889" cy="161925"/>
            </a:xfrm>
          </p:grpSpPr>
          <p:sp>
            <p:nvSpPr>
              <p:cNvPr id="82" name="Freeform 82"/>
              <p:cNvSpPr/>
              <p:nvPr/>
            </p:nvSpPr>
            <p:spPr>
              <a:xfrm>
                <a:off x="5536407" y="2654836"/>
                <a:ext cx="80963" cy="119578"/>
              </a:xfrm>
              <a:custGeom>
                <a:avLst/>
                <a:gdLst/>
                <a:ahLst/>
                <a:cxnLst/>
                <a:rect l="l" t="t" r="r" b="b"/>
                <a:pathLst>
                  <a:path w="80963" h="119578">
                    <a:moveTo>
                      <a:pt x="0" y="32801"/>
                    </a:moveTo>
                    <a:lnTo>
                      <a:pt x="61437" y="2090"/>
                    </a:lnTo>
                    <a:cubicBezTo>
                      <a:pt x="65619" y="0"/>
                      <a:pt x="70584" y="224"/>
                      <a:pt x="74561" y="2681"/>
                    </a:cubicBezTo>
                    <a:cubicBezTo>
                      <a:pt x="78538" y="5138"/>
                      <a:pt x="80960" y="9478"/>
                      <a:pt x="80963" y="14153"/>
                    </a:cubicBezTo>
                    <a:lnTo>
                      <a:pt x="80963" y="105425"/>
                    </a:lnTo>
                    <a:cubicBezTo>
                      <a:pt x="80960" y="110100"/>
                      <a:pt x="78538" y="114440"/>
                      <a:pt x="74561" y="116897"/>
                    </a:cubicBezTo>
                    <a:cubicBezTo>
                      <a:pt x="70584" y="119354"/>
                      <a:pt x="65619" y="119578"/>
                      <a:pt x="61437" y="117488"/>
                    </a:cubicBezTo>
                    <a:lnTo>
                      <a:pt x="0" y="86777"/>
                    </a:lnTo>
                    <a:lnTo>
                      <a:pt x="0" y="32801"/>
                    </a:lnTo>
                  </a:path>
                </a:pathLst>
              </a:custGeom>
              <a:noFill/>
              <a:ln w="26988">
                <a:solidFill>
                  <a:srgbClr val="5E3A33"/>
                </a:solidFill>
              </a:ln>
            </p:spPr>
          </p:sp>
          <p:sp>
            <p:nvSpPr>
              <p:cNvPr id="83" name="Freeform 83"/>
              <p:cNvSpPr/>
              <p:nvPr/>
            </p:nvSpPr>
            <p:spPr>
              <a:xfrm>
                <a:off x="5374481" y="2633663"/>
                <a:ext cx="161925" cy="161925"/>
              </a:xfrm>
              <a:custGeom>
                <a:avLst/>
                <a:gdLst/>
                <a:ahLst/>
                <a:cxnLst/>
                <a:rect l="l" t="t" r="r" b="b"/>
                <a:pathLst>
                  <a:path w="161925" h="161925">
                    <a:moveTo>
                      <a:pt x="0" y="26988"/>
                    </a:moveTo>
                    <a:cubicBezTo>
                      <a:pt x="0" y="12083"/>
                      <a:pt x="12083" y="0"/>
                      <a:pt x="26988" y="0"/>
                    </a:cubicBezTo>
                    <a:lnTo>
                      <a:pt x="134938" y="0"/>
                    </a:lnTo>
                    <a:cubicBezTo>
                      <a:pt x="149843" y="0"/>
                      <a:pt x="161925" y="12083"/>
                      <a:pt x="161925" y="26988"/>
                    </a:cubicBezTo>
                    <a:lnTo>
                      <a:pt x="161925" y="134938"/>
                    </a:lnTo>
                    <a:cubicBezTo>
                      <a:pt x="161925" y="149843"/>
                      <a:pt x="149843" y="161925"/>
                      <a:pt x="134938" y="161925"/>
                    </a:cubicBezTo>
                    <a:lnTo>
                      <a:pt x="26988" y="161925"/>
                    </a:lnTo>
                    <a:cubicBezTo>
                      <a:pt x="12083" y="161925"/>
                      <a:pt x="0" y="149843"/>
                      <a:pt x="0" y="134938"/>
                    </a:cubicBezTo>
                    <a:lnTo>
                      <a:pt x="0" y="26988"/>
                    </a:lnTo>
                  </a:path>
                </a:pathLst>
              </a:custGeom>
              <a:noFill/>
              <a:ln w="26988">
                <a:solidFill>
                  <a:srgbClr val="5E3A33"/>
                </a:solidFill>
              </a:ln>
            </p:spPr>
          </p:sp>
        </p:grpSp>
        <p:sp>
          <p:nvSpPr>
            <p:cNvPr id="85" name="TextBox 85"/>
            <p:cNvSpPr txBox="1"/>
            <p:nvPr/>
          </p:nvSpPr>
          <p:spPr>
            <a:xfrm>
              <a:off x="5278463" y="3134439"/>
              <a:ext cx="434924"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远程银行</a:t>
              </a:r>
            </a:p>
          </p:txBody>
        </p:sp>
        <p:sp>
          <p:nvSpPr>
            <p:cNvPr id="86" name="Rectangle 86"/>
            <p:cNvSpPr/>
            <p:nvPr/>
          </p:nvSpPr>
          <p:spPr>
            <a:xfrm>
              <a:off x="6115050" y="2400300"/>
              <a:ext cx="1028700" cy="1066800"/>
            </a:xfrm>
            <a:prstGeom prst="roundRect">
              <a:avLst>
                <a:gd name="adj" fmla="val 7407"/>
              </a:avLst>
            </a:prstGeom>
            <a:solidFill>
              <a:srgbClr val="FFFFFF"/>
            </a:solidFill>
            <a:ln w="9525">
              <a:solidFill>
                <a:srgbClr val="E6D9C0"/>
              </a:solidFill>
            </a:ln>
          </p:spPr>
        </p:sp>
        <p:sp>
          <p:nvSpPr>
            <p:cNvPr id="87" name="Freeform 87"/>
            <p:cNvSpPr/>
            <p:nvPr/>
          </p:nvSpPr>
          <p:spPr>
            <a:xfrm>
              <a:off x="6494139" y="2596217"/>
              <a:ext cx="269390" cy="238799"/>
            </a:xfrm>
            <a:custGeom>
              <a:avLst/>
              <a:gdLst/>
              <a:ahLst/>
              <a:cxnLst/>
              <a:rect l="l" t="t" r="r" b="b"/>
              <a:pathLst>
                <a:path w="269390" h="238799">
                  <a:moveTo>
                    <a:pt x="13818" y="226358"/>
                  </a:moveTo>
                  <a:lnTo>
                    <a:pt x="31360" y="173732"/>
                  </a:lnTo>
                  <a:cubicBezTo>
                    <a:pt x="0" y="127354"/>
                    <a:pt x="12117" y="67509"/>
                    <a:pt x="59696" y="33748"/>
                  </a:cubicBezTo>
                  <a:cubicBezTo>
                    <a:pt x="107276" y="0"/>
                    <a:pt x="175608" y="2766"/>
                    <a:pt x="219530" y="40225"/>
                  </a:cubicBezTo>
                  <a:cubicBezTo>
                    <a:pt x="263453" y="77697"/>
                    <a:pt x="269390" y="138271"/>
                    <a:pt x="233415" y="181923"/>
                  </a:cubicBezTo>
                  <a:cubicBezTo>
                    <a:pt x="197441" y="225576"/>
                    <a:pt x="130660" y="238799"/>
                    <a:pt x="77238" y="212864"/>
                  </a:cubicBezTo>
                  <a:lnTo>
                    <a:pt x="13818" y="226358"/>
                  </a:lnTo>
                </a:path>
              </a:pathLst>
            </a:custGeom>
            <a:noFill/>
            <a:ln w="26988">
              <a:solidFill>
                <a:srgbClr val="5E3A33"/>
              </a:solidFill>
            </a:ln>
          </p:spPr>
        </p:sp>
        <p:sp>
          <p:nvSpPr>
            <p:cNvPr id="88" name="TextBox 88"/>
            <p:cNvSpPr txBox="1"/>
            <p:nvPr/>
          </p:nvSpPr>
          <p:spPr>
            <a:xfrm>
              <a:off x="6518288" y="3134439"/>
              <a:ext cx="222225"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客服</a:t>
              </a:r>
            </a:p>
          </p:txBody>
        </p:sp>
        <p:sp>
          <p:nvSpPr>
            <p:cNvPr id="89" name="Rectangle 89"/>
            <p:cNvSpPr/>
            <p:nvPr/>
          </p:nvSpPr>
          <p:spPr>
            <a:xfrm>
              <a:off x="7248525" y="2400300"/>
              <a:ext cx="1028700" cy="1066800"/>
            </a:xfrm>
            <a:prstGeom prst="roundRect">
              <a:avLst>
                <a:gd name="adj" fmla="val 7407"/>
              </a:avLst>
            </a:prstGeom>
            <a:solidFill>
              <a:srgbClr val="FFFFFF"/>
            </a:solidFill>
            <a:ln w="9525">
              <a:solidFill>
                <a:srgbClr val="E6D9C0"/>
              </a:solidFill>
            </a:ln>
          </p:spPr>
        </p:sp>
        <p:grpSp>
          <p:nvGrpSpPr>
            <p:cNvPr id="96" name="Group 96"/>
            <p:cNvGrpSpPr/>
            <p:nvPr/>
          </p:nvGrpSpPr>
          <p:grpSpPr>
            <a:xfrm>
              <a:off x="7641431" y="2593181"/>
              <a:ext cx="242888" cy="242888"/>
              <a:chOff x="7641431" y="2593181"/>
              <a:chExt cx="242888" cy="242888"/>
            </a:xfrm>
          </p:grpSpPr>
          <p:sp>
            <p:nvSpPr>
              <p:cNvPr id="90" name="Freeform 90"/>
              <p:cNvSpPr/>
              <p:nvPr/>
            </p:nvSpPr>
            <p:spPr>
              <a:xfrm>
                <a:off x="7735888" y="2701132"/>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5E3A33"/>
                </a:solidFill>
              </a:ln>
            </p:spPr>
          </p:sp>
          <p:sp>
            <p:nvSpPr>
              <p:cNvPr id="91" name="Freeform 91"/>
              <p:cNvSpPr/>
              <p:nvPr/>
            </p:nvSpPr>
            <p:spPr>
              <a:xfrm>
                <a:off x="7708900" y="2795588"/>
                <a:ext cx="107950" cy="40481"/>
              </a:xfrm>
              <a:custGeom>
                <a:avLst/>
                <a:gdLst/>
                <a:ahLst/>
                <a:cxnLst/>
                <a:rect l="l" t="t" r="r" b="b"/>
                <a:pathLst>
                  <a:path w="107950" h="40481">
                    <a:moveTo>
                      <a:pt x="0" y="40481"/>
                    </a:moveTo>
                    <a:lnTo>
                      <a:pt x="0" y="26988"/>
                    </a:lnTo>
                    <a:cubicBezTo>
                      <a:pt x="0" y="12083"/>
                      <a:pt x="12083" y="0"/>
                      <a:pt x="26988" y="0"/>
                    </a:cubicBezTo>
                    <a:lnTo>
                      <a:pt x="80963" y="0"/>
                    </a:lnTo>
                    <a:cubicBezTo>
                      <a:pt x="95868" y="0"/>
                      <a:pt x="107950" y="12083"/>
                      <a:pt x="107950" y="26988"/>
                    </a:cubicBezTo>
                    <a:lnTo>
                      <a:pt x="107950" y="40481"/>
                    </a:lnTo>
                  </a:path>
                </a:pathLst>
              </a:custGeom>
              <a:noFill/>
              <a:ln w="26988">
                <a:solidFill>
                  <a:srgbClr val="5E3A33"/>
                </a:solidFill>
              </a:ln>
            </p:spPr>
          </p:sp>
          <p:sp>
            <p:nvSpPr>
              <p:cNvPr id="92" name="Freeform 92"/>
              <p:cNvSpPr/>
              <p:nvPr/>
            </p:nvSpPr>
            <p:spPr>
              <a:xfrm>
                <a:off x="7803357" y="2593181"/>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5E3A33"/>
                </a:solidFill>
              </a:ln>
            </p:spPr>
          </p:sp>
          <p:sp>
            <p:nvSpPr>
              <p:cNvPr id="93" name="Freeform 93"/>
              <p:cNvSpPr/>
              <p:nvPr/>
            </p:nvSpPr>
            <p:spPr>
              <a:xfrm>
                <a:off x="7830344" y="2687638"/>
                <a:ext cx="53975" cy="40481"/>
              </a:xfrm>
              <a:custGeom>
                <a:avLst/>
                <a:gdLst/>
                <a:ahLst/>
                <a:cxnLst/>
                <a:rect l="l" t="t" r="r" b="b"/>
                <a:pathLst>
                  <a:path w="53975" h="40481">
                    <a:moveTo>
                      <a:pt x="0" y="0"/>
                    </a:moveTo>
                    <a:lnTo>
                      <a:pt x="26988" y="0"/>
                    </a:lnTo>
                    <a:cubicBezTo>
                      <a:pt x="41892" y="0"/>
                      <a:pt x="53975" y="12083"/>
                      <a:pt x="53975" y="26988"/>
                    </a:cubicBezTo>
                    <a:lnTo>
                      <a:pt x="53975" y="40481"/>
                    </a:lnTo>
                  </a:path>
                </a:pathLst>
              </a:custGeom>
              <a:noFill/>
              <a:ln w="26988">
                <a:solidFill>
                  <a:srgbClr val="5E3A33"/>
                </a:solidFill>
              </a:ln>
            </p:spPr>
          </p:sp>
          <p:sp>
            <p:nvSpPr>
              <p:cNvPr id="94" name="Freeform 94"/>
              <p:cNvSpPr/>
              <p:nvPr/>
            </p:nvSpPr>
            <p:spPr>
              <a:xfrm>
                <a:off x="7668419" y="2593181"/>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5E3A33"/>
                </a:solidFill>
              </a:ln>
            </p:spPr>
          </p:sp>
          <p:sp>
            <p:nvSpPr>
              <p:cNvPr id="95" name="Freeform 95"/>
              <p:cNvSpPr/>
              <p:nvPr/>
            </p:nvSpPr>
            <p:spPr>
              <a:xfrm>
                <a:off x="7641431" y="2687638"/>
                <a:ext cx="53975" cy="40481"/>
              </a:xfrm>
              <a:custGeom>
                <a:avLst/>
                <a:gdLst/>
                <a:ahLst/>
                <a:cxnLst/>
                <a:rect l="l" t="t" r="r" b="b"/>
                <a:pathLst>
                  <a:path w="53975" h="40481">
                    <a:moveTo>
                      <a:pt x="0" y="40481"/>
                    </a:moveTo>
                    <a:lnTo>
                      <a:pt x="0" y="26988"/>
                    </a:lnTo>
                    <a:cubicBezTo>
                      <a:pt x="0" y="12083"/>
                      <a:pt x="12083" y="0"/>
                      <a:pt x="26988" y="0"/>
                    </a:cubicBezTo>
                    <a:lnTo>
                      <a:pt x="53975" y="0"/>
                    </a:lnTo>
                  </a:path>
                </a:pathLst>
              </a:custGeom>
              <a:noFill/>
              <a:ln w="26988">
                <a:solidFill>
                  <a:srgbClr val="5E3A33"/>
                </a:solidFill>
              </a:ln>
            </p:spPr>
          </p:sp>
        </p:grpSp>
        <p:sp>
          <p:nvSpPr>
            <p:cNvPr id="97" name="TextBox 97"/>
            <p:cNvSpPr txBox="1"/>
            <p:nvPr/>
          </p:nvSpPr>
          <p:spPr>
            <a:xfrm>
              <a:off x="7651763" y="3134439"/>
              <a:ext cx="222225"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企微</a:t>
              </a:r>
            </a:p>
          </p:txBody>
        </p:sp>
      </p:grpSp>
      <p:grpSp>
        <p:nvGrpSpPr>
          <p:cNvPr id="158" name="layer-org"/>
          <p:cNvGrpSpPr/>
          <p:nvPr/>
        </p:nvGrpSpPr>
        <p:grpSpPr>
          <a:xfrm>
            <a:off x="381000" y="3733800"/>
            <a:ext cx="7896225" cy="1333500"/>
            <a:chOff x="381000" y="3733800"/>
            <a:chExt cx="7896225" cy="1333500"/>
          </a:xfrm>
        </p:grpSpPr>
        <p:sp>
          <p:nvSpPr>
            <p:cNvPr id="99" name="Rectangle 99"/>
            <p:cNvSpPr/>
            <p:nvPr/>
          </p:nvSpPr>
          <p:spPr>
            <a:xfrm>
              <a:off x="381000" y="3733800"/>
              <a:ext cx="1047750" cy="1333500"/>
            </a:xfrm>
            <a:prstGeom prst="roundRect">
              <a:avLst>
                <a:gd name="adj" fmla="val 9091"/>
              </a:avLst>
            </a:prstGeom>
            <a:solidFill>
              <a:srgbClr val="F9EAEA"/>
            </a:solidFill>
            <a:ln>
              <a:noFill/>
            </a:ln>
          </p:spPr>
        </p:sp>
        <p:sp>
          <p:nvSpPr>
            <p:cNvPr id="100" name="Rectangle 100"/>
            <p:cNvSpPr/>
            <p:nvPr/>
          </p:nvSpPr>
          <p:spPr>
            <a:xfrm>
              <a:off x="381000" y="3733800"/>
              <a:ext cx="47625" cy="1333500"/>
            </a:xfrm>
            <a:prstGeom prst="rect">
              <a:avLst/>
            </a:prstGeom>
            <a:solidFill>
              <a:srgbClr val="A3381F"/>
            </a:solidFill>
            <a:ln>
              <a:noFill/>
            </a:ln>
          </p:spPr>
        </p:sp>
        <p:grpSp>
          <p:nvGrpSpPr>
            <p:cNvPr id="106" name="Group 106"/>
            <p:cNvGrpSpPr/>
            <p:nvPr/>
          </p:nvGrpSpPr>
          <p:grpSpPr>
            <a:xfrm>
              <a:off x="797719" y="4093369"/>
              <a:ext cx="214313" cy="214313"/>
              <a:chOff x="797719" y="4093369"/>
              <a:chExt cx="214313" cy="214313"/>
            </a:xfrm>
          </p:grpSpPr>
          <p:sp>
            <p:nvSpPr>
              <p:cNvPr id="101" name="Freeform 101"/>
              <p:cNvSpPr/>
              <p:nvPr/>
            </p:nvSpPr>
            <p:spPr>
              <a:xfrm>
                <a:off x="797719" y="4236244"/>
                <a:ext cx="71438" cy="71438"/>
              </a:xfrm>
              <a:custGeom>
                <a:avLst/>
                <a:gdLst/>
                <a:ahLst/>
                <a:cxnLst/>
                <a:rect l="l" t="t" r="r" b="b"/>
                <a:pathLst>
                  <a:path w="71438" h="71438">
                    <a:moveTo>
                      <a:pt x="0" y="23812"/>
                    </a:moveTo>
                    <a:cubicBezTo>
                      <a:pt x="0" y="10661"/>
                      <a:pt x="10661" y="0"/>
                      <a:pt x="23812" y="0"/>
                    </a:cubicBezTo>
                    <a:lnTo>
                      <a:pt x="47625" y="0"/>
                    </a:lnTo>
                    <a:cubicBezTo>
                      <a:pt x="60776" y="0"/>
                      <a:pt x="71438" y="10661"/>
                      <a:pt x="71438" y="23812"/>
                    </a:cubicBezTo>
                    <a:lnTo>
                      <a:pt x="71438" y="47625"/>
                    </a:lnTo>
                    <a:cubicBezTo>
                      <a:pt x="71438" y="60776"/>
                      <a:pt x="60776" y="71438"/>
                      <a:pt x="47625" y="71438"/>
                    </a:cubicBezTo>
                    <a:lnTo>
                      <a:pt x="23812" y="71438"/>
                    </a:lnTo>
                    <a:cubicBezTo>
                      <a:pt x="10661" y="71438"/>
                      <a:pt x="0" y="60776"/>
                      <a:pt x="0" y="47625"/>
                    </a:cubicBezTo>
                    <a:lnTo>
                      <a:pt x="0" y="23812"/>
                    </a:lnTo>
                  </a:path>
                </a:pathLst>
              </a:custGeom>
              <a:noFill/>
              <a:ln w="23812">
                <a:solidFill>
                  <a:srgbClr val="A3381F"/>
                </a:solidFill>
              </a:ln>
            </p:spPr>
          </p:sp>
          <p:sp>
            <p:nvSpPr>
              <p:cNvPr id="102" name="Freeform 102"/>
              <p:cNvSpPr/>
              <p:nvPr/>
            </p:nvSpPr>
            <p:spPr>
              <a:xfrm>
                <a:off x="940594" y="4236244"/>
                <a:ext cx="71438" cy="71438"/>
              </a:xfrm>
              <a:custGeom>
                <a:avLst/>
                <a:gdLst/>
                <a:ahLst/>
                <a:cxnLst/>
                <a:rect l="l" t="t" r="r" b="b"/>
                <a:pathLst>
                  <a:path w="71438" h="71438">
                    <a:moveTo>
                      <a:pt x="0" y="23812"/>
                    </a:moveTo>
                    <a:cubicBezTo>
                      <a:pt x="0" y="10661"/>
                      <a:pt x="10661" y="0"/>
                      <a:pt x="23812" y="0"/>
                    </a:cubicBezTo>
                    <a:lnTo>
                      <a:pt x="47625" y="0"/>
                    </a:lnTo>
                    <a:cubicBezTo>
                      <a:pt x="60776" y="0"/>
                      <a:pt x="71438" y="10661"/>
                      <a:pt x="71438" y="23812"/>
                    </a:cubicBezTo>
                    <a:lnTo>
                      <a:pt x="71438" y="47625"/>
                    </a:lnTo>
                    <a:cubicBezTo>
                      <a:pt x="71438" y="60776"/>
                      <a:pt x="60776" y="71438"/>
                      <a:pt x="47625" y="71438"/>
                    </a:cubicBezTo>
                    <a:lnTo>
                      <a:pt x="23812" y="71438"/>
                    </a:lnTo>
                    <a:cubicBezTo>
                      <a:pt x="10661" y="71438"/>
                      <a:pt x="0" y="60776"/>
                      <a:pt x="0" y="47625"/>
                    </a:cubicBezTo>
                    <a:lnTo>
                      <a:pt x="0" y="23812"/>
                    </a:lnTo>
                  </a:path>
                </a:pathLst>
              </a:custGeom>
              <a:noFill/>
              <a:ln w="23812">
                <a:solidFill>
                  <a:srgbClr val="A3381F"/>
                </a:solidFill>
              </a:ln>
            </p:spPr>
          </p:sp>
          <p:sp>
            <p:nvSpPr>
              <p:cNvPr id="103" name="Freeform 103"/>
              <p:cNvSpPr/>
              <p:nvPr/>
            </p:nvSpPr>
            <p:spPr>
              <a:xfrm>
                <a:off x="869156" y="4093369"/>
                <a:ext cx="71438" cy="71438"/>
              </a:xfrm>
              <a:custGeom>
                <a:avLst/>
                <a:gdLst/>
                <a:ahLst/>
                <a:cxnLst/>
                <a:rect l="l" t="t" r="r" b="b"/>
                <a:pathLst>
                  <a:path w="71438" h="71438">
                    <a:moveTo>
                      <a:pt x="0" y="23812"/>
                    </a:moveTo>
                    <a:cubicBezTo>
                      <a:pt x="0" y="10661"/>
                      <a:pt x="10661" y="0"/>
                      <a:pt x="23812" y="0"/>
                    </a:cubicBezTo>
                    <a:lnTo>
                      <a:pt x="47625" y="0"/>
                    </a:lnTo>
                    <a:cubicBezTo>
                      <a:pt x="60776" y="0"/>
                      <a:pt x="71438" y="10661"/>
                      <a:pt x="71438" y="23812"/>
                    </a:cubicBezTo>
                    <a:lnTo>
                      <a:pt x="71438" y="47625"/>
                    </a:lnTo>
                    <a:cubicBezTo>
                      <a:pt x="71438" y="60776"/>
                      <a:pt x="60776" y="71438"/>
                      <a:pt x="47625" y="71438"/>
                    </a:cubicBezTo>
                    <a:lnTo>
                      <a:pt x="23812" y="71438"/>
                    </a:lnTo>
                    <a:cubicBezTo>
                      <a:pt x="10661" y="71438"/>
                      <a:pt x="0" y="60776"/>
                      <a:pt x="0" y="47625"/>
                    </a:cubicBezTo>
                    <a:lnTo>
                      <a:pt x="0" y="23812"/>
                    </a:lnTo>
                  </a:path>
                </a:pathLst>
              </a:custGeom>
              <a:noFill/>
              <a:ln w="23812">
                <a:solidFill>
                  <a:srgbClr val="A3381F"/>
                </a:solidFill>
              </a:ln>
            </p:spPr>
          </p:sp>
          <p:sp>
            <p:nvSpPr>
              <p:cNvPr id="104" name="Freeform 104"/>
              <p:cNvSpPr/>
              <p:nvPr/>
            </p:nvSpPr>
            <p:spPr>
              <a:xfrm>
                <a:off x="833438" y="4200525"/>
                <a:ext cx="142875" cy="35719"/>
              </a:xfrm>
              <a:custGeom>
                <a:avLst/>
                <a:gdLst/>
                <a:ahLst/>
                <a:cxnLst/>
                <a:rect l="l" t="t" r="r" b="b"/>
                <a:pathLst>
                  <a:path w="142875" h="35719">
                    <a:moveTo>
                      <a:pt x="0" y="35719"/>
                    </a:moveTo>
                    <a:lnTo>
                      <a:pt x="0" y="23812"/>
                    </a:lnTo>
                    <a:cubicBezTo>
                      <a:pt x="0" y="10661"/>
                      <a:pt x="10661" y="0"/>
                      <a:pt x="23812" y="0"/>
                    </a:cubicBezTo>
                    <a:lnTo>
                      <a:pt x="119062" y="0"/>
                    </a:lnTo>
                    <a:cubicBezTo>
                      <a:pt x="132214" y="0"/>
                      <a:pt x="142875" y="10661"/>
                      <a:pt x="142875" y="23812"/>
                    </a:cubicBezTo>
                    <a:lnTo>
                      <a:pt x="142875" y="35719"/>
                    </a:lnTo>
                  </a:path>
                </a:pathLst>
              </a:custGeom>
              <a:noFill/>
              <a:ln w="23812">
                <a:solidFill>
                  <a:srgbClr val="A3381F"/>
                </a:solidFill>
              </a:ln>
            </p:spPr>
          </p:sp>
          <p:sp>
            <p:nvSpPr>
              <p:cNvPr id="105" name="Freeform 105"/>
              <p:cNvSpPr/>
              <p:nvPr/>
            </p:nvSpPr>
            <p:spPr>
              <a:xfrm>
                <a:off x="904875" y="4164806"/>
                <a:ext cx="9525" cy="35719"/>
              </a:xfrm>
              <a:custGeom>
                <a:avLst/>
                <a:gdLst/>
                <a:ahLst/>
                <a:cxnLst/>
                <a:rect l="l" t="t" r="r" b="b"/>
                <a:pathLst>
                  <a:path w="9525" h="35719">
                    <a:moveTo>
                      <a:pt x="0" y="0"/>
                    </a:moveTo>
                    <a:lnTo>
                      <a:pt x="0" y="35719"/>
                    </a:lnTo>
                  </a:path>
                </a:pathLst>
              </a:custGeom>
              <a:noFill/>
              <a:ln w="23812">
                <a:solidFill>
                  <a:srgbClr val="A3381F"/>
                </a:solidFill>
              </a:ln>
            </p:spPr>
          </p:sp>
        </p:grpSp>
        <p:sp>
          <p:nvSpPr>
            <p:cNvPr id="107" name="TextBox 107"/>
            <p:cNvSpPr txBox="1"/>
            <p:nvPr/>
          </p:nvSpPr>
          <p:spPr>
            <a:xfrm>
              <a:off x="672998" y="4526756"/>
              <a:ext cx="463753" cy="220028"/>
            </a:xfrm>
            <a:prstGeom prst="rect">
              <a:avLst/>
            </a:prstGeom>
            <a:noFill/>
            <a:ln>
              <a:noFill/>
            </a:ln>
          </p:spPr>
          <p:txBody>
            <a:bodyPr wrap="none" lIns="0" tIns="0" rIns="0" bIns="0" anchor="t" anchorCtr="0">
              <a:spAutoFit/>
            </a:bodyPr>
            <a:lstStyle/>
            <a:p>
              <a:pPr algn="ctr"/>
              <a:r>
                <a:rPr lang="zh-CN" sz="1120" b="1" dirty="0">
                  <a:solidFill>
                    <a:srgbClr val="A3381F"/>
                  </a:solidFill>
                  <a:latin typeface="+mn-lt"/>
                  <a:ea typeface="+mn-ea"/>
                  <a:cs typeface="+mn-cs"/>
                </a:rPr>
                <a:t>组织层</a:t>
              </a:r>
            </a:p>
          </p:txBody>
        </p:sp>
        <p:sp>
          <p:nvSpPr>
            <p:cNvPr id="108" name="Rectangle 108"/>
            <p:cNvSpPr/>
            <p:nvPr/>
          </p:nvSpPr>
          <p:spPr>
            <a:xfrm>
              <a:off x="1581150" y="3867150"/>
              <a:ext cx="1028700" cy="1066800"/>
            </a:xfrm>
            <a:prstGeom prst="roundRect">
              <a:avLst>
                <a:gd name="adj" fmla="val 7407"/>
              </a:avLst>
            </a:prstGeom>
            <a:solidFill>
              <a:srgbClr val="FFFFFF"/>
            </a:solidFill>
            <a:ln w="9525">
              <a:solidFill>
                <a:srgbClr val="E6D9C0"/>
              </a:solidFill>
            </a:ln>
          </p:spPr>
        </p:sp>
        <p:grpSp>
          <p:nvGrpSpPr>
            <p:cNvPr id="117" name="Group 117"/>
            <p:cNvGrpSpPr/>
            <p:nvPr/>
          </p:nvGrpSpPr>
          <p:grpSpPr>
            <a:xfrm>
              <a:off x="1974056" y="4021931"/>
              <a:ext cx="242888" cy="252413"/>
              <a:chOff x="1974056" y="4021931"/>
              <a:chExt cx="242888" cy="252413"/>
            </a:xfrm>
          </p:grpSpPr>
          <p:sp>
            <p:nvSpPr>
              <p:cNvPr id="109" name="Freeform 109"/>
              <p:cNvSpPr/>
              <p:nvPr/>
            </p:nvSpPr>
            <p:spPr>
              <a:xfrm>
                <a:off x="1974056" y="4264819"/>
                <a:ext cx="242888" cy="9525"/>
              </a:xfrm>
              <a:custGeom>
                <a:avLst/>
                <a:gdLst/>
                <a:ahLst/>
                <a:cxnLst/>
                <a:rect l="l" t="t" r="r" b="b"/>
                <a:pathLst>
                  <a:path w="242888" h="9525">
                    <a:moveTo>
                      <a:pt x="0" y="0"/>
                    </a:moveTo>
                    <a:lnTo>
                      <a:pt x="242888" y="0"/>
                    </a:lnTo>
                  </a:path>
                </a:pathLst>
              </a:custGeom>
              <a:noFill/>
              <a:ln w="26988">
                <a:solidFill>
                  <a:srgbClr val="A3381F"/>
                </a:solidFill>
              </a:ln>
            </p:spPr>
          </p:sp>
          <p:sp>
            <p:nvSpPr>
              <p:cNvPr id="110" name="Freeform 110"/>
              <p:cNvSpPr/>
              <p:nvPr/>
            </p:nvSpPr>
            <p:spPr>
              <a:xfrm>
                <a:off x="1974056" y="4116388"/>
                <a:ext cx="242888" cy="9525"/>
              </a:xfrm>
              <a:custGeom>
                <a:avLst/>
                <a:gdLst/>
                <a:ahLst/>
                <a:cxnLst/>
                <a:rect l="l" t="t" r="r" b="b"/>
                <a:pathLst>
                  <a:path w="242888" h="9525">
                    <a:moveTo>
                      <a:pt x="0" y="0"/>
                    </a:moveTo>
                    <a:lnTo>
                      <a:pt x="242888" y="0"/>
                    </a:lnTo>
                  </a:path>
                </a:pathLst>
              </a:custGeom>
              <a:noFill/>
              <a:ln w="26988">
                <a:solidFill>
                  <a:srgbClr val="A3381F"/>
                </a:solidFill>
              </a:ln>
            </p:spPr>
          </p:sp>
          <p:sp>
            <p:nvSpPr>
              <p:cNvPr id="111" name="Freeform 111"/>
              <p:cNvSpPr/>
              <p:nvPr/>
            </p:nvSpPr>
            <p:spPr>
              <a:xfrm>
                <a:off x="2001044" y="4021931"/>
                <a:ext cx="188913" cy="40481"/>
              </a:xfrm>
              <a:custGeom>
                <a:avLst/>
                <a:gdLst/>
                <a:ahLst/>
                <a:cxnLst/>
                <a:rect l="l" t="t" r="r" b="b"/>
                <a:pathLst>
                  <a:path w="188913" h="40481">
                    <a:moveTo>
                      <a:pt x="0" y="40481"/>
                    </a:moveTo>
                    <a:lnTo>
                      <a:pt x="94456" y="0"/>
                    </a:lnTo>
                    <a:lnTo>
                      <a:pt x="188913" y="40481"/>
                    </a:lnTo>
                  </a:path>
                </a:pathLst>
              </a:custGeom>
              <a:noFill/>
              <a:ln w="26988">
                <a:solidFill>
                  <a:srgbClr val="A3381F"/>
                </a:solidFill>
              </a:ln>
            </p:spPr>
          </p:sp>
          <p:sp>
            <p:nvSpPr>
              <p:cNvPr id="112" name="Freeform 112"/>
              <p:cNvSpPr/>
              <p:nvPr/>
            </p:nvSpPr>
            <p:spPr>
              <a:xfrm>
                <a:off x="1987550" y="4116388"/>
                <a:ext cx="9525" cy="148432"/>
              </a:xfrm>
              <a:custGeom>
                <a:avLst/>
                <a:gdLst/>
                <a:ahLst/>
                <a:cxnLst/>
                <a:rect l="l" t="t" r="r" b="b"/>
                <a:pathLst>
                  <a:path w="9525" h="148432">
                    <a:moveTo>
                      <a:pt x="0" y="0"/>
                    </a:moveTo>
                    <a:lnTo>
                      <a:pt x="0" y="148432"/>
                    </a:lnTo>
                  </a:path>
                </a:pathLst>
              </a:custGeom>
              <a:noFill/>
              <a:ln w="26988">
                <a:solidFill>
                  <a:srgbClr val="A3381F"/>
                </a:solidFill>
              </a:ln>
            </p:spPr>
          </p:sp>
          <p:sp>
            <p:nvSpPr>
              <p:cNvPr id="113" name="Freeform 113"/>
              <p:cNvSpPr/>
              <p:nvPr/>
            </p:nvSpPr>
            <p:spPr>
              <a:xfrm>
                <a:off x="2203451" y="4116388"/>
                <a:ext cx="9525" cy="148432"/>
              </a:xfrm>
              <a:custGeom>
                <a:avLst/>
                <a:gdLst/>
                <a:ahLst/>
                <a:cxnLst/>
                <a:rect l="l" t="t" r="r" b="b"/>
                <a:pathLst>
                  <a:path w="9525" h="148432">
                    <a:moveTo>
                      <a:pt x="0" y="0"/>
                    </a:moveTo>
                    <a:lnTo>
                      <a:pt x="0" y="148432"/>
                    </a:lnTo>
                  </a:path>
                </a:pathLst>
              </a:custGeom>
              <a:noFill/>
              <a:ln w="26988">
                <a:solidFill>
                  <a:srgbClr val="A3381F"/>
                </a:solidFill>
              </a:ln>
            </p:spPr>
          </p:sp>
          <p:sp>
            <p:nvSpPr>
              <p:cNvPr id="114" name="Freeform 114"/>
              <p:cNvSpPr/>
              <p:nvPr/>
            </p:nvSpPr>
            <p:spPr>
              <a:xfrm>
                <a:off x="2041525" y="4170363"/>
                <a:ext cx="9525" cy="40481"/>
              </a:xfrm>
              <a:custGeom>
                <a:avLst/>
                <a:gdLst/>
                <a:ahLst/>
                <a:cxnLst/>
                <a:rect l="l" t="t" r="r" b="b"/>
                <a:pathLst>
                  <a:path w="9525" h="40481">
                    <a:moveTo>
                      <a:pt x="0" y="0"/>
                    </a:moveTo>
                    <a:lnTo>
                      <a:pt x="0" y="40481"/>
                    </a:lnTo>
                  </a:path>
                </a:pathLst>
              </a:custGeom>
              <a:noFill/>
              <a:ln w="26988">
                <a:solidFill>
                  <a:srgbClr val="A3381F"/>
                </a:solidFill>
              </a:ln>
            </p:spPr>
          </p:sp>
          <p:sp>
            <p:nvSpPr>
              <p:cNvPr id="115" name="Freeform 115"/>
              <p:cNvSpPr/>
              <p:nvPr/>
            </p:nvSpPr>
            <p:spPr>
              <a:xfrm>
                <a:off x="2095500" y="4170363"/>
                <a:ext cx="9525" cy="40481"/>
              </a:xfrm>
              <a:custGeom>
                <a:avLst/>
                <a:gdLst/>
                <a:ahLst/>
                <a:cxnLst/>
                <a:rect l="l" t="t" r="r" b="b"/>
                <a:pathLst>
                  <a:path w="9525" h="40481">
                    <a:moveTo>
                      <a:pt x="0" y="0"/>
                    </a:moveTo>
                    <a:lnTo>
                      <a:pt x="0" y="40481"/>
                    </a:lnTo>
                  </a:path>
                </a:pathLst>
              </a:custGeom>
              <a:noFill/>
              <a:ln w="26988">
                <a:solidFill>
                  <a:srgbClr val="A3381F"/>
                </a:solidFill>
              </a:ln>
            </p:spPr>
          </p:sp>
          <p:sp>
            <p:nvSpPr>
              <p:cNvPr id="116" name="Freeform 116"/>
              <p:cNvSpPr/>
              <p:nvPr/>
            </p:nvSpPr>
            <p:spPr>
              <a:xfrm>
                <a:off x="2149476" y="4170363"/>
                <a:ext cx="9525" cy="40481"/>
              </a:xfrm>
              <a:custGeom>
                <a:avLst/>
                <a:gdLst/>
                <a:ahLst/>
                <a:cxnLst/>
                <a:rect l="l" t="t" r="r" b="b"/>
                <a:pathLst>
                  <a:path w="9525" h="40481">
                    <a:moveTo>
                      <a:pt x="0" y="0"/>
                    </a:moveTo>
                    <a:lnTo>
                      <a:pt x="0" y="40481"/>
                    </a:lnTo>
                  </a:path>
                </a:pathLst>
              </a:custGeom>
              <a:noFill/>
              <a:ln w="26988">
                <a:solidFill>
                  <a:srgbClr val="A3381F"/>
                </a:solidFill>
              </a:ln>
            </p:spPr>
          </p:sp>
        </p:grpSp>
        <p:sp>
          <p:nvSpPr>
            <p:cNvPr id="118" name="TextBox 118"/>
            <p:cNvSpPr txBox="1"/>
            <p:nvPr/>
          </p:nvSpPr>
          <p:spPr>
            <a:xfrm>
              <a:off x="1839912" y="4486989"/>
              <a:ext cx="511175" cy="297656"/>
            </a:xfrm>
            <a:prstGeom prst="rect">
              <a:avLst/>
            </a:prstGeom>
            <a:noFill/>
            <a:ln>
              <a:noFill/>
            </a:ln>
          </p:spPr>
          <p:txBody>
            <a:bodyPr wrap="none" lIns="0" tIns="0" rIns="0" bIns="0" anchor="t" anchorCtr="0">
              <a:spAutoFit/>
            </a:bodyPr>
            <a:lstStyle/>
            <a:p>
              <a:pPr algn="ctr">
                <a:lnSpc>
                  <a:spcPts val="1125"/>
                </a:lnSpc>
              </a:pPr>
              <a:r>
                <a:rPr lang="zh-CN" sz="790" b="1" dirty="0">
                  <a:solidFill>
                    <a:srgbClr val="5E3A33"/>
                  </a:solidFill>
                  <a:latin typeface="+mn-lt"/>
                  <a:ea typeface="+mn-ea"/>
                  <a:cs typeface="+mn-cs"/>
                </a:rPr>
                <a:t>总行客户</a:t>
              </a:r>
              <a:br/>
              <a:r>
                <a:rPr lang="zh-CN" sz="790" b="1" dirty="0">
                  <a:solidFill>
                    <a:srgbClr val="5E3A33"/>
                  </a:solidFill>
                  <a:latin typeface="+mn-lt"/>
                  <a:ea typeface="+mn-ea"/>
                  <a:cs typeface="+mn-cs"/>
                </a:rPr>
                <a:t>经营委员会</a:t>
              </a:r>
            </a:p>
          </p:txBody>
        </p:sp>
        <p:sp>
          <p:nvSpPr>
            <p:cNvPr id="119" name="Rectangle 119"/>
            <p:cNvSpPr/>
            <p:nvPr/>
          </p:nvSpPr>
          <p:spPr>
            <a:xfrm>
              <a:off x="2714625" y="3867150"/>
              <a:ext cx="1028700" cy="1066800"/>
            </a:xfrm>
            <a:prstGeom prst="roundRect">
              <a:avLst>
                <a:gd name="adj" fmla="val 7407"/>
              </a:avLst>
            </a:prstGeom>
            <a:solidFill>
              <a:srgbClr val="FFFFFF"/>
            </a:solidFill>
            <a:ln w="9525">
              <a:solidFill>
                <a:srgbClr val="E6D9C0"/>
              </a:solidFill>
            </a:ln>
          </p:spPr>
        </p:sp>
        <p:grpSp>
          <p:nvGrpSpPr>
            <p:cNvPr id="125" name="Group 125"/>
            <p:cNvGrpSpPr/>
            <p:nvPr/>
          </p:nvGrpSpPr>
          <p:grpSpPr>
            <a:xfrm>
              <a:off x="3107531" y="4060031"/>
              <a:ext cx="242889" cy="238920"/>
              <a:chOff x="3107531" y="4060031"/>
              <a:chExt cx="242889" cy="238920"/>
            </a:xfrm>
          </p:grpSpPr>
          <p:sp>
            <p:nvSpPr>
              <p:cNvPr id="120" name="Freeform 120"/>
              <p:cNvSpPr/>
              <p:nvPr/>
            </p:nvSpPr>
            <p:spPr>
              <a:xfrm>
                <a:off x="3161506" y="4289426"/>
                <a:ext cx="134938" cy="9525"/>
              </a:xfrm>
              <a:custGeom>
                <a:avLst/>
                <a:gdLst/>
                <a:ahLst/>
                <a:cxnLst/>
                <a:rect l="l" t="t" r="r" b="b"/>
                <a:pathLst>
                  <a:path w="134938" h="9525">
                    <a:moveTo>
                      <a:pt x="0" y="0"/>
                    </a:moveTo>
                    <a:lnTo>
                      <a:pt x="134938" y="0"/>
                    </a:lnTo>
                  </a:path>
                </a:pathLst>
              </a:custGeom>
              <a:noFill/>
              <a:ln w="26988">
                <a:solidFill>
                  <a:srgbClr val="A3381F"/>
                </a:solidFill>
              </a:ln>
            </p:spPr>
          </p:sp>
          <p:sp>
            <p:nvSpPr>
              <p:cNvPr id="121" name="Freeform 121"/>
              <p:cNvSpPr/>
              <p:nvPr/>
            </p:nvSpPr>
            <p:spPr>
              <a:xfrm>
                <a:off x="3148013" y="4087019"/>
                <a:ext cx="161925" cy="13494"/>
              </a:xfrm>
              <a:custGeom>
                <a:avLst/>
                <a:gdLst/>
                <a:ahLst/>
                <a:cxnLst/>
                <a:rect l="l" t="t" r="r" b="b"/>
                <a:pathLst>
                  <a:path w="161925" h="13494">
                    <a:moveTo>
                      <a:pt x="0" y="13494"/>
                    </a:moveTo>
                    <a:lnTo>
                      <a:pt x="80963" y="0"/>
                    </a:lnTo>
                    <a:lnTo>
                      <a:pt x="161925" y="13494"/>
                    </a:lnTo>
                  </a:path>
                </a:pathLst>
              </a:custGeom>
              <a:noFill/>
              <a:ln w="26988">
                <a:solidFill>
                  <a:srgbClr val="A3381F"/>
                </a:solidFill>
              </a:ln>
            </p:spPr>
          </p:sp>
          <p:sp>
            <p:nvSpPr>
              <p:cNvPr id="122" name="Freeform 122"/>
              <p:cNvSpPr/>
              <p:nvPr/>
            </p:nvSpPr>
            <p:spPr>
              <a:xfrm>
                <a:off x="3228975" y="4060031"/>
                <a:ext cx="9525" cy="229394"/>
              </a:xfrm>
              <a:custGeom>
                <a:avLst/>
                <a:gdLst/>
                <a:ahLst/>
                <a:cxnLst/>
                <a:rect l="l" t="t" r="r" b="b"/>
                <a:pathLst>
                  <a:path w="9525" h="229394">
                    <a:moveTo>
                      <a:pt x="0" y="0"/>
                    </a:moveTo>
                    <a:lnTo>
                      <a:pt x="0" y="229394"/>
                    </a:lnTo>
                  </a:path>
                </a:pathLst>
              </a:custGeom>
              <a:noFill/>
              <a:ln w="26988">
                <a:solidFill>
                  <a:srgbClr val="A3381F"/>
                </a:solidFill>
              </a:ln>
            </p:spPr>
          </p:sp>
          <p:sp>
            <p:nvSpPr>
              <p:cNvPr id="123" name="Freeform 123"/>
              <p:cNvSpPr/>
              <p:nvPr/>
            </p:nvSpPr>
            <p:spPr>
              <a:xfrm>
                <a:off x="3107531" y="4100513"/>
                <a:ext cx="80963" cy="121444"/>
              </a:xfrm>
              <a:custGeom>
                <a:avLst/>
                <a:gdLst/>
                <a:ahLst/>
                <a:cxnLst/>
                <a:rect l="l" t="t" r="r" b="b"/>
                <a:pathLst>
                  <a:path w="80963" h="121444">
                    <a:moveTo>
                      <a:pt x="80963" y="80963"/>
                    </a:moveTo>
                    <a:lnTo>
                      <a:pt x="40481" y="0"/>
                    </a:lnTo>
                    <a:lnTo>
                      <a:pt x="0" y="80963"/>
                    </a:lnTo>
                    <a:cubicBezTo>
                      <a:pt x="0" y="103320"/>
                      <a:pt x="18124" y="121444"/>
                      <a:pt x="40481" y="121444"/>
                    </a:cubicBezTo>
                    <a:cubicBezTo>
                      <a:pt x="62839" y="121444"/>
                      <a:pt x="80963" y="103320"/>
                      <a:pt x="80963" y="80963"/>
                    </a:cubicBezTo>
                  </a:path>
                </a:pathLst>
              </a:custGeom>
              <a:noFill/>
              <a:ln w="26988">
                <a:solidFill>
                  <a:srgbClr val="A3381F"/>
                </a:solidFill>
              </a:ln>
            </p:spPr>
          </p:sp>
          <p:sp>
            <p:nvSpPr>
              <p:cNvPr id="124" name="Freeform 124"/>
              <p:cNvSpPr/>
              <p:nvPr/>
            </p:nvSpPr>
            <p:spPr>
              <a:xfrm>
                <a:off x="3269457" y="4100513"/>
                <a:ext cx="80963" cy="121444"/>
              </a:xfrm>
              <a:custGeom>
                <a:avLst/>
                <a:gdLst/>
                <a:ahLst/>
                <a:cxnLst/>
                <a:rect l="l" t="t" r="r" b="b"/>
                <a:pathLst>
                  <a:path w="80963" h="121444">
                    <a:moveTo>
                      <a:pt x="80963" y="80963"/>
                    </a:moveTo>
                    <a:lnTo>
                      <a:pt x="40481" y="0"/>
                    </a:lnTo>
                    <a:lnTo>
                      <a:pt x="0" y="80963"/>
                    </a:lnTo>
                    <a:cubicBezTo>
                      <a:pt x="0" y="103320"/>
                      <a:pt x="18124" y="121444"/>
                      <a:pt x="40481" y="121444"/>
                    </a:cubicBezTo>
                    <a:cubicBezTo>
                      <a:pt x="62839" y="121444"/>
                      <a:pt x="80963" y="103320"/>
                      <a:pt x="80963" y="80963"/>
                    </a:cubicBezTo>
                  </a:path>
                </a:pathLst>
              </a:custGeom>
              <a:noFill/>
              <a:ln w="26988">
                <a:solidFill>
                  <a:srgbClr val="A3381F"/>
                </a:solidFill>
              </a:ln>
            </p:spPr>
          </p:sp>
        </p:grpSp>
        <p:sp>
          <p:nvSpPr>
            <p:cNvPr id="126" name="TextBox 126"/>
            <p:cNvSpPr txBox="1"/>
            <p:nvPr/>
          </p:nvSpPr>
          <p:spPr>
            <a:xfrm>
              <a:off x="3117863" y="4601289"/>
              <a:ext cx="222225"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业务</a:t>
              </a:r>
            </a:p>
          </p:txBody>
        </p:sp>
        <p:sp>
          <p:nvSpPr>
            <p:cNvPr id="127" name="Rectangle 127"/>
            <p:cNvSpPr/>
            <p:nvPr/>
          </p:nvSpPr>
          <p:spPr>
            <a:xfrm>
              <a:off x="3848100" y="3867150"/>
              <a:ext cx="1028700" cy="1066800"/>
            </a:xfrm>
            <a:prstGeom prst="roundRect">
              <a:avLst>
                <a:gd name="adj" fmla="val 7407"/>
              </a:avLst>
            </a:prstGeom>
            <a:solidFill>
              <a:srgbClr val="FFFFFF"/>
            </a:solidFill>
            <a:ln w="9525">
              <a:solidFill>
                <a:srgbClr val="E6D9C0"/>
              </a:solidFill>
            </a:ln>
          </p:spPr>
        </p:sp>
        <p:grpSp>
          <p:nvGrpSpPr>
            <p:cNvPr id="131" name="Group 131"/>
            <p:cNvGrpSpPr/>
            <p:nvPr/>
          </p:nvGrpSpPr>
          <p:grpSpPr>
            <a:xfrm>
              <a:off x="4254500" y="4060031"/>
              <a:ext cx="215901" cy="242888"/>
              <a:chOff x="4254500" y="4060031"/>
              <a:chExt cx="215901" cy="242888"/>
            </a:xfrm>
          </p:grpSpPr>
          <p:sp>
            <p:nvSpPr>
              <p:cNvPr id="128" name="Freeform 128"/>
              <p:cNvSpPr/>
              <p:nvPr/>
            </p:nvSpPr>
            <p:spPr>
              <a:xfrm>
                <a:off x="4254500" y="4060031"/>
                <a:ext cx="215901" cy="80963"/>
              </a:xfrm>
              <a:custGeom>
                <a:avLst/>
                <a:gdLst/>
                <a:ahLst/>
                <a:cxnLst/>
                <a:rect l="l" t="t" r="r" b="b"/>
                <a:pathLst>
                  <a:path w="215901" h="80963">
                    <a:moveTo>
                      <a:pt x="0" y="40481"/>
                    </a:moveTo>
                    <a:cubicBezTo>
                      <a:pt x="0" y="62839"/>
                      <a:pt x="48331" y="80963"/>
                      <a:pt x="107950" y="80963"/>
                    </a:cubicBezTo>
                    <a:cubicBezTo>
                      <a:pt x="167570" y="80963"/>
                      <a:pt x="215901" y="62839"/>
                      <a:pt x="215901" y="40481"/>
                    </a:cubicBezTo>
                    <a:cubicBezTo>
                      <a:pt x="215901" y="18124"/>
                      <a:pt x="167570" y="0"/>
                      <a:pt x="107950" y="0"/>
                    </a:cubicBezTo>
                    <a:cubicBezTo>
                      <a:pt x="48331" y="0"/>
                      <a:pt x="0" y="18124"/>
                      <a:pt x="0" y="40481"/>
                    </a:cubicBezTo>
                  </a:path>
                </a:pathLst>
              </a:custGeom>
              <a:noFill/>
              <a:ln w="26988">
                <a:solidFill>
                  <a:srgbClr val="A3381F"/>
                </a:solidFill>
              </a:ln>
            </p:spPr>
          </p:sp>
          <p:sp>
            <p:nvSpPr>
              <p:cNvPr id="129" name="Freeform 129"/>
              <p:cNvSpPr/>
              <p:nvPr/>
            </p:nvSpPr>
            <p:spPr>
              <a:xfrm>
                <a:off x="4254500" y="4100513"/>
                <a:ext cx="215901" cy="121444"/>
              </a:xfrm>
              <a:custGeom>
                <a:avLst/>
                <a:gdLst/>
                <a:ahLst/>
                <a:cxnLst/>
                <a:rect l="l" t="t" r="r" b="b"/>
                <a:pathLst>
                  <a:path w="215901" h="121444">
                    <a:moveTo>
                      <a:pt x="0" y="0"/>
                    </a:moveTo>
                    <a:lnTo>
                      <a:pt x="0" y="80963"/>
                    </a:lnTo>
                    <a:cubicBezTo>
                      <a:pt x="0" y="103320"/>
                      <a:pt x="48331" y="121444"/>
                      <a:pt x="107950" y="121444"/>
                    </a:cubicBezTo>
                    <a:cubicBezTo>
                      <a:pt x="167570" y="121444"/>
                      <a:pt x="215901" y="103320"/>
                      <a:pt x="215901" y="80963"/>
                    </a:cubicBezTo>
                    <a:lnTo>
                      <a:pt x="215901" y="0"/>
                    </a:lnTo>
                  </a:path>
                </a:pathLst>
              </a:custGeom>
              <a:noFill/>
              <a:ln w="26988">
                <a:solidFill>
                  <a:srgbClr val="A3381F"/>
                </a:solidFill>
              </a:ln>
            </p:spPr>
          </p:sp>
          <p:sp>
            <p:nvSpPr>
              <p:cNvPr id="130" name="Freeform 130"/>
              <p:cNvSpPr/>
              <p:nvPr/>
            </p:nvSpPr>
            <p:spPr>
              <a:xfrm>
                <a:off x="4254500" y="4181475"/>
                <a:ext cx="215901" cy="121444"/>
              </a:xfrm>
              <a:custGeom>
                <a:avLst/>
                <a:gdLst/>
                <a:ahLst/>
                <a:cxnLst/>
                <a:rect l="l" t="t" r="r" b="b"/>
                <a:pathLst>
                  <a:path w="215901" h="121444">
                    <a:moveTo>
                      <a:pt x="0" y="0"/>
                    </a:moveTo>
                    <a:lnTo>
                      <a:pt x="0" y="80963"/>
                    </a:lnTo>
                    <a:cubicBezTo>
                      <a:pt x="0" y="103320"/>
                      <a:pt x="48331" y="121444"/>
                      <a:pt x="107950" y="121444"/>
                    </a:cubicBezTo>
                    <a:cubicBezTo>
                      <a:pt x="167570" y="121444"/>
                      <a:pt x="215901" y="103320"/>
                      <a:pt x="215901" y="80963"/>
                    </a:cubicBezTo>
                    <a:lnTo>
                      <a:pt x="215901" y="0"/>
                    </a:lnTo>
                  </a:path>
                </a:pathLst>
              </a:custGeom>
              <a:noFill/>
              <a:ln w="26988">
                <a:solidFill>
                  <a:srgbClr val="A3381F"/>
                </a:solidFill>
              </a:ln>
            </p:spPr>
          </p:sp>
        </p:grpSp>
        <p:sp>
          <p:nvSpPr>
            <p:cNvPr id="132" name="TextBox 132"/>
            <p:cNvSpPr txBox="1"/>
            <p:nvPr/>
          </p:nvSpPr>
          <p:spPr>
            <a:xfrm>
              <a:off x="4251338" y="4601289"/>
              <a:ext cx="222225"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数据</a:t>
              </a:r>
            </a:p>
          </p:txBody>
        </p:sp>
        <p:sp>
          <p:nvSpPr>
            <p:cNvPr id="133" name="Rectangle 133"/>
            <p:cNvSpPr/>
            <p:nvPr/>
          </p:nvSpPr>
          <p:spPr>
            <a:xfrm>
              <a:off x="4981575" y="3867150"/>
              <a:ext cx="1028700" cy="1066800"/>
            </a:xfrm>
            <a:prstGeom prst="roundRect">
              <a:avLst>
                <a:gd name="adj" fmla="val 7407"/>
              </a:avLst>
            </a:prstGeom>
            <a:solidFill>
              <a:srgbClr val="FFFFFF"/>
            </a:solidFill>
            <a:ln w="9525">
              <a:solidFill>
                <a:srgbClr val="E6D9C0"/>
              </a:solidFill>
            </a:ln>
          </p:spPr>
        </p:sp>
        <p:grpSp>
          <p:nvGrpSpPr>
            <p:cNvPr id="143" name="Group 143"/>
            <p:cNvGrpSpPr/>
            <p:nvPr/>
          </p:nvGrpSpPr>
          <p:grpSpPr>
            <a:xfrm>
              <a:off x="5401469" y="4046538"/>
              <a:ext cx="188913" cy="256381"/>
              <a:chOff x="5401469" y="4046538"/>
              <a:chExt cx="188913" cy="256381"/>
            </a:xfrm>
          </p:grpSpPr>
          <p:sp>
            <p:nvSpPr>
              <p:cNvPr id="134" name="Freeform 134"/>
              <p:cNvSpPr/>
              <p:nvPr/>
            </p:nvSpPr>
            <p:spPr>
              <a:xfrm>
                <a:off x="5414963" y="4073525"/>
                <a:ext cx="161925" cy="107950"/>
              </a:xfrm>
              <a:custGeom>
                <a:avLst/>
                <a:gdLst/>
                <a:ahLst/>
                <a:cxnLst/>
                <a:rect l="l" t="t" r="r" b="b"/>
                <a:pathLst>
                  <a:path w="161925" h="107950">
                    <a:moveTo>
                      <a:pt x="0" y="26988"/>
                    </a:moveTo>
                    <a:cubicBezTo>
                      <a:pt x="0" y="12083"/>
                      <a:pt x="12083" y="0"/>
                      <a:pt x="26988" y="0"/>
                    </a:cubicBezTo>
                    <a:lnTo>
                      <a:pt x="134938" y="0"/>
                    </a:lnTo>
                    <a:cubicBezTo>
                      <a:pt x="149843" y="0"/>
                      <a:pt x="161925" y="12083"/>
                      <a:pt x="161925" y="26988"/>
                    </a:cubicBezTo>
                    <a:lnTo>
                      <a:pt x="161925" y="80963"/>
                    </a:lnTo>
                    <a:cubicBezTo>
                      <a:pt x="161925" y="95868"/>
                      <a:pt x="149843" y="107950"/>
                      <a:pt x="134938" y="107950"/>
                    </a:cubicBezTo>
                    <a:lnTo>
                      <a:pt x="26988" y="107950"/>
                    </a:lnTo>
                    <a:cubicBezTo>
                      <a:pt x="12083" y="107950"/>
                      <a:pt x="0" y="95868"/>
                      <a:pt x="0" y="80963"/>
                    </a:cubicBezTo>
                    <a:lnTo>
                      <a:pt x="0" y="26988"/>
                    </a:lnTo>
                  </a:path>
                </a:pathLst>
              </a:custGeom>
              <a:noFill/>
              <a:ln w="26988">
                <a:solidFill>
                  <a:srgbClr val="A3381F"/>
                </a:solidFill>
              </a:ln>
            </p:spPr>
          </p:sp>
          <p:sp>
            <p:nvSpPr>
              <p:cNvPr id="135" name="Freeform 135"/>
              <p:cNvSpPr/>
              <p:nvPr/>
            </p:nvSpPr>
            <p:spPr>
              <a:xfrm>
                <a:off x="5495925" y="4046538"/>
                <a:ext cx="9525" cy="26988"/>
              </a:xfrm>
              <a:custGeom>
                <a:avLst/>
                <a:gdLst/>
                <a:ahLst/>
                <a:cxnLst/>
                <a:rect l="l" t="t" r="r" b="b"/>
                <a:pathLst>
                  <a:path w="9525" h="26988">
                    <a:moveTo>
                      <a:pt x="0" y="0"/>
                    </a:moveTo>
                    <a:lnTo>
                      <a:pt x="0" y="26988"/>
                    </a:lnTo>
                  </a:path>
                </a:pathLst>
              </a:custGeom>
              <a:noFill/>
              <a:ln w="26988">
                <a:solidFill>
                  <a:srgbClr val="A3381F"/>
                </a:solidFill>
              </a:ln>
            </p:spPr>
          </p:sp>
          <p:sp>
            <p:nvSpPr>
              <p:cNvPr id="136" name="Freeform 136"/>
              <p:cNvSpPr/>
              <p:nvPr/>
            </p:nvSpPr>
            <p:spPr>
              <a:xfrm>
                <a:off x="5455444" y="4181475"/>
                <a:ext cx="9525" cy="121444"/>
              </a:xfrm>
              <a:custGeom>
                <a:avLst/>
                <a:gdLst/>
                <a:ahLst/>
                <a:cxnLst/>
                <a:rect l="l" t="t" r="r" b="b"/>
                <a:pathLst>
                  <a:path w="9525" h="121444">
                    <a:moveTo>
                      <a:pt x="0" y="0"/>
                    </a:moveTo>
                    <a:lnTo>
                      <a:pt x="0" y="121444"/>
                    </a:lnTo>
                  </a:path>
                </a:pathLst>
              </a:custGeom>
              <a:noFill/>
              <a:ln w="26988">
                <a:solidFill>
                  <a:srgbClr val="A3381F"/>
                </a:solidFill>
              </a:ln>
            </p:spPr>
          </p:sp>
          <p:sp>
            <p:nvSpPr>
              <p:cNvPr id="137" name="Freeform 137"/>
              <p:cNvSpPr/>
              <p:nvPr/>
            </p:nvSpPr>
            <p:spPr>
              <a:xfrm>
                <a:off x="5536407" y="4181475"/>
                <a:ext cx="9525" cy="121444"/>
              </a:xfrm>
              <a:custGeom>
                <a:avLst/>
                <a:gdLst/>
                <a:ahLst/>
                <a:cxnLst/>
                <a:rect l="l" t="t" r="r" b="b"/>
                <a:pathLst>
                  <a:path w="9525" h="121444">
                    <a:moveTo>
                      <a:pt x="0" y="0"/>
                    </a:moveTo>
                    <a:lnTo>
                      <a:pt x="0" y="121444"/>
                    </a:lnTo>
                  </a:path>
                </a:pathLst>
              </a:custGeom>
              <a:noFill/>
              <a:ln w="26988">
                <a:solidFill>
                  <a:srgbClr val="A3381F"/>
                </a:solidFill>
              </a:ln>
            </p:spPr>
          </p:sp>
          <p:sp>
            <p:nvSpPr>
              <p:cNvPr id="138" name="Freeform 138"/>
              <p:cNvSpPr/>
              <p:nvPr/>
            </p:nvSpPr>
            <p:spPr>
              <a:xfrm>
                <a:off x="5401469" y="4208463"/>
                <a:ext cx="53975" cy="26988"/>
              </a:xfrm>
              <a:custGeom>
                <a:avLst/>
                <a:gdLst/>
                <a:ahLst/>
                <a:cxnLst/>
                <a:rect l="l" t="t" r="r" b="b"/>
                <a:pathLst>
                  <a:path w="53975" h="26988">
                    <a:moveTo>
                      <a:pt x="0" y="26988"/>
                    </a:moveTo>
                    <a:lnTo>
                      <a:pt x="53975" y="0"/>
                    </a:lnTo>
                  </a:path>
                </a:pathLst>
              </a:custGeom>
              <a:noFill/>
              <a:ln w="26988">
                <a:solidFill>
                  <a:srgbClr val="A3381F"/>
                </a:solidFill>
              </a:ln>
            </p:spPr>
          </p:sp>
          <p:sp>
            <p:nvSpPr>
              <p:cNvPr id="139" name="Freeform 139"/>
              <p:cNvSpPr/>
              <p:nvPr/>
            </p:nvSpPr>
            <p:spPr>
              <a:xfrm>
                <a:off x="5536407" y="4208463"/>
                <a:ext cx="53975" cy="26988"/>
              </a:xfrm>
              <a:custGeom>
                <a:avLst/>
                <a:gdLst/>
                <a:ahLst/>
                <a:cxnLst/>
                <a:rect l="l" t="t" r="r" b="b"/>
                <a:pathLst>
                  <a:path w="53975" h="26988">
                    <a:moveTo>
                      <a:pt x="0" y="0"/>
                    </a:moveTo>
                    <a:lnTo>
                      <a:pt x="53975" y="26988"/>
                    </a:lnTo>
                  </a:path>
                </a:pathLst>
              </a:custGeom>
              <a:noFill/>
              <a:ln w="26988">
                <a:solidFill>
                  <a:srgbClr val="A3381F"/>
                </a:solidFill>
              </a:ln>
            </p:spPr>
          </p:sp>
          <p:sp>
            <p:nvSpPr>
              <p:cNvPr id="140" name="Freeform 140"/>
              <p:cNvSpPr/>
              <p:nvPr/>
            </p:nvSpPr>
            <p:spPr>
              <a:xfrm>
                <a:off x="5455444" y="4262438"/>
                <a:ext cx="80963" cy="9525"/>
              </a:xfrm>
              <a:custGeom>
                <a:avLst/>
                <a:gdLst/>
                <a:ahLst/>
                <a:cxnLst/>
                <a:rect l="l" t="t" r="r" b="b"/>
                <a:pathLst>
                  <a:path w="80963" h="9525">
                    <a:moveTo>
                      <a:pt x="0" y="0"/>
                    </a:moveTo>
                    <a:lnTo>
                      <a:pt x="80963" y="0"/>
                    </a:lnTo>
                  </a:path>
                </a:pathLst>
              </a:custGeom>
              <a:noFill/>
              <a:ln w="26988">
                <a:solidFill>
                  <a:srgbClr val="A3381F"/>
                </a:solidFill>
              </a:ln>
            </p:spPr>
          </p:sp>
          <p:sp>
            <p:nvSpPr>
              <p:cNvPr id="141" name="Freeform 141"/>
              <p:cNvSpPr/>
              <p:nvPr/>
            </p:nvSpPr>
            <p:spPr>
              <a:xfrm>
                <a:off x="5468938" y="4127500"/>
                <a:ext cx="9525" cy="9525"/>
              </a:xfrm>
              <a:custGeom>
                <a:avLst/>
                <a:gdLst/>
                <a:ahLst/>
                <a:cxnLst/>
                <a:rect l="l" t="t" r="r" b="b"/>
                <a:pathLst>
                  <a:path w="9525" h="9525">
                    <a:moveTo>
                      <a:pt x="0" y="0"/>
                    </a:moveTo>
                    <a:lnTo>
                      <a:pt x="0" y="135"/>
                    </a:lnTo>
                  </a:path>
                </a:pathLst>
              </a:custGeom>
              <a:noFill/>
              <a:ln w="26988">
                <a:solidFill>
                  <a:srgbClr val="A3381F"/>
                </a:solidFill>
              </a:ln>
            </p:spPr>
          </p:sp>
          <p:sp>
            <p:nvSpPr>
              <p:cNvPr id="142" name="Freeform 142"/>
              <p:cNvSpPr/>
              <p:nvPr/>
            </p:nvSpPr>
            <p:spPr>
              <a:xfrm>
                <a:off x="5522913" y="4127500"/>
                <a:ext cx="9525" cy="9525"/>
              </a:xfrm>
              <a:custGeom>
                <a:avLst/>
                <a:gdLst/>
                <a:ahLst/>
                <a:cxnLst/>
                <a:rect l="l" t="t" r="r" b="b"/>
                <a:pathLst>
                  <a:path w="9525" h="9525">
                    <a:moveTo>
                      <a:pt x="0" y="0"/>
                    </a:moveTo>
                    <a:lnTo>
                      <a:pt x="0" y="135"/>
                    </a:lnTo>
                  </a:path>
                </a:pathLst>
              </a:custGeom>
              <a:noFill/>
              <a:ln w="26988">
                <a:solidFill>
                  <a:srgbClr val="A3381F"/>
                </a:solidFill>
              </a:ln>
            </p:spPr>
          </p:sp>
        </p:grpSp>
        <p:sp>
          <p:nvSpPr>
            <p:cNvPr id="144" name="TextBox 144"/>
            <p:cNvSpPr txBox="1"/>
            <p:nvPr/>
          </p:nvSpPr>
          <p:spPr>
            <a:xfrm>
              <a:off x="5384813" y="4601289"/>
              <a:ext cx="222225"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科技</a:t>
              </a:r>
            </a:p>
          </p:txBody>
        </p:sp>
        <p:sp>
          <p:nvSpPr>
            <p:cNvPr id="145" name="Rectangle 145"/>
            <p:cNvSpPr/>
            <p:nvPr/>
          </p:nvSpPr>
          <p:spPr>
            <a:xfrm>
              <a:off x="6115050" y="3867150"/>
              <a:ext cx="1028700" cy="1066800"/>
            </a:xfrm>
            <a:prstGeom prst="roundRect">
              <a:avLst>
                <a:gd name="adj" fmla="val 7407"/>
              </a:avLst>
            </a:prstGeom>
            <a:solidFill>
              <a:srgbClr val="FFFFFF"/>
            </a:solidFill>
            <a:ln w="9525">
              <a:solidFill>
                <a:srgbClr val="E6D9C0"/>
              </a:solidFill>
            </a:ln>
          </p:spPr>
        </p:sp>
        <p:grpSp>
          <p:nvGrpSpPr>
            <p:cNvPr id="148" name="Group 148"/>
            <p:cNvGrpSpPr/>
            <p:nvPr/>
          </p:nvGrpSpPr>
          <p:grpSpPr>
            <a:xfrm>
              <a:off x="6489746" y="4060031"/>
              <a:ext cx="263510" cy="242888"/>
              <a:chOff x="6489746" y="4060031"/>
              <a:chExt cx="263510" cy="242888"/>
            </a:xfrm>
          </p:grpSpPr>
          <p:sp>
            <p:nvSpPr>
              <p:cNvPr id="146" name="Freeform 146"/>
              <p:cNvSpPr/>
              <p:nvPr/>
            </p:nvSpPr>
            <p:spPr>
              <a:xfrm>
                <a:off x="6489746" y="4060031"/>
                <a:ext cx="263510" cy="240810"/>
              </a:xfrm>
              <a:custGeom>
                <a:avLst/>
                <a:gdLst/>
                <a:ahLst/>
                <a:cxnLst/>
                <a:rect l="l" t="t" r="r" b="b"/>
                <a:pathLst>
                  <a:path w="263510" h="240810">
                    <a:moveTo>
                      <a:pt x="132368" y="240810"/>
                    </a:moveTo>
                    <a:cubicBezTo>
                      <a:pt x="47836" y="214607"/>
                      <a:pt x="0" y="125390"/>
                      <a:pt x="24957" y="40481"/>
                    </a:cubicBezTo>
                    <a:cubicBezTo>
                      <a:pt x="66998" y="42405"/>
                      <a:pt x="108135" y="27886"/>
                      <a:pt x="139655" y="0"/>
                    </a:cubicBezTo>
                    <a:cubicBezTo>
                      <a:pt x="171174" y="27886"/>
                      <a:pt x="212311" y="42405"/>
                      <a:pt x="254352" y="40481"/>
                    </a:cubicBezTo>
                    <a:cubicBezTo>
                      <a:pt x="263510" y="71640"/>
                      <a:pt x="263086" y="104832"/>
                      <a:pt x="253137" y="135747"/>
                    </a:cubicBezTo>
                  </a:path>
                </a:pathLst>
              </a:custGeom>
              <a:noFill/>
              <a:ln w="26988">
                <a:solidFill>
                  <a:srgbClr val="A3381F"/>
                </a:solidFill>
              </a:ln>
            </p:spPr>
          </p:sp>
          <p:sp>
            <p:nvSpPr>
              <p:cNvPr id="147" name="Freeform 147"/>
              <p:cNvSpPr/>
              <p:nvPr/>
            </p:nvSpPr>
            <p:spPr>
              <a:xfrm>
                <a:off x="6669882" y="4248944"/>
                <a:ext cx="80963" cy="53975"/>
              </a:xfrm>
              <a:custGeom>
                <a:avLst/>
                <a:gdLst/>
                <a:ahLst/>
                <a:cxnLst/>
                <a:rect l="l" t="t" r="r" b="b"/>
                <a:pathLst>
                  <a:path w="80963" h="53975">
                    <a:moveTo>
                      <a:pt x="0" y="26988"/>
                    </a:moveTo>
                    <a:lnTo>
                      <a:pt x="26988" y="53975"/>
                    </a:lnTo>
                    <a:lnTo>
                      <a:pt x="80963" y="0"/>
                    </a:lnTo>
                  </a:path>
                </a:pathLst>
              </a:custGeom>
              <a:noFill/>
              <a:ln w="26988">
                <a:solidFill>
                  <a:srgbClr val="A3381F"/>
                </a:solidFill>
              </a:ln>
            </p:spPr>
          </p:sp>
        </p:grpSp>
        <p:sp>
          <p:nvSpPr>
            <p:cNvPr id="149" name="TextBox 149"/>
            <p:cNvSpPr txBox="1"/>
            <p:nvPr/>
          </p:nvSpPr>
          <p:spPr>
            <a:xfrm>
              <a:off x="6411938" y="4601289"/>
              <a:ext cx="434924"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消保合规</a:t>
              </a:r>
            </a:p>
          </p:txBody>
        </p:sp>
        <p:sp>
          <p:nvSpPr>
            <p:cNvPr id="150" name="Rectangle 150"/>
            <p:cNvSpPr/>
            <p:nvPr/>
          </p:nvSpPr>
          <p:spPr>
            <a:xfrm>
              <a:off x="7248525" y="3867150"/>
              <a:ext cx="1028700" cy="1066800"/>
            </a:xfrm>
            <a:prstGeom prst="roundRect">
              <a:avLst>
                <a:gd name="adj" fmla="val 7407"/>
              </a:avLst>
            </a:prstGeom>
            <a:solidFill>
              <a:srgbClr val="FFFFFF"/>
            </a:solidFill>
            <a:ln w="9525">
              <a:solidFill>
                <a:srgbClr val="E6D9C0"/>
              </a:solidFill>
            </a:ln>
          </p:spPr>
        </p:sp>
        <p:grpSp>
          <p:nvGrpSpPr>
            <p:cNvPr id="156" name="Group 156"/>
            <p:cNvGrpSpPr/>
            <p:nvPr/>
          </p:nvGrpSpPr>
          <p:grpSpPr>
            <a:xfrm>
              <a:off x="7641431" y="4060031"/>
              <a:ext cx="242889" cy="242889"/>
              <a:chOff x="7641431" y="4060031"/>
              <a:chExt cx="242889" cy="242889"/>
            </a:xfrm>
          </p:grpSpPr>
          <p:sp>
            <p:nvSpPr>
              <p:cNvPr id="151" name="Freeform 151"/>
              <p:cNvSpPr/>
              <p:nvPr/>
            </p:nvSpPr>
            <p:spPr>
              <a:xfrm>
                <a:off x="7641431" y="4221957"/>
                <a:ext cx="80963" cy="80963"/>
              </a:xfrm>
              <a:custGeom>
                <a:avLst/>
                <a:gdLst/>
                <a:ahLst/>
                <a:cxnLst/>
                <a:rect l="l" t="t" r="r" b="b"/>
                <a:pathLst>
                  <a:path w="80963" h="80963">
                    <a:moveTo>
                      <a:pt x="0" y="26988"/>
                    </a:moveTo>
                    <a:cubicBezTo>
                      <a:pt x="0" y="12083"/>
                      <a:pt x="12083" y="0"/>
                      <a:pt x="26988" y="0"/>
                    </a:cubicBezTo>
                    <a:lnTo>
                      <a:pt x="53975" y="0"/>
                    </a:lnTo>
                    <a:cubicBezTo>
                      <a:pt x="68880" y="0"/>
                      <a:pt x="80963" y="12083"/>
                      <a:pt x="80963" y="26988"/>
                    </a:cubicBezTo>
                    <a:lnTo>
                      <a:pt x="80963" y="53975"/>
                    </a:lnTo>
                    <a:cubicBezTo>
                      <a:pt x="80963" y="68880"/>
                      <a:pt x="68880" y="80963"/>
                      <a:pt x="53975" y="80963"/>
                    </a:cubicBezTo>
                    <a:lnTo>
                      <a:pt x="26988" y="80963"/>
                    </a:lnTo>
                    <a:cubicBezTo>
                      <a:pt x="12083" y="80963"/>
                      <a:pt x="0" y="68880"/>
                      <a:pt x="0" y="53975"/>
                    </a:cubicBezTo>
                    <a:lnTo>
                      <a:pt x="0" y="26988"/>
                    </a:lnTo>
                  </a:path>
                </a:pathLst>
              </a:custGeom>
              <a:noFill/>
              <a:ln w="26988">
                <a:solidFill>
                  <a:srgbClr val="A3381F"/>
                </a:solidFill>
              </a:ln>
            </p:spPr>
          </p:sp>
          <p:sp>
            <p:nvSpPr>
              <p:cNvPr id="152" name="Freeform 152"/>
              <p:cNvSpPr/>
              <p:nvPr/>
            </p:nvSpPr>
            <p:spPr>
              <a:xfrm>
                <a:off x="7803357" y="4221957"/>
                <a:ext cx="80963" cy="80963"/>
              </a:xfrm>
              <a:custGeom>
                <a:avLst/>
                <a:gdLst/>
                <a:ahLst/>
                <a:cxnLst/>
                <a:rect l="l" t="t" r="r" b="b"/>
                <a:pathLst>
                  <a:path w="80963" h="80963">
                    <a:moveTo>
                      <a:pt x="0" y="26988"/>
                    </a:moveTo>
                    <a:cubicBezTo>
                      <a:pt x="0" y="12083"/>
                      <a:pt x="12083" y="0"/>
                      <a:pt x="26988" y="0"/>
                    </a:cubicBezTo>
                    <a:lnTo>
                      <a:pt x="53975" y="0"/>
                    </a:lnTo>
                    <a:cubicBezTo>
                      <a:pt x="68880" y="0"/>
                      <a:pt x="80963" y="12083"/>
                      <a:pt x="80963" y="26988"/>
                    </a:cubicBezTo>
                    <a:lnTo>
                      <a:pt x="80963" y="53975"/>
                    </a:lnTo>
                    <a:cubicBezTo>
                      <a:pt x="80963" y="68880"/>
                      <a:pt x="68880" y="80963"/>
                      <a:pt x="53975" y="80963"/>
                    </a:cubicBezTo>
                    <a:lnTo>
                      <a:pt x="26988" y="80963"/>
                    </a:lnTo>
                    <a:cubicBezTo>
                      <a:pt x="12083" y="80963"/>
                      <a:pt x="0" y="68880"/>
                      <a:pt x="0" y="53975"/>
                    </a:cubicBezTo>
                    <a:lnTo>
                      <a:pt x="0" y="26988"/>
                    </a:lnTo>
                  </a:path>
                </a:pathLst>
              </a:custGeom>
              <a:noFill/>
              <a:ln w="26988">
                <a:solidFill>
                  <a:srgbClr val="A3381F"/>
                </a:solidFill>
              </a:ln>
            </p:spPr>
          </p:sp>
          <p:sp>
            <p:nvSpPr>
              <p:cNvPr id="153" name="Freeform 153"/>
              <p:cNvSpPr/>
              <p:nvPr/>
            </p:nvSpPr>
            <p:spPr>
              <a:xfrm>
                <a:off x="7722394" y="4060031"/>
                <a:ext cx="80963" cy="80963"/>
              </a:xfrm>
              <a:custGeom>
                <a:avLst/>
                <a:gdLst/>
                <a:ahLst/>
                <a:cxnLst/>
                <a:rect l="l" t="t" r="r" b="b"/>
                <a:pathLst>
                  <a:path w="80963" h="80963">
                    <a:moveTo>
                      <a:pt x="0" y="26988"/>
                    </a:moveTo>
                    <a:cubicBezTo>
                      <a:pt x="0" y="12083"/>
                      <a:pt x="12083" y="0"/>
                      <a:pt x="26988" y="0"/>
                    </a:cubicBezTo>
                    <a:lnTo>
                      <a:pt x="53975" y="0"/>
                    </a:lnTo>
                    <a:cubicBezTo>
                      <a:pt x="68880" y="0"/>
                      <a:pt x="80963" y="12083"/>
                      <a:pt x="80963" y="26988"/>
                    </a:cubicBezTo>
                    <a:lnTo>
                      <a:pt x="80963" y="53975"/>
                    </a:lnTo>
                    <a:cubicBezTo>
                      <a:pt x="80963" y="68880"/>
                      <a:pt x="68880" y="80963"/>
                      <a:pt x="53975" y="80963"/>
                    </a:cubicBezTo>
                    <a:lnTo>
                      <a:pt x="26988" y="80963"/>
                    </a:lnTo>
                    <a:cubicBezTo>
                      <a:pt x="12083" y="80963"/>
                      <a:pt x="0" y="68880"/>
                      <a:pt x="0" y="53975"/>
                    </a:cubicBezTo>
                    <a:lnTo>
                      <a:pt x="0" y="26988"/>
                    </a:lnTo>
                  </a:path>
                </a:pathLst>
              </a:custGeom>
              <a:noFill/>
              <a:ln w="26988">
                <a:solidFill>
                  <a:srgbClr val="A3381F"/>
                </a:solidFill>
              </a:ln>
            </p:spPr>
          </p:sp>
          <p:sp>
            <p:nvSpPr>
              <p:cNvPr id="154" name="Freeform 154"/>
              <p:cNvSpPr/>
              <p:nvPr/>
            </p:nvSpPr>
            <p:spPr>
              <a:xfrm>
                <a:off x="7681913" y="4181475"/>
                <a:ext cx="161925" cy="40481"/>
              </a:xfrm>
              <a:custGeom>
                <a:avLst/>
                <a:gdLst/>
                <a:ahLst/>
                <a:cxnLst/>
                <a:rect l="l" t="t" r="r" b="b"/>
                <a:pathLst>
                  <a:path w="161925" h="40481">
                    <a:moveTo>
                      <a:pt x="0" y="40481"/>
                    </a:moveTo>
                    <a:lnTo>
                      <a:pt x="0" y="26988"/>
                    </a:lnTo>
                    <a:cubicBezTo>
                      <a:pt x="0" y="12083"/>
                      <a:pt x="12083" y="0"/>
                      <a:pt x="26988" y="0"/>
                    </a:cubicBezTo>
                    <a:lnTo>
                      <a:pt x="134938" y="0"/>
                    </a:lnTo>
                    <a:cubicBezTo>
                      <a:pt x="149843" y="0"/>
                      <a:pt x="161925" y="12083"/>
                      <a:pt x="161925" y="26988"/>
                    </a:cubicBezTo>
                    <a:lnTo>
                      <a:pt x="161925" y="40481"/>
                    </a:lnTo>
                  </a:path>
                </a:pathLst>
              </a:custGeom>
              <a:noFill/>
              <a:ln w="26988">
                <a:solidFill>
                  <a:srgbClr val="A3381F"/>
                </a:solidFill>
              </a:ln>
            </p:spPr>
          </p:sp>
          <p:sp>
            <p:nvSpPr>
              <p:cNvPr id="155" name="Freeform 155"/>
              <p:cNvSpPr/>
              <p:nvPr/>
            </p:nvSpPr>
            <p:spPr>
              <a:xfrm>
                <a:off x="7762875" y="4140994"/>
                <a:ext cx="9525" cy="40481"/>
              </a:xfrm>
              <a:custGeom>
                <a:avLst/>
                <a:gdLst/>
                <a:ahLst/>
                <a:cxnLst/>
                <a:rect l="l" t="t" r="r" b="b"/>
                <a:pathLst>
                  <a:path w="9525" h="40481">
                    <a:moveTo>
                      <a:pt x="0" y="0"/>
                    </a:moveTo>
                    <a:lnTo>
                      <a:pt x="0" y="40481"/>
                    </a:lnTo>
                  </a:path>
                </a:pathLst>
              </a:custGeom>
              <a:noFill/>
              <a:ln w="26988">
                <a:solidFill>
                  <a:srgbClr val="A3381F"/>
                </a:solidFill>
              </a:ln>
            </p:spPr>
          </p:sp>
        </p:grpSp>
        <p:sp>
          <p:nvSpPr>
            <p:cNvPr id="157" name="TextBox 157"/>
            <p:cNvSpPr txBox="1"/>
            <p:nvPr/>
          </p:nvSpPr>
          <p:spPr>
            <a:xfrm>
              <a:off x="7598588" y="4601289"/>
              <a:ext cx="328574" cy="154781"/>
            </a:xfrm>
            <a:prstGeom prst="rect">
              <a:avLst/>
            </a:prstGeom>
            <a:noFill/>
            <a:ln>
              <a:noFill/>
            </a:ln>
          </p:spPr>
          <p:txBody>
            <a:bodyPr wrap="none" lIns="0" tIns="0" rIns="0" bIns="0" anchor="t" anchorCtr="0">
              <a:spAutoFit/>
            </a:bodyPr>
            <a:lstStyle/>
            <a:p>
              <a:pPr algn="ctr"/>
              <a:r>
                <a:rPr lang="zh-CN" sz="790" b="1" dirty="0">
                  <a:solidFill>
                    <a:srgbClr val="5E3A33"/>
                  </a:solidFill>
                  <a:latin typeface="+mn-lt"/>
                  <a:ea typeface="+mn-ea"/>
                  <a:cs typeface="+mn-cs"/>
                </a:rPr>
                <a:t>分支行</a:t>
              </a:r>
            </a:p>
          </p:txBody>
        </p:sp>
      </p:grpSp>
      <p:grpSp>
        <p:nvGrpSpPr>
          <p:cNvPr id="215" name="assessment-list"/>
          <p:cNvGrpSpPr/>
          <p:nvPr/>
        </p:nvGrpSpPr>
        <p:grpSpPr>
          <a:xfrm>
            <a:off x="8477250" y="800100"/>
            <a:ext cx="3333750" cy="4305300"/>
            <a:chOff x="8477250" y="800100"/>
            <a:chExt cx="3333750" cy="4305300"/>
          </a:xfrm>
        </p:grpSpPr>
        <p:sp>
          <p:nvSpPr>
            <p:cNvPr id="159" name="Rectangle 159"/>
            <p:cNvSpPr/>
            <p:nvPr/>
          </p:nvSpPr>
          <p:spPr>
            <a:xfrm>
              <a:off x="8477250" y="800100"/>
              <a:ext cx="3333750" cy="304800"/>
            </a:xfrm>
            <a:prstGeom prst="roundRect">
              <a:avLst>
                <a:gd name="adj" fmla="val 18750"/>
              </a:avLst>
            </a:prstGeom>
            <a:solidFill>
              <a:srgbClr val="A3381F"/>
            </a:solidFill>
            <a:ln>
              <a:noFill/>
            </a:ln>
          </p:spPr>
        </p:sp>
        <p:sp>
          <p:nvSpPr>
            <p:cNvPr id="160" name="TextBox 160"/>
            <p:cNvSpPr txBox="1"/>
            <p:nvPr/>
          </p:nvSpPr>
          <p:spPr>
            <a:xfrm>
              <a:off x="9856089" y="8963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八类考核</a:t>
              </a:r>
            </a:p>
          </p:txBody>
        </p:sp>
        <p:sp>
          <p:nvSpPr>
            <p:cNvPr id="161" name="Rectangle 161"/>
            <p:cNvSpPr/>
            <p:nvPr/>
          </p:nvSpPr>
          <p:spPr>
            <a:xfrm>
              <a:off x="8477250" y="1181100"/>
              <a:ext cx="3333750" cy="457200"/>
            </a:xfrm>
            <a:prstGeom prst="roundRect">
              <a:avLst>
                <a:gd name="adj" fmla="val 14583"/>
              </a:avLst>
            </a:prstGeom>
            <a:solidFill>
              <a:srgbClr val="FFFFFF"/>
            </a:solidFill>
            <a:ln w="9525">
              <a:solidFill>
                <a:srgbClr val="E6D9C0"/>
              </a:solidFill>
            </a:ln>
          </p:spPr>
        </p:sp>
        <p:grpSp>
          <p:nvGrpSpPr>
            <p:cNvPr id="166" name="Group 166"/>
            <p:cNvGrpSpPr/>
            <p:nvPr/>
          </p:nvGrpSpPr>
          <p:grpSpPr>
            <a:xfrm>
              <a:off x="8653462" y="1338262"/>
              <a:ext cx="142875" cy="142875"/>
              <a:chOff x="8653462" y="1338262"/>
              <a:chExt cx="142875" cy="142875"/>
            </a:xfrm>
          </p:grpSpPr>
          <p:sp>
            <p:nvSpPr>
              <p:cNvPr id="162" name="Freeform 162"/>
              <p:cNvSpPr/>
              <p:nvPr/>
            </p:nvSpPr>
            <p:spPr>
              <a:xfrm>
                <a:off x="8669337" y="13382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A3381F"/>
                </a:solidFill>
              </a:ln>
            </p:spPr>
          </p:sp>
          <p:sp>
            <p:nvSpPr>
              <p:cNvPr id="163" name="Freeform 163"/>
              <p:cNvSpPr/>
              <p:nvPr/>
            </p:nvSpPr>
            <p:spPr>
              <a:xfrm>
                <a:off x="8653462" y="14335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A3381F"/>
                </a:solidFill>
              </a:ln>
            </p:spPr>
          </p:sp>
          <p:sp>
            <p:nvSpPr>
              <p:cNvPr id="164" name="Freeform 164"/>
              <p:cNvSpPr/>
              <p:nvPr/>
            </p:nvSpPr>
            <p:spPr>
              <a:xfrm>
                <a:off x="8756650" y="13392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A3381F"/>
                </a:solidFill>
              </a:ln>
            </p:spPr>
          </p:sp>
          <p:sp>
            <p:nvSpPr>
              <p:cNvPr id="165" name="Freeform 165"/>
              <p:cNvSpPr/>
              <p:nvPr/>
            </p:nvSpPr>
            <p:spPr>
              <a:xfrm>
                <a:off x="8772525" y="14347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A3381F"/>
                </a:solidFill>
              </a:ln>
            </p:spPr>
          </p:sp>
        </p:grpSp>
        <p:sp>
          <p:nvSpPr>
            <p:cNvPr id="167" name="TextBox 167"/>
            <p:cNvSpPr txBox="1"/>
            <p:nvPr/>
          </p:nvSpPr>
          <p:spPr>
            <a:xfrm>
              <a:off x="8967788" y="136969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01</a:t>
              </a:r>
            </a:p>
          </p:txBody>
        </p:sp>
        <p:sp>
          <p:nvSpPr>
            <p:cNvPr id="168" name="TextBox 168"/>
            <p:cNvSpPr txBox="1"/>
            <p:nvPr/>
          </p:nvSpPr>
          <p:spPr>
            <a:xfrm>
              <a:off x="9253347" y="13615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客户规模</a:t>
              </a:r>
            </a:p>
          </p:txBody>
        </p:sp>
        <p:sp>
          <p:nvSpPr>
            <p:cNvPr id="169" name="Rectangle 169"/>
            <p:cNvSpPr/>
            <p:nvPr/>
          </p:nvSpPr>
          <p:spPr>
            <a:xfrm>
              <a:off x="8477250" y="1676400"/>
              <a:ext cx="3333750" cy="457200"/>
            </a:xfrm>
            <a:prstGeom prst="roundRect">
              <a:avLst>
                <a:gd name="adj" fmla="val 14583"/>
              </a:avLst>
            </a:prstGeom>
            <a:solidFill>
              <a:srgbClr val="FFFFFF"/>
            </a:solidFill>
            <a:ln w="9525">
              <a:solidFill>
                <a:srgbClr val="E6D9C0"/>
              </a:solidFill>
            </a:ln>
          </p:spPr>
        </p:sp>
        <p:grpSp>
          <p:nvGrpSpPr>
            <p:cNvPr id="175" name="Group 175"/>
            <p:cNvGrpSpPr/>
            <p:nvPr/>
          </p:nvGrpSpPr>
          <p:grpSpPr>
            <a:xfrm>
              <a:off x="8653462" y="1832499"/>
              <a:ext cx="142875" cy="143938"/>
              <a:chOff x="8653462" y="1832499"/>
              <a:chExt cx="142875" cy="143938"/>
            </a:xfrm>
          </p:grpSpPr>
          <p:sp>
            <p:nvSpPr>
              <p:cNvPr id="170" name="Freeform 170"/>
              <p:cNvSpPr/>
              <p:nvPr/>
            </p:nvSpPr>
            <p:spPr>
              <a:xfrm>
                <a:off x="8701087" y="18970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A3381F"/>
                </a:solidFill>
              </a:ln>
            </p:spPr>
          </p:sp>
          <p:sp>
            <p:nvSpPr>
              <p:cNvPr id="171" name="Freeform 171"/>
              <p:cNvSpPr/>
              <p:nvPr/>
            </p:nvSpPr>
            <p:spPr>
              <a:xfrm>
                <a:off x="8701087" y="19208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A3381F"/>
                </a:solidFill>
              </a:ln>
            </p:spPr>
          </p:sp>
          <p:sp>
            <p:nvSpPr>
              <p:cNvPr id="172" name="Freeform 172"/>
              <p:cNvSpPr/>
              <p:nvPr/>
            </p:nvSpPr>
            <p:spPr>
              <a:xfrm>
                <a:off x="8653462" y="18324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A3381F"/>
                </a:solidFill>
              </a:ln>
            </p:spPr>
          </p:sp>
          <p:sp>
            <p:nvSpPr>
              <p:cNvPr id="173" name="Freeform 173"/>
              <p:cNvSpPr/>
              <p:nvPr/>
            </p:nvSpPr>
            <p:spPr>
              <a:xfrm>
                <a:off x="8653462" y="18573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A3381F"/>
                </a:solidFill>
              </a:ln>
            </p:spPr>
          </p:sp>
          <p:sp>
            <p:nvSpPr>
              <p:cNvPr id="174" name="Freeform 174"/>
              <p:cNvSpPr/>
              <p:nvPr/>
            </p:nvSpPr>
            <p:spPr>
              <a:xfrm>
                <a:off x="8653462" y="18970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A3381F"/>
                </a:solidFill>
              </a:ln>
            </p:spPr>
          </p:sp>
        </p:grpSp>
        <p:sp>
          <p:nvSpPr>
            <p:cNvPr id="176" name="TextBox 176"/>
            <p:cNvSpPr txBox="1"/>
            <p:nvPr/>
          </p:nvSpPr>
          <p:spPr>
            <a:xfrm>
              <a:off x="8967788" y="186499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02</a:t>
              </a:r>
            </a:p>
          </p:txBody>
        </p:sp>
        <p:sp>
          <p:nvSpPr>
            <p:cNvPr id="177" name="TextBox 177"/>
            <p:cNvSpPr txBox="1"/>
            <p:nvPr/>
          </p:nvSpPr>
          <p:spPr>
            <a:xfrm>
              <a:off x="9253347" y="18568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客户价值</a:t>
              </a:r>
            </a:p>
          </p:txBody>
        </p:sp>
        <p:sp>
          <p:nvSpPr>
            <p:cNvPr id="178" name="Rectangle 178"/>
            <p:cNvSpPr/>
            <p:nvPr/>
          </p:nvSpPr>
          <p:spPr>
            <a:xfrm>
              <a:off x="8477250" y="2171700"/>
              <a:ext cx="3333750" cy="457200"/>
            </a:xfrm>
            <a:prstGeom prst="roundRect">
              <a:avLst>
                <a:gd name="adj" fmla="val 14583"/>
              </a:avLst>
            </a:prstGeom>
            <a:solidFill>
              <a:srgbClr val="FFFFFF"/>
            </a:solidFill>
            <a:ln w="9525">
              <a:solidFill>
                <a:srgbClr val="E6D9C0"/>
              </a:solidFill>
            </a:ln>
          </p:spPr>
        </p:sp>
        <p:grpSp>
          <p:nvGrpSpPr>
            <p:cNvPr id="181" name="Group 181"/>
            <p:cNvGrpSpPr/>
            <p:nvPr/>
          </p:nvGrpSpPr>
          <p:grpSpPr>
            <a:xfrm>
              <a:off x="8653462" y="2360612"/>
              <a:ext cx="142875" cy="79375"/>
              <a:chOff x="8653462" y="2360612"/>
              <a:chExt cx="142875" cy="79375"/>
            </a:xfrm>
          </p:grpSpPr>
          <p:sp>
            <p:nvSpPr>
              <p:cNvPr id="179" name="Freeform 179"/>
              <p:cNvSpPr/>
              <p:nvPr/>
            </p:nvSpPr>
            <p:spPr>
              <a:xfrm>
                <a:off x="8653462" y="236061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A3381F"/>
                </a:solidFill>
              </a:ln>
            </p:spPr>
          </p:sp>
          <p:sp>
            <p:nvSpPr>
              <p:cNvPr id="180" name="Freeform 180"/>
              <p:cNvSpPr/>
              <p:nvPr/>
            </p:nvSpPr>
            <p:spPr>
              <a:xfrm>
                <a:off x="8740775" y="2360612"/>
                <a:ext cx="55562" cy="55562"/>
              </a:xfrm>
              <a:custGeom>
                <a:avLst/>
                <a:gdLst/>
                <a:ahLst/>
                <a:cxnLst/>
                <a:rect l="l" t="t" r="r" b="b"/>
                <a:pathLst>
                  <a:path w="55562" h="55562">
                    <a:moveTo>
                      <a:pt x="0" y="0"/>
                    </a:moveTo>
                    <a:lnTo>
                      <a:pt x="55562" y="0"/>
                    </a:lnTo>
                    <a:lnTo>
                      <a:pt x="55562" y="55562"/>
                    </a:lnTo>
                  </a:path>
                </a:pathLst>
              </a:custGeom>
              <a:noFill/>
              <a:ln w="15875">
                <a:solidFill>
                  <a:srgbClr val="A3381F"/>
                </a:solidFill>
              </a:ln>
            </p:spPr>
          </p:sp>
        </p:grpSp>
        <p:sp>
          <p:nvSpPr>
            <p:cNvPr id="182" name="TextBox 182"/>
            <p:cNvSpPr txBox="1"/>
            <p:nvPr/>
          </p:nvSpPr>
          <p:spPr>
            <a:xfrm>
              <a:off x="8967788" y="236029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03</a:t>
              </a:r>
            </a:p>
          </p:txBody>
        </p:sp>
        <p:sp>
          <p:nvSpPr>
            <p:cNvPr id="183" name="TextBox 183"/>
            <p:cNvSpPr txBox="1"/>
            <p:nvPr/>
          </p:nvSpPr>
          <p:spPr>
            <a:xfrm>
              <a:off x="9253347" y="23521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客户成长</a:t>
              </a:r>
            </a:p>
          </p:txBody>
        </p:sp>
        <p:sp>
          <p:nvSpPr>
            <p:cNvPr id="184" name="Rectangle 184"/>
            <p:cNvSpPr/>
            <p:nvPr/>
          </p:nvSpPr>
          <p:spPr>
            <a:xfrm>
              <a:off x="8477250" y="2667000"/>
              <a:ext cx="3333750" cy="457200"/>
            </a:xfrm>
            <a:prstGeom prst="roundRect">
              <a:avLst>
                <a:gd name="adj" fmla="val 14583"/>
              </a:avLst>
            </a:prstGeom>
            <a:solidFill>
              <a:srgbClr val="FFFFFF"/>
            </a:solidFill>
            <a:ln w="9525">
              <a:solidFill>
                <a:srgbClr val="E6D9C0"/>
              </a:solidFill>
            </a:ln>
          </p:spPr>
        </p:sp>
        <p:grpSp>
          <p:nvGrpSpPr>
            <p:cNvPr id="188" name="Group 188"/>
            <p:cNvGrpSpPr/>
            <p:nvPr/>
          </p:nvGrpSpPr>
          <p:grpSpPr>
            <a:xfrm>
              <a:off x="8658893" y="2832100"/>
              <a:ext cx="129507" cy="129507"/>
              <a:chOff x="8658893" y="2832100"/>
              <a:chExt cx="129507" cy="129507"/>
            </a:xfrm>
          </p:grpSpPr>
          <p:sp>
            <p:nvSpPr>
              <p:cNvPr id="185" name="Freeform 185"/>
              <p:cNvSpPr/>
              <p:nvPr/>
            </p:nvSpPr>
            <p:spPr>
              <a:xfrm>
                <a:off x="8661400" y="2832100"/>
                <a:ext cx="127000" cy="127000"/>
              </a:xfrm>
              <a:custGeom>
                <a:avLst/>
                <a:gdLst/>
                <a:ahLst/>
                <a:cxnLst/>
                <a:rect l="l" t="t" r="r" b="b"/>
                <a:pathLst>
                  <a:path w="127000" h="127000">
                    <a:moveTo>
                      <a:pt x="0" y="71437"/>
                    </a:moveTo>
                    <a:cubicBezTo>
                      <a:pt x="29132" y="74900"/>
                      <a:pt x="52100" y="97868"/>
                      <a:pt x="55562" y="127000"/>
                    </a:cubicBezTo>
                    <a:cubicBezTo>
                      <a:pt x="69827" y="118776"/>
                      <a:pt x="78832" y="103768"/>
                      <a:pt x="79375" y="87312"/>
                    </a:cubicBezTo>
                    <a:cubicBezTo>
                      <a:pt x="106631" y="77724"/>
                      <a:pt x="125427" y="52662"/>
                      <a:pt x="127000" y="23812"/>
                    </a:cubicBezTo>
                    <a:cubicBezTo>
                      <a:pt x="127000" y="10661"/>
                      <a:pt x="116339" y="0"/>
                      <a:pt x="103187" y="0"/>
                    </a:cubicBezTo>
                    <a:cubicBezTo>
                      <a:pt x="74337" y="1573"/>
                      <a:pt x="49276" y="20369"/>
                      <a:pt x="39687" y="47625"/>
                    </a:cubicBezTo>
                    <a:cubicBezTo>
                      <a:pt x="23232" y="48168"/>
                      <a:pt x="8224" y="57173"/>
                      <a:pt x="0" y="71437"/>
                    </a:cubicBezTo>
                  </a:path>
                </a:pathLst>
              </a:custGeom>
              <a:noFill/>
              <a:ln w="15875">
                <a:solidFill>
                  <a:srgbClr val="A3381F"/>
                </a:solidFill>
              </a:ln>
            </p:spPr>
          </p:sp>
          <p:sp>
            <p:nvSpPr>
              <p:cNvPr id="186" name="Freeform 186"/>
              <p:cNvSpPr/>
              <p:nvPr/>
            </p:nvSpPr>
            <p:spPr>
              <a:xfrm>
                <a:off x="8658893" y="2911475"/>
                <a:ext cx="50132" cy="50132"/>
              </a:xfrm>
              <a:custGeom>
                <a:avLst/>
                <a:gdLst/>
                <a:ahLst/>
                <a:cxnLst/>
                <a:rect l="l" t="t" r="r" b="b"/>
                <a:pathLst>
                  <a:path w="50132" h="50132">
                    <a:moveTo>
                      <a:pt x="26320" y="0"/>
                    </a:moveTo>
                    <a:cubicBezTo>
                      <a:pt x="9420" y="9541"/>
                      <a:pt x="0" y="28381"/>
                      <a:pt x="2507" y="47625"/>
                    </a:cubicBezTo>
                    <a:cubicBezTo>
                      <a:pt x="21751" y="50132"/>
                      <a:pt x="40591" y="40712"/>
                      <a:pt x="50132" y="23812"/>
                    </a:cubicBezTo>
                  </a:path>
                </a:pathLst>
              </a:custGeom>
              <a:noFill/>
              <a:ln w="15875">
                <a:solidFill>
                  <a:srgbClr val="A3381F"/>
                </a:solidFill>
              </a:ln>
            </p:spPr>
          </p:sp>
          <p:sp>
            <p:nvSpPr>
              <p:cNvPr id="187" name="Freeform 187"/>
              <p:cNvSpPr/>
              <p:nvPr/>
            </p:nvSpPr>
            <p:spPr>
              <a:xfrm>
                <a:off x="8740775" y="2863850"/>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A3381F"/>
                </a:solidFill>
              </a:ln>
            </p:spPr>
          </p:sp>
        </p:grpSp>
        <p:sp>
          <p:nvSpPr>
            <p:cNvPr id="189" name="TextBox 189"/>
            <p:cNvSpPr txBox="1"/>
            <p:nvPr/>
          </p:nvSpPr>
          <p:spPr>
            <a:xfrm>
              <a:off x="8967788" y="285559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04</a:t>
              </a:r>
            </a:p>
          </p:txBody>
        </p:sp>
        <p:sp>
          <p:nvSpPr>
            <p:cNvPr id="190" name="TextBox 190"/>
            <p:cNvSpPr txBox="1"/>
            <p:nvPr/>
          </p:nvSpPr>
          <p:spPr>
            <a:xfrm>
              <a:off x="9253347" y="28474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客户活跃</a:t>
              </a:r>
            </a:p>
          </p:txBody>
        </p:sp>
        <p:sp>
          <p:nvSpPr>
            <p:cNvPr id="191" name="Rectangle 191"/>
            <p:cNvSpPr/>
            <p:nvPr/>
          </p:nvSpPr>
          <p:spPr>
            <a:xfrm>
              <a:off x="8477250" y="3162300"/>
              <a:ext cx="3333750" cy="457200"/>
            </a:xfrm>
            <a:prstGeom prst="roundRect">
              <a:avLst>
                <a:gd name="adj" fmla="val 14583"/>
              </a:avLst>
            </a:prstGeom>
            <a:solidFill>
              <a:srgbClr val="FFFFFF"/>
            </a:solidFill>
            <a:ln w="9525">
              <a:solidFill>
                <a:srgbClr val="E6D9C0"/>
              </a:solidFill>
            </a:ln>
          </p:spPr>
        </p:sp>
        <p:sp>
          <p:nvSpPr>
            <p:cNvPr id="192" name="Freeform 192"/>
            <p:cNvSpPr/>
            <p:nvPr/>
          </p:nvSpPr>
          <p:spPr>
            <a:xfrm>
              <a:off x="8650714" y="3325364"/>
              <a:ext cx="148228" cy="129036"/>
            </a:xfrm>
            <a:custGeom>
              <a:avLst/>
              <a:gdLst/>
              <a:ahLst/>
              <a:cxnLst/>
              <a:rect l="l" t="t" r="r" b="b"/>
              <a:pathLst>
                <a:path w="148228" h="129036">
                  <a:moveTo>
                    <a:pt x="133717" y="70077"/>
                  </a:moveTo>
                  <a:lnTo>
                    <a:pt x="74186" y="129036"/>
                  </a:lnTo>
                  <a:lnTo>
                    <a:pt x="14655" y="70077"/>
                  </a:lnTo>
                  <a:cubicBezTo>
                    <a:pt x="3949" y="59659"/>
                    <a:pt x="0" y="44113"/>
                    <a:pt x="4435" y="29850"/>
                  </a:cubicBezTo>
                  <a:cubicBezTo>
                    <a:pt x="8870" y="15586"/>
                    <a:pt x="20939" y="5020"/>
                    <a:pt x="35663" y="2510"/>
                  </a:cubicBezTo>
                  <a:cubicBezTo>
                    <a:pt x="50388" y="0"/>
                    <a:pt x="65276" y="5970"/>
                    <a:pt x="74186" y="17959"/>
                  </a:cubicBezTo>
                  <a:cubicBezTo>
                    <a:pt x="83134" y="6059"/>
                    <a:pt x="97989" y="168"/>
                    <a:pt x="112661" y="2702"/>
                  </a:cubicBezTo>
                  <a:cubicBezTo>
                    <a:pt x="127332" y="5235"/>
                    <a:pt x="139351" y="15767"/>
                    <a:pt x="143790" y="29979"/>
                  </a:cubicBezTo>
                  <a:cubicBezTo>
                    <a:pt x="148228" y="44191"/>
                    <a:pt x="144339" y="59691"/>
                    <a:pt x="133717" y="70124"/>
                  </a:cubicBezTo>
                </a:path>
              </a:pathLst>
            </a:custGeom>
            <a:noFill/>
            <a:ln w="15875">
              <a:solidFill>
                <a:srgbClr val="A3381F"/>
              </a:solidFill>
            </a:ln>
          </p:spPr>
        </p:sp>
        <p:sp>
          <p:nvSpPr>
            <p:cNvPr id="193" name="TextBox 193"/>
            <p:cNvSpPr txBox="1"/>
            <p:nvPr/>
          </p:nvSpPr>
          <p:spPr>
            <a:xfrm>
              <a:off x="8967788" y="335089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05</a:t>
              </a:r>
            </a:p>
          </p:txBody>
        </p:sp>
        <p:sp>
          <p:nvSpPr>
            <p:cNvPr id="194" name="TextBox 194"/>
            <p:cNvSpPr txBox="1"/>
            <p:nvPr/>
          </p:nvSpPr>
          <p:spPr>
            <a:xfrm>
              <a:off x="9253347" y="33427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客户体验</a:t>
              </a:r>
            </a:p>
          </p:txBody>
        </p:sp>
        <p:sp>
          <p:nvSpPr>
            <p:cNvPr id="195" name="Rectangle 195"/>
            <p:cNvSpPr/>
            <p:nvPr/>
          </p:nvSpPr>
          <p:spPr>
            <a:xfrm>
              <a:off x="8477250" y="3657600"/>
              <a:ext cx="3333750" cy="457200"/>
            </a:xfrm>
            <a:prstGeom prst="roundRect">
              <a:avLst>
                <a:gd name="adj" fmla="val 14583"/>
              </a:avLst>
            </a:prstGeom>
            <a:solidFill>
              <a:srgbClr val="FFFFFF"/>
            </a:solidFill>
            <a:ln w="9525">
              <a:solidFill>
                <a:srgbClr val="E6D9C0"/>
              </a:solidFill>
            </a:ln>
          </p:spPr>
        </p:sp>
        <p:grpSp>
          <p:nvGrpSpPr>
            <p:cNvPr id="198" name="Group 198"/>
            <p:cNvGrpSpPr/>
            <p:nvPr/>
          </p:nvGrpSpPr>
          <p:grpSpPr>
            <a:xfrm>
              <a:off x="8649978" y="3811278"/>
              <a:ext cx="149844" cy="149844"/>
              <a:chOff x="8649978" y="3811278"/>
              <a:chExt cx="149844" cy="149844"/>
            </a:xfrm>
          </p:grpSpPr>
          <p:sp>
            <p:nvSpPr>
              <p:cNvPr id="196" name="Freeform 196"/>
              <p:cNvSpPr/>
              <p:nvPr/>
            </p:nvSpPr>
            <p:spPr>
              <a:xfrm>
                <a:off x="8649978" y="381127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A3381F"/>
                </a:solidFill>
              </a:ln>
            </p:spPr>
          </p:sp>
          <p:sp>
            <p:nvSpPr>
              <p:cNvPr id="197" name="Freeform 197"/>
              <p:cNvSpPr/>
              <p:nvPr/>
            </p:nvSpPr>
            <p:spPr>
              <a:xfrm>
                <a:off x="8701087" y="386238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A3381F"/>
                </a:solidFill>
              </a:ln>
            </p:spPr>
          </p:sp>
        </p:grpSp>
        <p:sp>
          <p:nvSpPr>
            <p:cNvPr id="199" name="TextBox 199"/>
            <p:cNvSpPr txBox="1"/>
            <p:nvPr/>
          </p:nvSpPr>
          <p:spPr>
            <a:xfrm>
              <a:off x="8967788" y="384619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06</a:t>
              </a:r>
            </a:p>
          </p:txBody>
        </p:sp>
        <p:sp>
          <p:nvSpPr>
            <p:cNvPr id="200" name="TextBox 200"/>
            <p:cNvSpPr txBox="1"/>
            <p:nvPr/>
          </p:nvSpPr>
          <p:spPr>
            <a:xfrm>
              <a:off x="9253347" y="38380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运营效率</a:t>
              </a:r>
            </a:p>
          </p:txBody>
        </p:sp>
        <p:sp>
          <p:nvSpPr>
            <p:cNvPr id="201" name="Rectangle 201"/>
            <p:cNvSpPr/>
            <p:nvPr/>
          </p:nvSpPr>
          <p:spPr>
            <a:xfrm>
              <a:off x="8477250" y="4152900"/>
              <a:ext cx="3333750" cy="457200"/>
            </a:xfrm>
            <a:prstGeom prst="roundRect">
              <a:avLst>
                <a:gd name="adj" fmla="val 14583"/>
              </a:avLst>
            </a:prstGeom>
            <a:solidFill>
              <a:srgbClr val="FFFFFF"/>
            </a:solidFill>
            <a:ln w="9525">
              <a:solidFill>
                <a:srgbClr val="E6D9C0"/>
              </a:solidFill>
            </a:ln>
          </p:spPr>
        </p:sp>
        <p:grpSp>
          <p:nvGrpSpPr>
            <p:cNvPr id="206" name="Group 206"/>
            <p:cNvGrpSpPr/>
            <p:nvPr/>
          </p:nvGrpSpPr>
          <p:grpSpPr>
            <a:xfrm>
              <a:off x="8653462" y="4309789"/>
              <a:ext cx="142875" cy="143148"/>
              <a:chOff x="8653462" y="4309789"/>
              <a:chExt cx="142875" cy="143148"/>
            </a:xfrm>
          </p:grpSpPr>
          <p:sp>
            <p:nvSpPr>
              <p:cNvPr id="202" name="Freeform 202"/>
              <p:cNvSpPr/>
              <p:nvPr/>
            </p:nvSpPr>
            <p:spPr>
              <a:xfrm>
                <a:off x="8653462" y="4349750"/>
                <a:ext cx="142875" cy="31750"/>
              </a:xfrm>
              <a:custGeom>
                <a:avLst/>
                <a:gdLst/>
                <a:ahLst/>
                <a:cxnLst/>
                <a:rect l="l" t="t" r="r" b="b"/>
                <a:pathLst>
                  <a:path w="142875" h="31750">
                    <a:moveTo>
                      <a:pt x="0" y="7937"/>
                    </a:moveTo>
                    <a:cubicBezTo>
                      <a:pt x="0" y="3554"/>
                      <a:pt x="3554" y="0"/>
                      <a:pt x="7937" y="0"/>
                    </a:cubicBezTo>
                    <a:lnTo>
                      <a:pt x="134937" y="0"/>
                    </a:lnTo>
                    <a:cubicBezTo>
                      <a:pt x="139321" y="0"/>
                      <a:pt x="142875" y="3554"/>
                      <a:pt x="142875" y="7937"/>
                    </a:cubicBezTo>
                    <a:lnTo>
                      <a:pt x="142875" y="23812"/>
                    </a:lnTo>
                    <a:cubicBezTo>
                      <a:pt x="142875" y="28196"/>
                      <a:pt x="139321" y="31750"/>
                      <a:pt x="134937" y="31750"/>
                    </a:cubicBezTo>
                    <a:lnTo>
                      <a:pt x="7937" y="31750"/>
                    </a:lnTo>
                    <a:cubicBezTo>
                      <a:pt x="3554" y="31750"/>
                      <a:pt x="0" y="28196"/>
                      <a:pt x="0" y="23812"/>
                    </a:cubicBezTo>
                    <a:lnTo>
                      <a:pt x="0" y="7937"/>
                    </a:lnTo>
                  </a:path>
                </a:pathLst>
              </a:custGeom>
              <a:noFill/>
              <a:ln w="15875">
                <a:solidFill>
                  <a:srgbClr val="A3381F"/>
                </a:solidFill>
              </a:ln>
            </p:spPr>
          </p:sp>
          <p:sp>
            <p:nvSpPr>
              <p:cNvPr id="203" name="Freeform 203"/>
              <p:cNvSpPr/>
              <p:nvPr/>
            </p:nvSpPr>
            <p:spPr>
              <a:xfrm>
                <a:off x="8724900" y="4349750"/>
                <a:ext cx="9525" cy="103187"/>
              </a:xfrm>
              <a:custGeom>
                <a:avLst/>
                <a:gdLst/>
                <a:ahLst/>
                <a:cxnLst/>
                <a:rect l="l" t="t" r="r" b="b"/>
                <a:pathLst>
                  <a:path w="9525" h="103187">
                    <a:moveTo>
                      <a:pt x="0" y="0"/>
                    </a:moveTo>
                    <a:lnTo>
                      <a:pt x="0" y="103187"/>
                    </a:lnTo>
                  </a:path>
                </a:pathLst>
              </a:custGeom>
              <a:noFill/>
              <a:ln w="15875">
                <a:solidFill>
                  <a:srgbClr val="A3381F"/>
                </a:solidFill>
              </a:ln>
            </p:spPr>
          </p:sp>
          <p:sp>
            <p:nvSpPr>
              <p:cNvPr id="204" name="Freeform 204"/>
              <p:cNvSpPr/>
              <p:nvPr/>
            </p:nvSpPr>
            <p:spPr>
              <a:xfrm>
                <a:off x="8669337" y="4381500"/>
                <a:ext cx="111125" cy="71437"/>
              </a:xfrm>
              <a:custGeom>
                <a:avLst/>
                <a:gdLst/>
                <a:ahLst/>
                <a:cxnLst/>
                <a:rect l="l" t="t" r="r" b="b"/>
                <a:pathLst>
                  <a:path w="111125" h="71437">
                    <a:moveTo>
                      <a:pt x="111125" y="0"/>
                    </a:moveTo>
                    <a:lnTo>
                      <a:pt x="111125" y="55562"/>
                    </a:lnTo>
                    <a:cubicBezTo>
                      <a:pt x="111125" y="64330"/>
                      <a:pt x="104017" y="71437"/>
                      <a:pt x="95250" y="71437"/>
                    </a:cubicBezTo>
                    <a:lnTo>
                      <a:pt x="15875" y="71437"/>
                    </a:lnTo>
                    <a:cubicBezTo>
                      <a:pt x="7107" y="71437"/>
                      <a:pt x="0" y="64330"/>
                      <a:pt x="0" y="55562"/>
                    </a:cubicBezTo>
                    <a:lnTo>
                      <a:pt x="0" y="0"/>
                    </a:lnTo>
                  </a:path>
                </a:pathLst>
              </a:custGeom>
              <a:noFill/>
              <a:ln w="15875">
                <a:solidFill>
                  <a:srgbClr val="A3381F"/>
                </a:solidFill>
              </a:ln>
            </p:spPr>
          </p:sp>
          <p:sp>
            <p:nvSpPr>
              <p:cNvPr id="205" name="Freeform 205"/>
              <p:cNvSpPr/>
              <p:nvPr/>
            </p:nvSpPr>
            <p:spPr>
              <a:xfrm>
                <a:off x="8669337" y="4309789"/>
                <a:ext cx="111125" cy="39961"/>
              </a:xfrm>
              <a:custGeom>
                <a:avLst/>
                <a:gdLst/>
                <a:ahLst/>
                <a:cxnLst/>
                <a:rect l="l" t="t" r="r" b="b"/>
                <a:pathLst>
                  <a:path w="111125" h="39961">
                    <a:moveTo>
                      <a:pt x="19844" y="39961"/>
                    </a:moveTo>
                    <a:cubicBezTo>
                      <a:pt x="8884" y="39961"/>
                      <a:pt x="0" y="31076"/>
                      <a:pt x="0" y="20117"/>
                    </a:cubicBezTo>
                    <a:cubicBezTo>
                      <a:pt x="0" y="9157"/>
                      <a:pt x="8884" y="273"/>
                      <a:pt x="19844" y="273"/>
                    </a:cubicBezTo>
                    <a:cubicBezTo>
                      <a:pt x="35514" y="0"/>
                      <a:pt x="49687" y="15747"/>
                      <a:pt x="55562" y="39961"/>
                    </a:cubicBezTo>
                    <a:cubicBezTo>
                      <a:pt x="61438" y="15747"/>
                      <a:pt x="75611" y="0"/>
                      <a:pt x="91281" y="273"/>
                    </a:cubicBezTo>
                    <a:cubicBezTo>
                      <a:pt x="102241" y="273"/>
                      <a:pt x="111125" y="9157"/>
                      <a:pt x="111125" y="20117"/>
                    </a:cubicBezTo>
                    <a:cubicBezTo>
                      <a:pt x="111125" y="31076"/>
                      <a:pt x="102241" y="39961"/>
                      <a:pt x="91281" y="39961"/>
                    </a:cubicBezTo>
                  </a:path>
                </a:pathLst>
              </a:custGeom>
              <a:noFill/>
              <a:ln w="15875">
                <a:solidFill>
                  <a:srgbClr val="A3381F"/>
                </a:solidFill>
              </a:ln>
            </p:spPr>
          </p:sp>
        </p:grpSp>
        <p:sp>
          <p:nvSpPr>
            <p:cNvPr id="207" name="TextBox 207"/>
            <p:cNvSpPr txBox="1"/>
            <p:nvPr/>
          </p:nvSpPr>
          <p:spPr>
            <a:xfrm>
              <a:off x="8967788" y="434149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07</a:t>
              </a:r>
            </a:p>
          </p:txBody>
        </p:sp>
        <p:sp>
          <p:nvSpPr>
            <p:cNvPr id="208" name="TextBox 208"/>
            <p:cNvSpPr txBox="1"/>
            <p:nvPr/>
          </p:nvSpPr>
          <p:spPr>
            <a:xfrm>
              <a:off x="9253347" y="43333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权益效率</a:t>
              </a:r>
            </a:p>
          </p:txBody>
        </p:sp>
        <p:sp>
          <p:nvSpPr>
            <p:cNvPr id="209" name="Rectangle 209"/>
            <p:cNvSpPr/>
            <p:nvPr/>
          </p:nvSpPr>
          <p:spPr>
            <a:xfrm>
              <a:off x="8477250" y="4648200"/>
              <a:ext cx="3333750" cy="457200"/>
            </a:xfrm>
            <a:prstGeom prst="roundRect">
              <a:avLst>
                <a:gd name="adj" fmla="val 14583"/>
              </a:avLst>
            </a:prstGeom>
            <a:solidFill>
              <a:srgbClr val="FFFFFF"/>
            </a:solidFill>
            <a:ln w="9525">
              <a:solidFill>
                <a:srgbClr val="E6D9C0"/>
              </a:solidFill>
            </a:ln>
          </p:spPr>
        </p:sp>
        <p:grpSp>
          <p:nvGrpSpPr>
            <p:cNvPr id="212" name="Group 212"/>
            <p:cNvGrpSpPr/>
            <p:nvPr/>
          </p:nvGrpSpPr>
          <p:grpSpPr>
            <a:xfrm>
              <a:off x="8642750" y="4805362"/>
              <a:ext cx="155005" cy="142875"/>
              <a:chOff x="8642750" y="4805362"/>
              <a:chExt cx="155005" cy="142875"/>
            </a:xfrm>
          </p:grpSpPr>
          <p:sp>
            <p:nvSpPr>
              <p:cNvPr id="210" name="Freeform 210"/>
              <p:cNvSpPr/>
              <p:nvPr/>
            </p:nvSpPr>
            <p:spPr>
              <a:xfrm>
                <a:off x="8642750" y="480536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A3381F"/>
                </a:solidFill>
              </a:ln>
            </p:spPr>
          </p:sp>
          <p:sp>
            <p:nvSpPr>
              <p:cNvPr id="211" name="Freeform 211"/>
              <p:cNvSpPr/>
              <p:nvPr/>
            </p:nvSpPr>
            <p:spPr>
              <a:xfrm>
                <a:off x="8748712" y="4916487"/>
                <a:ext cx="47625" cy="31750"/>
              </a:xfrm>
              <a:custGeom>
                <a:avLst/>
                <a:gdLst/>
                <a:ahLst/>
                <a:cxnLst/>
                <a:rect l="l" t="t" r="r" b="b"/>
                <a:pathLst>
                  <a:path w="47625" h="31750">
                    <a:moveTo>
                      <a:pt x="0" y="15875"/>
                    </a:moveTo>
                    <a:lnTo>
                      <a:pt x="15875" y="31750"/>
                    </a:lnTo>
                    <a:lnTo>
                      <a:pt x="47625" y="0"/>
                    </a:lnTo>
                  </a:path>
                </a:pathLst>
              </a:custGeom>
              <a:noFill/>
              <a:ln w="15875">
                <a:solidFill>
                  <a:srgbClr val="A3381F"/>
                </a:solidFill>
              </a:ln>
            </p:spPr>
          </p:sp>
        </p:grpSp>
        <p:sp>
          <p:nvSpPr>
            <p:cNvPr id="213" name="TextBox 213"/>
            <p:cNvSpPr txBox="1"/>
            <p:nvPr/>
          </p:nvSpPr>
          <p:spPr>
            <a:xfrm>
              <a:off x="8967788" y="4836795"/>
              <a:ext cx="149462" cy="176212"/>
            </a:xfrm>
            <a:prstGeom prst="rect">
              <a:avLst/>
            </a:prstGeom>
            <a:noFill/>
            <a:ln>
              <a:noFill/>
            </a:ln>
          </p:spPr>
          <p:txBody>
            <a:bodyPr wrap="none" lIns="0" tIns="0" rIns="0" bIns="0" anchor="t" anchorCtr="0">
              <a:spAutoFit/>
            </a:bodyPr>
            <a:lstStyle/>
            <a:p>
              <a:pPr algn="l"/>
              <a:r>
                <a:rPr lang="zh-CN" sz="900" b="1" dirty="0">
                  <a:solidFill>
                    <a:srgbClr val="A24B3C"/>
                  </a:solidFill>
                  <a:latin typeface="+mn-lt"/>
                  <a:ea typeface="+mn-ea"/>
                  <a:cs typeface="+mn-cs"/>
                </a:rPr>
                <a:t>08</a:t>
              </a:r>
            </a:p>
          </p:txBody>
        </p:sp>
        <p:sp>
          <p:nvSpPr>
            <p:cNvPr id="214" name="TextBox 214"/>
            <p:cNvSpPr txBox="1"/>
            <p:nvPr/>
          </p:nvSpPr>
          <p:spPr>
            <a:xfrm>
              <a:off x="9253347" y="4828699"/>
              <a:ext cx="537616"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风险合规</a:t>
              </a:r>
            </a:p>
          </p:txBody>
        </p:sp>
      </p:grpSp>
      <p:grpSp>
        <p:nvGrpSpPr>
          <p:cNvPr id="222" name="slogan-band16"/>
          <p:cNvGrpSpPr/>
          <p:nvPr/>
        </p:nvGrpSpPr>
        <p:grpSpPr>
          <a:xfrm>
            <a:off x="381000" y="5219700"/>
            <a:ext cx="11430000" cy="914400"/>
            <a:chOff x="381000" y="5219700"/>
            <a:chExt cx="11430000" cy="914400"/>
          </a:xfrm>
        </p:grpSpPr>
        <p:sp>
          <p:nvSpPr>
            <p:cNvPr id="216" name="Rectangle 216"/>
            <p:cNvSpPr/>
            <p:nvPr/>
          </p:nvSpPr>
          <p:spPr>
            <a:xfrm>
              <a:off x="381000" y="5219700"/>
              <a:ext cx="11430000" cy="914400"/>
            </a:xfrm>
            <a:prstGeom prst="roundRect">
              <a:avLst>
                <a:gd name="adj" fmla="val 14583"/>
              </a:avLst>
            </a:prstGeom>
            <a:gradFill>
              <a:gsLst>
                <a:gs pos="0">
                  <a:srgbClr val="8E2B14"/>
                </a:gs>
                <a:gs pos="50000">
                  <a:srgbClr val="A3381F"/>
                </a:gs>
                <a:gs pos="100000">
                  <a:srgbClr val="C85E46"/>
                </a:gs>
              </a:gsLst>
              <a:lin ang="0" scaled="1"/>
            </a:gradFill>
            <a:ln>
              <a:noFill/>
            </a:ln>
          </p:spPr>
        </p:sp>
        <p:sp>
          <p:nvSpPr>
            <p:cNvPr id="217" name="Freeform 217"/>
            <p:cNvSpPr/>
            <p:nvPr/>
          </p:nvSpPr>
          <p:spPr>
            <a:xfrm>
              <a:off x="1428750" y="5334000"/>
              <a:ext cx="1143000" cy="133350"/>
            </a:xfrm>
            <a:custGeom>
              <a:avLst/>
              <a:gdLst/>
              <a:ahLst/>
              <a:cxnLst/>
              <a:rect l="l" t="t" r="r" b="b"/>
              <a:pathLst>
                <a:path w="1143000" h="133350">
                  <a:moveTo>
                    <a:pt x="0" y="133350"/>
                  </a:moveTo>
                  <a:cubicBezTo>
                    <a:pt x="381000" y="0"/>
                    <a:pt x="762000" y="0"/>
                    <a:pt x="1143000" y="133350"/>
                  </a:cubicBezTo>
                </a:path>
              </a:pathLst>
            </a:custGeom>
            <a:noFill/>
            <a:ln w="19050">
              <a:solidFill>
                <a:srgbClr val="E4B4AC">
                  <a:alpha val="90000"/>
                </a:srgbClr>
              </a:solidFill>
            </a:ln>
          </p:spPr>
        </p:sp>
        <p:sp>
          <p:nvSpPr>
            <p:cNvPr id="218" name="Freeform 218"/>
            <p:cNvSpPr/>
            <p:nvPr/>
          </p:nvSpPr>
          <p:spPr>
            <a:xfrm>
              <a:off x="1428750" y="5886450"/>
              <a:ext cx="1143000" cy="133350"/>
            </a:xfrm>
            <a:custGeom>
              <a:avLst/>
              <a:gdLst/>
              <a:ahLst/>
              <a:cxnLst/>
              <a:rect l="l" t="t" r="r" b="b"/>
              <a:pathLst>
                <a:path w="1143000" h="133350">
                  <a:moveTo>
                    <a:pt x="0" y="0"/>
                  </a:moveTo>
                  <a:cubicBezTo>
                    <a:pt x="381000" y="133350"/>
                    <a:pt x="762000" y="133350"/>
                    <a:pt x="1143000" y="0"/>
                  </a:cubicBezTo>
                </a:path>
              </a:pathLst>
            </a:custGeom>
            <a:noFill/>
            <a:ln w="19050">
              <a:solidFill>
                <a:srgbClr val="E4B4AC">
                  <a:alpha val="90000"/>
                </a:srgbClr>
              </a:solidFill>
            </a:ln>
          </p:spPr>
        </p:sp>
        <p:sp>
          <p:nvSpPr>
            <p:cNvPr id="219" name="Freeform 219"/>
            <p:cNvSpPr/>
            <p:nvPr/>
          </p:nvSpPr>
          <p:spPr>
            <a:xfrm>
              <a:off x="9620250" y="5334000"/>
              <a:ext cx="1143000" cy="133350"/>
            </a:xfrm>
            <a:custGeom>
              <a:avLst/>
              <a:gdLst/>
              <a:ahLst/>
              <a:cxnLst/>
              <a:rect l="l" t="t" r="r" b="b"/>
              <a:pathLst>
                <a:path w="1143000" h="133350">
                  <a:moveTo>
                    <a:pt x="0" y="133350"/>
                  </a:moveTo>
                  <a:cubicBezTo>
                    <a:pt x="381000" y="0"/>
                    <a:pt x="762000" y="0"/>
                    <a:pt x="1143000" y="133350"/>
                  </a:cubicBezTo>
                </a:path>
              </a:pathLst>
            </a:custGeom>
            <a:noFill/>
            <a:ln w="19050">
              <a:solidFill>
                <a:srgbClr val="E4B4AC">
                  <a:alpha val="90000"/>
                </a:srgbClr>
              </a:solidFill>
            </a:ln>
          </p:spPr>
        </p:sp>
        <p:sp>
          <p:nvSpPr>
            <p:cNvPr id="220" name="Freeform 220"/>
            <p:cNvSpPr/>
            <p:nvPr/>
          </p:nvSpPr>
          <p:spPr>
            <a:xfrm>
              <a:off x="9620250" y="5886450"/>
              <a:ext cx="1143000" cy="133350"/>
            </a:xfrm>
            <a:custGeom>
              <a:avLst/>
              <a:gdLst/>
              <a:ahLst/>
              <a:cxnLst/>
              <a:rect l="l" t="t" r="r" b="b"/>
              <a:pathLst>
                <a:path w="1143000" h="133350">
                  <a:moveTo>
                    <a:pt x="0" y="0"/>
                  </a:moveTo>
                  <a:cubicBezTo>
                    <a:pt x="381000" y="133350"/>
                    <a:pt x="762000" y="133350"/>
                    <a:pt x="1143000" y="0"/>
                  </a:cubicBezTo>
                </a:path>
              </a:pathLst>
            </a:custGeom>
            <a:noFill/>
            <a:ln w="19050">
              <a:solidFill>
                <a:srgbClr val="E4B4AC">
                  <a:alpha val="90000"/>
                </a:srgbClr>
              </a:solidFill>
            </a:ln>
          </p:spPr>
        </p:sp>
        <p:sp>
          <p:nvSpPr>
            <p:cNvPr id="221" name="TextBox 221"/>
            <p:cNvSpPr txBox="1"/>
            <p:nvPr/>
          </p:nvSpPr>
          <p:spPr>
            <a:xfrm>
              <a:off x="3329750" y="5561648"/>
              <a:ext cx="5532501" cy="381381"/>
            </a:xfrm>
            <a:prstGeom prst="rect">
              <a:avLst/>
            </a:prstGeom>
            <a:noFill/>
            <a:ln>
              <a:noFill/>
            </a:ln>
          </p:spPr>
          <p:txBody>
            <a:bodyPr wrap="none" lIns="0" tIns="0" rIns="0" bIns="0" anchor="t" anchorCtr="0">
              <a:spAutoFit/>
            </a:bodyPr>
            <a:lstStyle/>
            <a:p>
              <a:pPr algn="ctr"/>
              <a:r>
                <a:rPr lang="zh-CN" sz="1950" b="1" dirty="0">
                  <a:solidFill>
                    <a:srgbClr val="F59E8F"/>
                  </a:solidFill>
                  <a:latin typeface="+mn-lt"/>
                  <a:ea typeface="+mn-ea"/>
                  <a:cs typeface="+mn-cs"/>
                </a:rPr>
                <a:t>一个</a:t>
              </a:r>
              <a:r>
                <a:rPr lang="zh-CN" sz="1950" b="1" dirty="0">
                  <a:solidFill>
                    <a:srgbClr val="FFFFFF"/>
                  </a:solidFill>
                  <a:latin typeface="+mn-lt"/>
                  <a:ea typeface="+mn-ea"/>
                  <a:cs typeface="+mn-cs"/>
                </a:rPr>
                <a:t>客户、</a:t>
              </a:r>
              <a:r>
                <a:rPr lang="zh-CN" sz="1950" b="1" dirty="0">
                  <a:solidFill>
                    <a:srgbClr val="F59E8F"/>
                  </a:solidFill>
                  <a:latin typeface="+mn-lt"/>
                  <a:ea typeface="+mn-ea"/>
                  <a:cs typeface="+mn-cs"/>
                </a:rPr>
                <a:t>一个</a:t>
              </a:r>
              <a:r>
                <a:rPr lang="zh-CN" sz="1950" b="1" dirty="0">
                  <a:solidFill>
                    <a:srgbClr val="FFFFFF"/>
                  </a:solidFill>
                  <a:latin typeface="+mn-lt"/>
                  <a:ea typeface="+mn-ea"/>
                  <a:cs typeface="+mn-cs"/>
                </a:rPr>
                <a:t>层级、</a:t>
              </a:r>
              <a:r>
                <a:rPr lang="zh-CN" sz="1950" b="1" dirty="0">
                  <a:solidFill>
                    <a:srgbClr val="F59E8F"/>
                  </a:solidFill>
                  <a:latin typeface="+mn-lt"/>
                  <a:ea typeface="+mn-ea"/>
                  <a:cs typeface="+mn-cs"/>
                </a:rPr>
                <a:t>一套</a:t>
              </a:r>
              <a:r>
                <a:rPr lang="zh-CN" sz="1950" b="1" dirty="0">
                  <a:solidFill>
                    <a:srgbClr val="FFFFFF"/>
                  </a:solidFill>
                  <a:latin typeface="+mn-lt"/>
                  <a:ea typeface="+mn-ea"/>
                  <a:cs typeface="+mn-cs"/>
                </a:rPr>
                <a:t>标签、</a:t>
              </a:r>
              <a:r>
                <a:rPr lang="zh-CN" sz="1950" b="1" dirty="0">
                  <a:solidFill>
                    <a:srgbClr val="F59E8F"/>
                  </a:solidFill>
                  <a:latin typeface="+mn-lt"/>
                  <a:ea typeface="+mn-ea"/>
                  <a:cs typeface="+mn-cs"/>
                </a:rPr>
                <a:t>一个</a:t>
              </a:r>
              <a:r>
                <a:rPr lang="zh-CN" sz="1950" b="1" dirty="0">
                  <a:solidFill>
                    <a:srgbClr val="FFFFFF"/>
                  </a:solidFill>
                  <a:latin typeface="+mn-lt"/>
                  <a:ea typeface="+mn-ea"/>
                  <a:cs typeface="+mn-cs"/>
                </a:rPr>
                <a:t>经营视图</a:t>
              </a:r>
            </a:p>
          </p:txBody>
        </p:sp>
      </p:gr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715750" cy="542925"/>
            <a:chOff x="0" y="0"/>
            <a:chExt cx="1171575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3381F"/>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17</a:t>
              </a:r>
            </a:p>
          </p:txBody>
        </p:sp>
        <p:sp>
          <p:nvSpPr>
            <p:cNvPr id="4" name="TextBox 4"/>
            <p:cNvSpPr txBox="1"/>
            <p:nvPr/>
          </p:nvSpPr>
          <p:spPr>
            <a:xfrm>
              <a:off x="942594" y="151448"/>
              <a:ext cx="528980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实施路线图：</a:t>
              </a:r>
              <a:r>
                <a:rPr lang="zh-CN" sz="1950" b="1" dirty="0">
                  <a:solidFill>
                    <a:srgbClr val="A3381F"/>
                  </a:solidFill>
                  <a:latin typeface="SimSun"/>
                  <a:ea typeface="SimSun"/>
                  <a:cs typeface="SimSun"/>
                </a:rPr>
                <a:t>分阶段建设</a:t>
              </a:r>
              <a:r>
                <a:rPr lang="zh-CN" sz="1950" b="1" dirty="0">
                  <a:solidFill>
                    <a:srgbClr val="1F1F1F"/>
                  </a:solidFill>
                  <a:latin typeface="SimSun"/>
                  <a:ea typeface="SimSun"/>
                  <a:cs typeface="SimSun"/>
                </a:rPr>
                <a:t>客户价值经营体系</a:t>
              </a:r>
            </a:p>
          </p:txBody>
        </p:sp>
        <p:sp>
          <p:nvSpPr>
            <p:cNvPr id="5" name="Line 5"/>
            <p:cNvSpPr/>
            <p:nvPr/>
          </p:nvSpPr>
          <p:spPr>
            <a:xfrm>
              <a:off x="952500" y="533400"/>
              <a:ext cx="10763250" cy="9525"/>
            </a:xfrm>
            <a:custGeom>
              <a:avLst/>
              <a:gdLst/>
              <a:ahLst/>
              <a:cxnLst/>
              <a:rect l="l" t="t" r="r" b="b"/>
              <a:pathLst>
                <a:path w="10763250" h="9525">
                  <a:moveTo>
                    <a:pt x="0" y="0"/>
                  </a:moveTo>
                  <a:lnTo>
                    <a:pt x="10763250" y="0"/>
                  </a:lnTo>
                </a:path>
              </a:pathLst>
            </a:custGeom>
            <a:noFill/>
            <a:ln w="14288">
              <a:solidFill>
                <a:srgbClr val="A3381F"/>
              </a:solidFill>
            </a:ln>
          </p:spPr>
        </p:sp>
      </p:grpSp>
      <p:sp>
        <p:nvSpPr>
          <p:cNvPr id="7" name="Line 7"/>
          <p:cNvSpPr/>
          <p:nvPr/>
        </p:nvSpPr>
        <p:spPr>
          <a:xfrm>
            <a:off x="1238250" y="952500"/>
            <a:ext cx="9334500" cy="9525"/>
          </a:xfrm>
          <a:custGeom>
            <a:avLst/>
            <a:gdLst/>
            <a:ahLst/>
            <a:cxnLst/>
            <a:rect l="l" t="t" r="r" b="b"/>
            <a:pathLst>
              <a:path w="9334500" h="9525">
                <a:moveTo>
                  <a:pt x="0" y="0"/>
                </a:moveTo>
                <a:lnTo>
                  <a:pt x="9334500" y="0"/>
                </a:lnTo>
              </a:path>
            </a:pathLst>
          </a:custGeom>
          <a:noFill/>
          <a:ln w="14288">
            <a:solidFill>
              <a:srgbClr val="C9796B"/>
            </a:solidFill>
            <a:custDash>
              <a:ds d="400000" sp="266667"/>
            </a:custDash>
          </a:ln>
        </p:spPr>
      </p:sp>
      <p:grpSp>
        <p:nvGrpSpPr>
          <p:cNvPr id="41" name="phase-1"/>
          <p:cNvGrpSpPr/>
          <p:nvPr/>
        </p:nvGrpSpPr>
        <p:grpSpPr>
          <a:xfrm>
            <a:off x="381000" y="800100"/>
            <a:ext cx="1714500" cy="3009900"/>
            <a:chOff x="381000" y="800100"/>
            <a:chExt cx="1714500" cy="3009900"/>
          </a:xfrm>
        </p:grpSpPr>
        <p:sp>
          <p:nvSpPr>
            <p:cNvPr id="8" name="Ellipse 8"/>
            <p:cNvSpPr/>
            <p:nvPr/>
          </p:nvSpPr>
          <p:spPr>
            <a:xfrm>
              <a:off x="1085850" y="800100"/>
              <a:ext cx="304800" cy="304800"/>
            </a:xfrm>
            <a:prstGeom prst="ellipse">
              <a:avLst/>
            </a:prstGeom>
            <a:solidFill>
              <a:srgbClr val="A3381F"/>
            </a:solidFill>
            <a:ln>
              <a:noFill/>
            </a:ln>
          </p:spPr>
        </p:sp>
        <p:sp>
          <p:nvSpPr>
            <p:cNvPr id="9" name="TextBox 9"/>
            <p:cNvSpPr txBox="1"/>
            <p:nvPr/>
          </p:nvSpPr>
          <p:spPr>
            <a:xfrm>
              <a:off x="1188999" y="8882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0" name="Rectangle 10"/>
            <p:cNvSpPr/>
            <p:nvPr/>
          </p:nvSpPr>
          <p:spPr>
            <a:xfrm>
              <a:off x="381000" y="1181100"/>
              <a:ext cx="1714500" cy="2628900"/>
            </a:xfrm>
            <a:prstGeom prst="roundRect">
              <a:avLst>
                <a:gd name="adj" fmla="val 5556"/>
              </a:avLst>
            </a:prstGeom>
            <a:solidFill>
              <a:srgbClr val="FFFFFF"/>
            </a:solidFill>
            <a:ln w="9525">
              <a:solidFill>
                <a:srgbClr val="E6D9C0"/>
              </a:solidFill>
            </a:ln>
          </p:spPr>
        </p:sp>
        <p:sp>
          <p:nvSpPr>
            <p:cNvPr id="11" name="Rectangle 11"/>
            <p:cNvSpPr/>
            <p:nvPr/>
          </p:nvSpPr>
          <p:spPr>
            <a:xfrm>
              <a:off x="381000" y="1181100"/>
              <a:ext cx="1714500" cy="304800"/>
            </a:xfrm>
            <a:prstGeom prst="roundRect">
              <a:avLst>
                <a:gd name="adj" fmla="val 31250"/>
              </a:avLst>
            </a:prstGeom>
            <a:solidFill>
              <a:srgbClr val="A3381F"/>
            </a:solidFill>
            <a:ln>
              <a:noFill/>
            </a:ln>
          </p:spPr>
        </p:sp>
        <p:sp>
          <p:nvSpPr>
            <p:cNvPr id="12" name="Rectangle 12"/>
            <p:cNvSpPr/>
            <p:nvPr/>
          </p:nvSpPr>
          <p:spPr>
            <a:xfrm>
              <a:off x="381000" y="1352550"/>
              <a:ext cx="1714500" cy="133350"/>
            </a:xfrm>
            <a:prstGeom prst="rect">
              <a:avLst/>
            </a:prstGeom>
            <a:solidFill>
              <a:srgbClr val="A3381F"/>
            </a:solidFill>
            <a:ln>
              <a:noFill/>
            </a:ln>
          </p:spPr>
        </p:sp>
        <p:sp>
          <p:nvSpPr>
            <p:cNvPr id="13" name="TextBox 13"/>
            <p:cNvSpPr txBox="1"/>
            <p:nvPr/>
          </p:nvSpPr>
          <p:spPr>
            <a:xfrm>
              <a:off x="950214" y="12773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现状诊断</a:t>
              </a:r>
            </a:p>
          </p:txBody>
        </p:sp>
        <p:grpSp>
          <p:nvGrpSpPr>
            <p:cNvPr id="18" name="Group 18"/>
            <p:cNvGrpSpPr/>
            <p:nvPr/>
          </p:nvGrpSpPr>
          <p:grpSpPr>
            <a:xfrm>
              <a:off x="571500" y="1695450"/>
              <a:ext cx="114300" cy="114301"/>
              <a:chOff x="571500" y="1695450"/>
              <a:chExt cx="114300" cy="114301"/>
            </a:xfrm>
          </p:grpSpPr>
          <p:sp>
            <p:nvSpPr>
              <p:cNvPr id="14" name="Freeform 14"/>
              <p:cNvSpPr/>
              <p:nvPr/>
            </p:nvSpPr>
            <p:spPr>
              <a:xfrm>
                <a:off x="584200" y="16954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3381F"/>
                </a:solidFill>
              </a:ln>
            </p:spPr>
          </p:sp>
          <p:sp>
            <p:nvSpPr>
              <p:cNvPr id="15" name="Freeform 15"/>
              <p:cNvSpPr/>
              <p:nvPr/>
            </p:nvSpPr>
            <p:spPr>
              <a:xfrm>
                <a:off x="571500" y="17716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A3381F"/>
                </a:solidFill>
              </a:ln>
            </p:spPr>
          </p:sp>
          <p:sp>
            <p:nvSpPr>
              <p:cNvPr id="16" name="Freeform 16"/>
              <p:cNvSpPr/>
              <p:nvPr/>
            </p:nvSpPr>
            <p:spPr>
              <a:xfrm>
                <a:off x="654050" y="16962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A3381F"/>
                </a:solidFill>
              </a:ln>
            </p:spPr>
          </p:sp>
          <p:sp>
            <p:nvSpPr>
              <p:cNvPr id="17" name="Freeform 17"/>
              <p:cNvSpPr/>
              <p:nvPr/>
            </p:nvSpPr>
            <p:spPr>
              <a:xfrm>
                <a:off x="666750" y="17726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A3381F"/>
                </a:solidFill>
              </a:ln>
            </p:spPr>
          </p:sp>
        </p:grpSp>
        <p:sp>
          <p:nvSpPr>
            <p:cNvPr id="19" name="TextBox 19"/>
            <p:cNvSpPr txBox="1"/>
            <p:nvPr/>
          </p:nvSpPr>
          <p:spPr>
            <a:xfrm>
              <a:off x="795338" y="171521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客户盘点</a:t>
              </a:r>
            </a:p>
          </p:txBody>
        </p:sp>
        <p:grpSp>
          <p:nvGrpSpPr>
            <p:cNvPr id="23" name="Group 23"/>
            <p:cNvGrpSpPr/>
            <p:nvPr/>
          </p:nvGrpSpPr>
          <p:grpSpPr>
            <a:xfrm>
              <a:off x="577850" y="2038350"/>
              <a:ext cx="101600" cy="114300"/>
              <a:chOff x="577850" y="2038350"/>
              <a:chExt cx="101600" cy="114300"/>
            </a:xfrm>
          </p:grpSpPr>
          <p:sp>
            <p:nvSpPr>
              <p:cNvPr id="20" name="Freeform 20"/>
              <p:cNvSpPr/>
              <p:nvPr/>
            </p:nvSpPr>
            <p:spPr>
              <a:xfrm>
                <a:off x="577850" y="20383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C26D5E"/>
                </a:solidFill>
              </a:ln>
            </p:spPr>
          </p:sp>
          <p:sp>
            <p:nvSpPr>
              <p:cNvPr id="21" name="Freeform 21"/>
              <p:cNvSpPr/>
              <p:nvPr/>
            </p:nvSpPr>
            <p:spPr>
              <a:xfrm>
                <a:off x="577850" y="20574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26D5E"/>
                </a:solidFill>
              </a:ln>
            </p:spPr>
          </p:sp>
          <p:sp>
            <p:nvSpPr>
              <p:cNvPr id="22" name="Freeform 22"/>
              <p:cNvSpPr/>
              <p:nvPr/>
            </p:nvSpPr>
            <p:spPr>
              <a:xfrm>
                <a:off x="577850" y="20955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C26D5E"/>
                </a:solidFill>
              </a:ln>
            </p:spPr>
          </p:sp>
        </p:grpSp>
        <p:sp>
          <p:nvSpPr>
            <p:cNvPr id="24" name="TextBox 24"/>
            <p:cNvSpPr txBox="1"/>
            <p:nvPr/>
          </p:nvSpPr>
          <p:spPr>
            <a:xfrm>
              <a:off x="795338" y="205811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数据盘点</a:t>
              </a:r>
            </a:p>
          </p:txBody>
        </p:sp>
        <p:grpSp>
          <p:nvGrpSpPr>
            <p:cNvPr id="29" name="Group 29"/>
            <p:cNvGrpSpPr/>
            <p:nvPr/>
          </p:nvGrpSpPr>
          <p:grpSpPr>
            <a:xfrm>
              <a:off x="571500" y="2381032"/>
              <a:ext cx="114300" cy="114518"/>
              <a:chOff x="571500" y="2381032"/>
              <a:chExt cx="114300" cy="114518"/>
            </a:xfrm>
          </p:grpSpPr>
          <p:sp>
            <p:nvSpPr>
              <p:cNvPr id="25" name="Freeform 25"/>
              <p:cNvSpPr/>
              <p:nvPr/>
            </p:nvSpPr>
            <p:spPr>
              <a:xfrm>
                <a:off x="571500" y="2413000"/>
                <a:ext cx="114300" cy="25400"/>
              </a:xfrm>
              <a:custGeom>
                <a:avLst/>
                <a:gdLst/>
                <a:ahLst/>
                <a:cxnLst/>
                <a:rect l="l" t="t" r="r" b="b"/>
                <a:pathLst>
                  <a:path w="114300" h="25400">
                    <a:moveTo>
                      <a:pt x="0" y="6350"/>
                    </a:moveTo>
                    <a:cubicBezTo>
                      <a:pt x="0" y="2843"/>
                      <a:pt x="2843" y="0"/>
                      <a:pt x="6350" y="0"/>
                    </a:cubicBezTo>
                    <a:lnTo>
                      <a:pt x="107950" y="0"/>
                    </a:lnTo>
                    <a:cubicBezTo>
                      <a:pt x="111457" y="0"/>
                      <a:pt x="114300" y="2843"/>
                      <a:pt x="114300" y="6350"/>
                    </a:cubicBezTo>
                    <a:lnTo>
                      <a:pt x="114300" y="19050"/>
                    </a:lnTo>
                    <a:cubicBezTo>
                      <a:pt x="114300" y="22557"/>
                      <a:pt x="111457" y="25400"/>
                      <a:pt x="107950" y="25400"/>
                    </a:cubicBezTo>
                    <a:lnTo>
                      <a:pt x="6350" y="25400"/>
                    </a:lnTo>
                    <a:cubicBezTo>
                      <a:pt x="2843" y="25400"/>
                      <a:pt x="0" y="22557"/>
                      <a:pt x="0" y="19050"/>
                    </a:cubicBezTo>
                    <a:lnTo>
                      <a:pt x="0" y="6350"/>
                    </a:lnTo>
                  </a:path>
                </a:pathLst>
              </a:custGeom>
              <a:noFill/>
              <a:ln w="12700">
                <a:solidFill>
                  <a:srgbClr val="A3381F"/>
                </a:solidFill>
              </a:ln>
            </p:spPr>
          </p:sp>
          <p:sp>
            <p:nvSpPr>
              <p:cNvPr id="26" name="Freeform 26"/>
              <p:cNvSpPr/>
              <p:nvPr/>
            </p:nvSpPr>
            <p:spPr>
              <a:xfrm>
                <a:off x="628650" y="2413000"/>
                <a:ext cx="9525" cy="82550"/>
              </a:xfrm>
              <a:custGeom>
                <a:avLst/>
                <a:gdLst/>
                <a:ahLst/>
                <a:cxnLst/>
                <a:rect l="l" t="t" r="r" b="b"/>
                <a:pathLst>
                  <a:path w="9525" h="82550">
                    <a:moveTo>
                      <a:pt x="0" y="0"/>
                    </a:moveTo>
                    <a:lnTo>
                      <a:pt x="0" y="82550"/>
                    </a:lnTo>
                  </a:path>
                </a:pathLst>
              </a:custGeom>
              <a:noFill/>
              <a:ln w="12700">
                <a:solidFill>
                  <a:srgbClr val="A3381F"/>
                </a:solidFill>
              </a:ln>
            </p:spPr>
          </p:sp>
          <p:sp>
            <p:nvSpPr>
              <p:cNvPr id="27" name="Freeform 27"/>
              <p:cNvSpPr/>
              <p:nvPr/>
            </p:nvSpPr>
            <p:spPr>
              <a:xfrm>
                <a:off x="584200" y="2438400"/>
                <a:ext cx="88900" cy="57150"/>
              </a:xfrm>
              <a:custGeom>
                <a:avLst/>
                <a:gdLst/>
                <a:ahLst/>
                <a:cxnLst/>
                <a:rect l="l" t="t" r="r" b="b"/>
                <a:pathLst>
                  <a:path w="88900" h="57150">
                    <a:moveTo>
                      <a:pt x="88900" y="0"/>
                    </a:moveTo>
                    <a:lnTo>
                      <a:pt x="88900" y="44450"/>
                    </a:lnTo>
                    <a:cubicBezTo>
                      <a:pt x="88900" y="51464"/>
                      <a:pt x="83214" y="57150"/>
                      <a:pt x="76200" y="57150"/>
                    </a:cubicBezTo>
                    <a:lnTo>
                      <a:pt x="12700" y="57150"/>
                    </a:lnTo>
                    <a:cubicBezTo>
                      <a:pt x="5686" y="57150"/>
                      <a:pt x="0" y="51464"/>
                      <a:pt x="0" y="44450"/>
                    </a:cubicBezTo>
                    <a:lnTo>
                      <a:pt x="0" y="0"/>
                    </a:lnTo>
                  </a:path>
                </a:pathLst>
              </a:custGeom>
              <a:noFill/>
              <a:ln w="12700">
                <a:solidFill>
                  <a:srgbClr val="A3381F"/>
                </a:solidFill>
              </a:ln>
            </p:spPr>
          </p:sp>
          <p:sp>
            <p:nvSpPr>
              <p:cNvPr id="28" name="Freeform 28"/>
              <p:cNvSpPr/>
              <p:nvPr/>
            </p:nvSpPr>
            <p:spPr>
              <a:xfrm>
                <a:off x="584200" y="2381032"/>
                <a:ext cx="88900" cy="31968"/>
              </a:xfrm>
              <a:custGeom>
                <a:avLst/>
                <a:gdLst/>
                <a:ahLst/>
                <a:cxnLst/>
                <a:rect l="l" t="t" r="r" b="b"/>
                <a:pathLst>
                  <a:path w="88900" h="31968">
                    <a:moveTo>
                      <a:pt x="15875" y="31968"/>
                    </a:moveTo>
                    <a:cubicBezTo>
                      <a:pt x="7107" y="31968"/>
                      <a:pt x="0" y="24861"/>
                      <a:pt x="0" y="16093"/>
                    </a:cubicBezTo>
                    <a:cubicBezTo>
                      <a:pt x="0" y="7326"/>
                      <a:pt x="7107" y="218"/>
                      <a:pt x="15875" y="218"/>
                    </a:cubicBezTo>
                    <a:cubicBezTo>
                      <a:pt x="28411" y="0"/>
                      <a:pt x="39749" y="12598"/>
                      <a:pt x="44450" y="31968"/>
                    </a:cubicBezTo>
                    <a:cubicBezTo>
                      <a:pt x="49151" y="12598"/>
                      <a:pt x="60489" y="0"/>
                      <a:pt x="73025" y="218"/>
                    </a:cubicBezTo>
                    <a:cubicBezTo>
                      <a:pt x="81793" y="218"/>
                      <a:pt x="88900" y="7326"/>
                      <a:pt x="88900" y="16093"/>
                    </a:cubicBezTo>
                    <a:cubicBezTo>
                      <a:pt x="88900" y="24861"/>
                      <a:pt x="81793" y="31968"/>
                      <a:pt x="73025" y="31968"/>
                    </a:cubicBezTo>
                  </a:path>
                </a:pathLst>
              </a:custGeom>
              <a:noFill/>
              <a:ln w="12700">
                <a:solidFill>
                  <a:srgbClr val="A3381F"/>
                </a:solidFill>
              </a:ln>
            </p:spPr>
          </p:sp>
        </p:grpSp>
        <p:sp>
          <p:nvSpPr>
            <p:cNvPr id="30" name="TextBox 30"/>
            <p:cNvSpPr txBox="1"/>
            <p:nvPr/>
          </p:nvSpPr>
          <p:spPr>
            <a:xfrm>
              <a:off x="795338" y="240101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权益盘点</a:t>
              </a:r>
            </a:p>
          </p:txBody>
        </p:sp>
        <p:grpSp>
          <p:nvGrpSpPr>
            <p:cNvPr id="34" name="Group 34"/>
            <p:cNvGrpSpPr/>
            <p:nvPr/>
          </p:nvGrpSpPr>
          <p:grpSpPr>
            <a:xfrm>
              <a:off x="584200" y="2724150"/>
              <a:ext cx="88900" cy="114300"/>
              <a:chOff x="584200" y="2724150"/>
              <a:chExt cx="88900" cy="114300"/>
            </a:xfrm>
          </p:grpSpPr>
          <p:sp>
            <p:nvSpPr>
              <p:cNvPr id="31" name="Freeform 31"/>
              <p:cNvSpPr/>
              <p:nvPr/>
            </p:nvSpPr>
            <p:spPr>
              <a:xfrm>
                <a:off x="584200" y="2762250"/>
                <a:ext cx="88900" cy="76200"/>
              </a:xfrm>
              <a:custGeom>
                <a:avLst/>
                <a:gdLst/>
                <a:ahLst/>
                <a:cxnLst/>
                <a:rect l="l" t="t" r="r" b="b"/>
                <a:pathLst>
                  <a:path w="88900" h="76200">
                    <a:moveTo>
                      <a:pt x="19050" y="0"/>
                    </a:moveTo>
                    <a:lnTo>
                      <a:pt x="12700" y="0"/>
                    </a:lnTo>
                    <a:cubicBezTo>
                      <a:pt x="5686" y="0"/>
                      <a:pt x="0" y="5686"/>
                      <a:pt x="0" y="12700"/>
                    </a:cubicBezTo>
                    <a:lnTo>
                      <a:pt x="0" y="63500"/>
                    </a:lnTo>
                    <a:cubicBezTo>
                      <a:pt x="0" y="70514"/>
                      <a:pt x="5686" y="76200"/>
                      <a:pt x="12700" y="76200"/>
                    </a:cubicBezTo>
                    <a:lnTo>
                      <a:pt x="76200" y="76200"/>
                    </a:lnTo>
                    <a:cubicBezTo>
                      <a:pt x="83214" y="76200"/>
                      <a:pt x="88900" y="70514"/>
                      <a:pt x="88900" y="63500"/>
                    </a:cubicBezTo>
                    <a:lnTo>
                      <a:pt x="88900" y="12700"/>
                    </a:lnTo>
                    <a:cubicBezTo>
                      <a:pt x="88900" y="5686"/>
                      <a:pt x="83214" y="0"/>
                      <a:pt x="76200" y="0"/>
                    </a:cubicBezTo>
                    <a:lnTo>
                      <a:pt x="69850" y="0"/>
                    </a:lnTo>
                  </a:path>
                </a:pathLst>
              </a:custGeom>
              <a:noFill/>
              <a:ln w="12700">
                <a:solidFill>
                  <a:srgbClr val="C26D5E"/>
                </a:solidFill>
              </a:ln>
            </p:spPr>
          </p:sp>
          <p:sp>
            <p:nvSpPr>
              <p:cNvPr id="32" name="Freeform 32"/>
              <p:cNvSpPr/>
              <p:nvPr/>
            </p:nvSpPr>
            <p:spPr>
              <a:xfrm>
                <a:off x="628650" y="2724150"/>
                <a:ext cx="9525" cy="69850"/>
              </a:xfrm>
              <a:custGeom>
                <a:avLst/>
                <a:gdLst/>
                <a:ahLst/>
                <a:cxnLst/>
                <a:rect l="l" t="t" r="r" b="b"/>
                <a:pathLst>
                  <a:path w="9525" h="69850">
                    <a:moveTo>
                      <a:pt x="0" y="69850"/>
                    </a:moveTo>
                    <a:lnTo>
                      <a:pt x="0" y="0"/>
                    </a:lnTo>
                  </a:path>
                </a:pathLst>
              </a:custGeom>
              <a:noFill/>
              <a:ln w="12700">
                <a:solidFill>
                  <a:srgbClr val="C26D5E"/>
                </a:solidFill>
              </a:ln>
            </p:spPr>
          </p:sp>
          <p:sp>
            <p:nvSpPr>
              <p:cNvPr id="33" name="Freeform 33"/>
              <p:cNvSpPr/>
              <p:nvPr/>
            </p:nvSpPr>
            <p:spPr>
              <a:xfrm>
                <a:off x="609600" y="2724150"/>
                <a:ext cx="38100" cy="19050"/>
              </a:xfrm>
              <a:custGeom>
                <a:avLst/>
                <a:gdLst/>
                <a:ahLst/>
                <a:cxnLst/>
                <a:rect l="l" t="t" r="r" b="b"/>
                <a:pathLst>
                  <a:path w="38100" h="19050">
                    <a:moveTo>
                      <a:pt x="0" y="19050"/>
                    </a:moveTo>
                    <a:lnTo>
                      <a:pt x="19050" y="0"/>
                    </a:lnTo>
                    <a:lnTo>
                      <a:pt x="38100" y="19050"/>
                    </a:lnTo>
                  </a:path>
                </a:pathLst>
              </a:custGeom>
              <a:noFill/>
              <a:ln w="12700">
                <a:solidFill>
                  <a:srgbClr val="C26D5E"/>
                </a:solidFill>
              </a:ln>
            </p:spPr>
          </p:sp>
        </p:grpSp>
        <p:sp>
          <p:nvSpPr>
            <p:cNvPr id="35" name="TextBox 35"/>
            <p:cNvSpPr txBox="1"/>
            <p:nvPr/>
          </p:nvSpPr>
          <p:spPr>
            <a:xfrm>
              <a:off x="795338" y="274391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流程盘点</a:t>
              </a:r>
            </a:p>
          </p:txBody>
        </p:sp>
        <p:grpSp>
          <p:nvGrpSpPr>
            <p:cNvPr id="39" name="Group 39"/>
            <p:cNvGrpSpPr/>
            <p:nvPr/>
          </p:nvGrpSpPr>
          <p:grpSpPr>
            <a:xfrm>
              <a:off x="590550" y="3067050"/>
              <a:ext cx="76200" cy="114300"/>
              <a:chOff x="590550" y="3067050"/>
              <a:chExt cx="76200" cy="114300"/>
            </a:xfrm>
          </p:grpSpPr>
          <p:sp>
            <p:nvSpPr>
              <p:cNvPr id="36" name="Freeform 36"/>
              <p:cNvSpPr/>
              <p:nvPr/>
            </p:nvSpPr>
            <p:spPr>
              <a:xfrm>
                <a:off x="590550" y="306705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A3381F"/>
                </a:solidFill>
              </a:ln>
            </p:spPr>
          </p:sp>
          <p:sp>
            <p:nvSpPr>
              <p:cNvPr id="37" name="Freeform 37"/>
              <p:cNvSpPr/>
              <p:nvPr/>
            </p:nvSpPr>
            <p:spPr>
              <a:xfrm>
                <a:off x="622300" y="3073400"/>
                <a:ext cx="12700" cy="9525"/>
              </a:xfrm>
              <a:custGeom>
                <a:avLst/>
                <a:gdLst/>
                <a:ahLst/>
                <a:cxnLst/>
                <a:rect l="l" t="t" r="r" b="b"/>
                <a:pathLst>
                  <a:path w="12700" h="9525">
                    <a:moveTo>
                      <a:pt x="0" y="0"/>
                    </a:moveTo>
                    <a:lnTo>
                      <a:pt x="12700" y="0"/>
                    </a:lnTo>
                  </a:path>
                </a:pathLst>
              </a:custGeom>
              <a:noFill/>
              <a:ln w="12700">
                <a:solidFill>
                  <a:srgbClr val="A3381F"/>
                </a:solidFill>
              </a:ln>
            </p:spPr>
          </p:sp>
          <p:sp>
            <p:nvSpPr>
              <p:cNvPr id="38" name="Freeform 38"/>
              <p:cNvSpPr/>
              <p:nvPr/>
            </p:nvSpPr>
            <p:spPr>
              <a:xfrm>
                <a:off x="628650" y="3155950"/>
                <a:ext cx="9525" cy="9525"/>
              </a:xfrm>
              <a:custGeom>
                <a:avLst/>
                <a:gdLst/>
                <a:ahLst/>
                <a:cxnLst/>
                <a:rect l="l" t="t" r="r" b="b"/>
                <a:pathLst>
                  <a:path w="9525" h="9525">
                    <a:moveTo>
                      <a:pt x="0" y="0"/>
                    </a:moveTo>
                    <a:lnTo>
                      <a:pt x="0" y="64"/>
                    </a:lnTo>
                  </a:path>
                </a:pathLst>
              </a:custGeom>
              <a:noFill/>
              <a:ln w="12700">
                <a:solidFill>
                  <a:srgbClr val="A3381F"/>
                </a:solidFill>
              </a:ln>
            </p:spPr>
          </p:sp>
        </p:grpSp>
        <p:sp>
          <p:nvSpPr>
            <p:cNvPr id="40" name="TextBox 40"/>
            <p:cNvSpPr txBox="1"/>
            <p:nvPr/>
          </p:nvSpPr>
          <p:spPr>
            <a:xfrm>
              <a:off x="795338" y="308681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系统盘点</a:t>
              </a:r>
            </a:p>
          </p:txBody>
        </p:sp>
      </p:grpSp>
      <p:sp>
        <p:nvSpPr>
          <p:cNvPr id="42" name="Freeform 42"/>
          <p:cNvSpPr/>
          <p:nvPr/>
        </p:nvSpPr>
        <p:spPr>
          <a:xfrm>
            <a:off x="2105025" y="2266950"/>
            <a:ext cx="133350" cy="152400"/>
          </a:xfrm>
          <a:prstGeom prst="rightArrow">
            <a:avLst/>
          </a:prstGeom>
          <a:solidFill>
            <a:srgbClr val="A3381F"/>
          </a:solidFill>
          <a:ln>
            <a:noFill/>
          </a:ln>
        </p:spPr>
      </p:sp>
      <p:grpSp>
        <p:nvGrpSpPr>
          <p:cNvPr id="79" name="phase-2"/>
          <p:cNvGrpSpPr/>
          <p:nvPr/>
        </p:nvGrpSpPr>
        <p:grpSpPr>
          <a:xfrm>
            <a:off x="2247900" y="800100"/>
            <a:ext cx="1714500" cy="3009900"/>
            <a:chOff x="2247900" y="800100"/>
            <a:chExt cx="1714500" cy="3009900"/>
          </a:xfrm>
        </p:grpSpPr>
        <p:sp>
          <p:nvSpPr>
            <p:cNvPr id="43" name="Ellipse 43"/>
            <p:cNvSpPr/>
            <p:nvPr/>
          </p:nvSpPr>
          <p:spPr>
            <a:xfrm>
              <a:off x="2952750" y="800100"/>
              <a:ext cx="304800" cy="304800"/>
            </a:xfrm>
            <a:prstGeom prst="ellipse">
              <a:avLst/>
            </a:prstGeom>
            <a:solidFill>
              <a:srgbClr val="A3381F"/>
            </a:solidFill>
            <a:ln>
              <a:noFill/>
            </a:ln>
          </p:spPr>
        </p:sp>
        <p:sp>
          <p:nvSpPr>
            <p:cNvPr id="44" name="TextBox 44"/>
            <p:cNvSpPr txBox="1"/>
            <p:nvPr/>
          </p:nvSpPr>
          <p:spPr>
            <a:xfrm>
              <a:off x="3055899" y="8882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45" name="Rectangle 45"/>
            <p:cNvSpPr/>
            <p:nvPr/>
          </p:nvSpPr>
          <p:spPr>
            <a:xfrm>
              <a:off x="2247900" y="1181100"/>
              <a:ext cx="1714500" cy="2628900"/>
            </a:xfrm>
            <a:prstGeom prst="roundRect">
              <a:avLst>
                <a:gd name="adj" fmla="val 5556"/>
              </a:avLst>
            </a:prstGeom>
            <a:solidFill>
              <a:srgbClr val="FFFFFF"/>
            </a:solidFill>
            <a:ln w="9525">
              <a:solidFill>
                <a:srgbClr val="E6D9C0"/>
              </a:solidFill>
            </a:ln>
          </p:spPr>
        </p:sp>
        <p:sp>
          <p:nvSpPr>
            <p:cNvPr id="46" name="Rectangle 46"/>
            <p:cNvSpPr/>
            <p:nvPr/>
          </p:nvSpPr>
          <p:spPr>
            <a:xfrm>
              <a:off x="2247900" y="1181100"/>
              <a:ext cx="1714500" cy="304800"/>
            </a:xfrm>
            <a:prstGeom prst="roundRect">
              <a:avLst>
                <a:gd name="adj" fmla="val 31250"/>
              </a:avLst>
            </a:prstGeom>
            <a:solidFill>
              <a:srgbClr val="A3381F"/>
            </a:solidFill>
            <a:ln>
              <a:noFill/>
            </a:ln>
          </p:spPr>
        </p:sp>
        <p:sp>
          <p:nvSpPr>
            <p:cNvPr id="47" name="Rectangle 47"/>
            <p:cNvSpPr/>
            <p:nvPr/>
          </p:nvSpPr>
          <p:spPr>
            <a:xfrm>
              <a:off x="2247900" y="1352550"/>
              <a:ext cx="1714500" cy="133350"/>
            </a:xfrm>
            <a:prstGeom prst="rect">
              <a:avLst/>
            </a:prstGeom>
            <a:solidFill>
              <a:srgbClr val="A3381F"/>
            </a:solidFill>
            <a:ln>
              <a:noFill/>
            </a:ln>
          </p:spPr>
        </p:sp>
        <p:sp>
          <p:nvSpPr>
            <p:cNvPr id="48" name="TextBox 48"/>
            <p:cNvSpPr txBox="1"/>
            <p:nvPr/>
          </p:nvSpPr>
          <p:spPr>
            <a:xfrm>
              <a:off x="2817114" y="12773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体系设计</a:t>
              </a:r>
            </a:p>
          </p:txBody>
        </p:sp>
        <p:grpSp>
          <p:nvGrpSpPr>
            <p:cNvPr id="54" name="Group 54"/>
            <p:cNvGrpSpPr/>
            <p:nvPr/>
          </p:nvGrpSpPr>
          <p:grpSpPr>
            <a:xfrm>
              <a:off x="2438400" y="1695450"/>
              <a:ext cx="114300" cy="114300"/>
              <a:chOff x="2438400" y="1695450"/>
              <a:chExt cx="114300" cy="114300"/>
            </a:xfrm>
          </p:grpSpPr>
          <p:sp>
            <p:nvSpPr>
              <p:cNvPr id="49" name="Freeform 49"/>
              <p:cNvSpPr/>
              <p:nvPr/>
            </p:nvSpPr>
            <p:spPr>
              <a:xfrm>
                <a:off x="2482850" y="16954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3381F"/>
                </a:solidFill>
              </a:ln>
            </p:spPr>
          </p:sp>
          <p:sp>
            <p:nvSpPr>
              <p:cNvPr id="50" name="Freeform 50"/>
              <p:cNvSpPr/>
              <p:nvPr/>
            </p:nvSpPr>
            <p:spPr>
              <a:xfrm>
                <a:off x="2438400" y="1784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3381F"/>
                </a:solidFill>
              </a:ln>
            </p:spPr>
          </p:sp>
          <p:sp>
            <p:nvSpPr>
              <p:cNvPr id="51" name="Freeform 51"/>
              <p:cNvSpPr/>
              <p:nvPr/>
            </p:nvSpPr>
            <p:spPr>
              <a:xfrm>
                <a:off x="2527300" y="1784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3381F"/>
                </a:solidFill>
              </a:ln>
            </p:spPr>
          </p:sp>
          <p:sp>
            <p:nvSpPr>
              <p:cNvPr id="52" name="Freeform 52"/>
              <p:cNvSpPr/>
              <p:nvPr/>
            </p:nvSpPr>
            <p:spPr>
              <a:xfrm>
                <a:off x="2460625" y="1758950"/>
                <a:ext cx="69850" cy="28575"/>
              </a:xfrm>
              <a:custGeom>
                <a:avLst/>
                <a:gdLst/>
                <a:ahLst/>
                <a:cxnLst/>
                <a:rect l="l" t="t" r="r" b="b"/>
                <a:pathLst>
                  <a:path w="69850" h="28575">
                    <a:moveTo>
                      <a:pt x="0" y="28575"/>
                    </a:moveTo>
                    <a:lnTo>
                      <a:pt x="34925" y="0"/>
                    </a:lnTo>
                    <a:lnTo>
                      <a:pt x="69850" y="28575"/>
                    </a:lnTo>
                  </a:path>
                </a:pathLst>
              </a:custGeom>
              <a:noFill/>
              <a:ln w="12700">
                <a:solidFill>
                  <a:srgbClr val="A3381F"/>
                </a:solidFill>
              </a:ln>
            </p:spPr>
          </p:sp>
          <p:sp>
            <p:nvSpPr>
              <p:cNvPr id="53" name="Freeform 53"/>
              <p:cNvSpPr/>
              <p:nvPr/>
            </p:nvSpPr>
            <p:spPr>
              <a:xfrm>
                <a:off x="2495550" y="1720850"/>
                <a:ext cx="9525" cy="38100"/>
              </a:xfrm>
              <a:custGeom>
                <a:avLst/>
                <a:gdLst/>
                <a:ahLst/>
                <a:cxnLst/>
                <a:rect l="l" t="t" r="r" b="b"/>
                <a:pathLst>
                  <a:path w="9525" h="38100">
                    <a:moveTo>
                      <a:pt x="0" y="0"/>
                    </a:moveTo>
                    <a:lnTo>
                      <a:pt x="0" y="38100"/>
                    </a:lnTo>
                  </a:path>
                </a:pathLst>
              </a:custGeom>
              <a:noFill/>
              <a:ln w="12700">
                <a:solidFill>
                  <a:srgbClr val="A3381F"/>
                </a:solidFill>
              </a:ln>
            </p:spPr>
          </p:sp>
        </p:grpSp>
        <p:sp>
          <p:nvSpPr>
            <p:cNvPr id="55" name="TextBox 55"/>
            <p:cNvSpPr txBox="1"/>
            <p:nvPr/>
          </p:nvSpPr>
          <p:spPr>
            <a:xfrm>
              <a:off x="2662238" y="1715214"/>
              <a:ext cx="222225"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分层</a:t>
              </a:r>
            </a:p>
          </p:txBody>
        </p:sp>
        <p:grpSp>
          <p:nvGrpSpPr>
            <p:cNvPr id="62" name="Group 62"/>
            <p:cNvGrpSpPr/>
            <p:nvPr/>
          </p:nvGrpSpPr>
          <p:grpSpPr>
            <a:xfrm>
              <a:off x="2438400" y="2038350"/>
              <a:ext cx="114300" cy="114300"/>
              <a:chOff x="2438400" y="2038350"/>
              <a:chExt cx="114300" cy="114300"/>
            </a:xfrm>
          </p:grpSpPr>
          <p:sp>
            <p:nvSpPr>
              <p:cNvPr id="56" name="Freeform 56"/>
              <p:cNvSpPr/>
              <p:nvPr/>
            </p:nvSpPr>
            <p:spPr>
              <a:xfrm>
                <a:off x="2482850" y="20891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26D5E"/>
                </a:solidFill>
              </a:ln>
            </p:spPr>
          </p:sp>
          <p:sp>
            <p:nvSpPr>
              <p:cNvPr id="57" name="Freeform 57"/>
              <p:cNvSpPr/>
              <p:nvPr/>
            </p:nvSpPr>
            <p:spPr>
              <a:xfrm>
                <a:off x="2470150" y="21336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C26D5E"/>
                </a:solidFill>
              </a:ln>
            </p:spPr>
          </p:sp>
          <p:sp>
            <p:nvSpPr>
              <p:cNvPr id="58" name="Freeform 58"/>
              <p:cNvSpPr/>
              <p:nvPr/>
            </p:nvSpPr>
            <p:spPr>
              <a:xfrm>
                <a:off x="2514600" y="2038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26D5E"/>
                </a:solidFill>
              </a:ln>
            </p:spPr>
          </p:sp>
          <p:sp>
            <p:nvSpPr>
              <p:cNvPr id="59" name="Freeform 59"/>
              <p:cNvSpPr/>
              <p:nvPr/>
            </p:nvSpPr>
            <p:spPr>
              <a:xfrm>
                <a:off x="2527300" y="20828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C26D5E"/>
                </a:solidFill>
              </a:ln>
            </p:spPr>
          </p:sp>
          <p:sp>
            <p:nvSpPr>
              <p:cNvPr id="60" name="Freeform 60"/>
              <p:cNvSpPr/>
              <p:nvPr/>
            </p:nvSpPr>
            <p:spPr>
              <a:xfrm>
                <a:off x="2451100" y="2038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26D5E"/>
                </a:solidFill>
              </a:ln>
            </p:spPr>
          </p:sp>
          <p:sp>
            <p:nvSpPr>
              <p:cNvPr id="61" name="Freeform 61"/>
              <p:cNvSpPr/>
              <p:nvPr/>
            </p:nvSpPr>
            <p:spPr>
              <a:xfrm>
                <a:off x="2438400" y="20828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C26D5E"/>
                </a:solidFill>
              </a:ln>
            </p:spPr>
          </p:sp>
        </p:grpSp>
        <p:sp>
          <p:nvSpPr>
            <p:cNvPr id="63" name="TextBox 63"/>
            <p:cNvSpPr txBox="1"/>
            <p:nvPr/>
          </p:nvSpPr>
          <p:spPr>
            <a:xfrm>
              <a:off x="2662238" y="2058114"/>
              <a:ext cx="222225"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分类</a:t>
              </a:r>
            </a:p>
          </p:txBody>
        </p:sp>
        <p:grpSp>
          <p:nvGrpSpPr>
            <p:cNvPr id="66" name="Group 66"/>
            <p:cNvGrpSpPr/>
            <p:nvPr/>
          </p:nvGrpSpPr>
          <p:grpSpPr>
            <a:xfrm>
              <a:off x="2438400" y="2381250"/>
              <a:ext cx="115805" cy="115805"/>
              <a:chOff x="2438400" y="2381250"/>
              <a:chExt cx="115805" cy="115805"/>
            </a:xfrm>
          </p:grpSpPr>
          <p:sp>
            <p:nvSpPr>
              <p:cNvPr id="64" name="Freeform 64"/>
              <p:cNvSpPr/>
              <p:nvPr/>
            </p:nvSpPr>
            <p:spPr>
              <a:xfrm>
                <a:off x="2460625" y="2403475"/>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A3381F"/>
                </a:solidFill>
              </a:ln>
            </p:spPr>
          </p:sp>
          <p:sp>
            <p:nvSpPr>
              <p:cNvPr id="65" name="Freeform 65"/>
              <p:cNvSpPr/>
              <p:nvPr/>
            </p:nvSpPr>
            <p:spPr>
              <a:xfrm>
                <a:off x="2438400" y="2381250"/>
                <a:ext cx="115805" cy="115805"/>
              </a:xfrm>
              <a:custGeom>
                <a:avLst/>
                <a:gdLst/>
                <a:ahLst/>
                <a:cxnLst/>
                <a:rect l="l" t="t" r="r" b="b"/>
                <a:pathLst>
                  <a:path w="115805" h="115805">
                    <a:moveTo>
                      <a:pt x="0" y="19050"/>
                    </a:moveTo>
                    <a:lnTo>
                      <a:pt x="0" y="51892"/>
                    </a:lnTo>
                    <a:cubicBezTo>
                      <a:pt x="1" y="55260"/>
                      <a:pt x="1339" y="58490"/>
                      <a:pt x="3721" y="60871"/>
                    </a:cubicBezTo>
                    <a:lnTo>
                      <a:pt x="52680" y="109830"/>
                    </a:lnTo>
                    <a:cubicBezTo>
                      <a:pt x="58656" y="115805"/>
                      <a:pt x="68344" y="115805"/>
                      <a:pt x="74320" y="109830"/>
                    </a:cubicBezTo>
                    <a:lnTo>
                      <a:pt x="109830" y="74320"/>
                    </a:lnTo>
                    <a:cubicBezTo>
                      <a:pt x="115805" y="68344"/>
                      <a:pt x="115805" y="58656"/>
                      <a:pt x="109830" y="52680"/>
                    </a:cubicBezTo>
                    <a:lnTo>
                      <a:pt x="60871" y="3721"/>
                    </a:lnTo>
                    <a:cubicBezTo>
                      <a:pt x="58490" y="1339"/>
                      <a:pt x="55260" y="1"/>
                      <a:pt x="51892" y="0"/>
                    </a:cubicBezTo>
                    <a:lnTo>
                      <a:pt x="19050" y="0"/>
                    </a:lnTo>
                    <a:cubicBezTo>
                      <a:pt x="13998" y="0"/>
                      <a:pt x="9152" y="2007"/>
                      <a:pt x="5580" y="5580"/>
                    </a:cubicBezTo>
                    <a:cubicBezTo>
                      <a:pt x="2007" y="9152"/>
                      <a:pt x="0" y="13998"/>
                      <a:pt x="0" y="19050"/>
                    </a:cubicBezTo>
                  </a:path>
                </a:pathLst>
              </a:custGeom>
              <a:noFill/>
              <a:ln w="12700">
                <a:solidFill>
                  <a:srgbClr val="A3381F"/>
                </a:solidFill>
              </a:ln>
            </p:spPr>
          </p:sp>
        </p:grpSp>
        <p:sp>
          <p:nvSpPr>
            <p:cNvPr id="67" name="TextBox 67"/>
            <p:cNvSpPr txBox="1"/>
            <p:nvPr/>
          </p:nvSpPr>
          <p:spPr>
            <a:xfrm>
              <a:off x="2662238" y="2401014"/>
              <a:ext cx="222225"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标签</a:t>
              </a:r>
            </a:p>
          </p:txBody>
        </p:sp>
        <p:grpSp>
          <p:nvGrpSpPr>
            <p:cNvPr id="71" name="Group 71"/>
            <p:cNvGrpSpPr/>
            <p:nvPr/>
          </p:nvGrpSpPr>
          <p:grpSpPr>
            <a:xfrm>
              <a:off x="2457450" y="2724150"/>
              <a:ext cx="95250" cy="114300"/>
              <a:chOff x="2457450" y="2724150"/>
              <a:chExt cx="95250" cy="114300"/>
            </a:xfrm>
          </p:grpSpPr>
          <p:sp>
            <p:nvSpPr>
              <p:cNvPr id="68" name="Freeform 68"/>
              <p:cNvSpPr/>
              <p:nvPr/>
            </p:nvSpPr>
            <p:spPr>
              <a:xfrm>
                <a:off x="2470150" y="27241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C26D5E"/>
                </a:solidFill>
              </a:ln>
            </p:spPr>
          </p:sp>
          <p:sp>
            <p:nvSpPr>
              <p:cNvPr id="69" name="Freeform 69"/>
              <p:cNvSpPr/>
              <p:nvPr/>
            </p:nvSpPr>
            <p:spPr>
              <a:xfrm>
                <a:off x="2457450" y="28003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C26D5E"/>
                </a:solidFill>
              </a:ln>
            </p:spPr>
          </p:sp>
          <p:sp>
            <p:nvSpPr>
              <p:cNvPr id="70" name="Freeform 70"/>
              <p:cNvSpPr/>
              <p:nvPr/>
            </p:nvSpPr>
            <p:spPr>
              <a:xfrm>
                <a:off x="2514600" y="2813050"/>
                <a:ext cx="38100" cy="25400"/>
              </a:xfrm>
              <a:custGeom>
                <a:avLst/>
                <a:gdLst/>
                <a:ahLst/>
                <a:cxnLst/>
                <a:rect l="l" t="t" r="r" b="b"/>
                <a:pathLst>
                  <a:path w="38100" h="25400">
                    <a:moveTo>
                      <a:pt x="0" y="12700"/>
                    </a:moveTo>
                    <a:lnTo>
                      <a:pt x="12700" y="25400"/>
                    </a:lnTo>
                    <a:lnTo>
                      <a:pt x="38100" y="0"/>
                    </a:lnTo>
                  </a:path>
                </a:pathLst>
              </a:custGeom>
              <a:noFill/>
              <a:ln w="12700">
                <a:solidFill>
                  <a:srgbClr val="C26D5E"/>
                </a:solidFill>
              </a:ln>
            </p:spPr>
          </p:sp>
        </p:grpSp>
        <p:sp>
          <p:nvSpPr>
            <p:cNvPr id="72" name="TextBox 72"/>
            <p:cNvSpPr txBox="1"/>
            <p:nvPr/>
          </p:nvSpPr>
          <p:spPr>
            <a:xfrm>
              <a:off x="2662238" y="2743914"/>
              <a:ext cx="222225"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维护</a:t>
              </a:r>
            </a:p>
          </p:txBody>
        </p:sp>
        <p:grpSp>
          <p:nvGrpSpPr>
            <p:cNvPr id="77" name="Group 77"/>
            <p:cNvGrpSpPr/>
            <p:nvPr/>
          </p:nvGrpSpPr>
          <p:grpSpPr>
            <a:xfrm>
              <a:off x="2438400" y="3066832"/>
              <a:ext cx="114300" cy="114518"/>
              <a:chOff x="2438400" y="3066832"/>
              <a:chExt cx="114300" cy="114518"/>
            </a:xfrm>
          </p:grpSpPr>
          <p:sp>
            <p:nvSpPr>
              <p:cNvPr id="73" name="Freeform 73"/>
              <p:cNvSpPr/>
              <p:nvPr/>
            </p:nvSpPr>
            <p:spPr>
              <a:xfrm>
                <a:off x="2438400" y="3098800"/>
                <a:ext cx="114300" cy="25400"/>
              </a:xfrm>
              <a:custGeom>
                <a:avLst/>
                <a:gdLst/>
                <a:ahLst/>
                <a:cxnLst/>
                <a:rect l="l" t="t" r="r" b="b"/>
                <a:pathLst>
                  <a:path w="114300" h="25400">
                    <a:moveTo>
                      <a:pt x="0" y="6350"/>
                    </a:moveTo>
                    <a:cubicBezTo>
                      <a:pt x="0" y="2843"/>
                      <a:pt x="2843" y="0"/>
                      <a:pt x="6350" y="0"/>
                    </a:cubicBezTo>
                    <a:lnTo>
                      <a:pt x="107950" y="0"/>
                    </a:lnTo>
                    <a:cubicBezTo>
                      <a:pt x="111457" y="0"/>
                      <a:pt x="114300" y="2843"/>
                      <a:pt x="114300" y="6350"/>
                    </a:cubicBezTo>
                    <a:lnTo>
                      <a:pt x="114300" y="19050"/>
                    </a:lnTo>
                    <a:cubicBezTo>
                      <a:pt x="114300" y="22557"/>
                      <a:pt x="111457" y="25400"/>
                      <a:pt x="107950" y="25400"/>
                    </a:cubicBezTo>
                    <a:lnTo>
                      <a:pt x="6350" y="25400"/>
                    </a:lnTo>
                    <a:cubicBezTo>
                      <a:pt x="2843" y="25400"/>
                      <a:pt x="0" y="22557"/>
                      <a:pt x="0" y="19050"/>
                    </a:cubicBezTo>
                    <a:lnTo>
                      <a:pt x="0" y="6350"/>
                    </a:lnTo>
                  </a:path>
                </a:pathLst>
              </a:custGeom>
              <a:noFill/>
              <a:ln w="12700">
                <a:solidFill>
                  <a:srgbClr val="A3381F"/>
                </a:solidFill>
              </a:ln>
            </p:spPr>
          </p:sp>
          <p:sp>
            <p:nvSpPr>
              <p:cNvPr id="74" name="Freeform 74"/>
              <p:cNvSpPr/>
              <p:nvPr/>
            </p:nvSpPr>
            <p:spPr>
              <a:xfrm>
                <a:off x="2495550" y="3098800"/>
                <a:ext cx="9525" cy="82550"/>
              </a:xfrm>
              <a:custGeom>
                <a:avLst/>
                <a:gdLst/>
                <a:ahLst/>
                <a:cxnLst/>
                <a:rect l="l" t="t" r="r" b="b"/>
                <a:pathLst>
                  <a:path w="9525" h="82550">
                    <a:moveTo>
                      <a:pt x="0" y="0"/>
                    </a:moveTo>
                    <a:lnTo>
                      <a:pt x="0" y="82550"/>
                    </a:lnTo>
                  </a:path>
                </a:pathLst>
              </a:custGeom>
              <a:noFill/>
              <a:ln w="12700">
                <a:solidFill>
                  <a:srgbClr val="A3381F"/>
                </a:solidFill>
              </a:ln>
            </p:spPr>
          </p:sp>
          <p:sp>
            <p:nvSpPr>
              <p:cNvPr id="75" name="Freeform 75"/>
              <p:cNvSpPr/>
              <p:nvPr/>
            </p:nvSpPr>
            <p:spPr>
              <a:xfrm>
                <a:off x="2451100" y="3124200"/>
                <a:ext cx="88900" cy="57150"/>
              </a:xfrm>
              <a:custGeom>
                <a:avLst/>
                <a:gdLst/>
                <a:ahLst/>
                <a:cxnLst/>
                <a:rect l="l" t="t" r="r" b="b"/>
                <a:pathLst>
                  <a:path w="88900" h="57150">
                    <a:moveTo>
                      <a:pt x="88900" y="0"/>
                    </a:moveTo>
                    <a:lnTo>
                      <a:pt x="88900" y="44450"/>
                    </a:lnTo>
                    <a:cubicBezTo>
                      <a:pt x="88900" y="51464"/>
                      <a:pt x="83214" y="57150"/>
                      <a:pt x="76200" y="57150"/>
                    </a:cubicBezTo>
                    <a:lnTo>
                      <a:pt x="12700" y="57150"/>
                    </a:lnTo>
                    <a:cubicBezTo>
                      <a:pt x="5686" y="57150"/>
                      <a:pt x="0" y="51464"/>
                      <a:pt x="0" y="44450"/>
                    </a:cubicBezTo>
                    <a:lnTo>
                      <a:pt x="0" y="0"/>
                    </a:lnTo>
                  </a:path>
                </a:pathLst>
              </a:custGeom>
              <a:noFill/>
              <a:ln w="12700">
                <a:solidFill>
                  <a:srgbClr val="A3381F"/>
                </a:solidFill>
              </a:ln>
            </p:spPr>
          </p:sp>
          <p:sp>
            <p:nvSpPr>
              <p:cNvPr id="76" name="Freeform 76"/>
              <p:cNvSpPr/>
              <p:nvPr/>
            </p:nvSpPr>
            <p:spPr>
              <a:xfrm>
                <a:off x="2451100" y="3066832"/>
                <a:ext cx="88900" cy="31968"/>
              </a:xfrm>
              <a:custGeom>
                <a:avLst/>
                <a:gdLst/>
                <a:ahLst/>
                <a:cxnLst/>
                <a:rect l="l" t="t" r="r" b="b"/>
                <a:pathLst>
                  <a:path w="88900" h="31968">
                    <a:moveTo>
                      <a:pt x="15875" y="31968"/>
                    </a:moveTo>
                    <a:cubicBezTo>
                      <a:pt x="7107" y="31968"/>
                      <a:pt x="0" y="24861"/>
                      <a:pt x="0" y="16093"/>
                    </a:cubicBezTo>
                    <a:cubicBezTo>
                      <a:pt x="0" y="7326"/>
                      <a:pt x="7107" y="218"/>
                      <a:pt x="15875" y="218"/>
                    </a:cubicBezTo>
                    <a:cubicBezTo>
                      <a:pt x="28411" y="0"/>
                      <a:pt x="39749" y="12598"/>
                      <a:pt x="44450" y="31968"/>
                    </a:cubicBezTo>
                    <a:cubicBezTo>
                      <a:pt x="49151" y="12598"/>
                      <a:pt x="60489" y="0"/>
                      <a:pt x="73025" y="218"/>
                    </a:cubicBezTo>
                    <a:cubicBezTo>
                      <a:pt x="81793" y="218"/>
                      <a:pt x="88900" y="7326"/>
                      <a:pt x="88900" y="16093"/>
                    </a:cubicBezTo>
                    <a:cubicBezTo>
                      <a:pt x="88900" y="24861"/>
                      <a:pt x="81793" y="31968"/>
                      <a:pt x="73025" y="31968"/>
                    </a:cubicBezTo>
                  </a:path>
                </a:pathLst>
              </a:custGeom>
              <a:noFill/>
              <a:ln w="12700">
                <a:solidFill>
                  <a:srgbClr val="A3381F"/>
                </a:solidFill>
              </a:ln>
            </p:spPr>
          </p:sp>
        </p:grpSp>
        <p:sp>
          <p:nvSpPr>
            <p:cNvPr id="78" name="TextBox 78"/>
            <p:cNvSpPr txBox="1"/>
            <p:nvPr/>
          </p:nvSpPr>
          <p:spPr>
            <a:xfrm>
              <a:off x="2662238" y="3086814"/>
              <a:ext cx="222225"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权益</a:t>
              </a:r>
            </a:p>
          </p:txBody>
        </p:sp>
      </p:grpSp>
      <p:sp>
        <p:nvSpPr>
          <p:cNvPr id="80" name="Freeform 80"/>
          <p:cNvSpPr/>
          <p:nvPr/>
        </p:nvSpPr>
        <p:spPr>
          <a:xfrm>
            <a:off x="3971925" y="2266950"/>
            <a:ext cx="133350" cy="152400"/>
          </a:xfrm>
          <a:prstGeom prst="rightArrow">
            <a:avLst/>
          </a:prstGeom>
          <a:solidFill>
            <a:srgbClr val="A3381F"/>
          </a:solidFill>
          <a:ln>
            <a:noFill/>
          </a:ln>
        </p:spPr>
      </p:sp>
      <p:grpSp>
        <p:nvGrpSpPr>
          <p:cNvPr id="100" name="phase-3"/>
          <p:cNvGrpSpPr/>
          <p:nvPr/>
        </p:nvGrpSpPr>
        <p:grpSpPr>
          <a:xfrm>
            <a:off x="4114800" y="800100"/>
            <a:ext cx="1714500" cy="3009900"/>
            <a:chOff x="4114800" y="800100"/>
            <a:chExt cx="1714500" cy="3009900"/>
          </a:xfrm>
        </p:grpSpPr>
        <p:sp>
          <p:nvSpPr>
            <p:cNvPr id="81" name="Ellipse 81"/>
            <p:cNvSpPr/>
            <p:nvPr/>
          </p:nvSpPr>
          <p:spPr>
            <a:xfrm>
              <a:off x="4819650" y="800100"/>
              <a:ext cx="304800" cy="304800"/>
            </a:xfrm>
            <a:prstGeom prst="ellipse">
              <a:avLst/>
            </a:prstGeom>
            <a:solidFill>
              <a:srgbClr val="A3381F"/>
            </a:solidFill>
            <a:ln>
              <a:noFill/>
            </a:ln>
          </p:spPr>
        </p:sp>
        <p:sp>
          <p:nvSpPr>
            <p:cNvPr id="82" name="TextBox 82"/>
            <p:cNvSpPr txBox="1"/>
            <p:nvPr/>
          </p:nvSpPr>
          <p:spPr>
            <a:xfrm>
              <a:off x="4922799" y="8882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83" name="Rectangle 83"/>
            <p:cNvSpPr/>
            <p:nvPr/>
          </p:nvSpPr>
          <p:spPr>
            <a:xfrm>
              <a:off x="4114800" y="1181100"/>
              <a:ext cx="1714500" cy="2628900"/>
            </a:xfrm>
            <a:prstGeom prst="roundRect">
              <a:avLst>
                <a:gd name="adj" fmla="val 5556"/>
              </a:avLst>
            </a:prstGeom>
            <a:solidFill>
              <a:srgbClr val="FFFFFF"/>
            </a:solidFill>
            <a:ln w="9525">
              <a:solidFill>
                <a:srgbClr val="E6D9C0"/>
              </a:solidFill>
            </a:ln>
          </p:spPr>
        </p:sp>
        <p:sp>
          <p:nvSpPr>
            <p:cNvPr id="84" name="Rectangle 84"/>
            <p:cNvSpPr/>
            <p:nvPr/>
          </p:nvSpPr>
          <p:spPr>
            <a:xfrm>
              <a:off x="4114800" y="1181100"/>
              <a:ext cx="1714500" cy="304800"/>
            </a:xfrm>
            <a:prstGeom prst="roundRect">
              <a:avLst>
                <a:gd name="adj" fmla="val 31250"/>
              </a:avLst>
            </a:prstGeom>
            <a:solidFill>
              <a:srgbClr val="A3381F"/>
            </a:solidFill>
            <a:ln>
              <a:noFill/>
            </a:ln>
          </p:spPr>
        </p:sp>
        <p:sp>
          <p:nvSpPr>
            <p:cNvPr id="85" name="Rectangle 85"/>
            <p:cNvSpPr/>
            <p:nvPr/>
          </p:nvSpPr>
          <p:spPr>
            <a:xfrm>
              <a:off x="4114800" y="1352550"/>
              <a:ext cx="1714500" cy="133350"/>
            </a:xfrm>
            <a:prstGeom prst="rect">
              <a:avLst/>
            </a:prstGeom>
            <a:solidFill>
              <a:srgbClr val="A3381F"/>
            </a:solidFill>
            <a:ln>
              <a:noFill/>
            </a:ln>
          </p:spPr>
        </p:sp>
        <p:sp>
          <p:nvSpPr>
            <p:cNvPr id="86" name="TextBox 86"/>
            <p:cNvSpPr txBox="1"/>
            <p:nvPr/>
          </p:nvSpPr>
          <p:spPr>
            <a:xfrm>
              <a:off x="4684014" y="12773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平台建设</a:t>
              </a:r>
            </a:p>
          </p:txBody>
        </p:sp>
        <p:grpSp>
          <p:nvGrpSpPr>
            <p:cNvPr id="90" name="Group 90"/>
            <p:cNvGrpSpPr/>
            <p:nvPr/>
          </p:nvGrpSpPr>
          <p:grpSpPr>
            <a:xfrm>
              <a:off x="4311650" y="1790700"/>
              <a:ext cx="101600" cy="114300"/>
              <a:chOff x="4311650" y="1790700"/>
              <a:chExt cx="101600" cy="114300"/>
            </a:xfrm>
          </p:grpSpPr>
          <p:sp>
            <p:nvSpPr>
              <p:cNvPr id="87" name="Freeform 87"/>
              <p:cNvSpPr/>
              <p:nvPr/>
            </p:nvSpPr>
            <p:spPr>
              <a:xfrm>
                <a:off x="4311650" y="179070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A3381F"/>
                </a:solidFill>
              </a:ln>
            </p:spPr>
          </p:sp>
          <p:sp>
            <p:nvSpPr>
              <p:cNvPr id="88" name="Freeform 88"/>
              <p:cNvSpPr/>
              <p:nvPr/>
            </p:nvSpPr>
            <p:spPr>
              <a:xfrm>
                <a:off x="4311650" y="18097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A3381F"/>
                </a:solidFill>
              </a:ln>
            </p:spPr>
          </p:sp>
          <p:sp>
            <p:nvSpPr>
              <p:cNvPr id="89" name="Freeform 89"/>
              <p:cNvSpPr/>
              <p:nvPr/>
            </p:nvSpPr>
            <p:spPr>
              <a:xfrm>
                <a:off x="4311650" y="184785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A3381F"/>
                </a:solidFill>
              </a:ln>
            </p:spPr>
          </p:sp>
        </p:grpSp>
        <p:sp>
          <p:nvSpPr>
            <p:cNvPr id="91" name="TextBox 91"/>
            <p:cNvSpPr txBox="1"/>
            <p:nvPr/>
          </p:nvSpPr>
          <p:spPr>
            <a:xfrm>
              <a:off x="4529138" y="181046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数据整合</a:t>
              </a:r>
            </a:p>
          </p:txBody>
        </p:sp>
        <p:grpSp>
          <p:nvGrpSpPr>
            <p:cNvPr id="94" name="Group 94"/>
            <p:cNvGrpSpPr/>
            <p:nvPr/>
          </p:nvGrpSpPr>
          <p:grpSpPr>
            <a:xfrm>
              <a:off x="4305300" y="2266950"/>
              <a:ext cx="115805" cy="115805"/>
              <a:chOff x="4305300" y="2266950"/>
              <a:chExt cx="115805" cy="115805"/>
            </a:xfrm>
          </p:grpSpPr>
          <p:sp>
            <p:nvSpPr>
              <p:cNvPr id="92" name="Freeform 92"/>
              <p:cNvSpPr/>
              <p:nvPr/>
            </p:nvSpPr>
            <p:spPr>
              <a:xfrm>
                <a:off x="4327525" y="2289175"/>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C26D5E"/>
                </a:solidFill>
              </a:ln>
            </p:spPr>
          </p:sp>
          <p:sp>
            <p:nvSpPr>
              <p:cNvPr id="93" name="Freeform 93"/>
              <p:cNvSpPr/>
              <p:nvPr/>
            </p:nvSpPr>
            <p:spPr>
              <a:xfrm>
                <a:off x="4305300" y="2266950"/>
                <a:ext cx="115805" cy="115805"/>
              </a:xfrm>
              <a:custGeom>
                <a:avLst/>
                <a:gdLst/>
                <a:ahLst/>
                <a:cxnLst/>
                <a:rect l="l" t="t" r="r" b="b"/>
                <a:pathLst>
                  <a:path w="115805" h="115805">
                    <a:moveTo>
                      <a:pt x="0" y="19050"/>
                    </a:moveTo>
                    <a:lnTo>
                      <a:pt x="0" y="51892"/>
                    </a:lnTo>
                    <a:cubicBezTo>
                      <a:pt x="1" y="55260"/>
                      <a:pt x="1339" y="58490"/>
                      <a:pt x="3721" y="60871"/>
                    </a:cubicBezTo>
                    <a:lnTo>
                      <a:pt x="52680" y="109830"/>
                    </a:lnTo>
                    <a:cubicBezTo>
                      <a:pt x="58656" y="115805"/>
                      <a:pt x="68344" y="115805"/>
                      <a:pt x="74320" y="109830"/>
                    </a:cubicBezTo>
                    <a:lnTo>
                      <a:pt x="109830" y="74320"/>
                    </a:lnTo>
                    <a:cubicBezTo>
                      <a:pt x="115805" y="68344"/>
                      <a:pt x="115805" y="58656"/>
                      <a:pt x="109830" y="52680"/>
                    </a:cubicBezTo>
                    <a:lnTo>
                      <a:pt x="60871" y="3721"/>
                    </a:lnTo>
                    <a:cubicBezTo>
                      <a:pt x="58490" y="1339"/>
                      <a:pt x="55260" y="1"/>
                      <a:pt x="51892" y="0"/>
                    </a:cubicBezTo>
                    <a:lnTo>
                      <a:pt x="19050" y="0"/>
                    </a:lnTo>
                    <a:cubicBezTo>
                      <a:pt x="13998" y="0"/>
                      <a:pt x="9152" y="2007"/>
                      <a:pt x="5580" y="5580"/>
                    </a:cubicBezTo>
                    <a:cubicBezTo>
                      <a:pt x="2007" y="9152"/>
                      <a:pt x="0" y="13998"/>
                      <a:pt x="0" y="19050"/>
                    </a:cubicBezTo>
                  </a:path>
                </a:pathLst>
              </a:custGeom>
              <a:noFill/>
              <a:ln w="12700">
                <a:solidFill>
                  <a:srgbClr val="C26D5E"/>
                </a:solidFill>
              </a:ln>
            </p:spPr>
          </p:sp>
        </p:grpSp>
        <p:sp>
          <p:nvSpPr>
            <p:cNvPr id="95" name="TextBox 95"/>
            <p:cNvSpPr txBox="1"/>
            <p:nvPr/>
          </p:nvSpPr>
          <p:spPr>
            <a:xfrm>
              <a:off x="4529138" y="228671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标签开发</a:t>
              </a:r>
            </a:p>
          </p:txBody>
        </p:sp>
        <p:grpSp>
          <p:nvGrpSpPr>
            <p:cNvPr id="98" name="Group 98"/>
            <p:cNvGrpSpPr/>
            <p:nvPr/>
          </p:nvGrpSpPr>
          <p:grpSpPr>
            <a:xfrm>
              <a:off x="4302512" y="2740412"/>
              <a:ext cx="119875" cy="119875"/>
              <a:chOff x="4302512" y="2740412"/>
              <a:chExt cx="119875" cy="119875"/>
            </a:xfrm>
          </p:grpSpPr>
          <p:sp>
            <p:nvSpPr>
              <p:cNvPr id="96" name="Freeform 96"/>
              <p:cNvSpPr/>
              <p:nvPr/>
            </p:nvSpPr>
            <p:spPr>
              <a:xfrm>
                <a:off x="4302512" y="274041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A3381F"/>
                </a:solidFill>
              </a:ln>
            </p:spPr>
          </p:sp>
          <p:sp>
            <p:nvSpPr>
              <p:cNvPr id="97" name="Freeform 97"/>
              <p:cNvSpPr/>
              <p:nvPr/>
            </p:nvSpPr>
            <p:spPr>
              <a:xfrm>
                <a:off x="4343400" y="27813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A3381F"/>
                </a:solidFill>
              </a:ln>
            </p:spPr>
          </p:sp>
        </p:grpSp>
        <p:sp>
          <p:nvSpPr>
            <p:cNvPr id="99" name="TextBox 99"/>
            <p:cNvSpPr txBox="1"/>
            <p:nvPr/>
          </p:nvSpPr>
          <p:spPr>
            <a:xfrm>
              <a:off x="4529138" y="276296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系统改造</a:t>
              </a:r>
            </a:p>
          </p:txBody>
        </p:sp>
      </p:grpSp>
      <p:sp>
        <p:nvSpPr>
          <p:cNvPr id="101" name="Freeform 101"/>
          <p:cNvSpPr/>
          <p:nvPr/>
        </p:nvSpPr>
        <p:spPr>
          <a:xfrm>
            <a:off x="5838825" y="2266950"/>
            <a:ext cx="133350" cy="152400"/>
          </a:xfrm>
          <a:prstGeom prst="rightArrow">
            <a:avLst/>
          </a:prstGeom>
          <a:solidFill>
            <a:srgbClr val="A3381F"/>
          </a:solidFill>
          <a:ln>
            <a:noFill/>
          </a:ln>
        </p:spPr>
      </p:sp>
      <p:grpSp>
        <p:nvGrpSpPr>
          <p:cNvPr id="135" name="phase-4"/>
          <p:cNvGrpSpPr/>
          <p:nvPr/>
        </p:nvGrpSpPr>
        <p:grpSpPr>
          <a:xfrm>
            <a:off x="5981700" y="800100"/>
            <a:ext cx="1714500" cy="3009900"/>
            <a:chOff x="5981700" y="800100"/>
            <a:chExt cx="1714500" cy="3009900"/>
          </a:xfrm>
        </p:grpSpPr>
        <p:sp>
          <p:nvSpPr>
            <p:cNvPr id="102" name="Ellipse 102"/>
            <p:cNvSpPr/>
            <p:nvPr/>
          </p:nvSpPr>
          <p:spPr>
            <a:xfrm>
              <a:off x="6686550" y="800100"/>
              <a:ext cx="304800" cy="304800"/>
            </a:xfrm>
            <a:prstGeom prst="ellipse">
              <a:avLst/>
            </a:prstGeom>
            <a:solidFill>
              <a:srgbClr val="A3381F"/>
            </a:solidFill>
            <a:ln>
              <a:noFill/>
            </a:ln>
          </p:spPr>
        </p:sp>
        <p:sp>
          <p:nvSpPr>
            <p:cNvPr id="103" name="TextBox 103"/>
            <p:cNvSpPr txBox="1"/>
            <p:nvPr/>
          </p:nvSpPr>
          <p:spPr>
            <a:xfrm>
              <a:off x="6789699" y="8882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04" name="Rectangle 104"/>
            <p:cNvSpPr/>
            <p:nvPr/>
          </p:nvSpPr>
          <p:spPr>
            <a:xfrm>
              <a:off x="5981700" y="1181100"/>
              <a:ext cx="1714500" cy="2628900"/>
            </a:xfrm>
            <a:prstGeom prst="roundRect">
              <a:avLst>
                <a:gd name="adj" fmla="val 5556"/>
              </a:avLst>
            </a:prstGeom>
            <a:solidFill>
              <a:srgbClr val="FFFFFF"/>
            </a:solidFill>
            <a:ln w="9525">
              <a:solidFill>
                <a:srgbClr val="E6D9C0"/>
              </a:solidFill>
            </a:ln>
          </p:spPr>
        </p:sp>
        <p:sp>
          <p:nvSpPr>
            <p:cNvPr id="105" name="Rectangle 105"/>
            <p:cNvSpPr/>
            <p:nvPr/>
          </p:nvSpPr>
          <p:spPr>
            <a:xfrm>
              <a:off x="5981700" y="1181100"/>
              <a:ext cx="1714500" cy="304800"/>
            </a:xfrm>
            <a:prstGeom prst="roundRect">
              <a:avLst>
                <a:gd name="adj" fmla="val 31250"/>
              </a:avLst>
            </a:prstGeom>
            <a:solidFill>
              <a:srgbClr val="A3381F"/>
            </a:solidFill>
            <a:ln>
              <a:noFill/>
            </a:ln>
          </p:spPr>
        </p:sp>
        <p:sp>
          <p:nvSpPr>
            <p:cNvPr id="106" name="Rectangle 106"/>
            <p:cNvSpPr/>
            <p:nvPr/>
          </p:nvSpPr>
          <p:spPr>
            <a:xfrm>
              <a:off x="5981700" y="1352550"/>
              <a:ext cx="1714500" cy="133350"/>
            </a:xfrm>
            <a:prstGeom prst="rect">
              <a:avLst/>
            </a:prstGeom>
            <a:solidFill>
              <a:srgbClr val="A3381F"/>
            </a:solidFill>
            <a:ln>
              <a:noFill/>
            </a:ln>
          </p:spPr>
        </p:sp>
        <p:sp>
          <p:nvSpPr>
            <p:cNvPr id="107" name="TextBox 107"/>
            <p:cNvSpPr txBox="1"/>
            <p:nvPr/>
          </p:nvSpPr>
          <p:spPr>
            <a:xfrm>
              <a:off x="6550914" y="12773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试点验证</a:t>
              </a:r>
            </a:p>
          </p:txBody>
        </p:sp>
        <p:sp>
          <p:nvSpPr>
            <p:cNvPr id="108" name="Ellipse 108"/>
            <p:cNvSpPr/>
            <p:nvPr/>
          </p:nvSpPr>
          <p:spPr>
            <a:xfrm>
              <a:off x="6629400" y="1619250"/>
              <a:ext cx="419100" cy="419100"/>
            </a:xfrm>
            <a:prstGeom prst="ellipse">
              <a:avLst/>
            </a:prstGeom>
            <a:solidFill>
              <a:srgbClr val="FBF4E7"/>
            </a:solidFill>
            <a:ln w="14288">
              <a:solidFill>
                <a:srgbClr val="C26D5E"/>
              </a:solidFill>
            </a:ln>
          </p:spPr>
        </p:sp>
        <p:grpSp>
          <p:nvGrpSpPr>
            <p:cNvPr id="117" name="Group 117"/>
            <p:cNvGrpSpPr/>
            <p:nvPr/>
          </p:nvGrpSpPr>
          <p:grpSpPr>
            <a:xfrm>
              <a:off x="6753225" y="1743075"/>
              <a:ext cx="171450" cy="180975"/>
              <a:chOff x="6753225" y="1743075"/>
              <a:chExt cx="171450" cy="180975"/>
            </a:xfrm>
          </p:grpSpPr>
          <p:sp>
            <p:nvSpPr>
              <p:cNvPr id="109" name="Freeform 109"/>
              <p:cNvSpPr/>
              <p:nvPr/>
            </p:nvSpPr>
            <p:spPr>
              <a:xfrm>
                <a:off x="6753225" y="1914525"/>
                <a:ext cx="171450" cy="9525"/>
              </a:xfrm>
              <a:custGeom>
                <a:avLst/>
                <a:gdLst/>
                <a:ahLst/>
                <a:cxnLst/>
                <a:rect l="l" t="t" r="r" b="b"/>
                <a:pathLst>
                  <a:path w="171450" h="9525">
                    <a:moveTo>
                      <a:pt x="0" y="0"/>
                    </a:moveTo>
                    <a:lnTo>
                      <a:pt x="171450" y="0"/>
                    </a:lnTo>
                  </a:path>
                </a:pathLst>
              </a:custGeom>
              <a:noFill/>
              <a:ln w="19050">
                <a:solidFill>
                  <a:srgbClr val="A3381F"/>
                </a:solidFill>
              </a:ln>
            </p:spPr>
          </p:sp>
          <p:sp>
            <p:nvSpPr>
              <p:cNvPr id="110" name="Freeform 110"/>
              <p:cNvSpPr/>
              <p:nvPr/>
            </p:nvSpPr>
            <p:spPr>
              <a:xfrm>
                <a:off x="6753225" y="1809750"/>
                <a:ext cx="171450" cy="9525"/>
              </a:xfrm>
              <a:custGeom>
                <a:avLst/>
                <a:gdLst/>
                <a:ahLst/>
                <a:cxnLst/>
                <a:rect l="l" t="t" r="r" b="b"/>
                <a:pathLst>
                  <a:path w="171450" h="9525">
                    <a:moveTo>
                      <a:pt x="0" y="0"/>
                    </a:moveTo>
                    <a:lnTo>
                      <a:pt x="171450" y="0"/>
                    </a:lnTo>
                  </a:path>
                </a:pathLst>
              </a:custGeom>
              <a:noFill/>
              <a:ln w="19050">
                <a:solidFill>
                  <a:srgbClr val="A3381F"/>
                </a:solidFill>
              </a:ln>
            </p:spPr>
          </p:sp>
          <p:sp>
            <p:nvSpPr>
              <p:cNvPr id="111" name="Freeform 111"/>
              <p:cNvSpPr/>
              <p:nvPr/>
            </p:nvSpPr>
            <p:spPr>
              <a:xfrm>
                <a:off x="6772275" y="1743075"/>
                <a:ext cx="133350" cy="28575"/>
              </a:xfrm>
              <a:custGeom>
                <a:avLst/>
                <a:gdLst/>
                <a:ahLst/>
                <a:cxnLst/>
                <a:rect l="l" t="t" r="r" b="b"/>
                <a:pathLst>
                  <a:path w="133350" h="28575">
                    <a:moveTo>
                      <a:pt x="0" y="28575"/>
                    </a:moveTo>
                    <a:lnTo>
                      <a:pt x="66675" y="0"/>
                    </a:lnTo>
                    <a:lnTo>
                      <a:pt x="133350" y="28575"/>
                    </a:lnTo>
                  </a:path>
                </a:pathLst>
              </a:custGeom>
              <a:noFill/>
              <a:ln w="19050">
                <a:solidFill>
                  <a:srgbClr val="A3381F"/>
                </a:solidFill>
              </a:ln>
            </p:spPr>
          </p:sp>
          <p:sp>
            <p:nvSpPr>
              <p:cNvPr id="112" name="Freeform 112"/>
              <p:cNvSpPr/>
              <p:nvPr/>
            </p:nvSpPr>
            <p:spPr>
              <a:xfrm>
                <a:off x="6762750" y="1809750"/>
                <a:ext cx="9525" cy="104775"/>
              </a:xfrm>
              <a:custGeom>
                <a:avLst/>
                <a:gdLst/>
                <a:ahLst/>
                <a:cxnLst/>
                <a:rect l="l" t="t" r="r" b="b"/>
                <a:pathLst>
                  <a:path w="9525" h="104775">
                    <a:moveTo>
                      <a:pt x="0" y="0"/>
                    </a:moveTo>
                    <a:lnTo>
                      <a:pt x="0" y="104775"/>
                    </a:lnTo>
                  </a:path>
                </a:pathLst>
              </a:custGeom>
              <a:noFill/>
              <a:ln w="19050">
                <a:solidFill>
                  <a:srgbClr val="A3381F"/>
                </a:solidFill>
              </a:ln>
            </p:spPr>
          </p:sp>
          <p:sp>
            <p:nvSpPr>
              <p:cNvPr id="113" name="Freeform 113"/>
              <p:cNvSpPr/>
              <p:nvPr/>
            </p:nvSpPr>
            <p:spPr>
              <a:xfrm>
                <a:off x="6915150" y="1809750"/>
                <a:ext cx="9525" cy="104775"/>
              </a:xfrm>
              <a:custGeom>
                <a:avLst/>
                <a:gdLst/>
                <a:ahLst/>
                <a:cxnLst/>
                <a:rect l="l" t="t" r="r" b="b"/>
                <a:pathLst>
                  <a:path w="9525" h="104775">
                    <a:moveTo>
                      <a:pt x="0" y="0"/>
                    </a:moveTo>
                    <a:lnTo>
                      <a:pt x="0" y="104775"/>
                    </a:lnTo>
                  </a:path>
                </a:pathLst>
              </a:custGeom>
              <a:noFill/>
              <a:ln w="19050">
                <a:solidFill>
                  <a:srgbClr val="A3381F"/>
                </a:solidFill>
              </a:ln>
            </p:spPr>
          </p:sp>
          <p:sp>
            <p:nvSpPr>
              <p:cNvPr id="114" name="Freeform 114"/>
              <p:cNvSpPr/>
              <p:nvPr/>
            </p:nvSpPr>
            <p:spPr>
              <a:xfrm>
                <a:off x="6800850" y="1847850"/>
                <a:ext cx="9525" cy="28575"/>
              </a:xfrm>
              <a:custGeom>
                <a:avLst/>
                <a:gdLst/>
                <a:ahLst/>
                <a:cxnLst/>
                <a:rect l="l" t="t" r="r" b="b"/>
                <a:pathLst>
                  <a:path w="9525" h="28575">
                    <a:moveTo>
                      <a:pt x="0" y="0"/>
                    </a:moveTo>
                    <a:lnTo>
                      <a:pt x="0" y="28575"/>
                    </a:lnTo>
                  </a:path>
                </a:pathLst>
              </a:custGeom>
              <a:noFill/>
              <a:ln w="19050">
                <a:solidFill>
                  <a:srgbClr val="A3381F"/>
                </a:solidFill>
              </a:ln>
            </p:spPr>
          </p:sp>
          <p:sp>
            <p:nvSpPr>
              <p:cNvPr id="115" name="Freeform 115"/>
              <p:cNvSpPr/>
              <p:nvPr/>
            </p:nvSpPr>
            <p:spPr>
              <a:xfrm>
                <a:off x="6838950" y="1847850"/>
                <a:ext cx="9525" cy="28575"/>
              </a:xfrm>
              <a:custGeom>
                <a:avLst/>
                <a:gdLst/>
                <a:ahLst/>
                <a:cxnLst/>
                <a:rect l="l" t="t" r="r" b="b"/>
                <a:pathLst>
                  <a:path w="9525" h="28575">
                    <a:moveTo>
                      <a:pt x="0" y="0"/>
                    </a:moveTo>
                    <a:lnTo>
                      <a:pt x="0" y="28575"/>
                    </a:lnTo>
                  </a:path>
                </a:pathLst>
              </a:custGeom>
              <a:noFill/>
              <a:ln w="19050">
                <a:solidFill>
                  <a:srgbClr val="A3381F"/>
                </a:solidFill>
              </a:ln>
            </p:spPr>
          </p:sp>
          <p:sp>
            <p:nvSpPr>
              <p:cNvPr id="116" name="Freeform 116"/>
              <p:cNvSpPr/>
              <p:nvPr/>
            </p:nvSpPr>
            <p:spPr>
              <a:xfrm>
                <a:off x="6877050" y="1847850"/>
                <a:ext cx="9525" cy="28575"/>
              </a:xfrm>
              <a:custGeom>
                <a:avLst/>
                <a:gdLst/>
                <a:ahLst/>
                <a:cxnLst/>
                <a:rect l="l" t="t" r="r" b="b"/>
                <a:pathLst>
                  <a:path w="9525" h="28575">
                    <a:moveTo>
                      <a:pt x="0" y="0"/>
                    </a:moveTo>
                    <a:lnTo>
                      <a:pt x="0" y="28575"/>
                    </a:lnTo>
                  </a:path>
                </a:pathLst>
              </a:custGeom>
              <a:noFill/>
              <a:ln w="19050">
                <a:solidFill>
                  <a:srgbClr val="A3381F"/>
                </a:solidFill>
              </a:ln>
            </p:spPr>
          </p:sp>
        </p:grpSp>
        <p:sp>
          <p:nvSpPr>
            <p:cNvPr id="118" name="TextBox 118"/>
            <p:cNvSpPr txBox="1"/>
            <p:nvPr/>
          </p:nvSpPr>
          <p:spPr>
            <a:xfrm>
              <a:off x="6636106" y="2104549"/>
              <a:ext cx="405689" cy="190690"/>
            </a:xfrm>
            <a:prstGeom prst="rect">
              <a:avLst/>
            </a:prstGeom>
            <a:noFill/>
            <a:ln>
              <a:noFill/>
            </a:ln>
          </p:spPr>
          <p:txBody>
            <a:bodyPr wrap="none" lIns="0" tIns="0" rIns="0" bIns="0" anchor="t" anchorCtr="0">
              <a:spAutoFit/>
            </a:bodyPr>
            <a:lstStyle/>
            <a:p>
              <a:pPr algn="ctr"/>
              <a:r>
                <a:rPr lang="zh-CN" sz="980" b="1" dirty="0">
                  <a:solidFill>
                    <a:srgbClr val="A3381F"/>
                  </a:solidFill>
                  <a:latin typeface="+mn-lt"/>
                  <a:ea typeface="+mn-ea"/>
                  <a:cs typeface="+mn-cs"/>
                </a:rPr>
                <a:t>分行＋</a:t>
              </a:r>
            </a:p>
          </p:txBody>
        </p:sp>
        <p:sp>
          <p:nvSpPr>
            <p:cNvPr id="119" name="Line 119"/>
            <p:cNvSpPr/>
            <p:nvPr/>
          </p:nvSpPr>
          <p:spPr>
            <a:xfrm>
              <a:off x="6838950" y="2286000"/>
              <a:ext cx="9525" cy="114300"/>
            </a:xfrm>
            <a:custGeom>
              <a:avLst/>
              <a:gdLst/>
              <a:ahLst/>
              <a:cxnLst/>
              <a:rect l="l" t="t" r="r" b="b"/>
              <a:pathLst>
                <a:path w="9525" h="114300">
                  <a:moveTo>
                    <a:pt x="0" y="0"/>
                  </a:moveTo>
                  <a:lnTo>
                    <a:pt x="0" y="114300"/>
                  </a:lnTo>
                </a:path>
              </a:pathLst>
            </a:custGeom>
            <a:noFill/>
            <a:ln w="9525">
              <a:solidFill>
                <a:srgbClr val="C26D5E"/>
              </a:solidFill>
            </a:ln>
          </p:spPr>
        </p:sp>
        <p:sp>
          <p:nvSpPr>
            <p:cNvPr id="120" name="Rectangle 120"/>
            <p:cNvSpPr/>
            <p:nvPr/>
          </p:nvSpPr>
          <p:spPr>
            <a:xfrm>
              <a:off x="6153150" y="2438400"/>
              <a:ext cx="1371600" cy="228600"/>
            </a:xfrm>
            <a:prstGeom prst="roundRect">
              <a:avLst>
                <a:gd name="adj" fmla="val 50000"/>
              </a:avLst>
            </a:prstGeom>
            <a:solidFill>
              <a:srgbClr val="FBF7EF"/>
            </a:solidFill>
            <a:ln w="9525">
              <a:solidFill>
                <a:srgbClr val="E6D9C0"/>
              </a:solidFill>
            </a:ln>
          </p:spPr>
        </p:sp>
        <p:grpSp>
          <p:nvGrpSpPr>
            <p:cNvPr id="124" name="Group 124"/>
            <p:cNvGrpSpPr/>
            <p:nvPr/>
          </p:nvGrpSpPr>
          <p:grpSpPr>
            <a:xfrm>
              <a:off x="6303169" y="2513806"/>
              <a:ext cx="100012" cy="77787"/>
              <a:chOff x="6303169" y="2513806"/>
              <a:chExt cx="100012" cy="77787"/>
            </a:xfrm>
          </p:grpSpPr>
          <p:sp>
            <p:nvSpPr>
              <p:cNvPr id="121" name="Freeform 121"/>
              <p:cNvSpPr/>
              <p:nvPr/>
            </p:nvSpPr>
            <p:spPr>
              <a:xfrm>
                <a:off x="6303169" y="2513806"/>
                <a:ext cx="77787" cy="55562"/>
              </a:xfrm>
              <a:custGeom>
                <a:avLst/>
                <a:gdLst/>
                <a:ahLst/>
                <a:cxnLst/>
                <a:rect l="l" t="t" r="r" b="b"/>
                <a:pathLst>
                  <a:path w="77787" h="55562">
                    <a:moveTo>
                      <a:pt x="22225" y="55562"/>
                    </a:moveTo>
                    <a:lnTo>
                      <a:pt x="5556" y="55562"/>
                    </a:lnTo>
                    <a:cubicBezTo>
                      <a:pt x="2488" y="55562"/>
                      <a:pt x="0" y="53075"/>
                      <a:pt x="0" y="50006"/>
                    </a:cubicBezTo>
                    <a:lnTo>
                      <a:pt x="0" y="5556"/>
                    </a:lnTo>
                    <a:cubicBezTo>
                      <a:pt x="0" y="2488"/>
                      <a:pt x="2488" y="0"/>
                      <a:pt x="5556" y="0"/>
                    </a:cubicBezTo>
                    <a:lnTo>
                      <a:pt x="72231" y="0"/>
                    </a:lnTo>
                    <a:cubicBezTo>
                      <a:pt x="75300" y="0"/>
                      <a:pt x="77787" y="2488"/>
                      <a:pt x="77787" y="5556"/>
                    </a:cubicBezTo>
                    <a:lnTo>
                      <a:pt x="77787" y="22225"/>
                    </a:lnTo>
                  </a:path>
                </a:pathLst>
              </a:custGeom>
              <a:noFill/>
              <a:ln w="11112">
                <a:solidFill>
                  <a:srgbClr val="A24B3C"/>
                </a:solidFill>
              </a:ln>
            </p:spPr>
          </p:sp>
          <p:sp>
            <p:nvSpPr>
              <p:cNvPr id="122" name="Freeform 122"/>
              <p:cNvSpPr/>
              <p:nvPr/>
            </p:nvSpPr>
            <p:spPr>
              <a:xfrm>
                <a:off x="6325394" y="2536031"/>
                <a:ext cx="77787" cy="55562"/>
              </a:xfrm>
              <a:custGeom>
                <a:avLst/>
                <a:gdLst/>
                <a:ahLst/>
                <a:cxnLst/>
                <a:rect l="l" t="t" r="r" b="b"/>
                <a:pathLst>
                  <a:path w="77787" h="55562">
                    <a:moveTo>
                      <a:pt x="0" y="5556"/>
                    </a:moveTo>
                    <a:cubicBezTo>
                      <a:pt x="0" y="2488"/>
                      <a:pt x="2488" y="0"/>
                      <a:pt x="5556" y="0"/>
                    </a:cubicBezTo>
                    <a:lnTo>
                      <a:pt x="72231" y="0"/>
                    </a:lnTo>
                    <a:cubicBezTo>
                      <a:pt x="75300" y="0"/>
                      <a:pt x="77787" y="2488"/>
                      <a:pt x="77787" y="5556"/>
                    </a:cubicBezTo>
                    <a:lnTo>
                      <a:pt x="77787" y="50006"/>
                    </a:lnTo>
                    <a:cubicBezTo>
                      <a:pt x="77787" y="53075"/>
                      <a:pt x="75300" y="55562"/>
                      <a:pt x="72231" y="55562"/>
                    </a:cubicBezTo>
                    <a:lnTo>
                      <a:pt x="5556" y="55562"/>
                    </a:lnTo>
                    <a:cubicBezTo>
                      <a:pt x="2488" y="55562"/>
                      <a:pt x="0" y="53075"/>
                      <a:pt x="0" y="50006"/>
                    </a:cubicBezTo>
                    <a:lnTo>
                      <a:pt x="0" y="5556"/>
                    </a:lnTo>
                  </a:path>
                </a:pathLst>
              </a:custGeom>
              <a:noFill/>
              <a:ln w="11112">
                <a:solidFill>
                  <a:srgbClr val="A24B3C"/>
                </a:solidFill>
              </a:ln>
            </p:spPr>
          </p:sp>
          <p:sp>
            <p:nvSpPr>
              <p:cNvPr id="123" name="Freeform 123"/>
              <p:cNvSpPr/>
              <p:nvPr/>
            </p:nvSpPr>
            <p:spPr>
              <a:xfrm>
                <a:off x="6353175" y="2552700"/>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A24B3C"/>
                </a:solidFill>
              </a:ln>
            </p:spPr>
          </p:sp>
        </p:grpSp>
        <p:sp>
          <p:nvSpPr>
            <p:cNvPr id="125" name="TextBox 125"/>
            <p:cNvSpPr txBox="1"/>
            <p:nvPr/>
          </p:nvSpPr>
          <p:spPr>
            <a:xfrm>
              <a:off x="6727508" y="2509838"/>
              <a:ext cx="413385" cy="147638"/>
            </a:xfrm>
            <a:prstGeom prst="rect">
              <a:avLst/>
            </a:prstGeom>
            <a:noFill/>
            <a:ln>
              <a:noFill/>
            </a:ln>
          </p:spPr>
          <p:txBody>
            <a:bodyPr wrap="none" lIns="0" tIns="0" rIns="0" bIns="0" anchor="t" anchorCtr="0">
              <a:spAutoFit/>
            </a:bodyPr>
            <a:lstStyle/>
            <a:p>
              <a:pPr algn="ctr"/>
              <a:r>
                <a:rPr lang="zh-CN" sz="750" dirty="0">
                  <a:solidFill>
                    <a:srgbClr val="5E3A33"/>
                  </a:solidFill>
                  <a:latin typeface="+mn-lt"/>
                  <a:ea typeface="+mn-ea"/>
                  <a:cs typeface="+mn-cs"/>
                </a:rPr>
                <a:t>代发客群</a:t>
              </a:r>
            </a:p>
          </p:txBody>
        </p:sp>
        <p:sp>
          <p:nvSpPr>
            <p:cNvPr id="126" name="Rectangle 126"/>
            <p:cNvSpPr/>
            <p:nvPr/>
          </p:nvSpPr>
          <p:spPr>
            <a:xfrm>
              <a:off x="6153150" y="2762250"/>
              <a:ext cx="1371600" cy="228600"/>
            </a:xfrm>
            <a:prstGeom prst="roundRect">
              <a:avLst>
                <a:gd name="adj" fmla="val 50000"/>
              </a:avLst>
            </a:prstGeom>
            <a:solidFill>
              <a:srgbClr val="FBF7EF"/>
            </a:solidFill>
            <a:ln w="9525">
              <a:solidFill>
                <a:srgbClr val="E6D9C0"/>
              </a:solidFill>
            </a:ln>
          </p:spPr>
        </p:sp>
        <p:grpSp>
          <p:nvGrpSpPr>
            <p:cNvPr id="130" name="Group 130"/>
            <p:cNvGrpSpPr/>
            <p:nvPr/>
          </p:nvGrpSpPr>
          <p:grpSpPr>
            <a:xfrm>
              <a:off x="6303169" y="2826544"/>
              <a:ext cx="100012" cy="100012"/>
              <a:chOff x="6303169" y="2826544"/>
              <a:chExt cx="100012" cy="100012"/>
            </a:xfrm>
          </p:grpSpPr>
          <p:sp>
            <p:nvSpPr>
              <p:cNvPr id="127" name="Freeform 127"/>
              <p:cNvSpPr/>
              <p:nvPr/>
            </p:nvSpPr>
            <p:spPr>
              <a:xfrm>
                <a:off x="6303169" y="2826544"/>
                <a:ext cx="100012" cy="50006"/>
              </a:xfrm>
              <a:custGeom>
                <a:avLst/>
                <a:gdLst/>
                <a:ahLst/>
                <a:cxnLst/>
                <a:rect l="l" t="t" r="r" b="b"/>
                <a:pathLst>
                  <a:path w="100012" h="50006">
                    <a:moveTo>
                      <a:pt x="11112" y="50006"/>
                    </a:moveTo>
                    <a:lnTo>
                      <a:pt x="0" y="50006"/>
                    </a:lnTo>
                    <a:lnTo>
                      <a:pt x="50006" y="0"/>
                    </a:lnTo>
                    <a:lnTo>
                      <a:pt x="100012" y="50006"/>
                    </a:lnTo>
                    <a:lnTo>
                      <a:pt x="88900" y="50006"/>
                    </a:lnTo>
                  </a:path>
                </a:pathLst>
              </a:custGeom>
              <a:noFill/>
              <a:ln w="11112">
                <a:solidFill>
                  <a:srgbClr val="A24B3C"/>
                </a:solidFill>
              </a:ln>
            </p:spPr>
          </p:sp>
          <p:sp>
            <p:nvSpPr>
              <p:cNvPr id="128" name="Freeform 128"/>
              <p:cNvSpPr/>
              <p:nvPr/>
            </p:nvSpPr>
            <p:spPr>
              <a:xfrm>
                <a:off x="6314281" y="2876550"/>
                <a:ext cx="77787" cy="50006"/>
              </a:xfrm>
              <a:custGeom>
                <a:avLst/>
                <a:gdLst/>
                <a:ahLst/>
                <a:cxnLst/>
                <a:rect l="l" t="t" r="r" b="b"/>
                <a:pathLst>
                  <a:path w="77787" h="50006">
                    <a:moveTo>
                      <a:pt x="0" y="0"/>
                    </a:moveTo>
                    <a:lnTo>
                      <a:pt x="0" y="38894"/>
                    </a:lnTo>
                    <a:cubicBezTo>
                      <a:pt x="0" y="45031"/>
                      <a:pt x="4975" y="50006"/>
                      <a:pt x="11112" y="50006"/>
                    </a:cubicBezTo>
                    <a:lnTo>
                      <a:pt x="66675" y="50006"/>
                    </a:lnTo>
                    <a:cubicBezTo>
                      <a:pt x="72812" y="50006"/>
                      <a:pt x="77787" y="45031"/>
                      <a:pt x="77787" y="38894"/>
                    </a:cubicBezTo>
                    <a:lnTo>
                      <a:pt x="77787" y="0"/>
                    </a:lnTo>
                  </a:path>
                </a:pathLst>
              </a:custGeom>
              <a:noFill/>
              <a:ln w="11112">
                <a:solidFill>
                  <a:srgbClr val="A24B3C"/>
                </a:solidFill>
              </a:ln>
            </p:spPr>
          </p:sp>
          <p:sp>
            <p:nvSpPr>
              <p:cNvPr id="129" name="Freeform 129"/>
              <p:cNvSpPr/>
              <p:nvPr/>
            </p:nvSpPr>
            <p:spPr>
              <a:xfrm>
                <a:off x="6336506" y="2882106"/>
                <a:ext cx="33337" cy="44450"/>
              </a:xfrm>
              <a:custGeom>
                <a:avLst/>
                <a:gdLst/>
                <a:ahLst/>
                <a:cxnLst/>
                <a:rect l="l" t="t" r="r" b="b"/>
                <a:pathLst>
                  <a:path w="33337" h="44450">
                    <a:moveTo>
                      <a:pt x="0" y="44450"/>
                    </a:moveTo>
                    <a:lnTo>
                      <a:pt x="0" y="11112"/>
                    </a:lnTo>
                    <a:cubicBezTo>
                      <a:pt x="0" y="4975"/>
                      <a:pt x="4975" y="0"/>
                      <a:pt x="11112" y="0"/>
                    </a:cubicBezTo>
                    <a:lnTo>
                      <a:pt x="22225" y="0"/>
                    </a:lnTo>
                    <a:cubicBezTo>
                      <a:pt x="28362" y="0"/>
                      <a:pt x="33337" y="4975"/>
                      <a:pt x="33337" y="11112"/>
                    </a:cubicBezTo>
                    <a:lnTo>
                      <a:pt x="33337" y="44450"/>
                    </a:lnTo>
                  </a:path>
                </a:pathLst>
              </a:custGeom>
              <a:noFill/>
              <a:ln w="11112">
                <a:solidFill>
                  <a:srgbClr val="A24B3C"/>
                </a:solidFill>
              </a:ln>
            </p:spPr>
          </p:sp>
        </p:grpSp>
        <p:sp>
          <p:nvSpPr>
            <p:cNvPr id="131" name="TextBox 131"/>
            <p:cNvSpPr txBox="1"/>
            <p:nvPr/>
          </p:nvSpPr>
          <p:spPr>
            <a:xfrm>
              <a:off x="6727508" y="2833688"/>
              <a:ext cx="413385" cy="147638"/>
            </a:xfrm>
            <a:prstGeom prst="rect">
              <a:avLst/>
            </a:prstGeom>
            <a:noFill/>
            <a:ln>
              <a:noFill/>
            </a:ln>
          </p:spPr>
          <p:txBody>
            <a:bodyPr wrap="none" lIns="0" tIns="0" rIns="0" bIns="0" anchor="t" anchorCtr="0">
              <a:spAutoFit/>
            </a:bodyPr>
            <a:lstStyle/>
            <a:p>
              <a:pPr algn="ctr"/>
              <a:r>
                <a:rPr lang="zh-CN" sz="750" dirty="0">
                  <a:solidFill>
                    <a:srgbClr val="5E3A33"/>
                  </a:solidFill>
                  <a:latin typeface="+mn-lt"/>
                  <a:ea typeface="+mn-ea"/>
                  <a:cs typeface="+mn-cs"/>
                </a:rPr>
                <a:t>按揭客群</a:t>
              </a:r>
            </a:p>
          </p:txBody>
        </p:sp>
        <p:sp>
          <p:nvSpPr>
            <p:cNvPr id="132" name="Rectangle 132"/>
            <p:cNvSpPr/>
            <p:nvPr/>
          </p:nvSpPr>
          <p:spPr>
            <a:xfrm>
              <a:off x="6153150" y="3086100"/>
              <a:ext cx="1371600" cy="228600"/>
            </a:xfrm>
            <a:prstGeom prst="roundRect">
              <a:avLst>
                <a:gd name="adj" fmla="val 50000"/>
              </a:avLst>
            </a:prstGeom>
            <a:solidFill>
              <a:srgbClr val="FBF7EF"/>
            </a:solidFill>
            <a:ln w="9525">
              <a:solidFill>
                <a:srgbClr val="E6D9C0"/>
              </a:solidFill>
            </a:ln>
          </p:spPr>
        </p:sp>
        <p:sp>
          <p:nvSpPr>
            <p:cNvPr id="133" name="Freeform 133"/>
            <p:cNvSpPr/>
            <p:nvPr/>
          </p:nvSpPr>
          <p:spPr>
            <a:xfrm>
              <a:off x="6303169" y="3167062"/>
              <a:ext cx="100012" cy="66675"/>
            </a:xfrm>
            <a:custGeom>
              <a:avLst/>
              <a:gdLst/>
              <a:ahLst/>
              <a:cxnLst/>
              <a:rect l="l" t="t" r="r" b="b"/>
              <a:pathLst>
                <a:path w="100012" h="66675">
                  <a:moveTo>
                    <a:pt x="50006" y="0"/>
                  </a:moveTo>
                  <a:lnTo>
                    <a:pt x="72231" y="33337"/>
                  </a:lnTo>
                  <a:lnTo>
                    <a:pt x="100012" y="11112"/>
                  </a:lnTo>
                  <a:lnTo>
                    <a:pt x="88900" y="66675"/>
                  </a:lnTo>
                  <a:lnTo>
                    <a:pt x="11112" y="66675"/>
                  </a:lnTo>
                  <a:lnTo>
                    <a:pt x="0" y="11112"/>
                  </a:lnTo>
                  <a:lnTo>
                    <a:pt x="27781" y="33337"/>
                  </a:lnTo>
                  <a:lnTo>
                    <a:pt x="50006" y="0"/>
                  </a:lnTo>
                </a:path>
              </a:pathLst>
            </a:custGeom>
            <a:noFill/>
            <a:ln w="11112">
              <a:solidFill>
                <a:srgbClr val="A24B3C"/>
              </a:solidFill>
            </a:ln>
          </p:spPr>
        </p:sp>
        <p:sp>
          <p:nvSpPr>
            <p:cNvPr id="134" name="TextBox 134"/>
            <p:cNvSpPr txBox="1"/>
            <p:nvPr/>
          </p:nvSpPr>
          <p:spPr>
            <a:xfrm>
              <a:off x="6727508" y="3157538"/>
              <a:ext cx="413385" cy="147638"/>
            </a:xfrm>
            <a:prstGeom prst="rect">
              <a:avLst/>
            </a:prstGeom>
            <a:noFill/>
            <a:ln>
              <a:noFill/>
            </a:ln>
          </p:spPr>
          <p:txBody>
            <a:bodyPr wrap="none" lIns="0" tIns="0" rIns="0" bIns="0" anchor="t" anchorCtr="0">
              <a:spAutoFit/>
            </a:bodyPr>
            <a:lstStyle/>
            <a:p>
              <a:pPr algn="ctr"/>
              <a:r>
                <a:rPr lang="zh-CN" sz="750" dirty="0">
                  <a:solidFill>
                    <a:srgbClr val="5E3A33"/>
                  </a:solidFill>
                  <a:latin typeface="+mn-lt"/>
                  <a:ea typeface="+mn-ea"/>
                  <a:cs typeface="+mn-cs"/>
                </a:rPr>
                <a:t>财富客群</a:t>
              </a:r>
            </a:p>
          </p:txBody>
        </p:sp>
      </p:grpSp>
      <p:sp>
        <p:nvSpPr>
          <p:cNvPr id="136" name="Freeform 136"/>
          <p:cNvSpPr/>
          <p:nvPr/>
        </p:nvSpPr>
        <p:spPr>
          <a:xfrm>
            <a:off x="7705725" y="2266950"/>
            <a:ext cx="133350" cy="152400"/>
          </a:xfrm>
          <a:prstGeom prst="rightArrow">
            <a:avLst/>
          </a:prstGeom>
          <a:solidFill>
            <a:srgbClr val="A3381F"/>
          </a:solidFill>
          <a:ln>
            <a:noFill/>
          </a:ln>
        </p:spPr>
      </p:sp>
      <p:grpSp>
        <p:nvGrpSpPr>
          <p:cNvPr id="163" name="phase-5"/>
          <p:cNvGrpSpPr/>
          <p:nvPr/>
        </p:nvGrpSpPr>
        <p:grpSpPr>
          <a:xfrm>
            <a:off x="7848600" y="800100"/>
            <a:ext cx="1714500" cy="3009900"/>
            <a:chOff x="7848600" y="800100"/>
            <a:chExt cx="1714500" cy="3009900"/>
          </a:xfrm>
        </p:grpSpPr>
        <p:sp>
          <p:nvSpPr>
            <p:cNvPr id="137" name="Ellipse 137"/>
            <p:cNvSpPr/>
            <p:nvPr/>
          </p:nvSpPr>
          <p:spPr>
            <a:xfrm>
              <a:off x="8553450" y="800100"/>
              <a:ext cx="304800" cy="304800"/>
            </a:xfrm>
            <a:prstGeom prst="ellipse">
              <a:avLst/>
            </a:prstGeom>
            <a:solidFill>
              <a:srgbClr val="A3381F"/>
            </a:solidFill>
            <a:ln>
              <a:noFill/>
            </a:ln>
          </p:spPr>
        </p:sp>
        <p:sp>
          <p:nvSpPr>
            <p:cNvPr id="138" name="TextBox 138"/>
            <p:cNvSpPr txBox="1"/>
            <p:nvPr/>
          </p:nvSpPr>
          <p:spPr>
            <a:xfrm>
              <a:off x="8656599" y="8882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5</a:t>
              </a:r>
            </a:p>
          </p:txBody>
        </p:sp>
        <p:sp>
          <p:nvSpPr>
            <p:cNvPr id="139" name="Rectangle 139"/>
            <p:cNvSpPr/>
            <p:nvPr/>
          </p:nvSpPr>
          <p:spPr>
            <a:xfrm>
              <a:off x="7848600" y="1181100"/>
              <a:ext cx="1714500" cy="2628900"/>
            </a:xfrm>
            <a:prstGeom prst="roundRect">
              <a:avLst>
                <a:gd name="adj" fmla="val 5556"/>
              </a:avLst>
            </a:prstGeom>
            <a:solidFill>
              <a:srgbClr val="FFFFFF"/>
            </a:solidFill>
            <a:ln w="9525">
              <a:solidFill>
                <a:srgbClr val="E6D9C0"/>
              </a:solidFill>
            </a:ln>
          </p:spPr>
        </p:sp>
        <p:sp>
          <p:nvSpPr>
            <p:cNvPr id="140" name="Rectangle 140"/>
            <p:cNvSpPr/>
            <p:nvPr/>
          </p:nvSpPr>
          <p:spPr>
            <a:xfrm>
              <a:off x="7848600" y="1181100"/>
              <a:ext cx="1714500" cy="304800"/>
            </a:xfrm>
            <a:prstGeom prst="roundRect">
              <a:avLst>
                <a:gd name="adj" fmla="val 31250"/>
              </a:avLst>
            </a:prstGeom>
            <a:solidFill>
              <a:srgbClr val="A3381F"/>
            </a:solidFill>
            <a:ln>
              <a:noFill/>
            </a:ln>
          </p:spPr>
        </p:sp>
        <p:sp>
          <p:nvSpPr>
            <p:cNvPr id="141" name="Rectangle 141"/>
            <p:cNvSpPr/>
            <p:nvPr/>
          </p:nvSpPr>
          <p:spPr>
            <a:xfrm>
              <a:off x="7848600" y="1352550"/>
              <a:ext cx="1714500" cy="133350"/>
            </a:xfrm>
            <a:prstGeom prst="rect">
              <a:avLst/>
            </a:prstGeom>
            <a:solidFill>
              <a:srgbClr val="A3381F"/>
            </a:solidFill>
            <a:ln>
              <a:noFill/>
            </a:ln>
          </p:spPr>
        </p:sp>
        <p:sp>
          <p:nvSpPr>
            <p:cNvPr id="142" name="TextBox 142"/>
            <p:cNvSpPr txBox="1"/>
            <p:nvPr/>
          </p:nvSpPr>
          <p:spPr>
            <a:xfrm>
              <a:off x="8417814" y="12773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全面推广</a:t>
              </a:r>
            </a:p>
          </p:txBody>
        </p:sp>
        <p:grpSp>
          <p:nvGrpSpPr>
            <p:cNvPr id="145" name="Group 145"/>
            <p:cNvGrpSpPr/>
            <p:nvPr/>
          </p:nvGrpSpPr>
          <p:grpSpPr>
            <a:xfrm>
              <a:off x="8032750" y="1765300"/>
              <a:ext cx="127000" cy="88900"/>
              <a:chOff x="8032750" y="1765300"/>
              <a:chExt cx="127000" cy="88900"/>
            </a:xfrm>
          </p:grpSpPr>
          <p:sp>
            <p:nvSpPr>
              <p:cNvPr id="143" name="Freeform 143"/>
              <p:cNvSpPr/>
              <p:nvPr/>
            </p:nvSpPr>
            <p:spPr>
              <a:xfrm>
                <a:off x="8032750" y="1765300"/>
                <a:ext cx="127000" cy="63500"/>
              </a:xfrm>
              <a:custGeom>
                <a:avLst/>
                <a:gdLst/>
                <a:ahLst/>
                <a:cxnLst/>
                <a:rect l="l" t="t" r="r" b="b"/>
                <a:pathLst>
                  <a:path w="127000" h="63500">
                    <a:moveTo>
                      <a:pt x="127000" y="25400"/>
                    </a:moveTo>
                    <a:lnTo>
                      <a:pt x="63500" y="0"/>
                    </a:lnTo>
                    <a:lnTo>
                      <a:pt x="0" y="25400"/>
                    </a:lnTo>
                    <a:lnTo>
                      <a:pt x="63500" y="50800"/>
                    </a:lnTo>
                    <a:lnTo>
                      <a:pt x="127000" y="25400"/>
                    </a:lnTo>
                    <a:lnTo>
                      <a:pt x="127000" y="63500"/>
                    </a:lnTo>
                  </a:path>
                </a:pathLst>
              </a:custGeom>
              <a:noFill/>
              <a:ln w="12700">
                <a:solidFill>
                  <a:srgbClr val="A3381F"/>
                </a:solidFill>
              </a:ln>
            </p:spPr>
          </p:sp>
          <p:sp>
            <p:nvSpPr>
              <p:cNvPr id="144" name="Freeform 144"/>
              <p:cNvSpPr/>
              <p:nvPr/>
            </p:nvSpPr>
            <p:spPr>
              <a:xfrm>
                <a:off x="8058150" y="1800860"/>
                <a:ext cx="76200" cy="53340"/>
              </a:xfrm>
              <a:custGeom>
                <a:avLst/>
                <a:gdLst/>
                <a:ahLst/>
                <a:cxnLst/>
                <a:rect l="l" t="t" r="r" b="b"/>
                <a:pathLst>
                  <a:path w="76200" h="53340">
                    <a:moveTo>
                      <a:pt x="0" y="0"/>
                    </a:moveTo>
                    <a:lnTo>
                      <a:pt x="0" y="34290"/>
                    </a:lnTo>
                    <a:cubicBezTo>
                      <a:pt x="0" y="44811"/>
                      <a:pt x="17058" y="53340"/>
                      <a:pt x="38100" y="53340"/>
                    </a:cubicBezTo>
                    <a:cubicBezTo>
                      <a:pt x="59142" y="53340"/>
                      <a:pt x="76200" y="44811"/>
                      <a:pt x="76200" y="34290"/>
                    </a:cubicBezTo>
                    <a:lnTo>
                      <a:pt x="76200" y="0"/>
                    </a:lnTo>
                  </a:path>
                </a:pathLst>
              </a:custGeom>
              <a:noFill/>
              <a:ln w="12700">
                <a:solidFill>
                  <a:srgbClr val="A3381F"/>
                </a:solidFill>
              </a:ln>
            </p:spPr>
          </p:sp>
        </p:grpSp>
        <p:sp>
          <p:nvSpPr>
            <p:cNvPr id="146" name="TextBox 146"/>
            <p:cNvSpPr txBox="1"/>
            <p:nvPr/>
          </p:nvSpPr>
          <p:spPr>
            <a:xfrm>
              <a:off x="8262938" y="1772364"/>
              <a:ext cx="222225"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培训</a:t>
              </a:r>
            </a:p>
          </p:txBody>
        </p:sp>
        <p:grpSp>
          <p:nvGrpSpPr>
            <p:cNvPr id="151" name="Group 151"/>
            <p:cNvGrpSpPr/>
            <p:nvPr/>
          </p:nvGrpSpPr>
          <p:grpSpPr>
            <a:xfrm>
              <a:off x="8051800" y="2159000"/>
              <a:ext cx="95250" cy="107950"/>
              <a:chOff x="8051800" y="2159000"/>
              <a:chExt cx="95250" cy="107950"/>
            </a:xfrm>
          </p:grpSpPr>
          <p:sp>
            <p:nvSpPr>
              <p:cNvPr id="147" name="Freeform 147"/>
              <p:cNvSpPr/>
              <p:nvPr/>
            </p:nvSpPr>
            <p:spPr>
              <a:xfrm>
                <a:off x="8051800" y="215900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C26D5E"/>
                </a:solidFill>
              </a:ln>
            </p:spPr>
          </p:sp>
          <p:sp>
            <p:nvSpPr>
              <p:cNvPr id="148" name="Freeform 148"/>
              <p:cNvSpPr/>
              <p:nvPr/>
            </p:nvSpPr>
            <p:spPr>
              <a:xfrm>
                <a:off x="8108950" y="2241550"/>
                <a:ext cx="38100" cy="25400"/>
              </a:xfrm>
              <a:custGeom>
                <a:avLst/>
                <a:gdLst/>
                <a:ahLst/>
                <a:cxnLst/>
                <a:rect l="l" t="t" r="r" b="b"/>
                <a:pathLst>
                  <a:path w="38100" h="25400">
                    <a:moveTo>
                      <a:pt x="0" y="12700"/>
                    </a:moveTo>
                    <a:lnTo>
                      <a:pt x="12700" y="25400"/>
                    </a:lnTo>
                    <a:lnTo>
                      <a:pt x="38100" y="0"/>
                    </a:lnTo>
                  </a:path>
                </a:pathLst>
              </a:custGeom>
              <a:noFill/>
              <a:ln w="12700">
                <a:solidFill>
                  <a:srgbClr val="C26D5E"/>
                </a:solidFill>
              </a:ln>
            </p:spPr>
          </p:sp>
          <p:sp>
            <p:nvSpPr>
              <p:cNvPr id="149" name="Freeform 149"/>
              <p:cNvSpPr/>
              <p:nvPr/>
            </p:nvSpPr>
            <p:spPr>
              <a:xfrm>
                <a:off x="8077200" y="2184400"/>
                <a:ext cx="25400" cy="9525"/>
              </a:xfrm>
              <a:custGeom>
                <a:avLst/>
                <a:gdLst/>
                <a:ahLst/>
                <a:cxnLst/>
                <a:rect l="l" t="t" r="r" b="b"/>
                <a:pathLst>
                  <a:path w="25400" h="9525">
                    <a:moveTo>
                      <a:pt x="0" y="0"/>
                    </a:moveTo>
                    <a:lnTo>
                      <a:pt x="25400" y="0"/>
                    </a:lnTo>
                  </a:path>
                </a:pathLst>
              </a:custGeom>
              <a:noFill/>
              <a:ln w="12700">
                <a:solidFill>
                  <a:srgbClr val="C26D5E"/>
                </a:solidFill>
              </a:ln>
            </p:spPr>
          </p:sp>
          <p:sp>
            <p:nvSpPr>
              <p:cNvPr id="150" name="Freeform 150"/>
              <p:cNvSpPr/>
              <p:nvPr/>
            </p:nvSpPr>
            <p:spPr>
              <a:xfrm>
                <a:off x="8077200" y="2209800"/>
                <a:ext cx="12700" cy="9525"/>
              </a:xfrm>
              <a:custGeom>
                <a:avLst/>
                <a:gdLst/>
                <a:ahLst/>
                <a:cxnLst/>
                <a:rect l="l" t="t" r="r" b="b"/>
                <a:pathLst>
                  <a:path w="12700" h="9525">
                    <a:moveTo>
                      <a:pt x="0" y="0"/>
                    </a:moveTo>
                    <a:lnTo>
                      <a:pt x="12700" y="0"/>
                    </a:lnTo>
                  </a:path>
                </a:pathLst>
              </a:custGeom>
              <a:noFill/>
              <a:ln w="12700">
                <a:solidFill>
                  <a:srgbClr val="C26D5E"/>
                </a:solidFill>
              </a:ln>
            </p:spPr>
          </p:sp>
        </p:grpSp>
        <p:sp>
          <p:nvSpPr>
            <p:cNvPr id="152" name="TextBox 152"/>
            <p:cNvSpPr txBox="1"/>
            <p:nvPr/>
          </p:nvSpPr>
          <p:spPr>
            <a:xfrm>
              <a:off x="8262938" y="2172414"/>
              <a:ext cx="222225"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考核</a:t>
              </a:r>
            </a:p>
          </p:txBody>
        </p:sp>
        <p:grpSp>
          <p:nvGrpSpPr>
            <p:cNvPr id="156" name="Group 156"/>
            <p:cNvGrpSpPr/>
            <p:nvPr/>
          </p:nvGrpSpPr>
          <p:grpSpPr>
            <a:xfrm>
              <a:off x="8045449" y="2555947"/>
              <a:ext cx="104694" cy="107792"/>
              <a:chOff x="8045449" y="2555947"/>
              <a:chExt cx="104694" cy="107792"/>
            </a:xfrm>
          </p:grpSpPr>
          <p:sp>
            <p:nvSpPr>
              <p:cNvPr id="153" name="Freeform 153"/>
              <p:cNvSpPr/>
              <p:nvPr/>
            </p:nvSpPr>
            <p:spPr>
              <a:xfrm>
                <a:off x="8077200" y="2590800"/>
                <a:ext cx="38100" cy="38100"/>
              </a:xfrm>
              <a:custGeom>
                <a:avLst/>
                <a:gdLst/>
                <a:ahLst/>
                <a:cxnLst/>
                <a:rect l="l" t="t" r="r" b="b"/>
                <a:pathLst>
                  <a:path w="38100" h="38100">
                    <a:moveTo>
                      <a:pt x="0" y="38100"/>
                    </a:moveTo>
                    <a:lnTo>
                      <a:pt x="38100" y="0"/>
                    </a:lnTo>
                  </a:path>
                </a:pathLst>
              </a:custGeom>
              <a:noFill/>
              <a:ln w="12700">
                <a:solidFill>
                  <a:srgbClr val="A3381F"/>
                </a:solidFill>
              </a:ln>
            </p:spPr>
          </p:sp>
          <p:sp>
            <p:nvSpPr>
              <p:cNvPr id="154" name="Freeform 154"/>
              <p:cNvSpPr/>
              <p:nvPr/>
            </p:nvSpPr>
            <p:spPr>
              <a:xfrm>
                <a:off x="8089900" y="2555947"/>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A3381F"/>
                </a:solidFill>
              </a:ln>
            </p:spPr>
          </p:sp>
          <p:sp>
            <p:nvSpPr>
              <p:cNvPr id="155" name="Freeform 155"/>
              <p:cNvSpPr/>
              <p:nvPr/>
            </p:nvSpPr>
            <p:spPr>
              <a:xfrm>
                <a:off x="8045449" y="2603500"/>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A3381F"/>
                </a:solidFill>
              </a:ln>
            </p:spPr>
          </p:sp>
        </p:grpSp>
        <p:sp>
          <p:nvSpPr>
            <p:cNvPr id="157" name="TextBox 157"/>
            <p:cNvSpPr txBox="1"/>
            <p:nvPr/>
          </p:nvSpPr>
          <p:spPr>
            <a:xfrm>
              <a:off x="8262938" y="257246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权益接入</a:t>
              </a:r>
            </a:p>
          </p:txBody>
        </p:sp>
        <p:grpSp>
          <p:nvGrpSpPr>
            <p:cNvPr id="161" name="Group 161"/>
            <p:cNvGrpSpPr/>
            <p:nvPr/>
          </p:nvGrpSpPr>
          <p:grpSpPr>
            <a:xfrm>
              <a:off x="8043444" y="2959100"/>
              <a:ext cx="103606" cy="103606"/>
              <a:chOff x="8043444" y="2959100"/>
              <a:chExt cx="103606" cy="103606"/>
            </a:xfrm>
          </p:grpSpPr>
          <p:sp>
            <p:nvSpPr>
              <p:cNvPr id="158" name="Freeform 158"/>
              <p:cNvSpPr/>
              <p:nvPr/>
            </p:nvSpPr>
            <p:spPr>
              <a:xfrm>
                <a:off x="8045450" y="2959100"/>
                <a:ext cx="101600" cy="101600"/>
              </a:xfrm>
              <a:custGeom>
                <a:avLst/>
                <a:gdLst/>
                <a:ahLst/>
                <a:cxnLst/>
                <a:rect l="l" t="t" r="r" b="b"/>
                <a:pathLst>
                  <a:path w="101600" h="101600">
                    <a:moveTo>
                      <a:pt x="0" y="57150"/>
                    </a:moveTo>
                    <a:cubicBezTo>
                      <a:pt x="23306" y="59920"/>
                      <a:pt x="41680" y="78294"/>
                      <a:pt x="44450" y="101600"/>
                    </a:cubicBezTo>
                    <a:cubicBezTo>
                      <a:pt x="55861" y="95021"/>
                      <a:pt x="63065" y="83015"/>
                      <a:pt x="63500" y="69850"/>
                    </a:cubicBezTo>
                    <a:cubicBezTo>
                      <a:pt x="85304" y="62180"/>
                      <a:pt x="100342" y="42130"/>
                      <a:pt x="101600" y="19050"/>
                    </a:cubicBezTo>
                    <a:cubicBezTo>
                      <a:pt x="101600" y="8529"/>
                      <a:pt x="93071" y="0"/>
                      <a:pt x="82550" y="0"/>
                    </a:cubicBezTo>
                    <a:cubicBezTo>
                      <a:pt x="59470" y="1258"/>
                      <a:pt x="39420" y="16296"/>
                      <a:pt x="31750" y="38100"/>
                    </a:cubicBezTo>
                    <a:cubicBezTo>
                      <a:pt x="18585" y="38535"/>
                      <a:pt x="6579" y="45739"/>
                      <a:pt x="0" y="57150"/>
                    </a:cubicBezTo>
                  </a:path>
                </a:pathLst>
              </a:custGeom>
              <a:noFill/>
              <a:ln w="12700">
                <a:solidFill>
                  <a:srgbClr val="C26D5E"/>
                </a:solidFill>
              </a:ln>
            </p:spPr>
          </p:sp>
          <p:sp>
            <p:nvSpPr>
              <p:cNvPr id="159" name="Freeform 159"/>
              <p:cNvSpPr/>
              <p:nvPr/>
            </p:nvSpPr>
            <p:spPr>
              <a:xfrm>
                <a:off x="8043444" y="3022600"/>
                <a:ext cx="40106" cy="40106"/>
              </a:xfrm>
              <a:custGeom>
                <a:avLst/>
                <a:gdLst/>
                <a:ahLst/>
                <a:cxnLst/>
                <a:rect l="l" t="t" r="r" b="b"/>
                <a:pathLst>
                  <a:path w="40106" h="40106">
                    <a:moveTo>
                      <a:pt x="21056" y="0"/>
                    </a:moveTo>
                    <a:cubicBezTo>
                      <a:pt x="7536" y="7633"/>
                      <a:pt x="0" y="22705"/>
                      <a:pt x="2006" y="38100"/>
                    </a:cubicBezTo>
                    <a:cubicBezTo>
                      <a:pt x="17401" y="40106"/>
                      <a:pt x="32473" y="32570"/>
                      <a:pt x="40106" y="19050"/>
                    </a:cubicBezTo>
                  </a:path>
                </a:pathLst>
              </a:custGeom>
              <a:noFill/>
              <a:ln w="12700">
                <a:solidFill>
                  <a:srgbClr val="C26D5E"/>
                </a:solidFill>
              </a:ln>
            </p:spPr>
          </p:sp>
          <p:sp>
            <p:nvSpPr>
              <p:cNvPr id="160" name="Freeform 160"/>
              <p:cNvSpPr/>
              <p:nvPr/>
            </p:nvSpPr>
            <p:spPr>
              <a:xfrm>
                <a:off x="8108950" y="29845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C26D5E"/>
                </a:solidFill>
              </a:ln>
            </p:spPr>
          </p:sp>
        </p:grpSp>
        <p:sp>
          <p:nvSpPr>
            <p:cNvPr id="162" name="TextBox 162"/>
            <p:cNvSpPr txBox="1"/>
            <p:nvPr/>
          </p:nvSpPr>
          <p:spPr>
            <a:xfrm>
              <a:off x="8262938" y="297251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运营上线</a:t>
              </a:r>
            </a:p>
          </p:txBody>
        </p:sp>
      </p:grpSp>
      <p:sp>
        <p:nvSpPr>
          <p:cNvPr id="164" name="Freeform 164"/>
          <p:cNvSpPr/>
          <p:nvPr/>
        </p:nvSpPr>
        <p:spPr>
          <a:xfrm>
            <a:off x="9572625" y="2266950"/>
            <a:ext cx="133350" cy="152400"/>
          </a:xfrm>
          <a:prstGeom prst="rightArrow">
            <a:avLst/>
          </a:prstGeom>
          <a:solidFill>
            <a:srgbClr val="A3381F"/>
          </a:solidFill>
          <a:ln>
            <a:noFill/>
          </a:ln>
        </p:spPr>
      </p:sp>
      <p:grpSp>
        <p:nvGrpSpPr>
          <p:cNvPr id="187" name="phase-6"/>
          <p:cNvGrpSpPr/>
          <p:nvPr/>
        </p:nvGrpSpPr>
        <p:grpSpPr>
          <a:xfrm>
            <a:off x="9715500" y="800100"/>
            <a:ext cx="1714500" cy="3009900"/>
            <a:chOff x="9715500" y="800100"/>
            <a:chExt cx="1714500" cy="3009900"/>
          </a:xfrm>
        </p:grpSpPr>
        <p:sp>
          <p:nvSpPr>
            <p:cNvPr id="165" name="Ellipse 165"/>
            <p:cNvSpPr/>
            <p:nvPr/>
          </p:nvSpPr>
          <p:spPr>
            <a:xfrm>
              <a:off x="10420350" y="800100"/>
              <a:ext cx="304800" cy="304800"/>
            </a:xfrm>
            <a:prstGeom prst="ellipse">
              <a:avLst/>
            </a:prstGeom>
            <a:solidFill>
              <a:srgbClr val="A3381F"/>
            </a:solidFill>
            <a:ln>
              <a:noFill/>
            </a:ln>
          </p:spPr>
        </p:sp>
        <p:sp>
          <p:nvSpPr>
            <p:cNvPr id="166" name="TextBox 166"/>
            <p:cNvSpPr txBox="1"/>
            <p:nvPr/>
          </p:nvSpPr>
          <p:spPr>
            <a:xfrm>
              <a:off x="10523499" y="8882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6</a:t>
              </a:r>
            </a:p>
          </p:txBody>
        </p:sp>
        <p:sp>
          <p:nvSpPr>
            <p:cNvPr id="167" name="Rectangle 167"/>
            <p:cNvSpPr/>
            <p:nvPr/>
          </p:nvSpPr>
          <p:spPr>
            <a:xfrm>
              <a:off x="9715500" y="1181100"/>
              <a:ext cx="1714500" cy="2628900"/>
            </a:xfrm>
            <a:prstGeom prst="roundRect">
              <a:avLst>
                <a:gd name="adj" fmla="val 5556"/>
              </a:avLst>
            </a:prstGeom>
            <a:solidFill>
              <a:srgbClr val="FFFFFF"/>
            </a:solidFill>
            <a:ln w="9525">
              <a:solidFill>
                <a:srgbClr val="E6D9C0"/>
              </a:solidFill>
            </a:ln>
          </p:spPr>
        </p:sp>
        <p:sp>
          <p:nvSpPr>
            <p:cNvPr id="168" name="Rectangle 168"/>
            <p:cNvSpPr/>
            <p:nvPr/>
          </p:nvSpPr>
          <p:spPr>
            <a:xfrm>
              <a:off x="9715500" y="1181100"/>
              <a:ext cx="1714500" cy="304800"/>
            </a:xfrm>
            <a:prstGeom prst="roundRect">
              <a:avLst>
                <a:gd name="adj" fmla="val 31250"/>
              </a:avLst>
            </a:prstGeom>
            <a:solidFill>
              <a:srgbClr val="A3381F"/>
            </a:solidFill>
            <a:ln>
              <a:noFill/>
            </a:ln>
          </p:spPr>
        </p:sp>
        <p:sp>
          <p:nvSpPr>
            <p:cNvPr id="169" name="Rectangle 169"/>
            <p:cNvSpPr/>
            <p:nvPr/>
          </p:nvSpPr>
          <p:spPr>
            <a:xfrm>
              <a:off x="9715500" y="1352550"/>
              <a:ext cx="1714500" cy="133350"/>
            </a:xfrm>
            <a:prstGeom prst="rect">
              <a:avLst/>
            </a:prstGeom>
            <a:solidFill>
              <a:srgbClr val="A3381F"/>
            </a:solidFill>
            <a:ln>
              <a:noFill/>
            </a:ln>
          </p:spPr>
        </p:sp>
        <p:sp>
          <p:nvSpPr>
            <p:cNvPr id="170" name="TextBox 170"/>
            <p:cNvSpPr txBox="1"/>
            <p:nvPr/>
          </p:nvSpPr>
          <p:spPr>
            <a:xfrm>
              <a:off x="10284714" y="12773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持续优化</a:t>
              </a:r>
            </a:p>
          </p:txBody>
        </p:sp>
        <p:grpSp>
          <p:nvGrpSpPr>
            <p:cNvPr id="173" name="Group 173"/>
            <p:cNvGrpSpPr/>
            <p:nvPr/>
          </p:nvGrpSpPr>
          <p:grpSpPr>
            <a:xfrm>
              <a:off x="9912350" y="1794600"/>
              <a:ext cx="101600" cy="106500"/>
              <a:chOff x="9912350" y="1794600"/>
              <a:chExt cx="101600" cy="106500"/>
            </a:xfrm>
          </p:grpSpPr>
          <p:sp>
            <p:nvSpPr>
              <p:cNvPr id="171" name="Freeform 171"/>
              <p:cNvSpPr/>
              <p:nvPr/>
            </p:nvSpPr>
            <p:spPr>
              <a:xfrm>
                <a:off x="9912350" y="179460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A3381F"/>
                </a:solidFill>
              </a:ln>
            </p:spPr>
          </p:sp>
          <p:sp>
            <p:nvSpPr>
              <p:cNvPr id="172" name="Freeform 172"/>
              <p:cNvSpPr/>
              <p:nvPr/>
            </p:nvSpPr>
            <p:spPr>
              <a:xfrm>
                <a:off x="9912350" y="185420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A3381F"/>
                </a:solidFill>
              </a:ln>
            </p:spPr>
          </p:sp>
        </p:grpSp>
        <p:sp>
          <p:nvSpPr>
            <p:cNvPr id="174" name="TextBox 174"/>
            <p:cNvSpPr txBox="1"/>
            <p:nvPr/>
          </p:nvSpPr>
          <p:spPr>
            <a:xfrm>
              <a:off x="10129838" y="181046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模型回溯</a:t>
              </a:r>
            </a:p>
          </p:txBody>
        </p:sp>
        <p:grpSp>
          <p:nvGrpSpPr>
            <p:cNvPr id="180" name="Group 180"/>
            <p:cNvGrpSpPr/>
            <p:nvPr/>
          </p:nvGrpSpPr>
          <p:grpSpPr>
            <a:xfrm>
              <a:off x="9912350" y="2266950"/>
              <a:ext cx="101600" cy="114300"/>
              <a:chOff x="9912350" y="2266950"/>
              <a:chExt cx="101600" cy="114300"/>
            </a:xfrm>
          </p:grpSpPr>
          <p:sp>
            <p:nvSpPr>
              <p:cNvPr id="175" name="Freeform 175"/>
              <p:cNvSpPr/>
              <p:nvPr/>
            </p:nvSpPr>
            <p:spPr>
              <a:xfrm>
                <a:off x="9912350" y="2292350"/>
                <a:ext cx="101600" cy="9525"/>
              </a:xfrm>
              <a:custGeom>
                <a:avLst/>
                <a:gdLst/>
                <a:ahLst/>
                <a:cxnLst/>
                <a:rect l="l" t="t" r="r" b="b"/>
                <a:pathLst>
                  <a:path w="101600" h="9525">
                    <a:moveTo>
                      <a:pt x="0" y="0"/>
                    </a:moveTo>
                    <a:lnTo>
                      <a:pt x="101600" y="0"/>
                    </a:lnTo>
                  </a:path>
                </a:pathLst>
              </a:custGeom>
              <a:noFill/>
              <a:ln w="12700">
                <a:solidFill>
                  <a:srgbClr val="C26D5E"/>
                </a:solidFill>
              </a:ln>
            </p:spPr>
          </p:sp>
          <p:sp>
            <p:nvSpPr>
              <p:cNvPr id="176" name="Freeform 176"/>
              <p:cNvSpPr/>
              <p:nvPr/>
            </p:nvSpPr>
            <p:spPr>
              <a:xfrm>
                <a:off x="9950450" y="2317750"/>
                <a:ext cx="9525" cy="38100"/>
              </a:xfrm>
              <a:custGeom>
                <a:avLst/>
                <a:gdLst/>
                <a:ahLst/>
                <a:cxnLst/>
                <a:rect l="l" t="t" r="r" b="b"/>
                <a:pathLst>
                  <a:path w="9525" h="38100">
                    <a:moveTo>
                      <a:pt x="0" y="0"/>
                    </a:moveTo>
                    <a:lnTo>
                      <a:pt x="0" y="38100"/>
                    </a:lnTo>
                  </a:path>
                </a:pathLst>
              </a:custGeom>
              <a:noFill/>
              <a:ln w="12700">
                <a:solidFill>
                  <a:srgbClr val="C26D5E"/>
                </a:solidFill>
              </a:ln>
            </p:spPr>
          </p:sp>
          <p:sp>
            <p:nvSpPr>
              <p:cNvPr id="177" name="Freeform 177"/>
              <p:cNvSpPr/>
              <p:nvPr/>
            </p:nvSpPr>
            <p:spPr>
              <a:xfrm>
                <a:off x="9975850" y="2317750"/>
                <a:ext cx="9525" cy="38100"/>
              </a:xfrm>
              <a:custGeom>
                <a:avLst/>
                <a:gdLst/>
                <a:ahLst/>
                <a:cxnLst/>
                <a:rect l="l" t="t" r="r" b="b"/>
                <a:pathLst>
                  <a:path w="9525" h="38100">
                    <a:moveTo>
                      <a:pt x="0" y="0"/>
                    </a:moveTo>
                    <a:lnTo>
                      <a:pt x="0" y="38100"/>
                    </a:lnTo>
                  </a:path>
                </a:pathLst>
              </a:custGeom>
              <a:noFill/>
              <a:ln w="12700">
                <a:solidFill>
                  <a:srgbClr val="C26D5E"/>
                </a:solidFill>
              </a:ln>
            </p:spPr>
          </p:sp>
          <p:sp>
            <p:nvSpPr>
              <p:cNvPr id="178" name="Freeform 178"/>
              <p:cNvSpPr/>
              <p:nvPr/>
            </p:nvSpPr>
            <p:spPr>
              <a:xfrm>
                <a:off x="9918700" y="2292350"/>
                <a:ext cx="88900" cy="88900"/>
              </a:xfrm>
              <a:custGeom>
                <a:avLst/>
                <a:gdLst/>
                <a:ahLst/>
                <a:cxnLst/>
                <a:rect l="l" t="t" r="r" b="b"/>
                <a:pathLst>
                  <a:path w="88900" h="88900">
                    <a:moveTo>
                      <a:pt x="0" y="0"/>
                    </a:moveTo>
                    <a:lnTo>
                      <a:pt x="6350" y="76200"/>
                    </a:lnTo>
                    <a:cubicBezTo>
                      <a:pt x="6350" y="83214"/>
                      <a:pt x="12036" y="88900"/>
                      <a:pt x="19050" y="88900"/>
                    </a:cubicBezTo>
                    <a:lnTo>
                      <a:pt x="69850" y="88900"/>
                    </a:lnTo>
                    <a:cubicBezTo>
                      <a:pt x="76864" y="88900"/>
                      <a:pt x="82550" y="83214"/>
                      <a:pt x="82550" y="76200"/>
                    </a:cubicBezTo>
                    <a:lnTo>
                      <a:pt x="88900" y="0"/>
                    </a:lnTo>
                  </a:path>
                </a:pathLst>
              </a:custGeom>
              <a:noFill/>
              <a:ln w="12700">
                <a:solidFill>
                  <a:srgbClr val="C26D5E"/>
                </a:solidFill>
              </a:ln>
            </p:spPr>
          </p:sp>
          <p:sp>
            <p:nvSpPr>
              <p:cNvPr id="179" name="Freeform 179"/>
              <p:cNvSpPr/>
              <p:nvPr/>
            </p:nvSpPr>
            <p:spPr>
              <a:xfrm>
                <a:off x="9944100" y="2266950"/>
                <a:ext cx="38100" cy="25400"/>
              </a:xfrm>
              <a:custGeom>
                <a:avLst/>
                <a:gdLst/>
                <a:ahLst/>
                <a:cxnLst/>
                <a:rect l="l" t="t" r="r" b="b"/>
                <a:pathLst>
                  <a:path w="38100" h="25400">
                    <a:moveTo>
                      <a:pt x="0" y="25400"/>
                    </a:moveTo>
                    <a:lnTo>
                      <a:pt x="0" y="6350"/>
                    </a:lnTo>
                    <a:cubicBezTo>
                      <a:pt x="0" y="2843"/>
                      <a:pt x="2843" y="0"/>
                      <a:pt x="6350" y="0"/>
                    </a:cubicBezTo>
                    <a:lnTo>
                      <a:pt x="31750" y="0"/>
                    </a:lnTo>
                    <a:cubicBezTo>
                      <a:pt x="35257" y="0"/>
                      <a:pt x="38100" y="2843"/>
                      <a:pt x="38100" y="6350"/>
                    </a:cubicBezTo>
                    <a:lnTo>
                      <a:pt x="38100" y="25400"/>
                    </a:lnTo>
                  </a:path>
                </a:pathLst>
              </a:custGeom>
              <a:noFill/>
              <a:ln w="12700">
                <a:solidFill>
                  <a:srgbClr val="C26D5E"/>
                </a:solidFill>
              </a:ln>
            </p:spPr>
          </p:sp>
        </p:grpSp>
        <p:sp>
          <p:nvSpPr>
            <p:cNvPr id="181" name="TextBox 181"/>
            <p:cNvSpPr txBox="1"/>
            <p:nvPr/>
          </p:nvSpPr>
          <p:spPr>
            <a:xfrm>
              <a:off x="10129838" y="2286714"/>
              <a:ext cx="434924"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标签淘汰</a:t>
              </a:r>
            </a:p>
          </p:txBody>
        </p:sp>
        <p:grpSp>
          <p:nvGrpSpPr>
            <p:cNvPr id="184" name="Group 184"/>
            <p:cNvGrpSpPr/>
            <p:nvPr/>
          </p:nvGrpSpPr>
          <p:grpSpPr>
            <a:xfrm>
              <a:off x="9906000" y="2768600"/>
              <a:ext cx="114300" cy="63500"/>
              <a:chOff x="9906000" y="2768600"/>
              <a:chExt cx="114300" cy="63500"/>
            </a:xfrm>
          </p:grpSpPr>
          <p:sp>
            <p:nvSpPr>
              <p:cNvPr id="182" name="Freeform 182"/>
              <p:cNvSpPr/>
              <p:nvPr/>
            </p:nvSpPr>
            <p:spPr>
              <a:xfrm>
                <a:off x="9906000" y="276860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A3381F"/>
                </a:solidFill>
              </a:ln>
            </p:spPr>
          </p:sp>
          <p:sp>
            <p:nvSpPr>
              <p:cNvPr id="183" name="Freeform 183"/>
              <p:cNvSpPr/>
              <p:nvPr/>
            </p:nvSpPr>
            <p:spPr>
              <a:xfrm>
                <a:off x="9975850" y="2768600"/>
                <a:ext cx="44450" cy="44450"/>
              </a:xfrm>
              <a:custGeom>
                <a:avLst/>
                <a:gdLst/>
                <a:ahLst/>
                <a:cxnLst/>
                <a:rect l="l" t="t" r="r" b="b"/>
                <a:pathLst>
                  <a:path w="44450" h="44450">
                    <a:moveTo>
                      <a:pt x="0" y="0"/>
                    </a:moveTo>
                    <a:lnTo>
                      <a:pt x="44450" y="0"/>
                    </a:lnTo>
                    <a:lnTo>
                      <a:pt x="44450" y="44450"/>
                    </a:lnTo>
                  </a:path>
                </a:pathLst>
              </a:custGeom>
              <a:noFill/>
              <a:ln w="12700">
                <a:solidFill>
                  <a:srgbClr val="A3381F"/>
                </a:solidFill>
              </a:ln>
            </p:spPr>
          </p:sp>
        </p:grpSp>
        <p:sp>
          <p:nvSpPr>
            <p:cNvPr id="185" name="TextBox 185"/>
            <p:cNvSpPr txBox="1"/>
            <p:nvPr/>
          </p:nvSpPr>
          <p:spPr>
            <a:xfrm>
              <a:off x="10129838" y="2762964"/>
              <a:ext cx="222225" cy="154781"/>
            </a:xfrm>
            <a:prstGeom prst="rect">
              <a:avLst/>
            </a:prstGeom>
            <a:noFill/>
            <a:ln>
              <a:noFill/>
            </a:ln>
          </p:spPr>
          <p:txBody>
            <a:bodyPr wrap="none" lIns="0" tIns="0" rIns="0" bIns="0" anchor="t" anchorCtr="0">
              <a:spAutoFit/>
            </a:bodyPr>
            <a:lstStyle/>
            <a:p>
              <a:pPr algn="l"/>
              <a:r>
                <a:rPr lang="zh-CN" sz="790" dirty="0">
                  <a:solidFill>
                    <a:srgbClr val="5E3A33"/>
                  </a:solidFill>
                  <a:latin typeface="+mn-lt"/>
                  <a:ea typeface="+mn-ea"/>
                  <a:cs typeface="+mn-cs"/>
                </a:rPr>
                <a:t>权益</a:t>
              </a:r>
            </a:p>
          </p:txBody>
        </p:sp>
        <p:sp>
          <p:nvSpPr>
            <p:cNvPr id="186" name="TextBox 186"/>
            <p:cNvSpPr txBox="1"/>
            <p:nvPr/>
          </p:nvSpPr>
          <p:spPr>
            <a:xfrm>
              <a:off x="10348912" y="2762964"/>
              <a:ext cx="189316" cy="154781"/>
            </a:xfrm>
            <a:prstGeom prst="rect">
              <a:avLst/>
            </a:prstGeom>
            <a:noFill/>
            <a:ln>
              <a:noFill/>
            </a:ln>
          </p:spPr>
          <p:txBody>
            <a:bodyPr wrap="none" lIns="0" tIns="0" rIns="0" bIns="0" anchor="t" anchorCtr="0">
              <a:spAutoFit/>
            </a:bodyPr>
            <a:lstStyle/>
            <a:p>
              <a:pPr algn="l"/>
              <a:r>
                <a:rPr lang="en-US" sz="790" dirty="0">
                  <a:solidFill>
                    <a:srgbClr val="5E3A33"/>
                  </a:solidFill>
                  <a:latin typeface="+mn-lt"/>
                  <a:ea typeface="+mn-ea"/>
                  <a:cs typeface="+mn-cs"/>
                </a:rPr>
                <a:t>ROI</a:t>
              </a:r>
            </a:p>
          </p:txBody>
        </p:sp>
      </p:grpSp>
      <p:grpSp>
        <p:nvGrpSpPr>
          <p:cNvPr id="198" name="outcome-system"/>
          <p:cNvGrpSpPr/>
          <p:nvPr/>
        </p:nvGrpSpPr>
        <p:grpSpPr>
          <a:xfrm>
            <a:off x="381000" y="3962400"/>
            <a:ext cx="3676650" cy="1123950"/>
            <a:chOff x="381000" y="3962400"/>
            <a:chExt cx="3676650" cy="1123950"/>
          </a:xfrm>
        </p:grpSpPr>
        <p:sp>
          <p:nvSpPr>
            <p:cNvPr id="188" name="Rectangle 188"/>
            <p:cNvSpPr/>
            <p:nvPr/>
          </p:nvSpPr>
          <p:spPr>
            <a:xfrm>
              <a:off x="381000" y="3962400"/>
              <a:ext cx="3676650" cy="1123950"/>
            </a:xfrm>
            <a:prstGeom prst="roundRect">
              <a:avLst>
                <a:gd name="adj" fmla="val 8475"/>
              </a:avLst>
            </a:prstGeom>
            <a:solidFill>
              <a:srgbClr val="FFFFFF"/>
            </a:solidFill>
            <a:ln w="9525">
              <a:solidFill>
                <a:srgbClr val="E6D9C0"/>
              </a:solidFill>
            </a:ln>
          </p:spPr>
        </p:sp>
        <p:sp>
          <p:nvSpPr>
            <p:cNvPr id="189" name="Ellipse 189"/>
            <p:cNvSpPr/>
            <p:nvPr/>
          </p:nvSpPr>
          <p:spPr>
            <a:xfrm>
              <a:off x="571500" y="4276725"/>
              <a:ext cx="495300" cy="495300"/>
            </a:xfrm>
            <a:prstGeom prst="ellipse">
              <a:avLst/>
            </a:prstGeom>
            <a:solidFill>
              <a:srgbClr val="A3381F"/>
            </a:solidFill>
            <a:ln>
              <a:noFill/>
            </a:ln>
          </p:spPr>
        </p:sp>
        <p:grpSp>
          <p:nvGrpSpPr>
            <p:cNvPr id="195" name="Group 195"/>
            <p:cNvGrpSpPr/>
            <p:nvPr/>
          </p:nvGrpSpPr>
          <p:grpSpPr>
            <a:xfrm>
              <a:off x="741363" y="4424363"/>
              <a:ext cx="155575" cy="200026"/>
              <a:chOff x="741363" y="4424363"/>
              <a:chExt cx="155575" cy="200026"/>
            </a:xfrm>
          </p:grpSpPr>
          <p:sp>
            <p:nvSpPr>
              <p:cNvPr id="190" name="Freeform 190"/>
              <p:cNvSpPr/>
              <p:nvPr/>
            </p:nvSpPr>
            <p:spPr>
              <a:xfrm>
                <a:off x="841375" y="4424363"/>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22225">
                <a:solidFill>
                  <a:srgbClr val="FFFFFF"/>
                </a:solidFill>
              </a:ln>
            </p:spPr>
          </p:sp>
          <p:sp>
            <p:nvSpPr>
              <p:cNvPr id="191" name="Freeform 191"/>
              <p:cNvSpPr/>
              <p:nvPr/>
            </p:nvSpPr>
            <p:spPr>
              <a:xfrm>
                <a:off x="741363" y="4424363"/>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22225">
                <a:solidFill>
                  <a:srgbClr val="FFFFFF"/>
                </a:solidFill>
              </a:ln>
            </p:spPr>
          </p:sp>
          <p:sp>
            <p:nvSpPr>
              <p:cNvPr id="192" name="Freeform 192"/>
              <p:cNvSpPr/>
              <p:nvPr/>
            </p:nvSpPr>
            <p:spPr>
              <a:xfrm>
                <a:off x="785813" y="4491038"/>
                <a:ext cx="11113" cy="9525"/>
              </a:xfrm>
              <a:custGeom>
                <a:avLst/>
                <a:gdLst/>
                <a:ahLst/>
                <a:cxnLst/>
                <a:rect l="l" t="t" r="r" b="b"/>
                <a:pathLst>
                  <a:path w="11113" h="9525">
                    <a:moveTo>
                      <a:pt x="0" y="0"/>
                    </a:moveTo>
                    <a:lnTo>
                      <a:pt x="11113" y="0"/>
                    </a:lnTo>
                  </a:path>
                </a:pathLst>
              </a:custGeom>
              <a:noFill/>
              <a:ln w="22225">
                <a:solidFill>
                  <a:srgbClr val="FFFFFF"/>
                </a:solidFill>
              </a:ln>
            </p:spPr>
          </p:sp>
          <p:sp>
            <p:nvSpPr>
              <p:cNvPr id="193" name="Freeform 193"/>
              <p:cNvSpPr/>
              <p:nvPr/>
            </p:nvSpPr>
            <p:spPr>
              <a:xfrm>
                <a:off x="785813" y="4535488"/>
                <a:ext cx="66675" cy="9525"/>
              </a:xfrm>
              <a:custGeom>
                <a:avLst/>
                <a:gdLst/>
                <a:ahLst/>
                <a:cxnLst/>
                <a:rect l="l" t="t" r="r" b="b"/>
                <a:pathLst>
                  <a:path w="66675" h="9525">
                    <a:moveTo>
                      <a:pt x="0" y="0"/>
                    </a:moveTo>
                    <a:lnTo>
                      <a:pt x="66675" y="0"/>
                    </a:lnTo>
                  </a:path>
                </a:pathLst>
              </a:custGeom>
              <a:noFill/>
              <a:ln w="22225">
                <a:solidFill>
                  <a:srgbClr val="FFFFFF"/>
                </a:solidFill>
              </a:ln>
            </p:spPr>
          </p:sp>
          <p:sp>
            <p:nvSpPr>
              <p:cNvPr id="194" name="Freeform 194"/>
              <p:cNvSpPr/>
              <p:nvPr/>
            </p:nvSpPr>
            <p:spPr>
              <a:xfrm>
                <a:off x="785813" y="4579938"/>
                <a:ext cx="66675" cy="9525"/>
              </a:xfrm>
              <a:custGeom>
                <a:avLst/>
                <a:gdLst/>
                <a:ahLst/>
                <a:cxnLst/>
                <a:rect l="l" t="t" r="r" b="b"/>
                <a:pathLst>
                  <a:path w="66675" h="9525">
                    <a:moveTo>
                      <a:pt x="0" y="0"/>
                    </a:moveTo>
                    <a:lnTo>
                      <a:pt x="66675" y="0"/>
                    </a:lnTo>
                  </a:path>
                </a:pathLst>
              </a:custGeom>
              <a:noFill/>
              <a:ln w="22225">
                <a:solidFill>
                  <a:srgbClr val="FFFFFF"/>
                </a:solidFill>
              </a:ln>
            </p:spPr>
          </p:sp>
        </p:grpSp>
        <p:sp>
          <p:nvSpPr>
            <p:cNvPr id="196" name="TextBox 196"/>
            <p:cNvSpPr txBox="1"/>
            <p:nvPr/>
          </p:nvSpPr>
          <p:spPr>
            <a:xfrm>
              <a:off x="1232535" y="433625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制度成果</a:t>
              </a:r>
            </a:p>
          </p:txBody>
        </p:sp>
        <p:sp>
          <p:nvSpPr>
            <p:cNvPr id="197" name="TextBox 197"/>
            <p:cNvSpPr txBox="1"/>
            <p:nvPr/>
          </p:nvSpPr>
          <p:spPr>
            <a:xfrm>
              <a:off x="1233297" y="4600099"/>
              <a:ext cx="801472"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六项管理制度</a:t>
              </a:r>
            </a:p>
          </p:txBody>
        </p:sp>
      </p:grpSp>
      <p:grpSp>
        <p:nvGrpSpPr>
          <p:cNvPr id="207" name="outcome-platform"/>
          <p:cNvGrpSpPr/>
          <p:nvPr/>
        </p:nvGrpSpPr>
        <p:grpSpPr>
          <a:xfrm>
            <a:off x="4257675" y="3962400"/>
            <a:ext cx="3676650" cy="1123950"/>
            <a:chOff x="4257675" y="3962400"/>
            <a:chExt cx="3676650" cy="1123950"/>
          </a:xfrm>
        </p:grpSpPr>
        <p:sp>
          <p:nvSpPr>
            <p:cNvPr id="199" name="Rectangle 199"/>
            <p:cNvSpPr/>
            <p:nvPr/>
          </p:nvSpPr>
          <p:spPr>
            <a:xfrm>
              <a:off x="4257675" y="3962400"/>
              <a:ext cx="3676650" cy="1123950"/>
            </a:xfrm>
            <a:prstGeom prst="roundRect">
              <a:avLst>
                <a:gd name="adj" fmla="val 8475"/>
              </a:avLst>
            </a:prstGeom>
            <a:solidFill>
              <a:srgbClr val="FFFFFF"/>
            </a:solidFill>
            <a:ln w="9525">
              <a:solidFill>
                <a:srgbClr val="E6D9C0"/>
              </a:solidFill>
            </a:ln>
          </p:spPr>
        </p:sp>
        <p:sp>
          <p:nvSpPr>
            <p:cNvPr id="200" name="Ellipse 200"/>
            <p:cNvSpPr/>
            <p:nvPr/>
          </p:nvSpPr>
          <p:spPr>
            <a:xfrm>
              <a:off x="4448175" y="4276725"/>
              <a:ext cx="495300" cy="495300"/>
            </a:xfrm>
            <a:prstGeom prst="ellipse">
              <a:avLst/>
            </a:prstGeom>
            <a:solidFill>
              <a:srgbClr val="C26D5E"/>
            </a:solidFill>
            <a:ln>
              <a:noFill/>
            </a:ln>
          </p:spPr>
        </p:sp>
        <p:grpSp>
          <p:nvGrpSpPr>
            <p:cNvPr id="204" name="Group 204"/>
            <p:cNvGrpSpPr/>
            <p:nvPr/>
          </p:nvGrpSpPr>
          <p:grpSpPr>
            <a:xfrm>
              <a:off x="4606925" y="4424363"/>
              <a:ext cx="177801" cy="200025"/>
              <a:chOff x="4606925" y="4424363"/>
              <a:chExt cx="177801" cy="200025"/>
            </a:xfrm>
          </p:grpSpPr>
          <p:sp>
            <p:nvSpPr>
              <p:cNvPr id="201" name="Freeform 201"/>
              <p:cNvSpPr/>
              <p:nvPr/>
            </p:nvSpPr>
            <p:spPr>
              <a:xfrm>
                <a:off x="4606925" y="4424363"/>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22225">
                <a:solidFill>
                  <a:srgbClr val="FFFFFF"/>
                </a:solidFill>
              </a:ln>
            </p:spPr>
          </p:sp>
          <p:sp>
            <p:nvSpPr>
              <p:cNvPr id="202" name="Freeform 202"/>
              <p:cNvSpPr/>
              <p:nvPr/>
            </p:nvSpPr>
            <p:spPr>
              <a:xfrm>
                <a:off x="4606925" y="44577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FFFFFF"/>
                </a:solidFill>
              </a:ln>
            </p:spPr>
          </p:sp>
          <p:sp>
            <p:nvSpPr>
              <p:cNvPr id="203" name="Freeform 203"/>
              <p:cNvSpPr/>
              <p:nvPr/>
            </p:nvSpPr>
            <p:spPr>
              <a:xfrm>
                <a:off x="4606925" y="452437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FFFFFF"/>
                </a:solidFill>
              </a:ln>
            </p:spPr>
          </p:sp>
        </p:grpSp>
        <p:sp>
          <p:nvSpPr>
            <p:cNvPr id="205" name="TextBox 205"/>
            <p:cNvSpPr txBox="1"/>
            <p:nvPr/>
          </p:nvSpPr>
          <p:spPr>
            <a:xfrm>
              <a:off x="5109210" y="433625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平台成果</a:t>
              </a:r>
            </a:p>
          </p:txBody>
        </p:sp>
        <p:sp>
          <p:nvSpPr>
            <p:cNvPr id="206" name="TextBox 206"/>
            <p:cNvSpPr txBox="1"/>
            <p:nvPr/>
          </p:nvSpPr>
          <p:spPr>
            <a:xfrm>
              <a:off x="5109972" y="4600099"/>
              <a:ext cx="1197254" cy="190690"/>
            </a:xfrm>
            <a:prstGeom prst="rect">
              <a:avLst/>
            </a:prstGeom>
            <a:noFill/>
            <a:ln>
              <a:noFill/>
            </a:ln>
          </p:spPr>
          <p:txBody>
            <a:bodyPr wrap="none" lIns="0" tIns="0" rIns="0" bIns="0" anchor="t" anchorCtr="0">
              <a:spAutoFit/>
            </a:bodyPr>
            <a:lstStyle/>
            <a:p>
              <a:pPr algn="l"/>
              <a:r>
                <a:rPr lang="zh-CN" sz="980" b="1" dirty="0">
                  <a:solidFill>
                    <a:srgbClr val="5E3A33"/>
                  </a:solidFill>
                  <a:latin typeface="+mn-lt"/>
                  <a:ea typeface="+mn-ea"/>
                  <a:cs typeface="+mn-cs"/>
                </a:rPr>
                <a:t>一套数字化经营平台</a:t>
              </a:r>
            </a:p>
          </p:txBody>
        </p:sp>
      </p:grpSp>
      <p:grpSp>
        <p:nvGrpSpPr>
          <p:cNvPr id="215" name="outcome-effect"/>
          <p:cNvGrpSpPr/>
          <p:nvPr/>
        </p:nvGrpSpPr>
        <p:grpSpPr>
          <a:xfrm>
            <a:off x="8134350" y="3962400"/>
            <a:ext cx="3676650" cy="1123950"/>
            <a:chOff x="8134350" y="3962400"/>
            <a:chExt cx="3676650" cy="1123950"/>
          </a:xfrm>
        </p:grpSpPr>
        <p:sp>
          <p:nvSpPr>
            <p:cNvPr id="208" name="Rectangle 208"/>
            <p:cNvSpPr/>
            <p:nvPr/>
          </p:nvSpPr>
          <p:spPr>
            <a:xfrm>
              <a:off x="8134350" y="3962400"/>
              <a:ext cx="3676650" cy="1123950"/>
            </a:xfrm>
            <a:prstGeom prst="roundRect">
              <a:avLst>
                <a:gd name="adj" fmla="val 8475"/>
              </a:avLst>
            </a:prstGeom>
            <a:solidFill>
              <a:srgbClr val="FFFFFF"/>
            </a:solidFill>
            <a:ln w="9525">
              <a:solidFill>
                <a:srgbClr val="E6D9C0"/>
              </a:solidFill>
            </a:ln>
          </p:spPr>
        </p:sp>
        <p:sp>
          <p:nvSpPr>
            <p:cNvPr id="209" name="Ellipse 209"/>
            <p:cNvSpPr/>
            <p:nvPr/>
          </p:nvSpPr>
          <p:spPr>
            <a:xfrm>
              <a:off x="8324850" y="4276725"/>
              <a:ext cx="495300" cy="495300"/>
            </a:xfrm>
            <a:prstGeom prst="ellipse">
              <a:avLst/>
            </a:prstGeom>
            <a:solidFill>
              <a:srgbClr val="A3381F"/>
            </a:solidFill>
            <a:ln>
              <a:noFill/>
            </a:ln>
          </p:spPr>
        </p:sp>
        <p:grpSp>
          <p:nvGrpSpPr>
            <p:cNvPr id="212" name="Group 212"/>
            <p:cNvGrpSpPr/>
            <p:nvPr/>
          </p:nvGrpSpPr>
          <p:grpSpPr>
            <a:xfrm>
              <a:off x="8472488" y="4468813"/>
              <a:ext cx="200026" cy="111125"/>
              <a:chOff x="8472488" y="4468813"/>
              <a:chExt cx="200026" cy="111125"/>
            </a:xfrm>
          </p:grpSpPr>
          <p:sp>
            <p:nvSpPr>
              <p:cNvPr id="210" name="Freeform 210"/>
              <p:cNvSpPr/>
              <p:nvPr/>
            </p:nvSpPr>
            <p:spPr>
              <a:xfrm>
                <a:off x="8472488" y="4468813"/>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FFFFFF"/>
                </a:solidFill>
              </a:ln>
            </p:spPr>
          </p:sp>
          <p:sp>
            <p:nvSpPr>
              <p:cNvPr id="211" name="Freeform 211"/>
              <p:cNvSpPr/>
              <p:nvPr/>
            </p:nvSpPr>
            <p:spPr>
              <a:xfrm>
                <a:off x="8594725" y="4468813"/>
                <a:ext cx="77788" cy="77788"/>
              </a:xfrm>
              <a:custGeom>
                <a:avLst/>
                <a:gdLst/>
                <a:ahLst/>
                <a:cxnLst/>
                <a:rect l="l" t="t" r="r" b="b"/>
                <a:pathLst>
                  <a:path w="77788" h="77788">
                    <a:moveTo>
                      <a:pt x="0" y="0"/>
                    </a:moveTo>
                    <a:lnTo>
                      <a:pt x="77788" y="0"/>
                    </a:lnTo>
                    <a:lnTo>
                      <a:pt x="77788" y="77788"/>
                    </a:lnTo>
                  </a:path>
                </a:pathLst>
              </a:custGeom>
              <a:noFill/>
              <a:ln w="22225">
                <a:solidFill>
                  <a:srgbClr val="FFFFFF"/>
                </a:solidFill>
              </a:ln>
            </p:spPr>
          </p:sp>
        </p:grpSp>
        <p:sp>
          <p:nvSpPr>
            <p:cNvPr id="213" name="TextBox 213"/>
            <p:cNvSpPr txBox="1"/>
            <p:nvPr/>
          </p:nvSpPr>
          <p:spPr>
            <a:xfrm>
              <a:off x="8985885" y="4336256"/>
              <a:ext cx="614528" cy="220028"/>
            </a:xfrm>
            <a:prstGeom prst="rect">
              <a:avLst/>
            </a:prstGeom>
            <a:noFill/>
            <a:ln>
              <a:noFill/>
            </a:ln>
          </p:spPr>
          <p:txBody>
            <a:bodyPr wrap="none" lIns="0" tIns="0" rIns="0" bIns="0" anchor="t" anchorCtr="0">
              <a:spAutoFit/>
            </a:bodyPr>
            <a:lstStyle/>
            <a:p>
              <a:pPr algn="l"/>
              <a:r>
                <a:rPr lang="zh-CN" sz="1120" b="1" dirty="0">
                  <a:solidFill>
                    <a:srgbClr val="A3381F"/>
                  </a:solidFill>
                  <a:latin typeface="+mn-lt"/>
                  <a:ea typeface="+mn-ea"/>
                  <a:cs typeface="+mn-cs"/>
                </a:rPr>
                <a:t>经营成效</a:t>
              </a:r>
            </a:p>
          </p:txBody>
        </p:sp>
        <p:sp>
          <p:nvSpPr>
            <p:cNvPr id="214" name="TextBox 214"/>
            <p:cNvSpPr txBox="1"/>
            <p:nvPr/>
          </p:nvSpPr>
          <p:spPr>
            <a:xfrm>
              <a:off x="8986838" y="4604147"/>
              <a:ext cx="2413838" cy="183356"/>
            </a:xfrm>
            <a:prstGeom prst="rect">
              <a:avLst/>
            </a:prstGeom>
            <a:noFill/>
            <a:ln>
              <a:noFill/>
            </a:ln>
          </p:spPr>
          <p:txBody>
            <a:bodyPr wrap="none" lIns="0" tIns="0" rIns="0" bIns="0" anchor="t" anchorCtr="0">
              <a:spAutoFit/>
            </a:bodyPr>
            <a:lstStyle/>
            <a:p>
              <a:pPr algn="l"/>
              <a:r>
                <a:rPr lang="zh-CN" sz="940" b="1" dirty="0">
                  <a:solidFill>
                    <a:srgbClr val="5E3A33"/>
                  </a:solidFill>
                  <a:latin typeface="+mn-lt"/>
                  <a:ea typeface="+mn-ea"/>
                  <a:cs typeface="+mn-cs"/>
                </a:rPr>
                <a:t>精准识别、差异维护、客户成长、价值提升</a:t>
              </a:r>
            </a:p>
          </p:txBody>
        </p:sp>
      </p:grpSp>
      <p:grpSp>
        <p:nvGrpSpPr>
          <p:cNvPr id="223" name="concl-banner17"/>
          <p:cNvGrpSpPr/>
          <p:nvPr/>
        </p:nvGrpSpPr>
        <p:grpSpPr>
          <a:xfrm>
            <a:off x="381000" y="5257800"/>
            <a:ext cx="11430000" cy="952500"/>
            <a:chOff x="381000" y="5257800"/>
            <a:chExt cx="11430000" cy="952500"/>
          </a:xfrm>
        </p:grpSpPr>
        <p:sp>
          <p:nvSpPr>
            <p:cNvPr id="216" name="Rectangle 216"/>
            <p:cNvSpPr/>
            <p:nvPr/>
          </p:nvSpPr>
          <p:spPr>
            <a:xfrm>
              <a:off x="381000" y="5257800"/>
              <a:ext cx="11430000" cy="952500"/>
            </a:xfrm>
            <a:prstGeom prst="roundRect">
              <a:avLst>
                <a:gd name="adj" fmla="val 14000"/>
              </a:avLst>
            </a:prstGeom>
            <a:gradFill>
              <a:gsLst>
                <a:gs pos="0">
                  <a:srgbClr val="8E2B14"/>
                </a:gs>
                <a:gs pos="50000">
                  <a:srgbClr val="A3381F"/>
                </a:gs>
                <a:gs pos="100000">
                  <a:srgbClr val="C85E46"/>
                </a:gs>
              </a:gsLst>
              <a:lin ang="0" scaled="1"/>
            </a:gradFill>
            <a:ln>
              <a:noFill/>
            </a:ln>
          </p:spPr>
        </p:sp>
        <p:sp>
          <p:nvSpPr>
            <p:cNvPr id="217" name="Ellipse 217"/>
            <p:cNvSpPr/>
            <p:nvPr/>
          </p:nvSpPr>
          <p:spPr>
            <a:xfrm>
              <a:off x="876300" y="5486400"/>
              <a:ext cx="495300" cy="495300"/>
            </a:xfrm>
            <a:prstGeom prst="ellipse">
              <a:avLst/>
            </a:prstGeom>
            <a:solidFill>
              <a:srgbClr val="FFFFFF"/>
            </a:solidFill>
            <a:ln>
              <a:noFill/>
            </a:ln>
          </p:spPr>
        </p:sp>
        <p:grpSp>
          <p:nvGrpSpPr>
            <p:cNvPr id="221" name="Group 221"/>
            <p:cNvGrpSpPr/>
            <p:nvPr/>
          </p:nvGrpSpPr>
          <p:grpSpPr>
            <a:xfrm>
              <a:off x="1023938" y="5634038"/>
              <a:ext cx="200026" cy="200026"/>
              <a:chOff x="1023938" y="5634038"/>
              <a:chExt cx="200026" cy="200026"/>
            </a:xfrm>
          </p:grpSpPr>
          <p:sp>
            <p:nvSpPr>
              <p:cNvPr id="218" name="Freeform 218"/>
              <p:cNvSpPr/>
              <p:nvPr/>
            </p:nvSpPr>
            <p:spPr>
              <a:xfrm>
                <a:off x="1112838" y="572293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A3381F"/>
                </a:solidFill>
              </a:ln>
            </p:spPr>
          </p:sp>
          <p:sp>
            <p:nvSpPr>
              <p:cNvPr id="219" name="Freeform 219"/>
              <p:cNvSpPr/>
              <p:nvPr/>
            </p:nvSpPr>
            <p:spPr>
              <a:xfrm>
                <a:off x="1068388" y="5678488"/>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22225">
                <a:solidFill>
                  <a:srgbClr val="A3381F"/>
                </a:solidFill>
              </a:ln>
            </p:spPr>
          </p:sp>
          <p:sp>
            <p:nvSpPr>
              <p:cNvPr id="220" name="Freeform 220"/>
              <p:cNvSpPr/>
              <p:nvPr/>
            </p:nvSpPr>
            <p:spPr>
              <a:xfrm>
                <a:off x="1023938" y="56340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A3381F"/>
                </a:solidFill>
              </a:ln>
            </p:spPr>
          </p:sp>
        </p:grpSp>
        <p:sp>
          <p:nvSpPr>
            <p:cNvPr id="222" name="TextBox 222"/>
            <p:cNvSpPr txBox="1"/>
            <p:nvPr/>
          </p:nvSpPr>
          <p:spPr>
            <a:xfrm>
              <a:off x="2742133" y="5656421"/>
              <a:ext cx="7469734"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以</a:t>
              </a:r>
              <a:r>
                <a:rPr lang="zh-CN" sz="1420" b="1" dirty="0">
                  <a:solidFill>
                    <a:srgbClr val="F59E8F"/>
                  </a:solidFill>
                  <a:latin typeface="+mn-lt"/>
                  <a:ea typeface="+mn-ea"/>
                  <a:cs typeface="+mn-cs"/>
                </a:rPr>
                <a:t>价值分层</a:t>
              </a:r>
              <a:r>
                <a:rPr lang="zh-CN" sz="1420" b="1" dirty="0">
                  <a:solidFill>
                    <a:srgbClr val="FFFFFF"/>
                  </a:solidFill>
                  <a:latin typeface="+mn-lt"/>
                  <a:ea typeface="+mn-ea"/>
                  <a:cs typeface="+mn-cs"/>
                </a:rPr>
                <a:t>配置资源，以</a:t>
              </a:r>
              <a:r>
                <a:rPr lang="zh-CN" sz="1420" b="1" dirty="0">
                  <a:solidFill>
                    <a:srgbClr val="F59E8F"/>
                  </a:solidFill>
                  <a:latin typeface="+mn-lt"/>
                  <a:ea typeface="+mn-ea"/>
                  <a:cs typeface="+mn-cs"/>
                </a:rPr>
                <a:t>客群分类</a:t>
              </a:r>
              <a:r>
                <a:rPr lang="zh-CN" sz="1420" b="1" dirty="0">
                  <a:solidFill>
                    <a:srgbClr val="FFFFFF"/>
                  </a:solidFill>
                  <a:latin typeface="+mn-lt"/>
                  <a:ea typeface="+mn-ea"/>
                  <a:cs typeface="+mn-cs"/>
                </a:rPr>
                <a:t>识别需求，以</a:t>
              </a:r>
              <a:r>
                <a:rPr lang="zh-CN" sz="1420" b="1" dirty="0">
                  <a:solidFill>
                    <a:srgbClr val="F59E8F"/>
                  </a:solidFill>
                  <a:latin typeface="+mn-lt"/>
                  <a:ea typeface="+mn-ea"/>
                  <a:cs typeface="+mn-cs"/>
                </a:rPr>
                <a:t>动态标签</a:t>
              </a:r>
              <a:r>
                <a:rPr lang="zh-CN" sz="1420" b="1" dirty="0">
                  <a:solidFill>
                    <a:srgbClr val="FFFFFF"/>
                  </a:solidFill>
                  <a:latin typeface="+mn-lt"/>
                  <a:ea typeface="+mn-ea"/>
                  <a:cs typeface="+mn-cs"/>
                </a:rPr>
                <a:t>驱动经营，以</a:t>
              </a:r>
              <a:r>
                <a:rPr lang="zh-CN" sz="1420" b="1" dirty="0">
                  <a:solidFill>
                    <a:srgbClr val="F59E8F"/>
                  </a:solidFill>
                  <a:latin typeface="+mn-lt"/>
                  <a:ea typeface="+mn-ea"/>
                  <a:cs typeface="+mn-cs"/>
                </a:rPr>
                <a:t>维护权益</a:t>
              </a:r>
              <a:r>
                <a:rPr lang="zh-CN" sz="1420" b="1" dirty="0">
                  <a:solidFill>
                    <a:srgbClr val="FFFFFF"/>
                  </a:solidFill>
                  <a:latin typeface="+mn-lt"/>
                  <a:ea typeface="+mn-ea"/>
                  <a:cs typeface="+mn-cs"/>
                </a:rPr>
                <a:t>促进成长</a:t>
              </a:r>
            </a:p>
          </p:txBody>
        </p:sp>
      </p:gr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ver-topband"/>
          <p:cNvSpPr/>
          <p:nvPr/>
        </p:nvSpPr>
        <p:spPr>
          <a:xfrm>
            <a:off x="0" y="0"/>
            <a:ext cx="12192000" cy="400050"/>
          </a:xfrm>
          <a:prstGeom prst="rect">
            <a:avLst/>
          </a:prstGeom>
          <a:solidFill>
            <a:srgbClr val="9A290F"/>
          </a:solidFill>
          <a:ln>
            <a:noFill/>
          </a:ln>
        </p:spPr>
      </p:sp>
      <p:sp>
        <p:nvSpPr>
          <p:cNvPr id="3" name="cover-page-num"/>
          <p:cNvSpPr txBox="1"/>
          <p:nvPr/>
        </p:nvSpPr>
        <p:spPr>
          <a:xfrm>
            <a:off x="11595735" y="154781"/>
            <a:ext cx="272647"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01​</a:t>
            </a:r>
          </a:p>
        </p:txBody>
      </p:sp>
      <p:grpSp>
        <p:nvGrpSpPr>
          <p:cNvPr id="6" name="cover-title-main"/>
          <p:cNvGrpSpPr/>
          <p:nvPr/>
        </p:nvGrpSpPr>
        <p:grpSpPr>
          <a:xfrm>
            <a:off x="520446" y="1553528"/>
            <a:ext cx="6403211" cy="1032129"/>
            <a:chOff x="520446" y="1553528"/>
            <a:chExt cx="6403211" cy="1032129"/>
          </a:xfrm>
        </p:grpSpPr>
        <p:sp>
          <p:nvSpPr>
            <p:cNvPr id="4" name="TextBox 4"/>
            <p:cNvSpPr txBox="1"/>
            <p:nvPr/>
          </p:nvSpPr>
          <p:spPr>
            <a:xfrm>
              <a:off x="520446" y="1553528"/>
              <a:ext cx="4449942" cy="498729"/>
            </a:xfrm>
            <a:prstGeom prst="rect">
              <a:avLst/>
            </a:prstGeom>
            <a:noFill/>
            <a:ln>
              <a:noFill/>
            </a:ln>
          </p:spPr>
          <p:txBody>
            <a:bodyPr wrap="none" lIns="0" tIns="0" rIns="0" bIns="0" anchor="t" anchorCtr="0">
              <a:spAutoFit/>
            </a:bodyPr>
            <a:lstStyle/>
            <a:p>
              <a:pPr algn="l"/>
              <a:r>
                <a:rPr lang="zh-CN" sz="2550" b="1" dirty="0">
                  <a:solidFill>
                    <a:srgbClr val="1F1F1F"/>
                  </a:solidFill>
                  <a:latin typeface="+mn-lt"/>
                  <a:ea typeface="+mn-ea"/>
                  <a:cs typeface="+mn-cs"/>
                </a:rPr>
                <a:t>某国有银行丨</a:t>
              </a:r>
              <a:r>
                <a:rPr lang="zh-CN" sz="2550" b="1" dirty="0">
                  <a:solidFill>
                    <a:srgbClr val="A52D12"/>
                  </a:solidFill>
                  <a:latin typeface="+mn-lt"/>
                  <a:ea typeface="+mn-ea"/>
                  <a:cs typeface="+mn-cs"/>
                </a:rPr>
                <a:t>2026年上半年</a:t>
              </a:r>
              <a:r>
                <a:rPr lang="zh-CN" sz="2550" b="1" dirty="0">
                  <a:solidFill>
                    <a:srgbClr val="1F1F1F"/>
                  </a:solidFill>
                  <a:latin typeface="+mn-lt"/>
                  <a:ea typeface="+mn-ea"/>
                  <a:cs typeface="+mn-cs"/>
                </a:rPr>
                <a:t>​</a:t>
              </a:r>
            </a:p>
          </p:txBody>
        </p:sp>
        <p:sp>
          <p:nvSpPr>
            <p:cNvPr id="5" name="TextBox 5"/>
            <p:cNvSpPr txBox="1"/>
            <p:nvPr/>
          </p:nvSpPr>
          <p:spPr>
            <a:xfrm>
              <a:off x="520446" y="2086928"/>
              <a:ext cx="6403211" cy="498729"/>
            </a:xfrm>
            <a:prstGeom prst="rect">
              <a:avLst/>
            </a:prstGeom>
            <a:noFill/>
            <a:ln>
              <a:noFill/>
            </a:ln>
          </p:spPr>
          <p:txBody>
            <a:bodyPr wrap="none" lIns="0" tIns="0" rIns="0" bIns="0" anchor="t" anchorCtr="0">
              <a:spAutoFit/>
            </a:bodyPr>
            <a:lstStyle/>
            <a:p>
              <a:pPr algn="l"/>
              <a:r>
                <a:rPr lang="zh-CN" sz="2550" b="1" dirty="0">
                  <a:solidFill>
                    <a:srgbClr val="1F1F1F"/>
                  </a:solidFill>
                  <a:latin typeface="+mn-lt"/>
                  <a:ea typeface="+mn-ea"/>
                  <a:cs typeface="+mn-cs"/>
                </a:rPr>
                <a:t>经营发展情况工作汇报及下半年工作计划​</a:t>
              </a:r>
            </a:p>
          </p:txBody>
        </p:sp>
      </p:grpSp>
      <p:grpSp>
        <p:nvGrpSpPr>
          <p:cNvPr id="9" name="cover-keywords"/>
          <p:cNvGrpSpPr/>
          <p:nvPr/>
        </p:nvGrpSpPr>
        <p:grpSpPr>
          <a:xfrm>
            <a:off x="527685" y="2933700"/>
            <a:ext cx="5377815" cy="479584"/>
            <a:chOff x="527685" y="2933700"/>
            <a:chExt cx="5377815" cy="479584"/>
          </a:xfrm>
        </p:grpSpPr>
        <p:sp>
          <p:nvSpPr>
            <p:cNvPr id="7" name="Line 7"/>
            <p:cNvSpPr/>
            <p:nvPr/>
          </p:nvSpPr>
          <p:spPr>
            <a:xfrm>
              <a:off x="533400" y="2933700"/>
              <a:ext cx="5372100" cy="9525"/>
            </a:xfrm>
            <a:custGeom>
              <a:avLst/>
              <a:gdLst/>
              <a:ahLst/>
              <a:cxnLst/>
              <a:rect l="l" t="t" r="r" b="b"/>
              <a:pathLst>
                <a:path w="5372100" h="9525">
                  <a:moveTo>
                    <a:pt x="0" y="0"/>
                  </a:moveTo>
                  <a:lnTo>
                    <a:pt x="5372100" y="0"/>
                  </a:lnTo>
                </a:path>
              </a:pathLst>
            </a:custGeom>
            <a:noFill/>
            <a:ln w="9525">
              <a:solidFill>
                <a:srgbClr val="D8C9C6"/>
              </a:solidFill>
            </a:ln>
          </p:spPr>
        </p:sp>
        <p:sp>
          <p:nvSpPr>
            <p:cNvPr id="8" name="TextBox 8"/>
            <p:cNvSpPr txBox="1"/>
            <p:nvPr/>
          </p:nvSpPr>
          <p:spPr>
            <a:xfrm>
              <a:off x="527685" y="3193256"/>
              <a:ext cx="4587433" cy="220028"/>
            </a:xfrm>
            <a:prstGeom prst="rect">
              <a:avLst/>
            </a:prstGeom>
            <a:noFill/>
            <a:ln>
              <a:noFill/>
            </a:ln>
          </p:spPr>
          <p:txBody>
            <a:bodyPr wrap="none" lIns="0" tIns="0" rIns="0" bIns="0" anchor="t" anchorCtr="0">
              <a:spAutoFit/>
            </a:bodyPr>
            <a:lstStyle/>
            <a:p>
              <a:pPr algn="l"/>
              <a:r>
                <a:rPr lang="zh-CN" sz="1120" dirty="0">
                  <a:solidFill>
                    <a:srgbClr val="3A3A3A"/>
                  </a:solidFill>
                  <a:latin typeface="+mn-lt"/>
                  <a:ea typeface="+mn-ea"/>
                  <a:cs typeface="+mn-cs"/>
                </a:rPr>
                <a:t xml:space="preserve">聚焦价值创造 </a:t>
              </a:r>
              <a:r>
                <a:rPr lang="zh-CN" sz="1120" dirty="0">
                  <a:solidFill>
                    <a:srgbClr val="A52D12"/>
                  </a:solidFill>
                  <a:latin typeface="+mn-lt"/>
                  <a:ea typeface="+mn-ea"/>
                  <a:cs typeface="+mn-cs"/>
                </a:rPr>
                <a:t>丨</a:t>
              </a:r>
              <a:r>
                <a:rPr lang="zh-CN" sz="1120" dirty="0">
                  <a:solidFill>
                    <a:srgbClr val="3A3A3A"/>
                  </a:solidFill>
                  <a:latin typeface="+mn-lt"/>
                  <a:ea typeface="+mn-ea"/>
                  <a:cs typeface="+mn-cs"/>
                </a:rPr>
                <a:t xml:space="preserve"> 深化精细管理 </a:t>
              </a:r>
              <a:r>
                <a:rPr lang="zh-CN" sz="1120" dirty="0">
                  <a:solidFill>
                    <a:srgbClr val="A52D12"/>
                  </a:solidFill>
                  <a:latin typeface="+mn-lt"/>
                  <a:ea typeface="+mn-ea"/>
                  <a:cs typeface="+mn-cs"/>
                </a:rPr>
                <a:t>丨</a:t>
              </a:r>
              <a:r>
                <a:rPr lang="zh-CN" sz="1120" dirty="0">
                  <a:solidFill>
                    <a:srgbClr val="3A3A3A"/>
                  </a:solidFill>
                  <a:latin typeface="+mn-lt"/>
                  <a:ea typeface="+mn-ea"/>
                  <a:cs typeface="+mn-cs"/>
                </a:rPr>
                <a:t xml:space="preserve"> 筑牢风险底线 </a:t>
              </a:r>
              <a:r>
                <a:rPr lang="zh-CN" sz="1120" dirty="0">
                  <a:solidFill>
                    <a:srgbClr val="A52D12"/>
                  </a:solidFill>
                  <a:latin typeface="+mn-lt"/>
                  <a:ea typeface="+mn-ea"/>
                  <a:cs typeface="+mn-cs"/>
                </a:rPr>
                <a:t>丨</a:t>
              </a:r>
              <a:r>
                <a:rPr lang="zh-CN" sz="1120" dirty="0">
                  <a:solidFill>
                    <a:srgbClr val="3A3A3A"/>
                  </a:solidFill>
                  <a:latin typeface="+mn-lt"/>
                  <a:ea typeface="+mn-ea"/>
                  <a:cs typeface="+mn-cs"/>
                </a:rPr>
                <a:t xml:space="preserve"> 推动高质量发展​</a:t>
              </a:r>
            </a:p>
          </p:txBody>
        </p:sp>
      </p:grpSp>
      <p:grpSp>
        <p:nvGrpSpPr>
          <p:cNvPr id="12" name="cover-date"/>
          <p:cNvGrpSpPr/>
          <p:nvPr/>
        </p:nvGrpSpPr>
        <p:grpSpPr>
          <a:xfrm>
            <a:off x="527304" y="4629150"/>
            <a:ext cx="868375" cy="524256"/>
            <a:chOff x="527304" y="4629150"/>
            <a:chExt cx="868375" cy="524256"/>
          </a:xfrm>
        </p:grpSpPr>
        <p:sp>
          <p:nvSpPr>
            <p:cNvPr id="10" name="Rectangle 10"/>
            <p:cNvSpPr/>
            <p:nvPr/>
          </p:nvSpPr>
          <p:spPr>
            <a:xfrm>
              <a:off x="533400" y="4629150"/>
              <a:ext cx="438150" cy="38100"/>
            </a:xfrm>
            <a:prstGeom prst="rect">
              <a:avLst/>
            </a:prstGeom>
            <a:solidFill>
              <a:srgbClr val="A52D12"/>
            </a:solidFill>
            <a:ln>
              <a:noFill/>
            </a:ln>
          </p:spPr>
        </p:sp>
        <p:sp>
          <p:nvSpPr>
            <p:cNvPr id="11" name="TextBox 11"/>
            <p:cNvSpPr txBox="1"/>
            <p:nvPr/>
          </p:nvSpPr>
          <p:spPr>
            <a:xfrm>
              <a:off x="527304" y="4918710"/>
              <a:ext cx="868375" cy="234696"/>
            </a:xfrm>
            <a:prstGeom prst="rect">
              <a:avLst/>
            </a:prstGeom>
            <a:noFill/>
            <a:ln>
              <a:noFill/>
            </a:ln>
          </p:spPr>
          <p:txBody>
            <a:bodyPr wrap="none" lIns="0" tIns="0" rIns="0" bIns="0" anchor="t" anchorCtr="0">
              <a:spAutoFit/>
            </a:bodyPr>
            <a:lstStyle/>
            <a:p>
              <a:pPr algn="l"/>
              <a:r>
                <a:rPr lang="zh-CN" sz="1200" dirty="0">
                  <a:solidFill>
                    <a:srgbClr val="3A3A3A"/>
                  </a:solidFill>
                  <a:latin typeface="+mn-lt"/>
                  <a:ea typeface="+mn-ea"/>
                  <a:cs typeface="+mn-cs"/>
                </a:rPr>
                <a:t>2026年7月​</a:t>
              </a:r>
            </a:p>
          </p:txBody>
        </p:sp>
      </p:grpSp>
      <p:grpSp>
        <p:nvGrpSpPr>
          <p:cNvPr id="35" name="cover-art"/>
          <p:cNvGrpSpPr/>
          <p:nvPr/>
        </p:nvGrpSpPr>
        <p:grpSpPr>
          <a:xfrm>
            <a:off x="7429500" y="1466850"/>
            <a:ext cx="4762500" cy="5391150"/>
            <a:chOff x="7429500" y="1466850"/>
            <a:chExt cx="4762500" cy="5391150"/>
          </a:xfrm>
        </p:grpSpPr>
        <p:sp>
          <p:nvSpPr>
            <p:cNvPr id="13" name="Polygon 13"/>
            <p:cNvSpPr/>
            <p:nvPr/>
          </p:nvSpPr>
          <p:spPr>
            <a:xfrm>
              <a:off x="7429500" y="5334000"/>
              <a:ext cx="4762500" cy="1524000"/>
            </a:xfrm>
            <a:custGeom>
              <a:avLst/>
              <a:gdLst/>
              <a:ahLst/>
              <a:cxnLst/>
              <a:rect l="l" t="t" r="r" b="b"/>
              <a:pathLst>
                <a:path w="4762500" h="1524000">
                  <a:moveTo>
                    <a:pt x="0" y="1524000"/>
                  </a:moveTo>
                  <a:lnTo>
                    <a:pt x="4762500" y="1524000"/>
                  </a:lnTo>
                  <a:lnTo>
                    <a:pt x="4762500" y="0"/>
                  </a:lnTo>
                  <a:lnTo>
                    <a:pt x="0" y="952500"/>
                  </a:lnTo>
                  <a:close/>
                </a:path>
              </a:pathLst>
            </a:custGeom>
            <a:gradFill>
              <a:gsLst>
                <a:gs pos="0">
                  <a:srgbClr val="F6DBD7">
                    <a:alpha val="0"/>
                  </a:srgbClr>
                </a:gs>
                <a:gs pos="55000">
                  <a:srgbClr val="E9B9B1">
                    <a:alpha val="55000"/>
                  </a:srgbClr>
                </a:gs>
                <a:gs pos="100000">
                  <a:srgbClr val="A52D12">
                    <a:alpha val="85000"/>
                  </a:srgbClr>
                </a:gs>
              </a:gsLst>
              <a:lin ang="0" scaled="1"/>
            </a:gradFill>
            <a:ln>
              <a:noFill/>
            </a:ln>
          </p:spPr>
        </p:sp>
        <p:sp>
          <p:nvSpPr>
            <p:cNvPr id="14" name="Polygon 14"/>
            <p:cNvSpPr/>
            <p:nvPr/>
          </p:nvSpPr>
          <p:spPr>
            <a:xfrm>
              <a:off x="7429500" y="6096000"/>
              <a:ext cx="4762500" cy="762000"/>
            </a:xfrm>
            <a:custGeom>
              <a:avLst/>
              <a:gdLst/>
              <a:ahLst/>
              <a:cxnLst/>
              <a:rect l="l" t="t" r="r" b="b"/>
              <a:pathLst>
                <a:path w="4762500" h="762000">
                  <a:moveTo>
                    <a:pt x="0" y="762000"/>
                  </a:moveTo>
                  <a:lnTo>
                    <a:pt x="4762500" y="762000"/>
                  </a:lnTo>
                  <a:lnTo>
                    <a:pt x="4762500" y="0"/>
                  </a:lnTo>
                  <a:lnTo>
                    <a:pt x="0" y="571500"/>
                  </a:lnTo>
                  <a:close/>
                </a:path>
              </a:pathLst>
            </a:custGeom>
            <a:solidFill>
              <a:srgbClr val="EFCFCA">
                <a:alpha val="60000"/>
              </a:srgbClr>
            </a:solidFill>
            <a:ln>
              <a:noFill/>
            </a:ln>
          </p:spPr>
        </p:sp>
        <p:grpSp>
          <p:nvGrpSpPr>
            <p:cNvPr id="29" name="cover-city"/>
            <p:cNvGrpSpPr/>
            <p:nvPr/>
          </p:nvGrpSpPr>
          <p:grpSpPr>
            <a:xfrm>
              <a:off x="7620000" y="2381250"/>
              <a:ext cx="4343400" cy="4191000"/>
              <a:chOff x="7620000" y="2381250"/>
              <a:chExt cx="4343400" cy="4191000"/>
            </a:xfrm>
          </p:grpSpPr>
          <p:sp>
            <p:nvSpPr>
              <p:cNvPr id="15" name="Rectangle 15"/>
              <p:cNvSpPr/>
              <p:nvPr/>
            </p:nvSpPr>
            <p:spPr>
              <a:xfrm>
                <a:off x="7620000" y="4476750"/>
                <a:ext cx="323850" cy="2095500"/>
              </a:xfrm>
              <a:prstGeom prst="rect">
                <a:avLst/>
              </a:prstGeom>
              <a:gradFill>
                <a:gsLst>
                  <a:gs pos="0">
                    <a:srgbClr val="FBEAE8"/>
                  </a:gs>
                  <a:gs pos="100000">
                    <a:srgbClr val="F6D9D5"/>
                  </a:gs>
                </a:gsLst>
                <a:lin ang="5400000" scaled="1"/>
              </a:gradFill>
              <a:ln w="11430">
                <a:solidFill>
                  <a:srgbClr val="C87263"/>
                </a:solidFill>
              </a:ln>
            </p:spPr>
          </p:sp>
          <p:sp>
            <p:nvSpPr>
              <p:cNvPr id="16" name="Rectangle 16"/>
              <p:cNvSpPr/>
              <p:nvPr/>
            </p:nvSpPr>
            <p:spPr>
              <a:xfrm>
                <a:off x="8039100" y="4000500"/>
                <a:ext cx="381000" cy="2571750"/>
              </a:xfrm>
              <a:prstGeom prst="rect">
                <a:avLst/>
              </a:prstGeom>
              <a:gradFill>
                <a:gsLst>
                  <a:gs pos="0">
                    <a:srgbClr val="FBEAE8"/>
                  </a:gs>
                  <a:gs pos="100000">
                    <a:srgbClr val="F6D9D5"/>
                  </a:gs>
                </a:gsLst>
                <a:lin ang="5400000" scaled="1"/>
              </a:gradFill>
              <a:ln w="11430">
                <a:solidFill>
                  <a:srgbClr val="C87263"/>
                </a:solidFill>
              </a:ln>
            </p:spPr>
          </p:sp>
          <p:sp>
            <p:nvSpPr>
              <p:cNvPr id="17" name="Rectangle 17"/>
              <p:cNvSpPr/>
              <p:nvPr/>
            </p:nvSpPr>
            <p:spPr>
              <a:xfrm>
                <a:off x="8515350" y="3619500"/>
                <a:ext cx="285750" cy="2952750"/>
              </a:xfrm>
              <a:prstGeom prst="rect">
                <a:avLst/>
              </a:prstGeom>
              <a:gradFill>
                <a:gsLst>
                  <a:gs pos="0">
                    <a:srgbClr val="FBEAE8"/>
                  </a:gs>
                  <a:gs pos="100000">
                    <a:srgbClr val="F6D9D5"/>
                  </a:gs>
                </a:gsLst>
                <a:lin ang="5400000" scaled="1"/>
              </a:gradFill>
              <a:ln w="11430">
                <a:solidFill>
                  <a:srgbClr val="C87263"/>
                </a:solidFill>
              </a:ln>
            </p:spPr>
          </p:sp>
          <p:sp>
            <p:nvSpPr>
              <p:cNvPr id="18" name="Rectangle 18"/>
              <p:cNvSpPr/>
              <p:nvPr/>
            </p:nvSpPr>
            <p:spPr>
              <a:xfrm>
                <a:off x="8896350" y="2857500"/>
                <a:ext cx="495300" cy="3714750"/>
              </a:xfrm>
              <a:prstGeom prst="rect">
                <a:avLst/>
              </a:prstGeom>
              <a:gradFill>
                <a:gsLst>
                  <a:gs pos="0">
                    <a:srgbClr val="FBEAE8"/>
                  </a:gs>
                  <a:gs pos="100000">
                    <a:srgbClr val="F6D9D5"/>
                  </a:gs>
                </a:gsLst>
                <a:lin ang="5400000" scaled="1"/>
              </a:gradFill>
              <a:ln w="13335">
                <a:solidFill>
                  <a:srgbClr val="B8503E"/>
                </a:solidFill>
              </a:ln>
            </p:spPr>
          </p:sp>
          <p:sp>
            <p:nvSpPr>
              <p:cNvPr id="19" name="Rectangle 19"/>
              <p:cNvSpPr/>
              <p:nvPr/>
            </p:nvSpPr>
            <p:spPr>
              <a:xfrm>
                <a:off x="9486900" y="3429000"/>
                <a:ext cx="342900" cy="3143250"/>
              </a:xfrm>
              <a:prstGeom prst="rect">
                <a:avLst/>
              </a:prstGeom>
              <a:gradFill>
                <a:gsLst>
                  <a:gs pos="0">
                    <a:srgbClr val="FBEAE8"/>
                  </a:gs>
                  <a:gs pos="100000">
                    <a:srgbClr val="F6D9D5"/>
                  </a:gs>
                </a:gsLst>
                <a:lin ang="5400000" scaled="1"/>
              </a:gradFill>
              <a:ln w="11430">
                <a:solidFill>
                  <a:srgbClr val="C87263"/>
                </a:solidFill>
              </a:ln>
            </p:spPr>
          </p:sp>
          <p:sp>
            <p:nvSpPr>
              <p:cNvPr id="20" name="Rectangle 20"/>
              <p:cNvSpPr/>
              <p:nvPr/>
            </p:nvSpPr>
            <p:spPr>
              <a:xfrm>
                <a:off x="9925050" y="2381250"/>
                <a:ext cx="552450" cy="4191000"/>
              </a:xfrm>
              <a:prstGeom prst="rect">
                <a:avLst/>
              </a:prstGeom>
              <a:gradFill>
                <a:gsLst>
                  <a:gs pos="0">
                    <a:srgbClr val="FBEAE8"/>
                  </a:gs>
                  <a:gs pos="100000">
                    <a:srgbClr val="F6D9D5"/>
                  </a:gs>
                </a:gsLst>
                <a:lin ang="5400000" scaled="1"/>
              </a:gradFill>
              <a:ln w="13335">
                <a:solidFill>
                  <a:srgbClr val="B8503E"/>
                </a:solidFill>
              </a:ln>
            </p:spPr>
          </p:sp>
          <p:sp>
            <p:nvSpPr>
              <p:cNvPr id="21" name="Rectangle 21"/>
              <p:cNvSpPr/>
              <p:nvPr/>
            </p:nvSpPr>
            <p:spPr>
              <a:xfrm>
                <a:off x="10572750" y="3143250"/>
                <a:ext cx="381000" cy="3429000"/>
              </a:xfrm>
              <a:prstGeom prst="rect">
                <a:avLst/>
              </a:prstGeom>
              <a:gradFill>
                <a:gsLst>
                  <a:gs pos="0">
                    <a:srgbClr val="FBEAE8"/>
                  </a:gs>
                  <a:gs pos="100000">
                    <a:srgbClr val="F6D9D5"/>
                  </a:gs>
                </a:gsLst>
                <a:lin ang="5400000" scaled="1"/>
              </a:gradFill>
              <a:ln w="11430">
                <a:solidFill>
                  <a:srgbClr val="C87263"/>
                </a:solidFill>
              </a:ln>
            </p:spPr>
          </p:sp>
          <p:sp>
            <p:nvSpPr>
              <p:cNvPr id="22" name="Rectangle 22"/>
              <p:cNvSpPr/>
              <p:nvPr/>
            </p:nvSpPr>
            <p:spPr>
              <a:xfrm>
                <a:off x="11049000" y="2762250"/>
                <a:ext cx="495300" cy="3810000"/>
              </a:xfrm>
              <a:prstGeom prst="rect">
                <a:avLst/>
              </a:prstGeom>
              <a:gradFill>
                <a:gsLst>
                  <a:gs pos="0">
                    <a:srgbClr val="FBEAE8"/>
                  </a:gs>
                  <a:gs pos="100000">
                    <a:srgbClr val="F6D9D5"/>
                  </a:gs>
                </a:gsLst>
                <a:lin ang="5400000" scaled="1"/>
              </a:gradFill>
              <a:ln w="13335">
                <a:solidFill>
                  <a:srgbClr val="B8503E"/>
                </a:solidFill>
              </a:ln>
            </p:spPr>
          </p:sp>
          <p:sp>
            <p:nvSpPr>
              <p:cNvPr id="23" name="Rectangle 23"/>
              <p:cNvSpPr/>
              <p:nvPr/>
            </p:nvSpPr>
            <p:spPr>
              <a:xfrm>
                <a:off x="11639550" y="3619500"/>
                <a:ext cx="323850" cy="2952750"/>
              </a:xfrm>
              <a:prstGeom prst="rect">
                <a:avLst/>
              </a:prstGeom>
              <a:gradFill>
                <a:gsLst>
                  <a:gs pos="0">
                    <a:srgbClr val="FBEAE8"/>
                  </a:gs>
                  <a:gs pos="100000">
                    <a:srgbClr val="F6D9D5"/>
                  </a:gs>
                </a:gsLst>
                <a:lin ang="5400000" scaled="1"/>
              </a:gradFill>
              <a:ln w="11430">
                <a:solidFill>
                  <a:srgbClr val="C87263"/>
                </a:solidFill>
              </a:ln>
            </p:spPr>
          </p:sp>
          <p:sp>
            <p:nvSpPr>
              <p:cNvPr id="24" name="Line 24"/>
              <p:cNvSpPr/>
              <p:nvPr/>
            </p:nvSpPr>
            <p:spPr>
              <a:xfrm>
                <a:off x="9144000" y="2857500"/>
                <a:ext cx="9525" cy="3714750"/>
              </a:xfrm>
              <a:custGeom>
                <a:avLst/>
                <a:gdLst/>
                <a:ahLst/>
                <a:cxnLst/>
                <a:rect l="l" t="t" r="r" b="b"/>
                <a:pathLst>
                  <a:path w="9525" h="3714750">
                    <a:moveTo>
                      <a:pt x="0" y="0"/>
                    </a:moveTo>
                    <a:lnTo>
                      <a:pt x="0" y="3714750"/>
                    </a:lnTo>
                  </a:path>
                </a:pathLst>
              </a:custGeom>
              <a:noFill/>
              <a:ln w="7620">
                <a:solidFill>
                  <a:srgbClr val="E3B3AB"/>
                </a:solidFill>
              </a:ln>
            </p:spPr>
          </p:sp>
          <p:sp>
            <p:nvSpPr>
              <p:cNvPr id="25" name="Line 25"/>
              <p:cNvSpPr/>
              <p:nvPr/>
            </p:nvSpPr>
            <p:spPr>
              <a:xfrm>
                <a:off x="9048750" y="3143250"/>
                <a:ext cx="190500" cy="9525"/>
              </a:xfrm>
              <a:custGeom>
                <a:avLst/>
                <a:gdLst/>
                <a:ahLst/>
                <a:cxnLst/>
                <a:rect l="l" t="t" r="r" b="b"/>
                <a:pathLst>
                  <a:path w="190500" h="9525">
                    <a:moveTo>
                      <a:pt x="0" y="0"/>
                    </a:moveTo>
                    <a:lnTo>
                      <a:pt x="190500" y="0"/>
                    </a:lnTo>
                  </a:path>
                </a:pathLst>
              </a:custGeom>
              <a:noFill/>
              <a:ln w="7620">
                <a:solidFill>
                  <a:srgbClr val="E3B3AB"/>
                </a:solidFill>
              </a:ln>
            </p:spPr>
          </p:sp>
          <p:sp>
            <p:nvSpPr>
              <p:cNvPr id="26" name="Line 26"/>
              <p:cNvSpPr/>
              <p:nvPr/>
            </p:nvSpPr>
            <p:spPr>
              <a:xfrm>
                <a:off x="10201275" y="2381250"/>
                <a:ext cx="9525" cy="4191000"/>
              </a:xfrm>
              <a:custGeom>
                <a:avLst/>
                <a:gdLst/>
                <a:ahLst/>
                <a:cxnLst/>
                <a:rect l="l" t="t" r="r" b="b"/>
                <a:pathLst>
                  <a:path w="9525" h="4191000">
                    <a:moveTo>
                      <a:pt x="0" y="0"/>
                    </a:moveTo>
                    <a:lnTo>
                      <a:pt x="0" y="4191000"/>
                    </a:lnTo>
                  </a:path>
                </a:pathLst>
              </a:custGeom>
              <a:noFill/>
              <a:ln w="7620">
                <a:solidFill>
                  <a:srgbClr val="E3B3AB"/>
                </a:solidFill>
              </a:ln>
            </p:spPr>
          </p:sp>
          <p:sp>
            <p:nvSpPr>
              <p:cNvPr id="27" name="Line 27"/>
              <p:cNvSpPr/>
              <p:nvPr/>
            </p:nvSpPr>
            <p:spPr>
              <a:xfrm>
                <a:off x="10086975" y="2762250"/>
                <a:ext cx="228600" cy="9525"/>
              </a:xfrm>
              <a:custGeom>
                <a:avLst/>
                <a:gdLst/>
                <a:ahLst/>
                <a:cxnLst/>
                <a:rect l="l" t="t" r="r" b="b"/>
                <a:pathLst>
                  <a:path w="228600" h="9525">
                    <a:moveTo>
                      <a:pt x="0" y="0"/>
                    </a:moveTo>
                    <a:lnTo>
                      <a:pt x="228600" y="0"/>
                    </a:lnTo>
                  </a:path>
                </a:pathLst>
              </a:custGeom>
              <a:noFill/>
              <a:ln w="7620">
                <a:solidFill>
                  <a:srgbClr val="E3B3AB"/>
                </a:solidFill>
              </a:ln>
            </p:spPr>
          </p:sp>
          <p:sp>
            <p:nvSpPr>
              <p:cNvPr id="28" name="Line 28"/>
              <p:cNvSpPr/>
              <p:nvPr/>
            </p:nvSpPr>
            <p:spPr>
              <a:xfrm>
                <a:off x="10086975" y="3333750"/>
                <a:ext cx="228600" cy="9525"/>
              </a:xfrm>
              <a:custGeom>
                <a:avLst/>
                <a:gdLst/>
                <a:ahLst/>
                <a:cxnLst/>
                <a:rect l="l" t="t" r="r" b="b"/>
                <a:pathLst>
                  <a:path w="228600" h="9525">
                    <a:moveTo>
                      <a:pt x="0" y="0"/>
                    </a:moveTo>
                    <a:lnTo>
                      <a:pt x="228600" y="0"/>
                    </a:lnTo>
                  </a:path>
                </a:pathLst>
              </a:custGeom>
              <a:noFill/>
              <a:ln w="7620">
                <a:solidFill>
                  <a:srgbClr val="E3B3AB"/>
                </a:solidFill>
              </a:ln>
            </p:spPr>
          </p:sp>
        </p:grpSp>
        <p:grpSp>
          <p:nvGrpSpPr>
            <p:cNvPr id="34" name="cover-curve"/>
            <p:cNvGrpSpPr/>
            <p:nvPr/>
          </p:nvGrpSpPr>
          <p:grpSpPr>
            <a:xfrm>
              <a:off x="7581900" y="1466850"/>
              <a:ext cx="3905250" cy="4667250"/>
              <a:chOff x="7581900" y="1466850"/>
              <a:chExt cx="3905250" cy="4667250"/>
            </a:xfrm>
          </p:grpSpPr>
          <p:sp>
            <p:nvSpPr>
              <p:cNvPr id="30" name="Freeform 30"/>
              <p:cNvSpPr/>
              <p:nvPr/>
            </p:nvSpPr>
            <p:spPr>
              <a:xfrm>
                <a:off x="7620000" y="1524000"/>
                <a:ext cx="3810000" cy="4572000"/>
              </a:xfrm>
              <a:custGeom>
                <a:avLst/>
                <a:gdLst/>
                <a:ahLst/>
                <a:cxnLst/>
                <a:rect l="l" t="t" r="r" b="b"/>
                <a:pathLst>
                  <a:path w="3810000" h="4572000">
                    <a:moveTo>
                      <a:pt x="0" y="4572000"/>
                    </a:moveTo>
                    <a:cubicBezTo>
                      <a:pt x="1333500" y="4191000"/>
                      <a:pt x="2476500" y="2571750"/>
                      <a:pt x="3810000" y="0"/>
                    </a:cubicBezTo>
                  </a:path>
                </a:pathLst>
              </a:custGeom>
              <a:noFill/>
              <a:ln w="33338">
                <a:solidFill>
                  <a:srgbClr val="C9604E"/>
                </a:solidFill>
              </a:ln>
            </p:spPr>
          </p:sp>
          <p:sp>
            <p:nvSpPr>
              <p:cNvPr id="31" name="Polygon 31"/>
              <p:cNvSpPr/>
              <p:nvPr/>
            </p:nvSpPr>
            <p:spPr>
              <a:xfrm>
                <a:off x="11296650" y="1524000"/>
                <a:ext cx="190500" cy="209550"/>
              </a:xfrm>
              <a:custGeom>
                <a:avLst/>
                <a:gdLst/>
                <a:ahLst/>
                <a:cxnLst/>
                <a:rect l="l" t="t" r="r" b="b"/>
                <a:pathLst>
                  <a:path w="190500" h="209550">
                    <a:moveTo>
                      <a:pt x="133350" y="0"/>
                    </a:moveTo>
                    <a:lnTo>
                      <a:pt x="0" y="171450"/>
                    </a:lnTo>
                    <a:lnTo>
                      <a:pt x="190500" y="209550"/>
                    </a:lnTo>
                    <a:close/>
                  </a:path>
                </a:pathLst>
              </a:custGeom>
              <a:solidFill>
                <a:srgbClr val="C9604E"/>
              </a:solidFill>
              <a:ln>
                <a:noFill/>
              </a:ln>
            </p:spPr>
          </p:sp>
          <p:sp>
            <p:nvSpPr>
              <p:cNvPr id="32" name="Ellipse 32"/>
              <p:cNvSpPr/>
              <p:nvPr/>
            </p:nvSpPr>
            <p:spPr>
              <a:xfrm>
                <a:off x="11372850" y="1466850"/>
                <a:ext cx="114300" cy="114300"/>
              </a:xfrm>
              <a:prstGeom prst="ellipse">
                <a:avLst/>
              </a:prstGeom>
              <a:solidFill>
                <a:srgbClr val="C9604E"/>
              </a:solidFill>
              <a:ln>
                <a:noFill/>
              </a:ln>
            </p:spPr>
          </p:sp>
          <p:sp>
            <p:nvSpPr>
              <p:cNvPr id="33" name="Ellipse 33"/>
              <p:cNvSpPr/>
              <p:nvPr/>
            </p:nvSpPr>
            <p:spPr>
              <a:xfrm>
                <a:off x="7581900" y="6057900"/>
                <a:ext cx="76200" cy="76200"/>
              </a:xfrm>
              <a:prstGeom prst="ellipse">
                <a:avLst/>
              </a:prstGeom>
              <a:solidFill>
                <a:srgbClr val="C9604E"/>
              </a:solidFill>
              <a:ln>
                <a:noFill/>
              </a:ln>
            </p:spPr>
          </p:sp>
        </p:grpSp>
      </p:gr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02​</a:t>
              </a:r>
            </a:p>
          </p:txBody>
        </p:sp>
        <p:sp>
          <p:nvSpPr>
            <p:cNvPr id="4" name="TextBox 4"/>
            <p:cNvSpPr txBox="1"/>
            <p:nvPr/>
          </p:nvSpPr>
          <p:spPr>
            <a:xfrm>
              <a:off x="942594" y="189548"/>
              <a:ext cx="5844540"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稳中有进、进中提质，</a:t>
              </a:r>
              <a:r>
                <a:rPr lang="zh-CN" sz="1950" b="1" dirty="0">
                  <a:solidFill>
                    <a:srgbClr val="A52D12"/>
                  </a:solidFill>
                  <a:latin typeface="SimSun"/>
                  <a:ea typeface="SimSun"/>
                  <a:cs typeface="SimSun"/>
                </a:rPr>
                <a:t>高质量发展基础持续巩固</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10" name="lead"/>
          <p:cNvGrpSpPr/>
          <p:nvPr/>
        </p:nvGrpSpPr>
        <p:grpSpPr>
          <a:xfrm>
            <a:off x="381000" y="742950"/>
            <a:ext cx="7664033" cy="495300"/>
            <a:chOff x="381000" y="742950"/>
            <a:chExt cx="7664033" cy="495300"/>
          </a:xfrm>
        </p:grpSpPr>
        <p:sp>
          <p:nvSpPr>
            <p:cNvPr id="7" name="Rectangle 7"/>
            <p:cNvSpPr/>
            <p:nvPr/>
          </p:nvSpPr>
          <p:spPr>
            <a:xfrm>
              <a:off x="381000" y="742950"/>
              <a:ext cx="38100" cy="495300"/>
            </a:xfrm>
            <a:prstGeom prst="rect">
              <a:avLst/>
            </a:prstGeom>
            <a:solidFill>
              <a:srgbClr val="A52D12"/>
            </a:solidFill>
            <a:ln>
              <a:noFill/>
            </a:ln>
          </p:spPr>
        </p:sp>
        <p:sp>
          <p:nvSpPr>
            <p:cNvPr id="8" name="TextBox 8"/>
            <p:cNvSpPr txBox="1"/>
            <p:nvPr/>
          </p:nvSpPr>
          <p:spPr>
            <a:xfrm>
              <a:off x="528447" y="771049"/>
              <a:ext cx="7516586" cy="190690"/>
            </a:xfrm>
            <a:prstGeom prst="rect">
              <a:avLst/>
            </a:prstGeom>
            <a:noFill/>
            <a:ln>
              <a:noFill/>
            </a:ln>
          </p:spPr>
          <p:txBody>
            <a:bodyPr wrap="none" lIns="0" tIns="0" rIns="0" bIns="0" anchor="t" anchorCtr="0">
              <a:spAutoFit/>
            </a:bodyPr>
            <a:lstStyle/>
            <a:p>
              <a:pPr algn="l"/>
              <a:r>
                <a:rPr lang="zh-CN" sz="980" b="1" dirty="0">
                  <a:solidFill>
                    <a:srgbClr val="A52D12"/>
                  </a:solidFill>
                  <a:latin typeface="+mn-lt"/>
                  <a:ea typeface="+mn-ea"/>
                  <a:cs typeface="+mn-cs"/>
                </a:rPr>
                <a:t>六项核心指标：</a:t>
              </a:r>
              <a:r>
                <a:rPr lang="zh-CN" sz="980" dirty="0">
                  <a:solidFill>
                    <a:srgbClr val="3A3A3A"/>
                  </a:solidFill>
                  <a:latin typeface="+mn-lt"/>
                  <a:ea typeface="+mn-ea"/>
                  <a:cs typeface="+mn-cs"/>
                </a:rPr>
                <a:t>资产总额 1.86万亿元（较年初+6.8%）；存款余额 1.32万亿元（+7.6%）；贷款余额 1.08万亿元（+8.4%）；​</a:t>
              </a:r>
            </a:p>
          </p:txBody>
        </p:sp>
        <p:sp>
          <p:nvSpPr>
            <p:cNvPr id="9" name="TextBox 9"/>
            <p:cNvSpPr txBox="1"/>
            <p:nvPr/>
          </p:nvSpPr>
          <p:spPr>
            <a:xfrm>
              <a:off x="528447" y="1018699"/>
              <a:ext cx="7133996"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营业收入 168.6亿元（同比+5.7%）；净利润 72.4亿元（同比+6.2%）；不良贷款率 1.08%（较年初-0.06个百分点）。​</a:t>
              </a:r>
            </a:p>
          </p:txBody>
        </p:sp>
      </p:grpSp>
      <p:grpSp>
        <p:nvGrpSpPr>
          <p:cNvPr id="71" name="kpi-cards"/>
          <p:cNvGrpSpPr/>
          <p:nvPr/>
        </p:nvGrpSpPr>
        <p:grpSpPr>
          <a:xfrm>
            <a:off x="476250" y="1447800"/>
            <a:ext cx="11239500" cy="1162050"/>
            <a:chOff x="476250" y="1447800"/>
            <a:chExt cx="11239500" cy="1162050"/>
          </a:xfrm>
        </p:grpSpPr>
        <p:sp>
          <p:nvSpPr>
            <p:cNvPr id="11" name="Rectangle 11"/>
            <p:cNvSpPr/>
            <p:nvPr/>
          </p:nvSpPr>
          <p:spPr>
            <a:xfrm>
              <a:off x="476250" y="1447800"/>
              <a:ext cx="1809750" cy="1162050"/>
            </a:xfrm>
            <a:prstGeom prst="roundRect">
              <a:avLst>
                <a:gd name="adj" fmla="val 6557"/>
              </a:avLst>
            </a:prstGeom>
            <a:solidFill>
              <a:srgbClr val="FDF6F5"/>
            </a:solidFill>
            <a:ln w="9525">
              <a:solidFill>
                <a:srgbClr val="EDD5D2"/>
              </a:solidFill>
            </a:ln>
          </p:spPr>
        </p:sp>
        <p:sp>
          <p:nvSpPr>
            <p:cNvPr id="12" name="Ellipse 12"/>
            <p:cNvSpPr/>
            <p:nvPr/>
          </p:nvSpPr>
          <p:spPr>
            <a:xfrm>
              <a:off x="619125" y="1590675"/>
              <a:ext cx="285750" cy="285750"/>
            </a:xfrm>
            <a:prstGeom prst="ellipse">
              <a:avLst/>
            </a:prstGeom>
            <a:solidFill>
              <a:srgbClr val="F7E9E7"/>
            </a:solidFill>
            <a:ln>
              <a:noFill/>
            </a:ln>
          </p:spPr>
        </p:sp>
        <p:grpSp>
          <p:nvGrpSpPr>
            <p:cNvPr id="21" name="Group 21"/>
            <p:cNvGrpSpPr/>
            <p:nvPr/>
          </p:nvGrpSpPr>
          <p:grpSpPr>
            <a:xfrm>
              <a:off x="697706" y="1669256"/>
              <a:ext cx="130969" cy="138113"/>
              <a:chOff x="697706" y="1669256"/>
              <a:chExt cx="130969" cy="138113"/>
            </a:xfrm>
          </p:grpSpPr>
          <p:sp>
            <p:nvSpPr>
              <p:cNvPr id="13" name="Freeform 13"/>
              <p:cNvSpPr/>
              <p:nvPr/>
            </p:nvSpPr>
            <p:spPr>
              <a:xfrm>
                <a:off x="697706" y="1797844"/>
                <a:ext cx="128588" cy="9525"/>
              </a:xfrm>
              <a:custGeom>
                <a:avLst/>
                <a:gdLst/>
                <a:ahLst/>
                <a:cxnLst/>
                <a:rect l="l" t="t" r="r" b="b"/>
                <a:pathLst>
                  <a:path w="128588" h="9525">
                    <a:moveTo>
                      <a:pt x="0" y="0"/>
                    </a:moveTo>
                    <a:lnTo>
                      <a:pt x="128588" y="0"/>
                    </a:lnTo>
                  </a:path>
                </a:pathLst>
              </a:custGeom>
              <a:noFill/>
              <a:ln w="14288">
                <a:solidFill>
                  <a:srgbClr val="A52D12"/>
                </a:solidFill>
              </a:ln>
            </p:spPr>
          </p:sp>
          <p:sp>
            <p:nvSpPr>
              <p:cNvPr id="14" name="Freeform 14"/>
              <p:cNvSpPr/>
              <p:nvPr/>
            </p:nvSpPr>
            <p:spPr>
              <a:xfrm>
                <a:off x="697706" y="1719262"/>
                <a:ext cx="128588" cy="9525"/>
              </a:xfrm>
              <a:custGeom>
                <a:avLst/>
                <a:gdLst/>
                <a:ahLst/>
                <a:cxnLst/>
                <a:rect l="l" t="t" r="r" b="b"/>
                <a:pathLst>
                  <a:path w="128588" h="9525">
                    <a:moveTo>
                      <a:pt x="0" y="0"/>
                    </a:moveTo>
                    <a:lnTo>
                      <a:pt x="128588" y="0"/>
                    </a:lnTo>
                  </a:path>
                </a:pathLst>
              </a:custGeom>
              <a:noFill/>
              <a:ln w="14288">
                <a:solidFill>
                  <a:srgbClr val="A52D12"/>
                </a:solidFill>
              </a:ln>
            </p:spPr>
          </p:sp>
          <p:sp>
            <p:nvSpPr>
              <p:cNvPr id="15" name="Freeform 15"/>
              <p:cNvSpPr/>
              <p:nvPr/>
            </p:nvSpPr>
            <p:spPr>
              <a:xfrm>
                <a:off x="711994" y="1669256"/>
                <a:ext cx="100012" cy="21431"/>
              </a:xfrm>
              <a:custGeom>
                <a:avLst/>
                <a:gdLst/>
                <a:ahLst/>
                <a:cxnLst/>
                <a:rect l="l" t="t" r="r" b="b"/>
                <a:pathLst>
                  <a:path w="100012" h="21431">
                    <a:moveTo>
                      <a:pt x="0" y="21431"/>
                    </a:moveTo>
                    <a:lnTo>
                      <a:pt x="50006" y="0"/>
                    </a:lnTo>
                    <a:lnTo>
                      <a:pt x="100012" y="21431"/>
                    </a:lnTo>
                  </a:path>
                </a:pathLst>
              </a:custGeom>
              <a:noFill/>
              <a:ln w="14288">
                <a:solidFill>
                  <a:srgbClr val="A52D12"/>
                </a:solidFill>
              </a:ln>
            </p:spPr>
          </p:sp>
          <p:sp>
            <p:nvSpPr>
              <p:cNvPr id="16" name="Freeform 16"/>
              <p:cNvSpPr/>
              <p:nvPr/>
            </p:nvSpPr>
            <p:spPr>
              <a:xfrm>
                <a:off x="704850" y="1719262"/>
                <a:ext cx="9525" cy="78581"/>
              </a:xfrm>
              <a:custGeom>
                <a:avLst/>
                <a:gdLst/>
                <a:ahLst/>
                <a:cxnLst/>
                <a:rect l="l" t="t" r="r" b="b"/>
                <a:pathLst>
                  <a:path w="9525" h="78581">
                    <a:moveTo>
                      <a:pt x="0" y="0"/>
                    </a:moveTo>
                    <a:lnTo>
                      <a:pt x="0" y="78581"/>
                    </a:lnTo>
                  </a:path>
                </a:pathLst>
              </a:custGeom>
              <a:noFill/>
              <a:ln w="14288">
                <a:solidFill>
                  <a:srgbClr val="A52D12"/>
                </a:solidFill>
              </a:ln>
            </p:spPr>
          </p:sp>
          <p:sp>
            <p:nvSpPr>
              <p:cNvPr id="17" name="Freeform 17"/>
              <p:cNvSpPr/>
              <p:nvPr/>
            </p:nvSpPr>
            <p:spPr>
              <a:xfrm>
                <a:off x="819150" y="1719262"/>
                <a:ext cx="9525" cy="78581"/>
              </a:xfrm>
              <a:custGeom>
                <a:avLst/>
                <a:gdLst/>
                <a:ahLst/>
                <a:cxnLst/>
                <a:rect l="l" t="t" r="r" b="b"/>
                <a:pathLst>
                  <a:path w="9525" h="78581">
                    <a:moveTo>
                      <a:pt x="0" y="0"/>
                    </a:moveTo>
                    <a:lnTo>
                      <a:pt x="0" y="78581"/>
                    </a:lnTo>
                  </a:path>
                </a:pathLst>
              </a:custGeom>
              <a:noFill/>
              <a:ln w="14288">
                <a:solidFill>
                  <a:srgbClr val="A52D12"/>
                </a:solidFill>
              </a:ln>
            </p:spPr>
          </p:sp>
          <p:sp>
            <p:nvSpPr>
              <p:cNvPr id="18" name="Freeform 18"/>
              <p:cNvSpPr/>
              <p:nvPr/>
            </p:nvSpPr>
            <p:spPr>
              <a:xfrm>
                <a:off x="733425" y="1747838"/>
                <a:ext cx="9525" cy="21431"/>
              </a:xfrm>
              <a:custGeom>
                <a:avLst/>
                <a:gdLst/>
                <a:ahLst/>
                <a:cxnLst/>
                <a:rect l="l" t="t" r="r" b="b"/>
                <a:pathLst>
                  <a:path w="9525" h="21431">
                    <a:moveTo>
                      <a:pt x="0" y="0"/>
                    </a:moveTo>
                    <a:lnTo>
                      <a:pt x="0" y="21431"/>
                    </a:lnTo>
                  </a:path>
                </a:pathLst>
              </a:custGeom>
              <a:noFill/>
              <a:ln w="14288">
                <a:solidFill>
                  <a:srgbClr val="A52D12"/>
                </a:solidFill>
              </a:ln>
            </p:spPr>
          </p:sp>
          <p:sp>
            <p:nvSpPr>
              <p:cNvPr id="19" name="Freeform 19"/>
              <p:cNvSpPr/>
              <p:nvPr/>
            </p:nvSpPr>
            <p:spPr>
              <a:xfrm>
                <a:off x="762000" y="1747838"/>
                <a:ext cx="9525" cy="21431"/>
              </a:xfrm>
              <a:custGeom>
                <a:avLst/>
                <a:gdLst/>
                <a:ahLst/>
                <a:cxnLst/>
                <a:rect l="l" t="t" r="r" b="b"/>
                <a:pathLst>
                  <a:path w="9525" h="21431">
                    <a:moveTo>
                      <a:pt x="0" y="0"/>
                    </a:moveTo>
                    <a:lnTo>
                      <a:pt x="0" y="21431"/>
                    </a:lnTo>
                  </a:path>
                </a:pathLst>
              </a:custGeom>
              <a:noFill/>
              <a:ln w="14288">
                <a:solidFill>
                  <a:srgbClr val="A52D12"/>
                </a:solidFill>
              </a:ln>
            </p:spPr>
          </p:sp>
          <p:sp>
            <p:nvSpPr>
              <p:cNvPr id="20" name="Freeform 20"/>
              <p:cNvSpPr/>
              <p:nvPr/>
            </p:nvSpPr>
            <p:spPr>
              <a:xfrm>
                <a:off x="790575" y="1747838"/>
                <a:ext cx="9525" cy="21431"/>
              </a:xfrm>
              <a:custGeom>
                <a:avLst/>
                <a:gdLst/>
                <a:ahLst/>
                <a:cxnLst/>
                <a:rect l="l" t="t" r="r" b="b"/>
                <a:pathLst>
                  <a:path w="9525" h="21431">
                    <a:moveTo>
                      <a:pt x="0" y="0"/>
                    </a:moveTo>
                    <a:lnTo>
                      <a:pt x="0" y="21431"/>
                    </a:lnTo>
                  </a:path>
                </a:pathLst>
              </a:custGeom>
              <a:noFill/>
              <a:ln w="14288">
                <a:solidFill>
                  <a:srgbClr val="A52D12"/>
                </a:solidFill>
              </a:ln>
            </p:spPr>
          </p:sp>
        </p:grpSp>
        <p:sp>
          <p:nvSpPr>
            <p:cNvPr id="22" name="TextBox 22"/>
            <p:cNvSpPr txBox="1"/>
            <p:nvPr/>
          </p:nvSpPr>
          <p:spPr>
            <a:xfrm>
              <a:off x="985838" y="1689497"/>
              <a:ext cx="515696"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资产总额</a:t>
              </a:r>
            </a:p>
          </p:txBody>
        </p:sp>
        <p:sp>
          <p:nvSpPr>
            <p:cNvPr id="23" name="TextBox 23"/>
            <p:cNvSpPr txBox="1"/>
            <p:nvPr/>
          </p:nvSpPr>
          <p:spPr>
            <a:xfrm>
              <a:off x="676656" y="1977390"/>
              <a:ext cx="1065295" cy="352044"/>
            </a:xfrm>
            <a:prstGeom prst="rect">
              <a:avLst/>
            </a:prstGeom>
            <a:noFill/>
            <a:ln>
              <a:noFill/>
            </a:ln>
          </p:spPr>
          <p:txBody>
            <a:bodyPr wrap="none" lIns="0" tIns="0" rIns="0" bIns="0" anchor="t" anchorCtr="0">
              <a:spAutoFit/>
            </a:bodyPr>
            <a:lstStyle/>
            <a:p>
              <a:pPr algn="l"/>
              <a:r>
                <a:rPr lang="zh-CN" sz="1800" b="1" dirty="0">
                  <a:solidFill>
                    <a:srgbClr val="A52D12"/>
                  </a:solidFill>
                  <a:latin typeface="+mn-lt"/>
                  <a:ea typeface="+mn-ea"/>
                  <a:cs typeface="+mn-cs"/>
                </a:rPr>
                <a:t>1.86</a:t>
              </a:r>
              <a:r>
                <a:rPr lang="zh-CN" sz="860" dirty="0">
                  <a:solidFill>
                    <a:srgbClr val="A52D12"/>
                  </a:solidFill>
                  <a:latin typeface="+mn-lt"/>
                  <a:ea typeface="+mn-ea"/>
                  <a:cs typeface="+mn-cs"/>
                </a:rPr>
                <a:t>万亿元</a:t>
              </a:r>
              <a:r>
                <a:rPr lang="zh-CN" sz="1800" b="1" dirty="0">
                  <a:solidFill>
                    <a:srgbClr val="A52D12"/>
                  </a:solidFill>
                  <a:latin typeface="+mn-lt"/>
                  <a:ea typeface="+mn-ea"/>
                  <a:cs typeface="+mn-cs"/>
                </a:rPr>
                <a:t>​</a:t>
              </a:r>
            </a:p>
          </p:txBody>
        </p:sp>
        <p:sp>
          <p:nvSpPr>
            <p:cNvPr id="24" name="TextBox 24"/>
            <p:cNvSpPr txBox="1"/>
            <p:nvPr/>
          </p:nvSpPr>
          <p:spPr>
            <a:xfrm>
              <a:off x="681038" y="2349341"/>
              <a:ext cx="874970"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较年初 </a:t>
              </a:r>
              <a:r>
                <a:rPr lang="zh-CN" sz="820" b="1" dirty="0">
                  <a:solidFill>
                    <a:srgbClr val="A52D12"/>
                  </a:solidFill>
                  <a:latin typeface="+mn-lt"/>
                  <a:ea typeface="+mn-ea"/>
                  <a:cs typeface="+mn-cs"/>
                </a:rPr>
                <a:t>+6.8% ↑</a:t>
              </a:r>
              <a:r>
                <a:rPr lang="zh-CN" sz="820" dirty="0">
                  <a:solidFill>
                    <a:srgbClr val="6B6B6B"/>
                  </a:solidFill>
                  <a:latin typeface="+mn-lt"/>
                  <a:ea typeface="+mn-ea"/>
                  <a:cs typeface="+mn-cs"/>
                </a:rPr>
                <a:t>​</a:t>
              </a:r>
            </a:p>
          </p:txBody>
        </p:sp>
        <p:sp>
          <p:nvSpPr>
            <p:cNvPr id="25" name="Rectangle 25"/>
            <p:cNvSpPr/>
            <p:nvPr/>
          </p:nvSpPr>
          <p:spPr>
            <a:xfrm>
              <a:off x="2362200" y="1447800"/>
              <a:ext cx="1809750" cy="1162050"/>
            </a:xfrm>
            <a:prstGeom prst="roundRect">
              <a:avLst>
                <a:gd name="adj" fmla="val 6557"/>
              </a:avLst>
            </a:prstGeom>
            <a:solidFill>
              <a:srgbClr val="FDF6F5"/>
            </a:solidFill>
            <a:ln w="9525">
              <a:solidFill>
                <a:srgbClr val="EDD5D2"/>
              </a:solidFill>
            </a:ln>
          </p:spPr>
        </p:sp>
        <p:sp>
          <p:nvSpPr>
            <p:cNvPr id="26" name="Ellipse 26"/>
            <p:cNvSpPr/>
            <p:nvPr/>
          </p:nvSpPr>
          <p:spPr>
            <a:xfrm>
              <a:off x="2505075" y="1590675"/>
              <a:ext cx="285750" cy="285750"/>
            </a:xfrm>
            <a:prstGeom prst="ellipse">
              <a:avLst/>
            </a:prstGeom>
            <a:solidFill>
              <a:srgbClr val="F7E9E7"/>
            </a:solidFill>
            <a:ln>
              <a:noFill/>
            </a:ln>
          </p:spPr>
        </p:sp>
        <p:grpSp>
          <p:nvGrpSpPr>
            <p:cNvPr id="29" name="Group 29"/>
            <p:cNvGrpSpPr/>
            <p:nvPr/>
          </p:nvGrpSpPr>
          <p:grpSpPr>
            <a:xfrm>
              <a:off x="2590800" y="1676400"/>
              <a:ext cx="114300" cy="114300"/>
              <a:chOff x="2590800" y="1676400"/>
              <a:chExt cx="114300" cy="114300"/>
            </a:xfrm>
          </p:grpSpPr>
          <p:sp>
            <p:nvSpPr>
              <p:cNvPr id="27" name="Freeform 27"/>
              <p:cNvSpPr/>
              <p:nvPr/>
            </p:nvSpPr>
            <p:spPr>
              <a:xfrm>
                <a:off x="2590800" y="1676400"/>
                <a:ext cx="107156" cy="114300"/>
              </a:xfrm>
              <a:custGeom>
                <a:avLst/>
                <a:gdLst/>
                <a:ahLst/>
                <a:cxnLst/>
                <a:rect l="l" t="t" r="r" b="b"/>
                <a:pathLst>
                  <a:path w="107156" h="114300">
                    <a:moveTo>
                      <a:pt x="92869" y="28575"/>
                    </a:moveTo>
                    <a:lnTo>
                      <a:pt x="92869" y="7144"/>
                    </a:lnTo>
                    <a:cubicBezTo>
                      <a:pt x="92869" y="3198"/>
                      <a:pt x="89670" y="0"/>
                      <a:pt x="85725" y="0"/>
                    </a:cubicBezTo>
                    <a:lnTo>
                      <a:pt x="14288" y="0"/>
                    </a:lnTo>
                    <a:cubicBezTo>
                      <a:pt x="6397" y="0"/>
                      <a:pt x="0" y="6397"/>
                      <a:pt x="0" y="14288"/>
                    </a:cubicBezTo>
                    <a:cubicBezTo>
                      <a:pt x="0" y="22178"/>
                      <a:pt x="6397" y="28575"/>
                      <a:pt x="14288" y="28575"/>
                    </a:cubicBezTo>
                    <a:lnTo>
                      <a:pt x="100012" y="28575"/>
                    </a:lnTo>
                    <a:cubicBezTo>
                      <a:pt x="103958" y="28575"/>
                      <a:pt x="107156" y="31773"/>
                      <a:pt x="107156" y="35719"/>
                    </a:cubicBezTo>
                    <a:lnTo>
                      <a:pt x="107156" y="57150"/>
                    </a:lnTo>
                    <a:moveTo>
                      <a:pt x="107156" y="85725"/>
                    </a:moveTo>
                    <a:lnTo>
                      <a:pt x="107156" y="107156"/>
                    </a:lnTo>
                    <a:cubicBezTo>
                      <a:pt x="107156" y="111102"/>
                      <a:pt x="103958" y="114300"/>
                      <a:pt x="100012" y="114300"/>
                    </a:cubicBezTo>
                    <a:lnTo>
                      <a:pt x="14288" y="114300"/>
                    </a:lnTo>
                    <a:cubicBezTo>
                      <a:pt x="6397" y="114300"/>
                      <a:pt x="0" y="107903"/>
                      <a:pt x="0" y="100012"/>
                    </a:cubicBezTo>
                    <a:lnTo>
                      <a:pt x="0" y="14288"/>
                    </a:lnTo>
                  </a:path>
                </a:pathLst>
              </a:custGeom>
              <a:noFill/>
              <a:ln w="14288">
                <a:solidFill>
                  <a:srgbClr val="A52D12"/>
                </a:solidFill>
              </a:ln>
            </p:spPr>
          </p:sp>
          <p:sp>
            <p:nvSpPr>
              <p:cNvPr id="28" name="Freeform 28"/>
              <p:cNvSpPr/>
              <p:nvPr/>
            </p:nvSpPr>
            <p:spPr>
              <a:xfrm>
                <a:off x="2662238" y="1733550"/>
                <a:ext cx="42862" cy="28575"/>
              </a:xfrm>
              <a:custGeom>
                <a:avLst/>
                <a:gdLst/>
                <a:ahLst/>
                <a:cxnLst/>
                <a:rect l="l" t="t" r="r" b="b"/>
                <a:pathLst>
                  <a:path w="42862" h="28575">
                    <a:moveTo>
                      <a:pt x="42862" y="0"/>
                    </a:moveTo>
                    <a:lnTo>
                      <a:pt x="42862" y="28575"/>
                    </a:lnTo>
                    <a:lnTo>
                      <a:pt x="14288" y="28575"/>
                    </a:lnTo>
                    <a:cubicBezTo>
                      <a:pt x="6397" y="28575"/>
                      <a:pt x="0" y="22178"/>
                      <a:pt x="0" y="14288"/>
                    </a:cubicBezTo>
                    <a:cubicBezTo>
                      <a:pt x="0" y="6397"/>
                      <a:pt x="6397" y="0"/>
                      <a:pt x="14288" y="0"/>
                    </a:cubicBezTo>
                    <a:lnTo>
                      <a:pt x="42862" y="0"/>
                    </a:lnTo>
                  </a:path>
                </a:pathLst>
              </a:custGeom>
              <a:noFill/>
              <a:ln w="14288">
                <a:solidFill>
                  <a:srgbClr val="A52D12"/>
                </a:solidFill>
              </a:ln>
            </p:spPr>
          </p:sp>
        </p:grpSp>
        <p:sp>
          <p:nvSpPr>
            <p:cNvPr id="30" name="TextBox 30"/>
            <p:cNvSpPr txBox="1"/>
            <p:nvPr/>
          </p:nvSpPr>
          <p:spPr>
            <a:xfrm>
              <a:off x="2871788" y="1689497"/>
              <a:ext cx="515696"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存款余额</a:t>
              </a:r>
            </a:p>
          </p:txBody>
        </p:sp>
        <p:sp>
          <p:nvSpPr>
            <p:cNvPr id="31" name="TextBox 31"/>
            <p:cNvSpPr txBox="1"/>
            <p:nvPr/>
          </p:nvSpPr>
          <p:spPr>
            <a:xfrm>
              <a:off x="2562606" y="1977390"/>
              <a:ext cx="1065295" cy="352044"/>
            </a:xfrm>
            <a:prstGeom prst="rect">
              <a:avLst/>
            </a:prstGeom>
            <a:noFill/>
            <a:ln>
              <a:noFill/>
            </a:ln>
          </p:spPr>
          <p:txBody>
            <a:bodyPr wrap="none" lIns="0" tIns="0" rIns="0" bIns="0" anchor="t" anchorCtr="0">
              <a:spAutoFit/>
            </a:bodyPr>
            <a:lstStyle/>
            <a:p>
              <a:pPr algn="l"/>
              <a:r>
                <a:rPr lang="zh-CN" sz="1800" b="1" dirty="0">
                  <a:solidFill>
                    <a:srgbClr val="A52D12"/>
                  </a:solidFill>
                  <a:latin typeface="+mn-lt"/>
                  <a:ea typeface="+mn-ea"/>
                  <a:cs typeface="+mn-cs"/>
                </a:rPr>
                <a:t>1.32</a:t>
              </a:r>
              <a:r>
                <a:rPr lang="zh-CN" sz="860" dirty="0">
                  <a:solidFill>
                    <a:srgbClr val="A52D12"/>
                  </a:solidFill>
                  <a:latin typeface="+mn-lt"/>
                  <a:ea typeface="+mn-ea"/>
                  <a:cs typeface="+mn-cs"/>
                </a:rPr>
                <a:t>万亿元</a:t>
              </a:r>
              <a:r>
                <a:rPr lang="zh-CN" sz="1800" b="1" dirty="0">
                  <a:solidFill>
                    <a:srgbClr val="A52D12"/>
                  </a:solidFill>
                  <a:latin typeface="+mn-lt"/>
                  <a:ea typeface="+mn-ea"/>
                  <a:cs typeface="+mn-cs"/>
                </a:rPr>
                <a:t>​</a:t>
              </a:r>
            </a:p>
          </p:txBody>
        </p:sp>
        <p:sp>
          <p:nvSpPr>
            <p:cNvPr id="32" name="TextBox 32"/>
            <p:cNvSpPr txBox="1"/>
            <p:nvPr/>
          </p:nvSpPr>
          <p:spPr>
            <a:xfrm>
              <a:off x="2566988" y="2349341"/>
              <a:ext cx="874970"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较年初 </a:t>
              </a:r>
              <a:r>
                <a:rPr lang="zh-CN" sz="820" b="1" dirty="0">
                  <a:solidFill>
                    <a:srgbClr val="A52D12"/>
                  </a:solidFill>
                  <a:latin typeface="+mn-lt"/>
                  <a:ea typeface="+mn-ea"/>
                  <a:cs typeface="+mn-cs"/>
                </a:rPr>
                <a:t>+7.6% ↑</a:t>
              </a:r>
              <a:r>
                <a:rPr lang="zh-CN" sz="820" dirty="0">
                  <a:solidFill>
                    <a:srgbClr val="6B6B6B"/>
                  </a:solidFill>
                  <a:latin typeface="+mn-lt"/>
                  <a:ea typeface="+mn-ea"/>
                  <a:cs typeface="+mn-cs"/>
                </a:rPr>
                <a:t>​</a:t>
              </a:r>
            </a:p>
          </p:txBody>
        </p:sp>
        <p:sp>
          <p:nvSpPr>
            <p:cNvPr id="33" name="Rectangle 33"/>
            <p:cNvSpPr/>
            <p:nvPr/>
          </p:nvSpPr>
          <p:spPr>
            <a:xfrm>
              <a:off x="4248150" y="1447800"/>
              <a:ext cx="1809750" cy="1162050"/>
            </a:xfrm>
            <a:prstGeom prst="roundRect">
              <a:avLst>
                <a:gd name="adj" fmla="val 6557"/>
              </a:avLst>
            </a:prstGeom>
            <a:solidFill>
              <a:srgbClr val="FDF6F5"/>
            </a:solidFill>
            <a:ln w="9525">
              <a:solidFill>
                <a:srgbClr val="EDD5D2"/>
              </a:solidFill>
            </a:ln>
          </p:spPr>
        </p:sp>
        <p:sp>
          <p:nvSpPr>
            <p:cNvPr id="34" name="Ellipse 34"/>
            <p:cNvSpPr/>
            <p:nvPr/>
          </p:nvSpPr>
          <p:spPr>
            <a:xfrm>
              <a:off x="4391025" y="1590675"/>
              <a:ext cx="285750" cy="285750"/>
            </a:xfrm>
            <a:prstGeom prst="ellipse">
              <a:avLst/>
            </a:prstGeom>
            <a:solidFill>
              <a:srgbClr val="F7E9E7"/>
            </a:solidFill>
            <a:ln>
              <a:noFill/>
            </a:ln>
          </p:spPr>
        </p:sp>
        <p:grpSp>
          <p:nvGrpSpPr>
            <p:cNvPr id="38" name="Group 38"/>
            <p:cNvGrpSpPr/>
            <p:nvPr/>
          </p:nvGrpSpPr>
          <p:grpSpPr>
            <a:xfrm>
              <a:off x="4469606" y="1683544"/>
              <a:ext cx="128587" cy="100013"/>
              <a:chOff x="4469606" y="1683544"/>
              <a:chExt cx="128587" cy="100013"/>
            </a:xfrm>
          </p:grpSpPr>
          <p:sp>
            <p:nvSpPr>
              <p:cNvPr id="35" name="Freeform 35"/>
              <p:cNvSpPr/>
              <p:nvPr/>
            </p:nvSpPr>
            <p:spPr>
              <a:xfrm>
                <a:off x="4469606" y="1683544"/>
                <a:ext cx="100012" cy="71438"/>
              </a:xfrm>
              <a:custGeom>
                <a:avLst/>
                <a:gdLst/>
                <a:ahLst/>
                <a:cxnLst/>
                <a:rect l="l" t="t" r="r" b="b"/>
                <a:pathLst>
                  <a:path w="100012" h="71438">
                    <a:moveTo>
                      <a:pt x="28575" y="71438"/>
                    </a:moveTo>
                    <a:lnTo>
                      <a:pt x="7144" y="71438"/>
                    </a:lnTo>
                    <a:cubicBezTo>
                      <a:pt x="3198" y="71438"/>
                      <a:pt x="0" y="68239"/>
                      <a:pt x="0" y="64294"/>
                    </a:cubicBezTo>
                    <a:lnTo>
                      <a:pt x="0" y="7144"/>
                    </a:lnTo>
                    <a:cubicBezTo>
                      <a:pt x="0" y="3198"/>
                      <a:pt x="3198" y="0"/>
                      <a:pt x="7144" y="0"/>
                    </a:cubicBezTo>
                    <a:lnTo>
                      <a:pt x="92869" y="0"/>
                    </a:lnTo>
                    <a:cubicBezTo>
                      <a:pt x="96814" y="0"/>
                      <a:pt x="100012" y="3198"/>
                      <a:pt x="100012" y="7144"/>
                    </a:cubicBezTo>
                    <a:lnTo>
                      <a:pt x="100012" y="28575"/>
                    </a:lnTo>
                  </a:path>
                </a:pathLst>
              </a:custGeom>
              <a:noFill/>
              <a:ln w="14288">
                <a:solidFill>
                  <a:srgbClr val="A52D12"/>
                </a:solidFill>
              </a:ln>
            </p:spPr>
          </p:sp>
          <p:sp>
            <p:nvSpPr>
              <p:cNvPr id="36" name="Freeform 36"/>
              <p:cNvSpPr/>
              <p:nvPr/>
            </p:nvSpPr>
            <p:spPr>
              <a:xfrm>
                <a:off x="4498181" y="1712119"/>
                <a:ext cx="100012" cy="71438"/>
              </a:xfrm>
              <a:custGeom>
                <a:avLst/>
                <a:gdLst/>
                <a:ahLst/>
                <a:cxnLst/>
                <a:rect l="l" t="t" r="r" b="b"/>
                <a:pathLst>
                  <a:path w="100012" h="71438">
                    <a:moveTo>
                      <a:pt x="0" y="7144"/>
                    </a:moveTo>
                    <a:cubicBezTo>
                      <a:pt x="0" y="3198"/>
                      <a:pt x="3198" y="0"/>
                      <a:pt x="7144" y="0"/>
                    </a:cubicBezTo>
                    <a:lnTo>
                      <a:pt x="92869" y="0"/>
                    </a:lnTo>
                    <a:cubicBezTo>
                      <a:pt x="96814" y="0"/>
                      <a:pt x="100012" y="3198"/>
                      <a:pt x="100012" y="7144"/>
                    </a:cubicBezTo>
                    <a:lnTo>
                      <a:pt x="100012" y="64294"/>
                    </a:lnTo>
                    <a:cubicBezTo>
                      <a:pt x="100012" y="68239"/>
                      <a:pt x="96814" y="71438"/>
                      <a:pt x="92869" y="71438"/>
                    </a:cubicBezTo>
                    <a:lnTo>
                      <a:pt x="7144" y="71438"/>
                    </a:lnTo>
                    <a:cubicBezTo>
                      <a:pt x="3198" y="71438"/>
                      <a:pt x="0" y="68239"/>
                      <a:pt x="0" y="64294"/>
                    </a:cubicBezTo>
                    <a:lnTo>
                      <a:pt x="0" y="7144"/>
                    </a:lnTo>
                  </a:path>
                </a:pathLst>
              </a:custGeom>
              <a:noFill/>
              <a:ln w="14288">
                <a:solidFill>
                  <a:srgbClr val="A52D12"/>
                </a:solidFill>
              </a:ln>
            </p:spPr>
          </p:sp>
          <p:sp>
            <p:nvSpPr>
              <p:cNvPr id="37" name="Freeform 37"/>
              <p:cNvSpPr/>
              <p:nvPr/>
            </p:nvSpPr>
            <p:spPr>
              <a:xfrm>
                <a:off x="4533900" y="173355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52D12"/>
                </a:solidFill>
              </a:ln>
            </p:spPr>
          </p:sp>
        </p:grpSp>
        <p:sp>
          <p:nvSpPr>
            <p:cNvPr id="39" name="TextBox 39"/>
            <p:cNvSpPr txBox="1"/>
            <p:nvPr/>
          </p:nvSpPr>
          <p:spPr>
            <a:xfrm>
              <a:off x="4757738" y="1689497"/>
              <a:ext cx="515696"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贷款余额</a:t>
              </a:r>
            </a:p>
          </p:txBody>
        </p:sp>
        <p:sp>
          <p:nvSpPr>
            <p:cNvPr id="40" name="TextBox 40"/>
            <p:cNvSpPr txBox="1"/>
            <p:nvPr/>
          </p:nvSpPr>
          <p:spPr>
            <a:xfrm>
              <a:off x="4448556" y="1977390"/>
              <a:ext cx="1065295" cy="352044"/>
            </a:xfrm>
            <a:prstGeom prst="rect">
              <a:avLst/>
            </a:prstGeom>
            <a:noFill/>
            <a:ln>
              <a:noFill/>
            </a:ln>
          </p:spPr>
          <p:txBody>
            <a:bodyPr wrap="none" lIns="0" tIns="0" rIns="0" bIns="0" anchor="t" anchorCtr="0">
              <a:spAutoFit/>
            </a:bodyPr>
            <a:lstStyle/>
            <a:p>
              <a:pPr algn="l"/>
              <a:r>
                <a:rPr lang="zh-CN" sz="1800" b="1" dirty="0">
                  <a:solidFill>
                    <a:srgbClr val="A52D12"/>
                  </a:solidFill>
                  <a:latin typeface="+mn-lt"/>
                  <a:ea typeface="+mn-ea"/>
                  <a:cs typeface="+mn-cs"/>
                </a:rPr>
                <a:t>1.08</a:t>
              </a:r>
              <a:r>
                <a:rPr lang="zh-CN" sz="860" dirty="0">
                  <a:solidFill>
                    <a:srgbClr val="A52D12"/>
                  </a:solidFill>
                  <a:latin typeface="+mn-lt"/>
                  <a:ea typeface="+mn-ea"/>
                  <a:cs typeface="+mn-cs"/>
                </a:rPr>
                <a:t>万亿元</a:t>
              </a:r>
              <a:r>
                <a:rPr lang="zh-CN" sz="1800" b="1" dirty="0">
                  <a:solidFill>
                    <a:srgbClr val="A52D12"/>
                  </a:solidFill>
                  <a:latin typeface="+mn-lt"/>
                  <a:ea typeface="+mn-ea"/>
                  <a:cs typeface="+mn-cs"/>
                </a:rPr>
                <a:t>​</a:t>
              </a:r>
            </a:p>
          </p:txBody>
        </p:sp>
        <p:sp>
          <p:nvSpPr>
            <p:cNvPr id="41" name="TextBox 41"/>
            <p:cNvSpPr txBox="1"/>
            <p:nvPr/>
          </p:nvSpPr>
          <p:spPr>
            <a:xfrm>
              <a:off x="4452938" y="2349341"/>
              <a:ext cx="874970"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较年初 </a:t>
              </a:r>
              <a:r>
                <a:rPr lang="zh-CN" sz="820" b="1" dirty="0">
                  <a:solidFill>
                    <a:srgbClr val="A52D12"/>
                  </a:solidFill>
                  <a:latin typeface="+mn-lt"/>
                  <a:ea typeface="+mn-ea"/>
                  <a:cs typeface="+mn-cs"/>
                </a:rPr>
                <a:t>+8.4% ↑</a:t>
              </a:r>
              <a:r>
                <a:rPr lang="zh-CN" sz="820" dirty="0">
                  <a:solidFill>
                    <a:srgbClr val="6B6B6B"/>
                  </a:solidFill>
                  <a:latin typeface="+mn-lt"/>
                  <a:ea typeface="+mn-ea"/>
                  <a:cs typeface="+mn-cs"/>
                </a:rPr>
                <a:t>​</a:t>
              </a:r>
            </a:p>
          </p:txBody>
        </p:sp>
        <p:sp>
          <p:nvSpPr>
            <p:cNvPr id="42" name="Rectangle 42"/>
            <p:cNvSpPr/>
            <p:nvPr/>
          </p:nvSpPr>
          <p:spPr>
            <a:xfrm>
              <a:off x="6134100" y="1447800"/>
              <a:ext cx="1809750" cy="1162050"/>
            </a:xfrm>
            <a:prstGeom prst="roundRect">
              <a:avLst>
                <a:gd name="adj" fmla="val 6557"/>
              </a:avLst>
            </a:prstGeom>
            <a:solidFill>
              <a:srgbClr val="FDF6F5"/>
            </a:solidFill>
            <a:ln w="9525">
              <a:solidFill>
                <a:srgbClr val="EDD5D2"/>
              </a:solidFill>
            </a:ln>
          </p:spPr>
        </p:sp>
        <p:sp>
          <p:nvSpPr>
            <p:cNvPr id="43" name="Ellipse 43"/>
            <p:cNvSpPr/>
            <p:nvPr/>
          </p:nvSpPr>
          <p:spPr>
            <a:xfrm>
              <a:off x="6276975" y="1590675"/>
              <a:ext cx="285750" cy="285750"/>
            </a:xfrm>
            <a:prstGeom prst="ellipse">
              <a:avLst/>
            </a:prstGeom>
            <a:solidFill>
              <a:srgbClr val="F7E9E7"/>
            </a:solidFill>
            <a:ln>
              <a:noFill/>
            </a:ln>
          </p:spPr>
        </p:sp>
        <p:grpSp>
          <p:nvGrpSpPr>
            <p:cNvPr id="48" name="Group 48"/>
            <p:cNvGrpSpPr/>
            <p:nvPr/>
          </p:nvGrpSpPr>
          <p:grpSpPr>
            <a:xfrm>
              <a:off x="6355556" y="1676400"/>
              <a:ext cx="128587" cy="123825"/>
              <a:chOff x="6355556" y="1676400"/>
              <a:chExt cx="128587" cy="123825"/>
            </a:xfrm>
          </p:grpSpPr>
          <p:sp>
            <p:nvSpPr>
              <p:cNvPr id="44" name="Freeform 44"/>
              <p:cNvSpPr/>
              <p:nvPr/>
            </p:nvSpPr>
            <p:spPr>
              <a:xfrm>
                <a:off x="6355556" y="173355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A52D12"/>
                </a:solidFill>
              </a:ln>
            </p:spPr>
          </p:sp>
          <p:sp>
            <p:nvSpPr>
              <p:cNvPr id="45" name="Freeform 45"/>
              <p:cNvSpPr/>
              <p:nvPr/>
            </p:nvSpPr>
            <p:spPr>
              <a:xfrm>
                <a:off x="6441281" y="170497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A52D12"/>
                </a:solidFill>
              </a:ln>
            </p:spPr>
          </p:sp>
          <p:sp>
            <p:nvSpPr>
              <p:cNvPr id="46" name="Freeform 46"/>
              <p:cNvSpPr/>
              <p:nvPr/>
            </p:nvSpPr>
            <p:spPr>
              <a:xfrm>
                <a:off x="6398419" y="167640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A52D12"/>
                </a:solidFill>
              </a:ln>
            </p:spPr>
          </p:sp>
          <p:sp>
            <p:nvSpPr>
              <p:cNvPr id="47" name="Freeform 47"/>
              <p:cNvSpPr/>
              <p:nvPr/>
            </p:nvSpPr>
            <p:spPr>
              <a:xfrm>
                <a:off x="6362700" y="1790700"/>
                <a:ext cx="100012" cy="9525"/>
              </a:xfrm>
              <a:custGeom>
                <a:avLst/>
                <a:gdLst/>
                <a:ahLst/>
                <a:cxnLst/>
                <a:rect l="l" t="t" r="r" b="b"/>
                <a:pathLst>
                  <a:path w="100012" h="9525">
                    <a:moveTo>
                      <a:pt x="0" y="0"/>
                    </a:moveTo>
                    <a:lnTo>
                      <a:pt x="100012" y="0"/>
                    </a:lnTo>
                  </a:path>
                </a:pathLst>
              </a:custGeom>
              <a:noFill/>
              <a:ln w="14288">
                <a:solidFill>
                  <a:srgbClr val="A52D12"/>
                </a:solidFill>
              </a:ln>
            </p:spPr>
          </p:sp>
        </p:grpSp>
        <p:sp>
          <p:nvSpPr>
            <p:cNvPr id="49" name="TextBox 49"/>
            <p:cNvSpPr txBox="1"/>
            <p:nvPr/>
          </p:nvSpPr>
          <p:spPr>
            <a:xfrm>
              <a:off x="6643688" y="1689497"/>
              <a:ext cx="515696"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营业收入</a:t>
              </a:r>
            </a:p>
          </p:txBody>
        </p:sp>
        <p:sp>
          <p:nvSpPr>
            <p:cNvPr id="50" name="TextBox 50"/>
            <p:cNvSpPr txBox="1"/>
            <p:nvPr/>
          </p:nvSpPr>
          <p:spPr>
            <a:xfrm>
              <a:off x="6334506" y="1977390"/>
              <a:ext cx="1089459" cy="352044"/>
            </a:xfrm>
            <a:prstGeom prst="rect">
              <a:avLst/>
            </a:prstGeom>
            <a:noFill/>
            <a:ln>
              <a:noFill/>
            </a:ln>
          </p:spPr>
          <p:txBody>
            <a:bodyPr wrap="none" lIns="0" tIns="0" rIns="0" bIns="0" anchor="t" anchorCtr="0">
              <a:spAutoFit/>
            </a:bodyPr>
            <a:lstStyle/>
            <a:p>
              <a:pPr algn="l"/>
              <a:r>
                <a:rPr lang="zh-CN" sz="1800" b="1" dirty="0">
                  <a:solidFill>
                    <a:srgbClr val="A52D12"/>
                  </a:solidFill>
                  <a:latin typeface="+mn-lt"/>
                  <a:ea typeface="+mn-ea"/>
                  <a:cs typeface="+mn-cs"/>
                </a:rPr>
                <a:t>168.6</a:t>
              </a:r>
              <a:r>
                <a:rPr lang="zh-CN" sz="860" dirty="0">
                  <a:solidFill>
                    <a:srgbClr val="A52D12"/>
                  </a:solidFill>
                  <a:latin typeface="+mn-lt"/>
                  <a:ea typeface="+mn-ea"/>
                  <a:cs typeface="+mn-cs"/>
                </a:rPr>
                <a:t>亿元</a:t>
              </a:r>
              <a:r>
                <a:rPr lang="zh-CN" sz="1800" b="1" dirty="0">
                  <a:solidFill>
                    <a:srgbClr val="A52D12"/>
                  </a:solidFill>
                  <a:latin typeface="+mn-lt"/>
                  <a:ea typeface="+mn-ea"/>
                  <a:cs typeface="+mn-cs"/>
                </a:rPr>
                <a:t>​</a:t>
              </a:r>
            </a:p>
          </p:txBody>
        </p:sp>
        <p:sp>
          <p:nvSpPr>
            <p:cNvPr id="51" name="TextBox 51"/>
            <p:cNvSpPr txBox="1"/>
            <p:nvPr/>
          </p:nvSpPr>
          <p:spPr>
            <a:xfrm>
              <a:off x="6338888" y="2349341"/>
              <a:ext cx="764582"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同比 </a:t>
              </a:r>
              <a:r>
                <a:rPr lang="zh-CN" sz="820" b="1" dirty="0">
                  <a:solidFill>
                    <a:srgbClr val="A52D12"/>
                  </a:solidFill>
                  <a:latin typeface="+mn-lt"/>
                  <a:ea typeface="+mn-ea"/>
                  <a:cs typeface="+mn-cs"/>
                </a:rPr>
                <a:t>+5.7% ↑</a:t>
              </a:r>
              <a:r>
                <a:rPr lang="zh-CN" sz="820" dirty="0">
                  <a:solidFill>
                    <a:srgbClr val="6B6B6B"/>
                  </a:solidFill>
                  <a:latin typeface="+mn-lt"/>
                  <a:ea typeface="+mn-ea"/>
                  <a:cs typeface="+mn-cs"/>
                </a:rPr>
                <a:t>​</a:t>
              </a:r>
            </a:p>
          </p:txBody>
        </p:sp>
        <p:sp>
          <p:nvSpPr>
            <p:cNvPr id="52" name="Rectangle 52"/>
            <p:cNvSpPr/>
            <p:nvPr/>
          </p:nvSpPr>
          <p:spPr>
            <a:xfrm>
              <a:off x="8020050" y="1447800"/>
              <a:ext cx="1809750" cy="1162050"/>
            </a:xfrm>
            <a:prstGeom prst="roundRect">
              <a:avLst>
                <a:gd name="adj" fmla="val 6557"/>
              </a:avLst>
            </a:prstGeom>
            <a:solidFill>
              <a:srgbClr val="FDF6F5"/>
            </a:solidFill>
            <a:ln w="9525">
              <a:solidFill>
                <a:srgbClr val="EDD5D2"/>
              </a:solidFill>
            </a:ln>
          </p:spPr>
        </p:sp>
        <p:sp>
          <p:nvSpPr>
            <p:cNvPr id="53" name="Ellipse 53"/>
            <p:cNvSpPr/>
            <p:nvPr/>
          </p:nvSpPr>
          <p:spPr>
            <a:xfrm>
              <a:off x="8162925" y="1590675"/>
              <a:ext cx="285750" cy="285750"/>
            </a:xfrm>
            <a:prstGeom prst="ellipse">
              <a:avLst/>
            </a:prstGeom>
            <a:solidFill>
              <a:srgbClr val="F7E9E7"/>
            </a:solidFill>
            <a:ln>
              <a:noFill/>
            </a:ln>
          </p:spPr>
        </p:sp>
        <p:grpSp>
          <p:nvGrpSpPr>
            <p:cNvPr id="59" name="Group 59"/>
            <p:cNvGrpSpPr/>
            <p:nvPr/>
          </p:nvGrpSpPr>
          <p:grpSpPr>
            <a:xfrm>
              <a:off x="8241506" y="1668299"/>
              <a:ext cx="128588" cy="129545"/>
              <a:chOff x="8241506" y="1668299"/>
              <a:chExt cx="128588" cy="129545"/>
            </a:xfrm>
          </p:grpSpPr>
          <p:sp>
            <p:nvSpPr>
              <p:cNvPr id="54" name="Freeform 54"/>
              <p:cNvSpPr/>
              <p:nvPr/>
            </p:nvSpPr>
            <p:spPr>
              <a:xfrm>
                <a:off x="8284369" y="172640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A52D12"/>
                </a:solidFill>
              </a:ln>
            </p:spPr>
          </p:sp>
          <p:sp>
            <p:nvSpPr>
              <p:cNvPr id="55" name="Freeform 55"/>
              <p:cNvSpPr/>
              <p:nvPr/>
            </p:nvSpPr>
            <p:spPr>
              <a:xfrm>
                <a:off x="8284369" y="174783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A52D12"/>
                </a:solidFill>
              </a:ln>
            </p:spPr>
          </p:sp>
          <p:sp>
            <p:nvSpPr>
              <p:cNvPr id="56" name="Freeform 56"/>
              <p:cNvSpPr/>
              <p:nvPr/>
            </p:nvSpPr>
            <p:spPr>
              <a:xfrm>
                <a:off x="8241506" y="166829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A52D12"/>
                </a:solidFill>
              </a:ln>
            </p:spPr>
          </p:sp>
          <p:sp>
            <p:nvSpPr>
              <p:cNvPr id="57" name="Freeform 57"/>
              <p:cNvSpPr/>
              <p:nvPr/>
            </p:nvSpPr>
            <p:spPr>
              <a:xfrm>
                <a:off x="8241506" y="169068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A52D12"/>
                </a:solidFill>
              </a:ln>
            </p:spPr>
          </p:sp>
          <p:sp>
            <p:nvSpPr>
              <p:cNvPr id="58" name="Freeform 58"/>
              <p:cNvSpPr/>
              <p:nvPr/>
            </p:nvSpPr>
            <p:spPr>
              <a:xfrm>
                <a:off x="8241506" y="172640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A52D12"/>
                </a:solidFill>
              </a:ln>
            </p:spPr>
          </p:sp>
        </p:grpSp>
        <p:sp>
          <p:nvSpPr>
            <p:cNvPr id="60" name="TextBox 60"/>
            <p:cNvSpPr txBox="1"/>
            <p:nvPr/>
          </p:nvSpPr>
          <p:spPr>
            <a:xfrm>
              <a:off x="8529638" y="1689497"/>
              <a:ext cx="389153"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净利润</a:t>
              </a:r>
            </a:p>
          </p:txBody>
        </p:sp>
        <p:sp>
          <p:nvSpPr>
            <p:cNvPr id="61" name="TextBox 61"/>
            <p:cNvSpPr txBox="1"/>
            <p:nvPr/>
          </p:nvSpPr>
          <p:spPr>
            <a:xfrm>
              <a:off x="8220456" y="1977390"/>
              <a:ext cx="949522" cy="352044"/>
            </a:xfrm>
            <a:prstGeom prst="rect">
              <a:avLst/>
            </a:prstGeom>
            <a:noFill/>
            <a:ln>
              <a:noFill/>
            </a:ln>
          </p:spPr>
          <p:txBody>
            <a:bodyPr wrap="none" lIns="0" tIns="0" rIns="0" bIns="0" anchor="t" anchorCtr="0">
              <a:spAutoFit/>
            </a:bodyPr>
            <a:lstStyle/>
            <a:p>
              <a:pPr algn="l"/>
              <a:r>
                <a:rPr lang="zh-CN" sz="1800" b="1" dirty="0">
                  <a:solidFill>
                    <a:srgbClr val="A52D12"/>
                  </a:solidFill>
                  <a:latin typeface="+mn-lt"/>
                  <a:ea typeface="+mn-ea"/>
                  <a:cs typeface="+mn-cs"/>
                </a:rPr>
                <a:t>72.4</a:t>
              </a:r>
              <a:r>
                <a:rPr lang="zh-CN" sz="860" dirty="0">
                  <a:solidFill>
                    <a:srgbClr val="A52D12"/>
                  </a:solidFill>
                  <a:latin typeface="+mn-lt"/>
                  <a:ea typeface="+mn-ea"/>
                  <a:cs typeface="+mn-cs"/>
                </a:rPr>
                <a:t>亿元</a:t>
              </a:r>
              <a:r>
                <a:rPr lang="zh-CN" sz="1800" b="1" dirty="0">
                  <a:solidFill>
                    <a:srgbClr val="A52D12"/>
                  </a:solidFill>
                  <a:latin typeface="+mn-lt"/>
                  <a:ea typeface="+mn-ea"/>
                  <a:cs typeface="+mn-cs"/>
                </a:rPr>
                <a:t>​</a:t>
              </a:r>
            </a:p>
          </p:txBody>
        </p:sp>
        <p:sp>
          <p:nvSpPr>
            <p:cNvPr id="62" name="TextBox 62"/>
            <p:cNvSpPr txBox="1"/>
            <p:nvPr/>
          </p:nvSpPr>
          <p:spPr>
            <a:xfrm>
              <a:off x="8224838" y="2349341"/>
              <a:ext cx="764582"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同比 </a:t>
              </a:r>
              <a:r>
                <a:rPr lang="zh-CN" sz="820" b="1" dirty="0">
                  <a:solidFill>
                    <a:srgbClr val="A52D12"/>
                  </a:solidFill>
                  <a:latin typeface="+mn-lt"/>
                  <a:ea typeface="+mn-ea"/>
                  <a:cs typeface="+mn-cs"/>
                </a:rPr>
                <a:t>+6.2% ↑</a:t>
              </a:r>
              <a:r>
                <a:rPr lang="zh-CN" sz="820" dirty="0">
                  <a:solidFill>
                    <a:srgbClr val="6B6B6B"/>
                  </a:solidFill>
                  <a:latin typeface="+mn-lt"/>
                  <a:ea typeface="+mn-ea"/>
                  <a:cs typeface="+mn-cs"/>
                </a:rPr>
                <a:t>​</a:t>
              </a:r>
            </a:p>
          </p:txBody>
        </p:sp>
        <p:sp>
          <p:nvSpPr>
            <p:cNvPr id="63" name="Rectangle 63"/>
            <p:cNvSpPr/>
            <p:nvPr/>
          </p:nvSpPr>
          <p:spPr>
            <a:xfrm>
              <a:off x="9906000" y="1447800"/>
              <a:ext cx="1809750" cy="1162050"/>
            </a:xfrm>
            <a:prstGeom prst="roundRect">
              <a:avLst>
                <a:gd name="adj" fmla="val 6557"/>
              </a:avLst>
            </a:prstGeom>
            <a:solidFill>
              <a:srgbClr val="FDF6F5"/>
            </a:solidFill>
            <a:ln w="9525">
              <a:solidFill>
                <a:srgbClr val="EDD5D2"/>
              </a:solidFill>
            </a:ln>
          </p:spPr>
        </p:sp>
        <p:sp>
          <p:nvSpPr>
            <p:cNvPr id="64" name="Ellipse 64"/>
            <p:cNvSpPr/>
            <p:nvPr/>
          </p:nvSpPr>
          <p:spPr>
            <a:xfrm>
              <a:off x="10048875" y="1590675"/>
              <a:ext cx="285750" cy="285750"/>
            </a:xfrm>
            <a:prstGeom prst="ellipse">
              <a:avLst/>
            </a:prstGeom>
            <a:solidFill>
              <a:srgbClr val="F7E9E7"/>
            </a:solidFill>
            <a:ln>
              <a:noFill/>
            </a:ln>
          </p:spPr>
        </p:sp>
        <p:grpSp>
          <p:nvGrpSpPr>
            <p:cNvPr id="67" name="Group 67"/>
            <p:cNvGrpSpPr/>
            <p:nvPr/>
          </p:nvGrpSpPr>
          <p:grpSpPr>
            <a:xfrm>
              <a:off x="10117815" y="1669256"/>
              <a:ext cx="139505" cy="128588"/>
              <a:chOff x="10117815" y="1669256"/>
              <a:chExt cx="139505" cy="128588"/>
            </a:xfrm>
          </p:grpSpPr>
          <p:sp>
            <p:nvSpPr>
              <p:cNvPr id="65" name="Freeform 65"/>
              <p:cNvSpPr/>
              <p:nvPr/>
            </p:nvSpPr>
            <p:spPr>
              <a:xfrm>
                <a:off x="10117815" y="166925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A52D12"/>
                </a:solidFill>
              </a:ln>
            </p:spPr>
          </p:sp>
          <p:sp>
            <p:nvSpPr>
              <p:cNvPr id="66" name="Freeform 66"/>
              <p:cNvSpPr/>
              <p:nvPr/>
            </p:nvSpPr>
            <p:spPr>
              <a:xfrm>
                <a:off x="10213181" y="1769269"/>
                <a:ext cx="42862" cy="28575"/>
              </a:xfrm>
              <a:custGeom>
                <a:avLst/>
                <a:gdLst/>
                <a:ahLst/>
                <a:cxnLst/>
                <a:rect l="l" t="t" r="r" b="b"/>
                <a:pathLst>
                  <a:path w="42862" h="28575">
                    <a:moveTo>
                      <a:pt x="0" y="14288"/>
                    </a:moveTo>
                    <a:lnTo>
                      <a:pt x="14288" y="28575"/>
                    </a:lnTo>
                    <a:lnTo>
                      <a:pt x="42862" y="0"/>
                    </a:lnTo>
                  </a:path>
                </a:pathLst>
              </a:custGeom>
              <a:noFill/>
              <a:ln w="14288">
                <a:solidFill>
                  <a:srgbClr val="A52D12"/>
                </a:solidFill>
              </a:ln>
            </p:spPr>
          </p:sp>
        </p:grpSp>
        <p:sp>
          <p:nvSpPr>
            <p:cNvPr id="68" name="TextBox 68"/>
            <p:cNvSpPr txBox="1"/>
            <p:nvPr/>
          </p:nvSpPr>
          <p:spPr>
            <a:xfrm>
              <a:off x="10415588" y="1689497"/>
              <a:ext cx="642239"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不良贷款率</a:t>
              </a:r>
            </a:p>
          </p:txBody>
        </p:sp>
        <p:sp>
          <p:nvSpPr>
            <p:cNvPr id="69" name="TextBox 69"/>
            <p:cNvSpPr txBox="1"/>
            <p:nvPr/>
          </p:nvSpPr>
          <p:spPr>
            <a:xfrm>
              <a:off x="10106406" y="1977390"/>
              <a:ext cx="908799" cy="352044"/>
            </a:xfrm>
            <a:prstGeom prst="rect">
              <a:avLst/>
            </a:prstGeom>
            <a:noFill/>
            <a:ln>
              <a:noFill/>
            </a:ln>
          </p:spPr>
          <p:txBody>
            <a:bodyPr wrap="none" lIns="0" tIns="0" rIns="0" bIns="0" anchor="t" anchorCtr="0">
              <a:spAutoFit/>
            </a:bodyPr>
            <a:lstStyle/>
            <a:p>
              <a:pPr algn="l"/>
              <a:r>
                <a:rPr lang="zh-CN" sz="1800" b="1" dirty="0">
                  <a:solidFill>
                    <a:srgbClr val="A52D12"/>
                  </a:solidFill>
                  <a:latin typeface="+mn-lt"/>
                  <a:ea typeface="+mn-ea"/>
                  <a:cs typeface="+mn-cs"/>
                </a:rPr>
                <a:t>1.08%​</a:t>
              </a:r>
            </a:p>
          </p:txBody>
        </p:sp>
        <p:sp>
          <p:nvSpPr>
            <p:cNvPr id="70" name="TextBox 70"/>
            <p:cNvSpPr txBox="1"/>
            <p:nvPr/>
          </p:nvSpPr>
          <p:spPr>
            <a:xfrm>
              <a:off x="10110788" y="2349341"/>
              <a:ext cx="1293342"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较年初 </a:t>
              </a:r>
              <a:r>
                <a:rPr lang="zh-CN" sz="820" b="1" dirty="0">
                  <a:solidFill>
                    <a:srgbClr val="9E412F"/>
                  </a:solidFill>
                  <a:latin typeface="+mn-lt"/>
                  <a:ea typeface="+mn-ea"/>
                  <a:cs typeface="+mn-cs"/>
                </a:rPr>
                <a:t>-0.06个百分点 ↓</a:t>
              </a:r>
              <a:r>
                <a:rPr lang="zh-CN" sz="820" dirty="0">
                  <a:solidFill>
                    <a:srgbClr val="6B6B6B"/>
                  </a:solidFill>
                  <a:latin typeface="+mn-lt"/>
                  <a:ea typeface="+mn-ea"/>
                  <a:cs typeface="+mn-cs"/>
                </a:rPr>
                <a:t>​</a:t>
              </a:r>
            </a:p>
          </p:txBody>
        </p:sp>
      </p:grpSp>
      <p:grpSp>
        <p:nvGrpSpPr>
          <p:cNvPr id="111" name="chart-scale"/>
          <p:cNvGrpSpPr/>
          <p:nvPr/>
        </p:nvGrpSpPr>
        <p:grpSpPr>
          <a:xfrm>
            <a:off x="381000" y="2724150"/>
            <a:ext cx="3714750" cy="2552700"/>
            <a:chOff x="381000" y="2724150"/>
            <a:chExt cx="3714750" cy="2552700"/>
          </a:xfrm>
        </p:grpSpPr>
        <p:sp>
          <p:nvSpPr>
            <p:cNvPr id="72" name="Rectangle 72"/>
            <p:cNvSpPr/>
            <p:nvPr/>
          </p:nvSpPr>
          <p:spPr>
            <a:xfrm>
              <a:off x="381000" y="2724150"/>
              <a:ext cx="3714750" cy="2552700"/>
            </a:xfrm>
            <a:prstGeom prst="roundRect">
              <a:avLst>
                <a:gd name="adj" fmla="val 2985"/>
              </a:avLst>
            </a:prstGeom>
            <a:solidFill>
              <a:srgbClr val="FDF6F5"/>
            </a:solidFill>
            <a:ln w="9525">
              <a:solidFill>
                <a:srgbClr val="EDD5D2"/>
              </a:solidFill>
            </a:ln>
          </p:spPr>
        </p:sp>
        <p:sp>
          <p:nvSpPr>
            <p:cNvPr id="73" name="Freeform 73"/>
            <p:cNvSpPr/>
            <p:nvPr/>
          </p:nvSpPr>
          <p:spPr>
            <a:xfrm>
              <a:off x="390525" y="2733675"/>
              <a:ext cx="3695700" cy="228600"/>
            </a:xfrm>
            <a:custGeom>
              <a:avLst/>
              <a:gdLst/>
              <a:ahLst/>
              <a:cxnLst/>
              <a:rect l="l" t="t" r="r" b="b"/>
              <a:pathLst>
                <a:path w="3695700" h="228600">
                  <a:moveTo>
                    <a:pt x="0" y="228600"/>
                  </a:moveTo>
                  <a:lnTo>
                    <a:pt x="3695700" y="228600"/>
                  </a:lnTo>
                  <a:lnTo>
                    <a:pt x="3695700" y="66675"/>
                  </a:lnTo>
                  <a:cubicBezTo>
                    <a:pt x="3695700" y="29851"/>
                    <a:pt x="3665849" y="0"/>
                    <a:pt x="3629025" y="0"/>
                  </a:cubicBezTo>
                  <a:lnTo>
                    <a:pt x="66675" y="0"/>
                  </a:lnTo>
                  <a:cubicBezTo>
                    <a:pt x="29851" y="0"/>
                    <a:pt x="0" y="29851"/>
                    <a:pt x="0" y="66675"/>
                  </a:cubicBezTo>
                  <a:close/>
                </a:path>
              </a:pathLst>
            </a:custGeom>
            <a:solidFill>
              <a:srgbClr val="A52D12"/>
            </a:solidFill>
            <a:ln>
              <a:noFill/>
            </a:ln>
          </p:spPr>
        </p:sp>
        <p:sp>
          <p:nvSpPr>
            <p:cNvPr id="74" name="TextBox 74"/>
            <p:cNvSpPr txBox="1"/>
            <p:nvPr/>
          </p:nvSpPr>
          <p:spPr>
            <a:xfrm>
              <a:off x="1596962" y="2782252"/>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规模指标（万亿元）</a:t>
              </a:r>
            </a:p>
          </p:txBody>
        </p:sp>
        <p:sp>
          <p:nvSpPr>
            <p:cNvPr id="75" name="Rectangle 75"/>
            <p:cNvSpPr/>
            <p:nvPr/>
          </p:nvSpPr>
          <p:spPr>
            <a:xfrm>
              <a:off x="666750" y="3143250"/>
              <a:ext cx="95250" cy="95250"/>
            </a:xfrm>
            <a:prstGeom prst="rect">
              <a:avLst/>
            </a:prstGeom>
            <a:solidFill>
              <a:srgbClr val="A52D12"/>
            </a:solidFill>
            <a:ln>
              <a:noFill/>
            </a:ln>
          </p:spPr>
        </p:sp>
        <p:sp>
          <p:nvSpPr>
            <p:cNvPr id="76" name="TextBox 76"/>
            <p:cNvSpPr txBox="1"/>
            <p:nvPr/>
          </p:nvSpPr>
          <p:spPr>
            <a:xfrm>
              <a:off x="814388" y="3148012"/>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年末余额</a:t>
              </a:r>
            </a:p>
          </p:txBody>
        </p:sp>
        <p:sp>
          <p:nvSpPr>
            <p:cNvPr id="77" name="Line 77"/>
            <p:cNvSpPr/>
            <p:nvPr/>
          </p:nvSpPr>
          <p:spPr>
            <a:xfrm>
              <a:off x="1524000" y="3190875"/>
              <a:ext cx="247650" cy="9525"/>
            </a:xfrm>
            <a:custGeom>
              <a:avLst/>
              <a:gdLst/>
              <a:ahLst/>
              <a:cxnLst/>
              <a:rect l="l" t="t" r="r" b="b"/>
              <a:pathLst>
                <a:path w="247650" h="9525">
                  <a:moveTo>
                    <a:pt x="0" y="0"/>
                  </a:moveTo>
                  <a:lnTo>
                    <a:pt x="247650" y="0"/>
                  </a:lnTo>
                </a:path>
              </a:pathLst>
            </a:custGeom>
            <a:noFill/>
            <a:ln w="15240">
              <a:solidFill>
                <a:srgbClr val="A52D12"/>
              </a:solidFill>
              <a:custDash>
                <a:ds d="250000" sp="187500"/>
              </a:custDash>
            </a:ln>
          </p:spPr>
        </p:sp>
        <p:sp>
          <p:nvSpPr>
            <p:cNvPr id="78" name="Ellipse 78"/>
            <p:cNvSpPr/>
            <p:nvPr/>
          </p:nvSpPr>
          <p:spPr>
            <a:xfrm>
              <a:off x="1614488" y="3157538"/>
              <a:ext cx="66675" cy="66675"/>
            </a:xfrm>
            <a:prstGeom prst="ellipse">
              <a:avLst/>
            </a:prstGeom>
            <a:solidFill>
              <a:srgbClr val="FFFFFF"/>
            </a:solidFill>
            <a:ln w="15240">
              <a:solidFill>
                <a:srgbClr val="A52D12"/>
              </a:solidFill>
            </a:ln>
          </p:spPr>
        </p:sp>
        <p:sp>
          <p:nvSpPr>
            <p:cNvPr id="79" name="TextBox 79"/>
            <p:cNvSpPr txBox="1"/>
            <p:nvPr/>
          </p:nvSpPr>
          <p:spPr>
            <a:xfrm>
              <a:off x="1824038" y="3148012"/>
              <a:ext cx="91821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较年初增幅（右轴）</a:t>
              </a:r>
            </a:p>
          </p:txBody>
        </p:sp>
        <p:sp>
          <p:nvSpPr>
            <p:cNvPr id="80" name="Line 80"/>
            <p:cNvSpPr/>
            <p:nvPr/>
          </p:nvSpPr>
          <p:spPr>
            <a:xfrm>
              <a:off x="762000" y="3390900"/>
              <a:ext cx="2952750" cy="9525"/>
            </a:xfrm>
            <a:custGeom>
              <a:avLst/>
              <a:gdLst/>
              <a:ahLst/>
              <a:cxnLst/>
              <a:rect l="l" t="t" r="r" b="b"/>
              <a:pathLst>
                <a:path w="2952750" h="9525">
                  <a:moveTo>
                    <a:pt x="0" y="0"/>
                  </a:moveTo>
                  <a:lnTo>
                    <a:pt x="2952750" y="0"/>
                  </a:lnTo>
                </a:path>
              </a:pathLst>
            </a:custGeom>
            <a:noFill/>
            <a:ln w="9525">
              <a:solidFill>
                <a:srgbClr val="EDE4E2"/>
              </a:solidFill>
            </a:ln>
          </p:spPr>
        </p:sp>
        <p:sp>
          <p:nvSpPr>
            <p:cNvPr id="81" name="Line 81"/>
            <p:cNvSpPr/>
            <p:nvPr/>
          </p:nvSpPr>
          <p:spPr>
            <a:xfrm>
              <a:off x="762000" y="3695700"/>
              <a:ext cx="2952750" cy="9525"/>
            </a:xfrm>
            <a:custGeom>
              <a:avLst/>
              <a:gdLst/>
              <a:ahLst/>
              <a:cxnLst/>
              <a:rect l="l" t="t" r="r" b="b"/>
              <a:pathLst>
                <a:path w="2952750" h="9525">
                  <a:moveTo>
                    <a:pt x="0" y="0"/>
                  </a:moveTo>
                  <a:lnTo>
                    <a:pt x="2952750" y="0"/>
                  </a:lnTo>
                </a:path>
              </a:pathLst>
            </a:custGeom>
            <a:noFill/>
            <a:ln w="9525">
              <a:solidFill>
                <a:srgbClr val="EDE4E2"/>
              </a:solidFill>
            </a:ln>
          </p:spPr>
        </p:sp>
        <p:sp>
          <p:nvSpPr>
            <p:cNvPr id="82" name="Line 82"/>
            <p:cNvSpPr/>
            <p:nvPr/>
          </p:nvSpPr>
          <p:spPr>
            <a:xfrm>
              <a:off x="762000" y="4000500"/>
              <a:ext cx="2952750" cy="9525"/>
            </a:xfrm>
            <a:custGeom>
              <a:avLst/>
              <a:gdLst/>
              <a:ahLst/>
              <a:cxnLst/>
              <a:rect l="l" t="t" r="r" b="b"/>
              <a:pathLst>
                <a:path w="2952750" h="9525">
                  <a:moveTo>
                    <a:pt x="0" y="0"/>
                  </a:moveTo>
                  <a:lnTo>
                    <a:pt x="2952750" y="0"/>
                  </a:lnTo>
                </a:path>
              </a:pathLst>
            </a:custGeom>
            <a:noFill/>
            <a:ln w="9525">
              <a:solidFill>
                <a:srgbClr val="EDE4E2"/>
              </a:solidFill>
            </a:ln>
          </p:spPr>
        </p:sp>
        <p:sp>
          <p:nvSpPr>
            <p:cNvPr id="83" name="Line 83"/>
            <p:cNvSpPr/>
            <p:nvPr/>
          </p:nvSpPr>
          <p:spPr>
            <a:xfrm>
              <a:off x="762000" y="4305300"/>
              <a:ext cx="2952750" cy="9525"/>
            </a:xfrm>
            <a:custGeom>
              <a:avLst/>
              <a:gdLst/>
              <a:ahLst/>
              <a:cxnLst/>
              <a:rect l="l" t="t" r="r" b="b"/>
              <a:pathLst>
                <a:path w="2952750" h="9525">
                  <a:moveTo>
                    <a:pt x="0" y="0"/>
                  </a:moveTo>
                  <a:lnTo>
                    <a:pt x="2952750" y="0"/>
                  </a:lnTo>
                </a:path>
              </a:pathLst>
            </a:custGeom>
            <a:noFill/>
            <a:ln w="9525">
              <a:solidFill>
                <a:srgbClr val="EDE4E2"/>
              </a:solidFill>
            </a:ln>
          </p:spPr>
        </p:sp>
        <p:sp>
          <p:nvSpPr>
            <p:cNvPr id="84" name="Line 84"/>
            <p:cNvSpPr/>
            <p:nvPr/>
          </p:nvSpPr>
          <p:spPr>
            <a:xfrm>
              <a:off x="762000" y="4610100"/>
              <a:ext cx="2952750" cy="9525"/>
            </a:xfrm>
            <a:custGeom>
              <a:avLst/>
              <a:gdLst/>
              <a:ahLst/>
              <a:cxnLst/>
              <a:rect l="l" t="t" r="r" b="b"/>
              <a:pathLst>
                <a:path w="2952750" h="9525">
                  <a:moveTo>
                    <a:pt x="0" y="0"/>
                  </a:moveTo>
                  <a:lnTo>
                    <a:pt x="2952750" y="0"/>
                  </a:lnTo>
                </a:path>
              </a:pathLst>
            </a:custGeom>
            <a:noFill/>
            <a:ln w="9525">
              <a:solidFill>
                <a:srgbClr val="EDE4E2"/>
              </a:solidFill>
            </a:ln>
          </p:spPr>
        </p:sp>
        <p:sp>
          <p:nvSpPr>
            <p:cNvPr id="85" name="Line 85"/>
            <p:cNvSpPr/>
            <p:nvPr/>
          </p:nvSpPr>
          <p:spPr>
            <a:xfrm>
              <a:off x="762000" y="4914900"/>
              <a:ext cx="2952750" cy="9525"/>
            </a:xfrm>
            <a:custGeom>
              <a:avLst/>
              <a:gdLst/>
              <a:ahLst/>
              <a:cxnLst/>
              <a:rect l="l" t="t" r="r" b="b"/>
              <a:pathLst>
                <a:path w="2952750" h="9525">
                  <a:moveTo>
                    <a:pt x="0" y="0"/>
                  </a:moveTo>
                  <a:lnTo>
                    <a:pt x="2952750" y="0"/>
                  </a:lnTo>
                </a:path>
              </a:pathLst>
            </a:custGeom>
            <a:noFill/>
            <a:ln w="9525">
              <a:solidFill>
                <a:srgbClr val="C9BBB8"/>
              </a:solidFill>
            </a:ln>
          </p:spPr>
        </p:sp>
        <p:sp>
          <p:nvSpPr>
            <p:cNvPr id="86" name="TextBox 86"/>
            <p:cNvSpPr txBox="1"/>
            <p:nvPr/>
          </p:nvSpPr>
          <p:spPr>
            <a:xfrm>
              <a:off x="508861" y="48760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0.0​</a:t>
              </a:r>
            </a:p>
          </p:txBody>
        </p:sp>
        <p:sp>
          <p:nvSpPr>
            <p:cNvPr id="87" name="TextBox 87"/>
            <p:cNvSpPr txBox="1"/>
            <p:nvPr/>
          </p:nvSpPr>
          <p:spPr>
            <a:xfrm>
              <a:off x="508861" y="45712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0.5​</a:t>
              </a:r>
            </a:p>
          </p:txBody>
        </p:sp>
        <p:sp>
          <p:nvSpPr>
            <p:cNvPr id="88" name="TextBox 88"/>
            <p:cNvSpPr txBox="1"/>
            <p:nvPr/>
          </p:nvSpPr>
          <p:spPr>
            <a:xfrm>
              <a:off x="508861" y="42664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1.0​</a:t>
              </a:r>
            </a:p>
          </p:txBody>
        </p:sp>
        <p:sp>
          <p:nvSpPr>
            <p:cNvPr id="89" name="TextBox 89"/>
            <p:cNvSpPr txBox="1"/>
            <p:nvPr/>
          </p:nvSpPr>
          <p:spPr>
            <a:xfrm>
              <a:off x="508861" y="39616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1.5​</a:t>
              </a:r>
            </a:p>
          </p:txBody>
        </p:sp>
        <p:sp>
          <p:nvSpPr>
            <p:cNvPr id="90" name="TextBox 90"/>
            <p:cNvSpPr txBox="1"/>
            <p:nvPr/>
          </p:nvSpPr>
          <p:spPr>
            <a:xfrm>
              <a:off x="508861" y="36568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2.0​</a:t>
              </a:r>
            </a:p>
          </p:txBody>
        </p:sp>
        <p:sp>
          <p:nvSpPr>
            <p:cNvPr id="91" name="TextBox 91"/>
            <p:cNvSpPr txBox="1"/>
            <p:nvPr/>
          </p:nvSpPr>
          <p:spPr>
            <a:xfrm>
              <a:off x="508861" y="33520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2.5​</a:t>
              </a:r>
            </a:p>
          </p:txBody>
        </p:sp>
        <p:sp>
          <p:nvSpPr>
            <p:cNvPr id="92" name="TextBox 92"/>
            <p:cNvSpPr txBox="1"/>
            <p:nvPr/>
          </p:nvSpPr>
          <p:spPr>
            <a:xfrm>
              <a:off x="3748088" y="4876086"/>
              <a:ext cx="186348"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0%​</a:t>
              </a:r>
            </a:p>
          </p:txBody>
        </p:sp>
        <p:sp>
          <p:nvSpPr>
            <p:cNvPr id="93" name="TextBox 93"/>
            <p:cNvSpPr txBox="1"/>
            <p:nvPr/>
          </p:nvSpPr>
          <p:spPr>
            <a:xfrm>
              <a:off x="3748088" y="4266486"/>
              <a:ext cx="186348"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5%​</a:t>
              </a:r>
            </a:p>
          </p:txBody>
        </p:sp>
        <p:sp>
          <p:nvSpPr>
            <p:cNvPr id="94" name="TextBox 94"/>
            <p:cNvSpPr txBox="1"/>
            <p:nvPr/>
          </p:nvSpPr>
          <p:spPr>
            <a:xfrm>
              <a:off x="3748088" y="3656886"/>
              <a:ext cx="238917"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10%​</a:t>
              </a:r>
            </a:p>
          </p:txBody>
        </p:sp>
        <p:sp>
          <p:nvSpPr>
            <p:cNvPr id="95" name="Rectangle 95"/>
            <p:cNvSpPr/>
            <p:nvPr/>
          </p:nvSpPr>
          <p:spPr>
            <a:xfrm>
              <a:off x="1143000" y="3781425"/>
              <a:ext cx="381000" cy="1133475"/>
            </a:xfrm>
            <a:prstGeom prst="rect">
              <a:avLst/>
            </a:prstGeom>
            <a:solidFill>
              <a:srgbClr val="A52D12"/>
            </a:solidFill>
            <a:ln>
              <a:noFill/>
            </a:ln>
          </p:spPr>
        </p:sp>
        <p:sp>
          <p:nvSpPr>
            <p:cNvPr id="96" name="Rectangle 96"/>
            <p:cNvSpPr/>
            <p:nvPr/>
          </p:nvSpPr>
          <p:spPr>
            <a:xfrm>
              <a:off x="2000250" y="4111942"/>
              <a:ext cx="381000" cy="802958"/>
            </a:xfrm>
            <a:prstGeom prst="rect">
              <a:avLst/>
            </a:prstGeom>
            <a:solidFill>
              <a:srgbClr val="A52D12"/>
            </a:solidFill>
            <a:ln>
              <a:noFill/>
            </a:ln>
          </p:spPr>
        </p:sp>
        <p:sp>
          <p:nvSpPr>
            <p:cNvPr id="97" name="Rectangle 97"/>
            <p:cNvSpPr/>
            <p:nvPr/>
          </p:nvSpPr>
          <p:spPr>
            <a:xfrm>
              <a:off x="2857500" y="4256722"/>
              <a:ext cx="381000" cy="658178"/>
            </a:xfrm>
            <a:prstGeom prst="rect">
              <a:avLst/>
            </a:prstGeom>
            <a:solidFill>
              <a:srgbClr val="A52D12"/>
            </a:solidFill>
            <a:ln>
              <a:noFill/>
            </a:ln>
          </p:spPr>
        </p:sp>
        <p:sp>
          <p:nvSpPr>
            <p:cNvPr id="98" name="TextBox 98"/>
            <p:cNvSpPr txBox="1"/>
            <p:nvPr/>
          </p:nvSpPr>
          <p:spPr>
            <a:xfrm>
              <a:off x="1169364" y="3901916"/>
              <a:ext cx="32827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1.86​</a:t>
              </a:r>
            </a:p>
          </p:txBody>
        </p:sp>
        <p:sp>
          <p:nvSpPr>
            <p:cNvPr id="99" name="TextBox 99"/>
            <p:cNvSpPr txBox="1"/>
            <p:nvPr/>
          </p:nvSpPr>
          <p:spPr>
            <a:xfrm>
              <a:off x="2026614" y="4232434"/>
              <a:ext cx="32827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1.32​</a:t>
              </a:r>
            </a:p>
          </p:txBody>
        </p:sp>
        <p:sp>
          <p:nvSpPr>
            <p:cNvPr id="100" name="TextBox 100"/>
            <p:cNvSpPr txBox="1"/>
            <p:nvPr/>
          </p:nvSpPr>
          <p:spPr>
            <a:xfrm>
              <a:off x="2883864" y="4377214"/>
              <a:ext cx="32827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1.08​</a:t>
              </a:r>
            </a:p>
          </p:txBody>
        </p:sp>
        <p:sp>
          <p:nvSpPr>
            <p:cNvPr id="101" name="Polyline 101"/>
            <p:cNvSpPr/>
            <p:nvPr/>
          </p:nvSpPr>
          <p:spPr>
            <a:xfrm>
              <a:off x="1333500" y="3634740"/>
              <a:ext cx="1714500" cy="243840"/>
            </a:xfrm>
            <a:custGeom>
              <a:avLst/>
              <a:gdLst/>
              <a:ahLst/>
              <a:cxnLst/>
              <a:rect l="l" t="t" r="r" b="b"/>
              <a:pathLst>
                <a:path w="1714500" h="243840">
                  <a:moveTo>
                    <a:pt x="0" y="243840"/>
                  </a:moveTo>
                  <a:lnTo>
                    <a:pt x="857250" y="121920"/>
                  </a:lnTo>
                  <a:lnTo>
                    <a:pt x="1714500" y="0"/>
                  </a:lnTo>
                </a:path>
              </a:pathLst>
            </a:custGeom>
            <a:noFill/>
            <a:ln w="17145">
              <a:solidFill>
                <a:srgbClr val="A52D12"/>
              </a:solidFill>
              <a:custDash>
                <a:ds d="277778" sp="166667"/>
              </a:custDash>
            </a:ln>
          </p:spPr>
        </p:sp>
        <p:sp>
          <p:nvSpPr>
            <p:cNvPr id="102" name="Ellipse 102"/>
            <p:cNvSpPr/>
            <p:nvPr/>
          </p:nvSpPr>
          <p:spPr>
            <a:xfrm>
              <a:off x="1295400" y="3840480"/>
              <a:ext cx="76200" cy="76200"/>
            </a:xfrm>
            <a:prstGeom prst="ellipse">
              <a:avLst/>
            </a:prstGeom>
            <a:solidFill>
              <a:srgbClr val="FFFFFF"/>
            </a:solidFill>
            <a:ln w="17145">
              <a:solidFill>
                <a:srgbClr val="A52D12"/>
              </a:solidFill>
            </a:ln>
          </p:spPr>
        </p:sp>
        <p:sp>
          <p:nvSpPr>
            <p:cNvPr id="103" name="Ellipse 103"/>
            <p:cNvSpPr/>
            <p:nvPr/>
          </p:nvSpPr>
          <p:spPr>
            <a:xfrm>
              <a:off x="2152650" y="3718560"/>
              <a:ext cx="76200" cy="76200"/>
            </a:xfrm>
            <a:prstGeom prst="ellipse">
              <a:avLst/>
            </a:prstGeom>
            <a:solidFill>
              <a:srgbClr val="FFFFFF"/>
            </a:solidFill>
            <a:ln w="17145">
              <a:solidFill>
                <a:srgbClr val="A52D12"/>
              </a:solidFill>
            </a:ln>
          </p:spPr>
        </p:sp>
        <p:sp>
          <p:nvSpPr>
            <p:cNvPr id="104" name="Ellipse 104"/>
            <p:cNvSpPr/>
            <p:nvPr/>
          </p:nvSpPr>
          <p:spPr>
            <a:xfrm>
              <a:off x="3009900" y="3596640"/>
              <a:ext cx="76200" cy="76200"/>
            </a:xfrm>
            <a:prstGeom prst="ellipse">
              <a:avLst/>
            </a:prstGeom>
            <a:solidFill>
              <a:srgbClr val="FFFFFF"/>
            </a:solidFill>
            <a:ln w="17145">
              <a:solidFill>
                <a:srgbClr val="A52D12"/>
              </a:solidFill>
            </a:ln>
          </p:spPr>
        </p:sp>
        <p:sp>
          <p:nvSpPr>
            <p:cNvPr id="105" name="TextBox 105"/>
            <p:cNvSpPr txBox="1"/>
            <p:nvPr/>
          </p:nvSpPr>
          <p:spPr>
            <a:xfrm>
              <a:off x="1179814" y="3709988"/>
              <a:ext cx="307372" cy="147638"/>
            </a:xfrm>
            <a:prstGeom prst="rect">
              <a:avLst/>
            </a:prstGeom>
            <a:noFill/>
            <a:ln>
              <a:noFill/>
            </a:ln>
          </p:spPr>
          <p:txBody>
            <a:bodyPr wrap="none" lIns="0" tIns="0" rIns="0" bIns="0" anchor="t" anchorCtr="0">
              <a:spAutoFit/>
            </a:bodyPr>
            <a:lstStyle/>
            <a:p>
              <a:pPr algn="ctr"/>
              <a:r>
                <a:rPr lang="zh-CN" sz="750" dirty="0">
                  <a:solidFill>
                    <a:srgbClr val="B54C3A"/>
                  </a:solidFill>
                  <a:latin typeface="+mn-lt"/>
                  <a:ea typeface="+mn-ea"/>
                  <a:cs typeface="+mn-cs"/>
                </a:rPr>
                <a:t>6.8%​</a:t>
              </a:r>
            </a:p>
          </p:txBody>
        </p:sp>
        <p:sp>
          <p:nvSpPr>
            <p:cNvPr id="106" name="TextBox 106"/>
            <p:cNvSpPr txBox="1"/>
            <p:nvPr/>
          </p:nvSpPr>
          <p:spPr>
            <a:xfrm>
              <a:off x="2037064" y="3589972"/>
              <a:ext cx="307372" cy="147638"/>
            </a:xfrm>
            <a:prstGeom prst="rect">
              <a:avLst/>
            </a:prstGeom>
            <a:noFill/>
            <a:ln>
              <a:noFill/>
            </a:ln>
          </p:spPr>
          <p:txBody>
            <a:bodyPr wrap="none" lIns="0" tIns="0" rIns="0" bIns="0" anchor="t" anchorCtr="0">
              <a:spAutoFit/>
            </a:bodyPr>
            <a:lstStyle/>
            <a:p>
              <a:pPr algn="ctr"/>
              <a:r>
                <a:rPr lang="zh-CN" sz="750" dirty="0">
                  <a:solidFill>
                    <a:srgbClr val="B54C3A"/>
                  </a:solidFill>
                  <a:latin typeface="+mn-lt"/>
                  <a:ea typeface="+mn-ea"/>
                  <a:cs typeface="+mn-cs"/>
                </a:rPr>
                <a:t>7.6%​</a:t>
              </a:r>
            </a:p>
          </p:txBody>
        </p:sp>
        <p:sp>
          <p:nvSpPr>
            <p:cNvPr id="107" name="TextBox 107"/>
            <p:cNvSpPr txBox="1"/>
            <p:nvPr/>
          </p:nvSpPr>
          <p:spPr>
            <a:xfrm>
              <a:off x="2894314" y="3468052"/>
              <a:ext cx="307372" cy="147638"/>
            </a:xfrm>
            <a:prstGeom prst="rect">
              <a:avLst/>
            </a:prstGeom>
            <a:noFill/>
            <a:ln>
              <a:noFill/>
            </a:ln>
          </p:spPr>
          <p:txBody>
            <a:bodyPr wrap="none" lIns="0" tIns="0" rIns="0" bIns="0" anchor="t" anchorCtr="0">
              <a:spAutoFit/>
            </a:bodyPr>
            <a:lstStyle/>
            <a:p>
              <a:pPr algn="ctr"/>
              <a:r>
                <a:rPr lang="zh-CN" sz="750" dirty="0">
                  <a:solidFill>
                    <a:srgbClr val="B54C3A"/>
                  </a:solidFill>
                  <a:latin typeface="+mn-lt"/>
                  <a:ea typeface="+mn-ea"/>
                  <a:cs typeface="+mn-cs"/>
                </a:rPr>
                <a:t>8.4%​</a:t>
              </a:r>
            </a:p>
          </p:txBody>
        </p:sp>
        <p:sp>
          <p:nvSpPr>
            <p:cNvPr id="108" name="TextBox 108"/>
            <p:cNvSpPr txBox="1"/>
            <p:nvPr/>
          </p:nvSpPr>
          <p:spPr>
            <a:xfrm>
              <a:off x="1107961" y="4997291"/>
              <a:ext cx="451079"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资产总额</a:t>
              </a:r>
            </a:p>
          </p:txBody>
        </p:sp>
        <p:sp>
          <p:nvSpPr>
            <p:cNvPr id="109" name="TextBox 109"/>
            <p:cNvSpPr txBox="1"/>
            <p:nvPr/>
          </p:nvSpPr>
          <p:spPr>
            <a:xfrm>
              <a:off x="1965211" y="4997291"/>
              <a:ext cx="451079"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存款余额</a:t>
              </a:r>
            </a:p>
          </p:txBody>
        </p:sp>
        <p:sp>
          <p:nvSpPr>
            <p:cNvPr id="110" name="TextBox 110"/>
            <p:cNvSpPr txBox="1"/>
            <p:nvPr/>
          </p:nvSpPr>
          <p:spPr>
            <a:xfrm>
              <a:off x="2822461" y="4997291"/>
              <a:ext cx="451079"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贷款余额</a:t>
              </a:r>
            </a:p>
          </p:txBody>
        </p:sp>
      </p:grpSp>
      <p:grpSp>
        <p:nvGrpSpPr>
          <p:cNvPr id="148" name="chart-profit"/>
          <p:cNvGrpSpPr/>
          <p:nvPr/>
        </p:nvGrpSpPr>
        <p:grpSpPr>
          <a:xfrm>
            <a:off x="4223611" y="2724150"/>
            <a:ext cx="3720239" cy="2552700"/>
            <a:chOff x="4223611" y="2724150"/>
            <a:chExt cx="3720239" cy="2552700"/>
          </a:xfrm>
        </p:grpSpPr>
        <p:sp>
          <p:nvSpPr>
            <p:cNvPr id="112" name="Rectangle 112"/>
            <p:cNvSpPr/>
            <p:nvPr/>
          </p:nvSpPr>
          <p:spPr>
            <a:xfrm>
              <a:off x="4229100" y="2724150"/>
              <a:ext cx="3714750" cy="2552700"/>
            </a:xfrm>
            <a:prstGeom prst="roundRect">
              <a:avLst>
                <a:gd name="adj" fmla="val 2985"/>
              </a:avLst>
            </a:prstGeom>
            <a:solidFill>
              <a:srgbClr val="FDF6F5"/>
            </a:solidFill>
            <a:ln w="9525">
              <a:solidFill>
                <a:srgbClr val="EDD5D2"/>
              </a:solidFill>
            </a:ln>
          </p:spPr>
        </p:sp>
        <p:sp>
          <p:nvSpPr>
            <p:cNvPr id="113" name="Freeform 113"/>
            <p:cNvSpPr/>
            <p:nvPr/>
          </p:nvSpPr>
          <p:spPr>
            <a:xfrm>
              <a:off x="4238625" y="2733675"/>
              <a:ext cx="3695700" cy="228600"/>
            </a:xfrm>
            <a:custGeom>
              <a:avLst/>
              <a:gdLst/>
              <a:ahLst/>
              <a:cxnLst/>
              <a:rect l="l" t="t" r="r" b="b"/>
              <a:pathLst>
                <a:path w="3695700" h="228600">
                  <a:moveTo>
                    <a:pt x="0" y="228600"/>
                  </a:moveTo>
                  <a:lnTo>
                    <a:pt x="3695700" y="228600"/>
                  </a:lnTo>
                  <a:lnTo>
                    <a:pt x="3695700" y="66675"/>
                  </a:lnTo>
                  <a:cubicBezTo>
                    <a:pt x="3695700" y="29851"/>
                    <a:pt x="3665849" y="0"/>
                    <a:pt x="3629025" y="0"/>
                  </a:cubicBezTo>
                  <a:lnTo>
                    <a:pt x="66675" y="0"/>
                  </a:lnTo>
                  <a:cubicBezTo>
                    <a:pt x="29851" y="0"/>
                    <a:pt x="0" y="29851"/>
                    <a:pt x="0" y="66675"/>
                  </a:cubicBezTo>
                  <a:close/>
                </a:path>
              </a:pathLst>
            </a:custGeom>
            <a:solidFill>
              <a:srgbClr val="A52D12"/>
            </a:solidFill>
            <a:ln>
              <a:noFill/>
            </a:ln>
          </p:spPr>
        </p:sp>
        <p:sp>
          <p:nvSpPr>
            <p:cNvPr id="114" name="TextBox 114"/>
            <p:cNvSpPr txBox="1"/>
            <p:nvPr/>
          </p:nvSpPr>
          <p:spPr>
            <a:xfrm>
              <a:off x="5515737" y="2782252"/>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经营效益（亿元）</a:t>
              </a:r>
            </a:p>
          </p:txBody>
        </p:sp>
        <p:sp>
          <p:nvSpPr>
            <p:cNvPr id="115" name="Rectangle 115"/>
            <p:cNvSpPr/>
            <p:nvPr/>
          </p:nvSpPr>
          <p:spPr>
            <a:xfrm>
              <a:off x="4476750" y="3143250"/>
              <a:ext cx="95250" cy="95250"/>
            </a:xfrm>
            <a:prstGeom prst="rect">
              <a:avLst/>
            </a:prstGeom>
            <a:solidFill>
              <a:srgbClr val="A52D12"/>
            </a:solidFill>
            <a:ln>
              <a:noFill/>
            </a:ln>
          </p:spPr>
        </p:sp>
        <p:sp>
          <p:nvSpPr>
            <p:cNvPr id="116" name="TextBox 116"/>
            <p:cNvSpPr txBox="1"/>
            <p:nvPr/>
          </p:nvSpPr>
          <p:spPr>
            <a:xfrm>
              <a:off x="4624388" y="3148012"/>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营业收入</a:t>
              </a:r>
            </a:p>
          </p:txBody>
        </p:sp>
        <p:sp>
          <p:nvSpPr>
            <p:cNvPr id="117" name="Rectangle 117"/>
            <p:cNvSpPr/>
            <p:nvPr/>
          </p:nvSpPr>
          <p:spPr>
            <a:xfrm>
              <a:off x="5295900" y="3143250"/>
              <a:ext cx="95250" cy="95250"/>
            </a:xfrm>
            <a:prstGeom prst="rect">
              <a:avLst/>
            </a:prstGeom>
            <a:solidFill>
              <a:srgbClr val="C9604E"/>
            </a:solidFill>
            <a:ln>
              <a:noFill/>
            </a:ln>
          </p:spPr>
        </p:sp>
        <p:sp>
          <p:nvSpPr>
            <p:cNvPr id="118" name="TextBox 118"/>
            <p:cNvSpPr txBox="1"/>
            <p:nvPr/>
          </p:nvSpPr>
          <p:spPr>
            <a:xfrm>
              <a:off x="5443538" y="3148012"/>
              <a:ext cx="31242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净利润</a:t>
              </a:r>
            </a:p>
          </p:txBody>
        </p:sp>
        <p:sp>
          <p:nvSpPr>
            <p:cNvPr id="119" name="Line 119"/>
            <p:cNvSpPr/>
            <p:nvPr/>
          </p:nvSpPr>
          <p:spPr>
            <a:xfrm>
              <a:off x="4476750" y="3390900"/>
              <a:ext cx="2857500" cy="9525"/>
            </a:xfrm>
            <a:custGeom>
              <a:avLst/>
              <a:gdLst/>
              <a:ahLst/>
              <a:cxnLst/>
              <a:rect l="l" t="t" r="r" b="b"/>
              <a:pathLst>
                <a:path w="2857500" h="9525">
                  <a:moveTo>
                    <a:pt x="0" y="0"/>
                  </a:moveTo>
                  <a:lnTo>
                    <a:pt x="2857500" y="0"/>
                  </a:lnTo>
                </a:path>
              </a:pathLst>
            </a:custGeom>
            <a:noFill/>
            <a:ln w="9525">
              <a:solidFill>
                <a:srgbClr val="EDE4E2"/>
              </a:solidFill>
            </a:ln>
          </p:spPr>
        </p:sp>
        <p:sp>
          <p:nvSpPr>
            <p:cNvPr id="120" name="Line 120"/>
            <p:cNvSpPr/>
            <p:nvPr/>
          </p:nvSpPr>
          <p:spPr>
            <a:xfrm>
              <a:off x="4476750" y="3771900"/>
              <a:ext cx="2857500" cy="9525"/>
            </a:xfrm>
            <a:custGeom>
              <a:avLst/>
              <a:gdLst/>
              <a:ahLst/>
              <a:cxnLst/>
              <a:rect l="l" t="t" r="r" b="b"/>
              <a:pathLst>
                <a:path w="2857500" h="9525">
                  <a:moveTo>
                    <a:pt x="0" y="0"/>
                  </a:moveTo>
                  <a:lnTo>
                    <a:pt x="2857500" y="0"/>
                  </a:lnTo>
                </a:path>
              </a:pathLst>
            </a:custGeom>
            <a:noFill/>
            <a:ln w="9525">
              <a:solidFill>
                <a:srgbClr val="EDE4E2"/>
              </a:solidFill>
            </a:ln>
          </p:spPr>
        </p:sp>
        <p:sp>
          <p:nvSpPr>
            <p:cNvPr id="121" name="Line 121"/>
            <p:cNvSpPr/>
            <p:nvPr/>
          </p:nvSpPr>
          <p:spPr>
            <a:xfrm>
              <a:off x="4476750" y="4152900"/>
              <a:ext cx="2857500" cy="9525"/>
            </a:xfrm>
            <a:custGeom>
              <a:avLst/>
              <a:gdLst/>
              <a:ahLst/>
              <a:cxnLst/>
              <a:rect l="l" t="t" r="r" b="b"/>
              <a:pathLst>
                <a:path w="2857500" h="9525">
                  <a:moveTo>
                    <a:pt x="0" y="0"/>
                  </a:moveTo>
                  <a:lnTo>
                    <a:pt x="2857500" y="0"/>
                  </a:lnTo>
                </a:path>
              </a:pathLst>
            </a:custGeom>
            <a:noFill/>
            <a:ln w="9525">
              <a:solidFill>
                <a:srgbClr val="EDE4E2"/>
              </a:solidFill>
            </a:ln>
          </p:spPr>
        </p:sp>
        <p:sp>
          <p:nvSpPr>
            <p:cNvPr id="122" name="Line 122"/>
            <p:cNvSpPr/>
            <p:nvPr/>
          </p:nvSpPr>
          <p:spPr>
            <a:xfrm>
              <a:off x="4476750" y="4533900"/>
              <a:ext cx="2857500" cy="9525"/>
            </a:xfrm>
            <a:custGeom>
              <a:avLst/>
              <a:gdLst/>
              <a:ahLst/>
              <a:cxnLst/>
              <a:rect l="l" t="t" r="r" b="b"/>
              <a:pathLst>
                <a:path w="2857500" h="9525">
                  <a:moveTo>
                    <a:pt x="0" y="0"/>
                  </a:moveTo>
                  <a:lnTo>
                    <a:pt x="2857500" y="0"/>
                  </a:lnTo>
                </a:path>
              </a:pathLst>
            </a:custGeom>
            <a:noFill/>
            <a:ln w="9525">
              <a:solidFill>
                <a:srgbClr val="EDE4E2"/>
              </a:solidFill>
            </a:ln>
          </p:spPr>
        </p:sp>
        <p:sp>
          <p:nvSpPr>
            <p:cNvPr id="123" name="Line 123"/>
            <p:cNvSpPr/>
            <p:nvPr/>
          </p:nvSpPr>
          <p:spPr>
            <a:xfrm>
              <a:off x="4476750" y="4914900"/>
              <a:ext cx="2857500" cy="9525"/>
            </a:xfrm>
            <a:custGeom>
              <a:avLst/>
              <a:gdLst/>
              <a:ahLst/>
              <a:cxnLst/>
              <a:rect l="l" t="t" r="r" b="b"/>
              <a:pathLst>
                <a:path w="2857500" h="9525">
                  <a:moveTo>
                    <a:pt x="0" y="0"/>
                  </a:moveTo>
                  <a:lnTo>
                    <a:pt x="2857500" y="0"/>
                  </a:lnTo>
                </a:path>
              </a:pathLst>
            </a:custGeom>
            <a:noFill/>
            <a:ln w="9525">
              <a:solidFill>
                <a:srgbClr val="C9BBB8"/>
              </a:solidFill>
            </a:ln>
          </p:spPr>
        </p:sp>
        <p:sp>
          <p:nvSpPr>
            <p:cNvPr id="124" name="TextBox 124"/>
            <p:cNvSpPr txBox="1"/>
            <p:nvPr/>
          </p:nvSpPr>
          <p:spPr>
            <a:xfrm>
              <a:off x="4328749" y="4876086"/>
              <a:ext cx="114663"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a:t>
              </a:r>
            </a:p>
          </p:txBody>
        </p:sp>
        <p:sp>
          <p:nvSpPr>
            <p:cNvPr id="125" name="TextBox 125"/>
            <p:cNvSpPr txBox="1"/>
            <p:nvPr/>
          </p:nvSpPr>
          <p:spPr>
            <a:xfrm>
              <a:off x="4276180" y="4495086"/>
              <a:ext cx="167232"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50​</a:t>
              </a:r>
            </a:p>
          </p:txBody>
        </p:sp>
        <p:sp>
          <p:nvSpPr>
            <p:cNvPr id="126" name="TextBox 126"/>
            <p:cNvSpPr txBox="1"/>
            <p:nvPr/>
          </p:nvSpPr>
          <p:spPr>
            <a:xfrm>
              <a:off x="4223611" y="41140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100​</a:t>
              </a:r>
            </a:p>
          </p:txBody>
        </p:sp>
        <p:sp>
          <p:nvSpPr>
            <p:cNvPr id="127" name="TextBox 127"/>
            <p:cNvSpPr txBox="1"/>
            <p:nvPr/>
          </p:nvSpPr>
          <p:spPr>
            <a:xfrm>
              <a:off x="4223611" y="37330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150​</a:t>
              </a:r>
            </a:p>
          </p:txBody>
        </p:sp>
        <p:sp>
          <p:nvSpPr>
            <p:cNvPr id="128" name="TextBox 128"/>
            <p:cNvSpPr txBox="1"/>
            <p:nvPr/>
          </p:nvSpPr>
          <p:spPr>
            <a:xfrm>
              <a:off x="4223611" y="33520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200​</a:t>
              </a:r>
            </a:p>
          </p:txBody>
        </p:sp>
        <p:sp>
          <p:nvSpPr>
            <p:cNvPr id="129" name="Rectangle 129"/>
            <p:cNvSpPr/>
            <p:nvPr/>
          </p:nvSpPr>
          <p:spPr>
            <a:xfrm>
              <a:off x="4648200" y="3850958"/>
              <a:ext cx="285750" cy="1063942"/>
            </a:xfrm>
            <a:prstGeom prst="rect">
              <a:avLst/>
            </a:prstGeom>
            <a:solidFill>
              <a:srgbClr val="A52D12"/>
            </a:solidFill>
            <a:ln>
              <a:noFill/>
            </a:ln>
          </p:spPr>
        </p:sp>
        <p:sp>
          <p:nvSpPr>
            <p:cNvPr id="130" name="Rectangle 130"/>
            <p:cNvSpPr/>
            <p:nvPr/>
          </p:nvSpPr>
          <p:spPr>
            <a:xfrm>
              <a:off x="4972050" y="4488180"/>
              <a:ext cx="285750" cy="426720"/>
            </a:xfrm>
            <a:prstGeom prst="rect">
              <a:avLst/>
            </a:prstGeom>
            <a:solidFill>
              <a:srgbClr val="C9604E"/>
            </a:solidFill>
            <a:ln>
              <a:noFill/>
            </a:ln>
          </p:spPr>
        </p:sp>
        <p:sp>
          <p:nvSpPr>
            <p:cNvPr id="131" name="Rectangle 131"/>
            <p:cNvSpPr/>
            <p:nvPr/>
          </p:nvSpPr>
          <p:spPr>
            <a:xfrm>
              <a:off x="5600700" y="3699510"/>
              <a:ext cx="285750" cy="1215390"/>
            </a:xfrm>
            <a:prstGeom prst="rect">
              <a:avLst/>
            </a:prstGeom>
            <a:solidFill>
              <a:srgbClr val="A52D12"/>
            </a:solidFill>
            <a:ln>
              <a:noFill/>
            </a:ln>
          </p:spPr>
        </p:sp>
        <p:sp>
          <p:nvSpPr>
            <p:cNvPr id="132" name="Rectangle 132"/>
            <p:cNvSpPr/>
            <p:nvPr/>
          </p:nvSpPr>
          <p:spPr>
            <a:xfrm>
              <a:off x="5924550" y="4394835"/>
              <a:ext cx="285750" cy="520065"/>
            </a:xfrm>
            <a:prstGeom prst="rect">
              <a:avLst/>
            </a:prstGeom>
            <a:solidFill>
              <a:srgbClr val="C9604E"/>
            </a:solidFill>
            <a:ln>
              <a:noFill/>
            </a:ln>
          </p:spPr>
        </p:sp>
        <p:sp>
          <p:nvSpPr>
            <p:cNvPr id="133" name="Rectangle 133"/>
            <p:cNvSpPr/>
            <p:nvPr/>
          </p:nvSpPr>
          <p:spPr>
            <a:xfrm>
              <a:off x="6553200" y="3629978"/>
              <a:ext cx="285750" cy="1284922"/>
            </a:xfrm>
            <a:prstGeom prst="rect">
              <a:avLst/>
            </a:prstGeom>
            <a:solidFill>
              <a:srgbClr val="A52D12"/>
            </a:solidFill>
            <a:ln>
              <a:noFill/>
            </a:ln>
          </p:spPr>
        </p:sp>
        <p:sp>
          <p:nvSpPr>
            <p:cNvPr id="134" name="Rectangle 134"/>
            <p:cNvSpPr/>
            <p:nvPr/>
          </p:nvSpPr>
          <p:spPr>
            <a:xfrm>
              <a:off x="6877050" y="4363402"/>
              <a:ext cx="285750" cy="551498"/>
            </a:xfrm>
            <a:prstGeom prst="rect">
              <a:avLst/>
            </a:prstGeom>
            <a:solidFill>
              <a:srgbClr val="C9604E"/>
            </a:solidFill>
            <a:ln>
              <a:noFill/>
            </a:ln>
          </p:spPr>
        </p:sp>
        <p:sp>
          <p:nvSpPr>
            <p:cNvPr id="135" name="TextBox 135"/>
            <p:cNvSpPr txBox="1"/>
            <p:nvPr/>
          </p:nvSpPr>
          <p:spPr>
            <a:xfrm>
              <a:off x="4611391" y="3712845"/>
              <a:ext cx="359369" cy="147638"/>
            </a:xfrm>
            <a:prstGeom prst="rect">
              <a:avLst/>
            </a:prstGeom>
            <a:noFill/>
            <a:ln>
              <a:noFill/>
            </a:ln>
          </p:spPr>
          <p:txBody>
            <a:bodyPr wrap="none" lIns="0" tIns="0" rIns="0" bIns="0" anchor="t" anchorCtr="0">
              <a:spAutoFit/>
            </a:bodyPr>
            <a:lstStyle/>
            <a:p>
              <a:pPr algn="ctr"/>
              <a:r>
                <a:rPr lang="zh-CN" sz="750" b="1" dirty="0">
                  <a:solidFill>
                    <a:srgbClr val="A52D12"/>
                  </a:solidFill>
                  <a:latin typeface="+mn-lt"/>
                  <a:ea typeface="+mn-ea"/>
                  <a:cs typeface="+mn-cs"/>
                </a:rPr>
                <a:t>139.6​</a:t>
              </a:r>
            </a:p>
          </p:txBody>
        </p:sp>
        <p:sp>
          <p:nvSpPr>
            <p:cNvPr id="136" name="TextBox 136"/>
            <p:cNvSpPr txBox="1"/>
            <p:nvPr/>
          </p:nvSpPr>
          <p:spPr>
            <a:xfrm>
              <a:off x="4971336" y="4350068"/>
              <a:ext cx="287179" cy="147638"/>
            </a:xfrm>
            <a:prstGeom prst="rect">
              <a:avLst/>
            </a:prstGeom>
            <a:noFill/>
            <a:ln>
              <a:noFill/>
            </a:ln>
          </p:spPr>
          <p:txBody>
            <a:bodyPr wrap="none" lIns="0" tIns="0" rIns="0" bIns="0" anchor="t" anchorCtr="0">
              <a:spAutoFit/>
            </a:bodyPr>
            <a:lstStyle/>
            <a:p>
              <a:pPr algn="ctr"/>
              <a:r>
                <a:rPr lang="zh-CN" sz="750" dirty="0">
                  <a:solidFill>
                    <a:srgbClr val="B54C3A"/>
                  </a:solidFill>
                  <a:latin typeface="+mn-lt"/>
                  <a:ea typeface="+mn-ea"/>
                  <a:cs typeface="+mn-cs"/>
                </a:rPr>
                <a:t>56.0​</a:t>
              </a:r>
            </a:p>
          </p:txBody>
        </p:sp>
        <p:sp>
          <p:nvSpPr>
            <p:cNvPr id="137" name="TextBox 137"/>
            <p:cNvSpPr txBox="1"/>
            <p:nvPr/>
          </p:nvSpPr>
          <p:spPr>
            <a:xfrm>
              <a:off x="5563891" y="3561398"/>
              <a:ext cx="359369" cy="147638"/>
            </a:xfrm>
            <a:prstGeom prst="rect">
              <a:avLst/>
            </a:prstGeom>
            <a:noFill/>
            <a:ln>
              <a:noFill/>
            </a:ln>
          </p:spPr>
          <p:txBody>
            <a:bodyPr wrap="none" lIns="0" tIns="0" rIns="0" bIns="0" anchor="t" anchorCtr="0">
              <a:spAutoFit/>
            </a:bodyPr>
            <a:lstStyle/>
            <a:p>
              <a:pPr algn="ctr"/>
              <a:r>
                <a:rPr lang="zh-CN" sz="750" b="1" dirty="0">
                  <a:solidFill>
                    <a:srgbClr val="A52D12"/>
                  </a:solidFill>
                  <a:latin typeface="+mn-lt"/>
                  <a:ea typeface="+mn-ea"/>
                  <a:cs typeface="+mn-cs"/>
                </a:rPr>
                <a:t>159.5​</a:t>
              </a:r>
            </a:p>
          </p:txBody>
        </p:sp>
        <p:sp>
          <p:nvSpPr>
            <p:cNvPr id="138" name="TextBox 138"/>
            <p:cNvSpPr txBox="1"/>
            <p:nvPr/>
          </p:nvSpPr>
          <p:spPr>
            <a:xfrm>
              <a:off x="5923836" y="4256722"/>
              <a:ext cx="287179" cy="147638"/>
            </a:xfrm>
            <a:prstGeom prst="rect">
              <a:avLst/>
            </a:prstGeom>
            <a:noFill/>
            <a:ln>
              <a:noFill/>
            </a:ln>
          </p:spPr>
          <p:txBody>
            <a:bodyPr wrap="none" lIns="0" tIns="0" rIns="0" bIns="0" anchor="t" anchorCtr="0">
              <a:spAutoFit/>
            </a:bodyPr>
            <a:lstStyle/>
            <a:p>
              <a:pPr algn="ctr"/>
              <a:r>
                <a:rPr lang="zh-CN" sz="750" dirty="0">
                  <a:solidFill>
                    <a:srgbClr val="B54C3A"/>
                  </a:solidFill>
                  <a:latin typeface="+mn-lt"/>
                  <a:ea typeface="+mn-ea"/>
                  <a:cs typeface="+mn-cs"/>
                </a:rPr>
                <a:t>68.2​</a:t>
              </a:r>
            </a:p>
          </p:txBody>
        </p:sp>
        <p:sp>
          <p:nvSpPr>
            <p:cNvPr id="139" name="TextBox 139"/>
            <p:cNvSpPr txBox="1"/>
            <p:nvPr/>
          </p:nvSpPr>
          <p:spPr>
            <a:xfrm>
              <a:off x="6516391" y="3491865"/>
              <a:ext cx="359369" cy="147638"/>
            </a:xfrm>
            <a:prstGeom prst="rect">
              <a:avLst/>
            </a:prstGeom>
            <a:noFill/>
            <a:ln>
              <a:noFill/>
            </a:ln>
          </p:spPr>
          <p:txBody>
            <a:bodyPr wrap="none" lIns="0" tIns="0" rIns="0" bIns="0" anchor="t" anchorCtr="0">
              <a:spAutoFit/>
            </a:bodyPr>
            <a:lstStyle/>
            <a:p>
              <a:pPr algn="ctr"/>
              <a:r>
                <a:rPr lang="zh-CN" sz="750" b="1" dirty="0">
                  <a:solidFill>
                    <a:srgbClr val="A52D12"/>
                  </a:solidFill>
                  <a:latin typeface="+mn-lt"/>
                  <a:ea typeface="+mn-ea"/>
                  <a:cs typeface="+mn-cs"/>
                </a:rPr>
                <a:t>168.6​</a:t>
              </a:r>
            </a:p>
          </p:txBody>
        </p:sp>
        <p:sp>
          <p:nvSpPr>
            <p:cNvPr id="140" name="TextBox 140"/>
            <p:cNvSpPr txBox="1"/>
            <p:nvPr/>
          </p:nvSpPr>
          <p:spPr>
            <a:xfrm>
              <a:off x="6876336" y="4225290"/>
              <a:ext cx="287179" cy="147638"/>
            </a:xfrm>
            <a:prstGeom prst="rect">
              <a:avLst/>
            </a:prstGeom>
            <a:noFill/>
            <a:ln>
              <a:noFill/>
            </a:ln>
          </p:spPr>
          <p:txBody>
            <a:bodyPr wrap="none" lIns="0" tIns="0" rIns="0" bIns="0" anchor="t" anchorCtr="0">
              <a:spAutoFit/>
            </a:bodyPr>
            <a:lstStyle/>
            <a:p>
              <a:pPr algn="ctr"/>
              <a:r>
                <a:rPr lang="zh-CN" sz="750" dirty="0">
                  <a:solidFill>
                    <a:srgbClr val="B54C3A"/>
                  </a:solidFill>
                  <a:latin typeface="+mn-lt"/>
                  <a:ea typeface="+mn-ea"/>
                  <a:cs typeface="+mn-cs"/>
                </a:rPr>
                <a:t>72.4​</a:t>
              </a:r>
            </a:p>
          </p:txBody>
        </p:sp>
        <p:sp>
          <p:nvSpPr>
            <p:cNvPr id="141" name="TextBox 141"/>
            <p:cNvSpPr txBox="1"/>
            <p:nvPr/>
          </p:nvSpPr>
          <p:spPr>
            <a:xfrm>
              <a:off x="4741259" y="4997291"/>
              <a:ext cx="42348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2022年​</a:t>
              </a:r>
            </a:p>
          </p:txBody>
        </p:sp>
        <p:sp>
          <p:nvSpPr>
            <p:cNvPr id="142" name="TextBox 142"/>
            <p:cNvSpPr txBox="1"/>
            <p:nvPr/>
          </p:nvSpPr>
          <p:spPr>
            <a:xfrm>
              <a:off x="5693759" y="4997291"/>
              <a:ext cx="42348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2023年​</a:t>
              </a:r>
            </a:p>
          </p:txBody>
        </p:sp>
        <p:sp>
          <p:nvSpPr>
            <p:cNvPr id="143" name="TextBox 143"/>
            <p:cNvSpPr txBox="1"/>
            <p:nvPr/>
          </p:nvSpPr>
          <p:spPr>
            <a:xfrm>
              <a:off x="6646259" y="4997291"/>
              <a:ext cx="42348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2024年​</a:t>
              </a:r>
            </a:p>
          </p:txBody>
        </p:sp>
        <p:sp>
          <p:nvSpPr>
            <p:cNvPr id="144" name="Rectangle 144"/>
            <p:cNvSpPr/>
            <p:nvPr/>
          </p:nvSpPr>
          <p:spPr>
            <a:xfrm>
              <a:off x="7410450" y="3486150"/>
              <a:ext cx="476250" cy="1123950"/>
            </a:xfrm>
            <a:prstGeom prst="rect">
              <a:avLst/>
            </a:prstGeom>
            <a:noFill/>
            <a:ln w="9525">
              <a:solidFill>
                <a:srgbClr val="E4AFA6"/>
              </a:solidFill>
              <a:custDash>
                <a:ds d="400000" sp="300000"/>
              </a:custDash>
            </a:ln>
          </p:spPr>
        </p:sp>
        <p:sp>
          <p:nvSpPr>
            <p:cNvPr id="145" name="TextBox 145"/>
            <p:cNvSpPr txBox="1"/>
            <p:nvPr/>
          </p:nvSpPr>
          <p:spPr>
            <a:xfrm>
              <a:off x="7441882" y="3614738"/>
              <a:ext cx="413385" cy="147638"/>
            </a:xfrm>
            <a:prstGeom prst="rect">
              <a:avLst/>
            </a:prstGeom>
            <a:noFill/>
            <a:ln>
              <a:noFill/>
            </a:ln>
          </p:spPr>
          <p:txBody>
            <a:bodyPr wrap="none" lIns="0" tIns="0" rIns="0" bIns="0" anchor="t" anchorCtr="0">
              <a:spAutoFit/>
            </a:bodyPr>
            <a:lstStyle/>
            <a:p>
              <a:pPr algn="ctr"/>
              <a:r>
                <a:rPr lang="zh-CN" sz="750" dirty="0">
                  <a:solidFill>
                    <a:srgbClr val="6B6B6B"/>
                  </a:solidFill>
                  <a:latin typeface="+mn-lt"/>
                  <a:ea typeface="+mn-ea"/>
                  <a:cs typeface="+mn-cs"/>
                </a:rPr>
                <a:t>同比增幅</a:t>
              </a:r>
            </a:p>
          </p:txBody>
        </p:sp>
        <p:sp>
          <p:nvSpPr>
            <p:cNvPr id="146" name="TextBox 146"/>
            <p:cNvSpPr txBox="1"/>
            <p:nvPr/>
          </p:nvSpPr>
          <p:spPr>
            <a:xfrm>
              <a:off x="7421185" y="3903345"/>
              <a:ext cx="454781" cy="176212"/>
            </a:xfrm>
            <a:prstGeom prst="rect">
              <a:avLst/>
            </a:prstGeom>
            <a:noFill/>
            <a:ln>
              <a:noFill/>
            </a:ln>
          </p:spPr>
          <p:txBody>
            <a:bodyPr wrap="none" lIns="0" tIns="0" rIns="0" bIns="0" anchor="t" anchorCtr="0">
              <a:spAutoFit/>
            </a:bodyPr>
            <a:lstStyle/>
            <a:p>
              <a:pPr algn="ctr"/>
              <a:r>
                <a:rPr lang="zh-CN" sz="900" b="1" dirty="0">
                  <a:solidFill>
                    <a:srgbClr val="A52D12"/>
                  </a:solidFill>
                  <a:latin typeface="+mn-lt"/>
                  <a:ea typeface="+mn-ea"/>
                  <a:cs typeface="+mn-cs"/>
                </a:rPr>
                <a:t>+5.7%​</a:t>
              </a:r>
            </a:p>
          </p:txBody>
        </p:sp>
        <p:sp>
          <p:nvSpPr>
            <p:cNvPr id="147" name="TextBox 147"/>
            <p:cNvSpPr txBox="1"/>
            <p:nvPr/>
          </p:nvSpPr>
          <p:spPr>
            <a:xfrm>
              <a:off x="7421185" y="4208145"/>
              <a:ext cx="454781" cy="176212"/>
            </a:xfrm>
            <a:prstGeom prst="rect">
              <a:avLst/>
            </a:prstGeom>
            <a:noFill/>
            <a:ln>
              <a:noFill/>
            </a:ln>
          </p:spPr>
          <p:txBody>
            <a:bodyPr wrap="none" lIns="0" tIns="0" rIns="0" bIns="0" anchor="t" anchorCtr="0">
              <a:spAutoFit/>
            </a:bodyPr>
            <a:lstStyle/>
            <a:p>
              <a:pPr algn="ctr"/>
              <a:r>
                <a:rPr lang="zh-CN" sz="900" b="1" dirty="0">
                  <a:solidFill>
                    <a:srgbClr val="A52D12"/>
                  </a:solidFill>
                  <a:latin typeface="+mn-lt"/>
                  <a:ea typeface="+mn-ea"/>
                  <a:cs typeface="+mn-cs"/>
                </a:rPr>
                <a:t>+6.2%​</a:t>
              </a:r>
            </a:p>
          </p:txBody>
        </p:sp>
      </p:grpSp>
      <p:grpSp>
        <p:nvGrpSpPr>
          <p:cNvPr id="179" name="chart-risk"/>
          <p:cNvGrpSpPr/>
          <p:nvPr/>
        </p:nvGrpSpPr>
        <p:grpSpPr>
          <a:xfrm>
            <a:off x="8038126" y="2724150"/>
            <a:ext cx="3753824" cy="2552700"/>
            <a:chOff x="8038126" y="2724150"/>
            <a:chExt cx="3753824" cy="2552700"/>
          </a:xfrm>
        </p:grpSpPr>
        <p:sp>
          <p:nvSpPr>
            <p:cNvPr id="149" name="Rectangle 149"/>
            <p:cNvSpPr/>
            <p:nvPr/>
          </p:nvSpPr>
          <p:spPr>
            <a:xfrm>
              <a:off x="8077200" y="2724150"/>
              <a:ext cx="3714750" cy="2552700"/>
            </a:xfrm>
            <a:prstGeom prst="roundRect">
              <a:avLst>
                <a:gd name="adj" fmla="val 2985"/>
              </a:avLst>
            </a:prstGeom>
            <a:solidFill>
              <a:srgbClr val="FDF6F5"/>
            </a:solidFill>
            <a:ln w="9525">
              <a:solidFill>
                <a:srgbClr val="EDD5D2"/>
              </a:solidFill>
            </a:ln>
          </p:spPr>
        </p:sp>
        <p:sp>
          <p:nvSpPr>
            <p:cNvPr id="150" name="Freeform 150"/>
            <p:cNvSpPr/>
            <p:nvPr/>
          </p:nvSpPr>
          <p:spPr>
            <a:xfrm>
              <a:off x="8086725" y="2733675"/>
              <a:ext cx="3695700" cy="228600"/>
            </a:xfrm>
            <a:custGeom>
              <a:avLst/>
              <a:gdLst/>
              <a:ahLst/>
              <a:cxnLst/>
              <a:rect l="l" t="t" r="r" b="b"/>
              <a:pathLst>
                <a:path w="3695700" h="228600">
                  <a:moveTo>
                    <a:pt x="0" y="228600"/>
                  </a:moveTo>
                  <a:lnTo>
                    <a:pt x="3695700" y="228600"/>
                  </a:lnTo>
                  <a:lnTo>
                    <a:pt x="3695700" y="66675"/>
                  </a:lnTo>
                  <a:cubicBezTo>
                    <a:pt x="3695700" y="29851"/>
                    <a:pt x="3665849" y="0"/>
                    <a:pt x="3629025" y="0"/>
                  </a:cubicBezTo>
                  <a:lnTo>
                    <a:pt x="66675" y="0"/>
                  </a:lnTo>
                  <a:cubicBezTo>
                    <a:pt x="29851" y="0"/>
                    <a:pt x="0" y="29851"/>
                    <a:pt x="0" y="66675"/>
                  </a:cubicBezTo>
                  <a:close/>
                </a:path>
              </a:pathLst>
            </a:custGeom>
            <a:solidFill>
              <a:srgbClr val="A52D12"/>
            </a:solidFill>
            <a:ln>
              <a:noFill/>
            </a:ln>
          </p:spPr>
        </p:sp>
        <p:sp>
          <p:nvSpPr>
            <p:cNvPr id="151" name="TextBox 151"/>
            <p:cNvSpPr txBox="1"/>
            <p:nvPr/>
          </p:nvSpPr>
          <p:spPr>
            <a:xfrm>
              <a:off x="9408716" y="2782252"/>
              <a:ext cx="105171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风险指标（%）​</a:t>
              </a:r>
            </a:p>
          </p:txBody>
        </p:sp>
        <p:sp>
          <p:nvSpPr>
            <p:cNvPr id="152" name="Line 152"/>
            <p:cNvSpPr/>
            <p:nvPr/>
          </p:nvSpPr>
          <p:spPr>
            <a:xfrm>
              <a:off x="8858250" y="3228975"/>
              <a:ext cx="247650" cy="9525"/>
            </a:xfrm>
            <a:custGeom>
              <a:avLst/>
              <a:gdLst/>
              <a:ahLst/>
              <a:cxnLst/>
              <a:rect l="l" t="t" r="r" b="b"/>
              <a:pathLst>
                <a:path w="247650" h="9525">
                  <a:moveTo>
                    <a:pt x="0" y="0"/>
                  </a:moveTo>
                  <a:lnTo>
                    <a:pt x="247650" y="0"/>
                  </a:lnTo>
                </a:path>
              </a:pathLst>
            </a:custGeom>
            <a:noFill/>
            <a:ln w="17145">
              <a:solidFill>
                <a:srgbClr val="A52D12"/>
              </a:solidFill>
            </a:ln>
          </p:spPr>
        </p:sp>
        <p:sp>
          <p:nvSpPr>
            <p:cNvPr id="153" name="Ellipse 153"/>
            <p:cNvSpPr/>
            <p:nvPr/>
          </p:nvSpPr>
          <p:spPr>
            <a:xfrm>
              <a:off x="8948738" y="3195638"/>
              <a:ext cx="66675" cy="66675"/>
            </a:xfrm>
            <a:prstGeom prst="ellipse">
              <a:avLst/>
            </a:prstGeom>
            <a:solidFill>
              <a:srgbClr val="FFFFFF"/>
            </a:solidFill>
            <a:ln w="17145">
              <a:solidFill>
                <a:srgbClr val="A52D12"/>
              </a:solidFill>
            </a:ln>
          </p:spPr>
        </p:sp>
        <p:sp>
          <p:nvSpPr>
            <p:cNvPr id="154" name="TextBox 154"/>
            <p:cNvSpPr txBox="1"/>
            <p:nvPr/>
          </p:nvSpPr>
          <p:spPr>
            <a:xfrm>
              <a:off x="9158288" y="3186112"/>
              <a:ext cx="51435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不良贷款率</a:t>
              </a:r>
            </a:p>
          </p:txBody>
        </p:sp>
        <p:sp>
          <p:nvSpPr>
            <p:cNvPr id="155" name="Line 155"/>
            <p:cNvSpPr/>
            <p:nvPr/>
          </p:nvSpPr>
          <p:spPr>
            <a:xfrm>
              <a:off x="8362950" y="3390900"/>
              <a:ext cx="2590800" cy="9525"/>
            </a:xfrm>
            <a:custGeom>
              <a:avLst/>
              <a:gdLst/>
              <a:ahLst/>
              <a:cxnLst/>
              <a:rect l="l" t="t" r="r" b="b"/>
              <a:pathLst>
                <a:path w="2590800" h="9525">
                  <a:moveTo>
                    <a:pt x="0" y="0"/>
                  </a:moveTo>
                  <a:lnTo>
                    <a:pt x="2590800" y="0"/>
                  </a:lnTo>
                </a:path>
              </a:pathLst>
            </a:custGeom>
            <a:noFill/>
            <a:ln w="9525">
              <a:solidFill>
                <a:srgbClr val="EDE4E2"/>
              </a:solidFill>
            </a:ln>
          </p:spPr>
        </p:sp>
        <p:sp>
          <p:nvSpPr>
            <p:cNvPr id="156" name="Line 156"/>
            <p:cNvSpPr/>
            <p:nvPr/>
          </p:nvSpPr>
          <p:spPr>
            <a:xfrm>
              <a:off x="8362950" y="3771900"/>
              <a:ext cx="2590800" cy="9525"/>
            </a:xfrm>
            <a:custGeom>
              <a:avLst/>
              <a:gdLst/>
              <a:ahLst/>
              <a:cxnLst/>
              <a:rect l="l" t="t" r="r" b="b"/>
              <a:pathLst>
                <a:path w="2590800" h="9525">
                  <a:moveTo>
                    <a:pt x="0" y="0"/>
                  </a:moveTo>
                  <a:lnTo>
                    <a:pt x="2590800" y="0"/>
                  </a:lnTo>
                </a:path>
              </a:pathLst>
            </a:custGeom>
            <a:noFill/>
            <a:ln w="9525">
              <a:solidFill>
                <a:srgbClr val="EDE4E2"/>
              </a:solidFill>
            </a:ln>
          </p:spPr>
        </p:sp>
        <p:sp>
          <p:nvSpPr>
            <p:cNvPr id="157" name="Line 157"/>
            <p:cNvSpPr/>
            <p:nvPr/>
          </p:nvSpPr>
          <p:spPr>
            <a:xfrm>
              <a:off x="8362950" y="4152900"/>
              <a:ext cx="2590800" cy="9525"/>
            </a:xfrm>
            <a:custGeom>
              <a:avLst/>
              <a:gdLst/>
              <a:ahLst/>
              <a:cxnLst/>
              <a:rect l="l" t="t" r="r" b="b"/>
              <a:pathLst>
                <a:path w="2590800" h="9525">
                  <a:moveTo>
                    <a:pt x="0" y="0"/>
                  </a:moveTo>
                  <a:lnTo>
                    <a:pt x="2590800" y="0"/>
                  </a:lnTo>
                </a:path>
              </a:pathLst>
            </a:custGeom>
            <a:noFill/>
            <a:ln w="9525">
              <a:solidFill>
                <a:srgbClr val="EDE4E2"/>
              </a:solidFill>
            </a:ln>
          </p:spPr>
        </p:sp>
        <p:sp>
          <p:nvSpPr>
            <p:cNvPr id="158" name="Line 158"/>
            <p:cNvSpPr/>
            <p:nvPr/>
          </p:nvSpPr>
          <p:spPr>
            <a:xfrm>
              <a:off x="8362950" y="4533900"/>
              <a:ext cx="2590800" cy="9525"/>
            </a:xfrm>
            <a:custGeom>
              <a:avLst/>
              <a:gdLst/>
              <a:ahLst/>
              <a:cxnLst/>
              <a:rect l="l" t="t" r="r" b="b"/>
              <a:pathLst>
                <a:path w="2590800" h="9525">
                  <a:moveTo>
                    <a:pt x="0" y="0"/>
                  </a:moveTo>
                  <a:lnTo>
                    <a:pt x="2590800" y="0"/>
                  </a:lnTo>
                </a:path>
              </a:pathLst>
            </a:custGeom>
            <a:noFill/>
            <a:ln w="9525">
              <a:solidFill>
                <a:srgbClr val="EDE4E2"/>
              </a:solidFill>
            </a:ln>
          </p:spPr>
        </p:sp>
        <p:sp>
          <p:nvSpPr>
            <p:cNvPr id="159" name="Line 159"/>
            <p:cNvSpPr/>
            <p:nvPr/>
          </p:nvSpPr>
          <p:spPr>
            <a:xfrm>
              <a:off x="8362950" y="4914900"/>
              <a:ext cx="2590800" cy="9525"/>
            </a:xfrm>
            <a:custGeom>
              <a:avLst/>
              <a:gdLst/>
              <a:ahLst/>
              <a:cxnLst/>
              <a:rect l="l" t="t" r="r" b="b"/>
              <a:pathLst>
                <a:path w="2590800" h="9525">
                  <a:moveTo>
                    <a:pt x="0" y="0"/>
                  </a:moveTo>
                  <a:lnTo>
                    <a:pt x="2590800" y="0"/>
                  </a:lnTo>
                </a:path>
              </a:pathLst>
            </a:custGeom>
            <a:noFill/>
            <a:ln w="9525">
              <a:solidFill>
                <a:srgbClr val="C9BBB8"/>
              </a:solidFill>
            </a:ln>
          </p:spPr>
        </p:sp>
        <p:sp>
          <p:nvSpPr>
            <p:cNvPr id="160" name="TextBox 160"/>
            <p:cNvSpPr txBox="1"/>
            <p:nvPr/>
          </p:nvSpPr>
          <p:spPr>
            <a:xfrm>
              <a:off x="8038126" y="4876086"/>
              <a:ext cx="291487"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0.0%​</a:t>
              </a:r>
            </a:p>
          </p:txBody>
        </p:sp>
        <p:sp>
          <p:nvSpPr>
            <p:cNvPr id="161" name="TextBox 161"/>
            <p:cNvSpPr txBox="1"/>
            <p:nvPr/>
          </p:nvSpPr>
          <p:spPr>
            <a:xfrm>
              <a:off x="8038126" y="4495086"/>
              <a:ext cx="291487"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0.5%​</a:t>
              </a:r>
            </a:p>
          </p:txBody>
        </p:sp>
        <p:sp>
          <p:nvSpPr>
            <p:cNvPr id="162" name="TextBox 162"/>
            <p:cNvSpPr txBox="1"/>
            <p:nvPr/>
          </p:nvSpPr>
          <p:spPr>
            <a:xfrm>
              <a:off x="8038126" y="4114086"/>
              <a:ext cx="291487"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1.0%​</a:t>
              </a:r>
            </a:p>
          </p:txBody>
        </p:sp>
        <p:sp>
          <p:nvSpPr>
            <p:cNvPr id="163" name="TextBox 163"/>
            <p:cNvSpPr txBox="1"/>
            <p:nvPr/>
          </p:nvSpPr>
          <p:spPr>
            <a:xfrm>
              <a:off x="8038126" y="3733086"/>
              <a:ext cx="291487"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1.5%​</a:t>
              </a:r>
            </a:p>
          </p:txBody>
        </p:sp>
        <p:sp>
          <p:nvSpPr>
            <p:cNvPr id="164" name="TextBox 164"/>
            <p:cNvSpPr txBox="1"/>
            <p:nvPr/>
          </p:nvSpPr>
          <p:spPr>
            <a:xfrm>
              <a:off x="8038126" y="3352086"/>
              <a:ext cx="291487"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2.0%​</a:t>
              </a:r>
            </a:p>
          </p:txBody>
        </p:sp>
        <p:sp>
          <p:nvSpPr>
            <p:cNvPr id="165" name="Polyline 165"/>
            <p:cNvSpPr/>
            <p:nvPr/>
          </p:nvSpPr>
          <p:spPr>
            <a:xfrm>
              <a:off x="8858250" y="3992880"/>
              <a:ext cx="1524000" cy="99060"/>
            </a:xfrm>
            <a:custGeom>
              <a:avLst/>
              <a:gdLst/>
              <a:ahLst/>
              <a:cxnLst/>
              <a:rect l="l" t="t" r="r" b="b"/>
              <a:pathLst>
                <a:path w="1524000" h="99060">
                  <a:moveTo>
                    <a:pt x="0" y="0"/>
                  </a:moveTo>
                  <a:lnTo>
                    <a:pt x="762000" y="53340"/>
                  </a:lnTo>
                  <a:lnTo>
                    <a:pt x="1524000" y="99060"/>
                  </a:lnTo>
                </a:path>
              </a:pathLst>
            </a:custGeom>
            <a:noFill/>
            <a:ln w="20955">
              <a:solidFill>
                <a:srgbClr val="A52D12"/>
              </a:solidFill>
            </a:ln>
          </p:spPr>
        </p:sp>
        <p:sp>
          <p:nvSpPr>
            <p:cNvPr id="166" name="Ellipse 166"/>
            <p:cNvSpPr/>
            <p:nvPr/>
          </p:nvSpPr>
          <p:spPr>
            <a:xfrm>
              <a:off x="8815388" y="3950018"/>
              <a:ext cx="85725" cy="85725"/>
            </a:xfrm>
            <a:prstGeom prst="ellipse">
              <a:avLst/>
            </a:prstGeom>
            <a:solidFill>
              <a:srgbClr val="FFFFFF"/>
            </a:solidFill>
            <a:ln w="20955">
              <a:solidFill>
                <a:srgbClr val="A52D12"/>
              </a:solidFill>
            </a:ln>
          </p:spPr>
        </p:sp>
        <p:sp>
          <p:nvSpPr>
            <p:cNvPr id="167" name="Ellipse 167"/>
            <p:cNvSpPr/>
            <p:nvPr/>
          </p:nvSpPr>
          <p:spPr>
            <a:xfrm>
              <a:off x="9577388" y="4003358"/>
              <a:ext cx="85725" cy="85725"/>
            </a:xfrm>
            <a:prstGeom prst="ellipse">
              <a:avLst/>
            </a:prstGeom>
            <a:solidFill>
              <a:srgbClr val="FFFFFF"/>
            </a:solidFill>
            <a:ln w="20955">
              <a:solidFill>
                <a:srgbClr val="A52D12"/>
              </a:solidFill>
            </a:ln>
          </p:spPr>
        </p:sp>
        <p:sp>
          <p:nvSpPr>
            <p:cNvPr id="168" name="Ellipse 168"/>
            <p:cNvSpPr/>
            <p:nvPr/>
          </p:nvSpPr>
          <p:spPr>
            <a:xfrm>
              <a:off x="10339388" y="4049078"/>
              <a:ext cx="85725" cy="85725"/>
            </a:xfrm>
            <a:prstGeom prst="ellipse">
              <a:avLst/>
            </a:prstGeom>
            <a:solidFill>
              <a:srgbClr val="FFFFFF"/>
            </a:solidFill>
            <a:ln w="20955">
              <a:solidFill>
                <a:srgbClr val="A52D12"/>
              </a:solidFill>
            </a:ln>
          </p:spPr>
        </p:sp>
        <p:sp>
          <p:nvSpPr>
            <p:cNvPr id="169" name="TextBox 169"/>
            <p:cNvSpPr txBox="1"/>
            <p:nvPr/>
          </p:nvSpPr>
          <p:spPr>
            <a:xfrm>
              <a:off x="8650649" y="3797141"/>
              <a:ext cx="415202" cy="161925"/>
            </a:xfrm>
            <a:prstGeom prst="rect">
              <a:avLst/>
            </a:prstGeom>
            <a:noFill/>
            <a:ln>
              <a:noFill/>
            </a:ln>
          </p:spPr>
          <p:txBody>
            <a:bodyPr wrap="none" lIns="0" tIns="0" rIns="0" bIns="0" anchor="t" anchorCtr="0">
              <a:spAutoFit/>
            </a:bodyPr>
            <a:lstStyle/>
            <a:p>
              <a:pPr algn="ctr"/>
              <a:r>
                <a:rPr lang="zh-CN" sz="820" b="1" dirty="0">
                  <a:solidFill>
                    <a:srgbClr val="1F1F1F"/>
                  </a:solidFill>
                  <a:latin typeface="+mn-lt"/>
                  <a:ea typeface="+mn-ea"/>
                  <a:cs typeface="+mn-cs"/>
                </a:rPr>
                <a:t>1.21%​</a:t>
              </a:r>
            </a:p>
          </p:txBody>
        </p:sp>
        <p:sp>
          <p:nvSpPr>
            <p:cNvPr id="170" name="TextBox 170"/>
            <p:cNvSpPr txBox="1"/>
            <p:nvPr/>
          </p:nvSpPr>
          <p:spPr>
            <a:xfrm>
              <a:off x="9412649" y="3850481"/>
              <a:ext cx="415202" cy="161925"/>
            </a:xfrm>
            <a:prstGeom prst="rect">
              <a:avLst/>
            </a:prstGeom>
            <a:noFill/>
            <a:ln>
              <a:noFill/>
            </a:ln>
          </p:spPr>
          <p:txBody>
            <a:bodyPr wrap="none" lIns="0" tIns="0" rIns="0" bIns="0" anchor="t" anchorCtr="0">
              <a:spAutoFit/>
            </a:bodyPr>
            <a:lstStyle/>
            <a:p>
              <a:pPr algn="ctr"/>
              <a:r>
                <a:rPr lang="zh-CN" sz="820" b="1" dirty="0">
                  <a:solidFill>
                    <a:srgbClr val="1F1F1F"/>
                  </a:solidFill>
                  <a:latin typeface="+mn-lt"/>
                  <a:ea typeface="+mn-ea"/>
                  <a:cs typeface="+mn-cs"/>
                </a:rPr>
                <a:t>1.14%​</a:t>
              </a:r>
            </a:p>
          </p:txBody>
        </p:sp>
        <p:sp>
          <p:nvSpPr>
            <p:cNvPr id="171" name="TextBox 171"/>
            <p:cNvSpPr txBox="1"/>
            <p:nvPr/>
          </p:nvSpPr>
          <p:spPr>
            <a:xfrm>
              <a:off x="10174649" y="3896201"/>
              <a:ext cx="415202" cy="161925"/>
            </a:xfrm>
            <a:prstGeom prst="rect">
              <a:avLst/>
            </a:prstGeom>
            <a:noFill/>
            <a:ln>
              <a:noFill/>
            </a:ln>
          </p:spPr>
          <p:txBody>
            <a:bodyPr wrap="none" lIns="0" tIns="0" rIns="0" bIns="0" anchor="t" anchorCtr="0">
              <a:spAutoFit/>
            </a:bodyPr>
            <a:lstStyle/>
            <a:p>
              <a:pPr algn="ctr"/>
              <a:r>
                <a:rPr lang="zh-CN" sz="820" b="1" dirty="0">
                  <a:solidFill>
                    <a:srgbClr val="A52D12"/>
                  </a:solidFill>
                  <a:latin typeface="+mn-lt"/>
                  <a:ea typeface="+mn-ea"/>
                  <a:cs typeface="+mn-cs"/>
                </a:rPr>
                <a:t>1.08%​</a:t>
              </a:r>
            </a:p>
          </p:txBody>
        </p:sp>
        <p:sp>
          <p:nvSpPr>
            <p:cNvPr id="172" name="TextBox 172"/>
            <p:cNvSpPr txBox="1"/>
            <p:nvPr/>
          </p:nvSpPr>
          <p:spPr>
            <a:xfrm>
              <a:off x="8646509" y="4997291"/>
              <a:ext cx="42348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2022年​</a:t>
              </a:r>
            </a:p>
          </p:txBody>
        </p:sp>
        <p:sp>
          <p:nvSpPr>
            <p:cNvPr id="173" name="TextBox 173"/>
            <p:cNvSpPr txBox="1"/>
            <p:nvPr/>
          </p:nvSpPr>
          <p:spPr>
            <a:xfrm>
              <a:off x="9408509" y="4997291"/>
              <a:ext cx="42348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2023年​</a:t>
              </a:r>
            </a:p>
          </p:txBody>
        </p:sp>
        <p:sp>
          <p:nvSpPr>
            <p:cNvPr id="174" name="TextBox 174"/>
            <p:cNvSpPr txBox="1"/>
            <p:nvPr/>
          </p:nvSpPr>
          <p:spPr>
            <a:xfrm>
              <a:off x="10170509" y="4997291"/>
              <a:ext cx="42348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2024年​</a:t>
              </a:r>
            </a:p>
          </p:txBody>
        </p:sp>
        <p:sp>
          <p:nvSpPr>
            <p:cNvPr id="175" name="Rectangle 175"/>
            <p:cNvSpPr/>
            <p:nvPr/>
          </p:nvSpPr>
          <p:spPr>
            <a:xfrm>
              <a:off x="11049000" y="3619500"/>
              <a:ext cx="666750" cy="914400"/>
            </a:xfrm>
            <a:prstGeom prst="rect">
              <a:avLst/>
            </a:prstGeom>
            <a:noFill/>
            <a:ln w="9525">
              <a:solidFill>
                <a:srgbClr val="E4AFA6"/>
              </a:solidFill>
              <a:custDash>
                <a:ds d="400000" sp="300000"/>
              </a:custDash>
            </a:ln>
          </p:spPr>
        </p:sp>
        <p:sp>
          <p:nvSpPr>
            <p:cNvPr id="176" name="TextBox 176"/>
            <p:cNvSpPr txBox="1"/>
            <p:nvPr/>
          </p:nvSpPr>
          <p:spPr>
            <a:xfrm>
              <a:off x="11125200" y="3767138"/>
              <a:ext cx="514350" cy="147638"/>
            </a:xfrm>
            <a:prstGeom prst="rect">
              <a:avLst/>
            </a:prstGeom>
            <a:noFill/>
            <a:ln>
              <a:noFill/>
            </a:ln>
          </p:spPr>
          <p:txBody>
            <a:bodyPr wrap="none" lIns="0" tIns="0" rIns="0" bIns="0" anchor="t" anchorCtr="0">
              <a:spAutoFit/>
            </a:bodyPr>
            <a:lstStyle/>
            <a:p>
              <a:pPr algn="ctr"/>
              <a:r>
                <a:rPr lang="zh-CN" sz="750" dirty="0">
                  <a:solidFill>
                    <a:srgbClr val="6B6B6B"/>
                  </a:solidFill>
                  <a:latin typeface="+mn-lt"/>
                  <a:ea typeface="+mn-ea"/>
                  <a:cs typeface="+mn-cs"/>
                </a:rPr>
                <a:t>较年初变动</a:t>
              </a:r>
            </a:p>
          </p:txBody>
        </p:sp>
        <p:sp>
          <p:nvSpPr>
            <p:cNvPr id="177" name="TextBox 177"/>
            <p:cNvSpPr txBox="1"/>
            <p:nvPr/>
          </p:nvSpPr>
          <p:spPr>
            <a:xfrm>
              <a:off x="11158377" y="4051697"/>
              <a:ext cx="447996" cy="183356"/>
            </a:xfrm>
            <a:prstGeom prst="rect">
              <a:avLst/>
            </a:prstGeom>
            <a:noFill/>
            <a:ln>
              <a:noFill/>
            </a:ln>
          </p:spPr>
          <p:txBody>
            <a:bodyPr wrap="none" lIns="0" tIns="0" rIns="0" bIns="0" anchor="t" anchorCtr="0">
              <a:spAutoFit/>
            </a:bodyPr>
            <a:lstStyle/>
            <a:p>
              <a:pPr algn="ctr"/>
              <a:r>
                <a:rPr lang="zh-CN" sz="940" b="1" dirty="0">
                  <a:solidFill>
                    <a:srgbClr val="A52D12"/>
                  </a:solidFill>
                  <a:latin typeface="+mn-lt"/>
                  <a:ea typeface="+mn-ea"/>
                  <a:cs typeface="+mn-cs"/>
                </a:rPr>
                <a:t>-0.06​</a:t>
              </a:r>
            </a:p>
          </p:txBody>
        </p:sp>
        <p:sp>
          <p:nvSpPr>
            <p:cNvPr id="178" name="TextBox 178"/>
            <p:cNvSpPr txBox="1"/>
            <p:nvPr/>
          </p:nvSpPr>
          <p:spPr>
            <a:xfrm>
              <a:off x="11164913" y="4277439"/>
              <a:ext cx="434924" cy="154781"/>
            </a:xfrm>
            <a:prstGeom prst="rect">
              <a:avLst/>
            </a:prstGeom>
            <a:noFill/>
            <a:ln>
              <a:noFill/>
            </a:ln>
          </p:spPr>
          <p:txBody>
            <a:bodyPr wrap="none" lIns="0" tIns="0" rIns="0" bIns="0" anchor="t" anchorCtr="0">
              <a:spAutoFit/>
            </a:bodyPr>
            <a:lstStyle/>
            <a:p>
              <a:pPr algn="ctr"/>
              <a:r>
                <a:rPr lang="zh-CN" sz="790" dirty="0">
                  <a:solidFill>
                    <a:srgbClr val="A52D12"/>
                  </a:solidFill>
                  <a:latin typeface="+mn-lt"/>
                  <a:ea typeface="+mn-ea"/>
                  <a:cs typeface="+mn-cs"/>
                </a:rPr>
                <a:t>个百分点</a:t>
              </a:r>
            </a:p>
          </p:txBody>
        </p:sp>
      </p:grpSp>
      <p:grpSp>
        <p:nvGrpSpPr>
          <p:cNvPr id="203" name="bottom-banner"/>
          <p:cNvGrpSpPr/>
          <p:nvPr/>
        </p:nvGrpSpPr>
        <p:grpSpPr>
          <a:xfrm>
            <a:off x="381000" y="5676900"/>
            <a:ext cx="11430000" cy="723900"/>
            <a:chOff x="381000" y="5676900"/>
            <a:chExt cx="11430000" cy="723900"/>
          </a:xfrm>
        </p:grpSpPr>
        <p:sp>
          <p:nvSpPr>
            <p:cNvPr id="180" name="Rectangle 180"/>
            <p:cNvSpPr/>
            <p:nvPr/>
          </p:nvSpPr>
          <p:spPr>
            <a:xfrm>
              <a:off x="381000" y="5676900"/>
              <a:ext cx="11430000" cy="723900"/>
            </a:xfrm>
            <a:prstGeom prst="rect">
              <a:avLst/>
            </a:prstGeom>
            <a:solidFill>
              <a:srgbClr val="A52D12"/>
            </a:solidFill>
            <a:ln>
              <a:noFill/>
            </a:ln>
          </p:spPr>
        </p:sp>
        <p:grpSp>
          <p:nvGrpSpPr>
            <p:cNvPr id="183" name="Group 183"/>
            <p:cNvGrpSpPr/>
            <p:nvPr/>
          </p:nvGrpSpPr>
          <p:grpSpPr>
            <a:xfrm>
              <a:off x="1157288" y="5983288"/>
              <a:ext cx="200026" cy="111125"/>
              <a:chOff x="1157288" y="5983288"/>
              <a:chExt cx="200026" cy="111125"/>
            </a:xfrm>
          </p:grpSpPr>
          <p:sp>
            <p:nvSpPr>
              <p:cNvPr id="181" name="Freeform 181"/>
              <p:cNvSpPr/>
              <p:nvPr/>
            </p:nvSpPr>
            <p:spPr>
              <a:xfrm>
                <a:off x="1157288" y="598328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E8988A"/>
                </a:solidFill>
              </a:ln>
            </p:spPr>
          </p:sp>
          <p:sp>
            <p:nvSpPr>
              <p:cNvPr id="182" name="Freeform 182"/>
              <p:cNvSpPr/>
              <p:nvPr/>
            </p:nvSpPr>
            <p:spPr>
              <a:xfrm>
                <a:off x="1279525" y="5983288"/>
                <a:ext cx="77788" cy="77788"/>
              </a:xfrm>
              <a:custGeom>
                <a:avLst/>
                <a:gdLst/>
                <a:ahLst/>
                <a:cxnLst/>
                <a:rect l="l" t="t" r="r" b="b"/>
                <a:pathLst>
                  <a:path w="77788" h="77788">
                    <a:moveTo>
                      <a:pt x="0" y="0"/>
                    </a:moveTo>
                    <a:lnTo>
                      <a:pt x="77788" y="0"/>
                    </a:lnTo>
                    <a:lnTo>
                      <a:pt x="77788" y="77788"/>
                    </a:lnTo>
                  </a:path>
                </a:pathLst>
              </a:custGeom>
              <a:noFill/>
              <a:ln w="22225">
                <a:solidFill>
                  <a:srgbClr val="E8988A"/>
                </a:solidFill>
              </a:ln>
            </p:spPr>
          </p:sp>
        </p:grpSp>
        <p:sp>
          <p:nvSpPr>
            <p:cNvPr id="184" name="TextBox 184"/>
            <p:cNvSpPr txBox="1"/>
            <p:nvPr/>
          </p:nvSpPr>
          <p:spPr>
            <a:xfrm>
              <a:off x="1536573" y="5986939"/>
              <a:ext cx="104683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规模稳步增长</a:t>
              </a:r>
            </a:p>
          </p:txBody>
        </p:sp>
        <p:sp>
          <p:nvSpPr>
            <p:cNvPr id="185" name="Line 185"/>
            <p:cNvSpPr/>
            <p:nvPr/>
          </p:nvSpPr>
          <p:spPr>
            <a:xfrm>
              <a:off x="3238500" y="5810250"/>
              <a:ext cx="9525" cy="457200"/>
            </a:xfrm>
            <a:custGeom>
              <a:avLst/>
              <a:gdLst/>
              <a:ahLst/>
              <a:cxnLst/>
              <a:rect l="l" t="t" r="r" b="b"/>
              <a:pathLst>
                <a:path w="9525" h="457200">
                  <a:moveTo>
                    <a:pt x="0" y="0"/>
                  </a:moveTo>
                  <a:lnTo>
                    <a:pt x="0" y="457200"/>
                  </a:lnTo>
                </a:path>
              </a:pathLst>
            </a:custGeom>
            <a:noFill/>
            <a:ln w="9525">
              <a:solidFill>
                <a:srgbClr val="E8988A">
                  <a:alpha val="55000"/>
                </a:srgbClr>
              </a:solidFill>
            </a:ln>
          </p:spPr>
        </p:sp>
        <p:grpSp>
          <p:nvGrpSpPr>
            <p:cNvPr id="188" name="Group 188"/>
            <p:cNvGrpSpPr/>
            <p:nvPr/>
          </p:nvGrpSpPr>
          <p:grpSpPr>
            <a:xfrm>
              <a:off x="4125990" y="5940748"/>
              <a:ext cx="200901" cy="201212"/>
              <a:chOff x="4125990" y="5940748"/>
              <a:chExt cx="200901" cy="201212"/>
            </a:xfrm>
          </p:grpSpPr>
          <p:sp>
            <p:nvSpPr>
              <p:cNvPr id="186" name="Freeform 186"/>
              <p:cNvSpPr/>
              <p:nvPr/>
            </p:nvSpPr>
            <p:spPr>
              <a:xfrm>
                <a:off x="4125990" y="594074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14223" y="109214"/>
                    </a:lnTo>
                    <a:cubicBezTo>
                      <a:pt x="101948" y="109214"/>
                      <a:pt x="91998" y="99264"/>
                      <a:pt x="91998" y="86989"/>
                    </a:cubicBezTo>
                    <a:lnTo>
                      <a:pt x="91998" y="9202"/>
                    </a:lnTo>
                    <a:cubicBezTo>
                      <a:pt x="91719" y="6542"/>
                      <a:pt x="90387" y="4105"/>
                      <a:pt x="88299" y="2435"/>
                    </a:cubicBezTo>
                    <a:cubicBezTo>
                      <a:pt x="86211" y="765"/>
                      <a:pt x="83541" y="0"/>
                      <a:pt x="80885" y="312"/>
                    </a:cubicBezTo>
                  </a:path>
                </a:pathLst>
              </a:custGeom>
              <a:noFill/>
              <a:ln w="22225">
                <a:solidFill>
                  <a:srgbClr val="E8988A"/>
                </a:solidFill>
              </a:ln>
            </p:spPr>
          </p:sp>
          <p:sp>
            <p:nvSpPr>
              <p:cNvPr id="187" name="Freeform 187"/>
              <p:cNvSpPr/>
              <p:nvPr/>
            </p:nvSpPr>
            <p:spPr>
              <a:xfrm>
                <a:off x="4262438" y="5944394"/>
                <a:ext cx="61119" cy="61119"/>
              </a:xfrm>
              <a:custGeom>
                <a:avLst/>
                <a:gdLst/>
                <a:ahLst/>
                <a:cxnLst/>
                <a:rect l="l" t="t" r="r" b="b"/>
                <a:pathLst>
                  <a:path w="61119" h="61119">
                    <a:moveTo>
                      <a:pt x="0" y="0"/>
                    </a:moveTo>
                    <a:cubicBezTo>
                      <a:pt x="28579" y="10063"/>
                      <a:pt x="51056" y="32540"/>
                      <a:pt x="61119" y="61119"/>
                    </a:cubicBezTo>
                    <a:lnTo>
                      <a:pt x="11113" y="61119"/>
                    </a:lnTo>
                    <a:cubicBezTo>
                      <a:pt x="4975" y="61119"/>
                      <a:pt x="0" y="56144"/>
                      <a:pt x="0" y="50006"/>
                    </a:cubicBezTo>
                    <a:lnTo>
                      <a:pt x="0" y="0"/>
                    </a:lnTo>
                  </a:path>
                </a:pathLst>
              </a:custGeom>
              <a:noFill/>
              <a:ln w="22225">
                <a:solidFill>
                  <a:srgbClr val="E8988A"/>
                </a:solidFill>
              </a:ln>
            </p:spPr>
          </p:sp>
        </p:grpSp>
        <p:sp>
          <p:nvSpPr>
            <p:cNvPr id="189" name="TextBox 189"/>
            <p:cNvSpPr txBox="1"/>
            <p:nvPr/>
          </p:nvSpPr>
          <p:spPr>
            <a:xfrm>
              <a:off x="4508373" y="5986939"/>
              <a:ext cx="104683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结构持续优化</a:t>
              </a:r>
            </a:p>
          </p:txBody>
        </p:sp>
        <p:sp>
          <p:nvSpPr>
            <p:cNvPr id="190" name="Line 190"/>
            <p:cNvSpPr/>
            <p:nvPr/>
          </p:nvSpPr>
          <p:spPr>
            <a:xfrm>
              <a:off x="6210300" y="5810250"/>
              <a:ext cx="9525" cy="457200"/>
            </a:xfrm>
            <a:custGeom>
              <a:avLst/>
              <a:gdLst/>
              <a:ahLst/>
              <a:cxnLst/>
              <a:rect l="l" t="t" r="r" b="b"/>
              <a:pathLst>
                <a:path w="9525" h="457200">
                  <a:moveTo>
                    <a:pt x="0" y="0"/>
                  </a:moveTo>
                  <a:lnTo>
                    <a:pt x="0" y="457200"/>
                  </a:lnTo>
                </a:path>
              </a:pathLst>
            </a:custGeom>
            <a:noFill/>
            <a:ln w="9525">
              <a:solidFill>
                <a:srgbClr val="E8988A">
                  <a:alpha val="55000"/>
                </a:srgbClr>
              </a:solidFill>
            </a:ln>
          </p:spPr>
        </p:sp>
        <p:grpSp>
          <p:nvGrpSpPr>
            <p:cNvPr id="196" name="Group 196"/>
            <p:cNvGrpSpPr/>
            <p:nvPr/>
          </p:nvGrpSpPr>
          <p:grpSpPr>
            <a:xfrm>
              <a:off x="7100888" y="5937349"/>
              <a:ext cx="200025" cy="201514"/>
              <a:chOff x="7100888" y="5937349"/>
              <a:chExt cx="200025" cy="201514"/>
            </a:xfrm>
          </p:grpSpPr>
          <p:sp>
            <p:nvSpPr>
              <p:cNvPr id="191" name="Freeform 191"/>
              <p:cNvSpPr/>
              <p:nvPr/>
            </p:nvSpPr>
            <p:spPr>
              <a:xfrm>
                <a:off x="7167563" y="6027738"/>
                <a:ext cx="133350" cy="66675"/>
              </a:xfrm>
              <a:custGeom>
                <a:avLst/>
                <a:gdLst/>
                <a:ahLst/>
                <a:cxnLst/>
                <a:rect l="l" t="t" r="r" b="b"/>
                <a:pathLst>
                  <a:path w="133350" h="66675">
                    <a:moveTo>
                      <a:pt x="0" y="33338"/>
                    </a:moveTo>
                    <a:cubicBezTo>
                      <a:pt x="0" y="51751"/>
                      <a:pt x="29848" y="66675"/>
                      <a:pt x="66675" y="66675"/>
                    </a:cubicBezTo>
                    <a:cubicBezTo>
                      <a:pt x="103502" y="66675"/>
                      <a:pt x="133350" y="51751"/>
                      <a:pt x="133350" y="33338"/>
                    </a:cubicBezTo>
                    <a:cubicBezTo>
                      <a:pt x="133350" y="14924"/>
                      <a:pt x="103502" y="0"/>
                      <a:pt x="66675" y="0"/>
                    </a:cubicBezTo>
                    <a:cubicBezTo>
                      <a:pt x="29848" y="0"/>
                      <a:pt x="0" y="14924"/>
                      <a:pt x="0" y="33338"/>
                    </a:cubicBezTo>
                  </a:path>
                </a:pathLst>
              </a:custGeom>
              <a:noFill/>
              <a:ln w="22225">
                <a:solidFill>
                  <a:srgbClr val="E8988A"/>
                </a:solidFill>
              </a:ln>
            </p:spPr>
          </p:sp>
          <p:sp>
            <p:nvSpPr>
              <p:cNvPr id="192" name="Freeform 192"/>
              <p:cNvSpPr/>
              <p:nvPr/>
            </p:nvSpPr>
            <p:spPr>
              <a:xfrm>
                <a:off x="7167563" y="6061075"/>
                <a:ext cx="133350" cy="77788"/>
              </a:xfrm>
              <a:custGeom>
                <a:avLst/>
                <a:gdLst/>
                <a:ahLst/>
                <a:cxnLst/>
                <a:rect l="l" t="t" r="r" b="b"/>
                <a:pathLst>
                  <a:path w="133350" h="77788">
                    <a:moveTo>
                      <a:pt x="0" y="0"/>
                    </a:moveTo>
                    <a:lnTo>
                      <a:pt x="0" y="44450"/>
                    </a:lnTo>
                    <a:cubicBezTo>
                      <a:pt x="0" y="62852"/>
                      <a:pt x="29848" y="77788"/>
                      <a:pt x="66675" y="77788"/>
                    </a:cubicBezTo>
                    <a:cubicBezTo>
                      <a:pt x="103502" y="77788"/>
                      <a:pt x="133350" y="62852"/>
                      <a:pt x="133350" y="44450"/>
                    </a:cubicBezTo>
                    <a:lnTo>
                      <a:pt x="133350" y="0"/>
                    </a:lnTo>
                  </a:path>
                </a:pathLst>
              </a:custGeom>
              <a:noFill/>
              <a:ln w="22225">
                <a:solidFill>
                  <a:srgbClr val="E8988A"/>
                </a:solidFill>
              </a:ln>
            </p:spPr>
          </p:sp>
          <p:sp>
            <p:nvSpPr>
              <p:cNvPr id="193" name="Freeform 193"/>
              <p:cNvSpPr/>
              <p:nvPr/>
            </p:nvSpPr>
            <p:spPr>
              <a:xfrm>
                <a:off x="7100888" y="5937349"/>
                <a:ext cx="133350" cy="69653"/>
              </a:xfrm>
              <a:custGeom>
                <a:avLst/>
                <a:gdLst/>
                <a:ahLst/>
                <a:cxnLst/>
                <a:rect l="l" t="t" r="r" b="b"/>
                <a:pathLst>
                  <a:path w="133350" h="69653">
                    <a:moveTo>
                      <a:pt x="0" y="34827"/>
                    </a:moveTo>
                    <a:cubicBezTo>
                      <a:pt x="0" y="46739"/>
                      <a:pt x="12713" y="57741"/>
                      <a:pt x="33338" y="63697"/>
                    </a:cubicBezTo>
                    <a:cubicBezTo>
                      <a:pt x="53962" y="69653"/>
                      <a:pt x="79388" y="69653"/>
                      <a:pt x="100013" y="63697"/>
                    </a:cubicBezTo>
                    <a:cubicBezTo>
                      <a:pt x="120638" y="57741"/>
                      <a:pt x="133350" y="46739"/>
                      <a:pt x="133350" y="34827"/>
                    </a:cubicBezTo>
                    <a:cubicBezTo>
                      <a:pt x="133350" y="22914"/>
                      <a:pt x="120638" y="11913"/>
                      <a:pt x="100013" y="5956"/>
                    </a:cubicBezTo>
                    <a:cubicBezTo>
                      <a:pt x="79388" y="0"/>
                      <a:pt x="53962" y="0"/>
                      <a:pt x="33338" y="5956"/>
                    </a:cubicBezTo>
                    <a:cubicBezTo>
                      <a:pt x="12713" y="11913"/>
                      <a:pt x="0" y="22914"/>
                      <a:pt x="0" y="34827"/>
                    </a:cubicBezTo>
                  </a:path>
                </a:pathLst>
              </a:custGeom>
              <a:noFill/>
              <a:ln w="22225">
                <a:solidFill>
                  <a:srgbClr val="E8988A"/>
                </a:solidFill>
              </a:ln>
            </p:spPr>
          </p:sp>
          <p:sp>
            <p:nvSpPr>
              <p:cNvPr id="194" name="Freeform 194"/>
              <p:cNvSpPr/>
              <p:nvPr/>
            </p:nvSpPr>
            <p:spPr>
              <a:xfrm>
                <a:off x="7100888" y="5972175"/>
                <a:ext cx="22225" cy="133350"/>
              </a:xfrm>
              <a:custGeom>
                <a:avLst/>
                <a:gdLst/>
                <a:ahLst/>
                <a:cxnLst/>
                <a:rect l="l" t="t" r="r" b="b"/>
                <a:pathLst>
                  <a:path w="22225" h="133350">
                    <a:moveTo>
                      <a:pt x="0" y="0"/>
                    </a:moveTo>
                    <a:lnTo>
                      <a:pt x="0" y="111125"/>
                    </a:lnTo>
                    <a:cubicBezTo>
                      <a:pt x="0" y="120993"/>
                      <a:pt x="8579" y="127238"/>
                      <a:pt x="22225" y="133350"/>
                    </a:cubicBezTo>
                  </a:path>
                </a:pathLst>
              </a:custGeom>
              <a:noFill/>
              <a:ln w="22225">
                <a:solidFill>
                  <a:srgbClr val="E8988A"/>
                </a:solidFill>
              </a:ln>
            </p:spPr>
          </p:sp>
          <p:sp>
            <p:nvSpPr>
              <p:cNvPr id="195" name="Freeform 195"/>
              <p:cNvSpPr/>
              <p:nvPr/>
            </p:nvSpPr>
            <p:spPr>
              <a:xfrm>
                <a:off x="7100888" y="6027738"/>
                <a:ext cx="22225" cy="22225"/>
              </a:xfrm>
              <a:custGeom>
                <a:avLst/>
                <a:gdLst/>
                <a:ahLst/>
                <a:cxnLst/>
                <a:rect l="l" t="t" r="r" b="b"/>
                <a:pathLst>
                  <a:path w="22225" h="22225">
                    <a:moveTo>
                      <a:pt x="0" y="0"/>
                    </a:moveTo>
                    <a:cubicBezTo>
                      <a:pt x="0" y="9868"/>
                      <a:pt x="8579" y="16113"/>
                      <a:pt x="22225" y="22225"/>
                    </a:cubicBezTo>
                  </a:path>
                </a:pathLst>
              </a:custGeom>
              <a:noFill/>
              <a:ln w="22225">
                <a:solidFill>
                  <a:srgbClr val="E8988A"/>
                </a:solidFill>
              </a:ln>
            </p:spPr>
          </p:sp>
        </p:grpSp>
        <p:sp>
          <p:nvSpPr>
            <p:cNvPr id="197" name="TextBox 197"/>
            <p:cNvSpPr txBox="1"/>
            <p:nvPr/>
          </p:nvSpPr>
          <p:spPr>
            <a:xfrm>
              <a:off x="7480173" y="5986939"/>
              <a:ext cx="104683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效益稳中向好</a:t>
              </a:r>
            </a:p>
          </p:txBody>
        </p:sp>
        <p:sp>
          <p:nvSpPr>
            <p:cNvPr id="198" name="Line 198"/>
            <p:cNvSpPr/>
            <p:nvPr/>
          </p:nvSpPr>
          <p:spPr>
            <a:xfrm>
              <a:off x="9182100" y="5810250"/>
              <a:ext cx="9525" cy="457200"/>
            </a:xfrm>
            <a:custGeom>
              <a:avLst/>
              <a:gdLst/>
              <a:ahLst/>
              <a:cxnLst/>
              <a:rect l="l" t="t" r="r" b="b"/>
              <a:pathLst>
                <a:path w="9525" h="457200">
                  <a:moveTo>
                    <a:pt x="0" y="0"/>
                  </a:moveTo>
                  <a:lnTo>
                    <a:pt x="0" y="457200"/>
                  </a:lnTo>
                </a:path>
              </a:pathLst>
            </a:custGeom>
            <a:noFill/>
            <a:ln w="9525">
              <a:solidFill>
                <a:srgbClr val="E8988A">
                  <a:alpha val="55000"/>
                </a:srgbClr>
              </a:solidFill>
            </a:ln>
          </p:spPr>
        </p:sp>
        <p:grpSp>
          <p:nvGrpSpPr>
            <p:cNvPr id="201" name="Group 201"/>
            <p:cNvGrpSpPr/>
            <p:nvPr/>
          </p:nvGrpSpPr>
          <p:grpSpPr>
            <a:xfrm>
              <a:off x="10057691" y="5938838"/>
              <a:ext cx="217008" cy="200025"/>
              <a:chOff x="10057691" y="5938838"/>
              <a:chExt cx="217008" cy="200025"/>
            </a:xfrm>
          </p:grpSpPr>
          <p:sp>
            <p:nvSpPr>
              <p:cNvPr id="199" name="Freeform 199"/>
              <p:cNvSpPr/>
              <p:nvPr/>
            </p:nvSpPr>
            <p:spPr>
              <a:xfrm>
                <a:off x="10057691" y="59388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E8988A"/>
                </a:solidFill>
              </a:ln>
            </p:spPr>
          </p:sp>
          <p:sp>
            <p:nvSpPr>
              <p:cNvPr id="200" name="Freeform 200"/>
              <p:cNvSpPr/>
              <p:nvPr/>
            </p:nvSpPr>
            <p:spPr>
              <a:xfrm>
                <a:off x="10206038" y="6094413"/>
                <a:ext cx="66675" cy="44450"/>
              </a:xfrm>
              <a:custGeom>
                <a:avLst/>
                <a:gdLst/>
                <a:ahLst/>
                <a:cxnLst/>
                <a:rect l="l" t="t" r="r" b="b"/>
                <a:pathLst>
                  <a:path w="66675" h="44450">
                    <a:moveTo>
                      <a:pt x="0" y="22225"/>
                    </a:moveTo>
                    <a:lnTo>
                      <a:pt x="22225" y="44450"/>
                    </a:lnTo>
                    <a:lnTo>
                      <a:pt x="66675" y="0"/>
                    </a:lnTo>
                  </a:path>
                </a:pathLst>
              </a:custGeom>
              <a:noFill/>
              <a:ln w="22225">
                <a:solidFill>
                  <a:srgbClr val="E8988A"/>
                </a:solidFill>
              </a:ln>
            </p:spPr>
          </p:sp>
        </p:grpSp>
        <p:sp>
          <p:nvSpPr>
            <p:cNvPr id="202" name="TextBox 202"/>
            <p:cNvSpPr txBox="1"/>
            <p:nvPr/>
          </p:nvSpPr>
          <p:spPr>
            <a:xfrm>
              <a:off x="10451973" y="5986939"/>
              <a:ext cx="104683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风险总体可控</a:t>
              </a:r>
            </a:p>
          </p:txBody>
        </p:sp>
      </p:gr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03​</a:t>
              </a:r>
            </a:p>
          </p:txBody>
        </p:sp>
        <p:sp>
          <p:nvSpPr>
            <p:cNvPr id="4" name="TextBox 4"/>
            <p:cNvSpPr txBox="1"/>
            <p:nvPr/>
          </p:nvSpPr>
          <p:spPr>
            <a:xfrm>
              <a:off x="942594" y="189548"/>
              <a:ext cx="6399276"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规模、结构、效益协同改善，</a:t>
              </a:r>
              <a:r>
                <a:rPr lang="zh-CN" sz="1950" b="1" dirty="0">
                  <a:solidFill>
                    <a:srgbClr val="A52D12"/>
                  </a:solidFill>
                  <a:latin typeface="SimSun"/>
                  <a:ea typeface="SimSun"/>
                  <a:cs typeface="SimSun"/>
                </a:rPr>
                <a:t>价值创造能力稳步增强</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10" name="lead"/>
          <p:cNvGrpSpPr/>
          <p:nvPr/>
        </p:nvGrpSpPr>
        <p:grpSpPr>
          <a:xfrm>
            <a:off x="381000" y="742950"/>
            <a:ext cx="11480350" cy="666750"/>
            <a:chOff x="381000" y="742950"/>
            <a:chExt cx="11480350" cy="666750"/>
          </a:xfrm>
        </p:grpSpPr>
        <p:sp>
          <p:nvSpPr>
            <p:cNvPr id="7" name="Rectangle 7"/>
            <p:cNvSpPr/>
            <p:nvPr/>
          </p:nvSpPr>
          <p:spPr>
            <a:xfrm>
              <a:off x="381000" y="742950"/>
              <a:ext cx="38100" cy="666750"/>
            </a:xfrm>
            <a:prstGeom prst="rect">
              <a:avLst/>
            </a:prstGeom>
            <a:solidFill>
              <a:srgbClr val="A52D12"/>
            </a:solidFill>
            <a:ln>
              <a:noFill/>
            </a:ln>
          </p:spPr>
        </p:sp>
        <p:sp>
          <p:nvSpPr>
            <p:cNvPr id="8" name="TextBox 8"/>
            <p:cNvSpPr txBox="1"/>
            <p:nvPr/>
          </p:nvSpPr>
          <p:spPr>
            <a:xfrm>
              <a:off x="528447" y="771049"/>
              <a:ext cx="8862248" cy="190690"/>
            </a:xfrm>
            <a:prstGeom prst="rect">
              <a:avLst/>
            </a:prstGeom>
            <a:noFill/>
            <a:ln>
              <a:noFill/>
            </a:ln>
          </p:spPr>
          <p:txBody>
            <a:bodyPr wrap="none" lIns="0" tIns="0" rIns="0" bIns="0" anchor="t" anchorCtr="0">
              <a:spAutoFit/>
            </a:bodyPr>
            <a:lstStyle/>
            <a:p>
              <a:pPr algn="l"/>
              <a:r>
                <a:rPr lang="zh-CN" sz="980" b="1" dirty="0">
                  <a:solidFill>
                    <a:srgbClr val="A52D12"/>
                  </a:solidFill>
                  <a:latin typeface="+mn-lt"/>
                  <a:ea typeface="+mn-ea"/>
                  <a:cs typeface="+mn-cs"/>
                </a:rPr>
                <a:t>左侧</a:t>
              </a:r>
              <a:r>
                <a:rPr lang="zh-CN" sz="980" dirty="0">
                  <a:solidFill>
                    <a:srgbClr val="3A3A3A"/>
                  </a:solidFill>
                  <a:latin typeface="+mn-lt"/>
                  <a:ea typeface="+mn-ea"/>
                  <a:cs typeface="+mn-cs"/>
                </a:rPr>
                <a:t>资产负债规模双轴柱线图：资产1.86万亿元、负债1.72万亿元、贷款1.08万亿元、存款1.32万亿元；</a:t>
              </a:r>
              <a:r>
                <a:rPr lang="zh-CN" sz="980" b="1" dirty="0">
                  <a:solidFill>
                    <a:srgbClr val="A52D12"/>
                  </a:solidFill>
                  <a:latin typeface="+mn-lt"/>
                  <a:ea typeface="+mn-ea"/>
                  <a:cs typeface="+mn-cs"/>
                </a:rPr>
                <a:t>中部</a:t>
              </a:r>
              <a:r>
                <a:rPr lang="zh-CN" sz="980" dirty="0">
                  <a:solidFill>
                    <a:srgbClr val="3A3A3A"/>
                  </a:solidFill>
                  <a:latin typeface="+mn-lt"/>
                  <a:ea typeface="+mn-ea"/>
                  <a:cs typeface="+mn-cs"/>
                </a:rPr>
                <a:t>收入利润瀑布图：营业收入168.6亿元，​</a:t>
              </a:r>
            </a:p>
          </p:txBody>
        </p:sp>
        <p:sp>
          <p:nvSpPr>
            <p:cNvPr id="9" name="TextBox 9"/>
            <p:cNvSpPr txBox="1"/>
            <p:nvPr/>
          </p:nvSpPr>
          <p:spPr>
            <a:xfrm>
              <a:off x="528447" y="1018699"/>
              <a:ext cx="11332903"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净利息收入121.8亿元（-46.8亿元）、中收31.5亿元（-31.5亿元）、净利润72.4亿元；</a:t>
              </a:r>
              <a:r>
                <a:rPr lang="zh-CN" sz="980" b="1" dirty="0">
                  <a:solidFill>
                    <a:srgbClr val="A52D12"/>
                  </a:solidFill>
                  <a:latin typeface="+mn-lt"/>
                  <a:ea typeface="+mn-ea"/>
                  <a:cs typeface="+mn-cs"/>
                </a:rPr>
                <a:t>右侧</a:t>
              </a:r>
              <a:r>
                <a:rPr lang="zh-CN" sz="980" dirty="0">
                  <a:solidFill>
                    <a:srgbClr val="3A3A3A"/>
                  </a:solidFill>
                  <a:latin typeface="+mn-lt"/>
                  <a:ea typeface="+mn-ea"/>
                  <a:cs typeface="+mn-cs"/>
                </a:rPr>
                <a:t>五项指标卡：ROA 0.82%、ROE 11.6%、净息差1.72%、成本收入比27.8%、资本充足率14.9%。​</a:t>
              </a:r>
            </a:p>
          </p:txBody>
        </p:sp>
      </p:grpSp>
      <p:grpSp>
        <p:nvGrpSpPr>
          <p:cNvPr id="49" name="card-dualaxis"/>
          <p:cNvGrpSpPr/>
          <p:nvPr/>
        </p:nvGrpSpPr>
        <p:grpSpPr>
          <a:xfrm>
            <a:off x="381000" y="1600200"/>
            <a:ext cx="3810000" cy="3771900"/>
            <a:chOff x="381000" y="1600200"/>
            <a:chExt cx="3810000" cy="3771900"/>
          </a:xfrm>
        </p:grpSpPr>
        <p:sp>
          <p:nvSpPr>
            <p:cNvPr id="11" name="Rectangle 11"/>
            <p:cNvSpPr/>
            <p:nvPr/>
          </p:nvSpPr>
          <p:spPr>
            <a:xfrm>
              <a:off x="381000" y="1600200"/>
              <a:ext cx="3810000" cy="3771900"/>
            </a:xfrm>
            <a:prstGeom prst="roundRect">
              <a:avLst>
                <a:gd name="adj" fmla="val 2020"/>
              </a:avLst>
            </a:prstGeom>
            <a:solidFill>
              <a:srgbClr val="FDF6F5"/>
            </a:solidFill>
            <a:ln w="9525">
              <a:solidFill>
                <a:srgbClr val="EDD5D2"/>
              </a:solidFill>
            </a:ln>
          </p:spPr>
        </p:sp>
        <p:sp>
          <p:nvSpPr>
            <p:cNvPr id="12" name="Freeform 12"/>
            <p:cNvSpPr/>
            <p:nvPr/>
          </p:nvSpPr>
          <p:spPr>
            <a:xfrm>
              <a:off x="390525" y="1609725"/>
              <a:ext cx="3790950" cy="228600"/>
            </a:xfrm>
            <a:custGeom>
              <a:avLst/>
              <a:gdLst/>
              <a:ahLst/>
              <a:cxnLst/>
              <a:rect l="l" t="t" r="r" b="b"/>
              <a:pathLst>
                <a:path w="3790950" h="228600">
                  <a:moveTo>
                    <a:pt x="0" y="228600"/>
                  </a:moveTo>
                  <a:lnTo>
                    <a:pt x="3790950" y="228600"/>
                  </a:lnTo>
                  <a:lnTo>
                    <a:pt x="3790950" y="66675"/>
                  </a:lnTo>
                  <a:cubicBezTo>
                    <a:pt x="3790950" y="29851"/>
                    <a:pt x="3761099" y="0"/>
                    <a:pt x="3724275" y="0"/>
                  </a:cubicBezTo>
                  <a:lnTo>
                    <a:pt x="66675" y="0"/>
                  </a:lnTo>
                  <a:cubicBezTo>
                    <a:pt x="29851" y="0"/>
                    <a:pt x="0" y="29851"/>
                    <a:pt x="0" y="66675"/>
                  </a:cubicBezTo>
                  <a:close/>
                </a:path>
              </a:pathLst>
            </a:custGeom>
            <a:solidFill>
              <a:srgbClr val="A52D12"/>
            </a:solidFill>
            <a:ln>
              <a:noFill/>
            </a:ln>
          </p:spPr>
        </p:sp>
        <p:sp>
          <p:nvSpPr>
            <p:cNvPr id="13" name="TextBox 13"/>
            <p:cNvSpPr txBox="1"/>
            <p:nvPr/>
          </p:nvSpPr>
          <p:spPr>
            <a:xfrm>
              <a:off x="1149858" y="1658302"/>
              <a:ext cx="227228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资产负债规模双轴柱线图（万亿元）</a:t>
              </a:r>
            </a:p>
          </p:txBody>
        </p:sp>
        <p:sp>
          <p:nvSpPr>
            <p:cNvPr id="14" name="Rectangle 14"/>
            <p:cNvSpPr/>
            <p:nvPr/>
          </p:nvSpPr>
          <p:spPr>
            <a:xfrm>
              <a:off x="666750" y="2057400"/>
              <a:ext cx="95250" cy="95250"/>
            </a:xfrm>
            <a:prstGeom prst="rect">
              <a:avLst/>
            </a:prstGeom>
            <a:solidFill>
              <a:srgbClr val="A52D12"/>
            </a:solidFill>
            <a:ln>
              <a:noFill/>
            </a:ln>
          </p:spPr>
        </p:sp>
        <p:sp>
          <p:nvSpPr>
            <p:cNvPr id="15" name="TextBox 15"/>
            <p:cNvSpPr txBox="1"/>
            <p:nvPr/>
          </p:nvSpPr>
          <p:spPr>
            <a:xfrm>
              <a:off x="814388" y="2062162"/>
              <a:ext cx="71628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资产（万亿元）</a:t>
              </a:r>
            </a:p>
          </p:txBody>
        </p:sp>
        <p:sp>
          <p:nvSpPr>
            <p:cNvPr id="16" name="Rectangle 16"/>
            <p:cNvSpPr/>
            <p:nvPr/>
          </p:nvSpPr>
          <p:spPr>
            <a:xfrm>
              <a:off x="1866900" y="2057400"/>
              <a:ext cx="95250" cy="95250"/>
            </a:xfrm>
            <a:prstGeom prst="rect">
              <a:avLst/>
            </a:prstGeom>
            <a:solidFill>
              <a:srgbClr val="C9604E"/>
            </a:solidFill>
            <a:ln>
              <a:noFill/>
            </a:ln>
          </p:spPr>
        </p:sp>
        <p:sp>
          <p:nvSpPr>
            <p:cNvPr id="17" name="TextBox 17"/>
            <p:cNvSpPr txBox="1"/>
            <p:nvPr/>
          </p:nvSpPr>
          <p:spPr>
            <a:xfrm>
              <a:off x="2014538" y="2062162"/>
              <a:ext cx="71628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负债（万亿元）</a:t>
              </a:r>
            </a:p>
          </p:txBody>
        </p:sp>
        <p:sp>
          <p:nvSpPr>
            <p:cNvPr id="18" name="Line 18"/>
            <p:cNvSpPr/>
            <p:nvPr/>
          </p:nvSpPr>
          <p:spPr>
            <a:xfrm>
              <a:off x="2952750" y="2105025"/>
              <a:ext cx="228600" cy="9525"/>
            </a:xfrm>
            <a:custGeom>
              <a:avLst/>
              <a:gdLst/>
              <a:ahLst/>
              <a:cxnLst/>
              <a:rect l="l" t="t" r="r" b="b"/>
              <a:pathLst>
                <a:path w="228600" h="9525">
                  <a:moveTo>
                    <a:pt x="0" y="0"/>
                  </a:moveTo>
                  <a:lnTo>
                    <a:pt x="228600" y="0"/>
                  </a:lnTo>
                </a:path>
              </a:pathLst>
            </a:custGeom>
            <a:noFill/>
            <a:ln w="15240">
              <a:solidFill>
                <a:srgbClr val="B54C3A"/>
              </a:solidFill>
            </a:ln>
          </p:spPr>
        </p:sp>
        <p:sp>
          <p:nvSpPr>
            <p:cNvPr id="19" name="Ellipse 19"/>
            <p:cNvSpPr/>
            <p:nvPr/>
          </p:nvSpPr>
          <p:spPr>
            <a:xfrm>
              <a:off x="3033712" y="2071688"/>
              <a:ext cx="66675" cy="66675"/>
            </a:xfrm>
            <a:prstGeom prst="ellipse">
              <a:avLst/>
            </a:prstGeom>
            <a:solidFill>
              <a:srgbClr val="FFFFFF"/>
            </a:solidFill>
            <a:ln w="15240">
              <a:solidFill>
                <a:srgbClr val="B54C3A"/>
              </a:solidFill>
            </a:ln>
          </p:spPr>
        </p:sp>
        <p:sp>
          <p:nvSpPr>
            <p:cNvPr id="20" name="TextBox 20"/>
            <p:cNvSpPr txBox="1"/>
            <p:nvPr/>
          </p:nvSpPr>
          <p:spPr>
            <a:xfrm>
              <a:off x="3233738" y="2062162"/>
              <a:ext cx="468916"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贷款/存款</a:t>
              </a:r>
            </a:p>
          </p:txBody>
        </p:sp>
        <p:sp>
          <p:nvSpPr>
            <p:cNvPr id="21" name="Line 21"/>
            <p:cNvSpPr/>
            <p:nvPr/>
          </p:nvSpPr>
          <p:spPr>
            <a:xfrm>
              <a:off x="762000" y="2476500"/>
              <a:ext cx="3048000" cy="9525"/>
            </a:xfrm>
            <a:custGeom>
              <a:avLst/>
              <a:gdLst/>
              <a:ahLst/>
              <a:cxnLst/>
              <a:rect l="l" t="t" r="r" b="b"/>
              <a:pathLst>
                <a:path w="3048000" h="9525">
                  <a:moveTo>
                    <a:pt x="0" y="0"/>
                  </a:moveTo>
                  <a:lnTo>
                    <a:pt x="3048000" y="0"/>
                  </a:lnTo>
                </a:path>
              </a:pathLst>
            </a:custGeom>
            <a:noFill/>
            <a:ln w="9525">
              <a:solidFill>
                <a:srgbClr val="EDE4E2"/>
              </a:solidFill>
            </a:ln>
          </p:spPr>
        </p:sp>
        <p:sp>
          <p:nvSpPr>
            <p:cNvPr id="22" name="Line 22"/>
            <p:cNvSpPr/>
            <p:nvPr/>
          </p:nvSpPr>
          <p:spPr>
            <a:xfrm>
              <a:off x="762000" y="2933700"/>
              <a:ext cx="3048000" cy="9525"/>
            </a:xfrm>
            <a:custGeom>
              <a:avLst/>
              <a:gdLst/>
              <a:ahLst/>
              <a:cxnLst/>
              <a:rect l="l" t="t" r="r" b="b"/>
              <a:pathLst>
                <a:path w="3048000" h="9525">
                  <a:moveTo>
                    <a:pt x="0" y="0"/>
                  </a:moveTo>
                  <a:lnTo>
                    <a:pt x="3048000" y="0"/>
                  </a:lnTo>
                </a:path>
              </a:pathLst>
            </a:custGeom>
            <a:noFill/>
            <a:ln w="9525">
              <a:solidFill>
                <a:srgbClr val="EDE4E2"/>
              </a:solidFill>
            </a:ln>
          </p:spPr>
        </p:sp>
        <p:sp>
          <p:nvSpPr>
            <p:cNvPr id="23" name="Line 23"/>
            <p:cNvSpPr/>
            <p:nvPr/>
          </p:nvSpPr>
          <p:spPr>
            <a:xfrm>
              <a:off x="762000" y="3390900"/>
              <a:ext cx="3048000" cy="9525"/>
            </a:xfrm>
            <a:custGeom>
              <a:avLst/>
              <a:gdLst/>
              <a:ahLst/>
              <a:cxnLst/>
              <a:rect l="l" t="t" r="r" b="b"/>
              <a:pathLst>
                <a:path w="3048000" h="9525">
                  <a:moveTo>
                    <a:pt x="0" y="0"/>
                  </a:moveTo>
                  <a:lnTo>
                    <a:pt x="3048000" y="0"/>
                  </a:lnTo>
                </a:path>
              </a:pathLst>
            </a:custGeom>
            <a:noFill/>
            <a:ln w="9525">
              <a:solidFill>
                <a:srgbClr val="EDE4E2"/>
              </a:solidFill>
            </a:ln>
          </p:spPr>
        </p:sp>
        <p:sp>
          <p:nvSpPr>
            <p:cNvPr id="24" name="Line 24"/>
            <p:cNvSpPr/>
            <p:nvPr/>
          </p:nvSpPr>
          <p:spPr>
            <a:xfrm>
              <a:off x="762000" y="3848100"/>
              <a:ext cx="3048000" cy="9525"/>
            </a:xfrm>
            <a:custGeom>
              <a:avLst/>
              <a:gdLst/>
              <a:ahLst/>
              <a:cxnLst/>
              <a:rect l="l" t="t" r="r" b="b"/>
              <a:pathLst>
                <a:path w="3048000" h="9525">
                  <a:moveTo>
                    <a:pt x="0" y="0"/>
                  </a:moveTo>
                  <a:lnTo>
                    <a:pt x="3048000" y="0"/>
                  </a:lnTo>
                </a:path>
              </a:pathLst>
            </a:custGeom>
            <a:noFill/>
            <a:ln w="9525">
              <a:solidFill>
                <a:srgbClr val="EDE4E2"/>
              </a:solidFill>
            </a:ln>
          </p:spPr>
        </p:sp>
        <p:sp>
          <p:nvSpPr>
            <p:cNvPr id="25" name="Line 25"/>
            <p:cNvSpPr/>
            <p:nvPr/>
          </p:nvSpPr>
          <p:spPr>
            <a:xfrm>
              <a:off x="762000" y="4305300"/>
              <a:ext cx="3048000" cy="9525"/>
            </a:xfrm>
            <a:custGeom>
              <a:avLst/>
              <a:gdLst/>
              <a:ahLst/>
              <a:cxnLst/>
              <a:rect l="l" t="t" r="r" b="b"/>
              <a:pathLst>
                <a:path w="3048000" h="9525">
                  <a:moveTo>
                    <a:pt x="0" y="0"/>
                  </a:moveTo>
                  <a:lnTo>
                    <a:pt x="3048000" y="0"/>
                  </a:lnTo>
                </a:path>
              </a:pathLst>
            </a:custGeom>
            <a:noFill/>
            <a:ln w="9525">
              <a:solidFill>
                <a:srgbClr val="EDE4E2"/>
              </a:solidFill>
            </a:ln>
          </p:spPr>
        </p:sp>
        <p:sp>
          <p:nvSpPr>
            <p:cNvPr id="26" name="Line 26"/>
            <p:cNvSpPr/>
            <p:nvPr/>
          </p:nvSpPr>
          <p:spPr>
            <a:xfrm>
              <a:off x="762000" y="4762500"/>
              <a:ext cx="3048000" cy="9525"/>
            </a:xfrm>
            <a:custGeom>
              <a:avLst/>
              <a:gdLst/>
              <a:ahLst/>
              <a:cxnLst/>
              <a:rect l="l" t="t" r="r" b="b"/>
              <a:pathLst>
                <a:path w="3048000" h="9525">
                  <a:moveTo>
                    <a:pt x="0" y="0"/>
                  </a:moveTo>
                  <a:lnTo>
                    <a:pt x="3048000" y="0"/>
                  </a:lnTo>
                </a:path>
              </a:pathLst>
            </a:custGeom>
            <a:noFill/>
            <a:ln w="9525">
              <a:solidFill>
                <a:srgbClr val="C9BBB8"/>
              </a:solidFill>
            </a:ln>
          </p:spPr>
        </p:sp>
        <p:sp>
          <p:nvSpPr>
            <p:cNvPr id="27" name="TextBox 27"/>
            <p:cNvSpPr txBox="1"/>
            <p:nvPr/>
          </p:nvSpPr>
          <p:spPr>
            <a:xfrm>
              <a:off x="508861" y="47236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0.0​</a:t>
              </a:r>
            </a:p>
          </p:txBody>
        </p:sp>
        <p:sp>
          <p:nvSpPr>
            <p:cNvPr id="28" name="TextBox 28"/>
            <p:cNvSpPr txBox="1"/>
            <p:nvPr/>
          </p:nvSpPr>
          <p:spPr>
            <a:xfrm>
              <a:off x="508861" y="42664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0.5​</a:t>
              </a:r>
            </a:p>
          </p:txBody>
        </p:sp>
        <p:sp>
          <p:nvSpPr>
            <p:cNvPr id="29" name="TextBox 29"/>
            <p:cNvSpPr txBox="1"/>
            <p:nvPr/>
          </p:nvSpPr>
          <p:spPr>
            <a:xfrm>
              <a:off x="508861" y="38092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1.0​</a:t>
              </a:r>
            </a:p>
          </p:txBody>
        </p:sp>
        <p:sp>
          <p:nvSpPr>
            <p:cNvPr id="30" name="TextBox 30"/>
            <p:cNvSpPr txBox="1"/>
            <p:nvPr/>
          </p:nvSpPr>
          <p:spPr>
            <a:xfrm>
              <a:off x="508861" y="33520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1.5​</a:t>
              </a:r>
            </a:p>
          </p:txBody>
        </p:sp>
        <p:sp>
          <p:nvSpPr>
            <p:cNvPr id="31" name="TextBox 31"/>
            <p:cNvSpPr txBox="1"/>
            <p:nvPr/>
          </p:nvSpPr>
          <p:spPr>
            <a:xfrm>
              <a:off x="508861" y="28948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2.0​</a:t>
              </a:r>
            </a:p>
          </p:txBody>
        </p:sp>
        <p:sp>
          <p:nvSpPr>
            <p:cNvPr id="32" name="TextBox 32"/>
            <p:cNvSpPr txBox="1"/>
            <p:nvPr/>
          </p:nvSpPr>
          <p:spPr>
            <a:xfrm>
              <a:off x="508861" y="24376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2.5​</a:t>
              </a:r>
            </a:p>
          </p:txBody>
        </p:sp>
        <p:sp>
          <p:nvSpPr>
            <p:cNvPr id="33" name="TextBox 33"/>
            <p:cNvSpPr txBox="1"/>
            <p:nvPr/>
          </p:nvSpPr>
          <p:spPr>
            <a:xfrm>
              <a:off x="3843338" y="4723686"/>
              <a:ext cx="219801"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0.0​</a:t>
              </a:r>
            </a:p>
          </p:txBody>
        </p:sp>
        <p:sp>
          <p:nvSpPr>
            <p:cNvPr id="34" name="TextBox 34"/>
            <p:cNvSpPr txBox="1"/>
            <p:nvPr/>
          </p:nvSpPr>
          <p:spPr>
            <a:xfrm>
              <a:off x="3843338" y="3809286"/>
              <a:ext cx="219801"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1.0​</a:t>
              </a:r>
            </a:p>
          </p:txBody>
        </p:sp>
        <p:sp>
          <p:nvSpPr>
            <p:cNvPr id="35" name="TextBox 35"/>
            <p:cNvSpPr txBox="1"/>
            <p:nvPr/>
          </p:nvSpPr>
          <p:spPr>
            <a:xfrm>
              <a:off x="3843338" y="2894886"/>
              <a:ext cx="219801"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2.0​</a:t>
              </a:r>
            </a:p>
          </p:txBody>
        </p:sp>
        <p:sp>
          <p:nvSpPr>
            <p:cNvPr id="36" name="Rectangle 36"/>
            <p:cNvSpPr/>
            <p:nvPr/>
          </p:nvSpPr>
          <p:spPr>
            <a:xfrm>
              <a:off x="1028700" y="3061335"/>
              <a:ext cx="419100" cy="1701165"/>
            </a:xfrm>
            <a:prstGeom prst="rect">
              <a:avLst/>
            </a:prstGeom>
            <a:solidFill>
              <a:srgbClr val="A52D12"/>
            </a:solidFill>
            <a:ln>
              <a:noFill/>
            </a:ln>
          </p:spPr>
        </p:sp>
        <p:sp>
          <p:nvSpPr>
            <p:cNvPr id="37" name="Rectangle 37"/>
            <p:cNvSpPr/>
            <p:nvPr/>
          </p:nvSpPr>
          <p:spPr>
            <a:xfrm>
              <a:off x="1790700" y="3189922"/>
              <a:ext cx="419100" cy="1572578"/>
            </a:xfrm>
            <a:prstGeom prst="rect">
              <a:avLst/>
            </a:prstGeom>
            <a:solidFill>
              <a:srgbClr val="C9604E"/>
            </a:solidFill>
            <a:ln>
              <a:noFill/>
            </a:ln>
          </p:spPr>
        </p:sp>
        <p:sp>
          <p:nvSpPr>
            <p:cNvPr id="38" name="TextBox 38"/>
            <p:cNvSpPr txBox="1"/>
            <p:nvPr/>
          </p:nvSpPr>
          <p:spPr>
            <a:xfrm>
              <a:off x="1074114" y="2901791"/>
              <a:ext cx="328272" cy="161925"/>
            </a:xfrm>
            <a:prstGeom prst="rect">
              <a:avLst/>
            </a:prstGeom>
            <a:noFill/>
            <a:ln>
              <a:noFill/>
            </a:ln>
          </p:spPr>
          <p:txBody>
            <a:bodyPr wrap="none" lIns="0" tIns="0" rIns="0" bIns="0" anchor="t" anchorCtr="0">
              <a:spAutoFit/>
            </a:bodyPr>
            <a:lstStyle/>
            <a:p>
              <a:pPr algn="ctr"/>
              <a:r>
                <a:rPr lang="zh-CN" sz="820" b="1" dirty="0">
                  <a:solidFill>
                    <a:srgbClr val="A52D12"/>
                  </a:solidFill>
                  <a:latin typeface="+mn-lt"/>
                  <a:ea typeface="+mn-ea"/>
                  <a:cs typeface="+mn-cs"/>
                </a:rPr>
                <a:t>1.86​</a:t>
              </a:r>
            </a:p>
          </p:txBody>
        </p:sp>
        <p:sp>
          <p:nvSpPr>
            <p:cNvPr id="39" name="TextBox 39"/>
            <p:cNvSpPr txBox="1"/>
            <p:nvPr/>
          </p:nvSpPr>
          <p:spPr>
            <a:xfrm>
              <a:off x="1836114" y="3030379"/>
              <a:ext cx="328272" cy="161925"/>
            </a:xfrm>
            <a:prstGeom prst="rect">
              <a:avLst/>
            </a:prstGeom>
            <a:noFill/>
            <a:ln>
              <a:noFill/>
            </a:ln>
          </p:spPr>
          <p:txBody>
            <a:bodyPr wrap="none" lIns="0" tIns="0" rIns="0" bIns="0" anchor="t" anchorCtr="0">
              <a:spAutoFit/>
            </a:bodyPr>
            <a:lstStyle/>
            <a:p>
              <a:pPr algn="ctr"/>
              <a:r>
                <a:rPr lang="zh-CN" sz="820" b="1" dirty="0">
                  <a:solidFill>
                    <a:srgbClr val="B54C3A"/>
                  </a:solidFill>
                  <a:latin typeface="+mn-lt"/>
                  <a:ea typeface="+mn-ea"/>
                  <a:cs typeface="+mn-cs"/>
                </a:rPr>
                <a:t>1.72​</a:t>
              </a:r>
            </a:p>
          </p:txBody>
        </p:sp>
        <p:sp>
          <p:nvSpPr>
            <p:cNvPr id="40" name="Line 40"/>
            <p:cNvSpPr/>
            <p:nvPr/>
          </p:nvSpPr>
          <p:spPr>
            <a:xfrm>
              <a:off x="2762250" y="3555682"/>
              <a:ext cx="762000" cy="219075"/>
            </a:xfrm>
            <a:custGeom>
              <a:avLst/>
              <a:gdLst/>
              <a:ahLst/>
              <a:cxnLst/>
              <a:rect l="l" t="t" r="r" b="b"/>
              <a:pathLst>
                <a:path w="762000" h="219075">
                  <a:moveTo>
                    <a:pt x="0" y="219075"/>
                  </a:moveTo>
                  <a:lnTo>
                    <a:pt x="762000" y="0"/>
                  </a:lnTo>
                </a:path>
              </a:pathLst>
            </a:custGeom>
            <a:noFill/>
            <a:ln w="19050">
              <a:solidFill>
                <a:srgbClr val="B54C3A"/>
              </a:solidFill>
            </a:ln>
          </p:spPr>
        </p:sp>
        <p:sp>
          <p:nvSpPr>
            <p:cNvPr id="41" name="Ellipse 41"/>
            <p:cNvSpPr/>
            <p:nvPr/>
          </p:nvSpPr>
          <p:spPr>
            <a:xfrm>
              <a:off x="2719388" y="3731895"/>
              <a:ext cx="85725" cy="85725"/>
            </a:xfrm>
            <a:prstGeom prst="ellipse">
              <a:avLst/>
            </a:prstGeom>
            <a:solidFill>
              <a:srgbClr val="FFFFFF"/>
            </a:solidFill>
            <a:ln w="19050">
              <a:solidFill>
                <a:srgbClr val="B54C3A"/>
              </a:solidFill>
            </a:ln>
          </p:spPr>
        </p:sp>
        <p:sp>
          <p:nvSpPr>
            <p:cNvPr id="42" name="Ellipse 42"/>
            <p:cNvSpPr/>
            <p:nvPr/>
          </p:nvSpPr>
          <p:spPr>
            <a:xfrm>
              <a:off x="3481388" y="3512820"/>
              <a:ext cx="85725" cy="85725"/>
            </a:xfrm>
            <a:prstGeom prst="ellipse">
              <a:avLst/>
            </a:prstGeom>
            <a:solidFill>
              <a:srgbClr val="FFFFFF"/>
            </a:solidFill>
            <a:ln w="19050">
              <a:solidFill>
                <a:srgbClr val="B54C3A"/>
              </a:solidFill>
            </a:ln>
          </p:spPr>
        </p:sp>
        <p:sp>
          <p:nvSpPr>
            <p:cNvPr id="43" name="TextBox 43"/>
            <p:cNvSpPr txBox="1"/>
            <p:nvPr/>
          </p:nvSpPr>
          <p:spPr>
            <a:xfrm>
              <a:off x="2598114" y="3578066"/>
              <a:ext cx="328272" cy="161925"/>
            </a:xfrm>
            <a:prstGeom prst="rect">
              <a:avLst/>
            </a:prstGeom>
            <a:noFill/>
            <a:ln>
              <a:noFill/>
            </a:ln>
          </p:spPr>
          <p:txBody>
            <a:bodyPr wrap="none" lIns="0" tIns="0" rIns="0" bIns="0" anchor="t" anchorCtr="0">
              <a:spAutoFit/>
            </a:bodyPr>
            <a:lstStyle/>
            <a:p>
              <a:pPr algn="ctr"/>
              <a:r>
                <a:rPr lang="zh-CN" sz="820" b="1" dirty="0">
                  <a:solidFill>
                    <a:srgbClr val="A52D12"/>
                  </a:solidFill>
                  <a:latin typeface="+mn-lt"/>
                  <a:ea typeface="+mn-ea"/>
                  <a:cs typeface="+mn-cs"/>
                </a:rPr>
                <a:t>1.08​</a:t>
              </a:r>
            </a:p>
          </p:txBody>
        </p:sp>
        <p:sp>
          <p:nvSpPr>
            <p:cNvPr id="44" name="TextBox 44"/>
            <p:cNvSpPr txBox="1"/>
            <p:nvPr/>
          </p:nvSpPr>
          <p:spPr>
            <a:xfrm>
              <a:off x="3360114" y="3358991"/>
              <a:ext cx="328272" cy="161925"/>
            </a:xfrm>
            <a:prstGeom prst="rect">
              <a:avLst/>
            </a:prstGeom>
            <a:noFill/>
            <a:ln>
              <a:noFill/>
            </a:ln>
          </p:spPr>
          <p:txBody>
            <a:bodyPr wrap="none" lIns="0" tIns="0" rIns="0" bIns="0" anchor="t" anchorCtr="0">
              <a:spAutoFit/>
            </a:bodyPr>
            <a:lstStyle/>
            <a:p>
              <a:pPr algn="ctr"/>
              <a:r>
                <a:rPr lang="zh-CN" sz="820" b="1" dirty="0">
                  <a:solidFill>
                    <a:srgbClr val="A52D12"/>
                  </a:solidFill>
                  <a:latin typeface="+mn-lt"/>
                  <a:ea typeface="+mn-ea"/>
                  <a:cs typeface="+mn-cs"/>
                </a:rPr>
                <a:t>1.32​</a:t>
              </a:r>
            </a:p>
          </p:txBody>
        </p:sp>
        <p:sp>
          <p:nvSpPr>
            <p:cNvPr id="45" name="TextBox 45"/>
            <p:cNvSpPr txBox="1"/>
            <p:nvPr/>
          </p:nvSpPr>
          <p:spPr>
            <a:xfrm>
              <a:off x="1123099" y="4844891"/>
              <a:ext cx="23030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资产</a:t>
              </a:r>
            </a:p>
          </p:txBody>
        </p:sp>
        <p:sp>
          <p:nvSpPr>
            <p:cNvPr id="46" name="TextBox 46"/>
            <p:cNvSpPr txBox="1"/>
            <p:nvPr/>
          </p:nvSpPr>
          <p:spPr>
            <a:xfrm>
              <a:off x="1885099" y="4844891"/>
              <a:ext cx="23030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负债</a:t>
              </a:r>
            </a:p>
          </p:txBody>
        </p:sp>
        <p:sp>
          <p:nvSpPr>
            <p:cNvPr id="47" name="TextBox 47"/>
            <p:cNvSpPr txBox="1"/>
            <p:nvPr/>
          </p:nvSpPr>
          <p:spPr>
            <a:xfrm>
              <a:off x="2647099" y="4844891"/>
              <a:ext cx="23030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贷款</a:t>
              </a:r>
            </a:p>
          </p:txBody>
        </p:sp>
        <p:sp>
          <p:nvSpPr>
            <p:cNvPr id="48" name="TextBox 48"/>
            <p:cNvSpPr txBox="1"/>
            <p:nvPr/>
          </p:nvSpPr>
          <p:spPr>
            <a:xfrm>
              <a:off x="3409099" y="4844891"/>
              <a:ext cx="23030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存款</a:t>
              </a:r>
            </a:p>
          </p:txBody>
        </p:sp>
      </p:grpSp>
      <p:grpSp>
        <p:nvGrpSpPr>
          <p:cNvPr id="87" name="card-waterfall"/>
          <p:cNvGrpSpPr/>
          <p:nvPr/>
        </p:nvGrpSpPr>
        <p:grpSpPr>
          <a:xfrm>
            <a:off x="4305300" y="1600200"/>
            <a:ext cx="3810000" cy="3771900"/>
            <a:chOff x="4305300" y="1600200"/>
            <a:chExt cx="3810000" cy="3771900"/>
          </a:xfrm>
        </p:grpSpPr>
        <p:sp>
          <p:nvSpPr>
            <p:cNvPr id="50" name="Rectangle 50"/>
            <p:cNvSpPr/>
            <p:nvPr/>
          </p:nvSpPr>
          <p:spPr>
            <a:xfrm>
              <a:off x="4305300" y="1600200"/>
              <a:ext cx="3810000" cy="3771900"/>
            </a:xfrm>
            <a:prstGeom prst="roundRect">
              <a:avLst>
                <a:gd name="adj" fmla="val 2020"/>
              </a:avLst>
            </a:prstGeom>
            <a:solidFill>
              <a:srgbClr val="FDF6F5"/>
            </a:solidFill>
            <a:ln w="9525">
              <a:solidFill>
                <a:srgbClr val="EDD5D2"/>
              </a:solidFill>
            </a:ln>
          </p:spPr>
        </p:sp>
        <p:sp>
          <p:nvSpPr>
            <p:cNvPr id="51" name="Freeform 51"/>
            <p:cNvSpPr/>
            <p:nvPr/>
          </p:nvSpPr>
          <p:spPr>
            <a:xfrm>
              <a:off x="4314825" y="1609725"/>
              <a:ext cx="3790950" cy="228600"/>
            </a:xfrm>
            <a:custGeom>
              <a:avLst/>
              <a:gdLst/>
              <a:ahLst/>
              <a:cxnLst/>
              <a:rect l="l" t="t" r="r" b="b"/>
              <a:pathLst>
                <a:path w="3790950" h="228600">
                  <a:moveTo>
                    <a:pt x="0" y="228600"/>
                  </a:moveTo>
                  <a:lnTo>
                    <a:pt x="3790950" y="228600"/>
                  </a:lnTo>
                  <a:lnTo>
                    <a:pt x="3790950" y="66675"/>
                  </a:lnTo>
                  <a:cubicBezTo>
                    <a:pt x="3790950" y="29851"/>
                    <a:pt x="3761099" y="0"/>
                    <a:pt x="3724275" y="0"/>
                  </a:cubicBezTo>
                  <a:lnTo>
                    <a:pt x="66675" y="0"/>
                  </a:lnTo>
                  <a:cubicBezTo>
                    <a:pt x="29851" y="0"/>
                    <a:pt x="0" y="29851"/>
                    <a:pt x="0" y="66675"/>
                  </a:cubicBezTo>
                  <a:close/>
                </a:path>
              </a:pathLst>
            </a:custGeom>
            <a:solidFill>
              <a:srgbClr val="A52D12"/>
            </a:solidFill>
            <a:ln>
              <a:noFill/>
            </a:ln>
          </p:spPr>
        </p:sp>
        <p:sp>
          <p:nvSpPr>
            <p:cNvPr id="52" name="TextBox 52"/>
            <p:cNvSpPr txBox="1"/>
            <p:nvPr/>
          </p:nvSpPr>
          <p:spPr>
            <a:xfrm>
              <a:off x="5427536" y="1658302"/>
              <a:ext cx="156552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收入利润瀑布图（亿元）</a:t>
              </a:r>
            </a:p>
          </p:txBody>
        </p:sp>
        <p:sp>
          <p:nvSpPr>
            <p:cNvPr id="53" name="Line 53"/>
            <p:cNvSpPr/>
            <p:nvPr/>
          </p:nvSpPr>
          <p:spPr>
            <a:xfrm>
              <a:off x="4667250" y="2476500"/>
              <a:ext cx="3143250" cy="9525"/>
            </a:xfrm>
            <a:custGeom>
              <a:avLst/>
              <a:gdLst/>
              <a:ahLst/>
              <a:cxnLst/>
              <a:rect l="l" t="t" r="r" b="b"/>
              <a:pathLst>
                <a:path w="3143250" h="9525">
                  <a:moveTo>
                    <a:pt x="0" y="0"/>
                  </a:moveTo>
                  <a:lnTo>
                    <a:pt x="3143250" y="0"/>
                  </a:lnTo>
                </a:path>
              </a:pathLst>
            </a:custGeom>
            <a:noFill/>
            <a:ln w="9525">
              <a:solidFill>
                <a:srgbClr val="EDE4E2"/>
              </a:solidFill>
            </a:ln>
          </p:spPr>
        </p:sp>
        <p:sp>
          <p:nvSpPr>
            <p:cNvPr id="54" name="Line 54"/>
            <p:cNvSpPr/>
            <p:nvPr/>
          </p:nvSpPr>
          <p:spPr>
            <a:xfrm>
              <a:off x="4667250" y="3048000"/>
              <a:ext cx="3143250" cy="9525"/>
            </a:xfrm>
            <a:custGeom>
              <a:avLst/>
              <a:gdLst/>
              <a:ahLst/>
              <a:cxnLst/>
              <a:rect l="l" t="t" r="r" b="b"/>
              <a:pathLst>
                <a:path w="3143250" h="9525">
                  <a:moveTo>
                    <a:pt x="0" y="0"/>
                  </a:moveTo>
                  <a:lnTo>
                    <a:pt x="3143250" y="0"/>
                  </a:lnTo>
                </a:path>
              </a:pathLst>
            </a:custGeom>
            <a:noFill/>
            <a:ln w="9525">
              <a:solidFill>
                <a:srgbClr val="EDE4E2"/>
              </a:solidFill>
            </a:ln>
          </p:spPr>
        </p:sp>
        <p:sp>
          <p:nvSpPr>
            <p:cNvPr id="55" name="Line 55"/>
            <p:cNvSpPr/>
            <p:nvPr/>
          </p:nvSpPr>
          <p:spPr>
            <a:xfrm>
              <a:off x="4667250" y="3619500"/>
              <a:ext cx="3143250" cy="9525"/>
            </a:xfrm>
            <a:custGeom>
              <a:avLst/>
              <a:gdLst/>
              <a:ahLst/>
              <a:cxnLst/>
              <a:rect l="l" t="t" r="r" b="b"/>
              <a:pathLst>
                <a:path w="3143250" h="9525">
                  <a:moveTo>
                    <a:pt x="0" y="0"/>
                  </a:moveTo>
                  <a:lnTo>
                    <a:pt x="3143250" y="0"/>
                  </a:lnTo>
                </a:path>
              </a:pathLst>
            </a:custGeom>
            <a:noFill/>
            <a:ln w="9525">
              <a:solidFill>
                <a:srgbClr val="EDE4E2"/>
              </a:solidFill>
            </a:ln>
          </p:spPr>
        </p:sp>
        <p:sp>
          <p:nvSpPr>
            <p:cNvPr id="56" name="Line 56"/>
            <p:cNvSpPr/>
            <p:nvPr/>
          </p:nvSpPr>
          <p:spPr>
            <a:xfrm>
              <a:off x="4667250" y="4191000"/>
              <a:ext cx="3143250" cy="9525"/>
            </a:xfrm>
            <a:custGeom>
              <a:avLst/>
              <a:gdLst/>
              <a:ahLst/>
              <a:cxnLst/>
              <a:rect l="l" t="t" r="r" b="b"/>
              <a:pathLst>
                <a:path w="3143250" h="9525">
                  <a:moveTo>
                    <a:pt x="0" y="0"/>
                  </a:moveTo>
                  <a:lnTo>
                    <a:pt x="3143250" y="0"/>
                  </a:lnTo>
                </a:path>
              </a:pathLst>
            </a:custGeom>
            <a:noFill/>
            <a:ln w="9525">
              <a:solidFill>
                <a:srgbClr val="EDE4E2"/>
              </a:solidFill>
            </a:ln>
          </p:spPr>
        </p:sp>
        <p:sp>
          <p:nvSpPr>
            <p:cNvPr id="57" name="Line 57"/>
            <p:cNvSpPr/>
            <p:nvPr/>
          </p:nvSpPr>
          <p:spPr>
            <a:xfrm>
              <a:off x="4667250" y="4762500"/>
              <a:ext cx="3143250" cy="9525"/>
            </a:xfrm>
            <a:custGeom>
              <a:avLst/>
              <a:gdLst/>
              <a:ahLst/>
              <a:cxnLst/>
              <a:rect l="l" t="t" r="r" b="b"/>
              <a:pathLst>
                <a:path w="3143250" h="9525">
                  <a:moveTo>
                    <a:pt x="0" y="0"/>
                  </a:moveTo>
                  <a:lnTo>
                    <a:pt x="3143250" y="0"/>
                  </a:lnTo>
                </a:path>
              </a:pathLst>
            </a:custGeom>
            <a:noFill/>
            <a:ln w="9525">
              <a:solidFill>
                <a:srgbClr val="C9BBB8"/>
              </a:solidFill>
            </a:ln>
          </p:spPr>
        </p:sp>
        <p:sp>
          <p:nvSpPr>
            <p:cNvPr id="58" name="TextBox 58"/>
            <p:cNvSpPr txBox="1"/>
            <p:nvPr/>
          </p:nvSpPr>
          <p:spPr>
            <a:xfrm>
              <a:off x="4519249" y="4723686"/>
              <a:ext cx="114663"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a:t>
              </a:r>
            </a:p>
          </p:txBody>
        </p:sp>
        <p:sp>
          <p:nvSpPr>
            <p:cNvPr id="59" name="TextBox 59"/>
            <p:cNvSpPr txBox="1"/>
            <p:nvPr/>
          </p:nvSpPr>
          <p:spPr>
            <a:xfrm>
              <a:off x="4466680" y="4152186"/>
              <a:ext cx="167232"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50​</a:t>
              </a:r>
            </a:p>
          </p:txBody>
        </p:sp>
        <p:sp>
          <p:nvSpPr>
            <p:cNvPr id="60" name="TextBox 60"/>
            <p:cNvSpPr txBox="1"/>
            <p:nvPr/>
          </p:nvSpPr>
          <p:spPr>
            <a:xfrm>
              <a:off x="4414111" y="35806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100​</a:t>
              </a:r>
            </a:p>
          </p:txBody>
        </p:sp>
        <p:sp>
          <p:nvSpPr>
            <p:cNvPr id="61" name="TextBox 61"/>
            <p:cNvSpPr txBox="1"/>
            <p:nvPr/>
          </p:nvSpPr>
          <p:spPr>
            <a:xfrm>
              <a:off x="4414111" y="30091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150​</a:t>
              </a:r>
            </a:p>
          </p:txBody>
        </p:sp>
        <p:sp>
          <p:nvSpPr>
            <p:cNvPr id="62" name="TextBox 62"/>
            <p:cNvSpPr txBox="1"/>
            <p:nvPr/>
          </p:nvSpPr>
          <p:spPr>
            <a:xfrm>
              <a:off x="4414111" y="24376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200​</a:t>
              </a:r>
            </a:p>
          </p:txBody>
        </p:sp>
        <p:sp>
          <p:nvSpPr>
            <p:cNvPr id="63" name="Line 63"/>
            <p:cNvSpPr/>
            <p:nvPr/>
          </p:nvSpPr>
          <p:spPr>
            <a:xfrm>
              <a:off x="5143500" y="2835592"/>
              <a:ext cx="190500" cy="9525"/>
            </a:xfrm>
            <a:custGeom>
              <a:avLst/>
              <a:gdLst/>
              <a:ahLst/>
              <a:cxnLst/>
              <a:rect l="l" t="t" r="r" b="b"/>
              <a:pathLst>
                <a:path w="190500" h="9525">
                  <a:moveTo>
                    <a:pt x="0" y="0"/>
                  </a:moveTo>
                  <a:lnTo>
                    <a:pt x="190500" y="0"/>
                  </a:lnTo>
                </a:path>
              </a:pathLst>
            </a:custGeom>
            <a:noFill/>
            <a:ln w="9525">
              <a:solidFill>
                <a:srgbClr val="8A8A8A"/>
              </a:solidFill>
              <a:custDash>
                <a:ds d="300000" sp="300000"/>
              </a:custDash>
            </a:ln>
          </p:spPr>
        </p:sp>
        <p:sp>
          <p:nvSpPr>
            <p:cNvPr id="64" name="Line 64"/>
            <p:cNvSpPr/>
            <p:nvPr/>
          </p:nvSpPr>
          <p:spPr>
            <a:xfrm>
              <a:off x="5810250" y="3369945"/>
              <a:ext cx="190500" cy="9525"/>
            </a:xfrm>
            <a:custGeom>
              <a:avLst/>
              <a:gdLst/>
              <a:ahLst/>
              <a:cxnLst/>
              <a:rect l="l" t="t" r="r" b="b"/>
              <a:pathLst>
                <a:path w="190500" h="9525">
                  <a:moveTo>
                    <a:pt x="0" y="0"/>
                  </a:moveTo>
                  <a:lnTo>
                    <a:pt x="190500" y="0"/>
                  </a:lnTo>
                </a:path>
              </a:pathLst>
            </a:custGeom>
            <a:noFill/>
            <a:ln w="9525">
              <a:solidFill>
                <a:srgbClr val="8A8A8A"/>
              </a:solidFill>
              <a:custDash>
                <a:ds d="300000" sp="300000"/>
              </a:custDash>
            </a:ln>
          </p:spPr>
        </p:sp>
        <p:sp>
          <p:nvSpPr>
            <p:cNvPr id="65" name="Line 65"/>
            <p:cNvSpPr/>
            <p:nvPr/>
          </p:nvSpPr>
          <p:spPr>
            <a:xfrm>
              <a:off x="6477000" y="3729990"/>
              <a:ext cx="190500" cy="204788"/>
            </a:xfrm>
            <a:custGeom>
              <a:avLst/>
              <a:gdLst/>
              <a:ahLst/>
              <a:cxnLst/>
              <a:rect l="l" t="t" r="r" b="b"/>
              <a:pathLst>
                <a:path w="190500" h="204788">
                  <a:moveTo>
                    <a:pt x="0" y="0"/>
                  </a:moveTo>
                  <a:lnTo>
                    <a:pt x="190500" y="204788"/>
                  </a:lnTo>
                </a:path>
              </a:pathLst>
            </a:custGeom>
            <a:noFill/>
            <a:ln w="9525">
              <a:solidFill>
                <a:srgbClr val="8A8A8A"/>
              </a:solidFill>
              <a:custDash>
                <a:ds d="300000" sp="300000"/>
              </a:custDash>
            </a:ln>
          </p:spPr>
        </p:sp>
        <p:sp>
          <p:nvSpPr>
            <p:cNvPr id="66" name="Rectangle 66"/>
            <p:cNvSpPr/>
            <p:nvPr/>
          </p:nvSpPr>
          <p:spPr>
            <a:xfrm>
              <a:off x="4667250" y="2835592"/>
              <a:ext cx="476250" cy="1926908"/>
            </a:xfrm>
            <a:prstGeom prst="rect">
              <a:avLst/>
            </a:prstGeom>
            <a:solidFill>
              <a:srgbClr val="A52D12"/>
            </a:solidFill>
            <a:ln>
              <a:noFill/>
            </a:ln>
          </p:spPr>
        </p:sp>
        <p:sp>
          <p:nvSpPr>
            <p:cNvPr id="67" name="Rectangle 67"/>
            <p:cNvSpPr/>
            <p:nvPr/>
          </p:nvSpPr>
          <p:spPr>
            <a:xfrm>
              <a:off x="5334000" y="2835592"/>
              <a:ext cx="476250" cy="535305"/>
            </a:xfrm>
            <a:prstGeom prst="rect">
              <a:avLst/>
            </a:prstGeom>
            <a:solidFill>
              <a:srgbClr val="E4AFA6"/>
            </a:solidFill>
            <a:ln>
              <a:noFill/>
            </a:ln>
          </p:spPr>
        </p:sp>
        <p:sp>
          <p:nvSpPr>
            <p:cNvPr id="68" name="Rectangle 68"/>
            <p:cNvSpPr/>
            <p:nvPr/>
          </p:nvSpPr>
          <p:spPr>
            <a:xfrm>
              <a:off x="6000750" y="3369945"/>
              <a:ext cx="476250" cy="360045"/>
            </a:xfrm>
            <a:prstGeom prst="rect">
              <a:avLst/>
            </a:prstGeom>
            <a:solidFill>
              <a:srgbClr val="E4AFA6"/>
            </a:solidFill>
            <a:ln>
              <a:noFill/>
            </a:ln>
          </p:spPr>
        </p:sp>
        <p:sp>
          <p:nvSpPr>
            <p:cNvPr id="69" name="Rectangle 69"/>
            <p:cNvSpPr/>
            <p:nvPr/>
          </p:nvSpPr>
          <p:spPr>
            <a:xfrm>
              <a:off x="6667500" y="3934778"/>
              <a:ext cx="476250" cy="827722"/>
            </a:xfrm>
            <a:prstGeom prst="rect">
              <a:avLst/>
            </a:prstGeom>
            <a:solidFill>
              <a:srgbClr val="A52D12"/>
            </a:solidFill>
            <a:ln>
              <a:noFill/>
            </a:ln>
          </p:spPr>
        </p:sp>
        <p:sp>
          <p:nvSpPr>
            <p:cNvPr id="70" name="Polyline 70"/>
            <p:cNvSpPr/>
            <p:nvPr/>
          </p:nvSpPr>
          <p:spPr>
            <a:xfrm>
              <a:off x="4905375" y="2835592"/>
              <a:ext cx="2000250" cy="1099185"/>
            </a:xfrm>
            <a:custGeom>
              <a:avLst/>
              <a:gdLst/>
              <a:ahLst/>
              <a:cxnLst/>
              <a:rect l="l" t="t" r="r" b="b"/>
              <a:pathLst>
                <a:path w="2000250" h="1099185">
                  <a:moveTo>
                    <a:pt x="0" y="0"/>
                  </a:moveTo>
                  <a:lnTo>
                    <a:pt x="666750" y="0"/>
                  </a:lnTo>
                  <a:lnTo>
                    <a:pt x="666750" y="534353"/>
                  </a:lnTo>
                  <a:lnTo>
                    <a:pt x="1333500" y="534353"/>
                  </a:lnTo>
                  <a:lnTo>
                    <a:pt x="1333500" y="894398"/>
                  </a:lnTo>
                  <a:lnTo>
                    <a:pt x="2000250" y="1099185"/>
                  </a:lnTo>
                </a:path>
              </a:pathLst>
            </a:custGeom>
            <a:noFill/>
            <a:ln w="11430">
              <a:solidFill>
                <a:srgbClr val="8A8A8A"/>
              </a:solidFill>
              <a:custDash>
                <a:ds d="333333" sp="250000"/>
              </a:custDash>
            </a:ln>
          </p:spPr>
        </p:sp>
        <p:sp>
          <p:nvSpPr>
            <p:cNvPr id="71" name="TextBox 71"/>
            <p:cNvSpPr txBox="1"/>
            <p:nvPr/>
          </p:nvSpPr>
          <p:spPr>
            <a:xfrm>
              <a:off x="4709365" y="2663666"/>
              <a:ext cx="392021" cy="161925"/>
            </a:xfrm>
            <a:prstGeom prst="rect">
              <a:avLst/>
            </a:prstGeom>
            <a:noFill/>
            <a:ln>
              <a:noFill/>
            </a:ln>
          </p:spPr>
          <p:txBody>
            <a:bodyPr wrap="none" lIns="0" tIns="0" rIns="0" bIns="0" anchor="t" anchorCtr="0">
              <a:spAutoFit/>
            </a:bodyPr>
            <a:lstStyle/>
            <a:p>
              <a:pPr algn="ctr"/>
              <a:r>
                <a:rPr lang="zh-CN" sz="820" b="1" dirty="0">
                  <a:solidFill>
                    <a:srgbClr val="A52D12"/>
                  </a:solidFill>
                  <a:latin typeface="+mn-lt"/>
                  <a:ea typeface="+mn-ea"/>
                  <a:cs typeface="+mn-cs"/>
                </a:rPr>
                <a:t>168.6​</a:t>
              </a:r>
            </a:p>
          </p:txBody>
        </p:sp>
        <p:sp>
          <p:nvSpPr>
            <p:cNvPr id="72" name="TextBox 72"/>
            <p:cNvSpPr txBox="1"/>
            <p:nvPr/>
          </p:nvSpPr>
          <p:spPr>
            <a:xfrm>
              <a:off x="5383111" y="2667714"/>
              <a:ext cx="378027" cy="154781"/>
            </a:xfrm>
            <a:prstGeom prst="rect">
              <a:avLst/>
            </a:prstGeom>
            <a:noFill/>
            <a:ln>
              <a:noFill/>
            </a:ln>
          </p:spPr>
          <p:txBody>
            <a:bodyPr wrap="none" lIns="0" tIns="0" rIns="0" bIns="0" anchor="t" anchorCtr="0">
              <a:spAutoFit/>
            </a:bodyPr>
            <a:lstStyle/>
            <a:p>
              <a:pPr algn="ctr"/>
              <a:r>
                <a:rPr lang="zh-CN" sz="790" b="1" dirty="0">
                  <a:solidFill>
                    <a:srgbClr val="B54C3A"/>
                  </a:solidFill>
                  <a:latin typeface="+mn-lt"/>
                  <a:ea typeface="+mn-ea"/>
                  <a:cs typeface="+mn-cs"/>
                </a:rPr>
                <a:t>-46.8​</a:t>
              </a:r>
            </a:p>
          </p:txBody>
        </p:sp>
        <p:sp>
          <p:nvSpPr>
            <p:cNvPr id="73" name="TextBox 73"/>
            <p:cNvSpPr txBox="1"/>
            <p:nvPr/>
          </p:nvSpPr>
          <p:spPr>
            <a:xfrm>
              <a:off x="6049861" y="3201114"/>
              <a:ext cx="378027" cy="154781"/>
            </a:xfrm>
            <a:prstGeom prst="rect">
              <a:avLst/>
            </a:prstGeom>
            <a:noFill/>
            <a:ln>
              <a:noFill/>
            </a:ln>
          </p:spPr>
          <p:txBody>
            <a:bodyPr wrap="none" lIns="0" tIns="0" rIns="0" bIns="0" anchor="t" anchorCtr="0">
              <a:spAutoFit/>
            </a:bodyPr>
            <a:lstStyle/>
            <a:p>
              <a:pPr algn="ctr"/>
              <a:r>
                <a:rPr lang="zh-CN" sz="790" b="1" dirty="0">
                  <a:solidFill>
                    <a:srgbClr val="B54C3A"/>
                  </a:solidFill>
                  <a:latin typeface="+mn-lt"/>
                  <a:ea typeface="+mn-ea"/>
                  <a:cs typeface="+mn-cs"/>
                </a:rPr>
                <a:t>-31.5​</a:t>
              </a:r>
            </a:p>
          </p:txBody>
        </p:sp>
        <p:sp>
          <p:nvSpPr>
            <p:cNvPr id="74" name="TextBox 74"/>
            <p:cNvSpPr txBox="1"/>
            <p:nvPr/>
          </p:nvSpPr>
          <p:spPr>
            <a:xfrm>
              <a:off x="6741489" y="3759041"/>
              <a:ext cx="328272" cy="161925"/>
            </a:xfrm>
            <a:prstGeom prst="rect">
              <a:avLst/>
            </a:prstGeom>
            <a:noFill/>
            <a:ln>
              <a:noFill/>
            </a:ln>
          </p:spPr>
          <p:txBody>
            <a:bodyPr wrap="none" lIns="0" tIns="0" rIns="0" bIns="0" anchor="t" anchorCtr="0">
              <a:spAutoFit/>
            </a:bodyPr>
            <a:lstStyle/>
            <a:p>
              <a:pPr algn="ctr"/>
              <a:r>
                <a:rPr lang="zh-CN" sz="820" b="1" dirty="0">
                  <a:solidFill>
                    <a:srgbClr val="A52D12"/>
                  </a:solidFill>
                  <a:latin typeface="+mn-lt"/>
                  <a:ea typeface="+mn-ea"/>
                  <a:cs typeface="+mn-cs"/>
                </a:rPr>
                <a:t>72.4​</a:t>
              </a:r>
            </a:p>
          </p:txBody>
        </p:sp>
        <p:sp>
          <p:nvSpPr>
            <p:cNvPr id="75" name="TextBox 75"/>
            <p:cNvSpPr txBox="1"/>
            <p:nvPr/>
          </p:nvSpPr>
          <p:spPr>
            <a:xfrm>
              <a:off x="5409655" y="3437811"/>
              <a:ext cx="324940" cy="140494"/>
            </a:xfrm>
            <a:prstGeom prst="rect">
              <a:avLst/>
            </a:prstGeom>
            <a:noFill/>
            <a:ln>
              <a:noFill/>
            </a:ln>
          </p:spPr>
          <p:txBody>
            <a:bodyPr wrap="none" lIns="0" tIns="0" rIns="0" bIns="0" anchor="t" anchorCtr="0">
              <a:spAutoFit/>
            </a:bodyPr>
            <a:lstStyle/>
            <a:p>
              <a:pPr algn="ctr"/>
              <a:r>
                <a:rPr lang="zh-CN" sz="710" dirty="0">
                  <a:solidFill>
                    <a:srgbClr val="8A8A8A"/>
                  </a:solidFill>
                  <a:latin typeface="+mn-lt"/>
                  <a:ea typeface="+mn-ea"/>
                  <a:cs typeface="+mn-cs"/>
                </a:rPr>
                <a:t>121.8​</a:t>
              </a:r>
            </a:p>
          </p:txBody>
        </p:sp>
        <p:sp>
          <p:nvSpPr>
            <p:cNvPr id="76" name="TextBox 76"/>
            <p:cNvSpPr txBox="1"/>
            <p:nvPr/>
          </p:nvSpPr>
          <p:spPr>
            <a:xfrm>
              <a:off x="4687913" y="4829889"/>
              <a:ext cx="43492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营业收入</a:t>
              </a:r>
            </a:p>
          </p:txBody>
        </p:sp>
        <p:sp>
          <p:nvSpPr>
            <p:cNvPr id="77" name="TextBox 77"/>
            <p:cNvSpPr txBox="1"/>
            <p:nvPr/>
          </p:nvSpPr>
          <p:spPr>
            <a:xfrm>
              <a:off x="5301488" y="4829889"/>
              <a:ext cx="54127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净利息收入</a:t>
              </a:r>
            </a:p>
          </p:txBody>
        </p:sp>
        <p:sp>
          <p:nvSpPr>
            <p:cNvPr id="78" name="TextBox 78"/>
            <p:cNvSpPr txBox="1"/>
            <p:nvPr/>
          </p:nvSpPr>
          <p:spPr>
            <a:xfrm>
              <a:off x="5292738" y="4975384"/>
              <a:ext cx="558775" cy="133350"/>
            </a:xfrm>
            <a:prstGeom prst="rect">
              <a:avLst/>
            </a:prstGeom>
            <a:noFill/>
            <a:ln>
              <a:noFill/>
            </a:ln>
          </p:spPr>
          <p:txBody>
            <a:bodyPr wrap="none" lIns="0" tIns="0" rIns="0" bIns="0" anchor="t" anchorCtr="0">
              <a:spAutoFit/>
            </a:bodyPr>
            <a:lstStyle/>
            <a:p>
              <a:pPr algn="ctr"/>
              <a:r>
                <a:rPr lang="zh-CN" sz="680" dirty="0">
                  <a:solidFill>
                    <a:srgbClr val="8A8A8A"/>
                  </a:solidFill>
                  <a:latin typeface="+mn-lt"/>
                  <a:ea typeface="+mn-ea"/>
                  <a:cs typeface="+mn-cs"/>
                </a:rPr>
                <a:t>（扣减后项）</a:t>
              </a:r>
            </a:p>
          </p:txBody>
        </p:sp>
        <p:sp>
          <p:nvSpPr>
            <p:cNvPr id="79" name="TextBox 79"/>
            <p:cNvSpPr txBox="1"/>
            <p:nvPr/>
          </p:nvSpPr>
          <p:spPr>
            <a:xfrm>
              <a:off x="6127763" y="4829889"/>
              <a:ext cx="222225"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中收</a:t>
              </a:r>
            </a:p>
          </p:txBody>
        </p:sp>
        <p:sp>
          <p:nvSpPr>
            <p:cNvPr id="80" name="TextBox 80"/>
            <p:cNvSpPr txBox="1"/>
            <p:nvPr/>
          </p:nvSpPr>
          <p:spPr>
            <a:xfrm>
              <a:off x="6741338" y="4829889"/>
              <a:ext cx="32857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净利润</a:t>
              </a:r>
            </a:p>
          </p:txBody>
        </p:sp>
        <p:sp>
          <p:nvSpPr>
            <p:cNvPr id="81" name="Rectangle 81"/>
            <p:cNvSpPr/>
            <p:nvPr/>
          </p:nvSpPr>
          <p:spPr>
            <a:xfrm>
              <a:off x="4762500" y="5143500"/>
              <a:ext cx="95250" cy="95250"/>
            </a:xfrm>
            <a:prstGeom prst="rect">
              <a:avLst/>
            </a:prstGeom>
            <a:solidFill>
              <a:srgbClr val="A52D12"/>
            </a:solidFill>
            <a:ln>
              <a:noFill/>
            </a:ln>
          </p:spPr>
        </p:sp>
        <p:sp>
          <p:nvSpPr>
            <p:cNvPr id="82" name="TextBox 82"/>
            <p:cNvSpPr txBox="1"/>
            <p:nvPr/>
          </p:nvSpPr>
          <p:spPr>
            <a:xfrm>
              <a:off x="4910138" y="5148262"/>
              <a:ext cx="31242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增加项</a:t>
              </a:r>
            </a:p>
          </p:txBody>
        </p:sp>
        <p:sp>
          <p:nvSpPr>
            <p:cNvPr id="83" name="Rectangle 83"/>
            <p:cNvSpPr/>
            <p:nvPr/>
          </p:nvSpPr>
          <p:spPr>
            <a:xfrm>
              <a:off x="5524500" y="5143500"/>
              <a:ext cx="95250" cy="95250"/>
            </a:xfrm>
            <a:prstGeom prst="rect">
              <a:avLst/>
            </a:prstGeom>
            <a:solidFill>
              <a:srgbClr val="E4AFA6"/>
            </a:solidFill>
            <a:ln>
              <a:noFill/>
            </a:ln>
          </p:spPr>
        </p:sp>
        <p:sp>
          <p:nvSpPr>
            <p:cNvPr id="84" name="TextBox 84"/>
            <p:cNvSpPr txBox="1"/>
            <p:nvPr/>
          </p:nvSpPr>
          <p:spPr>
            <a:xfrm>
              <a:off x="5672138" y="5148262"/>
              <a:ext cx="31242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减少项</a:t>
              </a:r>
            </a:p>
          </p:txBody>
        </p:sp>
        <p:sp>
          <p:nvSpPr>
            <p:cNvPr id="85" name="Line 85"/>
            <p:cNvSpPr/>
            <p:nvPr/>
          </p:nvSpPr>
          <p:spPr>
            <a:xfrm>
              <a:off x="6286500" y="5191125"/>
              <a:ext cx="247650" cy="9525"/>
            </a:xfrm>
            <a:custGeom>
              <a:avLst/>
              <a:gdLst/>
              <a:ahLst/>
              <a:cxnLst/>
              <a:rect l="l" t="t" r="r" b="b"/>
              <a:pathLst>
                <a:path w="247650" h="9525">
                  <a:moveTo>
                    <a:pt x="0" y="0"/>
                  </a:moveTo>
                  <a:lnTo>
                    <a:pt x="247650" y="0"/>
                  </a:lnTo>
                </a:path>
              </a:pathLst>
            </a:custGeom>
            <a:noFill/>
            <a:ln w="11430">
              <a:solidFill>
                <a:srgbClr val="8A8A8A"/>
              </a:solidFill>
              <a:custDash>
                <a:ds d="333333" sp="250000"/>
              </a:custDash>
            </a:ln>
          </p:spPr>
        </p:sp>
        <p:sp>
          <p:nvSpPr>
            <p:cNvPr id="86" name="TextBox 86"/>
            <p:cNvSpPr txBox="1"/>
            <p:nvPr/>
          </p:nvSpPr>
          <p:spPr>
            <a:xfrm>
              <a:off x="6586538" y="5148262"/>
              <a:ext cx="31242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累计线</a:t>
              </a:r>
            </a:p>
          </p:txBody>
        </p:sp>
      </p:grpSp>
      <p:grpSp>
        <p:nvGrpSpPr>
          <p:cNvPr id="129" name="card-kpi5"/>
          <p:cNvGrpSpPr/>
          <p:nvPr/>
        </p:nvGrpSpPr>
        <p:grpSpPr>
          <a:xfrm>
            <a:off x="8229600" y="1600200"/>
            <a:ext cx="3581400" cy="3771900"/>
            <a:chOff x="8229600" y="1600200"/>
            <a:chExt cx="3581400" cy="3771900"/>
          </a:xfrm>
        </p:grpSpPr>
        <p:sp>
          <p:nvSpPr>
            <p:cNvPr id="88" name="Rectangle 88"/>
            <p:cNvSpPr/>
            <p:nvPr/>
          </p:nvSpPr>
          <p:spPr>
            <a:xfrm>
              <a:off x="8229600" y="1600200"/>
              <a:ext cx="3581400" cy="3771900"/>
            </a:xfrm>
            <a:prstGeom prst="roundRect">
              <a:avLst>
                <a:gd name="adj" fmla="val 2128"/>
              </a:avLst>
            </a:prstGeom>
            <a:solidFill>
              <a:srgbClr val="FDF6F5"/>
            </a:solidFill>
            <a:ln w="9525">
              <a:solidFill>
                <a:srgbClr val="EDD5D2"/>
              </a:solidFill>
            </a:ln>
          </p:spPr>
        </p:sp>
        <p:sp>
          <p:nvSpPr>
            <p:cNvPr id="89" name="Freeform 89"/>
            <p:cNvSpPr/>
            <p:nvPr/>
          </p:nvSpPr>
          <p:spPr>
            <a:xfrm>
              <a:off x="8239125" y="1609725"/>
              <a:ext cx="3562350" cy="228600"/>
            </a:xfrm>
            <a:custGeom>
              <a:avLst/>
              <a:gdLst/>
              <a:ahLst/>
              <a:cxnLst/>
              <a:rect l="l" t="t" r="r" b="b"/>
              <a:pathLst>
                <a:path w="3562350" h="228600">
                  <a:moveTo>
                    <a:pt x="0" y="228600"/>
                  </a:moveTo>
                  <a:lnTo>
                    <a:pt x="3562350" y="228600"/>
                  </a:lnTo>
                  <a:lnTo>
                    <a:pt x="3562350" y="66675"/>
                  </a:lnTo>
                  <a:cubicBezTo>
                    <a:pt x="3562350" y="29851"/>
                    <a:pt x="3532499" y="0"/>
                    <a:pt x="3495675" y="0"/>
                  </a:cubicBezTo>
                  <a:lnTo>
                    <a:pt x="66675" y="0"/>
                  </a:lnTo>
                  <a:cubicBezTo>
                    <a:pt x="29851" y="0"/>
                    <a:pt x="0" y="29851"/>
                    <a:pt x="0" y="66675"/>
                  </a:cubicBezTo>
                  <a:close/>
                </a:path>
              </a:pathLst>
            </a:custGeom>
            <a:solidFill>
              <a:srgbClr val="A52D12"/>
            </a:solidFill>
            <a:ln>
              <a:noFill/>
            </a:ln>
          </p:spPr>
        </p:sp>
        <p:sp>
          <p:nvSpPr>
            <p:cNvPr id="90" name="TextBox 90"/>
            <p:cNvSpPr txBox="1"/>
            <p:nvPr/>
          </p:nvSpPr>
          <p:spPr>
            <a:xfrm>
              <a:off x="9590913" y="165830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五项关键指标</a:t>
              </a:r>
            </a:p>
          </p:txBody>
        </p:sp>
        <p:sp>
          <p:nvSpPr>
            <p:cNvPr id="91" name="Rectangle 91"/>
            <p:cNvSpPr/>
            <p:nvPr/>
          </p:nvSpPr>
          <p:spPr>
            <a:xfrm>
              <a:off x="8420100" y="2057400"/>
              <a:ext cx="381000" cy="381000"/>
            </a:xfrm>
            <a:prstGeom prst="roundRect">
              <a:avLst>
                <a:gd name="adj" fmla="val 20000"/>
              </a:avLst>
            </a:prstGeom>
            <a:solidFill>
              <a:srgbClr val="F7E9E7"/>
            </a:solidFill>
            <a:ln>
              <a:noFill/>
            </a:ln>
          </p:spPr>
        </p:sp>
        <p:grpSp>
          <p:nvGrpSpPr>
            <p:cNvPr id="94" name="Group 94"/>
            <p:cNvGrpSpPr/>
            <p:nvPr/>
          </p:nvGrpSpPr>
          <p:grpSpPr>
            <a:xfrm>
              <a:off x="8529585" y="2170820"/>
              <a:ext cx="157850" cy="158095"/>
              <a:chOff x="8529585" y="2170820"/>
              <a:chExt cx="157850" cy="158095"/>
            </a:xfrm>
          </p:grpSpPr>
          <p:sp>
            <p:nvSpPr>
              <p:cNvPr id="92" name="Freeform 92"/>
              <p:cNvSpPr/>
              <p:nvPr/>
            </p:nvSpPr>
            <p:spPr>
              <a:xfrm>
                <a:off x="8529585" y="2170820"/>
                <a:ext cx="157850" cy="158095"/>
              </a:xfrm>
              <a:custGeom>
                <a:avLst/>
                <a:gdLst/>
                <a:ahLst/>
                <a:cxnLst/>
                <a:rect l="l" t="t" r="r" b="b"/>
                <a:pathLst>
                  <a:path w="157850" h="158095">
                    <a:moveTo>
                      <a:pt x="63553" y="245"/>
                    </a:moveTo>
                    <a:cubicBezTo>
                      <a:pt x="25746" y="9009"/>
                      <a:pt x="0" y="44060"/>
                      <a:pt x="2944" y="82757"/>
                    </a:cubicBezTo>
                    <a:cubicBezTo>
                      <a:pt x="5888" y="121454"/>
                      <a:pt x="36641" y="152207"/>
                      <a:pt x="75338" y="155151"/>
                    </a:cubicBezTo>
                    <a:cubicBezTo>
                      <a:pt x="114035" y="158095"/>
                      <a:pt x="149086" y="132349"/>
                      <a:pt x="157850" y="94542"/>
                    </a:cubicBezTo>
                    <a:cubicBezTo>
                      <a:pt x="157850" y="89720"/>
                      <a:pt x="153941" y="85811"/>
                      <a:pt x="149119" y="85811"/>
                    </a:cubicBezTo>
                    <a:lnTo>
                      <a:pt x="89746" y="85811"/>
                    </a:lnTo>
                    <a:cubicBezTo>
                      <a:pt x="80102" y="85811"/>
                      <a:pt x="72284" y="77993"/>
                      <a:pt x="72284" y="68349"/>
                    </a:cubicBezTo>
                    <a:lnTo>
                      <a:pt x="72284" y="7230"/>
                    </a:lnTo>
                    <a:cubicBezTo>
                      <a:pt x="72065" y="5140"/>
                      <a:pt x="71018" y="3226"/>
                      <a:pt x="69377" y="1913"/>
                    </a:cubicBezTo>
                    <a:cubicBezTo>
                      <a:pt x="67737" y="601"/>
                      <a:pt x="65639" y="0"/>
                      <a:pt x="63553" y="245"/>
                    </a:cubicBezTo>
                  </a:path>
                </a:pathLst>
              </a:custGeom>
              <a:noFill/>
              <a:ln w="17463">
                <a:solidFill>
                  <a:srgbClr val="A52D12"/>
                </a:solidFill>
              </a:ln>
            </p:spPr>
          </p:sp>
          <p:sp>
            <p:nvSpPr>
              <p:cNvPr id="93" name="Freeform 93"/>
              <p:cNvSpPr/>
              <p:nvPr/>
            </p:nvSpPr>
            <p:spPr>
              <a:xfrm>
                <a:off x="8636794" y="2173684"/>
                <a:ext cx="48022" cy="48022"/>
              </a:xfrm>
              <a:custGeom>
                <a:avLst/>
                <a:gdLst/>
                <a:ahLst/>
                <a:cxnLst/>
                <a:rect l="l" t="t" r="r" b="b"/>
                <a:pathLst>
                  <a:path w="48022" h="48022">
                    <a:moveTo>
                      <a:pt x="0" y="0"/>
                    </a:moveTo>
                    <a:cubicBezTo>
                      <a:pt x="22455" y="7907"/>
                      <a:pt x="40115" y="25567"/>
                      <a:pt x="48022" y="48022"/>
                    </a:cubicBezTo>
                    <a:lnTo>
                      <a:pt x="8731" y="48022"/>
                    </a:lnTo>
                    <a:cubicBezTo>
                      <a:pt x="3909" y="48022"/>
                      <a:pt x="0" y="44113"/>
                      <a:pt x="0" y="39291"/>
                    </a:cubicBezTo>
                    <a:lnTo>
                      <a:pt x="0" y="0"/>
                    </a:lnTo>
                  </a:path>
                </a:pathLst>
              </a:custGeom>
              <a:noFill/>
              <a:ln w="17463">
                <a:solidFill>
                  <a:srgbClr val="A52D12"/>
                </a:solidFill>
              </a:ln>
            </p:spPr>
          </p:sp>
        </p:grpSp>
        <p:sp>
          <p:nvSpPr>
            <p:cNvPr id="95" name="TextBox 95"/>
            <p:cNvSpPr txBox="1"/>
            <p:nvPr/>
          </p:nvSpPr>
          <p:spPr>
            <a:xfrm>
              <a:off x="8948166" y="2191702"/>
              <a:ext cx="369113" cy="205359"/>
            </a:xfrm>
            <a:prstGeom prst="rect">
              <a:avLst/>
            </a:prstGeom>
            <a:noFill/>
            <a:ln>
              <a:noFill/>
            </a:ln>
          </p:spPr>
          <p:txBody>
            <a:bodyPr wrap="none" lIns="0" tIns="0" rIns="0" bIns="0" anchor="t" anchorCtr="0">
              <a:spAutoFit/>
            </a:bodyPr>
            <a:lstStyle/>
            <a:p>
              <a:pPr algn="l"/>
              <a:r>
                <a:rPr lang="en-US" sz="1050" dirty="0">
                  <a:solidFill>
                    <a:srgbClr val="3A3A3A"/>
                  </a:solidFill>
                  <a:latin typeface="+mn-lt"/>
                  <a:ea typeface="+mn-ea"/>
                  <a:cs typeface="+mn-cs"/>
                </a:rPr>
                <a:t>ROA​</a:t>
              </a:r>
            </a:p>
          </p:txBody>
        </p:sp>
        <p:sp>
          <p:nvSpPr>
            <p:cNvPr id="96" name="TextBox 96"/>
            <p:cNvSpPr txBox="1"/>
            <p:nvPr/>
          </p:nvSpPr>
          <p:spPr>
            <a:xfrm>
              <a:off x="10830828" y="2173129"/>
              <a:ext cx="797673" cy="308039"/>
            </a:xfrm>
            <a:prstGeom prst="rect">
              <a:avLst/>
            </a:prstGeom>
            <a:noFill/>
            <a:ln>
              <a:noFill/>
            </a:ln>
          </p:spPr>
          <p:txBody>
            <a:bodyPr wrap="none" lIns="0" tIns="0" rIns="0" bIns="0" anchor="t" anchorCtr="0">
              <a:spAutoFit/>
            </a:bodyPr>
            <a:lstStyle/>
            <a:p>
              <a:pPr algn="r"/>
              <a:r>
                <a:rPr lang="zh-CN" sz="1580" b="1" dirty="0">
                  <a:solidFill>
                    <a:srgbClr val="A52D12"/>
                  </a:solidFill>
                  <a:latin typeface="+mn-lt"/>
                  <a:ea typeface="+mn-ea"/>
                  <a:cs typeface="+mn-cs"/>
                </a:rPr>
                <a:t>0.82%​</a:t>
              </a:r>
            </a:p>
          </p:txBody>
        </p:sp>
        <p:sp>
          <p:nvSpPr>
            <p:cNvPr id="97" name="Line 97"/>
            <p:cNvSpPr/>
            <p:nvPr/>
          </p:nvSpPr>
          <p:spPr>
            <a:xfrm>
              <a:off x="8420100" y="2628900"/>
              <a:ext cx="3200400" cy="9525"/>
            </a:xfrm>
            <a:custGeom>
              <a:avLst/>
              <a:gdLst/>
              <a:ahLst/>
              <a:cxnLst/>
              <a:rect l="l" t="t" r="r" b="b"/>
              <a:pathLst>
                <a:path w="3200400" h="9525">
                  <a:moveTo>
                    <a:pt x="0" y="0"/>
                  </a:moveTo>
                  <a:lnTo>
                    <a:pt x="3200400" y="0"/>
                  </a:lnTo>
                </a:path>
              </a:pathLst>
            </a:custGeom>
            <a:noFill/>
            <a:ln w="9525">
              <a:solidFill>
                <a:srgbClr val="EDD5D2"/>
              </a:solidFill>
            </a:ln>
          </p:spPr>
        </p:sp>
        <p:sp>
          <p:nvSpPr>
            <p:cNvPr id="98" name="Rectangle 98"/>
            <p:cNvSpPr/>
            <p:nvPr/>
          </p:nvSpPr>
          <p:spPr>
            <a:xfrm>
              <a:off x="8420100" y="2762250"/>
              <a:ext cx="381000" cy="381000"/>
            </a:xfrm>
            <a:prstGeom prst="roundRect">
              <a:avLst>
                <a:gd name="adj" fmla="val 20000"/>
              </a:avLst>
            </a:prstGeom>
            <a:solidFill>
              <a:srgbClr val="F7E9E7"/>
            </a:solidFill>
            <a:ln>
              <a:noFill/>
            </a:ln>
          </p:spPr>
        </p:sp>
        <p:grpSp>
          <p:nvGrpSpPr>
            <p:cNvPr id="101" name="Group 101"/>
            <p:cNvGrpSpPr/>
            <p:nvPr/>
          </p:nvGrpSpPr>
          <p:grpSpPr>
            <a:xfrm>
              <a:off x="8532019" y="2909094"/>
              <a:ext cx="157163" cy="87313"/>
              <a:chOff x="8532019" y="2909094"/>
              <a:chExt cx="157163" cy="87313"/>
            </a:xfrm>
          </p:grpSpPr>
          <p:sp>
            <p:nvSpPr>
              <p:cNvPr id="99" name="Freeform 99"/>
              <p:cNvSpPr/>
              <p:nvPr/>
            </p:nvSpPr>
            <p:spPr>
              <a:xfrm>
                <a:off x="8532019" y="2909094"/>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A52D12"/>
                </a:solidFill>
              </a:ln>
            </p:spPr>
          </p:sp>
          <p:sp>
            <p:nvSpPr>
              <p:cNvPr id="100" name="Freeform 100"/>
              <p:cNvSpPr/>
              <p:nvPr/>
            </p:nvSpPr>
            <p:spPr>
              <a:xfrm>
                <a:off x="8628063" y="2909094"/>
                <a:ext cx="61119" cy="61119"/>
              </a:xfrm>
              <a:custGeom>
                <a:avLst/>
                <a:gdLst/>
                <a:ahLst/>
                <a:cxnLst/>
                <a:rect l="l" t="t" r="r" b="b"/>
                <a:pathLst>
                  <a:path w="61119" h="61119">
                    <a:moveTo>
                      <a:pt x="0" y="0"/>
                    </a:moveTo>
                    <a:lnTo>
                      <a:pt x="61119" y="0"/>
                    </a:lnTo>
                    <a:lnTo>
                      <a:pt x="61119" y="61119"/>
                    </a:lnTo>
                  </a:path>
                </a:pathLst>
              </a:custGeom>
              <a:noFill/>
              <a:ln w="17463">
                <a:solidFill>
                  <a:srgbClr val="A52D12"/>
                </a:solidFill>
              </a:ln>
            </p:spPr>
          </p:sp>
        </p:grpSp>
        <p:sp>
          <p:nvSpPr>
            <p:cNvPr id="102" name="TextBox 102"/>
            <p:cNvSpPr txBox="1"/>
            <p:nvPr/>
          </p:nvSpPr>
          <p:spPr>
            <a:xfrm>
              <a:off x="8948166" y="2896552"/>
              <a:ext cx="369113" cy="205359"/>
            </a:xfrm>
            <a:prstGeom prst="rect">
              <a:avLst/>
            </a:prstGeom>
            <a:noFill/>
            <a:ln>
              <a:noFill/>
            </a:ln>
          </p:spPr>
          <p:txBody>
            <a:bodyPr wrap="none" lIns="0" tIns="0" rIns="0" bIns="0" anchor="t" anchorCtr="0">
              <a:spAutoFit/>
            </a:bodyPr>
            <a:lstStyle/>
            <a:p>
              <a:pPr algn="l"/>
              <a:r>
                <a:rPr lang="en-US" sz="1050" dirty="0">
                  <a:solidFill>
                    <a:srgbClr val="3A3A3A"/>
                  </a:solidFill>
                  <a:latin typeface="+mn-lt"/>
                  <a:ea typeface="+mn-ea"/>
                  <a:cs typeface="+mn-cs"/>
                </a:rPr>
                <a:t>ROE​</a:t>
              </a:r>
            </a:p>
          </p:txBody>
        </p:sp>
        <p:sp>
          <p:nvSpPr>
            <p:cNvPr id="103" name="TextBox 103"/>
            <p:cNvSpPr txBox="1"/>
            <p:nvPr/>
          </p:nvSpPr>
          <p:spPr>
            <a:xfrm>
              <a:off x="10830828" y="2877979"/>
              <a:ext cx="797673" cy="308039"/>
            </a:xfrm>
            <a:prstGeom prst="rect">
              <a:avLst/>
            </a:prstGeom>
            <a:noFill/>
            <a:ln>
              <a:noFill/>
            </a:ln>
          </p:spPr>
          <p:txBody>
            <a:bodyPr wrap="none" lIns="0" tIns="0" rIns="0" bIns="0" anchor="t" anchorCtr="0">
              <a:spAutoFit/>
            </a:bodyPr>
            <a:lstStyle/>
            <a:p>
              <a:pPr algn="r"/>
              <a:r>
                <a:rPr lang="zh-CN" sz="1580" b="1" dirty="0">
                  <a:solidFill>
                    <a:srgbClr val="A52D12"/>
                  </a:solidFill>
                  <a:latin typeface="+mn-lt"/>
                  <a:ea typeface="+mn-ea"/>
                  <a:cs typeface="+mn-cs"/>
                </a:rPr>
                <a:t>11.6%​</a:t>
              </a:r>
            </a:p>
          </p:txBody>
        </p:sp>
        <p:sp>
          <p:nvSpPr>
            <p:cNvPr id="104" name="Line 104"/>
            <p:cNvSpPr/>
            <p:nvPr/>
          </p:nvSpPr>
          <p:spPr>
            <a:xfrm>
              <a:off x="8420100" y="3333750"/>
              <a:ext cx="3200400" cy="9525"/>
            </a:xfrm>
            <a:custGeom>
              <a:avLst/>
              <a:gdLst/>
              <a:ahLst/>
              <a:cxnLst/>
              <a:rect l="l" t="t" r="r" b="b"/>
              <a:pathLst>
                <a:path w="3200400" h="9525">
                  <a:moveTo>
                    <a:pt x="0" y="0"/>
                  </a:moveTo>
                  <a:lnTo>
                    <a:pt x="3200400" y="0"/>
                  </a:lnTo>
                </a:path>
              </a:pathLst>
            </a:custGeom>
            <a:noFill/>
            <a:ln w="9525">
              <a:solidFill>
                <a:srgbClr val="EDD5D2"/>
              </a:solidFill>
            </a:ln>
          </p:spPr>
        </p:sp>
        <p:sp>
          <p:nvSpPr>
            <p:cNvPr id="105" name="Rectangle 105"/>
            <p:cNvSpPr/>
            <p:nvPr/>
          </p:nvSpPr>
          <p:spPr>
            <a:xfrm>
              <a:off x="8420100" y="3467100"/>
              <a:ext cx="381000" cy="381000"/>
            </a:xfrm>
            <a:prstGeom prst="roundRect">
              <a:avLst>
                <a:gd name="adj" fmla="val 20000"/>
              </a:avLst>
            </a:prstGeom>
            <a:solidFill>
              <a:srgbClr val="F7E9E7"/>
            </a:solidFill>
            <a:ln>
              <a:noFill/>
            </a:ln>
          </p:spPr>
        </p:sp>
        <p:grpSp>
          <p:nvGrpSpPr>
            <p:cNvPr id="110" name="Group 110"/>
            <p:cNvGrpSpPr/>
            <p:nvPr/>
          </p:nvGrpSpPr>
          <p:grpSpPr>
            <a:xfrm>
              <a:off x="8532019" y="3587750"/>
              <a:ext cx="157163" cy="139701"/>
              <a:chOff x="8532019" y="3587750"/>
              <a:chExt cx="157163" cy="139701"/>
            </a:xfrm>
          </p:grpSpPr>
          <p:sp>
            <p:nvSpPr>
              <p:cNvPr id="106" name="Freeform 106"/>
              <p:cNvSpPr/>
              <p:nvPr/>
            </p:nvSpPr>
            <p:spPr>
              <a:xfrm>
                <a:off x="8532019" y="3613944"/>
                <a:ext cx="157163" cy="9525"/>
              </a:xfrm>
              <a:custGeom>
                <a:avLst/>
                <a:gdLst/>
                <a:ahLst/>
                <a:cxnLst/>
                <a:rect l="l" t="t" r="r" b="b"/>
                <a:pathLst>
                  <a:path w="157163" h="9525">
                    <a:moveTo>
                      <a:pt x="157163" y="0"/>
                    </a:moveTo>
                    <a:lnTo>
                      <a:pt x="0" y="0"/>
                    </a:lnTo>
                  </a:path>
                </a:pathLst>
              </a:custGeom>
              <a:noFill/>
              <a:ln w="17463">
                <a:solidFill>
                  <a:srgbClr val="A52D12"/>
                </a:solidFill>
              </a:ln>
            </p:spPr>
          </p:sp>
          <p:sp>
            <p:nvSpPr>
              <p:cNvPr id="107" name="Freeform 107"/>
              <p:cNvSpPr/>
              <p:nvPr/>
            </p:nvSpPr>
            <p:spPr>
              <a:xfrm>
                <a:off x="8662988" y="3587750"/>
                <a:ext cx="26194" cy="52388"/>
              </a:xfrm>
              <a:custGeom>
                <a:avLst/>
                <a:gdLst/>
                <a:ahLst/>
                <a:cxnLst/>
                <a:rect l="l" t="t" r="r" b="b"/>
                <a:pathLst>
                  <a:path w="26194" h="52388">
                    <a:moveTo>
                      <a:pt x="0" y="52388"/>
                    </a:moveTo>
                    <a:lnTo>
                      <a:pt x="26194" y="26194"/>
                    </a:lnTo>
                    <a:lnTo>
                      <a:pt x="0" y="0"/>
                    </a:lnTo>
                  </a:path>
                </a:pathLst>
              </a:custGeom>
              <a:noFill/>
              <a:ln w="17463">
                <a:solidFill>
                  <a:srgbClr val="A52D12"/>
                </a:solidFill>
              </a:ln>
            </p:spPr>
          </p:sp>
          <p:sp>
            <p:nvSpPr>
              <p:cNvPr id="108" name="Freeform 108"/>
              <p:cNvSpPr/>
              <p:nvPr/>
            </p:nvSpPr>
            <p:spPr>
              <a:xfrm>
                <a:off x="8532019" y="3675063"/>
                <a:ext cx="26194" cy="52388"/>
              </a:xfrm>
              <a:custGeom>
                <a:avLst/>
                <a:gdLst/>
                <a:ahLst/>
                <a:cxnLst/>
                <a:rect l="l" t="t" r="r" b="b"/>
                <a:pathLst>
                  <a:path w="26194" h="52388">
                    <a:moveTo>
                      <a:pt x="26194" y="52388"/>
                    </a:moveTo>
                    <a:lnTo>
                      <a:pt x="0" y="26194"/>
                    </a:lnTo>
                    <a:lnTo>
                      <a:pt x="26194" y="0"/>
                    </a:lnTo>
                  </a:path>
                </a:pathLst>
              </a:custGeom>
              <a:noFill/>
              <a:ln w="17463">
                <a:solidFill>
                  <a:srgbClr val="A52D12"/>
                </a:solidFill>
              </a:ln>
            </p:spPr>
          </p:sp>
          <p:sp>
            <p:nvSpPr>
              <p:cNvPr id="109" name="Freeform 109"/>
              <p:cNvSpPr/>
              <p:nvPr/>
            </p:nvSpPr>
            <p:spPr>
              <a:xfrm>
                <a:off x="8532019" y="3701256"/>
                <a:ext cx="157163" cy="9525"/>
              </a:xfrm>
              <a:custGeom>
                <a:avLst/>
                <a:gdLst/>
                <a:ahLst/>
                <a:cxnLst/>
                <a:rect l="l" t="t" r="r" b="b"/>
                <a:pathLst>
                  <a:path w="157163" h="9525">
                    <a:moveTo>
                      <a:pt x="0" y="0"/>
                    </a:moveTo>
                    <a:lnTo>
                      <a:pt x="157163" y="0"/>
                    </a:lnTo>
                  </a:path>
                </a:pathLst>
              </a:custGeom>
              <a:noFill/>
              <a:ln w="17463">
                <a:solidFill>
                  <a:srgbClr val="A52D12"/>
                </a:solidFill>
              </a:ln>
            </p:spPr>
          </p:sp>
        </p:grpSp>
        <p:sp>
          <p:nvSpPr>
            <p:cNvPr id="111" name="TextBox 111"/>
            <p:cNvSpPr txBox="1"/>
            <p:nvPr/>
          </p:nvSpPr>
          <p:spPr>
            <a:xfrm>
              <a:off x="8948166" y="3601402"/>
              <a:ext cx="434721" cy="205359"/>
            </a:xfrm>
            <a:prstGeom prst="rect">
              <a:avLst/>
            </a:prstGeom>
            <a:noFill/>
            <a:ln>
              <a:noFill/>
            </a:ln>
          </p:spPr>
          <p:txBody>
            <a:bodyPr wrap="none" lIns="0" tIns="0" rIns="0" bIns="0" anchor="t" anchorCtr="0">
              <a:spAutoFit/>
            </a:bodyPr>
            <a:lstStyle/>
            <a:p>
              <a:pPr algn="l"/>
              <a:r>
                <a:rPr lang="zh-CN" sz="1050" dirty="0">
                  <a:solidFill>
                    <a:srgbClr val="3A3A3A"/>
                  </a:solidFill>
                  <a:latin typeface="+mn-lt"/>
                  <a:ea typeface="+mn-ea"/>
                  <a:cs typeface="+mn-cs"/>
                </a:rPr>
                <a:t>净息差</a:t>
              </a:r>
            </a:p>
          </p:txBody>
        </p:sp>
        <p:sp>
          <p:nvSpPr>
            <p:cNvPr id="112" name="TextBox 112"/>
            <p:cNvSpPr txBox="1"/>
            <p:nvPr/>
          </p:nvSpPr>
          <p:spPr>
            <a:xfrm>
              <a:off x="10830828" y="3582829"/>
              <a:ext cx="797673" cy="308039"/>
            </a:xfrm>
            <a:prstGeom prst="rect">
              <a:avLst/>
            </a:prstGeom>
            <a:noFill/>
            <a:ln>
              <a:noFill/>
            </a:ln>
          </p:spPr>
          <p:txBody>
            <a:bodyPr wrap="none" lIns="0" tIns="0" rIns="0" bIns="0" anchor="t" anchorCtr="0">
              <a:spAutoFit/>
            </a:bodyPr>
            <a:lstStyle/>
            <a:p>
              <a:pPr algn="r"/>
              <a:r>
                <a:rPr lang="zh-CN" sz="1580" b="1" dirty="0">
                  <a:solidFill>
                    <a:srgbClr val="A52D12"/>
                  </a:solidFill>
                  <a:latin typeface="+mn-lt"/>
                  <a:ea typeface="+mn-ea"/>
                  <a:cs typeface="+mn-cs"/>
                </a:rPr>
                <a:t>1.72%​</a:t>
              </a:r>
            </a:p>
          </p:txBody>
        </p:sp>
        <p:sp>
          <p:nvSpPr>
            <p:cNvPr id="113" name="Line 113"/>
            <p:cNvSpPr/>
            <p:nvPr/>
          </p:nvSpPr>
          <p:spPr>
            <a:xfrm>
              <a:off x="8420100" y="4038600"/>
              <a:ext cx="3200400" cy="9525"/>
            </a:xfrm>
            <a:custGeom>
              <a:avLst/>
              <a:gdLst/>
              <a:ahLst/>
              <a:cxnLst/>
              <a:rect l="l" t="t" r="r" b="b"/>
              <a:pathLst>
                <a:path w="3200400" h="9525">
                  <a:moveTo>
                    <a:pt x="0" y="0"/>
                  </a:moveTo>
                  <a:lnTo>
                    <a:pt x="3200400" y="0"/>
                  </a:lnTo>
                </a:path>
              </a:pathLst>
            </a:custGeom>
            <a:noFill/>
            <a:ln w="9525">
              <a:solidFill>
                <a:srgbClr val="EDD5D2"/>
              </a:solidFill>
            </a:ln>
          </p:spPr>
        </p:sp>
        <p:sp>
          <p:nvSpPr>
            <p:cNvPr id="114" name="Rectangle 114"/>
            <p:cNvSpPr/>
            <p:nvPr/>
          </p:nvSpPr>
          <p:spPr>
            <a:xfrm>
              <a:off x="8420100" y="4171950"/>
              <a:ext cx="381000" cy="381000"/>
            </a:xfrm>
            <a:prstGeom prst="roundRect">
              <a:avLst>
                <a:gd name="adj" fmla="val 20000"/>
              </a:avLst>
            </a:prstGeom>
            <a:solidFill>
              <a:srgbClr val="F7E9E7"/>
            </a:solidFill>
            <a:ln>
              <a:noFill/>
            </a:ln>
          </p:spPr>
        </p:sp>
        <p:grpSp>
          <p:nvGrpSpPr>
            <p:cNvPr id="119" name="Group 119"/>
            <p:cNvGrpSpPr/>
            <p:nvPr/>
          </p:nvGrpSpPr>
          <p:grpSpPr>
            <a:xfrm>
              <a:off x="8549481" y="4283869"/>
              <a:ext cx="122238" cy="157162"/>
              <a:chOff x="8549481" y="4283869"/>
              <a:chExt cx="122238" cy="157162"/>
            </a:xfrm>
          </p:grpSpPr>
          <p:sp>
            <p:nvSpPr>
              <p:cNvPr id="115" name="Freeform 115"/>
              <p:cNvSpPr/>
              <p:nvPr/>
            </p:nvSpPr>
            <p:spPr>
              <a:xfrm>
                <a:off x="8549481" y="4301331"/>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rgbClr val="A52D12"/>
                </a:solidFill>
              </a:ln>
            </p:spPr>
          </p:sp>
          <p:sp>
            <p:nvSpPr>
              <p:cNvPr id="116" name="Freeform 116"/>
              <p:cNvSpPr/>
              <p:nvPr/>
            </p:nvSpPr>
            <p:spPr>
              <a:xfrm>
                <a:off x="8584406" y="4283869"/>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rgbClr val="A52D12"/>
                </a:solidFill>
              </a:ln>
            </p:spPr>
          </p:sp>
          <p:sp>
            <p:nvSpPr>
              <p:cNvPr id="117" name="Freeform 117"/>
              <p:cNvSpPr/>
              <p:nvPr/>
            </p:nvSpPr>
            <p:spPr>
              <a:xfrm>
                <a:off x="8593138" y="4353719"/>
                <a:ext cx="34925" cy="52388"/>
              </a:xfrm>
              <a:custGeom>
                <a:avLst/>
                <a:gdLst/>
                <a:ahLst/>
                <a:cxnLst/>
                <a:rect l="l" t="t" r="r" b="b"/>
                <a:pathLst>
                  <a:path w="34925" h="52388">
                    <a:moveTo>
                      <a:pt x="34925" y="0"/>
                    </a:moveTo>
                    <a:lnTo>
                      <a:pt x="13097" y="0"/>
                    </a:lnTo>
                    <a:cubicBezTo>
                      <a:pt x="5864" y="0"/>
                      <a:pt x="0" y="5864"/>
                      <a:pt x="0" y="13097"/>
                    </a:cubicBezTo>
                    <a:cubicBezTo>
                      <a:pt x="0" y="20330"/>
                      <a:pt x="5864" y="26194"/>
                      <a:pt x="13097" y="26194"/>
                    </a:cubicBezTo>
                    <a:lnTo>
                      <a:pt x="21828" y="26194"/>
                    </a:lnTo>
                    <a:cubicBezTo>
                      <a:pt x="29061" y="26194"/>
                      <a:pt x="34925" y="32057"/>
                      <a:pt x="34925" y="39291"/>
                    </a:cubicBezTo>
                    <a:cubicBezTo>
                      <a:pt x="34925" y="46524"/>
                      <a:pt x="29061" y="52388"/>
                      <a:pt x="21828" y="52388"/>
                    </a:cubicBezTo>
                    <a:lnTo>
                      <a:pt x="0" y="52388"/>
                    </a:lnTo>
                  </a:path>
                </a:pathLst>
              </a:custGeom>
              <a:noFill/>
              <a:ln w="17463">
                <a:solidFill>
                  <a:srgbClr val="A52D12"/>
                </a:solidFill>
              </a:ln>
            </p:spPr>
          </p:sp>
          <p:sp>
            <p:nvSpPr>
              <p:cNvPr id="118" name="Freeform 118"/>
              <p:cNvSpPr/>
              <p:nvPr/>
            </p:nvSpPr>
            <p:spPr>
              <a:xfrm>
                <a:off x="8610600" y="4344988"/>
                <a:ext cx="9525" cy="69850"/>
              </a:xfrm>
              <a:custGeom>
                <a:avLst/>
                <a:gdLst/>
                <a:ahLst/>
                <a:cxnLst/>
                <a:rect l="l" t="t" r="r" b="b"/>
                <a:pathLst>
                  <a:path w="9525" h="69850">
                    <a:moveTo>
                      <a:pt x="0" y="61119"/>
                    </a:moveTo>
                    <a:lnTo>
                      <a:pt x="0" y="69850"/>
                    </a:lnTo>
                    <a:moveTo>
                      <a:pt x="0" y="0"/>
                    </a:moveTo>
                    <a:lnTo>
                      <a:pt x="0" y="8731"/>
                    </a:lnTo>
                  </a:path>
                </a:pathLst>
              </a:custGeom>
              <a:noFill/>
              <a:ln w="17463">
                <a:solidFill>
                  <a:srgbClr val="A52D12"/>
                </a:solidFill>
              </a:ln>
            </p:spPr>
          </p:sp>
        </p:grpSp>
        <p:sp>
          <p:nvSpPr>
            <p:cNvPr id="120" name="TextBox 120"/>
            <p:cNvSpPr txBox="1"/>
            <p:nvPr/>
          </p:nvSpPr>
          <p:spPr>
            <a:xfrm>
              <a:off x="8948166" y="4306252"/>
              <a:ext cx="717423" cy="205359"/>
            </a:xfrm>
            <a:prstGeom prst="rect">
              <a:avLst/>
            </a:prstGeom>
            <a:noFill/>
            <a:ln>
              <a:noFill/>
            </a:ln>
          </p:spPr>
          <p:txBody>
            <a:bodyPr wrap="none" lIns="0" tIns="0" rIns="0" bIns="0" anchor="t" anchorCtr="0">
              <a:spAutoFit/>
            </a:bodyPr>
            <a:lstStyle/>
            <a:p>
              <a:pPr algn="l"/>
              <a:r>
                <a:rPr lang="zh-CN" sz="1050" dirty="0">
                  <a:solidFill>
                    <a:srgbClr val="3A3A3A"/>
                  </a:solidFill>
                  <a:latin typeface="+mn-lt"/>
                  <a:ea typeface="+mn-ea"/>
                  <a:cs typeface="+mn-cs"/>
                </a:rPr>
                <a:t>成本收入比</a:t>
              </a:r>
            </a:p>
          </p:txBody>
        </p:sp>
        <p:sp>
          <p:nvSpPr>
            <p:cNvPr id="121" name="TextBox 121"/>
            <p:cNvSpPr txBox="1"/>
            <p:nvPr/>
          </p:nvSpPr>
          <p:spPr>
            <a:xfrm>
              <a:off x="10830828" y="4287679"/>
              <a:ext cx="797673" cy="308039"/>
            </a:xfrm>
            <a:prstGeom prst="rect">
              <a:avLst/>
            </a:prstGeom>
            <a:noFill/>
            <a:ln>
              <a:noFill/>
            </a:ln>
          </p:spPr>
          <p:txBody>
            <a:bodyPr wrap="none" lIns="0" tIns="0" rIns="0" bIns="0" anchor="t" anchorCtr="0">
              <a:spAutoFit/>
            </a:bodyPr>
            <a:lstStyle/>
            <a:p>
              <a:pPr algn="r"/>
              <a:r>
                <a:rPr lang="zh-CN" sz="1580" b="1" dirty="0">
                  <a:solidFill>
                    <a:srgbClr val="A52D12"/>
                  </a:solidFill>
                  <a:latin typeface="+mn-lt"/>
                  <a:ea typeface="+mn-ea"/>
                  <a:cs typeface="+mn-cs"/>
                </a:rPr>
                <a:t>27.8%​</a:t>
              </a:r>
            </a:p>
          </p:txBody>
        </p:sp>
        <p:sp>
          <p:nvSpPr>
            <p:cNvPr id="122" name="Line 122"/>
            <p:cNvSpPr/>
            <p:nvPr/>
          </p:nvSpPr>
          <p:spPr>
            <a:xfrm>
              <a:off x="8420100" y="4743450"/>
              <a:ext cx="3200400" cy="9525"/>
            </a:xfrm>
            <a:custGeom>
              <a:avLst/>
              <a:gdLst/>
              <a:ahLst/>
              <a:cxnLst/>
              <a:rect l="l" t="t" r="r" b="b"/>
              <a:pathLst>
                <a:path w="3200400" h="9525">
                  <a:moveTo>
                    <a:pt x="0" y="0"/>
                  </a:moveTo>
                  <a:lnTo>
                    <a:pt x="3200400" y="0"/>
                  </a:lnTo>
                </a:path>
              </a:pathLst>
            </a:custGeom>
            <a:noFill/>
            <a:ln w="9525">
              <a:solidFill>
                <a:srgbClr val="EDD5D2"/>
              </a:solidFill>
            </a:ln>
          </p:spPr>
        </p:sp>
        <p:sp>
          <p:nvSpPr>
            <p:cNvPr id="123" name="Rectangle 123"/>
            <p:cNvSpPr/>
            <p:nvPr/>
          </p:nvSpPr>
          <p:spPr>
            <a:xfrm>
              <a:off x="8420100" y="4876800"/>
              <a:ext cx="381000" cy="381000"/>
            </a:xfrm>
            <a:prstGeom prst="roundRect">
              <a:avLst>
                <a:gd name="adj" fmla="val 20000"/>
              </a:avLst>
            </a:prstGeom>
            <a:solidFill>
              <a:srgbClr val="F7E9E7"/>
            </a:solidFill>
            <a:ln>
              <a:noFill/>
            </a:ln>
          </p:spPr>
        </p:sp>
        <p:grpSp>
          <p:nvGrpSpPr>
            <p:cNvPr id="126" name="Group 126"/>
            <p:cNvGrpSpPr/>
            <p:nvPr/>
          </p:nvGrpSpPr>
          <p:grpSpPr>
            <a:xfrm>
              <a:off x="8520235" y="4988719"/>
              <a:ext cx="170506" cy="157162"/>
              <a:chOff x="8520235" y="4988719"/>
              <a:chExt cx="170506" cy="157162"/>
            </a:xfrm>
          </p:grpSpPr>
          <p:sp>
            <p:nvSpPr>
              <p:cNvPr id="124" name="Freeform 124"/>
              <p:cNvSpPr/>
              <p:nvPr/>
            </p:nvSpPr>
            <p:spPr>
              <a:xfrm>
                <a:off x="8520235" y="498871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A52D12"/>
                </a:solidFill>
              </a:ln>
            </p:spPr>
          </p:sp>
          <p:sp>
            <p:nvSpPr>
              <p:cNvPr id="125" name="Freeform 125"/>
              <p:cNvSpPr/>
              <p:nvPr/>
            </p:nvSpPr>
            <p:spPr>
              <a:xfrm>
                <a:off x="8636794" y="5110956"/>
                <a:ext cx="52388" cy="34925"/>
              </a:xfrm>
              <a:custGeom>
                <a:avLst/>
                <a:gdLst/>
                <a:ahLst/>
                <a:cxnLst/>
                <a:rect l="l" t="t" r="r" b="b"/>
                <a:pathLst>
                  <a:path w="52388" h="34925">
                    <a:moveTo>
                      <a:pt x="0" y="17463"/>
                    </a:moveTo>
                    <a:lnTo>
                      <a:pt x="17463" y="34925"/>
                    </a:lnTo>
                    <a:lnTo>
                      <a:pt x="52388" y="0"/>
                    </a:lnTo>
                  </a:path>
                </a:pathLst>
              </a:custGeom>
              <a:noFill/>
              <a:ln w="17463">
                <a:solidFill>
                  <a:srgbClr val="A52D12"/>
                </a:solidFill>
              </a:ln>
            </p:spPr>
          </p:sp>
        </p:grpSp>
        <p:sp>
          <p:nvSpPr>
            <p:cNvPr id="127" name="TextBox 127"/>
            <p:cNvSpPr txBox="1"/>
            <p:nvPr/>
          </p:nvSpPr>
          <p:spPr>
            <a:xfrm>
              <a:off x="8948166" y="5011102"/>
              <a:ext cx="717423" cy="205359"/>
            </a:xfrm>
            <a:prstGeom prst="rect">
              <a:avLst/>
            </a:prstGeom>
            <a:noFill/>
            <a:ln>
              <a:noFill/>
            </a:ln>
          </p:spPr>
          <p:txBody>
            <a:bodyPr wrap="none" lIns="0" tIns="0" rIns="0" bIns="0" anchor="t" anchorCtr="0">
              <a:spAutoFit/>
            </a:bodyPr>
            <a:lstStyle/>
            <a:p>
              <a:pPr algn="l"/>
              <a:r>
                <a:rPr lang="zh-CN" sz="1050" dirty="0">
                  <a:solidFill>
                    <a:srgbClr val="3A3A3A"/>
                  </a:solidFill>
                  <a:latin typeface="+mn-lt"/>
                  <a:ea typeface="+mn-ea"/>
                  <a:cs typeface="+mn-cs"/>
                </a:rPr>
                <a:t>资本充足率</a:t>
              </a:r>
            </a:p>
          </p:txBody>
        </p:sp>
        <p:sp>
          <p:nvSpPr>
            <p:cNvPr id="128" name="TextBox 128"/>
            <p:cNvSpPr txBox="1"/>
            <p:nvPr/>
          </p:nvSpPr>
          <p:spPr>
            <a:xfrm>
              <a:off x="10830828" y="4992529"/>
              <a:ext cx="797673" cy="308039"/>
            </a:xfrm>
            <a:prstGeom prst="rect">
              <a:avLst/>
            </a:prstGeom>
            <a:noFill/>
            <a:ln>
              <a:noFill/>
            </a:ln>
          </p:spPr>
          <p:txBody>
            <a:bodyPr wrap="none" lIns="0" tIns="0" rIns="0" bIns="0" anchor="t" anchorCtr="0">
              <a:spAutoFit/>
            </a:bodyPr>
            <a:lstStyle/>
            <a:p>
              <a:pPr algn="r"/>
              <a:r>
                <a:rPr lang="zh-CN" sz="1580" b="1" dirty="0">
                  <a:solidFill>
                    <a:srgbClr val="A52D12"/>
                  </a:solidFill>
                  <a:latin typeface="+mn-lt"/>
                  <a:ea typeface="+mn-ea"/>
                  <a:cs typeface="+mn-cs"/>
                </a:rPr>
                <a:t>14.9%​</a:t>
              </a:r>
            </a:p>
          </p:txBody>
        </p:sp>
      </p:grpSp>
      <p:grpSp>
        <p:nvGrpSpPr>
          <p:cNvPr id="138" name="conclusion"/>
          <p:cNvGrpSpPr/>
          <p:nvPr/>
        </p:nvGrpSpPr>
        <p:grpSpPr>
          <a:xfrm>
            <a:off x="381000" y="5600700"/>
            <a:ext cx="11430000" cy="838200"/>
            <a:chOff x="381000" y="5600700"/>
            <a:chExt cx="11430000" cy="838200"/>
          </a:xfrm>
        </p:grpSpPr>
        <p:sp>
          <p:nvSpPr>
            <p:cNvPr id="130" name="Rectangle 130"/>
            <p:cNvSpPr/>
            <p:nvPr/>
          </p:nvSpPr>
          <p:spPr>
            <a:xfrm>
              <a:off x="381000" y="5600700"/>
              <a:ext cx="11430000" cy="838200"/>
            </a:xfrm>
            <a:prstGeom prst="roundRect">
              <a:avLst>
                <a:gd name="adj" fmla="val 11364"/>
              </a:avLst>
            </a:prstGeom>
            <a:solidFill>
              <a:srgbClr val="FBEFEE"/>
            </a:solidFill>
            <a:ln w="9525">
              <a:solidFill>
                <a:srgbClr val="EDD5D2"/>
              </a:solidFill>
            </a:ln>
          </p:spPr>
        </p:sp>
        <p:sp>
          <p:nvSpPr>
            <p:cNvPr id="131" name="Rectangle 131"/>
            <p:cNvSpPr/>
            <p:nvPr/>
          </p:nvSpPr>
          <p:spPr>
            <a:xfrm>
              <a:off x="628650" y="5772150"/>
              <a:ext cx="419100" cy="419100"/>
            </a:xfrm>
            <a:prstGeom prst="roundRect">
              <a:avLst>
                <a:gd name="adj" fmla="val 50000"/>
              </a:avLst>
            </a:prstGeom>
            <a:solidFill>
              <a:srgbClr val="A52D12"/>
            </a:solidFill>
            <a:ln>
              <a:noFill/>
            </a:ln>
          </p:spPr>
        </p:sp>
        <p:grpSp>
          <p:nvGrpSpPr>
            <p:cNvPr id="136" name="Group 136"/>
            <p:cNvGrpSpPr/>
            <p:nvPr/>
          </p:nvGrpSpPr>
          <p:grpSpPr>
            <a:xfrm>
              <a:off x="771525" y="5915025"/>
              <a:ext cx="142875" cy="161925"/>
              <a:chOff x="771525" y="5915025"/>
              <a:chExt cx="142875" cy="161925"/>
            </a:xfrm>
          </p:grpSpPr>
          <p:sp>
            <p:nvSpPr>
              <p:cNvPr id="132" name="Freeform 132"/>
              <p:cNvSpPr/>
              <p:nvPr/>
            </p:nvSpPr>
            <p:spPr>
              <a:xfrm>
                <a:off x="771525" y="5915025"/>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FFFFFF"/>
                </a:solidFill>
              </a:ln>
            </p:spPr>
          </p:sp>
          <p:sp>
            <p:nvSpPr>
              <p:cNvPr id="133" name="Freeform 133"/>
              <p:cNvSpPr/>
              <p:nvPr/>
            </p:nvSpPr>
            <p:spPr>
              <a:xfrm>
                <a:off x="857250" y="6038850"/>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sp>
            <p:nvSpPr>
              <p:cNvPr id="134" name="Freeform 134"/>
              <p:cNvSpPr/>
              <p:nvPr/>
            </p:nvSpPr>
            <p:spPr>
              <a:xfrm>
                <a:off x="809625" y="5953125"/>
                <a:ext cx="38100" cy="9525"/>
              </a:xfrm>
              <a:custGeom>
                <a:avLst/>
                <a:gdLst/>
                <a:ahLst/>
                <a:cxnLst/>
                <a:rect l="l" t="t" r="r" b="b"/>
                <a:pathLst>
                  <a:path w="38100" h="9525">
                    <a:moveTo>
                      <a:pt x="0" y="0"/>
                    </a:moveTo>
                    <a:lnTo>
                      <a:pt x="38100" y="0"/>
                    </a:lnTo>
                  </a:path>
                </a:pathLst>
              </a:custGeom>
              <a:noFill/>
              <a:ln w="19050">
                <a:solidFill>
                  <a:srgbClr val="FFFFFF"/>
                </a:solidFill>
              </a:ln>
            </p:spPr>
          </p:sp>
          <p:sp>
            <p:nvSpPr>
              <p:cNvPr id="135" name="Freeform 135"/>
              <p:cNvSpPr/>
              <p:nvPr/>
            </p:nvSpPr>
            <p:spPr>
              <a:xfrm>
                <a:off x="809625" y="5991225"/>
                <a:ext cx="19050" cy="9525"/>
              </a:xfrm>
              <a:custGeom>
                <a:avLst/>
                <a:gdLst/>
                <a:ahLst/>
                <a:cxnLst/>
                <a:rect l="l" t="t" r="r" b="b"/>
                <a:pathLst>
                  <a:path w="19050" h="9525">
                    <a:moveTo>
                      <a:pt x="0" y="0"/>
                    </a:moveTo>
                    <a:lnTo>
                      <a:pt x="19050" y="0"/>
                    </a:lnTo>
                  </a:path>
                </a:pathLst>
              </a:custGeom>
              <a:noFill/>
              <a:ln w="19050">
                <a:solidFill>
                  <a:srgbClr val="FFFFFF"/>
                </a:solidFill>
              </a:ln>
            </p:spPr>
          </p:sp>
        </p:grpSp>
        <p:sp>
          <p:nvSpPr>
            <p:cNvPr id="137" name="TextBox 137"/>
            <p:cNvSpPr txBox="1"/>
            <p:nvPr/>
          </p:nvSpPr>
          <p:spPr>
            <a:xfrm>
              <a:off x="1251204" y="5966460"/>
              <a:ext cx="3727704" cy="234696"/>
            </a:xfrm>
            <a:prstGeom prst="rect">
              <a:avLst/>
            </a:prstGeom>
            <a:noFill/>
            <a:ln>
              <a:noFill/>
            </a:ln>
          </p:spPr>
          <p:txBody>
            <a:bodyPr wrap="none" lIns="0" tIns="0" rIns="0" bIns="0" anchor="t" anchorCtr="0">
              <a:spAutoFit/>
            </a:bodyPr>
            <a:lstStyle/>
            <a:p>
              <a:pPr algn="l"/>
              <a:r>
                <a:rPr lang="zh-CN" sz="1200" b="1" dirty="0">
                  <a:solidFill>
                    <a:srgbClr val="A52D12"/>
                  </a:solidFill>
                  <a:latin typeface="+mn-lt"/>
                  <a:ea typeface="+mn-ea"/>
                  <a:cs typeface="+mn-cs"/>
                </a:rPr>
                <a:t>结论：</a:t>
              </a:r>
              <a:r>
                <a:rPr lang="zh-CN" sz="1200" dirty="0">
                  <a:solidFill>
                    <a:srgbClr val="3A3A3A"/>
                  </a:solidFill>
                  <a:latin typeface="+mn-lt"/>
                  <a:ea typeface="+mn-ea"/>
                  <a:cs typeface="+mn-cs"/>
                </a:rPr>
                <a:t>从规模驱动转向</a:t>
              </a:r>
              <a:r>
                <a:rPr lang="zh-CN" sz="1200" b="1" dirty="0">
                  <a:solidFill>
                    <a:srgbClr val="A52D12"/>
                  </a:solidFill>
                  <a:latin typeface="+mn-lt"/>
                  <a:ea typeface="+mn-ea"/>
                  <a:cs typeface="+mn-cs"/>
                </a:rPr>
                <a:t>规模、质量、效益均衡驱动</a:t>
              </a:r>
              <a:r>
                <a:rPr lang="zh-CN" sz="1200" dirty="0">
                  <a:solidFill>
                    <a:srgbClr val="3A3A3A"/>
                  </a:solidFill>
                  <a:latin typeface="+mn-lt"/>
                  <a:ea typeface="+mn-ea"/>
                  <a:cs typeface="+mn-cs"/>
                </a:rPr>
                <a:t>。</a:t>
              </a:r>
            </a:p>
          </p:txBody>
        </p:sp>
      </p:gr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04​</a:t>
              </a:r>
            </a:p>
          </p:txBody>
        </p:sp>
        <p:sp>
          <p:nvSpPr>
            <p:cNvPr id="4" name="TextBox 4"/>
            <p:cNvSpPr txBox="1"/>
            <p:nvPr/>
          </p:nvSpPr>
          <p:spPr>
            <a:xfrm>
              <a:off x="942594" y="189548"/>
              <a:ext cx="7231380"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服务实体经济主责主业更加聚焦，</a:t>
              </a:r>
              <a:r>
                <a:rPr lang="zh-CN" sz="1950" b="1" dirty="0">
                  <a:solidFill>
                    <a:srgbClr val="A52D12"/>
                  </a:solidFill>
                  <a:latin typeface="SimSun"/>
                  <a:ea typeface="SimSun"/>
                  <a:cs typeface="SimSun"/>
                </a:rPr>
                <a:t>对公业务压舱石作用增强</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11" name="lead"/>
          <p:cNvGrpSpPr/>
          <p:nvPr/>
        </p:nvGrpSpPr>
        <p:grpSpPr>
          <a:xfrm>
            <a:off x="381000" y="723900"/>
            <a:ext cx="9445056" cy="742950"/>
            <a:chOff x="381000" y="723900"/>
            <a:chExt cx="9445056" cy="742950"/>
          </a:xfrm>
        </p:grpSpPr>
        <p:sp>
          <p:nvSpPr>
            <p:cNvPr id="7" name="Rectangle 7"/>
            <p:cNvSpPr/>
            <p:nvPr/>
          </p:nvSpPr>
          <p:spPr>
            <a:xfrm>
              <a:off x="381000" y="723900"/>
              <a:ext cx="38100" cy="742950"/>
            </a:xfrm>
            <a:prstGeom prst="rect">
              <a:avLst/>
            </a:prstGeom>
            <a:solidFill>
              <a:srgbClr val="A52D12"/>
            </a:solidFill>
            <a:ln>
              <a:noFill/>
            </a:ln>
          </p:spPr>
        </p:sp>
        <p:sp>
          <p:nvSpPr>
            <p:cNvPr id="8" name="TextBox 8"/>
            <p:cNvSpPr txBox="1"/>
            <p:nvPr/>
          </p:nvSpPr>
          <p:spPr>
            <a:xfrm>
              <a:off x="528447" y="751999"/>
              <a:ext cx="9297609"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对公贷款余额6800亿元，较年初+9.1%；对公存款余额7600亿元，较年初+7.3%；有效对公客户42.6万户，新增3.8万户；对公中收18.7亿元，同比+11.2%。​</a:t>
              </a:r>
            </a:p>
          </p:txBody>
        </p:sp>
        <p:sp>
          <p:nvSpPr>
            <p:cNvPr id="9" name="TextBox 9"/>
            <p:cNvSpPr txBox="1"/>
            <p:nvPr/>
          </p:nvSpPr>
          <p:spPr>
            <a:xfrm>
              <a:off x="528447" y="980599"/>
              <a:ext cx="9066736" cy="190690"/>
            </a:xfrm>
            <a:prstGeom prst="rect">
              <a:avLst/>
            </a:prstGeom>
            <a:noFill/>
            <a:ln>
              <a:noFill/>
            </a:ln>
          </p:spPr>
          <p:txBody>
            <a:bodyPr wrap="none" lIns="0" tIns="0" rIns="0" bIns="0" anchor="t" anchorCtr="0">
              <a:spAutoFit/>
            </a:bodyPr>
            <a:lstStyle/>
            <a:p>
              <a:pPr algn="l"/>
              <a:r>
                <a:rPr lang="zh-CN" sz="980" b="1" dirty="0">
                  <a:solidFill>
                    <a:srgbClr val="A52D12"/>
                  </a:solidFill>
                  <a:latin typeface="+mn-lt"/>
                  <a:ea typeface="+mn-ea"/>
                  <a:cs typeface="+mn-cs"/>
                </a:rPr>
                <a:t>四个重点领域横向比较：</a:t>
              </a:r>
              <a:r>
                <a:rPr lang="zh-CN" sz="980" dirty="0">
                  <a:solidFill>
                    <a:srgbClr val="3A3A3A"/>
                  </a:solidFill>
                  <a:latin typeface="+mn-lt"/>
                  <a:ea typeface="+mn-ea"/>
                  <a:cs typeface="+mn-cs"/>
                </a:rPr>
                <a:t>制造业贷款+15.8%、科技金融+21.6%、绿色信贷+18.9%、战略新兴产业+17.2%。下方客户分层漏斗：战略客户→重点客户→成长​</a:t>
              </a:r>
            </a:p>
          </p:txBody>
        </p:sp>
        <p:sp>
          <p:nvSpPr>
            <p:cNvPr id="10" name="TextBox 10"/>
            <p:cNvSpPr txBox="1"/>
            <p:nvPr/>
          </p:nvSpPr>
          <p:spPr>
            <a:xfrm>
              <a:off x="528447" y="1209199"/>
              <a:ext cx="4053487"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客户→基础客户，配套“一户一策、综合授信、场景结算、生态经营”。</a:t>
              </a:r>
            </a:p>
          </p:txBody>
        </p:sp>
      </p:grpSp>
      <p:grpSp>
        <p:nvGrpSpPr>
          <p:cNvPr id="55" name="kpi-cards"/>
          <p:cNvGrpSpPr/>
          <p:nvPr/>
        </p:nvGrpSpPr>
        <p:grpSpPr>
          <a:xfrm>
            <a:off x="381000" y="1638300"/>
            <a:ext cx="6572250" cy="1257300"/>
            <a:chOff x="381000" y="1638300"/>
            <a:chExt cx="6572250" cy="1257300"/>
          </a:xfrm>
        </p:grpSpPr>
        <p:sp>
          <p:nvSpPr>
            <p:cNvPr id="12" name="Rectangle 12"/>
            <p:cNvSpPr/>
            <p:nvPr/>
          </p:nvSpPr>
          <p:spPr>
            <a:xfrm>
              <a:off x="381000" y="1638300"/>
              <a:ext cx="1571625" cy="1257300"/>
            </a:xfrm>
            <a:prstGeom prst="roundRect">
              <a:avLst>
                <a:gd name="adj" fmla="val 6061"/>
              </a:avLst>
            </a:prstGeom>
            <a:solidFill>
              <a:srgbClr val="FDF6F5"/>
            </a:solidFill>
            <a:ln w="9525">
              <a:solidFill>
                <a:srgbClr val="EDD5D2"/>
              </a:solidFill>
            </a:ln>
          </p:spPr>
        </p:sp>
        <p:sp>
          <p:nvSpPr>
            <p:cNvPr id="13" name="Ellipse 13"/>
            <p:cNvSpPr/>
            <p:nvPr/>
          </p:nvSpPr>
          <p:spPr>
            <a:xfrm>
              <a:off x="552450" y="1771650"/>
              <a:ext cx="266700" cy="266700"/>
            </a:xfrm>
            <a:prstGeom prst="ellipse">
              <a:avLst/>
            </a:prstGeom>
            <a:solidFill>
              <a:srgbClr val="F7E9E7"/>
            </a:solidFill>
            <a:ln>
              <a:noFill/>
            </a:ln>
          </p:spPr>
        </p:sp>
        <p:grpSp>
          <p:nvGrpSpPr>
            <p:cNvPr id="17" name="Group 17"/>
            <p:cNvGrpSpPr/>
            <p:nvPr/>
          </p:nvGrpSpPr>
          <p:grpSpPr>
            <a:xfrm>
              <a:off x="628650" y="1860550"/>
              <a:ext cx="114300" cy="88900"/>
              <a:chOff x="628650" y="1860550"/>
              <a:chExt cx="114300" cy="88900"/>
            </a:xfrm>
          </p:grpSpPr>
          <p:sp>
            <p:nvSpPr>
              <p:cNvPr id="14" name="Freeform 14"/>
              <p:cNvSpPr/>
              <p:nvPr/>
            </p:nvSpPr>
            <p:spPr>
              <a:xfrm>
                <a:off x="628650" y="1860550"/>
                <a:ext cx="88900" cy="63500"/>
              </a:xfrm>
              <a:custGeom>
                <a:avLst/>
                <a:gdLst/>
                <a:ahLst/>
                <a:cxnLst/>
                <a:rect l="l" t="t" r="r" b="b"/>
                <a:pathLst>
                  <a:path w="88900" h="63500">
                    <a:moveTo>
                      <a:pt x="25400" y="63500"/>
                    </a:moveTo>
                    <a:lnTo>
                      <a:pt x="6350" y="63500"/>
                    </a:lnTo>
                    <a:cubicBezTo>
                      <a:pt x="2843" y="63500"/>
                      <a:pt x="0" y="60657"/>
                      <a:pt x="0" y="57150"/>
                    </a:cubicBezTo>
                    <a:lnTo>
                      <a:pt x="0" y="6350"/>
                    </a:lnTo>
                    <a:cubicBezTo>
                      <a:pt x="0" y="2843"/>
                      <a:pt x="2843" y="0"/>
                      <a:pt x="6350" y="0"/>
                    </a:cubicBezTo>
                    <a:lnTo>
                      <a:pt x="82550" y="0"/>
                    </a:lnTo>
                    <a:cubicBezTo>
                      <a:pt x="86057" y="0"/>
                      <a:pt x="88900" y="2843"/>
                      <a:pt x="88900" y="6350"/>
                    </a:cubicBezTo>
                    <a:lnTo>
                      <a:pt x="88900" y="25400"/>
                    </a:lnTo>
                  </a:path>
                </a:pathLst>
              </a:custGeom>
              <a:noFill/>
              <a:ln w="12700">
                <a:solidFill>
                  <a:srgbClr val="A52D12"/>
                </a:solidFill>
              </a:ln>
            </p:spPr>
          </p:sp>
          <p:sp>
            <p:nvSpPr>
              <p:cNvPr id="15" name="Freeform 15"/>
              <p:cNvSpPr/>
              <p:nvPr/>
            </p:nvSpPr>
            <p:spPr>
              <a:xfrm>
                <a:off x="654050" y="1885950"/>
                <a:ext cx="88900" cy="63500"/>
              </a:xfrm>
              <a:custGeom>
                <a:avLst/>
                <a:gdLst/>
                <a:ahLst/>
                <a:cxnLst/>
                <a:rect l="l" t="t" r="r" b="b"/>
                <a:pathLst>
                  <a:path w="88900" h="63500">
                    <a:moveTo>
                      <a:pt x="0" y="6350"/>
                    </a:moveTo>
                    <a:cubicBezTo>
                      <a:pt x="0" y="2843"/>
                      <a:pt x="2843" y="0"/>
                      <a:pt x="6350" y="0"/>
                    </a:cubicBezTo>
                    <a:lnTo>
                      <a:pt x="82550" y="0"/>
                    </a:lnTo>
                    <a:cubicBezTo>
                      <a:pt x="86057" y="0"/>
                      <a:pt x="88900" y="2843"/>
                      <a:pt x="88900" y="6350"/>
                    </a:cubicBezTo>
                    <a:lnTo>
                      <a:pt x="88900" y="57150"/>
                    </a:lnTo>
                    <a:cubicBezTo>
                      <a:pt x="88900" y="60657"/>
                      <a:pt x="86057" y="63500"/>
                      <a:pt x="82550" y="63500"/>
                    </a:cubicBezTo>
                    <a:lnTo>
                      <a:pt x="6350" y="63500"/>
                    </a:lnTo>
                    <a:cubicBezTo>
                      <a:pt x="2843" y="63500"/>
                      <a:pt x="0" y="60657"/>
                      <a:pt x="0" y="57150"/>
                    </a:cubicBezTo>
                    <a:lnTo>
                      <a:pt x="0" y="6350"/>
                    </a:lnTo>
                  </a:path>
                </a:pathLst>
              </a:custGeom>
              <a:noFill/>
              <a:ln w="12700">
                <a:solidFill>
                  <a:srgbClr val="A52D12"/>
                </a:solidFill>
              </a:ln>
            </p:spPr>
          </p:sp>
          <p:sp>
            <p:nvSpPr>
              <p:cNvPr id="16" name="Freeform 16"/>
              <p:cNvSpPr/>
              <p:nvPr/>
            </p:nvSpPr>
            <p:spPr>
              <a:xfrm>
                <a:off x="685800" y="19050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52D12"/>
                </a:solidFill>
              </a:ln>
            </p:spPr>
          </p:sp>
        </p:grpSp>
        <p:sp>
          <p:nvSpPr>
            <p:cNvPr id="18" name="TextBox 18"/>
            <p:cNvSpPr txBox="1"/>
            <p:nvPr/>
          </p:nvSpPr>
          <p:spPr>
            <a:xfrm>
              <a:off x="890588" y="1855470"/>
              <a:ext cx="73647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对公贷款余额</a:t>
              </a:r>
            </a:p>
          </p:txBody>
        </p:sp>
        <p:sp>
          <p:nvSpPr>
            <p:cNvPr id="19" name="TextBox 19"/>
            <p:cNvSpPr txBox="1"/>
            <p:nvPr/>
          </p:nvSpPr>
          <p:spPr>
            <a:xfrm>
              <a:off x="563118" y="2184082"/>
              <a:ext cx="878921"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6800</a:t>
              </a:r>
              <a:r>
                <a:rPr lang="zh-CN" sz="820" dirty="0">
                  <a:solidFill>
                    <a:srgbClr val="A52D12"/>
                  </a:solidFill>
                  <a:latin typeface="+mn-lt"/>
                  <a:ea typeface="+mn-ea"/>
                  <a:cs typeface="+mn-cs"/>
                </a:rPr>
                <a:t>亿元</a:t>
              </a:r>
              <a:r>
                <a:rPr lang="zh-CN" sz="1650" b="1" dirty="0">
                  <a:solidFill>
                    <a:srgbClr val="A52D12"/>
                  </a:solidFill>
                  <a:latin typeface="+mn-lt"/>
                  <a:ea typeface="+mn-ea"/>
                  <a:cs typeface="+mn-cs"/>
                </a:rPr>
                <a:t>​</a:t>
              </a:r>
            </a:p>
          </p:txBody>
        </p:sp>
        <p:sp>
          <p:nvSpPr>
            <p:cNvPr id="20" name="TextBox 20"/>
            <p:cNvSpPr txBox="1"/>
            <p:nvPr/>
          </p:nvSpPr>
          <p:spPr>
            <a:xfrm>
              <a:off x="566738" y="2596991"/>
              <a:ext cx="874970"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较年初 </a:t>
              </a:r>
              <a:r>
                <a:rPr lang="zh-CN" sz="820" b="1" dirty="0">
                  <a:solidFill>
                    <a:srgbClr val="A52D12"/>
                  </a:solidFill>
                  <a:latin typeface="+mn-lt"/>
                  <a:ea typeface="+mn-ea"/>
                  <a:cs typeface="+mn-cs"/>
                </a:rPr>
                <a:t>+9.1% ↑</a:t>
              </a:r>
              <a:r>
                <a:rPr lang="zh-CN" sz="820" dirty="0">
                  <a:solidFill>
                    <a:srgbClr val="6B6B6B"/>
                  </a:solidFill>
                  <a:latin typeface="+mn-lt"/>
                  <a:ea typeface="+mn-ea"/>
                  <a:cs typeface="+mn-cs"/>
                </a:rPr>
                <a:t>​</a:t>
              </a:r>
            </a:p>
          </p:txBody>
        </p:sp>
        <p:sp>
          <p:nvSpPr>
            <p:cNvPr id="21" name="Rectangle 21"/>
            <p:cNvSpPr/>
            <p:nvPr/>
          </p:nvSpPr>
          <p:spPr>
            <a:xfrm>
              <a:off x="2047875" y="1638300"/>
              <a:ext cx="1571625" cy="1257300"/>
            </a:xfrm>
            <a:prstGeom prst="roundRect">
              <a:avLst>
                <a:gd name="adj" fmla="val 6061"/>
              </a:avLst>
            </a:prstGeom>
            <a:solidFill>
              <a:srgbClr val="FDF6F5"/>
            </a:solidFill>
            <a:ln w="9525">
              <a:solidFill>
                <a:srgbClr val="EDD5D2"/>
              </a:solidFill>
            </a:ln>
          </p:spPr>
        </p:sp>
        <p:sp>
          <p:nvSpPr>
            <p:cNvPr id="22" name="Ellipse 22"/>
            <p:cNvSpPr/>
            <p:nvPr/>
          </p:nvSpPr>
          <p:spPr>
            <a:xfrm>
              <a:off x="2219325" y="1771650"/>
              <a:ext cx="266700" cy="266700"/>
            </a:xfrm>
            <a:prstGeom prst="ellipse">
              <a:avLst/>
            </a:prstGeom>
            <a:solidFill>
              <a:srgbClr val="F7E9E7"/>
            </a:solidFill>
            <a:ln>
              <a:noFill/>
            </a:ln>
          </p:spPr>
        </p:sp>
        <p:grpSp>
          <p:nvGrpSpPr>
            <p:cNvPr id="31" name="Group 31"/>
            <p:cNvGrpSpPr/>
            <p:nvPr/>
          </p:nvGrpSpPr>
          <p:grpSpPr>
            <a:xfrm>
              <a:off x="2295525" y="1847850"/>
              <a:ext cx="117475" cy="123825"/>
              <a:chOff x="2295525" y="1847850"/>
              <a:chExt cx="117475" cy="123825"/>
            </a:xfrm>
          </p:grpSpPr>
          <p:sp>
            <p:nvSpPr>
              <p:cNvPr id="23" name="Freeform 23"/>
              <p:cNvSpPr/>
              <p:nvPr/>
            </p:nvSpPr>
            <p:spPr>
              <a:xfrm>
                <a:off x="2295525" y="1962150"/>
                <a:ext cx="114300" cy="9525"/>
              </a:xfrm>
              <a:custGeom>
                <a:avLst/>
                <a:gdLst/>
                <a:ahLst/>
                <a:cxnLst/>
                <a:rect l="l" t="t" r="r" b="b"/>
                <a:pathLst>
                  <a:path w="114300" h="9525">
                    <a:moveTo>
                      <a:pt x="0" y="0"/>
                    </a:moveTo>
                    <a:lnTo>
                      <a:pt x="114300" y="0"/>
                    </a:lnTo>
                  </a:path>
                </a:pathLst>
              </a:custGeom>
              <a:noFill/>
              <a:ln w="12700">
                <a:solidFill>
                  <a:srgbClr val="A52D12"/>
                </a:solidFill>
              </a:ln>
            </p:spPr>
          </p:sp>
          <p:sp>
            <p:nvSpPr>
              <p:cNvPr id="24" name="Freeform 24"/>
              <p:cNvSpPr/>
              <p:nvPr/>
            </p:nvSpPr>
            <p:spPr>
              <a:xfrm>
                <a:off x="2295525" y="1892300"/>
                <a:ext cx="114300" cy="9525"/>
              </a:xfrm>
              <a:custGeom>
                <a:avLst/>
                <a:gdLst/>
                <a:ahLst/>
                <a:cxnLst/>
                <a:rect l="l" t="t" r="r" b="b"/>
                <a:pathLst>
                  <a:path w="114300" h="9525">
                    <a:moveTo>
                      <a:pt x="0" y="0"/>
                    </a:moveTo>
                    <a:lnTo>
                      <a:pt x="114300" y="0"/>
                    </a:lnTo>
                  </a:path>
                </a:pathLst>
              </a:custGeom>
              <a:noFill/>
              <a:ln w="12700">
                <a:solidFill>
                  <a:srgbClr val="A52D12"/>
                </a:solidFill>
              </a:ln>
            </p:spPr>
          </p:sp>
          <p:sp>
            <p:nvSpPr>
              <p:cNvPr id="25" name="Freeform 25"/>
              <p:cNvSpPr/>
              <p:nvPr/>
            </p:nvSpPr>
            <p:spPr>
              <a:xfrm>
                <a:off x="2308225" y="1847850"/>
                <a:ext cx="88900" cy="19050"/>
              </a:xfrm>
              <a:custGeom>
                <a:avLst/>
                <a:gdLst/>
                <a:ahLst/>
                <a:cxnLst/>
                <a:rect l="l" t="t" r="r" b="b"/>
                <a:pathLst>
                  <a:path w="88900" h="19050">
                    <a:moveTo>
                      <a:pt x="0" y="19050"/>
                    </a:moveTo>
                    <a:lnTo>
                      <a:pt x="44450" y="0"/>
                    </a:lnTo>
                    <a:lnTo>
                      <a:pt x="88900" y="19050"/>
                    </a:lnTo>
                  </a:path>
                </a:pathLst>
              </a:custGeom>
              <a:noFill/>
              <a:ln w="12700">
                <a:solidFill>
                  <a:srgbClr val="A52D12"/>
                </a:solidFill>
              </a:ln>
            </p:spPr>
          </p:sp>
          <p:sp>
            <p:nvSpPr>
              <p:cNvPr id="26" name="Freeform 26"/>
              <p:cNvSpPr/>
              <p:nvPr/>
            </p:nvSpPr>
            <p:spPr>
              <a:xfrm>
                <a:off x="2301875" y="1892300"/>
                <a:ext cx="9525" cy="69850"/>
              </a:xfrm>
              <a:custGeom>
                <a:avLst/>
                <a:gdLst/>
                <a:ahLst/>
                <a:cxnLst/>
                <a:rect l="l" t="t" r="r" b="b"/>
                <a:pathLst>
                  <a:path w="9525" h="69850">
                    <a:moveTo>
                      <a:pt x="0" y="0"/>
                    </a:moveTo>
                    <a:lnTo>
                      <a:pt x="0" y="69850"/>
                    </a:lnTo>
                  </a:path>
                </a:pathLst>
              </a:custGeom>
              <a:noFill/>
              <a:ln w="12700">
                <a:solidFill>
                  <a:srgbClr val="A52D12"/>
                </a:solidFill>
              </a:ln>
            </p:spPr>
          </p:sp>
          <p:sp>
            <p:nvSpPr>
              <p:cNvPr id="27" name="Freeform 27"/>
              <p:cNvSpPr/>
              <p:nvPr/>
            </p:nvSpPr>
            <p:spPr>
              <a:xfrm>
                <a:off x="2403475" y="1892300"/>
                <a:ext cx="9525" cy="69850"/>
              </a:xfrm>
              <a:custGeom>
                <a:avLst/>
                <a:gdLst/>
                <a:ahLst/>
                <a:cxnLst/>
                <a:rect l="l" t="t" r="r" b="b"/>
                <a:pathLst>
                  <a:path w="9525" h="69850">
                    <a:moveTo>
                      <a:pt x="0" y="0"/>
                    </a:moveTo>
                    <a:lnTo>
                      <a:pt x="0" y="69850"/>
                    </a:lnTo>
                  </a:path>
                </a:pathLst>
              </a:custGeom>
              <a:noFill/>
              <a:ln w="12700">
                <a:solidFill>
                  <a:srgbClr val="A52D12"/>
                </a:solidFill>
              </a:ln>
            </p:spPr>
          </p:sp>
          <p:sp>
            <p:nvSpPr>
              <p:cNvPr id="28" name="Freeform 28"/>
              <p:cNvSpPr/>
              <p:nvPr/>
            </p:nvSpPr>
            <p:spPr>
              <a:xfrm>
                <a:off x="2327275" y="1917700"/>
                <a:ext cx="9525" cy="19050"/>
              </a:xfrm>
              <a:custGeom>
                <a:avLst/>
                <a:gdLst/>
                <a:ahLst/>
                <a:cxnLst/>
                <a:rect l="l" t="t" r="r" b="b"/>
                <a:pathLst>
                  <a:path w="9525" h="19050">
                    <a:moveTo>
                      <a:pt x="0" y="0"/>
                    </a:moveTo>
                    <a:lnTo>
                      <a:pt x="0" y="19050"/>
                    </a:lnTo>
                  </a:path>
                </a:pathLst>
              </a:custGeom>
              <a:noFill/>
              <a:ln w="12700">
                <a:solidFill>
                  <a:srgbClr val="A52D12"/>
                </a:solidFill>
              </a:ln>
            </p:spPr>
          </p:sp>
          <p:sp>
            <p:nvSpPr>
              <p:cNvPr id="29" name="Freeform 29"/>
              <p:cNvSpPr/>
              <p:nvPr/>
            </p:nvSpPr>
            <p:spPr>
              <a:xfrm>
                <a:off x="2352675" y="1917700"/>
                <a:ext cx="9525" cy="19050"/>
              </a:xfrm>
              <a:custGeom>
                <a:avLst/>
                <a:gdLst/>
                <a:ahLst/>
                <a:cxnLst/>
                <a:rect l="l" t="t" r="r" b="b"/>
                <a:pathLst>
                  <a:path w="9525" h="19050">
                    <a:moveTo>
                      <a:pt x="0" y="0"/>
                    </a:moveTo>
                    <a:lnTo>
                      <a:pt x="0" y="19050"/>
                    </a:lnTo>
                  </a:path>
                </a:pathLst>
              </a:custGeom>
              <a:noFill/>
              <a:ln w="12700">
                <a:solidFill>
                  <a:srgbClr val="A52D12"/>
                </a:solidFill>
              </a:ln>
            </p:spPr>
          </p:sp>
          <p:sp>
            <p:nvSpPr>
              <p:cNvPr id="30" name="Freeform 30"/>
              <p:cNvSpPr/>
              <p:nvPr/>
            </p:nvSpPr>
            <p:spPr>
              <a:xfrm>
                <a:off x="2378075" y="1917700"/>
                <a:ext cx="9525" cy="19050"/>
              </a:xfrm>
              <a:custGeom>
                <a:avLst/>
                <a:gdLst/>
                <a:ahLst/>
                <a:cxnLst/>
                <a:rect l="l" t="t" r="r" b="b"/>
                <a:pathLst>
                  <a:path w="9525" h="19050">
                    <a:moveTo>
                      <a:pt x="0" y="0"/>
                    </a:moveTo>
                    <a:lnTo>
                      <a:pt x="0" y="19050"/>
                    </a:lnTo>
                  </a:path>
                </a:pathLst>
              </a:custGeom>
              <a:noFill/>
              <a:ln w="12700">
                <a:solidFill>
                  <a:srgbClr val="A52D12"/>
                </a:solidFill>
              </a:ln>
            </p:spPr>
          </p:sp>
        </p:grpSp>
        <p:sp>
          <p:nvSpPr>
            <p:cNvPr id="32" name="TextBox 32"/>
            <p:cNvSpPr txBox="1"/>
            <p:nvPr/>
          </p:nvSpPr>
          <p:spPr>
            <a:xfrm>
              <a:off x="2557462" y="1855470"/>
              <a:ext cx="73647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对公存款余额</a:t>
              </a:r>
            </a:p>
          </p:txBody>
        </p:sp>
        <p:sp>
          <p:nvSpPr>
            <p:cNvPr id="33" name="TextBox 33"/>
            <p:cNvSpPr txBox="1"/>
            <p:nvPr/>
          </p:nvSpPr>
          <p:spPr>
            <a:xfrm>
              <a:off x="2229993" y="2184082"/>
              <a:ext cx="878921"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7600</a:t>
              </a:r>
              <a:r>
                <a:rPr lang="zh-CN" sz="820" dirty="0">
                  <a:solidFill>
                    <a:srgbClr val="A52D12"/>
                  </a:solidFill>
                  <a:latin typeface="+mn-lt"/>
                  <a:ea typeface="+mn-ea"/>
                  <a:cs typeface="+mn-cs"/>
                </a:rPr>
                <a:t>亿元</a:t>
              </a:r>
              <a:r>
                <a:rPr lang="zh-CN" sz="1650" b="1" dirty="0">
                  <a:solidFill>
                    <a:srgbClr val="A52D12"/>
                  </a:solidFill>
                  <a:latin typeface="+mn-lt"/>
                  <a:ea typeface="+mn-ea"/>
                  <a:cs typeface="+mn-cs"/>
                </a:rPr>
                <a:t>​</a:t>
              </a:r>
            </a:p>
          </p:txBody>
        </p:sp>
        <p:sp>
          <p:nvSpPr>
            <p:cNvPr id="34" name="TextBox 34"/>
            <p:cNvSpPr txBox="1"/>
            <p:nvPr/>
          </p:nvSpPr>
          <p:spPr>
            <a:xfrm>
              <a:off x="2233612" y="2596991"/>
              <a:ext cx="874970"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较年初 </a:t>
              </a:r>
              <a:r>
                <a:rPr lang="zh-CN" sz="820" b="1" dirty="0">
                  <a:solidFill>
                    <a:srgbClr val="A52D12"/>
                  </a:solidFill>
                  <a:latin typeface="+mn-lt"/>
                  <a:ea typeface="+mn-ea"/>
                  <a:cs typeface="+mn-cs"/>
                </a:rPr>
                <a:t>+7.3% ↑</a:t>
              </a:r>
              <a:r>
                <a:rPr lang="zh-CN" sz="820" dirty="0">
                  <a:solidFill>
                    <a:srgbClr val="6B6B6B"/>
                  </a:solidFill>
                  <a:latin typeface="+mn-lt"/>
                  <a:ea typeface="+mn-ea"/>
                  <a:cs typeface="+mn-cs"/>
                </a:rPr>
                <a:t>​</a:t>
              </a:r>
            </a:p>
          </p:txBody>
        </p:sp>
        <p:sp>
          <p:nvSpPr>
            <p:cNvPr id="35" name="Rectangle 35"/>
            <p:cNvSpPr/>
            <p:nvPr/>
          </p:nvSpPr>
          <p:spPr>
            <a:xfrm>
              <a:off x="3714750" y="1638300"/>
              <a:ext cx="1571625" cy="1257300"/>
            </a:xfrm>
            <a:prstGeom prst="roundRect">
              <a:avLst>
                <a:gd name="adj" fmla="val 6061"/>
              </a:avLst>
            </a:prstGeom>
            <a:solidFill>
              <a:srgbClr val="FDF6F5"/>
            </a:solidFill>
            <a:ln w="9525">
              <a:solidFill>
                <a:srgbClr val="EDD5D2"/>
              </a:solidFill>
            </a:ln>
          </p:spPr>
        </p:sp>
        <p:sp>
          <p:nvSpPr>
            <p:cNvPr id="36" name="Ellipse 36"/>
            <p:cNvSpPr/>
            <p:nvPr/>
          </p:nvSpPr>
          <p:spPr>
            <a:xfrm>
              <a:off x="3886200" y="1771650"/>
              <a:ext cx="266700" cy="266700"/>
            </a:xfrm>
            <a:prstGeom prst="ellipse">
              <a:avLst/>
            </a:prstGeom>
            <a:solidFill>
              <a:srgbClr val="F7E9E7"/>
            </a:solidFill>
            <a:ln>
              <a:noFill/>
            </a:ln>
          </p:spPr>
        </p:sp>
        <p:grpSp>
          <p:nvGrpSpPr>
            <p:cNvPr id="41" name="Group 41"/>
            <p:cNvGrpSpPr/>
            <p:nvPr/>
          </p:nvGrpSpPr>
          <p:grpSpPr>
            <a:xfrm>
              <a:off x="3962400" y="1847850"/>
              <a:ext cx="114300" cy="114301"/>
              <a:chOff x="3962400" y="1847850"/>
              <a:chExt cx="114300" cy="114301"/>
            </a:xfrm>
          </p:grpSpPr>
          <p:sp>
            <p:nvSpPr>
              <p:cNvPr id="37" name="Freeform 37"/>
              <p:cNvSpPr/>
              <p:nvPr/>
            </p:nvSpPr>
            <p:spPr>
              <a:xfrm>
                <a:off x="3975100" y="18478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52D12"/>
                </a:solidFill>
              </a:ln>
            </p:spPr>
          </p:sp>
          <p:sp>
            <p:nvSpPr>
              <p:cNvPr id="38" name="Freeform 38"/>
              <p:cNvSpPr/>
              <p:nvPr/>
            </p:nvSpPr>
            <p:spPr>
              <a:xfrm>
                <a:off x="3962400" y="19240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A52D12"/>
                </a:solidFill>
              </a:ln>
            </p:spPr>
          </p:sp>
          <p:sp>
            <p:nvSpPr>
              <p:cNvPr id="39" name="Freeform 39"/>
              <p:cNvSpPr/>
              <p:nvPr/>
            </p:nvSpPr>
            <p:spPr>
              <a:xfrm>
                <a:off x="4044950" y="18486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A52D12"/>
                </a:solidFill>
              </a:ln>
            </p:spPr>
          </p:sp>
          <p:sp>
            <p:nvSpPr>
              <p:cNvPr id="40" name="Freeform 40"/>
              <p:cNvSpPr/>
              <p:nvPr/>
            </p:nvSpPr>
            <p:spPr>
              <a:xfrm>
                <a:off x="4057650" y="19250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A52D12"/>
                </a:solidFill>
              </a:ln>
            </p:spPr>
          </p:sp>
        </p:grpSp>
        <p:sp>
          <p:nvSpPr>
            <p:cNvPr id="42" name="TextBox 42"/>
            <p:cNvSpPr txBox="1"/>
            <p:nvPr/>
          </p:nvSpPr>
          <p:spPr>
            <a:xfrm>
              <a:off x="4224338" y="1855470"/>
              <a:ext cx="73647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有效对公客户</a:t>
              </a:r>
            </a:p>
          </p:txBody>
        </p:sp>
        <p:sp>
          <p:nvSpPr>
            <p:cNvPr id="43" name="TextBox 43"/>
            <p:cNvSpPr txBox="1"/>
            <p:nvPr/>
          </p:nvSpPr>
          <p:spPr>
            <a:xfrm>
              <a:off x="3896868" y="2184082"/>
              <a:ext cx="878921"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42.6</a:t>
              </a:r>
              <a:r>
                <a:rPr lang="zh-CN" sz="820" dirty="0">
                  <a:solidFill>
                    <a:srgbClr val="A52D12"/>
                  </a:solidFill>
                  <a:latin typeface="+mn-lt"/>
                  <a:ea typeface="+mn-ea"/>
                  <a:cs typeface="+mn-cs"/>
                </a:rPr>
                <a:t>万户</a:t>
              </a:r>
              <a:r>
                <a:rPr lang="zh-CN" sz="1650" b="1" dirty="0">
                  <a:solidFill>
                    <a:srgbClr val="A52D12"/>
                  </a:solidFill>
                  <a:latin typeface="+mn-lt"/>
                  <a:ea typeface="+mn-ea"/>
                  <a:cs typeface="+mn-cs"/>
                </a:rPr>
                <a:t>​</a:t>
              </a:r>
            </a:p>
          </p:txBody>
        </p:sp>
        <p:sp>
          <p:nvSpPr>
            <p:cNvPr id="44" name="TextBox 44"/>
            <p:cNvSpPr txBox="1"/>
            <p:nvPr/>
          </p:nvSpPr>
          <p:spPr>
            <a:xfrm>
              <a:off x="3900488" y="2596991"/>
              <a:ext cx="834678"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新增 </a:t>
              </a:r>
              <a:r>
                <a:rPr lang="zh-CN" sz="820" b="1" dirty="0">
                  <a:solidFill>
                    <a:srgbClr val="A52D12"/>
                  </a:solidFill>
                  <a:latin typeface="+mn-lt"/>
                  <a:ea typeface="+mn-ea"/>
                  <a:cs typeface="+mn-cs"/>
                </a:rPr>
                <a:t>3.8万户 ↑</a:t>
              </a:r>
              <a:r>
                <a:rPr lang="zh-CN" sz="820" dirty="0">
                  <a:solidFill>
                    <a:srgbClr val="6B6B6B"/>
                  </a:solidFill>
                  <a:latin typeface="+mn-lt"/>
                  <a:ea typeface="+mn-ea"/>
                  <a:cs typeface="+mn-cs"/>
                </a:rPr>
                <a:t>​</a:t>
              </a:r>
            </a:p>
          </p:txBody>
        </p:sp>
        <p:sp>
          <p:nvSpPr>
            <p:cNvPr id="45" name="Rectangle 45"/>
            <p:cNvSpPr/>
            <p:nvPr/>
          </p:nvSpPr>
          <p:spPr>
            <a:xfrm>
              <a:off x="5381625" y="1638300"/>
              <a:ext cx="1571625" cy="1257300"/>
            </a:xfrm>
            <a:prstGeom prst="roundRect">
              <a:avLst>
                <a:gd name="adj" fmla="val 6061"/>
              </a:avLst>
            </a:prstGeom>
            <a:solidFill>
              <a:srgbClr val="FDF6F5"/>
            </a:solidFill>
            <a:ln w="9525">
              <a:solidFill>
                <a:srgbClr val="EDD5D2"/>
              </a:solidFill>
            </a:ln>
          </p:spPr>
        </p:sp>
        <p:sp>
          <p:nvSpPr>
            <p:cNvPr id="46" name="Ellipse 46"/>
            <p:cNvSpPr/>
            <p:nvPr/>
          </p:nvSpPr>
          <p:spPr>
            <a:xfrm>
              <a:off x="5553075" y="1771650"/>
              <a:ext cx="266700" cy="266700"/>
            </a:xfrm>
            <a:prstGeom prst="ellipse">
              <a:avLst/>
            </a:prstGeom>
            <a:solidFill>
              <a:srgbClr val="F7E9E7"/>
            </a:solidFill>
            <a:ln>
              <a:noFill/>
            </a:ln>
          </p:spPr>
        </p:sp>
        <p:grpSp>
          <p:nvGrpSpPr>
            <p:cNvPr id="51" name="Group 51"/>
            <p:cNvGrpSpPr/>
            <p:nvPr/>
          </p:nvGrpSpPr>
          <p:grpSpPr>
            <a:xfrm>
              <a:off x="5641975" y="1847850"/>
              <a:ext cx="88900" cy="114300"/>
              <a:chOff x="5641975" y="1847850"/>
              <a:chExt cx="88900" cy="114300"/>
            </a:xfrm>
          </p:grpSpPr>
          <p:sp>
            <p:nvSpPr>
              <p:cNvPr id="47" name="Freeform 47"/>
              <p:cNvSpPr/>
              <p:nvPr/>
            </p:nvSpPr>
            <p:spPr>
              <a:xfrm>
                <a:off x="5641975" y="1860550"/>
                <a:ext cx="88900" cy="101600"/>
              </a:xfrm>
              <a:custGeom>
                <a:avLst/>
                <a:gdLst/>
                <a:ahLst/>
                <a:cxnLst/>
                <a:rect l="l" t="t" r="r" b="b"/>
                <a:pathLst>
                  <a:path w="88900" h="101600">
                    <a:moveTo>
                      <a:pt x="25400" y="0"/>
                    </a:moveTo>
                    <a:lnTo>
                      <a:pt x="12700" y="0"/>
                    </a:lnTo>
                    <a:cubicBezTo>
                      <a:pt x="5686" y="0"/>
                      <a:pt x="0" y="5686"/>
                      <a:pt x="0" y="12700"/>
                    </a:cubicBezTo>
                    <a:lnTo>
                      <a:pt x="0" y="88900"/>
                    </a:lnTo>
                    <a:cubicBezTo>
                      <a:pt x="0" y="95914"/>
                      <a:pt x="5686" y="101600"/>
                      <a:pt x="12700" y="101600"/>
                    </a:cubicBezTo>
                    <a:lnTo>
                      <a:pt x="76200" y="101600"/>
                    </a:lnTo>
                    <a:cubicBezTo>
                      <a:pt x="83214" y="101600"/>
                      <a:pt x="88900" y="95914"/>
                      <a:pt x="88900" y="88900"/>
                    </a:cubicBezTo>
                    <a:lnTo>
                      <a:pt x="88900" y="12700"/>
                    </a:lnTo>
                    <a:cubicBezTo>
                      <a:pt x="88900" y="5686"/>
                      <a:pt x="83214" y="0"/>
                      <a:pt x="76200" y="0"/>
                    </a:cubicBezTo>
                    <a:lnTo>
                      <a:pt x="63500" y="0"/>
                    </a:lnTo>
                  </a:path>
                </a:pathLst>
              </a:custGeom>
              <a:noFill/>
              <a:ln w="12700">
                <a:solidFill>
                  <a:srgbClr val="A52D12"/>
                </a:solidFill>
              </a:ln>
            </p:spPr>
          </p:sp>
          <p:sp>
            <p:nvSpPr>
              <p:cNvPr id="48" name="Freeform 48"/>
              <p:cNvSpPr/>
              <p:nvPr/>
            </p:nvSpPr>
            <p:spPr>
              <a:xfrm>
                <a:off x="5667375" y="1847850"/>
                <a:ext cx="38100" cy="25400"/>
              </a:xfrm>
              <a:custGeom>
                <a:avLst/>
                <a:gdLst/>
                <a:ahLst/>
                <a:cxnLst/>
                <a:rect l="l" t="t" r="r" b="b"/>
                <a:pathLst>
                  <a:path w="38100" h="25400">
                    <a:moveTo>
                      <a:pt x="0" y="12700"/>
                    </a:moveTo>
                    <a:cubicBezTo>
                      <a:pt x="0" y="5686"/>
                      <a:pt x="5686" y="0"/>
                      <a:pt x="12700" y="0"/>
                    </a:cubicBezTo>
                    <a:lnTo>
                      <a:pt x="25400" y="0"/>
                    </a:lnTo>
                    <a:cubicBezTo>
                      <a:pt x="32414" y="0"/>
                      <a:pt x="38100" y="5686"/>
                      <a:pt x="38100" y="12700"/>
                    </a:cubicBezTo>
                    <a:cubicBezTo>
                      <a:pt x="38100" y="19714"/>
                      <a:pt x="32414" y="25400"/>
                      <a:pt x="25400" y="25400"/>
                    </a:cubicBezTo>
                    <a:lnTo>
                      <a:pt x="12700" y="25400"/>
                    </a:lnTo>
                    <a:cubicBezTo>
                      <a:pt x="5686" y="25400"/>
                      <a:pt x="0" y="19714"/>
                      <a:pt x="0" y="12700"/>
                    </a:cubicBezTo>
                  </a:path>
                </a:pathLst>
              </a:custGeom>
              <a:noFill/>
              <a:ln w="12700">
                <a:solidFill>
                  <a:srgbClr val="A52D12"/>
                </a:solidFill>
              </a:ln>
            </p:spPr>
          </p:sp>
          <p:sp>
            <p:nvSpPr>
              <p:cNvPr id="49" name="Freeform 49"/>
              <p:cNvSpPr/>
              <p:nvPr/>
            </p:nvSpPr>
            <p:spPr>
              <a:xfrm>
                <a:off x="5673725" y="1898650"/>
                <a:ext cx="25400" cy="38100"/>
              </a:xfrm>
              <a:custGeom>
                <a:avLst/>
                <a:gdLst/>
                <a:ahLst/>
                <a:cxnLst/>
                <a:rect l="l" t="t" r="r" b="b"/>
                <a:pathLst>
                  <a:path w="25400" h="38100">
                    <a:moveTo>
                      <a:pt x="25400" y="0"/>
                    </a:moveTo>
                    <a:lnTo>
                      <a:pt x="9525" y="0"/>
                    </a:lnTo>
                    <a:cubicBezTo>
                      <a:pt x="4264" y="0"/>
                      <a:pt x="0" y="4264"/>
                      <a:pt x="0" y="9525"/>
                    </a:cubicBezTo>
                    <a:cubicBezTo>
                      <a:pt x="0" y="14786"/>
                      <a:pt x="4264" y="19050"/>
                      <a:pt x="9525" y="19050"/>
                    </a:cubicBezTo>
                    <a:lnTo>
                      <a:pt x="15875" y="19050"/>
                    </a:lnTo>
                    <a:cubicBezTo>
                      <a:pt x="21136" y="19050"/>
                      <a:pt x="25400" y="23314"/>
                      <a:pt x="25400" y="28575"/>
                    </a:cubicBezTo>
                    <a:cubicBezTo>
                      <a:pt x="25400" y="33836"/>
                      <a:pt x="21136" y="38100"/>
                      <a:pt x="15875" y="38100"/>
                    </a:cubicBezTo>
                    <a:lnTo>
                      <a:pt x="0" y="38100"/>
                    </a:lnTo>
                  </a:path>
                </a:pathLst>
              </a:custGeom>
              <a:noFill/>
              <a:ln w="12700">
                <a:solidFill>
                  <a:srgbClr val="A52D12"/>
                </a:solidFill>
              </a:ln>
            </p:spPr>
          </p:sp>
          <p:sp>
            <p:nvSpPr>
              <p:cNvPr id="50" name="Freeform 50"/>
              <p:cNvSpPr/>
              <p:nvPr/>
            </p:nvSpPr>
            <p:spPr>
              <a:xfrm>
                <a:off x="5686425" y="1892300"/>
                <a:ext cx="9525" cy="50800"/>
              </a:xfrm>
              <a:custGeom>
                <a:avLst/>
                <a:gdLst/>
                <a:ahLst/>
                <a:cxnLst/>
                <a:rect l="l" t="t" r="r" b="b"/>
                <a:pathLst>
                  <a:path w="9525" h="50800">
                    <a:moveTo>
                      <a:pt x="0" y="44450"/>
                    </a:moveTo>
                    <a:lnTo>
                      <a:pt x="0" y="50800"/>
                    </a:lnTo>
                    <a:moveTo>
                      <a:pt x="0" y="0"/>
                    </a:moveTo>
                    <a:lnTo>
                      <a:pt x="0" y="6350"/>
                    </a:lnTo>
                  </a:path>
                </a:pathLst>
              </a:custGeom>
              <a:noFill/>
              <a:ln w="12700">
                <a:solidFill>
                  <a:srgbClr val="A52D12"/>
                </a:solidFill>
              </a:ln>
            </p:spPr>
          </p:sp>
        </p:grpSp>
        <p:sp>
          <p:nvSpPr>
            <p:cNvPr id="52" name="TextBox 52"/>
            <p:cNvSpPr txBox="1"/>
            <p:nvPr/>
          </p:nvSpPr>
          <p:spPr>
            <a:xfrm>
              <a:off x="5891212" y="1855470"/>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对公中收</a:t>
              </a:r>
            </a:p>
          </p:txBody>
        </p:sp>
        <p:sp>
          <p:nvSpPr>
            <p:cNvPr id="53" name="TextBox 53"/>
            <p:cNvSpPr txBox="1"/>
            <p:nvPr/>
          </p:nvSpPr>
          <p:spPr>
            <a:xfrm>
              <a:off x="5563743" y="2184082"/>
              <a:ext cx="878921"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18.7</a:t>
              </a:r>
              <a:r>
                <a:rPr lang="zh-CN" sz="820" dirty="0">
                  <a:solidFill>
                    <a:srgbClr val="A52D12"/>
                  </a:solidFill>
                  <a:latin typeface="+mn-lt"/>
                  <a:ea typeface="+mn-ea"/>
                  <a:cs typeface="+mn-cs"/>
                </a:rPr>
                <a:t>亿元</a:t>
              </a:r>
              <a:r>
                <a:rPr lang="zh-CN" sz="1650" b="1" dirty="0">
                  <a:solidFill>
                    <a:srgbClr val="A52D12"/>
                  </a:solidFill>
                  <a:latin typeface="+mn-lt"/>
                  <a:ea typeface="+mn-ea"/>
                  <a:cs typeface="+mn-cs"/>
                </a:rPr>
                <a:t>​</a:t>
              </a:r>
            </a:p>
          </p:txBody>
        </p:sp>
        <p:sp>
          <p:nvSpPr>
            <p:cNvPr id="54" name="TextBox 54"/>
            <p:cNvSpPr txBox="1"/>
            <p:nvPr/>
          </p:nvSpPr>
          <p:spPr>
            <a:xfrm>
              <a:off x="5567362" y="2596991"/>
              <a:ext cx="828331" cy="161925"/>
            </a:xfrm>
            <a:prstGeom prst="rect">
              <a:avLst/>
            </a:prstGeom>
            <a:noFill/>
            <a:ln>
              <a:noFill/>
            </a:ln>
          </p:spPr>
          <p:txBody>
            <a:bodyPr wrap="none" lIns="0" tIns="0" rIns="0" bIns="0" anchor="t" anchorCtr="0">
              <a:spAutoFit/>
            </a:bodyPr>
            <a:lstStyle/>
            <a:p>
              <a:pPr algn="l"/>
              <a:r>
                <a:rPr lang="zh-CN" sz="820" dirty="0">
                  <a:solidFill>
                    <a:srgbClr val="6B6B6B"/>
                  </a:solidFill>
                  <a:latin typeface="+mn-lt"/>
                  <a:ea typeface="+mn-ea"/>
                  <a:cs typeface="+mn-cs"/>
                </a:rPr>
                <a:t xml:space="preserve">同比 </a:t>
              </a:r>
              <a:r>
                <a:rPr lang="zh-CN" sz="820" b="1" dirty="0">
                  <a:solidFill>
                    <a:srgbClr val="A52D12"/>
                  </a:solidFill>
                  <a:latin typeface="+mn-lt"/>
                  <a:ea typeface="+mn-ea"/>
                  <a:cs typeface="+mn-cs"/>
                </a:rPr>
                <a:t>+11.2% ↑</a:t>
              </a:r>
              <a:r>
                <a:rPr lang="zh-CN" sz="820" dirty="0">
                  <a:solidFill>
                    <a:srgbClr val="6B6B6B"/>
                  </a:solidFill>
                  <a:latin typeface="+mn-lt"/>
                  <a:ea typeface="+mn-ea"/>
                  <a:cs typeface="+mn-cs"/>
                </a:rPr>
                <a:t>​</a:t>
              </a:r>
            </a:p>
          </p:txBody>
        </p:sp>
      </p:grpSp>
      <p:grpSp>
        <p:nvGrpSpPr>
          <p:cNvPr id="71" name="key-areas"/>
          <p:cNvGrpSpPr/>
          <p:nvPr/>
        </p:nvGrpSpPr>
        <p:grpSpPr>
          <a:xfrm>
            <a:off x="7086600" y="1638300"/>
            <a:ext cx="4724400" cy="1311116"/>
            <a:chOff x="7086600" y="1638300"/>
            <a:chExt cx="4724400" cy="1311116"/>
          </a:xfrm>
        </p:grpSpPr>
        <p:sp>
          <p:nvSpPr>
            <p:cNvPr id="56" name="Rectangle 56"/>
            <p:cNvSpPr/>
            <p:nvPr/>
          </p:nvSpPr>
          <p:spPr>
            <a:xfrm>
              <a:off x="7086600" y="1638300"/>
              <a:ext cx="4724400" cy="1257300"/>
            </a:xfrm>
            <a:prstGeom prst="roundRect">
              <a:avLst>
                <a:gd name="adj" fmla="val 6061"/>
              </a:avLst>
            </a:prstGeom>
            <a:solidFill>
              <a:srgbClr val="FDF6F5"/>
            </a:solidFill>
            <a:ln w="9525">
              <a:solidFill>
                <a:srgbClr val="EDD5D2"/>
              </a:solidFill>
            </a:ln>
          </p:spPr>
        </p:sp>
        <p:sp>
          <p:nvSpPr>
            <p:cNvPr id="57" name="Freeform 57"/>
            <p:cNvSpPr/>
            <p:nvPr/>
          </p:nvSpPr>
          <p:spPr>
            <a:xfrm>
              <a:off x="7096125" y="1647825"/>
              <a:ext cx="4705350" cy="228600"/>
            </a:xfrm>
            <a:custGeom>
              <a:avLst/>
              <a:gdLst/>
              <a:ahLst/>
              <a:cxnLst/>
              <a:rect l="l" t="t" r="r" b="b"/>
              <a:pathLst>
                <a:path w="4705350" h="228600">
                  <a:moveTo>
                    <a:pt x="0" y="228600"/>
                  </a:moveTo>
                  <a:lnTo>
                    <a:pt x="4705350" y="228600"/>
                  </a:lnTo>
                  <a:lnTo>
                    <a:pt x="4705350" y="66675"/>
                  </a:lnTo>
                  <a:cubicBezTo>
                    <a:pt x="4705350" y="29851"/>
                    <a:pt x="4675499" y="0"/>
                    <a:pt x="4638675" y="0"/>
                  </a:cubicBezTo>
                  <a:lnTo>
                    <a:pt x="66675" y="0"/>
                  </a:lnTo>
                  <a:cubicBezTo>
                    <a:pt x="29851" y="0"/>
                    <a:pt x="0" y="29851"/>
                    <a:pt x="0" y="66675"/>
                  </a:cubicBezTo>
                  <a:close/>
                </a:path>
              </a:pathLst>
            </a:custGeom>
            <a:solidFill>
              <a:srgbClr val="A52D12"/>
            </a:solidFill>
            <a:ln>
              <a:noFill/>
            </a:ln>
          </p:spPr>
        </p:sp>
        <p:sp>
          <p:nvSpPr>
            <p:cNvPr id="58" name="TextBox 58"/>
            <p:cNvSpPr txBox="1"/>
            <p:nvPr/>
          </p:nvSpPr>
          <p:spPr>
            <a:xfrm>
              <a:off x="8423910" y="1700451"/>
              <a:ext cx="2049780"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四个重点领域贷款增速（较年初）</a:t>
              </a:r>
            </a:p>
          </p:txBody>
        </p:sp>
        <p:sp>
          <p:nvSpPr>
            <p:cNvPr id="59" name="TextBox 59"/>
            <p:cNvSpPr txBox="1"/>
            <p:nvPr/>
          </p:nvSpPr>
          <p:spPr>
            <a:xfrm>
              <a:off x="7253288" y="2044541"/>
              <a:ext cx="561467"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制造业贷款</a:t>
              </a:r>
            </a:p>
          </p:txBody>
        </p:sp>
        <p:sp>
          <p:nvSpPr>
            <p:cNvPr id="60" name="Rectangle 60"/>
            <p:cNvSpPr/>
            <p:nvPr/>
          </p:nvSpPr>
          <p:spPr>
            <a:xfrm>
              <a:off x="8153400" y="2047875"/>
              <a:ext cx="1257300" cy="104775"/>
            </a:xfrm>
            <a:prstGeom prst="rect">
              <a:avLst/>
            </a:prstGeom>
            <a:solidFill>
              <a:srgbClr val="A52D12"/>
            </a:solidFill>
            <a:ln>
              <a:noFill/>
            </a:ln>
          </p:spPr>
        </p:sp>
        <p:sp>
          <p:nvSpPr>
            <p:cNvPr id="61" name="TextBox 61"/>
            <p:cNvSpPr txBox="1"/>
            <p:nvPr/>
          </p:nvSpPr>
          <p:spPr>
            <a:xfrm>
              <a:off x="9482138" y="2044541"/>
              <a:ext cx="478952"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+15.8%​</a:t>
              </a:r>
            </a:p>
          </p:txBody>
        </p:sp>
        <p:sp>
          <p:nvSpPr>
            <p:cNvPr id="62" name="TextBox 62"/>
            <p:cNvSpPr txBox="1"/>
            <p:nvPr/>
          </p:nvSpPr>
          <p:spPr>
            <a:xfrm>
              <a:off x="7253288" y="2292191"/>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科技金融</a:t>
              </a:r>
            </a:p>
          </p:txBody>
        </p:sp>
        <p:sp>
          <p:nvSpPr>
            <p:cNvPr id="63" name="Rectangle 63"/>
            <p:cNvSpPr/>
            <p:nvPr/>
          </p:nvSpPr>
          <p:spPr>
            <a:xfrm>
              <a:off x="8153400" y="2295525"/>
              <a:ext cx="1714500" cy="104775"/>
            </a:xfrm>
            <a:prstGeom prst="rect">
              <a:avLst/>
            </a:prstGeom>
            <a:solidFill>
              <a:srgbClr val="C0412B"/>
            </a:solidFill>
            <a:ln>
              <a:noFill/>
            </a:ln>
          </p:spPr>
        </p:sp>
        <p:sp>
          <p:nvSpPr>
            <p:cNvPr id="64" name="TextBox 64"/>
            <p:cNvSpPr txBox="1"/>
            <p:nvPr/>
          </p:nvSpPr>
          <p:spPr>
            <a:xfrm>
              <a:off x="9939338" y="2292191"/>
              <a:ext cx="478952"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+21.6%​</a:t>
              </a:r>
            </a:p>
          </p:txBody>
        </p:sp>
        <p:sp>
          <p:nvSpPr>
            <p:cNvPr id="65" name="TextBox 65"/>
            <p:cNvSpPr txBox="1"/>
            <p:nvPr/>
          </p:nvSpPr>
          <p:spPr>
            <a:xfrm>
              <a:off x="7253288" y="2539841"/>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绿色信贷</a:t>
              </a:r>
            </a:p>
          </p:txBody>
        </p:sp>
        <p:sp>
          <p:nvSpPr>
            <p:cNvPr id="66" name="Rectangle 66"/>
            <p:cNvSpPr/>
            <p:nvPr/>
          </p:nvSpPr>
          <p:spPr>
            <a:xfrm>
              <a:off x="8153400" y="2543175"/>
              <a:ext cx="1504950" cy="104775"/>
            </a:xfrm>
            <a:prstGeom prst="rect">
              <a:avLst/>
            </a:prstGeom>
            <a:solidFill>
              <a:srgbClr val="A52D12"/>
            </a:solidFill>
            <a:ln>
              <a:noFill/>
            </a:ln>
          </p:spPr>
        </p:sp>
        <p:sp>
          <p:nvSpPr>
            <p:cNvPr id="67" name="TextBox 67"/>
            <p:cNvSpPr txBox="1"/>
            <p:nvPr/>
          </p:nvSpPr>
          <p:spPr>
            <a:xfrm>
              <a:off x="9729788" y="2539841"/>
              <a:ext cx="478952"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+18.9%​</a:t>
              </a:r>
            </a:p>
          </p:txBody>
        </p:sp>
        <p:sp>
          <p:nvSpPr>
            <p:cNvPr id="68" name="TextBox 68"/>
            <p:cNvSpPr txBox="1"/>
            <p:nvPr/>
          </p:nvSpPr>
          <p:spPr>
            <a:xfrm>
              <a:off x="7253288" y="2787491"/>
              <a:ext cx="671855"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战略新兴产业</a:t>
              </a:r>
            </a:p>
          </p:txBody>
        </p:sp>
        <p:sp>
          <p:nvSpPr>
            <p:cNvPr id="69" name="Rectangle 69"/>
            <p:cNvSpPr/>
            <p:nvPr/>
          </p:nvSpPr>
          <p:spPr>
            <a:xfrm>
              <a:off x="8153400" y="2790825"/>
              <a:ext cx="1371600" cy="104775"/>
            </a:xfrm>
            <a:prstGeom prst="rect">
              <a:avLst/>
            </a:prstGeom>
            <a:solidFill>
              <a:srgbClr val="C0412B"/>
            </a:solidFill>
            <a:ln>
              <a:noFill/>
            </a:ln>
          </p:spPr>
        </p:sp>
        <p:sp>
          <p:nvSpPr>
            <p:cNvPr id="70" name="TextBox 70"/>
            <p:cNvSpPr txBox="1"/>
            <p:nvPr/>
          </p:nvSpPr>
          <p:spPr>
            <a:xfrm>
              <a:off x="9596438" y="2787491"/>
              <a:ext cx="478952"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+17.2%​</a:t>
              </a:r>
            </a:p>
          </p:txBody>
        </p:sp>
      </p:grpSp>
      <p:grpSp>
        <p:nvGrpSpPr>
          <p:cNvPr id="111" name="funnel-strategy"/>
          <p:cNvGrpSpPr/>
          <p:nvPr/>
        </p:nvGrpSpPr>
        <p:grpSpPr>
          <a:xfrm>
            <a:off x="381000" y="3048000"/>
            <a:ext cx="5448300" cy="2495550"/>
            <a:chOff x="381000" y="3048000"/>
            <a:chExt cx="5448300" cy="2495550"/>
          </a:xfrm>
        </p:grpSpPr>
        <p:sp>
          <p:nvSpPr>
            <p:cNvPr id="72" name="Rectangle 72"/>
            <p:cNvSpPr/>
            <p:nvPr/>
          </p:nvSpPr>
          <p:spPr>
            <a:xfrm>
              <a:off x="381000" y="3048000"/>
              <a:ext cx="1981200" cy="228600"/>
            </a:xfrm>
            <a:prstGeom prst="rect">
              <a:avLst/>
            </a:prstGeom>
            <a:solidFill>
              <a:srgbClr val="A52D12"/>
            </a:solidFill>
            <a:ln>
              <a:noFill/>
            </a:ln>
          </p:spPr>
        </p:sp>
        <p:sp>
          <p:nvSpPr>
            <p:cNvPr id="73" name="TextBox 73"/>
            <p:cNvSpPr txBox="1"/>
            <p:nvPr/>
          </p:nvSpPr>
          <p:spPr>
            <a:xfrm>
              <a:off x="958558" y="3100626"/>
              <a:ext cx="82608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客户分层漏斗</a:t>
              </a:r>
            </a:p>
          </p:txBody>
        </p:sp>
        <p:sp>
          <p:nvSpPr>
            <p:cNvPr id="74" name="Rectangle 74"/>
            <p:cNvSpPr/>
            <p:nvPr/>
          </p:nvSpPr>
          <p:spPr>
            <a:xfrm>
              <a:off x="2400300" y="3048000"/>
              <a:ext cx="3429000" cy="228600"/>
            </a:xfrm>
            <a:prstGeom prst="rect">
              <a:avLst/>
            </a:prstGeom>
            <a:solidFill>
              <a:srgbClr val="A52D12"/>
            </a:solidFill>
            <a:ln>
              <a:noFill/>
            </a:ln>
          </p:spPr>
        </p:sp>
        <p:sp>
          <p:nvSpPr>
            <p:cNvPr id="75" name="TextBox 75"/>
            <p:cNvSpPr txBox="1"/>
            <p:nvPr/>
          </p:nvSpPr>
          <p:spPr>
            <a:xfrm>
              <a:off x="3701758" y="3100626"/>
              <a:ext cx="82608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配套经营策略</a:t>
              </a:r>
            </a:p>
          </p:txBody>
        </p:sp>
        <p:sp>
          <p:nvSpPr>
            <p:cNvPr id="76" name="Freeform 76"/>
            <p:cNvSpPr/>
            <p:nvPr/>
          </p:nvSpPr>
          <p:spPr>
            <a:xfrm rot="10800000">
              <a:off x="381000" y="3352800"/>
              <a:ext cx="1981200" cy="533400"/>
            </a:xfrm>
            <a:prstGeom prst="trapezoid">
              <a:avLst/>
            </a:prstGeom>
            <a:solidFill>
              <a:srgbClr val="8E240C"/>
            </a:solidFill>
            <a:ln>
              <a:noFill/>
            </a:ln>
          </p:spPr>
        </p:sp>
        <p:sp>
          <p:nvSpPr>
            <p:cNvPr id="77" name="Freeform 77"/>
            <p:cNvSpPr/>
            <p:nvPr/>
          </p:nvSpPr>
          <p:spPr>
            <a:xfrm rot="10800000">
              <a:off x="495300" y="3905250"/>
              <a:ext cx="1752600" cy="533400"/>
            </a:xfrm>
            <a:prstGeom prst="trapezoid">
              <a:avLst/>
            </a:prstGeom>
            <a:solidFill>
              <a:srgbClr val="A52D12"/>
            </a:solidFill>
            <a:ln>
              <a:noFill/>
            </a:ln>
          </p:spPr>
        </p:sp>
        <p:sp>
          <p:nvSpPr>
            <p:cNvPr id="78" name="Freeform 78"/>
            <p:cNvSpPr/>
            <p:nvPr/>
          </p:nvSpPr>
          <p:spPr>
            <a:xfrm rot="10800000">
              <a:off x="609600" y="4457700"/>
              <a:ext cx="1524000" cy="533400"/>
            </a:xfrm>
            <a:prstGeom prst="trapezoid">
              <a:avLst/>
            </a:prstGeom>
            <a:solidFill>
              <a:srgbClr val="C0412B"/>
            </a:solidFill>
            <a:ln>
              <a:noFill/>
            </a:ln>
          </p:spPr>
        </p:sp>
        <p:sp>
          <p:nvSpPr>
            <p:cNvPr id="79" name="Freeform 79"/>
            <p:cNvSpPr/>
            <p:nvPr/>
          </p:nvSpPr>
          <p:spPr>
            <a:xfrm rot="10800000">
              <a:off x="723900" y="5010150"/>
              <a:ext cx="1295400" cy="533400"/>
            </a:xfrm>
            <a:prstGeom prst="trapezoid">
              <a:avLst/>
            </a:prstGeom>
            <a:solidFill>
              <a:srgbClr val="E4AFA6"/>
            </a:solidFill>
            <a:ln>
              <a:noFill/>
            </a:ln>
          </p:spPr>
        </p:sp>
        <p:sp>
          <p:nvSpPr>
            <p:cNvPr id="80" name="TextBox 80"/>
            <p:cNvSpPr txBox="1"/>
            <p:nvPr/>
          </p:nvSpPr>
          <p:spPr>
            <a:xfrm>
              <a:off x="1083564" y="35537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战略客户</a:t>
              </a:r>
            </a:p>
          </p:txBody>
        </p:sp>
        <p:sp>
          <p:nvSpPr>
            <p:cNvPr id="81" name="TextBox 81"/>
            <p:cNvSpPr txBox="1"/>
            <p:nvPr/>
          </p:nvSpPr>
          <p:spPr>
            <a:xfrm>
              <a:off x="1083564" y="41062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重点客户</a:t>
              </a:r>
            </a:p>
          </p:txBody>
        </p:sp>
        <p:sp>
          <p:nvSpPr>
            <p:cNvPr id="82" name="TextBox 82"/>
            <p:cNvSpPr txBox="1"/>
            <p:nvPr/>
          </p:nvSpPr>
          <p:spPr>
            <a:xfrm>
              <a:off x="1083564" y="46586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成长客户</a:t>
              </a:r>
            </a:p>
          </p:txBody>
        </p:sp>
        <p:sp>
          <p:nvSpPr>
            <p:cNvPr id="83" name="TextBox 83"/>
            <p:cNvSpPr txBox="1"/>
            <p:nvPr/>
          </p:nvSpPr>
          <p:spPr>
            <a:xfrm>
              <a:off x="1083564" y="52111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基础客户</a:t>
              </a:r>
            </a:p>
          </p:txBody>
        </p:sp>
        <p:sp>
          <p:nvSpPr>
            <p:cNvPr id="84" name="Ellipse 84"/>
            <p:cNvSpPr/>
            <p:nvPr/>
          </p:nvSpPr>
          <p:spPr>
            <a:xfrm>
              <a:off x="2447925" y="3476625"/>
              <a:ext cx="285750" cy="285750"/>
            </a:xfrm>
            <a:prstGeom prst="ellipse">
              <a:avLst/>
            </a:prstGeom>
            <a:solidFill>
              <a:srgbClr val="FFFFFF"/>
            </a:solidFill>
            <a:ln w="15240">
              <a:solidFill>
                <a:srgbClr val="C9604E"/>
              </a:solidFill>
            </a:ln>
          </p:spPr>
        </p:sp>
        <p:grpSp>
          <p:nvGrpSpPr>
            <p:cNvPr id="88" name="Group 88"/>
            <p:cNvGrpSpPr/>
            <p:nvPr/>
          </p:nvGrpSpPr>
          <p:grpSpPr>
            <a:xfrm>
              <a:off x="2533650" y="3562350"/>
              <a:ext cx="114300" cy="114300"/>
              <a:chOff x="2533650" y="3562350"/>
              <a:chExt cx="114300" cy="114300"/>
            </a:xfrm>
          </p:grpSpPr>
          <p:sp>
            <p:nvSpPr>
              <p:cNvPr id="85" name="Freeform 85"/>
              <p:cNvSpPr/>
              <p:nvPr/>
            </p:nvSpPr>
            <p:spPr>
              <a:xfrm>
                <a:off x="2584450" y="36131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54C3A"/>
                </a:solidFill>
              </a:ln>
            </p:spPr>
          </p:sp>
          <p:sp>
            <p:nvSpPr>
              <p:cNvPr id="86" name="Freeform 86"/>
              <p:cNvSpPr/>
              <p:nvPr/>
            </p:nvSpPr>
            <p:spPr>
              <a:xfrm>
                <a:off x="2559050" y="35877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B54C3A"/>
                </a:solidFill>
              </a:ln>
            </p:spPr>
          </p:sp>
          <p:sp>
            <p:nvSpPr>
              <p:cNvPr id="87" name="Freeform 87"/>
              <p:cNvSpPr/>
              <p:nvPr/>
            </p:nvSpPr>
            <p:spPr>
              <a:xfrm>
                <a:off x="2533650" y="35623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B54C3A"/>
                </a:solidFill>
              </a:ln>
            </p:spPr>
          </p:sp>
        </p:grpSp>
        <p:sp>
          <p:nvSpPr>
            <p:cNvPr id="89" name="TextBox 89"/>
            <p:cNvSpPr txBox="1"/>
            <p:nvPr/>
          </p:nvSpPr>
          <p:spPr>
            <a:xfrm>
              <a:off x="2814256" y="347210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一户一策</a:t>
              </a:r>
            </a:p>
          </p:txBody>
        </p:sp>
        <p:sp>
          <p:nvSpPr>
            <p:cNvPr id="90" name="TextBox 90"/>
            <p:cNvSpPr txBox="1"/>
            <p:nvPr/>
          </p:nvSpPr>
          <p:spPr>
            <a:xfrm>
              <a:off x="2814638" y="3667839"/>
              <a:ext cx="2514063"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定制化服务方案，强化顶层设计，提升综合价值贡献​</a:t>
              </a:r>
            </a:p>
          </p:txBody>
        </p:sp>
        <p:sp>
          <p:nvSpPr>
            <p:cNvPr id="91" name="Ellipse 91"/>
            <p:cNvSpPr/>
            <p:nvPr/>
          </p:nvSpPr>
          <p:spPr>
            <a:xfrm>
              <a:off x="2447925" y="4029075"/>
              <a:ext cx="285750" cy="285750"/>
            </a:xfrm>
            <a:prstGeom prst="ellipse">
              <a:avLst/>
            </a:prstGeom>
            <a:solidFill>
              <a:srgbClr val="FFFFFF"/>
            </a:solidFill>
            <a:ln w="15240">
              <a:solidFill>
                <a:srgbClr val="C9604E"/>
              </a:solidFill>
            </a:ln>
          </p:spPr>
        </p:sp>
        <p:grpSp>
          <p:nvGrpSpPr>
            <p:cNvPr id="94" name="Group 94"/>
            <p:cNvGrpSpPr/>
            <p:nvPr/>
          </p:nvGrpSpPr>
          <p:grpSpPr>
            <a:xfrm>
              <a:off x="2533650" y="4114800"/>
              <a:ext cx="114300" cy="114300"/>
              <a:chOff x="2533650" y="4114800"/>
              <a:chExt cx="114300" cy="114300"/>
            </a:xfrm>
          </p:grpSpPr>
          <p:sp>
            <p:nvSpPr>
              <p:cNvPr id="92" name="Freeform 92"/>
              <p:cNvSpPr/>
              <p:nvPr/>
            </p:nvSpPr>
            <p:spPr>
              <a:xfrm>
                <a:off x="2533650" y="41148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B54C3A"/>
                </a:solidFill>
              </a:ln>
            </p:spPr>
          </p:sp>
          <p:sp>
            <p:nvSpPr>
              <p:cNvPr id="93" name="Freeform 93"/>
              <p:cNvSpPr/>
              <p:nvPr/>
            </p:nvSpPr>
            <p:spPr>
              <a:xfrm>
                <a:off x="2571750" y="4159250"/>
                <a:ext cx="38100" cy="25400"/>
              </a:xfrm>
              <a:custGeom>
                <a:avLst/>
                <a:gdLst/>
                <a:ahLst/>
                <a:cxnLst/>
                <a:rect l="l" t="t" r="r" b="b"/>
                <a:pathLst>
                  <a:path w="38100" h="25400">
                    <a:moveTo>
                      <a:pt x="0" y="12700"/>
                    </a:moveTo>
                    <a:lnTo>
                      <a:pt x="12700" y="25400"/>
                    </a:lnTo>
                    <a:lnTo>
                      <a:pt x="38100" y="0"/>
                    </a:lnTo>
                  </a:path>
                </a:pathLst>
              </a:custGeom>
              <a:noFill/>
              <a:ln w="12700">
                <a:solidFill>
                  <a:srgbClr val="B54C3A"/>
                </a:solidFill>
              </a:ln>
            </p:spPr>
          </p:sp>
        </p:grpSp>
        <p:sp>
          <p:nvSpPr>
            <p:cNvPr id="95" name="TextBox 95"/>
            <p:cNvSpPr txBox="1"/>
            <p:nvPr/>
          </p:nvSpPr>
          <p:spPr>
            <a:xfrm>
              <a:off x="2814256" y="402455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综合授信</a:t>
              </a:r>
            </a:p>
          </p:txBody>
        </p:sp>
        <p:sp>
          <p:nvSpPr>
            <p:cNvPr id="96" name="TextBox 96"/>
            <p:cNvSpPr txBox="1"/>
            <p:nvPr/>
          </p:nvSpPr>
          <p:spPr>
            <a:xfrm>
              <a:off x="2814638" y="4220289"/>
              <a:ext cx="2195013"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全周期、全产品授信支持，满足多元融资需求​</a:t>
              </a:r>
            </a:p>
          </p:txBody>
        </p:sp>
        <p:sp>
          <p:nvSpPr>
            <p:cNvPr id="97" name="Ellipse 97"/>
            <p:cNvSpPr/>
            <p:nvPr/>
          </p:nvSpPr>
          <p:spPr>
            <a:xfrm>
              <a:off x="2447925" y="4581525"/>
              <a:ext cx="285750" cy="285750"/>
            </a:xfrm>
            <a:prstGeom prst="ellipse">
              <a:avLst/>
            </a:prstGeom>
            <a:solidFill>
              <a:srgbClr val="FFFFFF"/>
            </a:solidFill>
            <a:ln w="15240">
              <a:solidFill>
                <a:srgbClr val="C9604E"/>
              </a:solidFill>
            </a:ln>
          </p:spPr>
        </p:sp>
        <p:grpSp>
          <p:nvGrpSpPr>
            <p:cNvPr id="101" name="Group 101"/>
            <p:cNvGrpSpPr/>
            <p:nvPr/>
          </p:nvGrpSpPr>
          <p:grpSpPr>
            <a:xfrm>
              <a:off x="2546350" y="4667250"/>
              <a:ext cx="88900" cy="114300"/>
              <a:chOff x="2546350" y="4667250"/>
              <a:chExt cx="88900" cy="114300"/>
            </a:xfrm>
          </p:grpSpPr>
          <p:sp>
            <p:nvSpPr>
              <p:cNvPr id="98" name="Freeform 98"/>
              <p:cNvSpPr/>
              <p:nvPr/>
            </p:nvSpPr>
            <p:spPr>
              <a:xfrm>
                <a:off x="2546350" y="4705350"/>
                <a:ext cx="88900" cy="76200"/>
              </a:xfrm>
              <a:custGeom>
                <a:avLst/>
                <a:gdLst/>
                <a:ahLst/>
                <a:cxnLst/>
                <a:rect l="l" t="t" r="r" b="b"/>
                <a:pathLst>
                  <a:path w="88900" h="76200">
                    <a:moveTo>
                      <a:pt x="19050" y="0"/>
                    </a:moveTo>
                    <a:lnTo>
                      <a:pt x="12700" y="0"/>
                    </a:lnTo>
                    <a:cubicBezTo>
                      <a:pt x="5686" y="0"/>
                      <a:pt x="0" y="5686"/>
                      <a:pt x="0" y="12700"/>
                    </a:cubicBezTo>
                    <a:lnTo>
                      <a:pt x="0" y="63500"/>
                    </a:lnTo>
                    <a:cubicBezTo>
                      <a:pt x="0" y="70514"/>
                      <a:pt x="5686" y="76200"/>
                      <a:pt x="12700" y="76200"/>
                    </a:cubicBezTo>
                    <a:lnTo>
                      <a:pt x="76200" y="76200"/>
                    </a:lnTo>
                    <a:cubicBezTo>
                      <a:pt x="83214" y="76200"/>
                      <a:pt x="88900" y="70514"/>
                      <a:pt x="88900" y="63500"/>
                    </a:cubicBezTo>
                    <a:lnTo>
                      <a:pt x="88900" y="12700"/>
                    </a:lnTo>
                    <a:cubicBezTo>
                      <a:pt x="88900" y="5686"/>
                      <a:pt x="83214" y="0"/>
                      <a:pt x="76200" y="0"/>
                    </a:cubicBezTo>
                    <a:lnTo>
                      <a:pt x="69850" y="0"/>
                    </a:lnTo>
                  </a:path>
                </a:pathLst>
              </a:custGeom>
              <a:noFill/>
              <a:ln w="12700">
                <a:solidFill>
                  <a:srgbClr val="B54C3A"/>
                </a:solidFill>
              </a:ln>
            </p:spPr>
          </p:sp>
          <p:sp>
            <p:nvSpPr>
              <p:cNvPr id="99" name="Freeform 99"/>
              <p:cNvSpPr/>
              <p:nvPr/>
            </p:nvSpPr>
            <p:spPr>
              <a:xfrm>
                <a:off x="2590800" y="4667250"/>
                <a:ext cx="9525" cy="69850"/>
              </a:xfrm>
              <a:custGeom>
                <a:avLst/>
                <a:gdLst/>
                <a:ahLst/>
                <a:cxnLst/>
                <a:rect l="l" t="t" r="r" b="b"/>
                <a:pathLst>
                  <a:path w="9525" h="69850">
                    <a:moveTo>
                      <a:pt x="0" y="69850"/>
                    </a:moveTo>
                    <a:lnTo>
                      <a:pt x="0" y="0"/>
                    </a:lnTo>
                  </a:path>
                </a:pathLst>
              </a:custGeom>
              <a:noFill/>
              <a:ln w="12700">
                <a:solidFill>
                  <a:srgbClr val="B54C3A"/>
                </a:solidFill>
              </a:ln>
            </p:spPr>
          </p:sp>
          <p:sp>
            <p:nvSpPr>
              <p:cNvPr id="100" name="Freeform 100"/>
              <p:cNvSpPr/>
              <p:nvPr/>
            </p:nvSpPr>
            <p:spPr>
              <a:xfrm>
                <a:off x="2571750" y="4667250"/>
                <a:ext cx="38100" cy="19050"/>
              </a:xfrm>
              <a:custGeom>
                <a:avLst/>
                <a:gdLst/>
                <a:ahLst/>
                <a:cxnLst/>
                <a:rect l="l" t="t" r="r" b="b"/>
                <a:pathLst>
                  <a:path w="38100" h="19050">
                    <a:moveTo>
                      <a:pt x="0" y="19050"/>
                    </a:moveTo>
                    <a:lnTo>
                      <a:pt x="19050" y="0"/>
                    </a:lnTo>
                    <a:lnTo>
                      <a:pt x="38100" y="19050"/>
                    </a:lnTo>
                  </a:path>
                </a:pathLst>
              </a:custGeom>
              <a:noFill/>
              <a:ln w="12700">
                <a:solidFill>
                  <a:srgbClr val="B54C3A"/>
                </a:solidFill>
              </a:ln>
            </p:spPr>
          </p:sp>
        </p:grpSp>
        <p:sp>
          <p:nvSpPr>
            <p:cNvPr id="102" name="TextBox 102"/>
            <p:cNvSpPr txBox="1"/>
            <p:nvPr/>
          </p:nvSpPr>
          <p:spPr>
            <a:xfrm>
              <a:off x="2814256" y="457700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场景结算</a:t>
              </a:r>
            </a:p>
          </p:txBody>
        </p:sp>
        <p:sp>
          <p:nvSpPr>
            <p:cNvPr id="103" name="TextBox 103"/>
            <p:cNvSpPr txBox="1"/>
            <p:nvPr/>
          </p:nvSpPr>
          <p:spPr>
            <a:xfrm>
              <a:off x="2814638" y="4772739"/>
              <a:ext cx="2514063"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嵌入核心经营场景，优化资金管理，提升结算活跃度​</a:t>
              </a:r>
            </a:p>
          </p:txBody>
        </p:sp>
        <p:sp>
          <p:nvSpPr>
            <p:cNvPr id="104" name="Ellipse 104"/>
            <p:cNvSpPr/>
            <p:nvPr/>
          </p:nvSpPr>
          <p:spPr>
            <a:xfrm>
              <a:off x="2447925" y="5133975"/>
              <a:ext cx="285750" cy="285750"/>
            </a:xfrm>
            <a:prstGeom prst="ellipse">
              <a:avLst/>
            </a:prstGeom>
            <a:solidFill>
              <a:srgbClr val="FFFFFF"/>
            </a:solidFill>
            <a:ln w="15240">
              <a:solidFill>
                <a:srgbClr val="C9604E"/>
              </a:solidFill>
            </a:ln>
          </p:spPr>
        </p:sp>
        <p:grpSp>
          <p:nvGrpSpPr>
            <p:cNvPr id="108" name="Group 108"/>
            <p:cNvGrpSpPr/>
            <p:nvPr/>
          </p:nvGrpSpPr>
          <p:grpSpPr>
            <a:xfrm>
              <a:off x="2539999" y="5222947"/>
              <a:ext cx="104694" cy="107792"/>
              <a:chOff x="2539999" y="5222947"/>
              <a:chExt cx="104694" cy="107792"/>
            </a:xfrm>
          </p:grpSpPr>
          <p:sp>
            <p:nvSpPr>
              <p:cNvPr id="105" name="Freeform 105"/>
              <p:cNvSpPr/>
              <p:nvPr/>
            </p:nvSpPr>
            <p:spPr>
              <a:xfrm>
                <a:off x="2571750" y="5257800"/>
                <a:ext cx="38100" cy="38100"/>
              </a:xfrm>
              <a:custGeom>
                <a:avLst/>
                <a:gdLst/>
                <a:ahLst/>
                <a:cxnLst/>
                <a:rect l="l" t="t" r="r" b="b"/>
                <a:pathLst>
                  <a:path w="38100" h="38100">
                    <a:moveTo>
                      <a:pt x="0" y="38100"/>
                    </a:moveTo>
                    <a:lnTo>
                      <a:pt x="38100" y="0"/>
                    </a:lnTo>
                  </a:path>
                </a:pathLst>
              </a:custGeom>
              <a:noFill/>
              <a:ln w="12700">
                <a:solidFill>
                  <a:srgbClr val="B54C3A"/>
                </a:solidFill>
              </a:ln>
            </p:spPr>
          </p:sp>
          <p:sp>
            <p:nvSpPr>
              <p:cNvPr id="106" name="Freeform 106"/>
              <p:cNvSpPr/>
              <p:nvPr/>
            </p:nvSpPr>
            <p:spPr>
              <a:xfrm>
                <a:off x="2584450" y="5222947"/>
                <a:ext cx="60243" cy="60253"/>
              </a:xfrm>
              <a:custGeom>
                <a:avLst/>
                <a:gdLst/>
                <a:ahLst/>
                <a:cxnLst/>
                <a:rect l="l" t="t" r="r" b="b"/>
                <a:pathLst>
                  <a:path w="60243" h="60253">
                    <a:moveTo>
                      <a:pt x="0" y="15803"/>
                    </a:moveTo>
                    <a:lnTo>
                      <a:pt x="2940" y="12399"/>
                    </a:lnTo>
                    <a:cubicBezTo>
                      <a:pt x="15341" y="0"/>
                      <a:pt x="35445" y="1"/>
                      <a:pt x="47844" y="12402"/>
                    </a:cubicBezTo>
                    <a:cubicBezTo>
                      <a:pt x="60243" y="24803"/>
                      <a:pt x="60242" y="44907"/>
                      <a:pt x="47841" y="57306"/>
                    </a:cubicBezTo>
                    <a:lnTo>
                      <a:pt x="44450" y="60253"/>
                    </a:lnTo>
                  </a:path>
                </a:pathLst>
              </a:custGeom>
              <a:noFill/>
              <a:ln w="12700">
                <a:solidFill>
                  <a:srgbClr val="B54C3A"/>
                </a:solidFill>
              </a:ln>
            </p:spPr>
          </p:sp>
          <p:sp>
            <p:nvSpPr>
              <p:cNvPr id="107" name="Freeform 107"/>
              <p:cNvSpPr/>
              <p:nvPr/>
            </p:nvSpPr>
            <p:spPr>
              <a:xfrm>
                <a:off x="2539999" y="5270500"/>
                <a:ext cx="57151" cy="60239"/>
              </a:xfrm>
              <a:custGeom>
                <a:avLst/>
                <a:gdLst/>
                <a:ahLst/>
                <a:cxnLst/>
                <a:rect l="l" t="t" r="r" b="b"/>
                <a:pathLst>
                  <a:path w="57151" h="60239">
                    <a:moveTo>
                      <a:pt x="57151" y="44450"/>
                    </a:moveTo>
                    <a:lnTo>
                      <a:pt x="54630" y="47841"/>
                    </a:lnTo>
                    <a:cubicBezTo>
                      <a:pt x="42092" y="60239"/>
                      <a:pt x="21912" y="60239"/>
                      <a:pt x="9374" y="47841"/>
                    </a:cubicBezTo>
                    <a:cubicBezTo>
                      <a:pt x="3375" y="41910"/>
                      <a:pt x="0" y="33826"/>
                      <a:pt x="0" y="25390"/>
                    </a:cubicBezTo>
                    <a:cubicBezTo>
                      <a:pt x="0" y="16955"/>
                      <a:pt x="3375" y="8871"/>
                      <a:pt x="9374" y="2940"/>
                    </a:cubicBezTo>
                    <a:lnTo>
                      <a:pt x="12701" y="0"/>
                    </a:lnTo>
                  </a:path>
                </a:pathLst>
              </a:custGeom>
              <a:noFill/>
              <a:ln w="12700">
                <a:solidFill>
                  <a:srgbClr val="B54C3A"/>
                </a:solidFill>
              </a:ln>
            </p:spPr>
          </p:sp>
        </p:grpSp>
        <p:sp>
          <p:nvSpPr>
            <p:cNvPr id="109" name="TextBox 109"/>
            <p:cNvSpPr txBox="1"/>
            <p:nvPr/>
          </p:nvSpPr>
          <p:spPr>
            <a:xfrm>
              <a:off x="2814256" y="512945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生态经营</a:t>
              </a:r>
            </a:p>
          </p:txBody>
        </p:sp>
        <p:sp>
          <p:nvSpPr>
            <p:cNvPr id="110" name="TextBox 110"/>
            <p:cNvSpPr txBox="1"/>
            <p:nvPr/>
          </p:nvSpPr>
          <p:spPr>
            <a:xfrm>
              <a:off x="2814638" y="5325189"/>
              <a:ext cx="2514063"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链接产业生态资源，构建协同生态圈，实现共赢发展​</a:t>
              </a:r>
            </a:p>
          </p:txBody>
        </p:sp>
      </p:grpSp>
      <p:grpSp>
        <p:nvGrpSpPr>
          <p:cNvPr id="166" name="corp-trend"/>
          <p:cNvGrpSpPr/>
          <p:nvPr/>
        </p:nvGrpSpPr>
        <p:grpSpPr>
          <a:xfrm>
            <a:off x="5951854" y="3048000"/>
            <a:ext cx="5859146" cy="2533650"/>
            <a:chOff x="5951854" y="3048000"/>
            <a:chExt cx="5859146" cy="2533650"/>
          </a:xfrm>
        </p:grpSpPr>
        <p:sp>
          <p:nvSpPr>
            <p:cNvPr id="112" name="Rectangle 112"/>
            <p:cNvSpPr/>
            <p:nvPr/>
          </p:nvSpPr>
          <p:spPr>
            <a:xfrm>
              <a:off x="5981700" y="3048000"/>
              <a:ext cx="5829300" cy="2533650"/>
            </a:xfrm>
            <a:prstGeom prst="roundRect">
              <a:avLst>
                <a:gd name="adj" fmla="val 3008"/>
              </a:avLst>
            </a:prstGeom>
            <a:solidFill>
              <a:srgbClr val="FDF6F5"/>
            </a:solidFill>
            <a:ln w="9525">
              <a:solidFill>
                <a:srgbClr val="EDD5D2"/>
              </a:solidFill>
            </a:ln>
          </p:spPr>
        </p:sp>
        <p:sp>
          <p:nvSpPr>
            <p:cNvPr id="113" name="Freeform 113"/>
            <p:cNvSpPr/>
            <p:nvPr/>
          </p:nvSpPr>
          <p:spPr>
            <a:xfrm>
              <a:off x="5991225" y="3057525"/>
              <a:ext cx="5810250" cy="228600"/>
            </a:xfrm>
            <a:custGeom>
              <a:avLst/>
              <a:gdLst/>
              <a:ahLst/>
              <a:cxnLst/>
              <a:rect l="l" t="t" r="r" b="b"/>
              <a:pathLst>
                <a:path w="5810250" h="228600">
                  <a:moveTo>
                    <a:pt x="0" y="228600"/>
                  </a:moveTo>
                  <a:lnTo>
                    <a:pt x="5810250" y="228600"/>
                  </a:lnTo>
                  <a:lnTo>
                    <a:pt x="5810250" y="66675"/>
                  </a:lnTo>
                  <a:cubicBezTo>
                    <a:pt x="5810250" y="29851"/>
                    <a:pt x="5780399" y="0"/>
                    <a:pt x="5743575" y="0"/>
                  </a:cubicBezTo>
                  <a:lnTo>
                    <a:pt x="66675" y="0"/>
                  </a:lnTo>
                  <a:cubicBezTo>
                    <a:pt x="29851" y="0"/>
                    <a:pt x="0" y="29851"/>
                    <a:pt x="0" y="66675"/>
                  </a:cubicBezTo>
                  <a:close/>
                </a:path>
              </a:pathLst>
            </a:custGeom>
            <a:solidFill>
              <a:srgbClr val="A52D12"/>
            </a:solidFill>
            <a:ln>
              <a:noFill/>
            </a:ln>
          </p:spPr>
        </p:sp>
        <p:sp>
          <p:nvSpPr>
            <p:cNvPr id="114" name="TextBox 114"/>
            <p:cNvSpPr txBox="1"/>
            <p:nvPr/>
          </p:nvSpPr>
          <p:spPr>
            <a:xfrm>
              <a:off x="8042910" y="3106102"/>
              <a:ext cx="170688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对公业务规模趋势（亿元）</a:t>
              </a:r>
            </a:p>
          </p:txBody>
        </p:sp>
        <p:sp>
          <p:nvSpPr>
            <p:cNvPr id="115" name="Rectangle 115"/>
            <p:cNvSpPr/>
            <p:nvPr/>
          </p:nvSpPr>
          <p:spPr>
            <a:xfrm>
              <a:off x="6286500" y="3390900"/>
              <a:ext cx="95250" cy="95250"/>
            </a:xfrm>
            <a:prstGeom prst="rect">
              <a:avLst/>
            </a:prstGeom>
            <a:solidFill>
              <a:srgbClr val="A52D12"/>
            </a:solidFill>
            <a:ln>
              <a:noFill/>
            </a:ln>
          </p:spPr>
        </p:sp>
        <p:sp>
          <p:nvSpPr>
            <p:cNvPr id="116" name="TextBox 116"/>
            <p:cNvSpPr txBox="1"/>
            <p:nvPr/>
          </p:nvSpPr>
          <p:spPr>
            <a:xfrm>
              <a:off x="6434138" y="3395662"/>
              <a:ext cx="101917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对公贷款余额（左轴）</a:t>
              </a:r>
            </a:p>
          </p:txBody>
        </p:sp>
        <p:sp>
          <p:nvSpPr>
            <p:cNvPr id="117" name="Rectangle 117"/>
            <p:cNvSpPr/>
            <p:nvPr/>
          </p:nvSpPr>
          <p:spPr>
            <a:xfrm>
              <a:off x="7524750" y="3390900"/>
              <a:ext cx="95250" cy="95250"/>
            </a:xfrm>
            <a:prstGeom prst="rect">
              <a:avLst/>
            </a:prstGeom>
            <a:solidFill>
              <a:srgbClr val="E4AFA6"/>
            </a:solidFill>
            <a:ln>
              <a:noFill/>
            </a:ln>
          </p:spPr>
        </p:sp>
        <p:sp>
          <p:nvSpPr>
            <p:cNvPr id="118" name="TextBox 118"/>
            <p:cNvSpPr txBox="1"/>
            <p:nvPr/>
          </p:nvSpPr>
          <p:spPr>
            <a:xfrm>
              <a:off x="7672388" y="3395662"/>
              <a:ext cx="101917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对公存款余额（左轴）</a:t>
              </a:r>
            </a:p>
          </p:txBody>
        </p:sp>
        <p:sp>
          <p:nvSpPr>
            <p:cNvPr id="119" name="Line 119"/>
            <p:cNvSpPr/>
            <p:nvPr/>
          </p:nvSpPr>
          <p:spPr>
            <a:xfrm>
              <a:off x="8858250" y="3438525"/>
              <a:ext cx="228600" cy="9525"/>
            </a:xfrm>
            <a:custGeom>
              <a:avLst/>
              <a:gdLst/>
              <a:ahLst/>
              <a:cxnLst/>
              <a:rect l="l" t="t" r="r" b="b"/>
              <a:pathLst>
                <a:path w="228600" h="9525">
                  <a:moveTo>
                    <a:pt x="0" y="0"/>
                  </a:moveTo>
                  <a:lnTo>
                    <a:pt x="228600" y="0"/>
                  </a:lnTo>
                </a:path>
              </a:pathLst>
            </a:custGeom>
            <a:noFill/>
            <a:ln w="17145">
              <a:solidFill>
                <a:srgbClr val="C9604E"/>
              </a:solidFill>
            </a:ln>
          </p:spPr>
        </p:sp>
        <p:sp>
          <p:nvSpPr>
            <p:cNvPr id="120" name="Ellipse 120"/>
            <p:cNvSpPr/>
            <p:nvPr/>
          </p:nvSpPr>
          <p:spPr>
            <a:xfrm>
              <a:off x="8939212" y="3405188"/>
              <a:ext cx="66675" cy="66675"/>
            </a:xfrm>
            <a:prstGeom prst="ellipse">
              <a:avLst/>
            </a:prstGeom>
            <a:solidFill>
              <a:srgbClr val="FFFFFF"/>
            </a:solidFill>
            <a:ln w="17145">
              <a:solidFill>
                <a:srgbClr val="C9604E"/>
              </a:solidFill>
            </a:ln>
          </p:spPr>
        </p:sp>
        <p:sp>
          <p:nvSpPr>
            <p:cNvPr id="121" name="TextBox 121"/>
            <p:cNvSpPr txBox="1"/>
            <p:nvPr/>
          </p:nvSpPr>
          <p:spPr>
            <a:xfrm>
              <a:off x="9139238" y="3395662"/>
              <a:ext cx="81724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对公中收（右轴）</a:t>
              </a:r>
            </a:p>
          </p:txBody>
        </p:sp>
        <p:sp>
          <p:nvSpPr>
            <p:cNvPr id="122" name="Line 122"/>
            <p:cNvSpPr/>
            <p:nvPr/>
          </p:nvSpPr>
          <p:spPr>
            <a:xfrm>
              <a:off x="6362700" y="3619500"/>
              <a:ext cx="5067300" cy="9525"/>
            </a:xfrm>
            <a:custGeom>
              <a:avLst/>
              <a:gdLst/>
              <a:ahLst/>
              <a:cxnLst/>
              <a:rect l="l" t="t" r="r" b="b"/>
              <a:pathLst>
                <a:path w="5067300" h="9525">
                  <a:moveTo>
                    <a:pt x="0" y="0"/>
                  </a:moveTo>
                  <a:lnTo>
                    <a:pt x="5067300" y="0"/>
                  </a:lnTo>
                </a:path>
              </a:pathLst>
            </a:custGeom>
            <a:noFill/>
            <a:ln w="9525">
              <a:solidFill>
                <a:srgbClr val="EDE4E2"/>
              </a:solidFill>
            </a:ln>
          </p:spPr>
        </p:sp>
        <p:sp>
          <p:nvSpPr>
            <p:cNvPr id="123" name="Line 123"/>
            <p:cNvSpPr/>
            <p:nvPr/>
          </p:nvSpPr>
          <p:spPr>
            <a:xfrm>
              <a:off x="6362700" y="4036695"/>
              <a:ext cx="5067300" cy="9525"/>
            </a:xfrm>
            <a:custGeom>
              <a:avLst/>
              <a:gdLst/>
              <a:ahLst/>
              <a:cxnLst/>
              <a:rect l="l" t="t" r="r" b="b"/>
              <a:pathLst>
                <a:path w="5067300" h="9525">
                  <a:moveTo>
                    <a:pt x="0" y="0"/>
                  </a:moveTo>
                  <a:lnTo>
                    <a:pt x="5067300" y="0"/>
                  </a:lnTo>
                </a:path>
              </a:pathLst>
            </a:custGeom>
            <a:noFill/>
            <a:ln w="9525">
              <a:solidFill>
                <a:srgbClr val="EDE4E2"/>
              </a:solidFill>
            </a:ln>
          </p:spPr>
        </p:sp>
        <p:sp>
          <p:nvSpPr>
            <p:cNvPr id="124" name="Line 124"/>
            <p:cNvSpPr/>
            <p:nvPr/>
          </p:nvSpPr>
          <p:spPr>
            <a:xfrm>
              <a:off x="6362700" y="4452938"/>
              <a:ext cx="5067300" cy="9525"/>
            </a:xfrm>
            <a:custGeom>
              <a:avLst/>
              <a:gdLst/>
              <a:ahLst/>
              <a:cxnLst/>
              <a:rect l="l" t="t" r="r" b="b"/>
              <a:pathLst>
                <a:path w="5067300" h="9525">
                  <a:moveTo>
                    <a:pt x="0" y="0"/>
                  </a:moveTo>
                  <a:lnTo>
                    <a:pt x="5067300" y="0"/>
                  </a:lnTo>
                </a:path>
              </a:pathLst>
            </a:custGeom>
            <a:noFill/>
            <a:ln w="9525">
              <a:solidFill>
                <a:srgbClr val="EDE4E2"/>
              </a:solidFill>
            </a:ln>
          </p:spPr>
        </p:sp>
        <p:sp>
          <p:nvSpPr>
            <p:cNvPr id="125" name="Line 125"/>
            <p:cNvSpPr/>
            <p:nvPr/>
          </p:nvSpPr>
          <p:spPr>
            <a:xfrm>
              <a:off x="6362700" y="4870132"/>
              <a:ext cx="5067300" cy="9525"/>
            </a:xfrm>
            <a:custGeom>
              <a:avLst/>
              <a:gdLst/>
              <a:ahLst/>
              <a:cxnLst/>
              <a:rect l="l" t="t" r="r" b="b"/>
              <a:pathLst>
                <a:path w="5067300" h="9525">
                  <a:moveTo>
                    <a:pt x="0" y="0"/>
                  </a:moveTo>
                  <a:lnTo>
                    <a:pt x="5067300" y="0"/>
                  </a:lnTo>
                </a:path>
              </a:pathLst>
            </a:custGeom>
            <a:noFill/>
            <a:ln w="9525">
              <a:solidFill>
                <a:srgbClr val="EDE4E2"/>
              </a:solidFill>
            </a:ln>
          </p:spPr>
        </p:sp>
        <p:sp>
          <p:nvSpPr>
            <p:cNvPr id="126" name="Line 126"/>
            <p:cNvSpPr/>
            <p:nvPr/>
          </p:nvSpPr>
          <p:spPr>
            <a:xfrm>
              <a:off x="6362700" y="5286375"/>
              <a:ext cx="5067300" cy="9525"/>
            </a:xfrm>
            <a:custGeom>
              <a:avLst/>
              <a:gdLst/>
              <a:ahLst/>
              <a:cxnLst/>
              <a:rect l="l" t="t" r="r" b="b"/>
              <a:pathLst>
                <a:path w="5067300" h="9525">
                  <a:moveTo>
                    <a:pt x="0" y="0"/>
                  </a:moveTo>
                  <a:lnTo>
                    <a:pt x="5067300" y="0"/>
                  </a:lnTo>
                </a:path>
              </a:pathLst>
            </a:custGeom>
            <a:noFill/>
            <a:ln w="9525">
              <a:solidFill>
                <a:srgbClr val="C9BBB8"/>
              </a:solidFill>
            </a:ln>
          </p:spPr>
        </p:sp>
        <p:sp>
          <p:nvSpPr>
            <p:cNvPr id="127" name="TextBox 127"/>
            <p:cNvSpPr txBox="1"/>
            <p:nvPr/>
          </p:nvSpPr>
          <p:spPr>
            <a:xfrm>
              <a:off x="6214699" y="5247561"/>
              <a:ext cx="114663"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a:t>
              </a:r>
            </a:p>
          </p:txBody>
        </p:sp>
        <p:sp>
          <p:nvSpPr>
            <p:cNvPr id="128" name="TextBox 128"/>
            <p:cNvSpPr txBox="1"/>
            <p:nvPr/>
          </p:nvSpPr>
          <p:spPr>
            <a:xfrm>
              <a:off x="6004423" y="4828461"/>
              <a:ext cx="324940"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2,500​</a:t>
              </a:r>
            </a:p>
          </p:txBody>
        </p:sp>
        <p:sp>
          <p:nvSpPr>
            <p:cNvPr id="129" name="TextBox 129"/>
            <p:cNvSpPr txBox="1"/>
            <p:nvPr/>
          </p:nvSpPr>
          <p:spPr>
            <a:xfrm>
              <a:off x="6004423" y="4409361"/>
              <a:ext cx="324940"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5,000​</a:t>
              </a:r>
            </a:p>
          </p:txBody>
        </p:sp>
        <p:sp>
          <p:nvSpPr>
            <p:cNvPr id="130" name="TextBox 130"/>
            <p:cNvSpPr txBox="1"/>
            <p:nvPr/>
          </p:nvSpPr>
          <p:spPr>
            <a:xfrm>
              <a:off x="6004423" y="3990261"/>
              <a:ext cx="324940"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7,500​</a:t>
              </a:r>
            </a:p>
          </p:txBody>
        </p:sp>
        <p:sp>
          <p:nvSpPr>
            <p:cNvPr id="131" name="TextBox 131"/>
            <p:cNvSpPr txBox="1"/>
            <p:nvPr/>
          </p:nvSpPr>
          <p:spPr>
            <a:xfrm>
              <a:off x="5951854" y="3580686"/>
              <a:ext cx="377509"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10,000​</a:t>
              </a:r>
            </a:p>
          </p:txBody>
        </p:sp>
        <p:sp>
          <p:nvSpPr>
            <p:cNvPr id="132" name="TextBox 132"/>
            <p:cNvSpPr txBox="1"/>
            <p:nvPr/>
          </p:nvSpPr>
          <p:spPr>
            <a:xfrm>
              <a:off x="11463338" y="5247561"/>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0​</a:t>
              </a:r>
            </a:p>
          </p:txBody>
        </p:sp>
        <p:sp>
          <p:nvSpPr>
            <p:cNvPr id="133" name="TextBox 133"/>
            <p:cNvSpPr txBox="1"/>
            <p:nvPr/>
          </p:nvSpPr>
          <p:spPr>
            <a:xfrm>
              <a:off x="11463338" y="4828461"/>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5​</a:t>
              </a:r>
            </a:p>
          </p:txBody>
        </p:sp>
        <p:sp>
          <p:nvSpPr>
            <p:cNvPr id="134" name="TextBox 134"/>
            <p:cNvSpPr txBox="1"/>
            <p:nvPr/>
          </p:nvSpPr>
          <p:spPr>
            <a:xfrm>
              <a:off x="11463338" y="4409361"/>
              <a:ext cx="167232"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10​</a:t>
              </a:r>
            </a:p>
          </p:txBody>
        </p:sp>
        <p:sp>
          <p:nvSpPr>
            <p:cNvPr id="135" name="TextBox 135"/>
            <p:cNvSpPr txBox="1"/>
            <p:nvPr/>
          </p:nvSpPr>
          <p:spPr>
            <a:xfrm>
              <a:off x="11463338" y="3990261"/>
              <a:ext cx="167232"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15​</a:t>
              </a:r>
            </a:p>
          </p:txBody>
        </p:sp>
        <p:sp>
          <p:nvSpPr>
            <p:cNvPr id="136" name="TextBox 136"/>
            <p:cNvSpPr txBox="1"/>
            <p:nvPr/>
          </p:nvSpPr>
          <p:spPr>
            <a:xfrm>
              <a:off x="11463338" y="3580686"/>
              <a:ext cx="167232"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25​</a:t>
              </a:r>
            </a:p>
          </p:txBody>
        </p:sp>
        <p:sp>
          <p:nvSpPr>
            <p:cNvPr id="137" name="Rectangle 137"/>
            <p:cNvSpPr/>
            <p:nvPr/>
          </p:nvSpPr>
          <p:spPr>
            <a:xfrm>
              <a:off x="6438900" y="4441508"/>
              <a:ext cx="266700" cy="844868"/>
            </a:xfrm>
            <a:prstGeom prst="rect">
              <a:avLst/>
            </a:prstGeom>
            <a:solidFill>
              <a:srgbClr val="A52D12"/>
            </a:solidFill>
            <a:ln>
              <a:noFill/>
            </a:ln>
          </p:spPr>
        </p:sp>
        <p:sp>
          <p:nvSpPr>
            <p:cNvPr id="138" name="Rectangle 138"/>
            <p:cNvSpPr/>
            <p:nvPr/>
          </p:nvSpPr>
          <p:spPr>
            <a:xfrm>
              <a:off x="6743700" y="4358640"/>
              <a:ext cx="266700" cy="927735"/>
            </a:xfrm>
            <a:prstGeom prst="rect">
              <a:avLst/>
            </a:prstGeom>
            <a:solidFill>
              <a:srgbClr val="E4AFA6"/>
            </a:solidFill>
            <a:ln>
              <a:noFill/>
            </a:ln>
          </p:spPr>
        </p:sp>
        <p:sp>
          <p:nvSpPr>
            <p:cNvPr id="139" name="Rectangle 139"/>
            <p:cNvSpPr/>
            <p:nvPr/>
          </p:nvSpPr>
          <p:spPr>
            <a:xfrm>
              <a:off x="7486650" y="4341495"/>
              <a:ext cx="266700" cy="944880"/>
            </a:xfrm>
            <a:prstGeom prst="rect">
              <a:avLst/>
            </a:prstGeom>
            <a:solidFill>
              <a:srgbClr val="A52D12"/>
            </a:solidFill>
            <a:ln>
              <a:noFill/>
            </a:ln>
          </p:spPr>
        </p:sp>
        <p:sp>
          <p:nvSpPr>
            <p:cNvPr id="140" name="Rectangle 140"/>
            <p:cNvSpPr/>
            <p:nvPr/>
          </p:nvSpPr>
          <p:spPr>
            <a:xfrm>
              <a:off x="7791450" y="4240530"/>
              <a:ext cx="266700" cy="1045845"/>
            </a:xfrm>
            <a:prstGeom prst="rect">
              <a:avLst/>
            </a:prstGeom>
            <a:solidFill>
              <a:srgbClr val="E4AFA6"/>
            </a:solidFill>
            <a:ln>
              <a:noFill/>
            </a:ln>
          </p:spPr>
        </p:sp>
        <p:sp>
          <p:nvSpPr>
            <p:cNvPr id="141" name="Rectangle 141"/>
            <p:cNvSpPr/>
            <p:nvPr/>
          </p:nvSpPr>
          <p:spPr>
            <a:xfrm>
              <a:off x="8534400" y="4252912"/>
              <a:ext cx="266700" cy="1033462"/>
            </a:xfrm>
            <a:prstGeom prst="rect">
              <a:avLst/>
            </a:prstGeom>
            <a:solidFill>
              <a:srgbClr val="A52D12"/>
            </a:solidFill>
            <a:ln>
              <a:noFill/>
            </a:ln>
          </p:spPr>
        </p:sp>
        <p:sp>
          <p:nvSpPr>
            <p:cNvPr id="142" name="Rectangle 142"/>
            <p:cNvSpPr/>
            <p:nvPr/>
          </p:nvSpPr>
          <p:spPr>
            <a:xfrm>
              <a:off x="8839200" y="4110990"/>
              <a:ext cx="266700" cy="1175385"/>
            </a:xfrm>
            <a:prstGeom prst="rect">
              <a:avLst/>
            </a:prstGeom>
            <a:solidFill>
              <a:srgbClr val="E4AFA6"/>
            </a:solidFill>
            <a:ln>
              <a:noFill/>
            </a:ln>
          </p:spPr>
        </p:sp>
        <p:sp>
          <p:nvSpPr>
            <p:cNvPr id="143" name="Rectangle 143"/>
            <p:cNvSpPr/>
            <p:nvPr/>
          </p:nvSpPr>
          <p:spPr>
            <a:xfrm>
              <a:off x="9582150" y="4157662"/>
              <a:ext cx="266700" cy="1128712"/>
            </a:xfrm>
            <a:prstGeom prst="rect">
              <a:avLst/>
            </a:prstGeom>
            <a:solidFill>
              <a:srgbClr val="A52D12"/>
            </a:solidFill>
            <a:ln>
              <a:noFill/>
            </a:ln>
          </p:spPr>
        </p:sp>
        <p:sp>
          <p:nvSpPr>
            <p:cNvPr id="144" name="Rectangle 144"/>
            <p:cNvSpPr/>
            <p:nvPr/>
          </p:nvSpPr>
          <p:spPr>
            <a:xfrm>
              <a:off x="9886950" y="4025265"/>
              <a:ext cx="266700" cy="1261110"/>
            </a:xfrm>
            <a:prstGeom prst="rect">
              <a:avLst/>
            </a:prstGeom>
            <a:solidFill>
              <a:srgbClr val="E4AFA6"/>
            </a:solidFill>
            <a:ln>
              <a:noFill/>
            </a:ln>
          </p:spPr>
        </p:sp>
        <p:sp>
          <p:nvSpPr>
            <p:cNvPr id="145" name="TextBox 145"/>
            <p:cNvSpPr txBox="1"/>
            <p:nvPr/>
          </p:nvSpPr>
          <p:spPr>
            <a:xfrm>
              <a:off x="6401895" y="4304586"/>
              <a:ext cx="340710"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5,100​</a:t>
              </a:r>
            </a:p>
          </p:txBody>
        </p:sp>
        <p:sp>
          <p:nvSpPr>
            <p:cNvPr id="146" name="TextBox 146"/>
            <p:cNvSpPr txBox="1"/>
            <p:nvPr/>
          </p:nvSpPr>
          <p:spPr>
            <a:xfrm>
              <a:off x="6706695" y="4399836"/>
              <a:ext cx="340710" cy="140494"/>
            </a:xfrm>
            <a:prstGeom prst="rect">
              <a:avLst/>
            </a:prstGeom>
            <a:noFill/>
            <a:ln>
              <a:noFill/>
            </a:ln>
          </p:spPr>
          <p:txBody>
            <a:bodyPr wrap="none" lIns="0" tIns="0" rIns="0" bIns="0" anchor="t" anchorCtr="0">
              <a:spAutoFit/>
            </a:bodyPr>
            <a:lstStyle/>
            <a:p>
              <a:pPr algn="ctr"/>
              <a:r>
                <a:rPr lang="zh-CN" sz="710" b="1" dirty="0">
                  <a:solidFill>
                    <a:srgbClr val="8E382A"/>
                  </a:solidFill>
                  <a:latin typeface="+mn-lt"/>
                  <a:ea typeface="+mn-ea"/>
                  <a:cs typeface="+mn-cs"/>
                </a:rPr>
                <a:t>5,600​</a:t>
              </a:r>
            </a:p>
          </p:txBody>
        </p:sp>
        <p:sp>
          <p:nvSpPr>
            <p:cNvPr id="147" name="TextBox 147"/>
            <p:cNvSpPr txBox="1"/>
            <p:nvPr/>
          </p:nvSpPr>
          <p:spPr>
            <a:xfrm>
              <a:off x="7449645" y="4199811"/>
              <a:ext cx="340710"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5,700​</a:t>
              </a:r>
            </a:p>
          </p:txBody>
        </p:sp>
        <p:sp>
          <p:nvSpPr>
            <p:cNvPr id="148" name="TextBox 148"/>
            <p:cNvSpPr txBox="1"/>
            <p:nvPr/>
          </p:nvSpPr>
          <p:spPr>
            <a:xfrm>
              <a:off x="7754445" y="4285536"/>
              <a:ext cx="340710" cy="140494"/>
            </a:xfrm>
            <a:prstGeom prst="rect">
              <a:avLst/>
            </a:prstGeom>
            <a:noFill/>
            <a:ln>
              <a:noFill/>
            </a:ln>
          </p:spPr>
          <p:txBody>
            <a:bodyPr wrap="none" lIns="0" tIns="0" rIns="0" bIns="0" anchor="t" anchorCtr="0">
              <a:spAutoFit/>
            </a:bodyPr>
            <a:lstStyle/>
            <a:p>
              <a:pPr algn="ctr"/>
              <a:r>
                <a:rPr lang="zh-CN" sz="710" b="1" dirty="0">
                  <a:solidFill>
                    <a:srgbClr val="8E382A"/>
                  </a:solidFill>
                  <a:latin typeface="+mn-lt"/>
                  <a:ea typeface="+mn-ea"/>
                  <a:cs typeface="+mn-cs"/>
                </a:rPr>
                <a:t>6,300​</a:t>
              </a:r>
            </a:p>
          </p:txBody>
        </p:sp>
        <p:sp>
          <p:nvSpPr>
            <p:cNvPr id="149" name="TextBox 149"/>
            <p:cNvSpPr txBox="1"/>
            <p:nvPr/>
          </p:nvSpPr>
          <p:spPr>
            <a:xfrm>
              <a:off x="8497395" y="4114086"/>
              <a:ext cx="340710"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6,230​</a:t>
              </a:r>
            </a:p>
          </p:txBody>
        </p:sp>
        <p:sp>
          <p:nvSpPr>
            <p:cNvPr id="150" name="TextBox 150"/>
            <p:cNvSpPr txBox="1"/>
            <p:nvPr/>
          </p:nvSpPr>
          <p:spPr>
            <a:xfrm>
              <a:off x="8802195" y="4152186"/>
              <a:ext cx="340710" cy="140494"/>
            </a:xfrm>
            <a:prstGeom prst="rect">
              <a:avLst/>
            </a:prstGeom>
            <a:noFill/>
            <a:ln>
              <a:noFill/>
            </a:ln>
          </p:spPr>
          <p:txBody>
            <a:bodyPr wrap="none" lIns="0" tIns="0" rIns="0" bIns="0" anchor="t" anchorCtr="0">
              <a:spAutoFit/>
            </a:bodyPr>
            <a:lstStyle/>
            <a:p>
              <a:pPr algn="ctr"/>
              <a:r>
                <a:rPr lang="zh-CN" sz="710" b="1" dirty="0">
                  <a:solidFill>
                    <a:srgbClr val="8E382A"/>
                  </a:solidFill>
                  <a:latin typeface="+mn-lt"/>
                  <a:ea typeface="+mn-ea"/>
                  <a:cs typeface="+mn-cs"/>
                </a:rPr>
                <a:t>7,080​</a:t>
              </a:r>
            </a:p>
          </p:txBody>
        </p:sp>
        <p:sp>
          <p:nvSpPr>
            <p:cNvPr id="151" name="TextBox 151"/>
            <p:cNvSpPr txBox="1"/>
            <p:nvPr/>
          </p:nvSpPr>
          <p:spPr>
            <a:xfrm>
              <a:off x="9545145" y="4018836"/>
              <a:ext cx="340710"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6,800​</a:t>
              </a:r>
            </a:p>
          </p:txBody>
        </p:sp>
        <p:sp>
          <p:nvSpPr>
            <p:cNvPr id="152" name="TextBox 152"/>
            <p:cNvSpPr txBox="1"/>
            <p:nvPr/>
          </p:nvSpPr>
          <p:spPr>
            <a:xfrm>
              <a:off x="9849945" y="4066461"/>
              <a:ext cx="340710" cy="140494"/>
            </a:xfrm>
            <a:prstGeom prst="rect">
              <a:avLst/>
            </a:prstGeom>
            <a:noFill/>
            <a:ln>
              <a:noFill/>
            </a:ln>
          </p:spPr>
          <p:txBody>
            <a:bodyPr wrap="none" lIns="0" tIns="0" rIns="0" bIns="0" anchor="t" anchorCtr="0">
              <a:spAutoFit/>
            </a:bodyPr>
            <a:lstStyle/>
            <a:p>
              <a:pPr algn="ctr"/>
              <a:r>
                <a:rPr lang="zh-CN" sz="710" b="1" dirty="0">
                  <a:solidFill>
                    <a:srgbClr val="8E382A"/>
                  </a:solidFill>
                  <a:latin typeface="+mn-lt"/>
                  <a:ea typeface="+mn-ea"/>
                  <a:cs typeface="+mn-cs"/>
                </a:rPr>
                <a:t>7,600​</a:t>
              </a:r>
            </a:p>
          </p:txBody>
        </p:sp>
        <p:sp>
          <p:nvSpPr>
            <p:cNvPr id="153" name="Polyline 153"/>
            <p:cNvSpPr/>
            <p:nvPr/>
          </p:nvSpPr>
          <p:spPr>
            <a:xfrm>
              <a:off x="6877050" y="3789045"/>
              <a:ext cx="3143250" cy="561975"/>
            </a:xfrm>
            <a:custGeom>
              <a:avLst/>
              <a:gdLst/>
              <a:ahLst/>
              <a:cxnLst/>
              <a:rect l="l" t="t" r="r" b="b"/>
              <a:pathLst>
                <a:path w="3143250" h="561975">
                  <a:moveTo>
                    <a:pt x="0" y="561975"/>
                  </a:moveTo>
                  <a:lnTo>
                    <a:pt x="1047750" y="448627"/>
                  </a:lnTo>
                  <a:lnTo>
                    <a:pt x="2095500" y="189547"/>
                  </a:lnTo>
                  <a:lnTo>
                    <a:pt x="3143250" y="0"/>
                  </a:lnTo>
                </a:path>
              </a:pathLst>
            </a:custGeom>
            <a:noFill/>
            <a:ln w="19050">
              <a:solidFill>
                <a:srgbClr val="C9604E"/>
              </a:solidFill>
            </a:ln>
          </p:spPr>
        </p:sp>
        <p:sp>
          <p:nvSpPr>
            <p:cNvPr id="154" name="Ellipse 154"/>
            <p:cNvSpPr/>
            <p:nvPr/>
          </p:nvSpPr>
          <p:spPr>
            <a:xfrm>
              <a:off x="6838950" y="4312920"/>
              <a:ext cx="76200" cy="76200"/>
            </a:xfrm>
            <a:prstGeom prst="ellipse">
              <a:avLst/>
            </a:prstGeom>
            <a:solidFill>
              <a:srgbClr val="FFFFFF"/>
            </a:solidFill>
            <a:ln w="19050">
              <a:solidFill>
                <a:srgbClr val="C9604E"/>
              </a:solidFill>
            </a:ln>
          </p:spPr>
        </p:sp>
        <p:sp>
          <p:nvSpPr>
            <p:cNvPr id="155" name="Ellipse 155"/>
            <p:cNvSpPr/>
            <p:nvPr/>
          </p:nvSpPr>
          <p:spPr>
            <a:xfrm>
              <a:off x="7886700" y="4199572"/>
              <a:ext cx="76200" cy="76200"/>
            </a:xfrm>
            <a:prstGeom prst="ellipse">
              <a:avLst/>
            </a:prstGeom>
            <a:solidFill>
              <a:srgbClr val="FFFFFF"/>
            </a:solidFill>
            <a:ln w="19050">
              <a:solidFill>
                <a:srgbClr val="C9604E"/>
              </a:solidFill>
            </a:ln>
          </p:spPr>
        </p:sp>
        <p:sp>
          <p:nvSpPr>
            <p:cNvPr id="156" name="Ellipse 156"/>
            <p:cNvSpPr/>
            <p:nvPr/>
          </p:nvSpPr>
          <p:spPr>
            <a:xfrm>
              <a:off x="8934450" y="3940492"/>
              <a:ext cx="76200" cy="76200"/>
            </a:xfrm>
            <a:prstGeom prst="ellipse">
              <a:avLst/>
            </a:prstGeom>
            <a:solidFill>
              <a:srgbClr val="FFFFFF"/>
            </a:solidFill>
            <a:ln w="19050">
              <a:solidFill>
                <a:srgbClr val="C9604E"/>
              </a:solidFill>
            </a:ln>
          </p:spPr>
        </p:sp>
        <p:sp>
          <p:nvSpPr>
            <p:cNvPr id="157" name="Ellipse 157"/>
            <p:cNvSpPr/>
            <p:nvPr/>
          </p:nvSpPr>
          <p:spPr>
            <a:xfrm>
              <a:off x="9982200" y="3750945"/>
              <a:ext cx="76200" cy="76200"/>
            </a:xfrm>
            <a:prstGeom prst="ellipse">
              <a:avLst/>
            </a:prstGeom>
            <a:solidFill>
              <a:srgbClr val="FFFFFF"/>
            </a:solidFill>
            <a:ln w="19050">
              <a:solidFill>
                <a:srgbClr val="C9604E"/>
              </a:solidFill>
            </a:ln>
          </p:spPr>
        </p:sp>
        <p:sp>
          <p:nvSpPr>
            <p:cNvPr id="158" name="TextBox 158"/>
            <p:cNvSpPr txBox="1"/>
            <p:nvPr/>
          </p:nvSpPr>
          <p:spPr>
            <a:xfrm>
              <a:off x="6734294" y="4180761"/>
              <a:ext cx="285513"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12.6​</a:t>
              </a:r>
            </a:p>
          </p:txBody>
        </p:sp>
        <p:sp>
          <p:nvSpPr>
            <p:cNvPr id="159" name="TextBox 159"/>
            <p:cNvSpPr txBox="1"/>
            <p:nvPr/>
          </p:nvSpPr>
          <p:spPr>
            <a:xfrm>
              <a:off x="7782044" y="4066461"/>
              <a:ext cx="285513"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14.3​</a:t>
              </a:r>
            </a:p>
          </p:txBody>
        </p:sp>
        <p:sp>
          <p:nvSpPr>
            <p:cNvPr id="160" name="TextBox 160"/>
            <p:cNvSpPr txBox="1"/>
            <p:nvPr/>
          </p:nvSpPr>
          <p:spPr>
            <a:xfrm>
              <a:off x="8829794" y="3809286"/>
              <a:ext cx="285513"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16.8​</a:t>
              </a:r>
            </a:p>
          </p:txBody>
        </p:sp>
        <p:sp>
          <p:nvSpPr>
            <p:cNvPr id="161" name="TextBox 161"/>
            <p:cNvSpPr txBox="1"/>
            <p:nvPr/>
          </p:nvSpPr>
          <p:spPr>
            <a:xfrm>
              <a:off x="9877544" y="3618786"/>
              <a:ext cx="285513"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18.7​</a:t>
              </a:r>
            </a:p>
          </p:txBody>
        </p:sp>
        <p:sp>
          <p:nvSpPr>
            <p:cNvPr id="162" name="TextBox 162"/>
            <p:cNvSpPr txBox="1"/>
            <p:nvPr/>
          </p:nvSpPr>
          <p:spPr>
            <a:xfrm>
              <a:off x="6522434" y="5378291"/>
              <a:ext cx="42348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2022年​</a:t>
              </a:r>
            </a:p>
          </p:txBody>
        </p:sp>
        <p:sp>
          <p:nvSpPr>
            <p:cNvPr id="163" name="TextBox 163"/>
            <p:cNvSpPr txBox="1"/>
            <p:nvPr/>
          </p:nvSpPr>
          <p:spPr>
            <a:xfrm>
              <a:off x="7570184" y="5378291"/>
              <a:ext cx="42348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2023年​</a:t>
              </a:r>
            </a:p>
          </p:txBody>
        </p:sp>
        <p:sp>
          <p:nvSpPr>
            <p:cNvPr id="164" name="TextBox 164"/>
            <p:cNvSpPr txBox="1"/>
            <p:nvPr/>
          </p:nvSpPr>
          <p:spPr>
            <a:xfrm>
              <a:off x="8617934" y="5378291"/>
              <a:ext cx="42348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2024年​</a:t>
              </a:r>
            </a:p>
          </p:txBody>
        </p:sp>
        <p:sp>
          <p:nvSpPr>
            <p:cNvPr id="165" name="TextBox 165"/>
            <p:cNvSpPr txBox="1"/>
            <p:nvPr/>
          </p:nvSpPr>
          <p:spPr>
            <a:xfrm>
              <a:off x="9599816" y="5378291"/>
              <a:ext cx="555219"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2025年1H​</a:t>
              </a:r>
            </a:p>
          </p:txBody>
        </p:sp>
      </p:grpSp>
      <p:grpSp>
        <p:nvGrpSpPr>
          <p:cNvPr id="175" name="conclusion"/>
          <p:cNvGrpSpPr/>
          <p:nvPr/>
        </p:nvGrpSpPr>
        <p:grpSpPr>
          <a:xfrm>
            <a:off x="381000" y="5772150"/>
            <a:ext cx="11430000" cy="647700"/>
            <a:chOff x="381000" y="5772150"/>
            <a:chExt cx="11430000" cy="647700"/>
          </a:xfrm>
        </p:grpSpPr>
        <p:sp>
          <p:nvSpPr>
            <p:cNvPr id="167" name="Rectangle 167"/>
            <p:cNvSpPr/>
            <p:nvPr/>
          </p:nvSpPr>
          <p:spPr>
            <a:xfrm>
              <a:off x="381000" y="5772150"/>
              <a:ext cx="11430000" cy="647700"/>
            </a:xfrm>
            <a:prstGeom prst="rect">
              <a:avLst/>
            </a:prstGeom>
            <a:solidFill>
              <a:srgbClr val="A52D12"/>
            </a:solidFill>
            <a:ln>
              <a:noFill/>
            </a:ln>
          </p:spPr>
        </p:sp>
        <p:sp>
          <p:nvSpPr>
            <p:cNvPr id="168" name="Freeform 168"/>
            <p:cNvSpPr/>
            <p:nvPr/>
          </p:nvSpPr>
          <p:spPr>
            <a:xfrm>
              <a:off x="571500" y="5810250"/>
              <a:ext cx="914400" cy="381000"/>
            </a:xfrm>
            <a:prstGeom prst="homePlate">
              <a:avLst/>
            </a:prstGeom>
            <a:solidFill>
              <a:srgbClr val="8E240C"/>
            </a:solidFill>
            <a:ln>
              <a:noFill/>
            </a:ln>
          </p:spPr>
        </p:sp>
        <p:sp>
          <p:nvSpPr>
            <p:cNvPr id="169" name="TextBox 169"/>
            <p:cNvSpPr txBox="1"/>
            <p:nvPr/>
          </p:nvSpPr>
          <p:spPr>
            <a:xfrm>
              <a:off x="774954" y="5937885"/>
              <a:ext cx="335280"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结论</a:t>
              </a:r>
            </a:p>
          </p:txBody>
        </p:sp>
        <p:sp>
          <p:nvSpPr>
            <p:cNvPr id="170" name="TextBox 170"/>
            <p:cNvSpPr txBox="1"/>
            <p:nvPr/>
          </p:nvSpPr>
          <p:spPr>
            <a:xfrm>
              <a:off x="1747266" y="6039802"/>
              <a:ext cx="8633079"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聚焦主责主业，夯实对公业务压舱石作用；围绕重点领域与客户分层，深化综合金融服务，持续提升服务实体经济质效与高质量发展动能。</a:t>
              </a:r>
            </a:p>
          </p:txBody>
        </p:sp>
        <p:grpSp>
          <p:nvGrpSpPr>
            <p:cNvPr id="174" name="Group 174"/>
            <p:cNvGrpSpPr/>
            <p:nvPr/>
          </p:nvGrpSpPr>
          <p:grpSpPr>
            <a:xfrm>
              <a:off x="11358905" y="5962650"/>
              <a:ext cx="218364" cy="227203"/>
              <a:chOff x="11358905" y="5962650"/>
              <a:chExt cx="218364" cy="227203"/>
            </a:xfrm>
          </p:grpSpPr>
          <p:sp>
            <p:nvSpPr>
              <p:cNvPr id="171" name="Freeform 171"/>
              <p:cNvSpPr/>
              <p:nvPr/>
            </p:nvSpPr>
            <p:spPr>
              <a:xfrm>
                <a:off x="11391900" y="5962650"/>
                <a:ext cx="152400" cy="152400"/>
              </a:xfrm>
              <a:custGeom>
                <a:avLst/>
                <a:gdLst/>
                <a:ahLst/>
                <a:cxnLst/>
                <a:rect l="l" t="t" r="r" b="b"/>
                <a:pathLst>
                  <a:path w="152400" h="152400">
                    <a:moveTo>
                      <a:pt x="0" y="76200"/>
                    </a:moveTo>
                    <a:cubicBezTo>
                      <a:pt x="0" y="118284"/>
                      <a:pt x="34116" y="152400"/>
                      <a:pt x="76200" y="152400"/>
                    </a:cubicBezTo>
                    <a:cubicBezTo>
                      <a:pt x="118284" y="152400"/>
                      <a:pt x="152400" y="118284"/>
                      <a:pt x="152400" y="76200"/>
                    </a:cubicBezTo>
                    <a:cubicBezTo>
                      <a:pt x="152400" y="34116"/>
                      <a:pt x="118284" y="0"/>
                      <a:pt x="76200" y="0"/>
                    </a:cubicBezTo>
                    <a:cubicBezTo>
                      <a:pt x="34116" y="0"/>
                      <a:pt x="0" y="34116"/>
                      <a:pt x="0" y="76200"/>
                    </a:cubicBezTo>
                  </a:path>
                </a:pathLst>
              </a:custGeom>
              <a:noFill/>
              <a:ln w="25400">
                <a:solidFill>
                  <a:srgbClr val="E8988A"/>
                </a:solidFill>
              </a:ln>
            </p:spPr>
          </p:sp>
          <p:sp>
            <p:nvSpPr>
              <p:cNvPr id="172" name="Freeform 172"/>
              <p:cNvSpPr/>
              <p:nvPr/>
            </p:nvSpPr>
            <p:spPr>
              <a:xfrm>
                <a:off x="11468100" y="6076950"/>
                <a:ext cx="109169" cy="112903"/>
              </a:xfrm>
              <a:custGeom>
                <a:avLst/>
                <a:gdLst/>
                <a:ahLst/>
                <a:cxnLst/>
                <a:rect l="l" t="t" r="r" b="b"/>
                <a:pathLst>
                  <a:path w="109169" h="112903">
                    <a:moveTo>
                      <a:pt x="0" y="38100"/>
                    </a:moveTo>
                    <a:lnTo>
                      <a:pt x="43180" y="112903"/>
                    </a:lnTo>
                    <a:lnTo>
                      <a:pt x="63474" y="71844"/>
                    </a:lnTo>
                    <a:lnTo>
                      <a:pt x="109169" y="74790"/>
                    </a:lnTo>
                    <a:lnTo>
                      <a:pt x="65989" y="0"/>
                    </a:lnTo>
                  </a:path>
                </a:pathLst>
              </a:custGeom>
              <a:noFill/>
              <a:ln w="25400">
                <a:solidFill>
                  <a:srgbClr val="E8988A"/>
                </a:solidFill>
              </a:ln>
            </p:spPr>
          </p:sp>
          <p:sp>
            <p:nvSpPr>
              <p:cNvPr id="173" name="Freeform 173"/>
              <p:cNvSpPr/>
              <p:nvPr/>
            </p:nvSpPr>
            <p:spPr>
              <a:xfrm>
                <a:off x="11358905" y="6076950"/>
                <a:ext cx="109169" cy="112890"/>
              </a:xfrm>
              <a:custGeom>
                <a:avLst/>
                <a:gdLst/>
                <a:ahLst/>
                <a:cxnLst/>
                <a:rect l="l" t="t" r="r" b="b"/>
                <a:pathLst>
                  <a:path w="109169" h="112890">
                    <a:moveTo>
                      <a:pt x="43180" y="0"/>
                    </a:moveTo>
                    <a:lnTo>
                      <a:pt x="0" y="74803"/>
                    </a:lnTo>
                    <a:lnTo>
                      <a:pt x="45694" y="71844"/>
                    </a:lnTo>
                    <a:lnTo>
                      <a:pt x="65989" y="112890"/>
                    </a:lnTo>
                    <a:lnTo>
                      <a:pt x="109169" y="38100"/>
                    </a:lnTo>
                  </a:path>
                </a:pathLst>
              </a:custGeom>
              <a:noFill/>
              <a:ln w="25400">
                <a:solidFill>
                  <a:srgbClr val="E8988A"/>
                </a:solidFill>
              </a:ln>
            </p:spPr>
          </p:sp>
        </p:grpSp>
      </p:gr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05​</a:t>
              </a:r>
            </a:p>
          </p:txBody>
        </p:sp>
        <p:sp>
          <p:nvSpPr>
            <p:cNvPr id="4" name="TextBox 4"/>
            <p:cNvSpPr txBox="1"/>
            <p:nvPr/>
          </p:nvSpPr>
          <p:spPr>
            <a:xfrm>
              <a:off x="942594" y="189548"/>
              <a:ext cx="7786116"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以客户资产提升为核心，推动零售业务</a:t>
              </a:r>
              <a:r>
                <a:rPr lang="zh-CN" sz="1950" b="1" dirty="0">
                  <a:solidFill>
                    <a:srgbClr val="A52D12"/>
                  </a:solidFill>
                  <a:latin typeface="SimSun"/>
                  <a:ea typeface="SimSun"/>
                  <a:cs typeface="SimSun"/>
                </a:rPr>
                <a:t>从流量经营走向价值经营</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11" name="lead"/>
          <p:cNvGrpSpPr/>
          <p:nvPr/>
        </p:nvGrpSpPr>
        <p:grpSpPr>
          <a:xfrm>
            <a:off x="381000" y="723900"/>
            <a:ext cx="7842136" cy="742950"/>
            <a:chOff x="381000" y="723900"/>
            <a:chExt cx="7842136" cy="742950"/>
          </a:xfrm>
        </p:grpSpPr>
        <p:sp>
          <p:nvSpPr>
            <p:cNvPr id="7" name="Rectangle 7"/>
            <p:cNvSpPr/>
            <p:nvPr/>
          </p:nvSpPr>
          <p:spPr>
            <a:xfrm>
              <a:off x="381000" y="723900"/>
              <a:ext cx="38100" cy="742950"/>
            </a:xfrm>
            <a:prstGeom prst="rect">
              <a:avLst/>
            </a:prstGeom>
            <a:solidFill>
              <a:srgbClr val="A52D12"/>
            </a:solidFill>
            <a:ln>
              <a:noFill/>
            </a:ln>
          </p:spPr>
        </p:sp>
        <p:sp>
          <p:nvSpPr>
            <p:cNvPr id="8" name="TextBox 8"/>
            <p:cNvSpPr txBox="1"/>
            <p:nvPr/>
          </p:nvSpPr>
          <p:spPr>
            <a:xfrm>
              <a:off x="528447" y="751999"/>
              <a:ext cx="5959343"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零售AUM 4650亿元（+9.4%）；零售贷款3050亿元（+6.7%）；个人客户1850万户（新增126万）；​</a:t>
              </a:r>
            </a:p>
          </p:txBody>
        </p:sp>
        <p:sp>
          <p:nvSpPr>
            <p:cNvPr id="9" name="TextBox 9"/>
            <p:cNvSpPr txBox="1"/>
            <p:nvPr/>
          </p:nvSpPr>
          <p:spPr>
            <a:xfrm>
              <a:off x="528447" y="980599"/>
              <a:ext cx="6219091"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手机银行MAU 620万户（+13.8%）。</a:t>
              </a:r>
              <a:r>
                <a:rPr lang="zh-CN" sz="980" b="1" dirty="0">
                  <a:solidFill>
                    <a:srgbClr val="A52D12"/>
                  </a:solidFill>
                  <a:latin typeface="+mn-lt"/>
                  <a:ea typeface="+mn-ea"/>
                  <a:cs typeface="+mn-cs"/>
                </a:rPr>
                <a:t>财富客户分层金字塔：</a:t>
              </a:r>
              <a:r>
                <a:rPr lang="zh-CN" sz="980" dirty="0">
                  <a:solidFill>
                    <a:srgbClr val="3A3A3A"/>
                  </a:solidFill>
                  <a:latin typeface="+mn-lt"/>
                  <a:ea typeface="+mn-ea"/>
                  <a:cs typeface="+mn-cs"/>
                </a:rPr>
                <a:t>私人银行、财富管理、潜力客户、大众客户；​</a:t>
              </a:r>
            </a:p>
          </p:txBody>
        </p:sp>
        <p:sp>
          <p:nvSpPr>
            <p:cNvPr id="10" name="TextBox 10"/>
            <p:cNvSpPr txBox="1"/>
            <p:nvPr/>
          </p:nvSpPr>
          <p:spPr>
            <a:xfrm>
              <a:off x="528447" y="1209199"/>
              <a:ext cx="7694689" cy="190690"/>
            </a:xfrm>
            <a:prstGeom prst="rect">
              <a:avLst/>
            </a:prstGeom>
            <a:noFill/>
            <a:ln>
              <a:noFill/>
            </a:ln>
          </p:spPr>
          <p:txBody>
            <a:bodyPr wrap="none" lIns="0" tIns="0" rIns="0" bIns="0" anchor="t" anchorCtr="0">
              <a:spAutoFit/>
            </a:bodyPr>
            <a:lstStyle/>
            <a:p>
              <a:pPr algn="l"/>
              <a:r>
                <a:rPr lang="zh-CN" sz="980" b="1" dirty="0">
                  <a:solidFill>
                    <a:srgbClr val="A52D12"/>
                  </a:solidFill>
                  <a:latin typeface="+mn-lt"/>
                  <a:ea typeface="+mn-ea"/>
                  <a:cs typeface="+mn-cs"/>
                </a:rPr>
                <a:t>产品结构环形图：</a:t>
              </a:r>
              <a:r>
                <a:rPr lang="zh-CN" sz="980" dirty="0">
                  <a:solidFill>
                    <a:srgbClr val="3A3A3A"/>
                  </a:solidFill>
                  <a:latin typeface="+mn-lt"/>
                  <a:ea typeface="+mn-ea"/>
                  <a:cs typeface="+mn-cs"/>
                </a:rPr>
                <a:t>存款42%、理财26%、基金12%、保险8%、其他12%；</a:t>
              </a:r>
              <a:r>
                <a:rPr lang="zh-CN" sz="980" b="1" dirty="0">
                  <a:solidFill>
                    <a:srgbClr val="A52D12"/>
                  </a:solidFill>
                  <a:latin typeface="+mn-lt"/>
                  <a:ea typeface="+mn-ea"/>
                  <a:cs typeface="+mn-cs"/>
                </a:rPr>
                <a:t>三项行动：</a:t>
              </a:r>
              <a:r>
                <a:rPr lang="zh-CN" sz="980" dirty="0">
                  <a:solidFill>
                    <a:srgbClr val="3A3A3A"/>
                  </a:solidFill>
                  <a:latin typeface="+mn-lt"/>
                  <a:ea typeface="+mn-ea"/>
                  <a:cs typeface="+mn-cs"/>
                </a:rPr>
                <a:t>代发客群扩容、财富产品升级、消费场景深耕。​</a:t>
              </a:r>
            </a:p>
          </p:txBody>
        </p:sp>
      </p:grpSp>
      <p:grpSp>
        <p:nvGrpSpPr>
          <p:cNvPr id="51" name="retail-kpi"/>
          <p:cNvGrpSpPr/>
          <p:nvPr/>
        </p:nvGrpSpPr>
        <p:grpSpPr>
          <a:xfrm>
            <a:off x="381000" y="1638300"/>
            <a:ext cx="2476500" cy="3943350"/>
            <a:chOff x="381000" y="1638300"/>
            <a:chExt cx="2476500" cy="3943350"/>
          </a:xfrm>
        </p:grpSpPr>
        <p:sp>
          <p:nvSpPr>
            <p:cNvPr id="12" name="Rectangle 12"/>
            <p:cNvSpPr/>
            <p:nvPr/>
          </p:nvSpPr>
          <p:spPr>
            <a:xfrm>
              <a:off x="381000" y="1638300"/>
              <a:ext cx="2476500" cy="3943350"/>
            </a:xfrm>
            <a:prstGeom prst="roundRect">
              <a:avLst>
                <a:gd name="adj" fmla="val 3077"/>
              </a:avLst>
            </a:prstGeom>
            <a:solidFill>
              <a:srgbClr val="FDF6F5"/>
            </a:solidFill>
            <a:ln w="9525">
              <a:solidFill>
                <a:srgbClr val="EDD5D2"/>
              </a:solidFill>
            </a:ln>
          </p:spPr>
        </p:sp>
        <p:sp>
          <p:nvSpPr>
            <p:cNvPr id="13" name="Freeform 13"/>
            <p:cNvSpPr/>
            <p:nvPr/>
          </p:nvSpPr>
          <p:spPr>
            <a:xfrm>
              <a:off x="390525" y="1647825"/>
              <a:ext cx="2457450" cy="228600"/>
            </a:xfrm>
            <a:custGeom>
              <a:avLst/>
              <a:gdLst/>
              <a:ahLst/>
              <a:cxnLst/>
              <a:rect l="l" t="t" r="r" b="b"/>
              <a:pathLst>
                <a:path w="2457450" h="228600">
                  <a:moveTo>
                    <a:pt x="0" y="228600"/>
                  </a:moveTo>
                  <a:lnTo>
                    <a:pt x="2457450" y="228600"/>
                  </a:lnTo>
                  <a:lnTo>
                    <a:pt x="2457450" y="66675"/>
                  </a:lnTo>
                  <a:cubicBezTo>
                    <a:pt x="2457450" y="29851"/>
                    <a:pt x="2427599" y="0"/>
                    <a:pt x="2390775" y="0"/>
                  </a:cubicBezTo>
                  <a:lnTo>
                    <a:pt x="66675" y="0"/>
                  </a:lnTo>
                  <a:cubicBezTo>
                    <a:pt x="29851" y="0"/>
                    <a:pt x="0" y="29851"/>
                    <a:pt x="0" y="66675"/>
                  </a:cubicBezTo>
                  <a:close/>
                </a:path>
              </a:pathLst>
            </a:custGeom>
            <a:solidFill>
              <a:srgbClr val="A52D12"/>
            </a:solidFill>
            <a:ln>
              <a:noFill/>
            </a:ln>
          </p:spPr>
        </p:sp>
        <p:sp>
          <p:nvSpPr>
            <p:cNvPr id="14" name="TextBox 14"/>
            <p:cNvSpPr txBox="1"/>
            <p:nvPr/>
          </p:nvSpPr>
          <p:spPr>
            <a:xfrm>
              <a:off x="1189863" y="169640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核心经营指标</a:t>
              </a:r>
            </a:p>
          </p:txBody>
        </p:sp>
        <p:sp>
          <p:nvSpPr>
            <p:cNvPr id="15" name="Ellipse 15"/>
            <p:cNvSpPr/>
            <p:nvPr/>
          </p:nvSpPr>
          <p:spPr>
            <a:xfrm>
              <a:off x="561975" y="2105025"/>
              <a:ext cx="285750" cy="285750"/>
            </a:xfrm>
            <a:prstGeom prst="ellipse">
              <a:avLst/>
            </a:prstGeom>
            <a:solidFill>
              <a:srgbClr val="F7E9E7"/>
            </a:solidFill>
            <a:ln>
              <a:noFill/>
            </a:ln>
          </p:spPr>
        </p:sp>
        <p:grpSp>
          <p:nvGrpSpPr>
            <p:cNvPr id="18" name="Group 18"/>
            <p:cNvGrpSpPr/>
            <p:nvPr/>
          </p:nvGrpSpPr>
          <p:grpSpPr>
            <a:xfrm>
              <a:off x="654050" y="2197100"/>
              <a:ext cx="101600" cy="101600"/>
              <a:chOff x="654050" y="2197100"/>
              <a:chExt cx="101600" cy="101600"/>
            </a:xfrm>
          </p:grpSpPr>
          <p:sp>
            <p:nvSpPr>
              <p:cNvPr id="16" name="Freeform 16"/>
              <p:cNvSpPr/>
              <p:nvPr/>
            </p:nvSpPr>
            <p:spPr>
              <a:xfrm>
                <a:off x="654050" y="2197100"/>
                <a:ext cx="95250" cy="101600"/>
              </a:xfrm>
              <a:custGeom>
                <a:avLst/>
                <a:gdLst/>
                <a:ahLst/>
                <a:cxnLst/>
                <a:rect l="l" t="t" r="r" b="b"/>
                <a:pathLst>
                  <a:path w="95250" h="101600">
                    <a:moveTo>
                      <a:pt x="82550" y="25400"/>
                    </a:moveTo>
                    <a:lnTo>
                      <a:pt x="82550" y="6350"/>
                    </a:lnTo>
                    <a:cubicBezTo>
                      <a:pt x="82550" y="2843"/>
                      <a:pt x="79707" y="0"/>
                      <a:pt x="76200" y="0"/>
                    </a:cubicBezTo>
                    <a:lnTo>
                      <a:pt x="12700" y="0"/>
                    </a:lnTo>
                    <a:cubicBezTo>
                      <a:pt x="5686" y="0"/>
                      <a:pt x="0" y="5686"/>
                      <a:pt x="0" y="12700"/>
                    </a:cubicBezTo>
                    <a:cubicBezTo>
                      <a:pt x="0" y="19714"/>
                      <a:pt x="5686" y="25400"/>
                      <a:pt x="12700" y="25400"/>
                    </a:cubicBezTo>
                    <a:lnTo>
                      <a:pt x="88900" y="25400"/>
                    </a:lnTo>
                    <a:cubicBezTo>
                      <a:pt x="92407" y="25400"/>
                      <a:pt x="95250" y="28243"/>
                      <a:pt x="95250" y="31750"/>
                    </a:cubicBezTo>
                    <a:lnTo>
                      <a:pt x="95250" y="50800"/>
                    </a:lnTo>
                    <a:moveTo>
                      <a:pt x="95250" y="76200"/>
                    </a:moveTo>
                    <a:lnTo>
                      <a:pt x="95250" y="95250"/>
                    </a:lnTo>
                    <a:cubicBezTo>
                      <a:pt x="95250" y="98757"/>
                      <a:pt x="92407" y="101600"/>
                      <a:pt x="88900" y="101600"/>
                    </a:cubicBezTo>
                    <a:lnTo>
                      <a:pt x="12700" y="101600"/>
                    </a:lnTo>
                    <a:cubicBezTo>
                      <a:pt x="5686" y="101600"/>
                      <a:pt x="0" y="95914"/>
                      <a:pt x="0" y="88900"/>
                    </a:cubicBezTo>
                    <a:lnTo>
                      <a:pt x="0" y="12700"/>
                    </a:lnTo>
                  </a:path>
                </a:pathLst>
              </a:custGeom>
              <a:noFill/>
              <a:ln w="12700">
                <a:solidFill>
                  <a:srgbClr val="A52D12"/>
                </a:solidFill>
              </a:ln>
            </p:spPr>
          </p:sp>
          <p:sp>
            <p:nvSpPr>
              <p:cNvPr id="17" name="Freeform 17"/>
              <p:cNvSpPr/>
              <p:nvPr/>
            </p:nvSpPr>
            <p:spPr>
              <a:xfrm>
                <a:off x="717550" y="2247900"/>
                <a:ext cx="38100" cy="25400"/>
              </a:xfrm>
              <a:custGeom>
                <a:avLst/>
                <a:gdLst/>
                <a:ahLst/>
                <a:cxnLst/>
                <a:rect l="l" t="t" r="r" b="b"/>
                <a:pathLst>
                  <a:path w="38100" h="25400">
                    <a:moveTo>
                      <a:pt x="38100" y="0"/>
                    </a:moveTo>
                    <a:lnTo>
                      <a:pt x="38100" y="25400"/>
                    </a:lnTo>
                    <a:lnTo>
                      <a:pt x="12700" y="25400"/>
                    </a:lnTo>
                    <a:cubicBezTo>
                      <a:pt x="5686" y="25400"/>
                      <a:pt x="0" y="19714"/>
                      <a:pt x="0" y="12700"/>
                    </a:cubicBezTo>
                    <a:cubicBezTo>
                      <a:pt x="0" y="5686"/>
                      <a:pt x="5686" y="0"/>
                      <a:pt x="12700" y="0"/>
                    </a:cubicBezTo>
                    <a:lnTo>
                      <a:pt x="38100" y="0"/>
                    </a:lnTo>
                  </a:path>
                </a:pathLst>
              </a:custGeom>
              <a:noFill/>
              <a:ln w="12700">
                <a:solidFill>
                  <a:srgbClr val="A52D12"/>
                </a:solidFill>
              </a:ln>
            </p:spPr>
          </p:sp>
        </p:grpSp>
        <p:sp>
          <p:nvSpPr>
            <p:cNvPr id="19" name="TextBox 19"/>
            <p:cNvSpPr txBox="1"/>
            <p:nvPr/>
          </p:nvSpPr>
          <p:spPr>
            <a:xfrm>
              <a:off x="928688" y="2093595"/>
              <a:ext cx="55907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零售AUM​</a:t>
              </a:r>
            </a:p>
          </p:txBody>
        </p:sp>
        <p:sp>
          <p:nvSpPr>
            <p:cNvPr id="20" name="TextBox 20"/>
            <p:cNvSpPr txBox="1"/>
            <p:nvPr/>
          </p:nvSpPr>
          <p:spPr>
            <a:xfrm>
              <a:off x="926211" y="2265521"/>
              <a:ext cx="839369" cy="278702"/>
            </a:xfrm>
            <a:prstGeom prst="rect">
              <a:avLst/>
            </a:prstGeom>
            <a:noFill/>
            <a:ln>
              <a:noFill/>
            </a:ln>
          </p:spPr>
          <p:txBody>
            <a:bodyPr wrap="none" lIns="0" tIns="0" rIns="0" bIns="0" anchor="t" anchorCtr="0">
              <a:spAutoFit/>
            </a:bodyPr>
            <a:lstStyle/>
            <a:p>
              <a:pPr algn="l"/>
              <a:r>
                <a:rPr lang="zh-CN" sz="1420" b="1" dirty="0">
                  <a:solidFill>
                    <a:srgbClr val="A52D12"/>
                  </a:solidFill>
                  <a:latin typeface="+mn-lt"/>
                  <a:ea typeface="+mn-ea"/>
                  <a:cs typeface="+mn-cs"/>
                </a:rPr>
                <a:t xml:space="preserve">4650 </a:t>
              </a:r>
              <a:r>
                <a:rPr lang="zh-CN" sz="790" dirty="0">
                  <a:solidFill>
                    <a:srgbClr val="A52D12"/>
                  </a:solidFill>
                  <a:latin typeface="+mn-lt"/>
                  <a:ea typeface="+mn-ea"/>
                  <a:cs typeface="+mn-cs"/>
                </a:rPr>
                <a:t>亿元</a:t>
              </a:r>
              <a:r>
                <a:rPr lang="zh-CN" sz="1420" b="1" dirty="0">
                  <a:solidFill>
                    <a:srgbClr val="A52D12"/>
                  </a:solidFill>
                  <a:latin typeface="+mn-lt"/>
                  <a:ea typeface="+mn-ea"/>
                  <a:cs typeface="+mn-cs"/>
                </a:rPr>
                <a:t>​</a:t>
              </a:r>
            </a:p>
          </p:txBody>
        </p:sp>
        <p:sp>
          <p:nvSpPr>
            <p:cNvPr id="21" name="TextBox 21"/>
            <p:cNvSpPr txBox="1"/>
            <p:nvPr/>
          </p:nvSpPr>
          <p:spPr>
            <a:xfrm>
              <a:off x="1862138" y="2230993"/>
              <a:ext cx="538319" cy="169069"/>
            </a:xfrm>
            <a:prstGeom prst="rect">
              <a:avLst/>
            </a:prstGeom>
            <a:noFill/>
            <a:ln>
              <a:noFill/>
            </a:ln>
          </p:spPr>
          <p:txBody>
            <a:bodyPr wrap="none" lIns="0" tIns="0" rIns="0" bIns="0" anchor="t" anchorCtr="0">
              <a:spAutoFit/>
            </a:bodyPr>
            <a:lstStyle/>
            <a:p>
              <a:pPr algn="l"/>
              <a:r>
                <a:rPr lang="zh-CN" sz="860" b="1" dirty="0">
                  <a:solidFill>
                    <a:srgbClr val="A52D12"/>
                  </a:solidFill>
                  <a:latin typeface="+mn-lt"/>
                  <a:ea typeface="+mn-ea"/>
                  <a:cs typeface="+mn-cs"/>
                </a:rPr>
                <a:t>↑ +9.4%​</a:t>
              </a:r>
            </a:p>
          </p:txBody>
        </p:sp>
        <p:sp>
          <p:nvSpPr>
            <p:cNvPr id="22" name="Line 22"/>
            <p:cNvSpPr/>
            <p:nvPr/>
          </p:nvSpPr>
          <p:spPr>
            <a:xfrm>
              <a:off x="571500" y="2590800"/>
              <a:ext cx="2095500" cy="9525"/>
            </a:xfrm>
            <a:custGeom>
              <a:avLst/>
              <a:gdLst/>
              <a:ahLst/>
              <a:cxnLst/>
              <a:rect l="l" t="t" r="r" b="b"/>
              <a:pathLst>
                <a:path w="2095500" h="9525">
                  <a:moveTo>
                    <a:pt x="0" y="0"/>
                  </a:moveTo>
                  <a:lnTo>
                    <a:pt x="2095500" y="0"/>
                  </a:lnTo>
                </a:path>
              </a:pathLst>
            </a:custGeom>
            <a:noFill/>
            <a:ln w="9525">
              <a:solidFill>
                <a:srgbClr val="EDD5D2"/>
              </a:solidFill>
            </a:ln>
          </p:spPr>
        </p:sp>
        <p:sp>
          <p:nvSpPr>
            <p:cNvPr id="23" name="Ellipse 23"/>
            <p:cNvSpPr/>
            <p:nvPr/>
          </p:nvSpPr>
          <p:spPr>
            <a:xfrm>
              <a:off x="561975" y="3000375"/>
              <a:ext cx="285750" cy="285750"/>
            </a:xfrm>
            <a:prstGeom prst="ellipse">
              <a:avLst/>
            </a:prstGeom>
            <a:solidFill>
              <a:srgbClr val="F7E9E7"/>
            </a:solidFill>
            <a:ln>
              <a:noFill/>
            </a:ln>
          </p:spPr>
        </p:sp>
        <p:grpSp>
          <p:nvGrpSpPr>
            <p:cNvPr id="27" name="Group 27"/>
            <p:cNvGrpSpPr/>
            <p:nvPr/>
          </p:nvGrpSpPr>
          <p:grpSpPr>
            <a:xfrm>
              <a:off x="647700" y="3098800"/>
              <a:ext cx="114300" cy="88900"/>
              <a:chOff x="647700" y="3098800"/>
              <a:chExt cx="114300" cy="88900"/>
            </a:xfrm>
          </p:grpSpPr>
          <p:sp>
            <p:nvSpPr>
              <p:cNvPr id="24" name="Freeform 24"/>
              <p:cNvSpPr/>
              <p:nvPr/>
            </p:nvSpPr>
            <p:spPr>
              <a:xfrm>
                <a:off x="647700" y="3098800"/>
                <a:ext cx="88900" cy="63500"/>
              </a:xfrm>
              <a:custGeom>
                <a:avLst/>
                <a:gdLst/>
                <a:ahLst/>
                <a:cxnLst/>
                <a:rect l="l" t="t" r="r" b="b"/>
                <a:pathLst>
                  <a:path w="88900" h="63500">
                    <a:moveTo>
                      <a:pt x="25400" y="63500"/>
                    </a:moveTo>
                    <a:lnTo>
                      <a:pt x="6350" y="63500"/>
                    </a:lnTo>
                    <a:cubicBezTo>
                      <a:pt x="2843" y="63500"/>
                      <a:pt x="0" y="60657"/>
                      <a:pt x="0" y="57150"/>
                    </a:cubicBezTo>
                    <a:lnTo>
                      <a:pt x="0" y="6350"/>
                    </a:lnTo>
                    <a:cubicBezTo>
                      <a:pt x="0" y="2843"/>
                      <a:pt x="2843" y="0"/>
                      <a:pt x="6350" y="0"/>
                    </a:cubicBezTo>
                    <a:lnTo>
                      <a:pt x="82550" y="0"/>
                    </a:lnTo>
                    <a:cubicBezTo>
                      <a:pt x="86057" y="0"/>
                      <a:pt x="88900" y="2843"/>
                      <a:pt x="88900" y="6350"/>
                    </a:cubicBezTo>
                    <a:lnTo>
                      <a:pt x="88900" y="25400"/>
                    </a:lnTo>
                  </a:path>
                </a:pathLst>
              </a:custGeom>
              <a:noFill/>
              <a:ln w="12700">
                <a:solidFill>
                  <a:srgbClr val="A52D12"/>
                </a:solidFill>
              </a:ln>
            </p:spPr>
          </p:sp>
          <p:sp>
            <p:nvSpPr>
              <p:cNvPr id="25" name="Freeform 25"/>
              <p:cNvSpPr/>
              <p:nvPr/>
            </p:nvSpPr>
            <p:spPr>
              <a:xfrm>
                <a:off x="673100" y="3124200"/>
                <a:ext cx="88900" cy="63500"/>
              </a:xfrm>
              <a:custGeom>
                <a:avLst/>
                <a:gdLst/>
                <a:ahLst/>
                <a:cxnLst/>
                <a:rect l="l" t="t" r="r" b="b"/>
                <a:pathLst>
                  <a:path w="88900" h="63500">
                    <a:moveTo>
                      <a:pt x="0" y="6350"/>
                    </a:moveTo>
                    <a:cubicBezTo>
                      <a:pt x="0" y="2843"/>
                      <a:pt x="2843" y="0"/>
                      <a:pt x="6350" y="0"/>
                    </a:cubicBezTo>
                    <a:lnTo>
                      <a:pt x="82550" y="0"/>
                    </a:lnTo>
                    <a:cubicBezTo>
                      <a:pt x="86057" y="0"/>
                      <a:pt x="88900" y="2843"/>
                      <a:pt x="88900" y="6350"/>
                    </a:cubicBezTo>
                    <a:lnTo>
                      <a:pt x="88900" y="57150"/>
                    </a:lnTo>
                    <a:cubicBezTo>
                      <a:pt x="88900" y="60657"/>
                      <a:pt x="86057" y="63500"/>
                      <a:pt x="82550" y="63500"/>
                    </a:cubicBezTo>
                    <a:lnTo>
                      <a:pt x="6350" y="63500"/>
                    </a:lnTo>
                    <a:cubicBezTo>
                      <a:pt x="2843" y="63500"/>
                      <a:pt x="0" y="60657"/>
                      <a:pt x="0" y="57150"/>
                    </a:cubicBezTo>
                    <a:lnTo>
                      <a:pt x="0" y="6350"/>
                    </a:lnTo>
                  </a:path>
                </a:pathLst>
              </a:custGeom>
              <a:noFill/>
              <a:ln w="12700">
                <a:solidFill>
                  <a:srgbClr val="A52D12"/>
                </a:solidFill>
              </a:ln>
            </p:spPr>
          </p:sp>
          <p:sp>
            <p:nvSpPr>
              <p:cNvPr id="26" name="Freeform 26"/>
              <p:cNvSpPr/>
              <p:nvPr/>
            </p:nvSpPr>
            <p:spPr>
              <a:xfrm>
                <a:off x="704850" y="3143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52D12"/>
                </a:solidFill>
              </a:ln>
            </p:spPr>
          </p:sp>
        </p:grpSp>
        <p:sp>
          <p:nvSpPr>
            <p:cNvPr id="28" name="TextBox 28"/>
            <p:cNvSpPr txBox="1"/>
            <p:nvPr/>
          </p:nvSpPr>
          <p:spPr>
            <a:xfrm>
              <a:off x="928688" y="2988945"/>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零售贷款</a:t>
              </a:r>
            </a:p>
          </p:txBody>
        </p:sp>
        <p:sp>
          <p:nvSpPr>
            <p:cNvPr id="29" name="TextBox 29"/>
            <p:cNvSpPr txBox="1"/>
            <p:nvPr/>
          </p:nvSpPr>
          <p:spPr>
            <a:xfrm>
              <a:off x="926211" y="3160871"/>
              <a:ext cx="839369" cy="278702"/>
            </a:xfrm>
            <a:prstGeom prst="rect">
              <a:avLst/>
            </a:prstGeom>
            <a:noFill/>
            <a:ln>
              <a:noFill/>
            </a:ln>
          </p:spPr>
          <p:txBody>
            <a:bodyPr wrap="none" lIns="0" tIns="0" rIns="0" bIns="0" anchor="t" anchorCtr="0">
              <a:spAutoFit/>
            </a:bodyPr>
            <a:lstStyle/>
            <a:p>
              <a:pPr algn="l"/>
              <a:r>
                <a:rPr lang="zh-CN" sz="1420" b="1" dirty="0">
                  <a:solidFill>
                    <a:srgbClr val="A52D12"/>
                  </a:solidFill>
                  <a:latin typeface="+mn-lt"/>
                  <a:ea typeface="+mn-ea"/>
                  <a:cs typeface="+mn-cs"/>
                </a:rPr>
                <a:t xml:space="preserve">3050 </a:t>
              </a:r>
              <a:r>
                <a:rPr lang="zh-CN" sz="790" dirty="0">
                  <a:solidFill>
                    <a:srgbClr val="A52D12"/>
                  </a:solidFill>
                  <a:latin typeface="+mn-lt"/>
                  <a:ea typeface="+mn-ea"/>
                  <a:cs typeface="+mn-cs"/>
                </a:rPr>
                <a:t>亿元</a:t>
              </a:r>
              <a:r>
                <a:rPr lang="zh-CN" sz="1420" b="1" dirty="0">
                  <a:solidFill>
                    <a:srgbClr val="A52D12"/>
                  </a:solidFill>
                  <a:latin typeface="+mn-lt"/>
                  <a:ea typeface="+mn-ea"/>
                  <a:cs typeface="+mn-cs"/>
                </a:rPr>
                <a:t>​</a:t>
              </a:r>
            </a:p>
          </p:txBody>
        </p:sp>
        <p:sp>
          <p:nvSpPr>
            <p:cNvPr id="30" name="TextBox 30"/>
            <p:cNvSpPr txBox="1"/>
            <p:nvPr/>
          </p:nvSpPr>
          <p:spPr>
            <a:xfrm>
              <a:off x="1862138" y="3126343"/>
              <a:ext cx="538319" cy="169069"/>
            </a:xfrm>
            <a:prstGeom prst="rect">
              <a:avLst/>
            </a:prstGeom>
            <a:noFill/>
            <a:ln>
              <a:noFill/>
            </a:ln>
          </p:spPr>
          <p:txBody>
            <a:bodyPr wrap="none" lIns="0" tIns="0" rIns="0" bIns="0" anchor="t" anchorCtr="0">
              <a:spAutoFit/>
            </a:bodyPr>
            <a:lstStyle/>
            <a:p>
              <a:pPr algn="l"/>
              <a:r>
                <a:rPr lang="zh-CN" sz="860" b="1" dirty="0">
                  <a:solidFill>
                    <a:srgbClr val="A52D12"/>
                  </a:solidFill>
                  <a:latin typeface="+mn-lt"/>
                  <a:ea typeface="+mn-ea"/>
                  <a:cs typeface="+mn-cs"/>
                </a:rPr>
                <a:t>↑ +6.7%​</a:t>
              </a:r>
            </a:p>
          </p:txBody>
        </p:sp>
        <p:sp>
          <p:nvSpPr>
            <p:cNvPr id="31" name="Line 31"/>
            <p:cNvSpPr/>
            <p:nvPr/>
          </p:nvSpPr>
          <p:spPr>
            <a:xfrm>
              <a:off x="571500" y="3486150"/>
              <a:ext cx="2095500" cy="9525"/>
            </a:xfrm>
            <a:custGeom>
              <a:avLst/>
              <a:gdLst/>
              <a:ahLst/>
              <a:cxnLst/>
              <a:rect l="l" t="t" r="r" b="b"/>
              <a:pathLst>
                <a:path w="2095500" h="9525">
                  <a:moveTo>
                    <a:pt x="0" y="0"/>
                  </a:moveTo>
                  <a:lnTo>
                    <a:pt x="2095500" y="0"/>
                  </a:lnTo>
                </a:path>
              </a:pathLst>
            </a:custGeom>
            <a:noFill/>
            <a:ln w="9525">
              <a:solidFill>
                <a:srgbClr val="EDD5D2"/>
              </a:solidFill>
            </a:ln>
          </p:spPr>
        </p:sp>
        <p:sp>
          <p:nvSpPr>
            <p:cNvPr id="32" name="Ellipse 32"/>
            <p:cNvSpPr/>
            <p:nvPr/>
          </p:nvSpPr>
          <p:spPr>
            <a:xfrm>
              <a:off x="561975" y="3895725"/>
              <a:ext cx="285750" cy="285750"/>
            </a:xfrm>
            <a:prstGeom prst="ellipse">
              <a:avLst/>
            </a:prstGeom>
            <a:solidFill>
              <a:srgbClr val="F7E9E7"/>
            </a:solidFill>
            <a:ln>
              <a:noFill/>
            </a:ln>
          </p:spPr>
        </p:sp>
        <p:grpSp>
          <p:nvGrpSpPr>
            <p:cNvPr id="37" name="Group 37"/>
            <p:cNvGrpSpPr/>
            <p:nvPr/>
          </p:nvGrpSpPr>
          <p:grpSpPr>
            <a:xfrm>
              <a:off x="647700" y="3981450"/>
              <a:ext cx="114300" cy="114301"/>
              <a:chOff x="647700" y="3981450"/>
              <a:chExt cx="114300" cy="114301"/>
            </a:xfrm>
          </p:grpSpPr>
          <p:sp>
            <p:nvSpPr>
              <p:cNvPr id="33" name="Freeform 33"/>
              <p:cNvSpPr/>
              <p:nvPr/>
            </p:nvSpPr>
            <p:spPr>
              <a:xfrm>
                <a:off x="660400" y="39814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52D12"/>
                </a:solidFill>
              </a:ln>
            </p:spPr>
          </p:sp>
          <p:sp>
            <p:nvSpPr>
              <p:cNvPr id="34" name="Freeform 34"/>
              <p:cNvSpPr/>
              <p:nvPr/>
            </p:nvSpPr>
            <p:spPr>
              <a:xfrm>
                <a:off x="647700" y="40576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A52D12"/>
                </a:solidFill>
              </a:ln>
            </p:spPr>
          </p:sp>
          <p:sp>
            <p:nvSpPr>
              <p:cNvPr id="35" name="Freeform 35"/>
              <p:cNvSpPr/>
              <p:nvPr/>
            </p:nvSpPr>
            <p:spPr>
              <a:xfrm>
                <a:off x="730250" y="39822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A52D12"/>
                </a:solidFill>
              </a:ln>
            </p:spPr>
          </p:sp>
          <p:sp>
            <p:nvSpPr>
              <p:cNvPr id="36" name="Freeform 36"/>
              <p:cNvSpPr/>
              <p:nvPr/>
            </p:nvSpPr>
            <p:spPr>
              <a:xfrm>
                <a:off x="742950" y="40586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A52D12"/>
                </a:solidFill>
              </a:ln>
            </p:spPr>
          </p:sp>
        </p:grpSp>
        <p:sp>
          <p:nvSpPr>
            <p:cNvPr id="38" name="TextBox 38"/>
            <p:cNvSpPr txBox="1"/>
            <p:nvPr/>
          </p:nvSpPr>
          <p:spPr>
            <a:xfrm>
              <a:off x="928688" y="3884295"/>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个人客户</a:t>
              </a:r>
            </a:p>
          </p:txBody>
        </p:sp>
        <p:sp>
          <p:nvSpPr>
            <p:cNvPr id="39" name="TextBox 39"/>
            <p:cNvSpPr txBox="1"/>
            <p:nvPr/>
          </p:nvSpPr>
          <p:spPr>
            <a:xfrm>
              <a:off x="926211" y="4056221"/>
              <a:ext cx="839369" cy="278702"/>
            </a:xfrm>
            <a:prstGeom prst="rect">
              <a:avLst/>
            </a:prstGeom>
            <a:noFill/>
            <a:ln>
              <a:noFill/>
            </a:ln>
          </p:spPr>
          <p:txBody>
            <a:bodyPr wrap="none" lIns="0" tIns="0" rIns="0" bIns="0" anchor="t" anchorCtr="0">
              <a:spAutoFit/>
            </a:bodyPr>
            <a:lstStyle/>
            <a:p>
              <a:pPr algn="l"/>
              <a:r>
                <a:rPr lang="zh-CN" sz="1420" b="1" dirty="0">
                  <a:solidFill>
                    <a:srgbClr val="A52D12"/>
                  </a:solidFill>
                  <a:latin typeface="+mn-lt"/>
                  <a:ea typeface="+mn-ea"/>
                  <a:cs typeface="+mn-cs"/>
                </a:rPr>
                <a:t xml:space="preserve">1850 </a:t>
              </a:r>
              <a:r>
                <a:rPr lang="zh-CN" sz="790" dirty="0">
                  <a:solidFill>
                    <a:srgbClr val="A52D12"/>
                  </a:solidFill>
                  <a:latin typeface="+mn-lt"/>
                  <a:ea typeface="+mn-ea"/>
                  <a:cs typeface="+mn-cs"/>
                </a:rPr>
                <a:t>万户</a:t>
              </a:r>
              <a:r>
                <a:rPr lang="zh-CN" sz="1420" b="1" dirty="0">
                  <a:solidFill>
                    <a:srgbClr val="A52D12"/>
                  </a:solidFill>
                  <a:latin typeface="+mn-lt"/>
                  <a:ea typeface="+mn-ea"/>
                  <a:cs typeface="+mn-cs"/>
                </a:rPr>
                <a:t>​</a:t>
              </a:r>
            </a:p>
          </p:txBody>
        </p:sp>
        <p:sp>
          <p:nvSpPr>
            <p:cNvPr id="40" name="TextBox 40"/>
            <p:cNvSpPr txBox="1"/>
            <p:nvPr/>
          </p:nvSpPr>
          <p:spPr>
            <a:xfrm>
              <a:off x="1862138" y="4029789"/>
              <a:ext cx="222225"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新增</a:t>
              </a:r>
            </a:p>
          </p:txBody>
        </p:sp>
        <p:sp>
          <p:nvSpPr>
            <p:cNvPr id="41" name="TextBox 41"/>
            <p:cNvSpPr txBox="1"/>
            <p:nvPr/>
          </p:nvSpPr>
          <p:spPr>
            <a:xfrm>
              <a:off x="1862138" y="4193143"/>
              <a:ext cx="392734" cy="169069"/>
            </a:xfrm>
            <a:prstGeom prst="rect">
              <a:avLst/>
            </a:prstGeom>
            <a:noFill/>
            <a:ln>
              <a:noFill/>
            </a:ln>
          </p:spPr>
          <p:txBody>
            <a:bodyPr wrap="none" lIns="0" tIns="0" rIns="0" bIns="0" anchor="t" anchorCtr="0">
              <a:spAutoFit/>
            </a:bodyPr>
            <a:lstStyle/>
            <a:p>
              <a:pPr algn="l"/>
              <a:r>
                <a:rPr lang="zh-CN" sz="860" b="1" dirty="0">
                  <a:solidFill>
                    <a:srgbClr val="A52D12"/>
                  </a:solidFill>
                  <a:latin typeface="+mn-lt"/>
                  <a:ea typeface="+mn-ea"/>
                  <a:cs typeface="+mn-cs"/>
                </a:rPr>
                <a:t>126万​</a:t>
              </a:r>
            </a:p>
          </p:txBody>
        </p:sp>
        <p:sp>
          <p:nvSpPr>
            <p:cNvPr id="42" name="Line 42"/>
            <p:cNvSpPr/>
            <p:nvPr/>
          </p:nvSpPr>
          <p:spPr>
            <a:xfrm>
              <a:off x="571500" y="4381500"/>
              <a:ext cx="2095500" cy="9525"/>
            </a:xfrm>
            <a:custGeom>
              <a:avLst/>
              <a:gdLst/>
              <a:ahLst/>
              <a:cxnLst/>
              <a:rect l="l" t="t" r="r" b="b"/>
              <a:pathLst>
                <a:path w="2095500" h="9525">
                  <a:moveTo>
                    <a:pt x="0" y="0"/>
                  </a:moveTo>
                  <a:lnTo>
                    <a:pt x="2095500" y="0"/>
                  </a:lnTo>
                </a:path>
              </a:pathLst>
            </a:custGeom>
            <a:noFill/>
            <a:ln w="9525">
              <a:solidFill>
                <a:srgbClr val="EDD5D2"/>
              </a:solidFill>
            </a:ln>
          </p:spPr>
        </p:sp>
        <p:sp>
          <p:nvSpPr>
            <p:cNvPr id="43" name="Ellipse 43"/>
            <p:cNvSpPr/>
            <p:nvPr/>
          </p:nvSpPr>
          <p:spPr>
            <a:xfrm>
              <a:off x="561975" y="4791075"/>
              <a:ext cx="285750" cy="285750"/>
            </a:xfrm>
            <a:prstGeom prst="ellipse">
              <a:avLst/>
            </a:prstGeom>
            <a:solidFill>
              <a:srgbClr val="F7E9E7"/>
            </a:solidFill>
            <a:ln>
              <a:noFill/>
            </a:ln>
          </p:spPr>
        </p:sp>
        <p:grpSp>
          <p:nvGrpSpPr>
            <p:cNvPr id="47" name="Group 47"/>
            <p:cNvGrpSpPr/>
            <p:nvPr/>
          </p:nvGrpSpPr>
          <p:grpSpPr>
            <a:xfrm>
              <a:off x="666750" y="4876800"/>
              <a:ext cx="76200" cy="114300"/>
              <a:chOff x="666750" y="4876800"/>
              <a:chExt cx="76200" cy="114300"/>
            </a:xfrm>
          </p:grpSpPr>
          <p:sp>
            <p:nvSpPr>
              <p:cNvPr id="44" name="Freeform 44"/>
              <p:cNvSpPr/>
              <p:nvPr/>
            </p:nvSpPr>
            <p:spPr>
              <a:xfrm>
                <a:off x="666750" y="487680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A52D12"/>
                </a:solidFill>
              </a:ln>
            </p:spPr>
          </p:sp>
          <p:sp>
            <p:nvSpPr>
              <p:cNvPr id="45" name="Freeform 45"/>
              <p:cNvSpPr/>
              <p:nvPr/>
            </p:nvSpPr>
            <p:spPr>
              <a:xfrm>
                <a:off x="698500" y="4883150"/>
                <a:ext cx="12700" cy="9525"/>
              </a:xfrm>
              <a:custGeom>
                <a:avLst/>
                <a:gdLst/>
                <a:ahLst/>
                <a:cxnLst/>
                <a:rect l="l" t="t" r="r" b="b"/>
                <a:pathLst>
                  <a:path w="12700" h="9525">
                    <a:moveTo>
                      <a:pt x="0" y="0"/>
                    </a:moveTo>
                    <a:lnTo>
                      <a:pt x="12700" y="0"/>
                    </a:lnTo>
                  </a:path>
                </a:pathLst>
              </a:custGeom>
              <a:noFill/>
              <a:ln w="12700">
                <a:solidFill>
                  <a:srgbClr val="A52D12"/>
                </a:solidFill>
              </a:ln>
            </p:spPr>
          </p:sp>
          <p:sp>
            <p:nvSpPr>
              <p:cNvPr id="46" name="Freeform 46"/>
              <p:cNvSpPr/>
              <p:nvPr/>
            </p:nvSpPr>
            <p:spPr>
              <a:xfrm>
                <a:off x="704850" y="4965700"/>
                <a:ext cx="9525" cy="9525"/>
              </a:xfrm>
              <a:custGeom>
                <a:avLst/>
                <a:gdLst/>
                <a:ahLst/>
                <a:cxnLst/>
                <a:rect l="l" t="t" r="r" b="b"/>
                <a:pathLst>
                  <a:path w="9525" h="9525">
                    <a:moveTo>
                      <a:pt x="0" y="0"/>
                    </a:moveTo>
                    <a:lnTo>
                      <a:pt x="0" y="64"/>
                    </a:lnTo>
                  </a:path>
                </a:pathLst>
              </a:custGeom>
              <a:noFill/>
              <a:ln w="12700">
                <a:solidFill>
                  <a:srgbClr val="A52D12"/>
                </a:solidFill>
              </a:ln>
            </p:spPr>
          </p:sp>
        </p:grpSp>
        <p:sp>
          <p:nvSpPr>
            <p:cNvPr id="48" name="TextBox 48"/>
            <p:cNvSpPr txBox="1"/>
            <p:nvPr/>
          </p:nvSpPr>
          <p:spPr>
            <a:xfrm>
              <a:off x="928688" y="4779645"/>
              <a:ext cx="801395"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手机银行MAU​</a:t>
              </a:r>
            </a:p>
          </p:txBody>
        </p:sp>
        <p:sp>
          <p:nvSpPr>
            <p:cNvPr id="49" name="TextBox 49"/>
            <p:cNvSpPr txBox="1"/>
            <p:nvPr/>
          </p:nvSpPr>
          <p:spPr>
            <a:xfrm>
              <a:off x="926211" y="4951571"/>
              <a:ext cx="728974" cy="278702"/>
            </a:xfrm>
            <a:prstGeom prst="rect">
              <a:avLst/>
            </a:prstGeom>
            <a:noFill/>
            <a:ln>
              <a:noFill/>
            </a:ln>
          </p:spPr>
          <p:txBody>
            <a:bodyPr wrap="none" lIns="0" tIns="0" rIns="0" bIns="0" anchor="t" anchorCtr="0">
              <a:spAutoFit/>
            </a:bodyPr>
            <a:lstStyle/>
            <a:p>
              <a:pPr algn="l"/>
              <a:r>
                <a:rPr lang="zh-CN" sz="1420" b="1" dirty="0">
                  <a:solidFill>
                    <a:srgbClr val="A52D12"/>
                  </a:solidFill>
                  <a:latin typeface="+mn-lt"/>
                  <a:ea typeface="+mn-ea"/>
                  <a:cs typeface="+mn-cs"/>
                </a:rPr>
                <a:t xml:space="preserve">620 </a:t>
              </a:r>
              <a:r>
                <a:rPr lang="zh-CN" sz="790" dirty="0">
                  <a:solidFill>
                    <a:srgbClr val="A52D12"/>
                  </a:solidFill>
                  <a:latin typeface="+mn-lt"/>
                  <a:ea typeface="+mn-ea"/>
                  <a:cs typeface="+mn-cs"/>
                </a:rPr>
                <a:t>万户</a:t>
              </a:r>
              <a:r>
                <a:rPr lang="zh-CN" sz="1420" b="1" dirty="0">
                  <a:solidFill>
                    <a:srgbClr val="A52D12"/>
                  </a:solidFill>
                  <a:latin typeface="+mn-lt"/>
                  <a:ea typeface="+mn-ea"/>
                  <a:cs typeface="+mn-cs"/>
                </a:rPr>
                <a:t>​</a:t>
              </a:r>
            </a:p>
          </p:txBody>
        </p:sp>
        <p:sp>
          <p:nvSpPr>
            <p:cNvPr id="50" name="TextBox 50"/>
            <p:cNvSpPr txBox="1"/>
            <p:nvPr/>
          </p:nvSpPr>
          <p:spPr>
            <a:xfrm>
              <a:off x="1862138" y="4917043"/>
              <a:ext cx="605178" cy="169069"/>
            </a:xfrm>
            <a:prstGeom prst="rect">
              <a:avLst/>
            </a:prstGeom>
            <a:noFill/>
            <a:ln>
              <a:noFill/>
            </a:ln>
          </p:spPr>
          <p:txBody>
            <a:bodyPr wrap="none" lIns="0" tIns="0" rIns="0" bIns="0" anchor="t" anchorCtr="0">
              <a:spAutoFit/>
            </a:bodyPr>
            <a:lstStyle/>
            <a:p>
              <a:pPr algn="l"/>
              <a:r>
                <a:rPr lang="zh-CN" sz="860" b="1" dirty="0">
                  <a:solidFill>
                    <a:srgbClr val="A52D12"/>
                  </a:solidFill>
                  <a:latin typeface="+mn-lt"/>
                  <a:ea typeface="+mn-ea"/>
                  <a:cs typeface="+mn-cs"/>
                </a:rPr>
                <a:t>↑ +13.8%​</a:t>
              </a:r>
            </a:p>
          </p:txBody>
        </p:sp>
      </p:grpSp>
      <p:grpSp>
        <p:nvGrpSpPr>
          <p:cNvPr id="72" name="client-pyramid"/>
          <p:cNvGrpSpPr/>
          <p:nvPr/>
        </p:nvGrpSpPr>
        <p:grpSpPr>
          <a:xfrm>
            <a:off x="2838450" y="1638300"/>
            <a:ext cx="2497113" cy="3943350"/>
            <a:chOff x="2838450" y="1638300"/>
            <a:chExt cx="2497113" cy="3943350"/>
          </a:xfrm>
        </p:grpSpPr>
        <p:sp>
          <p:nvSpPr>
            <p:cNvPr id="52" name="Rectangle 52"/>
            <p:cNvSpPr/>
            <p:nvPr/>
          </p:nvSpPr>
          <p:spPr>
            <a:xfrm>
              <a:off x="2971800" y="1638300"/>
              <a:ext cx="2362200" cy="3943350"/>
            </a:xfrm>
            <a:prstGeom prst="roundRect">
              <a:avLst>
                <a:gd name="adj" fmla="val 3226"/>
              </a:avLst>
            </a:prstGeom>
            <a:solidFill>
              <a:srgbClr val="FDF6F5"/>
            </a:solidFill>
            <a:ln w="9525">
              <a:solidFill>
                <a:srgbClr val="EDD5D2"/>
              </a:solidFill>
            </a:ln>
          </p:spPr>
        </p:sp>
        <p:sp>
          <p:nvSpPr>
            <p:cNvPr id="53" name="Freeform 53"/>
            <p:cNvSpPr/>
            <p:nvPr/>
          </p:nvSpPr>
          <p:spPr>
            <a:xfrm>
              <a:off x="2981325" y="1647825"/>
              <a:ext cx="2343150" cy="228600"/>
            </a:xfrm>
            <a:custGeom>
              <a:avLst/>
              <a:gdLst/>
              <a:ahLst/>
              <a:cxnLst/>
              <a:rect l="l" t="t" r="r" b="b"/>
              <a:pathLst>
                <a:path w="2343150" h="228600">
                  <a:moveTo>
                    <a:pt x="0" y="228600"/>
                  </a:moveTo>
                  <a:lnTo>
                    <a:pt x="2343150" y="228600"/>
                  </a:lnTo>
                  <a:lnTo>
                    <a:pt x="2343150" y="66675"/>
                  </a:lnTo>
                  <a:cubicBezTo>
                    <a:pt x="2343150" y="29851"/>
                    <a:pt x="2313299" y="0"/>
                    <a:pt x="2276475" y="0"/>
                  </a:cubicBezTo>
                  <a:lnTo>
                    <a:pt x="66675" y="0"/>
                  </a:lnTo>
                  <a:cubicBezTo>
                    <a:pt x="29851" y="0"/>
                    <a:pt x="0" y="29851"/>
                    <a:pt x="0" y="66675"/>
                  </a:cubicBezTo>
                  <a:close/>
                </a:path>
              </a:pathLst>
            </a:custGeom>
            <a:solidFill>
              <a:srgbClr val="A52D12"/>
            </a:solidFill>
            <a:ln>
              <a:noFill/>
            </a:ln>
          </p:spPr>
        </p:sp>
        <p:sp>
          <p:nvSpPr>
            <p:cNvPr id="54" name="TextBox 54"/>
            <p:cNvSpPr txBox="1"/>
            <p:nvPr/>
          </p:nvSpPr>
          <p:spPr>
            <a:xfrm>
              <a:off x="3511487" y="1696402"/>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财富客户分层金字塔</a:t>
              </a:r>
            </a:p>
          </p:txBody>
        </p:sp>
        <p:sp>
          <p:nvSpPr>
            <p:cNvPr id="55" name="Freeform 55"/>
            <p:cNvSpPr/>
            <p:nvPr/>
          </p:nvSpPr>
          <p:spPr>
            <a:xfrm>
              <a:off x="3467100" y="2038350"/>
              <a:ext cx="609600" cy="438150"/>
            </a:xfrm>
            <a:prstGeom prst="triangle">
              <a:avLst/>
            </a:prstGeom>
            <a:solidFill>
              <a:srgbClr val="7E200B"/>
            </a:solidFill>
            <a:ln>
              <a:noFill/>
            </a:ln>
          </p:spPr>
        </p:sp>
        <p:sp>
          <p:nvSpPr>
            <p:cNvPr id="56" name="Freeform 56"/>
            <p:cNvSpPr/>
            <p:nvPr/>
          </p:nvSpPr>
          <p:spPr>
            <a:xfrm>
              <a:off x="3257550" y="2514600"/>
              <a:ext cx="1028700" cy="495300"/>
            </a:xfrm>
            <a:prstGeom prst="trapezoid">
              <a:avLst/>
            </a:prstGeom>
            <a:solidFill>
              <a:srgbClr val="A52D12"/>
            </a:solidFill>
            <a:ln>
              <a:noFill/>
            </a:ln>
          </p:spPr>
        </p:sp>
        <p:sp>
          <p:nvSpPr>
            <p:cNvPr id="57" name="Freeform 57"/>
            <p:cNvSpPr/>
            <p:nvPr/>
          </p:nvSpPr>
          <p:spPr>
            <a:xfrm>
              <a:off x="3048000" y="3048000"/>
              <a:ext cx="1447800" cy="495300"/>
            </a:xfrm>
            <a:prstGeom prst="trapezoid">
              <a:avLst/>
            </a:prstGeom>
            <a:solidFill>
              <a:srgbClr val="C0412B"/>
            </a:solidFill>
            <a:ln>
              <a:noFill/>
            </a:ln>
          </p:spPr>
        </p:sp>
        <p:sp>
          <p:nvSpPr>
            <p:cNvPr id="58" name="Freeform 58"/>
            <p:cNvSpPr/>
            <p:nvPr/>
          </p:nvSpPr>
          <p:spPr>
            <a:xfrm>
              <a:off x="2838450" y="3581400"/>
              <a:ext cx="1866900" cy="495300"/>
            </a:xfrm>
            <a:prstGeom prst="trapezoid">
              <a:avLst/>
            </a:prstGeom>
            <a:solidFill>
              <a:srgbClr val="E4AFA6"/>
            </a:solidFill>
            <a:ln>
              <a:noFill/>
            </a:ln>
          </p:spPr>
        </p:sp>
        <p:sp>
          <p:nvSpPr>
            <p:cNvPr id="59" name="Freeform 59"/>
            <p:cNvSpPr/>
            <p:nvPr/>
          </p:nvSpPr>
          <p:spPr>
            <a:xfrm>
              <a:off x="3713559" y="2302669"/>
              <a:ext cx="107156" cy="71438"/>
            </a:xfrm>
            <a:custGeom>
              <a:avLst/>
              <a:gdLst/>
              <a:ahLst/>
              <a:cxnLst/>
              <a:rect l="l" t="t" r="r" b="b"/>
              <a:pathLst>
                <a:path w="107156" h="71438">
                  <a:moveTo>
                    <a:pt x="53578" y="0"/>
                  </a:moveTo>
                  <a:lnTo>
                    <a:pt x="77391" y="35719"/>
                  </a:lnTo>
                  <a:lnTo>
                    <a:pt x="107156" y="11906"/>
                  </a:lnTo>
                  <a:lnTo>
                    <a:pt x="95250" y="71438"/>
                  </a:lnTo>
                  <a:lnTo>
                    <a:pt x="11906" y="71438"/>
                  </a:lnTo>
                  <a:lnTo>
                    <a:pt x="0" y="11906"/>
                  </a:lnTo>
                  <a:lnTo>
                    <a:pt x="29766" y="35719"/>
                  </a:lnTo>
                  <a:lnTo>
                    <a:pt x="53578" y="0"/>
                  </a:lnTo>
                </a:path>
              </a:pathLst>
            </a:custGeom>
            <a:noFill/>
            <a:ln w="11906">
              <a:solidFill>
                <a:srgbClr val="E8988A"/>
              </a:solidFill>
            </a:ln>
          </p:spPr>
        </p:sp>
        <p:sp>
          <p:nvSpPr>
            <p:cNvPr id="60" name="TextBox 60"/>
            <p:cNvSpPr txBox="1"/>
            <p:nvPr/>
          </p:nvSpPr>
          <p:spPr>
            <a:xfrm>
              <a:off x="3524822" y="26650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财富管理</a:t>
              </a:r>
            </a:p>
          </p:txBody>
        </p:sp>
        <p:sp>
          <p:nvSpPr>
            <p:cNvPr id="61" name="TextBox 61"/>
            <p:cNvSpPr txBox="1"/>
            <p:nvPr/>
          </p:nvSpPr>
          <p:spPr>
            <a:xfrm>
              <a:off x="3524822" y="32461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潜力客户</a:t>
              </a:r>
            </a:p>
          </p:txBody>
        </p:sp>
        <p:sp>
          <p:nvSpPr>
            <p:cNvPr id="62" name="TextBox 62"/>
            <p:cNvSpPr txBox="1"/>
            <p:nvPr/>
          </p:nvSpPr>
          <p:spPr>
            <a:xfrm>
              <a:off x="3524822" y="37795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大众客户</a:t>
              </a:r>
            </a:p>
          </p:txBody>
        </p:sp>
        <p:sp>
          <p:nvSpPr>
            <p:cNvPr id="63" name="TextBox 63"/>
            <p:cNvSpPr txBox="1"/>
            <p:nvPr/>
          </p:nvSpPr>
          <p:spPr>
            <a:xfrm>
              <a:off x="4776788" y="2175034"/>
              <a:ext cx="375691"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私人银行</a:t>
              </a:r>
            </a:p>
          </p:txBody>
        </p:sp>
        <p:sp>
          <p:nvSpPr>
            <p:cNvPr id="64" name="TextBox 64"/>
            <p:cNvSpPr txBox="1"/>
            <p:nvPr/>
          </p:nvSpPr>
          <p:spPr>
            <a:xfrm>
              <a:off x="4776788" y="2298859"/>
              <a:ext cx="467233"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高净值客户</a:t>
              </a:r>
            </a:p>
          </p:txBody>
        </p:sp>
        <p:sp>
          <p:nvSpPr>
            <p:cNvPr id="65" name="TextBox 65"/>
            <p:cNvSpPr txBox="1"/>
            <p:nvPr/>
          </p:nvSpPr>
          <p:spPr>
            <a:xfrm>
              <a:off x="4776788" y="2422684"/>
              <a:ext cx="558775"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综合金融服务</a:t>
              </a:r>
            </a:p>
          </p:txBody>
        </p:sp>
        <p:sp>
          <p:nvSpPr>
            <p:cNvPr id="66" name="TextBox 66"/>
            <p:cNvSpPr txBox="1"/>
            <p:nvPr/>
          </p:nvSpPr>
          <p:spPr>
            <a:xfrm>
              <a:off x="4776788" y="2689384"/>
              <a:ext cx="558775"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中高净值客户</a:t>
              </a:r>
            </a:p>
          </p:txBody>
        </p:sp>
        <p:sp>
          <p:nvSpPr>
            <p:cNvPr id="67" name="TextBox 67"/>
            <p:cNvSpPr txBox="1"/>
            <p:nvPr/>
          </p:nvSpPr>
          <p:spPr>
            <a:xfrm>
              <a:off x="4776788" y="2813209"/>
              <a:ext cx="558775"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专业财富管理</a:t>
              </a:r>
            </a:p>
          </p:txBody>
        </p:sp>
        <p:sp>
          <p:nvSpPr>
            <p:cNvPr id="68" name="TextBox 68"/>
            <p:cNvSpPr txBox="1"/>
            <p:nvPr/>
          </p:nvSpPr>
          <p:spPr>
            <a:xfrm>
              <a:off x="4776788" y="3222784"/>
              <a:ext cx="467233"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成长型客户</a:t>
              </a:r>
            </a:p>
          </p:txBody>
        </p:sp>
        <p:sp>
          <p:nvSpPr>
            <p:cNvPr id="69" name="TextBox 69"/>
            <p:cNvSpPr txBox="1"/>
            <p:nvPr/>
          </p:nvSpPr>
          <p:spPr>
            <a:xfrm>
              <a:off x="4776788" y="3346609"/>
              <a:ext cx="558775"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资产提升潜力</a:t>
              </a:r>
            </a:p>
          </p:txBody>
        </p:sp>
        <p:sp>
          <p:nvSpPr>
            <p:cNvPr id="70" name="TextBox 70"/>
            <p:cNvSpPr txBox="1"/>
            <p:nvPr/>
          </p:nvSpPr>
          <p:spPr>
            <a:xfrm>
              <a:off x="4776788" y="3756184"/>
              <a:ext cx="375691"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基础客户</a:t>
              </a:r>
            </a:p>
          </p:txBody>
        </p:sp>
        <p:sp>
          <p:nvSpPr>
            <p:cNvPr id="71" name="TextBox 71"/>
            <p:cNvSpPr txBox="1"/>
            <p:nvPr/>
          </p:nvSpPr>
          <p:spPr>
            <a:xfrm>
              <a:off x="4776788" y="3880009"/>
              <a:ext cx="467233"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规模与活跃</a:t>
              </a:r>
            </a:p>
          </p:txBody>
        </p:sp>
      </p:grpSp>
      <p:grpSp>
        <p:nvGrpSpPr>
          <p:cNvPr id="97" name="product-donut"/>
          <p:cNvGrpSpPr/>
          <p:nvPr/>
        </p:nvGrpSpPr>
        <p:grpSpPr>
          <a:xfrm>
            <a:off x="5434698" y="1638300"/>
            <a:ext cx="2394852" cy="3943350"/>
            <a:chOff x="5434698" y="1638300"/>
            <a:chExt cx="2394852" cy="3943350"/>
          </a:xfrm>
        </p:grpSpPr>
        <p:sp>
          <p:nvSpPr>
            <p:cNvPr id="73" name="Rectangle 73"/>
            <p:cNvSpPr/>
            <p:nvPr/>
          </p:nvSpPr>
          <p:spPr>
            <a:xfrm>
              <a:off x="5448300" y="1638300"/>
              <a:ext cx="2381250" cy="3943350"/>
            </a:xfrm>
            <a:prstGeom prst="roundRect">
              <a:avLst>
                <a:gd name="adj" fmla="val 3200"/>
              </a:avLst>
            </a:prstGeom>
            <a:solidFill>
              <a:srgbClr val="FDF6F5"/>
            </a:solidFill>
            <a:ln w="9525">
              <a:solidFill>
                <a:srgbClr val="EDD5D2"/>
              </a:solidFill>
            </a:ln>
          </p:spPr>
        </p:sp>
        <p:sp>
          <p:nvSpPr>
            <p:cNvPr id="74" name="Freeform 74"/>
            <p:cNvSpPr/>
            <p:nvPr/>
          </p:nvSpPr>
          <p:spPr>
            <a:xfrm>
              <a:off x="5457825" y="1647825"/>
              <a:ext cx="2362200" cy="228600"/>
            </a:xfrm>
            <a:custGeom>
              <a:avLst/>
              <a:gdLst/>
              <a:ahLst/>
              <a:cxnLst/>
              <a:rect l="l" t="t" r="r" b="b"/>
              <a:pathLst>
                <a:path w="2362200" h="228600">
                  <a:moveTo>
                    <a:pt x="0" y="228600"/>
                  </a:moveTo>
                  <a:lnTo>
                    <a:pt x="2362200" y="228600"/>
                  </a:lnTo>
                  <a:lnTo>
                    <a:pt x="2362200" y="66675"/>
                  </a:lnTo>
                  <a:cubicBezTo>
                    <a:pt x="2362200" y="29851"/>
                    <a:pt x="2332349" y="0"/>
                    <a:pt x="2295525" y="0"/>
                  </a:cubicBezTo>
                  <a:lnTo>
                    <a:pt x="66675" y="0"/>
                  </a:lnTo>
                  <a:cubicBezTo>
                    <a:pt x="29851" y="0"/>
                    <a:pt x="0" y="29851"/>
                    <a:pt x="0" y="66675"/>
                  </a:cubicBezTo>
                  <a:close/>
                </a:path>
              </a:pathLst>
            </a:custGeom>
            <a:solidFill>
              <a:srgbClr val="A52D12"/>
            </a:solidFill>
            <a:ln>
              <a:noFill/>
            </a:ln>
          </p:spPr>
        </p:sp>
        <p:sp>
          <p:nvSpPr>
            <p:cNvPr id="75" name="TextBox 75"/>
            <p:cNvSpPr txBox="1"/>
            <p:nvPr/>
          </p:nvSpPr>
          <p:spPr>
            <a:xfrm>
              <a:off x="6138862" y="1696402"/>
              <a:ext cx="1000125"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产品结构环形图</a:t>
              </a:r>
            </a:p>
          </p:txBody>
        </p:sp>
        <p:sp>
          <p:nvSpPr>
            <p:cNvPr id="76" name="Freeform 76"/>
            <p:cNvSpPr/>
            <p:nvPr/>
          </p:nvSpPr>
          <p:spPr>
            <a:xfrm>
              <a:off x="6238875" y="2647627"/>
              <a:ext cx="845949" cy="1466221"/>
            </a:xfrm>
            <a:custGeom>
              <a:avLst/>
              <a:gdLst/>
              <a:ahLst/>
              <a:cxnLst/>
              <a:rect l="l" t="t" r="r" b="b"/>
              <a:pathLst>
                <a:path w="845949" h="1466221">
                  <a:moveTo>
                    <a:pt x="0" y="323"/>
                  </a:moveTo>
                  <a:cubicBezTo>
                    <a:pt x="356841" y="0"/>
                    <a:pt x="668526" y="241564"/>
                    <a:pt x="757237" y="587202"/>
                  </a:cubicBezTo>
                  <a:cubicBezTo>
                    <a:pt x="845949" y="932840"/>
                    <a:pt x="689126" y="1294651"/>
                    <a:pt x="376238" y="1466221"/>
                  </a:cubicBezTo>
                  <a:lnTo>
                    <a:pt x="229553" y="1198568"/>
                  </a:lnTo>
                  <a:cubicBezTo>
                    <a:pt x="419929" y="1093750"/>
                    <a:pt x="515201" y="873348"/>
                    <a:pt x="461120" y="662860"/>
                  </a:cubicBezTo>
                  <a:cubicBezTo>
                    <a:pt x="407040" y="452371"/>
                    <a:pt x="217325" y="305191"/>
                    <a:pt x="0" y="305123"/>
                  </a:cubicBezTo>
                  <a:close/>
                </a:path>
              </a:pathLst>
            </a:custGeom>
            <a:solidFill>
              <a:srgbClr val="A52D12"/>
            </a:solidFill>
            <a:ln>
              <a:noFill/>
            </a:ln>
          </p:spPr>
        </p:sp>
        <p:sp>
          <p:nvSpPr>
            <p:cNvPr id="77" name="Freeform 77"/>
            <p:cNvSpPr/>
            <p:nvPr/>
          </p:nvSpPr>
          <p:spPr>
            <a:xfrm>
              <a:off x="5532120" y="3631882"/>
              <a:ext cx="1082993" cy="606880"/>
            </a:xfrm>
            <a:custGeom>
              <a:avLst/>
              <a:gdLst/>
              <a:ahLst/>
              <a:cxnLst/>
              <a:rect l="l" t="t" r="r" b="b"/>
              <a:pathLst>
                <a:path w="1082993" h="606880">
                  <a:moveTo>
                    <a:pt x="1082993" y="481965"/>
                  </a:moveTo>
                  <a:cubicBezTo>
                    <a:pt x="893937" y="585828"/>
                    <a:pt x="670345" y="606880"/>
                    <a:pt x="465226" y="540130"/>
                  </a:cubicBezTo>
                  <a:cubicBezTo>
                    <a:pt x="260106" y="473381"/>
                    <a:pt x="91724" y="324773"/>
                    <a:pt x="0" y="129540"/>
                  </a:cubicBezTo>
                  <a:lnTo>
                    <a:pt x="276225" y="0"/>
                  </a:lnTo>
                  <a:cubicBezTo>
                    <a:pt x="332267" y="118867"/>
                    <a:pt x="434936" y="209293"/>
                    <a:pt x="559929" y="249876"/>
                  </a:cubicBezTo>
                  <a:cubicBezTo>
                    <a:pt x="684922" y="290458"/>
                    <a:pt x="821128" y="277588"/>
                    <a:pt x="936308" y="214312"/>
                  </a:cubicBezTo>
                  <a:close/>
                </a:path>
              </a:pathLst>
            </a:custGeom>
            <a:solidFill>
              <a:srgbClr val="C0412B"/>
            </a:solidFill>
            <a:ln>
              <a:noFill/>
            </a:ln>
          </p:spPr>
        </p:sp>
        <p:sp>
          <p:nvSpPr>
            <p:cNvPr id="78" name="Freeform 78"/>
            <p:cNvSpPr/>
            <p:nvPr/>
          </p:nvSpPr>
          <p:spPr>
            <a:xfrm>
              <a:off x="5434698" y="3188017"/>
              <a:ext cx="373647" cy="573405"/>
            </a:xfrm>
            <a:custGeom>
              <a:avLst/>
              <a:gdLst/>
              <a:ahLst/>
              <a:cxnLst/>
              <a:rect l="l" t="t" r="r" b="b"/>
              <a:pathLst>
                <a:path w="373647" h="573405">
                  <a:moveTo>
                    <a:pt x="97422" y="573405"/>
                  </a:moveTo>
                  <a:cubicBezTo>
                    <a:pt x="12941" y="393811"/>
                    <a:pt x="0" y="188791"/>
                    <a:pt x="61227" y="0"/>
                  </a:cubicBezTo>
                  <a:lnTo>
                    <a:pt x="350787" y="93345"/>
                  </a:lnTo>
                  <a:cubicBezTo>
                    <a:pt x="313466" y="208830"/>
                    <a:pt x="321643" y="334206"/>
                    <a:pt x="373647" y="443865"/>
                  </a:cubicBezTo>
                  <a:close/>
                </a:path>
              </a:pathLst>
            </a:custGeom>
            <a:solidFill>
              <a:srgbClr val="E4AFA6"/>
            </a:solidFill>
            <a:ln>
              <a:noFill/>
            </a:ln>
          </p:spPr>
        </p:sp>
        <p:sp>
          <p:nvSpPr>
            <p:cNvPr id="79" name="Freeform 79"/>
            <p:cNvSpPr/>
            <p:nvPr/>
          </p:nvSpPr>
          <p:spPr>
            <a:xfrm>
              <a:off x="5495925" y="2859405"/>
              <a:ext cx="417195" cy="421957"/>
            </a:xfrm>
            <a:custGeom>
              <a:avLst/>
              <a:gdLst/>
              <a:ahLst/>
              <a:cxnLst/>
              <a:rect l="l" t="t" r="r" b="b"/>
              <a:pathLst>
                <a:path w="417195" h="421957">
                  <a:moveTo>
                    <a:pt x="0" y="328612"/>
                  </a:moveTo>
                  <a:cubicBezTo>
                    <a:pt x="40688" y="203227"/>
                    <a:pt x="112448" y="90179"/>
                    <a:pt x="208597" y="0"/>
                  </a:cubicBezTo>
                  <a:lnTo>
                    <a:pt x="417195" y="221933"/>
                  </a:lnTo>
                  <a:cubicBezTo>
                    <a:pt x="358456" y="276772"/>
                    <a:pt x="314548" y="345582"/>
                    <a:pt x="289560" y="421957"/>
                  </a:cubicBezTo>
                  <a:close/>
                </a:path>
              </a:pathLst>
            </a:custGeom>
            <a:solidFill>
              <a:srgbClr val="C9604E"/>
            </a:solidFill>
            <a:ln>
              <a:noFill/>
            </a:ln>
          </p:spPr>
        </p:sp>
        <p:sp>
          <p:nvSpPr>
            <p:cNvPr id="80" name="Freeform 80"/>
            <p:cNvSpPr/>
            <p:nvPr/>
          </p:nvSpPr>
          <p:spPr>
            <a:xfrm>
              <a:off x="5704522" y="2647950"/>
              <a:ext cx="534353" cy="433388"/>
            </a:xfrm>
            <a:custGeom>
              <a:avLst/>
              <a:gdLst/>
              <a:ahLst/>
              <a:cxnLst/>
              <a:rect l="l" t="t" r="r" b="b"/>
              <a:pathLst>
                <a:path w="534353" h="433388">
                  <a:moveTo>
                    <a:pt x="0" y="211455"/>
                  </a:moveTo>
                  <a:cubicBezTo>
                    <a:pt x="144773" y="75624"/>
                    <a:pt x="335835" y="16"/>
                    <a:pt x="534353" y="0"/>
                  </a:cubicBezTo>
                  <a:lnTo>
                    <a:pt x="534353" y="304800"/>
                  </a:lnTo>
                  <a:cubicBezTo>
                    <a:pt x="413377" y="304733"/>
                    <a:pt x="296910" y="350707"/>
                    <a:pt x="208597" y="433388"/>
                  </a:cubicBezTo>
                  <a:close/>
                </a:path>
              </a:pathLst>
            </a:custGeom>
            <a:solidFill>
              <a:srgbClr val="D9D4D2"/>
            </a:solidFill>
            <a:ln>
              <a:noFill/>
            </a:ln>
          </p:spPr>
        </p:sp>
        <p:sp>
          <p:nvSpPr>
            <p:cNvPr id="81" name="TextBox 81"/>
            <p:cNvSpPr txBox="1"/>
            <p:nvPr/>
          </p:nvSpPr>
          <p:spPr>
            <a:xfrm>
              <a:off x="6704623" y="3216116"/>
              <a:ext cx="28770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42%​</a:t>
              </a:r>
            </a:p>
          </p:txBody>
        </p:sp>
        <p:sp>
          <p:nvSpPr>
            <p:cNvPr id="82" name="TextBox 82"/>
            <p:cNvSpPr txBox="1"/>
            <p:nvPr/>
          </p:nvSpPr>
          <p:spPr>
            <a:xfrm>
              <a:off x="5894998" y="3968591"/>
              <a:ext cx="28770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26%​</a:t>
              </a:r>
            </a:p>
          </p:txBody>
        </p:sp>
        <p:sp>
          <p:nvSpPr>
            <p:cNvPr id="83" name="TextBox 83"/>
            <p:cNvSpPr txBox="1"/>
            <p:nvPr/>
          </p:nvSpPr>
          <p:spPr>
            <a:xfrm>
              <a:off x="5478247" y="3414712"/>
              <a:ext cx="263957" cy="147638"/>
            </a:xfrm>
            <a:prstGeom prst="rect">
              <a:avLst/>
            </a:prstGeom>
            <a:noFill/>
            <a:ln>
              <a:noFill/>
            </a:ln>
          </p:spPr>
          <p:txBody>
            <a:bodyPr wrap="none" lIns="0" tIns="0" rIns="0" bIns="0" anchor="t" anchorCtr="0">
              <a:spAutoFit/>
            </a:bodyPr>
            <a:lstStyle/>
            <a:p>
              <a:pPr algn="ctr"/>
              <a:r>
                <a:rPr lang="zh-CN" sz="750" b="1" dirty="0">
                  <a:solidFill>
                    <a:srgbClr val="8E382A"/>
                  </a:solidFill>
                  <a:latin typeface="+mn-lt"/>
                  <a:ea typeface="+mn-ea"/>
                  <a:cs typeface="+mn-cs"/>
                </a:rPr>
                <a:t>12%​</a:t>
              </a:r>
            </a:p>
          </p:txBody>
        </p:sp>
        <p:sp>
          <p:nvSpPr>
            <p:cNvPr id="84" name="TextBox 84"/>
            <p:cNvSpPr txBox="1"/>
            <p:nvPr/>
          </p:nvSpPr>
          <p:spPr>
            <a:xfrm>
              <a:off x="5602650" y="3043238"/>
              <a:ext cx="20565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8%​</a:t>
              </a:r>
            </a:p>
          </p:txBody>
        </p:sp>
        <p:sp>
          <p:nvSpPr>
            <p:cNvPr id="85" name="TextBox 85"/>
            <p:cNvSpPr txBox="1"/>
            <p:nvPr/>
          </p:nvSpPr>
          <p:spPr>
            <a:xfrm>
              <a:off x="5878297" y="2795588"/>
              <a:ext cx="263957" cy="147638"/>
            </a:xfrm>
            <a:prstGeom prst="rect">
              <a:avLst/>
            </a:prstGeom>
            <a:noFill/>
            <a:ln>
              <a:noFill/>
            </a:ln>
          </p:spPr>
          <p:txBody>
            <a:bodyPr wrap="none" lIns="0" tIns="0" rIns="0" bIns="0" anchor="t" anchorCtr="0">
              <a:spAutoFit/>
            </a:bodyPr>
            <a:lstStyle/>
            <a:p>
              <a:pPr algn="ctr"/>
              <a:r>
                <a:rPr lang="zh-CN" sz="750" b="1" dirty="0">
                  <a:solidFill>
                    <a:srgbClr val="555555"/>
                  </a:solidFill>
                  <a:latin typeface="+mn-lt"/>
                  <a:ea typeface="+mn-ea"/>
                  <a:cs typeface="+mn-cs"/>
                </a:rPr>
                <a:t>12%​</a:t>
              </a:r>
            </a:p>
          </p:txBody>
        </p:sp>
        <p:sp>
          <p:nvSpPr>
            <p:cNvPr id="86" name="TextBox 86"/>
            <p:cNvSpPr txBox="1"/>
            <p:nvPr/>
          </p:nvSpPr>
          <p:spPr>
            <a:xfrm>
              <a:off x="6002566" y="3373993"/>
              <a:ext cx="472618" cy="169069"/>
            </a:xfrm>
            <a:prstGeom prst="rect">
              <a:avLst/>
            </a:prstGeom>
            <a:noFill/>
            <a:ln>
              <a:noFill/>
            </a:ln>
          </p:spPr>
          <p:txBody>
            <a:bodyPr wrap="none" lIns="0" tIns="0" rIns="0" bIns="0" anchor="t" anchorCtr="0">
              <a:spAutoFit/>
            </a:bodyPr>
            <a:lstStyle/>
            <a:p>
              <a:pPr algn="ctr"/>
              <a:r>
                <a:rPr lang="zh-CN" sz="860" b="1" dirty="0">
                  <a:solidFill>
                    <a:srgbClr val="7A4036"/>
                  </a:solidFill>
                  <a:latin typeface="+mn-lt"/>
                  <a:ea typeface="+mn-ea"/>
                  <a:cs typeface="+mn-cs"/>
                </a:rPr>
                <a:t>产品结构</a:t>
              </a:r>
            </a:p>
          </p:txBody>
        </p:sp>
        <p:sp>
          <p:nvSpPr>
            <p:cNvPr id="87" name="Rectangle 87"/>
            <p:cNvSpPr/>
            <p:nvPr/>
          </p:nvSpPr>
          <p:spPr>
            <a:xfrm>
              <a:off x="7124700" y="2209800"/>
              <a:ext cx="95250" cy="95250"/>
            </a:xfrm>
            <a:prstGeom prst="rect">
              <a:avLst/>
            </a:prstGeom>
            <a:solidFill>
              <a:srgbClr val="A52D12"/>
            </a:solidFill>
            <a:ln>
              <a:noFill/>
            </a:ln>
          </p:spPr>
        </p:sp>
        <p:sp>
          <p:nvSpPr>
            <p:cNvPr id="88" name="TextBox 88"/>
            <p:cNvSpPr txBox="1"/>
            <p:nvPr/>
          </p:nvSpPr>
          <p:spPr>
            <a:xfrm>
              <a:off x="7272338" y="2210514"/>
              <a:ext cx="509369"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存款 42%​</a:t>
              </a:r>
            </a:p>
          </p:txBody>
        </p:sp>
        <p:sp>
          <p:nvSpPr>
            <p:cNvPr id="89" name="Rectangle 89"/>
            <p:cNvSpPr/>
            <p:nvPr/>
          </p:nvSpPr>
          <p:spPr>
            <a:xfrm>
              <a:off x="7124700" y="2571750"/>
              <a:ext cx="95250" cy="95250"/>
            </a:xfrm>
            <a:prstGeom prst="rect">
              <a:avLst/>
            </a:prstGeom>
            <a:solidFill>
              <a:srgbClr val="C0412B"/>
            </a:solidFill>
            <a:ln>
              <a:noFill/>
            </a:ln>
          </p:spPr>
        </p:sp>
        <p:sp>
          <p:nvSpPr>
            <p:cNvPr id="90" name="TextBox 90"/>
            <p:cNvSpPr txBox="1"/>
            <p:nvPr/>
          </p:nvSpPr>
          <p:spPr>
            <a:xfrm>
              <a:off x="7272338" y="2572464"/>
              <a:ext cx="509369"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理财 26%​</a:t>
              </a:r>
            </a:p>
          </p:txBody>
        </p:sp>
        <p:sp>
          <p:nvSpPr>
            <p:cNvPr id="91" name="Rectangle 91"/>
            <p:cNvSpPr/>
            <p:nvPr/>
          </p:nvSpPr>
          <p:spPr>
            <a:xfrm>
              <a:off x="7124700" y="2933700"/>
              <a:ext cx="95250" cy="95250"/>
            </a:xfrm>
            <a:prstGeom prst="rect">
              <a:avLst/>
            </a:prstGeom>
            <a:solidFill>
              <a:srgbClr val="E4AFA6"/>
            </a:solidFill>
            <a:ln>
              <a:noFill/>
            </a:ln>
          </p:spPr>
        </p:sp>
        <p:sp>
          <p:nvSpPr>
            <p:cNvPr id="92" name="TextBox 92"/>
            <p:cNvSpPr txBox="1"/>
            <p:nvPr/>
          </p:nvSpPr>
          <p:spPr>
            <a:xfrm>
              <a:off x="7272338" y="2934414"/>
              <a:ext cx="509369"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基金 12%​</a:t>
              </a:r>
            </a:p>
          </p:txBody>
        </p:sp>
        <p:sp>
          <p:nvSpPr>
            <p:cNvPr id="93" name="Rectangle 93"/>
            <p:cNvSpPr/>
            <p:nvPr/>
          </p:nvSpPr>
          <p:spPr>
            <a:xfrm>
              <a:off x="7124700" y="3295650"/>
              <a:ext cx="95250" cy="95250"/>
            </a:xfrm>
            <a:prstGeom prst="rect">
              <a:avLst/>
            </a:prstGeom>
            <a:solidFill>
              <a:srgbClr val="C9604E"/>
            </a:solidFill>
            <a:ln>
              <a:noFill/>
            </a:ln>
          </p:spPr>
        </p:sp>
        <p:sp>
          <p:nvSpPr>
            <p:cNvPr id="94" name="TextBox 94"/>
            <p:cNvSpPr txBox="1"/>
            <p:nvPr/>
          </p:nvSpPr>
          <p:spPr>
            <a:xfrm>
              <a:off x="7272338" y="3296364"/>
              <a:ext cx="450877"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保险 8%​</a:t>
              </a:r>
            </a:p>
          </p:txBody>
        </p:sp>
        <p:sp>
          <p:nvSpPr>
            <p:cNvPr id="95" name="Rectangle 95"/>
            <p:cNvSpPr/>
            <p:nvPr/>
          </p:nvSpPr>
          <p:spPr>
            <a:xfrm>
              <a:off x="7124700" y="3657600"/>
              <a:ext cx="95250" cy="95250"/>
            </a:xfrm>
            <a:prstGeom prst="rect">
              <a:avLst/>
            </a:prstGeom>
            <a:solidFill>
              <a:srgbClr val="D9D4D2"/>
            </a:solidFill>
            <a:ln>
              <a:noFill/>
            </a:ln>
          </p:spPr>
        </p:sp>
        <p:sp>
          <p:nvSpPr>
            <p:cNvPr id="96" name="TextBox 96"/>
            <p:cNvSpPr txBox="1"/>
            <p:nvPr/>
          </p:nvSpPr>
          <p:spPr>
            <a:xfrm>
              <a:off x="7272338" y="3658314"/>
              <a:ext cx="509369"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其他 12%​</a:t>
              </a:r>
            </a:p>
          </p:txBody>
        </p:sp>
      </p:grpSp>
      <p:grpSp>
        <p:nvGrpSpPr>
          <p:cNvPr id="130" name="three-actions"/>
          <p:cNvGrpSpPr/>
          <p:nvPr/>
        </p:nvGrpSpPr>
        <p:grpSpPr>
          <a:xfrm>
            <a:off x="7943850" y="1638300"/>
            <a:ext cx="3867150" cy="3943350"/>
            <a:chOff x="7943850" y="1638300"/>
            <a:chExt cx="3867150" cy="3943350"/>
          </a:xfrm>
        </p:grpSpPr>
        <p:sp>
          <p:nvSpPr>
            <p:cNvPr id="98" name="Rectangle 98"/>
            <p:cNvSpPr/>
            <p:nvPr/>
          </p:nvSpPr>
          <p:spPr>
            <a:xfrm>
              <a:off x="7943850" y="1638300"/>
              <a:ext cx="3867150" cy="3943350"/>
            </a:xfrm>
            <a:prstGeom prst="roundRect">
              <a:avLst>
                <a:gd name="adj" fmla="val 1970"/>
              </a:avLst>
            </a:prstGeom>
            <a:solidFill>
              <a:srgbClr val="FDF6F5"/>
            </a:solidFill>
            <a:ln w="9525">
              <a:solidFill>
                <a:srgbClr val="EDD5D2"/>
              </a:solidFill>
            </a:ln>
          </p:spPr>
        </p:sp>
        <p:sp>
          <p:nvSpPr>
            <p:cNvPr id="99" name="Freeform 99"/>
            <p:cNvSpPr/>
            <p:nvPr/>
          </p:nvSpPr>
          <p:spPr>
            <a:xfrm>
              <a:off x="7953375" y="1647825"/>
              <a:ext cx="3848100" cy="228600"/>
            </a:xfrm>
            <a:custGeom>
              <a:avLst/>
              <a:gdLst/>
              <a:ahLst/>
              <a:cxnLst/>
              <a:rect l="l" t="t" r="r" b="b"/>
              <a:pathLst>
                <a:path w="3848100" h="228600">
                  <a:moveTo>
                    <a:pt x="0" y="228600"/>
                  </a:moveTo>
                  <a:lnTo>
                    <a:pt x="3848100" y="228600"/>
                  </a:lnTo>
                  <a:lnTo>
                    <a:pt x="3848100" y="66675"/>
                  </a:lnTo>
                  <a:cubicBezTo>
                    <a:pt x="3848100" y="29851"/>
                    <a:pt x="3818249" y="0"/>
                    <a:pt x="3781425" y="0"/>
                  </a:cubicBezTo>
                  <a:lnTo>
                    <a:pt x="66675" y="0"/>
                  </a:lnTo>
                  <a:cubicBezTo>
                    <a:pt x="29851" y="0"/>
                    <a:pt x="0" y="29851"/>
                    <a:pt x="0" y="66675"/>
                  </a:cubicBezTo>
                  <a:close/>
                </a:path>
              </a:pathLst>
            </a:custGeom>
            <a:solidFill>
              <a:srgbClr val="A52D12"/>
            </a:solidFill>
            <a:ln>
              <a:noFill/>
            </a:ln>
          </p:spPr>
        </p:sp>
        <p:sp>
          <p:nvSpPr>
            <p:cNvPr id="100" name="TextBox 100"/>
            <p:cNvSpPr txBox="1"/>
            <p:nvPr/>
          </p:nvSpPr>
          <p:spPr>
            <a:xfrm>
              <a:off x="9589389" y="16964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三项行动</a:t>
              </a:r>
            </a:p>
          </p:txBody>
        </p:sp>
        <p:sp>
          <p:nvSpPr>
            <p:cNvPr id="101" name="Ellipse 101"/>
            <p:cNvSpPr/>
            <p:nvPr/>
          </p:nvSpPr>
          <p:spPr>
            <a:xfrm>
              <a:off x="8162925" y="2257425"/>
              <a:ext cx="361950" cy="361950"/>
            </a:xfrm>
            <a:prstGeom prst="ellipse">
              <a:avLst/>
            </a:prstGeom>
            <a:solidFill>
              <a:srgbClr val="A52D12"/>
            </a:solidFill>
            <a:ln>
              <a:noFill/>
            </a:ln>
          </p:spPr>
        </p:sp>
        <p:grpSp>
          <p:nvGrpSpPr>
            <p:cNvPr id="108" name="Group 108"/>
            <p:cNvGrpSpPr/>
            <p:nvPr/>
          </p:nvGrpSpPr>
          <p:grpSpPr>
            <a:xfrm>
              <a:off x="8258175" y="2352675"/>
              <a:ext cx="171450" cy="171450"/>
              <a:chOff x="8258175" y="2352675"/>
              <a:chExt cx="171450" cy="171450"/>
            </a:xfrm>
          </p:grpSpPr>
          <p:sp>
            <p:nvSpPr>
              <p:cNvPr id="102" name="Freeform 102"/>
              <p:cNvSpPr/>
              <p:nvPr/>
            </p:nvSpPr>
            <p:spPr>
              <a:xfrm>
                <a:off x="8324850" y="24288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03" name="Freeform 103"/>
              <p:cNvSpPr/>
              <p:nvPr/>
            </p:nvSpPr>
            <p:spPr>
              <a:xfrm>
                <a:off x="8305800" y="249555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FFFFFF"/>
                </a:solidFill>
              </a:ln>
            </p:spPr>
          </p:sp>
          <p:sp>
            <p:nvSpPr>
              <p:cNvPr id="104" name="Freeform 104"/>
              <p:cNvSpPr/>
              <p:nvPr/>
            </p:nvSpPr>
            <p:spPr>
              <a:xfrm>
                <a:off x="8372475" y="2352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05" name="Freeform 105"/>
              <p:cNvSpPr/>
              <p:nvPr/>
            </p:nvSpPr>
            <p:spPr>
              <a:xfrm>
                <a:off x="8391525" y="241935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FFFFFF"/>
                </a:solidFill>
              </a:ln>
            </p:spPr>
          </p:sp>
          <p:sp>
            <p:nvSpPr>
              <p:cNvPr id="106" name="Freeform 106"/>
              <p:cNvSpPr/>
              <p:nvPr/>
            </p:nvSpPr>
            <p:spPr>
              <a:xfrm>
                <a:off x="8277225" y="23526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07" name="Freeform 107"/>
              <p:cNvSpPr/>
              <p:nvPr/>
            </p:nvSpPr>
            <p:spPr>
              <a:xfrm>
                <a:off x="8258175" y="241935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FFFFFF"/>
                </a:solidFill>
              </a:ln>
            </p:spPr>
          </p:sp>
        </p:grpSp>
        <p:sp>
          <p:nvSpPr>
            <p:cNvPr id="109" name="TextBox 109"/>
            <p:cNvSpPr txBox="1"/>
            <p:nvPr/>
          </p:nvSpPr>
          <p:spPr>
            <a:xfrm>
              <a:off x="8681276" y="2263854"/>
              <a:ext cx="891464" cy="212693"/>
            </a:xfrm>
            <a:prstGeom prst="rect">
              <a:avLst/>
            </a:prstGeom>
            <a:noFill/>
            <a:ln>
              <a:noFill/>
            </a:ln>
          </p:spPr>
          <p:txBody>
            <a:bodyPr wrap="none" lIns="0" tIns="0" rIns="0" bIns="0" anchor="t" anchorCtr="0">
              <a:spAutoFit/>
            </a:bodyPr>
            <a:lstStyle/>
            <a:p>
              <a:pPr algn="l"/>
              <a:r>
                <a:rPr lang="zh-CN" sz="1090" b="1" dirty="0">
                  <a:solidFill>
                    <a:srgbClr val="A52D12"/>
                  </a:solidFill>
                  <a:latin typeface="+mn-lt"/>
                  <a:ea typeface="+mn-ea"/>
                  <a:cs typeface="+mn-cs"/>
                </a:rPr>
                <a:t>代发客群扩容</a:t>
              </a:r>
            </a:p>
          </p:txBody>
        </p:sp>
        <p:sp>
          <p:nvSpPr>
            <p:cNvPr id="110" name="TextBox 110"/>
            <p:cNvSpPr txBox="1"/>
            <p:nvPr/>
          </p:nvSpPr>
          <p:spPr>
            <a:xfrm>
              <a:off x="8682038" y="2520791"/>
              <a:ext cx="2548458" cy="161925"/>
            </a:xfrm>
            <a:prstGeom prst="rect">
              <a:avLst/>
            </a:prstGeom>
            <a:noFill/>
            <a:ln>
              <a:noFill/>
            </a:ln>
          </p:spPr>
          <p:txBody>
            <a:bodyPr wrap="none" lIns="0" tIns="0" rIns="0" bIns="0" anchor="t" anchorCtr="0">
              <a:spAutoFit/>
            </a:bodyPr>
            <a:lstStyle/>
            <a:p>
              <a:pPr algn="l"/>
              <a:r>
                <a:rPr lang="zh-CN" sz="820" dirty="0">
                  <a:solidFill>
                    <a:srgbClr val="555555"/>
                  </a:solidFill>
                  <a:latin typeface="+mn-lt"/>
                  <a:ea typeface="+mn-ea"/>
                  <a:cs typeface="+mn-cs"/>
                </a:rPr>
                <a:t>深化代发合作，扩大优质客群覆盖，</a:t>
              </a:r>
              <a:r>
                <a:rPr lang="zh-CN" sz="820" b="1" dirty="0">
                  <a:solidFill>
                    <a:srgbClr val="A52D12"/>
                  </a:solidFill>
                  <a:latin typeface="+mn-lt"/>
                  <a:ea typeface="+mn-ea"/>
                  <a:cs typeface="+mn-cs"/>
                </a:rPr>
                <a:t>提升资金沉淀</a:t>
              </a:r>
              <a:r>
                <a:rPr lang="zh-CN" sz="820" dirty="0">
                  <a:solidFill>
                    <a:srgbClr val="555555"/>
                  </a:solidFill>
                  <a:latin typeface="+mn-lt"/>
                  <a:ea typeface="+mn-ea"/>
                  <a:cs typeface="+mn-cs"/>
                </a:rPr>
                <a:t>与</a:t>
              </a:r>
            </a:p>
          </p:txBody>
        </p:sp>
        <p:sp>
          <p:nvSpPr>
            <p:cNvPr id="111" name="TextBox 111"/>
            <p:cNvSpPr txBox="1"/>
            <p:nvPr/>
          </p:nvSpPr>
          <p:spPr>
            <a:xfrm>
              <a:off x="8682038" y="2701766"/>
              <a:ext cx="561467" cy="161925"/>
            </a:xfrm>
            <a:prstGeom prst="rect">
              <a:avLst/>
            </a:prstGeom>
            <a:noFill/>
            <a:ln>
              <a:noFill/>
            </a:ln>
          </p:spPr>
          <p:txBody>
            <a:bodyPr wrap="none" lIns="0" tIns="0" rIns="0" bIns="0" anchor="t" anchorCtr="0">
              <a:spAutoFit/>
            </a:bodyPr>
            <a:lstStyle/>
            <a:p>
              <a:pPr algn="l"/>
              <a:r>
                <a:rPr lang="zh-CN" sz="820" dirty="0">
                  <a:solidFill>
                    <a:srgbClr val="555555"/>
                  </a:solidFill>
                  <a:latin typeface="+mn-lt"/>
                  <a:ea typeface="+mn-ea"/>
                  <a:cs typeface="+mn-cs"/>
                </a:rPr>
                <a:t>交叉销售。</a:t>
              </a:r>
            </a:p>
          </p:txBody>
        </p:sp>
        <p:sp>
          <p:nvSpPr>
            <p:cNvPr id="112" name="Line 112"/>
            <p:cNvSpPr/>
            <p:nvPr/>
          </p:nvSpPr>
          <p:spPr>
            <a:xfrm>
              <a:off x="8191500" y="3009900"/>
              <a:ext cx="3371850" cy="9525"/>
            </a:xfrm>
            <a:custGeom>
              <a:avLst/>
              <a:gdLst/>
              <a:ahLst/>
              <a:cxnLst/>
              <a:rect l="l" t="t" r="r" b="b"/>
              <a:pathLst>
                <a:path w="3371850" h="9525">
                  <a:moveTo>
                    <a:pt x="0" y="0"/>
                  </a:moveTo>
                  <a:lnTo>
                    <a:pt x="3371850" y="0"/>
                  </a:lnTo>
                </a:path>
              </a:pathLst>
            </a:custGeom>
            <a:noFill/>
            <a:ln w="9525">
              <a:solidFill>
                <a:srgbClr val="EDD5D2"/>
              </a:solidFill>
            </a:ln>
          </p:spPr>
        </p:sp>
        <p:sp>
          <p:nvSpPr>
            <p:cNvPr id="113" name="Ellipse 113"/>
            <p:cNvSpPr/>
            <p:nvPr/>
          </p:nvSpPr>
          <p:spPr>
            <a:xfrm>
              <a:off x="8162925" y="3362325"/>
              <a:ext cx="361950" cy="361950"/>
            </a:xfrm>
            <a:prstGeom prst="ellipse">
              <a:avLst/>
            </a:prstGeom>
            <a:solidFill>
              <a:srgbClr val="A52D12"/>
            </a:solidFill>
            <a:ln>
              <a:noFill/>
            </a:ln>
          </p:spPr>
        </p:sp>
        <p:grpSp>
          <p:nvGrpSpPr>
            <p:cNvPr id="116" name="Group 116"/>
            <p:cNvGrpSpPr/>
            <p:nvPr/>
          </p:nvGrpSpPr>
          <p:grpSpPr>
            <a:xfrm>
              <a:off x="8258175" y="3495675"/>
              <a:ext cx="171450" cy="95250"/>
              <a:chOff x="8258175" y="3495675"/>
              <a:chExt cx="171450" cy="95250"/>
            </a:xfrm>
          </p:grpSpPr>
          <p:sp>
            <p:nvSpPr>
              <p:cNvPr id="114" name="Freeform 114"/>
              <p:cNvSpPr/>
              <p:nvPr/>
            </p:nvSpPr>
            <p:spPr>
              <a:xfrm>
                <a:off x="8258175" y="349567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FFFFFF"/>
                </a:solidFill>
              </a:ln>
            </p:spPr>
          </p:sp>
          <p:sp>
            <p:nvSpPr>
              <p:cNvPr id="115" name="Freeform 115"/>
              <p:cNvSpPr/>
              <p:nvPr/>
            </p:nvSpPr>
            <p:spPr>
              <a:xfrm>
                <a:off x="8362950" y="3495675"/>
                <a:ext cx="66675" cy="66675"/>
              </a:xfrm>
              <a:custGeom>
                <a:avLst/>
                <a:gdLst/>
                <a:ahLst/>
                <a:cxnLst/>
                <a:rect l="l" t="t" r="r" b="b"/>
                <a:pathLst>
                  <a:path w="66675" h="66675">
                    <a:moveTo>
                      <a:pt x="0" y="0"/>
                    </a:moveTo>
                    <a:lnTo>
                      <a:pt x="66675" y="0"/>
                    </a:lnTo>
                    <a:lnTo>
                      <a:pt x="66675" y="66675"/>
                    </a:lnTo>
                  </a:path>
                </a:pathLst>
              </a:custGeom>
              <a:noFill/>
              <a:ln w="19050">
                <a:solidFill>
                  <a:srgbClr val="FFFFFF"/>
                </a:solidFill>
              </a:ln>
            </p:spPr>
          </p:sp>
        </p:grpSp>
        <p:sp>
          <p:nvSpPr>
            <p:cNvPr id="117" name="TextBox 117"/>
            <p:cNvSpPr txBox="1"/>
            <p:nvPr/>
          </p:nvSpPr>
          <p:spPr>
            <a:xfrm>
              <a:off x="8681276" y="3368754"/>
              <a:ext cx="891464" cy="212693"/>
            </a:xfrm>
            <a:prstGeom prst="rect">
              <a:avLst/>
            </a:prstGeom>
            <a:noFill/>
            <a:ln>
              <a:noFill/>
            </a:ln>
          </p:spPr>
          <p:txBody>
            <a:bodyPr wrap="none" lIns="0" tIns="0" rIns="0" bIns="0" anchor="t" anchorCtr="0">
              <a:spAutoFit/>
            </a:bodyPr>
            <a:lstStyle/>
            <a:p>
              <a:pPr algn="l"/>
              <a:r>
                <a:rPr lang="zh-CN" sz="1090" b="1" dirty="0">
                  <a:solidFill>
                    <a:srgbClr val="A52D12"/>
                  </a:solidFill>
                  <a:latin typeface="+mn-lt"/>
                  <a:ea typeface="+mn-ea"/>
                  <a:cs typeface="+mn-cs"/>
                </a:rPr>
                <a:t>财富产品升级</a:t>
              </a:r>
            </a:p>
          </p:txBody>
        </p:sp>
        <p:sp>
          <p:nvSpPr>
            <p:cNvPr id="118" name="TextBox 118"/>
            <p:cNvSpPr txBox="1"/>
            <p:nvPr/>
          </p:nvSpPr>
          <p:spPr>
            <a:xfrm>
              <a:off x="8682038" y="3625691"/>
              <a:ext cx="2327681" cy="161925"/>
            </a:xfrm>
            <a:prstGeom prst="rect">
              <a:avLst/>
            </a:prstGeom>
            <a:noFill/>
            <a:ln>
              <a:noFill/>
            </a:ln>
          </p:spPr>
          <p:txBody>
            <a:bodyPr wrap="none" lIns="0" tIns="0" rIns="0" bIns="0" anchor="t" anchorCtr="0">
              <a:spAutoFit/>
            </a:bodyPr>
            <a:lstStyle/>
            <a:p>
              <a:pPr algn="l"/>
              <a:r>
                <a:rPr lang="zh-CN" sz="820" dirty="0">
                  <a:solidFill>
                    <a:srgbClr val="555555"/>
                  </a:solidFill>
                  <a:latin typeface="+mn-lt"/>
                  <a:ea typeface="+mn-ea"/>
                  <a:cs typeface="+mn-cs"/>
                </a:rPr>
                <a:t>优化产品体系，丰富配置策略，提升客户体验与</a:t>
              </a:r>
            </a:p>
          </p:txBody>
        </p:sp>
        <p:sp>
          <p:nvSpPr>
            <p:cNvPr id="119" name="TextBox 119"/>
            <p:cNvSpPr txBox="1"/>
            <p:nvPr/>
          </p:nvSpPr>
          <p:spPr>
            <a:xfrm>
              <a:off x="8682038" y="3806666"/>
              <a:ext cx="782244"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资产配置能力</a:t>
              </a:r>
              <a:r>
                <a:rPr lang="zh-CN" sz="820" dirty="0">
                  <a:solidFill>
                    <a:srgbClr val="555555"/>
                  </a:solidFill>
                  <a:latin typeface="+mn-lt"/>
                  <a:ea typeface="+mn-ea"/>
                  <a:cs typeface="+mn-cs"/>
                </a:rPr>
                <a:t>。</a:t>
              </a:r>
            </a:p>
          </p:txBody>
        </p:sp>
        <p:sp>
          <p:nvSpPr>
            <p:cNvPr id="120" name="Line 120"/>
            <p:cNvSpPr/>
            <p:nvPr/>
          </p:nvSpPr>
          <p:spPr>
            <a:xfrm>
              <a:off x="8191500" y="4114800"/>
              <a:ext cx="3371850" cy="9525"/>
            </a:xfrm>
            <a:custGeom>
              <a:avLst/>
              <a:gdLst/>
              <a:ahLst/>
              <a:cxnLst/>
              <a:rect l="l" t="t" r="r" b="b"/>
              <a:pathLst>
                <a:path w="3371850" h="9525">
                  <a:moveTo>
                    <a:pt x="0" y="0"/>
                  </a:moveTo>
                  <a:lnTo>
                    <a:pt x="3371850" y="0"/>
                  </a:lnTo>
                </a:path>
              </a:pathLst>
            </a:custGeom>
            <a:noFill/>
            <a:ln w="9525">
              <a:solidFill>
                <a:srgbClr val="EDD5D2"/>
              </a:solidFill>
            </a:ln>
          </p:spPr>
        </p:sp>
        <p:sp>
          <p:nvSpPr>
            <p:cNvPr id="121" name="Ellipse 121"/>
            <p:cNvSpPr/>
            <p:nvPr/>
          </p:nvSpPr>
          <p:spPr>
            <a:xfrm>
              <a:off x="8162925" y="4467225"/>
              <a:ext cx="361950" cy="361950"/>
            </a:xfrm>
            <a:prstGeom prst="ellipse">
              <a:avLst/>
            </a:prstGeom>
            <a:solidFill>
              <a:srgbClr val="A52D12"/>
            </a:solidFill>
            <a:ln>
              <a:noFill/>
            </a:ln>
          </p:spPr>
        </p:sp>
        <p:grpSp>
          <p:nvGrpSpPr>
            <p:cNvPr id="126" name="Group 126"/>
            <p:cNvGrpSpPr/>
            <p:nvPr/>
          </p:nvGrpSpPr>
          <p:grpSpPr>
            <a:xfrm>
              <a:off x="8267700" y="4562475"/>
              <a:ext cx="152400" cy="171450"/>
              <a:chOff x="8267700" y="4562475"/>
              <a:chExt cx="152400" cy="171450"/>
            </a:xfrm>
          </p:grpSpPr>
          <p:sp>
            <p:nvSpPr>
              <p:cNvPr id="122" name="Freeform 122"/>
              <p:cNvSpPr/>
              <p:nvPr/>
            </p:nvSpPr>
            <p:spPr>
              <a:xfrm>
                <a:off x="8267700" y="46958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23" name="Freeform 123"/>
              <p:cNvSpPr/>
              <p:nvPr/>
            </p:nvSpPr>
            <p:spPr>
              <a:xfrm>
                <a:off x="8372475" y="46958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24" name="Freeform 124"/>
              <p:cNvSpPr/>
              <p:nvPr/>
            </p:nvSpPr>
            <p:spPr>
              <a:xfrm>
                <a:off x="8267700" y="4562475"/>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FFFFFF"/>
                </a:solidFill>
              </a:ln>
            </p:spPr>
          </p:sp>
          <p:sp>
            <p:nvSpPr>
              <p:cNvPr id="125" name="Freeform 125"/>
              <p:cNvSpPr/>
              <p:nvPr/>
            </p:nvSpPr>
            <p:spPr>
              <a:xfrm>
                <a:off x="8286750" y="4581525"/>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FFFFFF"/>
                </a:solidFill>
              </a:ln>
            </p:spPr>
          </p:sp>
        </p:grpSp>
        <p:sp>
          <p:nvSpPr>
            <p:cNvPr id="127" name="TextBox 127"/>
            <p:cNvSpPr txBox="1"/>
            <p:nvPr/>
          </p:nvSpPr>
          <p:spPr>
            <a:xfrm>
              <a:off x="8681276" y="4473654"/>
              <a:ext cx="891464" cy="212693"/>
            </a:xfrm>
            <a:prstGeom prst="rect">
              <a:avLst/>
            </a:prstGeom>
            <a:noFill/>
            <a:ln>
              <a:noFill/>
            </a:ln>
          </p:spPr>
          <p:txBody>
            <a:bodyPr wrap="none" lIns="0" tIns="0" rIns="0" bIns="0" anchor="t" anchorCtr="0">
              <a:spAutoFit/>
            </a:bodyPr>
            <a:lstStyle/>
            <a:p>
              <a:pPr algn="l"/>
              <a:r>
                <a:rPr lang="zh-CN" sz="1090" b="1" dirty="0">
                  <a:solidFill>
                    <a:srgbClr val="A52D12"/>
                  </a:solidFill>
                  <a:latin typeface="+mn-lt"/>
                  <a:ea typeface="+mn-ea"/>
                  <a:cs typeface="+mn-cs"/>
                </a:rPr>
                <a:t>消费场景深耕</a:t>
              </a:r>
            </a:p>
          </p:txBody>
        </p:sp>
        <p:sp>
          <p:nvSpPr>
            <p:cNvPr id="128" name="TextBox 128"/>
            <p:cNvSpPr txBox="1"/>
            <p:nvPr/>
          </p:nvSpPr>
          <p:spPr>
            <a:xfrm>
              <a:off x="8682038" y="4730591"/>
              <a:ext cx="2438070" cy="161925"/>
            </a:xfrm>
            <a:prstGeom prst="rect">
              <a:avLst/>
            </a:prstGeom>
            <a:noFill/>
            <a:ln>
              <a:noFill/>
            </a:ln>
          </p:spPr>
          <p:txBody>
            <a:bodyPr wrap="none" lIns="0" tIns="0" rIns="0" bIns="0" anchor="t" anchorCtr="0">
              <a:spAutoFit/>
            </a:bodyPr>
            <a:lstStyle/>
            <a:p>
              <a:pPr algn="l"/>
              <a:r>
                <a:rPr lang="zh-CN" sz="820" dirty="0">
                  <a:solidFill>
                    <a:srgbClr val="555555"/>
                  </a:solidFill>
                  <a:latin typeface="+mn-lt"/>
                  <a:ea typeface="+mn-ea"/>
                  <a:cs typeface="+mn-cs"/>
                </a:rPr>
                <a:t>拓展多元消费场景，</a:t>
              </a:r>
              <a:r>
                <a:rPr lang="zh-CN" sz="820" b="1" dirty="0">
                  <a:solidFill>
                    <a:srgbClr val="A52D12"/>
                  </a:solidFill>
                  <a:latin typeface="+mn-lt"/>
                  <a:ea typeface="+mn-ea"/>
                  <a:cs typeface="+mn-cs"/>
                </a:rPr>
                <a:t>提升客户粘性</a:t>
              </a:r>
              <a:r>
                <a:rPr lang="zh-CN" sz="820" dirty="0">
                  <a:solidFill>
                    <a:srgbClr val="555555"/>
                  </a:solidFill>
                  <a:latin typeface="+mn-lt"/>
                  <a:ea typeface="+mn-ea"/>
                  <a:cs typeface="+mn-cs"/>
                </a:rPr>
                <a:t>，促进消费与金</a:t>
              </a:r>
            </a:p>
          </p:txBody>
        </p:sp>
        <p:sp>
          <p:nvSpPr>
            <p:cNvPr id="129" name="TextBox 129"/>
            <p:cNvSpPr txBox="1"/>
            <p:nvPr/>
          </p:nvSpPr>
          <p:spPr>
            <a:xfrm>
              <a:off x="8682038" y="4911566"/>
              <a:ext cx="451079" cy="161925"/>
            </a:xfrm>
            <a:prstGeom prst="rect">
              <a:avLst/>
            </a:prstGeom>
            <a:noFill/>
            <a:ln>
              <a:noFill/>
            </a:ln>
          </p:spPr>
          <p:txBody>
            <a:bodyPr wrap="none" lIns="0" tIns="0" rIns="0" bIns="0" anchor="t" anchorCtr="0">
              <a:spAutoFit/>
            </a:bodyPr>
            <a:lstStyle/>
            <a:p>
              <a:pPr algn="l"/>
              <a:r>
                <a:rPr lang="zh-CN" sz="820" dirty="0">
                  <a:solidFill>
                    <a:srgbClr val="555555"/>
                  </a:solidFill>
                  <a:latin typeface="+mn-lt"/>
                  <a:ea typeface="+mn-ea"/>
                  <a:cs typeface="+mn-cs"/>
                </a:rPr>
                <a:t>融融合。</a:t>
              </a:r>
            </a:p>
          </p:txBody>
        </p:sp>
      </p:grpSp>
      <p:grpSp>
        <p:nvGrpSpPr>
          <p:cNvPr id="139" name="conclusion"/>
          <p:cNvGrpSpPr/>
          <p:nvPr/>
        </p:nvGrpSpPr>
        <p:grpSpPr>
          <a:xfrm>
            <a:off x="381000" y="5772150"/>
            <a:ext cx="11430000" cy="647700"/>
            <a:chOff x="381000" y="5772150"/>
            <a:chExt cx="11430000" cy="647700"/>
          </a:xfrm>
        </p:grpSpPr>
        <p:sp>
          <p:nvSpPr>
            <p:cNvPr id="131" name="Rectangle 131"/>
            <p:cNvSpPr/>
            <p:nvPr/>
          </p:nvSpPr>
          <p:spPr>
            <a:xfrm>
              <a:off x="381000" y="5772150"/>
              <a:ext cx="11430000" cy="647700"/>
            </a:xfrm>
            <a:prstGeom prst="roundRect">
              <a:avLst>
                <a:gd name="adj" fmla="val 14706"/>
              </a:avLst>
            </a:prstGeom>
            <a:solidFill>
              <a:srgbClr val="FBEFEE"/>
            </a:solidFill>
            <a:ln w="9525">
              <a:solidFill>
                <a:srgbClr val="EDD5D2"/>
              </a:solidFill>
            </a:ln>
          </p:spPr>
        </p:sp>
        <p:sp>
          <p:nvSpPr>
            <p:cNvPr id="132" name="Rectangle 132"/>
            <p:cNvSpPr/>
            <p:nvPr/>
          </p:nvSpPr>
          <p:spPr>
            <a:xfrm>
              <a:off x="628650" y="5924550"/>
              <a:ext cx="342900" cy="342900"/>
            </a:xfrm>
            <a:prstGeom prst="roundRect">
              <a:avLst>
                <a:gd name="adj" fmla="val 50000"/>
              </a:avLst>
            </a:prstGeom>
            <a:solidFill>
              <a:srgbClr val="A52D12"/>
            </a:solidFill>
            <a:ln>
              <a:noFill/>
            </a:ln>
          </p:spPr>
        </p:sp>
        <p:grpSp>
          <p:nvGrpSpPr>
            <p:cNvPr id="136" name="Group 136"/>
            <p:cNvGrpSpPr/>
            <p:nvPr/>
          </p:nvGrpSpPr>
          <p:grpSpPr>
            <a:xfrm>
              <a:off x="728662" y="6024562"/>
              <a:ext cx="142875" cy="142875"/>
              <a:chOff x="728662" y="6024562"/>
              <a:chExt cx="142875" cy="142875"/>
            </a:xfrm>
          </p:grpSpPr>
          <p:sp>
            <p:nvSpPr>
              <p:cNvPr id="133" name="Freeform 133"/>
              <p:cNvSpPr/>
              <p:nvPr/>
            </p:nvSpPr>
            <p:spPr>
              <a:xfrm>
                <a:off x="792162" y="60880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134" name="Freeform 134"/>
              <p:cNvSpPr/>
              <p:nvPr/>
            </p:nvSpPr>
            <p:spPr>
              <a:xfrm>
                <a:off x="760412" y="60563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135" name="Freeform 135"/>
              <p:cNvSpPr/>
              <p:nvPr/>
            </p:nvSpPr>
            <p:spPr>
              <a:xfrm>
                <a:off x="728662" y="60245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137" name="TextBox 137"/>
            <p:cNvSpPr txBox="1"/>
            <p:nvPr/>
          </p:nvSpPr>
          <p:spPr>
            <a:xfrm>
              <a:off x="1137285" y="6031706"/>
              <a:ext cx="765302" cy="220028"/>
            </a:xfrm>
            <a:prstGeom prst="rect">
              <a:avLst/>
            </a:prstGeom>
            <a:noFill/>
            <a:ln>
              <a:noFill/>
            </a:ln>
          </p:spPr>
          <p:txBody>
            <a:bodyPr wrap="none" lIns="0" tIns="0" rIns="0" bIns="0" anchor="t" anchorCtr="0">
              <a:spAutoFit/>
            </a:bodyPr>
            <a:lstStyle/>
            <a:p>
              <a:pPr algn="l"/>
              <a:r>
                <a:rPr lang="zh-CN" sz="1120" b="1" dirty="0">
                  <a:solidFill>
                    <a:srgbClr val="A52D12"/>
                  </a:solidFill>
                  <a:latin typeface="+mn-lt"/>
                  <a:ea typeface="+mn-ea"/>
                  <a:cs typeface="+mn-cs"/>
                </a:rPr>
                <a:t>结论与导向</a:t>
              </a:r>
            </a:p>
          </p:txBody>
        </p:sp>
        <p:sp>
          <p:nvSpPr>
            <p:cNvPr id="138" name="TextBox 138"/>
            <p:cNvSpPr txBox="1"/>
            <p:nvPr/>
          </p:nvSpPr>
          <p:spPr>
            <a:xfrm>
              <a:off x="2109406" y="6043851"/>
              <a:ext cx="7216496" cy="198025"/>
            </a:xfrm>
            <a:prstGeom prst="rect">
              <a:avLst/>
            </a:prstGeom>
            <a:noFill/>
            <a:ln>
              <a:noFill/>
            </a:ln>
          </p:spPr>
          <p:txBody>
            <a:bodyPr wrap="none" lIns="0" tIns="0" rIns="0" bIns="0" anchor="t" anchorCtr="0">
              <a:spAutoFit/>
            </a:bodyPr>
            <a:lstStyle/>
            <a:p>
              <a:pPr algn="l"/>
              <a:r>
                <a:rPr lang="zh-CN" sz="1010" dirty="0">
                  <a:solidFill>
                    <a:srgbClr val="3A3A3A"/>
                  </a:solidFill>
                  <a:latin typeface="+mn-lt"/>
                  <a:ea typeface="+mn-ea"/>
                  <a:cs typeface="+mn-cs"/>
                </a:rPr>
                <a:t>以客户资产提升为核心驱动，优化客户结构与产品结构，深化三项行动，持续提升零售业务价值贡献与可持续增长能力。</a:t>
              </a:r>
            </a:p>
          </p:txBody>
        </p:sp>
      </p:gr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06​</a:t>
              </a:r>
            </a:p>
          </p:txBody>
        </p:sp>
        <p:sp>
          <p:nvSpPr>
            <p:cNvPr id="4" name="TextBox 4"/>
            <p:cNvSpPr txBox="1"/>
            <p:nvPr/>
          </p:nvSpPr>
          <p:spPr>
            <a:xfrm>
              <a:off x="942594" y="189548"/>
              <a:ext cx="7508748"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做深普惠金融与乡村振兴，</a:t>
              </a:r>
              <a:r>
                <a:rPr lang="zh-CN" sz="1950" b="1" dirty="0">
                  <a:solidFill>
                    <a:srgbClr val="A52D12"/>
                  </a:solidFill>
                  <a:latin typeface="SimSun"/>
                  <a:ea typeface="SimSun"/>
                  <a:cs typeface="SimSun"/>
                </a:rPr>
                <a:t>提升小微市场覆盖广度和服务温度</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11" name="lead"/>
          <p:cNvGrpSpPr/>
          <p:nvPr/>
        </p:nvGrpSpPr>
        <p:grpSpPr>
          <a:xfrm>
            <a:off x="381000" y="723900"/>
            <a:ext cx="7330854" cy="742950"/>
            <a:chOff x="381000" y="723900"/>
            <a:chExt cx="7330854" cy="742950"/>
          </a:xfrm>
        </p:grpSpPr>
        <p:sp>
          <p:nvSpPr>
            <p:cNvPr id="7" name="Rectangle 7"/>
            <p:cNvSpPr/>
            <p:nvPr/>
          </p:nvSpPr>
          <p:spPr>
            <a:xfrm>
              <a:off x="381000" y="723900"/>
              <a:ext cx="38100" cy="742950"/>
            </a:xfrm>
            <a:prstGeom prst="rect">
              <a:avLst/>
            </a:prstGeom>
            <a:solidFill>
              <a:srgbClr val="A52D12"/>
            </a:solidFill>
            <a:ln>
              <a:noFill/>
            </a:ln>
          </p:spPr>
        </p:sp>
        <p:sp>
          <p:nvSpPr>
            <p:cNvPr id="8" name="TextBox 8"/>
            <p:cNvSpPr txBox="1"/>
            <p:nvPr/>
          </p:nvSpPr>
          <p:spPr>
            <a:xfrm>
              <a:off x="528447" y="751999"/>
              <a:ext cx="7183407"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普惠小微贷款1680亿元（+14.6%）；有贷户25.8万户（新增2.9万）；首贷户占比18.3%；平均贷款利率同比下降21BP；​</a:t>
              </a:r>
            </a:p>
          </p:txBody>
        </p:sp>
        <p:sp>
          <p:nvSpPr>
            <p:cNvPr id="9" name="TextBox 9"/>
            <p:cNvSpPr txBox="1"/>
            <p:nvPr/>
          </p:nvSpPr>
          <p:spPr>
            <a:xfrm>
              <a:off x="528447" y="980599"/>
              <a:ext cx="5933455"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涉农贷款980亿元（+12.1%）。</a:t>
              </a:r>
              <a:r>
                <a:rPr lang="zh-CN" sz="980" b="1" dirty="0">
                  <a:solidFill>
                    <a:srgbClr val="A52D12"/>
                  </a:solidFill>
                  <a:latin typeface="+mn-lt"/>
                  <a:ea typeface="+mn-ea"/>
                  <a:cs typeface="+mn-cs"/>
                </a:rPr>
                <a:t>中部业务闭环：</a:t>
              </a:r>
              <a:r>
                <a:rPr lang="zh-CN" sz="980" dirty="0">
                  <a:solidFill>
                    <a:srgbClr val="3A3A3A"/>
                  </a:solidFill>
                  <a:latin typeface="+mn-lt"/>
                  <a:ea typeface="+mn-ea"/>
                  <a:cs typeface="+mn-cs"/>
                </a:rPr>
                <a:t>批量获客→智能风控→线上审批→随借随还→贷后预警。​</a:t>
              </a:r>
            </a:p>
          </p:txBody>
        </p:sp>
        <p:sp>
          <p:nvSpPr>
            <p:cNvPr id="10" name="TextBox 10"/>
            <p:cNvSpPr txBox="1"/>
            <p:nvPr/>
          </p:nvSpPr>
          <p:spPr>
            <a:xfrm>
              <a:off x="528447" y="1209199"/>
              <a:ext cx="6883334" cy="190690"/>
            </a:xfrm>
            <a:prstGeom prst="rect">
              <a:avLst/>
            </a:prstGeom>
            <a:noFill/>
            <a:ln>
              <a:noFill/>
            </a:ln>
          </p:spPr>
          <p:txBody>
            <a:bodyPr wrap="none" lIns="0" tIns="0" rIns="0" bIns="0" anchor="t" anchorCtr="0">
              <a:spAutoFit/>
            </a:bodyPr>
            <a:lstStyle/>
            <a:p>
              <a:pPr algn="l"/>
              <a:r>
                <a:rPr lang="zh-CN" sz="980" b="1" dirty="0">
                  <a:solidFill>
                    <a:srgbClr val="A52D12"/>
                  </a:solidFill>
                  <a:latin typeface="+mn-lt"/>
                  <a:ea typeface="+mn-ea"/>
                  <a:cs typeface="+mn-cs"/>
                </a:rPr>
                <a:t>右侧三大场景：</a:t>
              </a:r>
              <a:r>
                <a:rPr lang="zh-CN" sz="980" dirty="0">
                  <a:solidFill>
                    <a:srgbClr val="3A3A3A"/>
                  </a:solidFill>
                  <a:latin typeface="+mn-lt"/>
                  <a:ea typeface="+mn-ea"/>
                  <a:cs typeface="+mn-cs"/>
                </a:rPr>
                <a:t>产业园区、核心企业供应链、县域特色产业。底部强调“两增两控、扩面增量、降本提质、风险可控”。</a:t>
              </a:r>
            </a:p>
          </p:txBody>
        </p:sp>
      </p:grpSp>
      <p:grpSp>
        <p:nvGrpSpPr>
          <p:cNvPr id="56" name="inclusive-kpi"/>
          <p:cNvGrpSpPr/>
          <p:nvPr/>
        </p:nvGrpSpPr>
        <p:grpSpPr>
          <a:xfrm>
            <a:off x="381000" y="1638300"/>
            <a:ext cx="2476500" cy="3496056"/>
            <a:chOff x="381000" y="1638300"/>
            <a:chExt cx="2476500" cy="3496056"/>
          </a:xfrm>
        </p:grpSpPr>
        <p:sp>
          <p:nvSpPr>
            <p:cNvPr id="12" name="Rectangle 12"/>
            <p:cNvSpPr/>
            <p:nvPr/>
          </p:nvSpPr>
          <p:spPr>
            <a:xfrm>
              <a:off x="381000" y="1638300"/>
              <a:ext cx="2476500" cy="3467100"/>
            </a:xfrm>
            <a:prstGeom prst="roundRect">
              <a:avLst>
                <a:gd name="adj" fmla="val 3077"/>
              </a:avLst>
            </a:prstGeom>
            <a:solidFill>
              <a:srgbClr val="FDF6F5"/>
            </a:solidFill>
            <a:ln w="9525">
              <a:solidFill>
                <a:srgbClr val="EDD5D2"/>
              </a:solidFill>
            </a:ln>
          </p:spPr>
        </p:sp>
        <p:sp>
          <p:nvSpPr>
            <p:cNvPr id="13" name="Freeform 13"/>
            <p:cNvSpPr/>
            <p:nvPr/>
          </p:nvSpPr>
          <p:spPr>
            <a:xfrm>
              <a:off x="390525" y="1647825"/>
              <a:ext cx="2457450" cy="228600"/>
            </a:xfrm>
            <a:custGeom>
              <a:avLst/>
              <a:gdLst/>
              <a:ahLst/>
              <a:cxnLst/>
              <a:rect l="l" t="t" r="r" b="b"/>
              <a:pathLst>
                <a:path w="2457450" h="228600">
                  <a:moveTo>
                    <a:pt x="0" y="228600"/>
                  </a:moveTo>
                  <a:lnTo>
                    <a:pt x="2457450" y="228600"/>
                  </a:lnTo>
                  <a:lnTo>
                    <a:pt x="2457450" y="66675"/>
                  </a:lnTo>
                  <a:cubicBezTo>
                    <a:pt x="2457450" y="29851"/>
                    <a:pt x="2427599" y="0"/>
                    <a:pt x="2390775" y="0"/>
                  </a:cubicBezTo>
                  <a:lnTo>
                    <a:pt x="66675" y="0"/>
                  </a:lnTo>
                  <a:cubicBezTo>
                    <a:pt x="29851" y="0"/>
                    <a:pt x="0" y="29851"/>
                    <a:pt x="0" y="66675"/>
                  </a:cubicBezTo>
                  <a:close/>
                </a:path>
              </a:pathLst>
            </a:custGeom>
            <a:solidFill>
              <a:srgbClr val="A52D12"/>
            </a:solidFill>
            <a:ln>
              <a:noFill/>
            </a:ln>
          </p:spPr>
        </p:sp>
        <p:sp>
          <p:nvSpPr>
            <p:cNvPr id="14" name="TextBox 14"/>
            <p:cNvSpPr txBox="1"/>
            <p:nvPr/>
          </p:nvSpPr>
          <p:spPr>
            <a:xfrm>
              <a:off x="866292" y="1700451"/>
              <a:ext cx="1505915"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核心指标（截至本年末）</a:t>
              </a:r>
            </a:p>
          </p:txBody>
        </p:sp>
        <p:sp>
          <p:nvSpPr>
            <p:cNvPr id="15" name="Ellipse 15"/>
            <p:cNvSpPr/>
            <p:nvPr/>
          </p:nvSpPr>
          <p:spPr>
            <a:xfrm>
              <a:off x="571500" y="2057400"/>
              <a:ext cx="266700" cy="266700"/>
            </a:xfrm>
            <a:prstGeom prst="ellipse">
              <a:avLst/>
            </a:prstGeom>
            <a:solidFill>
              <a:srgbClr val="F7E9E7"/>
            </a:solidFill>
            <a:ln>
              <a:noFill/>
            </a:ln>
          </p:spPr>
        </p:sp>
        <p:grpSp>
          <p:nvGrpSpPr>
            <p:cNvPr id="21" name="Group 21"/>
            <p:cNvGrpSpPr/>
            <p:nvPr/>
          </p:nvGrpSpPr>
          <p:grpSpPr>
            <a:xfrm>
              <a:off x="647700" y="2132749"/>
              <a:ext cx="114300" cy="115151"/>
              <a:chOff x="647700" y="2132749"/>
              <a:chExt cx="114300" cy="115151"/>
            </a:xfrm>
          </p:grpSpPr>
          <p:sp>
            <p:nvSpPr>
              <p:cNvPr id="16" name="Freeform 16"/>
              <p:cNvSpPr/>
              <p:nvPr/>
            </p:nvSpPr>
            <p:spPr>
              <a:xfrm>
                <a:off x="685800" y="21844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A52D12"/>
                </a:solidFill>
              </a:ln>
            </p:spPr>
          </p:sp>
          <p:sp>
            <p:nvSpPr>
              <p:cNvPr id="17" name="Freeform 17"/>
              <p:cNvSpPr/>
              <p:nvPr/>
            </p:nvSpPr>
            <p:spPr>
              <a:xfrm>
                <a:off x="685800" y="22034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A52D12"/>
                </a:solidFill>
              </a:ln>
            </p:spPr>
          </p:sp>
          <p:sp>
            <p:nvSpPr>
              <p:cNvPr id="18" name="Freeform 18"/>
              <p:cNvSpPr/>
              <p:nvPr/>
            </p:nvSpPr>
            <p:spPr>
              <a:xfrm>
                <a:off x="647700" y="21327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A52D12"/>
                </a:solidFill>
              </a:ln>
            </p:spPr>
          </p:sp>
          <p:sp>
            <p:nvSpPr>
              <p:cNvPr id="19" name="Freeform 19"/>
              <p:cNvSpPr/>
              <p:nvPr/>
            </p:nvSpPr>
            <p:spPr>
              <a:xfrm>
                <a:off x="647700" y="21526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A52D12"/>
                </a:solidFill>
              </a:ln>
            </p:spPr>
          </p:sp>
          <p:sp>
            <p:nvSpPr>
              <p:cNvPr id="20" name="Freeform 20"/>
              <p:cNvSpPr/>
              <p:nvPr/>
            </p:nvSpPr>
            <p:spPr>
              <a:xfrm>
                <a:off x="647700" y="21844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A52D12"/>
                </a:solidFill>
              </a:ln>
            </p:spPr>
          </p:sp>
        </p:grpSp>
        <p:sp>
          <p:nvSpPr>
            <p:cNvPr id="22" name="TextBox 22"/>
            <p:cNvSpPr txBox="1"/>
            <p:nvPr/>
          </p:nvSpPr>
          <p:spPr>
            <a:xfrm>
              <a:off x="909638" y="2040493"/>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普惠小微贷款余额</a:t>
              </a:r>
            </a:p>
          </p:txBody>
        </p:sp>
        <p:sp>
          <p:nvSpPr>
            <p:cNvPr id="23" name="TextBox 23"/>
            <p:cNvSpPr txBox="1"/>
            <p:nvPr/>
          </p:nvSpPr>
          <p:spPr>
            <a:xfrm>
              <a:off x="907542" y="2197418"/>
              <a:ext cx="797659" cy="264033"/>
            </a:xfrm>
            <a:prstGeom prst="rect">
              <a:avLst/>
            </a:prstGeom>
            <a:noFill/>
            <a:ln>
              <a:noFill/>
            </a:ln>
          </p:spPr>
          <p:txBody>
            <a:bodyPr wrap="none" lIns="0" tIns="0" rIns="0" bIns="0" anchor="t" anchorCtr="0">
              <a:spAutoFit/>
            </a:bodyPr>
            <a:lstStyle/>
            <a:p>
              <a:pPr algn="l"/>
              <a:r>
                <a:rPr lang="zh-CN" sz="1350" b="1" dirty="0">
                  <a:solidFill>
                    <a:srgbClr val="A52D12"/>
                  </a:solidFill>
                  <a:latin typeface="+mn-lt"/>
                  <a:ea typeface="+mn-ea"/>
                  <a:cs typeface="+mn-cs"/>
                </a:rPr>
                <a:t xml:space="preserve">1680 </a:t>
              </a:r>
              <a:r>
                <a:rPr lang="zh-CN" sz="750" dirty="0">
                  <a:solidFill>
                    <a:srgbClr val="A52D12"/>
                  </a:solidFill>
                  <a:latin typeface="+mn-lt"/>
                  <a:ea typeface="+mn-ea"/>
                  <a:cs typeface="+mn-cs"/>
                </a:rPr>
                <a:t>亿元</a:t>
              </a:r>
              <a:r>
                <a:rPr lang="zh-CN" sz="1350" b="1" dirty="0">
                  <a:solidFill>
                    <a:srgbClr val="A52D12"/>
                  </a:solidFill>
                  <a:latin typeface="+mn-lt"/>
                  <a:ea typeface="+mn-ea"/>
                  <a:cs typeface="+mn-cs"/>
                </a:rPr>
                <a:t>​</a:t>
              </a:r>
            </a:p>
          </p:txBody>
        </p:sp>
        <p:sp>
          <p:nvSpPr>
            <p:cNvPr id="24" name="TextBox 24"/>
            <p:cNvSpPr txBox="1"/>
            <p:nvPr/>
          </p:nvSpPr>
          <p:spPr>
            <a:xfrm>
              <a:off x="1862138" y="2162889"/>
              <a:ext cx="556695"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 +14.6%​</a:t>
              </a:r>
            </a:p>
          </p:txBody>
        </p:sp>
        <p:sp>
          <p:nvSpPr>
            <p:cNvPr id="25" name="Line 25"/>
            <p:cNvSpPr/>
            <p:nvPr/>
          </p:nvSpPr>
          <p:spPr>
            <a:xfrm>
              <a:off x="571500" y="2514600"/>
              <a:ext cx="2095500" cy="9525"/>
            </a:xfrm>
            <a:custGeom>
              <a:avLst/>
              <a:gdLst/>
              <a:ahLst/>
              <a:cxnLst/>
              <a:rect l="l" t="t" r="r" b="b"/>
              <a:pathLst>
                <a:path w="2095500" h="9525">
                  <a:moveTo>
                    <a:pt x="0" y="0"/>
                  </a:moveTo>
                  <a:lnTo>
                    <a:pt x="2095500" y="0"/>
                  </a:lnTo>
                </a:path>
              </a:pathLst>
            </a:custGeom>
            <a:noFill/>
            <a:ln w="9525">
              <a:solidFill>
                <a:srgbClr val="EDD5D2"/>
              </a:solidFill>
            </a:ln>
          </p:spPr>
        </p:sp>
        <p:sp>
          <p:nvSpPr>
            <p:cNvPr id="26" name="Ellipse 26"/>
            <p:cNvSpPr/>
            <p:nvPr/>
          </p:nvSpPr>
          <p:spPr>
            <a:xfrm>
              <a:off x="571500" y="2952750"/>
              <a:ext cx="266700" cy="266700"/>
            </a:xfrm>
            <a:prstGeom prst="ellipse">
              <a:avLst/>
            </a:prstGeom>
            <a:solidFill>
              <a:srgbClr val="F7E9E7"/>
            </a:solidFill>
            <a:ln>
              <a:noFill/>
            </a:ln>
          </p:spPr>
        </p:sp>
        <p:grpSp>
          <p:nvGrpSpPr>
            <p:cNvPr id="33" name="Group 33"/>
            <p:cNvGrpSpPr/>
            <p:nvPr/>
          </p:nvGrpSpPr>
          <p:grpSpPr>
            <a:xfrm>
              <a:off x="647700" y="3028950"/>
              <a:ext cx="114300" cy="114300"/>
              <a:chOff x="647700" y="3028950"/>
              <a:chExt cx="114300" cy="114300"/>
            </a:xfrm>
          </p:grpSpPr>
          <p:sp>
            <p:nvSpPr>
              <p:cNvPr id="27" name="Freeform 27"/>
              <p:cNvSpPr/>
              <p:nvPr/>
            </p:nvSpPr>
            <p:spPr>
              <a:xfrm>
                <a:off x="692150" y="30797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52D12"/>
                </a:solidFill>
              </a:ln>
            </p:spPr>
          </p:sp>
          <p:sp>
            <p:nvSpPr>
              <p:cNvPr id="28" name="Freeform 28"/>
              <p:cNvSpPr/>
              <p:nvPr/>
            </p:nvSpPr>
            <p:spPr>
              <a:xfrm>
                <a:off x="679450" y="31242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A52D12"/>
                </a:solidFill>
              </a:ln>
            </p:spPr>
          </p:sp>
          <p:sp>
            <p:nvSpPr>
              <p:cNvPr id="29" name="Freeform 29"/>
              <p:cNvSpPr/>
              <p:nvPr/>
            </p:nvSpPr>
            <p:spPr>
              <a:xfrm>
                <a:off x="723900" y="30289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52D12"/>
                </a:solidFill>
              </a:ln>
            </p:spPr>
          </p:sp>
          <p:sp>
            <p:nvSpPr>
              <p:cNvPr id="30" name="Freeform 30"/>
              <p:cNvSpPr/>
              <p:nvPr/>
            </p:nvSpPr>
            <p:spPr>
              <a:xfrm>
                <a:off x="736600" y="30734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A52D12"/>
                </a:solidFill>
              </a:ln>
            </p:spPr>
          </p:sp>
          <p:sp>
            <p:nvSpPr>
              <p:cNvPr id="31" name="Freeform 31"/>
              <p:cNvSpPr/>
              <p:nvPr/>
            </p:nvSpPr>
            <p:spPr>
              <a:xfrm>
                <a:off x="660400" y="30289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52D12"/>
                </a:solidFill>
              </a:ln>
            </p:spPr>
          </p:sp>
          <p:sp>
            <p:nvSpPr>
              <p:cNvPr id="32" name="Freeform 32"/>
              <p:cNvSpPr/>
              <p:nvPr/>
            </p:nvSpPr>
            <p:spPr>
              <a:xfrm>
                <a:off x="647700" y="30734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A52D12"/>
                </a:solidFill>
              </a:ln>
            </p:spPr>
          </p:sp>
        </p:grpSp>
        <p:sp>
          <p:nvSpPr>
            <p:cNvPr id="34" name="TextBox 34"/>
            <p:cNvSpPr txBox="1"/>
            <p:nvPr/>
          </p:nvSpPr>
          <p:spPr>
            <a:xfrm>
              <a:off x="909638" y="2935843"/>
              <a:ext cx="356845"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有贷户</a:t>
              </a:r>
            </a:p>
          </p:txBody>
        </p:sp>
        <p:sp>
          <p:nvSpPr>
            <p:cNvPr id="35" name="TextBox 35"/>
            <p:cNvSpPr txBox="1"/>
            <p:nvPr/>
          </p:nvSpPr>
          <p:spPr>
            <a:xfrm>
              <a:off x="907542" y="3092768"/>
              <a:ext cx="797659" cy="264033"/>
            </a:xfrm>
            <a:prstGeom prst="rect">
              <a:avLst/>
            </a:prstGeom>
            <a:noFill/>
            <a:ln>
              <a:noFill/>
            </a:ln>
          </p:spPr>
          <p:txBody>
            <a:bodyPr wrap="none" lIns="0" tIns="0" rIns="0" bIns="0" anchor="t" anchorCtr="0">
              <a:spAutoFit/>
            </a:bodyPr>
            <a:lstStyle/>
            <a:p>
              <a:pPr algn="l"/>
              <a:r>
                <a:rPr lang="zh-CN" sz="1350" b="1" dirty="0">
                  <a:solidFill>
                    <a:srgbClr val="A52D12"/>
                  </a:solidFill>
                  <a:latin typeface="+mn-lt"/>
                  <a:ea typeface="+mn-ea"/>
                  <a:cs typeface="+mn-cs"/>
                </a:rPr>
                <a:t xml:space="preserve">25.8 </a:t>
              </a:r>
              <a:r>
                <a:rPr lang="zh-CN" sz="750" dirty="0">
                  <a:solidFill>
                    <a:srgbClr val="A52D12"/>
                  </a:solidFill>
                  <a:latin typeface="+mn-lt"/>
                  <a:ea typeface="+mn-ea"/>
                  <a:cs typeface="+mn-cs"/>
                </a:rPr>
                <a:t>万户</a:t>
              </a:r>
              <a:r>
                <a:rPr lang="zh-CN" sz="1350" b="1" dirty="0">
                  <a:solidFill>
                    <a:srgbClr val="A52D12"/>
                  </a:solidFill>
                  <a:latin typeface="+mn-lt"/>
                  <a:ea typeface="+mn-ea"/>
                  <a:cs typeface="+mn-cs"/>
                </a:rPr>
                <a:t>​</a:t>
              </a:r>
            </a:p>
          </p:txBody>
        </p:sp>
        <p:sp>
          <p:nvSpPr>
            <p:cNvPr id="36" name="TextBox 36"/>
            <p:cNvSpPr txBox="1"/>
            <p:nvPr/>
          </p:nvSpPr>
          <p:spPr>
            <a:xfrm>
              <a:off x="1862138" y="3062288"/>
              <a:ext cx="211455" cy="147638"/>
            </a:xfrm>
            <a:prstGeom prst="rect">
              <a:avLst/>
            </a:prstGeom>
            <a:noFill/>
            <a:ln>
              <a:noFill/>
            </a:ln>
          </p:spPr>
          <p:txBody>
            <a:bodyPr wrap="none" lIns="0" tIns="0" rIns="0" bIns="0" anchor="t" anchorCtr="0">
              <a:spAutoFit/>
            </a:bodyPr>
            <a:lstStyle/>
            <a:p>
              <a:pPr algn="l"/>
              <a:r>
                <a:rPr lang="zh-CN" sz="750" dirty="0">
                  <a:solidFill>
                    <a:srgbClr val="6B6B6B"/>
                  </a:solidFill>
                  <a:latin typeface="+mn-lt"/>
                  <a:ea typeface="+mn-ea"/>
                  <a:cs typeface="+mn-cs"/>
                </a:rPr>
                <a:t>新增</a:t>
              </a:r>
            </a:p>
          </p:txBody>
        </p:sp>
        <p:sp>
          <p:nvSpPr>
            <p:cNvPr id="37" name="TextBox 37"/>
            <p:cNvSpPr txBox="1"/>
            <p:nvPr/>
          </p:nvSpPr>
          <p:spPr>
            <a:xfrm>
              <a:off x="1862138" y="3216116"/>
              <a:ext cx="374911"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2.9万​</a:t>
              </a:r>
            </a:p>
          </p:txBody>
        </p:sp>
        <p:sp>
          <p:nvSpPr>
            <p:cNvPr id="38" name="Line 38"/>
            <p:cNvSpPr/>
            <p:nvPr/>
          </p:nvSpPr>
          <p:spPr>
            <a:xfrm>
              <a:off x="571500" y="3409950"/>
              <a:ext cx="2095500" cy="9525"/>
            </a:xfrm>
            <a:custGeom>
              <a:avLst/>
              <a:gdLst/>
              <a:ahLst/>
              <a:cxnLst/>
              <a:rect l="l" t="t" r="r" b="b"/>
              <a:pathLst>
                <a:path w="2095500" h="9525">
                  <a:moveTo>
                    <a:pt x="0" y="0"/>
                  </a:moveTo>
                  <a:lnTo>
                    <a:pt x="2095500" y="0"/>
                  </a:lnTo>
                </a:path>
              </a:pathLst>
            </a:custGeom>
            <a:noFill/>
            <a:ln w="9525">
              <a:solidFill>
                <a:srgbClr val="EDD5D2"/>
              </a:solidFill>
            </a:ln>
          </p:spPr>
        </p:sp>
        <p:sp>
          <p:nvSpPr>
            <p:cNvPr id="39" name="Ellipse 39"/>
            <p:cNvSpPr/>
            <p:nvPr/>
          </p:nvSpPr>
          <p:spPr>
            <a:xfrm>
              <a:off x="571500" y="3829050"/>
              <a:ext cx="266700" cy="266700"/>
            </a:xfrm>
            <a:prstGeom prst="ellipse">
              <a:avLst/>
            </a:prstGeom>
            <a:solidFill>
              <a:srgbClr val="F7E9E7"/>
            </a:solidFill>
            <a:ln>
              <a:noFill/>
            </a:ln>
          </p:spPr>
        </p:sp>
        <p:grpSp>
          <p:nvGrpSpPr>
            <p:cNvPr id="43" name="Group 43"/>
            <p:cNvGrpSpPr/>
            <p:nvPr/>
          </p:nvGrpSpPr>
          <p:grpSpPr>
            <a:xfrm>
              <a:off x="666750" y="3905250"/>
              <a:ext cx="95250" cy="114300"/>
              <a:chOff x="666750" y="3905250"/>
              <a:chExt cx="95250" cy="114300"/>
            </a:xfrm>
          </p:grpSpPr>
          <p:sp>
            <p:nvSpPr>
              <p:cNvPr id="40" name="Freeform 40"/>
              <p:cNvSpPr/>
              <p:nvPr/>
            </p:nvSpPr>
            <p:spPr>
              <a:xfrm>
                <a:off x="679450" y="39052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52D12"/>
                </a:solidFill>
              </a:ln>
            </p:spPr>
          </p:sp>
          <p:sp>
            <p:nvSpPr>
              <p:cNvPr id="41" name="Freeform 41"/>
              <p:cNvSpPr/>
              <p:nvPr/>
            </p:nvSpPr>
            <p:spPr>
              <a:xfrm>
                <a:off x="666750" y="39814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A52D12"/>
                </a:solidFill>
              </a:ln>
            </p:spPr>
          </p:sp>
          <p:sp>
            <p:nvSpPr>
              <p:cNvPr id="42" name="Freeform 42"/>
              <p:cNvSpPr/>
              <p:nvPr/>
            </p:nvSpPr>
            <p:spPr>
              <a:xfrm>
                <a:off x="723900" y="3994150"/>
                <a:ext cx="38100" cy="25400"/>
              </a:xfrm>
              <a:custGeom>
                <a:avLst/>
                <a:gdLst/>
                <a:ahLst/>
                <a:cxnLst/>
                <a:rect l="l" t="t" r="r" b="b"/>
                <a:pathLst>
                  <a:path w="38100" h="25400">
                    <a:moveTo>
                      <a:pt x="0" y="12700"/>
                    </a:moveTo>
                    <a:lnTo>
                      <a:pt x="12700" y="25400"/>
                    </a:lnTo>
                    <a:lnTo>
                      <a:pt x="38100" y="0"/>
                    </a:lnTo>
                  </a:path>
                </a:pathLst>
              </a:custGeom>
              <a:noFill/>
              <a:ln w="12700">
                <a:solidFill>
                  <a:srgbClr val="A52D12"/>
                </a:solidFill>
              </a:ln>
            </p:spPr>
          </p:sp>
        </p:grpSp>
        <p:sp>
          <p:nvSpPr>
            <p:cNvPr id="44" name="TextBox 44"/>
            <p:cNvSpPr txBox="1"/>
            <p:nvPr/>
          </p:nvSpPr>
          <p:spPr>
            <a:xfrm>
              <a:off x="909638" y="3831193"/>
              <a:ext cx="58839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首贷户占比</a:t>
              </a:r>
            </a:p>
          </p:txBody>
        </p:sp>
        <p:sp>
          <p:nvSpPr>
            <p:cNvPr id="45" name="TextBox 45"/>
            <p:cNvSpPr txBox="1"/>
            <p:nvPr/>
          </p:nvSpPr>
          <p:spPr>
            <a:xfrm>
              <a:off x="907542" y="3988118"/>
              <a:ext cx="681599" cy="264033"/>
            </a:xfrm>
            <a:prstGeom prst="rect">
              <a:avLst/>
            </a:prstGeom>
            <a:noFill/>
            <a:ln>
              <a:noFill/>
            </a:ln>
          </p:spPr>
          <p:txBody>
            <a:bodyPr wrap="none" lIns="0" tIns="0" rIns="0" bIns="0" anchor="t" anchorCtr="0">
              <a:spAutoFit/>
            </a:bodyPr>
            <a:lstStyle/>
            <a:p>
              <a:pPr algn="l"/>
              <a:r>
                <a:rPr lang="zh-CN" sz="1350" b="1" dirty="0">
                  <a:solidFill>
                    <a:srgbClr val="A52D12"/>
                  </a:solidFill>
                  <a:latin typeface="+mn-lt"/>
                  <a:ea typeface="+mn-ea"/>
                  <a:cs typeface="+mn-cs"/>
                </a:rPr>
                <a:t>18.3%​</a:t>
              </a:r>
            </a:p>
          </p:txBody>
        </p:sp>
        <p:sp>
          <p:nvSpPr>
            <p:cNvPr id="46" name="Line 46"/>
            <p:cNvSpPr/>
            <p:nvPr/>
          </p:nvSpPr>
          <p:spPr>
            <a:xfrm>
              <a:off x="571500" y="4305300"/>
              <a:ext cx="2095500" cy="9525"/>
            </a:xfrm>
            <a:custGeom>
              <a:avLst/>
              <a:gdLst/>
              <a:ahLst/>
              <a:cxnLst/>
              <a:rect l="l" t="t" r="r" b="b"/>
              <a:pathLst>
                <a:path w="2095500" h="9525">
                  <a:moveTo>
                    <a:pt x="0" y="0"/>
                  </a:moveTo>
                  <a:lnTo>
                    <a:pt x="2095500" y="0"/>
                  </a:lnTo>
                </a:path>
              </a:pathLst>
            </a:custGeom>
            <a:noFill/>
            <a:ln w="9525">
              <a:solidFill>
                <a:srgbClr val="EDD5D2"/>
              </a:solidFill>
            </a:ln>
          </p:spPr>
        </p:sp>
        <p:sp>
          <p:nvSpPr>
            <p:cNvPr id="47" name="Ellipse 47"/>
            <p:cNvSpPr/>
            <p:nvPr/>
          </p:nvSpPr>
          <p:spPr>
            <a:xfrm>
              <a:off x="571500" y="4724400"/>
              <a:ext cx="266700" cy="266700"/>
            </a:xfrm>
            <a:prstGeom prst="ellipse">
              <a:avLst/>
            </a:prstGeom>
            <a:solidFill>
              <a:srgbClr val="F7E9E7"/>
            </a:solidFill>
            <a:ln>
              <a:noFill/>
            </a:ln>
          </p:spPr>
        </p:sp>
        <p:grpSp>
          <p:nvGrpSpPr>
            <p:cNvPr id="52" name="Group 52"/>
            <p:cNvGrpSpPr/>
            <p:nvPr/>
          </p:nvGrpSpPr>
          <p:grpSpPr>
            <a:xfrm>
              <a:off x="660400" y="4800600"/>
              <a:ext cx="88900" cy="114300"/>
              <a:chOff x="660400" y="4800600"/>
              <a:chExt cx="88900" cy="114300"/>
            </a:xfrm>
          </p:grpSpPr>
          <p:sp>
            <p:nvSpPr>
              <p:cNvPr id="48" name="Freeform 48"/>
              <p:cNvSpPr/>
              <p:nvPr/>
            </p:nvSpPr>
            <p:spPr>
              <a:xfrm>
                <a:off x="660400" y="4813300"/>
                <a:ext cx="88900" cy="101600"/>
              </a:xfrm>
              <a:custGeom>
                <a:avLst/>
                <a:gdLst/>
                <a:ahLst/>
                <a:cxnLst/>
                <a:rect l="l" t="t" r="r" b="b"/>
                <a:pathLst>
                  <a:path w="88900" h="101600">
                    <a:moveTo>
                      <a:pt x="25400" y="0"/>
                    </a:moveTo>
                    <a:lnTo>
                      <a:pt x="12700" y="0"/>
                    </a:lnTo>
                    <a:cubicBezTo>
                      <a:pt x="5686" y="0"/>
                      <a:pt x="0" y="5686"/>
                      <a:pt x="0" y="12700"/>
                    </a:cubicBezTo>
                    <a:lnTo>
                      <a:pt x="0" y="88900"/>
                    </a:lnTo>
                    <a:cubicBezTo>
                      <a:pt x="0" y="95914"/>
                      <a:pt x="5686" y="101600"/>
                      <a:pt x="12700" y="101600"/>
                    </a:cubicBezTo>
                    <a:lnTo>
                      <a:pt x="76200" y="101600"/>
                    </a:lnTo>
                    <a:cubicBezTo>
                      <a:pt x="83214" y="101600"/>
                      <a:pt x="88900" y="95914"/>
                      <a:pt x="88900" y="88900"/>
                    </a:cubicBezTo>
                    <a:lnTo>
                      <a:pt x="88900" y="12700"/>
                    </a:lnTo>
                    <a:cubicBezTo>
                      <a:pt x="88900" y="5686"/>
                      <a:pt x="83214" y="0"/>
                      <a:pt x="76200" y="0"/>
                    </a:cubicBezTo>
                    <a:lnTo>
                      <a:pt x="63500" y="0"/>
                    </a:lnTo>
                  </a:path>
                </a:pathLst>
              </a:custGeom>
              <a:noFill/>
              <a:ln w="12700">
                <a:solidFill>
                  <a:srgbClr val="A52D12"/>
                </a:solidFill>
              </a:ln>
            </p:spPr>
          </p:sp>
          <p:sp>
            <p:nvSpPr>
              <p:cNvPr id="49" name="Freeform 49"/>
              <p:cNvSpPr/>
              <p:nvPr/>
            </p:nvSpPr>
            <p:spPr>
              <a:xfrm>
                <a:off x="685800" y="4800600"/>
                <a:ext cx="38100" cy="25400"/>
              </a:xfrm>
              <a:custGeom>
                <a:avLst/>
                <a:gdLst/>
                <a:ahLst/>
                <a:cxnLst/>
                <a:rect l="l" t="t" r="r" b="b"/>
                <a:pathLst>
                  <a:path w="38100" h="25400">
                    <a:moveTo>
                      <a:pt x="0" y="12700"/>
                    </a:moveTo>
                    <a:cubicBezTo>
                      <a:pt x="0" y="5686"/>
                      <a:pt x="5686" y="0"/>
                      <a:pt x="12700" y="0"/>
                    </a:cubicBezTo>
                    <a:lnTo>
                      <a:pt x="25400" y="0"/>
                    </a:lnTo>
                    <a:cubicBezTo>
                      <a:pt x="32414" y="0"/>
                      <a:pt x="38100" y="5686"/>
                      <a:pt x="38100" y="12700"/>
                    </a:cubicBezTo>
                    <a:cubicBezTo>
                      <a:pt x="38100" y="19714"/>
                      <a:pt x="32414" y="25400"/>
                      <a:pt x="25400" y="25400"/>
                    </a:cubicBezTo>
                    <a:lnTo>
                      <a:pt x="12700" y="25400"/>
                    </a:lnTo>
                    <a:cubicBezTo>
                      <a:pt x="5686" y="25400"/>
                      <a:pt x="0" y="19714"/>
                      <a:pt x="0" y="12700"/>
                    </a:cubicBezTo>
                  </a:path>
                </a:pathLst>
              </a:custGeom>
              <a:noFill/>
              <a:ln w="12700">
                <a:solidFill>
                  <a:srgbClr val="A52D12"/>
                </a:solidFill>
              </a:ln>
            </p:spPr>
          </p:sp>
          <p:sp>
            <p:nvSpPr>
              <p:cNvPr id="50" name="Freeform 50"/>
              <p:cNvSpPr/>
              <p:nvPr/>
            </p:nvSpPr>
            <p:spPr>
              <a:xfrm>
                <a:off x="692150" y="4851400"/>
                <a:ext cx="25400" cy="38100"/>
              </a:xfrm>
              <a:custGeom>
                <a:avLst/>
                <a:gdLst/>
                <a:ahLst/>
                <a:cxnLst/>
                <a:rect l="l" t="t" r="r" b="b"/>
                <a:pathLst>
                  <a:path w="25400" h="38100">
                    <a:moveTo>
                      <a:pt x="25400" y="0"/>
                    </a:moveTo>
                    <a:lnTo>
                      <a:pt x="9525" y="0"/>
                    </a:lnTo>
                    <a:cubicBezTo>
                      <a:pt x="4264" y="0"/>
                      <a:pt x="0" y="4264"/>
                      <a:pt x="0" y="9525"/>
                    </a:cubicBezTo>
                    <a:cubicBezTo>
                      <a:pt x="0" y="14786"/>
                      <a:pt x="4264" y="19050"/>
                      <a:pt x="9525" y="19050"/>
                    </a:cubicBezTo>
                    <a:lnTo>
                      <a:pt x="15875" y="19050"/>
                    </a:lnTo>
                    <a:cubicBezTo>
                      <a:pt x="21136" y="19050"/>
                      <a:pt x="25400" y="23314"/>
                      <a:pt x="25400" y="28575"/>
                    </a:cubicBezTo>
                    <a:cubicBezTo>
                      <a:pt x="25400" y="33836"/>
                      <a:pt x="21136" y="38100"/>
                      <a:pt x="15875" y="38100"/>
                    </a:cubicBezTo>
                    <a:lnTo>
                      <a:pt x="0" y="38100"/>
                    </a:lnTo>
                  </a:path>
                </a:pathLst>
              </a:custGeom>
              <a:noFill/>
              <a:ln w="12700">
                <a:solidFill>
                  <a:srgbClr val="A52D12"/>
                </a:solidFill>
              </a:ln>
            </p:spPr>
          </p:sp>
          <p:sp>
            <p:nvSpPr>
              <p:cNvPr id="51" name="Freeform 51"/>
              <p:cNvSpPr/>
              <p:nvPr/>
            </p:nvSpPr>
            <p:spPr>
              <a:xfrm>
                <a:off x="704850" y="4845050"/>
                <a:ext cx="9525" cy="50800"/>
              </a:xfrm>
              <a:custGeom>
                <a:avLst/>
                <a:gdLst/>
                <a:ahLst/>
                <a:cxnLst/>
                <a:rect l="l" t="t" r="r" b="b"/>
                <a:pathLst>
                  <a:path w="9525" h="50800">
                    <a:moveTo>
                      <a:pt x="0" y="44450"/>
                    </a:moveTo>
                    <a:lnTo>
                      <a:pt x="0" y="50800"/>
                    </a:lnTo>
                    <a:moveTo>
                      <a:pt x="0" y="0"/>
                    </a:moveTo>
                    <a:lnTo>
                      <a:pt x="0" y="6350"/>
                    </a:lnTo>
                  </a:path>
                </a:pathLst>
              </a:custGeom>
              <a:noFill/>
              <a:ln w="12700">
                <a:solidFill>
                  <a:srgbClr val="A52D12"/>
                </a:solidFill>
              </a:ln>
            </p:spPr>
          </p:sp>
        </p:grpSp>
        <p:sp>
          <p:nvSpPr>
            <p:cNvPr id="53" name="TextBox 53"/>
            <p:cNvSpPr txBox="1"/>
            <p:nvPr/>
          </p:nvSpPr>
          <p:spPr>
            <a:xfrm>
              <a:off x="909638" y="4726543"/>
              <a:ext cx="1167257"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平均贷款利率（同比）</a:t>
              </a:r>
            </a:p>
          </p:txBody>
        </p:sp>
        <p:sp>
          <p:nvSpPr>
            <p:cNvPr id="54" name="TextBox 54"/>
            <p:cNvSpPr txBox="1"/>
            <p:nvPr/>
          </p:nvSpPr>
          <p:spPr>
            <a:xfrm>
              <a:off x="908304" y="4899660"/>
              <a:ext cx="945556" cy="234696"/>
            </a:xfrm>
            <a:prstGeom prst="rect">
              <a:avLst/>
            </a:prstGeom>
            <a:noFill/>
            <a:ln>
              <a:noFill/>
            </a:ln>
          </p:spPr>
          <p:txBody>
            <a:bodyPr wrap="none" lIns="0" tIns="0" rIns="0" bIns="0" anchor="t" anchorCtr="0">
              <a:spAutoFit/>
            </a:bodyPr>
            <a:lstStyle/>
            <a:p>
              <a:pPr algn="l"/>
              <a:r>
                <a:rPr lang="zh-CN" sz="1200" b="1" dirty="0">
                  <a:solidFill>
                    <a:srgbClr val="A52D12"/>
                  </a:solidFill>
                  <a:latin typeface="+mn-lt"/>
                  <a:ea typeface="+mn-ea"/>
                  <a:cs typeface="+mn-cs"/>
                </a:rPr>
                <a:t xml:space="preserve">下降 </a:t>
              </a:r>
              <a:r>
                <a:rPr lang="zh-CN" sz="1350" b="1" dirty="0">
                  <a:solidFill>
                    <a:srgbClr val="A52D12"/>
                  </a:solidFill>
                  <a:latin typeface="+mn-lt"/>
                  <a:ea typeface="+mn-ea"/>
                  <a:cs typeface="+mn-cs"/>
                </a:rPr>
                <a:t>21</a:t>
              </a:r>
              <a:r>
                <a:rPr lang="en-US" sz="1200" b="1" dirty="0">
                  <a:solidFill>
                    <a:srgbClr val="A52D12"/>
                  </a:solidFill>
                  <a:latin typeface="+mn-lt"/>
                  <a:ea typeface="+mn-ea"/>
                  <a:cs typeface="+mn-cs"/>
                </a:rPr>
                <a:t xml:space="preserve"> BP​</a:t>
              </a:r>
            </a:p>
          </p:txBody>
        </p:sp>
        <p:sp>
          <p:nvSpPr>
            <p:cNvPr id="55" name="TextBox 55"/>
            <p:cNvSpPr txBox="1"/>
            <p:nvPr/>
          </p:nvSpPr>
          <p:spPr>
            <a:xfrm>
              <a:off x="2185416" y="4858702"/>
              <a:ext cx="92298" cy="205359"/>
            </a:xfrm>
            <a:prstGeom prst="rect">
              <a:avLst/>
            </a:prstGeom>
            <a:noFill/>
            <a:ln>
              <a:noFill/>
            </a:ln>
          </p:spPr>
          <p:txBody>
            <a:bodyPr wrap="none" lIns="0" tIns="0" rIns="0" bIns="0" anchor="t" anchorCtr="0">
              <a:spAutoFit/>
            </a:bodyPr>
            <a:lstStyle/>
            <a:p>
              <a:pPr algn="l"/>
              <a:r>
                <a:rPr lang="zh-CN" sz="1050" b="1" dirty="0">
                  <a:solidFill>
                    <a:srgbClr val="9E412F"/>
                  </a:solidFill>
                  <a:latin typeface="+mn-lt"/>
                  <a:ea typeface="+mn-ea"/>
                  <a:cs typeface="+mn-cs"/>
                </a:rPr>
                <a:t>↓</a:t>
              </a:r>
            </a:p>
          </p:txBody>
        </p:sp>
      </p:grpSp>
      <p:grpSp>
        <p:nvGrpSpPr>
          <p:cNvPr id="149" name="biz-loop"/>
          <p:cNvGrpSpPr/>
          <p:nvPr/>
        </p:nvGrpSpPr>
        <p:grpSpPr>
          <a:xfrm>
            <a:off x="2956423" y="1638300"/>
            <a:ext cx="5158877" cy="3467100"/>
            <a:chOff x="2956423" y="1638300"/>
            <a:chExt cx="5158877" cy="3467100"/>
          </a:xfrm>
        </p:grpSpPr>
        <p:sp>
          <p:nvSpPr>
            <p:cNvPr id="57" name="Rectangle 57"/>
            <p:cNvSpPr/>
            <p:nvPr/>
          </p:nvSpPr>
          <p:spPr>
            <a:xfrm>
              <a:off x="2971800" y="1638300"/>
              <a:ext cx="5143500" cy="3467100"/>
            </a:xfrm>
            <a:prstGeom prst="roundRect">
              <a:avLst>
                <a:gd name="adj" fmla="val 2198"/>
              </a:avLst>
            </a:prstGeom>
            <a:solidFill>
              <a:srgbClr val="FDF6F5"/>
            </a:solidFill>
            <a:ln w="9525">
              <a:solidFill>
                <a:srgbClr val="EDD5D2"/>
              </a:solidFill>
            </a:ln>
          </p:spPr>
        </p:sp>
        <p:sp>
          <p:nvSpPr>
            <p:cNvPr id="58" name="Freeform 58"/>
            <p:cNvSpPr/>
            <p:nvPr/>
          </p:nvSpPr>
          <p:spPr>
            <a:xfrm>
              <a:off x="2981325" y="1647825"/>
              <a:ext cx="5124450" cy="228600"/>
            </a:xfrm>
            <a:custGeom>
              <a:avLst/>
              <a:gdLst/>
              <a:ahLst/>
              <a:cxnLst/>
              <a:rect l="l" t="t" r="r" b="b"/>
              <a:pathLst>
                <a:path w="5124450" h="228600">
                  <a:moveTo>
                    <a:pt x="0" y="228600"/>
                  </a:moveTo>
                  <a:lnTo>
                    <a:pt x="5124450" y="228600"/>
                  </a:lnTo>
                  <a:lnTo>
                    <a:pt x="5124450" y="66675"/>
                  </a:lnTo>
                  <a:cubicBezTo>
                    <a:pt x="5124450" y="29851"/>
                    <a:pt x="5094599" y="0"/>
                    <a:pt x="5057775" y="0"/>
                  </a:cubicBezTo>
                  <a:lnTo>
                    <a:pt x="66675" y="0"/>
                  </a:lnTo>
                  <a:cubicBezTo>
                    <a:pt x="29851" y="0"/>
                    <a:pt x="0" y="29851"/>
                    <a:pt x="0" y="66675"/>
                  </a:cubicBezTo>
                  <a:close/>
                </a:path>
              </a:pathLst>
            </a:custGeom>
            <a:solidFill>
              <a:srgbClr val="A52D12"/>
            </a:solidFill>
            <a:ln>
              <a:noFill/>
            </a:ln>
          </p:spPr>
        </p:sp>
        <p:sp>
          <p:nvSpPr>
            <p:cNvPr id="59" name="TextBox 59"/>
            <p:cNvSpPr txBox="1"/>
            <p:nvPr/>
          </p:nvSpPr>
          <p:spPr>
            <a:xfrm>
              <a:off x="5114163" y="169640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中部业务闭环</a:t>
              </a:r>
            </a:p>
          </p:txBody>
        </p:sp>
        <p:sp>
          <p:nvSpPr>
            <p:cNvPr id="60" name="Ellipse 60"/>
            <p:cNvSpPr/>
            <p:nvPr/>
          </p:nvSpPr>
          <p:spPr>
            <a:xfrm>
              <a:off x="3228975" y="2105025"/>
              <a:ext cx="400050" cy="400050"/>
            </a:xfrm>
            <a:prstGeom prst="ellipse">
              <a:avLst/>
            </a:prstGeom>
            <a:solidFill>
              <a:srgbClr val="A52D12"/>
            </a:solidFill>
            <a:ln>
              <a:noFill/>
            </a:ln>
          </p:spPr>
        </p:sp>
        <p:grpSp>
          <p:nvGrpSpPr>
            <p:cNvPr id="63" name="Group 63"/>
            <p:cNvGrpSpPr/>
            <p:nvPr/>
          </p:nvGrpSpPr>
          <p:grpSpPr>
            <a:xfrm>
              <a:off x="3357562" y="2233612"/>
              <a:ext cx="142875" cy="142875"/>
              <a:chOff x="3357562" y="2233612"/>
              <a:chExt cx="142875" cy="142875"/>
            </a:xfrm>
          </p:grpSpPr>
          <p:sp>
            <p:nvSpPr>
              <p:cNvPr id="61" name="Freeform 61"/>
              <p:cNvSpPr/>
              <p:nvPr/>
            </p:nvSpPr>
            <p:spPr>
              <a:xfrm>
                <a:off x="3357562" y="22336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FFFFFF"/>
                </a:solidFill>
              </a:ln>
            </p:spPr>
          </p:sp>
          <p:sp>
            <p:nvSpPr>
              <p:cNvPr id="62" name="Freeform 62"/>
              <p:cNvSpPr/>
              <p:nvPr/>
            </p:nvSpPr>
            <p:spPr>
              <a:xfrm>
                <a:off x="3452812" y="2328862"/>
                <a:ext cx="47625" cy="47625"/>
              </a:xfrm>
              <a:custGeom>
                <a:avLst/>
                <a:gdLst/>
                <a:ahLst/>
                <a:cxnLst/>
                <a:rect l="l" t="t" r="r" b="b"/>
                <a:pathLst>
                  <a:path w="47625" h="47625">
                    <a:moveTo>
                      <a:pt x="47625" y="47625"/>
                    </a:moveTo>
                    <a:lnTo>
                      <a:pt x="0" y="0"/>
                    </a:lnTo>
                  </a:path>
                </a:pathLst>
              </a:custGeom>
              <a:noFill/>
              <a:ln w="15875">
                <a:solidFill>
                  <a:srgbClr val="FFFFFF"/>
                </a:solidFill>
              </a:ln>
            </p:spPr>
          </p:sp>
        </p:grpSp>
        <p:sp>
          <p:nvSpPr>
            <p:cNvPr id="64" name="Line 64"/>
            <p:cNvSpPr/>
            <p:nvPr/>
          </p:nvSpPr>
          <p:spPr>
            <a:xfrm>
              <a:off x="3657600" y="2305050"/>
              <a:ext cx="419100" cy="1"/>
            </a:xfrm>
            <a:prstGeom prst="line">
              <a:avLst/>
            </a:prstGeom>
            <a:noFill/>
            <a:ln w="15240">
              <a:solidFill>
                <a:srgbClr val="A52D12"/>
              </a:solidFill>
              <a:tailEnd type="triangle" w="lg" len="lg"/>
            </a:ln>
          </p:spPr>
        </p:sp>
        <p:sp>
          <p:nvSpPr>
            <p:cNvPr id="65" name="Ellipse 65"/>
            <p:cNvSpPr/>
            <p:nvPr/>
          </p:nvSpPr>
          <p:spPr>
            <a:xfrm>
              <a:off x="4200525" y="2105025"/>
              <a:ext cx="400050" cy="400050"/>
            </a:xfrm>
            <a:prstGeom prst="ellipse">
              <a:avLst/>
            </a:prstGeom>
            <a:solidFill>
              <a:srgbClr val="A52D12"/>
            </a:solidFill>
            <a:ln>
              <a:noFill/>
            </a:ln>
          </p:spPr>
        </p:sp>
        <p:grpSp>
          <p:nvGrpSpPr>
            <p:cNvPr id="68" name="Group 68"/>
            <p:cNvGrpSpPr/>
            <p:nvPr/>
          </p:nvGrpSpPr>
          <p:grpSpPr>
            <a:xfrm>
              <a:off x="4318400" y="2233612"/>
              <a:ext cx="155005" cy="142875"/>
              <a:chOff x="4318400" y="2233612"/>
              <a:chExt cx="155005" cy="142875"/>
            </a:xfrm>
          </p:grpSpPr>
          <p:sp>
            <p:nvSpPr>
              <p:cNvPr id="66" name="Freeform 66"/>
              <p:cNvSpPr/>
              <p:nvPr/>
            </p:nvSpPr>
            <p:spPr>
              <a:xfrm>
                <a:off x="4318400" y="22336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67" name="Freeform 67"/>
              <p:cNvSpPr/>
              <p:nvPr/>
            </p:nvSpPr>
            <p:spPr>
              <a:xfrm>
                <a:off x="4424362" y="234473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69" name="Line 69"/>
            <p:cNvSpPr/>
            <p:nvPr/>
          </p:nvSpPr>
          <p:spPr>
            <a:xfrm>
              <a:off x="4629150" y="2305050"/>
              <a:ext cx="419100" cy="1"/>
            </a:xfrm>
            <a:prstGeom prst="line">
              <a:avLst/>
            </a:prstGeom>
            <a:noFill/>
            <a:ln w="15240">
              <a:solidFill>
                <a:srgbClr val="A52D12"/>
              </a:solidFill>
              <a:tailEnd type="triangle" w="lg" len="lg"/>
            </a:ln>
          </p:spPr>
        </p:sp>
        <p:sp>
          <p:nvSpPr>
            <p:cNvPr id="70" name="Ellipse 70"/>
            <p:cNvSpPr/>
            <p:nvPr/>
          </p:nvSpPr>
          <p:spPr>
            <a:xfrm>
              <a:off x="5172075" y="2105025"/>
              <a:ext cx="400050" cy="400050"/>
            </a:xfrm>
            <a:prstGeom prst="ellipse">
              <a:avLst/>
            </a:prstGeom>
            <a:solidFill>
              <a:srgbClr val="A52D12"/>
            </a:solidFill>
            <a:ln>
              <a:noFill/>
            </a:ln>
          </p:spPr>
        </p:sp>
        <p:grpSp>
          <p:nvGrpSpPr>
            <p:cNvPr id="80" name="Group 80"/>
            <p:cNvGrpSpPr/>
            <p:nvPr/>
          </p:nvGrpSpPr>
          <p:grpSpPr>
            <a:xfrm>
              <a:off x="5316537" y="2225675"/>
              <a:ext cx="111125" cy="150812"/>
              <a:chOff x="5316537" y="2225675"/>
              <a:chExt cx="111125" cy="150812"/>
            </a:xfrm>
          </p:grpSpPr>
          <p:sp>
            <p:nvSpPr>
              <p:cNvPr id="71" name="Freeform 71"/>
              <p:cNvSpPr/>
              <p:nvPr/>
            </p:nvSpPr>
            <p:spPr>
              <a:xfrm>
                <a:off x="5324475" y="2241550"/>
                <a:ext cx="95250" cy="63500"/>
              </a:xfrm>
              <a:custGeom>
                <a:avLst/>
                <a:gdLst/>
                <a:ahLst/>
                <a:cxnLst/>
                <a:rect l="l" t="t" r="r" b="b"/>
                <a:pathLst>
                  <a:path w="95250" h="63500">
                    <a:moveTo>
                      <a:pt x="0" y="15875"/>
                    </a:moveTo>
                    <a:cubicBezTo>
                      <a:pt x="0" y="7107"/>
                      <a:pt x="7107" y="0"/>
                      <a:pt x="15875" y="0"/>
                    </a:cubicBezTo>
                    <a:lnTo>
                      <a:pt x="79375" y="0"/>
                    </a:lnTo>
                    <a:cubicBezTo>
                      <a:pt x="88142" y="0"/>
                      <a:pt x="95250" y="7107"/>
                      <a:pt x="95250" y="15875"/>
                    </a:cubicBezTo>
                    <a:lnTo>
                      <a:pt x="95250" y="47625"/>
                    </a:lnTo>
                    <a:cubicBezTo>
                      <a:pt x="95250" y="56392"/>
                      <a:pt x="88142" y="63500"/>
                      <a:pt x="79375" y="63500"/>
                    </a:cubicBezTo>
                    <a:lnTo>
                      <a:pt x="15875" y="63500"/>
                    </a:lnTo>
                    <a:cubicBezTo>
                      <a:pt x="7107" y="63500"/>
                      <a:pt x="0" y="56392"/>
                      <a:pt x="0" y="47625"/>
                    </a:cubicBezTo>
                    <a:lnTo>
                      <a:pt x="0" y="15875"/>
                    </a:lnTo>
                  </a:path>
                </a:pathLst>
              </a:custGeom>
              <a:noFill/>
              <a:ln w="15875">
                <a:solidFill>
                  <a:srgbClr val="FFFFFF"/>
                </a:solidFill>
              </a:ln>
            </p:spPr>
          </p:sp>
          <p:sp>
            <p:nvSpPr>
              <p:cNvPr id="72" name="Freeform 72"/>
              <p:cNvSpPr/>
              <p:nvPr/>
            </p:nvSpPr>
            <p:spPr>
              <a:xfrm>
                <a:off x="5372100" y="2225675"/>
                <a:ext cx="9525" cy="15875"/>
              </a:xfrm>
              <a:custGeom>
                <a:avLst/>
                <a:gdLst/>
                <a:ahLst/>
                <a:cxnLst/>
                <a:rect l="l" t="t" r="r" b="b"/>
                <a:pathLst>
                  <a:path w="9525" h="15875">
                    <a:moveTo>
                      <a:pt x="0" y="0"/>
                    </a:moveTo>
                    <a:lnTo>
                      <a:pt x="0" y="15875"/>
                    </a:lnTo>
                  </a:path>
                </a:pathLst>
              </a:custGeom>
              <a:noFill/>
              <a:ln w="15875">
                <a:solidFill>
                  <a:srgbClr val="FFFFFF"/>
                </a:solidFill>
              </a:ln>
            </p:spPr>
          </p:sp>
          <p:sp>
            <p:nvSpPr>
              <p:cNvPr id="73" name="Freeform 73"/>
              <p:cNvSpPr/>
              <p:nvPr/>
            </p:nvSpPr>
            <p:spPr>
              <a:xfrm>
                <a:off x="5348287" y="2305050"/>
                <a:ext cx="9525" cy="71437"/>
              </a:xfrm>
              <a:custGeom>
                <a:avLst/>
                <a:gdLst/>
                <a:ahLst/>
                <a:cxnLst/>
                <a:rect l="l" t="t" r="r" b="b"/>
                <a:pathLst>
                  <a:path w="9525" h="71437">
                    <a:moveTo>
                      <a:pt x="0" y="0"/>
                    </a:moveTo>
                    <a:lnTo>
                      <a:pt x="0" y="71437"/>
                    </a:lnTo>
                  </a:path>
                </a:pathLst>
              </a:custGeom>
              <a:noFill/>
              <a:ln w="15875">
                <a:solidFill>
                  <a:srgbClr val="FFFFFF"/>
                </a:solidFill>
              </a:ln>
            </p:spPr>
          </p:sp>
          <p:sp>
            <p:nvSpPr>
              <p:cNvPr id="74" name="Freeform 74"/>
              <p:cNvSpPr/>
              <p:nvPr/>
            </p:nvSpPr>
            <p:spPr>
              <a:xfrm>
                <a:off x="5395912" y="2305050"/>
                <a:ext cx="9525" cy="71437"/>
              </a:xfrm>
              <a:custGeom>
                <a:avLst/>
                <a:gdLst/>
                <a:ahLst/>
                <a:cxnLst/>
                <a:rect l="l" t="t" r="r" b="b"/>
                <a:pathLst>
                  <a:path w="9525" h="71437">
                    <a:moveTo>
                      <a:pt x="0" y="0"/>
                    </a:moveTo>
                    <a:lnTo>
                      <a:pt x="0" y="71437"/>
                    </a:lnTo>
                  </a:path>
                </a:pathLst>
              </a:custGeom>
              <a:noFill/>
              <a:ln w="15875">
                <a:solidFill>
                  <a:srgbClr val="FFFFFF"/>
                </a:solidFill>
              </a:ln>
            </p:spPr>
          </p:sp>
          <p:sp>
            <p:nvSpPr>
              <p:cNvPr id="75" name="Freeform 75"/>
              <p:cNvSpPr/>
              <p:nvPr/>
            </p:nvSpPr>
            <p:spPr>
              <a:xfrm>
                <a:off x="5316537" y="2320925"/>
                <a:ext cx="31750" cy="15875"/>
              </a:xfrm>
              <a:custGeom>
                <a:avLst/>
                <a:gdLst/>
                <a:ahLst/>
                <a:cxnLst/>
                <a:rect l="l" t="t" r="r" b="b"/>
                <a:pathLst>
                  <a:path w="31750" h="15875">
                    <a:moveTo>
                      <a:pt x="0" y="15875"/>
                    </a:moveTo>
                    <a:lnTo>
                      <a:pt x="31750" y="0"/>
                    </a:lnTo>
                  </a:path>
                </a:pathLst>
              </a:custGeom>
              <a:noFill/>
              <a:ln w="15875">
                <a:solidFill>
                  <a:srgbClr val="FFFFFF"/>
                </a:solidFill>
              </a:ln>
            </p:spPr>
          </p:sp>
          <p:sp>
            <p:nvSpPr>
              <p:cNvPr id="76" name="Freeform 76"/>
              <p:cNvSpPr/>
              <p:nvPr/>
            </p:nvSpPr>
            <p:spPr>
              <a:xfrm>
                <a:off x="5395912" y="2320925"/>
                <a:ext cx="31750" cy="15875"/>
              </a:xfrm>
              <a:custGeom>
                <a:avLst/>
                <a:gdLst/>
                <a:ahLst/>
                <a:cxnLst/>
                <a:rect l="l" t="t" r="r" b="b"/>
                <a:pathLst>
                  <a:path w="31750" h="15875">
                    <a:moveTo>
                      <a:pt x="0" y="0"/>
                    </a:moveTo>
                    <a:lnTo>
                      <a:pt x="31750" y="15875"/>
                    </a:lnTo>
                  </a:path>
                </a:pathLst>
              </a:custGeom>
              <a:noFill/>
              <a:ln w="15875">
                <a:solidFill>
                  <a:srgbClr val="FFFFFF"/>
                </a:solidFill>
              </a:ln>
            </p:spPr>
          </p:sp>
          <p:sp>
            <p:nvSpPr>
              <p:cNvPr id="77" name="Freeform 77"/>
              <p:cNvSpPr/>
              <p:nvPr/>
            </p:nvSpPr>
            <p:spPr>
              <a:xfrm>
                <a:off x="5348287" y="2352675"/>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78" name="Freeform 78"/>
              <p:cNvSpPr/>
              <p:nvPr/>
            </p:nvSpPr>
            <p:spPr>
              <a:xfrm>
                <a:off x="5356225" y="2273300"/>
                <a:ext cx="9525" cy="9525"/>
              </a:xfrm>
              <a:custGeom>
                <a:avLst/>
                <a:gdLst/>
                <a:ahLst/>
                <a:cxnLst/>
                <a:rect l="l" t="t" r="r" b="b"/>
                <a:pathLst>
                  <a:path w="9525" h="9525">
                    <a:moveTo>
                      <a:pt x="0" y="0"/>
                    </a:moveTo>
                    <a:lnTo>
                      <a:pt x="0" y="79"/>
                    </a:lnTo>
                  </a:path>
                </a:pathLst>
              </a:custGeom>
              <a:noFill/>
              <a:ln w="15875">
                <a:solidFill>
                  <a:srgbClr val="FFFFFF"/>
                </a:solidFill>
              </a:ln>
            </p:spPr>
          </p:sp>
          <p:sp>
            <p:nvSpPr>
              <p:cNvPr id="79" name="Freeform 79"/>
              <p:cNvSpPr/>
              <p:nvPr/>
            </p:nvSpPr>
            <p:spPr>
              <a:xfrm>
                <a:off x="5387975" y="2273300"/>
                <a:ext cx="9525" cy="9525"/>
              </a:xfrm>
              <a:custGeom>
                <a:avLst/>
                <a:gdLst/>
                <a:ahLst/>
                <a:cxnLst/>
                <a:rect l="l" t="t" r="r" b="b"/>
                <a:pathLst>
                  <a:path w="9525" h="9525">
                    <a:moveTo>
                      <a:pt x="0" y="0"/>
                    </a:moveTo>
                    <a:lnTo>
                      <a:pt x="0" y="79"/>
                    </a:lnTo>
                  </a:path>
                </a:pathLst>
              </a:custGeom>
              <a:noFill/>
              <a:ln w="15875">
                <a:solidFill>
                  <a:srgbClr val="FFFFFF"/>
                </a:solidFill>
              </a:ln>
            </p:spPr>
          </p:sp>
        </p:grpSp>
        <p:sp>
          <p:nvSpPr>
            <p:cNvPr id="81" name="Line 81"/>
            <p:cNvSpPr/>
            <p:nvPr/>
          </p:nvSpPr>
          <p:spPr>
            <a:xfrm>
              <a:off x="5600700" y="2305050"/>
              <a:ext cx="419100" cy="1"/>
            </a:xfrm>
            <a:prstGeom prst="line">
              <a:avLst/>
            </a:prstGeom>
            <a:noFill/>
            <a:ln w="15240">
              <a:solidFill>
                <a:srgbClr val="A52D12"/>
              </a:solidFill>
              <a:tailEnd type="triangle" w="lg" len="lg"/>
            </a:ln>
          </p:spPr>
        </p:sp>
        <p:sp>
          <p:nvSpPr>
            <p:cNvPr id="82" name="Ellipse 82"/>
            <p:cNvSpPr/>
            <p:nvPr/>
          </p:nvSpPr>
          <p:spPr>
            <a:xfrm>
              <a:off x="6143625" y="2105025"/>
              <a:ext cx="400050" cy="400050"/>
            </a:xfrm>
            <a:prstGeom prst="ellipse">
              <a:avLst/>
            </a:prstGeom>
            <a:solidFill>
              <a:srgbClr val="A52D12"/>
            </a:solidFill>
            <a:ln>
              <a:noFill/>
            </a:ln>
          </p:spPr>
        </p:sp>
        <p:grpSp>
          <p:nvGrpSpPr>
            <p:cNvPr id="85" name="Group 85"/>
            <p:cNvGrpSpPr/>
            <p:nvPr/>
          </p:nvGrpSpPr>
          <p:grpSpPr>
            <a:xfrm>
              <a:off x="6280150" y="2241550"/>
              <a:ext cx="127000" cy="127000"/>
              <a:chOff x="6280150" y="2241550"/>
              <a:chExt cx="127000" cy="127000"/>
            </a:xfrm>
          </p:grpSpPr>
          <p:sp>
            <p:nvSpPr>
              <p:cNvPr id="83" name="Freeform 83"/>
              <p:cNvSpPr/>
              <p:nvPr/>
            </p:nvSpPr>
            <p:spPr>
              <a:xfrm>
                <a:off x="6280150" y="2241550"/>
                <a:ext cx="119062" cy="127000"/>
              </a:xfrm>
              <a:custGeom>
                <a:avLst/>
                <a:gdLst/>
                <a:ahLst/>
                <a:cxnLst/>
                <a:rect l="l" t="t" r="r" b="b"/>
                <a:pathLst>
                  <a:path w="119062" h="127000">
                    <a:moveTo>
                      <a:pt x="103187" y="31750"/>
                    </a:moveTo>
                    <a:lnTo>
                      <a:pt x="103187" y="7937"/>
                    </a:lnTo>
                    <a:cubicBezTo>
                      <a:pt x="103187" y="3554"/>
                      <a:pt x="99634" y="0"/>
                      <a:pt x="95250" y="0"/>
                    </a:cubicBezTo>
                    <a:lnTo>
                      <a:pt x="15875" y="0"/>
                    </a:lnTo>
                    <a:cubicBezTo>
                      <a:pt x="7107" y="0"/>
                      <a:pt x="0" y="7107"/>
                      <a:pt x="0" y="15875"/>
                    </a:cubicBezTo>
                    <a:cubicBezTo>
                      <a:pt x="0" y="24643"/>
                      <a:pt x="7107" y="31750"/>
                      <a:pt x="15875" y="31750"/>
                    </a:cubicBezTo>
                    <a:lnTo>
                      <a:pt x="111125" y="31750"/>
                    </a:lnTo>
                    <a:cubicBezTo>
                      <a:pt x="115509" y="31750"/>
                      <a:pt x="119062" y="35304"/>
                      <a:pt x="119062" y="39687"/>
                    </a:cubicBezTo>
                    <a:lnTo>
                      <a:pt x="119062" y="63500"/>
                    </a:lnTo>
                    <a:moveTo>
                      <a:pt x="119062" y="95250"/>
                    </a:moveTo>
                    <a:lnTo>
                      <a:pt x="119062" y="119062"/>
                    </a:lnTo>
                    <a:cubicBezTo>
                      <a:pt x="119062" y="123446"/>
                      <a:pt x="115509" y="127000"/>
                      <a:pt x="111125" y="127000"/>
                    </a:cubicBezTo>
                    <a:lnTo>
                      <a:pt x="15875" y="127000"/>
                    </a:lnTo>
                    <a:cubicBezTo>
                      <a:pt x="7107" y="127000"/>
                      <a:pt x="0" y="119892"/>
                      <a:pt x="0" y="111125"/>
                    </a:cubicBezTo>
                    <a:lnTo>
                      <a:pt x="0" y="15875"/>
                    </a:lnTo>
                  </a:path>
                </a:pathLst>
              </a:custGeom>
              <a:noFill/>
              <a:ln w="15875">
                <a:solidFill>
                  <a:srgbClr val="FFFFFF"/>
                </a:solidFill>
              </a:ln>
            </p:spPr>
          </p:sp>
          <p:sp>
            <p:nvSpPr>
              <p:cNvPr id="84" name="Freeform 84"/>
              <p:cNvSpPr/>
              <p:nvPr/>
            </p:nvSpPr>
            <p:spPr>
              <a:xfrm>
                <a:off x="6359525" y="2305050"/>
                <a:ext cx="47625" cy="31750"/>
              </a:xfrm>
              <a:custGeom>
                <a:avLst/>
                <a:gdLst/>
                <a:ahLst/>
                <a:cxnLst/>
                <a:rect l="l" t="t" r="r" b="b"/>
                <a:pathLst>
                  <a:path w="47625" h="31750">
                    <a:moveTo>
                      <a:pt x="47625" y="0"/>
                    </a:moveTo>
                    <a:lnTo>
                      <a:pt x="47625" y="31750"/>
                    </a:lnTo>
                    <a:lnTo>
                      <a:pt x="15875" y="31750"/>
                    </a:lnTo>
                    <a:cubicBezTo>
                      <a:pt x="7107" y="31750"/>
                      <a:pt x="0" y="24643"/>
                      <a:pt x="0" y="15875"/>
                    </a:cubicBezTo>
                    <a:cubicBezTo>
                      <a:pt x="0" y="7107"/>
                      <a:pt x="7107" y="0"/>
                      <a:pt x="15875" y="0"/>
                    </a:cubicBezTo>
                    <a:lnTo>
                      <a:pt x="47625" y="0"/>
                    </a:lnTo>
                  </a:path>
                </a:pathLst>
              </a:custGeom>
              <a:noFill/>
              <a:ln w="15875">
                <a:solidFill>
                  <a:srgbClr val="FFFFFF"/>
                </a:solidFill>
              </a:ln>
            </p:spPr>
          </p:sp>
        </p:grpSp>
        <p:sp>
          <p:nvSpPr>
            <p:cNvPr id="86" name="Line 86"/>
            <p:cNvSpPr/>
            <p:nvPr/>
          </p:nvSpPr>
          <p:spPr>
            <a:xfrm>
              <a:off x="6572250" y="2305050"/>
              <a:ext cx="419100" cy="1"/>
            </a:xfrm>
            <a:prstGeom prst="line">
              <a:avLst/>
            </a:prstGeom>
            <a:noFill/>
            <a:ln w="15240">
              <a:solidFill>
                <a:srgbClr val="A52D12"/>
              </a:solidFill>
              <a:tailEnd type="triangle" w="lg" len="lg"/>
            </a:ln>
          </p:spPr>
        </p:sp>
        <p:sp>
          <p:nvSpPr>
            <p:cNvPr id="87" name="Ellipse 87"/>
            <p:cNvSpPr/>
            <p:nvPr/>
          </p:nvSpPr>
          <p:spPr>
            <a:xfrm>
              <a:off x="7115175" y="2105025"/>
              <a:ext cx="400050" cy="400050"/>
            </a:xfrm>
            <a:prstGeom prst="ellipse">
              <a:avLst/>
            </a:prstGeom>
            <a:solidFill>
              <a:srgbClr val="A52D12"/>
            </a:solidFill>
            <a:ln>
              <a:noFill/>
            </a:ln>
          </p:spPr>
        </p:sp>
        <p:grpSp>
          <p:nvGrpSpPr>
            <p:cNvPr id="91" name="Group 91"/>
            <p:cNvGrpSpPr/>
            <p:nvPr/>
          </p:nvGrpSpPr>
          <p:grpSpPr>
            <a:xfrm>
              <a:off x="7235149" y="2230975"/>
              <a:ext cx="160095" cy="137543"/>
              <a:chOff x="7235149" y="2230975"/>
              <a:chExt cx="160095" cy="137543"/>
            </a:xfrm>
          </p:grpSpPr>
          <p:sp>
            <p:nvSpPr>
              <p:cNvPr id="88" name="Freeform 88"/>
              <p:cNvSpPr/>
              <p:nvPr/>
            </p:nvSpPr>
            <p:spPr>
              <a:xfrm>
                <a:off x="7315200" y="2281237"/>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89" name="Freeform 89"/>
              <p:cNvSpPr/>
              <p:nvPr/>
            </p:nvSpPr>
            <p:spPr>
              <a:xfrm>
                <a:off x="7235149" y="223097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FFFFFF"/>
                </a:solidFill>
              </a:ln>
            </p:spPr>
          </p:sp>
          <p:sp>
            <p:nvSpPr>
              <p:cNvPr id="90" name="Freeform 90"/>
              <p:cNvSpPr/>
              <p:nvPr/>
            </p:nvSpPr>
            <p:spPr>
              <a:xfrm>
                <a:off x="7315200" y="2336800"/>
                <a:ext cx="9525" cy="9525"/>
              </a:xfrm>
              <a:custGeom>
                <a:avLst/>
                <a:gdLst/>
                <a:ahLst/>
                <a:cxnLst/>
                <a:rect l="l" t="t" r="r" b="b"/>
                <a:pathLst>
                  <a:path w="9525" h="9525">
                    <a:moveTo>
                      <a:pt x="0" y="0"/>
                    </a:moveTo>
                    <a:lnTo>
                      <a:pt x="79" y="0"/>
                    </a:lnTo>
                  </a:path>
                </a:pathLst>
              </a:custGeom>
              <a:noFill/>
              <a:ln w="15875">
                <a:solidFill>
                  <a:srgbClr val="FFFFFF"/>
                </a:solidFill>
              </a:ln>
            </p:spPr>
          </p:sp>
        </p:grpSp>
        <p:sp>
          <p:nvSpPr>
            <p:cNvPr id="92" name="TextBox 92"/>
            <p:cNvSpPr txBox="1"/>
            <p:nvPr/>
          </p:nvSpPr>
          <p:spPr>
            <a:xfrm>
              <a:off x="3181922" y="26079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批量获客</a:t>
              </a:r>
            </a:p>
          </p:txBody>
        </p:sp>
        <p:sp>
          <p:nvSpPr>
            <p:cNvPr id="93" name="TextBox 93"/>
            <p:cNvSpPr txBox="1"/>
            <p:nvPr/>
          </p:nvSpPr>
          <p:spPr>
            <a:xfrm>
              <a:off x="3424238" y="2784634"/>
              <a:ext cx="558775"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多维触达精准</a:t>
              </a:r>
            </a:p>
          </p:txBody>
        </p:sp>
        <p:sp>
          <p:nvSpPr>
            <p:cNvPr id="94" name="TextBox 94"/>
            <p:cNvSpPr txBox="1"/>
            <p:nvPr/>
          </p:nvSpPr>
          <p:spPr>
            <a:xfrm>
              <a:off x="3424238" y="2898934"/>
              <a:ext cx="375691"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客群画像</a:t>
              </a:r>
            </a:p>
          </p:txBody>
        </p:sp>
        <p:sp>
          <p:nvSpPr>
            <p:cNvPr id="95" name="TextBox 95"/>
            <p:cNvSpPr txBox="1"/>
            <p:nvPr/>
          </p:nvSpPr>
          <p:spPr>
            <a:xfrm>
              <a:off x="4153472" y="26079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智能风控</a:t>
              </a:r>
            </a:p>
          </p:txBody>
        </p:sp>
        <p:sp>
          <p:nvSpPr>
            <p:cNvPr id="96" name="TextBox 96"/>
            <p:cNvSpPr txBox="1"/>
            <p:nvPr/>
          </p:nvSpPr>
          <p:spPr>
            <a:xfrm>
              <a:off x="4395788" y="2784634"/>
              <a:ext cx="467233"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大数据建模</a:t>
              </a:r>
            </a:p>
          </p:txBody>
        </p:sp>
        <p:sp>
          <p:nvSpPr>
            <p:cNvPr id="97" name="TextBox 97"/>
            <p:cNvSpPr txBox="1"/>
            <p:nvPr/>
          </p:nvSpPr>
          <p:spPr>
            <a:xfrm>
              <a:off x="4395788" y="2898934"/>
              <a:ext cx="467233"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风险早识别</a:t>
              </a:r>
            </a:p>
          </p:txBody>
        </p:sp>
        <p:sp>
          <p:nvSpPr>
            <p:cNvPr id="98" name="TextBox 98"/>
            <p:cNvSpPr txBox="1"/>
            <p:nvPr/>
          </p:nvSpPr>
          <p:spPr>
            <a:xfrm>
              <a:off x="5125021" y="26079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线上审批</a:t>
              </a:r>
            </a:p>
          </p:txBody>
        </p:sp>
        <p:sp>
          <p:nvSpPr>
            <p:cNvPr id="99" name="TextBox 99"/>
            <p:cNvSpPr txBox="1"/>
            <p:nvPr/>
          </p:nvSpPr>
          <p:spPr>
            <a:xfrm>
              <a:off x="5367338" y="2784634"/>
              <a:ext cx="467233"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自动化流转</a:t>
              </a:r>
            </a:p>
          </p:txBody>
        </p:sp>
        <p:sp>
          <p:nvSpPr>
            <p:cNvPr id="100" name="TextBox 100"/>
            <p:cNvSpPr txBox="1"/>
            <p:nvPr/>
          </p:nvSpPr>
          <p:spPr>
            <a:xfrm>
              <a:off x="5367338" y="2898934"/>
              <a:ext cx="375691"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高效便捷</a:t>
              </a:r>
            </a:p>
          </p:txBody>
        </p:sp>
        <p:sp>
          <p:nvSpPr>
            <p:cNvPr id="101" name="TextBox 101"/>
            <p:cNvSpPr txBox="1"/>
            <p:nvPr/>
          </p:nvSpPr>
          <p:spPr>
            <a:xfrm>
              <a:off x="6096571" y="26079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随借随还</a:t>
              </a:r>
            </a:p>
          </p:txBody>
        </p:sp>
        <p:sp>
          <p:nvSpPr>
            <p:cNvPr id="102" name="TextBox 102"/>
            <p:cNvSpPr txBox="1"/>
            <p:nvPr/>
          </p:nvSpPr>
          <p:spPr>
            <a:xfrm>
              <a:off x="6338888" y="2784634"/>
              <a:ext cx="375691"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按日计息</a:t>
              </a:r>
            </a:p>
          </p:txBody>
        </p:sp>
        <p:sp>
          <p:nvSpPr>
            <p:cNvPr id="103" name="TextBox 103"/>
            <p:cNvSpPr txBox="1"/>
            <p:nvPr/>
          </p:nvSpPr>
          <p:spPr>
            <a:xfrm>
              <a:off x="6338888" y="2898934"/>
              <a:ext cx="375691"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灵活周转</a:t>
              </a:r>
            </a:p>
          </p:txBody>
        </p:sp>
        <p:sp>
          <p:nvSpPr>
            <p:cNvPr id="104" name="TextBox 104"/>
            <p:cNvSpPr txBox="1"/>
            <p:nvPr/>
          </p:nvSpPr>
          <p:spPr>
            <a:xfrm>
              <a:off x="7068121" y="26079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贷后预警</a:t>
              </a:r>
            </a:p>
          </p:txBody>
        </p:sp>
        <p:sp>
          <p:nvSpPr>
            <p:cNvPr id="105" name="TextBox 105"/>
            <p:cNvSpPr txBox="1"/>
            <p:nvPr/>
          </p:nvSpPr>
          <p:spPr>
            <a:xfrm>
              <a:off x="7310438" y="2784634"/>
              <a:ext cx="375691"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动态监测</a:t>
              </a:r>
            </a:p>
          </p:txBody>
        </p:sp>
        <p:sp>
          <p:nvSpPr>
            <p:cNvPr id="106" name="TextBox 106"/>
            <p:cNvSpPr txBox="1"/>
            <p:nvPr/>
          </p:nvSpPr>
          <p:spPr>
            <a:xfrm>
              <a:off x="7310438" y="2898934"/>
              <a:ext cx="467233" cy="133350"/>
            </a:xfrm>
            <a:prstGeom prst="rect">
              <a:avLst/>
            </a:prstGeom>
            <a:noFill/>
            <a:ln>
              <a:noFill/>
            </a:ln>
          </p:spPr>
          <p:txBody>
            <a:bodyPr wrap="none" lIns="0" tIns="0" rIns="0" bIns="0" anchor="t" anchorCtr="0">
              <a:spAutoFit/>
            </a:bodyPr>
            <a:lstStyle/>
            <a:p>
              <a:pPr algn="l"/>
              <a:r>
                <a:rPr lang="zh-CN" sz="680" dirty="0">
                  <a:solidFill>
                    <a:srgbClr val="6B6B6B"/>
                  </a:solidFill>
                  <a:latin typeface="+mn-lt"/>
                  <a:ea typeface="+mn-ea"/>
                  <a:cs typeface="+mn-cs"/>
                </a:rPr>
                <a:t>风险早识别</a:t>
              </a:r>
            </a:p>
          </p:txBody>
        </p:sp>
        <p:sp>
          <p:nvSpPr>
            <p:cNvPr id="107" name="TextBox 107"/>
            <p:cNvSpPr txBox="1"/>
            <p:nvPr/>
          </p:nvSpPr>
          <p:spPr>
            <a:xfrm>
              <a:off x="4747031" y="3095149"/>
              <a:ext cx="1593037" cy="190690"/>
            </a:xfrm>
            <a:prstGeom prst="rect">
              <a:avLst/>
            </a:prstGeom>
            <a:noFill/>
            <a:ln>
              <a:noFill/>
            </a:ln>
          </p:spPr>
          <p:txBody>
            <a:bodyPr wrap="none" lIns="0" tIns="0" rIns="0" bIns="0" anchor="t" anchorCtr="0">
              <a:spAutoFit/>
            </a:bodyPr>
            <a:lstStyle/>
            <a:p>
              <a:pPr algn="ctr"/>
              <a:r>
                <a:rPr lang="zh-CN" sz="980" b="1" dirty="0">
                  <a:solidFill>
                    <a:srgbClr val="A52D12"/>
                  </a:solidFill>
                  <a:latin typeface="+mn-lt"/>
                  <a:ea typeface="+mn-ea"/>
                  <a:cs typeface="+mn-cs"/>
                </a:rPr>
                <a:t>普惠小微贷款余额（亿元）</a:t>
              </a:r>
            </a:p>
          </p:txBody>
        </p:sp>
        <p:sp>
          <p:nvSpPr>
            <p:cNvPr id="108" name="Rectangle 108"/>
            <p:cNvSpPr/>
            <p:nvPr/>
          </p:nvSpPr>
          <p:spPr>
            <a:xfrm>
              <a:off x="3238500" y="3267075"/>
              <a:ext cx="95250" cy="95250"/>
            </a:xfrm>
            <a:prstGeom prst="rect">
              <a:avLst/>
            </a:prstGeom>
            <a:solidFill>
              <a:srgbClr val="A52D12"/>
            </a:solidFill>
            <a:ln>
              <a:noFill/>
            </a:ln>
          </p:spPr>
        </p:sp>
        <p:sp>
          <p:nvSpPr>
            <p:cNvPr id="109" name="TextBox 109"/>
            <p:cNvSpPr txBox="1"/>
            <p:nvPr/>
          </p:nvSpPr>
          <p:spPr>
            <a:xfrm>
              <a:off x="3386138" y="3271838"/>
              <a:ext cx="81724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贷款余额（亿元）</a:t>
              </a:r>
            </a:p>
          </p:txBody>
        </p:sp>
        <p:sp>
          <p:nvSpPr>
            <p:cNvPr id="110" name="Line 110"/>
            <p:cNvSpPr/>
            <p:nvPr/>
          </p:nvSpPr>
          <p:spPr>
            <a:xfrm>
              <a:off x="4476750" y="3314700"/>
              <a:ext cx="228600" cy="9525"/>
            </a:xfrm>
            <a:custGeom>
              <a:avLst/>
              <a:gdLst/>
              <a:ahLst/>
              <a:cxnLst/>
              <a:rect l="l" t="t" r="r" b="b"/>
              <a:pathLst>
                <a:path w="228600" h="9525">
                  <a:moveTo>
                    <a:pt x="0" y="0"/>
                  </a:moveTo>
                  <a:lnTo>
                    <a:pt x="228600" y="0"/>
                  </a:lnTo>
                </a:path>
              </a:pathLst>
            </a:custGeom>
            <a:noFill/>
            <a:ln w="17145">
              <a:solidFill>
                <a:srgbClr val="C9604E"/>
              </a:solidFill>
            </a:ln>
          </p:spPr>
        </p:sp>
        <p:sp>
          <p:nvSpPr>
            <p:cNvPr id="111" name="Ellipse 111"/>
            <p:cNvSpPr/>
            <p:nvPr/>
          </p:nvSpPr>
          <p:spPr>
            <a:xfrm>
              <a:off x="4557712" y="3281362"/>
              <a:ext cx="66675" cy="66675"/>
            </a:xfrm>
            <a:prstGeom prst="ellipse">
              <a:avLst/>
            </a:prstGeom>
            <a:solidFill>
              <a:srgbClr val="FFFFFF"/>
            </a:solidFill>
            <a:ln w="17145">
              <a:solidFill>
                <a:srgbClr val="C9604E"/>
              </a:solidFill>
            </a:ln>
          </p:spPr>
        </p:sp>
        <p:sp>
          <p:nvSpPr>
            <p:cNvPr id="112" name="TextBox 112"/>
            <p:cNvSpPr txBox="1"/>
            <p:nvPr/>
          </p:nvSpPr>
          <p:spPr>
            <a:xfrm>
              <a:off x="4757738" y="3271838"/>
              <a:ext cx="74657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同比增速（%）​</a:t>
              </a:r>
            </a:p>
          </p:txBody>
        </p:sp>
        <p:sp>
          <p:nvSpPr>
            <p:cNvPr id="113" name="Line 113"/>
            <p:cNvSpPr/>
            <p:nvPr/>
          </p:nvSpPr>
          <p:spPr>
            <a:xfrm>
              <a:off x="3314700" y="3448050"/>
              <a:ext cx="4495800" cy="9525"/>
            </a:xfrm>
            <a:custGeom>
              <a:avLst/>
              <a:gdLst/>
              <a:ahLst/>
              <a:cxnLst/>
              <a:rect l="l" t="t" r="r" b="b"/>
              <a:pathLst>
                <a:path w="4495800" h="9525">
                  <a:moveTo>
                    <a:pt x="0" y="0"/>
                  </a:moveTo>
                  <a:lnTo>
                    <a:pt x="4495800" y="0"/>
                  </a:lnTo>
                </a:path>
              </a:pathLst>
            </a:custGeom>
            <a:noFill/>
            <a:ln w="9525">
              <a:solidFill>
                <a:srgbClr val="EDE4E2"/>
              </a:solidFill>
            </a:ln>
          </p:spPr>
        </p:sp>
        <p:sp>
          <p:nvSpPr>
            <p:cNvPr id="114" name="Line 114"/>
            <p:cNvSpPr/>
            <p:nvPr/>
          </p:nvSpPr>
          <p:spPr>
            <a:xfrm>
              <a:off x="3314700" y="3776662"/>
              <a:ext cx="4495800" cy="9525"/>
            </a:xfrm>
            <a:custGeom>
              <a:avLst/>
              <a:gdLst/>
              <a:ahLst/>
              <a:cxnLst/>
              <a:rect l="l" t="t" r="r" b="b"/>
              <a:pathLst>
                <a:path w="4495800" h="9525">
                  <a:moveTo>
                    <a:pt x="0" y="0"/>
                  </a:moveTo>
                  <a:lnTo>
                    <a:pt x="4495800" y="0"/>
                  </a:lnTo>
                </a:path>
              </a:pathLst>
            </a:custGeom>
            <a:noFill/>
            <a:ln w="9525">
              <a:solidFill>
                <a:srgbClr val="EDE4E2"/>
              </a:solidFill>
            </a:ln>
          </p:spPr>
        </p:sp>
        <p:sp>
          <p:nvSpPr>
            <p:cNvPr id="115" name="Line 115"/>
            <p:cNvSpPr/>
            <p:nvPr/>
          </p:nvSpPr>
          <p:spPr>
            <a:xfrm>
              <a:off x="3314700" y="4105275"/>
              <a:ext cx="4495800" cy="9525"/>
            </a:xfrm>
            <a:custGeom>
              <a:avLst/>
              <a:gdLst/>
              <a:ahLst/>
              <a:cxnLst/>
              <a:rect l="l" t="t" r="r" b="b"/>
              <a:pathLst>
                <a:path w="4495800" h="9525">
                  <a:moveTo>
                    <a:pt x="0" y="0"/>
                  </a:moveTo>
                  <a:lnTo>
                    <a:pt x="4495800" y="0"/>
                  </a:lnTo>
                </a:path>
              </a:pathLst>
            </a:custGeom>
            <a:noFill/>
            <a:ln w="9525">
              <a:solidFill>
                <a:srgbClr val="EDE4E2"/>
              </a:solidFill>
            </a:ln>
          </p:spPr>
        </p:sp>
        <p:sp>
          <p:nvSpPr>
            <p:cNvPr id="116" name="Line 116"/>
            <p:cNvSpPr/>
            <p:nvPr/>
          </p:nvSpPr>
          <p:spPr>
            <a:xfrm>
              <a:off x="3314700" y="4433888"/>
              <a:ext cx="4495800" cy="9525"/>
            </a:xfrm>
            <a:custGeom>
              <a:avLst/>
              <a:gdLst/>
              <a:ahLst/>
              <a:cxnLst/>
              <a:rect l="l" t="t" r="r" b="b"/>
              <a:pathLst>
                <a:path w="4495800" h="9525">
                  <a:moveTo>
                    <a:pt x="0" y="0"/>
                  </a:moveTo>
                  <a:lnTo>
                    <a:pt x="4495800" y="0"/>
                  </a:lnTo>
                </a:path>
              </a:pathLst>
            </a:custGeom>
            <a:noFill/>
            <a:ln w="9525">
              <a:solidFill>
                <a:srgbClr val="EDE4E2"/>
              </a:solidFill>
            </a:ln>
          </p:spPr>
        </p:sp>
        <p:sp>
          <p:nvSpPr>
            <p:cNvPr id="117" name="Line 117"/>
            <p:cNvSpPr/>
            <p:nvPr/>
          </p:nvSpPr>
          <p:spPr>
            <a:xfrm>
              <a:off x="3314700" y="4762500"/>
              <a:ext cx="4495800" cy="9525"/>
            </a:xfrm>
            <a:custGeom>
              <a:avLst/>
              <a:gdLst/>
              <a:ahLst/>
              <a:cxnLst/>
              <a:rect l="l" t="t" r="r" b="b"/>
              <a:pathLst>
                <a:path w="4495800" h="9525">
                  <a:moveTo>
                    <a:pt x="0" y="0"/>
                  </a:moveTo>
                  <a:lnTo>
                    <a:pt x="4495800" y="0"/>
                  </a:lnTo>
                </a:path>
              </a:pathLst>
            </a:custGeom>
            <a:noFill/>
            <a:ln w="9525">
              <a:solidFill>
                <a:srgbClr val="C9BBB8"/>
              </a:solidFill>
            </a:ln>
          </p:spPr>
        </p:sp>
        <p:sp>
          <p:nvSpPr>
            <p:cNvPr id="118" name="TextBox 118"/>
            <p:cNvSpPr txBox="1"/>
            <p:nvPr/>
          </p:nvSpPr>
          <p:spPr>
            <a:xfrm>
              <a:off x="3166699" y="4723686"/>
              <a:ext cx="114663"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a:t>
              </a:r>
            </a:p>
          </p:txBody>
        </p:sp>
        <p:sp>
          <p:nvSpPr>
            <p:cNvPr id="119" name="TextBox 119"/>
            <p:cNvSpPr txBox="1"/>
            <p:nvPr/>
          </p:nvSpPr>
          <p:spPr>
            <a:xfrm>
              <a:off x="3061561" y="4395073"/>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500​</a:t>
              </a:r>
            </a:p>
          </p:txBody>
        </p:sp>
        <p:sp>
          <p:nvSpPr>
            <p:cNvPr id="120" name="TextBox 120"/>
            <p:cNvSpPr txBox="1"/>
            <p:nvPr/>
          </p:nvSpPr>
          <p:spPr>
            <a:xfrm>
              <a:off x="2956423" y="4066461"/>
              <a:ext cx="324940"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1,000​</a:t>
              </a:r>
            </a:p>
          </p:txBody>
        </p:sp>
        <p:sp>
          <p:nvSpPr>
            <p:cNvPr id="121" name="TextBox 121"/>
            <p:cNvSpPr txBox="1"/>
            <p:nvPr/>
          </p:nvSpPr>
          <p:spPr>
            <a:xfrm>
              <a:off x="2956423" y="3737848"/>
              <a:ext cx="324940"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1,500​</a:t>
              </a:r>
            </a:p>
          </p:txBody>
        </p:sp>
        <p:sp>
          <p:nvSpPr>
            <p:cNvPr id="122" name="TextBox 122"/>
            <p:cNvSpPr txBox="1"/>
            <p:nvPr/>
          </p:nvSpPr>
          <p:spPr>
            <a:xfrm>
              <a:off x="2956423" y="3409236"/>
              <a:ext cx="324940"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2,000​</a:t>
              </a:r>
            </a:p>
          </p:txBody>
        </p:sp>
        <p:sp>
          <p:nvSpPr>
            <p:cNvPr id="123" name="TextBox 123"/>
            <p:cNvSpPr txBox="1"/>
            <p:nvPr/>
          </p:nvSpPr>
          <p:spPr>
            <a:xfrm>
              <a:off x="7843838" y="4723686"/>
              <a:ext cx="186348"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0%​</a:t>
              </a:r>
            </a:p>
          </p:txBody>
        </p:sp>
        <p:sp>
          <p:nvSpPr>
            <p:cNvPr id="124" name="TextBox 124"/>
            <p:cNvSpPr txBox="1"/>
            <p:nvPr/>
          </p:nvSpPr>
          <p:spPr>
            <a:xfrm>
              <a:off x="7843838" y="4395073"/>
              <a:ext cx="238917"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10%​</a:t>
              </a:r>
            </a:p>
          </p:txBody>
        </p:sp>
        <p:sp>
          <p:nvSpPr>
            <p:cNvPr id="125" name="TextBox 125"/>
            <p:cNvSpPr txBox="1"/>
            <p:nvPr/>
          </p:nvSpPr>
          <p:spPr>
            <a:xfrm>
              <a:off x="7843838" y="4066461"/>
              <a:ext cx="238917"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20%​</a:t>
              </a:r>
            </a:p>
          </p:txBody>
        </p:sp>
        <p:sp>
          <p:nvSpPr>
            <p:cNvPr id="126" name="TextBox 126"/>
            <p:cNvSpPr txBox="1"/>
            <p:nvPr/>
          </p:nvSpPr>
          <p:spPr>
            <a:xfrm>
              <a:off x="7843838" y="3737848"/>
              <a:ext cx="238917"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30%​</a:t>
              </a:r>
            </a:p>
          </p:txBody>
        </p:sp>
        <p:sp>
          <p:nvSpPr>
            <p:cNvPr id="127" name="TextBox 127"/>
            <p:cNvSpPr txBox="1"/>
            <p:nvPr/>
          </p:nvSpPr>
          <p:spPr>
            <a:xfrm>
              <a:off x="7843838" y="3409236"/>
              <a:ext cx="238917"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40%​</a:t>
              </a:r>
            </a:p>
          </p:txBody>
        </p:sp>
        <p:sp>
          <p:nvSpPr>
            <p:cNvPr id="128" name="Rectangle 128"/>
            <p:cNvSpPr/>
            <p:nvPr/>
          </p:nvSpPr>
          <p:spPr>
            <a:xfrm>
              <a:off x="3838575" y="4052888"/>
              <a:ext cx="323850" cy="709612"/>
            </a:xfrm>
            <a:prstGeom prst="rect">
              <a:avLst/>
            </a:prstGeom>
            <a:solidFill>
              <a:srgbClr val="A52D12"/>
            </a:solidFill>
            <a:ln>
              <a:noFill/>
            </a:ln>
          </p:spPr>
        </p:sp>
        <p:sp>
          <p:nvSpPr>
            <p:cNvPr id="129" name="Rectangle 129"/>
            <p:cNvSpPr/>
            <p:nvPr/>
          </p:nvSpPr>
          <p:spPr>
            <a:xfrm>
              <a:off x="4886325" y="3953828"/>
              <a:ext cx="323850" cy="808672"/>
            </a:xfrm>
            <a:prstGeom prst="rect">
              <a:avLst/>
            </a:prstGeom>
            <a:solidFill>
              <a:srgbClr val="A52D12"/>
            </a:solidFill>
            <a:ln>
              <a:noFill/>
            </a:ln>
          </p:spPr>
        </p:sp>
        <p:sp>
          <p:nvSpPr>
            <p:cNvPr id="130" name="Rectangle 130"/>
            <p:cNvSpPr/>
            <p:nvPr/>
          </p:nvSpPr>
          <p:spPr>
            <a:xfrm>
              <a:off x="5934075" y="3799522"/>
              <a:ext cx="323850" cy="962978"/>
            </a:xfrm>
            <a:prstGeom prst="rect">
              <a:avLst/>
            </a:prstGeom>
            <a:solidFill>
              <a:srgbClr val="A52D12"/>
            </a:solidFill>
            <a:ln>
              <a:noFill/>
            </a:ln>
          </p:spPr>
        </p:sp>
        <p:sp>
          <p:nvSpPr>
            <p:cNvPr id="131" name="Rectangle 131"/>
            <p:cNvSpPr/>
            <p:nvPr/>
          </p:nvSpPr>
          <p:spPr>
            <a:xfrm>
              <a:off x="6981825" y="3658552"/>
              <a:ext cx="323850" cy="1103948"/>
            </a:xfrm>
            <a:prstGeom prst="rect">
              <a:avLst/>
            </a:prstGeom>
            <a:solidFill>
              <a:srgbClr val="A52D12"/>
            </a:solidFill>
            <a:ln>
              <a:noFill/>
            </a:ln>
          </p:spPr>
        </p:sp>
        <p:sp>
          <p:nvSpPr>
            <p:cNvPr id="132" name="TextBox 132"/>
            <p:cNvSpPr txBox="1"/>
            <p:nvPr/>
          </p:nvSpPr>
          <p:spPr>
            <a:xfrm>
              <a:off x="3820816" y="3910012"/>
              <a:ext cx="359369" cy="147638"/>
            </a:xfrm>
            <a:prstGeom prst="rect">
              <a:avLst/>
            </a:prstGeom>
            <a:noFill/>
            <a:ln>
              <a:noFill/>
            </a:ln>
          </p:spPr>
          <p:txBody>
            <a:bodyPr wrap="none" lIns="0" tIns="0" rIns="0" bIns="0" anchor="t" anchorCtr="0">
              <a:spAutoFit/>
            </a:bodyPr>
            <a:lstStyle/>
            <a:p>
              <a:pPr algn="ctr"/>
              <a:r>
                <a:rPr lang="zh-CN" sz="750" b="1" dirty="0">
                  <a:solidFill>
                    <a:srgbClr val="A52D12"/>
                  </a:solidFill>
                  <a:latin typeface="+mn-lt"/>
                  <a:ea typeface="+mn-ea"/>
                  <a:cs typeface="+mn-cs"/>
                </a:rPr>
                <a:t>1,080​</a:t>
              </a:r>
            </a:p>
          </p:txBody>
        </p:sp>
        <p:sp>
          <p:nvSpPr>
            <p:cNvPr id="133" name="TextBox 133"/>
            <p:cNvSpPr txBox="1"/>
            <p:nvPr/>
          </p:nvSpPr>
          <p:spPr>
            <a:xfrm>
              <a:off x="4868566" y="3814762"/>
              <a:ext cx="359369" cy="147638"/>
            </a:xfrm>
            <a:prstGeom prst="rect">
              <a:avLst/>
            </a:prstGeom>
            <a:noFill/>
            <a:ln>
              <a:noFill/>
            </a:ln>
          </p:spPr>
          <p:txBody>
            <a:bodyPr wrap="none" lIns="0" tIns="0" rIns="0" bIns="0" anchor="t" anchorCtr="0">
              <a:spAutoFit/>
            </a:bodyPr>
            <a:lstStyle/>
            <a:p>
              <a:pPr algn="ctr"/>
              <a:r>
                <a:rPr lang="zh-CN" sz="750" b="1" dirty="0">
                  <a:solidFill>
                    <a:srgbClr val="A52D12"/>
                  </a:solidFill>
                  <a:latin typeface="+mn-lt"/>
                  <a:ea typeface="+mn-ea"/>
                  <a:cs typeface="+mn-cs"/>
                </a:rPr>
                <a:t>1,230​</a:t>
              </a:r>
            </a:p>
          </p:txBody>
        </p:sp>
        <p:sp>
          <p:nvSpPr>
            <p:cNvPr id="134" name="TextBox 134"/>
            <p:cNvSpPr txBox="1"/>
            <p:nvPr/>
          </p:nvSpPr>
          <p:spPr>
            <a:xfrm>
              <a:off x="5916316" y="3662362"/>
              <a:ext cx="359369" cy="147638"/>
            </a:xfrm>
            <a:prstGeom prst="rect">
              <a:avLst/>
            </a:prstGeom>
            <a:noFill/>
            <a:ln>
              <a:noFill/>
            </a:ln>
          </p:spPr>
          <p:txBody>
            <a:bodyPr wrap="none" lIns="0" tIns="0" rIns="0" bIns="0" anchor="t" anchorCtr="0">
              <a:spAutoFit/>
            </a:bodyPr>
            <a:lstStyle/>
            <a:p>
              <a:pPr algn="ctr"/>
              <a:r>
                <a:rPr lang="zh-CN" sz="750" b="1" dirty="0">
                  <a:solidFill>
                    <a:srgbClr val="A52D12"/>
                  </a:solidFill>
                  <a:latin typeface="+mn-lt"/>
                  <a:ea typeface="+mn-ea"/>
                  <a:cs typeface="+mn-cs"/>
                </a:rPr>
                <a:t>1,465​</a:t>
              </a:r>
            </a:p>
          </p:txBody>
        </p:sp>
        <p:sp>
          <p:nvSpPr>
            <p:cNvPr id="135" name="TextBox 135"/>
            <p:cNvSpPr txBox="1"/>
            <p:nvPr/>
          </p:nvSpPr>
          <p:spPr>
            <a:xfrm>
              <a:off x="6964066" y="3519488"/>
              <a:ext cx="359369" cy="147638"/>
            </a:xfrm>
            <a:prstGeom prst="rect">
              <a:avLst/>
            </a:prstGeom>
            <a:noFill/>
            <a:ln>
              <a:noFill/>
            </a:ln>
          </p:spPr>
          <p:txBody>
            <a:bodyPr wrap="none" lIns="0" tIns="0" rIns="0" bIns="0" anchor="t" anchorCtr="0">
              <a:spAutoFit/>
            </a:bodyPr>
            <a:lstStyle/>
            <a:p>
              <a:pPr algn="ctr"/>
              <a:r>
                <a:rPr lang="zh-CN" sz="750" b="1" dirty="0">
                  <a:solidFill>
                    <a:srgbClr val="A52D12"/>
                  </a:solidFill>
                  <a:latin typeface="+mn-lt"/>
                  <a:ea typeface="+mn-ea"/>
                  <a:cs typeface="+mn-cs"/>
                </a:rPr>
                <a:t>1,680​</a:t>
              </a:r>
            </a:p>
          </p:txBody>
        </p:sp>
        <p:sp>
          <p:nvSpPr>
            <p:cNvPr id="136" name="Polyline 136"/>
            <p:cNvSpPr/>
            <p:nvPr/>
          </p:nvSpPr>
          <p:spPr>
            <a:xfrm>
              <a:off x="4000500" y="4134802"/>
              <a:ext cx="3143250" cy="170497"/>
            </a:xfrm>
            <a:custGeom>
              <a:avLst/>
              <a:gdLst/>
              <a:ahLst/>
              <a:cxnLst/>
              <a:rect l="l" t="t" r="r" b="b"/>
              <a:pathLst>
                <a:path w="3143250" h="170497">
                  <a:moveTo>
                    <a:pt x="0" y="99060"/>
                  </a:moveTo>
                  <a:lnTo>
                    <a:pt x="1047750" y="170497"/>
                  </a:lnTo>
                  <a:lnTo>
                    <a:pt x="2095500" y="0"/>
                  </a:lnTo>
                  <a:lnTo>
                    <a:pt x="3143250" y="147638"/>
                  </a:lnTo>
                </a:path>
              </a:pathLst>
            </a:custGeom>
            <a:noFill/>
            <a:ln w="19050">
              <a:solidFill>
                <a:srgbClr val="C9604E"/>
              </a:solidFill>
            </a:ln>
          </p:spPr>
        </p:sp>
        <p:sp>
          <p:nvSpPr>
            <p:cNvPr id="137" name="Ellipse 137"/>
            <p:cNvSpPr/>
            <p:nvPr/>
          </p:nvSpPr>
          <p:spPr>
            <a:xfrm>
              <a:off x="3967162" y="4200525"/>
              <a:ext cx="66675" cy="66675"/>
            </a:xfrm>
            <a:prstGeom prst="ellipse">
              <a:avLst/>
            </a:prstGeom>
            <a:solidFill>
              <a:srgbClr val="FFFFFF"/>
            </a:solidFill>
            <a:ln w="19050">
              <a:solidFill>
                <a:srgbClr val="C9604E"/>
              </a:solidFill>
            </a:ln>
          </p:spPr>
        </p:sp>
        <p:sp>
          <p:nvSpPr>
            <p:cNvPr id="138" name="Ellipse 138"/>
            <p:cNvSpPr/>
            <p:nvPr/>
          </p:nvSpPr>
          <p:spPr>
            <a:xfrm>
              <a:off x="5014912" y="4271962"/>
              <a:ext cx="66675" cy="66675"/>
            </a:xfrm>
            <a:prstGeom prst="ellipse">
              <a:avLst/>
            </a:prstGeom>
            <a:solidFill>
              <a:srgbClr val="FFFFFF"/>
            </a:solidFill>
            <a:ln w="19050">
              <a:solidFill>
                <a:srgbClr val="C9604E"/>
              </a:solidFill>
            </a:ln>
          </p:spPr>
        </p:sp>
        <p:sp>
          <p:nvSpPr>
            <p:cNvPr id="139" name="Ellipse 139"/>
            <p:cNvSpPr/>
            <p:nvPr/>
          </p:nvSpPr>
          <p:spPr>
            <a:xfrm>
              <a:off x="6062662" y="4101465"/>
              <a:ext cx="66675" cy="66675"/>
            </a:xfrm>
            <a:prstGeom prst="ellipse">
              <a:avLst/>
            </a:prstGeom>
            <a:solidFill>
              <a:srgbClr val="FFFFFF"/>
            </a:solidFill>
            <a:ln w="19050">
              <a:solidFill>
                <a:srgbClr val="C9604E"/>
              </a:solidFill>
            </a:ln>
          </p:spPr>
        </p:sp>
        <p:sp>
          <p:nvSpPr>
            <p:cNvPr id="140" name="Ellipse 140"/>
            <p:cNvSpPr/>
            <p:nvPr/>
          </p:nvSpPr>
          <p:spPr>
            <a:xfrm>
              <a:off x="7110412" y="4249102"/>
              <a:ext cx="66675" cy="66675"/>
            </a:xfrm>
            <a:prstGeom prst="ellipse">
              <a:avLst/>
            </a:prstGeom>
            <a:solidFill>
              <a:srgbClr val="FFFFFF"/>
            </a:solidFill>
            <a:ln w="19050">
              <a:solidFill>
                <a:srgbClr val="C9604E"/>
              </a:solidFill>
            </a:ln>
          </p:spPr>
        </p:sp>
        <p:sp>
          <p:nvSpPr>
            <p:cNvPr id="141" name="TextBox 141"/>
            <p:cNvSpPr txBox="1"/>
            <p:nvPr/>
          </p:nvSpPr>
          <p:spPr>
            <a:xfrm>
              <a:off x="3827530" y="4422934"/>
              <a:ext cx="3459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16.1%​</a:t>
              </a:r>
            </a:p>
          </p:txBody>
        </p:sp>
        <p:sp>
          <p:nvSpPr>
            <p:cNvPr id="142" name="TextBox 142"/>
            <p:cNvSpPr txBox="1"/>
            <p:nvPr/>
          </p:nvSpPr>
          <p:spPr>
            <a:xfrm>
              <a:off x="4875280" y="4499134"/>
              <a:ext cx="3459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13.9%​</a:t>
              </a:r>
            </a:p>
          </p:txBody>
        </p:sp>
        <p:sp>
          <p:nvSpPr>
            <p:cNvPr id="143" name="TextBox 143"/>
            <p:cNvSpPr txBox="1"/>
            <p:nvPr/>
          </p:nvSpPr>
          <p:spPr>
            <a:xfrm>
              <a:off x="5923030" y="4327684"/>
              <a:ext cx="3459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19.1%​</a:t>
              </a:r>
            </a:p>
          </p:txBody>
        </p:sp>
        <p:sp>
          <p:nvSpPr>
            <p:cNvPr id="144" name="TextBox 144"/>
            <p:cNvSpPr txBox="1"/>
            <p:nvPr/>
          </p:nvSpPr>
          <p:spPr>
            <a:xfrm>
              <a:off x="6970780" y="4470559"/>
              <a:ext cx="34594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14.6%​</a:t>
              </a:r>
            </a:p>
          </p:txBody>
        </p:sp>
        <p:sp>
          <p:nvSpPr>
            <p:cNvPr id="145" name="TextBox 145"/>
            <p:cNvSpPr txBox="1"/>
            <p:nvPr/>
          </p:nvSpPr>
          <p:spPr>
            <a:xfrm>
              <a:off x="3743157" y="4848939"/>
              <a:ext cx="514687"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2022年末​</a:t>
              </a:r>
            </a:p>
          </p:txBody>
        </p:sp>
        <p:sp>
          <p:nvSpPr>
            <p:cNvPr id="146" name="TextBox 146"/>
            <p:cNvSpPr txBox="1"/>
            <p:nvPr/>
          </p:nvSpPr>
          <p:spPr>
            <a:xfrm>
              <a:off x="4790907" y="4848939"/>
              <a:ext cx="514687"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2023年末​</a:t>
              </a:r>
            </a:p>
          </p:txBody>
        </p:sp>
        <p:sp>
          <p:nvSpPr>
            <p:cNvPr id="147" name="TextBox 147"/>
            <p:cNvSpPr txBox="1"/>
            <p:nvPr/>
          </p:nvSpPr>
          <p:spPr>
            <a:xfrm>
              <a:off x="5838657" y="4848939"/>
              <a:ext cx="514687"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2024年末​</a:t>
              </a:r>
            </a:p>
          </p:txBody>
        </p:sp>
        <p:sp>
          <p:nvSpPr>
            <p:cNvPr id="148" name="TextBox 148"/>
            <p:cNvSpPr txBox="1"/>
            <p:nvPr/>
          </p:nvSpPr>
          <p:spPr>
            <a:xfrm>
              <a:off x="6886407" y="4848939"/>
              <a:ext cx="514687"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2025年末​</a:t>
              </a:r>
            </a:p>
          </p:txBody>
        </p:sp>
      </p:grpSp>
      <p:grpSp>
        <p:nvGrpSpPr>
          <p:cNvPr id="183" name="scenes"/>
          <p:cNvGrpSpPr/>
          <p:nvPr/>
        </p:nvGrpSpPr>
        <p:grpSpPr>
          <a:xfrm>
            <a:off x="8229600" y="1638300"/>
            <a:ext cx="3581400" cy="3467100"/>
            <a:chOff x="8229600" y="1638300"/>
            <a:chExt cx="3581400" cy="3467100"/>
          </a:xfrm>
        </p:grpSpPr>
        <p:sp>
          <p:nvSpPr>
            <p:cNvPr id="150" name="Rectangle 150"/>
            <p:cNvSpPr/>
            <p:nvPr/>
          </p:nvSpPr>
          <p:spPr>
            <a:xfrm>
              <a:off x="8229600" y="1638300"/>
              <a:ext cx="3581400" cy="3467100"/>
            </a:xfrm>
            <a:prstGeom prst="roundRect">
              <a:avLst>
                <a:gd name="adj" fmla="val 2198"/>
              </a:avLst>
            </a:prstGeom>
            <a:solidFill>
              <a:srgbClr val="FDF6F5"/>
            </a:solidFill>
            <a:ln w="9525">
              <a:solidFill>
                <a:srgbClr val="EDD5D2"/>
              </a:solidFill>
            </a:ln>
          </p:spPr>
        </p:sp>
        <p:sp>
          <p:nvSpPr>
            <p:cNvPr id="151" name="Freeform 151"/>
            <p:cNvSpPr/>
            <p:nvPr/>
          </p:nvSpPr>
          <p:spPr>
            <a:xfrm>
              <a:off x="8239125" y="1647825"/>
              <a:ext cx="3562350" cy="228600"/>
            </a:xfrm>
            <a:custGeom>
              <a:avLst/>
              <a:gdLst/>
              <a:ahLst/>
              <a:cxnLst/>
              <a:rect l="l" t="t" r="r" b="b"/>
              <a:pathLst>
                <a:path w="3562350" h="228600">
                  <a:moveTo>
                    <a:pt x="0" y="228600"/>
                  </a:moveTo>
                  <a:lnTo>
                    <a:pt x="3562350" y="228600"/>
                  </a:lnTo>
                  <a:lnTo>
                    <a:pt x="3562350" y="66675"/>
                  </a:lnTo>
                  <a:cubicBezTo>
                    <a:pt x="3562350" y="29851"/>
                    <a:pt x="3532499" y="0"/>
                    <a:pt x="3495675" y="0"/>
                  </a:cubicBezTo>
                  <a:lnTo>
                    <a:pt x="66675" y="0"/>
                  </a:lnTo>
                  <a:cubicBezTo>
                    <a:pt x="29851" y="0"/>
                    <a:pt x="0" y="29851"/>
                    <a:pt x="0" y="66675"/>
                  </a:cubicBezTo>
                  <a:close/>
                </a:path>
              </a:pathLst>
            </a:custGeom>
            <a:solidFill>
              <a:srgbClr val="A52D12"/>
            </a:solidFill>
            <a:ln>
              <a:noFill/>
            </a:ln>
          </p:spPr>
        </p:sp>
        <p:sp>
          <p:nvSpPr>
            <p:cNvPr id="152" name="TextBox 152"/>
            <p:cNvSpPr txBox="1"/>
            <p:nvPr/>
          </p:nvSpPr>
          <p:spPr>
            <a:xfrm>
              <a:off x="9590913" y="169640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右侧三大场景</a:t>
              </a:r>
            </a:p>
          </p:txBody>
        </p:sp>
        <p:grpSp>
          <p:nvGrpSpPr>
            <p:cNvPr id="157" name="Group 157"/>
            <p:cNvGrpSpPr/>
            <p:nvPr/>
          </p:nvGrpSpPr>
          <p:grpSpPr>
            <a:xfrm>
              <a:off x="8443912" y="2081212"/>
              <a:ext cx="142875" cy="134937"/>
              <a:chOff x="8443912" y="2081212"/>
              <a:chExt cx="142875" cy="134937"/>
            </a:xfrm>
          </p:grpSpPr>
          <p:sp>
            <p:nvSpPr>
              <p:cNvPr id="153" name="Freeform 153"/>
              <p:cNvSpPr/>
              <p:nvPr/>
            </p:nvSpPr>
            <p:spPr>
              <a:xfrm>
                <a:off x="8443912" y="2112962"/>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A52D12"/>
                </a:solidFill>
              </a:ln>
            </p:spPr>
          </p:sp>
          <p:sp>
            <p:nvSpPr>
              <p:cNvPr id="154" name="Freeform 154"/>
              <p:cNvSpPr/>
              <p:nvPr/>
            </p:nvSpPr>
            <p:spPr>
              <a:xfrm>
                <a:off x="8483600" y="2081212"/>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A52D12"/>
                </a:solidFill>
              </a:ln>
            </p:spPr>
          </p:sp>
          <p:sp>
            <p:nvSpPr>
              <p:cNvPr id="155" name="Freeform 155"/>
              <p:cNvSpPr/>
              <p:nvPr/>
            </p:nvSpPr>
            <p:spPr>
              <a:xfrm>
                <a:off x="8515350" y="2152650"/>
                <a:ext cx="9525" cy="9525"/>
              </a:xfrm>
              <a:custGeom>
                <a:avLst/>
                <a:gdLst/>
                <a:ahLst/>
                <a:cxnLst/>
                <a:rect l="l" t="t" r="r" b="b"/>
                <a:pathLst>
                  <a:path w="9525" h="9525">
                    <a:moveTo>
                      <a:pt x="0" y="0"/>
                    </a:moveTo>
                    <a:lnTo>
                      <a:pt x="0" y="79"/>
                    </a:lnTo>
                  </a:path>
                </a:pathLst>
              </a:custGeom>
              <a:noFill/>
              <a:ln w="15875">
                <a:solidFill>
                  <a:srgbClr val="A52D12"/>
                </a:solidFill>
              </a:ln>
            </p:spPr>
          </p:sp>
          <p:sp>
            <p:nvSpPr>
              <p:cNvPr id="156" name="Freeform 156"/>
              <p:cNvSpPr/>
              <p:nvPr/>
            </p:nvSpPr>
            <p:spPr>
              <a:xfrm>
                <a:off x="8443912" y="2160587"/>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A52D12"/>
                </a:solidFill>
              </a:ln>
            </p:spPr>
          </p:sp>
        </p:grpSp>
        <p:sp>
          <p:nvSpPr>
            <p:cNvPr id="158" name="TextBox 158"/>
            <p:cNvSpPr txBox="1"/>
            <p:nvPr/>
          </p:nvSpPr>
          <p:spPr>
            <a:xfrm>
              <a:off x="8681656" y="210050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产业园区</a:t>
              </a:r>
            </a:p>
          </p:txBody>
        </p:sp>
        <p:sp>
          <p:nvSpPr>
            <p:cNvPr id="159" name="TextBox 159"/>
            <p:cNvSpPr txBox="1"/>
            <p:nvPr/>
          </p:nvSpPr>
          <p:spPr>
            <a:xfrm>
              <a:off x="8415338" y="2353389"/>
              <a:ext cx="753974"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园区批量获客，</a:t>
              </a:r>
            </a:p>
          </p:txBody>
        </p:sp>
        <p:sp>
          <p:nvSpPr>
            <p:cNvPr id="160" name="TextBox 160"/>
            <p:cNvSpPr txBox="1"/>
            <p:nvPr/>
          </p:nvSpPr>
          <p:spPr>
            <a:xfrm>
              <a:off x="8415338" y="2505789"/>
              <a:ext cx="647624"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综合金融服务</a:t>
              </a:r>
            </a:p>
          </p:txBody>
        </p:sp>
        <p:pic>
          <p:nvPicPr>
            <p:cNvPr id="161" name="Image 161"/>
            <p:cNvPicPr>
              <a:picLocks noChangeAspect="1"/>
            </p:cNvPicPr>
            <p:nvPr/>
          </p:nvPicPr>
          <p:blipFill>
            <a:blip r:embed="rId2"/>
            <a:srcRect l="137" t="0" r="137" b="0"/>
            <a:stretch>
              <a:fillRect/>
            </a:stretch>
          </p:blipFill>
          <p:spPr>
            <a:xfrm>
              <a:off x="10515600" y="2019300"/>
              <a:ext cx="1143000" cy="657225"/>
            </a:xfrm>
            <a:prstGeom prst="rect">
              <a:avLst/>
            </a:prstGeom>
          </p:spPr>
        </p:pic>
        <p:sp>
          <p:nvSpPr>
            <p:cNvPr id="162" name="Rectangle 162"/>
            <p:cNvSpPr/>
            <p:nvPr/>
          </p:nvSpPr>
          <p:spPr>
            <a:xfrm>
              <a:off x="10515600" y="2019300"/>
              <a:ext cx="1143000" cy="657225"/>
            </a:xfrm>
            <a:prstGeom prst="rect">
              <a:avLst/>
            </a:prstGeom>
            <a:noFill/>
            <a:ln w="9525">
              <a:solidFill>
                <a:srgbClr val="EDD5D2"/>
              </a:solidFill>
            </a:ln>
          </p:spPr>
        </p:sp>
        <p:sp>
          <p:nvSpPr>
            <p:cNvPr id="163" name="Line 163"/>
            <p:cNvSpPr/>
            <p:nvPr/>
          </p:nvSpPr>
          <p:spPr>
            <a:xfrm>
              <a:off x="8420100" y="2838450"/>
              <a:ext cx="3238500" cy="9525"/>
            </a:xfrm>
            <a:custGeom>
              <a:avLst/>
              <a:gdLst/>
              <a:ahLst/>
              <a:cxnLst/>
              <a:rect l="l" t="t" r="r" b="b"/>
              <a:pathLst>
                <a:path w="3238500" h="9525">
                  <a:moveTo>
                    <a:pt x="0" y="0"/>
                  </a:moveTo>
                  <a:lnTo>
                    <a:pt x="3238500" y="0"/>
                  </a:lnTo>
                </a:path>
              </a:pathLst>
            </a:custGeom>
            <a:noFill/>
            <a:ln w="9525">
              <a:solidFill>
                <a:srgbClr val="EDD5D2"/>
              </a:solidFill>
            </a:ln>
          </p:spPr>
        </p:sp>
        <p:grpSp>
          <p:nvGrpSpPr>
            <p:cNvPr id="167" name="Group 167"/>
            <p:cNvGrpSpPr/>
            <p:nvPr/>
          </p:nvGrpSpPr>
          <p:grpSpPr>
            <a:xfrm>
              <a:off x="8451849" y="3037772"/>
              <a:ext cx="130867" cy="134739"/>
              <a:chOff x="8451849" y="3037772"/>
              <a:chExt cx="130867" cy="134739"/>
            </a:xfrm>
          </p:grpSpPr>
          <p:sp>
            <p:nvSpPr>
              <p:cNvPr id="164" name="Freeform 164"/>
              <p:cNvSpPr/>
              <p:nvPr/>
            </p:nvSpPr>
            <p:spPr>
              <a:xfrm>
                <a:off x="8491537" y="3081337"/>
                <a:ext cx="47625" cy="47625"/>
              </a:xfrm>
              <a:custGeom>
                <a:avLst/>
                <a:gdLst/>
                <a:ahLst/>
                <a:cxnLst/>
                <a:rect l="l" t="t" r="r" b="b"/>
                <a:pathLst>
                  <a:path w="47625" h="47625">
                    <a:moveTo>
                      <a:pt x="0" y="47625"/>
                    </a:moveTo>
                    <a:lnTo>
                      <a:pt x="47625" y="0"/>
                    </a:lnTo>
                  </a:path>
                </a:pathLst>
              </a:custGeom>
              <a:noFill/>
              <a:ln w="15875">
                <a:solidFill>
                  <a:srgbClr val="A52D12"/>
                </a:solidFill>
              </a:ln>
            </p:spPr>
          </p:sp>
          <p:sp>
            <p:nvSpPr>
              <p:cNvPr id="165" name="Freeform 165"/>
              <p:cNvSpPr/>
              <p:nvPr/>
            </p:nvSpPr>
            <p:spPr>
              <a:xfrm>
                <a:off x="8507412" y="3037772"/>
                <a:ext cx="75304" cy="75316"/>
              </a:xfrm>
              <a:custGeom>
                <a:avLst/>
                <a:gdLst/>
                <a:ahLst/>
                <a:cxnLst/>
                <a:rect l="l" t="t" r="r" b="b"/>
                <a:pathLst>
                  <a:path w="75304" h="75316">
                    <a:moveTo>
                      <a:pt x="0" y="19753"/>
                    </a:moveTo>
                    <a:lnTo>
                      <a:pt x="3675" y="15499"/>
                    </a:lnTo>
                    <a:cubicBezTo>
                      <a:pt x="19176" y="0"/>
                      <a:pt x="44306" y="2"/>
                      <a:pt x="59805" y="15503"/>
                    </a:cubicBezTo>
                    <a:cubicBezTo>
                      <a:pt x="75304" y="31004"/>
                      <a:pt x="75302" y="56134"/>
                      <a:pt x="59801" y="71633"/>
                    </a:cubicBezTo>
                    <a:lnTo>
                      <a:pt x="55562" y="75316"/>
                    </a:lnTo>
                  </a:path>
                </a:pathLst>
              </a:custGeom>
              <a:noFill/>
              <a:ln w="15875">
                <a:solidFill>
                  <a:srgbClr val="A52D12"/>
                </a:solidFill>
              </a:ln>
            </p:spPr>
          </p:sp>
          <p:sp>
            <p:nvSpPr>
              <p:cNvPr id="166" name="Freeform 166"/>
              <p:cNvSpPr/>
              <p:nvPr/>
            </p:nvSpPr>
            <p:spPr>
              <a:xfrm>
                <a:off x="8451849" y="3097212"/>
                <a:ext cx="71439" cy="75299"/>
              </a:xfrm>
              <a:custGeom>
                <a:avLst/>
                <a:gdLst/>
                <a:ahLst/>
                <a:cxnLst/>
                <a:rect l="l" t="t" r="r" b="b"/>
                <a:pathLst>
                  <a:path w="71439" h="75299">
                    <a:moveTo>
                      <a:pt x="71439" y="55562"/>
                    </a:moveTo>
                    <a:lnTo>
                      <a:pt x="68287" y="59801"/>
                    </a:lnTo>
                    <a:cubicBezTo>
                      <a:pt x="52615" y="75299"/>
                      <a:pt x="27389" y="75299"/>
                      <a:pt x="11717" y="59801"/>
                    </a:cubicBezTo>
                    <a:cubicBezTo>
                      <a:pt x="4219" y="52388"/>
                      <a:pt x="0" y="42282"/>
                      <a:pt x="0" y="31738"/>
                    </a:cubicBezTo>
                    <a:cubicBezTo>
                      <a:pt x="0" y="21194"/>
                      <a:pt x="4219" y="11089"/>
                      <a:pt x="11717" y="3675"/>
                    </a:cubicBezTo>
                    <a:lnTo>
                      <a:pt x="15876" y="0"/>
                    </a:lnTo>
                  </a:path>
                </a:pathLst>
              </a:custGeom>
              <a:noFill/>
              <a:ln w="15875">
                <a:solidFill>
                  <a:srgbClr val="A52D12"/>
                </a:solidFill>
              </a:ln>
            </p:spPr>
          </p:sp>
        </p:grpSp>
        <p:sp>
          <p:nvSpPr>
            <p:cNvPr id="168" name="TextBox 168"/>
            <p:cNvSpPr txBox="1"/>
            <p:nvPr/>
          </p:nvSpPr>
          <p:spPr>
            <a:xfrm>
              <a:off x="8681656" y="3053001"/>
              <a:ext cx="962050"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核心企业供应链</a:t>
              </a:r>
            </a:p>
          </p:txBody>
        </p:sp>
        <p:sp>
          <p:nvSpPr>
            <p:cNvPr id="169" name="TextBox 169"/>
            <p:cNvSpPr txBox="1"/>
            <p:nvPr/>
          </p:nvSpPr>
          <p:spPr>
            <a:xfrm>
              <a:off x="8415338" y="3305889"/>
              <a:ext cx="753974"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链式场景嵌入，</a:t>
              </a:r>
            </a:p>
          </p:txBody>
        </p:sp>
        <p:sp>
          <p:nvSpPr>
            <p:cNvPr id="170" name="TextBox 170"/>
            <p:cNvSpPr txBox="1"/>
            <p:nvPr/>
          </p:nvSpPr>
          <p:spPr>
            <a:xfrm>
              <a:off x="8415338" y="3458289"/>
              <a:ext cx="753974"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上下游协同赋能</a:t>
              </a:r>
            </a:p>
          </p:txBody>
        </p:sp>
        <p:pic>
          <p:nvPicPr>
            <p:cNvPr id="171" name="Image 171"/>
            <p:cNvPicPr>
              <a:picLocks noChangeAspect="1"/>
            </p:cNvPicPr>
            <p:nvPr/>
          </p:nvPicPr>
          <p:blipFill>
            <a:blip r:embed="rId3"/>
            <a:srcRect l="0" t="55" r="0" b="55"/>
            <a:stretch>
              <a:fillRect/>
            </a:stretch>
          </p:blipFill>
          <p:spPr>
            <a:xfrm>
              <a:off x="10515600" y="2971800"/>
              <a:ext cx="1143000" cy="542925"/>
            </a:xfrm>
            <a:prstGeom prst="rect">
              <a:avLst/>
            </a:prstGeom>
          </p:spPr>
        </p:pic>
        <p:sp>
          <p:nvSpPr>
            <p:cNvPr id="172" name="Rectangle 172"/>
            <p:cNvSpPr/>
            <p:nvPr/>
          </p:nvSpPr>
          <p:spPr>
            <a:xfrm>
              <a:off x="10515600" y="2971800"/>
              <a:ext cx="1143000" cy="542925"/>
            </a:xfrm>
            <a:prstGeom prst="rect">
              <a:avLst/>
            </a:prstGeom>
            <a:noFill/>
            <a:ln w="9525">
              <a:solidFill>
                <a:srgbClr val="EDD5D2"/>
              </a:solidFill>
            </a:ln>
          </p:spPr>
        </p:sp>
        <p:sp>
          <p:nvSpPr>
            <p:cNvPr id="173" name="Line 173"/>
            <p:cNvSpPr/>
            <p:nvPr/>
          </p:nvSpPr>
          <p:spPr>
            <a:xfrm>
              <a:off x="8420100" y="3790950"/>
              <a:ext cx="3238500" cy="9525"/>
            </a:xfrm>
            <a:custGeom>
              <a:avLst/>
              <a:gdLst/>
              <a:ahLst/>
              <a:cxnLst/>
              <a:rect l="l" t="t" r="r" b="b"/>
              <a:pathLst>
                <a:path w="3238500" h="9525">
                  <a:moveTo>
                    <a:pt x="0" y="0"/>
                  </a:moveTo>
                  <a:lnTo>
                    <a:pt x="3238500" y="0"/>
                  </a:lnTo>
                </a:path>
              </a:pathLst>
            </a:custGeom>
            <a:noFill/>
            <a:ln w="9525">
              <a:solidFill>
                <a:srgbClr val="EDD5D2"/>
              </a:solidFill>
            </a:ln>
          </p:spPr>
        </p:sp>
        <p:grpSp>
          <p:nvGrpSpPr>
            <p:cNvPr id="177" name="Group 177"/>
            <p:cNvGrpSpPr/>
            <p:nvPr/>
          </p:nvGrpSpPr>
          <p:grpSpPr>
            <a:xfrm>
              <a:off x="8443912" y="3986212"/>
              <a:ext cx="142875" cy="142875"/>
              <a:chOff x="8443912" y="3986212"/>
              <a:chExt cx="142875" cy="142875"/>
            </a:xfrm>
          </p:grpSpPr>
          <p:sp>
            <p:nvSpPr>
              <p:cNvPr id="174" name="Freeform 174"/>
              <p:cNvSpPr/>
              <p:nvPr/>
            </p:nvSpPr>
            <p:spPr>
              <a:xfrm>
                <a:off x="8443912" y="3986212"/>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A52D12"/>
                </a:solidFill>
              </a:ln>
            </p:spPr>
          </p:sp>
          <p:sp>
            <p:nvSpPr>
              <p:cNvPr id="175" name="Freeform 175"/>
              <p:cNvSpPr/>
              <p:nvPr/>
            </p:nvSpPr>
            <p:spPr>
              <a:xfrm>
                <a:off x="8459787" y="4057650"/>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A52D12"/>
                </a:solidFill>
              </a:ln>
            </p:spPr>
          </p:sp>
          <p:sp>
            <p:nvSpPr>
              <p:cNvPr id="176" name="Freeform 176"/>
              <p:cNvSpPr/>
              <p:nvPr/>
            </p:nvSpPr>
            <p:spPr>
              <a:xfrm>
                <a:off x="8491537" y="4065587"/>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A52D12"/>
                </a:solidFill>
              </a:ln>
            </p:spPr>
          </p:sp>
        </p:grpSp>
        <p:sp>
          <p:nvSpPr>
            <p:cNvPr id="178" name="TextBox 178"/>
            <p:cNvSpPr txBox="1"/>
            <p:nvPr/>
          </p:nvSpPr>
          <p:spPr>
            <a:xfrm>
              <a:off x="8681656" y="4005501"/>
              <a:ext cx="826084"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县域特色产业</a:t>
              </a:r>
            </a:p>
          </p:txBody>
        </p:sp>
        <p:sp>
          <p:nvSpPr>
            <p:cNvPr id="179" name="TextBox 179"/>
            <p:cNvSpPr txBox="1"/>
            <p:nvPr/>
          </p:nvSpPr>
          <p:spPr>
            <a:xfrm>
              <a:off x="8415338" y="4258389"/>
              <a:ext cx="753974"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深耕特色产业，</a:t>
              </a:r>
            </a:p>
          </p:txBody>
        </p:sp>
        <p:sp>
          <p:nvSpPr>
            <p:cNvPr id="180" name="TextBox 180"/>
            <p:cNvSpPr txBox="1"/>
            <p:nvPr/>
          </p:nvSpPr>
          <p:spPr>
            <a:xfrm>
              <a:off x="8415338" y="4410789"/>
              <a:ext cx="647624"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助力乡村振兴</a:t>
              </a:r>
            </a:p>
          </p:txBody>
        </p:sp>
        <p:pic>
          <p:nvPicPr>
            <p:cNvPr id="181" name="Image 181"/>
            <p:cNvPicPr>
              <a:picLocks noChangeAspect="1"/>
            </p:cNvPicPr>
            <p:nvPr/>
          </p:nvPicPr>
          <p:blipFill>
            <a:blip r:embed="rId4"/>
            <a:srcRect l="413" t="0" r="413" b="0"/>
            <a:stretch>
              <a:fillRect/>
            </a:stretch>
          </p:blipFill>
          <p:spPr>
            <a:xfrm>
              <a:off x="10515600" y="3924300"/>
              <a:ext cx="1143000" cy="419100"/>
            </a:xfrm>
            <a:prstGeom prst="rect">
              <a:avLst/>
            </a:prstGeom>
          </p:spPr>
        </p:pic>
        <p:sp>
          <p:nvSpPr>
            <p:cNvPr id="182" name="Rectangle 182"/>
            <p:cNvSpPr/>
            <p:nvPr/>
          </p:nvSpPr>
          <p:spPr>
            <a:xfrm>
              <a:off x="10515600" y="3924300"/>
              <a:ext cx="1143000" cy="419100"/>
            </a:xfrm>
            <a:prstGeom prst="rect">
              <a:avLst/>
            </a:prstGeom>
            <a:noFill/>
            <a:ln w="9525">
              <a:solidFill>
                <a:srgbClr val="EDD5D2"/>
              </a:solidFill>
            </a:ln>
          </p:spPr>
        </p:sp>
      </p:grpSp>
      <p:grpSp>
        <p:nvGrpSpPr>
          <p:cNvPr id="216" name="bottom-points"/>
          <p:cNvGrpSpPr/>
          <p:nvPr/>
        </p:nvGrpSpPr>
        <p:grpSpPr>
          <a:xfrm>
            <a:off x="381000" y="5257800"/>
            <a:ext cx="11430000" cy="1181100"/>
            <a:chOff x="381000" y="5257800"/>
            <a:chExt cx="11430000" cy="1181100"/>
          </a:xfrm>
        </p:grpSpPr>
        <p:sp>
          <p:nvSpPr>
            <p:cNvPr id="184" name="Rectangle 184"/>
            <p:cNvSpPr/>
            <p:nvPr/>
          </p:nvSpPr>
          <p:spPr>
            <a:xfrm>
              <a:off x="381000" y="5257800"/>
              <a:ext cx="11430000" cy="1181100"/>
            </a:xfrm>
            <a:prstGeom prst="roundRect">
              <a:avLst>
                <a:gd name="adj" fmla="val 8065"/>
              </a:avLst>
            </a:prstGeom>
            <a:solidFill>
              <a:srgbClr val="FBEFEE"/>
            </a:solidFill>
            <a:ln w="9525">
              <a:solidFill>
                <a:srgbClr val="EDD5D2"/>
              </a:solidFill>
            </a:ln>
          </p:spPr>
        </p:sp>
        <p:sp>
          <p:nvSpPr>
            <p:cNvPr id="185" name="Ellipse 185"/>
            <p:cNvSpPr/>
            <p:nvPr/>
          </p:nvSpPr>
          <p:spPr>
            <a:xfrm>
              <a:off x="685800" y="5619750"/>
              <a:ext cx="457200" cy="457200"/>
            </a:xfrm>
            <a:prstGeom prst="ellipse">
              <a:avLst/>
            </a:prstGeom>
            <a:solidFill>
              <a:srgbClr val="A52D12"/>
            </a:solidFill>
            <a:ln>
              <a:noFill/>
            </a:ln>
          </p:spPr>
        </p:sp>
        <p:grpSp>
          <p:nvGrpSpPr>
            <p:cNvPr id="188" name="Group 188"/>
            <p:cNvGrpSpPr/>
            <p:nvPr/>
          </p:nvGrpSpPr>
          <p:grpSpPr>
            <a:xfrm>
              <a:off x="814388" y="5792788"/>
              <a:ext cx="200026" cy="111125"/>
              <a:chOff x="814388" y="5792788"/>
              <a:chExt cx="200026" cy="111125"/>
            </a:xfrm>
          </p:grpSpPr>
          <p:sp>
            <p:nvSpPr>
              <p:cNvPr id="186" name="Freeform 186"/>
              <p:cNvSpPr/>
              <p:nvPr/>
            </p:nvSpPr>
            <p:spPr>
              <a:xfrm>
                <a:off x="814388" y="579278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FFFFFF"/>
                </a:solidFill>
              </a:ln>
            </p:spPr>
          </p:sp>
          <p:sp>
            <p:nvSpPr>
              <p:cNvPr id="187" name="Freeform 187"/>
              <p:cNvSpPr/>
              <p:nvPr/>
            </p:nvSpPr>
            <p:spPr>
              <a:xfrm>
                <a:off x="936625" y="5792788"/>
                <a:ext cx="77788" cy="77788"/>
              </a:xfrm>
              <a:custGeom>
                <a:avLst/>
                <a:gdLst/>
                <a:ahLst/>
                <a:cxnLst/>
                <a:rect l="l" t="t" r="r" b="b"/>
                <a:pathLst>
                  <a:path w="77788" h="77788">
                    <a:moveTo>
                      <a:pt x="0" y="0"/>
                    </a:moveTo>
                    <a:lnTo>
                      <a:pt x="77788" y="0"/>
                    </a:lnTo>
                    <a:lnTo>
                      <a:pt x="77788" y="77788"/>
                    </a:lnTo>
                  </a:path>
                </a:pathLst>
              </a:custGeom>
              <a:noFill/>
              <a:ln w="22225">
                <a:solidFill>
                  <a:srgbClr val="FFFFFF"/>
                </a:solidFill>
              </a:ln>
            </p:spPr>
          </p:sp>
        </p:grpSp>
        <p:sp>
          <p:nvSpPr>
            <p:cNvPr id="189" name="TextBox 189"/>
            <p:cNvSpPr txBox="1"/>
            <p:nvPr/>
          </p:nvSpPr>
          <p:spPr>
            <a:xfrm>
              <a:off x="1289875" y="5635704"/>
              <a:ext cx="597992" cy="212693"/>
            </a:xfrm>
            <a:prstGeom prst="rect">
              <a:avLst/>
            </a:prstGeom>
            <a:noFill/>
            <a:ln>
              <a:noFill/>
            </a:ln>
          </p:spPr>
          <p:txBody>
            <a:bodyPr wrap="none" lIns="0" tIns="0" rIns="0" bIns="0" anchor="t" anchorCtr="0">
              <a:spAutoFit/>
            </a:bodyPr>
            <a:lstStyle/>
            <a:p>
              <a:pPr algn="l"/>
              <a:r>
                <a:rPr lang="zh-CN" sz="1090" b="1" dirty="0">
                  <a:solidFill>
                    <a:srgbClr val="A52D12"/>
                  </a:solidFill>
                  <a:latin typeface="+mn-lt"/>
                  <a:ea typeface="+mn-ea"/>
                  <a:cs typeface="+mn-cs"/>
                </a:rPr>
                <a:t>两增两控</a:t>
              </a:r>
            </a:p>
          </p:txBody>
        </p:sp>
        <p:sp>
          <p:nvSpPr>
            <p:cNvPr id="190" name="TextBox 190"/>
            <p:cNvSpPr txBox="1"/>
            <p:nvPr/>
          </p:nvSpPr>
          <p:spPr>
            <a:xfrm>
              <a:off x="1290638" y="5877639"/>
              <a:ext cx="81216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555555"/>
                  </a:solidFill>
                  <a:latin typeface="+mn-lt"/>
                  <a:ea typeface="+mn-ea"/>
                  <a:cs typeface="+mn-cs"/>
                </a:rPr>
                <a:t>增客户、增余额，</a:t>
              </a:r>
              <a:br/>
              <a:r>
                <a:rPr lang="zh-CN" sz="790" dirty="0">
                  <a:solidFill>
                    <a:srgbClr val="555555"/>
                  </a:solidFill>
                  <a:latin typeface="+mn-lt"/>
                  <a:ea typeface="+mn-ea"/>
                  <a:cs typeface="+mn-cs"/>
                </a:rPr>
                <a:t>控风险、控成本</a:t>
              </a:r>
            </a:p>
          </p:txBody>
        </p:sp>
        <p:sp>
          <p:nvSpPr>
            <p:cNvPr id="191" name="Line 191"/>
            <p:cNvSpPr/>
            <p:nvPr/>
          </p:nvSpPr>
          <p:spPr>
            <a:xfrm>
              <a:off x="3143250" y="5448300"/>
              <a:ext cx="9525" cy="800100"/>
            </a:xfrm>
            <a:custGeom>
              <a:avLst/>
              <a:gdLst/>
              <a:ahLst/>
              <a:cxnLst/>
              <a:rect l="l" t="t" r="r" b="b"/>
              <a:pathLst>
                <a:path w="9525" h="800100">
                  <a:moveTo>
                    <a:pt x="0" y="0"/>
                  </a:moveTo>
                  <a:lnTo>
                    <a:pt x="0" y="800100"/>
                  </a:lnTo>
                </a:path>
              </a:pathLst>
            </a:custGeom>
            <a:noFill/>
            <a:ln w="9525">
              <a:solidFill>
                <a:srgbClr val="EDD5D2"/>
              </a:solidFill>
            </a:ln>
          </p:spPr>
        </p:sp>
        <p:sp>
          <p:nvSpPr>
            <p:cNvPr id="192" name="Ellipse 192"/>
            <p:cNvSpPr/>
            <p:nvPr/>
          </p:nvSpPr>
          <p:spPr>
            <a:xfrm>
              <a:off x="3486150" y="5619750"/>
              <a:ext cx="457200" cy="457200"/>
            </a:xfrm>
            <a:prstGeom prst="ellipse">
              <a:avLst/>
            </a:prstGeom>
            <a:solidFill>
              <a:srgbClr val="A52D12"/>
            </a:solidFill>
            <a:ln>
              <a:noFill/>
            </a:ln>
          </p:spPr>
        </p:sp>
        <p:grpSp>
          <p:nvGrpSpPr>
            <p:cNvPr id="199" name="Group 199"/>
            <p:cNvGrpSpPr/>
            <p:nvPr/>
          </p:nvGrpSpPr>
          <p:grpSpPr>
            <a:xfrm>
              <a:off x="3614738" y="5748338"/>
              <a:ext cx="200025" cy="200026"/>
              <a:chOff x="3614738" y="5748338"/>
              <a:chExt cx="200025" cy="200026"/>
            </a:xfrm>
          </p:grpSpPr>
          <p:sp>
            <p:nvSpPr>
              <p:cNvPr id="193" name="Freeform 193"/>
              <p:cNvSpPr/>
              <p:nvPr/>
            </p:nvSpPr>
            <p:spPr>
              <a:xfrm>
                <a:off x="3692525" y="58372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194" name="Freeform 194"/>
              <p:cNvSpPr/>
              <p:nvPr/>
            </p:nvSpPr>
            <p:spPr>
              <a:xfrm>
                <a:off x="3670300" y="591502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FFFFFF"/>
                </a:solidFill>
              </a:ln>
            </p:spPr>
          </p:sp>
          <p:sp>
            <p:nvSpPr>
              <p:cNvPr id="195" name="Freeform 195"/>
              <p:cNvSpPr/>
              <p:nvPr/>
            </p:nvSpPr>
            <p:spPr>
              <a:xfrm>
                <a:off x="3748088" y="57483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196" name="Freeform 196"/>
              <p:cNvSpPr/>
              <p:nvPr/>
            </p:nvSpPr>
            <p:spPr>
              <a:xfrm>
                <a:off x="3770313" y="582612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FFFFFF"/>
                </a:solidFill>
              </a:ln>
            </p:spPr>
          </p:sp>
          <p:sp>
            <p:nvSpPr>
              <p:cNvPr id="197" name="Freeform 197"/>
              <p:cNvSpPr/>
              <p:nvPr/>
            </p:nvSpPr>
            <p:spPr>
              <a:xfrm>
                <a:off x="3636963" y="57483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198" name="Freeform 198"/>
              <p:cNvSpPr/>
              <p:nvPr/>
            </p:nvSpPr>
            <p:spPr>
              <a:xfrm>
                <a:off x="3614738" y="582612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FFFFFF"/>
                </a:solidFill>
              </a:ln>
            </p:spPr>
          </p:sp>
        </p:grpSp>
        <p:sp>
          <p:nvSpPr>
            <p:cNvPr id="200" name="TextBox 200"/>
            <p:cNvSpPr txBox="1"/>
            <p:nvPr/>
          </p:nvSpPr>
          <p:spPr>
            <a:xfrm>
              <a:off x="4090226" y="5635704"/>
              <a:ext cx="597992" cy="212693"/>
            </a:xfrm>
            <a:prstGeom prst="rect">
              <a:avLst/>
            </a:prstGeom>
            <a:noFill/>
            <a:ln>
              <a:noFill/>
            </a:ln>
          </p:spPr>
          <p:txBody>
            <a:bodyPr wrap="none" lIns="0" tIns="0" rIns="0" bIns="0" anchor="t" anchorCtr="0">
              <a:spAutoFit/>
            </a:bodyPr>
            <a:lstStyle/>
            <a:p>
              <a:pPr algn="l"/>
              <a:r>
                <a:rPr lang="zh-CN" sz="1090" b="1" dirty="0">
                  <a:solidFill>
                    <a:srgbClr val="A52D12"/>
                  </a:solidFill>
                  <a:latin typeface="+mn-lt"/>
                  <a:ea typeface="+mn-ea"/>
                  <a:cs typeface="+mn-cs"/>
                </a:rPr>
                <a:t>扩面增量</a:t>
              </a:r>
            </a:p>
          </p:txBody>
        </p:sp>
        <p:sp>
          <p:nvSpPr>
            <p:cNvPr id="201" name="TextBox 201"/>
            <p:cNvSpPr txBox="1"/>
            <p:nvPr/>
          </p:nvSpPr>
          <p:spPr>
            <a:xfrm>
              <a:off x="4090988" y="5877639"/>
              <a:ext cx="81216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555555"/>
                  </a:solidFill>
                  <a:latin typeface="+mn-lt"/>
                  <a:ea typeface="+mn-ea"/>
                  <a:cs typeface="+mn-cs"/>
                </a:rPr>
                <a:t>扩大服务覆盖面，</a:t>
              </a:r>
              <a:br/>
              <a:r>
                <a:rPr lang="zh-CN" sz="790" dirty="0">
                  <a:solidFill>
                    <a:srgbClr val="555555"/>
                  </a:solidFill>
                  <a:latin typeface="+mn-lt"/>
                  <a:ea typeface="+mn-ea"/>
                  <a:cs typeface="+mn-cs"/>
                </a:rPr>
                <a:t>提升有效增量</a:t>
              </a:r>
            </a:p>
          </p:txBody>
        </p:sp>
        <p:sp>
          <p:nvSpPr>
            <p:cNvPr id="202" name="Line 202"/>
            <p:cNvSpPr/>
            <p:nvPr/>
          </p:nvSpPr>
          <p:spPr>
            <a:xfrm>
              <a:off x="5905500" y="5448300"/>
              <a:ext cx="9525" cy="800100"/>
            </a:xfrm>
            <a:custGeom>
              <a:avLst/>
              <a:gdLst/>
              <a:ahLst/>
              <a:cxnLst/>
              <a:rect l="l" t="t" r="r" b="b"/>
              <a:pathLst>
                <a:path w="9525" h="800100">
                  <a:moveTo>
                    <a:pt x="0" y="0"/>
                  </a:moveTo>
                  <a:lnTo>
                    <a:pt x="0" y="800100"/>
                  </a:lnTo>
                </a:path>
              </a:pathLst>
            </a:custGeom>
            <a:noFill/>
            <a:ln w="9525">
              <a:solidFill>
                <a:srgbClr val="EDD5D2"/>
              </a:solidFill>
            </a:ln>
          </p:spPr>
        </p:sp>
        <p:sp>
          <p:nvSpPr>
            <p:cNvPr id="203" name="Ellipse 203"/>
            <p:cNvSpPr/>
            <p:nvPr/>
          </p:nvSpPr>
          <p:spPr>
            <a:xfrm>
              <a:off x="6248400" y="5619750"/>
              <a:ext cx="457200" cy="457200"/>
            </a:xfrm>
            <a:prstGeom prst="ellipse">
              <a:avLst/>
            </a:prstGeom>
            <a:solidFill>
              <a:srgbClr val="A52D12"/>
            </a:solidFill>
            <a:ln>
              <a:noFill/>
            </a:ln>
          </p:spPr>
        </p:sp>
        <p:grpSp>
          <p:nvGrpSpPr>
            <p:cNvPr id="206" name="Group 206"/>
            <p:cNvGrpSpPr/>
            <p:nvPr/>
          </p:nvGrpSpPr>
          <p:grpSpPr>
            <a:xfrm>
              <a:off x="6372109" y="5743459"/>
              <a:ext cx="209782" cy="209782"/>
              <a:chOff x="6372109" y="5743459"/>
              <a:chExt cx="209782" cy="209782"/>
            </a:xfrm>
          </p:grpSpPr>
          <p:sp>
            <p:nvSpPr>
              <p:cNvPr id="204" name="Freeform 204"/>
              <p:cNvSpPr/>
              <p:nvPr/>
            </p:nvSpPr>
            <p:spPr>
              <a:xfrm>
                <a:off x="6372109" y="5743459"/>
                <a:ext cx="209782" cy="209782"/>
              </a:xfrm>
              <a:custGeom>
                <a:avLst/>
                <a:gdLst/>
                <a:ahLst/>
                <a:cxnLst/>
                <a:rect l="l" t="t" r="r" b="b"/>
                <a:pathLst>
                  <a:path w="209782" h="209782">
                    <a:moveTo>
                      <a:pt x="86278" y="19514"/>
                    </a:moveTo>
                    <a:cubicBezTo>
                      <a:pt x="91012" y="0"/>
                      <a:pt x="118771" y="0"/>
                      <a:pt x="123505" y="19514"/>
                    </a:cubicBezTo>
                    <a:cubicBezTo>
                      <a:pt x="124945" y="25459"/>
                      <a:pt x="129139" y="30360"/>
                      <a:pt x="134791" y="32701"/>
                    </a:cubicBezTo>
                    <a:cubicBezTo>
                      <a:pt x="140443" y="35043"/>
                      <a:pt x="146874" y="34544"/>
                      <a:pt x="152097" y="31360"/>
                    </a:cubicBezTo>
                    <a:cubicBezTo>
                      <a:pt x="169244" y="20914"/>
                      <a:pt x="188880" y="40539"/>
                      <a:pt x="178434" y="57696"/>
                    </a:cubicBezTo>
                    <a:cubicBezTo>
                      <a:pt x="175254" y="62918"/>
                      <a:pt x="174756" y="69343"/>
                      <a:pt x="177095" y="74992"/>
                    </a:cubicBezTo>
                    <a:cubicBezTo>
                      <a:pt x="179434" y="80640"/>
                      <a:pt x="184328" y="84833"/>
                      <a:pt x="190269" y="86278"/>
                    </a:cubicBezTo>
                    <a:cubicBezTo>
                      <a:pt x="209782" y="91012"/>
                      <a:pt x="209782" y="118771"/>
                      <a:pt x="190269" y="123505"/>
                    </a:cubicBezTo>
                    <a:cubicBezTo>
                      <a:pt x="184323" y="124945"/>
                      <a:pt x="179423" y="129139"/>
                      <a:pt x="177081" y="134791"/>
                    </a:cubicBezTo>
                    <a:cubicBezTo>
                      <a:pt x="174739" y="140443"/>
                      <a:pt x="175238" y="146874"/>
                      <a:pt x="178423" y="152097"/>
                    </a:cubicBezTo>
                    <a:cubicBezTo>
                      <a:pt x="188869" y="169244"/>
                      <a:pt x="169244" y="188880"/>
                      <a:pt x="152086" y="178434"/>
                    </a:cubicBezTo>
                    <a:cubicBezTo>
                      <a:pt x="146865" y="175254"/>
                      <a:pt x="140439" y="174756"/>
                      <a:pt x="134791" y="177095"/>
                    </a:cubicBezTo>
                    <a:cubicBezTo>
                      <a:pt x="129142" y="179434"/>
                      <a:pt x="124949" y="184328"/>
                      <a:pt x="123505" y="190269"/>
                    </a:cubicBezTo>
                    <a:cubicBezTo>
                      <a:pt x="118771" y="209782"/>
                      <a:pt x="91012" y="209782"/>
                      <a:pt x="86278" y="190269"/>
                    </a:cubicBezTo>
                    <a:cubicBezTo>
                      <a:pt x="84837" y="184323"/>
                      <a:pt x="80643" y="179423"/>
                      <a:pt x="74991" y="177081"/>
                    </a:cubicBezTo>
                    <a:cubicBezTo>
                      <a:pt x="69339" y="174739"/>
                      <a:pt x="62909" y="175238"/>
                      <a:pt x="57685" y="178423"/>
                    </a:cubicBezTo>
                    <a:cubicBezTo>
                      <a:pt x="40539" y="188869"/>
                      <a:pt x="20903" y="169244"/>
                      <a:pt x="31348" y="152086"/>
                    </a:cubicBezTo>
                    <a:cubicBezTo>
                      <a:pt x="34529" y="146865"/>
                      <a:pt x="35026" y="140439"/>
                      <a:pt x="32687" y="134791"/>
                    </a:cubicBezTo>
                    <a:cubicBezTo>
                      <a:pt x="30348" y="129142"/>
                      <a:pt x="25454" y="124949"/>
                      <a:pt x="19514" y="123505"/>
                    </a:cubicBezTo>
                    <a:cubicBezTo>
                      <a:pt x="0" y="118771"/>
                      <a:pt x="0" y="91012"/>
                      <a:pt x="19514" y="86278"/>
                    </a:cubicBezTo>
                    <a:cubicBezTo>
                      <a:pt x="25459" y="84837"/>
                      <a:pt x="30360" y="80643"/>
                      <a:pt x="32701" y="74991"/>
                    </a:cubicBezTo>
                    <a:cubicBezTo>
                      <a:pt x="35043" y="69339"/>
                      <a:pt x="34544" y="62909"/>
                      <a:pt x="31360" y="57685"/>
                    </a:cubicBezTo>
                    <a:cubicBezTo>
                      <a:pt x="20914" y="40539"/>
                      <a:pt x="40539" y="20903"/>
                      <a:pt x="57696" y="31348"/>
                    </a:cubicBezTo>
                    <a:cubicBezTo>
                      <a:pt x="68809" y="38105"/>
                      <a:pt x="83211" y="32126"/>
                      <a:pt x="86278" y="19514"/>
                    </a:cubicBezTo>
                  </a:path>
                </a:pathLst>
              </a:custGeom>
              <a:noFill/>
              <a:ln w="22225">
                <a:solidFill>
                  <a:srgbClr val="FFFFFF"/>
                </a:solidFill>
              </a:ln>
            </p:spPr>
          </p:sp>
          <p:sp>
            <p:nvSpPr>
              <p:cNvPr id="205" name="Freeform 205"/>
              <p:cNvSpPr/>
              <p:nvPr/>
            </p:nvSpPr>
            <p:spPr>
              <a:xfrm>
                <a:off x="6443663" y="5815013"/>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22225">
                <a:solidFill>
                  <a:srgbClr val="FFFFFF"/>
                </a:solidFill>
              </a:ln>
            </p:spPr>
          </p:sp>
        </p:grpSp>
        <p:sp>
          <p:nvSpPr>
            <p:cNvPr id="207" name="TextBox 207"/>
            <p:cNvSpPr txBox="1"/>
            <p:nvPr/>
          </p:nvSpPr>
          <p:spPr>
            <a:xfrm>
              <a:off x="6852476" y="5635704"/>
              <a:ext cx="597992" cy="212693"/>
            </a:xfrm>
            <a:prstGeom prst="rect">
              <a:avLst/>
            </a:prstGeom>
            <a:noFill/>
            <a:ln>
              <a:noFill/>
            </a:ln>
          </p:spPr>
          <p:txBody>
            <a:bodyPr wrap="none" lIns="0" tIns="0" rIns="0" bIns="0" anchor="t" anchorCtr="0">
              <a:spAutoFit/>
            </a:bodyPr>
            <a:lstStyle/>
            <a:p>
              <a:pPr algn="l"/>
              <a:r>
                <a:rPr lang="zh-CN" sz="1090" b="1" dirty="0">
                  <a:solidFill>
                    <a:srgbClr val="A52D12"/>
                  </a:solidFill>
                  <a:latin typeface="+mn-lt"/>
                  <a:ea typeface="+mn-ea"/>
                  <a:cs typeface="+mn-cs"/>
                </a:rPr>
                <a:t>降本提质</a:t>
              </a:r>
            </a:p>
          </p:txBody>
        </p:sp>
        <p:sp>
          <p:nvSpPr>
            <p:cNvPr id="208" name="TextBox 208"/>
            <p:cNvSpPr txBox="1"/>
            <p:nvPr/>
          </p:nvSpPr>
          <p:spPr>
            <a:xfrm>
              <a:off x="6853238" y="5877639"/>
              <a:ext cx="81216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555555"/>
                  </a:solidFill>
                  <a:latin typeface="+mn-lt"/>
                  <a:ea typeface="+mn-ea"/>
                  <a:cs typeface="+mn-cs"/>
                </a:rPr>
                <a:t>优化流程降成本，</a:t>
              </a:r>
              <a:br/>
              <a:r>
                <a:rPr lang="zh-CN" sz="790" dirty="0">
                  <a:solidFill>
                    <a:srgbClr val="555555"/>
                  </a:solidFill>
                  <a:latin typeface="+mn-lt"/>
                  <a:ea typeface="+mn-ea"/>
                  <a:cs typeface="+mn-cs"/>
                </a:rPr>
                <a:t>提升服务质效</a:t>
              </a:r>
            </a:p>
          </p:txBody>
        </p:sp>
        <p:sp>
          <p:nvSpPr>
            <p:cNvPr id="209" name="Line 209"/>
            <p:cNvSpPr/>
            <p:nvPr/>
          </p:nvSpPr>
          <p:spPr>
            <a:xfrm>
              <a:off x="8667750" y="5448300"/>
              <a:ext cx="9525" cy="800100"/>
            </a:xfrm>
            <a:custGeom>
              <a:avLst/>
              <a:gdLst/>
              <a:ahLst/>
              <a:cxnLst/>
              <a:rect l="l" t="t" r="r" b="b"/>
              <a:pathLst>
                <a:path w="9525" h="800100">
                  <a:moveTo>
                    <a:pt x="0" y="0"/>
                  </a:moveTo>
                  <a:lnTo>
                    <a:pt x="0" y="800100"/>
                  </a:lnTo>
                </a:path>
              </a:pathLst>
            </a:custGeom>
            <a:noFill/>
            <a:ln w="9525">
              <a:solidFill>
                <a:srgbClr val="EDD5D2"/>
              </a:solidFill>
            </a:ln>
          </p:spPr>
        </p:sp>
        <p:sp>
          <p:nvSpPr>
            <p:cNvPr id="210" name="Ellipse 210"/>
            <p:cNvSpPr/>
            <p:nvPr/>
          </p:nvSpPr>
          <p:spPr>
            <a:xfrm>
              <a:off x="9010650" y="5619750"/>
              <a:ext cx="457200" cy="457200"/>
            </a:xfrm>
            <a:prstGeom prst="ellipse">
              <a:avLst/>
            </a:prstGeom>
            <a:solidFill>
              <a:srgbClr val="A52D12"/>
            </a:solidFill>
            <a:ln>
              <a:noFill/>
            </a:ln>
          </p:spPr>
        </p:sp>
        <p:grpSp>
          <p:nvGrpSpPr>
            <p:cNvPr id="213" name="Group 213"/>
            <p:cNvGrpSpPr/>
            <p:nvPr/>
          </p:nvGrpSpPr>
          <p:grpSpPr>
            <a:xfrm>
              <a:off x="9124241" y="5748338"/>
              <a:ext cx="217008" cy="200025"/>
              <a:chOff x="9124241" y="5748338"/>
              <a:chExt cx="217008" cy="200025"/>
            </a:xfrm>
          </p:grpSpPr>
          <p:sp>
            <p:nvSpPr>
              <p:cNvPr id="211" name="Freeform 211"/>
              <p:cNvSpPr/>
              <p:nvPr/>
            </p:nvSpPr>
            <p:spPr>
              <a:xfrm>
                <a:off x="9124241" y="57483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FFFFFF"/>
                </a:solidFill>
              </a:ln>
            </p:spPr>
          </p:sp>
          <p:sp>
            <p:nvSpPr>
              <p:cNvPr id="212" name="Freeform 212"/>
              <p:cNvSpPr/>
              <p:nvPr/>
            </p:nvSpPr>
            <p:spPr>
              <a:xfrm>
                <a:off x="9272588" y="5903913"/>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grpSp>
        <p:sp>
          <p:nvSpPr>
            <p:cNvPr id="214" name="TextBox 214"/>
            <p:cNvSpPr txBox="1"/>
            <p:nvPr/>
          </p:nvSpPr>
          <p:spPr>
            <a:xfrm>
              <a:off x="9614726" y="5635704"/>
              <a:ext cx="597992" cy="212693"/>
            </a:xfrm>
            <a:prstGeom prst="rect">
              <a:avLst/>
            </a:prstGeom>
            <a:noFill/>
            <a:ln>
              <a:noFill/>
            </a:ln>
          </p:spPr>
          <p:txBody>
            <a:bodyPr wrap="none" lIns="0" tIns="0" rIns="0" bIns="0" anchor="t" anchorCtr="0">
              <a:spAutoFit/>
            </a:bodyPr>
            <a:lstStyle/>
            <a:p>
              <a:pPr algn="l"/>
              <a:r>
                <a:rPr lang="zh-CN" sz="1090" b="1" dirty="0">
                  <a:solidFill>
                    <a:srgbClr val="A52D12"/>
                  </a:solidFill>
                  <a:latin typeface="+mn-lt"/>
                  <a:ea typeface="+mn-ea"/>
                  <a:cs typeface="+mn-cs"/>
                </a:rPr>
                <a:t>风险可控</a:t>
              </a:r>
            </a:p>
          </p:txBody>
        </p:sp>
        <p:sp>
          <p:nvSpPr>
            <p:cNvPr id="215" name="TextBox 215"/>
            <p:cNvSpPr txBox="1"/>
            <p:nvPr/>
          </p:nvSpPr>
          <p:spPr>
            <a:xfrm>
              <a:off x="9615488" y="5877639"/>
              <a:ext cx="71183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555555"/>
                  </a:solidFill>
                  <a:latin typeface="+mn-lt"/>
                  <a:ea typeface="+mn-ea"/>
                  <a:cs typeface="+mn-cs"/>
                </a:rPr>
                <a:t>完善风控体系，</a:t>
              </a:r>
              <a:br/>
              <a:r>
                <a:rPr lang="zh-CN" sz="790" dirty="0">
                  <a:solidFill>
                    <a:srgbClr val="555555"/>
                  </a:solidFill>
                  <a:latin typeface="+mn-lt"/>
                  <a:ea typeface="+mn-ea"/>
                  <a:cs typeface="+mn-cs"/>
                </a:rPr>
                <a:t>确保稳健发展</a:t>
              </a:r>
            </a:p>
          </p:txBody>
        </p:sp>
      </p:gr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07​</a:t>
              </a:r>
            </a:p>
          </p:txBody>
        </p:sp>
        <p:sp>
          <p:nvSpPr>
            <p:cNvPr id="4" name="TextBox 4"/>
            <p:cNvSpPr txBox="1"/>
            <p:nvPr/>
          </p:nvSpPr>
          <p:spPr>
            <a:xfrm>
              <a:off x="942594" y="189548"/>
              <a:ext cx="6399276"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强化综合金融服务能力，</a:t>
              </a:r>
              <a:r>
                <a:rPr lang="zh-CN" sz="1950" b="1" dirty="0">
                  <a:solidFill>
                    <a:srgbClr val="A52D12"/>
                  </a:solidFill>
                  <a:latin typeface="SimSun"/>
                  <a:ea typeface="SimSun"/>
                  <a:cs typeface="SimSun"/>
                </a:rPr>
                <a:t>培育非息收入第二增长曲线</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16" name="data-strip"/>
          <p:cNvGrpSpPr/>
          <p:nvPr/>
        </p:nvGrpSpPr>
        <p:grpSpPr>
          <a:xfrm>
            <a:off x="381000" y="647700"/>
            <a:ext cx="11430000" cy="460057"/>
            <a:chOff x="381000" y="647700"/>
            <a:chExt cx="11430000" cy="460057"/>
          </a:xfrm>
        </p:grpSpPr>
        <p:sp>
          <p:nvSpPr>
            <p:cNvPr id="7" name="Rectangle 7"/>
            <p:cNvSpPr/>
            <p:nvPr/>
          </p:nvSpPr>
          <p:spPr>
            <a:xfrm>
              <a:off x="381000" y="647700"/>
              <a:ext cx="11430000" cy="457200"/>
            </a:xfrm>
            <a:prstGeom prst="roundRect">
              <a:avLst>
                <a:gd name="adj" fmla="val 12500"/>
              </a:avLst>
            </a:prstGeom>
            <a:solidFill>
              <a:srgbClr val="FBEFEE"/>
            </a:solidFill>
            <a:ln w="9525">
              <a:solidFill>
                <a:srgbClr val="EDD5D2"/>
              </a:solidFill>
            </a:ln>
          </p:spPr>
        </p:sp>
        <p:sp>
          <p:nvSpPr>
            <p:cNvPr id="8" name="Rectangle 8"/>
            <p:cNvSpPr/>
            <p:nvPr/>
          </p:nvSpPr>
          <p:spPr>
            <a:xfrm>
              <a:off x="495300" y="742950"/>
              <a:ext cx="266700" cy="266700"/>
            </a:xfrm>
            <a:prstGeom prst="roundRect">
              <a:avLst>
                <a:gd name="adj" fmla="val 21429"/>
              </a:avLst>
            </a:prstGeom>
            <a:solidFill>
              <a:srgbClr val="A52D12"/>
            </a:solidFill>
            <a:ln>
              <a:noFill/>
            </a:ln>
          </p:spPr>
        </p:sp>
        <p:grpSp>
          <p:nvGrpSpPr>
            <p:cNvPr id="13" name="Group 13"/>
            <p:cNvGrpSpPr/>
            <p:nvPr/>
          </p:nvGrpSpPr>
          <p:grpSpPr>
            <a:xfrm>
              <a:off x="571500" y="825500"/>
              <a:ext cx="114300" cy="111125"/>
              <a:chOff x="571500" y="825500"/>
              <a:chExt cx="114300" cy="111125"/>
            </a:xfrm>
          </p:grpSpPr>
          <p:sp>
            <p:nvSpPr>
              <p:cNvPr id="9" name="Freeform 9"/>
              <p:cNvSpPr/>
              <p:nvPr/>
            </p:nvSpPr>
            <p:spPr>
              <a:xfrm>
                <a:off x="571500" y="8763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FFFFFF"/>
                </a:solidFill>
              </a:ln>
            </p:spPr>
          </p:sp>
          <p:sp>
            <p:nvSpPr>
              <p:cNvPr id="10" name="Freeform 10"/>
              <p:cNvSpPr/>
              <p:nvPr/>
            </p:nvSpPr>
            <p:spPr>
              <a:xfrm>
                <a:off x="647700" y="8509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FFFFFF"/>
                </a:solidFill>
              </a:ln>
            </p:spPr>
          </p:sp>
          <p:sp>
            <p:nvSpPr>
              <p:cNvPr id="11" name="Freeform 11"/>
              <p:cNvSpPr/>
              <p:nvPr/>
            </p:nvSpPr>
            <p:spPr>
              <a:xfrm>
                <a:off x="609600" y="8255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FFFFFF"/>
                </a:solidFill>
              </a:ln>
            </p:spPr>
          </p:sp>
          <p:sp>
            <p:nvSpPr>
              <p:cNvPr id="12" name="Freeform 12"/>
              <p:cNvSpPr/>
              <p:nvPr/>
            </p:nvSpPr>
            <p:spPr>
              <a:xfrm>
                <a:off x="577850" y="927100"/>
                <a:ext cx="88900" cy="9525"/>
              </a:xfrm>
              <a:custGeom>
                <a:avLst/>
                <a:gdLst/>
                <a:ahLst/>
                <a:cxnLst/>
                <a:rect l="l" t="t" r="r" b="b"/>
                <a:pathLst>
                  <a:path w="88900" h="9525">
                    <a:moveTo>
                      <a:pt x="0" y="0"/>
                    </a:moveTo>
                    <a:lnTo>
                      <a:pt x="88900" y="0"/>
                    </a:lnTo>
                  </a:path>
                </a:pathLst>
              </a:custGeom>
              <a:noFill/>
              <a:ln w="12700">
                <a:solidFill>
                  <a:srgbClr val="FFFFFF"/>
                </a:solidFill>
              </a:ln>
            </p:spPr>
          </p:sp>
        </p:grpSp>
        <p:sp>
          <p:nvSpPr>
            <p:cNvPr id="14" name="TextBox 14"/>
            <p:cNvSpPr txBox="1"/>
            <p:nvPr/>
          </p:nvSpPr>
          <p:spPr>
            <a:xfrm>
              <a:off x="890588" y="741045"/>
              <a:ext cx="4415436"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金融市场资产规模</a:t>
              </a:r>
              <a:r>
                <a:rPr lang="zh-CN" sz="900" b="1" dirty="0">
                  <a:solidFill>
                    <a:srgbClr val="A52D12"/>
                  </a:solidFill>
                  <a:latin typeface="+mn-lt"/>
                  <a:ea typeface="+mn-ea"/>
                  <a:cs typeface="+mn-cs"/>
                </a:rPr>
                <a:t>2380亿元</a:t>
              </a:r>
              <a:r>
                <a:rPr lang="zh-CN" sz="900" dirty="0">
                  <a:solidFill>
                    <a:srgbClr val="3A3A3A"/>
                  </a:solidFill>
                  <a:latin typeface="+mn-lt"/>
                  <a:ea typeface="+mn-ea"/>
                  <a:cs typeface="+mn-cs"/>
                </a:rPr>
                <a:t>，较年初</a:t>
              </a:r>
              <a:r>
                <a:rPr lang="zh-CN" sz="900" b="1" dirty="0">
                  <a:solidFill>
                    <a:srgbClr val="A52D12"/>
                  </a:solidFill>
                  <a:latin typeface="+mn-lt"/>
                  <a:ea typeface="+mn-ea"/>
                  <a:cs typeface="+mn-cs"/>
                </a:rPr>
                <a:t>+7.9%</a:t>
              </a:r>
              <a:r>
                <a:rPr lang="zh-CN" sz="900" dirty="0">
                  <a:solidFill>
                    <a:srgbClr val="3A3A3A"/>
                  </a:solidFill>
                  <a:latin typeface="+mn-lt"/>
                  <a:ea typeface="+mn-ea"/>
                  <a:cs typeface="+mn-cs"/>
                </a:rPr>
                <a:t>；债券承销</a:t>
              </a:r>
              <a:r>
                <a:rPr lang="zh-CN" sz="900" b="1" dirty="0">
                  <a:solidFill>
                    <a:srgbClr val="A52D12"/>
                  </a:solidFill>
                  <a:latin typeface="+mn-lt"/>
                  <a:ea typeface="+mn-ea"/>
                  <a:cs typeface="+mn-cs"/>
                </a:rPr>
                <a:t>610亿元</a:t>
              </a:r>
              <a:r>
                <a:rPr lang="zh-CN" sz="900" dirty="0">
                  <a:solidFill>
                    <a:srgbClr val="3A3A3A"/>
                  </a:solidFill>
                  <a:latin typeface="+mn-lt"/>
                  <a:ea typeface="+mn-ea"/>
                  <a:cs typeface="+mn-cs"/>
                </a:rPr>
                <a:t>，同比</a:t>
              </a:r>
              <a:r>
                <a:rPr lang="zh-CN" sz="900" b="1" dirty="0">
                  <a:solidFill>
                    <a:srgbClr val="A52D12"/>
                  </a:solidFill>
                  <a:latin typeface="+mn-lt"/>
                  <a:ea typeface="+mn-ea"/>
                  <a:cs typeface="+mn-cs"/>
                </a:rPr>
                <a:t>+16.5%</a:t>
              </a:r>
              <a:r>
                <a:rPr lang="zh-CN" sz="900" dirty="0">
                  <a:solidFill>
                    <a:srgbClr val="3A3A3A"/>
                  </a:solidFill>
                  <a:latin typeface="+mn-lt"/>
                  <a:ea typeface="+mn-ea"/>
                  <a:cs typeface="+mn-cs"/>
                </a:rPr>
                <a:t>；​</a:t>
              </a:r>
            </a:p>
          </p:txBody>
        </p:sp>
        <p:sp>
          <p:nvSpPr>
            <p:cNvPr id="15" name="TextBox 15"/>
            <p:cNvSpPr txBox="1"/>
            <p:nvPr/>
          </p:nvSpPr>
          <p:spPr>
            <a:xfrm>
              <a:off x="890588" y="931545"/>
              <a:ext cx="4000772"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托管规模</a:t>
              </a:r>
              <a:r>
                <a:rPr lang="zh-CN" sz="900" b="1" dirty="0">
                  <a:solidFill>
                    <a:srgbClr val="A52D12"/>
                  </a:solidFill>
                  <a:latin typeface="+mn-lt"/>
                  <a:ea typeface="+mn-ea"/>
                  <a:cs typeface="+mn-cs"/>
                </a:rPr>
                <a:t>3250亿元</a:t>
              </a:r>
              <a:r>
                <a:rPr lang="zh-CN" sz="900" dirty="0">
                  <a:solidFill>
                    <a:srgbClr val="3A3A3A"/>
                  </a:solidFill>
                  <a:latin typeface="+mn-lt"/>
                  <a:ea typeface="+mn-ea"/>
                  <a:cs typeface="+mn-cs"/>
                </a:rPr>
                <a:t>，较年初</a:t>
              </a:r>
              <a:r>
                <a:rPr lang="zh-CN" sz="900" b="1" dirty="0">
                  <a:solidFill>
                    <a:srgbClr val="A52D12"/>
                  </a:solidFill>
                  <a:latin typeface="+mn-lt"/>
                  <a:ea typeface="+mn-ea"/>
                  <a:cs typeface="+mn-cs"/>
                </a:rPr>
                <a:t>+10.8%</a:t>
              </a:r>
              <a:r>
                <a:rPr lang="zh-CN" sz="900" dirty="0">
                  <a:solidFill>
                    <a:srgbClr val="3A3A3A"/>
                  </a:solidFill>
                  <a:latin typeface="+mn-lt"/>
                  <a:ea typeface="+mn-ea"/>
                  <a:cs typeface="+mn-cs"/>
                </a:rPr>
                <a:t>；投行中收</a:t>
              </a:r>
              <a:r>
                <a:rPr lang="zh-CN" sz="900" b="1" dirty="0">
                  <a:solidFill>
                    <a:srgbClr val="A52D12"/>
                  </a:solidFill>
                  <a:latin typeface="+mn-lt"/>
                  <a:ea typeface="+mn-ea"/>
                  <a:cs typeface="+mn-cs"/>
                </a:rPr>
                <a:t>9.6亿元</a:t>
              </a:r>
              <a:r>
                <a:rPr lang="zh-CN" sz="900" dirty="0">
                  <a:solidFill>
                    <a:srgbClr val="3A3A3A"/>
                  </a:solidFill>
                  <a:latin typeface="+mn-lt"/>
                  <a:ea typeface="+mn-ea"/>
                  <a:cs typeface="+mn-cs"/>
                </a:rPr>
                <a:t>，同比</a:t>
              </a:r>
              <a:r>
                <a:rPr lang="zh-CN" sz="900" b="1" dirty="0">
                  <a:solidFill>
                    <a:srgbClr val="A52D12"/>
                  </a:solidFill>
                  <a:latin typeface="+mn-lt"/>
                  <a:ea typeface="+mn-ea"/>
                  <a:cs typeface="+mn-cs"/>
                </a:rPr>
                <a:t>+14.3%</a:t>
              </a:r>
              <a:r>
                <a:rPr lang="zh-CN" sz="900" dirty="0">
                  <a:solidFill>
                    <a:srgbClr val="3A3A3A"/>
                  </a:solidFill>
                  <a:latin typeface="+mn-lt"/>
                  <a:ea typeface="+mn-ea"/>
                  <a:cs typeface="+mn-cs"/>
                </a:rPr>
                <a:t>。​</a:t>
              </a:r>
            </a:p>
          </p:txBody>
        </p:sp>
      </p:grpSp>
      <p:grpSp>
        <p:nvGrpSpPr>
          <p:cNvPr id="61" name="kpi-cards"/>
          <p:cNvGrpSpPr/>
          <p:nvPr/>
        </p:nvGrpSpPr>
        <p:grpSpPr>
          <a:xfrm>
            <a:off x="381000" y="1181100"/>
            <a:ext cx="11420475" cy="1200150"/>
            <a:chOff x="381000" y="1181100"/>
            <a:chExt cx="11420475" cy="1200150"/>
          </a:xfrm>
        </p:grpSpPr>
        <p:sp>
          <p:nvSpPr>
            <p:cNvPr id="17" name="Rectangle 17"/>
            <p:cNvSpPr/>
            <p:nvPr/>
          </p:nvSpPr>
          <p:spPr>
            <a:xfrm>
              <a:off x="381000" y="1181100"/>
              <a:ext cx="2762250" cy="1200150"/>
            </a:xfrm>
            <a:prstGeom prst="roundRect">
              <a:avLst>
                <a:gd name="adj" fmla="val 6349"/>
              </a:avLst>
            </a:prstGeom>
            <a:solidFill>
              <a:srgbClr val="FDF6F5"/>
            </a:solidFill>
            <a:ln w="9525">
              <a:solidFill>
                <a:srgbClr val="EDD5D2"/>
              </a:solidFill>
            </a:ln>
          </p:spPr>
        </p:sp>
        <p:sp>
          <p:nvSpPr>
            <p:cNvPr id="18" name="Ellipse 18"/>
            <p:cNvSpPr/>
            <p:nvPr/>
          </p:nvSpPr>
          <p:spPr>
            <a:xfrm>
              <a:off x="571500" y="1352550"/>
              <a:ext cx="304800" cy="304800"/>
            </a:xfrm>
            <a:prstGeom prst="ellipse">
              <a:avLst/>
            </a:prstGeom>
            <a:solidFill>
              <a:srgbClr val="F7E9E7"/>
            </a:solidFill>
            <a:ln>
              <a:noFill/>
            </a:ln>
          </p:spPr>
        </p:sp>
        <p:grpSp>
          <p:nvGrpSpPr>
            <p:cNvPr id="23" name="Group 23"/>
            <p:cNvGrpSpPr/>
            <p:nvPr/>
          </p:nvGrpSpPr>
          <p:grpSpPr>
            <a:xfrm>
              <a:off x="652462" y="1441450"/>
              <a:ext cx="142875" cy="136525"/>
              <a:chOff x="652462" y="1441450"/>
              <a:chExt cx="142875" cy="136525"/>
            </a:xfrm>
          </p:grpSpPr>
          <p:sp>
            <p:nvSpPr>
              <p:cNvPr id="19" name="Freeform 19"/>
              <p:cNvSpPr/>
              <p:nvPr/>
            </p:nvSpPr>
            <p:spPr>
              <a:xfrm>
                <a:off x="652462" y="15049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A52D12"/>
                </a:solidFill>
              </a:ln>
            </p:spPr>
          </p:sp>
          <p:sp>
            <p:nvSpPr>
              <p:cNvPr id="20" name="Freeform 20"/>
              <p:cNvSpPr/>
              <p:nvPr/>
            </p:nvSpPr>
            <p:spPr>
              <a:xfrm>
                <a:off x="747712" y="14732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A52D12"/>
                </a:solidFill>
              </a:ln>
            </p:spPr>
          </p:sp>
          <p:sp>
            <p:nvSpPr>
              <p:cNvPr id="21" name="Freeform 21"/>
              <p:cNvSpPr/>
              <p:nvPr/>
            </p:nvSpPr>
            <p:spPr>
              <a:xfrm>
                <a:off x="700087" y="14414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A52D12"/>
                </a:solidFill>
              </a:ln>
            </p:spPr>
          </p:sp>
          <p:sp>
            <p:nvSpPr>
              <p:cNvPr id="22" name="Freeform 22"/>
              <p:cNvSpPr/>
              <p:nvPr/>
            </p:nvSpPr>
            <p:spPr>
              <a:xfrm>
                <a:off x="660400" y="1568450"/>
                <a:ext cx="111125" cy="9525"/>
              </a:xfrm>
              <a:custGeom>
                <a:avLst/>
                <a:gdLst/>
                <a:ahLst/>
                <a:cxnLst/>
                <a:rect l="l" t="t" r="r" b="b"/>
                <a:pathLst>
                  <a:path w="111125" h="9525">
                    <a:moveTo>
                      <a:pt x="0" y="0"/>
                    </a:moveTo>
                    <a:lnTo>
                      <a:pt x="111125" y="0"/>
                    </a:lnTo>
                  </a:path>
                </a:pathLst>
              </a:custGeom>
              <a:noFill/>
              <a:ln w="15875">
                <a:solidFill>
                  <a:srgbClr val="A52D12"/>
                </a:solidFill>
              </a:ln>
            </p:spPr>
          </p:sp>
        </p:grpSp>
        <p:sp>
          <p:nvSpPr>
            <p:cNvPr id="24" name="TextBox 24"/>
            <p:cNvSpPr txBox="1"/>
            <p:nvPr/>
          </p:nvSpPr>
          <p:spPr>
            <a:xfrm>
              <a:off x="966788" y="1346597"/>
              <a:ext cx="1021867"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金融市场资产规模</a:t>
              </a:r>
            </a:p>
          </p:txBody>
        </p:sp>
        <p:sp>
          <p:nvSpPr>
            <p:cNvPr id="25" name="TextBox 25"/>
            <p:cNvSpPr txBox="1"/>
            <p:nvPr/>
          </p:nvSpPr>
          <p:spPr>
            <a:xfrm>
              <a:off x="962787" y="1547336"/>
              <a:ext cx="979830" cy="337376"/>
            </a:xfrm>
            <a:prstGeom prst="rect">
              <a:avLst/>
            </a:prstGeom>
            <a:noFill/>
            <a:ln>
              <a:noFill/>
            </a:ln>
          </p:spPr>
          <p:txBody>
            <a:bodyPr wrap="none" lIns="0" tIns="0" rIns="0" bIns="0" anchor="t" anchorCtr="0">
              <a:spAutoFit/>
            </a:bodyPr>
            <a:lstStyle/>
            <a:p>
              <a:pPr algn="l"/>
              <a:r>
                <a:rPr lang="zh-CN" sz="1720" b="1" dirty="0">
                  <a:solidFill>
                    <a:srgbClr val="A52D12"/>
                  </a:solidFill>
                  <a:latin typeface="+mn-lt"/>
                  <a:ea typeface="+mn-ea"/>
                  <a:cs typeface="+mn-cs"/>
                </a:rPr>
                <a:t xml:space="preserve">2380 </a:t>
              </a:r>
              <a:r>
                <a:rPr lang="zh-CN" sz="820" dirty="0">
                  <a:solidFill>
                    <a:srgbClr val="A52D12"/>
                  </a:solidFill>
                  <a:latin typeface="+mn-lt"/>
                  <a:ea typeface="+mn-ea"/>
                  <a:cs typeface="+mn-cs"/>
                </a:rPr>
                <a:t>亿元</a:t>
              </a:r>
              <a:r>
                <a:rPr lang="zh-CN" sz="1720" b="1" dirty="0">
                  <a:solidFill>
                    <a:srgbClr val="A52D12"/>
                  </a:solidFill>
                  <a:latin typeface="+mn-lt"/>
                  <a:ea typeface="+mn-ea"/>
                  <a:cs typeface="+mn-cs"/>
                </a:rPr>
                <a:t>​</a:t>
              </a:r>
            </a:p>
          </p:txBody>
        </p:sp>
        <p:sp>
          <p:nvSpPr>
            <p:cNvPr id="26" name="TextBox 26"/>
            <p:cNvSpPr txBox="1"/>
            <p:nvPr/>
          </p:nvSpPr>
          <p:spPr>
            <a:xfrm>
              <a:off x="623888" y="2078593"/>
              <a:ext cx="893087"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 xml:space="preserve">较年初 </a:t>
              </a:r>
              <a:r>
                <a:rPr lang="zh-CN" sz="1050" b="1" dirty="0">
                  <a:solidFill>
                    <a:srgbClr val="A52D12"/>
                  </a:solidFill>
                  <a:latin typeface="+mn-lt"/>
                  <a:ea typeface="+mn-ea"/>
                  <a:cs typeface="+mn-cs"/>
                </a:rPr>
                <a:t>+7.9%</a:t>
              </a:r>
              <a:r>
                <a:rPr lang="zh-CN" sz="860" dirty="0">
                  <a:solidFill>
                    <a:srgbClr val="6B6B6B"/>
                  </a:solidFill>
                  <a:latin typeface="+mn-lt"/>
                  <a:ea typeface="+mn-ea"/>
                  <a:cs typeface="+mn-cs"/>
                </a:rPr>
                <a:t>​</a:t>
              </a:r>
            </a:p>
          </p:txBody>
        </p:sp>
        <p:sp>
          <p:nvSpPr>
            <p:cNvPr id="27" name="Rectangle 27"/>
            <p:cNvSpPr/>
            <p:nvPr/>
          </p:nvSpPr>
          <p:spPr>
            <a:xfrm>
              <a:off x="3267075" y="1181100"/>
              <a:ext cx="2762250" cy="1200150"/>
            </a:xfrm>
            <a:prstGeom prst="roundRect">
              <a:avLst>
                <a:gd name="adj" fmla="val 6349"/>
              </a:avLst>
            </a:prstGeom>
            <a:solidFill>
              <a:srgbClr val="FDF6F5"/>
            </a:solidFill>
            <a:ln w="9525">
              <a:solidFill>
                <a:srgbClr val="EDD5D2"/>
              </a:solidFill>
            </a:ln>
          </p:spPr>
        </p:sp>
        <p:sp>
          <p:nvSpPr>
            <p:cNvPr id="28" name="Ellipse 28"/>
            <p:cNvSpPr/>
            <p:nvPr/>
          </p:nvSpPr>
          <p:spPr>
            <a:xfrm>
              <a:off x="3457575" y="1352550"/>
              <a:ext cx="304800" cy="304800"/>
            </a:xfrm>
            <a:prstGeom prst="ellipse">
              <a:avLst/>
            </a:prstGeom>
            <a:solidFill>
              <a:srgbClr val="F7E9E7"/>
            </a:solidFill>
            <a:ln>
              <a:noFill/>
            </a:ln>
          </p:spPr>
        </p:sp>
        <p:grpSp>
          <p:nvGrpSpPr>
            <p:cNvPr id="34" name="Group 34"/>
            <p:cNvGrpSpPr/>
            <p:nvPr/>
          </p:nvGrpSpPr>
          <p:grpSpPr>
            <a:xfrm>
              <a:off x="3554412" y="1433512"/>
              <a:ext cx="111125" cy="142875"/>
              <a:chOff x="3554412" y="1433512"/>
              <a:chExt cx="111125" cy="142875"/>
            </a:xfrm>
          </p:grpSpPr>
          <p:sp>
            <p:nvSpPr>
              <p:cNvPr id="29" name="Freeform 29"/>
              <p:cNvSpPr/>
              <p:nvPr/>
            </p:nvSpPr>
            <p:spPr>
              <a:xfrm>
                <a:off x="3625850" y="14335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A52D12"/>
                </a:solidFill>
              </a:ln>
            </p:spPr>
          </p:sp>
          <p:sp>
            <p:nvSpPr>
              <p:cNvPr id="30" name="Freeform 30"/>
              <p:cNvSpPr/>
              <p:nvPr/>
            </p:nvSpPr>
            <p:spPr>
              <a:xfrm>
                <a:off x="3554412" y="14335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A52D12"/>
                </a:solidFill>
              </a:ln>
            </p:spPr>
          </p:sp>
          <p:sp>
            <p:nvSpPr>
              <p:cNvPr id="31" name="Freeform 31"/>
              <p:cNvSpPr/>
              <p:nvPr/>
            </p:nvSpPr>
            <p:spPr>
              <a:xfrm>
                <a:off x="3586162" y="1481137"/>
                <a:ext cx="9525" cy="9525"/>
              </a:xfrm>
              <a:custGeom>
                <a:avLst/>
                <a:gdLst/>
                <a:ahLst/>
                <a:cxnLst/>
                <a:rect l="l" t="t" r="r" b="b"/>
                <a:pathLst>
                  <a:path w="9525" h="9525">
                    <a:moveTo>
                      <a:pt x="0" y="0"/>
                    </a:moveTo>
                    <a:lnTo>
                      <a:pt x="7937" y="0"/>
                    </a:lnTo>
                  </a:path>
                </a:pathLst>
              </a:custGeom>
              <a:noFill/>
              <a:ln w="15875">
                <a:solidFill>
                  <a:srgbClr val="A52D12"/>
                </a:solidFill>
              </a:ln>
            </p:spPr>
          </p:sp>
          <p:sp>
            <p:nvSpPr>
              <p:cNvPr id="32" name="Freeform 32"/>
              <p:cNvSpPr/>
              <p:nvPr/>
            </p:nvSpPr>
            <p:spPr>
              <a:xfrm>
                <a:off x="3586162" y="1512887"/>
                <a:ext cx="47625" cy="9525"/>
              </a:xfrm>
              <a:custGeom>
                <a:avLst/>
                <a:gdLst/>
                <a:ahLst/>
                <a:cxnLst/>
                <a:rect l="l" t="t" r="r" b="b"/>
                <a:pathLst>
                  <a:path w="47625" h="9525">
                    <a:moveTo>
                      <a:pt x="0" y="0"/>
                    </a:moveTo>
                    <a:lnTo>
                      <a:pt x="47625" y="0"/>
                    </a:lnTo>
                  </a:path>
                </a:pathLst>
              </a:custGeom>
              <a:noFill/>
              <a:ln w="15875">
                <a:solidFill>
                  <a:srgbClr val="A52D12"/>
                </a:solidFill>
              </a:ln>
            </p:spPr>
          </p:sp>
          <p:sp>
            <p:nvSpPr>
              <p:cNvPr id="33" name="Freeform 33"/>
              <p:cNvSpPr/>
              <p:nvPr/>
            </p:nvSpPr>
            <p:spPr>
              <a:xfrm>
                <a:off x="3586162" y="1544637"/>
                <a:ext cx="47625" cy="9525"/>
              </a:xfrm>
              <a:custGeom>
                <a:avLst/>
                <a:gdLst/>
                <a:ahLst/>
                <a:cxnLst/>
                <a:rect l="l" t="t" r="r" b="b"/>
                <a:pathLst>
                  <a:path w="47625" h="9525">
                    <a:moveTo>
                      <a:pt x="0" y="0"/>
                    </a:moveTo>
                    <a:lnTo>
                      <a:pt x="47625" y="0"/>
                    </a:lnTo>
                  </a:path>
                </a:pathLst>
              </a:custGeom>
              <a:noFill/>
              <a:ln w="15875">
                <a:solidFill>
                  <a:srgbClr val="A52D12"/>
                </a:solidFill>
              </a:ln>
            </p:spPr>
          </p:sp>
        </p:grpSp>
        <p:sp>
          <p:nvSpPr>
            <p:cNvPr id="35" name="TextBox 35"/>
            <p:cNvSpPr txBox="1"/>
            <p:nvPr/>
          </p:nvSpPr>
          <p:spPr>
            <a:xfrm>
              <a:off x="3852862" y="1346597"/>
              <a:ext cx="768782"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债券承销规模</a:t>
              </a:r>
            </a:p>
          </p:txBody>
        </p:sp>
        <p:sp>
          <p:nvSpPr>
            <p:cNvPr id="36" name="TextBox 36"/>
            <p:cNvSpPr txBox="1"/>
            <p:nvPr/>
          </p:nvSpPr>
          <p:spPr>
            <a:xfrm>
              <a:off x="3848862" y="1547336"/>
              <a:ext cx="846112" cy="337376"/>
            </a:xfrm>
            <a:prstGeom prst="rect">
              <a:avLst/>
            </a:prstGeom>
            <a:noFill/>
            <a:ln>
              <a:noFill/>
            </a:ln>
          </p:spPr>
          <p:txBody>
            <a:bodyPr wrap="none" lIns="0" tIns="0" rIns="0" bIns="0" anchor="t" anchorCtr="0">
              <a:spAutoFit/>
            </a:bodyPr>
            <a:lstStyle/>
            <a:p>
              <a:pPr algn="l"/>
              <a:r>
                <a:rPr lang="zh-CN" sz="1720" b="1" dirty="0">
                  <a:solidFill>
                    <a:srgbClr val="A52D12"/>
                  </a:solidFill>
                  <a:latin typeface="+mn-lt"/>
                  <a:ea typeface="+mn-ea"/>
                  <a:cs typeface="+mn-cs"/>
                </a:rPr>
                <a:t xml:space="preserve">610 </a:t>
              </a:r>
              <a:r>
                <a:rPr lang="zh-CN" sz="820" dirty="0">
                  <a:solidFill>
                    <a:srgbClr val="A52D12"/>
                  </a:solidFill>
                  <a:latin typeface="+mn-lt"/>
                  <a:ea typeface="+mn-ea"/>
                  <a:cs typeface="+mn-cs"/>
                </a:rPr>
                <a:t>亿元</a:t>
              </a:r>
              <a:r>
                <a:rPr lang="zh-CN" sz="1720" b="1" dirty="0">
                  <a:solidFill>
                    <a:srgbClr val="A52D12"/>
                  </a:solidFill>
                  <a:latin typeface="+mn-lt"/>
                  <a:ea typeface="+mn-ea"/>
                  <a:cs typeface="+mn-cs"/>
                </a:rPr>
                <a:t>​</a:t>
              </a:r>
            </a:p>
          </p:txBody>
        </p:sp>
        <p:sp>
          <p:nvSpPr>
            <p:cNvPr id="37" name="TextBox 37"/>
            <p:cNvSpPr txBox="1"/>
            <p:nvPr/>
          </p:nvSpPr>
          <p:spPr>
            <a:xfrm>
              <a:off x="3509962" y="2078593"/>
              <a:ext cx="858944"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 xml:space="preserve">同比 </a:t>
              </a:r>
              <a:r>
                <a:rPr lang="zh-CN" sz="1050" b="1" dirty="0">
                  <a:solidFill>
                    <a:srgbClr val="A52D12"/>
                  </a:solidFill>
                  <a:latin typeface="+mn-lt"/>
                  <a:ea typeface="+mn-ea"/>
                  <a:cs typeface="+mn-cs"/>
                </a:rPr>
                <a:t>+16.5%</a:t>
              </a:r>
              <a:r>
                <a:rPr lang="zh-CN" sz="860" dirty="0">
                  <a:solidFill>
                    <a:srgbClr val="6B6B6B"/>
                  </a:solidFill>
                  <a:latin typeface="+mn-lt"/>
                  <a:ea typeface="+mn-ea"/>
                  <a:cs typeface="+mn-cs"/>
                </a:rPr>
                <a:t>​</a:t>
              </a:r>
            </a:p>
          </p:txBody>
        </p:sp>
        <p:sp>
          <p:nvSpPr>
            <p:cNvPr id="38" name="Rectangle 38"/>
            <p:cNvSpPr/>
            <p:nvPr/>
          </p:nvSpPr>
          <p:spPr>
            <a:xfrm>
              <a:off x="6153150" y="1181100"/>
              <a:ext cx="2762250" cy="1200150"/>
            </a:xfrm>
            <a:prstGeom prst="roundRect">
              <a:avLst>
                <a:gd name="adj" fmla="val 6349"/>
              </a:avLst>
            </a:prstGeom>
            <a:solidFill>
              <a:srgbClr val="FDF6F5"/>
            </a:solidFill>
            <a:ln w="9525">
              <a:solidFill>
                <a:srgbClr val="EDD5D2"/>
              </a:solidFill>
            </a:ln>
          </p:spPr>
        </p:sp>
        <p:sp>
          <p:nvSpPr>
            <p:cNvPr id="39" name="Ellipse 39"/>
            <p:cNvSpPr/>
            <p:nvPr/>
          </p:nvSpPr>
          <p:spPr>
            <a:xfrm>
              <a:off x="6343650" y="1352550"/>
              <a:ext cx="304800" cy="304800"/>
            </a:xfrm>
            <a:prstGeom prst="ellipse">
              <a:avLst/>
            </a:prstGeom>
            <a:solidFill>
              <a:srgbClr val="F7E9E7"/>
            </a:solidFill>
            <a:ln>
              <a:noFill/>
            </a:ln>
          </p:spPr>
        </p:sp>
        <p:grpSp>
          <p:nvGrpSpPr>
            <p:cNvPr id="43" name="Group 43"/>
            <p:cNvGrpSpPr/>
            <p:nvPr/>
          </p:nvGrpSpPr>
          <p:grpSpPr>
            <a:xfrm>
              <a:off x="6432550" y="1433512"/>
              <a:ext cx="127000" cy="142875"/>
              <a:chOff x="6432550" y="1433512"/>
              <a:chExt cx="127000" cy="142875"/>
            </a:xfrm>
          </p:grpSpPr>
          <p:sp>
            <p:nvSpPr>
              <p:cNvPr id="40" name="Freeform 40"/>
              <p:cNvSpPr/>
              <p:nvPr/>
            </p:nvSpPr>
            <p:spPr>
              <a:xfrm>
                <a:off x="6432550" y="14335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A52D12"/>
                </a:solidFill>
              </a:ln>
            </p:spPr>
          </p:sp>
          <p:sp>
            <p:nvSpPr>
              <p:cNvPr id="41" name="Freeform 41"/>
              <p:cNvSpPr/>
              <p:nvPr/>
            </p:nvSpPr>
            <p:spPr>
              <a:xfrm>
                <a:off x="6432550" y="145732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A52D12"/>
                </a:solidFill>
              </a:ln>
            </p:spPr>
          </p:sp>
          <p:sp>
            <p:nvSpPr>
              <p:cNvPr id="42" name="Freeform 42"/>
              <p:cNvSpPr/>
              <p:nvPr/>
            </p:nvSpPr>
            <p:spPr>
              <a:xfrm>
                <a:off x="6432550" y="15049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A52D12"/>
                </a:solidFill>
              </a:ln>
            </p:spPr>
          </p:sp>
        </p:grpSp>
        <p:sp>
          <p:nvSpPr>
            <p:cNvPr id="44" name="TextBox 44"/>
            <p:cNvSpPr txBox="1"/>
            <p:nvPr/>
          </p:nvSpPr>
          <p:spPr>
            <a:xfrm>
              <a:off x="6738938" y="1346597"/>
              <a:ext cx="515696"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托管规模</a:t>
              </a:r>
            </a:p>
          </p:txBody>
        </p:sp>
        <p:sp>
          <p:nvSpPr>
            <p:cNvPr id="45" name="TextBox 45"/>
            <p:cNvSpPr txBox="1"/>
            <p:nvPr/>
          </p:nvSpPr>
          <p:spPr>
            <a:xfrm>
              <a:off x="6734937" y="1547336"/>
              <a:ext cx="979830" cy="337376"/>
            </a:xfrm>
            <a:prstGeom prst="rect">
              <a:avLst/>
            </a:prstGeom>
            <a:noFill/>
            <a:ln>
              <a:noFill/>
            </a:ln>
          </p:spPr>
          <p:txBody>
            <a:bodyPr wrap="none" lIns="0" tIns="0" rIns="0" bIns="0" anchor="t" anchorCtr="0">
              <a:spAutoFit/>
            </a:bodyPr>
            <a:lstStyle/>
            <a:p>
              <a:pPr algn="l"/>
              <a:r>
                <a:rPr lang="zh-CN" sz="1720" b="1" dirty="0">
                  <a:solidFill>
                    <a:srgbClr val="A52D12"/>
                  </a:solidFill>
                  <a:latin typeface="+mn-lt"/>
                  <a:ea typeface="+mn-ea"/>
                  <a:cs typeface="+mn-cs"/>
                </a:rPr>
                <a:t xml:space="preserve">3250 </a:t>
              </a:r>
              <a:r>
                <a:rPr lang="zh-CN" sz="820" dirty="0">
                  <a:solidFill>
                    <a:srgbClr val="A52D12"/>
                  </a:solidFill>
                  <a:latin typeface="+mn-lt"/>
                  <a:ea typeface="+mn-ea"/>
                  <a:cs typeface="+mn-cs"/>
                </a:rPr>
                <a:t>亿元</a:t>
              </a:r>
              <a:r>
                <a:rPr lang="zh-CN" sz="1720" b="1" dirty="0">
                  <a:solidFill>
                    <a:srgbClr val="A52D12"/>
                  </a:solidFill>
                  <a:latin typeface="+mn-lt"/>
                  <a:ea typeface="+mn-ea"/>
                  <a:cs typeface="+mn-cs"/>
                </a:rPr>
                <a:t>​</a:t>
              </a:r>
            </a:p>
          </p:txBody>
        </p:sp>
        <p:sp>
          <p:nvSpPr>
            <p:cNvPr id="46" name="TextBox 46"/>
            <p:cNvSpPr txBox="1"/>
            <p:nvPr/>
          </p:nvSpPr>
          <p:spPr>
            <a:xfrm>
              <a:off x="6396038" y="2078593"/>
              <a:ext cx="974717"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 xml:space="preserve">较年初 </a:t>
              </a:r>
              <a:r>
                <a:rPr lang="zh-CN" sz="1050" b="1" dirty="0">
                  <a:solidFill>
                    <a:srgbClr val="A52D12"/>
                  </a:solidFill>
                  <a:latin typeface="+mn-lt"/>
                  <a:ea typeface="+mn-ea"/>
                  <a:cs typeface="+mn-cs"/>
                </a:rPr>
                <a:t>+10.8%</a:t>
              </a:r>
              <a:r>
                <a:rPr lang="zh-CN" sz="860" dirty="0">
                  <a:solidFill>
                    <a:srgbClr val="6B6B6B"/>
                  </a:solidFill>
                  <a:latin typeface="+mn-lt"/>
                  <a:ea typeface="+mn-ea"/>
                  <a:cs typeface="+mn-cs"/>
                </a:rPr>
                <a:t>​</a:t>
              </a:r>
            </a:p>
          </p:txBody>
        </p:sp>
        <p:sp>
          <p:nvSpPr>
            <p:cNvPr id="47" name="Rectangle 47"/>
            <p:cNvSpPr/>
            <p:nvPr/>
          </p:nvSpPr>
          <p:spPr>
            <a:xfrm>
              <a:off x="9039225" y="1181100"/>
              <a:ext cx="2762250" cy="1200150"/>
            </a:xfrm>
            <a:prstGeom prst="roundRect">
              <a:avLst>
                <a:gd name="adj" fmla="val 6349"/>
              </a:avLst>
            </a:prstGeom>
            <a:solidFill>
              <a:srgbClr val="FDF6F5"/>
            </a:solidFill>
            <a:ln w="9525">
              <a:solidFill>
                <a:srgbClr val="EDD5D2"/>
              </a:solidFill>
            </a:ln>
          </p:spPr>
        </p:sp>
        <p:sp>
          <p:nvSpPr>
            <p:cNvPr id="48" name="Ellipse 48"/>
            <p:cNvSpPr/>
            <p:nvPr/>
          </p:nvSpPr>
          <p:spPr>
            <a:xfrm>
              <a:off x="9229725" y="1352550"/>
              <a:ext cx="304800" cy="304800"/>
            </a:xfrm>
            <a:prstGeom prst="ellipse">
              <a:avLst/>
            </a:prstGeom>
            <a:solidFill>
              <a:srgbClr val="F7E9E7"/>
            </a:solidFill>
            <a:ln>
              <a:noFill/>
            </a:ln>
          </p:spPr>
        </p:sp>
        <p:grpSp>
          <p:nvGrpSpPr>
            <p:cNvPr id="57" name="Group 57"/>
            <p:cNvGrpSpPr/>
            <p:nvPr/>
          </p:nvGrpSpPr>
          <p:grpSpPr>
            <a:xfrm>
              <a:off x="9310687" y="1433512"/>
              <a:ext cx="144463" cy="152400"/>
              <a:chOff x="9310687" y="1433512"/>
              <a:chExt cx="144463" cy="152400"/>
            </a:xfrm>
          </p:grpSpPr>
          <p:sp>
            <p:nvSpPr>
              <p:cNvPr id="49" name="Freeform 49"/>
              <p:cNvSpPr/>
              <p:nvPr/>
            </p:nvSpPr>
            <p:spPr>
              <a:xfrm>
                <a:off x="9310687" y="1576387"/>
                <a:ext cx="142875" cy="9525"/>
              </a:xfrm>
              <a:custGeom>
                <a:avLst/>
                <a:gdLst/>
                <a:ahLst/>
                <a:cxnLst/>
                <a:rect l="l" t="t" r="r" b="b"/>
                <a:pathLst>
                  <a:path w="142875" h="9525">
                    <a:moveTo>
                      <a:pt x="0" y="0"/>
                    </a:moveTo>
                    <a:lnTo>
                      <a:pt x="142875" y="0"/>
                    </a:lnTo>
                  </a:path>
                </a:pathLst>
              </a:custGeom>
              <a:noFill/>
              <a:ln w="15875">
                <a:solidFill>
                  <a:srgbClr val="A52D12"/>
                </a:solidFill>
              </a:ln>
            </p:spPr>
          </p:sp>
          <p:sp>
            <p:nvSpPr>
              <p:cNvPr id="50" name="Freeform 50"/>
              <p:cNvSpPr/>
              <p:nvPr/>
            </p:nvSpPr>
            <p:spPr>
              <a:xfrm>
                <a:off x="9310687" y="1489075"/>
                <a:ext cx="142875" cy="9525"/>
              </a:xfrm>
              <a:custGeom>
                <a:avLst/>
                <a:gdLst/>
                <a:ahLst/>
                <a:cxnLst/>
                <a:rect l="l" t="t" r="r" b="b"/>
                <a:pathLst>
                  <a:path w="142875" h="9525">
                    <a:moveTo>
                      <a:pt x="0" y="0"/>
                    </a:moveTo>
                    <a:lnTo>
                      <a:pt x="142875" y="0"/>
                    </a:lnTo>
                  </a:path>
                </a:pathLst>
              </a:custGeom>
              <a:noFill/>
              <a:ln w="15875">
                <a:solidFill>
                  <a:srgbClr val="A52D12"/>
                </a:solidFill>
              </a:ln>
            </p:spPr>
          </p:sp>
          <p:sp>
            <p:nvSpPr>
              <p:cNvPr id="51" name="Freeform 51"/>
              <p:cNvSpPr/>
              <p:nvPr/>
            </p:nvSpPr>
            <p:spPr>
              <a:xfrm>
                <a:off x="9326562" y="1433512"/>
                <a:ext cx="111125" cy="23812"/>
              </a:xfrm>
              <a:custGeom>
                <a:avLst/>
                <a:gdLst/>
                <a:ahLst/>
                <a:cxnLst/>
                <a:rect l="l" t="t" r="r" b="b"/>
                <a:pathLst>
                  <a:path w="111125" h="23812">
                    <a:moveTo>
                      <a:pt x="0" y="23812"/>
                    </a:moveTo>
                    <a:lnTo>
                      <a:pt x="55562" y="0"/>
                    </a:lnTo>
                    <a:lnTo>
                      <a:pt x="111125" y="23812"/>
                    </a:lnTo>
                  </a:path>
                </a:pathLst>
              </a:custGeom>
              <a:noFill/>
              <a:ln w="15875">
                <a:solidFill>
                  <a:srgbClr val="A52D12"/>
                </a:solidFill>
              </a:ln>
            </p:spPr>
          </p:sp>
          <p:sp>
            <p:nvSpPr>
              <p:cNvPr id="52" name="Freeform 52"/>
              <p:cNvSpPr/>
              <p:nvPr/>
            </p:nvSpPr>
            <p:spPr>
              <a:xfrm>
                <a:off x="9318625" y="1489075"/>
                <a:ext cx="9525" cy="87312"/>
              </a:xfrm>
              <a:custGeom>
                <a:avLst/>
                <a:gdLst/>
                <a:ahLst/>
                <a:cxnLst/>
                <a:rect l="l" t="t" r="r" b="b"/>
                <a:pathLst>
                  <a:path w="9525" h="87312">
                    <a:moveTo>
                      <a:pt x="0" y="0"/>
                    </a:moveTo>
                    <a:lnTo>
                      <a:pt x="0" y="87312"/>
                    </a:lnTo>
                  </a:path>
                </a:pathLst>
              </a:custGeom>
              <a:noFill/>
              <a:ln w="15875">
                <a:solidFill>
                  <a:srgbClr val="A52D12"/>
                </a:solidFill>
              </a:ln>
            </p:spPr>
          </p:sp>
          <p:sp>
            <p:nvSpPr>
              <p:cNvPr id="53" name="Freeform 53"/>
              <p:cNvSpPr/>
              <p:nvPr/>
            </p:nvSpPr>
            <p:spPr>
              <a:xfrm>
                <a:off x="9445625" y="1489075"/>
                <a:ext cx="9525" cy="87312"/>
              </a:xfrm>
              <a:custGeom>
                <a:avLst/>
                <a:gdLst/>
                <a:ahLst/>
                <a:cxnLst/>
                <a:rect l="l" t="t" r="r" b="b"/>
                <a:pathLst>
                  <a:path w="9525" h="87312">
                    <a:moveTo>
                      <a:pt x="0" y="0"/>
                    </a:moveTo>
                    <a:lnTo>
                      <a:pt x="0" y="87312"/>
                    </a:lnTo>
                  </a:path>
                </a:pathLst>
              </a:custGeom>
              <a:noFill/>
              <a:ln w="15875">
                <a:solidFill>
                  <a:srgbClr val="A52D12"/>
                </a:solidFill>
              </a:ln>
            </p:spPr>
          </p:sp>
          <p:sp>
            <p:nvSpPr>
              <p:cNvPr id="54" name="Freeform 54"/>
              <p:cNvSpPr/>
              <p:nvPr/>
            </p:nvSpPr>
            <p:spPr>
              <a:xfrm>
                <a:off x="9350375" y="1520825"/>
                <a:ext cx="9525" cy="23812"/>
              </a:xfrm>
              <a:custGeom>
                <a:avLst/>
                <a:gdLst/>
                <a:ahLst/>
                <a:cxnLst/>
                <a:rect l="l" t="t" r="r" b="b"/>
                <a:pathLst>
                  <a:path w="9525" h="23812">
                    <a:moveTo>
                      <a:pt x="0" y="0"/>
                    </a:moveTo>
                    <a:lnTo>
                      <a:pt x="0" y="23812"/>
                    </a:lnTo>
                  </a:path>
                </a:pathLst>
              </a:custGeom>
              <a:noFill/>
              <a:ln w="15875">
                <a:solidFill>
                  <a:srgbClr val="A52D12"/>
                </a:solidFill>
              </a:ln>
            </p:spPr>
          </p:sp>
          <p:sp>
            <p:nvSpPr>
              <p:cNvPr id="55" name="Freeform 55"/>
              <p:cNvSpPr/>
              <p:nvPr/>
            </p:nvSpPr>
            <p:spPr>
              <a:xfrm>
                <a:off x="9382125" y="1520825"/>
                <a:ext cx="9525" cy="23812"/>
              </a:xfrm>
              <a:custGeom>
                <a:avLst/>
                <a:gdLst/>
                <a:ahLst/>
                <a:cxnLst/>
                <a:rect l="l" t="t" r="r" b="b"/>
                <a:pathLst>
                  <a:path w="9525" h="23812">
                    <a:moveTo>
                      <a:pt x="0" y="0"/>
                    </a:moveTo>
                    <a:lnTo>
                      <a:pt x="0" y="23812"/>
                    </a:lnTo>
                  </a:path>
                </a:pathLst>
              </a:custGeom>
              <a:noFill/>
              <a:ln w="15875">
                <a:solidFill>
                  <a:srgbClr val="A52D12"/>
                </a:solidFill>
              </a:ln>
            </p:spPr>
          </p:sp>
          <p:sp>
            <p:nvSpPr>
              <p:cNvPr id="56" name="Freeform 56"/>
              <p:cNvSpPr/>
              <p:nvPr/>
            </p:nvSpPr>
            <p:spPr>
              <a:xfrm>
                <a:off x="9413875" y="1520825"/>
                <a:ext cx="9525" cy="23812"/>
              </a:xfrm>
              <a:custGeom>
                <a:avLst/>
                <a:gdLst/>
                <a:ahLst/>
                <a:cxnLst/>
                <a:rect l="l" t="t" r="r" b="b"/>
                <a:pathLst>
                  <a:path w="9525" h="23812">
                    <a:moveTo>
                      <a:pt x="0" y="0"/>
                    </a:moveTo>
                    <a:lnTo>
                      <a:pt x="0" y="23812"/>
                    </a:lnTo>
                  </a:path>
                </a:pathLst>
              </a:custGeom>
              <a:noFill/>
              <a:ln w="15875">
                <a:solidFill>
                  <a:srgbClr val="A52D12"/>
                </a:solidFill>
              </a:ln>
            </p:spPr>
          </p:sp>
        </p:grpSp>
        <p:sp>
          <p:nvSpPr>
            <p:cNvPr id="58" name="TextBox 58"/>
            <p:cNvSpPr txBox="1"/>
            <p:nvPr/>
          </p:nvSpPr>
          <p:spPr>
            <a:xfrm>
              <a:off x="9625012" y="1346597"/>
              <a:ext cx="515696"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投行中收</a:t>
              </a:r>
            </a:p>
          </p:txBody>
        </p:sp>
        <p:sp>
          <p:nvSpPr>
            <p:cNvPr id="59" name="TextBox 59"/>
            <p:cNvSpPr txBox="1"/>
            <p:nvPr/>
          </p:nvSpPr>
          <p:spPr>
            <a:xfrm>
              <a:off x="9621012" y="1547336"/>
              <a:ext cx="846112" cy="337376"/>
            </a:xfrm>
            <a:prstGeom prst="rect">
              <a:avLst/>
            </a:prstGeom>
            <a:noFill/>
            <a:ln>
              <a:noFill/>
            </a:ln>
          </p:spPr>
          <p:txBody>
            <a:bodyPr wrap="none" lIns="0" tIns="0" rIns="0" bIns="0" anchor="t" anchorCtr="0">
              <a:spAutoFit/>
            </a:bodyPr>
            <a:lstStyle/>
            <a:p>
              <a:pPr algn="l"/>
              <a:r>
                <a:rPr lang="zh-CN" sz="1720" b="1" dirty="0">
                  <a:solidFill>
                    <a:srgbClr val="A52D12"/>
                  </a:solidFill>
                  <a:latin typeface="+mn-lt"/>
                  <a:ea typeface="+mn-ea"/>
                  <a:cs typeface="+mn-cs"/>
                </a:rPr>
                <a:t xml:space="preserve">9.6 </a:t>
              </a:r>
              <a:r>
                <a:rPr lang="zh-CN" sz="820" dirty="0">
                  <a:solidFill>
                    <a:srgbClr val="A52D12"/>
                  </a:solidFill>
                  <a:latin typeface="+mn-lt"/>
                  <a:ea typeface="+mn-ea"/>
                  <a:cs typeface="+mn-cs"/>
                </a:rPr>
                <a:t>亿元</a:t>
              </a:r>
              <a:r>
                <a:rPr lang="zh-CN" sz="1720" b="1" dirty="0">
                  <a:solidFill>
                    <a:srgbClr val="A52D12"/>
                  </a:solidFill>
                  <a:latin typeface="+mn-lt"/>
                  <a:ea typeface="+mn-ea"/>
                  <a:cs typeface="+mn-cs"/>
                </a:rPr>
                <a:t>​</a:t>
              </a:r>
            </a:p>
          </p:txBody>
        </p:sp>
        <p:sp>
          <p:nvSpPr>
            <p:cNvPr id="60" name="TextBox 60"/>
            <p:cNvSpPr txBox="1"/>
            <p:nvPr/>
          </p:nvSpPr>
          <p:spPr>
            <a:xfrm>
              <a:off x="9282112" y="2078593"/>
              <a:ext cx="858944"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 xml:space="preserve">同比 </a:t>
              </a:r>
              <a:r>
                <a:rPr lang="zh-CN" sz="1050" b="1" dirty="0">
                  <a:solidFill>
                    <a:srgbClr val="A52D12"/>
                  </a:solidFill>
                  <a:latin typeface="+mn-lt"/>
                  <a:ea typeface="+mn-ea"/>
                  <a:cs typeface="+mn-cs"/>
                </a:rPr>
                <a:t>+14.3%</a:t>
              </a:r>
              <a:r>
                <a:rPr lang="zh-CN" sz="860" dirty="0">
                  <a:solidFill>
                    <a:srgbClr val="6B6B6B"/>
                  </a:solidFill>
                  <a:latin typeface="+mn-lt"/>
                  <a:ea typeface="+mn-ea"/>
                  <a:cs typeface="+mn-cs"/>
                </a:rPr>
                <a:t>​</a:t>
              </a:r>
            </a:p>
          </p:txBody>
        </p:sp>
      </p:grpSp>
      <p:grpSp>
        <p:nvGrpSpPr>
          <p:cNvPr id="103" name="capability-matrix"/>
          <p:cNvGrpSpPr/>
          <p:nvPr/>
        </p:nvGrpSpPr>
        <p:grpSpPr>
          <a:xfrm>
            <a:off x="381000" y="2495550"/>
            <a:ext cx="4381500" cy="3086100"/>
            <a:chOff x="381000" y="2495550"/>
            <a:chExt cx="4381500" cy="3086100"/>
          </a:xfrm>
        </p:grpSpPr>
        <p:sp>
          <p:nvSpPr>
            <p:cNvPr id="62" name="Rectangle 62"/>
            <p:cNvSpPr/>
            <p:nvPr/>
          </p:nvSpPr>
          <p:spPr>
            <a:xfrm>
              <a:off x="381000" y="2495550"/>
              <a:ext cx="4381500" cy="3086100"/>
            </a:xfrm>
            <a:prstGeom prst="roundRect">
              <a:avLst>
                <a:gd name="adj" fmla="val 2469"/>
              </a:avLst>
            </a:prstGeom>
            <a:solidFill>
              <a:srgbClr val="FDF6F5"/>
            </a:solidFill>
            <a:ln w="9525">
              <a:solidFill>
                <a:srgbClr val="EDD5D2"/>
              </a:solidFill>
            </a:ln>
          </p:spPr>
        </p:sp>
        <p:sp>
          <p:nvSpPr>
            <p:cNvPr id="63" name="Freeform 63"/>
            <p:cNvSpPr/>
            <p:nvPr/>
          </p:nvSpPr>
          <p:spPr>
            <a:xfrm>
              <a:off x="390525" y="2505075"/>
              <a:ext cx="4362450" cy="228600"/>
            </a:xfrm>
            <a:custGeom>
              <a:avLst/>
              <a:gdLst/>
              <a:ahLst/>
              <a:cxnLst/>
              <a:rect l="l" t="t" r="r" b="b"/>
              <a:pathLst>
                <a:path w="4362450" h="228600">
                  <a:moveTo>
                    <a:pt x="0" y="228600"/>
                  </a:moveTo>
                  <a:lnTo>
                    <a:pt x="4362450" y="228600"/>
                  </a:lnTo>
                  <a:lnTo>
                    <a:pt x="4362450" y="66675"/>
                  </a:lnTo>
                  <a:cubicBezTo>
                    <a:pt x="4362450" y="29851"/>
                    <a:pt x="4332599" y="0"/>
                    <a:pt x="4295775" y="0"/>
                  </a:cubicBezTo>
                  <a:lnTo>
                    <a:pt x="66675" y="0"/>
                  </a:lnTo>
                  <a:cubicBezTo>
                    <a:pt x="29851" y="0"/>
                    <a:pt x="0" y="29851"/>
                    <a:pt x="0" y="66675"/>
                  </a:cubicBezTo>
                  <a:close/>
                </a:path>
              </a:pathLst>
            </a:custGeom>
            <a:solidFill>
              <a:srgbClr val="A52D12"/>
            </a:solidFill>
            <a:ln>
              <a:noFill/>
            </a:ln>
          </p:spPr>
        </p:sp>
        <p:sp>
          <p:nvSpPr>
            <p:cNvPr id="64" name="TextBox 64"/>
            <p:cNvSpPr txBox="1"/>
            <p:nvPr/>
          </p:nvSpPr>
          <p:spPr>
            <a:xfrm>
              <a:off x="2142363" y="255365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四项能力矩阵</a:t>
              </a:r>
            </a:p>
          </p:txBody>
        </p:sp>
        <p:sp>
          <p:nvSpPr>
            <p:cNvPr id="65" name="Rectangle 65"/>
            <p:cNvSpPr/>
            <p:nvPr/>
          </p:nvSpPr>
          <p:spPr>
            <a:xfrm>
              <a:off x="495300" y="2838450"/>
              <a:ext cx="2038350" cy="1257300"/>
            </a:xfrm>
            <a:prstGeom prst="roundRect">
              <a:avLst>
                <a:gd name="adj" fmla="val 6061"/>
              </a:avLst>
            </a:prstGeom>
            <a:solidFill>
              <a:srgbClr val="FFFFFF"/>
            </a:solidFill>
            <a:ln w="9525">
              <a:solidFill>
                <a:srgbClr val="EDD5D2"/>
              </a:solidFill>
            </a:ln>
          </p:spPr>
        </p:sp>
        <p:sp>
          <p:nvSpPr>
            <p:cNvPr id="66" name="Rectangle 66"/>
            <p:cNvSpPr/>
            <p:nvPr/>
          </p:nvSpPr>
          <p:spPr>
            <a:xfrm>
              <a:off x="628650" y="2971800"/>
              <a:ext cx="323850" cy="323850"/>
            </a:xfrm>
            <a:prstGeom prst="roundRect">
              <a:avLst>
                <a:gd name="adj" fmla="val 20588"/>
              </a:avLst>
            </a:prstGeom>
            <a:solidFill>
              <a:srgbClr val="A52D12"/>
            </a:solidFill>
            <a:ln>
              <a:noFill/>
            </a:ln>
          </p:spPr>
        </p:sp>
        <p:grpSp>
          <p:nvGrpSpPr>
            <p:cNvPr id="72" name="Group 72"/>
            <p:cNvGrpSpPr/>
            <p:nvPr/>
          </p:nvGrpSpPr>
          <p:grpSpPr>
            <a:xfrm>
              <a:off x="735012" y="3062287"/>
              <a:ext cx="111125" cy="142875"/>
              <a:chOff x="735012" y="3062287"/>
              <a:chExt cx="111125" cy="142875"/>
            </a:xfrm>
          </p:grpSpPr>
          <p:sp>
            <p:nvSpPr>
              <p:cNvPr id="67" name="Freeform 67"/>
              <p:cNvSpPr/>
              <p:nvPr/>
            </p:nvSpPr>
            <p:spPr>
              <a:xfrm>
                <a:off x="806450" y="3062287"/>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68" name="Freeform 68"/>
              <p:cNvSpPr/>
              <p:nvPr/>
            </p:nvSpPr>
            <p:spPr>
              <a:xfrm>
                <a:off x="735012" y="3062287"/>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69" name="Freeform 69"/>
              <p:cNvSpPr/>
              <p:nvPr/>
            </p:nvSpPr>
            <p:spPr>
              <a:xfrm>
                <a:off x="766762" y="3109912"/>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70" name="Freeform 70"/>
              <p:cNvSpPr/>
              <p:nvPr/>
            </p:nvSpPr>
            <p:spPr>
              <a:xfrm>
                <a:off x="766762" y="3141662"/>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71" name="Freeform 71"/>
              <p:cNvSpPr/>
              <p:nvPr/>
            </p:nvSpPr>
            <p:spPr>
              <a:xfrm>
                <a:off x="766762" y="3173412"/>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73" name="TextBox 73"/>
            <p:cNvSpPr txBox="1"/>
            <p:nvPr/>
          </p:nvSpPr>
          <p:spPr>
            <a:xfrm>
              <a:off x="1042416" y="3068002"/>
              <a:ext cx="576072"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债券承销</a:t>
              </a:r>
            </a:p>
          </p:txBody>
        </p:sp>
        <p:sp>
          <p:nvSpPr>
            <p:cNvPr id="74" name="TextBox 74"/>
            <p:cNvSpPr txBox="1"/>
            <p:nvPr/>
          </p:nvSpPr>
          <p:spPr>
            <a:xfrm>
              <a:off x="623888" y="3458289"/>
              <a:ext cx="1051954" cy="154781"/>
            </a:xfrm>
            <a:prstGeom prst="rect">
              <a:avLst/>
            </a:prstGeom>
            <a:noFill/>
            <a:ln>
              <a:noFill/>
            </a:ln>
          </p:spPr>
          <p:txBody>
            <a:bodyPr wrap="none" lIns="0" tIns="0" rIns="0" bIns="0" anchor="t" anchorCtr="0">
              <a:spAutoFit/>
            </a:bodyPr>
            <a:lstStyle/>
            <a:p>
              <a:pPr algn="l" marL="85280" indent="-85280">
                <a:buClr>
                  <a:srgbClr val="555555"/>
                </a:buClr>
                <a:buSzTx/>
                <a:buFontTx/>
                <a:buChar char="•"/>
              </a:pPr>
              <a:r>
                <a:rPr lang="zh-CN" sz="790" dirty="0">
                  <a:solidFill>
                    <a:srgbClr val="555555"/>
                  </a:solidFill>
                  <a:latin typeface="+mn-lt"/>
                  <a:ea typeface="+mn-ea"/>
                  <a:cs typeface="+mn-cs"/>
                </a:rPr>
                <a:t>覆盖境内外各类债券</a:t>
              </a:r>
            </a:p>
          </p:txBody>
        </p:sp>
        <p:sp>
          <p:nvSpPr>
            <p:cNvPr id="75" name="TextBox 75"/>
            <p:cNvSpPr txBox="1"/>
            <p:nvPr/>
          </p:nvSpPr>
          <p:spPr>
            <a:xfrm>
              <a:off x="623888" y="3648789"/>
              <a:ext cx="1264653" cy="154781"/>
            </a:xfrm>
            <a:prstGeom prst="rect">
              <a:avLst/>
            </a:prstGeom>
            <a:noFill/>
            <a:ln>
              <a:noFill/>
            </a:ln>
          </p:spPr>
          <p:txBody>
            <a:bodyPr wrap="none" lIns="0" tIns="0" rIns="0" bIns="0" anchor="t" anchorCtr="0">
              <a:spAutoFit/>
            </a:bodyPr>
            <a:lstStyle/>
            <a:p>
              <a:pPr algn="l" marL="85280" indent="-85280">
                <a:buClr>
                  <a:srgbClr val="555555"/>
                </a:buClr>
                <a:buSzTx/>
                <a:buFontTx/>
                <a:buChar char="•"/>
              </a:pPr>
              <a:r>
                <a:rPr lang="zh-CN" sz="790" dirty="0">
                  <a:solidFill>
                    <a:srgbClr val="555555"/>
                  </a:solidFill>
                  <a:latin typeface="+mn-lt"/>
                  <a:ea typeface="+mn-ea"/>
                  <a:cs typeface="+mn-cs"/>
                </a:rPr>
                <a:t>打造主承销商核心竞争力</a:t>
              </a:r>
            </a:p>
          </p:txBody>
        </p:sp>
        <p:sp>
          <p:nvSpPr>
            <p:cNvPr id="76" name="Rectangle 76"/>
            <p:cNvSpPr/>
            <p:nvPr/>
          </p:nvSpPr>
          <p:spPr>
            <a:xfrm>
              <a:off x="2647950" y="2838450"/>
              <a:ext cx="2038350" cy="1257300"/>
            </a:xfrm>
            <a:prstGeom prst="roundRect">
              <a:avLst>
                <a:gd name="adj" fmla="val 6061"/>
              </a:avLst>
            </a:prstGeom>
            <a:solidFill>
              <a:srgbClr val="FFFFFF"/>
            </a:solidFill>
            <a:ln w="9525">
              <a:solidFill>
                <a:srgbClr val="EDD5D2"/>
              </a:solidFill>
            </a:ln>
          </p:spPr>
        </p:sp>
        <p:sp>
          <p:nvSpPr>
            <p:cNvPr id="77" name="Rectangle 77"/>
            <p:cNvSpPr/>
            <p:nvPr/>
          </p:nvSpPr>
          <p:spPr>
            <a:xfrm>
              <a:off x="2781300" y="2971800"/>
              <a:ext cx="323850" cy="323850"/>
            </a:xfrm>
            <a:prstGeom prst="roundRect">
              <a:avLst>
                <a:gd name="adj" fmla="val 20588"/>
              </a:avLst>
            </a:prstGeom>
            <a:solidFill>
              <a:srgbClr val="A52D12"/>
            </a:solidFill>
            <a:ln>
              <a:noFill/>
            </a:ln>
          </p:spPr>
        </p:sp>
        <p:grpSp>
          <p:nvGrpSpPr>
            <p:cNvPr id="82" name="Group 82"/>
            <p:cNvGrpSpPr/>
            <p:nvPr/>
          </p:nvGrpSpPr>
          <p:grpSpPr>
            <a:xfrm>
              <a:off x="2871787" y="3070225"/>
              <a:ext cx="142875" cy="127000"/>
              <a:chOff x="2871787" y="3070225"/>
              <a:chExt cx="142875" cy="127000"/>
            </a:xfrm>
          </p:grpSpPr>
          <p:sp>
            <p:nvSpPr>
              <p:cNvPr id="78" name="Freeform 78"/>
              <p:cNvSpPr/>
              <p:nvPr/>
            </p:nvSpPr>
            <p:spPr>
              <a:xfrm>
                <a:off x="2871787" y="3094037"/>
                <a:ext cx="142875" cy="9525"/>
              </a:xfrm>
              <a:custGeom>
                <a:avLst/>
                <a:gdLst/>
                <a:ahLst/>
                <a:cxnLst/>
                <a:rect l="l" t="t" r="r" b="b"/>
                <a:pathLst>
                  <a:path w="142875" h="9525">
                    <a:moveTo>
                      <a:pt x="142875" y="0"/>
                    </a:moveTo>
                    <a:lnTo>
                      <a:pt x="0" y="0"/>
                    </a:lnTo>
                  </a:path>
                </a:pathLst>
              </a:custGeom>
              <a:noFill/>
              <a:ln w="15875">
                <a:solidFill>
                  <a:srgbClr val="FFFFFF"/>
                </a:solidFill>
              </a:ln>
            </p:spPr>
          </p:sp>
          <p:sp>
            <p:nvSpPr>
              <p:cNvPr id="79" name="Freeform 79"/>
              <p:cNvSpPr/>
              <p:nvPr/>
            </p:nvSpPr>
            <p:spPr>
              <a:xfrm>
                <a:off x="2990850" y="3070225"/>
                <a:ext cx="23812" cy="47625"/>
              </a:xfrm>
              <a:custGeom>
                <a:avLst/>
                <a:gdLst/>
                <a:ahLst/>
                <a:cxnLst/>
                <a:rect l="l" t="t" r="r" b="b"/>
                <a:pathLst>
                  <a:path w="23812" h="47625">
                    <a:moveTo>
                      <a:pt x="0" y="47625"/>
                    </a:moveTo>
                    <a:lnTo>
                      <a:pt x="23812" y="23812"/>
                    </a:lnTo>
                    <a:lnTo>
                      <a:pt x="0" y="0"/>
                    </a:lnTo>
                  </a:path>
                </a:pathLst>
              </a:custGeom>
              <a:noFill/>
              <a:ln w="15875">
                <a:solidFill>
                  <a:srgbClr val="FFFFFF"/>
                </a:solidFill>
              </a:ln>
            </p:spPr>
          </p:sp>
          <p:sp>
            <p:nvSpPr>
              <p:cNvPr id="80" name="Freeform 80"/>
              <p:cNvSpPr/>
              <p:nvPr/>
            </p:nvSpPr>
            <p:spPr>
              <a:xfrm>
                <a:off x="2871787" y="3149600"/>
                <a:ext cx="23812" cy="47625"/>
              </a:xfrm>
              <a:custGeom>
                <a:avLst/>
                <a:gdLst/>
                <a:ahLst/>
                <a:cxnLst/>
                <a:rect l="l" t="t" r="r" b="b"/>
                <a:pathLst>
                  <a:path w="23812" h="47625">
                    <a:moveTo>
                      <a:pt x="23812" y="47625"/>
                    </a:moveTo>
                    <a:lnTo>
                      <a:pt x="0" y="23812"/>
                    </a:lnTo>
                    <a:lnTo>
                      <a:pt x="23812" y="0"/>
                    </a:lnTo>
                  </a:path>
                </a:pathLst>
              </a:custGeom>
              <a:noFill/>
              <a:ln w="15875">
                <a:solidFill>
                  <a:srgbClr val="FFFFFF"/>
                </a:solidFill>
              </a:ln>
            </p:spPr>
          </p:sp>
          <p:sp>
            <p:nvSpPr>
              <p:cNvPr id="81" name="Freeform 81"/>
              <p:cNvSpPr/>
              <p:nvPr/>
            </p:nvSpPr>
            <p:spPr>
              <a:xfrm>
                <a:off x="2871787" y="3173412"/>
                <a:ext cx="142875" cy="9525"/>
              </a:xfrm>
              <a:custGeom>
                <a:avLst/>
                <a:gdLst/>
                <a:ahLst/>
                <a:cxnLst/>
                <a:rect l="l" t="t" r="r" b="b"/>
                <a:pathLst>
                  <a:path w="142875" h="9525">
                    <a:moveTo>
                      <a:pt x="0" y="0"/>
                    </a:moveTo>
                    <a:lnTo>
                      <a:pt x="142875" y="0"/>
                    </a:lnTo>
                  </a:path>
                </a:pathLst>
              </a:custGeom>
              <a:noFill/>
              <a:ln w="15875">
                <a:solidFill>
                  <a:srgbClr val="FFFFFF"/>
                </a:solidFill>
              </a:ln>
            </p:spPr>
          </p:sp>
        </p:grpSp>
        <p:sp>
          <p:nvSpPr>
            <p:cNvPr id="83" name="TextBox 83"/>
            <p:cNvSpPr txBox="1"/>
            <p:nvPr/>
          </p:nvSpPr>
          <p:spPr>
            <a:xfrm>
              <a:off x="3195066" y="3068002"/>
              <a:ext cx="576072"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并购金融</a:t>
              </a:r>
            </a:p>
          </p:txBody>
        </p:sp>
        <p:sp>
          <p:nvSpPr>
            <p:cNvPr id="84" name="TextBox 84"/>
            <p:cNvSpPr txBox="1"/>
            <p:nvPr/>
          </p:nvSpPr>
          <p:spPr>
            <a:xfrm>
              <a:off x="2776538" y="3458289"/>
              <a:ext cx="1051954" cy="154781"/>
            </a:xfrm>
            <a:prstGeom prst="rect">
              <a:avLst/>
            </a:prstGeom>
            <a:noFill/>
            <a:ln>
              <a:noFill/>
            </a:ln>
          </p:spPr>
          <p:txBody>
            <a:bodyPr wrap="none" lIns="0" tIns="0" rIns="0" bIns="0" anchor="t" anchorCtr="0">
              <a:spAutoFit/>
            </a:bodyPr>
            <a:lstStyle/>
            <a:p>
              <a:pPr algn="l" marL="85280" indent="-85280">
                <a:buClr>
                  <a:srgbClr val="555555"/>
                </a:buClr>
                <a:buSzTx/>
                <a:buFontTx/>
                <a:buChar char="•"/>
              </a:pPr>
              <a:r>
                <a:rPr lang="zh-CN" sz="790" dirty="0">
                  <a:solidFill>
                    <a:srgbClr val="555555"/>
                  </a:solidFill>
                  <a:latin typeface="+mn-lt"/>
                  <a:ea typeface="+mn-ea"/>
                  <a:cs typeface="+mn-cs"/>
                </a:rPr>
                <a:t>全链条并购顾问服务</a:t>
              </a:r>
            </a:p>
          </p:txBody>
        </p:sp>
        <p:sp>
          <p:nvSpPr>
            <p:cNvPr id="85" name="TextBox 85"/>
            <p:cNvSpPr txBox="1"/>
            <p:nvPr/>
          </p:nvSpPr>
          <p:spPr>
            <a:xfrm>
              <a:off x="2776538" y="3648789"/>
              <a:ext cx="1264653" cy="154781"/>
            </a:xfrm>
            <a:prstGeom prst="rect">
              <a:avLst/>
            </a:prstGeom>
            <a:noFill/>
            <a:ln>
              <a:noFill/>
            </a:ln>
          </p:spPr>
          <p:txBody>
            <a:bodyPr wrap="none" lIns="0" tIns="0" rIns="0" bIns="0" anchor="t" anchorCtr="0">
              <a:spAutoFit/>
            </a:bodyPr>
            <a:lstStyle/>
            <a:p>
              <a:pPr algn="l" marL="85280" indent="-85280">
                <a:buClr>
                  <a:srgbClr val="555555"/>
                </a:buClr>
                <a:buSzTx/>
                <a:buFontTx/>
                <a:buChar char="•"/>
              </a:pPr>
              <a:r>
                <a:rPr lang="zh-CN" sz="790" dirty="0">
                  <a:solidFill>
                    <a:srgbClr val="555555"/>
                  </a:solidFill>
                  <a:latin typeface="+mn-lt"/>
                  <a:ea typeface="+mn-ea"/>
                  <a:cs typeface="+mn-cs"/>
                </a:rPr>
                <a:t>赋能产业整合与价值提升</a:t>
              </a:r>
            </a:p>
          </p:txBody>
        </p:sp>
        <p:sp>
          <p:nvSpPr>
            <p:cNvPr id="86" name="Rectangle 86"/>
            <p:cNvSpPr/>
            <p:nvPr/>
          </p:nvSpPr>
          <p:spPr>
            <a:xfrm>
              <a:off x="495300" y="4210050"/>
              <a:ext cx="2038350" cy="1257300"/>
            </a:xfrm>
            <a:prstGeom prst="roundRect">
              <a:avLst>
                <a:gd name="adj" fmla="val 6061"/>
              </a:avLst>
            </a:prstGeom>
            <a:solidFill>
              <a:srgbClr val="FFFFFF"/>
            </a:solidFill>
            <a:ln w="9525">
              <a:solidFill>
                <a:srgbClr val="EDD5D2"/>
              </a:solidFill>
            </a:ln>
          </p:spPr>
        </p:sp>
        <p:sp>
          <p:nvSpPr>
            <p:cNvPr id="87" name="Rectangle 87"/>
            <p:cNvSpPr/>
            <p:nvPr/>
          </p:nvSpPr>
          <p:spPr>
            <a:xfrm>
              <a:off x="628650" y="4343400"/>
              <a:ext cx="323850" cy="323850"/>
            </a:xfrm>
            <a:prstGeom prst="roundRect">
              <a:avLst>
                <a:gd name="adj" fmla="val 20588"/>
              </a:avLst>
            </a:prstGeom>
            <a:solidFill>
              <a:srgbClr val="A52D12"/>
            </a:solidFill>
            <a:ln>
              <a:noFill/>
            </a:ln>
          </p:spPr>
        </p:sp>
        <p:grpSp>
          <p:nvGrpSpPr>
            <p:cNvPr id="90" name="Group 90"/>
            <p:cNvGrpSpPr/>
            <p:nvPr/>
          </p:nvGrpSpPr>
          <p:grpSpPr>
            <a:xfrm>
              <a:off x="727075" y="4433887"/>
              <a:ext cx="127000" cy="142875"/>
              <a:chOff x="727075" y="4433887"/>
              <a:chExt cx="127000" cy="142875"/>
            </a:xfrm>
          </p:grpSpPr>
          <p:sp>
            <p:nvSpPr>
              <p:cNvPr id="88" name="Freeform 88"/>
              <p:cNvSpPr/>
              <p:nvPr/>
            </p:nvSpPr>
            <p:spPr>
              <a:xfrm>
                <a:off x="727075" y="4433887"/>
                <a:ext cx="127000" cy="71437"/>
              </a:xfrm>
              <a:custGeom>
                <a:avLst/>
                <a:gdLst/>
                <a:ahLst/>
                <a:cxnLst/>
                <a:rect l="l" t="t" r="r" b="b"/>
                <a:pathLst>
                  <a:path w="127000" h="71437">
                    <a:moveTo>
                      <a:pt x="0" y="71437"/>
                    </a:moveTo>
                    <a:lnTo>
                      <a:pt x="0" y="47625"/>
                    </a:lnTo>
                    <a:cubicBezTo>
                      <a:pt x="0" y="34474"/>
                      <a:pt x="10661" y="23812"/>
                      <a:pt x="23812" y="23812"/>
                    </a:cubicBezTo>
                    <a:lnTo>
                      <a:pt x="127000" y="23812"/>
                    </a:lnTo>
                    <a:moveTo>
                      <a:pt x="103187" y="0"/>
                    </a:moveTo>
                    <a:lnTo>
                      <a:pt x="127000" y="23812"/>
                    </a:lnTo>
                    <a:lnTo>
                      <a:pt x="103187" y="47625"/>
                    </a:lnTo>
                  </a:path>
                </a:pathLst>
              </a:custGeom>
              <a:noFill/>
              <a:ln w="15875">
                <a:solidFill>
                  <a:srgbClr val="FFFFFF"/>
                </a:solidFill>
              </a:ln>
            </p:spPr>
          </p:sp>
          <p:sp>
            <p:nvSpPr>
              <p:cNvPr id="89" name="Freeform 89"/>
              <p:cNvSpPr/>
              <p:nvPr/>
            </p:nvSpPr>
            <p:spPr>
              <a:xfrm>
                <a:off x="727075" y="4505325"/>
                <a:ext cx="127000" cy="71437"/>
              </a:xfrm>
              <a:custGeom>
                <a:avLst/>
                <a:gdLst/>
                <a:ahLst/>
                <a:cxnLst/>
                <a:rect l="l" t="t" r="r" b="b"/>
                <a:pathLst>
                  <a:path w="127000" h="71437">
                    <a:moveTo>
                      <a:pt x="127000" y="0"/>
                    </a:moveTo>
                    <a:lnTo>
                      <a:pt x="127000" y="23812"/>
                    </a:lnTo>
                    <a:cubicBezTo>
                      <a:pt x="127000" y="36964"/>
                      <a:pt x="116339" y="47625"/>
                      <a:pt x="103187" y="47625"/>
                    </a:cubicBezTo>
                    <a:lnTo>
                      <a:pt x="0" y="47625"/>
                    </a:lnTo>
                    <a:moveTo>
                      <a:pt x="23812" y="71437"/>
                    </a:moveTo>
                    <a:lnTo>
                      <a:pt x="0" y="47625"/>
                    </a:lnTo>
                    <a:lnTo>
                      <a:pt x="23812" y="23812"/>
                    </a:lnTo>
                  </a:path>
                </a:pathLst>
              </a:custGeom>
              <a:noFill/>
              <a:ln w="15875">
                <a:solidFill>
                  <a:srgbClr val="FFFFFF"/>
                </a:solidFill>
              </a:ln>
            </p:spPr>
          </p:sp>
        </p:grpSp>
        <p:sp>
          <p:nvSpPr>
            <p:cNvPr id="91" name="TextBox 91"/>
            <p:cNvSpPr txBox="1"/>
            <p:nvPr/>
          </p:nvSpPr>
          <p:spPr>
            <a:xfrm>
              <a:off x="1042416" y="4439602"/>
              <a:ext cx="717423"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资产证券化</a:t>
              </a:r>
            </a:p>
          </p:txBody>
        </p:sp>
        <p:sp>
          <p:nvSpPr>
            <p:cNvPr id="92" name="TextBox 92"/>
            <p:cNvSpPr txBox="1"/>
            <p:nvPr/>
          </p:nvSpPr>
          <p:spPr>
            <a:xfrm>
              <a:off x="623888" y="4829889"/>
              <a:ext cx="1158304" cy="154781"/>
            </a:xfrm>
            <a:prstGeom prst="rect">
              <a:avLst/>
            </a:prstGeom>
            <a:noFill/>
            <a:ln>
              <a:noFill/>
            </a:ln>
          </p:spPr>
          <p:txBody>
            <a:bodyPr wrap="none" lIns="0" tIns="0" rIns="0" bIns="0" anchor="t" anchorCtr="0">
              <a:spAutoFit/>
            </a:bodyPr>
            <a:lstStyle/>
            <a:p>
              <a:pPr algn="l" marL="85280" indent="-85280">
                <a:buClr>
                  <a:srgbClr val="555555"/>
                </a:buClr>
                <a:buSzTx/>
                <a:buFontTx/>
                <a:buChar char="•"/>
              </a:pPr>
              <a:r>
                <a:rPr lang="zh-CN" sz="790" dirty="0">
                  <a:solidFill>
                    <a:srgbClr val="555555"/>
                  </a:solidFill>
                  <a:latin typeface="+mn-lt"/>
                  <a:ea typeface="+mn-ea"/>
                  <a:cs typeface="+mn-cs"/>
                </a:rPr>
                <a:t>多资产多场景产品创新</a:t>
              </a:r>
            </a:p>
          </p:txBody>
        </p:sp>
        <p:sp>
          <p:nvSpPr>
            <p:cNvPr id="93" name="TextBox 93"/>
            <p:cNvSpPr txBox="1"/>
            <p:nvPr/>
          </p:nvSpPr>
          <p:spPr>
            <a:xfrm>
              <a:off x="623888" y="5020389"/>
              <a:ext cx="1264653" cy="154781"/>
            </a:xfrm>
            <a:prstGeom prst="rect">
              <a:avLst/>
            </a:prstGeom>
            <a:noFill/>
            <a:ln>
              <a:noFill/>
            </a:ln>
          </p:spPr>
          <p:txBody>
            <a:bodyPr wrap="none" lIns="0" tIns="0" rIns="0" bIns="0" anchor="t" anchorCtr="0">
              <a:spAutoFit/>
            </a:bodyPr>
            <a:lstStyle/>
            <a:p>
              <a:pPr algn="l" marL="85280" indent="-85280">
                <a:buClr>
                  <a:srgbClr val="555555"/>
                </a:buClr>
                <a:buSzTx/>
                <a:buFontTx/>
                <a:buChar char="•"/>
              </a:pPr>
              <a:r>
                <a:rPr lang="zh-CN" sz="790" dirty="0">
                  <a:solidFill>
                    <a:srgbClr val="555555"/>
                  </a:solidFill>
                  <a:latin typeface="+mn-lt"/>
                  <a:ea typeface="+mn-ea"/>
                  <a:cs typeface="+mn-cs"/>
                </a:rPr>
                <a:t>提升资产流动性与收益率</a:t>
              </a:r>
            </a:p>
          </p:txBody>
        </p:sp>
        <p:sp>
          <p:nvSpPr>
            <p:cNvPr id="94" name="Rectangle 94"/>
            <p:cNvSpPr/>
            <p:nvPr/>
          </p:nvSpPr>
          <p:spPr>
            <a:xfrm>
              <a:off x="2647950" y="4210050"/>
              <a:ext cx="2038350" cy="1257300"/>
            </a:xfrm>
            <a:prstGeom prst="roundRect">
              <a:avLst>
                <a:gd name="adj" fmla="val 6061"/>
              </a:avLst>
            </a:prstGeom>
            <a:solidFill>
              <a:srgbClr val="FFFFFF"/>
            </a:solidFill>
            <a:ln w="9525">
              <a:solidFill>
                <a:srgbClr val="EDD5D2"/>
              </a:solidFill>
            </a:ln>
          </p:spPr>
        </p:sp>
        <p:sp>
          <p:nvSpPr>
            <p:cNvPr id="95" name="Rectangle 95"/>
            <p:cNvSpPr/>
            <p:nvPr/>
          </p:nvSpPr>
          <p:spPr>
            <a:xfrm>
              <a:off x="2781300" y="4343400"/>
              <a:ext cx="323850" cy="323850"/>
            </a:xfrm>
            <a:prstGeom prst="roundRect">
              <a:avLst>
                <a:gd name="adj" fmla="val 20588"/>
              </a:avLst>
            </a:prstGeom>
            <a:solidFill>
              <a:srgbClr val="A52D12"/>
            </a:solidFill>
            <a:ln>
              <a:noFill/>
            </a:ln>
          </p:spPr>
        </p:sp>
        <p:grpSp>
          <p:nvGrpSpPr>
            <p:cNvPr id="99" name="Group 99"/>
            <p:cNvGrpSpPr/>
            <p:nvPr/>
          </p:nvGrpSpPr>
          <p:grpSpPr>
            <a:xfrm>
              <a:off x="2871787" y="4433887"/>
              <a:ext cx="142875" cy="142875"/>
              <a:chOff x="2871787" y="4433887"/>
              <a:chExt cx="142875" cy="142875"/>
            </a:xfrm>
          </p:grpSpPr>
          <p:sp>
            <p:nvSpPr>
              <p:cNvPr id="96" name="Freeform 96"/>
              <p:cNvSpPr/>
              <p:nvPr/>
            </p:nvSpPr>
            <p:spPr>
              <a:xfrm>
                <a:off x="2871787" y="4433887"/>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FFFFFF"/>
                </a:solidFill>
              </a:ln>
            </p:spPr>
          </p:sp>
          <p:sp>
            <p:nvSpPr>
              <p:cNvPr id="97" name="Freeform 97"/>
              <p:cNvSpPr/>
              <p:nvPr/>
            </p:nvSpPr>
            <p:spPr>
              <a:xfrm>
                <a:off x="2900172" y="4465637"/>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FFFFFF"/>
                </a:solidFill>
              </a:ln>
            </p:spPr>
          </p:sp>
          <p:sp>
            <p:nvSpPr>
              <p:cNvPr id="98" name="Freeform 98"/>
              <p:cNvSpPr/>
              <p:nvPr/>
            </p:nvSpPr>
            <p:spPr>
              <a:xfrm>
                <a:off x="2924969" y="4545012"/>
                <a:ext cx="36512" cy="9525"/>
              </a:xfrm>
              <a:custGeom>
                <a:avLst/>
                <a:gdLst/>
                <a:ahLst/>
                <a:cxnLst/>
                <a:rect l="l" t="t" r="r" b="b"/>
                <a:pathLst>
                  <a:path w="36512" h="9525">
                    <a:moveTo>
                      <a:pt x="0" y="0"/>
                    </a:moveTo>
                    <a:lnTo>
                      <a:pt x="36512" y="0"/>
                    </a:lnTo>
                  </a:path>
                </a:pathLst>
              </a:custGeom>
              <a:noFill/>
              <a:ln w="15875">
                <a:solidFill>
                  <a:srgbClr val="FFFFFF"/>
                </a:solidFill>
              </a:ln>
            </p:spPr>
          </p:sp>
        </p:grpSp>
        <p:sp>
          <p:nvSpPr>
            <p:cNvPr id="100" name="TextBox 100"/>
            <p:cNvSpPr txBox="1"/>
            <p:nvPr/>
          </p:nvSpPr>
          <p:spPr>
            <a:xfrm>
              <a:off x="3195066" y="4439602"/>
              <a:ext cx="576072" cy="205359"/>
            </a:xfrm>
            <a:prstGeom prst="rect">
              <a:avLst/>
            </a:prstGeom>
            <a:noFill/>
            <a:ln>
              <a:noFill/>
            </a:ln>
          </p:spPr>
          <p:txBody>
            <a:bodyPr wrap="none" lIns="0" tIns="0" rIns="0" bIns="0" anchor="t" anchorCtr="0">
              <a:spAutoFit/>
            </a:bodyPr>
            <a:lstStyle/>
            <a:p>
              <a:pPr algn="l"/>
              <a:r>
                <a:rPr lang="zh-CN" sz="1050" b="1" dirty="0">
                  <a:solidFill>
                    <a:srgbClr val="1F1F1F"/>
                  </a:solidFill>
                  <a:latin typeface="+mn-lt"/>
                  <a:ea typeface="+mn-ea"/>
                  <a:cs typeface="+mn-cs"/>
                </a:rPr>
                <a:t>科创投行</a:t>
              </a:r>
            </a:p>
          </p:txBody>
        </p:sp>
        <p:sp>
          <p:nvSpPr>
            <p:cNvPr id="101" name="TextBox 101"/>
            <p:cNvSpPr txBox="1"/>
            <p:nvPr/>
          </p:nvSpPr>
          <p:spPr>
            <a:xfrm>
              <a:off x="2776538" y="4829889"/>
              <a:ext cx="945604" cy="154781"/>
            </a:xfrm>
            <a:prstGeom prst="rect">
              <a:avLst/>
            </a:prstGeom>
            <a:noFill/>
            <a:ln>
              <a:noFill/>
            </a:ln>
          </p:spPr>
          <p:txBody>
            <a:bodyPr wrap="none" lIns="0" tIns="0" rIns="0" bIns="0" anchor="t" anchorCtr="0">
              <a:spAutoFit/>
            </a:bodyPr>
            <a:lstStyle/>
            <a:p>
              <a:pPr algn="l" marL="85280" indent="-85280">
                <a:buClr>
                  <a:srgbClr val="555555"/>
                </a:buClr>
                <a:buSzTx/>
                <a:buFontTx/>
                <a:buChar char="•"/>
              </a:pPr>
              <a:r>
                <a:rPr lang="zh-CN" sz="790" dirty="0">
                  <a:solidFill>
                    <a:srgbClr val="555555"/>
                  </a:solidFill>
                  <a:latin typeface="+mn-lt"/>
                  <a:ea typeface="+mn-ea"/>
                  <a:cs typeface="+mn-cs"/>
                </a:rPr>
                <a:t>聚焦科技创新企业</a:t>
              </a:r>
            </a:p>
          </p:txBody>
        </p:sp>
        <p:sp>
          <p:nvSpPr>
            <p:cNvPr id="102" name="TextBox 102"/>
            <p:cNvSpPr txBox="1"/>
            <p:nvPr/>
          </p:nvSpPr>
          <p:spPr>
            <a:xfrm>
              <a:off x="2776538" y="5020389"/>
              <a:ext cx="1275288" cy="154781"/>
            </a:xfrm>
            <a:prstGeom prst="rect">
              <a:avLst/>
            </a:prstGeom>
            <a:noFill/>
            <a:ln>
              <a:noFill/>
            </a:ln>
          </p:spPr>
          <p:txBody>
            <a:bodyPr wrap="none" lIns="0" tIns="0" rIns="0" bIns="0" anchor="t" anchorCtr="0">
              <a:spAutoFit/>
            </a:bodyPr>
            <a:lstStyle/>
            <a:p>
              <a:pPr algn="l" marL="85280" indent="-85280">
                <a:buClr>
                  <a:srgbClr val="555555"/>
                </a:buClr>
                <a:buSzTx/>
                <a:buFontTx/>
                <a:buChar char="•"/>
              </a:pPr>
              <a:r>
                <a:rPr lang="zh-CN" sz="790" dirty="0">
                  <a:solidFill>
                    <a:srgbClr val="555555"/>
                  </a:solidFill>
                  <a:latin typeface="+mn-lt"/>
                  <a:ea typeface="+mn-ea"/>
                  <a:cs typeface="+mn-cs"/>
                </a:rPr>
                <a:t>资本+产业+生态协同赋能</a:t>
              </a:r>
            </a:p>
          </p:txBody>
        </p:sp>
      </p:grpSp>
      <p:grpSp>
        <p:nvGrpSpPr>
          <p:cNvPr id="164" name="value-chain"/>
          <p:cNvGrpSpPr/>
          <p:nvPr/>
        </p:nvGrpSpPr>
        <p:grpSpPr>
          <a:xfrm>
            <a:off x="4876800" y="2495550"/>
            <a:ext cx="6934200" cy="3086100"/>
            <a:chOff x="4876800" y="2495550"/>
            <a:chExt cx="6934200" cy="3086100"/>
          </a:xfrm>
        </p:grpSpPr>
        <p:sp>
          <p:nvSpPr>
            <p:cNvPr id="104" name="Rectangle 104"/>
            <p:cNvSpPr/>
            <p:nvPr/>
          </p:nvSpPr>
          <p:spPr>
            <a:xfrm>
              <a:off x="4876800" y="2495550"/>
              <a:ext cx="6934200" cy="3086100"/>
            </a:xfrm>
            <a:prstGeom prst="roundRect">
              <a:avLst>
                <a:gd name="adj" fmla="val 2469"/>
              </a:avLst>
            </a:prstGeom>
            <a:solidFill>
              <a:srgbClr val="FDF6F5"/>
            </a:solidFill>
            <a:ln w="9525">
              <a:solidFill>
                <a:srgbClr val="EDD5D2"/>
              </a:solidFill>
            </a:ln>
          </p:spPr>
        </p:sp>
        <p:sp>
          <p:nvSpPr>
            <p:cNvPr id="105" name="Freeform 105"/>
            <p:cNvSpPr/>
            <p:nvPr/>
          </p:nvSpPr>
          <p:spPr>
            <a:xfrm>
              <a:off x="4886325" y="2505075"/>
              <a:ext cx="6915150" cy="228600"/>
            </a:xfrm>
            <a:custGeom>
              <a:avLst/>
              <a:gdLst/>
              <a:ahLst/>
              <a:cxnLst/>
              <a:rect l="l" t="t" r="r" b="b"/>
              <a:pathLst>
                <a:path w="6915150" h="228600">
                  <a:moveTo>
                    <a:pt x="0" y="228600"/>
                  </a:moveTo>
                  <a:lnTo>
                    <a:pt x="6915150" y="228600"/>
                  </a:lnTo>
                  <a:lnTo>
                    <a:pt x="6915150" y="66675"/>
                  </a:lnTo>
                  <a:cubicBezTo>
                    <a:pt x="6915150" y="29851"/>
                    <a:pt x="6885299" y="0"/>
                    <a:pt x="6848475" y="0"/>
                  </a:cubicBezTo>
                  <a:lnTo>
                    <a:pt x="66675" y="0"/>
                  </a:lnTo>
                  <a:cubicBezTo>
                    <a:pt x="29851" y="0"/>
                    <a:pt x="0" y="29851"/>
                    <a:pt x="0" y="66675"/>
                  </a:cubicBezTo>
                  <a:close/>
                </a:path>
              </a:pathLst>
            </a:custGeom>
            <a:solidFill>
              <a:srgbClr val="A52D12"/>
            </a:solidFill>
            <a:ln>
              <a:noFill/>
            </a:ln>
          </p:spPr>
        </p:sp>
        <p:sp>
          <p:nvSpPr>
            <p:cNvPr id="106" name="TextBox 106"/>
            <p:cNvSpPr txBox="1"/>
            <p:nvPr/>
          </p:nvSpPr>
          <p:spPr>
            <a:xfrm>
              <a:off x="7985188" y="2553652"/>
              <a:ext cx="71742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业务价值链</a:t>
              </a:r>
            </a:p>
          </p:txBody>
        </p:sp>
        <p:sp>
          <p:nvSpPr>
            <p:cNvPr id="107" name="Freeform 107"/>
            <p:cNvSpPr/>
            <p:nvPr/>
          </p:nvSpPr>
          <p:spPr>
            <a:xfrm>
              <a:off x="5029200" y="2876550"/>
              <a:ext cx="1181100" cy="304800"/>
            </a:xfrm>
            <a:prstGeom prst="chevron">
              <a:avLst/>
            </a:prstGeom>
            <a:solidFill>
              <a:srgbClr val="A52D12"/>
            </a:solidFill>
            <a:ln>
              <a:noFill/>
            </a:ln>
          </p:spPr>
        </p:sp>
        <p:sp>
          <p:nvSpPr>
            <p:cNvPr id="108" name="Freeform 108"/>
            <p:cNvSpPr/>
            <p:nvPr/>
          </p:nvSpPr>
          <p:spPr>
            <a:xfrm>
              <a:off x="6324600" y="2876550"/>
              <a:ext cx="1181100" cy="304800"/>
            </a:xfrm>
            <a:prstGeom prst="chevron">
              <a:avLst/>
            </a:prstGeom>
            <a:solidFill>
              <a:srgbClr val="B0391E"/>
            </a:solidFill>
            <a:ln>
              <a:noFill/>
            </a:ln>
          </p:spPr>
        </p:sp>
        <p:sp>
          <p:nvSpPr>
            <p:cNvPr id="109" name="Freeform 109"/>
            <p:cNvSpPr/>
            <p:nvPr/>
          </p:nvSpPr>
          <p:spPr>
            <a:xfrm>
              <a:off x="7620000" y="2876550"/>
              <a:ext cx="1181100" cy="304800"/>
            </a:xfrm>
            <a:prstGeom prst="chevron">
              <a:avLst/>
            </a:prstGeom>
            <a:solidFill>
              <a:srgbClr val="C0412B"/>
            </a:solidFill>
            <a:ln>
              <a:noFill/>
            </a:ln>
          </p:spPr>
        </p:sp>
        <p:sp>
          <p:nvSpPr>
            <p:cNvPr id="110" name="Freeform 110"/>
            <p:cNvSpPr/>
            <p:nvPr/>
          </p:nvSpPr>
          <p:spPr>
            <a:xfrm>
              <a:off x="8915400" y="2876550"/>
              <a:ext cx="1181100" cy="304800"/>
            </a:xfrm>
            <a:prstGeom prst="chevron">
              <a:avLst/>
            </a:prstGeom>
            <a:solidFill>
              <a:srgbClr val="CE6654"/>
            </a:solidFill>
            <a:ln>
              <a:noFill/>
            </a:ln>
          </p:spPr>
        </p:sp>
        <p:sp>
          <p:nvSpPr>
            <p:cNvPr id="111" name="Freeform 111"/>
            <p:cNvSpPr/>
            <p:nvPr/>
          </p:nvSpPr>
          <p:spPr>
            <a:xfrm>
              <a:off x="10210800" y="2876550"/>
              <a:ext cx="1181100" cy="304800"/>
            </a:xfrm>
            <a:prstGeom prst="chevron">
              <a:avLst/>
            </a:prstGeom>
            <a:solidFill>
              <a:srgbClr val="DA8374"/>
            </a:solidFill>
            <a:ln>
              <a:noFill/>
            </a:ln>
          </p:spPr>
        </p:sp>
        <p:sp>
          <p:nvSpPr>
            <p:cNvPr id="112" name="TextBox 112"/>
            <p:cNvSpPr txBox="1"/>
            <p:nvPr/>
          </p:nvSpPr>
          <p:spPr>
            <a:xfrm>
              <a:off x="5429821" y="2922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融资顾问</a:t>
              </a:r>
            </a:p>
          </p:txBody>
        </p:sp>
        <p:sp>
          <p:nvSpPr>
            <p:cNvPr id="113" name="TextBox 113"/>
            <p:cNvSpPr txBox="1"/>
            <p:nvPr/>
          </p:nvSpPr>
          <p:spPr>
            <a:xfrm>
              <a:off x="6725221" y="2922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方案设计</a:t>
              </a:r>
            </a:p>
          </p:txBody>
        </p:sp>
        <p:sp>
          <p:nvSpPr>
            <p:cNvPr id="114" name="TextBox 114"/>
            <p:cNvSpPr txBox="1"/>
            <p:nvPr/>
          </p:nvSpPr>
          <p:spPr>
            <a:xfrm>
              <a:off x="8020621" y="2922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发行承销</a:t>
              </a:r>
            </a:p>
          </p:txBody>
        </p:sp>
        <p:sp>
          <p:nvSpPr>
            <p:cNvPr id="115" name="TextBox 115"/>
            <p:cNvSpPr txBox="1"/>
            <p:nvPr/>
          </p:nvSpPr>
          <p:spPr>
            <a:xfrm>
              <a:off x="9316022" y="2922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投资交易</a:t>
              </a:r>
            </a:p>
          </p:txBody>
        </p:sp>
        <p:sp>
          <p:nvSpPr>
            <p:cNvPr id="116" name="TextBox 116"/>
            <p:cNvSpPr txBox="1"/>
            <p:nvPr/>
          </p:nvSpPr>
          <p:spPr>
            <a:xfrm>
              <a:off x="10611422" y="2922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存续管理</a:t>
              </a:r>
            </a:p>
          </p:txBody>
        </p:sp>
        <p:sp>
          <p:nvSpPr>
            <p:cNvPr id="117" name="Rectangle 117"/>
            <p:cNvSpPr/>
            <p:nvPr/>
          </p:nvSpPr>
          <p:spPr>
            <a:xfrm>
              <a:off x="5295900" y="3200400"/>
              <a:ext cx="95250" cy="95250"/>
            </a:xfrm>
            <a:prstGeom prst="rect">
              <a:avLst/>
            </a:prstGeom>
            <a:solidFill>
              <a:srgbClr val="A52D12"/>
            </a:solidFill>
            <a:ln>
              <a:noFill/>
            </a:ln>
          </p:spPr>
        </p:sp>
        <p:sp>
          <p:nvSpPr>
            <p:cNvPr id="118" name="TextBox 118"/>
            <p:cNvSpPr txBox="1"/>
            <p:nvPr/>
          </p:nvSpPr>
          <p:spPr>
            <a:xfrm>
              <a:off x="5443538" y="3205162"/>
              <a:ext cx="122110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金融市场资产规模（左轴）</a:t>
              </a:r>
            </a:p>
          </p:txBody>
        </p:sp>
        <p:sp>
          <p:nvSpPr>
            <p:cNvPr id="119" name="Line 119"/>
            <p:cNvSpPr/>
            <p:nvPr/>
          </p:nvSpPr>
          <p:spPr>
            <a:xfrm>
              <a:off x="7067550" y="3248025"/>
              <a:ext cx="228600" cy="9525"/>
            </a:xfrm>
            <a:custGeom>
              <a:avLst/>
              <a:gdLst/>
              <a:ahLst/>
              <a:cxnLst/>
              <a:rect l="l" t="t" r="r" b="b"/>
              <a:pathLst>
                <a:path w="228600" h="9525">
                  <a:moveTo>
                    <a:pt x="0" y="0"/>
                  </a:moveTo>
                  <a:lnTo>
                    <a:pt x="228600" y="0"/>
                  </a:lnTo>
                </a:path>
              </a:pathLst>
            </a:custGeom>
            <a:noFill/>
            <a:ln w="17145">
              <a:solidFill>
                <a:srgbClr val="C9604E"/>
              </a:solidFill>
            </a:ln>
          </p:spPr>
        </p:sp>
        <p:sp>
          <p:nvSpPr>
            <p:cNvPr id="120" name="Ellipse 120"/>
            <p:cNvSpPr/>
            <p:nvPr/>
          </p:nvSpPr>
          <p:spPr>
            <a:xfrm>
              <a:off x="7148512" y="3214688"/>
              <a:ext cx="66675" cy="66675"/>
            </a:xfrm>
            <a:prstGeom prst="ellipse">
              <a:avLst/>
            </a:prstGeom>
            <a:solidFill>
              <a:srgbClr val="FFFFFF"/>
            </a:solidFill>
            <a:ln w="17145">
              <a:solidFill>
                <a:srgbClr val="C9604E"/>
              </a:solidFill>
            </a:ln>
          </p:spPr>
        </p:sp>
        <p:sp>
          <p:nvSpPr>
            <p:cNvPr id="121" name="TextBox 121"/>
            <p:cNvSpPr txBox="1"/>
            <p:nvPr/>
          </p:nvSpPr>
          <p:spPr>
            <a:xfrm>
              <a:off x="7348538" y="3205162"/>
              <a:ext cx="81724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投行中收（右轴）</a:t>
              </a:r>
            </a:p>
          </p:txBody>
        </p:sp>
        <p:sp>
          <p:nvSpPr>
            <p:cNvPr id="122" name="TextBox 122"/>
            <p:cNvSpPr txBox="1"/>
            <p:nvPr/>
          </p:nvSpPr>
          <p:spPr>
            <a:xfrm>
              <a:off x="5138738" y="3405188"/>
              <a:ext cx="468916" cy="147638"/>
            </a:xfrm>
            <a:prstGeom prst="rect">
              <a:avLst/>
            </a:prstGeom>
            <a:noFill/>
            <a:ln>
              <a:noFill/>
            </a:ln>
          </p:spPr>
          <p:txBody>
            <a:bodyPr wrap="none" lIns="0" tIns="0" rIns="0" bIns="0" anchor="t" anchorCtr="0">
              <a:spAutoFit/>
            </a:bodyPr>
            <a:lstStyle/>
            <a:p>
              <a:pPr algn="l"/>
              <a:r>
                <a:rPr lang="zh-CN" sz="750" dirty="0">
                  <a:solidFill>
                    <a:srgbClr val="8A8A8A"/>
                  </a:solidFill>
                  <a:latin typeface="+mn-lt"/>
                  <a:ea typeface="+mn-ea"/>
                  <a:cs typeface="+mn-cs"/>
                </a:rPr>
                <a:t>（亿元）​</a:t>
              </a:r>
            </a:p>
          </p:txBody>
        </p:sp>
        <p:sp>
          <p:nvSpPr>
            <p:cNvPr id="123" name="Line 123"/>
            <p:cNvSpPr/>
            <p:nvPr/>
          </p:nvSpPr>
          <p:spPr>
            <a:xfrm>
              <a:off x="5524500" y="3524250"/>
              <a:ext cx="5715000" cy="9525"/>
            </a:xfrm>
            <a:custGeom>
              <a:avLst/>
              <a:gdLst/>
              <a:ahLst/>
              <a:cxnLst/>
              <a:rect l="l" t="t" r="r" b="b"/>
              <a:pathLst>
                <a:path w="5715000" h="9525">
                  <a:moveTo>
                    <a:pt x="0" y="0"/>
                  </a:moveTo>
                  <a:lnTo>
                    <a:pt x="5715000" y="0"/>
                  </a:lnTo>
                </a:path>
              </a:pathLst>
            </a:custGeom>
            <a:noFill/>
            <a:ln w="9525">
              <a:solidFill>
                <a:srgbClr val="EDE4E2"/>
              </a:solidFill>
            </a:ln>
          </p:spPr>
        </p:sp>
        <p:sp>
          <p:nvSpPr>
            <p:cNvPr id="124" name="Line 124"/>
            <p:cNvSpPr/>
            <p:nvPr/>
          </p:nvSpPr>
          <p:spPr>
            <a:xfrm>
              <a:off x="5524500" y="3952875"/>
              <a:ext cx="5715000" cy="9525"/>
            </a:xfrm>
            <a:custGeom>
              <a:avLst/>
              <a:gdLst/>
              <a:ahLst/>
              <a:cxnLst/>
              <a:rect l="l" t="t" r="r" b="b"/>
              <a:pathLst>
                <a:path w="5715000" h="9525">
                  <a:moveTo>
                    <a:pt x="0" y="0"/>
                  </a:moveTo>
                  <a:lnTo>
                    <a:pt x="5715000" y="0"/>
                  </a:lnTo>
                </a:path>
              </a:pathLst>
            </a:custGeom>
            <a:noFill/>
            <a:ln w="9525">
              <a:solidFill>
                <a:srgbClr val="EDE4E2"/>
              </a:solidFill>
            </a:ln>
          </p:spPr>
        </p:sp>
        <p:sp>
          <p:nvSpPr>
            <p:cNvPr id="125" name="Line 125"/>
            <p:cNvSpPr/>
            <p:nvPr/>
          </p:nvSpPr>
          <p:spPr>
            <a:xfrm>
              <a:off x="5524500" y="4381500"/>
              <a:ext cx="5715000" cy="9525"/>
            </a:xfrm>
            <a:custGeom>
              <a:avLst/>
              <a:gdLst/>
              <a:ahLst/>
              <a:cxnLst/>
              <a:rect l="l" t="t" r="r" b="b"/>
              <a:pathLst>
                <a:path w="5715000" h="9525">
                  <a:moveTo>
                    <a:pt x="0" y="0"/>
                  </a:moveTo>
                  <a:lnTo>
                    <a:pt x="5715000" y="0"/>
                  </a:lnTo>
                </a:path>
              </a:pathLst>
            </a:custGeom>
            <a:noFill/>
            <a:ln w="9525">
              <a:solidFill>
                <a:srgbClr val="EDE4E2"/>
              </a:solidFill>
            </a:ln>
          </p:spPr>
        </p:sp>
        <p:sp>
          <p:nvSpPr>
            <p:cNvPr id="126" name="Line 126"/>
            <p:cNvSpPr/>
            <p:nvPr/>
          </p:nvSpPr>
          <p:spPr>
            <a:xfrm>
              <a:off x="5524500" y="4810125"/>
              <a:ext cx="5715000" cy="9525"/>
            </a:xfrm>
            <a:custGeom>
              <a:avLst/>
              <a:gdLst/>
              <a:ahLst/>
              <a:cxnLst/>
              <a:rect l="l" t="t" r="r" b="b"/>
              <a:pathLst>
                <a:path w="5715000" h="9525">
                  <a:moveTo>
                    <a:pt x="0" y="0"/>
                  </a:moveTo>
                  <a:lnTo>
                    <a:pt x="5715000" y="0"/>
                  </a:lnTo>
                </a:path>
              </a:pathLst>
            </a:custGeom>
            <a:noFill/>
            <a:ln w="9525">
              <a:solidFill>
                <a:srgbClr val="EDE4E2"/>
              </a:solidFill>
            </a:ln>
          </p:spPr>
        </p:sp>
        <p:sp>
          <p:nvSpPr>
            <p:cNvPr id="127" name="Line 127"/>
            <p:cNvSpPr/>
            <p:nvPr/>
          </p:nvSpPr>
          <p:spPr>
            <a:xfrm>
              <a:off x="5524500" y="5238750"/>
              <a:ext cx="5715000" cy="9525"/>
            </a:xfrm>
            <a:custGeom>
              <a:avLst/>
              <a:gdLst/>
              <a:ahLst/>
              <a:cxnLst/>
              <a:rect l="l" t="t" r="r" b="b"/>
              <a:pathLst>
                <a:path w="5715000" h="9525">
                  <a:moveTo>
                    <a:pt x="0" y="0"/>
                  </a:moveTo>
                  <a:lnTo>
                    <a:pt x="5715000" y="0"/>
                  </a:lnTo>
                </a:path>
              </a:pathLst>
            </a:custGeom>
            <a:noFill/>
            <a:ln w="9525">
              <a:solidFill>
                <a:srgbClr val="C9BBB8"/>
              </a:solidFill>
            </a:ln>
          </p:spPr>
        </p:sp>
        <p:sp>
          <p:nvSpPr>
            <p:cNvPr id="128" name="TextBox 128"/>
            <p:cNvSpPr txBox="1"/>
            <p:nvPr/>
          </p:nvSpPr>
          <p:spPr>
            <a:xfrm>
              <a:off x="5376499" y="5199936"/>
              <a:ext cx="114663"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a:t>
              </a:r>
            </a:p>
          </p:txBody>
        </p:sp>
        <p:sp>
          <p:nvSpPr>
            <p:cNvPr id="129" name="TextBox 129"/>
            <p:cNvSpPr txBox="1"/>
            <p:nvPr/>
          </p:nvSpPr>
          <p:spPr>
            <a:xfrm>
              <a:off x="5271361" y="4771311"/>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800​</a:t>
              </a:r>
            </a:p>
          </p:txBody>
        </p:sp>
        <p:sp>
          <p:nvSpPr>
            <p:cNvPr id="130" name="TextBox 130"/>
            <p:cNvSpPr txBox="1"/>
            <p:nvPr/>
          </p:nvSpPr>
          <p:spPr>
            <a:xfrm>
              <a:off x="5166223" y="4342686"/>
              <a:ext cx="324940"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1,600​</a:t>
              </a:r>
            </a:p>
          </p:txBody>
        </p:sp>
        <p:sp>
          <p:nvSpPr>
            <p:cNvPr id="131" name="TextBox 131"/>
            <p:cNvSpPr txBox="1"/>
            <p:nvPr/>
          </p:nvSpPr>
          <p:spPr>
            <a:xfrm>
              <a:off x="5166223" y="3914061"/>
              <a:ext cx="324940"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2,400​</a:t>
              </a:r>
            </a:p>
          </p:txBody>
        </p:sp>
        <p:sp>
          <p:nvSpPr>
            <p:cNvPr id="132" name="TextBox 132"/>
            <p:cNvSpPr txBox="1"/>
            <p:nvPr/>
          </p:nvSpPr>
          <p:spPr>
            <a:xfrm>
              <a:off x="5166223" y="3485436"/>
              <a:ext cx="324940"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3,200​</a:t>
              </a:r>
            </a:p>
          </p:txBody>
        </p:sp>
        <p:sp>
          <p:nvSpPr>
            <p:cNvPr id="133" name="TextBox 133"/>
            <p:cNvSpPr txBox="1"/>
            <p:nvPr/>
          </p:nvSpPr>
          <p:spPr>
            <a:xfrm>
              <a:off x="11272838" y="5199936"/>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0​</a:t>
              </a:r>
            </a:p>
          </p:txBody>
        </p:sp>
        <p:sp>
          <p:nvSpPr>
            <p:cNvPr id="134" name="TextBox 134"/>
            <p:cNvSpPr txBox="1"/>
            <p:nvPr/>
          </p:nvSpPr>
          <p:spPr>
            <a:xfrm>
              <a:off x="11272838" y="4771311"/>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3​</a:t>
              </a:r>
            </a:p>
          </p:txBody>
        </p:sp>
        <p:sp>
          <p:nvSpPr>
            <p:cNvPr id="135" name="TextBox 135"/>
            <p:cNvSpPr txBox="1"/>
            <p:nvPr/>
          </p:nvSpPr>
          <p:spPr>
            <a:xfrm>
              <a:off x="11272838" y="4342686"/>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6​</a:t>
              </a:r>
            </a:p>
          </p:txBody>
        </p:sp>
        <p:sp>
          <p:nvSpPr>
            <p:cNvPr id="136" name="TextBox 136"/>
            <p:cNvSpPr txBox="1"/>
            <p:nvPr/>
          </p:nvSpPr>
          <p:spPr>
            <a:xfrm>
              <a:off x="11272838" y="3914061"/>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9​</a:t>
              </a:r>
            </a:p>
          </p:txBody>
        </p:sp>
        <p:sp>
          <p:nvSpPr>
            <p:cNvPr id="137" name="TextBox 137"/>
            <p:cNvSpPr txBox="1"/>
            <p:nvPr/>
          </p:nvSpPr>
          <p:spPr>
            <a:xfrm>
              <a:off x="11272838" y="3485436"/>
              <a:ext cx="167232"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12​</a:t>
              </a:r>
            </a:p>
          </p:txBody>
        </p:sp>
        <p:sp>
          <p:nvSpPr>
            <p:cNvPr id="138" name="Rectangle 138"/>
            <p:cNvSpPr/>
            <p:nvPr/>
          </p:nvSpPr>
          <p:spPr>
            <a:xfrm>
              <a:off x="5448300" y="4398645"/>
              <a:ext cx="342900" cy="840105"/>
            </a:xfrm>
            <a:prstGeom prst="rect">
              <a:avLst/>
            </a:prstGeom>
            <a:solidFill>
              <a:srgbClr val="A52D12"/>
            </a:solidFill>
            <a:ln>
              <a:noFill/>
            </a:ln>
          </p:spPr>
        </p:sp>
        <p:sp>
          <p:nvSpPr>
            <p:cNvPr id="139" name="Rectangle 139"/>
            <p:cNvSpPr/>
            <p:nvPr/>
          </p:nvSpPr>
          <p:spPr>
            <a:xfrm>
              <a:off x="6496050" y="4255770"/>
              <a:ext cx="342900" cy="982980"/>
            </a:xfrm>
            <a:prstGeom prst="rect">
              <a:avLst/>
            </a:prstGeom>
            <a:solidFill>
              <a:srgbClr val="A52D12"/>
            </a:solidFill>
            <a:ln>
              <a:noFill/>
            </a:ln>
          </p:spPr>
        </p:sp>
        <p:sp>
          <p:nvSpPr>
            <p:cNvPr id="140" name="Rectangle 140"/>
            <p:cNvSpPr/>
            <p:nvPr/>
          </p:nvSpPr>
          <p:spPr>
            <a:xfrm>
              <a:off x="7543800" y="4057650"/>
              <a:ext cx="342900" cy="1181100"/>
            </a:xfrm>
            <a:prstGeom prst="rect">
              <a:avLst/>
            </a:prstGeom>
            <a:solidFill>
              <a:srgbClr val="A52D12"/>
            </a:solidFill>
            <a:ln>
              <a:noFill/>
            </a:ln>
          </p:spPr>
        </p:sp>
        <p:sp>
          <p:nvSpPr>
            <p:cNvPr id="141" name="Rectangle 141"/>
            <p:cNvSpPr/>
            <p:nvPr/>
          </p:nvSpPr>
          <p:spPr>
            <a:xfrm>
              <a:off x="8591550" y="4068128"/>
              <a:ext cx="342900" cy="1170622"/>
            </a:xfrm>
            <a:prstGeom prst="rect">
              <a:avLst/>
            </a:prstGeom>
            <a:solidFill>
              <a:srgbClr val="A52D12"/>
            </a:solidFill>
            <a:ln>
              <a:noFill/>
            </a:ln>
          </p:spPr>
        </p:sp>
        <p:sp>
          <p:nvSpPr>
            <p:cNvPr id="142" name="Rectangle 142"/>
            <p:cNvSpPr/>
            <p:nvPr/>
          </p:nvSpPr>
          <p:spPr>
            <a:xfrm>
              <a:off x="9639300" y="3963352"/>
              <a:ext cx="342900" cy="1275398"/>
            </a:xfrm>
            <a:prstGeom prst="rect">
              <a:avLst/>
            </a:prstGeom>
            <a:solidFill>
              <a:srgbClr val="A52D12"/>
            </a:solidFill>
            <a:ln>
              <a:noFill/>
            </a:ln>
          </p:spPr>
        </p:sp>
        <p:sp>
          <p:nvSpPr>
            <p:cNvPr id="143" name="TextBox 143"/>
            <p:cNvSpPr txBox="1"/>
            <p:nvPr/>
          </p:nvSpPr>
          <p:spPr>
            <a:xfrm>
              <a:off x="5440066" y="4452938"/>
              <a:ext cx="359369"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1,568​</a:t>
              </a:r>
            </a:p>
          </p:txBody>
        </p:sp>
        <p:sp>
          <p:nvSpPr>
            <p:cNvPr id="144" name="TextBox 144"/>
            <p:cNvSpPr txBox="1"/>
            <p:nvPr/>
          </p:nvSpPr>
          <p:spPr>
            <a:xfrm>
              <a:off x="6487816" y="4310062"/>
              <a:ext cx="359369"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1,835​</a:t>
              </a:r>
            </a:p>
          </p:txBody>
        </p:sp>
        <p:sp>
          <p:nvSpPr>
            <p:cNvPr id="145" name="TextBox 145"/>
            <p:cNvSpPr txBox="1"/>
            <p:nvPr/>
          </p:nvSpPr>
          <p:spPr>
            <a:xfrm>
              <a:off x="7535566" y="4110038"/>
              <a:ext cx="359369"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2,205​</a:t>
              </a:r>
            </a:p>
          </p:txBody>
        </p:sp>
        <p:sp>
          <p:nvSpPr>
            <p:cNvPr id="146" name="TextBox 146"/>
            <p:cNvSpPr txBox="1"/>
            <p:nvPr/>
          </p:nvSpPr>
          <p:spPr>
            <a:xfrm>
              <a:off x="8583316" y="4119562"/>
              <a:ext cx="359369"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2,185​</a:t>
              </a:r>
            </a:p>
          </p:txBody>
        </p:sp>
        <p:sp>
          <p:nvSpPr>
            <p:cNvPr id="147" name="TextBox 147"/>
            <p:cNvSpPr txBox="1"/>
            <p:nvPr/>
          </p:nvSpPr>
          <p:spPr>
            <a:xfrm>
              <a:off x="9631066" y="4014788"/>
              <a:ext cx="359369"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2,380​</a:t>
              </a:r>
            </a:p>
          </p:txBody>
        </p:sp>
        <p:sp>
          <p:nvSpPr>
            <p:cNvPr id="148" name="Polyline 148"/>
            <p:cNvSpPr/>
            <p:nvPr/>
          </p:nvSpPr>
          <p:spPr>
            <a:xfrm>
              <a:off x="5619750" y="3867150"/>
              <a:ext cx="4191000" cy="386715"/>
            </a:xfrm>
            <a:custGeom>
              <a:avLst/>
              <a:gdLst/>
              <a:ahLst/>
              <a:cxnLst/>
              <a:rect l="l" t="t" r="r" b="b"/>
              <a:pathLst>
                <a:path w="4191000" h="386715">
                  <a:moveTo>
                    <a:pt x="0" y="386715"/>
                  </a:moveTo>
                  <a:lnTo>
                    <a:pt x="1047750" y="285750"/>
                  </a:lnTo>
                  <a:lnTo>
                    <a:pt x="2095500" y="171450"/>
                  </a:lnTo>
                  <a:lnTo>
                    <a:pt x="3143250" y="114300"/>
                  </a:lnTo>
                  <a:lnTo>
                    <a:pt x="4191000" y="0"/>
                  </a:lnTo>
                </a:path>
              </a:pathLst>
            </a:custGeom>
            <a:noFill/>
            <a:ln w="19050">
              <a:solidFill>
                <a:srgbClr val="C9604E"/>
              </a:solidFill>
            </a:ln>
          </p:spPr>
        </p:sp>
        <p:sp>
          <p:nvSpPr>
            <p:cNvPr id="149" name="Ellipse 149"/>
            <p:cNvSpPr/>
            <p:nvPr/>
          </p:nvSpPr>
          <p:spPr>
            <a:xfrm>
              <a:off x="5581650" y="4215765"/>
              <a:ext cx="76200" cy="76200"/>
            </a:xfrm>
            <a:prstGeom prst="ellipse">
              <a:avLst/>
            </a:prstGeom>
            <a:solidFill>
              <a:srgbClr val="FFFFFF"/>
            </a:solidFill>
            <a:ln w="19050">
              <a:solidFill>
                <a:srgbClr val="C9604E"/>
              </a:solidFill>
            </a:ln>
          </p:spPr>
        </p:sp>
        <p:sp>
          <p:nvSpPr>
            <p:cNvPr id="150" name="Ellipse 150"/>
            <p:cNvSpPr/>
            <p:nvPr/>
          </p:nvSpPr>
          <p:spPr>
            <a:xfrm>
              <a:off x="6629400" y="4114800"/>
              <a:ext cx="76200" cy="76200"/>
            </a:xfrm>
            <a:prstGeom prst="ellipse">
              <a:avLst/>
            </a:prstGeom>
            <a:solidFill>
              <a:srgbClr val="FFFFFF"/>
            </a:solidFill>
            <a:ln w="19050">
              <a:solidFill>
                <a:srgbClr val="C9604E"/>
              </a:solidFill>
            </a:ln>
          </p:spPr>
        </p:sp>
        <p:sp>
          <p:nvSpPr>
            <p:cNvPr id="151" name="Ellipse 151"/>
            <p:cNvSpPr/>
            <p:nvPr/>
          </p:nvSpPr>
          <p:spPr>
            <a:xfrm>
              <a:off x="7677150" y="4000500"/>
              <a:ext cx="76200" cy="76200"/>
            </a:xfrm>
            <a:prstGeom prst="ellipse">
              <a:avLst/>
            </a:prstGeom>
            <a:solidFill>
              <a:srgbClr val="FFFFFF"/>
            </a:solidFill>
            <a:ln w="19050">
              <a:solidFill>
                <a:srgbClr val="C9604E"/>
              </a:solidFill>
            </a:ln>
          </p:spPr>
        </p:sp>
        <p:sp>
          <p:nvSpPr>
            <p:cNvPr id="152" name="Ellipse 152"/>
            <p:cNvSpPr/>
            <p:nvPr/>
          </p:nvSpPr>
          <p:spPr>
            <a:xfrm>
              <a:off x="8724900" y="3943350"/>
              <a:ext cx="76200" cy="76200"/>
            </a:xfrm>
            <a:prstGeom prst="ellipse">
              <a:avLst/>
            </a:prstGeom>
            <a:solidFill>
              <a:srgbClr val="FFFFFF"/>
            </a:solidFill>
            <a:ln w="19050">
              <a:solidFill>
                <a:srgbClr val="C9604E"/>
              </a:solidFill>
            </a:ln>
          </p:spPr>
        </p:sp>
        <p:sp>
          <p:nvSpPr>
            <p:cNvPr id="153" name="Ellipse 153"/>
            <p:cNvSpPr/>
            <p:nvPr/>
          </p:nvSpPr>
          <p:spPr>
            <a:xfrm>
              <a:off x="9772650" y="3829050"/>
              <a:ext cx="76200" cy="76200"/>
            </a:xfrm>
            <a:prstGeom prst="ellipse">
              <a:avLst/>
            </a:prstGeom>
            <a:solidFill>
              <a:srgbClr val="FFFFFF"/>
            </a:solidFill>
            <a:ln w="19050">
              <a:solidFill>
                <a:srgbClr val="C9604E"/>
              </a:solidFill>
            </a:ln>
          </p:spPr>
        </p:sp>
        <p:sp>
          <p:nvSpPr>
            <p:cNvPr id="154" name="TextBox 154"/>
            <p:cNvSpPr txBox="1"/>
            <p:nvPr/>
          </p:nvSpPr>
          <p:spPr>
            <a:xfrm>
              <a:off x="5504592" y="4095036"/>
              <a:ext cx="230315"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6.9​</a:t>
              </a:r>
            </a:p>
          </p:txBody>
        </p:sp>
        <p:sp>
          <p:nvSpPr>
            <p:cNvPr id="155" name="TextBox 155"/>
            <p:cNvSpPr txBox="1"/>
            <p:nvPr/>
          </p:nvSpPr>
          <p:spPr>
            <a:xfrm>
              <a:off x="6552342" y="3990261"/>
              <a:ext cx="230315"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7.6​</a:t>
              </a:r>
            </a:p>
          </p:txBody>
        </p:sp>
        <p:sp>
          <p:nvSpPr>
            <p:cNvPr id="156" name="TextBox 156"/>
            <p:cNvSpPr txBox="1"/>
            <p:nvPr/>
          </p:nvSpPr>
          <p:spPr>
            <a:xfrm>
              <a:off x="7600092" y="3875961"/>
              <a:ext cx="230315"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8.4​</a:t>
              </a:r>
            </a:p>
          </p:txBody>
        </p:sp>
        <p:sp>
          <p:nvSpPr>
            <p:cNvPr id="157" name="TextBox 157"/>
            <p:cNvSpPr txBox="1"/>
            <p:nvPr/>
          </p:nvSpPr>
          <p:spPr>
            <a:xfrm>
              <a:off x="8647842" y="3818811"/>
              <a:ext cx="230315"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8.8​</a:t>
              </a:r>
            </a:p>
          </p:txBody>
        </p:sp>
        <p:sp>
          <p:nvSpPr>
            <p:cNvPr id="158" name="TextBox 158"/>
            <p:cNvSpPr txBox="1"/>
            <p:nvPr/>
          </p:nvSpPr>
          <p:spPr>
            <a:xfrm>
              <a:off x="9695592" y="3704511"/>
              <a:ext cx="230315"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9.6​</a:t>
              </a:r>
            </a:p>
          </p:txBody>
        </p:sp>
        <p:sp>
          <p:nvSpPr>
            <p:cNvPr id="159" name="TextBox 159"/>
            <p:cNvSpPr txBox="1"/>
            <p:nvPr/>
          </p:nvSpPr>
          <p:spPr>
            <a:xfrm>
              <a:off x="5415582" y="5363289"/>
              <a:ext cx="408337"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2022年​</a:t>
              </a:r>
            </a:p>
          </p:txBody>
        </p:sp>
        <p:sp>
          <p:nvSpPr>
            <p:cNvPr id="160" name="TextBox 160"/>
            <p:cNvSpPr txBox="1"/>
            <p:nvPr/>
          </p:nvSpPr>
          <p:spPr>
            <a:xfrm>
              <a:off x="6463332" y="5363289"/>
              <a:ext cx="408337"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2023年​</a:t>
              </a:r>
            </a:p>
          </p:txBody>
        </p:sp>
        <p:sp>
          <p:nvSpPr>
            <p:cNvPr id="161" name="TextBox 161"/>
            <p:cNvSpPr txBox="1"/>
            <p:nvPr/>
          </p:nvSpPr>
          <p:spPr>
            <a:xfrm>
              <a:off x="7511082" y="5363289"/>
              <a:ext cx="408337"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2024年​</a:t>
              </a:r>
            </a:p>
          </p:txBody>
        </p:sp>
        <p:sp>
          <p:nvSpPr>
            <p:cNvPr id="162" name="TextBox 162"/>
            <p:cNvSpPr txBox="1"/>
            <p:nvPr/>
          </p:nvSpPr>
          <p:spPr>
            <a:xfrm>
              <a:off x="8484136" y="5363289"/>
              <a:ext cx="557728"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2025年Q1​</a:t>
              </a:r>
            </a:p>
          </p:txBody>
        </p:sp>
        <p:sp>
          <p:nvSpPr>
            <p:cNvPr id="163" name="TextBox 163"/>
            <p:cNvSpPr txBox="1"/>
            <p:nvPr/>
          </p:nvSpPr>
          <p:spPr>
            <a:xfrm>
              <a:off x="9543123" y="5363289"/>
              <a:ext cx="53525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2025年H1​</a:t>
              </a:r>
            </a:p>
          </p:txBody>
        </p:sp>
      </p:grpSp>
      <p:grpSp>
        <p:nvGrpSpPr>
          <p:cNvPr id="174" name="conclusion"/>
          <p:cNvGrpSpPr/>
          <p:nvPr/>
        </p:nvGrpSpPr>
        <p:grpSpPr>
          <a:xfrm>
            <a:off x="381000" y="5772150"/>
            <a:ext cx="11430000" cy="647700"/>
            <a:chOff x="381000" y="5772150"/>
            <a:chExt cx="11430000" cy="647700"/>
          </a:xfrm>
        </p:grpSpPr>
        <p:sp>
          <p:nvSpPr>
            <p:cNvPr id="165" name="Rectangle 165"/>
            <p:cNvSpPr/>
            <p:nvPr/>
          </p:nvSpPr>
          <p:spPr>
            <a:xfrm>
              <a:off x="381000" y="5772150"/>
              <a:ext cx="11430000" cy="647700"/>
            </a:xfrm>
            <a:prstGeom prst="roundRect">
              <a:avLst>
                <a:gd name="adj" fmla="val 14706"/>
              </a:avLst>
            </a:prstGeom>
            <a:solidFill>
              <a:srgbClr val="FBEFEE"/>
            </a:solidFill>
            <a:ln w="9525">
              <a:solidFill>
                <a:srgbClr val="EDD5D2"/>
              </a:solidFill>
            </a:ln>
          </p:spPr>
        </p:sp>
        <p:sp>
          <p:nvSpPr>
            <p:cNvPr id="166" name="Freeform 166"/>
            <p:cNvSpPr/>
            <p:nvPr/>
          </p:nvSpPr>
          <p:spPr>
            <a:xfrm>
              <a:off x="1428750" y="5972175"/>
              <a:ext cx="666750" cy="247650"/>
            </a:xfrm>
            <a:prstGeom prst="rightArrow">
              <a:avLst/>
            </a:prstGeom>
            <a:solidFill>
              <a:srgbClr val="C9604E"/>
            </a:solidFill>
            <a:ln>
              <a:noFill/>
            </a:ln>
          </p:spPr>
        </p:sp>
        <p:sp>
          <p:nvSpPr>
            <p:cNvPr id="167" name="Ellipse 167"/>
            <p:cNvSpPr/>
            <p:nvPr/>
          </p:nvSpPr>
          <p:spPr>
            <a:xfrm>
              <a:off x="723900" y="5886450"/>
              <a:ext cx="419100" cy="419100"/>
            </a:xfrm>
            <a:prstGeom prst="ellipse">
              <a:avLst/>
            </a:prstGeom>
            <a:solidFill>
              <a:srgbClr val="A52D12"/>
            </a:solidFill>
            <a:ln>
              <a:noFill/>
            </a:ln>
          </p:spPr>
        </p:sp>
        <p:grpSp>
          <p:nvGrpSpPr>
            <p:cNvPr id="171" name="Group 171"/>
            <p:cNvGrpSpPr/>
            <p:nvPr/>
          </p:nvGrpSpPr>
          <p:grpSpPr>
            <a:xfrm>
              <a:off x="847725" y="6010275"/>
              <a:ext cx="171450" cy="171450"/>
              <a:chOff x="847725" y="6010275"/>
              <a:chExt cx="171450" cy="171450"/>
            </a:xfrm>
          </p:grpSpPr>
          <p:sp>
            <p:nvSpPr>
              <p:cNvPr id="168" name="Freeform 168"/>
              <p:cNvSpPr/>
              <p:nvPr/>
            </p:nvSpPr>
            <p:spPr>
              <a:xfrm>
                <a:off x="923925" y="60864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169" name="Freeform 169"/>
              <p:cNvSpPr/>
              <p:nvPr/>
            </p:nvSpPr>
            <p:spPr>
              <a:xfrm>
                <a:off x="885825" y="604837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FFFFFF"/>
                </a:solidFill>
              </a:ln>
            </p:spPr>
          </p:sp>
          <p:sp>
            <p:nvSpPr>
              <p:cNvPr id="170" name="Freeform 170"/>
              <p:cNvSpPr/>
              <p:nvPr/>
            </p:nvSpPr>
            <p:spPr>
              <a:xfrm>
                <a:off x="847725" y="60102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grpSp>
        <p:sp>
          <p:nvSpPr>
            <p:cNvPr id="172" name="TextBox 172"/>
            <p:cNvSpPr txBox="1"/>
            <p:nvPr/>
          </p:nvSpPr>
          <p:spPr>
            <a:xfrm>
              <a:off x="4420426" y="6029087"/>
              <a:ext cx="3351149" cy="242030"/>
            </a:xfrm>
            <a:prstGeom prst="rect">
              <a:avLst/>
            </a:prstGeom>
            <a:noFill/>
            <a:ln>
              <a:noFill/>
            </a:ln>
          </p:spPr>
          <p:txBody>
            <a:bodyPr wrap="none" lIns="0" tIns="0" rIns="0" bIns="0" anchor="t" anchorCtr="0">
              <a:spAutoFit/>
            </a:bodyPr>
            <a:lstStyle/>
            <a:p>
              <a:pPr algn="ctr"/>
              <a:r>
                <a:rPr lang="zh-CN" sz="1240" b="1" dirty="0">
                  <a:solidFill>
                    <a:srgbClr val="A52D12"/>
                  </a:solidFill>
                  <a:latin typeface="+mn-lt"/>
                  <a:ea typeface="+mn-ea"/>
                  <a:cs typeface="+mn-cs"/>
                </a:rPr>
                <a:t>提升轻资本、弱周期、低资本消耗业务占比。</a:t>
              </a:r>
            </a:p>
          </p:txBody>
        </p:sp>
        <p:sp>
          <p:nvSpPr>
            <p:cNvPr id="173" name="Freeform 173"/>
            <p:cNvSpPr/>
            <p:nvPr/>
          </p:nvSpPr>
          <p:spPr>
            <a:xfrm>
              <a:off x="10096500" y="5972175"/>
              <a:ext cx="666750" cy="247650"/>
            </a:xfrm>
            <a:prstGeom prst="rightArrow">
              <a:avLst/>
            </a:prstGeom>
            <a:solidFill>
              <a:srgbClr val="C9604E"/>
            </a:solidFill>
            <a:ln>
              <a:noFill/>
            </a:ln>
          </p:spPr>
        </p:sp>
      </p:gr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08​</a:t>
              </a:r>
            </a:p>
          </p:txBody>
        </p:sp>
        <p:sp>
          <p:nvSpPr>
            <p:cNvPr id="4" name="TextBox 4"/>
            <p:cNvSpPr txBox="1"/>
            <p:nvPr/>
          </p:nvSpPr>
          <p:spPr>
            <a:xfrm>
              <a:off x="942594" y="189548"/>
              <a:ext cx="6954012"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从规模吸存转向价值经营，</a:t>
              </a:r>
              <a:r>
                <a:rPr lang="zh-CN" sz="1950" b="1" dirty="0">
                  <a:solidFill>
                    <a:srgbClr val="A52D12"/>
                  </a:solidFill>
                  <a:latin typeface="SimSun"/>
                  <a:ea typeface="SimSun"/>
                  <a:cs typeface="SimSun"/>
                </a:rPr>
                <a:t>负债结构与成本管控取得实效</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16" name="data-strip"/>
          <p:cNvGrpSpPr/>
          <p:nvPr/>
        </p:nvGrpSpPr>
        <p:grpSpPr>
          <a:xfrm>
            <a:off x="381000" y="666750"/>
            <a:ext cx="11430000" cy="381000"/>
            <a:chOff x="381000" y="666750"/>
            <a:chExt cx="11430000" cy="381000"/>
          </a:xfrm>
        </p:grpSpPr>
        <p:sp>
          <p:nvSpPr>
            <p:cNvPr id="7" name="Rectangle 7"/>
            <p:cNvSpPr/>
            <p:nvPr/>
          </p:nvSpPr>
          <p:spPr>
            <a:xfrm>
              <a:off x="381000" y="666750"/>
              <a:ext cx="11430000" cy="381000"/>
            </a:xfrm>
            <a:prstGeom prst="roundRect">
              <a:avLst>
                <a:gd name="adj" fmla="val 15000"/>
              </a:avLst>
            </a:prstGeom>
            <a:solidFill>
              <a:srgbClr val="FBEFEE"/>
            </a:solidFill>
            <a:ln w="9525">
              <a:solidFill>
                <a:srgbClr val="EDD5D2"/>
              </a:solidFill>
            </a:ln>
          </p:spPr>
        </p:sp>
        <p:sp>
          <p:nvSpPr>
            <p:cNvPr id="8" name="Rectangle 8"/>
            <p:cNvSpPr/>
            <p:nvPr/>
          </p:nvSpPr>
          <p:spPr>
            <a:xfrm>
              <a:off x="495300" y="723900"/>
              <a:ext cx="266700" cy="266700"/>
            </a:xfrm>
            <a:prstGeom prst="roundRect">
              <a:avLst>
                <a:gd name="adj" fmla="val 21429"/>
              </a:avLst>
            </a:prstGeom>
            <a:solidFill>
              <a:srgbClr val="A52D12"/>
            </a:solidFill>
            <a:ln>
              <a:noFill/>
            </a:ln>
          </p:spPr>
        </p:sp>
        <p:grpSp>
          <p:nvGrpSpPr>
            <p:cNvPr id="14" name="Group 14"/>
            <p:cNvGrpSpPr/>
            <p:nvPr/>
          </p:nvGrpSpPr>
          <p:grpSpPr>
            <a:xfrm>
              <a:off x="571500" y="799249"/>
              <a:ext cx="114300" cy="115151"/>
              <a:chOff x="571500" y="799249"/>
              <a:chExt cx="114300" cy="115151"/>
            </a:xfrm>
          </p:grpSpPr>
          <p:sp>
            <p:nvSpPr>
              <p:cNvPr id="9" name="Freeform 9"/>
              <p:cNvSpPr/>
              <p:nvPr/>
            </p:nvSpPr>
            <p:spPr>
              <a:xfrm>
                <a:off x="609600" y="8509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FFFFFF"/>
                </a:solidFill>
              </a:ln>
            </p:spPr>
          </p:sp>
          <p:sp>
            <p:nvSpPr>
              <p:cNvPr id="10" name="Freeform 10"/>
              <p:cNvSpPr/>
              <p:nvPr/>
            </p:nvSpPr>
            <p:spPr>
              <a:xfrm>
                <a:off x="609600" y="8699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FFFFFF"/>
                </a:solidFill>
              </a:ln>
            </p:spPr>
          </p:sp>
          <p:sp>
            <p:nvSpPr>
              <p:cNvPr id="11" name="Freeform 11"/>
              <p:cNvSpPr/>
              <p:nvPr/>
            </p:nvSpPr>
            <p:spPr>
              <a:xfrm>
                <a:off x="571500" y="7992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FFFFFF"/>
                </a:solidFill>
              </a:ln>
            </p:spPr>
          </p:sp>
          <p:sp>
            <p:nvSpPr>
              <p:cNvPr id="12" name="Freeform 12"/>
              <p:cNvSpPr/>
              <p:nvPr/>
            </p:nvSpPr>
            <p:spPr>
              <a:xfrm>
                <a:off x="571500" y="8191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FFFFFF"/>
                </a:solidFill>
              </a:ln>
            </p:spPr>
          </p:sp>
          <p:sp>
            <p:nvSpPr>
              <p:cNvPr id="13" name="Freeform 13"/>
              <p:cNvSpPr/>
              <p:nvPr/>
            </p:nvSpPr>
            <p:spPr>
              <a:xfrm>
                <a:off x="571500" y="8509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FFFFFF"/>
                </a:solidFill>
              </a:ln>
            </p:spPr>
          </p:sp>
        </p:grpSp>
        <p:sp>
          <p:nvSpPr>
            <p:cNvPr id="15" name="TextBox 15"/>
            <p:cNvSpPr txBox="1"/>
            <p:nvPr/>
          </p:nvSpPr>
          <p:spPr>
            <a:xfrm>
              <a:off x="890397" y="799624"/>
              <a:ext cx="8409823"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存款余额</a:t>
              </a:r>
              <a:r>
                <a:rPr lang="zh-CN" sz="980" b="1" dirty="0">
                  <a:solidFill>
                    <a:srgbClr val="A52D12"/>
                  </a:solidFill>
                  <a:latin typeface="+mn-lt"/>
                  <a:ea typeface="+mn-ea"/>
                  <a:cs typeface="+mn-cs"/>
                </a:rPr>
                <a:t>1.32万亿元</a:t>
              </a:r>
              <a:r>
                <a:rPr lang="zh-CN" sz="980" dirty="0">
                  <a:solidFill>
                    <a:srgbClr val="3A3A3A"/>
                  </a:solidFill>
                  <a:latin typeface="+mn-lt"/>
                  <a:ea typeface="+mn-ea"/>
                  <a:cs typeface="+mn-cs"/>
                </a:rPr>
                <a:t>（+7.6%）；日均存款</a:t>
              </a:r>
              <a:r>
                <a:rPr lang="zh-CN" sz="980" b="1" dirty="0">
                  <a:solidFill>
                    <a:srgbClr val="A52D12"/>
                  </a:solidFill>
                  <a:latin typeface="+mn-lt"/>
                  <a:ea typeface="+mn-ea"/>
                  <a:cs typeface="+mn-cs"/>
                </a:rPr>
                <a:t>1.27万亿元</a:t>
              </a:r>
              <a:r>
                <a:rPr lang="zh-CN" sz="980" dirty="0">
                  <a:solidFill>
                    <a:srgbClr val="3A3A3A"/>
                  </a:solidFill>
                  <a:latin typeface="+mn-lt"/>
                  <a:ea typeface="+mn-ea"/>
                  <a:cs typeface="+mn-cs"/>
                </a:rPr>
                <a:t xml:space="preserve">（+8.1%）；核心存款占比 </a:t>
              </a:r>
              <a:r>
                <a:rPr lang="zh-CN" sz="980" b="1" dirty="0">
                  <a:solidFill>
                    <a:srgbClr val="A52D12"/>
                  </a:solidFill>
                  <a:latin typeface="+mn-lt"/>
                  <a:ea typeface="+mn-ea"/>
                  <a:cs typeface="+mn-cs"/>
                </a:rPr>
                <a:t>64.2%</a:t>
              </a:r>
              <a:r>
                <a:rPr lang="zh-CN" sz="980" dirty="0">
                  <a:solidFill>
                    <a:srgbClr val="3A3A3A"/>
                  </a:solidFill>
                  <a:latin typeface="+mn-lt"/>
                  <a:ea typeface="+mn-ea"/>
                  <a:cs typeface="+mn-cs"/>
                </a:rPr>
                <a:t>（+2.1个百分点）；付息率</a:t>
              </a:r>
              <a:r>
                <a:rPr lang="zh-CN" sz="980" b="1" dirty="0">
                  <a:solidFill>
                    <a:srgbClr val="A52D12"/>
                  </a:solidFill>
                  <a:latin typeface="+mn-lt"/>
                  <a:ea typeface="+mn-ea"/>
                  <a:cs typeface="+mn-cs"/>
                </a:rPr>
                <a:t>1.61%</a:t>
              </a:r>
              <a:r>
                <a:rPr lang="zh-CN" sz="980" dirty="0">
                  <a:solidFill>
                    <a:srgbClr val="3A3A3A"/>
                  </a:solidFill>
                  <a:latin typeface="+mn-lt"/>
                  <a:ea typeface="+mn-ea"/>
                  <a:cs typeface="+mn-cs"/>
                </a:rPr>
                <a:t>（同比-19BP）。​</a:t>
              </a:r>
            </a:p>
          </p:txBody>
        </p:sp>
      </p:grpSp>
      <p:grpSp>
        <p:nvGrpSpPr>
          <p:cNvPr id="53" name="kpi-cards"/>
          <p:cNvGrpSpPr/>
          <p:nvPr/>
        </p:nvGrpSpPr>
        <p:grpSpPr>
          <a:xfrm>
            <a:off x="381000" y="1181100"/>
            <a:ext cx="11420475" cy="1200150"/>
            <a:chOff x="381000" y="1181100"/>
            <a:chExt cx="11420475" cy="1200150"/>
          </a:xfrm>
        </p:grpSpPr>
        <p:sp>
          <p:nvSpPr>
            <p:cNvPr id="17" name="Rectangle 17"/>
            <p:cNvSpPr/>
            <p:nvPr/>
          </p:nvSpPr>
          <p:spPr>
            <a:xfrm>
              <a:off x="381000" y="1181100"/>
              <a:ext cx="2762250" cy="1200150"/>
            </a:xfrm>
            <a:prstGeom prst="roundRect">
              <a:avLst>
                <a:gd name="adj" fmla="val 6349"/>
              </a:avLst>
            </a:prstGeom>
            <a:solidFill>
              <a:srgbClr val="FDF6F5"/>
            </a:solidFill>
            <a:ln w="9525">
              <a:solidFill>
                <a:srgbClr val="EDD5D2"/>
              </a:solidFill>
            </a:ln>
          </p:spPr>
        </p:sp>
        <p:sp>
          <p:nvSpPr>
            <p:cNvPr id="18" name="Ellipse 18"/>
            <p:cNvSpPr/>
            <p:nvPr/>
          </p:nvSpPr>
          <p:spPr>
            <a:xfrm>
              <a:off x="571500" y="1352550"/>
              <a:ext cx="304800" cy="304800"/>
            </a:xfrm>
            <a:prstGeom prst="ellipse">
              <a:avLst/>
            </a:prstGeom>
            <a:solidFill>
              <a:srgbClr val="F7E9E7"/>
            </a:solidFill>
            <a:ln>
              <a:noFill/>
            </a:ln>
          </p:spPr>
        </p:sp>
        <p:grpSp>
          <p:nvGrpSpPr>
            <p:cNvPr id="21" name="Group 21"/>
            <p:cNvGrpSpPr/>
            <p:nvPr/>
          </p:nvGrpSpPr>
          <p:grpSpPr>
            <a:xfrm>
              <a:off x="660400" y="1441450"/>
              <a:ext cx="127000" cy="127000"/>
              <a:chOff x="660400" y="1441450"/>
              <a:chExt cx="127000" cy="127000"/>
            </a:xfrm>
          </p:grpSpPr>
          <p:sp>
            <p:nvSpPr>
              <p:cNvPr id="19" name="Freeform 19"/>
              <p:cNvSpPr/>
              <p:nvPr/>
            </p:nvSpPr>
            <p:spPr>
              <a:xfrm>
                <a:off x="660400" y="1441450"/>
                <a:ext cx="119062" cy="127000"/>
              </a:xfrm>
              <a:custGeom>
                <a:avLst/>
                <a:gdLst/>
                <a:ahLst/>
                <a:cxnLst/>
                <a:rect l="l" t="t" r="r" b="b"/>
                <a:pathLst>
                  <a:path w="119062" h="127000">
                    <a:moveTo>
                      <a:pt x="103187" y="31750"/>
                    </a:moveTo>
                    <a:lnTo>
                      <a:pt x="103187" y="7937"/>
                    </a:lnTo>
                    <a:cubicBezTo>
                      <a:pt x="103187" y="3554"/>
                      <a:pt x="99634" y="0"/>
                      <a:pt x="95250" y="0"/>
                    </a:cubicBezTo>
                    <a:lnTo>
                      <a:pt x="15875" y="0"/>
                    </a:lnTo>
                    <a:cubicBezTo>
                      <a:pt x="7107" y="0"/>
                      <a:pt x="0" y="7107"/>
                      <a:pt x="0" y="15875"/>
                    </a:cubicBezTo>
                    <a:cubicBezTo>
                      <a:pt x="0" y="24643"/>
                      <a:pt x="7107" y="31750"/>
                      <a:pt x="15875" y="31750"/>
                    </a:cubicBezTo>
                    <a:lnTo>
                      <a:pt x="111125" y="31750"/>
                    </a:lnTo>
                    <a:cubicBezTo>
                      <a:pt x="115509" y="31750"/>
                      <a:pt x="119062" y="35304"/>
                      <a:pt x="119062" y="39687"/>
                    </a:cubicBezTo>
                    <a:lnTo>
                      <a:pt x="119062" y="63500"/>
                    </a:lnTo>
                    <a:moveTo>
                      <a:pt x="119062" y="95250"/>
                    </a:moveTo>
                    <a:lnTo>
                      <a:pt x="119062" y="119062"/>
                    </a:lnTo>
                    <a:cubicBezTo>
                      <a:pt x="119062" y="123446"/>
                      <a:pt x="115509" y="127000"/>
                      <a:pt x="111125" y="127000"/>
                    </a:cubicBezTo>
                    <a:lnTo>
                      <a:pt x="15875" y="127000"/>
                    </a:lnTo>
                    <a:cubicBezTo>
                      <a:pt x="7107" y="127000"/>
                      <a:pt x="0" y="119892"/>
                      <a:pt x="0" y="111125"/>
                    </a:cubicBezTo>
                    <a:lnTo>
                      <a:pt x="0" y="15875"/>
                    </a:lnTo>
                  </a:path>
                </a:pathLst>
              </a:custGeom>
              <a:noFill/>
              <a:ln w="15875">
                <a:solidFill>
                  <a:srgbClr val="A52D12"/>
                </a:solidFill>
              </a:ln>
            </p:spPr>
          </p:sp>
          <p:sp>
            <p:nvSpPr>
              <p:cNvPr id="20" name="Freeform 20"/>
              <p:cNvSpPr/>
              <p:nvPr/>
            </p:nvSpPr>
            <p:spPr>
              <a:xfrm>
                <a:off x="739775" y="1504950"/>
                <a:ext cx="47625" cy="31750"/>
              </a:xfrm>
              <a:custGeom>
                <a:avLst/>
                <a:gdLst/>
                <a:ahLst/>
                <a:cxnLst/>
                <a:rect l="l" t="t" r="r" b="b"/>
                <a:pathLst>
                  <a:path w="47625" h="31750">
                    <a:moveTo>
                      <a:pt x="47625" y="0"/>
                    </a:moveTo>
                    <a:lnTo>
                      <a:pt x="47625" y="31750"/>
                    </a:lnTo>
                    <a:lnTo>
                      <a:pt x="15875" y="31750"/>
                    </a:lnTo>
                    <a:cubicBezTo>
                      <a:pt x="7107" y="31750"/>
                      <a:pt x="0" y="24643"/>
                      <a:pt x="0" y="15875"/>
                    </a:cubicBezTo>
                    <a:cubicBezTo>
                      <a:pt x="0" y="7107"/>
                      <a:pt x="7107" y="0"/>
                      <a:pt x="15875" y="0"/>
                    </a:cubicBezTo>
                    <a:lnTo>
                      <a:pt x="47625" y="0"/>
                    </a:lnTo>
                  </a:path>
                </a:pathLst>
              </a:custGeom>
              <a:noFill/>
              <a:ln w="15875">
                <a:solidFill>
                  <a:srgbClr val="A52D12"/>
                </a:solidFill>
              </a:ln>
            </p:spPr>
          </p:sp>
        </p:grpSp>
        <p:sp>
          <p:nvSpPr>
            <p:cNvPr id="22" name="TextBox 22"/>
            <p:cNvSpPr txBox="1"/>
            <p:nvPr/>
          </p:nvSpPr>
          <p:spPr>
            <a:xfrm>
              <a:off x="966788" y="1346597"/>
              <a:ext cx="515696"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存款余额</a:t>
              </a:r>
            </a:p>
          </p:txBody>
        </p:sp>
        <p:sp>
          <p:nvSpPr>
            <p:cNvPr id="23" name="TextBox 23"/>
            <p:cNvSpPr txBox="1"/>
            <p:nvPr/>
          </p:nvSpPr>
          <p:spPr>
            <a:xfrm>
              <a:off x="962787" y="1547336"/>
              <a:ext cx="1090219" cy="337376"/>
            </a:xfrm>
            <a:prstGeom prst="rect">
              <a:avLst/>
            </a:prstGeom>
            <a:noFill/>
            <a:ln>
              <a:noFill/>
            </a:ln>
          </p:spPr>
          <p:txBody>
            <a:bodyPr wrap="none" lIns="0" tIns="0" rIns="0" bIns="0" anchor="t" anchorCtr="0">
              <a:spAutoFit/>
            </a:bodyPr>
            <a:lstStyle/>
            <a:p>
              <a:pPr algn="l"/>
              <a:r>
                <a:rPr lang="zh-CN" sz="1720" b="1" dirty="0">
                  <a:solidFill>
                    <a:srgbClr val="A52D12"/>
                  </a:solidFill>
                  <a:latin typeface="+mn-lt"/>
                  <a:ea typeface="+mn-ea"/>
                  <a:cs typeface="+mn-cs"/>
                </a:rPr>
                <a:t xml:space="preserve">1.32 </a:t>
              </a:r>
              <a:r>
                <a:rPr lang="zh-CN" sz="820" dirty="0">
                  <a:solidFill>
                    <a:srgbClr val="A52D12"/>
                  </a:solidFill>
                  <a:latin typeface="+mn-lt"/>
                  <a:ea typeface="+mn-ea"/>
                  <a:cs typeface="+mn-cs"/>
                </a:rPr>
                <a:t>万亿元</a:t>
              </a:r>
              <a:r>
                <a:rPr lang="zh-CN" sz="1720" b="1" dirty="0">
                  <a:solidFill>
                    <a:srgbClr val="A52D12"/>
                  </a:solidFill>
                  <a:latin typeface="+mn-lt"/>
                  <a:ea typeface="+mn-ea"/>
                  <a:cs typeface="+mn-cs"/>
                </a:rPr>
                <a:t>​</a:t>
              </a:r>
            </a:p>
          </p:txBody>
        </p:sp>
        <p:sp>
          <p:nvSpPr>
            <p:cNvPr id="24" name="TextBox 24"/>
            <p:cNvSpPr txBox="1"/>
            <p:nvPr/>
          </p:nvSpPr>
          <p:spPr>
            <a:xfrm>
              <a:off x="623888" y="2078593"/>
              <a:ext cx="777313"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 xml:space="preserve">同比 </a:t>
              </a:r>
              <a:r>
                <a:rPr lang="zh-CN" sz="1050" b="1" dirty="0">
                  <a:solidFill>
                    <a:srgbClr val="A52D12"/>
                  </a:solidFill>
                  <a:latin typeface="+mn-lt"/>
                  <a:ea typeface="+mn-ea"/>
                  <a:cs typeface="+mn-cs"/>
                </a:rPr>
                <a:t>+7.6%</a:t>
              </a:r>
              <a:r>
                <a:rPr lang="zh-CN" sz="860" dirty="0">
                  <a:solidFill>
                    <a:srgbClr val="6B6B6B"/>
                  </a:solidFill>
                  <a:latin typeface="+mn-lt"/>
                  <a:ea typeface="+mn-ea"/>
                  <a:cs typeface="+mn-cs"/>
                </a:rPr>
                <a:t>​</a:t>
              </a:r>
            </a:p>
          </p:txBody>
        </p:sp>
        <p:sp>
          <p:nvSpPr>
            <p:cNvPr id="25" name="Rectangle 25"/>
            <p:cNvSpPr/>
            <p:nvPr/>
          </p:nvSpPr>
          <p:spPr>
            <a:xfrm>
              <a:off x="3267075" y="1181100"/>
              <a:ext cx="2762250" cy="1200150"/>
            </a:xfrm>
            <a:prstGeom prst="roundRect">
              <a:avLst>
                <a:gd name="adj" fmla="val 6349"/>
              </a:avLst>
            </a:prstGeom>
            <a:solidFill>
              <a:srgbClr val="FDF6F5"/>
            </a:solidFill>
            <a:ln w="9525">
              <a:solidFill>
                <a:srgbClr val="EDD5D2"/>
              </a:solidFill>
            </a:ln>
          </p:spPr>
        </p:sp>
        <p:sp>
          <p:nvSpPr>
            <p:cNvPr id="26" name="Ellipse 26"/>
            <p:cNvSpPr/>
            <p:nvPr/>
          </p:nvSpPr>
          <p:spPr>
            <a:xfrm>
              <a:off x="3457575" y="1352550"/>
              <a:ext cx="304800" cy="304800"/>
            </a:xfrm>
            <a:prstGeom prst="ellipse">
              <a:avLst/>
            </a:prstGeom>
            <a:solidFill>
              <a:srgbClr val="F7E9E7"/>
            </a:solidFill>
            <a:ln>
              <a:noFill/>
            </a:ln>
          </p:spPr>
        </p:sp>
        <p:grpSp>
          <p:nvGrpSpPr>
            <p:cNvPr id="31" name="Group 31"/>
            <p:cNvGrpSpPr/>
            <p:nvPr/>
          </p:nvGrpSpPr>
          <p:grpSpPr>
            <a:xfrm>
              <a:off x="3538537" y="1441450"/>
              <a:ext cx="142875" cy="136525"/>
              <a:chOff x="3538537" y="1441450"/>
              <a:chExt cx="142875" cy="136525"/>
            </a:xfrm>
          </p:grpSpPr>
          <p:sp>
            <p:nvSpPr>
              <p:cNvPr id="27" name="Freeform 27"/>
              <p:cNvSpPr/>
              <p:nvPr/>
            </p:nvSpPr>
            <p:spPr>
              <a:xfrm>
                <a:off x="3538537" y="15049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A52D12"/>
                </a:solidFill>
              </a:ln>
            </p:spPr>
          </p:sp>
          <p:sp>
            <p:nvSpPr>
              <p:cNvPr id="28" name="Freeform 28"/>
              <p:cNvSpPr/>
              <p:nvPr/>
            </p:nvSpPr>
            <p:spPr>
              <a:xfrm>
                <a:off x="3633787" y="14732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A52D12"/>
                </a:solidFill>
              </a:ln>
            </p:spPr>
          </p:sp>
          <p:sp>
            <p:nvSpPr>
              <p:cNvPr id="29" name="Freeform 29"/>
              <p:cNvSpPr/>
              <p:nvPr/>
            </p:nvSpPr>
            <p:spPr>
              <a:xfrm>
                <a:off x="3586162" y="14414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A52D12"/>
                </a:solidFill>
              </a:ln>
            </p:spPr>
          </p:sp>
          <p:sp>
            <p:nvSpPr>
              <p:cNvPr id="30" name="Freeform 30"/>
              <p:cNvSpPr/>
              <p:nvPr/>
            </p:nvSpPr>
            <p:spPr>
              <a:xfrm>
                <a:off x="3546475" y="1568450"/>
                <a:ext cx="111125" cy="9525"/>
              </a:xfrm>
              <a:custGeom>
                <a:avLst/>
                <a:gdLst/>
                <a:ahLst/>
                <a:cxnLst/>
                <a:rect l="l" t="t" r="r" b="b"/>
                <a:pathLst>
                  <a:path w="111125" h="9525">
                    <a:moveTo>
                      <a:pt x="0" y="0"/>
                    </a:moveTo>
                    <a:lnTo>
                      <a:pt x="111125" y="0"/>
                    </a:lnTo>
                  </a:path>
                </a:pathLst>
              </a:custGeom>
              <a:noFill/>
              <a:ln w="15875">
                <a:solidFill>
                  <a:srgbClr val="A52D12"/>
                </a:solidFill>
              </a:ln>
            </p:spPr>
          </p:sp>
        </p:grpSp>
        <p:sp>
          <p:nvSpPr>
            <p:cNvPr id="32" name="TextBox 32"/>
            <p:cNvSpPr txBox="1"/>
            <p:nvPr/>
          </p:nvSpPr>
          <p:spPr>
            <a:xfrm>
              <a:off x="3852862" y="1346597"/>
              <a:ext cx="515696"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日均存款</a:t>
              </a:r>
            </a:p>
          </p:txBody>
        </p:sp>
        <p:sp>
          <p:nvSpPr>
            <p:cNvPr id="33" name="TextBox 33"/>
            <p:cNvSpPr txBox="1"/>
            <p:nvPr/>
          </p:nvSpPr>
          <p:spPr>
            <a:xfrm>
              <a:off x="3848862" y="1547336"/>
              <a:ext cx="1090219" cy="337376"/>
            </a:xfrm>
            <a:prstGeom prst="rect">
              <a:avLst/>
            </a:prstGeom>
            <a:noFill/>
            <a:ln>
              <a:noFill/>
            </a:ln>
          </p:spPr>
          <p:txBody>
            <a:bodyPr wrap="none" lIns="0" tIns="0" rIns="0" bIns="0" anchor="t" anchorCtr="0">
              <a:spAutoFit/>
            </a:bodyPr>
            <a:lstStyle/>
            <a:p>
              <a:pPr algn="l"/>
              <a:r>
                <a:rPr lang="zh-CN" sz="1720" b="1" dirty="0">
                  <a:solidFill>
                    <a:srgbClr val="A52D12"/>
                  </a:solidFill>
                  <a:latin typeface="+mn-lt"/>
                  <a:ea typeface="+mn-ea"/>
                  <a:cs typeface="+mn-cs"/>
                </a:rPr>
                <a:t xml:space="preserve">1.27 </a:t>
              </a:r>
              <a:r>
                <a:rPr lang="zh-CN" sz="820" dirty="0">
                  <a:solidFill>
                    <a:srgbClr val="A52D12"/>
                  </a:solidFill>
                  <a:latin typeface="+mn-lt"/>
                  <a:ea typeface="+mn-ea"/>
                  <a:cs typeface="+mn-cs"/>
                </a:rPr>
                <a:t>万亿元</a:t>
              </a:r>
              <a:r>
                <a:rPr lang="zh-CN" sz="1720" b="1" dirty="0">
                  <a:solidFill>
                    <a:srgbClr val="A52D12"/>
                  </a:solidFill>
                  <a:latin typeface="+mn-lt"/>
                  <a:ea typeface="+mn-ea"/>
                  <a:cs typeface="+mn-cs"/>
                </a:rPr>
                <a:t>​</a:t>
              </a:r>
            </a:p>
          </p:txBody>
        </p:sp>
        <p:sp>
          <p:nvSpPr>
            <p:cNvPr id="34" name="TextBox 34"/>
            <p:cNvSpPr txBox="1"/>
            <p:nvPr/>
          </p:nvSpPr>
          <p:spPr>
            <a:xfrm>
              <a:off x="3509962" y="2078593"/>
              <a:ext cx="777313"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 xml:space="preserve">同比 </a:t>
              </a:r>
              <a:r>
                <a:rPr lang="zh-CN" sz="1050" b="1" dirty="0">
                  <a:solidFill>
                    <a:srgbClr val="A52D12"/>
                  </a:solidFill>
                  <a:latin typeface="+mn-lt"/>
                  <a:ea typeface="+mn-ea"/>
                  <a:cs typeface="+mn-cs"/>
                </a:rPr>
                <a:t>+8.1%</a:t>
              </a:r>
              <a:r>
                <a:rPr lang="zh-CN" sz="860" dirty="0">
                  <a:solidFill>
                    <a:srgbClr val="6B6B6B"/>
                  </a:solidFill>
                  <a:latin typeface="+mn-lt"/>
                  <a:ea typeface="+mn-ea"/>
                  <a:cs typeface="+mn-cs"/>
                </a:rPr>
                <a:t>​</a:t>
              </a:r>
            </a:p>
          </p:txBody>
        </p:sp>
        <p:sp>
          <p:nvSpPr>
            <p:cNvPr id="35" name="Rectangle 35"/>
            <p:cNvSpPr/>
            <p:nvPr/>
          </p:nvSpPr>
          <p:spPr>
            <a:xfrm>
              <a:off x="6153150" y="1181100"/>
              <a:ext cx="2762250" cy="1200150"/>
            </a:xfrm>
            <a:prstGeom prst="roundRect">
              <a:avLst>
                <a:gd name="adj" fmla="val 6349"/>
              </a:avLst>
            </a:prstGeom>
            <a:solidFill>
              <a:srgbClr val="FDF6F5"/>
            </a:solidFill>
            <a:ln w="9525">
              <a:solidFill>
                <a:srgbClr val="EDD5D2"/>
              </a:solidFill>
            </a:ln>
          </p:spPr>
        </p:sp>
        <p:sp>
          <p:nvSpPr>
            <p:cNvPr id="36" name="Ellipse 36"/>
            <p:cNvSpPr/>
            <p:nvPr/>
          </p:nvSpPr>
          <p:spPr>
            <a:xfrm>
              <a:off x="6343650" y="1352550"/>
              <a:ext cx="304800" cy="304800"/>
            </a:xfrm>
            <a:prstGeom prst="ellipse">
              <a:avLst/>
            </a:prstGeom>
            <a:solidFill>
              <a:srgbClr val="F7E9E7"/>
            </a:solidFill>
            <a:ln>
              <a:noFill/>
            </a:ln>
          </p:spPr>
        </p:sp>
        <p:grpSp>
          <p:nvGrpSpPr>
            <p:cNvPr id="39" name="Group 39"/>
            <p:cNvGrpSpPr/>
            <p:nvPr/>
          </p:nvGrpSpPr>
          <p:grpSpPr>
            <a:xfrm>
              <a:off x="6422400" y="1434877"/>
              <a:ext cx="143500" cy="143723"/>
              <a:chOff x="6422400" y="1434877"/>
              <a:chExt cx="143500" cy="143723"/>
            </a:xfrm>
          </p:grpSpPr>
          <p:sp>
            <p:nvSpPr>
              <p:cNvPr id="37" name="Freeform 37"/>
              <p:cNvSpPr/>
              <p:nvPr/>
            </p:nvSpPr>
            <p:spPr>
              <a:xfrm>
                <a:off x="6422400" y="1434877"/>
                <a:ext cx="143500" cy="143723"/>
              </a:xfrm>
              <a:custGeom>
                <a:avLst/>
                <a:gdLst/>
                <a:ahLst/>
                <a:cxnLst/>
                <a:rect l="l" t="t" r="r" b="b"/>
                <a:pathLst>
                  <a:path w="143500" h="143723">
                    <a:moveTo>
                      <a:pt x="57775" y="223"/>
                    </a:moveTo>
                    <a:cubicBezTo>
                      <a:pt x="23406" y="8190"/>
                      <a:pt x="0" y="40055"/>
                      <a:pt x="2676" y="75234"/>
                    </a:cubicBezTo>
                    <a:cubicBezTo>
                      <a:pt x="5353" y="110413"/>
                      <a:pt x="33310" y="138370"/>
                      <a:pt x="68489" y="141046"/>
                    </a:cubicBezTo>
                    <a:cubicBezTo>
                      <a:pt x="103668" y="143723"/>
                      <a:pt x="135532" y="120317"/>
                      <a:pt x="143500" y="85948"/>
                    </a:cubicBezTo>
                    <a:cubicBezTo>
                      <a:pt x="143500" y="81564"/>
                      <a:pt x="139946" y="78010"/>
                      <a:pt x="135562" y="78010"/>
                    </a:cubicBezTo>
                    <a:lnTo>
                      <a:pt x="81587" y="78010"/>
                    </a:lnTo>
                    <a:cubicBezTo>
                      <a:pt x="72820" y="78010"/>
                      <a:pt x="65712" y="70903"/>
                      <a:pt x="65712" y="62135"/>
                    </a:cubicBezTo>
                    <a:lnTo>
                      <a:pt x="65712" y="6573"/>
                    </a:lnTo>
                    <a:cubicBezTo>
                      <a:pt x="65513" y="4673"/>
                      <a:pt x="64562" y="2932"/>
                      <a:pt x="63070" y="1739"/>
                    </a:cubicBezTo>
                    <a:cubicBezTo>
                      <a:pt x="61579" y="546"/>
                      <a:pt x="59672" y="0"/>
                      <a:pt x="57775" y="223"/>
                    </a:cubicBezTo>
                  </a:path>
                </a:pathLst>
              </a:custGeom>
              <a:noFill/>
              <a:ln w="15875">
                <a:solidFill>
                  <a:srgbClr val="A52D12"/>
                </a:solidFill>
              </a:ln>
            </p:spPr>
          </p:sp>
          <p:sp>
            <p:nvSpPr>
              <p:cNvPr id="38" name="Freeform 38"/>
              <p:cNvSpPr/>
              <p:nvPr/>
            </p:nvSpPr>
            <p:spPr>
              <a:xfrm>
                <a:off x="6519862" y="1437481"/>
                <a:ext cx="43656" cy="43656"/>
              </a:xfrm>
              <a:custGeom>
                <a:avLst/>
                <a:gdLst/>
                <a:ahLst/>
                <a:cxnLst/>
                <a:rect l="l" t="t" r="r" b="b"/>
                <a:pathLst>
                  <a:path w="43656" h="43656">
                    <a:moveTo>
                      <a:pt x="0" y="0"/>
                    </a:moveTo>
                    <a:cubicBezTo>
                      <a:pt x="20414" y="7188"/>
                      <a:pt x="36468" y="23243"/>
                      <a:pt x="43656" y="43656"/>
                    </a:cubicBezTo>
                    <a:lnTo>
                      <a:pt x="7937" y="43656"/>
                    </a:lnTo>
                    <a:cubicBezTo>
                      <a:pt x="3554" y="43656"/>
                      <a:pt x="0" y="40102"/>
                      <a:pt x="0" y="35719"/>
                    </a:cubicBezTo>
                    <a:lnTo>
                      <a:pt x="0" y="0"/>
                    </a:lnTo>
                  </a:path>
                </a:pathLst>
              </a:custGeom>
              <a:noFill/>
              <a:ln w="15875">
                <a:solidFill>
                  <a:srgbClr val="A52D12"/>
                </a:solidFill>
              </a:ln>
            </p:spPr>
          </p:sp>
        </p:grpSp>
        <p:sp>
          <p:nvSpPr>
            <p:cNvPr id="40" name="TextBox 40"/>
            <p:cNvSpPr txBox="1"/>
            <p:nvPr/>
          </p:nvSpPr>
          <p:spPr>
            <a:xfrm>
              <a:off x="6738938" y="1346597"/>
              <a:ext cx="768782"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核心存款占比</a:t>
              </a:r>
            </a:p>
          </p:txBody>
        </p:sp>
        <p:sp>
          <p:nvSpPr>
            <p:cNvPr id="41" name="TextBox 41"/>
            <p:cNvSpPr txBox="1"/>
            <p:nvPr/>
          </p:nvSpPr>
          <p:spPr>
            <a:xfrm>
              <a:off x="6734937" y="1547336"/>
              <a:ext cx="868459" cy="337376"/>
            </a:xfrm>
            <a:prstGeom prst="rect">
              <a:avLst/>
            </a:prstGeom>
            <a:noFill/>
            <a:ln>
              <a:noFill/>
            </a:ln>
          </p:spPr>
          <p:txBody>
            <a:bodyPr wrap="none" lIns="0" tIns="0" rIns="0" bIns="0" anchor="t" anchorCtr="0">
              <a:spAutoFit/>
            </a:bodyPr>
            <a:lstStyle/>
            <a:p>
              <a:pPr algn="l"/>
              <a:r>
                <a:rPr lang="zh-CN" sz="1720" b="1" dirty="0">
                  <a:solidFill>
                    <a:srgbClr val="A52D12"/>
                  </a:solidFill>
                  <a:latin typeface="+mn-lt"/>
                  <a:ea typeface="+mn-ea"/>
                  <a:cs typeface="+mn-cs"/>
                </a:rPr>
                <a:t>64.2%​</a:t>
              </a:r>
            </a:p>
          </p:txBody>
        </p:sp>
        <p:sp>
          <p:nvSpPr>
            <p:cNvPr id="42" name="TextBox 42"/>
            <p:cNvSpPr txBox="1"/>
            <p:nvPr/>
          </p:nvSpPr>
          <p:spPr>
            <a:xfrm>
              <a:off x="6396038" y="2078593"/>
              <a:ext cx="1347177"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 xml:space="preserve">较上年 </a:t>
              </a:r>
              <a:r>
                <a:rPr lang="zh-CN" sz="1050" b="1" dirty="0">
                  <a:solidFill>
                    <a:srgbClr val="A52D12"/>
                  </a:solidFill>
                  <a:latin typeface="+mn-lt"/>
                  <a:ea typeface="+mn-ea"/>
                  <a:cs typeface="+mn-cs"/>
                </a:rPr>
                <a:t>+2.1个百分点</a:t>
              </a:r>
              <a:r>
                <a:rPr lang="zh-CN" sz="860" dirty="0">
                  <a:solidFill>
                    <a:srgbClr val="6B6B6B"/>
                  </a:solidFill>
                  <a:latin typeface="+mn-lt"/>
                  <a:ea typeface="+mn-ea"/>
                  <a:cs typeface="+mn-cs"/>
                </a:rPr>
                <a:t>​</a:t>
              </a:r>
            </a:p>
          </p:txBody>
        </p:sp>
        <p:sp>
          <p:nvSpPr>
            <p:cNvPr id="43" name="Rectangle 43"/>
            <p:cNvSpPr/>
            <p:nvPr/>
          </p:nvSpPr>
          <p:spPr>
            <a:xfrm>
              <a:off x="9039225" y="1181100"/>
              <a:ext cx="2762250" cy="1200150"/>
            </a:xfrm>
            <a:prstGeom prst="roundRect">
              <a:avLst>
                <a:gd name="adj" fmla="val 6349"/>
              </a:avLst>
            </a:prstGeom>
            <a:solidFill>
              <a:srgbClr val="FDF6F5"/>
            </a:solidFill>
            <a:ln w="9525">
              <a:solidFill>
                <a:srgbClr val="EDD5D2"/>
              </a:solidFill>
            </a:ln>
          </p:spPr>
        </p:sp>
        <p:sp>
          <p:nvSpPr>
            <p:cNvPr id="44" name="Ellipse 44"/>
            <p:cNvSpPr/>
            <p:nvPr/>
          </p:nvSpPr>
          <p:spPr>
            <a:xfrm>
              <a:off x="9229725" y="1352550"/>
              <a:ext cx="304800" cy="304800"/>
            </a:xfrm>
            <a:prstGeom prst="ellipse">
              <a:avLst/>
            </a:prstGeom>
            <a:solidFill>
              <a:srgbClr val="F7E9E7"/>
            </a:solidFill>
            <a:ln>
              <a:noFill/>
            </a:ln>
          </p:spPr>
        </p:sp>
        <p:grpSp>
          <p:nvGrpSpPr>
            <p:cNvPr id="49" name="Group 49"/>
            <p:cNvGrpSpPr/>
            <p:nvPr/>
          </p:nvGrpSpPr>
          <p:grpSpPr>
            <a:xfrm>
              <a:off x="9326562" y="1433512"/>
              <a:ext cx="111125" cy="142875"/>
              <a:chOff x="9326562" y="1433512"/>
              <a:chExt cx="111125" cy="142875"/>
            </a:xfrm>
          </p:grpSpPr>
          <p:sp>
            <p:nvSpPr>
              <p:cNvPr id="45" name="Freeform 45"/>
              <p:cNvSpPr/>
              <p:nvPr/>
            </p:nvSpPr>
            <p:spPr>
              <a:xfrm>
                <a:off x="9326562" y="1449387"/>
                <a:ext cx="111125" cy="127000"/>
              </a:xfrm>
              <a:custGeom>
                <a:avLst/>
                <a:gdLst/>
                <a:ahLst/>
                <a:cxnLst/>
                <a:rect l="l" t="t" r="r" b="b"/>
                <a:pathLst>
                  <a:path w="111125" h="127000">
                    <a:moveTo>
                      <a:pt x="31750" y="0"/>
                    </a:moveTo>
                    <a:lnTo>
                      <a:pt x="15875" y="0"/>
                    </a:lnTo>
                    <a:cubicBezTo>
                      <a:pt x="7107" y="0"/>
                      <a:pt x="0" y="7107"/>
                      <a:pt x="0" y="15875"/>
                    </a:cubicBezTo>
                    <a:lnTo>
                      <a:pt x="0" y="111125"/>
                    </a:lnTo>
                    <a:cubicBezTo>
                      <a:pt x="0" y="119892"/>
                      <a:pt x="7107" y="127000"/>
                      <a:pt x="15875" y="127000"/>
                    </a:cubicBezTo>
                    <a:lnTo>
                      <a:pt x="95250" y="127000"/>
                    </a:lnTo>
                    <a:cubicBezTo>
                      <a:pt x="104017" y="127000"/>
                      <a:pt x="111125" y="119892"/>
                      <a:pt x="111125" y="111125"/>
                    </a:cubicBezTo>
                    <a:lnTo>
                      <a:pt x="111125" y="15875"/>
                    </a:lnTo>
                    <a:cubicBezTo>
                      <a:pt x="111125" y="7107"/>
                      <a:pt x="104017" y="0"/>
                      <a:pt x="95250" y="0"/>
                    </a:cubicBezTo>
                    <a:lnTo>
                      <a:pt x="79375" y="0"/>
                    </a:lnTo>
                  </a:path>
                </a:pathLst>
              </a:custGeom>
              <a:noFill/>
              <a:ln w="15875">
                <a:solidFill>
                  <a:srgbClr val="A52D12"/>
                </a:solidFill>
              </a:ln>
            </p:spPr>
          </p:sp>
          <p:sp>
            <p:nvSpPr>
              <p:cNvPr id="46" name="Freeform 46"/>
              <p:cNvSpPr/>
              <p:nvPr/>
            </p:nvSpPr>
            <p:spPr>
              <a:xfrm>
                <a:off x="9358312" y="1433512"/>
                <a:ext cx="47625" cy="31750"/>
              </a:xfrm>
              <a:custGeom>
                <a:avLst/>
                <a:gdLst/>
                <a:ahLst/>
                <a:cxnLst/>
                <a:rect l="l" t="t" r="r" b="b"/>
                <a:pathLst>
                  <a:path w="47625" h="31750">
                    <a:moveTo>
                      <a:pt x="0" y="15875"/>
                    </a:moveTo>
                    <a:cubicBezTo>
                      <a:pt x="0" y="7107"/>
                      <a:pt x="7107" y="0"/>
                      <a:pt x="15875" y="0"/>
                    </a:cubicBezTo>
                    <a:lnTo>
                      <a:pt x="31750" y="0"/>
                    </a:lnTo>
                    <a:cubicBezTo>
                      <a:pt x="40518" y="0"/>
                      <a:pt x="47625" y="7107"/>
                      <a:pt x="47625" y="15875"/>
                    </a:cubicBezTo>
                    <a:cubicBezTo>
                      <a:pt x="47625" y="24643"/>
                      <a:pt x="40518" y="31750"/>
                      <a:pt x="31750" y="31750"/>
                    </a:cubicBezTo>
                    <a:lnTo>
                      <a:pt x="15875" y="31750"/>
                    </a:lnTo>
                    <a:cubicBezTo>
                      <a:pt x="7107" y="31750"/>
                      <a:pt x="0" y="24643"/>
                      <a:pt x="0" y="15875"/>
                    </a:cubicBezTo>
                  </a:path>
                </a:pathLst>
              </a:custGeom>
              <a:noFill/>
              <a:ln w="15875">
                <a:solidFill>
                  <a:srgbClr val="A52D12"/>
                </a:solidFill>
              </a:ln>
            </p:spPr>
          </p:sp>
          <p:sp>
            <p:nvSpPr>
              <p:cNvPr id="47" name="Freeform 47"/>
              <p:cNvSpPr/>
              <p:nvPr/>
            </p:nvSpPr>
            <p:spPr>
              <a:xfrm>
                <a:off x="9366250" y="1497012"/>
                <a:ext cx="31750" cy="47625"/>
              </a:xfrm>
              <a:custGeom>
                <a:avLst/>
                <a:gdLst/>
                <a:ahLst/>
                <a:cxnLst/>
                <a:rect l="l" t="t" r="r" b="b"/>
                <a:pathLst>
                  <a:path w="31750" h="47625">
                    <a:moveTo>
                      <a:pt x="31750" y="0"/>
                    </a:moveTo>
                    <a:lnTo>
                      <a:pt x="11906" y="0"/>
                    </a:lnTo>
                    <a:cubicBezTo>
                      <a:pt x="5331" y="0"/>
                      <a:pt x="0" y="5331"/>
                      <a:pt x="0" y="11906"/>
                    </a:cubicBezTo>
                    <a:cubicBezTo>
                      <a:pt x="0" y="18482"/>
                      <a:pt x="5331" y="23812"/>
                      <a:pt x="11906" y="23812"/>
                    </a:cubicBezTo>
                    <a:lnTo>
                      <a:pt x="19844" y="23812"/>
                    </a:lnTo>
                    <a:cubicBezTo>
                      <a:pt x="26419" y="23812"/>
                      <a:pt x="31750" y="29143"/>
                      <a:pt x="31750" y="35719"/>
                    </a:cubicBezTo>
                    <a:cubicBezTo>
                      <a:pt x="31750" y="42294"/>
                      <a:pt x="26419" y="47625"/>
                      <a:pt x="19844" y="47625"/>
                    </a:cubicBezTo>
                    <a:lnTo>
                      <a:pt x="0" y="47625"/>
                    </a:lnTo>
                  </a:path>
                </a:pathLst>
              </a:custGeom>
              <a:noFill/>
              <a:ln w="15875">
                <a:solidFill>
                  <a:srgbClr val="A52D12"/>
                </a:solidFill>
              </a:ln>
            </p:spPr>
          </p:sp>
          <p:sp>
            <p:nvSpPr>
              <p:cNvPr id="48" name="Freeform 48"/>
              <p:cNvSpPr/>
              <p:nvPr/>
            </p:nvSpPr>
            <p:spPr>
              <a:xfrm>
                <a:off x="9382125" y="1489075"/>
                <a:ext cx="9525" cy="63500"/>
              </a:xfrm>
              <a:custGeom>
                <a:avLst/>
                <a:gdLst/>
                <a:ahLst/>
                <a:cxnLst/>
                <a:rect l="l" t="t" r="r" b="b"/>
                <a:pathLst>
                  <a:path w="9525" h="63500">
                    <a:moveTo>
                      <a:pt x="0" y="55562"/>
                    </a:moveTo>
                    <a:lnTo>
                      <a:pt x="0" y="63500"/>
                    </a:lnTo>
                    <a:moveTo>
                      <a:pt x="0" y="0"/>
                    </a:moveTo>
                    <a:lnTo>
                      <a:pt x="0" y="7937"/>
                    </a:lnTo>
                  </a:path>
                </a:pathLst>
              </a:custGeom>
              <a:noFill/>
              <a:ln w="15875">
                <a:solidFill>
                  <a:srgbClr val="A52D12"/>
                </a:solidFill>
              </a:ln>
            </p:spPr>
          </p:sp>
        </p:grpSp>
        <p:sp>
          <p:nvSpPr>
            <p:cNvPr id="50" name="TextBox 50"/>
            <p:cNvSpPr txBox="1"/>
            <p:nvPr/>
          </p:nvSpPr>
          <p:spPr>
            <a:xfrm>
              <a:off x="9625012" y="1346597"/>
              <a:ext cx="389153"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付息率</a:t>
              </a:r>
            </a:p>
          </p:txBody>
        </p:sp>
        <p:sp>
          <p:nvSpPr>
            <p:cNvPr id="51" name="TextBox 51"/>
            <p:cNvSpPr txBox="1"/>
            <p:nvPr/>
          </p:nvSpPr>
          <p:spPr>
            <a:xfrm>
              <a:off x="9621012" y="1547336"/>
              <a:ext cx="868459" cy="337376"/>
            </a:xfrm>
            <a:prstGeom prst="rect">
              <a:avLst/>
            </a:prstGeom>
            <a:noFill/>
            <a:ln>
              <a:noFill/>
            </a:ln>
          </p:spPr>
          <p:txBody>
            <a:bodyPr wrap="none" lIns="0" tIns="0" rIns="0" bIns="0" anchor="t" anchorCtr="0">
              <a:spAutoFit/>
            </a:bodyPr>
            <a:lstStyle/>
            <a:p>
              <a:pPr algn="l"/>
              <a:r>
                <a:rPr lang="zh-CN" sz="1720" b="1" dirty="0">
                  <a:solidFill>
                    <a:srgbClr val="A52D12"/>
                  </a:solidFill>
                  <a:latin typeface="+mn-lt"/>
                  <a:ea typeface="+mn-ea"/>
                  <a:cs typeface="+mn-cs"/>
                </a:rPr>
                <a:t>1.61%​</a:t>
              </a:r>
            </a:p>
          </p:txBody>
        </p:sp>
        <p:sp>
          <p:nvSpPr>
            <p:cNvPr id="52" name="TextBox 52"/>
            <p:cNvSpPr txBox="1"/>
            <p:nvPr/>
          </p:nvSpPr>
          <p:spPr>
            <a:xfrm>
              <a:off x="9282112" y="2078593"/>
              <a:ext cx="904029" cy="169069"/>
            </a:xfrm>
            <a:prstGeom prst="rect">
              <a:avLst/>
            </a:prstGeom>
            <a:noFill/>
            <a:ln>
              <a:noFill/>
            </a:ln>
          </p:spPr>
          <p:txBody>
            <a:bodyPr wrap="none" lIns="0" tIns="0" rIns="0" bIns="0" anchor="t" anchorCtr="0">
              <a:spAutoFit/>
            </a:bodyPr>
            <a:lstStyle/>
            <a:p>
              <a:pPr algn="l"/>
              <a:r>
                <a:rPr lang="zh-CN" sz="860" dirty="0">
                  <a:solidFill>
                    <a:srgbClr val="6B6B6B"/>
                  </a:solidFill>
                  <a:latin typeface="+mn-lt"/>
                  <a:ea typeface="+mn-ea"/>
                  <a:cs typeface="+mn-cs"/>
                </a:rPr>
                <a:t xml:space="preserve">同比 </a:t>
              </a:r>
              <a:r>
                <a:rPr lang="en-US" sz="1050" b="1" dirty="0">
                  <a:solidFill>
                    <a:srgbClr val="9E412F"/>
                  </a:solidFill>
                  <a:latin typeface="+mn-lt"/>
                  <a:ea typeface="+mn-ea"/>
                  <a:cs typeface="+mn-cs"/>
                </a:rPr>
                <a:t>-19BP ↓</a:t>
              </a:r>
              <a:r>
                <a:rPr lang="zh-CN" sz="860" dirty="0">
                  <a:solidFill>
                    <a:srgbClr val="6B6B6B"/>
                  </a:solidFill>
                  <a:latin typeface="+mn-lt"/>
                  <a:ea typeface="+mn-ea"/>
                  <a:cs typeface="+mn-cs"/>
                </a:rPr>
                <a:t>​</a:t>
              </a:r>
            </a:p>
          </p:txBody>
        </p:sp>
      </p:grpSp>
      <p:grpSp>
        <p:nvGrpSpPr>
          <p:cNvPr id="83" name="liab-structure"/>
          <p:cNvGrpSpPr/>
          <p:nvPr/>
        </p:nvGrpSpPr>
        <p:grpSpPr>
          <a:xfrm>
            <a:off x="381000" y="2495550"/>
            <a:ext cx="3810000" cy="3086100"/>
            <a:chOff x="381000" y="2495550"/>
            <a:chExt cx="3810000" cy="3086100"/>
          </a:xfrm>
        </p:grpSpPr>
        <p:sp>
          <p:nvSpPr>
            <p:cNvPr id="54" name="Rectangle 54"/>
            <p:cNvSpPr/>
            <p:nvPr/>
          </p:nvSpPr>
          <p:spPr>
            <a:xfrm>
              <a:off x="381000" y="2495550"/>
              <a:ext cx="3810000" cy="3086100"/>
            </a:xfrm>
            <a:prstGeom prst="roundRect">
              <a:avLst>
                <a:gd name="adj" fmla="val 2469"/>
              </a:avLst>
            </a:prstGeom>
            <a:solidFill>
              <a:srgbClr val="FDF6F5"/>
            </a:solidFill>
            <a:ln w="9525">
              <a:solidFill>
                <a:srgbClr val="EDD5D2"/>
              </a:solidFill>
            </a:ln>
          </p:spPr>
        </p:sp>
        <p:sp>
          <p:nvSpPr>
            <p:cNvPr id="55" name="Freeform 55"/>
            <p:cNvSpPr/>
            <p:nvPr/>
          </p:nvSpPr>
          <p:spPr>
            <a:xfrm>
              <a:off x="390525" y="2505075"/>
              <a:ext cx="3790950" cy="228600"/>
            </a:xfrm>
            <a:custGeom>
              <a:avLst/>
              <a:gdLst/>
              <a:ahLst/>
              <a:cxnLst/>
              <a:rect l="l" t="t" r="r" b="b"/>
              <a:pathLst>
                <a:path w="3790950" h="228600">
                  <a:moveTo>
                    <a:pt x="0" y="228600"/>
                  </a:moveTo>
                  <a:lnTo>
                    <a:pt x="3790950" y="228600"/>
                  </a:lnTo>
                  <a:lnTo>
                    <a:pt x="3790950" y="66675"/>
                  </a:lnTo>
                  <a:cubicBezTo>
                    <a:pt x="3790950" y="29851"/>
                    <a:pt x="3761099" y="0"/>
                    <a:pt x="3724275" y="0"/>
                  </a:cubicBezTo>
                  <a:lnTo>
                    <a:pt x="66675" y="0"/>
                  </a:lnTo>
                  <a:cubicBezTo>
                    <a:pt x="29851" y="0"/>
                    <a:pt x="0" y="29851"/>
                    <a:pt x="0" y="66675"/>
                  </a:cubicBezTo>
                  <a:close/>
                </a:path>
              </a:pathLst>
            </a:custGeom>
            <a:solidFill>
              <a:srgbClr val="A52D12"/>
            </a:solidFill>
            <a:ln>
              <a:noFill/>
            </a:ln>
          </p:spPr>
        </p:sp>
        <p:sp>
          <p:nvSpPr>
            <p:cNvPr id="56" name="TextBox 56"/>
            <p:cNvSpPr txBox="1"/>
            <p:nvPr/>
          </p:nvSpPr>
          <p:spPr>
            <a:xfrm>
              <a:off x="1573911" y="2553652"/>
              <a:ext cx="142417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负债结构对比（占比）</a:t>
              </a:r>
            </a:p>
          </p:txBody>
        </p:sp>
        <p:sp>
          <p:nvSpPr>
            <p:cNvPr id="57" name="TextBox 57"/>
            <p:cNvSpPr txBox="1"/>
            <p:nvPr/>
          </p:nvSpPr>
          <p:spPr>
            <a:xfrm>
              <a:off x="585788" y="3278743"/>
              <a:ext cx="559448"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2024年末​</a:t>
              </a:r>
            </a:p>
          </p:txBody>
        </p:sp>
        <p:sp>
          <p:nvSpPr>
            <p:cNvPr id="58" name="Rectangle 58"/>
            <p:cNvSpPr/>
            <p:nvPr/>
          </p:nvSpPr>
          <p:spPr>
            <a:xfrm>
              <a:off x="1143000" y="3067050"/>
              <a:ext cx="1085850" cy="381000"/>
            </a:xfrm>
            <a:prstGeom prst="rect">
              <a:avLst/>
            </a:prstGeom>
            <a:solidFill>
              <a:srgbClr val="8E240C"/>
            </a:solidFill>
            <a:ln>
              <a:noFill/>
            </a:ln>
          </p:spPr>
        </p:sp>
        <p:sp>
          <p:nvSpPr>
            <p:cNvPr id="59" name="Rectangle 59"/>
            <p:cNvSpPr/>
            <p:nvPr/>
          </p:nvSpPr>
          <p:spPr>
            <a:xfrm>
              <a:off x="2228850" y="3067050"/>
              <a:ext cx="1000125" cy="381000"/>
            </a:xfrm>
            <a:prstGeom prst="rect">
              <a:avLst/>
            </a:prstGeom>
            <a:solidFill>
              <a:srgbClr val="C0412B"/>
            </a:solidFill>
            <a:ln>
              <a:noFill/>
            </a:ln>
          </p:spPr>
        </p:sp>
        <p:sp>
          <p:nvSpPr>
            <p:cNvPr id="60" name="Rectangle 60"/>
            <p:cNvSpPr/>
            <p:nvPr/>
          </p:nvSpPr>
          <p:spPr>
            <a:xfrm>
              <a:off x="3228975" y="3067050"/>
              <a:ext cx="514350" cy="381000"/>
            </a:xfrm>
            <a:prstGeom prst="rect">
              <a:avLst/>
            </a:prstGeom>
            <a:solidFill>
              <a:srgbClr val="E4AFA6"/>
            </a:solidFill>
            <a:ln>
              <a:noFill/>
            </a:ln>
          </p:spPr>
        </p:sp>
        <p:sp>
          <p:nvSpPr>
            <p:cNvPr id="61" name="Rectangle 61"/>
            <p:cNvSpPr/>
            <p:nvPr/>
          </p:nvSpPr>
          <p:spPr>
            <a:xfrm>
              <a:off x="3743325" y="3067050"/>
              <a:ext cx="257175" cy="381000"/>
            </a:xfrm>
            <a:prstGeom prst="rect">
              <a:avLst/>
            </a:prstGeom>
            <a:solidFill>
              <a:srgbClr val="F2D7D4"/>
            </a:solidFill>
            <a:ln>
              <a:noFill/>
            </a:ln>
          </p:spPr>
        </p:sp>
        <p:sp>
          <p:nvSpPr>
            <p:cNvPr id="62" name="TextBox 62"/>
            <p:cNvSpPr txBox="1"/>
            <p:nvPr/>
          </p:nvSpPr>
          <p:spPr>
            <a:xfrm>
              <a:off x="1528503" y="3208020"/>
              <a:ext cx="31484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38%​</a:t>
              </a:r>
            </a:p>
          </p:txBody>
        </p:sp>
        <p:sp>
          <p:nvSpPr>
            <p:cNvPr id="63" name="TextBox 63"/>
            <p:cNvSpPr txBox="1"/>
            <p:nvPr/>
          </p:nvSpPr>
          <p:spPr>
            <a:xfrm>
              <a:off x="2566728" y="3208020"/>
              <a:ext cx="31484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35%​</a:t>
              </a:r>
            </a:p>
          </p:txBody>
        </p:sp>
        <p:sp>
          <p:nvSpPr>
            <p:cNvPr id="64" name="TextBox 64"/>
            <p:cNvSpPr txBox="1"/>
            <p:nvPr/>
          </p:nvSpPr>
          <p:spPr>
            <a:xfrm>
              <a:off x="3342298" y="3216116"/>
              <a:ext cx="287704" cy="161925"/>
            </a:xfrm>
            <a:prstGeom prst="rect">
              <a:avLst/>
            </a:prstGeom>
            <a:noFill/>
            <a:ln>
              <a:noFill/>
            </a:ln>
          </p:spPr>
          <p:txBody>
            <a:bodyPr wrap="none" lIns="0" tIns="0" rIns="0" bIns="0" anchor="t" anchorCtr="0">
              <a:spAutoFit/>
            </a:bodyPr>
            <a:lstStyle/>
            <a:p>
              <a:pPr algn="ctr"/>
              <a:r>
                <a:rPr lang="zh-CN" sz="820" b="1" dirty="0">
                  <a:solidFill>
                    <a:srgbClr val="7A4036"/>
                  </a:solidFill>
                  <a:latin typeface="+mn-lt"/>
                  <a:ea typeface="+mn-ea"/>
                  <a:cs typeface="+mn-cs"/>
                </a:rPr>
                <a:t>18%​</a:t>
              </a:r>
            </a:p>
          </p:txBody>
        </p:sp>
        <p:sp>
          <p:nvSpPr>
            <p:cNvPr id="65" name="TextBox 65"/>
            <p:cNvSpPr txBox="1"/>
            <p:nvPr/>
          </p:nvSpPr>
          <p:spPr>
            <a:xfrm>
              <a:off x="3769555" y="3228261"/>
              <a:ext cx="195190" cy="140494"/>
            </a:xfrm>
            <a:prstGeom prst="rect">
              <a:avLst/>
            </a:prstGeom>
            <a:noFill/>
            <a:ln>
              <a:noFill/>
            </a:ln>
          </p:spPr>
          <p:txBody>
            <a:bodyPr wrap="none" lIns="0" tIns="0" rIns="0" bIns="0" anchor="t" anchorCtr="0">
              <a:spAutoFit/>
            </a:bodyPr>
            <a:lstStyle/>
            <a:p>
              <a:pPr algn="ctr"/>
              <a:r>
                <a:rPr lang="zh-CN" sz="710" b="1" dirty="0">
                  <a:solidFill>
                    <a:srgbClr val="7A4036"/>
                  </a:solidFill>
                  <a:latin typeface="+mn-lt"/>
                  <a:ea typeface="+mn-ea"/>
                  <a:cs typeface="+mn-cs"/>
                </a:rPr>
                <a:t>9%​</a:t>
              </a:r>
            </a:p>
          </p:txBody>
        </p:sp>
        <p:sp>
          <p:nvSpPr>
            <p:cNvPr id="66" name="TextBox 66"/>
            <p:cNvSpPr txBox="1"/>
            <p:nvPr/>
          </p:nvSpPr>
          <p:spPr>
            <a:xfrm>
              <a:off x="585788" y="3945493"/>
              <a:ext cx="559448"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2023年末​</a:t>
              </a:r>
            </a:p>
          </p:txBody>
        </p:sp>
        <p:sp>
          <p:nvSpPr>
            <p:cNvPr id="67" name="Rectangle 67"/>
            <p:cNvSpPr/>
            <p:nvPr/>
          </p:nvSpPr>
          <p:spPr>
            <a:xfrm>
              <a:off x="1143000" y="3733800"/>
              <a:ext cx="1028700" cy="381000"/>
            </a:xfrm>
            <a:prstGeom prst="rect">
              <a:avLst/>
            </a:prstGeom>
            <a:solidFill>
              <a:srgbClr val="8E240C"/>
            </a:solidFill>
            <a:ln>
              <a:noFill/>
            </a:ln>
          </p:spPr>
        </p:sp>
        <p:sp>
          <p:nvSpPr>
            <p:cNvPr id="68" name="Rectangle 68"/>
            <p:cNvSpPr/>
            <p:nvPr/>
          </p:nvSpPr>
          <p:spPr>
            <a:xfrm>
              <a:off x="2171700" y="3733800"/>
              <a:ext cx="1028700" cy="381000"/>
            </a:xfrm>
            <a:prstGeom prst="rect">
              <a:avLst/>
            </a:prstGeom>
            <a:solidFill>
              <a:srgbClr val="C0412B"/>
            </a:solidFill>
            <a:ln>
              <a:noFill/>
            </a:ln>
          </p:spPr>
        </p:sp>
        <p:sp>
          <p:nvSpPr>
            <p:cNvPr id="69" name="Rectangle 69"/>
            <p:cNvSpPr/>
            <p:nvPr/>
          </p:nvSpPr>
          <p:spPr>
            <a:xfrm>
              <a:off x="3200400" y="3733800"/>
              <a:ext cx="485775" cy="381000"/>
            </a:xfrm>
            <a:prstGeom prst="rect">
              <a:avLst/>
            </a:prstGeom>
            <a:solidFill>
              <a:srgbClr val="E4AFA6"/>
            </a:solidFill>
            <a:ln>
              <a:noFill/>
            </a:ln>
          </p:spPr>
        </p:sp>
        <p:sp>
          <p:nvSpPr>
            <p:cNvPr id="70" name="Rectangle 70"/>
            <p:cNvSpPr/>
            <p:nvPr/>
          </p:nvSpPr>
          <p:spPr>
            <a:xfrm>
              <a:off x="3686175" y="3733800"/>
              <a:ext cx="314325" cy="381000"/>
            </a:xfrm>
            <a:prstGeom prst="rect">
              <a:avLst/>
            </a:prstGeom>
            <a:solidFill>
              <a:srgbClr val="F2D7D4"/>
            </a:solidFill>
            <a:ln>
              <a:noFill/>
            </a:ln>
          </p:spPr>
        </p:sp>
        <p:sp>
          <p:nvSpPr>
            <p:cNvPr id="71" name="TextBox 71"/>
            <p:cNvSpPr txBox="1"/>
            <p:nvPr/>
          </p:nvSpPr>
          <p:spPr>
            <a:xfrm>
              <a:off x="1499928" y="3874770"/>
              <a:ext cx="31484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36%​</a:t>
              </a:r>
            </a:p>
          </p:txBody>
        </p:sp>
        <p:sp>
          <p:nvSpPr>
            <p:cNvPr id="72" name="TextBox 72"/>
            <p:cNvSpPr txBox="1"/>
            <p:nvPr/>
          </p:nvSpPr>
          <p:spPr>
            <a:xfrm>
              <a:off x="2528628" y="3874770"/>
              <a:ext cx="31484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36%​</a:t>
              </a:r>
            </a:p>
          </p:txBody>
        </p:sp>
        <p:sp>
          <p:nvSpPr>
            <p:cNvPr id="73" name="TextBox 73"/>
            <p:cNvSpPr txBox="1"/>
            <p:nvPr/>
          </p:nvSpPr>
          <p:spPr>
            <a:xfrm>
              <a:off x="3294673" y="3882866"/>
              <a:ext cx="287704" cy="161925"/>
            </a:xfrm>
            <a:prstGeom prst="rect">
              <a:avLst/>
            </a:prstGeom>
            <a:noFill/>
            <a:ln>
              <a:noFill/>
            </a:ln>
          </p:spPr>
          <p:txBody>
            <a:bodyPr wrap="none" lIns="0" tIns="0" rIns="0" bIns="0" anchor="t" anchorCtr="0">
              <a:spAutoFit/>
            </a:bodyPr>
            <a:lstStyle/>
            <a:p>
              <a:pPr algn="ctr"/>
              <a:r>
                <a:rPr lang="zh-CN" sz="820" b="1" dirty="0">
                  <a:solidFill>
                    <a:srgbClr val="7A4036"/>
                  </a:solidFill>
                  <a:latin typeface="+mn-lt"/>
                  <a:ea typeface="+mn-ea"/>
                  <a:cs typeface="+mn-cs"/>
                </a:rPr>
                <a:t>17%​</a:t>
              </a:r>
            </a:p>
          </p:txBody>
        </p:sp>
        <p:sp>
          <p:nvSpPr>
            <p:cNvPr id="74" name="TextBox 74"/>
            <p:cNvSpPr txBox="1"/>
            <p:nvPr/>
          </p:nvSpPr>
          <p:spPr>
            <a:xfrm>
              <a:off x="3713381" y="3895011"/>
              <a:ext cx="250387" cy="140494"/>
            </a:xfrm>
            <a:prstGeom prst="rect">
              <a:avLst/>
            </a:prstGeom>
            <a:noFill/>
            <a:ln>
              <a:noFill/>
            </a:ln>
          </p:spPr>
          <p:txBody>
            <a:bodyPr wrap="none" lIns="0" tIns="0" rIns="0" bIns="0" anchor="t" anchorCtr="0">
              <a:spAutoFit/>
            </a:bodyPr>
            <a:lstStyle/>
            <a:p>
              <a:pPr algn="ctr"/>
              <a:r>
                <a:rPr lang="zh-CN" sz="710" b="1" dirty="0">
                  <a:solidFill>
                    <a:srgbClr val="7A4036"/>
                  </a:solidFill>
                  <a:latin typeface="+mn-lt"/>
                  <a:ea typeface="+mn-ea"/>
                  <a:cs typeface="+mn-cs"/>
                </a:rPr>
                <a:t>11%​</a:t>
              </a:r>
            </a:p>
          </p:txBody>
        </p:sp>
        <p:sp>
          <p:nvSpPr>
            <p:cNvPr id="75" name="Rectangle 75"/>
            <p:cNvSpPr/>
            <p:nvPr/>
          </p:nvSpPr>
          <p:spPr>
            <a:xfrm>
              <a:off x="1143000" y="4514850"/>
              <a:ext cx="114300" cy="114300"/>
            </a:xfrm>
            <a:prstGeom prst="rect">
              <a:avLst/>
            </a:prstGeom>
            <a:solidFill>
              <a:srgbClr val="8E240C"/>
            </a:solidFill>
            <a:ln>
              <a:noFill/>
            </a:ln>
          </p:spPr>
        </p:sp>
        <p:sp>
          <p:nvSpPr>
            <p:cNvPr id="76" name="TextBox 76"/>
            <p:cNvSpPr txBox="1"/>
            <p:nvPr/>
          </p:nvSpPr>
          <p:spPr>
            <a:xfrm>
              <a:off x="1309688" y="4525089"/>
              <a:ext cx="434924"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活期存款</a:t>
              </a:r>
            </a:p>
          </p:txBody>
        </p:sp>
        <p:sp>
          <p:nvSpPr>
            <p:cNvPr id="77" name="Rectangle 77"/>
            <p:cNvSpPr/>
            <p:nvPr/>
          </p:nvSpPr>
          <p:spPr>
            <a:xfrm>
              <a:off x="2057400" y="4514850"/>
              <a:ext cx="114300" cy="114300"/>
            </a:xfrm>
            <a:prstGeom prst="rect">
              <a:avLst/>
            </a:prstGeom>
            <a:solidFill>
              <a:srgbClr val="C0412B"/>
            </a:solidFill>
            <a:ln>
              <a:noFill/>
            </a:ln>
          </p:spPr>
        </p:sp>
        <p:sp>
          <p:nvSpPr>
            <p:cNvPr id="78" name="TextBox 78"/>
            <p:cNvSpPr txBox="1"/>
            <p:nvPr/>
          </p:nvSpPr>
          <p:spPr>
            <a:xfrm>
              <a:off x="2224088" y="4525089"/>
              <a:ext cx="647624"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一年以内定期</a:t>
              </a:r>
            </a:p>
          </p:txBody>
        </p:sp>
        <p:sp>
          <p:nvSpPr>
            <p:cNvPr id="79" name="Rectangle 79"/>
            <p:cNvSpPr/>
            <p:nvPr/>
          </p:nvSpPr>
          <p:spPr>
            <a:xfrm>
              <a:off x="3143250" y="4514850"/>
              <a:ext cx="114300" cy="114300"/>
            </a:xfrm>
            <a:prstGeom prst="rect">
              <a:avLst/>
            </a:prstGeom>
            <a:solidFill>
              <a:srgbClr val="E4AFA6"/>
            </a:solidFill>
            <a:ln>
              <a:noFill/>
            </a:ln>
          </p:spPr>
        </p:sp>
        <p:sp>
          <p:nvSpPr>
            <p:cNvPr id="80" name="TextBox 80"/>
            <p:cNvSpPr txBox="1"/>
            <p:nvPr/>
          </p:nvSpPr>
          <p:spPr>
            <a:xfrm>
              <a:off x="3309938" y="4525089"/>
              <a:ext cx="647624"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一年以上定期</a:t>
              </a:r>
            </a:p>
          </p:txBody>
        </p:sp>
        <p:sp>
          <p:nvSpPr>
            <p:cNvPr id="81" name="Rectangle 81"/>
            <p:cNvSpPr/>
            <p:nvPr/>
          </p:nvSpPr>
          <p:spPr>
            <a:xfrm>
              <a:off x="1143000" y="4781550"/>
              <a:ext cx="114300" cy="114300"/>
            </a:xfrm>
            <a:prstGeom prst="rect">
              <a:avLst/>
            </a:prstGeom>
            <a:solidFill>
              <a:srgbClr val="F2D7D4"/>
            </a:solidFill>
            <a:ln>
              <a:noFill/>
            </a:ln>
          </p:spPr>
        </p:sp>
        <p:sp>
          <p:nvSpPr>
            <p:cNvPr id="82" name="TextBox 82"/>
            <p:cNvSpPr txBox="1"/>
            <p:nvPr/>
          </p:nvSpPr>
          <p:spPr>
            <a:xfrm>
              <a:off x="1309688" y="4791789"/>
              <a:ext cx="222225"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其他</a:t>
              </a:r>
            </a:p>
          </p:txBody>
        </p:sp>
      </p:grpSp>
      <p:grpSp>
        <p:nvGrpSpPr>
          <p:cNvPr id="148" name="liab-loop"/>
          <p:cNvGrpSpPr/>
          <p:nvPr/>
        </p:nvGrpSpPr>
        <p:grpSpPr>
          <a:xfrm>
            <a:off x="4305300" y="2495550"/>
            <a:ext cx="3810000" cy="3108007"/>
            <a:chOff x="4305300" y="2495550"/>
            <a:chExt cx="3810000" cy="3108007"/>
          </a:xfrm>
        </p:grpSpPr>
        <p:sp>
          <p:nvSpPr>
            <p:cNvPr id="84" name="Rectangle 84"/>
            <p:cNvSpPr/>
            <p:nvPr/>
          </p:nvSpPr>
          <p:spPr>
            <a:xfrm>
              <a:off x="4305300" y="2495550"/>
              <a:ext cx="3810000" cy="3086100"/>
            </a:xfrm>
            <a:prstGeom prst="roundRect">
              <a:avLst>
                <a:gd name="adj" fmla="val 2469"/>
              </a:avLst>
            </a:prstGeom>
            <a:solidFill>
              <a:srgbClr val="FDF6F5"/>
            </a:solidFill>
            <a:ln w="9525">
              <a:solidFill>
                <a:srgbClr val="EDD5D2"/>
              </a:solidFill>
            </a:ln>
          </p:spPr>
        </p:sp>
        <p:sp>
          <p:nvSpPr>
            <p:cNvPr id="85" name="Freeform 85"/>
            <p:cNvSpPr/>
            <p:nvPr/>
          </p:nvSpPr>
          <p:spPr>
            <a:xfrm>
              <a:off x="4314825" y="2505075"/>
              <a:ext cx="3790950" cy="228600"/>
            </a:xfrm>
            <a:custGeom>
              <a:avLst/>
              <a:gdLst/>
              <a:ahLst/>
              <a:cxnLst/>
              <a:rect l="l" t="t" r="r" b="b"/>
              <a:pathLst>
                <a:path w="3790950" h="228600">
                  <a:moveTo>
                    <a:pt x="0" y="228600"/>
                  </a:moveTo>
                  <a:lnTo>
                    <a:pt x="3790950" y="228600"/>
                  </a:lnTo>
                  <a:lnTo>
                    <a:pt x="3790950" y="66675"/>
                  </a:lnTo>
                  <a:cubicBezTo>
                    <a:pt x="3790950" y="29851"/>
                    <a:pt x="3761099" y="0"/>
                    <a:pt x="3724275" y="0"/>
                  </a:cubicBezTo>
                  <a:lnTo>
                    <a:pt x="66675" y="0"/>
                  </a:lnTo>
                  <a:cubicBezTo>
                    <a:pt x="29851" y="0"/>
                    <a:pt x="0" y="29851"/>
                    <a:pt x="0" y="66675"/>
                  </a:cubicBezTo>
                  <a:close/>
                </a:path>
              </a:pathLst>
            </a:custGeom>
            <a:solidFill>
              <a:srgbClr val="A52D12"/>
            </a:solidFill>
            <a:ln>
              <a:noFill/>
            </a:ln>
          </p:spPr>
        </p:sp>
        <p:sp>
          <p:nvSpPr>
            <p:cNvPr id="86" name="TextBox 86"/>
            <p:cNvSpPr txBox="1"/>
            <p:nvPr/>
          </p:nvSpPr>
          <p:spPr>
            <a:xfrm>
              <a:off x="5639562" y="2553652"/>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负债经营管理闭环</a:t>
              </a:r>
            </a:p>
          </p:txBody>
        </p:sp>
        <p:sp>
          <p:nvSpPr>
            <p:cNvPr id="87" name="Ellipse 87"/>
            <p:cNvSpPr/>
            <p:nvPr/>
          </p:nvSpPr>
          <p:spPr>
            <a:xfrm>
              <a:off x="5772150" y="3752850"/>
              <a:ext cx="876300" cy="876300"/>
            </a:xfrm>
            <a:prstGeom prst="ellipse">
              <a:avLst/>
            </a:prstGeom>
            <a:solidFill>
              <a:srgbClr val="A52D12"/>
            </a:solidFill>
            <a:ln>
              <a:noFill/>
            </a:ln>
          </p:spPr>
        </p:sp>
        <p:grpSp>
          <p:nvGrpSpPr>
            <p:cNvPr id="93" name="Group 93"/>
            <p:cNvGrpSpPr/>
            <p:nvPr/>
          </p:nvGrpSpPr>
          <p:grpSpPr>
            <a:xfrm>
              <a:off x="6124575" y="3894449"/>
              <a:ext cx="171450" cy="172726"/>
              <a:chOff x="6124575" y="3894449"/>
              <a:chExt cx="171450" cy="172726"/>
            </a:xfrm>
          </p:grpSpPr>
          <p:sp>
            <p:nvSpPr>
              <p:cNvPr id="88" name="Freeform 88"/>
              <p:cNvSpPr/>
              <p:nvPr/>
            </p:nvSpPr>
            <p:spPr>
              <a:xfrm>
                <a:off x="6181725" y="397192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FFFFFF"/>
                </a:solidFill>
              </a:ln>
            </p:spPr>
          </p:sp>
          <p:sp>
            <p:nvSpPr>
              <p:cNvPr id="89" name="Freeform 89"/>
              <p:cNvSpPr/>
              <p:nvPr/>
            </p:nvSpPr>
            <p:spPr>
              <a:xfrm>
                <a:off x="6181725" y="400050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FFFFFF"/>
                </a:solidFill>
              </a:ln>
            </p:spPr>
          </p:sp>
          <p:sp>
            <p:nvSpPr>
              <p:cNvPr id="90" name="Freeform 90"/>
              <p:cNvSpPr/>
              <p:nvPr/>
            </p:nvSpPr>
            <p:spPr>
              <a:xfrm>
                <a:off x="6124575" y="389444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FFFFFF"/>
                </a:solidFill>
              </a:ln>
            </p:spPr>
          </p:sp>
          <p:sp>
            <p:nvSpPr>
              <p:cNvPr id="91" name="Freeform 91"/>
              <p:cNvSpPr/>
              <p:nvPr/>
            </p:nvSpPr>
            <p:spPr>
              <a:xfrm>
                <a:off x="6124575" y="392430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FFFFFF"/>
                </a:solidFill>
              </a:ln>
            </p:spPr>
          </p:sp>
          <p:sp>
            <p:nvSpPr>
              <p:cNvPr id="92" name="Freeform 92"/>
              <p:cNvSpPr/>
              <p:nvPr/>
            </p:nvSpPr>
            <p:spPr>
              <a:xfrm>
                <a:off x="6124575" y="397192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FFFFFF"/>
                </a:solidFill>
              </a:ln>
            </p:spPr>
          </p:sp>
        </p:grpSp>
        <p:sp>
          <p:nvSpPr>
            <p:cNvPr id="94" name="TextBox 94"/>
            <p:cNvSpPr txBox="1"/>
            <p:nvPr/>
          </p:nvSpPr>
          <p:spPr>
            <a:xfrm>
              <a:off x="5952452" y="416599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价值经营</a:t>
              </a:r>
            </a:p>
          </p:txBody>
        </p:sp>
        <p:sp>
          <p:nvSpPr>
            <p:cNvPr id="95" name="TextBox 95"/>
            <p:cNvSpPr txBox="1"/>
            <p:nvPr/>
          </p:nvSpPr>
          <p:spPr>
            <a:xfrm>
              <a:off x="5952452" y="43374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降本增效</a:t>
              </a:r>
            </a:p>
          </p:txBody>
        </p:sp>
        <p:sp>
          <p:nvSpPr>
            <p:cNvPr id="96" name="Freeform 96"/>
            <p:cNvSpPr/>
            <p:nvPr/>
          </p:nvSpPr>
          <p:spPr>
            <a:xfrm>
              <a:off x="6469380" y="3225165"/>
              <a:ext cx="447675" cy="259080"/>
            </a:xfrm>
            <a:custGeom>
              <a:avLst/>
              <a:gdLst/>
              <a:ahLst/>
              <a:cxnLst/>
              <a:rect l="l" t="t" r="r" b="b"/>
              <a:pathLst>
                <a:path w="447675" h="259080">
                  <a:moveTo>
                    <a:pt x="0" y="0"/>
                  </a:moveTo>
                  <a:cubicBezTo>
                    <a:pt x="169361" y="45611"/>
                    <a:pt x="323750" y="134959"/>
                    <a:pt x="447675" y="259080"/>
                  </a:cubicBezTo>
                </a:path>
              </a:pathLst>
            </a:custGeom>
            <a:noFill/>
            <a:ln w="19050">
              <a:solidFill>
                <a:srgbClr val="C9604E"/>
              </a:solidFill>
              <a:tailEnd type="triangle" w="lg" len="lg"/>
            </a:ln>
          </p:spPr>
        </p:sp>
        <p:sp>
          <p:nvSpPr>
            <p:cNvPr id="97" name="Freeform 97"/>
            <p:cNvSpPr/>
            <p:nvPr/>
          </p:nvSpPr>
          <p:spPr>
            <a:xfrm>
              <a:off x="7176135" y="3931920"/>
              <a:ext cx="45520" cy="518160"/>
            </a:xfrm>
            <a:custGeom>
              <a:avLst/>
              <a:gdLst/>
              <a:ahLst/>
              <a:cxnLst/>
              <a:rect l="l" t="t" r="r" b="b"/>
              <a:pathLst>
                <a:path w="45520" h="518160">
                  <a:moveTo>
                    <a:pt x="0" y="0"/>
                  </a:moveTo>
                  <a:cubicBezTo>
                    <a:pt x="45520" y="169721"/>
                    <a:pt x="45520" y="348439"/>
                    <a:pt x="0" y="518160"/>
                  </a:cubicBezTo>
                </a:path>
              </a:pathLst>
            </a:custGeom>
            <a:noFill/>
            <a:ln w="19050">
              <a:solidFill>
                <a:srgbClr val="C9604E"/>
              </a:solidFill>
              <a:tailEnd type="triangle" w="lg" len="lg"/>
            </a:ln>
          </p:spPr>
        </p:sp>
        <p:sp>
          <p:nvSpPr>
            <p:cNvPr id="98" name="Freeform 98"/>
            <p:cNvSpPr/>
            <p:nvPr/>
          </p:nvSpPr>
          <p:spPr>
            <a:xfrm>
              <a:off x="6469380" y="4897755"/>
              <a:ext cx="447675" cy="259080"/>
            </a:xfrm>
            <a:custGeom>
              <a:avLst/>
              <a:gdLst/>
              <a:ahLst/>
              <a:cxnLst/>
              <a:rect l="l" t="t" r="r" b="b"/>
              <a:pathLst>
                <a:path w="447675" h="259080">
                  <a:moveTo>
                    <a:pt x="447675" y="0"/>
                  </a:moveTo>
                  <a:cubicBezTo>
                    <a:pt x="323750" y="124121"/>
                    <a:pt x="169361" y="213469"/>
                    <a:pt x="0" y="259080"/>
                  </a:cubicBezTo>
                </a:path>
              </a:pathLst>
            </a:custGeom>
            <a:noFill/>
            <a:ln w="19050">
              <a:solidFill>
                <a:srgbClr val="C9604E"/>
              </a:solidFill>
              <a:tailEnd type="triangle" w="lg" len="lg"/>
            </a:ln>
          </p:spPr>
        </p:sp>
        <p:sp>
          <p:nvSpPr>
            <p:cNvPr id="99" name="Freeform 99"/>
            <p:cNvSpPr/>
            <p:nvPr/>
          </p:nvSpPr>
          <p:spPr>
            <a:xfrm>
              <a:off x="5503545" y="4897755"/>
              <a:ext cx="447675" cy="259080"/>
            </a:xfrm>
            <a:custGeom>
              <a:avLst/>
              <a:gdLst/>
              <a:ahLst/>
              <a:cxnLst/>
              <a:rect l="l" t="t" r="r" b="b"/>
              <a:pathLst>
                <a:path w="447675" h="259080">
                  <a:moveTo>
                    <a:pt x="447675" y="259080"/>
                  </a:moveTo>
                  <a:cubicBezTo>
                    <a:pt x="278314" y="213469"/>
                    <a:pt x="123925" y="124121"/>
                    <a:pt x="0" y="0"/>
                  </a:cubicBezTo>
                </a:path>
              </a:pathLst>
            </a:custGeom>
            <a:noFill/>
            <a:ln w="19050">
              <a:solidFill>
                <a:srgbClr val="C9604E"/>
              </a:solidFill>
              <a:tailEnd type="triangle" w="lg" len="lg"/>
            </a:ln>
          </p:spPr>
        </p:sp>
        <p:sp>
          <p:nvSpPr>
            <p:cNvPr id="100" name="Freeform 100"/>
            <p:cNvSpPr/>
            <p:nvPr/>
          </p:nvSpPr>
          <p:spPr>
            <a:xfrm>
              <a:off x="5198945" y="3931920"/>
              <a:ext cx="45520" cy="518160"/>
            </a:xfrm>
            <a:custGeom>
              <a:avLst/>
              <a:gdLst/>
              <a:ahLst/>
              <a:cxnLst/>
              <a:rect l="l" t="t" r="r" b="b"/>
              <a:pathLst>
                <a:path w="45520" h="518160">
                  <a:moveTo>
                    <a:pt x="45520" y="518160"/>
                  </a:moveTo>
                  <a:cubicBezTo>
                    <a:pt x="0" y="348439"/>
                    <a:pt x="0" y="169721"/>
                    <a:pt x="45520" y="0"/>
                  </a:cubicBezTo>
                </a:path>
              </a:pathLst>
            </a:custGeom>
            <a:noFill/>
            <a:ln w="19050">
              <a:solidFill>
                <a:srgbClr val="C9604E"/>
              </a:solidFill>
              <a:tailEnd type="triangle" w="lg" len="lg"/>
            </a:ln>
          </p:spPr>
        </p:sp>
        <p:sp>
          <p:nvSpPr>
            <p:cNvPr id="101" name="Freeform 101"/>
            <p:cNvSpPr/>
            <p:nvPr/>
          </p:nvSpPr>
          <p:spPr>
            <a:xfrm>
              <a:off x="5503545" y="3225165"/>
              <a:ext cx="447675" cy="259080"/>
            </a:xfrm>
            <a:custGeom>
              <a:avLst/>
              <a:gdLst/>
              <a:ahLst/>
              <a:cxnLst/>
              <a:rect l="l" t="t" r="r" b="b"/>
              <a:pathLst>
                <a:path w="447675" h="259080">
                  <a:moveTo>
                    <a:pt x="0" y="259080"/>
                  </a:moveTo>
                  <a:cubicBezTo>
                    <a:pt x="123925" y="134959"/>
                    <a:pt x="278314" y="45611"/>
                    <a:pt x="447675" y="0"/>
                  </a:cubicBezTo>
                </a:path>
              </a:pathLst>
            </a:custGeom>
            <a:noFill/>
            <a:ln w="19050">
              <a:solidFill>
                <a:srgbClr val="C9604E"/>
              </a:solidFill>
              <a:tailEnd type="triangle" w="lg" len="lg"/>
            </a:ln>
          </p:spPr>
        </p:sp>
        <p:sp>
          <p:nvSpPr>
            <p:cNvPr id="102" name="Ellipse 102"/>
            <p:cNvSpPr/>
            <p:nvPr/>
          </p:nvSpPr>
          <p:spPr>
            <a:xfrm>
              <a:off x="6019800" y="2981325"/>
              <a:ext cx="381000" cy="381000"/>
            </a:xfrm>
            <a:prstGeom prst="ellipse">
              <a:avLst/>
            </a:prstGeom>
            <a:solidFill>
              <a:srgbClr val="FFFFFF"/>
            </a:solidFill>
            <a:ln w="15240">
              <a:solidFill>
                <a:srgbClr val="A52D12"/>
              </a:solidFill>
            </a:ln>
          </p:spPr>
        </p:sp>
        <p:grpSp>
          <p:nvGrpSpPr>
            <p:cNvPr id="107" name="Group 107"/>
            <p:cNvGrpSpPr/>
            <p:nvPr/>
          </p:nvGrpSpPr>
          <p:grpSpPr>
            <a:xfrm>
              <a:off x="6143625" y="3105150"/>
              <a:ext cx="114300" cy="114301"/>
              <a:chOff x="6143625" y="3105150"/>
              <a:chExt cx="114300" cy="114301"/>
            </a:xfrm>
          </p:grpSpPr>
          <p:sp>
            <p:nvSpPr>
              <p:cNvPr id="103" name="Freeform 103"/>
              <p:cNvSpPr/>
              <p:nvPr/>
            </p:nvSpPr>
            <p:spPr>
              <a:xfrm>
                <a:off x="6156325" y="31051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52D12"/>
                </a:solidFill>
              </a:ln>
            </p:spPr>
          </p:sp>
          <p:sp>
            <p:nvSpPr>
              <p:cNvPr id="104" name="Freeform 104"/>
              <p:cNvSpPr/>
              <p:nvPr/>
            </p:nvSpPr>
            <p:spPr>
              <a:xfrm>
                <a:off x="6143625" y="31813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A52D12"/>
                </a:solidFill>
              </a:ln>
            </p:spPr>
          </p:sp>
          <p:sp>
            <p:nvSpPr>
              <p:cNvPr id="105" name="Freeform 105"/>
              <p:cNvSpPr/>
              <p:nvPr/>
            </p:nvSpPr>
            <p:spPr>
              <a:xfrm>
                <a:off x="6226175" y="31059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A52D12"/>
                </a:solidFill>
              </a:ln>
            </p:spPr>
          </p:sp>
          <p:sp>
            <p:nvSpPr>
              <p:cNvPr id="106" name="Freeform 106"/>
              <p:cNvSpPr/>
              <p:nvPr/>
            </p:nvSpPr>
            <p:spPr>
              <a:xfrm>
                <a:off x="6238875" y="31823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A52D12"/>
                </a:solidFill>
              </a:ln>
            </p:spPr>
          </p:sp>
        </p:grpSp>
        <p:sp>
          <p:nvSpPr>
            <p:cNvPr id="108" name="Ellipse 108"/>
            <p:cNvSpPr/>
            <p:nvPr/>
          </p:nvSpPr>
          <p:spPr>
            <a:xfrm>
              <a:off x="6276975" y="2933700"/>
              <a:ext cx="171450" cy="171450"/>
            </a:xfrm>
            <a:prstGeom prst="ellipse">
              <a:avLst/>
            </a:prstGeom>
            <a:solidFill>
              <a:srgbClr val="A52D12"/>
            </a:solidFill>
            <a:ln>
              <a:noFill/>
            </a:ln>
          </p:spPr>
        </p:sp>
        <p:sp>
          <p:nvSpPr>
            <p:cNvPr id="109" name="TextBox 109"/>
            <p:cNvSpPr txBox="1"/>
            <p:nvPr/>
          </p:nvSpPr>
          <p:spPr>
            <a:xfrm>
              <a:off x="6299630" y="2976562"/>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110" name="Ellipse 110"/>
            <p:cNvSpPr/>
            <p:nvPr/>
          </p:nvSpPr>
          <p:spPr>
            <a:xfrm>
              <a:off x="6885622" y="3481388"/>
              <a:ext cx="381000" cy="381000"/>
            </a:xfrm>
            <a:prstGeom prst="ellipse">
              <a:avLst/>
            </a:prstGeom>
            <a:solidFill>
              <a:srgbClr val="FFFFFF"/>
            </a:solidFill>
            <a:ln w="15240">
              <a:solidFill>
                <a:srgbClr val="A52D12"/>
              </a:solidFill>
            </a:ln>
          </p:spPr>
        </p:sp>
        <p:grpSp>
          <p:nvGrpSpPr>
            <p:cNvPr id="113" name="Group 113"/>
            <p:cNvGrpSpPr/>
            <p:nvPr/>
          </p:nvGrpSpPr>
          <p:grpSpPr>
            <a:xfrm>
              <a:off x="7016750" y="3606800"/>
              <a:ext cx="101600" cy="101600"/>
              <a:chOff x="7016750" y="3606800"/>
              <a:chExt cx="101600" cy="101600"/>
            </a:xfrm>
          </p:grpSpPr>
          <p:sp>
            <p:nvSpPr>
              <p:cNvPr id="111" name="Freeform 111"/>
              <p:cNvSpPr/>
              <p:nvPr/>
            </p:nvSpPr>
            <p:spPr>
              <a:xfrm>
                <a:off x="7016750" y="3606800"/>
                <a:ext cx="95250" cy="101600"/>
              </a:xfrm>
              <a:custGeom>
                <a:avLst/>
                <a:gdLst/>
                <a:ahLst/>
                <a:cxnLst/>
                <a:rect l="l" t="t" r="r" b="b"/>
                <a:pathLst>
                  <a:path w="95250" h="101600">
                    <a:moveTo>
                      <a:pt x="82550" y="25400"/>
                    </a:moveTo>
                    <a:lnTo>
                      <a:pt x="82550" y="6350"/>
                    </a:lnTo>
                    <a:cubicBezTo>
                      <a:pt x="82550" y="2843"/>
                      <a:pt x="79707" y="0"/>
                      <a:pt x="76200" y="0"/>
                    </a:cubicBezTo>
                    <a:lnTo>
                      <a:pt x="12700" y="0"/>
                    </a:lnTo>
                    <a:cubicBezTo>
                      <a:pt x="5686" y="0"/>
                      <a:pt x="0" y="5686"/>
                      <a:pt x="0" y="12700"/>
                    </a:cubicBezTo>
                    <a:cubicBezTo>
                      <a:pt x="0" y="19714"/>
                      <a:pt x="5686" y="25400"/>
                      <a:pt x="12700" y="25400"/>
                    </a:cubicBezTo>
                    <a:lnTo>
                      <a:pt x="88900" y="25400"/>
                    </a:lnTo>
                    <a:cubicBezTo>
                      <a:pt x="92407" y="25400"/>
                      <a:pt x="95250" y="28243"/>
                      <a:pt x="95250" y="31750"/>
                    </a:cubicBezTo>
                    <a:lnTo>
                      <a:pt x="95250" y="50800"/>
                    </a:lnTo>
                    <a:moveTo>
                      <a:pt x="95250" y="76200"/>
                    </a:moveTo>
                    <a:lnTo>
                      <a:pt x="95250" y="95250"/>
                    </a:lnTo>
                    <a:cubicBezTo>
                      <a:pt x="95250" y="98757"/>
                      <a:pt x="92407" y="101600"/>
                      <a:pt x="88900" y="101600"/>
                    </a:cubicBezTo>
                    <a:lnTo>
                      <a:pt x="12700" y="101600"/>
                    </a:lnTo>
                    <a:cubicBezTo>
                      <a:pt x="5686" y="101600"/>
                      <a:pt x="0" y="95914"/>
                      <a:pt x="0" y="88900"/>
                    </a:cubicBezTo>
                    <a:lnTo>
                      <a:pt x="0" y="12700"/>
                    </a:lnTo>
                  </a:path>
                </a:pathLst>
              </a:custGeom>
              <a:noFill/>
              <a:ln w="12700">
                <a:solidFill>
                  <a:srgbClr val="A52D12"/>
                </a:solidFill>
              </a:ln>
            </p:spPr>
          </p:sp>
          <p:sp>
            <p:nvSpPr>
              <p:cNvPr id="112" name="Freeform 112"/>
              <p:cNvSpPr/>
              <p:nvPr/>
            </p:nvSpPr>
            <p:spPr>
              <a:xfrm>
                <a:off x="7080250" y="3657600"/>
                <a:ext cx="38100" cy="25400"/>
              </a:xfrm>
              <a:custGeom>
                <a:avLst/>
                <a:gdLst/>
                <a:ahLst/>
                <a:cxnLst/>
                <a:rect l="l" t="t" r="r" b="b"/>
                <a:pathLst>
                  <a:path w="38100" h="25400">
                    <a:moveTo>
                      <a:pt x="38100" y="0"/>
                    </a:moveTo>
                    <a:lnTo>
                      <a:pt x="38100" y="25400"/>
                    </a:lnTo>
                    <a:lnTo>
                      <a:pt x="12700" y="25400"/>
                    </a:lnTo>
                    <a:cubicBezTo>
                      <a:pt x="5686" y="25400"/>
                      <a:pt x="0" y="19714"/>
                      <a:pt x="0" y="12700"/>
                    </a:cubicBezTo>
                    <a:cubicBezTo>
                      <a:pt x="0" y="5686"/>
                      <a:pt x="5686" y="0"/>
                      <a:pt x="12700" y="0"/>
                    </a:cubicBezTo>
                    <a:lnTo>
                      <a:pt x="38100" y="0"/>
                    </a:lnTo>
                  </a:path>
                </a:pathLst>
              </a:custGeom>
              <a:noFill/>
              <a:ln w="12700">
                <a:solidFill>
                  <a:srgbClr val="A52D12"/>
                </a:solidFill>
              </a:ln>
            </p:spPr>
          </p:sp>
        </p:grpSp>
        <p:sp>
          <p:nvSpPr>
            <p:cNvPr id="114" name="Ellipse 114"/>
            <p:cNvSpPr/>
            <p:nvPr/>
          </p:nvSpPr>
          <p:spPr>
            <a:xfrm>
              <a:off x="7143750" y="3438525"/>
              <a:ext cx="171450" cy="171450"/>
            </a:xfrm>
            <a:prstGeom prst="ellipse">
              <a:avLst/>
            </a:prstGeom>
            <a:solidFill>
              <a:srgbClr val="A52D12"/>
            </a:solidFill>
            <a:ln>
              <a:noFill/>
            </a:ln>
          </p:spPr>
        </p:sp>
        <p:sp>
          <p:nvSpPr>
            <p:cNvPr id="115" name="TextBox 115"/>
            <p:cNvSpPr txBox="1"/>
            <p:nvPr/>
          </p:nvSpPr>
          <p:spPr>
            <a:xfrm>
              <a:off x="7166405" y="34813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116" name="Ellipse 116"/>
            <p:cNvSpPr/>
            <p:nvPr/>
          </p:nvSpPr>
          <p:spPr>
            <a:xfrm>
              <a:off x="6885622" y="4519612"/>
              <a:ext cx="381000" cy="381000"/>
            </a:xfrm>
            <a:prstGeom prst="ellipse">
              <a:avLst/>
            </a:prstGeom>
            <a:solidFill>
              <a:srgbClr val="FFFFFF"/>
            </a:solidFill>
            <a:ln w="15240">
              <a:solidFill>
                <a:srgbClr val="A52D12"/>
              </a:solidFill>
            </a:ln>
          </p:spPr>
        </p:sp>
        <p:grpSp>
          <p:nvGrpSpPr>
            <p:cNvPr id="120" name="Group 120"/>
            <p:cNvGrpSpPr/>
            <p:nvPr/>
          </p:nvGrpSpPr>
          <p:grpSpPr>
            <a:xfrm>
              <a:off x="7016750" y="4638675"/>
              <a:ext cx="101600" cy="114300"/>
              <a:chOff x="7016750" y="4638675"/>
              <a:chExt cx="101600" cy="114300"/>
            </a:xfrm>
          </p:grpSpPr>
          <p:sp>
            <p:nvSpPr>
              <p:cNvPr id="117" name="Freeform 117"/>
              <p:cNvSpPr/>
              <p:nvPr/>
            </p:nvSpPr>
            <p:spPr>
              <a:xfrm>
                <a:off x="7016750" y="4638675"/>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A52D12"/>
                </a:solidFill>
              </a:ln>
            </p:spPr>
          </p:sp>
          <p:sp>
            <p:nvSpPr>
              <p:cNvPr id="118" name="Freeform 118"/>
              <p:cNvSpPr/>
              <p:nvPr/>
            </p:nvSpPr>
            <p:spPr>
              <a:xfrm>
                <a:off x="7016750" y="465772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A52D12"/>
                </a:solidFill>
              </a:ln>
            </p:spPr>
          </p:sp>
          <p:sp>
            <p:nvSpPr>
              <p:cNvPr id="119" name="Freeform 119"/>
              <p:cNvSpPr/>
              <p:nvPr/>
            </p:nvSpPr>
            <p:spPr>
              <a:xfrm>
                <a:off x="7016750" y="4695825"/>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A52D12"/>
                </a:solidFill>
              </a:ln>
            </p:spPr>
          </p:sp>
        </p:grpSp>
        <p:sp>
          <p:nvSpPr>
            <p:cNvPr id="121" name="Ellipse 121"/>
            <p:cNvSpPr/>
            <p:nvPr/>
          </p:nvSpPr>
          <p:spPr>
            <a:xfrm>
              <a:off x="7143750" y="4476750"/>
              <a:ext cx="171450" cy="171450"/>
            </a:xfrm>
            <a:prstGeom prst="ellipse">
              <a:avLst/>
            </a:prstGeom>
            <a:solidFill>
              <a:srgbClr val="A52D12"/>
            </a:solidFill>
            <a:ln>
              <a:noFill/>
            </a:ln>
          </p:spPr>
        </p:sp>
        <p:sp>
          <p:nvSpPr>
            <p:cNvPr id="122" name="TextBox 122"/>
            <p:cNvSpPr txBox="1"/>
            <p:nvPr/>
          </p:nvSpPr>
          <p:spPr>
            <a:xfrm>
              <a:off x="7166405" y="4519612"/>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123" name="Ellipse 123"/>
            <p:cNvSpPr/>
            <p:nvPr/>
          </p:nvSpPr>
          <p:spPr>
            <a:xfrm>
              <a:off x="6019800" y="5019675"/>
              <a:ext cx="381000" cy="381000"/>
            </a:xfrm>
            <a:prstGeom prst="ellipse">
              <a:avLst/>
            </a:prstGeom>
            <a:solidFill>
              <a:srgbClr val="FFFFFF"/>
            </a:solidFill>
            <a:ln w="15240">
              <a:solidFill>
                <a:srgbClr val="A52D12"/>
              </a:solidFill>
            </a:ln>
          </p:spPr>
        </p:sp>
        <p:grpSp>
          <p:nvGrpSpPr>
            <p:cNvPr id="129" name="Group 129"/>
            <p:cNvGrpSpPr/>
            <p:nvPr/>
          </p:nvGrpSpPr>
          <p:grpSpPr>
            <a:xfrm>
              <a:off x="6143625" y="5142649"/>
              <a:ext cx="114300" cy="115151"/>
              <a:chOff x="6143625" y="5142649"/>
              <a:chExt cx="114300" cy="115151"/>
            </a:xfrm>
          </p:grpSpPr>
          <p:sp>
            <p:nvSpPr>
              <p:cNvPr id="124" name="Freeform 124"/>
              <p:cNvSpPr/>
              <p:nvPr/>
            </p:nvSpPr>
            <p:spPr>
              <a:xfrm>
                <a:off x="6181725" y="51943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A52D12"/>
                </a:solidFill>
              </a:ln>
            </p:spPr>
          </p:sp>
          <p:sp>
            <p:nvSpPr>
              <p:cNvPr id="125" name="Freeform 125"/>
              <p:cNvSpPr/>
              <p:nvPr/>
            </p:nvSpPr>
            <p:spPr>
              <a:xfrm>
                <a:off x="6181725" y="52133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A52D12"/>
                </a:solidFill>
              </a:ln>
            </p:spPr>
          </p:sp>
          <p:sp>
            <p:nvSpPr>
              <p:cNvPr id="126" name="Freeform 126"/>
              <p:cNvSpPr/>
              <p:nvPr/>
            </p:nvSpPr>
            <p:spPr>
              <a:xfrm>
                <a:off x="6143625" y="51426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A52D12"/>
                </a:solidFill>
              </a:ln>
            </p:spPr>
          </p:sp>
          <p:sp>
            <p:nvSpPr>
              <p:cNvPr id="127" name="Freeform 127"/>
              <p:cNvSpPr/>
              <p:nvPr/>
            </p:nvSpPr>
            <p:spPr>
              <a:xfrm>
                <a:off x="6143625" y="51625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A52D12"/>
                </a:solidFill>
              </a:ln>
            </p:spPr>
          </p:sp>
          <p:sp>
            <p:nvSpPr>
              <p:cNvPr id="128" name="Freeform 128"/>
              <p:cNvSpPr/>
              <p:nvPr/>
            </p:nvSpPr>
            <p:spPr>
              <a:xfrm>
                <a:off x="6143625" y="51943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A52D12"/>
                </a:solidFill>
              </a:ln>
            </p:spPr>
          </p:sp>
        </p:grpSp>
        <p:sp>
          <p:nvSpPr>
            <p:cNvPr id="130" name="Ellipse 130"/>
            <p:cNvSpPr/>
            <p:nvPr/>
          </p:nvSpPr>
          <p:spPr>
            <a:xfrm>
              <a:off x="6276975" y="4972050"/>
              <a:ext cx="171450" cy="171450"/>
            </a:xfrm>
            <a:prstGeom prst="ellipse">
              <a:avLst/>
            </a:prstGeom>
            <a:solidFill>
              <a:srgbClr val="A52D12"/>
            </a:solidFill>
            <a:ln>
              <a:noFill/>
            </a:ln>
          </p:spPr>
        </p:sp>
        <p:sp>
          <p:nvSpPr>
            <p:cNvPr id="131" name="TextBox 131"/>
            <p:cNvSpPr txBox="1"/>
            <p:nvPr/>
          </p:nvSpPr>
          <p:spPr>
            <a:xfrm>
              <a:off x="6299630" y="5014912"/>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32" name="Ellipse 132"/>
            <p:cNvSpPr/>
            <p:nvPr/>
          </p:nvSpPr>
          <p:spPr>
            <a:xfrm>
              <a:off x="5153978" y="4519612"/>
              <a:ext cx="381000" cy="381000"/>
            </a:xfrm>
            <a:prstGeom prst="ellipse">
              <a:avLst/>
            </a:prstGeom>
            <a:solidFill>
              <a:srgbClr val="FFFFFF"/>
            </a:solidFill>
            <a:ln w="15240">
              <a:solidFill>
                <a:srgbClr val="A52D12"/>
              </a:solidFill>
            </a:ln>
          </p:spPr>
        </p:sp>
        <p:sp>
          <p:nvSpPr>
            <p:cNvPr id="133" name="Freeform 133"/>
            <p:cNvSpPr/>
            <p:nvPr/>
          </p:nvSpPr>
          <p:spPr>
            <a:xfrm>
              <a:off x="5283200" y="4645025"/>
              <a:ext cx="101600" cy="107950"/>
            </a:xfrm>
            <a:custGeom>
              <a:avLst/>
              <a:gdLst/>
              <a:ahLst/>
              <a:cxnLst/>
              <a:rect l="l" t="t" r="r" b="b"/>
              <a:pathLst>
                <a:path w="101600" h="107950">
                  <a:moveTo>
                    <a:pt x="0" y="0"/>
                  </a:moveTo>
                  <a:lnTo>
                    <a:pt x="101600" y="0"/>
                  </a:lnTo>
                  <a:lnTo>
                    <a:pt x="101600" y="13792"/>
                  </a:lnTo>
                  <a:cubicBezTo>
                    <a:pt x="101599" y="17160"/>
                    <a:pt x="100261" y="20390"/>
                    <a:pt x="97879" y="22771"/>
                  </a:cubicBezTo>
                  <a:lnTo>
                    <a:pt x="69850" y="50800"/>
                  </a:lnTo>
                  <a:lnTo>
                    <a:pt x="69850" y="95250"/>
                  </a:lnTo>
                  <a:lnTo>
                    <a:pt x="31750" y="107950"/>
                  </a:lnTo>
                  <a:lnTo>
                    <a:pt x="31750" y="53975"/>
                  </a:lnTo>
                  <a:lnTo>
                    <a:pt x="3302" y="22682"/>
                  </a:lnTo>
                  <a:cubicBezTo>
                    <a:pt x="1178" y="20345"/>
                    <a:pt x="0" y="17300"/>
                    <a:pt x="0" y="14141"/>
                  </a:cubicBezTo>
                  <a:lnTo>
                    <a:pt x="0" y="0"/>
                  </a:lnTo>
                </a:path>
              </a:pathLst>
            </a:custGeom>
            <a:noFill/>
            <a:ln w="12700">
              <a:solidFill>
                <a:srgbClr val="A52D12"/>
              </a:solidFill>
            </a:ln>
          </p:spPr>
        </p:sp>
        <p:sp>
          <p:nvSpPr>
            <p:cNvPr id="134" name="Ellipse 134"/>
            <p:cNvSpPr/>
            <p:nvPr/>
          </p:nvSpPr>
          <p:spPr>
            <a:xfrm>
              <a:off x="5105400" y="4476750"/>
              <a:ext cx="171450" cy="171450"/>
            </a:xfrm>
            <a:prstGeom prst="ellipse">
              <a:avLst/>
            </a:prstGeom>
            <a:solidFill>
              <a:srgbClr val="A52D12"/>
            </a:solidFill>
            <a:ln>
              <a:noFill/>
            </a:ln>
          </p:spPr>
        </p:sp>
        <p:sp>
          <p:nvSpPr>
            <p:cNvPr id="135" name="TextBox 135"/>
            <p:cNvSpPr txBox="1"/>
            <p:nvPr/>
          </p:nvSpPr>
          <p:spPr>
            <a:xfrm>
              <a:off x="5128055" y="4519612"/>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136" name="Ellipse 136"/>
            <p:cNvSpPr/>
            <p:nvPr/>
          </p:nvSpPr>
          <p:spPr>
            <a:xfrm>
              <a:off x="5153978" y="3481388"/>
              <a:ext cx="381000" cy="381000"/>
            </a:xfrm>
            <a:prstGeom prst="ellipse">
              <a:avLst/>
            </a:prstGeom>
            <a:solidFill>
              <a:srgbClr val="FFFFFF"/>
            </a:solidFill>
            <a:ln w="15240">
              <a:solidFill>
                <a:srgbClr val="A52D12"/>
              </a:solidFill>
            </a:ln>
          </p:spPr>
        </p:sp>
        <p:grpSp>
          <p:nvGrpSpPr>
            <p:cNvPr id="139" name="Group 139"/>
            <p:cNvGrpSpPr/>
            <p:nvPr/>
          </p:nvGrpSpPr>
          <p:grpSpPr>
            <a:xfrm>
              <a:off x="5283200" y="3604350"/>
              <a:ext cx="101600" cy="106500"/>
              <a:chOff x="5283200" y="3604350"/>
              <a:chExt cx="101600" cy="106500"/>
            </a:xfrm>
          </p:grpSpPr>
          <p:sp>
            <p:nvSpPr>
              <p:cNvPr id="137" name="Freeform 137"/>
              <p:cNvSpPr/>
              <p:nvPr/>
            </p:nvSpPr>
            <p:spPr>
              <a:xfrm>
                <a:off x="5283200" y="360435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A52D12"/>
                </a:solidFill>
              </a:ln>
            </p:spPr>
          </p:sp>
          <p:sp>
            <p:nvSpPr>
              <p:cNvPr id="138" name="Freeform 138"/>
              <p:cNvSpPr/>
              <p:nvPr/>
            </p:nvSpPr>
            <p:spPr>
              <a:xfrm>
                <a:off x="5283200" y="366395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A52D12"/>
                </a:solidFill>
              </a:ln>
            </p:spPr>
          </p:sp>
        </p:grpSp>
        <p:sp>
          <p:nvSpPr>
            <p:cNvPr id="140" name="Ellipse 140"/>
            <p:cNvSpPr/>
            <p:nvPr/>
          </p:nvSpPr>
          <p:spPr>
            <a:xfrm>
              <a:off x="5105400" y="3438525"/>
              <a:ext cx="171450" cy="171450"/>
            </a:xfrm>
            <a:prstGeom prst="ellipse">
              <a:avLst/>
            </a:prstGeom>
            <a:solidFill>
              <a:srgbClr val="A52D12"/>
            </a:solidFill>
            <a:ln>
              <a:noFill/>
            </a:ln>
          </p:spPr>
        </p:sp>
        <p:sp>
          <p:nvSpPr>
            <p:cNvPr id="141" name="TextBox 141"/>
            <p:cNvSpPr txBox="1"/>
            <p:nvPr/>
          </p:nvSpPr>
          <p:spPr>
            <a:xfrm>
              <a:off x="5128055" y="34813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a:t>
              </a:r>
            </a:p>
          </p:txBody>
        </p:sp>
        <p:sp>
          <p:nvSpPr>
            <p:cNvPr id="142" name="TextBox 142"/>
            <p:cNvSpPr txBox="1"/>
            <p:nvPr/>
          </p:nvSpPr>
          <p:spPr>
            <a:xfrm>
              <a:off x="5963221" y="28365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客群拓展</a:t>
              </a:r>
            </a:p>
          </p:txBody>
        </p:sp>
        <p:sp>
          <p:nvSpPr>
            <p:cNvPr id="143" name="TextBox 143"/>
            <p:cNvSpPr txBox="1"/>
            <p:nvPr/>
          </p:nvSpPr>
          <p:spPr>
            <a:xfrm>
              <a:off x="7386638" y="3617595"/>
              <a:ext cx="494157"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场景沉淀</a:t>
              </a:r>
            </a:p>
          </p:txBody>
        </p:sp>
        <p:sp>
          <p:nvSpPr>
            <p:cNvPr id="144" name="TextBox 144"/>
            <p:cNvSpPr txBox="1"/>
            <p:nvPr/>
          </p:nvSpPr>
          <p:spPr>
            <a:xfrm>
              <a:off x="7386638" y="4655820"/>
              <a:ext cx="494157"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产品配置</a:t>
              </a:r>
            </a:p>
          </p:txBody>
        </p:sp>
        <p:sp>
          <p:nvSpPr>
            <p:cNvPr id="145" name="TextBox 145"/>
            <p:cNvSpPr txBox="1"/>
            <p:nvPr/>
          </p:nvSpPr>
          <p:spPr>
            <a:xfrm>
              <a:off x="5938501" y="5427345"/>
              <a:ext cx="54359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FTP引导​</a:t>
              </a:r>
            </a:p>
          </p:txBody>
        </p:sp>
        <p:sp>
          <p:nvSpPr>
            <p:cNvPr id="146" name="TextBox 146"/>
            <p:cNvSpPr txBox="1"/>
            <p:nvPr/>
          </p:nvSpPr>
          <p:spPr>
            <a:xfrm>
              <a:off x="4539806" y="4655820"/>
              <a:ext cx="494157" cy="176212"/>
            </a:xfrm>
            <a:prstGeom prst="rect">
              <a:avLst/>
            </a:prstGeom>
            <a:noFill/>
            <a:ln>
              <a:noFill/>
            </a:ln>
          </p:spPr>
          <p:txBody>
            <a:bodyPr wrap="none" lIns="0" tIns="0" rIns="0" bIns="0" anchor="t" anchorCtr="0">
              <a:spAutoFit/>
            </a:bodyPr>
            <a:lstStyle/>
            <a:p>
              <a:pPr algn="r"/>
              <a:r>
                <a:rPr lang="zh-CN" sz="900" b="1" dirty="0">
                  <a:solidFill>
                    <a:srgbClr val="1F1F1F"/>
                  </a:solidFill>
                  <a:latin typeface="+mn-lt"/>
                  <a:ea typeface="+mn-ea"/>
                  <a:cs typeface="+mn-cs"/>
                </a:rPr>
                <a:t>限额管控</a:t>
              </a:r>
            </a:p>
          </p:txBody>
        </p:sp>
        <p:sp>
          <p:nvSpPr>
            <p:cNvPr id="147" name="TextBox 147"/>
            <p:cNvSpPr txBox="1"/>
            <p:nvPr/>
          </p:nvSpPr>
          <p:spPr>
            <a:xfrm>
              <a:off x="4539806" y="3617595"/>
              <a:ext cx="494157" cy="176212"/>
            </a:xfrm>
            <a:prstGeom prst="rect">
              <a:avLst/>
            </a:prstGeom>
            <a:noFill/>
            <a:ln>
              <a:noFill/>
            </a:ln>
          </p:spPr>
          <p:txBody>
            <a:bodyPr wrap="none" lIns="0" tIns="0" rIns="0" bIns="0" anchor="t" anchorCtr="0">
              <a:spAutoFit/>
            </a:bodyPr>
            <a:lstStyle/>
            <a:p>
              <a:pPr algn="r"/>
              <a:r>
                <a:rPr lang="zh-CN" sz="900" b="1" dirty="0">
                  <a:solidFill>
                    <a:srgbClr val="1F1F1F"/>
                  </a:solidFill>
                  <a:latin typeface="+mn-lt"/>
                  <a:ea typeface="+mn-ea"/>
                  <a:cs typeface="+mn-cs"/>
                </a:rPr>
                <a:t>成本复盘</a:t>
              </a:r>
            </a:p>
          </p:txBody>
        </p:sp>
      </p:grpSp>
      <p:grpSp>
        <p:nvGrpSpPr>
          <p:cNvPr id="190" name="funding-sources"/>
          <p:cNvGrpSpPr/>
          <p:nvPr/>
        </p:nvGrpSpPr>
        <p:grpSpPr>
          <a:xfrm>
            <a:off x="8229600" y="2495550"/>
            <a:ext cx="3581400" cy="3086100"/>
            <a:chOff x="8229600" y="2495550"/>
            <a:chExt cx="3581400" cy="3086100"/>
          </a:xfrm>
        </p:grpSpPr>
        <p:sp>
          <p:nvSpPr>
            <p:cNvPr id="149" name="Rectangle 149"/>
            <p:cNvSpPr/>
            <p:nvPr/>
          </p:nvSpPr>
          <p:spPr>
            <a:xfrm>
              <a:off x="8229600" y="2495550"/>
              <a:ext cx="3581400" cy="3086100"/>
            </a:xfrm>
            <a:prstGeom prst="roundRect">
              <a:avLst>
                <a:gd name="adj" fmla="val 2469"/>
              </a:avLst>
            </a:prstGeom>
            <a:solidFill>
              <a:srgbClr val="FDF6F5"/>
            </a:solidFill>
            <a:ln w="9525">
              <a:solidFill>
                <a:srgbClr val="EDD5D2"/>
              </a:solidFill>
            </a:ln>
          </p:spPr>
        </p:sp>
        <p:sp>
          <p:nvSpPr>
            <p:cNvPr id="150" name="Freeform 150"/>
            <p:cNvSpPr/>
            <p:nvPr/>
          </p:nvSpPr>
          <p:spPr>
            <a:xfrm>
              <a:off x="8239125" y="2505075"/>
              <a:ext cx="3562350" cy="228600"/>
            </a:xfrm>
            <a:custGeom>
              <a:avLst/>
              <a:gdLst/>
              <a:ahLst/>
              <a:cxnLst/>
              <a:rect l="l" t="t" r="r" b="b"/>
              <a:pathLst>
                <a:path w="3562350" h="228600">
                  <a:moveTo>
                    <a:pt x="0" y="228600"/>
                  </a:moveTo>
                  <a:lnTo>
                    <a:pt x="3562350" y="228600"/>
                  </a:lnTo>
                  <a:lnTo>
                    <a:pt x="3562350" y="66675"/>
                  </a:lnTo>
                  <a:cubicBezTo>
                    <a:pt x="3562350" y="29851"/>
                    <a:pt x="3532499" y="0"/>
                    <a:pt x="3495675" y="0"/>
                  </a:cubicBezTo>
                  <a:lnTo>
                    <a:pt x="66675" y="0"/>
                  </a:lnTo>
                  <a:cubicBezTo>
                    <a:pt x="29851" y="0"/>
                    <a:pt x="0" y="29851"/>
                    <a:pt x="0" y="66675"/>
                  </a:cubicBezTo>
                  <a:close/>
                </a:path>
              </a:pathLst>
            </a:custGeom>
            <a:solidFill>
              <a:srgbClr val="A52D12"/>
            </a:solidFill>
            <a:ln>
              <a:noFill/>
            </a:ln>
          </p:spPr>
        </p:sp>
        <p:sp>
          <p:nvSpPr>
            <p:cNvPr id="151" name="TextBox 151"/>
            <p:cNvSpPr txBox="1"/>
            <p:nvPr/>
          </p:nvSpPr>
          <p:spPr>
            <a:xfrm>
              <a:off x="9378886" y="2553652"/>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四大低成本资金来源</a:t>
              </a:r>
            </a:p>
          </p:txBody>
        </p:sp>
        <p:sp>
          <p:nvSpPr>
            <p:cNvPr id="152" name="Ellipse 152"/>
            <p:cNvSpPr/>
            <p:nvPr/>
          </p:nvSpPr>
          <p:spPr>
            <a:xfrm>
              <a:off x="8391525" y="2943225"/>
              <a:ext cx="323850" cy="323850"/>
            </a:xfrm>
            <a:prstGeom prst="ellipse">
              <a:avLst/>
            </a:prstGeom>
            <a:solidFill>
              <a:srgbClr val="A52D12"/>
            </a:solidFill>
            <a:ln>
              <a:noFill/>
            </a:ln>
          </p:spPr>
        </p:sp>
        <p:grpSp>
          <p:nvGrpSpPr>
            <p:cNvPr id="161" name="Group 161"/>
            <p:cNvGrpSpPr/>
            <p:nvPr/>
          </p:nvGrpSpPr>
          <p:grpSpPr>
            <a:xfrm>
              <a:off x="8489156" y="3040856"/>
              <a:ext cx="130969" cy="138113"/>
              <a:chOff x="8489156" y="3040856"/>
              <a:chExt cx="130969" cy="138113"/>
            </a:xfrm>
          </p:grpSpPr>
          <p:sp>
            <p:nvSpPr>
              <p:cNvPr id="153" name="Freeform 153"/>
              <p:cNvSpPr/>
              <p:nvPr/>
            </p:nvSpPr>
            <p:spPr>
              <a:xfrm>
                <a:off x="8489156" y="3169444"/>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154" name="Freeform 154"/>
              <p:cNvSpPr/>
              <p:nvPr/>
            </p:nvSpPr>
            <p:spPr>
              <a:xfrm>
                <a:off x="8489156" y="3090862"/>
                <a:ext cx="128588" cy="9525"/>
              </a:xfrm>
              <a:custGeom>
                <a:avLst/>
                <a:gdLst/>
                <a:ahLst/>
                <a:cxnLst/>
                <a:rect l="l" t="t" r="r" b="b"/>
                <a:pathLst>
                  <a:path w="128588" h="9525">
                    <a:moveTo>
                      <a:pt x="0" y="0"/>
                    </a:moveTo>
                    <a:lnTo>
                      <a:pt x="128588" y="0"/>
                    </a:lnTo>
                  </a:path>
                </a:pathLst>
              </a:custGeom>
              <a:noFill/>
              <a:ln w="14288">
                <a:solidFill>
                  <a:srgbClr val="FFFFFF"/>
                </a:solidFill>
              </a:ln>
            </p:spPr>
          </p:sp>
          <p:sp>
            <p:nvSpPr>
              <p:cNvPr id="155" name="Freeform 155"/>
              <p:cNvSpPr/>
              <p:nvPr/>
            </p:nvSpPr>
            <p:spPr>
              <a:xfrm>
                <a:off x="8503444" y="3040856"/>
                <a:ext cx="100012" cy="21431"/>
              </a:xfrm>
              <a:custGeom>
                <a:avLst/>
                <a:gdLst/>
                <a:ahLst/>
                <a:cxnLst/>
                <a:rect l="l" t="t" r="r" b="b"/>
                <a:pathLst>
                  <a:path w="100012" h="21431">
                    <a:moveTo>
                      <a:pt x="0" y="21431"/>
                    </a:moveTo>
                    <a:lnTo>
                      <a:pt x="50006" y="0"/>
                    </a:lnTo>
                    <a:lnTo>
                      <a:pt x="100012" y="21431"/>
                    </a:lnTo>
                  </a:path>
                </a:pathLst>
              </a:custGeom>
              <a:noFill/>
              <a:ln w="14288">
                <a:solidFill>
                  <a:srgbClr val="FFFFFF"/>
                </a:solidFill>
              </a:ln>
            </p:spPr>
          </p:sp>
          <p:sp>
            <p:nvSpPr>
              <p:cNvPr id="156" name="Freeform 156"/>
              <p:cNvSpPr/>
              <p:nvPr/>
            </p:nvSpPr>
            <p:spPr>
              <a:xfrm>
                <a:off x="8496300" y="3090862"/>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157" name="Freeform 157"/>
              <p:cNvSpPr/>
              <p:nvPr/>
            </p:nvSpPr>
            <p:spPr>
              <a:xfrm>
                <a:off x="8610600" y="3090862"/>
                <a:ext cx="9525" cy="78581"/>
              </a:xfrm>
              <a:custGeom>
                <a:avLst/>
                <a:gdLst/>
                <a:ahLst/>
                <a:cxnLst/>
                <a:rect l="l" t="t" r="r" b="b"/>
                <a:pathLst>
                  <a:path w="9525" h="78581">
                    <a:moveTo>
                      <a:pt x="0" y="0"/>
                    </a:moveTo>
                    <a:lnTo>
                      <a:pt x="0" y="78581"/>
                    </a:lnTo>
                  </a:path>
                </a:pathLst>
              </a:custGeom>
              <a:noFill/>
              <a:ln w="14288">
                <a:solidFill>
                  <a:srgbClr val="FFFFFF"/>
                </a:solidFill>
              </a:ln>
            </p:spPr>
          </p:sp>
          <p:sp>
            <p:nvSpPr>
              <p:cNvPr id="158" name="Freeform 158"/>
              <p:cNvSpPr/>
              <p:nvPr/>
            </p:nvSpPr>
            <p:spPr>
              <a:xfrm>
                <a:off x="8524875" y="3119438"/>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159" name="Freeform 159"/>
              <p:cNvSpPr/>
              <p:nvPr/>
            </p:nvSpPr>
            <p:spPr>
              <a:xfrm>
                <a:off x="8553450" y="3119438"/>
                <a:ext cx="9525" cy="21431"/>
              </a:xfrm>
              <a:custGeom>
                <a:avLst/>
                <a:gdLst/>
                <a:ahLst/>
                <a:cxnLst/>
                <a:rect l="l" t="t" r="r" b="b"/>
                <a:pathLst>
                  <a:path w="9525" h="21431">
                    <a:moveTo>
                      <a:pt x="0" y="0"/>
                    </a:moveTo>
                    <a:lnTo>
                      <a:pt x="0" y="21431"/>
                    </a:lnTo>
                  </a:path>
                </a:pathLst>
              </a:custGeom>
              <a:noFill/>
              <a:ln w="14288">
                <a:solidFill>
                  <a:srgbClr val="FFFFFF"/>
                </a:solidFill>
              </a:ln>
            </p:spPr>
          </p:sp>
          <p:sp>
            <p:nvSpPr>
              <p:cNvPr id="160" name="Freeform 160"/>
              <p:cNvSpPr/>
              <p:nvPr/>
            </p:nvSpPr>
            <p:spPr>
              <a:xfrm>
                <a:off x="8582025" y="3119438"/>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162" name="TextBox 162"/>
            <p:cNvSpPr txBox="1"/>
            <p:nvPr/>
          </p:nvSpPr>
          <p:spPr>
            <a:xfrm>
              <a:off x="8834056" y="295775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财政社保</a:t>
              </a:r>
            </a:p>
          </p:txBody>
        </p:sp>
        <p:sp>
          <p:nvSpPr>
            <p:cNvPr id="163" name="TextBox 163"/>
            <p:cNvSpPr txBox="1"/>
            <p:nvPr/>
          </p:nvSpPr>
          <p:spPr>
            <a:xfrm>
              <a:off x="8834438" y="3176588"/>
              <a:ext cx="2387251"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财政资金归集、社保资金沉淀，稳定性高、成本低。​</a:t>
              </a:r>
            </a:p>
          </p:txBody>
        </p:sp>
        <p:sp>
          <p:nvSpPr>
            <p:cNvPr id="164" name="Line 164"/>
            <p:cNvSpPr/>
            <p:nvPr/>
          </p:nvSpPr>
          <p:spPr>
            <a:xfrm>
              <a:off x="8420100" y="3390900"/>
              <a:ext cx="3200400" cy="9525"/>
            </a:xfrm>
            <a:custGeom>
              <a:avLst/>
              <a:gdLst/>
              <a:ahLst/>
              <a:cxnLst/>
              <a:rect l="l" t="t" r="r" b="b"/>
              <a:pathLst>
                <a:path w="3200400" h="9525">
                  <a:moveTo>
                    <a:pt x="0" y="0"/>
                  </a:moveTo>
                  <a:lnTo>
                    <a:pt x="3200400" y="0"/>
                  </a:lnTo>
                </a:path>
              </a:pathLst>
            </a:custGeom>
            <a:noFill/>
            <a:ln w="9525">
              <a:solidFill>
                <a:srgbClr val="EDD5D2"/>
              </a:solidFill>
            </a:ln>
          </p:spPr>
        </p:sp>
        <p:sp>
          <p:nvSpPr>
            <p:cNvPr id="165" name="Ellipse 165"/>
            <p:cNvSpPr/>
            <p:nvPr/>
          </p:nvSpPr>
          <p:spPr>
            <a:xfrm>
              <a:off x="8391525" y="3609975"/>
              <a:ext cx="323850" cy="323850"/>
            </a:xfrm>
            <a:prstGeom prst="ellipse">
              <a:avLst/>
            </a:prstGeom>
            <a:solidFill>
              <a:srgbClr val="A52D12"/>
            </a:solidFill>
            <a:ln>
              <a:noFill/>
            </a:ln>
          </p:spPr>
        </p:sp>
        <p:grpSp>
          <p:nvGrpSpPr>
            <p:cNvPr id="170" name="Group 170"/>
            <p:cNvGrpSpPr/>
            <p:nvPr/>
          </p:nvGrpSpPr>
          <p:grpSpPr>
            <a:xfrm>
              <a:off x="8489156" y="3707606"/>
              <a:ext cx="128587" cy="128588"/>
              <a:chOff x="8489156" y="3707606"/>
              <a:chExt cx="128587" cy="128588"/>
            </a:xfrm>
          </p:grpSpPr>
          <p:sp>
            <p:nvSpPr>
              <p:cNvPr id="166" name="Freeform 166"/>
              <p:cNvSpPr/>
              <p:nvPr/>
            </p:nvSpPr>
            <p:spPr>
              <a:xfrm>
                <a:off x="8503444" y="37076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67" name="Freeform 167"/>
              <p:cNvSpPr/>
              <p:nvPr/>
            </p:nvSpPr>
            <p:spPr>
              <a:xfrm>
                <a:off x="8489156" y="37933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168" name="Freeform 168"/>
              <p:cNvSpPr/>
              <p:nvPr/>
            </p:nvSpPr>
            <p:spPr>
              <a:xfrm>
                <a:off x="8582025" y="37085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169" name="Freeform 169"/>
              <p:cNvSpPr/>
              <p:nvPr/>
            </p:nvSpPr>
            <p:spPr>
              <a:xfrm>
                <a:off x="8596312" y="37944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171" name="TextBox 171"/>
            <p:cNvSpPr txBox="1"/>
            <p:nvPr/>
          </p:nvSpPr>
          <p:spPr>
            <a:xfrm>
              <a:off x="8834056" y="362450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代发工资</a:t>
              </a:r>
            </a:p>
          </p:txBody>
        </p:sp>
        <p:sp>
          <p:nvSpPr>
            <p:cNvPr id="172" name="TextBox 172"/>
            <p:cNvSpPr txBox="1"/>
            <p:nvPr/>
          </p:nvSpPr>
          <p:spPr>
            <a:xfrm>
              <a:off x="8834438" y="3843338"/>
              <a:ext cx="2488216"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代发客户规模推广，工资存款沉淀，粘性强、留存稳。​</a:t>
              </a:r>
            </a:p>
          </p:txBody>
        </p:sp>
        <p:sp>
          <p:nvSpPr>
            <p:cNvPr id="173" name="Line 173"/>
            <p:cNvSpPr/>
            <p:nvPr/>
          </p:nvSpPr>
          <p:spPr>
            <a:xfrm>
              <a:off x="8420100" y="4057650"/>
              <a:ext cx="3200400" cy="9525"/>
            </a:xfrm>
            <a:custGeom>
              <a:avLst/>
              <a:gdLst/>
              <a:ahLst/>
              <a:cxnLst/>
              <a:rect l="l" t="t" r="r" b="b"/>
              <a:pathLst>
                <a:path w="3200400" h="9525">
                  <a:moveTo>
                    <a:pt x="0" y="0"/>
                  </a:moveTo>
                  <a:lnTo>
                    <a:pt x="3200400" y="0"/>
                  </a:lnTo>
                </a:path>
              </a:pathLst>
            </a:custGeom>
            <a:noFill/>
            <a:ln w="9525">
              <a:solidFill>
                <a:srgbClr val="EDD5D2"/>
              </a:solidFill>
            </a:ln>
          </p:spPr>
        </p:sp>
        <p:sp>
          <p:nvSpPr>
            <p:cNvPr id="174" name="Ellipse 174"/>
            <p:cNvSpPr/>
            <p:nvPr/>
          </p:nvSpPr>
          <p:spPr>
            <a:xfrm>
              <a:off x="8391525" y="4276725"/>
              <a:ext cx="323850" cy="323850"/>
            </a:xfrm>
            <a:prstGeom prst="ellipse">
              <a:avLst/>
            </a:prstGeom>
            <a:solidFill>
              <a:srgbClr val="A52D12"/>
            </a:solidFill>
            <a:ln>
              <a:noFill/>
            </a:ln>
          </p:spPr>
        </p:sp>
        <p:grpSp>
          <p:nvGrpSpPr>
            <p:cNvPr id="179" name="Group 179"/>
            <p:cNvGrpSpPr/>
            <p:nvPr/>
          </p:nvGrpSpPr>
          <p:grpSpPr>
            <a:xfrm>
              <a:off x="8489156" y="4381500"/>
              <a:ext cx="128588" cy="114300"/>
              <a:chOff x="8489156" y="4381500"/>
              <a:chExt cx="128588" cy="114300"/>
            </a:xfrm>
          </p:grpSpPr>
          <p:sp>
            <p:nvSpPr>
              <p:cNvPr id="175" name="Freeform 175"/>
              <p:cNvSpPr/>
              <p:nvPr/>
            </p:nvSpPr>
            <p:spPr>
              <a:xfrm>
                <a:off x="8489156" y="4402931"/>
                <a:ext cx="128588" cy="9525"/>
              </a:xfrm>
              <a:custGeom>
                <a:avLst/>
                <a:gdLst/>
                <a:ahLst/>
                <a:cxnLst/>
                <a:rect l="l" t="t" r="r" b="b"/>
                <a:pathLst>
                  <a:path w="128588" h="9525">
                    <a:moveTo>
                      <a:pt x="128588" y="0"/>
                    </a:moveTo>
                    <a:lnTo>
                      <a:pt x="0" y="0"/>
                    </a:lnTo>
                  </a:path>
                </a:pathLst>
              </a:custGeom>
              <a:noFill/>
              <a:ln w="14288">
                <a:solidFill>
                  <a:srgbClr val="FFFFFF"/>
                </a:solidFill>
              </a:ln>
            </p:spPr>
          </p:sp>
          <p:sp>
            <p:nvSpPr>
              <p:cNvPr id="176" name="Freeform 176"/>
              <p:cNvSpPr/>
              <p:nvPr/>
            </p:nvSpPr>
            <p:spPr>
              <a:xfrm>
                <a:off x="8596312" y="4381500"/>
                <a:ext cx="21431" cy="42862"/>
              </a:xfrm>
              <a:custGeom>
                <a:avLst/>
                <a:gdLst/>
                <a:ahLst/>
                <a:cxnLst/>
                <a:rect l="l" t="t" r="r" b="b"/>
                <a:pathLst>
                  <a:path w="21431" h="42862">
                    <a:moveTo>
                      <a:pt x="0" y="42862"/>
                    </a:moveTo>
                    <a:lnTo>
                      <a:pt x="21431" y="21431"/>
                    </a:lnTo>
                    <a:lnTo>
                      <a:pt x="0" y="0"/>
                    </a:lnTo>
                  </a:path>
                </a:pathLst>
              </a:custGeom>
              <a:noFill/>
              <a:ln w="14288">
                <a:solidFill>
                  <a:srgbClr val="FFFFFF"/>
                </a:solidFill>
              </a:ln>
            </p:spPr>
          </p:sp>
          <p:sp>
            <p:nvSpPr>
              <p:cNvPr id="177" name="Freeform 177"/>
              <p:cNvSpPr/>
              <p:nvPr/>
            </p:nvSpPr>
            <p:spPr>
              <a:xfrm>
                <a:off x="8489156" y="4452938"/>
                <a:ext cx="21431" cy="42862"/>
              </a:xfrm>
              <a:custGeom>
                <a:avLst/>
                <a:gdLst/>
                <a:ahLst/>
                <a:cxnLst/>
                <a:rect l="l" t="t" r="r" b="b"/>
                <a:pathLst>
                  <a:path w="21431" h="42862">
                    <a:moveTo>
                      <a:pt x="21431" y="42862"/>
                    </a:moveTo>
                    <a:lnTo>
                      <a:pt x="0" y="21431"/>
                    </a:lnTo>
                    <a:lnTo>
                      <a:pt x="21431" y="0"/>
                    </a:lnTo>
                  </a:path>
                </a:pathLst>
              </a:custGeom>
              <a:noFill/>
              <a:ln w="14288">
                <a:solidFill>
                  <a:srgbClr val="FFFFFF"/>
                </a:solidFill>
              </a:ln>
            </p:spPr>
          </p:sp>
          <p:sp>
            <p:nvSpPr>
              <p:cNvPr id="178" name="Freeform 178"/>
              <p:cNvSpPr/>
              <p:nvPr/>
            </p:nvSpPr>
            <p:spPr>
              <a:xfrm>
                <a:off x="8489156" y="4474369"/>
                <a:ext cx="128588" cy="9525"/>
              </a:xfrm>
              <a:custGeom>
                <a:avLst/>
                <a:gdLst/>
                <a:ahLst/>
                <a:cxnLst/>
                <a:rect l="l" t="t" r="r" b="b"/>
                <a:pathLst>
                  <a:path w="128588" h="9525">
                    <a:moveTo>
                      <a:pt x="0" y="0"/>
                    </a:moveTo>
                    <a:lnTo>
                      <a:pt x="128588" y="0"/>
                    </a:lnTo>
                  </a:path>
                </a:pathLst>
              </a:custGeom>
              <a:noFill/>
              <a:ln w="14288">
                <a:solidFill>
                  <a:srgbClr val="FFFFFF"/>
                </a:solidFill>
              </a:ln>
            </p:spPr>
          </p:sp>
        </p:grpSp>
        <p:sp>
          <p:nvSpPr>
            <p:cNvPr id="180" name="TextBox 180"/>
            <p:cNvSpPr txBox="1"/>
            <p:nvPr/>
          </p:nvSpPr>
          <p:spPr>
            <a:xfrm>
              <a:off x="8834056" y="429125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交易结算</a:t>
              </a:r>
            </a:p>
          </p:txBody>
        </p:sp>
        <p:sp>
          <p:nvSpPr>
            <p:cNvPr id="181" name="TextBox 181"/>
            <p:cNvSpPr txBox="1"/>
            <p:nvPr/>
          </p:nvSpPr>
          <p:spPr>
            <a:xfrm>
              <a:off x="8834438" y="4510088"/>
              <a:ext cx="2690146"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公司结算、票据及收付款业务带动资金沉淀，活期占比高。​</a:t>
              </a:r>
            </a:p>
          </p:txBody>
        </p:sp>
        <p:sp>
          <p:nvSpPr>
            <p:cNvPr id="182" name="Line 182"/>
            <p:cNvSpPr/>
            <p:nvPr/>
          </p:nvSpPr>
          <p:spPr>
            <a:xfrm>
              <a:off x="8420100" y="4724400"/>
              <a:ext cx="3200400" cy="9525"/>
            </a:xfrm>
            <a:custGeom>
              <a:avLst/>
              <a:gdLst/>
              <a:ahLst/>
              <a:cxnLst/>
              <a:rect l="l" t="t" r="r" b="b"/>
              <a:pathLst>
                <a:path w="3200400" h="9525">
                  <a:moveTo>
                    <a:pt x="0" y="0"/>
                  </a:moveTo>
                  <a:lnTo>
                    <a:pt x="3200400" y="0"/>
                  </a:lnTo>
                </a:path>
              </a:pathLst>
            </a:custGeom>
            <a:noFill/>
            <a:ln w="9525">
              <a:solidFill>
                <a:srgbClr val="EDD5D2"/>
              </a:solidFill>
            </a:ln>
          </p:spPr>
        </p:sp>
        <p:sp>
          <p:nvSpPr>
            <p:cNvPr id="183" name="Ellipse 183"/>
            <p:cNvSpPr/>
            <p:nvPr/>
          </p:nvSpPr>
          <p:spPr>
            <a:xfrm>
              <a:off x="8391525" y="4943475"/>
              <a:ext cx="323850" cy="323850"/>
            </a:xfrm>
            <a:prstGeom prst="ellipse">
              <a:avLst/>
            </a:prstGeom>
            <a:solidFill>
              <a:srgbClr val="A52D12"/>
            </a:solidFill>
            <a:ln>
              <a:noFill/>
            </a:ln>
          </p:spPr>
        </p:sp>
        <p:grpSp>
          <p:nvGrpSpPr>
            <p:cNvPr id="187" name="Group 187"/>
            <p:cNvGrpSpPr/>
            <p:nvPr/>
          </p:nvGrpSpPr>
          <p:grpSpPr>
            <a:xfrm>
              <a:off x="8510588" y="5041106"/>
              <a:ext cx="85725" cy="128588"/>
              <a:chOff x="8510588" y="5041106"/>
              <a:chExt cx="85725" cy="128588"/>
            </a:xfrm>
          </p:grpSpPr>
          <p:sp>
            <p:nvSpPr>
              <p:cNvPr id="184" name="Freeform 184"/>
              <p:cNvSpPr/>
              <p:nvPr/>
            </p:nvSpPr>
            <p:spPr>
              <a:xfrm>
                <a:off x="8510588" y="5041106"/>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FFFFFF"/>
                </a:solidFill>
              </a:ln>
            </p:spPr>
          </p:sp>
          <p:sp>
            <p:nvSpPr>
              <p:cNvPr id="185" name="Freeform 185"/>
              <p:cNvSpPr/>
              <p:nvPr/>
            </p:nvSpPr>
            <p:spPr>
              <a:xfrm>
                <a:off x="8546306" y="5048250"/>
                <a:ext cx="14288" cy="9525"/>
              </a:xfrm>
              <a:custGeom>
                <a:avLst/>
                <a:gdLst/>
                <a:ahLst/>
                <a:cxnLst/>
                <a:rect l="l" t="t" r="r" b="b"/>
                <a:pathLst>
                  <a:path w="14288" h="9525">
                    <a:moveTo>
                      <a:pt x="0" y="0"/>
                    </a:moveTo>
                    <a:lnTo>
                      <a:pt x="14288" y="0"/>
                    </a:lnTo>
                  </a:path>
                </a:pathLst>
              </a:custGeom>
              <a:noFill/>
              <a:ln w="14288">
                <a:solidFill>
                  <a:srgbClr val="FFFFFF"/>
                </a:solidFill>
              </a:ln>
            </p:spPr>
          </p:sp>
          <p:sp>
            <p:nvSpPr>
              <p:cNvPr id="186" name="Freeform 186"/>
              <p:cNvSpPr/>
              <p:nvPr/>
            </p:nvSpPr>
            <p:spPr>
              <a:xfrm>
                <a:off x="8553450" y="5141119"/>
                <a:ext cx="9525" cy="9525"/>
              </a:xfrm>
              <a:custGeom>
                <a:avLst/>
                <a:gdLst/>
                <a:ahLst/>
                <a:cxnLst/>
                <a:rect l="l" t="t" r="r" b="b"/>
                <a:pathLst>
                  <a:path w="9525" h="9525">
                    <a:moveTo>
                      <a:pt x="0" y="0"/>
                    </a:moveTo>
                    <a:lnTo>
                      <a:pt x="0" y="71"/>
                    </a:lnTo>
                  </a:path>
                </a:pathLst>
              </a:custGeom>
              <a:noFill/>
              <a:ln w="14288">
                <a:solidFill>
                  <a:srgbClr val="FFFFFF"/>
                </a:solidFill>
              </a:ln>
            </p:spPr>
          </p:sp>
        </p:grpSp>
        <p:sp>
          <p:nvSpPr>
            <p:cNvPr id="188" name="TextBox 188"/>
            <p:cNvSpPr txBox="1"/>
            <p:nvPr/>
          </p:nvSpPr>
          <p:spPr>
            <a:xfrm>
              <a:off x="8834056" y="495800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智慧场景</a:t>
              </a:r>
            </a:p>
          </p:txBody>
        </p:sp>
        <p:sp>
          <p:nvSpPr>
            <p:cNvPr id="189" name="TextBox 189"/>
            <p:cNvSpPr txBox="1"/>
            <p:nvPr/>
          </p:nvSpPr>
          <p:spPr>
            <a:xfrm>
              <a:off x="8834438" y="5176838"/>
              <a:ext cx="2892076"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线上化场景触达，提升客户活跃度与资金留存，降低综合成本。​</a:t>
              </a:r>
            </a:p>
          </p:txBody>
        </p:sp>
      </p:grpSp>
      <p:grpSp>
        <p:nvGrpSpPr>
          <p:cNvPr id="199" name="conclusion"/>
          <p:cNvGrpSpPr/>
          <p:nvPr/>
        </p:nvGrpSpPr>
        <p:grpSpPr>
          <a:xfrm>
            <a:off x="381000" y="5772150"/>
            <a:ext cx="11430000" cy="647700"/>
            <a:chOff x="381000" y="5772150"/>
            <a:chExt cx="11430000" cy="647700"/>
          </a:xfrm>
        </p:grpSpPr>
        <p:sp>
          <p:nvSpPr>
            <p:cNvPr id="191" name="Rectangle 191"/>
            <p:cNvSpPr/>
            <p:nvPr/>
          </p:nvSpPr>
          <p:spPr>
            <a:xfrm>
              <a:off x="381000" y="5772150"/>
              <a:ext cx="11430000" cy="647700"/>
            </a:xfrm>
            <a:prstGeom prst="roundRect">
              <a:avLst>
                <a:gd name="adj" fmla="val 14706"/>
              </a:avLst>
            </a:prstGeom>
            <a:solidFill>
              <a:srgbClr val="FBEFEE"/>
            </a:solidFill>
            <a:ln w="9525">
              <a:solidFill>
                <a:srgbClr val="EDD5D2"/>
              </a:solidFill>
            </a:ln>
          </p:spPr>
        </p:sp>
        <p:sp>
          <p:nvSpPr>
            <p:cNvPr id="192" name="Rectangle 192"/>
            <p:cNvSpPr/>
            <p:nvPr/>
          </p:nvSpPr>
          <p:spPr>
            <a:xfrm>
              <a:off x="628650" y="5924550"/>
              <a:ext cx="342900" cy="342900"/>
            </a:xfrm>
            <a:prstGeom prst="roundRect">
              <a:avLst>
                <a:gd name="adj" fmla="val 50000"/>
              </a:avLst>
            </a:prstGeom>
            <a:solidFill>
              <a:srgbClr val="A52D12"/>
            </a:solidFill>
            <a:ln>
              <a:noFill/>
            </a:ln>
          </p:spPr>
        </p:sp>
        <p:grpSp>
          <p:nvGrpSpPr>
            <p:cNvPr id="196" name="Group 196"/>
            <p:cNvGrpSpPr/>
            <p:nvPr/>
          </p:nvGrpSpPr>
          <p:grpSpPr>
            <a:xfrm>
              <a:off x="728662" y="6024562"/>
              <a:ext cx="142875" cy="142875"/>
              <a:chOff x="728662" y="6024562"/>
              <a:chExt cx="142875" cy="142875"/>
            </a:xfrm>
          </p:grpSpPr>
          <p:sp>
            <p:nvSpPr>
              <p:cNvPr id="193" name="Freeform 193"/>
              <p:cNvSpPr/>
              <p:nvPr/>
            </p:nvSpPr>
            <p:spPr>
              <a:xfrm>
                <a:off x="792162" y="60880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194" name="Freeform 194"/>
              <p:cNvSpPr/>
              <p:nvPr/>
            </p:nvSpPr>
            <p:spPr>
              <a:xfrm>
                <a:off x="760412" y="60563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195" name="Freeform 195"/>
              <p:cNvSpPr/>
              <p:nvPr/>
            </p:nvSpPr>
            <p:spPr>
              <a:xfrm>
                <a:off x="728662" y="60245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197" name="TextBox 197"/>
            <p:cNvSpPr txBox="1"/>
            <p:nvPr/>
          </p:nvSpPr>
          <p:spPr>
            <a:xfrm>
              <a:off x="1137666" y="5944552"/>
              <a:ext cx="293370"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结论</a:t>
              </a:r>
            </a:p>
          </p:txBody>
        </p:sp>
        <p:sp>
          <p:nvSpPr>
            <p:cNvPr id="198" name="TextBox 198"/>
            <p:cNvSpPr txBox="1"/>
            <p:nvPr/>
          </p:nvSpPr>
          <p:spPr>
            <a:xfrm>
              <a:off x="1138238" y="6166247"/>
              <a:ext cx="9626778"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通过客群深耕与场景经营，优化负债结构，提升核心存款占比，显著降低付息成本，构建</a:t>
              </a:r>
              <a:r>
                <a:rPr lang="zh-CN" sz="940" b="1" dirty="0">
                  <a:solidFill>
                    <a:srgbClr val="A52D12"/>
                  </a:solidFill>
                  <a:latin typeface="+mn-lt"/>
                  <a:ea typeface="+mn-ea"/>
                  <a:cs typeface="+mn-cs"/>
                </a:rPr>
                <a:t>低成本、稳增长、可持续的负债经营体系</a:t>
              </a:r>
              <a:r>
                <a:rPr lang="zh-CN" sz="940" dirty="0">
                  <a:solidFill>
                    <a:srgbClr val="3A3A3A"/>
                  </a:solidFill>
                  <a:latin typeface="+mn-lt"/>
                  <a:ea typeface="+mn-ea"/>
                  <a:cs typeface="+mn-cs"/>
                </a:rPr>
                <a:t>，为价值增长与高质量发展提供坚实支撑。</a:t>
              </a:r>
            </a:p>
          </p:txBody>
        </p:sp>
      </p:gr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09​</a:t>
              </a:r>
            </a:p>
          </p:txBody>
        </p:sp>
        <p:sp>
          <p:nvSpPr>
            <p:cNvPr id="4" name="TextBox 4"/>
            <p:cNvSpPr txBox="1"/>
            <p:nvPr/>
          </p:nvSpPr>
          <p:spPr>
            <a:xfrm>
              <a:off x="942594" y="189548"/>
              <a:ext cx="6954012"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重塑客户分层和场景生态，</a:t>
              </a:r>
              <a:r>
                <a:rPr lang="zh-CN" sz="1950" b="1" dirty="0">
                  <a:solidFill>
                    <a:srgbClr val="A52D12"/>
                  </a:solidFill>
                  <a:latin typeface="SimSun"/>
                  <a:ea typeface="SimSun"/>
                  <a:cs typeface="SimSun"/>
                </a:rPr>
                <a:t>推动单一获客向综合经营跃迁</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9" name="lead"/>
          <p:cNvGrpSpPr/>
          <p:nvPr/>
        </p:nvGrpSpPr>
        <p:grpSpPr>
          <a:xfrm>
            <a:off x="381000" y="685800"/>
            <a:ext cx="7413371" cy="218789"/>
            <a:chOff x="381000" y="685800"/>
            <a:chExt cx="7413371" cy="218789"/>
          </a:xfrm>
        </p:grpSpPr>
        <p:sp>
          <p:nvSpPr>
            <p:cNvPr id="7" name="Rectangle 7"/>
            <p:cNvSpPr/>
            <p:nvPr/>
          </p:nvSpPr>
          <p:spPr>
            <a:xfrm>
              <a:off x="381000" y="685800"/>
              <a:ext cx="38100" cy="152400"/>
            </a:xfrm>
            <a:prstGeom prst="rect">
              <a:avLst/>
            </a:prstGeom>
            <a:solidFill>
              <a:srgbClr val="A52D12"/>
            </a:solidFill>
            <a:ln>
              <a:noFill/>
            </a:ln>
          </p:spPr>
        </p:sp>
        <p:sp>
          <p:nvSpPr>
            <p:cNvPr id="8" name="TextBox 8"/>
            <p:cNvSpPr txBox="1"/>
            <p:nvPr/>
          </p:nvSpPr>
          <p:spPr>
            <a:xfrm>
              <a:off x="528447" y="713899"/>
              <a:ext cx="7265924"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以客户为中心，分层经营、场景驱动、生态协同，提升客户价值与经营效能，实现从获客到经营、从产品到服务的系统跃迁。</a:t>
              </a:r>
            </a:p>
          </p:txBody>
        </p:sp>
      </p:grpSp>
      <p:grpSp>
        <p:nvGrpSpPr>
          <p:cNvPr id="57" name="kpi-cards"/>
          <p:cNvGrpSpPr/>
          <p:nvPr/>
        </p:nvGrpSpPr>
        <p:grpSpPr>
          <a:xfrm>
            <a:off x="381000" y="971550"/>
            <a:ext cx="11410950" cy="990600"/>
            <a:chOff x="381000" y="971550"/>
            <a:chExt cx="11410950" cy="990600"/>
          </a:xfrm>
        </p:grpSpPr>
        <p:sp>
          <p:nvSpPr>
            <p:cNvPr id="10" name="Rectangle 10"/>
            <p:cNvSpPr/>
            <p:nvPr/>
          </p:nvSpPr>
          <p:spPr>
            <a:xfrm>
              <a:off x="381000" y="971550"/>
              <a:ext cx="2190750" cy="990600"/>
            </a:xfrm>
            <a:prstGeom prst="roundRect">
              <a:avLst>
                <a:gd name="adj" fmla="val 7692"/>
              </a:avLst>
            </a:prstGeom>
            <a:solidFill>
              <a:srgbClr val="FDF6F5"/>
            </a:solidFill>
            <a:ln w="9525">
              <a:solidFill>
                <a:srgbClr val="EDD5D2"/>
              </a:solidFill>
            </a:ln>
          </p:spPr>
        </p:sp>
        <p:sp>
          <p:nvSpPr>
            <p:cNvPr id="11" name="Ellipse 11"/>
            <p:cNvSpPr/>
            <p:nvPr/>
          </p:nvSpPr>
          <p:spPr>
            <a:xfrm>
              <a:off x="552450" y="1104900"/>
              <a:ext cx="266700" cy="266700"/>
            </a:xfrm>
            <a:prstGeom prst="ellipse">
              <a:avLst/>
            </a:prstGeom>
            <a:solidFill>
              <a:srgbClr val="F7E9E7"/>
            </a:solidFill>
            <a:ln>
              <a:noFill/>
            </a:ln>
          </p:spPr>
        </p:sp>
        <p:grpSp>
          <p:nvGrpSpPr>
            <p:cNvPr id="18" name="Group 18"/>
            <p:cNvGrpSpPr/>
            <p:nvPr/>
          </p:nvGrpSpPr>
          <p:grpSpPr>
            <a:xfrm>
              <a:off x="628650" y="1181100"/>
              <a:ext cx="114300" cy="114300"/>
              <a:chOff x="628650" y="1181100"/>
              <a:chExt cx="114300" cy="114300"/>
            </a:xfrm>
          </p:grpSpPr>
          <p:sp>
            <p:nvSpPr>
              <p:cNvPr id="12" name="Freeform 12"/>
              <p:cNvSpPr/>
              <p:nvPr/>
            </p:nvSpPr>
            <p:spPr>
              <a:xfrm>
                <a:off x="673100" y="12319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52D12"/>
                </a:solidFill>
              </a:ln>
            </p:spPr>
          </p:sp>
          <p:sp>
            <p:nvSpPr>
              <p:cNvPr id="13" name="Freeform 13"/>
              <p:cNvSpPr/>
              <p:nvPr/>
            </p:nvSpPr>
            <p:spPr>
              <a:xfrm>
                <a:off x="660400" y="12763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A52D12"/>
                </a:solidFill>
              </a:ln>
            </p:spPr>
          </p:sp>
          <p:sp>
            <p:nvSpPr>
              <p:cNvPr id="14" name="Freeform 14"/>
              <p:cNvSpPr/>
              <p:nvPr/>
            </p:nvSpPr>
            <p:spPr>
              <a:xfrm>
                <a:off x="704850" y="1181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52D12"/>
                </a:solidFill>
              </a:ln>
            </p:spPr>
          </p:sp>
          <p:sp>
            <p:nvSpPr>
              <p:cNvPr id="15" name="Freeform 15"/>
              <p:cNvSpPr/>
              <p:nvPr/>
            </p:nvSpPr>
            <p:spPr>
              <a:xfrm>
                <a:off x="717550" y="12255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A52D12"/>
                </a:solidFill>
              </a:ln>
            </p:spPr>
          </p:sp>
          <p:sp>
            <p:nvSpPr>
              <p:cNvPr id="16" name="Freeform 16"/>
              <p:cNvSpPr/>
              <p:nvPr/>
            </p:nvSpPr>
            <p:spPr>
              <a:xfrm>
                <a:off x="641350" y="1181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52D12"/>
                </a:solidFill>
              </a:ln>
            </p:spPr>
          </p:sp>
          <p:sp>
            <p:nvSpPr>
              <p:cNvPr id="17" name="Freeform 17"/>
              <p:cNvSpPr/>
              <p:nvPr/>
            </p:nvSpPr>
            <p:spPr>
              <a:xfrm>
                <a:off x="628650" y="12255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A52D12"/>
                </a:solidFill>
              </a:ln>
            </p:spPr>
          </p:sp>
        </p:grpSp>
        <p:sp>
          <p:nvSpPr>
            <p:cNvPr id="19" name="TextBox 19"/>
            <p:cNvSpPr txBox="1"/>
            <p:nvPr/>
          </p:nvSpPr>
          <p:spPr>
            <a:xfrm>
              <a:off x="890588" y="1188720"/>
              <a:ext cx="73647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有效客户总量</a:t>
              </a:r>
            </a:p>
          </p:txBody>
        </p:sp>
        <p:sp>
          <p:nvSpPr>
            <p:cNvPr id="20" name="TextBox 20"/>
            <p:cNvSpPr txBox="1"/>
            <p:nvPr/>
          </p:nvSpPr>
          <p:spPr>
            <a:xfrm>
              <a:off x="582549" y="1468279"/>
              <a:ext cx="909872" cy="308039"/>
            </a:xfrm>
            <a:prstGeom prst="rect">
              <a:avLst/>
            </a:prstGeom>
            <a:noFill/>
            <a:ln>
              <a:noFill/>
            </a:ln>
          </p:spPr>
          <p:txBody>
            <a:bodyPr wrap="none" lIns="0" tIns="0" rIns="0" bIns="0" anchor="t" anchorCtr="0">
              <a:spAutoFit/>
            </a:bodyPr>
            <a:lstStyle/>
            <a:p>
              <a:pPr algn="l"/>
              <a:r>
                <a:rPr lang="zh-CN" sz="1580" b="1" dirty="0">
                  <a:solidFill>
                    <a:srgbClr val="A52D12"/>
                  </a:solidFill>
                  <a:latin typeface="+mn-lt"/>
                  <a:ea typeface="+mn-ea"/>
                  <a:cs typeface="+mn-cs"/>
                </a:rPr>
                <a:t xml:space="preserve">42.6 </a:t>
              </a:r>
              <a:r>
                <a:rPr lang="zh-CN" sz="790" dirty="0">
                  <a:solidFill>
                    <a:srgbClr val="A52D12"/>
                  </a:solidFill>
                  <a:latin typeface="+mn-lt"/>
                  <a:ea typeface="+mn-ea"/>
                  <a:cs typeface="+mn-cs"/>
                </a:rPr>
                <a:t>万户</a:t>
              </a:r>
              <a:r>
                <a:rPr lang="zh-CN" sz="1580" b="1" dirty="0">
                  <a:solidFill>
                    <a:srgbClr val="A52D12"/>
                  </a:solidFill>
                  <a:latin typeface="+mn-lt"/>
                  <a:ea typeface="+mn-ea"/>
                  <a:cs typeface="+mn-cs"/>
                </a:rPr>
                <a:t>​</a:t>
              </a:r>
            </a:p>
          </p:txBody>
        </p:sp>
        <p:sp>
          <p:nvSpPr>
            <p:cNvPr id="21" name="TextBox 21"/>
            <p:cNvSpPr txBox="1"/>
            <p:nvPr/>
          </p:nvSpPr>
          <p:spPr>
            <a:xfrm>
              <a:off x="1614488" y="1739741"/>
              <a:ext cx="230302" cy="161925"/>
            </a:xfrm>
            <a:prstGeom prst="rect">
              <a:avLst/>
            </a:prstGeom>
            <a:noFill/>
            <a:ln>
              <a:noFill/>
            </a:ln>
          </p:spPr>
          <p:txBody>
            <a:bodyPr wrap="none" lIns="0" tIns="0" rIns="0" bIns="0" anchor="t" anchorCtr="0">
              <a:spAutoFit/>
            </a:bodyPr>
            <a:lstStyle/>
            <a:p>
              <a:pPr algn="l"/>
              <a:r>
                <a:rPr lang="zh-CN" sz="820" dirty="0">
                  <a:solidFill>
                    <a:srgbClr val="8A8A8A"/>
                  </a:solidFill>
                  <a:latin typeface="+mn-lt"/>
                  <a:ea typeface="+mn-ea"/>
                  <a:cs typeface="+mn-cs"/>
                </a:rPr>
                <a:t>对公</a:t>
              </a:r>
            </a:p>
          </p:txBody>
        </p:sp>
        <p:sp>
          <p:nvSpPr>
            <p:cNvPr id="22" name="Rectangle 22"/>
            <p:cNvSpPr/>
            <p:nvPr/>
          </p:nvSpPr>
          <p:spPr>
            <a:xfrm>
              <a:off x="2686050" y="971550"/>
              <a:ext cx="2190750" cy="990600"/>
            </a:xfrm>
            <a:prstGeom prst="roundRect">
              <a:avLst>
                <a:gd name="adj" fmla="val 7692"/>
              </a:avLst>
            </a:prstGeom>
            <a:solidFill>
              <a:srgbClr val="FDF6F5"/>
            </a:solidFill>
            <a:ln w="9525">
              <a:solidFill>
                <a:srgbClr val="EDD5D2"/>
              </a:solidFill>
            </a:ln>
          </p:spPr>
        </p:sp>
        <p:sp>
          <p:nvSpPr>
            <p:cNvPr id="23" name="Ellipse 23"/>
            <p:cNvSpPr/>
            <p:nvPr/>
          </p:nvSpPr>
          <p:spPr>
            <a:xfrm>
              <a:off x="2857500" y="1104900"/>
              <a:ext cx="266700" cy="266700"/>
            </a:xfrm>
            <a:prstGeom prst="ellipse">
              <a:avLst/>
            </a:prstGeom>
            <a:solidFill>
              <a:srgbClr val="F7E9E7"/>
            </a:solidFill>
            <a:ln>
              <a:noFill/>
            </a:ln>
          </p:spPr>
        </p:sp>
        <p:grpSp>
          <p:nvGrpSpPr>
            <p:cNvPr id="28" name="Group 28"/>
            <p:cNvGrpSpPr/>
            <p:nvPr/>
          </p:nvGrpSpPr>
          <p:grpSpPr>
            <a:xfrm>
              <a:off x="2933700" y="1181100"/>
              <a:ext cx="114300" cy="114301"/>
              <a:chOff x="2933700" y="1181100"/>
              <a:chExt cx="114300" cy="114301"/>
            </a:xfrm>
          </p:grpSpPr>
          <p:sp>
            <p:nvSpPr>
              <p:cNvPr id="24" name="Freeform 24"/>
              <p:cNvSpPr/>
              <p:nvPr/>
            </p:nvSpPr>
            <p:spPr>
              <a:xfrm>
                <a:off x="2946400" y="11811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52D12"/>
                </a:solidFill>
              </a:ln>
            </p:spPr>
          </p:sp>
          <p:sp>
            <p:nvSpPr>
              <p:cNvPr id="25" name="Freeform 25"/>
              <p:cNvSpPr/>
              <p:nvPr/>
            </p:nvSpPr>
            <p:spPr>
              <a:xfrm>
                <a:off x="2933700" y="12573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A52D12"/>
                </a:solidFill>
              </a:ln>
            </p:spPr>
          </p:sp>
          <p:sp>
            <p:nvSpPr>
              <p:cNvPr id="26" name="Freeform 26"/>
              <p:cNvSpPr/>
              <p:nvPr/>
            </p:nvSpPr>
            <p:spPr>
              <a:xfrm>
                <a:off x="3016250" y="11819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A52D12"/>
                </a:solidFill>
              </a:ln>
            </p:spPr>
          </p:sp>
          <p:sp>
            <p:nvSpPr>
              <p:cNvPr id="27" name="Freeform 27"/>
              <p:cNvSpPr/>
              <p:nvPr/>
            </p:nvSpPr>
            <p:spPr>
              <a:xfrm>
                <a:off x="3028950" y="12582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A52D12"/>
                </a:solidFill>
              </a:ln>
            </p:spPr>
          </p:sp>
        </p:grpSp>
        <p:sp>
          <p:nvSpPr>
            <p:cNvPr id="29" name="TextBox 29"/>
            <p:cNvSpPr txBox="1"/>
            <p:nvPr/>
          </p:nvSpPr>
          <p:spPr>
            <a:xfrm>
              <a:off x="3195638" y="1188720"/>
              <a:ext cx="73647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有效客户总量</a:t>
              </a:r>
            </a:p>
          </p:txBody>
        </p:sp>
        <p:sp>
          <p:nvSpPr>
            <p:cNvPr id="30" name="TextBox 30"/>
            <p:cNvSpPr txBox="1"/>
            <p:nvPr/>
          </p:nvSpPr>
          <p:spPr>
            <a:xfrm>
              <a:off x="2887599" y="1468279"/>
              <a:ext cx="909872" cy="308039"/>
            </a:xfrm>
            <a:prstGeom prst="rect">
              <a:avLst/>
            </a:prstGeom>
            <a:noFill/>
            <a:ln>
              <a:noFill/>
            </a:ln>
          </p:spPr>
          <p:txBody>
            <a:bodyPr wrap="none" lIns="0" tIns="0" rIns="0" bIns="0" anchor="t" anchorCtr="0">
              <a:spAutoFit/>
            </a:bodyPr>
            <a:lstStyle/>
            <a:p>
              <a:pPr algn="l"/>
              <a:r>
                <a:rPr lang="zh-CN" sz="1580" b="1" dirty="0">
                  <a:solidFill>
                    <a:srgbClr val="A52D12"/>
                  </a:solidFill>
                  <a:latin typeface="+mn-lt"/>
                  <a:ea typeface="+mn-ea"/>
                  <a:cs typeface="+mn-cs"/>
                </a:rPr>
                <a:t xml:space="preserve">1850 </a:t>
              </a:r>
              <a:r>
                <a:rPr lang="zh-CN" sz="790" dirty="0">
                  <a:solidFill>
                    <a:srgbClr val="A52D12"/>
                  </a:solidFill>
                  <a:latin typeface="+mn-lt"/>
                  <a:ea typeface="+mn-ea"/>
                  <a:cs typeface="+mn-cs"/>
                </a:rPr>
                <a:t>万户</a:t>
              </a:r>
              <a:r>
                <a:rPr lang="zh-CN" sz="1580" b="1" dirty="0">
                  <a:solidFill>
                    <a:srgbClr val="A52D12"/>
                  </a:solidFill>
                  <a:latin typeface="+mn-lt"/>
                  <a:ea typeface="+mn-ea"/>
                  <a:cs typeface="+mn-cs"/>
                </a:rPr>
                <a:t>​</a:t>
              </a:r>
            </a:p>
          </p:txBody>
        </p:sp>
        <p:sp>
          <p:nvSpPr>
            <p:cNvPr id="31" name="TextBox 31"/>
            <p:cNvSpPr txBox="1"/>
            <p:nvPr/>
          </p:nvSpPr>
          <p:spPr>
            <a:xfrm>
              <a:off x="3919538" y="1739741"/>
              <a:ext cx="230302" cy="161925"/>
            </a:xfrm>
            <a:prstGeom prst="rect">
              <a:avLst/>
            </a:prstGeom>
            <a:noFill/>
            <a:ln>
              <a:noFill/>
            </a:ln>
          </p:spPr>
          <p:txBody>
            <a:bodyPr wrap="none" lIns="0" tIns="0" rIns="0" bIns="0" anchor="t" anchorCtr="0">
              <a:spAutoFit/>
            </a:bodyPr>
            <a:lstStyle/>
            <a:p>
              <a:pPr algn="l"/>
              <a:r>
                <a:rPr lang="zh-CN" sz="820" dirty="0">
                  <a:solidFill>
                    <a:srgbClr val="8A8A8A"/>
                  </a:solidFill>
                  <a:latin typeface="+mn-lt"/>
                  <a:ea typeface="+mn-ea"/>
                  <a:cs typeface="+mn-cs"/>
                </a:rPr>
                <a:t>零售</a:t>
              </a:r>
            </a:p>
          </p:txBody>
        </p:sp>
        <p:sp>
          <p:nvSpPr>
            <p:cNvPr id="32" name="Rectangle 32"/>
            <p:cNvSpPr/>
            <p:nvPr/>
          </p:nvSpPr>
          <p:spPr>
            <a:xfrm>
              <a:off x="4991100" y="971550"/>
              <a:ext cx="2190750" cy="990600"/>
            </a:xfrm>
            <a:prstGeom prst="roundRect">
              <a:avLst>
                <a:gd name="adj" fmla="val 7692"/>
              </a:avLst>
            </a:prstGeom>
            <a:solidFill>
              <a:srgbClr val="FDF6F5"/>
            </a:solidFill>
            <a:ln w="9525">
              <a:solidFill>
                <a:srgbClr val="EDD5D2"/>
              </a:solidFill>
            </a:ln>
          </p:spPr>
        </p:sp>
        <p:sp>
          <p:nvSpPr>
            <p:cNvPr id="33" name="Ellipse 33"/>
            <p:cNvSpPr/>
            <p:nvPr/>
          </p:nvSpPr>
          <p:spPr>
            <a:xfrm>
              <a:off x="5162550" y="1104900"/>
              <a:ext cx="266700" cy="266700"/>
            </a:xfrm>
            <a:prstGeom prst="ellipse">
              <a:avLst/>
            </a:prstGeom>
            <a:solidFill>
              <a:srgbClr val="F7E9E7"/>
            </a:solidFill>
            <a:ln>
              <a:noFill/>
            </a:ln>
          </p:spPr>
        </p:sp>
        <p:grpSp>
          <p:nvGrpSpPr>
            <p:cNvPr id="37" name="Group 37"/>
            <p:cNvGrpSpPr/>
            <p:nvPr/>
          </p:nvGrpSpPr>
          <p:grpSpPr>
            <a:xfrm>
              <a:off x="5257800" y="1181100"/>
              <a:ext cx="95250" cy="114300"/>
              <a:chOff x="5257800" y="1181100"/>
              <a:chExt cx="95250" cy="114300"/>
            </a:xfrm>
          </p:grpSpPr>
          <p:sp>
            <p:nvSpPr>
              <p:cNvPr id="34" name="Freeform 34"/>
              <p:cNvSpPr/>
              <p:nvPr/>
            </p:nvSpPr>
            <p:spPr>
              <a:xfrm>
                <a:off x="5270500" y="11811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52D12"/>
                </a:solidFill>
              </a:ln>
            </p:spPr>
          </p:sp>
          <p:sp>
            <p:nvSpPr>
              <p:cNvPr id="35" name="Freeform 35"/>
              <p:cNvSpPr/>
              <p:nvPr/>
            </p:nvSpPr>
            <p:spPr>
              <a:xfrm>
                <a:off x="5257800" y="12573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A52D12"/>
                </a:solidFill>
              </a:ln>
            </p:spPr>
          </p:sp>
          <p:sp>
            <p:nvSpPr>
              <p:cNvPr id="36" name="Freeform 36"/>
              <p:cNvSpPr/>
              <p:nvPr/>
            </p:nvSpPr>
            <p:spPr>
              <a:xfrm>
                <a:off x="5314950" y="1270000"/>
                <a:ext cx="38100" cy="25400"/>
              </a:xfrm>
              <a:custGeom>
                <a:avLst/>
                <a:gdLst/>
                <a:ahLst/>
                <a:cxnLst/>
                <a:rect l="l" t="t" r="r" b="b"/>
                <a:pathLst>
                  <a:path w="38100" h="25400">
                    <a:moveTo>
                      <a:pt x="0" y="12700"/>
                    </a:moveTo>
                    <a:lnTo>
                      <a:pt x="12700" y="25400"/>
                    </a:lnTo>
                    <a:lnTo>
                      <a:pt x="38100" y="0"/>
                    </a:lnTo>
                  </a:path>
                </a:pathLst>
              </a:custGeom>
              <a:noFill/>
              <a:ln w="12700">
                <a:solidFill>
                  <a:srgbClr val="A52D12"/>
                </a:solidFill>
              </a:ln>
            </p:spPr>
          </p:sp>
        </p:grpSp>
        <p:sp>
          <p:nvSpPr>
            <p:cNvPr id="38" name="TextBox 38"/>
            <p:cNvSpPr txBox="1"/>
            <p:nvPr/>
          </p:nvSpPr>
          <p:spPr>
            <a:xfrm>
              <a:off x="5500688" y="1188720"/>
              <a:ext cx="73647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对公价值客户</a:t>
              </a:r>
            </a:p>
          </p:txBody>
        </p:sp>
        <p:sp>
          <p:nvSpPr>
            <p:cNvPr id="39" name="TextBox 39"/>
            <p:cNvSpPr txBox="1"/>
            <p:nvPr/>
          </p:nvSpPr>
          <p:spPr>
            <a:xfrm>
              <a:off x="5192649" y="1468279"/>
              <a:ext cx="787038" cy="308039"/>
            </a:xfrm>
            <a:prstGeom prst="rect">
              <a:avLst/>
            </a:prstGeom>
            <a:noFill/>
            <a:ln>
              <a:noFill/>
            </a:ln>
          </p:spPr>
          <p:txBody>
            <a:bodyPr wrap="none" lIns="0" tIns="0" rIns="0" bIns="0" anchor="t" anchorCtr="0">
              <a:spAutoFit/>
            </a:bodyPr>
            <a:lstStyle/>
            <a:p>
              <a:pPr algn="l"/>
              <a:r>
                <a:rPr lang="zh-CN" sz="1580" b="1" dirty="0">
                  <a:solidFill>
                    <a:srgbClr val="A52D12"/>
                  </a:solidFill>
                  <a:latin typeface="+mn-lt"/>
                  <a:ea typeface="+mn-ea"/>
                  <a:cs typeface="+mn-cs"/>
                </a:rPr>
                <a:t xml:space="preserve">8.7 </a:t>
              </a:r>
              <a:r>
                <a:rPr lang="zh-CN" sz="790" dirty="0">
                  <a:solidFill>
                    <a:srgbClr val="A52D12"/>
                  </a:solidFill>
                  <a:latin typeface="+mn-lt"/>
                  <a:ea typeface="+mn-ea"/>
                  <a:cs typeface="+mn-cs"/>
                </a:rPr>
                <a:t>万户</a:t>
              </a:r>
              <a:r>
                <a:rPr lang="zh-CN" sz="1580" b="1" dirty="0">
                  <a:solidFill>
                    <a:srgbClr val="A52D12"/>
                  </a:solidFill>
                  <a:latin typeface="+mn-lt"/>
                  <a:ea typeface="+mn-ea"/>
                  <a:cs typeface="+mn-cs"/>
                </a:rPr>
                <a:t>​</a:t>
              </a:r>
            </a:p>
          </p:txBody>
        </p:sp>
        <p:sp>
          <p:nvSpPr>
            <p:cNvPr id="40" name="TextBox 40"/>
            <p:cNvSpPr txBox="1"/>
            <p:nvPr/>
          </p:nvSpPr>
          <p:spPr>
            <a:xfrm>
              <a:off x="6148388" y="1739741"/>
              <a:ext cx="478952"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+12.4%​</a:t>
              </a:r>
            </a:p>
          </p:txBody>
        </p:sp>
        <p:sp>
          <p:nvSpPr>
            <p:cNvPr id="41" name="Rectangle 41"/>
            <p:cNvSpPr/>
            <p:nvPr/>
          </p:nvSpPr>
          <p:spPr>
            <a:xfrm>
              <a:off x="7296150" y="971550"/>
              <a:ext cx="2190750" cy="990600"/>
            </a:xfrm>
            <a:prstGeom prst="roundRect">
              <a:avLst>
                <a:gd name="adj" fmla="val 7692"/>
              </a:avLst>
            </a:prstGeom>
            <a:solidFill>
              <a:srgbClr val="FDF6F5"/>
            </a:solidFill>
            <a:ln w="9525">
              <a:solidFill>
                <a:srgbClr val="EDD5D2"/>
              </a:solidFill>
            </a:ln>
          </p:spPr>
        </p:sp>
        <p:sp>
          <p:nvSpPr>
            <p:cNvPr id="42" name="Ellipse 42"/>
            <p:cNvSpPr/>
            <p:nvPr/>
          </p:nvSpPr>
          <p:spPr>
            <a:xfrm>
              <a:off x="7467600" y="1104900"/>
              <a:ext cx="266700" cy="266700"/>
            </a:xfrm>
            <a:prstGeom prst="ellipse">
              <a:avLst/>
            </a:prstGeom>
            <a:solidFill>
              <a:srgbClr val="F7E9E7"/>
            </a:solidFill>
            <a:ln>
              <a:noFill/>
            </a:ln>
          </p:spPr>
        </p:sp>
        <p:grpSp>
          <p:nvGrpSpPr>
            <p:cNvPr id="45" name="Group 45"/>
            <p:cNvGrpSpPr/>
            <p:nvPr/>
          </p:nvGrpSpPr>
          <p:grpSpPr>
            <a:xfrm>
              <a:off x="7543800" y="1193800"/>
              <a:ext cx="114300" cy="93409"/>
              <a:chOff x="7543800" y="1193800"/>
              <a:chExt cx="114300" cy="93409"/>
            </a:xfrm>
          </p:grpSpPr>
          <p:sp>
            <p:nvSpPr>
              <p:cNvPr id="43" name="Freeform 43"/>
              <p:cNvSpPr/>
              <p:nvPr/>
            </p:nvSpPr>
            <p:spPr>
              <a:xfrm>
                <a:off x="7543800" y="1193800"/>
                <a:ext cx="114300" cy="93409"/>
              </a:xfrm>
              <a:custGeom>
                <a:avLst/>
                <a:gdLst/>
                <a:ahLst/>
                <a:cxnLst/>
                <a:rect l="l" t="t" r="r" b="b"/>
                <a:pathLst>
                  <a:path w="114300" h="93409">
                    <a:moveTo>
                      <a:pt x="19050" y="0"/>
                    </a:moveTo>
                    <a:lnTo>
                      <a:pt x="95250" y="0"/>
                    </a:lnTo>
                    <a:lnTo>
                      <a:pt x="114300" y="31750"/>
                    </a:lnTo>
                    <a:lnTo>
                      <a:pt x="60325" y="92075"/>
                    </a:lnTo>
                    <a:cubicBezTo>
                      <a:pt x="59489" y="92928"/>
                      <a:pt x="58345" y="93409"/>
                      <a:pt x="57150" y="93409"/>
                    </a:cubicBezTo>
                    <a:cubicBezTo>
                      <a:pt x="55955" y="93409"/>
                      <a:pt x="54811" y="92928"/>
                      <a:pt x="53975" y="92075"/>
                    </a:cubicBezTo>
                    <a:lnTo>
                      <a:pt x="0" y="31750"/>
                    </a:lnTo>
                    <a:lnTo>
                      <a:pt x="19050" y="0"/>
                    </a:lnTo>
                  </a:path>
                </a:pathLst>
              </a:custGeom>
              <a:noFill/>
              <a:ln w="12700">
                <a:solidFill>
                  <a:srgbClr val="A52D12"/>
                </a:solidFill>
              </a:ln>
            </p:spPr>
          </p:sp>
          <p:sp>
            <p:nvSpPr>
              <p:cNvPr id="44" name="Freeform 44"/>
              <p:cNvSpPr/>
              <p:nvPr/>
            </p:nvSpPr>
            <p:spPr>
              <a:xfrm>
                <a:off x="7575550" y="1217930"/>
                <a:ext cx="12700" cy="20320"/>
              </a:xfrm>
              <a:custGeom>
                <a:avLst/>
                <a:gdLst/>
                <a:ahLst/>
                <a:cxnLst/>
                <a:rect l="l" t="t" r="r" b="b"/>
                <a:pathLst>
                  <a:path w="12700" h="20320">
                    <a:moveTo>
                      <a:pt x="12700" y="20320"/>
                    </a:moveTo>
                    <a:lnTo>
                      <a:pt x="0" y="6350"/>
                    </a:lnTo>
                    <a:lnTo>
                      <a:pt x="3810" y="0"/>
                    </a:lnTo>
                  </a:path>
                </a:pathLst>
              </a:custGeom>
              <a:noFill/>
              <a:ln w="12700">
                <a:solidFill>
                  <a:srgbClr val="A52D12"/>
                </a:solidFill>
              </a:ln>
            </p:spPr>
          </p:sp>
        </p:grpSp>
        <p:sp>
          <p:nvSpPr>
            <p:cNvPr id="46" name="TextBox 46"/>
            <p:cNvSpPr txBox="1"/>
            <p:nvPr/>
          </p:nvSpPr>
          <p:spPr>
            <a:xfrm>
              <a:off x="7805738" y="1188720"/>
              <a:ext cx="73647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零售财富客户</a:t>
              </a:r>
            </a:p>
          </p:txBody>
        </p:sp>
        <p:sp>
          <p:nvSpPr>
            <p:cNvPr id="47" name="TextBox 47"/>
            <p:cNvSpPr txBox="1"/>
            <p:nvPr/>
          </p:nvSpPr>
          <p:spPr>
            <a:xfrm>
              <a:off x="7497699" y="1468279"/>
              <a:ext cx="664204" cy="308039"/>
            </a:xfrm>
            <a:prstGeom prst="rect">
              <a:avLst/>
            </a:prstGeom>
            <a:noFill/>
            <a:ln>
              <a:noFill/>
            </a:ln>
          </p:spPr>
          <p:txBody>
            <a:bodyPr wrap="none" lIns="0" tIns="0" rIns="0" bIns="0" anchor="t" anchorCtr="0">
              <a:spAutoFit/>
            </a:bodyPr>
            <a:lstStyle/>
            <a:p>
              <a:pPr algn="l"/>
              <a:r>
                <a:rPr lang="zh-CN" sz="1580" b="1" dirty="0">
                  <a:solidFill>
                    <a:srgbClr val="A52D12"/>
                  </a:solidFill>
                  <a:latin typeface="+mn-lt"/>
                  <a:ea typeface="+mn-ea"/>
                  <a:cs typeface="+mn-cs"/>
                </a:rPr>
                <a:t xml:space="preserve">86 </a:t>
              </a:r>
              <a:r>
                <a:rPr lang="zh-CN" sz="790" dirty="0">
                  <a:solidFill>
                    <a:srgbClr val="A52D12"/>
                  </a:solidFill>
                  <a:latin typeface="+mn-lt"/>
                  <a:ea typeface="+mn-ea"/>
                  <a:cs typeface="+mn-cs"/>
                </a:rPr>
                <a:t>万户</a:t>
              </a:r>
              <a:r>
                <a:rPr lang="zh-CN" sz="1580" b="1" dirty="0">
                  <a:solidFill>
                    <a:srgbClr val="A52D12"/>
                  </a:solidFill>
                  <a:latin typeface="+mn-lt"/>
                  <a:ea typeface="+mn-ea"/>
                  <a:cs typeface="+mn-cs"/>
                </a:rPr>
                <a:t>​</a:t>
              </a:r>
            </a:p>
          </p:txBody>
        </p:sp>
        <p:sp>
          <p:nvSpPr>
            <p:cNvPr id="48" name="TextBox 48"/>
            <p:cNvSpPr txBox="1"/>
            <p:nvPr/>
          </p:nvSpPr>
          <p:spPr>
            <a:xfrm>
              <a:off x="8453438" y="1739741"/>
              <a:ext cx="478952"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+15.1%​</a:t>
              </a:r>
            </a:p>
          </p:txBody>
        </p:sp>
        <p:sp>
          <p:nvSpPr>
            <p:cNvPr id="49" name="Rectangle 49"/>
            <p:cNvSpPr/>
            <p:nvPr/>
          </p:nvSpPr>
          <p:spPr>
            <a:xfrm>
              <a:off x="9601200" y="971550"/>
              <a:ext cx="2190750" cy="990600"/>
            </a:xfrm>
            <a:prstGeom prst="roundRect">
              <a:avLst>
                <a:gd name="adj" fmla="val 7692"/>
              </a:avLst>
            </a:prstGeom>
            <a:solidFill>
              <a:srgbClr val="FDF6F5"/>
            </a:solidFill>
            <a:ln w="9525">
              <a:solidFill>
                <a:srgbClr val="EDD5D2"/>
              </a:solidFill>
            </a:ln>
          </p:spPr>
        </p:sp>
        <p:sp>
          <p:nvSpPr>
            <p:cNvPr id="50" name="Ellipse 50"/>
            <p:cNvSpPr/>
            <p:nvPr/>
          </p:nvSpPr>
          <p:spPr>
            <a:xfrm>
              <a:off x="9772650" y="1104900"/>
              <a:ext cx="266700" cy="266700"/>
            </a:xfrm>
            <a:prstGeom prst="ellipse">
              <a:avLst/>
            </a:prstGeom>
            <a:solidFill>
              <a:srgbClr val="F7E9E7"/>
            </a:solidFill>
            <a:ln>
              <a:noFill/>
            </a:ln>
          </p:spPr>
        </p:sp>
        <p:grpSp>
          <p:nvGrpSpPr>
            <p:cNvPr id="53" name="Group 53"/>
            <p:cNvGrpSpPr/>
            <p:nvPr/>
          </p:nvGrpSpPr>
          <p:grpSpPr>
            <a:xfrm>
              <a:off x="9855200" y="1181100"/>
              <a:ext cx="101600" cy="114300"/>
              <a:chOff x="9855200" y="1181100"/>
              <a:chExt cx="101600" cy="114300"/>
            </a:xfrm>
          </p:grpSpPr>
          <p:sp>
            <p:nvSpPr>
              <p:cNvPr id="51" name="Freeform 51"/>
              <p:cNvSpPr/>
              <p:nvPr/>
            </p:nvSpPr>
            <p:spPr>
              <a:xfrm>
                <a:off x="9855200" y="1181100"/>
                <a:ext cx="101600" cy="57150"/>
              </a:xfrm>
              <a:custGeom>
                <a:avLst/>
                <a:gdLst/>
                <a:ahLst/>
                <a:cxnLst/>
                <a:rect l="l" t="t" r="r" b="b"/>
                <a:pathLst>
                  <a:path w="101600" h="57150">
                    <a:moveTo>
                      <a:pt x="0" y="57150"/>
                    </a:moveTo>
                    <a:lnTo>
                      <a:pt x="0" y="38100"/>
                    </a:lnTo>
                    <a:cubicBezTo>
                      <a:pt x="0" y="27579"/>
                      <a:pt x="8529" y="19050"/>
                      <a:pt x="19050" y="19050"/>
                    </a:cubicBezTo>
                    <a:lnTo>
                      <a:pt x="101600" y="19050"/>
                    </a:lnTo>
                    <a:moveTo>
                      <a:pt x="82550" y="0"/>
                    </a:moveTo>
                    <a:lnTo>
                      <a:pt x="101600" y="19050"/>
                    </a:lnTo>
                    <a:lnTo>
                      <a:pt x="82550" y="38100"/>
                    </a:lnTo>
                  </a:path>
                </a:pathLst>
              </a:custGeom>
              <a:noFill/>
              <a:ln w="12700">
                <a:solidFill>
                  <a:srgbClr val="A52D12"/>
                </a:solidFill>
              </a:ln>
            </p:spPr>
          </p:sp>
          <p:sp>
            <p:nvSpPr>
              <p:cNvPr id="52" name="Freeform 52"/>
              <p:cNvSpPr/>
              <p:nvPr/>
            </p:nvSpPr>
            <p:spPr>
              <a:xfrm>
                <a:off x="9855200" y="1238250"/>
                <a:ext cx="101600" cy="57150"/>
              </a:xfrm>
              <a:custGeom>
                <a:avLst/>
                <a:gdLst/>
                <a:ahLst/>
                <a:cxnLst/>
                <a:rect l="l" t="t" r="r" b="b"/>
                <a:pathLst>
                  <a:path w="101600" h="57150">
                    <a:moveTo>
                      <a:pt x="101600" y="0"/>
                    </a:moveTo>
                    <a:lnTo>
                      <a:pt x="101600" y="19050"/>
                    </a:lnTo>
                    <a:cubicBezTo>
                      <a:pt x="101600" y="29571"/>
                      <a:pt x="93071" y="38100"/>
                      <a:pt x="82550" y="38100"/>
                    </a:cubicBezTo>
                    <a:lnTo>
                      <a:pt x="0" y="38100"/>
                    </a:lnTo>
                    <a:moveTo>
                      <a:pt x="19050" y="57150"/>
                    </a:moveTo>
                    <a:lnTo>
                      <a:pt x="0" y="38100"/>
                    </a:lnTo>
                    <a:lnTo>
                      <a:pt x="19050" y="19050"/>
                    </a:lnTo>
                  </a:path>
                </a:pathLst>
              </a:custGeom>
              <a:noFill/>
              <a:ln w="12700">
                <a:solidFill>
                  <a:srgbClr val="A52D12"/>
                </a:solidFill>
              </a:ln>
            </p:spPr>
          </p:sp>
        </p:grpSp>
        <p:sp>
          <p:nvSpPr>
            <p:cNvPr id="54" name="TextBox 54"/>
            <p:cNvSpPr txBox="1"/>
            <p:nvPr/>
          </p:nvSpPr>
          <p:spPr>
            <a:xfrm>
              <a:off x="10110788" y="1188720"/>
              <a:ext cx="615315"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交叉销售率</a:t>
              </a:r>
            </a:p>
          </p:txBody>
        </p:sp>
        <p:sp>
          <p:nvSpPr>
            <p:cNvPr id="55" name="TextBox 55"/>
            <p:cNvSpPr txBox="1"/>
            <p:nvPr/>
          </p:nvSpPr>
          <p:spPr>
            <a:xfrm>
              <a:off x="9802749" y="1468279"/>
              <a:ext cx="968364" cy="308039"/>
            </a:xfrm>
            <a:prstGeom prst="rect">
              <a:avLst/>
            </a:prstGeom>
            <a:noFill/>
            <a:ln>
              <a:noFill/>
            </a:ln>
          </p:spPr>
          <p:txBody>
            <a:bodyPr wrap="none" lIns="0" tIns="0" rIns="0" bIns="0" anchor="t" anchorCtr="0">
              <a:spAutoFit/>
            </a:bodyPr>
            <a:lstStyle/>
            <a:p>
              <a:pPr algn="l"/>
              <a:r>
                <a:rPr lang="zh-CN" sz="1580" b="1" dirty="0">
                  <a:solidFill>
                    <a:srgbClr val="A52D12"/>
                  </a:solidFill>
                  <a:latin typeface="+mn-lt"/>
                  <a:ea typeface="+mn-ea"/>
                  <a:cs typeface="+mn-cs"/>
                </a:rPr>
                <a:t xml:space="preserve">2.86 </a:t>
              </a:r>
              <a:r>
                <a:rPr lang="zh-CN" sz="790" dirty="0">
                  <a:solidFill>
                    <a:srgbClr val="A52D12"/>
                  </a:solidFill>
                  <a:latin typeface="+mn-lt"/>
                  <a:ea typeface="+mn-ea"/>
                  <a:cs typeface="+mn-cs"/>
                </a:rPr>
                <a:t>项/户</a:t>
              </a:r>
              <a:r>
                <a:rPr lang="zh-CN" sz="1580" b="1" dirty="0">
                  <a:solidFill>
                    <a:srgbClr val="A52D12"/>
                  </a:solidFill>
                  <a:latin typeface="+mn-lt"/>
                  <a:ea typeface="+mn-ea"/>
                  <a:cs typeface="+mn-cs"/>
                </a:rPr>
                <a:t>​</a:t>
              </a:r>
            </a:p>
          </p:txBody>
        </p:sp>
        <p:sp>
          <p:nvSpPr>
            <p:cNvPr id="56" name="TextBox 56"/>
            <p:cNvSpPr txBox="1"/>
            <p:nvPr/>
          </p:nvSpPr>
          <p:spPr>
            <a:xfrm>
              <a:off x="10948988" y="1739741"/>
              <a:ext cx="392021"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+0.24​</a:t>
              </a:r>
            </a:p>
          </p:txBody>
        </p:sp>
      </p:grpSp>
      <p:grpSp>
        <p:nvGrpSpPr>
          <p:cNvPr id="116" name="tier-chart"/>
          <p:cNvGrpSpPr/>
          <p:nvPr/>
        </p:nvGrpSpPr>
        <p:grpSpPr>
          <a:xfrm>
            <a:off x="381000" y="2095500"/>
            <a:ext cx="4953000" cy="3486150"/>
            <a:chOff x="381000" y="2095500"/>
            <a:chExt cx="4953000" cy="3486150"/>
          </a:xfrm>
        </p:grpSpPr>
        <p:sp>
          <p:nvSpPr>
            <p:cNvPr id="58" name="Rectangle 58"/>
            <p:cNvSpPr/>
            <p:nvPr/>
          </p:nvSpPr>
          <p:spPr>
            <a:xfrm>
              <a:off x="381000" y="2095500"/>
              <a:ext cx="4953000" cy="3486150"/>
            </a:xfrm>
            <a:prstGeom prst="roundRect">
              <a:avLst>
                <a:gd name="adj" fmla="val 2186"/>
              </a:avLst>
            </a:prstGeom>
            <a:solidFill>
              <a:srgbClr val="FDF6F5"/>
            </a:solidFill>
            <a:ln w="9525">
              <a:solidFill>
                <a:srgbClr val="EDD5D2"/>
              </a:solidFill>
            </a:ln>
          </p:spPr>
        </p:sp>
        <p:sp>
          <p:nvSpPr>
            <p:cNvPr id="59" name="Freeform 59"/>
            <p:cNvSpPr/>
            <p:nvPr/>
          </p:nvSpPr>
          <p:spPr>
            <a:xfrm>
              <a:off x="390525" y="2105025"/>
              <a:ext cx="4933950" cy="228600"/>
            </a:xfrm>
            <a:custGeom>
              <a:avLst/>
              <a:gdLst/>
              <a:ahLst/>
              <a:cxnLst/>
              <a:rect l="l" t="t" r="r" b="b"/>
              <a:pathLst>
                <a:path w="4933950" h="228600">
                  <a:moveTo>
                    <a:pt x="0" y="228600"/>
                  </a:moveTo>
                  <a:lnTo>
                    <a:pt x="4933950" y="228600"/>
                  </a:lnTo>
                  <a:lnTo>
                    <a:pt x="4933950" y="66675"/>
                  </a:lnTo>
                  <a:cubicBezTo>
                    <a:pt x="4933950" y="29851"/>
                    <a:pt x="4904099" y="0"/>
                    <a:pt x="4867275" y="0"/>
                  </a:cubicBezTo>
                  <a:lnTo>
                    <a:pt x="66675" y="0"/>
                  </a:lnTo>
                  <a:cubicBezTo>
                    <a:pt x="29851" y="0"/>
                    <a:pt x="0" y="29851"/>
                    <a:pt x="0" y="66675"/>
                  </a:cubicBezTo>
                  <a:close/>
                </a:path>
              </a:pathLst>
            </a:custGeom>
            <a:solidFill>
              <a:srgbClr val="A52D12"/>
            </a:solidFill>
            <a:ln>
              <a:noFill/>
            </a:ln>
          </p:spPr>
        </p:sp>
        <p:sp>
          <p:nvSpPr>
            <p:cNvPr id="60" name="TextBox 60"/>
            <p:cNvSpPr txBox="1"/>
            <p:nvPr/>
          </p:nvSpPr>
          <p:spPr>
            <a:xfrm>
              <a:off x="2074736" y="2153602"/>
              <a:ext cx="156552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客户分层结构与经营成效</a:t>
              </a:r>
            </a:p>
          </p:txBody>
        </p:sp>
        <p:sp>
          <p:nvSpPr>
            <p:cNvPr id="61" name="Rectangle 61"/>
            <p:cNvSpPr/>
            <p:nvPr/>
          </p:nvSpPr>
          <p:spPr>
            <a:xfrm>
              <a:off x="628650" y="2476500"/>
              <a:ext cx="95250" cy="95250"/>
            </a:xfrm>
            <a:prstGeom prst="rect">
              <a:avLst/>
            </a:prstGeom>
            <a:solidFill>
              <a:srgbClr val="A52D12"/>
            </a:solidFill>
            <a:ln>
              <a:noFill/>
            </a:ln>
          </p:spPr>
        </p:sp>
        <p:sp>
          <p:nvSpPr>
            <p:cNvPr id="62" name="TextBox 62"/>
            <p:cNvSpPr txBox="1"/>
            <p:nvPr/>
          </p:nvSpPr>
          <p:spPr>
            <a:xfrm>
              <a:off x="776288" y="2481262"/>
              <a:ext cx="71628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客户数（万户）</a:t>
              </a:r>
            </a:p>
          </p:txBody>
        </p:sp>
        <p:sp>
          <p:nvSpPr>
            <p:cNvPr id="63" name="Line 63"/>
            <p:cNvSpPr/>
            <p:nvPr/>
          </p:nvSpPr>
          <p:spPr>
            <a:xfrm>
              <a:off x="1790700" y="2524125"/>
              <a:ext cx="228600" cy="9525"/>
            </a:xfrm>
            <a:custGeom>
              <a:avLst/>
              <a:gdLst/>
              <a:ahLst/>
              <a:cxnLst/>
              <a:rect l="l" t="t" r="r" b="b"/>
              <a:pathLst>
                <a:path w="228600" h="9525">
                  <a:moveTo>
                    <a:pt x="0" y="0"/>
                  </a:moveTo>
                  <a:lnTo>
                    <a:pt x="228600" y="0"/>
                  </a:lnTo>
                </a:path>
              </a:pathLst>
            </a:custGeom>
            <a:noFill/>
            <a:ln w="17145">
              <a:solidFill>
                <a:srgbClr val="E4AFA6"/>
              </a:solidFill>
            </a:ln>
          </p:spPr>
        </p:sp>
        <p:sp>
          <p:nvSpPr>
            <p:cNvPr id="64" name="Ellipse 64"/>
            <p:cNvSpPr/>
            <p:nvPr/>
          </p:nvSpPr>
          <p:spPr>
            <a:xfrm>
              <a:off x="1871662" y="2490788"/>
              <a:ext cx="66675" cy="66675"/>
            </a:xfrm>
            <a:prstGeom prst="ellipse">
              <a:avLst/>
            </a:prstGeom>
            <a:solidFill>
              <a:srgbClr val="FFFFFF"/>
            </a:solidFill>
            <a:ln w="17145">
              <a:solidFill>
                <a:srgbClr val="E4AFA6"/>
              </a:solidFill>
            </a:ln>
          </p:spPr>
        </p:sp>
        <p:sp>
          <p:nvSpPr>
            <p:cNvPr id="65" name="TextBox 65"/>
            <p:cNvSpPr txBox="1"/>
            <p:nvPr/>
          </p:nvSpPr>
          <p:spPr>
            <a:xfrm>
              <a:off x="2071688" y="2481262"/>
              <a:ext cx="64560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贡献度（%）​</a:t>
              </a:r>
            </a:p>
          </p:txBody>
        </p:sp>
        <p:sp>
          <p:nvSpPr>
            <p:cNvPr id="66" name="Line 66"/>
            <p:cNvSpPr/>
            <p:nvPr/>
          </p:nvSpPr>
          <p:spPr>
            <a:xfrm>
              <a:off x="2895600" y="2524125"/>
              <a:ext cx="228600" cy="9525"/>
            </a:xfrm>
            <a:custGeom>
              <a:avLst/>
              <a:gdLst/>
              <a:ahLst/>
              <a:cxnLst/>
              <a:rect l="l" t="t" r="r" b="b"/>
              <a:pathLst>
                <a:path w="228600" h="9525">
                  <a:moveTo>
                    <a:pt x="0" y="0"/>
                  </a:moveTo>
                  <a:lnTo>
                    <a:pt x="228600" y="0"/>
                  </a:lnTo>
                </a:path>
              </a:pathLst>
            </a:custGeom>
            <a:noFill/>
            <a:ln w="17145">
              <a:solidFill>
                <a:srgbClr val="C9604E"/>
              </a:solidFill>
            </a:ln>
          </p:spPr>
        </p:sp>
        <p:sp>
          <p:nvSpPr>
            <p:cNvPr id="67" name="Ellipse 67"/>
            <p:cNvSpPr/>
            <p:nvPr/>
          </p:nvSpPr>
          <p:spPr>
            <a:xfrm>
              <a:off x="2976562" y="2490788"/>
              <a:ext cx="66675" cy="66675"/>
            </a:xfrm>
            <a:prstGeom prst="ellipse">
              <a:avLst/>
            </a:prstGeom>
            <a:solidFill>
              <a:srgbClr val="FFFFFF"/>
            </a:solidFill>
            <a:ln w="17145">
              <a:solidFill>
                <a:srgbClr val="C9604E"/>
              </a:solidFill>
            </a:ln>
          </p:spPr>
        </p:sp>
        <p:sp>
          <p:nvSpPr>
            <p:cNvPr id="68" name="TextBox 68"/>
            <p:cNvSpPr txBox="1"/>
            <p:nvPr/>
          </p:nvSpPr>
          <p:spPr>
            <a:xfrm>
              <a:off x="3176588" y="2481262"/>
              <a:ext cx="1175671"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人均交叉产品数（项/户）</a:t>
              </a:r>
            </a:p>
          </p:txBody>
        </p:sp>
        <p:sp>
          <p:nvSpPr>
            <p:cNvPr id="69" name="Line 69"/>
            <p:cNvSpPr/>
            <p:nvPr/>
          </p:nvSpPr>
          <p:spPr>
            <a:xfrm>
              <a:off x="857250" y="2724150"/>
              <a:ext cx="4095750" cy="9525"/>
            </a:xfrm>
            <a:custGeom>
              <a:avLst/>
              <a:gdLst/>
              <a:ahLst/>
              <a:cxnLst/>
              <a:rect l="l" t="t" r="r" b="b"/>
              <a:pathLst>
                <a:path w="4095750" h="9525">
                  <a:moveTo>
                    <a:pt x="0" y="0"/>
                  </a:moveTo>
                  <a:lnTo>
                    <a:pt x="4095750" y="0"/>
                  </a:lnTo>
                </a:path>
              </a:pathLst>
            </a:custGeom>
            <a:noFill/>
            <a:ln w="9525">
              <a:solidFill>
                <a:srgbClr val="EDE4E2"/>
              </a:solidFill>
            </a:ln>
          </p:spPr>
        </p:sp>
        <p:sp>
          <p:nvSpPr>
            <p:cNvPr id="70" name="Line 70"/>
            <p:cNvSpPr/>
            <p:nvPr/>
          </p:nvSpPr>
          <p:spPr>
            <a:xfrm>
              <a:off x="857250" y="3295650"/>
              <a:ext cx="4095750" cy="9525"/>
            </a:xfrm>
            <a:custGeom>
              <a:avLst/>
              <a:gdLst/>
              <a:ahLst/>
              <a:cxnLst/>
              <a:rect l="l" t="t" r="r" b="b"/>
              <a:pathLst>
                <a:path w="4095750" h="9525">
                  <a:moveTo>
                    <a:pt x="0" y="0"/>
                  </a:moveTo>
                  <a:lnTo>
                    <a:pt x="4095750" y="0"/>
                  </a:lnTo>
                </a:path>
              </a:pathLst>
            </a:custGeom>
            <a:noFill/>
            <a:ln w="9525">
              <a:solidFill>
                <a:srgbClr val="EDE4E2"/>
              </a:solidFill>
            </a:ln>
          </p:spPr>
        </p:sp>
        <p:sp>
          <p:nvSpPr>
            <p:cNvPr id="71" name="Line 71"/>
            <p:cNvSpPr/>
            <p:nvPr/>
          </p:nvSpPr>
          <p:spPr>
            <a:xfrm>
              <a:off x="857250" y="3867150"/>
              <a:ext cx="4095750" cy="9525"/>
            </a:xfrm>
            <a:custGeom>
              <a:avLst/>
              <a:gdLst/>
              <a:ahLst/>
              <a:cxnLst/>
              <a:rect l="l" t="t" r="r" b="b"/>
              <a:pathLst>
                <a:path w="4095750" h="9525">
                  <a:moveTo>
                    <a:pt x="0" y="0"/>
                  </a:moveTo>
                  <a:lnTo>
                    <a:pt x="4095750" y="0"/>
                  </a:lnTo>
                </a:path>
              </a:pathLst>
            </a:custGeom>
            <a:noFill/>
            <a:ln w="9525">
              <a:solidFill>
                <a:srgbClr val="EDE4E2"/>
              </a:solidFill>
            </a:ln>
          </p:spPr>
        </p:sp>
        <p:sp>
          <p:nvSpPr>
            <p:cNvPr id="72" name="Line 72"/>
            <p:cNvSpPr/>
            <p:nvPr/>
          </p:nvSpPr>
          <p:spPr>
            <a:xfrm>
              <a:off x="857250" y="4438650"/>
              <a:ext cx="4095750" cy="9525"/>
            </a:xfrm>
            <a:custGeom>
              <a:avLst/>
              <a:gdLst/>
              <a:ahLst/>
              <a:cxnLst/>
              <a:rect l="l" t="t" r="r" b="b"/>
              <a:pathLst>
                <a:path w="4095750" h="9525">
                  <a:moveTo>
                    <a:pt x="0" y="0"/>
                  </a:moveTo>
                  <a:lnTo>
                    <a:pt x="4095750" y="0"/>
                  </a:lnTo>
                </a:path>
              </a:pathLst>
            </a:custGeom>
            <a:noFill/>
            <a:ln w="9525">
              <a:solidFill>
                <a:srgbClr val="EDE4E2"/>
              </a:solidFill>
            </a:ln>
          </p:spPr>
        </p:sp>
        <p:sp>
          <p:nvSpPr>
            <p:cNvPr id="73" name="Line 73"/>
            <p:cNvSpPr/>
            <p:nvPr/>
          </p:nvSpPr>
          <p:spPr>
            <a:xfrm>
              <a:off x="857250" y="5010150"/>
              <a:ext cx="4095750" cy="9525"/>
            </a:xfrm>
            <a:custGeom>
              <a:avLst/>
              <a:gdLst/>
              <a:ahLst/>
              <a:cxnLst/>
              <a:rect l="l" t="t" r="r" b="b"/>
              <a:pathLst>
                <a:path w="4095750" h="9525">
                  <a:moveTo>
                    <a:pt x="0" y="0"/>
                  </a:moveTo>
                  <a:lnTo>
                    <a:pt x="4095750" y="0"/>
                  </a:lnTo>
                </a:path>
              </a:pathLst>
            </a:custGeom>
            <a:noFill/>
            <a:ln w="9525">
              <a:solidFill>
                <a:srgbClr val="C9BBB8"/>
              </a:solidFill>
            </a:ln>
          </p:spPr>
        </p:sp>
        <p:sp>
          <p:nvSpPr>
            <p:cNvPr id="74" name="TextBox 74"/>
            <p:cNvSpPr txBox="1"/>
            <p:nvPr/>
          </p:nvSpPr>
          <p:spPr>
            <a:xfrm>
              <a:off x="709249" y="4971336"/>
              <a:ext cx="114663"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a:t>
              </a:r>
            </a:p>
          </p:txBody>
        </p:sp>
        <p:sp>
          <p:nvSpPr>
            <p:cNvPr id="75" name="TextBox 75"/>
            <p:cNvSpPr txBox="1"/>
            <p:nvPr/>
          </p:nvSpPr>
          <p:spPr>
            <a:xfrm>
              <a:off x="656680" y="4399836"/>
              <a:ext cx="167232"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35​</a:t>
              </a:r>
            </a:p>
          </p:txBody>
        </p:sp>
        <p:sp>
          <p:nvSpPr>
            <p:cNvPr id="76" name="TextBox 76"/>
            <p:cNvSpPr txBox="1"/>
            <p:nvPr/>
          </p:nvSpPr>
          <p:spPr>
            <a:xfrm>
              <a:off x="656680" y="3828336"/>
              <a:ext cx="167232"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70​</a:t>
              </a:r>
            </a:p>
          </p:txBody>
        </p:sp>
        <p:sp>
          <p:nvSpPr>
            <p:cNvPr id="77" name="TextBox 77"/>
            <p:cNvSpPr txBox="1"/>
            <p:nvPr/>
          </p:nvSpPr>
          <p:spPr>
            <a:xfrm>
              <a:off x="604111" y="325683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105​</a:t>
              </a:r>
            </a:p>
          </p:txBody>
        </p:sp>
        <p:sp>
          <p:nvSpPr>
            <p:cNvPr id="78" name="TextBox 78"/>
            <p:cNvSpPr txBox="1"/>
            <p:nvPr/>
          </p:nvSpPr>
          <p:spPr>
            <a:xfrm>
              <a:off x="604111" y="268533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140​</a:t>
              </a:r>
            </a:p>
          </p:txBody>
        </p:sp>
        <p:sp>
          <p:nvSpPr>
            <p:cNvPr id="79" name="TextBox 79"/>
            <p:cNvSpPr txBox="1"/>
            <p:nvPr/>
          </p:nvSpPr>
          <p:spPr>
            <a:xfrm>
              <a:off x="4986338" y="4971336"/>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0​</a:t>
              </a:r>
            </a:p>
          </p:txBody>
        </p:sp>
        <p:sp>
          <p:nvSpPr>
            <p:cNvPr id="80" name="TextBox 80"/>
            <p:cNvSpPr txBox="1"/>
            <p:nvPr/>
          </p:nvSpPr>
          <p:spPr>
            <a:xfrm>
              <a:off x="4986338" y="4399836"/>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1​</a:t>
              </a:r>
            </a:p>
          </p:txBody>
        </p:sp>
        <p:sp>
          <p:nvSpPr>
            <p:cNvPr id="81" name="TextBox 81"/>
            <p:cNvSpPr txBox="1"/>
            <p:nvPr/>
          </p:nvSpPr>
          <p:spPr>
            <a:xfrm>
              <a:off x="4986338" y="3828336"/>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2​</a:t>
              </a:r>
            </a:p>
          </p:txBody>
        </p:sp>
        <p:sp>
          <p:nvSpPr>
            <p:cNvPr id="82" name="TextBox 82"/>
            <p:cNvSpPr txBox="1"/>
            <p:nvPr/>
          </p:nvSpPr>
          <p:spPr>
            <a:xfrm>
              <a:off x="4986338" y="3256836"/>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3​</a:t>
              </a:r>
            </a:p>
          </p:txBody>
        </p:sp>
        <p:sp>
          <p:nvSpPr>
            <p:cNvPr id="83" name="TextBox 83"/>
            <p:cNvSpPr txBox="1"/>
            <p:nvPr/>
          </p:nvSpPr>
          <p:spPr>
            <a:xfrm>
              <a:off x="4986338" y="2685336"/>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4​</a:t>
              </a:r>
            </a:p>
          </p:txBody>
        </p:sp>
        <p:sp>
          <p:nvSpPr>
            <p:cNvPr id="84" name="Rectangle 84"/>
            <p:cNvSpPr/>
            <p:nvPr/>
          </p:nvSpPr>
          <p:spPr>
            <a:xfrm>
              <a:off x="1238250" y="4879658"/>
              <a:ext cx="381000" cy="130492"/>
            </a:xfrm>
            <a:prstGeom prst="rect">
              <a:avLst/>
            </a:prstGeom>
            <a:solidFill>
              <a:srgbClr val="A52D12"/>
            </a:solidFill>
            <a:ln>
              <a:noFill/>
            </a:ln>
          </p:spPr>
        </p:sp>
        <p:sp>
          <p:nvSpPr>
            <p:cNvPr id="85" name="Rectangle 85"/>
            <p:cNvSpPr/>
            <p:nvPr/>
          </p:nvSpPr>
          <p:spPr>
            <a:xfrm>
              <a:off x="2286000" y="4596765"/>
              <a:ext cx="381000" cy="413385"/>
            </a:xfrm>
            <a:prstGeom prst="rect">
              <a:avLst/>
            </a:prstGeom>
            <a:solidFill>
              <a:srgbClr val="A52D12"/>
            </a:solidFill>
            <a:ln>
              <a:noFill/>
            </a:ln>
          </p:spPr>
        </p:sp>
        <p:sp>
          <p:nvSpPr>
            <p:cNvPr id="86" name="Rectangle 86"/>
            <p:cNvSpPr/>
            <p:nvPr/>
          </p:nvSpPr>
          <p:spPr>
            <a:xfrm>
              <a:off x="3333750" y="4082415"/>
              <a:ext cx="381000" cy="927735"/>
            </a:xfrm>
            <a:prstGeom prst="rect">
              <a:avLst/>
            </a:prstGeom>
            <a:solidFill>
              <a:srgbClr val="A52D12"/>
            </a:solidFill>
            <a:ln>
              <a:noFill/>
            </a:ln>
          </p:spPr>
        </p:sp>
        <p:sp>
          <p:nvSpPr>
            <p:cNvPr id="87" name="Rectangle 87"/>
            <p:cNvSpPr/>
            <p:nvPr/>
          </p:nvSpPr>
          <p:spPr>
            <a:xfrm>
              <a:off x="4381500" y="2920365"/>
              <a:ext cx="381000" cy="2089785"/>
            </a:xfrm>
            <a:prstGeom prst="rect">
              <a:avLst/>
            </a:prstGeom>
            <a:solidFill>
              <a:srgbClr val="A52D12"/>
            </a:solidFill>
            <a:ln>
              <a:noFill/>
            </a:ln>
          </p:spPr>
        </p:sp>
        <p:sp>
          <p:nvSpPr>
            <p:cNvPr id="88" name="TextBox 88"/>
            <p:cNvSpPr txBox="1"/>
            <p:nvPr/>
          </p:nvSpPr>
          <p:spPr>
            <a:xfrm>
              <a:off x="1313592" y="4742736"/>
              <a:ext cx="230315"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8.7​</a:t>
              </a:r>
            </a:p>
          </p:txBody>
        </p:sp>
        <p:sp>
          <p:nvSpPr>
            <p:cNvPr id="89" name="TextBox 89"/>
            <p:cNvSpPr txBox="1"/>
            <p:nvPr/>
          </p:nvSpPr>
          <p:spPr>
            <a:xfrm>
              <a:off x="2333744" y="4456986"/>
              <a:ext cx="285513"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25.3​</a:t>
              </a:r>
            </a:p>
          </p:txBody>
        </p:sp>
        <p:sp>
          <p:nvSpPr>
            <p:cNvPr id="90" name="TextBox 90"/>
            <p:cNvSpPr txBox="1"/>
            <p:nvPr/>
          </p:nvSpPr>
          <p:spPr>
            <a:xfrm>
              <a:off x="3381494" y="3942636"/>
              <a:ext cx="285513"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56.8​</a:t>
              </a:r>
            </a:p>
          </p:txBody>
        </p:sp>
        <p:sp>
          <p:nvSpPr>
            <p:cNvPr id="91" name="TextBox 91"/>
            <p:cNvSpPr txBox="1"/>
            <p:nvPr/>
          </p:nvSpPr>
          <p:spPr>
            <a:xfrm>
              <a:off x="4401645" y="2780586"/>
              <a:ext cx="340710"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128.0​</a:t>
              </a:r>
            </a:p>
          </p:txBody>
        </p:sp>
        <p:sp>
          <p:nvSpPr>
            <p:cNvPr id="92" name="Polyline 92"/>
            <p:cNvSpPr/>
            <p:nvPr/>
          </p:nvSpPr>
          <p:spPr>
            <a:xfrm>
              <a:off x="1428750" y="3550920"/>
              <a:ext cx="3143250" cy="666750"/>
            </a:xfrm>
            <a:custGeom>
              <a:avLst/>
              <a:gdLst/>
              <a:ahLst/>
              <a:cxnLst/>
              <a:rect l="l" t="t" r="r" b="b"/>
              <a:pathLst>
                <a:path w="3143250" h="666750">
                  <a:moveTo>
                    <a:pt x="0" y="215265"/>
                  </a:moveTo>
                  <a:lnTo>
                    <a:pt x="1047750" y="0"/>
                  </a:lnTo>
                  <a:lnTo>
                    <a:pt x="2095500" y="215265"/>
                  </a:lnTo>
                  <a:lnTo>
                    <a:pt x="3143250" y="666750"/>
                  </a:lnTo>
                </a:path>
              </a:pathLst>
            </a:custGeom>
            <a:noFill/>
            <a:ln w="19050">
              <a:solidFill>
                <a:srgbClr val="C9604E"/>
              </a:solidFill>
            </a:ln>
          </p:spPr>
        </p:sp>
        <p:sp>
          <p:nvSpPr>
            <p:cNvPr id="93" name="Ellipse 93"/>
            <p:cNvSpPr/>
            <p:nvPr/>
          </p:nvSpPr>
          <p:spPr>
            <a:xfrm>
              <a:off x="1390650" y="3728085"/>
              <a:ext cx="76200" cy="76200"/>
            </a:xfrm>
            <a:prstGeom prst="ellipse">
              <a:avLst/>
            </a:prstGeom>
            <a:solidFill>
              <a:srgbClr val="FFFFFF"/>
            </a:solidFill>
            <a:ln w="19050">
              <a:solidFill>
                <a:srgbClr val="C9604E"/>
              </a:solidFill>
            </a:ln>
          </p:spPr>
        </p:sp>
        <p:sp>
          <p:nvSpPr>
            <p:cNvPr id="94" name="Ellipse 94"/>
            <p:cNvSpPr/>
            <p:nvPr/>
          </p:nvSpPr>
          <p:spPr>
            <a:xfrm>
              <a:off x="2438400" y="3512820"/>
              <a:ext cx="76200" cy="76200"/>
            </a:xfrm>
            <a:prstGeom prst="ellipse">
              <a:avLst/>
            </a:prstGeom>
            <a:solidFill>
              <a:srgbClr val="FFFFFF"/>
            </a:solidFill>
            <a:ln w="19050">
              <a:solidFill>
                <a:srgbClr val="C9604E"/>
              </a:solidFill>
            </a:ln>
          </p:spPr>
        </p:sp>
        <p:sp>
          <p:nvSpPr>
            <p:cNvPr id="95" name="Ellipse 95"/>
            <p:cNvSpPr/>
            <p:nvPr/>
          </p:nvSpPr>
          <p:spPr>
            <a:xfrm>
              <a:off x="3486150" y="3728085"/>
              <a:ext cx="76200" cy="76200"/>
            </a:xfrm>
            <a:prstGeom prst="ellipse">
              <a:avLst/>
            </a:prstGeom>
            <a:solidFill>
              <a:srgbClr val="FFFFFF"/>
            </a:solidFill>
            <a:ln w="19050">
              <a:solidFill>
                <a:srgbClr val="C9604E"/>
              </a:solidFill>
            </a:ln>
          </p:spPr>
        </p:sp>
        <p:sp>
          <p:nvSpPr>
            <p:cNvPr id="96" name="Ellipse 96"/>
            <p:cNvSpPr/>
            <p:nvPr/>
          </p:nvSpPr>
          <p:spPr>
            <a:xfrm>
              <a:off x="4533900" y="4179570"/>
              <a:ext cx="76200" cy="76200"/>
            </a:xfrm>
            <a:prstGeom prst="ellipse">
              <a:avLst/>
            </a:prstGeom>
            <a:solidFill>
              <a:srgbClr val="FFFFFF"/>
            </a:solidFill>
            <a:ln w="19050">
              <a:solidFill>
                <a:srgbClr val="C9604E"/>
              </a:solidFill>
            </a:ln>
          </p:spPr>
        </p:sp>
        <p:sp>
          <p:nvSpPr>
            <p:cNvPr id="97" name="TextBox 97"/>
            <p:cNvSpPr txBox="1"/>
            <p:nvPr/>
          </p:nvSpPr>
          <p:spPr>
            <a:xfrm>
              <a:off x="1419344" y="3837861"/>
              <a:ext cx="285513"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3.85​</a:t>
              </a:r>
            </a:p>
          </p:txBody>
        </p:sp>
        <p:sp>
          <p:nvSpPr>
            <p:cNvPr id="98" name="TextBox 98"/>
            <p:cNvSpPr txBox="1"/>
            <p:nvPr/>
          </p:nvSpPr>
          <p:spPr>
            <a:xfrm>
              <a:off x="2467094" y="3628311"/>
              <a:ext cx="285513"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3.12​</a:t>
              </a:r>
            </a:p>
          </p:txBody>
        </p:sp>
        <p:sp>
          <p:nvSpPr>
            <p:cNvPr id="99" name="TextBox 99"/>
            <p:cNvSpPr txBox="1"/>
            <p:nvPr/>
          </p:nvSpPr>
          <p:spPr>
            <a:xfrm>
              <a:off x="3514844" y="3837861"/>
              <a:ext cx="285513"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2.41​</a:t>
              </a:r>
            </a:p>
          </p:txBody>
        </p:sp>
        <p:sp>
          <p:nvSpPr>
            <p:cNvPr id="100" name="TextBox 100"/>
            <p:cNvSpPr txBox="1"/>
            <p:nvPr/>
          </p:nvSpPr>
          <p:spPr>
            <a:xfrm>
              <a:off x="4562594" y="4295061"/>
              <a:ext cx="285513" cy="140494"/>
            </a:xfrm>
            <a:prstGeom prst="rect">
              <a:avLst/>
            </a:prstGeom>
            <a:noFill/>
            <a:ln>
              <a:noFill/>
            </a:ln>
          </p:spPr>
          <p:txBody>
            <a:bodyPr wrap="none" lIns="0" tIns="0" rIns="0" bIns="0" anchor="t" anchorCtr="0">
              <a:spAutoFit/>
            </a:bodyPr>
            <a:lstStyle/>
            <a:p>
              <a:pPr algn="ctr"/>
              <a:r>
                <a:rPr lang="zh-CN" sz="710" b="1" dirty="0">
                  <a:solidFill>
                    <a:srgbClr val="B54C3A"/>
                  </a:solidFill>
                  <a:latin typeface="+mn-lt"/>
                  <a:ea typeface="+mn-ea"/>
                  <a:cs typeface="+mn-cs"/>
                </a:rPr>
                <a:t>1.62​</a:t>
              </a:r>
            </a:p>
          </p:txBody>
        </p:sp>
        <p:sp>
          <p:nvSpPr>
            <p:cNvPr id="101" name="Polyline 101"/>
            <p:cNvSpPr/>
            <p:nvPr/>
          </p:nvSpPr>
          <p:spPr>
            <a:xfrm>
              <a:off x="1428750" y="3371850"/>
              <a:ext cx="3143250" cy="1011555"/>
            </a:xfrm>
            <a:custGeom>
              <a:avLst/>
              <a:gdLst/>
              <a:ahLst/>
              <a:cxnLst/>
              <a:rect l="l" t="t" r="r" b="b"/>
              <a:pathLst>
                <a:path w="3143250" h="1011555">
                  <a:moveTo>
                    <a:pt x="0" y="142875"/>
                  </a:moveTo>
                  <a:lnTo>
                    <a:pt x="1047750" y="0"/>
                  </a:lnTo>
                  <a:lnTo>
                    <a:pt x="2095500" y="502920"/>
                  </a:lnTo>
                  <a:lnTo>
                    <a:pt x="3143250" y="1011555"/>
                  </a:lnTo>
                </a:path>
              </a:pathLst>
            </a:custGeom>
            <a:noFill/>
            <a:ln w="19050">
              <a:solidFill>
                <a:srgbClr val="E4AFA6"/>
              </a:solidFill>
            </a:ln>
          </p:spPr>
        </p:sp>
        <p:sp>
          <p:nvSpPr>
            <p:cNvPr id="102" name="Ellipse 102"/>
            <p:cNvSpPr/>
            <p:nvPr/>
          </p:nvSpPr>
          <p:spPr>
            <a:xfrm>
              <a:off x="1390650" y="3476625"/>
              <a:ext cx="76200" cy="76200"/>
            </a:xfrm>
            <a:prstGeom prst="ellipse">
              <a:avLst/>
            </a:prstGeom>
            <a:solidFill>
              <a:srgbClr val="FFFFFF"/>
            </a:solidFill>
            <a:ln w="19050">
              <a:solidFill>
                <a:srgbClr val="E4AFA6"/>
              </a:solidFill>
            </a:ln>
          </p:spPr>
        </p:sp>
        <p:sp>
          <p:nvSpPr>
            <p:cNvPr id="103" name="Ellipse 103"/>
            <p:cNvSpPr/>
            <p:nvPr/>
          </p:nvSpPr>
          <p:spPr>
            <a:xfrm>
              <a:off x="2438400" y="3333750"/>
              <a:ext cx="76200" cy="76200"/>
            </a:xfrm>
            <a:prstGeom prst="ellipse">
              <a:avLst/>
            </a:prstGeom>
            <a:solidFill>
              <a:srgbClr val="FFFFFF"/>
            </a:solidFill>
            <a:ln w="19050">
              <a:solidFill>
                <a:srgbClr val="E4AFA6"/>
              </a:solidFill>
            </a:ln>
          </p:spPr>
        </p:sp>
        <p:sp>
          <p:nvSpPr>
            <p:cNvPr id="104" name="Ellipse 104"/>
            <p:cNvSpPr/>
            <p:nvPr/>
          </p:nvSpPr>
          <p:spPr>
            <a:xfrm>
              <a:off x="3486150" y="3836670"/>
              <a:ext cx="76200" cy="76200"/>
            </a:xfrm>
            <a:prstGeom prst="ellipse">
              <a:avLst/>
            </a:prstGeom>
            <a:solidFill>
              <a:srgbClr val="FFFFFF"/>
            </a:solidFill>
            <a:ln w="19050">
              <a:solidFill>
                <a:srgbClr val="E4AFA6"/>
              </a:solidFill>
            </a:ln>
          </p:spPr>
        </p:sp>
        <p:sp>
          <p:nvSpPr>
            <p:cNvPr id="105" name="Ellipse 105"/>
            <p:cNvSpPr/>
            <p:nvPr/>
          </p:nvSpPr>
          <p:spPr>
            <a:xfrm>
              <a:off x="4533900" y="4345305"/>
              <a:ext cx="76200" cy="76200"/>
            </a:xfrm>
            <a:prstGeom prst="ellipse">
              <a:avLst/>
            </a:prstGeom>
            <a:solidFill>
              <a:srgbClr val="FFFFFF"/>
            </a:solidFill>
            <a:ln w="19050">
              <a:solidFill>
                <a:srgbClr val="E4AFA6"/>
              </a:solidFill>
            </a:ln>
          </p:spPr>
        </p:sp>
        <p:sp>
          <p:nvSpPr>
            <p:cNvPr id="106" name="TextBox 106"/>
            <p:cNvSpPr txBox="1"/>
            <p:nvPr/>
          </p:nvSpPr>
          <p:spPr>
            <a:xfrm>
              <a:off x="1130440" y="3346609"/>
              <a:ext cx="329921" cy="133350"/>
            </a:xfrm>
            <a:prstGeom prst="rect">
              <a:avLst/>
            </a:prstGeom>
            <a:noFill/>
            <a:ln>
              <a:noFill/>
            </a:ln>
          </p:spPr>
          <p:txBody>
            <a:bodyPr wrap="none" lIns="0" tIns="0" rIns="0" bIns="0" anchor="t" anchorCtr="0">
              <a:spAutoFit/>
            </a:bodyPr>
            <a:lstStyle/>
            <a:p>
              <a:pPr algn="ctr"/>
              <a:r>
                <a:rPr lang="zh-CN" sz="680" dirty="0">
                  <a:solidFill>
                    <a:srgbClr val="B05C4E"/>
                  </a:solidFill>
                  <a:latin typeface="+mn-lt"/>
                  <a:ea typeface="+mn-ea"/>
                  <a:cs typeface="+mn-cs"/>
                </a:rPr>
                <a:t>28.5%​</a:t>
              </a:r>
            </a:p>
          </p:txBody>
        </p:sp>
        <p:sp>
          <p:nvSpPr>
            <p:cNvPr id="107" name="TextBox 107"/>
            <p:cNvSpPr txBox="1"/>
            <p:nvPr/>
          </p:nvSpPr>
          <p:spPr>
            <a:xfrm>
              <a:off x="2178190" y="3203734"/>
              <a:ext cx="329921" cy="133350"/>
            </a:xfrm>
            <a:prstGeom prst="rect">
              <a:avLst/>
            </a:prstGeom>
            <a:noFill/>
            <a:ln>
              <a:noFill/>
            </a:ln>
          </p:spPr>
          <p:txBody>
            <a:bodyPr wrap="none" lIns="0" tIns="0" rIns="0" bIns="0" anchor="t" anchorCtr="0">
              <a:spAutoFit/>
            </a:bodyPr>
            <a:lstStyle/>
            <a:p>
              <a:pPr algn="ctr"/>
              <a:r>
                <a:rPr lang="zh-CN" sz="680" dirty="0">
                  <a:solidFill>
                    <a:srgbClr val="B05C4E"/>
                  </a:solidFill>
                  <a:latin typeface="+mn-lt"/>
                  <a:ea typeface="+mn-ea"/>
                  <a:cs typeface="+mn-cs"/>
                </a:rPr>
                <a:t>31.0%​</a:t>
              </a:r>
            </a:p>
          </p:txBody>
        </p:sp>
        <p:sp>
          <p:nvSpPr>
            <p:cNvPr id="108" name="TextBox 108"/>
            <p:cNvSpPr txBox="1"/>
            <p:nvPr/>
          </p:nvSpPr>
          <p:spPr>
            <a:xfrm>
              <a:off x="3225940" y="3708559"/>
              <a:ext cx="329921" cy="133350"/>
            </a:xfrm>
            <a:prstGeom prst="rect">
              <a:avLst/>
            </a:prstGeom>
            <a:noFill/>
            <a:ln>
              <a:noFill/>
            </a:ln>
          </p:spPr>
          <p:txBody>
            <a:bodyPr wrap="none" lIns="0" tIns="0" rIns="0" bIns="0" anchor="t" anchorCtr="0">
              <a:spAutoFit/>
            </a:bodyPr>
            <a:lstStyle/>
            <a:p>
              <a:pPr algn="ctr"/>
              <a:r>
                <a:rPr lang="zh-CN" sz="680" dirty="0">
                  <a:solidFill>
                    <a:srgbClr val="B05C4E"/>
                  </a:solidFill>
                  <a:latin typeface="+mn-lt"/>
                  <a:ea typeface="+mn-ea"/>
                  <a:cs typeface="+mn-cs"/>
                </a:rPr>
                <a:t>27.2%​</a:t>
              </a:r>
            </a:p>
          </p:txBody>
        </p:sp>
        <p:sp>
          <p:nvSpPr>
            <p:cNvPr id="109" name="TextBox 109"/>
            <p:cNvSpPr txBox="1"/>
            <p:nvPr/>
          </p:nvSpPr>
          <p:spPr>
            <a:xfrm>
              <a:off x="4273690" y="4213384"/>
              <a:ext cx="329921" cy="133350"/>
            </a:xfrm>
            <a:prstGeom prst="rect">
              <a:avLst/>
            </a:prstGeom>
            <a:noFill/>
            <a:ln>
              <a:noFill/>
            </a:ln>
          </p:spPr>
          <p:txBody>
            <a:bodyPr wrap="none" lIns="0" tIns="0" rIns="0" bIns="0" anchor="t" anchorCtr="0">
              <a:spAutoFit/>
            </a:bodyPr>
            <a:lstStyle/>
            <a:p>
              <a:pPr algn="ctr"/>
              <a:r>
                <a:rPr lang="zh-CN" sz="680" dirty="0">
                  <a:solidFill>
                    <a:srgbClr val="B05C4E"/>
                  </a:solidFill>
                  <a:latin typeface="+mn-lt"/>
                  <a:ea typeface="+mn-ea"/>
                  <a:cs typeface="+mn-cs"/>
                </a:rPr>
                <a:t>13.3%​</a:t>
              </a:r>
            </a:p>
          </p:txBody>
        </p:sp>
        <p:sp>
          <p:nvSpPr>
            <p:cNvPr id="110" name="TextBox 110"/>
            <p:cNvSpPr txBox="1"/>
            <p:nvPr/>
          </p:nvSpPr>
          <p:spPr>
            <a:xfrm>
              <a:off x="1313599" y="5111591"/>
              <a:ext cx="23030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战略</a:t>
              </a:r>
            </a:p>
          </p:txBody>
        </p:sp>
        <p:sp>
          <p:nvSpPr>
            <p:cNvPr id="111" name="TextBox 111"/>
            <p:cNvSpPr txBox="1"/>
            <p:nvPr/>
          </p:nvSpPr>
          <p:spPr>
            <a:xfrm>
              <a:off x="2361349" y="5111591"/>
              <a:ext cx="23030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重点</a:t>
              </a:r>
            </a:p>
          </p:txBody>
        </p:sp>
        <p:sp>
          <p:nvSpPr>
            <p:cNvPr id="112" name="TextBox 112"/>
            <p:cNvSpPr txBox="1"/>
            <p:nvPr/>
          </p:nvSpPr>
          <p:spPr>
            <a:xfrm>
              <a:off x="3409099" y="5111591"/>
              <a:ext cx="23030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成长</a:t>
              </a:r>
            </a:p>
          </p:txBody>
        </p:sp>
        <p:sp>
          <p:nvSpPr>
            <p:cNvPr id="113" name="TextBox 113"/>
            <p:cNvSpPr txBox="1"/>
            <p:nvPr/>
          </p:nvSpPr>
          <p:spPr>
            <a:xfrm>
              <a:off x="4456849" y="5111591"/>
              <a:ext cx="230302"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基础</a:t>
              </a:r>
            </a:p>
          </p:txBody>
        </p:sp>
        <p:sp>
          <p:nvSpPr>
            <p:cNvPr id="114" name="Rectangle 114"/>
            <p:cNvSpPr/>
            <p:nvPr/>
          </p:nvSpPr>
          <p:spPr>
            <a:xfrm>
              <a:off x="628650" y="5314950"/>
              <a:ext cx="4457700" cy="190500"/>
            </a:xfrm>
            <a:prstGeom prst="roundRect">
              <a:avLst>
                <a:gd name="adj" fmla="val 20000"/>
              </a:avLst>
            </a:prstGeom>
            <a:solidFill>
              <a:srgbClr val="F7E9E7"/>
            </a:solidFill>
            <a:ln>
              <a:noFill/>
            </a:ln>
          </p:spPr>
        </p:sp>
        <p:sp>
          <p:nvSpPr>
            <p:cNvPr id="115" name="TextBox 115"/>
            <p:cNvSpPr txBox="1"/>
            <p:nvPr/>
          </p:nvSpPr>
          <p:spPr>
            <a:xfrm>
              <a:off x="1338262" y="5367338"/>
              <a:ext cx="3038475" cy="147638"/>
            </a:xfrm>
            <a:prstGeom prst="rect">
              <a:avLst/>
            </a:prstGeom>
            <a:noFill/>
            <a:ln>
              <a:noFill/>
            </a:ln>
          </p:spPr>
          <p:txBody>
            <a:bodyPr wrap="none" lIns="0" tIns="0" rIns="0" bIns="0" anchor="t" anchorCtr="0">
              <a:spAutoFit/>
            </a:bodyPr>
            <a:lstStyle/>
            <a:p>
              <a:pPr algn="ctr"/>
              <a:r>
                <a:rPr lang="zh-CN" sz="750" dirty="0">
                  <a:solidFill>
                    <a:srgbClr val="A52D12"/>
                  </a:solidFill>
                  <a:latin typeface="+mn-lt"/>
                  <a:ea typeface="+mn-ea"/>
                  <a:cs typeface="+mn-cs"/>
                </a:rPr>
                <a:t>客户分层覆盖全面，价值向高层聚集，交叉销售能力随分层梯度提升</a:t>
              </a:r>
            </a:p>
          </p:txBody>
        </p:sp>
      </p:grpSp>
      <p:grpSp>
        <p:nvGrpSpPr>
          <p:cNvPr id="131" name="lifecycle"/>
          <p:cNvGrpSpPr/>
          <p:nvPr/>
        </p:nvGrpSpPr>
        <p:grpSpPr>
          <a:xfrm>
            <a:off x="5467350" y="2134552"/>
            <a:ext cx="6276975" cy="551498"/>
            <a:chOff x="5467350" y="2134552"/>
            <a:chExt cx="6276975" cy="551498"/>
          </a:xfrm>
        </p:grpSpPr>
        <p:sp>
          <p:nvSpPr>
            <p:cNvPr id="117" name="Rectangle 117"/>
            <p:cNvSpPr/>
            <p:nvPr/>
          </p:nvSpPr>
          <p:spPr>
            <a:xfrm>
              <a:off x="5467350" y="2171700"/>
              <a:ext cx="76200" cy="76200"/>
            </a:xfrm>
            <a:prstGeom prst="rect">
              <a:avLst/>
            </a:prstGeom>
            <a:solidFill>
              <a:srgbClr val="A52D12"/>
            </a:solidFill>
            <a:ln>
              <a:noFill/>
            </a:ln>
          </p:spPr>
        </p:sp>
        <p:sp>
          <p:nvSpPr>
            <p:cNvPr id="118" name="TextBox 118"/>
            <p:cNvSpPr txBox="1"/>
            <p:nvPr/>
          </p:nvSpPr>
          <p:spPr>
            <a:xfrm>
              <a:off x="5614416" y="2134552"/>
              <a:ext cx="1282827"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中心客户全生命周期</a:t>
              </a:r>
            </a:p>
          </p:txBody>
        </p:sp>
        <p:sp>
          <p:nvSpPr>
            <p:cNvPr id="119" name="Freeform 119"/>
            <p:cNvSpPr/>
            <p:nvPr/>
          </p:nvSpPr>
          <p:spPr>
            <a:xfrm>
              <a:off x="5467350" y="2400300"/>
              <a:ext cx="990600" cy="285750"/>
            </a:xfrm>
            <a:prstGeom prst="chevron">
              <a:avLst/>
            </a:prstGeom>
            <a:solidFill>
              <a:srgbClr val="8E240C"/>
            </a:solidFill>
            <a:ln>
              <a:noFill/>
            </a:ln>
          </p:spPr>
        </p:sp>
        <p:sp>
          <p:nvSpPr>
            <p:cNvPr id="120" name="Freeform 120"/>
            <p:cNvSpPr/>
            <p:nvPr/>
          </p:nvSpPr>
          <p:spPr>
            <a:xfrm>
              <a:off x="6524625" y="2400300"/>
              <a:ext cx="990600" cy="285750"/>
            </a:xfrm>
            <a:prstGeom prst="chevron">
              <a:avLst/>
            </a:prstGeom>
            <a:solidFill>
              <a:srgbClr val="A52D12"/>
            </a:solidFill>
            <a:ln>
              <a:noFill/>
            </a:ln>
          </p:spPr>
        </p:sp>
        <p:sp>
          <p:nvSpPr>
            <p:cNvPr id="121" name="Freeform 121"/>
            <p:cNvSpPr/>
            <p:nvPr/>
          </p:nvSpPr>
          <p:spPr>
            <a:xfrm>
              <a:off x="7581900" y="2400300"/>
              <a:ext cx="990600" cy="285750"/>
            </a:xfrm>
            <a:prstGeom prst="chevron">
              <a:avLst/>
            </a:prstGeom>
            <a:solidFill>
              <a:srgbClr val="B0391E"/>
            </a:solidFill>
            <a:ln>
              <a:noFill/>
            </a:ln>
          </p:spPr>
        </p:sp>
        <p:sp>
          <p:nvSpPr>
            <p:cNvPr id="122" name="Freeform 122"/>
            <p:cNvSpPr/>
            <p:nvPr/>
          </p:nvSpPr>
          <p:spPr>
            <a:xfrm>
              <a:off x="8639175" y="2400300"/>
              <a:ext cx="990600" cy="285750"/>
            </a:xfrm>
            <a:prstGeom prst="chevron">
              <a:avLst/>
            </a:prstGeom>
            <a:solidFill>
              <a:srgbClr val="C0412B"/>
            </a:solidFill>
            <a:ln>
              <a:noFill/>
            </a:ln>
          </p:spPr>
        </p:sp>
        <p:sp>
          <p:nvSpPr>
            <p:cNvPr id="123" name="Freeform 123"/>
            <p:cNvSpPr/>
            <p:nvPr/>
          </p:nvSpPr>
          <p:spPr>
            <a:xfrm>
              <a:off x="9696450" y="2400300"/>
              <a:ext cx="990600" cy="285750"/>
            </a:xfrm>
            <a:prstGeom prst="chevron">
              <a:avLst/>
            </a:prstGeom>
            <a:solidFill>
              <a:srgbClr val="CE6654"/>
            </a:solidFill>
            <a:ln>
              <a:noFill/>
            </a:ln>
          </p:spPr>
        </p:sp>
        <p:sp>
          <p:nvSpPr>
            <p:cNvPr id="124" name="Freeform 124"/>
            <p:cNvSpPr/>
            <p:nvPr/>
          </p:nvSpPr>
          <p:spPr>
            <a:xfrm>
              <a:off x="10753725" y="2400300"/>
              <a:ext cx="990600" cy="285750"/>
            </a:xfrm>
            <a:prstGeom prst="chevron">
              <a:avLst/>
            </a:prstGeom>
            <a:solidFill>
              <a:srgbClr val="DA8374"/>
            </a:solidFill>
            <a:ln>
              <a:noFill/>
            </a:ln>
          </p:spPr>
        </p:sp>
        <p:sp>
          <p:nvSpPr>
            <p:cNvPr id="125" name="TextBox 125"/>
            <p:cNvSpPr txBox="1"/>
            <p:nvPr/>
          </p:nvSpPr>
          <p:spPr>
            <a:xfrm>
              <a:off x="5850395" y="24895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识别</a:t>
              </a:r>
            </a:p>
          </p:txBody>
        </p:sp>
        <p:sp>
          <p:nvSpPr>
            <p:cNvPr id="126" name="TextBox 126"/>
            <p:cNvSpPr txBox="1"/>
            <p:nvPr/>
          </p:nvSpPr>
          <p:spPr>
            <a:xfrm>
              <a:off x="6907670" y="24895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准入</a:t>
              </a:r>
            </a:p>
          </p:txBody>
        </p:sp>
        <p:sp>
          <p:nvSpPr>
            <p:cNvPr id="127" name="TextBox 127"/>
            <p:cNvSpPr txBox="1"/>
            <p:nvPr/>
          </p:nvSpPr>
          <p:spPr>
            <a:xfrm>
              <a:off x="7964945" y="24895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激活</a:t>
              </a:r>
            </a:p>
          </p:txBody>
        </p:sp>
        <p:sp>
          <p:nvSpPr>
            <p:cNvPr id="128" name="TextBox 128"/>
            <p:cNvSpPr txBox="1"/>
            <p:nvPr/>
          </p:nvSpPr>
          <p:spPr>
            <a:xfrm>
              <a:off x="9022220" y="24895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成长</a:t>
              </a:r>
            </a:p>
          </p:txBody>
        </p:sp>
        <p:sp>
          <p:nvSpPr>
            <p:cNvPr id="129" name="TextBox 129"/>
            <p:cNvSpPr txBox="1"/>
            <p:nvPr/>
          </p:nvSpPr>
          <p:spPr>
            <a:xfrm>
              <a:off x="10079495" y="24895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提升</a:t>
              </a:r>
            </a:p>
          </p:txBody>
        </p:sp>
        <p:sp>
          <p:nvSpPr>
            <p:cNvPr id="130" name="TextBox 130"/>
            <p:cNvSpPr txBox="1"/>
            <p:nvPr/>
          </p:nvSpPr>
          <p:spPr>
            <a:xfrm>
              <a:off x="11136770" y="2489597"/>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挽留</a:t>
              </a:r>
            </a:p>
          </p:txBody>
        </p:sp>
      </p:grpSp>
      <p:grpSp>
        <p:nvGrpSpPr>
          <p:cNvPr id="158" name="tiers"/>
          <p:cNvGrpSpPr/>
          <p:nvPr/>
        </p:nvGrpSpPr>
        <p:grpSpPr>
          <a:xfrm>
            <a:off x="5772150" y="3009900"/>
            <a:ext cx="5715000" cy="1409700"/>
            <a:chOff x="5772150" y="3009900"/>
            <a:chExt cx="5715000" cy="1409700"/>
          </a:xfrm>
        </p:grpSpPr>
        <p:sp>
          <p:nvSpPr>
            <p:cNvPr id="132" name="Freeform 132"/>
            <p:cNvSpPr/>
            <p:nvPr/>
          </p:nvSpPr>
          <p:spPr>
            <a:xfrm>
              <a:off x="6629400" y="3009900"/>
              <a:ext cx="4000500" cy="323850"/>
            </a:xfrm>
            <a:prstGeom prst="trapezoid">
              <a:avLst/>
            </a:prstGeom>
            <a:solidFill>
              <a:srgbClr val="8E240C"/>
            </a:solidFill>
            <a:ln>
              <a:noFill/>
            </a:ln>
          </p:spPr>
        </p:sp>
        <p:sp>
          <p:nvSpPr>
            <p:cNvPr id="133" name="Freeform 133"/>
            <p:cNvSpPr/>
            <p:nvPr/>
          </p:nvSpPr>
          <p:spPr>
            <a:xfrm>
              <a:off x="6343650" y="3371850"/>
              <a:ext cx="4572000" cy="323850"/>
            </a:xfrm>
            <a:prstGeom prst="trapezoid">
              <a:avLst/>
            </a:prstGeom>
            <a:solidFill>
              <a:srgbClr val="A52D12"/>
            </a:solidFill>
            <a:ln>
              <a:noFill/>
            </a:ln>
          </p:spPr>
        </p:sp>
        <p:sp>
          <p:nvSpPr>
            <p:cNvPr id="134" name="Freeform 134"/>
            <p:cNvSpPr/>
            <p:nvPr/>
          </p:nvSpPr>
          <p:spPr>
            <a:xfrm>
              <a:off x="6057900" y="3733800"/>
              <a:ext cx="5143500" cy="323850"/>
            </a:xfrm>
            <a:prstGeom prst="trapezoid">
              <a:avLst/>
            </a:prstGeom>
            <a:solidFill>
              <a:srgbClr val="C0412B"/>
            </a:solidFill>
            <a:ln>
              <a:noFill/>
            </a:ln>
          </p:spPr>
        </p:sp>
        <p:sp>
          <p:nvSpPr>
            <p:cNvPr id="135" name="Freeform 135"/>
            <p:cNvSpPr/>
            <p:nvPr/>
          </p:nvSpPr>
          <p:spPr>
            <a:xfrm>
              <a:off x="5772150" y="4095750"/>
              <a:ext cx="5715000" cy="323850"/>
            </a:xfrm>
            <a:prstGeom prst="trapezoid">
              <a:avLst/>
            </a:prstGeom>
            <a:solidFill>
              <a:srgbClr val="E4AFA6"/>
            </a:solidFill>
            <a:ln>
              <a:noFill/>
            </a:ln>
          </p:spPr>
        </p:sp>
        <p:sp>
          <p:nvSpPr>
            <p:cNvPr id="136" name="Freeform 136"/>
            <p:cNvSpPr/>
            <p:nvPr/>
          </p:nvSpPr>
          <p:spPr>
            <a:xfrm>
              <a:off x="6934200" y="3124200"/>
              <a:ext cx="114300" cy="76200"/>
            </a:xfrm>
            <a:custGeom>
              <a:avLst/>
              <a:gdLst/>
              <a:ahLst/>
              <a:cxnLst/>
              <a:rect l="l" t="t" r="r" b="b"/>
              <a:pathLst>
                <a:path w="114300" h="76200">
                  <a:moveTo>
                    <a:pt x="57150" y="0"/>
                  </a:moveTo>
                  <a:lnTo>
                    <a:pt x="82550" y="38100"/>
                  </a:lnTo>
                  <a:lnTo>
                    <a:pt x="114300" y="12700"/>
                  </a:lnTo>
                  <a:lnTo>
                    <a:pt x="101600" y="76200"/>
                  </a:lnTo>
                  <a:lnTo>
                    <a:pt x="12700" y="76200"/>
                  </a:lnTo>
                  <a:lnTo>
                    <a:pt x="0" y="12700"/>
                  </a:lnTo>
                  <a:lnTo>
                    <a:pt x="31750" y="38100"/>
                  </a:lnTo>
                  <a:lnTo>
                    <a:pt x="57150" y="0"/>
                  </a:lnTo>
                </a:path>
              </a:pathLst>
            </a:custGeom>
            <a:noFill/>
            <a:ln w="12700">
              <a:solidFill>
                <a:srgbClr val="FFFFFF"/>
              </a:solidFill>
            </a:ln>
          </p:spPr>
        </p:sp>
        <p:sp>
          <p:nvSpPr>
            <p:cNvPr id="137" name="TextBox 137"/>
            <p:cNvSpPr txBox="1"/>
            <p:nvPr/>
          </p:nvSpPr>
          <p:spPr>
            <a:xfrm>
              <a:off x="7138988" y="3108722"/>
              <a:ext cx="262611"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战略</a:t>
              </a:r>
            </a:p>
          </p:txBody>
        </p:sp>
        <p:sp>
          <p:nvSpPr>
            <p:cNvPr id="138" name="TextBox 138"/>
            <p:cNvSpPr txBox="1"/>
            <p:nvPr/>
          </p:nvSpPr>
          <p:spPr>
            <a:xfrm>
              <a:off x="7862888" y="3060859"/>
              <a:ext cx="1565732" cy="133350"/>
            </a:xfrm>
            <a:prstGeom prst="rect">
              <a:avLst/>
            </a:prstGeom>
            <a:noFill/>
            <a:ln>
              <a:noFill/>
            </a:ln>
          </p:spPr>
          <p:txBody>
            <a:bodyPr wrap="none" lIns="0" tIns="0" rIns="0" bIns="0" anchor="t" anchorCtr="0">
              <a:spAutoFit/>
            </a:bodyPr>
            <a:lstStyle/>
            <a:p>
              <a:pPr algn="l"/>
              <a:r>
                <a:rPr lang="zh-CN" sz="680" dirty="0">
                  <a:solidFill>
                    <a:srgbClr val="FFFFFF"/>
                  </a:solidFill>
                  <a:latin typeface="+mn-lt"/>
                  <a:ea typeface="+mn-ea"/>
                  <a:cs typeface="+mn-cs"/>
                </a:rPr>
                <a:t>高价值、强关联、影响力大的核心客户</a:t>
              </a:r>
            </a:p>
          </p:txBody>
        </p:sp>
        <p:sp>
          <p:nvSpPr>
            <p:cNvPr id="139" name="TextBox 139"/>
            <p:cNvSpPr txBox="1"/>
            <p:nvPr/>
          </p:nvSpPr>
          <p:spPr>
            <a:xfrm>
              <a:off x="7862888" y="3194209"/>
              <a:ext cx="1300262" cy="133350"/>
            </a:xfrm>
            <a:prstGeom prst="rect">
              <a:avLst/>
            </a:prstGeom>
            <a:noFill/>
            <a:ln>
              <a:noFill/>
            </a:ln>
          </p:spPr>
          <p:txBody>
            <a:bodyPr wrap="none" lIns="0" tIns="0" rIns="0" bIns="0" anchor="t" anchorCtr="0">
              <a:spAutoFit/>
            </a:bodyPr>
            <a:lstStyle/>
            <a:p>
              <a:pPr algn="l"/>
              <a:r>
                <a:rPr lang="zh-CN" sz="680" dirty="0">
                  <a:solidFill>
                    <a:srgbClr val="FFFFFF"/>
                  </a:solidFill>
                  <a:latin typeface="+mn-lt"/>
                  <a:ea typeface="+mn-ea"/>
                  <a:cs typeface="+mn-cs"/>
                </a:rPr>
                <a:t>“一户一策”战略融合、深度经营</a:t>
              </a:r>
            </a:p>
          </p:txBody>
        </p:sp>
        <p:grpSp>
          <p:nvGrpSpPr>
            <p:cNvPr id="143" name="Group 143"/>
            <p:cNvGrpSpPr/>
            <p:nvPr/>
          </p:nvGrpSpPr>
          <p:grpSpPr>
            <a:xfrm>
              <a:off x="6670053" y="3467100"/>
              <a:ext cx="109182" cy="113602"/>
              <a:chOff x="6670053" y="3467100"/>
              <a:chExt cx="109182" cy="113602"/>
            </a:xfrm>
          </p:grpSpPr>
          <p:sp>
            <p:nvSpPr>
              <p:cNvPr id="140" name="Freeform 140"/>
              <p:cNvSpPr/>
              <p:nvPr/>
            </p:nvSpPr>
            <p:spPr>
              <a:xfrm>
                <a:off x="6686550" y="34671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FFFFFF"/>
                </a:solidFill>
              </a:ln>
            </p:spPr>
          </p:sp>
          <p:sp>
            <p:nvSpPr>
              <p:cNvPr id="141" name="Freeform 141"/>
              <p:cNvSpPr/>
              <p:nvPr/>
            </p:nvSpPr>
            <p:spPr>
              <a:xfrm>
                <a:off x="6724650" y="3524250"/>
                <a:ext cx="54585" cy="56452"/>
              </a:xfrm>
              <a:custGeom>
                <a:avLst/>
                <a:gdLst/>
                <a:ahLst/>
                <a:cxnLst/>
                <a:rect l="l" t="t" r="r" b="b"/>
                <a:pathLst>
                  <a:path w="54585" h="56452">
                    <a:moveTo>
                      <a:pt x="0" y="19050"/>
                    </a:moveTo>
                    <a:lnTo>
                      <a:pt x="21590" y="56452"/>
                    </a:lnTo>
                    <a:lnTo>
                      <a:pt x="31737" y="35922"/>
                    </a:lnTo>
                    <a:lnTo>
                      <a:pt x="54585" y="37395"/>
                    </a:lnTo>
                    <a:lnTo>
                      <a:pt x="32995" y="0"/>
                    </a:lnTo>
                  </a:path>
                </a:pathLst>
              </a:custGeom>
              <a:noFill/>
              <a:ln w="12700">
                <a:solidFill>
                  <a:srgbClr val="FFFFFF"/>
                </a:solidFill>
              </a:ln>
            </p:spPr>
          </p:sp>
          <p:sp>
            <p:nvSpPr>
              <p:cNvPr id="142" name="Freeform 142"/>
              <p:cNvSpPr/>
              <p:nvPr/>
            </p:nvSpPr>
            <p:spPr>
              <a:xfrm>
                <a:off x="6670053" y="3524250"/>
                <a:ext cx="54585" cy="56445"/>
              </a:xfrm>
              <a:custGeom>
                <a:avLst/>
                <a:gdLst/>
                <a:ahLst/>
                <a:cxnLst/>
                <a:rect l="l" t="t" r="r" b="b"/>
                <a:pathLst>
                  <a:path w="54585" h="56445">
                    <a:moveTo>
                      <a:pt x="21590" y="0"/>
                    </a:moveTo>
                    <a:lnTo>
                      <a:pt x="0" y="37402"/>
                    </a:lnTo>
                    <a:lnTo>
                      <a:pt x="22847" y="35922"/>
                    </a:lnTo>
                    <a:lnTo>
                      <a:pt x="32995" y="56445"/>
                    </a:lnTo>
                    <a:lnTo>
                      <a:pt x="54585" y="19050"/>
                    </a:lnTo>
                  </a:path>
                </a:pathLst>
              </a:custGeom>
              <a:noFill/>
              <a:ln w="12700">
                <a:solidFill>
                  <a:srgbClr val="FFFFFF"/>
                </a:solidFill>
              </a:ln>
            </p:spPr>
          </p:sp>
        </p:grpSp>
        <p:sp>
          <p:nvSpPr>
            <p:cNvPr id="144" name="TextBox 144"/>
            <p:cNvSpPr txBox="1"/>
            <p:nvPr/>
          </p:nvSpPr>
          <p:spPr>
            <a:xfrm>
              <a:off x="6872288" y="3470672"/>
              <a:ext cx="262611"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重点</a:t>
              </a:r>
            </a:p>
          </p:txBody>
        </p:sp>
        <p:sp>
          <p:nvSpPr>
            <p:cNvPr id="145" name="TextBox 145"/>
            <p:cNvSpPr txBox="1"/>
            <p:nvPr/>
          </p:nvSpPr>
          <p:spPr>
            <a:xfrm>
              <a:off x="7577138" y="3494961"/>
              <a:ext cx="2303450"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较高贡献度与成长潜力，强化关系维护，提升综合贡献</a:t>
              </a:r>
            </a:p>
          </p:txBody>
        </p:sp>
        <p:grpSp>
          <p:nvGrpSpPr>
            <p:cNvPr id="148" name="Group 148"/>
            <p:cNvGrpSpPr/>
            <p:nvPr/>
          </p:nvGrpSpPr>
          <p:grpSpPr>
            <a:xfrm>
              <a:off x="6381750" y="3854450"/>
              <a:ext cx="114300" cy="63500"/>
              <a:chOff x="6381750" y="3854450"/>
              <a:chExt cx="114300" cy="63500"/>
            </a:xfrm>
          </p:grpSpPr>
          <p:sp>
            <p:nvSpPr>
              <p:cNvPr id="146" name="Freeform 146"/>
              <p:cNvSpPr/>
              <p:nvPr/>
            </p:nvSpPr>
            <p:spPr>
              <a:xfrm>
                <a:off x="6381750" y="38544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FFFFFF"/>
                </a:solidFill>
              </a:ln>
            </p:spPr>
          </p:sp>
          <p:sp>
            <p:nvSpPr>
              <p:cNvPr id="147" name="Freeform 147"/>
              <p:cNvSpPr/>
              <p:nvPr/>
            </p:nvSpPr>
            <p:spPr>
              <a:xfrm>
                <a:off x="6451600" y="3854450"/>
                <a:ext cx="44450" cy="44450"/>
              </a:xfrm>
              <a:custGeom>
                <a:avLst/>
                <a:gdLst/>
                <a:ahLst/>
                <a:cxnLst/>
                <a:rect l="l" t="t" r="r" b="b"/>
                <a:pathLst>
                  <a:path w="44450" h="44450">
                    <a:moveTo>
                      <a:pt x="0" y="0"/>
                    </a:moveTo>
                    <a:lnTo>
                      <a:pt x="44450" y="0"/>
                    </a:lnTo>
                    <a:lnTo>
                      <a:pt x="44450" y="44450"/>
                    </a:lnTo>
                  </a:path>
                </a:pathLst>
              </a:custGeom>
              <a:noFill/>
              <a:ln w="12700">
                <a:solidFill>
                  <a:srgbClr val="FFFFFF"/>
                </a:solidFill>
              </a:ln>
            </p:spPr>
          </p:sp>
        </p:grpSp>
        <p:sp>
          <p:nvSpPr>
            <p:cNvPr id="149" name="TextBox 149"/>
            <p:cNvSpPr txBox="1"/>
            <p:nvPr/>
          </p:nvSpPr>
          <p:spPr>
            <a:xfrm>
              <a:off x="6586538" y="3832622"/>
              <a:ext cx="262611"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成长</a:t>
              </a:r>
            </a:p>
          </p:txBody>
        </p:sp>
        <p:sp>
          <p:nvSpPr>
            <p:cNvPr id="150" name="TextBox 150"/>
            <p:cNvSpPr txBox="1"/>
            <p:nvPr/>
          </p:nvSpPr>
          <p:spPr>
            <a:xfrm>
              <a:off x="7291388" y="3856911"/>
              <a:ext cx="2399030" cy="140494"/>
            </a:xfrm>
            <a:prstGeom prst="rect">
              <a:avLst/>
            </a:prstGeom>
            <a:noFill/>
            <a:ln>
              <a:noFill/>
            </a:ln>
          </p:spPr>
          <p:txBody>
            <a:bodyPr wrap="none" lIns="0" tIns="0" rIns="0" bIns="0" anchor="t" anchorCtr="0">
              <a:spAutoFit/>
            </a:bodyPr>
            <a:lstStyle/>
            <a:p>
              <a:pPr algn="l"/>
              <a:r>
                <a:rPr lang="zh-CN" sz="710" dirty="0">
                  <a:solidFill>
                    <a:srgbClr val="FFFFFF"/>
                  </a:solidFill>
                  <a:latin typeface="+mn-lt"/>
                  <a:ea typeface="+mn-ea"/>
                  <a:cs typeface="+mn-cs"/>
                </a:rPr>
                <a:t>具成长潜力的优质客户，适配产品与服务，促进价值提升</a:t>
              </a:r>
            </a:p>
          </p:txBody>
        </p:sp>
        <p:grpSp>
          <p:nvGrpSpPr>
            <p:cNvPr id="155" name="Group 155"/>
            <p:cNvGrpSpPr/>
            <p:nvPr/>
          </p:nvGrpSpPr>
          <p:grpSpPr>
            <a:xfrm>
              <a:off x="6096000" y="4191000"/>
              <a:ext cx="114300" cy="114301"/>
              <a:chOff x="6096000" y="4191000"/>
              <a:chExt cx="114300" cy="114301"/>
            </a:xfrm>
          </p:grpSpPr>
          <p:sp>
            <p:nvSpPr>
              <p:cNvPr id="151" name="Freeform 151"/>
              <p:cNvSpPr/>
              <p:nvPr/>
            </p:nvSpPr>
            <p:spPr>
              <a:xfrm>
                <a:off x="6108700" y="41910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52" name="Freeform 152"/>
              <p:cNvSpPr/>
              <p:nvPr/>
            </p:nvSpPr>
            <p:spPr>
              <a:xfrm>
                <a:off x="6096000" y="42672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153" name="Freeform 153"/>
              <p:cNvSpPr/>
              <p:nvPr/>
            </p:nvSpPr>
            <p:spPr>
              <a:xfrm>
                <a:off x="6178550" y="41918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154" name="Freeform 154"/>
              <p:cNvSpPr/>
              <p:nvPr/>
            </p:nvSpPr>
            <p:spPr>
              <a:xfrm>
                <a:off x="6191250" y="42681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156" name="TextBox 156"/>
            <p:cNvSpPr txBox="1"/>
            <p:nvPr/>
          </p:nvSpPr>
          <p:spPr>
            <a:xfrm>
              <a:off x="6300788" y="4194572"/>
              <a:ext cx="262611"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基础</a:t>
              </a:r>
            </a:p>
          </p:txBody>
        </p:sp>
        <p:sp>
          <p:nvSpPr>
            <p:cNvPr id="157" name="TextBox 157"/>
            <p:cNvSpPr txBox="1"/>
            <p:nvPr/>
          </p:nvSpPr>
          <p:spPr>
            <a:xfrm>
              <a:off x="7005638" y="4218861"/>
              <a:ext cx="2685771" cy="140494"/>
            </a:xfrm>
            <a:prstGeom prst="rect">
              <a:avLst/>
            </a:prstGeom>
            <a:noFill/>
            <a:ln>
              <a:noFill/>
            </a:ln>
          </p:spPr>
          <p:txBody>
            <a:bodyPr wrap="none" lIns="0" tIns="0" rIns="0" bIns="0" anchor="t" anchorCtr="0">
              <a:spAutoFit/>
            </a:bodyPr>
            <a:lstStyle/>
            <a:p>
              <a:pPr algn="l"/>
              <a:r>
                <a:rPr lang="zh-CN" sz="710" dirty="0">
                  <a:solidFill>
                    <a:srgbClr val="7A4036"/>
                  </a:solidFill>
                  <a:latin typeface="+mn-lt"/>
                  <a:ea typeface="+mn-ea"/>
                  <a:cs typeface="+mn-cs"/>
                </a:rPr>
                <a:t>规模基础客户，标准化服务覆盖，提升体验与活跃度，培育转化</a:t>
              </a:r>
            </a:p>
          </p:txBody>
        </p:sp>
      </p:grpSp>
      <p:grpSp>
        <p:nvGrpSpPr>
          <p:cNvPr id="200" name="scenes4"/>
          <p:cNvGrpSpPr/>
          <p:nvPr/>
        </p:nvGrpSpPr>
        <p:grpSpPr>
          <a:xfrm>
            <a:off x="5467350" y="4553902"/>
            <a:ext cx="6229350" cy="989648"/>
            <a:chOff x="5467350" y="4553902"/>
            <a:chExt cx="6229350" cy="989648"/>
          </a:xfrm>
        </p:grpSpPr>
        <p:sp>
          <p:nvSpPr>
            <p:cNvPr id="159" name="Rectangle 159"/>
            <p:cNvSpPr/>
            <p:nvPr/>
          </p:nvSpPr>
          <p:spPr>
            <a:xfrm>
              <a:off x="5467350" y="4591050"/>
              <a:ext cx="76200" cy="76200"/>
            </a:xfrm>
            <a:prstGeom prst="rect">
              <a:avLst/>
            </a:prstGeom>
            <a:solidFill>
              <a:srgbClr val="A52D12"/>
            </a:solidFill>
            <a:ln>
              <a:noFill/>
            </a:ln>
          </p:spPr>
        </p:sp>
        <p:sp>
          <p:nvSpPr>
            <p:cNvPr id="160" name="TextBox 160"/>
            <p:cNvSpPr txBox="1"/>
            <p:nvPr/>
          </p:nvSpPr>
          <p:spPr>
            <a:xfrm>
              <a:off x="5614416" y="4553902"/>
              <a:ext cx="858774"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四类场景生态</a:t>
              </a:r>
            </a:p>
          </p:txBody>
        </p:sp>
        <p:sp>
          <p:nvSpPr>
            <p:cNvPr id="161" name="Rectangle 161"/>
            <p:cNvSpPr/>
            <p:nvPr/>
          </p:nvSpPr>
          <p:spPr>
            <a:xfrm>
              <a:off x="5467350" y="4762500"/>
              <a:ext cx="1485900" cy="781050"/>
            </a:xfrm>
            <a:prstGeom prst="roundRect">
              <a:avLst>
                <a:gd name="adj" fmla="val 9756"/>
              </a:avLst>
            </a:prstGeom>
            <a:solidFill>
              <a:srgbClr val="FFFFFF"/>
            </a:solidFill>
            <a:ln w="9525">
              <a:solidFill>
                <a:srgbClr val="EDD5D2"/>
              </a:solidFill>
            </a:ln>
          </p:spPr>
        </p:sp>
        <p:grpSp>
          <p:nvGrpSpPr>
            <p:cNvPr id="170" name="Group 170"/>
            <p:cNvGrpSpPr/>
            <p:nvPr/>
          </p:nvGrpSpPr>
          <p:grpSpPr>
            <a:xfrm>
              <a:off x="6119812" y="4862512"/>
              <a:ext cx="144463" cy="152400"/>
              <a:chOff x="6119812" y="4862512"/>
              <a:chExt cx="144463" cy="152400"/>
            </a:xfrm>
          </p:grpSpPr>
          <p:sp>
            <p:nvSpPr>
              <p:cNvPr id="162" name="Freeform 162"/>
              <p:cNvSpPr/>
              <p:nvPr/>
            </p:nvSpPr>
            <p:spPr>
              <a:xfrm>
                <a:off x="6119812" y="5005387"/>
                <a:ext cx="142875" cy="9525"/>
              </a:xfrm>
              <a:custGeom>
                <a:avLst/>
                <a:gdLst/>
                <a:ahLst/>
                <a:cxnLst/>
                <a:rect l="l" t="t" r="r" b="b"/>
                <a:pathLst>
                  <a:path w="142875" h="9525">
                    <a:moveTo>
                      <a:pt x="0" y="0"/>
                    </a:moveTo>
                    <a:lnTo>
                      <a:pt x="142875" y="0"/>
                    </a:lnTo>
                  </a:path>
                </a:pathLst>
              </a:custGeom>
              <a:noFill/>
              <a:ln w="15875">
                <a:solidFill>
                  <a:srgbClr val="A52D12"/>
                </a:solidFill>
              </a:ln>
            </p:spPr>
          </p:sp>
          <p:sp>
            <p:nvSpPr>
              <p:cNvPr id="163" name="Freeform 163"/>
              <p:cNvSpPr/>
              <p:nvPr/>
            </p:nvSpPr>
            <p:spPr>
              <a:xfrm>
                <a:off x="6119812" y="4918075"/>
                <a:ext cx="142875" cy="9525"/>
              </a:xfrm>
              <a:custGeom>
                <a:avLst/>
                <a:gdLst/>
                <a:ahLst/>
                <a:cxnLst/>
                <a:rect l="l" t="t" r="r" b="b"/>
                <a:pathLst>
                  <a:path w="142875" h="9525">
                    <a:moveTo>
                      <a:pt x="0" y="0"/>
                    </a:moveTo>
                    <a:lnTo>
                      <a:pt x="142875" y="0"/>
                    </a:lnTo>
                  </a:path>
                </a:pathLst>
              </a:custGeom>
              <a:noFill/>
              <a:ln w="15875">
                <a:solidFill>
                  <a:srgbClr val="A52D12"/>
                </a:solidFill>
              </a:ln>
            </p:spPr>
          </p:sp>
          <p:sp>
            <p:nvSpPr>
              <p:cNvPr id="164" name="Freeform 164"/>
              <p:cNvSpPr/>
              <p:nvPr/>
            </p:nvSpPr>
            <p:spPr>
              <a:xfrm>
                <a:off x="6135687" y="4862512"/>
                <a:ext cx="111125" cy="23812"/>
              </a:xfrm>
              <a:custGeom>
                <a:avLst/>
                <a:gdLst/>
                <a:ahLst/>
                <a:cxnLst/>
                <a:rect l="l" t="t" r="r" b="b"/>
                <a:pathLst>
                  <a:path w="111125" h="23812">
                    <a:moveTo>
                      <a:pt x="0" y="23812"/>
                    </a:moveTo>
                    <a:lnTo>
                      <a:pt x="55562" y="0"/>
                    </a:lnTo>
                    <a:lnTo>
                      <a:pt x="111125" y="23812"/>
                    </a:lnTo>
                  </a:path>
                </a:pathLst>
              </a:custGeom>
              <a:noFill/>
              <a:ln w="15875">
                <a:solidFill>
                  <a:srgbClr val="A52D12"/>
                </a:solidFill>
              </a:ln>
            </p:spPr>
          </p:sp>
          <p:sp>
            <p:nvSpPr>
              <p:cNvPr id="165" name="Freeform 165"/>
              <p:cNvSpPr/>
              <p:nvPr/>
            </p:nvSpPr>
            <p:spPr>
              <a:xfrm>
                <a:off x="6127750" y="4918075"/>
                <a:ext cx="9525" cy="87312"/>
              </a:xfrm>
              <a:custGeom>
                <a:avLst/>
                <a:gdLst/>
                <a:ahLst/>
                <a:cxnLst/>
                <a:rect l="l" t="t" r="r" b="b"/>
                <a:pathLst>
                  <a:path w="9525" h="87312">
                    <a:moveTo>
                      <a:pt x="0" y="0"/>
                    </a:moveTo>
                    <a:lnTo>
                      <a:pt x="0" y="87312"/>
                    </a:lnTo>
                  </a:path>
                </a:pathLst>
              </a:custGeom>
              <a:noFill/>
              <a:ln w="15875">
                <a:solidFill>
                  <a:srgbClr val="A52D12"/>
                </a:solidFill>
              </a:ln>
            </p:spPr>
          </p:sp>
          <p:sp>
            <p:nvSpPr>
              <p:cNvPr id="166" name="Freeform 166"/>
              <p:cNvSpPr/>
              <p:nvPr/>
            </p:nvSpPr>
            <p:spPr>
              <a:xfrm>
                <a:off x="6254750" y="4918075"/>
                <a:ext cx="9525" cy="87312"/>
              </a:xfrm>
              <a:custGeom>
                <a:avLst/>
                <a:gdLst/>
                <a:ahLst/>
                <a:cxnLst/>
                <a:rect l="l" t="t" r="r" b="b"/>
                <a:pathLst>
                  <a:path w="9525" h="87312">
                    <a:moveTo>
                      <a:pt x="0" y="0"/>
                    </a:moveTo>
                    <a:lnTo>
                      <a:pt x="0" y="87312"/>
                    </a:lnTo>
                  </a:path>
                </a:pathLst>
              </a:custGeom>
              <a:noFill/>
              <a:ln w="15875">
                <a:solidFill>
                  <a:srgbClr val="A52D12"/>
                </a:solidFill>
              </a:ln>
            </p:spPr>
          </p:sp>
          <p:sp>
            <p:nvSpPr>
              <p:cNvPr id="167" name="Freeform 167"/>
              <p:cNvSpPr/>
              <p:nvPr/>
            </p:nvSpPr>
            <p:spPr>
              <a:xfrm>
                <a:off x="6159500" y="4949825"/>
                <a:ext cx="9525" cy="23812"/>
              </a:xfrm>
              <a:custGeom>
                <a:avLst/>
                <a:gdLst/>
                <a:ahLst/>
                <a:cxnLst/>
                <a:rect l="l" t="t" r="r" b="b"/>
                <a:pathLst>
                  <a:path w="9525" h="23812">
                    <a:moveTo>
                      <a:pt x="0" y="0"/>
                    </a:moveTo>
                    <a:lnTo>
                      <a:pt x="0" y="23812"/>
                    </a:lnTo>
                  </a:path>
                </a:pathLst>
              </a:custGeom>
              <a:noFill/>
              <a:ln w="15875">
                <a:solidFill>
                  <a:srgbClr val="A52D12"/>
                </a:solidFill>
              </a:ln>
            </p:spPr>
          </p:sp>
          <p:sp>
            <p:nvSpPr>
              <p:cNvPr id="168" name="Freeform 168"/>
              <p:cNvSpPr/>
              <p:nvPr/>
            </p:nvSpPr>
            <p:spPr>
              <a:xfrm>
                <a:off x="6191250" y="4949825"/>
                <a:ext cx="9525" cy="23812"/>
              </a:xfrm>
              <a:custGeom>
                <a:avLst/>
                <a:gdLst/>
                <a:ahLst/>
                <a:cxnLst/>
                <a:rect l="l" t="t" r="r" b="b"/>
                <a:pathLst>
                  <a:path w="9525" h="23812">
                    <a:moveTo>
                      <a:pt x="0" y="0"/>
                    </a:moveTo>
                    <a:lnTo>
                      <a:pt x="0" y="23812"/>
                    </a:lnTo>
                  </a:path>
                </a:pathLst>
              </a:custGeom>
              <a:noFill/>
              <a:ln w="15875">
                <a:solidFill>
                  <a:srgbClr val="A52D12"/>
                </a:solidFill>
              </a:ln>
            </p:spPr>
          </p:sp>
          <p:sp>
            <p:nvSpPr>
              <p:cNvPr id="169" name="Freeform 169"/>
              <p:cNvSpPr/>
              <p:nvPr/>
            </p:nvSpPr>
            <p:spPr>
              <a:xfrm>
                <a:off x="6223000" y="4949825"/>
                <a:ext cx="9525" cy="23812"/>
              </a:xfrm>
              <a:custGeom>
                <a:avLst/>
                <a:gdLst/>
                <a:ahLst/>
                <a:cxnLst/>
                <a:rect l="l" t="t" r="r" b="b"/>
                <a:pathLst>
                  <a:path w="9525" h="23812">
                    <a:moveTo>
                      <a:pt x="0" y="0"/>
                    </a:moveTo>
                    <a:lnTo>
                      <a:pt x="0" y="23812"/>
                    </a:lnTo>
                  </a:path>
                </a:pathLst>
              </a:custGeom>
              <a:noFill/>
              <a:ln w="15875">
                <a:solidFill>
                  <a:srgbClr val="A52D12"/>
                </a:solidFill>
              </a:ln>
            </p:spPr>
          </p:sp>
        </p:grpSp>
        <p:sp>
          <p:nvSpPr>
            <p:cNvPr id="171" name="TextBox 171"/>
            <p:cNvSpPr txBox="1"/>
            <p:nvPr/>
          </p:nvSpPr>
          <p:spPr>
            <a:xfrm>
              <a:off x="5963221" y="5065395"/>
              <a:ext cx="494157" cy="176212"/>
            </a:xfrm>
            <a:prstGeom prst="rect">
              <a:avLst/>
            </a:prstGeom>
            <a:noFill/>
            <a:ln>
              <a:noFill/>
            </a:ln>
          </p:spPr>
          <p:txBody>
            <a:bodyPr wrap="none" lIns="0" tIns="0" rIns="0" bIns="0" anchor="t" anchorCtr="0">
              <a:spAutoFit/>
            </a:bodyPr>
            <a:lstStyle/>
            <a:p>
              <a:pPr algn="ctr"/>
              <a:r>
                <a:rPr lang="zh-CN" sz="900" b="1" dirty="0">
                  <a:solidFill>
                    <a:srgbClr val="A52D12"/>
                  </a:solidFill>
                  <a:latin typeface="+mn-lt"/>
                  <a:ea typeface="+mn-ea"/>
                  <a:cs typeface="+mn-cs"/>
                </a:rPr>
                <a:t>政务民生</a:t>
              </a:r>
            </a:p>
          </p:txBody>
        </p:sp>
        <p:sp>
          <p:nvSpPr>
            <p:cNvPr id="172" name="TextBox 172"/>
            <p:cNvSpPr txBox="1"/>
            <p:nvPr/>
          </p:nvSpPr>
          <p:spPr>
            <a:xfrm>
              <a:off x="5793600" y="5242084"/>
              <a:ext cx="833399"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政务服务、社保缴费</a:t>
              </a:r>
            </a:p>
          </p:txBody>
        </p:sp>
        <p:sp>
          <p:nvSpPr>
            <p:cNvPr id="173" name="TextBox 173"/>
            <p:cNvSpPr txBox="1"/>
            <p:nvPr/>
          </p:nvSpPr>
          <p:spPr>
            <a:xfrm>
              <a:off x="5793600" y="5365909"/>
              <a:ext cx="833399"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便民惠民、公共服务</a:t>
              </a:r>
            </a:p>
          </p:txBody>
        </p:sp>
        <p:sp>
          <p:nvSpPr>
            <p:cNvPr id="174" name="Rectangle 174"/>
            <p:cNvSpPr/>
            <p:nvPr/>
          </p:nvSpPr>
          <p:spPr>
            <a:xfrm>
              <a:off x="7048500" y="4762500"/>
              <a:ext cx="1485900" cy="781050"/>
            </a:xfrm>
            <a:prstGeom prst="roundRect">
              <a:avLst>
                <a:gd name="adj" fmla="val 9756"/>
              </a:avLst>
            </a:prstGeom>
            <a:solidFill>
              <a:srgbClr val="FFFFFF"/>
            </a:solidFill>
            <a:ln w="9525">
              <a:solidFill>
                <a:srgbClr val="EDD5D2"/>
              </a:solidFill>
            </a:ln>
          </p:spPr>
        </p:sp>
        <p:grpSp>
          <p:nvGrpSpPr>
            <p:cNvPr id="179" name="Group 179"/>
            <p:cNvGrpSpPr/>
            <p:nvPr/>
          </p:nvGrpSpPr>
          <p:grpSpPr>
            <a:xfrm>
              <a:off x="7700962" y="4862512"/>
              <a:ext cx="142875" cy="134937"/>
              <a:chOff x="7700962" y="4862512"/>
              <a:chExt cx="142875" cy="134937"/>
            </a:xfrm>
          </p:grpSpPr>
          <p:sp>
            <p:nvSpPr>
              <p:cNvPr id="175" name="Freeform 175"/>
              <p:cNvSpPr/>
              <p:nvPr/>
            </p:nvSpPr>
            <p:spPr>
              <a:xfrm>
                <a:off x="7700962" y="4894262"/>
                <a:ext cx="142875" cy="103187"/>
              </a:xfrm>
              <a:custGeom>
                <a:avLst/>
                <a:gdLst/>
                <a:ahLst/>
                <a:cxnLst/>
                <a:rect l="l" t="t" r="r" b="b"/>
                <a:pathLst>
                  <a:path w="142875" h="103187">
                    <a:moveTo>
                      <a:pt x="0" y="15875"/>
                    </a:moveTo>
                    <a:cubicBezTo>
                      <a:pt x="0" y="7107"/>
                      <a:pt x="7107" y="0"/>
                      <a:pt x="15875" y="0"/>
                    </a:cubicBezTo>
                    <a:lnTo>
                      <a:pt x="127000" y="0"/>
                    </a:lnTo>
                    <a:cubicBezTo>
                      <a:pt x="135767" y="0"/>
                      <a:pt x="142875" y="7107"/>
                      <a:pt x="142875" y="15875"/>
                    </a:cubicBezTo>
                    <a:lnTo>
                      <a:pt x="142875" y="87312"/>
                    </a:lnTo>
                    <a:cubicBezTo>
                      <a:pt x="142875" y="96080"/>
                      <a:pt x="135767" y="103187"/>
                      <a:pt x="127000" y="103187"/>
                    </a:cubicBezTo>
                    <a:lnTo>
                      <a:pt x="15875" y="103187"/>
                    </a:lnTo>
                    <a:cubicBezTo>
                      <a:pt x="7107" y="103187"/>
                      <a:pt x="0" y="96080"/>
                      <a:pt x="0" y="87312"/>
                    </a:cubicBezTo>
                    <a:lnTo>
                      <a:pt x="0" y="15875"/>
                    </a:lnTo>
                  </a:path>
                </a:pathLst>
              </a:custGeom>
              <a:noFill/>
              <a:ln w="15875">
                <a:solidFill>
                  <a:srgbClr val="A52D12"/>
                </a:solidFill>
              </a:ln>
            </p:spPr>
          </p:sp>
          <p:sp>
            <p:nvSpPr>
              <p:cNvPr id="176" name="Freeform 176"/>
              <p:cNvSpPr/>
              <p:nvPr/>
            </p:nvSpPr>
            <p:spPr>
              <a:xfrm>
                <a:off x="7740650" y="4862512"/>
                <a:ext cx="63500" cy="31750"/>
              </a:xfrm>
              <a:custGeom>
                <a:avLst/>
                <a:gdLst/>
                <a:ahLst/>
                <a:cxnLst/>
                <a:rect l="l" t="t" r="r" b="b"/>
                <a:pathLst>
                  <a:path w="63500" h="31750">
                    <a:moveTo>
                      <a:pt x="0" y="31750"/>
                    </a:moveTo>
                    <a:lnTo>
                      <a:pt x="0" y="15875"/>
                    </a:lnTo>
                    <a:cubicBezTo>
                      <a:pt x="0" y="7107"/>
                      <a:pt x="7107" y="0"/>
                      <a:pt x="15875" y="0"/>
                    </a:cubicBezTo>
                    <a:lnTo>
                      <a:pt x="47625" y="0"/>
                    </a:lnTo>
                    <a:cubicBezTo>
                      <a:pt x="56392" y="0"/>
                      <a:pt x="63500" y="7107"/>
                      <a:pt x="63500" y="15875"/>
                    </a:cubicBezTo>
                    <a:lnTo>
                      <a:pt x="63500" y="31750"/>
                    </a:lnTo>
                  </a:path>
                </a:pathLst>
              </a:custGeom>
              <a:noFill/>
              <a:ln w="15875">
                <a:solidFill>
                  <a:srgbClr val="A52D12"/>
                </a:solidFill>
              </a:ln>
            </p:spPr>
          </p:sp>
          <p:sp>
            <p:nvSpPr>
              <p:cNvPr id="177" name="Freeform 177"/>
              <p:cNvSpPr/>
              <p:nvPr/>
            </p:nvSpPr>
            <p:spPr>
              <a:xfrm>
                <a:off x="7772400" y="4933950"/>
                <a:ext cx="9525" cy="9525"/>
              </a:xfrm>
              <a:custGeom>
                <a:avLst/>
                <a:gdLst/>
                <a:ahLst/>
                <a:cxnLst/>
                <a:rect l="l" t="t" r="r" b="b"/>
                <a:pathLst>
                  <a:path w="9525" h="9525">
                    <a:moveTo>
                      <a:pt x="0" y="0"/>
                    </a:moveTo>
                    <a:lnTo>
                      <a:pt x="0" y="79"/>
                    </a:lnTo>
                  </a:path>
                </a:pathLst>
              </a:custGeom>
              <a:noFill/>
              <a:ln w="15875">
                <a:solidFill>
                  <a:srgbClr val="A52D12"/>
                </a:solidFill>
              </a:ln>
            </p:spPr>
          </p:sp>
          <p:sp>
            <p:nvSpPr>
              <p:cNvPr id="178" name="Freeform 178"/>
              <p:cNvSpPr/>
              <p:nvPr/>
            </p:nvSpPr>
            <p:spPr>
              <a:xfrm>
                <a:off x="7700962" y="4941887"/>
                <a:ext cx="142875" cy="22642"/>
              </a:xfrm>
              <a:custGeom>
                <a:avLst/>
                <a:gdLst/>
                <a:ahLst/>
                <a:cxnLst/>
                <a:rect l="l" t="t" r="r" b="b"/>
                <a:pathLst>
                  <a:path w="142875" h="22642">
                    <a:moveTo>
                      <a:pt x="0" y="0"/>
                    </a:moveTo>
                    <a:cubicBezTo>
                      <a:pt x="44934" y="22642"/>
                      <a:pt x="97941" y="22642"/>
                      <a:pt x="142875" y="0"/>
                    </a:cubicBezTo>
                  </a:path>
                </a:pathLst>
              </a:custGeom>
              <a:noFill/>
              <a:ln w="15875">
                <a:solidFill>
                  <a:srgbClr val="A52D12"/>
                </a:solidFill>
              </a:ln>
            </p:spPr>
          </p:sp>
        </p:grpSp>
        <p:sp>
          <p:nvSpPr>
            <p:cNvPr id="180" name="TextBox 180"/>
            <p:cNvSpPr txBox="1"/>
            <p:nvPr/>
          </p:nvSpPr>
          <p:spPr>
            <a:xfrm>
              <a:off x="7544371" y="5065395"/>
              <a:ext cx="494157" cy="176212"/>
            </a:xfrm>
            <a:prstGeom prst="rect">
              <a:avLst/>
            </a:prstGeom>
            <a:noFill/>
            <a:ln>
              <a:noFill/>
            </a:ln>
          </p:spPr>
          <p:txBody>
            <a:bodyPr wrap="none" lIns="0" tIns="0" rIns="0" bIns="0" anchor="t" anchorCtr="0">
              <a:spAutoFit/>
            </a:bodyPr>
            <a:lstStyle/>
            <a:p>
              <a:pPr algn="ctr"/>
              <a:r>
                <a:rPr lang="zh-CN" sz="900" b="1" dirty="0">
                  <a:solidFill>
                    <a:srgbClr val="A52D12"/>
                  </a:solidFill>
                  <a:latin typeface="+mn-lt"/>
                  <a:ea typeface="+mn-ea"/>
                  <a:cs typeface="+mn-cs"/>
                </a:rPr>
                <a:t>园区产业</a:t>
              </a:r>
            </a:p>
          </p:txBody>
        </p:sp>
        <p:sp>
          <p:nvSpPr>
            <p:cNvPr id="181" name="TextBox 181"/>
            <p:cNvSpPr txBox="1"/>
            <p:nvPr/>
          </p:nvSpPr>
          <p:spPr>
            <a:xfrm>
              <a:off x="7374750" y="5242084"/>
              <a:ext cx="833399"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园区招商、企业服务</a:t>
              </a:r>
            </a:p>
          </p:txBody>
        </p:sp>
        <p:sp>
          <p:nvSpPr>
            <p:cNvPr id="182" name="TextBox 182"/>
            <p:cNvSpPr txBox="1"/>
            <p:nvPr/>
          </p:nvSpPr>
          <p:spPr>
            <a:xfrm>
              <a:off x="7374750" y="5365909"/>
              <a:ext cx="833399"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产业金融、配套支持</a:t>
              </a:r>
            </a:p>
          </p:txBody>
        </p:sp>
        <p:sp>
          <p:nvSpPr>
            <p:cNvPr id="183" name="Rectangle 183"/>
            <p:cNvSpPr/>
            <p:nvPr/>
          </p:nvSpPr>
          <p:spPr>
            <a:xfrm>
              <a:off x="8629650" y="4762500"/>
              <a:ext cx="1485900" cy="781050"/>
            </a:xfrm>
            <a:prstGeom prst="roundRect">
              <a:avLst>
                <a:gd name="adj" fmla="val 9756"/>
              </a:avLst>
            </a:prstGeom>
            <a:solidFill>
              <a:srgbClr val="FFFFFF"/>
            </a:solidFill>
            <a:ln w="9525">
              <a:solidFill>
                <a:srgbClr val="EDD5D2"/>
              </a:solidFill>
            </a:ln>
          </p:spPr>
        </p:sp>
        <p:grpSp>
          <p:nvGrpSpPr>
            <p:cNvPr id="187" name="Group 187"/>
            <p:cNvGrpSpPr/>
            <p:nvPr/>
          </p:nvGrpSpPr>
          <p:grpSpPr>
            <a:xfrm>
              <a:off x="9290049" y="4866572"/>
              <a:ext cx="130867" cy="134739"/>
              <a:chOff x="9290049" y="4866572"/>
              <a:chExt cx="130867" cy="134739"/>
            </a:xfrm>
          </p:grpSpPr>
          <p:sp>
            <p:nvSpPr>
              <p:cNvPr id="184" name="Freeform 184"/>
              <p:cNvSpPr/>
              <p:nvPr/>
            </p:nvSpPr>
            <p:spPr>
              <a:xfrm>
                <a:off x="9329737" y="4910137"/>
                <a:ext cx="47625" cy="47625"/>
              </a:xfrm>
              <a:custGeom>
                <a:avLst/>
                <a:gdLst/>
                <a:ahLst/>
                <a:cxnLst/>
                <a:rect l="l" t="t" r="r" b="b"/>
                <a:pathLst>
                  <a:path w="47625" h="47625">
                    <a:moveTo>
                      <a:pt x="0" y="47625"/>
                    </a:moveTo>
                    <a:lnTo>
                      <a:pt x="47625" y="0"/>
                    </a:lnTo>
                  </a:path>
                </a:pathLst>
              </a:custGeom>
              <a:noFill/>
              <a:ln w="15875">
                <a:solidFill>
                  <a:srgbClr val="A52D12"/>
                </a:solidFill>
              </a:ln>
            </p:spPr>
          </p:sp>
          <p:sp>
            <p:nvSpPr>
              <p:cNvPr id="185" name="Freeform 185"/>
              <p:cNvSpPr/>
              <p:nvPr/>
            </p:nvSpPr>
            <p:spPr>
              <a:xfrm>
                <a:off x="9345612" y="4866572"/>
                <a:ext cx="75304" cy="75316"/>
              </a:xfrm>
              <a:custGeom>
                <a:avLst/>
                <a:gdLst/>
                <a:ahLst/>
                <a:cxnLst/>
                <a:rect l="l" t="t" r="r" b="b"/>
                <a:pathLst>
                  <a:path w="75304" h="75316">
                    <a:moveTo>
                      <a:pt x="0" y="19753"/>
                    </a:moveTo>
                    <a:lnTo>
                      <a:pt x="3675" y="15499"/>
                    </a:lnTo>
                    <a:cubicBezTo>
                      <a:pt x="19176" y="0"/>
                      <a:pt x="44306" y="2"/>
                      <a:pt x="59805" y="15503"/>
                    </a:cubicBezTo>
                    <a:cubicBezTo>
                      <a:pt x="75304" y="31004"/>
                      <a:pt x="75302" y="56134"/>
                      <a:pt x="59801" y="71633"/>
                    </a:cubicBezTo>
                    <a:lnTo>
                      <a:pt x="55562" y="75316"/>
                    </a:lnTo>
                  </a:path>
                </a:pathLst>
              </a:custGeom>
              <a:noFill/>
              <a:ln w="15875">
                <a:solidFill>
                  <a:srgbClr val="A52D12"/>
                </a:solidFill>
              </a:ln>
            </p:spPr>
          </p:sp>
          <p:sp>
            <p:nvSpPr>
              <p:cNvPr id="186" name="Freeform 186"/>
              <p:cNvSpPr/>
              <p:nvPr/>
            </p:nvSpPr>
            <p:spPr>
              <a:xfrm>
                <a:off x="9290049" y="4926012"/>
                <a:ext cx="71439" cy="75299"/>
              </a:xfrm>
              <a:custGeom>
                <a:avLst/>
                <a:gdLst/>
                <a:ahLst/>
                <a:cxnLst/>
                <a:rect l="l" t="t" r="r" b="b"/>
                <a:pathLst>
                  <a:path w="71439" h="75299">
                    <a:moveTo>
                      <a:pt x="71439" y="55562"/>
                    </a:moveTo>
                    <a:lnTo>
                      <a:pt x="68287" y="59801"/>
                    </a:lnTo>
                    <a:cubicBezTo>
                      <a:pt x="52615" y="75299"/>
                      <a:pt x="27389" y="75299"/>
                      <a:pt x="11717" y="59801"/>
                    </a:cubicBezTo>
                    <a:cubicBezTo>
                      <a:pt x="4219" y="52388"/>
                      <a:pt x="0" y="42282"/>
                      <a:pt x="0" y="31738"/>
                    </a:cubicBezTo>
                    <a:cubicBezTo>
                      <a:pt x="0" y="21194"/>
                      <a:pt x="4219" y="11089"/>
                      <a:pt x="11717" y="3675"/>
                    </a:cubicBezTo>
                    <a:lnTo>
                      <a:pt x="15876" y="0"/>
                    </a:lnTo>
                  </a:path>
                </a:pathLst>
              </a:custGeom>
              <a:noFill/>
              <a:ln w="15875">
                <a:solidFill>
                  <a:srgbClr val="A52D12"/>
                </a:solidFill>
              </a:ln>
            </p:spPr>
          </p:sp>
        </p:grpSp>
        <p:sp>
          <p:nvSpPr>
            <p:cNvPr id="188" name="TextBox 188"/>
            <p:cNvSpPr txBox="1"/>
            <p:nvPr/>
          </p:nvSpPr>
          <p:spPr>
            <a:xfrm>
              <a:off x="9186100" y="5065395"/>
              <a:ext cx="372999" cy="176212"/>
            </a:xfrm>
            <a:prstGeom prst="rect">
              <a:avLst/>
            </a:prstGeom>
            <a:noFill/>
            <a:ln>
              <a:noFill/>
            </a:ln>
          </p:spPr>
          <p:txBody>
            <a:bodyPr wrap="none" lIns="0" tIns="0" rIns="0" bIns="0" anchor="t" anchorCtr="0">
              <a:spAutoFit/>
            </a:bodyPr>
            <a:lstStyle/>
            <a:p>
              <a:pPr algn="ctr"/>
              <a:r>
                <a:rPr lang="zh-CN" sz="900" b="1" dirty="0">
                  <a:solidFill>
                    <a:srgbClr val="A52D12"/>
                  </a:solidFill>
                  <a:latin typeface="+mn-lt"/>
                  <a:ea typeface="+mn-ea"/>
                  <a:cs typeface="+mn-cs"/>
                </a:rPr>
                <a:t>供应链</a:t>
              </a:r>
            </a:p>
          </p:txBody>
        </p:sp>
        <p:sp>
          <p:nvSpPr>
            <p:cNvPr id="189" name="TextBox 189"/>
            <p:cNvSpPr txBox="1"/>
            <p:nvPr/>
          </p:nvSpPr>
          <p:spPr>
            <a:xfrm>
              <a:off x="8910130" y="5242084"/>
              <a:ext cx="924941"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供应链融资、订单管理</a:t>
              </a:r>
            </a:p>
          </p:txBody>
        </p:sp>
        <p:sp>
          <p:nvSpPr>
            <p:cNvPr id="190" name="TextBox 190"/>
            <p:cNvSpPr txBox="1"/>
            <p:nvPr/>
          </p:nvSpPr>
          <p:spPr>
            <a:xfrm>
              <a:off x="8955900" y="5365909"/>
              <a:ext cx="833399"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结算支付、生态协同</a:t>
              </a:r>
            </a:p>
          </p:txBody>
        </p:sp>
        <p:sp>
          <p:nvSpPr>
            <p:cNvPr id="191" name="Rectangle 191"/>
            <p:cNvSpPr/>
            <p:nvPr/>
          </p:nvSpPr>
          <p:spPr>
            <a:xfrm>
              <a:off x="10210800" y="4762500"/>
              <a:ext cx="1485900" cy="781050"/>
            </a:xfrm>
            <a:prstGeom prst="roundRect">
              <a:avLst>
                <a:gd name="adj" fmla="val 9756"/>
              </a:avLst>
            </a:prstGeom>
            <a:solidFill>
              <a:srgbClr val="FFFFFF"/>
            </a:solidFill>
            <a:ln w="9525">
              <a:solidFill>
                <a:srgbClr val="EDD5D2"/>
              </a:solidFill>
            </a:ln>
          </p:spPr>
        </p:sp>
        <p:grpSp>
          <p:nvGrpSpPr>
            <p:cNvPr id="196" name="Group 196"/>
            <p:cNvGrpSpPr/>
            <p:nvPr/>
          </p:nvGrpSpPr>
          <p:grpSpPr>
            <a:xfrm>
              <a:off x="10871200" y="4862512"/>
              <a:ext cx="127000" cy="142875"/>
              <a:chOff x="10871200" y="4862512"/>
              <a:chExt cx="127000" cy="142875"/>
            </a:xfrm>
          </p:grpSpPr>
          <p:sp>
            <p:nvSpPr>
              <p:cNvPr id="192" name="Freeform 192"/>
              <p:cNvSpPr/>
              <p:nvPr/>
            </p:nvSpPr>
            <p:spPr>
              <a:xfrm>
                <a:off x="10871200" y="49736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52D12"/>
                </a:solidFill>
              </a:ln>
            </p:spPr>
          </p:sp>
          <p:sp>
            <p:nvSpPr>
              <p:cNvPr id="193" name="Freeform 193"/>
              <p:cNvSpPr/>
              <p:nvPr/>
            </p:nvSpPr>
            <p:spPr>
              <a:xfrm>
                <a:off x="10958512" y="49736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52D12"/>
                </a:solidFill>
              </a:ln>
            </p:spPr>
          </p:sp>
          <p:sp>
            <p:nvSpPr>
              <p:cNvPr id="194" name="Freeform 194"/>
              <p:cNvSpPr/>
              <p:nvPr/>
            </p:nvSpPr>
            <p:spPr>
              <a:xfrm>
                <a:off x="10871200" y="4862512"/>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A52D12"/>
                </a:solidFill>
              </a:ln>
            </p:spPr>
          </p:sp>
          <p:sp>
            <p:nvSpPr>
              <p:cNvPr id="195" name="Freeform 195"/>
              <p:cNvSpPr/>
              <p:nvPr/>
            </p:nvSpPr>
            <p:spPr>
              <a:xfrm>
                <a:off x="10887075" y="4878387"/>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A52D12"/>
                </a:solidFill>
              </a:ln>
            </p:spPr>
          </p:sp>
        </p:grpSp>
        <p:sp>
          <p:nvSpPr>
            <p:cNvPr id="197" name="TextBox 197"/>
            <p:cNvSpPr txBox="1"/>
            <p:nvPr/>
          </p:nvSpPr>
          <p:spPr>
            <a:xfrm>
              <a:off x="10706672" y="5065395"/>
              <a:ext cx="494157" cy="176212"/>
            </a:xfrm>
            <a:prstGeom prst="rect">
              <a:avLst/>
            </a:prstGeom>
            <a:noFill/>
            <a:ln>
              <a:noFill/>
            </a:ln>
          </p:spPr>
          <p:txBody>
            <a:bodyPr wrap="none" lIns="0" tIns="0" rIns="0" bIns="0" anchor="t" anchorCtr="0">
              <a:spAutoFit/>
            </a:bodyPr>
            <a:lstStyle/>
            <a:p>
              <a:pPr algn="ctr"/>
              <a:r>
                <a:rPr lang="zh-CN" sz="900" b="1" dirty="0">
                  <a:solidFill>
                    <a:srgbClr val="A52D12"/>
                  </a:solidFill>
                  <a:latin typeface="+mn-lt"/>
                  <a:ea typeface="+mn-ea"/>
                  <a:cs typeface="+mn-cs"/>
                </a:rPr>
                <a:t>消费生活</a:t>
              </a:r>
            </a:p>
          </p:txBody>
        </p:sp>
        <p:sp>
          <p:nvSpPr>
            <p:cNvPr id="198" name="TextBox 198"/>
            <p:cNvSpPr txBox="1"/>
            <p:nvPr/>
          </p:nvSpPr>
          <p:spPr>
            <a:xfrm>
              <a:off x="10537050" y="5242084"/>
              <a:ext cx="833399"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衣食住行、教育医疗</a:t>
              </a:r>
            </a:p>
          </p:txBody>
        </p:sp>
        <p:sp>
          <p:nvSpPr>
            <p:cNvPr id="199" name="TextBox 199"/>
            <p:cNvSpPr txBox="1"/>
            <p:nvPr/>
          </p:nvSpPr>
          <p:spPr>
            <a:xfrm>
              <a:off x="10537050" y="5365909"/>
              <a:ext cx="833399"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文娱娱乐、品质生活</a:t>
              </a:r>
            </a:p>
          </p:txBody>
        </p:sp>
      </p:grpSp>
      <p:grpSp>
        <p:nvGrpSpPr>
          <p:cNvPr id="242" name="abilities"/>
          <p:cNvGrpSpPr/>
          <p:nvPr/>
        </p:nvGrpSpPr>
        <p:grpSpPr>
          <a:xfrm>
            <a:off x="381000" y="5734050"/>
            <a:ext cx="11430000" cy="723900"/>
            <a:chOff x="381000" y="5734050"/>
            <a:chExt cx="11430000" cy="723900"/>
          </a:xfrm>
        </p:grpSpPr>
        <p:sp>
          <p:nvSpPr>
            <p:cNvPr id="201" name="Rectangle 201"/>
            <p:cNvSpPr/>
            <p:nvPr/>
          </p:nvSpPr>
          <p:spPr>
            <a:xfrm>
              <a:off x="381000" y="5734050"/>
              <a:ext cx="11430000" cy="723900"/>
            </a:xfrm>
            <a:prstGeom prst="roundRect">
              <a:avLst>
                <a:gd name="adj" fmla="val 13158"/>
              </a:avLst>
            </a:prstGeom>
            <a:solidFill>
              <a:srgbClr val="FBEFEE"/>
            </a:solidFill>
            <a:ln w="9525">
              <a:solidFill>
                <a:srgbClr val="EDD5D2"/>
              </a:solidFill>
            </a:ln>
          </p:spPr>
        </p:sp>
        <p:sp>
          <p:nvSpPr>
            <p:cNvPr id="202" name="Ellipse 202"/>
            <p:cNvSpPr/>
            <p:nvPr/>
          </p:nvSpPr>
          <p:spPr>
            <a:xfrm>
              <a:off x="666750" y="5886450"/>
              <a:ext cx="419100" cy="419100"/>
            </a:xfrm>
            <a:prstGeom prst="ellipse">
              <a:avLst/>
            </a:prstGeom>
            <a:solidFill>
              <a:srgbClr val="A52D12"/>
            </a:solidFill>
            <a:ln>
              <a:noFill/>
            </a:ln>
          </p:spPr>
        </p:sp>
        <p:grpSp>
          <p:nvGrpSpPr>
            <p:cNvPr id="206" name="Group 206"/>
            <p:cNvGrpSpPr/>
            <p:nvPr/>
          </p:nvGrpSpPr>
          <p:grpSpPr>
            <a:xfrm>
              <a:off x="790575" y="6010275"/>
              <a:ext cx="171450" cy="171450"/>
              <a:chOff x="790575" y="6010275"/>
              <a:chExt cx="171450" cy="171450"/>
            </a:xfrm>
          </p:grpSpPr>
          <p:sp>
            <p:nvSpPr>
              <p:cNvPr id="203" name="Freeform 203"/>
              <p:cNvSpPr/>
              <p:nvPr/>
            </p:nvSpPr>
            <p:spPr>
              <a:xfrm>
                <a:off x="866775" y="60864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204" name="Freeform 204"/>
              <p:cNvSpPr/>
              <p:nvPr/>
            </p:nvSpPr>
            <p:spPr>
              <a:xfrm>
                <a:off x="828675" y="604837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FFFFFF"/>
                </a:solidFill>
              </a:ln>
            </p:spPr>
          </p:sp>
          <p:sp>
            <p:nvSpPr>
              <p:cNvPr id="205" name="Freeform 205"/>
              <p:cNvSpPr/>
              <p:nvPr/>
            </p:nvSpPr>
            <p:spPr>
              <a:xfrm>
                <a:off x="790575" y="60102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grpSp>
        <p:sp>
          <p:nvSpPr>
            <p:cNvPr id="207" name="TextBox 207"/>
            <p:cNvSpPr txBox="1"/>
            <p:nvPr/>
          </p:nvSpPr>
          <p:spPr>
            <a:xfrm>
              <a:off x="1213676" y="6026229"/>
              <a:ext cx="891464" cy="212693"/>
            </a:xfrm>
            <a:prstGeom prst="rect">
              <a:avLst/>
            </a:prstGeom>
            <a:noFill/>
            <a:ln>
              <a:noFill/>
            </a:ln>
          </p:spPr>
          <p:txBody>
            <a:bodyPr wrap="none" lIns="0" tIns="0" rIns="0" bIns="0" anchor="t" anchorCtr="0">
              <a:spAutoFit/>
            </a:bodyPr>
            <a:lstStyle/>
            <a:p>
              <a:pPr algn="l"/>
              <a:r>
                <a:rPr lang="zh-CN" sz="1090" b="1" dirty="0">
                  <a:solidFill>
                    <a:srgbClr val="A52D12"/>
                  </a:solidFill>
                  <a:latin typeface="+mn-lt"/>
                  <a:ea typeface="+mn-ea"/>
                  <a:cs typeface="+mn-cs"/>
                </a:rPr>
                <a:t>经营关键能力</a:t>
              </a:r>
            </a:p>
          </p:txBody>
        </p:sp>
        <p:sp>
          <p:nvSpPr>
            <p:cNvPr id="208" name="Ellipse 208"/>
            <p:cNvSpPr/>
            <p:nvPr/>
          </p:nvSpPr>
          <p:spPr>
            <a:xfrm>
              <a:off x="2600325" y="5934075"/>
              <a:ext cx="323850" cy="323850"/>
            </a:xfrm>
            <a:prstGeom prst="ellipse">
              <a:avLst/>
            </a:prstGeom>
            <a:solidFill>
              <a:srgbClr val="A52D12"/>
            </a:solidFill>
            <a:ln>
              <a:noFill/>
            </a:ln>
          </p:spPr>
        </p:sp>
        <p:grpSp>
          <p:nvGrpSpPr>
            <p:cNvPr id="212" name="Group 212"/>
            <p:cNvGrpSpPr/>
            <p:nvPr/>
          </p:nvGrpSpPr>
          <p:grpSpPr>
            <a:xfrm>
              <a:off x="2711450" y="6038850"/>
              <a:ext cx="101600" cy="114300"/>
              <a:chOff x="2711450" y="6038850"/>
              <a:chExt cx="101600" cy="114300"/>
            </a:xfrm>
          </p:grpSpPr>
          <p:sp>
            <p:nvSpPr>
              <p:cNvPr id="209" name="Freeform 209"/>
              <p:cNvSpPr/>
              <p:nvPr/>
            </p:nvSpPr>
            <p:spPr>
              <a:xfrm>
                <a:off x="2711450" y="6038850"/>
                <a:ext cx="101600" cy="38100"/>
              </a:xfrm>
              <a:custGeom>
                <a:avLst/>
                <a:gdLst/>
                <a:ahLst/>
                <a:cxnLst/>
                <a:rect l="l" t="t" r="r" b="b"/>
                <a:pathLst>
                  <a:path w="101600" h="38100">
                    <a:moveTo>
                      <a:pt x="0" y="19050"/>
                    </a:moveTo>
                    <a:cubicBezTo>
                      <a:pt x="0" y="29571"/>
                      <a:pt x="22744" y="38100"/>
                      <a:pt x="50800" y="38100"/>
                    </a:cubicBezTo>
                    <a:cubicBezTo>
                      <a:pt x="78856" y="38100"/>
                      <a:pt x="101600" y="29571"/>
                      <a:pt x="101600" y="19050"/>
                    </a:cubicBezTo>
                    <a:cubicBezTo>
                      <a:pt x="101600" y="8529"/>
                      <a:pt x="78856" y="0"/>
                      <a:pt x="50800" y="0"/>
                    </a:cubicBezTo>
                    <a:cubicBezTo>
                      <a:pt x="22744" y="0"/>
                      <a:pt x="0" y="8529"/>
                      <a:pt x="0" y="19050"/>
                    </a:cubicBezTo>
                  </a:path>
                </a:pathLst>
              </a:custGeom>
              <a:noFill/>
              <a:ln w="12700">
                <a:solidFill>
                  <a:srgbClr val="FFFFFF"/>
                </a:solidFill>
              </a:ln>
            </p:spPr>
          </p:sp>
          <p:sp>
            <p:nvSpPr>
              <p:cNvPr id="210" name="Freeform 210"/>
              <p:cNvSpPr/>
              <p:nvPr/>
            </p:nvSpPr>
            <p:spPr>
              <a:xfrm>
                <a:off x="2711450" y="60579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FFFFFF"/>
                </a:solidFill>
              </a:ln>
            </p:spPr>
          </p:sp>
          <p:sp>
            <p:nvSpPr>
              <p:cNvPr id="211" name="Freeform 211"/>
              <p:cNvSpPr/>
              <p:nvPr/>
            </p:nvSpPr>
            <p:spPr>
              <a:xfrm>
                <a:off x="2711450" y="6096000"/>
                <a:ext cx="101600" cy="57150"/>
              </a:xfrm>
              <a:custGeom>
                <a:avLst/>
                <a:gdLst/>
                <a:ahLst/>
                <a:cxnLst/>
                <a:rect l="l" t="t" r="r" b="b"/>
                <a:pathLst>
                  <a:path w="101600" h="57150">
                    <a:moveTo>
                      <a:pt x="0" y="0"/>
                    </a:moveTo>
                    <a:lnTo>
                      <a:pt x="0" y="38100"/>
                    </a:lnTo>
                    <a:cubicBezTo>
                      <a:pt x="0" y="48621"/>
                      <a:pt x="22744" y="57150"/>
                      <a:pt x="50800" y="57150"/>
                    </a:cubicBezTo>
                    <a:cubicBezTo>
                      <a:pt x="78856" y="57150"/>
                      <a:pt x="101600" y="48621"/>
                      <a:pt x="101600" y="38100"/>
                    </a:cubicBezTo>
                    <a:lnTo>
                      <a:pt x="101600" y="0"/>
                    </a:lnTo>
                  </a:path>
                </a:pathLst>
              </a:custGeom>
              <a:noFill/>
              <a:ln w="12700">
                <a:solidFill>
                  <a:srgbClr val="FFFFFF"/>
                </a:solidFill>
              </a:ln>
            </p:spPr>
          </p:sp>
        </p:grpSp>
        <p:sp>
          <p:nvSpPr>
            <p:cNvPr id="213" name="TextBox 213"/>
            <p:cNvSpPr txBox="1"/>
            <p:nvPr/>
          </p:nvSpPr>
          <p:spPr>
            <a:xfrm>
              <a:off x="3005138" y="5918597"/>
              <a:ext cx="515696" cy="183356"/>
            </a:xfrm>
            <a:prstGeom prst="rect">
              <a:avLst/>
            </a:prstGeom>
            <a:noFill/>
            <a:ln>
              <a:noFill/>
            </a:ln>
          </p:spPr>
          <p:txBody>
            <a:bodyPr wrap="none" lIns="0" tIns="0" rIns="0" bIns="0" anchor="t" anchorCtr="0">
              <a:spAutoFit/>
            </a:bodyPr>
            <a:lstStyle/>
            <a:p>
              <a:pPr algn="l"/>
              <a:r>
                <a:rPr lang="zh-CN" sz="940" b="1" dirty="0">
                  <a:solidFill>
                    <a:srgbClr val="1F1F1F"/>
                  </a:solidFill>
                  <a:latin typeface="+mn-lt"/>
                  <a:ea typeface="+mn-ea"/>
                  <a:cs typeface="+mn-cs"/>
                </a:rPr>
                <a:t>数据获客</a:t>
              </a:r>
            </a:p>
          </p:txBody>
        </p:sp>
        <p:sp>
          <p:nvSpPr>
            <p:cNvPr id="214" name="TextBox 214"/>
            <p:cNvSpPr txBox="1"/>
            <p:nvPr/>
          </p:nvSpPr>
          <p:spPr>
            <a:xfrm>
              <a:off x="3005138" y="6114336"/>
              <a:ext cx="1156487"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多维数据融合，精准画像，</a:t>
              </a:r>
            </a:p>
          </p:txBody>
        </p:sp>
        <p:sp>
          <p:nvSpPr>
            <p:cNvPr id="215" name="TextBox 215"/>
            <p:cNvSpPr txBox="1"/>
            <p:nvPr/>
          </p:nvSpPr>
          <p:spPr>
            <a:xfrm>
              <a:off x="3005138" y="6238161"/>
              <a:ext cx="869747"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洞察需求，动态分层</a:t>
              </a:r>
            </a:p>
          </p:txBody>
        </p:sp>
        <p:sp>
          <p:nvSpPr>
            <p:cNvPr id="216" name="Line 216"/>
            <p:cNvSpPr/>
            <p:nvPr/>
          </p:nvSpPr>
          <p:spPr>
            <a:xfrm>
              <a:off x="4476750" y="5829300"/>
              <a:ext cx="9525" cy="533400"/>
            </a:xfrm>
            <a:custGeom>
              <a:avLst/>
              <a:gdLst/>
              <a:ahLst/>
              <a:cxnLst/>
              <a:rect l="l" t="t" r="r" b="b"/>
              <a:pathLst>
                <a:path w="9525" h="533400">
                  <a:moveTo>
                    <a:pt x="0" y="0"/>
                  </a:moveTo>
                  <a:lnTo>
                    <a:pt x="0" y="533400"/>
                  </a:lnTo>
                </a:path>
              </a:pathLst>
            </a:custGeom>
            <a:noFill/>
            <a:ln w="9525">
              <a:solidFill>
                <a:srgbClr val="EDD5D2"/>
              </a:solidFill>
            </a:ln>
          </p:spPr>
        </p:sp>
        <p:sp>
          <p:nvSpPr>
            <p:cNvPr id="217" name="Ellipse 217"/>
            <p:cNvSpPr/>
            <p:nvPr/>
          </p:nvSpPr>
          <p:spPr>
            <a:xfrm>
              <a:off x="4752975" y="5934075"/>
              <a:ext cx="323850" cy="323850"/>
            </a:xfrm>
            <a:prstGeom prst="ellipse">
              <a:avLst/>
            </a:prstGeom>
            <a:solidFill>
              <a:srgbClr val="A52D12"/>
            </a:solidFill>
            <a:ln>
              <a:noFill/>
            </a:ln>
          </p:spPr>
        </p:sp>
        <p:sp>
          <p:nvSpPr>
            <p:cNvPr id="218" name="Freeform 218"/>
            <p:cNvSpPr/>
            <p:nvPr/>
          </p:nvSpPr>
          <p:spPr>
            <a:xfrm>
              <a:off x="4857750" y="603885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FFFFFF"/>
              </a:solidFill>
            </a:ln>
          </p:spPr>
        </p:sp>
        <p:sp>
          <p:nvSpPr>
            <p:cNvPr id="219" name="TextBox 219"/>
            <p:cNvSpPr txBox="1"/>
            <p:nvPr/>
          </p:nvSpPr>
          <p:spPr>
            <a:xfrm>
              <a:off x="5157788" y="5918597"/>
              <a:ext cx="515696" cy="183356"/>
            </a:xfrm>
            <a:prstGeom prst="rect">
              <a:avLst/>
            </a:prstGeom>
            <a:noFill/>
            <a:ln>
              <a:noFill/>
            </a:ln>
          </p:spPr>
          <p:txBody>
            <a:bodyPr wrap="none" lIns="0" tIns="0" rIns="0" bIns="0" anchor="t" anchorCtr="0">
              <a:spAutoFit/>
            </a:bodyPr>
            <a:lstStyle/>
            <a:p>
              <a:pPr algn="l"/>
              <a:r>
                <a:rPr lang="zh-CN" sz="940" b="1" dirty="0">
                  <a:solidFill>
                    <a:srgbClr val="1F1F1F"/>
                  </a:solidFill>
                  <a:latin typeface="+mn-lt"/>
                  <a:ea typeface="+mn-ea"/>
                  <a:cs typeface="+mn-cs"/>
                </a:rPr>
                <a:t>产品适配</a:t>
              </a:r>
            </a:p>
          </p:txBody>
        </p:sp>
        <p:sp>
          <p:nvSpPr>
            <p:cNvPr id="220" name="TextBox 220"/>
            <p:cNvSpPr txBox="1"/>
            <p:nvPr/>
          </p:nvSpPr>
          <p:spPr>
            <a:xfrm>
              <a:off x="5157788" y="6114336"/>
              <a:ext cx="1347648"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以客户需求为导向，配置产品，</a:t>
              </a:r>
            </a:p>
          </p:txBody>
        </p:sp>
        <p:sp>
          <p:nvSpPr>
            <p:cNvPr id="221" name="TextBox 221"/>
            <p:cNvSpPr txBox="1"/>
            <p:nvPr/>
          </p:nvSpPr>
          <p:spPr>
            <a:xfrm>
              <a:off x="5157788" y="6238161"/>
              <a:ext cx="583006"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实现精准匹配</a:t>
              </a:r>
            </a:p>
          </p:txBody>
        </p:sp>
        <p:sp>
          <p:nvSpPr>
            <p:cNvPr id="222" name="Line 222"/>
            <p:cNvSpPr/>
            <p:nvPr/>
          </p:nvSpPr>
          <p:spPr>
            <a:xfrm>
              <a:off x="6667500" y="5829300"/>
              <a:ext cx="9525" cy="533400"/>
            </a:xfrm>
            <a:custGeom>
              <a:avLst/>
              <a:gdLst/>
              <a:ahLst/>
              <a:cxnLst/>
              <a:rect l="l" t="t" r="r" b="b"/>
              <a:pathLst>
                <a:path w="9525" h="533400">
                  <a:moveTo>
                    <a:pt x="0" y="0"/>
                  </a:moveTo>
                  <a:lnTo>
                    <a:pt x="0" y="533400"/>
                  </a:lnTo>
                </a:path>
              </a:pathLst>
            </a:custGeom>
            <a:noFill/>
            <a:ln w="9525">
              <a:solidFill>
                <a:srgbClr val="EDD5D2"/>
              </a:solidFill>
            </a:ln>
          </p:spPr>
        </p:sp>
        <p:sp>
          <p:nvSpPr>
            <p:cNvPr id="223" name="Ellipse 223"/>
            <p:cNvSpPr/>
            <p:nvPr/>
          </p:nvSpPr>
          <p:spPr>
            <a:xfrm>
              <a:off x="6943725" y="5934075"/>
              <a:ext cx="323850" cy="323850"/>
            </a:xfrm>
            <a:prstGeom prst="ellipse">
              <a:avLst/>
            </a:prstGeom>
            <a:solidFill>
              <a:srgbClr val="A52D12"/>
            </a:solidFill>
            <a:ln>
              <a:noFill/>
            </a:ln>
          </p:spPr>
        </p:sp>
        <p:grpSp>
          <p:nvGrpSpPr>
            <p:cNvPr id="230" name="Group 230"/>
            <p:cNvGrpSpPr/>
            <p:nvPr/>
          </p:nvGrpSpPr>
          <p:grpSpPr>
            <a:xfrm>
              <a:off x="7048500" y="6038850"/>
              <a:ext cx="114300" cy="114300"/>
              <a:chOff x="7048500" y="6038850"/>
              <a:chExt cx="114300" cy="114300"/>
            </a:xfrm>
          </p:grpSpPr>
          <p:sp>
            <p:nvSpPr>
              <p:cNvPr id="224" name="Freeform 224"/>
              <p:cNvSpPr/>
              <p:nvPr/>
            </p:nvSpPr>
            <p:spPr>
              <a:xfrm>
                <a:off x="7092950" y="60896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225" name="Freeform 225"/>
              <p:cNvSpPr/>
              <p:nvPr/>
            </p:nvSpPr>
            <p:spPr>
              <a:xfrm>
                <a:off x="7080250" y="61341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FFFFFF"/>
                </a:solidFill>
              </a:ln>
            </p:spPr>
          </p:sp>
          <p:sp>
            <p:nvSpPr>
              <p:cNvPr id="226" name="Freeform 226"/>
              <p:cNvSpPr/>
              <p:nvPr/>
            </p:nvSpPr>
            <p:spPr>
              <a:xfrm>
                <a:off x="7124700" y="60388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227" name="Freeform 227"/>
              <p:cNvSpPr/>
              <p:nvPr/>
            </p:nvSpPr>
            <p:spPr>
              <a:xfrm>
                <a:off x="7137400" y="60833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FFFFFF"/>
                </a:solidFill>
              </a:ln>
            </p:spPr>
          </p:sp>
          <p:sp>
            <p:nvSpPr>
              <p:cNvPr id="228" name="Freeform 228"/>
              <p:cNvSpPr/>
              <p:nvPr/>
            </p:nvSpPr>
            <p:spPr>
              <a:xfrm>
                <a:off x="7061200" y="60388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229" name="Freeform 229"/>
              <p:cNvSpPr/>
              <p:nvPr/>
            </p:nvSpPr>
            <p:spPr>
              <a:xfrm>
                <a:off x="7048500" y="60833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FFFFFF"/>
                </a:solidFill>
              </a:ln>
            </p:spPr>
          </p:sp>
        </p:grpSp>
        <p:sp>
          <p:nvSpPr>
            <p:cNvPr id="231" name="TextBox 231"/>
            <p:cNvSpPr txBox="1"/>
            <p:nvPr/>
          </p:nvSpPr>
          <p:spPr>
            <a:xfrm>
              <a:off x="7348538" y="5918597"/>
              <a:ext cx="515696" cy="183356"/>
            </a:xfrm>
            <a:prstGeom prst="rect">
              <a:avLst/>
            </a:prstGeom>
            <a:noFill/>
            <a:ln>
              <a:noFill/>
            </a:ln>
          </p:spPr>
          <p:txBody>
            <a:bodyPr wrap="none" lIns="0" tIns="0" rIns="0" bIns="0" anchor="t" anchorCtr="0">
              <a:spAutoFit/>
            </a:bodyPr>
            <a:lstStyle/>
            <a:p>
              <a:pPr algn="l"/>
              <a:r>
                <a:rPr lang="zh-CN" sz="940" b="1" dirty="0">
                  <a:solidFill>
                    <a:srgbClr val="1F1F1F"/>
                  </a:solidFill>
                  <a:latin typeface="+mn-lt"/>
                  <a:ea typeface="+mn-ea"/>
                  <a:cs typeface="+mn-cs"/>
                </a:rPr>
                <a:t>协同服务</a:t>
              </a:r>
            </a:p>
          </p:txBody>
        </p:sp>
        <p:sp>
          <p:nvSpPr>
            <p:cNvPr id="232" name="TextBox 232"/>
            <p:cNvSpPr txBox="1"/>
            <p:nvPr/>
          </p:nvSpPr>
          <p:spPr>
            <a:xfrm>
              <a:off x="7348538" y="6114336"/>
              <a:ext cx="1156487"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内外协同联动，场景打通，</a:t>
              </a:r>
            </a:p>
          </p:txBody>
        </p:sp>
        <p:sp>
          <p:nvSpPr>
            <p:cNvPr id="233" name="TextBox 233"/>
            <p:cNvSpPr txBox="1"/>
            <p:nvPr/>
          </p:nvSpPr>
          <p:spPr>
            <a:xfrm>
              <a:off x="7348538" y="6238161"/>
              <a:ext cx="678586"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一站式综合服务</a:t>
              </a:r>
            </a:p>
          </p:txBody>
        </p:sp>
        <p:sp>
          <p:nvSpPr>
            <p:cNvPr id="234" name="Line 234"/>
            <p:cNvSpPr/>
            <p:nvPr/>
          </p:nvSpPr>
          <p:spPr>
            <a:xfrm>
              <a:off x="8820150" y="5829300"/>
              <a:ext cx="9525" cy="533400"/>
            </a:xfrm>
            <a:custGeom>
              <a:avLst/>
              <a:gdLst/>
              <a:ahLst/>
              <a:cxnLst/>
              <a:rect l="l" t="t" r="r" b="b"/>
              <a:pathLst>
                <a:path w="9525" h="533400">
                  <a:moveTo>
                    <a:pt x="0" y="0"/>
                  </a:moveTo>
                  <a:lnTo>
                    <a:pt x="0" y="533400"/>
                  </a:lnTo>
                </a:path>
              </a:pathLst>
            </a:custGeom>
            <a:noFill/>
            <a:ln w="9525">
              <a:solidFill>
                <a:srgbClr val="EDD5D2"/>
              </a:solidFill>
            </a:ln>
          </p:spPr>
        </p:sp>
        <p:sp>
          <p:nvSpPr>
            <p:cNvPr id="235" name="Ellipse 235"/>
            <p:cNvSpPr/>
            <p:nvPr/>
          </p:nvSpPr>
          <p:spPr>
            <a:xfrm>
              <a:off x="9096375" y="5934075"/>
              <a:ext cx="323850" cy="323850"/>
            </a:xfrm>
            <a:prstGeom prst="ellipse">
              <a:avLst/>
            </a:prstGeom>
            <a:solidFill>
              <a:srgbClr val="A52D12"/>
            </a:solidFill>
            <a:ln>
              <a:noFill/>
            </a:ln>
          </p:spPr>
        </p:sp>
        <p:grpSp>
          <p:nvGrpSpPr>
            <p:cNvPr id="238" name="Group 238"/>
            <p:cNvGrpSpPr/>
            <p:nvPr/>
          </p:nvGrpSpPr>
          <p:grpSpPr>
            <a:xfrm>
              <a:off x="9199380" y="6039942"/>
              <a:ext cx="114800" cy="114978"/>
              <a:chOff x="9199380" y="6039942"/>
              <a:chExt cx="114800" cy="114978"/>
            </a:xfrm>
          </p:grpSpPr>
          <p:sp>
            <p:nvSpPr>
              <p:cNvPr id="236" name="Freeform 236"/>
              <p:cNvSpPr/>
              <p:nvPr/>
            </p:nvSpPr>
            <p:spPr>
              <a:xfrm>
                <a:off x="9199380" y="6039942"/>
                <a:ext cx="114800" cy="114978"/>
              </a:xfrm>
              <a:custGeom>
                <a:avLst/>
                <a:gdLst/>
                <a:ahLst/>
                <a:cxnLst/>
                <a:rect l="l" t="t" r="r" b="b"/>
                <a:pathLst>
                  <a:path w="114800" h="114978">
                    <a:moveTo>
                      <a:pt x="46220" y="178"/>
                    </a:moveTo>
                    <a:cubicBezTo>
                      <a:pt x="18725" y="6552"/>
                      <a:pt x="0" y="32044"/>
                      <a:pt x="2141" y="60187"/>
                    </a:cubicBezTo>
                    <a:cubicBezTo>
                      <a:pt x="4282" y="88330"/>
                      <a:pt x="26648" y="110696"/>
                      <a:pt x="54791" y="112837"/>
                    </a:cubicBezTo>
                    <a:cubicBezTo>
                      <a:pt x="82934" y="114978"/>
                      <a:pt x="108426" y="96254"/>
                      <a:pt x="114800" y="68758"/>
                    </a:cubicBezTo>
                    <a:cubicBezTo>
                      <a:pt x="114800" y="65251"/>
                      <a:pt x="111957" y="62408"/>
                      <a:pt x="108450" y="62408"/>
                    </a:cubicBezTo>
                    <a:lnTo>
                      <a:pt x="65270" y="62408"/>
                    </a:lnTo>
                    <a:cubicBezTo>
                      <a:pt x="58256" y="62408"/>
                      <a:pt x="52570" y="56722"/>
                      <a:pt x="52570" y="49708"/>
                    </a:cubicBezTo>
                    <a:lnTo>
                      <a:pt x="52570" y="5258"/>
                    </a:lnTo>
                    <a:cubicBezTo>
                      <a:pt x="52411" y="3738"/>
                      <a:pt x="51649" y="2346"/>
                      <a:pt x="50456" y="1391"/>
                    </a:cubicBezTo>
                    <a:cubicBezTo>
                      <a:pt x="49263" y="437"/>
                      <a:pt x="47738" y="0"/>
                      <a:pt x="46220" y="178"/>
                    </a:cubicBezTo>
                  </a:path>
                </a:pathLst>
              </a:custGeom>
              <a:noFill/>
              <a:ln w="12700">
                <a:solidFill>
                  <a:srgbClr val="FFFFFF"/>
                </a:solidFill>
              </a:ln>
            </p:spPr>
          </p:sp>
          <p:sp>
            <p:nvSpPr>
              <p:cNvPr id="237" name="Freeform 237"/>
              <p:cNvSpPr/>
              <p:nvPr/>
            </p:nvSpPr>
            <p:spPr>
              <a:xfrm>
                <a:off x="9277350" y="6042025"/>
                <a:ext cx="34925" cy="34925"/>
              </a:xfrm>
              <a:custGeom>
                <a:avLst/>
                <a:gdLst/>
                <a:ahLst/>
                <a:cxnLst/>
                <a:rect l="l" t="t" r="r" b="b"/>
                <a:pathLst>
                  <a:path w="34925" h="34925">
                    <a:moveTo>
                      <a:pt x="0" y="0"/>
                    </a:moveTo>
                    <a:cubicBezTo>
                      <a:pt x="16331" y="5750"/>
                      <a:pt x="29175" y="18594"/>
                      <a:pt x="34925" y="34925"/>
                    </a:cubicBezTo>
                    <a:lnTo>
                      <a:pt x="6350" y="34925"/>
                    </a:lnTo>
                    <a:cubicBezTo>
                      <a:pt x="2843" y="34925"/>
                      <a:pt x="0" y="32082"/>
                      <a:pt x="0" y="28575"/>
                    </a:cubicBezTo>
                    <a:lnTo>
                      <a:pt x="0" y="0"/>
                    </a:lnTo>
                  </a:path>
                </a:pathLst>
              </a:custGeom>
              <a:noFill/>
              <a:ln w="12700">
                <a:solidFill>
                  <a:srgbClr val="FFFFFF"/>
                </a:solidFill>
              </a:ln>
            </p:spPr>
          </p:sp>
        </p:grpSp>
        <p:sp>
          <p:nvSpPr>
            <p:cNvPr id="239" name="TextBox 239"/>
            <p:cNvSpPr txBox="1"/>
            <p:nvPr/>
          </p:nvSpPr>
          <p:spPr>
            <a:xfrm>
              <a:off x="9501188" y="5918597"/>
              <a:ext cx="515696" cy="183356"/>
            </a:xfrm>
            <a:prstGeom prst="rect">
              <a:avLst/>
            </a:prstGeom>
            <a:noFill/>
            <a:ln>
              <a:noFill/>
            </a:ln>
          </p:spPr>
          <p:txBody>
            <a:bodyPr wrap="none" lIns="0" tIns="0" rIns="0" bIns="0" anchor="t" anchorCtr="0">
              <a:spAutoFit/>
            </a:bodyPr>
            <a:lstStyle/>
            <a:p>
              <a:pPr algn="l"/>
              <a:r>
                <a:rPr lang="zh-CN" sz="940" b="1" dirty="0">
                  <a:solidFill>
                    <a:srgbClr val="1F1F1F"/>
                  </a:solidFill>
                  <a:latin typeface="+mn-lt"/>
                  <a:ea typeface="+mn-ea"/>
                  <a:cs typeface="+mn-cs"/>
                </a:rPr>
                <a:t>价值评价</a:t>
              </a:r>
            </a:p>
          </p:txBody>
        </p:sp>
        <p:sp>
          <p:nvSpPr>
            <p:cNvPr id="240" name="TextBox 240"/>
            <p:cNvSpPr txBox="1"/>
            <p:nvPr/>
          </p:nvSpPr>
          <p:spPr>
            <a:xfrm>
              <a:off x="9501188" y="6114336"/>
              <a:ext cx="1156487"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多维价值评估，科学评价，</a:t>
              </a:r>
            </a:p>
          </p:txBody>
        </p:sp>
        <p:sp>
          <p:nvSpPr>
            <p:cNvPr id="241" name="TextBox 241"/>
            <p:cNvSpPr txBox="1"/>
            <p:nvPr/>
          </p:nvSpPr>
          <p:spPr>
            <a:xfrm>
              <a:off x="9501188" y="6238161"/>
              <a:ext cx="869747"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驱动资源与策略优化</a:t>
              </a:r>
            </a:p>
          </p:txBody>
        </p:sp>
      </p:gr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10​</a:t>
              </a:r>
            </a:p>
          </p:txBody>
        </p:sp>
        <p:sp>
          <p:nvSpPr>
            <p:cNvPr id="4" name="TextBox 4"/>
            <p:cNvSpPr txBox="1"/>
            <p:nvPr/>
          </p:nvSpPr>
          <p:spPr>
            <a:xfrm>
              <a:off x="942594" y="189548"/>
              <a:ext cx="667664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数据与技术双轮驱动，</a:t>
              </a:r>
              <a:r>
                <a:rPr lang="zh-CN" sz="1950" b="1" dirty="0">
                  <a:solidFill>
                    <a:srgbClr val="A52D12"/>
                  </a:solidFill>
                  <a:latin typeface="SimSun"/>
                  <a:ea typeface="SimSun"/>
                  <a:cs typeface="SimSun"/>
                </a:rPr>
                <a:t>数字化逐步成为经营增长新引擎</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9" name="lead"/>
          <p:cNvGrpSpPr/>
          <p:nvPr/>
        </p:nvGrpSpPr>
        <p:grpSpPr>
          <a:xfrm>
            <a:off x="381000" y="685800"/>
            <a:ext cx="7017588" cy="218789"/>
            <a:chOff x="381000" y="685800"/>
            <a:chExt cx="7017588" cy="218789"/>
          </a:xfrm>
        </p:grpSpPr>
        <p:sp>
          <p:nvSpPr>
            <p:cNvPr id="7" name="Rectangle 7"/>
            <p:cNvSpPr/>
            <p:nvPr/>
          </p:nvSpPr>
          <p:spPr>
            <a:xfrm>
              <a:off x="381000" y="685800"/>
              <a:ext cx="38100" cy="152400"/>
            </a:xfrm>
            <a:prstGeom prst="rect">
              <a:avLst/>
            </a:prstGeom>
            <a:solidFill>
              <a:srgbClr val="A52D12"/>
            </a:solidFill>
            <a:ln>
              <a:noFill/>
            </a:ln>
          </p:spPr>
        </p:sp>
        <p:sp>
          <p:nvSpPr>
            <p:cNvPr id="8" name="TextBox 8"/>
            <p:cNvSpPr txBox="1"/>
            <p:nvPr/>
          </p:nvSpPr>
          <p:spPr>
            <a:xfrm>
              <a:off x="528447" y="713899"/>
              <a:ext cx="6870141"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以数据为核心要素、以技术为驱动引擎，重塑业务流程与经营模式，全面提升客户体验与运营效率，驱动高质量增长。</a:t>
              </a:r>
            </a:p>
          </p:txBody>
        </p:sp>
      </p:grpSp>
      <p:grpSp>
        <p:nvGrpSpPr>
          <p:cNvPr id="54" name="kpi-cards"/>
          <p:cNvGrpSpPr/>
          <p:nvPr/>
        </p:nvGrpSpPr>
        <p:grpSpPr>
          <a:xfrm>
            <a:off x="381000" y="971550"/>
            <a:ext cx="11410950" cy="990600"/>
            <a:chOff x="381000" y="971550"/>
            <a:chExt cx="11410950" cy="990600"/>
          </a:xfrm>
        </p:grpSpPr>
        <p:sp>
          <p:nvSpPr>
            <p:cNvPr id="10" name="Rectangle 10"/>
            <p:cNvSpPr/>
            <p:nvPr/>
          </p:nvSpPr>
          <p:spPr>
            <a:xfrm>
              <a:off x="381000" y="971550"/>
              <a:ext cx="2190750" cy="990600"/>
            </a:xfrm>
            <a:prstGeom prst="roundRect">
              <a:avLst>
                <a:gd name="adj" fmla="val 7692"/>
              </a:avLst>
            </a:prstGeom>
            <a:solidFill>
              <a:srgbClr val="FDF6F5"/>
            </a:solidFill>
            <a:ln w="9525">
              <a:solidFill>
                <a:srgbClr val="EDD5D2"/>
              </a:solidFill>
            </a:ln>
          </p:spPr>
        </p:sp>
        <p:sp>
          <p:nvSpPr>
            <p:cNvPr id="11" name="Ellipse 11"/>
            <p:cNvSpPr/>
            <p:nvPr/>
          </p:nvSpPr>
          <p:spPr>
            <a:xfrm>
              <a:off x="552450" y="1104900"/>
              <a:ext cx="266700" cy="266700"/>
            </a:xfrm>
            <a:prstGeom prst="ellipse">
              <a:avLst/>
            </a:prstGeom>
            <a:solidFill>
              <a:srgbClr val="F7E9E7"/>
            </a:solidFill>
            <a:ln>
              <a:noFill/>
            </a:ln>
          </p:spPr>
        </p:sp>
        <p:grpSp>
          <p:nvGrpSpPr>
            <p:cNvPr id="15" name="Group 15"/>
            <p:cNvGrpSpPr/>
            <p:nvPr/>
          </p:nvGrpSpPr>
          <p:grpSpPr>
            <a:xfrm>
              <a:off x="647700" y="1181100"/>
              <a:ext cx="76200" cy="114300"/>
              <a:chOff x="647700" y="1181100"/>
              <a:chExt cx="76200" cy="114300"/>
            </a:xfrm>
          </p:grpSpPr>
          <p:sp>
            <p:nvSpPr>
              <p:cNvPr id="12" name="Freeform 12"/>
              <p:cNvSpPr/>
              <p:nvPr/>
            </p:nvSpPr>
            <p:spPr>
              <a:xfrm>
                <a:off x="647700" y="118110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A52D12"/>
                </a:solidFill>
              </a:ln>
            </p:spPr>
          </p:sp>
          <p:sp>
            <p:nvSpPr>
              <p:cNvPr id="13" name="Freeform 13"/>
              <p:cNvSpPr/>
              <p:nvPr/>
            </p:nvSpPr>
            <p:spPr>
              <a:xfrm>
                <a:off x="679450" y="1187450"/>
                <a:ext cx="12700" cy="9525"/>
              </a:xfrm>
              <a:custGeom>
                <a:avLst/>
                <a:gdLst/>
                <a:ahLst/>
                <a:cxnLst/>
                <a:rect l="l" t="t" r="r" b="b"/>
                <a:pathLst>
                  <a:path w="12700" h="9525">
                    <a:moveTo>
                      <a:pt x="0" y="0"/>
                    </a:moveTo>
                    <a:lnTo>
                      <a:pt x="12700" y="0"/>
                    </a:lnTo>
                  </a:path>
                </a:pathLst>
              </a:custGeom>
              <a:noFill/>
              <a:ln w="12700">
                <a:solidFill>
                  <a:srgbClr val="A52D12"/>
                </a:solidFill>
              </a:ln>
            </p:spPr>
          </p:sp>
          <p:sp>
            <p:nvSpPr>
              <p:cNvPr id="14" name="Freeform 14"/>
              <p:cNvSpPr/>
              <p:nvPr/>
            </p:nvSpPr>
            <p:spPr>
              <a:xfrm>
                <a:off x="685800" y="1270000"/>
                <a:ext cx="9525" cy="9525"/>
              </a:xfrm>
              <a:custGeom>
                <a:avLst/>
                <a:gdLst/>
                <a:ahLst/>
                <a:cxnLst/>
                <a:rect l="l" t="t" r="r" b="b"/>
                <a:pathLst>
                  <a:path w="9525" h="9525">
                    <a:moveTo>
                      <a:pt x="0" y="0"/>
                    </a:moveTo>
                    <a:lnTo>
                      <a:pt x="0" y="64"/>
                    </a:lnTo>
                  </a:path>
                </a:pathLst>
              </a:custGeom>
              <a:noFill/>
              <a:ln w="12700">
                <a:solidFill>
                  <a:srgbClr val="A52D12"/>
                </a:solidFill>
              </a:ln>
            </p:spPr>
          </p:sp>
        </p:grpSp>
        <p:sp>
          <p:nvSpPr>
            <p:cNvPr id="16" name="TextBox 16"/>
            <p:cNvSpPr txBox="1"/>
            <p:nvPr/>
          </p:nvSpPr>
          <p:spPr>
            <a:xfrm>
              <a:off x="890588" y="1188720"/>
              <a:ext cx="857631"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线上交易替代率</a:t>
              </a:r>
            </a:p>
          </p:txBody>
        </p:sp>
        <p:sp>
          <p:nvSpPr>
            <p:cNvPr id="17" name="TextBox 17"/>
            <p:cNvSpPr txBox="1"/>
            <p:nvPr/>
          </p:nvSpPr>
          <p:spPr>
            <a:xfrm>
              <a:off x="582168" y="1498282"/>
              <a:ext cx="833066"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92.6%​</a:t>
              </a:r>
            </a:p>
          </p:txBody>
        </p:sp>
        <p:sp>
          <p:nvSpPr>
            <p:cNvPr id="18" name="Rectangle 18"/>
            <p:cNvSpPr/>
            <p:nvPr/>
          </p:nvSpPr>
          <p:spPr>
            <a:xfrm>
              <a:off x="2686050" y="971550"/>
              <a:ext cx="2190750" cy="990600"/>
            </a:xfrm>
            <a:prstGeom prst="roundRect">
              <a:avLst>
                <a:gd name="adj" fmla="val 7692"/>
              </a:avLst>
            </a:prstGeom>
            <a:solidFill>
              <a:srgbClr val="FDF6F5"/>
            </a:solidFill>
            <a:ln w="9525">
              <a:solidFill>
                <a:srgbClr val="EDD5D2"/>
              </a:solidFill>
            </a:ln>
          </p:spPr>
        </p:sp>
        <p:sp>
          <p:nvSpPr>
            <p:cNvPr id="19" name="Ellipse 19"/>
            <p:cNvSpPr/>
            <p:nvPr/>
          </p:nvSpPr>
          <p:spPr>
            <a:xfrm>
              <a:off x="2857500" y="1104900"/>
              <a:ext cx="266700" cy="266700"/>
            </a:xfrm>
            <a:prstGeom prst="ellipse">
              <a:avLst/>
            </a:prstGeom>
            <a:solidFill>
              <a:srgbClr val="F7E9E7"/>
            </a:solidFill>
            <a:ln>
              <a:noFill/>
            </a:ln>
          </p:spPr>
        </p:sp>
        <p:grpSp>
          <p:nvGrpSpPr>
            <p:cNvPr id="23" name="Group 23"/>
            <p:cNvGrpSpPr/>
            <p:nvPr/>
          </p:nvGrpSpPr>
          <p:grpSpPr>
            <a:xfrm>
              <a:off x="2952750" y="1181100"/>
              <a:ext cx="76200" cy="114300"/>
              <a:chOff x="2952750" y="1181100"/>
              <a:chExt cx="76200" cy="114300"/>
            </a:xfrm>
          </p:grpSpPr>
          <p:sp>
            <p:nvSpPr>
              <p:cNvPr id="20" name="Freeform 20"/>
              <p:cNvSpPr/>
              <p:nvPr/>
            </p:nvSpPr>
            <p:spPr>
              <a:xfrm>
                <a:off x="2952750" y="118110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A52D12"/>
                </a:solidFill>
              </a:ln>
            </p:spPr>
          </p:sp>
          <p:sp>
            <p:nvSpPr>
              <p:cNvPr id="21" name="Freeform 21"/>
              <p:cNvSpPr/>
              <p:nvPr/>
            </p:nvSpPr>
            <p:spPr>
              <a:xfrm>
                <a:off x="2984500" y="1187450"/>
                <a:ext cx="12700" cy="9525"/>
              </a:xfrm>
              <a:custGeom>
                <a:avLst/>
                <a:gdLst/>
                <a:ahLst/>
                <a:cxnLst/>
                <a:rect l="l" t="t" r="r" b="b"/>
                <a:pathLst>
                  <a:path w="12700" h="9525">
                    <a:moveTo>
                      <a:pt x="0" y="0"/>
                    </a:moveTo>
                    <a:lnTo>
                      <a:pt x="12700" y="0"/>
                    </a:lnTo>
                  </a:path>
                </a:pathLst>
              </a:custGeom>
              <a:noFill/>
              <a:ln w="12700">
                <a:solidFill>
                  <a:srgbClr val="A52D12"/>
                </a:solidFill>
              </a:ln>
            </p:spPr>
          </p:sp>
          <p:sp>
            <p:nvSpPr>
              <p:cNvPr id="22" name="Freeform 22"/>
              <p:cNvSpPr/>
              <p:nvPr/>
            </p:nvSpPr>
            <p:spPr>
              <a:xfrm>
                <a:off x="2990850" y="1270000"/>
                <a:ext cx="9525" cy="9525"/>
              </a:xfrm>
              <a:custGeom>
                <a:avLst/>
                <a:gdLst/>
                <a:ahLst/>
                <a:cxnLst/>
                <a:rect l="l" t="t" r="r" b="b"/>
                <a:pathLst>
                  <a:path w="9525" h="9525">
                    <a:moveTo>
                      <a:pt x="0" y="0"/>
                    </a:moveTo>
                    <a:lnTo>
                      <a:pt x="0" y="64"/>
                    </a:lnTo>
                  </a:path>
                </a:pathLst>
              </a:custGeom>
              <a:noFill/>
              <a:ln w="12700">
                <a:solidFill>
                  <a:srgbClr val="A52D12"/>
                </a:solidFill>
              </a:ln>
            </p:spPr>
          </p:sp>
        </p:grpSp>
        <p:sp>
          <p:nvSpPr>
            <p:cNvPr id="24" name="TextBox 24"/>
            <p:cNvSpPr txBox="1"/>
            <p:nvPr/>
          </p:nvSpPr>
          <p:spPr>
            <a:xfrm>
              <a:off x="3195638" y="1188720"/>
              <a:ext cx="801395"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手机银行MAU​</a:t>
              </a:r>
            </a:p>
          </p:txBody>
        </p:sp>
        <p:sp>
          <p:nvSpPr>
            <p:cNvPr id="25" name="TextBox 25"/>
            <p:cNvSpPr txBox="1"/>
            <p:nvPr/>
          </p:nvSpPr>
          <p:spPr>
            <a:xfrm>
              <a:off x="2887218" y="1498282"/>
              <a:ext cx="812536"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 xml:space="preserve">620 </a:t>
              </a:r>
              <a:r>
                <a:rPr lang="zh-CN" sz="790" dirty="0">
                  <a:solidFill>
                    <a:srgbClr val="A52D12"/>
                  </a:solidFill>
                  <a:latin typeface="+mn-lt"/>
                  <a:ea typeface="+mn-ea"/>
                  <a:cs typeface="+mn-cs"/>
                </a:rPr>
                <a:t>万户</a:t>
              </a:r>
              <a:r>
                <a:rPr lang="zh-CN" sz="1650" b="1" dirty="0">
                  <a:solidFill>
                    <a:srgbClr val="A52D12"/>
                  </a:solidFill>
                  <a:latin typeface="+mn-lt"/>
                  <a:ea typeface="+mn-ea"/>
                  <a:cs typeface="+mn-cs"/>
                </a:rPr>
                <a:t>​</a:t>
              </a:r>
            </a:p>
          </p:txBody>
        </p:sp>
        <p:sp>
          <p:nvSpPr>
            <p:cNvPr id="26" name="TextBox 26"/>
            <p:cNvSpPr txBox="1"/>
            <p:nvPr/>
          </p:nvSpPr>
          <p:spPr>
            <a:xfrm>
              <a:off x="3919538" y="1777841"/>
              <a:ext cx="577473"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+13.8% ↑​</a:t>
              </a:r>
            </a:p>
          </p:txBody>
        </p:sp>
        <p:sp>
          <p:nvSpPr>
            <p:cNvPr id="27" name="Rectangle 27"/>
            <p:cNvSpPr/>
            <p:nvPr/>
          </p:nvSpPr>
          <p:spPr>
            <a:xfrm>
              <a:off x="4991100" y="971550"/>
              <a:ext cx="2190750" cy="990600"/>
            </a:xfrm>
            <a:prstGeom prst="roundRect">
              <a:avLst>
                <a:gd name="adj" fmla="val 7692"/>
              </a:avLst>
            </a:prstGeom>
            <a:solidFill>
              <a:srgbClr val="FDF6F5"/>
            </a:solidFill>
            <a:ln w="9525">
              <a:solidFill>
                <a:srgbClr val="EDD5D2"/>
              </a:solidFill>
            </a:ln>
          </p:spPr>
        </p:sp>
        <p:sp>
          <p:nvSpPr>
            <p:cNvPr id="28" name="Ellipse 28"/>
            <p:cNvSpPr/>
            <p:nvPr/>
          </p:nvSpPr>
          <p:spPr>
            <a:xfrm>
              <a:off x="5162550" y="1104900"/>
              <a:ext cx="266700" cy="266700"/>
            </a:xfrm>
            <a:prstGeom prst="ellipse">
              <a:avLst/>
            </a:prstGeom>
            <a:solidFill>
              <a:srgbClr val="F7E9E7"/>
            </a:solidFill>
            <a:ln>
              <a:noFill/>
            </a:ln>
          </p:spPr>
        </p:sp>
        <p:grpSp>
          <p:nvGrpSpPr>
            <p:cNvPr id="32" name="Group 32"/>
            <p:cNvGrpSpPr/>
            <p:nvPr/>
          </p:nvGrpSpPr>
          <p:grpSpPr>
            <a:xfrm>
              <a:off x="5257800" y="1181100"/>
              <a:ext cx="95250" cy="114300"/>
              <a:chOff x="5257800" y="1181100"/>
              <a:chExt cx="95250" cy="114300"/>
            </a:xfrm>
          </p:grpSpPr>
          <p:sp>
            <p:nvSpPr>
              <p:cNvPr id="29" name="Freeform 29"/>
              <p:cNvSpPr/>
              <p:nvPr/>
            </p:nvSpPr>
            <p:spPr>
              <a:xfrm>
                <a:off x="5270500" y="11811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52D12"/>
                </a:solidFill>
              </a:ln>
            </p:spPr>
          </p:sp>
          <p:sp>
            <p:nvSpPr>
              <p:cNvPr id="30" name="Freeform 30"/>
              <p:cNvSpPr/>
              <p:nvPr/>
            </p:nvSpPr>
            <p:spPr>
              <a:xfrm>
                <a:off x="5257800" y="12573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A52D12"/>
                </a:solidFill>
              </a:ln>
            </p:spPr>
          </p:sp>
          <p:sp>
            <p:nvSpPr>
              <p:cNvPr id="31" name="Freeform 31"/>
              <p:cNvSpPr/>
              <p:nvPr/>
            </p:nvSpPr>
            <p:spPr>
              <a:xfrm>
                <a:off x="5314950" y="1270000"/>
                <a:ext cx="38100" cy="25400"/>
              </a:xfrm>
              <a:custGeom>
                <a:avLst/>
                <a:gdLst/>
                <a:ahLst/>
                <a:cxnLst/>
                <a:rect l="l" t="t" r="r" b="b"/>
                <a:pathLst>
                  <a:path w="38100" h="25400">
                    <a:moveTo>
                      <a:pt x="0" y="12700"/>
                    </a:moveTo>
                    <a:lnTo>
                      <a:pt x="12700" y="25400"/>
                    </a:lnTo>
                    <a:lnTo>
                      <a:pt x="38100" y="0"/>
                    </a:lnTo>
                  </a:path>
                </a:pathLst>
              </a:custGeom>
              <a:noFill/>
              <a:ln w="12700">
                <a:solidFill>
                  <a:srgbClr val="A52D12"/>
                </a:solidFill>
              </a:ln>
            </p:spPr>
          </p:sp>
        </p:grpSp>
        <p:sp>
          <p:nvSpPr>
            <p:cNvPr id="33" name="TextBox 33"/>
            <p:cNvSpPr txBox="1"/>
            <p:nvPr/>
          </p:nvSpPr>
          <p:spPr>
            <a:xfrm>
              <a:off x="5500688" y="1188720"/>
              <a:ext cx="857631"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数字化获客占比</a:t>
              </a:r>
            </a:p>
          </p:txBody>
        </p:sp>
        <p:sp>
          <p:nvSpPr>
            <p:cNvPr id="34" name="TextBox 34"/>
            <p:cNvSpPr txBox="1"/>
            <p:nvPr/>
          </p:nvSpPr>
          <p:spPr>
            <a:xfrm>
              <a:off x="5192268" y="1498282"/>
              <a:ext cx="833066"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46.3%​</a:t>
              </a:r>
            </a:p>
          </p:txBody>
        </p:sp>
        <p:sp>
          <p:nvSpPr>
            <p:cNvPr id="35" name="TextBox 35"/>
            <p:cNvSpPr txBox="1"/>
            <p:nvPr/>
          </p:nvSpPr>
          <p:spPr>
            <a:xfrm>
              <a:off x="6148388" y="1777841"/>
              <a:ext cx="868347"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+7.2个百分点 ↑​</a:t>
              </a:r>
            </a:p>
          </p:txBody>
        </p:sp>
        <p:sp>
          <p:nvSpPr>
            <p:cNvPr id="36" name="Rectangle 36"/>
            <p:cNvSpPr/>
            <p:nvPr/>
          </p:nvSpPr>
          <p:spPr>
            <a:xfrm>
              <a:off x="7296150" y="971550"/>
              <a:ext cx="2190750" cy="990600"/>
            </a:xfrm>
            <a:prstGeom prst="roundRect">
              <a:avLst>
                <a:gd name="adj" fmla="val 7692"/>
              </a:avLst>
            </a:prstGeom>
            <a:solidFill>
              <a:srgbClr val="FDF6F5"/>
            </a:solidFill>
            <a:ln w="9525">
              <a:solidFill>
                <a:srgbClr val="EDD5D2"/>
              </a:solidFill>
            </a:ln>
          </p:spPr>
        </p:sp>
        <p:sp>
          <p:nvSpPr>
            <p:cNvPr id="37" name="Ellipse 37"/>
            <p:cNvSpPr/>
            <p:nvPr/>
          </p:nvSpPr>
          <p:spPr>
            <a:xfrm>
              <a:off x="7467600" y="1104900"/>
              <a:ext cx="266700" cy="266700"/>
            </a:xfrm>
            <a:prstGeom prst="ellipse">
              <a:avLst/>
            </a:prstGeom>
            <a:solidFill>
              <a:srgbClr val="F7E9E7"/>
            </a:solidFill>
            <a:ln>
              <a:noFill/>
            </a:ln>
          </p:spPr>
        </p:sp>
        <p:grpSp>
          <p:nvGrpSpPr>
            <p:cNvPr id="42" name="Group 42"/>
            <p:cNvGrpSpPr/>
            <p:nvPr/>
          </p:nvGrpSpPr>
          <p:grpSpPr>
            <a:xfrm>
              <a:off x="7556500" y="1187450"/>
              <a:ext cx="95250" cy="107950"/>
              <a:chOff x="7556500" y="1187450"/>
              <a:chExt cx="95250" cy="107950"/>
            </a:xfrm>
          </p:grpSpPr>
          <p:sp>
            <p:nvSpPr>
              <p:cNvPr id="38" name="Freeform 38"/>
              <p:cNvSpPr/>
              <p:nvPr/>
            </p:nvSpPr>
            <p:spPr>
              <a:xfrm>
                <a:off x="7556500" y="118745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A52D12"/>
                </a:solidFill>
              </a:ln>
            </p:spPr>
          </p:sp>
          <p:sp>
            <p:nvSpPr>
              <p:cNvPr id="39" name="Freeform 39"/>
              <p:cNvSpPr/>
              <p:nvPr/>
            </p:nvSpPr>
            <p:spPr>
              <a:xfrm>
                <a:off x="7613650" y="1270000"/>
                <a:ext cx="38100" cy="25400"/>
              </a:xfrm>
              <a:custGeom>
                <a:avLst/>
                <a:gdLst/>
                <a:ahLst/>
                <a:cxnLst/>
                <a:rect l="l" t="t" r="r" b="b"/>
                <a:pathLst>
                  <a:path w="38100" h="25400">
                    <a:moveTo>
                      <a:pt x="0" y="12700"/>
                    </a:moveTo>
                    <a:lnTo>
                      <a:pt x="12700" y="25400"/>
                    </a:lnTo>
                    <a:lnTo>
                      <a:pt x="38100" y="0"/>
                    </a:lnTo>
                  </a:path>
                </a:pathLst>
              </a:custGeom>
              <a:noFill/>
              <a:ln w="12700">
                <a:solidFill>
                  <a:srgbClr val="A52D12"/>
                </a:solidFill>
              </a:ln>
            </p:spPr>
          </p:sp>
          <p:sp>
            <p:nvSpPr>
              <p:cNvPr id="40" name="Freeform 40"/>
              <p:cNvSpPr/>
              <p:nvPr/>
            </p:nvSpPr>
            <p:spPr>
              <a:xfrm>
                <a:off x="7581900" y="1212850"/>
                <a:ext cx="25400" cy="9525"/>
              </a:xfrm>
              <a:custGeom>
                <a:avLst/>
                <a:gdLst/>
                <a:ahLst/>
                <a:cxnLst/>
                <a:rect l="l" t="t" r="r" b="b"/>
                <a:pathLst>
                  <a:path w="25400" h="9525">
                    <a:moveTo>
                      <a:pt x="0" y="0"/>
                    </a:moveTo>
                    <a:lnTo>
                      <a:pt x="25400" y="0"/>
                    </a:lnTo>
                  </a:path>
                </a:pathLst>
              </a:custGeom>
              <a:noFill/>
              <a:ln w="12700">
                <a:solidFill>
                  <a:srgbClr val="A52D12"/>
                </a:solidFill>
              </a:ln>
            </p:spPr>
          </p:sp>
          <p:sp>
            <p:nvSpPr>
              <p:cNvPr id="41" name="Freeform 41"/>
              <p:cNvSpPr/>
              <p:nvPr/>
            </p:nvSpPr>
            <p:spPr>
              <a:xfrm>
                <a:off x="7581900" y="1238250"/>
                <a:ext cx="12700" cy="9525"/>
              </a:xfrm>
              <a:custGeom>
                <a:avLst/>
                <a:gdLst/>
                <a:ahLst/>
                <a:cxnLst/>
                <a:rect l="l" t="t" r="r" b="b"/>
                <a:pathLst>
                  <a:path w="12700" h="9525">
                    <a:moveTo>
                      <a:pt x="0" y="0"/>
                    </a:moveTo>
                    <a:lnTo>
                      <a:pt x="12700" y="0"/>
                    </a:lnTo>
                  </a:path>
                </a:pathLst>
              </a:custGeom>
              <a:noFill/>
              <a:ln w="12700">
                <a:solidFill>
                  <a:srgbClr val="A52D12"/>
                </a:solidFill>
              </a:ln>
            </p:spPr>
          </p:sp>
        </p:grpSp>
        <p:sp>
          <p:nvSpPr>
            <p:cNvPr id="43" name="TextBox 43"/>
            <p:cNvSpPr txBox="1"/>
            <p:nvPr/>
          </p:nvSpPr>
          <p:spPr>
            <a:xfrm>
              <a:off x="7805738" y="1188720"/>
              <a:ext cx="73647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智能审批金额</a:t>
              </a:r>
            </a:p>
          </p:txBody>
        </p:sp>
        <p:sp>
          <p:nvSpPr>
            <p:cNvPr id="44" name="TextBox 44"/>
            <p:cNvSpPr txBox="1"/>
            <p:nvPr/>
          </p:nvSpPr>
          <p:spPr>
            <a:xfrm>
              <a:off x="7497318" y="1498282"/>
              <a:ext cx="812536"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 xml:space="preserve">860 </a:t>
              </a:r>
              <a:r>
                <a:rPr lang="zh-CN" sz="790" dirty="0">
                  <a:solidFill>
                    <a:srgbClr val="A52D12"/>
                  </a:solidFill>
                  <a:latin typeface="+mn-lt"/>
                  <a:ea typeface="+mn-ea"/>
                  <a:cs typeface="+mn-cs"/>
                </a:rPr>
                <a:t>亿元</a:t>
              </a:r>
              <a:r>
                <a:rPr lang="zh-CN" sz="1650" b="1" dirty="0">
                  <a:solidFill>
                    <a:srgbClr val="A52D12"/>
                  </a:solidFill>
                  <a:latin typeface="+mn-lt"/>
                  <a:ea typeface="+mn-ea"/>
                  <a:cs typeface="+mn-cs"/>
                </a:rPr>
                <a:t>​</a:t>
              </a:r>
            </a:p>
          </p:txBody>
        </p:sp>
        <p:sp>
          <p:nvSpPr>
            <p:cNvPr id="45" name="TextBox 45"/>
            <p:cNvSpPr txBox="1"/>
            <p:nvPr/>
          </p:nvSpPr>
          <p:spPr>
            <a:xfrm>
              <a:off x="8453438" y="1777841"/>
              <a:ext cx="577473" cy="161925"/>
            </a:xfrm>
            <a:prstGeom prst="rect">
              <a:avLst/>
            </a:prstGeom>
            <a:noFill/>
            <a:ln>
              <a:noFill/>
            </a:ln>
          </p:spPr>
          <p:txBody>
            <a:bodyPr wrap="none" lIns="0" tIns="0" rIns="0" bIns="0" anchor="t" anchorCtr="0">
              <a:spAutoFit/>
            </a:bodyPr>
            <a:lstStyle/>
            <a:p>
              <a:pPr algn="l"/>
              <a:r>
                <a:rPr lang="zh-CN" sz="820" b="1" dirty="0">
                  <a:solidFill>
                    <a:srgbClr val="A52D12"/>
                  </a:solidFill>
                  <a:latin typeface="+mn-lt"/>
                  <a:ea typeface="+mn-ea"/>
                  <a:cs typeface="+mn-cs"/>
                </a:rPr>
                <a:t>+28.4% ↑​</a:t>
              </a:r>
            </a:p>
          </p:txBody>
        </p:sp>
        <p:sp>
          <p:nvSpPr>
            <p:cNvPr id="46" name="Rectangle 46"/>
            <p:cNvSpPr/>
            <p:nvPr/>
          </p:nvSpPr>
          <p:spPr>
            <a:xfrm>
              <a:off x="9601200" y="971550"/>
              <a:ext cx="2190750" cy="990600"/>
            </a:xfrm>
            <a:prstGeom prst="roundRect">
              <a:avLst>
                <a:gd name="adj" fmla="val 7692"/>
              </a:avLst>
            </a:prstGeom>
            <a:solidFill>
              <a:srgbClr val="FDF6F5"/>
            </a:solidFill>
            <a:ln w="9525">
              <a:solidFill>
                <a:srgbClr val="EDD5D2"/>
              </a:solidFill>
            </a:ln>
          </p:spPr>
        </p:sp>
        <p:sp>
          <p:nvSpPr>
            <p:cNvPr id="47" name="Ellipse 47"/>
            <p:cNvSpPr/>
            <p:nvPr/>
          </p:nvSpPr>
          <p:spPr>
            <a:xfrm>
              <a:off x="9772650" y="1104900"/>
              <a:ext cx="266700" cy="266700"/>
            </a:xfrm>
            <a:prstGeom prst="ellipse">
              <a:avLst/>
            </a:prstGeom>
            <a:solidFill>
              <a:srgbClr val="F7E9E7"/>
            </a:solidFill>
            <a:ln>
              <a:noFill/>
            </a:ln>
          </p:spPr>
        </p:sp>
        <p:grpSp>
          <p:nvGrpSpPr>
            <p:cNvPr id="50" name="Group 50"/>
            <p:cNvGrpSpPr/>
            <p:nvPr/>
          </p:nvGrpSpPr>
          <p:grpSpPr>
            <a:xfrm>
              <a:off x="9848850" y="1181100"/>
              <a:ext cx="114300" cy="114300"/>
              <a:chOff x="9848850" y="1181100"/>
              <a:chExt cx="114300" cy="114300"/>
            </a:xfrm>
          </p:grpSpPr>
          <p:sp>
            <p:nvSpPr>
              <p:cNvPr id="48" name="Freeform 48"/>
              <p:cNvSpPr/>
              <p:nvPr/>
            </p:nvSpPr>
            <p:spPr>
              <a:xfrm>
                <a:off x="9848850" y="11811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A52D12"/>
                </a:solidFill>
              </a:ln>
            </p:spPr>
          </p:sp>
          <p:sp>
            <p:nvSpPr>
              <p:cNvPr id="49" name="Freeform 49"/>
              <p:cNvSpPr/>
              <p:nvPr/>
            </p:nvSpPr>
            <p:spPr>
              <a:xfrm>
                <a:off x="9906000" y="1206500"/>
                <a:ext cx="19050" cy="50800"/>
              </a:xfrm>
              <a:custGeom>
                <a:avLst/>
                <a:gdLst/>
                <a:ahLst/>
                <a:cxnLst/>
                <a:rect l="l" t="t" r="r" b="b"/>
                <a:pathLst>
                  <a:path w="19050" h="50800">
                    <a:moveTo>
                      <a:pt x="0" y="0"/>
                    </a:moveTo>
                    <a:lnTo>
                      <a:pt x="0" y="31750"/>
                    </a:lnTo>
                    <a:lnTo>
                      <a:pt x="19050" y="50800"/>
                    </a:lnTo>
                  </a:path>
                </a:pathLst>
              </a:custGeom>
              <a:noFill/>
              <a:ln w="12700">
                <a:solidFill>
                  <a:srgbClr val="A52D12"/>
                </a:solidFill>
              </a:ln>
            </p:spPr>
          </p:sp>
        </p:grpSp>
        <p:sp>
          <p:nvSpPr>
            <p:cNvPr id="51" name="TextBox 51"/>
            <p:cNvSpPr txBox="1"/>
            <p:nvPr/>
          </p:nvSpPr>
          <p:spPr>
            <a:xfrm>
              <a:off x="10110788" y="1188720"/>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数据报表人工工时</a:t>
              </a:r>
            </a:p>
          </p:txBody>
        </p:sp>
        <p:sp>
          <p:nvSpPr>
            <p:cNvPr id="52" name="TextBox 52"/>
            <p:cNvSpPr txBox="1"/>
            <p:nvPr/>
          </p:nvSpPr>
          <p:spPr>
            <a:xfrm>
              <a:off x="9802368" y="1498282"/>
              <a:ext cx="1090729"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下降 38%​</a:t>
              </a:r>
            </a:p>
          </p:txBody>
        </p:sp>
        <p:sp>
          <p:nvSpPr>
            <p:cNvPr id="53" name="TextBox 53"/>
            <p:cNvSpPr txBox="1"/>
            <p:nvPr/>
          </p:nvSpPr>
          <p:spPr>
            <a:xfrm>
              <a:off x="10948797" y="1761649"/>
              <a:ext cx="162282" cy="190690"/>
            </a:xfrm>
            <a:prstGeom prst="rect">
              <a:avLst/>
            </a:prstGeom>
            <a:noFill/>
            <a:ln>
              <a:noFill/>
            </a:ln>
          </p:spPr>
          <p:txBody>
            <a:bodyPr wrap="none" lIns="0" tIns="0" rIns="0" bIns="0" anchor="t" anchorCtr="0">
              <a:spAutoFit/>
            </a:bodyPr>
            <a:lstStyle/>
            <a:p>
              <a:pPr algn="l"/>
              <a:r>
                <a:rPr lang="zh-CN" sz="980" b="1" dirty="0">
                  <a:solidFill>
                    <a:srgbClr val="9E412F"/>
                  </a:solidFill>
                  <a:latin typeface="+mn-lt"/>
                  <a:ea typeface="+mn-ea"/>
                  <a:cs typeface="+mn-cs"/>
                </a:rPr>
                <a:t>↓​</a:t>
              </a:r>
            </a:p>
          </p:txBody>
        </p:sp>
      </p:grpSp>
      <p:grpSp>
        <p:nvGrpSpPr>
          <p:cNvPr id="144" name="arch-3layer"/>
          <p:cNvGrpSpPr/>
          <p:nvPr/>
        </p:nvGrpSpPr>
        <p:grpSpPr>
          <a:xfrm>
            <a:off x="381000" y="2095500"/>
            <a:ext cx="4953000" cy="3486150"/>
            <a:chOff x="381000" y="2095500"/>
            <a:chExt cx="4953000" cy="3486150"/>
          </a:xfrm>
        </p:grpSpPr>
        <p:sp>
          <p:nvSpPr>
            <p:cNvPr id="55" name="Rectangle 55"/>
            <p:cNvSpPr/>
            <p:nvPr/>
          </p:nvSpPr>
          <p:spPr>
            <a:xfrm>
              <a:off x="381000" y="2095500"/>
              <a:ext cx="4953000" cy="3486150"/>
            </a:xfrm>
            <a:prstGeom prst="roundRect">
              <a:avLst>
                <a:gd name="adj" fmla="val 2186"/>
              </a:avLst>
            </a:prstGeom>
            <a:solidFill>
              <a:srgbClr val="FDF6F5"/>
            </a:solidFill>
            <a:ln w="9525">
              <a:solidFill>
                <a:srgbClr val="EDD5D2"/>
              </a:solidFill>
            </a:ln>
          </p:spPr>
        </p:sp>
        <p:sp>
          <p:nvSpPr>
            <p:cNvPr id="56" name="Freeform 56"/>
            <p:cNvSpPr/>
            <p:nvPr/>
          </p:nvSpPr>
          <p:spPr>
            <a:xfrm>
              <a:off x="390525" y="2105025"/>
              <a:ext cx="4933950" cy="228600"/>
            </a:xfrm>
            <a:custGeom>
              <a:avLst/>
              <a:gdLst/>
              <a:ahLst/>
              <a:cxnLst/>
              <a:rect l="l" t="t" r="r" b="b"/>
              <a:pathLst>
                <a:path w="4933950" h="228600">
                  <a:moveTo>
                    <a:pt x="0" y="228600"/>
                  </a:moveTo>
                  <a:lnTo>
                    <a:pt x="4933950" y="228600"/>
                  </a:lnTo>
                  <a:lnTo>
                    <a:pt x="4933950" y="66675"/>
                  </a:lnTo>
                  <a:cubicBezTo>
                    <a:pt x="4933950" y="29851"/>
                    <a:pt x="4904099" y="0"/>
                    <a:pt x="4867275" y="0"/>
                  </a:cubicBezTo>
                  <a:lnTo>
                    <a:pt x="66675" y="0"/>
                  </a:lnTo>
                  <a:cubicBezTo>
                    <a:pt x="29851" y="0"/>
                    <a:pt x="0" y="29851"/>
                    <a:pt x="0" y="66675"/>
                  </a:cubicBezTo>
                  <a:close/>
                </a:path>
              </a:pathLst>
            </a:custGeom>
            <a:solidFill>
              <a:srgbClr val="A52D12"/>
            </a:solidFill>
            <a:ln>
              <a:noFill/>
            </a:ln>
          </p:spPr>
        </p:sp>
        <p:sp>
          <p:nvSpPr>
            <p:cNvPr id="57" name="TextBox 57"/>
            <p:cNvSpPr txBox="1"/>
            <p:nvPr/>
          </p:nvSpPr>
          <p:spPr>
            <a:xfrm>
              <a:off x="2216086" y="2153602"/>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数字化能力三层架构</a:t>
              </a:r>
            </a:p>
          </p:txBody>
        </p:sp>
        <p:sp>
          <p:nvSpPr>
            <p:cNvPr id="58" name="Rectangle 58"/>
            <p:cNvSpPr/>
            <p:nvPr/>
          </p:nvSpPr>
          <p:spPr>
            <a:xfrm>
              <a:off x="495300" y="2457450"/>
              <a:ext cx="1123950" cy="914400"/>
            </a:xfrm>
            <a:prstGeom prst="roundRect">
              <a:avLst>
                <a:gd name="adj" fmla="val 8333"/>
              </a:avLst>
            </a:prstGeom>
            <a:solidFill>
              <a:srgbClr val="8E240C"/>
            </a:solidFill>
            <a:ln>
              <a:noFill/>
            </a:ln>
          </p:spPr>
        </p:sp>
        <p:sp>
          <p:nvSpPr>
            <p:cNvPr id="59" name="TextBox 59"/>
            <p:cNvSpPr txBox="1"/>
            <p:nvPr/>
          </p:nvSpPr>
          <p:spPr>
            <a:xfrm>
              <a:off x="769239" y="27251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经营场景</a:t>
              </a:r>
            </a:p>
          </p:txBody>
        </p:sp>
        <p:sp>
          <p:nvSpPr>
            <p:cNvPr id="60" name="TextBox 60"/>
            <p:cNvSpPr txBox="1"/>
            <p:nvPr/>
          </p:nvSpPr>
          <p:spPr>
            <a:xfrm>
              <a:off x="776542" y="2958941"/>
              <a:ext cx="561467" cy="161925"/>
            </a:xfrm>
            <a:prstGeom prst="rect">
              <a:avLst/>
            </a:prstGeom>
            <a:noFill/>
            <a:ln>
              <a:noFill/>
            </a:ln>
          </p:spPr>
          <p:txBody>
            <a:bodyPr wrap="none" lIns="0" tIns="0" rIns="0" bIns="0" anchor="t" anchorCtr="0">
              <a:spAutoFit/>
            </a:bodyPr>
            <a:lstStyle/>
            <a:p>
              <a:pPr algn="ctr"/>
              <a:r>
                <a:rPr lang="zh-CN" sz="820" dirty="0">
                  <a:solidFill>
                    <a:srgbClr val="E8988A"/>
                  </a:solidFill>
                  <a:latin typeface="+mn-lt"/>
                  <a:ea typeface="+mn-ea"/>
                  <a:cs typeface="+mn-cs"/>
                </a:rPr>
                <a:t>（应用层）</a:t>
              </a:r>
            </a:p>
          </p:txBody>
        </p:sp>
        <p:sp>
          <p:nvSpPr>
            <p:cNvPr id="61" name="Rectangle 61"/>
            <p:cNvSpPr/>
            <p:nvPr/>
          </p:nvSpPr>
          <p:spPr>
            <a:xfrm>
              <a:off x="1752600" y="2533650"/>
              <a:ext cx="819150" cy="762000"/>
            </a:xfrm>
            <a:prstGeom prst="roundRect">
              <a:avLst>
                <a:gd name="adj" fmla="val 10000"/>
              </a:avLst>
            </a:prstGeom>
            <a:solidFill>
              <a:srgbClr val="FFFFFF"/>
            </a:solidFill>
            <a:ln w="9525">
              <a:solidFill>
                <a:srgbClr val="EDD5D2"/>
              </a:solidFill>
            </a:ln>
          </p:spPr>
        </p:sp>
        <p:grpSp>
          <p:nvGrpSpPr>
            <p:cNvPr id="65" name="Group 65"/>
            <p:cNvGrpSpPr/>
            <p:nvPr/>
          </p:nvGrpSpPr>
          <p:grpSpPr>
            <a:xfrm>
              <a:off x="2074069" y="2655094"/>
              <a:ext cx="157163" cy="157163"/>
              <a:chOff x="2074069" y="2655094"/>
              <a:chExt cx="157163" cy="157163"/>
            </a:xfrm>
          </p:grpSpPr>
          <p:sp>
            <p:nvSpPr>
              <p:cNvPr id="62" name="Freeform 62"/>
              <p:cNvSpPr/>
              <p:nvPr/>
            </p:nvSpPr>
            <p:spPr>
              <a:xfrm>
                <a:off x="2143919" y="272494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A52D12"/>
                </a:solidFill>
              </a:ln>
            </p:spPr>
          </p:sp>
          <p:sp>
            <p:nvSpPr>
              <p:cNvPr id="63" name="Freeform 63"/>
              <p:cNvSpPr/>
              <p:nvPr/>
            </p:nvSpPr>
            <p:spPr>
              <a:xfrm>
                <a:off x="2108994" y="269001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A52D12"/>
                </a:solidFill>
              </a:ln>
            </p:spPr>
          </p:sp>
          <p:sp>
            <p:nvSpPr>
              <p:cNvPr id="64" name="Freeform 64"/>
              <p:cNvSpPr/>
              <p:nvPr/>
            </p:nvSpPr>
            <p:spPr>
              <a:xfrm>
                <a:off x="2074069" y="26550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A52D12"/>
                </a:solidFill>
              </a:ln>
            </p:spPr>
          </p:sp>
        </p:grpSp>
        <p:sp>
          <p:nvSpPr>
            <p:cNvPr id="66" name="TextBox 66"/>
            <p:cNvSpPr txBox="1"/>
            <p:nvPr/>
          </p:nvSpPr>
          <p:spPr>
            <a:xfrm>
              <a:off x="1944713" y="29820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精准营销</a:t>
              </a:r>
            </a:p>
          </p:txBody>
        </p:sp>
        <p:sp>
          <p:nvSpPr>
            <p:cNvPr id="67" name="Rectangle 67"/>
            <p:cNvSpPr/>
            <p:nvPr/>
          </p:nvSpPr>
          <p:spPr>
            <a:xfrm>
              <a:off x="2628900" y="2533650"/>
              <a:ext cx="819150" cy="762000"/>
            </a:xfrm>
            <a:prstGeom prst="roundRect">
              <a:avLst>
                <a:gd name="adj" fmla="val 10000"/>
              </a:avLst>
            </a:prstGeom>
            <a:solidFill>
              <a:srgbClr val="FFFFFF"/>
            </a:solidFill>
            <a:ln w="9525">
              <a:solidFill>
                <a:srgbClr val="EDD5D2"/>
              </a:solidFill>
            </a:ln>
          </p:spPr>
        </p:sp>
        <p:grpSp>
          <p:nvGrpSpPr>
            <p:cNvPr id="70" name="Group 70"/>
            <p:cNvGrpSpPr/>
            <p:nvPr/>
          </p:nvGrpSpPr>
          <p:grpSpPr>
            <a:xfrm>
              <a:off x="2938585" y="2655094"/>
              <a:ext cx="170506" cy="157162"/>
              <a:chOff x="2938585" y="2655094"/>
              <a:chExt cx="170506" cy="157162"/>
            </a:xfrm>
          </p:grpSpPr>
          <p:sp>
            <p:nvSpPr>
              <p:cNvPr id="68" name="Freeform 68"/>
              <p:cNvSpPr/>
              <p:nvPr/>
            </p:nvSpPr>
            <p:spPr>
              <a:xfrm>
                <a:off x="2938585" y="2655094"/>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A52D12"/>
                </a:solidFill>
              </a:ln>
            </p:spPr>
          </p:sp>
          <p:sp>
            <p:nvSpPr>
              <p:cNvPr id="69" name="Freeform 69"/>
              <p:cNvSpPr/>
              <p:nvPr/>
            </p:nvSpPr>
            <p:spPr>
              <a:xfrm>
                <a:off x="3055144" y="2777331"/>
                <a:ext cx="52388" cy="34925"/>
              </a:xfrm>
              <a:custGeom>
                <a:avLst/>
                <a:gdLst/>
                <a:ahLst/>
                <a:cxnLst/>
                <a:rect l="l" t="t" r="r" b="b"/>
                <a:pathLst>
                  <a:path w="52388" h="34925">
                    <a:moveTo>
                      <a:pt x="0" y="17463"/>
                    </a:moveTo>
                    <a:lnTo>
                      <a:pt x="17463" y="34925"/>
                    </a:lnTo>
                    <a:lnTo>
                      <a:pt x="52388" y="0"/>
                    </a:lnTo>
                  </a:path>
                </a:pathLst>
              </a:custGeom>
              <a:noFill/>
              <a:ln w="17463">
                <a:solidFill>
                  <a:srgbClr val="A52D12"/>
                </a:solidFill>
              </a:ln>
            </p:spPr>
          </p:sp>
        </p:grpSp>
        <p:sp>
          <p:nvSpPr>
            <p:cNvPr id="71" name="TextBox 71"/>
            <p:cNvSpPr txBox="1"/>
            <p:nvPr/>
          </p:nvSpPr>
          <p:spPr>
            <a:xfrm>
              <a:off x="2821013" y="29820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智能风控</a:t>
              </a:r>
            </a:p>
          </p:txBody>
        </p:sp>
        <p:sp>
          <p:nvSpPr>
            <p:cNvPr id="72" name="Rectangle 72"/>
            <p:cNvSpPr/>
            <p:nvPr/>
          </p:nvSpPr>
          <p:spPr>
            <a:xfrm>
              <a:off x="3505200" y="2533650"/>
              <a:ext cx="819150" cy="762000"/>
            </a:xfrm>
            <a:prstGeom prst="roundRect">
              <a:avLst>
                <a:gd name="adj" fmla="val 10000"/>
              </a:avLst>
            </a:prstGeom>
            <a:solidFill>
              <a:srgbClr val="FFFFFF"/>
            </a:solidFill>
            <a:ln w="9525">
              <a:solidFill>
                <a:srgbClr val="EDD5D2"/>
              </a:solidFill>
            </a:ln>
          </p:spPr>
        </p:sp>
        <p:grpSp>
          <p:nvGrpSpPr>
            <p:cNvPr id="75" name="Group 75"/>
            <p:cNvGrpSpPr/>
            <p:nvPr/>
          </p:nvGrpSpPr>
          <p:grpSpPr>
            <a:xfrm>
              <a:off x="3822836" y="2651261"/>
              <a:ext cx="164829" cy="164829"/>
              <a:chOff x="3822836" y="2651261"/>
              <a:chExt cx="164829" cy="164829"/>
            </a:xfrm>
          </p:grpSpPr>
          <p:sp>
            <p:nvSpPr>
              <p:cNvPr id="73" name="Freeform 73"/>
              <p:cNvSpPr/>
              <p:nvPr/>
            </p:nvSpPr>
            <p:spPr>
              <a:xfrm>
                <a:off x="3822836" y="265126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A52D12"/>
                </a:solidFill>
              </a:ln>
            </p:spPr>
          </p:sp>
          <p:sp>
            <p:nvSpPr>
              <p:cNvPr id="74" name="Freeform 74"/>
              <p:cNvSpPr/>
              <p:nvPr/>
            </p:nvSpPr>
            <p:spPr>
              <a:xfrm>
                <a:off x="3879056" y="270748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A52D12"/>
                </a:solidFill>
              </a:ln>
            </p:spPr>
          </p:sp>
        </p:grpSp>
        <p:sp>
          <p:nvSpPr>
            <p:cNvPr id="76" name="TextBox 76"/>
            <p:cNvSpPr txBox="1"/>
            <p:nvPr/>
          </p:nvSpPr>
          <p:spPr>
            <a:xfrm>
              <a:off x="3697313" y="29820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智慧运营</a:t>
              </a:r>
            </a:p>
          </p:txBody>
        </p:sp>
        <p:sp>
          <p:nvSpPr>
            <p:cNvPr id="77" name="Rectangle 77"/>
            <p:cNvSpPr/>
            <p:nvPr/>
          </p:nvSpPr>
          <p:spPr>
            <a:xfrm>
              <a:off x="4381500" y="2533650"/>
              <a:ext cx="819150" cy="762000"/>
            </a:xfrm>
            <a:prstGeom prst="roundRect">
              <a:avLst>
                <a:gd name="adj" fmla="val 10000"/>
              </a:avLst>
            </a:prstGeom>
            <a:solidFill>
              <a:srgbClr val="FFFFFF"/>
            </a:solidFill>
            <a:ln w="9525">
              <a:solidFill>
                <a:srgbClr val="EDD5D2"/>
              </a:solidFill>
            </a:ln>
          </p:spPr>
        </p:sp>
        <p:grpSp>
          <p:nvGrpSpPr>
            <p:cNvPr id="82" name="Group 82"/>
            <p:cNvGrpSpPr/>
            <p:nvPr/>
          </p:nvGrpSpPr>
          <p:grpSpPr>
            <a:xfrm>
              <a:off x="4702969" y="2663825"/>
              <a:ext cx="157163" cy="149225"/>
              <a:chOff x="4702969" y="2663825"/>
              <a:chExt cx="157163" cy="149225"/>
            </a:xfrm>
          </p:grpSpPr>
          <p:sp>
            <p:nvSpPr>
              <p:cNvPr id="78" name="Freeform 78"/>
              <p:cNvSpPr/>
              <p:nvPr/>
            </p:nvSpPr>
            <p:spPr>
              <a:xfrm>
                <a:off x="4702969" y="2733675"/>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A52D12"/>
                </a:solidFill>
              </a:ln>
            </p:spPr>
          </p:sp>
          <p:sp>
            <p:nvSpPr>
              <p:cNvPr id="79" name="Freeform 79"/>
              <p:cNvSpPr/>
              <p:nvPr/>
            </p:nvSpPr>
            <p:spPr>
              <a:xfrm>
                <a:off x="4807744" y="2698750"/>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A52D12"/>
                </a:solidFill>
              </a:ln>
            </p:spPr>
          </p:sp>
          <p:sp>
            <p:nvSpPr>
              <p:cNvPr id="80" name="Freeform 80"/>
              <p:cNvSpPr/>
              <p:nvPr/>
            </p:nvSpPr>
            <p:spPr>
              <a:xfrm>
                <a:off x="4755356" y="2663825"/>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A52D12"/>
                </a:solidFill>
              </a:ln>
            </p:spPr>
          </p:sp>
          <p:sp>
            <p:nvSpPr>
              <p:cNvPr id="81" name="Freeform 81"/>
              <p:cNvSpPr/>
              <p:nvPr/>
            </p:nvSpPr>
            <p:spPr>
              <a:xfrm>
                <a:off x="4711700" y="2803525"/>
                <a:ext cx="122238" cy="9525"/>
              </a:xfrm>
              <a:custGeom>
                <a:avLst/>
                <a:gdLst/>
                <a:ahLst/>
                <a:cxnLst/>
                <a:rect l="l" t="t" r="r" b="b"/>
                <a:pathLst>
                  <a:path w="122238" h="9525">
                    <a:moveTo>
                      <a:pt x="0" y="0"/>
                    </a:moveTo>
                    <a:lnTo>
                      <a:pt x="122238" y="0"/>
                    </a:lnTo>
                  </a:path>
                </a:pathLst>
              </a:custGeom>
              <a:noFill/>
              <a:ln w="17463">
                <a:solidFill>
                  <a:srgbClr val="A52D12"/>
                </a:solidFill>
              </a:ln>
            </p:spPr>
          </p:sp>
        </p:grpSp>
        <p:sp>
          <p:nvSpPr>
            <p:cNvPr id="83" name="TextBox 83"/>
            <p:cNvSpPr txBox="1"/>
            <p:nvPr/>
          </p:nvSpPr>
          <p:spPr>
            <a:xfrm>
              <a:off x="4520438" y="2982039"/>
              <a:ext cx="54127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管理驾驶舱</a:t>
              </a:r>
            </a:p>
          </p:txBody>
        </p:sp>
        <p:sp>
          <p:nvSpPr>
            <p:cNvPr id="84" name="Line 84"/>
            <p:cNvSpPr/>
            <p:nvPr/>
          </p:nvSpPr>
          <p:spPr>
            <a:xfrm>
              <a:off x="1057275" y="3409950"/>
              <a:ext cx="1" cy="228600"/>
            </a:xfrm>
            <a:prstGeom prst="line">
              <a:avLst/>
            </a:prstGeom>
            <a:noFill/>
            <a:ln w="15240">
              <a:solidFill>
                <a:srgbClr val="A52D12"/>
              </a:solidFill>
              <a:tailEnd type="triangle" w="lg" len="lg"/>
            </a:ln>
          </p:spPr>
        </p:sp>
        <p:sp>
          <p:nvSpPr>
            <p:cNvPr id="85" name="Rectangle 85"/>
            <p:cNvSpPr/>
            <p:nvPr/>
          </p:nvSpPr>
          <p:spPr>
            <a:xfrm>
              <a:off x="495300" y="3676650"/>
              <a:ext cx="1123950" cy="914400"/>
            </a:xfrm>
            <a:prstGeom prst="roundRect">
              <a:avLst>
                <a:gd name="adj" fmla="val 8333"/>
              </a:avLst>
            </a:prstGeom>
            <a:solidFill>
              <a:srgbClr val="A52D12"/>
            </a:solidFill>
            <a:ln>
              <a:noFill/>
            </a:ln>
          </p:spPr>
        </p:sp>
        <p:sp>
          <p:nvSpPr>
            <p:cNvPr id="86" name="TextBox 86"/>
            <p:cNvSpPr txBox="1"/>
            <p:nvPr/>
          </p:nvSpPr>
          <p:spPr>
            <a:xfrm>
              <a:off x="769239" y="39443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能力平台</a:t>
              </a:r>
            </a:p>
          </p:txBody>
        </p:sp>
        <p:sp>
          <p:nvSpPr>
            <p:cNvPr id="87" name="TextBox 87"/>
            <p:cNvSpPr txBox="1"/>
            <p:nvPr/>
          </p:nvSpPr>
          <p:spPr>
            <a:xfrm>
              <a:off x="776542" y="4178141"/>
              <a:ext cx="561467" cy="161925"/>
            </a:xfrm>
            <a:prstGeom prst="rect">
              <a:avLst/>
            </a:prstGeom>
            <a:noFill/>
            <a:ln>
              <a:noFill/>
            </a:ln>
          </p:spPr>
          <p:txBody>
            <a:bodyPr wrap="none" lIns="0" tIns="0" rIns="0" bIns="0" anchor="t" anchorCtr="0">
              <a:spAutoFit/>
            </a:bodyPr>
            <a:lstStyle/>
            <a:p>
              <a:pPr algn="ctr"/>
              <a:r>
                <a:rPr lang="zh-CN" sz="820" dirty="0">
                  <a:solidFill>
                    <a:srgbClr val="E8988A"/>
                  </a:solidFill>
                  <a:latin typeface="+mn-lt"/>
                  <a:ea typeface="+mn-ea"/>
                  <a:cs typeface="+mn-cs"/>
                </a:rPr>
                <a:t>（中台层）</a:t>
              </a:r>
            </a:p>
          </p:txBody>
        </p:sp>
        <p:sp>
          <p:nvSpPr>
            <p:cNvPr id="88" name="Rectangle 88"/>
            <p:cNvSpPr/>
            <p:nvPr/>
          </p:nvSpPr>
          <p:spPr>
            <a:xfrm>
              <a:off x="1752600" y="3752850"/>
              <a:ext cx="819150" cy="762000"/>
            </a:xfrm>
            <a:prstGeom prst="roundRect">
              <a:avLst>
                <a:gd name="adj" fmla="val 10000"/>
              </a:avLst>
            </a:prstGeom>
            <a:solidFill>
              <a:srgbClr val="FFFFFF"/>
            </a:solidFill>
            <a:ln w="9525">
              <a:solidFill>
                <a:srgbClr val="EDD5D2"/>
              </a:solidFill>
            </a:ln>
          </p:spPr>
        </p:sp>
        <p:grpSp>
          <p:nvGrpSpPr>
            <p:cNvPr id="92" name="Group 92"/>
            <p:cNvGrpSpPr/>
            <p:nvPr/>
          </p:nvGrpSpPr>
          <p:grpSpPr>
            <a:xfrm>
              <a:off x="2100263" y="3874294"/>
              <a:ext cx="130969" cy="157163"/>
              <a:chOff x="2100263" y="3874294"/>
              <a:chExt cx="130969" cy="157163"/>
            </a:xfrm>
          </p:grpSpPr>
          <p:sp>
            <p:nvSpPr>
              <p:cNvPr id="89" name="Freeform 89"/>
              <p:cNvSpPr/>
              <p:nvPr/>
            </p:nvSpPr>
            <p:spPr>
              <a:xfrm>
                <a:off x="2117725" y="38742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A52D12"/>
                </a:solidFill>
              </a:ln>
            </p:spPr>
          </p:sp>
          <p:sp>
            <p:nvSpPr>
              <p:cNvPr id="90" name="Freeform 90"/>
              <p:cNvSpPr/>
              <p:nvPr/>
            </p:nvSpPr>
            <p:spPr>
              <a:xfrm>
                <a:off x="2100263" y="39790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A52D12"/>
                </a:solidFill>
              </a:ln>
            </p:spPr>
          </p:sp>
          <p:sp>
            <p:nvSpPr>
              <p:cNvPr id="91" name="Freeform 91"/>
              <p:cNvSpPr/>
              <p:nvPr/>
            </p:nvSpPr>
            <p:spPr>
              <a:xfrm>
                <a:off x="2178844" y="3996531"/>
                <a:ext cx="52388" cy="34925"/>
              </a:xfrm>
              <a:custGeom>
                <a:avLst/>
                <a:gdLst/>
                <a:ahLst/>
                <a:cxnLst/>
                <a:rect l="l" t="t" r="r" b="b"/>
                <a:pathLst>
                  <a:path w="52388" h="34925">
                    <a:moveTo>
                      <a:pt x="0" y="17463"/>
                    </a:moveTo>
                    <a:lnTo>
                      <a:pt x="17463" y="34925"/>
                    </a:lnTo>
                    <a:lnTo>
                      <a:pt x="52388" y="0"/>
                    </a:lnTo>
                  </a:path>
                </a:pathLst>
              </a:custGeom>
              <a:noFill/>
              <a:ln w="17463">
                <a:solidFill>
                  <a:srgbClr val="A52D12"/>
                </a:solidFill>
              </a:ln>
            </p:spPr>
          </p:sp>
        </p:grpSp>
        <p:sp>
          <p:nvSpPr>
            <p:cNvPr id="93" name="TextBox 93"/>
            <p:cNvSpPr txBox="1"/>
            <p:nvPr/>
          </p:nvSpPr>
          <p:spPr>
            <a:xfrm>
              <a:off x="1944713" y="42012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客户标签</a:t>
              </a:r>
            </a:p>
          </p:txBody>
        </p:sp>
        <p:sp>
          <p:nvSpPr>
            <p:cNvPr id="94" name="Rectangle 94"/>
            <p:cNvSpPr/>
            <p:nvPr/>
          </p:nvSpPr>
          <p:spPr>
            <a:xfrm>
              <a:off x="2628900" y="3752850"/>
              <a:ext cx="819150" cy="762000"/>
            </a:xfrm>
            <a:prstGeom prst="roundRect">
              <a:avLst>
                <a:gd name="adj" fmla="val 10000"/>
              </a:avLst>
            </a:prstGeom>
            <a:solidFill>
              <a:srgbClr val="FFFFFF"/>
            </a:solidFill>
            <a:ln w="9525">
              <a:solidFill>
                <a:srgbClr val="EDD5D2"/>
              </a:solidFill>
            </a:ln>
          </p:spPr>
        </p:sp>
        <p:grpSp>
          <p:nvGrpSpPr>
            <p:cNvPr id="100" name="Group 100"/>
            <p:cNvGrpSpPr/>
            <p:nvPr/>
          </p:nvGrpSpPr>
          <p:grpSpPr>
            <a:xfrm>
              <a:off x="2950369" y="3874294"/>
              <a:ext cx="157162" cy="157162"/>
              <a:chOff x="2950369" y="3874294"/>
              <a:chExt cx="157162" cy="157162"/>
            </a:xfrm>
          </p:grpSpPr>
          <p:sp>
            <p:nvSpPr>
              <p:cNvPr id="95" name="Freeform 95"/>
              <p:cNvSpPr/>
              <p:nvPr/>
            </p:nvSpPr>
            <p:spPr>
              <a:xfrm>
                <a:off x="3011488" y="38742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52D12"/>
                </a:solidFill>
              </a:ln>
            </p:spPr>
          </p:sp>
          <p:sp>
            <p:nvSpPr>
              <p:cNvPr id="96" name="Freeform 96"/>
              <p:cNvSpPr/>
              <p:nvPr/>
            </p:nvSpPr>
            <p:spPr>
              <a:xfrm>
                <a:off x="2950369" y="39965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52D12"/>
                </a:solidFill>
              </a:ln>
            </p:spPr>
          </p:sp>
          <p:sp>
            <p:nvSpPr>
              <p:cNvPr id="97" name="Freeform 97"/>
              <p:cNvSpPr/>
              <p:nvPr/>
            </p:nvSpPr>
            <p:spPr>
              <a:xfrm>
                <a:off x="3072606" y="39965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A52D12"/>
                </a:solidFill>
              </a:ln>
            </p:spPr>
          </p:sp>
          <p:sp>
            <p:nvSpPr>
              <p:cNvPr id="98" name="Freeform 98"/>
              <p:cNvSpPr/>
              <p:nvPr/>
            </p:nvSpPr>
            <p:spPr>
              <a:xfrm>
                <a:off x="2980928" y="3961606"/>
                <a:ext cx="96044" cy="39291"/>
              </a:xfrm>
              <a:custGeom>
                <a:avLst/>
                <a:gdLst/>
                <a:ahLst/>
                <a:cxnLst/>
                <a:rect l="l" t="t" r="r" b="b"/>
                <a:pathLst>
                  <a:path w="96044" h="39291">
                    <a:moveTo>
                      <a:pt x="0" y="39291"/>
                    </a:moveTo>
                    <a:lnTo>
                      <a:pt x="48022" y="0"/>
                    </a:lnTo>
                    <a:lnTo>
                      <a:pt x="96044" y="39291"/>
                    </a:lnTo>
                  </a:path>
                </a:pathLst>
              </a:custGeom>
              <a:noFill/>
              <a:ln w="17463">
                <a:solidFill>
                  <a:srgbClr val="A52D12"/>
                </a:solidFill>
              </a:ln>
            </p:spPr>
          </p:sp>
          <p:sp>
            <p:nvSpPr>
              <p:cNvPr id="99" name="Freeform 99"/>
              <p:cNvSpPr/>
              <p:nvPr/>
            </p:nvSpPr>
            <p:spPr>
              <a:xfrm>
                <a:off x="3028950" y="3909219"/>
                <a:ext cx="9525" cy="52388"/>
              </a:xfrm>
              <a:custGeom>
                <a:avLst/>
                <a:gdLst/>
                <a:ahLst/>
                <a:cxnLst/>
                <a:rect l="l" t="t" r="r" b="b"/>
                <a:pathLst>
                  <a:path w="9525" h="52388">
                    <a:moveTo>
                      <a:pt x="0" y="0"/>
                    </a:moveTo>
                    <a:lnTo>
                      <a:pt x="0" y="52388"/>
                    </a:lnTo>
                  </a:path>
                </a:pathLst>
              </a:custGeom>
              <a:noFill/>
              <a:ln w="17463">
                <a:solidFill>
                  <a:srgbClr val="A52D12"/>
                </a:solidFill>
              </a:ln>
            </p:spPr>
          </p:sp>
        </p:grpSp>
        <p:sp>
          <p:nvSpPr>
            <p:cNvPr id="101" name="TextBox 101"/>
            <p:cNvSpPr txBox="1"/>
            <p:nvPr/>
          </p:nvSpPr>
          <p:spPr>
            <a:xfrm>
              <a:off x="2821013" y="42012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模型工厂</a:t>
              </a:r>
            </a:p>
          </p:txBody>
        </p:sp>
        <p:sp>
          <p:nvSpPr>
            <p:cNvPr id="102" name="Rectangle 102"/>
            <p:cNvSpPr/>
            <p:nvPr/>
          </p:nvSpPr>
          <p:spPr>
            <a:xfrm>
              <a:off x="3505200" y="3752850"/>
              <a:ext cx="819150" cy="762000"/>
            </a:xfrm>
            <a:prstGeom prst="roundRect">
              <a:avLst>
                <a:gd name="adj" fmla="val 10000"/>
              </a:avLst>
            </a:prstGeom>
            <a:solidFill>
              <a:srgbClr val="FFFFFF"/>
            </a:solidFill>
            <a:ln w="9525">
              <a:solidFill>
                <a:srgbClr val="EDD5D2"/>
              </a:solidFill>
            </a:ln>
          </p:spPr>
        </p:sp>
        <p:grpSp>
          <p:nvGrpSpPr>
            <p:cNvPr id="108" name="Group 108"/>
            <p:cNvGrpSpPr/>
            <p:nvPr/>
          </p:nvGrpSpPr>
          <p:grpSpPr>
            <a:xfrm>
              <a:off x="3826669" y="3874294"/>
              <a:ext cx="157163" cy="157163"/>
              <a:chOff x="3826669" y="3874294"/>
              <a:chExt cx="157163" cy="157163"/>
            </a:xfrm>
          </p:grpSpPr>
          <p:sp>
            <p:nvSpPr>
              <p:cNvPr id="103" name="Freeform 103"/>
              <p:cNvSpPr/>
              <p:nvPr/>
            </p:nvSpPr>
            <p:spPr>
              <a:xfrm>
                <a:off x="3826669" y="397906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A52D12"/>
                </a:solidFill>
              </a:ln>
            </p:spPr>
          </p:sp>
          <p:sp>
            <p:nvSpPr>
              <p:cNvPr id="104" name="Freeform 104"/>
              <p:cNvSpPr/>
              <p:nvPr/>
            </p:nvSpPr>
            <p:spPr>
              <a:xfrm>
                <a:off x="3931444" y="3979069"/>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A52D12"/>
                </a:solidFill>
              </a:ln>
            </p:spPr>
          </p:sp>
          <p:sp>
            <p:nvSpPr>
              <p:cNvPr id="105" name="Freeform 105"/>
              <p:cNvSpPr/>
              <p:nvPr/>
            </p:nvSpPr>
            <p:spPr>
              <a:xfrm>
                <a:off x="3879056" y="3874294"/>
                <a:ext cx="52388" cy="52388"/>
              </a:xfrm>
              <a:custGeom>
                <a:avLst/>
                <a:gdLst/>
                <a:ahLst/>
                <a:cxnLst/>
                <a:rect l="l" t="t" r="r" b="b"/>
                <a:pathLst>
                  <a:path w="52388" h="52388">
                    <a:moveTo>
                      <a:pt x="0" y="17463"/>
                    </a:moveTo>
                    <a:cubicBezTo>
                      <a:pt x="0" y="7818"/>
                      <a:pt x="7818" y="0"/>
                      <a:pt x="17463" y="0"/>
                    </a:cubicBezTo>
                    <a:lnTo>
                      <a:pt x="34925" y="0"/>
                    </a:lnTo>
                    <a:cubicBezTo>
                      <a:pt x="44569" y="0"/>
                      <a:pt x="52388" y="7818"/>
                      <a:pt x="52388" y="17463"/>
                    </a:cubicBezTo>
                    <a:lnTo>
                      <a:pt x="52388" y="34925"/>
                    </a:lnTo>
                    <a:cubicBezTo>
                      <a:pt x="52388" y="44569"/>
                      <a:pt x="44569" y="52388"/>
                      <a:pt x="34925" y="52388"/>
                    </a:cubicBezTo>
                    <a:lnTo>
                      <a:pt x="17463" y="52388"/>
                    </a:lnTo>
                    <a:cubicBezTo>
                      <a:pt x="7818" y="52388"/>
                      <a:pt x="0" y="44569"/>
                      <a:pt x="0" y="34925"/>
                    </a:cubicBezTo>
                    <a:lnTo>
                      <a:pt x="0" y="17463"/>
                    </a:lnTo>
                  </a:path>
                </a:pathLst>
              </a:custGeom>
              <a:noFill/>
              <a:ln w="17463">
                <a:solidFill>
                  <a:srgbClr val="A52D12"/>
                </a:solidFill>
              </a:ln>
            </p:spPr>
          </p:sp>
          <p:sp>
            <p:nvSpPr>
              <p:cNvPr id="106" name="Freeform 106"/>
              <p:cNvSpPr/>
              <p:nvPr/>
            </p:nvSpPr>
            <p:spPr>
              <a:xfrm>
                <a:off x="3852863" y="3952875"/>
                <a:ext cx="104775" cy="26194"/>
              </a:xfrm>
              <a:custGeom>
                <a:avLst/>
                <a:gdLst/>
                <a:ahLst/>
                <a:cxnLst/>
                <a:rect l="l" t="t" r="r" b="b"/>
                <a:pathLst>
                  <a:path w="104775" h="26194">
                    <a:moveTo>
                      <a:pt x="0" y="26194"/>
                    </a:moveTo>
                    <a:lnTo>
                      <a:pt x="0" y="17463"/>
                    </a:lnTo>
                    <a:cubicBezTo>
                      <a:pt x="0" y="7818"/>
                      <a:pt x="7818" y="0"/>
                      <a:pt x="17463" y="0"/>
                    </a:cubicBezTo>
                    <a:lnTo>
                      <a:pt x="87313" y="0"/>
                    </a:lnTo>
                    <a:cubicBezTo>
                      <a:pt x="96957" y="0"/>
                      <a:pt x="104775" y="7818"/>
                      <a:pt x="104775" y="17463"/>
                    </a:cubicBezTo>
                    <a:lnTo>
                      <a:pt x="104775" y="26194"/>
                    </a:lnTo>
                  </a:path>
                </a:pathLst>
              </a:custGeom>
              <a:noFill/>
              <a:ln w="17463">
                <a:solidFill>
                  <a:srgbClr val="A52D12"/>
                </a:solidFill>
              </a:ln>
            </p:spPr>
          </p:sp>
          <p:sp>
            <p:nvSpPr>
              <p:cNvPr id="107" name="Freeform 107"/>
              <p:cNvSpPr/>
              <p:nvPr/>
            </p:nvSpPr>
            <p:spPr>
              <a:xfrm>
                <a:off x="3905250" y="3926681"/>
                <a:ext cx="9525" cy="26194"/>
              </a:xfrm>
              <a:custGeom>
                <a:avLst/>
                <a:gdLst/>
                <a:ahLst/>
                <a:cxnLst/>
                <a:rect l="l" t="t" r="r" b="b"/>
                <a:pathLst>
                  <a:path w="9525" h="26194">
                    <a:moveTo>
                      <a:pt x="0" y="0"/>
                    </a:moveTo>
                    <a:lnTo>
                      <a:pt x="0" y="26194"/>
                    </a:lnTo>
                  </a:path>
                </a:pathLst>
              </a:custGeom>
              <a:noFill/>
              <a:ln w="17463">
                <a:solidFill>
                  <a:srgbClr val="A52D12"/>
                </a:solidFill>
              </a:ln>
            </p:spPr>
          </p:sp>
        </p:grpSp>
        <p:sp>
          <p:nvSpPr>
            <p:cNvPr id="109" name="TextBox 109"/>
            <p:cNvSpPr txBox="1"/>
            <p:nvPr/>
          </p:nvSpPr>
          <p:spPr>
            <a:xfrm>
              <a:off x="3697313" y="42012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流程引擎</a:t>
              </a:r>
            </a:p>
          </p:txBody>
        </p:sp>
        <p:sp>
          <p:nvSpPr>
            <p:cNvPr id="110" name="Rectangle 110"/>
            <p:cNvSpPr/>
            <p:nvPr/>
          </p:nvSpPr>
          <p:spPr>
            <a:xfrm>
              <a:off x="4381500" y="3752850"/>
              <a:ext cx="819150" cy="762000"/>
            </a:xfrm>
            <a:prstGeom prst="roundRect">
              <a:avLst>
                <a:gd name="adj" fmla="val 10000"/>
              </a:avLst>
            </a:prstGeom>
            <a:solidFill>
              <a:srgbClr val="FFFFFF"/>
            </a:solidFill>
            <a:ln w="9525">
              <a:solidFill>
                <a:srgbClr val="EDD5D2"/>
              </a:solidFill>
            </a:ln>
          </p:spPr>
        </p:sp>
        <p:grpSp>
          <p:nvGrpSpPr>
            <p:cNvPr id="114" name="Group 114"/>
            <p:cNvGrpSpPr/>
            <p:nvPr/>
          </p:nvGrpSpPr>
          <p:grpSpPr>
            <a:xfrm>
              <a:off x="4720431" y="3874294"/>
              <a:ext cx="122238" cy="157162"/>
              <a:chOff x="4720431" y="3874294"/>
              <a:chExt cx="122238" cy="157162"/>
            </a:xfrm>
          </p:grpSpPr>
          <p:sp>
            <p:nvSpPr>
              <p:cNvPr id="111" name="Freeform 111"/>
              <p:cNvSpPr/>
              <p:nvPr/>
            </p:nvSpPr>
            <p:spPr>
              <a:xfrm>
                <a:off x="4720431" y="3926681"/>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A52D12"/>
                </a:solidFill>
              </a:ln>
            </p:spPr>
          </p:sp>
          <p:sp>
            <p:nvSpPr>
              <p:cNvPr id="112" name="Freeform 112"/>
              <p:cNvSpPr/>
              <p:nvPr/>
            </p:nvSpPr>
            <p:spPr>
              <a:xfrm>
                <a:off x="4781550" y="3874294"/>
                <a:ext cx="9525" cy="96044"/>
              </a:xfrm>
              <a:custGeom>
                <a:avLst/>
                <a:gdLst/>
                <a:ahLst/>
                <a:cxnLst/>
                <a:rect l="l" t="t" r="r" b="b"/>
                <a:pathLst>
                  <a:path w="9525" h="96044">
                    <a:moveTo>
                      <a:pt x="0" y="96044"/>
                    </a:moveTo>
                    <a:lnTo>
                      <a:pt x="0" y="0"/>
                    </a:lnTo>
                  </a:path>
                </a:pathLst>
              </a:custGeom>
              <a:noFill/>
              <a:ln w="17463">
                <a:solidFill>
                  <a:srgbClr val="A52D12"/>
                </a:solidFill>
              </a:ln>
            </p:spPr>
          </p:sp>
          <p:sp>
            <p:nvSpPr>
              <p:cNvPr id="113" name="Freeform 113"/>
              <p:cNvSpPr/>
              <p:nvPr/>
            </p:nvSpPr>
            <p:spPr>
              <a:xfrm>
                <a:off x="4755356" y="3874294"/>
                <a:ext cx="52388" cy="26194"/>
              </a:xfrm>
              <a:custGeom>
                <a:avLst/>
                <a:gdLst/>
                <a:ahLst/>
                <a:cxnLst/>
                <a:rect l="l" t="t" r="r" b="b"/>
                <a:pathLst>
                  <a:path w="52388" h="26194">
                    <a:moveTo>
                      <a:pt x="0" y="26194"/>
                    </a:moveTo>
                    <a:lnTo>
                      <a:pt x="26194" y="0"/>
                    </a:lnTo>
                    <a:lnTo>
                      <a:pt x="52388" y="26194"/>
                    </a:lnTo>
                  </a:path>
                </a:pathLst>
              </a:custGeom>
              <a:noFill/>
              <a:ln w="17463">
                <a:solidFill>
                  <a:srgbClr val="A52D12"/>
                </a:solidFill>
              </a:ln>
            </p:spPr>
          </p:sp>
        </p:grpSp>
        <p:sp>
          <p:nvSpPr>
            <p:cNvPr id="115" name="TextBox 115"/>
            <p:cNvSpPr txBox="1"/>
            <p:nvPr/>
          </p:nvSpPr>
          <p:spPr>
            <a:xfrm>
              <a:off x="4573613" y="42012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知识图谱</a:t>
              </a:r>
            </a:p>
          </p:txBody>
        </p:sp>
        <p:sp>
          <p:nvSpPr>
            <p:cNvPr id="116" name="Line 116"/>
            <p:cNvSpPr/>
            <p:nvPr/>
          </p:nvSpPr>
          <p:spPr>
            <a:xfrm>
              <a:off x="1057275" y="4629150"/>
              <a:ext cx="1" cy="228600"/>
            </a:xfrm>
            <a:prstGeom prst="line">
              <a:avLst/>
            </a:prstGeom>
            <a:noFill/>
            <a:ln w="15240">
              <a:solidFill>
                <a:srgbClr val="A52D12"/>
              </a:solidFill>
              <a:tailEnd type="triangle" w="lg" len="lg"/>
            </a:ln>
          </p:spPr>
        </p:sp>
        <p:sp>
          <p:nvSpPr>
            <p:cNvPr id="117" name="Rectangle 117"/>
            <p:cNvSpPr/>
            <p:nvPr/>
          </p:nvSpPr>
          <p:spPr>
            <a:xfrm>
              <a:off x="495300" y="4895850"/>
              <a:ext cx="1123950" cy="590550"/>
            </a:xfrm>
            <a:prstGeom prst="roundRect">
              <a:avLst>
                <a:gd name="adj" fmla="val 12903"/>
              </a:avLst>
            </a:prstGeom>
            <a:solidFill>
              <a:srgbClr val="C0412B"/>
            </a:solidFill>
            <a:ln>
              <a:noFill/>
            </a:ln>
          </p:spPr>
        </p:sp>
        <p:sp>
          <p:nvSpPr>
            <p:cNvPr id="118" name="TextBox 118"/>
            <p:cNvSpPr txBox="1"/>
            <p:nvPr/>
          </p:nvSpPr>
          <p:spPr>
            <a:xfrm>
              <a:off x="769239" y="50301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数据库底</a:t>
              </a:r>
            </a:p>
          </p:txBody>
        </p:sp>
        <p:sp>
          <p:nvSpPr>
            <p:cNvPr id="119" name="TextBox 119"/>
            <p:cNvSpPr txBox="1"/>
            <p:nvPr/>
          </p:nvSpPr>
          <p:spPr>
            <a:xfrm>
              <a:off x="776542" y="5254466"/>
              <a:ext cx="561467" cy="161925"/>
            </a:xfrm>
            <a:prstGeom prst="rect">
              <a:avLst/>
            </a:prstGeom>
            <a:noFill/>
            <a:ln>
              <a:noFill/>
            </a:ln>
          </p:spPr>
          <p:txBody>
            <a:bodyPr wrap="none" lIns="0" tIns="0" rIns="0" bIns="0" anchor="t" anchorCtr="0">
              <a:spAutoFit/>
            </a:bodyPr>
            <a:lstStyle/>
            <a:p>
              <a:pPr algn="ctr"/>
              <a:r>
                <a:rPr lang="zh-CN" sz="820" dirty="0">
                  <a:solidFill>
                    <a:srgbClr val="E8988A"/>
                  </a:solidFill>
                  <a:latin typeface="+mn-lt"/>
                  <a:ea typeface="+mn-ea"/>
                  <a:cs typeface="+mn-cs"/>
                </a:rPr>
                <a:t>（基础层）</a:t>
              </a:r>
            </a:p>
          </p:txBody>
        </p:sp>
        <p:sp>
          <p:nvSpPr>
            <p:cNvPr id="120" name="Rectangle 120"/>
            <p:cNvSpPr/>
            <p:nvPr/>
          </p:nvSpPr>
          <p:spPr>
            <a:xfrm>
              <a:off x="1752600" y="4933950"/>
              <a:ext cx="819150" cy="514350"/>
            </a:xfrm>
            <a:prstGeom prst="roundRect">
              <a:avLst>
                <a:gd name="adj" fmla="val 14815"/>
              </a:avLst>
            </a:prstGeom>
            <a:solidFill>
              <a:srgbClr val="FFFFFF"/>
            </a:solidFill>
            <a:ln w="9525">
              <a:solidFill>
                <a:srgbClr val="EDD5D2"/>
              </a:solidFill>
            </a:ln>
          </p:spPr>
        </p:sp>
        <p:grpSp>
          <p:nvGrpSpPr>
            <p:cNvPr id="126" name="Group 126"/>
            <p:cNvGrpSpPr/>
            <p:nvPr/>
          </p:nvGrpSpPr>
          <p:grpSpPr>
            <a:xfrm>
              <a:off x="1864519" y="5050631"/>
              <a:ext cx="100012" cy="128588"/>
              <a:chOff x="1864519" y="5050631"/>
              <a:chExt cx="100012" cy="128588"/>
            </a:xfrm>
          </p:grpSpPr>
          <p:sp>
            <p:nvSpPr>
              <p:cNvPr id="121" name="Freeform 121"/>
              <p:cNvSpPr/>
              <p:nvPr/>
            </p:nvSpPr>
            <p:spPr>
              <a:xfrm>
                <a:off x="1928812" y="505063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A52D12"/>
                </a:solidFill>
              </a:ln>
            </p:spPr>
          </p:sp>
          <p:sp>
            <p:nvSpPr>
              <p:cNvPr id="122" name="Freeform 122"/>
              <p:cNvSpPr/>
              <p:nvPr/>
            </p:nvSpPr>
            <p:spPr>
              <a:xfrm>
                <a:off x="1864519" y="505063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A52D12"/>
                </a:solidFill>
              </a:ln>
            </p:spPr>
          </p:sp>
          <p:sp>
            <p:nvSpPr>
              <p:cNvPr id="123" name="Freeform 123"/>
              <p:cNvSpPr/>
              <p:nvPr/>
            </p:nvSpPr>
            <p:spPr>
              <a:xfrm>
                <a:off x="1893094" y="5093494"/>
                <a:ext cx="9525" cy="9525"/>
              </a:xfrm>
              <a:custGeom>
                <a:avLst/>
                <a:gdLst/>
                <a:ahLst/>
                <a:cxnLst/>
                <a:rect l="l" t="t" r="r" b="b"/>
                <a:pathLst>
                  <a:path w="9525" h="9525">
                    <a:moveTo>
                      <a:pt x="0" y="0"/>
                    </a:moveTo>
                    <a:lnTo>
                      <a:pt x="7144" y="0"/>
                    </a:lnTo>
                  </a:path>
                </a:pathLst>
              </a:custGeom>
              <a:noFill/>
              <a:ln w="14288">
                <a:solidFill>
                  <a:srgbClr val="A52D12"/>
                </a:solidFill>
              </a:ln>
            </p:spPr>
          </p:sp>
          <p:sp>
            <p:nvSpPr>
              <p:cNvPr id="124" name="Freeform 124"/>
              <p:cNvSpPr/>
              <p:nvPr/>
            </p:nvSpPr>
            <p:spPr>
              <a:xfrm>
                <a:off x="1893094" y="5122069"/>
                <a:ext cx="42862" cy="9525"/>
              </a:xfrm>
              <a:custGeom>
                <a:avLst/>
                <a:gdLst/>
                <a:ahLst/>
                <a:cxnLst/>
                <a:rect l="l" t="t" r="r" b="b"/>
                <a:pathLst>
                  <a:path w="42862" h="9525">
                    <a:moveTo>
                      <a:pt x="0" y="0"/>
                    </a:moveTo>
                    <a:lnTo>
                      <a:pt x="42862" y="0"/>
                    </a:lnTo>
                  </a:path>
                </a:pathLst>
              </a:custGeom>
              <a:noFill/>
              <a:ln w="14288">
                <a:solidFill>
                  <a:srgbClr val="A52D12"/>
                </a:solidFill>
              </a:ln>
            </p:spPr>
          </p:sp>
          <p:sp>
            <p:nvSpPr>
              <p:cNvPr id="125" name="Freeform 125"/>
              <p:cNvSpPr/>
              <p:nvPr/>
            </p:nvSpPr>
            <p:spPr>
              <a:xfrm>
                <a:off x="1893094" y="5150644"/>
                <a:ext cx="42862" cy="9525"/>
              </a:xfrm>
              <a:custGeom>
                <a:avLst/>
                <a:gdLst/>
                <a:ahLst/>
                <a:cxnLst/>
                <a:rect l="l" t="t" r="r" b="b"/>
                <a:pathLst>
                  <a:path w="42862" h="9525">
                    <a:moveTo>
                      <a:pt x="0" y="0"/>
                    </a:moveTo>
                    <a:lnTo>
                      <a:pt x="42862" y="0"/>
                    </a:lnTo>
                  </a:path>
                </a:pathLst>
              </a:custGeom>
              <a:noFill/>
              <a:ln w="14288">
                <a:solidFill>
                  <a:srgbClr val="A52D12"/>
                </a:solidFill>
              </a:ln>
            </p:spPr>
          </p:sp>
        </p:grpSp>
        <p:sp>
          <p:nvSpPr>
            <p:cNvPr id="127" name="TextBox 127"/>
            <p:cNvSpPr txBox="1"/>
            <p:nvPr/>
          </p:nvSpPr>
          <p:spPr>
            <a:xfrm>
              <a:off x="1944713" y="52680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数据标准</a:t>
              </a:r>
            </a:p>
          </p:txBody>
        </p:sp>
        <p:sp>
          <p:nvSpPr>
            <p:cNvPr id="128" name="Rectangle 128"/>
            <p:cNvSpPr/>
            <p:nvPr/>
          </p:nvSpPr>
          <p:spPr>
            <a:xfrm>
              <a:off x="2628900" y="4933950"/>
              <a:ext cx="819150" cy="514350"/>
            </a:xfrm>
            <a:prstGeom prst="roundRect">
              <a:avLst>
                <a:gd name="adj" fmla="val 14815"/>
              </a:avLst>
            </a:prstGeom>
            <a:solidFill>
              <a:srgbClr val="FFFFFF"/>
            </a:solidFill>
            <a:ln w="9525">
              <a:solidFill>
                <a:srgbClr val="EDD5D2"/>
              </a:solidFill>
            </a:ln>
          </p:spPr>
        </p:sp>
        <p:grpSp>
          <p:nvGrpSpPr>
            <p:cNvPr id="131" name="Group 131"/>
            <p:cNvGrpSpPr/>
            <p:nvPr/>
          </p:nvGrpSpPr>
          <p:grpSpPr>
            <a:xfrm>
              <a:off x="2726531" y="5050631"/>
              <a:ext cx="128588" cy="128588"/>
              <a:chOff x="2726531" y="5050631"/>
              <a:chExt cx="128588" cy="128588"/>
            </a:xfrm>
          </p:grpSpPr>
          <p:sp>
            <p:nvSpPr>
              <p:cNvPr id="129" name="Freeform 129"/>
              <p:cNvSpPr/>
              <p:nvPr/>
            </p:nvSpPr>
            <p:spPr>
              <a:xfrm>
                <a:off x="2726531" y="50506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A52D12"/>
                </a:solidFill>
              </a:ln>
            </p:spPr>
          </p:sp>
          <p:sp>
            <p:nvSpPr>
              <p:cNvPr id="130" name="Freeform 130"/>
              <p:cNvSpPr/>
              <p:nvPr/>
            </p:nvSpPr>
            <p:spPr>
              <a:xfrm>
                <a:off x="2769394" y="5100638"/>
                <a:ext cx="42862" cy="28575"/>
              </a:xfrm>
              <a:custGeom>
                <a:avLst/>
                <a:gdLst/>
                <a:ahLst/>
                <a:cxnLst/>
                <a:rect l="l" t="t" r="r" b="b"/>
                <a:pathLst>
                  <a:path w="42862" h="28575">
                    <a:moveTo>
                      <a:pt x="0" y="14288"/>
                    </a:moveTo>
                    <a:lnTo>
                      <a:pt x="14288" y="28575"/>
                    </a:lnTo>
                    <a:lnTo>
                      <a:pt x="42862" y="0"/>
                    </a:lnTo>
                  </a:path>
                </a:pathLst>
              </a:custGeom>
              <a:noFill/>
              <a:ln w="14288">
                <a:solidFill>
                  <a:srgbClr val="A52D12"/>
                </a:solidFill>
              </a:ln>
            </p:spPr>
          </p:sp>
        </p:grpSp>
        <p:sp>
          <p:nvSpPr>
            <p:cNvPr id="132" name="TextBox 132"/>
            <p:cNvSpPr txBox="1"/>
            <p:nvPr/>
          </p:nvSpPr>
          <p:spPr>
            <a:xfrm>
              <a:off x="2821013" y="52680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质量治理</a:t>
              </a:r>
            </a:p>
          </p:txBody>
        </p:sp>
        <p:sp>
          <p:nvSpPr>
            <p:cNvPr id="133" name="Rectangle 133"/>
            <p:cNvSpPr/>
            <p:nvPr/>
          </p:nvSpPr>
          <p:spPr>
            <a:xfrm>
              <a:off x="3505200" y="4933950"/>
              <a:ext cx="819150" cy="514350"/>
            </a:xfrm>
            <a:prstGeom prst="roundRect">
              <a:avLst>
                <a:gd name="adj" fmla="val 14815"/>
              </a:avLst>
            </a:prstGeom>
            <a:solidFill>
              <a:srgbClr val="FFFFFF"/>
            </a:solidFill>
            <a:ln w="9525">
              <a:solidFill>
                <a:srgbClr val="EDD5D2"/>
              </a:solidFill>
            </a:ln>
          </p:spPr>
        </p:sp>
        <p:grpSp>
          <p:nvGrpSpPr>
            <p:cNvPr id="137" name="Group 137"/>
            <p:cNvGrpSpPr/>
            <p:nvPr/>
          </p:nvGrpSpPr>
          <p:grpSpPr>
            <a:xfrm>
              <a:off x="3609975" y="5050631"/>
              <a:ext cx="114300" cy="128588"/>
              <a:chOff x="3609975" y="5050631"/>
              <a:chExt cx="114300" cy="128588"/>
            </a:xfrm>
          </p:grpSpPr>
          <p:sp>
            <p:nvSpPr>
              <p:cNvPr id="134" name="Freeform 134"/>
              <p:cNvSpPr/>
              <p:nvPr/>
            </p:nvSpPr>
            <p:spPr>
              <a:xfrm>
                <a:off x="3609975" y="505063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A52D12"/>
                </a:solidFill>
              </a:ln>
            </p:spPr>
          </p:sp>
          <p:sp>
            <p:nvSpPr>
              <p:cNvPr id="135" name="Freeform 135"/>
              <p:cNvSpPr/>
              <p:nvPr/>
            </p:nvSpPr>
            <p:spPr>
              <a:xfrm>
                <a:off x="3609975" y="507206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A52D12"/>
                </a:solidFill>
              </a:ln>
            </p:spPr>
          </p:sp>
          <p:sp>
            <p:nvSpPr>
              <p:cNvPr id="136" name="Freeform 136"/>
              <p:cNvSpPr/>
              <p:nvPr/>
            </p:nvSpPr>
            <p:spPr>
              <a:xfrm>
                <a:off x="3609975" y="511492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A52D12"/>
                </a:solidFill>
              </a:ln>
            </p:spPr>
          </p:sp>
        </p:grpSp>
        <p:sp>
          <p:nvSpPr>
            <p:cNvPr id="138" name="TextBox 138"/>
            <p:cNvSpPr txBox="1"/>
            <p:nvPr/>
          </p:nvSpPr>
          <p:spPr>
            <a:xfrm>
              <a:off x="3750488" y="5268039"/>
              <a:ext cx="32857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主数据</a:t>
              </a:r>
            </a:p>
          </p:txBody>
        </p:sp>
        <p:sp>
          <p:nvSpPr>
            <p:cNvPr id="139" name="Rectangle 139"/>
            <p:cNvSpPr/>
            <p:nvPr/>
          </p:nvSpPr>
          <p:spPr>
            <a:xfrm>
              <a:off x="4381500" y="4933950"/>
              <a:ext cx="819150" cy="514350"/>
            </a:xfrm>
            <a:prstGeom prst="roundRect">
              <a:avLst>
                <a:gd name="adj" fmla="val 14815"/>
              </a:avLst>
            </a:prstGeom>
            <a:solidFill>
              <a:srgbClr val="FFFFFF"/>
            </a:solidFill>
            <a:ln w="9525">
              <a:solidFill>
                <a:srgbClr val="EDD5D2"/>
              </a:solidFill>
            </a:ln>
          </p:spPr>
        </p:sp>
        <p:grpSp>
          <p:nvGrpSpPr>
            <p:cNvPr id="142" name="Group 142"/>
            <p:cNvGrpSpPr/>
            <p:nvPr/>
          </p:nvGrpSpPr>
          <p:grpSpPr>
            <a:xfrm>
              <a:off x="4486275" y="5055019"/>
              <a:ext cx="114300" cy="119813"/>
              <a:chOff x="4486275" y="5055019"/>
              <a:chExt cx="114300" cy="119813"/>
            </a:xfrm>
          </p:grpSpPr>
          <p:sp>
            <p:nvSpPr>
              <p:cNvPr id="140" name="Freeform 140"/>
              <p:cNvSpPr/>
              <p:nvPr/>
            </p:nvSpPr>
            <p:spPr>
              <a:xfrm>
                <a:off x="4486275" y="5055019"/>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A52D12"/>
                </a:solidFill>
              </a:ln>
            </p:spPr>
          </p:sp>
          <p:sp>
            <p:nvSpPr>
              <p:cNvPr id="141" name="Freeform 141"/>
              <p:cNvSpPr/>
              <p:nvPr/>
            </p:nvSpPr>
            <p:spPr>
              <a:xfrm>
                <a:off x="4486275" y="5122069"/>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A52D12"/>
                </a:solidFill>
              </a:ln>
            </p:spPr>
          </p:sp>
        </p:grpSp>
        <p:sp>
          <p:nvSpPr>
            <p:cNvPr id="143" name="TextBox 143"/>
            <p:cNvSpPr txBox="1"/>
            <p:nvPr/>
          </p:nvSpPr>
          <p:spPr>
            <a:xfrm>
              <a:off x="4573613" y="52680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实时计算</a:t>
              </a:r>
            </a:p>
          </p:txBody>
        </p:sp>
      </p:grpSp>
      <p:grpSp>
        <p:nvGrpSpPr>
          <p:cNvPr id="181" name="data-loop"/>
          <p:cNvGrpSpPr/>
          <p:nvPr/>
        </p:nvGrpSpPr>
        <p:grpSpPr>
          <a:xfrm>
            <a:off x="5410771" y="2095500"/>
            <a:ext cx="2456308" cy="3486150"/>
            <a:chOff x="5410771" y="2095500"/>
            <a:chExt cx="2456308" cy="3486150"/>
          </a:xfrm>
        </p:grpSpPr>
        <p:sp>
          <p:nvSpPr>
            <p:cNvPr id="145" name="Rectangle 145"/>
            <p:cNvSpPr/>
            <p:nvPr/>
          </p:nvSpPr>
          <p:spPr>
            <a:xfrm>
              <a:off x="5448300" y="2095500"/>
              <a:ext cx="2381250" cy="3486150"/>
            </a:xfrm>
            <a:prstGeom prst="roundRect">
              <a:avLst>
                <a:gd name="adj" fmla="val 3200"/>
              </a:avLst>
            </a:prstGeom>
            <a:solidFill>
              <a:srgbClr val="FDF6F5"/>
            </a:solidFill>
            <a:ln w="9525">
              <a:solidFill>
                <a:srgbClr val="EDD5D2"/>
              </a:solidFill>
            </a:ln>
          </p:spPr>
        </p:sp>
        <p:sp>
          <p:nvSpPr>
            <p:cNvPr id="146" name="Freeform 146"/>
            <p:cNvSpPr/>
            <p:nvPr/>
          </p:nvSpPr>
          <p:spPr>
            <a:xfrm>
              <a:off x="5457825" y="2105025"/>
              <a:ext cx="2362200" cy="228600"/>
            </a:xfrm>
            <a:custGeom>
              <a:avLst/>
              <a:gdLst/>
              <a:ahLst/>
              <a:cxnLst/>
              <a:rect l="l" t="t" r="r" b="b"/>
              <a:pathLst>
                <a:path w="2362200" h="228600">
                  <a:moveTo>
                    <a:pt x="0" y="228600"/>
                  </a:moveTo>
                  <a:lnTo>
                    <a:pt x="2362200" y="228600"/>
                  </a:lnTo>
                  <a:lnTo>
                    <a:pt x="2362200" y="66675"/>
                  </a:lnTo>
                  <a:cubicBezTo>
                    <a:pt x="2362200" y="29851"/>
                    <a:pt x="2332349" y="0"/>
                    <a:pt x="2295525" y="0"/>
                  </a:cubicBezTo>
                  <a:lnTo>
                    <a:pt x="66675" y="0"/>
                  </a:lnTo>
                  <a:cubicBezTo>
                    <a:pt x="29851" y="0"/>
                    <a:pt x="0" y="29851"/>
                    <a:pt x="0" y="66675"/>
                  </a:cubicBezTo>
                  <a:close/>
                </a:path>
              </a:pathLst>
            </a:custGeom>
            <a:solidFill>
              <a:srgbClr val="A52D12"/>
            </a:solidFill>
            <a:ln>
              <a:noFill/>
            </a:ln>
          </p:spPr>
        </p:sp>
        <p:sp>
          <p:nvSpPr>
            <p:cNvPr id="147" name="TextBox 147"/>
            <p:cNvSpPr txBox="1"/>
            <p:nvPr/>
          </p:nvSpPr>
          <p:spPr>
            <a:xfrm>
              <a:off x="6068187" y="2153602"/>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数据驱动业务闭环</a:t>
              </a:r>
            </a:p>
          </p:txBody>
        </p:sp>
        <p:sp>
          <p:nvSpPr>
            <p:cNvPr id="148" name="Ellipse 148"/>
            <p:cNvSpPr/>
            <p:nvPr/>
          </p:nvSpPr>
          <p:spPr>
            <a:xfrm>
              <a:off x="6219825" y="3543300"/>
              <a:ext cx="838200" cy="838200"/>
            </a:xfrm>
            <a:prstGeom prst="ellipse">
              <a:avLst/>
            </a:prstGeom>
            <a:solidFill>
              <a:srgbClr val="A52D12"/>
            </a:solidFill>
            <a:ln>
              <a:noFill/>
            </a:ln>
          </p:spPr>
        </p:sp>
        <p:sp>
          <p:nvSpPr>
            <p:cNvPr id="149" name="TextBox 149"/>
            <p:cNvSpPr txBox="1"/>
            <p:nvPr/>
          </p:nvSpPr>
          <p:spPr>
            <a:xfrm>
              <a:off x="6370117" y="37999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数据驱动</a:t>
              </a:r>
            </a:p>
          </p:txBody>
        </p:sp>
        <p:sp>
          <p:nvSpPr>
            <p:cNvPr id="150" name="TextBox 150"/>
            <p:cNvSpPr txBox="1"/>
            <p:nvPr/>
          </p:nvSpPr>
          <p:spPr>
            <a:xfrm>
              <a:off x="6370117" y="39904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业务闭环</a:t>
              </a:r>
            </a:p>
          </p:txBody>
        </p:sp>
        <p:sp>
          <p:nvSpPr>
            <p:cNvPr id="151" name="Freeform 151"/>
            <p:cNvSpPr/>
            <p:nvPr/>
          </p:nvSpPr>
          <p:spPr>
            <a:xfrm>
              <a:off x="6823710" y="3223260"/>
              <a:ext cx="461010" cy="335280"/>
            </a:xfrm>
            <a:custGeom>
              <a:avLst/>
              <a:gdLst/>
              <a:ahLst/>
              <a:cxnLst/>
              <a:rect l="l" t="t" r="r" b="b"/>
              <a:pathLst>
                <a:path w="461010" h="335280">
                  <a:moveTo>
                    <a:pt x="0" y="0"/>
                  </a:moveTo>
                  <a:cubicBezTo>
                    <a:pt x="191260" y="47908"/>
                    <a:pt x="356504" y="168085"/>
                    <a:pt x="461010" y="335280"/>
                  </a:cubicBezTo>
                </a:path>
              </a:pathLst>
            </a:custGeom>
            <a:noFill/>
            <a:ln w="19050">
              <a:solidFill>
                <a:srgbClr val="C9604E"/>
              </a:solidFill>
              <a:tailEnd type="triangle" w="lg" len="lg"/>
            </a:ln>
          </p:spPr>
        </p:sp>
        <p:sp>
          <p:nvSpPr>
            <p:cNvPr id="152" name="Freeform 152"/>
            <p:cNvSpPr/>
            <p:nvPr/>
          </p:nvSpPr>
          <p:spPr>
            <a:xfrm>
              <a:off x="7222808" y="3909060"/>
              <a:ext cx="366712" cy="542925"/>
            </a:xfrm>
            <a:custGeom>
              <a:avLst/>
              <a:gdLst/>
              <a:ahLst/>
              <a:cxnLst/>
              <a:rect l="l" t="t" r="r" b="b"/>
              <a:pathLst>
                <a:path w="366712" h="542925">
                  <a:moveTo>
                    <a:pt x="366712" y="0"/>
                  </a:moveTo>
                  <a:cubicBezTo>
                    <a:pt x="332486" y="226970"/>
                    <a:pt x="197771" y="426419"/>
                    <a:pt x="0" y="542925"/>
                  </a:cubicBezTo>
                </a:path>
              </a:pathLst>
            </a:custGeom>
            <a:noFill/>
            <a:ln w="19050">
              <a:solidFill>
                <a:srgbClr val="C9604E"/>
              </a:solidFill>
              <a:tailEnd type="triangle" w="lg" len="lg"/>
            </a:ln>
          </p:spPr>
        </p:sp>
        <p:sp>
          <p:nvSpPr>
            <p:cNvPr id="153" name="Freeform 153"/>
            <p:cNvSpPr/>
            <p:nvPr/>
          </p:nvSpPr>
          <p:spPr>
            <a:xfrm>
              <a:off x="6353175" y="4669155"/>
              <a:ext cx="571500" cy="74143"/>
            </a:xfrm>
            <a:custGeom>
              <a:avLst/>
              <a:gdLst/>
              <a:ahLst/>
              <a:cxnLst/>
              <a:rect l="l" t="t" r="r" b="b"/>
              <a:pathLst>
                <a:path w="571500" h="74143">
                  <a:moveTo>
                    <a:pt x="571500" y="0"/>
                  </a:moveTo>
                  <a:cubicBezTo>
                    <a:pt x="388214" y="74143"/>
                    <a:pt x="183286" y="74143"/>
                    <a:pt x="0" y="0"/>
                  </a:cubicBezTo>
                </a:path>
              </a:pathLst>
            </a:custGeom>
            <a:noFill/>
            <a:ln w="19050">
              <a:solidFill>
                <a:srgbClr val="C9604E"/>
              </a:solidFill>
              <a:tailEnd type="triangle" w="lg" len="lg"/>
            </a:ln>
          </p:spPr>
        </p:sp>
        <p:sp>
          <p:nvSpPr>
            <p:cNvPr id="154" name="Freeform 154"/>
            <p:cNvSpPr/>
            <p:nvPr/>
          </p:nvSpPr>
          <p:spPr>
            <a:xfrm>
              <a:off x="5865006" y="3909060"/>
              <a:ext cx="190037" cy="542925"/>
            </a:xfrm>
            <a:custGeom>
              <a:avLst/>
              <a:gdLst/>
              <a:ahLst/>
              <a:cxnLst/>
              <a:rect l="l" t="t" r="r" b="b"/>
              <a:pathLst>
                <a:path w="190037" h="542925">
                  <a:moveTo>
                    <a:pt x="190037" y="542925"/>
                  </a:moveTo>
                  <a:cubicBezTo>
                    <a:pt x="63175" y="391616"/>
                    <a:pt x="0" y="196970"/>
                    <a:pt x="13824" y="0"/>
                  </a:cubicBezTo>
                </a:path>
              </a:pathLst>
            </a:custGeom>
            <a:noFill/>
            <a:ln w="19050">
              <a:solidFill>
                <a:srgbClr val="C9604E"/>
              </a:solidFill>
              <a:tailEnd type="triangle" w="lg" len="lg"/>
            </a:ln>
          </p:spPr>
        </p:sp>
        <p:sp>
          <p:nvSpPr>
            <p:cNvPr id="155" name="Freeform 155"/>
            <p:cNvSpPr/>
            <p:nvPr/>
          </p:nvSpPr>
          <p:spPr>
            <a:xfrm>
              <a:off x="5993130" y="3223260"/>
              <a:ext cx="461010" cy="335280"/>
            </a:xfrm>
            <a:custGeom>
              <a:avLst/>
              <a:gdLst/>
              <a:ahLst/>
              <a:cxnLst/>
              <a:rect l="l" t="t" r="r" b="b"/>
              <a:pathLst>
                <a:path w="461010" h="335280">
                  <a:moveTo>
                    <a:pt x="0" y="335280"/>
                  </a:moveTo>
                  <a:cubicBezTo>
                    <a:pt x="104506" y="168085"/>
                    <a:pt x="269750" y="47908"/>
                    <a:pt x="461010" y="0"/>
                  </a:cubicBezTo>
                </a:path>
              </a:pathLst>
            </a:custGeom>
            <a:noFill/>
            <a:ln w="19050">
              <a:solidFill>
                <a:srgbClr val="C9604E"/>
              </a:solidFill>
              <a:tailEnd type="triangle" w="lg" len="lg"/>
            </a:ln>
          </p:spPr>
        </p:sp>
        <p:sp>
          <p:nvSpPr>
            <p:cNvPr id="156" name="Ellipse 156"/>
            <p:cNvSpPr/>
            <p:nvPr/>
          </p:nvSpPr>
          <p:spPr>
            <a:xfrm>
              <a:off x="6457950" y="3019425"/>
              <a:ext cx="361950" cy="361950"/>
            </a:xfrm>
            <a:prstGeom prst="ellipse">
              <a:avLst/>
            </a:prstGeom>
            <a:solidFill>
              <a:srgbClr val="FFFFFF"/>
            </a:solidFill>
            <a:ln w="15240">
              <a:solidFill>
                <a:srgbClr val="A52D12"/>
              </a:solidFill>
            </a:ln>
          </p:spPr>
        </p:sp>
        <p:grpSp>
          <p:nvGrpSpPr>
            <p:cNvPr id="159" name="Group 159"/>
            <p:cNvGrpSpPr/>
            <p:nvPr/>
          </p:nvGrpSpPr>
          <p:grpSpPr>
            <a:xfrm>
              <a:off x="6581775" y="3162300"/>
              <a:ext cx="114300" cy="76200"/>
              <a:chOff x="6581775" y="3162300"/>
              <a:chExt cx="114300" cy="76200"/>
            </a:xfrm>
          </p:grpSpPr>
          <p:sp>
            <p:nvSpPr>
              <p:cNvPr id="157" name="Freeform 157"/>
              <p:cNvSpPr/>
              <p:nvPr/>
            </p:nvSpPr>
            <p:spPr>
              <a:xfrm>
                <a:off x="6626225" y="31877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A52D12"/>
                </a:solidFill>
              </a:ln>
            </p:spPr>
          </p:sp>
          <p:sp>
            <p:nvSpPr>
              <p:cNvPr id="158" name="Freeform 158"/>
              <p:cNvSpPr/>
              <p:nvPr/>
            </p:nvSpPr>
            <p:spPr>
              <a:xfrm>
                <a:off x="6581775" y="3162300"/>
                <a:ext cx="114300" cy="76200"/>
              </a:xfrm>
              <a:custGeom>
                <a:avLst/>
                <a:gdLst/>
                <a:ahLst/>
                <a:cxnLst/>
                <a:rect l="l" t="t" r="r" b="b"/>
                <a:pathLst>
                  <a:path w="114300" h="76200">
                    <a:moveTo>
                      <a:pt x="114300" y="38100"/>
                    </a:moveTo>
                    <a:cubicBezTo>
                      <a:pt x="99060" y="63500"/>
                      <a:pt x="80010" y="76200"/>
                      <a:pt x="57150" y="76200"/>
                    </a:cubicBezTo>
                    <a:cubicBezTo>
                      <a:pt x="34290" y="76200"/>
                      <a:pt x="15240" y="63500"/>
                      <a:pt x="0" y="38100"/>
                    </a:cubicBezTo>
                    <a:cubicBezTo>
                      <a:pt x="15240" y="12700"/>
                      <a:pt x="34290" y="0"/>
                      <a:pt x="57150" y="0"/>
                    </a:cubicBezTo>
                    <a:cubicBezTo>
                      <a:pt x="80010" y="0"/>
                      <a:pt x="99060" y="12700"/>
                      <a:pt x="114300" y="38100"/>
                    </a:cubicBezTo>
                  </a:path>
                </a:pathLst>
              </a:custGeom>
              <a:noFill/>
              <a:ln w="12700">
                <a:solidFill>
                  <a:srgbClr val="A52D12"/>
                </a:solidFill>
              </a:ln>
            </p:spPr>
          </p:sp>
        </p:grpSp>
        <p:sp>
          <p:nvSpPr>
            <p:cNvPr id="160" name="TextBox 160"/>
            <p:cNvSpPr txBox="1"/>
            <p:nvPr/>
          </p:nvSpPr>
          <p:spPr>
            <a:xfrm>
              <a:off x="6513004" y="2817495"/>
              <a:ext cx="251841"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洞察</a:t>
              </a:r>
            </a:p>
          </p:txBody>
        </p:sp>
        <p:sp>
          <p:nvSpPr>
            <p:cNvPr id="161" name="Ellipse 161"/>
            <p:cNvSpPr/>
            <p:nvPr/>
          </p:nvSpPr>
          <p:spPr>
            <a:xfrm>
              <a:off x="7182802" y="3546158"/>
              <a:ext cx="361950" cy="361950"/>
            </a:xfrm>
            <a:prstGeom prst="ellipse">
              <a:avLst/>
            </a:prstGeom>
            <a:solidFill>
              <a:srgbClr val="FFFFFF"/>
            </a:solidFill>
            <a:ln w="15240">
              <a:solidFill>
                <a:srgbClr val="A52D12"/>
              </a:solidFill>
            </a:ln>
          </p:spPr>
        </p:sp>
        <p:grpSp>
          <p:nvGrpSpPr>
            <p:cNvPr id="165" name="Group 165"/>
            <p:cNvGrpSpPr/>
            <p:nvPr/>
          </p:nvGrpSpPr>
          <p:grpSpPr>
            <a:xfrm>
              <a:off x="7305675" y="3667125"/>
              <a:ext cx="114300" cy="114300"/>
              <a:chOff x="7305675" y="3667125"/>
              <a:chExt cx="114300" cy="114300"/>
            </a:xfrm>
          </p:grpSpPr>
          <p:sp>
            <p:nvSpPr>
              <p:cNvPr id="162" name="Freeform 162"/>
              <p:cNvSpPr/>
              <p:nvPr/>
            </p:nvSpPr>
            <p:spPr>
              <a:xfrm>
                <a:off x="7305675" y="3667125"/>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A52D12"/>
                </a:solidFill>
              </a:ln>
            </p:spPr>
          </p:sp>
          <p:sp>
            <p:nvSpPr>
              <p:cNvPr id="163" name="Freeform 163"/>
              <p:cNvSpPr/>
              <p:nvPr/>
            </p:nvSpPr>
            <p:spPr>
              <a:xfrm>
                <a:off x="7328383" y="3692525"/>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A52D12"/>
                </a:solidFill>
              </a:ln>
            </p:spPr>
          </p:sp>
          <p:sp>
            <p:nvSpPr>
              <p:cNvPr id="164" name="Freeform 164"/>
              <p:cNvSpPr/>
              <p:nvPr/>
            </p:nvSpPr>
            <p:spPr>
              <a:xfrm>
                <a:off x="7348220" y="3756025"/>
                <a:ext cx="29210" cy="9525"/>
              </a:xfrm>
              <a:custGeom>
                <a:avLst/>
                <a:gdLst/>
                <a:ahLst/>
                <a:cxnLst/>
                <a:rect l="l" t="t" r="r" b="b"/>
                <a:pathLst>
                  <a:path w="29210" h="9525">
                    <a:moveTo>
                      <a:pt x="0" y="0"/>
                    </a:moveTo>
                    <a:lnTo>
                      <a:pt x="29210" y="0"/>
                    </a:lnTo>
                  </a:path>
                </a:pathLst>
              </a:custGeom>
              <a:noFill/>
              <a:ln w="12700">
                <a:solidFill>
                  <a:srgbClr val="A52D12"/>
                </a:solidFill>
              </a:ln>
            </p:spPr>
          </p:sp>
        </p:grpSp>
        <p:sp>
          <p:nvSpPr>
            <p:cNvPr id="166" name="TextBox 166"/>
            <p:cNvSpPr txBox="1"/>
            <p:nvPr/>
          </p:nvSpPr>
          <p:spPr>
            <a:xfrm>
              <a:off x="7615238" y="3665220"/>
              <a:ext cx="251841"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决策</a:t>
              </a:r>
            </a:p>
          </p:txBody>
        </p:sp>
        <p:sp>
          <p:nvSpPr>
            <p:cNvPr id="167" name="Ellipse 167"/>
            <p:cNvSpPr/>
            <p:nvPr/>
          </p:nvSpPr>
          <p:spPr>
            <a:xfrm>
              <a:off x="6905625" y="4397692"/>
              <a:ext cx="361950" cy="361950"/>
            </a:xfrm>
            <a:prstGeom prst="ellipse">
              <a:avLst/>
            </a:prstGeom>
            <a:solidFill>
              <a:srgbClr val="FFFFFF"/>
            </a:solidFill>
            <a:ln w="15240">
              <a:solidFill>
                <a:srgbClr val="A52D12"/>
              </a:solidFill>
            </a:ln>
          </p:spPr>
        </p:sp>
        <p:grpSp>
          <p:nvGrpSpPr>
            <p:cNvPr id="171" name="Group 171"/>
            <p:cNvGrpSpPr/>
            <p:nvPr/>
          </p:nvGrpSpPr>
          <p:grpSpPr>
            <a:xfrm>
              <a:off x="7033794" y="4521200"/>
              <a:ext cx="103606" cy="103606"/>
              <a:chOff x="7033794" y="4521200"/>
              <a:chExt cx="103606" cy="103606"/>
            </a:xfrm>
          </p:grpSpPr>
          <p:sp>
            <p:nvSpPr>
              <p:cNvPr id="168" name="Freeform 168"/>
              <p:cNvSpPr/>
              <p:nvPr/>
            </p:nvSpPr>
            <p:spPr>
              <a:xfrm>
                <a:off x="7035800" y="4521200"/>
                <a:ext cx="101600" cy="101600"/>
              </a:xfrm>
              <a:custGeom>
                <a:avLst/>
                <a:gdLst/>
                <a:ahLst/>
                <a:cxnLst/>
                <a:rect l="l" t="t" r="r" b="b"/>
                <a:pathLst>
                  <a:path w="101600" h="101600">
                    <a:moveTo>
                      <a:pt x="0" y="57150"/>
                    </a:moveTo>
                    <a:cubicBezTo>
                      <a:pt x="23306" y="59920"/>
                      <a:pt x="41680" y="78294"/>
                      <a:pt x="44450" y="101600"/>
                    </a:cubicBezTo>
                    <a:cubicBezTo>
                      <a:pt x="55861" y="95021"/>
                      <a:pt x="63065" y="83015"/>
                      <a:pt x="63500" y="69850"/>
                    </a:cubicBezTo>
                    <a:cubicBezTo>
                      <a:pt x="85304" y="62180"/>
                      <a:pt x="100342" y="42130"/>
                      <a:pt x="101600" y="19050"/>
                    </a:cubicBezTo>
                    <a:cubicBezTo>
                      <a:pt x="101600" y="8529"/>
                      <a:pt x="93071" y="0"/>
                      <a:pt x="82550" y="0"/>
                    </a:cubicBezTo>
                    <a:cubicBezTo>
                      <a:pt x="59470" y="1258"/>
                      <a:pt x="39420" y="16296"/>
                      <a:pt x="31750" y="38100"/>
                    </a:cubicBezTo>
                    <a:cubicBezTo>
                      <a:pt x="18585" y="38535"/>
                      <a:pt x="6579" y="45739"/>
                      <a:pt x="0" y="57150"/>
                    </a:cubicBezTo>
                  </a:path>
                </a:pathLst>
              </a:custGeom>
              <a:noFill/>
              <a:ln w="12700">
                <a:solidFill>
                  <a:srgbClr val="A52D12"/>
                </a:solidFill>
              </a:ln>
            </p:spPr>
          </p:sp>
          <p:sp>
            <p:nvSpPr>
              <p:cNvPr id="169" name="Freeform 169"/>
              <p:cNvSpPr/>
              <p:nvPr/>
            </p:nvSpPr>
            <p:spPr>
              <a:xfrm>
                <a:off x="7033794" y="4584700"/>
                <a:ext cx="40106" cy="40106"/>
              </a:xfrm>
              <a:custGeom>
                <a:avLst/>
                <a:gdLst/>
                <a:ahLst/>
                <a:cxnLst/>
                <a:rect l="l" t="t" r="r" b="b"/>
                <a:pathLst>
                  <a:path w="40106" h="40106">
                    <a:moveTo>
                      <a:pt x="21056" y="0"/>
                    </a:moveTo>
                    <a:cubicBezTo>
                      <a:pt x="7536" y="7633"/>
                      <a:pt x="0" y="22705"/>
                      <a:pt x="2006" y="38100"/>
                    </a:cubicBezTo>
                    <a:cubicBezTo>
                      <a:pt x="17401" y="40106"/>
                      <a:pt x="32473" y="32570"/>
                      <a:pt x="40106" y="19050"/>
                    </a:cubicBezTo>
                  </a:path>
                </a:pathLst>
              </a:custGeom>
              <a:noFill/>
              <a:ln w="12700">
                <a:solidFill>
                  <a:srgbClr val="A52D12"/>
                </a:solidFill>
              </a:ln>
            </p:spPr>
          </p:sp>
          <p:sp>
            <p:nvSpPr>
              <p:cNvPr id="170" name="Freeform 170"/>
              <p:cNvSpPr/>
              <p:nvPr/>
            </p:nvSpPr>
            <p:spPr>
              <a:xfrm>
                <a:off x="7099300" y="45466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A52D12"/>
                </a:solidFill>
              </a:ln>
            </p:spPr>
          </p:sp>
        </p:grpSp>
        <p:sp>
          <p:nvSpPr>
            <p:cNvPr id="172" name="TextBox 172"/>
            <p:cNvSpPr txBox="1"/>
            <p:nvPr/>
          </p:nvSpPr>
          <p:spPr>
            <a:xfrm>
              <a:off x="7348538" y="4617720"/>
              <a:ext cx="251841" cy="176212"/>
            </a:xfrm>
            <a:prstGeom prst="rect">
              <a:avLst/>
            </a:prstGeom>
            <a:noFill/>
            <a:ln>
              <a:noFill/>
            </a:ln>
          </p:spPr>
          <p:txBody>
            <a:bodyPr wrap="none" lIns="0" tIns="0" rIns="0" bIns="0" anchor="t" anchorCtr="0">
              <a:spAutoFit/>
            </a:bodyPr>
            <a:lstStyle/>
            <a:p>
              <a:pPr algn="l"/>
              <a:r>
                <a:rPr lang="zh-CN" sz="900" b="1" dirty="0">
                  <a:solidFill>
                    <a:srgbClr val="1F1F1F"/>
                  </a:solidFill>
                  <a:latin typeface="+mn-lt"/>
                  <a:ea typeface="+mn-ea"/>
                  <a:cs typeface="+mn-cs"/>
                </a:rPr>
                <a:t>触达</a:t>
              </a:r>
            </a:p>
          </p:txBody>
        </p:sp>
        <p:sp>
          <p:nvSpPr>
            <p:cNvPr id="173" name="Ellipse 173"/>
            <p:cNvSpPr/>
            <p:nvPr/>
          </p:nvSpPr>
          <p:spPr>
            <a:xfrm>
              <a:off x="6010275" y="4397692"/>
              <a:ext cx="361950" cy="361950"/>
            </a:xfrm>
            <a:prstGeom prst="ellipse">
              <a:avLst/>
            </a:prstGeom>
            <a:solidFill>
              <a:srgbClr val="FFFFFF"/>
            </a:solidFill>
            <a:ln w="15240">
              <a:solidFill>
                <a:srgbClr val="A52D12"/>
              </a:solidFill>
            </a:ln>
          </p:spPr>
        </p:sp>
        <p:sp>
          <p:nvSpPr>
            <p:cNvPr id="174" name="Freeform 174"/>
            <p:cNvSpPr/>
            <p:nvPr/>
          </p:nvSpPr>
          <p:spPr>
            <a:xfrm>
              <a:off x="6127598" y="451627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A52D12"/>
              </a:solidFill>
            </a:ln>
          </p:spPr>
        </p:sp>
        <p:sp>
          <p:nvSpPr>
            <p:cNvPr id="175" name="TextBox 175"/>
            <p:cNvSpPr txBox="1"/>
            <p:nvPr/>
          </p:nvSpPr>
          <p:spPr>
            <a:xfrm>
              <a:off x="5677471" y="4617720"/>
              <a:ext cx="251841" cy="176212"/>
            </a:xfrm>
            <a:prstGeom prst="rect">
              <a:avLst/>
            </a:prstGeom>
            <a:noFill/>
            <a:ln>
              <a:noFill/>
            </a:ln>
          </p:spPr>
          <p:txBody>
            <a:bodyPr wrap="none" lIns="0" tIns="0" rIns="0" bIns="0" anchor="t" anchorCtr="0">
              <a:spAutoFit/>
            </a:bodyPr>
            <a:lstStyle/>
            <a:p>
              <a:pPr algn="r"/>
              <a:r>
                <a:rPr lang="zh-CN" sz="900" b="1" dirty="0">
                  <a:solidFill>
                    <a:srgbClr val="1F1F1F"/>
                  </a:solidFill>
                  <a:latin typeface="+mn-lt"/>
                  <a:ea typeface="+mn-ea"/>
                  <a:cs typeface="+mn-cs"/>
                </a:rPr>
                <a:t>反馈</a:t>
              </a:r>
            </a:p>
          </p:txBody>
        </p:sp>
        <p:sp>
          <p:nvSpPr>
            <p:cNvPr id="176" name="Ellipse 176"/>
            <p:cNvSpPr/>
            <p:nvPr/>
          </p:nvSpPr>
          <p:spPr>
            <a:xfrm>
              <a:off x="5733098" y="3546158"/>
              <a:ext cx="361950" cy="361950"/>
            </a:xfrm>
            <a:prstGeom prst="ellipse">
              <a:avLst/>
            </a:prstGeom>
            <a:solidFill>
              <a:srgbClr val="FFFFFF"/>
            </a:solidFill>
            <a:ln w="15240">
              <a:solidFill>
                <a:srgbClr val="A52D12"/>
              </a:solidFill>
            </a:ln>
          </p:spPr>
        </p:sp>
        <p:grpSp>
          <p:nvGrpSpPr>
            <p:cNvPr id="179" name="Group 179"/>
            <p:cNvGrpSpPr/>
            <p:nvPr/>
          </p:nvGrpSpPr>
          <p:grpSpPr>
            <a:xfrm>
              <a:off x="5854700" y="3671025"/>
              <a:ext cx="101600" cy="106500"/>
              <a:chOff x="5854700" y="3671025"/>
              <a:chExt cx="101600" cy="106500"/>
            </a:xfrm>
          </p:grpSpPr>
          <p:sp>
            <p:nvSpPr>
              <p:cNvPr id="177" name="Freeform 177"/>
              <p:cNvSpPr/>
              <p:nvPr/>
            </p:nvSpPr>
            <p:spPr>
              <a:xfrm>
                <a:off x="5854700" y="3671025"/>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A52D12"/>
                </a:solidFill>
              </a:ln>
            </p:spPr>
          </p:sp>
          <p:sp>
            <p:nvSpPr>
              <p:cNvPr id="178" name="Freeform 178"/>
              <p:cNvSpPr/>
              <p:nvPr/>
            </p:nvSpPr>
            <p:spPr>
              <a:xfrm>
                <a:off x="5854700" y="3730625"/>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A52D12"/>
                </a:solidFill>
              </a:ln>
            </p:spPr>
          </p:sp>
        </p:grpSp>
        <p:sp>
          <p:nvSpPr>
            <p:cNvPr id="180" name="TextBox 180"/>
            <p:cNvSpPr txBox="1"/>
            <p:nvPr/>
          </p:nvSpPr>
          <p:spPr>
            <a:xfrm>
              <a:off x="5410771" y="3665220"/>
              <a:ext cx="251841" cy="176212"/>
            </a:xfrm>
            <a:prstGeom prst="rect">
              <a:avLst/>
            </a:prstGeom>
            <a:noFill/>
            <a:ln>
              <a:noFill/>
            </a:ln>
          </p:spPr>
          <p:txBody>
            <a:bodyPr wrap="none" lIns="0" tIns="0" rIns="0" bIns="0" anchor="t" anchorCtr="0">
              <a:spAutoFit/>
            </a:bodyPr>
            <a:lstStyle/>
            <a:p>
              <a:pPr algn="r"/>
              <a:r>
                <a:rPr lang="zh-CN" sz="900" b="1" dirty="0">
                  <a:solidFill>
                    <a:srgbClr val="1F1F1F"/>
                  </a:solidFill>
                  <a:latin typeface="+mn-lt"/>
                  <a:ea typeface="+mn-ea"/>
                  <a:cs typeface="+mn-cs"/>
                </a:rPr>
                <a:t>迭代</a:t>
              </a:r>
            </a:p>
          </p:txBody>
        </p:sp>
      </p:grpSp>
      <p:grpSp>
        <p:nvGrpSpPr>
          <p:cNvPr id="232" name="digital-trend"/>
          <p:cNvGrpSpPr/>
          <p:nvPr/>
        </p:nvGrpSpPr>
        <p:grpSpPr>
          <a:xfrm>
            <a:off x="7943850" y="2095500"/>
            <a:ext cx="3867150" cy="3489484"/>
            <a:chOff x="7943850" y="2095500"/>
            <a:chExt cx="3867150" cy="3489484"/>
          </a:xfrm>
        </p:grpSpPr>
        <p:sp>
          <p:nvSpPr>
            <p:cNvPr id="182" name="Rectangle 182"/>
            <p:cNvSpPr/>
            <p:nvPr/>
          </p:nvSpPr>
          <p:spPr>
            <a:xfrm>
              <a:off x="7943850" y="2095500"/>
              <a:ext cx="3867150" cy="3486150"/>
            </a:xfrm>
            <a:prstGeom prst="roundRect">
              <a:avLst>
                <a:gd name="adj" fmla="val 2186"/>
              </a:avLst>
            </a:prstGeom>
            <a:solidFill>
              <a:srgbClr val="FDF6F5"/>
            </a:solidFill>
            <a:ln w="9525">
              <a:solidFill>
                <a:srgbClr val="EDD5D2"/>
              </a:solidFill>
            </a:ln>
          </p:spPr>
        </p:sp>
        <p:sp>
          <p:nvSpPr>
            <p:cNvPr id="183" name="Freeform 183"/>
            <p:cNvSpPr/>
            <p:nvPr/>
          </p:nvSpPr>
          <p:spPr>
            <a:xfrm>
              <a:off x="7953375" y="2105025"/>
              <a:ext cx="3848100" cy="228600"/>
            </a:xfrm>
            <a:custGeom>
              <a:avLst/>
              <a:gdLst/>
              <a:ahLst/>
              <a:cxnLst/>
              <a:rect l="l" t="t" r="r" b="b"/>
              <a:pathLst>
                <a:path w="3848100" h="228600">
                  <a:moveTo>
                    <a:pt x="0" y="228600"/>
                  </a:moveTo>
                  <a:lnTo>
                    <a:pt x="3848100" y="228600"/>
                  </a:lnTo>
                  <a:lnTo>
                    <a:pt x="3848100" y="66675"/>
                  </a:lnTo>
                  <a:cubicBezTo>
                    <a:pt x="3848100" y="29851"/>
                    <a:pt x="3818249" y="0"/>
                    <a:pt x="3781425" y="0"/>
                  </a:cubicBezTo>
                  <a:lnTo>
                    <a:pt x="66675" y="0"/>
                  </a:lnTo>
                  <a:cubicBezTo>
                    <a:pt x="29851" y="0"/>
                    <a:pt x="0" y="29851"/>
                    <a:pt x="0" y="66675"/>
                  </a:cubicBezTo>
                  <a:close/>
                </a:path>
              </a:pathLst>
            </a:custGeom>
            <a:solidFill>
              <a:srgbClr val="A52D12"/>
            </a:solidFill>
            <a:ln>
              <a:noFill/>
            </a:ln>
          </p:spPr>
        </p:sp>
        <p:sp>
          <p:nvSpPr>
            <p:cNvPr id="184" name="TextBox 184"/>
            <p:cNvSpPr txBox="1"/>
            <p:nvPr/>
          </p:nvSpPr>
          <p:spPr>
            <a:xfrm>
              <a:off x="9236012" y="2153602"/>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数字化关键指标趋势</a:t>
              </a:r>
            </a:p>
          </p:txBody>
        </p:sp>
        <p:sp>
          <p:nvSpPr>
            <p:cNvPr id="185" name="Rectangle 185"/>
            <p:cNvSpPr/>
            <p:nvPr/>
          </p:nvSpPr>
          <p:spPr>
            <a:xfrm>
              <a:off x="8153400" y="2476500"/>
              <a:ext cx="95250" cy="95250"/>
            </a:xfrm>
            <a:prstGeom prst="rect">
              <a:avLst/>
            </a:prstGeom>
            <a:solidFill>
              <a:srgbClr val="A52D12"/>
            </a:solidFill>
            <a:ln>
              <a:noFill/>
            </a:ln>
          </p:spPr>
        </p:sp>
        <p:sp>
          <p:nvSpPr>
            <p:cNvPr id="186" name="TextBox 186"/>
            <p:cNvSpPr txBox="1"/>
            <p:nvPr/>
          </p:nvSpPr>
          <p:spPr>
            <a:xfrm>
              <a:off x="8301038" y="2481262"/>
              <a:ext cx="1070134"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手机银行MAU（万户）​</a:t>
              </a:r>
            </a:p>
          </p:txBody>
        </p:sp>
        <p:sp>
          <p:nvSpPr>
            <p:cNvPr id="187" name="Line 187"/>
            <p:cNvSpPr/>
            <p:nvPr/>
          </p:nvSpPr>
          <p:spPr>
            <a:xfrm>
              <a:off x="9620250" y="2524125"/>
              <a:ext cx="228600" cy="9525"/>
            </a:xfrm>
            <a:custGeom>
              <a:avLst/>
              <a:gdLst/>
              <a:ahLst/>
              <a:cxnLst/>
              <a:rect l="l" t="t" r="r" b="b"/>
              <a:pathLst>
                <a:path w="228600" h="9525">
                  <a:moveTo>
                    <a:pt x="0" y="0"/>
                  </a:moveTo>
                  <a:lnTo>
                    <a:pt x="228600" y="0"/>
                  </a:lnTo>
                </a:path>
              </a:pathLst>
            </a:custGeom>
            <a:noFill/>
            <a:ln w="17145">
              <a:solidFill>
                <a:srgbClr val="C9604E"/>
              </a:solidFill>
            </a:ln>
          </p:spPr>
        </p:sp>
        <p:sp>
          <p:nvSpPr>
            <p:cNvPr id="188" name="Ellipse 188"/>
            <p:cNvSpPr/>
            <p:nvPr/>
          </p:nvSpPr>
          <p:spPr>
            <a:xfrm>
              <a:off x="9701212" y="2490788"/>
              <a:ext cx="66675" cy="66675"/>
            </a:xfrm>
            <a:prstGeom prst="ellipse">
              <a:avLst/>
            </a:prstGeom>
            <a:solidFill>
              <a:srgbClr val="FFFFFF"/>
            </a:solidFill>
            <a:ln w="17145">
              <a:solidFill>
                <a:srgbClr val="C9604E"/>
              </a:solidFill>
            </a:ln>
          </p:spPr>
        </p:sp>
        <p:sp>
          <p:nvSpPr>
            <p:cNvPr id="189" name="TextBox 189"/>
            <p:cNvSpPr txBox="1"/>
            <p:nvPr/>
          </p:nvSpPr>
          <p:spPr>
            <a:xfrm>
              <a:off x="9901238" y="2481262"/>
              <a:ext cx="104946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线上交易替代率（%）​</a:t>
              </a:r>
            </a:p>
          </p:txBody>
        </p:sp>
        <p:sp>
          <p:nvSpPr>
            <p:cNvPr id="190" name="Line 190"/>
            <p:cNvSpPr/>
            <p:nvPr/>
          </p:nvSpPr>
          <p:spPr>
            <a:xfrm>
              <a:off x="8305800" y="2857500"/>
              <a:ext cx="3219450" cy="9525"/>
            </a:xfrm>
            <a:custGeom>
              <a:avLst/>
              <a:gdLst/>
              <a:ahLst/>
              <a:cxnLst/>
              <a:rect l="l" t="t" r="r" b="b"/>
              <a:pathLst>
                <a:path w="3219450" h="9525">
                  <a:moveTo>
                    <a:pt x="0" y="0"/>
                  </a:moveTo>
                  <a:lnTo>
                    <a:pt x="3219450" y="0"/>
                  </a:lnTo>
                </a:path>
              </a:pathLst>
            </a:custGeom>
            <a:noFill/>
            <a:ln w="9525">
              <a:solidFill>
                <a:srgbClr val="EDE4E2"/>
              </a:solidFill>
            </a:ln>
          </p:spPr>
        </p:sp>
        <p:sp>
          <p:nvSpPr>
            <p:cNvPr id="191" name="Line 191"/>
            <p:cNvSpPr/>
            <p:nvPr/>
          </p:nvSpPr>
          <p:spPr>
            <a:xfrm>
              <a:off x="8305800" y="3429000"/>
              <a:ext cx="3219450" cy="9525"/>
            </a:xfrm>
            <a:custGeom>
              <a:avLst/>
              <a:gdLst/>
              <a:ahLst/>
              <a:cxnLst/>
              <a:rect l="l" t="t" r="r" b="b"/>
              <a:pathLst>
                <a:path w="3219450" h="9525">
                  <a:moveTo>
                    <a:pt x="0" y="0"/>
                  </a:moveTo>
                  <a:lnTo>
                    <a:pt x="3219450" y="0"/>
                  </a:lnTo>
                </a:path>
              </a:pathLst>
            </a:custGeom>
            <a:noFill/>
            <a:ln w="9525">
              <a:solidFill>
                <a:srgbClr val="EDE4E2"/>
              </a:solidFill>
            </a:ln>
          </p:spPr>
        </p:sp>
        <p:sp>
          <p:nvSpPr>
            <p:cNvPr id="192" name="Line 192"/>
            <p:cNvSpPr/>
            <p:nvPr/>
          </p:nvSpPr>
          <p:spPr>
            <a:xfrm>
              <a:off x="8305800" y="4000500"/>
              <a:ext cx="3219450" cy="9525"/>
            </a:xfrm>
            <a:custGeom>
              <a:avLst/>
              <a:gdLst/>
              <a:ahLst/>
              <a:cxnLst/>
              <a:rect l="l" t="t" r="r" b="b"/>
              <a:pathLst>
                <a:path w="3219450" h="9525">
                  <a:moveTo>
                    <a:pt x="0" y="0"/>
                  </a:moveTo>
                  <a:lnTo>
                    <a:pt x="3219450" y="0"/>
                  </a:lnTo>
                </a:path>
              </a:pathLst>
            </a:custGeom>
            <a:noFill/>
            <a:ln w="9525">
              <a:solidFill>
                <a:srgbClr val="EDE4E2"/>
              </a:solidFill>
            </a:ln>
          </p:spPr>
        </p:sp>
        <p:sp>
          <p:nvSpPr>
            <p:cNvPr id="193" name="Line 193"/>
            <p:cNvSpPr/>
            <p:nvPr/>
          </p:nvSpPr>
          <p:spPr>
            <a:xfrm>
              <a:off x="8305800" y="4572000"/>
              <a:ext cx="3219450" cy="9525"/>
            </a:xfrm>
            <a:custGeom>
              <a:avLst/>
              <a:gdLst/>
              <a:ahLst/>
              <a:cxnLst/>
              <a:rect l="l" t="t" r="r" b="b"/>
              <a:pathLst>
                <a:path w="3219450" h="9525">
                  <a:moveTo>
                    <a:pt x="0" y="0"/>
                  </a:moveTo>
                  <a:lnTo>
                    <a:pt x="3219450" y="0"/>
                  </a:lnTo>
                </a:path>
              </a:pathLst>
            </a:custGeom>
            <a:noFill/>
            <a:ln w="9525">
              <a:solidFill>
                <a:srgbClr val="EDE4E2"/>
              </a:solidFill>
            </a:ln>
          </p:spPr>
        </p:sp>
        <p:sp>
          <p:nvSpPr>
            <p:cNvPr id="194" name="Line 194"/>
            <p:cNvSpPr/>
            <p:nvPr/>
          </p:nvSpPr>
          <p:spPr>
            <a:xfrm>
              <a:off x="8305800" y="5143500"/>
              <a:ext cx="3219450" cy="9525"/>
            </a:xfrm>
            <a:custGeom>
              <a:avLst/>
              <a:gdLst/>
              <a:ahLst/>
              <a:cxnLst/>
              <a:rect l="l" t="t" r="r" b="b"/>
              <a:pathLst>
                <a:path w="3219450" h="9525">
                  <a:moveTo>
                    <a:pt x="0" y="0"/>
                  </a:moveTo>
                  <a:lnTo>
                    <a:pt x="3219450" y="0"/>
                  </a:lnTo>
                </a:path>
              </a:pathLst>
            </a:custGeom>
            <a:noFill/>
            <a:ln w="9525">
              <a:solidFill>
                <a:srgbClr val="C9BBB8"/>
              </a:solidFill>
            </a:ln>
          </p:spPr>
        </p:sp>
        <p:sp>
          <p:nvSpPr>
            <p:cNvPr id="195" name="TextBox 195"/>
            <p:cNvSpPr txBox="1"/>
            <p:nvPr/>
          </p:nvSpPr>
          <p:spPr>
            <a:xfrm>
              <a:off x="8157799" y="5104686"/>
              <a:ext cx="114663"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0​</a:t>
              </a:r>
            </a:p>
          </p:txBody>
        </p:sp>
        <p:sp>
          <p:nvSpPr>
            <p:cNvPr id="196" name="TextBox 196"/>
            <p:cNvSpPr txBox="1"/>
            <p:nvPr/>
          </p:nvSpPr>
          <p:spPr>
            <a:xfrm>
              <a:off x="8052661" y="45331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200​</a:t>
              </a:r>
            </a:p>
          </p:txBody>
        </p:sp>
        <p:sp>
          <p:nvSpPr>
            <p:cNvPr id="197" name="TextBox 197"/>
            <p:cNvSpPr txBox="1"/>
            <p:nvPr/>
          </p:nvSpPr>
          <p:spPr>
            <a:xfrm>
              <a:off x="8052661" y="39616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400​</a:t>
              </a:r>
            </a:p>
          </p:txBody>
        </p:sp>
        <p:sp>
          <p:nvSpPr>
            <p:cNvPr id="198" name="TextBox 198"/>
            <p:cNvSpPr txBox="1"/>
            <p:nvPr/>
          </p:nvSpPr>
          <p:spPr>
            <a:xfrm>
              <a:off x="8052661" y="33901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600​</a:t>
              </a:r>
            </a:p>
          </p:txBody>
        </p:sp>
        <p:sp>
          <p:nvSpPr>
            <p:cNvPr id="199" name="TextBox 199"/>
            <p:cNvSpPr txBox="1"/>
            <p:nvPr/>
          </p:nvSpPr>
          <p:spPr>
            <a:xfrm>
              <a:off x="8052661" y="2818686"/>
              <a:ext cx="219801" cy="140494"/>
            </a:xfrm>
            <a:prstGeom prst="rect">
              <a:avLst/>
            </a:prstGeom>
            <a:noFill/>
            <a:ln>
              <a:noFill/>
            </a:ln>
          </p:spPr>
          <p:txBody>
            <a:bodyPr wrap="none" lIns="0" tIns="0" rIns="0" bIns="0" anchor="t" anchorCtr="0">
              <a:spAutoFit/>
            </a:bodyPr>
            <a:lstStyle/>
            <a:p>
              <a:pPr algn="r"/>
              <a:r>
                <a:rPr lang="zh-CN" sz="710" dirty="0">
                  <a:solidFill>
                    <a:srgbClr val="8A8A8A"/>
                  </a:solidFill>
                  <a:latin typeface="+mn-lt"/>
                  <a:ea typeface="+mn-ea"/>
                  <a:cs typeface="+mn-cs"/>
                </a:rPr>
                <a:t>800​</a:t>
              </a:r>
            </a:p>
          </p:txBody>
        </p:sp>
        <p:sp>
          <p:nvSpPr>
            <p:cNvPr id="200" name="TextBox 200"/>
            <p:cNvSpPr txBox="1"/>
            <p:nvPr/>
          </p:nvSpPr>
          <p:spPr>
            <a:xfrm>
              <a:off x="11558588" y="5104686"/>
              <a:ext cx="114663"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0​</a:t>
              </a:r>
            </a:p>
          </p:txBody>
        </p:sp>
        <p:sp>
          <p:nvSpPr>
            <p:cNvPr id="201" name="TextBox 201"/>
            <p:cNvSpPr txBox="1"/>
            <p:nvPr/>
          </p:nvSpPr>
          <p:spPr>
            <a:xfrm>
              <a:off x="11558588" y="4580811"/>
              <a:ext cx="167232"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25​</a:t>
              </a:r>
            </a:p>
          </p:txBody>
        </p:sp>
        <p:sp>
          <p:nvSpPr>
            <p:cNvPr id="202" name="TextBox 202"/>
            <p:cNvSpPr txBox="1"/>
            <p:nvPr/>
          </p:nvSpPr>
          <p:spPr>
            <a:xfrm>
              <a:off x="11558588" y="4056936"/>
              <a:ext cx="167232"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50​</a:t>
              </a:r>
            </a:p>
          </p:txBody>
        </p:sp>
        <p:sp>
          <p:nvSpPr>
            <p:cNvPr id="203" name="TextBox 203"/>
            <p:cNvSpPr txBox="1"/>
            <p:nvPr/>
          </p:nvSpPr>
          <p:spPr>
            <a:xfrm>
              <a:off x="11558588" y="3533061"/>
              <a:ext cx="167232"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75​</a:t>
              </a:r>
            </a:p>
          </p:txBody>
        </p:sp>
        <p:sp>
          <p:nvSpPr>
            <p:cNvPr id="204" name="TextBox 204"/>
            <p:cNvSpPr txBox="1"/>
            <p:nvPr/>
          </p:nvSpPr>
          <p:spPr>
            <a:xfrm>
              <a:off x="11558588" y="3009186"/>
              <a:ext cx="219801"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100​</a:t>
              </a:r>
            </a:p>
          </p:txBody>
        </p:sp>
        <p:sp>
          <p:nvSpPr>
            <p:cNvPr id="205" name="Rectangle 205"/>
            <p:cNvSpPr/>
            <p:nvPr/>
          </p:nvSpPr>
          <p:spPr>
            <a:xfrm>
              <a:off x="8353425" y="4069080"/>
              <a:ext cx="247650" cy="1074420"/>
            </a:xfrm>
            <a:prstGeom prst="rect">
              <a:avLst/>
            </a:prstGeom>
            <a:solidFill>
              <a:srgbClr val="A52D12"/>
            </a:solidFill>
            <a:ln>
              <a:noFill/>
            </a:ln>
          </p:spPr>
        </p:sp>
        <p:sp>
          <p:nvSpPr>
            <p:cNvPr id="206" name="Rectangle 206"/>
            <p:cNvSpPr/>
            <p:nvPr/>
          </p:nvSpPr>
          <p:spPr>
            <a:xfrm>
              <a:off x="9020175" y="3911918"/>
              <a:ext cx="247650" cy="1231582"/>
            </a:xfrm>
            <a:prstGeom prst="rect">
              <a:avLst/>
            </a:prstGeom>
            <a:solidFill>
              <a:srgbClr val="A52D12"/>
            </a:solidFill>
            <a:ln>
              <a:noFill/>
            </a:ln>
          </p:spPr>
        </p:sp>
        <p:sp>
          <p:nvSpPr>
            <p:cNvPr id="207" name="Rectangle 207"/>
            <p:cNvSpPr/>
            <p:nvPr/>
          </p:nvSpPr>
          <p:spPr>
            <a:xfrm>
              <a:off x="9686925" y="3715702"/>
              <a:ext cx="247650" cy="1427798"/>
            </a:xfrm>
            <a:prstGeom prst="rect">
              <a:avLst/>
            </a:prstGeom>
            <a:solidFill>
              <a:srgbClr val="A52D12"/>
            </a:solidFill>
            <a:ln>
              <a:noFill/>
            </a:ln>
          </p:spPr>
        </p:sp>
        <p:sp>
          <p:nvSpPr>
            <p:cNvPr id="208" name="Rectangle 208"/>
            <p:cNvSpPr/>
            <p:nvPr/>
          </p:nvSpPr>
          <p:spPr>
            <a:xfrm>
              <a:off x="10353675" y="3715702"/>
              <a:ext cx="247650" cy="1427798"/>
            </a:xfrm>
            <a:prstGeom prst="rect">
              <a:avLst/>
            </a:prstGeom>
            <a:solidFill>
              <a:srgbClr val="A52D12"/>
            </a:solidFill>
            <a:ln>
              <a:noFill/>
            </a:ln>
          </p:spPr>
        </p:sp>
        <p:sp>
          <p:nvSpPr>
            <p:cNvPr id="209" name="Rectangle 209"/>
            <p:cNvSpPr/>
            <p:nvPr/>
          </p:nvSpPr>
          <p:spPr>
            <a:xfrm>
              <a:off x="11020425" y="3519488"/>
              <a:ext cx="247650" cy="1624012"/>
            </a:xfrm>
            <a:prstGeom prst="rect">
              <a:avLst/>
            </a:prstGeom>
            <a:solidFill>
              <a:srgbClr val="A52D12"/>
            </a:solidFill>
            <a:ln>
              <a:noFill/>
            </a:ln>
          </p:spPr>
        </p:sp>
        <p:sp>
          <p:nvSpPr>
            <p:cNvPr id="210" name="TextBox 210"/>
            <p:cNvSpPr txBox="1"/>
            <p:nvPr/>
          </p:nvSpPr>
          <p:spPr>
            <a:xfrm>
              <a:off x="8362092" y="3933111"/>
              <a:ext cx="230315"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410​</a:t>
              </a:r>
            </a:p>
          </p:txBody>
        </p:sp>
        <p:sp>
          <p:nvSpPr>
            <p:cNvPr id="211" name="TextBox 211"/>
            <p:cNvSpPr txBox="1"/>
            <p:nvPr/>
          </p:nvSpPr>
          <p:spPr>
            <a:xfrm>
              <a:off x="9028842" y="3771186"/>
              <a:ext cx="230315"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470​</a:t>
              </a:r>
            </a:p>
          </p:txBody>
        </p:sp>
        <p:sp>
          <p:nvSpPr>
            <p:cNvPr id="212" name="TextBox 212"/>
            <p:cNvSpPr txBox="1"/>
            <p:nvPr/>
          </p:nvSpPr>
          <p:spPr>
            <a:xfrm>
              <a:off x="9695592" y="3580686"/>
              <a:ext cx="230315"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545​</a:t>
              </a:r>
            </a:p>
          </p:txBody>
        </p:sp>
        <p:sp>
          <p:nvSpPr>
            <p:cNvPr id="213" name="TextBox 213"/>
            <p:cNvSpPr txBox="1"/>
            <p:nvPr/>
          </p:nvSpPr>
          <p:spPr>
            <a:xfrm>
              <a:off x="10362342" y="3580686"/>
              <a:ext cx="230315"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545​</a:t>
              </a:r>
            </a:p>
          </p:txBody>
        </p:sp>
        <p:sp>
          <p:nvSpPr>
            <p:cNvPr id="214" name="TextBox 214"/>
            <p:cNvSpPr txBox="1"/>
            <p:nvPr/>
          </p:nvSpPr>
          <p:spPr>
            <a:xfrm>
              <a:off x="11029092" y="3380661"/>
              <a:ext cx="230315" cy="140494"/>
            </a:xfrm>
            <a:prstGeom prst="rect">
              <a:avLst/>
            </a:prstGeom>
            <a:noFill/>
            <a:ln>
              <a:noFill/>
            </a:ln>
          </p:spPr>
          <p:txBody>
            <a:bodyPr wrap="none" lIns="0" tIns="0" rIns="0" bIns="0" anchor="t" anchorCtr="0">
              <a:spAutoFit/>
            </a:bodyPr>
            <a:lstStyle/>
            <a:p>
              <a:pPr algn="ctr"/>
              <a:r>
                <a:rPr lang="zh-CN" sz="710" b="1" dirty="0">
                  <a:solidFill>
                    <a:srgbClr val="A52D12"/>
                  </a:solidFill>
                  <a:latin typeface="+mn-lt"/>
                  <a:ea typeface="+mn-ea"/>
                  <a:cs typeface="+mn-cs"/>
                </a:rPr>
                <a:t>620​</a:t>
              </a:r>
            </a:p>
          </p:txBody>
        </p:sp>
        <p:sp>
          <p:nvSpPr>
            <p:cNvPr id="215" name="Polyline 215"/>
            <p:cNvSpPr/>
            <p:nvPr/>
          </p:nvSpPr>
          <p:spPr>
            <a:xfrm>
              <a:off x="8477250" y="3203258"/>
              <a:ext cx="2667000" cy="199072"/>
            </a:xfrm>
            <a:custGeom>
              <a:avLst/>
              <a:gdLst/>
              <a:ahLst/>
              <a:cxnLst/>
              <a:rect l="l" t="t" r="r" b="b"/>
              <a:pathLst>
                <a:path w="2667000" h="199072">
                  <a:moveTo>
                    <a:pt x="0" y="199072"/>
                  </a:moveTo>
                  <a:lnTo>
                    <a:pt x="666750" y="134302"/>
                  </a:lnTo>
                  <a:lnTo>
                    <a:pt x="1333500" y="77152"/>
                  </a:lnTo>
                  <a:lnTo>
                    <a:pt x="2000250" y="52388"/>
                  </a:lnTo>
                  <a:lnTo>
                    <a:pt x="2667000" y="0"/>
                  </a:lnTo>
                </a:path>
              </a:pathLst>
            </a:custGeom>
            <a:noFill/>
            <a:ln w="19050">
              <a:solidFill>
                <a:srgbClr val="C9604E"/>
              </a:solidFill>
            </a:ln>
          </p:spPr>
        </p:sp>
        <p:sp>
          <p:nvSpPr>
            <p:cNvPr id="216" name="Ellipse 216"/>
            <p:cNvSpPr/>
            <p:nvPr/>
          </p:nvSpPr>
          <p:spPr>
            <a:xfrm>
              <a:off x="8443912" y="3368992"/>
              <a:ext cx="66675" cy="66675"/>
            </a:xfrm>
            <a:prstGeom prst="ellipse">
              <a:avLst/>
            </a:prstGeom>
            <a:solidFill>
              <a:srgbClr val="FFFFFF"/>
            </a:solidFill>
            <a:ln w="19050">
              <a:solidFill>
                <a:srgbClr val="C9604E"/>
              </a:solidFill>
            </a:ln>
          </p:spPr>
        </p:sp>
        <p:sp>
          <p:nvSpPr>
            <p:cNvPr id="217" name="Ellipse 217"/>
            <p:cNvSpPr/>
            <p:nvPr/>
          </p:nvSpPr>
          <p:spPr>
            <a:xfrm>
              <a:off x="9110662" y="3304222"/>
              <a:ext cx="66675" cy="66675"/>
            </a:xfrm>
            <a:prstGeom prst="ellipse">
              <a:avLst/>
            </a:prstGeom>
            <a:solidFill>
              <a:srgbClr val="FFFFFF"/>
            </a:solidFill>
            <a:ln w="19050">
              <a:solidFill>
                <a:srgbClr val="C9604E"/>
              </a:solidFill>
            </a:ln>
          </p:spPr>
        </p:sp>
        <p:sp>
          <p:nvSpPr>
            <p:cNvPr id="218" name="Ellipse 218"/>
            <p:cNvSpPr/>
            <p:nvPr/>
          </p:nvSpPr>
          <p:spPr>
            <a:xfrm>
              <a:off x="9777412" y="3247072"/>
              <a:ext cx="66675" cy="66675"/>
            </a:xfrm>
            <a:prstGeom prst="ellipse">
              <a:avLst/>
            </a:prstGeom>
            <a:solidFill>
              <a:srgbClr val="FFFFFF"/>
            </a:solidFill>
            <a:ln w="19050">
              <a:solidFill>
                <a:srgbClr val="C9604E"/>
              </a:solidFill>
            </a:ln>
          </p:spPr>
        </p:sp>
        <p:sp>
          <p:nvSpPr>
            <p:cNvPr id="219" name="Ellipse 219"/>
            <p:cNvSpPr/>
            <p:nvPr/>
          </p:nvSpPr>
          <p:spPr>
            <a:xfrm>
              <a:off x="10444162" y="3222308"/>
              <a:ext cx="66675" cy="66675"/>
            </a:xfrm>
            <a:prstGeom prst="ellipse">
              <a:avLst/>
            </a:prstGeom>
            <a:solidFill>
              <a:srgbClr val="FFFFFF"/>
            </a:solidFill>
            <a:ln w="19050">
              <a:solidFill>
                <a:srgbClr val="C9604E"/>
              </a:solidFill>
            </a:ln>
          </p:spPr>
        </p:sp>
        <p:sp>
          <p:nvSpPr>
            <p:cNvPr id="220" name="Ellipse 220"/>
            <p:cNvSpPr/>
            <p:nvPr/>
          </p:nvSpPr>
          <p:spPr>
            <a:xfrm>
              <a:off x="11110912" y="3169920"/>
              <a:ext cx="66675" cy="66675"/>
            </a:xfrm>
            <a:prstGeom prst="ellipse">
              <a:avLst/>
            </a:prstGeom>
            <a:solidFill>
              <a:srgbClr val="FFFFFF"/>
            </a:solidFill>
            <a:ln w="19050">
              <a:solidFill>
                <a:srgbClr val="C9604E"/>
              </a:solidFill>
            </a:ln>
          </p:spPr>
        </p:sp>
        <p:sp>
          <p:nvSpPr>
            <p:cNvPr id="221" name="TextBox 221"/>
            <p:cNvSpPr txBox="1"/>
            <p:nvPr/>
          </p:nvSpPr>
          <p:spPr>
            <a:xfrm>
              <a:off x="8346618" y="3222784"/>
              <a:ext cx="261264" cy="133350"/>
            </a:xfrm>
            <a:prstGeom prst="rect">
              <a:avLst/>
            </a:prstGeom>
            <a:noFill/>
            <a:ln>
              <a:noFill/>
            </a:ln>
          </p:spPr>
          <p:txBody>
            <a:bodyPr wrap="none" lIns="0" tIns="0" rIns="0" bIns="0" anchor="t" anchorCtr="0">
              <a:spAutoFit/>
            </a:bodyPr>
            <a:lstStyle/>
            <a:p>
              <a:pPr algn="ctr"/>
              <a:r>
                <a:rPr lang="zh-CN" sz="680" dirty="0">
                  <a:solidFill>
                    <a:srgbClr val="B54C3A"/>
                  </a:solidFill>
                  <a:latin typeface="+mn-lt"/>
                  <a:ea typeface="+mn-ea"/>
                  <a:cs typeface="+mn-cs"/>
                </a:rPr>
                <a:t>83.1​</a:t>
              </a:r>
            </a:p>
          </p:txBody>
        </p:sp>
        <p:sp>
          <p:nvSpPr>
            <p:cNvPr id="222" name="TextBox 222"/>
            <p:cNvSpPr txBox="1"/>
            <p:nvPr/>
          </p:nvSpPr>
          <p:spPr>
            <a:xfrm>
              <a:off x="9013368" y="3156109"/>
              <a:ext cx="261264" cy="133350"/>
            </a:xfrm>
            <a:prstGeom prst="rect">
              <a:avLst/>
            </a:prstGeom>
            <a:noFill/>
            <a:ln>
              <a:noFill/>
            </a:ln>
          </p:spPr>
          <p:txBody>
            <a:bodyPr wrap="none" lIns="0" tIns="0" rIns="0" bIns="0" anchor="t" anchorCtr="0">
              <a:spAutoFit/>
            </a:bodyPr>
            <a:lstStyle/>
            <a:p>
              <a:pPr algn="ctr"/>
              <a:r>
                <a:rPr lang="zh-CN" sz="680" dirty="0">
                  <a:solidFill>
                    <a:srgbClr val="B54C3A"/>
                  </a:solidFill>
                  <a:latin typeface="+mn-lt"/>
                  <a:ea typeface="+mn-ea"/>
                  <a:cs typeface="+mn-cs"/>
                </a:rPr>
                <a:t>86.2​</a:t>
              </a:r>
            </a:p>
          </p:txBody>
        </p:sp>
        <p:sp>
          <p:nvSpPr>
            <p:cNvPr id="223" name="TextBox 223"/>
            <p:cNvSpPr txBox="1"/>
            <p:nvPr/>
          </p:nvSpPr>
          <p:spPr>
            <a:xfrm>
              <a:off x="9680118" y="3098959"/>
              <a:ext cx="261264" cy="133350"/>
            </a:xfrm>
            <a:prstGeom prst="rect">
              <a:avLst/>
            </a:prstGeom>
            <a:noFill/>
            <a:ln>
              <a:noFill/>
            </a:ln>
          </p:spPr>
          <p:txBody>
            <a:bodyPr wrap="none" lIns="0" tIns="0" rIns="0" bIns="0" anchor="t" anchorCtr="0">
              <a:spAutoFit/>
            </a:bodyPr>
            <a:lstStyle/>
            <a:p>
              <a:pPr algn="ctr"/>
              <a:r>
                <a:rPr lang="zh-CN" sz="680" dirty="0">
                  <a:solidFill>
                    <a:srgbClr val="B54C3A"/>
                  </a:solidFill>
                  <a:latin typeface="+mn-lt"/>
                  <a:ea typeface="+mn-ea"/>
                  <a:cs typeface="+mn-cs"/>
                </a:rPr>
                <a:t>88.9​</a:t>
              </a:r>
            </a:p>
          </p:txBody>
        </p:sp>
        <p:sp>
          <p:nvSpPr>
            <p:cNvPr id="224" name="TextBox 224"/>
            <p:cNvSpPr txBox="1"/>
            <p:nvPr/>
          </p:nvSpPr>
          <p:spPr>
            <a:xfrm>
              <a:off x="10346868" y="3070384"/>
              <a:ext cx="261264" cy="133350"/>
            </a:xfrm>
            <a:prstGeom prst="rect">
              <a:avLst/>
            </a:prstGeom>
            <a:noFill/>
            <a:ln>
              <a:noFill/>
            </a:ln>
          </p:spPr>
          <p:txBody>
            <a:bodyPr wrap="none" lIns="0" tIns="0" rIns="0" bIns="0" anchor="t" anchorCtr="0">
              <a:spAutoFit/>
            </a:bodyPr>
            <a:lstStyle/>
            <a:p>
              <a:pPr algn="ctr"/>
              <a:r>
                <a:rPr lang="zh-CN" sz="680" dirty="0">
                  <a:solidFill>
                    <a:srgbClr val="B54C3A"/>
                  </a:solidFill>
                  <a:latin typeface="+mn-lt"/>
                  <a:ea typeface="+mn-ea"/>
                  <a:cs typeface="+mn-cs"/>
                </a:rPr>
                <a:t>90.1​</a:t>
              </a:r>
            </a:p>
          </p:txBody>
        </p:sp>
        <p:sp>
          <p:nvSpPr>
            <p:cNvPr id="225" name="TextBox 225"/>
            <p:cNvSpPr txBox="1"/>
            <p:nvPr/>
          </p:nvSpPr>
          <p:spPr>
            <a:xfrm>
              <a:off x="11013618" y="3022759"/>
              <a:ext cx="261264" cy="133350"/>
            </a:xfrm>
            <a:prstGeom prst="rect">
              <a:avLst/>
            </a:prstGeom>
            <a:noFill/>
            <a:ln>
              <a:noFill/>
            </a:ln>
          </p:spPr>
          <p:txBody>
            <a:bodyPr wrap="none" lIns="0" tIns="0" rIns="0" bIns="0" anchor="t" anchorCtr="0">
              <a:spAutoFit/>
            </a:bodyPr>
            <a:lstStyle/>
            <a:p>
              <a:pPr algn="ctr"/>
              <a:r>
                <a:rPr lang="zh-CN" sz="680" dirty="0">
                  <a:solidFill>
                    <a:srgbClr val="B54C3A"/>
                  </a:solidFill>
                  <a:latin typeface="+mn-lt"/>
                  <a:ea typeface="+mn-ea"/>
                  <a:cs typeface="+mn-cs"/>
                </a:rPr>
                <a:t>92.6​</a:t>
              </a:r>
            </a:p>
          </p:txBody>
        </p:sp>
        <p:sp>
          <p:nvSpPr>
            <p:cNvPr id="226" name="TextBox 226"/>
            <p:cNvSpPr txBox="1"/>
            <p:nvPr/>
          </p:nvSpPr>
          <p:spPr>
            <a:xfrm>
              <a:off x="8283178" y="5253038"/>
              <a:ext cx="388144" cy="147638"/>
            </a:xfrm>
            <a:prstGeom prst="rect">
              <a:avLst/>
            </a:prstGeom>
            <a:noFill/>
            <a:ln>
              <a:noFill/>
            </a:ln>
          </p:spPr>
          <p:txBody>
            <a:bodyPr wrap="none" lIns="0" tIns="0" rIns="0" bIns="0" anchor="t" anchorCtr="0">
              <a:spAutoFit/>
            </a:bodyPr>
            <a:lstStyle/>
            <a:p>
              <a:pPr algn="ctr"/>
              <a:r>
                <a:rPr lang="zh-CN" sz="750" dirty="0">
                  <a:solidFill>
                    <a:srgbClr val="555555"/>
                  </a:solidFill>
                  <a:latin typeface="+mn-lt"/>
                  <a:ea typeface="+mn-ea"/>
                  <a:cs typeface="+mn-cs"/>
                </a:rPr>
                <a:t>2022年​</a:t>
              </a:r>
            </a:p>
          </p:txBody>
        </p:sp>
        <p:sp>
          <p:nvSpPr>
            <p:cNvPr id="227" name="TextBox 227"/>
            <p:cNvSpPr txBox="1"/>
            <p:nvPr/>
          </p:nvSpPr>
          <p:spPr>
            <a:xfrm>
              <a:off x="8949928" y="5253038"/>
              <a:ext cx="388144" cy="147638"/>
            </a:xfrm>
            <a:prstGeom prst="rect">
              <a:avLst/>
            </a:prstGeom>
            <a:noFill/>
            <a:ln>
              <a:noFill/>
            </a:ln>
          </p:spPr>
          <p:txBody>
            <a:bodyPr wrap="none" lIns="0" tIns="0" rIns="0" bIns="0" anchor="t" anchorCtr="0">
              <a:spAutoFit/>
            </a:bodyPr>
            <a:lstStyle/>
            <a:p>
              <a:pPr algn="ctr"/>
              <a:r>
                <a:rPr lang="zh-CN" sz="750" dirty="0">
                  <a:solidFill>
                    <a:srgbClr val="555555"/>
                  </a:solidFill>
                  <a:latin typeface="+mn-lt"/>
                  <a:ea typeface="+mn-ea"/>
                  <a:cs typeface="+mn-cs"/>
                </a:rPr>
                <a:t>2023年​</a:t>
              </a:r>
            </a:p>
          </p:txBody>
        </p:sp>
        <p:sp>
          <p:nvSpPr>
            <p:cNvPr id="228" name="TextBox 228"/>
            <p:cNvSpPr txBox="1"/>
            <p:nvPr/>
          </p:nvSpPr>
          <p:spPr>
            <a:xfrm>
              <a:off x="9616678" y="5253038"/>
              <a:ext cx="388144" cy="147638"/>
            </a:xfrm>
            <a:prstGeom prst="rect">
              <a:avLst/>
            </a:prstGeom>
            <a:noFill/>
            <a:ln>
              <a:noFill/>
            </a:ln>
          </p:spPr>
          <p:txBody>
            <a:bodyPr wrap="none" lIns="0" tIns="0" rIns="0" bIns="0" anchor="t" anchorCtr="0">
              <a:spAutoFit/>
            </a:bodyPr>
            <a:lstStyle/>
            <a:p>
              <a:pPr algn="ctr"/>
              <a:r>
                <a:rPr lang="zh-CN" sz="750" dirty="0">
                  <a:solidFill>
                    <a:srgbClr val="555555"/>
                  </a:solidFill>
                  <a:latin typeface="+mn-lt"/>
                  <a:ea typeface="+mn-ea"/>
                  <a:cs typeface="+mn-cs"/>
                </a:rPr>
                <a:t>2024年​</a:t>
              </a:r>
            </a:p>
          </p:txBody>
        </p:sp>
        <p:sp>
          <p:nvSpPr>
            <p:cNvPr id="229" name="TextBox 229"/>
            <p:cNvSpPr txBox="1"/>
            <p:nvPr/>
          </p:nvSpPr>
          <p:spPr>
            <a:xfrm>
              <a:off x="10267378" y="5253038"/>
              <a:ext cx="420243" cy="147638"/>
            </a:xfrm>
            <a:prstGeom prst="rect">
              <a:avLst/>
            </a:prstGeom>
            <a:noFill/>
            <a:ln>
              <a:noFill/>
            </a:ln>
          </p:spPr>
          <p:txBody>
            <a:bodyPr wrap="none" lIns="0" tIns="0" rIns="0" bIns="0" anchor="t" anchorCtr="0">
              <a:spAutoFit/>
            </a:bodyPr>
            <a:lstStyle/>
            <a:p>
              <a:pPr algn="ctr"/>
              <a:r>
                <a:rPr lang="en-US" sz="750" dirty="0">
                  <a:solidFill>
                    <a:srgbClr val="555555"/>
                  </a:solidFill>
                  <a:latin typeface="+mn-lt"/>
                  <a:ea typeface="+mn-ea"/>
                  <a:cs typeface="+mn-cs"/>
                </a:rPr>
                <a:t>2024H1​</a:t>
              </a:r>
            </a:p>
          </p:txBody>
        </p:sp>
        <p:sp>
          <p:nvSpPr>
            <p:cNvPr id="230" name="TextBox 230"/>
            <p:cNvSpPr txBox="1"/>
            <p:nvPr/>
          </p:nvSpPr>
          <p:spPr>
            <a:xfrm>
              <a:off x="10934128" y="5253038"/>
              <a:ext cx="420243" cy="147638"/>
            </a:xfrm>
            <a:prstGeom prst="rect">
              <a:avLst/>
            </a:prstGeom>
            <a:noFill/>
            <a:ln>
              <a:noFill/>
            </a:ln>
          </p:spPr>
          <p:txBody>
            <a:bodyPr wrap="none" lIns="0" tIns="0" rIns="0" bIns="0" anchor="t" anchorCtr="0">
              <a:spAutoFit/>
            </a:bodyPr>
            <a:lstStyle/>
            <a:p>
              <a:pPr algn="ctr"/>
              <a:r>
                <a:rPr lang="en-US" sz="750" dirty="0">
                  <a:solidFill>
                    <a:srgbClr val="555555"/>
                  </a:solidFill>
                  <a:latin typeface="+mn-lt"/>
                  <a:ea typeface="+mn-ea"/>
                  <a:cs typeface="+mn-cs"/>
                </a:rPr>
                <a:t>2025H1​</a:t>
              </a:r>
            </a:p>
          </p:txBody>
        </p:sp>
        <p:sp>
          <p:nvSpPr>
            <p:cNvPr id="231" name="TextBox 231"/>
            <p:cNvSpPr txBox="1"/>
            <p:nvPr/>
          </p:nvSpPr>
          <p:spPr>
            <a:xfrm>
              <a:off x="10601703" y="5451634"/>
              <a:ext cx="928309" cy="133350"/>
            </a:xfrm>
            <a:prstGeom prst="rect">
              <a:avLst/>
            </a:prstGeom>
            <a:noFill/>
            <a:ln>
              <a:noFill/>
            </a:ln>
          </p:spPr>
          <p:txBody>
            <a:bodyPr wrap="none" lIns="0" tIns="0" rIns="0" bIns="0" anchor="t" anchorCtr="0">
              <a:spAutoFit/>
            </a:bodyPr>
            <a:lstStyle/>
            <a:p>
              <a:pPr algn="r"/>
              <a:r>
                <a:rPr lang="zh-CN" sz="680" dirty="0">
                  <a:solidFill>
                    <a:srgbClr val="8A8A8A"/>
                  </a:solidFill>
                  <a:latin typeface="+mn-lt"/>
                  <a:ea typeface="+mn-ea"/>
                  <a:cs typeface="+mn-cs"/>
                </a:rPr>
                <a:t>注：2025H1同比口径​</a:t>
              </a:r>
            </a:p>
          </p:txBody>
        </p:sp>
      </p:grpSp>
      <p:grpSp>
        <p:nvGrpSpPr>
          <p:cNvPr id="241" name="conclusion"/>
          <p:cNvGrpSpPr/>
          <p:nvPr/>
        </p:nvGrpSpPr>
        <p:grpSpPr>
          <a:xfrm>
            <a:off x="381000" y="5734050"/>
            <a:ext cx="11430000" cy="723900"/>
            <a:chOff x="381000" y="5734050"/>
            <a:chExt cx="11430000" cy="723900"/>
          </a:xfrm>
        </p:grpSpPr>
        <p:sp>
          <p:nvSpPr>
            <p:cNvPr id="233" name="Rectangle 233"/>
            <p:cNvSpPr/>
            <p:nvPr/>
          </p:nvSpPr>
          <p:spPr>
            <a:xfrm>
              <a:off x="381000" y="5734050"/>
              <a:ext cx="11430000" cy="723900"/>
            </a:xfrm>
            <a:prstGeom prst="roundRect">
              <a:avLst>
                <a:gd name="adj" fmla="val 13158"/>
              </a:avLst>
            </a:prstGeom>
            <a:solidFill>
              <a:srgbClr val="FBEFEE"/>
            </a:solidFill>
            <a:ln w="9525">
              <a:solidFill>
                <a:srgbClr val="EDD5D2"/>
              </a:solidFill>
            </a:ln>
          </p:spPr>
        </p:sp>
        <p:sp>
          <p:nvSpPr>
            <p:cNvPr id="234" name="Rectangle 234"/>
            <p:cNvSpPr/>
            <p:nvPr/>
          </p:nvSpPr>
          <p:spPr>
            <a:xfrm>
              <a:off x="628650" y="5924550"/>
              <a:ext cx="342900" cy="342900"/>
            </a:xfrm>
            <a:prstGeom prst="roundRect">
              <a:avLst>
                <a:gd name="adj" fmla="val 50000"/>
              </a:avLst>
            </a:prstGeom>
            <a:solidFill>
              <a:srgbClr val="A52D12"/>
            </a:solidFill>
            <a:ln>
              <a:noFill/>
            </a:ln>
          </p:spPr>
        </p:sp>
        <p:grpSp>
          <p:nvGrpSpPr>
            <p:cNvPr id="238" name="Group 238"/>
            <p:cNvGrpSpPr/>
            <p:nvPr/>
          </p:nvGrpSpPr>
          <p:grpSpPr>
            <a:xfrm>
              <a:off x="728662" y="6024562"/>
              <a:ext cx="142875" cy="142875"/>
              <a:chOff x="728662" y="6024562"/>
              <a:chExt cx="142875" cy="142875"/>
            </a:xfrm>
          </p:grpSpPr>
          <p:sp>
            <p:nvSpPr>
              <p:cNvPr id="235" name="Freeform 235"/>
              <p:cNvSpPr/>
              <p:nvPr/>
            </p:nvSpPr>
            <p:spPr>
              <a:xfrm>
                <a:off x="792162" y="60880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236" name="Freeform 236"/>
              <p:cNvSpPr/>
              <p:nvPr/>
            </p:nvSpPr>
            <p:spPr>
              <a:xfrm>
                <a:off x="760412" y="60563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237" name="Freeform 237"/>
              <p:cNvSpPr/>
              <p:nvPr/>
            </p:nvSpPr>
            <p:spPr>
              <a:xfrm>
                <a:off x="728662" y="60245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239" name="TextBox 239"/>
            <p:cNvSpPr txBox="1"/>
            <p:nvPr/>
          </p:nvSpPr>
          <p:spPr>
            <a:xfrm>
              <a:off x="1137666" y="5944552"/>
              <a:ext cx="293370"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结论</a:t>
              </a:r>
            </a:p>
          </p:txBody>
        </p:sp>
        <p:sp>
          <p:nvSpPr>
            <p:cNvPr id="240" name="TextBox 240"/>
            <p:cNvSpPr txBox="1"/>
            <p:nvPr/>
          </p:nvSpPr>
          <p:spPr>
            <a:xfrm>
              <a:off x="1138238" y="6166247"/>
              <a:ext cx="10172177"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以数据与技术双轮驱动为核心，构建</a:t>
              </a:r>
              <a:r>
                <a:rPr lang="zh-CN" sz="940" b="1" dirty="0">
                  <a:solidFill>
                    <a:srgbClr val="A52D12"/>
                  </a:solidFill>
                  <a:latin typeface="+mn-lt"/>
                  <a:ea typeface="+mn-ea"/>
                  <a:cs typeface="+mn-cs"/>
                </a:rPr>
                <a:t>“平台+场景+生态”数字化体系</a:t>
              </a:r>
              <a:r>
                <a:rPr lang="zh-CN" sz="940" dirty="0">
                  <a:solidFill>
                    <a:srgbClr val="3A3A3A"/>
                  </a:solidFill>
                  <a:latin typeface="+mn-lt"/>
                  <a:ea typeface="+mn-ea"/>
                  <a:cs typeface="+mn-cs"/>
                </a:rPr>
                <a:t>，显著提升获客、风控、运营与决策能力，增强客户粘性与经营粘性，数字化正逐步成为本行经营增长的关键引擎。</a:t>
              </a:r>
            </a:p>
          </p:txBody>
        </p:sp>
      </p:gr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11​</a:t>
              </a:r>
            </a:p>
          </p:txBody>
        </p:sp>
        <p:sp>
          <p:nvSpPr>
            <p:cNvPr id="4" name="TextBox 4"/>
            <p:cNvSpPr txBox="1"/>
            <p:nvPr/>
          </p:nvSpPr>
          <p:spPr>
            <a:xfrm>
              <a:off x="942594" y="189548"/>
              <a:ext cx="6954012"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深化集约化与智慧化改造，</a:t>
              </a:r>
              <a:r>
                <a:rPr lang="zh-CN" sz="1950" b="1" dirty="0">
                  <a:solidFill>
                    <a:srgbClr val="A52D12"/>
                  </a:solidFill>
                  <a:latin typeface="SimSun"/>
                  <a:ea typeface="SimSun"/>
                  <a:cs typeface="SimSun"/>
                </a:rPr>
                <a:t>持续提升运营效率和客户体验</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9" name="lead"/>
          <p:cNvGrpSpPr/>
          <p:nvPr/>
        </p:nvGrpSpPr>
        <p:grpSpPr>
          <a:xfrm>
            <a:off x="381000" y="685800"/>
            <a:ext cx="8105991" cy="218789"/>
            <a:chOff x="381000" y="685800"/>
            <a:chExt cx="8105991" cy="218789"/>
          </a:xfrm>
        </p:grpSpPr>
        <p:sp>
          <p:nvSpPr>
            <p:cNvPr id="7" name="Rectangle 7"/>
            <p:cNvSpPr/>
            <p:nvPr/>
          </p:nvSpPr>
          <p:spPr>
            <a:xfrm>
              <a:off x="381000" y="685800"/>
              <a:ext cx="38100" cy="152400"/>
            </a:xfrm>
            <a:prstGeom prst="rect">
              <a:avLst/>
            </a:prstGeom>
            <a:solidFill>
              <a:srgbClr val="A52D12"/>
            </a:solidFill>
            <a:ln>
              <a:noFill/>
            </a:ln>
          </p:spPr>
        </p:sp>
        <p:sp>
          <p:nvSpPr>
            <p:cNvPr id="8" name="TextBox 8"/>
            <p:cNvSpPr txBox="1"/>
            <p:nvPr/>
          </p:nvSpPr>
          <p:spPr>
            <a:xfrm>
              <a:off x="528447" y="713899"/>
              <a:ext cx="7958544"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非现金业务线上办理率90.8%；平均业务处理时长下降35%；客户平均等候时间7.6分钟；柜面人员释放18%；运营成本同比下降6.3%。​</a:t>
              </a:r>
            </a:p>
          </p:txBody>
        </p:sp>
      </p:grpSp>
      <p:grpSp>
        <p:nvGrpSpPr>
          <p:cNvPr id="56" name="kpi-cards"/>
          <p:cNvGrpSpPr/>
          <p:nvPr/>
        </p:nvGrpSpPr>
        <p:grpSpPr>
          <a:xfrm>
            <a:off x="381000" y="971550"/>
            <a:ext cx="11410950" cy="990600"/>
            <a:chOff x="381000" y="971550"/>
            <a:chExt cx="11410950" cy="990600"/>
          </a:xfrm>
        </p:grpSpPr>
        <p:sp>
          <p:nvSpPr>
            <p:cNvPr id="10" name="Rectangle 10"/>
            <p:cNvSpPr/>
            <p:nvPr/>
          </p:nvSpPr>
          <p:spPr>
            <a:xfrm>
              <a:off x="381000" y="971550"/>
              <a:ext cx="2190750" cy="990600"/>
            </a:xfrm>
            <a:prstGeom prst="roundRect">
              <a:avLst>
                <a:gd name="adj" fmla="val 7692"/>
              </a:avLst>
            </a:prstGeom>
            <a:solidFill>
              <a:srgbClr val="FDF6F5"/>
            </a:solidFill>
            <a:ln w="9525">
              <a:solidFill>
                <a:srgbClr val="EDD5D2"/>
              </a:solidFill>
            </a:ln>
          </p:spPr>
        </p:sp>
        <p:sp>
          <p:nvSpPr>
            <p:cNvPr id="11" name="Ellipse 11"/>
            <p:cNvSpPr/>
            <p:nvPr/>
          </p:nvSpPr>
          <p:spPr>
            <a:xfrm>
              <a:off x="552450" y="1104900"/>
              <a:ext cx="266700" cy="266700"/>
            </a:xfrm>
            <a:prstGeom prst="ellipse">
              <a:avLst/>
            </a:prstGeom>
            <a:solidFill>
              <a:srgbClr val="F7E9E7"/>
            </a:solidFill>
            <a:ln>
              <a:noFill/>
            </a:ln>
          </p:spPr>
        </p:sp>
        <p:grpSp>
          <p:nvGrpSpPr>
            <p:cNvPr id="15" name="Group 15"/>
            <p:cNvGrpSpPr/>
            <p:nvPr/>
          </p:nvGrpSpPr>
          <p:grpSpPr>
            <a:xfrm>
              <a:off x="647700" y="1181100"/>
              <a:ext cx="76200" cy="114300"/>
              <a:chOff x="647700" y="1181100"/>
              <a:chExt cx="76200" cy="114300"/>
            </a:xfrm>
          </p:grpSpPr>
          <p:sp>
            <p:nvSpPr>
              <p:cNvPr id="12" name="Freeform 12"/>
              <p:cNvSpPr/>
              <p:nvPr/>
            </p:nvSpPr>
            <p:spPr>
              <a:xfrm>
                <a:off x="647700" y="118110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A52D12"/>
                </a:solidFill>
              </a:ln>
            </p:spPr>
          </p:sp>
          <p:sp>
            <p:nvSpPr>
              <p:cNvPr id="13" name="Freeform 13"/>
              <p:cNvSpPr/>
              <p:nvPr/>
            </p:nvSpPr>
            <p:spPr>
              <a:xfrm>
                <a:off x="679450" y="1187450"/>
                <a:ext cx="12700" cy="9525"/>
              </a:xfrm>
              <a:custGeom>
                <a:avLst/>
                <a:gdLst/>
                <a:ahLst/>
                <a:cxnLst/>
                <a:rect l="l" t="t" r="r" b="b"/>
                <a:pathLst>
                  <a:path w="12700" h="9525">
                    <a:moveTo>
                      <a:pt x="0" y="0"/>
                    </a:moveTo>
                    <a:lnTo>
                      <a:pt x="12700" y="0"/>
                    </a:lnTo>
                  </a:path>
                </a:pathLst>
              </a:custGeom>
              <a:noFill/>
              <a:ln w="12700">
                <a:solidFill>
                  <a:srgbClr val="A52D12"/>
                </a:solidFill>
              </a:ln>
            </p:spPr>
          </p:sp>
          <p:sp>
            <p:nvSpPr>
              <p:cNvPr id="14" name="Freeform 14"/>
              <p:cNvSpPr/>
              <p:nvPr/>
            </p:nvSpPr>
            <p:spPr>
              <a:xfrm>
                <a:off x="685800" y="1270000"/>
                <a:ext cx="9525" cy="9525"/>
              </a:xfrm>
              <a:custGeom>
                <a:avLst/>
                <a:gdLst/>
                <a:ahLst/>
                <a:cxnLst/>
                <a:rect l="l" t="t" r="r" b="b"/>
                <a:pathLst>
                  <a:path w="9525" h="9525">
                    <a:moveTo>
                      <a:pt x="0" y="0"/>
                    </a:moveTo>
                    <a:lnTo>
                      <a:pt x="0" y="64"/>
                    </a:lnTo>
                  </a:path>
                </a:pathLst>
              </a:custGeom>
              <a:noFill/>
              <a:ln w="12700">
                <a:solidFill>
                  <a:srgbClr val="A52D12"/>
                </a:solidFill>
              </a:ln>
            </p:spPr>
          </p:sp>
        </p:grpSp>
        <p:sp>
          <p:nvSpPr>
            <p:cNvPr id="16" name="TextBox 16"/>
            <p:cNvSpPr txBox="1"/>
            <p:nvPr/>
          </p:nvSpPr>
          <p:spPr>
            <a:xfrm>
              <a:off x="890588" y="1192768"/>
              <a:ext cx="1167257"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非现金业务线上办理率</a:t>
              </a:r>
            </a:p>
          </p:txBody>
        </p:sp>
        <p:sp>
          <p:nvSpPr>
            <p:cNvPr id="17" name="TextBox 17"/>
            <p:cNvSpPr txBox="1"/>
            <p:nvPr/>
          </p:nvSpPr>
          <p:spPr>
            <a:xfrm>
              <a:off x="582168" y="1498282"/>
              <a:ext cx="833066"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90.8%​</a:t>
              </a:r>
            </a:p>
          </p:txBody>
        </p:sp>
        <p:sp>
          <p:nvSpPr>
            <p:cNvPr id="18" name="TextBox 18"/>
            <p:cNvSpPr txBox="1"/>
            <p:nvPr/>
          </p:nvSpPr>
          <p:spPr>
            <a:xfrm>
              <a:off x="1614488" y="1781889"/>
              <a:ext cx="848891"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 xml:space="preserve">较上年 </a:t>
              </a:r>
              <a:r>
                <a:rPr lang="en-US" sz="790" b="1" dirty="0">
                  <a:solidFill>
                    <a:srgbClr val="A52D12"/>
                  </a:solidFill>
                  <a:latin typeface="+mn-lt"/>
                  <a:ea typeface="+mn-ea"/>
                  <a:cs typeface="+mn-cs"/>
                </a:rPr>
                <a:t>+8.7pct</a:t>
              </a:r>
              <a:r>
                <a:rPr lang="zh-CN" sz="790" dirty="0">
                  <a:solidFill>
                    <a:srgbClr val="6B6B6B"/>
                  </a:solidFill>
                  <a:latin typeface="+mn-lt"/>
                  <a:ea typeface="+mn-ea"/>
                  <a:cs typeface="+mn-cs"/>
                </a:rPr>
                <a:t>​</a:t>
              </a:r>
            </a:p>
          </p:txBody>
        </p:sp>
        <p:sp>
          <p:nvSpPr>
            <p:cNvPr id="19" name="Rectangle 19"/>
            <p:cNvSpPr/>
            <p:nvPr/>
          </p:nvSpPr>
          <p:spPr>
            <a:xfrm>
              <a:off x="2686050" y="971550"/>
              <a:ext cx="2190750" cy="990600"/>
            </a:xfrm>
            <a:prstGeom prst="roundRect">
              <a:avLst>
                <a:gd name="adj" fmla="val 7692"/>
              </a:avLst>
            </a:prstGeom>
            <a:solidFill>
              <a:srgbClr val="FDF6F5"/>
            </a:solidFill>
            <a:ln w="9525">
              <a:solidFill>
                <a:srgbClr val="EDD5D2"/>
              </a:solidFill>
            </a:ln>
          </p:spPr>
        </p:sp>
        <p:sp>
          <p:nvSpPr>
            <p:cNvPr id="20" name="Ellipse 20"/>
            <p:cNvSpPr/>
            <p:nvPr/>
          </p:nvSpPr>
          <p:spPr>
            <a:xfrm>
              <a:off x="2857500" y="1104900"/>
              <a:ext cx="266700" cy="266700"/>
            </a:xfrm>
            <a:prstGeom prst="ellipse">
              <a:avLst/>
            </a:prstGeom>
            <a:solidFill>
              <a:srgbClr val="F7E9E7"/>
            </a:solidFill>
            <a:ln>
              <a:noFill/>
            </a:ln>
          </p:spPr>
        </p:sp>
        <p:grpSp>
          <p:nvGrpSpPr>
            <p:cNvPr id="23" name="Group 23"/>
            <p:cNvGrpSpPr/>
            <p:nvPr/>
          </p:nvGrpSpPr>
          <p:grpSpPr>
            <a:xfrm>
              <a:off x="2933700" y="1181100"/>
              <a:ext cx="114300" cy="114300"/>
              <a:chOff x="2933700" y="1181100"/>
              <a:chExt cx="114300" cy="114300"/>
            </a:xfrm>
          </p:grpSpPr>
          <p:sp>
            <p:nvSpPr>
              <p:cNvPr id="21" name="Freeform 21"/>
              <p:cNvSpPr/>
              <p:nvPr/>
            </p:nvSpPr>
            <p:spPr>
              <a:xfrm>
                <a:off x="2933700" y="11811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A52D12"/>
                </a:solidFill>
              </a:ln>
            </p:spPr>
          </p:sp>
          <p:sp>
            <p:nvSpPr>
              <p:cNvPr id="22" name="Freeform 22"/>
              <p:cNvSpPr/>
              <p:nvPr/>
            </p:nvSpPr>
            <p:spPr>
              <a:xfrm>
                <a:off x="2990850" y="1206500"/>
                <a:ext cx="19050" cy="50800"/>
              </a:xfrm>
              <a:custGeom>
                <a:avLst/>
                <a:gdLst/>
                <a:ahLst/>
                <a:cxnLst/>
                <a:rect l="l" t="t" r="r" b="b"/>
                <a:pathLst>
                  <a:path w="19050" h="50800">
                    <a:moveTo>
                      <a:pt x="0" y="0"/>
                    </a:moveTo>
                    <a:lnTo>
                      <a:pt x="0" y="31750"/>
                    </a:lnTo>
                    <a:lnTo>
                      <a:pt x="19050" y="50800"/>
                    </a:lnTo>
                  </a:path>
                </a:pathLst>
              </a:custGeom>
              <a:noFill/>
              <a:ln w="12700">
                <a:solidFill>
                  <a:srgbClr val="A52D12"/>
                </a:solidFill>
              </a:ln>
            </p:spPr>
          </p:sp>
        </p:grpSp>
        <p:sp>
          <p:nvSpPr>
            <p:cNvPr id="24" name="TextBox 24"/>
            <p:cNvSpPr txBox="1"/>
            <p:nvPr/>
          </p:nvSpPr>
          <p:spPr>
            <a:xfrm>
              <a:off x="3195638" y="1192768"/>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平均业务处理时长</a:t>
              </a:r>
            </a:p>
          </p:txBody>
        </p:sp>
        <p:sp>
          <p:nvSpPr>
            <p:cNvPr id="25" name="TextBox 25"/>
            <p:cNvSpPr txBox="1"/>
            <p:nvPr/>
          </p:nvSpPr>
          <p:spPr>
            <a:xfrm>
              <a:off x="2887218" y="1498282"/>
              <a:ext cx="1090729"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下降 35%​</a:t>
              </a:r>
            </a:p>
          </p:txBody>
        </p:sp>
        <p:sp>
          <p:nvSpPr>
            <p:cNvPr id="26" name="TextBox 26"/>
            <p:cNvSpPr txBox="1"/>
            <p:nvPr/>
          </p:nvSpPr>
          <p:spPr>
            <a:xfrm>
              <a:off x="3919538" y="1781889"/>
              <a:ext cx="328574" cy="154781"/>
            </a:xfrm>
            <a:prstGeom prst="rect">
              <a:avLst/>
            </a:prstGeom>
            <a:noFill/>
            <a:ln>
              <a:noFill/>
            </a:ln>
          </p:spPr>
          <p:txBody>
            <a:bodyPr wrap="none" lIns="0" tIns="0" rIns="0" bIns="0" anchor="t" anchorCtr="0">
              <a:spAutoFit/>
            </a:bodyPr>
            <a:lstStyle/>
            <a:p>
              <a:pPr algn="l"/>
              <a:r>
                <a:rPr lang="zh-CN" sz="790" dirty="0">
                  <a:solidFill>
                    <a:srgbClr val="8A8A8A"/>
                  </a:solidFill>
                  <a:latin typeface="+mn-lt"/>
                  <a:ea typeface="+mn-ea"/>
                  <a:cs typeface="+mn-cs"/>
                </a:rPr>
                <a:t>较上年</a:t>
              </a:r>
            </a:p>
          </p:txBody>
        </p:sp>
        <p:sp>
          <p:nvSpPr>
            <p:cNvPr id="27" name="Rectangle 27"/>
            <p:cNvSpPr/>
            <p:nvPr/>
          </p:nvSpPr>
          <p:spPr>
            <a:xfrm>
              <a:off x="4991100" y="971550"/>
              <a:ext cx="2190750" cy="990600"/>
            </a:xfrm>
            <a:prstGeom prst="roundRect">
              <a:avLst>
                <a:gd name="adj" fmla="val 7692"/>
              </a:avLst>
            </a:prstGeom>
            <a:solidFill>
              <a:srgbClr val="FDF6F5"/>
            </a:solidFill>
            <a:ln w="9525">
              <a:solidFill>
                <a:srgbClr val="EDD5D2"/>
              </a:solidFill>
            </a:ln>
          </p:spPr>
        </p:sp>
        <p:sp>
          <p:nvSpPr>
            <p:cNvPr id="28" name="Ellipse 28"/>
            <p:cNvSpPr/>
            <p:nvPr/>
          </p:nvSpPr>
          <p:spPr>
            <a:xfrm>
              <a:off x="5162550" y="1104900"/>
              <a:ext cx="266700" cy="266700"/>
            </a:xfrm>
            <a:prstGeom prst="ellipse">
              <a:avLst/>
            </a:prstGeom>
            <a:solidFill>
              <a:srgbClr val="F7E9E7"/>
            </a:solidFill>
            <a:ln>
              <a:noFill/>
            </a:ln>
          </p:spPr>
        </p:sp>
        <p:grpSp>
          <p:nvGrpSpPr>
            <p:cNvPr id="33" name="Group 33"/>
            <p:cNvGrpSpPr/>
            <p:nvPr/>
          </p:nvGrpSpPr>
          <p:grpSpPr>
            <a:xfrm>
              <a:off x="5238750" y="1181100"/>
              <a:ext cx="114300" cy="114301"/>
              <a:chOff x="5238750" y="1181100"/>
              <a:chExt cx="114300" cy="114301"/>
            </a:xfrm>
          </p:grpSpPr>
          <p:sp>
            <p:nvSpPr>
              <p:cNvPr id="29" name="Freeform 29"/>
              <p:cNvSpPr/>
              <p:nvPr/>
            </p:nvSpPr>
            <p:spPr>
              <a:xfrm>
                <a:off x="5251450" y="11811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52D12"/>
                </a:solidFill>
              </a:ln>
            </p:spPr>
          </p:sp>
          <p:sp>
            <p:nvSpPr>
              <p:cNvPr id="30" name="Freeform 30"/>
              <p:cNvSpPr/>
              <p:nvPr/>
            </p:nvSpPr>
            <p:spPr>
              <a:xfrm>
                <a:off x="5238750" y="12573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A52D12"/>
                </a:solidFill>
              </a:ln>
            </p:spPr>
          </p:sp>
          <p:sp>
            <p:nvSpPr>
              <p:cNvPr id="31" name="Freeform 31"/>
              <p:cNvSpPr/>
              <p:nvPr/>
            </p:nvSpPr>
            <p:spPr>
              <a:xfrm>
                <a:off x="5321300" y="11819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A52D12"/>
                </a:solidFill>
              </a:ln>
            </p:spPr>
          </p:sp>
          <p:sp>
            <p:nvSpPr>
              <p:cNvPr id="32" name="Freeform 32"/>
              <p:cNvSpPr/>
              <p:nvPr/>
            </p:nvSpPr>
            <p:spPr>
              <a:xfrm>
                <a:off x="5334000" y="12582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A52D12"/>
                </a:solidFill>
              </a:ln>
            </p:spPr>
          </p:sp>
        </p:grpSp>
        <p:sp>
          <p:nvSpPr>
            <p:cNvPr id="34" name="TextBox 34"/>
            <p:cNvSpPr txBox="1"/>
            <p:nvPr/>
          </p:nvSpPr>
          <p:spPr>
            <a:xfrm>
              <a:off x="5500688" y="1192768"/>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客户平均等候时间</a:t>
              </a:r>
            </a:p>
          </p:txBody>
        </p:sp>
        <p:sp>
          <p:nvSpPr>
            <p:cNvPr id="35" name="TextBox 35"/>
            <p:cNvSpPr txBox="1"/>
            <p:nvPr/>
          </p:nvSpPr>
          <p:spPr>
            <a:xfrm>
              <a:off x="5192268" y="1498282"/>
              <a:ext cx="812536"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 xml:space="preserve">7.6 </a:t>
              </a:r>
              <a:r>
                <a:rPr lang="zh-CN" sz="790" dirty="0">
                  <a:solidFill>
                    <a:srgbClr val="A52D12"/>
                  </a:solidFill>
                  <a:latin typeface="+mn-lt"/>
                  <a:ea typeface="+mn-ea"/>
                  <a:cs typeface="+mn-cs"/>
                </a:rPr>
                <a:t>分钟</a:t>
              </a:r>
              <a:r>
                <a:rPr lang="zh-CN" sz="1650" b="1" dirty="0">
                  <a:solidFill>
                    <a:srgbClr val="A52D12"/>
                  </a:solidFill>
                  <a:latin typeface="+mn-lt"/>
                  <a:ea typeface="+mn-ea"/>
                  <a:cs typeface="+mn-cs"/>
                </a:rPr>
                <a:t>​</a:t>
              </a:r>
            </a:p>
          </p:txBody>
        </p:sp>
        <p:sp>
          <p:nvSpPr>
            <p:cNvPr id="36" name="TextBox 36"/>
            <p:cNvSpPr txBox="1"/>
            <p:nvPr/>
          </p:nvSpPr>
          <p:spPr>
            <a:xfrm>
              <a:off x="6148388" y="1781889"/>
              <a:ext cx="877339" cy="154781"/>
            </a:xfrm>
            <a:prstGeom prst="rect">
              <a:avLst/>
            </a:prstGeom>
            <a:noFill/>
            <a:ln>
              <a:noFill/>
            </a:ln>
          </p:spPr>
          <p:txBody>
            <a:bodyPr wrap="none" lIns="0" tIns="0" rIns="0" bIns="0" anchor="t" anchorCtr="0">
              <a:spAutoFit/>
            </a:bodyPr>
            <a:lstStyle/>
            <a:p>
              <a:pPr algn="l"/>
              <a:r>
                <a:rPr lang="zh-CN" sz="790" dirty="0">
                  <a:solidFill>
                    <a:srgbClr val="6B6B6B"/>
                  </a:solidFill>
                  <a:latin typeface="+mn-lt"/>
                  <a:ea typeface="+mn-ea"/>
                  <a:cs typeface="+mn-cs"/>
                </a:rPr>
                <a:t xml:space="preserve">较上年 </a:t>
              </a:r>
              <a:r>
                <a:rPr lang="zh-CN" sz="790" b="1" dirty="0">
                  <a:solidFill>
                    <a:srgbClr val="9E412F"/>
                  </a:solidFill>
                  <a:latin typeface="+mn-lt"/>
                  <a:ea typeface="+mn-ea"/>
                  <a:cs typeface="+mn-cs"/>
                </a:rPr>
                <a:t>-3.1分钟</a:t>
              </a:r>
              <a:r>
                <a:rPr lang="zh-CN" sz="790" dirty="0">
                  <a:solidFill>
                    <a:srgbClr val="6B6B6B"/>
                  </a:solidFill>
                  <a:latin typeface="+mn-lt"/>
                  <a:ea typeface="+mn-ea"/>
                  <a:cs typeface="+mn-cs"/>
                </a:rPr>
                <a:t>​</a:t>
              </a:r>
            </a:p>
          </p:txBody>
        </p:sp>
        <p:sp>
          <p:nvSpPr>
            <p:cNvPr id="37" name="Rectangle 37"/>
            <p:cNvSpPr/>
            <p:nvPr/>
          </p:nvSpPr>
          <p:spPr>
            <a:xfrm>
              <a:off x="7296150" y="971550"/>
              <a:ext cx="2190750" cy="990600"/>
            </a:xfrm>
            <a:prstGeom prst="roundRect">
              <a:avLst>
                <a:gd name="adj" fmla="val 7692"/>
              </a:avLst>
            </a:prstGeom>
            <a:solidFill>
              <a:srgbClr val="FDF6F5"/>
            </a:solidFill>
            <a:ln w="9525">
              <a:solidFill>
                <a:srgbClr val="EDD5D2"/>
              </a:solidFill>
            </a:ln>
          </p:spPr>
        </p:sp>
        <p:sp>
          <p:nvSpPr>
            <p:cNvPr id="38" name="Ellipse 38"/>
            <p:cNvSpPr/>
            <p:nvPr/>
          </p:nvSpPr>
          <p:spPr>
            <a:xfrm>
              <a:off x="7467600" y="1104900"/>
              <a:ext cx="266700" cy="266700"/>
            </a:xfrm>
            <a:prstGeom prst="ellipse">
              <a:avLst/>
            </a:prstGeom>
            <a:solidFill>
              <a:srgbClr val="F7E9E7"/>
            </a:solidFill>
            <a:ln>
              <a:noFill/>
            </a:ln>
          </p:spPr>
        </p:sp>
        <p:grpSp>
          <p:nvGrpSpPr>
            <p:cNvPr id="42" name="Group 42"/>
            <p:cNvGrpSpPr/>
            <p:nvPr/>
          </p:nvGrpSpPr>
          <p:grpSpPr>
            <a:xfrm>
              <a:off x="7562850" y="1181100"/>
              <a:ext cx="95250" cy="114300"/>
              <a:chOff x="7562850" y="1181100"/>
              <a:chExt cx="95250" cy="114300"/>
            </a:xfrm>
          </p:grpSpPr>
          <p:sp>
            <p:nvSpPr>
              <p:cNvPr id="39" name="Freeform 39"/>
              <p:cNvSpPr/>
              <p:nvPr/>
            </p:nvSpPr>
            <p:spPr>
              <a:xfrm>
                <a:off x="7575550" y="11811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A52D12"/>
                </a:solidFill>
              </a:ln>
            </p:spPr>
          </p:sp>
          <p:sp>
            <p:nvSpPr>
              <p:cNvPr id="40" name="Freeform 40"/>
              <p:cNvSpPr/>
              <p:nvPr/>
            </p:nvSpPr>
            <p:spPr>
              <a:xfrm>
                <a:off x="7562850" y="12573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A52D12"/>
                </a:solidFill>
              </a:ln>
            </p:spPr>
          </p:sp>
          <p:sp>
            <p:nvSpPr>
              <p:cNvPr id="41" name="Freeform 41"/>
              <p:cNvSpPr/>
              <p:nvPr/>
            </p:nvSpPr>
            <p:spPr>
              <a:xfrm>
                <a:off x="7620000" y="1270000"/>
                <a:ext cx="38100" cy="25400"/>
              </a:xfrm>
              <a:custGeom>
                <a:avLst/>
                <a:gdLst/>
                <a:ahLst/>
                <a:cxnLst/>
                <a:rect l="l" t="t" r="r" b="b"/>
                <a:pathLst>
                  <a:path w="38100" h="25400">
                    <a:moveTo>
                      <a:pt x="0" y="12700"/>
                    </a:moveTo>
                    <a:lnTo>
                      <a:pt x="12700" y="25400"/>
                    </a:lnTo>
                    <a:lnTo>
                      <a:pt x="38100" y="0"/>
                    </a:lnTo>
                  </a:path>
                </a:pathLst>
              </a:custGeom>
              <a:noFill/>
              <a:ln w="12700">
                <a:solidFill>
                  <a:srgbClr val="A52D12"/>
                </a:solidFill>
              </a:ln>
            </p:spPr>
          </p:sp>
        </p:grpSp>
        <p:sp>
          <p:nvSpPr>
            <p:cNvPr id="43" name="TextBox 43"/>
            <p:cNvSpPr txBox="1"/>
            <p:nvPr/>
          </p:nvSpPr>
          <p:spPr>
            <a:xfrm>
              <a:off x="7805738" y="1192768"/>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柜面人员释放</a:t>
              </a:r>
            </a:p>
          </p:txBody>
        </p:sp>
        <p:sp>
          <p:nvSpPr>
            <p:cNvPr id="44" name="TextBox 44"/>
            <p:cNvSpPr txBox="1"/>
            <p:nvPr/>
          </p:nvSpPr>
          <p:spPr>
            <a:xfrm>
              <a:off x="7497318" y="1498282"/>
              <a:ext cx="576514"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18%​</a:t>
              </a:r>
            </a:p>
          </p:txBody>
        </p:sp>
        <p:sp>
          <p:nvSpPr>
            <p:cNvPr id="45" name="TextBox 45"/>
            <p:cNvSpPr txBox="1"/>
            <p:nvPr/>
          </p:nvSpPr>
          <p:spPr>
            <a:xfrm>
              <a:off x="8453438" y="1781889"/>
              <a:ext cx="328574" cy="154781"/>
            </a:xfrm>
            <a:prstGeom prst="rect">
              <a:avLst/>
            </a:prstGeom>
            <a:noFill/>
            <a:ln>
              <a:noFill/>
            </a:ln>
          </p:spPr>
          <p:txBody>
            <a:bodyPr wrap="none" lIns="0" tIns="0" rIns="0" bIns="0" anchor="t" anchorCtr="0">
              <a:spAutoFit/>
            </a:bodyPr>
            <a:lstStyle/>
            <a:p>
              <a:pPr algn="l"/>
              <a:r>
                <a:rPr lang="zh-CN" sz="790" dirty="0">
                  <a:solidFill>
                    <a:srgbClr val="8A8A8A"/>
                  </a:solidFill>
                  <a:latin typeface="+mn-lt"/>
                  <a:ea typeface="+mn-ea"/>
                  <a:cs typeface="+mn-cs"/>
                </a:rPr>
                <a:t>较上年</a:t>
              </a:r>
            </a:p>
          </p:txBody>
        </p:sp>
        <p:sp>
          <p:nvSpPr>
            <p:cNvPr id="46" name="Rectangle 46"/>
            <p:cNvSpPr/>
            <p:nvPr/>
          </p:nvSpPr>
          <p:spPr>
            <a:xfrm>
              <a:off x="9601200" y="971550"/>
              <a:ext cx="2190750" cy="990600"/>
            </a:xfrm>
            <a:prstGeom prst="roundRect">
              <a:avLst>
                <a:gd name="adj" fmla="val 7692"/>
              </a:avLst>
            </a:prstGeom>
            <a:solidFill>
              <a:srgbClr val="FDF6F5"/>
            </a:solidFill>
            <a:ln w="9525">
              <a:solidFill>
                <a:srgbClr val="EDD5D2"/>
              </a:solidFill>
            </a:ln>
          </p:spPr>
        </p:sp>
        <p:sp>
          <p:nvSpPr>
            <p:cNvPr id="47" name="Ellipse 47"/>
            <p:cNvSpPr/>
            <p:nvPr/>
          </p:nvSpPr>
          <p:spPr>
            <a:xfrm>
              <a:off x="9772650" y="1104900"/>
              <a:ext cx="266700" cy="266700"/>
            </a:xfrm>
            <a:prstGeom prst="ellipse">
              <a:avLst/>
            </a:prstGeom>
            <a:solidFill>
              <a:srgbClr val="F7E9E7"/>
            </a:solidFill>
            <a:ln>
              <a:noFill/>
            </a:ln>
          </p:spPr>
        </p:sp>
        <p:grpSp>
          <p:nvGrpSpPr>
            <p:cNvPr id="52" name="Group 52"/>
            <p:cNvGrpSpPr/>
            <p:nvPr/>
          </p:nvGrpSpPr>
          <p:grpSpPr>
            <a:xfrm>
              <a:off x="9848850" y="1187450"/>
              <a:ext cx="114300" cy="111125"/>
              <a:chOff x="9848850" y="1187450"/>
              <a:chExt cx="114300" cy="111125"/>
            </a:xfrm>
          </p:grpSpPr>
          <p:sp>
            <p:nvSpPr>
              <p:cNvPr id="48" name="Freeform 48"/>
              <p:cNvSpPr/>
              <p:nvPr/>
            </p:nvSpPr>
            <p:spPr>
              <a:xfrm>
                <a:off x="9848850" y="12382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A52D12"/>
                </a:solidFill>
              </a:ln>
            </p:spPr>
          </p:sp>
          <p:sp>
            <p:nvSpPr>
              <p:cNvPr id="49" name="Freeform 49"/>
              <p:cNvSpPr/>
              <p:nvPr/>
            </p:nvSpPr>
            <p:spPr>
              <a:xfrm>
                <a:off x="9925050" y="12128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A52D12"/>
                </a:solidFill>
              </a:ln>
            </p:spPr>
          </p:sp>
          <p:sp>
            <p:nvSpPr>
              <p:cNvPr id="50" name="Freeform 50"/>
              <p:cNvSpPr/>
              <p:nvPr/>
            </p:nvSpPr>
            <p:spPr>
              <a:xfrm>
                <a:off x="9886950" y="11874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A52D12"/>
                </a:solidFill>
              </a:ln>
            </p:spPr>
          </p:sp>
          <p:sp>
            <p:nvSpPr>
              <p:cNvPr id="51" name="Freeform 51"/>
              <p:cNvSpPr/>
              <p:nvPr/>
            </p:nvSpPr>
            <p:spPr>
              <a:xfrm>
                <a:off x="9855200" y="1289050"/>
                <a:ext cx="88900" cy="9525"/>
              </a:xfrm>
              <a:custGeom>
                <a:avLst/>
                <a:gdLst/>
                <a:ahLst/>
                <a:cxnLst/>
                <a:rect l="l" t="t" r="r" b="b"/>
                <a:pathLst>
                  <a:path w="88900" h="9525">
                    <a:moveTo>
                      <a:pt x="0" y="0"/>
                    </a:moveTo>
                    <a:lnTo>
                      <a:pt x="88900" y="0"/>
                    </a:lnTo>
                  </a:path>
                </a:pathLst>
              </a:custGeom>
              <a:noFill/>
              <a:ln w="12700">
                <a:solidFill>
                  <a:srgbClr val="A52D12"/>
                </a:solidFill>
              </a:ln>
            </p:spPr>
          </p:sp>
        </p:grpSp>
        <p:sp>
          <p:nvSpPr>
            <p:cNvPr id="53" name="TextBox 53"/>
            <p:cNvSpPr txBox="1"/>
            <p:nvPr/>
          </p:nvSpPr>
          <p:spPr>
            <a:xfrm>
              <a:off x="10110788" y="1192768"/>
              <a:ext cx="93571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运营成本同比下降</a:t>
              </a:r>
            </a:p>
          </p:txBody>
        </p:sp>
        <p:sp>
          <p:nvSpPr>
            <p:cNvPr id="54" name="TextBox 54"/>
            <p:cNvSpPr txBox="1"/>
            <p:nvPr/>
          </p:nvSpPr>
          <p:spPr>
            <a:xfrm>
              <a:off x="9802368" y="1498282"/>
              <a:ext cx="704790"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6.3%​</a:t>
              </a:r>
            </a:p>
          </p:txBody>
        </p:sp>
        <p:sp>
          <p:nvSpPr>
            <p:cNvPr id="55" name="TextBox 55"/>
            <p:cNvSpPr txBox="1"/>
            <p:nvPr/>
          </p:nvSpPr>
          <p:spPr>
            <a:xfrm>
              <a:off x="10644188" y="1781889"/>
              <a:ext cx="328574" cy="154781"/>
            </a:xfrm>
            <a:prstGeom prst="rect">
              <a:avLst/>
            </a:prstGeom>
            <a:noFill/>
            <a:ln>
              <a:noFill/>
            </a:ln>
          </p:spPr>
          <p:txBody>
            <a:bodyPr wrap="none" lIns="0" tIns="0" rIns="0" bIns="0" anchor="t" anchorCtr="0">
              <a:spAutoFit/>
            </a:bodyPr>
            <a:lstStyle/>
            <a:p>
              <a:pPr algn="l"/>
              <a:r>
                <a:rPr lang="zh-CN" sz="790" dirty="0">
                  <a:solidFill>
                    <a:srgbClr val="8A8A8A"/>
                  </a:solidFill>
                  <a:latin typeface="+mn-lt"/>
                  <a:ea typeface="+mn-ea"/>
                  <a:cs typeface="+mn-cs"/>
                </a:rPr>
                <a:t>较上年</a:t>
              </a:r>
            </a:p>
          </p:txBody>
        </p:sp>
      </p:grpSp>
      <p:grpSp>
        <p:nvGrpSpPr>
          <p:cNvPr id="112" name="compare-table"/>
          <p:cNvGrpSpPr/>
          <p:nvPr/>
        </p:nvGrpSpPr>
        <p:grpSpPr>
          <a:xfrm>
            <a:off x="381000" y="2095500"/>
            <a:ext cx="3810000" cy="3486150"/>
            <a:chOff x="381000" y="2095500"/>
            <a:chExt cx="3810000" cy="3486150"/>
          </a:xfrm>
        </p:grpSpPr>
        <p:sp>
          <p:nvSpPr>
            <p:cNvPr id="57" name="Rectangle 57"/>
            <p:cNvSpPr/>
            <p:nvPr/>
          </p:nvSpPr>
          <p:spPr>
            <a:xfrm>
              <a:off x="381000" y="2095500"/>
              <a:ext cx="3810000" cy="3486150"/>
            </a:xfrm>
            <a:prstGeom prst="roundRect">
              <a:avLst>
                <a:gd name="adj" fmla="val 2186"/>
              </a:avLst>
            </a:prstGeom>
            <a:solidFill>
              <a:srgbClr val="FDF6F5"/>
            </a:solidFill>
            <a:ln w="9525">
              <a:solidFill>
                <a:srgbClr val="EDD5D2"/>
              </a:solidFill>
            </a:ln>
          </p:spPr>
        </p:sp>
        <p:sp>
          <p:nvSpPr>
            <p:cNvPr id="58" name="Freeform 58"/>
            <p:cNvSpPr/>
            <p:nvPr/>
          </p:nvSpPr>
          <p:spPr>
            <a:xfrm>
              <a:off x="390525" y="2105025"/>
              <a:ext cx="3790950" cy="228600"/>
            </a:xfrm>
            <a:custGeom>
              <a:avLst/>
              <a:gdLst/>
              <a:ahLst/>
              <a:cxnLst/>
              <a:rect l="l" t="t" r="r" b="b"/>
              <a:pathLst>
                <a:path w="3790950" h="228600">
                  <a:moveTo>
                    <a:pt x="0" y="228600"/>
                  </a:moveTo>
                  <a:lnTo>
                    <a:pt x="3790950" y="228600"/>
                  </a:lnTo>
                  <a:lnTo>
                    <a:pt x="3790950" y="66675"/>
                  </a:lnTo>
                  <a:cubicBezTo>
                    <a:pt x="3790950" y="29851"/>
                    <a:pt x="3761099" y="0"/>
                    <a:pt x="3724275" y="0"/>
                  </a:cubicBezTo>
                  <a:lnTo>
                    <a:pt x="66675" y="0"/>
                  </a:lnTo>
                  <a:cubicBezTo>
                    <a:pt x="29851" y="0"/>
                    <a:pt x="0" y="29851"/>
                    <a:pt x="0" y="66675"/>
                  </a:cubicBezTo>
                  <a:close/>
                </a:path>
              </a:pathLst>
            </a:custGeom>
            <a:solidFill>
              <a:srgbClr val="A52D12"/>
            </a:solidFill>
            <a:ln>
              <a:noFill/>
            </a:ln>
          </p:spPr>
        </p:sp>
        <p:sp>
          <p:nvSpPr>
            <p:cNvPr id="59" name="TextBox 59"/>
            <p:cNvSpPr txBox="1"/>
            <p:nvPr/>
          </p:nvSpPr>
          <p:spPr>
            <a:xfrm>
              <a:off x="1488570" y="2153602"/>
              <a:ext cx="15948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传统网点 → 智慧网点对比</a:t>
              </a:r>
            </a:p>
          </p:txBody>
        </p:sp>
        <p:sp>
          <p:nvSpPr>
            <p:cNvPr id="60" name="Rectangle 60"/>
            <p:cNvSpPr/>
            <p:nvPr/>
          </p:nvSpPr>
          <p:spPr>
            <a:xfrm>
              <a:off x="495300" y="2457450"/>
              <a:ext cx="819150" cy="285750"/>
            </a:xfrm>
            <a:prstGeom prst="rect">
              <a:avLst/>
            </a:prstGeom>
            <a:solidFill>
              <a:srgbClr val="8A8A8A"/>
            </a:solidFill>
            <a:ln>
              <a:noFill/>
            </a:ln>
          </p:spPr>
        </p:sp>
        <p:sp>
          <p:nvSpPr>
            <p:cNvPr id="61" name="TextBox 61"/>
            <p:cNvSpPr txBox="1"/>
            <p:nvPr/>
          </p:nvSpPr>
          <p:spPr>
            <a:xfrm>
              <a:off x="657796" y="2541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对比维度</a:t>
              </a:r>
            </a:p>
          </p:txBody>
        </p:sp>
        <p:sp>
          <p:nvSpPr>
            <p:cNvPr id="62" name="Rectangle 62"/>
            <p:cNvSpPr/>
            <p:nvPr/>
          </p:nvSpPr>
          <p:spPr>
            <a:xfrm>
              <a:off x="1314450" y="2457450"/>
              <a:ext cx="1409700" cy="285750"/>
            </a:xfrm>
            <a:prstGeom prst="rect">
              <a:avLst/>
            </a:prstGeom>
            <a:solidFill>
              <a:srgbClr val="A52D12"/>
            </a:solidFill>
            <a:ln>
              <a:noFill/>
            </a:ln>
          </p:spPr>
        </p:sp>
        <p:sp>
          <p:nvSpPr>
            <p:cNvPr id="63" name="TextBox 63"/>
            <p:cNvSpPr txBox="1"/>
            <p:nvPr/>
          </p:nvSpPr>
          <p:spPr>
            <a:xfrm>
              <a:off x="1772222" y="2541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传统网点</a:t>
              </a:r>
            </a:p>
          </p:txBody>
        </p:sp>
        <p:sp>
          <p:nvSpPr>
            <p:cNvPr id="64" name="Rectangle 64"/>
            <p:cNvSpPr/>
            <p:nvPr/>
          </p:nvSpPr>
          <p:spPr>
            <a:xfrm>
              <a:off x="2724150" y="2457450"/>
              <a:ext cx="1409700" cy="285750"/>
            </a:xfrm>
            <a:prstGeom prst="rect">
              <a:avLst/>
            </a:prstGeom>
            <a:solidFill>
              <a:srgbClr val="8E240C"/>
            </a:solidFill>
            <a:ln>
              <a:noFill/>
            </a:ln>
          </p:spPr>
        </p:sp>
        <p:sp>
          <p:nvSpPr>
            <p:cNvPr id="65" name="TextBox 65"/>
            <p:cNvSpPr txBox="1"/>
            <p:nvPr/>
          </p:nvSpPr>
          <p:spPr>
            <a:xfrm>
              <a:off x="3181922" y="2541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智慧网点</a:t>
              </a:r>
            </a:p>
          </p:txBody>
        </p:sp>
        <p:sp>
          <p:nvSpPr>
            <p:cNvPr id="66" name="Rectangle 66"/>
            <p:cNvSpPr/>
            <p:nvPr/>
          </p:nvSpPr>
          <p:spPr>
            <a:xfrm>
              <a:off x="495300" y="2743200"/>
              <a:ext cx="3638550" cy="466725"/>
            </a:xfrm>
            <a:prstGeom prst="rect">
              <a:avLst/>
            </a:prstGeom>
            <a:solidFill>
              <a:srgbClr val="FFFFFF"/>
            </a:solidFill>
            <a:ln>
              <a:noFill/>
            </a:ln>
          </p:spPr>
        </p:sp>
        <p:grpSp>
          <p:nvGrpSpPr>
            <p:cNvPr id="69" name="Group 69"/>
            <p:cNvGrpSpPr/>
            <p:nvPr/>
          </p:nvGrpSpPr>
          <p:grpSpPr>
            <a:xfrm>
              <a:off x="586746" y="2910846"/>
              <a:ext cx="112383" cy="112383"/>
              <a:chOff x="586746" y="2910846"/>
              <a:chExt cx="112383" cy="112383"/>
            </a:xfrm>
          </p:grpSpPr>
          <p:sp>
            <p:nvSpPr>
              <p:cNvPr id="67" name="Freeform 67"/>
              <p:cNvSpPr/>
              <p:nvPr/>
            </p:nvSpPr>
            <p:spPr>
              <a:xfrm>
                <a:off x="586746" y="2910846"/>
                <a:ext cx="112383" cy="112383"/>
              </a:xfrm>
              <a:custGeom>
                <a:avLst/>
                <a:gdLst/>
                <a:ahLst/>
                <a:cxnLst/>
                <a:rect l="l" t="t" r="r" b="b"/>
                <a:pathLst>
                  <a:path w="112383" h="112383">
                    <a:moveTo>
                      <a:pt x="46220" y="10454"/>
                    </a:moveTo>
                    <a:cubicBezTo>
                      <a:pt x="48756" y="0"/>
                      <a:pt x="63627" y="0"/>
                      <a:pt x="66163" y="10454"/>
                    </a:cubicBezTo>
                    <a:cubicBezTo>
                      <a:pt x="66935" y="13639"/>
                      <a:pt x="69181" y="16264"/>
                      <a:pt x="72209" y="17519"/>
                    </a:cubicBezTo>
                    <a:cubicBezTo>
                      <a:pt x="75237" y="18773"/>
                      <a:pt x="78682" y="18506"/>
                      <a:pt x="81480" y="16800"/>
                    </a:cubicBezTo>
                    <a:cubicBezTo>
                      <a:pt x="90666" y="11204"/>
                      <a:pt x="101185" y="21717"/>
                      <a:pt x="95589" y="30909"/>
                    </a:cubicBezTo>
                    <a:cubicBezTo>
                      <a:pt x="93886" y="33706"/>
                      <a:pt x="93619" y="37148"/>
                      <a:pt x="94872" y="40174"/>
                    </a:cubicBezTo>
                    <a:cubicBezTo>
                      <a:pt x="96125" y="43200"/>
                      <a:pt x="98747" y="45446"/>
                      <a:pt x="101929" y="46220"/>
                    </a:cubicBezTo>
                    <a:cubicBezTo>
                      <a:pt x="112383" y="48756"/>
                      <a:pt x="112383" y="63627"/>
                      <a:pt x="101929" y="66163"/>
                    </a:cubicBezTo>
                    <a:cubicBezTo>
                      <a:pt x="98744" y="66935"/>
                      <a:pt x="96119" y="69181"/>
                      <a:pt x="94865" y="72209"/>
                    </a:cubicBezTo>
                    <a:cubicBezTo>
                      <a:pt x="93610" y="75237"/>
                      <a:pt x="93877" y="78682"/>
                      <a:pt x="95583" y="81480"/>
                    </a:cubicBezTo>
                    <a:cubicBezTo>
                      <a:pt x="101179" y="90666"/>
                      <a:pt x="90666" y="101185"/>
                      <a:pt x="81474" y="95589"/>
                    </a:cubicBezTo>
                    <a:cubicBezTo>
                      <a:pt x="78677" y="93886"/>
                      <a:pt x="75235" y="93619"/>
                      <a:pt x="72209" y="94872"/>
                    </a:cubicBezTo>
                    <a:cubicBezTo>
                      <a:pt x="69183" y="96125"/>
                      <a:pt x="66937" y="98747"/>
                      <a:pt x="66163" y="101929"/>
                    </a:cubicBezTo>
                    <a:cubicBezTo>
                      <a:pt x="63627" y="112383"/>
                      <a:pt x="48756" y="112383"/>
                      <a:pt x="46220" y="101929"/>
                    </a:cubicBezTo>
                    <a:cubicBezTo>
                      <a:pt x="45448" y="98744"/>
                      <a:pt x="43202" y="96119"/>
                      <a:pt x="40174" y="94865"/>
                    </a:cubicBezTo>
                    <a:cubicBezTo>
                      <a:pt x="37146" y="93610"/>
                      <a:pt x="33701" y="93877"/>
                      <a:pt x="30903" y="95583"/>
                    </a:cubicBezTo>
                    <a:cubicBezTo>
                      <a:pt x="21717" y="101179"/>
                      <a:pt x="11198" y="90666"/>
                      <a:pt x="16794" y="81474"/>
                    </a:cubicBezTo>
                    <a:cubicBezTo>
                      <a:pt x="18497" y="78677"/>
                      <a:pt x="18764" y="75235"/>
                      <a:pt x="17511" y="72209"/>
                    </a:cubicBezTo>
                    <a:cubicBezTo>
                      <a:pt x="16258" y="69183"/>
                      <a:pt x="13636" y="66937"/>
                      <a:pt x="10454" y="66163"/>
                    </a:cubicBezTo>
                    <a:cubicBezTo>
                      <a:pt x="0" y="63627"/>
                      <a:pt x="0" y="48756"/>
                      <a:pt x="10454" y="46220"/>
                    </a:cubicBezTo>
                    <a:cubicBezTo>
                      <a:pt x="13639" y="45448"/>
                      <a:pt x="16264" y="43202"/>
                      <a:pt x="17519" y="40174"/>
                    </a:cubicBezTo>
                    <a:cubicBezTo>
                      <a:pt x="18773" y="37146"/>
                      <a:pt x="18506" y="33701"/>
                      <a:pt x="16800" y="30903"/>
                    </a:cubicBezTo>
                    <a:cubicBezTo>
                      <a:pt x="11204" y="21717"/>
                      <a:pt x="21717" y="11198"/>
                      <a:pt x="30909" y="16794"/>
                    </a:cubicBezTo>
                    <a:cubicBezTo>
                      <a:pt x="36862" y="20413"/>
                      <a:pt x="44577" y="17210"/>
                      <a:pt x="46220" y="10454"/>
                    </a:cubicBezTo>
                  </a:path>
                </a:pathLst>
              </a:custGeom>
              <a:noFill/>
              <a:ln w="11906">
                <a:solidFill>
                  <a:srgbClr val="A52D12"/>
                </a:solidFill>
              </a:ln>
            </p:spPr>
          </p:sp>
          <p:sp>
            <p:nvSpPr>
              <p:cNvPr id="68" name="Freeform 68"/>
              <p:cNvSpPr/>
              <p:nvPr/>
            </p:nvSpPr>
            <p:spPr>
              <a:xfrm>
                <a:off x="625078" y="2949178"/>
                <a:ext cx="35719" cy="35719"/>
              </a:xfrm>
              <a:custGeom>
                <a:avLst/>
                <a:gdLst/>
                <a:ahLst/>
                <a:cxnLst/>
                <a:rect l="l" t="t" r="r" b="b"/>
                <a:pathLst>
                  <a:path w="35719" h="35719">
                    <a:moveTo>
                      <a:pt x="0" y="17859"/>
                    </a:moveTo>
                    <a:cubicBezTo>
                      <a:pt x="0" y="27723"/>
                      <a:pt x="7996" y="35719"/>
                      <a:pt x="17859" y="35719"/>
                    </a:cubicBezTo>
                    <a:cubicBezTo>
                      <a:pt x="27723" y="35719"/>
                      <a:pt x="35719" y="27723"/>
                      <a:pt x="35719" y="17859"/>
                    </a:cubicBezTo>
                    <a:cubicBezTo>
                      <a:pt x="35719" y="7996"/>
                      <a:pt x="27723" y="0"/>
                      <a:pt x="17859" y="0"/>
                    </a:cubicBezTo>
                    <a:cubicBezTo>
                      <a:pt x="7996" y="0"/>
                      <a:pt x="0" y="7996"/>
                      <a:pt x="0" y="17859"/>
                    </a:cubicBezTo>
                  </a:path>
                </a:pathLst>
              </a:custGeom>
              <a:noFill/>
              <a:ln w="11906">
                <a:solidFill>
                  <a:srgbClr val="A52D12"/>
                </a:solidFill>
              </a:ln>
            </p:spPr>
          </p:sp>
        </p:grpSp>
        <p:sp>
          <p:nvSpPr>
            <p:cNvPr id="70" name="TextBox 70"/>
            <p:cNvSpPr txBox="1"/>
            <p:nvPr/>
          </p:nvSpPr>
          <p:spPr>
            <a:xfrm>
              <a:off x="776288" y="2920841"/>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服务模式</a:t>
              </a:r>
            </a:p>
          </p:txBody>
        </p:sp>
        <p:sp>
          <p:nvSpPr>
            <p:cNvPr id="71" name="TextBox 71"/>
            <p:cNvSpPr txBox="1"/>
            <p:nvPr/>
          </p:nvSpPr>
          <p:spPr>
            <a:xfrm>
              <a:off x="1801838" y="2924889"/>
              <a:ext cx="43492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柜面为主</a:t>
              </a:r>
            </a:p>
          </p:txBody>
        </p:sp>
        <p:sp>
          <p:nvSpPr>
            <p:cNvPr id="72" name="TextBox 72"/>
            <p:cNvSpPr txBox="1"/>
            <p:nvPr/>
          </p:nvSpPr>
          <p:spPr>
            <a:xfrm>
              <a:off x="3021305" y="2924889"/>
              <a:ext cx="815391" cy="154781"/>
            </a:xfrm>
            <a:prstGeom prst="rect">
              <a:avLst/>
            </a:prstGeom>
            <a:noFill/>
            <a:ln>
              <a:noFill/>
            </a:ln>
          </p:spPr>
          <p:txBody>
            <a:bodyPr wrap="none" lIns="0" tIns="0" rIns="0" bIns="0" anchor="t" anchorCtr="0">
              <a:spAutoFit/>
            </a:bodyPr>
            <a:lstStyle/>
            <a:p>
              <a:pPr algn="ctr"/>
              <a:r>
                <a:rPr lang="zh-CN" sz="790" b="1" dirty="0">
                  <a:solidFill>
                    <a:srgbClr val="A52D12"/>
                  </a:solidFill>
                  <a:latin typeface="+mn-lt"/>
                  <a:ea typeface="+mn-ea"/>
                  <a:cs typeface="+mn-cs"/>
                </a:rPr>
                <a:t>线上＋线下融合​</a:t>
              </a:r>
            </a:p>
          </p:txBody>
        </p:sp>
        <p:sp>
          <p:nvSpPr>
            <p:cNvPr id="73" name="Rectangle 73"/>
            <p:cNvSpPr/>
            <p:nvPr/>
          </p:nvSpPr>
          <p:spPr>
            <a:xfrm>
              <a:off x="495300" y="3209925"/>
              <a:ext cx="3638550" cy="466725"/>
            </a:xfrm>
            <a:prstGeom prst="rect">
              <a:avLst/>
            </a:prstGeom>
            <a:solidFill>
              <a:srgbClr val="FBEFEE"/>
            </a:solidFill>
            <a:ln>
              <a:noFill/>
            </a:ln>
          </p:spPr>
        </p:sp>
        <p:grpSp>
          <p:nvGrpSpPr>
            <p:cNvPr id="77" name="Group 77"/>
            <p:cNvGrpSpPr/>
            <p:nvPr/>
          </p:nvGrpSpPr>
          <p:grpSpPr>
            <a:xfrm>
              <a:off x="601266" y="3380184"/>
              <a:ext cx="83344" cy="107157"/>
              <a:chOff x="601266" y="3380184"/>
              <a:chExt cx="83344" cy="107157"/>
            </a:xfrm>
          </p:grpSpPr>
          <p:sp>
            <p:nvSpPr>
              <p:cNvPr id="74" name="Freeform 74"/>
              <p:cNvSpPr/>
              <p:nvPr/>
            </p:nvSpPr>
            <p:spPr>
              <a:xfrm>
                <a:off x="601266" y="3415903"/>
                <a:ext cx="83344" cy="71438"/>
              </a:xfrm>
              <a:custGeom>
                <a:avLst/>
                <a:gdLst/>
                <a:ahLst/>
                <a:cxnLst/>
                <a:rect l="l" t="t" r="r" b="b"/>
                <a:pathLst>
                  <a:path w="83344" h="71438">
                    <a:moveTo>
                      <a:pt x="17859" y="0"/>
                    </a:moveTo>
                    <a:lnTo>
                      <a:pt x="11906" y="0"/>
                    </a:lnTo>
                    <a:cubicBezTo>
                      <a:pt x="5331" y="0"/>
                      <a:pt x="0" y="5331"/>
                      <a:pt x="0" y="11906"/>
                    </a:cubicBezTo>
                    <a:lnTo>
                      <a:pt x="0" y="59531"/>
                    </a:lnTo>
                    <a:cubicBezTo>
                      <a:pt x="0" y="66107"/>
                      <a:pt x="5331" y="71438"/>
                      <a:pt x="11906" y="71438"/>
                    </a:cubicBezTo>
                    <a:lnTo>
                      <a:pt x="71438" y="71438"/>
                    </a:lnTo>
                    <a:cubicBezTo>
                      <a:pt x="78013" y="71438"/>
                      <a:pt x="83344" y="66107"/>
                      <a:pt x="83344" y="59531"/>
                    </a:cubicBezTo>
                    <a:lnTo>
                      <a:pt x="83344" y="11906"/>
                    </a:lnTo>
                    <a:cubicBezTo>
                      <a:pt x="83344" y="5331"/>
                      <a:pt x="78013" y="0"/>
                      <a:pt x="71438" y="0"/>
                    </a:cubicBezTo>
                    <a:lnTo>
                      <a:pt x="65484" y="0"/>
                    </a:lnTo>
                  </a:path>
                </a:pathLst>
              </a:custGeom>
              <a:noFill/>
              <a:ln w="11906">
                <a:solidFill>
                  <a:srgbClr val="A52D12"/>
                </a:solidFill>
              </a:ln>
            </p:spPr>
          </p:sp>
          <p:sp>
            <p:nvSpPr>
              <p:cNvPr id="75" name="Freeform 75"/>
              <p:cNvSpPr/>
              <p:nvPr/>
            </p:nvSpPr>
            <p:spPr>
              <a:xfrm>
                <a:off x="642938" y="3380184"/>
                <a:ext cx="9525" cy="65484"/>
              </a:xfrm>
              <a:custGeom>
                <a:avLst/>
                <a:gdLst/>
                <a:ahLst/>
                <a:cxnLst/>
                <a:rect l="l" t="t" r="r" b="b"/>
                <a:pathLst>
                  <a:path w="9525" h="65484">
                    <a:moveTo>
                      <a:pt x="0" y="65484"/>
                    </a:moveTo>
                    <a:lnTo>
                      <a:pt x="0" y="0"/>
                    </a:lnTo>
                  </a:path>
                </a:pathLst>
              </a:custGeom>
              <a:noFill/>
              <a:ln w="11906">
                <a:solidFill>
                  <a:srgbClr val="A52D12"/>
                </a:solidFill>
              </a:ln>
            </p:spPr>
          </p:sp>
          <p:sp>
            <p:nvSpPr>
              <p:cNvPr id="76" name="Freeform 76"/>
              <p:cNvSpPr/>
              <p:nvPr/>
            </p:nvSpPr>
            <p:spPr>
              <a:xfrm>
                <a:off x="625078" y="3380184"/>
                <a:ext cx="35719" cy="17859"/>
              </a:xfrm>
              <a:custGeom>
                <a:avLst/>
                <a:gdLst/>
                <a:ahLst/>
                <a:cxnLst/>
                <a:rect l="l" t="t" r="r" b="b"/>
                <a:pathLst>
                  <a:path w="35719" h="17859">
                    <a:moveTo>
                      <a:pt x="0" y="17859"/>
                    </a:moveTo>
                    <a:lnTo>
                      <a:pt x="17859" y="0"/>
                    </a:lnTo>
                    <a:lnTo>
                      <a:pt x="35719" y="17859"/>
                    </a:lnTo>
                  </a:path>
                </a:pathLst>
              </a:custGeom>
              <a:noFill/>
              <a:ln w="11906">
                <a:solidFill>
                  <a:srgbClr val="A52D12"/>
                </a:solidFill>
              </a:ln>
            </p:spPr>
          </p:sp>
        </p:grpSp>
        <p:sp>
          <p:nvSpPr>
            <p:cNvPr id="78" name="TextBox 78"/>
            <p:cNvSpPr txBox="1"/>
            <p:nvPr/>
          </p:nvSpPr>
          <p:spPr>
            <a:xfrm>
              <a:off x="776288" y="3387566"/>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业务流程</a:t>
              </a:r>
            </a:p>
          </p:txBody>
        </p:sp>
        <p:sp>
          <p:nvSpPr>
            <p:cNvPr id="79" name="TextBox 79"/>
            <p:cNvSpPr txBox="1"/>
            <p:nvPr/>
          </p:nvSpPr>
          <p:spPr>
            <a:xfrm>
              <a:off x="1642313" y="3391614"/>
              <a:ext cx="75397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串联、人工流转</a:t>
              </a:r>
            </a:p>
          </p:txBody>
        </p:sp>
        <p:sp>
          <p:nvSpPr>
            <p:cNvPr id="80" name="TextBox 80"/>
            <p:cNvSpPr txBox="1"/>
            <p:nvPr/>
          </p:nvSpPr>
          <p:spPr>
            <a:xfrm>
              <a:off x="3052013" y="3391614"/>
              <a:ext cx="753974" cy="154781"/>
            </a:xfrm>
            <a:prstGeom prst="rect">
              <a:avLst/>
            </a:prstGeom>
            <a:noFill/>
            <a:ln>
              <a:noFill/>
            </a:ln>
          </p:spPr>
          <p:txBody>
            <a:bodyPr wrap="none" lIns="0" tIns="0" rIns="0" bIns="0" anchor="t" anchorCtr="0">
              <a:spAutoFit/>
            </a:bodyPr>
            <a:lstStyle/>
            <a:p>
              <a:pPr algn="ctr"/>
              <a:r>
                <a:rPr lang="zh-CN" sz="790" b="1" dirty="0">
                  <a:solidFill>
                    <a:srgbClr val="A52D12"/>
                  </a:solidFill>
                  <a:latin typeface="+mn-lt"/>
                  <a:ea typeface="+mn-ea"/>
                  <a:cs typeface="+mn-cs"/>
                </a:rPr>
                <a:t>并联、智能流转</a:t>
              </a:r>
            </a:p>
          </p:txBody>
        </p:sp>
        <p:sp>
          <p:nvSpPr>
            <p:cNvPr id="81" name="Rectangle 81"/>
            <p:cNvSpPr/>
            <p:nvPr/>
          </p:nvSpPr>
          <p:spPr>
            <a:xfrm>
              <a:off x="495300" y="3676650"/>
              <a:ext cx="3638550" cy="466725"/>
            </a:xfrm>
            <a:prstGeom prst="rect">
              <a:avLst/>
            </a:prstGeom>
            <a:solidFill>
              <a:srgbClr val="FFFFFF"/>
            </a:solidFill>
            <a:ln>
              <a:noFill/>
            </a:ln>
          </p:spPr>
        </p:sp>
        <p:grpSp>
          <p:nvGrpSpPr>
            <p:cNvPr id="84" name="Group 84"/>
            <p:cNvGrpSpPr/>
            <p:nvPr/>
          </p:nvGrpSpPr>
          <p:grpSpPr>
            <a:xfrm>
              <a:off x="589359" y="3864769"/>
              <a:ext cx="107156" cy="71438"/>
              <a:chOff x="589359" y="3864769"/>
              <a:chExt cx="107156" cy="71438"/>
            </a:xfrm>
          </p:grpSpPr>
          <p:sp>
            <p:nvSpPr>
              <p:cNvPr id="82" name="Freeform 82"/>
              <p:cNvSpPr/>
              <p:nvPr/>
            </p:nvSpPr>
            <p:spPr>
              <a:xfrm>
                <a:off x="631031" y="3888581"/>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1906">
                <a:solidFill>
                  <a:srgbClr val="A52D12"/>
                </a:solidFill>
              </a:ln>
            </p:spPr>
          </p:sp>
          <p:sp>
            <p:nvSpPr>
              <p:cNvPr id="83" name="Freeform 83"/>
              <p:cNvSpPr/>
              <p:nvPr/>
            </p:nvSpPr>
            <p:spPr>
              <a:xfrm>
                <a:off x="589359" y="3864769"/>
                <a:ext cx="107156" cy="71438"/>
              </a:xfrm>
              <a:custGeom>
                <a:avLst/>
                <a:gdLst/>
                <a:ahLst/>
                <a:cxnLst/>
                <a:rect l="l" t="t" r="r" b="b"/>
                <a:pathLst>
                  <a:path w="107156" h="71438">
                    <a:moveTo>
                      <a:pt x="107156" y="35719"/>
                    </a:moveTo>
                    <a:cubicBezTo>
                      <a:pt x="92869" y="59531"/>
                      <a:pt x="75009" y="71438"/>
                      <a:pt x="53578" y="71438"/>
                    </a:cubicBezTo>
                    <a:cubicBezTo>
                      <a:pt x="32147" y="71438"/>
                      <a:pt x="14288" y="59531"/>
                      <a:pt x="0" y="35719"/>
                    </a:cubicBezTo>
                    <a:cubicBezTo>
                      <a:pt x="14288" y="11906"/>
                      <a:pt x="32147" y="0"/>
                      <a:pt x="53578" y="0"/>
                    </a:cubicBezTo>
                    <a:cubicBezTo>
                      <a:pt x="75009" y="0"/>
                      <a:pt x="92869" y="11906"/>
                      <a:pt x="107156" y="35719"/>
                    </a:cubicBezTo>
                  </a:path>
                </a:pathLst>
              </a:custGeom>
              <a:noFill/>
              <a:ln w="11906">
                <a:solidFill>
                  <a:srgbClr val="A52D12"/>
                </a:solidFill>
              </a:ln>
            </p:spPr>
          </p:sp>
        </p:grpSp>
        <p:sp>
          <p:nvSpPr>
            <p:cNvPr id="85" name="TextBox 85"/>
            <p:cNvSpPr txBox="1"/>
            <p:nvPr/>
          </p:nvSpPr>
          <p:spPr>
            <a:xfrm>
              <a:off x="776288" y="3854291"/>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审核方式</a:t>
              </a:r>
            </a:p>
          </p:txBody>
        </p:sp>
        <p:sp>
          <p:nvSpPr>
            <p:cNvPr id="86" name="TextBox 86"/>
            <p:cNvSpPr txBox="1"/>
            <p:nvPr/>
          </p:nvSpPr>
          <p:spPr>
            <a:xfrm>
              <a:off x="1801838" y="3858339"/>
              <a:ext cx="43492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人工审核</a:t>
              </a:r>
            </a:p>
          </p:txBody>
        </p:sp>
        <p:sp>
          <p:nvSpPr>
            <p:cNvPr id="87" name="TextBox 87"/>
            <p:cNvSpPr txBox="1"/>
            <p:nvPr/>
          </p:nvSpPr>
          <p:spPr>
            <a:xfrm>
              <a:off x="2914955" y="3858339"/>
              <a:ext cx="1028090" cy="154781"/>
            </a:xfrm>
            <a:prstGeom prst="rect">
              <a:avLst/>
            </a:prstGeom>
            <a:noFill/>
            <a:ln>
              <a:noFill/>
            </a:ln>
          </p:spPr>
          <p:txBody>
            <a:bodyPr wrap="none" lIns="0" tIns="0" rIns="0" bIns="0" anchor="t" anchorCtr="0">
              <a:spAutoFit/>
            </a:bodyPr>
            <a:lstStyle/>
            <a:p>
              <a:pPr algn="ctr"/>
              <a:r>
                <a:rPr lang="zh-CN" sz="790" b="1" dirty="0">
                  <a:solidFill>
                    <a:srgbClr val="A52D12"/>
                  </a:solidFill>
                  <a:latin typeface="+mn-lt"/>
                  <a:ea typeface="+mn-ea"/>
                  <a:cs typeface="+mn-cs"/>
                </a:rPr>
                <a:t>智能审核＋人工复核​</a:t>
              </a:r>
            </a:p>
          </p:txBody>
        </p:sp>
        <p:sp>
          <p:nvSpPr>
            <p:cNvPr id="88" name="Rectangle 88"/>
            <p:cNvSpPr/>
            <p:nvPr/>
          </p:nvSpPr>
          <p:spPr>
            <a:xfrm>
              <a:off x="495300" y="4143375"/>
              <a:ext cx="3638550" cy="466725"/>
            </a:xfrm>
            <a:prstGeom prst="rect">
              <a:avLst/>
            </a:prstGeom>
            <a:solidFill>
              <a:srgbClr val="FBEFEE"/>
            </a:solidFill>
            <a:ln>
              <a:noFill/>
            </a:ln>
          </p:spPr>
        </p:sp>
        <p:grpSp>
          <p:nvGrpSpPr>
            <p:cNvPr id="92" name="Group 92"/>
            <p:cNvGrpSpPr/>
            <p:nvPr/>
          </p:nvGrpSpPr>
          <p:grpSpPr>
            <a:xfrm>
              <a:off x="595312" y="4313634"/>
              <a:ext cx="95250" cy="107156"/>
              <a:chOff x="595312" y="4313634"/>
              <a:chExt cx="95250" cy="107156"/>
            </a:xfrm>
          </p:grpSpPr>
          <p:sp>
            <p:nvSpPr>
              <p:cNvPr id="89" name="Freeform 89"/>
              <p:cNvSpPr/>
              <p:nvPr/>
            </p:nvSpPr>
            <p:spPr>
              <a:xfrm>
                <a:off x="595312" y="4313634"/>
                <a:ext cx="95250" cy="35719"/>
              </a:xfrm>
              <a:custGeom>
                <a:avLst/>
                <a:gdLst/>
                <a:ahLst/>
                <a:cxnLst/>
                <a:rect l="l" t="t" r="r" b="b"/>
                <a:pathLst>
                  <a:path w="95250" h="35719">
                    <a:moveTo>
                      <a:pt x="0" y="17859"/>
                    </a:moveTo>
                    <a:cubicBezTo>
                      <a:pt x="0" y="27723"/>
                      <a:pt x="21322" y="35719"/>
                      <a:pt x="47625" y="35719"/>
                    </a:cubicBezTo>
                    <a:cubicBezTo>
                      <a:pt x="73928" y="35719"/>
                      <a:pt x="95250" y="27723"/>
                      <a:pt x="95250" y="17859"/>
                    </a:cubicBezTo>
                    <a:cubicBezTo>
                      <a:pt x="95250" y="7996"/>
                      <a:pt x="73928" y="0"/>
                      <a:pt x="47625" y="0"/>
                    </a:cubicBezTo>
                    <a:cubicBezTo>
                      <a:pt x="21322" y="0"/>
                      <a:pt x="0" y="7996"/>
                      <a:pt x="0" y="17859"/>
                    </a:cubicBezTo>
                  </a:path>
                </a:pathLst>
              </a:custGeom>
              <a:noFill/>
              <a:ln w="11906">
                <a:solidFill>
                  <a:srgbClr val="A52D12"/>
                </a:solidFill>
              </a:ln>
            </p:spPr>
          </p:sp>
          <p:sp>
            <p:nvSpPr>
              <p:cNvPr id="90" name="Freeform 90"/>
              <p:cNvSpPr/>
              <p:nvPr/>
            </p:nvSpPr>
            <p:spPr>
              <a:xfrm>
                <a:off x="595312" y="4331494"/>
                <a:ext cx="95250" cy="53578"/>
              </a:xfrm>
              <a:custGeom>
                <a:avLst/>
                <a:gdLst/>
                <a:ahLst/>
                <a:cxnLst/>
                <a:rect l="l" t="t" r="r" b="b"/>
                <a:pathLst>
                  <a:path w="95250" h="53578">
                    <a:moveTo>
                      <a:pt x="0" y="0"/>
                    </a:moveTo>
                    <a:lnTo>
                      <a:pt x="0" y="35719"/>
                    </a:lnTo>
                    <a:cubicBezTo>
                      <a:pt x="0" y="45582"/>
                      <a:pt x="21322" y="53578"/>
                      <a:pt x="47625" y="53578"/>
                    </a:cubicBezTo>
                    <a:cubicBezTo>
                      <a:pt x="73928" y="53578"/>
                      <a:pt x="95250" y="45582"/>
                      <a:pt x="95250" y="35719"/>
                    </a:cubicBezTo>
                    <a:lnTo>
                      <a:pt x="95250" y="0"/>
                    </a:lnTo>
                  </a:path>
                </a:pathLst>
              </a:custGeom>
              <a:noFill/>
              <a:ln w="11906">
                <a:solidFill>
                  <a:srgbClr val="A52D12"/>
                </a:solidFill>
              </a:ln>
            </p:spPr>
          </p:sp>
          <p:sp>
            <p:nvSpPr>
              <p:cNvPr id="91" name="Freeform 91"/>
              <p:cNvSpPr/>
              <p:nvPr/>
            </p:nvSpPr>
            <p:spPr>
              <a:xfrm>
                <a:off x="595312" y="4367212"/>
                <a:ext cx="95250" cy="53578"/>
              </a:xfrm>
              <a:custGeom>
                <a:avLst/>
                <a:gdLst/>
                <a:ahLst/>
                <a:cxnLst/>
                <a:rect l="l" t="t" r="r" b="b"/>
                <a:pathLst>
                  <a:path w="95250" h="53578">
                    <a:moveTo>
                      <a:pt x="0" y="0"/>
                    </a:moveTo>
                    <a:lnTo>
                      <a:pt x="0" y="35719"/>
                    </a:lnTo>
                    <a:cubicBezTo>
                      <a:pt x="0" y="45582"/>
                      <a:pt x="21322" y="53578"/>
                      <a:pt x="47625" y="53578"/>
                    </a:cubicBezTo>
                    <a:cubicBezTo>
                      <a:pt x="73928" y="53578"/>
                      <a:pt x="95250" y="45582"/>
                      <a:pt x="95250" y="35719"/>
                    </a:cubicBezTo>
                    <a:lnTo>
                      <a:pt x="95250" y="0"/>
                    </a:lnTo>
                  </a:path>
                </a:pathLst>
              </a:custGeom>
              <a:noFill/>
              <a:ln w="11906">
                <a:solidFill>
                  <a:srgbClr val="A52D12"/>
                </a:solidFill>
              </a:ln>
            </p:spPr>
          </p:sp>
        </p:grpSp>
        <p:sp>
          <p:nvSpPr>
            <p:cNvPr id="93" name="TextBox 93"/>
            <p:cNvSpPr txBox="1"/>
            <p:nvPr/>
          </p:nvSpPr>
          <p:spPr>
            <a:xfrm>
              <a:off x="776288" y="4321016"/>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作业模式</a:t>
              </a:r>
            </a:p>
          </p:txBody>
        </p:sp>
        <p:sp>
          <p:nvSpPr>
            <p:cNvPr id="94" name="TextBox 94"/>
            <p:cNvSpPr txBox="1"/>
            <p:nvPr/>
          </p:nvSpPr>
          <p:spPr>
            <a:xfrm>
              <a:off x="1801838" y="4325064"/>
              <a:ext cx="43492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分散作业</a:t>
              </a:r>
            </a:p>
          </p:txBody>
        </p:sp>
        <p:sp>
          <p:nvSpPr>
            <p:cNvPr id="95" name="TextBox 95"/>
            <p:cNvSpPr txBox="1"/>
            <p:nvPr/>
          </p:nvSpPr>
          <p:spPr>
            <a:xfrm>
              <a:off x="3211538" y="4325064"/>
              <a:ext cx="434924" cy="154781"/>
            </a:xfrm>
            <a:prstGeom prst="rect">
              <a:avLst/>
            </a:prstGeom>
            <a:noFill/>
            <a:ln>
              <a:noFill/>
            </a:ln>
          </p:spPr>
          <p:txBody>
            <a:bodyPr wrap="none" lIns="0" tIns="0" rIns="0" bIns="0" anchor="t" anchorCtr="0">
              <a:spAutoFit/>
            </a:bodyPr>
            <a:lstStyle/>
            <a:p>
              <a:pPr algn="ctr"/>
              <a:r>
                <a:rPr lang="zh-CN" sz="790" b="1" dirty="0">
                  <a:solidFill>
                    <a:srgbClr val="A52D12"/>
                  </a:solidFill>
                  <a:latin typeface="+mn-lt"/>
                  <a:ea typeface="+mn-ea"/>
                  <a:cs typeface="+mn-cs"/>
                </a:rPr>
                <a:t>集中作业</a:t>
              </a:r>
            </a:p>
          </p:txBody>
        </p:sp>
        <p:sp>
          <p:nvSpPr>
            <p:cNvPr id="96" name="Rectangle 96"/>
            <p:cNvSpPr/>
            <p:nvPr/>
          </p:nvSpPr>
          <p:spPr>
            <a:xfrm>
              <a:off x="495300" y="4610100"/>
              <a:ext cx="3638550" cy="466725"/>
            </a:xfrm>
            <a:prstGeom prst="rect">
              <a:avLst/>
            </a:prstGeom>
            <a:solidFill>
              <a:srgbClr val="FFFFFF"/>
            </a:solidFill>
            <a:ln>
              <a:noFill/>
            </a:ln>
          </p:spPr>
        </p:sp>
        <p:grpSp>
          <p:nvGrpSpPr>
            <p:cNvPr id="101" name="Group 101"/>
            <p:cNvGrpSpPr/>
            <p:nvPr/>
          </p:nvGrpSpPr>
          <p:grpSpPr>
            <a:xfrm>
              <a:off x="589359" y="4780359"/>
              <a:ext cx="107156" cy="107157"/>
              <a:chOff x="589359" y="4780359"/>
              <a:chExt cx="107156" cy="107157"/>
            </a:xfrm>
          </p:grpSpPr>
          <p:sp>
            <p:nvSpPr>
              <p:cNvPr id="97" name="Freeform 97"/>
              <p:cNvSpPr/>
              <p:nvPr/>
            </p:nvSpPr>
            <p:spPr>
              <a:xfrm>
                <a:off x="601266" y="478035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1906">
                <a:solidFill>
                  <a:srgbClr val="A52D12"/>
                </a:solidFill>
              </a:ln>
            </p:spPr>
          </p:sp>
          <p:sp>
            <p:nvSpPr>
              <p:cNvPr id="98" name="Freeform 98"/>
              <p:cNvSpPr/>
              <p:nvPr/>
            </p:nvSpPr>
            <p:spPr>
              <a:xfrm>
                <a:off x="589359" y="4851797"/>
                <a:ext cx="71438" cy="35719"/>
              </a:xfrm>
              <a:custGeom>
                <a:avLst/>
                <a:gdLst/>
                <a:ahLst/>
                <a:cxnLst/>
                <a:rect l="l" t="t" r="r" b="b"/>
                <a:pathLst>
                  <a:path w="71438" h="35719">
                    <a:moveTo>
                      <a:pt x="0" y="35719"/>
                    </a:moveTo>
                    <a:lnTo>
                      <a:pt x="0" y="23812"/>
                    </a:lnTo>
                    <a:cubicBezTo>
                      <a:pt x="0" y="10661"/>
                      <a:pt x="10661" y="0"/>
                      <a:pt x="23812" y="0"/>
                    </a:cubicBezTo>
                    <a:lnTo>
                      <a:pt x="47625" y="0"/>
                    </a:lnTo>
                    <a:cubicBezTo>
                      <a:pt x="60776" y="0"/>
                      <a:pt x="71438" y="10661"/>
                      <a:pt x="71438" y="23812"/>
                    </a:cubicBezTo>
                    <a:lnTo>
                      <a:pt x="71438" y="35719"/>
                    </a:lnTo>
                  </a:path>
                </a:pathLst>
              </a:custGeom>
              <a:noFill/>
              <a:ln w="11906">
                <a:solidFill>
                  <a:srgbClr val="A52D12"/>
                </a:solidFill>
              </a:ln>
            </p:spPr>
          </p:sp>
          <p:sp>
            <p:nvSpPr>
              <p:cNvPr id="99" name="Freeform 99"/>
              <p:cNvSpPr/>
              <p:nvPr/>
            </p:nvSpPr>
            <p:spPr>
              <a:xfrm>
                <a:off x="666750" y="4781133"/>
                <a:ext cx="17906" cy="46137"/>
              </a:xfrm>
              <a:custGeom>
                <a:avLst/>
                <a:gdLst/>
                <a:ahLst/>
                <a:cxnLst/>
                <a:rect l="l" t="t" r="r" b="b"/>
                <a:pathLst>
                  <a:path w="17906" h="46137">
                    <a:moveTo>
                      <a:pt x="0" y="0"/>
                    </a:moveTo>
                    <a:cubicBezTo>
                      <a:pt x="10537" y="2698"/>
                      <a:pt x="17906" y="12192"/>
                      <a:pt x="17906" y="23068"/>
                    </a:cubicBezTo>
                    <a:cubicBezTo>
                      <a:pt x="17906" y="33945"/>
                      <a:pt x="10537" y="43439"/>
                      <a:pt x="0" y="46137"/>
                    </a:cubicBezTo>
                  </a:path>
                </a:pathLst>
              </a:custGeom>
              <a:noFill/>
              <a:ln w="11906">
                <a:solidFill>
                  <a:srgbClr val="A52D12"/>
                </a:solidFill>
              </a:ln>
            </p:spPr>
          </p:sp>
          <p:sp>
            <p:nvSpPr>
              <p:cNvPr id="100" name="Freeform 100"/>
              <p:cNvSpPr/>
              <p:nvPr/>
            </p:nvSpPr>
            <p:spPr>
              <a:xfrm>
                <a:off x="678656" y="4852690"/>
                <a:ext cx="17859" cy="34826"/>
              </a:xfrm>
              <a:custGeom>
                <a:avLst/>
                <a:gdLst/>
                <a:ahLst/>
                <a:cxnLst/>
                <a:rect l="l" t="t" r="r" b="b"/>
                <a:pathLst>
                  <a:path w="17859" h="34826">
                    <a:moveTo>
                      <a:pt x="17859" y="34826"/>
                    </a:moveTo>
                    <a:lnTo>
                      <a:pt x="17859" y="22920"/>
                    </a:lnTo>
                    <a:cubicBezTo>
                      <a:pt x="17797" y="12112"/>
                      <a:pt x="10465" y="2702"/>
                      <a:pt x="0" y="0"/>
                    </a:cubicBezTo>
                  </a:path>
                </a:pathLst>
              </a:custGeom>
              <a:noFill/>
              <a:ln w="11906">
                <a:solidFill>
                  <a:srgbClr val="A52D12"/>
                </a:solidFill>
              </a:ln>
            </p:spPr>
          </p:sp>
        </p:grpSp>
        <p:sp>
          <p:nvSpPr>
            <p:cNvPr id="102" name="TextBox 102"/>
            <p:cNvSpPr txBox="1"/>
            <p:nvPr/>
          </p:nvSpPr>
          <p:spPr>
            <a:xfrm>
              <a:off x="776288" y="4787741"/>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客户体验</a:t>
              </a:r>
            </a:p>
          </p:txBody>
        </p:sp>
        <p:sp>
          <p:nvSpPr>
            <p:cNvPr id="103" name="TextBox 103"/>
            <p:cNvSpPr txBox="1"/>
            <p:nvPr/>
          </p:nvSpPr>
          <p:spPr>
            <a:xfrm>
              <a:off x="1748663" y="4791789"/>
              <a:ext cx="54127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等待时间长</a:t>
              </a:r>
            </a:p>
          </p:txBody>
        </p:sp>
        <p:sp>
          <p:nvSpPr>
            <p:cNvPr id="104" name="TextBox 104"/>
            <p:cNvSpPr txBox="1"/>
            <p:nvPr/>
          </p:nvSpPr>
          <p:spPr>
            <a:xfrm>
              <a:off x="2945663" y="4791789"/>
              <a:ext cx="966673" cy="154781"/>
            </a:xfrm>
            <a:prstGeom prst="rect">
              <a:avLst/>
            </a:prstGeom>
            <a:noFill/>
            <a:ln>
              <a:noFill/>
            </a:ln>
          </p:spPr>
          <p:txBody>
            <a:bodyPr wrap="none" lIns="0" tIns="0" rIns="0" bIns="0" anchor="t" anchorCtr="0">
              <a:spAutoFit/>
            </a:bodyPr>
            <a:lstStyle/>
            <a:p>
              <a:pPr algn="ctr"/>
              <a:r>
                <a:rPr lang="zh-CN" sz="790" b="1" dirty="0">
                  <a:solidFill>
                    <a:srgbClr val="A52D12"/>
                  </a:solidFill>
                  <a:latin typeface="+mn-lt"/>
                  <a:ea typeface="+mn-ea"/>
                  <a:cs typeface="+mn-cs"/>
                </a:rPr>
                <a:t>便捷高效、个性服务</a:t>
              </a:r>
            </a:p>
          </p:txBody>
        </p:sp>
        <p:sp>
          <p:nvSpPr>
            <p:cNvPr id="105" name="Rectangle 105"/>
            <p:cNvSpPr/>
            <p:nvPr/>
          </p:nvSpPr>
          <p:spPr>
            <a:xfrm>
              <a:off x="495300" y="5076825"/>
              <a:ext cx="3638550" cy="466725"/>
            </a:xfrm>
            <a:prstGeom prst="rect">
              <a:avLst/>
            </a:prstGeom>
            <a:solidFill>
              <a:srgbClr val="FBEFEE"/>
            </a:solidFill>
            <a:ln>
              <a:noFill/>
            </a:ln>
          </p:spPr>
        </p:sp>
        <p:grpSp>
          <p:nvGrpSpPr>
            <p:cNvPr id="108" name="Group 108"/>
            <p:cNvGrpSpPr/>
            <p:nvPr/>
          </p:nvGrpSpPr>
          <p:grpSpPr>
            <a:xfrm>
              <a:off x="589359" y="5270897"/>
              <a:ext cx="107157" cy="59531"/>
              <a:chOff x="589359" y="5270897"/>
              <a:chExt cx="107157" cy="59531"/>
            </a:xfrm>
          </p:grpSpPr>
          <p:sp>
            <p:nvSpPr>
              <p:cNvPr id="106" name="Freeform 106"/>
              <p:cNvSpPr/>
              <p:nvPr/>
            </p:nvSpPr>
            <p:spPr>
              <a:xfrm>
                <a:off x="589359" y="5270897"/>
                <a:ext cx="107156" cy="59531"/>
              </a:xfrm>
              <a:custGeom>
                <a:avLst/>
                <a:gdLst/>
                <a:ahLst/>
                <a:cxnLst/>
                <a:rect l="l" t="t" r="r" b="b"/>
                <a:pathLst>
                  <a:path w="107156" h="59531">
                    <a:moveTo>
                      <a:pt x="0" y="59531"/>
                    </a:moveTo>
                    <a:lnTo>
                      <a:pt x="35719" y="23812"/>
                    </a:lnTo>
                    <a:lnTo>
                      <a:pt x="59531" y="47625"/>
                    </a:lnTo>
                    <a:lnTo>
                      <a:pt x="107156" y="0"/>
                    </a:lnTo>
                  </a:path>
                </a:pathLst>
              </a:custGeom>
              <a:noFill/>
              <a:ln w="11906">
                <a:solidFill>
                  <a:srgbClr val="A52D12"/>
                </a:solidFill>
              </a:ln>
            </p:spPr>
          </p:sp>
          <p:sp>
            <p:nvSpPr>
              <p:cNvPr id="107" name="Freeform 107"/>
              <p:cNvSpPr/>
              <p:nvPr/>
            </p:nvSpPr>
            <p:spPr>
              <a:xfrm>
                <a:off x="654844" y="5270897"/>
                <a:ext cx="41672" cy="41672"/>
              </a:xfrm>
              <a:custGeom>
                <a:avLst/>
                <a:gdLst/>
                <a:ahLst/>
                <a:cxnLst/>
                <a:rect l="l" t="t" r="r" b="b"/>
                <a:pathLst>
                  <a:path w="41672" h="41672">
                    <a:moveTo>
                      <a:pt x="0" y="0"/>
                    </a:moveTo>
                    <a:lnTo>
                      <a:pt x="41672" y="0"/>
                    </a:lnTo>
                    <a:lnTo>
                      <a:pt x="41672" y="41672"/>
                    </a:lnTo>
                  </a:path>
                </a:pathLst>
              </a:custGeom>
              <a:noFill/>
              <a:ln w="11906">
                <a:solidFill>
                  <a:srgbClr val="A52D12"/>
                </a:solidFill>
              </a:ln>
            </p:spPr>
          </p:sp>
        </p:grpSp>
        <p:sp>
          <p:nvSpPr>
            <p:cNvPr id="109" name="TextBox 109"/>
            <p:cNvSpPr txBox="1"/>
            <p:nvPr/>
          </p:nvSpPr>
          <p:spPr>
            <a:xfrm>
              <a:off x="776288" y="5254466"/>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运营效率</a:t>
              </a:r>
            </a:p>
          </p:txBody>
        </p:sp>
        <p:sp>
          <p:nvSpPr>
            <p:cNvPr id="110" name="TextBox 110"/>
            <p:cNvSpPr txBox="1"/>
            <p:nvPr/>
          </p:nvSpPr>
          <p:spPr>
            <a:xfrm>
              <a:off x="1801838" y="5258514"/>
              <a:ext cx="434924" cy="154781"/>
            </a:xfrm>
            <a:prstGeom prst="rect">
              <a:avLst/>
            </a:prstGeom>
            <a:noFill/>
            <a:ln>
              <a:noFill/>
            </a:ln>
          </p:spPr>
          <p:txBody>
            <a:bodyPr wrap="none" lIns="0" tIns="0" rIns="0" bIns="0" anchor="t" anchorCtr="0">
              <a:spAutoFit/>
            </a:bodyPr>
            <a:lstStyle/>
            <a:p>
              <a:pPr algn="ctr"/>
              <a:r>
                <a:rPr lang="zh-CN" sz="790" dirty="0">
                  <a:solidFill>
                    <a:srgbClr val="555555"/>
                  </a:solidFill>
                  <a:latin typeface="+mn-lt"/>
                  <a:ea typeface="+mn-ea"/>
                  <a:cs typeface="+mn-cs"/>
                </a:rPr>
                <a:t>效率较低</a:t>
              </a:r>
            </a:p>
          </p:txBody>
        </p:sp>
        <p:sp>
          <p:nvSpPr>
            <p:cNvPr id="111" name="TextBox 111"/>
            <p:cNvSpPr txBox="1"/>
            <p:nvPr/>
          </p:nvSpPr>
          <p:spPr>
            <a:xfrm>
              <a:off x="3105188" y="5258514"/>
              <a:ext cx="647624" cy="154781"/>
            </a:xfrm>
            <a:prstGeom prst="rect">
              <a:avLst/>
            </a:prstGeom>
            <a:noFill/>
            <a:ln>
              <a:noFill/>
            </a:ln>
          </p:spPr>
          <p:txBody>
            <a:bodyPr wrap="none" lIns="0" tIns="0" rIns="0" bIns="0" anchor="t" anchorCtr="0">
              <a:spAutoFit/>
            </a:bodyPr>
            <a:lstStyle/>
            <a:p>
              <a:pPr algn="ctr"/>
              <a:r>
                <a:rPr lang="zh-CN" sz="790" b="1" dirty="0">
                  <a:solidFill>
                    <a:srgbClr val="A52D12"/>
                  </a:solidFill>
                  <a:latin typeface="+mn-lt"/>
                  <a:ea typeface="+mn-ea"/>
                  <a:cs typeface="+mn-cs"/>
                </a:rPr>
                <a:t>效率显著提升</a:t>
              </a:r>
            </a:p>
          </p:txBody>
        </p:sp>
      </p:grpSp>
      <p:grpSp>
        <p:nvGrpSpPr>
          <p:cNvPr id="163" name="smart-flow"/>
          <p:cNvGrpSpPr/>
          <p:nvPr/>
        </p:nvGrpSpPr>
        <p:grpSpPr>
          <a:xfrm>
            <a:off x="4305300" y="2095500"/>
            <a:ext cx="3810000" cy="3486150"/>
            <a:chOff x="4305300" y="2095500"/>
            <a:chExt cx="3810000" cy="3486150"/>
          </a:xfrm>
        </p:grpSpPr>
        <p:sp>
          <p:nvSpPr>
            <p:cNvPr id="113" name="Rectangle 113"/>
            <p:cNvSpPr/>
            <p:nvPr/>
          </p:nvSpPr>
          <p:spPr>
            <a:xfrm>
              <a:off x="4305300" y="2095500"/>
              <a:ext cx="3810000" cy="3486150"/>
            </a:xfrm>
            <a:prstGeom prst="roundRect">
              <a:avLst>
                <a:gd name="adj" fmla="val 2186"/>
              </a:avLst>
            </a:prstGeom>
            <a:solidFill>
              <a:srgbClr val="FDF6F5"/>
            </a:solidFill>
            <a:ln w="9525">
              <a:solidFill>
                <a:srgbClr val="EDD5D2"/>
              </a:solidFill>
            </a:ln>
          </p:spPr>
        </p:sp>
        <p:sp>
          <p:nvSpPr>
            <p:cNvPr id="114" name="Freeform 114"/>
            <p:cNvSpPr/>
            <p:nvPr/>
          </p:nvSpPr>
          <p:spPr>
            <a:xfrm>
              <a:off x="4314825" y="2105025"/>
              <a:ext cx="3790950" cy="228600"/>
            </a:xfrm>
            <a:custGeom>
              <a:avLst/>
              <a:gdLst/>
              <a:ahLst/>
              <a:cxnLst/>
              <a:rect l="l" t="t" r="r" b="b"/>
              <a:pathLst>
                <a:path w="3790950" h="228600">
                  <a:moveTo>
                    <a:pt x="0" y="228600"/>
                  </a:moveTo>
                  <a:lnTo>
                    <a:pt x="3790950" y="228600"/>
                  </a:lnTo>
                  <a:lnTo>
                    <a:pt x="3790950" y="66675"/>
                  </a:lnTo>
                  <a:cubicBezTo>
                    <a:pt x="3790950" y="29851"/>
                    <a:pt x="3761099" y="0"/>
                    <a:pt x="3724275" y="0"/>
                  </a:cubicBezTo>
                  <a:lnTo>
                    <a:pt x="66675" y="0"/>
                  </a:lnTo>
                  <a:cubicBezTo>
                    <a:pt x="29851" y="0"/>
                    <a:pt x="0" y="29851"/>
                    <a:pt x="0" y="66675"/>
                  </a:cubicBezTo>
                  <a:close/>
                </a:path>
              </a:pathLst>
            </a:custGeom>
            <a:solidFill>
              <a:srgbClr val="A52D12"/>
            </a:solidFill>
            <a:ln>
              <a:noFill/>
            </a:ln>
          </p:spPr>
        </p:sp>
        <p:sp>
          <p:nvSpPr>
            <p:cNvPr id="115" name="TextBox 115"/>
            <p:cNvSpPr txBox="1"/>
            <p:nvPr/>
          </p:nvSpPr>
          <p:spPr>
            <a:xfrm>
              <a:off x="5200844" y="2153602"/>
              <a:ext cx="201891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智慧运营流程 · 端到端闭环管理</a:t>
              </a:r>
            </a:p>
          </p:txBody>
        </p:sp>
        <p:sp>
          <p:nvSpPr>
            <p:cNvPr id="116" name="Ellipse 116"/>
            <p:cNvSpPr/>
            <p:nvPr/>
          </p:nvSpPr>
          <p:spPr>
            <a:xfrm>
              <a:off x="4591050" y="2762250"/>
              <a:ext cx="495300" cy="495300"/>
            </a:xfrm>
            <a:prstGeom prst="ellipse">
              <a:avLst/>
            </a:prstGeom>
            <a:solidFill>
              <a:srgbClr val="A52D12"/>
            </a:solidFill>
            <a:ln>
              <a:noFill/>
            </a:ln>
          </p:spPr>
        </p:sp>
        <p:grpSp>
          <p:nvGrpSpPr>
            <p:cNvPr id="121" name="Group 121"/>
            <p:cNvGrpSpPr/>
            <p:nvPr/>
          </p:nvGrpSpPr>
          <p:grpSpPr>
            <a:xfrm>
              <a:off x="4743450" y="2914650"/>
              <a:ext cx="171450" cy="171450"/>
              <a:chOff x="4743450" y="2914650"/>
              <a:chExt cx="171450" cy="171450"/>
            </a:xfrm>
          </p:grpSpPr>
          <p:sp>
            <p:nvSpPr>
              <p:cNvPr id="117" name="Freeform 117"/>
              <p:cNvSpPr/>
              <p:nvPr/>
            </p:nvSpPr>
            <p:spPr>
              <a:xfrm>
                <a:off x="4762500" y="29146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118" name="Freeform 118"/>
              <p:cNvSpPr/>
              <p:nvPr/>
            </p:nvSpPr>
            <p:spPr>
              <a:xfrm>
                <a:off x="4743450" y="30289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119" name="Freeform 119"/>
              <p:cNvSpPr/>
              <p:nvPr/>
            </p:nvSpPr>
            <p:spPr>
              <a:xfrm>
                <a:off x="4867275" y="29158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120" name="Freeform 120"/>
              <p:cNvSpPr/>
              <p:nvPr/>
            </p:nvSpPr>
            <p:spPr>
              <a:xfrm>
                <a:off x="4886325" y="30303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122" name="Line 122"/>
            <p:cNvSpPr/>
            <p:nvPr/>
          </p:nvSpPr>
          <p:spPr>
            <a:xfrm>
              <a:off x="5143500" y="3009900"/>
              <a:ext cx="285750" cy="1"/>
            </a:xfrm>
            <a:prstGeom prst="line">
              <a:avLst/>
            </a:prstGeom>
            <a:noFill/>
            <a:ln w="17145">
              <a:solidFill>
                <a:srgbClr val="A52D12"/>
              </a:solidFill>
              <a:tailEnd type="triangle" w="lg" len="lg"/>
            </a:ln>
          </p:spPr>
        </p:sp>
        <p:sp>
          <p:nvSpPr>
            <p:cNvPr id="123" name="Ellipse 123"/>
            <p:cNvSpPr/>
            <p:nvPr/>
          </p:nvSpPr>
          <p:spPr>
            <a:xfrm>
              <a:off x="5524500" y="2762250"/>
              <a:ext cx="495300" cy="495300"/>
            </a:xfrm>
            <a:prstGeom prst="ellipse">
              <a:avLst/>
            </a:prstGeom>
            <a:solidFill>
              <a:srgbClr val="A52D12"/>
            </a:solidFill>
            <a:ln>
              <a:noFill/>
            </a:ln>
          </p:spPr>
        </p:sp>
        <p:grpSp>
          <p:nvGrpSpPr>
            <p:cNvPr id="133" name="Group 133"/>
            <p:cNvGrpSpPr/>
            <p:nvPr/>
          </p:nvGrpSpPr>
          <p:grpSpPr>
            <a:xfrm>
              <a:off x="5695950" y="2905125"/>
              <a:ext cx="133350" cy="180975"/>
              <a:chOff x="5695950" y="2905125"/>
              <a:chExt cx="133350" cy="180975"/>
            </a:xfrm>
          </p:grpSpPr>
          <p:sp>
            <p:nvSpPr>
              <p:cNvPr id="124" name="Freeform 124"/>
              <p:cNvSpPr/>
              <p:nvPr/>
            </p:nvSpPr>
            <p:spPr>
              <a:xfrm>
                <a:off x="5705475" y="2924175"/>
                <a:ext cx="114300" cy="76200"/>
              </a:xfrm>
              <a:custGeom>
                <a:avLst/>
                <a:gdLst/>
                <a:ahLst/>
                <a:cxnLst/>
                <a:rect l="l" t="t" r="r" b="b"/>
                <a:pathLst>
                  <a:path w="114300" h="76200">
                    <a:moveTo>
                      <a:pt x="0" y="19050"/>
                    </a:moveTo>
                    <a:cubicBezTo>
                      <a:pt x="0" y="8529"/>
                      <a:pt x="8529" y="0"/>
                      <a:pt x="19050" y="0"/>
                    </a:cubicBezTo>
                    <a:lnTo>
                      <a:pt x="95250" y="0"/>
                    </a:lnTo>
                    <a:cubicBezTo>
                      <a:pt x="105771" y="0"/>
                      <a:pt x="114300" y="8529"/>
                      <a:pt x="114300" y="19050"/>
                    </a:cubicBezTo>
                    <a:lnTo>
                      <a:pt x="114300" y="57150"/>
                    </a:lnTo>
                    <a:cubicBezTo>
                      <a:pt x="114300" y="67671"/>
                      <a:pt x="105771" y="76200"/>
                      <a:pt x="95250" y="76200"/>
                    </a:cubicBezTo>
                    <a:lnTo>
                      <a:pt x="19050" y="76200"/>
                    </a:lnTo>
                    <a:cubicBezTo>
                      <a:pt x="8529" y="76200"/>
                      <a:pt x="0" y="67671"/>
                      <a:pt x="0" y="57150"/>
                    </a:cubicBezTo>
                    <a:lnTo>
                      <a:pt x="0" y="19050"/>
                    </a:lnTo>
                  </a:path>
                </a:pathLst>
              </a:custGeom>
              <a:noFill/>
              <a:ln w="19050">
                <a:solidFill>
                  <a:srgbClr val="FFFFFF"/>
                </a:solidFill>
              </a:ln>
            </p:spPr>
          </p:sp>
          <p:sp>
            <p:nvSpPr>
              <p:cNvPr id="125" name="Freeform 125"/>
              <p:cNvSpPr/>
              <p:nvPr/>
            </p:nvSpPr>
            <p:spPr>
              <a:xfrm>
                <a:off x="5762625" y="2905125"/>
                <a:ext cx="9525" cy="19050"/>
              </a:xfrm>
              <a:custGeom>
                <a:avLst/>
                <a:gdLst/>
                <a:ahLst/>
                <a:cxnLst/>
                <a:rect l="l" t="t" r="r" b="b"/>
                <a:pathLst>
                  <a:path w="9525" h="19050">
                    <a:moveTo>
                      <a:pt x="0" y="0"/>
                    </a:moveTo>
                    <a:lnTo>
                      <a:pt x="0" y="19050"/>
                    </a:lnTo>
                  </a:path>
                </a:pathLst>
              </a:custGeom>
              <a:noFill/>
              <a:ln w="19050">
                <a:solidFill>
                  <a:srgbClr val="FFFFFF"/>
                </a:solidFill>
              </a:ln>
            </p:spPr>
          </p:sp>
          <p:sp>
            <p:nvSpPr>
              <p:cNvPr id="126" name="Freeform 126"/>
              <p:cNvSpPr/>
              <p:nvPr/>
            </p:nvSpPr>
            <p:spPr>
              <a:xfrm>
                <a:off x="5734050" y="3000375"/>
                <a:ext cx="9525" cy="85725"/>
              </a:xfrm>
              <a:custGeom>
                <a:avLst/>
                <a:gdLst/>
                <a:ahLst/>
                <a:cxnLst/>
                <a:rect l="l" t="t" r="r" b="b"/>
                <a:pathLst>
                  <a:path w="9525" h="85725">
                    <a:moveTo>
                      <a:pt x="0" y="0"/>
                    </a:moveTo>
                    <a:lnTo>
                      <a:pt x="0" y="85725"/>
                    </a:lnTo>
                  </a:path>
                </a:pathLst>
              </a:custGeom>
              <a:noFill/>
              <a:ln w="19050">
                <a:solidFill>
                  <a:srgbClr val="FFFFFF"/>
                </a:solidFill>
              </a:ln>
            </p:spPr>
          </p:sp>
          <p:sp>
            <p:nvSpPr>
              <p:cNvPr id="127" name="Freeform 127"/>
              <p:cNvSpPr/>
              <p:nvPr/>
            </p:nvSpPr>
            <p:spPr>
              <a:xfrm>
                <a:off x="5791200" y="3000375"/>
                <a:ext cx="9525" cy="85725"/>
              </a:xfrm>
              <a:custGeom>
                <a:avLst/>
                <a:gdLst/>
                <a:ahLst/>
                <a:cxnLst/>
                <a:rect l="l" t="t" r="r" b="b"/>
                <a:pathLst>
                  <a:path w="9525" h="85725">
                    <a:moveTo>
                      <a:pt x="0" y="0"/>
                    </a:moveTo>
                    <a:lnTo>
                      <a:pt x="0" y="85725"/>
                    </a:lnTo>
                  </a:path>
                </a:pathLst>
              </a:custGeom>
              <a:noFill/>
              <a:ln w="19050">
                <a:solidFill>
                  <a:srgbClr val="FFFFFF"/>
                </a:solidFill>
              </a:ln>
            </p:spPr>
          </p:sp>
          <p:sp>
            <p:nvSpPr>
              <p:cNvPr id="128" name="Freeform 128"/>
              <p:cNvSpPr/>
              <p:nvPr/>
            </p:nvSpPr>
            <p:spPr>
              <a:xfrm>
                <a:off x="5695950" y="3019425"/>
                <a:ext cx="38100" cy="19050"/>
              </a:xfrm>
              <a:custGeom>
                <a:avLst/>
                <a:gdLst/>
                <a:ahLst/>
                <a:cxnLst/>
                <a:rect l="l" t="t" r="r" b="b"/>
                <a:pathLst>
                  <a:path w="38100" h="19050">
                    <a:moveTo>
                      <a:pt x="0" y="19050"/>
                    </a:moveTo>
                    <a:lnTo>
                      <a:pt x="38100" y="0"/>
                    </a:lnTo>
                  </a:path>
                </a:pathLst>
              </a:custGeom>
              <a:noFill/>
              <a:ln w="19050">
                <a:solidFill>
                  <a:srgbClr val="FFFFFF"/>
                </a:solidFill>
              </a:ln>
            </p:spPr>
          </p:sp>
          <p:sp>
            <p:nvSpPr>
              <p:cNvPr id="129" name="Freeform 129"/>
              <p:cNvSpPr/>
              <p:nvPr/>
            </p:nvSpPr>
            <p:spPr>
              <a:xfrm>
                <a:off x="5791200" y="3019425"/>
                <a:ext cx="38100" cy="19050"/>
              </a:xfrm>
              <a:custGeom>
                <a:avLst/>
                <a:gdLst/>
                <a:ahLst/>
                <a:cxnLst/>
                <a:rect l="l" t="t" r="r" b="b"/>
                <a:pathLst>
                  <a:path w="38100" h="19050">
                    <a:moveTo>
                      <a:pt x="0" y="0"/>
                    </a:moveTo>
                    <a:lnTo>
                      <a:pt x="38100" y="19050"/>
                    </a:lnTo>
                  </a:path>
                </a:pathLst>
              </a:custGeom>
              <a:noFill/>
              <a:ln w="19050">
                <a:solidFill>
                  <a:srgbClr val="FFFFFF"/>
                </a:solidFill>
              </a:ln>
            </p:spPr>
          </p:sp>
          <p:sp>
            <p:nvSpPr>
              <p:cNvPr id="130" name="Freeform 130"/>
              <p:cNvSpPr/>
              <p:nvPr/>
            </p:nvSpPr>
            <p:spPr>
              <a:xfrm>
                <a:off x="5734050" y="3057525"/>
                <a:ext cx="57150" cy="9525"/>
              </a:xfrm>
              <a:custGeom>
                <a:avLst/>
                <a:gdLst/>
                <a:ahLst/>
                <a:cxnLst/>
                <a:rect l="l" t="t" r="r" b="b"/>
                <a:pathLst>
                  <a:path w="57150" h="9525">
                    <a:moveTo>
                      <a:pt x="0" y="0"/>
                    </a:moveTo>
                    <a:lnTo>
                      <a:pt x="57150" y="0"/>
                    </a:lnTo>
                  </a:path>
                </a:pathLst>
              </a:custGeom>
              <a:noFill/>
              <a:ln w="19050">
                <a:solidFill>
                  <a:srgbClr val="FFFFFF"/>
                </a:solidFill>
              </a:ln>
            </p:spPr>
          </p:sp>
          <p:sp>
            <p:nvSpPr>
              <p:cNvPr id="131" name="Freeform 131"/>
              <p:cNvSpPr/>
              <p:nvPr/>
            </p:nvSpPr>
            <p:spPr>
              <a:xfrm>
                <a:off x="5743575" y="2962275"/>
                <a:ext cx="9525" cy="9525"/>
              </a:xfrm>
              <a:custGeom>
                <a:avLst/>
                <a:gdLst/>
                <a:ahLst/>
                <a:cxnLst/>
                <a:rect l="l" t="t" r="r" b="b"/>
                <a:pathLst>
                  <a:path w="9525" h="9525">
                    <a:moveTo>
                      <a:pt x="0" y="0"/>
                    </a:moveTo>
                    <a:lnTo>
                      <a:pt x="0" y="95"/>
                    </a:lnTo>
                  </a:path>
                </a:pathLst>
              </a:custGeom>
              <a:noFill/>
              <a:ln w="19050">
                <a:solidFill>
                  <a:srgbClr val="FFFFFF"/>
                </a:solidFill>
              </a:ln>
            </p:spPr>
          </p:sp>
          <p:sp>
            <p:nvSpPr>
              <p:cNvPr id="132" name="Freeform 132"/>
              <p:cNvSpPr/>
              <p:nvPr/>
            </p:nvSpPr>
            <p:spPr>
              <a:xfrm>
                <a:off x="5781675" y="2962275"/>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134" name="Line 134"/>
            <p:cNvSpPr/>
            <p:nvPr/>
          </p:nvSpPr>
          <p:spPr>
            <a:xfrm>
              <a:off x="6076950" y="3009900"/>
              <a:ext cx="285750" cy="1"/>
            </a:xfrm>
            <a:prstGeom prst="line">
              <a:avLst/>
            </a:prstGeom>
            <a:noFill/>
            <a:ln w="17145">
              <a:solidFill>
                <a:srgbClr val="A52D12"/>
              </a:solidFill>
              <a:tailEnd type="triangle" w="lg" len="lg"/>
            </a:ln>
          </p:spPr>
        </p:sp>
        <p:sp>
          <p:nvSpPr>
            <p:cNvPr id="135" name="Ellipse 135"/>
            <p:cNvSpPr/>
            <p:nvPr/>
          </p:nvSpPr>
          <p:spPr>
            <a:xfrm>
              <a:off x="6457950" y="2762250"/>
              <a:ext cx="495300" cy="495300"/>
            </a:xfrm>
            <a:prstGeom prst="ellipse">
              <a:avLst/>
            </a:prstGeom>
            <a:solidFill>
              <a:srgbClr val="A52D12"/>
            </a:solidFill>
            <a:ln>
              <a:noFill/>
            </a:ln>
          </p:spPr>
        </p:sp>
        <p:grpSp>
          <p:nvGrpSpPr>
            <p:cNvPr id="139" name="Group 139"/>
            <p:cNvGrpSpPr/>
            <p:nvPr/>
          </p:nvGrpSpPr>
          <p:grpSpPr>
            <a:xfrm>
              <a:off x="6619875" y="2914650"/>
              <a:ext cx="152400" cy="171450"/>
              <a:chOff x="6619875" y="2914650"/>
              <a:chExt cx="152400" cy="171450"/>
            </a:xfrm>
          </p:grpSpPr>
          <p:sp>
            <p:nvSpPr>
              <p:cNvPr id="136" name="Freeform 136"/>
              <p:cNvSpPr/>
              <p:nvPr/>
            </p:nvSpPr>
            <p:spPr>
              <a:xfrm>
                <a:off x="6619875" y="2914650"/>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FFFFFF"/>
                </a:solidFill>
              </a:ln>
            </p:spPr>
          </p:sp>
          <p:sp>
            <p:nvSpPr>
              <p:cNvPr id="137" name="Freeform 137"/>
              <p:cNvSpPr/>
              <p:nvPr/>
            </p:nvSpPr>
            <p:spPr>
              <a:xfrm>
                <a:off x="6619875" y="2943225"/>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sp>
            <p:nvSpPr>
              <p:cNvPr id="138" name="Freeform 138"/>
              <p:cNvSpPr/>
              <p:nvPr/>
            </p:nvSpPr>
            <p:spPr>
              <a:xfrm>
                <a:off x="6619875" y="3000375"/>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FFFFFF"/>
                </a:solidFill>
              </a:ln>
            </p:spPr>
          </p:sp>
        </p:grpSp>
        <p:sp>
          <p:nvSpPr>
            <p:cNvPr id="140" name="Line 140"/>
            <p:cNvSpPr/>
            <p:nvPr/>
          </p:nvSpPr>
          <p:spPr>
            <a:xfrm>
              <a:off x="7010400" y="3009900"/>
              <a:ext cx="285750" cy="1"/>
            </a:xfrm>
            <a:prstGeom prst="line">
              <a:avLst/>
            </a:prstGeom>
            <a:noFill/>
            <a:ln w="17145">
              <a:solidFill>
                <a:srgbClr val="A52D12"/>
              </a:solidFill>
              <a:tailEnd type="triangle" w="lg" len="lg"/>
            </a:ln>
          </p:spPr>
        </p:sp>
        <p:sp>
          <p:nvSpPr>
            <p:cNvPr id="141" name="Ellipse 141"/>
            <p:cNvSpPr/>
            <p:nvPr/>
          </p:nvSpPr>
          <p:spPr>
            <a:xfrm>
              <a:off x="7391400" y="2762250"/>
              <a:ext cx="495300" cy="495300"/>
            </a:xfrm>
            <a:prstGeom prst="ellipse">
              <a:avLst/>
            </a:prstGeom>
            <a:solidFill>
              <a:srgbClr val="A52D12"/>
            </a:solidFill>
            <a:ln>
              <a:noFill/>
            </a:ln>
          </p:spPr>
        </p:sp>
        <p:grpSp>
          <p:nvGrpSpPr>
            <p:cNvPr id="144" name="Group 144"/>
            <p:cNvGrpSpPr/>
            <p:nvPr/>
          </p:nvGrpSpPr>
          <p:grpSpPr>
            <a:xfrm>
              <a:off x="7553325" y="2943225"/>
              <a:ext cx="152400" cy="133350"/>
              <a:chOff x="7553325" y="2943225"/>
              <a:chExt cx="152400" cy="133350"/>
            </a:xfrm>
          </p:grpSpPr>
          <p:sp>
            <p:nvSpPr>
              <p:cNvPr id="142" name="Freeform 142"/>
              <p:cNvSpPr/>
              <p:nvPr/>
            </p:nvSpPr>
            <p:spPr>
              <a:xfrm>
                <a:off x="7553325" y="30670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143" name="Freeform 143"/>
              <p:cNvSpPr/>
              <p:nvPr/>
            </p:nvSpPr>
            <p:spPr>
              <a:xfrm>
                <a:off x="7553325" y="2943225"/>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FFFF"/>
                </a:solidFill>
              </a:ln>
            </p:spPr>
          </p:sp>
        </p:grpSp>
        <p:sp>
          <p:nvSpPr>
            <p:cNvPr id="145" name="TextBox 145"/>
            <p:cNvSpPr txBox="1"/>
            <p:nvPr/>
          </p:nvSpPr>
          <p:spPr>
            <a:xfrm>
              <a:off x="4470464" y="3408045"/>
              <a:ext cx="736473"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前台综合受理</a:t>
              </a:r>
            </a:p>
          </p:txBody>
        </p:sp>
        <p:sp>
          <p:nvSpPr>
            <p:cNvPr id="146" name="TextBox 146"/>
            <p:cNvSpPr txBox="1"/>
            <p:nvPr/>
          </p:nvSpPr>
          <p:spPr>
            <a:xfrm>
              <a:off x="4594987" y="3637836"/>
              <a:ext cx="48742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多渠道接入</a:t>
              </a:r>
            </a:p>
          </p:txBody>
        </p:sp>
        <p:sp>
          <p:nvSpPr>
            <p:cNvPr id="147" name="TextBox 147"/>
            <p:cNvSpPr txBox="1"/>
            <p:nvPr/>
          </p:nvSpPr>
          <p:spPr>
            <a:xfrm>
              <a:off x="4547197" y="3780711"/>
              <a:ext cx="58300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智能引导分流</a:t>
              </a:r>
            </a:p>
          </p:txBody>
        </p:sp>
        <p:sp>
          <p:nvSpPr>
            <p:cNvPr id="148" name="TextBox 148"/>
            <p:cNvSpPr txBox="1"/>
            <p:nvPr/>
          </p:nvSpPr>
          <p:spPr>
            <a:xfrm>
              <a:off x="4642777" y="3923586"/>
              <a:ext cx="39184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单一受理</a:t>
              </a:r>
            </a:p>
          </p:txBody>
        </p:sp>
        <p:sp>
          <p:nvSpPr>
            <p:cNvPr id="149" name="TextBox 149"/>
            <p:cNvSpPr txBox="1"/>
            <p:nvPr/>
          </p:nvSpPr>
          <p:spPr>
            <a:xfrm>
              <a:off x="5403914" y="3408045"/>
              <a:ext cx="736473"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中台智能审核</a:t>
              </a:r>
            </a:p>
          </p:txBody>
        </p:sp>
        <p:sp>
          <p:nvSpPr>
            <p:cNvPr id="150" name="TextBox 150"/>
            <p:cNvSpPr txBox="1"/>
            <p:nvPr/>
          </p:nvSpPr>
          <p:spPr>
            <a:xfrm>
              <a:off x="5576227" y="3637836"/>
              <a:ext cx="39184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规则引擎</a:t>
              </a:r>
            </a:p>
          </p:txBody>
        </p:sp>
        <p:sp>
          <p:nvSpPr>
            <p:cNvPr id="151" name="TextBox 151"/>
            <p:cNvSpPr txBox="1"/>
            <p:nvPr/>
          </p:nvSpPr>
          <p:spPr>
            <a:xfrm>
              <a:off x="5576227" y="3780711"/>
              <a:ext cx="39184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智能风控</a:t>
              </a:r>
            </a:p>
          </p:txBody>
        </p:sp>
        <p:sp>
          <p:nvSpPr>
            <p:cNvPr id="152" name="TextBox 152"/>
            <p:cNvSpPr txBox="1"/>
            <p:nvPr/>
          </p:nvSpPr>
          <p:spPr>
            <a:xfrm>
              <a:off x="5576227" y="3923586"/>
              <a:ext cx="39184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自动决策</a:t>
              </a:r>
            </a:p>
          </p:txBody>
        </p:sp>
        <p:sp>
          <p:nvSpPr>
            <p:cNvPr id="153" name="TextBox 153"/>
            <p:cNvSpPr txBox="1"/>
            <p:nvPr/>
          </p:nvSpPr>
          <p:spPr>
            <a:xfrm>
              <a:off x="6337364" y="3408045"/>
              <a:ext cx="736473"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后台集中作业</a:t>
              </a:r>
            </a:p>
          </p:txBody>
        </p:sp>
        <p:sp>
          <p:nvSpPr>
            <p:cNvPr id="154" name="TextBox 154"/>
            <p:cNvSpPr txBox="1"/>
            <p:nvPr/>
          </p:nvSpPr>
          <p:spPr>
            <a:xfrm>
              <a:off x="6509677" y="3637836"/>
              <a:ext cx="39184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集中处理</a:t>
              </a:r>
            </a:p>
          </p:txBody>
        </p:sp>
        <p:sp>
          <p:nvSpPr>
            <p:cNvPr id="155" name="TextBox 155"/>
            <p:cNvSpPr txBox="1"/>
            <p:nvPr/>
          </p:nvSpPr>
          <p:spPr>
            <a:xfrm>
              <a:off x="6461887" y="3780711"/>
              <a:ext cx="48742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标准化作业</a:t>
              </a:r>
            </a:p>
          </p:txBody>
        </p:sp>
        <p:sp>
          <p:nvSpPr>
            <p:cNvPr id="156" name="TextBox 156"/>
            <p:cNvSpPr txBox="1"/>
            <p:nvPr/>
          </p:nvSpPr>
          <p:spPr>
            <a:xfrm>
              <a:off x="6414097" y="3923586"/>
              <a:ext cx="58300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批量高效处理</a:t>
              </a:r>
            </a:p>
          </p:txBody>
        </p:sp>
        <p:sp>
          <p:nvSpPr>
            <p:cNvPr id="157" name="TextBox 157"/>
            <p:cNvSpPr txBox="1"/>
            <p:nvPr/>
          </p:nvSpPr>
          <p:spPr>
            <a:xfrm>
              <a:off x="7391971" y="34080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全程监控</a:t>
              </a:r>
            </a:p>
          </p:txBody>
        </p:sp>
        <p:sp>
          <p:nvSpPr>
            <p:cNvPr id="158" name="TextBox 158"/>
            <p:cNvSpPr txBox="1"/>
            <p:nvPr/>
          </p:nvSpPr>
          <p:spPr>
            <a:xfrm>
              <a:off x="7443127" y="3637836"/>
              <a:ext cx="39184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实时监控</a:t>
              </a:r>
            </a:p>
          </p:txBody>
        </p:sp>
        <p:sp>
          <p:nvSpPr>
            <p:cNvPr id="159" name="TextBox 159"/>
            <p:cNvSpPr txBox="1"/>
            <p:nvPr/>
          </p:nvSpPr>
          <p:spPr>
            <a:xfrm>
              <a:off x="7443127" y="3780711"/>
              <a:ext cx="39184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预警设置</a:t>
              </a:r>
            </a:p>
          </p:txBody>
        </p:sp>
        <p:sp>
          <p:nvSpPr>
            <p:cNvPr id="160" name="TextBox 160"/>
            <p:cNvSpPr txBox="1"/>
            <p:nvPr/>
          </p:nvSpPr>
          <p:spPr>
            <a:xfrm>
              <a:off x="7395337" y="3923586"/>
              <a:ext cx="48742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过程可追溯</a:t>
              </a:r>
            </a:p>
          </p:txBody>
        </p:sp>
        <p:sp>
          <p:nvSpPr>
            <p:cNvPr id="161" name="Rectangle 161"/>
            <p:cNvSpPr/>
            <p:nvPr/>
          </p:nvSpPr>
          <p:spPr>
            <a:xfrm>
              <a:off x="4572000" y="4762500"/>
              <a:ext cx="3276600" cy="419100"/>
            </a:xfrm>
            <a:prstGeom prst="roundRect">
              <a:avLst>
                <a:gd name="adj" fmla="val 50000"/>
              </a:avLst>
            </a:prstGeom>
            <a:solidFill>
              <a:srgbClr val="F7E9E7"/>
            </a:solidFill>
            <a:ln>
              <a:noFill/>
            </a:ln>
          </p:spPr>
        </p:sp>
        <p:sp>
          <p:nvSpPr>
            <p:cNvPr id="162" name="TextBox 162"/>
            <p:cNvSpPr txBox="1"/>
            <p:nvPr/>
          </p:nvSpPr>
          <p:spPr>
            <a:xfrm>
              <a:off x="4910972" y="4914424"/>
              <a:ext cx="2598655" cy="190690"/>
            </a:xfrm>
            <a:prstGeom prst="rect">
              <a:avLst/>
            </a:prstGeom>
            <a:noFill/>
            <a:ln>
              <a:noFill/>
            </a:ln>
          </p:spPr>
          <p:txBody>
            <a:bodyPr wrap="none" lIns="0" tIns="0" rIns="0" bIns="0" anchor="t" anchorCtr="0">
              <a:spAutoFit/>
            </a:bodyPr>
            <a:lstStyle/>
            <a:p>
              <a:pPr algn="ctr"/>
              <a:r>
                <a:rPr lang="zh-CN" sz="980" b="1" dirty="0">
                  <a:solidFill>
                    <a:srgbClr val="A52D12"/>
                  </a:solidFill>
                  <a:latin typeface="+mn-lt"/>
                  <a:ea typeface="+mn-ea"/>
                  <a:cs typeface="+mn-cs"/>
                </a:rPr>
                <a:t>数据驱动 · 流程优化 · 风险可控 · 服务增值</a:t>
              </a:r>
            </a:p>
          </p:txBody>
        </p:sp>
      </p:grpSp>
      <p:grpSp>
        <p:nvGrpSpPr>
          <p:cNvPr id="204" name="branch-matrix"/>
          <p:cNvGrpSpPr/>
          <p:nvPr/>
        </p:nvGrpSpPr>
        <p:grpSpPr>
          <a:xfrm>
            <a:off x="8131270" y="2095500"/>
            <a:ext cx="3679730" cy="3486150"/>
            <a:chOff x="8131270" y="2095500"/>
            <a:chExt cx="3679730" cy="3486150"/>
          </a:xfrm>
        </p:grpSpPr>
        <p:sp>
          <p:nvSpPr>
            <p:cNvPr id="164" name="Rectangle 164"/>
            <p:cNvSpPr/>
            <p:nvPr/>
          </p:nvSpPr>
          <p:spPr>
            <a:xfrm>
              <a:off x="8229600" y="2095500"/>
              <a:ext cx="3581400" cy="3486150"/>
            </a:xfrm>
            <a:prstGeom prst="roundRect">
              <a:avLst>
                <a:gd name="adj" fmla="val 2186"/>
              </a:avLst>
            </a:prstGeom>
            <a:solidFill>
              <a:srgbClr val="FDF6F5"/>
            </a:solidFill>
            <a:ln w="9525">
              <a:solidFill>
                <a:srgbClr val="EDD5D2"/>
              </a:solidFill>
            </a:ln>
          </p:spPr>
        </p:sp>
        <p:sp>
          <p:nvSpPr>
            <p:cNvPr id="165" name="Freeform 165"/>
            <p:cNvSpPr/>
            <p:nvPr/>
          </p:nvSpPr>
          <p:spPr>
            <a:xfrm>
              <a:off x="8239125" y="2105025"/>
              <a:ext cx="3562350" cy="228600"/>
            </a:xfrm>
            <a:custGeom>
              <a:avLst/>
              <a:gdLst/>
              <a:ahLst/>
              <a:cxnLst/>
              <a:rect l="l" t="t" r="r" b="b"/>
              <a:pathLst>
                <a:path w="3562350" h="228600">
                  <a:moveTo>
                    <a:pt x="0" y="228600"/>
                  </a:moveTo>
                  <a:lnTo>
                    <a:pt x="3562350" y="228600"/>
                  </a:lnTo>
                  <a:lnTo>
                    <a:pt x="3562350" y="66675"/>
                  </a:lnTo>
                  <a:cubicBezTo>
                    <a:pt x="3562350" y="29851"/>
                    <a:pt x="3532499" y="0"/>
                    <a:pt x="3495675" y="0"/>
                  </a:cubicBezTo>
                  <a:lnTo>
                    <a:pt x="66675" y="0"/>
                  </a:lnTo>
                  <a:cubicBezTo>
                    <a:pt x="29851" y="0"/>
                    <a:pt x="0" y="29851"/>
                    <a:pt x="0" y="66675"/>
                  </a:cubicBezTo>
                  <a:close/>
                </a:path>
              </a:pathLst>
            </a:custGeom>
            <a:solidFill>
              <a:srgbClr val="A52D12"/>
            </a:solidFill>
            <a:ln>
              <a:noFill/>
            </a:ln>
          </p:spPr>
        </p:sp>
        <p:sp>
          <p:nvSpPr>
            <p:cNvPr id="166" name="TextBox 166"/>
            <p:cNvSpPr txBox="1"/>
            <p:nvPr/>
          </p:nvSpPr>
          <p:spPr>
            <a:xfrm>
              <a:off x="8657466" y="2153602"/>
              <a:ext cx="272566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网点分类矩阵（客户覆盖度 × 价值贡献度）</a:t>
              </a:r>
            </a:p>
          </p:txBody>
        </p:sp>
        <p:sp>
          <p:nvSpPr>
            <p:cNvPr id="167" name="TextBox 167"/>
            <p:cNvSpPr txBox="1"/>
            <p:nvPr/>
          </p:nvSpPr>
          <p:spPr>
            <a:xfrm>
              <a:off x="8533549" y="2730341"/>
              <a:ext cx="119913" cy="161925"/>
            </a:xfrm>
            <a:prstGeom prst="rect">
              <a:avLst/>
            </a:prstGeom>
            <a:noFill/>
            <a:ln>
              <a:noFill/>
            </a:ln>
          </p:spPr>
          <p:txBody>
            <a:bodyPr wrap="none" lIns="0" tIns="0" rIns="0" bIns="0" anchor="t" anchorCtr="0">
              <a:spAutoFit/>
            </a:bodyPr>
            <a:lstStyle/>
            <a:p>
              <a:pPr algn="r"/>
              <a:r>
                <a:rPr lang="zh-CN" sz="820" dirty="0">
                  <a:solidFill>
                    <a:srgbClr val="555555"/>
                  </a:solidFill>
                  <a:latin typeface="+mn-lt"/>
                  <a:ea typeface="+mn-ea"/>
                  <a:cs typeface="+mn-cs"/>
                </a:rPr>
                <a:t>高</a:t>
              </a:r>
            </a:p>
          </p:txBody>
        </p:sp>
        <p:sp>
          <p:nvSpPr>
            <p:cNvPr id="168" name="TextBox 168"/>
            <p:cNvSpPr txBox="1"/>
            <p:nvPr/>
          </p:nvSpPr>
          <p:spPr>
            <a:xfrm>
              <a:off x="8533549" y="3682841"/>
              <a:ext cx="119913" cy="161925"/>
            </a:xfrm>
            <a:prstGeom prst="rect">
              <a:avLst/>
            </a:prstGeom>
            <a:noFill/>
            <a:ln>
              <a:noFill/>
            </a:ln>
          </p:spPr>
          <p:txBody>
            <a:bodyPr wrap="none" lIns="0" tIns="0" rIns="0" bIns="0" anchor="t" anchorCtr="0">
              <a:spAutoFit/>
            </a:bodyPr>
            <a:lstStyle/>
            <a:p>
              <a:pPr algn="r"/>
              <a:r>
                <a:rPr lang="zh-CN" sz="820" dirty="0">
                  <a:solidFill>
                    <a:srgbClr val="8A8A8A"/>
                  </a:solidFill>
                  <a:latin typeface="+mn-lt"/>
                  <a:ea typeface="+mn-ea"/>
                  <a:cs typeface="+mn-cs"/>
                </a:rPr>
                <a:t>中</a:t>
              </a:r>
            </a:p>
          </p:txBody>
        </p:sp>
        <p:sp>
          <p:nvSpPr>
            <p:cNvPr id="169" name="TextBox 169"/>
            <p:cNvSpPr txBox="1"/>
            <p:nvPr/>
          </p:nvSpPr>
          <p:spPr>
            <a:xfrm>
              <a:off x="8533549" y="4635341"/>
              <a:ext cx="119913" cy="161925"/>
            </a:xfrm>
            <a:prstGeom prst="rect">
              <a:avLst/>
            </a:prstGeom>
            <a:noFill/>
            <a:ln>
              <a:noFill/>
            </a:ln>
          </p:spPr>
          <p:txBody>
            <a:bodyPr wrap="none" lIns="0" tIns="0" rIns="0" bIns="0" anchor="t" anchorCtr="0">
              <a:spAutoFit/>
            </a:bodyPr>
            <a:lstStyle/>
            <a:p>
              <a:pPr algn="r"/>
              <a:r>
                <a:rPr lang="zh-CN" sz="820" dirty="0">
                  <a:solidFill>
                    <a:srgbClr val="555555"/>
                  </a:solidFill>
                  <a:latin typeface="+mn-lt"/>
                  <a:ea typeface="+mn-ea"/>
                  <a:cs typeface="+mn-cs"/>
                </a:rPr>
                <a:t>低</a:t>
              </a:r>
            </a:p>
          </p:txBody>
        </p:sp>
        <p:sp>
          <p:nvSpPr>
            <p:cNvPr id="170" name="Line 170"/>
            <p:cNvSpPr/>
            <p:nvPr/>
          </p:nvSpPr>
          <p:spPr>
            <a:xfrm flipV="1">
              <a:off x="8724900" y="2743200"/>
              <a:ext cx="1" cy="2019300"/>
            </a:xfrm>
            <a:prstGeom prst="line">
              <a:avLst/>
            </a:prstGeom>
            <a:noFill/>
            <a:ln w="11430">
              <a:solidFill>
                <a:srgbClr val="C9BBB8"/>
              </a:solidFill>
              <a:tailEnd type="triangle" w="lg" len="lg"/>
            </a:ln>
          </p:spPr>
        </p:sp>
        <p:sp>
          <p:nvSpPr>
            <p:cNvPr id="171" name="Line 171"/>
            <p:cNvSpPr/>
            <p:nvPr/>
          </p:nvSpPr>
          <p:spPr>
            <a:xfrm>
              <a:off x="8724900" y="4762500"/>
              <a:ext cx="2762250" cy="1"/>
            </a:xfrm>
            <a:prstGeom prst="line">
              <a:avLst/>
            </a:prstGeom>
            <a:noFill/>
            <a:ln w="11430">
              <a:solidFill>
                <a:srgbClr val="C9BBB8"/>
              </a:solidFill>
              <a:tailEnd type="triangle" w="lg" len="lg"/>
            </a:ln>
          </p:spPr>
        </p:sp>
        <p:sp>
          <p:nvSpPr>
            <p:cNvPr id="172" name="Rectangle 172"/>
            <p:cNvSpPr/>
            <p:nvPr/>
          </p:nvSpPr>
          <p:spPr>
            <a:xfrm>
              <a:off x="8801100" y="2781300"/>
              <a:ext cx="1314450" cy="933450"/>
            </a:xfrm>
            <a:prstGeom prst="rect">
              <a:avLst/>
            </a:prstGeom>
            <a:solidFill>
              <a:srgbClr val="FFFFFF"/>
            </a:solidFill>
            <a:ln w="9525">
              <a:solidFill>
                <a:srgbClr val="EDD5D2"/>
              </a:solidFill>
            </a:ln>
          </p:spPr>
        </p:sp>
        <p:sp>
          <p:nvSpPr>
            <p:cNvPr id="173" name="Freeform 173"/>
            <p:cNvSpPr/>
            <p:nvPr/>
          </p:nvSpPr>
          <p:spPr>
            <a:xfrm>
              <a:off x="9355931" y="2900362"/>
              <a:ext cx="128588" cy="85725"/>
            </a:xfrm>
            <a:custGeom>
              <a:avLst/>
              <a:gdLst/>
              <a:ahLst/>
              <a:cxnLst/>
              <a:rect l="l" t="t" r="r" b="b"/>
              <a:pathLst>
                <a:path w="128588" h="85725">
                  <a:moveTo>
                    <a:pt x="64294" y="0"/>
                  </a:moveTo>
                  <a:lnTo>
                    <a:pt x="92869" y="42862"/>
                  </a:lnTo>
                  <a:lnTo>
                    <a:pt x="128588" y="14288"/>
                  </a:lnTo>
                  <a:lnTo>
                    <a:pt x="114300" y="85725"/>
                  </a:lnTo>
                  <a:lnTo>
                    <a:pt x="14288" y="85725"/>
                  </a:lnTo>
                  <a:lnTo>
                    <a:pt x="0" y="14288"/>
                  </a:lnTo>
                  <a:lnTo>
                    <a:pt x="35719" y="42862"/>
                  </a:lnTo>
                  <a:lnTo>
                    <a:pt x="64294" y="0"/>
                  </a:lnTo>
                </a:path>
              </a:pathLst>
            </a:custGeom>
            <a:noFill/>
            <a:ln w="14288">
              <a:solidFill>
                <a:srgbClr val="A52D12"/>
              </a:solidFill>
            </a:ln>
          </p:spPr>
        </p:sp>
        <p:sp>
          <p:nvSpPr>
            <p:cNvPr id="174" name="TextBox 174"/>
            <p:cNvSpPr txBox="1"/>
            <p:nvPr/>
          </p:nvSpPr>
          <p:spPr>
            <a:xfrm>
              <a:off x="9263748" y="3099197"/>
              <a:ext cx="389153" cy="183356"/>
            </a:xfrm>
            <a:prstGeom prst="rect">
              <a:avLst/>
            </a:prstGeom>
            <a:noFill/>
            <a:ln>
              <a:noFill/>
            </a:ln>
          </p:spPr>
          <p:txBody>
            <a:bodyPr wrap="none" lIns="0" tIns="0" rIns="0" bIns="0" anchor="t" anchorCtr="0">
              <a:spAutoFit/>
            </a:bodyPr>
            <a:lstStyle/>
            <a:p>
              <a:pPr algn="ctr"/>
              <a:r>
                <a:rPr lang="zh-CN" sz="940" b="1" dirty="0">
                  <a:solidFill>
                    <a:srgbClr val="A52D12"/>
                  </a:solidFill>
                  <a:latin typeface="+mn-lt"/>
                  <a:ea typeface="+mn-ea"/>
                  <a:cs typeface="+mn-cs"/>
                </a:rPr>
                <a:t>特色型</a:t>
              </a:r>
            </a:p>
          </p:txBody>
        </p:sp>
        <p:sp>
          <p:nvSpPr>
            <p:cNvPr id="175" name="TextBox 175"/>
            <p:cNvSpPr txBox="1"/>
            <p:nvPr/>
          </p:nvSpPr>
          <p:spPr>
            <a:xfrm>
              <a:off x="9166822" y="3313986"/>
              <a:ext cx="58300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聚焦特色客群</a:t>
              </a:r>
            </a:p>
          </p:txBody>
        </p:sp>
        <p:sp>
          <p:nvSpPr>
            <p:cNvPr id="176" name="TextBox 176"/>
            <p:cNvSpPr txBox="1"/>
            <p:nvPr/>
          </p:nvSpPr>
          <p:spPr>
            <a:xfrm>
              <a:off x="9214612" y="3447336"/>
              <a:ext cx="48742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差异化经营</a:t>
              </a:r>
            </a:p>
          </p:txBody>
        </p:sp>
        <p:sp>
          <p:nvSpPr>
            <p:cNvPr id="177" name="Rectangle 177"/>
            <p:cNvSpPr/>
            <p:nvPr/>
          </p:nvSpPr>
          <p:spPr>
            <a:xfrm>
              <a:off x="10115550" y="2781300"/>
              <a:ext cx="1314450" cy="933450"/>
            </a:xfrm>
            <a:prstGeom prst="rect">
              <a:avLst/>
            </a:prstGeom>
            <a:solidFill>
              <a:srgbClr val="F7E9E7"/>
            </a:solidFill>
            <a:ln w="11430">
              <a:solidFill>
                <a:srgbClr val="E4AFA6"/>
              </a:solidFill>
            </a:ln>
          </p:spPr>
        </p:sp>
        <p:grpSp>
          <p:nvGrpSpPr>
            <p:cNvPr id="180" name="Group 180"/>
            <p:cNvGrpSpPr/>
            <p:nvPr/>
          </p:nvGrpSpPr>
          <p:grpSpPr>
            <a:xfrm>
              <a:off x="10670381" y="2893219"/>
              <a:ext cx="128588" cy="105085"/>
              <a:chOff x="10670381" y="2893219"/>
              <a:chExt cx="128588" cy="105085"/>
            </a:xfrm>
          </p:grpSpPr>
          <p:sp>
            <p:nvSpPr>
              <p:cNvPr id="178" name="Freeform 178"/>
              <p:cNvSpPr/>
              <p:nvPr/>
            </p:nvSpPr>
            <p:spPr>
              <a:xfrm>
                <a:off x="10670381" y="2893219"/>
                <a:ext cx="128588" cy="105085"/>
              </a:xfrm>
              <a:custGeom>
                <a:avLst/>
                <a:gdLst/>
                <a:ahLst/>
                <a:cxnLst/>
                <a:rect l="l" t="t" r="r" b="b"/>
                <a:pathLst>
                  <a:path w="128588" h="105085">
                    <a:moveTo>
                      <a:pt x="21431" y="0"/>
                    </a:moveTo>
                    <a:lnTo>
                      <a:pt x="107156" y="0"/>
                    </a:lnTo>
                    <a:lnTo>
                      <a:pt x="128588" y="35719"/>
                    </a:lnTo>
                    <a:lnTo>
                      <a:pt x="67866" y="103584"/>
                    </a:lnTo>
                    <a:cubicBezTo>
                      <a:pt x="66925" y="104544"/>
                      <a:pt x="65638" y="105085"/>
                      <a:pt x="64294" y="105085"/>
                    </a:cubicBezTo>
                    <a:cubicBezTo>
                      <a:pt x="62950" y="105085"/>
                      <a:pt x="61662" y="104544"/>
                      <a:pt x="60722" y="103584"/>
                    </a:cubicBezTo>
                    <a:lnTo>
                      <a:pt x="0" y="35719"/>
                    </a:lnTo>
                    <a:lnTo>
                      <a:pt x="21431" y="0"/>
                    </a:lnTo>
                  </a:path>
                </a:pathLst>
              </a:custGeom>
              <a:noFill/>
              <a:ln w="14288">
                <a:solidFill>
                  <a:srgbClr val="A52D12"/>
                </a:solidFill>
              </a:ln>
            </p:spPr>
          </p:sp>
          <p:sp>
            <p:nvSpPr>
              <p:cNvPr id="179" name="Freeform 179"/>
              <p:cNvSpPr/>
              <p:nvPr/>
            </p:nvSpPr>
            <p:spPr>
              <a:xfrm>
                <a:off x="10706100" y="2920365"/>
                <a:ext cx="14288" cy="22860"/>
              </a:xfrm>
              <a:custGeom>
                <a:avLst/>
                <a:gdLst/>
                <a:ahLst/>
                <a:cxnLst/>
                <a:rect l="l" t="t" r="r" b="b"/>
                <a:pathLst>
                  <a:path w="14288" h="22860">
                    <a:moveTo>
                      <a:pt x="14288" y="22860"/>
                    </a:moveTo>
                    <a:lnTo>
                      <a:pt x="0" y="7144"/>
                    </a:lnTo>
                    <a:lnTo>
                      <a:pt x="4286" y="0"/>
                    </a:lnTo>
                  </a:path>
                </a:pathLst>
              </a:custGeom>
              <a:noFill/>
              <a:ln w="14288">
                <a:solidFill>
                  <a:srgbClr val="A52D12"/>
                </a:solidFill>
              </a:ln>
            </p:spPr>
          </p:sp>
        </p:grpSp>
        <p:sp>
          <p:nvSpPr>
            <p:cNvPr id="181" name="TextBox 181"/>
            <p:cNvSpPr txBox="1"/>
            <p:nvPr/>
          </p:nvSpPr>
          <p:spPr>
            <a:xfrm>
              <a:off x="10578198" y="3099197"/>
              <a:ext cx="389153" cy="183356"/>
            </a:xfrm>
            <a:prstGeom prst="rect">
              <a:avLst/>
            </a:prstGeom>
            <a:noFill/>
            <a:ln>
              <a:noFill/>
            </a:ln>
          </p:spPr>
          <p:txBody>
            <a:bodyPr wrap="none" lIns="0" tIns="0" rIns="0" bIns="0" anchor="t" anchorCtr="0">
              <a:spAutoFit/>
            </a:bodyPr>
            <a:lstStyle/>
            <a:p>
              <a:pPr algn="ctr"/>
              <a:r>
                <a:rPr lang="zh-CN" sz="940" b="1" dirty="0">
                  <a:solidFill>
                    <a:srgbClr val="A52D12"/>
                  </a:solidFill>
                  <a:latin typeface="+mn-lt"/>
                  <a:ea typeface="+mn-ea"/>
                  <a:cs typeface="+mn-cs"/>
                </a:rPr>
                <a:t>旗舰型</a:t>
              </a:r>
            </a:p>
          </p:txBody>
        </p:sp>
        <p:sp>
          <p:nvSpPr>
            <p:cNvPr id="182" name="TextBox 182"/>
            <p:cNvSpPr txBox="1"/>
            <p:nvPr/>
          </p:nvSpPr>
          <p:spPr>
            <a:xfrm>
              <a:off x="10433482" y="3313986"/>
              <a:ext cx="67858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覆盖广、贡献高</a:t>
              </a:r>
            </a:p>
          </p:txBody>
        </p:sp>
        <p:sp>
          <p:nvSpPr>
            <p:cNvPr id="183" name="TextBox 183"/>
            <p:cNvSpPr txBox="1"/>
            <p:nvPr/>
          </p:nvSpPr>
          <p:spPr>
            <a:xfrm>
              <a:off x="10481272" y="3447336"/>
              <a:ext cx="58300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资源重点投入</a:t>
              </a:r>
            </a:p>
          </p:txBody>
        </p:sp>
        <p:sp>
          <p:nvSpPr>
            <p:cNvPr id="184" name="Rectangle 184"/>
            <p:cNvSpPr/>
            <p:nvPr/>
          </p:nvSpPr>
          <p:spPr>
            <a:xfrm>
              <a:off x="8801100" y="3714750"/>
              <a:ext cx="1314450" cy="933450"/>
            </a:xfrm>
            <a:prstGeom prst="rect">
              <a:avLst/>
            </a:prstGeom>
            <a:solidFill>
              <a:srgbClr val="FFFFFF"/>
            </a:solidFill>
            <a:ln w="9525">
              <a:solidFill>
                <a:srgbClr val="EDD5D2"/>
              </a:solidFill>
            </a:ln>
          </p:spPr>
        </p:sp>
        <p:sp>
          <p:nvSpPr>
            <p:cNvPr id="185" name="Freeform 185"/>
            <p:cNvSpPr/>
            <p:nvPr/>
          </p:nvSpPr>
          <p:spPr>
            <a:xfrm>
              <a:off x="9363075" y="3819525"/>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A52D12"/>
              </a:solidFill>
            </a:ln>
          </p:spPr>
        </p:sp>
        <p:sp>
          <p:nvSpPr>
            <p:cNvPr id="186" name="TextBox 186"/>
            <p:cNvSpPr txBox="1"/>
            <p:nvPr/>
          </p:nvSpPr>
          <p:spPr>
            <a:xfrm>
              <a:off x="9327020" y="4032647"/>
              <a:ext cx="262611" cy="183356"/>
            </a:xfrm>
            <a:prstGeom prst="rect">
              <a:avLst/>
            </a:prstGeom>
            <a:noFill/>
            <a:ln>
              <a:noFill/>
            </a:ln>
          </p:spPr>
          <p:txBody>
            <a:bodyPr wrap="none" lIns="0" tIns="0" rIns="0" bIns="0" anchor="t" anchorCtr="0">
              <a:spAutoFit/>
            </a:bodyPr>
            <a:lstStyle/>
            <a:p>
              <a:pPr algn="ctr"/>
              <a:r>
                <a:rPr lang="zh-CN" sz="940" b="1" dirty="0">
                  <a:solidFill>
                    <a:srgbClr val="1F1F1F"/>
                  </a:solidFill>
                  <a:latin typeface="+mn-lt"/>
                  <a:ea typeface="+mn-ea"/>
                  <a:cs typeface="+mn-cs"/>
                </a:rPr>
                <a:t>轻型</a:t>
              </a:r>
            </a:p>
          </p:txBody>
        </p:sp>
        <p:sp>
          <p:nvSpPr>
            <p:cNvPr id="187" name="TextBox 187"/>
            <p:cNvSpPr txBox="1"/>
            <p:nvPr/>
          </p:nvSpPr>
          <p:spPr>
            <a:xfrm>
              <a:off x="9071242" y="4247436"/>
              <a:ext cx="774167"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覆盖有限、贡献低</a:t>
              </a:r>
            </a:p>
          </p:txBody>
        </p:sp>
        <p:sp>
          <p:nvSpPr>
            <p:cNvPr id="188" name="TextBox 188"/>
            <p:cNvSpPr txBox="1"/>
            <p:nvPr/>
          </p:nvSpPr>
          <p:spPr>
            <a:xfrm>
              <a:off x="9214612" y="4380786"/>
              <a:ext cx="48742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轻量化运营</a:t>
              </a:r>
            </a:p>
          </p:txBody>
        </p:sp>
        <p:sp>
          <p:nvSpPr>
            <p:cNvPr id="189" name="Rectangle 189"/>
            <p:cNvSpPr/>
            <p:nvPr/>
          </p:nvSpPr>
          <p:spPr>
            <a:xfrm>
              <a:off x="10115550" y="3714750"/>
              <a:ext cx="1314450" cy="933450"/>
            </a:xfrm>
            <a:prstGeom prst="rect">
              <a:avLst/>
            </a:prstGeom>
            <a:solidFill>
              <a:srgbClr val="FFFFFF"/>
            </a:solidFill>
            <a:ln w="9525">
              <a:solidFill>
                <a:srgbClr val="EDD5D2"/>
              </a:solidFill>
            </a:ln>
          </p:spPr>
        </p:sp>
        <p:grpSp>
          <p:nvGrpSpPr>
            <p:cNvPr id="196" name="Group 196"/>
            <p:cNvGrpSpPr/>
            <p:nvPr/>
          </p:nvGrpSpPr>
          <p:grpSpPr>
            <a:xfrm>
              <a:off x="10670381" y="3812381"/>
              <a:ext cx="128588" cy="128588"/>
              <a:chOff x="10670381" y="3812381"/>
              <a:chExt cx="128588" cy="128588"/>
            </a:xfrm>
          </p:grpSpPr>
          <p:sp>
            <p:nvSpPr>
              <p:cNvPr id="190" name="Freeform 190"/>
              <p:cNvSpPr/>
              <p:nvPr/>
            </p:nvSpPr>
            <p:spPr>
              <a:xfrm>
                <a:off x="10720388" y="38695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52D12"/>
                </a:solidFill>
              </a:ln>
            </p:spPr>
          </p:sp>
          <p:sp>
            <p:nvSpPr>
              <p:cNvPr id="191" name="Freeform 191"/>
              <p:cNvSpPr/>
              <p:nvPr/>
            </p:nvSpPr>
            <p:spPr>
              <a:xfrm>
                <a:off x="10706100" y="391953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A52D12"/>
                </a:solidFill>
              </a:ln>
            </p:spPr>
          </p:sp>
          <p:sp>
            <p:nvSpPr>
              <p:cNvPr id="192" name="Freeform 192"/>
              <p:cNvSpPr/>
              <p:nvPr/>
            </p:nvSpPr>
            <p:spPr>
              <a:xfrm>
                <a:off x="10756106" y="38123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52D12"/>
                </a:solidFill>
              </a:ln>
            </p:spPr>
          </p:sp>
          <p:sp>
            <p:nvSpPr>
              <p:cNvPr id="193" name="Freeform 193"/>
              <p:cNvSpPr/>
              <p:nvPr/>
            </p:nvSpPr>
            <p:spPr>
              <a:xfrm>
                <a:off x="10770394" y="386238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A52D12"/>
                </a:solidFill>
              </a:ln>
            </p:spPr>
          </p:sp>
          <p:sp>
            <p:nvSpPr>
              <p:cNvPr id="194" name="Freeform 194"/>
              <p:cNvSpPr/>
              <p:nvPr/>
            </p:nvSpPr>
            <p:spPr>
              <a:xfrm>
                <a:off x="10684669" y="38123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A52D12"/>
                </a:solidFill>
              </a:ln>
            </p:spPr>
          </p:sp>
          <p:sp>
            <p:nvSpPr>
              <p:cNvPr id="195" name="Freeform 195"/>
              <p:cNvSpPr/>
              <p:nvPr/>
            </p:nvSpPr>
            <p:spPr>
              <a:xfrm>
                <a:off x="10670381" y="386238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A52D12"/>
                </a:solidFill>
              </a:ln>
            </p:spPr>
          </p:sp>
        </p:grpSp>
        <p:sp>
          <p:nvSpPr>
            <p:cNvPr id="197" name="TextBox 197"/>
            <p:cNvSpPr txBox="1"/>
            <p:nvPr/>
          </p:nvSpPr>
          <p:spPr>
            <a:xfrm>
              <a:off x="10578198" y="4032647"/>
              <a:ext cx="389153" cy="183356"/>
            </a:xfrm>
            <a:prstGeom prst="rect">
              <a:avLst/>
            </a:prstGeom>
            <a:noFill/>
            <a:ln>
              <a:noFill/>
            </a:ln>
          </p:spPr>
          <p:txBody>
            <a:bodyPr wrap="none" lIns="0" tIns="0" rIns="0" bIns="0" anchor="t" anchorCtr="0">
              <a:spAutoFit/>
            </a:bodyPr>
            <a:lstStyle/>
            <a:p>
              <a:pPr algn="ctr"/>
              <a:r>
                <a:rPr lang="zh-CN" sz="940" b="1" dirty="0">
                  <a:solidFill>
                    <a:srgbClr val="1F1F1F"/>
                  </a:solidFill>
                  <a:latin typeface="+mn-lt"/>
                  <a:ea typeface="+mn-ea"/>
                  <a:cs typeface="+mn-cs"/>
                </a:rPr>
                <a:t>综合型</a:t>
              </a:r>
            </a:p>
          </p:txBody>
        </p:sp>
        <p:sp>
          <p:nvSpPr>
            <p:cNvPr id="198" name="TextBox 198"/>
            <p:cNvSpPr txBox="1"/>
            <p:nvPr/>
          </p:nvSpPr>
          <p:spPr>
            <a:xfrm>
              <a:off x="10385692" y="4247436"/>
              <a:ext cx="774167"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覆盖广、贡献中等</a:t>
              </a:r>
            </a:p>
          </p:txBody>
        </p:sp>
        <p:sp>
          <p:nvSpPr>
            <p:cNvPr id="199" name="TextBox 199"/>
            <p:cNvSpPr txBox="1"/>
            <p:nvPr/>
          </p:nvSpPr>
          <p:spPr>
            <a:xfrm>
              <a:off x="10481272" y="4380786"/>
              <a:ext cx="583006" cy="140494"/>
            </a:xfrm>
            <a:prstGeom prst="rect">
              <a:avLst/>
            </a:prstGeom>
            <a:noFill/>
            <a:ln>
              <a:noFill/>
            </a:ln>
          </p:spPr>
          <p:txBody>
            <a:bodyPr wrap="none" lIns="0" tIns="0" rIns="0" bIns="0" anchor="t" anchorCtr="0">
              <a:spAutoFit/>
            </a:bodyPr>
            <a:lstStyle/>
            <a:p>
              <a:pPr algn="ctr"/>
              <a:r>
                <a:rPr lang="zh-CN" sz="710" dirty="0">
                  <a:solidFill>
                    <a:srgbClr val="6B6B6B"/>
                  </a:solidFill>
                  <a:latin typeface="+mn-lt"/>
                  <a:ea typeface="+mn-ea"/>
                  <a:cs typeface="+mn-cs"/>
                </a:rPr>
                <a:t>持续优化提升</a:t>
              </a:r>
            </a:p>
          </p:txBody>
        </p:sp>
        <p:sp>
          <p:nvSpPr>
            <p:cNvPr id="200" name="TextBox 200"/>
            <p:cNvSpPr txBox="1"/>
            <p:nvPr/>
          </p:nvSpPr>
          <p:spPr>
            <a:xfrm>
              <a:off x="9400388" y="4867989"/>
              <a:ext cx="115875" cy="154781"/>
            </a:xfrm>
            <a:prstGeom prst="rect">
              <a:avLst/>
            </a:prstGeom>
            <a:noFill/>
            <a:ln>
              <a:noFill/>
            </a:ln>
          </p:spPr>
          <p:txBody>
            <a:bodyPr wrap="none" lIns="0" tIns="0" rIns="0" bIns="0" anchor="t" anchorCtr="0">
              <a:spAutoFit/>
            </a:bodyPr>
            <a:lstStyle/>
            <a:p>
              <a:pPr algn="ctr"/>
              <a:r>
                <a:rPr lang="zh-CN" sz="790" dirty="0">
                  <a:solidFill>
                    <a:srgbClr val="8A8A8A"/>
                  </a:solidFill>
                  <a:latin typeface="+mn-lt"/>
                  <a:ea typeface="+mn-ea"/>
                  <a:cs typeface="+mn-cs"/>
                </a:rPr>
                <a:t>低</a:t>
              </a:r>
            </a:p>
          </p:txBody>
        </p:sp>
        <p:sp>
          <p:nvSpPr>
            <p:cNvPr id="201" name="TextBox 201"/>
            <p:cNvSpPr txBox="1"/>
            <p:nvPr/>
          </p:nvSpPr>
          <p:spPr>
            <a:xfrm>
              <a:off x="10714838" y="4867989"/>
              <a:ext cx="115875" cy="154781"/>
            </a:xfrm>
            <a:prstGeom prst="rect">
              <a:avLst/>
            </a:prstGeom>
            <a:noFill/>
            <a:ln>
              <a:noFill/>
            </a:ln>
          </p:spPr>
          <p:txBody>
            <a:bodyPr wrap="none" lIns="0" tIns="0" rIns="0" bIns="0" anchor="t" anchorCtr="0">
              <a:spAutoFit/>
            </a:bodyPr>
            <a:lstStyle/>
            <a:p>
              <a:pPr algn="ctr"/>
              <a:r>
                <a:rPr lang="zh-CN" sz="790" dirty="0">
                  <a:solidFill>
                    <a:srgbClr val="8A8A8A"/>
                  </a:solidFill>
                  <a:latin typeface="+mn-lt"/>
                  <a:ea typeface="+mn-ea"/>
                  <a:cs typeface="+mn-cs"/>
                </a:rPr>
                <a:t>高</a:t>
              </a:r>
            </a:p>
          </p:txBody>
        </p:sp>
        <p:sp>
          <p:nvSpPr>
            <p:cNvPr id="202" name="TextBox 202"/>
            <p:cNvSpPr txBox="1"/>
            <p:nvPr/>
          </p:nvSpPr>
          <p:spPr>
            <a:xfrm>
              <a:off x="9834816" y="5016341"/>
              <a:ext cx="561467"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客户覆盖度</a:t>
              </a:r>
            </a:p>
          </p:txBody>
        </p:sp>
        <p:sp>
          <p:nvSpPr>
            <p:cNvPr id="203" name="TextBox 203"/>
            <p:cNvSpPr txBox="1"/>
            <p:nvPr/>
          </p:nvSpPr>
          <p:spPr>
            <a:xfrm rot="-5400000">
              <a:off x="8131270" y="3690938"/>
              <a:ext cx="561467" cy="161925"/>
            </a:xfrm>
            <a:prstGeom prst="rect">
              <a:avLst/>
            </a:prstGeom>
            <a:noFill/>
            <a:ln>
              <a:noFill/>
            </a:ln>
          </p:spPr>
          <p:txBody>
            <a:bodyPr wrap="none" lIns="0" tIns="0" rIns="0" bIns="0" anchor="t" anchorCtr="0">
              <a:spAutoFit/>
            </a:bodyPr>
            <a:lstStyle/>
            <a:p>
              <a:pPr algn="ctr"/>
              <a:r>
                <a:rPr lang="zh-CN" sz="820" dirty="0">
                  <a:solidFill>
                    <a:srgbClr val="555555"/>
                  </a:solidFill>
                  <a:latin typeface="+mn-lt"/>
                  <a:ea typeface="+mn-ea"/>
                  <a:cs typeface="+mn-cs"/>
                </a:rPr>
                <a:t>价值贡献度</a:t>
              </a:r>
            </a:p>
          </p:txBody>
        </p:sp>
      </p:grpSp>
      <p:grpSp>
        <p:nvGrpSpPr>
          <p:cNvPr id="231" name="bottom-points"/>
          <p:cNvGrpSpPr/>
          <p:nvPr/>
        </p:nvGrpSpPr>
        <p:grpSpPr>
          <a:xfrm>
            <a:off x="381000" y="5734050"/>
            <a:ext cx="11430000" cy="723900"/>
            <a:chOff x="381000" y="5734050"/>
            <a:chExt cx="11430000" cy="723900"/>
          </a:xfrm>
        </p:grpSpPr>
        <p:sp>
          <p:nvSpPr>
            <p:cNvPr id="205" name="Rectangle 205"/>
            <p:cNvSpPr/>
            <p:nvPr/>
          </p:nvSpPr>
          <p:spPr>
            <a:xfrm>
              <a:off x="381000" y="5734050"/>
              <a:ext cx="11430000" cy="723900"/>
            </a:xfrm>
            <a:prstGeom prst="roundRect">
              <a:avLst>
                <a:gd name="adj" fmla="val 13158"/>
              </a:avLst>
            </a:prstGeom>
            <a:solidFill>
              <a:srgbClr val="FBEFEE"/>
            </a:solidFill>
            <a:ln w="9525">
              <a:solidFill>
                <a:srgbClr val="EDD5D2"/>
              </a:solidFill>
            </a:ln>
          </p:spPr>
        </p:sp>
        <p:sp>
          <p:nvSpPr>
            <p:cNvPr id="206" name="Ellipse 206"/>
            <p:cNvSpPr/>
            <p:nvPr/>
          </p:nvSpPr>
          <p:spPr>
            <a:xfrm>
              <a:off x="704850" y="5886450"/>
              <a:ext cx="419100" cy="419100"/>
            </a:xfrm>
            <a:prstGeom prst="ellipse">
              <a:avLst/>
            </a:prstGeom>
            <a:solidFill>
              <a:srgbClr val="A52D12"/>
            </a:solidFill>
            <a:ln>
              <a:noFill/>
            </a:ln>
          </p:spPr>
        </p:sp>
        <p:grpSp>
          <p:nvGrpSpPr>
            <p:cNvPr id="209" name="Group 209"/>
            <p:cNvGrpSpPr/>
            <p:nvPr/>
          </p:nvGrpSpPr>
          <p:grpSpPr>
            <a:xfrm>
              <a:off x="828675" y="6048375"/>
              <a:ext cx="171450" cy="95250"/>
              <a:chOff x="828675" y="6048375"/>
              <a:chExt cx="171450" cy="95250"/>
            </a:xfrm>
          </p:grpSpPr>
          <p:sp>
            <p:nvSpPr>
              <p:cNvPr id="207" name="Freeform 207"/>
              <p:cNvSpPr/>
              <p:nvPr/>
            </p:nvSpPr>
            <p:spPr>
              <a:xfrm>
                <a:off x="828675" y="604837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FFFFFF"/>
                </a:solidFill>
              </a:ln>
            </p:spPr>
          </p:sp>
          <p:sp>
            <p:nvSpPr>
              <p:cNvPr id="208" name="Freeform 208"/>
              <p:cNvSpPr/>
              <p:nvPr/>
            </p:nvSpPr>
            <p:spPr>
              <a:xfrm>
                <a:off x="933450" y="6048375"/>
                <a:ext cx="66675" cy="66675"/>
              </a:xfrm>
              <a:custGeom>
                <a:avLst/>
                <a:gdLst/>
                <a:ahLst/>
                <a:cxnLst/>
                <a:rect l="l" t="t" r="r" b="b"/>
                <a:pathLst>
                  <a:path w="66675" h="66675">
                    <a:moveTo>
                      <a:pt x="0" y="0"/>
                    </a:moveTo>
                    <a:lnTo>
                      <a:pt x="66675" y="0"/>
                    </a:lnTo>
                    <a:lnTo>
                      <a:pt x="66675" y="66675"/>
                    </a:lnTo>
                  </a:path>
                </a:pathLst>
              </a:custGeom>
              <a:noFill/>
              <a:ln w="19050">
                <a:solidFill>
                  <a:srgbClr val="FFFFFF"/>
                </a:solidFill>
              </a:ln>
            </p:spPr>
          </p:sp>
        </p:grpSp>
        <p:sp>
          <p:nvSpPr>
            <p:cNvPr id="210" name="TextBox 210"/>
            <p:cNvSpPr txBox="1"/>
            <p:nvPr/>
          </p:nvSpPr>
          <p:spPr>
            <a:xfrm>
              <a:off x="1252156" y="592955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效率提升</a:t>
              </a:r>
            </a:p>
          </p:txBody>
        </p:sp>
        <p:sp>
          <p:nvSpPr>
            <p:cNvPr id="211" name="TextBox 211"/>
            <p:cNvSpPr txBox="1"/>
            <p:nvPr/>
          </p:nvSpPr>
          <p:spPr>
            <a:xfrm>
              <a:off x="1252538" y="6144339"/>
              <a:ext cx="2136521"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流程再造与智能赋能，全行运营效率显著提升</a:t>
              </a:r>
            </a:p>
          </p:txBody>
        </p:sp>
        <p:sp>
          <p:nvSpPr>
            <p:cNvPr id="212" name="Line 212"/>
            <p:cNvSpPr/>
            <p:nvPr/>
          </p:nvSpPr>
          <p:spPr>
            <a:xfrm>
              <a:off x="4381500" y="5829300"/>
              <a:ext cx="9525" cy="533400"/>
            </a:xfrm>
            <a:custGeom>
              <a:avLst/>
              <a:gdLst/>
              <a:ahLst/>
              <a:cxnLst/>
              <a:rect l="l" t="t" r="r" b="b"/>
              <a:pathLst>
                <a:path w="9525" h="533400">
                  <a:moveTo>
                    <a:pt x="0" y="0"/>
                  </a:moveTo>
                  <a:lnTo>
                    <a:pt x="0" y="533400"/>
                  </a:lnTo>
                </a:path>
              </a:pathLst>
            </a:custGeom>
            <a:noFill/>
            <a:ln w="9525">
              <a:solidFill>
                <a:srgbClr val="EDD5D2"/>
              </a:solidFill>
            </a:ln>
          </p:spPr>
        </p:sp>
        <p:sp>
          <p:nvSpPr>
            <p:cNvPr id="213" name="Ellipse 213"/>
            <p:cNvSpPr/>
            <p:nvPr/>
          </p:nvSpPr>
          <p:spPr>
            <a:xfrm>
              <a:off x="4743450" y="5886450"/>
              <a:ext cx="419100" cy="419100"/>
            </a:xfrm>
            <a:prstGeom prst="ellipse">
              <a:avLst/>
            </a:prstGeom>
            <a:solidFill>
              <a:srgbClr val="A52D12"/>
            </a:solidFill>
            <a:ln>
              <a:noFill/>
            </a:ln>
          </p:spPr>
        </p:sp>
        <p:grpSp>
          <p:nvGrpSpPr>
            <p:cNvPr id="218" name="Group 218"/>
            <p:cNvGrpSpPr/>
            <p:nvPr/>
          </p:nvGrpSpPr>
          <p:grpSpPr>
            <a:xfrm>
              <a:off x="4867275" y="6010275"/>
              <a:ext cx="171450" cy="171450"/>
              <a:chOff x="4867275" y="6010275"/>
              <a:chExt cx="171450" cy="171450"/>
            </a:xfrm>
          </p:grpSpPr>
          <p:sp>
            <p:nvSpPr>
              <p:cNvPr id="214" name="Freeform 214"/>
              <p:cNvSpPr/>
              <p:nvPr/>
            </p:nvSpPr>
            <p:spPr>
              <a:xfrm>
                <a:off x="4886325" y="60102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215" name="Freeform 215"/>
              <p:cNvSpPr/>
              <p:nvPr/>
            </p:nvSpPr>
            <p:spPr>
              <a:xfrm>
                <a:off x="4867275" y="61245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FFFFFF"/>
                </a:solidFill>
              </a:ln>
            </p:spPr>
          </p:sp>
          <p:sp>
            <p:nvSpPr>
              <p:cNvPr id="216" name="Freeform 216"/>
              <p:cNvSpPr/>
              <p:nvPr/>
            </p:nvSpPr>
            <p:spPr>
              <a:xfrm>
                <a:off x="4991100" y="60115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FFFFFF"/>
                </a:solidFill>
              </a:ln>
            </p:spPr>
          </p:sp>
          <p:sp>
            <p:nvSpPr>
              <p:cNvPr id="217" name="Freeform 217"/>
              <p:cNvSpPr/>
              <p:nvPr/>
            </p:nvSpPr>
            <p:spPr>
              <a:xfrm>
                <a:off x="5010150" y="61260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FFFFFF"/>
                </a:solidFill>
              </a:ln>
            </p:spPr>
          </p:sp>
        </p:grpSp>
        <p:sp>
          <p:nvSpPr>
            <p:cNvPr id="219" name="TextBox 219"/>
            <p:cNvSpPr txBox="1"/>
            <p:nvPr/>
          </p:nvSpPr>
          <p:spPr>
            <a:xfrm>
              <a:off x="5290756" y="592955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体验改善</a:t>
              </a:r>
            </a:p>
          </p:txBody>
        </p:sp>
        <p:sp>
          <p:nvSpPr>
            <p:cNvPr id="220" name="TextBox 220"/>
            <p:cNvSpPr txBox="1"/>
            <p:nvPr/>
          </p:nvSpPr>
          <p:spPr>
            <a:xfrm>
              <a:off x="5291138" y="6144339"/>
              <a:ext cx="1817472"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减少客户等待，提供便捷、个性化服务</a:t>
              </a:r>
            </a:p>
          </p:txBody>
        </p:sp>
        <p:sp>
          <p:nvSpPr>
            <p:cNvPr id="221" name="Line 221"/>
            <p:cNvSpPr/>
            <p:nvPr/>
          </p:nvSpPr>
          <p:spPr>
            <a:xfrm>
              <a:off x="8191500" y="5829300"/>
              <a:ext cx="9525" cy="533400"/>
            </a:xfrm>
            <a:custGeom>
              <a:avLst/>
              <a:gdLst/>
              <a:ahLst/>
              <a:cxnLst/>
              <a:rect l="l" t="t" r="r" b="b"/>
              <a:pathLst>
                <a:path w="9525" h="533400">
                  <a:moveTo>
                    <a:pt x="0" y="0"/>
                  </a:moveTo>
                  <a:lnTo>
                    <a:pt x="0" y="533400"/>
                  </a:lnTo>
                </a:path>
              </a:pathLst>
            </a:custGeom>
            <a:noFill/>
            <a:ln w="9525">
              <a:solidFill>
                <a:srgbClr val="EDD5D2"/>
              </a:solidFill>
            </a:ln>
          </p:spPr>
        </p:sp>
        <p:sp>
          <p:nvSpPr>
            <p:cNvPr id="222" name="Ellipse 222"/>
            <p:cNvSpPr/>
            <p:nvPr/>
          </p:nvSpPr>
          <p:spPr>
            <a:xfrm>
              <a:off x="8553450" y="5886450"/>
              <a:ext cx="419100" cy="419100"/>
            </a:xfrm>
            <a:prstGeom prst="ellipse">
              <a:avLst/>
            </a:prstGeom>
            <a:solidFill>
              <a:srgbClr val="A52D12"/>
            </a:solidFill>
            <a:ln>
              <a:noFill/>
            </a:ln>
          </p:spPr>
        </p:sp>
        <p:grpSp>
          <p:nvGrpSpPr>
            <p:cNvPr id="228" name="Group 228"/>
            <p:cNvGrpSpPr/>
            <p:nvPr/>
          </p:nvGrpSpPr>
          <p:grpSpPr>
            <a:xfrm>
              <a:off x="8677275" y="6008999"/>
              <a:ext cx="171450" cy="172726"/>
              <a:chOff x="8677275" y="6008999"/>
              <a:chExt cx="171450" cy="172726"/>
            </a:xfrm>
          </p:grpSpPr>
          <p:sp>
            <p:nvSpPr>
              <p:cNvPr id="223" name="Freeform 223"/>
              <p:cNvSpPr/>
              <p:nvPr/>
            </p:nvSpPr>
            <p:spPr>
              <a:xfrm>
                <a:off x="8734425" y="608647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FFFFFF"/>
                </a:solidFill>
              </a:ln>
            </p:spPr>
          </p:sp>
          <p:sp>
            <p:nvSpPr>
              <p:cNvPr id="224" name="Freeform 224"/>
              <p:cNvSpPr/>
              <p:nvPr/>
            </p:nvSpPr>
            <p:spPr>
              <a:xfrm>
                <a:off x="8734425" y="611505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FFFFFF"/>
                </a:solidFill>
              </a:ln>
            </p:spPr>
          </p:sp>
          <p:sp>
            <p:nvSpPr>
              <p:cNvPr id="225" name="Freeform 225"/>
              <p:cNvSpPr/>
              <p:nvPr/>
            </p:nvSpPr>
            <p:spPr>
              <a:xfrm>
                <a:off x="8677275" y="600899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FFFFFF"/>
                </a:solidFill>
              </a:ln>
            </p:spPr>
          </p:sp>
          <p:sp>
            <p:nvSpPr>
              <p:cNvPr id="226" name="Freeform 226"/>
              <p:cNvSpPr/>
              <p:nvPr/>
            </p:nvSpPr>
            <p:spPr>
              <a:xfrm>
                <a:off x="8677275" y="603885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FFFFFF"/>
                </a:solidFill>
              </a:ln>
            </p:spPr>
          </p:sp>
          <p:sp>
            <p:nvSpPr>
              <p:cNvPr id="227" name="Freeform 227"/>
              <p:cNvSpPr/>
              <p:nvPr/>
            </p:nvSpPr>
            <p:spPr>
              <a:xfrm>
                <a:off x="8677275" y="608647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FFFFFF"/>
                </a:solidFill>
              </a:ln>
            </p:spPr>
          </p:sp>
        </p:grpSp>
        <p:sp>
          <p:nvSpPr>
            <p:cNvPr id="229" name="TextBox 229"/>
            <p:cNvSpPr txBox="1"/>
            <p:nvPr/>
          </p:nvSpPr>
          <p:spPr>
            <a:xfrm>
              <a:off x="9100756" y="5929551"/>
              <a:ext cx="554152" cy="198025"/>
            </a:xfrm>
            <a:prstGeom prst="rect">
              <a:avLst/>
            </a:prstGeom>
            <a:noFill/>
            <a:ln>
              <a:noFill/>
            </a:ln>
          </p:spPr>
          <p:txBody>
            <a:bodyPr wrap="none" lIns="0" tIns="0" rIns="0" bIns="0" anchor="t" anchorCtr="0">
              <a:spAutoFit/>
            </a:bodyPr>
            <a:lstStyle/>
            <a:p>
              <a:pPr algn="l"/>
              <a:r>
                <a:rPr lang="zh-CN" sz="1010" b="1" dirty="0">
                  <a:solidFill>
                    <a:srgbClr val="A52D12"/>
                  </a:solidFill>
                  <a:latin typeface="+mn-lt"/>
                  <a:ea typeface="+mn-ea"/>
                  <a:cs typeface="+mn-cs"/>
                </a:rPr>
                <a:t>成本下降</a:t>
              </a:r>
            </a:p>
          </p:txBody>
        </p:sp>
        <p:sp>
          <p:nvSpPr>
            <p:cNvPr id="230" name="TextBox 230"/>
            <p:cNvSpPr txBox="1"/>
            <p:nvPr/>
          </p:nvSpPr>
          <p:spPr>
            <a:xfrm>
              <a:off x="9101138" y="6144339"/>
              <a:ext cx="2242871" cy="154781"/>
            </a:xfrm>
            <a:prstGeom prst="rect">
              <a:avLst/>
            </a:prstGeom>
            <a:noFill/>
            <a:ln>
              <a:noFill/>
            </a:ln>
          </p:spPr>
          <p:txBody>
            <a:bodyPr wrap="none" lIns="0" tIns="0" rIns="0" bIns="0" anchor="t" anchorCtr="0">
              <a:spAutoFit/>
            </a:bodyPr>
            <a:lstStyle/>
            <a:p>
              <a:pPr algn="l"/>
              <a:r>
                <a:rPr lang="zh-CN" sz="790" dirty="0">
                  <a:solidFill>
                    <a:srgbClr val="555555"/>
                  </a:solidFill>
                  <a:latin typeface="+mn-lt"/>
                  <a:ea typeface="+mn-ea"/>
                  <a:cs typeface="+mn-cs"/>
                </a:rPr>
                <a:t>集约化作业与资源优化配置，运营成本持续下降</a:t>
              </a:r>
            </a:p>
          </p:txBody>
        </p:sp>
      </p:gr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12​</a:t>
              </a:r>
            </a:p>
          </p:txBody>
        </p:sp>
        <p:sp>
          <p:nvSpPr>
            <p:cNvPr id="4" name="TextBox 4"/>
            <p:cNvSpPr txBox="1"/>
            <p:nvPr/>
          </p:nvSpPr>
          <p:spPr>
            <a:xfrm>
              <a:off x="942594" y="189548"/>
              <a:ext cx="7508748"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坚持底线思维，构建覆盖</a:t>
              </a:r>
              <a:r>
                <a:rPr lang="zh-CN" sz="1950" b="1" dirty="0">
                  <a:solidFill>
                    <a:srgbClr val="A52D12"/>
                  </a:solidFill>
                  <a:latin typeface="SimSun"/>
                  <a:ea typeface="SimSun"/>
                  <a:cs typeface="SimSun"/>
                </a:rPr>
                <a:t>全流程、全机构、全风险</a:t>
              </a:r>
              <a:r>
                <a:rPr lang="zh-CN" sz="1950" b="1" dirty="0">
                  <a:solidFill>
                    <a:srgbClr val="1F1F1F"/>
                  </a:solidFill>
                  <a:latin typeface="SimSun"/>
                  <a:ea typeface="SimSun"/>
                  <a:cs typeface="SimSun"/>
                </a:rPr>
                <a:t>的防控体系</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14" name="lead"/>
          <p:cNvGrpSpPr/>
          <p:nvPr/>
        </p:nvGrpSpPr>
        <p:grpSpPr>
          <a:xfrm>
            <a:off x="419100" y="698897"/>
            <a:ext cx="7022933" cy="373856"/>
            <a:chOff x="419100" y="698897"/>
            <a:chExt cx="7022933" cy="373856"/>
          </a:xfrm>
        </p:grpSpPr>
        <p:sp>
          <p:nvSpPr>
            <p:cNvPr id="7" name="Ellipse 7"/>
            <p:cNvSpPr/>
            <p:nvPr/>
          </p:nvSpPr>
          <p:spPr>
            <a:xfrm>
              <a:off x="419100" y="704850"/>
              <a:ext cx="266700" cy="266700"/>
            </a:xfrm>
            <a:prstGeom prst="ellipse">
              <a:avLst/>
            </a:prstGeom>
            <a:solidFill>
              <a:srgbClr val="A52D12"/>
            </a:solidFill>
            <a:ln>
              <a:noFill/>
            </a:ln>
          </p:spPr>
        </p:sp>
        <p:grpSp>
          <p:nvGrpSpPr>
            <p:cNvPr id="11" name="Group 11"/>
            <p:cNvGrpSpPr/>
            <p:nvPr/>
          </p:nvGrpSpPr>
          <p:grpSpPr>
            <a:xfrm>
              <a:off x="495300" y="781050"/>
              <a:ext cx="114300" cy="114300"/>
              <a:chOff x="495300" y="781050"/>
              <a:chExt cx="114300" cy="114300"/>
            </a:xfrm>
          </p:grpSpPr>
          <p:sp>
            <p:nvSpPr>
              <p:cNvPr id="8" name="Freeform 8"/>
              <p:cNvSpPr/>
              <p:nvPr/>
            </p:nvSpPr>
            <p:spPr>
              <a:xfrm>
                <a:off x="495300" y="78105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FFFFFF"/>
                </a:solidFill>
              </a:ln>
            </p:spPr>
          </p:sp>
          <p:sp>
            <p:nvSpPr>
              <p:cNvPr id="9" name="Freeform 9"/>
              <p:cNvSpPr/>
              <p:nvPr/>
            </p:nvSpPr>
            <p:spPr>
              <a:xfrm>
                <a:off x="518008" y="80645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FFFFFF"/>
                </a:solidFill>
              </a:ln>
            </p:spPr>
          </p:sp>
          <p:sp>
            <p:nvSpPr>
              <p:cNvPr id="10" name="Freeform 10"/>
              <p:cNvSpPr/>
              <p:nvPr/>
            </p:nvSpPr>
            <p:spPr>
              <a:xfrm>
                <a:off x="537845" y="869950"/>
                <a:ext cx="29210" cy="9525"/>
              </a:xfrm>
              <a:custGeom>
                <a:avLst/>
                <a:gdLst/>
                <a:ahLst/>
                <a:cxnLst/>
                <a:rect l="l" t="t" r="r" b="b"/>
                <a:pathLst>
                  <a:path w="29210" h="9525">
                    <a:moveTo>
                      <a:pt x="0" y="0"/>
                    </a:moveTo>
                    <a:lnTo>
                      <a:pt x="29210" y="0"/>
                    </a:lnTo>
                  </a:path>
                </a:pathLst>
              </a:custGeom>
              <a:noFill/>
              <a:ln w="12700">
                <a:solidFill>
                  <a:srgbClr val="FFFFFF"/>
                </a:solidFill>
              </a:ln>
            </p:spPr>
          </p:sp>
        </p:grpSp>
        <p:sp>
          <p:nvSpPr>
            <p:cNvPr id="12" name="TextBox 12"/>
            <p:cNvSpPr txBox="1"/>
            <p:nvPr/>
          </p:nvSpPr>
          <p:spPr>
            <a:xfrm>
              <a:off x="795338" y="698897"/>
              <a:ext cx="6646695"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不良贷款率1.08%（-0.06个百分点）；拨备覆盖率218%（+9个百分点）；关注类贷款率1.62%（-0.12个百分点）；​</a:t>
              </a:r>
            </a:p>
          </p:txBody>
        </p:sp>
        <p:sp>
          <p:nvSpPr>
            <p:cNvPr id="13" name="TextBox 13"/>
            <p:cNvSpPr txBox="1"/>
            <p:nvPr/>
          </p:nvSpPr>
          <p:spPr>
            <a:xfrm>
              <a:off x="795338" y="889397"/>
              <a:ext cx="3565378"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不良处置额38.6亿元（同比+18.4%）；智能预警命中率76%。​</a:t>
              </a:r>
            </a:p>
          </p:txBody>
        </p:sp>
      </p:grpSp>
      <p:grpSp>
        <p:nvGrpSpPr>
          <p:cNvPr id="62" name="kpi-cards"/>
          <p:cNvGrpSpPr/>
          <p:nvPr/>
        </p:nvGrpSpPr>
        <p:grpSpPr>
          <a:xfrm>
            <a:off x="381000" y="1143000"/>
            <a:ext cx="11410950" cy="971550"/>
            <a:chOff x="381000" y="1143000"/>
            <a:chExt cx="11410950" cy="971550"/>
          </a:xfrm>
        </p:grpSpPr>
        <p:sp>
          <p:nvSpPr>
            <p:cNvPr id="15" name="Rectangle 15"/>
            <p:cNvSpPr/>
            <p:nvPr/>
          </p:nvSpPr>
          <p:spPr>
            <a:xfrm>
              <a:off x="381000" y="1143000"/>
              <a:ext cx="2190750" cy="971550"/>
            </a:xfrm>
            <a:prstGeom prst="roundRect">
              <a:avLst>
                <a:gd name="adj" fmla="val 7843"/>
              </a:avLst>
            </a:prstGeom>
            <a:solidFill>
              <a:srgbClr val="FDF6F5"/>
            </a:solidFill>
            <a:ln w="9525">
              <a:solidFill>
                <a:srgbClr val="EDD5D2"/>
              </a:solidFill>
            </a:ln>
          </p:spPr>
        </p:sp>
        <p:sp>
          <p:nvSpPr>
            <p:cNvPr id="16" name="Ellipse 16"/>
            <p:cNvSpPr/>
            <p:nvPr/>
          </p:nvSpPr>
          <p:spPr>
            <a:xfrm>
              <a:off x="552450" y="1276350"/>
              <a:ext cx="266700" cy="266700"/>
            </a:xfrm>
            <a:prstGeom prst="ellipse">
              <a:avLst/>
            </a:prstGeom>
            <a:solidFill>
              <a:srgbClr val="F7E9E7"/>
            </a:solidFill>
            <a:ln>
              <a:noFill/>
            </a:ln>
          </p:spPr>
        </p:sp>
        <p:grpSp>
          <p:nvGrpSpPr>
            <p:cNvPr id="21" name="Group 21"/>
            <p:cNvGrpSpPr/>
            <p:nvPr/>
          </p:nvGrpSpPr>
          <p:grpSpPr>
            <a:xfrm>
              <a:off x="628650" y="1358900"/>
              <a:ext cx="114300" cy="111125"/>
              <a:chOff x="628650" y="1358900"/>
              <a:chExt cx="114300" cy="111125"/>
            </a:xfrm>
          </p:grpSpPr>
          <p:sp>
            <p:nvSpPr>
              <p:cNvPr id="17" name="Freeform 17"/>
              <p:cNvSpPr/>
              <p:nvPr/>
            </p:nvSpPr>
            <p:spPr>
              <a:xfrm>
                <a:off x="628650" y="14097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A52D12"/>
                </a:solidFill>
              </a:ln>
            </p:spPr>
          </p:sp>
          <p:sp>
            <p:nvSpPr>
              <p:cNvPr id="18" name="Freeform 18"/>
              <p:cNvSpPr/>
              <p:nvPr/>
            </p:nvSpPr>
            <p:spPr>
              <a:xfrm>
                <a:off x="704850" y="13843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A52D12"/>
                </a:solidFill>
              </a:ln>
            </p:spPr>
          </p:sp>
          <p:sp>
            <p:nvSpPr>
              <p:cNvPr id="19" name="Freeform 19"/>
              <p:cNvSpPr/>
              <p:nvPr/>
            </p:nvSpPr>
            <p:spPr>
              <a:xfrm>
                <a:off x="666750" y="13589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A52D12"/>
                </a:solidFill>
              </a:ln>
            </p:spPr>
          </p:sp>
          <p:sp>
            <p:nvSpPr>
              <p:cNvPr id="20" name="Freeform 20"/>
              <p:cNvSpPr/>
              <p:nvPr/>
            </p:nvSpPr>
            <p:spPr>
              <a:xfrm>
                <a:off x="635000" y="1460500"/>
                <a:ext cx="88900" cy="9525"/>
              </a:xfrm>
              <a:custGeom>
                <a:avLst/>
                <a:gdLst/>
                <a:ahLst/>
                <a:cxnLst/>
                <a:rect l="l" t="t" r="r" b="b"/>
                <a:pathLst>
                  <a:path w="88900" h="9525">
                    <a:moveTo>
                      <a:pt x="0" y="0"/>
                    </a:moveTo>
                    <a:lnTo>
                      <a:pt x="88900" y="0"/>
                    </a:lnTo>
                  </a:path>
                </a:pathLst>
              </a:custGeom>
              <a:noFill/>
              <a:ln w="12700">
                <a:solidFill>
                  <a:srgbClr val="A52D12"/>
                </a:solidFill>
              </a:ln>
            </p:spPr>
          </p:sp>
        </p:grpSp>
        <p:sp>
          <p:nvSpPr>
            <p:cNvPr id="22" name="TextBox 22"/>
            <p:cNvSpPr txBox="1"/>
            <p:nvPr/>
          </p:nvSpPr>
          <p:spPr>
            <a:xfrm>
              <a:off x="890588" y="1360170"/>
              <a:ext cx="615315"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不良贷款率</a:t>
              </a:r>
            </a:p>
          </p:txBody>
        </p:sp>
        <p:sp>
          <p:nvSpPr>
            <p:cNvPr id="23" name="TextBox 23"/>
            <p:cNvSpPr txBox="1"/>
            <p:nvPr/>
          </p:nvSpPr>
          <p:spPr>
            <a:xfrm>
              <a:off x="582168" y="1650682"/>
              <a:ext cx="833066"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1.08%​</a:t>
              </a:r>
            </a:p>
          </p:txBody>
        </p:sp>
        <p:sp>
          <p:nvSpPr>
            <p:cNvPr id="24" name="TextBox 24"/>
            <p:cNvSpPr txBox="1"/>
            <p:nvPr/>
          </p:nvSpPr>
          <p:spPr>
            <a:xfrm>
              <a:off x="1423988" y="1934289"/>
              <a:ext cx="879200" cy="154781"/>
            </a:xfrm>
            <a:prstGeom prst="rect">
              <a:avLst/>
            </a:prstGeom>
            <a:noFill/>
            <a:ln>
              <a:noFill/>
            </a:ln>
          </p:spPr>
          <p:txBody>
            <a:bodyPr wrap="none" lIns="0" tIns="0" rIns="0" bIns="0" anchor="t" anchorCtr="0">
              <a:spAutoFit/>
            </a:bodyPr>
            <a:lstStyle/>
            <a:p>
              <a:pPr algn="l"/>
              <a:r>
                <a:rPr lang="zh-CN" sz="790" b="1" dirty="0">
                  <a:solidFill>
                    <a:srgbClr val="9E412F"/>
                  </a:solidFill>
                  <a:latin typeface="+mn-lt"/>
                  <a:ea typeface="+mn-ea"/>
                  <a:cs typeface="+mn-cs"/>
                </a:rPr>
                <a:t>↓</a:t>
              </a:r>
              <a:r>
                <a:rPr lang="zh-CN" sz="790" dirty="0">
                  <a:solidFill>
                    <a:srgbClr val="6B6B6B"/>
                  </a:solidFill>
                  <a:latin typeface="+mn-lt"/>
                  <a:ea typeface="+mn-ea"/>
                  <a:cs typeface="+mn-cs"/>
                </a:rPr>
                <a:t xml:space="preserve"> -0.06个百分点​</a:t>
              </a:r>
            </a:p>
          </p:txBody>
        </p:sp>
        <p:sp>
          <p:nvSpPr>
            <p:cNvPr id="25" name="Rectangle 25"/>
            <p:cNvSpPr/>
            <p:nvPr/>
          </p:nvSpPr>
          <p:spPr>
            <a:xfrm>
              <a:off x="2686050" y="1143000"/>
              <a:ext cx="2190750" cy="971550"/>
            </a:xfrm>
            <a:prstGeom prst="roundRect">
              <a:avLst>
                <a:gd name="adj" fmla="val 7843"/>
              </a:avLst>
            </a:prstGeom>
            <a:solidFill>
              <a:srgbClr val="FDF6F5"/>
            </a:solidFill>
            <a:ln w="9525">
              <a:solidFill>
                <a:srgbClr val="EDD5D2"/>
              </a:solidFill>
            </a:ln>
          </p:spPr>
        </p:sp>
        <p:sp>
          <p:nvSpPr>
            <p:cNvPr id="26" name="Ellipse 26"/>
            <p:cNvSpPr/>
            <p:nvPr/>
          </p:nvSpPr>
          <p:spPr>
            <a:xfrm>
              <a:off x="2857500" y="1276350"/>
              <a:ext cx="266700" cy="266700"/>
            </a:xfrm>
            <a:prstGeom prst="ellipse">
              <a:avLst/>
            </a:prstGeom>
            <a:solidFill>
              <a:srgbClr val="F7E9E7"/>
            </a:solidFill>
            <a:ln>
              <a:noFill/>
            </a:ln>
          </p:spPr>
        </p:sp>
        <p:grpSp>
          <p:nvGrpSpPr>
            <p:cNvPr id="29" name="Group 29"/>
            <p:cNvGrpSpPr/>
            <p:nvPr/>
          </p:nvGrpSpPr>
          <p:grpSpPr>
            <a:xfrm>
              <a:off x="2925130" y="1352550"/>
              <a:ext cx="124004" cy="114300"/>
              <a:chOff x="2925130" y="1352550"/>
              <a:chExt cx="124004" cy="114300"/>
            </a:xfrm>
          </p:grpSpPr>
          <p:sp>
            <p:nvSpPr>
              <p:cNvPr id="27" name="Freeform 27"/>
              <p:cNvSpPr/>
              <p:nvPr/>
            </p:nvSpPr>
            <p:spPr>
              <a:xfrm>
                <a:off x="2925130" y="13525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A52D12"/>
                </a:solidFill>
              </a:ln>
            </p:spPr>
          </p:sp>
          <p:sp>
            <p:nvSpPr>
              <p:cNvPr id="28" name="Freeform 28"/>
              <p:cNvSpPr/>
              <p:nvPr/>
            </p:nvSpPr>
            <p:spPr>
              <a:xfrm>
                <a:off x="3009900" y="1441450"/>
                <a:ext cx="38100" cy="25400"/>
              </a:xfrm>
              <a:custGeom>
                <a:avLst/>
                <a:gdLst/>
                <a:ahLst/>
                <a:cxnLst/>
                <a:rect l="l" t="t" r="r" b="b"/>
                <a:pathLst>
                  <a:path w="38100" h="25400">
                    <a:moveTo>
                      <a:pt x="0" y="12700"/>
                    </a:moveTo>
                    <a:lnTo>
                      <a:pt x="12700" y="25400"/>
                    </a:lnTo>
                    <a:lnTo>
                      <a:pt x="38100" y="0"/>
                    </a:lnTo>
                  </a:path>
                </a:pathLst>
              </a:custGeom>
              <a:noFill/>
              <a:ln w="12700">
                <a:solidFill>
                  <a:srgbClr val="A52D12"/>
                </a:solidFill>
              </a:ln>
            </p:spPr>
          </p:sp>
        </p:grpSp>
        <p:sp>
          <p:nvSpPr>
            <p:cNvPr id="30" name="TextBox 30"/>
            <p:cNvSpPr txBox="1"/>
            <p:nvPr/>
          </p:nvSpPr>
          <p:spPr>
            <a:xfrm>
              <a:off x="3195638" y="1360170"/>
              <a:ext cx="615315"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拨备覆盖率</a:t>
              </a:r>
            </a:p>
          </p:txBody>
        </p:sp>
        <p:sp>
          <p:nvSpPr>
            <p:cNvPr id="31" name="TextBox 31"/>
            <p:cNvSpPr txBox="1"/>
            <p:nvPr/>
          </p:nvSpPr>
          <p:spPr>
            <a:xfrm>
              <a:off x="2887218" y="1650682"/>
              <a:ext cx="704790"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218%​</a:t>
              </a:r>
            </a:p>
          </p:txBody>
        </p:sp>
        <p:sp>
          <p:nvSpPr>
            <p:cNvPr id="32" name="TextBox 32"/>
            <p:cNvSpPr txBox="1"/>
            <p:nvPr/>
          </p:nvSpPr>
          <p:spPr>
            <a:xfrm>
              <a:off x="3729038" y="1934289"/>
              <a:ext cx="703723"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a:t>
              </a:r>
              <a:r>
                <a:rPr lang="zh-CN" sz="790" dirty="0">
                  <a:solidFill>
                    <a:srgbClr val="6B6B6B"/>
                  </a:solidFill>
                  <a:latin typeface="+mn-lt"/>
                  <a:ea typeface="+mn-ea"/>
                  <a:cs typeface="+mn-cs"/>
                </a:rPr>
                <a:t xml:space="preserve"> +9个百分点​</a:t>
              </a:r>
            </a:p>
          </p:txBody>
        </p:sp>
        <p:sp>
          <p:nvSpPr>
            <p:cNvPr id="33" name="Rectangle 33"/>
            <p:cNvSpPr/>
            <p:nvPr/>
          </p:nvSpPr>
          <p:spPr>
            <a:xfrm>
              <a:off x="4991100" y="1143000"/>
              <a:ext cx="2190750" cy="971550"/>
            </a:xfrm>
            <a:prstGeom prst="roundRect">
              <a:avLst>
                <a:gd name="adj" fmla="val 7843"/>
              </a:avLst>
            </a:prstGeom>
            <a:solidFill>
              <a:srgbClr val="FDF6F5"/>
            </a:solidFill>
            <a:ln w="9525">
              <a:solidFill>
                <a:srgbClr val="EDD5D2"/>
              </a:solidFill>
            </a:ln>
          </p:spPr>
        </p:sp>
        <p:sp>
          <p:nvSpPr>
            <p:cNvPr id="34" name="Ellipse 34"/>
            <p:cNvSpPr/>
            <p:nvPr/>
          </p:nvSpPr>
          <p:spPr>
            <a:xfrm>
              <a:off x="5162550" y="1276350"/>
              <a:ext cx="266700" cy="266700"/>
            </a:xfrm>
            <a:prstGeom prst="ellipse">
              <a:avLst/>
            </a:prstGeom>
            <a:solidFill>
              <a:srgbClr val="F7E9E7"/>
            </a:solidFill>
            <a:ln>
              <a:noFill/>
            </a:ln>
          </p:spPr>
        </p:sp>
        <p:grpSp>
          <p:nvGrpSpPr>
            <p:cNvPr id="39" name="Group 39"/>
            <p:cNvGrpSpPr/>
            <p:nvPr/>
          </p:nvGrpSpPr>
          <p:grpSpPr>
            <a:xfrm>
              <a:off x="5251450" y="1358900"/>
              <a:ext cx="95250" cy="107950"/>
              <a:chOff x="5251450" y="1358900"/>
              <a:chExt cx="95250" cy="107950"/>
            </a:xfrm>
          </p:grpSpPr>
          <p:sp>
            <p:nvSpPr>
              <p:cNvPr id="35" name="Freeform 35"/>
              <p:cNvSpPr/>
              <p:nvPr/>
            </p:nvSpPr>
            <p:spPr>
              <a:xfrm>
                <a:off x="5251450" y="135890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A52D12"/>
                </a:solidFill>
              </a:ln>
            </p:spPr>
          </p:sp>
          <p:sp>
            <p:nvSpPr>
              <p:cNvPr id="36" name="Freeform 36"/>
              <p:cNvSpPr/>
              <p:nvPr/>
            </p:nvSpPr>
            <p:spPr>
              <a:xfrm>
                <a:off x="5308600" y="1441450"/>
                <a:ext cx="38100" cy="25400"/>
              </a:xfrm>
              <a:custGeom>
                <a:avLst/>
                <a:gdLst/>
                <a:ahLst/>
                <a:cxnLst/>
                <a:rect l="l" t="t" r="r" b="b"/>
                <a:pathLst>
                  <a:path w="38100" h="25400">
                    <a:moveTo>
                      <a:pt x="0" y="12700"/>
                    </a:moveTo>
                    <a:lnTo>
                      <a:pt x="12700" y="25400"/>
                    </a:lnTo>
                    <a:lnTo>
                      <a:pt x="38100" y="0"/>
                    </a:lnTo>
                  </a:path>
                </a:pathLst>
              </a:custGeom>
              <a:noFill/>
              <a:ln w="12700">
                <a:solidFill>
                  <a:srgbClr val="A52D12"/>
                </a:solidFill>
              </a:ln>
            </p:spPr>
          </p:sp>
          <p:sp>
            <p:nvSpPr>
              <p:cNvPr id="37" name="Freeform 37"/>
              <p:cNvSpPr/>
              <p:nvPr/>
            </p:nvSpPr>
            <p:spPr>
              <a:xfrm>
                <a:off x="5276850" y="1384300"/>
                <a:ext cx="25400" cy="9525"/>
              </a:xfrm>
              <a:custGeom>
                <a:avLst/>
                <a:gdLst/>
                <a:ahLst/>
                <a:cxnLst/>
                <a:rect l="l" t="t" r="r" b="b"/>
                <a:pathLst>
                  <a:path w="25400" h="9525">
                    <a:moveTo>
                      <a:pt x="0" y="0"/>
                    </a:moveTo>
                    <a:lnTo>
                      <a:pt x="25400" y="0"/>
                    </a:lnTo>
                  </a:path>
                </a:pathLst>
              </a:custGeom>
              <a:noFill/>
              <a:ln w="12700">
                <a:solidFill>
                  <a:srgbClr val="A52D12"/>
                </a:solidFill>
              </a:ln>
            </p:spPr>
          </p:sp>
          <p:sp>
            <p:nvSpPr>
              <p:cNvPr id="38" name="Freeform 38"/>
              <p:cNvSpPr/>
              <p:nvPr/>
            </p:nvSpPr>
            <p:spPr>
              <a:xfrm>
                <a:off x="5276850" y="1409700"/>
                <a:ext cx="12700" cy="9525"/>
              </a:xfrm>
              <a:custGeom>
                <a:avLst/>
                <a:gdLst/>
                <a:ahLst/>
                <a:cxnLst/>
                <a:rect l="l" t="t" r="r" b="b"/>
                <a:pathLst>
                  <a:path w="12700" h="9525">
                    <a:moveTo>
                      <a:pt x="0" y="0"/>
                    </a:moveTo>
                    <a:lnTo>
                      <a:pt x="12700" y="0"/>
                    </a:lnTo>
                  </a:path>
                </a:pathLst>
              </a:custGeom>
              <a:noFill/>
              <a:ln w="12700">
                <a:solidFill>
                  <a:srgbClr val="A52D12"/>
                </a:solidFill>
              </a:ln>
            </p:spPr>
          </p:sp>
        </p:grpSp>
        <p:sp>
          <p:nvSpPr>
            <p:cNvPr id="40" name="TextBox 40"/>
            <p:cNvSpPr txBox="1"/>
            <p:nvPr/>
          </p:nvSpPr>
          <p:spPr>
            <a:xfrm>
              <a:off x="5500688" y="1360170"/>
              <a:ext cx="736473"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关注类贷款率</a:t>
              </a:r>
            </a:p>
          </p:txBody>
        </p:sp>
        <p:sp>
          <p:nvSpPr>
            <p:cNvPr id="41" name="TextBox 41"/>
            <p:cNvSpPr txBox="1"/>
            <p:nvPr/>
          </p:nvSpPr>
          <p:spPr>
            <a:xfrm>
              <a:off x="5192268" y="1650682"/>
              <a:ext cx="833066"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1.62%​</a:t>
              </a:r>
            </a:p>
          </p:txBody>
        </p:sp>
        <p:sp>
          <p:nvSpPr>
            <p:cNvPr id="42" name="TextBox 42"/>
            <p:cNvSpPr txBox="1"/>
            <p:nvPr/>
          </p:nvSpPr>
          <p:spPr>
            <a:xfrm>
              <a:off x="6034088" y="1934289"/>
              <a:ext cx="879200" cy="154781"/>
            </a:xfrm>
            <a:prstGeom prst="rect">
              <a:avLst/>
            </a:prstGeom>
            <a:noFill/>
            <a:ln>
              <a:noFill/>
            </a:ln>
          </p:spPr>
          <p:txBody>
            <a:bodyPr wrap="none" lIns="0" tIns="0" rIns="0" bIns="0" anchor="t" anchorCtr="0">
              <a:spAutoFit/>
            </a:bodyPr>
            <a:lstStyle/>
            <a:p>
              <a:pPr algn="l"/>
              <a:r>
                <a:rPr lang="zh-CN" sz="790" b="1" dirty="0">
                  <a:solidFill>
                    <a:srgbClr val="9E412F"/>
                  </a:solidFill>
                  <a:latin typeface="+mn-lt"/>
                  <a:ea typeface="+mn-ea"/>
                  <a:cs typeface="+mn-cs"/>
                </a:rPr>
                <a:t>↓</a:t>
              </a:r>
              <a:r>
                <a:rPr lang="zh-CN" sz="790" dirty="0">
                  <a:solidFill>
                    <a:srgbClr val="6B6B6B"/>
                  </a:solidFill>
                  <a:latin typeface="+mn-lt"/>
                  <a:ea typeface="+mn-ea"/>
                  <a:cs typeface="+mn-cs"/>
                </a:rPr>
                <a:t xml:space="preserve"> -0.12个百分点​</a:t>
              </a:r>
            </a:p>
          </p:txBody>
        </p:sp>
        <p:sp>
          <p:nvSpPr>
            <p:cNvPr id="43" name="Rectangle 43"/>
            <p:cNvSpPr/>
            <p:nvPr/>
          </p:nvSpPr>
          <p:spPr>
            <a:xfrm>
              <a:off x="7296150" y="1143000"/>
              <a:ext cx="2190750" cy="971550"/>
            </a:xfrm>
            <a:prstGeom prst="roundRect">
              <a:avLst>
                <a:gd name="adj" fmla="val 7843"/>
              </a:avLst>
            </a:prstGeom>
            <a:solidFill>
              <a:srgbClr val="FDF6F5"/>
            </a:solidFill>
            <a:ln w="9525">
              <a:solidFill>
                <a:srgbClr val="EDD5D2"/>
              </a:solidFill>
            </a:ln>
          </p:spPr>
        </p:sp>
        <p:sp>
          <p:nvSpPr>
            <p:cNvPr id="44" name="Ellipse 44"/>
            <p:cNvSpPr/>
            <p:nvPr/>
          </p:nvSpPr>
          <p:spPr>
            <a:xfrm>
              <a:off x="7467600" y="1276350"/>
              <a:ext cx="266700" cy="266700"/>
            </a:xfrm>
            <a:prstGeom prst="ellipse">
              <a:avLst/>
            </a:prstGeom>
            <a:solidFill>
              <a:srgbClr val="F7E9E7"/>
            </a:solidFill>
            <a:ln>
              <a:noFill/>
            </a:ln>
          </p:spPr>
        </p:sp>
        <p:grpSp>
          <p:nvGrpSpPr>
            <p:cNvPr id="50" name="Group 50"/>
            <p:cNvGrpSpPr/>
            <p:nvPr/>
          </p:nvGrpSpPr>
          <p:grpSpPr>
            <a:xfrm>
              <a:off x="7543800" y="1351699"/>
              <a:ext cx="114300" cy="115151"/>
              <a:chOff x="7543800" y="1351699"/>
              <a:chExt cx="114300" cy="115151"/>
            </a:xfrm>
          </p:grpSpPr>
          <p:sp>
            <p:nvSpPr>
              <p:cNvPr id="45" name="Freeform 45"/>
              <p:cNvSpPr/>
              <p:nvPr/>
            </p:nvSpPr>
            <p:spPr>
              <a:xfrm>
                <a:off x="7581900" y="140335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A52D12"/>
                </a:solidFill>
              </a:ln>
            </p:spPr>
          </p:sp>
          <p:sp>
            <p:nvSpPr>
              <p:cNvPr id="46" name="Freeform 46"/>
              <p:cNvSpPr/>
              <p:nvPr/>
            </p:nvSpPr>
            <p:spPr>
              <a:xfrm>
                <a:off x="7581900" y="142240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A52D12"/>
                </a:solidFill>
              </a:ln>
            </p:spPr>
          </p:sp>
          <p:sp>
            <p:nvSpPr>
              <p:cNvPr id="47" name="Freeform 47"/>
              <p:cNvSpPr/>
              <p:nvPr/>
            </p:nvSpPr>
            <p:spPr>
              <a:xfrm>
                <a:off x="7543800" y="135169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A52D12"/>
                </a:solidFill>
              </a:ln>
            </p:spPr>
          </p:sp>
          <p:sp>
            <p:nvSpPr>
              <p:cNvPr id="48" name="Freeform 48"/>
              <p:cNvSpPr/>
              <p:nvPr/>
            </p:nvSpPr>
            <p:spPr>
              <a:xfrm>
                <a:off x="7543800" y="137160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A52D12"/>
                </a:solidFill>
              </a:ln>
            </p:spPr>
          </p:sp>
          <p:sp>
            <p:nvSpPr>
              <p:cNvPr id="49" name="Freeform 49"/>
              <p:cNvSpPr/>
              <p:nvPr/>
            </p:nvSpPr>
            <p:spPr>
              <a:xfrm>
                <a:off x="7543800" y="1403350"/>
                <a:ext cx="12700" cy="12700"/>
              </a:xfrm>
              <a:custGeom>
                <a:avLst/>
                <a:gdLst/>
                <a:ahLst/>
                <a:cxnLst/>
                <a:rect l="l" t="t" r="r" b="b"/>
                <a:pathLst>
                  <a:path w="12700" h="12700">
                    <a:moveTo>
                      <a:pt x="0" y="0"/>
                    </a:moveTo>
                    <a:cubicBezTo>
                      <a:pt x="0" y="5639"/>
                      <a:pt x="4902" y="9208"/>
                      <a:pt x="12700" y="12700"/>
                    </a:cubicBezTo>
                  </a:path>
                </a:pathLst>
              </a:custGeom>
              <a:noFill/>
              <a:ln w="12700">
                <a:solidFill>
                  <a:srgbClr val="A52D12"/>
                </a:solidFill>
              </a:ln>
            </p:spPr>
          </p:sp>
        </p:grpSp>
        <p:sp>
          <p:nvSpPr>
            <p:cNvPr id="51" name="TextBox 51"/>
            <p:cNvSpPr txBox="1"/>
            <p:nvPr/>
          </p:nvSpPr>
          <p:spPr>
            <a:xfrm>
              <a:off x="7805738" y="1360170"/>
              <a:ext cx="615315"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不良处置额</a:t>
              </a:r>
            </a:p>
          </p:txBody>
        </p:sp>
        <p:sp>
          <p:nvSpPr>
            <p:cNvPr id="52" name="TextBox 52"/>
            <p:cNvSpPr txBox="1"/>
            <p:nvPr/>
          </p:nvSpPr>
          <p:spPr>
            <a:xfrm>
              <a:off x="7497318" y="1650682"/>
              <a:ext cx="940813"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 xml:space="preserve">38.6 </a:t>
              </a:r>
              <a:r>
                <a:rPr lang="zh-CN" sz="790" dirty="0">
                  <a:solidFill>
                    <a:srgbClr val="A52D12"/>
                  </a:solidFill>
                  <a:latin typeface="+mn-lt"/>
                  <a:ea typeface="+mn-ea"/>
                  <a:cs typeface="+mn-cs"/>
                </a:rPr>
                <a:t>亿元</a:t>
              </a:r>
              <a:r>
                <a:rPr lang="zh-CN" sz="1650" b="1" dirty="0">
                  <a:solidFill>
                    <a:srgbClr val="A52D12"/>
                  </a:solidFill>
                  <a:latin typeface="+mn-lt"/>
                  <a:ea typeface="+mn-ea"/>
                  <a:cs typeface="+mn-cs"/>
                </a:rPr>
                <a:t>​</a:t>
              </a:r>
            </a:p>
          </p:txBody>
        </p:sp>
        <p:sp>
          <p:nvSpPr>
            <p:cNvPr id="53" name="TextBox 53"/>
            <p:cNvSpPr txBox="1"/>
            <p:nvPr/>
          </p:nvSpPr>
          <p:spPr>
            <a:xfrm>
              <a:off x="8529638" y="1934289"/>
              <a:ext cx="746263"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a:t>
              </a:r>
              <a:r>
                <a:rPr lang="zh-CN" sz="790" dirty="0">
                  <a:solidFill>
                    <a:srgbClr val="6B6B6B"/>
                  </a:solidFill>
                  <a:latin typeface="+mn-lt"/>
                  <a:ea typeface="+mn-ea"/>
                  <a:cs typeface="+mn-cs"/>
                </a:rPr>
                <a:t xml:space="preserve"> 同比+18.4%​</a:t>
              </a:r>
            </a:p>
          </p:txBody>
        </p:sp>
        <p:sp>
          <p:nvSpPr>
            <p:cNvPr id="54" name="Rectangle 54"/>
            <p:cNvSpPr/>
            <p:nvPr/>
          </p:nvSpPr>
          <p:spPr>
            <a:xfrm>
              <a:off x="9601200" y="1143000"/>
              <a:ext cx="2190750" cy="971550"/>
            </a:xfrm>
            <a:prstGeom prst="roundRect">
              <a:avLst>
                <a:gd name="adj" fmla="val 7843"/>
              </a:avLst>
            </a:prstGeom>
            <a:solidFill>
              <a:srgbClr val="FDF6F5"/>
            </a:solidFill>
            <a:ln w="9525">
              <a:solidFill>
                <a:srgbClr val="EDD5D2"/>
              </a:solidFill>
            </a:ln>
          </p:spPr>
        </p:sp>
        <p:sp>
          <p:nvSpPr>
            <p:cNvPr id="55" name="Ellipse 55"/>
            <p:cNvSpPr/>
            <p:nvPr/>
          </p:nvSpPr>
          <p:spPr>
            <a:xfrm>
              <a:off x="9772650" y="1276350"/>
              <a:ext cx="266700" cy="266700"/>
            </a:xfrm>
            <a:prstGeom prst="ellipse">
              <a:avLst/>
            </a:prstGeom>
            <a:solidFill>
              <a:srgbClr val="F7E9E7"/>
            </a:solidFill>
            <a:ln>
              <a:noFill/>
            </a:ln>
          </p:spPr>
        </p:sp>
        <p:grpSp>
          <p:nvGrpSpPr>
            <p:cNvPr id="59" name="Group 59"/>
            <p:cNvGrpSpPr/>
            <p:nvPr/>
          </p:nvGrpSpPr>
          <p:grpSpPr>
            <a:xfrm>
              <a:off x="9841960" y="1350440"/>
              <a:ext cx="128076" cy="110034"/>
              <a:chOff x="9841960" y="1350440"/>
              <a:chExt cx="128076" cy="110034"/>
            </a:xfrm>
          </p:grpSpPr>
          <p:sp>
            <p:nvSpPr>
              <p:cNvPr id="56" name="Freeform 56"/>
              <p:cNvSpPr/>
              <p:nvPr/>
            </p:nvSpPr>
            <p:spPr>
              <a:xfrm>
                <a:off x="9906000" y="1390650"/>
                <a:ext cx="9525" cy="25400"/>
              </a:xfrm>
              <a:custGeom>
                <a:avLst/>
                <a:gdLst/>
                <a:ahLst/>
                <a:cxnLst/>
                <a:rect l="l" t="t" r="r" b="b"/>
                <a:pathLst>
                  <a:path w="9525" h="25400">
                    <a:moveTo>
                      <a:pt x="0" y="0"/>
                    </a:moveTo>
                    <a:lnTo>
                      <a:pt x="0" y="25400"/>
                    </a:lnTo>
                  </a:path>
                </a:pathLst>
              </a:custGeom>
              <a:noFill/>
              <a:ln w="12700">
                <a:solidFill>
                  <a:srgbClr val="A52D12"/>
                </a:solidFill>
              </a:ln>
            </p:spPr>
          </p:sp>
          <p:sp>
            <p:nvSpPr>
              <p:cNvPr id="57" name="Freeform 57"/>
              <p:cNvSpPr/>
              <p:nvPr/>
            </p:nvSpPr>
            <p:spPr>
              <a:xfrm>
                <a:off x="9841960" y="135044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A52D12"/>
                </a:solidFill>
              </a:ln>
            </p:spPr>
          </p:sp>
          <p:sp>
            <p:nvSpPr>
              <p:cNvPr id="58" name="Freeform 58"/>
              <p:cNvSpPr/>
              <p:nvPr/>
            </p:nvSpPr>
            <p:spPr>
              <a:xfrm>
                <a:off x="9906000" y="1435100"/>
                <a:ext cx="9525" cy="9525"/>
              </a:xfrm>
              <a:custGeom>
                <a:avLst/>
                <a:gdLst/>
                <a:ahLst/>
                <a:cxnLst/>
                <a:rect l="l" t="t" r="r" b="b"/>
                <a:pathLst>
                  <a:path w="9525" h="9525">
                    <a:moveTo>
                      <a:pt x="0" y="0"/>
                    </a:moveTo>
                    <a:lnTo>
                      <a:pt x="64" y="0"/>
                    </a:lnTo>
                  </a:path>
                </a:pathLst>
              </a:custGeom>
              <a:noFill/>
              <a:ln w="12700">
                <a:solidFill>
                  <a:srgbClr val="A52D12"/>
                </a:solidFill>
              </a:ln>
            </p:spPr>
          </p:sp>
        </p:grpSp>
        <p:sp>
          <p:nvSpPr>
            <p:cNvPr id="60" name="TextBox 60"/>
            <p:cNvSpPr txBox="1"/>
            <p:nvPr/>
          </p:nvSpPr>
          <p:spPr>
            <a:xfrm>
              <a:off x="10110788" y="1360170"/>
              <a:ext cx="857631"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智能预警命中率</a:t>
              </a:r>
            </a:p>
          </p:txBody>
        </p:sp>
        <p:sp>
          <p:nvSpPr>
            <p:cNvPr id="61" name="TextBox 61"/>
            <p:cNvSpPr txBox="1"/>
            <p:nvPr/>
          </p:nvSpPr>
          <p:spPr>
            <a:xfrm>
              <a:off x="9802368" y="1650682"/>
              <a:ext cx="576514" cy="322707"/>
            </a:xfrm>
            <a:prstGeom prst="rect">
              <a:avLst/>
            </a:prstGeom>
            <a:noFill/>
            <a:ln>
              <a:noFill/>
            </a:ln>
          </p:spPr>
          <p:txBody>
            <a:bodyPr wrap="none" lIns="0" tIns="0" rIns="0" bIns="0" anchor="t" anchorCtr="0">
              <a:spAutoFit/>
            </a:bodyPr>
            <a:lstStyle/>
            <a:p>
              <a:pPr algn="l"/>
              <a:r>
                <a:rPr lang="zh-CN" sz="1650" b="1" dirty="0">
                  <a:solidFill>
                    <a:srgbClr val="A52D12"/>
                  </a:solidFill>
                  <a:latin typeface="+mn-lt"/>
                  <a:ea typeface="+mn-ea"/>
                  <a:cs typeface="+mn-cs"/>
                </a:rPr>
                <a:t>76%​</a:t>
              </a:r>
            </a:p>
          </p:txBody>
        </p:sp>
      </p:grpSp>
      <p:grpSp>
        <p:nvGrpSpPr>
          <p:cNvPr id="121" name="risk-loop"/>
          <p:cNvGrpSpPr/>
          <p:nvPr/>
        </p:nvGrpSpPr>
        <p:grpSpPr>
          <a:xfrm>
            <a:off x="381000" y="2247900"/>
            <a:ext cx="5524500" cy="2724150"/>
            <a:chOff x="381000" y="2247900"/>
            <a:chExt cx="5524500" cy="2724150"/>
          </a:xfrm>
        </p:grpSpPr>
        <p:sp>
          <p:nvSpPr>
            <p:cNvPr id="63" name="Rectangle 63"/>
            <p:cNvSpPr/>
            <p:nvPr/>
          </p:nvSpPr>
          <p:spPr>
            <a:xfrm>
              <a:off x="381000" y="2247900"/>
              <a:ext cx="5524500" cy="2724150"/>
            </a:xfrm>
            <a:prstGeom prst="roundRect">
              <a:avLst>
                <a:gd name="adj" fmla="val 2797"/>
              </a:avLst>
            </a:prstGeom>
            <a:solidFill>
              <a:srgbClr val="FDF6F5"/>
            </a:solidFill>
            <a:ln w="9525">
              <a:solidFill>
                <a:srgbClr val="EDD5D2"/>
              </a:solidFill>
            </a:ln>
          </p:spPr>
        </p:sp>
        <p:sp>
          <p:nvSpPr>
            <p:cNvPr id="64" name="Freeform 64"/>
            <p:cNvSpPr/>
            <p:nvPr/>
          </p:nvSpPr>
          <p:spPr>
            <a:xfrm>
              <a:off x="390525" y="2257425"/>
              <a:ext cx="5505450" cy="228600"/>
            </a:xfrm>
            <a:custGeom>
              <a:avLst/>
              <a:gdLst/>
              <a:ahLst/>
              <a:cxnLst/>
              <a:rect l="l" t="t" r="r" b="b"/>
              <a:pathLst>
                <a:path w="5505450" h="228600">
                  <a:moveTo>
                    <a:pt x="0" y="228600"/>
                  </a:moveTo>
                  <a:lnTo>
                    <a:pt x="5505450" y="228600"/>
                  </a:lnTo>
                  <a:lnTo>
                    <a:pt x="5505450" y="66675"/>
                  </a:lnTo>
                  <a:cubicBezTo>
                    <a:pt x="5505450" y="29851"/>
                    <a:pt x="5475599" y="0"/>
                    <a:pt x="5438775" y="0"/>
                  </a:cubicBezTo>
                  <a:lnTo>
                    <a:pt x="66675" y="0"/>
                  </a:lnTo>
                  <a:cubicBezTo>
                    <a:pt x="29851" y="0"/>
                    <a:pt x="0" y="29851"/>
                    <a:pt x="0" y="66675"/>
                  </a:cubicBezTo>
                  <a:close/>
                </a:path>
              </a:pathLst>
            </a:custGeom>
            <a:solidFill>
              <a:srgbClr val="A52D12"/>
            </a:solidFill>
            <a:ln>
              <a:noFill/>
            </a:ln>
          </p:spPr>
        </p:sp>
        <p:sp>
          <p:nvSpPr>
            <p:cNvPr id="65" name="TextBox 65"/>
            <p:cNvSpPr txBox="1"/>
            <p:nvPr/>
          </p:nvSpPr>
          <p:spPr>
            <a:xfrm>
              <a:off x="2713863" y="230600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中央风险闭环</a:t>
              </a:r>
            </a:p>
          </p:txBody>
        </p:sp>
        <p:sp>
          <p:nvSpPr>
            <p:cNvPr id="66" name="Ellipse 66"/>
            <p:cNvSpPr/>
            <p:nvPr/>
          </p:nvSpPr>
          <p:spPr>
            <a:xfrm>
              <a:off x="619125" y="2752725"/>
              <a:ext cx="400050" cy="400050"/>
            </a:xfrm>
            <a:prstGeom prst="ellipse">
              <a:avLst/>
            </a:prstGeom>
            <a:solidFill>
              <a:srgbClr val="A52D12"/>
            </a:solidFill>
            <a:ln>
              <a:noFill/>
            </a:ln>
          </p:spPr>
        </p:sp>
        <p:grpSp>
          <p:nvGrpSpPr>
            <p:cNvPr id="69" name="Group 69"/>
            <p:cNvGrpSpPr/>
            <p:nvPr/>
          </p:nvGrpSpPr>
          <p:grpSpPr>
            <a:xfrm>
              <a:off x="763587" y="2882061"/>
              <a:ext cx="111125" cy="142126"/>
              <a:chOff x="763587" y="2882061"/>
              <a:chExt cx="111125" cy="142126"/>
            </a:xfrm>
          </p:grpSpPr>
          <p:sp>
            <p:nvSpPr>
              <p:cNvPr id="67" name="Freeform 67"/>
              <p:cNvSpPr/>
              <p:nvPr/>
            </p:nvSpPr>
            <p:spPr>
              <a:xfrm>
                <a:off x="763587" y="2882061"/>
                <a:ext cx="111125" cy="101691"/>
              </a:xfrm>
              <a:custGeom>
                <a:avLst/>
                <a:gdLst/>
                <a:ahLst/>
                <a:cxnLst/>
                <a:rect l="l" t="t" r="r" b="b"/>
                <a:pathLst>
                  <a:path w="111125" h="101691">
                    <a:moveTo>
                      <a:pt x="0" y="15127"/>
                    </a:moveTo>
                    <a:cubicBezTo>
                      <a:pt x="15432" y="0"/>
                      <a:pt x="40130" y="0"/>
                      <a:pt x="55562" y="15127"/>
                    </a:cubicBezTo>
                    <a:cubicBezTo>
                      <a:pt x="70995" y="30253"/>
                      <a:pt x="95693" y="30253"/>
                      <a:pt x="111125" y="15127"/>
                    </a:cubicBezTo>
                    <a:lnTo>
                      <a:pt x="111125" y="86564"/>
                    </a:lnTo>
                    <a:cubicBezTo>
                      <a:pt x="95693" y="101691"/>
                      <a:pt x="70995" y="101691"/>
                      <a:pt x="55562" y="86564"/>
                    </a:cubicBezTo>
                    <a:cubicBezTo>
                      <a:pt x="40130" y="71437"/>
                      <a:pt x="15432" y="71437"/>
                      <a:pt x="0" y="86564"/>
                    </a:cubicBezTo>
                    <a:lnTo>
                      <a:pt x="0" y="15127"/>
                    </a:lnTo>
                  </a:path>
                </a:pathLst>
              </a:custGeom>
              <a:noFill/>
              <a:ln w="15875">
                <a:solidFill>
                  <a:srgbClr val="FFFFFF"/>
                </a:solidFill>
              </a:ln>
            </p:spPr>
          </p:sp>
          <p:sp>
            <p:nvSpPr>
              <p:cNvPr id="68" name="Freeform 68"/>
              <p:cNvSpPr/>
              <p:nvPr/>
            </p:nvSpPr>
            <p:spPr>
              <a:xfrm>
                <a:off x="763587" y="2968625"/>
                <a:ext cx="9525" cy="55562"/>
              </a:xfrm>
              <a:custGeom>
                <a:avLst/>
                <a:gdLst/>
                <a:ahLst/>
                <a:cxnLst/>
                <a:rect l="l" t="t" r="r" b="b"/>
                <a:pathLst>
                  <a:path w="9525" h="55562">
                    <a:moveTo>
                      <a:pt x="0" y="55562"/>
                    </a:moveTo>
                    <a:lnTo>
                      <a:pt x="0" y="0"/>
                    </a:lnTo>
                  </a:path>
                </a:pathLst>
              </a:custGeom>
              <a:noFill/>
              <a:ln w="15875">
                <a:solidFill>
                  <a:srgbClr val="FFFFFF"/>
                </a:solidFill>
              </a:ln>
            </p:spPr>
          </p:sp>
        </p:grpSp>
        <p:sp>
          <p:nvSpPr>
            <p:cNvPr id="70" name="Line 70"/>
            <p:cNvSpPr/>
            <p:nvPr/>
          </p:nvSpPr>
          <p:spPr>
            <a:xfrm>
              <a:off x="1057275" y="2952750"/>
              <a:ext cx="371475" cy="1"/>
            </a:xfrm>
            <a:prstGeom prst="line">
              <a:avLst/>
            </a:prstGeom>
            <a:noFill/>
            <a:ln w="15240">
              <a:solidFill>
                <a:srgbClr val="A52D12"/>
              </a:solidFill>
              <a:tailEnd type="triangle" w="lg" len="lg"/>
            </a:ln>
          </p:spPr>
        </p:sp>
        <p:sp>
          <p:nvSpPr>
            <p:cNvPr id="71" name="Ellipse 71"/>
            <p:cNvSpPr/>
            <p:nvPr/>
          </p:nvSpPr>
          <p:spPr>
            <a:xfrm>
              <a:off x="1533525" y="2752725"/>
              <a:ext cx="400050" cy="400050"/>
            </a:xfrm>
            <a:prstGeom prst="ellipse">
              <a:avLst/>
            </a:prstGeom>
            <a:solidFill>
              <a:srgbClr val="A52D12"/>
            </a:solidFill>
            <a:ln>
              <a:noFill/>
            </a:ln>
          </p:spPr>
        </p:sp>
        <p:grpSp>
          <p:nvGrpSpPr>
            <p:cNvPr id="75" name="Group 75"/>
            <p:cNvGrpSpPr/>
            <p:nvPr/>
          </p:nvGrpSpPr>
          <p:grpSpPr>
            <a:xfrm>
              <a:off x="1685925" y="2881312"/>
              <a:ext cx="119062" cy="142875"/>
              <a:chOff x="1685925" y="2881312"/>
              <a:chExt cx="119062" cy="142875"/>
            </a:xfrm>
          </p:grpSpPr>
          <p:sp>
            <p:nvSpPr>
              <p:cNvPr id="72" name="Freeform 72"/>
              <p:cNvSpPr/>
              <p:nvPr/>
            </p:nvSpPr>
            <p:spPr>
              <a:xfrm>
                <a:off x="1701800" y="28813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73" name="Freeform 73"/>
              <p:cNvSpPr/>
              <p:nvPr/>
            </p:nvSpPr>
            <p:spPr>
              <a:xfrm>
                <a:off x="1685925" y="29765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FFFFFF"/>
                </a:solidFill>
              </a:ln>
            </p:spPr>
          </p:sp>
          <p:sp>
            <p:nvSpPr>
              <p:cNvPr id="74" name="Freeform 74"/>
              <p:cNvSpPr/>
              <p:nvPr/>
            </p:nvSpPr>
            <p:spPr>
              <a:xfrm>
                <a:off x="1757362" y="299243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76" name="Line 76"/>
            <p:cNvSpPr/>
            <p:nvPr/>
          </p:nvSpPr>
          <p:spPr>
            <a:xfrm>
              <a:off x="1971675" y="2952750"/>
              <a:ext cx="371475" cy="1"/>
            </a:xfrm>
            <a:prstGeom prst="line">
              <a:avLst/>
            </a:prstGeom>
            <a:noFill/>
            <a:ln w="15240">
              <a:solidFill>
                <a:srgbClr val="A52D12"/>
              </a:solidFill>
              <a:tailEnd type="triangle" w="lg" len="lg"/>
            </a:ln>
          </p:spPr>
        </p:sp>
        <p:sp>
          <p:nvSpPr>
            <p:cNvPr id="77" name="Ellipse 77"/>
            <p:cNvSpPr/>
            <p:nvPr/>
          </p:nvSpPr>
          <p:spPr>
            <a:xfrm>
              <a:off x="2447925" y="2752725"/>
              <a:ext cx="400050" cy="400050"/>
            </a:xfrm>
            <a:prstGeom prst="ellipse">
              <a:avLst/>
            </a:prstGeom>
            <a:solidFill>
              <a:srgbClr val="A52D12"/>
            </a:solidFill>
            <a:ln>
              <a:noFill/>
            </a:ln>
          </p:spPr>
        </p:sp>
        <p:grpSp>
          <p:nvGrpSpPr>
            <p:cNvPr id="83" name="Group 83"/>
            <p:cNvGrpSpPr/>
            <p:nvPr/>
          </p:nvGrpSpPr>
          <p:grpSpPr>
            <a:xfrm>
              <a:off x="2592387" y="2881312"/>
              <a:ext cx="111125" cy="142875"/>
              <a:chOff x="2592387" y="2881312"/>
              <a:chExt cx="111125" cy="142875"/>
            </a:xfrm>
          </p:grpSpPr>
          <p:sp>
            <p:nvSpPr>
              <p:cNvPr id="78" name="Freeform 78"/>
              <p:cNvSpPr/>
              <p:nvPr/>
            </p:nvSpPr>
            <p:spPr>
              <a:xfrm>
                <a:off x="2663825" y="28813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79" name="Freeform 79"/>
              <p:cNvSpPr/>
              <p:nvPr/>
            </p:nvSpPr>
            <p:spPr>
              <a:xfrm>
                <a:off x="2592387" y="28813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80" name="Freeform 80"/>
              <p:cNvSpPr/>
              <p:nvPr/>
            </p:nvSpPr>
            <p:spPr>
              <a:xfrm>
                <a:off x="2624137" y="292893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81" name="Freeform 81"/>
              <p:cNvSpPr/>
              <p:nvPr/>
            </p:nvSpPr>
            <p:spPr>
              <a:xfrm>
                <a:off x="2624137" y="296068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82" name="Freeform 82"/>
              <p:cNvSpPr/>
              <p:nvPr/>
            </p:nvSpPr>
            <p:spPr>
              <a:xfrm>
                <a:off x="2624137" y="299243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84" name="Line 84"/>
            <p:cNvSpPr/>
            <p:nvPr/>
          </p:nvSpPr>
          <p:spPr>
            <a:xfrm>
              <a:off x="2886075" y="2952750"/>
              <a:ext cx="371475" cy="1"/>
            </a:xfrm>
            <a:prstGeom prst="line">
              <a:avLst/>
            </a:prstGeom>
            <a:noFill/>
            <a:ln w="15240">
              <a:solidFill>
                <a:srgbClr val="A52D12"/>
              </a:solidFill>
              <a:tailEnd type="triangle" w="lg" len="lg"/>
            </a:ln>
          </p:spPr>
        </p:sp>
        <p:sp>
          <p:nvSpPr>
            <p:cNvPr id="85" name="Ellipse 85"/>
            <p:cNvSpPr/>
            <p:nvPr/>
          </p:nvSpPr>
          <p:spPr>
            <a:xfrm>
              <a:off x="3362325" y="2752725"/>
              <a:ext cx="400050" cy="400050"/>
            </a:xfrm>
            <a:prstGeom prst="ellipse">
              <a:avLst/>
            </a:prstGeom>
            <a:solidFill>
              <a:srgbClr val="A52D12"/>
            </a:solidFill>
            <a:ln>
              <a:noFill/>
            </a:ln>
          </p:spPr>
        </p:sp>
        <p:grpSp>
          <p:nvGrpSpPr>
            <p:cNvPr id="88" name="Group 88"/>
            <p:cNvGrpSpPr/>
            <p:nvPr/>
          </p:nvGrpSpPr>
          <p:grpSpPr>
            <a:xfrm>
              <a:off x="3490912" y="2905125"/>
              <a:ext cx="142875" cy="95250"/>
              <a:chOff x="3490912" y="2905125"/>
              <a:chExt cx="142875" cy="95250"/>
            </a:xfrm>
          </p:grpSpPr>
          <p:sp>
            <p:nvSpPr>
              <p:cNvPr id="86" name="Freeform 86"/>
              <p:cNvSpPr/>
              <p:nvPr/>
            </p:nvSpPr>
            <p:spPr>
              <a:xfrm>
                <a:off x="3546475" y="293687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87" name="Freeform 87"/>
              <p:cNvSpPr/>
              <p:nvPr/>
            </p:nvSpPr>
            <p:spPr>
              <a:xfrm>
                <a:off x="3490912" y="2905125"/>
                <a:ext cx="142875" cy="95250"/>
              </a:xfrm>
              <a:custGeom>
                <a:avLst/>
                <a:gdLst/>
                <a:ahLst/>
                <a:cxnLst/>
                <a:rect l="l" t="t" r="r" b="b"/>
                <a:pathLst>
                  <a:path w="142875" h="95250">
                    <a:moveTo>
                      <a:pt x="142875" y="47625"/>
                    </a:moveTo>
                    <a:cubicBezTo>
                      <a:pt x="123825" y="79375"/>
                      <a:pt x="100012" y="95250"/>
                      <a:pt x="71437" y="95250"/>
                    </a:cubicBezTo>
                    <a:cubicBezTo>
                      <a:pt x="42862" y="95250"/>
                      <a:pt x="19050" y="79375"/>
                      <a:pt x="0" y="47625"/>
                    </a:cubicBezTo>
                    <a:cubicBezTo>
                      <a:pt x="19050" y="15875"/>
                      <a:pt x="42862" y="0"/>
                      <a:pt x="71437" y="0"/>
                    </a:cubicBezTo>
                    <a:cubicBezTo>
                      <a:pt x="100012" y="0"/>
                      <a:pt x="123825" y="15875"/>
                      <a:pt x="142875" y="47625"/>
                    </a:cubicBezTo>
                  </a:path>
                </a:pathLst>
              </a:custGeom>
              <a:noFill/>
              <a:ln w="15875">
                <a:solidFill>
                  <a:srgbClr val="FFFFFF"/>
                </a:solidFill>
              </a:ln>
            </p:spPr>
          </p:sp>
        </p:grpSp>
        <p:sp>
          <p:nvSpPr>
            <p:cNvPr id="89" name="Line 89"/>
            <p:cNvSpPr/>
            <p:nvPr/>
          </p:nvSpPr>
          <p:spPr>
            <a:xfrm>
              <a:off x="3800475" y="2952750"/>
              <a:ext cx="371475" cy="1"/>
            </a:xfrm>
            <a:prstGeom prst="line">
              <a:avLst/>
            </a:prstGeom>
            <a:noFill/>
            <a:ln w="15240">
              <a:solidFill>
                <a:srgbClr val="A52D12"/>
              </a:solidFill>
              <a:tailEnd type="triangle" w="lg" len="lg"/>
            </a:ln>
          </p:spPr>
        </p:sp>
        <p:sp>
          <p:nvSpPr>
            <p:cNvPr id="90" name="Ellipse 90"/>
            <p:cNvSpPr/>
            <p:nvPr/>
          </p:nvSpPr>
          <p:spPr>
            <a:xfrm>
              <a:off x="4276725" y="2752725"/>
              <a:ext cx="400050" cy="400050"/>
            </a:xfrm>
            <a:prstGeom prst="ellipse">
              <a:avLst/>
            </a:prstGeom>
            <a:solidFill>
              <a:srgbClr val="A52D12"/>
            </a:solidFill>
            <a:ln>
              <a:noFill/>
            </a:ln>
          </p:spPr>
        </p:sp>
        <p:grpSp>
          <p:nvGrpSpPr>
            <p:cNvPr id="94" name="Group 94"/>
            <p:cNvGrpSpPr/>
            <p:nvPr/>
          </p:nvGrpSpPr>
          <p:grpSpPr>
            <a:xfrm>
              <a:off x="4396699" y="2878675"/>
              <a:ext cx="160095" cy="137543"/>
              <a:chOff x="4396699" y="2878675"/>
              <a:chExt cx="160095" cy="137543"/>
            </a:xfrm>
          </p:grpSpPr>
          <p:sp>
            <p:nvSpPr>
              <p:cNvPr id="91" name="Freeform 91"/>
              <p:cNvSpPr/>
              <p:nvPr/>
            </p:nvSpPr>
            <p:spPr>
              <a:xfrm>
                <a:off x="4476750" y="2928937"/>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92" name="Freeform 92"/>
              <p:cNvSpPr/>
              <p:nvPr/>
            </p:nvSpPr>
            <p:spPr>
              <a:xfrm>
                <a:off x="4396699" y="287867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FFFFFF"/>
                </a:solidFill>
              </a:ln>
            </p:spPr>
          </p:sp>
          <p:sp>
            <p:nvSpPr>
              <p:cNvPr id="93" name="Freeform 93"/>
              <p:cNvSpPr/>
              <p:nvPr/>
            </p:nvSpPr>
            <p:spPr>
              <a:xfrm>
                <a:off x="4476750" y="2984500"/>
                <a:ext cx="9525" cy="9525"/>
              </a:xfrm>
              <a:custGeom>
                <a:avLst/>
                <a:gdLst/>
                <a:ahLst/>
                <a:cxnLst/>
                <a:rect l="l" t="t" r="r" b="b"/>
                <a:pathLst>
                  <a:path w="9525" h="9525">
                    <a:moveTo>
                      <a:pt x="0" y="0"/>
                    </a:moveTo>
                    <a:lnTo>
                      <a:pt x="79" y="0"/>
                    </a:lnTo>
                  </a:path>
                </a:pathLst>
              </a:custGeom>
              <a:noFill/>
              <a:ln w="15875">
                <a:solidFill>
                  <a:srgbClr val="FFFFFF"/>
                </a:solidFill>
              </a:ln>
            </p:spPr>
          </p:sp>
        </p:grpSp>
        <p:sp>
          <p:nvSpPr>
            <p:cNvPr id="95" name="Line 95"/>
            <p:cNvSpPr/>
            <p:nvPr/>
          </p:nvSpPr>
          <p:spPr>
            <a:xfrm>
              <a:off x="4714875" y="2952750"/>
              <a:ext cx="371475" cy="1"/>
            </a:xfrm>
            <a:prstGeom prst="line">
              <a:avLst/>
            </a:prstGeom>
            <a:noFill/>
            <a:ln w="15240">
              <a:solidFill>
                <a:srgbClr val="A52D12"/>
              </a:solidFill>
              <a:tailEnd type="triangle" w="lg" len="lg"/>
            </a:ln>
          </p:spPr>
        </p:sp>
        <p:sp>
          <p:nvSpPr>
            <p:cNvPr id="96" name="Ellipse 96"/>
            <p:cNvSpPr/>
            <p:nvPr/>
          </p:nvSpPr>
          <p:spPr>
            <a:xfrm>
              <a:off x="5191125" y="2752725"/>
              <a:ext cx="400050" cy="400050"/>
            </a:xfrm>
            <a:prstGeom prst="ellipse">
              <a:avLst/>
            </a:prstGeom>
            <a:solidFill>
              <a:srgbClr val="A52D12"/>
            </a:solidFill>
            <a:ln>
              <a:noFill/>
            </a:ln>
          </p:spPr>
        </p:sp>
        <p:grpSp>
          <p:nvGrpSpPr>
            <p:cNvPr id="99" name="Group 99"/>
            <p:cNvGrpSpPr/>
            <p:nvPr/>
          </p:nvGrpSpPr>
          <p:grpSpPr>
            <a:xfrm>
              <a:off x="5327650" y="2886187"/>
              <a:ext cx="127000" cy="133125"/>
              <a:chOff x="5327650" y="2886187"/>
              <a:chExt cx="127000" cy="133125"/>
            </a:xfrm>
          </p:grpSpPr>
          <p:sp>
            <p:nvSpPr>
              <p:cNvPr id="97" name="Freeform 97"/>
              <p:cNvSpPr/>
              <p:nvPr/>
            </p:nvSpPr>
            <p:spPr>
              <a:xfrm>
                <a:off x="5327650" y="2886187"/>
                <a:ext cx="127000" cy="58625"/>
              </a:xfrm>
              <a:custGeom>
                <a:avLst/>
                <a:gdLst/>
                <a:ahLst/>
                <a:cxnLst/>
                <a:rect l="l" t="t" r="r" b="b"/>
                <a:pathLst>
                  <a:path w="127000" h="58625">
                    <a:moveTo>
                      <a:pt x="127000" y="58625"/>
                    </a:moveTo>
                    <a:cubicBezTo>
                      <a:pt x="123010" y="29911"/>
                      <a:pt x="100297" y="7420"/>
                      <a:pt x="71546" y="3710"/>
                    </a:cubicBezTo>
                    <a:cubicBezTo>
                      <a:pt x="42795" y="0"/>
                      <a:pt x="15117" y="15990"/>
                      <a:pt x="3969" y="42750"/>
                    </a:cubicBezTo>
                    <a:moveTo>
                      <a:pt x="0" y="11000"/>
                    </a:moveTo>
                    <a:lnTo>
                      <a:pt x="0" y="42750"/>
                    </a:lnTo>
                    <a:lnTo>
                      <a:pt x="31750" y="42750"/>
                    </a:lnTo>
                  </a:path>
                </a:pathLst>
              </a:custGeom>
              <a:noFill/>
              <a:ln w="15875">
                <a:solidFill>
                  <a:srgbClr val="FFFFFF"/>
                </a:solidFill>
              </a:ln>
            </p:spPr>
          </p:sp>
          <p:sp>
            <p:nvSpPr>
              <p:cNvPr id="98" name="Freeform 98"/>
              <p:cNvSpPr/>
              <p:nvPr/>
            </p:nvSpPr>
            <p:spPr>
              <a:xfrm>
                <a:off x="5327650" y="2960687"/>
                <a:ext cx="127000" cy="58625"/>
              </a:xfrm>
              <a:custGeom>
                <a:avLst/>
                <a:gdLst/>
                <a:ahLst/>
                <a:cxnLst/>
                <a:rect l="l" t="t" r="r" b="b"/>
                <a:pathLst>
                  <a:path w="127000" h="58625">
                    <a:moveTo>
                      <a:pt x="0" y="0"/>
                    </a:moveTo>
                    <a:cubicBezTo>
                      <a:pt x="3990" y="28714"/>
                      <a:pt x="26703" y="51205"/>
                      <a:pt x="55454" y="54915"/>
                    </a:cubicBezTo>
                    <a:cubicBezTo>
                      <a:pt x="84205" y="58625"/>
                      <a:pt x="111883" y="42635"/>
                      <a:pt x="123031" y="15875"/>
                    </a:cubicBezTo>
                    <a:moveTo>
                      <a:pt x="127000" y="47625"/>
                    </a:moveTo>
                    <a:lnTo>
                      <a:pt x="127000" y="15875"/>
                    </a:lnTo>
                    <a:lnTo>
                      <a:pt x="95250" y="15875"/>
                    </a:lnTo>
                  </a:path>
                </a:pathLst>
              </a:custGeom>
              <a:noFill/>
              <a:ln w="15875">
                <a:solidFill>
                  <a:srgbClr val="FFFFFF"/>
                </a:solidFill>
              </a:ln>
            </p:spPr>
          </p:sp>
        </p:grpSp>
        <p:sp>
          <p:nvSpPr>
            <p:cNvPr id="100" name="TextBox 100"/>
            <p:cNvSpPr txBox="1"/>
            <p:nvPr/>
          </p:nvSpPr>
          <p:spPr>
            <a:xfrm>
              <a:off x="572072" y="32556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风险偏好</a:t>
              </a:r>
            </a:p>
          </p:txBody>
        </p:sp>
        <p:sp>
          <p:nvSpPr>
            <p:cNvPr id="101" name="TextBox 101"/>
            <p:cNvSpPr txBox="1"/>
            <p:nvPr/>
          </p:nvSpPr>
          <p:spPr>
            <a:xfrm>
              <a:off x="539763" y="3441859"/>
              <a:ext cx="558775"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明确风险偏好</a:t>
              </a:r>
            </a:p>
          </p:txBody>
        </p:sp>
        <p:sp>
          <p:nvSpPr>
            <p:cNvPr id="102" name="TextBox 102"/>
            <p:cNvSpPr txBox="1"/>
            <p:nvPr/>
          </p:nvSpPr>
          <p:spPr>
            <a:xfrm>
              <a:off x="585534" y="3565684"/>
              <a:ext cx="467233"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与限额管理</a:t>
              </a:r>
            </a:p>
          </p:txBody>
        </p:sp>
        <p:sp>
          <p:nvSpPr>
            <p:cNvPr id="103" name="TextBox 103"/>
            <p:cNvSpPr txBox="1"/>
            <p:nvPr/>
          </p:nvSpPr>
          <p:spPr>
            <a:xfrm>
              <a:off x="1486472" y="32556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客户准入</a:t>
              </a:r>
            </a:p>
          </p:txBody>
        </p:sp>
        <p:sp>
          <p:nvSpPr>
            <p:cNvPr id="104" name="TextBox 104"/>
            <p:cNvSpPr txBox="1"/>
            <p:nvPr/>
          </p:nvSpPr>
          <p:spPr>
            <a:xfrm>
              <a:off x="1499934" y="3441859"/>
              <a:ext cx="467233"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客户画像与</a:t>
              </a:r>
            </a:p>
          </p:txBody>
        </p:sp>
        <p:sp>
          <p:nvSpPr>
            <p:cNvPr id="105" name="TextBox 105"/>
            <p:cNvSpPr txBox="1"/>
            <p:nvPr/>
          </p:nvSpPr>
          <p:spPr>
            <a:xfrm>
              <a:off x="1545704" y="3565684"/>
              <a:ext cx="375691"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准入评估</a:t>
              </a:r>
            </a:p>
          </p:txBody>
        </p:sp>
        <p:sp>
          <p:nvSpPr>
            <p:cNvPr id="106" name="TextBox 106"/>
            <p:cNvSpPr txBox="1"/>
            <p:nvPr/>
          </p:nvSpPr>
          <p:spPr>
            <a:xfrm>
              <a:off x="2400872" y="32556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授信审批</a:t>
              </a:r>
            </a:p>
          </p:txBody>
        </p:sp>
        <p:sp>
          <p:nvSpPr>
            <p:cNvPr id="107" name="TextBox 107"/>
            <p:cNvSpPr txBox="1"/>
            <p:nvPr/>
          </p:nvSpPr>
          <p:spPr>
            <a:xfrm>
              <a:off x="2414334" y="3441859"/>
              <a:ext cx="467233"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合规审查与</a:t>
              </a:r>
            </a:p>
          </p:txBody>
        </p:sp>
        <p:sp>
          <p:nvSpPr>
            <p:cNvPr id="108" name="TextBox 108"/>
            <p:cNvSpPr txBox="1"/>
            <p:nvPr/>
          </p:nvSpPr>
          <p:spPr>
            <a:xfrm>
              <a:off x="2460104" y="3565684"/>
              <a:ext cx="375691"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授信决策</a:t>
              </a:r>
            </a:p>
          </p:txBody>
        </p:sp>
        <p:sp>
          <p:nvSpPr>
            <p:cNvPr id="109" name="TextBox 109"/>
            <p:cNvSpPr txBox="1"/>
            <p:nvPr/>
          </p:nvSpPr>
          <p:spPr>
            <a:xfrm>
              <a:off x="3315272" y="32556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贷后监测</a:t>
              </a:r>
            </a:p>
          </p:txBody>
        </p:sp>
        <p:sp>
          <p:nvSpPr>
            <p:cNvPr id="110" name="TextBox 110"/>
            <p:cNvSpPr txBox="1"/>
            <p:nvPr/>
          </p:nvSpPr>
          <p:spPr>
            <a:xfrm>
              <a:off x="3328734" y="3441859"/>
              <a:ext cx="467233"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持续监测与</a:t>
              </a:r>
            </a:p>
          </p:txBody>
        </p:sp>
        <p:sp>
          <p:nvSpPr>
            <p:cNvPr id="111" name="TextBox 111"/>
            <p:cNvSpPr txBox="1"/>
            <p:nvPr/>
          </p:nvSpPr>
          <p:spPr>
            <a:xfrm>
              <a:off x="3374504" y="3565684"/>
              <a:ext cx="375691"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风险跟踪</a:t>
              </a:r>
            </a:p>
          </p:txBody>
        </p:sp>
        <p:sp>
          <p:nvSpPr>
            <p:cNvPr id="112" name="TextBox 112"/>
            <p:cNvSpPr txBox="1"/>
            <p:nvPr/>
          </p:nvSpPr>
          <p:spPr>
            <a:xfrm>
              <a:off x="4229672" y="32556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预警处置</a:t>
              </a:r>
            </a:p>
          </p:txBody>
        </p:sp>
        <p:sp>
          <p:nvSpPr>
            <p:cNvPr id="113" name="TextBox 113"/>
            <p:cNvSpPr txBox="1"/>
            <p:nvPr/>
          </p:nvSpPr>
          <p:spPr>
            <a:xfrm>
              <a:off x="4243134" y="3441859"/>
              <a:ext cx="467233"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预警触发与</a:t>
              </a:r>
            </a:p>
          </p:txBody>
        </p:sp>
        <p:sp>
          <p:nvSpPr>
            <p:cNvPr id="114" name="TextBox 114"/>
            <p:cNvSpPr txBox="1"/>
            <p:nvPr/>
          </p:nvSpPr>
          <p:spPr>
            <a:xfrm>
              <a:off x="4288904" y="3565684"/>
              <a:ext cx="375691"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分类处置</a:t>
              </a:r>
            </a:p>
          </p:txBody>
        </p:sp>
        <p:sp>
          <p:nvSpPr>
            <p:cNvPr id="115" name="TextBox 115"/>
            <p:cNvSpPr txBox="1"/>
            <p:nvPr/>
          </p:nvSpPr>
          <p:spPr>
            <a:xfrm>
              <a:off x="5144071" y="3255645"/>
              <a:ext cx="494157" cy="176212"/>
            </a:xfrm>
            <a:prstGeom prst="rect">
              <a:avLst/>
            </a:prstGeom>
            <a:noFill/>
            <a:ln>
              <a:noFill/>
            </a:ln>
          </p:spPr>
          <p:txBody>
            <a:bodyPr wrap="none" lIns="0" tIns="0" rIns="0" bIns="0" anchor="t" anchorCtr="0">
              <a:spAutoFit/>
            </a:bodyPr>
            <a:lstStyle/>
            <a:p>
              <a:pPr algn="ctr"/>
              <a:r>
                <a:rPr lang="zh-CN" sz="900" b="1" dirty="0">
                  <a:solidFill>
                    <a:srgbClr val="1F1F1F"/>
                  </a:solidFill>
                  <a:latin typeface="+mn-lt"/>
                  <a:ea typeface="+mn-ea"/>
                  <a:cs typeface="+mn-cs"/>
                </a:rPr>
                <a:t>复盘问责</a:t>
              </a:r>
            </a:p>
          </p:txBody>
        </p:sp>
        <p:sp>
          <p:nvSpPr>
            <p:cNvPr id="116" name="TextBox 116"/>
            <p:cNvSpPr txBox="1"/>
            <p:nvPr/>
          </p:nvSpPr>
          <p:spPr>
            <a:xfrm>
              <a:off x="5157534" y="3441859"/>
              <a:ext cx="467233"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复盘评估与</a:t>
              </a:r>
            </a:p>
          </p:txBody>
        </p:sp>
        <p:sp>
          <p:nvSpPr>
            <p:cNvPr id="117" name="TextBox 117"/>
            <p:cNvSpPr txBox="1"/>
            <p:nvPr/>
          </p:nvSpPr>
          <p:spPr>
            <a:xfrm>
              <a:off x="5203304" y="3565684"/>
              <a:ext cx="375691" cy="133350"/>
            </a:xfrm>
            <a:prstGeom prst="rect">
              <a:avLst/>
            </a:prstGeom>
            <a:noFill/>
            <a:ln>
              <a:noFill/>
            </a:ln>
          </p:spPr>
          <p:txBody>
            <a:bodyPr wrap="none" lIns="0" tIns="0" rIns="0" bIns="0" anchor="t" anchorCtr="0">
              <a:spAutoFit/>
            </a:bodyPr>
            <a:lstStyle/>
            <a:p>
              <a:pPr algn="ctr"/>
              <a:r>
                <a:rPr lang="zh-CN" sz="680" dirty="0">
                  <a:solidFill>
                    <a:srgbClr val="6B6B6B"/>
                  </a:solidFill>
                  <a:latin typeface="+mn-lt"/>
                  <a:ea typeface="+mn-ea"/>
                  <a:cs typeface="+mn-cs"/>
                </a:rPr>
                <a:t>问责改进</a:t>
              </a:r>
            </a:p>
          </p:txBody>
        </p:sp>
        <p:sp>
          <p:nvSpPr>
            <p:cNvPr id="118" name="Freeform 118"/>
            <p:cNvSpPr/>
            <p:nvPr/>
          </p:nvSpPr>
          <p:spPr>
            <a:xfrm>
              <a:off x="819150" y="3771900"/>
              <a:ext cx="4572000" cy="419100"/>
            </a:xfrm>
            <a:custGeom>
              <a:avLst/>
              <a:gdLst/>
              <a:ahLst/>
              <a:cxnLst/>
              <a:rect l="l" t="t" r="r" b="b"/>
              <a:pathLst>
                <a:path w="4572000" h="419100">
                  <a:moveTo>
                    <a:pt x="4572000" y="0"/>
                  </a:moveTo>
                  <a:lnTo>
                    <a:pt x="4572000" y="419100"/>
                  </a:lnTo>
                  <a:lnTo>
                    <a:pt x="0" y="419100"/>
                  </a:lnTo>
                  <a:lnTo>
                    <a:pt x="0" y="38100"/>
                  </a:lnTo>
                </a:path>
              </a:pathLst>
            </a:custGeom>
            <a:noFill/>
            <a:ln w="13335">
              <a:solidFill>
                <a:srgbClr val="A52D12"/>
              </a:solidFill>
              <a:custDash>
                <a:ds d="357143" sp="285714"/>
              </a:custDash>
              <a:tailEnd type="triangle" w="lg" len="lg"/>
            </a:ln>
          </p:spPr>
        </p:sp>
        <p:sp>
          <p:nvSpPr>
            <p:cNvPr id="119" name="Rectangle 119"/>
            <p:cNvSpPr/>
            <p:nvPr/>
          </p:nvSpPr>
          <p:spPr>
            <a:xfrm>
              <a:off x="2438400" y="4076700"/>
              <a:ext cx="1409700" cy="228600"/>
            </a:xfrm>
            <a:prstGeom prst="roundRect">
              <a:avLst>
                <a:gd name="adj" fmla="val 16667"/>
              </a:avLst>
            </a:prstGeom>
            <a:solidFill>
              <a:srgbClr val="F7E9E7"/>
            </a:solidFill>
            <a:ln>
              <a:noFill/>
            </a:ln>
          </p:spPr>
        </p:sp>
        <p:sp>
          <p:nvSpPr>
            <p:cNvPr id="120" name="TextBox 120"/>
            <p:cNvSpPr txBox="1"/>
            <p:nvPr/>
          </p:nvSpPr>
          <p:spPr>
            <a:xfrm>
              <a:off x="2605497" y="4135993"/>
              <a:ext cx="1075507" cy="169069"/>
            </a:xfrm>
            <a:prstGeom prst="rect">
              <a:avLst/>
            </a:prstGeom>
            <a:noFill/>
            <a:ln>
              <a:noFill/>
            </a:ln>
          </p:spPr>
          <p:txBody>
            <a:bodyPr wrap="none" lIns="0" tIns="0" rIns="0" bIns="0" anchor="t" anchorCtr="0">
              <a:spAutoFit/>
            </a:bodyPr>
            <a:lstStyle/>
            <a:p>
              <a:pPr algn="ctr"/>
              <a:r>
                <a:rPr lang="zh-CN" sz="860" b="1" dirty="0">
                  <a:solidFill>
                    <a:srgbClr val="A52D12"/>
                  </a:solidFill>
                  <a:latin typeface="+mn-lt"/>
                  <a:ea typeface="+mn-ea"/>
                  <a:cs typeface="+mn-cs"/>
                </a:rPr>
                <a:t>闭环管理 · 持续优化</a:t>
              </a:r>
            </a:p>
          </p:txBody>
        </p:sp>
      </p:grpSp>
      <p:grpSp>
        <p:nvGrpSpPr>
          <p:cNvPr id="147" name="risk-radar"/>
          <p:cNvGrpSpPr/>
          <p:nvPr/>
        </p:nvGrpSpPr>
        <p:grpSpPr>
          <a:xfrm>
            <a:off x="6019800" y="2247900"/>
            <a:ext cx="2552700" cy="2724150"/>
            <a:chOff x="6019800" y="2247900"/>
            <a:chExt cx="2552700" cy="2724150"/>
          </a:xfrm>
        </p:grpSpPr>
        <p:sp>
          <p:nvSpPr>
            <p:cNvPr id="122" name="Rectangle 122"/>
            <p:cNvSpPr/>
            <p:nvPr/>
          </p:nvSpPr>
          <p:spPr>
            <a:xfrm>
              <a:off x="6019800" y="2247900"/>
              <a:ext cx="2552700" cy="2724150"/>
            </a:xfrm>
            <a:prstGeom prst="roundRect">
              <a:avLst>
                <a:gd name="adj" fmla="val 2985"/>
              </a:avLst>
            </a:prstGeom>
            <a:solidFill>
              <a:srgbClr val="FDF6F5"/>
            </a:solidFill>
            <a:ln w="9525">
              <a:solidFill>
                <a:srgbClr val="EDD5D2"/>
              </a:solidFill>
            </a:ln>
          </p:spPr>
        </p:sp>
        <p:sp>
          <p:nvSpPr>
            <p:cNvPr id="123" name="Freeform 123"/>
            <p:cNvSpPr/>
            <p:nvPr/>
          </p:nvSpPr>
          <p:spPr>
            <a:xfrm>
              <a:off x="6029325" y="2257425"/>
              <a:ext cx="2533650" cy="228600"/>
            </a:xfrm>
            <a:custGeom>
              <a:avLst/>
              <a:gdLst/>
              <a:ahLst/>
              <a:cxnLst/>
              <a:rect l="l" t="t" r="r" b="b"/>
              <a:pathLst>
                <a:path w="2533650" h="228600">
                  <a:moveTo>
                    <a:pt x="0" y="228600"/>
                  </a:moveTo>
                  <a:lnTo>
                    <a:pt x="2533650" y="228600"/>
                  </a:lnTo>
                  <a:lnTo>
                    <a:pt x="2533650" y="66675"/>
                  </a:lnTo>
                  <a:cubicBezTo>
                    <a:pt x="2533650" y="29851"/>
                    <a:pt x="2503799" y="0"/>
                    <a:pt x="2466975" y="0"/>
                  </a:cubicBezTo>
                  <a:lnTo>
                    <a:pt x="66675" y="0"/>
                  </a:lnTo>
                  <a:cubicBezTo>
                    <a:pt x="29851" y="0"/>
                    <a:pt x="0" y="29851"/>
                    <a:pt x="0" y="66675"/>
                  </a:cubicBezTo>
                  <a:close/>
                </a:path>
              </a:pathLst>
            </a:custGeom>
            <a:solidFill>
              <a:srgbClr val="A52D12"/>
            </a:solidFill>
            <a:ln>
              <a:noFill/>
            </a:ln>
          </p:spPr>
        </p:sp>
        <p:sp>
          <p:nvSpPr>
            <p:cNvPr id="124" name="TextBox 124"/>
            <p:cNvSpPr txBox="1"/>
            <p:nvPr/>
          </p:nvSpPr>
          <p:spPr>
            <a:xfrm>
              <a:off x="6866763" y="230600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四类风险雷达</a:t>
              </a:r>
            </a:p>
          </p:txBody>
        </p:sp>
        <p:sp>
          <p:nvSpPr>
            <p:cNvPr id="125" name="Polygon 125"/>
            <p:cNvSpPr/>
            <p:nvPr/>
          </p:nvSpPr>
          <p:spPr>
            <a:xfrm>
              <a:off x="6496050" y="2933700"/>
              <a:ext cx="1600200" cy="1600200"/>
            </a:xfrm>
            <a:custGeom>
              <a:avLst/>
              <a:gdLst/>
              <a:ahLst/>
              <a:cxnLst/>
              <a:rect l="l" t="t" r="r" b="b"/>
              <a:pathLst>
                <a:path w="1600200" h="1600200">
                  <a:moveTo>
                    <a:pt x="800100" y="0"/>
                  </a:moveTo>
                  <a:lnTo>
                    <a:pt x="1600200" y="800100"/>
                  </a:lnTo>
                  <a:lnTo>
                    <a:pt x="800100" y="1600200"/>
                  </a:lnTo>
                  <a:lnTo>
                    <a:pt x="0" y="800100"/>
                  </a:lnTo>
                  <a:close/>
                </a:path>
              </a:pathLst>
            </a:custGeom>
            <a:noFill/>
            <a:ln w="9525">
              <a:solidFill>
                <a:srgbClr val="E4D3D0"/>
              </a:solidFill>
            </a:ln>
          </p:spPr>
        </p:sp>
        <p:sp>
          <p:nvSpPr>
            <p:cNvPr id="126" name="Polygon 126"/>
            <p:cNvSpPr/>
            <p:nvPr/>
          </p:nvSpPr>
          <p:spPr>
            <a:xfrm>
              <a:off x="6696075" y="3133725"/>
              <a:ext cx="1200150" cy="1200150"/>
            </a:xfrm>
            <a:custGeom>
              <a:avLst/>
              <a:gdLst/>
              <a:ahLst/>
              <a:cxnLst/>
              <a:rect l="l" t="t" r="r" b="b"/>
              <a:pathLst>
                <a:path w="1200150" h="1200150">
                  <a:moveTo>
                    <a:pt x="600075" y="0"/>
                  </a:moveTo>
                  <a:lnTo>
                    <a:pt x="1200150" y="600075"/>
                  </a:lnTo>
                  <a:lnTo>
                    <a:pt x="600075" y="1200150"/>
                  </a:lnTo>
                  <a:lnTo>
                    <a:pt x="0" y="600075"/>
                  </a:lnTo>
                  <a:close/>
                </a:path>
              </a:pathLst>
            </a:custGeom>
            <a:noFill/>
            <a:ln w="9525">
              <a:solidFill>
                <a:srgbClr val="E4D3D0"/>
              </a:solidFill>
            </a:ln>
          </p:spPr>
        </p:sp>
        <p:sp>
          <p:nvSpPr>
            <p:cNvPr id="127" name="Polygon 127"/>
            <p:cNvSpPr/>
            <p:nvPr/>
          </p:nvSpPr>
          <p:spPr>
            <a:xfrm>
              <a:off x="6896100" y="3333750"/>
              <a:ext cx="800100" cy="800100"/>
            </a:xfrm>
            <a:custGeom>
              <a:avLst/>
              <a:gdLst/>
              <a:ahLst/>
              <a:cxnLst/>
              <a:rect l="l" t="t" r="r" b="b"/>
              <a:pathLst>
                <a:path w="800100" h="800100">
                  <a:moveTo>
                    <a:pt x="400050" y="0"/>
                  </a:moveTo>
                  <a:lnTo>
                    <a:pt x="800100" y="400050"/>
                  </a:lnTo>
                  <a:lnTo>
                    <a:pt x="400050" y="800100"/>
                  </a:lnTo>
                  <a:lnTo>
                    <a:pt x="0" y="400050"/>
                  </a:lnTo>
                  <a:close/>
                </a:path>
              </a:pathLst>
            </a:custGeom>
            <a:noFill/>
            <a:ln w="9525">
              <a:solidFill>
                <a:srgbClr val="E4D3D0"/>
              </a:solidFill>
            </a:ln>
          </p:spPr>
        </p:sp>
        <p:sp>
          <p:nvSpPr>
            <p:cNvPr id="128" name="Polygon 128"/>
            <p:cNvSpPr/>
            <p:nvPr/>
          </p:nvSpPr>
          <p:spPr>
            <a:xfrm>
              <a:off x="7096125" y="3533775"/>
              <a:ext cx="400050" cy="400050"/>
            </a:xfrm>
            <a:custGeom>
              <a:avLst/>
              <a:gdLst/>
              <a:ahLst/>
              <a:cxnLst/>
              <a:rect l="l" t="t" r="r" b="b"/>
              <a:pathLst>
                <a:path w="400050" h="400050">
                  <a:moveTo>
                    <a:pt x="200025" y="0"/>
                  </a:moveTo>
                  <a:lnTo>
                    <a:pt x="400050" y="200025"/>
                  </a:lnTo>
                  <a:lnTo>
                    <a:pt x="200025" y="400050"/>
                  </a:lnTo>
                  <a:lnTo>
                    <a:pt x="0" y="200025"/>
                  </a:lnTo>
                  <a:close/>
                </a:path>
              </a:pathLst>
            </a:custGeom>
            <a:noFill/>
            <a:ln w="9525">
              <a:solidFill>
                <a:srgbClr val="E4D3D0"/>
              </a:solidFill>
            </a:ln>
          </p:spPr>
        </p:sp>
        <p:sp>
          <p:nvSpPr>
            <p:cNvPr id="129" name="Line 129"/>
            <p:cNvSpPr/>
            <p:nvPr/>
          </p:nvSpPr>
          <p:spPr>
            <a:xfrm>
              <a:off x="7296150" y="2933700"/>
              <a:ext cx="9525" cy="1600200"/>
            </a:xfrm>
            <a:custGeom>
              <a:avLst/>
              <a:gdLst/>
              <a:ahLst/>
              <a:cxnLst/>
              <a:rect l="l" t="t" r="r" b="b"/>
              <a:pathLst>
                <a:path w="9525" h="1600200">
                  <a:moveTo>
                    <a:pt x="0" y="0"/>
                  </a:moveTo>
                  <a:lnTo>
                    <a:pt x="0" y="1600200"/>
                  </a:lnTo>
                </a:path>
              </a:pathLst>
            </a:custGeom>
            <a:noFill/>
            <a:ln w="9525">
              <a:solidFill>
                <a:srgbClr val="E4D3D0"/>
              </a:solidFill>
            </a:ln>
          </p:spPr>
        </p:sp>
        <p:sp>
          <p:nvSpPr>
            <p:cNvPr id="130" name="Line 130"/>
            <p:cNvSpPr/>
            <p:nvPr/>
          </p:nvSpPr>
          <p:spPr>
            <a:xfrm>
              <a:off x="6496050" y="3733800"/>
              <a:ext cx="1600200" cy="9525"/>
            </a:xfrm>
            <a:custGeom>
              <a:avLst/>
              <a:gdLst/>
              <a:ahLst/>
              <a:cxnLst/>
              <a:rect l="l" t="t" r="r" b="b"/>
              <a:pathLst>
                <a:path w="1600200" h="9525">
                  <a:moveTo>
                    <a:pt x="0" y="0"/>
                  </a:moveTo>
                  <a:lnTo>
                    <a:pt x="1600200" y="0"/>
                  </a:lnTo>
                </a:path>
              </a:pathLst>
            </a:custGeom>
            <a:noFill/>
            <a:ln w="9525">
              <a:solidFill>
                <a:srgbClr val="E4D3D0"/>
              </a:solidFill>
            </a:ln>
          </p:spPr>
        </p:sp>
        <p:sp>
          <p:nvSpPr>
            <p:cNvPr id="131" name="Polygon 131"/>
            <p:cNvSpPr/>
            <p:nvPr/>
          </p:nvSpPr>
          <p:spPr>
            <a:xfrm>
              <a:off x="6572250" y="3009900"/>
              <a:ext cx="1447800" cy="1447800"/>
            </a:xfrm>
            <a:custGeom>
              <a:avLst/>
              <a:gdLst/>
              <a:ahLst/>
              <a:cxnLst/>
              <a:rect l="l" t="t" r="r" b="b"/>
              <a:pathLst>
                <a:path w="1447800" h="1447800">
                  <a:moveTo>
                    <a:pt x="723900" y="0"/>
                  </a:moveTo>
                  <a:lnTo>
                    <a:pt x="1447800" y="723900"/>
                  </a:lnTo>
                  <a:lnTo>
                    <a:pt x="723900" y="1447800"/>
                  </a:lnTo>
                  <a:lnTo>
                    <a:pt x="0" y="723900"/>
                  </a:lnTo>
                  <a:close/>
                </a:path>
              </a:pathLst>
            </a:custGeom>
            <a:noFill/>
            <a:ln w="15240">
              <a:solidFill>
                <a:srgbClr val="E4AFA6"/>
              </a:solidFill>
              <a:custDash>
                <a:ds d="250000" sp="187500"/>
              </a:custDash>
            </a:ln>
          </p:spPr>
        </p:sp>
        <p:sp>
          <p:nvSpPr>
            <p:cNvPr id="132" name="Polygon 132"/>
            <p:cNvSpPr/>
            <p:nvPr/>
          </p:nvSpPr>
          <p:spPr>
            <a:xfrm>
              <a:off x="6953250" y="3238500"/>
              <a:ext cx="781050" cy="933450"/>
            </a:xfrm>
            <a:custGeom>
              <a:avLst/>
              <a:gdLst/>
              <a:ahLst/>
              <a:cxnLst/>
              <a:rect l="l" t="t" r="r" b="b"/>
              <a:pathLst>
                <a:path w="781050" h="933450">
                  <a:moveTo>
                    <a:pt x="342900" y="0"/>
                  </a:moveTo>
                  <a:lnTo>
                    <a:pt x="781050" y="495300"/>
                  </a:lnTo>
                  <a:lnTo>
                    <a:pt x="342900" y="933450"/>
                  </a:lnTo>
                  <a:lnTo>
                    <a:pt x="0" y="495300"/>
                  </a:lnTo>
                  <a:close/>
                </a:path>
              </a:pathLst>
            </a:custGeom>
            <a:solidFill>
              <a:srgbClr val="A52D12">
                <a:alpha val="18000"/>
              </a:srgbClr>
            </a:solidFill>
            <a:ln w="19050">
              <a:solidFill>
                <a:srgbClr val="A52D12"/>
              </a:solidFill>
            </a:ln>
          </p:spPr>
        </p:sp>
        <p:sp>
          <p:nvSpPr>
            <p:cNvPr id="133" name="TextBox 133"/>
            <p:cNvSpPr txBox="1"/>
            <p:nvPr/>
          </p:nvSpPr>
          <p:spPr>
            <a:xfrm>
              <a:off x="7078688" y="2753439"/>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信用风险</a:t>
              </a:r>
            </a:p>
          </p:txBody>
        </p:sp>
        <p:sp>
          <p:nvSpPr>
            <p:cNvPr id="134" name="TextBox 134"/>
            <p:cNvSpPr txBox="1"/>
            <p:nvPr/>
          </p:nvSpPr>
          <p:spPr>
            <a:xfrm>
              <a:off x="8148638" y="3610689"/>
              <a:ext cx="222225"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市场</a:t>
              </a:r>
            </a:p>
          </p:txBody>
        </p:sp>
        <p:sp>
          <p:nvSpPr>
            <p:cNvPr id="135" name="TextBox 135"/>
            <p:cNvSpPr txBox="1"/>
            <p:nvPr/>
          </p:nvSpPr>
          <p:spPr>
            <a:xfrm>
              <a:off x="8148638" y="3734514"/>
              <a:ext cx="222225"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风险</a:t>
              </a:r>
            </a:p>
          </p:txBody>
        </p:sp>
        <p:sp>
          <p:nvSpPr>
            <p:cNvPr id="136" name="TextBox 136"/>
            <p:cNvSpPr txBox="1"/>
            <p:nvPr/>
          </p:nvSpPr>
          <p:spPr>
            <a:xfrm>
              <a:off x="7078688" y="4610814"/>
              <a:ext cx="434924" cy="154781"/>
            </a:xfrm>
            <a:prstGeom prst="rect">
              <a:avLst/>
            </a:prstGeom>
            <a:noFill/>
            <a:ln>
              <a:noFill/>
            </a:ln>
          </p:spPr>
          <p:txBody>
            <a:bodyPr wrap="none" lIns="0" tIns="0" rIns="0" bIns="0" anchor="t" anchorCtr="0">
              <a:spAutoFit/>
            </a:bodyPr>
            <a:lstStyle/>
            <a:p>
              <a:pPr algn="ctr"/>
              <a:r>
                <a:rPr lang="zh-CN" sz="790" dirty="0">
                  <a:solidFill>
                    <a:srgbClr val="3A3A3A"/>
                  </a:solidFill>
                  <a:latin typeface="+mn-lt"/>
                  <a:ea typeface="+mn-ea"/>
                  <a:cs typeface="+mn-cs"/>
                </a:rPr>
                <a:t>操作风险</a:t>
              </a:r>
            </a:p>
          </p:txBody>
        </p:sp>
        <p:sp>
          <p:nvSpPr>
            <p:cNvPr id="137" name="TextBox 137"/>
            <p:cNvSpPr txBox="1"/>
            <p:nvPr/>
          </p:nvSpPr>
          <p:spPr>
            <a:xfrm>
              <a:off x="6115088" y="3610689"/>
              <a:ext cx="328574" cy="154781"/>
            </a:xfrm>
            <a:prstGeom prst="rect">
              <a:avLst/>
            </a:prstGeom>
            <a:noFill/>
            <a:ln>
              <a:noFill/>
            </a:ln>
          </p:spPr>
          <p:txBody>
            <a:bodyPr wrap="none" lIns="0" tIns="0" rIns="0" bIns="0" anchor="t" anchorCtr="0">
              <a:spAutoFit/>
            </a:bodyPr>
            <a:lstStyle/>
            <a:p>
              <a:pPr algn="r"/>
              <a:r>
                <a:rPr lang="zh-CN" sz="790" dirty="0">
                  <a:solidFill>
                    <a:srgbClr val="3A3A3A"/>
                  </a:solidFill>
                  <a:latin typeface="+mn-lt"/>
                  <a:ea typeface="+mn-ea"/>
                  <a:cs typeface="+mn-cs"/>
                </a:rPr>
                <a:t>流动性</a:t>
              </a:r>
            </a:p>
          </p:txBody>
        </p:sp>
        <p:sp>
          <p:nvSpPr>
            <p:cNvPr id="138" name="TextBox 138"/>
            <p:cNvSpPr txBox="1"/>
            <p:nvPr/>
          </p:nvSpPr>
          <p:spPr>
            <a:xfrm>
              <a:off x="6221438" y="3734514"/>
              <a:ext cx="222225" cy="154781"/>
            </a:xfrm>
            <a:prstGeom prst="rect">
              <a:avLst/>
            </a:prstGeom>
            <a:noFill/>
            <a:ln>
              <a:noFill/>
            </a:ln>
          </p:spPr>
          <p:txBody>
            <a:bodyPr wrap="none" lIns="0" tIns="0" rIns="0" bIns="0" anchor="t" anchorCtr="0">
              <a:spAutoFit/>
            </a:bodyPr>
            <a:lstStyle/>
            <a:p>
              <a:pPr algn="r"/>
              <a:r>
                <a:rPr lang="zh-CN" sz="790" dirty="0">
                  <a:solidFill>
                    <a:srgbClr val="3A3A3A"/>
                  </a:solidFill>
                  <a:latin typeface="+mn-lt"/>
                  <a:ea typeface="+mn-ea"/>
                  <a:cs typeface="+mn-cs"/>
                </a:rPr>
                <a:t>风险</a:t>
              </a:r>
            </a:p>
          </p:txBody>
        </p:sp>
        <p:sp>
          <p:nvSpPr>
            <p:cNvPr id="139" name="TextBox 139"/>
            <p:cNvSpPr txBox="1"/>
            <p:nvPr/>
          </p:nvSpPr>
          <p:spPr>
            <a:xfrm>
              <a:off x="7329488" y="2901553"/>
              <a:ext cx="231917" cy="111919"/>
            </a:xfrm>
            <a:prstGeom prst="rect">
              <a:avLst/>
            </a:prstGeom>
            <a:noFill/>
            <a:ln>
              <a:noFill/>
            </a:ln>
          </p:spPr>
          <p:txBody>
            <a:bodyPr wrap="none" lIns="0" tIns="0" rIns="0" bIns="0" anchor="t" anchorCtr="0">
              <a:spAutoFit/>
            </a:bodyPr>
            <a:lstStyle/>
            <a:p>
              <a:pPr algn="l"/>
              <a:r>
                <a:rPr lang="zh-CN" sz="560" dirty="0">
                  <a:solidFill>
                    <a:srgbClr val="8A8A8A"/>
                  </a:solidFill>
                  <a:latin typeface="+mn-lt"/>
                  <a:ea typeface="+mn-ea"/>
                  <a:cs typeface="+mn-cs"/>
                </a:rPr>
                <a:t>100%​</a:t>
              </a:r>
            </a:p>
          </p:txBody>
        </p:sp>
        <p:sp>
          <p:nvSpPr>
            <p:cNvPr id="140" name="TextBox 140"/>
            <p:cNvSpPr txBox="1"/>
            <p:nvPr/>
          </p:nvSpPr>
          <p:spPr>
            <a:xfrm>
              <a:off x="7329488" y="3101578"/>
              <a:ext cx="190454" cy="111919"/>
            </a:xfrm>
            <a:prstGeom prst="rect">
              <a:avLst/>
            </a:prstGeom>
            <a:noFill/>
            <a:ln>
              <a:noFill/>
            </a:ln>
          </p:spPr>
          <p:txBody>
            <a:bodyPr wrap="none" lIns="0" tIns="0" rIns="0" bIns="0" anchor="t" anchorCtr="0">
              <a:spAutoFit/>
            </a:bodyPr>
            <a:lstStyle/>
            <a:p>
              <a:pPr algn="l"/>
              <a:r>
                <a:rPr lang="zh-CN" sz="560" dirty="0">
                  <a:solidFill>
                    <a:srgbClr val="8A8A8A"/>
                  </a:solidFill>
                  <a:latin typeface="+mn-lt"/>
                  <a:ea typeface="+mn-ea"/>
                  <a:cs typeface="+mn-cs"/>
                </a:rPr>
                <a:t>75%​</a:t>
              </a:r>
            </a:p>
          </p:txBody>
        </p:sp>
        <p:sp>
          <p:nvSpPr>
            <p:cNvPr id="141" name="TextBox 141"/>
            <p:cNvSpPr txBox="1"/>
            <p:nvPr/>
          </p:nvSpPr>
          <p:spPr>
            <a:xfrm>
              <a:off x="7329488" y="3301603"/>
              <a:ext cx="190454" cy="111919"/>
            </a:xfrm>
            <a:prstGeom prst="rect">
              <a:avLst/>
            </a:prstGeom>
            <a:noFill/>
            <a:ln>
              <a:noFill/>
            </a:ln>
          </p:spPr>
          <p:txBody>
            <a:bodyPr wrap="none" lIns="0" tIns="0" rIns="0" bIns="0" anchor="t" anchorCtr="0">
              <a:spAutoFit/>
            </a:bodyPr>
            <a:lstStyle/>
            <a:p>
              <a:pPr algn="l"/>
              <a:r>
                <a:rPr lang="zh-CN" sz="560" dirty="0">
                  <a:solidFill>
                    <a:srgbClr val="8A8A8A"/>
                  </a:solidFill>
                  <a:latin typeface="+mn-lt"/>
                  <a:ea typeface="+mn-ea"/>
                  <a:cs typeface="+mn-cs"/>
                </a:rPr>
                <a:t>50%​</a:t>
              </a:r>
            </a:p>
          </p:txBody>
        </p:sp>
        <p:sp>
          <p:nvSpPr>
            <p:cNvPr id="142" name="TextBox 142"/>
            <p:cNvSpPr txBox="1"/>
            <p:nvPr/>
          </p:nvSpPr>
          <p:spPr>
            <a:xfrm>
              <a:off x="7329488" y="3501628"/>
              <a:ext cx="190454" cy="111919"/>
            </a:xfrm>
            <a:prstGeom prst="rect">
              <a:avLst/>
            </a:prstGeom>
            <a:noFill/>
            <a:ln>
              <a:noFill/>
            </a:ln>
          </p:spPr>
          <p:txBody>
            <a:bodyPr wrap="none" lIns="0" tIns="0" rIns="0" bIns="0" anchor="t" anchorCtr="0">
              <a:spAutoFit/>
            </a:bodyPr>
            <a:lstStyle/>
            <a:p>
              <a:pPr algn="l"/>
              <a:r>
                <a:rPr lang="zh-CN" sz="560" dirty="0">
                  <a:solidFill>
                    <a:srgbClr val="8A8A8A"/>
                  </a:solidFill>
                  <a:latin typeface="+mn-lt"/>
                  <a:ea typeface="+mn-ea"/>
                  <a:cs typeface="+mn-cs"/>
                </a:rPr>
                <a:t>25%​</a:t>
              </a:r>
            </a:p>
          </p:txBody>
        </p:sp>
        <p:sp>
          <p:nvSpPr>
            <p:cNvPr id="143" name="Line 143"/>
            <p:cNvSpPr/>
            <p:nvPr/>
          </p:nvSpPr>
          <p:spPr>
            <a:xfrm>
              <a:off x="6248400" y="4857750"/>
              <a:ext cx="190500" cy="9525"/>
            </a:xfrm>
            <a:custGeom>
              <a:avLst/>
              <a:gdLst/>
              <a:ahLst/>
              <a:cxnLst/>
              <a:rect l="l" t="t" r="r" b="b"/>
              <a:pathLst>
                <a:path w="190500" h="9525">
                  <a:moveTo>
                    <a:pt x="0" y="0"/>
                  </a:moveTo>
                  <a:lnTo>
                    <a:pt x="190500" y="0"/>
                  </a:lnTo>
                </a:path>
              </a:pathLst>
            </a:custGeom>
            <a:noFill/>
            <a:ln w="19050">
              <a:solidFill>
                <a:srgbClr val="A52D12"/>
              </a:solidFill>
            </a:ln>
          </p:spPr>
        </p:sp>
        <p:sp>
          <p:nvSpPr>
            <p:cNvPr id="144" name="TextBox 144"/>
            <p:cNvSpPr txBox="1"/>
            <p:nvPr/>
          </p:nvSpPr>
          <p:spPr>
            <a:xfrm>
              <a:off x="6491288" y="4818936"/>
              <a:ext cx="583006"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当前风险暴露</a:t>
              </a:r>
            </a:p>
          </p:txBody>
        </p:sp>
        <p:sp>
          <p:nvSpPr>
            <p:cNvPr id="145" name="Line 145"/>
            <p:cNvSpPr/>
            <p:nvPr/>
          </p:nvSpPr>
          <p:spPr>
            <a:xfrm>
              <a:off x="7372350" y="4857750"/>
              <a:ext cx="190500" cy="9525"/>
            </a:xfrm>
            <a:custGeom>
              <a:avLst/>
              <a:gdLst/>
              <a:ahLst/>
              <a:cxnLst/>
              <a:rect l="l" t="t" r="r" b="b"/>
              <a:pathLst>
                <a:path w="190500" h="9525">
                  <a:moveTo>
                    <a:pt x="0" y="0"/>
                  </a:moveTo>
                  <a:lnTo>
                    <a:pt x="190500" y="0"/>
                  </a:lnTo>
                </a:path>
              </a:pathLst>
            </a:custGeom>
            <a:noFill/>
            <a:ln w="15240">
              <a:solidFill>
                <a:srgbClr val="E4AFA6"/>
              </a:solidFill>
              <a:custDash>
                <a:ds d="250000" sp="187500"/>
              </a:custDash>
            </a:ln>
          </p:spPr>
        </p:sp>
        <p:sp>
          <p:nvSpPr>
            <p:cNvPr id="146" name="TextBox 146"/>
            <p:cNvSpPr txBox="1"/>
            <p:nvPr/>
          </p:nvSpPr>
          <p:spPr>
            <a:xfrm>
              <a:off x="7615238" y="4818936"/>
              <a:ext cx="583006"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风险容量上限</a:t>
              </a:r>
            </a:p>
          </p:txBody>
        </p:sp>
      </p:grpSp>
      <p:grpSp>
        <p:nvGrpSpPr>
          <p:cNvPr id="198" name="npl-chart"/>
          <p:cNvGrpSpPr/>
          <p:nvPr/>
        </p:nvGrpSpPr>
        <p:grpSpPr>
          <a:xfrm>
            <a:off x="8686800" y="2247900"/>
            <a:ext cx="3124200" cy="2724150"/>
            <a:chOff x="8686800" y="2247900"/>
            <a:chExt cx="3124200" cy="2724150"/>
          </a:xfrm>
        </p:grpSpPr>
        <p:sp>
          <p:nvSpPr>
            <p:cNvPr id="148" name="Rectangle 148"/>
            <p:cNvSpPr/>
            <p:nvPr/>
          </p:nvSpPr>
          <p:spPr>
            <a:xfrm>
              <a:off x="8686800" y="2247900"/>
              <a:ext cx="3124200" cy="2724150"/>
            </a:xfrm>
            <a:prstGeom prst="roundRect">
              <a:avLst>
                <a:gd name="adj" fmla="val 2797"/>
              </a:avLst>
            </a:prstGeom>
            <a:solidFill>
              <a:srgbClr val="FDF6F5"/>
            </a:solidFill>
            <a:ln w="9525">
              <a:solidFill>
                <a:srgbClr val="EDD5D2"/>
              </a:solidFill>
            </a:ln>
          </p:spPr>
        </p:sp>
        <p:sp>
          <p:nvSpPr>
            <p:cNvPr id="149" name="Freeform 149"/>
            <p:cNvSpPr/>
            <p:nvPr/>
          </p:nvSpPr>
          <p:spPr>
            <a:xfrm>
              <a:off x="8696325" y="2257425"/>
              <a:ext cx="3105150" cy="228600"/>
            </a:xfrm>
            <a:custGeom>
              <a:avLst/>
              <a:gdLst/>
              <a:ahLst/>
              <a:cxnLst/>
              <a:rect l="l" t="t" r="r" b="b"/>
              <a:pathLst>
                <a:path w="3105150" h="228600">
                  <a:moveTo>
                    <a:pt x="0" y="228600"/>
                  </a:moveTo>
                  <a:lnTo>
                    <a:pt x="3105150" y="228600"/>
                  </a:lnTo>
                  <a:lnTo>
                    <a:pt x="3105150" y="66675"/>
                  </a:lnTo>
                  <a:cubicBezTo>
                    <a:pt x="3105150" y="29851"/>
                    <a:pt x="3075299" y="0"/>
                    <a:pt x="3038475" y="0"/>
                  </a:cubicBezTo>
                  <a:lnTo>
                    <a:pt x="66675" y="0"/>
                  </a:lnTo>
                  <a:cubicBezTo>
                    <a:pt x="29851" y="0"/>
                    <a:pt x="0" y="29851"/>
                    <a:pt x="0" y="66675"/>
                  </a:cubicBezTo>
                  <a:close/>
                </a:path>
              </a:pathLst>
            </a:custGeom>
            <a:solidFill>
              <a:srgbClr val="A52D12"/>
            </a:solidFill>
            <a:ln>
              <a:noFill/>
            </a:ln>
          </p:spPr>
        </p:sp>
        <p:sp>
          <p:nvSpPr>
            <p:cNvPr id="150" name="TextBox 150"/>
            <p:cNvSpPr txBox="1"/>
            <p:nvPr/>
          </p:nvSpPr>
          <p:spPr>
            <a:xfrm>
              <a:off x="9536811" y="2306002"/>
              <a:ext cx="142417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不良处置额及同比增速</a:t>
              </a:r>
            </a:p>
          </p:txBody>
        </p:sp>
        <p:sp>
          <p:nvSpPr>
            <p:cNvPr id="151" name="Rectangle 151"/>
            <p:cNvSpPr/>
            <p:nvPr/>
          </p:nvSpPr>
          <p:spPr>
            <a:xfrm>
              <a:off x="8915400" y="2590800"/>
              <a:ext cx="95250" cy="95250"/>
            </a:xfrm>
            <a:prstGeom prst="rect">
              <a:avLst/>
            </a:prstGeom>
            <a:solidFill>
              <a:srgbClr val="A52D12"/>
            </a:solidFill>
            <a:ln>
              <a:noFill/>
            </a:ln>
          </p:spPr>
        </p:sp>
        <p:sp>
          <p:nvSpPr>
            <p:cNvPr id="152" name="TextBox 152"/>
            <p:cNvSpPr txBox="1"/>
            <p:nvPr/>
          </p:nvSpPr>
          <p:spPr>
            <a:xfrm>
              <a:off x="9063038" y="2599611"/>
              <a:ext cx="869747"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不良处置额（亿元）</a:t>
              </a:r>
            </a:p>
          </p:txBody>
        </p:sp>
        <p:sp>
          <p:nvSpPr>
            <p:cNvPr id="153" name="Line 153"/>
            <p:cNvSpPr/>
            <p:nvPr/>
          </p:nvSpPr>
          <p:spPr>
            <a:xfrm>
              <a:off x="10134600" y="2638425"/>
              <a:ext cx="209550" cy="9525"/>
            </a:xfrm>
            <a:custGeom>
              <a:avLst/>
              <a:gdLst/>
              <a:ahLst/>
              <a:cxnLst/>
              <a:rect l="l" t="t" r="r" b="b"/>
              <a:pathLst>
                <a:path w="209550" h="9525">
                  <a:moveTo>
                    <a:pt x="0" y="0"/>
                  </a:moveTo>
                  <a:lnTo>
                    <a:pt x="209550" y="0"/>
                  </a:lnTo>
                </a:path>
              </a:pathLst>
            </a:custGeom>
            <a:noFill/>
            <a:ln w="17145">
              <a:solidFill>
                <a:srgbClr val="C9604E"/>
              </a:solidFill>
            </a:ln>
          </p:spPr>
        </p:sp>
        <p:sp>
          <p:nvSpPr>
            <p:cNvPr id="154" name="Ellipse 154"/>
            <p:cNvSpPr/>
            <p:nvPr/>
          </p:nvSpPr>
          <p:spPr>
            <a:xfrm>
              <a:off x="10210800" y="2609850"/>
              <a:ext cx="57150" cy="57150"/>
            </a:xfrm>
            <a:prstGeom prst="ellipse">
              <a:avLst/>
            </a:prstGeom>
            <a:solidFill>
              <a:srgbClr val="FFFFFF"/>
            </a:solidFill>
            <a:ln w="17145">
              <a:solidFill>
                <a:srgbClr val="C9604E"/>
              </a:solidFill>
            </a:ln>
          </p:spPr>
        </p:sp>
        <p:sp>
          <p:nvSpPr>
            <p:cNvPr id="155" name="TextBox 155"/>
            <p:cNvSpPr txBox="1"/>
            <p:nvPr/>
          </p:nvSpPr>
          <p:spPr>
            <a:xfrm>
              <a:off x="10396538" y="2599611"/>
              <a:ext cx="707260" cy="140494"/>
            </a:xfrm>
            <a:prstGeom prst="rect">
              <a:avLst/>
            </a:prstGeom>
            <a:noFill/>
            <a:ln>
              <a:noFill/>
            </a:ln>
          </p:spPr>
          <p:txBody>
            <a:bodyPr wrap="none" lIns="0" tIns="0" rIns="0" bIns="0" anchor="t" anchorCtr="0">
              <a:spAutoFit/>
            </a:bodyPr>
            <a:lstStyle/>
            <a:p>
              <a:pPr algn="l"/>
              <a:r>
                <a:rPr lang="zh-CN" sz="710" dirty="0">
                  <a:solidFill>
                    <a:srgbClr val="555555"/>
                  </a:solidFill>
                  <a:latin typeface="+mn-lt"/>
                  <a:ea typeface="+mn-ea"/>
                  <a:cs typeface="+mn-cs"/>
                </a:rPr>
                <a:t>同比增速（%）​</a:t>
              </a:r>
            </a:p>
          </p:txBody>
        </p:sp>
        <p:sp>
          <p:nvSpPr>
            <p:cNvPr id="156" name="Line 156"/>
            <p:cNvSpPr/>
            <p:nvPr/>
          </p:nvSpPr>
          <p:spPr>
            <a:xfrm>
              <a:off x="8915400" y="2762250"/>
              <a:ext cx="2571750" cy="9525"/>
            </a:xfrm>
            <a:custGeom>
              <a:avLst/>
              <a:gdLst/>
              <a:ahLst/>
              <a:cxnLst/>
              <a:rect l="l" t="t" r="r" b="b"/>
              <a:pathLst>
                <a:path w="2571750" h="9525">
                  <a:moveTo>
                    <a:pt x="0" y="0"/>
                  </a:moveTo>
                  <a:lnTo>
                    <a:pt x="2571750" y="0"/>
                  </a:lnTo>
                </a:path>
              </a:pathLst>
            </a:custGeom>
            <a:noFill/>
            <a:ln w="9525">
              <a:solidFill>
                <a:srgbClr val="EDE4E2"/>
              </a:solidFill>
            </a:ln>
          </p:spPr>
        </p:sp>
        <p:sp>
          <p:nvSpPr>
            <p:cNvPr id="157" name="Line 157"/>
            <p:cNvSpPr/>
            <p:nvPr/>
          </p:nvSpPr>
          <p:spPr>
            <a:xfrm>
              <a:off x="8915400" y="3124200"/>
              <a:ext cx="2571750" cy="9525"/>
            </a:xfrm>
            <a:custGeom>
              <a:avLst/>
              <a:gdLst/>
              <a:ahLst/>
              <a:cxnLst/>
              <a:rect l="l" t="t" r="r" b="b"/>
              <a:pathLst>
                <a:path w="2571750" h="9525">
                  <a:moveTo>
                    <a:pt x="0" y="0"/>
                  </a:moveTo>
                  <a:lnTo>
                    <a:pt x="2571750" y="0"/>
                  </a:lnTo>
                </a:path>
              </a:pathLst>
            </a:custGeom>
            <a:noFill/>
            <a:ln w="9525">
              <a:solidFill>
                <a:srgbClr val="EDE4E2"/>
              </a:solidFill>
            </a:ln>
          </p:spPr>
        </p:sp>
        <p:sp>
          <p:nvSpPr>
            <p:cNvPr id="158" name="Line 158"/>
            <p:cNvSpPr/>
            <p:nvPr/>
          </p:nvSpPr>
          <p:spPr>
            <a:xfrm>
              <a:off x="8915400" y="3486150"/>
              <a:ext cx="2571750" cy="9525"/>
            </a:xfrm>
            <a:custGeom>
              <a:avLst/>
              <a:gdLst/>
              <a:ahLst/>
              <a:cxnLst/>
              <a:rect l="l" t="t" r="r" b="b"/>
              <a:pathLst>
                <a:path w="2571750" h="9525">
                  <a:moveTo>
                    <a:pt x="0" y="0"/>
                  </a:moveTo>
                  <a:lnTo>
                    <a:pt x="2571750" y="0"/>
                  </a:lnTo>
                </a:path>
              </a:pathLst>
            </a:custGeom>
            <a:noFill/>
            <a:ln w="9525">
              <a:solidFill>
                <a:srgbClr val="EDE4E2"/>
              </a:solidFill>
            </a:ln>
          </p:spPr>
        </p:sp>
        <p:sp>
          <p:nvSpPr>
            <p:cNvPr id="159" name="Line 159"/>
            <p:cNvSpPr/>
            <p:nvPr/>
          </p:nvSpPr>
          <p:spPr>
            <a:xfrm>
              <a:off x="8915400" y="3848100"/>
              <a:ext cx="2571750" cy="9525"/>
            </a:xfrm>
            <a:custGeom>
              <a:avLst/>
              <a:gdLst/>
              <a:ahLst/>
              <a:cxnLst/>
              <a:rect l="l" t="t" r="r" b="b"/>
              <a:pathLst>
                <a:path w="2571750" h="9525">
                  <a:moveTo>
                    <a:pt x="0" y="0"/>
                  </a:moveTo>
                  <a:lnTo>
                    <a:pt x="2571750" y="0"/>
                  </a:lnTo>
                </a:path>
              </a:pathLst>
            </a:custGeom>
            <a:noFill/>
            <a:ln w="9525">
              <a:solidFill>
                <a:srgbClr val="EDE4E2"/>
              </a:solidFill>
            </a:ln>
          </p:spPr>
        </p:sp>
        <p:sp>
          <p:nvSpPr>
            <p:cNvPr id="160" name="Line 160"/>
            <p:cNvSpPr/>
            <p:nvPr/>
          </p:nvSpPr>
          <p:spPr>
            <a:xfrm>
              <a:off x="8915400" y="4210050"/>
              <a:ext cx="2571750" cy="9525"/>
            </a:xfrm>
            <a:custGeom>
              <a:avLst/>
              <a:gdLst/>
              <a:ahLst/>
              <a:cxnLst/>
              <a:rect l="l" t="t" r="r" b="b"/>
              <a:pathLst>
                <a:path w="2571750" h="9525">
                  <a:moveTo>
                    <a:pt x="0" y="0"/>
                  </a:moveTo>
                  <a:lnTo>
                    <a:pt x="2571750" y="0"/>
                  </a:lnTo>
                </a:path>
              </a:pathLst>
            </a:custGeom>
            <a:noFill/>
            <a:ln w="9525">
              <a:solidFill>
                <a:srgbClr val="EDE4E2"/>
              </a:solidFill>
            </a:ln>
          </p:spPr>
        </p:sp>
        <p:sp>
          <p:nvSpPr>
            <p:cNvPr id="161" name="Line 161"/>
            <p:cNvSpPr/>
            <p:nvPr/>
          </p:nvSpPr>
          <p:spPr>
            <a:xfrm>
              <a:off x="8915400" y="4572000"/>
              <a:ext cx="2571750" cy="9525"/>
            </a:xfrm>
            <a:custGeom>
              <a:avLst/>
              <a:gdLst/>
              <a:ahLst/>
              <a:cxnLst/>
              <a:rect l="l" t="t" r="r" b="b"/>
              <a:pathLst>
                <a:path w="2571750" h="9525">
                  <a:moveTo>
                    <a:pt x="0" y="0"/>
                  </a:moveTo>
                  <a:lnTo>
                    <a:pt x="2571750" y="0"/>
                  </a:lnTo>
                </a:path>
              </a:pathLst>
            </a:custGeom>
            <a:noFill/>
            <a:ln w="9525">
              <a:solidFill>
                <a:srgbClr val="C9BBB8"/>
              </a:solidFill>
            </a:ln>
          </p:spPr>
        </p:sp>
        <p:sp>
          <p:nvSpPr>
            <p:cNvPr id="162" name="TextBox 162"/>
            <p:cNvSpPr txBox="1"/>
            <p:nvPr/>
          </p:nvSpPr>
          <p:spPr>
            <a:xfrm>
              <a:off x="8771842" y="4537234"/>
              <a:ext cx="110221" cy="133350"/>
            </a:xfrm>
            <a:prstGeom prst="rect">
              <a:avLst/>
            </a:prstGeom>
            <a:noFill/>
            <a:ln>
              <a:noFill/>
            </a:ln>
          </p:spPr>
          <p:txBody>
            <a:bodyPr wrap="none" lIns="0" tIns="0" rIns="0" bIns="0" anchor="t" anchorCtr="0">
              <a:spAutoFit/>
            </a:bodyPr>
            <a:lstStyle/>
            <a:p>
              <a:pPr algn="r"/>
              <a:r>
                <a:rPr lang="zh-CN" sz="680" dirty="0">
                  <a:solidFill>
                    <a:srgbClr val="8A8A8A"/>
                  </a:solidFill>
                  <a:latin typeface="+mn-lt"/>
                  <a:ea typeface="+mn-ea"/>
                  <a:cs typeface="+mn-cs"/>
                </a:rPr>
                <a:t>0​</a:t>
              </a:r>
            </a:p>
          </p:txBody>
        </p:sp>
        <p:sp>
          <p:nvSpPr>
            <p:cNvPr id="163" name="TextBox 163"/>
            <p:cNvSpPr txBox="1"/>
            <p:nvPr/>
          </p:nvSpPr>
          <p:spPr>
            <a:xfrm>
              <a:off x="8721494" y="4175284"/>
              <a:ext cx="160569" cy="133350"/>
            </a:xfrm>
            <a:prstGeom prst="rect">
              <a:avLst/>
            </a:prstGeom>
            <a:noFill/>
            <a:ln>
              <a:noFill/>
            </a:ln>
          </p:spPr>
          <p:txBody>
            <a:bodyPr wrap="none" lIns="0" tIns="0" rIns="0" bIns="0" anchor="t" anchorCtr="0">
              <a:spAutoFit/>
            </a:bodyPr>
            <a:lstStyle/>
            <a:p>
              <a:pPr algn="r"/>
              <a:r>
                <a:rPr lang="zh-CN" sz="680" dirty="0">
                  <a:solidFill>
                    <a:srgbClr val="8A8A8A"/>
                  </a:solidFill>
                  <a:latin typeface="+mn-lt"/>
                  <a:ea typeface="+mn-ea"/>
                  <a:cs typeface="+mn-cs"/>
                </a:rPr>
                <a:t>10​</a:t>
              </a:r>
            </a:p>
          </p:txBody>
        </p:sp>
        <p:sp>
          <p:nvSpPr>
            <p:cNvPr id="164" name="TextBox 164"/>
            <p:cNvSpPr txBox="1"/>
            <p:nvPr/>
          </p:nvSpPr>
          <p:spPr>
            <a:xfrm>
              <a:off x="8721494" y="3813334"/>
              <a:ext cx="160569" cy="133350"/>
            </a:xfrm>
            <a:prstGeom prst="rect">
              <a:avLst/>
            </a:prstGeom>
            <a:noFill/>
            <a:ln>
              <a:noFill/>
            </a:ln>
          </p:spPr>
          <p:txBody>
            <a:bodyPr wrap="none" lIns="0" tIns="0" rIns="0" bIns="0" anchor="t" anchorCtr="0">
              <a:spAutoFit/>
            </a:bodyPr>
            <a:lstStyle/>
            <a:p>
              <a:pPr algn="r"/>
              <a:r>
                <a:rPr lang="zh-CN" sz="680" dirty="0">
                  <a:solidFill>
                    <a:srgbClr val="8A8A8A"/>
                  </a:solidFill>
                  <a:latin typeface="+mn-lt"/>
                  <a:ea typeface="+mn-ea"/>
                  <a:cs typeface="+mn-cs"/>
                </a:rPr>
                <a:t>20​</a:t>
              </a:r>
            </a:p>
          </p:txBody>
        </p:sp>
        <p:sp>
          <p:nvSpPr>
            <p:cNvPr id="165" name="TextBox 165"/>
            <p:cNvSpPr txBox="1"/>
            <p:nvPr/>
          </p:nvSpPr>
          <p:spPr>
            <a:xfrm>
              <a:off x="8721494" y="3451384"/>
              <a:ext cx="160569" cy="133350"/>
            </a:xfrm>
            <a:prstGeom prst="rect">
              <a:avLst/>
            </a:prstGeom>
            <a:noFill/>
            <a:ln>
              <a:noFill/>
            </a:ln>
          </p:spPr>
          <p:txBody>
            <a:bodyPr wrap="none" lIns="0" tIns="0" rIns="0" bIns="0" anchor="t" anchorCtr="0">
              <a:spAutoFit/>
            </a:bodyPr>
            <a:lstStyle/>
            <a:p>
              <a:pPr algn="r"/>
              <a:r>
                <a:rPr lang="zh-CN" sz="680" dirty="0">
                  <a:solidFill>
                    <a:srgbClr val="8A8A8A"/>
                  </a:solidFill>
                  <a:latin typeface="+mn-lt"/>
                  <a:ea typeface="+mn-ea"/>
                  <a:cs typeface="+mn-cs"/>
                </a:rPr>
                <a:t>30​</a:t>
              </a:r>
            </a:p>
          </p:txBody>
        </p:sp>
        <p:sp>
          <p:nvSpPr>
            <p:cNvPr id="166" name="TextBox 166"/>
            <p:cNvSpPr txBox="1"/>
            <p:nvPr/>
          </p:nvSpPr>
          <p:spPr>
            <a:xfrm>
              <a:off x="8721494" y="3089434"/>
              <a:ext cx="160569" cy="133350"/>
            </a:xfrm>
            <a:prstGeom prst="rect">
              <a:avLst/>
            </a:prstGeom>
            <a:noFill/>
            <a:ln>
              <a:noFill/>
            </a:ln>
          </p:spPr>
          <p:txBody>
            <a:bodyPr wrap="none" lIns="0" tIns="0" rIns="0" bIns="0" anchor="t" anchorCtr="0">
              <a:spAutoFit/>
            </a:bodyPr>
            <a:lstStyle/>
            <a:p>
              <a:pPr algn="r"/>
              <a:r>
                <a:rPr lang="zh-CN" sz="680" dirty="0">
                  <a:solidFill>
                    <a:srgbClr val="8A8A8A"/>
                  </a:solidFill>
                  <a:latin typeface="+mn-lt"/>
                  <a:ea typeface="+mn-ea"/>
                  <a:cs typeface="+mn-cs"/>
                </a:rPr>
                <a:t>40​</a:t>
              </a:r>
            </a:p>
          </p:txBody>
        </p:sp>
        <p:sp>
          <p:nvSpPr>
            <p:cNvPr id="167" name="TextBox 167"/>
            <p:cNvSpPr txBox="1"/>
            <p:nvPr/>
          </p:nvSpPr>
          <p:spPr>
            <a:xfrm>
              <a:off x="8721494" y="2727484"/>
              <a:ext cx="160569" cy="133350"/>
            </a:xfrm>
            <a:prstGeom prst="rect">
              <a:avLst/>
            </a:prstGeom>
            <a:noFill/>
            <a:ln>
              <a:noFill/>
            </a:ln>
          </p:spPr>
          <p:txBody>
            <a:bodyPr wrap="none" lIns="0" tIns="0" rIns="0" bIns="0" anchor="t" anchorCtr="0">
              <a:spAutoFit/>
            </a:bodyPr>
            <a:lstStyle/>
            <a:p>
              <a:pPr algn="r"/>
              <a:r>
                <a:rPr lang="zh-CN" sz="680" dirty="0">
                  <a:solidFill>
                    <a:srgbClr val="8A8A8A"/>
                  </a:solidFill>
                  <a:latin typeface="+mn-lt"/>
                  <a:ea typeface="+mn-ea"/>
                  <a:cs typeface="+mn-cs"/>
                </a:rPr>
                <a:t>50​</a:t>
              </a:r>
            </a:p>
          </p:txBody>
        </p:sp>
        <p:sp>
          <p:nvSpPr>
            <p:cNvPr id="168" name="TextBox 168"/>
            <p:cNvSpPr txBox="1"/>
            <p:nvPr/>
          </p:nvSpPr>
          <p:spPr>
            <a:xfrm>
              <a:off x="11520488" y="4537234"/>
              <a:ext cx="178877" cy="133350"/>
            </a:xfrm>
            <a:prstGeom prst="rect">
              <a:avLst/>
            </a:prstGeom>
            <a:noFill/>
            <a:ln>
              <a:noFill/>
            </a:ln>
          </p:spPr>
          <p:txBody>
            <a:bodyPr wrap="none" lIns="0" tIns="0" rIns="0" bIns="0" anchor="t" anchorCtr="0">
              <a:spAutoFit/>
            </a:bodyPr>
            <a:lstStyle/>
            <a:p>
              <a:pPr algn="l"/>
              <a:r>
                <a:rPr lang="zh-CN" sz="680" dirty="0">
                  <a:solidFill>
                    <a:srgbClr val="8A8A8A"/>
                  </a:solidFill>
                  <a:latin typeface="+mn-lt"/>
                  <a:ea typeface="+mn-ea"/>
                  <a:cs typeface="+mn-cs"/>
                </a:rPr>
                <a:t>0%​</a:t>
              </a:r>
            </a:p>
          </p:txBody>
        </p:sp>
        <p:sp>
          <p:nvSpPr>
            <p:cNvPr id="169" name="TextBox 169"/>
            <p:cNvSpPr txBox="1"/>
            <p:nvPr/>
          </p:nvSpPr>
          <p:spPr>
            <a:xfrm>
              <a:off x="11520488" y="3937159"/>
              <a:ext cx="229225" cy="133350"/>
            </a:xfrm>
            <a:prstGeom prst="rect">
              <a:avLst/>
            </a:prstGeom>
            <a:noFill/>
            <a:ln>
              <a:noFill/>
            </a:ln>
          </p:spPr>
          <p:txBody>
            <a:bodyPr wrap="none" lIns="0" tIns="0" rIns="0" bIns="0" anchor="t" anchorCtr="0">
              <a:spAutoFit/>
            </a:bodyPr>
            <a:lstStyle/>
            <a:p>
              <a:pPr algn="l"/>
              <a:r>
                <a:rPr lang="zh-CN" sz="680" dirty="0">
                  <a:solidFill>
                    <a:srgbClr val="8A8A8A"/>
                  </a:solidFill>
                  <a:latin typeface="+mn-lt"/>
                  <a:ea typeface="+mn-ea"/>
                  <a:cs typeface="+mn-cs"/>
                </a:rPr>
                <a:t>15%​</a:t>
              </a:r>
            </a:p>
          </p:txBody>
        </p:sp>
        <p:sp>
          <p:nvSpPr>
            <p:cNvPr id="170" name="TextBox 170"/>
            <p:cNvSpPr txBox="1"/>
            <p:nvPr/>
          </p:nvSpPr>
          <p:spPr>
            <a:xfrm>
              <a:off x="11520488" y="3327559"/>
              <a:ext cx="229225" cy="133350"/>
            </a:xfrm>
            <a:prstGeom prst="rect">
              <a:avLst/>
            </a:prstGeom>
            <a:noFill/>
            <a:ln>
              <a:noFill/>
            </a:ln>
          </p:spPr>
          <p:txBody>
            <a:bodyPr wrap="none" lIns="0" tIns="0" rIns="0" bIns="0" anchor="t" anchorCtr="0">
              <a:spAutoFit/>
            </a:bodyPr>
            <a:lstStyle/>
            <a:p>
              <a:pPr algn="l"/>
              <a:r>
                <a:rPr lang="zh-CN" sz="680" dirty="0">
                  <a:solidFill>
                    <a:srgbClr val="8A8A8A"/>
                  </a:solidFill>
                  <a:latin typeface="+mn-lt"/>
                  <a:ea typeface="+mn-ea"/>
                  <a:cs typeface="+mn-cs"/>
                </a:rPr>
                <a:t>30%​</a:t>
              </a:r>
            </a:p>
          </p:txBody>
        </p:sp>
        <p:sp>
          <p:nvSpPr>
            <p:cNvPr id="171" name="TextBox 171"/>
            <p:cNvSpPr txBox="1"/>
            <p:nvPr/>
          </p:nvSpPr>
          <p:spPr>
            <a:xfrm>
              <a:off x="11520488" y="2727484"/>
              <a:ext cx="229225" cy="133350"/>
            </a:xfrm>
            <a:prstGeom prst="rect">
              <a:avLst/>
            </a:prstGeom>
            <a:noFill/>
            <a:ln>
              <a:noFill/>
            </a:ln>
          </p:spPr>
          <p:txBody>
            <a:bodyPr wrap="none" lIns="0" tIns="0" rIns="0" bIns="0" anchor="t" anchorCtr="0">
              <a:spAutoFit/>
            </a:bodyPr>
            <a:lstStyle/>
            <a:p>
              <a:pPr algn="l"/>
              <a:r>
                <a:rPr lang="zh-CN" sz="680" dirty="0">
                  <a:solidFill>
                    <a:srgbClr val="8A8A8A"/>
                  </a:solidFill>
                  <a:latin typeface="+mn-lt"/>
                  <a:ea typeface="+mn-ea"/>
                  <a:cs typeface="+mn-cs"/>
                </a:rPr>
                <a:t>45%​</a:t>
              </a:r>
            </a:p>
          </p:txBody>
        </p:sp>
        <p:sp>
          <p:nvSpPr>
            <p:cNvPr id="172" name="Rectangle 172"/>
            <p:cNvSpPr/>
            <p:nvPr/>
          </p:nvSpPr>
          <p:spPr>
            <a:xfrm>
              <a:off x="9048750" y="3699510"/>
              <a:ext cx="247650" cy="872490"/>
            </a:xfrm>
            <a:prstGeom prst="rect">
              <a:avLst/>
            </a:prstGeom>
            <a:solidFill>
              <a:srgbClr val="A52D12"/>
            </a:solidFill>
            <a:ln>
              <a:noFill/>
            </a:ln>
          </p:spPr>
        </p:sp>
        <p:sp>
          <p:nvSpPr>
            <p:cNvPr id="173" name="Rectangle 173"/>
            <p:cNvSpPr/>
            <p:nvPr/>
          </p:nvSpPr>
          <p:spPr>
            <a:xfrm>
              <a:off x="9544050" y="3532822"/>
              <a:ext cx="247650" cy="1039178"/>
            </a:xfrm>
            <a:prstGeom prst="rect">
              <a:avLst/>
            </a:prstGeom>
            <a:solidFill>
              <a:srgbClr val="A52D12"/>
            </a:solidFill>
            <a:ln>
              <a:noFill/>
            </a:ln>
          </p:spPr>
        </p:sp>
        <p:sp>
          <p:nvSpPr>
            <p:cNvPr id="174" name="Rectangle 174"/>
            <p:cNvSpPr/>
            <p:nvPr/>
          </p:nvSpPr>
          <p:spPr>
            <a:xfrm>
              <a:off x="10039350" y="3442335"/>
              <a:ext cx="247650" cy="1129665"/>
            </a:xfrm>
            <a:prstGeom prst="rect">
              <a:avLst/>
            </a:prstGeom>
            <a:solidFill>
              <a:srgbClr val="A52D12"/>
            </a:solidFill>
            <a:ln>
              <a:noFill/>
            </a:ln>
          </p:spPr>
        </p:sp>
        <p:sp>
          <p:nvSpPr>
            <p:cNvPr id="175" name="Rectangle 175"/>
            <p:cNvSpPr/>
            <p:nvPr/>
          </p:nvSpPr>
          <p:spPr>
            <a:xfrm>
              <a:off x="10534650" y="2975610"/>
              <a:ext cx="247650" cy="1596390"/>
            </a:xfrm>
            <a:prstGeom prst="rect">
              <a:avLst/>
            </a:prstGeom>
            <a:solidFill>
              <a:srgbClr val="A52D12"/>
            </a:solidFill>
            <a:ln>
              <a:noFill/>
            </a:ln>
          </p:spPr>
        </p:sp>
        <p:sp>
          <p:nvSpPr>
            <p:cNvPr id="176" name="Rectangle 176"/>
            <p:cNvSpPr/>
            <p:nvPr/>
          </p:nvSpPr>
          <p:spPr>
            <a:xfrm>
              <a:off x="11029950" y="3174682"/>
              <a:ext cx="247650" cy="1397318"/>
            </a:xfrm>
            <a:prstGeom prst="rect">
              <a:avLst/>
            </a:prstGeom>
            <a:solidFill>
              <a:srgbClr val="A52D12"/>
            </a:solidFill>
            <a:ln>
              <a:noFill/>
            </a:ln>
          </p:spPr>
        </p:sp>
        <p:sp>
          <p:nvSpPr>
            <p:cNvPr id="177" name="TextBox 177"/>
            <p:cNvSpPr txBox="1"/>
            <p:nvPr/>
          </p:nvSpPr>
          <p:spPr>
            <a:xfrm>
              <a:off x="9035649" y="3565684"/>
              <a:ext cx="273851" cy="133350"/>
            </a:xfrm>
            <a:prstGeom prst="rect">
              <a:avLst/>
            </a:prstGeom>
            <a:noFill/>
            <a:ln>
              <a:noFill/>
            </a:ln>
          </p:spPr>
          <p:txBody>
            <a:bodyPr wrap="none" lIns="0" tIns="0" rIns="0" bIns="0" anchor="t" anchorCtr="0">
              <a:spAutoFit/>
            </a:bodyPr>
            <a:lstStyle/>
            <a:p>
              <a:pPr algn="ctr"/>
              <a:r>
                <a:rPr lang="zh-CN" sz="680" b="1" dirty="0">
                  <a:solidFill>
                    <a:srgbClr val="A52D12"/>
                  </a:solidFill>
                  <a:latin typeface="+mn-lt"/>
                  <a:ea typeface="+mn-ea"/>
                  <a:cs typeface="+mn-cs"/>
                </a:rPr>
                <a:t>24.1​</a:t>
              </a:r>
            </a:p>
          </p:txBody>
        </p:sp>
        <p:sp>
          <p:nvSpPr>
            <p:cNvPr id="178" name="TextBox 178"/>
            <p:cNvSpPr txBox="1"/>
            <p:nvPr/>
          </p:nvSpPr>
          <p:spPr>
            <a:xfrm>
              <a:off x="9530949" y="3398996"/>
              <a:ext cx="273851" cy="133350"/>
            </a:xfrm>
            <a:prstGeom prst="rect">
              <a:avLst/>
            </a:prstGeom>
            <a:noFill/>
            <a:ln>
              <a:noFill/>
            </a:ln>
          </p:spPr>
          <p:txBody>
            <a:bodyPr wrap="none" lIns="0" tIns="0" rIns="0" bIns="0" anchor="t" anchorCtr="0">
              <a:spAutoFit/>
            </a:bodyPr>
            <a:lstStyle/>
            <a:p>
              <a:pPr algn="ctr"/>
              <a:r>
                <a:rPr lang="zh-CN" sz="680" b="1" dirty="0">
                  <a:solidFill>
                    <a:srgbClr val="A52D12"/>
                  </a:solidFill>
                  <a:latin typeface="+mn-lt"/>
                  <a:ea typeface="+mn-ea"/>
                  <a:cs typeface="+mn-cs"/>
                </a:rPr>
                <a:t>28.7​</a:t>
              </a:r>
            </a:p>
          </p:txBody>
        </p:sp>
        <p:sp>
          <p:nvSpPr>
            <p:cNvPr id="179" name="TextBox 179"/>
            <p:cNvSpPr txBox="1"/>
            <p:nvPr/>
          </p:nvSpPr>
          <p:spPr>
            <a:xfrm>
              <a:off x="10026249" y="3308509"/>
              <a:ext cx="273851" cy="133350"/>
            </a:xfrm>
            <a:prstGeom prst="rect">
              <a:avLst/>
            </a:prstGeom>
            <a:noFill/>
            <a:ln>
              <a:noFill/>
            </a:ln>
          </p:spPr>
          <p:txBody>
            <a:bodyPr wrap="none" lIns="0" tIns="0" rIns="0" bIns="0" anchor="t" anchorCtr="0">
              <a:spAutoFit/>
            </a:bodyPr>
            <a:lstStyle/>
            <a:p>
              <a:pPr algn="ctr"/>
              <a:r>
                <a:rPr lang="zh-CN" sz="680" b="1" dirty="0">
                  <a:solidFill>
                    <a:srgbClr val="A52D12"/>
                  </a:solidFill>
                  <a:latin typeface="+mn-lt"/>
                  <a:ea typeface="+mn-ea"/>
                  <a:cs typeface="+mn-cs"/>
                </a:rPr>
                <a:t>31.2​</a:t>
              </a:r>
            </a:p>
          </p:txBody>
        </p:sp>
        <p:sp>
          <p:nvSpPr>
            <p:cNvPr id="180" name="TextBox 180"/>
            <p:cNvSpPr txBox="1"/>
            <p:nvPr/>
          </p:nvSpPr>
          <p:spPr>
            <a:xfrm>
              <a:off x="10521549" y="3032284"/>
              <a:ext cx="27385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44.1​</a:t>
              </a:r>
            </a:p>
          </p:txBody>
        </p:sp>
        <p:sp>
          <p:nvSpPr>
            <p:cNvPr id="181" name="TextBox 181"/>
            <p:cNvSpPr txBox="1"/>
            <p:nvPr/>
          </p:nvSpPr>
          <p:spPr>
            <a:xfrm>
              <a:off x="11016849" y="3041809"/>
              <a:ext cx="273851" cy="133350"/>
            </a:xfrm>
            <a:prstGeom prst="rect">
              <a:avLst/>
            </a:prstGeom>
            <a:noFill/>
            <a:ln>
              <a:noFill/>
            </a:ln>
          </p:spPr>
          <p:txBody>
            <a:bodyPr wrap="none" lIns="0" tIns="0" rIns="0" bIns="0" anchor="t" anchorCtr="0">
              <a:spAutoFit/>
            </a:bodyPr>
            <a:lstStyle/>
            <a:p>
              <a:pPr algn="ctr"/>
              <a:r>
                <a:rPr lang="zh-CN" sz="680" b="1" dirty="0">
                  <a:solidFill>
                    <a:srgbClr val="A52D12"/>
                  </a:solidFill>
                  <a:latin typeface="+mn-lt"/>
                  <a:ea typeface="+mn-ea"/>
                  <a:cs typeface="+mn-cs"/>
                </a:rPr>
                <a:t>38.6​</a:t>
              </a:r>
            </a:p>
          </p:txBody>
        </p:sp>
        <p:sp>
          <p:nvSpPr>
            <p:cNvPr id="182" name="Polyline 182"/>
            <p:cNvSpPr/>
            <p:nvPr/>
          </p:nvSpPr>
          <p:spPr>
            <a:xfrm>
              <a:off x="9172575" y="2910840"/>
              <a:ext cx="1981200" cy="1407795"/>
            </a:xfrm>
            <a:custGeom>
              <a:avLst/>
              <a:gdLst/>
              <a:ahLst/>
              <a:cxnLst/>
              <a:rect l="l" t="t" r="r" b="b"/>
              <a:pathLst>
                <a:path w="1981200" h="1407795">
                  <a:moveTo>
                    <a:pt x="0" y="1407795"/>
                  </a:moveTo>
                  <a:lnTo>
                    <a:pt x="495300" y="893445"/>
                  </a:lnTo>
                  <a:lnTo>
                    <a:pt x="990600" y="1311592"/>
                  </a:lnTo>
                  <a:lnTo>
                    <a:pt x="1485900" y="0"/>
                  </a:lnTo>
                  <a:lnTo>
                    <a:pt x="1981200" y="1323022"/>
                  </a:lnTo>
                </a:path>
              </a:pathLst>
            </a:custGeom>
            <a:noFill/>
            <a:ln w="19050">
              <a:solidFill>
                <a:srgbClr val="C9604E"/>
              </a:solidFill>
            </a:ln>
          </p:spPr>
        </p:sp>
        <p:sp>
          <p:nvSpPr>
            <p:cNvPr id="183" name="Ellipse 183"/>
            <p:cNvSpPr/>
            <p:nvPr/>
          </p:nvSpPr>
          <p:spPr>
            <a:xfrm>
              <a:off x="9139238" y="4285298"/>
              <a:ext cx="66675" cy="66675"/>
            </a:xfrm>
            <a:prstGeom prst="ellipse">
              <a:avLst/>
            </a:prstGeom>
            <a:solidFill>
              <a:srgbClr val="FFFFFF"/>
            </a:solidFill>
            <a:ln w="19050">
              <a:solidFill>
                <a:srgbClr val="C9604E"/>
              </a:solidFill>
            </a:ln>
          </p:spPr>
        </p:sp>
        <p:sp>
          <p:nvSpPr>
            <p:cNvPr id="184" name="Ellipse 184"/>
            <p:cNvSpPr/>
            <p:nvPr/>
          </p:nvSpPr>
          <p:spPr>
            <a:xfrm>
              <a:off x="9634538" y="3770948"/>
              <a:ext cx="66675" cy="66675"/>
            </a:xfrm>
            <a:prstGeom prst="ellipse">
              <a:avLst/>
            </a:prstGeom>
            <a:solidFill>
              <a:srgbClr val="FFFFFF"/>
            </a:solidFill>
            <a:ln w="19050">
              <a:solidFill>
                <a:srgbClr val="C9604E"/>
              </a:solidFill>
            </a:ln>
          </p:spPr>
        </p:sp>
        <p:sp>
          <p:nvSpPr>
            <p:cNvPr id="185" name="Ellipse 185"/>
            <p:cNvSpPr/>
            <p:nvPr/>
          </p:nvSpPr>
          <p:spPr>
            <a:xfrm>
              <a:off x="10129838" y="4189095"/>
              <a:ext cx="66675" cy="66675"/>
            </a:xfrm>
            <a:prstGeom prst="ellipse">
              <a:avLst/>
            </a:prstGeom>
            <a:solidFill>
              <a:srgbClr val="FFFFFF"/>
            </a:solidFill>
            <a:ln w="19050">
              <a:solidFill>
                <a:srgbClr val="C9604E"/>
              </a:solidFill>
            </a:ln>
          </p:spPr>
        </p:sp>
        <p:sp>
          <p:nvSpPr>
            <p:cNvPr id="186" name="Ellipse 186"/>
            <p:cNvSpPr/>
            <p:nvPr/>
          </p:nvSpPr>
          <p:spPr>
            <a:xfrm>
              <a:off x="10625138" y="2877502"/>
              <a:ext cx="66675" cy="66675"/>
            </a:xfrm>
            <a:prstGeom prst="ellipse">
              <a:avLst/>
            </a:prstGeom>
            <a:solidFill>
              <a:srgbClr val="FFFFFF"/>
            </a:solidFill>
            <a:ln w="19050">
              <a:solidFill>
                <a:srgbClr val="C9604E"/>
              </a:solidFill>
            </a:ln>
          </p:spPr>
        </p:sp>
        <p:sp>
          <p:nvSpPr>
            <p:cNvPr id="187" name="Ellipse 187"/>
            <p:cNvSpPr/>
            <p:nvPr/>
          </p:nvSpPr>
          <p:spPr>
            <a:xfrm>
              <a:off x="11120438" y="4200525"/>
              <a:ext cx="66675" cy="66675"/>
            </a:xfrm>
            <a:prstGeom prst="ellipse">
              <a:avLst/>
            </a:prstGeom>
            <a:solidFill>
              <a:srgbClr val="FFFFFF"/>
            </a:solidFill>
            <a:ln w="19050">
              <a:solidFill>
                <a:srgbClr val="C9604E"/>
              </a:solidFill>
            </a:ln>
          </p:spPr>
        </p:sp>
        <p:sp>
          <p:nvSpPr>
            <p:cNvPr id="188" name="TextBox 188"/>
            <p:cNvSpPr txBox="1"/>
            <p:nvPr/>
          </p:nvSpPr>
          <p:spPr>
            <a:xfrm>
              <a:off x="9040731" y="4369832"/>
              <a:ext cx="263688" cy="126206"/>
            </a:xfrm>
            <a:prstGeom prst="rect">
              <a:avLst/>
            </a:prstGeom>
            <a:noFill/>
            <a:ln>
              <a:noFill/>
            </a:ln>
          </p:spPr>
          <p:txBody>
            <a:bodyPr wrap="none" lIns="0" tIns="0" rIns="0" bIns="0" anchor="t" anchorCtr="0">
              <a:spAutoFit/>
            </a:bodyPr>
            <a:lstStyle/>
            <a:p>
              <a:pPr algn="ctr"/>
              <a:r>
                <a:rPr lang="zh-CN" sz="640" dirty="0">
                  <a:solidFill>
                    <a:srgbClr val="B54C3A"/>
                  </a:solidFill>
                  <a:latin typeface="+mn-lt"/>
                  <a:ea typeface="+mn-ea"/>
                  <a:cs typeface="+mn-cs"/>
                </a:rPr>
                <a:t>6.3%​</a:t>
              </a:r>
            </a:p>
          </p:txBody>
        </p:sp>
        <p:sp>
          <p:nvSpPr>
            <p:cNvPr id="189" name="TextBox 189"/>
            <p:cNvSpPr txBox="1"/>
            <p:nvPr/>
          </p:nvSpPr>
          <p:spPr>
            <a:xfrm>
              <a:off x="9512338" y="3865007"/>
              <a:ext cx="311074" cy="126206"/>
            </a:xfrm>
            <a:prstGeom prst="rect">
              <a:avLst/>
            </a:prstGeom>
            <a:noFill/>
            <a:ln>
              <a:noFill/>
            </a:ln>
          </p:spPr>
          <p:txBody>
            <a:bodyPr wrap="none" lIns="0" tIns="0" rIns="0" bIns="0" anchor="t" anchorCtr="0">
              <a:spAutoFit/>
            </a:bodyPr>
            <a:lstStyle/>
            <a:p>
              <a:pPr algn="ctr"/>
              <a:r>
                <a:rPr lang="zh-CN" sz="640" dirty="0">
                  <a:solidFill>
                    <a:srgbClr val="B54C3A"/>
                  </a:solidFill>
                  <a:latin typeface="+mn-lt"/>
                  <a:ea typeface="+mn-ea"/>
                  <a:cs typeface="+mn-cs"/>
                </a:rPr>
                <a:t>19.1%​</a:t>
              </a:r>
            </a:p>
          </p:txBody>
        </p:sp>
        <p:sp>
          <p:nvSpPr>
            <p:cNvPr id="190" name="TextBox 190"/>
            <p:cNvSpPr txBox="1"/>
            <p:nvPr/>
          </p:nvSpPr>
          <p:spPr>
            <a:xfrm>
              <a:off x="10031331" y="4284107"/>
              <a:ext cx="263688" cy="126206"/>
            </a:xfrm>
            <a:prstGeom prst="rect">
              <a:avLst/>
            </a:prstGeom>
            <a:noFill/>
            <a:ln>
              <a:noFill/>
            </a:ln>
          </p:spPr>
          <p:txBody>
            <a:bodyPr wrap="none" lIns="0" tIns="0" rIns="0" bIns="0" anchor="t" anchorCtr="0">
              <a:spAutoFit/>
            </a:bodyPr>
            <a:lstStyle/>
            <a:p>
              <a:pPr algn="ctr"/>
              <a:r>
                <a:rPr lang="zh-CN" sz="640" dirty="0">
                  <a:solidFill>
                    <a:srgbClr val="B54C3A"/>
                  </a:solidFill>
                  <a:latin typeface="+mn-lt"/>
                  <a:ea typeface="+mn-ea"/>
                  <a:cs typeface="+mn-cs"/>
                </a:rPr>
                <a:t>8.7%​</a:t>
              </a:r>
            </a:p>
          </p:txBody>
        </p:sp>
        <p:sp>
          <p:nvSpPr>
            <p:cNvPr id="191" name="TextBox 191"/>
            <p:cNvSpPr txBox="1"/>
            <p:nvPr/>
          </p:nvSpPr>
          <p:spPr>
            <a:xfrm>
              <a:off x="10495399" y="2750582"/>
              <a:ext cx="326151" cy="126206"/>
            </a:xfrm>
            <a:prstGeom prst="rect">
              <a:avLst/>
            </a:prstGeom>
            <a:noFill/>
            <a:ln>
              <a:noFill/>
            </a:ln>
          </p:spPr>
          <p:txBody>
            <a:bodyPr wrap="none" lIns="0" tIns="0" rIns="0" bIns="0" anchor="t" anchorCtr="0">
              <a:spAutoFit/>
            </a:bodyPr>
            <a:lstStyle/>
            <a:p>
              <a:pPr algn="ctr"/>
              <a:r>
                <a:rPr lang="zh-CN" sz="640" b="1" dirty="0">
                  <a:solidFill>
                    <a:srgbClr val="B54C3A"/>
                  </a:solidFill>
                  <a:latin typeface="+mn-lt"/>
                  <a:ea typeface="+mn-ea"/>
                  <a:cs typeface="+mn-cs"/>
                </a:rPr>
                <a:t>41.3%​</a:t>
              </a:r>
            </a:p>
          </p:txBody>
        </p:sp>
        <p:sp>
          <p:nvSpPr>
            <p:cNvPr id="192" name="TextBox 192"/>
            <p:cNvSpPr txBox="1"/>
            <p:nvPr/>
          </p:nvSpPr>
          <p:spPr>
            <a:xfrm>
              <a:off x="11021931" y="4293632"/>
              <a:ext cx="263688" cy="126206"/>
            </a:xfrm>
            <a:prstGeom prst="rect">
              <a:avLst/>
            </a:prstGeom>
            <a:noFill/>
            <a:ln>
              <a:noFill/>
            </a:ln>
          </p:spPr>
          <p:txBody>
            <a:bodyPr wrap="none" lIns="0" tIns="0" rIns="0" bIns="0" anchor="t" anchorCtr="0">
              <a:spAutoFit/>
            </a:bodyPr>
            <a:lstStyle/>
            <a:p>
              <a:pPr algn="ctr"/>
              <a:r>
                <a:rPr lang="zh-CN" sz="640" dirty="0">
                  <a:solidFill>
                    <a:srgbClr val="B54C3A"/>
                  </a:solidFill>
                  <a:latin typeface="+mn-lt"/>
                  <a:ea typeface="+mn-ea"/>
                  <a:cs typeface="+mn-cs"/>
                </a:rPr>
                <a:t>8.4%​</a:t>
              </a:r>
            </a:p>
          </p:txBody>
        </p:sp>
        <p:sp>
          <p:nvSpPr>
            <p:cNvPr id="193" name="TextBox 193"/>
            <p:cNvSpPr txBox="1"/>
            <p:nvPr/>
          </p:nvSpPr>
          <p:spPr>
            <a:xfrm>
              <a:off x="9036390" y="4666536"/>
              <a:ext cx="272371" cy="140494"/>
            </a:xfrm>
            <a:prstGeom prst="rect">
              <a:avLst/>
            </a:prstGeom>
            <a:noFill/>
            <a:ln>
              <a:noFill/>
            </a:ln>
          </p:spPr>
          <p:txBody>
            <a:bodyPr wrap="none" lIns="0" tIns="0" rIns="0" bIns="0" anchor="t" anchorCtr="0">
              <a:spAutoFit/>
            </a:bodyPr>
            <a:lstStyle/>
            <a:p>
              <a:pPr algn="ctr"/>
              <a:r>
                <a:rPr lang="zh-CN" sz="710" dirty="0">
                  <a:solidFill>
                    <a:srgbClr val="555555"/>
                  </a:solidFill>
                  <a:latin typeface="+mn-lt"/>
                  <a:ea typeface="+mn-ea"/>
                  <a:cs typeface="+mn-cs"/>
                </a:rPr>
                <a:t>2021​</a:t>
              </a:r>
            </a:p>
          </p:txBody>
        </p:sp>
        <p:sp>
          <p:nvSpPr>
            <p:cNvPr id="194" name="TextBox 194"/>
            <p:cNvSpPr txBox="1"/>
            <p:nvPr/>
          </p:nvSpPr>
          <p:spPr>
            <a:xfrm>
              <a:off x="9531690" y="4666536"/>
              <a:ext cx="272371" cy="140494"/>
            </a:xfrm>
            <a:prstGeom prst="rect">
              <a:avLst/>
            </a:prstGeom>
            <a:noFill/>
            <a:ln>
              <a:noFill/>
            </a:ln>
          </p:spPr>
          <p:txBody>
            <a:bodyPr wrap="none" lIns="0" tIns="0" rIns="0" bIns="0" anchor="t" anchorCtr="0">
              <a:spAutoFit/>
            </a:bodyPr>
            <a:lstStyle/>
            <a:p>
              <a:pPr algn="ctr"/>
              <a:r>
                <a:rPr lang="zh-CN" sz="710" dirty="0">
                  <a:solidFill>
                    <a:srgbClr val="555555"/>
                  </a:solidFill>
                  <a:latin typeface="+mn-lt"/>
                  <a:ea typeface="+mn-ea"/>
                  <a:cs typeface="+mn-cs"/>
                </a:rPr>
                <a:t>2022​</a:t>
              </a:r>
            </a:p>
          </p:txBody>
        </p:sp>
        <p:sp>
          <p:nvSpPr>
            <p:cNvPr id="195" name="TextBox 195"/>
            <p:cNvSpPr txBox="1"/>
            <p:nvPr/>
          </p:nvSpPr>
          <p:spPr>
            <a:xfrm>
              <a:off x="10026990" y="4666536"/>
              <a:ext cx="272371" cy="140494"/>
            </a:xfrm>
            <a:prstGeom prst="rect">
              <a:avLst/>
            </a:prstGeom>
            <a:noFill/>
            <a:ln>
              <a:noFill/>
            </a:ln>
          </p:spPr>
          <p:txBody>
            <a:bodyPr wrap="none" lIns="0" tIns="0" rIns="0" bIns="0" anchor="t" anchorCtr="0">
              <a:spAutoFit/>
            </a:bodyPr>
            <a:lstStyle/>
            <a:p>
              <a:pPr algn="ctr"/>
              <a:r>
                <a:rPr lang="zh-CN" sz="710" dirty="0">
                  <a:solidFill>
                    <a:srgbClr val="555555"/>
                  </a:solidFill>
                  <a:latin typeface="+mn-lt"/>
                  <a:ea typeface="+mn-ea"/>
                  <a:cs typeface="+mn-cs"/>
                </a:rPr>
                <a:t>2023​</a:t>
              </a:r>
            </a:p>
          </p:txBody>
        </p:sp>
        <p:sp>
          <p:nvSpPr>
            <p:cNvPr id="196" name="TextBox 196"/>
            <p:cNvSpPr txBox="1"/>
            <p:nvPr/>
          </p:nvSpPr>
          <p:spPr>
            <a:xfrm>
              <a:off x="10522290" y="4666536"/>
              <a:ext cx="272371" cy="140494"/>
            </a:xfrm>
            <a:prstGeom prst="rect">
              <a:avLst/>
            </a:prstGeom>
            <a:noFill/>
            <a:ln>
              <a:noFill/>
            </a:ln>
          </p:spPr>
          <p:txBody>
            <a:bodyPr wrap="none" lIns="0" tIns="0" rIns="0" bIns="0" anchor="t" anchorCtr="0">
              <a:spAutoFit/>
            </a:bodyPr>
            <a:lstStyle/>
            <a:p>
              <a:pPr algn="ctr"/>
              <a:r>
                <a:rPr lang="zh-CN" sz="710" dirty="0">
                  <a:solidFill>
                    <a:srgbClr val="555555"/>
                  </a:solidFill>
                  <a:latin typeface="+mn-lt"/>
                  <a:ea typeface="+mn-ea"/>
                  <a:cs typeface="+mn-cs"/>
                </a:rPr>
                <a:t>2024​</a:t>
              </a:r>
            </a:p>
          </p:txBody>
        </p:sp>
        <p:sp>
          <p:nvSpPr>
            <p:cNvPr id="197" name="TextBox 197"/>
            <p:cNvSpPr txBox="1"/>
            <p:nvPr/>
          </p:nvSpPr>
          <p:spPr>
            <a:xfrm>
              <a:off x="10954606" y="4666536"/>
              <a:ext cx="398338" cy="140494"/>
            </a:xfrm>
            <a:prstGeom prst="rect">
              <a:avLst/>
            </a:prstGeom>
            <a:noFill/>
            <a:ln>
              <a:noFill/>
            </a:ln>
          </p:spPr>
          <p:txBody>
            <a:bodyPr wrap="none" lIns="0" tIns="0" rIns="0" bIns="0" anchor="t" anchorCtr="0">
              <a:spAutoFit/>
            </a:bodyPr>
            <a:lstStyle/>
            <a:p>
              <a:pPr algn="ctr"/>
              <a:r>
                <a:rPr lang="en-US" sz="710" dirty="0">
                  <a:solidFill>
                    <a:srgbClr val="555555"/>
                  </a:solidFill>
                  <a:latin typeface="+mn-lt"/>
                  <a:ea typeface="+mn-ea"/>
                  <a:cs typeface="+mn-cs"/>
                </a:rPr>
                <a:t>2025H1​</a:t>
              </a:r>
            </a:p>
          </p:txBody>
        </p:sp>
      </p:grpSp>
      <p:grpSp>
        <p:nvGrpSpPr>
          <p:cNvPr id="235" name="key-areas"/>
          <p:cNvGrpSpPr/>
          <p:nvPr/>
        </p:nvGrpSpPr>
        <p:grpSpPr>
          <a:xfrm>
            <a:off x="381000" y="5086350"/>
            <a:ext cx="11430000" cy="400050"/>
            <a:chOff x="381000" y="5086350"/>
            <a:chExt cx="11430000" cy="400050"/>
          </a:xfrm>
        </p:grpSpPr>
        <p:sp>
          <p:nvSpPr>
            <p:cNvPr id="199" name="Rectangle 199"/>
            <p:cNvSpPr/>
            <p:nvPr/>
          </p:nvSpPr>
          <p:spPr>
            <a:xfrm>
              <a:off x="381000" y="5086350"/>
              <a:ext cx="11430000" cy="400050"/>
            </a:xfrm>
            <a:prstGeom prst="roundRect">
              <a:avLst>
                <a:gd name="adj" fmla="val 14286"/>
              </a:avLst>
            </a:prstGeom>
            <a:solidFill>
              <a:srgbClr val="FBEFEE"/>
            </a:solidFill>
            <a:ln w="9525">
              <a:solidFill>
                <a:srgbClr val="EDD5D2"/>
              </a:solidFill>
            </a:ln>
          </p:spPr>
        </p:sp>
        <p:grpSp>
          <p:nvGrpSpPr>
            <p:cNvPr id="203" name="Group 203"/>
            <p:cNvGrpSpPr/>
            <p:nvPr/>
          </p:nvGrpSpPr>
          <p:grpSpPr>
            <a:xfrm>
              <a:off x="595312" y="5214937"/>
              <a:ext cx="142875" cy="142875"/>
              <a:chOff x="595312" y="5214937"/>
              <a:chExt cx="142875" cy="142875"/>
            </a:xfrm>
          </p:grpSpPr>
          <p:sp>
            <p:nvSpPr>
              <p:cNvPr id="200" name="Freeform 200"/>
              <p:cNvSpPr/>
              <p:nvPr/>
            </p:nvSpPr>
            <p:spPr>
              <a:xfrm>
                <a:off x="658812" y="527843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A52D12"/>
                </a:solidFill>
              </a:ln>
            </p:spPr>
          </p:sp>
          <p:sp>
            <p:nvSpPr>
              <p:cNvPr id="201" name="Freeform 201"/>
              <p:cNvSpPr/>
              <p:nvPr/>
            </p:nvSpPr>
            <p:spPr>
              <a:xfrm>
                <a:off x="627062" y="524668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A52D12"/>
                </a:solidFill>
              </a:ln>
            </p:spPr>
          </p:sp>
          <p:sp>
            <p:nvSpPr>
              <p:cNvPr id="202" name="Freeform 202"/>
              <p:cNvSpPr/>
              <p:nvPr/>
            </p:nvSpPr>
            <p:spPr>
              <a:xfrm>
                <a:off x="595312" y="521493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A52D12"/>
                </a:solidFill>
              </a:ln>
            </p:spPr>
          </p:sp>
        </p:grpSp>
        <p:sp>
          <p:nvSpPr>
            <p:cNvPr id="204" name="TextBox 204"/>
            <p:cNvSpPr txBox="1"/>
            <p:nvPr/>
          </p:nvSpPr>
          <p:spPr>
            <a:xfrm>
              <a:off x="832866" y="5220652"/>
              <a:ext cx="576072"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重点领域</a:t>
              </a:r>
            </a:p>
          </p:txBody>
        </p:sp>
        <p:grpSp>
          <p:nvGrpSpPr>
            <p:cNvPr id="208" name="Group 208"/>
            <p:cNvGrpSpPr/>
            <p:nvPr/>
          </p:nvGrpSpPr>
          <p:grpSpPr>
            <a:xfrm>
              <a:off x="2881312" y="5214937"/>
              <a:ext cx="142875" cy="142875"/>
              <a:chOff x="2881312" y="5214937"/>
              <a:chExt cx="142875" cy="142875"/>
            </a:xfrm>
          </p:grpSpPr>
          <p:sp>
            <p:nvSpPr>
              <p:cNvPr id="205" name="Freeform 205"/>
              <p:cNvSpPr/>
              <p:nvPr/>
            </p:nvSpPr>
            <p:spPr>
              <a:xfrm>
                <a:off x="2881312" y="5214937"/>
                <a:ext cx="142875" cy="71437"/>
              </a:xfrm>
              <a:custGeom>
                <a:avLst/>
                <a:gdLst/>
                <a:ahLst/>
                <a:cxnLst/>
                <a:rect l="l" t="t" r="r" b="b"/>
                <a:pathLst>
                  <a:path w="142875" h="71437">
                    <a:moveTo>
                      <a:pt x="15875" y="71437"/>
                    </a:moveTo>
                    <a:lnTo>
                      <a:pt x="0" y="71437"/>
                    </a:lnTo>
                    <a:lnTo>
                      <a:pt x="71437" y="0"/>
                    </a:lnTo>
                    <a:lnTo>
                      <a:pt x="142875" y="71437"/>
                    </a:lnTo>
                    <a:lnTo>
                      <a:pt x="127000" y="71437"/>
                    </a:lnTo>
                  </a:path>
                </a:pathLst>
              </a:custGeom>
              <a:noFill/>
              <a:ln w="15875">
                <a:solidFill>
                  <a:srgbClr val="A52D12"/>
                </a:solidFill>
              </a:ln>
            </p:spPr>
          </p:sp>
          <p:sp>
            <p:nvSpPr>
              <p:cNvPr id="206" name="Freeform 206"/>
              <p:cNvSpPr/>
              <p:nvPr/>
            </p:nvSpPr>
            <p:spPr>
              <a:xfrm>
                <a:off x="2897187" y="5286375"/>
                <a:ext cx="111125" cy="71437"/>
              </a:xfrm>
              <a:custGeom>
                <a:avLst/>
                <a:gdLst/>
                <a:ahLst/>
                <a:cxnLst/>
                <a:rect l="l" t="t" r="r" b="b"/>
                <a:pathLst>
                  <a:path w="111125" h="71437">
                    <a:moveTo>
                      <a:pt x="0" y="0"/>
                    </a:moveTo>
                    <a:lnTo>
                      <a:pt x="0" y="55562"/>
                    </a:lnTo>
                    <a:cubicBezTo>
                      <a:pt x="0" y="64330"/>
                      <a:pt x="7107" y="71437"/>
                      <a:pt x="15875" y="71437"/>
                    </a:cubicBezTo>
                    <a:lnTo>
                      <a:pt x="95250" y="71437"/>
                    </a:lnTo>
                    <a:cubicBezTo>
                      <a:pt x="104017" y="71437"/>
                      <a:pt x="111125" y="64330"/>
                      <a:pt x="111125" y="55562"/>
                    </a:cubicBezTo>
                    <a:lnTo>
                      <a:pt x="111125" y="0"/>
                    </a:lnTo>
                  </a:path>
                </a:pathLst>
              </a:custGeom>
              <a:noFill/>
              <a:ln w="15875">
                <a:solidFill>
                  <a:srgbClr val="A52D12"/>
                </a:solidFill>
              </a:ln>
            </p:spPr>
          </p:sp>
          <p:sp>
            <p:nvSpPr>
              <p:cNvPr id="207" name="Freeform 207"/>
              <p:cNvSpPr/>
              <p:nvPr/>
            </p:nvSpPr>
            <p:spPr>
              <a:xfrm>
                <a:off x="2928937" y="5294312"/>
                <a:ext cx="47625" cy="63500"/>
              </a:xfrm>
              <a:custGeom>
                <a:avLst/>
                <a:gdLst/>
                <a:ahLst/>
                <a:cxnLst/>
                <a:rect l="l" t="t" r="r" b="b"/>
                <a:pathLst>
                  <a:path w="47625" h="63500">
                    <a:moveTo>
                      <a:pt x="0" y="63500"/>
                    </a:moveTo>
                    <a:lnTo>
                      <a:pt x="0" y="15875"/>
                    </a:lnTo>
                    <a:cubicBezTo>
                      <a:pt x="0" y="7107"/>
                      <a:pt x="7107" y="0"/>
                      <a:pt x="15875" y="0"/>
                    </a:cubicBezTo>
                    <a:lnTo>
                      <a:pt x="31750" y="0"/>
                    </a:lnTo>
                    <a:cubicBezTo>
                      <a:pt x="40518" y="0"/>
                      <a:pt x="47625" y="7107"/>
                      <a:pt x="47625" y="15875"/>
                    </a:cubicBezTo>
                    <a:lnTo>
                      <a:pt x="47625" y="63500"/>
                    </a:lnTo>
                  </a:path>
                </a:pathLst>
              </a:custGeom>
              <a:noFill/>
              <a:ln w="15875">
                <a:solidFill>
                  <a:srgbClr val="A52D12"/>
                </a:solidFill>
              </a:ln>
            </p:spPr>
          </p:sp>
        </p:grpSp>
        <p:sp>
          <p:nvSpPr>
            <p:cNvPr id="209" name="TextBox 209"/>
            <p:cNvSpPr txBox="1"/>
            <p:nvPr/>
          </p:nvSpPr>
          <p:spPr>
            <a:xfrm>
              <a:off x="3119247" y="5228749"/>
              <a:ext cx="405689"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房地产</a:t>
              </a:r>
            </a:p>
          </p:txBody>
        </p:sp>
        <p:sp>
          <p:nvSpPr>
            <p:cNvPr id="210" name="Line 210"/>
            <p:cNvSpPr/>
            <p:nvPr/>
          </p:nvSpPr>
          <p:spPr>
            <a:xfrm>
              <a:off x="4191000" y="5172075"/>
              <a:ext cx="9525" cy="228600"/>
            </a:xfrm>
            <a:custGeom>
              <a:avLst/>
              <a:gdLst/>
              <a:ahLst/>
              <a:cxnLst/>
              <a:rect l="l" t="t" r="r" b="b"/>
              <a:pathLst>
                <a:path w="9525" h="228600">
                  <a:moveTo>
                    <a:pt x="0" y="0"/>
                  </a:moveTo>
                  <a:lnTo>
                    <a:pt x="0" y="228600"/>
                  </a:lnTo>
                </a:path>
              </a:pathLst>
            </a:custGeom>
            <a:noFill/>
            <a:ln w="9525">
              <a:solidFill>
                <a:srgbClr val="EDD5D2"/>
              </a:solidFill>
            </a:ln>
          </p:spPr>
        </p:sp>
        <p:grpSp>
          <p:nvGrpSpPr>
            <p:cNvPr id="219" name="Group 219"/>
            <p:cNvGrpSpPr/>
            <p:nvPr/>
          </p:nvGrpSpPr>
          <p:grpSpPr>
            <a:xfrm>
              <a:off x="5167312" y="5214937"/>
              <a:ext cx="144463" cy="152400"/>
              <a:chOff x="5167312" y="5214937"/>
              <a:chExt cx="144463" cy="152400"/>
            </a:xfrm>
          </p:grpSpPr>
          <p:sp>
            <p:nvSpPr>
              <p:cNvPr id="211" name="Freeform 211"/>
              <p:cNvSpPr/>
              <p:nvPr/>
            </p:nvSpPr>
            <p:spPr>
              <a:xfrm>
                <a:off x="5167312" y="5357812"/>
                <a:ext cx="142875" cy="9525"/>
              </a:xfrm>
              <a:custGeom>
                <a:avLst/>
                <a:gdLst/>
                <a:ahLst/>
                <a:cxnLst/>
                <a:rect l="l" t="t" r="r" b="b"/>
                <a:pathLst>
                  <a:path w="142875" h="9525">
                    <a:moveTo>
                      <a:pt x="0" y="0"/>
                    </a:moveTo>
                    <a:lnTo>
                      <a:pt x="142875" y="0"/>
                    </a:lnTo>
                  </a:path>
                </a:pathLst>
              </a:custGeom>
              <a:noFill/>
              <a:ln w="15875">
                <a:solidFill>
                  <a:srgbClr val="A52D12"/>
                </a:solidFill>
              </a:ln>
            </p:spPr>
          </p:sp>
          <p:sp>
            <p:nvSpPr>
              <p:cNvPr id="212" name="Freeform 212"/>
              <p:cNvSpPr/>
              <p:nvPr/>
            </p:nvSpPr>
            <p:spPr>
              <a:xfrm>
                <a:off x="5167312" y="5270500"/>
                <a:ext cx="142875" cy="9525"/>
              </a:xfrm>
              <a:custGeom>
                <a:avLst/>
                <a:gdLst/>
                <a:ahLst/>
                <a:cxnLst/>
                <a:rect l="l" t="t" r="r" b="b"/>
                <a:pathLst>
                  <a:path w="142875" h="9525">
                    <a:moveTo>
                      <a:pt x="0" y="0"/>
                    </a:moveTo>
                    <a:lnTo>
                      <a:pt x="142875" y="0"/>
                    </a:lnTo>
                  </a:path>
                </a:pathLst>
              </a:custGeom>
              <a:noFill/>
              <a:ln w="15875">
                <a:solidFill>
                  <a:srgbClr val="A52D12"/>
                </a:solidFill>
              </a:ln>
            </p:spPr>
          </p:sp>
          <p:sp>
            <p:nvSpPr>
              <p:cNvPr id="213" name="Freeform 213"/>
              <p:cNvSpPr/>
              <p:nvPr/>
            </p:nvSpPr>
            <p:spPr>
              <a:xfrm>
                <a:off x="5183187" y="5214937"/>
                <a:ext cx="111125" cy="23812"/>
              </a:xfrm>
              <a:custGeom>
                <a:avLst/>
                <a:gdLst/>
                <a:ahLst/>
                <a:cxnLst/>
                <a:rect l="l" t="t" r="r" b="b"/>
                <a:pathLst>
                  <a:path w="111125" h="23812">
                    <a:moveTo>
                      <a:pt x="0" y="23812"/>
                    </a:moveTo>
                    <a:lnTo>
                      <a:pt x="55562" y="0"/>
                    </a:lnTo>
                    <a:lnTo>
                      <a:pt x="111125" y="23812"/>
                    </a:lnTo>
                  </a:path>
                </a:pathLst>
              </a:custGeom>
              <a:noFill/>
              <a:ln w="15875">
                <a:solidFill>
                  <a:srgbClr val="A52D12"/>
                </a:solidFill>
              </a:ln>
            </p:spPr>
          </p:sp>
          <p:sp>
            <p:nvSpPr>
              <p:cNvPr id="214" name="Freeform 214"/>
              <p:cNvSpPr/>
              <p:nvPr/>
            </p:nvSpPr>
            <p:spPr>
              <a:xfrm>
                <a:off x="5175250" y="5270500"/>
                <a:ext cx="9525" cy="87312"/>
              </a:xfrm>
              <a:custGeom>
                <a:avLst/>
                <a:gdLst/>
                <a:ahLst/>
                <a:cxnLst/>
                <a:rect l="l" t="t" r="r" b="b"/>
                <a:pathLst>
                  <a:path w="9525" h="87312">
                    <a:moveTo>
                      <a:pt x="0" y="0"/>
                    </a:moveTo>
                    <a:lnTo>
                      <a:pt x="0" y="87312"/>
                    </a:lnTo>
                  </a:path>
                </a:pathLst>
              </a:custGeom>
              <a:noFill/>
              <a:ln w="15875">
                <a:solidFill>
                  <a:srgbClr val="A52D12"/>
                </a:solidFill>
              </a:ln>
            </p:spPr>
          </p:sp>
          <p:sp>
            <p:nvSpPr>
              <p:cNvPr id="215" name="Freeform 215"/>
              <p:cNvSpPr/>
              <p:nvPr/>
            </p:nvSpPr>
            <p:spPr>
              <a:xfrm>
                <a:off x="5302250" y="5270500"/>
                <a:ext cx="9525" cy="87312"/>
              </a:xfrm>
              <a:custGeom>
                <a:avLst/>
                <a:gdLst/>
                <a:ahLst/>
                <a:cxnLst/>
                <a:rect l="l" t="t" r="r" b="b"/>
                <a:pathLst>
                  <a:path w="9525" h="87312">
                    <a:moveTo>
                      <a:pt x="0" y="0"/>
                    </a:moveTo>
                    <a:lnTo>
                      <a:pt x="0" y="87312"/>
                    </a:lnTo>
                  </a:path>
                </a:pathLst>
              </a:custGeom>
              <a:noFill/>
              <a:ln w="15875">
                <a:solidFill>
                  <a:srgbClr val="A52D12"/>
                </a:solidFill>
              </a:ln>
            </p:spPr>
          </p:sp>
          <p:sp>
            <p:nvSpPr>
              <p:cNvPr id="216" name="Freeform 216"/>
              <p:cNvSpPr/>
              <p:nvPr/>
            </p:nvSpPr>
            <p:spPr>
              <a:xfrm>
                <a:off x="5207000" y="5302250"/>
                <a:ext cx="9525" cy="23812"/>
              </a:xfrm>
              <a:custGeom>
                <a:avLst/>
                <a:gdLst/>
                <a:ahLst/>
                <a:cxnLst/>
                <a:rect l="l" t="t" r="r" b="b"/>
                <a:pathLst>
                  <a:path w="9525" h="23812">
                    <a:moveTo>
                      <a:pt x="0" y="0"/>
                    </a:moveTo>
                    <a:lnTo>
                      <a:pt x="0" y="23812"/>
                    </a:lnTo>
                  </a:path>
                </a:pathLst>
              </a:custGeom>
              <a:noFill/>
              <a:ln w="15875">
                <a:solidFill>
                  <a:srgbClr val="A52D12"/>
                </a:solidFill>
              </a:ln>
            </p:spPr>
          </p:sp>
          <p:sp>
            <p:nvSpPr>
              <p:cNvPr id="217" name="Freeform 217"/>
              <p:cNvSpPr/>
              <p:nvPr/>
            </p:nvSpPr>
            <p:spPr>
              <a:xfrm>
                <a:off x="5238750" y="5302250"/>
                <a:ext cx="9525" cy="23812"/>
              </a:xfrm>
              <a:custGeom>
                <a:avLst/>
                <a:gdLst/>
                <a:ahLst/>
                <a:cxnLst/>
                <a:rect l="l" t="t" r="r" b="b"/>
                <a:pathLst>
                  <a:path w="9525" h="23812">
                    <a:moveTo>
                      <a:pt x="0" y="0"/>
                    </a:moveTo>
                    <a:lnTo>
                      <a:pt x="0" y="23812"/>
                    </a:lnTo>
                  </a:path>
                </a:pathLst>
              </a:custGeom>
              <a:noFill/>
              <a:ln w="15875">
                <a:solidFill>
                  <a:srgbClr val="A52D12"/>
                </a:solidFill>
              </a:ln>
            </p:spPr>
          </p:sp>
          <p:sp>
            <p:nvSpPr>
              <p:cNvPr id="218" name="Freeform 218"/>
              <p:cNvSpPr/>
              <p:nvPr/>
            </p:nvSpPr>
            <p:spPr>
              <a:xfrm>
                <a:off x="5270500" y="5302250"/>
                <a:ext cx="9525" cy="23812"/>
              </a:xfrm>
              <a:custGeom>
                <a:avLst/>
                <a:gdLst/>
                <a:ahLst/>
                <a:cxnLst/>
                <a:rect l="l" t="t" r="r" b="b"/>
                <a:pathLst>
                  <a:path w="9525" h="23812">
                    <a:moveTo>
                      <a:pt x="0" y="0"/>
                    </a:moveTo>
                    <a:lnTo>
                      <a:pt x="0" y="23812"/>
                    </a:lnTo>
                  </a:path>
                </a:pathLst>
              </a:custGeom>
              <a:noFill/>
              <a:ln w="15875">
                <a:solidFill>
                  <a:srgbClr val="A52D12"/>
                </a:solidFill>
              </a:ln>
            </p:spPr>
          </p:sp>
        </p:grpSp>
        <p:sp>
          <p:nvSpPr>
            <p:cNvPr id="220" name="TextBox 220"/>
            <p:cNvSpPr txBox="1"/>
            <p:nvPr/>
          </p:nvSpPr>
          <p:spPr>
            <a:xfrm>
              <a:off x="5405247" y="5228749"/>
              <a:ext cx="537616"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地方债务</a:t>
              </a:r>
            </a:p>
          </p:txBody>
        </p:sp>
        <p:sp>
          <p:nvSpPr>
            <p:cNvPr id="221" name="Line 221"/>
            <p:cNvSpPr/>
            <p:nvPr/>
          </p:nvSpPr>
          <p:spPr>
            <a:xfrm>
              <a:off x="6667500" y="5172075"/>
              <a:ext cx="9525" cy="228600"/>
            </a:xfrm>
            <a:custGeom>
              <a:avLst/>
              <a:gdLst/>
              <a:ahLst/>
              <a:cxnLst/>
              <a:rect l="l" t="t" r="r" b="b"/>
              <a:pathLst>
                <a:path w="9525" h="228600">
                  <a:moveTo>
                    <a:pt x="0" y="0"/>
                  </a:moveTo>
                  <a:lnTo>
                    <a:pt x="0" y="228600"/>
                  </a:lnTo>
                </a:path>
              </a:pathLst>
            </a:custGeom>
            <a:noFill/>
            <a:ln w="9525">
              <a:solidFill>
                <a:srgbClr val="EDD5D2"/>
              </a:solidFill>
            </a:ln>
          </p:spPr>
        </p:sp>
        <p:grpSp>
          <p:nvGrpSpPr>
            <p:cNvPr id="224" name="Group 224"/>
            <p:cNvGrpSpPr/>
            <p:nvPr/>
          </p:nvGrpSpPr>
          <p:grpSpPr>
            <a:xfrm>
              <a:off x="7640328" y="5211453"/>
              <a:ext cx="149844" cy="149844"/>
              <a:chOff x="7640328" y="5211453"/>
              <a:chExt cx="149844" cy="149844"/>
            </a:xfrm>
          </p:grpSpPr>
          <p:sp>
            <p:nvSpPr>
              <p:cNvPr id="222" name="Freeform 222"/>
              <p:cNvSpPr/>
              <p:nvPr/>
            </p:nvSpPr>
            <p:spPr>
              <a:xfrm>
                <a:off x="7640328" y="5211453"/>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A52D12"/>
                </a:solidFill>
              </a:ln>
            </p:spPr>
          </p:sp>
          <p:sp>
            <p:nvSpPr>
              <p:cNvPr id="223" name="Freeform 223"/>
              <p:cNvSpPr/>
              <p:nvPr/>
            </p:nvSpPr>
            <p:spPr>
              <a:xfrm>
                <a:off x="7691437" y="5262562"/>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A52D12"/>
                </a:solidFill>
              </a:ln>
            </p:spPr>
          </p:sp>
        </p:grpSp>
        <p:sp>
          <p:nvSpPr>
            <p:cNvPr id="225" name="TextBox 225"/>
            <p:cNvSpPr txBox="1"/>
            <p:nvPr/>
          </p:nvSpPr>
          <p:spPr>
            <a:xfrm>
              <a:off x="7881747" y="5228749"/>
              <a:ext cx="537616"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产能过剩</a:t>
              </a:r>
            </a:p>
          </p:txBody>
        </p:sp>
        <p:sp>
          <p:nvSpPr>
            <p:cNvPr id="226" name="Line 226"/>
            <p:cNvSpPr/>
            <p:nvPr/>
          </p:nvSpPr>
          <p:spPr>
            <a:xfrm>
              <a:off x="9144000" y="5172075"/>
              <a:ext cx="9525" cy="228600"/>
            </a:xfrm>
            <a:custGeom>
              <a:avLst/>
              <a:gdLst/>
              <a:ahLst/>
              <a:cxnLst/>
              <a:rect l="l" t="t" r="r" b="b"/>
              <a:pathLst>
                <a:path w="9525" h="228600">
                  <a:moveTo>
                    <a:pt x="0" y="0"/>
                  </a:moveTo>
                  <a:lnTo>
                    <a:pt x="0" y="228600"/>
                  </a:lnTo>
                </a:path>
              </a:pathLst>
            </a:custGeom>
            <a:noFill/>
            <a:ln w="9525">
              <a:solidFill>
                <a:srgbClr val="EDD5D2"/>
              </a:solidFill>
            </a:ln>
          </p:spPr>
        </p:sp>
        <p:grpSp>
          <p:nvGrpSpPr>
            <p:cNvPr id="233" name="Group 233"/>
            <p:cNvGrpSpPr/>
            <p:nvPr/>
          </p:nvGrpSpPr>
          <p:grpSpPr>
            <a:xfrm>
              <a:off x="10120312" y="5214937"/>
              <a:ext cx="142875" cy="142875"/>
              <a:chOff x="10120312" y="5214937"/>
              <a:chExt cx="142875" cy="142875"/>
            </a:xfrm>
          </p:grpSpPr>
          <p:sp>
            <p:nvSpPr>
              <p:cNvPr id="227" name="Freeform 227"/>
              <p:cNvSpPr/>
              <p:nvPr/>
            </p:nvSpPr>
            <p:spPr>
              <a:xfrm>
                <a:off x="10175875" y="52784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52D12"/>
                </a:solidFill>
              </a:ln>
            </p:spPr>
          </p:sp>
          <p:sp>
            <p:nvSpPr>
              <p:cNvPr id="228" name="Freeform 228"/>
              <p:cNvSpPr/>
              <p:nvPr/>
            </p:nvSpPr>
            <p:spPr>
              <a:xfrm>
                <a:off x="10160000" y="5334000"/>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A52D12"/>
                </a:solidFill>
              </a:ln>
            </p:spPr>
          </p:sp>
          <p:sp>
            <p:nvSpPr>
              <p:cNvPr id="229" name="Freeform 229"/>
              <p:cNvSpPr/>
              <p:nvPr/>
            </p:nvSpPr>
            <p:spPr>
              <a:xfrm>
                <a:off x="10215562" y="52149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52D12"/>
                </a:solidFill>
              </a:ln>
            </p:spPr>
          </p:sp>
          <p:sp>
            <p:nvSpPr>
              <p:cNvPr id="230" name="Freeform 230"/>
              <p:cNvSpPr/>
              <p:nvPr/>
            </p:nvSpPr>
            <p:spPr>
              <a:xfrm>
                <a:off x="10231437" y="5270500"/>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A52D12"/>
                </a:solidFill>
              </a:ln>
            </p:spPr>
          </p:sp>
          <p:sp>
            <p:nvSpPr>
              <p:cNvPr id="231" name="Freeform 231"/>
              <p:cNvSpPr/>
              <p:nvPr/>
            </p:nvSpPr>
            <p:spPr>
              <a:xfrm>
                <a:off x="10136187" y="521493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A52D12"/>
                </a:solidFill>
              </a:ln>
            </p:spPr>
          </p:sp>
          <p:sp>
            <p:nvSpPr>
              <p:cNvPr id="232" name="Freeform 232"/>
              <p:cNvSpPr/>
              <p:nvPr/>
            </p:nvSpPr>
            <p:spPr>
              <a:xfrm>
                <a:off x="10120312" y="5270500"/>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A52D12"/>
                </a:solidFill>
              </a:ln>
            </p:spPr>
          </p:sp>
        </p:grpSp>
        <p:sp>
          <p:nvSpPr>
            <p:cNvPr id="234" name="TextBox 234"/>
            <p:cNvSpPr txBox="1"/>
            <p:nvPr/>
          </p:nvSpPr>
          <p:spPr>
            <a:xfrm>
              <a:off x="10358247" y="5228749"/>
              <a:ext cx="537616" cy="190690"/>
            </a:xfrm>
            <a:prstGeom prst="rect">
              <a:avLst/>
            </a:prstGeom>
            <a:noFill/>
            <a:ln>
              <a:noFill/>
            </a:ln>
          </p:spPr>
          <p:txBody>
            <a:bodyPr wrap="none" lIns="0" tIns="0" rIns="0" bIns="0" anchor="t" anchorCtr="0">
              <a:spAutoFit/>
            </a:bodyPr>
            <a:lstStyle/>
            <a:p>
              <a:pPr algn="l"/>
              <a:r>
                <a:rPr lang="zh-CN" sz="980" dirty="0">
                  <a:solidFill>
                    <a:srgbClr val="3A3A3A"/>
                  </a:solidFill>
                  <a:latin typeface="+mn-lt"/>
                  <a:ea typeface="+mn-ea"/>
                  <a:cs typeface="+mn-cs"/>
                </a:rPr>
                <a:t>集团客户</a:t>
              </a:r>
            </a:p>
          </p:txBody>
        </p:sp>
      </p:grpSp>
      <p:grpSp>
        <p:nvGrpSpPr>
          <p:cNvPr id="243" name="slogan-banner"/>
          <p:cNvGrpSpPr/>
          <p:nvPr/>
        </p:nvGrpSpPr>
        <p:grpSpPr>
          <a:xfrm>
            <a:off x="381000" y="5638800"/>
            <a:ext cx="11430000" cy="800100"/>
            <a:chOff x="381000" y="5638800"/>
            <a:chExt cx="11430000" cy="800100"/>
          </a:xfrm>
        </p:grpSpPr>
        <p:sp>
          <p:nvSpPr>
            <p:cNvPr id="236" name="Rectangle 236"/>
            <p:cNvSpPr/>
            <p:nvPr/>
          </p:nvSpPr>
          <p:spPr>
            <a:xfrm>
              <a:off x="381000" y="5638800"/>
              <a:ext cx="11430000" cy="800100"/>
            </a:xfrm>
            <a:prstGeom prst="rect">
              <a:avLst/>
            </a:prstGeom>
            <a:solidFill>
              <a:srgbClr val="A52D12"/>
            </a:solidFill>
            <a:ln>
              <a:noFill/>
            </a:ln>
          </p:spPr>
        </p:sp>
        <p:sp>
          <p:nvSpPr>
            <p:cNvPr id="237" name="Freeform 237"/>
            <p:cNvSpPr/>
            <p:nvPr/>
          </p:nvSpPr>
          <p:spPr>
            <a:xfrm>
              <a:off x="9620250" y="5638800"/>
              <a:ext cx="2190750" cy="800100"/>
            </a:xfrm>
            <a:custGeom>
              <a:avLst/>
              <a:gdLst/>
              <a:ahLst/>
              <a:cxnLst/>
              <a:rect l="l" t="t" r="r" b="b"/>
              <a:pathLst>
                <a:path w="2190750" h="800100">
                  <a:moveTo>
                    <a:pt x="0" y="800100"/>
                  </a:moveTo>
                  <a:cubicBezTo>
                    <a:pt x="762000" y="457200"/>
                    <a:pt x="1428750" y="266700"/>
                    <a:pt x="2190750" y="0"/>
                  </a:cubicBezTo>
                  <a:lnTo>
                    <a:pt x="2190750" y="800100"/>
                  </a:lnTo>
                  <a:close/>
                </a:path>
              </a:pathLst>
            </a:custGeom>
            <a:solidFill>
              <a:srgbClr val="C9604E">
                <a:alpha val="35000"/>
              </a:srgbClr>
            </a:solidFill>
            <a:ln>
              <a:noFill/>
            </a:ln>
          </p:spPr>
        </p:sp>
        <p:sp>
          <p:nvSpPr>
            <p:cNvPr id="238" name="Ellipse 238"/>
            <p:cNvSpPr/>
            <p:nvPr/>
          </p:nvSpPr>
          <p:spPr>
            <a:xfrm>
              <a:off x="1181100" y="5791200"/>
              <a:ext cx="495300" cy="495300"/>
            </a:xfrm>
            <a:prstGeom prst="ellipse">
              <a:avLst/>
            </a:prstGeom>
            <a:solidFill>
              <a:srgbClr val="FFFFFF">
                <a:alpha val="15000"/>
              </a:srgbClr>
            </a:solidFill>
            <a:ln>
              <a:noFill/>
            </a:ln>
          </p:spPr>
        </p:sp>
        <p:grpSp>
          <p:nvGrpSpPr>
            <p:cNvPr id="241" name="Group 241"/>
            <p:cNvGrpSpPr/>
            <p:nvPr/>
          </p:nvGrpSpPr>
          <p:grpSpPr>
            <a:xfrm>
              <a:off x="1297311" y="5924550"/>
              <a:ext cx="248008" cy="228599"/>
              <a:chOff x="1297311" y="5924550"/>
              <a:chExt cx="248008" cy="228599"/>
            </a:xfrm>
          </p:grpSpPr>
          <p:sp>
            <p:nvSpPr>
              <p:cNvPr id="239" name="Freeform 239"/>
              <p:cNvSpPr/>
              <p:nvPr/>
            </p:nvSpPr>
            <p:spPr>
              <a:xfrm>
                <a:off x="1297311" y="5924550"/>
                <a:ext cx="248008" cy="226644"/>
              </a:xfrm>
              <a:custGeom>
                <a:avLst/>
                <a:gdLst/>
                <a:ahLst/>
                <a:cxnLst/>
                <a:rect l="l" t="t" r="r" b="b"/>
                <a:pathLst>
                  <a:path w="248008" h="226644">
                    <a:moveTo>
                      <a:pt x="124581" y="226644"/>
                    </a:moveTo>
                    <a:cubicBezTo>
                      <a:pt x="45021" y="201982"/>
                      <a:pt x="0" y="118013"/>
                      <a:pt x="23489" y="38100"/>
                    </a:cubicBezTo>
                    <a:cubicBezTo>
                      <a:pt x="63056" y="39910"/>
                      <a:pt x="101774" y="26245"/>
                      <a:pt x="131439" y="0"/>
                    </a:cubicBezTo>
                    <a:cubicBezTo>
                      <a:pt x="161104" y="26245"/>
                      <a:pt x="199822" y="39910"/>
                      <a:pt x="239389" y="38100"/>
                    </a:cubicBezTo>
                    <a:cubicBezTo>
                      <a:pt x="248008" y="67426"/>
                      <a:pt x="247610" y="98665"/>
                      <a:pt x="238246" y="127762"/>
                    </a:cubicBezTo>
                  </a:path>
                </a:pathLst>
              </a:custGeom>
              <a:noFill/>
              <a:ln w="25400">
                <a:solidFill>
                  <a:srgbClr val="E8988A"/>
                </a:solidFill>
              </a:ln>
            </p:spPr>
          </p:sp>
          <p:sp>
            <p:nvSpPr>
              <p:cNvPr id="240" name="Freeform 240"/>
              <p:cNvSpPr/>
              <p:nvPr/>
            </p:nvSpPr>
            <p:spPr>
              <a:xfrm>
                <a:off x="1466850" y="6102349"/>
                <a:ext cx="76200" cy="50800"/>
              </a:xfrm>
              <a:custGeom>
                <a:avLst/>
                <a:gdLst/>
                <a:ahLst/>
                <a:cxnLst/>
                <a:rect l="l" t="t" r="r" b="b"/>
                <a:pathLst>
                  <a:path w="76200" h="50800">
                    <a:moveTo>
                      <a:pt x="0" y="25400"/>
                    </a:moveTo>
                    <a:lnTo>
                      <a:pt x="25400" y="50800"/>
                    </a:lnTo>
                    <a:lnTo>
                      <a:pt x="76200" y="0"/>
                    </a:lnTo>
                  </a:path>
                </a:pathLst>
              </a:custGeom>
              <a:noFill/>
              <a:ln w="25400">
                <a:solidFill>
                  <a:srgbClr val="E8988A"/>
                </a:solidFill>
              </a:ln>
            </p:spPr>
          </p:sp>
        </p:grpSp>
        <p:sp>
          <p:nvSpPr>
            <p:cNvPr id="242" name="TextBox 242"/>
            <p:cNvSpPr txBox="1"/>
            <p:nvPr/>
          </p:nvSpPr>
          <p:spPr>
            <a:xfrm>
              <a:off x="3965067" y="5916930"/>
              <a:ext cx="4261866" cy="410718"/>
            </a:xfrm>
            <a:prstGeom prst="rect">
              <a:avLst/>
            </a:prstGeom>
            <a:noFill/>
            <a:ln>
              <a:noFill/>
            </a:ln>
          </p:spPr>
          <p:txBody>
            <a:bodyPr wrap="none" lIns="0" tIns="0" rIns="0" bIns="0" anchor="t" anchorCtr="0">
              <a:spAutoFit/>
            </a:bodyPr>
            <a:lstStyle/>
            <a:p>
              <a:pPr algn="ctr"/>
              <a:r>
                <a:rPr lang="zh-CN" sz="2100" b="1" dirty="0">
                  <a:solidFill>
                    <a:srgbClr val="FFFFFF"/>
                  </a:solidFill>
                  <a:latin typeface="+mn-lt"/>
                  <a:ea typeface="+mn-ea"/>
                  <a:cs typeface="+mn-cs"/>
                </a:rPr>
                <a:t>早识别、早预警、早暴露、早处置</a:t>
              </a:r>
            </a:p>
          </p:txBody>
        </p:sp>
      </p:gr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13​</a:t>
              </a:r>
            </a:p>
          </p:txBody>
        </p:sp>
        <p:sp>
          <p:nvSpPr>
            <p:cNvPr id="4" name="TextBox 4"/>
            <p:cNvSpPr txBox="1"/>
            <p:nvPr/>
          </p:nvSpPr>
          <p:spPr>
            <a:xfrm>
              <a:off x="942594" y="189548"/>
              <a:ext cx="667664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成绩值得肯定，但</a:t>
              </a:r>
              <a:r>
                <a:rPr lang="zh-CN" sz="1950" b="1" dirty="0">
                  <a:solidFill>
                    <a:srgbClr val="A52D12"/>
                  </a:solidFill>
                  <a:latin typeface="SimSun"/>
                  <a:ea typeface="SimSun"/>
                  <a:cs typeface="SimSun"/>
                </a:rPr>
                <a:t>结构性矛盾和能力短板</a:t>
              </a:r>
              <a:r>
                <a:rPr lang="zh-CN" sz="1950" b="1" dirty="0">
                  <a:solidFill>
                    <a:srgbClr val="1F1F1F"/>
                  </a:solidFill>
                  <a:latin typeface="SimSun"/>
                  <a:ea typeface="SimSun"/>
                  <a:cs typeface="SimSun"/>
                </a:rPr>
                <a:t>仍需加快破解</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93" name="issue-table"/>
          <p:cNvGrpSpPr/>
          <p:nvPr/>
        </p:nvGrpSpPr>
        <p:grpSpPr>
          <a:xfrm>
            <a:off x="381000" y="723900"/>
            <a:ext cx="6953250" cy="4838700"/>
            <a:chOff x="381000" y="723900"/>
            <a:chExt cx="6953250" cy="4838700"/>
          </a:xfrm>
        </p:grpSpPr>
        <p:sp>
          <p:nvSpPr>
            <p:cNvPr id="7" name="Rectangle 7"/>
            <p:cNvSpPr/>
            <p:nvPr/>
          </p:nvSpPr>
          <p:spPr>
            <a:xfrm>
              <a:off x="381000" y="723900"/>
              <a:ext cx="1828800" cy="266700"/>
            </a:xfrm>
            <a:prstGeom prst="rect">
              <a:avLst/>
            </a:prstGeom>
            <a:solidFill>
              <a:srgbClr val="A52D12"/>
            </a:solidFill>
            <a:ln>
              <a:noFill/>
            </a:ln>
          </p:spPr>
        </p:sp>
        <p:sp>
          <p:nvSpPr>
            <p:cNvPr id="8" name="TextBox 8"/>
            <p:cNvSpPr txBox="1"/>
            <p:nvPr/>
          </p:nvSpPr>
          <p:spPr>
            <a:xfrm>
              <a:off x="1158519" y="7996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表现</a:t>
              </a:r>
            </a:p>
          </p:txBody>
        </p:sp>
        <p:sp>
          <p:nvSpPr>
            <p:cNvPr id="9" name="Rectangle 9"/>
            <p:cNvSpPr/>
            <p:nvPr/>
          </p:nvSpPr>
          <p:spPr>
            <a:xfrm>
              <a:off x="2209800" y="723900"/>
              <a:ext cx="1714500" cy="266700"/>
            </a:xfrm>
            <a:prstGeom prst="rect">
              <a:avLst/>
            </a:prstGeom>
            <a:solidFill>
              <a:srgbClr val="A52D12"/>
            </a:solidFill>
            <a:ln>
              <a:noFill/>
            </a:ln>
          </p:spPr>
        </p:sp>
        <p:sp>
          <p:nvSpPr>
            <p:cNvPr id="10" name="TextBox 10"/>
            <p:cNvSpPr txBox="1"/>
            <p:nvPr/>
          </p:nvSpPr>
          <p:spPr>
            <a:xfrm>
              <a:off x="2930169" y="7996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原因</a:t>
              </a:r>
            </a:p>
          </p:txBody>
        </p:sp>
        <p:sp>
          <p:nvSpPr>
            <p:cNvPr id="11" name="Rectangle 11"/>
            <p:cNvSpPr/>
            <p:nvPr/>
          </p:nvSpPr>
          <p:spPr>
            <a:xfrm>
              <a:off x="3924300" y="723900"/>
              <a:ext cx="1657350" cy="266700"/>
            </a:xfrm>
            <a:prstGeom prst="rect">
              <a:avLst/>
            </a:prstGeom>
            <a:solidFill>
              <a:srgbClr val="A52D12"/>
            </a:solidFill>
            <a:ln>
              <a:noFill/>
            </a:ln>
          </p:spPr>
        </p:sp>
        <p:sp>
          <p:nvSpPr>
            <p:cNvPr id="12" name="TextBox 12"/>
            <p:cNvSpPr txBox="1"/>
            <p:nvPr/>
          </p:nvSpPr>
          <p:spPr>
            <a:xfrm>
              <a:off x="4616094" y="7996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影响</a:t>
              </a:r>
            </a:p>
          </p:txBody>
        </p:sp>
        <p:sp>
          <p:nvSpPr>
            <p:cNvPr id="13" name="Rectangle 13"/>
            <p:cNvSpPr/>
            <p:nvPr/>
          </p:nvSpPr>
          <p:spPr>
            <a:xfrm>
              <a:off x="5581650" y="723900"/>
              <a:ext cx="1752600" cy="266700"/>
            </a:xfrm>
            <a:prstGeom prst="rect">
              <a:avLst/>
            </a:prstGeom>
            <a:solidFill>
              <a:srgbClr val="A52D12"/>
            </a:solidFill>
            <a:ln>
              <a:noFill/>
            </a:ln>
          </p:spPr>
        </p:sp>
        <p:sp>
          <p:nvSpPr>
            <p:cNvPr id="14" name="TextBox 14"/>
            <p:cNvSpPr txBox="1"/>
            <p:nvPr/>
          </p:nvSpPr>
          <p:spPr>
            <a:xfrm>
              <a:off x="6189142" y="7996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改进方向</a:t>
              </a:r>
            </a:p>
          </p:txBody>
        </p:sp>
        <p:sp>
          <p:nvSpPr>
            <p:cNvPr id="15" name="Rectangle 15"/>
            <p:cNvSpPr/>
            <p:nvPr/>
          </p:nvSpPr>
          <p:spPr>
            <a:xfrm>
              <a:off x="381000" y="990600"/>
              <a:ext cx="6953250" cy="914400"/>
            </a:xfrm>
            <a:prstGeom prst="rect">
              <a:avLst/>
            </a:prstGeom>
            <a:solidFill>
              <a:srgbClr val="FFFFFF"/>
            </a:solidFill>
            <a:ln w="9525">
              <a:solidFill>
                <a:srgbClr val="EDD5D2"/>
              </a:solidFill>
            </a:ln>
          </p:spPr>
        </p:sp>
        <p:sp>
          <p:nvSpPr>
            <p:cNvPr id="16" name="Ellipse 16"/>
            <p:cNvSpPr/>
            <p:nvPr/>
          </p:nvSpPr>
          <p:spPr>
            <a:xfrm>
              <a:off x="447675" y="1152525"/>
              <a:ext cx="171450" cy="171450"/>
            </a:xfrm>
            <a:prstGeom prst="ellipse">
              <a:avLst/>
            </a:prstGeom>
            <a:solidFill>
              <a:srgbClr val="A52D12"/>
            </a:solidFill>
            <a:ln>
              <a:noFill/>
            </a:ln>
          </p:spPr>
        </p:sp>
        <p:sp>
          <p:nvSpPr>
            <p:cNvPr id="17" name="TextBox 17"/>
            <p:cNvSpPr txBox="1"/>
            <p:nvPr/>
          </p:nvSpPr>
          <p:spPr>
            <a:xfrm>
              <a:off x="470330" y="11953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18" name="TextBox 18"/>
            <p:cNvSpPr txBox="1"/>
            <p:nvPr/>
          </p:nvSpPr>
          <p:spPr>
            <a:xfrm>
              <a:off x="681038" y="1191339"/>
              <a:ext cx="825760"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净息差1.72%，​</a:t>
              </a:r>
            </a:p>
          </p:txBody>
        </p:sp>
        <p:sp>
          <p:nvSpPr>
            <p:cNvPr id="19" name="TextBox 19"/>
            <p:cNvSpPr txBox="1"/>
            <p:nvPr/>
          </p:nvSpPr>
          <p:spPr>
            <a:xfrm>
              <a:off x="681038" y="1343739"/>
              <a:ext cx="862265"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同比下降14BP，​</a:t>
              </a:r>
            </a:p>
          </p:txBody>
        </p:sp>
        <p:sp>
          <p:nvSpPr>
            <p:cNvPr id="20" name="TextBox 20"/>
            <p:cNvSpPr txBox="1"/>
            <p:nvPr/>
          </p:nvSpPr>
          <p:spPr>
            <a:xfrm>
              <a:off x="681038" y="1496139"/>
              <a:ext cx="647624"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盈利增长承压</a:t>
              </a:r>
            </a:p>
          </p:txBody>
        </p:sp>
        <p:sp>
          <p:nvSpPr>
            <p:cNvPr id="21" name="TextBox 21"/>
            <p:cNvSpPr txBox="1"/>
            <p:nvPr/>
          </p:nvSpPr>
          <p:spPr>
            <a:xfrm>
              <a:off x="2319338" y="1199436"/>
              <a:ext cx="75523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资产收益率下行</a:t>
              </a:r>
            </a:p>
          </p:txBody>
        </p:sp>
        <p:sp>
          <p:nvSpPr>
            <p:cNvPr id="22" name="TextBox 22"/>
            <p:cNvSpPr txBox="1"/>
            <p:nvPr/>
          </p:nvSpPr>
          <p:spPr>
            <a:xfrm>
              <a:off x="2319338" y="13518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负债成本刚性偏高</a:t>
              </a:r>
            </a:p>
          </p:txBody>
        </p:sp>
        <p:sp>
          <p:nvSpPr>
            <p:cNvPr id="23" name="TextBox 23"/>
            <p:cNvSpPr txBox="1"/>
            <p:nvPr/>
          </p:nvSpPr>
          <p:spPr>
            <a:xfrm>
              <a:off x="2319338" y="1504236"/>
              <a:ext cx="94639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低收益资产占比上升</a:t>
              </a:r>
            </a:p>
          </p:txBody>
        </p:sp>
        <p:sp>
          <p:nvSpPr>
            <p:cNvPr id="24" name="TextBox 24"/>
            <p:cNvSpPr txBox="1"/>
            <p:nvPr/>
          </p:nvSpPr>
          <p:spPr>
            <a:xfrm>
              <a:off x="4033838" y="1199436"/>
              <a:ext cx="75523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净利润增速放缓</a:t>
              </a:r>
            </a:p>
          </p:txBody>
        </p:sp>
        <p:sp>
          <p:nvSpPr>
            <p:cNvPr id="25" name="TextBox 25"/>
            <p:cNvSpPr txBox="1"/>
            <p:nvPr/>
          </p:nvSpPr>
          <p:spPr>
            <a:xfrm>
              <a:off x="4033838" y="1351836"/>
              <a:ext cx="65965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盈利韧性减弱</a:t>
              </a:r>
            </a:p>
          </p:txBody>
        </p:sp>
        <p:sp>
          <p:nvSpPr>
            <p:cNvPr id="26" name="TextBox 26"/>
            <p:cNvSpPr txBox="1"/>
            <p:nvPr/>
          </p:nvSpPr>
          <p:spPr>
            <a:xfrm>
              <a:off x="4033838" y="15042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资本内生能力受限</a:t>
              </a:r>
            </a:p>
          </p:txBody>
        </p:sp>
        <p:sp>
          <p:nvSpPr>
            <p:cNvPr id="27" name="TextBox 27"/>
            <p:cNvSpPr txBox="1"/>
            <p:nvPr/>
          </p:nvSpPr>
          <p:spPr>
            <a:xfrm>
              <a:off x="5691188" y="11994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优化资产负债定价与结构</a:t>
              </a:r>
            </a:p>
          </p:txBody>
        </p:sp>
        <p:sp>
          <p:nvSpPr>
            <p:cNvPr id="28" name="TextBox 28"/>
            <p:cNvSpPr txBox="1"/>
            <p:nvPr/>
          </p:nvSpPr>
          <p:spPr>
            <a:xfrm>
              <a:off x="5691188" y="13518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强化负债成本管控</a:t>
              </a:r>
            </a:p>
          </p:txBody>
        </p:sp>
        <p:sp>
          <p:nvSpPr>
            <p:cNvPr id="29" name="TextBox 29"/>
            <p:cNvSpPr txBox="1"/>
            <p:nvPr/>
          </p:nvSpPr>
          <p:spPr>
            <a:xfrm>
              <a:off x="5691188" y="15042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提升资产收益质量</a:t>
              </a:r>
            </a:p>
          </p:txBody>
        </p:sp>
        <p:sp>
          <p:nvSpPr>
            <p:cNvPr id="30" name="Rectangle 30"/>
            <p:cNvSpPr/>
            <p:nvPr/>
          </p:nvSpPr>
          <p:spPr>
            <a:xfrm>
              <a:off x="381000" y="1905000"/>
              <a:ext cx="6953250" cy="914400"/>
            </a:xfrm>
            <a:prstGeom prst="rect">
              <a:avLst/>
            </a:prstGeom>
            <a:solidFill>
              <a:srgbClr val="FBEFEE"/>
            </a:solidFill>
            <a:ln w="9525">
              <a:solidFill>
                <a:srgbClr val="EDD5D2"/>
              </a:solidFill>
            </a:ln>
          </p:spPr>
        </p:sp>
        <p:sp>
          <p:nvSpPr>
            <p:cNvPr id="31" name="Ellipse 31"/>
            <p:cNvSpPr/>
            <p:nvPr/>
          </p:nvSpPr>
          <p:spPr>
            <a:xfrm>
              <a:off x="447675" y="2066925"/>
              <a:ext cx="171450" cy="171450"/>
            </a:xfrm>
            <a:prstGeom prst="ellipse">
              <a:avLst/>
            </a:prstGeom>
            <a:solidFill>
              <a:srgbClr val="A52D12"/>
            </a:solidFill>
            <a:ln>
              <a:noFill/>
            </a:ln>
          </p:spPr>
        </p:sp>
        <p:sp>
          <p:nvSpPr>
            <p:cNvPr id="32" name="TextBox 32"/>
            <p:cNvSpPr txBox="1"/>
            <p:nvPr/>
          </p:nvSpPr>
          <p:spPr>
            <a:xfrm>
              <a:off x="470330" y="21097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33" name="TextBox 33"/>
            <p:cNvSpPr txBox="1"/>
            <p:nvPr/>
          </p:nvSpPr>
          <p:spPr>
            <a:xfrm>
              <a:off x="681038" y="2105739"/>
              <a:ext cx="1144809"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核心存款占比64.2%，​</a:t>
              </a:r>
            </a:p>
          </p:txBody>
        </p:sp>
        <p:sp>
          <p:nvSpPr>
            <p:cNvPr id="34" name="TextBox 34"/>
            <p:cNvSpPr txBox="1"/>
            <p:nvPr/>
          </p:nvSpPr>
          <p:spPr>
            <a:xfrm>
              <a:off x="681038" y="2258139"/>
              <a:ext cx="753974"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部分机构高成本</a:t>
              </a:r>
            </a:p>
          </p:txBody>
        </p:sp>
        <p:sp>
          <p:nvSpPr>
            <p:cNvPr id="35" name="TextBox 35"/>
            <p:cNvSpPr txBox="1"/>
            <p:nvPr/>
          </p:nvSpPr>
          <p:spPr>
            <a:xfrm>
              <a:off x="681038" y="2410539"/>
              <a:ext cx="647624"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负债依赖仍强</a:t>
              </a:r>
            </a:p>
          </p:txBody>
        </p:sp>
        <p:sp>
          <p:nvSpPr>
            <p:cNvPr id="36" name="TextBox 36"/>
            <p:cNvSpPr txBox="1"/>
            <p:nvPr/>
          </p:nvSpPr>
          <p:spPr>
            <a:xfrm>
              <a:off x="2319338" y="21138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核心客户粘性不足</a:t>
              </a:r>
            </a:p>
          </p:txBody>
        </p:sp>
        <p:sp>
          <p:nvSpPr>
            <p:cNvPr id="37" name="TextBox 37"/>
            <p:cNvSpPr txBox="1"/>
            <p:nvPr/>
          </p:nvSpPr>
          <p:spPr>
            <a:xfrm>
              <a:off x="2319338" y="22662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活期存款增长乏力</a:t>
              </a:r>
            </a:p>
          </p:txBody>
        </p:sp>
        <p:sp>
          <p:nvSpPr>
            <p:cNvPr id="38" name="TextBox 38"/>
            <p:cNvSpPr txBox="1"/>
            <p:nvPr/>
          </p:nvSpPr>
          <p:spPr>
            <a:xfrm>
              <a:off x="2319338" y="24186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同业及结构性负债占比高</a:t>
              </a:r>
            </a:p>
          </p:txBody>
        </p:sp>
        <p:sp>
          <p:nvSpPr>
            <p:cNvPr id="39" name="TextBox 39"/>
            <p:cNvSpPr txBox="1"/>
            <p:nvPr/>
          </p:nvSpPr>
          <p:spPr>
            <a:xfrm>
              <a:off x="4033838" y="2113836"/>
              <a:ext cx="65965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付息成本偏高</a:t>
              </a:r>
            </a:p>
          </p:txBody>
        </p:sp>
        <p:sp>
          <p:nvSpPr>
            <p:cNvPr id="40" name="TextBox 40"/>
            <p:cNvSpPr txBox="1"/>
            <p:nvPr/>
          </p:nvSpPr>
          <p:spPr>
            <a:xfrm>
              <a:off x="4033838" y="2266236"/>
              <a:ext cx="75523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盈利空间被挤压</a:t>
              </a:r>
            </a:p>
          </p:txBody>
        </p:sp>
        <p:sp>
          <p:nvSpPr>
            <p:cNvPr id="41" name="TextBox 41"/>
            <p:cNvSpPr txBox="1"/>
            <p:nvPr/>
          </p:nvSpPr>
          <p:spPr>
            <a:xfrm>
              <a:off x="4033838" y="24186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流动性稳定性承压</a:t>
              </a:r>
            </a:p>
          </p:txBody>
        </p:sp>
        <p:sp>
          <p:nvSpPr>
            <p:cNvPr id="42" name="TextBox 42"/>
            <p:cNvSpPr txBox="1"/>
            <p:nvPr/>
          </p:nvSpPr>
          <p:spPr>
            <a:xfrm>
              <a:off x="5691188" y="2113836"/>
              <a:ext cx="104197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深耕客户提升核心存款</a:t>
              </a:r>
            </a:p>
          </p:txBody>
        </p:sp>
        <p:sp>
          <p:nvSpPr>
            <p:cNvPr id="43" name="TextBox 43"/>
            <p:cNvSpPr txBox="1"/>
            <p:nvPr/>
          </p:nvSpPr>
          <p:spPr>
            <a:xfrm>
              <a:off x="5691188" y="2266236"/>
              <a:ext cx="132871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优化负债结构压降高成本负债</a:t>
              </a:r>
            </a:p>
          </p:txBody>
        </p:sp>
        <p:sp>
          <p:nvSpPr>
            <p:cNvPr id="44" name="TextBox 44"/>
            <p:cNvSpPr txBox="1"/>
            <p:nvPr/>
          </p:nvSpPr>
          <p:spPr>
            <a:xfrm>
              <a:off x="5691188" y="2418636"/>
              <a:ext cx="104197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加强流动性精细化管理</a:t>
              </a:r>
            </a:p>
          </p:txBody>
        </p:sp>
        <p:sp>
          <p:nvSpPr>
            <p:cNvPr id="45" name="Rectangle 45"/>
            <p:cNvSpPr/>
            <p:nvPr/>
          </p:nvSpPr>
          <p:spPr>
            <a:xfrm>
              <a:off x="381000" y="2819400"/>
              <a:ext cx="6953250" cy="914400"/>
            </a:xfrm>
            <a:prstGeom prst="rect">
              <a:avLst/>
            </a:prstGeom>
            <a:solidFill>
              <a:srgbClr val="FFFFFF"/>
            </a:solidFill>
            <a:ln w="9525">
              <a:solidFill>
                <a:srgbClr val="EDD5D2"/>
              </a:solidFill>
            </a:ln>
          </p:spPr>
        </p:sp>
        <p:sp>
          <p:nvSpPr>
            <p:cNvPr id="46" name="Ellipse 46"/>
            <p:cNvSpPr/>
            <p:nvPr/>
          </p:nvSpPr>
          <p:spPr>
            <a:xfrm>
              <a:off x="447675" y="2981325"/>
              <a:ext cx="171450" cy="171450"/>
            </a:xfrm>
            <a:prstGeom prst="ellipse">
              <a:avLst/>
            </a:prstGeom>
            <a:solidFill>
              <a:srgbClr val="A52D12"/>
            </a:solidFill>
            <a:ln>
              <a:noFill/>
            </a:ln>
          </p:spPr>
        </p:sp>
        <p:sp>
          <p:nvSpPr>
            <p:cNvPr id="47" name="TextBox 47"/>
            <p:cNvSpPr txBox="1"/>
            <p:nvPr/>
          </p:nvSpPr>
          <p:spPr>
            <a:xfrm>
              <a:off x="470330" y="30241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48" name="TextBox 48"/>
            <p:cNvSpPr txBox="1"/>
            <p:nvPr/>
          </p:nvSpPr>
          <p:spPr>
            <a:xfrm>
              <a:off x="681038" y="3020139"/>
              <a:ext cx="753974"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客户交叉销售率</a:t>
              </a:r>
            </a:p>
          </p:txBody>
        </p:sp>
        <p:sp>
          <p:nvSpPr>
            <p:cNvPr id="49" name="TextBox 49"/>
            <p:cNvSpPr txBox="1"/>
            <p:nvPr/>
          </p:nvSpPr>
          <p:spPr>
            <a:xfrm>
              <a:off x="681038" y="3172539"/>
              <a:ext cx="697076"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2.86项/户，​</a:t>
              </a:r>
            </a:p>
          </p:txBody>
        </p:sp>
        <p:sp>
          <p:nvSpPr>
            <p:cNvPr id="50" name="TextBox 50"/>
            <p:cNvSpPr txBox="1"/>
            <p:nvPr/>
          </p:nvSpPr>
          <p:spPr>
            <a:xfrm>
              <a:off x="681038" y="3324939"/>
              <a:ext cx="860323"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综合经营深度不足</a:t>
              </a:r>
            </a:p>
          </p:txBody>
        </p:sp>
        <p:sp>
          <p:nvSpPr>
            <p:cNvPr id="51" name="TextBox 51"/>
            <p:cNvSpPr txBox="1"/>
            <p:nvPr/>
          </p:nvSpPr>
          <p:spPr>
            <a:xfrm>
              <a:off x="2319338" y="30282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产品体系协同不足</a:t>
              </a:r>
            </a:p>
          </p:txBody>
        </p:sp>
        <p:sp>
          <p:nvSpPr>
            <p:cNvPr id="52" name="TextBox 52"/>
            <p:cNvSpPr txBox="1"/>
            <p:nvPr/>
          </p:nvSpPr>
          <p:spPr>
            <a:xfrm>
              <a:off x="2319338" y="3180636"/>
              <a:ext cx="104197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客户画像与分层不精细</a:t>
              </a:r>
            </a:p>
          </p:txBody>
        </p:sp>
        <p:sp>
          <p:nvSpPr>
            <p:cNvPr id="53" name="TextBox 53"/>
            <p:cNvSpPr txBox="1"/>
            <p:nvPr/>
          </p:nvSpPr>
          <p:spPr>
            <a:xfrm>
              <a:off x="2319338" y="3333036"/>
              <a:ext cx="94639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营销联动与激励不足</a:t>
              </a:r>
            </a:p>
          </p:txBody>
        </p:sp>
        <p:sp>
          <p:nvSpPr>
            <p:cNvPr id="54" name="TextBox 54"/>
            <p:cNvSpPr txBox="1"/>
            <p:nvPr/>
          </p:nvSpPr>
          <p:spPr>
            <a:xfrm>
              <a:off x="4033838" y="30282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客户价值挖掘不足</a:t>
              </a:r>
            </a:p>
          </p:txBody>
        </p:sp>
        <p:sp>
          <p:nvSpPr>
            <p:cNvPr id="55" name="TextBox 55"/>
            <p:cNvSpPr txBox="1"/>
            <p:nvPr/>
          </p:nvSpPr>
          <p:spPr>
            <a:xfrm>
              <a:off x="4033838" y="31806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中收增长动能偏弱</a:t>
              </a:r>
            </a:p>
          </p:txBody>
        </p:sp>
        <p:sp>
          <p:nvSpPr>
            <p:cNvPr id="56" name="TextBox 56"/>
            <p:cNvSpPr txBox="1"/>
            <p:nvPr/>
          </p:nvSpPr>
          <p:spPr>
            <a:xfrm>
              <a:off x="4033838" y="33330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客户迁徙与流失风险上升</a:t>
              </a:r>
            </a:p>
          </p:txBody>
        </p:sp>
        <p:sp>
          <p:nvSpPr>
            <p:cNvPr id="57" name="TextBox 57"/>
            <p:cNvSpPr txBox="1"/>
            <p:nvPr/>
          </p:nvSpPr>
          <p:spPr>
            <a:xfrm>
              <a:off x="5691188" y="30282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完善产品生态与组合服务</a:t>
              </a:r>
            </a:p>
          </p:txBody>
        </p:sp>
        <p:sp>
          <p:nvSpPr>
            <p:cNvPr id="58" name="TextBox 58"/>
            <p:cNvSpPr txBox="1"/>
            <p:nvPr/>
          </p:nvSpPr>
          <p:spPr>
            <a:xfrm>
              <a:off x="5691188" y="3180636"/>
              <a:ext cx="94639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精细化客户分层经营</a:t>
              </a:r>
            </a:p>
          </p:txBody>
        </p:sp>
        <p:sp>
          <p:nvSpPr>
            <p:cNvPr id="59" name="TextBox 59"/>
            <p:cNvSpPr txBox="1"/>
            <p:nvPr/>
          </p:nvSpPr>
          <p:spPr>
            <a:xfrm>
              <a:off x="5691188" y="33330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强化协同营销与激励机制</a:t>
              </a:r>
            </a:p>
          </p:txBody>
        </p:sp>
        <p:sp>
          <p:nvSpPr>
            <p:cNvPr id="60" name="Rectangle 60"/>
            <p:cNvSpPr/>
            <p:nvPr/>
          </p:nvSpPr>
          <p:spPr>
            <a:xfrm>
              <a:off x="381000" y="3733800"/>
              <a:ext cx="6953250" cy="914400"/>
            </a:xfrm>
            <a:prstGeom prst="rect">
              <a:avLst/>
            </a:prstGeom>
            <a:solidFill>
              <a:srgbClr val="FBEFEE"/>
            </a:solidFill>
            <a:ln w="9525">
              <a:solidFill>
                <a:srgbClr val="EDD5D2"/>
              </a:solidFill>
            </a:ln>
          </p:spPr>
        </p:sp>
        <p:sp>
          <p:nvSpPr>
            <p:cNvPr id="61" name="Ellipse 61"/>
            <p:cNvSpPr/>
            <p:nvPr/>
          </p:nvSpPr>
          <p:spPr>
            <a:xfrm>
              <a:off x="447675" y="3895725"/>
              <a:ext cx="171450" cy="171450"/>
            </a:xfrm>
            <a:prstGeom prst="ellipse">
              <a:avLst/>
            </a:prstGeom>
            <a:solidFill>
              <a:srgbClr val="A52D12"/>
            </a:solidFill>
            <a:ln>
              <a:noFill/>
            </a:ln>
          </p:spPr>
        </p:sp>
        <p:sp>
          <p:nvSpPr>
            <p:cNvPr id="62" name="TextBox 62"/>
            <p:cNvSpPr txBox="1"/>
            <p:nvPr/>
          </p:nvSpPr>
          <p:spPr>
            <a:xfrm>
              <a:off x="470330" y="39385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63" name="TextBox 63"/>
            <p:cNvSpPr txBox="1"/>
            <p:nvPr/>
          </p:nvSpPr>
          <p:spPr>
            <a:xfrm>
              <a:off x="681038" y="3934539"/>
              <a:ext cx="647624"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区域机构计划</a:t>
              </a:r>
            </a:p>
          </p:txBody>
        </p:sp>
        <p:sp>
          <p:nvSpPr>
            <p:cNvPr id="64" name="TextBox 64"/>
            <p:cNvSpPr txBox="1"/>
            <p:nvPr/>
          </p:nvSpPr>
          <p:spPr>
            <a:xfrm>
              <a:off x="681038" y="4086939"/>
              <a:ext cx="860323"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完成率分化最大达</a:t>
              </a:r>
            </a:p>
          </p:txBody>
        </p:sp>
        <p:sp>
          <p:nvSpPr>
            <p:cNvPr id="65" name="TextBox 65"/>
            <p:cNvSpPr txBox="1"/>
            <p:nvPr/>
          </p:nvSpPr>
          <p:spPr>
            <a:xfrm>
              <a:off x="681038" y="4239339"/>
              <a:ext cx="619175"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23个百分点​</a:t>
              </a:r>
            </a:p>
          </p:txBody>
        </p:sp>
        <p:sp>
          <p:nvSpPr>
            <p:cNvPr id="66" name="TextBox 66"/>
            <p:cNvSpPr txBox="1"/>
            <p:nvPr/>
          </p:nvSpPr>
          <p:spPr>
            <a:xfrm>
              <a:off x="2319338" y="3942636"/>
              <a:ext cx="132871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区域经济差异与客群禀赋不同</a:t>
              </a:r>
            </a:p>
          </p:txBody>
        </p:sp>
        <p:sp>
          <p:nvSpPr>
            <p:cNvPr id="67" name="TextBox 67"/>
            <p:cNvSpPr txBox="1"/>
            <p:nvPr/>
          </p:nvSpPr>
          <p:spPr>
            <a:xfrm>
              <a:off x="2319338" y="4095036"/>
              <a:ext cx="104197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资源配置与策略不协同</a:t>
              </a:r>
            </a:p>
          </p:txBody>
        </p:sp>
        <p:sp>
          <p:nvSpPr>
            <p:cNvPr id="68" name="TextBox 68"/>
            <p:cNvSpPr txBox="1"/>
            <p:nvPr/>
          </p:nvSpPr>
          <p:spPr>
            <a:xfrm>
              <a:off x="2319338" y="42474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管理能力与执行力差异大</a:t>
              </a:r>
            </a:p>
          </p:txBody>
        </p:sp>
        <p:sp>
          <p:nvSpPr>
            <p:cNvPr id="69" name="TextBox 69"/>
            <p:cNvSpPr txBox="1"/>
            <p:nvPr/>
          </p:nvSpPr>
          <p:spPr>
            <a:xfrm>
              <a:off x="4033838" y="39426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经营结果差距拉大</a:t>
              </a:r>
            </a:p>
          </p:txBody>
        </p:sp>
        <p:sp>
          <p:nvSpPr>
            <p:cNvPr id="70" name="TextBox 70"/>
            <p:cNvSpPr txBox="1"/>
            <p:nvPr/>
          </p:nvSpPr>
          <p:spPr>
            <a:xfrm>
              <a:off x="4033838" y="40950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资源使用效率降低</a:t>
              </a:r>
            </a:p>
          </p:txBody>
        </p:sp>
        <p:sp>
          <p:nvSpPr>
            <p:cNvPr id="71" name="TextBox 71"/>
            <p:cNvSpPr txBox="1"/>
            <p:nvPr/>
          </p:nvSpPr>
          <p:spPr>
            <a:xfrm>
              <a:off x="4033838" y="4247436"/>
              <a:ext cx="75523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战略落地不均衡</a:t>
              </a:r>
            </a:p>
          </p:txBody>
        </p:sp>
        <p:sp>
          <p:nvSpPr>
            <p:cNvPr id="72" name="TextBox 72"/>
            <p:cNvSpPr txBox="1"/>
            <p:nvPr/>
          </p:nvSpPr>
          <p:spPr>
            <a:xfrm>
              <a:off x="5691188" y="39426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优化资源分配与考核机制</a:t>
              </a:r>
            </a:p>
          </p:txBody>
        </p:sp>
        <p:sp>
          <p:nvSpPr>
            <p:cNvPr id="73" name="TextBox 73"/>
            <p:cNvSpPr txBox="1"/>
            <p:nvPr/>
          </p:nvSpPr>
          <p:spPr>
            <a:xfrm>
              <a:off x="5691188" y="40950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强化对弱机构帮扶与赋能</a:t>
              </a:r>
            </a:p>
          </p:txBody>
        </p:sp>
        <p:sp>
          <p:nvSpPr>
            <p:cNvPr id="74" name="TextBox 74"/>
            <p:cNvSpPr txBox="1"/>
            <p:nvPr/>
          </p:nvSpPr>
          <p:spPr>
            <a:xfrm>
              <a:off x="5691188" y="4247436"/>
              <a:ext cx="132871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建立标杆引领与复制推广机制</a:t>
              </a:r>
            </a:p>
          </p:txBody>
        </p:sp>
        <p:sp>
          <p:nvSpPr>
            <p:cNvPr id="75" name="Rectangle 75"/>
            <p:cNvSpPr/>
            <p:nvPr/>
          </p:nvSpPr>
          <p:spPr>
            <a:xfrm>
              <a:off x="381000" y="4648200"/>
              <a:ext cx="6953250" cy="914400"/>
            </a:xfrm>
            <a:prstGeom prst="rect">
              <a:avLst/>
            </a:prstGeom>
            <a:solidFill>
              <a:srgbClr val="FFFFFF"/>
            </a:solidFill>
            <a:ln w="9525">
              <a:solidFill>
                <a:srgbClr val="EDD5D2"/>
              </a:solidFill>
            </a:ln>
          </p:spPr>
        </p:sp>
        <p:sp>
          <p:nvSpPr>
            <p:cNvPr id="76" name="Ellipse 76"/>
            <p:cNvSpPr/>
            <p:nvPr/>
          </p:nvSpPr>
          <p:spPr>
            <a:xfrm>
              <a:off x="447675" y="4810125"/>
              <a:ext cx="171450" cy="171450"/>
            </a:xfrm>
            <a:prstGeom prst="ellipse">
              <a:avLst/>
            </a:prstGeom>
            <a:solidFill>
              <a:srgbClr val="A52D12"/>
            </a:solidFill>
            <a:ln>
              <a:noFill/>
            </a:ln>
          </p:spPr>
        </p:sp>
        <p:sp>
          <p:nvSpPr>
            <p:cNvPr id="77" name="TextBox 77"/>
            <p:cNvSpPr txBox="1"/>
            <p:nvPr/>
          </p:nvSpPr>
          <p:spPr>
            <a:xfrm>
              <a:off x="470330" y="485298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sp>
          <p:nvSpPr>
            <p:cNvPr id="78" name="TextBox 78"/>
            <p:cNvSpPr txBox="1"/>
            <p:nvPr/>
          </p:nvSpPr>
          <p:spPr>
            <a:xfrm>
              <a:off x="681038" y="4848939"/>
              <a:ext cx="1144809"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关注类贷款率1.62%，​</a:t>
              </a:r>
            </a:p>
          </p:txBody>
        </p:sp>
        <p:sp>
          <p:nvSpPr>
            <p:cNvPr id="79" name="TextBox 79"/>
            <p:cNvSpPr txBox="1"/>
            <p:nvPr/>
          </p:nvSpPr>
          <p:spPr>
            <a:xfrm>
              <a:off x="681038" y="5001339"/>
              <a:ext cx="860323"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部分重点行业风险</a:t>
              </a:r>
            </a:p>
          </p:txBody>
        </p:sp>
        <p:sp>
          <p:nvSpPr>
            <p:cNvPr id="80" name="TextBox 80"/>
            <p:cNvSpPr txBox="1"/>
            <p:nvPr/>
          </p:nvSpPr>
          <p:spPr>
            <a:xfrm>
              <a:off x="681038" y="5153739"/>
              <a:ext cx="434924" cy="154781"/>
            </a:xfrm>
            <a:prstGeom prst="rect">
              <a:avLst/>
            </a:prstGeom>
            <a:noFill/>
            <a:ln>
              <a:noFill/>
            </a:ln>
          </p:spPr>
          <p:txBody>
            <a:bodyPr wrap="none" lIns="0" tIns="0" rIns="0" bIns="0" anchor="t" anchorCtr="0">
              <a:spAutoFit/>
            </a:bodyPr>
            <a:lstStyle/>
            <a:p>
              <a:pPr algn="l"/>
              <a:r>
                <a:rPr lang="zh-CN" sz="790" b="1" dirty="0">
                  <a:solidFill>
                    <a:srgbClr val="A52D12"/>
                  </a:solidFill>
                  <a:latin typeface="+mn-lt"/>
                  <a:ea typeface="+mn-ea"/>
                  <a:cs typeface="+mn-cs"/>
                </a:rPr>
                <a:t>仍在累积</a:t>
              </a:r>
            </a:p>
          </p:txBody>
        </p:sp>
        <p:sp>
          <p:nvSpPr>
            <p:cNvPr id="81" name="TextBox 81"/>
            <p:cNvSpPr txBox="1"/>
            <p:nvPr/>
          </p:nvSpPr>
          <p:spPr>
            <a:xfrm>
              <a:off x="2319338" y="4857036"/>
              <a:ext cx="94639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部分行业景气度下行</a:t>
              </a:r>
            </a:p>
          </p:txBody>
        </p:sp>
        <p:sp>
          <p:nvSpPr>
            <p:cNvPr id="82" name="TextBox 82"/>
            <p:cNvSpPr txBox="1"/>
            <p:nvPr/>
          </p:nvSpPr>
          <p:spPr>
            <a:xfrm>
              <a:off x="2319338" y="5009436"/>
              <a:ext cx="94639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客户经营现金流承压</a:t>
              </a:r>
            </a:p>
          </p:txBody>
        </p:sp>
        <p:sp>
          <p:nvSpPr>
            <p:cNvPr id="83" name="TextBox 83"/>
            <p:cNvSpPr txBox="1"/>
            <p:nvPr/>
          </p:nvSpPr>
          <p:spPr>
            <a:xfrm>
              <a:off x="2319338" y="51618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风险识别与预警不够前置</a:t>
              </a:r>
            </a:p>
          </p:txBody>
        </p:sp>
        <p:sp>
          <p:nvSpPr>
            <p:cNvPr id="84" name="TextBox 84"/>
            <p:cNvSpPr txBox="1"/>
            <p:nvPr/>
          </p:nvSpPr>
          <p:spPr>
            <a:xfrm>
              <a:off x="4033838" y="4857036"/>
              <a:ext cx="65965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资产质量承压</a:t>
              </a:r>
            </a:p>
          </p:txBody>
        </p:sp>
        <p:sp>
          <p:nvSpPr>
            <p:cNvPr id="85" name="TextBox 85"/>
            <p:cNvSpPr txBox="1"/>
            <p:nvPr/>
          </p:nvSpPr>
          <p:spPr>
            <a:xfrm>
              <a:off x="4033838" y="50094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拨备计提压力上升</a:t>
              </a:r>
            </a:p>
          </p:txBody>
        </p:sp>
        <p:sp>
          <p:nvSpPr>
            <p:cNvPr id="86" name="TextBox 86"/>
            <p:cNvSpPr txBox="1"/>
            <p:nvPr/>
          </p:nvSpPr>
          <p:spPr>
            <a:xfrm>
              <a:off x="4033838" y="5161836"/>
              <a:ext cx="850811"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风险抵补能力消耗</a:t>
              </a:r>
            </a:p>
          </p:txBody>
        </p:sp>
        <p:sp>
          <p:nvSpPr>
            <p:cNvPr id="87" name="TextBox 87"/>
            <p:cNvSpPr txBox="1"/>
            <p:nvPr/>
          </p:nvSpPr>
          <p:spPr>
            <a:xfrm>
              <a:off x="5691188" y="4857036"/>
              <a:ext cx="104197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加强重点行业风险研判</a:t>
              </a:r>
            </a:p>
          </p:txBody>
        </p:sp>
        <p:sp>
          <p:nvSpPr>
            <p:cNvPr id="88" name="TextBox 88"/>
            <p:cNvSpPr txBox="1"/>
            <p:nvPr/>
          </p:nvSpPr>
          <p:spPr>
            <a:xfrm>
              <a:off x="5691188" y="5009436"/>
              <a:ext cx="132871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提升信贷管理与风险处置效率</a:t>
              </a:r>
            </a:p>
          </p:txBody>
        </p:sp>
        <p:sp>
          <p:nvSpPr>
            <p:cNvPr id="89" name="TextBox 89"/>
            <p:cNvSpPr txBox="1"/>
            <p:nvPr/>
          </p:nvSpPr>
          <p:spPr>
            <a:xfrm>
              <a:off x="5691188" y="5161836"/>
              <a:ext cx="1137552" cy="140494"/>
            </a:xfrm>
            <a:prstGeom prst="rect">
              <a:avLst/>
            </a:prstGeom>
            <a:noFill/>
            <a:ln>
              <a:noFill/>
            </a:ln>
          </p:spPr>
          <p:txBody>
            <a:bodyPr wrap="none" lIns="0" tIns="0" rIns="0" bIns="0" anchor="t" anchorCtr="0">
              <a:spAutoFit/>
            </a:bodyPr>
            <a:lstStyle/>
            <a:p>
              <a:pPr algn="l" marL="76644" indent="-76644">
                <a:buClr>
                  <a:srgbClr val="3A3A3A"/>
                </a:buClr>
                <a:buSzTx/>
                <a:buFontTx/>
                <a:buChar char="•"/>
              </a:pPr>
              <a:r>
                <a:rPr lang="zh-CN" sz="710" dirty="0">
                  <a:solidFill>
                    <a:srgbClr val="3A3A3A"/>
                  </a:solidFill>
                  <a:latin typeface="+mn-lt"/>
                  <a:ea typeface="+mn-ea"/>
                  <a:cs typeface="+mn-cs"/>
                </a:rPr>
                <a:t>完善风险预警与监测体系</a:t>
              </a:r>
            </a:p>
          </p:txBody>
        </p:sp>
        <p:sp>
          <p:nvSpPr>
            <p:cNvPr id="90" name="Line 90"/>
            <p:cNvSpPr/>
            <p:nvPr/>
          </p:nvSpPr>
          <p:spPr>
            <a:xfrm>
              <a:off x="2209800" y="990600"/>
              <a:ext cx="9525" cy="4572000"/>
            </a:xfrm>
            <a:custGeom>
              <a:avLst/>
              <a:gdLst/>
              <a:ahLst/>
              <a:cxnLst/>
              <a:rect l="l" t="t" r="r" b="b"/>
              <a:pathLst>
                <a:path w="9525" h="4572000">
                  <a:moveTo>
                    <a:pt x="0" y="0"/>
                  </a:moveTo>
                  <a:lnTo>
                    <a:pt x="0" y="4572000"/>
                  </a:lnTo>
                </a:path>
              </a:pathLst>
            </a:custGeom>
            <a:noFill/>
            <a:ln w="9525">
              <a:solidFill>
                <a:srgbClr val="EDD5D2"/>
              </a:solidFill>
            </a:ln>
          </p:spPr>
        </p:sp>
        <p:sp>
          <p:nvSpPr>
            <p:cNvPr id="91" name="Line 91"/>
            <p:cNvSpPr/>
            <p:nvPr/>
          </p:nvSpPr>
          <p:spPr>
            <a:xfrm>
              <a:off x="3924300" y="990600"/>
              <a:ext cx="9525" cy="4572000"/>
            </a:xfrm>
            <a:custGeom>
              <a:avLst/>
              <a:gdLst/>
              <a:ahLst/>
              <a:cxnLst/>
              <a:rect l="l" t="t" r="r" b="b"/>
              <a:pathLst>
                <a:path w="9525" h="4572000">
                  <a:moveTo>
                    <a:pt x="0" y="0"/>
                  </a:moveTo>
                  <a:lnTo>
                    <a:pt x="0" y="4572000"/>
                  </a:lnTo>
                </a:path>
              </a:pathLst>
            </a:custGeom>
            <a:noFill/>
            <a:ln w="9525">
              <a:solidFill>
                <a:srgbClr val="EDD5D2"/>
              </a:solidFill>
            </a:ln>
          </p:spPr>
        </p:sp>
        <p:sp>
          <p:nvSpPr>
            <p:cNvPr id="92" name="Line 92"/>
            <p:cNvSpPr/>
            <p:nvPr/>
          </p:nvSpPr>
          <p:spPr>
            <a:xfrm>
              <a:off x="5581650" y="990600"/>
              <a:ext cx="9525" cy="4572000"/>
            </a:xfrm>
            <a:custGeom>
              <a:avLst/>
              <a:gdLst/>
              <a:ahLst/>
              <a:cxnLst/>
              <a:rect l="l" t="t" r="r" b="b"/>
              <a:pathLst>
                <a:path w="9525" h="4572000">
                  <a:moveTo>
                    <a:pt x="0" y="0"/>
                  </a:moveTo>
                  <a:lnTo>
                    <a:pt x="0" y="4572000"/>
                  </a:lnTo>
                </a:path>
              </a:pathLst>
            </a:custGeom>
            <a:noFill/>
            <a:ln w="9525">
              <a:solidFill>
                <a:srgbClr val="EDD5D2"/>
              </a:solidFill>
            </a:ln>
          </p:spPr>
        </p:sp>
      </p:grpSp>
      <p:grpSp>
        <p:nvGrpSpPr>
          <p:cNvPr id="141" name="priority-matrix"/>
          <p:cNvGrpSpPr/>
          <p:nvPr/>
        </p:nvGrpSpPr>
        <p:grpSpPr>
          <a:xfrm>
            <a:off x="7443514" y="792956"/>
            <a:ext cx="3986486" cy="4255056"/>
            <a:chOff x="7443514" y="792956"/>
            <a:chExt cx="3986486" cy="4255056"/>
          </a:xfrm>
        </p:grpSpPr>
        <p:sp>
          <p:nvSpPr>
            <p:cNvPr id="94" name="TextBox 94"/>
            <p:cNvSpPr txBox="1"/>
            <p:nvPr/>
          </p:nvSpPr>
          <p:spPr>
            <a:xfrm>
              <a:off x="9182075" y="792956"/>
              <a:ext cx="1066851" cy="220028"/>
            </a:xfrm>
            <a:prstGeom prst="rect">
              <a:avLst/>
            </a:prstGeom>
            <a:noFill/>
            <a:ln>
              <a:noFill/>
            </a:ln>
          </p:spPr>
          <p:txBody>
            <a:bodyPr wrap="none" lIns="0" tIns="0" rIns="0" bIns="0" anchor="t" anchorCtr="0">
              <a:spAutoFit/>
            </a:bodyPr>
            <a:lstStyle/>
            <a:p>
              <a:pPr algn="ctr"/>
              <a:r>
                <a:rPr lang="zh-CN" sz="1120" b="1" dirty="0">
                  <a:solidFill>
                    <a:srgbClr val="A52D12"/>
                  </a:solidFill>
                  <a:latin typeface="+mn-lt"/>
                  <a:ea typeface="+mn-ea"/>
                  <a:cs typeface="+mn-cs"/>
                </a:rPr>
                <a:t>问题优先级矩阵</a:t>
              </a:r>
            </a:p>
          </p:txBody>
        </p:sp>
        <p:sp>
          <p:nvSpPr>
            <p:cNvPr id="95" name="Rectangle 95"/>
            <p:cNvSpPr/>
            <p:nvPr/>
          </p:nvSpPr>
          <p:spPr>
            <a:xfrm>
              <a:off x="8001000" y="1123950"/>
              <a:ext cx="1143000" cy="1143000"/>
            </a:xfrm>
            <a:prstGeom prst="rect">
              <a:avLst/>
            </a:prstGeom>
            <a:solidFill>
              <a:srgbClr val="FFFFFF"/>
            </a:solidFill>
            <a:ln w="9525">
              <a:solidFill>
                <a:srgbClr val="EDD5D2"/>
              </a:solidFill>
            </a:ln>
          </p:spPr>
        </p:sp>
        <p:sp>
          <p:nvSpPr>
            <p:cNvPr id="96" name="Rectangle 96"/>
            <p:cNvSpPr/>
            <p:nvPr/>
          </p:nvSpPr>
          <p:spPr>
            <a:xfrm>
              <a:off x="9144000" y="1123950"/>
              <a:ext cx="1143000" cy="1143000"/>
            </a:xfrm>
            <a:prstGeom prst="rect">
              <a:avLst/>
            </a:prstGeom>
            <a:solidFill>
              <a:srgbClr val="FBEFEE"/>
            </a:solidFill>
            <a:ln w="9525">
              <a:solidFill>
                <a:srgbClr val="EDD5D2"/>
              </a:solidFill>
            </a:ln>
          </p:spPr>
        </p:sp>
        <p:sp>
          <p:nvSpPr>
            <p:cNvPr id="97" name="Rectangle 97"/>
            <p:cNvSpPr/>
            <p:nvPr/>
          </p:nvSpPr>
          <p:spPr>
            <a:xfrm>
              <a:off x="10287000" y="1123950"/>
              <a:ext cx="1143000" cy="1143000"/>
            </a:xfrm>
            <a:prstGeom prst="rect">
              <a:avLst/>
            </a:prstGeom>
            <a:solidFill>
              <a:srgbClr val="F3D5D2"/>
            </a:solidFill>
            <a:ln w="11430">
              <a:solidFill>
                <a:srgbClr val="E4AFA6"/>
              </a:solidFill>
            </a:ln>
          </p:spPr>
        </p:sp>
        <p:sp>
          <p:nvSpPr>
            <p:cNvPr id="98" name="Rectangle 98"/>
            <p:cNvSpPr/>
            <p:nvPr/>
          </p:nvSpPr>
          <p:spPr>
            <a:xfrm>
              <a:off x="8001000" y="2266950"/>
              <a:ext cx="1143000" cy="1143000"/>
            </a:xfrm>
            <a:prstGeom prst="rect">
              <a:avLst/>
            </a:prstGeom>
            <a:solidFill>
              <a:srgbClr val="FFFFFF"/>
            </a:solidFill>
            <a:ln w="9525">
              <a:solidFill>
                <a:srgbClr val="EDD5D2"/>
              </a:solidFill>
            </a:ln>
          </p:spPr>
        </p:sp>
        <p:sp>
          <p:nvSpPr>
            <p:cNvPr id="99" name="Rectangle 99"/>
            <p:cNvSpPr/>
            <p:nvPr/>
          </p:nvSpPr>
          <p:spPr>
            <a:xfrm>
              <a:off x="9144000" y="2266950"/>
              <a:ext cx="1143000" cy="1143000"/>
            </a:xfrm>
            <a:prstGeom prst="rect">
              <a:avLst/>
            </a:prstGeom>
            <a:solidFill>
              <a:srgbClr val="FBEFEE"/>
            </a:solidFill>
            <a:ln w="9525">
              <a:solidFill>
                <a:srgbClr val="EDD5D2"/>
              </a:solidFill>
            </a:ln>
          </p:spPr>
        </p:sp>
        <p:sp>
          <p:nvSpPr>
            <p:cNvPr id="100" name="Rectangle 100"/>
            <p:cNvSpPr/>
            <p:nvPr/>
          </p:nvSpPr>
          <p:spPr>
            <a:xfrm>
              <a:off x="10287000" y="2266950"/>
              <a:ext cx="1143000" cy="1143000"/>
            </a:xfrm>
            <a:prstGeom prst="rect">
              <a:avLst/>
            </a:prstGeom>
            <a:solidFill>
              <a:srgbClr val="FBEFEE"/>
            </a:solidFill>
            <a:ln w="9525">
              <a:solidFill>
                <a:srgbClr val="EDD5D2"/>
              </a:solidFill>
            </a:ln>
          </p:spPr>
        </p:sp>
        <p:sp>
          <p:nvSpPr>
            <p:cNvPr id="101" name="Rectangle 101"/>
            <p:cNvSpPr/>
            <p:nvPr/>
          </p:nvSpPr>
          <p:spPr>
            <a:xfrm>
              <a:off x="8001000" y="3409950"/>
              <a:ext cx="1143000" cy="1143000"/>
            </a:xfrm>
            <a:prstGeom prst="rect">
              <a:avLst/>
            </a:prstGeom>
            <a:solidFill>
              <a:srgbClr val="FFFFFF"/>
            </a:solidFill>
            <a:ln w="9525">
              <a:solidFill>
                <a:srgbClr val="EDD5D2"/>
              </a:solidFill>
            </a:ln>
          </p:spPr>
        </p:sp>
        <p:sp>
          <p:nvSpPr>
            <p:cNvPr id="102" name="Rectangle 102"/>
            <p:cNvSpPr/>
            <p:nvPr/>
          </p:nvSpPr>
          <p:spPr>
            <a:xfrm>
              <a:off x="9144000" y="3409950"/>
              <a:ext cx="1143000" cy="1143000"/>
            </a:xfrm>
            <a:prstGeom prst="rect">
              <a:avLst/>
            </a:prstGeom>
            <a:solidFill>
              <a:srgbClr val="FFFFFF"/>
            </a:solidFill>
            <a:ln w="9525">
              <a:solidFill>
                <a:srgbClr val="EDD5D2"/>
              </a:solidFill>
            </a:ln>
          </p:spPr>
        </p:sp>
        <p:sp>
          <p:nvSpPr>
            <p:cNvPr id="103" name="Rectangle 103"/>
            <p:cNvSpPr/>
            <p:nvPr/>
          </p:nvSpPr>
          <p:spPr>
            <a:xfrm>
              <a:off x="10287000" y="3409950"/>
              <a:ext cx="1143000" cy="1143000"/>
            </a:xfrm>
            <a:prstGeom prst="rect">
              <a:avLst/>
            </a:prstGeom>
            <a:solidFill>
              <a:srgbClr val="FFFFFF"/>
            </a:solidFill>
            <a:ln w="9525">
              <a:solidFill>
                <a:srgbClr val="EDD5D2"/>
              </a:solidFill>
            </a:ln>
          </p:spPr>
        </p:sp>
        <p:sp>
          <p:nvSpPr>
            <p:cNvPr id="104" name="TextBox 104"/>
            <p:cNvSpPr txBox="1"/>
            <p:nvPr/>
          </p:nvSpPr>
          <p:spPr>
            <a:xfrm>
              <a:off x="8394078" y="1430893"/>
              <a:ext cx="356845" cy="169069"/>
            </a:xfrm>
            <a:prstGeom prst="rect">
              <a:avLst/>
            </a:prstGeom>
            <a:noFill/>
            <a:ln>
              <a:noFill/>
            </a:ln>
          </p:spPr>
          <p:txBody>
            <a:bodyPr wrap="none" lIns="0" tIns="0" rIns="0" bIns="0" anchor="t" anchorCtr="0">
              <a:spAutoFit/>
            </a:bodyPr>
            <a:lstStyle/>
            <a:p>
              <a:pPr algn="ctr"/>
              <a:r>
                <a:rPr lang="zh-CN" sz="860" b="1" dirty="0">
                  <a:solidFill>
                    <a:srgbClr val="555555"/>
                  </a:solidFill>
                  <a:latin typeface="+mn-lt"/>
                  <a:ea typeface="+mn-ea"/>
                  <a:cs typeface="+mn-cs"/>
                </a:rPr>
                <a:t>次优先</a:t>
              </a:r>
            </a:p>
          </p:txBody>
        </p:sp>
        <p:sp>
          <p:nvSpPr>
            <p:cNvPr id="105" name="TextBox 105"/>
            <p:cNvSpPr txBox="1"/>
            <p:nvPr/>
          </p:nvSpPr>
          <p:spPr>
            <a:xfrm>
              <a:off x="8534419" y="1674495"/>
              <a:ext cx="76162" cy="176212"/>
            </a:xfrm>
            <a:prstGeom prst="rect">
              <a:avLst/>
            </a:prstGeom>
            <a:noFill/>
            <a:ln>
              <a:noFill/>
            </a:ln>
          </p:spPr>
          <p:txBody>
            <a:bodyPr wrap="none" lIns="0" tIns="0" rIns="0" bIns="0" anchor="t" anchorCtr="0">
              <a:spAutoFit/>
            </a:bodyPr>
            <a:lstStyle/>
            <a:p>
              <a:pPr algn="ctr"/>
              <a:r>
                <a:rPr lang="zh-CN" sz="900" dirty="0">
                  <a:solidFill>
                    <a:srgbClr val="8A8A8A"/>
                  </a:solidFill>
                  <a:latin typeface="+mn-lt"/>
                  <a:ea typeface="+mn-ea"/>
                  <a:cs typeface="+mn-cs"/>
                </a:rPr>
                <a:t>—</a:t>
              </a:r>
            </a:p>
          </p:txBody>
        </p:sp>
        <p:sp>
          <p:nvSpPr>
            <p:cNvPr id="106" name="TextBox 106"/>
            <p:cNvSpPr txBox="1"/>
            <p:nvPr/>
          </p:nvSpPr>
          <p:spPr>
            <a:xfrm>
              <a:off x="9537078" y="1430893"/>
              <a:ext cx="356845" cy="169069"/>
            </a:xfrm>
            <a:prstGeom prst="rect">
              <a:avLst/>
            </a:prstGeom>
            <a:noFill/>
            <a:ln>
              <a:noFill/>
            </a:ln>
          </p:spPr>
          <p:txBody>
            <a:bodyPr wrap="none" lIns="0" tIns="0" rIns="0" bIns="0" anchor="t" anchorCtr="0">
              <a:spAutoFit/>
            </a:bodyPr>
            <a:lstStyle/>
            <a:p>
              <a:pPr algn="ctr"/>
              <a:r>
                <a:rPr lang="zh-CN" sz="860" b="1" dirty="0">
                  <a:solidFill>
                    <a:srgbClr val="A52D12"/>
                  </a:solidFill>
                  <a:latin typeface="+mn-lt"/>
                  <a:ea typeface="+mn-ea"/>
                  <a:cs typeface="+mn-cs"/>
                </a:rPr>
                <a:t>较优先</a:t>
              </a:r>
            </a:p>
          </p:txBody>
        </p:sp>
        <p:sp>
          <p:nvSpPr>
            <p:cNvPr id="107" name="Ellipse 107"/>
            <p:cNvSpPr/>
            <p:nvPr/>
          </p:nvSpPr>
          <p:spPr>
            <a:xfrm>
              <a:off x="9248775" y="1743075"/>
              <a:ext cx="133350" cy="133350"/>
            </a:xfrm>
            <a:prstGeom prst="ellipse">
              <a:avLst/>
            </a:prstGeom>
            <a:solidFill>
              <a:srgbClr val="A52D12"/>
            </a:solidFill>
            <a:ln>
              <a:noFill/>
            </a:ln>
          </p:spPr>
        </p:sp>
        <p:sp>
          <p:nvSpPr>
            <p:cNvPr id="108" name="TextBox 108"/>
            <p:cNvSpPr txBox="1"/>
            <p:nvPr/>
          </p:nvSpPr>
          <p:spPr>
            <a:xfrm>
              <a:off x="9260932" y="1769507"/>
              <a:ext cx="109036"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a:t>
              </a:r>
            </a:p>
          </p:txBody>
        </p:sp>
        <p:sp>
          <p:nvSpPr>
            <p:cNvPr id="109" name="TextBox 109"/>
            <p:cNvSpPr txBox="1"/>
            <p:nvPr/>
          </p:nvSpPr>
          <p:spPr>
            <a:xfrm>
              <a:off x="9424988" y="17709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交叉销售率低</a:t>
              </a:r>
            </a:p>
          </p:txBody>
        </p:sp>
        <p:sp>
          <p:nvSpPr>
            <p:cNvPr id="110" name="TextBox 110"/>
            <p:cNvSpPr txBox="1"/>
            <p:nvPr/>
          </p:nvSpPr>
          <p:spPr>
            <a:xfrm>
              <a:off x="10622191" y="1430893"/>
              <a:ext cx="472618" cy="169069"/>
            </a:xfrm>
            <a:prstGeom prst="rect">
              <a:avLst/>
            </a:prstGeom>
            <a:noFill/>
            <a:ln>
              <a:noFill/>
            </a:ln>
          </p:spPr>
          <p:txBody>
            <a:bodyPr wrap="none" lIns="0" tIns="0" rIns="0" bIns="0" anchor="t" anchorCtr="0">
              <a:spAutoFit/>
            </a:bodyPr>
            <a:lstStyle/>
            <a:p>
              <a:pPr algn="ctr"/>
              <a:r>
                <a:rPr lang="zh-CN" sz="860" b="1" dirty="0">
                  <a:solidFill>
                    <a:srgbClr val="A52D12"/>
                  </a:solidFill>
                  <a:latin typeface="+mn-lt"/>
                  <a:ea typeface="+mn-ea"/>
                  <a:cs typeface="+mn-cs"/>
                </a:rPr>
                <a:t>最高优先</a:t>
              </a:r>
            </a:p>
          </p:txBody>
        </p:sp>
        <p:sp>
          <p:nvSpPr>
            <p:cNvPr id="111" name="Ellipse 111"/>
            <p:cNvSpPr/>
            <p:nvPr/>
          </p:nvSpPr>
          <p:spPr>
            <a:xfrm>
              <a:off x="10391775" y="1743075"/>
              <a:ext cx="133350" cy="133350"/>
            </a:xfrm>
            <a:prstGeom prst="ellipse">
              <a:avLst/>
            </a:prstGeom>
            <a:solidFill>
              <a:srgbClr val="A52D12"/>
            </a:solidFill>
            <a:ln>
              <a:noFill/>
            </a:ln>
          </p:spPr>
        </p:sp>
        <p:sp>
          <p:nvSpPr>
            <p:cNvPr id="112" name="TextBox 112"/>
            <p:cNvSpPr txBox="1"/>
            <p:nvPr/>
          </p:nvSpPr>
          <p:spPr>
            <a:xfrm>
              <a:off x="10403932" y="1769507"/>
              <a:ext cx="109036"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a:t>
              </a:r>
            </a:p>
          </p:txBody>
        </p:sp>
        <p:sp>
          <p:nvSpPr>
            <p:cNvPr id="113" name="TextBox 113"/>
            <p:cNvSpPr txBox="1"/>
            <p:nvPr/>
          </p:nvSpPr>
          <p:spPr>
            <a:xfrm>
              <a:off x="10567988" y="1770936"/>
              <a:ext cx="48742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净息差承压</a:t>
              </a:r>
            </a:p>
          </p:txBody>
        </p:sp>
        <p:sp>
          <p:nvSpPr>
            <p:cNvPr id="114" name="Ellipse 114"/>
            <p:cNvSpPr/>
            <p:nvPr/>
          </p:nvSpPr>
          <p:spPr>
            <a:xfrm>
              <a:off x="10391775" y="1971675"/>
              <a:ext cx="133350" cy="133350"/>
            </a:xfrm>
            <a:prstGeom prst="ellipse">
              <a:avLst/>
            </a:prstGeom>
            <a:solidFill>
              <a:srgbClr val="A52D12"/>
            </a:solidFill>
            <a:ln>
              <a:noFill/>
            </a:ln>
          </p:spPr>
        </p:sp>
        <p:sp>
          <p:nvSpPr>
            <p:cNvPr id="115" name="TextBox 115"/>
            <p:cNvSpPr txBox="1"/>
            <p:nvPr/>
          </p:nvSpPr>
          <p:spPr>
            <a:xfrm>
              <a:off x="10403932" y="1998107"/>
              <a:ext cx="109036"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a:t>
              </a:r>
            </a:p>
          </p:txBody>
        </p:sp>
        <p:sp>
          <p:nvSpPr>
            <p:cNvPr id="116" name="TextBox 116"/>
            <p:cNvSpPr txBox="1"/>
            <p:nvPr/>
          </p:nvSpPr>
          <p:spPr>
            <a:xfrm>
              <a:off x="10567988" y="1999536"/>
              <a:ext cx="58300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风险仍在累积</a:t>
              </a:r>
            </a:p>
          </p:txBody>
        </p:sp>
        <p:sp>
          <p:nvSpPr>
            <p:cNvPr id="117" name="TextBox 117"/>
            <p:cNvSpPr txBox="1"/>
            <p:nvPr/>
          </p:nvSpPr>
          <p:spPr>
            <a:xfrm>
              <a:off x="8394078" y="2573893"/>
              <a:ext cx="356845" cy="169069"/>
            </a:xfrm>
            <a:prstGeom prst="rect">
              <a:avLst/>
            </a:prstGeom>
            <a:noFill/>
            <a:ln>
              <a:noFill/>
            </a:ln>
          </p:spPr>
          <p:txBody>
            <a:bodyPr wrap="none" lIns="0" tIns="0" rIns="0" bIns="0" anchor="t" anchorCtr="0">
              <a:spAutoFit/>
            </a:bodyPr>
            <a:lstStyle/>
            <a:p>
              <a:pPr algn="ctr"/>
              <a:r>
                <a:rPr lang="zh-CN" sz="860" b="1" dirty="0">
                  <a:solidFill>
                    <a:srgbClr val="555555"/>
                  </a:solidFill>
                  <a:latin typeface="+mn-lt"/>
                  <a:ea typeface="+mn-ea"/>
                  <a:cs typeface="+mn-cs"/>
                </a:rPr>
                <a:t>低优先</a:t>
              </a:r>
            </a:p>
          </p:txBody>
        </p:sp>
        <p:sp>
          <p:nvSpPr>
            <p:cNvPr id="118" name="TextBox 118"/>
            <p:cNvSpPr txBox="1"/>
            <p:nvPr/>
          </p:nvSpPr>
          <p:spPr>
            <a:xfrm>
              <a:off x="8534419" y="2817495"/>
              <a:ext cx="76162" cy="176212"/>
            </a:xfrm>
            <a:prstGeom prst="rect">
              <a:avLst/>
            </a:prstGeom>
            <a:noFill/>
            <a:ln>
              <a:noFill/>
            </a:ln>
          </p:spPr>
          <p:txBody>
            <a:bodyPr wrap="none" lIns="0" tIns="0" rIns="0" bIns="0" anchor="t" anchorCtr="0">
              <a:spAutoFit/>
            </a:bodyPr>
            <a:lstStyle/>
            <a:p>
              <a:pPr algn="ctr"/>
              <a:r>
                <a:rPr lang="zh-CN" sz="900" dirty="0">
                  <a:solidFill>
                    <a:srgbClr val="8A8A8A"/>
                  </a:solidFill>
                  <a:latin typeface="+mn-lt"/>
                  <a:ea typeface="+mn-ea"/>
                  <a:cs typeface="+mn-cs"/>
                </a:rPr>
                <a:t>—</a:t>
              </a:r>
            </a:p>
          </p:txBody>
        </p:sp>
        <p:sp>
          <p:nvSpPr>
            <p:cNvPr id="119" name="TextBox 119"/>
            <p:cNvSpPr txBox="1"/>
            <p:nvPr/>
          </p:nvSpPr>
          <p:spPr>
            <a:xfrm>
              <a:off x="9537078" y="2573893"/>
              <a:ext cx="356845" cy="169069"/>
            </a:xfrm>
            <a:prstGeom prst="rect">
              <a:avLst/>
            </a:prstGeom>
            <a:noFill/>
            <a:ln>
              <a:noFill/>
            </a:ln>
          </p:spPr>
          <p:txBody>
            <a:bodyPr wrap="none" lIns="0" tIns="0" rIns="0" bIns="0" anchor="t" anchorCtr="0">
              <a:spAutoFit/>
            </a:bodyPr>
            <a:lstStyle/>
            <a:p>
              <a:pPr algn="ctr"/>
              <a:r>
                <a:rPr lang="zh-CN" sz="860" b="1" dirty="0">
                  <a:solidFill>
                    <a:srgbClr val="A52D12"/>
                  </a:solidFill>
                  <a:latin typeface="+mn-lt"/>
                  <a:ea typeface="+mn-ea"/>
                  <a:cs typeface="+mn-cs"/>
                </a:rPr>
                <a:t>较优先</a:t>
              </a:r>
            </a:p>
          </p:txBody>
        </p:sp>
        <p:sp>
          <p:nvSpPr>
            <p:cNvPr id="120" name="Ellipse 120"/>
            <p:cNvSpPr/>
            <p:nvPr/>
          </p:nvSpPr>
          <p:spPr>
            <a:xfrm>
              <a:off x="9248775" y="2886075"/>
              <a:ext cx="133350" cy="133350"/>
            </a:xfrm>
            <a:prstGeom prst="ellipse">
              <a:avLst/>
            </a:prstGeom>
            <a:solidFill>
              <a:srgbClr val="A52D12"/>
            </a:solidFill>
            <a:ln>
              <a:noFill/>
            </a:ln>
          </p:spPr>
        </p:sp>
        <p:sp>
          <p:nvSpPr>
            <p:cNvPr id="121" name="TextBox 121"/>
            <p:cNvSpPr txBox="1"/>
            <p:nvPr/>
          </p:nvSpPr>
          <p:spPr>
            <a:xfrm>
              <a:off x="9260932" y="2912507"/>
              <a:ext cx="109036"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a:t>
              </a:r>
            </a:p>
          </p:txBody>
        </p:sp>
        <p:sp>
          <p:nvSpPr>
            <p:cNvPr id="122" name="TextBox 122"/>
            <p:cNvSpPr txBox="1"/>
            <p:nvPr/>
          </p:nvSpPr>
          <p:spPr>
            <a:xfrm>
              <a:off x="9424988" y="2913936"/>
              <a:ext cx="77416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高成本负债依赖强</a:t>
              </a:r>
            </a:p>
          </p:txBody>
        </p:sp>
        <p:sp>
          <p:nvSpPr>
            <p:cNvPr id="123" name="TextBox 123"/>
            <p:cNvSpPr txBox="1"/>
            <p:nvPr/>
          </p:nvSpPr>
          <p:spPr>
            <a:xfrm>
              <a:off x="10680078" y="2573893"/>
              <a:ext cx="356845" cy="169069"/>
            </a:xfrm>
            <a:prstGeom prst="rect">
              <a:avLst/>
            </a:prstGeom>
            <a:noFill/>
            <a:ln>
              <a:noFill/>
            </a:ln>
          </p:spPr>
          <p:txBody>
            <a:bodyPr wrap="none" lIns="0" tIns="0" rIns="0" bIns="0" anchor="t" anchorCtr="0">
              <a:spAutoFit/>
            </a:bodyPr>
            <a:lstStyle/>
            <a:p>
              <a:pPr algn="ctr"/>
              <a:r>
                <a:rPr lang="zh-CN" sz="860" b="1" dirty="0">
                  <a:solidFill>
                    <a:srgbClr val="A52D12"/>
                  </a:solidFill>
                  <a:latin typeface="+mn-lt"/>
                  <a:ea typeface="+mn-ea"/>
                  <a:cs typeface="+mn-cs"/>
                </a:rPr>
                <a:t>较优先</a:t>
              </a:r>
            </a:p>
          </p:txBody>
        </p:sp>
        <p:sp>
          <p:nvSpPr>
            <p:cNvPr id="124" name="Ellipse 124"/>
            <p:cNvSpPr/>
            <p:nvPr/>
          </p:nvSpPr>
          <p:spPr>
            <a:xfrm>
              <a:off x="10391775" y="2886075"/>
              <a:ext cx="133350" cy="133350"/>
            </a:xfrm>
            <a:prstGeom prst="ellipse">
              <a:avLst/>
            </a:prstGeom>
            <a:solidFill>
              <a:srgbClr val="A52D12"/>
            </a:solidFill>
            <a:ln>
              <a:noFill/>
            </a:ln>
          </p:spPr>
        </p:sp>
        <p:sp>
          <p:nvSpPr>
            <p:cNvPr id="125" name="TextBox 125"/>
            <p:cNvSpPr txBox="1"/>
            <p:nvPr/>
          </p:nvSpPr>
          <p:spPr>
            <a:xfrm>
              <a:off x="10403932" y="2912507"/>
              <a:ext cx="109036"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4​</a:t>
              </a:r>
            </a:p>
          </p:txBody>
        </p:sp>
        <p:sp>
          <p:nvSpPr>
            <p:cNvPr id="126" name="TextBox 126"/>
            <p:cNvSpPr txBox="1"/>
            <p:nvPr/>
          </p:nvSpPr>
          <p:spPr>
            <a:xfrm>
              <a:off x="10567988" y="2913936"/>
              <a:ext cx="77416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计划完成率分化大</a:t>
              </a:r>
            </a:p>
          </p:txBody>
        </p:sp>
        <p:sp>
          <p:nvSpPr>
            <p:cNvPr id="127" name="TextBox 127"/>
            <p:cNvSpPr txBox="1"/>
            <p:nvPr/>
          </p:nvSpPr>
          <p:spPr>
            <a:xfrm>
              <a:off x="8394078" y="3716893"/>
              <a:ext cx="356845" cy="169069"/>
            </a:xfrm>
            <a:prstGeom prst="rect">
              <a:avLst/>
            </a:prstGeom>
            <a:noFill/>
            <a:ln>
              <a:noFill/>
            </a:ln>
          </p:spPr>
          <p:txBody>
            <a:bodyPr wrap="none" lIns="0" tIns="0" rIns="0" bIns="0" anchor="t" anchorCtr="0">
              <a:spAutoFit/>
            </a:bodyPr>
            <a:lstStyle/>
            <a:p>
              <a:pPr algn="ctr"/>
              <a:r>
                <a:rPr lang="zh-CN" sz="860" b="1" dirty="0">
                  <a:solidFill>
                    <a:srgbClr val="555555"/>
                  </a:solidFill>
                  <a:latin typeface="+mn-lt"/>
                  <a:ea typeface="+mn-ea"/>
                  <a:cs typeface="+mn-cs"/>
                </a:rPr>
                <a:t>低优先</a:t>
              </a:r>
            </a:p>
          </p:txBody>
        </p:sp>
        <p:sp>
          <p:nvSpPr>
            <p:cNvPr id="128" name="TextBox 128"/>
            <p:cNvSpPr txBox="1"/>
            <p:nvPr/>
          </p:nvSpPr>
          <p:spPr>
            <a:xfrm>
              <a:off x="8534419" y="3960495"/>
              <a:ext cx="76162" cy="176212"/>
            </a:xfrm>
            <a:prstGeom prst="rect">
              <a:avLst/>
            </a:prstGeom>
            <a:noFill/>
            <a:ln>
              <a:noFill/>
            </a:ln>
          </p:spPr>
          <p:txBody>
            <a:bodyPr wrap="none" lIns="0" tIns="0" rIns="0" bIns="0" anchor="t" anchorCtr="0">
              <a:spAutoFit/>
            </a:bodyPr>
            <a:lstStyle/>
            <a:p>
              <a:pPr algn="ctr"/>
              <a:r>
                <a:rPr lang="zh-CN" sz="900" dirty="0">
                  <a:solidFill>
                    <a:srgbClr val="8A8A8A"/>
                  </a:solidFill>
                  <a:latin typeface="+mn-lt"/>
                  <a:ea typeface="+mn-ea"/>
                  <a:cs typeface="+mn-cs"/>
                </a:rPr>
                <a:t>—</a:t>
              </a:r>
            </a:p>
          </p:txBody>
        </p:sp>
        <p:sp>
          <p:nvSpPr>
            <p:cNvPr id="129" name="TextBox 129"/>
            <p:cNvSpPr txBox="1"/>
            <p:nvPr/>
          </p:nvSpPr>
          <p:spPr>
            <a:xfrm>
              <a:off x="9537078" y="3716893"/>
              <a:ext cx="356845" cy="169069"/>
            </a:xfrm>
            <a:prstGeom prst="rect">
              <a:avLst/>
            </a:prstGeom>
            <a:noFill/>
            <a:ln>
              <a:noFill/>
            </a:ln>
          </p:spPr>
          <p:txBody>
            <a:bodyPr wrap="none" lIns="0" tIns="0" rIns="0" bIns="0" anchor="t" anchorCtr="0">
              <a:spAutoFit/>
            </a:bodyPr>
            <a:lstStyle/>
            <a:p>
              <a:pPr algn="ctr"/>
              <a:r>
                <a:rPr lang="zh-CN" sz="860" b="1" dirty="0">
                  <a:solidFill>
                    <a:srgbClr val="555555"/>
                  </a:solidFill>
                  <a:latin typeface="+mn-lt"/>
                  <a:ea typeface="+mn-ea"/>
                  <a:cs typeface="+mn-cs"/>
                </a:rPr>
                <a:t>次优先</a:t>
              </a:r>
            </a:p>
          </p:txBody>
        </p:sp>
        <p:sp>
          <p:nvSpPr>
            <p:cNvPr id="130" name="TextBox 130"/>
            <p:cNvSpPr txBox="1"/>
            <p:nvPr/>
          </p:nvSpPr>
          <p:spPr>
            <a:xfrm>
              <a:off x="9677419" y="3960495"/>
              <a:ext cx="76162" cy="176212"/>
            </a:xfrm>
            <a:prstGeom prst="rect">
              <a:avLst/>
            </a:prstGeom>
            <a:noFill/>
            <a:ln>
              <a:noFill/>
            </a:ln>
          </p:spPr>
          <p:txBody>
            <a:bodyPr wrap="none" lIns="0" tIns="0" rIns="0" bIns="0" anchor="t" anchorCtr="0">
              <a:spAutoFit/>
            </a:bodyPr>
            <a:lstStyle/>
            <a:p>
              <a:pPr algn="ctr"/>
              <a:r>
                <a:rPr lang="zh-CN" sz="900" dirty="0">
                  <a:solidFill>
                    <a:srgbClr val="8A8A8A"/>
                  </a:solidFill>
                  <a:latin typeface="+mn-lt"/>
                  <a:ea typeface="+mn-ea"/>
                  <a:cs typeface="+mn-cs"/>
                </a:rPr>
                <a:t>—</a:t>
              </a:r>
            </a:p>
          </p:txBody>
        </p:sp>
        <p:sp>
          <p:nvSpPr>
            <p:cNvPr id="131" name="TextBox 131"/>
            <p:cNvSpPr txBox="1"/>
            <p:nvPr/>
          </p:nvSpPr>
          <p:spPr>
            <a:xfrm>
              <a:off x="10680078" y="3716893"/>
              <a:ext cx="356845" cy="169069"/>
            </a:xfrm>
            <a:prstGeom prst="rect">
              <a:avLst/>
            </a:prstGeom>
            <a:noFill/>
            <a:ln>
              <a:noFill/>
            </a:ln>
          </p:spPr>
          <p:txBody>
            <a:bodyPr wrap="none" lIns="0" tIns="0" rIns="0" bIns="0" anchor="t" anchorCtr="0">
              <a:spAutoFit/>
            </a:bodyPr>
            <a:lstStyle/>
            <a:p>
              <a:pPr algn="ctr"/>
              <a:r>
                <a:rPr lang="zh-CN" sz="860" b="1" dirty="0">
                  <a:solidFill>
                    <a:srgbClr val="555555"/>
                  </a:solidFill>
                  <a:latin typeface="+mn-lt"/>
                  <a:ea typeface="+mn-ea"/>
                  <a:cs typeface="+mn-cs"/>
                </a:rPr>
                <a:t>较优先</a:t>
              </a:r>
            </a:p>
          </p:txBody>
        </p:sp>
        <p:sp>
          <p:nvSpPr>
            <p:cNvPr id="132" name="TextBox 132"/>
            <p:cNvSpPr txBox="1"/>
            <p:nvPr/>
          </p:nvSpPr>
          <p:spPr>
            <a:xfrm>
              <a:off x="10820419" y="3960495"/>
              <a:ext cx="76162" cy="176212"/>
            </a:xfrm>
            <a:prstGeom prst="rect">
              <a:avLst/>
            </a:prstGeom>
            <a:noFill/>
            <a:ln>
              <a:noFill/>
            </a:ln>
          </p:spPr>
          <p:txBody>
            <a:bodyPr wrap="none" lIns="0" tIns="0" rIns="0" bIns="0" anchor="t" anchorCtr="0">
              <a:spAutoFit/>
            </a:bodyPr>
            <a:lstStyle/>
            <a:p>
              <a:pPr algn="ctr"/>
              <a:r>
                <a:rPr lang="zh-CN" sz="900" dirty="0">
                  <a:solidFill>
                    <a:srgbClr val="8A8A8A"/>
                  </a:solidFill>
                  <a:latin typeface="+mn-lt"/>
                  <a:ea typeface="+mn-ea"/>
                  <a:cs typeface="+mn-cs"/>
                </a:rPr>
                <a:t>—</a:t>
              </a:r>
            </a:p>
          </p:txBody>
        </p:sp>
        <p:sp>
          <p:nvSpPr>
            <p:cNvPr id="133" name="TextBox 133"/>
            <p:cNvSpPr txBox="1"/>
            <p:nvPr/>
          </p:nvSpPr>
          <p:spPr>
            <a:xfrm>
              <a:off x="7752499" y="1644491"/>
              <a:ext cx="119913" cy="161925"/>
            </a:xfrm>
            <a:prstGeom prst="rect">
              <a:avLst/>
            </a:prstGeom>
            <a:noFill/>
            <a:ln>
              <a:noFill/>
            </a:ln>
          </p:spPr>
          <p:txBody>
            <a:bodyPr wrap="none" lIns="0" tIns="0" rIns="0" bIns="0" anchor="t" anchorCtr="0">
              <a:spAutoFit/>
            </a:bodyPr>
            <a:lstStyle/>
            <a:p>
              <a:pPr algn="r"/>
              <a:r>
                <a:rPr lang="zh-CN" sz="820" dirty="0">
                  <a:solidFill>
                    <a:srgbClr val="3A3A3A"/>
                  </a:solidFill>
                  <a:latin typeface="+mn-lt"/>
                  <a:ea typeface="+mn-ea"/>
                  <a:cs typeface="+mn-cs"/>
                </a:rPr>
                <a:t>高</a:t>
              </a:r>
            </a:p>
          </p:txBody>
        </p:sp>
        <p:sp>
          <p:nvSpPr>
            <p:cNvPr id="134" name="TextBox 134"/>
            <p:cNvSpPr txBox="1"/>
            <p:nvPr/>
          </p:nvSpPr>
          <p:spPr>
            <a:xfrm>
              <a:off x="7752499" y="2787491"/>
              <a:ext cx="119913" cy="161925"/>
            </a:xfrm>
            <a:prstGeom prst="rect">
              <a:avLst/>
            </a:prstGeom>
            <a:noFill/>
            <a:ln>
              <a:noFill/>
            </a:ln>
          </p:spPr>
          <p:txBody>
            <a:bodyPr wrap="none" lIns="0" tIns="0" rIns="0" bIns="0" anchor="t" anchorCtr="0">
              <a:spAutoFit/>
            </a:bodyPr>
            <a:lstStyle/>
            <a:p>
              <a:pPr algn="r"/>
              <a:r>
                <a:rPr lang="zh-CN" sz="820" dirty="0">
                  <a:solidFill>
                    <a:srgbClr val="3A3A3A"/>
                  </a:solidFill>
                  <a:latin typeface="+mn-lt"/>
                  <a:ea typeface="+mn-ea"/>
                  <a:cs typeface="+mn-cs"/>
                </a:rPr>
                <a:t>中</a:t>
              </a:r>
            </a:p>
          </p:txBody>
        </p:sp>
        <p:sp>
          <p:nvSpPr>
            <p:cNvPr id="135" name="TextBox 135"/>
            <p:cNvSpPr txBox="1"/>
            <p:nvPr/>
          </p:nvSpPr>
          <p:spPr>
            <a:xfrm>
              <a:off x="7752499" y="3930491"/>
              <a:ext cx="119913" cy="161925"/>
            </a:xfrm>
            <a:prstGeom prst="rect">
              <a:avLst/>
            </a:prstGeom>
            <a:noFill/>
            <a:ln>
              <a:noFill/>
            </a:ln>
          </p:spPr>
          <p:txBody>
            <a:bodyPr wrap="none" lIns="0" tIns="0" rIns="0" bIns="0" anchor="t" anchorCtr="0">
              <a:spAutoFit/>
            </a:bodyPr>
            <a:lstStyle/>
            <a:p>
              <a:pPr algn="r"/>
              <a:r>
                <a:rPr lang="zh-CN" sz="820" dirty="0">
                  <a:solidFill>
                    <a:srgbClr val="3A3A3A"/>
                  </a:solidFill>
                  <a:latin typeface="+mn-lt"/>
                  <a:ea typeface="+mn-ea"/>
                  <a:cs typeface="+mn-cs"/>
                </a:rPr>
                <a:t>低</a:t>
              </a:r>
            </a:p>
          </p:txBody>
        </p:sp>
        <p:sp>
          <p:nvSpPr>
            <p:cNvPr id="136" name="TextBox 136"/>
            <p:cNvSpPr txBox="1"/>
            <p:nvPr/>
          </p:nvSpPr>
          <p:spPr>
            <a:xfrm rot="-5400000">
              <a:off x="7443514" y="2795588"/>
              <a:ext cx="451079" cy="161925"/>
            </a:xfrm>
            <a:prstGeom prst="rect">
              <a:avLst/>
            </a:prstGeom>
            <a:noFill/>
            <a:ln>
              <a:noFill/>
            </a:ln>
          </p:spPr>
          <p:txBody>
            <a:bodyPr wrap="none" lIns="0" tIns="0" rIns="0" bIns="0" anchor="t" anchorCtr="0">
              <a:spAutoFit/>
            </a:bodyPr>
            <a:lstStyle/>
            <a:p>
              <a:pPr algn="ctr"/>
              <a:r>
                <a:rPr lang="zh-CN" sz="820" dirty="0">
                  <a:solidFill>
                    <a:srgbClr val="3A3A3A"/>
                  </a:solidFill>
                  <a:latin typeface="+mn-lt"/>
                  <a:ea typeface="+mn-ea"/>
                  <a:cs typeface="+mn-cs"/>
                </a:rPr>
                <a:t>紧迫程度</a:t>
              </a:r>
            </a:p>
          </p:txBody>
        </p:sp>
        <p:sp>
          <p:nvSpPr>
            <p:cNvPr id="137" name="TextBox 137"/>
            <p:cNvSpPr txBox="1"/>
            <p:nvPr/>
          </p:nvSpPr>
          <p:spPr>
            <a:xfrm>
              <a:off x="8512543" y="4673441"/>
              <a:ext cx="119913" cy="161925"/>
            </a:xfrm>
            <a:prstGeom prst="rect">
              <a:avLst/>
            </a:prstGeom>
            <a:noFill/>
            <a:ln>
              <a:noFill/>
            </a:ln>
          </p:spPr>
          <p:txBody>
            <a:bodyPr wrap="none" lIns="0" tIns="0" rIns="0" bIns="0" anchor="t" anchorCtr="0">
              <a:spAutoFit/>
            </a:bodyPr>
            <a:lstStyle/>
            <a:p>
              <a:pPr algn="ctr"/>
              <a:r>
                <a:rPr lang="zh-CN" sz="820" dirty="0">
                  <a:solidFill>
                    <a:srgbClr val="3A3A3A"/>
                  </a:solidFill>
                  <a:latin typeface="+mn-lt"/>
                  <a:ea typeface="+mn-ea"/>
                  <a:cs typeface="+mn-cs"/>
                </a:rPr>
                <a:t>低</a:t>
              </a:r>
            </a:p>
          </p:txBody>
        </p:sp>
        <p:sp>
          <p:nvSpPr>
            <p:cNvPr id="138" name="TextBox 138"/>
            <p:cNvSpPr txBox="1"/>
            <p:nvPr/>
          </p:nvSpPr>
          <p:spPr>
            <a:xfrm>
              <a:off x="9655543" y="4673441"/>
              <a:ext cx="119913" cy="161925"/>
            </a:xfrm>
            <a:prstGeom prst="rect">
              <a:avLst/>
            </a:prstGeom>
            <a:noFill/>
            <a:ln>
              <a:noFill/>
            </a:ln>
          </p:spPr>
          <p:txBody>
            <a:bodyPr wrap="none" lIns="0" tIns="0" rIns="0" bIns="0" anchor="t" anchorCtr="0">
              <a:spAutoFit/>
            </a:bodyPr>
            <a:lstStyle/>
            <a:p>
              <a:pPr algn="ctr"/>
              <a:r>
                <a:rPr lang="zh-CN" sz="820" dirty="0">
                  <a:solidFill>
                    <a:srgbClr val="3A3A3A"/>
                  </a:solidFill>
                  <a:latin typeface="+mn-lt"/>
                  <a:ea typeface="+mn-ea"/>
                  <a:cs typeface="+mn-cs"/>
                </a:rPr>
                <a:t>中</a:t>
              </a:r>
            </a:p>
          </p:txBody>
        </p:sp>
        <p:sp>
          <p:nvSpPr>
            <p:cNvPr id="139" name="TextBox 139"/>
            <p:cNvSpPr txBox="1"/>
            <p:nvPr/>
          </p:nvSpPr>
          <p:spPr>
            <a:xfrm>
              <a:off x="10798543" y="4673441"/>
              <a:ext cx="119913" cy="161925"/>
            </a:xfrm>
            <a:prstGeom prst="rect">
              <a:avLst/>
            </a:prstGeom>
            <a:noFill/>
            <a:ln>
              <a:noFill/>
            </a:ln>
          </p:spPr>
          <p:txBody>
            <a:bodyPr wrap="none" lIns="0" tIns="0" rIns="0" bIns="0" anchor="t" anchorCtr="0">
              <a:spAutoFit/>
            </a:bodyPr>
            <a:lstStyle/>
            <a:p>
              <a:pPr algn="ctr"/>
              <a:r>
                <a:rPr lang="zh-CN" sz="820" dirty="0">
                  <a:solidFill>
                    <a:srgbClr val="3A3A3A"/>
                  </a:solidFill>
                  <a:latin typeface="+mn-lt"/>
                  <a:ea typeface="+mn-ea"/>
                  <a:cs typeface="+mn-cs"/>
                </a:rPr>
                <a:t>高</a:t>
              </a:r>
            </a:p>
          </p:txBody>
        </p:sp>
        <p:sp>
          <p:nvSpPr>
            <p:cNvPr id="140" name="TextBox 140"/>
            <p:cNvSpPr txBox="1"/>
            <p:nvPr/>
          </p:nvSpPr>
          <p:spPr>
            <a:xfrm>
              <a:off x="9479191" y="4878943"/>
              <a:ext cx="47261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影响程度</a:t>
              </a:r>
            </a:p>
          </p:txBody>
        </p:sp>
      </p:grpSp>
      <p:grpSp>
        <p:nvGrpSpPr>
          <p:cNvPr id="150" name="conclusion-banner"/>
          <p:cNvGrpSpPr/>
          <p:nvPr/>
        </p:nvGrpSpPr>
        <p:grpSpPr>
          <a:xfrm>
            <a:off x="381000" y="5734050"/>
            <a:ext cx="11430000" cy="723900"/>
            <a:chOff x="381000" y="5734050"/>
            <a:chExt cx="11430000" cy="723900"/>
          </a:xfrm>
        </p:grpSpPr>
        <p:sp>
          <p:nvSpPr>
            <p:cNvPr id="142" name="Rectangle 142"/>
            <p:cNvSpPr/>
            <p:nvPr/>
          </p:nvSpPr>
          <p:spPr>
            <a:xfrm>
              <a:off x="381000" y="5734050"/>
              <a:ext cx="11430000" cy="723900"/>
            </a:xfrm>
            <a:prstGeom prst="rect">
              <a:avLst/>
            </a:prstGeom>
            <a:solidFill>
              <a:srgbClr val="A52D12"/>
            </a:solidFill>
            <a:ln>
              <a:noFill/>
            </a:ln>
          </p:spPr>
        </p:sp>
        <p:sp>
          <p:nvSpPr>
            <p:cNvPr id="143" name="Ellipse 143"/>
            <p:cNvSpPr/>
            <p:nvPr/>
          </p:nvSpPr>
          <p:spPr>
            <a:xfrm>
              <a:off x="1581150" y="5867400"/>
              <a:ext cx="457200" cy="457200"/>
            </a:xfrm>
            <a:prstGeom prst="ellipse">
              <a:avLst/>
            </a:prstGeom>
            <a:solidFill>
              <a:srgbClr val="FFFFFF">
                <a:alpha val="15000"/>
              </a:srgbClr>
            </a:solidFill>
            <a:ln>
              <a:noFill/>
            </a:ln>
          </p:spPr>
        </p:sp>
        <p:grpSp>
          <p:nvGrpSpPr>
            <p:cNvPr id="147" name="Group 147"/>
            <p:cNvGrpSpPr/>
            <p:nvPr/>
          </p:nvGrpSpPr>
          <p:grpSpPr>
            <a:xfrm>
              <a:off x="1709738" y="5995988"/>
              <a:ext cx="200026" cy="200026"/>
              <a:chOff x="1709738" y="5995988"/>
              <a:chExt cx="200026" cy="200026"/>
            </a:xfrm>
          </p:grpSpPr>
          <p:sp>
            <p:nvSpPr>
              <p:cNvPr id="144" name="Freeform 144"/>
              <p:cNvSpPr/>
              <p:nvPr/>
            </p:nvSpPr>
            <p:spPr>
              <a:xfrm>
                <a:off x="1798638" y="608488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E8988A"/>
                </a:solidFill>
              </a:ln>
            </p:spPr>
          </p:sp>
          <p:sp>
            <p:nvSpPr>
              <p:cNvPr id="145" name="Freeform 145"/>
              <p:cNvSpPr/>
              <p:nvPr/>
            </p:nvSpPr>
            <p:spPr>
              <a:xfrm>
                <a:off x="1754188" y="6040438"/>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22225">
                <a:solidFill>
                  <a:srgbClr val="E8988A"/>
                </a:solidFill>
              </a:ln>
            </p:spPr>
          </p:sp>
          <p:sp>
            <p:nvSpPr>
              <p:cNvPr id="146" name="Freeform 146"/>
              <p:cNvSpPr/>
              <p:nvPr/>
            </p:nvSpPr>
            <p:spPr>
              <a:xfrm>
                <a:off x="1709738" y="59959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E8988A"/>
                </a:solidFill>
              </a:ln>
            </p:spPr>
          </p:sp>
        </p:grpSp>
        <p:sp>
          <p:nvSpPr>
            <p:cNvPr id="148" name="TextBox 148"/>
            <p:cNvSpPr txBox="1"/>
            <p:nvPr/>
          </p:nvSpPr>
          <p:spPr>
            <a:xfrm>
              <a:off x="3906012" y="5987415"/>
              <a:ext cx="4379976"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结论：由指标差距向机制短板追根溯源。</a:t>
              </a:r>
            </a:p>
          </p:txBody>
        </p:sp>
        <p:sp>
          <p:nvSpPr>
            <p:cNvPr id="149" name="Freeform 149"/>
            <p:cNvSpPr/>
            <p:nvPr/>
          </p:nvSpPr>
          <p:spPr>
            <a:xfrm>
              <a:off x="10382250" y="5791200"/>
              <a:ext cx="1143000" cy="533400"/>
            </a:xfrm>
            <a:prstGeom prst="swooshArrow">
              <a:avLst/>
            </a:prstGeom>
            <a:solidFill>
              <a:srgbClr val="E8988A"/>
            </a:solidFill>
            <a:ln>
              <a:noFill/>
            </a:ln>
          </p:spPr>
        </p:sp>
      </p:gr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14​</a:t>
              </a:r>
            </a:p>
          </p:txBody>
        </p:sp>
        <p:sp>
          <p:nvSpPr>
            <p:cNvPr id="4" name="TextBox 4"/>
            <p:cNvSpPr txBox="1"/>
            <p:nvPr/>
          </p:nvSpPr>
          <p:spPr>
            <a:xfrm>
              <a:off x="942594" y="189548"/>
              <a:ext cx="5844540"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外部环境复杂多变，</a:t>
              </a:r>
              <a:r>
                <a:rPr lang="zh-CN" sz="1950" b="1" dirty="0">
                  <a:solidFill>
                    <a:srgbClr val="A52D12"/>
                  </a:solidFill>
                  <a:latin typeface="SimSun"/>
                  <a:ea typeface="SimSun"/>
                  <a:cs typeface="SimSun"/>
                </a:rPr>
                <a:t>结构性机遇与经营压力并存</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59" name="pest-row"/>
          <p:cNvGrpSpPr/>
          <p:nvPr/>
        </p:nvGrpSpPr>
        <p:grpSpPr>
          <a:xfrm>
            <a:off x="381000" y="685800"/>
            <a:ext cx="11430000" cy="990600"/>
            <a:chOff x="381000" y="685800"/>
            <a:chExt cx="11430000" cy="990600"/>
          </a:xfrm>
        </p:grpSpPr>
        <p:sp>
          <p:nvSpPr>
            <p:cNvPr id="7" name="Rectangle 7"/>
            <p:cNvSpPr/>
            <p:nvPr/>
          </p:nvSpPr>
          <p:spPr>
            <a:xfrm>
              <a:off x="381000" y="685800"/>
              <a:ext cx="1047750" cy="990600"/>
            </a:xfrm>
            <a:prstGeom prst="roundRect">
              <a:avLst>
                <a:gd name="adj" fmla="val 7692"/>
              </a:avLst>
            </a:prstGeom>
            <a:solidFill>
              <a:srgbClr val="FBEFEE"/>
            </a:solidFill>
            <a:ln w="9525">
              <a:solidFill>
                <a:srgbClr val="EDD5D2"/>
              </a:solidFill>
            </a:ln>
          </p:spPr>
        </p:sp>
        <p:sp>
          <p:nvSpPr>
            <p:cNvPr id="8" name="TextBox 8"/>
            <p:cNvSpPr txBox="1"/>
            <p:nvPr/>
          </p:nvSpPr>
          <p:spPr>
            <a:xfrm>
              <a:off x="652348" y="975360"/>
              <a:ext cx="505054" cy="234696"/>
            </a:xfrm>
            <a:prstGeom prst="rect">
              <a:avLst/>
            </a:prstGeom>
            <a:noFill/>
            <a:ln>
              <a:noFill/>
            </a:ln>
          </p:spPr>
          <p:txBody>
            <a:bodyPr wrap="none" lIns="0" tIns="0" rIns="0" bIns="0" anchor="t" anchorCtr="0">
              <a:spAutoFit/>
            </a:bodyPr>
            <a:lstStyle/>
            <a:p>
              <a:pPr algn="ctr"/>
              <a:r>
                <a:rPr lang="en-US" sz="1200" b="1" dirty="0">
                  <a:solidFill>
                    <a:srgbClr val="A52D12"/>
                  </a:solidFill>
                  <a:latin typeface="+mn-lt"/>
                  <a:ea typeface="+mn-ea"/>
                  <a:cs typeface="+mn-cs"/>
                </a:rPr>
                <a:t>PEST​</a:t>
              </a:r>
            </a:p>
          </p:txBody>
        </p:sp>
        <p:sp>
          <p:nvSpPr>
            <p:cNvPr id="9" name="TextBox 9"/>
            <p:cNvSpPr txBox="1"/>
            <p:nvPr/>
          </p:nvSpPr>
          <p:spPr>
            <a:xfrm>
              <a:off x="687514" y="1220152"/>
              <a:ext cx="434721" cy="205359"/>
            </a:xfrm>
            <a:prstGeom prst="rect">
              <a:avLst/>
            </a:prstGeom>
            <a:noFill/>
            <a:ln>
              <a:noFill/>
            </a:ln>
          </p:spPr>
          <p:txBody>
            <a:bodyPr wrap="none" lIns="0" tIns="0" rIns="0" bIns="0" anchor="t" anchorCtr="0">
              <a:spAutoFit/>
            </a:bodyPr>
            <a:lstStyle/>
            <a:p>
              <a:pPr algn="ctr"/>
              <a:r>
                <a:rPr lang="zh-CN" sz="1050" b="1" dirty="0">
                  <a:solidFill>
                    <a:srgbClr val="1F1F1F"/>
                  </a:solidFill>
                  <a:latin typeface="+mn-lt"/>
                  <a:ea typeface="+mn-ea"/>
                  <a:cs typeface="+mn-cs"/>
                </a:rPr>
                <a:t>四象限</a:t>
              </a:r>
            </a:p>
          </p:txBody>
        </p:sp>
        <p:sp>
          <p:nvSpPr>
            <p:cNvPr id="10" name="Rectangle 10"/>
            <p:cNvSpPr/>
            <p:nvPr/>
          </p:nvSpPr>
          <p:spPr>
            <a:xfrm>
              <a:off x="1543050" y="685800"/>
              <a:ext cx="2476500" cy="990600"/>
            </a:xfrm>
            <a:prstGeom prst="roundRect">
              <a:avLst>
                <a:gd name="adj" fmla="val 7692"/>
              </a:avLst>
            </a:prstGeom>
            <a:solidFill>
              <a:srgbClr val="FFFFFF"/>
            </a:solidFill>
            <a:ln w="9525">
              <a:solidFill>
                <a:srgbClr val="EDD5D2"/>
              </a:solidFill>
            </a:ln>
          </p:spPr>
        </p:sp>
        <p:grpSp>
          <p:nvGrpSpPr>
            <p:cNvPr id="19" name="Group 19"/>
            <p:cNvGrpSpPr/>
            <p:nvPr/>
          </p:nvGrpSpPr>
          <p:grpSpPr>
            <a:xfrm>
              <a:off x="1764506" y="850106"/>
              <a:ext cx="185737" cy="195262"/>
              <a:chOff x="1764506" y="850106"/>
              <a:chExt cx="185737" cy="195262"/>
            </a:xfrm>
          </p:grpSpPr>
          <p:sp>
            <p:nvSpPr>
              <p:cNvPr id="11" name="Freeform 11"/>
              <p:cNvSpPr/>
              <p:nvPr/>
            </p:nvSpPr>
            <p:spPr>
              <a:xfrm>
                <a:off x="1764506" y="1035843"/>
                <a:ext cx="185737" cy="9525"/>
              </a:xfrm>
              <a:custGeom>
                <a:avLst/>
                <a:gdLst/>
                <a:ahLst/>
                <a:cxnLst/>
                <a:rect l="l" t="t" r="r" b="b"/>
                <a:pathLst>
                  <a:path w="185737" h="9525">
                    <a:moveTo>
                      <a:pt x="0" y="0"/>
                    </a:moveTo>
                    <a:lnTo>
                      <a:pt x="185737" y="0"/>
                    </a:lnTo>
                  </a:path>
                </a:pathLst>
              </a:custGeom>
              <a:noFill/>
              <a:ln w="20637">
                <a:solidFill>
                  <a:srgbClr val="A52D12"/>
                </a:solidFill>
              </a:ln>
            </p:spPr>
          </p:sp>
          <p:sp>
            <p:nvSpPr>
              <p:cNvPr id="12" name="Freeform 12"/>
              <p:cNvSpPr/>
              <p:nvPr/>
            </p:nvSpPr>
            <p:spPr>
              <a:xfrm>
                <a:off x="1764506" y="922337"/>
                <a:ext cx="185737" cy="9525"/>
              </a:xfrm>
              <a:custGeom>
                <a:avLst/>
                <a:gdLst/>
                <a:ahLst/>
                <a:cxnLst/>
                <a:rect l="l" t="t" r="r" b="b"/>
                <a:pathLst>
                  <a:path w="185737" h="9525">
                    <a:moveTo>
                      <a:pt x="0" y="0"/>
                    </a:moveTo>
                    <a:lnTo>
                      <a:pt x="185737" y="0"/>
                    </a:lnTo>
                  </a:path>
                </a:pathLst>
              </a:custGeom>
              <a:noFill/>
              <a:ln w="20637">
                <a:solidFill>
                  <a:srgbClr val="A52D12"/>
                </a:solidFill>
              </a:ln>
            </p:spPr>
          </p:sp>
          <p:sp>
            <p:nvSpPr>
              <p:cNvPr id="13" name="Freeform 13"/>
              <p:cNvSpPr/>
              <p:nvPr/>
            </p:nvSpPr>
            <p:spPr>
              <a:xfrm>
                <a:off x="1785144" y="850106"/>
                <a:ext cx="144462" cy="30956"/>
              </a:xfrm>
              <a:custGeom>
                <a:avLst/>
                <a:gdLst/>
                <a:ahLst/>
                <a:cxnLst/>
                <a:rect l="l" t="t" r="r" b="b"/>
                <a:pathLst>
                  <a:path w="144462" h="30956">
                    <a:moveTo>
                      <a:pt x="0" y="30956"/>
                    </a:moveTo>
                    <a:lnTo>
                      <a:pt x="72231" y="0"/>
                    </a:lnTo>
                    <a:lnTo>
                      <a:pt x="144462" y="30956"/>
                    </a:lnTo>
                  </a:path>
                </a:pathLst>
              </a:custGeom>
              <a:noFill/>
              <a:ln w="20637">
                <a:solidFill>
                  <a:srgbClr val="A52D12"/>
                </a:solidFill>
              </a:ln>
            </p:spPr>
          </p:sp>
          <p:sp>
            <p:nvSpPr>
              <p:cNvPr id="14" name="Freeform 14"/>
              <p:cNvSpPr/>
              <p:nvPr/>
            </p:nvSpPr>
            <p:spPr>
              <a:xfrm>
                <a:off x="1774825" y="922337"/>
                <a:ext cx="9525" cy="113506"/>
              </a:xfrm>
              <a:custGeom>
                <a:avLst/>
                <a:gdLst/>
                <a:ahLst/>
                <a:cxnLst/>
                <a:rect l="l" t="t" r="r" b="b"/>
                <a:pathLst>
                  <a:path w="9525" h="113506">
                    <a:moveTo>
                      <a:pt x="0" y="0"/>
                    </a:moveTo>
                    <a:lnTo>
                      <a:pt x="0" y="113506"/>
                    </a:lnTo>
                  </a:path>
                </a:pathLst>
              </a:custGeom>
              <a:noFill/>
              <a:ln w="20637">
                <a:solidFill>
                  <a:srgbClr val="A52D12"/>
                </a:solidFill>
              </a:ln>
            </p:spPr>
          </p:sp>
          <p:sp>
            <p:nvSpPr>
              <p:cNvPr id="15" name="Freeform 15"/>
              <p:cNvSpPr/>
              <p:nvPr/>
            </p:nvSpPr>
            <p:spPr>
              <a:xfrm>
                <a:off x="1939924" y="922337"/>
                <a:ext cx="9525" cy="113506"/>
              </a:xfrm>
              <a:custGeom>
                <a:avLst/>
                <a:gdLst/>
                <a:ahLst/>
                <a:cxnLst/>
                <a:rect l="l" t="t" r="r" b="b"/>
                <a:pathLst>
                  <a:path w="9525" h="113506">
                    <a:moveTo>
                      <a:pt x="0" y="0"/>
                    </a:moveTo>
                    <a:lnTo>
                      <a:pt x="0" y="113506"/>
                    </a:lnTo>
                  </a:path>
                </a:pathLst>
              </a:custGeom>
              <a:noFill/>
              <a:ln w="20637">
                <a:solidFill>
                  <a:srgbClr val="A52D12"/>
                </a:solidFill>
              </a:ln>
            </p:spPr>
          </p:sp>
          <p:sp>
            <p:nvSpPr>
              <p:cNvPr id="16" name="Freeform 16"/>
              <p:cNvSpPr/>
              <p:nvPr/>
            </p:nvSpPr>
            <p:spPr>
              <a:xfrm>
                <a:off x="1816100" y="963612"/>
                <a:ext cx="9525" cy="30956"/>
              </a:xfrm>
              <a:custGeom>
                <a:avLst/>
                <a:gdLst/>
                <a:ahLst/>
                <a:cxnLst/>
                <a:rect l="l" t="t" r="r" b="b"/>
                <a:pathLst>
                  <a:path w="9525" h="30956">
                    <a:moveTo>
                      <a:pt x="0" y="0"/>
                    </a:moveTo>
                    <a:lnTo>
                      <a:pt x="0" y="30956"/>
                    </a:lnTo>
                  </a:path>
                </a:pathLst>
              </a:custGeom>
              <a:noFill/>
              <a:ln w="20637">
                <a:solidFill>
                  <a:srgbClr val="A52D12"/>
                </a:solidFill>
              </a:ln>
            </p:spPr>
          </p:sp>
          <p:sp>
            <p:nvSpPr>
              <p:cNvPr id="17" name="Freeform 17"/>
              <p:cNvSpPr/>
              <p:nvPr/>
            </p:nvSpPr>
            <p:spPr>
              <a:xfrm>
                <a:off x="1857375" y="963612"/>
                <a:ext cx="9525" cy="30956"/>
              </a:xfrm>
              <a:custGeom>
                <a:avLst/>
                <a:gdLst/>
                <a:ahLst/>
                <a:cxnLst/>
                <a:rect l="l" t="t" r="r" b="b"/>
                <a:pathLst>
                  <a:path w="9525" h="30956">
                    <a:moveTo>
                      <a:pt x="0" y="0"/>
                    </a:moveTo>
                    <a:lnTo>
                      <a:pt x="0" y="30956"/>
                    </a:lnTo>
                  </a:path>
                </a:pathLst>
              </a:custGeom>
              <a:noFill/>
              <a:ln w="20637">
                <a:solidFill>
                  <a:srgbClr val="A52D12"/>
                </a:solidFill>
              </a:ln>
            </p:spPr>
          </p:sp>
          <p:sp>
            <p:nvSpPr>
              <p:cNvPr id="18" name="Freeform 18"/>
              <p:cNvSpPr/>
              <p:nvPr/>
            </p:nvSpPr>
            <p:spPr>
              <a:xfrm>
                <a:off x="1898649" y="963612"/>
                <a:ext cx="9525" cy="30956"/>
              </a:xfrm>
              <a:custGeom>
                <a:avLst/>
                <a:gdLst/>
                <a:ahLst/>
                <a:cxnLst/>
                <a:rect l="l" t="t" r="r" b="b"/>
                <a:pathLst>
                  <a:path w="9525" h="30956">
                    <a:moveTo>
                      <a:pt x="0" y="0"/>
                    </a:moveTo>
                    <a:lnTo>
                      <a:pt x="0" y="30956"/>
                    </a:lnTo>
                  </a:path>
                </a:pathLst>
              </a:custGeom>
              <a:noFill/>
              <a:ln w="20637">
                <a:solidFill>
                  <a:srgbClr val="A52D12"/>
                </a:solidFill>
              </a:ln>
            </p:spPr>
          </p:sp>
        </p:grpSp>
        <p:sp>
          <p:nvSpPr>
            <p:cNvPr id="20" name="TextBox 20"/>
            <p:cNvSpPr txBox="1"/>
            <p:nvPr/>
          </p:nvSpPr>
          <p:spPr>
            <a:xfrm>
              <a:off x="2089785" y="888206"/>
              <a:ext cx="312979" cy="220028"/>
            </a:xfrm>
            <a:prstGeom prst="rect">
              <a:avLst/>
            </a:prstGeom>
            <a:noFill/>
            <a:ln>
              <a:noFill/>
            </a:ln>
          </p:spPr>
          <p:txBody>
            <a:bodyPr wrap="none" lIns="0" tIns="0" rIns="0" bIns="0" anchor="t" anchorCtr="0">
              <a:spAutoFit/>
            </a:bodyPr>
            <a:lstStyle/>
            <a:p>
              <a:pPr algn="l"/>
              <a:r>
                <a:rPr lang="zh-CN" sz="1120" b="1" dirty="0">
                  <a:solidFill>
                    <a:srgbClr val="A52D12"/>
                  </a:solidFill>
                  <a:latin typeface="+mn-lt"/>
                  <a:ea typeface="+mn-ea"/>
                  <a:cs typeface="+mn-cs"/>
                </a:rPr>
                <a:t>政策</a:t>
              </a:r>
            </a:p>
          </p:txBody>
        </p:sp>
        <p:sp>
          <p:nvSpPr>
            <p:cNvPr id="21" name="Line 21"/>
            <p:cNvSpPr/>
            <p:nvPr/>
          </p:nvSpPr>
          <p:spPr>
            <a:xfrm>
              <a:off x="1733550" y="1143000"/>
              <a:ext cx="2095500" cy="9525"/>
            </a:xfrm>
            <a:custGeom>
              <a:avLst/>
              <a:gdLst/>
              <a:ahLst/>
              <a:cxnLst/>
              <a:rect l="l" t="t" r="r" b="b"/>
              <a:pathLst>
                <a:path w="2095500" h="9525">
                  <a:moveTo>
                    <a:pt x="0" y="0"/>
                  </a:moveTo>
                  <a:lnTo>
                    <a:pt x="2095500" y="0"/>
                  </a:lnTo>
                </a:path>
              </a:pathLst>
            </a:custGeom>
            <a:noFill/>
            <a:ln w="9525">
              <a:solidFill>
                <a:srgbClr val="C9604E"/>
              </a:solidFill>
            </a:ln>
          </p:spPr>
        </p:sp>
        <p:sp>
          <p:nvSpPr>
            <p:cNvPr id="22" name="TextBox 22"/>
            <p:cNvSpPr txBox="1"/>
            <p:nvPr/>
          </p:nvSpPr>
          <p:spPr>
            <a:xfrm>
              <a:off x="1728788" y="1263491"/>
              <a:ext cx="870763" cy="161925"/>
            </a:xfrm>
            <a:prstGeom prst="rect">
              <a:avLst/>
            </a:prstGeom>
            <a:noFill/>
            <a:ln>
              <a:noFill/>
            </a:ln>
          </p:spPr>
          <p:txBody>
            <a:bodyPr wrap="none" lIns="0" tIns="0" rIns="0" bIns="0" anchor="t" anchorCtr="0">
              <a:spAutoFit/>
            </a:bodyPr>
            <a:lstStyle/>
            <a:p>
              <a:pPr algn="l" marL="88519" indent="-88519">
                <a:buClr>
                  <a:srgbClr val="3A3A3A"/>
                </a:buClr>
                <a:buSzTx/>
                <a:buFontTx/>
                <a:buChar char="•"/>
              </a:pPr>
              <a:r>
                <a:rPr lang="zh-CN" sz="820" dirty="0">
                  <a:solidFill>
                    <a:srgbClr val="3A3A3A"/>
                  </a:solidFill>
                  <a:latin typeface="+mn-lt"/>
                  <a:ea typeface="+mn-ea"/>
                  <a:cs typeface="+mn-cs"/>
                </a:rPr>
                <a:t>金融支持实体与</a:t>
              </a:r>
            </a:p>
          </p:txBody>
        </p:sp>
        <p:sp>
          <p:nvSpPr>
            <p:cNvPr id="23" name="TextBox 23"/>
            <p:cNvSpPr txBox="1"/>
            <p:nvPr/>
          </p:nvSpPr>
          <p:spPr>
            <a:xfrm>
              <a:off x="1728788" y="1434941"/>
              <a:ext cx="671855"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重点领域倾斜</a:t>
              </a:r>
            </a:p>
          </p:txBody>
        </p:sp>
        <p:sp>
          <p:nvSpPr>
            <p:cNvPr id="24" name="Rectangle 24"/>
            <p:cNvSpPr/>
            <p:nvPr/>
          </p:nvSpPr>
          <p:spPr>
            <a:xfrm>
              <a:off x="4133850" y="685800"/>
              <a:ext cx="2476500" cy="990600"/>
            </a:xfrm>
            <a:prstGeom prst="roundRect">
              <a:avLst>
                <a:gd name="adj" fmla="val 7692"/>
              </a:avLst>
            </a:prstGeom>
            <a:solidFill>
              <a:srgbClr val="FFFFFF"/>
            </a:solidFill>
            <a:ln w="9525">
              <a:solidFill>
                <a:srgbClr val="EDD5D2"/>
              </a:solidFill>
            </a:ln>
          </p:spPr>
        </p:sp>
        <p:grpSp>
          <p:nvGrpSpPr>
            <p:cNvPr id="29" name="Group 29"/>
            <p:cNvGrpSpPr/>
            <p:nvPr/>
          </p:nvGrpSpPr>
          <p:grpSpPr>
            <a:xfrm>
              <a:off x="4355306" y="860425"/>
              <a:ext cx="185737" cy="174624"/>
              <a:chOff x="4355306" y="860425"/>
              <a:chExt cx="185737" cy="174624"/>
            </a:xfrm>
          </p:grpSpPr>
          <p:sp>
            <p:nvSpPr>
              <p:cNvPr id="25" name="Freeform 25"/>
              <p:cNvSpPr/>
              <p:nvPr/>
            </p:nvSpPr>
            <p:spPr>
              <a:xfrm>
                <a:off x="4355306" y="94297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A52D12"/>
                </a:solidFill>
              </a:ln>
            </p:spPr>
          </p:sp>
          <p:sp>
            <p:nvSpPr>
              <p:cNvPr id="26" name="Freeform 26"/>
              <p:cNvSpPr/>
              <p:nvPr/>
            </p:nvSpPr>
            <p:spPr>
              <a:xfrm>
                <a:off x="4479131" y="90170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A52D12"/>
                </a:solidFill>
              </a:ln>
            </p:spPr>
          </p:sp>
          <p:sp>
            <p:nvSpPr>
              <p:cNvPr id="27" name="Freeform 27"/>
              <p:cNvSpPr/>
              <p:nvPr/>
            </p:nvSpPr>
            <p:spPr>
              <a:xfrm>
                <a:off x="4417218" y="86042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A52D12"/>
                </a:solidFill>
              </a:ln>
            </p:spPr>
          </p:sp>
          <p:sp>
            <p:nvSpPr>
              <p:cNvPr id="28" name="Freeform 28"/>
              <p:cNvSpPr/>
              <p:nvPr/>
            </p:nvSpPr>
            <p:spPr>
              <a:xfrm>
                <a:off x="4365625" y="1025524"/>
                <a:ext cx="144462" cy="9525"/>
              </a:xfrm>
              <a:custGeom>
                <a:avLst/>
                <a:gdLst/>
                <a:ahLst/>
                <a:cxnLst/>
                <a:rect l="l" t="t" r="r" b="b"/>
                <a:pathLst>
                  <a:path w="144462" h="9525">
                    <a:moveTo>
                      <a:pt x="0" y="0"/>
                    </a:moveTo>
                    <a:lnTo>
                      <a:pt x="144462" y="0"/>
                    </a:lnTo>
                  </a:path>
                </a:pathLst>
              </a:custGeom>
              <a:noFill/>
              <a:ln w="20637">
                <a:solidFill>
                  <a:srgbClr val="A52D12"/>
                </a:solidFill>
              </a:ln>
            </p:spPr>
          </p:sp>
        </p:grpSp>
        <p:sp>
          <p:nvSpPr>
            <p:cNvPr id="30" name="TextBox 30"/>
            <p:cNvSpPr txBox="1"/>
            <p:nvPr/>
          </p:nvSpPr>
          <p:spPr>
            <a:xfrm>
              <a:off x="4680585" y="888206"/>
              <a:ext cx="312979" cy="220028"/>
            </a:xfrm>
            <a:prstGeom prst="rect">
              <a:avLst/>
            </a:prstGeom>
            <a:noFill/>
            <a:ln>
              <a:noFill/>
            </a:ln>
          </p:spPr>
          <p:txBody>
            <a:bodyPr wrap="none" lIns="0" tIns="0" rIns="0" bIns="0" anchor="t" anchorCtr="0">
              <a:spAutoFit/>
            </a:bodyPr>
            <a:lstStyle/>
            <a:p>
              <a:pPr algn="l"/>
              <a:r>
                <a:rPr lang="zh-CN" sz="1120" b="1" dirty="0">
                  <a:solidFill>
                    <a:srgbClr val="A52D12"/>
                  </a:solidFill>
                  <a:latin typeface="+mn-lt"/>
                  <a:ea typeface="+mn-ea"/>
                  <a:cs typeface="+mn-cs"/>
                </a:rPr>
                <a:t>经济</a:t>
              </a:r>
            </a:p>
          </p:txBody>
        </p:sp>
        <p:sp>
          <p:nvSpPr>
            <p:cNvPr id="31" name="Line 31"/>
            <p:cNvSpPr/>
            <p:nvPr/>
          </p:nvSpPr>
          <p:spPr>
            <a:xfrm>
              <a:off x="4324350" y="1143000"/>
              <a:ext cx="2095500" cy="9525"/>
            </a:xfrm>
            <a:custGeom>
              <a:avLst/>
              <a:gdLst/>
              <a:ahLst/>
              <a:cxnLst/>
              <a:rect l="l" t="t" r="r" b="b"/>
              <a:pathLst>
                <a:path w="2095500" h="9525">
                  <a:moveTo>
                    <a:pt x="0" y="0"/>
                  </a:moveTo>
                  <a:lnTo>
                    <a:pt x="2095500" y="0"/>
                  </a:lnTo>
                </a:path>
              </a:pathLst>
            </a:custGeom>
            <a:noFill/>
            <a:ln w="9525">
              <a:solidFill>
                <a:srgbClr val="C9604E"/>
              </a:solidFill>
            </a:ln>
          </p:spPr>
        </p:sp>
        <p:sp>
          <p:nvSpPr>
            <p:cNvPr id="32" name="TextBox 32"/>
            <p:cNvSpPr txBox="1"/>
            <p:nvPr/>
          </p:nvSpPr>
          <p:spPr>
            <a:xfrm>
              <a:off x="4319588" y="1263491"/>
              <a:ext cx="870763" cy="161925"/>
            </a:xfrm>
            <a:prstGeom prst="rect">
              <a:avLst/>
            </a:prstGeom>
            <a:noFill/>
            <a:ln>
              <a:noFill/>
            </a:ln>
          </p:spPr>
          <p:txBody>
            <a:bodyPr wrap="none" lIns="0" tIns="0" rIns="0" bIns="0" anchor="t" anchorCtr="0">
              <a:spAutoFit/>
            </a:bodyPr>
            <a:lstStyle/>
            <a:p>
              <a:pPr algn="l" marL="88519" indent="-88519">
                <a:buClr>
                  <a:srgbClr val="3A3A3A"/>
                </a:buClr>
                <a:buSzTx/>
                <a:buFontTx/>
                <a:buChar char="•"/>
              </a:pPr>
              <a:r>
                <a:rPr lang="zh-CN" sz="820" dirty="0">
                  <a:solidFill>
                    <a:srgbClr val="3A3A3A"/>
                  </a:solidFill>
                  <a:latin typeface="+mn-lt"/>
                  <a:ea typeface="+mn-ea"/>
                  <a:cs typeface="+mn-cs"/>
                </a:rPr>
                <a:t>有效需求修复但</a:t>
              </a:r>
            </a:p>
          </p:txBody>
        </p:sp>
        <p:sp>
          <p:nvSpPr>
            <p:cNvPr id="33" name="TextBox 33"/>
            <p:cNvSpPr txBox="1"/>
            <p:nvPr/>
          </p:nvSpPr>
          <p:spPr>
            <a:xfrm>
              <a:off x="4319588" y="1434941"/>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行业分化</a:t>
              </a:r>
            </a:p>
          </p:txBody>
        </p:sp>
        <p:sp>
          <p:nvSpPr>
            <p:cNvPr id="34" name="Rectangle 34"/>
            <p:cNvSpPr/>
            <p:nvPr/>
          </p:nvSpPr>
          <p:spPr>
            <a:xfrm>
              <a:off x="6724650" y="685800"/>
              <a:ext cx="2476500" cy="990600"/>
            </a:xfrm>
            <a:prstGeom prst="roundRect">
              <a:avLst>
                <a:gd name="adj" fmla="val 7692"/>
              </a:avLst>
            </a:prstGeom>
            <a:solidFill>
              <a:srgbClr val="FFFFFF"/>
            </a:solidFill>
            <a:ln w="9525">
              <a:solidFill>
                <a:srgbClr val="EDD5D2"/>
              </a:solidFill>
            </a:ln>
          </p:spPr>
        </p:sp>
        <p:grpSp>
          <p:nvGrpSpPr>
            <p:cNvPr id="39" name="Group 39"/>
            <p:cNvGrpSpPr/>
            <p:nvPr/>
          </p:nvGrpSpPr>
          <p:grpSpPr>
            <a:xfrm>
              <a:off x="6946106" y="850106"/>
              <a:ext cx="185737" cy="185738"/>
              <a:chOff x="6946106" y="850106"/>
              <a:chExt cx="185737" cy="185738"/>
            </a:xfrm>
          </p:grpSpPr>
          <p:sp>
            <p:nvSpPr>
              <p:cNvPr id="35" name="Freeform 35"/>
              <p:cNvSpPr/>
              <p:nvPr/>
            </p:nvSpPr>
            <p:spPr>
              <a:xfrm>
                <a:off x="6966744" y="8501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A52D12"/>
                </a:solidFill>
              </a:ln>
            </p:spPr>
          </p:sp>
          <p:sp>
            <p:nvSpPr>
              <p:cNvPr id="36" name="Freeform 36"/>
              <p:cNvSpPr/>
              <p:nvPr/>
            </p:nvSpPr>
            <p:spPr>
              <a:xfrm>
                <a:off x="6946106" y="97393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A52D12"/>
                </a:solidFill>
              </a:ln>
            </p:spPr>
          </p:sp>
          <p:sp>
            <p:nvSpPr>
              <p:cNvPr id="37" name="Freeform 37"/>
              <p:cNvSpPr/>
              <p:nvPr/>
            </p:nvSpPr>
            <p:spPr>
              <a:xfrm>
                <a:off x="7080249" y="85144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A52D12"/>
                </a:solidFill>
              </a:ln>
            </p:spPr>
          </p:sp>
          <p:sp>
            <p:nvSpPr>
              <p:cNvPr id="38" name="Freeform 38"/>
              <p:cNvSpPr/>
              <p:nvPr/>
            </p:nvSpPr>
            <p:spPr>
              <a:xfrm>
                <a:off x="7100887" y="97547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A52D12"/>
                </a:solidFill>
              </a:ln>
            </p:spPr>
          </p:sp>
        </p:grpSp>
        <p:sp>
          <p:nvSpPr>
            <p:cNvPr id="40" name="TextBox 40"/>
            <p:cNvSpPr txBox="1"/>
            <p:nvPr/>
          </p:nvSpPr>
          <p:spPr>
            <a:xfrm>
              <a:off x="7271385" y="888206"/>
              <a:ext cx="312979" cy="220028"/>
            </a:xfrm>
            <a:prstGeom prst="rect">
              <a:avLst/>
            </a:prstGeom>
            <a:noFill/>
            <a:ln>
              <a:noFill/>
            </a:ln>
          </p:spPr>
          <p:txBody>
            <a:bodyPr wrap="none" lIns="0" tIns="0" rIns="0" bIns="0" anchor="t" anchorCtr="0">
              <a:spAutoFit/>
            </a:bodyPr>
            <a:lstStyle/>
            <a:p>
              <a:pPr algn="l"/>
              <a:r>
                <a:rPr lang="zh-CN" sz="1120" b="1" dirty="0">
                  <a:solidFill>
                    <a:srgbClr val="A52D12"/>
                  </a:solidFill>
                  <a:latin typeface="+mn-lt"/>
                  <a:ea typeface="+mn-ea"/>
                  <a:cs typeface="+mn-cs"/>
                </a:rPr>
                <a:t>社会</a:t>
              </a:r>
            </a:p>
          </p:txBody>
        </p:sp>
        <p:sp>
          <p:nvSpPr>
            <p:cNvPr id="41" name="Line 41"/>
            <p:cNvSpPr/>
            <p:nvPr/>
          </p:nvSpPr>
          <p:spPr>
            <a:xfrm>
              <a:off x="6915150" y="1143000"/>
              <a:ext cx="2095500" cy="9525"/>
            </a:xfrm>
            <a:custGeom>
              <a:avLst/>
              <a:gdLst/>
              <a:ahLst/>
              <a:cxnLst/>
              <a:rect l="l" t="t" r="r" b="b"/>
              <a:pathLst>
                <a:path w="2095500" h="9525">
                  <a:moveTo>
                    <a:pt x="0" y="0"/>
                  </a:moveTo>
                  <a:lnTo>
                    <a:pt x="2095500" y="0"/>
                  </a:lnTo>
                </a:path>
              </a:pathLst>
            </a:custGeom>
            <a:noFill/>
            <a:ln w="9525">
              <a:solidFill>
                <a:srgbClr val="C9604E"/>
              </a:solidFill>
            </a:ln>
          </p:spPr>
        </p:sp>
        <p:sp>
          <p:nvSpPr>
            <p:cNvPr id="42" name="TextBox 42"/>
            <p:cNvSpPr txBox="1"/>
            <p:nvPr/>
          </p:nvSpPr>
          <p:spPr>
            <a:xfrm>
              <a:off x="6910388" y="1263491"/>
              <a:ext cx="981151" cy="161925"/>
            </a:xfrm>
            <a:prstGeom prst="rect">
              <a:avLst/>
            </a:prstGeom>
            <a:noFill/>
            <a:ln>
              <a:noFill/>
            </a:ln>
          </p:spPr>
          <p:txBody>
            <a:bodyPr wrap="none" lIns="0" tIns="0" rIns="0" bIns="0" anchor="t" anchorCtr="0">
              <a:spAutoFit/>
            </a:bodyPr>
            <a:lstStyle/>
            <a:p>
              <a:pPr algn="l" marL="88519" indent="-88519">
                <a:buClr>
                  <a:srgbClr val="3A3A3A"/>
                </a:buClr>
                <a:buSzTx/>
                <a:buFontTx/>
                <a:buChar char="•"/>
              </a:pPr>
              <a:r>
                <a:rPr lang="zh-CN" sz="820" dirty="0">
                  <a:solidFill>
                    <a:srgbClr val="3A3A3A"/>
                  </a:solidFill>
                  <a:latin typeface="+mn-lt"/>
                  <a:ea typeface="+mn-ea"/>
                  <a:cs typeface="+mn-cs"/>
                </a:rPr>
                <a:t>客户行为线上化、</a:t>
              </a:r>
            </a:p>
          </p:txBody>
        </p:sp>
        <p:sp>
          <p:nvSpPr>
            <p:cNvPr id="43" name="TextBox 43"/>
            <p:cNvSpPr txBox="1"/>
            <p:nvPr/>
          </p:nvSpPr>
          <p:spPr>
            <a:xfrm>
              <a:off x="6910388" y="1434941"/>
              <a:ext cx="782244"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财富配置多元化</a:t>
              </a:r>
            </a:p>
          </p:txBody>
        </p:sp>
        <p:sp>
          <p:nvSpPr>
            <p:cNvPr id="44" name="Rectangle 44"/>
            <p:cNvSpPr/>
            <p:nvPr/>
          </p:nvSpPr>
          <p:spPr>
            <a:xfrm>
              <a:off x="9315450" y="685800"/>
              <a:ext cx="2495550" cy="990600"/>
            </a:xfrm>
            <a:prstGeom prst="roundRect">
              <a:avLst>
                <a:gd name="adj" fmla="val 7692"/>
              </a:avLst>
            </a:prstGeom>
            <a:solidFill>
              <a:srgbClr val="FFFFFF"/>
            </a:solidFill>
            <a:ln w="9525">
              <a:solidFill>
                <a:srgbClr val="EDD5D2"/>
              </a:solidFill>
            </a:ln>
          </p:spPr>
        </p:sp>
        <p:grpSp>
          <p:nvGrpSpPr>
            <p:cNvPr id="54" name="Group 54"/>
            <p:cNvGrpSpPr/>
            <p:nvPr/>
          </p:nvGrpSpPr>
          <p:grpSpPr>
            <a:xfrm>
              <a:off x="9557544" y="839787"/>
              <a:ext cx="144462" cy="196056"/>
              <a:chOff x="9557544" y="839787"/>
              <a:chExt cx="144462" cy="196056"/>
            </a:xfrm>
          </p:grpSpPr>
          <p:sp>
            <p:nvSpPr>
              <p:cNvPr id="45" name="Freeform 45"/>
              <p:cNvSpPr/>
              <p:nvPr/>
            </p:nvSpPr>
            <p:spPr>
              <a:xfrm>
                <a:off x="9567862" y="860425"/>
                <a:ext cx="123825" cy="82550"/>
              </a:xfrm>
              <a:custGeom>
                <a:avLst/>
                <a:gdLst/>
                <a:ahLst/>
                <a:cxnLst/>
                <a:rect l="l" t="t" r="r" b="b"/>
                <a:pathLst>
                  <a:path w="123825" h="82550">
                    <a:moveTo>
                      <a:pt x="0" y="20637"/>
                    </a:moveTo>
                    <a:cubicBezTo>
                      <a:pt x="0" y="9240"/>
                      <a:pt x="9240" y="0"/>
                      <a:pt x="20637" y="0"/>
                    </a:cubicBezTo>
                    <a:lnTo>
                      <a:pt x="103187" y="0"/>
                    </a:lnTo>
                    <a:cubicBezTo>
                      <a:pt x="114585" y="0"/>
                      <a:pt x="123825" y="9240"/>
                      <a:pt x="123825" y="20637"/>
                    </a:cubicBezTo>
                    <a:lnTo>
                      <a:pt x="123825" y="61912"/>
                    </a:lnTo>
                    <a:cubicBezTo>
                      <a:pt x="123825" y="73310"/>
                      <a:pt x="114585" y="82550"/>
                      <a:pt x="103187" y="82550"/>
                    </a:cubicBezTo>
                    <a:lnTo>
                      <a:pt x="20637" y="82550"/>
                    </a:lnTo>
                    <a:cubicBezTo>
                      <a:pt x="9240" y="82550"/>
                      <a:pt x="0" y="73310"/>
                      <a:pt x="0" y="61912"/>
                    </a:cubicBezTo>
                    <a:lnTo>
                      <a:pt x="0" y="20637"/>
                    </a:lnTo>
                  </a:path>
                </a:pathLst>
              </a:custGeom>
              <a:noFill/>
              <a:ln w="20637">
                <a:solidFill>
                  <a:srgbClr val="A52D12"/>
                </a:solidFill>
              </a:ln>
            </p:spPr>
          </p:sp>
          <p:sp>
            <p:nvSpPr>
              <p:cNvPr id="46" name="Freeform 46"/>
              <p:cNvSpPr/>
              <p:nvPr/>
            </p:nvSpPr>
            <p:spPr>
              <a:xfrm>
                <a:off x="9629775" y="839787"/>
                <a:ext cx="9525" cy="20637"/>
              </a:xfrm>
              <a:custGeom>
                <a:avLst/>
                <a:gdLst/>
                <a:ahLst/>
                <a:cxnLst/>
                <a:rect l="l" t="t" r="r" b="b"/>
                <a:pathLst>
                  <a:path w="9525" h="20637">
                    <a:moveTo>
                      <a:pt x="0" y="0"/>
                    </a:moveTo>
                    <a:lnTo>
                      <a:pt x="0" y="20637"/>
                    </a:lnTo>
                  </a:path>
                </a:pathLst>
              </a:custGeom>
              <a:noFill/>
              <a:ln w="20637">
                <a:solidFill>
                  <a:srgbClr val="A52D12"/>
                </a:solidFill>
              </a:ln>
            </p:spPr>
          </p:sp>
          <p:sp>
            <p:nvSpPr>
              <p:cNvPr id="47" name="Freeform 47"/>
              <p:cNvSpPr/>
              <p:nvPr/>
            </p:nvSpPr>
            <p:spPr>
              <a:xfrm>
                <a:off x="9598818" y="942975"/>
                <a:ext cx="9525" cy="92868"/>
              </a:xfrm>
              <a:custGeom>
                <a:avLst/>
                <a:gdLst/>
                <a:ahLst/>
                <a:cxnLst/>
                <a:rect l="l" t="t" r="r" b="b"/>
                <a:pathLst>
                  <a:path w="9525" h="92868">
                    <a:moveTo>
                      <a:pt x="0" y="0"/>
                    </a:moveTo>
                    <a:lnTo>
                      <a:pt x="0" y="92868"/>
                    </a:lnTo>
                  </a:path>
                </a:pathLst>
              </a:custGeom>
              <a:noFill/>
              <a:ln w="20637">
                <a:solidFill>
                  <a:srgbClr val="A52D12"/>
                </a:solidFill>
              </a:ln>
            </p:spPr>
          </p:sp>
          <p:sp>
            <p:nvSpPr>
              <p:cNvPr id="48" name="Freeform 48"/>
              <p:cNvSpPr/>
              <p:nvPr/>
            </p:nvSpPr>
            <p:spPr>
              <a:xfrm>
                <a:off x="9660731" y="942975"/>
                <a:ext cx="9525" cy="92868"/>
              </a:xfrm>
              <a:custGeom>
                <a:avLst/>
                <a:gdLst/>
                <a:ahLst/>
                <a:cxnLst/>
                <a:rect l="l" t="t" r="r" b="b"/>
                <a:pathLst>
                  <a:path w="9525" h="92868">
                    <a:moveTo>
                      <a:pt x="0" y="0"/>
                    </a:moveTo>
                    <a:lnTo>
                      <a:pt x="0" y="92868"/>
                    </a:lnTo>
                  </a:path>
                </a:pathLst>
              </a:custGeom>
              <a:noFill/>
              <a:ln w="20637">
                <a:solidFill>
                  <a:srgbClr val="A52D12"/>
                </a:solidFill>
              </a:ln>
            </p:spPr>
          </p:sp>
          <p:sp>
            <p:nvSpPr>
              <p:cNvPr id="49" name="Freeform 49"/>
              <p:cNvSpPr/>
              <p:nvPr/>
            </p:nvSpPr>
            <p:spPr>
              <a:xfrm>
                <a:off x="9557544" y="963612"/>
                <a:ext cx="41275" cy="20637"/>
              </a:xfrm>
              <a:custGeom>
                <a:avLst/>
                <a:gdLst/>
                <a:ahLst/>
                <a:cxnLst/>
                <a:rect l="l" t="t" r="r" b="b"/>
                <a:pathLst>
                  <a:path w="41275" h="20637">
                    <a:moveTo>
                      <a:pt x="0" y="20637"/>
                    </a:moveTo>
                    <a:lnTo>
                      <a:pt x="41275" y="0"/>
                    </a:lnTo>
                  </a:path>
                </a:pathLst>
              </a:custGeom>
              <a:noFill/>
              <a:ln w="20637">
                <a:solidFill>
                  <a:srgbClr val="A52D12"/>
                </a:solidFill>
              </a:ln>
            </p:spPr>
          </p:sp>
          <p:sp>
            <p:nvSpPr>
              <p:cNvPr id="50" name="Freeform 50"/>
              <p:cNvSpPr/>
              <p:nvPr/>
            </p:nvSpPr>
            <p:spPr>
              <a:xfrm>
                <a:off x="9660731" y="963612"/>
                <a:ext cx="41275" cy="20637"/>
              </a:xfrm>
              <a:custGeom>
                <a:avLst/>
                <a:gdLst/>
                <a:ahLst/>
                <a:cxnLst/>
                <a:rect l="l" t="t" r="r" b="b"/>
                <a:pathLst>
                  <a:path w="41275" h="20637">
                    <a:moveTo>
                      <a:pt x="0" y="0"/>
                    </a:moveTo>
                    <a:lnTo>
                      <a:pt x="41275" y="20637"/>
                    </a:lnTo>
                  </a:path>
                </a:pathLst>
              </a:custGeom>
              <a:noFill/>
              <a:ln w="20637">
                <a:solidFill>
                  <a:srgbClr val="A52D12"/>
                </a:solidFill>
              </a:ln>
            </p:spPr>
          </p:sp>
          <p:sp>
            <p:nvSpPr>
              <p:cNvPr id="51" name="Freeform 51"/>
              <p:cNvSpPr/>
              <p:nvPr/>
            </p:nvSpPr>
            <p:spPr>
              <a:xfrm>
                <a:off x="9598818" y="1004887"/>
                <a:ext cx="61912" cy="9525"/>
              </a:xfrm>
              <a:custGeom>
                <a:avLst/>
                <a:gdLst/>
                <a:ahLst/>
                <a:cxnLst/>
                <a:rect l="l" t="t" r="r" b="b"/>
                <a:pathLst>
                  <a:path w="61912" h="9525">
                    <a:moveTo>
                      <a:pt x="0" y="0"/>
                    </a:moveTo>
                    <a:lnTo>
                      <a:pt x="61912" y="0"/>
                    </a:lnTo>
                  </a:path>
                </a:pathLst>
              </a:custGeom>
              <a:noFill/>
              <a:ln w="20637">
                <a:solidFill>
                  <a:srgbClr val="A52D12"/>
                </a:solidFill>
              </a:ln>
            </p:spPr>
          </p:sp>
          <p:sp>
            <p:nvSpPr>
              <p:cNvPr id="52" name="Freeform 52"/>
              <p:cNvSpPr/>
              <p:nvPr/>
            </p:nvSpPr>
            <p:spPr>
              <a:xfrm>
                <a:off x="9609137" y="901700"/>
                <a:ext cx="9525" cy="9525"/>
              </a:xfrm>
              <a:custGeom>
                <a:avLst/>
                <a:gdLst/>
                <a:ahLst/>
                <a:cxnLst/>
                <a:rect l="l" t="t" r="r" b="b"/>
                <a:pathLst>
                  <a:path w="9525" h="9525">
                    <a:moveTo>
                      <a:pt x="0" y="0"/>
                    </a:moveTo>
                    <a:lnTo>
                      <a:pt x="0" y="103"/>
                    </a:lnTo>
                  </a:path>
                </a:pathLst>
              </a:custGeom>
              <a:noFill/>
              <a:ln w="20637">
                <a:solidFill>
                  <a:srgbClr val="A52D12"/>
                </a:solidFill>
              </a:ln>
            </p:spPr>
          </p:sp>
          <p:sp>
            <p:nvSpPr>
              <p:cNvPr id="53" name="Freeform 53"/>
              <p:cNvSpPr/>
              <p:nvPr/>
            </p:nvSpPr>
            <p:spPr>
              <a:xfrm>
                <a:off x="9650412" y="901700"/>
                <a:ext cx="9525" cy="9525"/>
              </a:xfrm>
              <a:custGeom>
                <a:avLst/>
                <a:gdLst/>
                <a:ahLst/>
                <a:cxnLst/>
                <a:rect l="l" t="t" r="r" b="b"/>
                <a:pathLst>
                  <a:path w="9525" h="9525">
                    <a:moveTo>
                      <a:pt x="0" y="0"/>
                    </a:moveTo>
                    <a:lnTo>
                      <a:pt x="0" y="103"/>
                    </a:lnTo>
                  </a:path>
                </a:pathLst>
              </a:custGeom>
              <a:noFill/>
              <a:ln w="20637">
                <a:solidFill>
                  <a:srgbClr val="A52D12"/>
                </a:solidFill>
              </a:ln>
            </p:spPr>
          </p:sp>
        </p:grpSp>
        <p:sp>
          <p:nvSpPr>
            <p:cNvPr id="55" name="TextBox 55"/>
            <p:cNvSpPr txBox="1"/>
            <p:nvPr/>
          </p:nvSpPr>
          <p:spPr>
            <a:xfrm>
              <a:off x="9862185" y="888206"/>
              <a:ext cx="312979" cy="220028"/>
            </a:xfrm>
            <a:prstGeom prst="rect">
              <a:avLst/>
            </a:prstGeom>
            <a:noFill/>
            <a:ln>
              <a:noFill/>
            </a:ln>
          </p:spPr>
          <p:txBody>
            <a:bodyPr wrap="none" lIns="0" tIns="0" rIns="0" bIns="0" anchor="t" anchorCtr="0">
              <a:spAutoFit/>
            </a:bodyPr>
            <a:lstStyle/>
            <a:p>
              <a:pPr algn="l"/>
              <a:r>
                <a:rPr lang="zh-CN" sz="1120" b="1" dirty="0">
                  <a:solidFill>
                    <a:srgbClr val="A52D12"/>
                  </a:solidFill>
                  <a:latin typeface="+mn-lt"/>
                  <a:ea typeface="+mn-ea"/>
                  <a:cs typeface="+mn-cs"/>
                </a:rPr>
                <a:t>技术</a:t>
              </a:r>
            </a:p>
          </p:txBody>
        </p:sp>
        <p:sp>
          <p:nvSpPr>
            <p:cNvPr id="56" name="Line 56"/>
            <p:cNvSpPr/>
            <p:nvPr/>
          </p:nvSpPr>
          <p:spPr>
            <a:xfrm>
              <a:off x="9505950" y="1143000"/>
              <a:ext cx="2114550" cy="9525"/>
            </a:xfrm>
            <a:custGeom>
              <a:avLst/>
              <a:gdLst/>
              <a:ahLst/>
              <a:cxnLst/>
              <a:rect l="l" t="t" r="r" b="b"/>
              <a:pathLst>
                <a:path w="2114550" h="9525">
                  <a:moveTo>
                    <a:pt x="0" y="0"/>
                  </a:moveTo>
                  <a:lnTo>
                    <a:pt x="2114550" y="0"/>
                  </a:lnTo>
                </a:path>
              </a:pathLst>
            </a:custGeom>
            <a:noFill/>
            <a:ln w="9525">
              <a:solidFill>
                <a:srgbClr val="C9604E"/>
              </a:solidFill>
            </a:ln>
          </p:spPr>
        </p:sp>
        <p:sp>
          <p:nvSpPr>
            <p:cNvPr id="57" name="TextBox 57"/>
            <p:cNvSpPr txBox="1"/>
            <p:nvPr/>
          </p:nvSpPr>
          <p:spPr>
            <a:xfrm>
              <a:off x="9501188" y="1263491"/>
              <a:ext cx="981151" cy="161925"/>
            </a:xfrm>
            <a:prstGeom prst="rect">
              <a:avLst/>
            </a:prstGeom>
            <a:noFill/>
            <a:ln>
              <a:noFill/>
            </a:ln>
          </p:spPr>
          <p:txBody>
            <a:bodyPr wrap="none" lIns="0" tIns="0" rIns="0" bIns="0" anchor="t" anchorCtr="0">
              <a:spAutoFit/>
            </a:bodyPr>
            <a:lstStyle/>
            <a:p>
              <a:pPr algn="l" marL="88519" indent="-88519">
                <a:buClr>
                  <a:srgbClr val="3A3A3A"/>
                </a:buClr>
                <a:buSzTx/>
                <a:buFontTx/>
                <a:buChar char="•"/>
              </a:pPr>
              <a:r>
                <a:rPr lang="zh-CN" sz="820" dirty="0">
                  <a:solidFill>
                    <a:srgbClr val="3A3A3A"/>
                  </a:solidFill>
                  <a:latin typeface="+mn-lt"/>
                  <a:ea typeface="+mn-ea"/>
                  <a:cs typeface="+mn-cs"/>
                </a:rPr>
                <a:t>大模型与数据要素</a:t>
              </a:r>
            </a:p>
          </p:txBody>
        </p:sp>
        <p:sp>
          <p:nvSpPr>
            <p:cNvPr id="58" name="TextBox 58"/>
            <p:cNvSpPr txBox="1"/>
            <p:nvPr/>
          </p:nvSpPr>
          <p:spPr>
            <a:xfrm>
              <a:off x="9501188" y="1434941"/>
              <a:ext cx="451079" cy="161925"/>
            </a:xfrm>
            <a:prstGeom prst="rect">
              <a:avLst/>
            </a:prstGeom>
            <a:noFill/>
            <a:ln>
              <a:noFill/>
            </a:ln>
          </p:spPr>
          <p:txBody>
            <a:bodyPr wrap="none" lIns="0" tIns="0" rIns="0" bIns="0" anchor="t" anchorCtr="0">
              <a:spAutoFit/>
            </a:bodyPr>
            <a:lstStyle/>
            <a:p>
              <a:pPr algn="l"/>
              <a:r>
                <a:rPr lang="zh-CN" sz="820" dirty="0">
                  <a:solidFill>
                    <a:srgbClr val="3A3A3A"/>
                  </a:solidFill>
                  <a:latin typeface="+mn-lt"/>
                  <a:ea typeface="+mn-ea"/>
                  <a:cs typeface="+mn-cs"/>
                </a:rPr>
                <a:t>重塑经营</a:t>
              </a:r>
            </a:p>
          </p:txBody>
        </p:sp>
      </p:grpSp>
      <p:grpSp>
        <p:nvGrpSpPr>
          <p:cNvPr id="131" name="opp-challenge"/>
          <p:cNvGrpSpPr/>
          <p:nvPr/>
        </p:nvGrpSpPr>
        <p:grpSpPr>
          <a:xfrm>
            <a:off x="381000" y="1790700"/>
            <a:ext cx="11430000" cy="2114550"/>
            <a:chOff x="381000" y="1790700"/>
            <a:chExt cx="11430000" cy="2114550"/>
          </a:xfrm>
        </p:grpSpPr>
        <p:sp>
          <p:nvSpPr>
            <p:cNvPr id="60" name="Rectangle 60"/>
            <p:cNvSpPr/>
            <p:nvPr/>
          </p:nvSpPr>
          <p:spPr>
            <a:xfrm>
              <a:off x="381000" y="1790700"/>
              <a:ext cx="1047750" cy="2114550"/>
            </a:xfrm>
            <a:prstGeom prst="roundRect">
              <a:avLst>
                <a:gd name="adj" fmla="val 7273"/>
              </a:avLst>
            </a:prstGeom>
            <a:solidFill>
              <a:srgbClr val="FBEFEE"/>
            </a:solidFill>
            <a:ln w="9525">
              <a:solidFill>
                <a:srgbClr val="EDD5D2"/>
              </a:solidFill>
            </a:ln>
          </p:spPr>
        </p:sp>
        <p:sp>
          <p:nvSpPr>
            <p:cNvPr id="61" name="TextBox 61"/>
            <p:cNvSpPr txBox="1"/>
            <p:nvPr/>
          </p:nvSpPr>
          <p:spPr>
            <a:xfrm>
              <a:off x="522224" y="2774156"/>
              <a:ext cx="765302" cy="220028"/>
            </a:xfrm>
            <a:prstGeom prst="rect">
              <a:avLst/>
            </a:prstGeom>
            <a:noFill/>
            <a:ln>
              <a:noFill/>
            </a:ln>
          </p:spPr>
          <p:txBody>
            <a:bodyPr wrap="none" lIns="0" tIns="0" rIns="0" bIns="0" anchor="t" anchorCtr="0">
              <a:spAutoFit/>
            </a:bodyPr>
            <a:lstStyle/>
            <a:p>
              <a:pPr algn="ctr"/>
              <a:r>
                <a:rPr lang="zh-CN" sz="1120" b="1" dirty="0">
                  <a:solidFill>
                    <a:srgbClr val="1F1F1F"/>
                  </a:solidFill>
                  <a:latin typeface="+mn-lt"/>
                  <a:ea typeface="+mn-ea"/>
                  <a:cs typeface="+mn-cs"/>
                </a:rPr>
                <a:t>机遇与挑战</a:t>
              </a:r>
            </a:p>
          </p:txBody>
        </p:sp>
        <p:sp>
          <p:nvSpPr>
            <p:cNvPr id="62" name="Line 62"/>
            <p:cNvSpPr/>
            <p:nvPr/>
          </p:nvSpPr>
          <p:spPr>
            <a:xfrm>
              <a:off x="685800" y="3048000"/>
              <a:ext cx="438150" cy="9525"/>
            </a:xfrm>
            <a:custGeom>
              <a:avLst/>
              <a:gdLst/>
              <a:ahLst/>
              <a:cxnLst/>
              <a:rect l="l" t="t" r="r" b="b"/>
              <a:pathLst>
                <a:path w="438150" h="9525">
                  <a:moveTo>
                    <a:pt x="0" y="0"/>
                  </a:moveTo>
                  <a:lnTo>
                    <a:pt x="438150" y="0"/>
                  </a:lnTo>
                </a:path>
              </a:pathLst>
            </a:custGeom>
            <a:noFill/>
            <a:ln w="14288">
              <a:solidFill>
                <a:srgbClr val="C9604E"/>
              </a:solidFill>
            </a:ln>
          </p:spPr>
        </p:sp>
        <p:sp>
          <p:nvSpPr>
            <p:cNvPr id="63" name="Rectangle 63"/>
            <p:cNvSpPr/>
            <p:nvPr/>
          </p:nvSpPr>
          <p:spPr>
            <a:xfrm>
              <a:off x="1543050" y="1790700"/>
              <a:ext cx="3429000" cy="2114550"/>
            </a:xfrm>
            <a:prstGeom prst="roundRect">
              <a:avLst>
                <a:gd name="adj" fmla="val 3604"/>
              </a:avLst>
            </a:prstGeom>
            <a:solidFill>
              <a:srgbClr val="FBEFEE"/>
            </a:solidFill>
            <a:ln w="9525">
              <a:solidFill>
                <a:srgbClr val="EDD5D2"/>
              </a:solidFill>
            </a:ln>
          </p:spPr>
        </p:sp>
        <p:sp>
          <p:nvSpPr>
            <p:cNvPr id="64" name="Freeform 64"/>
            <p:cNvSpPr/>
            <p:nvPr/>
          </p:nvSpPr>
          <p:spPr>
            <a:xfrm>
              <a:off x="1552575" y="1800225"/>
              <a:ext cx="3409950" cy="276225"/>
            </a:xfrm>
            <a:custGeom>
              <a:avLst/>
              <a:gdLst/>
              <a:ahLst/>
              <a:cxnLst/>
              <a:rect l="l" t="t" r="r" b="b"/>
              <a:pathLst>
                <a:path w="3409950" h="276225">
                  <a:moveTo>
                    <a:pt x="0" y="276225"/>
                  </a:moveTo>
                  <a:lnTo>
                    <a:pt x="3409950" y="276225"/>
                  </a:lnTo>
                  <a:lnTo>
                    <a:pt x="3409950" y="66675"/>
                  </a:lnTo>
                  <a:cubicBezTo>
                    <a:pt x="3409950" y="29851"/>
                    <a:pt x="3380099" y="0"/>
                    <a:pt x="3343275" y="0"/>
                  </a:cubicBezTo>
                  <a:lnTo>
                    <a:pt x="66675" y="0"/>
                  </a:lnTo>
                  <a:cubicBezTo>
                    <a:pt x="29851" y="0"/>
                    <a:pt x="0" y="29851"/>
                    <a:pt x="0" y="66675"/>
                  </a:cubicBezTo>
                  <a:close/>
                </a:path>
              </a:pathLst>
            </a:custGeom>
            <a:solidFill>
              <a:srgbClr val="A52D12"/>
            </a:solidFill>
            <a:ln>
              <a:noFill/>
            </a:ln>
          </p:spPr>
        </p:sp>
        <p:sp>
          <p:nvSpPr>
            <p:cNvPr id="65" name="TextBox 65"/>
            <p:cNvSpPr txBox="1"/>
            <p:nvPr/>
          </p:nvSpPr>
          <p:spPr>
            <a:xfrm>
              <a:off x="3101061" y="18788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机遇</a:t>
              </a:r>
            </a:p>
          </p:txBody>
        </p:sp>
        <p:sp>
          <p:nvSpPr>
            <p:cNvPr id="66" name="Ellipse 66"/>
            <p:cNvSpPr/>
            <p:nvPr/>
          </p:nvSpPr>
          <p:spPr>
            <a:xfrm>
              <a:off x="1771650" y="2514600"/>
              <a:ext cx="495300" cy="495300"/>
            </a:xfrm>
            <a:prstGeom prst="ellipse">
              <a:avLst/>
            </a:prstGeom>
            <a:solidFill>
              <a:srgbClr val="FFFFFF"/>
            </a:solidFill>
            <a:ln w="13335">
              <a:solidFill>
                <a:srgbClr val="E4AFA6"/>
              </a:solidFill>
            </a:ln>
          </p:spPr>
        </p:sp>
        <p:grpSp>
          <p:nvGrpSpPr>
            <p:cNvPr id="69" name="Group 69"/>
            <p:cNvGrpSpPr/>
            <p:nvPr/>
          </p:nvGrpSpPr>
          <p:grpSpPr>
            <a:xfrm>
              <a:off x="1933575" y="2714625"/>
              <a:ext cx="171450" cy="95250"/>
              <a:chOff x="1933575" y="2714625"/>
              <a:chExt cx="171450" cy="95250"/>
            </a:xfrm>
          </p:grpSpPr>
          <p:sp>
            <p:nvSpPr>
              <p:cNvPr id="67" name="Freeform 67"/>
              <p:cNvSpPr/>
              <p:nvPr/>
            </p:nvSpPr>
            <p:spPr>
              <a:xfrm>
                <a:off x="1933575" y="271462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A52D12"/>
                </a:solidFill>
              </a:ln>
            </p:spPr>
          </p:sp>
          <p:sp>
            <p:nvSpPr>
              <p:cNvPr id="68" name="Freeform 68"/>
              <p:cNvSpPr/>
              <p:nvPr/>
            </p:nvSpPr>
            <p:spPr>
              <a:xfrm>
                <a:off x="2038350" y="2714625"/>
                <a:ext cx="66675" cy="66675"/>
              </a:xfrm>
              <a:custGeom>
                <a:avLst/>
                <a:gdLst/>
                <a:ahLst/>
                <a:cxnLst/>
                <a:rect l="l" t="t" r="r" b="b"/>
                <a:pathLst>
                  <a:path w="66675" h="66675">
                    <a:moveTo>
                      <a:pt x="0" y="0"/>
                    </a:moveTo>
                    <a:lnTo>
                      <a:pt x="66675" y="0"/>
                    </a:lnTo>
                    <a:lnTo>
                      <a:pt x="66675" y="66675"/>
                    </a:lnTo>
                  </a:path>
                </a:pathLst>
              </a:custGeom>
              <a:noFill/>
              <a:ln w="19050">
                <a:solidFill>
                  <a:srgbClr val="A52D12"/>
                </a:solidFill>
              </a:ln>
            </p:spPr>
          </p:sp>
        </p:grpSp>
        <p:sp>
          <p:nvSpPr>
            <p:cNvPr id="70" name="TextBox 70"/>
            <p:cNvSpPr txBox="1"/>
            <p:nvPr/>
          </p:nvSpPr>
          <p:spPr>
            <a:xfrm>
              <a:off x="1725104" y="3145393"/>
              <a:ext cx="588391"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新质生产力</a:t>
              </a:r>
            </a:p>
          </p:txBody>
        </p:sp>
        <p:sp>
          <p:nvSpPr>
            <p:cNvPr id="71" name="Ellipse 71"/>
            <p:cNvSpPr/>
            <p:nvPr/>
          </p:nvSpPr>
          <p:spPr>
            <a:xfrm>
              <a:off x="2590800" y="2514600"/>
              <a:ext cx="495300" cy="495300"/>
            </a:xfrm>
            <a:prstGeom prst="ellipse">
              <a:avLst/>
            </a:prstGeom>
            <a:solidFill>
              <a:srgbClr val="FFFFFF"/>
            </a:solidFill>
            <a:ln w="13335">
              <a:solidFill>
                <a:srgbClr val="E4AFA6"/>
              </a:solidFill>
            </a:ln>
          </p:spPr>
        </p:sp>
        <p:grpSp>
          <p:nvGrpSpPr>
            <p:cNvPr id="74" name="Group 74"/>
            <p:cNvGrpSpPr/>
            <p:nvPr/>
          </p:nvGrpSpPr>
          <p:grpSpPr>
            <a:xfrm>
              <a:off x="2762250" y="2682375"/>
              <a:ext cx="152400" cy="159750"/>
              <a:chOff x="2762250" y="2682375"/>
              <a:chExt cx="152400" cy="159750"/>
            </a:xfrm>
          </p:grpSpPr>
          <p:sp>
            <p:nvSpPr>
              <p:cNvPr id="72" name="Freeform 72"/>
              <p:cNvSpPr/>
              <p:nvPr/>
            </p:nvSpPr>
            <p:spPr>
              <a:xfrm>
                <a:off x="2762250" y="268237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A52D12"/>
                </a:solidFill>
              </a:ln>
            </p:spPr>
          </p:sp>
          <p:sp>
            <p:nvSpPr>
              <p:cNvPr id="73" name="Freeform 73"/>
              <p:cNvSpPr/>
              <p:nvPr/>
            </p:nvSpPr>
            <p:spPr>
              <a:xfrm>
                <a:off x="2762250" y="277177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A52D12"/>
                </a:solidFill>
              </a:ln>
            </p:spPr>
          </p:sp>
        </p:grpSp>
        <p:sp>
          <p:nvSpPr>
            <p:cNvPr id="75" name="TextBox 75"/>
            <p:cNvSpPr txBox="1"/>
            <p:nvPr/>
          </p:nvSpPr>
          <p:spPr>
            <a:xfrm>
              <a:off x="2602141" y="3145393"/>
              <a:ext cx="47261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绿色转型</a:t>
              </a:r>
            </a:p>
          </p:txBody>
        </p:sp>
        <p:sp>
          <p:nvSpPr>
            <p:cNvPr id="76" name="Ellipse 76"/>
            <p:cNvSpPr/>
            <p:nvPr/>
          </p:nvSpPr>
          <p:spPr>
            <a:xfrm>
              <a:off x="3409950" y="2514600"/>
              <a:ext cx="495300" cy="495300"/>
            </a:xfrm>
            <a:prstGeom prst="ellipse">
              <a:avLst/>
            </a:prstGeom>
            <a:solidFill>
              <a:srgbClr val="FFFFFF"/>
            </a:solidFill>
            <a:ln w="13335">
              <a:solidFill>
                <a:srgbClr val="E4AFA6"/>
              </a:solidFill>
            </a:ln>
          </p:spPr>
        </p:sp>
        <p:grpSp>
          <p:nvGrpSpPr>
            <p:cNvPr id="80" name="Group 80"/>
            <p:cNvGrpSpPr/>
            <p:nvPr/>
          </p:nvGrpSpPr>
          <p:grpSpPr>
            <a:xfrm>
              <a:off x="3571875" y="2676525"/>
              <a:ext cx="171450" cy="171450"/>
              <a:chOff x="3571875" y="2676525"/>
              <a:chExt cx="171450" cy="171450"/>
            </a:xfrm>
          </p:grpSpPr>
          <p:sp>
            <p:nvSpPr>
              <p:cNvPr id="77" name="Freeform 77"/>
              <p:cNvSpPr/>
              <p:nvPr/>
            </p:nvSpPr>
            <p:spPr>
              <a:xfrm>
                <a:off x="3571875" y="267652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A52D12"/>
                </a:solidFill>
              </a:ln>
            </p:spPr>
          </p:sp>
          <p:sp>
            <p:nvSpPr>
              <p:cNvPr id="78" name="Freeform 78"/>
              <p:cNvSpPr/>
              <p:nvPr/>
            </p:nvSpPr>
            <p:spPr>
              <a:xfrm>
                <a:off x="3590925" y="276225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A52D12"/>
                </a:solidFill>
              </a:ln>
            </p:spPr>
          </p:sp>
          <p:sp>
            <p:nvSpPr>
              <p:cNvPr id="79" name="Freeform 79"/>
              <p:cNvSpPr/>
              <p:nvPr/>
            </p:nvSpPr>
            <p:spPr>
              <a:xfrm>
                <a:off x="3629025" y="277177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A52D12"/>
                </a:solidFill>
              </a:ln>
            </p:spPr>
          </p:sp>
        </p:grpSp>
        <p:sp>
          <p:nvSpPr>
            <p:cNvPr id="81" name="TextBox 81"/>
            <p:cNvSpPr txBox="1"/>
            <p:nvPr/>
          </p:nvSpPr>
          <p:spPr>
            <a:xfrm>
              <a:off x="3421291" y="3145393"/>
              <a:ext cx="47261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县域经济</a:t>
              </a:r>
            </a:p>
          </p:txBody>
        </p:sp>
        <p:sp>
          <p:nvSpPr>
            <p:cNvPr id="82" name="Ellipse 82"/>
            <p:cNvSpPr/>
            <p:nvPr/>
          </p:nvSpPr>
          <p:spPr>
            <a:xfrm>
              <a:off x="4229100" y="2514600"/>
              <a:ext cx="495300" cy="495300"/>
            </a:xfrm>
            <a:prstGeom prst="ellipse">
              <a:avLst/>
            </a:prstGeom>
            <a:solidFill>
              <a:srgbClr val="FFFFFF"/>
            </a:solidFill>
            <a:ln w="13335">
              <a:solidFill>
                <a:srgbClr val="E4AFA6"/>
              </a:solidFill>
            </a:ln>
          </p:spPr>
        </p:sp>
        <p:grpSp>
          <p:nvGrpSpPr>
            <p:cNvPr id="86" name="Group 86"/>
            <p:cNvGrpSpPr/>
            <p:nvPr/>
          </p:nvGrpSpPr>
          <p:grpSpPr>
            <a:xfrm>
              <a:off x="4400549" y="2681396"/>
              <a:ext cx="157041" cy="161688"/>
              <a:chOff x="4400549" y="2681396"/>
              <a:chExt cx="157041" cy="161688"/>
            </a:xfrm>
          </p:grpSpPr>
          <p:sp>
            <p:nvSpPr>
              <p:cNvPr id="83" name="Freeform 83"/>
              <p:cNvSpPr/>
              <p:nvPr/>
            </p:nvSpPr>
            <p:spPr>
              <a:xfrm>
                <a:off x="4448175" y="2733675"/>
                <a:ext cx="57150" cy="57150"/>
              </a:xfrm>
              <a:custGeom>
                <a:avLst/>
                <a:gdLst/>
                <a:ahLst/>
                <a:cxnLst/>
                <a:rect l="l" t="t" r="r" b="b"/>
                <a:pathLst>
                  <a:path w="57150" h="57150">
                    <a:moveTo>
                      <a:pt x="0" y="57150"/>
                    </a:moveTo>
                    <a:lnTo>
                      <a:pt x="57150" y="0"/>
                    </a:lnTo>
                  </a:path>
                </a:pathLst>
              </a:custGeom>
              <a:noFill/>
              <a:ln w="19050">
                <a:solidFill>
                  <a:srgbClr val="A52D12"/>
                </a:solidFill>
              </a:ln>
            </p:spPr>
          </p:sp>
          <p:sp>
            <p:nvSpPr>
              <p:cNvPr id="84" name="Freeform 84"/>
              <p:cNvSpPr/>
              <p:nvPr/>
            </p:nvSpPr>
            <p:spPr>
              <a:xfrm>
                <a:off x="4467225" y="2681396"/>
                <a:ext cx="90365" cy="90379"/>
              </a:xfrm>
              <a:custGeom>
                <a:avLst/>
                <a:gdLst/>
                <a:ahLst/>
                <a:cxnLst/>
                <a:rect l="l" t="t" r="r" b="b"/>
                <a:pathLst>
                  <a:path w="90365" h="90379">
                    <a:moveTo>
                      <a:pt x="0" y="23704"/>
                    </a:moveTo>
                    <a:lnTo>
                      <a:pt x="4410" y="18599"/>
                    </a:lnTo>
                    <a:cubicBezTo>
                      <a:pt x="23011" y="0"/>
                      <a:pt x="53168" y="2"/>
                      <a:pt x="71766" y="18603"/>
                    </a:cubicBezTo>
                    <a:cubicBezTo>
                      <a:pt x="90365" y="37204"/>
                      <a:pt x="90363" y="67361"/>
                      <a:pt x="71761" y="85959"/>
                    </a:cubicBezTo>
                    <a:lnTo>
                      <a:pt x="66675" y="90379"/>
                    </a:lnTo>
                  </a:path>
                </a:pathLst>
              </a:custGeom>
              <a:noFill/>
              <a:ln w="19050">
                <a:solidFill>
                  <a:srgbClr val="A52D12"/>
                </a:solidFill>
              </a:ln>
            </p:spPr>
          </p:sp>
          <p:sp>
            <p:nvSpPr>
              <p:cNvPr id="85" name="Freeform 85"/>
              <p:cNvSpPr/>
              <p:nvPr/>
            </p:nvSpPr>
            <p:spPr>
              <a:xfrm>
                <a:off x="4400549" y="2752725"/>
                <a:ext cx="85726" cy="90359"/>
              </a:xfrm>
              <a:custGeom>
                <a:avLst/>
                <a:gdLst/>
                <a:ahLst/>
                <a:cxnLst/>
                <a:rect l="l" t="t" r="r" b="b"/>
                <a:pathLst>
                  <a:path w="85726" h="90359">
                    <a:moveTo>
                      <a:pt x="85726" y="66675"/>
                    </a:moveTo>
                    <a:lnTo>
                      <a:pt x="81945" y="71761"/>
                    </a:lnTo>
                    <a:cubicBezTo>
                      <a:pt x="63138" y="90359"/>
                      <a:pt x="32867" y="90359"/>
                      <a:pt x="14060" y="71761"/>
                    </a:cubicBezTo>
                    <a:cubicBezTo>
                      <a:pt x="5063" y="62865"/>
                      <a:pt x="0" y="50738"/>
                      <a:pt x="0" y="38086"/>
                    </a:cubicBezTo>
                    <a:cubicBezTo>
                      <a:pt x="0" y="25433"/>
                      <a:pt x="5063" y="13306"/>
                      <a:pt x="14060" y="4410"/>
                    </a:cubicBezTo>
                    <a:lnTo>
                      <a:pt x="19051" y="0"/>
                    </a:lnTo>
                  </a:path>
                </a:pathLst>
              </a:custGeom>
              <a:noFill/>
              <a:ln w="19050">
                <a:solidFill>
                  <a:srgbClr val="A52D12"/>
                </a:solidFill>
              </a:ln>
            </p:spPr>
          </p:sp>
        </p:grpSp>
        <p:sp>
          <p:nvSpPr>
            <p:cNvPr id="87" name="TextBox 87"/>
            <p:cNvSpPr txBox="1"/>
            <p:nvPr/>
          </p:nvSpPr>
          <p:spPr>
            <a:xfrm>
              <a:off x="4182554" y="3145393"/>
              <a:ext cx="588391"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产业链升级</a:t>
              </a:r>
            </a:p>
          </p:txBody>
        </p:sp>
        <p:sp>
          <p:nvSpPr>
            <p:cNvPr id="88" name="Freeform 88"/>
            <p:cNvSpPr/>
            <p:nvPr/>
          </p:nvSpPr>
          <p:spPr>
            <a:xfrm>
              <a:off x="6105525" y="3562350"/>
              <a:ext cx="1143000" cy="209550"/>
            </a:xfrm>
            <a:prstGeom prst="trapezoid">
              <a:avLst/>
            </a:prstGeom>
            <a:solidFill>
              <a:srgbClr val="A52D12"/>
            </a:solidFill>
            <a:ln>
              <a:noFill/>
            </a:ln>
          </p:spPr>
        </p:sp>
        <p:sp>
          <p:nvSpPr>
            <p:cNvPr id="89" name="Rectangle 89"/>
            <p:cNvSpPr/>
            <p:nvPr/>
          </p:nvSpPr>
          <p:spPr>
            <a:xfrm>
              <a:off x="6629400" y="2324100"/>
              <a:ext cx="95250" cy="1238250"/>
            </a:xfrm>
            <a:prstGeom prst="rect">
              <a:avLst/>
            </a:prstGeom>
            <a:solidFill>
              <a:srgbClr val="A52D12"/>
            </a:solidFill>
            <a:ln>
              <a:noFill/>
            </a:ln>
          </p:spPr>
        </p:sp>
        <p:sp>
          <p:nvSpPr>
            <p:cNvPr id="90" name="Ellipse 90"/>
            <p:cNvSpPr/>
            <p:nvPr/>
          </p:nvSpPr>
          <p:spPr>
            <a:xfrm>
              <a:off x="6600825" y="2247900"/>
              <a:ext cx="152400" cy="152400"/>
            </a:xfrm>
            <a:prstGeom prst="ellipse">
              <a:avLst/>
            </a:prstGeom>
            <a:solidFill>
              <a:srgbClr val="C9604E"/>
            </a:solidFill>
            <a:ln>
              <a:noFill/>
            </a:ln>
          </p:spPr>
        </p:sp>
        <p:sp>
          <p:nvSpPr>
            <p:cNvPr id="91" name="Line 91"/>
            <p:cNvSpPr/>
            <p:nvPr/>
          </p:nvSpPr>
          <p:spPr>
            <a:xfrm>
              <a:off x="5638800" y="2247900"/>
              <a:ext cx="2076450" cy="285750"/>
            </a:xfrm>
            <a:custGeom>
              <a:avLst/>
              <a:gdLst/>
              <a:ahLst/>
              <a:cxnLst/>
              <a:rect l="l" t="t" r="r" b="b"/>
              <a:pathLst>
                <a:path w="2076450" h="285750">
                  <a:moveTo>
                    <a:pt x="0" y="285750"/>
                  </a:moveTo>
                  <a:lnTo>
                    <a:pt x="2076450" y="0"/>
                  </a:lnTo>
                </a:path>
              </a:pathLst>
            </a:custGeom>
            <a:noFill/>
            <a:ln w="47625" cap="rnd">
              <a:solidFill>
                <a:srgbClr val="A52D12"/>
              </a:solidFill>
            </a:ln>
          </p:spPr>
        </p:sp>
        <p:sp>
          <p:nvSpPr>
            <p:cNvPr id="92" name="Line 92"/>
            <p:cNvSpPr/>
            <p:nvPr/>
          </p:nvSpPr>
          <p:spPr>
            <a:xfrm>
              <a:off x="5676900" y="2533650"/>
              <a:ext cx="9525" cy="323850"/>
            </a:xfrm>
            <a:custGeom>
              <a:avLst/>
              <a:gdLst/>
              <a:ahLst/>
              <a:cxnLst/>
              <a:rect l="l" t="t" r="r" b="b"/>
              <a:pathLst>
                <a:path w="9525" h="323850">
                  <a:moveTo>
                    <a:pt x="0" y="0"/>
                  </a:moveTo>
                  <a:lnTo>
                    <a:pt x="0" y="323850"/>
                  </a:lnTo>
                </a:path>
              </a:pathLst>
            </a:custGeom>
            <a:noFill/>
            <a:ln w="11430">
              <a:solidFill>
                <a:srgbClr val="8A8A8A"/>
              </a:solidFill>
            </a:ln>
          </p:spPr>
        </p:sp>
        <p:sp>
          <p:nvSpPr>
            <p:cNvPr id="93" name="Line 93"/>
            <p:cNvSpPr/>
            <p:nvPr/>
          </p:nvSpPr>
          <p:spPr>
            <a:xfrm>
              <a:off x="7677150" y="2257425"/>
              <a:ext cx="9525" cy="333375"/>
            </a:xfrm>
            <a:custGeom>
              <a:avLst/>
              <a:gdLst/>
              <a:ahLst/>
              <a:cxnLst/>
              <a:rect l="l" t="t" r="r" b="b"/>
              <a:pathLst>
                <a:path w="9525" h="333375">
                  <a:moveTo>
                    <a:pt x="0" y="0"/>
                  </a:moveTo>
                  <a:lnTo>
                    <a:pt x="0" y="333375"/>
                  </a:lnTo>
                </a:path>
              </a:pathLst>
            </a:custGeom>
            <a:noFill/>
            <a:ln w="11430">
              <a:solidFill>
                <a:srgbClr val="8A8A8A"/>
              </a:solidFill>
            </a:ln>
          </p:spPr>
        </p:sp>
        <p:sp>
          <p:nvSpPr>
            <p:cNvPr id="94" name="Ellipse 94"/>
            <p:cNvSpPr/>
            <p:nvPr/>
          </p:nvSpPr>
          <p:spPr>
            <a:xfrm>
              <a:off x="5391150" y="2857500"/>
              <a:ext cx="571500" cy="571500"/>
            </a:xfrm>
            <a:prstGeom prst="ellipse">
              <a:avLst/>
            </a:prstGeom>
            <a:solidFill>
              <a:srgbClr val="A52D12"/>
            </a:solidFill>
            <a:ln>
              <a:noFill/>
            </a:ln>
          </p:spPr>
        </p:sp>
        <p:sp>
          <p:nvSpPr>
            <p:cNvPr id="95" name="TextBox 95"/>
            <p:cNvSpPr txBox="1"/>
            <p:nvPr/>
          </p:nvSpPr>
          <p:spPr>
            <a:xfrm>
              <a:off x="5530215" y="30870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机遇</a:t>
              </a:r>
            </a:p>
          </p:txBody>
        </p:sp>
        <p:sp>
          <p:nvSpPr>
            <p:cNvPr id="96" name="Ellipse 96"/>
            <p:cNvSpPr/>
            <p:nvPr/>
          </p:nvSpPr>
          <p:spPr>
            <a:xfrm>
              <a:off x="7391400" y="2590800"/>
              <a:ext cx="571500" cy="571500"/>
            </a:xfrm>
            <a:prstGeom prst="ellipse">
              <a:avLst/>
            </a:prstGeom>
            <a:solidFill>
              <a:srgbClr val="3A3A3A"/>
            </a:solidFill>
            <a:ln>
              <a:noFill/>
            </a:ln>
          </p:spPr>
        </p:sp>
        <p:sp>
          <p:nvSpPr>
            <p:cNvPr id="97" name="TextBox 97"/>
            <p:cNvSpPr txBox="1"/>
            <p:nvPr/>
          </p:nvSpPr>
          <p:spPr>
            <a:xfrm>
              <a:off x="7530465" y="28203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挑战</a:t>
              </a:r>
            </a:p>
          </p:txBody>
        </p:sp>
        <p:sp>
          <p:nvSpPr>
            <p:cNvPr id="98" name="Rectangle 98"/>
            <p:cNvSpPr/>
            <p:nvPr/>
          </p:nvSpPr>
          <p:spPr>
            <a:xfrm>
              <a:off x="8401050" y="1790700"/>
              <a:ext cx="3409950" cy="2114550"/>
            </a:xfrm>
            <a:prstGeom prst="roundRect">
              <a:avLst>
                <a:gd name="adj" fmla="val 3604"/>
              </a:avLst>
            </a:prstGeom>
            <a:solidFill>
              <a:srgbClr val="F2F2F2"/>
            </a:solidFill>
            <a:ln w="9525">
              <a:solidFill>
                <a:srgbClr val="E0E0E0"/>
              </a:solidFill>
            </a:ln>
          </p:spPr>
        </p:sp>
        <p:sp>
          <p:nvSpPr>
            <p:cNvPr id="99" name="Freeform 99"/>
            <p:cNvSpPr/>
            <p:nvPr/>
          </p:nvSpPr>
          <p:spPr>
            <a:xfrm>
              <a:off x="8410575" y="1800225"/>
              <a:ext cx="3390900" cy="276225"/>
            </a:xfrm>
            <a:custGeom>
              <a:avLst/>
              <a:gdLst/>
              <a:ahLst/>
              <a:cxnLst/>
              <a:rect l="l" t="t" r="r" b="b"/>
              <a:pathLst>
                <a:path w="3390900" h="276225">
                  <a:moveTo>
                    <a:pt x="0" y="276225"/>
                  </a:moveTo>
                  <a:lnTo>
                    <a:pt x="3390900" y="276225"/>
                  </a:lnTo>
                  <a:lnTo>
                    <a:pt x="3390900" y="66675"/>
                  </a:lnTo>
                  <a:cubicBezTo>
                    <a:pt x="3390900" y="29851"/>
                    <a:pt x="3361049" y="0"/>
                    <a:pt x="3324225" y="0"/>
                  </a:cubicBezTo>
                  <a:lnTo>
                    <a:pt x="66675" y="0"/>
                  </a:lnTo>
                  <a:cubicBezTo>
                    <a:pt x="29851" y="0"/>
                    <a:pt x="0" y="29851"/>
                    <a:pt x="0" y="66675"/>
                  </a:cubicBezTo>
                  <a:close/>
                </a:path>
              </a:pathLst>
            </a:custGeom>
            <a:solidFill>
              <a:srgbClr val="3A3A3A"/>
            </a:solidFill>
            <a:ln>
              <a:noFill/>
            </a:ln>
          </p:spPr>
        </p:sp>
        <p:sp>
          <p:nvSpPr>
            <p:cNvPr id="100" name="TextBox 100"/>
            <p:cNvSpPr txBox="1"/>
            <p:nvPr/>
          </p:nvSpPr>
          <p:spPr>
            <a:xfrm>
              <a:off x="9949536" y="18788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挑战</a:t>
              </a:r>
            </a:p>
          </p:txBody>
        </p:sp>
        <p:sp>
          <p:nvSpPr>
            <p:cNvPr id="101" name="Ellipse 101"/>
            <p:cNvSpPr/>
            <p:nvPr/>
          </p:nvSpPr>
          <p:spPr>
            <a:xfrm>
              <a:off x="8629650" y="2514600"/>
              <a:ext cx="495300" cy="495300"/>
            </a:xfrm>
            <a:prstGeom prst="ellipse">
              <a:avLst/>
            </a:prstGeom>
            <a:solidFill>
              <a:srgbClr val="FFFFFF"/>
            </a:solidFill>
            <a:ln w="13335">
              <a:solidFill>
                <a:srgbClr val="C8C8C8"/>
              </a:solidFill>
            </a:ln>
          </p:spPr>
        </p:sp>
        <p:grpSp>
          <p:nvGrpSpPr>
            <p:cNvPr id="104" name="Group 104"/>
            <p:cNvGrpSpPr/>
            <p:nvPr/>
          </p:nvGrpSpPr>
          <p:grpSpPr>
            <a:xfrm>
              <a:off x="8801100" y="2705100"/>
              <a:ext cx="152400" cy="133350"/>
              <a:chOff x="8801100" y="2705100"/>
              <a:chExt cx="152400" cy="133350"/>
            </a:xfrm>
          </p:grpSpPr>
          <p:sp>
            <p:nvSpPr>
              <p:cNvPr id="102" name="Freeform 102"/>
              <p:cNvSpPr/>
              <p:nvPr/>
            </p:nvSpPr>
            <p:spPr>
              <a:xfrm>
                <a:off x="8801100" y="2828925"/>
                <a:ext cx="152400" cy="9525"/>
              </a:xfrm>
              <a:custGeom>
                <a:avLst/>
                <a:gdLst/>
                <a:ahLst/>
                <a:cxnLst/>
                <a:rect l="l" t="t" r="r" b="b"/>
                <a:pathLst>
                  <a:path w="152400" h="9525">
                    <a:moveTo>
                      <a:pt x="0" y="0"/>
                    </a:moveTo>
                    <a:lnTo>
                      <a:pt x="152400" y="0"/>
                    </a:lnTo>
                  </a:path>
                </a:pathLst>
              </a:custGeom>
              <a:noFill/>
              <a:ln w="19050">
                <a:solidFill>
                  <a:srgbClr val="3A3A3A"/>
                </a:solidFill>
              </a:ln>
            </p:spPr>
          </p:sp>
          <p:sp>
            <p:nvSpPr>
              <p:cNvPr id="103" name="Freeform 103"/>
              <p:cNvSpPr/>
              <p:nvPr/>
            </p:nvSpPr>
            <p:spPr>
              <a:xfrm>
                <a:off x="8801100" y="270510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3A3A3A"/>
                </a:solidFill>
              </a:ln>
            </p:spPr>
          </p:sp>
        </p:grpSp>
        <p:sp>
          <p:nvSpPr>
            <p:cNvPr id="105" name="TextBox 105"/>
            <p:cNvSpPr txBox="1"/>
            <p:nvPr/>
          </p:nvSpPr>
          <p:spPr>
            <a:xfrm>
              <a:off x="8640991" y="3145393"/>
              <a:ext cx="47261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利差收窄</a:t>
              </a:r>
            </a:p>
          </p:txBody>
        </p:sp>
        <p:sp>
          <p:nvSpPr>
            <p:cNvPr id="106" name="Ellipse 106"/>
            <p:cNvSpPr/>
            <p:nvPr/>
          </p:nvSpPr>
          <p:spPr>
            <a:xfrm>
              <a:off x="9448800" y="2514600"/>
              <a:ext cx="495300" cy="495300"/>
            </a:xfrm>
            <a:prstGeom prst="ellipse">
              <a:avLst/>
            </a:prstGeom>
            <a:solidFill>
              <a:srgbClr val="FFFFFF"/>
            </a:solidFill>
            <a:ln w="13335">
              <a:solidFill>
                <a:srgbClr val="C8C8C8"/>
              </a:solidFill>
            </a:ln>
          </p:spPr>
        </p:sp>
        <p:grpSp>
          <p:nvGrpSpPr>
            <p:cNvPr id="113" name="Group 113"/>
            <p:cNvGrpSpPr/>
            <p:nvPr/>
          </p:nvGrpSpPr>
          <p:grpSpPr>
            <a:xfrm>
              <a:off x="9610725" y="2676525"/>
              <a:ext cx="171450" cy="171450"/>
              <a:chOff x="9610725" y="2676525"/>
              <a:chExt cx="171450" cy="171450"/>
            </a:xfrm>
          </p:grpSpPr>
          <p:sp>
            <p:nvSpPr>
              <p:cNvPr id="107" name="Freeform 107"/>
              <p:cNvSpPr/>
              <p:nvPr/>
            </p:nvSpPr>
            <p:spPr>
              <a:xfrm>
                <a:off x="9677400" y="27527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3A3A3A"/>
                </a:solidFill>
              </a:ln>
            </p:spPr>
          </p:sp>
          <p:sp>
            <p:nvSpPr>
              <p:cNvPr id="108" name="Freeform 108"/>
              <p:cNvSpPr/>
              <p:nvPr/>
            </p:nvSpPr>
            <p:spPr>
              <a:xfrm>
                <a:off x="9658350" y="281940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3A3A3A"/>
                </a:solidFill>
              </a:ln>
            </p:spPr>
          </p:sp>
          <p:sp>
            <p:nvSpPr>
              <p:cNvPr id="109" name="Freeform 109"/>
              <p:cNvSpPr/>
              <p:nvPr/>
            </p:nvSpPr>
            <p:spPr>
              <a:xfrm>
                <a:off x="9725025" y="26765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3A3A3A"/>
                </a:solidFill>
              </a:ln>
            </p:spPr>
          </p:sp>
          <p:sp>
            <p:nvSpPr>
              <p:cNvPr id="110" name="Freeform 110"/>
              <p:cNvSpPr/>
              <p:nvPr/>
            </p:nvSpPr>
            <p:spPr>
              <a:xfrm>
                <a:off x="9744075" y="274320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3A3A3A"/>
                </a:solidFill>
              </a:ln>
            </p:spPr>
          </p:sp>
          <p:sp>
            <p:nvSpPr>
              <p:cNvPr id="111" name="Freeform 111"/>
              <p:cNvSpPr/>
              <p:nvPr/>
            </p:nvSpPr>
            <p:spPr>
              <a:xfrm>
                <a:off x="9629775" y="26765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3A3A3A"/>
                </a:solidFill>
              </a:ln>
            </p:spPr>
          </p:sp>
          <p:sp>
            <p:nvSpPr>
              <p:cNvPr id="112" name="Freeform 112"/>
              <p:cNvSpPr/>
              <p:nvPr/>
            </p:nvSpPr>
            <p:spPr>
              <a:xfrm>
                <a:off x="9610725" y="274320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3A3A3A"/>
                </a:solidFill>
              </a:ln>
            </p:spPr>
          </p:sp>
        </p:grpSp>
        <p:sp>
          <p:nvSpPr>
            <p:cNvPr id="114" name="TextBox 114"/>
            <p:cNvSpPr txBox="1"/>
            <p:nvPr/>
          </p:nvSpPr>
          <p:spPr>
            <a:xfrm>
              <a:off x="9460141" y="3145393"/>
              <a:ext cx="47261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同业竞争</a:t>
              </a:r>
            </a:p>
          </p:txBody>
        </p:sp>
        <p:sp>
          <p:nvSpPr>
            <p:cNvPr id="115" name="Ellipse 115"/>
            <p:cNvSpPr/>
            <p:nvPr/>
          </p:nvSpPr>
          <p:spPr>
            <a:xfrm>
              <a:off x="10267950" y="2514600"/>
              <a:ext cx="495300" cy="495300"/>
            </a:xfrm>
            <a:prstGeom prst="ellipse">
              <a:avLst/>
            </a:prstGeom>
            <a:solidFill>
              <a:srgbClr val="FFFFFF"/>
            </a:solidFill>
            <a:ln w="13335">
              <a:solidFill>
                <a:srgbClr val="C8C8C8"/>
              </a:solidFill>
            </a:ln>
          </p:spPr>
        </p:sp>
        <p:grpSp>
          <p:nvGrpSpPr>
            <p:cNvPr id="121" name="Group 121"/>
            <p:cNvGrpSpPr/>
            <p:nvPr/>
          </p:nvGrpSpPr>
          <p:grpSpPr>
            <a:xfrm>
              <a:off x="10429875" y="2676525"/>
              <a:ext cx="171450" cy="171450"/>
              <a:chOff x="10429875" y="2676525"/>
              <a:chExt cx="171450" cy="171450"/>
            </a:xfrm>
          </p:grpSpPr>
          <p:sp>
            <p:nvSpPr>
              <p:cNvPr id="116" name="Freeform 116"/>
              <p:cNvSpPr/>
              <p:nvPr/>
            </p:nvSpPr>
            <p:spPr>
              <a:xfrm>
                <a:off x="10467975" y="2838450"/>
                <a:ext cx="95250" cy="9525"/>
              </a:xfrm>
              <a:custGeom>
                <a:avLst/>
                <a:gdLst/>
                <a:ahLst/>
                <a:cxnLst/>
                <a:rect l="l" t="t" r="r" b="b"/>
                <a:pathLst>
                  <a:path w="95250" h="9525">
                    <a:moveTo>
                      <a:pt x="0" y="0"/>
                    </a:moveTo>
                    <a:lnTo>
                      <a:pt x="95250" y="0"/>
                    </a:lnTo>
                  </a:path>
                </a:pathLst>
              </a:custGeom>
              <a:noFill/>
              <a:ln w="19050">
                <a:solidFill>
                  <a:srgbClr val="3A3A3A"/>
                </a:solidFill>
              </a:ln>
            </p:spPr>
          </p:sp>
          <p:sp>
            <p:nvSpPr>
              <p:cNvPr id="117" name="Freeform 117"/>
              <p:cNvSpPr/>
              <p:nvPr/>
            </p:nvSpPr>
            <p:spPr>
              <a:xfrm>
                <a:off x="10458450" y="2695575"/>
                <a:ext cx="114300" cy="9525"/>
              </a:xfrm>
              <a:custGeom>
                <a:avLst/>
                <a:gdLst/>
                <a:ahLst/>
                <a:cxnLst/>
                <a:rect l="l" t="t" r="r" b="b"/>
                <a:pathLst>
                  <a:path w="114300" h="9525">
                    <a:moveTo>
                      <a:pt x="0" y="9525"/>
                    </a:moveTo>
                    <a:lnTo>
                      <a:pt x="57150" y="0"/>
                    </a:lnTo>
                    <a:lnTo>
                      <a:pt x="114300" y="9525"/>
                    </a:lnTo>
                  </a:path>
                </a:pathLst>
              </a:custGeom>
              <a:noFill/>
              <a:ln w="19050">
                <a:solidFill>
                  <a:srgbClr val="3A3A3A"/>
                </a:solidFill>
              </a:ln>
            </p:spPr>
          </p:sp>
          <p:sp>
            <p:nvSpPr>
              <p:cNvPr id="118" name="Freeform 118"/>
              <p:cNvSpPr/>
              <p:nvPr/>
            </p:nvSpPr>
            <p:spPr>
              <a:xfrm>
                <a:off x="10515600" y="2676525"/>
                <a:ext cx="9525" cy="161925"/>
              </a:xfrm>
              <a:custGeom>
                <a:avLst/>
                <a:gdLst/>
                <a:ahLst/>
                <a:cxnLst/>
                <a:rect l="l" t="t" r="r" b="b"/>
                <a:pathLst>
                  <a:path w="9525" h="161925">
                    <a:moveTo>
                      <a:pt x="0" y="0"/>
                    </a:moveTo>
                    <a:lnTo>
                      <a:pt x="0" y="161925"/>
                    </a:lnTo>
                  </a:path>
                </a:pathLst>
              </a:custGeom>
              <a:noFill/>
              <a:ln w="19050">
                <a:solidFill>
                  <a:srgbClr val="3A3A3A"/>
                </a:solidFill>
              </a:ln>
            </p:spPr>
          </p:sp>
          <p:sp>
            <p:nvSpPr>
              <p:cNvPr id="119" name="Freeform 119"/>
              <p:cNvSpPr/>
              <p:nvPr/>
            </p:nvSpPr>
            <p:spPr>
              <a:xfrm>
                <a:off x="10429875" y="270510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3A3A3A"/>
                </a:solidFill>
              </a:ln>
            </p:spPr>
          </p:sp>
          <p:sp>
            <p:nvSpPr>
              <p:cNvPr id="120" name="Freeform 120"/>
              <p:cNvSpPr/>
              <p:nvPr/>
            </p:nvSpPr>
            <p:spPr>
              <a:xfrm>
                <a:off x="10544175" y="2705100"/>
                <a:ext cx="57150" cy="85725"/>
              </a:xfrm>
              <a:custGeom>
                <a:avLst/>
                <a:gdLst/>
                <a:ahLst/>
                <a:cxnLst/>
                <a:rect l="l" t="t" r="r" b="b"/>
                <a:pathLst>
                  <a:path w="57150" h="85725">
                    <a:moveTo>
                      <a:pt x="57150" y="57150"/>
                    </a:moveTo>
                    <a:lnTo>
                      <a:pt x="28575" y="0"/>
                    </a:lnTo>
                    <a:lnTo>
                      <a:pt x="0" y="57150"/>
                    </a:lnTo>
                    <a:cubicBezTo>
                      <a:pt x="0" y="72932"/>
                      <a:pt x="12793" y="85725"/>
                      <a:pt x="28575" y="85725"/>
                    </a:cubicBezTo>
                    <a:cubicBezTo>
                      <a:pt x="44357" y="85725"/>
                      <a:pt x="57150" y="72932"/>
                      <a:pt x="57150" y="57150"/>
                    </a:cubicBezTo>
                  </a:path>
                </a:pathLst>
              </a:custGeom>
              <a:noFill/>
              <a:ln w="19050">
                <a:solidFill>
                  <a:srgbClr val="3A3A3A"/>
                </a:solidFill>
              </a:ln>
            </p:spPr>
          </p:sp>
        </p:grpSp>
        <p:sp>
          <p:nvSpPr>
            <p:cNvPr id="122" name="TextBox 122"/>
            <p:cNvSpPr txBox="1"/>
            <p:nvPr/>
          </p:nvSpPr>
          <p:spPr>
            <a:xfrm>
              <a:off x="10279291" y="3145393"/>
              <a:ext cx="47261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信用分化</a:t>
              </a:r>
            </a:p>
          </p:txBody>
        </p:sp>
        <p:sp>
          <p:nvSpPr>
            <p:cNvPr id="123" name="Ellipse 123"/>
            <p:cNvSpPr/>
            <p:nvPr/>
          </p:nvSpPr>
          <p:spPr>
            <a:xfrm>
              <a:off x="11087100" y="2514600"/>
              <a:ext cx="495300" cy="495300"/>
            </a:xfrm>
            <a:prstGeom prst="ellipse">
              <a:avLst/>
            </a:prstGeom>
            <a:solidFill>
              <a:srgbClr val="FFFFFF"/>
            </a:solidFill>
            <a:ln w="13335">
              <a:solidFill>
                <a:srgbClr val="C8C8C8"/>
              </a:solidFill>
            </a:ln>
          </p:spPr>
        </p:sp>
        <p:grpSp>
          <p:nvGrpSpPr>
            <p:cNvPr id="129" name="Group 129"/>
            <p:cNvGrpSpPr/>
            <p:nvPr/>
          </p:nvGrpSpPr>
          <p:grpSpPr>
            <a:xfrm>
              <a:off x="11247278" y="2674778"/>
              <a:ext cx="175159" cy="182722"/>
              <a:chOff x="11247278" y="2674778"/>
              <a:chExt cx="175159" cy="182722"/>
            </a:xfrm>
          </p:grpSpPr>
          <p:sp>
            <p:nvSpPr>
              <p:cNvPr id="124" name="Freeform 124"/>
              <p:cNvSpPr/>
              <p:nvPr/>
            </p:nvSpPr>
            <p:spPr>
              <a:xfrm>
                <a:off x="11315700" y="2743200"/>
                <a:ext cx="106737" cy="106715"/>
              </a:xfrm>
              <a:custGeom>
                <a:avLst/>
                <a:gdLst/>
                <a:ahLst/>
                <a:cxnLst/>
                <a:rect l="l" t="t" r="r" b="b"/>
                <a:pathLst>
                  <a:path w="106737" h="106715">
                    <a:moveTo>
                      <a:pt x="28575" y="0"/>
                    </a:moveTo>
                    <a:lnTo>
                      <a:pt x="98898" y="70656"/>
                    </a:lnTo>
                    <a:cubicBezTo>
                      <a:pt x="106737" y="78467"/>
                      <a:pt x="106737" y="91116"/>
                      <a:pt x="98898" y="98917"/>
                    </a:cubicBezTo>
                    <a:cubicBezTo>
                      <a:pt x="91058" y="106715"/>
                      <a:pt x="78392" y="106715"/>
                      <a:pt x="70552" y="98917"/>
                    </a:cubicBezTo>
                    <a:lnTo>
                      <a:pt x="0" y="28575"/>
                    </a:lnTo>
                  </a:path>
                </a:pathLst>
              </a:custGeom>
              <a:noFill/>
              <a:ln w="19050">
                <a:solidFill>
                  <a:srgbClr val="3A3A3A"/>
                </a:solidFill>
              </a:ln>
            </p:spPr>
          </p:sp>
          <p:sp>
            <p:nvSpPr>
              <p:cNvPr id="125" name="Freeform 125"/>
              <p:cNvSpPr/>
              <p:nvPr/>
            </p:nvSpPr>
            <p:spPr>
              <a:xfrm>
                <a:off x="11277600" y="2733675"/>
                <a:ext cx="38100" cy="38100"/>
              </a:xfrm>
              <a:custGeom>
                <a:avLst/>
                <a:gdLst/>
                <a:ahLst/>
                <a:cxnLst/>
                <a:rect l="l" t="t" r="r" b="b"/>
                <a:pathLst>
                  <a:path w="38100" h="38100">
                    <a:moveTo>
                      <a:pt x="0" y="0"/>
                    </a:moveTo>
                    <a:lnTo>
                      <a:pt x="38100" y="38100"/>
                    </a:lnTo>
                  </a:path>
                </a:pathLst>
              </a:custGeom>
              <a:noFill/>
              <a:ln w="19050">
                <a:solidFill>
                  <a:srgbClr val="3A3A3A"/>
                </a:solidFill>
              </a:ln>
            </p:spPr>
          </p:sp>
          <p:sp>
            <p:nvSpPr>
              <p:cNvPr id="126" name="Freeform 126"/>
              <p:cNvSpPr/>
              <p:nvPr/>
            </p:nvSpPr>
            <p:spPr>
              <a:xfrm>
                <a:off x="11306175" y="2705100"/>
                <a:ext cx="38100" cy="38100"/>
              </a:xfrm>
              <a:custGeom>
                <a:avLst/>
                <a:gdLst/>
                <a:ahLst/>
                <a:cxnLst/>
                <a:rect l="l" t="t" r="r" b="b"/>
                <a:pathLst>
                  <a:path w="38100" h="38100">
                    <a:moveTo>
                      <a:pt x="38100" y="38100"/>
                    </a:moveTo>
                    <a:lnTo>
                      <a:pt x="0" y="0"/>
                    </a:lnTo>
                  </a:path>
                </a:pathLst>
              </a:custGeom>
              <a:noFill/>
              <a:ln w="19050">
                <a:solidFill>
                  <a:srgbClr val="3A3A3A"/>
                </a:solidFill>
              </a:ln>
            </p:spPr>
          </p:sp>
          <p:sp>
            <p:nvSpPr>
              <p:cNvPr id="127" name="Freeform 127"/>
              <p:cNvSpPr/>
              <p:nvPr/>
            </p:nvSpPr>
            <p:spPr>
              <a:xfrm>
                <a:off x="11249025" y="2847975"/>
                <a:ext cx="66675" cy="9525"/>
              </a:xfrm>
              <a:custGeom>
                <a:avLst/>
                <a:gdLst/>
                <a:ahLst/>
                <a:cxnLst/>
                <a:rect l="l" t="t" r="r" b="b"/>
                <a:pathLst>
                  <a:path w="66675" h="9525">
                    <a:moveTo>
                      <a:pt x="0" y="0"/>
                    </a:moveTo>
                    <a:lnTo>
                      <a:pt x="66675" y="0"/>
                    </a:lnTo>
                  </a:path>
                </a:pathLst>
              </a:custGeom>
              <a:noFill/>
              <a:ln w="19050">
                <a:solidFill>
                  <a:srgbClr val="3A3A3A"/>
                </a:solidFill>
              </a:ln>
            </p:spPr>
          </p:sp>
          <p:sp>
            <p:nvSpPr>
              <p:cNvPr id="128" name="Freeform 128"/>
              <p:cNvSpPr/>
              <p:nvPr/>
            </p:nvSpPr>
            <p:spPr>
              <a:xfrm>
                <a:off x="11247278" y="2674778"/>
                <a:ext cx="127318" cy="127318"/>
              </a:xfrm>
              <a:custGeom>
                <a:avLst/>
                <a:gdLst/>
                <a:ahLst/>
                <a:cxnLst/>
                <a:rect l="l" t="t" r="r" b="b"/>
                <a:pathLst>
                  <a:path w="127318" h="127318">
                    <a:moveTo>
                      <a:pt x="37875" y="123600"/>
                    </a:moveTo>
                    <a:lnTo>
                      <a:pt x="3718" y="89443"/>
                    </a:lnTo>
                    <a:cubicBezTo>
                      <a:pt x="0" y="85724"/>
                      <a:pt x="0" y="79695"/>
                      <a:pt x="3718" y="75975"/>
                    </a:cubicBezTo>
                    <a:lnTo>
                      <a:pt x="25559" y="54134"/>
                    </a:lnTo>
                    <a:lnTo>
                      <a:pt x="30322" y="58897"/>
                    </a:lnTo>
                    <a:lnTo>
                      <a:pt x="58897" y="30322"/>
                    </a:lnTo>
                    <a:lnTo>
                      <a:pt x="54134" y="25559"/>
                    </a:lnTo>
                    <a:lnTo>
                      <a:pt x="75975" y="3718"/>
                    </a:lnTo>
                    <a:cubicBezTo>
                      <a:pt x="79695" y="0"/>
                      <a:pt x="85724" y="0"/>
                      <a:pt x="89443" y="3718"/>
                    </a:cubicBezTo>
                    <a:lnTo>
                      <a:pt x="123600" y="37875"/>
                    </a:lnTo>
                    <a:cubicBezTo>
                      <a:pt x="127318" y="41595"/>
                      <a:pt x="127318" y="47624"/>
                      <a:pt x="123600" y="51343"/>
                    </a:cubicBezTo>
                    <a:lnTo>
                      <a:pt x="101759" y="73184"/>
                    </a:lnTo>
                    <a:lnTo>
                      <a:pt x="96997" y="68422"/>
                    </a:lnTo>
                    <a:lnTo>
                      <a:pt x="68422" y="96997"/>
                    </a:lnTo>
                    <a:lnTo>
                      <a:pt x="73184" y="101759"/>
                    </a:lnTo>
                    <a:lnTo>
                      <a:pt x="51343" y="123600"/>
                    </a:lnTo>
                    <a:cubicBezTo>
                      <a:pt x="47624" y="127318"/>
                      <a:pt x="41595" y="127318"/>
                      <a:pt x="37875" y="123600"/>
                    </a:cubicBezTo>
                  </a:path>
                </a:pathLst>
              </a:custGeom>
              <a:noFill/>
              <a:ln w="19050">
                <a:solidFill>
                  <a:srgbClr val="3A3A3A"/>
                </a:solidFill>
              </a:ln>
            </p:spPr>
          </p:sp>
        </p:grpSp>
        <p:sp>
          <p:nvSpPr>
            <p:cNvPr id="130" name="TextBox 130"/>
            <p:cNvSpPr txBox="1"/>
            <p:nvPr/>
          </p:nvSpPr>
          <p:spPr>
            <a:xfrm>
              <a:off x="11098441" y="3145393"/>
              <a:ext cx="47261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合规趋严</a:t>
              </a:r>
            </a:p>
          </p:txBody>
        </p:sp>
      </p:grpSp>
      <p:grpSp>
        <p:nvGrpSpPr>
          <p:cNvPr id="188" name="strategy-chain"/>
          <p:cNvGrpSpPr/>
          <p:nvPr/>
        </p:nvGrpSpPr>
        <p:grpSpPr>
          <a:xfrm>
            <a:off x="381000" y="4019550"/>
            <a:ext cx="11430000" cy="1123950"/>
            <a:chOff x="381000" y="4019550"/>
            <a:chExt cx="11430000" cy="1123950"/>
          </a:xfrm>
        </p:grpSpPr>
        <p:sp>
          <p:nvSpPr>
            <p:cNvPr id="132" name="Rectangle 132"/>
            <p:cNvSpPr/>
            <p:nvPr/>
          </p:nvSpPr>
          <p:spPr>
            <a:xfrm>
              <a:off x="381000" y="4019550"/>
              <a:ext cx="1047750" cy="1123950"/>
            </a:xfrm>
            <a:prstGeom prst="roundRect">
              <a:avLst>
                <a:gd name="adj" fmla="val 7273"/>
              </a:avLst>
            </a:prstGeom>
            <a:solidFill>
              <a:srgbClr val="FBEFEE"/>
            </a:solidFill>
            <a:ln w="9525">
              <a:solidFill>
                <a:srgbClr val="EDD5D2"/>
              </a:solidFill>
            </a:ln>
          </p:spPr>
        </p:sp>
        <p:sp>
          <p:nvSpPr>
            <p:cNvPr id="133" name="TextBox 133"/>
            <p:cNvSpPr txBox="1"/>
            <p:nvPr/>
          </p:nvSpPr>
          <p:spPr>
            <a:xfrm>
              <a:off x="597611" y="4507706"/>
              <a:ext cx="614528" cy="220028"/>
            </a:xfrm>
            <a:prstGeom prst="rect">
              <a:avLst/>
            </a:prstGeom>
            <a:noFill/>
            <a:ln>
              <a:noFill/>
            </a:ln>
          </p:spPr>
          <p:txBody>
            <a:bodyPr wrap="none" lIns="0" tIns="0" rIns="0" bIns="0" anchor="t" anchorCtr="0">
              <a:spAutoFit/>
            </a:bodyPr>
            <a:lstStyle/>
            <a:p>
              <a:pPr algn="ctr"/>
              <a:r>
                <a:rPr lang="zh-CN" sz="1120" b="1" dirty="0">
                  <a:solidFill>
                    <a:srgbClr val="1F1F1F"/>
                  </a:solidFill>
                  <a:latin typeface="+mn-lt"/>
                  <a:ea typeface="+mn-ea"/>
                  <a:cs typeface="+mn-cs"/>
                </a:rPr>
                <a:t>战略启示</a:t>
              </a:r>
            </a:p>
          </p:txBody>
        </p:sp>
        <p:sp>
          <p:nvSpPr>
            <p:cNvPr id="134" name="Line 134"/>
            <p:cNvSpPr/>
            <p:nvPr/>
          </p:nvSpPr>
          <p:spPr>
            <a:xfrm>
              <a:off x="685800" y="4781550"/>
              <a:ext cx="438150" cy="9525"/>
            </a:xfrm>
            <a:custGeom>
              <a:avLst/>
              <a:gdLst/>
              <a:ahLst/>
              <a:cxnLst/>
              <a:rect l="l" t="t" r="r" b="b"/>
              <a:pathLst>
                <a:path w="438150" h="9525">
                  <a:moveTo>
                    <a:pt x="0" y="0"/>
                  </a:moveTo>
                  <a:lnTo>
                    <a:pt x="438150" y="0"/>
                  </a:lnTo>
                </a:path>
              </a:pathLst>
            </a:custGeom>
            <a:noFill/>
            <a:ln w="14288">
              <a:solidFill>
                <a:srgbClr val="C9604E"/>
              </a:solidFill>
            </a:ln>
          </p:spPr>
        </p:sp>
        <p:sp>
          <p:nvSpPr>
            <p:cNvPr id="135" name="Rectangle 135"/>
            <p:cNvSpPr/>
            <p:nvPr/>
          </p:nvSpPr>
          <p:spPr>
            <a:xfrm>
              <a:off x="1543050" y="4019550"/>
              <a:ext cx="10267950" cy="1123950"/>
            </a:xfrm>
            <a:prstGeom prst="roundRect">
              <a:avLst>
                <a:gd name="adj" fmla="val 6780"/>
              </a:avLst>
            </a:prstGeom>
            <a:solidFill>
              <a:srgbClr val="FFFFFF"/>
            </a:solidFill>
            <a:ln w="9525">
              <a:solidFill>
                <a:srgbClr val="EDD5D2"/>
              </a:solidFill>
            </a:ln>
          </p:spPr>
        </p:sp>
        <p:sp>
          <p:nvSpPr>
            <p:cNvPr id="136" name="Ellipse 136"/>
            <p:cNvSpPr/>
            <p:nvPr/>
          </p:nvSpPr>
          <p:spPr>
            <a:xfrm>
              <a:off x="1676400" y="4352925"/>
              <a:ext cx="457200" cy="457200"/>
            </a:xfrm>
            <a:prstGeom prst="ellipse">
              <a:avLst/>
            </a:prstGeom>
            <a:solidFill>
              <a:srgbClr val="A52D12"/>
            </a:solidFill>
            <a:ln>
              <a:noFill/>
            </a:ln>
          </p:spPr>
        </p:sp>
        <p:grpSp>
          <p:nvGrpSpPr>
            <p:cNvPr id="139" name="Group 139"/>
            <p:cNvGrpSpPr/>
            <p:nvPr/>
          </p:nvGrpSpPr>
          <p:grpSpPr>
            <a:xfrm>
              <a:off x="1812131" y="4488656"/>
              <a:ext cx="185737" cy="185737"/>
              <a:chOff x="1812131" y="4488656"/>
              <a:chExt cx="185737" cy="185737"/>
            </a:xfrm>
          </p:grpSpPr>
          <p:sp>
            <p:nvSpPr>
              <p:cNvPr id="137" name="Freeform 137"/>
              <p:cNvSpPr/>
              <p:nvPr/>
            </p:nvSpPr>
            <p:spPr>
              <a:xfrm>
                <a:off x="1812131" y="44886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sp>
            <p:nvSpPr>
              <p:cNvPr id="138" name="Freeform 138"/>
              <p:cNvSpPr/>
              <p:nvPr/>
            </p:nvSpPr>
            <p:spPr>
              <a:xfrm>
                <a:off x="1874043" y="4560887"/>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140" name="TextBox 140"/>
            <p:cNvSpPr txBox="1"/>
            <p:nvPr/>
          </p:nvSpPr>
          <p:spPr>
            <a:xfrm>
              <a:off x="2223516" y="4401502"/>
              <a:ext cx="434721"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稳规模</a:t>
              </a:r>
            </a:p>
          </p:txBody>
        </p:sp>
        <p:sp>
          <p:nvSpPr>
            <p:cNvPr id="141" name="TextBox 141"/>
            <p:cNvSpPr txBox="1"/>
            <p:nvPr/>
          </p:nvSpPr>
          <p:spPr>
            <a:xfrm>
              <a:off x="2224088" y="460533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夯实基础</a:t>
              </a:r>
            </a:p>
          </p:txBody>
        </p:sp>
        <p:sp>
          <p:nvSpPr>
            <p:cNvPr id="142" name="TextBox 142"/>
            <p:cNvSpPr txBox="1"/>
            <p:nvPr/>
          </p:nvSpPr>
          <p:spPr>
            <a:xfrm>
              <a:off x="2224088" y="473868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稳健增长</a:t>
              </a:r>
            </a:p>
          </p:txBody>
        </p:sp>
        <p:sp>
          <p:nvSpPr>
            <p:cNvPr id="143" name="Freeform 143"/>
            <p:cNvSpPr/>
            <p:nvPr/>
          </p:nvSpPr>
          <p:spPr>
            <a:xfrm>
              <a:off x="3028950" y="4476750"/>
              <a:ext cx="171450" cy="209550"/>
            </a:xfrm>
            <a:prstGeom prst="chevron">
              <a:avLst/>
            </a:prstGeom>
            <a:solidFill>
              <a:srgbClr val="C9604E"/>
            </a:solidFill>
            <a:ln>
              <a:noFill/>
            </a:ln>
          </p:spPr>
        </p:sp>
        <p:sp>
          <p:nvSpPr>
            <p:cNvPr id="144" name="Ellipse 144"/>
            <p:cNvSpPr/>
            <p:nvPr/>
          </p:nvSpPr>
          <p:spPr>
            <a:xfrm>
              <a:off x="3390900" y="4352925"/>
              <a:ext cx="457200" cy="457200"/>
            </a:xfrm>
            <a:prstGeom prst="ellipse">
              <a:avLst/>
            </a:prstGeom>
            <a:solidFill>
              <a:srgbClr val="A52D12"/>
            </a:solidFill>
            <a:ln>
              <a:noFill/>
            </a:ln>
          </p:spPr>
        </p:sp>
        <p:grpSp>
          <p:nvGrpSpPr>
            <p:cNvPr id="147" name="Group 147"/>
            <p:cNvGrpSpPr/>
            <p:nvPr/>
          </p:nvGrpSpPr>
          <p:grpSpPr>
            <a:xfrm>
              <a:off x="3523755" y="4490430"/>
              <a:ext cx="186549" cy="186839"/>
              <a:chOff x="3523755" y="4490430"/>
              <a:chExt cx="186549" cy="186839"/>
            </a:xfrm>
          </p:grpSpPr>
          <p:sp>
            <p:nvSpPr>
              <p:cNvPr id="145" name="Freeform 145"/>
              <p:cNvSpPr/>
              <p:nvPr/>
            </p:nvSpPr>
            <p:spPr>
              <a:xfrm>
                <a:off x="3523755" y="4490430"/>
                <a:ext cx="186549" cy="186839"/>
              </a:xfrm>
              <a:custGeom>
                <a:avLst/>
                <a:gdLst/>
                <a:ahLst/>
                <a:cxnLst/>
                <a:rect l="l" t="t" r="r" b="b"/>
                <a:pathLst>
                  <a:path w="186549" h="186839">
                    <a:moveTo>
                      <a:pt x="75107" y="289"/>
                    </a:moveTo>
                    <a:cubicBezTo>
                      <a:pt x="30427" y="10647"/>
                      <a:pt x="0" y="52071"/>
                      <a:pt x="3479" y="97804"/>
                    </a:cubicBezTo>
                    <a:cubicBezTo>
                      <a:pt x="6959" y="143536"/>
                      <a:pt x="43303" y="179880"/>
                      <a:pt x="89035" y="183360"/>
                    </a:cubicBezTo>
                    <a:cubicBezTo>
                      <a:pt x="134768" y="186839"/>
                      <a:pt x="176192" y="156411"/>
                      <a:pt x="186549" y="111732"/>
                    </a:cubicBezTo>
                    <a:cubicBezTo>
                      <a:pt x="186549" y="106033"/>
                      <a:pt x="181930" y="101413"/>
                      <a:pt x="176231" y="101413"/>
                    </a:cubicBezTo>
                    <a:lnTo>
                      <a:pt x="106063" y="101413"/>
                    </a:lnTo>
                    <a:cubicBezTo>
                      <a:pt x="94666" y="101413"/>
                      <a:pt x="85426" y="92173"/>
                      <a:pt x="85426" y="80775"/>
                    </a:cubicBezTo>
                    <a:lnTo>
                      <a:pt x="85426" y="8544"/>
                    </a:lnTo>
                    <a:cubicBezTo>
                      <a:pt x="85167" y="6075"/>
                      <a:pt x="83930" y="3812"/>
                      <a:pt x="81991" y="2261"/>
                    </a:cubicBezTo>
                    <a:cubicBezTo>
                      <a:pt x="80052" y="710"/>
                      <a:pt x="77573" y="0"/>
                      <a:pt x="75107" y="289"/>
                    </a:cubicBezTo>
                  </a:path>
                </a:pathLst>
              </a:custGeom>
              <a:noFill/>
              <a:ln w="20637">
                <a:solidFill>
                  <a:srgbClr val="FFFFFF"/>
                </a:solidFill>
              </a:ln>
            </p:spPr>
          </p:sp>
          <p:sp>
            <p:nvSpPr>
              <p:cNvPr id="146" name="Freeform 146"/>
              <p:cNvSpPr/>
              <p:nvPr/>
            </p:nvSpPr>
            <p:spPr>
              <a:xfrm>
                <a:off x="3650456" y="4493816"/>
                <a:ext cx="56753" cy="56753"/>
              </a:xfrm>
              <a:custGeom>
                <a:avLst/>
                <a:gdLst/>
                <a:ahLst/>
                <a:cxnLst/>
                <a:rect l="l" t="t" r="r" b="b"/>
                <a:pathLst>
                  <a:path w="56753" h="56753">
                    <a:moveTo>
                      <a:pt x="0" y="0"/>
                    </a:moveTo>
                    <a:cubicBezTo>
                      <a:pt x="26538" y="9344"/>
                      <a:pt x="47409" y="30215"/>
                      <a:pt x="56753" y="56753"/>
                    </a:cubicBezTo>
                    <a:lnTo>
                      <a:pt x="10319" y="56753"/>
                    </a:lnTo>
                    <a:cubicBezTo>
                      <a:pt x="4620" y="56753"/>
                      <a:pt x="0" y="52133"/>
                      <a:pt x="0" y="46434"/>
                    </a:cubicBezTo>
                    <a:lnTo>
                      <a:pt x="0" y="0"/>
                    </a:lnTo>
                  </a:path>
                </a:pathLst>
              </a:custGeom>
              <a:noFill/>
              <a:ln w="20637">
                <a:solidFill>
                  <a:srgbClr val="FFFFFF"/>
                </a:solidFill>
              </a:ln>
            </p:spPr>
          </p:sp>
        </p:grpSp>
        <p:sp>
          <p:nvSpPr>
            <p:cNvPr id="148" name="TextBox 148"/>
            <p:cNvSpPr txBox="1"/>
            <p:nvPr/>
          </p:nvSpPr>
          <p:spPr>
            <a:xfrm>
              <a:off x="3938016" y="4401502"/>
              <a:ext cx="434721"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调结构</a:t>
              </a:r>
            </a:p>
          </p:txBody>
        </p:sp>
        <p:sp>
          <p:nvSpPr>
            <p:cNvPr id="149" name="TextBox 149"/>
            <p:cNvSpPr txBox="1"/>
            <p:nvPr/>
          </p:nvSpPr>
          <p:spPr>
            <a:xfrm>
              <a:off x="3938588" y="460533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优化结构</a:t>
              </a:r>
            </a:p>
          </p:txBody>
        </p:sp>
        <p:sp>
          <p:nvSpPr>
            <p:cNvPr id="150" name="TextBox 150"/>
            <p:cNvSpPr txBox="1"/>
            <p:nvPr/>
          </p:nvSpPr>
          <p:spPr>
            <a:xfrm>
              <a:off x="3938588" y="473868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提升质量</a:t>
              </a:r>
            </a:p>
          </p:txBody>
        </p:sp>
        <p:sp>
          <p:nvSpPr>
            <p:cNvPr id="151" name="Freeform 151"/>
            <p:cNvSpPr/>
            <p:nvPr/>
          </p:nvSpPr>
          <p:spPr>
            <a:xfrm>
              <a:off x="4743450" y="4476750"/>
              <a:ext cx="171450" cy="209550"/>
            </a:xfrm>
            <a:prstGeom prst="chevron">
              <a:avLst/>
            </a:prstGeom>
            <a:solidFill>
              <a:srgbClr val="C9604E"/>
            </a:solidFill>
            <a:ln>
              <a:noFill/>
            </a:ln>
          </p:spPr>
        </p:sp>
        <p:sp>
          <p:nvSpPr>
            <p:cNvPr id="152" name="Ellipse 152"/>
            <p:cNvSpPr/>
            <p:nvPr/>
          </p:nvSpPr>
          <p:spPr>
            <a:xfrm>
              <a:off x="5105400" y="4352925"/>
              <a:ext cx="457200" cy="457200"/>
            </a:xfrm>
            <a:prstGeom prst="ellipse">
              <a:avLst/>
            </a:prstGeom>
            <a:solidFill>
              <a:srgbClr val="A52D12"/>
            </a:solidFill>
            <a:ln>
              <a:noFill/>
            </a:ln>
          </p:spPr>
        </p:sp>
        <p:grpSp>
          <p:nvGrpSpPr>
            <p:cNvPr id="157" name="Group 157"/>
            <p:cNvGrpSpPr/>
            <p:nvPr/>
          </p:nvGrpSpPr>
          <p:grpSpPr>
            <a:xfrm>
              <a:off x="5241131" y="4488656"/>
              <a:ext cx="185737" cy="185738"/>
              <a:chOff x="5241131" y="4488656"/>
              <a:chExt cx="185737" cy="185738"/>
            </a:xfrm>
          </p:grpSpPr>
          <p:sp>
            <p:nvSpPr>
              <p:cNvPr id="153" name="Freeform 153"/>
              <p:cNvSpPr/>
              <p:nvPr/>
            </p:nvSpPr>
            <p:spPr>
              <a:xfrm>
                <a:off x="5261769" y="44886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154" name="Freeform 154"/>
              <p:cNvSpPr/>
              <p:nvPr/>
            </p:nvSpPr>
            <p:spPr>
              <a:xfrm>
                <a:off x="5241131" y="46124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155" name="Freeform 155"/>
              <p:cNvSpPr/>
              <p:nvPr/>
            </p:nvSpPr>
            <p:spPr>
              <a:xfrm>
                <a:off x="5375274" y="44899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156" name="Freeform 156"/>
              <p:cNvSpPr/>
              <p:nvPr/>
            </p:nvSpPr>
            <p:spPr>
              <a:xfrm>
                <a:off x="5395912" y="46140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158" name="TextBox 158"/>
            <p:cNvSpPr txBox="1"/>
            <p:nvPr/>
          </p:nvSpPr>
          <p:spPr>
            <a:xfrm>
              <a:off x="5652516" y="4401502"/>
              <a:ext cx="434721"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强客户</a:t>
              </a:r>
            </a:p>
          </p:txBody>
        </p:sp>
        <p:sp>
          <p:nvSpPr>
            <p:cNvPr id="159" name="TextBox 159"/>
            <p:cNvSpPr txBox="1"/>
            <p:nvPr/>
          </p:nvSpPr>
          <p:spPr>
            <a:xfrm>
              <a:off x="5653088" y="460533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深耕客户</a:t>
              </a:r>
            </a:p>
          </p:txBody>
        </p:sp>
        <p:sp>
          <p:nvSpPr>
            <p:cNvPr id="160" name="TextBox 160"/>
            <p:cNvSpPr txBox="1"/>
            <p:nvPr/>
          </p:nvSpPr>
          <p:spPr>
            <a:xfrm>
              <a:off x="5653088" y="473868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提升价值</a:t>
              </a:r>
            </a:p>
          </p:txBody>
        </p:sp>
        <p:sp>
          <p:nvSpPr>
            <p:cNvPr id="161" name="Freeform 161"/>
            <p:cNvSpPr/>
            <p:nvPr/>
          </p:nvSpPr>
          <p:spPr>
            <a:xfrm>
              <a:off x="6457950" y="4476750"/>
              <a:ext cx="171450" cy="209550"/>
            </a:xfrm>
            <a:prstGeom prst="chevron">
              <a:avLst/>
            </a:prstGeom>
            <a:solidFill>
              <a:srgbClr val="C9604E"/>
            </a:solidFill>
            <a:ln>
              <a:noFill/>
            </a:ln>
          </p:spPr>
        </p:sp>
        <p:sp>
          <p:nvSpPr>
            <p:cNvPr id="162" name="Ellipse 162"/>
            <p:cNvSpPr/>
            <p:nvPr/>
          </p:nvSpPr>
          <p:spPr>
            <a:xfrm>
              <a:off x="6819900" y="4352925"/>
              <a:ext cx="457200" cy="457200"/>
            </a:xfrm>
            <a:prstGeom prst="ellipse">
              <a:avLst/>
            </a:prstGeom>
            <a:solidFill>
              <a:srgbClr val="A52D12"/>
            </a:solidFill>
            <a:ln>
              <a:noFill/>
            </a:ln>
          </p:spPr>
        </p:sp>
        <p:grpSp>
          <p:nvGrpSpPr>
            <p:cNvPr id="168" name="Group 168"/>
            <p:cNvGrpSpPr/>
            <p:nvPr/>
          </p:nvGrpSpPr>
          <p:grpSpPr>
            <a:xfrm>
              <a:off x="6955631" y="4487273"/>
              <a:ext cx="185737" cy="187120"/>
              <a:chOff x="6955631" y="4487273"/>
              <a:chExt cx="185737" cy="187120"/>
            </a:xfrm>
          </p:grpSpPr>
          <p:sp>
            <p:nvSpPr>
              <p:cNvPr id="163" name="Freeform 163"/>
              <p:cNvSpPr/>
              <p:nvPr/>
            </p:nvSpPr>
            <p:spPr>
              <a:xfrm>
                <a:off x="7017543" y="4571206"/>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FFFFFF"/>
                </a:solidFill>
              </a:ln>
            </p:spPr>
          </p:sp>
          <p:sp>
            <p:nvSpPr>
              <p:cNvPr id="164" name="Freeform 164"/>
              <p:cNvSpPr/>
              <p:nvPr/>
            </p:nvSpPr>
            <p:spPr>
              <a:xfrm>
                <a:off x="7017543" y="4602162"/>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FFFFFF"/>
                </a:solidFill>
              </a:ln>
            </p:spPr>
          </p:sp>
          <p:sp>
            <p:nvSpPr>
              <p:cNvPr id="165" name="Freeform 165"/>
              <p:cNvSpPr/>
              <p:nvPr/>
            </p:nvSpPr>
            <p:spPr>
              <a:xfrm>
                <a:off x="6955631" y="4487273"/>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FFFFFF"/>
                </a:solidFill>
              </a:ln>
            </p:spPr>
          </p:sp>
          <p:sp>
            <p:nvSpPr>
              <p:cNvPr id="166" name="Freeform 166"/>
              <p:cNvSpPr/>
              <p:nvPr/>
            </p:nvSpPr>
            <p:spPr>
              <a:xfrm>
                <a:off x="6955631" y="4519612"/>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FFFFFF"/>
                </a:solidFill>
              </a:ln>
            </p:spPr>
          </p:sp>
          <p:sp>
            <p:nvSpPr>
              <p:cNvPr id="167" name="Freeform 167"/>
              <p:cNvSpPr/>
              <p:nvPr/>
            </p:nvSpPr>
            <p:spPr>
              <a:xfrm>
                <a:off x="6955631" y="4571206"/>
                <a:ext cx="20637" cy="20637"/>
              </a:xfrm>
              <a:custGeom>
                <a:avLst/>
                <a:gdLst/>
                <a:ahLst/>
                <a:cxnLst/>
                <a:rect l="l" t="t" r="r" b="b"/>
                <a:pathLst>
                  <a:path w="20637" h="20637">
                    <a:moveTo>
                      <a:pt x="0" y="0"/>
                    </a:moveTo>
                    <a:cubicBezTo>
                      <a:pt x="0" y="9163"/>
                      <a:pt x="7966" y="14962"/>
                      <a:pt x="20637" y="20637"/>
                    </a:cubicBezTo>
                  </a:path>
                </a:pathLst>
              </a:custGeom>
              <a:noFill/>
              <a:ln w="20637">
                <a:solidFill>
                  <a:srgbClr val="FFFFFF"/>
                </a:solidFill>
              </a:ln>
            </p:spPr>
          </p:sp>
        </p:grpSp>
        <p:sp>
          <p:nvSpPr>
            <p:cNvPr id="169" name="TextBox 169"/>
            <p:cNvSpPr txBox="1"/>
            <p:nvPr/>
          </p:nvSpPr>
          <p:spPr>
            <a:xfrm>
              <a:off x="7367016" y="4401502"/>
              <a:ext cx="434721"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提中收</a:t>
              </a:r>
            </a:p>
          </p:txBody>
        </p:sp>
        <p:sp>
          <p:nvSpPr>
            <p:cNvPr id="170" name="TextBox 170"/>
            <p:cNvSpPr txBox="1"/>
            <p:nvPr/>
          </p:nvSpPr>
          <p:spPr>
            <a:xfrm>
              <a:off x="7367588" y="460533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拓展中收</a:t>
              </a:r>
            </a:p>
          </p:txBody>
        </p:sp>
        <p:sp>
          <p:nvSpPr>
            <p:cNvPr id="171" name="TextBox 171"/>
            <p:cNvSpPr txBox="1"/>
            <p:nvPr/>
          </p:nvSpPr>
          <p:spPr>
            <a:xfrm>
              <a:off x="7367588" y="473868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增厚收益</a:t>
              </a:r>
            </a:p>
          </p:txBody>
        </p:sp>
        <p:sp>
          <p:nvSpPr>
            <p:cNvPr id="172" name="Freeform 172"/>
            <p:cNvSpPr/>
            <p:nvPr/>
          </p:nvSpPr>
          <p:spPr>
            <a:xfrm>
              <a:off x="8172450" y="4476750"/>
              <a:ext cx="171450" cy="209550"/>
            </a:xfrm>
            <a:prstGeom prst="chevron">
              <a:avLst/>
            </a:prstGeom>
            <a:solidFill>
              <a:srgbClr val="C9604E"/>
            </a:solidFill>
            <a:ln>
              <a:noFill/>
            </a:ln>
          </p:spPr>
        </p:sp>
        <p:sp>
          <p:nvSpPr>
            <p:cNvPr id="173" name="Ellipse 173"/>
            <p:cNvSpPr/>
            <p:nvPr/>
          </p:nvSpPr>
          <p:spPr>
            <a:xfrm>
              <a:off x="8534400" y="4352925"/>
              <a:ext cx="457200" cy="457200"/>
            </a:xfrm>
            <a:prstGeom prst="ellipse">
              <a:avLst/>
            </a:prstGeom>
            <a:solidFill>
              <a:srgbClr val="A52D12"/>
            </a:solidFill>
            <a:ln>
              <a:noFill/>
            </a:ln>
          </p:spPr>
        </p:sp>
        <p:grpSp>
          <p:nvGrpSpPr>
            <p:cNvPr id="176" name="Group 176"/>
            <p:cNvGrpSpPr/>
            <p:nvPr/>
          </p:nvGrpSpPr>
          <p:grpSpPr>
            <a:xfrm>
              <a:off x="8665601" y="4484126"/>
              <a:ext cx="194797" cy="194797"/>
              <a:chOff x="8665601" y="4484126"/>
              <a:chExt cx="194797" cy="194797"/>
            </a:xfrm>
          </p:grpSpPr>
          <p:sp>
            <p:nvSpPr>
              <p:cNvPr id="174" name="Freeform 174"/>
              <p:cNvSpPr/>
              <p:nvPr/>
            </p:nvSpPr>
            <p:spPr>
              <a:xfrm>
                <a:off x="8665601" y="4484126"/>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FFFFFF"/>
                </a:solidFill>
              </a:ln>
            </p:spPr>
          </p:sp>
          <p:sp>
            <p:nvSpPr>
              <p:cNvPr id="175" name="Freeform 175"/>
              <p:cNvSpPr/>
              <p:nvPr/>
            </p:nvSpPr>
            <p:spPr>
              <a:xfrm>
                <a:off x="8732043" y="4550568"/>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FFFFFF"/>
                </a:solidFill>
              </a:ln>
            </p:spPr>
          </p:sp>
        </p:grpSp>
        <p:sp>
          <p:nvSpPr>
            <p:cNvPr id="177" name="TextBox 177"/>
            <p:cNvSpPr txBox="1"/>
            <p:nvPr/>
          </p:nvSpPr>
          <p:spPr>
            <a:xfrm>
              <a:off x="9081516" y="4401502"/>
              <a:ext cx="434721"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控成本</a:t>
              </a:r>
            </a:p>
          </p:txBody>
        </p:sp>
        <p:sp>
          <p:nvSpPr>
            <p:cNvPr id="178" name="TextBox 178"/>
            <p:cNvSpPr txBox="1"/>
            <p:nvPr/>
          </p:nvSpPr>
          <p:spPr>
            <a:xfrm>
              <a:off x="9082088" y="460533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精益管理</a:t>
              </a:r>
            </a:p>
          </p:txBody>
        </p:sp>
        <p:sp>
          <p:nvSpPr>
            <p:cNvPr id="179" name="TextBox 179"/>
            <p:cNvSpPr txBox="1"/>
            <p:nvPr/>
          </p:nvSpPr>
          <p:spPr>
            <a:xfrm>
              <a:off x="9082088" y="473868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降本增效</a:t>
              </a:r>
            </a:p>
          </p:txBody>
        </p:sp>
        <p:sp>
          <p:nvSpPr>
            <p:cNvPr id="180" name="Freeform 180"/>
            <p:cNvSpPr/>
            <p:nvPr/>
          </p:nvSpPr>
          <p:spPr>
            <a:xfrm>
              <a:off x="9886950" y="4476750"/>
              <a:ext cx="171450" cy="209550"/>
            </a:xfrm>
            <a:prstGeom prst="chevron">
              <a:avLst/>
            </a:prstGeom>
            <a:solidFill>
              <a:srgbClr val="C9604E"/>
            </a:solidFill>
            <a:ln>
              <a:noFill/>
            </a:ln>
          </p:spPr>
        </p:sp>
        <p:sp>
          <p:nvSpPr>
            <p:cNvPr id="181" name="Ellipse 181"/>
            <p:cNvSpPr/>
            <p:nvPr/>
          </p:nvSpPr>
          <p:spPr>
            <a:xfrm>
              <a:off x="10248900" y="4352925"/>
              <a:ext cx="457200" cy="457200"/>
            </a:xfrm>
            <a:prstGeom prst="ellipse">
              <a:avLst/>
            </a:prstGeom>
            <a:solidFill>
              <a:srgbClr val="A52D12"/>
            </a:solidFill>
            <a:ln>
              <a:noFill/>
            </a:ln>
          </p:spPr>
        </p:sp>
        <p:grpSp>
          <p:nvGrpSpPr>
            <p:cNvPr id="184" name="Group 184"/>
            <p:cNvGrpSpPr/>
            <p:nvPr/>
          </p:nvGrpSpPr>
          <p:grpSpPr>
            <a:xfrm>
              <a:off x="10370706" y="4488656"/>
              <a:ext cx="201506" cy="185737"/>
              <a:chOff x="10370706" y="4488656"/>
              <a:chExt cx="201506" cy="185737"/>
            </a:xfrm>
          </p:grpSpPr>
          <p:sp>
            <p:nvSpPr>
              <p:cNvPr id="182" name="Freeform 182"/>
              <p:cNvSpPr/>
              <p:nvPr/>
            </p:nvSpPr>
            <p:spPr>
              <a:xfrm>
                <a:off x="10370706" y="448865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FFFFFF"/>
                </a:solidFill>
              </a:ln>
            </p:spPr>
          </p:sp>
          <p:sp>
            <p:nvSpPr>
              <p:cNvPr id="183" name="Freeform 183"/>
              <p:cNvSpPr/>
              <p:nvPr/>
            </p:nvSpPr>
            <p:spPr>
              <a:xfrm>
                <a:off x="10508456" y="4633118"/>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grpSp>
        <p:sp>
          <p:nvSpPr>
            <p:cNvPr id="185" name="TextBox 185"/>
            <p:cNvSpPr txBox="1"/>
            <p:nvPr/>
          </p:nvSpPr>
          <p:spPr>
            <a:xfrm>
              <a:off x="10796016" y="4401502"/>
              <a:ext cx="434721"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防风险</a:t>
              </a:r>
            </a:p>
          </p:txBody>
        </p:sp>
        <p:sp>
          <p:nvSpPr>
            <p:cNvPr id="186" name="TextBox 186"/>
            <p:cNvSpPr txBox="1"/>
            <p:nvPr/>
          </p:nvSpPr>
          <p:spPr>
            <a:xfrm>
              <a:off x="10796588" y="460533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全面风控</a:t>
              </a:r>
            </a:p>
          </p:txBody>
        </p:sp>
        <p:sp>
          <p:nvSpPr>
            <p:cNvPr id="187" name="TextBox 187"/>
            <p:cNvSpPr txBox="1"/>
            <p:nvPr/>
          </p:nvSpPr>
          <p:spPr>
            <a:xfrm>
              <a:off x="10796588" y="4738688"/>
              <a:ext cx="413385"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守住底线</a:t>
              </a:r>
            </a:p>
          </p:txBody>
        </p:sp>
      </p:grpSp>
      <p:grpSp>
        <p:nvGrpSpPr>
          <p:cNvPr id="196" name="slogan-banner"/>
          <p:cNvGrpSpPr/>
          <p:nvPr/>
        </p:nvGrpSpPr>
        <p:grpSpPr>
          <a:xfrm>
            <a:off x="381000" y="5676900"/>
            <a:ext cx="11430000" cy="762000"/>
            <a:chOff x="381000" y="5676900"/>
            <a:chExt cx="11430000" cy="762000"/>
          </a:xfrm>
        </p:grpSpPr>
        <p:sp>
          <p:nvSpPr>
            <p:cNvPr id="189" name="Rectangle 189"/>
            <p:cNvSpPr/>
            <p:nvPr/>
          </p:nvSpPr>
          <p:spPr>
            <a:xfrm>
              <a:off x="381000" y="5676900"/>
              <a:ext cx="11430000" cy="762000"/>
            </a:xfrm>
            <a:prstGeom prst="rect">
              <a:avLst/>
            </a:prstGeom>
            <a:solidFill>
              <a:srgbClr val="A52D12"/>
            </a:solidFill>
            <a:ln>
              <a:noFill/>
            </a:ln>
          </p:spPr>
        </p:sp>
        <p:sp>
          <p:nvSpPr>
            <p:cNvPr id="190" name="Ellipse 190"/>
            <p:cNvSpPr/>
            <p:nvPr/>
          </p:nvSpPr>
          <p:spPr>
            <a:xfrm>
              <a:off x="685800" y="5829300"/>
              <a:ext cx="457200" cy="457200"/>
            </a:xfrm>
            <a:prstGeom prst="ellipse">
              <a:avLst/>
            </a:prstGeom>
            <a:solidFill>
              <a:srgbClr val="FFFFFF">
                <a:alpha val="15000"/>
              </a:srgbClr>
            </a:solidFill>
            <a:ln>
              <a:noFill/>
            </a:ln>
          </p:spPr>
        </p:sp>
        <p:grpSp>
          <p:nvGrpSpPr>
            <p:cNvPr id="194" name="Group 194"/>
            <p:cNvGrpSpPr/>
            <p:nvPr/>
          </p:nvGrpSpPr>
          <p:grpSpPr>
            <a:xfrm>
              <a:off x="814388" y="5957888"/>
              <a:ext cx="200026" cy="200026"/>
              <a:chOff x="814388" y="5957888"/>
              <a:chExt cx="200026" cy="200026"/>
            </a:xfrm>
          </p:grpSpPr>
          <p:sp>
            <p:nvSpPr>
              <p:cNvPr id="191" name="Freeform 191"/>
              <p:cNvSpPr/>
              <p:nvPr/>
            </p:nvSpPr>
            <p:spPr>
              <a:xfrm>
                <a:off x="903288" y="604678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E8988A"/>
                </a:solidFill>
              </a:ln>
            </p:spPr>
          </p:sp>
          <p:sp>
            <p:nvSpPr>
              <p:cNvPr id="192" name="Freeform 192"/>
              <p:cNvSpPr/>
              <p:nvPr/>
            </p:nvSpPr>
            <p:spPr>
              <a:xfrm>
                <a:off x="858838" y="6002338"/>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22225">
                <a:solidFill>
                  <a:srgbClr val="E8988A"/>
                </a:solidFill>
              </a:ln>
            </p:spPr>
          </p:sp>
          <p:sp>
            <p:nvSpPr>
              <p:cNvPr id="193" name="Freeform 193"/>
              <p:cNvSpPr/>
              <p:nvPr/>
            </p:nvSpPr>
            <p:spPr>
              <a:xfrm>
                <a:off x="814388" y="59578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E8988A"/>
                </a:solidFill>
              </a:ln>
            </p:spPr>
          </p:sp>
        </p:grpSp>
        <p:sp>
          <p:nvSpPr>
            <p:cNvPr id="195" name="TextBox 195"/>
            <p:cNvSpPr txBox="1"/>
            <p:nvPr/>
          </p:nvSpPr>
          <p:spPr>
            <a:xfrm>
              <a:off x="1326642" y="5978842"/>
              <a:ext cx="764667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把握结构性机遇，积极应对经营压力，以高质量发展穿越周期，服务实体经济，创造长期价值。</a:t>
              </a:r>
            </a:p>
          </p:txBody>
        </p:sp>
      </p:gr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15​</a:t>
              </a:r>
            </a:p>
          </p:txBody>
        </p:sp>
        <p:sp>
          <p:nvSpPr>
            <p:cNvPr id="4" name="TextBox 4"/>
            <p:cNvSpPr txBox="1"/>
            <p:nvPr/>
          </p:nvSpPr>
          <p:spPr>
            <a:xfrm>
              <a:off x="942594" y="189548"/>
              <a:ext cx="6121908" cy="381381"/>
            </a:xfrm>
            <a:prstGeom prst="rect">
              <a:avLst/>
            </a:prstGeom>
            <a:noFill/>
            <a:ln>
              <a:noFill/>
            </a:ln>
          </p:spPr>
          <p:txBody>
            <a:bodyPr wrap="none" lIns="0" tIns="0" rIns="0" bIns="0" anchor="t" anchorCtr="0">
              <a:spAutoFit/>
            </a:bodyPr>
            <a:lstStyle/>
            <a:p>
              <a:pPr algn="l"/>
              <a:r>
                <a:rPr lang="zh-CN" sz="1950" b="1" dirty="0">
                  <a:solidFill>
                    <a:srgbClr val="A52D12"/>
                  </a:solidFill>
                  <a:latin typeface="SimSun"/>
                  <a:ea typeface="SimSun"/>
                  <a:cs typeface="SimSun"/>
                </a:rPr>
                <a:t>锚定全年目标，以六大攻坚推动经营质效全面跃升</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57" name="annual-targets"/>
          <p:cNvGrpSpPr/>
          <p:nvPr/>
        </p:nvGrpSpPr>
        <p:grpSpPr>
          <a:xfrm>
            <a:off x="381000" y="675799"/>
            <a:ext cx="11430000" cy="962501"/>
            <a:chOff x="381000" y="675799"/>
            <a:chExt cx="11430000" cy="962501"/>
          </a:xfrm>
        </p:grpSpPr>
        <p:sp>
          <p:nvSpPr>
            <p:cNvPr id="7" name="Rectangle 7"/>
            <p:cNvSpPr/>
            <p:nvPr/>
          </p:nvSpPr>
          <p:spPr>
            <a:xfrm>
              <a:off x="381000" y="704850"/>
              <a:ext cx="76200" cy="76200"/>
            </a:xfrm>
            <a:prstGeom prst="rect">
              <a:avLst/>
            </a:prstGeom>
            <a:solidFill>
              <a:srgbClr val="A52D12"/>
            </a:solidFill>
            <a:ln>
              <a:noFill/>
            </a:ln>
          </p:spPr>
        </p:sp>
        <p:sp>
          <p:nvSpPr>
            <p:cNvPr id="8" name="TextBox 8"/>
            <p:cNvSpPr txBox="1"/>
            <p:nvPr/>
          </p:nvSpPr>
          <p:spPr>
            <a:xfrm>
              <a:off x="528447" y="675799"/>
              <a:ext cx="669544"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年度目标卡</a:t>
              </a:r>
            </a:p>
          </p:txBody>
        </p:sp>
        <p:sp>
          <p:nvSpPr>
            <p:cNvPr id="9" name="Rectangle 9"/>
            <p:cNvSpPr/>
            <p:nvPr/>
          </p:nvSpPr>
          <p:spPr>
            <a:xfrm>
              <a:off x="381000" y="876300"/>
              <a:ext cx="1809750" cy="762000"/>
            </a:xfrm>
            <a:prstGeom prst="roundRect">
              <a:avLst>
                <a:gd name="adj" fmla="val 10000"/>
              </a:avLst>
            </a:prstGeom>
            <a:solidFill>
              <a:srgbClr val="FDF6F5"/>
            </a:solidFill>
            <a:ln w="9525">
              <a:solidFill>
                <a:srgbClr val="EDD5D2"/>
              </a:solidFill>
            </a:ln>
          </p:spPr>
        </p:sp>
        <p:sp>
          <p:nvSpPr>
            <p:cNvPr id="10" name="Ellipse 10"/>
            <p:cNvSpPr/>
            <p:nvPr/>
          </p:nvSpPr>
          <p:spPr>
            <a:xfrm>
              <a:off x="504825" y="1095375"/>
              <a:ext cx="323850" cy="323850"/>
            </a:xfrm>
            <a:prstGeom prst="ellipse">
              <a:avLst/>
            </a:prstGeom>
            <a:solidFill>
              <a:srgbClr val="A52D12"/>
            </a:solidFill>
            <a:ln>
              <a:noFill/>
            </a:ln>
          </p:spPr>
        </p:sp>
        <p:grpSp>
          <p:nvGrpSpPr>
            <p:cNvPr id="13" name="Group 13"/>
            <p:cNvGrpSpPr/>
            <p:nvPr/>
          </p:nvGrpSpPr>
          <p:grpSpPr>
            <a:xfrm>
              <a:off x="609600" y="1200150"/>
              <a:ext cx="114300" cy="114300"/>
              <a:chOff x="609600" y="1200150"/>
              <a:chExt cx="114300" cy="114300"/>
            </a:xfrm>
          </p:grpSpPr>
          <p:sp>
            <p:nvSpPr>
              <p:cNvPr id="11" name="Freeform 11"/>
              <p:cNvSpPr/>
              <p:nvPr/>
            </p:nvSpPr>
            <p:spPr>
              <a:xfrm>
                <a:off x="609600" y="1200150"/>
                <a:ext cx="107156" cy="114300"/>
              </a:xfrm>
              <a:custGeom>
                <a:avLst/>
                <a:gdLst/>
                <a:ahLst/>
                <a:cxnLst/>
                <a:rect l="l" t="t" r="r" b="b"/>
                <a:pathLst>
                  <a:path w="107156" h="114300">
                    <a:moveTo>
                      <a:pt x="92869" y="28575"/>
                    </a:moveTo>
                    <a:lnTo>
                      <a:pt x="92869" y="7144"/>
                    </a:lnTo>
                    <a:cubicBezTo>
                      <a:pt x="92869" y="3198"/>
                      <a:pt x="89670" y="0"/>
                      <a:pt x="85725" y="0"/>
                    </a:cubicBezTo>
                    <a:lnTo>
                      <a:pt x="14288" y="0"/>
                    </a:lnTo>
                    <a:cubicBezTo>
                      <a:pt x="6397" y="0"/>
                      <a:pt x="0" y="6397"/>
                      <a:pt x="0" y="14288"/>
                    </a:cubicBezTo>
                    <a:cubicBezTo>
                      <a:pt x="0" y="22178"/>
                      <a:pt x="6397" y="28575"/>
                      <a:pt x="14288" y="28575"/>
                    </a:cubicBezTo>
                    <a:lnTo>
                      <a:pt x="100012" y="28575"/>
                    </a:lnTo>
                    <a:cubicBezTo>
                      <a:pt x="103958" y="28575"/>
                      <a:pt x="107156" y="31773"/>
                      <a:pt x="107156" y="35719"/>
                    </a:cubicBezTo>
                    <a:lnTo>
                      <a:pt x="107156" y="57150"/>
                    </a:lnTo>
                    <a:moveTo>
                      <a:pt x="107156" y="85725"/>
                    </a:moveTo>
                    <a:lnTo>
                      <a:pt x="107156" y="107156"/>
                    </a:lnTo>
                    <a:cubicBezTo>
                      <a:pt x="107156" y="111102"/>
                      <a:pt x="103958" y="114300"/>
                      <a:pt x="100012" y="114300"/>
                    </a:cubicBezTo>
                    <a:lnTo>
                      <a:pt x="14288" y="114300"/>
                    </a:lnTo>
                    <a:cubicBezTo>
                      <a:pt x="6397" y="114300"/>
                      <a:pt x="0" y="107903"/>
                      <a:pt x="0" y="100012"/>
                    </a:cubicBezTo>
                    <a:lnTo>
                      <a:pt x="0" y="14288"/>
                    </a:lnTo>
                  </a:path>
                </a:pathLst>
              </a:custGeom>
              <a:noFill/>
              <a:ln w="14288">
                <a:solidFill>
                  <a:srgbClr val="FFFFFF"/>
                </a:solidFill>
              </a:ln>
            </p:spPr>
          </p:sp>
          <p:sp>
            <p:nvSpPr>
              <p:cNvPr id="12" name="Freeform 12"/>
              <p:cNvSpPr/>
              <p:nvPr/>
            </p:nvSpPr>
            <p:spPr>
              <a:xfrm>
                <a:off x="681038" y="1257300"/>
                <a:ext cx="42862" cy="28575"/>
              </a:xfrm>
              <a:custGeom>
                <a:avLst/>
                <a:gdLst/>
                <a:ahLst/>
                <a:cxnLst/>
                <a:rect l="l" t="t" r="r" b="b"/>
                <a:pathLst>
                  <a:path w="42862" h="28575">
                    <a:moveTo>
                      <a:pt x="42862" y="0"/>
                    </a:moveTo>
                    <a:lnTo>
                      <a:pt x="42862" y="28575"/>
                    </a:lnTo>
                    <a:lnTo>
                      <a:pt x="14288" y="28575"/>
                    </a:lnTo>
                    <a:cubicBezTo>
                      <a:pt x="6397" y="28575"/>
                      <a:pt x="0" y="22178"/>
                      <a:pt x="0" y="14288"/>
                    </a:cubicBezTo>
                    <a:cubicBezTo>
                      <a:pt x="0" y="6397"/>
                      <a:pt x="6397" y="0"/>
                      <a:pt x="14288" y="0"/>
                    </a:cubicBezTo>
                    <a:lnTo>
                      <a:pt x="42862" y="0"/>
                    </a:lnTo>
                  </a:path>
                </a:pathLst>
              </a:custGeom>
              <a:noFill/>
              <a:ln w="14288">
                <a:solidFill>
                  <a:srgbClr val="FFFFFF"/>
                </a:solidFill>
              </a:ln>
            </p:spPr>
          </p:sp>
        </p:grpSp>
        <p:sp>
          <p:nvSpPr>
            <p:cNvPr id="14" name="TextBox 14"/>
            <p:cNvSpPr txBox="1"/>
            <p:nvPr/>
          </p:nvSpPr>
          <p:spPr>
            <a:xfrm>
              <a:off x="928688" y="1087993"/>
              <a:ext cx="472618"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存款新增</a:t>
              </a:r>
            </a:p>
          </p:txBody>
        </p:sp>
        <p:sp>
          <p:nvSpPr>
            <p:cNvPr id="15" name="TextBox 15"/>
            <p:cNvSpPr txBox="1"/>
            <p:nvPr/>
          </p:nvSpPr>
          <p:spPr>
            <a:xfrm>
              <a:off x="926592" y="1283018"/>
              <a:ext cx="808428" cy="264033"/>
            </a:xfrm>
            <a:prstGeom prst="rect">
              <a:avLst/>
            </a:prstGeom>
            <a:noFill/>
            <a:ln>
              <a:noFill/>
            </a:ln>
          </p:spPr>
          <p:txBody>
            <a:bodyPr wrap="none" lIns="0" tIns="0" rIns="0" bIns="0" anchor="t" anchorCtr="0">
              <a:spAutoFit/>
            </a:bodyPr>
            <a:lstStyle/>
            <a:p>
              <a:pPr algn="l"/>
              <a:r>
                <a:rPr lang="zh-CN" sz="1350" b="1" dirty="0">
                  <a:solidFill>
                    <a:srgbClr val="A52D12"/>
                  </a:solidFill>
                  <a:latin typeface="+mn-lt"/>
                  <a:ea typeface="+mn-ea"/>
                  <a:cs typeface="+mn-cs"/>
                </a:rPr>
                <a:t xml:space="preserve">1200 </a:t>
              </a:r>
              <a:r>
                <a:rPr lang="zh-CN" sz="790" dirty="0">
                  <a:solidFill>
                    <a:srgbClr val="A52D12"/>
                  </a:solidFill>
                  <a:latin typeface="+mn-lt"/>
                  <a:ea typeface="+mn-ea"/>
                  <a:cs typeface="+mn-cs"/>
                </a:rPr>
                <a:t>亿元</a:t>
              </a:r>
              <a:r>
                <a:rPr lang="zh-CN" sz="1350" b="1" dirty="0">
                  <a:solidFill>
                    <a:srgbClr val="A52D12"/>
                  </a:solidFill>
                  <a:latin typeface="+mn-lt"/>
                  <a:ea typeface="+mn-ea"/>
                  <a:cs typeface="+mn-cs"/>
                </a:rPr>
                <a:t>​</a:t>
              </a:r>
            </a:p>
          </p:txBody>
        </p:sp>
        <p:sp>
          <p:nvSpPr>
            <p:cNvPr id="16" name="Rectangle 16"/>
            <p:cNvSpPr/>
            <p:nvPr/>
          </p:nvSpPr>
          <p:spPr>
            <a:xfrm>
              <a:off x="2305050" y="876300"/>
              <a:ext cx="1809750" cy="762000"/>
            </a:xfrm>
            <a:prstGeom prst="roundRect">
              <a:avLst>
                <a:gd name="adj" fmla="val 10000"/>
              </a:avLst>
            </a:prstGeom>
            <a:solidFill>
              <a:srgbClr val="FDF6F5"/>
            </a:solidFill>
            <a:ln w="9525">
              <a:solidFill>
                <a:srgbClr val="EDD5D2"/>
              </a:solidFill>
            </a:ln>
          </p:spPr>
        </p:sp>
        <p:sp>
          <p:nvSpPr>
            <p:cNvPr id="17" name="Ellipse 17"/>
            <p:cNvSpPr/>
            <p:nvPr/>
          </p:nvSpPr>
          <p:spPr>
            <a:xfrm>
              <a:off x="2428875" y="1095375"/>
              <a:ext cx="323850" cy="323850"/>
            </a:xfrm>
            <a:prstGeom prst="ellipse">
              <a:avLst/>
            </a:prstGeom>
            <a:solidFill>
              <a:srgbClr val="A52D12"/>
            </a:solidFill>
            <a:ln>
              <a:noFill/>
            </a:ln>
          </p:spPr>
        </p:sp>
        <p:grpSp>
          <p:nvGrpSpPr>
            <p:cNvPr id="23" name="Group 23"/>
            <p:cNvGrpSpPr/>
            <p:nvPr/>
          </p:nvGrpSpPr>
          <p:grpSpPr>
            <a:xfrm>
              <a:off x="2526506" y="1192049"/>
              <a:ext cx="128588" cy="129545"/>
              <a:chOff x="2526506" y="1192049"/>
              <a:chExt cx="128588" cy="129545"/>
            </a:xfrm>
          </p:grpSpPr>
          <p:sp>
            <p:nvSpPr>
              <p:cNvPr id="18" name="Freeform 18"/>
              <p:cNvSpPr/>
              <p:nvPr/>
            </p:nvSpPr>
            <p:spPr>
              <a:xfrm>
                <a:off x="2569369" y="125015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FFFFFF"/>
                </a:solidFill>
              </a:ln>
            </p:spPr>
          </p:sp>
          <p:sp>
            <p:nvSpPr>
              <p:cNvPr id="19" name="Freeform 19"/>
              <p:cNvSpPr/>
              <p:nvPr/>
            </p:nvSpPr>
            <p:spPr>
              <a:xfrm>
                <a:off x="2569369" y="127158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FFFFFF"/>
                </a:solidFill>
              </a:ln>
            </p:spPr>
          </p:sp>
          <p:sp>
            <p:nvSpPr>
              <p:cNvPr id="20" name="Freeform 20"/>
              <p:cNvSpPr/>
              <p:nvPr/>
            </p:nvSpPr>
            <p:spPr>
              <a:xfrm>
                <a:off x="2526506" y="119204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FFFFFF"/>
                </a:solidFill>
              </a:ln>
            </p:spPr>
          </p:sp>
          <p:sp>
            <p:nvSpPr>
              <p:cNvPr id="21" name="Freeform 21"/>
              <p:cNvSpPr/>
              <p:nvPr/>
            </p:nvSpPr>
            <p:spPr>
              <a:xfrm>
                <a:off x="2526506" y="121443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FFFFFF"/>
                </a:solidFill>
              </a:ln>
            </p:spPr>
          </p:sp>
          <p:sp>
            <p:nvSpPr>
              <p:cNvPr id="22" name="Freeform 22"/>
              <p:cNvSpPr/>
              <p:nvPr/>
            </p:nvSpPr>
            <p:spPr>
              <a:xfrm>
                <a:off x="2526506" y="125015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FFFFFF"/>
                </a:solidFill>
              </a:ln>
            </p:spPr>
          </p:sp>
        </p:grpSp>
        <p:sp>
          <p:nvSpPr>
            <p:cNvPr id="24" name="TextBox 24"/>
            <p:cNvSpPr txBox="1"/>
            <p:nvPr/>
          </p:nvSpPr>
          <p:spPr>
            <a:xfrm>
              <a:off x="2852738" y="1087993"/>
              <a:ext cx="472618"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贷款新增</a:t>
              </a:r>
            </a:p>
          </p:txBody>
        </p:sp>
        <p:sp>
          <p:nvSpPr>
            <p:cNvPr id="25" name="TextBox 25"/>
            <p:cNvSpPr txBox="1"/>
            <p:nvPr/>
          </p:nvSpPr>
          <p:spPr>
            <a:xfrm>
              <a:off x="2850642" y="1283018"/>
              <a:ext cx="808428" cy="264033"/>
            </a:xfrm>
            <a:prstGeom prst="rect">
              <a:avLst/>
            </a:prstGeom>
            <a:noFill/>
            <a:ln>
              <a:noFill/>
            </a:ln>
          </p:spPr>
          <p:txBody>
            <a:bodyPr wrap="none" lIns="0" tIns="0" rIns="0" bIns="0" anchor="t" anchorCtr="0">
              <a:spAutoFit/>
            </a:bodyPr>
            <a:lstStyle/>
            <a:p>
              <a:pPr algn="l"/>
              <a:r>
                <a:rPr lang="zh-CN" sz="1350" b="1" dirty="0">
                  <a:solidFill>
                    <a:srgbClr val="A52D12"/>
                  </a:solidFill>
                  <a:latin typeface="+mn-lt"/>
                  <a:ea typeface="+mn-ea"/>
                  <a:cs typeface="+mn-cs"/>
                </a:rPr>
                <a:t xml:space="preserve">1050 </a:t>
              </a:r>
              <a:r>
                <a:rPr lang="zh-CN" sz="790" dirty="0">
                  <a:solidFill>
                    <a:srgbClr val="A52D12"/>
                  </a:solidFill>
                  <a:latin typeface="+mn-lt"/>
                  <a:ea typeface="+mn-ea"/>
                  <a:cs typeface="+mn-cs"/>
                </a:rPr>
                <a:t>亿元</a:t>
              </a:r>
              <a:r>
                <a:rPr lang="zh-CN" sz="1350" b="1" dirty="0">
                  <a:solidFill>
                    <a:srgbClr val="A52D12"/>
                  </a:solidFill>
                  <a:latin typeface="+mn-lt"/>
                  <a:ea typeface="+mn-ea"/>
                  <a:cs typeface="+mn-cs"/>
                </a:rPr>
                <a:t>​</a:t>
              </a:r>
            </a:p>
          </p:txBody>
        </p:sp>
        <p:sp>
          <p:nvSpPr>
            <p:cNvPr id="26" name="Rectangle 26"/>
            <p:cNvSpPr/>
            <p:nvPr/>
          </p:nvSpPr>
          <p:spPr>
            <a:xfrm>
              <a:off x="4229100" y="876300"/>
              <a:ext cx="1809750" cy="762000"/>
            </a:xfrm>
            <a:prstGeom prst="roundRect">
              <a:avLst>
                <a:gd name="adj" fmla="val 10000"/>
              </a:avLst>
            </a:prstGeom>
            <a:solidFill>
              <a:srgbClr val="FDF6F5"/>
            </a:solidFill>
            <a:ln w="9525">
              <a:solidFill>
                <a:srgbClr val="EDD5D2"/>
              </a:solidFill>
            </a:ln>
          </p:spPr>
        </p:sp>
        <p:sp>
          <p:nvSpPr>
            <p:cNvPr id="27" name="Ellipse 27"/>
            <p:cNvSpPr/>
            <p:nvPr/>
          </p:nvSpPr>
          <p:spPr>
            <a:xfrm>
              <a:off x="4352925" y="1095375"/>
              <a:ext cx="323850" cy="323850"/>
            </a:xfrm>
            <a:prstGeom prst="ellipse">
              <a:avLst/>
            </a:prstGeom>
            <a:solidFill>
              <a:srgbClr val="A52D12"/>
            </a:solidFill>
            <a:ln>
              <a:noFill/>
            </a:ln>
          </p:spPr>
        </p:sp>
        <p:grpSp>
          <p:nvGrpSpPr>
            <p:cNvPr id="32" name="Group 32"/>
            <p:cNvGrpSpPr/>
            <p:nvPr/>
          </p:nvGrpSpPr>
          <p:grpSpPr>
            <a:xfrm>
              <a:off x="4450556" y="1200150"/>
              <a:ext cx="128587" cy="123825"/>
              <a:chOff x="4450556" y="1200150"/>
              <a:chExt cx="128587" cy="123825"/>
            </a:xfrm>
          </p:grpSpPr>
          <p:sp>
            <p:nvSpPr>
              <p:cNvPr id="28" name="Freeform 28"/>
              <p:cNvSpPr/>
              <p:nvPr/>
            </p:nvSpPr>
            <p:spPr>
              <a:xfrm>
                <a:off x="4450556" y="125730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FFFFFF"/>
                </a:solidFill>
              </a:ln>
            </p:spPr>
          </p:sp>
          <p:sp>
            <p:nvSpPr>
              <p:cNvPr id="29" name="Freeform 29"/>
              <p:cNvSpPr/>
              <p:nvPr/>
            </p:nvSpPr>
            <p:spPr>
              <a:xfrm>
                <a:off x="4536281" y="122872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FFFFFF"/>
                </a:solidFill>
              </a:ln>
            </p:spPr>
          </p:sp>
          <p:sp>
            <p:nvSpPr>
              <p:cNvPr id="30" name="Freeform 30"/>
              <p:cNvSpPr/>
              <p:nvPr/>
            </p:nvSpPr>
            <p:spPr>
              <a:xfrm>
                <a:off x="4493419" y="120015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FFFFFF"/>
                </a:solidFill>
              </a:ln>
            </p:spPr>
          </p:sp>
          <p:sp>
            <p:nvSpPr>
              <p:cNvPr id="31" name="Freeform 31"/>
              <p:cNvSpPr/>
              <p:nvPr/>
            </p:nvSpPr>
            <p:spPr>
              <a:xfrm>
                <a:off x="4457700" y="1314450"/>
                <a:ext cx="100012" cy="9525"/>
              </a:xfrm>
              <a:custGeom>
                <a:avLst/>
                <a:gdLst/>
                <a:ahLst/>
                <a:cxnLst/>
                <a:rect l="l" t="t" r="r" b="b"/>
                <a:pathLst>
                  <a:path w="100012" h="9525">
                    <a:moveTo>
                      <a:pt x="0" y="0"/>
                    </a:moveTo>
                    <a:lnTo>
                      <a:pt x="100012" y="0"/>
                    </a:lnTo>
                  </a:path>
                </a:pathLst>
              </a:custGeom>
              <a:noFill/>
              <a:ln w="14288">
                <a:solidFill>
                  <a:srgbClr val="FFFFFF"/>
                </a:solidFill>
              </a:ln>
            </p:spPr>
          </p:sp>
        </p:grpSp>
        <p:sp>
          <p:nvSpPr>
            <p:cNvPr id="33" name="TextBox 33"/>
            <p:cNvSpPr txBox="1"/>
            <p:nvPr/>
          </p:nvSpPr>
          <p:spPr>
            <a:xfrm>
              <a:off x="4776788" y="1087993"/>
              <a:ext cx="704164"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营业收入同比</a:t>
              </a:r>
            </a:p>
          </p:txBody>
        </p:sp>
        <p:sp>
          <p:nvSpPr>
            <p:cNvPr id="34" name="TextBox 34"/>
            <p:cNvSpPr txBox="1"/>
            <p:nvPr/>
          </p:nvSpPr>
          <p:spPr>
            <a:xfrm>
              <a:off x="4774692" y="1283018"/>
              <a:ext cx="471693" cy="264033"/>
            </a:xfrm>
            <a:prstGeom prst="rect">
              <a:avLst/>
            </a:prstGeom>
            <a:noFill/>
            <a:ln>
              <a:noFill/>
            </a:ln>
          </p:spPr>
          <p:txBody>
            <a:bodyPr wrap="none" lIns="0" tIns="0" rIns="0" bIns="0" anchor="t" anchorCtr="0">
              <a:spAutoFit/>
            </a:bodyPr>
            <a:lstStyle/>
            <a:p>
              <a:pPr algn="l"/>
              <a:r>
                <a:rPr lang="zh-CN" sz="1350" b="1" dirty="0">
                  <a:solidFill>
                    <a:srgbClr val="A52D12"/>
                  </a:solidFill>
                  <a:latin typeface="+mn-lt"/>
                  <a:ea typeface="+mn-ea"/>
                  <a:cs typeface="+mn-cs"/>
                </a:rPr>
                <a:t>+7%​</a:t>
              </a:r>
            </a:p>
          </p:txBody>
        </p:sp>
        <p:sp>
          <p:nvSpPr>
            <p:cNvPr id="35" name="Rectangle 35"/>
            <p:cNvSpPr/>
            <p:nvPr/>
          </p:nvSpPr>
          <p:spPr>
            <a:xfrm>
              <a:off x="6153150" y="876300"/>
              <a:ext cx="1809750" cy="762000"/>
            </a:xfrm>
            <a:prstGeom prst="roundRect">
              <a:avLst>
                <a:gd name="adj" fmla="val 10000"/>
              </a:avLst>
            </a:prstGeom>
            <a:solidFill>
              <a:srgbClr val="FDF6F5"/>
            </a:solidFill>
            <a:ln w="9525">
              <a:solidFill>
                <a:srgbClr val="EDD5D2"/>
              </a:solidFill>
            </a:ln>
          </p:spPr>
        </p:sp>
        <p:sp>
          <p:nvSpPr>
            <p:cNvPr id="36" name="Ellipse 36"/>
            <p:cNvSpPr/>
            <p:nvPr/>
          </p:nvSpPr>
          <p:spPr>
            <a:xfrm>
              <a:off x="6276975" y="1095375"/>
              <a:ext cx="323850" cy="323850"/>
            </a:xfrm>
            <a:prstGeom prst="ellipse">
              <a:avLst/>
            </a:prstGeom>
            <a:solidFill>
              <a:srgbClr val="A52D12"/>
            </a:solidFill>
            <a:ln>
              <a:noFill/>
            </a:ln>
          </p:spPr>
        </p:sp>
        <p:grpSp>
          <p:nvGrpSpPr>
            <p:cNvPr id="39" name="Group 39"/>
            <p:cNvGrpSpPr/>
            <p:nvPr/>
          </p:nvGrpSpPr>
          <p:grpSpPr>
            <a:xfrm>
              <a:off x="6374606" y="1221581"/>
              <a:ext cx="128588" cy="71438"/>
              <a:chOff x="6374606" y="1221581"/>
              <a:chExt cx="128588" cy="71438"/>
            </a:xfrm>
          </p:grpSpPr>
          <p:sp>
            <p:nvSpPr>
              <p:cNvPr id="37" name="Freeform 37"/>
              <p:cNvSpPr/>
              <p:nvPr/>
            </p:nvSpPr>
            <p:spPr>
              <a:xfrm>
                <a:off x="6374606" y="1221581"/>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FFFFFF"/>
                </a:solidFill>
              </a:ln>
            </p:spPr>
          </p:sp>
          <p:sp>
            <p:nvSpPr>
              <p:cNvPr id="38" name="Freeform 38"/>
              <p:cNvSpPr/>
              <p:nvPr/>
            </p:nvSpPr>
            <p:spPr>
              <a:xfrm>
                <a:off x="6453188" y="1221581"/>
                <a:ext cx="50006" cy="50006"/>
              </a:xfrm>
              <a:custGeom>
                <a:avLst/>
                <a:gdLst/>
                <a:ahLst/>
                <a:cxnLst/>
                <a:rect l="l" t="t" r="r" b="b"/>
                <a:pathLst>
                  <a:path w="50006" h="50006">
                    <a:moveTo>
                      <a:pt x="0" y="0"/>
                    </a:moveTo>
                    <a:lnTo>
                      <a:pt x="50006" y="0"/>
                    </a:lnTo>
                    <a:lnTo>
                      <a:pt x="50006" y="50006"/>
                    </a:lnTo>
                  </a:path>
                </a:pathLst>
              </a:custGeom>
              <a:noFill/>
              <a:ln w="14288">
                <a:solidFill>
                  <a:srgbClr val="FFFFFF"/>
                </a:solidFill>
              </a:ln>
            </p:spPr>
          </p:sp>
        </p:grpSp>
        <p:sp>
          <p:nvSpPr>
            <p:cNvPr id="40" name="TextBox 40"/>
            <p:cNvSpPr txBox="1"/>
            <p:nvPr/>
          </p:nvSpPr>
          <p:spPr>
            <a:xfrm>
              <a:off x="6700838" y="1087993"/>
              <a:ext cx="58839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净利润同比</a:t>
              </a:r>
            </a:p>
          </p:txBody>
        </p:sp>
        <p:sp>
          <p:nvSpPr>
            <p:cNvPr id="41" name="TextBox 41"/>
            <p:cNvSpPr txBox="1"/>
            <p:nvPr/>
          </p:nvSpPr>
          <p:spPr>
            <a:xfrm>
              <a:off x="6698742" y="1283018"/>
              <a:ext cx="681599" cy="264033"/>
            </a:xfrm>
            <a:prstGeom prst="rect">
              <a:avLst/>
            </a:prstGeom>
            <a:noFill/>
            <a:ln>
              <a:noFill/>
            </a:ln>
          </p:spPr>
          <p:txBody>
            <a:bodyPr wrap="none" lIns="0" tIns="0" rIns="0" bIns="0" anchor="t" anchorCtr="0">
              <a:spAutoFit/>
            </a:bodyPr>
            <a:lstStyle/>
            <a:p>
              <a:pPr algn="l"/>
              <a:r>
                <a:rPr lang="zh-CN" sz="1350" b="1" dirty="0">
                  <a:solidFill>
                    <a:srgbClr val="A52D12"/>
                  </a:solidFill>
                  <a:latin typeface="+mn-lt"/>
                  <a:ea typeface="+mn-ea"/>
                  <a:cs typeface="+mn-cs"/>
                </a:rPr>
                <a:t>+7.5%​</a:t>
              </a:r>
            </a:p>
          </p:txBody>
        </p:sp>
        <p:sp>
          <p:nvSpPr>
            <p:cNvPr id="42" name="Rectangle 42"/>
            <p:cNvSpPr/>
            <p:nvPr/>
          </p:nvSpPr>
          <p:spPr>
            <a:xfrm>
              <a:off x="8077200" y="876300"/>
              <a:ext cx="1809750" cy="762000"/>
            </a:xfrm>
            <a:prstGeom prst="roundRect">
              <a:avLst>
                <a:gd name="adj" fmla="val 10000"/>
              </a:avLst>
            </a:prstGeom>
            <a:solidFill>
              <a:srgbClr val="FDF6F5"/>
            </a:solidFill>
            <a:ln w="9525">
              <a:solidFill>
                <a:srgbClr val="EDD5D2"/>
              </a:solidFill>
            </a:ln>
          </p:spPr>
        </p:sp>
        <p:sp>
          <p:nvSpPr>
            <p:cNvPr id="43" name="Ellipse 43"/>
            <p:cNvSpPr/>
            <p:nvPr/>
          </p:nvSpPr>
          <p:spPr>
            <a:xfrm>
              <a:off x="8201025" y="1095375"/>
              <a:ext cx="323850" cy="323850"/>
            </a:xfrm>
            <a:prstGeom prst="ellipse">
              <a:avLst/>
            </a:prstGeom>
            <a:solidFill>
              <a:srgbClr val="A52D12"/>
            </a:solidFill>
            <a:ln>
              <a:noFill/>
            </a:ln>
          </p:spPr>
        </p:sp>
        <p:grpSp>
          <p:nvGrpSpPr>
            <p:cNvPr id="47" name="Group 47"/>
            <p:cNvGrpSpPr/>
            <p:nvPr/>
          </p:nvGrpSpPr>
          <p:grpSpPr>
            <a:xfrm>
              <a:off x="8290904" y="1190633"/>
              <a:ext cx="144086" cy="123788"/>
              <a:chOff x="8290904" y="1190633"/>
              <a:chExt cx="144086" cy="123788"/>
            </a:xfrm>
          </p:grpSpPr>
          <p:sp>
            <p:nvSpPr>
              <p:cNvPr id="44" name="Freeform 44"/>
              <p:cNvSpPr/>
              <p:nvPr/>
            </p:nvSpPr>
            <p:spPr>
              <a:xfrm>
                <a:off x="8362950" y="1235869"/>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45" name="Freeform 45"/>
              <p:cNvSpPr/>
              <p:nvPr/>
            </p:nvSpPr>
            <p:spPr>
              <a:xfrm>
                <a:off x="8290904" y="1190633"/>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FFFFFF"/>
                </a:solidFill>
              </a:ln>
            </p:spPr>
          </p:sp>
          <p:sp>
            <p:nvSpPr>
              <p:cNvPr id="46" name="Freeform 46"/>
              <p:cNvSpPr/>
              <p:nvPr/>
            </p:nvSpPr>
            <p:spPr>
              <a:xfrm>
                <a:off x="8362950" y="1285875"/>
                <a:ext cx="9525" cy="9525"/>
              </a:xfrm>
              <a:custGeom>
                <a:avLst/>
                <a:gdLst/>
                <a:ahLst/>
                <a:cxnLst/>
                <a:rect l="l" t="t" r="r" b="b"/>
                <a:pathLst>
                  <a:path w="9525" h="9525">
                    <a:moveTo>
                      <a:pt x="0" y="0"/>
                    </a:moveTo>
                    <a:lnTo>
                      <a:pt x="71" y="0"/>
                    </a:lnTo>
                  </a:path>
                </a:pathLst>
              </a:custGeom>
              <a:noFill/>
              <a:ln w="14288">
                <a:solidFill>
                  <a:srgbClr val="FFFFFF"/>
                </a:solidFill>
              </a:ln>
            </p:spPr>
          </p:sp>
        </p:grpSp>
        <p:sp>
          <p:nvSpPr>
            <p:cNvPr id="48" name="TextBox 48"/>
            <p:cNvSpPr txBox="1"/>
            <p:nvPr/>
          </p:nvSpPr>
          <p:spPr>
            <a:xfrm>
              <a:off x="8624888" y="1087993"/>
              <a:ext cx="356845"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不良率</a:t>
              </a:r>
            </a:p>
          </p:txBody>
        </p:sp>
        <p:sp>
          <p:nvSpPr>
            <p:cNvPr id="49" name="TextBox 49"/>
            <p:cNvSpPr txBox="1"/>
            <p:nvPr/>
          </p:nvSpPr>
          <p:spPr>
            <a:xfrm>
              <a:off x="8622792" y="1283018"/>
              <a:ext cx="843800" cy="264033"/>
            </a:xfrm>
            <a:prstGeom prst="rect">
              <a:avLst/>
            </a:prstGeom>
            <a:noFill/>
            <a:ln>
              <a:noFill/>
            </a:ln>
          </p:spPr>
          <p:txBody>
            <a:bodyPr wrap="none" lIns="0" tIns="0" rIns="0" bIns="0" anchor="t" anchorCtr="0">
              <a:spAutoFit/>
            </a:bodyPr>
            <a:lstStyle/>
            <a:p>
              <a:pPr algn="l"/>
              <a:r>
                <a:rPr lang="zh-CN" sz="1350" b="1" dirty="0">
                  <a:solidFill>
                    <a:srgbClr val="A52D12"/>
                  </a:solidFill>
                  <a:latin typeface="+mn-lt"/>
                  <a:ea typeface="+mn-ea"/>
                  <a:cs typeface="+mn-cs"/>
                </a:rPr>
                <a:t>≤ 1.10%​</a:t>
              </a:r>
            </a:p>
          </p:txBody>
        </p:sp>
        <p:sp>
          <p:nvSpPr>
            <p:cNvPr id="50" name="Rectangle 50"/>
            <p:cNvSpPr/>
            <p:nvPr/>
          </p:nvSpPr>
          <p:spPr>
            <a:xfrm>
              <a:off x="10001250" y="876300"/>
              <a:ext cx="1809750" cy="762000"/>
            </a:xfrm>
            <a:prstGeom prst="roundRect">
              <a:avLst>
                <a:gd name="adj" fmla="val 10000"/>
              </a:avLst>
            </a:prstGeom>
            <a:solidFill>
              <a:srgbClr val="FDF6F5"/>
            </a:solidFill>
            <a:ln w="9525">
              <a:solidFill>
                <a:srgbClr val="EDD5D2"/>
              </a:solidFill>
            </a:ln>
          </p:spPr>
        </p:sp>
        <p:sp>
          <p:nvSpPr>
            <p:cNvPr id="51" name="Ellipse 51"/>
            <p:cNvSpPr/>
            <p:nvPr/>
          </p:nvSpPr>
          <p:spPr>
            <a:xfrm>
              <a:off x="10125075" y="1095375"/>
              <a:ext cx="323850" cy="323850"/>
            </a:xfrm>
            <a:prstGeom prst="ellipse">
              <a:avLst/>
            </a:prstGeom>
            <a:solidFill>
              <a:srgbClr val="A52D12"/>
            </a:solidFill>
            <a:ln>
              <a:noFill/>
            </a:ln>
          </p:spPr>
        </p:sp>
        <p:grpSp>
          <p:nvGrpSpPr>
            <p:cNvPr id="54" name="Group 54"/>
            <p:cNvGrpSpPr/>
            <p:nvPr/>
          </p:nvGrpSpPr>
          <p:grpSpPr>
            <a:xfrm>
              <a:off x="10213065" y="1193006"/>
              <a:ext cx="139505" cy="128588"/>
              <a:chOff x="10213065" y="1193006"/>
              <a:chExt cx="139505" cy="128588"/>
            </a:xfrm>
          </p:grpSpPr>
          <p:sp>
            <p:nvSpPr>
              <p:cNvPr id="52" name="Freeform 52"/>
              <p:cNvSpPr/>
              <p:nvPr/>
            </p:nvSpPr>
            <p:spPr>
              <a:xfrm>
                <a:off x="10213065" y="119300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FFFFFF"/>
                </a:solidFill>
              </a:ln>
            </p:spPr>
          </p:sp>
          <p:sp>
            <p:nvSpPr>
              <p:cNvPr id="53" name="Freeform 53"/>
              <p:cNvSpPr/>
              <p:nvPr/>
            </p:nvSpPr>
            <p:spPr>
              <a:xfrm>
                <a:off x="10308431" y="129301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55" name="TextBox 55"/>
            <p:cNvSpPr txBox="1"/>
            <p:nvPr/>
          </p:nvSpPr>
          <p:spPr>
            <a:xfrm>
              <a:off x="10548938" y="1087993"/>
              <a:ext cx="588391" cy="169069"/>
            </a:xfrm>
            <a:prstGeom prst="rect">
              <a:avLst/>
            </a:prstGeom>
            <a:noFill/>
            <a:ln>
              <a:noFill/>
            </a:ln>
          </p:spPr>
          <p:txBody>
            <a:bodyPr wrap="none" lIns="0" tIns="0" rIns="0" bIns="0" anchor="t" anchorCtr="0">
              <a:spAutoFit/>
            </a:bodyPr>
            <a:lstStyle/>
            <a:p>
              <a:pPr algn="l"/>
              <a:r>
                <a:rPr lang="zh-CN" sz="860" dirty="0">
                  <a:solidFill>
                    <a:srgbClr val="3A3A3A"/>
                  </a:solidFill>
                  <a:latin typeface="+mn-lt"/>
                  <a:ea typeface="+mn-ea"/>
                  <a:cs typeface="+mn-cs"/>
                </a:rPr>
                <a:t>资本充足率</a:t>
              </a:r>
            </a:p>
          </p:txBody>
        </p:sp>
        <p:sp>
          <p:nvSpPr>
            <p:cNvPr id="56" name="TextBox 56"/>
            <p:cNvSpPr txBox="1"/>
            <p:nvPr/>
          </p:nvSpPr>
          <p:spPr>
            <a:xfrm>
              <a:off x="10546842" y="1283018"/>
              <a:ext cx="843800" cy="264033"/>
            </a:xfrm>
            <a:prstGeom prst="rect">
              <a:avLst/>
            </a:prstGeom>
            <a:noFill/>
            <a:ln>
              <a:noFill/>
            </a:ln>
          </p:spPr>
          <p:txBody>
            <a:bodyPr wrap="none" lIns="0" tIns="0" rIns="0" bIns="0" anchor="t" anchorCtr="0">
              <a:spAutoFit/>
            </a:bodyPr>
            <a:lstStyle/>
            <a:p>
              <a:pPr algn="l"/>
              <a:r>
                <a:rPr lang="zh-CN" sz="1350" b="1" dirty="0">
                  <a:solidFill>
                    <a:srgbClr val="A52D12"/>
                  </a:solidFill>
                  <a:latin typeface="+mn-lt"/>
                  <a:ea typeface="+mn-ea"/>
                  <a:cs typeface="+mn-cs"/>
                </a:rPr>
                <a:t>≥ 14.5%​</a:t>
              </a:r>
            </a:p>
          </p:txBody>
        </p:sp>
      </p:grpSp>
      <p:grpSp>
        <p:nvGrpSpPr>
          <p:cNvPr id="135" name="strategy-house"/>
          <p:cNvGrpSpPr/>
          <p:nvPr/>
        </p:nvGrpSpPr>
        <p:grpSpPr>
          <a:xfrm>
            <a:off x="381000" y="1761649"/>
            <a:ext cx="6858000" cy="3381851"/>
            <a:chOff x="381000" y="1761649"/>
            <a:chExt cx="6858000" cy="3381851"/>
          </a:xfrm>
        </p:grpSpPr>
        <p:sp>
          <p:nvSpPr>
            <p:cNvPr id="58" name="Rectangle 58"/>
            <p:cNvSpPr/>
            <p:nvPr/>
          </p:nvSpPr>
          <p:spPr>
            <a:xfrm>
              <a:off x="381000" y="1790700"/>
              <a:ext cx="76200" cy="76200"/>
            </a:xfrm>
            <a:prstGeom prst="rect">
              <a:avLst/>
            </a:prstGeom>
            <a:solidFill>
              <a:srgbClr val="A52D12"/>
            </a:solidFill>
            <a:ln>
              <a:noFill/>
            </a:ln>
          </p:spPr>
        </p:sp>
        <p:sp>
          <p:nvSpPr>
            <p:cNvPr id="59" name="TextBox 59"/>
            <p:cNvSpPr txBox="1"/>
            <p:nvPr/>
          </p:nvSpPr>
          <p:spPr>
            <a:xfrm>
              <a:off x="528447" y="1761649"/>
              <a:ext cx="669544"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中央战略屋</a:t>
              </a:r>
            </a:p>
          </p:txBody>
        </p:sp>
        <p:sp>
          <p:nvSpPr>
            <p:cNvPr id="60" name="Freeform 60"/>
            <p:cNvSpPr/>
            <p:nvPr/>
          </p:nvSpPr>
          <p:spPr>
            <a:xfrm>
              <a:off x="3790950" y="1866900"/>
              <a:ext cx="228600" cy="228600"/>
            </a:xfrm>
            <a:prstGeom prst="star5">
              <a:avLst/>
            </a:prstGeom>
            <a:solidFill>
              <a:srgbClr val="C9604E"/>
            </a:solidFill>
            <a:ln>
              <a:noFill/>
            </a:ln>
          </p:spPr>
        </p:sp>
        <p:sp>
          <p:nvSpPr>
            <p:cNvPr id="61" name="Freeform 61"/>
            <p:cNvSpPr/>
            <p:nvPr/>
          </p:nvSpPr>
          <p:spPr>
            <a:xfrm>
              <a:off x="762000" y="2038350"/>
              <a:ext cx="6286500" cy="590550"/>
            </a:xfrm>
            <a:prstGeom prst="triangle">
              <a:avLst/>
            </a:prstGeom>
            <a:solidFill>
              <a:srgbClr val="A52D12"/>
            </a:solidFill>
            <a:ln>
              <a:noFill/>
            </a:ln>
          </p:spPr>
        </p:sp>
        <p:sp>
          <p:nvSpPr>
            <p:cNvPr id="62" name="TextBox 62"/>
            <p:cNvSpPr txBox="1"/>
            <p:nvPr/>
          </p:nvSpPr>
          <p:spPr>
            <a:xfrm>
              <a:off x="3070276" y="2431256"/>
              <a:ext cx="166994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高质量完成全年经营目标</a:t>
              </a:r>
            </a:p>
          </p:txBody>
        </p:sp>
        <p:sp>
          <p:nvSpPr>
            <p:cNvPr id="63" name="Rectangle 63"/>
            <p:cNvSpPr/>
            <p:nvPr/>
          </p:nvSpPr>
          <p:spPr>
            <a:xfrm>
              <a:off x="762000" y="2628900"/>
              <a:ext cx="6286500" cy="133350"/>
            </a:xfrm>
            <a:prstGeom prst="rect">
              <a:avLst/>
            </a:prstGeom>
            <a:solidFill>
              <a:srgbClr val="8E240C"/>
            </a:solidFill>
            <a:ln>
              <a:noFill/>
            </a:ln>
          </p:spPr>
        </p:sp>
        <p:sp>
          <p:nvSpPr>
            <p:cNvPr id="64" name="Rectangle 64"/>
            <p:cNvSpPr/>
            <p:nvPr/>
          </p:nvSpPr>
          <p:spPr>
            <a:xfrm>
              <a:off x="952500" y="2838450"/>
              <a:ext cx="666750" cy="76200"/>
            </a:xfrm>
            <a:prstGeom prst="rect">
              <a:avLst/>
            </a:prstGeom>
            <a:solidFill>
              <a:srgbClr val="C9604E"/>
            </a:solidFill>
            <a:ln>
              <a:noFill/>
            </a:ln>
          </p:spPr>
        </p:sp>
        <p:sp>
          <p:nvSpPr>
            <p:cNvPr id="65" name="Rectangle 65"/>
            <p:cNvSpPr/>
            <p:nvPr/>
          </p:nvSpPr>
          <p:spPr>
            <a:xfrm>
              <a:off x="990600" y="2914650"/>
              <a:ext cx="590550" cy="1752600"/>
            </a:xfrm>
            <a:prstGeom prst="rect">
              <a:avLst/>
            </a:prstGeom>
            <a:solidFill>
              <a:srgbClr val="FDF6F5"/>
            </a:solidFill>
            <a:ln w="9525">
              <a:solidFill>
                <a:srgbClr val="E4AFA6"/>
              </a:solidFill>
            </a:ln>
          </p:spPr>
        </p:sp>
        <p:sp>
          <p:nvSpPr>
            <p:cNvPr id="66" name="Ellipse 66"/>
            <p:cNvSpPr/>
            <p:nvPr/>
          </p:nvSpPr>
          <p:spPr>
            <a:xfrm>
              <a:off x="1171575" y="2990850"/>
              <a:ext cx="228600" cy="228600"/>
            </a:xfrm>
            <a:prstGeom prst="ellipse">
              <a:avLst/>
            </a:prstGeom>
            <a:solidFill>
              <a:srgbClr val="A52D12"/>
            </a:solidFill>
            <a:ln>
              <a:noFill/>
            </a:ln>
          </p:spPr>
        </p:sp>
        <p:grpSp>
          <p:nvGrpSpPr>
            <p:cNvPr id="69" name="Group 69"/>
            <p:cNvGrpSpPr/>
            <p:nvPr/>
          </p:nvGrpSpPr>
          <p:grpSpPr>
            <a:xfrm>
              <a:off x="1241425" y="3060700"/>
              <a:ext cx="88899" cy="88900"/>
              <a:chOff x="1241425" y="3060700"/>
              <a:chExt cx="88899" cy="88900"/>
            </a:xfrm>
          </p:grpSpPr>
          <p:sp>
            <p:nvSpPr>
              <p:cNvPr id="67" name="Freeform 67"/>
              <p:cNvSpPr/>
              <p:nvPr/>
            </p:nvSpPr>
            <p:spPr>
              <a:xfrm>
                <a:off x="1241425" y="3060700"/>
                <a:ext cx="83344" cy="88900"/>
              </a:xfrm>
              <a:custGeom>
                <a:avLst/>
                <a:gdLst/>
                <a:ahLst/>
                <a:cxnLst/>
                <a:rect l="l" t="t" r="r" b="b"/>
                <a:pathLst>
                  <a:path w="83344" h="88900">
                    <a:moveTo>
                      <a:pt x="72231" y="22225"/>
                    </a:moveTo>
                    <a:lnTo>
                      <a:pt x="72231" y="5556"/>
                    </a:lnTo>
                    <a:cubicBezTo>
                      <a:pt x="72231" y="2488"/>
                      <a:pt x="69744" y="0"/>
                      <a:pt x="66675" y="0"/>
                    </a:cubicBezTo>
                    <a:lnTo>
                      <a:pt x="11112" y="0"/>
                    </a:lnTo>
                    <a:cubicBezTo>
                      <a:pt x="4975" y="0"/>
                      <a:pt x="0" y="4975"/>
                      <a:pt x="0" y="11112"/>
                    </a:cubicBezTo>
                    <a:cubicBezTo>
                      <a:pt x="0" y="17250"/>
                      <a:pt x="4975" y="22225"/>
                      <a:pt x="11112" y="22225"/>
                    </a:cubicBezTo>
                    <a:lnTo>
                      <a:pt x="77787" y="22225"/>
                    </a:lnTo>
                    <a:cubicBezTo>
                      <a:pt x="80856" y="22225"/>
                      <a:pt x="83344" y="24713"/>
                      <a:pt x="83344" y="27781"/>
                    </a:cubicBezTo>
                    <a:lnTo>
                      <a:pt x="83344" y="44450"/>
                    </a:lnTo>
                    <a:moveTo>
                      <a:pt x="83344" y="66675"/>
                    </a:moveTo>
                    <a:lnTo>
                      <a:pt x="83344" y="83344"/>
                    </a:lnTo>
                    <a:cubicBezTo>
                      <a:pt x="83344" y="86412"/>
                      <a:pt x="80856" y="88900"/>
                      <a:pt x="77787" y="88900"/>
                    </a:cubicBezTo>
                    <a:lnTo>
                      <a:pt x="11112" y="88900"/>
                    </a:lnTo>
                    <a:cubicBezTo>
                      <a:pt x="4975" y="88900"/>
                      <a:pt x="0" y="83925"/>
                      <a:pt x="0" y="77787"/>
                    </a:cubicBezTo>
                    <a:lnTo>
                      <a:pt x="0" y="11112"/>
                    </a:lnTo>
                  </a:path>
                </a:pathLst>
              </a:custGeom>
              <a:noFill/>
              <a:ln w="11112">
                <a:solidFill>
                  <a:srgbClr val="FFFFFF"/>
                </a:solidFill>
              </a:ln>
            </p:spPr>
          </p:sp>
          <p:sp>
            <p:nvSpPr>
              <p:cNvPr id="68" name="Freeform 68"/>
              <p:cNvSpPr/>
              <p:nvPr/>
            </p:nvSpPr>
            <p:spPr>
              <a:xfrm>
                <a:off x="1296987" y="3105150"/>
                <a:ext cx="33337" cy="22225"/>
              </a:xfrm>
              <a:custGeom>
                <a:avLst/>
                <a:gdLst/>
                <a:ahLst/>
                <a:cxnLst/>
                <a:rect l="l" t="t" r="r" b="b"/>
                <a:pathLst>
                  <a:path w="33337" h="22225">
                    <a:moveTo>
                      <a:pt x="33337" y="0"/>
                    </a:moveTo>
                    <a:lnTo>
                      <a:pt x="33337" y="22225"/>
                    </a:lnTo>
                    <a:lnTo>
                      <a:pt x="11112" y="22225"/>
                    </a:lnTo>
                    <a:cubicBezTo>
                      <a:pt x="4975" y="22225"/>
                      <a:pt x="0" y="17250"/>
                      <a:pt x="0" y="11112"/>
                    </a:cubicBezTo>
                    <a:cubicBezTo>
                      <a:pt x="0" y="4975"/>
                      <a:pt x="4975" y="0"/>
                      <a:pt x="11112" y="0"/>
                    </a:cubicBezTo>
                    <a:lnTo>
                      <a:pt x="33337" y="0"/>
                    </a:lnTo>
                  </a:path>
                </a:pathLst>
              </a:custGeom>
              <a:noFill/>
              <a:ln w="11112">
                <a:solidFill>
                  <a:srgbClr val="FFFFFF"/>
                </a:solidFill>
              </a:ln>
            </p:spPr>
          </p:sp>
        </p:grpSp>
        <p:sp>
          <p:nvSpPr>
            <p:cNvPr id="70" name="TextBox 70"/>
            <p:cNvSpPr txBox="1"/>
            <p:nvPr/>
          </p:nvSpPr>
          <p:spPr>
            <a:xfrm>
              <a:off x="1209040" y="3326606"/>
              <a:ext cx="153670" cy="791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A52D12"/>
                  </a:solidFill>
                  <a:latin typeface="+mn-lt"/>
                  <a:ea typeface="+mn-ea"/>
                  <a:cs typeface="+mn-cs"/>
                </a:rPr>
                <a:t>存</a:t>
              </a:r>
              <a:br/>
              <a:r>
                <a:rPr lang="zh-CN" sz="1120" b="1" dirty="0">
                  <a:solidFill>
                    <a:srgbClr val="A52D12"/>
                  </a:solidFill>
                  <a:latin typeface="+mn-lt"/>
                  <a:ea typeface="+mn-ea"/>
                  <a:cs typeface="+mn-cs"/>
                </a:rPr>
                <a:t>款</a:t>
              </a:r>
              <a:br/>
              <a:r>
                <a:rPr lang="zh-CN" sz="1120" b="1" dirty="0">
                  <a:solidFill>
                    <a:srgbClr val="A52D12"/>
                  </a:solidFill>
                  <a:latin typeface="+mn-lt"/>
                  <a:ea typeface="+mn-ea"/>
                  <a:cs typeface="+mn-cs"/>
                </a:rPr>
                <a:t>提</a:t>
              </a:r>
              <a:br/>
              <a:r>
                <a:rPr lang="zh-CN" sz="1120" b="1" dirty="0">
                  <a:solidFill>
                    <a:srgbClr val="A52D12"/>
                  </a:solidFill>
                  <a:latin typeface="+mn-lt"/>
                  <a:ea typeface="+mn-ea"/>
                  <a:cs typeface="+mn-cs"/>
                </a:rPr>
                <a:t>质</a:t>
              </a:r>
            </a:p>
          </p:txBody>
        </p:sp>
        <p:sp>
          <p:nvSpPr>
            <p:cNvPr id="71" name="Rectangle 71"/>
            <p:cNvSpPr/>
            <p:nvPr/>
          </p:nvSpPr>
          <p:spPr>
            <a:xfrm>
              <a:off x="2000250" y="2838450"/>
              <a:ext cx="666750" cy="76200"/>
            </a:xfrm>
            <a:prstGeom prst="rect">
              <a:avLst/>
            </a:prstGeom>
            <a:solidFill>
              <a:srgbClr val="C9604E"/>
            </a:solidFill>
            <a:ln>
              <a:noFill/>
            </a:ln>
          </p:spPr>
        </p:sp>
        <p:sp>
          <p:nvSpPr>
            <p:cNvPr id="72" name="Rectangle 72"/>
            <p:cNvSpPr/>
            <p:nvPr/>
          </p:nvSpPr>
          <p:spPr>
            <a:xfrm>
              <a:off x="2038350" y="2914650"/>
              <a:ext cx="590550" cy="1752600"/>
            </a:xfrm>
            <a:prstGeom prst="rect">
              <a:avLst/>
            </a:prstGeom>
            <a:solidFill>
              <a:srgbClr val="FDF6F5"/>
            </a:solidFill>
            <a:ln w="9525">
              <a:solidFill>
                <a:srgbClr val="E4AFA6"/>
              </a:solidFill>
            </a:ln>
          </p:spPr>
        </p:sp>
        <p:sp>
          <p:nvSpPr>
            <p:cNvPr id="73" name="Ellipse 73"/>
            <p:cNvSpPr/>
            <p:nvPr/>
          </p:nvSpPr>
          <p:spPr>
            <a:xfrm>
              <a:off x="2219325" y="2990850"/>
              <a:ext cx="228600" cy="228600"/>
            </a:xfrm>
            <a:prstGeom prst="ellipse">
              <a:avLst/>
            </a:prstGeom>
            <a:solidFill>
              <a:srgbClr val="A52D12"/>
            </a:solidFill>
            <a:ln>
              <a:noFill/>
            </a:ln>
          </p:spPr>
        </p:sp>
        <p:grpSp>
          <p:nvGrpSpPr>
            <p:cNvPr id="77" name="Group 77"/>
            <p:cNvGrpSpPr/>
            <p:nvPr/>
          </p:nvGrpSpPr>
          <p:grpSpPr>
            <a:xfrm>
              <a:off x="2283619" y="3066256"/>
              <a:ext cx="100012" cy="77787"/>
              <a:chOff x="2283619" y="3066256"/>
              <a:chExt cx="100012" cy="77787"/>
            </a:xfrm>
          </p:grpSpPr>
          <p:sp>
            <p:nvSpPr>
              <p:cNvPr id="74" name="Freeform 74"/>
              <p:cNvSpPr/>
              <p:nvPr/>
            </p:nvSpPr>
            <p:spPr>
              <a:xfrm>
                <a:off x="2283619" y="3066256"/>
                <a:ext cx="77787" cy="55562"/>
              </a:xfrm>
              <a:custGeom>
                <a:avLst/>
                <a:gdLst/>
                <a:ahLst/>
                <a:cxnLst/>
                <a:rect l="l" t="t" r="r" b="b"/>
                <a:pathLst>
                  <a:path w="77787" h="55562">
                    <a:moveTo>
                      <a:pt x="22225" y="55562"/>
                    </a:moveTo>
                    <a:lnTo>
                      <a:pt x="5556" y="55562"/>
                    </a:lnTo>
                    <a:cubicBezTo>
                      <a:pt x="2488" y="55562"/>
                      <a:pt x="0" y="53075"/>
                      <a:pt x="0" y="50006"/>
                    </a:cubicBezTo>
                    <a:lnTo>
                      <a:pt x="0" y="5556"/>
                    </a:lnTo>
                    <a:cubicBezTo>
                      <a:pt x="0" y="2488"/>
                      <a:pt x="2488" y="0"/>
                      <a:pt x="5556" y="0"/>
                    </a:cubicBezTo>
                    <a:lnTo>
                      <a:pt x="72231" y="0"/>
                    </a:lnTo>
                    <a:cubicBezTo>
                      <a:pt x="75300" y="0"/>
                      <a:pt x="77787" y="2488"/>
                      <a:pt x="77787" y="5556"/>
                    </a:cubicBezTo>
                    <a:lnTo>
                      <a:pt x="77787" y="22225"/>
                    </a:lnTo>
                  </a:path>
                </a:pathLst>
              </a:custGeom>
              <a:noFill/>
              <a:ln w="11112">
                <a:solidFill>
                  <a:srgbClr val="FFFFFF"/>
                </a:solidFill>
              </a:ln>
            </p:spPr>
          </p:sp>
          <p:sp>
            <p:nvSpPr>
              <p:cNvPr id="75" name="Freeform 75"/>
              <p:cNvSpPr/>
              <p:nvPr/>
            </p:nvSpPr>
            <p:spPr>
              <a:xfrm>
                <a:off x="2305844" y="3088481"/>
                <a:ext cx="77787" cy="55562"/>
              </a:xfrm>
              <a:custGeom>
                <a:avLst/>
                <a:gdLst/>
                <a:ahLst/>
                <a:cxnLst/>
                <a:rect l="l" t="t" r="r" b="b"/>
                <a:pathLst>
                  <a:path w="77787" h="55562">
                    <a:moveTo>
                      <a:pt x="0" y="5556"/>
                    </a:moveTo>
                    <a:cubicBezTo>
                      <a:pt x="0" y="2488"/>
                      <a:pt x="2488" y="0"/>
                      <a:pt x="5556" y="0"/>
                    </a:cubicBezTo>
                    <a:lnTo>
                      <a:pt x="72231" y="0"/>
                    </a:lnTo>
                    <a:cubicBezTo>
                      <a:pt x="75300" y="0"/>
                      <a:pt x="77787" y="2488"/>
                      <a:pt x="77787" y="5556"/>
                    </a:cubicBezTo>
                    <a:lnTo>
                      <a:pt x="77787" y="50006"/>
                    </a:lnTo>
                    <a:cubicBezTo>
                      <a:pt x="77787" y="53075"/>
                      <a:pt x="75300" y="55562"/>
                      <a:pt x="72231" y="55562"/>
                    </a:cubicBezTo>
                    <a:lnTo>
                      <a:pt x="5556" y="55562"/>
                    </a:lnTo>
                    <a:cubicBezTo>
                      <a:pt x="2488" y="55562"/>
                      <a:pt x="0" y="53075"/>
                      <a:pt x="0" y="50006"/>
                    </a:cubicBezTo>
                    <a:lnTo>
                      <a:pt x="0" y="5556"/>
                    </a:lnTo>
                  </a:path>
                </a:pathLst>
              </a:custGeom>
              <a:noFill/>
              <a:ln w="11112">
                <a:solidFill>
                  <a:srgbClr val="FFFFFF"/>
                </a:solidFill>
              </a:ln>
            </p:spPr>
          </p:sp>
          <p:sp>
            <p:nvSpPr>
              <p:cNvPr id="76" name="Freeform 76"/>
              <p:cNvSpPr/>
              <p:nvPr/>
            </p:nvSpPr>
            <p:spPr>
              <a:xfrm>
                <a:off x="2333625" y="3105150"/>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FFFFFF"/>
                </a:solidFill>
              </a:ln>
            </p:spPr>
          </p:sp>
        </p:grpSp>
        <p:sp>
          <p:nvSpPr>
            <p:cNvPr id="78" name="TextBox 78"/>
            <p:cNvSpPr txBox="1"/>
            <p:nvPr/>
          </p:nvSpPr>
          <p:spPr>
            <a:xfrm>
              <a:off x="2256790" y="3326606"/>
              <a:ext cx="153670" cy="791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A52D12"/>
                  </a:solidFill>
                  <a:latin typeface="+mn-lt"/>
                  <a:ea typeface="+mn-ea"/>
                  <a:cs typeface="+mn-cs"/>
                </a:rPr>
                <a:t>信</a:t>
              </a:r>
              <a:br/>
              <a:r>
                <a:rPr lang="zh-CN" sz="1120" b="1" dirty="0">
                  <a:solidFill>
                    <a:srgbClr val="A52D12"/>
                  </a:solidFill>
                  <a:latin typeface="+mn-lt"/>
                  <a:ea typeface="+mn-ea"/>
                  <a:cs typeface="+mn-cs"/>
                </a:rPr>
                <a:t>贷</a:t>
              </a:r>
              <a:br/>
              <a:r>
                <a:rPr lang="zh-CN" sz="1120" b="1" dirty="0">
                  <a:solidFill>
                    <a:srgbClr val="A52D12"/>
                  </a:solidFill>
                  <a:latin typeface="+mn-lt"/>
                  <a:ea typeface="+mn-ea"/>
                  <a:cs typeface="+mn-cs"/>
                </a:rPr>
                <a:t>增</a:t>
              </a:r>
              <a:br/>
              <a:r>
                <a:rPr lang="zh-CN" sz="1120" b="1" dirty="0">
                  <a:solidFill>
                    <a:srgbClr val="A52D12"/>
                  </a:solidFill>
                  <a:latin typeface="+mn-lt"/>
                  <a:ea typeface="+mn-ea"/>
                  <a:cs typeface="+mn-cs"/>
                </a:rPr>
                <a:t>效</a:t>
              </a:r>
            </a:p>
          </p:txBody>
        </p:sp>
        <p:sp>
          <p:nvSpPr>
            <p:cNvPr id="79" name="Rectangle 79"/>
            <p:cNvSpPr/>
            <p:nvPr/>
          </p:nvSpPr>
          <p:spPr>
            <a:xfrm>
              <a:off x="3048000" y="2838450"/>
              <a:ext cx="666750" cy="76200"/>
            </a:xfrm>
            <a:prstGeom prst="rect">
              <a:avLst/>
            </a:prstGeom>
            <a:solidFill>
              <a:srgbClr val="C9604E"/>
            </a:solidFill>
            <a:ln>
              <a:noFill/>
            </a:ln>
          </p:spPr>
        </p:sp>
        <p:sp>
          <p:nvSpPr>
            <p:cNvPr id="80" name="Rectangle 80"/>
            <p:cNvSpPr/>
            <p:nvPr/>
          </p:nvSpPr>
          <p:spPr>
            <a:xfrm>
              <a:off x="3086100" y="2914650"/>
              <a:ext cx="590550" cy="1752600"/>
            </a:xfrm>
            <a:prstGeom prst="rect">
              <a:avLst/>
            </a:prstGeom>
            <a:solidFill>
              <a:srgbClr val="FDF6F5"/>
            </a:solidFill>
            <a:ln w="9525">
              <a:solidFill>
                <a:srgbClr val="E4AFA6"/>
              </a:solidFill>
            </a:ln>
          </p:spPr>
        </p:sp>
        <p:sp>
          <p:nvSpPr>
            <p:cNvPr id="81" name="Ellipse 81"/>
            <p:cNvSpPr/>
            <p:nvPr/>
          </p:nvSpPr>
          <p:spPr>
            <a:xfrm>
              <a:off x="3267075" y="2990850"/>
              <a:ext cx="228600" cy="228600"/>
            </a:xfrm>
            <a:prstGeom prst="ellipse">
              <a:avLst/>
            </a:prstGeom>
            <a:solidFill>
              <a:srgbClr val="A52D12"/>
            </a:solidFill>
            <a:ln>
              <a:noFill/>
            </a:ln>
          </p:spPr>
        </p:sp>
        <p:grpSp>
          <p:nvGrpSpPr>
            <p:cNvPr id="86" name="Group 86"/>
            <p:cNvGrpSpPr/>
            <p:nvPr/>
          </p:nvGrpSpPr>
          <p:grpSpPr>
            <a:xfrm>
              <a:off x="3331369" y="3055144"/>
              <a:ext cx="100012" cy="100012"/>
              <a:chOff x="3331369" y="3055144"/>
              <a:chExt cx="100012" cy="100012"/>
            </a:xfrm>
          </p:grpSpPr>
          <p:sp>
            <p:nvSpPr>
              <p:cNvPr id="82" name="Freeform 82"/>
              <p:cNvSpPr/>
              <p:nvPr/>
            </p:nvSpPr>
            <p:spPr>
              <a:xfrm>
                <a:off x="3342481" y="305514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FFFFFF"/>
                </a:solidFill>
              </a:ln>
            </p:spPr>
          </p:sp>
          <p:sp>
            <p:nvSpPr>
              <p:cNvPr id="83" name="Freeform 83"/>
              <p:cNvSpPr/>
              <p:nvPr/>
            </p:nvSpPr>
            <p:spPr>
              <a:xfrm>
                <a:off x="3331369" y="312181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FFFFFF"/>
                </a:solidFill>
              </a:ln>
            </p:spPr>
          </p:sp>
          <p:sp>
            <p:nvSpPr>
              <p:cNvPr id="84" name="Freeform 84"/>
              <p:cNvSpPr/>
              <p:nvPr/>
            </p:nvSpPr>
            <p:spPr>
              <a:xfrm>
                <a:off x="3403600" y="305586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FFFFFF"/>
                </a:solidFill>
              </a:ln>
            </p:spPr>
          </p:sp>
          <p:sp>
            <p:nvSpPr>
              <p:cNvPr id="85" name="Freeform 85"/>
              <p:cNvSpPr/>
              <p:nvPr/>
            </p:nvSpPr>
            <p:spPr>
              <a:xfrm>
                <a:off x="3414712" y="312265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FFFFFF"/>
                </a:solidFill>
              </a:ln>
            </p:spPr>
          </p:sp>
        </p:grpSp>
        <p:sp>
          <p:nvSpPr>
            <p:cNvPr id="87" name="TextBox 87"/>
            <p:cNvSpPr txBox="1"/>
            <p:nvPr/>
          </p:nvSpPr>
          <p:spPr>
            <a:xfrm>
              <a:off x="3304540" y="3326606"/>
              <a:ext cx="153670" cy="791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A52D12"/>
                  </a:solidFill>
                  <a:latin typeface="+mn-lt"/>
                  <a:ea typeface="+mn-ea"/>
                  <a:cs typeface="+mn-cs"/>
                </a:rPr>
                <a:t>客</a:t>
              </a:r>
              <a:br/>
              <a:r>
                <a:rPr lang="zh-CN" sz="1120" b="1" dirty="0">
                  <a:solidFill>
                    <a:srgbClr val="A52D12"/>
                  </a:solidFill>
                  <a:latin typeface="+mn-lt"/>
                  <a:ea typeface="+mn-ea"/>
                  <a:cs typeface="+mn-cs"/>
                </a:rPr>
                <a:t>户</a:t>
              </a:r>
              <a:br/>
              <a:r>
                <a:rPr lang="zh-CN" sz="1120" b="1" dirty="0">
                  <a:solidFill>
                    <a:srgbClr val="A52D12"/>
                  </a:solidFill>
                  <a:latin typeface="+mn-lt"/>
                  <a:ea typeface="+mn-ea"/>
                  <a:cs typeface="+mn-cs"/>
                </a:rPr>
                <a:t>扩</a:t>
              </a:r>
              <a:br/>
              <a:r>
                <a:rPr lang="zh-CN" sz="1120" b="1" dirty="0">
                  <a:solidFill>
                    <a:srgbClr val="A52D12"/>
                  </a:solidFill>
                  <a:latin typeface="+mn-lt"/>
                  <a:ea typeface="+mn-ea"/>
                  <a:cs typeface="+mn-cs"/>
                </a:rPr>
                <a:t>容</a:t>
              </a:r>
            </a:p>
          </p:txBody>
        </p:sp>
        <p:sp>
          <p:nvSpPr>
            <p:cNvPr id="88" name="Rectangle 88"/>
            <p:cNvSpPr/>
            <p:nvPr/>
          </p:nvSpPr>
          <p:spPr>
            <a:xfrm>
              <a:off x="4095750" y="2838450"/>
              <a:ext cx="666750" cy="76200"/>
            </a:xfrm>
            <a:prstGeom prst="rect">
              <a:avLst/>
            </a:prstGeom>
            <a:solidFill>
              <a:srgbClr val="C9604E"/>
            </a:solidFill>
            <a:ln>
              <a:noFill/>
            </a:ln>
          </p:spPr>
        </p:sp>
        <p:sp>
          <p:nvSpPr>
            <p:cNvPr id="89" name="Rectangle 89"/>
            <p:cNvSpPr/>
            <p:nvPr/>
          </p:nvSpPr>
          <p:spPr>
            <a:xfrm>
              <a:off x="4133850" y="2914650"/>
              <a:ext cx="590550" cy="1752600"/>
            </a:xfrm>
            <a:prstGeom prst="rect">
              <a:avLst/>
            </a:prstGeom>
            <a:solidFill>
              <a:srgbClr val="FDF6F5"/>
            </a:solidFill>
            <a:ln w="9525">
              <a:solidFill>
                <a:srgbClr val="E4AFA6"/>
              </a:solidFill>
            </a:ln>
          </p:spPr>
        </p:sp>
        <p:sp>
          <p:nvSpPr>
            <p:cNvPr id="90" name="Ellipse 90"/>
            <p:cNvSpPr/>
            <p:nvPr/>
          </p:nvSpPr>
          <p:spPr>
            <a:xfrm>
              <a:off x="4314825" y="2990850"/>
              <a:ext cx="228600" cy="228600"/>
            </a:xfrm>
            <a:prstGeom prst="ellipse">
              <a:avLst/>
            </a:prstGeom>
            <a:solidFill>
              <a:srgbClr val="A52D12"/>
            </a:solidFill>
            <a:ln>
              <a:noFill/>
            </a:ln>
          </p:spPr>
        </p:sp>
        <p:grpSp>
          <p:nvGrpSpPr>
            <p:cNvPr id="94" name="Group 94"/>
            <p:cNvGrpSpPr/>
            <p:nvPr/>
          </p:nvGrpSpPr>
          <p:grpSpPr>
            <a:xfrm>
              <a:off x="4395787" y="3055144"/>
              <a:ext cx="66675" cy="100012"/>
              <a:chOff x="4395787" y="3055144"/>
              <a:chExt cx="66675" cy="100012"/>
            </a:xfrm>
          </p:grpSpPr>
          <p:sp>
            <p:nvSpPr>
              <p:cNvPr id="91" name="Freeform 91"/>
              <p:cNvSpPr/>
              <p:nvPr/>
            </p:nvSpPr>
            <p:spPr>
              <a:xfrm>
                <a:off x="4395787" y="305514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FFFFFF"/>
                </a:solidFill>
              </a:ln>
            </p:spPr>
          </p:sp>
          <p:sp>
            <p:nvSpPr>
              <p:cNvPr id="92" name="Freeform 92"/>
              <p:cNvSpPr/>
              <p:nvPr/>
            </p:nvSpPr>
            <p:spPr>
              <a:xfrm>
                <a:off x="4423569" y="3060700"/>
                <a:ext cx="11112" cy="9525"/>
              </a:xfrm>
              <a:custGeom>
                <a:avLst/>
                <a:gdLst/>
                <a:ahLst/>
                <a:cxnLst/>
                <a:rect l="l" t="t" r="r" b="b"/>
                <a:pathLst>
                  <a:path w="11112" h="9525">
                    <a:moveTo>
                      <a:pt x="0" y="0"/>
                    </a:moveTo>
                    <a:lnTo>
                      <a:pt x="11112" y="0"/>
                    </a:lnTo>
                  </a:path>
                </a:pathLst>
              </a:custGeom>
              <a:noFill/>
              <a:ln w="11112">
                <a:solidFill>
                  <a:srgbClr val="FFFFFF"/>
                </a:solidFill>
              </a:ln>
            </p:spPr>
          </p:sp>
          <p:sp>
            <p:nvSpPr>
              <p:cNvPr id="93" name="Freeform 93"/>
              <p:cNvSpPr/>
              <p:nvPr/>
            </p:nvSpPr>
            <p:spPr>
              <a:xfrm>
                <a:off x="4429125" y="3132931"/>
                <a:ext cx="9525" cy="9525"/>
              </a:xfrm>
              <a:custGeom>
                <a:avLst/>
                <a:gdLst/>
                <a:ahLst/>
                <a:cxnLst/>
                <a:rect l="l" t="t" r="r" b="b"/>
                <a:pathLst>
                  <a:path w="9525" h="9525">
                    <a:moveTo>
                      <a:pt x="0" y="0"/>
                    </a:moveTo>
                    <a:lnTo>
                      <a:pt x="0" y="56"/>
                    </a:lnTo>
                  </a:path>
                </a:pathLst>
              </a:custGeom>
              <a:noFill/>
              <a:ln w="11112">
                <a:solidFill>
                  <a:srgbClr val="FFFFFF"/>
                </a:solidFill>
              </a:ln>
            </p:spPr>
          </p:sp>
        </p:grpSp>
        <p:sp>
          <p:nvSpPr>
            <p:cNvPr id="95" name="TextBox 95"/>
            <p:cNvSpPr txBox="1"/>
            <p:nvPr/>
          </p:nvSpPr>
          <p:spPr>
            <a:xfrm>
              <a:off x="4352290" y="3326606"/>
              <a:ext cx="153670" cy="791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A52D12"/>
                  </a:solidFill>
                  <a:latin typeface="+mn-lt"/>
                  <a:ea typeface="+mn-ea"/>
                  <a:cs typeface="+mn-cs"/>
                </a:rPr>
                <a:t>数</a:t>
              </a:r>
              <a:br/>
              <a:r>
                <a:rPr lang="zh-CN" sz="1120" b="1" dirty="0">
                  <a:solidFill>
                    <a:srgbClr val="A52D12"/>
                  </a:solidFill>
                  <a:latin typeface="+mn-lt"/>
                  <a:ea typeface="+mn-ea"/>
                  <a:cs typeface="+mn-cs"/>
                </a:rPr>
                <a:t>字</a:t>
              </a:r>
              <a:br/>
              <a:r>
                <a:rPr lang="zh-CN" sz="1120" b="1" dirty="0">
                  <a:solidFill>
                    <a:srgbClr val="A52D12"/>
                  </a:solidFill>
                  <a:latin typeface="+mn-lt"/>
                  <a:ea typeface="+mn-ea"/>
                  <a:cs typeface="+mn-cs"/>
                </a:rPr>
                <a:t>赋</a:t>
              </a:r>
              <a:br/>
              <a:r>
                <a:rPr lang="zh-CN" sz="1120" b="1" dirty="0">
                  <a:solidFill>
                    <a:srgbClr val="A52D12"/>
                  </a:solidFill>
                  <a:latin typeface="+mn-lt"/>
                  <a:ea typeface="+mn-ea"/>
                  <a:cs typeface="+mn-cs"/>
                </a:rPr>
                <a:t>能</a:t>
              </a:r>
            </a:p>
          </p:txBody>
        </p:sp>
        <p:sp>
          <p:nvSpPr>
            <p:cNvPr id="96" name="Rectangle 96"/>
            <p:cNvSpPr/>
            <p:nvPr/>
          </p:nvSpPr>
          <p:spPr>
            <a:xfrm>
              <a:off x="5143500" y="2838450"/>
              <a:ext cx="666750" cy="76200"/>
            </a:xfrm>
            <a:prstGeom prst="rect">
              <a:avLst/>
            </a:prstGeom>
            <a:solidFill>
              <a:srgbClr val="C9604E"/>
            </a:solidFill>
            <a:ln>
              <a:noFill/>
            </a:ln>
          </p:spPr>
        </p:sp>
        <p:sp>
          <p:nvSpPr>
            <p:cNvPr id="97" name="Rectangle 97"/>
            <p:cNvSpPr/>
            <p:nvPr/>
          </p:nvSpPr>
          <p:spPr>
            <a:xfrm>
              <a:off x="5181600" y="2914650"/>
              <a:ext cx="590550" cy="1752600"/>
            </a:xfrm>
            <a:prstGeom prst="rect">
              <a:avLst/>
            </a:prstGeom>
            <a:solidFill>
              <a:srgbClr val="FDF6F5"/>
            </a:solidFill>
            <a:ln w="9525">
              <a:solidFill>
                <a:srgbClr val="E4AFA6"/>
              </a:solidFill>
            </a:ln>
          </p:spPr>
        </p:sp>
        <p:sp>
          <p:nvSpPr>
            <p:cNvPr id="98" name="Ellipse 98"/>
            <p:cNvSpPr/>
            <p:nvPr/>
          </p:nvSpPr>
          <p:spPr>
            <a:xfrm>
              <a:off x="5362575" y="2990850"/>
              <a:ext cx="228600" cy="228600"/>
            </a:xfrm>
            <a:prstGeom prst="ellipse">
              <a:avLst/>
            </a:prstGeom>
            <a:solidFill>
              <a:srgbClr val="A52D12"/>
            </a:solidFill>
            <a:ln>
              <a:noFill/>
            </a:ln>
          </p:spPr>
        </p:sp>
        <p:grpSp>
          <p:nvGrpSpPr>
            <p:cNvPr id="101" name="Group 101"/>
            <p:cNvGrpSpPr/>
            <p:nvPr/>
          </p:nvGrpSpPr>
          <p:grpSpPr>
            <a:xfrm>
              <a:off x="5432425" y="3071812"/>
              <a:ext cx="88900" cy="81757"/>
              <a:chOff x="5432425" y="3071812"/>
              <a:chExt cx="88900" cy="81757"/>
            </a:xfrm>
          </p:grpSpPr>
          <p:sp>
            <p:nvSpPr>
              <p:cNvPr id="99" name="Freeform 99"/>
              <p:cNvSpPr/>
              <p:nvPr/>
            </p:nvSpPr>
            <p:spPr>
              <a:xfrm>
                <a:off x="5432425" y="3144044"/>
                <a:ext cx="88900" cy="9525"/>
              </a:xfrm>
              <a:custGeom>
                <a:avLst/>
                <a:gdLst/>
                <a:ahLst/>
                <a:cxnLst/>
                <a:rect l="l" t="t" r="r" b="b"/>
                <a:pathLst>
                  <a:path w="88900" h="9525">
                    <a:moveTo>
                      <a:pt x="0" y="0"/>
                    </a:moveTo>
                    <a:lnTo>
                      <a:pt x="88900" y="0"/>
                    </a:lnTo>
                  </a:path>
                </a:pathLst>
              </a:custGeom>
              <a:noFill/>
              <a:ln w="11112">
                <a:solidFill>
                  <a:srgbClr val="FFFFFF"/>
                </a:solidFill>
              </a:ln>
            </p:spPr>
          </p:sp>
          <p:sp>
            <p:nvSpPr>
              <p:cNvPr id="100" name="Freeform 100"/>
              <p:cNvSpPr/>
              <p:nvPr/>
            </p:nvSpPr>
            <p:spPr>
              <a:xfrm>
                <a:off x="5432425" y="3071812"/>
                <a:ext cx="88900" cy="50006"/>
              </a:xfrm>
              <a:custGeom>
                <a:avLst/>
                <a:gdLst/>
                <a:ahLst/>
                <a:cxnLst/>
                <a:rect l="l" t="t" r="r" b="b"/>
                <a:pathLst>
                  <a:path w="88900" h="50006">
                    <a:moveTo>
                      <a:pt x="0" y="50006"/>
                    </a:moveTo>
                    <a:lnTo>
                      <a:pt x="22225" y="16669"/>
                    </a:lnTo>
                    <a:lnTo>
                      <a:pt x="44450" y="27781"/>
                    </a:lnTo>
                    <a:lnTo>
                      <a:pt x="66675" y="0"/>
                    </a:lnTo>
                    <a:lnTo>
                      <a:pt x="88900" y="22225"/>
                    </a:lnTo>
                  </a:path>
                </a:pathLst>
              </a:custGeom>
              <a:noFill/>
              <a:ln w="11112">
                <a:solidFill>
                  <a:srgbClr val="FFFFFF"/>
                </a:solidFill>
              </a:ln>
            </p:spPr>
          </p:sp>
        </p:grpSp>
        <p:sp>
          <p:nvSpPr>
            <p:cNvPr id="102" name="TextBox 102"/>
            <p:cNvSpPr txBox="1"/>
            <p:nvPr/>
          </p:nvSpPr>
          <p:spPr>
            <a:xfrm>
              <a:off x="5400040" y="3326606"/>
              <a:ext cx="153670" cy="791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A52D12"/>
                  </a:solidFill>
                  <a:latin typeface="+mn-lt"/>
                  <a:ea typeface="+mn-ea"/>
                  <a:cs typeface="+mn-cs"/>
                </a:rPr>
                <a:t>中</a:t>
              </a:r>
              <a:br/>
              <a:r>
                <a:rPr lang="zh-CN" sz="1120" b="1" dirty="0">
                  <a:solidFill>
                    <a:srgbClr val="A52D12"/>
                  </a:solidFill>
                  <a:latin typeface="+mn-lt"/>
                  <a:ea typeface="+mn-ea"/>
                  <a:cs typeface="+mn-cs"/>
                </a:rPr>
                <a:t>收</a:t>
              </a:r>
              <a:br/>
              <a:r>
                <a:rPr lang="zh-CN" sz="1120" b="1" dirty="0">
                  <a:solidFill>
                    <a:srgbClr val="A52D12"/>
                  </a:solidFill>
                  <a:latin typeface="+mn-lt"/>
                  <a:ea typeface="+mn-ea"/>
                  <a:cs typeface="+mn-cs"/>
                </a:rPr>
                <a:t>突</a:t>
              </a:r>
              <a:br/>
              <a:r>
                <a:rPr lang="zh-CN" sz="1120" b="1" dirty="0">
                  <a:solidFill>
                    <a:srgbClr val="A52D12"/>
                  </a:solidFill>
                  <a:latin typeface="+mn-lt"/>
                  <a:ea typeface="+mn-ea"/>
                  <a:cs typeface="+mn-cs"/>
                </a:rPr>
                <a:t>破</a:t>
              </a:r>
            </a:p>
          </p:txBody>
        </p:sp>
        <p:sp>
          <p:nvSpPr>
            <p:cNvPr id="103" name="Rectangle 103"/>
            <p:cNvSpPr/>
            <p:nvPr/>
          </p:nvSpPr>
          <p:spPr>
            <a:xfrm>
              <a:off x="6191250" y="2838450"/>
              <a:ext cx="666750" cy="76200"/>
            </a:xfrm>
            <a:prstGeom prst="rect">
              <a:avLst/>
            </a:prstGeom>
            <a:solidFill>
              <a:srgbClr val="C9604E"/>
            </a:solidFill>
            <a:ln>
              <a:noFill/>
            </a:ln>
          </p:spPr>
        </p:sp>
        <p:sp>
          <p:nvSpPr>
            <p:cNvPr id="104" name="Rectangle 104"/>
            <p:cNvSpPr/>
            <p:nvPr/>
          </p:nvSpPr>
          <p:spPr>
            <a:xfrm>
              <a:off x="6229350" y="2914650"/>
              <a:ext cx="590550" cy="1752600"/>
            </a:xfrm>
            <a:prstGeom prst="rect">
              <a:avLst/>
            </a:prstGeom>
            <a:solidFill>
              <a:srgbClr val="FDF6F5"/>
            </a:solidFill>
            <a:ln w="9525">
              <a:solidFill>
                <a:srgbClr val="E4AFA6"/>
              </a:solidFill>
            </a:ln>
          </p:spPr>
        </p:sp>
        <p:sp>
          <p:nvSpPr>
            <p:cNvPr id="105" name="Ellipse 105"/>
            <p:cNvSpPr/>
            <p:nvPr/>
          </p:nvSpPr>
          <p:spPr>
            <a:xfrm>
              <a:off x="6410325" y="2990850"/>
              <a:ext cx="228600" cy="228600"/>
            </a:xfrm>
            <a:prstGeom prst="ellipse">
              <a:avLst/>
            </a:prstGeom>
            <a:solidFill>
              <a:srgbClr val="A52D12"/>
            </a:solidFill>
            <a:ln>
              <a:noFill/>
            </a:ln>
          </p:spPr>
        </p:sp>
        <p:grpSp>
          <p:nvGrpSpPr>
            <p:cNvPr id="108" name="Group 108"/>
            <p:cNvGrpSpPr/>
            <p:nvPr/>
          </p:nvGrpSpPr>
          <p:grpSpPr>
            <a:xfrm>
              <a:off x="6467120" y="3055144"/>
              <a:ext cx="108504" cy="100012"/>
              <a:chOff x="6467120" y="3055144"/>
              <a:chExt cx="108504" cy="100012"/>
            </a:xfrm>
          </p:grpSpPr>
          <p:sp>
            <p:nvSpPr>
              <p:cNvPr id="106" name="Freeform 106"/>
              <p:cNvSpPr/>
              <p:nvPr/>
            </p:nvSpPr>
            <p:spPr>
              <a:xfrm>
                <a:off x="6467120" y="3055144"/>
                <a:ext cx="108504" cy="99157"/>
              </a:xfrm>
              <a:custGeom>
                <a:avLst/>
                <a:gdLst/>
                <a:ahLst/>
                <a:cxnLst/>
                <a:rect l="l" t="t" r="r" b="b"/>
                <a:pathLst>
                  <a:path w="108504" h="99157">
                    <a:moveTo>
                      <a:pt x="54504" y="99157"/>
                    </a:moveTo>
                    <a:cubicBezTo>
                      <a:pt x="19697" y="88367"/>
                      <a:pt x="0" y="51631"/>
                      <a:pt x="10277" y="16669"/>
                    </a:cubicBezTo>
                    <a:cubicBezTo>
                      <a:pt x="27587" y="17461"/>
                      <a:pt x="44526" y="11482"/>
                      <a:pt x="57505" y="0"/>
                    </a:cubicBezTo>
                    <a:cubicBezTo>
                      <a:pt x="70483" y="11482"/>
                      <a:pt x="87422" y="17461"/>
                      <a:pt x="104733" y="16669"/>
                    </a:cubicBezTo>
                    <a:cubicBezTo>
                      <a:pt x="108504" y="29499"/>
                      <a:pt x="108329" y="43166"/>
                      <a:pt x="104233" y="55896"/>
                    </a:cubicBezTo>
                  </a:path>
                </a:pathLst>
              </a:custGeom>
              <a:noFill/>
              <a:ln w="11112">
                <a:solidFill>
                  <a:srgbClr val="FFFFFF"/>
                </a:solidFill>
              </a:ln>
            </p:spPr>
          </p:sp>
          <p:sp>
            <p:nvSpPr>
              <p:cNvPr id="107" name="Freeform 107"/>
              <p:cNvSpPr/>
              <p:nvPr/>
            </p:nvSpPr>
            <p:spPr>
              <a:xfrm>
                <a:off x="6541294" y="3132931"/>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109" name="TextBox 109"/>
            <p:cNvSpPr txBox="1"/>
            <p:nvPr/>
          </p:nvSpPr>
          <p:spPr>
            <a:xfrm>
              <a:off x="6447790" y="3326606"/>
              <a:ext cx="153670" cy="791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A52D12"/>
                  </a:solidFill>
                  <a:latin typeface="+mn-lt"/>
                  <a:ea typeface="+mn-ea"/>
                  <a:cs typeface="+mn-cs"/>
                </a:rPr>
                <a:t>风</a:t>
              </a:r>
              <a:br/>
              <a:r>
                <a:rPr lang="zh-CN" sz="1120" b="1" dirty="0">
                  <a:solidFill>
                    <a:srgbClr val="A52D12"/>
                  </a:solidFill>
                  <a:latin typeface="+mn-lt"/>
                  <a:ea typeface="+mn-ea"/>
                  <a:cs typeface="+mn-cs"/>
                </a:rPr>
                <a:t>险</a:t>
              </a:r>
              <a:br/>
              <a:r>
                <a:rPr lang="zh-CN" sz="1120" b="1" dirty="0">
                  <a:solidFill>
                    <a:srgbClr val="A52D12"/>
                  </a:solidFill>
                  <a:latin typeface="+mn-lt"/>
                  <a:ea typeface="+mn-ea"/>
                  <a:cs typeface="+mn-cs"/>
                </a:rPr>
                <a:t>攻</a:t>
              </a:r>
              <a:br/>
              <a:r>
                <a:rPr lang="zh-CN" sz="1120" b="1" dirty="0">
                  <a:solidFill>
                    <a:srgbClr val="A52D12"/>
                  </a:solidFill>
                  <a:latin typeface="+mn-lt"/>
                  <a:ea typeface="+mn-ea"/>
                  <a:cs typeface="+mn-cs"/>
                </a:rPr>
                <a:t>坚</a:t>
              </a:r>
            </a:p>
          </p:txBody>
        </p:sp>
        <p:sp>
          <p:nvSpPr>
            <p:cNvPr id="110" name="Rectangle 110"/>
            <p:cNvSpPr/>
            <p:nvPr/>
          </p:nvSpPr>
          <p:spPr>
            <a:xfrm>
              <a:off x="571500" y="4667250"/>
              <a:ext cx="6667500" cy="57150"/>
            </a:xfrm>
            <a:prstGeom prst="rect">
              <a:avLst/>
            </a:prstGeom>
            <a:solidFill>
              <a:srgbClr val="A52D12"/>
            </a:solidFill>
            <a:ln>
              <a:noFill/>
            </a:ln>
          </p:spPr>
        </p:sp>
        <p:sp>
          <p:nvSpPr>
            <p:cNvPr id="111" name="Rectangle 111"/>
            <p:cNvSpPr/>
            <p:nvPr/>
          </p:nvSpPr>
          <p:spPr>
            <a:xfrm>
              <a:off x="571500" y="4724400"/>
              <a:ext cx="6667500" cy="419100"/>
            </a:xfrm>
            <a:prstGeom prst="roundRect">
              <a:avLst>
                <a:gd name="adj" fmla="val 9091"/>
              </a:avLst>
            </a:prstGeom>
            <a:solidFill>
              <a:srgbClr val="FBEFEE"/>
            </a:solidFill>
            <a:ln w="9525">
              <a:solidFill>
                <a:srgbClr val="EDD5D2"/>
              </a:solidFill>
            </a:ln>
          </p:spPr>
        </p:sp>
        <p:grpSp>
          <p:nvGrpSpPr>
            <p:cNvPr id="114" name="Group 114"/>
            <p:cNvGrpSpPr/>
            <p:nvPr/>
          </p:nvGrpSpPr>
          <p:grpSpPr>
            <a:xfrm>
              <a:off x="954087" y="4863261"/>
              <a:ext cx="111125" cy="142126"/>
              <a:chOff x="954087" y="4863261"/>
              <a:chExt cx="111125" cy="142126"/>
            </a:xfrm>
          </p:grpSpPr>
          <p:sp>
            <p:nvSpPr>
              <p:cNvPr id="112" name="Freeform 112"/>
              <p:cNvSpPr/>
              <p:nvPr/>
            </p:nvSpPr>
            <p:spPr>
              <a:xfrm>
                <a:off x="954087" y="4863261"/>
                <a:ext cx="111125" cy="101691"/>
              </a:xfrm>
              <a:custGeom>
                <a:avLst/>
                <a:gdLst/>
                <a:ahLst/>
                <a:cxnLst/>
                <a:rect l="l" t="t" r="r" b="b"/>
                <a:pathLst>
                  <a:path w="111125" h="101691">
                    <a:moveTo>
                      <a:pt x="0" y="15127"/>
                    </a:moveTo>
                    <a:cubicBezTo>
                      <a:pt x="15432" y="0"/>
                      <a:pt x="40130" y="0"/>
                      <a:pt x="55562" y="15127"/>
                    </a:cubicBezTo>
                    <a:cubicBezTo>
                      <a:pt x="70995" y="30253"/>
                      <a:pt x="95693" y="30253"/>
                      <a:pt x="111125" y="15127"/>
                    </a:cubicBezTo>
                    <a:lnTo>
                      <a:pt x="111125" y="86564"/>
                    </a:lnTo>
                    <a:cubicBezTo>
                      <a:pt x="95693" y="101691"/>
                      <a:pt x="70995" y="101691"/>
                      <a:pt x="55562" y="86564"/>
                    </a:cubicBezTo>
                    <a:cubicBezTo>
                      <a:pt x="40130" y="71437"/>
                      <a:pt x="15432" y="71437"/>
                      <a:pt x="0" y="86564"/>
                    </a:cubicBezTo>
                    <a:lnTo>
                      <a:pt x="0" y="15127"/>
                    </a:lnTo>
                  </a:path>
                </a:pathLst>
              </a:custGeom>
              <a:noFill/>
              <a:ln w="15875">
                <a:solidFill>
                  <a:srgbClr val="A52D12"/>
                </a:solidFill>
              </a:ln>
            </p:spPr>
          </p:sp>
          <p:sp>
            <p:nvSpPr>
              <p:cNvPr id="113" name="Freeform 113"/>
              <p:cNvSpPr/>
              <p:nvPr/>
            </p:nvSpPr>
            <p:spPr>
              <a:xfrm>
                <a:off x="954087" y="4949825"/>
                <a:ext cx="9525" cy="55562"/>
              </a:xfrm>
              <a:custGeom>
                <a:avLst/>
                <a:gdLst/>
                <a:ahLst/>
                <a:cxnLst/>
                <a:rect l="l" t="t" r="r" b="b"/>
                <a:pathLst>
                  <a:path w="9525" h="55562">
                    <a:moveTo>
                      <a:pt x="0" y="55562"/>
                    </a:moveTo>
                    <a:lnTo>
                      <a:pt x="0" y="0"/>
                    </a:lnTo>
                  </a:path>
                </a:pathLst>
              </a:custGeom>
              <a:noFill/>
              <a:ln w="15875">
                <a:solidFill>
                  <a:srgbClr val="A52D12"/>
                </a:solidFill>
              </a:ln>
            </p:spPr>
          </p:sp>
        </p:grpSp>
        <p:sp>
          <p:nvSpPr>
            <p:cNvPr id="115" name="TextBox 115"/>
            <p:cNvSpPr txBox="1"/>
            <p:nvPr/>
          </p:nvSpPr>
          <p:spPr>
            <a:xfrm>
              <a:off x="1176338" y="4880372"/>
              <a:ext cx="515696" cy="183356"/>
            </a:xfrm>
            <a:prstGeom prst="rect">
              <a:avLst/>
            </a:prstGeom>
            <a:noFill/>
            <a:ln>
              <a:noFill/>
            </a:ln>
          </p:spPr>
          <p:txBody>
            <a:bodyPr wrap="none" lIns="0" tIns="0" rIns="0" bIns="0" anchor="t" anchorCtr="0">
              <a:spAutoFit/>
            </a:bodyPr>
            <a:lstStyle/>
            <a:p>
              <a:pPr algn="l"/>
              <a:r>
                <a:rPr lang="zh-CN" sz="940" b="1" dirty="0">
                  <a:solidFill>
                    <a:srgbClr val="3A3A3A"/>
                  </a:solidFill>
                  <a:latin typeface="+mn-lt"/>
                  <a:ea typeface="+mn-ea"/>
                  <a:cs typeface="+mn-cs"/>
                </a:rPr>
                <a:t>党建引领</a:t>
              </a:r>
            </a:p>
          </p:txBody>
        </p:sp>
        <p:sp>
          <p:nvSpPr>
            <p:cNvPr id="116" name="Line 116"/>
            <p:cNvSpPr/>
            <p:nvPr/>
          </p:nvSpPr>
          <p:spPr>
            <a:xfrm>
              <a:off x="2247900" y="4800600"/>
              <a:ext cx="9525" cy="266700"/>
            </a:xfrm>
            <a:custGeom>
              <a:avLst/>
              <a:gdLst/>
              <a:ahLst/>
              <a:cxnLst/>
              <a:rect l="l" t="t" r="r" b="b"/>
              <a:pathLst>
                <a:path w="9525" h="266700">
                  <a:moveTo>
                    <a:pt x="0" y="0"/>
                  </a:moveTo>
                  <a:lnTo>
                    <a:pt x="0" y="266700"/>
                  </a:lnTo>
                </a:path>
              </a:pathLst>
            </a:custGeom>
            <a:noFill/>
            <a:ln w="9525">
              <a:solidFill>
                <a:srgbClr val="EDD5D2"/>
              </a:solidFill>
            </a:ln>
          </p:spPr>
        </p:sp>
        <p:grpSp>
          <p:nvGrpSpPr>
            <p:cNvPr id="119" name="Group 119"/>
            <p:cNvGrpSpPr/>
            <p:nvPr/>
          </p:nvGrpSpPr>
          <p:grpSpPr>
            <a:xfrm>
              <a:off x="2611128" y="4859028"/>
              <a:ext cx="149844" cy="149844"/>
              <a:chOff x="2611128" y="4859028"/>
              <a:chExt cx="149844" cy="149844"/>
            </a:xfrm>
          </p:grpSpPr>
          <p:sp>
            <p:nvSpPr>
              <p:cNvPr id="117" name="Freeform 117"/>
              <p:cNvSpPr/>
              <p:nvPr/>
            </p:nvSpPr>
            <p:spPr>
              <a:xfrm>
                <a:off x="2611128" y="485902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A52D12"/>
                </a:solidFill>
              </a:ln>
            </p:spPr>
          </p:sp>
          <p:sp>
            <p:nvSpPr>
              <p:cNvPr id="118" name="Freeform 118"/>
              <p:cNvSpPr/>
              <p:nvPr/>
            </p:nvSpPr>
            <p:spPr>
              <a:xfrm>
                <a:off x="2662237" y="491013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A52D12"/>
                </a:solidFill>
              </a:ln>
            </p:spPr>
          </p:sp>
        </p:grpSp>
        <p:sp>
          <p:nvSpPr>
            <p:cNvPr id="120" name="TextBox 120"/>
            <p:cNvSpPr txBox="1"/>
            <p:nvPr/>
          </p:nvSpPr>
          <p:spPr>
            <a:xfrm>
              <a:off x="2852738" y="4880372"/>
              <a:ext cx="515696" cy="183356"/>
            </a:xfrm>
            <a:prstGeom prst="rect">
              <a:avLst/>
            </a:prstGeom>
            <a:noFill/>
            <a:ln>
              <a:noFill/>
            </a:ln>
          </p:spPr>
          <p:txBody>
            <a:bodyPr wrap="none" lIns="0" tIns="0" rIns="0" bIns="0" anchor="t" anchorCtr="0">
              <a:spAutoFit/>
            </a:bodyPr>
            <a:lstStyle/>
            <a:p>
              <a:pPr algn="l"/>
              <a:r>
                <a:rPr lang="zh-CN" sz="940" b="1" dirty="0">
                  <a:solidFill>
                    <a:srgbClr val="3A3A3A"/>
                  </a:solidFill>
                  <a:latin typeface="+mn-lt"/>
                  <a:ea typeface="+mn-ea"/>
                  <a:cs typeface="+mn-cs"/>
                </a:rPr>
                <a:t>机制保障</a:t>
              </a:r>
            </a:p>
          </p:txBody>
        </p:sp>
        <p:sp>
          <p:nvSpPr>
            <p:cNvPr id="121" name="Line 121"/>
            <p:cNvSpPr/>
            <p:nvPr/>
          </p:nvSpPr>
          <p:spPr>
            <a:xfrm>
              <a:off x="3924300" y="4800600"/>
              <a:ext cx="9525" cy="266700"/>
            </a:xfrm>
            <a:custGeom>
              <a:avLst/>
              <a:gdLst/>
              <a:ahLst/>
              <a:cxnLst/>
              <a:rect l="l" t="t" r="r" b="b"/>
              <a:pathLst>
                <a:path w="9525" h="266700">
                  <a:moveTo>
                    <a:pt x="0" y="0"/>
                  </a:moveTo>
                  <a:lnTo>
                    <a:pt x="0" y="266700"/>
                  </a:lnTo>
                </a:path>
              </a:pathLst>
            </a:custGeom>
            <a:noFill/>
            <a:ln w="9525">
              <a:solidFill>
                <a:srgbClr val="EDD5D2"/>
              </a:solidFill>
            </a:ln>
          </p:spPr>
        </p:sp>
        <p:grpSp>
          <p:nvGrpSpPr>
            <p:cNvPr id="125" name="Group 125"/>
            <p:cNvGrpSpPr/>
            <p:nvPr/>
          </p:nvGrpSpPr>
          <p:grpSpPr>
            <a:xfrm>
              <a:off x="4314825" y="4862512"/>
              <a:ext cx="119062" cy="142875"/>
              <a:chOff x="4314825" y="4862512"/>
              <a:chExt cx="119062" cy="142875"/>
            </a:xfrm>
          </p:grpSpPr>
          <p:sp>
            <p:nvSpPr>
              <p:cNvPr id="122" name="Freeform 122"/>
              <p:cNvSpPr/>
              <p:nvPr/>
            </p:nvSpPr>
            <p:spPr>
              <a:xfrm>
                <a:off x="4330700" y="48625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A52D12"/>
                </a:solidFill>
              </a:ln>
            </p:spPr>
          </p:sp>
          <p:sp>
            <p:nvSpPr>
              <p:cNvPr id="123" name="Freeform 123"/>
              <p:cNvSpPr/>
              <p:nvPr/>
            </p:nvSpPr>
            <p:spPr>
              <a:xfrm>
                <a:off x="4314825" y="4957762"/>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15875">
                <a:solidFill>
                  <a:srgbClr val="A52D12"/>
                </a:solidFill>
              </a:ln>
            </p:spPr>
          </p:sp>
          <p:sp>
            <p:nvSpPr>
              <p:cNvPr id="124" name="Freeform 124"/>
              <p:cNvSpPr/>
              <p:nvPr/>
            </p:nvSpPr>
            <p:spPr>
              <a:xfrm>
                <a:off x="4386262" y="4973637"/>
                <a:ext cx="47625" cy="31750"/>
              </a:xfrm>
              <a:custGeom>
                <a:avLst/>
                <a:gdLst/>
                <a:ahLst/>
                <a:cxnLst/>
                <a:rect l="l" t="t" r="r" b="b"/>
                <a:pathLst>
                  <a:path w="47625" h="31750">
                    <a:moveTo>
                      <a:pt x="0" y="15875"/>
                    </a:moveTo>
                    <a:lnTo>
                      <a:pt x="15875" y="31750"/>
                    </a:lnTo>
                    <a:lnTo>
                      <a:pt x="47625" y="0"/>
                    </a:lnTo>
                  </a:path>
                </a:pathLst>
              </a:custGeom>
              <a:noFill/>
              <a:ln w="15875">
                <a:solidFill>
                  <a:srgbClr val="A52D12"/>
                </a:solidFill>
              </a:ln>
            </p:spPr>
          </p:sp>
        </p:grpSp>
        <p:sp>
          <p:nvSpPr>
            <p:cNvPr id="126" name="TextBox 126"/>
            <p:cNvSpPr txBox="1"/>
            <p:nvPr/>
          </p:nvSpPr>
          <p:spPr>
            <a:xfrm>
              <a:off x="4529138" y="4880372"/>
              <a:ext cx="515696" cy="183356"/>
            </a:xfrm>
            <a:prstGeom prst="rect">
              <a:avLst/>
            </a:prstGeom>
            <a:noFill/>
            <a:ln>
              <a:noFill/>
            </a:ln>
          </p:spPr>
          <p:txBody>
            <a:bodyPr wrap="none" lIns="0" tIns="0" rIns="0" bIns="0" anchor="t" anchorCtr="0">
              <a:spAutoFit/>
            </a:bodyPr>
            <a:lstStyle/>
            <a:p>
              <a:pPr algn="l"/>
              <a:r>
                <a:rPr lang="zh-CN" sz="940" b="1" dirty="0">
                  <a:solidFill>
                    <a:srgbClr val="3A3A3A"/>
                  </a:solidFill>
                  <a:latin typeface="+mn-lt"/>
                  <a:ea typeface="+mn-ea"/>
                  <a:cs typeface="+mn-cs"/>
                </a:rPr>
                <a:t>人才支撑</a:t>
              </a:r>
            </a:p>
          </p:txBody>
        </p:sp>
        <p:sp>
          <p:nvSpPr>
            <p:cNvPr id="127" name="Line 127"/>
            <p:cNvSpPr/>
            <p:nvPr/>
          </p:nvSpPr>
          <p:spPr>
            <a:xfrm>
              <a:off x="5600700" y="4800600"/>
              <a:ext cx="9525" cy="266700"/>
            </a:xfrm>
            <a:custGeom>
              <a:avLst/>
              <a:gdLst/>
              <a:ahLst/>
              <a:cxnLst/>
              <a:rect l="l" t="t" r="r" b="b"/>
              <a:pathLst>
                <a:path w="9525" h="266700">
                  <a:moveTo>
                    <a:pt x="0" y="0"/>
                  </a:moveTo>
                  <a:lnTo>
                    <a:pt x="0" y="266700"/>
                  </a:lnTo>
                </a:path>
              </a:pathLst>
            </a:custGeom>
            <a:noFill/>
            <a:ln w="9525">
              <a:solidFill>
                <a:srgbClr val="EDD5D2"/>
              </a:solidFill>
            </a:ln>
          </p:spPr>
        </p:sp>
        <p:grpSp>
          <p:nvGrpSpPr>
            <p:cNvPr id="133" name="Group 133"/>
            <p:cNvGrpSpPr/>
            <p:nvPr/>
          </p:nvGrpSpPr>
          <p:grpSpPr>
            <a:xfrm>
              <a:off x="5967412" y="4862512"/>
              <a:ext cx="142875" cy="144463"/>
              <a:chOff x="5967412" y="4862512"/>
              <a:chExt cx="142875" cy="144463"/>
            </a:xfrm>
          </p:grpSpPr>
          <p:sp>
            <p:nvSpPr>
              <p:cNvPr id="128" name="Freeform 128"/>
              <p:cNvSpPr/>
              <p:nvPr/>
            </p:nvSpPr>
            <p:spPr>
              <a:xfrm>
                <a:off x="5999162" y="4997450"/>
                <a:ext cx="79375" cy="9525"/>
              </a:xfrm>
              <a:custGeom>
                <a:avLst/>
                <a:gdLst/>
                <a:ahLst/>
                <a:cxnLst/>
                <a:rect l="l" t="t" r="r" b="b"/>
                <a:pathLst>
                  <a:path w="79375" h="9525">
                    <a:moveTo>
                      <a:pt x="0" y="0"/>
                    </a:moveTo>
                    <a:lnTo>
                      <a:pt x="79375" y="0"/>
                    </a:lnTo>
                  </a:path>
                </a:pathLst>
              </a:custGeom>
              <a:noFill/>
              <a:ln w="15875">
                <a:solidFill>
                  <a:srgbClr val="A52D12"/>
                </a:solidFill>
              </a:ln>
            </p:spPr>
          </p:sp>
          <p:sp>
            <p:nvSpPr>
              <p:cNvPr id="129" name="Freeform 129"/>
              <p:cNvSpPr/>
              <p:nvPr/>
            </p:nvSpPr>
            <p:spPr>
              <a:xfrm>
                <a:off x="5991225" y="4878387"/>
                <a:ext cx="95250" cy="9525"/>
              </a:xfrm>
              <a:custGeom>
                <a:avLst/>
                <a:gdLst/>
                <a:ahLst/>
                <a:cxnLst/>
                <a:rect l="l" t="t" r="r" b="b"/>
                <a:pathLst>
                  <a:path w="95250" h="9525">
                    <a:moveTo>
                      <a:pt x="0" y="7937"/>
                    </a:moveTo>
                    <a:lnTo>
                      <a:pt x="47625" y="0"/>
                    </a:lnTo>
                    <a:lnTo>
                      <a:pt x="95250" y="7937"/>
                    </a:lnTo>
                  </a:path>
                </a:pathLst>
              </a:custGeom>
              <a:noFill/>
              <a:ln w="15875">
                <a:solidFill>
                  <a:srgbClr val="A52D12"/>
                </a:solidFill>
              </a:ln>
            </p:spPr>
          </p:sp>
          <p:sp>
            <p:nvSpPr>
              <p:cNvPr id="130" name="Freeform 130"/>
              <p:cNvSpPr/>
              <p:nvPr/>
            </p:nvSpPr>
            <p:spPr>
              <a:xfrm>
                <a:off x="6038850" y="4862512"/>
                <a:ext cx="9525" cy="134937"/>
              </a:xfrm>
              <a:custGeom>
                <a:avLst/>
                <a:gdLst/>
                <a:ahLst/>
                <a:cxnLst/>
                <a:rect l="l" t="t" r="r" b="b"/>
                <a:pathLst>
                  <a:path w="9525" h="134937">
                    <a:moveTo>
                      <a:pt x="0" y="0"/>
                    </a:moveTo>
                    <a:lnTo>
                      <a:pt x="0" y="134937"/>
                    </a:lnTo>
                  </a:path>
                </a:pathLst>
              </a:custGeom>
              <a:noFill/>
              <a:ln w="15875">
                <a:solidFill>
                  <a:srgbClr val="A52D12"/>
                </a:solidFill>
              </a:ln>
            </p:spPr>
          </p:sp>
          <p:sp>
            <p:nvSpPr>
              <p:cNvPr id="131" name="Freeform 131"/>
              <p:cNvSpPr/>
              <p:nvPr/>
            </p:nvSpPr>
            <p:spPr>
              <a:xfrm>
                <a:off x="5967412" y="4886325"/>
                <a:ext cx="47625" cy="71437"/>
              </a:xfrm>
              <a:custGeom>
                <a:avLst/>
                <a:gdLst/>
                <a:ahLst/>
                <a:cxnLst/>
                <a:rect l="l" t="t" r="r" b="b"/>
                <a:pathLst>
                  <a:path w="47625" h="71437">
                    <a:moveTo>
                      <a:pt x="47625" y="47625"/>
                    </a:moveTo>
                    <a:lnTo>
                      <a:pt x="23812" y="0"/>
                    </a:lnTo>
                    <a:lnTo>
                      <a:pt x="0" y="47625"/>
                    </a:lnTo>
                    <a:cubicBezTo>
                      <a:pt x="0" y="60776"/>
                      <a:pt x="10661" y="71437"/>
                      <a:pt x="23812" y="71437"/>
                    </a:cubicBezTo>
                    <a:cubicBezTo>
                      <a:pt x="36964" y="71437"/>
                      <a:pt x="47625" y="60776"/>
                      <a:pt x="47625" y="47625"/>
                    </a:cubicBezTo>
                  </a:path>
                </a:pathLst>
              </a:custGeom>
              <a:noFill/>
              <a:ln w="15875">
                <a:solidFill>
                  <a:srgbClr val="A52D12"/>
                </a:solidFill>
              </a:ln>
            </p:spPr>
          </p:sp>
          <p:sp>
            <p:nvSpPr>
              <p:cNvPr id="132" name="Freeform 132"/>
              <p:cNvSpPr/>
              <p:nvPr/>
            </p:nvSpPr>
            <p:spPr>
              <a:xfrm>
                <a:off x="6062662" y="4886325"/>
                <a:ext cx="47625" cy="71437"/>
              </a:xfrm>
              <a:custGeom>
                <a:avLst/>
                <a:gdLst/>
                <a:ahLst/>
                <a:cxnLst/>
                <a:rect l="l" t="t" r="r" b="b"/>
                <a:pathLst>
                  <a:path w="47625" h="71437">
                    <a:moveTo>
                      <a:pt x="47625" y="47625"/>
                    </a:moveTo>
                    <a:lnTo>
                      <a:pt x="23812" y="0"/>
                    </a:lnTo>
                    <a:lnTo>
                      <a:pt x="0" y="47625"/>
                    </a:lnTo>
                    <a:cubicBezTo>
                      <a:pt x="0" y="60776"/>
                      <a:pt x="10661" y="71437"/>
                      <a:pt x="23812" y="71437"/>
                    </a:cubicBezTo>
                    <a:cubicBezTo>
                      <a:pt x="36964" y="71437"/>
                      <a:pt x="47625" y="60776"/>
                      <a:pt x="47625" y="47625"/>
                    </a:cubicBezTo>
                  </a:path>
                </a:pathLst>
              </a:custGeom>
              <a:noFill/>
              <a:ln w="15875">
                <a:solidFill>
                  <a:srgbClr val="A52D12"/>
                </a:solidFill>
              </a:ln>
            </p:spPr>
          </p:sp>
        </p:grpSp>
        <p:sp>
          <p:nvSpPr>
            <p:cNvPr id="134" name="TextBox 134"/>
            <p:cNvSpPr txBox="1"/>
            <p:nvPr/>
          </p:nvSpPr>
          <p:spPr>
            <a:xfrm>
              <a:off x="6205538" y="4880372"/>
              <a:ext cx="515696" cy="183356"/>
            </a:xfrm>
            <a:prstGeom prst="rect">
              <a:avLst/>
            </a:prstGeom>
            <a:noFill/>
            <a:ln>
              <a:noFill/>
            </a:ln>
          </p:spPr>
          <p:txBody>
            <a:bodyPr wrap="none" lIns="0" tIns="0" rIns="0" bIns="0" anchor="t" anchorCtr="0">
              <a:spAutoFit/>
            </a:bodyPr>
            <a:lstStyle/>
            <a:p>
              <a:pPr algn="l"/>
              <a:r>
                <a:rPr lang="zh-CN" sz="940" b="1" dirty="0">
                  <a:solidFill>
                    <a:srgbClr val="3A3A3A"/>
                  </a:solidFill>
                  <a:latin typeface="+mn-lt"/>
                  <a:ea typeface="+mn-ea"/>
                  <a:cs typeface="+mn-cs"/>
                </a:rPr>
                <a:t>合规文化</a:t>
              </a:r>
            </a:p>
          </p:txBody>
        </p:sp>
      </p:grpSp>
      <p:grpSp>
        <p:nvGrpSpPr>
          <p:cNvPr id="178" name="roadmap"/>
          <p:cNvGrpSpPr/>
          <p:nvPr/>
        </p:nvGrpSpPr>
        <p:grpSpPr>
          <a:xfrm>
            <a:off x="7334250" y="1761649"/>
            <a:ext cx="4476750" cy="3191351"/>
            <a:chOff x="7334250" y="1761649"/>
            <a:chExt cx="4476750" cy="3191351"/>
          </a:xfrm>
        </p:grpSpPr>
        <p:sp>
          <p:nvSpPr>
            <p:cNvPr id="136" name="Rectangle 136"/>
            <p:cNvSpPr/>
            <p:nvPr/>
          </p:nvSpPr>
          <p:spPr>
            <a:xfrm>
              <a:off x="7334250" y="1790700"/>
              <a:ext cx="76200" cy="76200"/>
            </a:xfrm>
            <a:prstGeom prst="rect">
              <a:avLst/>
            </a:prstGeom>
            <a:solidFill>
              <a:srgbClr val="A52D12"/>
            </a:solidFill>
            <a:ln>
              <a:noFill/>
            </a:ln>
          </p:spPr>
        </p:sp>
        <p:sp>
          <p:nvSpPr>
            <p:cNvPr id="137" name="TextBox 137"/>
            <p:cNvSpPr txBox="1"/>
            <p:nvPr/>
          </p:nvSpPr>
          <p:spPr>
            <a:xfrm>
              <a:off x="7481697" y="1761649"/>
              <a:ext cx="801472"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下半年路线图</a:t>
              </a:r>
            </a:p>
          </p:txBody>
        </p:sp>
        <p:sp>
          <p:nvSpPr>
            <p:cNvPr id="138" name="Line 138"/>
            <p:cNvSpPr/>
            <p:nvPr/>
          </p:nvSpPr>
          <p:spPr>
            <a:xfrm>
              <a:off x="7486650" y="2095500"/>
              <a:ext cx="9525" cy="2857500"/>
            </a:xfrm>
            <a:custGeom>
              <a:avLst/>
              <a:gdLst/>
              <a:ahLst/>
              <a:cxnLst/>
              <a:rect l="l" t="t" r="r" b="b"/>
              <a:pathLst>
                <a:path w="9525" h="2857500">
                  <a:moveTo>
                    <a:pt x="0" y="0"/>
                  </a:moveTo>
                  <a:lnTo>
                    <a:pt x="0" y="2857500"/>
                  </a:lnTo>
                </a:path>
              </a:pathLst>
            </a:custGeom>
            <a:noFill/>
            <a:ln w="19050">
              <a:solidFill>
                <a:srgbClr val="E4AFA6"/>
              </a:solidFill>
            </a:ln>
          </p:spPr>
        </p:sp>
        <p:sp>
          <p:nvSpPr>
            <p:cNvPr id="139" name="Ellipse 139"/>
            <p:cNvSpPr/>
            <p:nvPr/>
          </p:nvSpPr>
          <p:spPr>
            <a:xfrm>
              <a:off x="7419975" y="2314575"/>
              <a:ext cx="133350" cy="133350"/>
            </a:xfrm>
            <a:prstGeom prst="ellipse">
              <a:avLst/>
            </a:prstGeom>
            <a:solidFill>
              <a:srgbClr val="FFFFFF"/>
            </a:solidFill>
            <a:ln w="23812">
              <a:solidFill>
                <a:srgbClr val="A52D12"/>
              </a:solidFill>
            </a:ln>
          </p:spPr>
        </p:sp>
        <p:sp>
          <p:nvSpPr>
            <p:cNvPr id="140" name="Rectangle 140"/>
            <p:cNvSpPr/>
            <p:nvPr/>
          </p:nvSpPr>
          <p:spPr>
            <a:xfrm>
              <a:off x="7677150" y="2038350"/>
              <a:ext cx="1238250" cy="685800"/>
            </a:xfrm>
            <a:prstGeom prst="roundRect">
              <a:avLst>
                <a:gd name="adj" fmla="val 11111"/>
              </a:avLst>
            </a:prstGeom>
            <a:solidFill>
              <a:srgbClr val="A52D12"/>
            </a:solidFill>
            <a:ln>
              <a:noFill/>
            </a:ln>
          </p:spPr>
        </p:sp>
        <p:grpSp>
          <p:nvGrpSpPr>
            <p:cNvPr id="147" name="Group 147"/>
            <p:cNvGrpSpPr/>
            <p:nvPr/>
          </p:nvGrpSpPr>
          <p:grpSpPr>
            <a:xfrm>
              <a:off x="7832725" y="2278856"/>
              <a:ext cx="165099" cy="185737"/>
              <a:chOff x="7832725" y="2278856"/>
              <a:chExt cx="165099" cy="185737"/>
            </a:xfrm>
          </p:grpSpPr>
          <p:sp>
            <p:nvSpPr>
              <p:cNvPr id="141" name="Freeform 141"/>
              <p:cNvSpPr/>
              <p:nvPr/>
            </p:nvSpPr>
            <p:spPr>
              <a:xfrm>
                <a:off x="7832725" y="2299494"/>
                <a:ext cx="165099" cy="165099"/>
              </a:xfrm>
              <a:custGeom>
                <a:avLst/>
                <a:gdLst/>
                <a:ahLst/>
                <a:cxnLst/>
                <a:rect l="l" t="t" r="r" b="b"/>
                <a:pathLst>
                  <a:path w="165099" h="165099">
                    <a:moveTo>
                      <a:pt x="0" y="20637"/>
                    </a:moveTo>
                    <a:cubicBezTo>
                      <a:pt x="0" y="9240"/>
                      <a:pt x="9240" y="0"/>
                      <a:pt x="20637" y="0"/>
                    </a:cubicBezTo>
                    <a:lnTo>
                      <a:pt x="144462" y="0"/>
                    </a:lnTo>
                    <a:cubicBezTo>
                      <a:pt x="155860" y="0"/>
                      <a:pt x="165099" y="9240"/>
                      <a:pt x="165099" y="20637"/>
                    </a:cubicBezTo>
                    <a:lnTo>
                      <a:pt x="165099" y="144462"/>
                    </a:lnTo>
                    <a:cubicBezTo>
                      <a:pt x="165099" y="155860"/>
                      <a:pt x="155860" y="165099"/>
                      <a:pt x="144462" y="165099"/>
                    </a:cubicBezTo>
                    <a:lnTo>
                      <a:pt x="20637" y="165099"/>
                    </a:lnTo>
                    <a:cubicBezTo>
                      <a:pt x="9240" y="165099"/>
                      <a:pt x="0" y="155860"/>
                      <a:pt x="0" y="144462"/>
                    </a:cubicBezTo>
                    <a:lnTo>
                      <a:pt x="0" y="20637"/>
                    </a:lnTo>
                  </a:path>
                </a:pathLst>
              </a:custGeom>
              <a:noFill/>
              <a:ln w="20637">
                <a:solidFill>
                  <a:srgbClr val="FFFFFF"/>
                </a:solidFill>
              </a:ln>
            </p:spPr>
          </p:sp>
          <p:sp>
            <p:nvSpPr>
              <p:cNvPr id="142" name="Freeform 142"/>
              <p:cNvSpPr/>
              <p:nvPr/>
            </p:nvSpPr>
            <p:spPr>
              <a:xfrm>
                <a:off x="7956549" y="2278856"/>
                <a:ext cx="9525" cy="41275"/>
              </a:xfrm>
              <a:custGeom>
                <a:avLst/>
                <a:gdLst/>
                <a:ahLst/>
                <a:cxnLst/>
                <a:rect l="l" t="t" r="r" b="b"/>
                <a:pathLst>
                  <a:path w="9525" h="41275">
                    <a:moveTo>
                      <a:pt x="0" y="0"/>
                    </a:moveTo>
                    <a:lnTo>
                      <a:pt x="0" y="41275"/>
                    </a:lnTo>
                  </a:path>
                </a:pathLst>
              </a:custGeom>
              <a:noFill/>
              <a:ln w="20637">
                <a:solidFill>
                  <a:srgbClr val="FFFFFF"/>
                </a:solidFill>
              </a:ln>
            </p:spPr>
          </p:sp>
          <p:sp>
            <p:nvSpPr>
              <p:cNvPr id="143" name="Freeform 143"/>
              <p:cNvSpPr/>
              <p:nvPr/>
            </p:nvSpPr>
            <p:spPr>
              <a:xfrm>
                <a:off x="7874000" y="2278856"/>
                <a:ext cx="9525" cy="41275"/>
              </a:xfrm>
              <a:custGeom>
                <a:avLst/>
                <a:gdLst/>
                <a:ahLst/>
                <a:cxnLst/>
                <a:rect l="l" t="t" r="r" b="b"/>
                <a:pathLst>
                  <a:path w="9525" h="41275">
                    <a:moveTo>
                      <a:pt x="0" y="0"/>
                    </a:moveTo>
                    <a:lnTo>
                      <a:pt x="0" y="41275"/>
                    </a:lnTo>
                  </a:path>
                </a:pathLst>
              </a:custGeom>
              <a:noFill/>
              <a:ln w="20637">
                <a:solidFill>
                  <a:srgbClr val="FFFFFF"/>
                </a:solidFill>
              </a:ln>
            </p:spPr>
          </p:sp>
          <p:sp>
            <p:nvSpPr>
              <p:cNvPr id="144" name="Freeform 144"/>
              <p:cNvSpPr/>
              <p:nvPr/>
            </p:nvSpPr>
            <p:spPr>
              <a:xfrm>
                <a:off x="7832725" y="2361406"/>
                <a:ext cx="165099" cy="9525"/>
              </a:xfrm>
              <a:custGeom>
                <a:avLst/>
                <a:gdLst/>
                <a:ahLst/>
                <a:cxnLst/>
                <a:rect l="l" t="t" r="r" b="b"/>
                <a:pathLst>
                  <a:path w="165099" h="9525">
                    <a:moveTo>
                      <a:pt x="0" y="0"/>
                    </a:moveTo>
                    <a:lnTo>
                      <a:pt x="165099" y="0"/>
                    </a:lnTo>
                  </a:path>
                </a:pathLst>
              </a:custGeom>
              <a:noFill/>
              <a:ln w="20637">
                <a:solidFill>
                  <a:srgbClr val="FFFFFF"/>
                </a:solidFill>
              </a:ln>
            </p:spPr>
          </p:sp>
          <p:sp>
            <p:nvSpPr>
              <p:cNvPr id="145" name="Freeform 145"/>
              <p:cNvSpPr/>
              <p:nvPr/>
            </p:nvSpPr>
            <p:spPr>
              <a:xfrm>
                <a:off x="7904956" y="2402681"/>
                <a:ext cx="10319" cy="9525"/>
              </a:xfrm>
              <a:custGeom>
                <a:avLst/>
                <a:gdLst/>
                <a:ahLst/>
                <a:cxnLst/>
                <a:rect l="l" t="t" r="r" b="b"/>
                <a:pathLst>
                  <a:path w="10319" h="9525">
                    <a:moveTo>
                      <a:pt x="0" y="0"/>
                    </a:moveTo>
                    <a:lnTo>
                      <a:pt x="10319" y="0"/>
                    </a:lnTo>
                  </a:path>
                </a:pathLst>
              </a:custGeom>
              <a:noFill/>
              <a:ln w="20637">
                <a:solidFill>
                  <a:srgbClr val="FFFFFF"/>
                </a:solidFill>
              </a:ln>
            </p:spPr>
          </p:sp>
          <p:sp>
            <p:nvSpPr>
              <p:cNvPr id="146" name="Freeform 146"/>
              <p:cNvSpPr/>
              <p:nvPr/>
            </p:nvSpPr>
            <p:spPr>
              <a:xfrm>
                <a:off x="7915275" y="2402681"/>
                <a:ext cx="9525" cy="30956"/>
              </a:xfrm>
              <a:custGeom>
                <a:avLst/>
                <a:gdLst/>
                <a:ahLst/>
                <a:cxnLst/>
                <a:rect l="l" t="t" r="r" b="b"/>
                <a:pathLst>
                  <a:path w="9525" h="30956">
                    <a:moveTo>
                      <a:pt x="0" y="0"/>
                    </a:moveTo>
                    <a:lnTo>
                      <a:pt x="0" y="30956"/>
                    </a:lnTo>
                  </a:path>
                </a:pathLst>
              </a:custGeom>
              <a:noFill/>
              <a:ln w="20637">
                <a:solidFill>
                  <a:srgbClr val="FFFFFF"/>
                </a:solidFill>
              </a:ln>
            </p:spPr>
          </p:sp>
        </p:grpSp>
        <p:sp>
          <p:nvSpPr>
            <p:cNvPr id="148" name="TextBox 148"/>
            <p:cNvSpPr txBox="1"/>
            <p:nvPr/>
          </p:nvSpPr>
          <p:spPr>
            <a:xfrm>
              <a:off x="8147685" y="2316956"/>
              <a:ext cx="51049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7—8月​</a:t>
              </a:r>
            </a:p>
          </p:txBody>
        </p:sp>
        <p:sp>
          <p:nvSpPr>
            <p:cNvPr id="149" name="Rectangle 149"/>
            <p:cNvSpPr/>
            <p:nvPr/>
          </p:nvSpPr>
          <p:spPr>
            <a:xfrm>
              <a:off x="8915400" y="2038350"/>
              <a:ext cx="2895600" cy="685800"/>
            </a:xfrm>
            <a:prstGeom prst="roundRect">
              <a:avLst>
                <a:gd name="adj" fmla="val 11111"/>
              </a:avLst>
            </a:prstGeom>
            <a:solidFill>
              <a:srgbClr val="FBEFEE"/>
            </a:solidFill>
            <a:ln w="9525">
              <a:solidFill>
                <a:srgbClr val="EDD5D2"/>
              </a:solidFill>
            </a:ln>
          </p:spPr>
        </p:sp>
        <p:sp>
          <p:nvSpPr>
            <p:cNvPr id="150" name="TextBox 150"/>
            <p:cNvSpPr txBox="1"/>
            <p:nvPr/>
          </p:nvSpPr>
          <p:spPr>
            <a:xfrm>
              <a:off x="9062466" y="2172652"/>
              <a:ext cx="434721"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补短板</a:t>
              </a:r>
            </a:p>
          </p:txBody>
        </p:sp>
        <p:sp>
          <p:nvSpPr>
            <p:cNvPr id="151" name="TextBox 151"/>
            <p:cNvSpPr txBox="1"/>
            <p:nvPr/>
          </p:nvSpPr>
          <p:spPr>
            <a:xfrm>
              <a:off x="9063038" y="2391489"/>
              <a:ext cx="1498422"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聚焦薄弱环节，补齐能力短板，</a:t>
              </a:r>
            </a:p>
          </p:txBody>
        </p:sp>
        <p:sp>
          <p:nvSpPr>
            <p:cNvPr id="152" name="TextBox 152"/>
            <p:cNvSpPr txBox="1"/>
            <p:nvPr/>
          </p:nvSpPr>
          <p:spPr>
            <a:xfrm>
              <a:off x="9063038" y="2543889"/>
              <a:ext cx="75397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夯实发展基础。</a:t>
              </a:r>
            </a:p>
          </p:txBody>
        </p:sp>
        <p:sp>
          <p:nvSpPr>
            <p:cNvPr id="153" name="Ellipse 153"/>
            <p:cNvSpPr/>
            <p:nvPr/>
          </p:nvSpPr>
          <p:spPr>
            <a:xfrm>
              <a:off x="7419975" y="3362325"/>
              <a:ext cx="133350" cy="133350"/>
            </a:xfrm>
            <a:prstGeom prst="ellipse">
              <a:avLst/>
            </a:prstGeom>
            <a:solidFill>
              <a:srgbClr val="FFFFFF"/>
            </a:solidFill>
            <a:ln w="23812">
              <a:solidFill>
                <a:srgbClr val="C9604E"/>
              </a:solidFill>
            </a:ln>
          </p:spPr>
        </p:sp>
        <p:sp>
          <p:nvSpPr>
            <p:cNvPr id="154" name="Rectangle 154"/>
            <p:cNvSpPr/>
            <p:nvPr/>
          </p:nvSpPr>
          <p:spPr>
            <a:xfrm>
              <a:off x="7677150" y="3086100"/>
              <a:ext cx="1238250" cy="685800"/>
            </a:xfrm>
            <a:prstGeom prst="roundRect">
              <a:avLst>
                <a:gd name="adj" fmla="val 11111"/>
              </a:avLst>
            </a:prstGeom>
            <a:solidFill>
              <a:srgbClr val="C9604E"/>
            </a:solidFill>
            <a:ln>
              <a:noFill/>
            </a:ln>
          </p:spPr>
        </p:sp>
        <p:grpSp>
          <p:nvGrpSpPr>
            <p:cNvPr id="161" name="Group 161"/>
            <p:cNvGrpSpPr/>
            <p:nvPr/>
          </p:nvGrpSpPr>
          <p:grpSpPr>
            <a:xfrm>
              <a:off x="7832725" y="3326606"/>
              <a:ext cx="165099" cy="185737"/>
              <a:chOff x="7832725" y="3326606"/>
              <a:chExt cx="165099" cy="185737"/>
            </a:xfrm>
          </p:grpSpPr>
          <p:sp>
            <p:nvSpPr>
              <p:cNvPr id="155" name="Freeform 155"/>
              <p:cNvSpPr/>
              <p:nvPr/>
            </p:nvSpPr>
            <p:spPr>
              <a:xfrm>
                <a:off x="7832725" y="3347244"/>
                <a:ext cx="165099" cy="165099"/>
              </a:xfrm>
              <a:custGeom>
                <a:avLst/>
                <a:gdLst/>
                <a:ahLst/>
                <a:cxnLst/>
                <a:rect l="l" t="t" r="r" b="b"/>
                <a:pathLst>
                  <a:path w="165099" h="165099">
                    <a:moveTo>
                      <a:pt x="0" y="20637"/>
                    </a:moveTo>
                    <a:cubicBezTo>
                      <a:pt x="0" y="9240"/>
                      <a:pt x="9240" y="0"/>
                      <a:pt x="20637" y="0"/>
                    </a:cubicBezTo>
                    <a:lnTo>
                      <a:pt x="144462" y="0"/>
                    </a:lnTo>
                    <a:cubicBezTo>
                      <a:pt x="155860" y="0"/>
                      <a:pt x="165099" y="9240"/>
                      <a:pt x="165099" y="20637"/>
                    </a:cubicBezTo>
                    <a:lnTo>
                      <a:pt x="165099" y="144462"/>
                    </a:lnTo>
                    <a:cubicBezTo>
                      <a:pt x="165099" y="155860"/>
                      <a:pt x="155860" y="165099"/>
                      <a:pt x="144462" y="165099"/>
                    </a:cubicBezTo>
                    <a:lnTo>
                      <a:pt x="20637" y="165099"/>
                    </a:lnTo>
                    <a:cubicBezTo>
                      <a:pt x="9240" y="165099"/>
                      <a:pt x="0" y="155860"/>
                      <a:pt x="0" y="144462"/>
                    </a:cubicBezTo>
                    <a:lnTo>
                      <a:pt x="0" y="20637"/>
                    </a:lnTo>
                  </a:path>
                </a:pathLst>
              </a:custGeom>
              <a:noFill/>
              <a:ln w="20637">
                <a:solidFill>
                  <a:srgbClr val="FFFFFF"/>
                </a:solidFill>
              </a:ln>
            </p:spPr>
          </p:sp>
          <p:sp>
            <p:nvSpPr>
              <p:cNvPr id="156" name="Freeform 156"/>
              <p:cNvSpPr/>
              <p:nvPr/>
            </p:nvSpPr>
            <p:spPr>
              <a:xfrm>
                <a:off x="7956549" y="3326606"/>
                <a:ext cx="9525" cy="41275"/>
              </a:xfrm>
              <a:custGeom>
                <a:avLst/>
                <a:gdLst/>
                <a:ahLst/>
                <a:cxnLst/>
                <a:rect l="l" t="t" r="r" b="b"/>
                <a:pathLst>
                  <a:path w="9525" h="41275">
                    <a:moveTo>
                      <a:pt x="0" y="0"/>
                    </a:moveTo>
                    <a:lnTo>
                      <a:pt x="0" y="41275"/>
                    </a:lnTo>
                  </a:path>
                </a:pathLst>
              </a:custGeom>
              <a:noFill/>
              <a:ln w="20637">
                <a:solidFill>
                  <a:srgbClr val="FFFFFF"/>
                </a:solidFill>
              </a:ln>
            </p:spPr>
          </p:sp>
          <p:sp>
            <p:nvSpPr>
              <p:cNvPr id="157" name="Freeform 157"/>
              <p:cNvSpPr/>
              <p:nvPr/>
            </p:nvSpPr>
            <p:spPr>
              <a:xfrm>
                <a:off x="7874000" y="3326606"/>
                <a:ext cx="9525" cy="41275"/>
              </a:xfrm>
              <a:custGeom>
                <a:avLst/>
                <a:gdLst/>
                <a:ahLst/>
                <a:cxnLst/>
                <a:rect l="l" t="t" r="r" b="b"/>
                <a:pathLst>
                  <a:path w="9525" h="41275">
                    <a:moveTo>
                      <a:pt x="0" y="0"/>
                    </a:moveTo>
                    <a:lnTo>
                      <a:pt x="0" y="41275"/>
                    </a:lnTo>
                  </a:path>
                </a:pathLst>
              </a:custGeom>
              <a:noFill/>
              <a:ln w="20637">
                <a:solidFill>
                  <a:srgbClr val="FFFFFF"/>
                </a:solidFill>
              </a:ln>
            </p:spPr>
          </p:sp>
          <p:sp>
            <p:nvSpPr>
              <p:cNvPr id="158" name="Freeform 158"/>
              <p:cNvSpPr/>
              <p:nvPr/>
            </p:nvSpPr>
            <p:spPr>
              <a:xfrm>
                <a:off x="7832725" y="3409156"/>
                <a:ext cx="165099" cy="9525"/>
              </a:xfrm>
              <a:custGeom>
                <a:avLst/>
                <a:gdLst/>
                <a:ahLst/>
                <a:cxnLst/>
                <a:rect l="l" t="t" r="r" b="b"/>
                <a:pathLst>
                  <a:path w="165099" h="9525">
                    <a:moveTo>
                      <a:pt x="0" y="0"/>
                    </a:moveTo>
                    <a:lnTo>
                      <a:pt x="165099" y="0"/>
                    </a:lnTo>
                  </a:path>
                </a:pathLst>
              </a:custGeom>
              <a:noFill/>
              <a:ln w="20637">
                <a:solidFill>
                  <a:srgbClr val="FFFFFF"/>
                </a:solidFill>
              </a:ln>
            </p:spPr>
          </p:sp>
          <p:sp>
            <p:nvSpPr>
              <p:cNvPr id="159" name="Freeform 159"/>
              <p:cNvSpPr/>
              <p:nvPr/>
            </p:nvSpPr>
            <p:spPr>
              <a:xfrm>
                <a:off x="7904956" y="3450431"/>
                <a:ext cx="10319" cy="9525"/>
              </a:xfrm>
              <a:custGeom>
                <a:avLst/>
                <a:gdLst/>
                <a:ahLst/>
                <a:cxnLst/>
                <a:rect l="l" t="t" r="r" b="b"/>
                <a:pathLst>
                  <a:path w="10319" h="9525">
                    <a:moveTo>
                      <a:pt x="0" y="0"/>
                    </a:moveTo>
                    <a:lnTo>
                      <a:pt x="10319" y="0"/>
                    </a:lnTo>
                  </a:path>
                </a:pathLst>
              </a:custGeom>
              <a:noFill/>
              <a:ln w="20637">
                <a:solidFill>
                  <a:srgbClr val="FFFFFF"/>
                </a:solidFill>
              </a:ln>
            </p:spPr>
          </p:sp>
          <p:sp>
            <p:nvSpPr>
              <p:cNvPr id="160" name="Freeform 160"/>
              <p:cNvSpPr/>
              <p:nvPr/>
            </p:nvSpPr>
            <p:spPr>
              <a:xfrm>
                <a:off x="7915275" y="3450431"/>
                <a:ext cx="9525" cy="30956"/>
              </a:xfrm>
              <a:custGeom>
                <a:avLst/>
                <a:gdLst/>
                <a:ahLst/>
                <a:cxnLst/>
                <a:rect l="l" t="t" r="r" b="b"/>
                <a:pathLst>
                  <a:path w="9525" h="30956">
                    <a:moveTo>
                      <a:pt x="0" y="0"/>
                    </a:moveTo>
                    <a:lnTo>
                      <a:pt x="0" y="30956"/>
                    </a:lnTo>
                  </a:path>
                </a:pathLst>
              </a:custGeom>
              <a:noFill/>
              <a:ln w="20637">
                <a:solidFill>
                  <a:srgbClr val="FFFFFF"/>
                </a:solidFill>
              </a:ln>
            </p:spPr>
          </p:sp>
        </p:grpSp>
        <p:sp>
          <p:nvSpPr>
            <p:cNvPr id="162" name="TextBox 162"/>
            <p:cNvSpPr txBox="1"/>
            <p:nvPr/>
          </p:nvSpPr>
          <p:spPr>
            <a:xfrm>
              <a:off x="8147685" y="3364706"/>
              <a:ext cx="59756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9—10月​</a:t>
              </a:r>
            </a:p>
          </p:txBody>
        </p:sp>
        <p:sp>
          <p:nvSpPr>
            <p:cNvPr id="163" name="Rectangle 163"/>
            <p:cNvSpPr/>
            <p:nvPr/>
          </p:nvSpPr>
          <p:spPr>
            <a:xfrm>
              <a:off x="8915400" y="3086100"/>
              <a:ext cx="2895600" cy="685800"/>
            </a:xfrm>
            <a:prstGeom prst="roundRect">
              <a:avLst>
                <a:gd name="adj" fmla="val 11111"/>
              </a:avLst>
            </a:prstGeom>
            <a:solidFill>
              <a:srgbClr val="FBF6EC"/>
            </a:solidFill>
            <a:ln w="9525">
              <a:solidFill>
                <a:srgbClr val="E8BFB8"/>
              </a:solidFill>
            </a:ln>
          </p:spPr>
        </p:sp>
        <p:sp>
          <p:nvSpPr>
            <p:cNvPr id="164" name="TextBox 164"/>
            <p:cNvSpPr txBox="1"/>
            <p:nvPr/>
          </p:nvSpPr>
          <p:spPr>
            <a:xfrm>
              <a:off x="9062466" y="3220402"/>
              <a:ext cx="434721" cy="205359"/>
            </a:xfrm>
            <a:prstGeom prst="rect">
              <a:avLst/>
            </a:prstGeom>
            <a:noFill/>
            <a:ln>
              <a:noFill/>
            </a:ln>
          </p:spPr>
          <p:txBody>
            <a:bodyPr wrap="none" lIns="0" tIns="0" rIns="0" bIns="0" anchor="t" anchorCtr="0">
              <a:spAutoFit/>
            </a:bodyPr>
            <a:lstStyle/>
            <a:p>
              <a:pPr algn="l"/>
              <a:r>
                <a:rPr lang="zh-CN" sz="1050" b="1" dirty="0">
                  <a:solidFill>
                    <a:srgbClr val="B54C3A"/>
                  </a:solidFill>
                  <a:latin typeface="+mn-lt"/>
                  <a:ea typeface="+mn-ea"/>
                  <a:cs typeface="+mn-cs"/>
                </a:rPr>
                <a:t>提质效</a:t>
              </a:r>
            </a:p>
          </p:txBody>
        </p:sp>
        <p:sp>
          <p:nvSpPr>
            <p:cNvPr id="165" name="TextBox 165"/>
            <p:cNvSpPr txBox="1"/>
            <p:nvPr/>
          </p:nvSpPr>
          <p:spPr>
            <a:xfrm>
              <a:off x="9063038" y="3439239"/>
              <a:ext cx="107302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优化结构，提升动能，</a:t>
              </a:r>
            </a:p>
          </p:txBody>
        </p:sp>
        <p:sp>
          <p:nvSpPr>
            <p:cNvPr id="166" name="TextBox 166"/>
            <p:cNvSpPr txBox="1"/>
            <p:nvPr/>
          </p:nvSpPr>
          <p:spPr>
            <a:xfrm>
              <a:off x="9063038" y="3591639"/>
              <a:ext cx="75397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实现质效双升。</a:t>
              </a:r>
            </a:p>
          </p:txBody>
        </p:sp>
        <p:sp>
          <p:nvSpPr>
            <p:cNvPr id="167" name="Ellipse 167"/>
            <p:cNvSpPr/>
            <p:nvPr/>
          </p:nvSpPr>
          <p:spPr>
            <a:xfrm>
              <a:off x="7419975" y="4410075"/>
              <a:ext cx="133350" cy="133350"/>
            </a:xfrm>
            <a:prstGeom prst="ellipse">
              <a:avLst/>
            </a:prstGeom>
            <a:solidFill>
              <a:srgbClr val="FFFFFF"/>
            </a:solidFill>
            <a:ln w="23812">
              <a:solidFill>
                <a:srgbClr val="A52D12"/>
              </a:solidFill>
            </a:ln>
          </p:spPr>
        </p:sp>
        <p:sp>
          <p:nvSpPr>
            <p:cNvPr id="168" name="Rectangle 168"/>
            <p:cNvSpPr/>
            <p:nvPr/>
          </p:nvSpPr>
          <p:spPr>
            <a:xfrm>
              <a:off x="7677150" y="4133850"/>
              <a:ext cx="1238250" cy="685800"/>
            </a:xfrm>
            <a:prstGeom prst="roundRect">
              <a:avLst>
                <a:gd name="adj" fmla="val 11111"/>
              </a:avLst>
            </a:prstGeom>
            <a:solidFill>
              <a:srgbClr val="A52D12"/>
            </a:solidFill>
            <a:ln>
              <a:noFill/>
            </a:ln>
          </p:spPr>
        </p:sp>
        <p:grpSp>
          <p:nvGrpSpPr>
            <p:cNvPr id="172" name="Group 172"/>
            <p:cNvGrpSpPr/>
            <p:nvPr/>
          </p:nvGrpSpPr>
          <p:grpSpPr>
            <a:xfrm>
              <a:off x="7822406" y="4374356"/>
              <a:ext cx="185737" cy="185737"/>
              <a:chOff x="7822406" y="4374356"/>
              <a:chExt cx="185737" cy="185737"/>
            </a:xfrm>
          </p:grpSpPr>
          <p:sp>
            <p:nvSpPr>
              <p:cNvPr id="169" name="Freeform 169"/>
              <p:cNvSpPr/>
              <p:nvPr/>
            </p:nvSpPr>
            <p:spPr>
              <a:xfrm>
                <a:off x="7904956" y="445690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FFFFFF"/>
                </a:solidFill>
              </a:ln>
            </p:spPr>
          </p:sp>
          <p:sp>
            <p:nvSpPr>
              <p:cNvPr id="170" name="Freeform 170"/>
              <p:cNvSpPr/>
              <p:nvPr/>
            </p:nvSpPr>
            <p:spPr>
              <a:xfrm>
                <a:off x="7863681" y="441563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FFFFFF"/>
                </a:solidFill>
              </a:ln>
            </p:spPr>
          </p:sp>
          <p:sp>
            <p:nvSpPr>
              <p:cNvPr id="171" name="Freeform 171"/>
              <p:cNvSpPr/>
              <p:nvPr/>
            </p:nvSpPr>
            <p:spPr>
              <a:xfrm>
                <a:off x="7822406" y="43743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grpSp>
        <p:sp>
          <p:nvSpPr>
            <p:cNvPr id="173" name="TextBox 173"/>
            <p:cNvSpPr txBox="1"/>
            <p:nvPr/>
          </p:nvSpPr>
          <p:spPr>
            <a:xfrm>
              <a:off x="8147685" y="4412456"/>
              <a:ext cx="68463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11—12月​</a:t>
              </a:r>
            </a:p>
          </p:txBody>
        </p:sp>
        <p:sp>
          <p:nvSpPr>
            <p:cNvPr id="174" name="Rectangle 174"/>
            <p:cNvSpPr/>
            <p:nvPr/>
          </p:nvSpPr>
          <p:spPr>
            <a:xfrm>
              <a:off x="8915400" y="4133850"/>
              <a:ext cx="2895600" cy="685800"/>
            </a:xfrm>
            <a:prstGeom prst="roundRect">
              <a:avLst>
                <a:gd name="adj" fmla="val 11111"/>
              </a:avLst>
            </a:prstGeom>
            <a:solidFill>
              <a:srgbClr val="FBEFEE"/>
            </a:solidFill>
            <a:ln w="9525">
              <a:solidFill>
                <a:srgbClr val="EDD5D2"/>
              </a:solidFill>
            </a:ln>
          </p:spPr>
        </p:sp>
        <p:sp>
          <p:nvSpPr>
            <p:cNvPr id="175" name="TextBox 175"/>
            <p:cNvSpPr txBox="1"/>
            <p:nvPr/>
          </p:nvSpPr>
          <p:spPr>
            <a:xfrm>
              <a:off x="9062466" y="4268152"/>
              <a:ext cx="576072"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冲刺收官</a:t>
              </a:r>
            </a:p>
          </p:txBody>
        </p:sp>
        <p:sp>
          <p:nvSpPr>
            <p:cNvPr id="176" name="TextBox 176"/>
            <p:cNvSpPr txBox="1"/>
            <p:nvPr/>
          </p:nvSpPr>
          <p:spPr>
            <a:xfrm>
              <a:off x="9063038" y="4486989"/>
              <a:ext cx="966673"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全力冲刺全年目标，</a:t>
              </a:r>
            </a:p>
          </p:txBody>
        </p:sp>
        <p:sp>
          <p:nvSpPr>
            <p:cNvPr id="177" name="TextBox 177"/>
            <p:cNvSpPr txBox="1"/>
            <p:nvPr/>
          </p:nvSpPr>
          <p:spPr>
            <a:xfrm>
              <a:off x="9063038" y="4639389"/>
              <a:ext cx="753974" cy="154781"/>
            </a:xfrm>
            <a:prstGeom prst="rect">
              <a:avLst/>
            </a:prstGeom>
            <a:noFill/>
            <a:ln>
              <a:noFill/>
            </a:ln>
          </p:spPr>
          <p:txBody>
            <a:bodyPr wrap="none" lIns="0" tIns="0" rIns="0" bIns="0" anchor="t" anchorCtr="0">
              <a:spAutoFit/>
            </a:bodyPr>
            <a:lstStyle/>
            <a:p>
              <a:pPr algn="l"/>
              <a:r>
                <a:rPr lang="zh-CN" sz="790" dirty="0">
                  <a:solidFill>
                    <a:srgbClr val="3A3A3A"/>
                  </a:solidFill>
                  <a:latin typeface="+mn-lt"/>
                  <a:ea typeface="+mn-ea"/>
                  <a:cs typeface="+mn-cs"/>
                </a:rPr>
                <a:t>确保圆满收官。</a:t>
              </a:r>
            </a:p>
          </p:txBody>
        </p:sp>
      </p:grpSp>
      <p:grpSp>
        <p:nvGrpSpPr>
          <p:cNvPr id="187" name="slogan-banner"/>
          <p:cNvGrpSpPr/>
          <p:nvPr/>
        </p:nvGrpSpPr>
        <p:grpSpPr>
          <a:xfrm>
            <a:off x="381000" y="5676900"/>
            <a:ext cx="11430000" cy="762000"/>
            <a:chOff x="381000" y="5676900"/>
            <a:chExt cx="11430000" cy="762000"/>
          </a:xfrm>
        </p:grpSpPr>
        <p:sp>
          <p:nvSpPr>
            <p:cNvPr id="179" name="Rectangle 179"/>
            <p:cNvSpPr/>
            <p:nvPr/>
          </p:nvSpPr>
          <p:spPr>
            <a:xfrm>
              <a:off x="381000" y="5676900"/>
              <a:ext cx="11430000" cy="762000"/>
            </a:xfrm>
            <a:prstGeom prst="rect">
              <a:avLst/>
            </a:prstGeom>
            <a:solidFill>
              <a:srgbClr val="A52D12"/>
            </a:solidFill>
            <a:ln>
              <a:noFill/>
            </a:ln>
          </p:spPr>
        </p:sp>
        <p:sp>
          <p:nvSpPr>
            <p:cNvPr id="180" name="Freeform 180"/>
            <p:cNvSpPr/>
            <p:nvPr/>
          </p:nvSpPr>
          <p:spPr>
            <a:xfrm>
              <a:off x="9906000" y="5676900"/>
              <a:ext cx="1905000" cy="762000"/>
            </a:xfrm>
            <a:custGeom>
              <a:avLst/>
              <a:gdLst/>
              <a:ahLst/>
              <a:cxnLst/>
              <a:rect l="l" t="t" r="r" b="b"/>
              <a:pathLst>
                <a:path w="1905000" h="762000">
                  <a:moveTo>
                    <a:pt x="0" y="762000"/>
                  </a:moveTo>
                  <a:cubicBezTo>
                    <a:pt x="666750" y="514350"/>
                    <a:pt x="1333500" y="228600"/>
                    <a:pt x="1905000" y="0"/>
                  </a:cubicBezTo>
                  <a:lnTo>
                    <a:pt x="1905000" y="762000"/>
                  </a:lnTo>
                  <a:close/>
                </a:path>
              </a:pathLst>
            </a:custGeom>
            <a:solidFill>
              <a:srgbClr val="C9604E">
                <a:alpha val="30000"/>
              </a:srgbClr>
            </a:solidFill>
            <a:ln>
              <a:noFill/>
            </a:ln>
          </p:spPr>
        </p:sp>
        <p:sp>
          <p:nvSpPr>
            <p:cNvPr id="181" name="Ellipse 181"/>
            <p:cNvSpPr/>
            <p:nvPr/>
          </p:nvSpPr>
          <p:spPr>
            <a:xfrm>
              <a:off x="685800" y="5829300"/>
              <a:ext cx="457200" cy="457200"/>
            </a:xfrm>
            <a:prstGeom prst="ellipse">
              <a:avLst/>
            </a:prstGeom>
            <a:solidFill>
              <a:srgbClr val="FFFFFF">
                <a:alpha val="15000"/>
              </a:srgbClr>
            </a:solidFill>
            <a:ln>
              <a:noFill/>
            </a:ln>
          </p:spPr>
        </p:sp>
        <p:grpSp>
          <p:nvGrpSpPr>
            <p:cNvPr id="185" name="Group 185"/>
            <p:cNvGrpSpPr/>
            <p:nvPr/>
          </p:nvGrpSpPr>
          <p:grpSpPr>
            <a:xfrm>
              <a:off x="818855" y="5957888"/>
              <a:ext cx="191068" cy="198802"/>
              <a:chOff x="818855" y="5957888"/>
              <a:chExt cx="191068" cy="198802"/>
            </a:xfrm>
          </p:grpSpPr>
          <p:sp>
            <p:nvSpPr>
              <p:cNvPr id="182" name="Freeform 182"/>
              <p:cNvSpPr/>
              <p:nvPr/>
            </p:nvSpPr>
            <p:spPr>
              <a:xfrm>
                <a:off x="847725" y="5957888"/>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22225">
                <a:solidFill>
                  <a:srgbClr val="E8988A"/>
                </a:solidFill>
              </a:ln>
            </p:spPr>
          </p:sp>
          <p:sp>
            <p:nvSpPr>
              <p:cNvPr id="183" name="Freeform 183"/>
              <p:cNvSpPr/>
              <p:nvPr/>
            </p:nvSpPr>
            <p:spPr>
              <a:xfrm>
                <a:off x="914400" y="6057900"/>
                <a:ext cx="95523" cy="98790"/>
              </a:xfrm>
              <a:custGeom>
                <a:avLst/>
                <a:gdLst/>
                <a:ahLst/>
                <a:cxnLst/>
                <a:rect l="l" t="t" r="r" b="b"/>
                <a:pathLst>
                  <a:path w="95523" h="98790">
                    <a:moveTo>
                      <a:pt x="0" y="33338"/>
                    </a:moveTo>
                    <a:lnTo>
                      <a:pt x="37783" y="98790"/>
                    </a:lnTo>
                    <a:lnTo>
                      <a:pt x="55540" y="62864"/>
                    </a:lnTo>
                    <a:lnTo>
                      <a:pt x="95523" y="65442"/>
                    </a:lnTo>
                    <a:lnTo>
                      <a:pt x="57741" y="0"/>
                    </a:lnTo>
                  </a:path>
                </a:pathLst>
              </a:custGeom>
              <a:noFill/>
              <a:ln w="22225">
                <a:solidFill>
                  <a:srgbClr val="E8988A"/>
                </a:solidFill>
              </a:ln>
            </p:spPr>
          </p:sp>
          <p:sp>
            <p:nvSpPr>
              <p:cNvPr id="184" name="Freeform 184"/>
              <p:cNvSpPr/>
              <p:nvPr/>
            </p:nvSpPr>
            <p:spPr>
              <a:xfrm>
                <a:off x="818855" y="6057900"/>
                <a:ext cx="95523" cy="98779"/>
              </a:xfrm>
              <a:custGeom>
                <a:avLst/>
                <a:gdLst/>
                <a:ahLst/>
                <a:cxnLst/>
                <a:rect l="l" t="t" r="r" b="b"/>
                <a:pathLst>
                  <a:path w="95523" h="98779">
                    <a:moveTo>
                      <a:pt x="37783" y="0"/>
                    </a:moveTo>
                    <a:lnTo>
                      <a:pt x="0" y="65453"/>
                    </a:lnTo>
                    <a:lnTo>
                      <a:pt x="39983" y="62864"/>
                    </a:lnTo>
                    <a:lnTo>
                      <a:pt x="57741" y="98779"/>
                    </a:lnTo>
                    <a:lnTo>
                      <a:pt x="95523" y="33338"/>
                    </a:lnTo>
                  </a:path>
                </a:pathLst>
              </a:custGeom>
              <a:noFill/>
              <a:ln w="22225">
                <a:solidFill>
                  <a:srgbClr val="E8988A"/>
                </a:solidFill>
              </a:ln>
            </p:spPr>
          </p:sp>
        </p:grpSp>
        <p:sp>
          <p:nvSpPr>
            <p:cNvPr id="186" name="TextBox 186"/>
            <p:cNvSpPr txBox="1"/>
            <p:nvPr/>
          </p:nvSpPr>
          <p:spPr>
            <a:xfrm>
              <a:off x="1326642" y="5978842"/>
              <a:ext cx="6737985"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以目标为牵引，以攻坚为抓手，凝心聚力、真抓实干，坚决完成全年各项目标任务！</a:t>
              </a:r>
            </a:p>
          </p:txBody>
        </p:sp>
      </p:gr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16​</a:t>
              </a:r>
            </a:p>
          </p:txBody>
        </p:sp>
        <p:sp>
          <p:nvSpPr>
            <p:cNvPr id="4" name="TextBox 4"/>
            <p:cNvSpPr txBox="1"/>
            <p:nvPr/>
          </p:nvSpPr>
          <p:spPr>
            <a:xfrm>
              <a:off x="942594" y="189548"/>
              <a:ext cx="667664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聚焦关键矛盾实施四项攻坚，</a:t>
              </a:r>
              <a:r>
                <a:rPr lang="zh-CN" sz="1950" b="1" dirty="0">
                  <a:solidFill>
                    <a:srgbClr val="A52D12"/>
                  </a:solidFill>
                  <a:latin typeface="SimSun"/>
                  <a:ea typeface="SimSun"/>
                  <a:cs typeface="SimSun"/>
                </a:rPr>
                <a:t>推动资源向价值创造集中</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23" name="attack-1"/>
          <p:cNvGrpSpPr/>
          <p:nvPr/>
        </p:nvGrpSpPr>
        <p:grpSpPr>
          <a:xfrm>
            <a:off x="381000" y="933450"/>
            <a:ext cx="2667000" cy="3429000"/>
            <a:chOff x="381000" y="933450"/>
            <a:chExt cx="2667000" cy="3429000"/>
          </a:xfrm>
        </p:grpSpPr>
        <p:sp>
          <p:nvSpPr>
            <p:cNvPr id="7" name="Rectangle 7"/>
            <p:cNvSpPr/>
            <p:nvPr/>
          </p:nvSpPr>
          <p:spPr>
            <a:xfrm>
              <a:off x="381000" y="1257300"/>
              <a:ext cx="2667000" cy="3105150"/>
            </a:xfrm>
            <a:prstGeom prst="roundRect">
              <a:avLst>
                <a:gd name="adj" fmla="val 3571"/>
              </a:avLst>
            </a:prstGeom>
            <a:solidFill>
              <a:srgbClr val="FDF6F5"/>
            </a:solidFill>
            <a:ln w="9525">
              <a:solidFill>
                <a:srgbClr val="EDD5D2"/>
              </a:solidFill>
            </a:ln>
          </p:spPr>
        </p:sp>
        <p:sp>
          <p:nvSpPr>
            <p:cNvPr id="8" name="Ellipse 8"/>
            <p:cNvSpPr/>
            <p:nvPr/>
          </p:nvSpPr>
          <p:spPr>
            <a:xfrm>
              <a:off x="1390650" y="933450"/>
              <a:ext cx="647700" cy="647700"/>
            </a:xfrm>
            <a:prstGeom prst="ellipse">
              <a:avLst/>
            </a:prstGeom>
            <a:solidFill>
              <a:srgbClr val="A52D12"/>
            </a:solidFill>
            <a:ln>
              <a:noFill/>
            </a:ln>
          </p:spPr>
        </p:sp>
        <p:grpSp>
          <p:nvGrpSpPr>
            <p:cNvPr id="13" name="Group 13"/>
            <p:cNvGrpSpPr/>
            <p:nvPr/>
          </p:nvGrpSpPr>
          <p:grpSpPr>
            <a:xfrm>
              <a:off x="1600200" y="1155700"/>
              <a:ext cx="228600" cy="212724"/>
              <a:chOff x="1600200" y="1155700"/>
              <a:chExt cx="228600" cy="212724"/>
            </a:xfrm>
          </p:grpSpPr>
          <p:sp>
            <p:nvSpPr>
              <p:cNvPr id="9" name="Freeform 9"/>
              <p:cNvSpPr/>
              <p:nvPr/>
            </p:nvSpPr>
            <p:spPr>
              <a:xfrm>
                <a:off x="1600200" y="1257300"/>
                <a:ext cx="76200" cy="101600"/>
              </a:xfrm>
              <a:custGeom>
                <a:avLst/>
                <a:gdLst/>
                <a:ahLst/>
                <a:cxnLst/>
                <a:rect l="l" t="t" r="r" b="b"/>
                <a:pathLst>
                  <a:path w="76200" h="101600">
                    <a:moveTo>
                      <a:pt x="0" y="12700"/>
                    </a:moveTo>
                    <a:cubicBezTo>
                      <a:pt x="0" y="5686"/>
                      <a:pt x="5686" y="0"/>
                      <a:pt x="12700" y="0"/>
                    </a:cubicBezTo>
                    <a:lnTo>
                      <a:pt x="63500" y="0"/>
                    </a:lnTo>
                    <a:cubicBezTo>
                      <a:pt x="70514" y="0"/>
                      <a:pt x="76200" y="5686"/>
                      <a:pt x="76200" y="12700"/>
                    </a:cubicBezTo>
                    <a:lnTo>
                      <a:pt x="76200" y="88900"/>
                    </a:lnTo>
                    <a:cubicBezTo>
                      <a:pt x="76200" y="95914"/>
                      <a:pt x="70514" y="101600"/>
                      <a:pt x="63500" y="101600"/>
                    </a:cubicBezTo>
                    <a:lnTo>
                      <a:pt x="12700" y="101600"/>
                    </a:lnTo>
                    <a:cubicBezTo>
                      <a:pt x="5686" y="101600"/>
                      <a:pt x="0" y="95914"/>
                      <a:pt x="0" y="88900"/>
                    </a:cubicBezTo>
                    <a:lnTo>
                      <a:pt x="0" y="12700"/>
                    </a:lnTo>
                  </a:path>
                </a:pathLst>
              </a:custGeom>
              <a:noFill/>
              <a:ln w="25400">
                <a:solidFill>
                  <a:srgbClr val="FFFFFF"/>
                </a:solidFill>
              </a:ln>
            </p:spPr>
          </p:sp>
          <p:sp>
            <p:nvSpPr>
              <p:cNvPr id="10" name="Freeform 10"/>
              <p:cNvSpPr/>
              <p:nvPr/>
            </p:nvSpPr>
            <p:spPr>
              <a:xfrm>
                <a:off x="1752600" y="1206500"/>
                <a:ext cx="76200" cy="152400"/>
              </a:xfrm>
              <a:custGeom>
                <a:avLst/>
                <a:gdLst/>
                <a:ahLst/>
                <a:cxnLst/>
                <a:rect l="l" t="t" r="r" b="b"/>
                <a:pathLst>
                  <a:path w="76200" h="152400">
                    <a:moveTo>
                      <a:pt x="0" y="12700"/>
                    </a:moveTo>
                    <a:cubicBezTo>
                      <a:pt x="0" y="5686"/>
                      <a:pt x="5686" y="0"/>
                      <a:pt x="12700" y="0"/>
                    </a:cubicBezTo>
                    <a:lnTo>
                      <a:pt x="63500" y="0"/>
                    </a:lnTo>
                    <a:cubicBezTo>
                      <a:pt x="70514" y="0"/>
                      <a:pt x="76200" y="5686"/>
                      <a:pt x="76200" y="12700"/>
                    </a:cubicBezTo>
                    <a:lnTo>
                      <a:pt x="76200" y="139700"/>
                    </a:lnTo>
                    <a:cubicBezTo>
                      <a:pt x="76200" y="146714"/>
                      <a:pt x="70514" y="152400"/>
                      <a:pt x="63500" y="152400"/>
                    </a:cubicBezTo>
                    <a:lnTo>
                      <a:pt x="12700" y="152400"/>
                    </a:lnTo>
                    <a:cubicBezTo>
                      <a:pt x="5686" y="152400"/>
                      <a:pt x="0" y="146714"/>
                      <a:pt x="0" y="139700"/>
                    </a:cubicBezTo>
                    <a:lnTo>
                      <a:pt x="0" y="12700"/>
                    </a:lnTo>
                  </a:path>
                </a:pathLst>
              </a:custGeom>
              <a:noFill/>
              <a:ln w="25400">
                <a:solidFill>
                  <a:srgbClr val="FFFFFF"/>
                </a:solidFill>
              </a:ln>
            </p:spPr>
          </p:sp>
          <p:sp>
            <p:nvSpPr>
              <p:cNvPr id="11" name="Freeform 11"/>
              <p:cNvSpPr/>
              <p:nvPr/>
            </p:nvSpPr>
            <p:spPr>
              <a:xfrm>
                <a:off x="1676400" y="1155700"/>
                <a:ext cx="76200" cy="203199"/>
              </a:xfrm>
              <a:custGeom>
                <a:avLst/>
                <a:gdLst/>
                <a:ahLst/>
                <a:cxnLst/>
                <a:rect l="l" t="t" r="r" b="b"/>
                <a:pathLst>
                  <a:path w="76200" h="203199">
                    <a:moveTo>
                      <a:pt x="0" y="12700"/>
                    </a:moveTo>
                    <a:cubicBezTo>
                      <a:pt x="0" y="5686"/>
                      <a:pt x="5686" y="0"/>
                      <a:pt x="12700" y="0"/>
                    </a:cubicBezTo>
                    <a:lnTo>
                      <a:pt x="63500" y="0"/>
                    </a:lnTo>
                    <a:cubicBezTo>
                      <a:pt x="70514" y="0"/>
                      <a:pt x="76200" y="5686"/>
                      <a:pt x="76200" y="12700"/>
                    </a:cubicBezTo>
                    <a:lnTo>
                      <a:pt x="76200" y="190500"/>
                    </a:lnTo>
                    <a:cubicBezTo>
                      <a:pt x="76200" y="197514"/>
                      <a:pt x="70514" y="203199"/>
                      <a:pt x="63500" y="203199"/>
                    </a:cubicBezTo>
                    <a:lnTo>
                      <a:pt x="12700" y="203199"/>
                    </a:lnTo>
                    <a:cubicBezTo>
                      <a:pt x="5686" y="203199"/>
                      <a:pt x="0" y="197514"/>
                      <a:pt x="0" y="190500"/>
                    </a:cubicBezTo>
                    <a:lnTo>
                      <a:pt x="0" y="12700"/>
                    </a:lnTo>
                  </a:path>
                </a:pathLst>
              </a:custGeom>
              <a:noFill/>
              <a:ln w="25400">
                <a:solidFill>
                  <a:srgbClr val="FFFFFF"/>
                </a:solidFill>
              </a:ln>
            </p:spPr>
          </p:sp>
          <p:sp>
            <p:nvSpPr>
              <p:cNvPr id="12" name="Freeform 12"/>
              <p:cNvSpPr/>
              <p:nvPr/>
            </p:nvSpPr>
            <p:spPr>
              <a:xfrm>
                <a:off x="1612900" y="1358899"/>
                <a:ext cx="177800" cy="9525"/>
              </a:xfrm>
              <a:custGeom>
                <a:avLst/>
                <a:gdLst/>
                <a:ahLst/>
                <a:cxnLst/>
                <a:rect l="l" t="t" r="r" b="b"/>
                <a:pathLst>
                  <a:path w="177800" h="9525">
                    <a:moveTo>
                      <a:pt x="0" y="0"/>
                    </a:moveTo>
                    <a:lnTo>
                      <a:pt x="177800" y="0"/>
                    </a:lnTo>
                  </a:path>
                </a:pathLst>
              </a:custGeom>
              <a:noFill/>
              <a:ln w="25400">
                <a:solidFill>
                  <a:srgbClr val="FFFFFF"/>
                </a:solidFill>
              </a:ln>
            </p:spPr>
          </p:sp>
        </p:grpSp>
        <p:sp>
          <p:nvSpPr>
            <p:cNvPr id="14" name="Ellipse 14"/>
            <p:cNvSpPr/>
            <p:nvPr/>
          </p:nvSpPr>
          <p:spPr>
            <a:xfrm>
              <a:off x="1914525" y="962025"/>
              <a:ext cx="209550" cy="209550"/>
            </a:xfrm>
            <a:prstGeom prst="ellipse">
              <a:avLst/>
            </a:prstGeom>
            <a:solidFill>
              <a:srgbClr val="C9604E"/>
            </a:solidFill>
            <a:ln>
              <a:noFill/>
            </a:ln>
          </p:spPr>
        </p:sp>
        <p:sp>
          <p:nvSpPr>
            <p:cNvPr id="15" name="TextBox 15"/>
            <p:cNvSpPr txBox="1"/>
            <p:nvPr/>
          </p:nvSpPr>
          <p:spPr>
            <a:xfrm>
              <a:off x="1950788" y="10158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a:t>
              </a:r>
            </a:p>
          </p:txBody>
        </p:sp>
        <p:sp>
          <p:nvSpPr>
            <p:cNvPr id="16" name="TextBox 16"/>
            <p:cNvSpPr txBox="1"/>
            <p:nvPr/>
          </p:nvSpPr>
          <p:spPr>
            <a:xfrm>
              <a:off x="1018769" y="1805464"/>
              <a:ext cx="1391463" cy="249364"/>
            </a:xfrm>
            <a:prstGeom prst="rect">
              <a:avLst/>
            </a:prstGeom>
            <a:noFill/>
            <a:ln>
              <a:noFill/>
            </a:ln>
          </p:spPr>
          <p:txBody>
            <a:bodyPr wrap="none" lIns="0" tIns="0" rIns="0" bIns="0" anchor="t" anchorCtr="0">
              <a:spAutoFit/>
            </a:bodyPr>
            <a:lstStyle/>
            <a:p>
              <a:pPr algn="ctr"/>
              <a:r>
                <a:rPr lang="zh-CN" sz="1280" b="1" dirty="0">
                  <a:solidFill>
                    <a:srgbClr val="A52D12"/>
                  </a:solidFill>
                  <a:latin typeface="+mn-lt"/>
                  <a:ea typeface="+mn-ea"/>
                  <a:cs typeface="+mn-cs"/>
                </a:rPr>
                <a:t>存款提质增效攻坚</a:t>
              </a:r>
            </a:p>
          </p:txBody>
        </p:sp>
        <p:sp>
          <p:nvSpPr>
            <p:cNvPr id="17" name="Line 17"/>
            <p:cNvSpPr/>
            <p:nvPr/>
          </p:nvSpPr>
          <p:spPr>
            <a:xfrm>
              <a:off x="1143000" y="2095500"/>
              <a:ext cx="1143000" cy="9525"/>
            </a:xfrm>
            <a:custGeom>
              <a:avLst/>
              <a:gdLst/>
              <a:ahLst/>
              <a:cxnLst/>
              <a:rect l="l" t="t" r="r" b="b"/>
              <a:pathLst>
                <a:path w="1143000" h="9525">
                  <a:moveTo>
                    <a:pt x="0" y="0"/>
                  </a:moveTo>
                  <a:lnTo>
                    <a:pt x="1143000" y="0"/>
                  </a:lnTo>
                </a:path>
              </a:pathLst>
            </a:custGeom>
            <a:noFill/>
            <a:ln w="14288">
              <a:solidFill>
                <a:srgbClr val="C9604E"/>
              </a:solidFill>
            </a:ln>
          </p:spPr>
        </p:sp>
        <p:sp>
          <p:nvSpPr>
            <p:cNvPr id="18" name="TextBox 18"/>
            <p:cNvSpPr txBox="1"/>
            <p:nvPr/>
          </p:nvSpPr>
          <p:spPr>
            <a:xfrm>
              <a:off x="1181837" y="2390299"/>
              <a:ext cx="1065327" cy="190690"/>
            </a:xfrm>
            <a:prstGeom prst="rect">
              <a:avLst/>
            </a:prstGeom>
            <a:noFill/>
            <a:ln>
              <a:noFill/>
            </a:ln>
          </p:spPr>
          <p:txBody>
            <a:bodyPr wrap="none" lIns="0" tIns="0" rIns="0" bIns="0" anchor="t" anchorCtr="0">
              <a:spAutoFit/>
            </a:bodyPr>
            <a:lstStyle/>
            <a:p>
              <a:pPr algn="ctr"/>
              <a:r>
                <a:rPr lang="zh-CN" sz="980" dirty="0">
                  <a:solidFill>
                    <a:srgbClr val="3A3A3A"/>
                  </a:solidFill>
                  <a:latin typeface="+mn-lt"/>
                  <a:ea typeface="+mn-ea"/>
                  <a:cs typeface="+mn-cs"/>
                </a:rPr>
                <a:t>核心存款占比提升</a:t>
              </a:r>
            </a:p>
          </p:txBody>
        </p:sp>
        <p:sp>
          <p:nvSpPr>
            <p:cNvPr id="19" name="TextBox 19"/>
            <p:cNvSpPr txBox="1"/>
            <p:nvPr/>
          </p:nvSpPr>
          <p:spPr>
            <a:xfrm>
              <a:off x="1117735" y="2646998"/>
              <a:ext cx="1193530" cy="381381"/>
            </a:xfrm>
            <a:prstGeom prst="rect">
              <a:avLst/>
            </a:prstGeom>
            <a:noFill/>
            <a:ln>
              <a:noFill/>
            </a:ln>
          </p:spPr>
          <p:txBody>
            <a:bodyPr wrap="none" lIns="0" tIns="0" rIns="0" bIns="0" anchor="t" anchorCtr="0">
              <a:spAutoFit/>
            </a:bodyPr>
            <a:lstStyle/>
            <a:p>
              <a:pPr algn="ctr"/>
              <a:r>
                <a:rPr lang="zh-CN" sz="1950" b="1" dirty="0">
                  <a:solidFill>
                    <a:srgbClr val="A52D12"/>
                  </a:solidFill>
                  <a:latin typeface="+mn-lt"/>
                  <a:ea typeface="+mn-ea"/>
                  <a:cs typeface="+mn-cs"/>
                </a:rPr>
                <a:t xml:space="preserve">1.5 </a:t>
              </a:r>
              <a:r>
                <a:rPr lang="zh-CN" sz="900" dirty="0">
                  <a:solidFill>
                    <a:srgbClr val="3A3A3A"/>
                  </a:solidFill>
                  <a:latin typeface="+mn-lt"/>
                  <a:ea typeface="+mn-ea"/>
                  <a:cs typeface="+mn-cs"/>
                </a:rPr>
                <a:t>个百分点</a:t>
              </a:r>
              <a:r>
                <a:rPr lang="zh-CN" sz="1950" b="1" dirty="0">
                  <a:solidFill>
                    <a:srgbClr val="A52D12"/>
                  </a:solidFill>
                  <a:latin typeface="+mn-lt"/>
                  <a:ea typeface="+mn-ea"/>
                  <a:cs typeface="+mn-cs"/>
                </a:rPr>
                <a:t>​</a:t>
              </a:r>
            </a:p>
          </p:txBody>
        </p:sp>
        <p:sp>
          <p:nvSpPr>
            <p:cNvPr id="20" name="Line 20"/>
            <p:cNvSpPr/>
            <p:nvPr/>
          </p:nvSpPr>
          <p:spPr>
            <a:xfrm>
              <a:off x="666750" y="3143250"/>
              <a:ext cx="2095500" cy="9525"/>
            </a:xfrm>
            <a:custGeom>
              <a:avLst/>
              <a:gdLst/>
              <a:ahLst/>
              <a:cxnLst/>
              <a:rect l="l" t="t" r="r" b="b"/>
              <a:pathLst>
                <a:path w="2095500" h="9525">
                  <a:moveTo>
                    <a:pt x="0" y="0"/>
                  </a:moveTo>
                  <a:lnTo>
                    <a:pt x="2095500" y="0"/>
                  </a:lnTo>
                </a:path>
              </a:pathLst>
            </a:custGeom>
            <a:noFill/>
            <a:ln w="9525">
              <a:solidFill>
                <a:srgbClr val="EDD5D2"/>
              </a:solidFill>
              <a:custDash>
                <a:ds d="400000" sp="300000"/>
              </a:custDash>
            </a:ln>
          </p:spPr>
        </p:sp>
        <p:sp>
          <p:nvSpPr>
            <p:cNvPr id="21" name="TextBox 21"/>
            <p:cNvSpPr txBox="1"/>
            <p:nvPr/>
          </p:nvSpPr>
          <p:spPr>
            <a:xfrm>
              <a:off x="1379728" y="3438049"/>
              <a:ext cx="669544" cy="190690"/>
            </a:xfrm>
            <a:prstGeom prst="rect">
              <a:avLst/>
            </a:prstGeom>
            <a:noFill/>
            <a:ln>
              <a:noFill/>
            </a:ln>
          </p:spPr>
          <p:txBody>
            <a:bodyPr wrap="none" lIns="0" tIns="0" rIns="0" bIns="0" anchor="t" anchorCtr="0">
              <a:spAutoFit/>
            </a:bodyPr>
            <a:lstStyle/>
            <a:p>
              <a:pPr algn="ctr"/>
              <a:r>
                <a:rPr lang="zh-CN" sz="980" dirty="0">
                  <a:solidFill>
                    <a:srgbClr val="3A3A3A"/>
                  </a:solidFill>
                  <a:latin typeface="+mn-lt"/>
                  <a:ea typeface="+mn-ea"/>
                  <a:cs typeface="+mn-cs"/>
                </a:rPr>
                <a:t>付息率再降</a:t>
              </a:r>
            </a:p>
          </p:txBody>
        </p:sp>
        <p:sp>
          <p:nvSpPr>
            <p:cNvPr id="22" name="TextBox 22"/>
            <p:cNvSpPr txBox="1"/>
            <p:nvPr/>
          </p:nvSpPr>
          <p:spPr>
            <a:xfrm>
              <a:off x="1441241" y="3713798"/>
              <a:ext cx="546518" cy="381381"/>
            </a:xfrm>
            <a:prstGeom prst="rect">
              <a:avLst/>
            </a:prstGeom>
            <a:noFill/>
            <a:ln>
              <a:noFill/>
            </a:ln>
          </p:spPr>
          <p:txBody>
            <a:bodyPr wrap="none" lIns="0" tIns="0" rIns="0" bIns="0" anchor="t" anchorCtr="0">
              <a:spAutoFit/>
            </a:bodyPr>
            <a:lstStyle/>
            <a:p>
              <a:pPr algn="ctr"/>
              <a:r>
                <a:rPr lang="zh-CN" sz="1950" b="1" dirty="0">
                  <a:solidFill>
                    <a:srgbClr val="A52D12"/>
                  </a:solidFill>
                  <a:latin typeface="+mn-lt"/>
                  <a:ea typeface="+mn-ea"/>
                  <a:cs typeface="+mn-cs"/>
                </a:rPr>
                <a:t xml:space="preserve">8 </a:t>
              </a:r>
              <a:r>
                <a:rPr lang="en-US" sz="900" dirty="0">
                  <a:solidFill>
                    <a:srgbClr val="3A3A3A"/>
                  </a:solidFill>
                  <a:latin typeface="+mn-lt"/>
                  <a:ea typeface="+mn-ea"/>
                  <a:cs typeface="+mn-cs"/>
                </a:rPr>
                <a:t>BP</a:t>
              </a:r>
              <a:r>
                <a:rPr lang="zh-CN" sz="1950" b="1" dirty="0">
                  <a:solidFill>
                    <a:srgbClr val="A52D12"/>
                  </a:solidFill>
                  <a:latin typeface="+mn-lt"/>
                  <a:ea typeface="+mn-ea"/>
                  <a:cs typeface="+mn-cs"/>
                </a:rPr>
                <a:t>​</a:t>
              </a:r>
            </a:p>
          </p:txBody>
        </p:sp>
      </p:grpSp>
      <p:grpSp>
        <p:nvGrpSpPr>
          <p:cNvPr id="39" name="attack-2"/>
          <p:cNvGrpSpPr/>
          <p:nvPr/>
        </p:nvGrpSpPr>
        <p:grpSpPr>
          <a:xfrm>
            <a:off x="3295650" y="933450"/>
            <a:ext cx="2667000" cy="3429000"/>
            <a:chOff x="3295650" y="933450"/>
            <a:chExt cx="2667000" cy="3429000"/>
          </a:xfrm>
        </p:grpSpPr>
        <p:sp>
          <p:nvSpPr>
            <p:cNvPr id="24" name="Rectangle 24"/>
            <p:cNvSpPr/>
            <p:nvPr/>
          </p:nvSpPr>
          <p:spPr>
            <a:xfrm>
              <a:off x="3295650" y="1257300"/>
              <a:ext cx="2667000" cy="3105150"/>
            </a:xfrm>
            <a:prstGeom prst="roundRect">
              <a:avLst>
                <a:gd name="adj" fmla="val 3571"/>
              </a:avLst>
            </a:prstGeom>
            <a:solidFill>
              <a:srgbClr val="FDF6F5"/>
            </a:solidFill>
            <a:ln w="9525">
              <a:solidFill>
                <a:srgbClr val="EDD5D2"/>
              </a:solidFill>
            </a:ln>
          </p:spPr>
        </p:sp>
        <p:sp>
          <p:nvSpPr>
            <p:cNvPr id="25" name="Ellipse 25"/>
            <p:cNvSpPr/>
            <p:nvPr/>
          </p:nvSpPr>
          <p:spPr>
            <a:xfrm>
              <a:off x="4305300" y="933450"/>
              <a:ext cx="647700" cy="647700"/>
            </a:xfrm>
            <a:prstGeom prst="ellipse">
              <a:avLst/>
            </a:prstGeom>
            <a:solidFill>
              <a:srgbClr val="A52D12"/>
            </a:solidFill>
            <a:ln>
              <a:noFill/>
            </a:ln>
          </p:spPr>
        </p:sp>
        <p:grpSp>
          <p:nvGrpSpPr>
            <p:cNvPr id="30" name="Group 30"/>
            <p:cNvGrpSpPr/>
            <p:nvPr/>
          </p:nvGrpSpPr>
          <p:grpSpPr>
            <a:xfrm>
              <a:off x="4514850" y="1143000"/>
              <a:ext cx="228599" cy="215900"/>
              <a:chOff x="4514850" y="1143000"/>
              <a:chExt cx="228599" cy="215900"/>
            </a:xfrm>
          </p:grpSpPr>
          <p:sp>
            <p:nvSpPr>
              <p:cNvPr id="26" name="Freeform 26"/>
              <p:cNvSpPr/>
              <p:nvPr/>
            </p:nvSpPr>
            <p:spPr>
              <a:xfrm>
                <a:off x="4514850" y="1193800"/>
                <a:ext cx="228599" cy="165100"/>
              </a:xfrm>
              <a:custGeom>
                <a:avLst/>
                <a:gdLst/>
                <a:ahLst/>
                <a:cxnLst/>
                <a:rect l="l" t="t" r="r" b="b"/>
                <a:pathLst>
                  <a:path w="228599" h="165100">
                    <a:moveTo>
                      <a:pt x="0" y="25400"/>
                    </a:moveTo>
                    <a:cubicBezTo>
                      <a:pt x="0" y="11372"/>
                      <a:pt x="11372" y="0"/>
                      <a:pt x="25400" y="0"/>
                    </a:cubicBezTo>
                    <a:lnTo>
                      <a:pt x="203199" y="0"/>
                    </a:lnTo>
                    <a:cubicBezTo>
                      <a:pt x="217227" y="0"/>
                      <a:pt x="228599" y="11372"/>
                      <a:pt x="228599" y="25400"/>
                    </a:cubicBezTo>
                    <a:lnTo>
                      <a:pt x="228599" y="139700"/>
                    </a:lnTo>
                    <a:cubicBezTo>
                      <a:pt x="228599" y="153728"/>
                      <a:pt x="217227" y="165100"/>
                      <a:pt x="203199" y="165100"/>
                    </a:cubicBezTo>
                    <a:lnTo>
                      <a:pt x="25400" y="165100"/>
                    </a:lnTo>
                    <a:cubicBezTo>
                      <a:pt x="11372" y="165100"/>
                      <a:pt x="0" y="153728"/>
                      <a:pt x="0" y="139700"/>
                    </a:cubicBezTo>
                    <a:lnTo>
                      <a:pt x="0" y="25400"/>
                    </a:lnTo>
                  </a:path>
                </a:pathLst>
              </a:custGeom>
              <a:noFill/>
              <a:ln w="25400">
                <a:solidFill>
                  <a:srgbClr val="FFFFFF"/>
                </a:solidFill>
              </a:ln>
            </p:spPr>
          </p:sp>
          <p:sp>
            <p:nvSpPr>
              <p:cNvPr id="27" name="Freeform 27"/>
              <p:cNvSpPr/>
              <p:nvPr/>
            </p:nvSpPr>
            <p:spPr>
              <a:xfrm>
                <a:off x="4578350" y="1143000"/>
                <a:ext cx="101600" cy="50800"/>
              </a:xfrm>
              <a:custGeom>
                <a:avLst/>
                <a:gdLst/>
                <a:ahLst/>
                <a:cxnLst/>
                <a:rect l="l" t="t" r="r" b="b"/>
                <a:pathLst>
                  <a:path w="101600" h="50800">
                    <a:moveTo>
                      <a:pt x="0" y="50800"/>
                    </a:moveTo>
                    <a:lnTo>
                      <a:pt x="0" y="25400"/>
                    </a:lnTo>
                    <a:cubicBezTo>
                      <a:pt x="0" y="11372"/>
                      <a:pt x="11372" y="0"/>
                      <a:pt x="25400" y="0"/>
                    </a:cubicBezTo>
                    <a:lnTo>
                      <a:pt x="76200" y="0"/>
                    </a:lnTo>
                    <a:cubicBezTo>
                      <a:pt x="90228" y="0"/>
                      <a:pt x="101600" y="11372"/>
                      <a:pt x="101600" y="25400"/>
                    </a:cubicBezTo>
                    <a:lnTo>
                      <a:pt x="101600" y="50800"/>
                    </a:lnTo>
                  </a:path>
                </a:pathLst>
              </a:custGeom>
              <a:noFill/>
              <a:ln w="25400">
                <a:solidFill>
                  <a:srgbClr val="FFFFFF"/>
                </a:solidFill>
              </a:ln>
            </p:spPr>
          </p:sp>
          <p:sp>
            <p:nvSpPr>
              <p:cNvPr id="28" name="Freeform 28"/>
              <p:cNvSpPr/>
              <p:nvPr/>
            </p:nvSpPr>
            <p:spPr>
              <a:xfrm>
                <a:off x="4629150" y="1257300"/>
                <a:ext cx="9525" cy="9525"/>
              </a:xfrm>
              <a:custGeom>
                <a:avLst/>
                <a:gdLst/>
                <a:ahLst/>
                <a:cxnLst/>
                <a:rect l="l" t="t" r="r" b="b"/>
                <a:pathLst>
                  <a:path w="9525" h="9525">
                    <a:moveTo>
                      <a:pt x="0" y="0"/>
                    </a:moveTo>
                    <a:lnTo>
                      <a:pt x="0" y="127"/>
                    </a:lnTo>
                  </a:path>
                </a:pathLst>
              </a:custGeom>
              <a:noFill/>
              <a:ln w="25400">
                <a:solidFill>
                  <a:srgbClr val="FFFFFF"/>
                </a:solidFill>
              </a:ln>
            </p:spPr>
          </p:sp>
          <p:sp>
            <p:nvSpPr>
              <p:cNvPr id="29" name="Freeform 29"/>
              <p:cNvSpPr/>
              <p:nvPr/>
            </p:nvSpPr>
            <p:spPr>
              <a:xfrm>
                <a:off x="4514850" y="1270000"/>
                <a:ext cx="228599" cy="36228"/>
              </a:xfrm>
              <a:custGeom>
                <a:avLst/>
                <a:gdLst/>
                <a:ahLst/>
                <a:cxnLst/>
                <a:rect l="l" t="t" r="r" b="b"/>
                <a:pathLst>
                  <a:path w="228599" h="36228">
                    <a:moveTo>
                      <a:pt x="0" y="0"/>
                    </a:moveTo>
                    <a:cubicBezTo>
                      <a:pt x="71894" y="36228"/>
                      <a:pt x="156706" y="36228"/>
                      <a:pt x="228599" y="0"/>
                    </a:cubicBezTo>
                  </a:path>
                </a:pathLst>
              </a:custGeom>
              <a:noFill/>
              <a:ln w="25400">
                <a:solidFill>
                  <a:srgbClr val="FFFFFF"/>
                </a:solidFill>
              </a:ln>
            </p:spPr>
          </p:sp>
        </p:grpSp>
        <p:sp>
          <p:nvSpPr>
            <p:cNvPr id="31" name="Ellipse 31"/>
            <p:cNvSpPr/>
            <p:nvPr/>
          </p:nvSpPr>
          <p:spPr>
            <a:xfrm>
              <a:off x="4829175" y="962025"/>
              <a:ext cx="209550" cy="209550"/>
            </a:xfrm>
            <a:prstGeom prst="ellipse">
              <a:avLst/>
            </a:prstGeom>
            <a:solidFill>
              <a:srgbClr val="C9604E"/>
            </a:solidFill>
            <a:ln>
              <a:noFill/>
            </a:ln>
          </p:spPr>
        </p:sp>
        <p:sp>
          <p:nvSpPr>
            <p:cNvPr id="32" name="TextBox 32"/>
            <p:cNvSpPr txBox="1"/>
            <p:nvPr/>
          </p:nvSpPr>
          <p:spPr>
            <a:xfrm>
              <a:off x="4865438" y="10158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a:t>
              </a:r>
            </a:p>
          </p:txBody>
        </p:sp>
        <p:sp>
          <p:nvSpPr>
            <p:cNvPr id="33" name="TextBox 33"/>
            <p:cNvSpPr txBox="1"/>
            <p:nvPr/>
          </p:nvSpPr>
          <p:spPr>
            <a:xfrm>
              <a:off x="3933419" y="1805464"/>
              <a:ext cx="1391463" cy="249364"/>
            </a:xfrm>
            <a:prstGeom prst="rect">
              <a:avLst/>
            </a:prstGeom>
            <a:noFill/>
            <a:ln>
              <a:noFill/>
            </a:ln>
          </p:spPr>
          <p:txBody>
            <a:bodyPr wrap="none" lIns="0" tIns="0" rIns="0" bIns="0" anchor="t" anchorCtr="0">
              <a:spAutoFit/>
            </a:bodyPr>
            <a:lstStyle/>
            <a:p>
              <a:pPr algn="ctr"/>
              <a:r>
                <a:rPr lang="zh-CN" sz="1280" b="1" dirty="0">
                  <a:solidFill>
                    <a:srgbClr val="A52D12"/>
                  </a:solidFill>
                  <a:latin typeface="+mn-lt"/>
                  <a:ea typeface="+mn-ea"/>
                  <a:cs typeface="+mn-cs"/>
                </a:rPr>
                <a:t>重点领域信贷攻坚</a:t>
              </a:r>
            </a:p>
          </p:txBody>
        </p:sp>
        <p:sp>
          <p:nvSpPr>
            <p:cNvPr id="34" name="Line 34"/>
            <p:cNvSpPr/>
            <p:nvPr/>
          </p:nvSpPr>
          <p:spPr>
            <a:xfrm>
              <a:off x="4057650" y="2095500"/>
              <a:ext cx="1143000" cy="9525"/>
            </a:xfrm>
            <a:custGeom>
              <a:avLst/>
              <a:gdLst/>
              <a:ahLst/>
              <a:cxnLst/>
              <a:rect l="l" t="t" r="r" b="b"/>
              <a:pathLst>
                <a:path w="1143000" h="9525">
                  <a:moveTo>
                    <a:pt x="0" y="0"/>
                  </a:moveTo>
                  <a:lnTo>
                    <a:pt x="1143000" y="0"/>
                  </a:lnTo>
                </a:path>
              </a:pathLst>
            </a:custGeom>
            <a:noFill/>
            <a:ln w="14288">
              <a:solidFill>
                <a:srgbClr val="C9604E"/>
              </a:solidFill>
            </a:ln>
          </p:spPr>
        </p:sp>
        <p:sp>
          <p:nvSpPr>
            <p:cNvPr id="35" name="TextBox 35"/>
            <p:cNvSpPr txBox="1"/>
            <p:nvPr/>
          </p:nvSpPr>
          <p:spPr>
            <a:xfrm>
              <a:off x="3964559" y="2485549"/>
              <a:ext cx="1329182" cy="190690"/>
            </a:xfrm>
            <a:prstGeom prst="rect">
              <a:avLst/>
            </a:prstGeom>
            <a:noFill/>
            <a:ln>
              <a:noFill/>
            </a:ln>
          </p:spPr>
          <p:txBody>
            <a:bodyPr wrap="none" lIns="0" tIns="0" rIns="0" bIns="0" anchor="t" anchorCtr="0">
              <a:spAutoFit/>
            </a:bodyPr>
            <a:lstStyle/>
            <a:p>
              <a:pPr algn="ctr"/>
              <a:r>
                <a:rPr lang="zh-CN" sz="980" dirty="0">
                  <a:solidFill>
                    <a:srgbClr val="3A3A3A"/>
                  </a:solidFill>
                  <a:latin typeface="+mn-lt"/>
                  <a:ea typeface="+mn-ea"/>
                  <a:cs typeface="+mn-cs"/>
                </a:rPr>
                <a:t>制造业、科创、绿色、</a:t>
              </a:r>
            </a:p>
          </p:txBody>
        </p:sp>
        <p:sp>
          <p:nvSpPr>
            <p:cNvPr id="36" name="TextBox 36"/>
            <p:cNvSpPr txBox="1"/>
            <p:nvPr/>
          </p:nvSpPr>
          <p:spPr>
            <a:xfrm>
              <a:off x="3964559" y="2695099"/>
              <a:ext cx="1329182" cy="190690"/>
            </a:xfrm>
            <a:prstGeom prst="rect">
              <a:avLst/>
            </a:prstGeom>
            <a:noFill/>
            <a:ln>
              <a:noFill/>
            </a:ln>
          </p:spPr>
          <p:txBody>
            <a:bodyPr wrap="none" lIns="0" tIns="0" rIns="0" bIns="0" anchor="t" anchorCtr="0">
              <a:spAutoFit/>
            </a:bodyPr>
            <a:lstStyle/>
            <a:p>
              <a:pPr algn="ctr"/>
              <a:r>
                <a:rPr lang="zh-CN" sz="980" dirty="0">
                  <a:solidFill>
                    <a:srgbClr val="3A3A3A"/>
                  </a:solidFill>
                  <a:latin typeface="+mn-lt"/>
                  <a:ea typeface="+mn-ea"/>
                  <a:cs typeface="+mn-cs"/>
                </a:rPr>
                <a:t>普惠贷款增速高于全行</a:t>
              </a:r>
            </a:p>
          </p:txBody>
        </p:sp>
        <p:sp>
          <p:nvSpPr>
            <p:cNvPr id="37" name="Line 37"/>
            <p:cNvSpPr/>
            <p:nvPr/>
          </p:nvSpPr>
          <p:spPr>
            <a:xfrm>
              <a:off x="3581400" y="3143250"/>
              <a:ext cx="2095500" cy="9525"/>
            </a:xfrm>
            <a:custGeom>
              <a:avLst/>
              <a:gdLst/>
              <a:ahLst/>
              <a:cxnLst/>
              <a:rect l="l" t="t" r="r" b="b"/>
              <a:pathLst>
                <a:path w="2095500" h="9525">
                  <a:moveTo>
                    <a:pt x="0" y="0"/>
                  </a:moveTo>
                  <a:lnTo>
                    <a:pt x="2095500" y="0"/>
                  </a:lnTo>
                </a:path>
              </a:pathLst>
            </a:custGeom>
            <a:noFill/>
            <a:ln w="9525">
              <a:solidFill>
                <a:srgbClr val="EDD5D2"/>
              </a:solidFill>
              <a:custDash>
                <a:ds d="400000" sp="300000"/>
              </a:custDash>
            </a:ln>
          </p:spPr>
        </p:sp>
        <p:sp>
          <p:nvSpPr>
            <p:cNvPr id="38" name="TextBox 38"/>
            <p:cNvSpPr txBox="1"/>
            <p:nvPr/>
          </p:nvSpPr>
          <p:spPr>
            <a:xfrm>
              <a:off x="4183984" y="3523298"/>
              <a:ext cx="890332" cy="381381"/>
            </a:xfrm>
            <a:prstGeom prst="rect">
              <a:avLst/>
            </a:prstGeom>
            <a:noFill/>
            <a:ln>
              <a:noFill/>
            </a:ln>
          </p:spPr>
          <p:txBody>
            <a:bodyPr wrap="none" lIns="0" tIns="0" rIns="0" bIns="0" anchor="t" anchorCtr="0">
              <a:spAutoFit/>
            </a:bodyPr>
            <a:lstStyle/>
            <a:p>
              <a:pPr algn="ctr"/>
              <a:r>
                <a:rPr lang="zh-CN" sz="1950" b="1" dirty="0">
                  <a:solidFill>
                    <a:srgbClr val="A52D12"/>
                  </a:solidFill>
                  <a:latin typeface="+mn-lt"/>
                  <a:ea typeface="+mn-ea"/>
                  <a:cs typeface="+mn-cs"/>
                </a:rPr>
                <a:t xml:space="preserve">3 </a:t>
              </a:r>
              <a:r>
                <a:rPr lang="zh-CN" sz="900" dirty="0">
                  <a:solidFill>
                    <a:srgbClr val="3A3A3A"/>
                  </a:solidFill>
                  <a:latin typeface="+mn-lt"/>
                  <a:ea typeface="+mn-ea"/>
                  <a:cs typeface="+mn-cs"/>
                </a:rPr>
                <a:t>个百分点</a:t>
              </a:r>
              <a:r>
                <a:rPr lang="zh-CN" sz="1950" b="1" dirty="0">
                  <a:solidFill>
                    <a:srgbClr val="A52D12"/>
                  </a:solidFill>
                  <a:latin typeface="+mn-lt"/>
                  <a:ea typeface="+mn-ea"/>
                  <a:cs typeface="+mn-cs"/>
                </a:rPr>
                <a:t>​</a:t>
              </a:r>
            </a:p>
          </p:txBody>
        </p:sp>
      </p:grpSp>
      <p:grpSp>
        <p:nvGrpSpPr>
          <p:cNvPr id="56" name="attack-3"/>
          <p:cNvGrpSpPr/>
          <p:nvPr/>
        </p:nvGrpSpPr>
        <p:grpSpPr>
          <a:xfrm>
            <a:off x="6210300" y="933450"/>
            <a:ext cx="2667000" cy="3429000"/>
            <a:chOff x="6210300" y="933450"/>
            <a:chExt cx="2667000" cy="3429000"/>
          </a:xfrm>
        </p:grpSpPr>
        <p:sp>
          <p:nvSpPr>
            <p:cNvPr id="40" name="Rectangle 40"/>
            <p:cNvSpPr/>
            <p:nvPr/>
          </p:nvSpPr>
          <p:spPr>
            <a:xfrm>
              <a:off x="6210300" y="1257300"/>
              <a:ext cx="2667000" cy="3105150"/>
            </a:xfrm>
            <a:prstGeom prst="roundRect">
              <a:avLst>
                <a:gd name="adj" fmla="val 3571"/>
              </a:avLst>
            </a:prstGeom>
            <a:solidFill>
              <a:srgbClr val="FDF6F5"/>
            </a:solidFill>
            <a:ln w="9525">
              <a:solidFill>
                <a:srgbClr val="EDD5D2"/>
              </a:solidFill>
            </a:ln>
          </p:spPr>
        </p:sp>
        <p:sp>
          <p:nvSpPr>
            <p:cNvPr id="41" name="Ellipse 41"/>
            <p:cNvSpPr/>
            <p:nvPr/>
          </p:nvSpPr>
          <p:spPr>
            <a:xfrm>
              <a:off x="7219950" y="933450"/>
              <a:ext cx="647700" cy="647700"/>
            </a:xfrm>
            <a:prstGeom prst="ellipse">
              <a:avLst/>
            </a:prstGeom>
            <a:solidFill>
              <a:srgbClr val="A52D12"/>
            </a:solidFill>
            <a:ln>
              <a:noFill/>
            </a:ln>
          </p:spPr>
        </p:sp>
        <p:grpSp>
          <p:nvGrpSpPr>
            <p:cNvPr id="46" name="Group 46"/>
            <p:cNvGrpSpPr/>
            <p:nvPr/>
          </p:nvGrpSpPr>
          <p:grpSpPr>
            <a:xfrm>
              <a:off x="7429500" y="1143000"/>
              <a:ext cx="228599" cy="228600"/>
              <a:chOff x="7429500" y="1143000"/>
              <a:chExt cx="228599" cy="228600"/>
            </a:xfrm>
          </p:grpSpPr>
          <p:sp>
            <p:nvSpPr>
              <p:cNvPr id="42" name="Freeform 42"/>
              <p:cNvSpPr/>
              <p:nvPr/>
            </p:nvSpPr>
            <p:spPr>
              <a:xfrm>
                <a:off x="7454900" y="114300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rgbClr val="FFFFFF"/>
                </a:solidFill>
              </a:ln>
            </p:spPr>
          </p:sp>
          <p:sp>
            <p:nvSpPr>
              <p:cNvPr id="43" name="Freeform 43"/>
              <p:cNvSpPr/>
              <p:nvPr/>
            </p:nvSpPr>
            <p:spPr>
              <a:xfrm>
                <a:off x="7429500" y="1295400"/>
                <a:ext cx="152400" cy="76200"/>
              </a:xfrm>
              <a:custGeom>
                <a:avLst/>
                <a:gdLst/>
                <a:ahLst/>
                <a:cxnLst/>
                <a:rect l="l" t="t" r="r" b="b"/>
                <a:pathLst>
                  <a:path w="152400" h="76200">
                    <a:moveTo>
                      <a:pt x="0" y="76200"/>
                    </a:moveTo>
                    <a:lnTo>
                      <a:pt x="0" y="50800"/>
                    </a:lnTo>
                    <a:cubicBezTo>
                      <a:pt x="0" y="22744"/>
                      <a:pt x="22744" y="0"/>
                      <a:pt x="50800" y="0"/>
                    </a:cubicBezTo>
                    <a:lnTo>
                      <a:pt x="101600" y="0"/>
                    </a:lnTo>
                    <a:cubicBezTo>
                      <a:pt x="129656" y="0"/>
                      <a:pt x="152400" y="22744"/>
                      <a:pt x="152400" y="50800"/>
                    </a:cubicBezTo>
                    <a:lnTo>
                      <a:pt x="152400" y="76200"/>
                    </a:lnTo>
                  </a:path>
                </a:pathLst>
              </a:custGeom>
              <a:noFill/>
              <a:ln w="25400">
                <a:solidFill>
                  <a:srgbClr val="FFFFFF"/>
                </a:solidFill>
              </a:ln>
            </p:spPr>
          </p:sp>
          <p:sp>
            <p:nvSpPr>
              <p:cNvPr id="44" name="Freeform 44"/>
              <p:cNvSpPr/>
              <p:nvPr/>
            </p:nvSpPr>
            <p:spPr>
              <a:xfrm>
                <a:off x="7594599" y="1144651"/>
                <a:ext cx="38200" cy="98425"/>
              </a:xfrm>
              <a:custGeom>
                <a:avLst/>
                <a:gdLst/>
                <a:ahLst/>
                <a:cxnLst/>
                <a:rect l="l" t="t" r="r" b="b"/>
                <a:pathLst>
                  <a:path w="38200" h="98425">
                    <a:moveTo>
                      <a:pt x="0" y="0"/>
                    </a:moveTo>
                    <a:cubicBezTo>
                      <a:pt x="22478" y="5755"/>
                      <a:pt x="38200" y="26009"/>
                      <a:pt x="38200" y="49212"/>
                    </a:cubicBezTo>
                    <a:cubicBezTo>
                      <a:pt x="38200" y="72415"/>
                      <a:pt x="22478" y="92670"/>
                      <a:pt x="0" y="98425"/>
                    </a:cubicBezTo>
                  </a:path>
                </a:pathLst>
              </a:custGeom>
              <a:noFill/>
              <a:ln w="25400">
                <a:solidFill>
                  <a:srgbClr val="FFFFFF"/>
                </a:solidFill>
              </a:ln>
            </p:spPr>
          </p:sp>
          <p:sp>
            <p:nvSpPr>
              <p:cNvPr id="45" name="Freeform 45"/>
              <p:cNvSpPr/>
              <p:nvPr/>
            </p:nvSpPr>
            <p:spPr>
              <a:xfrm>
                <a:off x="7619999" y="1297305"/>
                <a:ext cx="38100" cy="74295"/>
              </a:xfrm>
              <a:custGeom>
                <a:avLst/>
                <a:gdLst/>
                <a:ahLst/>
                <a:cxnLst/>
                <a:rect l="l" t="t" r="r" b="b"/>
                <a:pathLst>
                  <a:path w="38100" h="74295">
                    <a:moveTo>
                      <a:pt x="38100" y="74295"/>
                    </a:moveTo>
                    <a:lnTo>
                      <a:pt x="38100" y="48895"/>
                    </a:lnTo>
                    <a:cubicBezTo>
                      <a:pt x="37967" y="25839"/>
                      <a:pt x="22324" y="5764"/>
                      <a:pt x="0" y="0"/>
                    </a:cubicBezTo>
                  </a:path>
                </a:pathLst>
              </a:custGeom>
              <a:noFill/>
              <a:ln w="25400">
                <a:solidFill>
                  <a:srgbClr val="FFFFFF"/>
                </a:solidFill>
              </a:ln>
            </p:spPr>
          </p:sp>
        </p:grpSp>
        <p:sp>
          <p:nvSpPr>
            <p:cNvPr id="47" name="Ellipse 47"/>
            <p:cNvSpPr/>
            <p:nvPr/>
          </p:nvSpPr>
          <p:spPr>
            <a:xfrm>
              <a:off x="7743825" y="962025"/>
              <a:ext cx="209550" cy="209550"/>
            </a:xfrm>
            <a:prstGeom prst="ellipse">
              <a:avLst/>
            </a:prstGeom>
            <a:solidFill>
              <a:srgbClr val="C9604E"/>
            </a:solidFill>
            <a:ln>
              <a:noFill/>
            </a:ln>
          </p:spPr>
        </p:sp>
        <p:sp>
          <p:nvSpPr>
            <p:cNvPr id="48" name="TextBox 48"/>
            <p:cNvSpPr txBox="1"/>
            <p:nvPr/>
          </p:nvSpPr>
          <p:spPr>
            <a:xfrm>
              <a:off x="7780088" y="10158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a:t>
              </a:r>
            </a:p>
          </p:txBody>
        </p:sp>
        <p:sp>
          <p:nvSpPr>
            <p:cNvPr id="49" name="TextBox 49"/>
            <p:cNvSpPr txBox="1"/>
            <p:nvPr/>
          </p:nvSpPr>
          <p:spPr>
            <a:xfrm>
              <a:off x="6848069" y="1805464"/>
              <a:ext cx="1391463" cy="249364"/>
            </a:xfrm>
            <a:prstGeom prst="rect">
              <a:avLst/>
            </a:prstGeom>
            <a:noFill/>
            <a:ln>
              <a:noFill/>
            </a:ln>
          </p:spPr>
          <p:txBody>
            <a:bodyPr wrap="none" lIns="0" tIns="0" rIns="0" bIns="0" anchor="t" anchorCtr="0">
              <a:spAutoFit/>
            </a:bodyPr>
            <a:lstStyle/>
            <a:p>
              <a:pPr algn="ctr"/>
              <a:r>
                <a:rPr lang="zh-CN" sz="1280" b="1" dirty="0">
                  <a:solidFill>
                    <a:srgbClr val="A52D12"/>
                  </a:solidFill>
                  <a:latin typeface="+mn-lt"/>
                  <a:ea typeface="+mn-ea"/>
                  <a:cs typeface="+mn-cs"/>
                </a:rPr>
                <a:t>客户价值提升攻坚</a:t>
              </a:r>
            </a:p>
          </p:txBody>
        </p:sp>
        <p:sp>
          <p:nvSpPr>
            <p:cNvPr id="50" name="Line 50"/>
            <p:cNvSpPr/>
            <p:nvPr/>
          </p:nvSpPr>
          <p:spPr>
            <a:xfrm>
              <a:off x="6972300" y="2095500"/>
              <a:ext cx="1143000" cy="9525"/>
            </a:xfrm>
            <a:custGeom>
              <a:avLst/>
              <a:gdLst/>
              <a:ahLst/>
              <a:cxnLst/>
              <a:rect l="l" t="t" r="r" b="b"/>
              <a:pathLst>
                <a:path w="1143000" h="9525">
                  <a:moveTo>
                    <a:pt x="0" y="0"/>
                  </a:moveTo>
                  <a:lnTo>
                    <a:pt x="1143000" y="0"/>
                  </a:lnTo>
                </a:path>
              </a:pathLst>
            </a:custGeom>
            <a:noFill/>
            <a:ln w="14288">
              <a:solidFill>
                <a:srgbClr val="C9604E"/>
              </a:solidFill>
            </a:ln>
          </p:spPr>
        </p:sp>
        <p:sp>
          <p:nvSpPr>
            <p:cNvPr id="51" name="TextBox 51"/>
            <p:cNvSpPr txBox="1"/>
            <p:nvPr/>
          </p:nvSpPr>
          <p:spPr>
            <a:xfrm>
              <a:off x="7011137" y="2390299"/>
              <a:ext cx="1065327" cy="190690"/>
            </a:xfrm>
            <a:prstGeom prst="rect">
              <a:avLst/>
            </a:prstGeom>
            <a:noFill/>
            <a:ln>
              <a:noFill/>
            </a:ln>
          </p:spPr>
          <p:txBody>
            <a:bodyPr wrap="none" lIns="0" tIns="0" rIns="0" bIns="0" anchor="t" anchorCtr="0">
              <a:spAutoFit/>
            </a:bodyPr>
            <a:lstStyle/>
            <a:p>
              <a:pPr algn="ctr"/>
              <a:r>
                <a:rPr lang="zh-CN" sz="980" dirty="0">
                  <a:solidFill>
                    <a:srgbClr val="3A3A3A"/>
                  </a:solidFill>
                  <a:latin typeface="+mn-lt"/>
                  <a:ea typeface="+mn-ea"/>
                  <a:cs typeface="+mn-cs"/>
                </a:rPr>
                <a:t>新增价值对公客户</a:t>
              </a:r>
            </a:p>
          </p:txBody>
        </p:sp>
        <p:sp>
          <p:nvSpPr>
            <p:cNvPr id="52" name="TextBox 52"/>
            <p:cNvSpPr txBox="1"/>
            <p:nvPr/>
          </p:nvSpPr>
          <p:spPr>
            <a:xfrm>
              <a:off x="7068193" y="2646998"/>
              <a:ext cx="951214" cy="381381"/>
            </a:xfrm>
            <a:prstGeom prst="rect">
              <a:avLst/>
            </a:prstGeom>
            <a:noFill/>
            <a:ln>
              <a:noFill/>
            </a:ln>
          </p:spPr>
          <p:txBody>
            <a:bodyPr wrap="none" lIns="0" tIns="0" rIns="0" bIns="0" anchor="t" anchorCtr="0">
              <a:spAutoFit/>
            </a:bodyPr>
            <a:lstStyle/>
            <a:p>
              <a:pPr algn="ctr"/>
              <a:r>
                <a:rPr lang="zh-CN" sz="1950" b="1" dirty="0">
                  <a:solidFill>
                    <a:srgbClr val="A52D12"/>
                  </a:solidFill>
                  <a:latin typeface="+mn-lt"/>
                  <a:ea typeface="+mn-ea"/>
                  <a:cs typeface="+mn-cs"/>
                </a:rPr>
                <a:t xml:space="preserve">1.5 </a:t>
              </a:r>
              <a:r>
                <a:rPr lang="zh-CN" sz="900" dirty="0">
                  <a:solidFill>
                    <a:srgbClr val="3A3A3A"/>
                  </a:solidFill>
                  <a:latin typeface="+mn-lt"/>
                  <a:ea typeface="+mn-ea"/>
                  <a:cs typeface="+mn-cs"/>
                </a:rPr>
                <a:t>万户</a:t>
              </a:r>
              <a:r>
                <a:rPr lang="zh-CN" sz="1950" b="1" dirty="0">
                  <a:solidFill>
                    <a:srgbClr val="A52D12"/>
                  </a:solidFill>
                  <a:latin typeface="+mn-lt"/>
                  <a:ea typeface="+mn-ea"/>
                  <a:cs typeface="+mn-cs"/>
                </a:rPr>
                <a:t>​</a:t>
              </a:r>
            </a:p>
          </p:txBody>
        </p:sp>
        <p:sp>
          <p:nvSpPr>
            <p:cNvPr id="53" name="Line 53"/>
            <p:cNvSpPr/>
            <p:nvPr/>
          </p:nvSpPr>
          <p:spPr>
            <a:xfrm>
              <a:off x="6496050" y="3143250"/>
              <a:ext cx="2095500" cy="9525"/>
            </a:xfrm>
            <a:custGeom>
              <a:avLst/>
              <a:gdLst/>
              <a:ahLst/>
              <a:cxnLst/>
              <a:rect l="l" t="t" r="r" b="b"/>
              <a:pathLst>
                <a:path w="2095500" h="9525">
                  <a:moveTo>
                    <a:pt x="0" y="0"/>
                  </a:moveTo>
                  <a:lnTo>
                    <a:pt x="2095500" y="0"/>
                  </a:lnTo>
                </a:path>
              </a:pathLst>
            </a:custGeom>
            <a:noFill/>
            <a:ln w="9525">
              <a:solidFill>
                <a:srgbClr val="EDD5D2"/>
              </a:solidFill>
              <a:custDash>
                <a:ds d="400000" sp="300000"/>
              </a:custDash>
            </a:ln>
          </p:spPr>
        </p:sp>
        <p:sp>
          <p:nvSpPr>
            <p:cNvPr id="54" name="TextBox 54"/>
            <p:cNvSpPr txBox="1"/>
            <p:nvPr/>
          </p:nvSpPr>
          <p:spPr>
            <a:xfrm>
              <a:off x="7077100" y="3438049"/>
              <a:ext cx="933399" cy="190690"/>
            </a:xfrm>
            <a:prstGeom prst="rect">
              <a:avLst/>
            </a:prstGeom>
            <a:noFill/>
            <a:ln>
              <a:noFill/>
            </a:ln>
          </p:spPr>
          <p:txBody>
            <a:bodyPr wrap="none" lIns="0" tIns="0" rIns="0" bIns="0" anchor="t" anchorCtr="0">
              <a:spAutoFit/>
            </a:bodyPr>
            <a:lstStyle/>
            <a:p>
              <a:pPr algn="ctr"/>
              <a:r>
                <a:rPr lang="zh-CN" sz="980" dirty="0">
                  <a:solidFill>
                    <a:srgbClr val="3A3A3A"/>
                  </a:solidFill>
                  <a:latin typeface="+mn-lt"/>
                  <a:ea typeface="+mn-ea"/>
                  <a:cs typeface="+mn-cs"/>
                </a:rPr>
                <a:t>交叉销售率提升</a:t>
              </a:r>
            </a:p>
          </p:txBody>
        </p:sp>
        <p:sp>
          <p:nvSpPr>
            <p:cNvPr id="55" name="TextBox 55"/>
            <p:cNvSpPr txBox="1"/>
            <p:nvPr/>
          </p:nvSpPr>
          <p:spPr>
            <a:xfrm>
              <a:off x="7034874" y="3713798"/>
              <a:ext cx="1017851" cy="381381"/>
            </a:xfrm>
            <a:prstGeom prst="rect">
              <a:avLst/>
            </a:prstGeom>
            <a:noFill/>
            <a:ln>
              <a:noFill/>
            </a:ln>
          </p:spPr>
          <p:txBody>
            <a:bodyPr wrap="none" lIns="0" tIns="0" rIns="0" bIns="0" anchor="t" anchorCtr="0">
              <a:spAutoFit/>
            </a:bodyPr>
            <a:lstStyle/>
            <a:p>
              <a:pPr algn="ctr"/>
              <a:r>
                <a:rPr lang="zh-CN" sz="1950" b="1" dirty="0">
                  <a:solidFill>
                    <a:srgbClr val="A52D12"/>
                  </a:solidFill>
                  <a:latin typeface="+mn-lt"/>
                  <a:ea typeface="+mn-ea"/>
                  <a:cs typeface="+mn-cs"/>
                </a:rPr>
                <a:t xml:space="preserve">0.2 </a:t>
              </a:r>
              <a:r>
                <a:rPr lang="zh-CN" sz="900" dirty="0">
                  <a:solidFill>
                    <a:srgbClr val="3A3A3A"/>
                  </a:solidFill>
                  <a:latin typeface="+mn-lt"/>
                  <a:ea typeface="+mn-ea"/>
                  <a:cs typeface="+mn-cs"/>
                </a:rPr>
                <a:t>项/户</a:t>
              </a:r>
              <a:r>
                <a:rPr lang="zh-CN" sz="1950" b="1" dirty="0">
                  <a:solidFill>
                    <a:srgbClr val="A52D12"/>
                  </a:solidFill>
                  <a:latin typeface="+mn-lt"/>
                  <a:ea typeface="+mn-ea"/>
                  <a:cs typeface="+mn-cs"/>
                </a:rPr>
                <a:t>​</a:t>
              </a:r>
            </a:p>
          </p:txBody>
        </p:sp>
      </p:grpSp>
      <p:grpSp>
        <p:nvGrpSpPr>
          <p:cNvPr id="71" name="attack-4"/>
          <p:cNvGrpSpPr/>
          <p:nvPr/>
        </p:nvGrpSpPr>
        <p:grpSpPr>
          <a:xfrm>
            <a:off x="9124950" y="933450"/>
            <a:ext cx="2667000" cy="3429000"/>
            <a:chOff x="9124950" y="933450"/>
            <a:chExt cx="2667000" cy="3429000"/>
          </a:xfrm>
        </p:grpSpPr>
        <p:sp>
          <p:nvSpPr>
            <p:cNvPr id="57" name="Rectangle 57"/>
            <p:cNvSpPr/>
            <p:nvPr/>
          </p:nvSpPr>
          <p:spPr>
            <a:xfrm>
              <a:off x="9124950" y="1257300"/>
              <a:ext cx="2667000" cy="3105150"/>
            </a:xfrm>
            <a:prstGeom prst="roundRect">
              <a:avLst>
                <a:gd name="adj" fmla="val 3571"/>
              </a:avLst>
            </a:prstGeom>
            <a:solidFill>
              <a:srgbClr val="FDF6F5"/>
            </a:solidFill>
            <a:ln w="9525">
              <a:solidFill>
                <a:srgbClr val="EDD5D2"/>
              </a:solidFill>
            </a:ln>
          </p:spPr>
        </p:sp>
        <p:sp>
          <p:nvSpPr>
            <p:cNvPr id="58" name="Ellipse 58"/>
            <p:cNvSpPr/>
            <p:nvPr/>
          </p:nvSpPr>
          <p:spPr>
            <a:xfrm>
              <a:off x="10134600" y="933450"/>
              <a:ext cx="647700" cy="647700"/>
            </a:xfrm>
            <a:prstGeom prst="ellipse">
              <a:avLst/>
            </a:prstGeom>
            <a:solidFill>
              <a:srgbClr val="A52D12"/>
            </a:solidFill>
            <a:ln>
              <a:noFill/>
            </a:ln>
          </p:spPr>
        </p:sp>
        <p:grpSp>
          <p:nvGrpSpPr>
            <p:cNvPr id="61" name="Group 61"/>
            <p:cNvGrpSpPr/>
            <p:nvPr/>
          </p:nvGrpSpPr>
          <p:grpSpPr>
            <a:xfrm>
              <a:off x="10356850" y="1181100"/>
              <a:ext cx="203199" cy="174624"/>
              <a:chOff x="10356850" y="1181100"/>
              <a:chExt cx="203199" cy="174624"/>
            </a:xfrm>
          </p:grpSpPr>
          <p:sp>
            <p:nvSpPr>
              <p:cNvPr id="59" name="Freeform 59"/>
              <p:cNvSpPr/>
              <p:nvPr/>
            </p:nvSpPr>
            <p:spPr>
              <a:xfrm>
                <a:off x="10356850" y="1346199"/>
                <a:ext cx="203199" cy="9525"/>
              </a:xfrm>
              <a:custGeom>
                <a:avLst/>
                <a:gdLst/>
                <a:ahLst/>
                <a:cxnLst/>
                <a:rect l="l" t="t" r="r" b="b"/>
                <a:pathLst>
                  <a:path w="203199" h="9525">
                    <a:moveTo>
                      <a:pt x="0" y="0"/>
                    </a:moveTo>
                    <a:lnTo>
                      <a:pt x="203199" y="0"/>
                    </a:lnTo>
                  </a:path>
                </a:pathLst>
              </a:custGeom>
              <a:noFill/>
              <a:ln w="25400">
                <a:solidFill>
                  <a:srgbClr val="FFFFFF"/>
                </a:solidFill>
              </a:ln>
            </p:spPr>
          </p:sp>
          <p:sp>
            <p:nvSpPr>
              <p:cNvPr id="60" name="Freeform 60"/>
              <p:cNvSpPr/>
              <p:nvPr/>
            </p:nvSpPr>
            <p:spPr>
              <a:xfrm>
                <a:off x="10356850" y="1181100"/>
                <a:ext cx="203199" cy="114300"/>
              </a:xfrm>
              <a:custGeom>
                <a:avLst/>
                <a:gdLst/>
                <a:ahLst/>
                <a:cxnLst/>
                <a:rect l="l" t="t" r="r" b="b"/>
                <a:pathLst>
                  <a:path w="203199" h="114300">
                    <a:moveTo>
                      <a:pt x="0" y="114300"/>
                    </a:moveTo>
                    <a:lnTo>
                      <a:pt x="50800" y="38100"/>
                    </a:lnTo>
                    <a:lnTo>
                      <a:pt x="101600" y="63500"/>
                    </a:lnTo>
                    <a:lnTo>
                      <a:pt x="152400" y="0"/>
                    </a:lnTo>
                    <a:lnTo>
                      <a:pt x="203199" y="50800"/>
                    </a:lnTo>
                  </a:path>
                </a:pathLst>
              </a:custGeom>
              <a:noFill/>
              <a:ln w="25400">
                <a:solidFill>
                  <a:srgbClr val="FFFFFF"/>
                </a:solidFill>
              </a:ln>
            </p:spPr>
          </p:sp>
        </p:grpSp>
        <p:sp>
          <p:nvSpPr>
            <p:cNvPr id="62" name="Ellipse 62"/>
            <p:cNvSpPr/>
            <p:nvPr/>
          </p:nvSpPr>
          <p:spPr>
            <a:xfrm>
              <a:off x="10658475" y="962025"/>
              <a:ext cx="209550" cy="209550"/>
            </a:xfrm>
            <a:prstGeom prst="ellipse">
              <a:avLst/>
            </a:prstGeom>
            <a:solidFill>
              <a:srgbClr val="C9604E"/>
            </a:solidFill>
            <a:ln>
              <a:noFill/>
            </a:ln>
          </p:spPr>
        </p:sp>
        <p:sp>
          <p:nvSpPr>
            <p:cNvPr id="63" name="TextBox 63"/>
            <p:cNvSpPr txBox="1"/>
            <p:nvPr/>
          </p:nvSpPr>
          <p:spPr>
            <a:xfrm>
              <a:off x="10694738" y="101584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4​</a:t>
              </a:r>
            </a:p>
          </p:txBody>
        </p:sp>
        <p:sp>
          <p:nvSpPr>
            <p:cNvPr id="64" name="TextBox 64"/>
            <p:cNvSpPr txBox="1"/>
            <p:nvPr/>
          </p:nvSpPr>
          <p:spPr>
            <a:xfrm>
              <a:off x="9848875" y="1805464"/>
              <a:ext cx="1219149" cy="249364"/>
            </a:xfrm>
            <a:prstGeom prst="rect">
              <a:avLst/>
            </a:prstGeom>
            <a:noFill/>
            <a:ln>
              <a:noFill/>
            </a:ln>
          </p:spPr>
          <p:txBody>
            <a:bodyPr wrap="none" lIns="0" tIns="0" rIns="0" bIns="0" anchor="t" anchorCtr="0">
              <a:spAutoFit/>
            </a:bodyPr>
            <a:lstStyle/>
            <a:p>
              <a:pPr algn="ctr"/>
              <a:r>
                <a:rPr lang="zh-CN" sz="1280" b="1" dirty="0">
                  <a:solidFill>
                    <a:srgbClr val="A52D12"/>
                  </a:solidFill>
                  <a:latin typeface="+mn-lt"/>
                  <a:ea typeface="+mn-ea"/>
                  <a:cs typeface="+mn-cs"/>
                </a:rPr>
                <a:t>中收与投行攻坚</a:t>
              </a:r>
            </a:p>
          </p:txBody>
        </p:sp>
        <p:sp>
          <p:nvSpPr>
            <p:cNvPr id="65" name="Line 65"/>
            <p:cNvSpPr/>
            <p:nvPr/>
          </p:nvSpPr>
          <p:spPr>
            <a:xfrm>
              <a:off x="9886950" y="2095500"/>
              <a:ext cx="1143000" cy="9525"/>
            </a:xfrm>
            <a:custGeom>
              <a:avLst/>
              <a:gdLst/>
              <a:ahLst/>
              <a:cxnLst/>
              <a:rect l="l" t="t" r="r" b="b"/>
              <a:pathLst>
                <a:path w="1143000" h="9525">
                  <a:moveTo>
                    <a:pt x="0" y="0"/>
                  </a:moveTo>
                  <a:lnTo>
                    <a:pt x="1143000" y="0"/>
                  </a:lnTo>
                </a:path>
              </a:pathLst>
            </a:custGeom>
            <a:noFill/>
            <a:ln w="14288">
              <a:solidFill>
                <a:srgbClr val="C9604E"/>
              </a:solidFill>
            </a:ln>
          </p:spPr>
        </p:sp>
        <p:sp>
          <p:nvSpPr>
            <p:cNvPr id="66" name="TextBox 66"/>
            <p:cNvSpPr txBox="1"/>
            <p:nvPr/>
          </p:nvSpPr>
          <p:spPr>
            <a:xfrm>
              <a:off x="10057714" y="2390299"/>
              <a:ext cx="801472" cy="190690"/>
            </a:xfrm>
            <a:prstGeom prst="rect">
              <a:avLst/>
            </a:prstGeom>
            <a:noFill/>
            <a:ln>
              <a:noFill/>
            </a:ln>
          </p:spPr>
          <p:txBody>
            <a:bodyPr wrap="none" lIns="0" tIns="0" rIns="0" bIns="0" anchor="t" anchorCtr="0">
              <a:spAutoFit/>
            </a:bodyPr>
            <a:lstStyle/>
            <a:p>
              <a:pPr algn="ctr"/>
              <a:r>
                <a:rPr lang="zh-CN" sz="980" dirty="0">
                  <a:solidFill>
                    <a:srgbClr val="3A3A3A"/>
                  </a:solidFill>
                  <a:latin typeface="+mn-lt"/>
                  <a:ea typeface="+mn-ea"/>
                  <a:cs typeface="+mn-cs"/>
                </a:rPr>
                <a:t>中收同比增长</a:t>
              </a:r>
            </a:p>
          </p:txBody>
        </p:sp>
        <p:sp>
          <p:nvSpPr>
            <p:cNvPr id="67" name="TextBox 67"/>
            <p:cNvSpPr txBox="1"/>
            <p:nvPr/>
          </p:nvSpPr>
          <p:spPr>
            <a:xfrm>
              <a:off x="10165489" y="2646998"/>
              <a:ext cx="585923" cy="381381"/>
            </a:xfrm>
            <a:prstGeom prst="rect">
              <a:avLst/>
            </a:prstGeom>
            <a:noFill/>
            <a:ln>
              <a:noFill/>
            </a:ln>
          </p:spPr>
          <p:txBody>
            <a:bodyPr wrap="none" lIns="0" tIns="0" rIns="0" bIns="0" anchor="t" anchorCtr="0">
              <a:spAutoFit/>
            </a:bodyPr>
            <a:lstStyle/>
            <a:p>
              <a:pPr algn="ctr"/>
              <a:r>
                <a:rPr lang="zh-CN" sz="1950" b="1" dirty="0">
                  <a:solidFill>
                    <a:srgbClr val="A52D12"/>
                  </a:solidFill>
                  <a:latin typeface="+mn-lt"/>
                  <a:ea typeface="+mn-ea"/>
                  <a:cs typeface="+mn-cs"/>
                </a:rPr>
                <a:t>12</a:t>
              </a:r>
              <a:r>
                <a:rPr lang="zh-CN" sz="1050" b="1" dirty="0">
                  <a:solidFill>
                    <a:srgbClr val="A52D12"/>
                  </a:solidFill>
                  <a:latin typeface="+mn-lt"/>
                  <a:ea typeface="+mn-ea"/>
                  <a:cs typeface="+mn-cs"/>
                </a:rPr>
                <a:t>%</a:t>
              </a:r>
              <a:r>
                <a:rPr lang="zh-CN" sz="1950" b="1" dirty="0">
                  <a:solidFill>
                    <a:srgbClr val="A52D12"/>
                  </a:solidFill>
                  <a:latin typeface="+mn-lt"/>
                  <a:ea typeface="+mn-ea"/>
                  <a:cs typeface="+mn-cs"/>
                </a:rPr>
                <a:t>​</a:t>
              </a:r>
            </a:p>
          </p:txBody>
        </p:sp>
        <p:sp>
          <p:nvSpPr>
            <p:cNvPr id="68" name="Line 68"/>
            <p:cNvSpPr/>
            <p:nvPr/>
          </p:nvSpPr>
          <p:spPr>
            <a:xfrm>
              <a:off x="9410700" y="3143250"/>
              <a:ext cx="2095500" cy="9525"/>
            </a:xfrm>
            <a:custGeom>
              <a:avLst/>
              <a:gdLst/>
              <a:ahLst/>
              <a:cxnLst/>
              <a:rect l="l" t="t" r="r" b="b"/>
              <a:pathLst>
                <a:path w="2095500" h="9525">
                  <a:moveTo>
                    <a:pt x="0" y="0"/>
                  </a:moveTo>
                  <a:lnTo>
                    <a:pt x="2095500" y="0"/>
                  </a:lnTo>
                </a:path>
              </a:pathLst>
            </a:custGeom>
            <a:noFill/>
            <a:ln w="9525">
              <a:solidFill>
                <a:srgbClr val="EDD5D2"/>
              </a:solidFill>
              <a:custDash>
                <a:ds d="400000" sp="300000"/>
              </a:custDash>
            </a:ln>
          </p:spPr>
        </p:sp>
        <p:sp>
          <p:nvSpPr>
            <p:cNvPr id="69" name="TextBox 69"/>
            <p:cNvSpPr txBox="1"/>
            <p:nvPr/>
          </p:nvSpPr>
          <p:spPr>
            <a:xfrm>
              <a:off x="10057714" y="3438049"/>
              <a:ext cx="801472" cy="190690"/>
            </a:xfrm>
            <a:prstGeom prst="rect">
              <a:avLst/>
            </a:prstGeom>
            <a:noFill/>
            <a:ln>
              <a:noFill/>
            </a:ln>
          </p:spPr>
          <p:txBody>
            <a:bodyPr wrap="none" lIns="0" tIns="0" rIns="0" bIns="0" anchor="t" anchorCtr="0">
              <a:spAutoFit/>
            </a:bodyPr>
            <a:lstStyle/>
            <a:p>
              <a:pPr algn="ctr"/>
              <a:r>
                <a:rPr lang="zh-CN" sz="980" dirty="0">
                  <a:solidFill>
                    <a:srgbClr val="3A3A3A"/>
                  </a:solidFill>
                  <a:latin typeface="+mn-lt"/>
                  <a:ea typeface="+mn-ea"/>
                  <a:cs typeface="+mn-cs"/>
                </a:rPr>
                <a:t>债券承销新增</a:t>
              </a:r>
            </a:p>
          </p:txBody>
        </p:sp>
        <p:sp>
          <p:nvSpPr>
            <p:cNvPr id="70" name="TextBox 70"/>
            <p:cNvSpPr txBox="1"/>
            <p:nvPr/>
          </p:nvSpPr>
          <p:spPr>
            <a:xfrm>
              <a:off x="9982843" y="3713798"/>
              <a:ext cx="951214" cy="381381"/>
            </a:xfrm>
            <a:prstGeom prst="rect">
              <a:avLst/>
            </a:prstGeom>
            <a:noFill/>
            <a:ln>
              <a:noFill/>
            </a:ln>
          </p:spPr>
          <p:txBody>
            <a:bodyPr wrap="none" lIns="0" tIns="0" rIns="0" bIns="0" anchor="t" anchorCtr="0">
              <a:spAutoFit/>
            </a:bodyPr>
            <a:lstStyle/>
            <a:p>
              <a:pPr algn="ctr"/>
              <a:r>
                <a:rPr lang="zh-CN" sz="1950" b="1" dirty="0">
                  <a:solidFill>
                    <a:srgbClr val="A52D12"/>
                  </a:solidFill>
                  <a:latin typeface="+mn-lt"/>
                  <a:ea typeface="+mn-ea"/>
                  <a:cs typeface="+mn-cs"/>
                </a:rPr>
                <a:t xml:space="preserve">400 </a:t>
              </a:r>
              <a:r>
                <a:rPr lang="zh-CN" sz="900" dirty="0">
                  <a:solidFill>
                    <a:srgbClr val="3A3A3A"/>
                  </a:solidFill>
                  <a:latin typeface="+mn-lt"/>
                  <a:ea typeface="+mn-ea"/>
                  <a:cs typeface="+mn-cs"/>
                </a:rPr>
                <a:t>亿元</a:t>
              </a:r>
              <a:r>
                <a:rPr lang="zh-CN" sz="1950" b="1" dirty="0">
                  <a:solidFill>
                    <a:srgbClr val="A52D12"/>
                  </a:solidFill>
                  <a:latin typeface="+mn-lt"/>
                  <a:ea typeface="+mn-ea"/>
                  <a:cs typeface="+mn-cs"/>
                </a:rPr>
                <a:t>​</a:t>
              </a:r>
            </a:p>
          </p:txBody>
        </p:sp>
      </p:grpSp>
      <p:grpSp>
        <p:nvGrpSpPr>
          <p:cNvPr id="118" name="exec-chain"/>
          <p:cNvGrpSpPr/>
          <p:nvPr/>
        </p:nvGrpSpPr>
        <p:grpSpPr>
          <a:xfrm>
            <a:off x="381000" y="4533900"/>
            <a:ext cx="11430000" cy="838200"/>
            <a:chOff x="381000" y="4533900"/>
            <a:chExt cx="11430000" cy="838200"/>
          </a:xfrm>
        </p:grpSpPr>
        <p:sp>
          <p:nvSpPr>
            <p:cNvPr id="72" name="Rectangle 72"/>
            <p:cNvSpPr/>
            <p:nvPr/>
          </p:nvSpPr>
          <p:spPr>
            <a:xfrm>
              <a:off x="381000" y="4533900"/>
              <a:ext cx="11430000" cy="838200"/>
            </a:xfrm>
            <a:prstGeom prst="roundRect">
              <a:avLst>
                <a:gd name="adj" fmla="val 11364"/>
              </a:avLst>
            </a:prstGeom>
            <a:noFill/>
            <a:ln w="13335">
              <a:solidFill>
                <a:srgbClr val="E4AFA6"/>
              </a:solidFill>
              <a:custDash>
                <a:ds d="428571" sp="285714"/>
              </a:custDash>
            </a:ln>
          </p:spPr>
        </p:sp>
        <p:sp>
          <p:nvSpPr>
            <p:cNvPr id="73" name="Ellipse 73"/>
            <p:cNvSpPr/>
            <p:nvPr/>
          </p:nvSpPr>
          <p:spPr>
            <a:xfrm>
              <a:off x="571500" y="4733925"/>
              <a:ext cx="342900" cy="342900"/>
            </a:xfrm>
            <a:prstGeom prst="ellipse">
              <a:avLst/>
            </a:prstGeom>
            <a:solidFill>
              <a:srgbClr val="A52D12"/>
            </a:solidFill>
            <a:ln>
              <a:noFill/>
            </a:ln>
          </p:spPr>
        </p:sp>
        <p:grpSp>
          <p:nvGrpSpPr>
            <p:cNvPr id="77" name="Group 77"/>
            <p:cNvGrpSpPr/>
            <p:nvPr/>
          </p:nvGrpSpPr>
          <p:grpSpPr>
            <a:xfrm>
              <a:off x="671512" y="4833937"/>
              <a:ext cx="142875" cy="142875"/>
              <a:chOff x="671512" y="4833937"/>
              <a:chExt cx="142875" cy="142875"/>
            </a:xfrm>
          </p:grpSpPr>
          <p:sp>
            <p:nvSpPr>
              <p:cNvPr id="74" name="Freeform 74"/>
              <p:cNvSpPr/>
              <p:nvPr/>
            </p:nvSpPr>
            <p:spPr>
              <a:xfrm>
                <a:off x="735012" y="489743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75" name="Freeform 75"/>
              <p:cNvSpPr/>
              <p:nvPr/>
            </p:nvSpPr>
            <p:spPr>
              <a:xfrm>
                <a:off x="703262" y="486568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76" name="Freeform 76"/>
              <p:cNvSpPr/>
              <p:nvPr/>
            </p:nvSpPr>
            <p:spPr>
              <a:xfrm>
                <a:off x="671512" y="483393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78" name="TextBox 78"/>
            <p:cNvSpPr txBox="1"/>
            <p:nvPr/>
          </p:nvSpPr>
          <p:spPr>
            <a:xfrm>
              <a:off x="985647" y="4847749"/>
              <a:ext cx="537616"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目标分解</a:t>
              </a:r>
            </a:p>
          </p:txBody>
        </p:sp>
        <p:sp>
          <p:nvSpPr>
            <p:cNvPr id="79" name="Freeform 79"/>
            <p:cNvSpPr/>
            <p:nvPr/>
          </p:nvSpPr>
          <p:spPr>
            <a:xfrm>
              <a:off x="2038350" y="4838700"/>
              <a:ext cx="247650" cy="133350"/>
            </a:xfrm>
            <a:prstGeom prst="rightArrow">
              <a:avLst/>
            </a:prstGeom>
            <a:solidFill>
              <a:srgbClr val="C9604E"/>
            </a:solidFill>
            <a:ln>
              <a:noFill/>
            </a:ln>
          </p:spPr>
        </p:sp>
        <p:sp>
          <p:nvSpPr>
            <p:cNvPr id="80" name="Ellipse 80"/>
            <p:cNvSpPr/>
            <p:nvPr/>
          </p:nvSpPr>
          <p:spPr>
            <a:xfrm>
              <a:off x="2381250" y="4733925"/>
              <a:ext cx="342900" cy="342900"/>
            </a:xfrm>
            <a:prstGeom prst="ellipse">
              <a:avLst/>
            </a:prstGeom>
            <a:solidFill>
              <a:srgbClr val="A52D12"/>
            </a:solidFill>
            <a:ln>
              <a:noFill/>
            </a:ln>
          </p:spPr>
        </p:sp>
        <p:grpSp>
          <p:nvGrpSpPr>
            <p:cNvPr id="86" name="Group 86"/>
            <p:cNvGrpSpPr/>
            <p:nvPr/>
          </p:nvGrpSpPr>
          <p:grpSpPr>
            <a:xfrm>
              <a:off x="2497137" y="4833937"/>
              <a:ext cx="111125" cy="142875"/>
              <a:chOff x="2497137" y="4833937"/>
              <a:chExt cx="111125" cy="142875"/>
            </a:xfrm>
          </p:grpSpPr>
          <p:sp>
            <p:nvSpPr>
              <p:cNvPr id="81" name="Freeform 81"/>
              <p:cNvSpPr/>
              <p:nvPr/>
            </p:nvSpPr>
            <p:spPr>
              <a:xfrm>
                <a:off x="2568575" y="4833937"/>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82" name="Freeform 82"/>
              <p:cNvSpPr/>
              <p:nvPr/>
            </p:nvSpPr>
            <p:spPr>
              <a:xfrm>
                <a:off x="2497137" y="4833937"/>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83" name="Freeform 83"/>
              <p:cNvSpPr/>
              <p:nvPr/>
            </p:nvSpPr>
            <p:spPr>
              <a:xfrm>
                <a:off x="2528887" y="4881562"/>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84" name="Freeform 84"/>
              <p:cNvSpPr/>
              <p:nvPr/>
            </p:nvSpPr>
            <p:spPr>
              <a:xfrm>
                <a:off x="2528887" y="4913312"/>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85" name="Freeform 85"/>
              <p:cNvSpPr/>
              <p:nvPr/>
            </p:nvSpPr>
            <p:spPr>
              <a:xfrm>
                <a:off x="2528887" y="4945062"/>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87" name="TextBox 87"/>
            <p:cNvSpPr txBox="1"/>
            <p:nvPr/>
          </p:nvSpPr>
          <p:spPr>
            <a:xfrm>
              <a:off x="2795397" y="4847749"/>
              <a:ext cx="669544"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名单制营销</a:t>
              </a:r>
            </a:p>
          </p:txBody>
        </p:sp>
        <p:sp>
          <p:nvSpPr>
            <p:cNvPr id="88" name="Freeform 88"/>
            <p:cNvSpPr/>
            <p:nvPr/>
          </p:nvSpPr>
          <p:spPr>
            <a:xfrm>
              <a:off x="3848100" y="4838700"/>
              <a:ext cx="247650" cy="133350"/>
            </a:xfrm>
            <a:prstGeom prst="rightArrow">
              <a:avLst/>
            </a:prstGeom>
            <a:solidFill>
              <a:srgbClr val="C9604E"/>
            </a:solidFill>
            <a:ln>
              <a:noFill/>
            </a:ln>
          </p:spPr>
        </p:sp>
        <p:sp>
          <p:nvSpPr>
            <p:cNvPr id="89" name="Ellipse 89"/>
            <p:cNvSpPr/>
            <p:nvPr/>
          </p:nvSpPr>
          <p:spPr>
            <a:xfrm>
              <a:off x="4191000" y="4733925"/>
              <a:ext cx="342900" cy="342900"/>
            </a:xfrm>
            <a:prstGeom prst="ellipse">
              <a:avLst/>
            </a:prstGeom>
            <a:solidFill>
              <a:srgbClr val="A52D12"/>
            </a:solidFill>
            <a:ln>
              <a:noFill/>
            </a:ln>
          </p:spPr>
        </p:sp>
        <p:grpSp>
          <p:nvGrpSpPr>
            <p:cNvPr id="93" name="Group 93"/>
            <p:cNvGrpSpPr/>
            <p:nvPr/>
          </p:nvGrpSpPr>
          <p:grpSpPr>
            <a:xfrm>
              <a:off x="4298950" y="4833937"/>
              <a:ext cx="127000" cy="142875"/>
              <a:chOff x="4298950" y="4833937"/>
              <a:chExt cx="127000" cy="142875"/>
            </a:xfrm>
          </p:grpSpPr>
          <p:sp>
            <p:nvSpPr>
              <p:cNvPr id="90" name="Freeform 90"/>
              <p:cNvSpPr/>
              <p:nvPr/>
            </p:nvSpPr>
            <p:spPr>
              <a:xfrm>
                <a:off x="4298950" y="4833937"/>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FFFFFF"/>
                </a:solidFill>
              </a:ln>
            </p:spPr>
          </p:sp>
          <p:sp>
            <p:nvSpPr>
              <p:cNvPr id="91" name="Freeform 91"/>
              <p:cNvSpPr/>
              <p:nvPr/>
            </p:nvSpPr>
            <p:spPr>
              <a:xfrm>
                <a:off x="4298950" y="485775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sp>
            <p:nvSpPr>
              <p:cNvPr id="92" name="Freeform 92"/>
              <p:cNvSpPr/>
              <p:nvPr/>
            </p:nvSpPr>
            <p:spPr>
              <a:xfrm>
                <a:off x="4298950" y="49053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grpSp>
        <p:sp>
          <p:nvSpPr>
            <p:cNvPr id="94" name="TextBox 94"/>
            <p:cNvSpPr txBox="1"/>
            <p:nvPr/>
          </p:nvSpPr>
          <p:spPr>
            <a:xfrm>
              <a:off x="4605147" y="4847749"/>
              <a:ext cx="537616"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资源匹配</a:t>
              </a:r>
            </a:p>
          </p:txBody>
        </p:sp>
        <p:sp>
          <p:nvSpPr>
            <p:cNvPr id="95" name="Freeform 95"/>
            <p:cNvSpPr/>
            <p:nvPr/>
          </p:nvSpPr>
          <p:spPr>
            <a:xfrm>
              <a:off x="5657850" y="4838700"/>
              <a:ext cx="247650" cy="133350"/>
            </a:xfrm>
            <a:prstGeom prst="rightArrow">
              <a:avLst/>
            </a:prstGeom>
            <a:solidFill>
              <a:srgbClr val="C9604E"/>
            </a:solidFill>
            <a:ln>
              <a:noFill/>
            </a:ln>
          </p:spPr>
        </p:sp>
        <p:sp>
          <p:nvSpPr>
            <p:cNvPr id="96" name="Ellipse 96"/>
            <p:cNvSpPr/>
            <p:nvPr/>
          </p:nvSpPr>
          <p:spPr>
            <a:xfrm>
              <a:off x="6000750" y="4733925"/>
              <a:ext cx="342900" cy="342900"/>
            </a:xfrm>
            <a:prstGeom prst="ellipse">
              <a:avLst/>
            </a:prstGeom>
            <a:solidFill>
              <a:srgbClr val="A52D12"/>
            </a:solidFill>
            <a:ln>
              <a:noFill/>
            </a:ln>
          </p:spPr>
        </p:sp>
        <p:grpSp>
          <p:nvGrpSpPr>
            <p:cNvPr id="99" name="Group 99"/>
            <p:cNvGrpSpPr/>
            <p:nvPr/>
          </p:nvGrpSpPr>
          <p:grpSpPr>
            <a:xfrm>
              <a:off x="6100762" y="4857750"/>
              <a:ext cx="142875" cy="95250"/>
              <a:chOff x="6100762" y="4857750"/>
              <a:chExt cx="142875" cy="95250"/>
            </a:xfrm>
          </p:grpSpPr>
          <p:sp>
            <p:nvSpPr>
              <p:cNvPr id="97" name="Freeform 97"/>
              <p:cNvSpPr/>
              <p:nvPr/>
            </p:nvSpPr>
            <p:spPr>
              <a:xfrm>
                <a:off x="6156325" y="48895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98" name="Freeform 98"/>
              <p:cNvSpPr/>
              <p:nvPr/>
            </p:nvSpPr>
            <p:spPr>
              <a:xfrm>
                <a:off x="6100762" y="4857750"/>
                <a:ext cx="142875" cy="95250"/>
              </a:xfrm>
              <a:custGeom>
                <a:avLst/>
                <a:gdLst/>
                <a:ahLst/>
                <a:cxnLst/>
                <a:rect l="l" t="t" r="r" b="b"/>
                <a:pathLst>
                  <a:path w="142875" h="95250">
                    <a:moveTo>
                      <a:pt x="142875" y="47625"/>
                    </a:moveTo>
                    <a:cubicBezTo>
                      <a:pt x="123825" y="79375"/>
                      <a:pt x="100012" y="95250"/>
                      <a:pt x="71437" y="95250"/>
                    </a:cubicBezTo>
                    <a:cubicBezTo>
                      <a:pt x="42862" y="95250"/>
                      <a:pt x="19050" y="79375"/>
                      <a:pt x="0" y="47625"/>
                    </a:cubicBezTo>
                    <a:cubicBezTo>
                      <a:pt x="19050" y="15875"/>
                      <a:pt x="42862" y="0"/>
                      <a:pt x="71437" y="0"/>
                    </a:cubicBezTo>
                    <a:cubicBezTo>
                      <a:pt x="100012" y="0"/>
                      <a:pt x="123825" y="15875"/>
                      <a:pt x="142875" y="47625"/>
                    </a:cubicBezTo>
                  </a:path>
                </a:pathLst>
              </a:custGeom>
              <a:noFill/>
              <a:ln w="15875">
                <a:solidFill>
                  <a:srgbClr val="FFFFFF"/>
                </a:solidFill>
              </a:ln>
            </p:spPr>
          </p:sp>
        </p:grpSp>
        <p:sp>
          <p:nvSpPr>
            <p:cNvPr id="100" name="TextBox 100"/>
            <p:cNvSpPr txBox="1"/>
            <p:nvPr/>
          </p:nvSpPr>
          <p:spPr>
            <a:xfrm>
              <a:off x="6414897" y="4847749"/>
              <a:ext cx="537616"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过程督导</a:t>
              </a:r>
            </a:p>
          </p:txBody>
        </p:sp>
        <p:sp>
          <p:nvSpPr>
            <p:cNvPr id="101" name="Freeform 101"/>
            <p:cNvSpPr/>
            <p:nvPr/>
          </p:nvSpPr>
          <p:spPr>
            <a:xfrm>
              <a:off x="7467600" y="4838700"/>
              <a:ext cx="247650" cy="133350"/>
            </a:xfrm>
            <a:prstGeom prst="rightArrow">
              <a:avLst/>
            </a:prstGeom>
            <a:solidFill>
              <a:srgbClr val="C9604E"/>
            </a:solidFill>
            <a:ln>
              <a:noFill/>
            </a:ln>
          </p:spPr>
        </p:sp>
        <p:sp>
          <p:nvSpPr>
            <p:cNvPr id="102" name="Ellipse 102"/>
            <p:cNvSpPr/>
            <p:nvPr/>
          </p:nvSpPr>
          <p:spPr>
            <a:xfrm>
              <a:off x="7810500" y="4733925"/>
              <a:ext cx="342900" cy="342900"/>
            </a:xfrm>
            <a:prstGeom prst="ellipse">
              <a:avLst/>
            </a:prstGeom>
            <a:solidFill>
              <a:srgbClr val="A52D12"/>
            </a:solidFill>
            <a:ln>
              <a:noFill/>
            </a:ln>
          </p:spPr>
        </p:sp>
        <p:grpSp>
          <p:nvGrpSpPr>
            <p:cNvPr id="109" name="Group 109"/>
            <p:cNvGrpSpPr/>
            <p:nvPr/>
          </p:nvGrpSpPr>
          <p:grpSpPr>
            <a:xfrm>
              <a:off x="7918450" y="4833937"/>
              <a:ext cx="127000" cy="142875"/>
              <a:chOff x="7918450" y="4833937"/>
              <a:chExt cx="127000" cy="142875"/>
            </a:xfrm>
          </p:grpSpPr>
          <p:sp>
            <p:nvSpPr>
              <p:cNvPr id="103" name="Freeform 103"/>
              <p:cNvSpPr/>
              <p:nvPr/>
            </p:nvSpPr>
            <p:spPr>
              <a:xfrm>
                <a:off x="7918450" y="4849812"/>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FFFFFF"/>
                </a:solidFill>
              </a:ln>
            </p:spPr>
          </p:sp>
          <p:sp>
            <p:nvSpPr>
              <p:cNvPr id="104" name="Freeform 104"/>
              <p:cNvSpPr/>
              <p:nvPr/>
            </p:nvSpPr>
            <p:spPr>
              <a:xfrm>
                <a:off x="8013700" y="4833937"/>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05" name="Freeform 105"/>
              <p:cNvSpPr/>
              <p:nvPr/>
            </p:nvSpPr>
            <p:spPr>
              <a:xfrm>
                <a:off x="7950200" y="4833937"/>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06" name="Freeform 106"/>
              <p:cNvSpPr/>
              <p:nvPr/>
            </p:nvSpPr>
            <p:spPr>
              <a:xfrm>
                <a:off x="7918450" y="4897437"/>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07" name="Freeform 107"/>
              <p:cNvSpPr/>
              <p:nvPr/>
            </p:nvSpPr>
            <p:spPr>
              <a:xfrm>
                <a:off x="7974012" y="492918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08" name="Freeform 108"/>
              <p:cNvSpPr/>
              <p:nvPr/>
            </p:nvSpPr>
            <p:spPr>
              <a:xfrm>
                <a:off x="7981950" y="4929187"/>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110" name="TextBox 110"/>
            <p:cNvSpPr txBox="1"/>
            <p:nvPr/>
          </p:nvSpPr>
          <p:spPr>
            <a:xfrm>
              <a:off x="8224647" y="4847749"/>
              <a:ext cx="537616"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月度复盘</a:t>
              </a:r>
            </a:p>
          </p:txBody>
        </p:sp>
        <p:sp>
          <p:nvSpPr>
            <p:cNvPr id="111" name="Freeform 111"/>
            <p:cNvSpPr/>
            <p:nvPr/>
          </p:nvSpPr>
          <p:spPr>
            <a:xfrm>
              <a:off x="9277350" y="4838700"/>
              <a:ext cx="247650" cy="133350"/>
            </a:xfrm>
            <a:prstGeom prst="rightArrow">
              <a:avLst/>
            </a:prstGeom>
            <a:solidFill>
              <a:srgbClr val="C9604E"/>
            </a:solidFill>
            <a:ln>
              <a:noFill/>
            </a:ln>
          </p:spPr>
        </p:sp>
        <p:sp>
          <p:nvSpPr>
            <p:cNvPr id="112" name="Ellipse 112"/>
            <p:cNvSpPr/>
            <p:nvPr/>
          </p:nvSpPr>
          <p:spPr>
            <a:xfrm>
              <a:off x="9620250" y="4733925"/>
              <a:ext cx="342900" cy="342900"/>
            </a:xfrm>
            <a:prstGeom prst="ellipse">
              <a:avLst/>
            </a:prstGeom>
            <a:solidFill>
              <a:srgbClr val="A52D12"/>
            </a:solidFill>
            <a:ln>
              <a:noFill/>
            </a:ln>
          </p:spPr>
        </p:sp>
        <p:grpSp>
          <p:nvGrpSpPr>
            <p:cNvPr id="116" name="Group 116"/>
            <p:cNvGrpSpPr/>
            <p:nvPr/>
          </p:nvGrpSpPr>
          <p:grpSpPr>
            <a:xfrm>
              <a:off x="9723453" y="4833937"/>
              <a:ext cx="136478" cy="142002"/>
              <a:chOff x="9723453" y="4833937"/>
              <a:chExt cx="136478" cy="142002"/>
            </a:xfrm>
          </p:grpSpPr>
          <p:sp>
            <p:nvSpPr>
              <p:cNvPr id="113" name="Freeform 113"/>
              <p:cNvSpPr/>
              <p:nvPr/>
            </p:nvSpPr>
            <p:spPr>
              <a:xfrm>
                <a:off x="9744075" y="4833937"/>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5875">
                <a:solidFill>
                  <a:srgbClr val="FFFFFF"/>
                </a:solidFill>
              </a:ln>
            </p:spPr>
          </p:sp>
          <p:sp>
            <p:nvSpPr>
              <p:cNvPr id="114" name="Freeform 114"/>
              <p:cNvSpPr/>
              <p:nvPr/>
            </p:nvSpPr>
            <p:spPr>
              <a:xfrm>
                <a:off x="9791700" y="4905375"/>
                <a:ext cx="68231" cy="70564"/>
              </a:xfrm>
              <a:custGeom>
                <a:avLst/>
                <a:gdLst/>
                <a:ahLst/>
                <a:cxnLst/>
                <a:rect l="l" t="t" r="r" b="b"/>
                <a:pathLst>
                  <a:path w="68231" h="70564">
                    <a:moveTo>
                      <a:pt x="0" y="23812"/>
                    </a:moveTo>
                    <a:lnTo>
                      <a:pt x="26987" y="70564"/>
                    </a:lnTo>
                    <a:lnTo>
                      <a:pt x="39672" y="44902"/>
                    </a:lnTo>
                    <a:lnTo>
                      <a:pt x="68231" y="46744"/>
                    </a:lnTo>
                    <a:lnTo>
                      <a:pt x="41243" y="0"/>
                    </a:lnTo>
                  </a:path>
                </a:pathLst>
              </a:custGeom>
              <a:noFill/>
              <a:ln w="15875">
                <a:solidFill>
                  <a:srgbClr val="FFFFFF"/>
                </a:solidFill>
              </a:ln>
            </p:spPr>
          </p:sp>
          <p:sp>
            <p:nvSpPr>
              <p:cNvPr id="115" name="Freeform 115"/>
              <p:cNvSpPr/>
              <p:nvPr/>
            </p:nvSpPr>
            <p:spPr>
              <a:xfrm>
                <a:off x="9723453" y="4905375"/>
                <a:ext cx="68231" cy="70556"/>
              </a:xfrm>
              <a:custGeom>
                <a:avLst/>
                <a:gdLst/>
                <a:ahLst/>
                <a:cxnLst/>
                <a:rect l="l" t="t" r="r" b="b"/>
                <a:pathLst>
                  <a:path w="68231" h="70556">
                    <a:moveTo>
                      <a:pt x="26987" y="0"/>
                    </a:moveTo>
                    <a:lnTo>
                      <a:pt x="0" y="46752"/>
                    </a:lnTo>
                    <a:lnTo>
                      <a:pt x="28559" y="44902"/>
                    </a:lnTo>
                    <a:lnTo>
                      <a:pt x="41243" y="70556"/>
                    </a:lnTo>
                    <a:lnTo>
                      <a:pt x="68231" y="23812"/>
                    </a:lnTo>
                  </a:path>
                </a:pathLst>
              </a:custGeom>
              <a:noFill/>
              <a:ln w="15875">
                <a:solidFill>
                  <a:srgbClr val="FFFFFF"/>
                </a:solidFill>
              </a:ln>
            </p:spPr>
          </p:sp>
        </p:grpSp>
        <p:sp>
          <p:nvSpPr>
            <p:cNvPr id="117" name="TextBox 117"/>
            <p:cNvSpPr txBox="1"/>
            <p:nvPr/>
          </p:nvSpPr>
          <p:spPr>
            <a:xfrm>
              <a:off x="10034397" y="4847749"/>
              <a:ext cx="537616"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奖惩兑现</a:t>
              </a:r>
            </a:p>
          </p:txBody>
        </p:sp>
      </p:grpSp>
      <p:grpSp>
        <p:nvGrpSpPr>
          <p:cNvPr id="127" name="slogan-banner"/>
          <p:cNvGrpSpPr/>
          <p:nvPr/>
        </p:nvGrpSpPr>
        <p:grpSpPr>
          <a:xfrm>
            <a:off x="381000" y="5676900"/>
            <a:ext cx="11430000" cy="762000"/>
            <a:chOff x="381000" y="5676900"/>
            <a:chExt cx="11430000" cy="762000"/>
          </a:xfrm>
        </p:grpSpPr>
        <p:sp>
          <p:nvSpPr>
            <p:cNvPr id="119" name="Rectangle 119"/>
            <p:cNvSpPr/>
            <p:nvPr/>
          </p:nvSpPr>
          <p:spPr>
            <a:xfrm>
              <a:off x="381000" y="5676900"/>
              <a:ext cx="11430000" cy="762000"/>
            </a:xfrm>
            <a:prstGeom prst="rect">
              <a:avLst/>
            </a:prstGeom>
            <a:solidFill>
              <a:srgbClr val="A52D12"/>
            </a:solidFill>
            <a:ln>
              <a:noFill/>
            </a:ln>
          </p:spPr>
        </p:sp>
        <p:sp>
          <p:nvSpPr>
            <p:cNvPr id="120" name="Ellipse 120"/>
            <p:cNvSpPr/>
            <p:nvPr/>
          </p:nvSpPr>
          <p:spPr>
            <a:xfrm>
              <a:off x="685800" y="5829300"/>
              <a:ext cx="457200" cy="457200"/>
            </a:xfrm>
            <a:prstGeom prst="ellipse">
              <a:avLst/>
            </a:prstGeom>
            <a:solidFill>
              <a:srgbClr val="FFFFFF">
                <a:alpha val="15000"/>
              </a:srgbClr>
            </a:solidFill>
            <a:ln>
              <a:noFill/>
            </a:ln>
          </p:spPr>
        </p:sp>
        <p:grpSp>
          <p:nvGrpSpPr>
            <p:cNvPr id="124" name="Group 124"/>
            <p:cNvGrpSpPr/>
            <p:nvPr/>
          </p:nvGrpSpPr>
          <p:grpSpPr>
            <a:xfrm>
              <a:off x="818855" y="5957888"/>
              <a:ext cx="191068" cy="198802"/>
              <a:chOff x="818855" y="5957888"/>
              <a:chExt cx="191068" cy="198802"/>
            </a:xfrm>
          </p:grpSpPr>
          <p:sp>
            <p:nvSpPr>
              <p:cNvPr id="121" name="Freeform 121"/>
              <p:cNvSpPr/>
              <p:nvPr/>
            </p:nvSpPr>
            <p:spPr>
              <a:xfrm>
                <a:off x="847725" y="5957888"/>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22225">
                <a:solidFill>
                  <a:srgbClr val="E8988A"/>
                </a:solidFill>
              </a:ln>
            </p:spPr>
          </p:sp>
          <p:sp>
            <p:nvSpPr>
              <p:cNvPr id="122" name="Freeform 122"/>
              <p:cNvSpPr/>
              <p:nvPr/>
            </p:nvSpPr>
            <p:spPr>
              <a:xfrm>
                <a:off x="914400" y="6057900"/>
                <a:ext cx="95523" cy="98790"/>
              </a:xfrm>
              <a:custGeom>
                <a:avLst/>
                <a:gdLst/>
                <a:ahLst/>
                <a:cxnLst/>
                <a:rect l="l" t="t" r="r" b="b"/>
                <a:pathLst>
                  <a:path w="95523" h="98790">
                    <a:moveTo>
                      <a:pt x="0" y="33338"/>
                    </a:moveTo>
                    <a:lnTo>
                      <a:pt x="37783" y="98790"/>
                    </a:lnTo>
                    <a:lnTo>
                      <a:pt x="55540" y="62864"/>
                    </a:lnTo>
                    <a:lnTo>
                      <a:pt x="95523" y="65442"/>
                    </a:lnTo>
                    <a:lnTo>
                      <a:pt x="57741" y="0"/>
                    </a:lnTo>
                  </a:path>
                </a:pathLst>
              </a:custGeom>
              <a:noFill/>
              <a:ln w="22225">
                <a:solidFill>
                  <a:srgbClr val="E8988A"/>
                </a:solidFill>
              </a:ln>
            </p:spPr>
          </p:sp>
          <p:sp>
            <p:nvSpPr>
              <p:cNvPr id="123" name="Freeform 123"/>
              <p:cNvSpPr/>
              <p:nvPr/>
            </p:nvSpPr>
            <p:spPr>
              <a:xfrm>
                <a:off x="818855" y="6057900"/>
                <a:ext cx="95523" cy="98779"/>
              </a:xfrm>
              <a:custGeom>
                <a:avLst/>
                <a:gdLst/>
                <a:ahLst/>
                <a:cxnLst/>
                <a:rect l="l" t="t" r="r" b="b"/>
                <a:pathLst>
                  <a:path w="95523" h="98779">
                    <a:moveTo>
                      <a:pt x="37783" y="0"/>
                    </a:moveTo>
                    <a:lnTo>
                      <a:pt x="0" y="65453"/>
                    </a:lnTo>
                    <a:lnTo>
                      <a:pt x="39983" y="62864"/>
                    </a:lnTo>
                    <a:lnTo>
                      <a:pt x="57741" y="98779"/>
                    </a:lnTo>
                    <a:lnTo>
                      <a:pt x="95523" y="33338"/>
                    </a:lnTo>
                  </a:path>
                </a:pathLst>
              </a:custGeom>
              <a:noFill/>
              <a:ln w="22225">
                <a:solidFill>
                  <a:srgbClr val="E8988A"/>
                </a:solidFill>
              </a:ln>
            </p:spPr>
          </p:sp>
        </p:grpSp>
        <p:sp>
          <p:nvSpPr>
            <p:cNvPr id="125" name="TextBox 125"/>
            <p:cNvSpPr txBox="1"/>
            <p:nvPr/>
          </p:nvSpPr>
          <p:spPr>
            <a:xfrm>
              <a:off x="1326642" y="5978842"/>
              <a:ext cx="6556248"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以攻坚突破带动全局提升，稳增长、调结构、提质效，全面增强高质量发展动能。</a:t>
              </a:r>
            </a:p>
          </p:txBody>
        </p:sp>
        <p:sp>
          <p:nvSpPr>
            <p:cNvPr id="126" name="Freeform 126"/>
            <p:cNvSpPr/>
            <p:nvPr/>
          </p:nvSpPr>
          <p:spPr>
            <a:xfrm>
              <a:off x="10477500" y="5772150"/>
              <a:ext cx="1047750" cy="552450"/>
            </a:xfrm>
            <a:prstGeom prst="swooshArrow">
              <a:avLst/>
            </a:prstGeom>
            <a:solidFill>
              <a:srgbClr val="E8988A"/>
            </a:solidFill>
            <a:ln>
              <a:noFill/>
            </a:ln>
          </p:spPr>
        </p:sp>
      </p:gr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1811000" cy="570929"/>
            <a:chOff x="0" y="0"/>
            <a:chExt cx="11811000" cy="57092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52D12"/>
            </a:solidFill>
            <a:ln>
              <a:noFill/>
            </a:ln>
          </p:spPr>
        </p:sp>
        <p:sp>
          <p:nvSpPr>
            <p:cNvPr id="3" name="TextBox 3"/>
            <p:cNvSpPr txBox="1"/>
            <p:nvPr/>
          </p:nvSpPr>
          <p:spPr>
            <a:xfrm>
              <a:off x="199263" y="171926"/>
              <a:ext cx="51836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SimSun"/>
                  <a:ea typeface="SimSun"/>
                  <a:cs typeface="SimSun"/>
                </a:rPr>
                <a:t>17​</a:t>
              </a:r>
            </a:p>
          </p:txBody>
        </p:sp>
        <p:sp>
          <p:nvSpPr>
            <p:cNvPr id="4" name="TextBox 4"/>
            <p:cNvSpPr txBox="1"/>
            <p:nvPr/>
          </p:nvSpPr>
          <p:spPr>
            <a:xfrm>
              <a:off x="942594" y="189548"/>
              <a:ext cx="6676644" cy="381381"/>
            </a:xfrm>
            <a:prstGeom prst="rect">
              <a:avLst/>
            </a:prstGeom>
            <a:noFill/>
            <a:ln>
              <a:noFill/>
            </a:ln>
          </p:spPr>
          <p:txBody>
            <a:bodyPr wrap="none" lIns="0" tIns="0" rIns="0" bIns="0" anchor="t" anchorCtr="0">
              <a:spAutoFit/>
            </a:bodyPr>
            <a:lstStyle/>
            <a:p>
              <a:pPr algn="l"/>
              <a:r>
                <a:rPr lang="zh-CN" sz="1950" b="1" dirty="0">
                  <a:solidFill>
                    <a:srgbClr val="1F1F1F"/>
                  </a:solidFill>
                  <a:latin typeface="SimSun"/>
                  <a:ea typeface="SimSun"/>
                  <a:cs typeface="SimSun"/>
                </a:rPr>
                <a:t>强化组织、资源、机制与作风保障，</a:t>
              </a:r>
              <a:r>
                <a:rPr lang="zh-CN" sz="1950" b="1" dirty="0">
                  <a:solidFill>
                    <a:srgbClr val="A52D12"/>
                  </a:solidFill>
                  <a:latin typeface="SimSun"/>
                  <a:ea typeface="SimSun"/>
                  <a:cs typeface="SimSun"/>
                </a:rPr>
                <a:t>确保部署落地见效</a:t>
              </a:r>
            </a:p>
          </p:txBody>
        </p:sp>
        <p:sp>
          <p:nvSpPr>
            <p:cNvPr id="5" name="Line 5"/>
            <p:cNvSpPr/>
            <p:nvPr/>
          </p:nvSpPr>
          <p:spPr>
            <a:xfrm>
              <a:off x="952500" y="533400"/>
              <a:ext cx="10858500" cy="9525"/>
            </a:xfrm>
            <a:custGeom>
              <a:avLst/>
              <a:gdLst/>
              <a:ahLst/>
              <a:cxnLst/>
              <a:rect l="l" t="t" r="r" b="b"/>
              <a:pathLst>
                <a:path w="10858500" h="9525">
                  <a:moveTo>
                    <a:pt x="0" y="0"/>
                  </a:moveTo>
                  <a:lnTo>
                    <a:pt x="10858500" y="0"/>
                  </a:lnTo>
                </a:path>
              </a:pathLst>
            </a:custGeom>
            <a:noFill/>
            <a:ln w="14288">
              <a:solidFill>
                <a:srgbClr val="A52D12"/>
              </a:solidFill>
            </a:ln>
          </p:spPr>
        </p:sp>
      </p:grpSp>
      <p:grpSp>
        <p:nvGrpSpPr>
          <p:cNvPr id="50" name="guarantee-system"/>
          <p:cNvGrpSpPr/>
          <p:nvPr/>
        </p:nvGrpSpPr>
        <p:grpSpPr>
          <a:xfrm>
            <a:off x="381000" y="723900"/>
            <a:ext cx="5524500" cy="3295650"/>
            <a:chOff x="381000" y="723900"/>
            <a:chExt cx="5524500" cy="3295650"/>
          </a:xfrm>
        </p:grpSpPr>
        <p:sp>
          <p:nvSpPr>
            <p:cNvPr id="7" name="Rectangle 7"/>
            <p:cNvSpPr/>
            <p:nvPr/>
          </p:nvSpPr>
          <p:spPr>
            <a:xfrm>
              <a:off x="381000" y="723900"/>
              <a:ext cx="5524500" cy="3295650"/>
            </a:xfrm>
            <a:prstGeom prst="roundRect">
              <a:avLst>
                <a:gd name="adj" fmla="val 2312"/>
              </a:avLst>
            </a:prstGeom>
            <a:solidFill>
              <a:srgbClr val="FDF6F5"/>
            </a:solidFill>
            <a:ln w="9525">
              <a:solidFill>
                <a:srgbClr val="EDD5D2"/>
              </a:solidFill>
            </a:ln>
          </p:spPr>
        </p:sp>
        <p:grpSp>
          <p:nvGrpSpPr>
            <p:cNvPr id="10" name="Group 10"/>
            <p:cNvGrpSpPr/>
            <p:nvPr/>
          </p:nvGrpSpPr>
          <p:grpSpPr>
            <a:xfrm>
              <a:off x="549121" y="885825"/>
              <a:ext cx="186006" cy="171450"/>
              <a:chOff x="549121" y="885825"/>
              <a:chExt cx="186006" cy="171450"/>
            </a:xfrm>
          </p:grpSpPr>
          <p:sp>
            <p:nvSpPr>
              <p:cNvPr id="8" name="Freeform 8"/>
              <p:cNvSpPr/>
              <p:nvPr/>
            </p:nvSpPr>
            <p:spPr>
              <a:xfrm>
                <a:off x="549121" y="88582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A52D12"/>
                </a:solidFill>
              </a:ln>
            </p:spPr>
          </p:sp>
          <p:sp>
            <p:nvSpPr>
              <p:cNvPr id="9" name="Freeform 9"/>
              <p:cNvSpPr/>
              <p:nvPr/>
            </p:nvSpPr>
            <p:spPr>
              <a:xfrm>
                <a:off x="676275" y="1019175"/>
                <a:ext cx="57150" cy="38100"/>
              </a:xfrm>
              <a:custGeom>
                <a:avLst/>
                <a:gdLst/>
                <a:ahLst/>
                <a:cxnLst/>
                <a:rect l="l" t="t" r="r" b="b"/>
                <a:pathLst>
                  <a:path w="57150" h="38100">
                    <a:moveTo>
                      <a:pt x="0" y="19050"/>
                    </a:moveTo>
                    <a:lnTo>
                      <a:pt x="19050" y="38100"/>
                    </a:lnTo>
                    <a:lnTo>
                      <a:pt x="57150" y="0"/>
                    </a:lnTo>
                  </a:path>
                </a:pathLst>
              </a:custGeom>
              <a:noFill/>
              <a:ln w="19050">
                <a:solidFill>
                  <a:srgbClr val="A52D12"/>
                </a:solidFill>
              </a:ln>
            </p:spPr>
          </p:sp>
        </p:grpSp>
        <p:sp>
          <p:nvSpPr>
            <p:cNvPr id="11" name="TextBox 11"/>
            <p:cNvSpPr txBox="1"/>
            <p:nvPr/>
          </p:nvSpPr>
          <p:spPr>
            <a:xfrm>
              <a:off x="851535" y="907256"/>
              <a:ext cx="1217625" cy="220028"/>
            </a:xfrm>
            <a:prstGeom prst="rect">
              <a:avLst/>
            </a:prstGeom>
            <a:noFill/>
            <a:ln>
              <a:noFill/>
            </a:ln>
          </p:spPr>
          <p:txBody>
            <a:bodyPr wrap="none" lIns="0" tIns="0" rIns="0" bIns="0" anchor="t" anchorCtr="0">
              <a:spAutoFit/>
            </a:bodyPr>
            <a:lstStyle/>
            <a:p>
              <a:pPr algn="l"/>
              <a:r>
                <a:rPr lang="zh-CN" sz="1120" b="1" dirty="0">
                  <a:solidFill>
                    <a:srgbClr val="1F1F1F"/>
                  </a:solidFill>
                  <a:latin typeface="+mn-lt"/>
                  <a:ea typeface="+mn-ea"/>
                  <a:cs typeface="+mn-cs"/>
                </a:rPr>
                <a:t>四层执行保障体系</a:t>
              </a:r>
            </a:p>
          </p:txBody>
        </p:sp>
        <p:sp>
          <p:nvSpPr>
            <p:cNvPr id="12" name="Rectangle 12"/>
            <p:cNvSpPr/>
            <p:nvPr/>
          </p:nvSpPr>
          <p:spPr>
            <a:xfrm>
              <a:off x="495300" y="1143000"/>
              <a:ext cx="1238250" cy="552450"/>
            </a:xfrm>
            <a:prstGeom prst="roundRect">
              <a:avLst>
                <a:gd name="adj" fmla="val 10345"/>
              </a:avLst>
            </a:prstGeom>
            <a:solidFill>
              <a:srgbClr val="A52D12"/>
            </a:solidFill>
            <a:ln>
              <a:noFill/>
            </a:ln>
          </p:spPr>
        </p:sp>
        <p:grpSp>
          <p:nvGrpSpPr>
            <p:cNvPr id="19" name="Group 19"/>
            <p:cNvGrpSpPr/>
            <p:nvPr/>
          </p:nvGrpSpPr>
          <p:grpSpPr>
            <a:xfrm>
              <a:off x="635794" y="1340644"/>
              <a:ext cx="157162" cy="157163"/>
              <a:chOff x="635794" y="1340644"/>
              <a:chExt cx="157162" cy="157163"/>
            </a:xfrm>
          </p:grpSpPr>
          <p:sp>
            <p:nvSpPr>
              <p:cNvPr id="13" name="Freeform 13"/>
              <p:cNvSpPr/>
              <p:nvPr/>
            </p:nvSpPr>
            <p:spPr>
              <a:xfrm>
                <a:off x="696913" y="14104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4" name="Freeform 14"/>
              <p:cNvSpPr/>
              <p:nvPr/>
            </p:nvSpPr>
            <p:spPr>
              <a:xfrm>
                <a:off x="679450" y="1471613"/>
                <a:ext cx="69850" cy="26194"/>
              </a:xfrm>
              <a:custGeom>
                <a:avLst/>
                <a:gdLst/>
                <a:ahLst/>
                <a:cxnLst/>
                <a:rect l="l" t="t" r="r" b="b"/>
                <a:pathLst>
                  <a:path w="69850" h="26194">
                    <a:moveTo>
                      <a:pt x="0" y="26194"/>
                    </a:moveTo>
                    <a:lnTo>
                      <a:pt x="0" y="17463"/>
                    </a:lnTo>
                    <a:cubicBezTo>
                      <a:pt x="0" y="7818"/>
                      <a:pt x="7818" y="0"/>
                      <a:pt x="17463" y="0"/>
                    </a:cubicBezTo>
                    <a:lnTo>
                      <a:pt x="52388" y="0"/>
                    </a:lnTo>
                    <a:cubicBezTo>
                      <a:pt x="62032" y="0"/>
                      <a:pt x="69850" y="7818"/>
                      <a:pt x="69850" y="17463"/>
                    </a:cubicBezTo>
                    <a:lnTo>
                      <a:pt x="69850" y="26194"/>
                    </a:lnTo>
                  </a:path>
                </a:pathLst>
              </a:custGeom>
              <a:noFill/>
              <a:ln w="17463">
                <a:solidFill>
                  <a:srgbClr val="FFFFFF"/>
                </a:solidFill>
              </a:ln>
            </p:spPr>
          </p:sp>
          <p:sp>
            <p:nvSpPr>
              <p:cNvPr id="15" name="Freeform 15"/>
              <p:cNvSpPr/>
              <p:nvPr/>
            </p:nvSpPr>
            <p:spPr>
              <a:xfrm>
                <a:off x="740569" y="13406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6" name="Freeform 16"/>
              <p:cNvSpPr/>
              <p:nvPr/>
            </p:nvSpPr>
            <p:spPr>
              <a:xfrm>
                <a:off x="758031" y="1401763"/>
                <a:ext cx="34925" cy="26194"/>
              </a:xfrm>
              <a:custGeom>
                <a:avLst/>
                <a:gdLst/>
                <a:ahLst/>
                <a:cxnLst/>
                <a:rect l="l" t="t" r="r" b="b"/>
                <a:pathLst>
                  <a:path w="34925" h="26194">
                    <a:moveTo>
                      <a:pt x="0" y="0"/>
                    </a:moveTo>
                    <a:lnTo>
                      <a:pt x="17463" y="0"/>
                    </a:lnTo>
                    <a:cubicBezTo>
                      <a:pt x="27107" y="0"/>
                      <a:pt x="34925" y="7818"/>
                      <a:pt x="34925" y="17463"/>
                    </a:cubicBezTo>
                    <a:lnTo>
                      <a:pt x="34925" y="26194"/>
                    </a:lnTo>
                  </a:path>
                </a:pathLst>
              </a:custGeom>
              <a:noFill/>
              <a:ln w="17463">
                <a:solidFill>
                  <a:srgbClr val="FFFFFF"/>
                </a:solidFill>
              </a:ln>
            </p:spPr>
          </p:sp>
          <p:sp>
            <p:nvSpPr>
              <p:cNvPr id="17" name="Freeform 17"/>
              <p:cNvSpPr/>
              <p:nvPr/>
            </p:nvSpPr>
            <p:spPr>
              <a:xfrm>
                <a:off x="653256" y="134064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18" name="Freeform 18"/>
              <p:cNvSpPr/>
              <p:nvPr/>
            </p:nvSpPr>
            <p:spPr>
              <a:xfrm>
                <a:off x="635794" y="1401763"/>
                <a:ext cx="34925" cy="26194"/>
              </a:xfrm>
              <a:custGeom>
                <a:avLst/>
                <a:gdLst/>
                <a:ahLst/>
                <a:cxnLst/>
                <a:rect l="l" t="t" r="r" b="b"/>
                <a:pathLst>
                  <a:path w="34925" h="26194">
                    <a:moveTo>
                      <a:pt x="0" y="26194"/>
                    </a:moveTo>
                    <a:lnTo>
                      <a:pt x="0" y="17463"/>
                    </a:lnTo>
                    <a:cubicBezTo>
                      <a:pt x="0" y="7818"/>
                      <a:pt x="7818" y="0"/>
                      <a:pt x="17463" y="0"/>
                    </a:cubicBezTo>
                    <a:lnTo>
                      <a:pt x="34925" y="0"/>
                    </a:lnTo>
                  </a:path>
                </a:pathLst>
              </a:custGeom>
              <a:noFill/>
              <a:ln w="17463">
                <a:solidFill>
                  <a:srgbClr val="FFFFFF"/>
                </a:solidFill>
              </a:ln>
            </p:spPr>
          </p:sp>
        </p:grpSp>
        <p:sp>
          <p:nvSpPr>
            <p:cNvPr id="20" name="TextBox 20"/>
            <p:cNvSpPr txBox="1"/>
            <p:nvPr/>
          </p:nvSpPr>
          <p:spPr>
            <a:xfrm>
              <a:off x="909066" y="135350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组织保障</a:t>
              </a:r>
            </a:p>
          </p:txBody>
        </p:sp>
        <p:sp>
          <p:nvSpPr>
            <p:cNvPr id="21" name="Rectangle 21"/>
            <p:cNvSpPr/>
            <p:nvPr/>
          </p:nvSpPr>
          <p:spPr>
            <a:xfrm>
              <a:off x="1733550" y="1143000"/>
              <a:ext cx="4057650" cy="552450"/>
            </a:xfrm>
            <a:prstGeom prst="roundRect">
              <a:avLst>
                <a:gd name="adj" fmla="val 10345"/>
              </a:avLst>
            </a:prstGeom>
            <a:solidFill>
              <a:srgbClr val="FFFFFF"/>
            </a:solidFill>
            <a:ln w="9525">
              <a:solidFill>
                <a:srgbClr val="EDD5D2"/>
              </a:solidFill>
            </a:ln>
          </p:spPr>
        </p:sp>
        <p:sp>
          <p:nvSpPr>
            <p:cNvPr id="22" name="TextBox 22"/>
            <p:cNvSpPr txBox="1"/>
            <p:nvPr/>
          </p:nvSpPr>
          <p:spPr>
            <a:xfrm>
              <a:off x="1900238" y="1365647"/>
              <a:ext cx="1781124"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党委统筹、条线主责、分支协同</a:t>
              </a:r>
            </a:p>
          </p:txBody>
        </p:sp>
        <p:sp>
          <p:nvSpPr>
            <p:cNvPr id="23" name="Freeform 23"/>
            <p:cNvSpPr/>
            <p:nvPr/>
          </p:nvSpPr>
          <p:spPr>
            <a:xfrm>
              <a:off x="5562600" y="1333500"/>
              <a:ext cx="133350" cy="171450"/>
            </a:xfrm>
            <a:prstGeom prst="chevron">
              <a:avLst/>
            </a:prstGeom>
            <a:solidFill>
              <a:srgbClr val="C9604E"/>
            </a:solidFill>
            <a:ln>
              <a:noFill/>
            </a:ln>
          </p:spPr>
        </p:sp>
        <p:sp>
          <p:nvSpPr>
            <p:cNvPr id="24" name="Rectangle 24"/>
            <p:cNvSpPr/>
            <p:nvPr/>
          </p:nvSpPr>
          <p:spPr>
            <a:xfrm>
              <a:off x="495300" y="1809750"/>
              <a:ext cx="1238250" cy="552450"/>
            </a:xfrm>
            <a:prstGeom prst="roundRect">
              <a:avLst>
                <a:gd name="adj" fmla="val 10345"/>
              </a:avLst>
            </a:prstGeom>
            <a:solidFill>
              <a:srgbClr val="A52D12"/>
            </a:solidFill>
            <a:ln>
              <a:noFill/>
            </a:ln>
          </p:spPr>
        </p:sp>
        <p:grpSp>
          <p:nvGrpSpPr>
            <p:cNvPr id="28" name="Group 28"/>
            <p:cNvGrpSpPr/>
            <p:nvPr/>
          </p:nvGrpSpPr>
          <p:grpSpPr>
            <a:xfrm>
              <a:off x="644525" y="2007394"/>
              <a:ext cx="139700" cy="157162"/>
              <a:chOff x="644525" y="2007394"/>
              <a:chExt cx="139700" cy="157162"/>
            </a:xfrm>
          </p:grpSpPr>
          <p:sp>
            <p:nvSpPr>
              <p:cNvPr id="25" name="Freeform 25"/>
              <p:cNvSpPr/>
              <p:nvPr/>
            </p:nvSpPr>
            <p:spPr>
              <a:xfrm>
                <a:off x="644525" y="2007394"/>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FFFFFF"/>
                </a:solidFill>
              </a:ln>
            </p:spPr>
          </p:sp>
          <p:sp>
            <p:nvSpPr>
              <p:cNvPr id="26" name="Freeform 26"/>
              <p:cNvSpPr/>
              <p:nvPr/>
            </p:nvSpPr>
            <p:spPr>
              <a:xfrm>
                <a:off x="644525" y="2033588"/>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sp>
            <p:nvSpPr>
              <p:cNvPr id="27" name="Freeform 27"/>
              <p:cNvSpPr/>
              <p:nvPr/>
            </p:nvSpPr>
            <p:spPr>
              <a:xfrm>
                <a:off x="644525" y="2085975"/>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grpSp>
        <p:sp>
          <p:nvSpPr>
            <p:cNvPr id="29" name="TextBox 29"/>
            <p:cNvSpPr txBox="1"/>
            <p:nvPr/>
          </p:nvSpPr>
          <p:spPr>
            <a:xfrm>
              <a:off x="909066" y="202025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资源保障</a:t>
              </a:r>
            </a:p>
          </p:txBody>
        </p:sp>
        <p:sp>
          <p:nvSpPr>
            <p:cNvPr id="30" name="Rectangle 30"/>
            <p:cNvSpPr/>
            <p:nvPr/>
          </p:nvSpPr>
          <p:spPr>
            <a:xfrm>
              <a:off x="1733550" y="1809750"/>
              <a:ext cx="4057650" cy="552450"/>
            </a:xfrm>
            <a:prstGeom prst="roundRect">
              <a:avLst>
                <a:gd name="adj" fmla="val 10345"/>
              </a:avLst>
            </a:prstGeom>
            <a:solidFill>
              <a:srgbClr val="FFFFFF"/>
            </a:solidFill>
            <a:ln w="9525">
              <a:solidFill>
                <a:srgbClr val="EDD5D2"/>
              </a:solidFill>
            </a:ln>
          </p:spPr>
        </p:sp>
        <p:sp>
          <p:nvSpPr>
            <p:cNvPr id="31" name="TextBox 31"/>
            <p:cNvSpPr txBox="1"/>
            <p:nvPr/>
          </p:nvSpPr>
          <p:spPr>
            <a:xfrm>
              <a:off x="1900238" y="2032397"/>
              <a:ext cx="1907667"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资本、信贷、费用、科技精准配置</a:t>
              </a:r>
            </a:p>
          </p:txBody>
        </p:sp>
        <p:sp>
          <p:nvSpPr>
            <p:cNvPr id="32" name="Freeform 32"/>
            <p:cNvSpPr/>
            <p:nvPr/>
          </p:nvSpPr>
          <p:spPr>
            <a:xfrm>
              <a:off x="5562600" y="2000250"/>
              <a:ext cx="133350" cy="171450"/>
            </a:xfrm>
            <a:prstGeom prst="chevron">
              <a:avLst/>
            </a:prstGeom>
            <a:solidFill>
              <a:srgbClr val="C9604E"/>
            </a:solidFill>
            <a:ln>
              <a:noFill/>
            </a:ln>
          </p:spPr>
        </p:sp>
        <p:sp>
          <p:nvSpPr>
            <p:cNvPr id="33" name="Rectangle 33"/>
            <p:cNvSpPr/>
            <p:nvPr/>
          </p:nvSpPr>
          <p:spPr>
            <a:xfrm>
              <a:off x="495300" y="2476500"/>
              <a:ext cx="1238250" cy="552450"/>
            </a:xfrm>
            <a:prstGeom prst="roundRect">
              <a:avLst>
                <a:gd name="adj" fmla="val 10345"/>
              </a:avLst>
            </a:prstGeom>
            <a:solidFill>
              <a:srgbClr val="A52D12"/>
            </a:solidFill>
            <a:ln>
              <a:noFill/>
            </a:ln>
          </p:spPr>
        </p:sp>
        <p:grpSp>
          <p:nvGrpSpPr>
            <p:cNvPr id="36" name="Group 36"/>
            <p:cNvGrpSpPr/>
            <p:nvPr/>
          </p:nvGrpSpPr>
          <p:grpSpPr>
            <a:xfrm>
              <a:off x="631961" y="2670311"/>
              <a:ext cx="164829" cy="164829"/>
              <a:chOff x="631961" y="2670311"/>
              <a:chExt cx="164829" cy="164829"/>
            </a:xfrm>
          </p:grpSpPr>
          <p:sp>
            <p:nvSpPr>
              <p:cNvPr id="34" name="Freeform 34"/>
              <p:cNvSpPr/>
              <p:nvPr/>
            </p:nvSpPr>
            <p:spPr>
              <a:xfrm>
                <a:off x="631961" y="2670311"/>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FFFFFF"/>
                </a:solidFill>
              </a:ln>
            </p:spPr>
          </p:sp>
          <p:sp>
            <p:nvSpPr>
              <p:cNvPr id="35" name="Freeform 35"/>
              <p:cNvSpPr/>
              <p:nvPr/>
            </p:nvSpPr>
            <p:spPr>
              <a:xfrm>
                <a:off x="688181" y="2726531"/>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FFFFFF"/>
                </a:solidFill>
              </a:ln>
            </p:spPr>
          </p:sp>
        </p:grpSp>
        <p:sp>
          <p:nvSpPr>
            <p:cNvPr id="37" name="TextBox 37"/>
            <p:cNvSpPr txBox="1"/>
            <p:nvPr/>
          </p:nvSpPr>
          <p:spPr>
            <a:xfrm>
              <a:off x="909066" y="268700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机制保障</a:t>
              </a:r>
            </a:p>
          </p:txBody>
        </p:sp>
        <p:sp>
          <p:nvSpPr>
            <p:cNvPr id="38" name="Rectangle 38"/>
            <p:cNvSpPr/>
            <p:nvPr/>
          </p:nvSpPr>
          <p:spPr>
            <a:xfrm>
              <a:off x="1733550" y="2476500"/>
              <a:ext cx="4057650" cy="552450"/>
            </a:xfrm>
            <a:prstGeom prst="roundRect">
              <a:avLst>
                <a:gd name="adj" fmla="val 10345"/>
              </a:avLst>
            </a:prstGeom>
            <a:solidFill>
              <a:srgbClr val="FFFFFF"/>
            </a:solidFill>
            <a:ln w="9525">
              <a:solidFill>
                <a:srgbClr val="EDD5D2"/>
              </a:solidFill>
            </a:ln>
          </p:spPr>
        </p:sp>
        <p:sp>
          <p:nvSpPr>
            <p:cNvPr id="39" name="TextBox 39"/>
            <p:cNvSpPr txBox="1"/>
            <p:nvPr/>
          </p:nvSpPr>
          <p:spPr>
            <a:xfrm>
              <a:off x="1900238" y="2699147"/>
              <a:ext cx="2413838"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目标到岗、进度到周、责任到人、奖惩到位</a:t>
              </a:r>
            </a:p>
          </p:txBody>
        </p:sp>
        <p:sp>
          <p:nvSpPr>
            <p:cNvPr id="40" name="Freeform 40"/>
            <p:cNvSpPr/>
            <p:nvPr/>
          </p:nvSpPr>
          <p:spPr>
            <a:xfrm>
              <a:off x="5562600" y="2667000"/>
              <a:ext cx="133350" cy="171450"/>
            </a:xfrm>
            <a:prstGeom prst="chevron">
              <a:avLst/>
            </a:prstGeom>
            <a:solidFill>
              <a:srgbClr val="C9604E"/>
            </a:solidFill>
            <a:ln>
              <a:noFill/>
            </a:ln>
          </p:spPr>
        </p:sp>
        <p:sp>
          <p:nvSpPr>
            <p:cNvPr id="41" name="Rectangle 41"/>
            <p:cNvSpPr/>
            <p:nvPr/>
          </p:nvSpPr>
          <p:spPr>
            <a:xfrm>
              <a:off x="495300" y="3143250"/>
              <a:ext cx="1238250" cy="552450"/>
            </a:xfrm>
            <a:prstGeom prst="roundRect">
              <a:avLst>
                <a:gd name="adj" fmla="val 10345"/>
              </a:avLst>
            </a:prstGeom>
            <a:solidFill>
              <a:srgbClr val="A52D12"/>
            </a:solidFill>
            <a:ln>
              <a:noFill/>
            </a:ln>
          </p:spPr>
        </p:sp>
        <p:grpSp>
          <p:nvGrpSpPr>
            <p:cNvPr id="45" name="Group 45"/>
            <p:cNvGrpSpPr/>
            <p:nvPr/>
          </p:nvGrpSpPr>
          <p:grpSpPr>
            <a:xfrm>
              <a:off x="661988" y="3340894"/>
              <a:ext cx="130969" cy="157163"/>
              <a:chOff x="661988" y="3340894"/>
              <a:chExt cx="130969" cy="157163"/>
            </a:xfrm>
          </p:grpSpPr>
          <p:sp>
            <p:nvSpPr>
              <p:cNvPr id="42" name="Freeform 42"/>
              <p:cNvSpPr/>
              <p:nvPr/>
            </p:nvSpPr>
            <p:spPr>
              <a:xfrm>
                <a:off x="679450" y="33408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43" name="Freeform 43"/>
              <p:cNvSpPr/>
              <p:nvPr/>
            </p:nvSpPr>
            <p:spPr>
              <a:xfrm>
                <a:off x="661988" y="344566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FFFFFF"/>
                </a:solidFill>
              </a:ln>
            </p:spPr>
          </p:sp>
          <p:sp>
            <p:nvSpPr>
              <p:cNvPr id="44" name="Freeform 44"/>
              <p:cNvSpPr/>
              <p:nvPr/>
            </p:nvSpPr>
            <p:spPr>
              <a:xfrm>
                <a:off x="740569" y="3463131"/>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46" name="TextBox 46"/>
            <p:cNvSpPr txBox="1"/>
            <p:nvPr/>
          </p:nvSpPr>
          <p:spPr>
            <a:xfrm>
              <a:off x="909066" y="335375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作风保障</a:t>
              </a:r>
            </a:p>
          </p:txBody>
        </p:sp>
        <p:sp>
          <p:nvSpPr>
            <p:cNvPr id="47" name="Rectangle 47"/>
            <p:cNvSpPr/>
            <p:nvPr/>
          </p:nvSpPr>
          <p:spPr>
            <a:xfrm>
              <a:off x="1733550" y="3143250"/>
              <a:ext cx="4057650" cy="552450"/>
            </a:xfrm>
            <a:prstGeom prst="roundRect">
              <a:avLst>
                <a:gd name="adj" fmla="val 10345"/>
              </a:avLst>
            </a:prstGeom>
            <a:solidFill>
              <a:srgbClr val="FFFFFF"/>
            </a:solidFill>
            <a:ln w="9525">
              <a:solidFill>
                <a:srgbClr val="EDD5D2"/>
              </a:solidFill>
            </a:ln>
          </p:spPr>
        </p:sp>
        <p:sp>
          <p:nvSpPr>
            <p:cNvPr id="48" name="TextBox 48"/>
            <p:cNvSpPr txBox="1"/>
            <p:nvPr/>
          </p:nvSpPr>
          <p:spPr>
            <a:xfrm>
              <a:off x="1900238" y="3365897"/>
              <a:ext cx="2413838"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领导带头、下沉一线、马上就办、闭环督导</a:t>
              </a:r>
            </a:p>
          </p:txBody>
        </p:sp>
        <p:sp>
          <p:nvSpPr>
            <p:cNvPr id="49" name="Freeform 49"/>
            <p:cNvSpPr/>
            <p:nvPr/>
          </p:nvSpPr>
          <p:spPr>
            <a:xfrm>
              <a:off x="5562600" y="3333750"/>
              <a:ext cx="133350" cy="171450"/>
            </a:xfrm>
            <a:prstGeom prst="chevron">
              <a:avLst/>
            </a:prstGeom>
            <a:solidFill>
              <a:srgbClr val="C9604E"/>
            </a:solidFill>
            <a:ln>
              <a:noFill/>
            </a:ln>
          </p:spPr>
        </p:sp>
      </p:grpSp>
      <p:grpSp>
        <p:nvGrpSpPr>
          <p:cNvPr id="95" name="raci-matrix"/>
          <p:cNvGrpSpPr/>
          <p:nvPr/>
        </p:nvGrpSpPr>
        <p:grpSpPr>
          <a:xfrm>
            <a:off x="6019800" y="723900"/>
            <a:ext cx="5791200" cy="3295650"/>
            <a:chOff x="6019800" y="723900"/>
            <a:chExt cx="5791200" cy="3295650"/>
          </a:xfrm>
        </p:grpSpPr>
        <p:sp>
          <p:nvSpPr>
            <p:cNvPr id="51" name="Rectangle 51"/>
            <p:cNvSpPr/>
            <p:nvPr/>
          </p:nvSpPr>
          <p:spPr>
            <a:xfrm>
              <a:off x="6019800" y="723900"/>
              <a:ext cx="5791200" cy="3295650"/>
            </a:xfrm>
            <a:prstGeom prst="roundRect">
              <a:avLst>
                <a:gd name="adj" fmla="val 2312"/>
              </a:avLst>
            </a:prstGeom>
            <a:solidFill>
              <a:srgbClr val="FDF6F5"/>
            </a:solidFill>
            <a:ln w="9525">
              <a:solidFill>
                <a:srgbClr val="EDD5D2"/>
              </a:solidFill>
            </a:ln>
          </p:spPr>
        </p:sp>
        <p:grpSp>
          <p:nvGrpSpPr>
            <p:cNvPr id="58" name="Group 58"/>
            <p:cNvGrpSpPr/>
            <p:nvPr/>
          </p:nvGrpSpPr>
          <p:grpSpPr>
            <a:xfrm>
              <a:off x="6200775" y="885825"/>
              <a:ext cx="171450" cy="171450"/>
              <a:chOff x="6200775" y="885825"/>
              <a:chExt cx="171450" cy="171450"/>
            </a:xfrm>
          </p:grpSpPr>
          <p:sp>
            <p:nvSpPr>
              <p:cNvPr id="52" name="Freeform 52"/>
              <p:cNvSpPr/>
              <p:nvPr/>
            </p:nvSpPr>
            <p:spPr>
              <a:xfrm>
                <a:off x="6267450" y="9620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52D12"/>
                </a:solidFill>
              </a:ln>
            </p:spPr>
          </p:sp>
          <p:sp>
            <p:nvSpPr>
              <p:cNvPr id="53" name="Freeform 53"/>
              <p:cNvSpPr/>
              <p:nvPr/>
            </p:nvSpPr>
            <p:spPr>
              <a:xfrm>
                <a:off x="6248400" y="102870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A52D12"/>
                </a:solidFill>
              </a:ln>
            </p:spPr>
          </p:sp>
          <p:sp>
            <p:nvSpPr>
              <p:cNvPr id="54" name="Freeform 54"/>
              <p:cNvSpPr/>
              <p:nvPr/>
            </p:nvSpPr>
            <p:spPr>
              <a:xfrm>
                <a:off x="6315075" y="8858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52D12"/>
                </a:solidFill>
              </a:ln>
            </p:spPr>
          </p:sp>
          <p:sp>
            <p:nvSpPr>
              <p:cNvPr id="55" name="Freeform 55"/>
              <p:cNvSpPr/>
              <p:nvPr/>
            </p:nvSpPr>
            <p:spPr>
              <a:xfrm>
                <a:off x="6334125" y="95250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A52D12"/>
                </a:solidFill>
              </a:ln>
            </p:spPr>
          </p:sp>
          <p:sp>
            <p:nvSpPr>
              <p:cNvPr id="56" name="Freeform 56"/>
              <p:cNvSpPr/>
              <p:nvPr/>
            </p:nvSpPr>
            <p:spPr>
              <a:xfrm>
                <a:off x="6219825" y="8858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52D12"/>
                </a:solidFill>
              </a:ln>
            </p:spPr>
          </p:sp>
          <p:sp>
            <p:nvSpPr>
              <p:cNvPr id="57" name="Freeform 57"/>
              <p:cNvSpPr/>
              <p:nvPr/>
            </p:nvSpPr>
            <p:spPr>
              <a:xfrm>
                <a:off x="6200775" y="95250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A52D12"/>
                </a:solidFill>
              </a:ln>
            </p:spPr>
          </p:sp>
        </p:grpSp>
        <p:sp>
          <p:nvSpPr>
            <p:cNvPr id="59" name="TextBox 59"/>
            <p:cNvSpPr txBox="1"/>
            <p:nvPr/>
          </p:nvSpPr>
          <p:spPr>
            <a:xfrm>
              <a:off x="6490335" y="907256"/>
              <a:ext cx="1027785" cy="220028"/>
            </a:xfrm>
            <a:prstGeom prst="rect">
              <a:avLst/>
            </a:prstGeom>
            <a:noFill/>
            <a:ln>
              <a:noFill/>
            </a:ln>
          </p:spPr>
          <p:txBody>
            <a:bodyPr wrap="none" lIns="0" tIns="0" rIns="0" bIns="0" anchor="t" anchorCtr="0">
              <a:spAutoFit/>
            </a:bodyPr>
            <a:lstStyle/>
            <a:p>
              <a:pPr algn="l"/>
              <a:r>
                <a:rPr lang="zh-CN" sz="1120" b="1" dirty="0">
                  <a:solidFill>
                    <a:srgbClr val="1F1F1F"/>
                  </a:solidFill>
                  <a:latin typeface="+mn-lt"/>
                  <a:ea typeface="+mn-ea"/>
                  <a:cs typeface="+mn-cs"/>
                </a:rPr>
                <a:t>RACI责任矩阵​</a:t>
              </a:r>
            </a:p>
          </p:txBody>
        </p:sp>
        <p:sp>
          <p:nvSpPr>
            <p:cNvPr id="60" name="Rectangle 60"/>
            <p:cNvSpPr/>
            <p:nvPr/>
          </p:nvSpPr>
          <p:spPr>
            <a:xfrm>
              <a:off x="6172200" y="1162050"/>
              <a:ext cx="1143000" cy="419100"/>
            </a:xfrm>
            <a:prstGeom prst="rect">
              <a:avLst/>
            </a:prstGeom>
            <a:solidFill>
              <a:srgbClr val="A52D12"/>
            </a:solidFill>
            <a:ln>
              <a:noFill/>
            </a:ln>
          </p:spPr>
        </p:sp>
        <p:sp>
          <p:nvSpPr>
            <p:cNvPr id="61" name="TextBox 61"/>
            <p:cNvSpPr txBox="1"/>
            <p:nvPr/>
          </p:nvSpPr>
          <p:spPr>
            <a:xfrm>
              <a:off x="6606819" y="131397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对象</a:t>
              </a:r>
            </a:p>
          </p:txBody>
        </p:sp>
        <p:sp>
          <p:nvSpPr>
            <p:cNvPr id="62" name="Rectangle 62"/>
            <p:cNvSpPr/>
            <p:nvPr/>
          </p:nvSpPr>
          <p:spPr>
            <a:xfrm>
              <a:off x="7315200" y="1162050"/>
              <a:ext cx="1085850" cy="419100"/>
            </a:xfrm>
            <a:prstGeom prst="rect">
              <a:avLst/>
            </a:prstGeom>
            <a:solidFill>
              <a:srgbClr val="A52D12"/>
            </a:solidFill>
            <a:ln>
              <a:noFill/>
            </a:ln>
          </p:spPr>
        </p:sp>
        <p:sp>
          <p:nvSpPr>
            <p:cNvPr id="63" name="TextBox 63"/>
            <p:cNvSpPr txBox="1"/>
            <p:nvPr/>
          </p:nvSpPr>
          <p:spPr>
            <a:xfrm>
              <a:off x="7726820" y="124182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决策</a:t>
              </a:r>
            </a:p>
          </p:txBody>
        </p:sp>
        <p:sp>
          <p:nvSpPr>
            <p:cNvPr id="64" name="TextBox 64"/>
            <p:cNvSpPr txBox="1"/>
            <p:nvPr/>
          </p:nvSpPr>
          <p:spPr>
            <a:xfrm>
              <a:off x="7680542" y="1415891"/>
              <a:ext cx="355166"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（R）​</a:t>
              </a:r>
            </a:p>
          </p:txBody>
        </p:sp>
        <p:sp>
          <p:nvSpPr>
            <p:cNvPr id="65" name="Rectangle 65"/>
            <p:cNvSpPr/>
            <p:nvPr/>
          </p:nvSpPr>
          <p:spPr>
            <a:xfrm>
              <a:off x="8401050" y="1162050"/>
              <a:ext cx="1085850" cy="419100"/>
            </a:xfrm>
            <a:prstGeom prst="rect">
              <a:avLst/>
            </a:prstGeom>
            <a:solidFill>
              <a:srgbClr val="A52D12"/>
            </a:solidFill>
            <a:ln>
              <a:noFill/>
            </a:ln>
          </p:spPr>
        </p:sp>
        <p:sp>
          <p:nvSpPr>
            <p:cNvPr id="66" name="TextBox 66"/>
            <p:cNvSpPr txBox="1"/>
            <p:nvPr/>
          </p:nvSpPr>
          <p:spPr>
            <a:xfrm>
              <a:off x="8812670" y="124182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牵头</a:t>
              </a:r>
            </a:p>
          </p:txBody>
        </p:sp>
        <p:sp>
          <p:nvSpPr>
            <p:cNvPr id="67" name="TextBox 67"/>
            <p:cNvSpPr txBox="1"/>
            <p:nvPr/>
          </p:nvSpPr>
          <p:spPr>
            <a:xfrm>
              <a:off x="8766392" y="1415891"/>
              <a:ext cx="355166"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（A）​</a:t>
              </a:r>
            </a:p>
          </p:txBody>
        </p:sp>
        <p:sp>
          <p:nvSpPr>
            <p:cNvPr id="68" name="Rectangle 68"/>
            <p:cNvSpPr/>
            <p:nvPr/>
          </p:nvSpPr>
          <p:spPr>
            <a:xfrm>
              <a:off x="9486900" y="1162050"/>
              <a:ext cx="1085850" cy="419100"/>
            </a:xfrm>
            <a:prstGeom prst="rect">
              <a:avLst/>
            </a:prstGeom>
            <a:solidFill>
              <a:srgbClr val="A52D12"/>
            </a:solidFill>
            <a:ln>
              <a:noFill/>
            </a:ln>
          </p:spPr>
        </p:sp>
        <p:sp>
          <p:nvSpPr>
            <p:cNvPr id="69" name="TextBox 69"/>
            <p:cNvSpPr txBox="1"/>
            <p:nvPr/>
          </p:nvSpPr>
          <p:spPr>
            <a:xfrm>
              <a:off x="9898520" y="124182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执行</a:t>
              </a:r>
            </a:p>
          </p:txBody>
        </p:sp>
        <p:sp>
          <p:nvSpPr>
            <p:cNvPr id="70" name="TextBox 70"/>
            <p:cNvSpPr txBox="1"/>
            <p:nvPr/>
          </p:nvSpPr>
          <p:spPr>
            <a:xfrm>
              <a:off x="9852242" y="1415891"/>
              <a:ext cx="355166"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（C）​</a:t>
              </a:r>
            </a:p>
          </p:txBody>
        </p:sp>
        <p:sp>
          <p:nvSpPr>
            <p:cNvPr id="71" name="Rectangle 71"/>
            <p:cNvSpPr/>
            <p:nvPr/>
          </p:nvSpPr>
          <p:spPr>
            <a:xfrm>
              <a:off x="10572750" y="1162050"/>
              <a:ext cx="1085850" cy="419100"/>
            </a:xfrm>
            <a:prstGeom prst="rect">
              <a:avLst/>
            </a:prstGeom>
            <a:solidFill>
              <a:srgbClr val="A52D12"/>
            </a:solidFill>
            <a:ln>
              <a:noFill/>
            </a:ln>
          </p:spPr>
        </p:sp>
        <p:sp>
          <p:nvSpPr>
            <p:cNvPr id="72" name="TextBox 72"/>
            <p:cNvSpPr txBox="1"/>
            <p:nvPr/>
          </p:nvSpPr>
          <p:spPr>
            <a:xfrm>
              <a:off x="10984370" y="124182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协同</a:t>
              </a:r>
            </a:p>
          </p:txBody>
        </p:sp>
        <p:sp>
          <p:nvSpPr>
            <p:cNvPr id="73" name="TextBox 73"/>
            <p:cNvSpPr txBox="1"/>
            <p:nvPr/>
          </p:nvSpPr>
          <p:spPr>
            <a:xfrm>
              <a:off x="10952672" y="1415891"/>
              <a:ext cx="326006"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（I）​</a:t>
              </a:r>
            </a:p>
          </p:txBody>
        </p:sp>
        <p:sp>
          <p:nvSpPr>
            <p:cNvPr id="74" name="Rectangle 74"/>
            <p:cNvSpPr/>
            <p:nvPr/>
          </p:nvSpPr>
          <p:spPr>
            <a:xfrm>
              <a:off x="6172200" y="1581150"/>
              <a:ext cx="5486400" cy="552450"/>
            </a:xfrm>
            <a:prstGeom prst="rect">
              <a:avLst/>
            </a:prstGeom>
            <a:solidFill>
              <a:srgbClr val="FFFFFF"/>
            </a:solidFill>
            <a:ln w="9525">
              <a:solidFill>
                <a:srgbClr val="EDD5D2"/>
              </a:solidFill>
            </a:ln>
          </p:spPr>
        </p:sp>
        <p:sp>
          <p:nvSpPr>
            <p:cNvPr id="75" name="TextBox 75"/>
            <p:cNvSpPr txBox="1"/>
            <p:nvPr/>
          </p:nvSpPr>
          <p:spPr>
            <a:xfrm>
              <a:off x="6485852" y="1803797"/>
              <a:ext cx="515696" cy="183356"/>
            </a:xfrm>
            <a:prstGeom prst="rect">
              <a:avLst/>
            </a:prstGeom>
            <a:noFill/>
            <a:ln>
              <a:noFill/>
            </a:ln>
          </p:spPr>
          <p:txBody>
            <a:bodyPr wrap="none" lIns="0" tIns="0" rIns="0" bIns="0" anchor="t" anchorCtr="0">
              <a:spAutoFit/>
            </a:bodyPr>
            <a:lstStyle/>
            <a:p>
              <a:pPr algn="ctr"/>
              <a:r>
                <a:rPr lang="zh-CN" sz="940" dirty="0">
                  <a:solidFill>
                    <a:srgbClr val="3A3A3A"/>
                  </a:solidFill>
                  <a:latin typeface="+mn-lt"/>
                  <a:ea typeface="+mn-ea"/>
                  <a:cs typeface="+mn-cs"/>
                </a:rPr>
                <a:t>总行党委</a:t>
              </a:r>
            </a:p>
          </p:txBody>
        </p:sp>
        <p:sp>
          <p:nvSpPr>
            <p:cNvPr id="76" name="Ellipse 76"/>
            <p:cNvSpPr/>
            <p:nvPr/>
          </p:nvSpPr>
          <p:spPr>
            <a:xfrm>
              <a:off x="7791450" y="1790700"/>
              <a:ext cx="133350" cy="133350"/>
            </a:xfrm>
            <a:prstGeom prst="ellipse">
              <a:avLst/>
            </a:prstGeom>
            <a:solidFill>
              <a:srgbClr val="A52D12"/>
            </a:solidFill>
            <a:ln>
              <a:noFill/>
            </a:ln>
          </p:spPr>
        </p:sp>
        <p:sp>
          <p:nvSpPr>
            <p:cNvPr id="77" name="Ellipse 77"/>
            <p:cNvSpPr/>
            <p:nvPr/>
          </p:nvSpPr>
          <p:spPr>
            <a:xfrm>
              <a:off x="11049000" y="1790700"/>
              <a:ext cx="133350" cy="133350"/>
            </a:xfrm>
            <a:prstGeom prst="ellipse">
              <a:avLst/>
            </a:prstGeom>
            <a:solidFill>
              <a:srgbClr val="A52D12"/>
            </a:solidFill>
            <a:ln>
              <a:noFill/>
            </a:ln>
          </p:spPr>
        </p:sp>
        <p:sp>
          <p:nvSpPr>
            <p:cNvPr id="78" name="Rectangle 78"/>
            <p:cNvSpPr/>
            <p:nvPr/>
          </p:nvSpPr>
          <p:spPr>
            <a:xfrm>
              <a:off x="6172200" y="2133600"/>
              <a:ext cx="5486400" cy="552450"/>
            </a:xfrm>
            <a:prstGeom prst="rect">
              <a:avLst/>
            </a:prstGeom>
            <a:solidFill>
              <a:srgbClr val="FBEFEE"/>
            </a:solidFill>
            <a:ln w="9525">
              <a:solidFill>
                <a:srgbClr val="EDD5D2"/>
              </a:solidFill>
            </a:ln>
          </p:spPr>
        </p:sp>
        <p:sp>
          <p:nvSpPr>
            <p:cNvPr id="79" name="TextBox 79"/>
            <p:cNvSpPr txBox="1"/>
            <p:nvPr/>
          </p:nvSpPr>
          <p:spPr>
            <a:xfrm>
              <a:off x="6485852" y="2356247"/>
              <a:ext cx="515696" cy="183356"/>
            </a:xfrm>
            <a:prstGeom prst="rect">
              <a:avLst/>
            </a:prstGeom>
            <a:noFill/>
            <a:ln>
              <a:noFill/>
            </a:ln>
          </p:spPr>
          <p:txBody>
            <a:bodyPr wrap="none" lIns="0" tIns="0" rIns="0" bIns="0" anchor="t" anchorCtr="0">
              <a:spAutoFit/>
            </a:bodyPr>
            <a:lstStyle/>
            <a:p>
              <a:pPr algn="ctr"/>
              <a:r>
                <a:rPr lang="zh-CN" sz="940" dirty="0">
                  <a:solidFill>
                    <a:srgbClr val="3A3A3A"/>
                  </a:solidFill>
                  <a:latin typeface="+mn-lt"/>
                  <a:ea typeface="+mn-ea"/>
                  <a:cs typeface="+mn-cs"/>
                </a:rPr>
                <a:t>业务条线</a:t>
              </a:r>
            </a:p>
          </p:txBody>
        </p:sp>
        <p:sp>
          <p:nvSpPr>
            <p:cNvPr id="80" name="Ellipse 80"/>
            <p:cNvSpPr/>
            <p:nvPr/>
          </p:nvSpPr>
          <p:spPr>
            <a:xfrm>
              <a:off x="8877300" y="2343150"/>
              <a:ext cx="133350" cy="133350"/>
            </a:xfrm>
            <a:prstGeom prst="ellipse">
              <a:avLst/>
            </a:prstGeom>
            <a:solidFill>
              <a:srgbClr val="A52D12"/>
            </a:solidFill>
            <a:ln>
              <a:noFill/>
            </a:ln>
          </p:spPr>
        </p:sp>
        <p:sp>
          <p:nvSpPr>
            <p:cNvPr id="81" name="Ellipse 81"/>
            <p:cNvSpPr/>
            <p:nvPr/>
          </p:nvSpPr>
          <p:spPr>
            <a:xfrm>
              <a:off x="9963150" y="2343150"/>
              <a:ext cx="133350" cy="133350"/>
            </a:xfrm>
            <a:prstGeom prst="ellipse">
              <a:avLst/>
            </a:prstGeom>
            <a:solidFill>
              <a:srgbClr val="A52D12"/>
            </a:solidFill>
            <a:ln>
              <a:noFill/>
            </a:ln>
          </p:spPr>
        </p:sp>
        <p:sp>
          <p:nvSpPr>
            <p:cNvPr id="82" name="Ellipse 82"/>
            <p:cNvSpPr/>
            <p:nvPr/>
          </p:nvSpPr>
          <p:spPr>
            <a:xfrm>
              <a:off x="11049000" y="2343150"/>
              <a:ext cx="133350" cy="133350"/>
            </a:xfrm>
            <a:prstGeom prst="ellipse">
              <a:avLst/>
            </a:prstGeom>
            <a:solidFill>
              <a:srgbClr val="A52D12"/>
            </a:solidFill>
            <a:ln>
              <a:noFill/>
            </a:ln>
          </p:spPr>
        </p:sp>
        <p:sp>
          <p:nvSpPr>
            <p:cNvPr id="83" name="Rectangle 83"/>
            <p:cNvSpPr/>
            <p:nvPr/>
          </p:nvSpPr>
          <p:spPr>
            <a:xfrm>
              <a:off x="6172200" y="2686050"/>
              <a:ext cx="5486400" cy="552450"/>
            </a:xfrm>
            <a:prstGeom prst="rect">
              <a:avLst/>
            </a:prstGeom>
            <a:solidFill>
              <a:srgbClr val="FFFFFF"/>
            </a:solidFill>
            <a:ln w="9525">
              <a:solidFill>
                <a:srgbClr val="EDD5D2"/>
              </a:solidFill>
            </a:ln>
          </p:spPr>
        </p:sp>
        <p:sp>
          <p:nvSpPr>
            <p:cNvPr id="84" name="TextBox 84"/>
            <p:cNvSpPr txBox="1"/>
            <p:nvPr/>
          </p:nvSpPr>
          <p:spPr>
            <a:xfrm>
              <a:off x="6612395" y="2908697"/>
              <a:ext cx="262611" cy="183356"/>
            </a:xfrm>
            <a:prstGeom prst="rect">
              <a:avLst/>
            </a:prstGeom>
            <a:noFill/>
            <a:ln>
              <a:noFill/>
            </a:ln>
          </p:spPr>
          <p:txBody>
            <a:bodyPr wrap="none" lIns="0" tIns="0" rIns="0" bIns="0" anchor="t" anchorCtr="0">
              <a:spAutoFit/>
            </a:bodyPr>
            <a:lstStyle/>
            <a:p>
              <a:pPr algn="ctr"/>
              <a:r>
                <a:rPr lang="zh-CN" sz="940" dirty="0">
                  <a:solidFill>
                    <a:srgbClr val="3A3A3A"/>
                  </a:solidFill>
                  <a:latin typeface="+mn-lt"/>
                  <a:ea typeface="+mn-ea"/>
                  <a:cs typeface="+mn-cs"/>
                </a:rPr>
                <a:t>分行</a:t>
              </a:r>
            </a:p>
          </p:txBody>
        </p:sp>
        <p:sp>
          <p:nvSpPr>
            <p:cNvPr id="85" name="Ellipse 85"/>
            <p:cNvSpPr/>
            <p:nvPr/>
          </p:nvSpPr>
          <p:spPr>
            <a:xfrm>
              <a:off x="9963150" y="2895600"/>
              <a:ext cx="133350" cy="133350"/>
            </a:xfrm>
            <a:prstGeom prst="ellipse">
              <a:avLst/>
            </a:prstGeom>
            <a:solidFill>
              <a:srgbClr val="A52D12"/>
            </a:solidFill>
            <a:ln>
              <a:noFill/>
            </a:ln>
          </p:spPr>
        </p:sp>
        <p:sp>
          <p:nvSpPr>
            <p:cNvPr id="86" name="Ellipse 86"/>
            <p:cNvSpPr/>
            <p:nvPr/>
          </p:nvSpPr>
          <p:spPr>
            <a:xfrm>
              <a:off x="11049000" y="2895600"/>
              <a:ext cx="133350" cy="133350"/>
            </a:xfrm>
            <a:prstGeom prst="ellipse">
              <a:avLst/>
            </a:prstGeom>
            <a:solidFill>
              <a:srgbClr val="A52D12"/>
            </a:solidFill>
            <a:ln>
              <a:noFill/>
            </a:ln>
          </p:spPr>
        </p:sp>
        <p:sp>
          <p:nvSpPr>
            <p:cNvPr id="87" name="Rectangle 87"/>
            <p:cNvSpPr/>
            <p:nvPr/>
          </p:nvSpPr>
          <p:spPr>
            <a:xfrm>
              <a:off x="6172200" y="3238500"/>
              <a:ext cx="5486400" cy="552450"/>
            </a:xfrm>
            <a:prstGeom prst="rect">
              <a:avLst/>
            </a:prstGeom>
            <a:solidFill>
              <a:srgbClr val="FBEFEE"/>
            </a:solidFill>
            <a:ln w="9525">
              <a:solidFill>
                <a:srgbClr val="EDD5D2"/>
              </a:solidFill>
            </a:ln>
          </p:spPr>
        </p:sp>
        <p:sp>
          <p:nvSpPr>
            <p:cNvPr id="88" name="TextBox 88"/>
            <p:cNvSpPr txBox="1"/>
            <p:nvPr/>
          </p:nvSpPr>
          <p:spPr>
            <a:xfrm>
              <a:off x="6612395" y="3461147"/>
              <a:ext cx="262611" cy="183356"/>
            </a:xfrm>
            <a:prstGeom prst="rect">
              <a:avLst/>
            </a:prstGeom>
            <a:noFill/>
            <a:ln>
              <a:noFill/>
            </a:ln>
          </p:spPr>
          <p:txBody>
            <a:bodyPr wrap="none" lIns="0" tIns="0" rIns="0" bIns="0" anchor="t" anchorCtr="0">
              <a:spAutoFit/>
            </a:bodyPr>
            <a:lstStyle/>
            <a:p>
              <a:pPr algn="ctr"/>
              <a:r>
                <a:rPr lang="zh-CN" sz="940" dirty="0">
                  <a:solidFill>
                    <a:srgbClr val="3A3A3A"/>
                  </a:solidFill>
                  <a:latin typeface="+mn-lt"/>
                  <a:ea typeface="+mn-ea"/>
                  <a:cs typeface="+mn-cs"/>
                </a:rPr>
                <a:t>支行</a:t>
              </a:r>
            </a:p>
          </p:txBody>
        </p:sp>
        <p:sp>
          <p:nvSpPr>
            <p:cNvPr id="89" name="Ellipse 89"/>
            <p:cNvSpPr/>
            <p:nvPr/>
          </p:nvSpPr>
          <p:spPr>
            <a:xfrm>
              <a:off x="9963150" y="3448050"/>
              <a:ext cx="133350" cy="133350"/>
            </a:xfrm>
            <a:prstGeom prst="ellipse">
              <a:avLst/>
            </a:prstGeom>
            <a:solidFill>
              <a:srgbClr val="A52D12"/>
            </a:solidFill>
            <a:ln>
              <a:noFill/>
            </a:ln>
          </p:spPr>
        </p:sp>
        <p:sp>
          <p:nvSpPr>
            <p:cNvPr id="90" name="Ellipse 90"/>
            <p:cNvSpPr/>
            <p:nvPr/>
          </p:nvSpPr>
          <p:spPr>
            <a:xfrm>
              <a:off x="11049000" y="3448050"/>
              <a:ext cx="133350" cy="133350"/>
            </a:xfrm>
            <a:prstGeom prst="ellipse">
              <a:avLst/>
            </a:prstGeom>
            <a:solidFill>
              <a:srgbClr val="A52D12"/>
            </a:solidFill>
            <a:ln>
              <a:noFill/>
            </a:ln>
          </p:spPr>
        </p:sp>
        <p:sp>
          <p:nvSpPr>
            <p:cNvPr id="91" name="Line 91"/>
            <p:cNvSpPr/>
            <p:nvPr/>
          </p:nvSpPr>
          <p:spPr>
            <a:xfrm>
              <a:off x="7315200" y="1581150"/>
              <a:ext cx="9525" cy="2209800"/>
            </a:xfrm>
            <a:custGeom>
              <a:avLst/>
              <a:gdLst/>
              <a:ahLst/>
              <a:cxnLst/>
              <a:rect l="l" t="t" r="r" b="b"/>
              <a:pathLst>
                <a:path w="9525" h="2209800">
                  <a:moveTo>
                    <a:pt x="0" y="0"/>
                  </a:moveTo>
                  <a:lnTo>
                    <a:pt x="0" y="2209800"/>
                  </a:lnTo>
                </a:path>
              </a:pathLst>
            </a:custGeom>
            <a:noFill/>
            <a:ln w="9525">
              <a:solidFill>
                <a:srgbClr val="EDD5D2"/>
              </a:solidFill>
            </a:ln>
          </p:spPr>
        </p:sp>
        <p:sp>
          <p:nvSpPr>
            <p:cNvPr id="92" name="Line 92"/>
            <p:cNvSpPr/>
            <p:nvPr/>
          </p:nvSpPr>
          <p:spPr>
            <a:xfrm>
              <a:off x="8401050" y="1581150"/>
              <a:ext cx="9525" cy="2209800"/>
            </a:xfrm>
            <a:custGeom>
              <a:avLst/>
              <a:gdLst/>
              <a:ahLst/>
              <a:cxnLst/>
              <a:rect l="l" t="t" r="r" b="b"/>
              <a:pathLst>
                <a:path w="9525" h="2209800">
                  <a:moveTo>
                    <a:pt x="0" y="0"/>
                  </a:moveTo>
                  <a:lnTo>
                    <a:pt x="0" y="2209800"/>
                  </a:lnTo>
                </a:path>
              </a:pathLst>
            </a:custGeom>
            <a:noFill/>
            <a:ln w="9525">
              <a:solidFill>
                <a:srgbClr val="EDD5D2"/>
              </a:solidFill>
            </a:ln>
          </p:spPr>
        </p:sp>
        <p:sp>
          <p:nvSpPr>
            <p:cNvPr id="93" name="Line 93"/>
            <p:cNvSpPr/>
            <p:nvPr/>
          </p:nvSpPr>
          <p:spPr>
            <a:xfrm>
              <a:off x="9486900" y="1581150"/>
              <a:ext cx="9525" cy="2209800"/>
            </a:xfrm>
            <a:custGeom>
              <a:avLst/>
              <a:gdLst/>
              <a:ahLst/>
              <a:cxnLst/>
              <a:rect l="l" t="t" r="r" b="b"/>
              <a:pathLst>
                <a:path w="9525" h="2209800">
                  <a:moveTo>
                    <a:pt x="0" y="0"/>
                  </a:moveTo>
                  <a:lnTo>
                    <a:pt x="0" y="2209800"/>
                  </a:lnTo>
                </a:path>
              </a:pathLst>
            </a:custGeom>
            <a:noFill/>
            <a:ln w="9525">
              <a:solidFill>
                <a:srgbClr val="EDD5D2"/>
              </a:solidFill>
            </a:ln>
          </p:spPr>
        </p:sp>
        <p:sp>
          <p:nvSpPr>
            <p:cNvPr id="94" name="Line 94"/>
            <p:cNvSpPr/>
            <p:nvPr/>
          </p:nvSpPr>
          <p:spPr>
            <a:xfrm>
              <a:off x="10572750" y="1581150"/>
              <a:ext cx="9525" cy="2209800"/>
            </a:xfrm>
            <a:custGeom>
              <a:avLst/>
              <a:gdLst/>
              <a:ahLst/>
              <a:cxnLst/>
              <a:rect l="l" t="t" r="r" b="b"/>
              <a:pathLst>
                <a:path w="9525" h="2209800">
                  <a:moveTo>
                    <a:pt x="0" y="0"/>
                  </a:moveTo>
                  <a:lnTo>
                    <a:pt x="0" y="2209800"/>
                  </a:lnTo>
                </a:path>
              </a:pathLst>
            </a:custGeom>
            <a:noFill/>
            <a:ln w="9525">
              <a:solidFill>
                <a:srgbClr val="EDD5D2"/>
              </a:solidFill>
            </a:ln>
          </p:spPr>
        </p:sp>
      </p:grpSp>
      <p:grpSp>
        <p:nvGrpSpPr>
          <p:cNvPr id="146" name="mgmt-loop"/>
          <p:cNvGrpSpPr/>
          <p:nvPr/>
        </p:nvGrpSpPr>
        <p:grpSpPr>
          <a:xfrm>
            <a:off x="381000" y="4152900"/>
            <a:ext cx="11430000" cy="971550"/>
            <a:chOff x="381000" y="4152900"/>
            <a:chExt cx="11430000" cy="971550"/>
          </a:xfrm>
        </p:grpSpPr>
        <p:sp>
          <p:nvSpPr>
            <p:cNvPr id="96" name="Rectangle 96"/>
            <p:cNvSpPr/>
            <p:nvPr/>
          </p:nvSpPr>
          <p:spPr>
            <a:xfrm>
              <a:off x="381000" y="4152900"/>
              <a:ext cx="11430000" cy="971550"/>
            </a:xfrm>
            <a:prstGeom prst="roundRect">
              <a:avLst>
                <a:gd name="adj" fmla="val 7843"/>
              </a:avLst>
            </a:prstGeom>
            <a:solidFill>
              <a:srgbClr val="FDF6F5"/>
            </a:solidFill>
            <a:ln w="9525">
              <a:solidFill>
                <a:srgbClr val="EDD5D2"/>
              </a:solidFill>
            </a:ln>
          </p:spPr>
        </p:sp>
        <p:sp>
          <p:nvSpPr>
            <p:cNvPr id="97" name="Rectangle 97"/>
            <p:cNvSpPr/>
            <p:nvPr/>
          </p:nvSpPr>
          <p:spPr>
            <a:xfrm>
              <a:off x="495300" y="4248150"/>
              <a:ext cx="38100" cy="152400"/>
            </a:xfrm>
            <a:prstGeom prst="rect">
              <a:avLst/>
            </a:prstGeom>
            <a:solidFill>
              <a:srgbClr val="A52D12"/>
            </a:solidFill>
            <a:ln>
              <a:noFill/>
            </a:ln>
          </p:spPr>
        </p:sp>
        <p:sp>
          <p:nvSpPr>
            <p:cNvPr id="98" name="TextBox 98"/>
            <p:cNvSpPr txBox="1"/>
            <p:nvPr/>
          </p:nvSpPr>
          <p:spPr>
            <a:xfrm>
              <a:off x="604266" y="4258628"/>
              <a:ext cx="576072" cy="205359"/>
            </a:xfrm>
            <a:prstGeom prst="rect">
              <a:avLst/>
            </a:prstGeom>
            <a:noFill/>
            <a:ln>
              <a:noFill/>
            </a:ln>
          </p:spPr>
          <p:txBody>
            <a:bodyPr wrap="none" lIns="0" tIns="0" rIns="0" bIns="0" anchor="t" anchorCtr="0">
              <a:spAutoFit/>
            </a:bodyPr>
            <a:lstStyle/>
            <a:p>
              <a:pPr algn="l"/>
              <a:r>
                <a:rPr lang="zh-CN" sz="1050" b="1" dirty="0">
                  <a:solidFill>
                    <a:srgbClr val="A52D12"/>
                  </a:solidFill>
                  <a:latin typeface="+mn-lt"/>
                  <a:ea typeface="+mn-ea"/>
                  <a:cs typeface="+mn-cs"/>
                </a:rPr>
                <a:t>管理闭环</a:t>
              </a:r>
            </a:p>
          </p:txBody>
        </p:sp>
        <p:sp>
          <p:nvSpPr>
            <p:cNvPr id="99" name="Ellipse 99"/>
            <p:cNvSpPr/>
            <p:nvPr/>
          </p:nvSpPr>
          <p:spPr>
            <a:xfrm>
              <a:off x="609600" y="4533900"/>
              <a:ext cx="342900" cy="342900"/>
            </a:xfrm>
            <a:prstGeom prst="ellipse">
              <a:avLst/>
            </a:prstGeom>
            <a:solidFill>
              <a:srgbClr val="A52D12"/>
            </a:solidFill>
            <a:ln>
              <a:noFill/>
            </a:ln>
          </p:spPr>
        </p:sp>
        <p:grpSp>
          <p:nvGrpSpPr>
            <p:cNvPr id="104" name="Group 104"/>
            <p:cNvGrpSpPr/>
            <p:nvPr/>
          </p:nvGrpSpPr>
          <p:grpSpPr>
            <a:xfrm>
              <a:off x="725487" y="4641850"/>
              <a:ext cx="119063" cy="134937"/>
              <a:chOff x="725487" y="4641850"/>
              <a:chExt cx="119063" cy="134937"/>
            </a:xfrm>
          </p:grpSpPr>
          <p:sp>
            <p:nvSpPr>
              <p:cNvPr id="100" name="Freeform 100"/>
              <p:cNvSpPr/>
              <p:nvPr/>
            </p:nvSpPr>
            <p:spPr>
              <a:xfrm>
                <a:off x="725487" y="4641850"/>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FFFFFF"/>
                </a:solidFill>
              </a:ln>
            </p:spPr>
          </p:sp>
          <p:sp>
            <p:nvSpPr>
              <p:cNvPr id="101" name="Freeform 101"/>
              <p:cNvSpPr/>
              <p:nvPr/>
            </p:nvSpPr>
            <p:spPr>
              <a:xfrm>
                <a:off x="796925" y="474503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sp>
            <p:nvSpPr>
              <p:cNvPr id="102" name="Freeform 102"/>
              <p:cNvSpPr/>
              <p:nvPr/>
            </p:nvSpPr>
            <p:spPr>
              <a:xfrm>
                <a:off x="757237" y="4673600"/>
                <a:ext cx="31750" cy="9525"/>
              </a:xfrm>
              <a:custGeom>
                <a:avLst/>
                <a:gdLst/>
                <a:ahLst/>
                <a:cxnLst/>
                <a:rect l="l" t="t" r="r" b="b"/>
                <a:pathLst>
                  <a:path w="31750" h="9525">
                    <a:moveTo>
                      <a:pt x="0" y="0"/>
                    </a:moveTo>
                    <a:lnTo>
                      <a:pt x="31750" y="0"/>
                    </a:lnTo>
                  </a:path>
                </a:pathLst>
              </a:custGeom>
              <a:noFill/>
              <a:ln w="15875">
                <a:solidFill>
                  <a:srgbClr val="FFFFFF"/>
                </a:solidFill>
              </a:ln>
            </p:spPr>
          </p:sp>
          <p:sp>
            <p:nvSpPr>
              <p:cNvPr id="103" name="Freeform 103"/>
              <p:cNvSpPr/>
              <p:nvPr/>
            </p:nvSpPr>
            <p:spPr>
              <a:xfrm>
                <a:off x="757237" y="4705350"/>
                <a:ext cx="15875" cy="9525"/>
              </a:xfrm>
              <a:custGeom>
                <a:avLst/>
                <a:gdLst/>
                <a:ahLst/>
                <a:cxnLst/>
                <a:rect l="l" t="t" r="r" b="b"/>
                <a:pathLst>
                  <a:path w="15875" h="9525">
                    <a:moveTo>
                      <a:pt x="0" y="0"/>
                    </a:moveTo>
                    <a:lnTo>
                      <a:pt x="15875" y="0"/>
                    </a:lnTo>
                  </a:path>
                </a:pathLst>
              </a:custGeom>
              <a:noFill/>
              <a:ln w="15875">
                <a:solidFill>
                  <a:srgbClr val="FFFFFF"/>
                </a:solidFill>
              </a:ln>
            </p:spPr>
          </p:sp>
        </p:grpSp>
        <p:sp>
          <p:nvSpPr>
            <p:cNvPr id="105" name="TextBox 105"/>
            <p:cNvSpPr txBox="1"/>
            <p:nvPr/>
          </p:nvSpPr>
          <p:spPr>
            <a:xfrm>
              <a:off x="1042797" y="4561999"/>
              <a:ext cx="273761"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部署</a:t>
              </a:r>
            </a:p>
          </p:txBody>
        </p:sp>
        <p:sp>
          <p:nvSpPr>
            <p:cNvPr id="106" name="TextBox 106"/>
            <p:cNvSpPr txBox="1"/>
            <p:nvPr/>
          </p:nvSpPr>
          <p:spPr>
            <a:xfrm>
              <a:off x="1042988" y="4757738"/>
              <a:ext cx="71628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明确任务与目标</a:t>
              </a:r>
            </a:p>
          </p:txBody>
        </p:sp>
        <p:sp>
          <p:nvSpPr>
            <p:cNvPr id="107" name="Freeform 107"/>
            <p:cNvSpPr/>
            <p:nvPr/>
          </p:nvSpPr>
          <p:spPr>
            <a:xfrm>
              <a:off x="2114550" y="4638675"/>
              <a:ext cx="228600" cy="133350"/>
            </a:xfrm>
            <a:prstGeom prst="rightArrow">
              <a:avLst/>
            </a:prstGeom>
            <a:solidFill>
              <a:srgbClr val="C9604E"/>
            </a:solidFill>
            <a:ln>
              <a:noFill/>
            </a:ln>
          </p:spPr>
        </p:sp>
        <p:sp>
          <p:nvSpPr>
            <p:cNvPr id="108" name="Ellipse 108"/>
            <p:cNvSpPr/>
            <p:nvPr/>
          </p:nvSpPr>
          <p:spPr>
            <a:xfrm>
              <a:off x="2476500" y="4533900"/>
              <a:ext cx="342900" cy="342900"/>
            </a:xfrm>
            <a:prstGeom prst="ellipse">
              <a:avLst/>
            </a:prstGeom>
            <a:solidFill>
              <a:srgbClr val="A52D12"/>
            </a:solidFill>
            <a:ln>
              <a:noFill/>
            </a:ln>
          </p:spPr>
        </p:sp>
        <p:grpSp>
          <p:nvGrpSpPr>
            <p:cNvPr id="111" name="Group 111"/>
            <p:cNvGrpSpPr/>
            <p:nvPr/>
          </p:nvGrpSpPr>
          <p:grpSpPr>
            <a:xfrm>
              <a:off x="2573028" y="4630428"/>
              <a:ext cx="149844" cy="149844"/>
              <a:chOff x="2573028" y="4630428"/>
              <a:chExt cx="149844" cy="149844"/>
            </a:xfrm>
          </p:grpSpPr>
          <p:sp>
            <p:nvSpPr>
              <p:cNvPr id="109" name="Freeform 109"/>
              <p:cNvSpPr/>
              <p:nvPr/>
            </p:nvSpPr>
            <p:spPr>
              <a:xfrm>
                <a:off x="2573028" y="463042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110" name="Freeform 110"/>
              <p:cNvSpPr/>
              <p:nvPr/>
            </p:nvSpPr>
            <p:spPr>
              <a:xfrm>
                <a:off x="2624137" y="468153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112" name="TextBox 112"/>
            <p:cNvSpPr txBox="1"/>
            <p:nvPr/>
          </p:nvSpPr>
          <p:spPr>
            <a:xfrm>
              <a:off x="2909697" y="4561999"/>
              <a:ext cx="273761"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执行</a:t>
              </a:r>
            </a:p>
          </p:txBody>
        </p:sp>
        <p:sp>
          <p:nvSpPr>
            <p:cNvPr id="113" name="TextBox 113"/>
            <p:cNvSpPr txBox="1"/>
            <p:nvPr/>
          </p:nvSpPr>
          <p:spPr>
            <a:xfrm>
              <a:off x="2909888" y="4757738"/>
              <a:ext cx="71628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压实责任抓落实</a:t>
              </a:r>
            </a:p>
          </p:txBody>
        </p:sp>
        <p:sp>
          <p:nvSpPr>
            <p:cNvPr id="114" name="Freeform 114"/>
            <p:cNvSpPr/>
            <p:nvPr/>
          </p:nvSpPr>
          <p:spPr>
            <a:xfrm>
              <a:off x="3981450" y="4638675"/>
              <a:ext cx="228600" cy="133350"/>
            </a:xfrm>
            <a:prstGeom prst="rightArrow">
              <a:avLst/>
            </a:prstGeom>
            <a:solidFill>
              <a:srgbClr val="C9604E"/>
            </a:solidFill>
            <a:ln>
              <a:noFill/>
            </a:ln>
          </p:spPr>
        </p:sp>
        <p:sp>
          <p:nvSpPr>
            <p:cNvPr id="115" name="Ellipse 115"/>
            <p:cNvSpPr/>
            <p:nvPr/>
          </p:nvSpPr>
          <p:spPr>
            <a:xfrm>
              <a:off x="4343400" y="4533900"/>
              <a:ext cx="342900" cy="342900"/>
            </a:xfrm>
            <a:prstGeom prst="ellipse">
              <a:avLst/>
            </a:prstGeom>
            <a:solidFill>
              <a:srgbClr val="A52D12"/>
            </a:solidFill>
            <a:ln>
              <a:noFill/>
            </a:ln>
          </p:spPr>
        </p:sp>
        <p:grpSp>
          <p:nvGrpSpPr>
            <p:cNvPr id="118" name="Group 118"/>
            <p:cNvGrpSpPr/>
            <p:nvPr/>
          </p:nvGrpSpPr>
          <p:grpSpPr>
            <a:xfrm>
              <a:off x="4451350" y="4657725"/>
              <a:ext cx="127000" cy="112712"/>
              <a:chOff x="4451350" y="4657725"/>
              <a:chExt cx="127000" cy="112712"/>
            </a:xfrm>
          </p:grpSpPr>
          <p:sp>
            <p:nvSpPr>
              <p:cNvPr id="116" name="Freeform 116"/>
              <p:cNvSpPr/>
              <p:nvPr/>
            </p:nvSpPr>
            <p:spPr>
              <a:xfrm>
                <a:off x="4451350" y="4760912"/>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17" name="Freeform 117"/>
              <p:cNvSpPr/>
              <p:nvPr/>
            </p:nvSpPr>
            <p:spPr>
              <a:xfrm>
                <a:off x="4451350" y="465772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FFFFFF"/>
                </a:solidFill>
              </a:ln>
            </p:spPr>
          </p:sp>
        </p:grpSp>
        <p:sp>
          <p:nvSpPr>
            <p:cNvPr id="119" name="TextBox 119"/>
            <p:cNvSpPr txBox="1"/>
            <p:nvPr/>
          </p:nvSpPr>
          <p:spPr>
            <a:xfrm>
              <a:off x="4776597" y="4561999"/>
              <a:ext cx="273761"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监测</a:t>
              </a:r>
            </a:p>
          </p:txBody>
        </p:sp>
        <p:sp>
          <p:nvSpPr>
            <p:cNvPr id="120" name="TextBox 120"/>
            <p:cNvSpPr txBox="1"/>
            <p:nvPr/>
          </p:nvSpPr>
          <p:spPr>
            <a:xfrm>
              <a:off x="4776788" y="4757738"/>
              <a:ext cx="71628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跟进进度与指标</a:t>
              </a:r>
            </a:p>
          </p:txBody>
        </p:sp>
        <p:sp>
          <p:nvSpPr>
            <p:cNvPr id="121" name="Freeform 121"/>
            <p:cNvSpPr/>
            <p:nvPr/>
          </p:nvSpPr>
          <p:spPr>
            <a:xfrm>
              <a:off x="5848350" y="4638675"/>
              <a:ext cx="228600" cy="133350"/>
            </a:xfrm>
            <a:prstGeom prst="rightArrow">
              <a:avLst/>
            </a:prstGeom>
            <a:solidFill>
              <a:srgbClr val="C9604E"/>
            </a:solidFill>
            <a:ln>
              <a:noFill/>
            </a:ln>
          </p:spPr>
        </p:sp>
        <p:sp>
          <p:nvSpPr>
            <p:cNvPr id="122" name="Ellipse 122"/>
            <p:cNvSpPr/>
            <p:nvPr/>
          </p:nvSpPr>
          <p:spPr>
            <a:xfrm>
              <a:off x="6210300" y="4533900"/>
              <a:ext cx="342900" cy="342900"/>
            </a:xfrm>
            <a:prstGeom prst="ellipse">
              <a:avLst/>
            </a:prstGeom>
            <a:solidFill>
              <a:srgbClr val="A52D12"/>
            </a:solidFill>
            <a:ln>
              <a:noFill/>
            </a:ln>
          </p:spPr>
        </p:sp>
        <p:grpSp>
          <p:nvGrpSpPr>
            <p:cNvPr id="126" name="Group 126"/>
            <p:cNvGrpSpPr/>
            <p:nvPr/>
          </p:nvGrpSpPr>
          <p:grpSpPr>
            <a:xfrm>
              <a:off x="6310312" y="4633912"/>
              <a:ext cx="142875" cy="142875"/>
              <a:chOff x="6310312" y="4633912"/>
              <a:chExt cx="142875" cy="142875"/>
            </a:xfrm>
          </p:grpSpPr>
          <p:sp>
            <p:nvSpPr>
              <p:cNvPr id="123" name="Freeform 123"/>
              <p:cNvSpPr/>
              <p:nvPr/>
            </p:nvSpPr>
            <p:spPr>
              <a:xfrm>
                <a:off x="6373812" y="46974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124" name="Freeform 124"/>
              <p:cNvSpPr/>
              <p:nvPr/>
            </p:nvSpPr>
            <p:spPr>
              <a:xfrm>
                <a:off x="6342062" y="46656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125" name="Freeform 125"/>
              <p:cNvSpPr/>
              <p:nvPr/>
            </p:nvSpPr>
            <p:spPr>
              <a:xfrm>
                <a:off x="6310312" y="46339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127" name="TextBox 127"/>
            <p:cNvSpPr txBox="1"/>
            <p:nvPr/>
          </p:nvSpPr>
          <p:spPr>
            <a:xfrm>
              <a:off x="6643497" y="4561999"/>
              <a:ext cx="273761"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纠偏</a:t>
              </a:r>
            </a:p>
          </p:txBody>
        </p:sp>
        <p:sp>
          <p:nvSpPr>
            <p:cNvPr id="128" name="TextBox 128"/>
            <p:cNvSpPr txBox="1"/>
            <p:nvPr/>
          </p:nvSpPr>
          <p:spPr>
            <a:xfrm>
              <a:off x="6643688" y="4757738"/>
              <a:ext cx="71628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问题识别与调整</a:t>
              </a:r>
            </a:p>
          </p:txBody>
        </p:sp>
        <p:sp>
          <p:nvSpPr>
            <p:cNvPr id="129" name="Freeform 129"/>
            <p:cNvSpPr/>
            <p:nvPr/>
          </p:nvSpPr>
          <p:spPr>
            <a:xfrm>
              <a:off x="7715250" y="4638675"/>
              <a:ext cx="228600" cy="133350"/>
            </a:xfrm>
            <a:prstGeom prst="rightArrow">
              <a:avLst/>
            </a:prstGeom>
            <a:solidFill>
              <a:srgbClr val="C9604E"/>
            </a:solidFill>
            <a:ln>
              <a:noFill/>
            </a:ln>
          </p:spPr>
        </p:sp>
        <p:sp>
          <p:nvSpPr>
            <p:cNvPr id="130" name="Ellipse 130"/>
            <p:cNvSpPr/>
            <p:nvPr/>
          </p:nvSpPr>
          <p:spPr>
            <a:xfrm>
              <a:off x="8077200" y="4533900"/>
              <a:ext cx="342900" cy="342900"/>
            </a:xfrm>
            <a:prstGeom prst="ellipse">
              <a:avLst/>
            </a:prstGeom>
            <a:solidFill>
              <a:srgbClr val="A52D12"/>
            </a:solidFill>
            <a:ln>
              <a:noFill/>
            </a:ln>
          </p:spPr>
        </p:sp>
        <p:grpSp>
          <p:nvGrpSpPr>
            <p:cNvPr id="136" name="Group 136"/>
            <p:cNvGrpSpPr/>
            <p:nvPr/>
          </p:nvGrpSpPr>
          <p:grpSpPr>
            <a:xfrm>
              <a:off x="8193087" y="4633912"/>
              <a:ext cx="111125" cy="142875"/>
              <a:chOff x="8193087" y="4633912"/>
              <a:chExt cx="111125" cy="142875"/>
            </a:xfrm>
          </p:grpSpPr>
          <p:sp>
            <p:nvSpPr>
              <p:cNvPr id="131" name="Freeform 131"/>
              <p:cNvSpPr/>
              <p:nvPr/>
            </p:nvSpPr>
            <p:spPr>
              <a:xfrm>
                <a:off x="8264525" y="46339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132" name="Freeform 132"/>
              <p:cNvSpPr/>
              <p:nvPr/>
            </p:nvSpPr>
            <p:spPr>
              <a:xfrm>
                <a:off x="8193087" y="46339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133" name="Freeform 133"/>
              <p:cNvSpPr/>
              <p:nvPr/>
            </p:nvSpPr>
            <p:spPr>
              <a:xfrm>
                <a:off x="8224837" y="468153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34" name="Freeform 134"/>
              <p:cNvSpPr/>
              <p:nvPr/>
            </p:nvSpPr>
            <p:spPr>
              <a:xfrm>
                <a:off x="8224837" y="471328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135" name="Freeform 135"/>
              <p:cNvSpPr/>
              <p:nvPr/>
            </p:nvSpPr>
            <p:spPr>
              <a:xfrm>
                <a:off x="8224837" y="474503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137" name="TextBox 137"/>
            <p:cNvSpPr txBox="1"/>
            <p:nvPr/>
          </p:nvSpPr>
          <p:spPr>
            <a:xfrm>
              <a:off x="8510397" y="4561999"/>
              <a:ext cx="273761"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评价</a:t>
              </a:r>
            </a:p>
          </p:txBody>
        </p:sp>
        <p:sp>
          <p:nvSpPr>
            <p:cNvPr id="138" name="TextBox 138"/>
            <p:cNvSpPr txBox="1"/>
            <p:nvPr/>
          </p:nvSpPr>
          <p:spPr>
            <a:xfrm>
              <a:off x="8510588" y="4757738"/>
              <a:ext cx="71628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结果检视与考核</a:t>
              </a:r>
            </a:p>
          </p:txBody>
        </p:sp>
        <p:sp>
          <p:nvSpPr>
            <p:cNvPr id="139" name="Freeform 139"/>
            <p:cNvSpPr/>
            <p:nvPr/>
          </p:nvSpPr>
          <p:spPr>
            <a:xfrm>
              <a:off x="9582150" y="4638675"/>
              <a:ext cx="228600" cy="133350"/>
            </a:xfrm>
            <a:prstGeom prst="rightArrow">
              <a:avLst/>
            </a:prstGeom>
            <a:solidFill>
              <a:srgbClr val="C9604E"/>
            </a:solidFill>
            <a:ln>
              <a:noFill/>
            </a:ln>
          </p:spPr>
        </p:sp>
        <p:sp>
          <p:nvSpPr>
            <p:cNvPr id="140" name="Ellipse 140"/>
            <p:cNvSpPr/>
            <p:nvPr/>
          </p:nvSpPr>
          <p:spPr>
            <a:xfrm>
              <a:off x="9944100" y="4533900"/>
              <a:ext cx="342900" cy="342900"/>
            </a:xfrm>
            <a:prstGeom prst="ellipse">
              <a:avLst/>
            </a:prstGeom>
            <a:solidFill>
              <a:srgbClr val="A52D12"/>
            </a:solidFill>
            <a:ln>
              <a:noFill/>
            </a:ln>
          </p:spPr>
        </p:sp>
        <p:grpSp>
          <p:nvGrpSpPr>
            <p:cNvPr id="143" name="Group 143"/>
            <p:cNvGrpSpPr/>
            <p:nvPr/>
          </p:nvGrpSpPr>
          <p:grpSpPr>
            <a:xfrm>
              <a:off x="10044112" y="4665662"/>
              <a:ext cx="142875" cy="79375"/>
              <a:chOff x="10044112" y="4665662"/>
              <a:chExt cx="142875" cy="79375"/>
            </a:xfrm>
          </p:grpSpPr>
          <p:sp>
            <p:nvSpPr>
              <p:cNvPr id="141" name="Freeform 141"/>
              <p:cNvSpPr/>
              <p:nvPr/>
            </p:nvSpPr>
            <p:spPr>
              <a:xfrm>
                <a:off x="10044112" y="466566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142" name="Freeform 142"/>
              <p:cNvSpPr/>
              <p:nvPr/>
            </p:nvSpPr>
            <p:spPr>
              <a:xfrm>
                <a:off x="10131425" y="4665662"/>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144" name="TextBox 144"/>
            <p:cNvSpPr txBox="1"/>
            <p:nvPr/>
          </p:nvSpPr>
          <p:spPr>
            <a:xfrm>
              <a:off x="10377297" y="4561999"/>
              <a:ext cx="273761" cy="190690"/>
            </a:xfrm>
            <a:prstGeom prst="rect">
              <a:avLst/>
            </a:prstGeom>
            <a:noFill/>
            <a:ln>
              <a:noFill/>
            </a:ln>
          </p:spPr>
          <p:txBody>
            <a:bodyPr wrap="none" lIns="0" tIns="0" rIns="0" bIns="0" anchor="t" anchorCtr="0">
              <a:spAutoFit/>
            </a:bodyPr>
            <a:lstStyle/>
            <a:p>
              <a:pPr algn="l"/>
              <a:r>
                <a:rPr lang="zh-CN" sz="980" b="1" dirty="0">
                  <a:solidFill>
                    <a:srgbClr val="1F1F1F"/>
                  </a:solidFill>
                  <a:latin typeface="+mn-lt"/>
                  <a:ea typeface="+mn-ea"/>
                  <a:cs typeface="+mn-cs"/>
                </a:rPr>
                <a:t>提升</a:t>
              </a:r>
            </a:p>
          </p:txBody>
        </p:sp>
        <p:sp>
          <p:nvSpPr>
            <p:cNvPr id="145" name="TextBox 145"/>
            <p:cNvSpPr txBox="1"/>
            <p:nvPr/>
          </p:nvSpPr>
          <p:spPr>
            <a:xfrm>
              <a:off x="10377488" y="4757738"/>
              <a:ext cx="716280" cy="147638"/>
            </a:xfrm>
            <a:prstGeom prst="rect">
              <a:avLst/>
            </a:prstGeom>
            <a:noFill/>
            <a:ln>
              <a:noFill/>
            </a:ln>
          </p:spPr>
          <p:txBody>
            <a:bodyPr wrap="none" lIns="0" tIns="0" rIns="0" bIns="0" anchor="t" anchorCtr="0">
              <a:spAutoFit/>
            </a:bodyPr>
            <a:lstStyle/>
            <a:p>
              <a:pPr algn="l"/>
              <a:r>
                <a:rPr lang="zh-CN" sz="750" dirty="0">
                  <a:solidFill>
                    <a:srgbClr val="555555"/>
                  </a:solidFill>
                  <a:latin typeface="+mn-lt"/>
                  <a:ea typeface="+mn-ea"/>
                  <a:cs typeface="+mn-cs"/>
                </a:rPr>
                <a:t>复盘改进与优化</a:t>
              </a:r>
            </a:p>
          </p:txBody>
        </p:sp>
      </p:grpSp>
      <p:grpSp>
        <p:nvGrpSpPr>
          <p:cNvPr id="153" name="slogan-banner"/>
          <p:cNvGrpSpPr/>
          <p:nvPr/>
        </p:nvGrpSpPr>
        <p:grpSpPr>
          <a:xfrm>
            <a:off x="381000" y="5676900"/>
            <a:ext cx="11430000" cy="762000"/>
            <a:chOff x="381000" y="5676900"/>
            <a:chExt cx="11430000" cy="762000"/>
          </a:xfrm>
        </p:grpSpPr>
        <p:sp>
          <p:nvSpPr>
            <p:cNvPr id="147" name="Rectangle 147"/>
            <p:cNvSpPr/>
            <p:nvPr/>
          </p:nvSpPr>
          <p:spPr>
            <a:xfrm>
              <a:off x="381000" y="5676900"/>
              <a:ext cx="11430000" cy="762000"/>
            </a:xfrm>
            <a:prstGeom prst="rect">
              <a:avLst/>
            </a:prstGeom>
            <a:solidFill>
              <a:srgbClr val="A52D12"/>
            </a:solidFill>
            <a:ln>
              <a:noFill/>
            </a:ln>
          </p:spPr>
        </p:sp>
        <p:sp>
          <p:nvSpPr>
            <p:cNvPr id="148" name="Line 148"/>
            <p:cNvSpPr/>
            <p:nvPr/>
          </p:nvSpPr>
          <p:spPr>
            <a:xfrm>
              <a:off x="1428750" y="6057900"/>
              <a:ext cx="762000" cy="9525"/>
            </a:xfrm>
            <a:custGeom>
              <a:avLst/>
              <a:gdLst/>
              <a:ahLst/>
              <a:cxnLst/>
              <a:rect l="l" t="t" r="r" b="b"/>
              <a:pathLst>
                <a:path w="762000" h="9525">
                  <a:moveTo>
                    <a:pt x="0" y="0"/>
                  </a:moveTo>
                  <a:lnTo>
                    <a:pt x="762000" y="0"/>
                  </a:lnTo>
                </a:path>
              </a:pathLst>
            </a:custGeom>
            <a:noFill/>
            <a:ln w="19050">
              <a:solidFill>
                <a:srgbClr val="E8988A"/>
              </a:solidFill>
            </a:ln>
          </p:spPr>
        </p:sp>
        <p:sp>
          <p:nvSpPr>
            <p:cNvPr id="149" name="Ellipse 149"/>
            <p:cNvSpPr/>
            <p:nvPr/>
          </p:nvSpPr>
          <p:spPr>
            <a:xfrm>
              <a:off x="1295400" y="6019800"/>
              <a:ext cx="76200" cy="76200"/>
            </a:xfrm>
            <a:prstGeom prst="ellipse">
              <a:avLst/>
            </a:prstGeom>
            <a:solidFill>
              <a:srgbClr val="E8988A"/>
            </a:solidFill>
            <a:ln>
              <a:noFill/>
            </a:ln>
          </p:spPr>
        </p:sp>
        <p:sp>
          <p:nvSpPr>
            <p:cNvPr id="150" name="Line 150"/>
            <p:cNvSpPr/>
            <p:nvPr/>
          </p:nvSpPr>
          <p:spPr>
            <a:xfrm>
              <a:off x="10001250" y="6057900"/>
              <a:ext cx="762000" cy="9525"/>
            </a:xfrm>
            <a:custGeom>
              <a:avLst/>
              <a:gdLst/>
              <a:ahLst/>
              <a:cxnLst/>
              <a:rect l="l" t="t" r="r" b="b"/>
              <a:pathLst>
                <a:path w="762000" h="9525">
                  <a:moveTo>
                    <a:pt x="0" y="0"/>
                  </a:moveTo>
                  <a:lnTo>
                    <a:pt x="762000" y="0"/>
                  </a:lnTo>
                </a:path>
              </a:pathLst>
            </a:custGeom>
            <a:noFill/>
            <a:ln w="19050">
              <a:solidFill>
                <a:srgbClr val="E8988A"/>
              </a:solidFill>
            </a:ln>
          </p:spPr>
        </p:sp>
        <p:sp>
          <p:nvSpPr>
            <p:cNvPr id="151" name="Ellipse 151"/>
            <p:cNvSpPr/>
            <p:nvPr/>
          </p:nvSpPr>
          <p:spPr>
            <a:xfrm>
              <a:off x="10820400" y="6019800"/>
              <a:ext cx="76200" cy="76200"/>
            </a:xfrm>
            <a:prstGeom prst="ellipse">
              <a:avLst/>
            </a:prstGeom>
            <a:solidFill>
              <a:srgbClr val="E8988A"/>
            </a:solidFill>
            <a:ln>
              <a:noFill/>
            </a:ln>
          </p:spPr>
        </p:sp>
        <p:sp>
          <p:nvSpPr>
            <p:cNvPr id="152" name="TextBox 152"/>
            <p:cNvSpPr txBox="1"/>
            <p:nvPr/>
          </p:nvSpPr>
          <p:spPr>
            <a:xfrm>
              <a:off x="3540227" y="5957411"/>
              <a:ext cx="5111547" cy="337376"/>
            </a:xfrm>
            <a:prstGeom prst="rect">
              <a:avLst/>
            </a:prstGeom>
            <a:noFill/>
            <a:ln>
              <a:noFill/>
            </a:ln>
          </p:spPr>
          <p:txBody>
            <a:bodyPr wrap="none" lIns="0" tIns="0" rIns="0" bIns="0" anchor="t" anchorCtr="0">
              <a:spAutoFit/>
            </a:bodyPr>
            <a:lstStyle/>
            <a:p>
              <a:pPr algn="ctr"/>
              <a:r>
                <a:rPr lang="zh-CN" sz="1720" b="1" dirty="0">
                  <a:solidFill>
                    <a:srgbClr val="FFFFFF"/>
                  </a:solidFill>
                  <a:latin typeface="+mn-lt"/>
                  <a:ea typeface="+mn-ea"/>
                  <a:cs typeface="+mn-cs"/>
                </a:rPr>
                <a:t>以钉钉子精神把每项任务落到</a:t>
              </a:r>
              <a:r>
                <a:rPr lang="zh-CN" sz="1720" b="1" dirty="0">
                  <a:solidFill>
                    <a:srgbClr val="E8988A"/>
                  </a:solidFill>
                  <a:latin typeface="+mn-lt"/>
                  <a:ea typeface="+mn-ea"/>
                  <a:cs typeface="+mn-cs"/>
                </a:rPr>
                <a:t>指标、客户和项目</a:t>
              </a:r>
              <a:r>
                <a:rPr lang="zh-CN" sz="1720" b="1" dirty="0">
                  <a:solidFill>
                    <a:srgbClr val="FFFFFF"/>
                  </a:solidFill>
                  <a:latin typeface="+mn-lt"/>
                  <a:ea typeface="+mn-ea"/>
                  <a:cs typeface="+mn-cs"/>
                </a:rPr>
                <a:t>。</a:t>
              </a:r>
            </a:p>
          </p:txBody>
        </p:sp>
      </p:gr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nd-topband"/>
          <p:cNvSpPr/>
          <p:nvPr/>
        </p:nvSpPr>
        <p:spPr>
          <a:xfrm>
            <a:off x="0" y="0"/>
            <a:ext cx="12192000" cy="342900"/>
          </a:xfrm>
          <a:prstGeom prst="rect">
            <a:avLst/>
          </a:prstGeom>
          <a:solidFill>
            <a:srgbClr val="9A290F"/>
          </a:solidFill>
          <a:ln>
            <a:noFill/>
          </a:ln>
        </p:spPr>
      </p:sp>
      <p:sp>
        <p:nvSpPr>
          <p:cNvPr id="3" name="end-page-num"/>
          <p:cNvSpPr txBox="1"/>
          <p:nvPr/>
        </p:nvSpPr>
        <p:spPr>
          <a:xfrm>
            <a:off x="10928558" y="132874"/>
            <a:ext cx="849295" cy="190690"/>
          </a:xfrm>
          <a:prstGeom prst="rect">
            <a:avLst/>
          </a:prstGeom>
          <a:noFill/>
          <a:ln>
            <a:noFill/>
          </a:ln>
        </p:spPr>
        <p:txBody>
          <a:bodyPr wrap="none" lIns="0" tIns="0" rIns="0" bIns="0" anchor="t" anchorCtr="0">
            <a:spAutoFit/>
          </a:bodyPr>
          <a:lstStyle/>
          <a:p>
            <a:pPr algn="r"/>
            <a:r>
              <a:rPr lang="zh-CN" sz="980" b="1" dirty="0">
                <a:solidFill>
                  <a:srgbClr val="FFFFFF"/>
                </a:solidFill>
                <a:latin typeface="+mn-lt"/>
                <a:ea typeface="+mn-ea"/>
                <a:cs typeface="+mn-cs"/>
              </a:rPr>
              <a:t>结束页 丨 18​</a:t>
            </a:r>
          </a:p>
        </p:txBody>
      </p:sp>
      <p:grpSp>
        <p:nvGrpSpPr>
          <p:cNvPr id="6" name="end-title"/>
          <p:cNvGrpSpPr/>
          <p:nvPr/>
        </p:nvGrpSpPr>
        <p:grpSpPr>
          <a:xfrm>
            <a:off x="599694" y="894398"/>
            <a:ext cx="7972806" cy="391477"/>
            <a:chOff x="599694" y="894398"/>
            <a:chExt cx="7972806" cy="391477"/>
          </a:xfrm>
        </p:grpSpPr>
        <p:sp>
          <p:nvSpPr>
            <p:cNvPr id="4" name="TextBox 4"/>
            <p:cNvSpPr txBox="1"/>
            <p:nvPr/>
          </p:nvSpPr>
          <p:spPr>
            <a:xfrm>
              <a:off x="599694" y="894398"/>
              <a:ext cx="5795010" cy="381381"/>
            </a:xfrm>
            <a:prstGeom prst="rect">
              <a:avLst/>
            </a:prstGeom>
            <a:noFill/>
            <a:ln>
              <a:noFill/>
            </a:ln>
          </p:spPr>
          <p:txBody>
            <a:bodyPr wrap="none" lIns="0" tIns="0" rIns="0" bIns="0" anchor="t" anchorCtr="0">
              <a:spAutoFit/>
            </a:bodyPr>
            <a:lstStyle/>
            <a:p>
              <a:pPr algn="l"/>
              <a:r>
                <a:rPr lang="zh-CN" sz="1950" b="1" dirty="0">
                  <a:solidFill>
                    <a:srgbClr val="A52D12"/>
                  </a:solidFill>
                  <a:latin typeface="+mn-lt"/>
                  <a:ea typeface="+mn-ea"/>
                  <a:cs typeface="+mn-cs"/>
                </a:rPr>
                <a:t>坚定信心、实干担当，全力完成全年经营发展目标</a:t>
              </a:r>
            </a:p>
          </p:txBody>
        </p:sp>
        <p:sp>
          <p:nvSpPr>
            <p:cNvPr id="5" name="Line 5"/>
            <p:cNvSpPr/>
            <p:nvPr/>
          </p:nvSpPr>
          <p:spPr>
            <a:xfrm>
              <a:off x="609600" y="1276350"/>
              <a:ext cx="7962900" cy="9525"/>
            </a:xfrm>
            <a:custGeom>
              <a:avLst/>
              <a:gdLst/>
              <a:ahLst/>
              <a:cxnLst/>
              <a:rect l="l" t="t" r="r" b="b"/>
              <a:pathLst>
                <a:path w="7962900" h="9525">
                  <a:moveTo>
                    <a:pt x="0" y="0"/>
                  </a:moveTo>
                  <a:lnTo>
                    <a:pt x="7962900" y="0"/>
                  </a:lnTo>
                </a:path>
              </a:pathLst>
            </a:custGeom>
            <a:noFill/>
            <a:ln w="11430">
              <a:solidFill>
                <a:srgbClr val="C9604E"/>
              </a:solidFill>
            </a:ln>
          </p:spPr>
        </p:sp>
      </p:grpSp>
      <p:grpSp>
        <p:nvGrpSpPr>
          <p:cNvPr id="13" name="end-recap"/>
          <p:cNvGrpSpPr/>
          <p:nvPr/>
        </p:nvGrpSpPr>
        <p:grpSpPr>
          <a:xfrm>
            <a:off x="1762125" y="1800225"/>
            <a:ext cx="6565829" cy="311753"/>
            <a:chOff x="1762125" y="1800225"/>
            <a:chExt cx="6565829" cy="311753"/>
          </a:xfrm>
        </p:grpSpPr>
        <p:sp>
          <p:nvSpPr>
            <p:cNvPr id="7" name="Ellipse 7"/>
            <p:cNvSpPr/>
            <p:nvPr/>
          </p:nvSpPr>
          <p:spPr>
            <a:xfrm>
              <a:off x="1762125" y="1800225"/>
              <a:ext cx="285750" cy="285750"/>
            </a:xfrm>
            <a:prstGeom prst="ellipse">
              <a:avLst/>
            </a:prstGeom>
            <a:solidFill>
              <a:srgbClr val="A52D12"/>
            </a:solidFill>
            <a:ln>
              <a:noFill/>
            </a:ln>
          </p:spPr>
        </p:sp>
        <p:grpSp>
          <p:nvGrpSpPr>
            <p:cNvPr id="11" name="Group 11"/>
            <p:cNvGrpSpPr/>
            <p:nvPr/>
          </p:nvGrpSpPr>
          <p:grpSpPr>
            <a:xfrm>
              <a:off x="1840706" y="1878806"/>
              <a:ext cx="128588" cy="128588"/>
              <a:chOff x="1840706" y="1878806"/>
              <a:chExt cx="128588" cy="128588"/>
            </a:xfrm>
          </p:grpSpPr>
          <p:sp>
            <p:nvSpPr>
              <p:cNvPr id="8" name="Freeform 8"/>
              <p:cNvSpPr/>
              <p:nvPr/>
            </p:nvSpPr>
            <p:spPr>
              <a:xfrm>
                <a:off x="1897856" y="19359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9" name="Freeform 9"/>
              <p:cNvSpPr/>
              <p:nvPr/>
            </p:nvSpPr>
            <p:spPr>
              <a:xfrm>
                <a:off x="1869281" y="19073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10" name="Freeform 10"/>
              <p:cNvSpPr/>
              <p:nvPr/>
            </p:nvSpPr>
            <p:spPr>
              <a:xfrm>
                <a:off x="1840706" y="18788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12" name="TextBox 12"/>
            <p:cNvSpPr txBox="1"/>
            <p:nvPr/>
          </p:nvSpPr>
          <p:spPr>
            <a:xfrm>
              <a:off x="2146173" y="1862614"/>
              <a:ext cx="6181781" cy="249364"/>
            </a:xfrm>
            <a:prstGeom prst="rect">
              <a:avLst/>
            </a:prstGeom>
            <a:noFill/>
            <a:ln>
              <a:noFill/>
            </a:ln>
          </p:spPr>
          <p:txBody>
            <a:bodyPr wrap="none" lIns="0" tIns="0" rIns="0" bIns="0" anchor="t" anchorCtr="0">
              <a:spAutoFit/>
            </a:bodyPr>
            <a:lstStyle/>
            <a:p>
              <a:pPr algn="l"/>
              <a:r>
                <a:rPr lang="zh-CN" sz="1280" b="1" dirty="0">
                  <a:solidFill>
                    <a:srgbClr val="A52D12"/>
                  </a:solidFill>
                  <a:latin typeface="+mn-lt"/>
                  <a:ea typeface="+mn-ea"/>
                  <a:cs typeface="+mn-cs"/>
                </a:rPr>
                <a:t>核心收束语：</a:t>
              </a:r>
              <a:r>
                <a:rPr lang="zh-CN" sz="1280" dirty="0">
                  <a:solidFill>
                    <a:srgbClr val="3A3A3A"/>
                  </a:solidFill>
                  <a:latin typeface="+mn-lt"/>
                  <a:ea typeface="+mn-ea"/>
                  <a:cs typeface="+mn-cs"/>
                </a:rPr>
                <a:t xml:space="preserve">聚焦主责主业 </a:t>
              </a:r>
              <a:r>
                <a:rPr lang="zh-CN" sz="1280" dirty="0">
                  <a:solidFill>
                    <a:srgbClr val="C9604E"/>
                  </a:solidFill>
                  <a:latin typeface="+mn-lt"/>
                  <a:ea typeface="+mn-ea"/>
                  <a:cs typeface="+mn-cs"/>
                </a:rPr>
                <a:t>丨</a:t>
              </a:r>
              <a:r>
                <a:rPr lang="zh-CN" sz="1280" dirty="0">
                  <a:solidFill>
                    <a:srgbClr val="3A3A3A"/>
                  </a:solidFill>
                  <a:latin typeface="+mn-lt"/>
                  <a:ea typeface="+mn-ea"/>
                  <a:cs typeface="+mn-cs"/>
                </a:rPr>
                <a:t xml:space="preserve"> 深化精细管理 </a:t>
              </a:r>
              <a:r>
                <a:rPr lang="zh-CN" sz="1280" dirty="0">
                  <a:solidFill>
                    <a:srgbClr val="C9604E"/>
                  </a:solidFill>
                  <a:latin typeface="+mn-lt"/>
                  <a:ea typeface="+mn-ea"/>
                  <a:cs typeface="+mn-cs"/>
                </a:rPr>
                <a:t>丨</a:t>
              </a:r>
              <a:r>
                <a:rPr lang="zh-CN" sz="1280" dirty="0">
                  <a:solidFill>
                    <a:srgbClr val="3A3A3A"/>
                  </a:solidFill>
                  <a:latin typeface="+mn-lt"/>
                  <a:ea typeface="+mn-ea"/>
                  <a:cs typeface="+mn-cs"/>
                </a:rPr>
                <a:t xml:space="preserve"> 加快数字转型 </a:t>
              </a:r>
              <a:r>
                <a:rPr lang="zh-CN" sz="1280" dirty="0">
                  <a:solidFill>
                    <a:srgbClr val="C9604E"/>
                  </a:solidFill>
                  <a:latin typeface="+mn-lt"/>
                  <a:ea typeface="+mn-ea"/>
                  <a:cs typeface="+mn-cs"/>
                </a:rPr>
                <a:t>丨</a:t>
              </a:r>
              <a:r>
                <a:rPr lang="zh-CN" sz="1280" dirty="0">
                  <a:solidFill>
                    <a:srgbClr val="3A3A3A"/>
                  </a:solidFill>
                  <a:latin typeface="+mn-lt"/>
                  <a:ea typeface="+mn-ea"/>
                  <a:cs typeface="+mn-cs"/>
                </a:rPr>
                <a:t xml:space="preserve"> 筑牢风险底线。</a:t>
              </a:r>
            </a:p>
          </p:txBody>
        </p:sp>
      </p:grpSp>
      <p:grpSp>
        <p:nvGrpSpPr>
          <p:cNvPr id="15" name="end-slogan"/>
          <p:cNvGrpSpPr/>
          <p:nvPr/>
        </p:nvGrpSpPr>
        <p:grpSpPr>
          <a:xfrm>
            <a:off x="956310" y="2867025"/>
            <a:ext cx="10279380" cy="876300"/>
            <a:chOff x="956310" y="2867025"/>
            <a:chExt cx="10279380" cy="876300"/>
          </a:xfrm>
        </p:grpSpPr>
        <p:sp>
          <p:nvSpPr>
            <p:cNvPr id="14" name="TextBox 14"/>
            <p:cNvSpPr txBox="1"/>
            <p:nvPr/>
          </p:nvSpPr>
          <p:spPr>
            <a:xfrm>
              <a:off x="956310" y="2867025"/>
              <a:ext cx="10279380" cy="876300"/>
            </a:xfrm>
            <a:prstGeom prst="rect">
              <a:avLst/>
            </a:prstGeom>
            <a:noFill/>
            <a:ln>
              <a:noFill/>
            </a:ln>
          </p:spPr>
          <p:txBody>
            <a:bodyPr wrap="none" lIns="0" tIns="0" rIns="0" bIns="0" anchor="t" anchorCtr="0">
              <a:spAutoFit/>
            </a:bodyPr>
            <a:lstStyle/>
            <a:p>
              <a:pPr algn="ctr"/>
              <a:r>
                <a:rPr lang="zh-CN" sz="4500" b="1" dirty="0">
                  <a:solidFill>
                    <a:srgbClr val="A52D12"/>
                  </a:solidFill>
                  <a:latin typeface="SimSun"/>
                  <a:ea typeface="SimSun"/>
                  <a:cs typeface="SimSun"/>
                </a:rPr>
                <a:t>凝心聚力抓落实，奋楫笃行开新局。</a:t>
              </a:r>
            </a:p>
          </p:txBody>
        </p:sp>
      </p:grpSp>
      <p:grpSp>
        <p:nvGrpSpPr>
          <p:cNvPr id="37" name="end-art"/>
          <p:cNvGrpSpPr/>
          <p:nvPr/>
        </p:nvGrpSpPr>
        <p:grpSpPr>
          <a:xfrm>
            <a:off x="0" y="3619500"/>
            <a:ext cx="12192000" cy="3238500"/>
            <a:chOff x="0" y="3619500"/>
            <a:chExt cx="12192000" cy="3238500"/>
          </a:xfrm>
        </p:grpSpPr>
        <p:sp>
          <p:nvSpPr>
            <p:cNvPr id="16" name="Rectangle 16"/>
            <p:cNvSpPr/>
            <p:nvPr/>
          </p:nvSpPr>
          <p:spPr>
            <a:xfrm>
              <a:off x="2857500" y="3810000"/>
              <a:ext cx="6477000" cy="1905000"/>
            </a:xfrm>
            <a:prstGeom prst="rect">
              <a:avLst/>
            </a:prstGeom>
            <a:gradFill>
              <a:gsLst>
                <a:gs pos="0">
                  <a:srgbClr val="FFFFFF">
                    <a:alpha val="0"/>
                  </a:srgbClr>
                </a:gs>
                <a:gs pos="100000">
                  <a:srgbClr val="F6BAB0">
                    <a:alpha val="55000"/>
                  </a:srgbClr>
                </a:gs>
              </a:gsLst>
              <a:lin ang="5400000" scaled="1"/>
            </a:gradFill>
            <a:ln>
              <a:noFill/>
            </a:ln>
          </p:spPr>
        </p:sp>
        <p:grpSp>
          <p:nvGrpSpPr>
            <p:cNvPr id="30" name="end-skyline"/>
            <p:cNvGrpSpPr/>
            <p:nvPr/>
          </p:nvGrpSpPr>
          <p:grpSpPr>
            <a:xfrm>
              <a:off x="3619500" y="3619500"/>
              <a:ext cx="4857750" cy="2095500"/>
              <a:chOff x="3619500" y="3619500"/>
              <a:chExt cx="4857750" cy="2095500"/>
            </a:xfrm>
          </p:grpSpPr>
          <p:sp>
            <p:nvSpPr>
              <p:cNvPr id="17" name="Rectangle 17"/>
              <p:cNvSpPr/>
              <p:nvPr/>
            </p:nvSpPr>
            <p:spPr>
              <a:xfrm>
                <a:off x="3619500" y="4953000"/>
                <a:ext cx="247650" cy="762000"/>
              </a:xfrm>
              <a:prstGeom prst="rect">
                <a:avLst/>
              </a:prstGeom>
              <a:solidFill>
                <a:srgbClr val="C9604E">
                  <a:alpha val="55000"/>
                </a:srgbClr>
              </a:solidFill>
              <a:ln>
                <a:noFill/>
              </a:ln>
            </p:spPr>
          </p:sp>
          <p:sp>
            <p:nvSpPr>
              <p:cNvPr id="18" name="Rectangle 18"/>
              <p:cNvSpPr/>
              <p:nvPr/>
            </p:nvSpPr>
            <p:spPr>
              <a:xfrm>
                <a:off x="3962400" y="4667250"/>
                <a:ext cx="323850" cy="1047750"/>
              </a:xfrm>
              <a:prstGeom prst="rect">
                <a:avLst/>
              </a:prstGeom>
              <a:solidFill>
                <a:srgbClr val="C9604E">
                  <a:alpha val="65000"/>
                </a:srgbClr>
              </a:solidFill>
              <a:ln>
                <a:noFill/>
              </a:ln>
            </p:spPr>
          </p:sp>
          <p:sp>
            <p:nvSpPr>
              <p:cNvPr id="19" name="Rectangle 19"/>
              <p:cNvSpPr/>
              <p:nvPr/>
            </p:nvSpPr>
            <p:spPr>
              <a:xfrm>
                <a:off x="4381500" y="4762500"/>
                <a:ext cx="209550" cy="952500"/>
              </a:xfrm>
              <a:prstGeom prst="rect">
                <a:avLst/>
              </a:prstGeom>
              <a:solidFill>
                <a:srgbClr val="C9604E">
                  <a:alpha val="50000"/>
                </a:srgbClr>
              </a:solidFill>
              <a:ln>
                <a:noFill/>
              </a:ln>
            </p:spPr>
          </p:sp>
          <p:sp>
            <p:nvSpPr>
              <p:cNvPr id="20" name="Rectangle 20"/>
              <p:cNvSpPr/>
              <p:nvPr/>
            </p:nvSpPr>
            <p:spPr>
              <a:xfrm>
                <a:off x="4686300" y="4381500"/>
                <a:ext cx="381000" cy="1333500"/>
              </a:xfrm>
              <a:prstGeom prst="rect">
                <a:avLst/>
              </a:prstGeom>
              <a:solidFill>
                <a:srgbClr val="C9604E">
                  <a:alpha val="70000"/>
                </a:srgbClr>
              </a:solidFill>
              <a:ln>
                <a:noFill/>
              </a:ln>
            </p:spPr>
          </p:sp>
          <p:sp>
            <p:nvSpPr>
              <p:cNvPr id="21" name="Rectangle 21"/>
              <p:cNvSpPr/>
              <p:nvPr/>
            </p:nvSpPr>
            <p:spPr>
              <a:xfrm>
                <a:off x="5162550" y="4572000"/>
                <a:ext cx="266700" cy="1143000"/>
              </a:xfrm>
              <a:prstGeom prst="rect">
                <a:avLst/>
              </a:prstGeom>
              <a:solidFill>
                <a:srgbClr val="C9604E">
                  <a:alpha val="55000"/>
                </a:srgbClr>
              </a:solidFill>
              <a:ln>
                <a:noFill/>
              </a:ln>
            </p:spPr>
          </p:sp>
          <p:sp>
            <p:nvSpPr>
              <p:cNvPr id="22" name="Rectangle 22"/>
              <p:cNvSpPr/>
              <p:nvPr/>
            </p:nvSpPr>
            <p:spPr>
              <a:xfrm>
                <a:off x="5524500" y="3905250"/>
                <a:ext cx="419100" cy="1809750"/>
              </a:xfrm>
              <a:prstGeom prst="rect">
                <a:avLst/>
              </a:prstGeom>
              <a:solidFill>
                <a:srgbClr val="C9604E">
                  <a:alpha val="80000"/>
                </a:srgbClr>
              </a:solidFill>
              <a:ln>
                <a:noFill/>
              </a:ln>
            </p:spPr>
          </p:sp>
          <p:sp>
            <p:nvSpPr>
              <p:cNvPr id="23" name="Polygon 23"/>
              <p:cNvSpPr/>
              <p:nvPr/>
            </p:nvSpPr>
            <p:spPr>
              <a:xfrm>
                <a:off x="5524500" y="3619500"/>
                <a:ext cx="419100" cy="285750"/>
              </a:xfrm>
              <a:custGeom>
                <a:avLst/>
                <a:gdLst/>
                <a:ahLst/>
                <a:cxnLst/>
                <a:rect l="l" t="t" r="r" b="b"/>
                <a:pathLst>
                  <a:path w="419100" h="285750">
                    <a:moveTo>
                      <a:pt x="209550" y="0"/>
                    </a:moveTo>
                    <a:lnTo>
                      <a:pt x="0" y="285750"/>
                    </a:lnTo>
                    <a:lnTo>
                      <a:pt x="419100" y="285750"/>
                    </a:lnTo>
                    <a:close/>
                  </a:path>
                </a:pathLst>
              </a:custGeom>
              <a:solidFill>
                <a:srgbClr val="C9604E">
                  <a:alpha val="80000"/>
                </a:srgbClr>
              </a:solidFill>
              <a:ln>
                <a:noFill/>
              </a:ln>
            </p:spPr>
          </p:sp>
          <p:sp>
            <p:nvSpPr>
              <p:cNvPr id="24" name="Rectangle 24"/>
              <p:cNvSpPr/>
              <p:nvPr/>
            </p:nvSpPr>
            <p:spPr>
              <a:xfrm>
                <a:off x="6038850" y="4191000"/>
                <a:ext cx="285750" cy="1524000"/>
              </a:xfrm>
              <a:prstGeom prst="rect">
                <a:avLst/>
              </a:prstGeom>
              <a:solidFill>
                <a:srgbClr val="C9604E">
                  <a:alpha val="60000"/>
                </a:srgbClr>
              </a:solidFill>
              <a:ln>
                <a:noFill/>
              </a:ln>
            </p:spPr>
          </p:sp>
          <p:sp>
            <p:nvSpPr>
              <p:cNvPr id="25" name="Rectangle 25"/>
              <p:cNvSpPr/>
              <p:nvPr/>
            </p:nvSpPr>
            <p:spPr>
              <a:xfrm>
                <a:off x="6419850" y="4476750"/>
                <a:ext cx="342900" cy="1238250"/>
              </a:xfrm>
              <a:prstGeom prst="rect">
                <a:avLst/>
              </a:prstGeom>
              <a:solidFill>
                <a:srgbClr val="C9604E">
                  <a:alpha val="70000"/>
                </a:srgbClr>
              </a:solidFill>
              <a:ln>
                <a:noFill/>
              </a:ln>
            </p:spPr>
          </p:sp>
          <p:sp>
            <p:nvSpPr>
              <p:cNvPr id="26" name="Rectangle 26"/>
              <p:cNvSpPr/>
              <p:nvPr/>
            </p:nvSpPr>
            <p:spPr>
              <a:xfrm>
                <a:off x="6858000" y="4095750"/>
                <a:ext cx="438150" cy="1619250"/>
              </a:xfrm>
              <a:prstGeom prst="rect">
                <a:avLst/>
              </a:prstGeom>
              <a:solidFill>
                <a:srgbClr val="C9604E">
                  <a:alpha val="75000"/>
                </a:srgbClr>
              </a:solidFill>
              <a:ln>
                <a:noFill/>
              </a:ln>
            </p:spPr>
          </p:sp>
          <p:sp>
            <p:nvSpPr>
              <p:cNvPr id="27" name="Rectangle 27"/>
              <p:cNvSpPr/>
              <p:nvPr/>
            </p:nvSpPr>
            <p:spPr>
              <a:xfrm>
                <a:off x="7391400" y="4667250"/>
                <a:ext cx="285750" cy="1047750"/>
              </a:xfrm>
              <a:prstGeom prst="rect">
                <a:avLst/>
              </a:prstGeom>
              <a:solidFill>
                <a:srgbClr val="C9604E">
                  <a:alpha val="55000"/>
                </a:srgbClr>
              </a:solidFill>
              <a:ln>
                <a:noFill/>
              </a:ln>
            </p:spPr>
          </p:sp>
          <p:sp>
            <p:nvSpPr>
              <p:cNvPr id="28" name="Rectangle 28"/>
              <p:cNvSpPr/>
              <p:nvPr/>
            </p:nvSpPr>
            <p:spPr>
              <a:xfrm>
                <a:off x="7772400" y="4476750"/>
                <a:ext cx="361950" cy="1238250"/>
              </a:xfrm>
              <a:prstGeom prst="rect">
                <a:avLst/>
              </a:prstGeom>
              <a:solidFill>
                <a:srgbClr val="C9604E">
                  <a:alpha val="65000"/>
                </a:srgbClr>
              </a:solidFill>
              <a:ln>
                <a:noFill/>
              </a:ln>
            </p:spPr>
          </p:sp>
          <p:sp>
            <p:nvSpPr>
              <p:cNvPr id="29" name="Rectangle 29"/>
              <p:cNvSpPr/>
              <p:nvPr/>
            </p:nvSpPr>
            <p:spPr>
              <a:xfrm>
                <a:off x="8229600" y="4857750"/>
                <a:ext cx="247650" cy="857250"/>
              </a:xfrm>
              <a:prstGeom prst="rect">
                <a:avLst/>
              </a:prstGeom>
              <a:solidFill>
                <a:srgbClr val="C9604E">
                  <a:alpha val="50000"/>
                </a:srgbClr>
              </a:solidFill>
              <a:ln>
                <a:noFill/>
              </a:ln>
            </p:spPr>
          </p:sp>
        </p:grpSp>
        <p:sp>
          <p:nvSpPr>
            <p:cNvPr id="31" name="Freeform 31"/>
            <p:cNvSpPr/>
            <p:nvPr/>
          </p:nvSpPr>
          <p:spPr>
            <a:xfrm>
              <a:off x="0" y="4286250"/>
              <a:ext cx="12192000" cy="2571750"/>
            </a:xfrm>
            <a:custGeom>
              <a:avLst/>
              <a:gdLst/>
              <a:ahLst/>
              <a:cxnLst/>
              <a:rect l="l" t="t" r="r" b="b"/>
              <a:pathLst>
                <a:path w="12192000" h="2571750">
                  <a:moveTo>
                    <a:pt x="0" y="1047750"/>
                  </a:moveTo>
                  <a:cubicBezTo>
                    <a:pt x="2476500" y="190500"/>
                    <a:pt x="4572000" y="1809750"/>
                    <a:pt x="6286500" y="1524000"/>
                  </a:cubicBezTo>
                  <a:cubicBezTo>
                    <a:pt x="8001000" y="1238250"/>
                    <a:pt x="9906000" y="0"/>
                    <a:pt x="12192000" y="857250"/>
                  </a:cubicBezTo>
                  <a:lnTo>
                    <a:pt x="12192000" y="2571750"/>
                  </a:lnTo>
                  <a:lnTo>
                    <a:pt x="0" y="2571750"/>
                  </a:lnTo>
                  <a:close/>
                </a:path>
              </a:pathLst>
            </a:custGeom>
            <a:solidFill>
              <a:srgbClr val="C0412B">
                <a:alpha val="75000"/>
              </a:srgbClr>
            </a:solidFill>
            <a:ln>
              <a:noFill/>
            </a:ln>
          </p:spPr>
        </p:sp>
        <p:sp>
          <p:nvSpPr>
            <p:cNvPr id="32" name="Freeform 32"/>
            <p:cNvSpPr/>
            <p:nvPr/>
          </p:nvSpPr>
          <p:spPr>
            <a:xfrm>
              <a:off x="0" y="5143500"/>
              <a:ext cx="12192000" cy="1714500"/>
            </a:xfrm>
            <a:custGeom>
              <a:avLst/>
              <a:gdLst/>
              <a:ahLst/>
              <a:cxnLst/>
              <a:rect l="l" t="t" r="r" b="b"/>
              <a:pathLst>
                <a:path w="12192000" h="1714500">
                  <a:moveTo>
                    <a:pt x="0" y="571500"/>
                  </a:moveTo>
                  <a:cubicBezTo>
                    <a:pt x="2857500" y="0"/>
                    <a:pt x="4953000" y="1428750"/>
                    <a:pt x="6858000" y="1047750"/>
                  </a:cubicBezTo>
                  <a:cubicBezTo>
                    <a:pt x="8572500" y="714375"/>
                    <a:pt x="10287000" y="190500"/>
                    <a:pt x="12192000" y="476250"/>
                  </a:cubicBezTo>
                  <a:lnTo>
                    <a:pt x="12192000" y="1714500"/>
                  </a:lnTo>
                  <a:lnTo>
                    <a:pt x="0" y="1714500"/>
                  </a:lnTo>
                  <a:close/>
                </a:path>
              </a:pathLst>
            </a:custGeom>
            <a:gradFill>
              <a:gsLst>
                <a:gs pos="0">
                  <a:srgbClr val="C0412B"/>
                </a:gs>
                <a:gs pos="100000">
                  <a:srgbClr val="8E240C"/>
                </a:gs>
              </a:gsLst>
              <a:lin ang="5400000" scaled="1"/>
            </a:gradFill>
            <a:ln>
              <a:noFill/>
            </a:ln>
          </p:spPr>
        </p:sp>
        <p:sp>
          <p:nvSpPr>
            <p:cNvPr id="33" name="Freeform 33"/>
            <p:cNvSpPr/>
            <p:nvPr/>
          </p:nvSpPr>
          <p:spPr>
            <a:xfrm>
              <a:off x="0" y="5810250"/>
              <a:ext cx="12192000" cy="1047750"/>
            </a:xfrm>
            <a:custGeom>
              <a:avLst/>
              <a:gdLst/>
              <a:ahLst/>
              <a:cxnLst/>
              <a:rect l="l" t="t" r="r" b="b"/>
              <a:pathLst>
                <a:path w="12192000" h="1047750">
                  <a:moveTo>
                    <a:pt x="0" y="476250"/>
                  </a:moveTo>
                  <a:cubicBezTo>
                    <a:pt x="2667000" y="0"/>
                    <a:pt x="5334000" y="857250"/>
                    <a:pt x="7810500" y="666750"/>
                  </a:cubicBezTo>
                  <a:cubicBezTo>
                    <a:pt x="9525000" y="523875"/>
                    <a:pt x="11049000" y="285750"/>
                    <a:pt x="12192000" y="381000"/>
                  </a:cubicBezTo>
                  <a:lnTo>
                    <a:pt x="12192000" y="1047750"/>
                  </a:lnTo>
                  <a:lnTo>
                    <a:pt x="0" y="1047750"/>
                  </a:lnTo>
                  <a:close/>
                </a:path>
              </a:pathLst>
            </a:custGeom>
            <a:solidFill>
              <a:srgbClr val="8E240C"/>
            </a:solidFill>
            <a:ln>
              <a:noFill/>
            </a:ln>
          </p:spPr>
        </p:sp>
        <p:sp>
          <p:nvSpPr>
            <p:cNvPr id="34" name="Line 34"/>
            <p:cNvSpPr/>
            <p:nvPr/>
          </p:nvSpPr>
          <p:spPr>
            <a:xfrm>
              <a:off x="3810000" y="6572250"/>
              <a:ext cx="666750" cy="9525"/>
            </a:xfrm>
            <a:custGeom>
              <a:avLst/>
              <a:gdLst/>
              <a:ahLst/>
              <a:cxnLst/>
              <a:rect l="l" t="t" r="r" b="b"/>
              <a:pathLst>
                <a:path w="666750" h="9525">
                  <a:moveTo>
                    <a:pt x="0" y="0"/>
                  </a:moveTo>
                  <a:lnTo>
                    <a:pt x="666750" y="0"/>
                  </a:lnTo>
                </a:path>
              </a:pathLst>
            </a:custGeom>
            <a:noFill/>
            <a:ln w="9525">
              <a:solidFill>
                <a:srgbClr val="E8988A"/>
              </a:solidFill>
            </a:ln>
          </p:spPr>
        </p:sp>
        <p:sp>
          <p:nvSpPr>
            <p:cNvPr id="35" name="Line 35"/>
            <p:cNvSpPr/>
            <p:nvPr/>
          </p:nvSpPr>
          <p:spPr>
            <a:xfrm>
              <a:off x="7715250" y="6572250"/>
              <a:ext cx="666750" cy="9525"/>
            </a:xfrm>
            <a:custGeom>
              <a:avLst/>
              <a:gdLst/>
              <a:ahLst/>
              <a:cxnLst/>
              <a:rect l="l" t="t" r="r" b="b"/>
              <a:pathLst>
                <a:path w="666750" h="9525">
                  <a:moveTo>
                    <a:pt x="0" y="0"/>
                  </a:moveTo>
                  <a:lnTo>
                    <a:pt x="666750" y="0"/>
                  </a:lnTo>
                </a:path>
              </a:pathLst>
            </a:custGeom>
            <a:noFill/>
            <a:ln w="9525">
              <a:solidFill>
                <a:srgbClr val="E8988A"/>
              </a:solidFill>
            </a:ln>
          </p:spPr>
        </p:sp>
        <p:sp>
          <p:nvSpPr>
            <p:cNvPr id="36" name="TextBox 36"/>
            <p:cNvSpPr txBox="1"/>
            <p:nvPr/>
          </p:nvSpPr>
          <p:spPr>
            <a:xfrm>
              <a:off x="4863762" y="6510576"/>
              <a:ext cx="2464477" cy="198025"/>
            </a:xfrm>
            <a:prstGeom prst="rect">
              <a:avLst/>
            </a:prstGeom>
            <a:noFill/>
            <a:ln>
              <a:noFill/>
            </a:ln>
          </p:spPr>
          <p:txBody>
            <a:bodyPr wrap="none" lIns="0" tIns="0" rIns="0" bIns="0" anchor="t" anchorCtr="0">
              <a:spAutoFit/>
            </a:bodyPr>
            <a:lstStyle/>
            <a:p>
              <a:pPr algn="ctr"/>
              <a:r>
                <a:rPr lang="zh-CN" sz="1010" dirty="0">
                  <a:solidFill>
                    <a:srgbClr val="FFFFFF"/>
                  </a:solidFill>
                  <a:latin typeface="+mn-lt"/>
                  <a:ea typeface="+mn-ea"/>
                  <a:cs typeface="+mn-cs"/>
                </a:rPr>
                <a:t>某国有银行 2026年上半年经营工作会议​</a:t>
              </a:r>
            </a:p>
          </p:txBody>
        </p:sp>
      </p:gr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C15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01</a:t>
              </a:r>
            </a:p>
          </p:txBody>
        </p:sp>
        <p:sp>
          <p:nvSpPr>
            <p:cNvPr id="4" name="TextBox 4"/>
            <p:cNvSpPr txBox="1"/>
            <p:nvPr/>
          </p:nvSpPr>
          <p:spPr>
            <a:xfrm>
              <a:off x="942594" y="151448"/>
              <a:ext cx="2298043"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 xml:space="preserve">目录 </a:t>
              </a:r>
              <a:r>
                <a:rPr lang="en-US" sz="1950" b="1" dirty="0">
                  <a:solidFill>
                    <a:srgbClr val="7C1500"/>
                  </a:solidFill>
                  <a:latin typeface="+mj-lt"/>
                  <a:ea typeface="+mj-ea"/>
                  <a:cs typeface="+mj-cs"/>
                </a:rPr>
                <a:t>Contents</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7C1500"/>
              </a:solidFill>
            </a:ln>
          </p:spPr>
        </p:sp>
      </p:grpSp>
      <p:grpSp>
        <p:nvGrpSpPr>
          <p:cNvPr id="41" name="toc-list"/>
          <p:cNvGrpSpPr/>
          <p:nvPr/>
        </p:nvGrpSpPr>
        <p:grpSpPr>
          <a:xfrm>
            <a:off x="571500" y="1238250"/>
            <a:ext cx="6667500" cy="4238625"/>
            <a:chOff x="571500" y="1238250"/>
            <a:chExt cx="6667500" cy="4238625"/>
          </a:xfrm>
        </p:grpSpPr>
        <p:sp>
          <p:nvSpPr>
            <p:cNvPr id="7" name="Line 7"/>
            <p:cNvSpPr/>
            <p:nvPr/>
          </p:nvSpPr>
          <p:spPr>
            <a:xfrm>
              <a:off x="571500" y="1238250"/>
              <a:ext cx="6667500" cy="9525"/>
            </a:xfrm>
            <a:custGeom>
              <a:avLst/>
              <a:gdLst/>
              <a:ahLst/>
              <a:cxnLst/>
              <a:rect l="l" t="t" r="r" b="b"/>
              <a:pathLst>
                <a:path w="6667500" h="9525">
                  <a:moveTo>
                    <a:pt x="0" y="0"/>
                  </a:moveTo>
                  <a:lnTo>
                    <a:pt x="6667500" y="0"/>
                  </a:lnTo>
                </a:path>
              </a:pathLst>
            </a:custGeom>
            <a:noFill/>
            <a:ln w="11430">
              <a:solidFill>
                <a:srgbClr val="E72700"/>
              </a:solidFill>
            </a:ln>
          </p:spPr>
        </p:sp>
        <p:sp>
          <p:nvSpPr>
            <p:cNvPr id="8" name="TextBox 8"/>
            <p:cNvSpPr txBox="1"/>
            <p:nvPr/>
          </p:nvSpPr>
          <p:spPr>
            <a:xfrm>
              <a:off x="585216" y="1410652"/>
              <a:ext cx="37111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前言​</a:t>
              </a:r>
            </a:p>
          </p:txBody>
        </p:sp>
        <p:sp>
          <p:nvSpPr>
            <p:cNvPr id="9" name="TextBox 9"/>
            <p:cNvSpPr txBox="1"/>
            <p:nvPr/>
          </p:nvSpPr>
          <p:spPr>
            <a:xfrm>
              <a:off x="6981387" y="1410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03​</a:t>
              </a:r>
            </a:p>
          </p:txBody>
        </p:sp>
        <p:sp>
          <p:nvSpPr>
            <p:cNvPr id="10" name="Line 10"/>
            <p:cNvSpPr/>
            <p:nvPr/>
          </p:nvSpPr>
          <p:spPr>
            <a:xfrm>
              <a:off x="571500" y="1657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11" name="TextBox 11"/>
            <p:cNvSpPr txBox="1"/>
            <p:nvPr/>
          </p:nvSpPr>
          <p:spPr>
            <a:xfrm>
              <a:off x="585216" y="1791652"/>
              <a:ext cx="653815"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执行摘要​</a:t>
              </a:r>
            </a:p>
          </p:txBody>
        </p:sp>
        <p:sp>
          <p:nvSpPr>
            <p:cNvPr id="12" name="TextBox 12"/>
            <p:cNvSpPr txBox="1"/>
            <p:nvPr/>
          </p:nvSpPr>
          <p:spPr>
            <a:xfrm>
              <a:off x="6981387" y="1791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04​</a:t>
              </a:r>
            </a:p>
          </p:txBody>
        </p:sp>
        <p:sp>
          <p:nvSpPr>
            <p:cNvPr id="13" name="Line 13"/>
            <p:cNvSpPr/>
            <p:nvPr/>
          </p:nvSpPr>
          <p:spPr>
            <a:xfrm>
              <a:off x="571500" y="2038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14" name="TextBox 14"/>
            <p:cNvSpPr txBox="1"/>
            <p:nvPr/>
          </p:nvSpPr>
          <p:spPr>
            <a:xfrm>
              <a:off x="585216" y="2172652"/>
              <a:ext cx="1925974"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为什么模型风险管理至关重要​</a:t>
              </a:r>
            </a:p>
          </p:txBody>
        </p:sp>
        <p:sp>
          <p:nvSpPr>
            <p:cNvPr id="15" name="TextBox 15"/>
            <p:cNvSpPr txBox="1"/>
            <p:nvPr/>
          </p:nvSpPr>
          <p:spPr>
            <a:xfrm>
              <a:off x="6981387" y="2172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07​</a:t>
              </a:r>
            </a:p>
          </p:txBody>
        </p:sp>
        <p:sp>
          <p:nvSpPr>
            <p:cNvPr id="16" name="Line 16"/>
            <p:cNvSpPr/>
            <p:nvPr/>
          </p:nvSpPr>
          <p:spPr>
            <a:xfrm>
              <a:off x="571500" y="2419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17" name="TextBox 17"/>
            <p:cNvSpPr txBox="1"/>
            <p:nvPr/>
          </p:nvSpPr>
          <p:spPr>
            <a:xfrm>
              <a:off x="585216" y="2553652"/>
              <a:ext cx="936517"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关于本次调研​</a:t>
              </a:r>
            </a:p>
          </p:txBody>
        </p:sp>
        <p:sp>
          <p:nvSpPr>
            <p:cNvPr id="18" name="TextBox 18"/>
            <p:cNvSpPr txBox="1"/>
            <p:nvPr/>
          </p:nvSpPr>
          <p:spPr>
            <a:xfrm>
              <a:off x="6981387" y="2553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09​</a:t>
              </a:r>
            </a:p>
          </p:txBody>
        </p:sp>
        <p:sp>
          <p:nvSpPr>
            <p:cNvPr id="19" name="Line 19"/>
            <p:cNvSpPr/>
            <p:nvPr/>
          </p:nvSpPr>
          <p:spPr>
            <a:xfrm>
              <a:off x="571500" y="2800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20" name="TextBox 20"/>
            <p:cNvSpPr txBox="1"/>
            <p:nvPr/>
          </p:nvSpPr>
          <p:spPr>
            <a:xfrm>
              <a:off x="585216" y="2934652"/>
              <a:ext cx="277408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模型版图与清单：高效模型风险管理的基础​</a:t>
              </a:r>
            </a:p>
          </p:txBody>
        </p:sp>
        <p:sp>
          <p:nvSpPr>
            <p:cNvPr id="21" name="TextBox 21"/>
            <p:cNvSpPr txBox="1"/>
            <p:nvPr/>
          </p:nvSpPr>
          <p:spPr>
            <a:xfrm>
              <a:off x="6981387" y="2934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12​</a:t>
              </a:r>
            </a:p>
          </p:txBody>
        </p:sp>
        <p:sp>
          <p:nvSpPr>
            <p:cNvPr id="22" name="Line 22"/>
            <p:cNvSpPr/>
            <p:nvPr/>
          </p:nvSpPr>
          <p:spPr>
            <a:xfrm>
              <a:off x="571500" y="3181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23" name="TextBox 23"/>
            <p:cNvSpPr txBox="1"/>
            <p:nvPr/>
          </p:nvSpPr>
          <p:spPr>
            <a:xfrm>
              <a:off x="585216" y="3315652"/>
              <a:ext cx="2067325"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关于治理与模型生命周期的观点​</a:t>
              </a:r>
            </a:p>
          </p:txBody>
        </p:sp>
        <p:sp>
          <p:nvSpPr>
            <p:cNvPr id="24" name="TextBox 24"/>
            <p:cNvSpPr txBox="1"/>
            <p:nvPr/>
          </p:nvSpPr>
          <p:spPr>
            <a:xfrm>
              <a:off x="6981387" y="3315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19​</a:t>
              </a:r>
            </a:p>
          </p:txBody>
        </p:sp>
        <p:sp>
          <p:nvSpPr>
            <p:cNvPr id="25" name="Line 25"/>
            <p:cNvSpPr/>
            <p:nvPr/>
          </p:nvSpPr>
          <p:spPr>
            <a:xfrm>
              <a:off x="571500" y="3562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26" name="TextBox 26"/>
            <p:cNvSpPr txBox="1"/>
            <p:nvPr/>
          </p:nvSpPr>
          <p:spPr>
            <a:xfrm>
              <a:off x="585216" y="3696652"/>
              <a:ext cx="1501921"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技术与工具：改进空间​</a:t>
              </a:r>
            </a:p>
          </p:txBody>
        </p:sp>
        <p:sp>
          <p:nvSpPr>
            <p:cNvPr id="27" name="TextBox 27"/>
            <p:cNvSpPr txBox="1"/>
            <p:nvPr/>
          </p:nvSpPr>
          <p:spPr>
            <a:xfrm>
              <a:off x="6981387" y="3696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32​</a:t>
              </a:r>
            </a:p>
          </p:txBody>
        </p:sp>
        <p:sp>
          <p:nvSpPr>
            <p:cNvPr id="28" name="Line 28"/>
            <p:cNvSpPr/>
            <p:nvPr/>
          </p:nvSpPr>
          <p:spPr>
            <a:xfrm>
              <a:off x="571500" y="3943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29" name="TextBox 29"/>
            <p:cNvSpPr txBox="1"/>
            <p:nvPr/>
          </p:nvSpPr>
          <p:spPr>
            <a:xfrm>
              <a:off x="585216" y="4077652"/>
              <a:ext cx="178462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风险缓释：模型监控与报告​</a:t>
              </a:r>
            </a:p>
          </p:txBody>
        </p:sp>
        <p:sp>
          <p:nvSpPr>
            <p:cNvPr id="30" name="TextBox 30"/>
            <p:cNvSpPr txBox="1"/>
            <p:nvPr/>
          </p:nvSpPr>
          <p:spPr>
            <a:xfrm>
              <a:off x="6981387" y="4077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36​</a:t>
              </a:r>
            </a:p>
          </p:txBody>
        </p:sp>
        <p:sp>
          <p:nvSpPr>
            <p:cNvPr id="31" name="Line 31"/>
            <p:cNvSpPr/>
            <p:nvPr/>
          </p:nvSpPr>
          <p:spPr>
            <a:xfrm>
              <a:off x="571500" y="4324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32" name="TextBox 32"/>
            <p:cNvSpPr txBox="1"/>
            <p:nvPr/>
          </p:nvSpPr>
          <p:spPr>
            <a:xfrm>
              <a:off x="585216" y="4458652"/>
              <a:ext cx="136057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模型风险管理的未来​</a:t>
              </a:r>
            </a:p>
          </p:txBody>
        </p:sp>
        <p:sp>
          <p:nvSpPr>
            <p:cNvPr id="33" name="TextBox 33"/>
            <p:cNvSpPr txBox="1"/>
            <p:nvPr/>
          </p:nvSpPr>
          <p:spPr>
            <a:xfrm>
              <a:off x="6981387" y="4458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40​</a:t>
              </a:r>
            </a:p>
          </p:txBody>
        </p:sp>
        <p:sp>
          <p:nvSpPr>
            <p:cNvPr id="34" name="Line 34"/>
            <p:cNvSpPr/>
            <p:nvPr/>
          </p:nvSpPr>
          <p:spPr>
            <a:xfrm>
              <a:off x="571500" y="4705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35" name="TextBox 35"/>
            <p:cNvSpPr txBox="1"/>
            <p:nvPr/>
          </p:nvSpPr>
          <p:spPr>
            <a:xfrm>
              <a:off x="585216" y="4839652"/>
              <a:ext cx="37111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致谢​</a:t>
              </a:r>
            </a:p>
          </p:txBody>
        </p:sp>
        <p:sp>
          <p:nvSpPr>
            <p:cNvPr id="36" name="TextBox 36"/>
            <p:cNvSpPr txBox="1"/>
            <p:nvPr/>
          </p:nvSpPr>
          <p:spPr>
            <a:xfrm>
              <a:off x="6981387" y="4839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42​</a:t>
              </a:r>
            </a:p>
          </p:txBody>
        </p:sp>
        <p:sp>
          <p:nvSpPr>
            <p:cNvPr id="37" name="Line 37"/>
            <p:cNvSpPr/>
            <p:nvPr/>
          </p:nvSpPr>
          <p:spPr>
            <a:xfrm>
              <a:off x="571500" y="5086350"/>
              <a:ext cx="6667500" cy="9525"/>
            </a:xfrm>
            <a:custGeom>
              <a:avLst/>
              <a:gdLst/>
              <a:ahLst/>
              <a:cxnLst/>
              <a:rect l="l" t="t" r="r" b="b"/>
              <a:pathLst>
                <a:path w="6667500" h="9525">
                  <a:moveTo>
                    <a:pt x="0" y="0"/>
                  </a:moveTo>
                  <a:lnTo>
                    <a:pt x="6667500" y="0"/>
                  </a:lnTo>
                </a:path>
              </a:pathLst>
            </a:custGeom>
            <a:noFill/>
            <a:ln w="9525">
              <a:solidFill>
                <a:srgbClr val="F5C3B9"/>
              </a:solidFill>
            </a:ln>
          </p:spPr>
        </p:sp>
        <p:sp>
          <p:nvSpPr>
            <p:cNvPr id="38" name="TextBox 38"/>
            <p:cNvSpPr txBox="1"/>
            <p:nvPr/>
          </p:nvSpPr>
          <p:spPr>
            <a:xfrm>
              <a:off x="585216" y="5220652"/>
              <a:ext cx="653815"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mn-lt"/>
                  <a:ea typeface="+mn-ea"/>
                  <a:cs typeface="+mn-cs"/>
                </a:rPr>
                <a:t>联系方式​</a:t>
              </a:r>
            </a:p>
          </p:txBody>
        </p:sp>
        <p:sp>
          <p:nvSpPr>
            <p:cNvPr id="39" name="TextBox 39"/>
            <p:cNvSpPr txBox="1"/>
            <p:nvPr/>
          </p:nvSpPr>
          <p:spPr>
            <a:xfrm>
              <a:off x="6981387" y="5220652"/>
              <a:ext cx="243897" cy="205359"/>
            </a:xfrm>
            <a:prstGeom prst="rect">
              <a:avLst/>
            </a:prstGeom>
            <a:noFill/>
            <a:ln>
              <a:noFill/>
            </a:ln>
          </p:spPr>
          <p:txBody>
            <a:bodyPr wrap="none" lIns="0" tIns="0" rIns="0" bIns="0" anchor="t" anchorCtr="0">
              <a:spAutoFit/>
            </a:bodyPr>
            <a:lstStyle/>
            <a:p>
              <a:pPr algn="r"/>
              <a:r>
                <a:rPr lang="zh-CN" sz="1050" dirty="0">
                  <a:solidFill>
                    <a:srgbClr val="E72700"/>
                  </a:solidFill>
                  <a:latin typeface="+mn-lt"/>
                  <a:ea typeface="+mn-ea"/>
                  <a:cs typeface="+mn-cs"/>
                </a:rPr>
                <a:t>43​</a:t>
              </a:r>
            </a:p>
          </p:txBody>
        </p:sp>
        <p:sp>
          <p:nvSpPr>
            <p:cNvPr id="40" name="Line 40"/>
            <p:cNvSpPr/>
            <p:nvPr/>
          </p:nvSpPr>
          <p:spPr>
            <a:xfrm>
              <a:off x="571500" y="5467350"/>
              <a:ext cx="6667500" cy="9525"/>
            </a:xfrm>
            <a:custGeom>
              <a:avLst/>
              <a:gdLst/>
              <a:ahLst/>
              <a:cxnLst/>
              <a:rect l="l" t="t" r="r" b="b"/>
              <a:pathLst>
                <a:path w="6667500" h="9525">
                  <a:moveTo>
                    <a:pt x="0" y="0"/>
                  </a:moveTo>
                  <a:lnTo>
                    <a:pt x="6667500" y="0"/>
                  </a:lnTo>
                </a:path>
              </a:pathLst>
            </a:custGeom>
            <a:noFill/>
            <a:ln w="11430">
              <a:solidFill>
                <a:srgbClr val="E72700"/>
              </a:solidFill>
            </a:ln>
          </p:spPr>
        </p:sp>
      </p:grpSp>
      <p:grpSp>
        <p:nvGrpSpPr>
          <p:cNvPr id="43" name="toc-note"/>
          <p:cNvGrpSpPr/>
          <p:nvPr/>
        </p:nvGrpSpPr>
        <p:grpSpPr>
          <a:xfrm>
            <a:off x="585788" y="6159341"/>
            <a:ext cx="5411475" cy="161925"/>
            <a:chOff x="585788" y="6159341"/>
            <a:chExt cx="5411475" cy="161925"/>
          </a:xfrm>
        </p:grpSpPr>
        <p:sp>
          <p:nvSpPr>
            <p:cNvPr id="42" name="TextBox 42"/>
            <p:cNvSpPr txBox="1"/>
            <p:nvPr/>
          </p:nvSpPr>
          <p:spPr>
            <a:xfrm>
              <a:off x="585788" y="6159341"/>
              <a:ext cx="5411475" cy="161925"/>
            </a:xfrm>
            <a:prstGeom prst="rect">
              <a:avLst/>
            </a:prstGeom>
            <a:noFill/>
            <a:ln>
              <a:noFill/>
            </a:ln>
          </p:spPr>
          <p:txBody>
            <a:bodyPr wrap="none" lIns="0" tIns="0" rIns="0" bIns="0" anchor="t" anchorCtr="0">
              <a:spAutoFit/>
            </a:bodyPr>
            <a:lstStyle/>
            <a:p>
              <a:pPr algn="l"/>
              <a:r>
                <a:rPr lang="zh-CN" sz="820" dirty="0">
                  <a:solidFill>
                    <a:srgbClr val="9A9A9A"/>
                  </a:solidFill>
                  <a:latin typeface="+mn-lt"/>
                  <a:ea typeface="+mn-ea"/>
                  <a:cs typeface="+mn-cs"/>
                </a:rPr>
                <a:t>德勤EMEA模型风险管理调研报告（2021年3月，80家欧洲/中东/南非银行）· 页码为原报告页码​​​​​​​​​​​​</a:t>
              </a:r>
            </a:p>
          </p:txBody>
        </p:sp>
      </p:grpSp>
      <p:grpSp>
        <p:nvGrpSpPr>
          <p:cNvPr id="77" name="nav"/>
          <p:cNvGrpSpPr/>
          <p:nvPr/>
        </p:nvGrpSpPr>
        <p:grpSpPr>
          <a:xfrm>
            <a:off x="9834562" y="0"/>
            <a:ext cx="2357438" cy="6858000"/>
            <a:chOff x="9834562" y="0"/>
            <a:chExt cx="2357438" cy="6858000"/>
          </a:xfrm>
        </p:grpSpPr>
        <p:sp>
          <p:nvSpPr>
            <p:cNvPr id="44" name="Line 44"/>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45" name="Rectangle 45"/>
            <p:cNvSpPr/>
            <p:nvPr/>
          </p:nvSpPr>
          <p:spPr>
            <a:xfrm>
              <a:off x="9839325" y="476250"/>
              <a:ext cx="2352675" cy="514350"/>
            </a:xfrm>
            <a:prstGeom prst="rect">
              <a:avLst/>
            </a:prstGeom>
            <a:solidFill>
              <a:srgbClr val="7C1500"/>
            </a:solidFill>
            <a:ln>
              <a:noFill/>
            </a:ln>
          </p:spPr>
        </p:sp>
        <p:sp>
          <p:nvSpPr>
            <p:cNvPr id="46" name="TextBox 46"/>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前言</a:t>
              </a:r>
            </a:p>
          </p:txBody>
        </p:sp>
        <p:sp>
          <p:nvSpPr>
            <p:cNvPr id="47" name="Rectangle 47"/>
            <p:cNvSpPr/>
            <p:nvPr/>
          </p:nvSpPr>
          <p:spPr>
            <a:xfrm>
              <a:off x="9839325" y="1000125"/>
              <a:ext cx="2352675" cy="514350"/>
            </a:xfrm>
            <a:prstGeom prst="rect">
              <a:avLst/>
            </a:prstGeom>
            <a:solidFill>
              <a:srgbClr val="F3F3F3"/>
            </a:solidFill>
            <a:ln>
              <a:noFill/>
            </a:ln>
          </p:spPr>
        </p:sp>
        <p:sp>
          <p:nvSpPr>
            <p:cNvPr id="48" name="TextBox 48"/>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49" name="Rectangle 49"/>
            <p:cNvSpPr/>
            <p:nvPr/>
          </p:nvSpPr>
          <p:spPr>
            <a:xfrm>
              <a:off x="9839325" y="1524000"/>
              <a:ext cx="2352675" cy="514350"/>
            </a:xfrm>
            <a:prstGeom prst="rect">
              <a:avLst/>
            </a:prstGeom>
            <a:solidFill>
              <a:srgbClr val="F3F3F3"/>
            </a:solidFill>
            <a:ln>
              <a:noFill/>
            </a:ln>
          </p:spPr>
        </p:sp>
        <p:sp>
          <p:nvSpPr>
            <p:cNvPr id="50" name="TextBox 50"/>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51" name="Rectangle 51"/>
            <p:cNvSpPr/>
            <p:nvPr/>
          </p:nvSpPr>
          <p:spPr>
            <a:xfrm>
              <a:off x="9839325" y="2047875"/>
              <a:ext cx="2352675" cy="514350"/>
            </a:xfrm>
            <a:prstGeom prst="rect">
              <a:avLst/>
            </a:prstGeom>
            <a:solidFill>
              <a:srgbClr val="F3F3F3"/>
            </a:solidFill>
            <a:ln>
              <a:noFill/>
            </a:ln>
          </p:spPr>
        </p:sp>
        <p:sp>
          <p:nvSpPr>
            <p:cNvPr id="52" name="TextBox 52"/>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53" name="Rectangle 53"/>
            <p:cNvSpPr/>
            <p:nvPr/>
          </p:nvSpPr>
          <p:spPr>
            <a:xfrm>
              <a:off x="9839325" y="2571750"/>
              <a:ext cx="2352675" cy="514350"/>
            </a:xfrm>
            <a:prstGeom prst="rect">
              <a:avLst/>
            </a:prstGeom>
            <a:solidFill>
              <a:srgbClr val="F3F3F3"/>
            </a:solidFill>
            <a:ln>
              <a:noFill/>
            </a:ln>
          </p:spPr>
        </p:sp>
        <p:sp>
          <p:nvSpPr>
            <p:cNvPr id="54" name="TextBox 54"/>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55" name="Rectangle 55"/>
            <p:cNvSpPr/>
            <p:nvPr/>
          </p:nvSpPr>
          <p:spPr>
            <a:xfrm>
              <a:off x="9839325" y="3095625"/>
              <a:ext cx="2352675" cy="514350"/>
            </a:xfrm>
            <a:prstGeom prst="rect">
              <a:avLst/>
            </a:prstGeom>
            <a:solidFill>
              <a:srgbClr val="F3F3F3"/>
            </a:solidFill>
            <a:ln>
              <a:noFill/>
            </a:ln>
          </p:spPr>
        </p:sp>
        <p:sp>
          <p:nvSpPr>
            <p:cNvPr id="56" name="TextBox 56"/>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57" name="Rectangle 57"/>
            <p:cNvSpPr/>
            <p:nvPr/>
          </p:nvSpPr>
          <p:spPr>
            <a:xfrm>
              <a:off x="9839325" y="3619500"/>
              <a:ext cx="2352675" cy="514350"/>
            </a:xfrm>
            <a:prstGeom prst="rect">
              <a:avLst/>
            </a:prstGeom>
            <a:solidFill>
              <a:srgbClr val="F3F3F3"/>
            </a:solidFill>
            <a:ln>
              <a:noFill/>
            </a:ln>
          </p:spPr>
        </p:sp>
        <p:sp>
          <p:nvSpPr>
            <p:cNvPr id="58" name="TextBox 58"/>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59" name="Rectangle 59"/>
            <p:cNvSpPr/>
            <p:nvPr/>
          </p:nvSpPr>
          <p:spPr>
            <a:xfrm>
              <a:off x="9839325" y="4143375"/>
              <a:ext cx="2352675" cy="514350"/>
            </a:xfrm>
            <a:prstGeom prst="rect">
              <a:avLst/>
            </a:prstGeom>
            <a:solidFill>
              <a:srgbClr val="F3F3F3"/>
            </a:solidFill>
            <a:ln>
              <a:noFill/>
            </a:ln>
          </p:spPr>
        </p:sp>
        <p:sp>
          <p:nvSpPr>
            <p:cNvPr id="60" name="TextBox 60"/>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61" name="Rectangle 61"/>
            <p:cNvSpPr/>
            <p:nvPr/>
          </p:nvSpPr>
          <p:spPr>
            <a:xfrm>
              <a:off x="9839325" y="4667250"/>
              <a:ext cx="2352675" cy="514350"/>
            </a:xfrm>
            <a:prstGeom prst="rect">
              <a:avLst/>
            </a:prstGeom>
            <a:solidFill>
              <a:srgbClr val="F3F3F3"/>
            </a:solidFill>
            <a:ln>
              <a:noFill/>
            </a:ln>
          </p:spPr>
        </p:sp>
        <p:sp>
          <p:nvSpPr>
            <p:cNvPr id="62" name="TextBox 62"/>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63" name="Rectangle 63"/>
            <p:cNvSpPr/>
            <p:nvPr/>
          </p:nvSpPr>
          <p:spPr>
            <a:xfrm>
              <a:off x="9839325" y="5191125"/>
              <a:ext cx="2352675" cy="514350"/>
            </a:xfrm>
            <a:prstGeom prst="rect">
              <a:avLst/>
            </a:prstGeom>
            <a:solidFill>
              <a:srgbClr val="F3F3F3"/>
            </a:solidFill>
            <a:ln>
              <a:noFill/>
            </a:ln>
          </p:spPr>
        </p:sp>
        <p:sp>
          <p:nvSpPr>
            <p:cNvPr id="64" name="TextBox 64"/>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65" name="Rectangle 65"/>
            <p:cNvSpPr/>
            <p:nvPr/>
          </p:nvSpPr>
          <p:spPr>
            <a:xfrm>
              <a:off x="9839325" y="5715000"/>
              <a:ext cx="2352675" cy="514350"/>
            </a:xfrm>
            <a:prstGeom prst="rect">
              <a:avLst/>
            </a:prstGeom>
            <a:solidFill>
              <a:srgbClr val="F3F3F3"/>
            </a:solidFill>
            <a:ln>
              <a:noFill/>
            </a:ln>
          </p:spPr>
        </p:sp>
        <p:sp>
          <p:nvSpPr>
            <p:cNvPr id="66" name="TextBox 66"/>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67" name="Ellipse 67"/>
            <p:cNvSpPr/>
            <p:nvPr/>
          </p:nvSpPr>
          <p:spPr>
            <a:xfrm>
              <a:off x="10020300" y="6372225"/>
              <a:ext cx="266700" cy="266700"/>
            </a:xfrm>
            <a:prstGeom prst="ellipse">
              <a:avLst/>
            </a:prstGeom>
            <a:solidFill>
              <a:srgbClr val="D7D8D6"/>
            </a:solidFill>
            <a:ln>
              <a:noFill/>
            </a:ln>
          </p:spPr>
        </p:sp>
        <p:sp>
          <p:nvSpPr>
            <p:cNvPr id="68" name="Freeform 68"/>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69" name="Ellipse 69"/>
            <p:cNvSpPr/>
            <p:nvPr/>
          </p:nvSpPr>
          <p:spPr>
            <a:xfrm>
              <a:off x="10420350" y="6372225"/>
              <a:ext cx="266700" cy="266700"/>
            </a:xfrm>
            <a:prstGeom prst="ellipse">
              <a:avLst/>
            </a:prstGeom>
            <a:solidFill>
              <a:srgbClr val="D7D8D6"/>
            </a:solidFill>
            <a:ln>
              <a:noFill/>
            </a:ln>
          </p:spPr>
        </p:sp>
        <p:grpSp>
          <p:nvGrpSpPr>
            <p:cNvPr id="73" name="Group 73"/>
            <p:cNvGrpSpPr/>
            <p:nvPr/>
          </p:nvGrpSpPr>
          <p:grpSpPr>
            <a:xfrm>
              <a:off x="10489406" y="6441281"/>
              <a:ext cx="128588" cy="128588"/>
              <a:chOff x="10489406" y="6441281"/>
              <a:chExt cx="128588" cy="128588"/>
            </a:xfrm>
          </p:grpSpPr>
          <p:sp>
            <p:nvSpPr>
              <p:cNvPr id="70" name="Freeform 70"/>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71" name="Freeform 71"/>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72" name="Freeform 72"/>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74" name="Ellipse 74"/>
            <p:cNvSpPr/>
            <p:nvPr/>
          </p:nvSpPr>
          <p:spPr>
            <a:xfrm>
              <a:off x="10820400" y="6372225"/>
              <a:ext cx="266700" cy="266700"/>
            </a:xfrm>
            <a:prstGeom prst="ellipse">
              <a:avLst/>
            </a:prstGeom>
            <a:solidFill>
              <a:srgbClr val="D7D8D6"/>
            </a:solidFill>
            <a:ln>
              <a:noFill/>
            </a:ln>
          </p:spPr>
        </p:sp>
        <p:sp>
          <p:nvSpPr>
            <p:cNvPr id="75" name="Freeform 75"/>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76" name="TextBox 76"/>
            <p:cNvSpPr txBox="1"/>
            <p:nvPr/>
          </p:nvSpPr>
          <p:spPr>
            <a:xfrm>
              <a:off x="11872951" y="6456045"/>
              <a:ext cx="76162"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a:t>
              </a:r>
            </a:p>
          </p:txBody>
        </p:sp>
      </p:gr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C15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02</a:t>
              </a:r>
            </a:p>
          </p:txBody>
        </p:sp>
        <p:sp>
          <p:nvSpPr>
            <p:cNvPr id="4" name="TextBox 4"/>
            <p:cNvSpPr txBox="1"/>
            <p:nvPr/>
          </p:nvSpPr>
          <p:spPr>
            <a:xfrm>
              <a:off x="942594" y="151448"/>
              <a:ext cx="2357851"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 xml:space="preserve">前言 </a:t>
              </a:r>
              <a:r>
                <a:rPr lang="en-US" sz="1950" b="1" dirty="0">
                  <a:solidFill>
                    <a:srgbClr val="7C1500"/>
                  </a:solidFill>
                  <a:latin typeface="+mj-lt"/>
                  <a:ea typeface="+mj-ea"/>
                  <a:cs typeface="+mj-cs"/>
                </a:rPr>
                <a:t>Foreword</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7C1500"/>
              </a:solidFill>
            </a:ln>
          </p:spPr>
        </p:sp>
      </p:grpSp>
      <p:grpSp>
        <p:nvGrpSpPr>
          <p:cNvPr id="9" name="col-1"/>
          <p:cNvGrpSpPr/>
          <p:nvPr/>
        </p:nvGrpSpPr>
        <p:grpSpPr>
          <a:xfrm>
            <a:off x="566738" y="950595"/>
            <a:ext cx="2586990" cy="2281237"/>
            <a:chOff x="566738" y="950595"/>
            <a:chExt cx="2586990" cy="2281237"/>
          </a:xfrm>
        </p:grpSpPr>
        <p:sp>
          <p:nvSpPr>
            <p:cNvPr id="7" name="TextBox 7"/>
            <p:cNvSpPr txBox="1"/>
            <p:nvPr/>
          </p:nvSpPr>
          <p:spPr>
            <a:xfrm>
              <a:off x="566738" y="950595"/>
              <a:ext cx="25869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我们很高兴代表德勤EMEA发布首版《EMEA​​​</a:t>
              </a:r>
              <a:br/>
              <a:r>
                <a:rPr lang="zh-CN" sz="900" dirty="0">
                  <a:solidFill>
                    <a:srgbClr val="333333"/>
                  </a:solidFill>
                  <a:latin typeface="+mn-lt"/>
                  <a:ea typeface="+mn-ea"/>
                  <a:cs typeface="+mn-cs"/>
                </a:rPr>
                <a:t>模型风险管理调研》（EMEA Model Risk​</a:t>
              </a:r>
              <a:br/>
              <a:r>
                <a:rPr lang="zh-CN" sz="900" dirty="0">
                  <a:solidFill>
                    <a:srgbClr val="333333"/>
                  </a:solidFill>
                  <a:latin typeface="+mn-lt"/>
                  <a:ea typeface="+mn-ea"/>
                  <a:cs typeface="+mn-cs"/>
                </a:rPr>
                <a:t>Management Survey）。本调研呈现了我们​</a:t>
              </a:r>
              <a:br/>
              <a:r>
                <a:rPr lang="zh-CN" sz="900" dirty="0">
                  <a:solidFill>
                    <a:srgbClr val="333333"/>
                  </a:solidFill>
                  <a:latin typeface="+mn-lt"/>
                  <a:ea typeface="+mn-ea"/>
                  <a:cs typeface="+mn-cs"/>
                </a:rPr>
                <a:t>对欧洲、中东和南非地区银行模型风险管理现状实​</a:t>
              </a:r>
              <a:br/>
              <a:r>
                <a:rPr lang="zh-CN" sz="900" dirty="0">
                  <a:solidFill>
                    <a:srgbClr val="333333"/>
                  </a:solidFill>
                  <a:latin typeface="+mn-lt"/>
                  <a:ea typeface="+mn-ea"/>
                  <a:cs typeface="+mn-cs"/>
                </a:rPr>
                <a:t>践与挑战的洞察。​</a:t>
              </a:r>
            </a:p>
          </p:txBody>
        </p:sp>
        <p:sp>
          <p:nvSpPr>
            <p:cNvPr id="8" name="TextBox 8"/>
            <p:cNvSpPr txBox="1"/>
            <p:nvPr/>
          </p:nvSpPr>
          <p:spPr>
            <a:xfrm>
              <a:off x="566738" y="1969770"/>
              <a:ext cx="2586990" cy="12620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德勤的使命是帮助客户成为更负责任的企业，实现​</a:t>
              </a:r>
              <a:br/>
              <a:r>
                <a:rPr lang="zh-CN" sz="900" dirty="0">
                  <a:solidFill>
                    <a:srgbClr val="333333"/>
                  </a:solidFill>
                  <a:latin typeface="+mn-lt"/>
                  <a:ea typeface="+mn-ea"/>
                  <a:cs typeface="+mn-cs"/>
                </a:rPr>
                <a:t>可持续增长。银行为客户、利益相关方和社会所做​</a:t>
              </a:r>
              <a:br/>
              <a:r>
                <a:rPr lang="zh-CN" sz="900" dirty="0">
                  <a:solidFill>
                    <a:srgbClr val="333333"/>
                  </a:solidFill>
                  <a:latin typeface="+mn-lt"/>
                  <a:ea typeface="+mn-ea"/>
                  <a:cs typeface="+mn-cs"/>
                </a:rPr>
                <a:t>的几乎所有决策，都直接或间接地用到模型。我们​</a:t>
              </a:r>
              <a:br/>
              <a:r>
                <a:rPr lang="zh-CN" sz="900" dirty="0">
                  <a:solidFill>
                    <a:srgbClr val="333333"/>
                  </a:solidFill>
                  <a:latin typeface="+mn-lt"/>
                  <a:ea typeface="+mn-ea"/>
                  <a:cs typeface="+mn-cs"/>
                </a:rPr>
                <a:t>相信，成熟的模型风险管理框架能够洞察全行模型​</a:t>
              </a:r>
              <a:br/>
              <a:r>
                <a:rPr lang="zh-CN" sz="900" dirty="0">
                  <a:solidFill>
                    <a:srgbClr val="333333"/>
                  </a:solidFill>
                  <a:latin typeface="+mn-lt"/>
                  <a:ea typeface="+mn-ea"/>
                  <a:cs typeface="+mn-cs"/>
                </a:rPr>
                <a:t>版图和模型生命周期各阶段，提升全行模型风险意​</a:t>
              </a:r>
              <a:br/>
              <a:r>
                <a:rPr lang="zh-CN" sz="900" dirty="0">
                  <a:solidFill>
                    <a:srgbClr val="333333"/>
                  </a:solidFill>
                  <a:latin typeface="+mn-lt"/>
                  <a:ea typeface="+mn-ea"/>
                  <a:cs typeface="+mn-cs"/>
                </a:rPr>
                <a:t>识并加以缓释，帮助银行在为客户和社会决策时为​</a:t>
              </a:r>
              <a:br/>
              <a:r>
                <a:rPr lang="zh-CN" sz="900" dirty="0">
                  <a:solidFill>
                    <a:srgbClr val="333333"/>
                  </a:solidFill>
                  <a:latin typeface="+mn-lt"/>
                  <a:ea typeface="+mn-ea"/>
                  <a:cs typeface="+mn-cs"/>
                </a:rPr>
                <a:t>模型使用设置恰当的保障，成为更负责任的企业。​</a:t>
              </a:r>
            </a:p>
          </p:txBody>
        </p:sp>
      </p:grpSp>
      <p:grpSp>
        <p:nvGrpSpPr>
          <p:cNvPr id="12" name="col-2"/>
          <p:cNvGrpSpPr/>
          <p:nvPr/>
        </p:nvGrpSpPr>
        <p:grpSpPr>
          <a:xfrm>
            <a:off x="3614738" y="950595"/>
            <a:ext cx="2586990" cy="2462212"/>
            <a:chOff x="3614738" y="950595"/>
            <a:chExt cx="2586990" cy="2462212"/>
          </a:xfrm>
        </p:grpSpPr>
        <p:sp>
          <p:nvSpPr>
            <p:cNvPr id="10" name="TextBox 10"/>
            <p:cNvSpPr txBox="1"/>
            <p:nvPr/>
          </p:nvSpPr>
          <p:spPr>
            <a:xfrm>
              <a:off x="3614738" y="950595"/>
              <a:ext cx="25869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我们希望本调研有助于银行思考模型风险管理，以​</a:t>
              </a:r>
              <a:br/>
              <a:r>
                <a:rPr lang="zh-CN" sz="900" dirty="0">
                  <a:solidFill>
                    <a:srgbClr val="333333"/>
                  </a:solidFill>
                  <a:latin typeface="+mn-lt"/>
                  <a:ea typeface="+mn-ea"/>
                  <a:cs typeface="+mn-cs"/>
                </a:rPr>
                <a:t>支持负责任地使用模型。调研涵盖80家银行，​​</a:t>
              </a:r>
              <a:br/>
              <a:r>
                <a:rPr lang="zh-CN" sz="900" dirty="0">
                  <a:solidFill>
                    <a:srgbClr val="333333"/>
                  </a:solidFill>
                  <a:latin typeface="+mn-lt"/>
                  <a:ea typeface="+mn-ea"/>
                  <a:cs typeface="+mn-cs"/>
                </a:rPr>
                <a:t>资产负债表规模从不足300亿欧元到超过1万​​​​</a:t>
              </a:r>
              <a:br/>
              <a:r>
                <a:rPr lang="zh-CN" sz="900" dirty="0">
                  <a:solidFill>
                    <a:srgbClr val="333333"/>
                  </a:solidFill>
                  <a:latin typeface="+mn-lt"/>
                  <a:ea typeface="+mn-ea"/>
                  <a:cs typeface="+mn-cs"/>
                </a:rPr>
                <a:t>亿欧元不等，覆盖模型风险管理的四大关键主题：​</a:t>
              </a:r>
              <a:br/>
              <a:r>
                <a:rPr lang="zh-CN" sz="900" dirty="0">
                  <a:solidFill>
                    <a:srgbClr val="333333"/>
                  </a:solidFill>
                  <a:latin typeface="+mn-lt"/>
                  <a:ea typeface="+mn-ea"/>
                  <a:cs typeface="+mn-cs"/>
                </a:rPr>
                <a:t>模型版图与清单、治理与模型生命周期、技术、监​</a:t>
              </a:r>
              <a:br/>
              <a:r>
                <a:rPr lang="zh-CN" sz="900" dirty="0">
                  <a:solidFill>
                    <a:srgbClr val="333333"/>
                  </a:solidFill>
                  <a:latin typeface="+mn-lt"/>
                  <a:ea typeface="+mn-ea"/>
                  <a:cs typeface="+mn-cs"/>
                </a:rPr>
                <a:t>控与报告。​</a:t>
              </a:r>
            </a:p>
          </p:txBody>
        </p:sp>
        <p:sp>
          <p:nvSpPr>
            <p:cNvPr id="11" name="TextBox 11"/>
            <p:cNvSpPr txBox="1"/>
            <p:nvPr/>
          </p:nvSpPr>
          <p:spPr>
            <a:xfrm>
              <a:off x="3614738" y="2150745"/>
              <a:ext cx="2586990" cy="12620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随着银行越来越依赖模型，模型风险管理的重要性​</a:t>
              </a:r>
              <a:br/>
              <a:r>
                <a:rPr lang="zh-CN" sz="900" dirty="0">
                  <a:solidFill>
                    <a:srgbClr val="333333"/>
                  </a:solidFill>
                  <a:latin typeface="+mn-lt"/>
                  <a:ea typeface="+mn-ea"/>
                  <a:cs typeface="+mn-cs"/>
                </a:rPr>
                <a:t>持续上升。COVID-19疫情等全球事件也暴露​​</a:t>
              </a:r>
              <a:br/>
              <a:r>
                <a:rPr lang="zh-CN" sz="900" dirty="0">
                  <a:solidFill>
                    <a:srgbClr val="333333"/>
                  </a:solidFill>
                  <a:latin typeface="+mn-lt"/>
                  <a:ea typeface="+mn-ea"/>
                  <a:cs typeface="+mn-cs"/>
                </a:rPr>
                <a:t>了模型及模型风险管理实践在环境快速变化时的弱​</a:t>
              </a:r>
              <a:br/>
              <a:r>
                <a:rPr lang="zh-CN" sz="900" dirty="0">
                  <a:solidFill>
                    <a:srgbClr val="333333"/>
                  </a:solidFill>
                  <a:latin typeface="+mn-lt"/>
                  <a:ea typeface="+mn-ea"/>
                  <a:cs typeface="+mn-cs"/>
                </a:rPr>
                <a:t>点。调研结果显示，领先银行正将模型风险管理扩​</a:t>
              </a:r>
              <a:br/>
              <a:r>
                <a:rPr lang="zh-CN" sz="900" dirty="0">
                  <a:solidFill>
                    <a:srgbClr val="333333"/>
                  </a:solidFill>
                  <a:latin typeface="+mn-lt"/>
                  <a:ea typeface="+mn-ea"/>
                  <a:cs typeface="+mn-cs"/>
                </a:rPr>
                <a:t>展到银行内所有核心业务，包括金融风险、网络与​</a:t>
              </a:r>
              <a:br/>
              <a:r>
                <a:rPr lang="zh-CN" sz="900" dirty="0">
                  <a:solidFill>
                    <a:srgbClr val="333333"/>
                  </a:solidFill>
                  <a:latin typeface="+mn-lt"/>
                  <a:ea typeface="+mn-ea"/>
                  <a:cs typeface="+mn-cs"/>
                </a:rPr>
                <a:t>合规模型。然而，几乎所有银行都提到，模型治理​</a:t>
              </a:r>
              <a:br/>
              <a:r>
                <a:rPr lang="zh-CN" sz="900" dirty="0">
                  <a:solidFill>
                    <a:srgbClr val="333333"/>
                  </a:solidFill>
                  <a:latin typeface="+mn-lt"/>
                  <a:ea typeface="+mn-ea"/>
                  <a:cs typeface="+mn-cs"/>
                </a:rPr>
                <a:t>——尤其是模型所有权——​​​​​</a:t>
              </a:r>
            </a:p>
          </p:txBody>
        </p:sp>
      </p:grpSp>
      <p:grpSp>
        <p:nvGrpSpPr>
          <p:cNvPr id="16" name="col-3"/>
          <p:cNvGrpSpPr/>
          <p:nvPr/>
        </p:nvGrpSpPr>
        <p:grpSpPr>
          <a:xfrm>
            <a:off x="6662738" y="950595"/>
            <a:ext cx="2741638" cy="1671638"/>
            <a:chOff x="6662738" y="950595"/>
            <a:chExt cx="2741638" cy="1671638"/>
          </a:xfrm>
        </p:grpSpPr>
        <p:sp>
          <p:nvSpPr>
            <p:cNvPr id="13" name="TextBox 13"/>
            <p:cNvSpPr txBox="1"/>
            <p:nvPr/>
          </p:nvSpPr>
          <p:spPr>
            <a:xfrm>
              <a:off x="6662738" y="950595"/>
              <a:ext cx="25869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仍是模型风险管理框架推行中的一大障碍。此外，​</a:t>
              </a:r>
              <a:br/>
              <a:r>
                <a:rPr lang="zh-CN" sz="900" dirty="0">
                  <a:solidFill>
                    <a:srgbClr val="333333"/>
                  </a:solidFill>
                  <a:latin typeface="+mn-lt"/>
                  <a:ea typeface="+mn-ea"/>
                  <a:cs typeface="+mn-cs"/>
                </a:rPr>
                <a:t>多数银行指出模型开发与验证团队的资源压力仍是​</a:t>
              </a:r>
              <a:br/>
              <a:r>
                <a:rPr lang="zh-CN" sz="900" dirty="0">
                  <a:solidFill>
                    <a:srgbClr val="333333"/>
                  </a:solidFill>
                  <a:latin typeface="+mn-lt"/>
                  <a:ea typeface="+mn-ea"/>
                  <a:cs typeface="+mn-cs"/>
                </a:rPr>
                <a:t>关键挑战，这使得近期更需要更智能的工作方式，​</a:t>
              </a:r>
              <a:br/>
              <a:r>
                <a:rPr lang="zh-CN" sz="900" dirty="0">
                  <a:solidFill>
                    <a:srgbClr val="333333"/>
                  </a:solidFill>
                  <a:latin typeface="+mn-lt"/>
                  <a:ea typeface="+mn-ea"/>
                  <a:cs typeface="+mn-cs"/>
                </a:rPr>
                <a:t>例如通过自动化模型监控和标准化，高效利用稀缺​</a:t>
              </a:r>
              <a:br/>
              <a:r>
                <a:rPr lang="zh-CN" sz="900" dirty="0">
                  <a:solidFill>
                    <a:srgbClr val="333333"/>
                  </a:solidFill>
                  <a:latin typeface="+mn-lt"/>
                  <a:ea typeface="+mn-ea"/>
                  <a:cs typeface="+mn-cs"/>
                </a:rPr>
                <a:t>资源。​</a:t>
              </a:r>
            </a:p>
          </p:txBody>
        </p:sp>
        <p:sp>
          <p:nvSpPr>
            <p:cNvPr id="14" name="TextBox 14"/>
            <p:cNvSpPr txBox="1"/>
            <p:nvPr/>
          </p:nvSpPr>
          <p:spPr>
            <a:xfrm>
              <a:off x="6662738" y="1969770"/>
              <a:ext cx="2741638"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我们感谢所有参与调研的银行付出的时间与洞见。​</a:t>
              </a:r>
            </a:p>
          </p:txBody>
        </p:sp>
        <p:sp>
          <p:nvSpPr>
            <p:cNvPr id="15" name="TextBox 15"/>
            <p:cNvSpPr txBox="1"/>
            <p:nvPr/>
          </p:nvSpPr>
          <p:spPr>
            <a:xfrm>
              <a:off x="6662738" y="2265045"/>
              <a:ext cx="25869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希望本次调研结果为您下一步的模型风险管理工作​</a:t>
              </a:r>
              <a:br/>
              <a:r>
                <a:rPr lang="zh-CN" sz="900" dirty="0">
                  <a:solidFill>
                    <a:srgbClr val="333333"/>
                  </a:solidFill>
                  <a:latin typeface="+mn-lt"/>
                  <a:ea typeface="+mn-ea"/>
                  <a:cs typeface="+mn-cs"/>
                </a:rPr>
                <a:t>提供有价值的洞察。​</a:t>
              </a:r>
            </a:p>
          </p:txBody>
        </p:sp>
      </p:grpSp>
      <p:grpSp>
        <p:nvGrpSpPr>
          <p:cNvPr id="27" name="signatures"/>
          <p:cNvGrpSpPr/>
          <p:nvPr/>
        </p:nvGrpSpPr>
        <p:grpSpPr>
          <a:xfrm>
            <a:off x="566547" y="5466874"/>
            <a:ext cx="7443026" cy="1012983"/>
            <a:chOff x="566547" y="5466874"/>
            <a:chExt cx="7443026" cy="1012983"/>
          </a:xfrm>
        </p:grpSpPr>
        <p:sp>
          <p:nvSpPr>
            <p:cNvPr id="17" name="TextBox 17"/>
            <p:cNvSpPr txBox="1"/>
            <p:nvPr/>
          </p:nvSpPr>
          <p:spPr>
            <a:xfrm>
              <a:off x="566547" y="5466874"/>
              <a:ext cx="975558" cy="190690"/>
            </a:xfrm>
            <a:prstGeom prst="rect">
              <a:avLst/>
            </a:prstGeom>
            <a:noFill/>
            <a:ln>
              <a:noFill/>
            </a:ln>
          </p:spPr>
          <p:txBody>
            <a:bodyPr wrap="none" lIns="0" tIns="0" rIns="0" bIns="0" anchor="t" anchorCtr="0">
              <a:spAutoFit/>
            </a:bodyPr>
            <a:lstStyle/>
            <a:p>
              <a:pPr algn="l"/>
              <a:r>
                <a:rPr lang="en-US" sz="980" b="1" dirty="0">
                  <a:solidFill>
                    <a:srgbClr val="B61F00"/>
                  </a:solidFill>
                  <a:latin typeface="+mn-lt"/>
                  <a:ea typeface="+mn-ea"/>
                  <a:cs typeface="+mn-cs"/>
                </a:rPr>
                <a:t>Koen Dessens​</a:t>
              </a:r>
            </a:p>
          </p:txBody>
        </p:sp>
        <p:sp>
          <p:nvSpPr>
            <p:cNvPr id="18" name="TextBox 18"/>
            <p:cNvSpPr txBox="1"/>
            <p:nvPr/>
          </p:nvSpPr>
          <p:spPr>
            <a:xfrm>
              <a:off x="566738" y="5655945"/>
              <a:ext cx="573801" cy="176212"/>
            </a:xfrm>
            <a:prstGeom prst="rect">
              <a:avLst/>
            </a:prstGeom>
            <a:noFill/>
            <a:ln>
              <a:noFill/>
            </a:ln>
          </p:spPr>
          <p:txBody>
            <a:bodyPr wrap="none" lIns="0" tIns="0" rIns="0" bIns="0" anchor="t" anchorCtr="0">
              <a:spAutoFit/>
            </a:bodyPr>
            <a:lstStyle/>
            <a:p>
              <a:pPr algn="l"/>
              <a:r>
                <a:rPr lang="en-US" sz="900" b="1" dirty="0">
                  <a:solidFill>
                    <a:srgbClr val="1A1A1A"/>
                  </a:solidFill>
                  <a:latin typeface="+mn-lt"/>
                  <a:ea typeface="+mn-ea"/>
                  <a:cs typeface="+mn-cs"/>
                </a:rPr>
                <a:t>Partner​</a:t>
              </a:r>
            </a:p>
          </p:txBody>
        </p:sp>
        <p:sp>
          <p:nvSpPr>
            <p:cNvPr id="19" name="TextBox 19"/>
            <p:cNvSpPr txBox="1"/>
            <p:nvPr/>
          </p:nvSpPr>
          <p:spPr>
            <a:xfrm>
              <a:off x="566738" y="5827395"/>
              <a:ext cx="1604010"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3333"/>
                  </a:solidFill>
                  <a:latin typeface="+mn-lt"/>
                  <a:ea typeface="+mn-ea"/>
                  <a:cs typeface="+mn-cs"/>
                </a:rPr>
                <a:t>Model risk management lead​</a:t>
              </a:r>
              <a:br/>
              <a:r>
                <a:rPr lang="en-US" sz="900" dirty="0">
                  <a:solidFill>
                    <a:srgbClr val="333333"/>
                  </a:solidFill>
                  <a:latin typeface="+mn-lt"/>
                  <a:ea typeface="+mn-ea"/>
                  <a:cs typeface="+mn-cs"/>
                </a:rPr>
                <a:t>North South Europe​</a:t>
              </a:r>
            </a:p>
          </p:txBody>
        </p:sp>
        <p:sp>
          <p:nvSpPr>
            <p:cNvPr id="20" name="TextBox 20"/>
            <p:cNvSpPr txBox="1"/>
            <p:nvPr/>
          </p:nvSpPr>
          <p:spPr>
            <a:xfrm>
              <a:off x="3614547" y="5466874"/>
              <a:ext cx="968561" cy="190690"/>
            </a:xfrm>
            <a:prstGeom prst="rect">
              <a:avLst/>
            </a:prstGeom>
            <a:noFill/>
            <a:ln>
              <a:noFill/>
            </a:ln>
          </p:spPr>
          <p:txBody>
            <a:bodyPr wrap="none" lIns="0" tIns="0" rIns="0" bIns="0" anchor="t" anchorCtr="0">
              <a:spAutoFit/>
            </a:bodyPr>
            <a:lstStyle/>
            <a:p>
              <a:pPr algn="l"/>
              <a:r>
                <a:rPr lang="en-US" sz="980" b="1" dirty="0">
                  <a:solidFill>
                    <a:srgbClr val="B61F00"/>
                  </a:solidFill>
                  <a:latin typeface="+mn-lt"/>
                  <a:ea typeface="+mn-ea"/>
                  <a:cs typeface="+mn-cs"/>
                </a:rPr>
                <a:t>Twan Kikkers​</a:t>
              </a:r>
            </a:p>
          </p:txBody>
        </p:sp>
        <p:sp>
          <p:nvSpPr>
            <p:cNvPr id="21" name="TextBox 21"/>
            <p:cNvSpPr txBox="1"/>
            <p:nvPr/>
          </p:nvSpPr>
          <p:spPr>
            <a:xfrm>
              <a:off x="3614738" y="5655945"/>
              <a:ext cx="573801" cy="176212"/>
            </a:xfrm>
            <a:prstGeom prst="rect">
              <a:avLst/>
            </a:prstGeom>
            <a:noFill/>
            <a:ln>
              <a:noFill/>
            </a:ln>
          </p:spPr>
          <p:txBody>
            <a:bodyPr wrap="none" lIns="0" tIns="0" rIns="0" bIns="0" anchor="t" anchorCtr="0">
              <a:spAutoFit/>
            </a:bodyPr>
            <a:lstStyle/>
            <a:p>
              <a:pPr algn="l"/>
              <a:r>
                <a:rPr lang="en-US" sz="900" b="1" dirty="0">
                  <a:solidFill>
                    <a:srgbClr val="1A1A1A"/>
                  </a:solidFill>
                  <a:latin typeface="+mn-lt"/>
                  <a:ea typeface="+mn-ea"/>
                  <a:cs typeface="+mn-cs"/>
                </a:rPr>
                <a:t>Partner​</a:t>
              </a:r>
            </a:p>
          </p:txBody>
        </p:sp>
        <p:sp>
          <p:nvSpPr>
            <p:cNvPr id="22" name="TextBox 22"/>
            <p:cNvSpPr txBox="1"/>
            <p:nvPr/>
          </p:nvSpPr>
          <p:spPr>
            <a:xfrm>
              <a:off x="3614738" y="5827395"/>
              <a:ext cx="1146810"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3333"/>
                  </a:solidFill>
                  <a:latin typeface="+mn-lt"/>
                  <a:ea typeface="+mn-ea"/>
                  <a:cs typeface="+mn-cs"/>
                </a:rPr>
                <a:t>Financial risk lead​</a:t>
              </a:r>
              <a:br/>
              <a:r>
                <a:rPr lang="en-US" sz="900" dirty="0">
                  <a:solidFill>
                    <a:srgbClr val="333333"/>
                  </a:solidFill>
                  <a:latin typeface="+mn-lt"/>
                  <a:ea typeface="+mn-ea"/>
                  <a:cs typeface="+mn-cs"/>
                </a:rPr>
                <a:t>North South Europe​</a:t>
              </a:r>
            </a:p>
          </p:txBody>
        </p:sp>
        <p:sp>
          <p:nvSpPr>
            <p:cNvPr id="23" name="TextBox 23"/>
            <p:cNvSpPr txBox="1"/>
            <p:nvPr/>
          </p:nvSpPr>
          <p:spPr>
            <a:xfrm>
              <a:off x="6662547" y="5466874"/>
              <a:ext cx="1044654" cy="190690"/>
            </a:xfrm>
            <a:prstGeom prst="rect">
              <a:avLst/>
            </a:prstGeom>
            <a:noFill/>
            <a:ln>
              <a:noFill/>
            </a:ln>
          </p:spPr>
          <p:txBody>
            <a:bodyPr wrap="none" lIns="0" tIns="0" rIns="0" bIns="0" anchor="t" anchorCtr="0">
              <a:spAutoFit/>
            </a:bodyPr>
            <a:lstStyle/>
            <a:p>
              <a:pPr algn="l"/>
              <a:r>
                <a:rPr lang="en-US" sz="980" b="1" dirty="0">
                  <a:solidFill>
                    <a:srgbClr val="B61F00"/>
                  </a:solidFill>
                  <a:latin typeface="+mn-lt"/>
                  <a:ea typeface="+mn-ea"/>
                  <a:cs typeface="+mn-cs"/>
                </a:rPr>
                <a:t>Sjoerd Kampen​</a:t>
              </a:r>
            </a:p>
          </p:txBody>
        </p:sp>
        <p:sp>
          <p:nvSpPr>
            <p:cNvPr id="24" name="TextBox 24"/>
            <p:cNvSpPr txBox="1"/>
            <p:nvPr/>
          </p:nvSpPr>
          <p:spPr>
            <a:xfrm>
              <a:off x="6662738" y="5655945"/>
              <a:ext cx="611670" cy="176212"/>
            </a:xfrm>
            <a:prstGeom prst="rect">
              <a:avLst/>
            </a:prstGeom>
            <a:noFill/>
            <a:ln>
              <a:noFill/>
            </a:ln>
          </p:spPr>
          <p:txBody>
            <a:bodyPr wrap="none" lIns="0" tIns="0" rIns="0" bIns="0" anchor="t" anchorCtr="0">
              <a:spAutoFit/>
            </a:bodyPr>
            <a:lstStyle/>
            <a:p>
              <a:pPr algn="l"/>
              <a:r>
                <a:rPr lang="en-US" sz="900" b="1" dirty="0">
                  <a:solidFill>
                    <a:srgbClr val="1A1A1A"/>
                  </a:solidFill>
                  <a:latin typeface="+mn-lt"/>
                  <a:ea typeface="+mn-ea"/>
                  <a:cs typeface="+mn-cs"/>
                </a:rPr>
                <a:t>Director​</a:t>
              </a:r>
            </a:p>
          </p:txBody>
        </p:sp>
        <p:sp>
          <p:nvSpPr>
            <p:cNvPr id="25" name="TextBox 25"/>
            <p:cNvSpPr txBox="1"/>
            <p:nvPr/>
          </p:nvSpPr>
          <p:spPr>
            <a:xfrm>
              <a:off x="6662738" y="5827395"/>
              <a:ext cx="1346835"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3333"/>
                  </a:solidFill>
                  <a:latin typeface="+mn-lt"/>
                  <a:ea typeface="+mn-ea"/>
                  <a:cs typeface="+mn-cs"/>
                </a:rPr>
                <a:t>Model risk management​</a:t>
              </a:r>
              <a:br/>
              <a:r>
                <a:rPr lang="en-US" sz="900" dirty="0">
                  <a:solidFill>
                    <a:srgbClr val="333333"/>
                  </a:solidFill>
                  <a:latin typeface="+mn-lt"/>
                  <a:ea typeface="+mn-ea"/>
                  <a:cs typeface="+mn-cs"/>
                </a:rPr>
                <a:t>North South Europe​</a:t>
              </a:r>
            </a:p>
          </p:txBody>
        </p:sp>
        <p:sp>
          <p:nvSpPr>
            <p:cNvPr id="26" name="TextBox 26"/>
            <p:cNvSpPr txBox="1"/>
            <p:nvPr/>
          </p:nvSpPr>
          <p:spPr>
            <a:xfrm>
              <a:off x="566738" y="6303645"/>
              <a:ext cx="1828312"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2021年3月（March 2021）​​​​​</a:t>
              </a:r>
            </a:p>
          </p:txBody>
        </p:sp>
      </p:grpSp>
      <p:grpSp>
        <p:nvGrpSpPr>
          <p:cNvPr id="61" name="nav"/>
          <p:cNvGrpSpPr/>
          <p:nvPr/>
        </p:nvGrpSpPr>
        <p:grpSpPr>
          <a:xfrm>
            <a:off x="9834562" y="0"/>
            <a:ext cx="2357438" cy="6858000"/>
            <a:chOff x="9834562" y="0"/>
            <a:chExt cx="2357438" cy="6858000"/>
          </a:xfrm>
        </p:grpSpPr>
        <p:sp>
          <p:nvSpPr>
            <p:cNvPr id="28" name="Line 28"/>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29" name="Rectangle 29"/>
            <p:cNvSpPr/>
            <p:nvPr/>
          </p:nvSpPr>
          <p:spPr>
            <a:xfrm>
              <a:off x="9839325" y="476250"/>
              <a:ext cx="2352675" cy="514350"/>
            </a:xfrm>
            <a:prstGeom prst="rect">
              <a:avLst/>
            </a:prstGeom>
            <a:solidFill>
              <a:srgbClr val="7C1500"/>
            </a:solidFill>
            <a:ln>
              <a:noFill/>
            </a:ln>
          </p:spPr>
        </p:sp>
        <p:sp>
          <p:nvSpPr>
            <p:cNvPr id="30" name="TextBox 30"/>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前言</a:t>
              </a:r>
            </a:p>
          </p:txBody>
        </p:sp>
        <p:sp>
          <p:nvSpPr>
            <p:cNvPr id="31" name="Rectangle 31"/>
            <p:cNvSpPr/>
            <p:nvPr/>
          </p:nvSpPr>
          <p:spPr>
            <a:xfrm>
              <a:off x="9839325" y="1000125"/>
              <a:ext cx="2352675" cy="514350"/>
            </a:xfrm>
            <a:prstGeom prst="rect">
              <a:avLst/>
            </a:prstGeom>
            <a:solidFill>
              <a:srgbClr val="F3F3F3"/>
            </a:solidFill>
            <a:ln>
              <a:noFill/>
            </a:ln>
          </p:spPr>
        </p:sp>
        <p:sp>
          <p:nvSpPr>
            <p:cNvPr id="32" name="TextBox 32"/>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33" name="Rectangle 33"/>
            <p:cNvSpPr/>
            <p:nvPr/>
          </p:nvSpPr>
          <p:spPr>
            <a:xfrm>
              <a:off x="9839325" y="1524000"/>
              <a:ext cx="2352675" cy="514350"/>
            </a:xfrm>
            <a:prstGeom prst="rect">
              <a:avLst/>
            </a:prstGeom>
            <a:solidFill>
              <a:srgbClr val="F3F3F3"/>
            </a:solidFill>
            <a:ln>
              <a:noFill/>
            </a:ln>
          </p:spPr>
        </p:sp>
        <p:sp>
          <p:nvSpPr>
            <p:cNvPr id="34" name="TextBox 34"/>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35" name="Rectangle 35"/>
            <p:cNvSpPr/>
            <p:nvPr/>
          </p:nvSpPr>
          <p:spPr>
            <a:xfrm>
              <a:off x="9839325" y="2047875"/>
              <a:ext cx="2352675" cy="514350"/>
            </a:xfrm>
            <a:prstGeom prst="rect">
              <a:avLst/>
            </a:prstGeom>
            <a:solidFill>
              <a:srgbClr val="F3F3F3"/>
            </a:solidFill>
            <a:ln>
              <a:noFill/>
            </a:ln>
          </p:spPr>
        </p:sp>
        <p:sp>
          <p:nvSpPr>
            <p:cNvPr id="36" name="TextBox 36"/>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37" name="Rectangle 37"/>
            <p:cNvSpPr/>
            <p:nvPr/>
          </p:nvSpPr>
          <p:spPr>
            <a:xfrm>
              <a:off x="9839325" y="2571750"/>
              <a:ext cx="2352675" cy="514350"/>
            </a:xfrm>
            <a:prstGeom prst="rect">
              <a:avLst/>
            </a:prstGeom>
            <a:solidFill>
              <a:srgbClr val="F3F3F3"/>
            </a:solidFill>
            <a:ln>
              <a:noFill/>
            </a:ln>
          </p:spPr>
        </p:sp>
        <p:sp>
          <p:nvSpPr>
            <p:cNvPr id="38" name="TextBox 38"/>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39" name="Rectangle 39"/>
            <p:cNvSpPr/>
            <p:nvPr/>
          </p:nvSpPr>
          <p:spPr>
            <a:xfrm>
              <a:off x="9839325" y="3095625"/>
              <a:ext cx="2352675" cy="514350"/>
            </a:xfrm>
            <a:prstGeom prst="rect">
              <a:avLst/>
            </a:prstGeom>
            <a:solidFill>
              <a:srgbClr val="F3F3F3"/>
            </a:solidFill>
            <a:ln>
              <a:noFill/>
            </a:ln>
          </p:spPr>
        </p:sp>
        <p:sp>
          <p:nvSpPr>
            <p:cNvPr id="40" name="TextBox 40"/>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41" name="Rectangle 41"/>
            <p:cNvSpPr/>
            <p:nvPr/>
          </p:nvSpPr>
          <p:spPr>
            <a:xfrm>
              <a:off x="9839325" y="3619500"/>
              <a:ext cx="2352675" cy="514350"/>
            </a:xfrm>
            <a:prstGeom prst="rect">
              <a:avLst/>
            </a:prstGeom>
            <a:solidFill>
              <a:srgbClr val="F3F3F3"/>
            </a:solidFill>
            <a:ln>
              <a:noFill/>
            </a:ln>
          </p:spPr>
        </p:sp>
        <p:sp>
          <p:nvSpPr>
            <p:cNvPr id="42" name="TextBox 42"/>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43" name="Rectangle 43"/>
            <p:cNvSpPr/>
            <p:nvPr/>
          </p:nvSpPr>
          <p:spPr>
            <a:xfrm>
              <a:off x="9839325" y="4143375"/>
              <a:ext cx="2352675" cy="514350"/>
            </a:xfrm>
            <a:prstGeom prst="rect">
              <a:avLst/>
            </a:prstGeom>
            <a:solidFill>
              <a:srgbClr val="F3F3F3"/>
            </a:solidFill>
            <a:ln>
              <a:noFill/>
            </a:ln>
          </p:spPr>
        </p:sp>
        <p:sp>
          <p:nvSpPr>
            <p:cNvPr id="44" name="TextBox 44"/>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45" name="Rectangle 45"/>
            <p:cNvSpPr/>
            <p:nvPr/>
          </p:nvSpPr>
          <p:spPr>
            <a:xfrm>
              <a:off x="9839325" y="4667250"/>
              <a:ext cx="2352675" cy="514350"/>
            </a:xfrm>
            <a:prstGeom prst="rect">
              <a:avLst/>
            </a:prstGeom>
            <a:solidFill>
              <a:srgbClr val="F3F3F3"/>
            </a:solidFill>
            <a:ln>
              <a:noFill/>
            </a:ln>
          </p:spPr>
        </p:sp>
        <p:sp>
          <p:nvSpPr>
            <p:cNvPr id="46" name="TextBox 46"/>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47" name="Rectangle 47"/>
            <p:cNvSpPr/>
            <p:nvPr/>
          </p:nvSpPr>
          <p:spPr>
            <a:xfrm>
              <a:off x="9839325" y="5191125"/>
              <a:ext cx="2352675" cy="514350"/>
            </a:xfrm>
            <a:prstGeom prst="rect">
              <a:avLst/>
            </a:prstGeom>
            <a:solidFill>
              <a:srgbClr val="F3F3F3"/>
            </a:solidFill>
            <a:ln>
              <a:noFill/>
            </a:ln>
          </p:spPr>
        </p:sp>
        <p:sp>
          <p:nvSpPr>
            <p:cNvPr id="48" name="TextBox 48"/>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49" name="Rectangle 49"/>
            <p:cNvSpPr/>
            <p:nvPr/>
          </p:nvSpPr>
          <p:spPr>
            <a:xfrm>
              <a:off x="9839325" y="5715000"/>
              <a:ext cx="2352675" cy="514350"/>
            </a:xfrm>
            <a:prstGeom prst="rect">
              <a:avLst/>
            </a:prstGeom>
            <a:solidFill>
              <a:srgbClr val="F3F3F3"/>
            </a:solidFill>
            <a:ln>
              <a:noFill/>
            </a:ln>
          </p:spPr>
        </p:sp>
        <p:sp>
          <p:nvSpPr>
            <p:cNvPr id="50" name="TextBox 50"/>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51" name="Ellipse 51"/>
            <p:cNvSpPr/>
            <p:nvPr/>
          </p:nvSpPr>
          <p:spPr>
            <a:xfrm>
              <a:off x="10020300" y="6372225"/>
              <a:ext cx="266700" cy="266700"/>
            </a:xfrm>
            <a:prstGeom prst="ellipse">
              <a:avLst/>
            </a:prstGeom>
            <a:solidFill>
              <a:srgbClr val="D7D8D6"/>
            </a:solidFill>
            <a:ln>
              <a:noFill/>
            </a:ln>
          </p:spPr>
        </p:sp>
        <p:sp>
          <p:nvSpPr>
            <p:cNvPr id="52" name="Freeform 52"/>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53" name="Ellipse 53"/>
            <p:cNvSpPr/>
            <p:nvPr/>
          </p:nvSpPr>
          <p:spPr>
            <a:xfrm>
              <a:off x="10420350" y="6372225"/>
              <a:ext cx="266700" cy="266700"/>
            </a:xfrm>
            <a:prstGeom prst="ellipse">
              <a:avLst/>
            </a:prstGeom>
            <a:solidFill>
              <a:srgbClr val="D7D8D6"/>
            </a:solidFill>
            <a:ln>
              <a:noFill/>
            </a:ln>
          </p:spPr>
        </p:sp>
        <p:grpSp>
          <p:nvGrpSpPr>
            <p:cNvPr id="57" name="Group 57"/>
            <p:cNvGrpSpPr/>
            <p:nvPr/>
          </p:nvGrpSpPr>
          <p:grpSpPr>
            <a:xfrm>
              <a:off x="10489406" y="6441281"/>
              <a:ext cx="128588" cy="128588"/>
              <a:chOff x="10489406" y="6441281"/>
              <a:chExt cx="128588" cy="128588"/>
            </a:xfrm>
          </p:grpSpPr>
          <p:sp>
            <p:nvSpPr>
              <p:cNvPr id="54" name="Freeform 54"/>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55" name="Freeform 55"/>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56" name="Freeform 56"/>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58" name="Ellipse 58"/>
            <p:cNvSpPr/>
            <p:nvPr/>
          </p:nvSpPr>
          <p:spPr>
            <a:xfrm>
              <a:off x="10820400" y="6372225"/>
              <a:ext cx="266700" cy="266700"/>
            </a:xfrm>
            <a:prstGeom prst="ellipse">
              <a:avLst/>
            </a:prstGeom>
            <a:solidFill>
              <a:srgbClr val="D7D8D6"/>
            </a:solidFill>
            <a:ln>
              <a:noFill/>
            </a:ln>
          </p:spPr>
        </p:sp>
        <p:sp>
          <p:nvSpPr>
            <p:cNvPr id="59" name="Freeform 59"/>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60" name="TextBox 60"/>
            <p:cNvSpPr txBox="1"/>
            <p:nvPr/>
          </p:nvSpPr>
          <p:spPr>
            <a:xfrm>
              <a:off x="11872951" y="6456045"/>
              <a:ext cx="76162"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a:t>
              </a:r>
            </a:p>
          </p:txBody>
        </p:sp>
      </p:gr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61F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03</a:t>
              </a:r>
            </a:p>
          </p:txBody>
        </p:sp>
        <p:sp>
          <p:nvSpPr>
            <p:cNvPr id="4" name="TextBox 4"/>
            <p:cNvSpPr txBox="1"/>
            <p:nvPr/>
          </p:nvSpPr>
          <p:spPr>
            <a:xfrm>
              <a:off x="942594" y="151448"/>
              <a:ext cx="5099135"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 xml:space="preserve">执行摘要 </a:t>
              </a:r>
              <a:r>
                <a:rPr lang="en-US" sz="1950" b="1" dirty="0">
                  <a:solidFill>
                    <a:srgbClr val="B61F00"/>
                  </a:solidFill>
                  <a:latin typeface="+mj-lt"/>
                  <a:ea typeface="+mj-ea"/>
                  <a:cs typeface="+mj-cs"/>
                </a:rPr>
                <a:t>Executive summary</a:t>
              </a:r>
              <a:r>
                <a:rPr lang="zh-CN" sz="1950" b="1" dirty="0">
                  <a:solidFill>
                    <a:srgbClr val="1A1A1A"/>
                  </a:solidFill>
                  <a:latin typeface="+mj-lt"/>
                  <a:ea typeface="+mj-ea"/>
                  <a:cs typeface="+mj-cs"/>
                </a:rPr>
                <a:t>（一）​​</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B61F00"/>
              </a:solidFill>
            </a:ln>
          </p:spPr>
        </p:sp>
      </p:grpSp>
      <p:grpSp>
        <p:nvGrpSpPr>
          <p:cNvPr id="9" name="leadbox"/>
          <p:cNvGrpSpPr/>
          <p:nvPr/>
        </p:nvGrpSpPr>
        <p:grpSpPr>
          <a:xfrm>
            <a:off x="476250" y="762000"/>
            <a:ext cx="9144000" cy="828675"/>
            <a:chOff x="476250" y="762000"/>
            <a:chExt cx="9144000" cy="828675"/>
          </a:xfrm>
        </p:grpSpPr>
        <p:sp>
          <p:nvSpPr>
            <p:cNvPr id="7" name="Rectangle 7"/>
            <p:cNvSpPr/>
            <p:nvPr/>
          </p:nvSpPr>
          <p:spPr>
            <a:xfrm>
              <a:off x="476250" y="762000"/>
              <a:ext cx="9144000" cy="828675"/>
            </a:xfrm>
            <a:prstGeom prst="rect">
              <a:avLst/>
            </a:prstGeom>
            <a:solidFill>
              <a:srgbClr val="F7F7F7"/>
            </a:solidFill>
            <a:ln>
              <a:noFill/>
            </a:ln>
          </p:spPr>
        </p:sp>
        <p:sp>
          <p:nvSpPr>
            <p:cNvPr id="8" name="TextBox 8"/>
            <p:cNvSpPr txBox="1"/>
            <p:nvPr/>
          </p:nvSpPr>
          <p:spPr>
            <a:xfrm>
              <a:off x="604266" y="895350"/>
              <a:ext cx="8365046" cy="605409"/>
            </a:xfrm>
            <a:prstGeom prst="rect">
              <a:avLst/>
            </a:prstGeom>
            <a:noFill/>
            <a:ln>
              <a:noFill/>
            </a:ln>
          </p:spPr>
          <p:txBody>
            <a:bodyPr wrap="none" lIns="0" tIns="0" rIns="0" bIns="0" anchor="t" anchorCtr="0">
              <a:spAutoFit/>
            </a:bodyPr>
            <a:lstStyle/>
            <a:p>
              <a:pPr algn="l">
                <a:lnSpc>
                  <a:spcPts val="1575"/>
                </a:lnSpc>
              </a:pPr>
              <a:r>
                <a:rPr lang="zh-CN" sz="1050" dirty="0">
                  <a:solidFill>
                    <a:srgbClr val="B61F00"/>
                  </a:solidFill>
                  <a:latin typeface="+mn-lt"/>
                  <a:ea typeface="+mn-ea"/>
                  <a:cs typeface="+mn-cs"/>
                </a:rPr>
                <a:t>本次模型风险管理调研于2020年11月至2021年2月进行，共有80家来自欧洲、中东和南非的银行参与。调研覆盖模型风险管理的所​​​​​​​​​​</a:t>
              </a:r>
              <a:br/>
              <a:r>
                <a:rPr lang="zh-CN" sz="1050" dirty="0">
                  <a:solidFill>
                    <a:srgbClr val="B61F00"/>
                  </a:solidFill>
                  <a:latin typeface="+mn-lt"/>
                  <a:ea typeface="+mn-ea"/>
                  <a:cs typeface="+mn-cs"/>
                </a:rPr>
                <a:t>有关键板块，围绕四大主题：治理、模型版图与清单、技术、监控与报告。我们希望调研为模型风险管理提供有价值的洞察，帮助银行成为​</a:t>
              </a:r>
              <a:br/>
              <a:r>
                <a:rPr lang="zh-CN" sz="1050" dirty="0">
                  <a:solidFill>
                    <a:srgbClr val="B61F00"/>
                  </a:solidFill>
                  <a:latin typeface="+mn-lt"/>
                  <a:ea typeface="+mn-ea"/>
                  <a:cs typeface="+mn-cs"/>
                </a:rPr>
                <a:t>更负责任的企业。​</a:t>
              </a:r>
            </a:p>
          </p:txBody>
        </p:sp>
      </p:grpSp>
      <p:grpSp>
        <p:nvGrpSpPr>
          <p:cNvPr id="14" name="col-1"/>
          <p:cNvGrpSpPr/>
          <p:nvPr/>
        </p:nvGrpSpPr>
        <p:grpSpPr>
          <a:xfrm>
            <a:off x="566738" y="1813322"/>
            <a:ext cx="2586990" cy="2199561"/>
            <a:chOff x="566738" y="1813322"/>
            <a:chExt cx="2586990" cy="2199561"/>
          </a:xfrm>
        </p:grpSpPr>
        <p:sp>
          <p:nvSpPr>
            <p:cNvPr id="10" name="TextBox 10"/>
            <p:cNvSpPr txBox="1"/>
            <p:nvPr/>
          </p:nvSpPr>
          <p:spPr>
            <a:xfrm>
              <a:off x="566738" y="1813322"/>
              <a:ext cx="2486917" cy="183356"/>
            </a:xfrm>
            <a:prstGeom prst="rect">
              <a:avLst/>
            </a:prstGeom>
            <a:noFill/>
            <a:ln>
              <a:noFill/>
            </a:ln>
          </p:spPr>
          <p:txBody>
            <a:bodyPr wrap="none" lIns="0" tIns="0" rIns="0" bIns="0" anchor="t" anchorCtr="0">
              <a:spAutoFit/>
            </a:bodyPr>
            <a:lstStyle/>
            <a:p>
              <a:pPr algn="l"/>
              <a:r>
                <a:rPr lang="zh-CN" sz="940" b="1" dirty="0">
                  <a:solidFill>
                    <a:srgbClr val="B61F00"/>
                  </a:solidFill>
                  <a:latin typeface="+mn-lt"/>
                  <a:ea typeface="+mn-ea"/>
                  <a:cs typeface="+mn-cs"/>
                </a:rPr>
                <a:t>模型版图与清单：高效模型风险管理的基础​</a:t>
              </a:r>
            </a:p>
          </p:txBody>
        </p:sp>
        <p:sp>
          <p:nvSpPr>
            <p:cNvPr id="11" name="TextBox 11"/>
            <p:cNvSpPr txBox="1"/>
            <p:nvPr/>
          </p:nvSpPr>
          <p:spPr>
            <a:xfrm>
              <a:off x="566738" y="1998345"/>
              <a:ext cx="25869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模型清单是所有模型的中央存储库，是高效模型风​</a:t>
              </a:r>
              <a:br/>
              <a:r>
                <a:rPr lang="zh-CN" sz="900" dirty="0">
                  <a:solidFill>
                    <a:srgbClr val="333333"/>
                  </a:solidFill>
                  <a:latin typeface="+mn-lt"/>
                  <a:ea typeface="+mn-ea"/>
                  <a:cs typeface="+mn-cs"/>
                </a:rPr>
                <a:t>险管理的基础。它界定了模型风险管理的范围，也​</a:t>
              </a:r>
              <a:br/>
              <a:r>
                <a:rPr lang="zh-CN" sz="900" dirty="0">
                  <a:solidFill>
                    <a:srgbClr val="333333"/>
                  </a:solidFill>
                  <a:latin typeface="+mn-lt"/>
                  <a:ea typeface="+mn-ea"/>
                  <a:cs typeface="+mn-cs"/>
                </a:rPr>
                <a:t>是模型风险全部信息的来源。​</a:t>
              </a:r>
            </a:p>
          </p:txBody>
        </p:sp>
        <p:sp>
          <p:nvSpPr>
            <p:cNvPr id="12" name="TextBox 12"/>
            <p:cNvSpPr txBox="1"/>
            <p:nvPr/>
          </p:nvSpPr>
          <p:spPr>
            <a:xfrm>
              <a:off x="566738" y="2646045"/>
              <a:ext cx="25869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模型清单始于清晰且全行统一的模型定义，由此界​</a:t>
              </a:r>
              <a:br/>
              <a:r>
                <a:rPr lang="zh-CN" sz="900" dirty="0">
                  <a:solidFill>
                    <a:srgbClr val="333333"/>
                  </a:solidFill>
                  <a:latin typeface="+mn-lt"/>
                  <a:ea typeface="+mn-ea"/>
                  <a:cs typeface="+mn-cs"/>
                </a:rPr>
                <a:t>定纳入清单的模型范围。调研显示，87%的银​​</a:t>
              </a:r>
              <a:br/>
              <a:r>
                <a:rPr lang="zh-CN" sz="900" dirty="0">
                  <a:solidFill>
                    <a:srgbClr val="333333"/>
                  </a:solidFill>
                  <a:latin typeface="+mn-lt"/>
                  <a:ea typeface="+mn-ea"/>
                  <a:cs typeface="+mn-cs"/>
                </a:rPr>
                <a:t>行拥有成文的模型定义。​</a:t>
              </a:r>
            </a:p>
          </p:txBody>
        </p:sp>
        <p:sp>
          <p:nvSpPr>
            <p:cNvPr id="13" name="TextBox 13"/>
            <p:cNvSpPr txBox="1"/>
            <p:nvPr/>
          </p:nvSpPr>
          <p:spPr>
            <a:xfrm>
              <a:off x="566738" y="3293745"/>
              <a:ext cx="25869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随着银行对模型依赖加深，模型清单及模型风险管​</a:t>
              </a:r>
              <a:br/>
              <a:r>
                <a:rPr lang="zh-CN" sz="900" dirty="0">
                  <a:solidFill>
                    <a:srgbClr val="333333"/>
                  </a:solidFill>
                  <a:latin typeface="+mn-lt"/>
                  <a:ea typeface="+mn-ea"/>
                  <a:cs typeface="+mn-cs"/>
                </a:rPr>
                <a:t>理框架覆盖的模型范围也在扩大。受监管约束的模​</a:t>
              </a:r>
              <a:br/>
              <a:r>
                <a:rPr lang="zh-CN" sz="900" dirty="0">
                  <a:solidFill>
                    <a:srgbClr val="333333"/>
                  </a:solidFill>
                  <a:latin typeface="+mn-lt"/>
                  <a:ea typeface="+mn-ea"/>
                  <a:cs typeface="+mn-cs"/>
                </a:rPr>
                <a:t>型类型（如金融风险模型，pillar 1资本与会​​</a:t>
              </a:r>
              <a:br/>
              <a:r>
                <a:rPr lang="zh-CN" sz="900" dirty="0">
                  <a:solidFill>
                    <a:srgbClr val="333333"/>
                  </a:solidFill>
                  <a:latin typeface="+mn-lt"/>
                  <a:ea typeface="+mn-ea"/>
                  <a:cs typeface="+mn-cs"/>
                </a:rPr>
                <a:t>计）最常被纳入模型版图与清单。​</a:t>
              </a:r>
            </a:p>
          </p:txBody>
        </p:sp>
      </p:grpSp>
      <p:grpSp>
        <p:nvGrpSpPr>
          <p:cNvPr id="19" name="col-2"/>
          <p:cNvGrpSpPr/>
          <p:nvPr/>
        </p:nvGrpSpPr>
        <p:grpSpPr>
          <a:xfrm>
            <a:off x="3614738" y="1817370"/>
            <a:ext cx="2586990" cy="2376488"/>
            <a:chOff x="3614738" y="1817370"/>
            <a:chExt cx="2586990" cy="2376488"/>
          </a:xfrm>
        </p:grpSpPr>
        <p:sp>
          <p:nvSpPr>
            <p:cNvPr id="15" name="TextBox 15"/>
            <p:cNvSpPr txBox="1"/>
            <p:nvPr/>
          </p:nvSpPr>
          <p:spPr>
            <a:xfrm>
              <a:off x="3614738" y="1817370"/>
              <a:ext cx="25869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大型银行尤其开始将其他类型的模型纳入模型风险​</a:t>
              </a:r>
              <a:br/>
              <a:r>
                <a:rPr lang="zh-CN" sz="900" dirty="0">
                  <a:solidFill>
                    <a:srgbClr val="333333"/>
                  </a:solidFill>
                  <a:latin typeface="+mn-lt"/>
                  <a:ea typeface="+mn-ea"/>
                  <a:cs typeface="+mn-cs"/>
                </a:rPr>
                <a:t>管理框架：金融风险模型（pillar 2资本与流​​</a:t>
              </a:r>
              <a:br/>
              <a:r>
                <a:rPr lang="zh-CN" sz="900" dirty="0">
                  <a:solidFill>
                    <a:srgbClr val="333333"/>
                  </a:solidFill>
                  <a:latin typeface="+mn-lt"/>
                  <a:ea typeface="+mn-ea"/>
                  <a:cs typeface="+mn-cs"/>
                </a:rPr>
                <a:t>动性）、合规模型以及网络、营销和HR等其​​</a:t>
              </a:r>
              <a:br/>
              <a:r>
                <a:rPr lang="zh-CN" sz="900" dirty="0">
                  <a:solidFill>
                    <a:srgbClr val="333333"/>
                  </a:solidFill>
                  <a:latin typeface="+mn-lt"/>
                  <a:ea typeface="+mn-ea"/>
                  <a:cs typeface="+mn-cs"/>
                </a:rPr>
                <a:t>他模型。​</a:t>
              </a:r>
            </a:p>
          </p:txBody>
        </p:sp>
        <p:sp>
          <p:nvSpPr>
            <p:cNvPr id="16" name="TextBox 16"/>
            <p:cNvSpPr txBox="1"/>
            <p:nvPr/>
          </p:nvSpPr>
          <p:spPr>
            <a:xfrm>
              <a:off x="3614738" y="2646045"/>
              <a:ext cx="25869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总体而言，银行规模越大，模型风险管理框架越成​</a:t>
              </a:r>
              <a:br/>
              <a:r>
                <a:rPr lang="zh-CN" sz="900" dirty="0">
                  <a:solidFill>
                    <a:srgbClr val="333333"/>
                  </a:solidFill>
                  <a:latin typeface="+mn-lt"/>
                  <a:ea typeface="+mn-ea"/>
                  <a:cs typeface="+mn-cs"/>
                </a:rPr>
                <a:t>熟，模型清单中的模型数量也越多。清单中模型数​</a:t>
              </a:r>
              <a:br/>
              <a:r>
                <a:rPr lang="zh-CN" sz="900" dirty="0">
                  <a:solidFill>
                    <a:srgbClr val="333333"/>
                  </a:solidFill>
                  <a:latin typeface="+mn-lt"/>
                  <a:ea typeface="+mn-ea"/>
                  <a:cs typeface="+mn-cs"/>
                </a:rPr>
                <a:t>量的平均值：小型银行约90个、中型170个、​​​​</a:t>
              </a:r>
              <a:br/>
              <a:r>
                <a:rPr lang="zh-CN" sz="900" dirty="0">
                  <a:solidFill>
                    <a:srgbClr val="333333"/>
                  </a:solidFill>
                  <a:latin typeface="+mn-lt"/>
                  <a:ea typeface="+mn-ea"/>
                  <a:cs typeface="+mn-cs"/>
                </a:rPr>
                <a:t>大型650个。大型银行清单超过500个模型的​​​​</a:t>
              </a:r>
              <a:br/>
              <a:r>
                <a:rPr lang="zh-CN" sz="900" dirty="0">
                  <a:solidFill>
                    <a:srgbClr val="333333"/>
                  </a:solidFill>
                  <a:latin typeface="+mn-lt"/>
                  <a:ea typeface="+mn-ea"/>
                  <a:cs typeface="+mn-cs"/>
                </a:rPr>
                <a:t>情况并不少见。​</a:t>
              </a:r>
            </a:p>
          </p:txBody>
        </p:sp>
        <p:sp>
          <p:nvSpPr>
            <p:cNvPr id="17" name="TextBox 17"/>
            <p:cNvSpPr txBox="1"/>
            <p:nvPr/>
          </p:nvSpPr>
          <p:spPr>
            <a:xfrm>
              <a:off x="3614738" y="3651647"/>
              <a:ext cx="1854203" cy="183356"/>
            </a:xfrm>
            <a:prstGeom prst="rect">
              <a:avLst/>
            </a:prstGeom>
            <a:noFill/>
            <a:ln>
              <a:noFill/>
            </a:ln>
          </p:spPr>
          <p:txBody>
            <a:bodyPr wrap="none" lIns="0" tIns="0" rIns="0" bIns="0" anchor="t" anchorCtr="0">
              <a:spAutoFit/>
            </a:bodyPr>
            <a:lstStyle/>
            <a:p>
              <a:pPr algn="l"/>
              <a:r>
                <a:rPr lang="zh-CN" sz="940" b="1" dirty="0">
                  <a:solidFill>
                    <a:srgbClr val="B61F00"/>
                  </a:solidFill>
                  <a:latin typeface="+mn-lt"/>
                  <a:ea typeface="+mn-ea"/>
                  <a:cs typeface="+mn-cs"/>
                </a:rPr>
                <a:t>关于治理与模型生命周期的观点​</a:t>
              </a:r>
            </a:p>
          </p:txBody>
        </p:sp>
        <p:sp>
          <p:nvSpPr>
            <p:cNvPr id="18" name="TextBox 18"/>
            <p:cNvSpPr txBox="1"/>
            <p:nvPr/>
          </p:nvSpPr>
          <p:spPr>
            <a:xfrm>
              <a:off x="3614738" y="3836670"/>
              <a:ext cx="25869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覆盖模型全生命周期的更强治理是模型风险管理框​</a:t>
              </a:r>
              <a:br/>
              <a:r>
                <a:rPr lang="zh-CN" sz="900" dirty="0">
                  <a:solidFill>
                    <a:srgbClr val="333333"/>
                  </a:solidFill>
                  <a:latin typeface="+mn-lt"/>
                  <a:ea typeface="+mn-ea"/>
                  <a:cs typeface="+mn-cs"/>
                </a:rPr>
                <a:t>架的关键要求。​</a:t>
              </a:r>
            </a:p>
          </p:txBody>
        </p:sp>
      </p:grpSp>
      <p:grpSp>
        <p:nvGrpSpPr>
          <p:cNvPr id="22" name="col-3"/>
          <p:cNvGrpSpPr/>
          <p:nvPr/>
        </p:nvGrpSpPr>
        <p:grpSpPr>
          <a:xfrm>
            <a:off x="6662738" y="1817370"/>
            <a:ext cx="2621280" cy="1909763"/>
            <a:chOff x="6662738" y="1817370"/>
            <a:chExt cx="2621280" cy="1909763"/>
          </a:xfrm>
        </p:grpSpPr>
        <p:sp>
          <p:nvSpPr>
            <p:cNvPr id="20" name="TextBox 20"/>
            <p:cNvSpPr txBox="1"/>
            <p:nvPr/>
          </p:nvSpPr>
          <p:spPr>
            <a:xfrm>
              <a:off x="6662738" y="1817370"/>
              <a:ext cx="25869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模型所有者的角色是模型治理的关键，86%的​​</a:t>
              </a:r>
              <a:br/>
              <a:r>
                <a:rPr lang="zh-CN" sz="900" dirty="0">
                  <a:solidFill>
                    <a:srgbClr val="333333"/>
                  </a:solidFill>
                  <a:latin typeface="+mn-lt"/>
                  <a:ea typeface="+mn-ea"/>
                  <a:cs typeface="+mn-cs"/>
                </a:rPr>
                <a:t>银行表示已清晰定义并记录模型所有者的角色。然​</a:t>
              </a:r>
              <a:br/>
              <a:r>
                <a:rPr lang="zh-CN" sz="900" dirty="0">
                  <a:solidFill>
                    <a:srgbClr val="333333"/>
                  </a:solidFill>
                  <a:latin typeface="+mn-lt"/>
                  <a:ea typeface="+mn-ea"/>
                  <a:cs typeface="+mn-cs"/>
                </a:rPr>
                <a:t>而，银行在推行该角色时面临诸多挑战：35%​</a:t>
              </a:r>
              <a:br/>
              <a:r>
                <a:rPr lang="zh-CN" sz="900" dirty="0">
                  <a:solidFill>
                    <a:srgbClr val="333333"/>
                  </a:solidFill>
                  <a:latin typeface="+mn-lt"/>
                  <a:ea typeface="+mn-ea"/>
                  <a:cs typeface="+mn-cs"/>
                </a:rPr>
                <a:t>的银行的核心挑战是让人员按模型所有者的职责行​</a:t>
              </a:r>
              <a:br/>
              <a:r>
                <a:rPr lang="zh-CN" sz="900" dirty="0">
                  <a:solidFill>
                    <a:srgbClr val="333333"/>
                  </a:solidFill>
                  <a:latin typeface="+mn-lt"/>
                  <a:ea typeface="+mn-ea"/>
                  <a:cs typeface="+mn-cs"/>
                </a:rPr>
                <a:t>动；19%的银行的挑战是让人员理解模型所有​​</a:t>
              </a:r>
              <a:br/>
              <a:r>
                <a:rPr lang="zh-CN" sz="900" dirty="0">
                  <a:solidFill>
                    <a:srgbClr val="333333"/>
                  </a:solidFill>
                  <a:latin typeface="+mn-lt"/>
                  <a:ea typeface="+mn-ea"/>
                  <a:cs typeface="+mn-cs"/>
                </a:rPr>
                <a:t>者的职责。​</a:t>
              </a:r>
            </a:p>
          </p:txBody>
        </p:sp>
        <p:sp>
          <p:nvSpPr>
            <p:cNvPr id="21" name="TextBox 21"/>
            <p:cNvSpPr txBox="1"/>
            <p:nvPr/>
          </p:nvSpPr>
          <p:spPr>
            <a:xfrm>
              <a:off x="6662738" y="3007995"/>
              <a:ext cx="262128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多数银行采用的汇报结构——同时也是最佳实践—​​​​</a:t>
              </a:r>
              <a:br/>
              <a:r>
                <a:rPr lang="zh-CN" sz="900" dirty="0">
                  <a:solidFill>
                    <a:srgbClr val="333333"/>
                  </a:solidFill>
                  <a:latin typeface="+mn-lt"/>
                  <a:ea typeface="+mn-ea"/>
                  <a:cs typeface="+mn-cs"/>
                </a:rPr>
                <a:t>—是模型风险管理负责人直接向CRO汇报。​​​</a:t>
              </a:r>
              <a:br/>
              <a:r>
                <a:rPr lang="zh-CN" sz="900" dirty="0">
                  <a:solidFill>
                    <a:srgbClr val="333333"/>
                  </a:solidFill>
                  <a:latin typeface="+mn-lt"/>
                  <a:ea typeface="+mn-ea"/>
                  <a:cs typeface="+mn-cs"/>
                </a:rPr>
                <a:t>另有24%的银行的模型风险管理负责人向企业​​</a:t>
              </a:r>
              <a:br/>
              <a:r>
                <a:rPr lang="zh-CN" sz="900" dirty="0">
                  <a:solidFill>
                    <a:srgbClr val="333333"/>
                  </a:solidFill>
                  <a:latin typeface="+mn-lt"/>
                  <a:ea typeface="+mn-ea"/>
                  <a:cs typeface="+mn-cs"/>
                </a:rPr>
                <a:t>风险管理负责人汇报，后者再向CRO汇报。​​</a:t>
              </a:r>
            </a:p>
          </p:txBody>
        </p:sp>
      </p:grpSp>
      <p:grpSp>
        <p:nvGrpSpPr>
          <p:cNvPr id="56" name="nav"/>
          <p:cNvGrpSpPr/>
          <p:nvPr/>
        </p:nvGrpSpPr>
        <p:grpSpPr>
          <a:xfrm>
            <a:off x="9834562" y="0"/>
            <a:ext cx="2357438" cy="6858000"/>
            <a:chOff x="9834562" y="0"/>
            <a:chExt cx="2357438" cy="6858000"/>
          </a:xfrm>
        </p:grpSpPr>
        <p:sp>
          <p:nvSpPr>
            <p:cNvPr id="23" name="Line 23"/>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24" name="Rectangle 24"/>
            <p:cNvSpPr/>
            <p:nvPr/>
          </p:nvSpPr>
          <p:spPr>
            <a:xfrm>
              <a:off x="9839325" y="476250"/>
              <a:ext cx="2352675" cy="514350"/>
            </a:xfrm>
            <a:prstGeom prst="rect">
              <a:avLst/>
            </a:prstGeom>
            <a:solidFill>
              <a:srgbClr val="F3F3F3"/>
            </a:solidFill>
            <a:ln>
              <a:noFill/>
            </a:ln>
          </p:spPr>
        </p:sp>
        <p:sp>
          <p:nvSpPr>
            <p:cNvPr id="25" name="TextBox 25"/>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26" name="Rectangle 26"/>
            <p:cNvSpPr/>
            <p:nvPr/>
          </p:nvSpPr>
          <p:spPr>
            <a:xfrm>
              <a:off x="9839325" y="1000125"/>
              <a:ext cx="2352675" cy="514350"/>
            </a:xfrm>
            <a:prstGeom prst="rect">
              <a:avLst/>
            </a:prstGeom>
            <a:solidFill>
              <a:srgbClr val="B61F00"/>
            </a:solidFill>
            <a:ln>
              <a:noFill/>
            </a:ln>
          </p:spPr>
        </p:sp>
        <p:sp>
          <p:nvSpPr>
            <p:cNvPr id="27" name="TextBox 27"/>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执行摘要</a:t>
              </a:r>
            </a:p>
          </p:txBody>
        </p:sp>
        <p:sp>
          <p:nvSpPr>
            <p:cNvPr id="28" name="Rectangle 28"/>
            <p:cNvSpPr/>
            <p:nvPr/>
          </p:nvSpPr>
          <p:spPr>
            <a:xfrm>
              <a:off x="9839325" y="1524000"/>
              <a:ext cx="2352675" cy="514350"/>
            </a:xfrm>
            <a:prstGeom prst="rect">
              <a:avLst/>
            </a:prstGeom>
            <a:solidFill>
              <a:srgbClr val="F3F3F3"/>
            </a:solidFill>
            <a:ln>
              <a:noFill/>
            </a:ln>
          </p:spPr>
        </p:sp>
        <p:sp>
          <p:nvSpPr>
            <p:cNvPr id="29" name="TextBox 29"/>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30" name="Rectangle 30"/>
            <p:cNvSpPr/>
            <p:nvPr/>
          </p:nvSpPr>
          <p:spPr>
            <a:xfrm>
              <a:off x="9839325" y="2047875"/>
              <a:ext cx="2352675" cy="514350"/>
            </a:xfrm>
            <a:prstGeom prst="rect">
              <a:avLst/>
            </a:prstGeom>
            <a:solidFill>
              <a:srgbClr val="F3F3F3"/>
            </a:solidFill>
            <a:ln>
              <a:noFill/>
            </a:ln>
          </p:spPr>
        </p:sp>
        <p:sp>
          <p:nvSpPr>
            <p:cNvPr id="31" name="TextBox 31"/>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32" name="Rectangle 32"/>
            <p:cNvSpPr/>
            <p:nvPr/>
          </p:nvSpPr>
          <p:spPr>
            <a:xfrm>
              <a:off x="9839325" y="2571750"/>
              <a:ext cx="2352675" cy="514350"/>
            </a:xfrm>
            <a:prstGeom prst="rect">
              <a:avLst/>
            </a:prstGeom>
            <a:solidFill>
              <a:srgbClr val="F3F3F3"/>
            </a:solidFill>
            <a:ln>
              <a:noFill/>
            </a:ln>
          </p:spPr>
        </p:sp>
        <p:sp>
          <p:nvSpPr>
            <p:cNvPr id="33" name="TextBox 33"/>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34" name="Rectangle 34"/>
            <p:cNvSpPr/>
            <p:nvPr/>
          </p:nvSpPr>
          <p:spPr>
            <a:xfrm>
              <a:off x="9839325" y="3095625"/>
              <a:ext cx="2352675" cy="514350"/>
            </a:xfrm>
            <a:prstGeom prst="rect">
              <a:avLst/>
            </a:prstGeom>
            <a:solidFill>
              <a:srgbClr val="F3F3F3"/>
            </a:solidFill>
            <a:ln>
              <a:noFill/>
            </a:ln>
          </p:spPr>
        </p:sp>
        <p:sp>
          <p:nvSpPr>
            <p:cNvPr id="35" name="TextBox 35"/>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36" name="Rectangle 36"/>
            <p:cNvSpPr/>
            <p:nvPr/>
          </p:nvSpPr>
          <p:spPr>
            <a:xfrm>
              <a:off x="9839325" y="3619500"/>
              <a:ext cx="2352675" cy="514350"/>
            </a:xfrm>
            <a:prstGeom prst="rect">
              <a:avLst/>
            </a:prstGeom>
            <a:solidFill>
              <a:srgbClr val="F3F3F3"/>
            </a:solidFill>
            <a:ln>
              <a:noFill/>
            </a:ln>
          </p:spPr>
        </p:sp>
        <p:sp>
          <p:nvSpPr>
            <p:cNvPr id="37" name="TextBox 37"/>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38" name="Rectangle 38"/>
            <p:cNvSpPr/>
            <p:nvPr/>
          </p:nvSpPr>
          <p:spPr>
            <a:xfrm>
              <a:off x="9839325" y="4143375"/>
              <a:ext cx="2352675" cy="514350"/>
            </a:xfrm>
            <a:prstGeom prst="rect">
              <a:avLst/>
            </a:prstGeom>
            <a:solidFill>
              <a:srgbClr val="F3F3F3"/>
            </a:solidFill>
            <a:ln>
              <a:noFill/>
            </a:ln>
          </p:spPr>
        </p:sp>
        <p:sp>
          <p:nvSpPr>
            <p:cNvPr id="39" name="TextBox 39"/>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40" name="Rectangle 40"/>
            <p:cNvSpPr/>
            <p:nvPr/>
          </p:nvSpPr>
          <p:spPr>
            <a:xfrm>
              <a:off x="9839325" y="4667250"/>
              <a:ext cx="2352675" cy="514350"/>
            </a:xfrm>
            <a:prstGeom prst="rect">
              <a:avLst/>
            </a:prstGeom>
            <a:solidFill>
              <a:srgbClr val="F3F3F3"/>
            </a:solidFill>
            <a:ln>
              <a:noFill/>
            </a:ln>
          </p:spPr>
        </p:sp>
        <p:sp>
          <p:nvSpPr>
            <p:cNvPr id="41" name="TextBox 41"/>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42" name="Rectangle 42"/>
            <p:cNvSpPr/>
            <p:nvPr/>
          </p:nvSpPr>
          <p:spPr>
            <a:xfrm>
              <a:off x="9839325" y="5191125"/>
              <a:ext cx="2352675" cy="514350"/>
            </a:xfrm>
            <a:prstGeom prst="rect">
              <a:avLst/>
            </a:prstGeom>
            <a:solidFill>
              <a:srgbClr val="F3F3F3"/>
            </a:solidFill>
            <a:ln>
              <a:noFill/>
            </a:ln>
          </p:spPr>
        </p:sp>
        <p:sp>
          <p:nvSpPr>
            <p:cNvPr id="43" name="TextBox 43"/>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44" name="Rectangle 44"/>
            <p:cNvSpPr/>
            <p:nvPr/>
          </p:nvSpPr>
          <p:spPr>
            <a:xfrm>
              <a:off x="9839325" y="5715000"/>
              <a:ext cx="2352675" cy="514350"/>
            </a:xfrm>
            <a:prstGeom prst="rect">
              <a:avLst/>
            </a:prstGeom>
            <a:solidFill>
              <a:srgbClr val="F3F3F3"/>
            </a:solidFill>
            <a:ln>
              <a:noFill/>
            </a:ln>
          </p:spPr>
        </p:sp>
        <p:sp>
          <p:nvSpPr>
            <p:cNvPr id="45" name="TextBox 45"/>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46" name="Ellipse 46"/>
            <p:cNvSpPr/>
            <p:nvPr/>
          </p:nvSpPr>
          <p:spPr>
            <a:xfrm>
              <a:off x="10020300" y="6372225"/>
              <a:ext cx="266700" cy="266700"/>
            </a:xfrm>
            <a:prstGeom prst="ellipse">
              <a:avLst/>
            </a:prstGeom>
            <a:solidFill>
              <a:srgbClr val="D7D8D6"/>
            </a:solidFill>
            <a:ln>
              <a:noFill/>
            </a:ln>
          </p:spPr>
        </p:sp>
        <p:sp>
          <p:nvSpPr>
            <p:cNvPr id="47" name="Freeform 47"/>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48" name="Ellipse 48"/>
            <p:cNvSpPr/>
            <p:nvPr/>
          </p:nvSpPr>
          <p:spPr>
            <a:xfrm>
              <a:off x="10420350" y="6372225"/>
              <a:ext cx="266700" cy="266700"/>
            </a:xfrm>
            <a:prstGeom prst="ellipse">
              <a:avLst/>
            </a:prstGeom>
            <a:solidFill>
              <a:srgbClr val="D7D8D6"/>
            </a:solidFill>
            <a:ln>
              <a:noFill/>
            </a:ln>
          </p:spPr>
        </p:sp>
        <p:grpSp>
          <p:nvGrpSpPr>
            <p:cNvPr id="52" name="Group 52"/>
            <p:cNvGrpSpPr/>
            <p:nvPr/>
          </p:nvGrpSpPr>
          <p:grpSpPr>
            <a:xfrm>
              <a:off x="10489406" y="6441281"/>
              <a:ext cx="128588" cy="128588"/>
              <a:chOff x="10489406" y="6441281"/>
              <a:chExt cx="128588" cy="128588"/>
            </a:xfrm>
          </p:grpSpPr>
          <p:sp>
            <p:nvSpPr>
              <p:cNvPr id="49" name="Freeform 49"/>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50" name="Freeform 50"/>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51" name="Freeform 51"/>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53" name="Ellipse 53"/>
            <p:cNvSpPr/>
            <p:nvPr/>
          </p:nvSpPr>
          <p:spPr>
            <a:xfrm>
              <a:off x="10820400" y="6372225"/>
              <a:ext cx="266700" cy="266700"/>
            </a:xfrm>
            <a:prstGeom prst="ellipse">
              <a:avLst/>
            </a:prstGeom>
            <a:solidFill>
              <a:srgbClr val="D7D8D6"/>
            </a:solidFill>
            <a:ln>
              <a:noFill/>
            </a:ln>
          </p:spPr>
        </p:sp>
        <p:sp>
          <p:nvSpPr>
            <p:cNvPr id="54" name="Freeform 54"/>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55" name="TextBox 55"/>
            <p:cNvSpPr txBox="1"/>
            <p:nvPr/>
          </p:nvSpPr>
          <p:spPr>
            <a:xfrm>
              <a:off x="11872951" y="6456045"/>
              <a:ext cx="76162"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a:t>
              </a:r>
            </a:p>
          </p:txBody>
        </p:sp>
      </p:gr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B61F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04</a:t>
              </a:r>
            </a:p>
          </p:txBody>
        </p:sp>
        <p:sp>
          <p:nvSpPr>
            <p:cNvPr id="4" name="TextBox 4"/>
            <p:cNvSpPr txBox="1"/>
            <p:nvPr/>
          </p:nvSpPr>
          <p:spPr>
            <a:xfrm>
              <a:off x="942594" y="151448"/>
              <a:ext cx="5099135"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 xml:space="preserve">执行摘要 </a:t>
              </a:r>
              <a:r>
                <a:rPr lang="en-US" sz="1950" b="1" dirty="0">
                  <a:solidFill>
                    <a:srgbClr val="B61F00"/>
                  </a:solidFill>
                  <a:latin typeface="+mj-lt"/>
                  <a:ea typeface="+mj-ea"/>
                  <a:cs typeface="+mj-cs"/>
                </a:rPr>
                <a:t>Executive summary</a:t>
              </a:r>
              <a:r>
                <a:rPr lang="zh-CN" sz="1950" b="1" dirty="0">
                  <a:solidFill>
                    <a:srgbClr val="1A1A1A"/>
                  </a:solidFill>
                  <a:latin typeface="+mj-lt"/>
                  <a:ea typeface="+mj-ea"/>
                  <a:cs typeface="+mj-cs"/>
                </a:rPr>
                <a:t>（二）​​</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B61F00"/>
              </a:solidFill>
            </a:ln>
          </p:spPr>
        </p:sp>
      </p:grpSp>
      <p:grpSp>
        <p:nvGrpSpPr>
          <p:cNvPr id="10" name="col-1"/>
          <p:cNvGrpSpPr/>
          <p:nvPr/>
        </p:nvGrpSpPr>
        <p:grpSpPr>
          <a:xfrm>
            <a:off x="566738" y="950595"/>
            <a:ext cx="2472690" cy="3100388"/>
            <a:chOff x="566738" y="950595"/>
            <a:chExt cx="2472690" cy="3100388"/>
          </a:xfrm>
        </p:grpSpPr>
        <p:sp>
          <p:nvSpPr>
            <p:cNvPr id="7" name="TextBox 7"/>
            <p:cNvSpPr txBox="1"/>
            <p:nvPr/>
          </p:nvSpPr>
          <p:spPr>
            <a:xfrm>
              <a:off x="566738" y="950595"/>
              <a:ext cx="23583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模型监控的自动化程度与银行规模相关：​</a:t>
              </a:r>
              <a:br/>
              <a:r>
                <a:rPr lang="zh-CN" sz="900" dirty="0">
                  <a:solidFill>
                    <a:srgbClr val="333333"/>
                  </a:solidFill>
                  <a:latin typeface="+mn-lt"/>
                  <a:ea typeface="+mn-ea"/>
                  <a:cs typeface="+mn-cs"/>
                </a:rPr>
                <a:t>82%的小型银行表示模型监控未实现自动化​</a:t>
              </a:r>
              <a:br/>
              <a:r>
                <a:rPr lang="zh-CN" sz="900" dirty="0">
                  <a:solidFill>
                    <a:srgbClr val="333333"/>
                  </a:solidFill>
                  <a:latin typeface="+mn-lt"/>
                  <a:ea typeface="+mn-ea"/>
                  <a:cs typeface="+mn-cs"/>
                </a:rPr>
                <a:t>，中型和大型银行的这一比例分别为62%​</a:t>
              </a:r>
              <a:br/>
              <a:r>
                <a:rPr lang="zh-CN" sz="900" dirty="0">
                  <a:solidFill>
                    <a:srgbClr val="333333"/>
                  </a:solidFill>
                  <a:latin typeface="+mn-lt"/>
                  <a:ea typeface="+mn-ea"/>
                  <a:cs typeface="+mn-cs"/>
                </a:rPr>
                <a:t>和52%。超过30%的银行至少每月监控市​​​​</a:t>
              </a:r>
              <a:br/>
              <a:r>
                <a:rPr lang="zh-CN" sz="900" dirty="0">
                  <a:solidFill>
                    <a:srgbClr val="333333"/>
                  </a:solidFill>
                  <a:latin typeface="+mn-lt"/>
                  <a:ea typeface="+mn-ea"/>
                  <a:cs typeface="+mn-cs"/>
                </a:rPr>
                <a:t>场风险模型，其中很大一部分声称按日或按周​</a:t>
              </a:r>
              <a:br/>
              <a:r>
                <a:rPr lang="zh-CN" sz="900" dirty="0">
                  <a:solidFill>
                    <a:srgbClr val="333333"/>
                  </a:solidFill>
                  <a:latin typeface="+mn-lt"/>
                  <a:ea typeface="+mn-ea"/>
                  <a:cs typeface="+mn-cs"/>
                </a:rPr>
                <a:t>监控。​</a:t>
              </a:r>
            </a:p>
          </p:txBody>
        </p:sp>
        <p:sp>
          <p:nvSpPr>
            <p:cNvPr id="8" name="TextBox 8"/>
            <p:cNvSpPr txBox="1"/>
            <p:nvPr/>
          </p:nvSpPr>
          <p:spPr>
            <a:xfrm>
              <a:off x="566738" y="2141220"/>
              <a:ext cx="24726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向高级管理层和管理委员会频繁报告模型风险，​</a:t>
              </a:r>
              <a:br/>
              <a:r>
                <a:rPr lang="zh-CN" sz="900" dirty="0">
                  <a:solidFill>
                    <a:srgbClr val="333333"/>
                  </a:solidFill>
                  <a:latin typeface="+mn-lt"/>
                  <a:ea typeface="+mn-ea"/>
                  <a:cs typeface="+mn-cs"/>
                </a:rPr>
                <a:t>可提升管理层的意识和对模型风险的战略所有​</a:t>
              </a:r>
              <a:br/>
              <a:r>
                <a:rPr lang="zh-CN" sz="900" dirty="0">
                  <a:solidFill>
                    <a:srgbClr val="333333"/>
                  </a:solidFill>
                  <a:latin typeface="+mn-lt"/>
                  <a:ea typeface="+mn-ea"/>
                  <a:cs typeface="+mn-cs"/>
                </a:rPr>
                <a:t>权。77%的银行表示会向高级管理层或管​​</a:t>
              </a:r>
              <a:br/>
              <a:r>
                <a:rPr lang="zh-CN" sz="900" dirty="0">
                  <a:solidFill>
                    <a:srgbClr val="333333"/>
                  </a:solidFill>
                  <a:latin typeface="+mn-lt"/>
                  <a:ea typeface="+mn-ea"/>
                  <a:cs typeface="+mn-cs"/>
                </a:rPr>
                <a:t>理委员会定期提交模型风险报告。​</a:t>
              </a:r>
            </a:p>
          </p:txBody>
        </p:sp>
        <p:sp>
          <p:nvSpPr>
            <p:cNvPr id="9" name="TextBox 9"/>
            <p:cNvSpPr txBox="1"/>
            <p:nvPr/>
          </p:nvSpPr>
          <p:spPr>
            <a:xfrm>
              <a:off x="566738" y="2969895"/>
              <a:ext cx="23583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此外，59%的银行表示已制定风险偏好。​​</a:t>
              </a:r>
              <a:br/>
              <a:r>
                <a:rPr lang="zh-CN" sz="900" dirty="0">
                  <a:solidFill>
                    <a:srgbClr val="333333"/>
                  </a:solidFill>
                  <a:latin typeface="+mn-lt"/>
                  <a:ea typeface="+mn-ea"/>
                  <a:cs typeface="+mn-cs"/>
                </a:rPr>
                <a:t>然而当前市场洞察表明，这些风险偏好陈述往​</a:t>
              </a:r>
              <a:br/>
              <a:r>
                <a:rPr lang="zh-CN" sz="900" dirty="0">
                  <a:solidFill>
                    <a:srgbClr val="333333"/>
                  </a:solidFill>
                  <a:latin typeface="+mn-lt"/>
                  <a:ea typeface="+mn-ea"/>
                  <a:cs typeface="+mn-cs"/>
                </a:rPr>
                <a:t>往较为简单，侧重于模型验证结果，并未覆盖​</a:t>
              </a:r>
              <a:br/>
              <a:r>
                <a:rPr lang="zh-CN" sz="900" dirty="0">
                  <a:solidFill>
                    <a:srgbClr val="333333"/>
                  </a:solidFill>
                  <a:latin typeface="+mn-lt"/>
                  <a:ea typeface="+mn-ea"/>
                  <a:cs typeface="+mn-cs"/>
                </a:rPr>
                <a:t>全行模型风险的全部范围与深度。因此，许多​</a:t>
              </a:r>
              <a:br/>
              <a:r>
                <a:rPr lang="zh-CN" sz="900" dirty="0">
                  <a:solidFill>
                    <a:srgbClr val="333333"/>
                  </a:solidFill>
                  <a:latin typeface="+mn-lt"/>
                  <a:ea typeface="+mn-ea"/>
                  <a:cs typeface="+mn-cs"/>
                </a:rPr>
                <a:t>受访银行认为模型风险管理的分析与报告是关​</a:t>
              </a:r>
              <a:br/>
              <a:r>
                <a:rPr lang="zh-CN" sz="900" dirty="0">
                  <a:solidFill>
                    <a:srgbClr val="333333"/>
                  </a:solidFill>
                  <a:latin typeface="+mn-lt"/>
                  <a:ea typeface="+mn-ea"/>
                  <a:cs typeface="+mn-cs"/>
                </a:rPr>
                <a:t>键改进领域之一。​</a:t>
              </a:r>
            </a:p>
          </p:txBody>
        </p:sp>
      </p:grpSp>
      <p:grpSp>
        <p:nvGrpSpPr>
          <p:cNvPr id="15" name="col-2"/>
          <p:cNvGrpSpPr/>
          <p:nvPr/>
        </p:nvGrpSpPr>
        <p:grpSpPr>
          <a:xfrm>
            <a:off x="3443288" y="946547"/>
            <a:ext cx="2358390" cy="2561511"/>
            <a:chOff x="3443288" y="946547"/>
            <a:chExt cx="2358390" cy="2561511"/>
          </a:xfrm>
        </p:grpSpPr>
        <p:sp>
          <p:nvSpPr>
            <p:cNvPr id="11" name="TextBox 11"/>
            <p:cNvSpPr txBox="1"/>
            <p:nvPr/>
          </p:nvSpPr>
          <p:spPr>
            <a:xfrm>
              <a:off x="3443288" y="946547"/>
              <a:ext cx="1221489" cy="183356"/>
            </a:xfrm>
            <a:prstGeom prst="rect">
              <a:avLst/>
            </a:prstGeom>
            <a:noFill/>
            <a:ln>
              <a:noFill/>
            </a:ln>
          </p:spPr>
          <p:txBody>
            <a:bodyPr wrap="none" lIns="0" tIns="0" rIns="0" bIns="0" anchor="t" anchorCtr="0">
              <a:spAutoFit/>
            </a:bodyPr>
            <a:lstStyle/>
            <a:p>
              <a:pPr algn="l"/>
              <a:r>
                <a:rPr lang="zh-CN" sz="940" b="1" dirty="0">
                  <a:solidFill>
                    <a:srgbClr val="B61F00"/>
                  </a:solidFill>
                  <a:latin typeface="+mn-lt"/>
                  <a:ea typeface="+mn-ea"/>
                  <a:cs typeface="+mn-cs"/>
                </a:rPr>
                <a:t>模型风险管理的未来​</a:t>
              </a:r>
            </a:p>
          </p:txBody>
        </p:sp>
        <p:sp>
          <p:nvSpPr>
            <p:cNvPr id="12" name="TextBox 12"/>
            <p:cNvSpPr txBox="1"/>
            <p:nvPr/>
          </p:nvSpPr>
          <p:spPr>
            <a:xfrm>
              <a:off x="3443288" y="1131570"/>
              <a:ext cx="23583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展望未来，银行计划在未来一到两年内在多个​</a:t>
              </a:r>
              <a:br/>
              <a:r>
                <a:rPr lang="zh-CN" sz="900" dirty="0">
                  <a:solidFill>
                    <a:srgbClr val="333333"/>
                  </a:solidFill>
                  <a:latin typeface="+mn-lt"/>
                  <a:ea typeface="+mn-ea"/>
                  <a:cs typeface="+mn-cs"/>
                </a:rPr>
                <a:t>领域增强其模型风险管理框架。​</a:t>
              </a:r>
            </a:p>
          </p:txBody>
        </p:sp>
        <p:sp>
          <p:nvSpPr>
            <p:cNvPr id="13" name="TextBox 13"/>
            <p:cNvSpPr txBox="1"/>
            <p:nvPr/>
          </p:nvSpPr>
          <p:spPr>
            <a:xfrm>
              <a:off x="3443288" y="1598295"/>
              <a:ext cx="23583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超过半数的银行有意在以下领域加强：分析与​</a:t>
              </a:r>
              <a:br/>
              <a:r>
                <a:rPr lang="zh-CN" sz="900" dirty="0">
                  <a:solidFill>
                    <a:srgbClr val="333333"/>
                  </a:solidFill>
                  <a:latin typeface="+mn-lt"/>
                  <a:ea typeface="+mn-ea"/>
                  <a:cs typeface="+mn-cs"/>
                </a:rPr>
                <a:t>报告、范围扩展（将更多模型纳入模型风险管​</a:t>
              </a:r>
              <a:br/>
              <a:r>
                <a:rPr lang="zh-CN" sz="900" dirty="0">
                  <a:solidFill>
                    <a:srgbClr val="333333"/>
                  </a:solidFill>
                  <a:latin typeface="+mn-lt"/>
                  <a:ea typeface="+mn-ea"/>
                  <a:cs typeface="+mn-cs"/>
                </a:rPr>
                <a:t>理框架范围）、模型风险治理、模型风险政策​</a:t>
              </a:r>
              <a:br/>
              <a:r>
                <a:rPr lang="zh-CN" sz="900" dirty="0">
                  <a:solidFill>
                    <a:srgbClr val="333333"/>
                  </a:solidFill>
                  <a:latin typeface="+mn-lt"/>
                  <a:ea typeface="+mn-ea"/>
                  <a:cs typeface="+mn-cs"/>
                </a:rPr>
                <a:t>与标准、流程标准化。其中，模型风险政策与​</a:t>
              </a:r>
              <a:br/>
              <a:r>
                <a:rPr lang="zh-CN" sz="900" dirty="0">
                  <a:solidFill>
                    <a:srgbClr val="333333"/>
                  </a:solidFill>
                  <a:latin typeface="+mn-lt"/>
                  <a:ea typeface="+mn-ea"/>
                  <a:cs typeface="+mn-cs"/>
                </a:rPr>
                <a:t>标准以及流程标准化被认为是最具挑战的改进​</a:t>
              </a:r>
              <a:br/>
              <a:r>
                <a:rPr lang="zh-CN" sz="900" dirty="0">
                  <a:solidFill>
                    <a:srgbClr val="333333"/>
                  </a:solidFill>
                  <a:latin typeface="+mn-lt"/>
                  <a:ea typeface="+mn-ea"/>
                  <a:cs typeface="+mn-cs"/>
                </a:rPr>
                <a:t>领域。​</a:t>
              </a:r>
            </a:p>
          </p:txBody>
        </p:sp>
        <p:sp>
          <p:nvSpPr>
            <p:cNvPr id="14" name="TextBox 14"/>
            <p:cNvSpPr txBox="1"/>
            <p:nvPr/>
          </p:nvSpPr>
          <p:spPr>
            <a:xfrm>
              <a:off x="3443288" y="2788920"/>
              <a:ext cx="23583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调研结果指出，大多数银行在成熟并改进其模​</a:t>
              </a:r>
              <a:br/>
              <a:r>
                <a:rPr lang="zh-CN" sz="900" dirty="0">
                  <a:solidFill>
                    <a:srgbClr val="333333"/>
                  </a:solidFill>
                  <a:latin typeface="+mn-lt"/>
                  <a:ea typeface="+mn-ea"/>
                  <a:cs typeface="+mn-cs"/>
                </a:rPr>
                <a:t>型风险管理框架方面仍有大量工作可做。成熟​</a:t>
              </a:r>
              <a:br/>
              <a:r>
                <a:rPr lang="zh-CN" sz="900" dirty="0">
                  <a:solidFill>
                    <a:srgbClr val="333333"/>
                  </a:solidFill>
                  <a:latin typeface="+mn-lt"/>
                  <a:ea typeface="+mn-ea"/>
                  <a:cs typeface="+mn-cs"/>
                </a:rPr>
                <a:t>的框架能够提升模型风险意识，帮助银行应对​</a:t>
              </a:r>
              <a:br/>
              <a:r>
                <a:rPr lang="zh-CN" sz="900" dirty="0">
                  <a:solidFill>
                    <a:srgbClr val="333333"/>
                  </a:solidFill>
                  <a:latin typeface="+mn-lt"/>
                  <a:ea typeface="+mn-ea"/>
                  <a:cs typeface="+mn-cs"/>
                </a:rPr>
                <a:t>不断增长的模型版图，成为更负责任的企业。​</a:t>
              </a:r>
            </a:p>
          </p:txBody>
        </p:sp>
      </p:grpSp>
      <p:grpSp>
        <p:nvGrpSpPr>
          <p:cNvPr id="17" name="pull-quote"/>
          <p:cNvGrpSpPr/>
          <p:nvPr/>
        </p:nvGrpSpPr>
        <p:grpSpPr>
          <a:xfrm>
            <a:off x="6373368" y="1060132"/>
            <a:ext cx="2856166" cy="2265807"/>
            <a:chOff x="6373368" y="1060132"/>
            <a:chExt cx="2856166" cy="2265807"/>
          </a:xfrm>
        </p:grpSpPr>
        <p:sp>
          <p:nvSpPr>
            <p:cNvPr id="16" name="TextBox 16"/>
            <p:cNvSpPr txBox="1"/>
            <p:nvPr/>
          </p:nvSpPr>
          <p:spPr>
            <a:xfrm>
              <a:off x="6373368" y="1060132"/>
              <a:ext cx="2856166" cy="2265807"/>
            </a:xfrm>
            <a:prstGeom prst="rect">
              <a:avLst/>
            </a:prstGeom>
            <a:noFill/>
            <a:ln>
              <a:noFill/>
            </a:ln>
          </p:spPr>
          <p:txBody>
            <a:bodyPr wrap="none" lIns="0" tIns="0" rIns="0" bIns="0" anchor="t" anchorCtr="0">
              <a:spAutoFit/>
            </a:bodyPr>
            <a:lstStyle/>
            <a:p>
              <a:pPr algn="l">
                <a:lnSpc>
                  <a:spcPts val="2550"/>
                </a:lnSpc>
              </a:pPr>
              <a:r>
                <a:rPr lang="zh-CN" sz="1650" dirty="0">
                  <a:solidFill>
                    <a:srgbClr val="B61F00"/>
                  </a:solidFill>
                  <a:latin typeface="+mn-lt"/>
                  <a:ea typeface="+mn-ea"/>
                  <a:cs typeface="+mn-cs"/>
                </a:rPr>
                <a:t>超过半数的银行有意在未来两​</a:t>
              </a:r>
              <a:br/>
              <a:r>
                <a:rPr lang="zh-CN" sz="1650" dirty="0">
                  <a:solidFill>
                    <a:srgbClr val="B61F00"/>
                  </a:solidFill>
                  <a:latin typeface="+mn-lt"/>
                  <a:ea typeface="+mn-ea"/>
                  <a:cs typeface="+mn-cs"/>
                </a:rPr>
                <a:t>年内，在分析与报告、范围扩​</a:t>
              </a:r>
              <a:br/>
              <a:r>
                <a:rPr lang="zh-CN" sz="1650" dirty="0">
                  <a:solidFill>
                    <a:srgbClr val="B61F00"/>
                  </a:solidFill>
                  <a:latin typeface="+mn-lt"/>
                  <a:ea typeface="+mn-ea"/>
                  <a:cs typeface="+mn-cs"/>
                </a:rPr>
                <a:t>展（纳入模型风险管理框架范​</a:t>
              </a:r>
              <a:br/>
              <a:r>
                <a:rPr lang="zh-CN" sz="1650" dirty="0">
                  <a:solidFill>
                    <a:srgbClr val="B61F00"/>
                  </a:solidFill>
                  <a:latin typeface="+mn-lt"/>
                  <a:ea typeface="+mn-ea"/>
                  <a:cs typeface="+mn-cs"/>
                </a:rPr>
                <a:t>围的模型）、模型风险治理、​</a:t>
              </a:r>
              <a:br/>
              <a:r>
                <a:rPr lang="zh-CN" sz="1650" dirty="0">
                  <a:solidFill>
                    <a:srgbClr val="B61F00"/>
                  </a:solidFill>
                  <a:latin typeface="+mn-lt"/>
                  <a:ea typeface="+mn-ea"/>
                  <a:cs typeface="+mn-cs"/>
                </a:rPr>
                <a:t>模型风险政策与标准以及流程​</a:t>
              </a:r>
              <a:br/>
              <a:r>
                <a:rPr lang="zh-CN" sz="1650" dirty="0">
                  <a:solidFill>
                    <a:srgbClr val="B61F00"/>
                  </a:solidFill>
                  <a:latin typeface="+mn-lt"/>
                  <a:ea typeface="+mn-ea"/>
                  <a:cs typeface="+mn-cs"/>
                </a:rPr>
                <a:t>标准化等领域升级其模型风险​</a:t>
              </a:r>
              <a:br/>
              <a:r>
                <a:rPr lang="zh-CN" sz="1650" dirty="0">
                  <a:solidFill>
                    <a:srgbClr val="B61F00"/>
                  </a:solidFill>
                  <a:latin typeface="+mn-lt"/>
                  <a:ea typeface="+mn-ea"/>
                  <a:cs typeface="+mn-cs"/>
                </a:rPr>
                <a:t>管理框架。​</a:t>
              </a:r>
            </a:p>
          </p:txBody>
        </p:sp>
      </p:grpSp>
      <p:grpSp>
        <p:nvGrpSpPr>
          <p:cNvPr id="51" name="nav"/>
          <p:cNvGrpSpPr/>
          <p:nvPr/>
        </p:nvGrpSpPr>
        <p:grpSpPr>
          <a:xfrm>
            <a:off x="9834562" y="0"/>
            <a:ext cx="2357438" cy="6858000"/>
            <a:chOff x="9834562" y="0"/>
            <a:chExt cx="2357438" cy="6858000"/>
          </a:xfrm>
        </p:grpSpPr>
        <p:sp>
          <p:nvSpPr>
            <p:cNvPr id="18" name="Line 18"/>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9" name="Rectangle 19"/>
            <p:cNvSpPr/>
            <p:nvPr/>
          </p:nvSpPr>
          <p:spPr>
            <a:xfrm>
              <a:off x="9839325" y="476250"/>
              <a:ext cx="2352675" cy="514350"/>
            </a:xfrm>
            <a:prstGeom prst="rect">
              <a:avLst/>
            </a:prstGeom>
            <a:solidFill>
              <a:srgbClr val="F3F3F3"/>
            </a:solidFill>
            <a:ln>
              <a:noFill/>
            </a:ln>
          </p:spPr>
        </p:sp>
        <p:sp>
          <p:nvSpPr>
            <p:cNvPr id="20" name="TextBox 20"/>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21" name="Rectangle 21"/>
            <p:cNvSpPr/>
            <p:nvPr/>
          </p:nvSpPr>
          <p:spPr>
            <a:xfrm>
              <a:off x="9839325" y="1000125"/>
              <a:ext cx="2352675" cy="514350"/>
            </a:xfrm>
            <a:prstGeom prst="rect">
              <a:avLst/>
            </a:prstGeom>
            <a:solidFill>
              <a:srgbClr val="B61F00"/>
            </a:solidFill>
            <a:ln>
              <a:noFill/>
            </a:ln>
          </p:spPr>
        </p:sp>
        <p:sp>
          <p:nvSpPr>
            <p:cNvPr id="22" name="TextBox 22"/>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执行摘要</a:t>
              </a:r>
            </a:p>
          </p:txBody>
        </p:sp>
        <p:sp>
          <p:nvSpPr>
            <p:cNvPr id="23" name="Rectangle 23"/>
            <p:cNvSpPr/>
            <p:nvPr/>
          </p:nvSpPr>
          <p:spPr>
            <a:xfrm>
              <a:off x="9839325" y="1524000"/>
              <a:ext cx="2352675" cy="514350"/>
            </a:xfrm>
            <a:prstGeom prst="rect">
              <a:avLst/>
            </a:prstGeom>
            <a:solidFill>
              <a:srgbClr val="F3F3F3"/>
            </a:solidFill>
            <a:ln>
              <a:noFill/>
            </a:ln>
          </p:spPr>
        </p:sp>
        <p:sp>
          <p:nvSpPr>
            <p:cNvPr id="24" name="TextBox 24"/>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25" name="Rectangle 25"/>
            <p:cNvSpPr/>
            <p:nvPr/>
          </p:nvSpPr>
          <p:spPr>
            <a:xfrm>
              <a:off x="9839325" y="2047875"/>
              <a:ext cx="2352675" cy="514350"/>
            </a:xfrm>
            <a:prstGeom prst="rect">
              <a:avLst/>
            </a:prstGeom>
            <a:solidFill>
              <a:srgbClr val="F3F3F3"/>
            </a:solidFill>
            <a:ln>
              <a:noFill/>
            </a:ln>
          </p:spPr>
        </p:sp>
        <p:sp>
          <p:nvSpPr>
            <p:cNvPr id="26" name="TextBox 26"/>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27" name="Rectangle 27"/>
            <p:cNvSpPr/>
            <p:nvPr/>
          </p:nvSpPr>
          <p:spPr>
            <a:xfrm>
              <a:off x="9839325" y="2571750"/>
              <a:ext cx="2352675" cy="514350"/>
            </a:xfrm>
            <a:prstGeom prst="rect">
              <a:avLst/>
            </a:prstGeom>
            <a:solidFill>
              <a:srgbClr val="F3F3F3"/>
            </a:solidFill>
            <a:ln>
              <a:noFill/>
            </a:ln>
          </p:spPr>
        </p:sp>
        <p:sp>
          <p:nvSpPr>
            <p:cNvPr id="28" name="TextBox 28"/>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29" name="Rectangle 29"/>
            <p:cNvSpPr/>
            <p:nvPr/>
          </p:nvSpPr>
          <p:spPr>
            <a:xfrm>
              <a:off x="9839325" y="3095625"/>
              <a:ext cx="2352675" cy="514350"/>
            </a:xfrm>
            <a:prstGeom prst="rect">
              <a:avLst/>
            </a:prstGeom>
            <a:solidFill>
              <a:srgbClr val="F3F3F3"/>
            </a:solidFill>
            <a:ln>
              <a:noFill/>
            </a:ln>
          </p:spPr>
        </p:sp>
        <p:sp>
          <p:nvSpPr>
            <p:cNvPr id="30" name="TextBox 30"/>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31" name="Rectangle 31"/>
            <p:cNvSpPr/>
            <p:nvPr/>
          </p:nvSpPr>
          <p:spPr>
            <a:xfrm>
              <a:off x="9839325" y="3619500"/>
              <a:ext cx="2352675" cy="514350"/>
            </a:xfrm>
            <a:prstGeom prst="rect">
              <a:avLst/>
            </a:prstGeom>
            <a:solidFill>
              <a:srgbClr val="F3F3F3"/>
            </a:solidFill>
            <a:ln>
              <a:noFill/>
            </a:ln>
          </p:spPr>
        </p:sp>
        <p:sp>
          <p:nvSpPr>
            <p:cNvPr id="32" name="TextBox 32"/>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33" name="Rectangle 33"/>
            <p:cNvSpPr/>
            <p:nvPr/>
          </p:nvSpPr>
          <p:spPr>
            <a:xfrm>
              <a:off x="9839325" y="4143375"/>
              <a:ext cx="2352675" cy="514350"/>
            </a:xfrm>
            <a:prstGeom prst="rect">
              <a:avLst/>
            </a:prstGeom>
            <a:solidFill>
              <a:srgbClr val="F3F3F3"/>
            </a:solidFill>
            <a:ln>
              <a:noFill/>
            </a:ln>
          </p:spPr>
        </p:sp>
        <p:sp>
          <p:nvSpPr>
            <p:cNvPr id="34" name="TextBox 34"/>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35" name="Rectangle 35"/>
            <p:cNvSpPr/>
            <p:nvPr/>
          </p:nvSpPr>
          <p:spPr>
            <a:xfrm>
              <a:off x="9839325" y="4667250"/>
              <a:ext cx="2352675" cy="514350"/>
            </a:xfrm>
            <a:prstGeom prst="rect">
              <a:avLst/>
            </a:prstGeom>
            <a:solidFill>
              <a:srgbClr val="F3F3F3"/>
            </a:solidFill>
            <a:ln>
              <a:noFill/>
            </a:ln>
          </p:spPr>
        </p:sp>
        <p:sp>
          <p:nvSpPr>
            <p:cNvPr id="36" name="TextBox 36"/>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37" name="Rectangle 37"/>
            <p:cNvSpPr/>
            <p:nvPr/>
          </p:nvSpPr>
          <p:spPr>
            <a:xfrm>
              <a:off x="9839325" y="5191125"/>
              <a:ext cx="2352675" cy="514350"/>
            </a:xfrm>
            <a:prstGeom prst="rect">
              <a:avLst/>
            </a:prstGeom>
            <a:solidFill>
              <a:srgbClr val="F3F3F3"/>
            </a:solidFill>
            <a:ln>
              <a:noFill/>
            </a:ln>
          </p:spPr>
        </p:sp>
        <p:sp>
          <p:nvSpPr>
            <p:cNvPr id="38" name="TextBox 38"/>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39" name="Rectangle 39"/>
            <p:cNvSpPr/>
            <p:nvPr/>
          </p:nvSpPr>
          <p:spPr>
            <a:xfrm>
              <a:off x="9839325" y="5715000"/>
              <a:ext cx="2352675" cy="514350"/>
            </a:xfrm>
            <a:prstGeom prst="rect">
              <a:avLst/>
            </a:prstGeom>
            <a:solidFill>
              <a:srgbClr val="F3F3F3"/>
            </a:solidFill>
            <a:ln>
              <a:noFill/>
            </a:ln>
          </p:spPr>
        </p:sp>
        <p:sp>
          <p:nvSpPr>
            <p:cNvPr id="40" name="TextBox 40"/>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41" name="Ellipse 41"/>
            <p:cNvSpPr/>
            <p:nvPr/>
          </p:nvSpPr>
          <p:spPr>
            <a:xfrm>
              <a:off x="10020300" y="6372225"/>
              <a:ext cx="266700" cy="266700"/>
            </a:xfrm>
            <a:prstGeom prst="ellipse">
              <a:avLst/>
            </a:prstGeom>
            <a:solidFill>
              <a:srgbClr val="D7D8D6"/>
            </a:solidFill>
            <a:ln>
              <a:noFill/>
            </a:ln>
          </p:spPr>
        </p:sp>
        <p:sp>
          <p:nvSpPr>
            <p:cNvPr id="42" name="Freeform 42"/>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43" name="Ellipse 43"/>
            <p:cNvSpPr/>
            <p:nvPr/>
          </p:nvSpPr>
          <p:spPr>
            <a:xfrm>
              <a:off x="10420350" y="6372225"/>
              <a:ext cx="266700" cy="266700"/>
            </a:xfrm>
            <a:prstGeom prst="ellipse">
              <a:avLst/>
            </a:prstGeom>
            <a:solidFill>
              <a:srgbClr val="D7D8D6"/>
            </a:solidFill>
            <a:ln>
              <a:noFill/>
            </a:ln>
          </p:spPr>
        </p:sp>
        <p:grpSp>
          <p:nvGrpSpPr>
            <p:cNvPr id="47" name="Group 47"/>
            <p:cNvGrpSpPr/>
            <p:nvPr/>
          </p:nvGrpSpPr>
          <p:grpSpPr>
            <a:xfrm>
              <a:off x="10489406" y="6441281"/>
              <a:ext cx="128588" cy="128588"/>
              <a:chOff x="10489406" y="6441281"/>
              <a:chExt cx="128588" cy="128588"/>
            </a:xfrm>
          </p:grpSpPr>
          <p:sp>
            <p:nvSpPr>
              <p:cNvPr id="44" name="Freeform 44"/>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45" name="Freeform 45"/>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46" name="Freeform 46"/>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48" name="Ellipse 48"/>
            <p:cNvSpPr/>
            <p:nvPr/>
          </p:nvSpPr>
          <p:spPr>
            <a:xfrm>
              <a:off x="10820400" y="6372225"/>
              <a:ext cx="266700" cy="266700"/>
            </a:xfrm>
            <a:prstGeom prst="ellipse">
              <a:avLst/>
            </a:prstGeom>
            <a:solidFill>
              <a:srgbClr val="D7D8D6"/>
            </a:solidFill>
            <a:ln>
              <a:noFill/>
            </a:ln>
          </p:spPr>
        </p:sp>
        <p:sp>
          <p:nvSpPr>
            <p:cNvPr id="49" name="Freeform 49"/>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50" name="TextBox 50"/>
            <p:cNvSpPr txBox="1"/>
            <p:nvPr/>
          </p:nvSpPr>
          <p:spPr>
            <a:xfrm>
              <a:off x="11872951" y="6456045"/>
              <a:ext cx="76162"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4</a:t>
              </a:r>
            </a:p>
          </p:txBody>
        </p:sp>
      </p:gr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27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05</a:t>
              </a:r>
            </a:p>
          </p:txBody>
        </p:sp>
        <p:sp>
          <p:nvSpPr>
            <p:cNvPr id="4" name="TextBox 4"/>
            <p:cNvSpPr txBox="1"/>
            <p:nvPr/>
          </p:nvSpPr>
          <p:spPr>
            <a:xfrm>
              <a:off x="942594" y="151448"/>
              <a:ext cx="46178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为什么</a:t>
              </a:r>
              <a:r>
                <a:rPr lang="zh-CN" sz="1950" b="1" dirty="0">
                  <a:solidFill>
                    <a:srgbClr val="E72700"/>
                  </a:solidFill>
                  <a:latin typeface="+mj-lt"/>
                  <a:ea typeface="+mj-ea"/>
                  <a:cs typeface="+mj-cs"/>
                </a:rPr>
                <a:t>模型风险管理</a:t>
              </a:r>
              <a:r>
                <a:rPr lang="zh-CN" sz="1950" b="1" dirty="0">
                  <a:solidFill>
                    <a:srgbClr val="1A1A1A"/>
                  </a:solidFill>
                  <a:latin typeface="+mj-lt"/>
                  <a:ea typeface="+mj-ea"/>
                  <a:cs typeface="+mj-cs"/>
                </a:rPr>
                <a:t>至关重要（一）​</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E72700"/>
              </a:solidFill>
            </a:ln>
          </p:spPr>
        </p:sp>
      </p:grpSp>
      <p:grpSp>
        <p:nvGrpSpPr>
          <p:cNvPr id="11" name="col-1"/>
          <p:cNvGrpSpPr/>
          <p:nvPr/>
        </p:nvGrpSpPr>
        <p:grpSpPr>
          <a:xfrm>
            <a:off x="566738" y="851297"/>
            <a:ext cx="2358390" cy="3285410"/>
            <a:chOff x="566738" y="851297"/>
            <a:chExt cx="2358390" cy="3285410"/>
          </a:xfrm>
        </p:grpSpPr>
        <p:sp>
          <p:nvSpPr>
            <p:cNvPr id="7" name="TextBox 7"/>
            <p:cNvSpPr txBox="1"/>
            <p:nvPr/>
          </p:nvSpPr>
          <p:spPr>
            <a:xfrm>
              <a:off x="566738" y="851297"/>
              <a:ext cx="1980745" cy="183356"/>
            </a:xfrm>
            <a:prstGeom prst="rect">
              <a:avLst/>
            </a:prstGeom>
            <a:noFill/>
            <a:ln>
              <a:noFill/>
            </a:ln>
          </p:spPr>
          <p:txBody>
            <a:bodyPr wrap="none" lIns="0" tIns="0" rIns="0" bIns="0" anchor="t" anchorCtr="0">
              <a:spAutoFit/>
            </a:bodyPr>
            <a:lstStyle/>
            <a:p>
              <a:pPr algn="l"/>
              <a:r>
                <a:rPr lang="zh-CN" sz="940" b="1" dirty="0">
                  <a:solidFill>
                    <a:srgbClr val="E72700"/>
                  </a:solidFill>
                  <a:latin typeface="+mn-lt"/>
                  <a:ea typeface="+mn-ea"/>
                  <a:cs typeface="+mn-cs"/>
                </a:rPr>
                <a:t>对模型的依赖日益加深与范围扩展​</a:t>
              </a:r>
            </a:p>
          </p:txBody>
        </p:sp>
        <p:sp>
          <p:nvSpPr>
            <p:cNvPr id="8" name="TextBox 8"/>
            <p:cNvSpPr txBox="1"/>
            <p:nvPr/>
          </p:nvSpPr>
          <p:spPr>
            <a:xfrm>
              <a:off x="566738" y="1036320"/>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银行越来越依赖模型。模型用于全行各项业务​</a:t>
              </a:r>
              <a:br/>
              <a:r>
                <a:rPr lang="zh-CN" sz="900" dirty="0">
                  <a:solidFill>
                    <a:srgbClr val="333333"/>
                  </a:solidFill>
                  <a:latin typeface="+mn-lt"/>
                  <a:ea typeface="+mn-ea"/>
                  <a:cs typeface="+mn-cs"/>
                </a:rPr>
                <a:t>的决策制定与政策执行。银行内部及外部环境​</a:t>
              </a:r>
              <a:br/>
              <a:r>
                <a:rPr lang="zh-CN" sz="900" dirty="0">
                  <a:solidFill>
                    <a:srgbClr val="333333"/>
                  </a:solidFill>
                  <a:latin typeface="+mn-lt"/>
                  <a:ea typeface="+mn-ea"/>
                  <a:cs typeface="+mn-cs"/>
                </a:rPr>
                <a:t>的变化与创新也要求更多、更好的模型，不仅​</a:t>
              </a:r>
              <a:br/>
              <a:r>
                <a:rPr lang="zh-CN" sz="900" dirty="0">
                  <a:solidFill>
                    <a:srgbClr val="333333"/>
                  </a:solidFill>
                  <a:latin typeface="+mn-lt"/>
                  <a:ea typeface="+mn-ea"/>
                  <a:cs typeface="+mn-cs"/>
                </a:rPr>
                <a:t>用于更快的决策（如贷款和抵押审批），也用​</a:t>
              </a:r>
              <a:br/>
              <a:r>
                <a:rPr lang="zh-CN" sz="900" dirty="0">
                  <a:solidFill>
                    <a:srgbClr val="333333"/>
                  </a:solidFill>
                  <a:latin typeface="+mn-lt"/>
                  <a:ea typeface="+mn-ea"/>
                  <a:cs typeface="+mn-cs"/>
                </a:rPr>
                <a:t>于交易监控。​</a:t>
              </a:r>
            </a:p>
          </p:txBody>
        </p:sp>
        <p:sp>
          <p:nvSpPr>
            <p:cNvPr id="9" name="TextBox 9"/>
            <p:cNvSpPr txBox="1"/>
            <p:nvPr/>
          </p:nvSpPr>
          <p:spPr>
            <a:xfrm>
              <a:off x="566738" y="2045970"/>
              <a:ext cx="23583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不仅对模型的依赖在增加，银行决策所依赖的​</a:t>
              </a:r>
              <a:br/>
              <a:r>
                <a:rPr lang="zh-CN" sz="900" dirty="0">
                  <a:solidFill>
                    <a:srgbClr val="333333"/>
                  </a:solidFill>
                  <a:latin typeface="+mn-lt"/>
                  <a:ea typeface="+mn-ea"/>
                  <a:cs typeface="+mn-cs"/>
                </a:rPr>
                <a:t>模型范围也在扩大。越来越多的银行开始将合​</a:t>
              </a:r>
              <a:br/>
              <a:r>
                <a:rPr lang="zh-CN" sz="900" dirty="0">
                  <a:solidFill>
                    <a:srgbClr val="333333"/>
                  </a:solidFill>
                  <a:latin typeface="+mn-lt"/>
                  <a:ea typeface="+mn-ea"/>
                  <a:cs typeface="+mn-cs"/>
                </a:rPr>
                <a:t>规和网络风险模型等纳入模型风险管理框架范​</a:t>
              </a:r>
              <a:br/>
              <a:r>
                <a:rPr lang="zh-CN" sz="900" dirty="0">
                  <a:solidFill>
                    <a:srgbClr val="333333"/>
                  </a:solidFill>
                  <a:latin typeface="+mn-lt"/>
                  <a:ea typeface="+mn-ea"/>
                  <a:cs typeface="+mn-cs"/>
                </a:rPr>
                <a:t>围，这增加了范围内模型的数量，也带来更多​</a:t>
              </a:r>
              <a:br/>
              <a:r>
                <a:rPr lang="zh-CN" sz="900" dirty="0">
                  <a:solidFill>
                    <a:srgbClr val="333333"/>
                  </a:solidFill>
                  <a:latin typeface="+mn-lt"/>
                  <a:ea typeface="+mn-ea"/>
                  <a:cs typeface="+mn-cs"/>
                </a:rPr>
                <a:t>种类的模型。同时，模型日趋复杂，例如机器​</a:t>
              </a:r>
              <a:br/>
              <a:r>
                <a:rPr lang="zh-CN" sz="900" dirty="0">
                  <a:solidFill>
                    <a:srgbClr val="333333"/>
                  </a:solidFill>
                  <a:latin typeface="+mn-lt"/>
                  <a:ea typeface="+mn-ea"/>
                  <a:cs typeface="+mn-cs"/>
                </a:rPr>
                <a:t>学习技术的应用。​</a:t>
              </a:r>
            </a:p>
          </p:txBody>
        </p:sp>
        <p:sp>
          <p:nvSpPr>
            <p:cNvPr id="10" name="TextBox 10"/>
            <p:cNvSpPr txBox="1"/>
            <p:nvPr/>
          </p:nvSpPr>
          <p:spPr>
            <a:xfrm>
              <a:off x="566738" y="3236595"/>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最新一期德勤全球风险管理调研的结论支持这​</a:t>
              </a:r>
              <a:br/>
              <a:r>
                <a:rPr lang="zh-CN" sz="900" dirty="0">
                  <a:solidFill>
                    <a:srgbClr val="333333"/>
                  </a:solidFill>
                  <a:latin typeface="+mn-lt"/>
                  <a:ea typeface="+mn-ea"/>
                  <a:cs typeface="+mn-cs"/>
                </a:rPr>
                <a:t>一观点：COVID-19疫情的经济影响带来​​</a:t>
              </a:r>
              <a:br/>
              <a:r>
                <a:rPr lang="zh-CN" sz="900" dirty="0">
                  <a:solidFill>
                    <a:srgbClr val="333333"/>
                  </a:solidFill>
                  <a:latin typeface="+mn-lt"/>
                  <a:ea typeface="+mn-ea"/>
                  <a:cs typeface="+mn-cs"/>
                </a:rPr>
                <a:t>信用风险变化，对网络安全风险和银行创新的​</a:t>
              </a:r>
              <a:br/>
              <a:r>
                <a:rPr lang="zh-CN" sz="900" dirty="0">
                  <a:solidFill>
                    <a:srgbClr val="333333"/>
                  </a:solidFill>
                  <a:latin typeface="+mn-lt"/>
                  <a:ea typeface="+mn-ea"/>
                  <a:cs typeface="+mn-cs"/>
                </a:rPr>
                <a:t>持续关注，最终都与模型的使用相关。这也凸​</a:t>
              </a:r>
              <a:br/>
              <a:r>
                <a:rPr lang="zh-CN" sz="900" dirty="0">
                  <a:solidFill>
                    <a:srgbClr val="333333"/>
                  </a:solidFill>
                  <a:latin typeface="+mn-lt"/>
                  <a:ea typeface="+mn-ea"/>
                  <a:cs typeface="+mn-cs"/>
                </a:rPr>
                <a:t>显了良好模型风险管理的重要性。​</a:t>
              </a:r>
            </a:p>
          </p:txBody>
        </p:sp>
      </p:grpSp>
      <p:grpSp>
        <p:nvGrpSpPr>
          <p:cNvPr id="15" name="col-2"/>
          <p:cNvGrpSpPr/>
          <p:nvPr/>
        </p:nvGrpSpPr>
        <p:grpSpPr>
          <a:xfrm>
            <a:off x="3328988" y="855345"/>
            <a:ext cx="2472690" cy="2271713"/>
            <a:chOff x="3328988" y="855345"/>
            <a:chExt cx="2472690" cy="2271713"/>
          </a:xfrm>
        </p:grpSpPr>
        <p:sp>
          <p:nvSpPr>
            <p:cNvPr id="12" name="TextBox 12"/>
            <p:cNvSpPr txBox="1"/>
            <p:nvPr/>
          </p:nvSpPr>
          <p:spPr>
            <a:xfrm>
              <a:off x="3328988" y="855345"/>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随着决策更加模型驱动、基于客户数据，客户​</a:t>
              </a:r>
              <a:br/>
              <a:r>
                <a:rPr lang="zh-CN" sz="900" dirty="0">
                  <a:solidFill>
                    <a:srgbClr val="333333"/>
                  </a:solidFill>
                  <a:latin typeface="+mn-lt"/>
                  <a:ea typeface="+mn-ea"/>
                  <a:cs typeface="+mn-cs"/>
                </a:rPr>
                <a:t>和监管等利益相关方也要求更深入地理解银行​</a:t>
              </a:r>
              <a:br/>
              <a:r>
                <a:rPr lang="zh-CN" sz="900" dirty="0">
                  <a:solidFill>
                    <a:srgbClr val="333333"/>
                  </a:solidFill>
                  <a:latin typeface="+mn-lt"/>
                  <a:ea typeface="+mn-ea"/>
                  <a:cs typeface="+mn-cs"/>
                </a:rPr>
                <a:t>开发、验证、审批、使用和监控模型的方式。​</a:t>
              </a:r>
            </a:p>
          </p:txBody>
        </p:sp>
        <p:sp>
          <p:nvSpPr>
            <p:cNvPr id="13" name="TextBox 13"/>
            <p:cNvSpPr txBox="1"/>
            <p:nvPr/>
          </p:nvSpPr>
          <p:spPr>
            <a:xfrm>
              <a:off x="3328988" y="1498997"/>
              <a:ext cx="1854203" cy="183356"/>
            </a:xfrm>
            <a:prstGeom prst="rect">
              <a:avLst/>
            </a:prstGeom>
            <a:noFill/>
            <a:ln>
              <a:noFill/>
            </a:ln>
          </p:spPr>
          <p:txBody>
            <a:bodyPr wrap="none" lIns="0" tIns="0" rIns="0" bIns="0" anchor="t" anchorCtr="0">
              <a:spAutoFit/>
            </a:bodyPr>
            <a:lstStyle/>
            <a:p>
              <a:pPr algn="l"/>
              <a:r>
                <a:rPr lang="zh-CN" sz="940" b="1" dirty="0">
                  <a:solidFill>
                    <a:srgbClr val="E72700"/>
                  </a:solidFill>
                  <a:latin typeface="+mn-lt"/>
                  <a:ea typeface="+mn-ea"/>
                  <a:cs typeface="+mn-cs"/>
                </a:rPr>
                <a:t>覆盖模型全生命周期的更强治理​</a:t>
              </a:r>
            </a:p>
          </p:txBody>
        </p:sp>
        <p:sp>
          <p:nvSpPr>
            <p:cNvPr id="14" name="TextBox 14"/>
            <p:cNvSpPr txBox="1"/>
            <p:nvPr/>
          </p:nvSpPr>
          <p:spPr>
            <a:xfrm>
              <a:off x="3328988" y="1684020"/>
              <a:ext cx="2472690" cy="14430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上述变化要求覆盖模型全生命周期的更强治理。​</a:t>
              </a:r>
              <a:br/>
              <a:r>
                <a:rPr lang="zh-CN" sz="900" dirty="0">
                  <a:solidFill>
                    <a:srgbClr val="333333"/>
                  </a:solidFill>
                  <a:latin typeface="+mn-lt"/>
                  <a:ea typeface="+mn-ea"/>
                  <a:cs typeface="+mn-cs"/>
                </a:rPr>
                <a:t>模型所有者的角色是治理的关键，但银行在推​</a:t>
              </a:r>
              <a:br/>
              <a:r>
                <a:rPr lang="zh-CN" sz="900" dirty="0">
                  <a:solidFill>
                    <a:srgbClr val="333333"/>
                  </a:solidFill>
                  <a:latin typeface="+mn-lt"/>
                  <a:ea typeface="+mn-ea"/>
                  <a:cs typeface="+mn-cs"/>
                </a:rPr>
                <a:t>行该角色时面临大量挑战。更多模型和更高复​</a:t>
              </a:r>
              <a:br/>
              <a:r>
                <a:rPr lang="zh-CN" sz="900" dirty="0">
                  <a:solidFill>
                    <a:srgbClr val="333333"/>
                  </a:solidFill>
                  <a:latin typeface="+mn-lt"/>
                  <a:ea typeface="+mn-ea"/>
                  <a:cs typeface="+mn-cs"/>
                </a:rPr>
                <a:t>杂度也意味着需要引入更高效的工作方式，以​</a:t>
              </a:r>
              <a:br/>
              <a:r>
                <a:rPr lang="zh-CN" sz="900" dirty="0">
                  <a:solidFill>
                    <a:srgbClr val="333333"/>
                  </a:solidFill>
                  <a:latin typeface="+mn-lt"/>
                  <a:ea typeface="+mn-ea"/>
                  <a:cs typeface="+mn-cs"/>
                </a:rPr>
                <a:t>利用稀缺资源。模型风险委员会结构需要调整，​</a:t>
              </a:r>
              <a:br/>
              <a:r>
                <a:rPr lang="zh-CN" sz="900" dirty="0">
                  <a:solidFill>
                    <a:srgbClr val="333333"/>
                  </a:solidFill>
                  <a:latin typeface="+mn-lt"/>
                  <a:ea typeface="+mn-ea"/>
                  <a:cs typeface="+mn-cs"/>
                </a:rPr>
                <a:t>以便针对庞大的模型版图在战略和运营层面高​</a:t>
              </a:r>
              <a:br/>
              <a:r>
                <a:rPr lang="zh-CN" sz="900" dirty="0">
                  <a:solidFill>
                    <a:srgbClr val="333333"/>
                  </a:solidFill>
                  <a:latin typeface="+mn-lt"/>
                  <a:ea typeface="+mn-ea"/>
                  <a:cs typeface="+mn-cs"/>
                </a:rPr>
                <a:t>效决策。最后，模型开发和模型验证团队在模​</a:t>
              </a:r>
              <a:br/>
              <a:r>
                <a:rPr lang="zh-CN" sz="900" dirty="0">
                  <a:solidFill>
                    <a:srgbClr val="333333"/>
                  </a:solidFill>
                  <a:latin typeface="+mn-lt"/>
                  <a:ea typeface="+mn-ea"/>
                  <a:cs typeface="+mn-cs"/>
                </a:rPr>
                <a:t>型全生命周期中的协作与互动方式也需要改变。​</a:t>
              </a:r>
            </a:p>
          </p:txBody>
        </p:sp>
      </p:grpSp>
      <p:grpSp>
        <p:nvGrpSpPr>
          <p:cNvPr id="18" name="col-3"/>
          <p:cNvGrpSpPr/>
          <p:nvPr/>
        </p:nvGrpSpPr>
        <p:grpSpPr>
          <a:xfrm>
            <a:off x="6091238" y="851297"/>
            <a:ext cx="3272790" cy="1266111"/>
            <a:chOff x="6091238" y="851297"/>
            <a:chExt cx="3272790" cy="1266111"/>
          </a:xfrm>
        </p:grpSpPr>
        <p:sp>
          <p:nvSpPr>
            <p:cNvPr id="16" name="TextBox 16"/>
            <p:cNvSpPr txBox="1"/>
            <p:nvPr/>
          </p:nvSpPr>
          <p:spPr>
            <a:xfrm>
              <a:off x="6091238" y="851297"/>
              <a:ext cx="715317" cy="183356"/>
            </a:xfrm>
            <a:prstGeom prst="rect">
              <a:avLst/>
            </a:prstGeom>
            <a:noFill/>
            <a:ln>
              <a:noFill/>
            </a:ln>
          </p:spPr>
          <p:txBody>
            <a:bodyPr wrap="none" lIns="0" tIns="0" rIns="0" bIns="0" anchor="t" anchorCtr="0">
              <a:spAutoFit/>
            </a:bodyPr>
            <a:lstStyle/>
            <a:p>
              <a:pPr algn="l"/>
              <a:r>
                <a:rPr lang="zh-CN" sz="940" b="1" dirty="0">
                  <a:solidFill>
                    <a:srgbClr val="E72700"/>
                  </a:solidFill>
                  <a:latin typeface="+mn-lt"/>
                  <a:ea typeface="+mn-ea"/>
                  <a:cs typeface="+mn-cs"/>
                </a:rPr>
                <a:t>技术的应用​</a:t>
              </a:r>
            </a:p>
          </p:txBody>
        </p:sp>
        <p:sp>
          <p:nvSpPr>
            <p:cNvPr id="17" name="TextBox 17"/>
            <p:cNvSpPr txBox="1"/>
            <p:nvPr/>
          </p:nvSpPr>
          <p:spPr>
            <a:xfrm>
              <a:off x="6091238" y="1036320"/>
              <a:ext cx="32727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为了全面掌握模型版图并在模型全生命周期中追踪模型，技术​</a:t>
              </a:r>
              <a:br/>
              <a:r>
                <a:rPr lang="zh-CN" sz="900" dirty="0">
                  <a:solidFill>
                    <a:srgbClr val="333333"/>
                  </a:solidFill>
                  <a:latin typeface="+mn-lt"/>
                  <a:ea typeface="+mn-ea"/>
                  <a:cs typeface="+mn-cs"/>
                </a:rPr>
                <a:t>在模型风险管理中的作用愈发重要。越来越多的银行正在开发​</a:t>
              </a:r>
              <a:br/>
              <a:r>
                <a:rPr lang="zh-CN" sz="900" dirty="0">
                  <a:solidFill>
                    <a:srgbClr val="333333"/>
                  </a:solidFill>
                  <a:latin typeface="+mn-lt"/>
                  <a:ea typeface="+mn-ea"/>
                  <a:cs typeface="+mn-cs"/>
                </a:rPr>
                <a:t>或购买模型风险管理工具，作为摆脱低技术含量模型清单列表​</a:t>
              </a:r>
              <a:br/>
              <a:r>
                <a:rPr lang="zh-CN" sz="900" dirty="0">
                  <a:solidFill>
                    <a:srgbClr val="333333"/>
                  </a:solidFill>
                  <a:latin typeface="+mn-lt"/>
                  <a:ea typeface="+mn-ea"/>
                  <a:cs typeface="+mn-cs"/>
                </a:rPr>
                <a:t>的下一步。技术也是模型监控的关键：模型监控减少了模型开​</a:t>
              </a:r>
              <a:br/>
              <a:r>
                <a:rPr lang="zh-CN" sz="900" dirty="0">
                  <a:solidFill>
                    <a:srgbClr val="333333"/>
                  </a:solidFill>
                  <a:latin typeface="+mn-lt"/>
                  <a:ea typeface="+mn-ea"/>
                  <a:cs typeface="+mn-cs"/>
                </a:rPr>
                <a:t>发和验证的人工工作，提高了模型生命周期的效率；尤其在频​</a:t>
              </a:r>
              <a:br/>
              <a:r>
                <a:rPr lang="zh-CN" sz="900" dirty="0">
                  <a:solidFill>
                    <a:srgbClr val="333333"/>
                  </a:solidFill>
                  <a:latin typeface="+mn-lt"/>
                  <a:ea typeface="+mn-ea"/>
                  <a:cs typeface="+mn-cs"/>
                </a:rPr>
                <a:t>繁且自动化执行时，还有助于形成对模型质量的更真实的认识。​</a:t>
              </a:r>
            </a:p>
          </p:txBody>
        </p:sp>
      </p:grpSp>
      <p:grpSp>
        <p:nvGrpSpPr>
          <p:cNvPr id="48" name="figure-1"/>
          <p:cNvGrpSpPr/>
          <p:nvPr/>
        </p:nvGrpSpPr>
        <p:grpSpPr>
          <a:xfrm>
            <a:off x="6091238" y="3892391"/>
            <a:ext cx="3338512" cy="2613185"/>
            <a:chOff x="6091238" y="3892391"/>
            <a:chExt cx="3338512" cy="2613185"/>
          </a:xfrm>
        </p:grpSpPr>
        <p:sp>
          <p:nvSpPr>
            <p:cNvPr id="19" name="TextBox 19"/>
            <p:cNvSpPr txBox="1"/>
            <p:nvPr/>
          </p:nvSpPr>
          <p:spPr>
            <a:xfrm>
              <a:off x="6091238" y="3892391"/>
              <a:ext cx="1623955"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 银行内的模型风险认知度​​</a:t>
              </a:r>
            </a:p>
          </p:txBody>
        </p:sp>
        <p:sp>
          <p:nvSpPr>
            <p:cNvPr id="20" name="TextBox 20"/>
            <p:cNvSpPr txBox="1"/>
            <p:nvPr/>
          </p:nvSpPr>
          <p:spPr>
            <a:xfrm>
              <a:off x="6091238" y="4041934"/>
              <a:ext cx="1774918"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Model risk awareness within the bank​​</a:t>
              </a:r>
            </a:p>
          </p:txBody>
        </p:sp>
        <p:sp>
          <p:nvSpPr>
            <p:cNvPr id="21" name="Line 21"/>
            <p:cNvSpPr/>
            <p:nvPr/>
          </p:nvSpPr>
          <p:spPr>
            <a:xfrm>
              <a:off x="6667500" y="6286500"/>
              <a:ext cx="2762250" cy="9525"/>
            </a:xfrm>
            <a:custGeom>
              <a:avLst/>
              <a:gdLst/>
              <a:ahLst/>
              <a:cxnLst/>
              <a:rect l="l" t="t" r="r" b="b"/>
              <a:pathLst>
                <a:path w="2762250" h="9525">
                  <a:moveTo>
                    <a:pt x="0" y="0"/>
                  </a:moveTo>
                  <a:lnTo>
                    <a:pt x="2762250" y="0"/>
                  </a:lnTo>
                </a:path>
              </a:pathLst>
            </a:custGeom>
            <a:noFill/>
            <a:ln w="7620">
              <a:solidFill>
                <a:srgbClr val="E6E6E6"/>
              </a:solidFill>
            </a:ln>
          </p:spPr>
        </p:sp>
        <p:sp>
          <p:nvSpPr>
            <p:cNvPr id="22" name="TextBox 22"/>
            <p:cNvSpPr txBox="1"/>
            <p:nvPr/>
          </p:nvSpPr>
          <p:spPr>
            <a:xfrm>
              <a:off x="6418802" y="6243638"/>
              <a:ext cx="196310" cy="147638"/>
            </a:xfrm>
            <a:prstGeom prst="rect">
              <a:avLst/>
            </a:prstGeom>
            <a:noFill/>
            <a:ln>
              <a:noFill/>
            </a:ln>
          </p:spPr>
          <p:txBody>
            <a:bodyPr wrap="none" lIns="0" tIns="0" rIns="0" bIns="0" anchor="t" anchorCtr="0">
              <a:spAutoFit/>
            </a:bodyPr>
            <a:lstStyle/>
            <a:p>
              <a:pPr algn="r"/>
              <a:r>
                <a:rPr lang="zh-CN" sz="750" dirty="0">
                  <a:solidFill>
                    <a:srgbClr val="666666"/>
                  </a:solidFill>
                  <a:latin typeface="+mn-lt"/>
                  <a:ea typeface="+mn-ea"/>
                  <a:cs typeface="+mn-cs"/>
                </a:rPr>
                <a:t>0%​</a:t>
              </a:r>
            </a:p>
          </p:txBody>
        </p:sp>
        <p:sp>
          <p:nvSpPr>
            <p:cNvPr id="23" name="Line 23"/>
            <p:cNvSpPr/>
            <p:nvPr/>
          </p:nvSpPr>
          <p:spPr>
            <a:xfrm>
              <a:off x="6667500" y="5953125"/>
              <a:ext cx="2762250" cy="9525"/>
            </a:xfrm>
            <a:custGeom>
              <a:avLst/>
              <a:gdLst/>
              <a:ahLst/>
              <a:cxnLst/>
              <a:rect l="l" t="t" r="r" b="b"/>
              <a:pathLst>
                <a:path w="2762250" h="9525">
                  <a:moveTo>
                    <a:pt x="0" y="0"/>
                  </a:moveTo>
                  <a:lnTo>
                    <a:pt x="2762250" y="0"/>
                  </a:lnTo>
                </a:path>
              </a:pathLst>
            </a:custGeom>
            <a:noFill/>
            <a:ln w="7620">
              <a:solidFill>
                <a:srgbClr val="E6E6E6"/>
              </a:solidFill>
            </a:ln>
          </p:spPr>
        </p:sp>
        <p:sp>
          <p:nvSpPr>
            <p:cNvPr id="24" name="TextBox 24"/>
            <p:cNvSpPr txBox="1"/>
            <p:nvPr/>
          </p:nvSpPr>
          <p:spPr>
            <a:xfrm>
              <a:off x="6363271" y="5910262"/>
              <a:ext cx="251841" cy="147638"/>
            </a:xfrm>
            <a:prstGeom prst="rect">
              <a:avLst/>
            </a:prstGeom>
            <a:noFill/>
            <a:ln>
              <a:noFill/>
            </a:ln>
          </p:spPr>
          <p:txBody>
            <a:bodyPr wrap="none" lIns="0" tIns="0" rIns="0" bIns="0" anchor="t" anchorCtr="0">
              <a:spAutoFit/>
            </a:bodyPr>
            <a:lstStyle/>
            <a:p>
              <a:pPr algn="r"/>
              <a:r>
                <a:rPr lang="zh-CN" sz="750" dirty="0">
                  <a:solidFill>
                    <a:srgbClr val="666666"/>
                  </a:solidFill>
                  <a:latin typeface="+mn-lt"/>
                  <a:ea typeface="+mn-ea"/>
                  <a:cs typeface="+mn-cs"/>
                </a:rPr>
                <a:t>10%​</a:t>
              </a:r>
            </a:p>
          </p:txBody>
        </p:sp>
        <p:sp>
          <p:nvSpPr>
            <p:cNvPr id="25" name="Line 25"/>
            <p:cNvSpPr/>
            <p:nvPr/>
          </p:nvSpPr>
          <p:spPr>
            <a:xfrm>
              <a:off x="6667500" y="5619750"/>
              <a:ext cx="2762250" cy="9525"/>
            </a:xfrm>
            <a:custGeom>
              <a:avLst/>
              <a:gdLst/>
              <a:ahLst/>
              <a:cxnLst/>
              <a:rect l="l" t="t" r="r" b="b"/>
              <a:pathLst>
                <a:path w="2762250" h="9525">
                  <a:moveTo>
                    <a:pt x="0" y="0"/>
                  </a:moveTo>
                  <a:lnTo>
                    <a:pt x="2762250" y="0"/>
                  </a:lnTo>
                </a:path>
              </a:pathLst>
            </a:custGeom>
            <a:noFill/>
            <a:ln w="7620">
              <a:solidFill>
                <a:srgbClr val="E6E6E6"/>
              </a:solidFill>
            </a:ln>
          </p:spPr>
        </p:sp>
        <p:sp>
          <p:nvSpPr>
            <p:cNvPr id="26" name="TextBox 26"/>
            <p:cNvSpPr txBox="1"/>
            <p:nvPr/>
          </p:nvSpPr>
          <p:spPr>
            <a:xfrm>
              <a:off x="6363271" y="5576888"/>
              <a:ext cx="251841" cy="147638"/>
            </a:xfrm>
            <a:prstGeom prst="rect">
              <a:avLst/>
            </a:prstGeom>
            <a:noFill/>
            <a:ln>
              <a:noFill/>
            </a:ln>
          </p:spPr>
          <p:txBody>
            <a:bodyPr wrap="none" lIns="0" tIns="0" rIns="0" bIns="0" anchor="t" anchorCtr="0">
              <a:spAutoFit/>
            </a:bodyPr>
            <a:lstStyle/>
            <a:p>
              <a:pPr algn="r"/>
              <a:r>
                <a:rPr lang="zh-CN" sz="750" dirty="0">
                  <a:solidFill>
                    <a:srgbClr val="666666"/>
                  </a:solidFill>
                  <a:latin typeface="+mn-lt"/>
                  <a:ea typeface="+mn-ea"/>
                  <a:cs typeface="+mn-cs"/>
                </a:rPr>
                <a:t>20%​</a:t>
              </a:r>
            </a:p>
          </p:txBody>
        </p:sp>
        <p:sp>
          <p:nvSpPr>
            <p:cNvPr id="27" name="Line 27"/>
            <p:cNvSpPr/>
            <p:nvPr/>
          </p:nvSpPr>
          <p:spPr>
            <a:xfrm>
              <a:off x="6667500" y="5286375"/>
              <a:ext cx="2762250" cy="9525"/>
            </a:xfrm>
            <a:custGeom>
              <a:avLst/>
              <a:gdLst/>
              <a:ahLst/>
              <a:cxnLst/>
              <a:rect l="l" t="t" r="r" b="b"/>
              <a:pathLst>
                <a:path w="2762250" h="9525">
                  <a:moveTo>
                    <a:pt x="0" y="0"/>
                  </a:moveTo>
                  <a:lnTo>
                    <a:pt x="2762250" y="0"/>
                  </a:lnTo>
                </a:path>
              </a:pathLst>
            </a:custGeom>
            <a:noFill/>
            <a:ln w="7620">
              <a:solidFill>
                <a:srgbClr val="E6E6E6"/>
              </a:solidFill>
            </a:ln>
          </p:spPr>
        </p:sp>
        <p:sp>
          <p:nvSpPr>
            <p:cNvPr id="28" name="TextBox 28"/>
            <p:cNvSpPr txBox="1"/>
            <p:nvPr/>
          </p:nvSpPr>
          <p:spPr>
            <a:xfrm>
              <a:off x="6363271" y="5243512"/>
              <a:ext cx="251841" cy="147638"/>
            </a:xfrm>
            <a:prstGeom prst="rect">
              <a:avLst/>
            </a:prstGeom>
            <a:noFill/>
            <a:ln>
              <a:noFill/>
            </a:ln>
          </p:spPr>
          <p:txBody>
            <a:bodyPr wrap="none" lIns="0" tIns="0" rIns="0" bIns="0" anchor="t" anchorCtr="0">
              <a:spAutoFit/>
            </a:bodyPr>
            <a:lstStyle/>
            <a:p>
              <a:pPr algn="r"/>
              <a:r>
                <a:rPr lang="zh-CN" sz="750" dirty="0">
                  <a:solidFill>
                    <a:srgbClr val="666666"/>
                  </a:solidFill>
                  <a:latin typeface="+mn-lt"/>
                  <a:ea typeface="+mn-ea"/>
                  <a:cs typeface="+mn-cs"/>
                </a:rPr>
                <a:t>30%​</a:t>
              </a:r>
            </a:p>
          </p:txBody>
        </p:sp>
        <p:sp>
          <p:nvSpPr>
            <p:cNvPr id="29" name="Line 29"/>
            <p:cNvSpPr/>
            <p:nvPr/>
          </p:nvSpPr>
          <p:spPr>
            <a:xfrm>
              <a:off x="6667500" y="4953000"/>
              <a:ext cx="2762250" cy="9525"/>
            </a:xfrm>
            <a:custGeom>
              <a:avLst/>
              <a:gdLst/>
              <a:ahLst/>
              <a:cxnLst/>
              <a:rect l="l" t="t" r="r" b="b"/>
              <a:pathLst>
                <a:path w="2762250" h="9525">
                  <a:moveTo>
                    <a:pt x="0" y="0"/>
                  </a:moveTo>
                  <a:lnTo>
                    <a:pt x="2762250" y="0"/>
                  </a:lnTo>
                </a:path>
              </a:pathLst>
            </a:custGeom>
            <a:noFill/>
            <a:ln w="7620">
              <a:solidFill>
                <a:srgbClr val="E6E6E6"/>
              </a:solidFill>
            </a:ln>
          </p:spPr>
        </p:sp>
        <p:sp>
          <p:nvSpPr>
            <p:cNvPr id="30" name="TextBox 30"/>
            <p:cNvSpPr txBox="1"/>
            <p:nvPr/>
          </p:nvSpPr>
          <p:spPr>
            <a:xfrm>
              <a:off x="6363271" y="4910138"/>
              <a:ext cx="251841" cy="147638"/>
            </a:xfrm>
            <a:prstGeom prst="rect">
              <a:avLst/>
            </a:prstGeom>
            <a:noFill/>
            <a:ln>
              <a:noFill/>
            </a:ln>
          </p:spPr>
          <p:txBody>
            <a:bodyPr wrap="none" lIns="0" tIns="0" rIns="0" bIns="0" anchor="t" anchorCtr="0">
              <a:spAutoFit/>
            </a:bodyPr>
            <a:lstStyle/>
            <a:p>
              <a:pPr algn="r"/>
              <a:r>
                <a:rPr lang="zh-CN" sz="750" dirty="0">
                  <a:solidFill>
                    <a:srgbClr val="666666"/>
                  </a:solidFill>
                  <a:latin typeface="+mn-lt"/>
                  <a:ea typeface="+mn-ea"/>
                  <a:cs typeface="+mn-cs"/>
                </a:rPr>
                <a:t>40%​</a:t>
              </a:r>
            </a:p>
          </p:txBody>
        </p:sp>
        <p:sp>
          <p:nvSpPr>
            <p:cNvPr id="31" name="Line 31"/>
            <p:cNvSpPr/>
            <p:nvPr/>
          </p:nvSpPr>
          <p:spPr>
            <a:xfrm>
              <a:off x="6667500" y="4619625"/>
              <a:ext cx="2762250" cy="9525"/>
            </a:xfrm>
            <a:custGeom>
              <a:avLst/>
              <a:gdLst/>
              <a:ahLst/>
              <a:cxnLst/>
              <a:rect l="l" t="t" r="r" b="b"/>
              <a:pathLst>
                <a:path w="2762250" h="9525">
                  <a:moveTo>
                    <a:pt x="0" y="0"/>
                  </a:moveTo>
                  <a:lnTo>
                    <a:pt x="2762250" y="0"/>
                  </a:lnTo>
                </a:path>
              </a:pathLst>
            </a:custGeom>
            <a:noFill/>
            <a:ln w="7620">
              <a:solidFill>
                <a:srgbClr val="E6E6E6"/>
              </a:solidFill>
            </a:ln>
          </p:spPr>
        </p:sp>
        <p:sp>
          <p:nvSpPr>
            <p:cNvPr id="32" name="TextBox 32"/>
            <p:cNvSpPr txBox="1"/>
            <p:nvPr/>
          </p:nvSpPr>
          <p:spPr>
            <a:xfrm>
              <a:off x="6363271" y="4576762"/>
              <a:ext cx="251841" cy="147638"/>
            </a:xfrm>
            <a:prstGeom prst="rect">
              <a:avLst/>
            </a:prstGeom>
            <a:noFill/>
            <a:ln>
              <a:noFill/>
            </a:ln>
          </p:spPr>
          <p:txBody>
            <a:bodyPr wrap="none" lIns="0" tIns="0" rIns="0" bIns="0" anchor="t" anchorCtr="0">
              <a:spAutoFit/>
            </a:bodyPr>
            <a:lstStyle/>
            <a:p>
              <a:pPr algn="r"/>
              <a:r>
                <a:rPr lang="zh-CN" sz="750" dirty="0">
                  <a:solidFill>
                    <a:srgbClr val="666666"/>
                  </a:solidFill>
                  <a:latin typeface="+mn-lt"/>
                  <a:ea typeface="+mn-ea"/>
                  <a:cs typeface="+mn-cs"/>
                </a:rPr>
                <a:t>50%​</a:t>
              </a:r>
            </a:p>
          </p:txBody>
        </p:sp>
        <p:sp>
          <p:nvSpPr>
            <p:cNvPr id="33" name="Line 33"/>
            <p:cNvSpPr/>
            <p:nvPr/>
          </p:nvSpPr>
          <p:spPr>
            <a:xfrm>
              <a:off x="6667500" y="4286250"/>
              <a:ext cx="2762250" cy="9525"/>
            </a:xfrm>
            <a:custGeom>
              <a:avLst/>
              <a:gdLst/>
              <a:ahLst/>
              <a:cxnLst/>
              <a:rect l="l" t="t" r="r" b="b"/>
              <a:pathLst>
                <a:path w="2762250" h="9525">
                  <a:moveTo>
                    <a:pt x="0" y="0"/>
                  </a:moveTo>
                  <a:lnTo>
                    <a:pt x="2762250" y="0"/>
                  </a:lnTo>
                </a:path>
              </a:pathLst>
            </a:custGeom>
            <a:noFill/>
            <a:ln w="7620">
              <a:solidFill>
                <a:srgbClr val="E6E6E6"/>
              </a:solidFill>
            </a:ln>
          </p:spPr>
        </p:sp>
        <p:sp>
          <p:nvSpPr>
            <p:cNvPr id="34" name="TextBox 34"/>
            <p:cNvSpPr txBox="1"/>
            <p:nvPr/>
          </p:nvSpPr>
          <p:spPr>
            <a:xfrm>
              <a:off x="6363271" y="4243388"/>
              <a:ext cx="251841" cy="147638"/>
            </a:xfrm>
            <a:prstGeom prst="rect">
              <a:avLst/>
            </a:prstGeom>
            <a:noFill/>
            <a:ln>
              <a:noFill/>
            </a:ln>
          </p:spPr>
          <p:txBody>
            <a:bodyPr wrap="none" lIns="0" tIns="0" rIns="0" bIns="0" anchor="t" anchorCtr="0">
              <a:spAutoFit/>
            </a:bodyPr>
            <a:lstStyle/>
            <a:p>
              <a:pPr algn="r"/>
              <a:r>
                <a:rPr lang="zh-CN" sz="750" dirty="0">
                  <a:solidFill>
                    <a:srgbClr val="666666"/>
                  </a:solidFill>
                  <a:latin typeface="+mn-lt"/>
                  <a:ea typeface="+mn-ea"/>
                  <a:cs typeface="+mn-cs"/>
                </a:rPr>
                <a:t>60%​</a:t>
              </a:r>
            </a:p>
          </p:txBody>
        </p:sp>
        <p:sp>
          <p:nvSpPr>
            <p:cNvPr id="35" name="Rectangle 35"/>
            <p:cNvSpPr/>
            <p:nvPr/>
          </p:nvSpPr>
          <p:spPr>
            <a:xfrm>
              <a:off x="7029450" y="5686425"/>
              <a:ext cx="419100" cy="600075"/>
            </a:xfrm>
            <a:prstGeom prst="rect">
              <a:avLst/>
            </a:prstGeom>
            <a:solidFill>
              <a:srgbClr val="E96B52"/>
            </a:solidFill>
            <a:ln>
              <a:noFill/>
            </a:ln>
          </p:spPr>
        </p:sp>
        <p:sp>
          <p:nvSpPr>
            <p:cNvPr id="36" name="Rectangle 36"/>
            <p:cNvSpPr/>
            <p:nvPr/>
          </p:nvSpPr>
          <p:spPr>
            <a:xfrm>
              <a:off x="7029450" y="5686425"/>
              <a:ext cx="419100" cy="600075"/>
            </a:xfrm>
            <a:prstGeom prst="rect">
              <a:avLst/>
            </a:prstGeom>
            <a:noFill/>
            <a:ln w="9525">
              <a:solidFill>
                <a:srgbClr val="B61F00"/>
              </a:solidFill>
            </a:ln>
          </p:spPr>
        </p:sp>
        <p:sp>
          <p:nvSpPr>
            <p:cNvPr id="37" name="TextBox 37"/>
            <p:cNvSpPr txBox="1"/>
            <p:nvPr/>
          </p:nvSpPr>
          <p:spPr>
            <a:xfrm>
              <a:off x="7095148" y="5540216"/>
              <a:ext cx="287704" cy="161925"/>
            </a:xfrm>
            <a:prstGeom prst="rect">
              <a:avLst/>
            </a:prstGeom>
            <a:noFill/>
            <a:ln>
              <a:noFill/>
            </a:ln>
          </p:spPr>
          <p:txBody>
            <a:bodyPr wrap="none" lIns="0" tIns="0" rIns="0" bIns="0" anchor="t" anchorCtr="0">
              <a:spAutoFit/>
            </a:bodyPr>
            <a:lstStyle/>
            <a:p>
              <a:pPr algn="ctr"/>
              <a:r>
                <a:rPr lang="zh-CN" sz="820" b="1" dirty="0">
                  <a:solidFill>
                    <a:srgbClr val="1A1A1A"/>
                  </a:solidFill>
                  <a:latin typeface="+mn-lt"/>
                  <a:ea typeface="+mn-ea"/>
                  <a:cs typeface="+mn-cs"/>
                </a:rPr>
                <a:t>18%​</a:t>
              </a:r>
            </a:p>
          </p:txBody>
        </p:sp>
        <p:sp>
          <p:nvSpPr>
            <p:cNvPr id="38" name="TextBox 38"/>
            <p:cNvSpPr txBox="1"/>
            <p:nvPr/>
          </p:nvSpPr>
          <p:spPr>
            <a:xfrm>
              <a:off x="7027605" y="6357938"/>
              <a:ext cx="422791"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高High​​</a:t>
              </a:r>
            </a:p>
          </p:txBody>
        </p:sp>
        <p:sp>
          <p:nvSpPr>
            <p:cNvPr id="39" name="Rectangle 39"/>
            <p:cNvSpPr/>
            <p:nvPr/>
          </p:nvSpPr>
          <p:spPr>
            <a:xfrm>
              <a:off x="7981950" y="4519612"/>
              <a:ext cx="419100" cy="1766888"/>
            </a:xfrm>
            <a:prstGeom prst="rect">
              <a:avLst/>
            </a:prstGeom>
            <a:solidFill>
              <a:srgbClr val="E96B52"/>
            </a:solidFill>
            <a:ln>
              <a:noFill/>
            </a:ln>
          </p:spPr>
        </p:sp>
        <p:sp>
          <p:nvSpPr>
            <p:cNvPr id="40" name="Rectangle 40"/>
            <p:cNvSpPr/>
            <p:nvPr/>
          </p:nvSpPr>
          <p:spPr>
            <a:xfrm>
              <a:off x="7981950" y="4519612"/>
              <a:ext cx="419100" cy="1766888"/>
            </a:xfrm>
            <a:prstGeom prst="rect">
              <a:avLst/>
            </a:prstGeom>
            <a:noFill/>
            <a:ln w="9525">
              <a:solidFill>
                <a:srgbClr val="B61F00"/>
              </a:solidFill>
            </a:ln>
          </p:spPr>
        </p:sp>
        <p:sp>
          <p:nvSpPr>
            <p:cNvPr id="41" name="TextBox 41"/>
            <p:cNvSpPr txBox="1"/>
            <p:nvPr/>
          </p:nvSpPr>
          <p:spPr>
            <a:xfrm>
              <a:off x="8047648" y="4373404"/>
              <a:ext cx="287704" cy="161925"/>
            </a:xfrm>
            <a:prstGeom prst="rect">
              <a:avLst/>
            </a:prstGeom>
            <a:noFill/>
            <a:ln>
              <a:noFill/>
            </a:ln>
          </p:spPr>
          <p:txBody>
            <a:bodyPr wrap="none" lIns="0" tIns="0" rIns="0" bIns="0" anchor="t" anchorCtr="0">
              <a:spAutoFit/>
            </a:bodyPr>
            <a:lstStyle/>
            <a:p>
              <a:pPr algn="ctr"/>
              <a:r>
                <a:rPr lang="zh-CN" sz="820" b="1" dirty="0">
                  <a:solidFill>
                    <a:srgbClr val="1A1A1A"/>
                  </a:solidFill>
                  <a:latin typeface="+mn-lt"/>
                  <a:ea typeface="+mn-ea"/>
                  <a:cs typeface="+mn-cs"/>
                </a:rPr>
                <a:t>53%​</a:t>
              </a:r>
            </a:p>
          </p:txBody>
        </p:sp>
        <p:sp>
          <p:nvSpPr>
            <p:cNvPr id="42" name="TextBox 42"/>
            <p:cNvSpPr txBox="1"/>
            <p:nvPr/>
          </p:nvSpPr>
          <p:spPr>
            <a:xfrm>
              <a:off x="7904393" y="6357938"/>
              <a:ext cx="574215"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中Medium​​</a:t>
              </a:r>
            </a:p>
          </p:txBody>
        </p:sp>
        <p:sp>
          <p:nvSpPr>
            <p:cNvPr id="43" name="Rectangle 43"/>
            <p:cNvSpPr/>
            <p:nvPr/>
          </p:nvSpPr>
          <p:spPr>
            <a:xfrm>
              <a:off x="8934450" y="5319712"/>
              <a:ext cx="419100" cy="966788"/>
            </a:xfrm>
            <a:prstGeom prst="rect">
              <a:avLst/>
            </a:prstGeom>
            <a:solidFill>
              <a:srgbClr val="E96B52"/>
            </a:solidFill>
            <a:ln>
              <a:noFill/>
            </a:ln>
          </p:spPr>
        </p:sp>
        <p:sp>
          <p:nvSpPr>
            <p:cNvPr id="44" name="Rectangle 44"/>
            <p:cNvSpPr/>
            <p:nvPr/>
          </p:nvSpPr>
          <p:spPr>
            <a:xfrm>
              <a:off x="8934450" y="5319712"/>
              <a:ext cx="419100" cy="966788"/>
            </a:xfrm>
            <a:prstGeom prst="rect">
              <a:avLst/>
            </a:prstGeom>
            <a:noFill/>
            <a:ln w="9525">
              <a:solidFill>
                <a:srgbClr val="B61F00"/>
              </a:solidFill>
            </a:ln>
          </p:spPr>
        </p:sp>
        <p:sp>
          <p:nvSpPr>
            <p:cNvPr id="45" name="TextBox 45"/>
            <p:cNvSpPr txBox="1"/>
            <p:nvPr/>
          </p:nvSpPr>
          <p:spPr>
            <a:xfrm>
              <a:off x="9000148" y="5173504"/>
              <a:ext cx="287704" cy="161925"/>
            </a:xfrm>
            <a:prstGeom prst="rect">
              <a:avLst/>
            </a:prstGeom>
            <a:noFill/>
            <a:ln>
              <a:noFill/>
            </a:ln>
          </p:spPr>
          <p:txBody>
            <a:bodyPr wrap="none" lIns="0" tIns="0" rIns="0" bIns="0" anchor="t" anchorCtr="0">
              <a:spAutoFit/>
            </a:bodyPr>
            <a:lstStyle/>
            <a:p>
              <a:pPr algn="ctr"/>
              <a:r>
                <a:rPr lang="zh-CN" sz="820" b="1" dirty="0">
                  <a:solidFill>
                    <a:srgbClr val="1A1A1A"/>
                  </a:solidFill>
                  <a:latin typeface="+mn-lt"/>
                  <a:ea typeface="+mn-ea"/>
                  <a:cs typeface="+mn-cs"/>
                </a:rPr>
                <a:t>29%​</a:t>
              </a:r>
            </a:p>
          </p:txBody>
        </p:sp>
        <p:sp>
          <p:nvSpPr>
            <p:cNvPr id="46" name="TextBox 46"/>
            <p:cNvSpPr txBox="1"/>
            <p:nvPr/>
          </p:nvSpPr>
          <p:spPr>
            <a:xfrm>
              <a:off x="8937022" y="6357938"/>
              <a:ext cx="413957"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低Low​​</a:t>
              </a:r>
            </a:p>
          </p:txBody>
        </p:sp>
        <p:sp>
          <p:nvSpPr>
            <p:cNvPr id="47" name="Line 47"/>
            <p:cNvSpPr/>
            <p:nvPr/>
          </p:nvSpPr>
          <p:spPr>
            <a:xfrm>
              <a:off x="6667500" y="6286500"/>
              <a:ext cx="2762250" cy="9525"/>
            </a:xfrm>
            <a:custGeom>
              <a:avLst/>
              <a:gdLst/>
              <a:ahLst/>
              <a:cxnLst/>
              <a:rect l="l" t="t" r="r" b="b"/>
              <a:pathLst>
                <a:path w="2762250" h="9525">
                  <a:moveTo>
                    <a:pt x="0" y="0"/>
                  </a:moveTo>
                  <a:lnTo>
                    <a:pt x="2762250" y="0"/>
                  </a:lnTo>
                </a:path>
              </a:pathLst>
            </a:custGeom>
            <a:noFill/>
            <a:ln w="9525">
              <a:solidFill>
                <a:srgbClr val="666666"/>
              </a:solidFill>
            </a:ln>
          </p:spPr>
        </p:sp>
      </p:grpSp>
      <p:grpSp>
        <p:nvGrpSpPr>
          <p:cNvPr id="82" name="nav"/>
          <p:cNvGrpSpPr/>
          <p:nvPr/>
        </p:nvGrpSpPr>
        <p:grpSpPr>
          <a:xfrm>
            <a:off x="9834562" y="0"/>
            <a:ext cx="2357438" cy="6858000"/>
            <a:chOff x="9834562" y="0"/>
            <a:chExt cx="2357438" cy="6858000"/>
          </a:xfrm>
        </p:grpSpPr>
        <p:sp>
          <p:nvSpPr>
            <p:cNvPr id="49" name="Line 49"/>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50" name="Rectangle 50"/>
            <p:cNvSpPr/>
            <p:nvPr/>
          </p:nvSpPr>
          <p:spPr>
            <a:xfrm>
              <a:off x="9839325" y="476250"/>
              <a:ext cx="2352675" cy="514350"/>
            </a:xfrm>
            <a:prstGeom prst="rect">
              <a:avLst/>
            </a:prstGeom>
            <a:solidFill>
              <a:srgbClr val="F3F3F3"/>
            </a:solidFill>
            <a:ln>
              <a:noFill/>
            </a:ln>
          </p:spPr>
        </p:sp>
        <p:sp>
          <p:nvSpPr>
            <p:cNvPr id="51" name="TextBox 51"/>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52" name="Rectangle 52"/>
            <p:cNvSpPr/>
            <p:nvPr/>
          </p:nvSpPr>
          <p:spPr>
            <a:xfrm>
              <a:off x="9839325" y="1000125"/>
              <a:ext cx="2352675" cy="514350"/>
            </a:xfrm>
            <a:prstGeom prst="rect">
              <a:avLst/>
            </a:prstGeom>
            <a:solidFill>
              <a:srgbClr val="F3F3F3"/>
            </a:solidFill>
            <a:ln>
              <a:noFill/>
            </a:ln>
          </p:spPr>
        </p:sp>
        <p:sp>
          <p:nvSpPr>
            <p:cNvPr id="53" name="TextBox 53"/>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54" name="Rectangle 54"/>
            <p:cNvSpPr/>
            <p:nvPr/>
          </p:nvSpPr>
          <p:spPr>
            <a:xfrm>
              <a:off x="9839325" y="1524000"/>
              <a:ext cx="2352675" cy="514350"/>
            </a:xfrm>
            <a:prstGeom prst="rect">
              <a:avLst/>
            </a:prstGeom>
            <a:solidFill>
              <a:srgbClr val="E72700"/>
            </a:solidFill>
            <a:ln>
              <a:noFill/>
            </a:ln>
          </p:spPr>
        </p:sp>
        <p:sp>
          <p:nvSpPr>
            <p:cNvPr id="55" name="TextBox 55"/>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为什么模型风险管理至关重要</a:t>
              </a:r>
            </a:p>
          </p:txBody>
        </p:sp>
        <p:sp>
          <p:nvSpPr>
            <p:cNvPr id="56" name="Rectangle 56"/>
            <p:cNvSpPr/>
            <p:nvPr/>
          </p:nvSpPr>
          <p:spPr>
            <a:xfrm>
              <a:off x="9839325" y="2047875"/>
              <a:ext cx="2352675" cy="514350"/>
            </a:xfrm>
            <a:prstGeom prst="rect">
              <a:avLst/>
            </a:prstGeom>
            <a:solidFill>
              <a:srgbClr val="F3F3F3"/>
            </a:solidFill>
            <a:ln>
              <a:noFill/>
            </a:ln>
          </p:spPr>
        </p:sp>
        <p:sp>
          <p:nvSpPr>
            <p:cNvPr id="57" name="TextBox 57"/>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58" name="Rectangle 58"/>
            <p:cNvSpPr/>
            <p:nvPr/>
          </p:nvSpPr>
          <p:spPr>
            <a:xfrm>
              <a:off x="9839325" y="2571750"/>
              <a:ext cx="2352675" cy="514350"/>
            </a:xfrm>
            <a:prstGeom prst="rect">
              <a:avLst/>
            </a:prstGeom>
            <a:solidFill>
              <a:srgbClr val="F3F3F3"/>
            </a:solidFill>
            <a:ln>
              <a:noFill/>
            </a:ln>
          </p:spPr>
        </p:sp>
        <p:sp>
          <p:nvSpPr>
            <p:cNvPr id="59" name="TextBox 59"/>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60" name="Rectangle 60"/>
            <p:cNvSpPr/>
            <p:nvPr/>
          </p:nvSpPr>
          <p:spPr>
            <a:xfrm>
              <a:off x="9839325" y="3095625"/>
              <a:ext cx="2352675" cy="514350"/>
            </a:xfrm>
            <a:prstGeom prst="rect">
              <a:avLst/>
            </a:prstGeom>
            <a:solidFill>
              <a:srgbClr val="F3F3F3"/>
            </a:solidFill>
            <a:ln>
              <a:noFill/>
            </a:ln>
          </p:spPr>
        </p:sp>
        <p:sp>
          <p:nvSpPr>
            <p:cNvPr id="61" name="TextBox 61"/>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62" name="Rectangle 62"/>
            <p:cNvSpPr/>
            <p:nvPr/>
          </p:nvSpPr>
          <p:spPr>
            <a:xfrm>
              <a:off x="9839325" y="3619500"/>
              <a:ext cx="2352675" cy="514350"/>
            </a:xfrm>
            <a:prstGeom prst="rect">
              <a:avLst/>
            </a:prstGeom>
            <a:solidFill>
              <a:srgbClr val="F3F3F3"/>
            </a:solidFill>
            <a:ln>
              <a:noFill/>
            </a:ln>
          </p:spPr>
        </p:sp>
        <p:sp>
          <p:nvSpPr>
            <p:cNvPr id="63" name="TextBox 63"/>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64" name="Rectangle 64"/>
            <p:cNvSpPr/>
            <p:nvPr/>
          </p:nvSpPr>
          <p:spPr>
            <a:xfrm>
              <a:off x="9839325" y="4143375"/>
              <a:ext cx="2352675" cy="514350"/>
            </a:xfrm>
            <a:prstGeom prst="rect">
              <a:avLst/>
            </a:prstGeom>
            <a:solidFill>
              <a:srgbClr val="F3F3F3"/>
            </a:solidFill>
            <a:ln>
              <a:noFill/>
            </a:ln>
          </p:spPr>
        </p:sp>
        <p:sp>
          <p:nvSpPr>
            <p:cNvPr id="65" name="TextBox 65"/>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66" name="Rectangle 66"/>
            <p:cNvSpPr/>
            <p:nvPr/>
          </p:nvSpPr>
          <p:spPr>
            <a:xfrm>
              <a:off x="9839325" y="4667250"/>
              <a:ext cx="2352675" cy="514350"/>
            </a:xfrm>
            <a:prstGeom prst="rect">
              <a:avLst/>
            </a:prstGeom>
            <a:solidFill>
              <a:srgbClr val="F3F3F3"/>
            </a:solidFill>
            <a:ln>
              <a:noFill/>
            </a:ln>
          </p:spPr>
        </p:sp>
        <p:sp>
          <p:nvSpPr>
            <p:cNvPr id="67" name="TextBox 67"/>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68" name="Rectangle 68"/>
            <p:cNvSpPr/>
            <p:nvPr/>
          </p:nvSpPr>
          <p:spPr>
            <a:xfrm>
              <a:off x="9839325" y="5191125"/>
              <a:ext cx="2352675" cy="514350"/>
            </a:xfrm>
            <a:prstGeom prst="rect">
              <a:avLst/>
            </a:prstGeom>
            <a:solidFill>
              <a:srgbClr val="F3F3F3"/>
            </a:solidFill>
            <a:ln>
              <a:noFill/>
            </a:ln>
          </p:spPr>
        </p:sp>
        <p:sp>
          <p:nvSpPr>
            <p:cNvPr id="69" name="TextBox 69"/>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70" name="Rectangle 70"/>
            <p:cNvSpPr/>
            <p:nvPr/>
          </p:nvSpPr>
          <p:spPr>
            <a:xfrm>
              <a:off x="9839325" y="5715000"/>
              <a:ext cx="2352675" cy="514350"/>
            </a:xfrm>
            <a:prstGeom prst="rect">
              <a:avLst/>
            </a:prstGeom>
            <a:solidFill>
              <a:srgbClr val="F3F3F3"/>
            </a:solidFill>
            <a:ln>
              <a:noFill/>
            </a:ln>
          </p:spPr>
        </p:sp>
        <p:sp>
          <p:nvSpPr>
            <p:cNvPr id="71" name="TextBox 71"/>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72" name="Ellipse 72"/>
            <p:cNvSpPr/>
            <p:nvPr/>
          </p:nvSpPr>
          <p:spPr>
            <a:xfrm>
              <a:off x="10020300" y="6372225"/>
              <a:ext cx="266700" cy="266700"/>
            </a:xfrm>
            <a:prstGeom prst="ellipse">
              <a:avLst/>
            </a:prstGeom>
            <a:solidFill>
              <a:srgbClr val="D7D8D6"/>
            </a:solidFill>
            <a:ln>
              <a:noFill/>
            </a:ln>
          </p:spPr>
        </p:sp>
        <p:sp>
          <p:nvSpPr>
            <p:cNvPr id="73" name="Freeform 73"/>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74" name="Ellipse 74"/>
            <p:cNvSpPr/>
            <p:nvPr/>
          </p:nvSpPr>
          <p:spPr>
            <a:xfrm>
              <a:off x="10420350" y="6372225"/>
              <a:ext cx="266700" cy="266700"/>
            </a:xfrm>
            <a:prstGeom prst="ellipse">
              <a:avLst/>
            </a:prstGeom>
            <a:solidFill>
              <a:srgbClr val="D7D8D6"/>
            </a:solidFill>
            <a:ln>
              <a:noFill/>
            </a:ln>
          </p:spPr>
        </p:sp>
        <p:grpSp>
          <p:nvGrpSpPr>
            <p:cNvPr id="78" name="Group 78"/>
            <p:cNvGrpSpPr/>
            <p:nvPr/>
          </p:nvGrpSpPr>
          <p:grpSpPr>
            <a:xfrm>
              <a:off x="10489406" y="6441281"/>
              <a:ext cx="128588" cy="128588"/>
              <a:chOff x="10489406" y="6441281"/>
              <a:chExt cx="128588" cy="128588"/>
            </a:xfrm>
          </p:grpSpPr>
          <p:sp>
            <p:nvSpPr>
              <p:cNvPr id="75" name="Freeform 75"/>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76" name="Freeform 76"/>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77" name="Freeform 77"/>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79" name="Ellipse 79"/>
            <p:cNvSpPr/>
            <p:nvPr/>
          </p:nvSpPr>
          <p:spPr>
            <a:xfrm>
              <a:off x="10820400" y="6372225"/>
              <a:ext cx="266700" cy="266700"/>
            </a:xfrm>
            <a:prstGeom prst="ellipse">
              <a:avLst/>
            </a:prstGeom>
            <a:solidFill>
              <a:srgbClr val="D7D8D6"/>
            </a:solidFill>
            <a:ln>
              <a:noFill/>
            </a:ln>
          </p:spPr>
        </p:sp>
        <p:sp>
          <p:nvSpPr>
            <p:cNvPr id="80" name="Freeform 80"/>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81" name="TextBox 81"/>
            <p:cNvSpPr txBox="1"/>
            <p:nvPr/>
          </p:nvSpPr>
          <p:spPr>
            <a:xfrm>
              <a:off x="11872951" y="6456045"/>
              <a:ext cx="76162"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5</a:t>
              </a:r>
            </a:p>
          </p:txBody>
        </p:sp>
      </p:gr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727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06</a:t>
              </a:r>
            </a:p>
          </p:txBody>
        </p:sp>
        <p:sp>
          <p:nvSpPr>
            <p:cNvPr id="4" name="TextBox 4"/>
            <p:cNvSpPr txBox="1"/>
            <p:nvPr/>
          </p:nvSpPr>
          <p:spPr>
            <a:xfrm>
              <a:off x="942594" y="151448"/>
              <a:ext cx="46178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为什么</a:t>
              </a:r>
              <a:r>
                <a:rPr lang="zh-CN" sz="1950" b="1" dirty="0">
                  <a:solidFill>
                    <a:srgbClr val="E72700"/>
                  </a:solidFill>
                  <a:latin typeface="+mj-lt"/>
                  <a:ea typeface="+mj-ea"/>
                  <a:cs typeface="+mj-cs"/>
                </a:rPr>
                <a:t>模型风险管理</a:t>
              </a:r>
              <a:r>
                <a:rPr lang="zh-CN" sz="1950" b="1" dirty="0">
                  <a:solidFill>
                    <a:srgbClr val="1A1A1A"/>
                  </a:solidFill>
                  <a:latin typeface="+mj-lt"/>
                  <a:ea typeface="+mj-ea"/>
                  <a:cs typeface="+mj-cs"/>
                </a:rPr>
                <a:t>至关重要（二）​</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E72700"/>
              </a:solidFill>
            </a:ln>
          </p:spPr>
        </p:sp>
      </p:grpSp>
      <p:grpSp>
        <p:nvGrpSpPr>
          <p:cNvPr id="11" name="col-1"/>
          <p:cNvGrpSpPr/>
          <p:nvPr/>
        </p:nvGrpSpPr>
        <p:grpSpPr>
          <a:xfrm>
            <a:off x="566547" y="847249"/>
            <a:ext cx="2472881" cy="3470434"/>
            <a:chOff x="566547" y="847249"/>
            <a:chExt cx="2472881" cy="3470434"/>
          </a:xfrm>
        </p:grpSpPr>
        <p:sp>
          <p:nvSpPr>
            <p:cNvPr id="7" name="TextBox 7"/>
            <p:cNvSpPr txBox="1"/>
            <p:nvPr/>
          </p:nvSpPr>
          <p:spPr>
            <a:xfrm>
              <a:off x="566547" y="847249"/>
              <a:ext cx="1118565" cy="190690"/>
            </a:xfrm>
            <a:prstGeom prst="rect">
              <a:avLst/>
            </a:prstGeom>
            <a:noFill/>
            <a:ln>
              <a:noFill/>
            </a:ln>
          </p:spPr>
          <p:txBody>
            <a:bodyPr wrap="none" lIns="0" tIns="0" rIns="0" bIns="0" anchor="t" anchorCtr="0">
              <a:spAutoFit/>
            </a:bodyPr>
            <a:lstStyle/>
            <a:p>
              <a:pPr algn="l"/>
              <a:r>
                <a:rPr lang="zh-CN" sz="980" b="1" dirty="0">
                  <a:solidFill>
                    <a:srgbClr val="E72700"/>
                  </a:solidFill>
                  <a:latin typeface="+mn-lt"/>
                  <a:ea typeface="+mn-ea"/>
                  <a:cs typeface="+mn-cs"/>
                </a:rPr>
                <a:t>COVID-19的影响​</a:t>
              </a:r>
            </a:p>
          </p:txBody>
        </p:sp>
        <p:sp>
          <p:nvSpPr>
            <p:cNvPr id="8" name="TextBox 8"/>
            <p:cNvSpPr txBox="1"/>
            <p:nvPr/>
          </p:nvSpPr>
          <p:spPr>
            <a:xfrm>
              <a:off x="566738" y="1036320"/>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2020年，COVID-19疫情直接冲击了银行​​​</a:t>
              </a:r>
              <a:br/>
              <a:r>
                <a:rPr lang="zh-CN" sz="900" dirty="0">
                  <a:solidFill>
                    <a:srgbClr val="333333"/>
                  </a:solidFill>
                  <a:latin typeface="+mn-lt"/>
                  <a:ea typeface="+mn-ea"/>
                  <a:cs typeface="+mn-cs"/>
                </a:rPr>
                <a:t>业务，至今仍在持续。由此引发的全球经济下​</a:t>
              </a:r>
              <a:br/>
              <a:r>
                <a:rPr lang="zh-CN" sz="900" dirty="0">
                  <a:solidFill>
                    <a:srgbClr val="333333"/>
                  </a:solidFill>
                  <a:latin typeface="+mn-lt"/>
                  <a:ea typeface="+mn-ea"/>
                  <a:cs typeface="+mn-cs"/>
                </a:rPr>
                <a:t>行是任何人都无法预料的。政府防控措施导致​</a:t>
              </a:r>
              <a:br/>
              <a:r>
                <a:rPr lang="zh-CN" sz="900" dirty="0">
                  <a:solidFill>
                    <a:srgbClr val="333333"/>
                  </a:solidFill>
                  <a:latin typeface="+mn-lt"/>
                  <a:ea typeface="+mn-ea"/>
                  <a:cs typeface="+mn-cs"/>
                </a:rPr>
                <a:t>的不可预测的经济波动，造成并仍在造成不确​</a:t>
              </a:r>
              <a:br/>
              <a:r>
                <a:rPr lang="zh-CN" sz="900" dirty="0">
                  <a:solidFill>
                    <a:srgbClr val="333333"/>
                  </a:solidFill>
                  <a:latin typeface="+mn-lt"/>
                  <a:ea typeface="+mn-ea"/>
                  <a:cs typeface="+mn-cs"/>
                </a:rPr>
                <a:t>定的经济环境。​</a:t>
              </a:r>
            </a:p>
          </p:txBody>
        </p:sp>
        <p:sp>
          <p:nvSpPr>
            <p:cNvPr id="9" name="TextBox 9"/>
            <p:cNvSpPr txBox="1"/>
            <p:nvPr/>
          </p:nvSpPr>
          <p:spPr>
            <a:xfrm>
              <a:off x="566738" y="2045970"/>
              <a:ext cx="2472690" cy="14430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COVID-19疫情对银行风险也有重大影响。​</a:t>
              </a:r>
              <a:br/>
              <a:r>
                <a:rPr lang="zh-CN" sz="900" dirty="0">
                  <a:solidFill>
                    <a:srgbClr val="333333"/>
                  </a:solidFill>
                  <a:latin typeface="+mn-lt"/>
                  <a:ea typeface="+mn-ea"/>
                  <a:cs typeface="+mn-cs"/>
                </a:rPr>
                <a:t>它增加了信用风险，同时也表明并非所有模型​</a:t>
              </a:r>
              <a:br/>
              <a:r>
                <a:rPr lang="zh-CN" sz="900" dirty="0">
                  <a:solidFill>
                    <a:srgbClr val="333333"/>
                  </a:solidFill>
                  <a:latin typeface="+mn-lt"/>
                  <a:ea typeface="+mn-ea"/>
                  <a:cs typeface="+mn-cs"/>
                </a:rPr>
                <a:t>都为2020年初金融市场的动荡做好了准备​​</a:t>
              </a:r>
              <a:br/>
              <a:r>
                <a:rPr lang="zh-CN" sz="900" dirty="0">
                  <a:solidFill>
                    <a:srgbClr val="333333"/>
                  </a:solidFill>
                  <a:latin typeface="+mn-lt"/>
                  <a:ea typeface="+mn-ea"/>
                  <a:cs typeface="+mn-cs"/>
                </a:rPr>
                <a:t>。银行必须保持警惕，预判COVID-19对​​</a:t>
              </a:r>
              <a:br/>
              <a:r>
                <a:rPr lang="zh-CN" sz="900" dirty="0">
                  <a:solidFill>
                    <a:srgbClr val="333333"/>
                  </a:solidFill>
                  <a:latin typeface="+mn-lt"/>
                  <a:ea typeface="+mn-ea"/>
                  <a:cs typeface="+mn-cs"/>
                </a:rPr>
                <a:t>整个模型版图的影响，同时确保业务保持韧性。​</a:t>
              </a:r>
              <a:br/>
              <a:r>
                <a:rPr lang="zh-CN" sz="900" dirty="0">
                  <a:solidFill>
                    <a:srgbClr val="333333"/>
                  </a:solidFill>
                  <a:latin typeface="+mn-lt"/>
                  <a:ea typeface="+mn-ea"/>
                  <a:cs typeface="+mn-cs"/>
                </a:rPr>
                <a:t>这影响到各个模型的方法论与校准（例如信贷​</a:t>
              </a:r>
              <a:br/>
              <a:r>
                <a:rPr lang="zh-CN" sz="900" dirty="0">
                  <a:solidFill>
                    <a:srgbClr val="333333"/>
                  </a:solidFill>
                  <a:latin typeface="+mn-lt"/>
                  <a:ea typeface="+mn-ea"/>
                  <a:cs typeface="+mn-cs"/>
                </a:rPr>
                <a:t>与市场风险模型），也包括将新的​</a:t>
              </a:r>
              <a:br/>
              <a:r>
                <a:rPr lang="zh-CN" sz="900" dirty="0">
                  <a:solidFill>
                    <a:srgbClr val="333333"/>
                  </a:solidFill>
                  <a:latin typeface="+mn-lt"/>
                  <a:ea typeface="+mn-ea"/>
                  <a:cs typeface="+mn-cs"/>
                </a:rPr>
                <a:t>COVID-19事件纳入压力测试和情景分析。​</a:t>
              </a:r>
            </a:p>
          </p:txBody>
        </p:sp>
        <p:sp>
          <p:nvSpPr>
            <p:cNvPr id="10" name="TextBox 10"/>
            <p:cNvSpPr txBox="1"/>
            <p:nvPr/>
          </p:nvSpPr>
          <p:spPr>
            <a:xfrm>
              <a:off x="566738" y="3598545"/>
              <a:ext cx="23583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这比以往任何时候都更凸显了建立稳健模型风​</a:t>
              </a:r>
              <a:br/>
              <a:r>
                <a:rPr lang="zh-CN" sz="900" dirty="0">
                  <a:solidFill>
                    <a:srgbClr val="333333"/>
                  </a:solidFill>
                  <a:latin typeface="+mn-lt"/>
                  <a:ea typeface="+mn-ea"/>
                  <a:cs typeface="+mn-cs"/>
                </a:rPr>
                <a:t>险管理框架的重要性，尤其是COVID-19​</a:t>
              </a:r>
              <a:br/>
              <a:r>
                <a:rPr lang="zh-CN" sz="900" dirty="0">
                  <a:solidFill>
                    <a:srgbClr val="333333"/>
                  </a:solidFill>
                  <a:latin typeface="+mn-lt"/>
                  <a:ea typeface="+mn-ea"/>
                  <a:cs typeface="+mn-cs"/>
                </a:rPr>
                <a:t>的某些影响及相应的经济波动可能对模型产生​</a:t>
              </a:r>
              <a:br/>
              <a:r>
                <a:rPr lang="zh-CN" sz="900" dirty="0">
                  <a:solidFill>
                    <a:srgbClr val="333333"/>
                  </a:solidFill>
                  <a:latin typeface="+mn-lt"/>
                  <a:ea typeface="+mn-ea"/>
                  <a:cs typeface="+mn-cs"/>
                </a:rPr>
                <a:t>不可逆的影响。​</a:t>
              </a:r>
            </a:p>
          </p:txBody>
        </p:sp>
      </p:grpSp>
      <p:grpSp>
        <p:nvGrpSpPr>
          <p:cNvPr id="14" name="col-2"/>
          <p:cNvGrpSpPr/>
          <p:nvPr/>
        </p:nvGrpSpPr>
        <p:grpSpPr>
          <a:xfrm>
            <a:off x="3424238" y="855345"/>
            <a:ext cx="2472690" cy="1366837"/>
            <a:chOff x="3424238" y="855345"/>
            <a:chExt cx="2472690" cy="1366837"/>
          </a:xfrm>
        </p:grpSpPr>
        <p:sp>
          <p:nvSpPr>
            <p:cNvPr id="12" name="TextBox 12"/>
            <p:cNvSpPr txBox="1"/>
            <p:nvPr/>
          </p:nvSpPr>
          <p:spPr>
            <a:xfrm>
              <a:off x="3424238" y="855345"/>
              <a:ext cx="24726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有些令人意外的是，尽管有上述发展和当前经济​</a:t>
              </a:r>
              <a:br/>
              <a:r>
                <a:rPr lang="zh-CN" sz="900" dirty="0">
                  <a:solidFill>
                    <a:srgbClr val="333333"/>
                  </a:solidFill>
                  <a:latin typeface="+mn-lt"/>
                  <a:ea typeface="+mn-ea"/>
                  <a:cs typeface="+mn-cs"/>
                </a:rPr>
                <a:t>环境，仅18%的银行认为其模型风险认知度​​</a:t>
              </a:r>
              <a:br/>
              <a:r>
                <a:rPr lang="zh-CN" sz="900" dirty="0">
                  <a:solidFill>
                    <a:srgbClr val="333333"/>
                  </a:solidFill>
                  <a:latin typeface="+mn-lt"/>
                  <a:ea typeface="+mn-ea"/>
                  <a:cs typeface="+mn-cs"/>
                </a:rPr>
                <a:t>高，甚至有29%的银行认为其模型风险认知​​</a:t>
              </a:r>
              <a:br/>
              <a:r>
                <a:rPr lang="zh-CN" sz="900" dirty="0">
                  <a:solidFill>
                    <a:srgbClr val="333333"/>
                  </a:solidFill>
                  <a:latin typeface="+mn-lt"/>
                  <a:ea typeface="+mn-ea"/>
                  <a:cs typeface="+mn-cs"/>
                </a:rPr>
                <a:t>度低。​</a:t>
              </a:r>
            </a:p>
          </p:txBody>
        </p:sp>
        <p:sp>
          <p:nvSpPr>
            <p:cNvPr id="13" name="TextBox 13"/>
            <p:cNvSpPr txBox="1"/>
            <p:nvPr/>
          </p:nvSpPr>
          <p:spPr>
            <a:xfrm>
              <a:off x="3424238" y="1684020"/>
              <a:ext cx="24726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本调研旨在洞察银行的模型风险管理实践，目标​</a:t>
              </a:r>
              <a:br/>
              <a:r>
                <a:rPr lang="zh-CN" sz="900" dirty="0">
                  <a:solidFill>
                    <a:srgbClr val="333333"/>
                  </a:solidFill>
                  <a:latin typeface="+mn-lt"/>
                  <a:ea typeface="+mn-ea"/>
                  <a:cs typeface="+mn-cs"/>
                </a:rPr>
                <a:t>是分享并解读这些洞察。我们希望本调研能帮助​</a:t>
              </a:r>
              <a:br/>
              <a:r>
                <a:rPr lang="zh-CN" sz="900" dirty="0">
                  <a:solidFill>
                    <a:srgbClr val="333333"/>
                  </a:solidFill>
                  <a:latin typeface="+mn-lt"/>
                  <a:ea typeface="+mn-ea"/>
                  <a:cs typeface="+mn-cs"/>
                </a:rPr>
                <a:t>银行在近期强化其模型风险管理框架。​</a:t>
              </a:r>
            </a:p>
          </p:txBody>
        </p:sp>
      </p:grpSp>
      <p:grpSp>
        <p:nvGrpSpPr>
          <p:cNvPr id="16" name="pull-quote"/>
          <p:cNvGrpSpPr/>
          <p:nvPr/>
        </p:nvGrpSpPr>
        <p:grpSpPr>
          <a:xfrm>
            <a:off x="3420618" y="4012882"/>
            <a:ext cx="5318379" cy="970407"/>
            <a:chOff x="3420618" y="4012882"/>
            <a:chExt cx="5318379" cy="970407"/>
          </a:xfrm>
        </p:grpSpPr>
        <p:sp>
          <p:nvSpPr>
            <p:cNvPr id="15" name="TextBox 15"/>
            <p:cNvSpPr txBox="1"/>
            <p:nvPr/>
          </p:nvSpPr>
          <p:spPr>
            <a:xfrm>
              <a:off x="3420618" y="4012882"/>
              <a:ext cx="5318379" cy="970407"/>
            </a:xfrm>
            <a:prstGeom prst="rect">
              <a:avLst/>
            </a:prstGeom>
            <a:noFill/>
            <a:ln>
              <a:noFill/>
            </a:ln>
          </p:spPr>
          <p:txBody>
            <a:bodyPr wrap="none" lIns="0" tIns="0" rIns="0" bIns="0" anchor="t" anchorCtr="0">
              <a:spAutoFit/>
            </a:bodyPr>
            <a:lstStyle/>
            <a:p>
              <a:pPr algn="l">
                <a:lnSpc>
                  <a:spcPts val="2550"/>
                </a:lnSpc>
              </a:pPr>
              <a:r>
                <a:rPr lang="zh-CN" sz="1650" dirty="0">
                  <a:solidFill>
                    <a:srgbClr val="E72700"/>
                  </a:solidFill>
                  <a:latin typeface="+mn-lt"/>
                  <a:ea typeface="+mn-ea"/>
                  <a:cs typeface="+mn-cs"/>
                </a:rPr>
                <a:t>COVID-19疫情对银行风险有重大影响。它增加了信用风​</a:t>
              </a:r>
              <a:br/>
              <a:r>
                <a:rPr lang="zh-CN" sz="1650" dirty="0">
                  <a:solidFill>
                    <a:srgbClr val="E72700"/>
                  </a:solidFill>
                  <a:latin typeface="+mn-lt"/>
                  <a:ea typeface="+mn-ea"/>
                  <a:cs typeface="+mn-cs"/>
                </a:rPr>
                <a:t>险，也表明并非所有模型都能应对2020年初金融市场的​​</a:t>
              </a:r>
              <a:br/>
              <a:r>
                <a:rPr lang="zh-CN" sz="1650" dirty="0">
                  <a:solidFill>
                    <a:srgbClr val="E72700"/>
                  </a:solidFill>
                  <a:latin typeface="+mn-lt"/>
                  <a:ea typeface="+mn-ea"/>
                  <a:cs typeface="+mn-cs"/>
                </a:rPr>
                <a:t>动荡。​</a:t>
              </a:r>
            </a:p>
          </p:txBody>
        </p:sp>
      </p:grpSp>
      <p:grpSp>
        <p:nvGrpSpPr>
          <p:cNvPr id="50" name="nav"/>
          <p:cNvGrpSpPr/>
          <p:nvPr/>
        </p:nvGrpSpPr>
        <p:grpSpPr>
          <a:xfrm>
            <a:off x="9834562" y="0"/>
            <a:ext cx="2357438" cy="6858000"/>
            <a:chOff x="9834562" y="0"/>
            <a:chExt cx="2357438" cy="6858000"/>
          </a:xfrm>
        </p:grpSpPr>
        <p:sp>
          <p:nvSpPr>
            <p:cNvPr id="17" name="Line 17"/>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8" name="Rectangle 18"/>
            <p:cNvSpPr/>
            <p:nvPr/>
          </p:nvSpPr>
          <p:spPr>
            <a:xfrm>
              <a:off x="9839325" y="476250"/>
              <a:ext cx="2352675" cy="514350"/>
            </a:xfrm>
            <a:prstGeom prst="rect">
              <a:avLst/>
            </a:prstGeom>
            <a:solidFill>
              <a:srgbClr val="F3F3F3"/>
            </a:solidFill>
            <a:ln>
              <a:noFill/>
            </a:ln>
          </p:spPr>
        </p:sp>
        <p:sp>
          <p:nvSpPr>
            <p:cNvPr id="19" name="TextBox 19"/>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20" name="Rectangle 20"/>
            <p:cNvSpPr/>
            <p:nvPr/>
          </p:nvSpPr>
          <p:spPr>
            <a:xfrm>
              <a:off x="9839325" y="1000125"/>
              <a:ext cx="2352675" cy="514350"/>
            </a:xfrm>
            <a:prstGeom prst="rect">
              <a:avLst/>
            </a:prstGeom>
            <a:solidFill>
              <a:srgbClr val="F3F3F3"/>
            </a:solidFill>
            <a:ln>
              <a:noFill/>
            </a:ln>
          </p:spPr>
        </p:sp>
        <p:sp>
          <p:nvSpPr>
            <p:cNvPr id="21" name="TextBox 21"/>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22" name="Rectangle 22"/>
            <p:cNvSpPr/>
            <p:nvPr/>
          </p:nvSpPr>
          <p:spPr>
            <a:xfrm>
              <a:off x="9839325" y="1524000"/>
              <a:ext cx="2352675" cy="514350"/>
            </a:xfrm>
            <a:prstGeom prst="rect">
              <a:avLst/>
            </a:prstGeom>
            <a:solidFill>
              <a:srgbClr val="E72700"/>
            </a:solidFill>
            <a:ln>
              <a:noFill/>
            </a:ln>
          </p:spPr>
        </p:sp>
        <p:sp>
          <p:nvSpPr>
            <p:cNvPr id="23" name="TextBox 23"/>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为什么模型风险管理至关重要</a:t>
              </a:r>
            </a:p>
          </p:txBody>
        </p:sp>
        <p:sp>
          <p:nvSpPr>
            <p:cNvPr id="24" name="Rectangle 24"/>
            <p:cNvSpPr/>
            <p:nvPr/>
          </p:nvSpPr>
          <p:spPr>
            <a:xfrm>
              <a:off x="9839325" y="2047875"/>
              <a:ext cx="2352675" cy="514350"/>
            </a:xfrm>
            <a:prstGeom prst="rect">
              <a:avLst/>
            </a:prstGeom>
            <a:solidFill>
              <a:srgbClr val="F3F3F3"/>
            </a:solidFill>
            <a:ln>
              <a:noFill/>
            </a:ln>
          </p:spPr>
        </p:sp>
        <p:sp>
          <p:nvSpPr>
            <p:cNvPr id="25" name="TextBox 25"/>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26" name="Rectangle 26"/>
            <p:cNvSpPr/>
            <p:nvPr/>
          </p:nvSpPr>
          <p:spPr>
            <a:xfrm>
              <a:off x="9839325" y="2571750"/>
              <a:ext cx="2352675" cy="514350"/>
            </a:xfrm>
            <a:prstGeom prst="rect">
              <a:avLst/>
            </a:prstGeom>
            <a:solidFill>
              <a:srgbClr val="F3F3F3"/>
            </a:solidFill>
            <a:ln>
              <a:noFill/>
            </a:ln>
          </p:spPr>
        </p:sp>
        <p:sp>
          <p:nvSpPr>
            <p:cNvPr id="27" name="TextBox 27"/>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28" name="Rectangle 28"/>
            <p:cNvSpPr/>
            <p:nvPr/>
          </p:nvSpPr>
          <p:spPr>
            <a:xfrm>
              <a:off x="9839325" y="3095625"/>
              <a:ext cx="2352675" cy="514350"/>
            </a:xfrm>
            <a:prstGeom prst="rect">
              <a:avLst/>
            </a:prstGeom>
            <a:solidFill>
              <a:srgbClr val="F3F3F3"/>
            </a:solidFill>
            <a:ln>
              <a:noFill/>
            </a:ln>
          </p:spPr>
        </p:sp>
        <p:sp>
          <p:nvSpPr>
            <p:cNvPr id="29" name="TextBox 29"/>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30" name="Rectangle 30"/>
            <p:cNvSpPr/>
            <p:nvPr/>
          </p:nvSpPr>
          <p:spPr>
            <a:xfrm>
              <a:off x="9839325" y="3619500"/>
              <a:ext cx="2352675" cy="514350"/>
            </a:xfrm>
            <a:prstGeom prst="rect">
              <a:avLst/>
            </a:prstGeom>
            <a:solidFill>
              <a:srgbClr val="F3F3F3"/>
            </a:solidFill>
            <a:ln>
              <a:noFill/>
            </a:ln>
          </p:spPr>
        </p:sp>
        <p:sp>
          <p:nvSpPr>
            <p:cNvPr id="31" name="TextBox 31"/>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32" name="Rectangle 32"/>
            <p:cNvSpPr/>
            <p:nvPr/>
          </p:nvSpPr>
          <p:spPr>
            <a:xfrm>
              <a:off x="9839325" y="4143375"/>
              <a:ext cx="2352675" cy="514350"/>
            </a:xfrm>
            <a:prstGeom prst="rect">
              <a:avLst/>
            </a:prstGeom>
            <a:solidFill>
              <a:srgbClr val="F3F3F3"/>
            </a:solidFill>
            <a:ln>
              <a:noFill/>
            </a:ln>
          </p:spPr>
        </p:sp>
        <p:sp>
          <p:nvSpPr>
            <p:cNvPr id="33" name="TextBox 33"/>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34" name="Rectangle 34"/>
            <p:cNvSpPr/>
            <p:nvPr/>
          </p:nvSpPr>
          <p:spPr>
            <a:xfrm>
              <a:off x="9839325" y="4667250"/>
              <a:ext cx="2352675" cy="514350"/>
            </a:xfrm>
            <a:prstGeom prst="rect">
              <a:avLst/>
            </a:prstGeom>
            <a:solidFill>
              <a:srgbClr val="F3F3F3"/>
            </a:solidFill>
            <a:ln>
              <a:noFill/>
            </a:ln>
          </p:spPr>
        </p:sp>
        <p:sp>
          <p:nvSpPr>
            <p:cNvPr id="35" name="TextBox 35"/>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36" name="Rectangle 36"/>
            <p:cNvSpPr/>
            <p:nvPr/>
          </p:nvSpPr>
          <p:spPr>
            <a:xfrm>
              <a:off x="9839325" y="5191125"/>
              <a:ext cx="2352675" cy="514350"/>
            </a:xfrm>
            <a:prstGeom prst="rect">
              <a:avLst/>
            </a:prstGeom>
            <a:solidFill>
              <a:srgbClr val="F3F3F3"/>
            </a:solidFill>
            <a:ln>
              <a:noFill/>
            </a:ln>
          </p:spPr>
        </p:sp>
        <p:sp>
          <p:nvSpPr>
            <p:cNvPr id="37" name="TextBox 37"/>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38" name="Rectangle 38"/>
            <p:cNvSpPr/>
            <p:nvPr/>
          </p:nvSpPr>
          <p:spPr>
            <a:xfrm>
              <a:off x="9839325" y="5715000"/>
              <a:ext cx="2352675" cy="514350"/>
            </a:xfrm>
            <a:prstGeom prst="rect">
              <a:avLst/>
            </a:prstGeom>
            <a:solidFill>
              <a:srgbClr val="F3F3F3"/>
            </a:solidFill>
            <a:ln>
              <a:noFill/>
            </a:ln>
          </p:spPr>
        </p:sp>
        <p:sp>
          <p:nvSpPr>
            <p:cNvPr id="39" name="TextBox 39"/>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40" name="Ellipse 40"/>
            <p:cNvSpPr/>
            <p:nvPr/>
          </p:nvSpPr>
          <p:spPr>
            <a:xfrm>
              <a:off x="10020300" y="6372225"/>
              <a:ext cx="266700" cy="266700"/>
            </a:xfrm>
            <a:prstGeom prst="ellipse">
              <a:avLst/>
            </a:prstGeom>
            <a:solidFill>
              <a:srgbClr val="D7D8D6"/>
            </a:solidFill>
            <a:ln>
              <a:noFill/>
            </a:ln>
          </p:spPr>
        </p:sp>
        <p:sp>
          <p:nvSpPr>
            <p:cNvPr id="41" name="Freeform 41"/>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42" name="Ellipse 42"/>
            <p:cNvSpPr/>
            <p:nvPr/>
          </p:nvSpPr>
          <p:spPr>
            <a:xfrm>
              <a:off x="10420350" y="6372225"/>
              <a:ext cx="266700" cy="266700"/>
            </a:xfrm>
            <a:prstGeom prst="ellipse">
              <a:avLst/>
            </a:prstGeom>
            <a:solidFill>
              <a:srgbClr val="D7D8D6"/>
            </a:solidFill>
            <a:ln>
              <a:noFill/>
            </a:ln>
          </p:spPr>
        </p:sp>
        <p:grpSp>
          <p:nvGrpSpPr>
            <p:cNvPr id="46" name="Group 46"/>
            <p:cNvGrpSpPr/>
            <p:nvPr/>
          </p:nvGrpSpPr>
          <p:grpSpPr>
            <a:xfrm>
              <a:off x="10489406" y="6441281"/>
              <a:ext cx="128588" cy="128588"/>
              <a:chOff x="10489406" y="6441281"/>
              <a:chExt cx="128588" cy="128588"/>
            </a:xfrm>
          </p:grpSpPr>
          <p:sp>
            <p:nvSpPr>
              <p:cNvPr id="43" name="Freeform 43"/>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44" name="Freeform 44"/>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45" name="Freeform 45"/>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47" name="Ellipse 47"/>
            <p:cNvSpPr/>
            <p:nvPr/>
          </p:nvSpPr>
          <p:spPr>
            <a:xfrm>
              <a:off x="10820400" y="6372225"/>
              <a:ext cx="266700" cy="266700"/>
            </a:xfrm>
            <a:prstGeom prst="ellipse">
              <a:avLst/>
            </a:prstGeom>
            <a:solidFill>
              <a:srgbClr val="D7D8D6"/>
            </a:solidFill>
            <a:ln>
              <a:noFill/>
            </a:ln>
          </p:spPr>
        </p:sp>
        <p:sp>
          <p:nvSpPr>
            <p:cNvPr id="48" name="Freeform 48"/>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49" name="TextBox 49"/>
            <p:cNvSpPr txBox="1"/>
            <p:nvPr/>
          </p:nvSpPr>
          <p:spPr>
            <a:xfrm>
              <a:off x="11872951" y="6456045"/>
              <a:ext cx="76162"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6</a:t>
              </a:r>
            </a:p>
          </p:txBody>
        </p:sp>
      </p:gr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6B52"/>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07</a:t>
              </a:r>
            </a:p>
          </p:txBody>
        </p:sp>
        <p:sp>
          <p:nvSpPr>
            <p:cNvPr id="4" name="TextBox 4"/>
            <p:cNvSpPr txBox="1"/>
            <p:nvPr/>
          </p:nvSpPr>
          <p:spPr>
            <a:xfrm>
              <a:off x="942594" y="151448"/>
              <a:ext cx="537811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 xml:space="preserve">关于本次调研 </a:t>
              </a:r>
              <a:r>
                <a:rPr lang="en-US" sz="1950" b="1" dirty="0">
                  <a:solidFill>
                    <a:srgbClr val="E96B52"/>
                  </a:solidFill>
                  <a:latin typeface="+mj-lt"/>
                  <a:ea typeface="+mj-ea"/>
                  <a:cs typeface="+mj-cs"/>
                </a:rPr>
                <a:t>About the survey</a:t>
              </a:r>
              <a:r>
                <a:rPr lang="zh-CN" sz="1950" b="1" dirty="0">
                  <a:solidFill>
                    <a:srgbClr val="1A1A1A"/>
                  </a:solidFill>
                  <a:latin typeface="+mj-lt"/>
                  <a:ea typeface="+mj-ea"/>
                  <a:cs typeface="+mj-cs"/>
                </a:rPr>
                <a:t>（一）​​</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E96B52"/>
              </a:solidFill>
            </a:ln>
          </p:spPr>
        </p:sp>
      </p:grpSp>
      <p:grpSp>
        <p:nvGrpSpPr>
          <p:cNvPr id="10" name="lead-panel"/>
          <p:cNvGrpSpPr/>
          <p:nvPr/>
        </p:nvGrpSpPr>
        <p:grpSpPr>
          <a:xfrm>
            <a:off x="476250" y="857250"/>
            <a:ext cx="3333750" cy="4191000"/>
            <a:chOff x="476250" y="857250"/>
            <a:chExt cx="3333750" cy="4191000"/>
          </a:xfrm>
        </p:grpSpPr>
        <p:sp>
          <p:nvSpPr>
            <p:cNvPr id="7" name="Rectangle 7"/>
            <p:cNvSpPr/>
            <p:nvPr/>
          </p:nvSpPr>
          <p:spPr>
            <a:xfrm>
              <a:off x="476250" y="857250"/>
              <a:ext cx="3333750" cy="4191000"/>
            </a:xfrm>
            <a:prstGeom prst="rect">
              <a:avLst/>
            </a:prstGeom>
            <a:solidFill>
              <a:srgbClr val="F7F7F7"/>
            </a:solidFill>
            <a:ln>
              <a:noFill/>
            </a:ln>
          </p:spPr>
        </p:sp>
        <p:sp>
          <p:nvSpPr>
            <p:cNvPr id="8" name="TextBox 8"/>
            <p:cNvSpPr txBox="1"/>
            <p:nvPr/>
          </p:nvSpPr>
          <p:spPr>
            <a:xfrm>
              <a:off x="622935" y="1059656"/>
              <a:ext cx="2792222" cy="905828"/>
            </a:xfrm>
            <a:prstGeom prst="rect">
              <a:avLst/>
            </a:prstGeom>
            <a:noFill/>
            <a:ln>
              <a:noFill/>
            </a:ln>
          </p:spPr>
          <p:txBody>
            <a:bodyPr wrap="none" lIns="0" tIns="0" rIns="0" bIns="0" anchor="t" anchorCtr="0">
              <a:spAutoFit/>
            </a:bodyPr>
            <a:lstStyle/>
            <a:p>
              <a:pPr algn="l">
                <a:lnSpc>
                  <a:spcPts val="1800"/>
                </a:lnSpc>
              </a:pPr>
              <a:r>
                <a:rPr lang="zh-CN" sz="1120" dirty="0">
                  <a:solidFill>
                    <a:srgbClr val="B61F00"/>
                  </a:solidFill>
                  <a:latin typeface="+mn-lt"/>
                  <a:ea typeface="+mn-ea"/>
                  <a:cs typeface="+mn-cs"/>
                </a:rPr>
                <a:t>本报告呈现德勤首版模型风险管理实践评估​</a:t>
              </a:r>
              <a:br/>
              <a:r>
                <a:rPr lang="zh-CN" sz="1120" dirty="0">
                  <a:solidFill>
                    <a:srgbClr val="B61F00"/>
                  </a:solidFill>
                  <a:latin typeface="+mn-lt"/>
                  <a:ea typeface="+mn-ea"/>
                  <a:cs typeface="+mn-cs"/>
                </a:rPr>
                <a:t>的结果。调研基于80家来自欧洲、中东​​</a:t>
              </a:r>
              <a:br/>
              <a:r>
                <a:rPr lang="zh-CN" sz="1120" dirty="0">
                  <a:solidFill>
                    <a:srgbClr val="B61F00"/>
                  </a:solidFill>
                  <a:latin typeface="+mn-lt"/>
                  <a:ea typeface="+mn-ea"/>
                  <a:cs typeface="+mn-cs"/>
                </a:rPr>
                <a:t>和南非的银行的信息，于2020年11月​​​​</a:t>
              </a:r>
              <a:br/>
              <a:r>
                <a:rPr lang="zh-CN" sz="1120" dirty="0">
                  <a:solidFill>
                    <a:srgbClr val="B61F00"/>
                  </a:solidFill>
                  <a:latin typeface="+mn-lt"/>
                  <a:ea typeface="+mn-ea"/>
                  <a:cs typeface="+mn-cs"/>
                </a:rPr>
                <a:t>至2021年1月进行。​​​​</a:t>
              </a:r>
            </a:p>
          </p:txBody>
        </p:sp>
        <p:sp>
          <p:nvSpPr>
            <p:cNvPr id="9" name="TextBox 9"/>
            <p:cNvSpPr txBox="1"/>
            <p:nvPr/>
          </p:nvSpPr>
          <p:spPr>
            <a:xfrm>
              <a:off x="622935" y="2145506"/>
              <a:ext cx="2792222" cy="905828"/>
            </a:xfrm>
            <a:prstGeom prst="rect">
              <a:avLst/>
            </a:prstGeom>
            <a:noFill/>
            <a:ln>
              <a:noFill/>
            </a:ln>
          </p:spPr>
          <p:txBody>
            <a:bodyPr wrap="none" lIns="0" tIns="0" rIns="0" bIns="0" anchor="t" anchorCtr="0">
              <a:spAutoFit/>
            </a:bodyPr>
            <a:lstStyle/>
            <a:p>
              <a:pPr algn="l">
                <a:lnSpc>
                  <a:spcPts val="1800"/>
                </a:lnSpc>
              </a:pPr>
              <a:r>
                <a:rPr lang="zh-CN" sz="1120" dirty="0">
                  <a:solidFill>
                    <a:srgbClr val="B61F00"/>
                  </a:solidFill>
                  <a:latin typeface="+mn-lt"/>
                  <a:ea typeface="+mn-ea"/>
                  <a:cs typeface="+mn-cs"/>
                </a:rPr>
                <a:t>80份问卷中近半数由模型风险管理部门​</a:t>
              </a:r>
              <a:br/>
              <a:r>
                <a:rPr lang="zh-CN" sz="1120" dirty="0">
                  <a:solidFill>
                    <a:srgbClr val="B61F00"/>
                  </a:solidFill>
                  <a:latin typeface="+mn-lt"/>
                  <a:ea typeface="+mn-ea"/>
                  <a:cs typeface="+mn-cs"/>
                </a:rPr>
                <a:t>完成，其次是模型验证或更广义的金融风险​</a:t>
              </a:r>
              <a:br/>
              <a:r>
                <a:rPr lang="zh-CN" sz="1120" dirty="0">
                  <a:solidFill>
                    <a:srgbClr val="B61F00"/>
                  </a:solidFill>
                  <a:latin typeface="+mn-lt"/>
                  <a:ea typeface="+mn-ea"/>
                  <a:cs typeface="+mn-cs"/>
                </a:rPr>
                <a:t>管理团队。后两类主要来自没有专门模型风​</a:t>
              </a:r>
              <a:br/>
              <a:r>
                <a:rPr lang="zh-CN" sz="1120" dirty="0">
                  <a:solidFill>
                    <a:srgbClr val="B61F00"/>
                  </a:solidFill>
                  <a:latin typeface="+mn-lt"/>
                  <a:ea typeface="+mn-ea"/>
                  <a:cs typeface="+mn-cs"/>
                </a:rPr>
                <a:t>险管理部门的银行。​</a:t>
              </a:r>
            </a:p>
          </p:txBody>
        </p:sp>
      </p:grpSp>
      <p:grpSp>
        <p:nvGrpSpPr>
          <p:cNvPr id="39" name="figure-2"/>
          <p:cNvGrpSpPr/>
          <p:nvPr/>
        </p:nvGrpSpPr>
        <p:grpSpPr>
          <a:xfrm>
            <a:off x="4090988" y="939641"/>
            <a:ext cx="3056416" cy="4092893"/>
            <a:chOff x="4090988" y="939641"/>
            <a:chExt cx="3056416" cy="4092893"/>
          </a:xfrm>
        </p:grpSpPr>
        <p:sp>
          <p:nvSpPr>
            <p:cNvPr id="11" name="TextBox 11"/>
            <p:cNvSpPr txBox="1"/>
            <p:nvPr/>
          </p:nvSpPr>
          <p:spPr>
            <a:xfrm>
              <a:off x="4090988" y="939641"/>
              <a:ext cx="1513567"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 受访者在银行内的角色​​</a:t>
              </a:r>
            </a:p>
          </p:txBody>
        </p:sp>
        <p:sp>
          <p:nvSpPr>
            <p:cNvPr id="12" name="TextBox 12"/>
            <p:cNvSpPr txBox="1"/>
            <p:nvPr/>
          </p:nvSpPr>
          <p:spPr>
            <a:xfrm>
              <a:off x="4090988" y="1108234"/>
              <a:ext cx="3056416"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Role within the bank of the participant that completed the survey​​</a:t>
              </a:r>
            </a:p>
          </p:txBody>
        </p:sp>
        <p:sp>
          <p:nvSpPr>
            <p:cNvPr id="13" name="Freeform 13"/>
            <p:cNvSpPr/>
            <p:nvPr/>
          </p:nvSpPr>
          <p:spPr>
            <a:xfrm>
              <a:off x="4648200" y="2076450"/>
              <a:ext cx="1562100" cy="1562100"/>
            </a:xfrm>
            <a:prstGeom prst="blockArc">
              <a:avLst>
                <a:gd name="adj1" fmla="val 16200000"/>
                <a:gd name="adj2" fmla="val 4752000"/>
                <a:gd name="adj3" fmla="val 15854"/>
              </a:avLst>
            </a:prstGeom>
            <a:solidFill>
              <a:srgbClr val="E96B52"/>
            </a:solidFill>
            <a:ln>
              <a:noFill/>
            </a:ln>
          </p:spPr>
        </p:sp>
        <p:sp>
          <p:nvSpPr>
            <p:cNvPr id="14" name="Freeform 14"/>
            <p:cNvSpPr/>
            <p:nvPr/>
          </p:nvSpPr>
          <p:spPr>
            <a:xfrm>
              <a:off x="4648200" y="2076450"/>
              <a:ext cx="1562100" cy="1562100"/>
            </a:xfrm>
            <a:prstGeom prst="blockArc">
              <a:avLst>
                <a:gd name="adj1" fmla="val 4752000"/>
                <a:gd name="adj2" fmla="val 10368000"/>
                <a:gd name="adj3" fmla="val 15854"/>
              </a:avLst>
            </a:prstGeom>
            <a:solidFill>
              <a:srgbClr val="E72700"/>
            </a:solidFill>
            <a:ln>
              <a:noFill/>
            </a:ln>
          </p:spPr>
        </p:sp>
        <p:sp>
          <p:nvSpPr>
            <p:cNvPr id="15" name="Freeform 15"/>
            <p:cNvSpPr/>
            <p:nvPr/>
          </p:nvSpPr>
          <p:spPr>
            <a:xfrm>
              <a:off x="4648200" y="2076450"/>
              <a:ext cx="1562100" cy="1562100"/>
            </a:xfrm>
            <a:prstGeom prst="blockArc">
              <a:avLst>
                <a:gd name="adj1" fmla="val 10368000"/>
                <a:gd name="adj2" fmla="val 14256000"/>
                <a:gd name="adj3" fmla="val 15854"/>
              </a:avLst>
            </a:prstGeom>
            <a:solidFill>
              <a:srgbClr val="B61F00"/>
            </a:solidFill>
            <a:ln>
              <a:noFill/>
            </a:ln>
          </p:spPr>
        </p:sp>
        <p:sp>
          <p:nvSpPr>
            <p:cNvPr id="16" name="Freeform 16"/>
            <p:cNvSpPr/>
            <p:nvPr/>
          </p:nvSpPr>
          <p:spPr>
            <a:xfrm>
              <a:off x="4648200" y="2076450"/>
              <a:ext cx="1562100" cy="1562100"/>
            </a:xfrm>
            <a:prstGeom prst="blockArc">
              <a:avLst>
                <a:gd name="adj1" fmla="val 14256000"/>
                <a:gd name="adj2" fmla="val 15336000"/>
                <a:gd name="adj3" fmla="val 15854"/>
              </a:avLst>
            </a:prstGeom>
            <a:solidFill>
              <a:srgbClr val="7C1500"/>
            </a:solidFill>
            <a:ln>
              <a:noFill/>
            </a:ln>
          </p:spPr>
        </p:sp>
        <p:sp>
          <p:nvSpPr>
            <p:cNvPr id="17" name="Freeform 17"/>
            <p:cNvSpPr/>
            <p:nvPr/>
          </p:nvSpPr>
          <p:spPr>
            <a:xfrm>
              <a:off x="4648200" y="2076450"/>
              <a:ext cx="1562100" cy="1562100"/>
            </a:xfrm>
            <a:prstGeom prst="blockArc">
              <a:avLst>
                <a:gd name="adj1" fmla="val 15336000"/>
                <a:gd name="adj2" fmla="val 15984000"/>
                <a:gd name="adj3" fmla="val 15854"/>
              </a:avLst>
            </a:prstGeom>
            <a:solidFill>
              <a:srgbClr val="8A3E2E"/>
            </a:solidFill>
            <a:ln>
              <a:noFill/>
            </a:ln>
          </p:spPr>
        </p:sp>
        <p:sp>
          <p:nvSpPr>
            <p:cNvPr id="18" name="Freeform 18"/>
            <p:cNvSpPr/>
            <p:nvPr/>
          </p:nvSpPr>
          <p:spPr>
            <a:xfrm>
              <a:off x="4648200" y="2076450"/>
              <a:ext cx="1562100" cy="1562100"/>
            </a:xfrm>
            <a:prstGeom prst="blockArc">
              <a:avLst>
                <a:gd name="adj1" fmla="val 15984000"/>
                <a:gd name="adj2" fmla="val 16200000"/>
                <a:gd name="adj3" fmla="val 15854"/>
              </a:avLst>
            </a:prstGeom>
            <a:solidFill>
              <a:srgbClr val="E69D8E"/>
            </a:solidFill>
            <a:ln>
              <a:noFill/>
            </a:ln>
          </p:spPr>
        </p:sp>
        <p:sp>
          <p:nvSpPr>
            <p:cNvPr id="19" name="Freeform 19"/>
            <p:cNvSpPr/>
            <p:nvPr/>
          </p:nvSpPr>
          <p:spPr>
            <a:xfrm>
              <a:off x="4648200" y="2076450"/>
              <a:ext cx="1562100" cy="1562100"/>
            </a:xfrm>
            <a:prstGeom prst="blockArc">
              <a:avLst>
                <a:gd name="adj1" fmla="val 16200000"/>
                <a:gd name="adj2" fmla="val 16416000"/>
                <a:gd name="adj3" fmla="val 15854"/>
              </a:avLst>
            </a:prstGeom>
            <a:solidFill>
              <a:srgbClr val="F9D0C8"/>
            </a:solidFill>
            <a:ln>
              <a:noFill/>
            </a:ln>
          </p:spPr>
        </p:sp>
        <p:sp>
          <p:nvSpPr>
            <p:cNvPr id="20" name="TextBox 20"/>
            <p:cNvSpPr txBox="1"/>
            <p:nvPr/>
          </p:nvSpPr>
          <p:spPr>
            <a:xfrm>
              <a:off x="6207862" y="2728912"/>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47%​</a:t>
              </a:r>
            </a:p>
          </p:txBody>
        </p:sp>
        <p:sp>
          <p:nvSpPr>
            <p:cNvPr id="21" name="TextBox 21"/>
            <p:cNvSpPr txBox="1"/>
            <p:nvPr/>
          </p:nvSpPr>
          <p:spPr>
            <a:xfrm>
              <a:off x="4760062" y="3554730"/>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26%​</a:t>
              </a:r>
            </a:p>
          </p:txBody>
        </p:sp>
        <p:sp>
          <p:nvSpPr>
            <p:cNvPr id="22" name="TextBox 22"/>
            <p:cNvSpPr txBox="1"/>
            <p:nvPr/>
          </p:nvSpPr>
          <p:spPr>
            <a:xfrm>
              <a:off x="4469549" y="2425065"/>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18%​</a:t>
              </a:r>
            </a:p>
          </p:txBody>
        </p:sp>
        <p:sp>
          <p:nvSpPr>
            <p:cNvPr id="23" name="TextBox 23"/>
            <p:cNvSpPr txBox="1"/>
            <p:nvPr/>
          </p:nvSpPr>
          <p:spPr>
            <a:xfrm>
              <a:off x="4963523" y="1975485"/>
              <a:ext cx="205650"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5%​</a:t>
              </a:r>
            </a:p>
          </p:txBody>
        </p:sp>
        <p:sp>
          <p:nvSpPr>
            <p:cNvPr id="24" name="TextBox 24"/>
            <p:cNvSpPr txBox="1"/>
            <p:nvPr/>
          </p:nvSpPr>
          <p:spPr>
            <a:xfrm>
              <a:off x="5183550" y="1911668"/>
              <a:ext cx="205650"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3%​</a:t>
              </a:r>
            </a:p>
          </p:txBody>
        </p:sp>
        <p:sp>
          <p:nvSpPr>
            <p:cNvPr id="25" name="Rectangle 25"/>
            <p:cNvSpPr/>
            <p:nvPr/>
          </p:nvSpPr>
          <p:spPr>
            <a:xfrm>
              <a:off x="4095750" y="3914775"/>
              <a:ext cx="95250" cy="95250"/>
            </a:xfrm>
            <a:prstGeom prst="rect">
              <a:avLst/>
            </a:prstGeom>
            <a:solidFill>
              <a:srgbClr val="E96B52"/>
            </a:solidFill>
            <a:ln>
              <a:noFill/>
            </a:ln>
          </p:spPr>
        </p:sp>
        <p:sp>
          <p:nvSpPr>
            <p:cNvPr id="26" name="TextBox 26"/>
            <p:cNvSpPr txBox="1"/>
            <p:nvPr/>
          </p:nvSpPr>
          <p:spPr>
            <a:xfrm>
              <a:off x="4233862" y="3927634"/>
              <a:ext cx="1888755"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模型风险管理Model Risk Management 47%​​</a:t>
              </a:r>
            </a:p>
          </p:txBody>
        </p:sp>
        <p:sp>
          <p:nvSpPr>
            <p:cNvPr id="27" name="Rectangle 27"/>
            <p:cNvSpPr/>
            <p:nvPr/>
          </p:nvSpPr>
          <p:spPr>
            <a:xfrm>
              <a:off x="4095750" y="4076700"/>
              <a:ext cx="95250" cy="95250"/>
            </a:xfrm>
            <a:prstGeom prst="rect">
              <a:avLst/>
            </a:prstGeom>
            <a:solidFill>
              <a:srgbClr val="E72700"/>
            </a:solidFill>
            <a:ln>
              <a:noFill/>
            </a:ln>
          </p:spPr>
        </p:sp>
        <p:sp>
          <p:nvSpPr>
            <p:cNvPr id="28" name="TextBox 28"/>
            <p:cNvSpPr txBox="1"/>
            <p:nvPr/>
          </p:nvSpPr>
          <p:spPr>
            <a:xfrm>
              <a:off x="4233862" y="4089559"/>
              <a:ext cx="1390249"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模型验证Model Validation 26%​​</a:t>
              </a:r>
            </a:p>
          </p:txBody>
        </p:sp>
        <p:sp>
          <p:nvSpPr>
            <p:cNvPr id="29" name="Rectangle 29"/>
            <p:cNvSpPr/>
            <p:nvPr/>
          </p:nvSpPr>
          <p:spPr>
            <a:xfrm>
              <a:off x="4095750" y="4238625"/>
              <a:ext cx="95250" cy="95250"/>
            </a:xfrm>
            <a:prstGeom prst="rect">
              <a:avLst/>
            </a:prstGeom>
            <a:solidFill>
              <a:srgbClr val="B61F00"/>
            </a:solidFill>
            <a:ln>
              <a:noFill/>
            </a:ln>
          </p:spPr>
        </p:sp>
        <p:sp>
          <p:nvSpPr>
            <p:cNvPr id="30" name="TextBox 30"/>
            <p:cNvSpPr txBox="1"/>
            <p:nvPr/>
          </p:nvSpPr>
          <p:spPr>
            <a:xfrm>
              <a:off x="4233862" y="4251484"/>
              <a:ext cx="2025032"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金融风险管理Financial Risk Management 18%​​</a:t>
              </a:r>
            </a:p>
          </p:txBody>
        </p:sp>
        <p:sp>
          <p:nvSpPr>
            <p:cNvPr id="31" name="Rectangle 31"/>
            <p:cNvSpPr/>
            <p:nvPr/>
          </p:nvSpPr>
          <p:spPr>
            <a:xfrm>
              <a:off x="4095750" y="4400550"/>
              <a:ext cx="95250" cy="95250"/>
            </a:xfrm>
            <a:prstGeom prst="rect">
              <a:avLst/>
            </a:prstGeom>
            <a:solidFill>
              <a:srgbClr val="7C1500"/>
            </a:solidFill>
            <a:ln>
              <a:noFill/>
            </a:ln>
          </p:spPr>
        </p:sp>
        <p:sp>
          <p:nvSpPr>
            <p:cNvPr id="32" name="TextBox 32"/>
            <p:cNvSpPr txBox="1"/>
            <p:nvPr/>
          </p:nvSpPr>
          <p:spPr>
            <a:xfrm>
              <a:off x="4233862" y="4413409"/>
              <a:ext cx="1450517"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模型开发Model development 5%​​</a:t>
              </a:r>
            </a:p>
          </p:txBody>
        </p:sp>
        <p:sp>
          <p:nvSpPr>
            <p:cNvPr id="33" name="Rectangle 33"/>
            <p:cNvSpPr/>
            <p:nvPr/>
          </p:nvSpPr>
          <p:spPr>
            <a:xfrm>
              <a:off x="4095750" y="4562475"/>
              <a:ext cx="95250" cy="95250"/>
            </a:xfrm>
            <a:prstGeom prst="rect">
              <a:avLst/>
            </a:prstGeom>
            <a:solidFill>
              <a:srgbClr val="8A3E2E"/>
            </a:solidFill>
            <a:ln>
              <a:noFill/>
            </a:ln>
          </p:spPr>
        </p:sp>
        <p:sp>
          <p:nvSpPr>
            <p:cNvPr id="34" name="TextBox 34"/>
            <p:cNvSpPr txBox="1"/>
            <p:nvPr/>
          </p:nvSpPr>
          <p:spPr>
            <a:xfrm>
              <a:off x="4233862" y="4575334"/>
              <a:ext cx="1531615"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CRO及其他Chief Risk Officer 3%​​</a:t>
              </a:r>
            </a:p>
          </p:txBody>
        </p:sp>
        <p:sp>
          <p:nvSpPr>
            <p:cNvPr id="35" name="Rectangle 35"/>
            <p:cNvSpPr/>
            <p:nvPr/>
          </p:nvSpPr>
          <p:spPr>
            <a:xfrm>
              <a:off x="4095750" y="4724400"/>
              <a:ext cx="95250" cy="95250"/>
            </a:xfrm>
            <a:prstGeom prst="rect">
              <a:avLst/>
            </a:prstGeom>
            <a:solidFill>
              <a:srgbClr val="E69D8E"/>
            </a:solidFill>
            <a:ln>
              <a:noFill/>
            </a:ln>
          </p:spPr>
        </p:sp>
        <p:sp>
          <p:nvSpPr>
            <p:cNvPr id="36" name="TextBox 36"/>
            <p:cNvSpPr txBox="1"/>
            <p:nvPr/>
          </p:nvSpPr>
          <p:spPr>
            <a:xfrm>
              <a:off x="4233862" y="4737259"/>
              <a:ext cx="124367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内部审计Internal Audit 1%​​</a:t>
              </a:r>
            </a:p>
          </p:txBody>
        </p:sp>
        <p:sp>
          <p:nvSpPr>
            <p:cNvPr id="37" name="Rectangle 37"/>
            <p:cNvSpPr/>
            <p:nvPr/>
          </p:nvSpPr>
          <p:spPr>
            <a:xfrm>
              <a:off x="4095750" y="4886325"/>
              <a:ext cx="95250" cy="95250"/>
            </a:xfrm>
            <a:prstGeom prst="rect">
              <a:avLst/>
            </a:prstGeom>
            <a:solidFill>
              <a:srgbClr val="F9D0C8"/>
            </a:solidFill>
            <a:ln>
              <a:noFill/>
            </a:ln>
          </p:spPr>
        </p:sp>
        <p:sp>
          <p:nvSpPr>
            <p:cNvPr id="38" name="TextBox 38"/>
            <p:cNvSpPr txBox="1"/>
            <p:nvPr/>
          </p:nvSpPr>
          <p:spPr>
            <a:xfrm>
              <a:off x="4233862" y="4899184"/>
              <a:ext cx="715673"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其他Other 1%​​</a:t>
              </a:r>
            </a:p>
          </p:txBody>
        </p:sp>
      </p:grpSp>
      <p:grpSp>
        <p:nvGrpSpPr>
          <p:cNvPr id="41" name="col-right"/>
          <p:cNvGrpSpPr/>
          <p:nvPr/>
        </p:nvGrpSpPr>
        <p:grpSpPr>
          <a:xfrm>
            <a:off x="7329488" y="931545"/>
            <a:ext cx="2129790" cy="1081088"/>
            <a:chOff x="7329488" y="931545"/>
            <a:chExt cx="2129790" cy="1081088"/>
          </a:xfrm>
        </p:grpSpPr>
        <p:sp>
          <p:nvSpPr>
            <p:cNvPr id="40" name="TextBox 40"/>
            <p:cNvSpPr txBox="1"/>
            <p:nvPr/>
          </p:nvSpPr>
          <p:spPr>
            <a:xfrm>
              <a:off x="7329488" y="931545"/>
              <a:ext cx="21297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为区分模型风险管理实践的不同成熟度，​</a:t>
              </a:r>
              <a:br/>
              <a:r>
                <a:rPr lang="zh-CN" sz="900" dirty="0">
                  <a:solidFill>
                    <a:srgbClr val="333333"/>
                  </a:solidFill>
                  <a:latin typeface="+mn-lt"/>
                  <a:ea typeface="+mn-ea"/>
                  <a:cs typeface="+mn-cs"/>
                </a:rPr>
                <a:t>我们按资产负债表总额将银行分为三类规​</a:t>
              </a:r>
              <a:br/>
              <a:r>
                <a:rPr lang="zh-CN" sz="900" dirty="0">
                  <a:solidFill>
                    <a:srgbClr val="333333"/>
                  </a:solidFill>
                  <a:latin typeface="+mn-lt"/>
                  <a:ea typeface="+mn-ea"/>
                  <a:cs typeface="+mn-cs"/>
                </a:rPr>
                <a:t>模：资产负债表总额低于300亿欧元​​</a:t>
              </a:r>
              <a:br/>
              <a:r>
                <a:rPr lang="zh-CN" sz="900" dirty="0">
                  <a:solidFill>
                    <a:srgbClr val="333333"/>
                  </a:solidFill>
                  <a:latin typeface="+mn-lt"/>
                  <a:ea typeface="+mn-ea"/>
                  <a:cs typeface="+mn-cs"/>
                </a:rPr>
                <a:t>的小型银行、300亿至1000亿欧元​​​​</a:t>
              </a:r>
              <a:br/>
              <a:r>
                <a:rPr lang="zh-CN" sz="900" dirty="0">
                  <a:solidFill>
                    <a:srgbClr val="333333"/>
                  </a:solidFill>
                  <a:latin typeface="+mn-lt"/>
                  <a:ea typeface="+mn-ea"/>
                  <a:cs typeface="+mn-cs"/>
                </a:rPr>
                <a:t>的中型银行，以及超过1000亿欧元​​</a:t>
              </a:r>
              <a:br/>
              <a:r>
                <a:rPr lang="zh-CN" sz="900" dirty="0">
                  <a:solidFill>
                    <a:srgbClr val="333333"/>
                  </a:solidFill>
                  <a:latin typeface="+mn-lt"/>
                  <a:ea typeface="+mn-ea"/>
                  <a:cs typeface="+mn-cs"/>
                </a:rPr>
                <a:t>的大型银行。​</a:t>
              </a:r>
            </a:p>
          </p:txBody>
        </p:sp>
      </p:grpSp>
      <p:grpSp>
        <p:nvGrpSpPr>
          <p:cNvPr id="75" name="nav"/>
          <p:cNvGrpSpPr/>
          <p:nvPr/>
        </p:nvGrpSpPr>
        <p:grpSpPr>
          <a:xfrm>
            <a:off x="9834562" y="0"/>
            <a:ext cx="2357438" cy="6858000"/>
            <a:chOff x="9834562" y="0"/>
            <a:chExt cx="2357438" cy="6858000"/>
          </a:xfrm>
        </p:grpSpPr>
        <p:sp>
          <p:nvSpPr>
            <p:cNvPr id="42" name="Line 42"/>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43" name="Rectangle 43"/>
            <p:cNvSpPr/>
            <p:nvPr/>
          </p:nvSpPr>
          <p:spPr>
            <a:xfrm>
              <a:off x="9839325" y="476250"/>
              <a:ext cx="2352675" cy="514350"/>
            </a:xfrm>
            <a:prstGeom prst="rect">
              <a:avLst/>
            </a:prstGeom>
            <a:solidFill>
              <a:srgbClr val="F3F3F3"/>
            </a:solidFill>
            <a:ln>
              <a:noFill/>
            </a:ln>
          </p:spPr>
        </p:sp>
        <p:sp>
          <p:nvSpPr>
            <p:cNvPr id="44" name="TextBox 44"/>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45" name="Rectangle 45"/>
            <p:cNvSpPr/>
            <p:nvPr/>
          </p:nvSpPr>
          <p:spPr>
            <a:xfrm>
              <a:off x="9839325" y="1000125"/>
              <a:ext cx="2352675" cy="514350"/>
            </a:xfrm>
            <a:prstGeom prst="rect">
              <a:avLst/>
            </a:prstGeom>
            <a:solidFill>
              <a:srgbClr val="F3F3F3"/>
            </a:solidFill>
            <a:ln>
              <a:noFill/>
            </a:ln>
          </p:spPr>
        </p:sp>
        <p:sp>
          <p:nvSpPr>
            <p:cNvPr id="46" name="TextBox 46"/>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47" name="Rectangle 47"/>
            <p:cNvSpPr/>
            <p:nvPr/>
          </p:nvSpPr>
          <p:spPr>
            <a:xfrm>
              <a:off x="9839325" y="1524000"/>
              <a:ext cx="2352675" cy="514350"/>
            </a:xfrm>
            <a:prstGeom prst="rect">
              <a:avLst/>
            </a:prstGeom>
            <a:solidFill>
              <a:srgbClr val="F3F3F3"/>
            </a:solidFill>
            <a:ln>
              <a:noFill/>
            </a:ln>
          </p:spPr>
        </p:sp>
        <p:sp>
          <p:nvSpPr>
            <p:cNvPr id="48" name="TextBox 48"/>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49" name="Rectangle 49"/>
            <p:cNvSpPr/>
            <p:nvPr/>
          </p:nvSpPr>
          <p:spPr>
            <a:xfrm>
              <a:off x="9839325" y="2047875"/>
              <a:ext cx="2352675" cy="514350"/>
            </a:xfrm>
            <a:prstGeom prst="rect">
              <a:avLst/>
            </a:prstGeom>
            <a:solidFill>
              <a:srgbClr val="E96B52"/>
            </a:solidFill>
            <a:ln>
              <a:noFill/>
            </a:ln>
          </p:spPr>
        </p:sp>
        <p:sp>
          <p:nvSpPr>
            <p:cNvPr id="50" name="TextBox 50"/>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关于本次调研</a:t>
              </a:r>
            </a:p>
          </p:txBody>
        </p:sp>
        <p:sp>
          <p:nvSpPr>
            <p:cNvPr id="51" name="Rectangle 51"/>
            <p:cNvSpPr/>
            <p:nvPr/>
          </p:nvSpPr>
          <p:spPr>
            <a:xfrm>
              <a:off x="9839325" y="2571750"/>
              <a:ext cx="2352675" cy="514350"/>
            </a:xfrm>
            <a:prstGeom prst="rect">
              <a:avLst/>
            </a:prstGeom>
            <a:solidFill>
              <a:srgbClr val="F3F3F3"/>
            </a:solidFill>
            <a:ln>
              <a:noFill/>
            </a:ln>
          </p:spPr>
        </p:sp>
        <p:sp>
          <p:nvSpPr>
            <p:cNvPr id="52" name="TextBox 52"/>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53" name="Rectangle 53"/>
            <p:cNvSpPr/>
            <p:nvPr/>
          </p:nvSpPr>
          <p:spPr>
            <a:xfrm>
              <a:off x="9839325" y="3095625"/>
              <a:ext cx="2352675" cy="514350"/>
            </a:xfrm>
            <a:prstGeom prst="rect">
              <a:avLst/>
            </a:prstGeom>
            <a:solidFill>
              <a:srgbClr val="F3F3F3"/>
            </a:solidFill>
            <a:ln>
              <a:noFill/>
            </a:ln>
          </p:spPr>
        </p:sp>
        <p:sp>
          <p:nvSpPr>
            <p:cNvPr id="54" name="TextBox 54"/>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55" name="Rectangle 55"/>
            <p:cNvSpPr/>
            <p:nvPr/>
          </p:nvSpPr>
          <p:spPr>
            <a:xfrm>
              <a:off x="9839325" y="3619500"/>
              <a:ext cx="2352675" cy="514350"/>
            </a:xfrm>
            <a:prstGeom prst="rect">
              <a:avLst/>
            </a:prstGeom>
            <a:solidFill>
              <a:srgbClr val="F3F3F3"/>
            </a:solidFill>
            <a:ln>
              <a:noFill/>
            </a:ln>
          </p:spPr>
        </p:sp>
        <p:sp>
          <p:nvSpPr>
            <p:cNvPr id="56" name="TextBox 56"/>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57" name="Rectangle 57"/>
            <p:cNvSpPr/>
            <p:nvPr/>
          </p:nvSpPr>
          <p:spPr>
            <a:xfrm>
              <a:off x="9839325" y="4143375"/>
              <a:ext cx="2352675" cy="514350"/>
            </a:xfrm>
            <a:prstGeom prst="rect">
              <a:avLst/>
            </a:prstGeom>
            <a:solidFill>
              <a:srgbClr val="F3F3F3"/>
            </a:solidFill>
            <a:ln>
              <a:noFill/>
            </a:ln>
          </p:spPr>
        </p:sp>
        <p:sp>
          <p:nvSpPr>
            <p:cNvPr id="58" name="TextBox 58"/>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59" name="Rectangle 59"/>
            <p:cNvSpPr/>
            <p:nvPr/>
          </p:nvSpPr>
          <p:spPr>
            <a:xfrm>
              <a:off x="9839325" y="4667250"/>
              <a:ext cx="2352675" cy="514350"/>
            </a:xfrm>
            <a:prstGeom prst="rect">
              <a:avLst/>
            </a:prstGeom>
            <a:solidFill>
              <a:srgbClr val="F3F3F3"/>
            </a:solidFill>
            <a:ln>
              <a:noFill/>
            </a:ln>
          </p:spPr>
        </p:sp>
        <p:sp>
          <p:nvSpPr>
            <p:cNvPr id="60" name="TextBox 60"/>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61" name="Rectangle 61"/>
            <p:cNvSpPr/>
            <p:nvPr/>
          </p:nvSpPr>
          <p:spPr>
            <a:xfrm>
              <a:off x="9839325" y="5191125"/>
              <a:ext cx="2352675" cy="514350"/>
            </a:xfrm>
            <a:prstGeom prst="rect">
              <a:avLst/>
            </a:prstGeom>
            <a:solidFill>
              <a:srgbClr val="F3F3F3"/>
            </a:solidFill>
            <a:ln>
              <a:noFill/>
            </a:ln>
          </p:spPr>
        </p:sp>
        <p:sp>
          <p:nvSpPr>
            <p:cNvPr id="62" name="TextBox 62"/>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63" name="Rectangle 63"/>
            <p:cNvSpPr/>
            <p:nvPr/>
          </p:nvSpPr>
          <p:spPr>
            <a:xfrm>
              <a:off x="9839325" y="5715000"/>
              <a:ext cx="2352675" cy="514350"/>
            </a:xfrm>
            <a:prstGeom prst="rect">
              <a:avLst/>
            </a:prstGeom>
            <a:solidFill>
              <a:srgbClr val="F3F3F3"/>
            </a:solidFill>
            <a:ln>
              <a:noFill/>
            </a:ln>
          </p:spPr>
        </p:sp>
        <p:sp>
          <p:nvSpPr>
            <p:cNvPr id="64" name="TextBox 64"/>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65" name="Ellipse 65"/>
            <p:cNvSpPr/>
            <p:nvPr/>
          </p:nvSpPr>
          <p:spPr>
            <a:xfrm>
              <a:off x="10020300" y="6372225"/>
              <a:ext cx="266700" cy="266700"/>
            </a:xfrm>
            <a:prstGeom prst="ellipse">
              <a:avLst/>
            </a:prstGeom>
            <a:solidFill>
              <a:srgbClr val="D7D8D6"/>
            </a:solidFill>
            <a:ln>
              <a:noFill/>
            </a:ln>
          </p:spPr>
        </p:sp>
        <p:sp>
          <p:nvSpPr>
            <p:cNvPr id="66" name="Freeform 66"/>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67" name="Ellipse 67"/>
            <p:cNvSpPr/>
            <p:nvPr/>
          </p:nvSpPr>
          <p:spPr>
            <a:xfrm>
              <a:off x="10420350" y="6372225"/>
              <a:ext cx="266700" cy="266700"/>
            </a:xfrm>
            <a:prstGeom prst="ellipse">
              <a:avLst/>
            </a:prstGeom>
            <a:solidFill>
              <a:srgbClr val="D7D8D6"/>
            </a:solidFill>
            <a:ln>
              <a:noFill/>
            </a:ln>
          </p:spPr>
        </p:sp>
        <p:grpSp>
          <p:nvGrpSpPr>
            <p:cNvPr id="71" name="Group 71"/>
            <p:cNvGrpSpPr/>
            <p:nvPr/>
          </p:nvGrpSpPr>
          <p:grpSpPr>
            <a:xfrm>
              <a:off x="10489406" y="6441281"/>
              <a:ext cx="128588" cy="128588"/>
              <a:chOff x="10489406" y="6441281"/>
              <a:chExt cx="128588" cy="128588"/>
            </a:xfrm>
          </p:grpSpPr>
          <p:sp>
            <p:nvSpPr>
              <p:cNvPr id="68" name="Freeform 68"/>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69" name="Freeform 69"/>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70" name="Freeform 70"/>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72" name="Ellipse 72"/>
            <p:cNvSpPr/>
            <p:nvPr/>
          </p:nvSpPr>
          <p:spPr>
            <a:xfrm>
              <a:off x="10820400" y="6372225"/>
              <a:ext cx="266700" cy="266700"/>
            </a:xfrm>
            <a:prstGeom prst="ellipse">
              <a:avLst/>
            </a:prstGeom>
            <a:solidFill>
              <a:srgbClr val="D7D8D6"/>
            </a:solidFill>
            <a:ln>
              <a:noFill/>
            </a:ln>
          </p:spPr>
        </p:sp>
        <p:sp>
          <p:nvSpPr>
            <p:cNvPr id="73" name="Freeform 73"/>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74" name="TextBox 74"/>
            <p:cNvSpPr txBox="1"/>
            <p:nvPr/>
          </p:nvSpPr>
          <p:spPr>
            <a:xfrm>
              <a:off x="11872951" y="6456045"/>
              <a:ext cx="76162"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7</a:t>
              </a:r>
            </a:p>
          </p:txBody>
        </p:sp>
      </p:gr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6B52"/>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08</a:t>
              </a:r>
            </a:p>
          </p:txBody>
        </p:sp>
        <p:sp>
          <p:nvSpPr>
            <p:cNvPr id="4" name="TextBox 4"/>
            <p:cNvSpPr txBox="1"/>
            <p:nvPr/>
          </p:nvSpPr>
          <p:spPr>
            <a:xfrm>
              <a:off x="942594" y="151448"/>
              <a:ext cx="537811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 xml:space="preserve">关于本次调研 </a:t>
              </a:r>
              <a:r>
                <a:rPr lang="en-US" sz="1950" b="1" dirty="0">
                  <a:solidFill>
                    <a:srgbClr val="E96B52"/>
                  </a:solidFill>
                  <a:latin typeface="+mj-lt"/>
                  <a:ea typeface="+mj-ea"/>
                  <a:cs typeface="+mj-cs"/>
                </a:rPr>
                <a:t>About the survey</a:t>
              </a:r>
              <a:r>
                <a:rPr lang="zh-CN" sz="1950" b="1" dirty="0">
                  <a:solidFill>
                    <a:srgbClr val="1A1A1A"/>
                  </a:solidFill>
                  <a:latin typeface="+mj-lt"/>
                  <a:ea typeface="+mj-ea"/>
                  <a:cs typeface="+mj-cs"/>
                </a:rPr>
                <a:t>（二）​​</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E96B52"/>
              </a:solidFill>
            </a:ln>
          </p:spPr>
        </p:sp>
      </p:grpSp>
      <p:grpSp>
        <p:nvGrpSpPr>
          <p:cNvPr id="24" name="figure-3"/>
          <p:cNvGrpSpPr/>
          <p:nvPr/>
        </p:nvGrpSpPr>
        <p:grpSpPr>
          <a:xfrm>
            <a:off x="566738" y="882491"/>
            <a:ext cx="5195887" cy="2165509"/>
            <a:chOff x="566738" y="882491"/>
            <a:chExt cx="5195887" cy="2165509"/>
          </a:xfrm>
        </p:grpSpPr>
        <p:sp>
          <p:nvSpPr>
            <p:cNvPr id="7" name="TextBox 7"/>
            <p:cNvSpPr txBox="1"/>
            <p:nvPr/>
          </p:nvSpPr>
          <p:spPr>
            <a:xfrm>
              <a:off x="566738" y="882491"/>
              <a:ext cx="1292790"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 三类规模银行占比​​</a:t>
              </a:r>
            </a:p>
          </p:txBody>
        </p:sp>
        <p:sp>
          <p:nvSpPr>
            <p:cNvPr id="8" name="TextBox 8"/>
            <p:cNvSpPr txBox="1"/>
            <p:nvPr/>
          </p:nvSpPr>
          <p:spPr>
            <a:xfrm>
              <a:off x="566738" y="1032034"/>
              <a:ext cx="2479745"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Percentage of banks in each of three size categories​​</a:t>
              </a:r>
            </a:p>
          </p:txBody>
        </p:sp>
        <p:sp>
          <p:nvSpPr>
            <p:cNvPr id="9" name="Freeform 9"/>
            <p:cNvSpPr/>
            <p:nvPr/>
          </p:nvSpPr>
          <p:spPr>
            <a:xfrm>
              <a:off x="714375" y="1619250"/>
              <a:ext cx="1428750" cy="1428750"/>
            </a:xfrm>
            <a:prstGeom prst="blockArc">
              <a:avLst>
                <a:gd name="adj1" fmla="val 16200000"/>
                <a:gd name="adj2" fmla="val 0"/>
                <a:gd name="adj3" fmla="val 14667"/>
              </a:avLst>
            </a:prstGeom>
            <a:solidFill>
              <a:srgbClr val="E96B52"/>
            </a:solidFill>
            <a:ln>
              <a:noFill/>
            </a:ln>
          </p:spPr>
        </p:sp>
        <p:sp>
          <p:nvSpPr>
            <p:cNvPr id="10" name="Freeform 10"/>
            <p:cNvSpPr/>
            <p:nvPr/>
          </p:nvSpPr>
          <p:spPr>
            <a:xfrm>
              <a:off x="714375" y="1619250"/>
              <a:ext cx="1428750" cy="1428750"/>
            </a:xfrm>
            <a:prstGeom prst="blockArc">
              <a:avLst>
                <a:gd name="adj1" fmla="val 0"/>
                <a:gd name="adj2" fmla="val 16200000"/>
                <a:gd name="adj3" fmla="val 14667"/>
              </a:avLst>
            </a:prstGeom>
            <a:solidFill>
              <a:srgbClr val="DDDDDD"/>
            </a:solidFill>
            <a:ln>
              <a:noFill/>
            </a:ln>
          </p:spPr>
        </p:sp>
        <p:sp>
          <p:nvSpPr>
            <p:cNvPr id="11" name="Freeform 11"/>
            <p:cNvSpPr/>
            <p:nvPr/>
          </p:nvSpPr>
          <p:spPr>
            <a:xfrm>
              <a:off x="2524125" y="1619250"/>
              <a:ext cx="1428750" cy="1428750"/>
            </a:xfrm>
            <a:prstGeom prst="blockArc">
              <a:avLst>
                <a:gd name="adj1" fmla="val 16200000"/>
                <a:gd name="adj2" fmla="val 2376000"/>
                <a:gd name="adj3" fmla="val 14667"/>
              </a:avLst>
            </a:prstGeom>
            <a:solidFill>
              <a:srgbClr val="B61F00"/>
            </a:solidFill>
            <a:ln>
              <a:noFill/>
            </a:ln>
          </p:spPr>
        </p:sp>
        <p:sp>
          <p:nvSpPr>
            <p:cNvPr id="12" name="Freeform 12"/>
            <p:cNvSpPr/>
            <p:nvPr/>
          </p:nvSpPr>
          <p:spPr>
            <a:xfrm>
              <a:off x="2524125" y="1619250"/>
              <a:ext cx="1428750" cy="1428750"/>
            </a:xfrm>
            <a:prstGeom prst="blockArc">
              <a:avLst>
                <a:gd name="adj1" fmla="val 2376000"/>
                <a:gd name="adj2" fmla="val 16200000"/>
                <a:gd name="adj3" fmla="val 14667"/>
              </a:avLst>
            </a:prstGeom>
            <a:solidFill>
              <a:srgbClr val="DDDDDD"/>
            </a:solidFill>
            <a:ln>
              <a:noFill/>
            </a:ln>
          </p:spPr>
        </p:sp>
        <p:sp>
          <p:nvSpPr>
            <p:cNvPr id="13" name="Freeform 13"/>
            <p:cNvSpPr/>
            <p:nvPr/>
          </p:nvSpPr>
          <p:spPr>
            <a:xfrm>
              <a:off x="4333875" y="1619250"/>
              <a:ext cx="1428750" cy="1428750"/>
            </a:xfrm>
            <a:prstGeom prst="blockArc">
              <a:avLst>
                <a:gd name="adj1" fmla="val 16200000"/>
                <a:gd name="adj2" fmla="val 3024000"/>
                <a:gd name="adj3" fmla="val 14667"/>
              </a:avLst>
            </a:prstGeom>
            <a:solidFill>
              <a:srgbClr val="7C1500"/>
            </a:solidFill>
            <a:ln>
              <a:noFill/>
            </a:ln>
          </p:spPr>
        </p:sp>
        <p:sp>
          <p:nvSpPr>
            <p:cNvPr id="14" name="Freeform 14"/>
            <p:cNvSpPr/>
            <p:nvPr/>
          </p:nvSpPr>
          <p:spPr>
            <a:xfrm>
              <a:off x="4333875" y="1619250"/>
              <a:ext cx="1428750" cy="1428750"/>
            </a:xfrm>
            <a:prstGeom prst="blockArc">
              <a:avLst>
                <a:gd name="adj1" fmla="val 3024000"/>
                <a:gd name="adj2" fmla="val 16200000"/>
                <a:gd name="adj3" fmla="val 14667"/>
              </a:avLst>
            </a:prstGeom>
            <a:solidFill>
              <a:srgbClr val="DDDDDD"/>
            </a:solidFill>
            <a:ln>
              <a:noFill/>
            </a:ln>
          </p:spPr>
        </p:sp>
        <p:sp>
          <p:nvSpPr>
            <p:cNvPr id="15" name="TextBox 15"/>
            <p:cNvSpPr txBox="1"/>
            <p:nvPr/>
          </p:nvSpPr>
          <p:spPr>
            <a:xfrm>
              <a:off x="1140493" y="2136458"/>
              <a:ext cx="576514" cy="322707"/>
            </a:xfrm>
            <a:prstGeom prst="rect">
              <a:avLst/>
            </a:prstGeom>
            <a:noFill/>
            <a:ln>
              <a:noFill/>
            </a:ln>
          </p:spPr>
          <p:txBody>
            <a:bodyPr wrap="none" lIns="0" tIns="0" rIns="0" bIns="0" anchor="t" anchorCtr="0">
              <a:spAutoFit/>
            </a:bodyPr>
            <a:lstStyle/>
            <a:p>
              <a:pPr algn="ctr"/>
              <a:r>
                <a:rPr lang="zh-CN" sz="1650" b="1" dirty="0">
                  <a:solidFill>
                    <a:srgbClr val="E96B52"/>
                  </a:solidFill>
                  <a:latin typeface="+mn-lt"/>
                  <a:ea typeface="+mn-ea"/>
                  <a:cs typeface="+mn-cs"/>
                </a:rPr>
                <a:t>25%​</a:t>
              </a:r>
            </a:p>
          </p:txBody>
        </p:sp>
        <p:sp>
          <p:nvSpPr>
            <p:cNvPr id="16" name="TextBox 16"/>
            <p:cNvSpPr txBox="1"/>
            <p:nvPr/>
          </p:nvSpPr>
          <p:spPr>
            <a:xfrm>
              <a:off x="1053614" y="2409111"/>
              <a:ext cx="750272"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低于300亿欧元​​</a:t>
              </a:r>
            </a:p>
          </p:txBody>
        </p:sp>
        <p:sp>
          <p:nvSpPr>
            <p:cNvPr id="17" name="TextBox 17"/>
            <p:cNvSpPr txBox="1"/>
            <p:nvPr/>
          </p:nvSpPr>
          <p:spPr>
            <a:xfrm>
              <a:off x="961595" y="2541032"/>
              <a:ext cx="934310" cy="126206"/>
            </a:xfrm>
            <a:prstGeom prst="rect">
              <a:avLst/>
            </a:prstGeom>
            <a:noFill/>
            <a:ln>
              <a:noFill/>
            </a:ln>
          </p:spPr>
          <p:txBody>
            <a:bodyPr wrap="none" lIns="0" tIns="0" rIns="0" bIns="0" anchor="t" anchorCtr="0">
              <a:spAutoFit/>
            </a:bodyPr>
            <a:lstStyle/>
            <a:p>
              <a:pPr algn="ctr"/>
              <a:r>
                <a:rPr lang="en-US" sz="640" dirty="0">
                  <a:solidFill>
                    <a:srgbClr val="9A9A9A"/>
                  </a:solidFill>
                  <a:latin typeface="+mn-lt"/>
                  <a:ea typeface="+mn-ea"/>
                  <a:cs typeface="+mn-cs"/>
                </a:rPr>
                <a:t>Less than EUR 30 bn​​</a:t>
              </a:r>
            </a:p>
          </p:txBody>
        </p:sp>
        <p:sp>
          <p:nvSpPr>
            <p:cNvPr id="18" name="TextBox 18"/>
            <p:cNvSpPr txBox="1"/>
            <p:nvPr/>
          </p:nvSpPr>
          <p:spPr>
            <a:xfrm>
              <a:off x="2950243" y="2136458"/>
              <a:ext cx="576514" cy="322707"/>
            </a:xfrm>
            <a:prstGeom prst="rect">
              <a:avLst/>
            </a:prstGeom>
            <a:noFill/>
            <a:ln>
              <a:noFill/>
            </a:ln>
          </p:spPr>
          <p:txBody>
            <a:bodyPr wrap="none" lIns="0" tIns="0" rIns="0" bIns="0" anchor="t" anchorCtr="0">
              <a:spAutoFit/>
            </a:bodyPr>
            <a:lstStyle/>
            <a:p>
              <a:pPr algn="ctr"/>
              <a:r>
                <a:rPr lang="zh-CN" sz="1650" b="1" dirty="0">
                  <a:solidFill>
                    <a:srgbClr val="B61F00"/>
                  </a:solidFill>
                  <a:latin typeface="+mn-lt"/>
                  <a:ea typeface="+mn-ea"/>
                  <a:cs typeface="+mn-cs"/>
                </a:rPr>
                <a:t>36%​</a:t>
              </a:r>
            </a:p>
          </p:txBody>
        </p:sp>
        <p:sp>
          <p:nvSpPr>
            <p:cNvPr id="19" name="TextBox 19"/>
            <p:cNvSpPr txBox="1"/>
            <p:nvPr/>
          </p:nvSpPr>
          <p:spPr>
            <a:xfrm>
              <a:off x="2753447" y="2409111"/>
              <a:ext cx="970106"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300亿–1000亿欧元​​​</a:t>
              </a:r>
            </a:p>
          </p:txBody>
        </p:sp>
        <p:sp>
          <p:nvSpPr>
            <p:cNvPr id="20" name="TextBox 20"/>
            <p:cNvSpPr txBox="1"/>
            <p:nvPr/>
          </p:nvSpPr>
          <p:spPr>
            <a:xfrm>
              <a:off x="2888541" y="2541032"/>
              <a:ext cx="699917" cy="126206"/>
            </a:xfrm>
            <a:prstGeom prst="rect">
              <a:avLst/>
            </a:prstGeom>
            <a:noFill/>
            <a:ln>
              <a:noFill/>
            </a:ln>
          </p:spPr>
          <p:txBody>
            <a:bodyPr wrap="none" lIns="0" tIns="0" rIns="0" bIns="0" anchor="t" anchorCtr="0">
              <a:spAutoFit/>
            </a:bodyPr>
            <a:lstStyle/>
            <a:p>
              <a:pPr algn="ctr"/>
              <a:r>
                <a:rPr lang="en-US" sz="640" dirty="0">
                  <a:solidFill>
                    <a:srgbClr val="9A9A9A"/>
                  </a:solidFill>
                  <a:latin typeface="+mn-lt"/>
                  <a:ea typeface="+mn-ea"/>
                  <a:cs typeface="+mn-cs"/>
                </a:rPr>
                <a:t>EUR 30–100 bn​​</a:t>
              </a:r>
            </a:p>
          </p:txBody>
        </p:sp>
        <p:sp>
          <p:nvSpPr>
            <p:cNvPr id="21" name="TextBox 21"/>
            <p:cNvSpPr txBox="1"/>
            <p:nvPr/>
          </p:nvSpPr>
          <p:spPr>
            <a:xfrm>
              <a:off x="4759993" y="2136458"/>
              <a:ext cx="576514" cy="322707"/>
            </a:xfrm>
            <a:prstGeom prst="rect">
              <a:avLst/>
            </a:prstGeom>
            <a:noFill/>
            <a:ln>
              <a:noFill/>
            </a:ln>
          </p:spPr>
          <p:txBody>
            <a:bodyPr wrap="none" lIns="0" tIns="0" rIns="0" bIns="0" anchor="t" anchorCtr="0">
              <a:spAutoFit/>
            </a:bodyPr>
            <a:lstStyle/>
            <a:p>
              <a:pPr algn="ctr"/>
              <a:r>
                <a:rPr lang="zh-CN" sz="1650" b="1" dirty="0">
                  <a:solidFill>
                    <a:srgbClr val="7C1500"/>
                  </a:solidFill>
                  <a:latin typeface="+mn-lt"/>
                  <a:ea typeface="+mn-ea"/>
                  <a:cs typeface="+mn-cs"/>
                </a:rPr>
                <a:t>39%​</a:t>
              </a:r>
            </a:p>
          </p:txBody>
        </p:sp>
        <p:sp>
          <p:nvSpPr>
            <p:cNvPr id="22" name="TextBox 22"/>
            <p:cNvSpPr txBox="1"/>
            <p:nvPr/>
          </p:nvSpPr>
          <p:spPr>
            <a:xfrm>
              <a:off x="4646830" y="2409111"/>
              <a:ext cx="802841"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超过1000亿欧元​​</a:t>
              </a:r>
            </a:p>
          </p:txBody>
        </p:sp>
        <p:sp>
          <p:nvSpPr>
            <p:cNvPr id="23" name="TextBox 23"/>
            <p:cNvSpPr txBox="1"/>
            <p:nvPr/>
          </p:nvSpPr>
          <p:spPr>
            <a:xfrm>
              <a:off x="4486466" y="2541032"/>
              <a:ext cx="1123569" cy="126206"/>
            </a:xfrm>
            <a:prstGeom prst="rect">
              <a:avLst/>
            </a:prstGeom>
            <a:noFill/>
            <a:ln>
              <a:noFill/>
            </a:ln>
          </p:spPr>
          <p:txBody>
            <a:bodyPr wrap="none" lIns="0" tIns="0" rIns="0" bIns="0" anchor="t" anchorCtr="0">
              <a:spAutoFit/>
            </a:bodyPr>
            <a:lstStyle/>
            <a:p>
              <a:pPr algn="ctr"/>
              <a:r>
                <a:rPr lang="en-US" sz="640" dirty="0">
                  <a:solidFill>
                    <a:srgbClr val="9A9A9A"/>
                  </a:solidFill>
                  <a:latin typeface="+mn-lt"/>
                  <a:ea typeface="+mn-ea"/>
                  <a:cs typeface="+mn-cs"/>
                </a:rPr>
                <a:t>Greater than EUR 100 bn​​</a:t>
              </a:r>
            </a:p>
          </p:txBody>
        </p:sp>
      </p:grpSp>
      <p:grpSp>
        <p:nvGrpSpPr>
          <p:cNvPr id="73" name="figure-4"/>
          <p:cNvGrpSpPr/>
          <p:nvPr/>
        </p:nvGrpSpPr>
        <p:grpSpPr>
          <a:xfrm>
            <a:off x="6091238" y="882491"/>
            <a:ext cx="3347820" cy="3483293"/>
            <a:chOff x="6091238" y="882491"/>
            <a:chExt cx="3347820" cy="3483293"/>
          </a:xfrm>
        </p:grpSpPr>
        <p:sp>
          <p:nvSpPr>
            <p:cNvPr id="25" name="TextBox 25"/>
            <p:cNvSpPr txBox="1"/>
            <p:nvPr/>
          </p:nvSpPr>
          <p:spPr>
            <a:xfrm>
              <a:off x="6091238" y="882491"/>
              <a:ext cx="282246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图4. 各规模中被认定为D-SIB或G-SIB的银行占比​​​​​​</a:t>
              </a:r>
            </a:p>
          </p:txBody>
        </p:sp>
        <p:sp>
          <p:nvSpPr>
            <p:cNvPr id="26" name="TextBox 26"/>
            <p:cNvSpPr txBox="1"/>
            <p:nvPr/>
          </p:nvSpPr>
          <p:spPr>
            <a:xfrm>
              <a:off x="6091238" y="1032034"/>
              <a:ext cx="3347820"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Percentage of banks categorised as D-SIB or G-SIB in each size category​​</a:t>
              </a:r>
            </a:p>
          </p:txBody>
        </p:sp>
        <p:sp>
          <p:nvSpPr>
            <p:cNvPr id="27" name="Line 27"/>
            <p:cNvSpPr/>
            <p:nvPr/>
          </p:nvSpPr>
          <p:spPr>
            <a:xfrm>
              <a:off x="6572250" y="381000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28" name="TextBox 28"/>
            <p:cNvSpPr txBox="1"/>
            <p:nvPr/>
          </p:nvSpPr>
          <p:spPr>
            <a:xfrm>
              <a:off x="6343039" y="3766423"/>
              <a:ext cx="186348" cy="140494"/>
            </a:xfrm>
            <a:prstGeom prst="rect">
              <a:avLst/>
            </a:prstGeom>
            <a:noFill/>
            <a:ln>
              <a:noFill/>
            </a:ln>
          </p:spPr>
          <p:txBody>
            <a:bodyPr wrap="none" lIns="0" tIns="0" rIns="0" bIns="0" anchor="t" anchorCtr="0">
              <a:spAutoFit/>
            </a:bodyPr>
            <a:lstStyle/>
            <a:p>
              <a:pPr algn="r"/>
              <a:r>
                <a:rPr lang="zh-CN" sz="710" dirty="0">
                  <a:solidFill>
                    <a:srgbClr val="666666"/>
                  </a:solidFill>
                  <a:latin typeface="+mn-lt"/>
                  <a:ea typeface="+mn-ea"/>
                  <a:cs typeface="+mn-cs"/>
                </a:rPr>
                <a:t>0%​</a:t>
              </a:r>
            </a:p>
          </p:txBody>
        </p:sp>
        <p:sp>
          <p:nvSpPr>
            <p:cNvPr id="29" name="Line 29"/>
            <p:cNvSpPr/>
            <p:nvPr/>
          </p:nvSpPr>
          <p:spPr>
            <a:xfrm>
              <a:off x="6572250" y="35242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30" name="TextBox 30"/>
            <p:cNvSpPr txBox="1"/>
            <p:nvPr/>
          </p:nvSpPr>
          <p:spPr>
            <a:xfrm>
              <a:off x="6290470" y="3480673"/>
              <a:ext cx="238917" cy="140494"/>
            </a:xfrm>
            <a:prstGeom prst="rect">
              <a:avLst/>
            </a:prstGeom>
            <a:noFill/>
            <a:ln>
              <a:noFill/>
            </a:ln>
          </p:spPr>
          <p:txBody>
            <a:bodyPr wrap="none" lIns="0" tIns="0" rIns="0" bIns="0" anchor="t" anchorCtr="0">
              <a:spAutoFit/>
            </a:bodyPr>
            <a:lstStyle/>
            <a:p>
              <a:pPr algn="r"/>
              <a:r>
                <a:rPr lang="zh-CN" sz="710" dirty="0">
                  <a:solidFill>
                    <a:srgbClr val="666666"/>
                  </a:solidFill>
                  <a:latin typeface="+mn-lt"/>
                  <a:ea typeface="+mn-ea"/>
                  <a:cs typeface="+mn-cs"/>
                </a:rPr>
                <a:t>10%​</a:t>
              </a:r>
            </a:p>
          </p:txBody>
        </p:sp>
        <p:sp>
          <p:nvSpPr>
            <p:cNvPr id="31" name="Line 31"/>
            <p:cNvSpPr/>
            <p:nvPr/>
          </p:nvSpPr>
          <p:spPr>
            <a:xfrm>
              <a:off x="6572250" y="323850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32" name="TextBox 32"/>
            <p:cNvSpPr txBox="1"/>
            <p:nvPr/>
          </p:nvSpPr>
          <p:spPr>
            <a:xfrm>
              <a:off x="6290470" y="3194923"/>
              <a:ext cx="238917" cy="140494"/>
            </a:xfrm>
            <a:prstGeom prst="rect">
              <a:avLst/>
            </a:prstGeom>
            <a:noFill/>
            <a:ln>
              <a:noFill/>
            </a:ln>
          </p:spPr>
          <p:txBody>
            <a:bodyPr wrap="none" lIns="0" tIns="0" rIns="0" bIns="0" anchor="t" anchorCtr="0">
              <a:spAutoFit/>
            </a:bodyPr>
            <a:lstStyle/>
            <a:p>
              <a:pPr algn="r"/>
              <a:r>
                <a:rPr lang="zh-CN" sz="710" dirty="0">
                  <a:solidFill>
                    <a:srgbClr val="666666"/>
                  </a:solidFill>
                  <a:latin typeface="+mn-lt"/>
                  <a:ea typeface="+mn-ea"/>
                  <a:cs typeface="+mn-cs"/>
                </a:rPr>
                <a:t>20%​</a:t>
              </a:r>
            </a:p>
          </p:txBody>
        </p:sp>
        <p:sp>
          <p:nvSpPr>
            <p:cNvPr id="33" name="Line 33"/>
            <p:cNvSpPr/>
            <p:nvPr/>
          </p:nvSpPr>
          <p:spPr>
            <a:xfrm>
              <a:off x="6572250" y="29527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34" name="TextBox 34"/>
            <p:cNvSpPr txBox="1"/>
            <p:nvPr/>
          </p:nvSpPr>
          <p:spPr>
            <a:xfrm>
              <a:off x="6290470" y="2909173"/>
              <a:ext cx="238917" cy="140494"/>
            </a:xfrm>
            <a:prstGeom prst="rect">
              <a:avLst/>
            </a:prstGeom>
            <a:noFill/>
            <a:ln>
              <a:noFill/>
            </a:ln>
          </p:spPr>
          <p:txBody>
            <a:bodyPr wrap="none" lIns="0" tIns="0" rIns="0" bIns="0" anchor="t" anchorCtr="0">
              <a:spAutoFit/>
            </a:bodyPr>
            <a:lstStyle/>
            <a:p>
              <a:pPr algn="r"/>
              <a:r>
                <a:rPr lang="zh-CN" sz="710" dirty="0">
                  <a:solidFill>
                    <a:srgbClr val="666666"/>
                  </a:solidFill>
                  <a:latin typeface="+mn-lt"/>
                  <a:ea typeface="+mn-ea"/>
                  <a:cs typeface="+mn-cs"/>
                </a:rPr>
                <a:t>30%​</a:t>
              </a:r>
            </a:p>
          </p:txBody>
        </p:sp>
        <p:sp>
          <p:nvSpPr>
            <p:cNvPr id="35" name="Line 35"/>
            <p:cNvSpPr/>
            <p:nvPr/>
          </p:nvSpPr>
          <p:spPr>
            <a:xfrm>
              <a:off x="6572250" y="266700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36" name="TextBox 36"/>
            <p:cNvSpPr txBox="1"/>
            <p:nvPr/>
          </p:nvSpPr>
          <p:spPr>
            <a:xfrm>
              <a:off x="6290470" y="2623423"/>
              <a:ext cx="238917" cy="140494"/>
            </a:xfrm>
            <a:prstGeom prst="rect">
              <a:avLst/>
            </a:prstGeom>
            <a:noFill/>
            <a:ln>
              <a:noFill/>
            </a:ln>
          </p:spPr>
          <p:txBody>
            <a:bodyPr wrap="none" lIns="0" tIns="0" rIns="0" bIns="0" anchor="t" anchorCtr="0">
              <a:spAutoFit/>
            </a:bodyPr>
            <a:lstStyle/>
            <a:p>
              <a:pPr algn="r"/>
              <a:r>
                <a:rPr lang="zh-CN" sz="710" dirty="0">
                  <a:solidFill>
                    <a:srgbClr val="666666"/>
                  </a:solidFill>
                  <a:latin typeface="+mn-lt"/>
                  <a:ea typeface="+mn-ea"/>
                  <a:cs typeface="+mn-cs"/>
                </a:rPr>
                <a:t>40%​</a:t>
              </a:r>
            </a:p>
          </p:txBody>
        </p:sp>
        <p:sp>
          <p:nvSpPr>
            <p:cNvPr id="37" name="Line 37"/>
            <p:cNvSpPr/>
            <p:nvPr/>
          </p:nvSpPr>
          <p:spPr>
            <a:xfrm>
              <a:off x="6572250" y="23812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38" name="TextBox 38"/>
            <p:cNvSpPr txBox="1"/>
            <p:nvPr/>
          </p:nvSpPr>
          <p:spPr>
            <a:xfrm>
              <a:off x="6290470" y="2337673"/>
              <a:ext cx="238917" cy="140494"/>
            </a:xfrm>
            <a:prstGeom prst="rect">
              <a:avLst/>
            </a:prstGeom>
            <a:noFill/>
            <a:ln>
              <a:noFill/>
            </a:ln>
          </p:spPr>
          <p:txBody>
            <a:bodyPr wrap="none" lIns="0" tIns="0" rIns="0" bIns="0" anchor="t" anchorCtr="0">
              <a:spAutoFit/>
            </a:bodyPr>
            <a:lstStyle/>
            <a:p>
              <a:pPr algn="r"/>
              <a:r>
                <a:rPr lang="zh-CN" sz="710" dirty="0">
                  <a:solidFill>
                    <a:srgbClr val="666666"/>
                  </a:solidFill>
                  <a:latin typeface="+mn-lt"/>
                  <a:ea typeface="+mn-ea"/>
                  <a:cs typeface="+mn-cs"/>
                </a:rPr>
                <a:t>50%​</a:t>
              </a:r>
            </a:p>
          </p:txBody>
        </p:sp>
        <p:sp>
          <p:nvSpPr>
            <p:cNvPr id="39" name="Line 39"/>
            <p:cNvSpPr/>
            <p:nvPr/>
          </p:nvSpPr>
          <p:spPr>
            <a:xfrm>
              <a:off x="6572250" y="209550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40" name="TextBox 40"/>
            <p:cNvSpPr txBox="1"/>
            <p:nvPr/>
          </p:nvSpPr>
          <p:spPr>
            <a:xfrm>
              <a:off x="6290470" y="2051923"/>
              <a:ext cx="238917" cy="140494"/>
            </a:xfrm>
            <a:prstGeom prst="rect">
              <a:avLst/>
            </a:prstGeom>
            <a:noFill/>
            <a:ln>
              <a:noFill/>
            </a:ln>
          </p:spPr>
          <p:txBody>
            <a:bodyPr wrap="none" lIns="0" tIns="0" rIns="0" bIns="0" anchor="t" anchorCtr="0">
              <a:spAutoFit/>
            </a:bodyPr>
            <a:lstStyle/>
            <a:p>
              <a:pPr algn="r"/>
              <a:r>
                <a:rPr lang="zh-CN" sz="710" dirty="0">
                  <a:solidFill>
                    <a:srgbClr val="666666"/>
                  </a:solidFill>
                  <a:latin typeface="+mn-lt"/>
                  <a:ea typeface="+mn-ea"/>
                  <a:cs typeface="+mn-cs"/>
                </a:rPr>
                <a:t>60%​</a:t>
              </a:r>
            </a:p>
          </p:txBody>
        </p:sp>
        <p:sp>
          <p:nvSpPr>
            <p:cNvPr id="41" name="Line 41"/>
            <p:cNvSpPr/>
            <p:nvPr/>
          </p:nvSpPr>
          <p:spPr>
            <a:xfrm>
              <a:off x="6572250" y="18097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42" name="TextBox 42"/>
            <p:cNvSpPr txBox="1"/>
            <p:nvPr/>
          </p:nvSpPr>
          <p:spPr>
            <a:xfrm>
              <a:off x="6290470" y="1766173"/>
              <a:ext cx="238917" cy="140494"/>
            </a:xfrm>
            <a:prstGeom prst="rect">
              <a:avLst/>
            </a:prstGeom>
            <a:noFill/>
            <a:ln>
              <a:noFill/>
            </a:ln>
          </p:spPr>
          <p:txBody>
            <a:bodyPr wrap="none" lIns="0" tIns="0" rIns="0" bIns="0" anchor="t" anchorCtr="0">
              <a:spAutoFit/>
            </a:bodyPr>
            <a:lstStyle/>
            <a:p>
              <a:pPr algn="r"/>
              <a:r>
                <a:rPr lang="zh-CN" sz="710" dirty="0">
                  <a:solidFill>
                    <a:srgbClr val="666666"/>
                  </a:solidFill>
                  <a:latin typeface="+mn-lt"/>
                  <a:ea typeface="+mn-ea"/>
                  <a:cs typeface="+mn-cs"/>
                </a:rPr>
                <a:t>70%​</a:t>
              </a:r>
            </a:p>
          </p:txBody>
        </p:sp>
        <p:sp>
          <p:nvSpPr>
            <p:cNvPr id="43" name="Line 43"/>
            <p:cNvSpPr/>
            <p:nvPr/>
          </p:nvSpPr>
          <p:spPr>
            <a:xfrm>
              <a:off x="6572250" y="152400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44" name="TextBox 44"/>
            <p:cNvSpPr txBox="1"/>
            <p:nvPr/>
          </p:nvSpPr>
          <p:spPr>
            <a:xfrm>
              <a:off x="6290470" y="1480423"/>
              <a:ext cx="238917" cy="140494"/>
            </a:xfrm>
            <a:prstGeom prst="rect">
              <a:avLst/>
            </a:prstGeom>
            <a:noFill/>
            <a:ln>
              <a:noFill/>
            </a:ln>
          </p:spPr>
          <p:txBody>
            <a:bodyPr wrap="none" lIns="0" tIns="0" rIns="0" bIns="0" anchor="t" anchorCtr="0">
              <a:spAutoFit/>
            </a:bodyPr>
            <a:lstStyle/>
            <a:p>
              <a:pPr algn="r"/>
              <a:r>
                <a:rPr lang="zh-CN" sz="710" dirty="0">
                  <a:solidFill>
                    <a:srgbClr val="666666"/>
                  </a:solidFill>
                  <a:latin typeface="+mn-lt"/>
                  <a:ea typeface="+mn-ea"/>
                  <a:cs typeface="+mn-cs"/>
                </a:rPr>
                <a:t>80%​</a:t>
              </a:r>
            </a:p>
          </p:txBody>
        </p:sp>
        <p:sp>
          <p:nvSpPr>
            <p:cNvPr id="45" name="Rectangle 45"/>
            <p:cNvSpPr/>
            <p:nvPr/>
          </p:nvSpPr>
          <p:spPr>
            <a:xfrm>
              <a:off x="6696075" y="2981325"/>
              <a:ext cx="209550" cy="828675"/>
            </a:xfrm>
            <a:prstGeom prst="rect">
              <a:avLst/>
            </a:prstGeom>
            <a:solidFill>
              <a:srgbClr val="E96B52"/>
            </a:solidFill>
            <a:ln>
              <a:noFill/>
            </a:ln>
          </p:spPr>
        </p:sp>
        <p:sp>
          <p:nvSpPr>
            <p:cNvPr id="46" name="TextBox 46"/>
            <p:cNvSpPr txBox="1"/>
            <p:nvPr/>
          </p:nvSpPr>
          <p:spPr>
            <a:xfrm>
              <a:off x="6686238" y="2879884"/>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29%​</a:t>
              </a:r>
            </a:p>
          </p:txBody>
        </p:sp>
        <p:sp>
          <p:nvSpPr>
            <p:cNvPr id="47" name="Rectangle 47"/>
            <p:cNvSpPr/>
            <p:nvPr/>
          </p:nvSpPr>
          <p:spPr>
            <a:xfrm>
              <a:off x="6943725" y="1952625"/>
              <a:ext cx="209550" cy="1857375"/>
            </a:xfrm>
            <a:prstGeom prst="rect">
              <a:avLst/>
            </a:prstGeom>
            <a:solidFill>
              <a:srgbClr val="B61F00"/>
            </a:solidFill>
            <a:ln>
              <a:noFill/>
            </a:ln>
          </p:spPr>
        </p:sp>
        <p:sp>
          <p:nvSpPr>
            <p:cNvPr id="48" name="TextBox 48"/>
            <p:cNvSpPr txBox="1"/>
            <p:nvPr/>
          </p:nvSpPr>
          <p:spPr>
            <a:xfrm>
              <a:off x="6933888" y="1851184"/>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65%​</a:t>
              </a:r>
            </a:p>
          </p:txBody>
        </p:sp>
        <p:sp>
          <p:nvSpPr>
            <p:cNvPr id="49" name="Rectangle 49"/>
            <p:cNvSpPr/>
            <p:nvPr/>
          </p:nvSpPr>
          <p:spPr>
            <a:xfrm>
              <a:off x="7191375" y="3638550"/>
              <a:ext cx="209550" cy="171450"/>
            </a:xfrm>
            <a:prstGeom prst="rect">
              <a:avLst/>
            </a:prstGeom>
            <a:solidFill>
              <a:srgbClr val="7C1500"/>
            </a:solidFill>
            <a:ln>
              <a:noFill/>
            </a:ln>
          </p:spPr>
        </p:sp>
        <p:sp>
          <p:nvSpPr>
            <p:cNvPr id="50" name="TextBox 50"/>
            <p:cNvSpPr txBox="1"/>
            <p:nvPr/>
          </p:nvSpPr>
          <p:spPr>
            <a:xfrm>
              <a:off x="7206712" y="3537109"/>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6%​</a:t>
              </a:r>
            </a:p>
          </p:txBody>
        </p:sp>
        <p:sp>
          <p:nvSpPr>
            <p:cNvPr id="51" name="TextBox 51"/>
            <p:cNvSpPr txBox="1"/>
            <p:nvPr/>
          </p:nvSpPr>
          <p:spPr>
            <a:xfrm>
              <a:off x="6835480" y="3860959"/>
              <a:ext cx="426039" cy="133350"/>
            </a:xfrm>
            <a:prstGeom prst="rect">
              <a:avLst/>
            </a:prstGeom>
            <a:noFill/>
            <a:ln>
              <a:noFill/>
            </a:ln>
          </p:spPr>
          <p:txBody>
            <a:bodyPr wrap="none" lIns="0" tIns="0" rIns="0" bIns="0" anchor="t" anchorCtr="0">
              <a:spAutoFit/>
            </a:bodyPr>
            <a:lstStyle/>
            <a:p>
              <a:pPr algn="ctr"/>
              <a:r>
                <a:rPr lang="zh-CN" sz="680" dirty="0">
                  <a:solidFill>
                    <a:srgbClr val="666666"/>
                  </a:solidFill>
                  <a:latin typeface="+mn-lt"/>
                  <a:ea typeface="+mn-ea"/>
                  <a:cs typeface="+mn-cs"/>
                </a:rPr>
                <a:t>大型银行​</a:t>
              </a:r>
            </a:p>
          </p:txBody>
        </p:sp>
        <p:sp>
          <p:nvSpPr>
            <p:cNvPr id="52" name="Rectangle 52"/>
            <p:cNvSpPr/>
            <p:nvPr/>
          </p:nvSpPr>
          <p:spPr>
            <a:xfrm>
              <a:off x="7648575" y="3524250"/>
              <a:ext cx="209550" cy="285750"/>
            </a:xfrm>
            <a:prstGeom prst="rect">
              <a:avLst/>
            </a:prstGeom>
            <a:solidFill>
              <a:srgbClr val="E96B52"/>
            </a:solidFill>
            <a:ln>
              <a:noFill/>
            </a:ln>
          </p:spPr>
        </p:sp>
        <p:sp>
          <p:nvSpPr>
            <p:cNvPr id="53" name="TextBox 53"/>
            <p:cNvSpPr txBox="1"/>
            <p:nvPr/>
          </p:nvSpPr>
          <p:spPr>
            <a:xfrm>
              <a:off x="7638738" y="3422809"/>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10%​</a:t>
              </a:r>
            </a:p>
          </p:txBody>
        </p:sp>
        <p:sp>
          <p:nvSpPr>
            <p:cNvPr id="54" name="Rectangle 54"/>
            <p:cNvSpPr/>
            <p:nvPr/>
          </p:nvSpPr>
          <p:spPr>
            <a:xfrm>
              <a:off x="7896225" y="1638300"/>
              <a:ext cx="209550" cy="2171700"/>
            </a:xfrm>
            <a:prstGeom prst="rect">
              <a:avLst/>
            </a:prstGeom>
            <a:solidFill>
              <a:srgbClr val="B61F00"/>
            </a:solidFill>
            <a:ln>
              <a:noFill/>
            </a:ln>
          </p:spPr>
        </p:sp>
        <p:sp>
          <p:nvSpPr>
            <p:cNvPr id="55" name="TextBox 55"/>
            <p:cNvSpPr txBox="1"/>
            <p:nvPr/>
          </p:nvSpPr>
          <p:spPr>
            <a:xfrm>
              <a:off x="7886388" y="1536859"/>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76%​</a:t>
              </a:r>
            </a:p>
          </p:txBody>
        </p:sp>
        <p:sp>
          <p:nvSpPr>
            <p:cNvPr id="56" name="Rectangle 56"/>
            <p:cNvSpPr/>
            <p:nvPr/>
          </p:nvSpPr>
          <p:spPr>
            <a:xfrm>
              <a:off x="8143875" y="3409950"/>
              <a:ext cx="209550" cy="400050"/>
            </a:xfrm>
            <a:prstGeom prst="rect">
              <a:avLst/>
            </a:prstGeom>
            <a:solidFill>
              <a:srgbClr val="7C1500"/>
            </a:solidFill>
            <a:ln>
              <a:noFill/>
            </a:ln>
          </p:spPr>
        </p:sp>
        <p:sp>
          <p:nvSpPr>
            <p:cNvPr id="57" name="TextBox 57"/>
            <p:cNvSpPr txBox="1"/>
            <p:nvPr/>
          </p:nvSpPr>
          <p:spPr>
            <a:xfrm>
              <a:off x="8134038" y="3308509"/>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14%​</a:t>
              </a:r>
            </a:p>
          </p:txBody>
        </p:sp>
        <p:sp>
          <p:nvSpPr>
            <p:cNvPr id="58" name="TextBox 58"/>
            <p:cNvSpPr txBox="1"/>
            <p:nvPr/>
          </p:nvSpPr>
          <p:spPr>
            <a:xfrm>
              <a:off x="7787980" y="3860959"/>
              <a:ext cx="426039" cy="133350"/>
            </a:xfrm>
            <a:prstGeom prst="rect">
              <a:avLst/>
            </a:prstGeom>
            <a:noFill/>
            <a:ln>
              <a:noFill/>
            </a:ln>
          </p:spPr>
          <p:txBody>
            <a:bodyPr wrap="none" lIns="0" tIns="0" rIns="0" bIns="0" anchor="t" anchorCtr="0">
              <a:spAutoFit/>
            </a:bodyPr>
            <a:lstStyle/>
            <a:p>
              <a:pPr algn="ctr"/>
              <a:r>
                <a:rPr lang="zh-CN" sz="680" dirty="0">
                  <a:solidFill>
                    <a:srgbClr val="666666"/>
                  </a:solidFill>
                  <a:latin typeface="+mn-lt"/>
                  <a:ea typeface="+mn-ea"/>
                  <a:cs typeface="+mn-cs"/>
                </a:rPr>
                <a:t>中型银行​</a:t>
              </a:r>
            </a:p>
          </p:txBody>
        </p:sp>
        <p:sp>
          <p:nvSpPr>
            <p:cNvPr id="59" name="Rectangle 59"/>
            <p:cNvSpPr/>
            <p:nvPr/>
          </p:nvSpPr>
          <p:spPr>
            <a:xfrm>
              <a:off x="8601075" y="3667125"/>
              <a:ext cx="209550" cy="142875"/>
            </a:xfrm>
            <a:prstGeom prst="rect">
              <a:avLst/>
            </a:prstGeom>
            <a:solidFill>
              <a:srgbClr val="E96B52"/>
            </a:solidFill>
            <a:ln>
              <a:noFill/>
            </a:ln>
          </p:spPr>
        </p:sp>
        <p:sp>
          <p:nvSpPr>
            <p:cNvPr id="60" name="TextBox 60"/>
            <p:cNvSpPr txBox="1"/>
            <p:nvPr/>
          </p:nvSpPr>
          <p:spPr>
            <a:xfrm>
              <a:off x="8616412" y="3565684"/>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5%​</a:t>
              </a:r>
            </a:p>
          </p:txBody>
        </p:sp>
        <p:sp>
          <p:nvSpPr>
            <p:cNvPr id="61" name="Rectangle 61"/>
            <p:cNvSpPr/>
            <p:nvPr/>
          </p:nvSpPr>
          <p:spPr>
            <a:xfrm>
              <a:off x="8848725" y="3238500"/>
              <a:ext cx="209550" cy="571500"/>
            </a:xfrm>
            <a:prstGeom prst="rect">
              <a:avLst/>
            </a:prstGeom>
            <a:solidFill>
              <a:srgbClr val="B61F00"/>
            </a:solidFill>
            <a:ln>
              <a:noFill/>
            </a:ln>
          </p:spPr>
        </p:sp>
        <p:sp>
          <p:nvSpPr>
            <p:cNvPr id="62" name="TextBox 62"/>
            <p:cNvSpPr txBox="1"/>
            <p:nvPr/>
          </p:nvSpPr>
          <p:spPr>
            <a:xfrm>
              <a:off x="8838888" y="3137059"/>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20%​</a:t>
              </a:r>
            </a:p>
          </p:txBody>
        </p:sp>
        <p:sp>
          <p:nvSpPr>
            <p:cNvPr id="63" name="Rectangle 63"/>
            <p:cNvSpPr/>
            <p:nvPr/>
          </p:nvSpPr>
          <p:spPr>
            <a:xfrm>
              <a:off x="9096375" y="1666875"/>
              <a:ext cx="209550" cy="2143125"/>
            </a:xfrm>
            <a:prstGeom prst="rect">
              <a:avLst/>
            </a:prstGeom>
            <a:solidFill>
              <a:srgbClr val="7C1500"/>
            </a:solidFill>
            <a:ln>
              <a:noFill/>
            </a:ln>
          </p:spPr>
        </p:sp>
        <p:sp>
          <p:nvSpPr>
            <p:cNvPr id="64" name="TextBox 64"/>
            <p:cNvSpPr txBox="1"/>
            <p:nvPr/>
          </p:nvSpPr>
          <p:spPr>
            <a:xfrm>
              <a:off x="9086538" y="1565434"/>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75%​</a:t>
              </a:r>
            </a:p>
          </p:txBody>
        </p:sp>
        <p:sp>
          <p:nvSpPr>
            <p:cNvPr id="65" name="TextBox 65"/>
            <p:cNvSpPr txBox="1"/>
            <p:nvPr/>
          </p:nvSpPr>
          <p:spPr>
            <a:xfrm>
              <a:off x="8740480" y="3860959"/>
              <a:ext cx="426039" cy="133350"/>
            </a:xfrm>
            <a:prstGeom prst="rect">
              <a:avLst/>
            </a:prstGeom>
            <a:noFill/>
            <a:ln>
              <a:noFill/>
            </a:ln>
          </p:spPr>
          <p:txBody>
            <a:bodyPr wrap="none" lIns="0" tIns="0" rIns="0" bIns="0" anchor="t" anchorCtr="0">
              <a:spAutoFit/>
            </a:bodyPr>
            <a:lstStyle/>
            <a:p>
              <a:pPr algn="ctr"/>
              <a:r>
                <a:rPr lang="zh-CN" sz="680" dirty="0">
                  <a:solidFill>
                    <a:srgbClr val="666666"/>
                  </a:solidFill>
                  <a:latin typeface="+mn-lt"/>
                  <a:ea typeface="+mn-ea"/>
                  <a:cs typeface="+mn-cs"/>
                </a:rPr>
                <a:t>小型银行​</a:t>
              </a:r>
            </a:p>
          </p:txBody>
        </p:sp>
        <p:sp>
          <p:nvSpPr>
            <p:cNvPr id="66" name="Line 66"/>
            <p:cNvSpPr/>
            <p:nvPr/>
          </p:nvSpPr>
          <p:spPr>
            <a:xfrm>
              <a:off x="6572250" y="3810000"/>
              <a:ext cx="2857500" cy="9525"/>
            </a:xfrm>
            <a:custGeom>
              <a:avLst/>
              <a:gdLst/>
              <a:ahLst/>
              <a:cxnLst/>
              <a:rect l="l" t="t" r="r" b="b"/>
              <a:pathLst>
                <a:path w="2857500" h="9525">
                  <a:moveTo>
                    <a:pt x="0" y="0"/>
                  </a:moveTo>
                  <a:lnTo>
                    <a:pt x="2857500" y="0"/>
                  </a:lnTo>
                </a:path>
              </a:pathLst>
            </a:custGeom>
            <a:noFill/>
            <a:ln w="9525">
              <a:solidFill>
                <a:srgbClr val="666666"/>
              </a:solidFill>
            </a:ln>
          </p:spPr>
        </p:sp>
        <p:sp>
          <p:nvSpPr>
            <p:cNvPr id="67" name="Rectangle 67"/>
            <p:cNvSpPr/>
            <p:nvPr/>
          </p:nvSpPr>
          <p:spPr>
            <a:xfrm>
              <a:off x="6191250" y="4219575"/>
              <a:ext cx="95250" cy="95250"/>
            </a:xfrm>
            <a:prstGeom prst="rect">
              <a:avLst/>
            </a:prstGeom>
            <a:solidFill>
              <a:srgbClr val="E96B52"/>
            </a:solidFill>
            <a:ln>
              <a:noFill/>
            </a:ln>
          </p:spPr>
        </p:sp>
        <p:sp>
          <p:nvSpPr>
            <p:cNvPr id="68" name="TextBox 68"/>
            <p:cNvSpPr txBox="1"/>
            <p:nvPr/>
          </p:nvSpPr>
          <p:spPr>
            <a:xfrm>
              <a:off x="6329362" y="4232434"/>
              <a:ext cx="1018901"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同时为D-SIB与G-SIB​​​</a:t>
              </a:r>
            </a:p>
          </p:txBody>
        </p:sp>
        <p:sp>
          <p:nvSpPr>
            <p:cNvPr id="69" name="Rectangle 69"/>
            <p:cNvSpPr/>
            <p:nvPr/>
          </p:nvSpPr>
          <p:spPr>
            <a:xfrm>
              <a:off x="7462742" y="4219575"/>
              <a:ext cx="95250" cy="95250"/>
            </a:xfrm>
            <a:prstGeom prst="rect">
              <a:avLst/>
            </a:prstGeom>
            <a:solidFill>
              <a:srgbClr val="B61F00"/>
            </a:solidFill>
            <a:ln>
              <a:noFill/>
            </a:ln>
          </p:spPr>
        </p:sp>
        <p:sp>
          <p:nvSpPr>
            <p:cNvPr id="70" name="TextBox 70"/>
            <p:cNvSpPr txBox="1"/>
            <p:nvPr/>
          </p:nvSpPr>
          <p:spPr>
            <a:xfrm>
              <a:off x="7600855" y="4232434"/>
              <a:ext cx="449270"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仅D-SIB​​</a:t>
              </a:r>
            </a:p>
          </p:txBody>
        </p:sp>
        <p:sp>
          <p:nvSpPr>
            <p:cNvPr id="71" name="Rectangle 71"/>
            <p:cNvSpPr/>
            <p:nvPr/>
          </p:nvSpPr>
          <p:spPr>
            <a:xfrm>
              <a:off x="8121301" y="4219575"/>
              <a:ext cx="95250" cy="95250"/>
            </a:xfrm>
            <a:prstGeom prst="rect">
              <a:avLst/>
            </a:prstGeom>
            <a:solidFill>
              <a:srgbClr val="7C1500"/>
            </a:solidFill>
            <a:ln>
              <a:noFill/>
            </a:ln>
          </p:spPr>
        </p:sp>
        <p:sp>
          <p:nvSpPr>
            <p:cNvPr id="72" name="TextBox 72"/>
            <p:cNvSpPr txBox="1"/>
            <p:nvPr/>
          </p:nvSpPr>
          <p:spPr>
            <a:xfrm>
              <a:off x="8259413" y="4232434"/>
              <a:ext cx="590512"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均不是None​​</a:t>
              </a:r>
            </a:p>
          </p:txBody>
        </p:sp>
      </p:grpSp>
      <p:grpSp>
        <p:nvGrpSpPr>
          <p:cNvPr id="75" name="col-1"/>
          <p:cNvGrpSpPr/>
          <p:nvPr/>
        </p:nvGrpSpPr>
        <p:grpSpPr>
          <a:xfrm>
            <a:off x="566738" y="3827145"/>
            <a:ext cx="2472690" cy="900112"/>
            <a:chOff x="566738" y="3827145"/>
            <a:chExt cx="2472690" cy="900112"/>
          </a:xfrm>
        </p:grpSpPr>
        <p:sp>
          <p:nvSpPr>
            <p:cNvPr id="74" name="TextBox 74"/>
            <p:cNvSpPr txBox="1"/>
            <p:nvPr/>
          </p:nvSpPr>
          <p:spPr>
            <a:xfrm>
              <a:off x="566738" y="3827145"/>
              <a:ext cx="24726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这三类规模内的成熟度进一步用两个指标说明：​</a:t>
              </a:r>
              <a:br/>
              <a:r>
                <a:rPr lang="zh-CN" sz="900" dirty="0">
                  <a:solidFill>
                    <a:srgbClr val="333333"/>
                  </a:solidFill>
                  <a:latin typeface="+mn-lt"/>
                  <a:ea typeface="+mn-ea"/>
                  <a:cs typeface="+mn-cs"/>
                </a:rPr>
                <a:t>一是银行是否拥有监管批准的AIRB模型，二​​</a:t>
              </a:r>
              <a:br/>
              <a:r>
                <a:rPr lang="zh-CN" sz="900" dirty="0">
                  <a:solidFill>
                    <a:srgbClr val="333333"/>
                  </a:solidFill>
                  <a:latin typeface="+mn-lt"/>
                  <a:ea typeface="+mn-ea"/>
                  <a:cs typeface="+mn-cs"/>
                </a:rPr>
                <a:t>是银行是否为国内系统重要性银行（D-SIB）​​</a:t>
              </a:r>
              <a:br/>
              <a:r>
                <a:rPr lang="zh-CN" sz="900" dirty="0">
                  <a:solidFill>
                    <a:srgbClr val="333333"/>
                  </a:solidFill>
                  <a:latin typeface="+mn-lt"/>
                  <a:ea typeface="+mn-ea"/>
                  <a:cs typeface="+mn-cs"/>
                </a:rPr>
                <a:t>和/或全球系统重要性银行（G-SIB）——​​​​​​</a:t>
              </a:r>
              <a:br/>
              <a:r>
                <a:rPr lang="zh-CN" sz="900" dirty="0">
                  <a:solidFill>
                    <a:srgbClr val="333333"/>
                  </a:solidFill>
                  <a:latin typeface="+mn-lt"/>
                  <a:ea typeface="+mn-ea"/>
                  <a:cs typeface="+mn-cs"/>
                </a:rPr>
                <a:t>依据金融稳定理事会（FSB）的定义。​​</a:t>
              </a:r>
            </a:p>
          </p:txBody>
        </p:sp>
      </p:grpSp>
      <p:grpSp>
        <p:nvGrpSpPr>
          <p:cNvPr id="77" name="col-2"/>
          <p:cNvGrpSpPr/>
          <p:nvPr/>
        </p:nvGrpSpPr>
        <p:grpSpPr>
          <a:xfrm>
            <a:off x="3424238" y="3827145"/>
            <a:ext cx="2244090" cy="1985962"/>
            <a:chOff x="3424238" y="3827145"/>
            <a:chExt cx="2244090" cy="1985962"/>
          </a:xfrm>
        </p:grpSpPr>
        <p:sp>
          <p:nvSpPr>
            <p:cNvPr id="76" name="TextBox 76"/>
            <p:cNvSpPr txBox="1"/>
            <p:nvPr/>
          </p:nvSpPr>
          <p:spPr>
            <a:xfrm>
              <a:off x="3424238" y="3827145"/>
              <a:ext cx="2244090" cy="19859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第一个指标反映银行是否拥有监管批准的​</a:t>
              </a:r>
              <a:br/>
              <a:r>
                <a:rPr lang="zh-CN" sz="900" dirty="0">
                  <a:solidFill>
                    <a:srgbClr val="333333"/>
                  </a:solidFill>
                  <a:latin typeface="+mn-lt"/>
                  <a:ea typeface="+mn-ea"/>
                  <a:cs typeface="+mn-cs"/>
                </a:rPr>
                <a:t>AIRB模型。尽管调研参与者所在地区​</a:t>
              </a:r>
              <a:br/>
              <a:r>
                <a:rPr lang="zh-CN" sz="900" dirty="0">
                  <a:solidFill>
                    <a:srgbClr val="333333"/>
                  </a:solidFill>
                  <a:latin typeface="+mn-lt"/>
                  <a:ea typeface="+mn-ea"/>
                  <a:cs typeface="+mn-cs"/>
                </a:rPr>
                <a:t>拥有监管批准AIRB模型的市场实践各​​</a:t>
              </a:r>
              <a:br/>
              <a:r>
                <a:rPr lang="zh-CN" sz="900" dirty="0">
                  <a:solidFill>
                    <a:srgbClr val="333333"/>
                  </a:solidFill>
                  <a:latin typeface="+mn-lt"/>
                  <a:ea typeface="+mn-ea"/>
                  <a:cs typeface="+mn-cs"/>
                </a:rPr>
                <a:t>异，它仍是信用风险模型成熟度的指标。​</a:t>
              </a:r>
              <a:br/>
              <a:r>
                <a:rPr lang="zh-CN" sz="900" dirty="0">
                  <a:solidFill>
                    <a:srgbClr val="333333"/>
                  </a:solidFill>
                  <a:latin typeface="+mn-lt"/>
                  <a:ea typeface="+mn-ea"/>
                  <a:cs typeface="+mn-cs"/>
                </a:rPr>
                <a:t>信用风险模型对几乎所有银行都很重要，​</a:t>
              </a:r>
              <a:br/>
              <a:r>
                <a:rPr lang="zh-CN" sz="900" dirty="0">
                  <a:solidFill>
                    <a:srgbClr val="333333"/>
                  </a:solidFill>
                  <a:latin typeface="+mn-lt"/>
                  <a:ea typeface="+mn-ea"/>
                  <a:cs typeface="+mn-cs"/>
                </a:rPr>
                <a:t>因为它们衡量的是最重大的金融风险之一。​</a:t>
              </a:r>
              <a:br/>
              <a:r>
                <a:rPr lang="zh-CN" sz="900" dirty="0">
                  <a:solidFill>
                    <a:srgbClr val="333333"/>
                  </a:solidFill>
                  <a:latin typeface="+mn-lt"/>
                  <a:ea typeface="+mn-ea"/>
                  <a:cs typeface="+mn-cs"/>
                </a:rPr>
                <a:t>这也意味着第一个指标反映了信用风险模​</a:t>
              </a:r>
              <a:br/>
              <a:r>
                <a:rPr lang="zh-CN" sz="900" dirty="0">
                  <a:solidFill>
                    <a:srgbClr val="333333"/>
                  </a:solidFill>
                  <a:latin typeface="+mn-lt"/>
                  <a:ea typeface="+mn-ea"/>
                  <a:cs typeface="+mn-cs"/>
                </a:rPr>
                <a:t>型实践及其模型治理的成熟度。此外，这​</a:t>
              </a:r>
              <a:br/>
              <a:r>
                <a:rPr lang="zh-CN" sz="900" dirty="0">
                  <a:solidFill>
                    <a:srgbClr val="333333"/>
                  </a:solidFill>
                  <a:latin typeface="+mn-lt"/>
                  <a:ea typeface="+mn-ea"/>
                  <a:cs typeface="+mn-cs"/>
                </a:rPr>
                <a:t>意味着欧央行内部模型指引（ECB​</a:t>
              </a:r>
              <a:br/>
              <a:r>
                <a:rPr lang="zh-CN" sz="900" dirty="0">
                  <a:solidFill>
                    <a:srgbClr val="333333"/>
                  </a:solidFill>
                  <a:latin typeface="+mn-lt"/>
                  <a:ea typeface="+mn-ea"/>
                  <a:cs typeface="+mn-cs"/>
                </a:rPr>
                <a:t>guide to internal models）适用，其​</a:t>
              </a:r>
              <a:br/>
              <a:r>
                <a:rPr lang="zh-CN" sz="900" dirty="0">
                  <a:solidFill>
                    <a:srgbClr val="333333"/>
                  </a:solidFill>
                  <a:latin typeface="+mn-lt"/>
                  <a:ea typeface="+mn-ea"/>
                  <a:cs typeface="+mn-cs"/>
                </a:rPr>
                <a:t>中也包含模型风险管理的指引。​</a:t>
              </a:r>
            </a:p>
          </p:txBody>
        </p:sp>
      </p:grpSp>
      <p:grpSp>
        <p:nvGrpSpPr>
          <p:cNvPr id="111" name="nav"/>
          <p:cNvGrpSpPr/>
          <p:nvPr/>
        </p:nvGrpSpPr>
        <p:grpSpPr>
          <a:xfrm>
            <a:off x="9834562" y="0"/>
            <a:ext cx="2357438" cy="6858000"/>
            <a:chOff x="9834562" y="0"/>
            <a:chExt cx="2357438" cy="6858000"/>
          </a:xfrm>
        </p:grpSpPr>
        <p:sp>
          <p:nvSpPr>
            <p:cNvPr id="78" name="Line 78"/>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79" name="Rectangle 79"/>
            <p:cNvSpPr/>
            <p:nvPr/>
          </p:nvSpPr>
          <p:spPr>
            <a:xfrm>
              <a:off x="9839325" y="476250"/>
              <a:ext cx="2352675" cy="514350"/>
            </a:xfrm>
            <a:prstGeom prst="rect">
              <a:avLst/>
            </a:prstGeom>
            <a:solidFill>
              <a:srgbClr val="F3F3F3"/>
            </a:solidFill>
            <a:ln>
              <a:noFill/>
            </a:ln>
          </p:spPr>
        </p:sp>
        <p:sp>
          <p:nvSpPr>
            <p:cNvPr id="80" name="TextBox 80"/>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81" name="Rectangle 81"/>
            <p:cNvSpPr/>
            <p:nvPr/>
          </p:nvSpPr>
          <p:spPr>
            <a:xfrm>
              <a:off x="9839325" y="1000125"/>
              <a:ext cx="2352675" cy="514350"/>
            </a:xfrm>
            <a:prstGeom prst="rect">
              <a:avLst/>
            </a:prstGeom>
            <a:solidFill>
              <a:srgbClr val="F3F3F3"/>
            </a:solidFill>
            <a:ln>
              <a:noFill/>
            </a:ln>
          </p:spPr>
        </p:sp>
        <p:sp>
          <p:nvSpPr>
            <p:cNvPr id="82" name="TextBox 82"/>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83" name="Rectangle 83"/>
            <p:cNvSpPr/>
            <p:nvPr/>
          </p:nvSpPr>
          <p:spPr>
            <a:xfrm>
              <a:off x="9839325" y="1524000"/>
              <a:ext cx="2352675" cy="514350"/>
            </a:xfrm>
            <a:prstGeom prst="rect">
              <a:avLst/>
            </a:prstGeom>
            <a:solidFill>
              <a:srgbClr val="F3F3F3"/>
            </a:solidFill>
            <a:ln>
              <a:noFill/>
            </a:ln>
          </p:spPr>
        </p:sp>
        <p:sp>
          <p:nvSpPr>
            <p:cNvPr id="84" name="TextBox 84"/>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85" name="Rectangle 85"/>
            <p:cNvSpPr/>
            <p:nvPr/>
          </p:nvSpPr>
          <p:spPr>
            <a:xfrm>
              <a:off x="9839325" y="2047875"/>
              <a:ext cx="2352675" cy="514350"/>
            </a:xfrm>
            <a:prstGeom prst="rect">
              <a:avLst/>
            </a:prstGeom>
            <a:solidFill>
              <a:srgbClr val="E96B52"/>
            </a:solidFill>
            <a:ln>
              <a:noFill/>
            </a:ln>
          </p:spPr>
        </p:sp>
        <p:sp>
          <p:nvSpPr>
            <p:cNvPr id="86" name="TextBox 86"/>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关于本次调研</a:t>
              </a:r>
            </a:p>
          </p:txBody>
        </p:sp>
        <p:sp>
          <p:nvSpPr>
            <p:cNvPr id="87" name="Rectangle 87"/>
            <p:cNvSpPr/>
            <p:nvPr/>
          </p:nvSpPr>
          <p:spPr>
            <a:xfrm>
              <a:off x="9839325" y="2571750"/>
              <a:ext cx="2352675" cy="514350"/>
            </a:xfrm>
            <a:prstGeom prst="rect">
              <a:avLst/>
            </a:prstGeom>
            <a:solidFill>
              <a:srgbClr val="F3F3F3"/>
            </a:solidFill>
            <a:ln>
              <a:noFill/>
            </a:ln>
          </p:spPr>
        </p:sp>
        <p:sp>
          <p:nvSpPr>
            <p:cNvPr id="88" name="TextBox 88"/>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89" name="Rectangle 89"/>
            <p:cNvSpPr/>
            <p:nvPr/>
          </p:nvSpPr>
          <p:spPr>
            <a:xfrm>
              <a:off x="9839325" y="3095625"/>
              <a:ext cx="2352675" cy="514350"/>
            </a:xfrm>
            <a:prstGeom prst="rect">
              <a:avLst/>
            </a:prstGeom>
            <a:solidFill>
              <a:srgbClr val="F3F3F3"/>
            </a:solidFill>
            <a:ln>
              <a:noFill/>
            </a:ln>
          </p:spPr>
        </p:sp>
        <p:sp>
          <p:nvSpPr>
            <p:cNvPr id="90" name="TextBox 90"/>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91" name="Rectangle 91"/>
            <p:cNvSpPr/>
            <p:nvPr/>
          </p:nvSpPr>
          <p:spPr>
            <a:xfrm>
              <a:off x="9839325" y="3619500"/>
              <a:ext cx="2352675" cy="514350"/>
            </a:xfrm>
            <a:prstGeom prst="rect">
              <a:avLst/>
            </a:prstGeom>
            <a:solidFill>
              <a:srgbClr val="F3F3F3"/>
            </a:solidFill>
            <a:ln>
              <a:noFill/>
            </a:ln>
          </p:spPr>
        </p:sp>
        <p:sp>
          <p:nvSpPr>
            <p:cNvPr id="92" name="TextBox 92"/>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93" name="Rectangle 93"/>
            <p:cNvSpPr/>
            <p:nvPr/>
          </p:nvSpPr>
          <p:spPr>
            <a:xfrm>
              <a:off x="9839325" y="4143375"/>
              <a:ext cx="2352675" cy="514350"/>
            </a:xfrm>
            <a:prstGeom prst="rect">
              <a:avLst/>
            </a:prstGeom>
            <a:solidFill>
              <a:srgbClr val="F3F3F3"/>
            </a:solidFill>
            <a:ln>
              <a:noFill/>
            </a:ln>
          </p:spPr>
        </p:sp>
        <p:sp>
          <p:nvSpPr>
            <p:cNvPr id="94" name="TextBox 94"/>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95" name="Rectangle 95"/>
            <p:cNvSpPr/>
            <p:nvPr/>
          </p:nvSpPr>
          <p:spPr>
            <a:xfrm>
              <a:off x="9839325" y="4667250"/>
              <a:ext cx="2352675" cy="514350"/>
            </a:xfrm>
            <a:prstGeom prst="rect">
              <a:avLst/>
            </a:prstGeom>
            <a:solidFill>
              <a:srgbClr val="F3F3F3"/>
            </a:solidFill>
            <a:ln>
              <a:noFill/>
            </a:ln>
          </p:spPr>
        </p:sp>
        <p:sp>
          <p:nvSpPr>
            <p:cNvPr id="96" name="TextBox 96"/>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97" name="Rectangle 97"/>
            <p:cNvSpPr/>
            <p:nvPr/>
          </p:nvSpPr>
          <p:spPr>
            <a:xfrm>
              <a:off x="9839325" y="5191125"/>
              <a:ext cx="2352675" cy="514350"/>
            </a:xfrm>
            <a:prstGeom prst="rect">
              <a:avLst/>
            </a:prstGeom>
            <a:solidFill>
              <a:srgbClr val="F3F3F3"/>
            </a:solidFill>
            <a:ln>
              <a:noFill/>
            </a:ln>
          </p:spPr>
        </p:sp>
        <p:sp>
          <p:nvSpPr>
            <p:cNvPr id="98" name="TextBox 98"/>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99" name="Rectangle 99"/>
            <p:cNvSpPr/>
            <p:nvPr/>
          </p:nvSpPr>
          <p:spPr>
            <a:xfrm>
              <a:off x="9839325" y="5715000"/>
              <a:ext cx="2352675" cy="514350"/>
            </a:xfrm>
            <a:prstGeom prst="rect">
              <a:avLst/>
            </a:prstGeom>
            <a:solidFill>
              <a:srgbClr val="F3F3F3"/>
            </a:solidFill>
            <a:ln>
              <a:noFill/>
            </a:ln>
          </p:spPr>
        </p:sp>
        <p:sp>
          <p:nvSpPr>
            <p:cNvPr id="100" name="TextBox 100"/>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01" name="Ellipse 101"/>
            <p:cNvSpPr/>
            <p:nvPr/>
          </p:nvSpPr>
          <p:spPr>
            <a:xfrm>
              <a:off x="10020300" y="6372225"/>
              <a:ext cx="266700" cy="266700"/>
            </a:xfrm>
            <a:prstGeom prst="ellipse">
              <a:avLst/>
            </a:prstGeom>
            <a:solidFill>
              <a:srgbClr val="D7D8D6"/>
            </a:solidFill>
            <a:ln>
              <a:noFill/>
            </a:ln>
          </p:spPr>
        </p:sp>
        <p:sp>
          <p:nvSpPr>
            <p:cNvPr id="102" name="Freeform 102"/>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03" name="Ellipse 103"/>
            <p:cNvSpPr/>
            <p:nvPr/>
          </p:nvSpPr>
          <p:spPr>
            <a:xfrm>
              <a:off x="10420350" y="6372225"/>
              <a:ext cx="266700" cy="266700"/>
            </a:xfrm>
            <a:prstGeom prst="ellipse">
              <a:avLst/>
            </a:prstGeom>
            <a:solidFill>
              <a:srgbClr val="D7D8D6"/>
            </a:solidFill>
            <a:ln>
              <a:noFill/>
            </a:ln>
          </p:spPr>
        </p:sp>
        <p:grpSp>
          <p:nvGrpSpPr>
            <p:cNvPr id="107" name="Group 107"/>
            <p:cNvGrpSpPr/>
            <p:nvPr/>
          </p:nvGrpSpPr>
          <p:grpSpPr>
            <a:xfrm>
              <a:off x="10489406" y="6441281"/>
              <a:ext cx="128588" cy="128588"/>
              <a:chOff x="10489406" y="6441281"/>
              <a:chExt cx="128588" cy="128588"/>
            </a:xfrm>
          </p:grpSpPr>
          <p:sp>
            <p:nvSpPr>
              <p:cNvPr id="104" name="Freeform 104"/>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05" name="Freeform 105"/>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06" name="Freeform 106"/>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08" name="Ellipse 108"/>
            <p:cNvSpPr/>
            <p:nvPr/>
          </p:nvSpPr>
          <p:spPr>
            <a:xfrm>
              <a:off x="10820400" y="6372225"/>
              <a:ext cx="266700" cy="266700"/>
            </a:xfrm>
            <a:prstGeom prst="ellipse">
              <a:avLst/>
            </a:prstGeom>
            <a:solidFill>
              <a:srgbClr val="D7D8D6"/>
            </a:solidFill>
            <a:ln>
              <a:noFill/>
            </a:ln>
          </p:spPr>
        </p:sp>
        <p:sp>
          <p:nvSpPr>
            <p:cNvPr id="109" name="Freeform 109"/>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10" name="TextBox 110"/>
            <p:cNvSpPr txBox="1"/>
            <p:nvPr/>
          </p:nvSpPr>
          <p:spPr>
            <a:xfrm>
              <a:off x="11872951" y="6456045"/>
              <a:ext cx="76162"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8</a:t>
              </a:r>
            </a:p>
          </p:txBody>
        </p:sp>
      </p:gr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6B52"/>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09</a:t>
              </a:r>
            </a:p>
          </p:txBody>
        </p:sp>
        <p:sp>
          <p:nvSpPr>
            <p:cNvPr id="4" name="TextBox 4"/>
            <p:cNvSpPr txBox="1"/>
            <p:nvPr/>
          </p:nvSpPr>
          <p:spPr>
            <a:xfrm>
              <a:off x="942594" y="151448"/>
              <a:ext cx="537811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 xml:space="preserve">关于本次调研 </a:t>
              </a:r>
              <a:r>
                <a:rPr lang="en-US" sz="1950" b="1" dirty="0">
                  <a:solidFill>
                    <a:srgbClr val="E96B52"/>
                  </a:solidFill>
                  <a:latin typeface="+mj-lt"/>
                  <a:ea typeface="+mj-ea"/>
                  <a:cs typeface="+mj-cs"/>
                </a:rPr>
                <a:t>About the survey</a:t>
              </a:r>
              <a:r>
                <a:rPr lang="zh-CN" sz="1950" b="1" dirty="0">
                  <a:solidFill>
                    <a:srgbClr val="1A1A1A"/>
                  </a:solidFill>
                  <a:latin typeface="+mj-lt"/>
                  <a:ea typeface="+mj-ea"/>
                  <a:cs typeface="+mj-cs"/>
                </a:rPr>
                <a:t>（三）​​</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E96B52"/>
              </a:solidFill>
            </a:ln>
          </p:spPr>
        </p:sp>
      </p:grpSp>
      <p:grpSp>
        <p:nvGrpSpPr>
          <p:cNvPr id="28" name="figure-5"/>
          <p:cNvGrpSpPr/>
          <p:nvPr/>
        </p:nvGrpSpPr>
        <p:grpSpPr>
          <a:xfrm>
            <a:off x="558927" y="882491"/>
            <a:ext cx="5089398" cy="2416493"/>
            <a:chOff x="558927" y="882491"/>
            <a:chExt cx="5089398" cy="2416493"/>
          </a:xfrm>
        </p:grpSpPr>
        <p:sp>
          <p:nvSpPr>
            <p:cNvPr id="7" name="TextBox 7"/>
            <p:cNvSpPr txBox="1"/>
            <p:nvPr/>
          </p:nvSpPr>
          <p:spPr>
            <a:xfrm>
              <a:off x="566738" y="882491"/>
              <a:ext cx="2983763"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图5. 拥有监管批准AIRB模型的银行比例（按三类规模）​​​​</a:t>
              </a:r>
            </a:p>
          </p:txBody>
        </p:sp>
        <p:sp>
          <p:nvSpPr>
            <p:cNvPr id="8" name="TextBox 8"/>
            <p:cNvSpPr txBox="1"/>
            <p:nvPr/>
          </p:nvSpPr>
          <p:spPr>
            <a:xfrm>
              <a:off x="566738" y="1032034"/>
              <a:ext cx="4515329"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Percentage of banks that have regulatory approved AIRB models, across the three size categories​​</a:t>
              </a:r>
            </a:p>
          </p:txBody>
        </p:sp>
        <p:sp>
          <p:nvSpPr>
            <p:cNvPr id="9" name="Freeform 9"/>
            <p:cNvSpPr/>
            <p:nvPr/>
          </p:nvSpPr>
          <p:spPr>
            <a:xfrm>
              <a:off x="733425" y="1590675"/>
              <a:ext cx="1295400" cy="1295400"/>
            </a:xfrm>
            <a:prstGeom prst="blockArc">
              <a:avLst>
                <a:gd name="adj1" fmla="val 16200000"/>
                <a:gd name="adj2" fmla="val 2160000"/>
                <a:gd name="adj3" fmla="val 16176"/>
              </a:avLst>
            </a:prstGeom>
            <a:solidFill>
              <a:srgbClr val="E96B52"/>
            </a:solidFill>
            <a:ln>
              <a:noFill/>
            </a:ln>
          </p:spPr>
        </p:sp>
        <p:sp>
          <p:nvSpPr>
            <p:cNvPr id="10" name="Freeform 10"/>
            <p:cNvSpPr/>
            <p:nvPr/>
          </p:nvSpPr>
          <p:spPr>
            <a:xfrm>
              <a:off x="733425" y="1590675"/>
              <a:ext cx="1295400" cy="1295400"/>
            </a:xfrm>
            <a:prstGeom prst="blockArc">
              <a:avLst>
                <a:gd name="adj1" fmla="val 2160000"/>
                <a:gd name="adj2" fmla="val 16200000"/>
                <a:gd name="adj3" fmla="val 16176"/>
              </a:avLst>
            </a:prstGeom>
            <a:solidFill>
              <a:srgbClr val="DDDDDD"/>
            </a:solidFill>
            <a:ln>
              <a:noFill/>
            </a:ln>
          </p:spPr>
        </p:sp>
        <p:sp>
          <p:nvSpPr>
            <p:cNvPr id="11" name="Freeform 11"/>
            <p:cNvSpPr/>
            <p:nvPr/>
          </p:nvSpPr>
          <p:spPr>
            <a:xfrm>
              <a:off x="2543175" y="1590675"/>
              <a:ext cx="1295400" cy="1295400"/>
            </a:xfrm>
            <a:prstGeom prst="blockArc">
              <a:avLst>
                <a:gd name="adj1" fmla="val 16200000"/>
                <a:gd name="adj2" fmla="val 9504000"/>
                <a:gd name="adj3" fmla="val 16176"/>
              </a:avLst>
            </a:prstGeom>
            <a:solidFill>
              <a:srgbClr val="E96B52"/>
            </a:solidFill>
            <a:ln>
              <a:noFill/>
            </a:ln>
          </p:spPr>
        </p:sp>
        <p:sp>
          <p:nvSpPr>
            <p:cNvPr id="12" name="Freeform 12"/>
            <p:cNvSpPr/>
            <p:nvPr/>
          </p:nvSpPr>
          <p:spPr>
            <a:xfrm>
              <a:off x="2543175" y="1590675"/>
              <a:ext cx="1295400" cy="1295400"/>
            </a:xfrm>
            <a:prstGeom prst="blockArc">
              <a:avLst>
                <a:gd name="adj1" fmla="val 9504000"/>
                <a:gd name="adj2" fmla="val 16200000"/>
                <a:gd name="adj3" fmla="val 16176"/>
              </a:avLst>
            </a:prstGeom>
            <a:solidFill>
              <a:srgbClr val="DDDDDD"/>
            </a:solidFill>
            <a:ln>
              <a:noFill/>
            </a:ln>
          </p:spPr>
        </p:sp>
        <p:sp>
          <p:nvSpPr>
            <p:cNvPr id="13" name="Freeform 13"/>
            <p:cNvSpPr/>
            <p:nvPr/>
          </p:nvSpPr>
          <p:spPr>
            <a:xfrm>
              <a:off x="4352925" y="1590675"/>
              <a:ext cx="1295400" cy="1295400"/>
            </a:xfrm>
            <a:prstGeom prst="blockArc">
              <a:avLst>
                <a:gd name="adj1" fmla="val 16200000"/>
                <a:gd name="adj2" fmla="val 13392000"/>
                <a:gd name="adj3" fmla="val 16176"/>
              </a:avLst>
            </a:prstGeom>
            <a:solidFill>
              <a:srgbClr val="E96B52"/>
            </a:solidFill>
            <a:ln>
              <a:noFill/>
            </a:ln>
          </p:spPr>
        </p:sp>
        <p:sp>
          <p:nvSpPr>
            <p:cNvPr id="14" name="Freeform 14"/>
            <p:cNvSpPr/>
            <p:nvPr/>
          </p:nvSpPr>
          <p:spPr>
            <a:xfrm>
              <a:off x="4352925" y="1590675"/>
              <a:ext cx="1295400" cy="1295400"/>
            </a:xfrm>
            <a:prstGeom prst="blockArc">
              <a:avLst>
                <a:gd name="adj1" fmla="val 13392000"/>
                <a:gd name="adj2" fmla="val 16200000"/>
                <a:gd name="adj3" fmla="val 16176"/>
              </a:avLst>
            </a:prstGeom>
            <a:solidFill>
              <a:srgbClr val="DDDDDD"/>
            </a:solidFill>
            <a:ln>
              <a:noFill/>
            </a:ln>
          </p:spPr>
        </p:sp>
        <p:sp>
          <p:nvSpPr>
            <p:cNvPr id="15" name="TextBox 15"/>
            <p:cNvSpPr txBox="1"/>
            <p:nvPr/>
          </p:nvSpPr>
          <p:spPr>
            <a:xfrm>
              <a:off x="868002" y="2199561"/>
              <a:ext cx="1026246"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小型银行Small banks​​</a:t>
              </a:r>
            </a:p>
          </p:txBody>
        </p:sp>
        <p:sp>
          <p:nvSpPr>
            <p:cNvPr id="16" name="TextBox 16"/>
            <p:cNvSpPr txBox="1"/>
            <p:nvPr/>
          </p:nvSpPr>
          <p:spPr>
            <a:xfrm>
              <a:off x="1945424" y="1841182"/>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35%​</a:t>
              </a:r>
            </a:p>
          </p:txBody>
        </p:sp>
        <p:sp>
          <p:nvSpPr>
            <p:cNvPr id="17" name="TextBox 17"/>
            <p:cNvSpPr txBox="1"/>
            <p:nvPr/>
          </p:nvSpPr>
          <p:spPr>
            <a:xfrm>
              <a:off x="558927" y="2549842"/>
              <a:ext cx="251841"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65%​</a:t>
              </a:r>
            </a:p>
          </p:txBody>
        </p:sp>
        <p:sp>
          <p:nvSpPr>
            <p:cNvPr id="18" name="TextBox 18"/>
            <p:cNvSpPr txBox="1"/>
            <p:nvPr/>
          </p:nvSpPr>
          <p:spPr>
            <a:xfrm>
              <a:off x="2629878" y="2199561"/>
              <a:ext cx="1121993"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中型银行Medium banks​​</a:t>
              </a:r>
            </a:p>
          </p:txBody>
        </p:sp>
        <p:sp>
          <p:nvSpPr>
            <p:cNvPr id="19" name="TextBox 19"/>
            <p:cNvSpPr txBox="1"/>
            <p:nvPr/>
          </p:nvSpPr>
          <p:spPr>
            <a:xfrm>
              <a:off x="3704692" y="2634615"/>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69%​</a:t>
              </a:r>
            </a:p>
          </p:txBody>
        </p:sp>
        <p:sp>
          <p:nvSpPr>
            <p:cNvPr id="20" name="TextBox 20"/>
            <p:cNvSpPr txBox="1"/>
            <p:nvPr/>
          </p:nvSpPr>
          <p:spPr>
            <a:xfrm>
              <a:off x="2419160" y="1756410"/>
              <a:ext cx="251841"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31%​</a:t>
              </a:r>
            </a:p>
          </p:txBody>
        </p:sp>
        <p:sp>
          <p:nvSpPr>
            <p:cNvPr id="21" name="TextBox 21"/>
            <p:cNvSpPr txBox="1"/>
            <p:nvPr/>
          </p:nvSpPr>
          <p:spPr>
            <a:xfrm>
              <a:off x="4473084" y="2199561"/>
              <a:ext cx="1055082"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大型银行Large banks​​</a:t>
              </a:r>
            </a:p>
          </p:txBody>
        </p:sp>
        <p:sp>
          <p:nvSpPr>
            <p:cNvPr id="22" name="TextBox 22"/>
            <p:cNvSpPr txBox="1"/>
            <p:nvPr/>
          </p:nvSpPr>
          <p:spPr>
            <a:xfrm>
              <a:off x="5179162" y="2912745"/>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87%​</a:t>
              </a:r>
            </a:p>
          </p:txBody>
        </p:sp>
        <p:sp>
          <p:nvSpPr>
            <p:cNvPr id="23" name="TextBox 23"/>
            <p:cNvSpPr txBox="1"/>
            <p:nvPr/>
          </p:nvSpPr>
          <p:spPr>
            <a:xfrm>
              <a:off x="4564189" y="1478280"/>
              <a:ext cx="251841"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13%​</a:t>
              </a:r>
            </a:p>
          </p:txBody>
        </p:sp>
        <p:sp>
          <p:nvSpPr>
            <p:cNvPr id="24" name="Rectangle 24"/>
            <p:cNvSpPr/>
            <p:nvPr/>
          </p:nvSpPr>
          <p:spPr>
            <a:xfrm>
              <a:off x="571500" y="3152775"/>
              <a:ext cx="95250" cy="95250"/>
            </a:xfrm>
            <a:prstGeom prst="rect">
              <a:avLst/>
            </a:prstGeom>
            <a:solidFill>
              <a:srgbClr val="E96B52"/>
            </a:solidFill>
            <a:ln>
              <a:noFill/>
            </a:ln>
          </p:spPr>
        </p:sp>
        <p:sp>
          <p:nvSpPr>
            <p:cNvPr id="25" name="TextBox 25"/>
            <p:cNvSpPr txBox="1"/>
            <p:nvPr/>
          </p:nvSpPr>
          <p:spPr>
            <a:xfrm>
              <a:off x="709612" y="3165634"/>
              <a:ext cx="35755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是Yes​​</a:t>
              </a:r>
            </a:p>
          </p:txBody>
        </p:sp>
        <p:sp>
          <p:nvSpPr>
            <p:cNvPr id="26" name="Rectangle 26"/>
            <p:cNvSpPr/>
            <p:nvPr/>
          </p:nvSpPr>
          <p:spPr>
            <a:xfrm>
              <a:off x="1146048" y="3152775"/>
              <a:ext cx="95250" cy="95250"/>
            </a:xfrm>
            <a:prstGeom prst="rect">
              <a:avLst/>
            </a:prstGeom>
            <a:solidFill>
              <a:srgbClr val="DDDDDD"/>
            </a:solidFill>
            <a:ln>
              <a:noFill/>
            </a:ln>
          </p:spPr>
        </p:sp>
        <p:sp>
          <p:nvSpPr>
            <p:cNvPr id="27" name="TextBox 27"/>
            <p:cNvSpPr txBox="1"/>
            <p:nvPr/>
          </p:nvSpPr>
          <p:spPr>
            <a:xfrm>
              <a:off x="1284160" y="3165634"/>
              <a:ext cx="30815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否No​​</a:t>
              </a:r>
            </a:p>
          </p:txBody>
        </p:sp>
      </p:grpSp>
      <p:grpSp>
        <p:nvGrpSpPr>
          <p:cNvPr id="30" name="country-note"/>
          <p:cNvGrpSpPr/>
          <p:nvPr/>
        </p:nvGrpSpPr>
        <p:grpSpPr>
          <a:xfrm>
            <a:off x="566738" y="3541395"/>
            <a:ext cx="3062707" cy="176212"/>
            <a:chOff x="566738" y="3541395"/>
            <a:chExt cx="3062707" cy="176212"/>
          </a:xfrm>
        </p:grpSpPr>
        <p:sp>
          <p:nvSpPr>
            <p:cNvPr id="29" name="TextBox 29"/>
            <p:cNvSpPr txBox="1"/>
            <p:nvPr/>
          </p:nvSpPr>
          <p:spPr>
            <a:xfrm>
              <a:off x="566738" y="3541395"/>
              <a:ext cx="3062707"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参与调研的银行来自18个不同的国家，多数来自欧洲。​​</a:t>
              </a:r>
            </a:p>
          </p:txBody>
        </p:sp>
      </p:grpSp>
      <p:grpSp>
        <p:nvGrpSpPr>
          <p:cNvPr id="101" name="figure-6"/>
          <p:cNvGrpSpPr/>
          <p:nvPr/>
        </p:nvGrpSpPr>
        <p:grpSpPr>
          <a:xfrm>
            <a:off x="566738" y="3854291"/>
            <a:ext cx="5357812" cy="2518172"/>
            <a:chOff x="566738" y="3854291"/>
            <a:chExt cx="5357812" cy="2518172"/>
          </a:xfrm>
        </p:grpSpPr>
        <p:sp>
          <p:nvSpPr>
            <p:cNvPr id="31" name="TextBox 31"/>
            <p:cNvSpPr txBox="1"/>
            <p:nvPr/>
          </p:nvSpPr>
          <p:spPr>
            <a:xfrm>
              <a:off x="566738" y="3854291"/>
              <a:ext cx="3197369"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图6. 各国银行占比Percentage of banks in each country​​​</a:t>
              </a:r>
            </a:p>
          </p:txBody>
        </p:sp>
        <p:sp>
          <p:nvSpPr>
            <p:cNvPr id="32" name="Line 32"/>
            <p:cNvSpPr/>
            <p:nvPr/>
          </p:nvSpPr>
          <p:spPr>
            <a:xfrm>
              <a:off x="857250" y="6191250"/>
              <a:ext cx="5067300" cy="9525"/>
            </a:xfrm>
            <a:custGeom>
              <a:avLst/>
              <a:gdLst/>
              <a:ahLst/>
              <a:cxnLst/>
              <a:rect l="l" t="t" r="r" b="b"/>
              <a:pathLst>
                <a:path w="5067300" h="9525">
                  <a:moveTo>
                    <a:pt x="0" y="0"/>
                  </a:moveTo>
                  <a:lnTo>
                    <a:pt x="5067300" y="0"/>
                  </a:lnTo>
                </a:path>
              </a:pathLst>
            </a:custGeom>
            <a:noFill/>
            <a:ln w="7620">
              <a:solidFill>
                <a:srgbClr val="E6E6E6"/>
              </a:solidFill>
            </a:ln>
          </p:spPr>
        </p:sp>
        <p:sp>
          <p:nvSpPr>
            <p:cNvPr id="33" name="TextBox 33"/>
            <p:cNvSpPr txBox="1"/>
            <p:nvPr/>
          </p:nvSpPr>
          <p:spPr>
            <a:xfrm>
              <a:off x="635511" y="6151721"/>
              <a:ext cx="178877"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0%​</a:t>
              </a:r>
            </a:p>
          </p:txBody>
        </p:sp>
        <p:sp>
          <p:nvSpPr>
            <p:cNvPr id="34" name="Line 34"/>
            <p:cNvSpPr/>
            <p:nvPr/>
          </p:nvSpPr>
          <p:spPr>
            <a:xfrm>
              <a:off x="857250" y="5857875"/>
              <a:ext cx="5067300" cy="9525"/>
            </a:xfrm>
            <a:custGeom>
              <a:avLst/>
              <a:gdLst/>
              <a:ahLst/>
              <a:cxnLst/>
              <a:rect l="l" t="t" r="r" b="b"/>
              <a:pathLst>
                <a:path w="5067300" h="9525">
                  <a:moveTo>
                    <a:pt x="0" y="0"/>
                  </a:moveTo>
                  <a:lnTo>
                    <a:pt x="5067300" y="0"/>
                  </a:lnTo>
                </a:path>
              </a:pathLst>
            </a:custGeom>
            <a:noFill/>
            <a:ln w="7620">
              <a:solidFill>
                <a:srgbClr val="E6E6E6"/>
              </a:solidFill>
            </a:ln>
          </p:spPr>
        </p:sp>
        <p:sp>
          <p:nvSpPr>
            <p:cNvPr id="35" name="TextBox 35"/>
            <p:cNvSpPr txBox="1"/>
            <p:nvPr/>
          </p:nvSpPr>
          <p:spPr>
            <a:xfrm>
              <a:off x="635511" y="5818346"/>
              <a:ext cx="178877"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2%​</a:t>
              </a:r>
            </a:p>
          </p:txBody>
        </p:sp>
        <p:sp>
          <p:nvSpPr>
            <p:cNvPr id="36" name="Line 36"/>
            <p:cNvSpPr/>
            <p:nvPr/>
          </p:nvSpPr>
          <p:spPr>
            <a:xfrm>
              <a:off x="857250" y="5524500"/>
              <a:ext cx="5067300" cy="9525"/>
            </a:xfrm>
            <a:custGeom>
              <a:avLst/>
              <a:gdLst/>
              <a:ahLst/>
              <a:cxnLst/>
              <a:rect l="l" t="t" r="r" b="b"/>
              <a:pathLst>
                <a:path w="5067300" h="9525">
                  <a:moveTo>
                    <a:pt x="0" y="0"/>
                  </a:moveTo>
                  <a:lnTo>
                    <a:pt x="5067300" y="0"/>
                  </a:lnTo>
                </a:path>
              </a:pathLst>
            </a:custGeom>
            <a:noFill/>
            <a:ln w="7620">
              <a:solidFill>
                <a:srgbClr val="E6E6E6"/>
              </a:solidFill>
            </a:ln>
          </p:spPr>
        </p:sp>
        <p:sp>
          <p:nvSpPr>
            <p:cNvPr id="37" name="TextBox 37"/>
            <p:cNvSpPr txBox="1"/>
            <p:nvPr/>
          </p:nvSpPr>
          <p:spPr>
            <a:xfrm>
              <a:off x="635511" y="5484971"/>
              <a:ext cx="178877"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4%​</a:t>
              </a:r>
            </a:p>
          </p:txBody>
        </p:sp>
        <p:sp>
          <p:nvSpPr>
            <p:cNvPr id="38" name="Line 38"/>
            <p:cNvSpPr/>
            <p:nvPr/>
          </p:nvSpPr>
          <p:spPr>
            <a:xfrm>
              <a:off x="857250" y="5191125"/>
              <a:ext cx="5067300" cy="9525"/>
            </a:xfrm>
            <a:custGeom>
              <a:avLst/>
              <a:gdLst/>
              <a:ahLst/>
              <a:cxnLst/>
              <a:rect l="l" t="t" r="r" b="b"/>
              <a:pathLst>
                <a:path w="5067300" h="9525">
                  <a:moveTo>
                    <a:pt x="0" y="0"/>
                  </a:moveTo>
                  <a:lnTo>
                    <a:pt x="5067300" y="0"/>
                  </a:lnTo>
                </a:path>
              </a:pathLst>
            </a:custGeom>
            <a:noFill/>
            <a:ln w="7620">
              <a:solidFill>
                <a:srgbClr val="E6E6E6"/>
              </a:solidFill>
            </a:ln>
          </p:spPr>
        </p:sp>
        <p:sp>
          <p:nvSpPr>
            <p:cNvPr id="39" name="TextBox 39"/>
            <p:cNvSpPr txBox="1"/>
            <p:nvPr/>
          </p:nvSpPr>
          <p:spPr>
            <a:xfrm>
              <a:off x="635511" y="5151596"/>
              <a:ext cx="178877"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6%​</a:t>
              </a:r>
            </a:p>
          </p:txBody>
        </p:sp>
        <p:sp>
          <p:nvSpPr>
            <p:cNvPr id="40" name="Line 40"/>
            <p:cNvSpPr/>
            <p:nvPr/>
          </p:nvSpPr>
          <p:spPr>
            <a:xfrm>
              <a:off x="857250" y="4857750"/>
              <a:ext cx="5067300" cy="9525"/>
            </a:xfrm>
            <a:custGeom>
              <a:avLst/>
              <a:gdLst/>
              <a:ahLst/>
              <a:cxnLst/>
              <a:rect l="l" t="t" r="r" b="b"/>
              <a:pathLst>
                <a:path w="5067300" h="9525">
                  <a:moveTo>
                    <a:pt x="0" y="0"/>
                  </a:moveTo>
                  <a:lnTo>
                    <a:pt x="5067300" y="0"/>
                  </a:lnTo>
                </a:path>
              </a:pathLst>
            </a:custGeom>
            <a:noFill/>
            <a:ln w="7620">
              <a:solidFill>
                <a:srgbClr val="E6E6E6"/>
              </a:solidFill>
            </a:ln>
          </p:spPr>
        </p:sp>
        <p:sp>
          <p:nvSpPr>
            <p:cNvPr id="41" name="TextBox 41"/>
            <p:cNvSpPr txBox="1"/>
            <p:nvPr/>
          </p:nvSpPr>
          <p:spPr>
            <a:xfrm>
              <a:off x="635511" y="4818221"/>
              <a:ext cx="178877"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8%​</a:t>
              </a:r>
            </a:p>
          </p:txBody>
        </p:sp>
        <p:sp>
          <p:nvSpPr>
            <p:cNvPr id="42" name="Line 42"/>
            <p:cNvSpPr/>
            <p:nvPr/>
          </p:nvSpPr>
          <p:spPr>
            <a:xfrm>
              <a:off x="857250" y="4524375"/>
              <a:ext cx="5067300" cy="9525"/>
            </a:xfrm>
            <a:custGeom>
              <a:avLst/>
              <a:gdLst/>
              <a:ahLst/>
              <a:cxnLst/>
              <a:rect l="l" t="t" r="r" b="b"/>
              <a:pathLst>
                <a:path w="5067300" h="9525">
                  <a:moveTo>
                    <a:pt x="0" y="0"/>
                  </a:moveTo>
                  <a:lnTo>
                    <a:pt x="5067300" y="0"/>
                  </a:lnTo>
                </a:path>
              </a:pathLst>
            </a:custGeom>
            <a:noFill/>
            <a:ln w="7620">
              <a:solidFill>
                <a:srgbClr val="E6E6E6"/>
              </a:solidFill>
            </a:ln>
          </p:spPr>
        </p:sp>
        <p:sp>
          <p:nvSpPr>
            <p:cNvPr id="43" name="TextBox 43"/>
            <p:cNvSpPr txBox="1"/>
            <p:nvPr/>
          </p:nvSpPr>
          <p:spPr>
            <a:xfrm>
              <a:off x="585163" y="4484846"/>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10%​</a:t>
              </a:r>
            </a:p>
          </p:txBody>
        </p:sp>
        <p:sp>
          <p:nvSpPr>
            <p:cNvPr id="44" name="Line 44"/>
            <p:cNvSpPr/>
            <p:nvPr/>
          </p:nvSpPr>
          <p:spPr>
            <a:xfrm>
              <a:off x="857250" y="4191000"/>
              <a:ext cx="5067300" cy="9525"/>
            </a:xfrm>
            <a:custGeom>
              <a:avLst/>
              <a:gdLst/>
              <a:ahLst/>
              <a:cxnLst/>
              <a:rect l="l" t="t" r="r" b="b"/>
              <a:pathLst>
                <a:path w="5067300" h="9525">
                  <a:moveTo>
                    <a:pt x="0" y="0"/>
                  </a:moveTo>
                  <a:lnTo>
                    <a:pt x="5067300" y="0"/>
                  </a:lnTo>
                </a:path>
              </a:pathLst>
            </a:custGeom>
            <a:noFill/>
            <a:ln w="7620">
              <a:solidFill>
                <a:srgbClr val="E6E6E6"/>
              </a:solidFill>
            </a:ln>
          </p:spPr>
        </p:sp>
        <p:sp>
          <p:nvSpPr>
            <p:cNvPr id="45" name="TextBox 45"/>
            <p:cNvSpPr txBox="1"/>
            <p:nvPr/>
          </p:nvSpPr>
          <p:spPr>
            <a:xfrm>
              <a:off x="585163" y="4151471"/>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12%​</a:t>
              </a:r>
            </a:p>
          </p:txBody>
        </p:sp>
        <p:sp>
          <p:nvSpPr>
            <p:cNvPr id="46" name="Rectangle 46"/>
            <p:cNvSpPr/>
            <p:nvPr/>
          </p:nvSpPr>
          <p:spPr>
            <a:xfrm>
              <a:off x="912495" y="5357812"/>
              <a:ext cx="171450" cy="833438"/>
            </a:xfrm>
            <a:prstGeom prst="rect">
              <a:avLst/>
            </a:prstGeom>
            <a:solidFill>
              <a:srgbClr val="E96B52"/>
            </a:solidFill>
            <a:ln>
              <a:noFill/>
            </a:ln>
          </p:spPr>
        </p:sp>
        <p:sp>
          <p:nvSpPr>
            <p:cNvPr id="47" name="TextBox 47"/>
            <p:cNvSpPr txBox="1"/>
            <p:nvPr/>
          </p:nvSpPr>
          <p:spPr>
            <a:xfrm>
              <a:off x="908782" y="5246846"/>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5%​</a:t>
              </a:r>
            </a:p>
          </p:txBody>
        </p:sp>
        <p:sp>
          <p:nvSpPr>
            <p:cNvPr id="48" name="TextBox 48"/>
            <p:cNvSpPr txBox="1"/>
            <p:nvPr/>
          </p:nvSpPr>
          <p:spPr>
            <a:xfrm>
              <a:off x="864222" y="6246257"/>
              <a:ext cx="267995"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奥地利</a:t>
              </a:r>
            </a:p>
          </p:txBody>
        </p:sp>
        <p:sp>
          <p:nvSpPr>
            <p:cNvPr id="49" name="Rectangle 49"/>
            <p:cNvSpPr/>
            <p:nvPr/>
          </p:nvSpPr>
          <p:spPr>
            <a:xfrm>
              <a:off x="1193482" y="5691188"/>
              <a:ext cx="171450" cy="500062"/>
            </a:xfrm>
            <a:prstGeom prst="rect">
              <a:avLst/>
            </a:prstGeom>
            <a:solidFill>
              <a:srgbClr val="E96B52"/>
            </a:solidFill>
            <a:ln>
              <a:noFill/>
            </a:ln>
          </p:spPr>
        </p:sp>
        <p:sp>
          <p:nvSpPr>
            <p:cNvPr id="50" name="TextBox 50"/>
            <p:cNvSpPr txBox="1"/>
            <p:nvPr/>
          </p:nvSpPr>
          <p:spPr>
            <a:xfrm>
              <a:off x="1189769" y="5580221"/>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3%​</a:t>
              </a:r>
            </a:p>
          </p:txBody>
        </p:sp>
        <p:sp>
          <p:nvSpPr>
            <p:cNvPr id="51" name="TextBox 51"/>
            <p:cNvSpPr txBox="1"/>
            <p:nvPr/>
          </p:nvSpPr>
          <p:spPr>
            <a:xfrm>
              <a:off x="1145210" y="6246257"/>
              <a:ext cx="267995"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比利时</a:t>
              </a:r>
            </a:p>
          </p:txBody>
        </p:sp>
        <p:sp>
          <p:nvSpPr>
            <p:cNvPr id="52" name="Rectangle 52"/>
            <p:cNvSpPr/>
            <p:nvPr/>
          </p:nvSpPr>
          <p:spPr>
            <a:xfrm>
              <a:off x="1475422" y="4691062"/>
              <a:ext cx="171450" cy="1500188"/>
            </a:xfrm>
            <a:prstGeom prst="rect">
              <a:avLst/>
            </a:prstGeom>
            <a:solidFill>
              <a:srgbClr val="E96B52"/>
            </a:solidFill>
            <a:ln>
              <a:noFill/>
            </a:ln>
          </p:spPr>
        </p:sp>
        <p:sp>
          <p:nvSpPr>
            <p:cNvPr id="53" name="TextBox 53"/>
            <p:cNvSpPr txBox="1"/>
            <p:nvPr/>
          </p:nvSpPr>
          <p:spPr>
            <a:xfrm>
              <a:off x="1471709" y="4580096"/>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9%​</a:t>
              </a:r>
            </a:p>
          </p:txBody>
        </p:sp>
        <p:sp>
          <p:nvSpPr>
            <p:cNvPr id="54" name="TextBox 54"/>
            <p:cNvSpPr txBox="1"/>
            <p:nvPr/>
          </p:nvSpPr>
          <p:spPr>
            <a:xfrm>
              <a:off x="1470228"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丹麦</a:t>
              </a:r>
            </a:p>
          </p:txBody>
        </p:sp>
        <p:sp>
          <p:nvSpPr>
            <p:cNvPr id="55" name="Rectangle 55"/>
            <p:cNvSpPr/>
            <p:nvPr/>
          </p:nvSpPr>
          <p:spPr>
            <a:xfrm>
              <a:off x="1756410" y="5191125"/>
              <a:ext cx="171450" cy="1000125"/>
            </a:xfrm>
            <a:prstGeom prst="rect">
              <a:avLst/>
            </a:prstGeom>
            <a:solidFill>
              <a:srgbClr val="E96B52"/>
            </a:solidFill>
            <a:ln>
              <a:noFill/>
            </a:ln>
          </p:spPr>
        </p:sp>
        <p:sp>
          <p:nvSpPr>
            <p:cNvPr id="56" name="TextBox 56"/>
            <p:cNvSpPr txBox="1"/>
            <p:nvPr/>
          </p:nvSpPr>
          <p:spPr>
            <a:xfrm>
              <a:off x="1752697" y="5080159"/>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6%​</a:t>
              </a:r>
            </a:p>
          </p:txBody>
        </p:sp>
        <p:sp>
          <p:nvSpPr>
            <p:cNvPr id="57" name="TextBox 57"/>
            <p:cNvSpPr txBox="1"/>
            <p:nvPr/>
          </p:nvSpPr>
          <p:spPr>
            <a:xfrm>
              <a:off x="1751216"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法国</a:t>
              </a:r>
            </a:p>
          </p:txBody>
        </p:sp>
        <p:sp>
          <p:nvSpPr>
            <p:cNvPr id="58" name="Rectangle 58"/>
            <p:cNvSpPr/>
            <p:nvPr/>
          </p:nvSpPr>
          <p:spPr>
            <a:xfrm>
              <a:off x="2038350" y="5691188"/>
              <a:ext cx="171450" cy="500062"/>
            </a:xfrm>
            <a:prstGeom prst="rect">
              <a:avLst/>
            </a:prstGeom>
            <a:solidFill>
              <a:srgbClr val="E96B52"/>
            </a:solidFill>
            <a:ln>
              <a:noFill/>
            </a:ln>
          </p:spPr>
        </p:sp>
        <p:sp>
          <p:nvSpPr>
            <p:cNvPr id="59" name="TextBox 59"/>
            <p:cNvSpPr txBox="1"/>
            <p:nvPr/>
          </p:nvSpPr>
          <p:spPr>
            <a:xfrm>
              <a:off x="2034637" y="5580221"/>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3%​</a:t>
              </a:r>
            </a:p>
          </p:txBody>
        </p:sp>
        <p:sp>
          <p:nvSpPr>
            <p:cNvPr id="60" name="TextBox 60"/>
            <p:cNvSpPr txBox="1"/>
            <p:nvPr/>
          </p:nvSpPr>
          <p:spPr>
            <a:xfrm>
              <a:off x="2033156"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芬兰</a:t>
              </a:r>
            </a:p>
          </p:txBody>
        </p:sp>
        <p:sp>
          <p:nvSpPr>
            <p:cNvPr id="61" name="Rectangle 61"/>
            <p:cNvSpPr/>
            <p:nvPr/>
          </p:nvSpPr>
          <p:spPr>
            <a:xfrm>
              <a:off x="2320290" y="4524375"/>
              <a:ext cx="171450" cy="1666875"/>
            </a:xfrm>
            <a:prstGeom prst="rect">
              <a:avLst/>
            </a:prstGeom>
            <a:solidFill>
              <a:srgbClr val="E96B52"/>
            </a:solidFill>
            <a:ln>
              <a:noFill/>
            </a:ln>
          </p:spPr>
        </p:sp>
        <p:sp>
          <p:nvSpPr>
            <p:cNvPr id="62" name="TextBox 62"/>
            <p:cNvSpPr txBox="1"/>
            <p:nvPr/>
          </p:nvSpPr>
          <p:spPr>
            <a:xfrm>
              <a:off x="2291403" y="4413409"/>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10%​</a:t>
              </a:r>
            </a:p>
          </p:txBody>
        </p:sp>
        <p:sp>
          <p:nvSpPr>
            <p:cNvPr id="63" name="TextBox 63"/>
            <p:cNvSpPr txBox="1"/>
            <p:nvPr/>
          </p:nvSpPr>
          <p:spPr>
            <a:xfrm>
              <a:off x="2315096"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德国</a:t>
              </a:r>
            </a:p>
          </p:txBody>
        </p:sp>
        <p:sp>
          <p:nvSpPr>
            <p:cNvPr id="64" name="Rectangle 64"/>
            <p:cNvSpPr/>
            <p:nvPr/>
          </p:nvSpPr>
          <p:spPr>
            <a:xfrm>
              <a:off x="2601278" y="5524500"/>
              <a:ext cx="171450" cy="666750"/>
            </a:xfrm>
            <a:prstGeom prst="rect">
              <a:avLst/>
            </a:prstGeom>
            <a:solidFill>
              <a:srgbClr val="E96B52"/>
            </a:solidFill>
            <a:ln>
              <a:noFill/>
            </a:ln>
          </p:spPr>
        </p:sp>
        <p:sp>
          <p:nvSpPr>
            <p:cNvPr id="65" name="TextBox 65"/>
            <p:cNvSpPr txBox="1"/>
            <p:nvPr/>
          </p:nvSpPr>
          <p:spPr>
            <a:xfrm>
              <a:off x="2597564" y="5413534"/>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4%​</a:t>
              </a:r>
            </a:p>
          </p:txBody>
        </p:sp>
        <p:sp>
          <p:nvSpPr>
            <p:cNvPr id="66" name="TextBox 66"/>
            <p:cNvSpPr txBox="1"/>
            <p:nvPr/>
          </p:nvSpPr>
          <p:spPr>
            <a:xfrm>
              <a:off x="2553005" y="6246257"/>
              <a:ext cx="267995"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爱尔兰</a:t>
              </a:r>
            </a:p>
          </p:txBody>
        </p:sp>
        <p:sp>
          <p:nvSpPr>
            <p:cNvPr id="67" name="Rectangle 67"/>
            <p:cNvSpPr/>
            <p:nvPr/>
          </p:nvSpPr>
          <p:spPr>
            <a:xfrm>
              <a:off x="2883218" y="4857750"/>
              <a:ext cx="171450" cy="1333500"/>
            </a:xfrm>
            <a:prstGeom prst="rect">
              <a:avLst/>
            </a:prstGeom>
            <a:solidFill>
              <a:srgbClr val="E96B52"/>
            </a:solidFill>
            <a:ln>
              <a:noFill/>
            </a:ln>
          </p:spPr>
        </p:sp>
        <p:sp>
          <p:nvSpPr>
            <p:cNvPr id="68" name="TextBox 68"/>
            <p:cNvSpPr txBox="1"/>
            <p:nvPr/>
          </p:nvSpPr>
          <p:spPr>
            <a:xfrm>
              <a:off x="2879504" y="4746784"/>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8%​</a:t>
              </a:r>
            </a:p>
          </p:txBody>
        </p:sp>
        <p:sp>
          <p:nvSpPr>
            <p:cNvPr id="69" name="TextBox 69"/>
            <p:cNvSpPr txBox="1"/>
            <p:nvPr/>
          </p:nvSpPr>
          <p:spPr>
            <a:xfrm>
              <a:off x="2834945" y="6246257"/>
              <a:ext cx="267995"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意大利</a:t>
              </a:r>
            </a:p>
          </p:txBody>
        </p:sp>
        <p:sp>
          <p:nvSpPr>
            <p:cNvPr id="70" name="Rectangle 70"/>
            <p:cNvSpPr/>
            <p:nvPr/>
          </p:nvSpPr>
          <p:spPr>
            <a:xfrm>
              <a:off x="3164205" y="5191125"/>
              <a:ext cx="171450" cy="1000125"/>
            </a:xfrm>
            <a:prstGeom prst="rect">
              <a:avLst/>
            </a:prstGeom>
            <a:solidFill>
              <a:srgbClr val="E96B52"/>
            </a:solidFill>
            <a:ln>
              <a:noFill/>
            </a:ln>
          </p:spPr>
        </p:sp>
        <p:sp>
          <p:nvSpPr>
            <p:cNvPr id="71" name="TextBox 71"/>
            <p:cNvSpPr txBox="1"/>
            <p:nvPr/>
          </p:nvSpPr>
          <p:spPr>
            <a:xfrm>
              <a:off x="3160492" y="5080159"/>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6%​</a:t>
              </a:r>
            </a:p>
          </p:txBody>
        </p:sp>
        <p:sp>
          <p:nvSpPr>
            <p:cNvPr id="72" name="TextBox 72"/>
            <p:cNvSpPr txBox="1"/>
            <p:nvPr/>
          </p:nvSpPr>
          <p:spPr>
            <a:xfrm>
              <a:off x="3159011"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中东</a:t>
              </a:r>
            </a:p>
          </p:txBody>
        </p:sp>
        <p:sp>
          <p:nvSpPr>
            <p:cNvPr id="73" name="Rectangle 73"/>
            <p:cNvSpPr/>
            <p:nvPr/>
          </p:nvSpPr>
          <p:spPr>
            <a:xfrm>
              <a:off x="3446145" y="4524375"/>
              <a:ext cx="171450" cy="1666875"/>
            </a:xfrm>
            <a:prstGeom prst="rect">
              <a:avLst/>
            </a:prstGeom>
            <a:solidFill>
              <a:srgbClr val="E96B52"/>
            </a:solidFill>
            <a:ln>
              <a:noFill/>
            </a:ln>
          </p:spPr>
        </p:sp>
        <p:sp>
          <p:nvSpPr>
            <p:cNvPr id="74" name="TextBox 74"/>
            <p:cNvSpPr txBox="1"/>
            <p:nvPr/>
          </p:nvSpPr>
          <p:spPr>
            <a:xfrm>
              <a:off x="3417258" y="4413409"/>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10%​</a:t>
              </a:r>
            </a:p>
          </p:txBody>
        </p:sp>
        <p:sp>
          <p:nvSpPr>
            <p:cNvPr id="75" name="TextBox 75"/>
            <p:cNvSpPr txBox="1"/>
            <p:nvPr/>
          </p:nvSpPr>
          <p:spPr>
            <a:xfrm>
              <a:off x="3440951"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荷兰</a:t>
              </a:r>
            </a:p>
          </p:txBody>
        </p:sp>
        <p:sp>
          <p:nvSpPr>
            <p:cNvPr id="76" name="Rectangle 76"/>
            <p:cNvSpPr/>
            <p:nvPr/>
          </p:nvSpPr>
          <p:spPr>
            <a:xfrm>
              <a:off x="3727132" y="5524500"/>
              <a:ext cx="171450" cy="666750"/>
            </a:xfrm>
            <a:prstGeom prst="rect">
              <a:avLst/>
            </a:prstGeom>
            <a:solidFill>
              <a:srgbClr val="E96B52"/>
            </a:solidFill>
            <a:ln>
              <a:noFill/>
            </a:ln>
          </p:spPr>
        </p:sp>
        <p:sp>
          <p:nvSpPr>
            <p:cNvPr id="77" name="TextBox 77"/>
            <p:cNvSpPr txBox="1"/>
            <p:nvPr/>
          </p:nvSpPr>
          <p:spPr>
            <a:xfrm>
              <a:off x="3723419" y="5413534"/>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4%​</a:t>
              </a:r>
            </a:p>
          </p:txBody>
        </p:sp>
        <p:sp>
          <p:nvSpPr>
            <p:cNvPr id="78" name="TextBox 78"/>
            <p:cNvSpPr txBox="1"/>
            <p:nvPr/>
          </p:nvSpPr>
          <p:spPr>
            <a:xfrm>
              <a:off x="3721938"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挪威</a:t>
              </a:r>
            </a:p>
          </p:txBody>
        </p:sp>
        <p:sp>
          <p:nvSpPr>
            <p:cNvPr id="79" name="Rectangle 79"/>
            <p:cNvSpPr/>
            <p:nvPr/>
          </p:nvSpPr>
          <p:spPr>
            <a:xfrm>
              <a:off x="4009072" y="5357812"/>
              <a:ext cx="171450" cy="833438"/>
            </a:xfrm>
            <a:prstGeom prst="rect">
              <a:avLst/>
            </a:prstGeom>
            <a:solidFill>
              <a:srgbClr val="E96B52"/>
            </a:solidFill>
            <a:ln>
              <a:noFill/>
            </a:ln>
          </p:spPr>
        </p:sp>
        <p:sp>
          <p:nvSpPr>
            <p:cNvPr id="80" name="TextBox 80"/>
            <p:cNvSpPr txBox="1"/>
            <p:nvPr/>
          </p:nvSpPr>
          <p:spPr>
            <a:xfrm>
              <a:off x="4005359" y="5246846"/>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5%​</a:t>
              </a:r>
            </a:p>
          </p:txBody>
        </p:sp>
        <p:sp>
          <p:nvSpPr>
            <p:cNvPr id="81" name="TextBox 81"/>
            <p:cNvSpPr txBox="1"/>
            <p:nvPr/>
          </p:nvSpPr>
          <p:spPr>
            <a:xfrm>
              <a:off x="4003878"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波兰</a:t>
              </a:r>
            </a:p>
          </p:txBody>
        </p:sp>
        <p:sp>
          <p:nvSpPr>
            <p:cNvPr id="82" name="Rectangle 82"/>
            <p:cNvSpPr/>
            <p:nvPr/>
          </p:nvSpPr>
          <p:spPr>
            <a:xfrm>
              <a:off x="4290060" y="4857750"/>
              <a:ext cx="171450" cy="1333500"/>
            </a:xfrm>
            <a:prstGeom prst="rect">
              <a:avLst/>
            </a:prstGeom>
            <a:solidFill>
              <a:srgbClr val="E96B52"/>
            </a:solidFill>
            <a:ln>
              <a:noFill/>
            </a:ln>
          </p:spPr>
        </p:sp>
        <p:sp>
          <p:nvSpPr>
            <p:cNvPr id="83" name="TextBox 83"/>
            <p:cNvSpPr txBox="1"/>
            <p:nvPr/>
          </p:nvSpPr>
          <p:spPr>
            <a:xfrm>
              <a:off x="4286347" y="4746784"/>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8%​</a:t>
              </a:r>
            </a:p>
          </p:txBody>
        </p:sp>
        <p:sp>
          <p:nvSpPr>
            <p:cNvPr id="84" name="TextBox 84"/>
            <p:cNvSpPr txBox="1"/>
            <p:nvPr/>
          </p:nvSpPr>
          <p:spPr>
            <a:xfrm>
              <a:off x="4241787" y="6246257"/>
              <a:ext cx="267995"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葡萄牙</a:t>
              </a:r>
            </a:p>
          </p:txBody>
        </p:sp>
        <p:sp>
          <p:nvSpPr>
            <p:cNvPr id="85" name="Rectangle 85"/>
            <p:cNvSpPr/>
            <p:nvPr/>
          </p:nvSpPr>
          <p:spPr>
            <a:xfrm>
              <a:off x="4572000" y="6024562"/>
              <a:ext cx="171450" cy="166688"/>
            </a:xfrm>
            <a:prstGeom prst="rect">
              <a:avLst/>
            </a:prstGeom>
            <a:solidFill>
              <a:srgbClr val="E96B52"/>
            </a:solidFill>
            <a:ln>
              <a:noFill/>
            </a:ln>
          </p:spPr>
        </p:sp>
        <p:sp>
          <p:nvSpPr>
            <p:cNvPr id="86" name="TextBox 86"/>
            <p:cNvSpPr txBox="1"/>
            <p:nvPr/>
          </p:nvSpPr>
          <p:spPr>
            <a:xfrm>
              <a:off x="4568287" y="5913596"/>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1%​</a:t>
              </a:r>
            </a:p>
          </p:txBody>
        </p:sp>
        <p:sp>
          <p:nvSpPr>
            <p:cNvPr id="87" name="TextBox 87"/>
            <p:cNvSpPr txBox="1"/>
            <p:nvPr/>
          </p:nvSpPr>
          <p:spPr>
            <a:xfrm>
              <a:off x="4523727" y="6246257"/>
              <a:ext cx="267995"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俄罗斯</a:t>
              </a:r>
            </a:p>
          </p:txBody>
        </p:sp>
        <p:sp>
          <p:nvSpPr>
            <p:cNvPr id="88" name="Rectangle 88"/>
            <p:cNvSpPr/>
            <p:nvPr/>
          </p:nvSpPr>
          <p:spPr>
            <a:xfrm>
              <a:off x="4853940" y="5357812"/>
              <a:ext cx="171450" cy="833438"/>
            </a:xfrm>
            <a:prstGeom prst="rect">
              <a:avLst/>
            </a:prstGeom>
            <a:solidFill>
              <a:srgbClr val="E96B52"/>
            </a:solidFill>
            <a:ln>
              <a:noFill/>
            </a:ln>
          </p:spPr>
        </p:sp>
        <p:sp>
          <p:nvSpPr>
            <p:cNvPr id="89" name="TextBox 89"/>
            <p:cNvSpPr txBox="1"/>
            <p:nvPr/>
          </p:nvSpPr>
          <p:spPr>
            <a:xfrm>
              <a:off x="4850227" y="5246846"/>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5%​</a:t>
              </a:r>
            </a:p>
          </p:txBody>
        </p:sp>
        <p:sp>
          <p:nvSpPr>
            <p:cNvPr id="90" name="TextBox 90"/>
            <p:cNvSpPr txBox="1"/>
            <p:nvPr/>
          </p:nvSpPr>
          <p:spPr>
            <a:xfrm>
              <a:off x="4848746"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南非</a:t>
              </a:r>
            </a:p>
          </p:txBody>
        </p:sp>
        <p:sp>
          <p:nvSpPr>
            <p:cNvPr id="91" name="Rectangle 91"/>
            <p:cNvSpPr/>
            <p:nvPr/>
          </p:nvSpPr>
          <p:spPr>
            <a:xfrm>
              <a:off x="5134928" y="5357812"/>
              <a:ext cx="171450" cy="833438"/>
            </a:xfrm>
            <a:prstGeom prst="rect">
              <a:avLst/>
            </a:prstGeom>
            <a:solidFill>
              <a:srgbClr val="E96B52"/>
            </a:solidFill>
            <a:ln>
              <a:noFill/>
            </a:ln>
          </p:spPr>
        </p:sp>
        <p:sp>
          <p:nvSpPr>
            <p:cNvPr id="92" name="TextBox 92"/>
            <p:cNvSpPr txBox="1"/>
            <p:nvPr/>
          </p:nvSpPr>
          <p:spPr>
            <a:xfrm>
              <a:off x="5131214" y="5246846"/>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5%​</a:t>
              </a:r>
            </a:p>
          </p:txBody>
        </p:sp>
        <p:sp>
          <p:nvSpPr>
            <p:cNvPr id="93" name="TextBox 93"/>
            <p:cNvSpPr txBox="1"/>
            <p:nvPr/>
          </p:nvSpPr>
          <p:spPr>
            <a:xfrm>
              <a:off x="5086655" y="6246257"/>
              <a:ext cx="267995"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西班牙</a:t>
              </a:r>
            </a:p>
          </p:txBody>
        </p:sp>
        <p:sp>
          <p:nvSpPr>
            <p:cNvPr id="94" name="Rectangle 94"/>
            <p:cNvSpPr/>
            <p:nvPr/>
          </p:nvSpPr>
          <p:spPr>
            <a:xfrm>
              <a:off x="5416868" y="5191125"/>
              <a:ext cx="171450" cy="1000125"/>
            </a:xfrm>
            <a:prstGeom prst="rect">
              <a:avLst/>
            </a:prstGeom>
            <a:solidFill>
              <a:srgbClr val="E96B52"/>
            </a:solidFill>
            <a:ln>
              <a:noFill/>
            </a:ln>
          </p:spPr>
        </p:sp>
        <p:sp>
          <p:nvSpPr>
            <p:cNvPr id="95" name="TextBox 95"/>
            <p:cNvSpPr txBox="1"/>
            <p:nvPr/>
          </p:nvSpPr>
          <p:spPr>
            <a:xfrm>
              <a:off x="5413154" y="5080159"/>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6%​</a:t>
              </a:r>
            </a:p>
          </p:txBody>
        </p:sp>
        <p:sp>
          <p:nvSpPr>
            <p:cNvPr id="96" name="TextBox 96"/>
            <p:cNvSpPr txBox="1"/>
            <p:nvPr/>
          </p:nvSpPr>
          <p:spPr>
            <a:xfrm>
              <a:off x="5411673"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瑞典</a:t>
              </a:r>
            </a:p>
          </p:txBody>
        </p:sp>
        <p:sp>
          <p:nvSpPr>
            <p:cNvPr id="97" name="Rectangle 97"/>
            <p:cNvSpPr/>
            <p:nvPr/>
          </p:nvSpPr>
          <p:spPr>
            <a:xfrm>
              <a:off x="5697855" y="5524500"/>
              <a:ext cx="171450" cy="666750"/>
            </a:xfrm>
            <a:prstGeom prst="rect">
              <a:avLst/>
            </a:prstGeom>
            <a:solidFill>
              <a:srgbClr val="E96B52"/>
            </a:solidFill>
            <a:ln>
              <a:noFill/>
            </a:ln>
          </p:spPr>
        </p:sp>
        <p:sp>
          <p:nvSpPr>
            <p:cNvPr id="98" name="TextBox 98"/>
            <p:cNvSpPr txBox="1"/>
            <p:nvPr/>
          </p:nvSpPr>
          <p:spPr>
            <a:xfrm>
              <a:off x="5694142" y="5413534"/>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4%​</a:t>
              </a:r>
            </a:p>
          </p:txBody>
        </p:sp>
        <p:sp>
          <p:nvSpPr>
            <p:cNvPr id="99" name="TextBox 99"/>
            <p:cNvSpPr txBox="1"/>
            <p:nvPr/>
          </p:nvSpPr>
          <p:spPr>
            <a:xfrm>
              <a:off x="5692661" y="6246257"/>
              <a:ext cx="181839"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英国</a:t>
              </a:r>
            </a:p>
          </p:txBody>
        </p:sp>
        <p:sp>
          <p:nvSpPr>
            <p:cNvPr id="100" name="Line 100"/>
            <p:cNvSpPr/>
            <p:nvPr/>
          </p:nvSpPr>
          <p:spPr>
            <a:xfrm>
              <a:off x="857250" y="6191250"/>
              <a:ext cx="5067300" cy="9525"/>
            </a:xfrm>
            <a:custGeom>
              <a:avLst/>
              <a:gdLst/>
              <a:ahLst/>
              <a:cxnLst/>
              <a:rect l="l" t="t" r="r" b="b"/>
              <a:pathLst>
                <a:path w="5067300" h="9525">
                  <a:moveTo>
                    <a:pt x="0" y="0"/>
                  </a:moveTo>
                  <a:lnTo>
                    <a:pt x="5067300" y="0"/>
                  </a:lnTo>
                </a:path>
              </a:pathLst>
            </a:custGeom>
            <a:noFill/>
            <a:ln w="9525">
              <a:solidFill>
                <a:srgbClr val="666666"/>
              </a:solidFill>
            </a:ln>
          </p:spPr>
        </p:sp>
      </p:grpSp>
      <p:grpSp>
        <p:nvGrpSpPr>
          <p:cNvPr id="114" name="figure-7"/>
          <p:cNvGrpSpPr/>
          <p:nvPr/>
        </p:nvGrpSpPr>
        <p:grpSpPr>
          <a:xfrm>
            <a:off x="6281738" y="882491"/>
            <a:ext cx="3359036" cy="3956209"/>
            <a:chOff x="6281738" y="882491"/>
            <a:chExt cx="3359036" cy="3956209"/>
          </a:xfrm>
        </p:grpSpPr>
        <p:sp>
          <p:nvSpPr>
            <p:cNvPr id="102" name="TextBox 102"/>
            <p:cNvSpPr txBox="1"/>
            <p:nvPr/>
          </p:nvSpPr>
          <p:spPr>
            <a:xfrm>
              <a:off x="6281738" y="882491"/>
              <a:ext cx="1292790"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图7. 参与银行地域分布​​</a:t>
              </a:r>
            </a:p>
          </p:txBody>
        </p:sp>
        <p:sp>
          <p:nvSpPr>
            <p:cNvPr id="103" name="TextBox 103"/>
            <p:cNvSpPr txBox="1"/>
            <p:nvPr/>
          </p:nvSpPr>
          <p:spPr>
            <a:xfrm>
              <a:off x="6281738" y="1032034"/>
              <a:ext cx="3359036"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Banks participating across Europe, Russia, South Africa and Middle East​​</a:t>
              </a:r>
            </a:p>
          </p:txBody>
        </p:sp>
        <p:sp>
          <p:nvSpPr>
            <p:cNvPr id="104" name="Freeform 104"/>
            <p:cNvSpPr/>
            <p:nvPr/>
          </p:nvSpPr>
          <p:spPr>
            <a:xfrm>
              <a:off x="7258050" y="1543050"/>
              <a:ext cx="1295400" cy="1295400"/>
            </a:xfrm>
            <a:prstGeom prst="blockArc">
              <a:avLst>
                <a:gd name="adj1" fmla="val 16200000"/>
                <a:gd name="adj2" fmla="val 13392000"/>
                <a:gd name="adj3" fmla="val 16176"/>
              </a:avLst>
            </a:prstGeom>
            <a:solidFill>
              <a:srgbClr val="E96B52"/>
            </a:solidFill>
            <a:ln>
              <a:noFill/>
            </a:ln>
          </p:spPr>
        </p:sp>
        <p:sp>
          <p:nvSpPr>
            <p:cNvPr id="105" name="Freeform 105"/>
            <p:cNvSpPr/>
            <p:nvPr/>
          </p:nvSpPr>
          <p:spPr>
            <a:xfrm>
              <a:off x="7258050" y="1543050"/>
              <a:ext cx="1295400" cy="1295400"/>
            </a:xfrm>
            <a:prstGeom prst="blockArc">
              <a:avLst>
                <a:gd name="adj1" fmla="val 13392000"/>
                <a:gd name="adj2" fmla="val 16200000"/>
                <a:gd name="adj3" fmla="val 16176"/>
              </a:avLst>
            </a:prstGeom>
            <a:solidFill>
              <a:srgbClr val="DDDDDD"/>
            </a:solidFill>
            <a:ln>
              <a:noFill/>
            </a:ln>
          </p:spPr>
        </p:sp>
        <p:sp>
          <p:nvSpPr>
            <p:cNvPr id="106" name="Freeform 106"/>
            <p:cNvSpPr/>
            <p:nvPr/>
          </p:nvSpPr>
          <p:spPr>
            <a:xfrm>
              <a:off x="7258050" y="3543300"/>
              <a:ext cx="1295400" cy="1295400"/>
            </a:xfrm>
            <a:prstGeom prst="blockArc">
              <a:avLst>
                <a:gd name="adj1" fmla="val 16200000"/>
                <a:gd name="adj2" fmla="val 19008000"/>
                <a:gd name="adj3" fmla="val 16176"/>
              </a:avLst>
            </a:prstGeom>
            <a:solidFill>
              <a:srgbClr val="B61F00"/>
            </a:solidFill>
            <a:ln>
              <a:noFill/>
            </a:ln>
          </p:spPr>
        </p:sp>
        <p:sp>
          <p:nvSpPr>
            <p:cNvPr id="107" name="Freeform 107"/>
            <p:cNvSpPr/>
            <p:nvPr/>
          </p:nvSpPr>
          <p:spPr>
            <a:xfrm>
              <a:off x="7258050" y="3543300"/>
              <a:ext cx="1295400" cy="1295400"/>
            </a:xfrm>
            <a:prstGeom prst="blockArc">
              <a:avLst>
                <a:gd name="adj1" fmla="val 19008000"/>
                <a:gd name="adj2" fmla="val 16200000"/>
                <a:gd name="adj3" fmla="val 16176"/>
              </a:avLst>
            </a:prstGeom>
            <a:solidFill>
              <a:srgbClr val="DDDDDD"/>
            </a:solidFill>
            <a:ln>
              <a:noFill/>
            </a:ln>
          </p:spPr>
        </p:sp>
        <p:sp>
          <p:nvSpPr>
            <p:cNvPr id="108" name="TextBox 108"/>
            <p:cNvSpPr txBox="1"/>
            <p:nvPr/>
          </p:nvSpPr>
          <p:spPr>
            <a:xfrm>
              <a:off x="7617493" y="1974532"/>
              <a:ext cx="576514" cy="322707"/>
            </a:xfrm>
            <a:prstGeom prst="rect">
              <a:avLst/>
            </a:prstGeom>
            <a:noFill/>
            <a:ln>
              <a:noFill/>
            </a:ln>
          </p:spPr>
          <p:txBody>
            <a:bodyPr wrap="none" lIns="0" tIns="0" rIns="0" bIns="0" anchor="t" anchorCtr="0">
              <a:spAutoFit/>
            </a:bodyPr>
            <a:lstStyle/>
            <a:p>
              <a:pPr algn="ctr"/>
              <a:r>
                <a:rPr lang="zh-CN" sz="1650" b="1" dirty="0">
                  <a:solidFill>
                    <a:srgbClr val="E96B52"/>
                  </a:solidFill>
                  <a:latin typeface="+mn-lt"/>
                  <a:ea typeface="+mn-ea"/>
                  <a:cs typeface="+mn-cs"/>
                </a:rPr>
                <a:t>87%​</a:t>
              </a:r>
            </a:p>
          </p:txBody>
        </p:sp>
        <p:sp>
          <p:nvSpPr>
            <p:cNvPr id="109" name="TextBox 109"/>
            <p:cNvSpPr txBox="1"/>
            <p:nvPr/>
          </p:nvSpPr>
          <p:spPr>
            <a:xfrm>
              <a:off x="7540172" y="2247186"/>
              <a:ext cx="731156"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来自欧洲的银行​</a:t>
              </a:r>
            </a:p>
          </p:txBody>
        </p:sp>
        <p:sp>
          <p:nvSpPr>
            <p:cNvPr id="110" name="TextBox 110"/>
            <p:cNvSpPr txBox="1"/>
            <p:nvPr/>
          </p:nvSpPr>
          <p:spPr>
            <a:xfrm>
              <a:off x="7460442" y="2379107"/>
              <a:ext cx="890616" cy="126206"/>
            </a:xfrm>
            <a:prstGeom prst="rect">
              <a:avLst/>
            </a:prstGeom>
            <a:noFill/>
            <a:ln>
              <a:noFill/>
            </a:ln>
          </p:spPr>
          <p:txBody>
            <a:bodyPr wrap="none" lIns="0" tIns="0" rIns="0" bIns="0" anchor="t" anchorCtr="0">
              <a:spAutoFit/>
            </a:bodyPr>
            <a:lstStyle/>
            <a:p>
              <a:pPr algn="ctr"/>
              <a:r>
                <a:rPr lang="en-US" sz="640" dirty="0">
                  <a:solidFill>
                    <a:srgbClr val="9A9A9A"/>
                  </a:solidFill>
                  <a:latin typeface="+mn-lt"/>
                  <a:ea typeface="+mn-ea"/>
                  <a:cs typeface="+mn-cs"/>
                </a:rPr>
                <a:t>Banks from Europe​​</a:t>
              </a:r>
            </a:p>
          </p:txBody>
        </p:sp>
        <p:sp>
          <p:nvSpPr>
            <p:cNvPr id="111" name="TextBox 111"/>
            <p:cNvSpPr txBox="1"/>
            <p:nvPr/>
          </p:nvSpPr>
          <p:spPr>
            <a:xfrm>
              <a:off x="7617493" y="3974782"/>
              <a:ext cx="576514" cy="322707"/>
            </a:xfrm>
            <a:prstGeom prst="rect">
              <a:avLst/>
            </a:prstGeom>
            <a:noFill/>
            <a:ln>
              <a:noFill/>
            </a:ln>
          </p:spPr>
          <p:txBody>
            <a:bodyPr wrap="none" lIns="0" tIns="0" rIns="0" bIns="0" anchor="t" anchorCtr="0">
              <a:spAutoFit/>
            </a:bodyPr>
            <a:lstStyle/>
            <a:p>
              <a:pPr algn="ctr"/>
              <a:r>
                <a:rPr lang="zh-CN" sz="1650" b="1" dirty="0">
                  <a:solidFill>
                    <a:srgbClr val="B61F00"/>
                  </a:solidFill>
                  <a:latin typeface="+mn-lt"/>
                  <a:ea typeface="+mn-ea"/>
                  <a:cs typeface="+mn-cs"/>
                </a:rPr>
                <a:t>13%​</a:t>
              </a:r>
            </a:p>
          </p:txBody>
        </p:sp>
        <p:sp>
          <p:nvSpPr>
            <p:cNvPr id="112" name="TextBox 112"/>
            <p:cNvSpPr txBox="1"/>
            <p:nvPr/>
          </p:nvSpPr>
          <p:spPr>
            <a:xfrm>
              <a:off x="7205642" y="4247436"/>
              <a:ext cx="1400217"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来自俄罗斯、南非和中东的银行​</a:t>
              </a:r>
            </a:p>
          </p:txBody>
        </p:sp>
        <p:sp>
          <p:nvSpPr>
            <p:cNvPr id="113" name="TextBox 113"/>
            <p:cNvSpPr txBox="1"/>
            <p:nvPr/>
          </p:nvSpPr>
          <p:spPr>
            <a:xfrm>
              <a:off x="7141390" y="4379357"/>
              <a:ext cx="1528720" cy="126206"/>
            </a:xfrm>
            <a:prstGeom prst="rect">
              <a:avLst/>
            </a:prstGeom>
            <a:noFill/>
            <a:ln>
              <a:noFill/>
            </a:ln>
          </p:spPr>
          <p:txBody>
            <a:bodyPr wrap="none" lIns="0" tIns="0" rIns="0" bIns="0" anchor="t" anchorCtr="0">
              <a:spAutoFit/>
            </a:bodyPr>
            <a:lstStyle/>
            <a:p>
              <a:pPr algn="ctr"/>
              <a:r>
                <a:rPr lang="en-US" sz="640" dirty="0">
                  <a:solidFill>
                    <a:srgbClr val="9A9A9A"/>
                  </a:solidFill>
                  <a:latin typeface="+mn-lt"/>
                  <a:ea typeface="+mn-ea"/>
                  <a:cs typeface="+mn-cs"/>
                </a:rPr>
                <a:t>Russia, South Africa, Middle East​​</a:t>
              </a:r>
            </a:p>
          </p:txBody>
        </p:sp>
      </p:grpSp>
      <p:grpSp>
        <p:nvGrpSpPr>
          <p:cNvPr id="148" name="nav"/>
          <p:cNvGrpSpPr/>
          <p:nvPr/>
        </p:nvGrpSpPr>
        <p:grpSpPr>
          <a:xfrm>
            <a:off x="9834562" y="0"/>
            <a:ext cx="2357438" cy="6858000"/>
            <a:chOff x="9834562" y="0"/>
            <a:chExt cx="2357438" cy="6858000"/>
          </a:xfrm>
        </p:grpSpPr>
        <p:sp>
          <p:nvSpPr>
            <p:cNvPr id="115" name="Line 115"/>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16" name="Rectangle 116"/>
            <p:cNvSpPr/>
            <p:nvPr/>
          </p:nvSpPr>
          <p:spPr>
            <a:xfrm>
              <a:off x="9839325" y="476250"/>
              <a:ext cx="2352675" cy="514350"/>
            </a:xfrm>
            <a:prstGeom prst="rect">
              <a:avLst/>
            </a:prstGeom>
            <a:solidFill>
              <a:srgbClr val="F3F3F3"/>
            </a:solidFill>
            <a:ln>
              <a:noFill/>
            </a:ln>
          </p:spPr>
        </p:sp>
        <p:sp>
          <p:nvSpPr>
            <p:cNvPr id="117" name="TextBox 117"/>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18" name="Rectangle 118"/>
            <p:cNvSpPr/>
            <p:nvPr/>
          </p:nvSpPr>
          <p:spPr>
            <a:xfrm>
              <a:off x="9839325" y="1000125"/>
              <a:ext cx="2352675" cy="514350"/>
            </a:xfrm>
            <a:prstGeom prst="rect">
              <a:avLst/>
            </a:prstGeom>
            <a:solidFill>
              <a:srgbClr val="F3F3F3"/>
            </a:solidFill>
            <a:ln>
              <a:noFill/>
            </a:ln>
          </p:spPr>
        </p:sp>
        <p:sp>
          <p:nvSpPr>
            <p:cNvPr id="119" name="TextBox 119"/>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20" name="Rectangle 120"/>
            <p:cNvSpPr/>
            <p:nvPr/>
          </p:nvSpPr>
          <p:spPr>
            <a:xfrm>
              <a:off x="9839325" y="1524000"/>
              <a:ext cx="2352675" cy="514350"/>
            </a:xfrm>
            <a:prstGeom prst="rect">
              <a:avLst/>
            </a:prstGeom>
            <a:solidFill>
              <a:srgbClr val="F3F3F3"/>
            </a:solidFill>
            <a:ln>
              <a:noFill/>
            </a:ln>
          </p:spPr>
        </p:sp>
        <p:sp>
          <p:nvSpPr>
            <p:cNvPr id="121" name="TextBox 121"/>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22" name="Rectangle 122"/>
            <p:cNvSpPr/>
            <p:nvPr/>
          </p:nvSpPr>
          <p:spPr>
            <a:xfrm>
              <a:off x="9839325" y="2047875"/>
              <a:ext cx="2352675" cy="514350"/>
            </a:xfrm>
            <a:prstGeom prst="rect">
              <a:avLst/>
            </a:prstGeom>
            <a:solidFill>
              <a:srgbClr val="E96B52"/>
            </a:solidFill>
            <a:ln>
              <a:noFill/>
            </a:ln>
          </p:spPr>
        </p:sp>
        <p:sp>
          <p:nvSpPr>
            <p:cNvPr id="123" name="TextBox 123"/>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关于本次调研</a:t>
              </a:r>
            </a:p>
          </p:txBody>
        </p:sp>
        <p:sp>
          <p:nvSpPr>
            <p:cNvPr id="124" name="Rectangle 124"/>
            <p:cNvSpPr/>
            <p:nvPr/>
          </p:nvSpPr>
          <p:spPr>
            <a:xfrm>
              <a:off x="9839325" y="2571750"/>
              <a:ext cx="2352675" cy="514350"/>
            </a:xfrm>
            <a:prstGeom prst="rect">
              <a:avLst/>
            </a:prstGeom>
            <a:solidFill>
              <a:srgbClr val="F3F3F3"/>
            </a:solidFill>
            <a:ln>
              <a:noFill/>
            </a:ln>
          </p:spPr>
        </p:sp>
        <p:sp>
          <p:nvSpPr>
            <p:cNvPr id="125" name="TextBox 125"/>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26" name="Rectangle 126"/>
            <p:cNvSpPr/>
            <p:nvPr/>
          </p:nvSpPr>
          <p:spPr>
            <a:xfrm>
              <a:off x="9839325" y="3095625"/>
              <a:ext cx="2352675" cy="514350"/>
            </a:xfrm>
            <a:prstGeom prst="rect">
              <a:avLst/>
            </a:prstGeom>
            <a:solidFill>
              <a:srgbClr val="F3F3F3"/>
            </a:solidFill>
            <a:ln>
              <a:noFill/>
            </a:ln>
          </p:spPr>
        </p:sp>
        <p:sp>
          <p:nvSpPr>
            <p:cNvPr id="127" name="TextBox 127"/>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28" name="Rectangle 128"/>
            <p:cNvSpPr/>
            <p:nvPr/>
          </p:nvSpPr>
          <p:spPr>
            <a:xfrm>
              <a:off x="9839325" y="3619500"/>
              <a:ext cx="2352675" cy="514350"/>
            </a:xfrm>
            <a:prstGeom prst="rect">
              <a:avLst/>
            </a:prstGeom>
            <a:solidFill>
              <a:srgbClr val="F3F3F3"/>
            </a:solidFill>
            <a:ln>
              <a:noFill/>
            </a:ln>
          </p:spPr>
        </p:sp>
        <p:sp>
          <p:nvSpPr>
            <p:cNvPr id="129" name="TextBox 129"/>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30" name="Rectangle 130"/>
            <p:cNvSpPr/>
            <p:nvPr/>
          </p:nvSpPr>
          <p:spPr>
            <a:xfrm>
              <a:off x="9839325" y="4143375"/>
              <a:ext cx="2352675" cy="514350"/>
            </a:xfrm>
            <a:prstGeom prst="rect">
              <a:avLst/>
            </a:prstGeom>
            <a:solidFill>
              <a:srgbClr val="F3F3F3"/>
            </a:solidFill>
            <a:ln>
              <a:noFill/>
            </a:ln>
          </p:spPr>
        </p:sp>
        <p:sp>
          <p:nvSpPr>
            <p:cNvPr id="131" name="TextBox 131"/>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32" name="Rectangle 132"/>
            <p:cNvSpPr/>
            <p:nvPr/>
          </p:nvSpPr>
          <p:spPr>
            <a:xfrm>
              <a:off x="9839325" y="4667250"/>
              <a:ext cx="2352675" cy="514350"/>
            </a:xfrm>
            <a:prstGeom prst="rect">
              <a:avLst/>
            </a:prstGeom>
            <a:solidFill>
              <a:srgbClr val="F3F3F3"/>
            </a:solidFill>
            <a:ln>
              <a:noFill/>
            </a:ln>
          </p:spPr>
        </p:sp>
        <p:sp>
          <p:nvSpPr>
            <p:cNvPr id="133" name="TextBox 133"/>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34" name="Rectangle 134"/>
            <p:cNvSpPr/>
            <p:nvPr/>
          </p:nvSpPr>
          <p:spPr>
            <a:xfrm>
              <a:off x="9839325" y="5191125"/>
              <a:ext cx="2352675" cy="514350"/>
            </a:xfrm>
            <a:prstGeom prst="rect">
              <a:avLst/>
            </a:prstGeom>
            <a:solidFill>
              <a:srgbClr val="F3F3F3"/>
            </a:solidFill>
            <a:ln>
              <a:noFill/>
            </a:ln>
          </p:spPr>
        </p:sp>
        <p:sp>
          <p:nvSpPr>
            <p:cNvPr id="135" name="TextBox 135"/>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36" name="Rectangle 136"/>
            <p:cNvSpPr/>
            <p:nvPr/>
          </p:nvSpPr>
          <p:spPr>
            <a:xfrm>
              <a:off x="9839325" y="5715000"/>
              <a:ext cx="2352675" cy="514350"/>
            </a:xfrm>
            <a:prstGeom prst="rect">
              <a:avLst/>
            </a:prstGeom>
            <a:solidFill>
              <a:srgbClr val="F3F3F3"/>
            </a:solidFill>
            <a:ln>
              <a:noFill/>
            </a:ln>
          </p:spPr>
        </p:sp>
        <p:sp>
          <p:nvSpPr>
            <p:cNvPr id="137" name="TextBox 137"/>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38" name="Ellipse 138"/>
            <p:cNvSpPr/>
            <p:nvPr/>
          </p:nvSpPr>
          <p:spPr>
            <a:xfrm>
              <a:off x="10020300" y="6372225"/>
              <a:ext cx="266700" cy="266700"/>
            </a:xfrm>
            <a:prstGeom prst="ellipse">
              <a:avLst/>
            </a:prstGeom>
            <a:solidFill>
              <a:srgbClr val="D7D8D6"/>
            </a:solidFill>
            <a:ln>
              <a:noFill/>
            </a:ln>
          </p:spPr>
        </p:sp>
        <p:sp>
          <p:nvSpPr>
            <p:cNvPr id="139" name="Freeform 139"/>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40" name="Ellipse 140"/>
            <p:cNvSpPr/>
            <p:nvPr/>
          </p:nvSpPr>
          <p:spPr>
            <a:xfrm>
              <a:off x="10420350" y="6372225"/>
              <a:ext cx="266700" cy="266700"/>
            </a:xfrm>
            <a:prstGeom prst="ellipse">
              <a:avLst/>
            </a:prstGeom>
            <a:solidFill>
              <a:srgbClr val="D7D8D6"/>
            </a:solidFill>
            <a:ln>
              <a:noFill/>
            </a:ln>
          </p:spPr>
        </p:sp>
        <p:grpSp>
          <p:nvGrpSpPr>
            <p:cNvPr id="144" name="Group 144"/>
            <p:cNvGrpSpPr/>
            <p:nvPr/>
          </p:nvGrpSpPr>
          <p:grpSpPr>
            <a:xfrm>
              <a:off x="10489406" y="6441281"/>
              <a:ext cx="128588" cy="128588"/>
              <a:chOff x="10489406" y="6441281"/>
              <a:chExt cx="128588" cy="128588"/>
            </a:xfrm>
          </p:grpSpPr>
          <p:sp>
            <p:nvSpPr>
              <p:cNvPr id="141" name="Freeform 141"/>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42" name="Freeform 142"/>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43" name="Freeform 143"/>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45" name="Ellipse 145"/>
            <p:cNvSpPr/>
            <p:nvPr/>
          </p:nvSpPr>
          <p:spPr>
            <a:xfrm>
              <a:off x="10820400" y="6372225"/>
              <a:ext cx="266700" cy="266700"/>
            </a:xfrm>
            <a:prstGeom prst="ellipse">
              <a:avLst/>
            </a:prstGeom>
            <a:solidFill>
              <a:srgbClr val="D7D8D6"/>
            </a:solidFill>
            <a:ln>
              <a:noFill/>
            </a:ln>
          </p:spPr>
        </p:sp>
        <p:sp>
          <p:nvSpPr>
            <p:cNvPr id="146" name="Freeform 146"/>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47" name="TextBox 147"/>
            <p:cNvSpPr txBox="1"/>
            <p:nvPr/>
          </p:nvSpPr>
          <p:spPr>
            <a:xfrm>
              <a:off x="11872951" y="6456045"/>
              <a:ext cx="76162"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9</a:t>
              </a:r>
            </a:p>
          </p:txBody>
        </p:sp>
      </p:gr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ave-field"/>
          <p:cNvSpPr/>
          <p:nvPr/>
        </p:nvSpPr>
        <p:spPr>
          <a:xfrm>
            <a:off x="0" y="0"/>
            <a:ext cx="9829800" cy="6858000"/>
          </a:xfrm>
          <a:prstGeom prst="rect">
            <a:avLst/>
          </a:prstGeom>
          <a:gradFill>
            <a:gsLst>
              <a:gs pos="0">
                <a:srgbClr val="9C311B"/>
              </a:gs>
              <a:gs pos="55000">
                <a:srgbClr val="CB492F"/>
              </a:gs>
              <a:gs pos="100000">
                <a:srgbClr val="F0907D"/>
              </a:gs>
            </a:gsLst>
            <a:lin ang="2700000" scaled="1"/>
          </a:gradFill>
          <a:ln>
            <a:noFill/>
          </a:ln>
        </p:spPr>
      </p:sp>
      <p:sp>
        <p:nvSpPr>
          <p:cNvPr id="3" name="wave-1"/>
          <p:cNvSpPr/>
          <p:nvPr/>
        </p:nvSpPr>
        <p:spPr>
          <a:xfrm rot="-840000">
            <a:off x="0" y="4000500"/>
            <a:ext cx="11811000" cy="2667000"/>
          </a:xfrm>
          <a:prstGeom prst="ellipse">
            <a:avLst/>
          </a:prstGeom>
          <a:solidFill>
            <a:srgbClr val="FFFFFF">
              <a:alpha val="10000"/>
            </a:srgbClr>
          </a:solidFill>
          <a:ln>
            <a:noFill/>
          </a:ln>
        </p:spPr>
      </p:sp>
      <p:sp>
        <p:nvSpPr>
          <p:cNvPr id="4" name="wave-2"/>
          <p:cNvSpPr/>
          <p:nvPr/>
        </p:nvSpPr>
        <p:spPr>
          <a:xfrm rot="-1080000">
            <a:off x="-2095500" y="95250"/>
            <a:ext cx="9906000" cy="2095500"/>
          </a:xfrm>
          <a:prstGeom prst="ellipse">
            <a:avLst/>
          </a:prstGeom>
          <a:solidFill>
            <a:srgbClr val="FFFFFF">
              <a:alpha val="8000"/>
            </a:srgbClr>
          </a:solidFill>
          <a:ln>
            <a:noFill/>
          </a:ln>
        </p:spPr>
      </p:sp>
      <p:sp>
        <p:nvSpPr>
          <p:cNvPr id="5" name="wave-3"/>
          <p:cNvSpPr/>
          <p:nvPr/>
        </p:nvSpPr>
        <p:spPr>
          <a:xfrm rot="-720000">
            <a:off x="3238500" y="2190750"/>
            <a:ext cx="8001000" cy="1333500"/>
          </a:xfrm>
          <a:prstGeom prst="ellipse">
            <a:avLst/>
          </a:prstGeom>
          <a:solidFill>
            <a:srgbClr val="781D0B">
              <a:alpha val="18000"/>
            </a:srgbClr>
          </a:solidFill>
          <a:ln>
            <a:noFill/>
          </a:ln>
        </p:spPr>
      </p:sp>
      <p:grpSp>
        <p:nvGrpSpPr>
          <p:cNvPr id="10" name="section-title"/>
          <p:cNvGrpSpPr/>
          <p:nvPr/>
        </p:nvGrpSpPr>
        <p:grpSpPr>
          <a:xfrm>
            <a:off x="745236" y="2025015"/>
            <a:ext cx="6721598" cy="1718310"/>
            <a:chOff x="745236" y="2025015"/>
            <a:chExt cx="6721598" cy="1718310"/>
          </a:xfrm>
        </p:grpSpPr>
        <p:sp>
          <p:nvSpPr>
            <p:cNvPr id="6" name="TextBox 6"/>
            <p:cNvSpPr txBox="1"/>
            <p:nvPr/>
          </p:nvSpPr>
          <p:spPr>
            <a:xfrm>
              <a:off x="745236" y="2025015"/>
              <a:ext cx="3587496" cy="645414"/>
            </a:xfrm>
            <a:prstGeom prst="rect">
              <a:avLst/>
            </a:prstGeom>
            <a:noFill/>
            <a:ln>
              <a:noFill/>
            </a:ln>
          </p:spPr>
          <p:txBody>
            <a:bodyPr wrap="none" lIns="0" tIns="0" rIns="0" bIns="0" anchor="t" anchorCtr="0">
              <a:spAutoFit/>
            </a:bodyPr>
            <a:lstStyle/>
            <a:p>
              <a:pPr algn="l"/>
              <a:r>
                <a:rPr lang="zh-CN" sz="3300" b="1" dirty="0">
                  <a:solidFill>
                    <a:srgbClr val="FFFFFF"/>
                  </a:solidFill>
                  <a:latin typeface="+mn-lt"/>
                  <a:ea typeface="+mn-ea"/>
                  <a:cs typeface="+mn-cs"/>
                </a:rPr>
                <a:t>模型版图与清单：</a:t>
              </a:r>
            </a:p>
          </p:txBody>
        </p:sp>
        <p:sp>
          <p:nvSpPr>
            <p:cNvPr id="7" name="TextBox 7"/>
            <p:cNvSpPr txBox="1"/>
            <p:nvPr/>
          </p:nvSpPr>
          <p:spPr>
            <a:xfrm>
              <a:off x="748284" y="2661285"/>
              <a:ext cx="4025646" cy="528066"/>
            </a:xfrm>
            <a:prstGeom prst="rect">
              <a:avLst/>
            </a:prstGeom>
            <a:noFill/>
            <a:ln>
              <a:noFill/>
            </a:ln>
          </p:spPr>
          <p:txBody>
            <a:bodyPr wrap="none" lIns="0" tIns="0" rIns="0" bIns="0" anchor="t" anchorCtr="0">
              <a:spAutoFit/>
            </a:bodyPr>
            <a:lstStyle/>
            <a:p>
              <a:pPr algn="l"/>
              <a:r>
                <a:rPr lang="zh-CN" sz="2700" dirty="0">
                  <a:solidFill>
                    <a:srgbClr val="FFFFFF"/>
                  </a:solidFill>
                  <a:latin typeface="+mn-lt"/>
                  <a:ea typeface="+mn-ea"/>
                  <a:cs typeface="+mn-cs"/>
                </a:rPr>
                <a:t>高效模型风险管理的基础</a:t>
              </a:r>
            </a:p>
          </p:txBody>
        </p:sp>
        <p:sp>
          <p:nvSpPr>
            <p:cNvPr id="8" name="TextBox 8"/>
            <p:cNvSpPr txBox="1"/>
            <p:nvPr/>
          </p:nvSpPr>
          <p:spPr>
            <a:xfrm>
              <a:off x="755904" y="3299460"/>
              <a:ext cx="6710930" cy="234696"/>
            </a:xfrm>
            <a:prstGeom prst="rect">
              <a:avLst/>
            </a:prstGeom>
            <a:noFill/>
            <a:ln>
              <a:noFill/>
            </a:ln>
          </p:spPr>
          <p:txBody>
            <a:bodyPr wrap="none" lIns="0" tIns="0" rIns="0" bIns="0" anchor="t" anchorCtr="0">
              <a:spAutoFit/>
            </a:bodyPr>
            <a:lstStyle/>
            <a:p>
              <a:pPr algn="l"/>
              <a:r>
                <a:rPr lang="en-US" sz="1200" dirty="0">
                  <a:solidFill>
                    <a:srgbClr val="FFFFFF">
                      <a:alphaMod val="85000"/>
                    </a:srgbClr>
                  </a:solidFill>
                  <a:latin typeface="+mn-lt"/>
                  <a:ea typeface="+mn-ea"/>
                  <a:cs typeface="+mn-cs"/>
                </a:rPr>
                <a:t>Model landscape and inventory: The foundation for efficient model risk management​</a:t>
              </a:r>
            </a:p>
          </p:txBody>
        </p:sp>
        <p:sp>
          <p:nvSpPr>
            <p:cNvPr id="9" name="Line 9"/>
            <p:cNvSpPr/>
            <p:nvPr/>
          </p:nvSpPr>
          <p:spPr>
            <a:xfrm>
              <a:off x="762000" y="3733800"/>
              <a:ext cx="1524000" cy="9525"/>
            </a:xfrm>
            <a:custGeom>
              <a:avLst/>
              <a:gdLst/>
              <a:ahLst/>
              <a:cxnLst/>
              <a:rect l="l" t="t" r="r" b="b"/>
              <a:pathLst>
                <a:path w="1524000" h="9525">
                  <a:moveTo>
                    <a:pt x="0" y="0"/>
                  </a:moveTo>
                  <a:lnTo>
                    <a:pt x="1524000" y="0"/>
                  </a:lnTo>
                </a:path>
              </a:pathLst>
            </a:custGeom>
            <a:noFill/>
            <a:ln w="19050">
              <a:solidFill>
                <a:srgbClr val="FFFFFF"/>
              </a:solidFill>
            </a:ln>
          </p:spPr>
        </p:sp>
      </p:grpSp>
      <p:grpSp>
        <p:nvGrpSpPr>
          <p:cNvPr id="44" name="nav"/>
          <p:cNvGrpSpPr/>
          <p:nvPr/>
        </p:nvGrpSpPr>
        <p:grpSpPr>
          <a:xfrm>
            <a:off x="9834562" y="0"/>
            <a:ext cx="2357438" cy="6858000"/>
            <a:chOff x="9834562" y="0"/>
            <a:chExt cx="2357438" cy="6858000"/>
          </a:xfrm>
        </p:grpSpPr>
        <p:sp>
          <p:nvSpPr>
            <p:cNvPr id="11" name="Line 11"/>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2" name="Rectangle 12"/>
            <p:cNvSpPr/>
            <p:nvPr/>
          </p:nvSpPr>
          <p:spPr>
            <a:xfrm>
              <a:off x="9839325" y="476250"/>
              <a:ext cx="2352675" cy="514350"/>
            </a:xfrm>
            <a:prstGeom prst="rect">
              <a:avLst/>
            </a:prstGeom>
            <a:solidFill>
              <a:srgbClr val="F3F3F3"/>
            </a:solidFill>
            <a:ln>
              <a:noFill/>
            </a:ln>
          </p:spPr>
        </p:sp>
        <p:sp>
          <p:nvSpPr>
            <p:cNvPr id="13" name="TextBox 13"/>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4" name="Rectangle 14"/>
            <p:cNvSpPr/>
            <p:nvPr/>
          </p:nvSpPr>
          <p:spPr>
            <a:xfrm>
              <a:off x="9839325" y="1000125"/>
              <a:ext cx="2352675" cy="514350"/>
            </a:xfrm>
            <a:prstGeom prst="rect">
              <a:avLst/>
            </a:prstGeom>
            <a:solidFill>
              <a:srgbClr val="F3F3F3"/>
            </a:solidFill>
            <a:ln>
              <a:noFill/>
            </a:ln>
          </p:spPr>
        </p:sp>
        <p:sp>
          <p:nvSpPr>
            <p:cNvPr id="15" name="TextBox 15"/>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6" name="Rectangle 16"/>
            <p:cNvSpPr/>
            <p:nvPr/>
          </p:nvSpPr>
          <p:spPr>
            <a:xfrm>
              <a:off x="9839325" y="1524000"/>
              <a:ext cx="2352675" cy="514350"/>
            </a:xfrm>
            <a:prstGeom prst="rect">
              <a:avLst/>
            </a:prstGeom>
            <a:solidFill>
              <a:srgbClr val="F3F3F3"/>
            </a:solidFill>
            <a:ln>
              <a:noFill/>
            </a:ln>
          </p:spPr>
        </p:sp>
        <p:sp>
          <p:nvSpPr>
            <p:cNvPr id="17" name="TextBox 17"/>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8" name="Rectangle 18"/>
            <p:cNvSpPr/>
            <p:nvPr/>
          </p:nvSpPr>
          <p:spPr>
            <a:xfrm>
              <a:off x="9839325" y="2047875"/>
              <a:ext cx="2352675" cy="514350"/>
            </a:xfrm>
            <a:prstGeom prst="rect">
              <a:avLst/>
            </a:prstGeom>
            <a:solidFill>
              <a:srgbClr val="F3F3F3"/>
            </a:solidFill>
            <a:ln>
              <a:noFill/>
            </a:ln>
          </p:spPr>
        </p:sp>
        <p:sp>
          <p:nvSpPr>
            <p:cNvPr id="19" name="TextBox 19"/>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20" name="Rectangle 20"/>
            <p:cNvSpPr/>
            <p:nvPr/>
          </p:nvSpPr>
          <p:spPr>
            <a:xfrm>
              <a:off x="9839325" y="2571750"/>
              <a:ext cx="2352675" cy="514350"/>
            </a:xfrm>
            <a:prstGeom prst="rect">
              <a:avLst/>
            </a:prstGeom>
            <a:solidFill>
              <a:srgbClr val="F8A291"/>
            </a:solidFill>
            <a:ln>
              <a:noFill/>
            </a:ln>
          </p:spPr>
        </p:sp>
        <p:sp>
          <p:nvSpPr>
            <p:cNvPr id="21" name="TextBox 21"/>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b="1" dirty="0">
                  <a:solidFill>
                    <a:srgbClr val="1A1A1A"/>
                  </a:solidFill>
                  <a:latin typeface="+mn-lt"/>
                  <a:ea typeface="+mn-ea"/>
                  <a:cs typeface="+mn-cs"/>
                </a:rPr>
                <a:t>模型版图与清单：</a:t>
              </a:r>
              <a:br/>
              <a:r>
                <a:rPr lang="zh-CN" sz="820" b="1" dirty="0">
                  <a:solidFill>
                    <a:srgbClr val="1A1A1A"/>
                  </a:solidFill>
                  <a:latin typeface="+mn-lt"/>
                  <a:ea typeface="+mn-ea"/>
                  <a:cs typeface="+mn-cs"/>
                </a:rPr>
                <a:t>高效模型风险管理的基础</a:t>
              </a:r>
            </a:p>
          </p:txBody>
        </p:sp>
        <p:sp>
          <p:nvSpPr>
            <p:cNvPr id="22" name="Rectangle 22"/>
            <p:cNvSpPr/>
            <p:nvPr/>
          </p:nvSpPr>
          <p:spPr>
            <a:xfrm>
              <a:off x="9839325" y="3095625"/>
              <a:ext cx="2352675" cy="514350"/>
            </a:xfrm>
            <a:prstGeom prst="rect">
              <a:avLst/>
            </a:prstGeom>
            <a:solidFill>
              <a:srgbClr val="F3F3F3"/>
            </a:solidFill>
            <a:ln>
              <a:noFill/>
            </a:ln>
          </p:spPr>
        </p:sp>
        <p:sp>
          <p:nvSpPr>
            <p:cNvPr id="23" name="TextBox 23"/>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24" name="Rectangle 24"/>
            <p:cNvSpPr/>
            <p:nvPr/>
          </p:nvSpPr>
          <p:spPr>
            <a:xfrm>
              <a:off x="9839325" y="3619500"/>
              <a:ext cx="2352675" cy="514350"/>
            </a:xfrm>
            <a:prstGeom prst="rect">
              <a:avLst/>
            </a:prstGeom>
            <a:solidFill>
              <a:srgbClr val="F3F3F3"/>
            </a:solidFill>
            <a:ln>
              <a:noFill/>
            </a:ln>
          </p:spPr>
        </p:sp>
        <p:sp>
          <p:nvSpPr>
            <p:cNvPr id="25" name="TextBox 25"/>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26" name="Rectangle 26"/>
            <p:cNvSpPr/>
            <p:nvPr/>
          </p:nvSpPr>
          <p:spPr>
            <a:xfrm>
              <a:off x="9839325" y="4143375"/>
              <a:ext cx="2352675" cy="514350"/>
            </a:xfrm>
            <a:prstGeom prst="rect">
              <a:avLst/>
            </a:prstGeom>
            <a:solidFill>
              <a:srgbClr val="F3F3F3"/>
            </a:solidFill>
            <a:ln>
              <a:noFill/>
            </a:ln>
          </p:spPr>
        </p:sp>
        <p:sp>
          <p:nvSpPr>
            <p:cNvPr id="27" name="TextBox 27"/>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28" name="Rectangle 28"/>
            <p:cNvSpPr/>
            <p:nvPr/>
          </p:nvSpPr>
          <p:spPr>
            <a:xfrm>
              <a:off x="9839325" y="4667250"/>
              <a:ext cx="2352675" cy="514350"/>
            </a:xfrm>
            <a:prstGeom prst="rect">
              <a:avLst/>
            </a:prstGeom>
            <a:solidFill>
              <a:srgbClr val="F3F3F3"/>
            </a:solidFill>
            <a:ln>
              <a:noFill/>
            </a:ln>
          </p:spPr>
        </p:sp>
        <p:sp>
          <p:nvSpPr>
            <p:cNvPr id="29" name="TextBox 29"/>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30" name="Rectangle 30"/>
            <p:cNvSpPr/>
            <p:nvPr/>
          </p:nvSpPr>
          <p:spPr>
            <a:xfrm>
              <a:off x="9839325" y="5191125"/>
              <a:ext cx="2352675" cy="514350"/>
            </a:xfrm>
            <a:prstGeom prst="rect">
              <a:avLst/>
            </a:prstGeom>
            <a:solidFill>
              <a:srgbClr val="F3F3F3"/>
            </a:solidFill>
            <a:ln>
              <a:noFill/>
            </a:ln>
          </p:spPr>
        </p:sp>
        <p:sp>
          <p:nvSpPr>
            <p:cNvPr id="31" name="TextBox 31"/>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32" name="Rectangle 32"/>
            <p:cNvSpPr/>
            <p:nvPr/>
          </p:nvSpPr>
          <p:spPr>
            <a:xfrm>
              <a:off x="9839325" y="5715000"/>
              <a:ext cx="2352675" cy="514350"/>
            </a:xfrm>
            <a:prstGeom prst="rect">
              <a:avLst/>
            </a:prstGeom>
            <a:solidFill>
              <a:srgbClr val="F3F3F3"/>
            </a:solidFill>
            <a:ln>
              <a:noFill/>
            </a:ln>
          </p:spPr>
        </p:sp>
        <p:sp>
          <p:nvSpPr>
            <p:cNvPr id="33" name="TextBox 33"/>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34" name="Ellipse 34"/>
            <p:cNvSpPr/>
            <p:nvPr/>
          </p:nvSpPr>
          <p:spPr>
            <a:xfrm>
              <a:off x="10020300" y="6372225"/>
              <a:ext cx="266700" cy="266700"/>
            </a:xfrm>
            <a:prstGeom prst="ellipse">
              <a:avLst/>
            </a:prstGeom>
            <a:solidFill>
              <a:srgbClr val="D7D8D6"/>
            </a:solidFill>
            <a:ln>
              <a:noFill/>
            </a:ln>
          </p:spPr>
        </p:sp>
        <p:sp>
          <p:nvSpPr>
            <p:cNvPr id="35" name="Freeform 35"/>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36" name="Ellipse 36"/>
            <p:cNvSpPr/>
            <p:nvPr/>
          </p:nvSpPr>
          <p:spPr>
            <a:xfrm>
              <a:off x="10420350" y="6372225"/>
              <a:ext cx="266700" cy="266700"/>
            </a:xfrm>
            <a:prstGeom prst="ellipse">
              <a:avLst/>
            </a:prstGeom>
            <a:solidFill>
              <a:srgbClr val="D7D8D6"/>
            </a:solidFill>
            <a:ln>
              <a:noFill/>
            </a:ln>
          </p:spPr>
        </p:sp>
        <p:grpSp>
          <p:nvGrpSpPr>
            <p:cNvPr id="40" name="Group 40"/>
            <p:cNvGrpSpPr/>
            <p:nvPr/>
          </p:nvGrpSpPr>
          <p:grpSpPr>
            <a:xfrm>
              <a:off x="10489406" y="6441281"/>
              <a:ext cx="128588" cy="128588"/>
              <a:chOff x="10489406" y="6441281"/>
              <a:chExt cx="128588" cy="128588"/>
            </a:xfrm>
          </p:grpSpPr>
          <p:sp>
            <p:nvSpPr>
              <p:cNvPr id="37" name="Freeform 37"/>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38" name="Freeform 38"/>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39" name="Freeform 39"/>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41" name="Ellipse 41"/>
            <p:cNvSpPr/>
            <p:nvPr/>
          </p:nvSpPr>
          <p:spPr>
            <a:xfrm>
              <a:off x="10820400" y="6372225"/>
              <a:ext cx="266700" cy="266700"/>
            </a:xfrm>
            <a:prstGeom prst="ellipse">
              <a:avLst/>
            </a:prstGeom>
            <a:solidFill>
              <a:srgbClr val="D7D8D6"/>
            </a:solidFill>
            <a:ln>
              <a:noFill/>
            </a:ln>
          </p:spPr>
        </p:sp>
        <p:sp>
          <p:nvSpPr>
            <p:cNvPr id="42" name="Freeform 42"/>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43" name="TextBox 43"/>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10</a:t>
              </a:r>
            </a:p>
          </p:txBody>
        </p:sp>
      </p:gr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8A291"/>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11</a:t>
              </a:r>
            </a:p>
          </p:txBody>
        </p:sp>
        <p:sp>
          <p:nvSpPr>
            <p:cNvPr id="4" name="TextBox 4"/>
            <p:cNvSpPr txBox="1"/>
            <p:nvPr/>
          </p:nvSpPr>
          <p:spPr>
            <a:xfrm>
              <a:off x="942594" y="151448"/>
              <a:ext cx="572735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模型版图与清单：</a:t>
              </a:r>
              <a:r>
                <a:rPr lang="zh-CN" sz="1950" b="1" dirty="0">
                  <a:solidFill>
                    <a:srgbClr val="B61F00"/>
                  </a:solidFill>
                  <a:latin typeface="+mj-lt"/>
                  <a:ea typeface="+mj-ea"/>
                  <a:cs typeface="+mj-cs"/>
                </a:rPr>
                <a:t>清晰且全行统一的模型定义</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F8A291"/>
              </a:solidFill>
            </a:ln>
          </p:spPr>
        </p:sp>
      </p:grpSp>
      <p:grpSp>
        <p:nvGrpSpPr>
          <p:cNvPr id="9" name="leadbox"/>
          <p:cNvGrpSpPr/>
          <p:nvPr/>
        </p:nvGrpSpPr>
        <p:grpSpPr>
          <a:xfrm>
            <a:off x="476250" y="762000"/>
            <a:ext cx="9144000" cy="628650"/>
            <a:chOff x="476250" y="762000"/>
            <a:chExt cx="9144000" cy="628650"/>
          </a:xfrm>
        </p:grpSpPr>
        <p:sp>
          <p:nvSpPr>
            <p:cNvPr id="7" name="Rectangle 7"/>
            <p:cNvSpPr/>
            <p:nvPr/>
          </p:nvSpPr>
          <p:spPr>
            <a:xfrm>
              <a:off x="476250" y="762000"/>
              <a:ext cx="9144000" cy="628650"/>
            </a:xfrm>
            <a:prstGeom prst="rect">
              <a:avLst/>
            </a:prstGeom>
            <a:solidFill>
              <a:srgbClr val="F7F7F7"/>
            </a:solidFill>
            <a:ln>
              <a:noFill/>
            </a:ln>
          </p:spPr>
        </p:sp>
        <p:sp>
          <p:nvSpPr>
            <p:cNvPr id="8" name="TextBox 8"/>
            <p:cNvSpPr txBox="1"/>
            <p:nvPr/>
          </p:nvSpPr>
          <p:spPr>
            <a:xfrm>
              <a:off x="604266" y="895350"/>
              <a:ext cx="8218361" cy="405384"/>
            </a:xfrm>
            <a:prstGeom prst="rect">
              <a:avLst/>
            </a:prstGeom>
            <a:noFill/>
            <a:ln>
              <a:noFill/>
            </a:ln>
          </p:spPr>
          <p:txBody>
            <a:bodyPr wrap="none" lIns="0" tIns="0" rIns="0" bIns="0" anchor="t" anchorCtr="0">
              <a:spAutoFit/>
            </a:bodyPr>
            <a:lstStyle/>
            <a:p>
              <a:pPr algn="l">
                <a:lnSpc>
                  <a:spcPts val="1575"/>
                </a:lnSpc>
              </a:pPr>
              <a:r>
                <a:rPr lang="zh-CN" sz="1050" dirty="0">
                  <a:solidFill>
                    <a:srgbClr val="B61F00"/>
                  </a:solidFill>
                  <a:latin typeface="+mn-lt"/>
                  <a:ea typeface="+mn-ea"/>
                  <a:cs typeface="+mn-cs"/>
                </a:rPr>
                <a:t>模型清单是所有模型的中央存储库，是高效模型风险管理的基础。它界定了模型风险管理的范围，也是模型风险全部信息的来源，例如模型​</a:t>
              </a:r>
              <a:br/>
              <a:r>
                <a:rPr lang="zh-CN" sz="1050" dirty="0">
                  <a:solidFill>
                    <a:srgbClr val="B61F00"/>
                  </a:solidFill>
                  <a:latin typeface="+mn-lt"/>
                  <a:ea typeface="+mn-ea"/>
                  <a:cs typeface="+mn-cs"/>
                </a:rPr>
                <a:t>在生命周期中所处的位置、验证结果等关于模型质量的信息，以及全行的模型风险偏好声明。​</a:t>
              </a:r>
            </a:p>
          </p:txBody>
        </p:sp>
      </p:grpSp>
      <p:grpSp>
        <p:nvGrpSpPr>
          <p:cNvPr id="14" name="col-1"/>
          <p:cNvGrpSpPr/>
          <p:nvPr/>
        </p:nvGrpSpPr>
        <p:grpSpPr>
          <a:xfrm>
            <a:off x="566547" y="1609249"/>
            <a:ext cx="2358581" cy="2565558"/>
            <a:chOff x="566547" y="1609249"/>
            <a:chExt cx="2358581" cy="2565558"/>
          </a:xfrm>
        </p:grpSpPr>
        <p:sp>
          <p:nvSpPr>
            <p:cNvPr id="10" name="TextBox 10"/>
            <p:cNvSpPr txBox="1"/>
            <p:nvPr/>
          </p:nvSpPr>
          <p:spPr>
            <a:xfrm>
              <a:off x="566547" y="1609249"/>
              <a:ext cx="1669225" cy="190690"/>
            </a:xfrm>
            <a:prstGeom prst="rect">
              <a:avLst/>
            </a:prstGeom>
            <a:noFill/>
            <a:ln>
              <a:noFill/>
            </a:ln>
          </p:spPr>
          <p:txBody>
            <a:bodyPr wrap="none" lIns="0" tIns="0" rIns="0" bIns="0" anchor="t" anchorCtr="0">
              <a:spAutoFit/>
            </a:bodyPr>
            <a:lstStyle/>
            <a:p>
              <a:pPr algn="l"/>
              <a:r>
                <a:rPr lang="zh-CN" sz="980" b="1" dirty="0">
                  <a:solidFill>
                    <a:srgbClr val="B61F00"/>
                  </a:solidFill>
                  <a:latin typeface="+mn-lt"/>
                  <a:ea typeface="+mn-ea"/>
                  <a:cs typeface="+mn-cs"/>
                </a:rPr>
                <a:t>清晰且全行统一的模型定义​</a:t>
              </a:r>
            </a:p>
          </p:txBody>
        </p:sp>
        <p:sp>
          <p:nvSpPr>
            <p:cNvPr id="11" name="TextBox 11"/>
            <p:cNvSpPr txBox="1"/>
            <p:nvPr/>
          </p:nvSpPr>
          <p:spPr>
            <a:xfrm>
              <a:off x="566738" y="1798320"/>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模型清单始于清晰且全行统一的模型定义，由​</a:t>
              </a:r>
              <a:br/>
              <a:r>
                <a:rPr lang="zh-CN" sz="900" dirty="0">
                  <a:solidFill>
                    <a:srgbClr val="333333"/>
                  </a:solidFill>
                  <a:latin typeface="+mn-lt"/>
                  <a:ea typeface="+mn-ea"/>
                  <a:cs typeface="+mn-cs"/>
                </a:rPr>
                <a:t>此界定纳入清单的模型范围。调研显示，​</a:t>
              </a:r>
              <a:br/>
              <a:r>
                <a:rPr lang="zh-CN" sz="900" dirty="0">
                  <a:solidFill>
                    <a:srgbClr val="333333"/>
                  </a:solidFill>
                  <a:latin typeface="+mn-lt"/>
                  <a:ea typeface="+mn-ea"/>
                  <a:cs typeface="+mn-cs"/>
                </a:rPr>
                <a:t>87%的银行拥有成文的模型定义。​</a:t>
              </a:r>
            </a:p>
          </p:txBody>
        </p:sp>
        <p:sp>
          <p:nvSpPr>
            <p:cNvPr id="12" name="TextBox 12"/>
            <p:cNvSpPr txBox="1"/>
            <p:nvPr/>
          </p:nvSpPr>
          <p:spPr>
            <a:xfrm>
              <a:off x="566738" y="2446020"/>
              <a:ext cx="23583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模型定义因银行而异，没有一种定义能适用于​</a:t>
              </a:r>
              <a:br/>
              <a:r>
                <a:rPr lang="zh-CN" sz="900" dirty="0">
                  <a:solidFill>
                    <a:srgbClr val="333333"/>
                  </a:solidFill>
                  <a:latin typeface="+mn-lt"/>
                  <a:ea typeface="+mn-ea"/>
                  <a:cs typeface="+mn-cs"/>
                </a:rPr>
                <a:t>所有银行。不过绝大多数银行表示，他们采用​</a:t>
              </a:r>
              <a:br/>
              <a:r>
                <a:rPr lang="zh-CN" sz="900" dirty="0">
                  <a:solidFill>
                    <a:srgbClr val="333333"/>
                  </a:solidFill>
                  <a:latin typeface="+mn-lt"/>
                  <a:ea typeface="+mn-ea"/>
                  <a:cs typeface="+mn-cs"/>
                </a:rPr>
                <a:t>监管定义，并在多数情况下辅以额外的指引或​</a:t>
              </a:r>
              <a:br/>
              <a:r>
                <a:rPr lang="zh-CN" sz="900" dirty="0">
                  <a:solidFill>
                    <a:srgbClr val="333333"/>
                  </a:solidFill>
                  <a:latin typeface="+mn-lt"/>
                  <a:ea typeface="+mn-ea"/>
                  <a:cs typeface="+mn-cs"/>
                </a:rPr>
                <a:t>强化。​</a:t>
              </a:r>
            </a:p>
          </p:txBody>
        </p:sp>
        <p:sp>
          <p:nvSpPr>
            <p:cNvPr id="13" name="TextBox 13"/>
            <p:cNvSpPr txBox="1"/>
            <p:nvPr/>
          </p:nvSpPr>
          <p:spPr>
            <a:xfrm>
              <a:off x="566738" y="3274695"/>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使用最广的监管模型定义仍来自SR 11-7​</a:t>
              </a:r>
              <a:br/>
              <a:r>
                <a:rPr lang="zh-CN" sz="900" dirty="0">
                  <a:solidFill>
                    <a:srgbClr val="333333"/>
                  </a:solidFill>
                  <a:latin typeface="+mn-lt"/>
                  <a:ea typeface="+mn-ea"/>
                  <a:cs typeface="+mn-cs"/>
                </a:rPr>
                <a:t>文件*。该文件指出：“模型一词指应用统​​​</a:t>
              </a:r>
              <a:br/>
              <a:r>
                <a:rPr lang="zh-CN" sz="900" dirty="0">
                  <a:solidFill>
                    <a:srgbClr val="333333"/>
                  </a:solidFill>
                  <a:latin typeface="+mn-lt"/>
                  <a:ea typeface="+mn-ea"/>
                  <a:cs typeface="+mn-cs"/>
                </a:rPr>
                <a:t>计、经济、金融或数学理论、技术和假设，将​</a:t>
              </a:r>
              <a:br/>
              <a:r>
                <a:rPr lang="zh-CN" sz="900" dirty="0">
                  <a:solidFill>
                    <a:srgbClr val="333333"/>
                  </a:solidFill>
                  <a:latin typeface="+mn-lt"/>
                  <a:ea typeface="+mn-ea"/>
                  <a:cs typeface="+mn-cs"/>
                </a:rPr>
                <a:t>输入数据处理为定量估计的定量方法、系统或​</a:t>
              </a:r>
              <a:br/>
              <a:r>
                <a:rPr lang="zh-CN" sz="900" dirty="0">
                  <a:solidFill>
                    <a:srgbClr val="333333"/>
                  </a:solidFill>
                  <a:latin typeface="+mn-lt"/>
                  <a:ea typeface="+mn-ea"/>
                  <a:cs typeface="+mn-cs"/>
                </a:rPr>
                <a:t>途径。”​​</a:t>
              </a:r>
            </a:p>
          </p:txBody>
        </p:sp>
      </p:grpSp>
      <p:grpSp>
        <p:nvGrpSpPr>
          <p:cNvPr id="16" name="col-2"/>
          <p:cNvGrpSpPr/>
          <p:nvPr/>
        </p:nvGrpSpPr>
        <p:grpSpPr>
          <a:xfrm>
            <a:off x="3348038" y="1617345"/>
            <a:ext cx="2244090" cy="900112"/>
            <a:chOff x="3348038" y="1617345"/>
            <a:chExt cx="2244090" cy="900112"/>
          </a:xfrm>
        </p:grpSpPr>
        <p:sp>
          <p:nvSpPr>
            <p:cNvPr id="15" name="TextBox 15"/>
            <p:cNvSpPr txBox="1"/>
            <p:nvPr/>
          </p:nvSpPr>
          <p:spPr>
            <a:xfrm>
              <a:off x="3348038" y="1617345"/>
              <a:ext cx="22440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拥有成文模型定义的银行，通常也拥有成文​</a:t>
              </a:r>
              <a:br/>
              <a:r>
                <a:rPr lang="zh-CN" sz="900" dirty="0">
                  <a:solidFill>
                    <a:srgbClr val="333333"/>
                  </a:solidFill>
                  <a:latin typeface="+mn-lt"/>
                  <a:ea typeface="+mn-ea"/>
                  <a:cs typeface="+mn-cs"/>
                </a:rPr>
                <a:t>的模型所有者定义。事实上，拥有成文模型​</a:t>
              </a:r>
              <a:br/>
              <a:r>
                <a:rPr lang="zh-CN" sz="900" dirty="0">
                  <a:solidFill>
                    <a:srgbClr val="333333"/>
                  </a:solidFill>
                  <a:latin typeface="+mn-lt"/>
                  <a:ea typeface="+mn-ea"/>
                  <a:cs typeface="+mn-cs"/>
                </a:rPr>
                <a:t>定义的银行中有90%也定义了模型所有者​​</a:t>
              </a:r>
              <a:br/>
              <a:r>
                <a:rPr lang="zh-CN" sz="900" dirty="0">
                  <a:solidFill>
                    <a:srgbClr val="333333"/>
                  </a:solidFill>
                  <a:latin typeface="+mn-lt"/>
                  <a:ea typeface="+mn-ea"/>
                  <a:cs typeface="+mn-cs"/>
                </a:rPr>
                <a:t>，而没有成文模型定义的银行中仅有59%​</a:t>
              </a:r>
              <a:br/>
              <a:r>
                <a:rPr lang="zh-CN" sz="900" dirty="0">
                  <a:solidFill>
                    <a:srgbClr val="333333"/>
                  </a:solidFill>
                  <a:latin typeface="+mn-lt"/>
                  <a:ea typeface="+mn-ea"/>
                  <a:cs typeface="+mn-cs"/>
                </a:rPr>
                <a:t>定义了模型所有者。​</a:t>
              </a:r>
            </a:p>
          </p:txBody>
        </p:sp>
      </p:grpSp>
      <p:grpSp>
        <p:nvGrpSpPr>
          <p:cNvPr id="19" name="pull-quote"/>
          <p:cNvGrpSpPr/>
          <p:nvPr/>
        </p:nvGrpSpPr>
        <p:grpSpPr>
          <a:xfrm>
            <a:off x="6077712" y="1535430"/>
            <a:ext cx="2988183" cy="958215"/>
            <a:chOff x="6077712" y="1535430"/>
            <a:chExt cx="2988183" cy="958215"/>
          </a:xfrm>
        </p:grpSpPr>
        <p:sp>
          <p:nvSpPr>
            <p:cNvPr id="17" name="TextBox 17"/>
            <p:cNvSpPr txBox="1"/>
            <p:nvPr/>
          </p:nvSpPr>
          <p:spPr>
            <a:xfrm>
              <a:off x="6077712" y="1535430"/>
              <a:ext cx="318211" cy="704088"/>
            </a:xfrm>
            <a:prstGeom prst="rect">
              <a:avLst/>
            </a:prstGeom>
            <a:noFill/>
            <a:ln>
              <a:noFill/>
            </a:ln>
          </p:spPr>
          <p:txBody>
            <a:bodyPr wrap="none" lIns="0" tIns="0" rIns="0" bIns="0" anchor="t" anchorCtr="0">
              <a:spAutoFit/>
            </a:bodyPr>
            <a:lstStyle/>
            <a:p>
              <a:pPr algn="l"/>
              <a:r>
                <a:rPr lang="zh-CN" sz="3600" dirty="0">
                  <a:solidFill>
                    <a:srgbClr val="F9D0C8"/>
                  </a:solidFill>
                  <a:latin typeface="+mj-lt"/>
                  <a:ea typeface="+mj-ea"/>
                  <a:cs typeface="+mj-cs"/>
                </a:rPr>
                <a:t>“</a:t>
              </a:r>
            </a:p>
          </p:txBody>
        </p:sp>
        <p:sp>
          <p:nvSpPr>
            <p:cNvPr id="18" name="TextBox 18"/>
            <p:cNvSpPr txBox="1"/>
            <p:nvPr/>
          </p:nvSpPr>
          <p:spPr>
            <a:xfrm>
              <a:off x="6469380" y="1628775"/>
              <a:ext cx="2596515"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B61F00"/>
                  </a:solidFill>
                  <a:latin typeface="+mn-lt"/>
                  <a:ea typeface="+mn-ea"/>
                  <a:cs typeface="+mn-cs"/>
                </a:rPr>
                <a:t>使用最广的监管模型定义，仍​</a:t>
              </a:r>
              <a:br/>
              <a:r>
                <a:rPr lang="zh-CN" sz="1500" dirty="0">
                  <a:solidFill>
                    <a:srgbClr val="B61F00"/>
                  </a:solidFill>
                  <a:latin typeface="+mn-lt"/>
                  <a:ea typeface="+mn-ea"/>
                  <a:cs typeface="+mn-cs"/>
                </a:rPr>
                <a:t>是来自SR 11-7文件的定​​</a:t>
              </a:r>
              <a:br/>
              <a:r>
                <a:rPr lang="zh-CN" sz="1500" dirty="0">
                  <a:solidFill>
                    <a:srgbClr val="B61F00"/>
                  </a:solidFill>
                  <a:latin typeface="+mn-lt"/>
                  <a:ea typeface="+mn-ea"/>
                  <a:cs typeface="+mn-cs"/>
                </a:rPr>
                <a:t>义​</a:t>
              </a:r>
            </a:p>
          </p:txBody>
        </p:sp>
      </p:grpSp>
      <p:grpSp>
        <p:nvGrpSpPr>
          <p:cNvPr id="30" name="figure-8"/>
          <p:cNvGrpSpPr/>
          <p:nvPr/>
        </p:nvGrpSpPr>
        <p:grpSpPr>
          <a:xfrm>
            <a:off x="3348038" y="4702016"/>
            <a:ext cx="2186793" cy="1749743"/>
            <a:chOff x="3348038" y="4702016"/>
            <a:chExt cx="2186793" cy="1749743"/>
          </a:xfrm>
        </p:grpSpPr>
        <p:sp>
          <p:nvSpPr>
            <p:cNvPr id="20" name="TextBox 20"/>
            <p:cNvSpPr txBox="1"/>
            <p:nvPr/>
          </p:nvSpPr>
          <p:spPr>
            <a:xfrm>
              <a:off x="3348038" y="4702016"/>
              <a:ext cx="1623955"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图8. 拥有成文模型定义的银行​​</a:t>
              </a:r>
            </a:p>
          </p:txBody>
        </p:sp>
        <p:sp>
          <p:nvSpPr>
            <p:cNvPr id="21" name="TextBox 21"/>
            <p:cNvSpPr txBox="1"/>
            <p:nvPr/>
          </p:nvSpPr>
          <p:spPr>
            <a:xfrm>
              <a:off x="3348038" y="4851559"/>
              <a:ext cx="2186793"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Banks that have a documented model definition​​</a:t>
              </a:r>
            </a:p>
          </p:txBody>
        </p:sp>
        <p:sp>
          <p:nvSpPr>
            <p:cNvPr id="22" name="Freeform 22"/>
            <p:cNvSpPr/>
            <p:nvPr/>
          </p:nvSpPr>
          <p:spPr>
            <a:xfrm>
              <a:off x="3943350" y="5076825"/>
              <a:ext cx="1066800" cy="1066800"/>
            </a:xfrm>
            <a:prstGeom prst="blockArc">
              <a:avLst>
                <a:gd name="adj1" fmla="val 16200000"/>
                <a:gd name="adj2" fmla="val 11880000"/>
                <a:gd name="adj3" fmla="val 16071"/>
              </a:avLst>
            </a:prstGeom>
            <a:solidFill>
              <a:srgbClr val="E72700"/>
            </a:solidFill>
            <a:ln>
              <a:noFill/>
            </a:ln>
          </p:spPr>
        </p:sp>
        <p:sp>
          <p:nvSpPr>
            <p:cNvPr id="23" name="Freeform 23"/>
            <p:cNvSpPr/>
            <p:nvPr/>
          </p:nvSpPr>
          <p:spPr>
            <a:xfrm>
              <a:off x="3943350" y="5076825"/>
              <a:ext cx="1066800" cy="1066800"/>
            </a:xfrm>
            <a:prstGeom prst="blockArc">
              <a:avLst>
                <a:gd name="adj1" fmla="val 11880000"/>
                <a:gd name="adj2" fmla="val 16200000"/>
                <a:gd name="adj3" fmla="val 16071"/>
              </a:avLst>
            </a:prstGeom>
            <a:solidFill>
              <a:srgbClr val="C9C9C9"/>
            </a:solidFill>
            <a:ln>
              <a:noFill/>
            </a:ln>
          </p:spPr>
        </p:sp>
        <p:sp>
          <p:nvSpPr>
            <p:cNvPr id="24" name="TextBox 24"/>
            <p:cNvSpPr txBox="1"/>
            <p:nvPr/>
          </p:nvSpPr>
          <p:spPr>
            <a:xfrm>
              <a:off x="4736249" y="6106478"/>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80%​</a:t>
              </a:r>
            </a:p>
          </p:txBody>
        </p:sp>
        <p:sp>
          <p:nvSpPr>
            <p:cNvPr id="25" name="TextBox 25"/>
            <p:cNvSpPr txBox="1"/>
            <p:nvPr/>
          </p:nvSpPr>
          <p:spPr>
            <a:xfrm>
              <a:off x="3959352" y="5028248"/>
              <a:ext cx="251841"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20%​</a:t>
              </a:r>
            </a:p>
          </p:txBody>
        </p:sp>
        <p:sp>
          <p:nvSpPr>
            <p:cNvPr id="26" name="Rectangle 26"/>
            <p:cNvSpPr/>
            <p:nvPr/>
          </p:nvSpPr>
          <p:spPr>
            <a:xfrm>
              <a:off x="3352800" y="6305550"/>
              <a:ext cx="95250" cy="95250"/>
            </a:xfrm>
            <a:prstGeom prst="rect">
              <a:avLst/>
            </a:prstGeom>
            <a:solidFill>
              <a:srgbClr val="E72700"/>
            </a:solidFill>
            <a:ln>
              <a:noFill/>
            </a:ln>
          </p:spPr>
        </p:sp>
        <p:sp>
          <p:nvSpPr>
            <p:cNvPr id="27" name="TextBox 27"/>
            <p:cNvSpPr txBox="1"/>
            <p:nvPr/>
          </p:nvSpPr>
          <p:spPr>
            <a:xfrm>
              <a:off x="3490912" y="6318409"/>
              <a:ext cx="35755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是Yes​​</a:t>
              </a:r>
            </a:p>
          </p:txBody>
        </p:sp>
        <p:sp>
          <p:nvSpPr>
            <p:cNvPr id="28" name="Rectangle 28"/>
            <p:cNvSpPr/>
            <p:nvPr/>
          </p:nvSpPr>
          <p:spPr>
            <a:xfrm>
              <a:off x="3927348" y="6305550"/>
              <a:ext cx="95250" cy="95250"/>
            </a:xfrm>
            <a:prstGeom prst="rect">
              <a:avLst/>
            </a:prstGeom>
            <a:solidFill>
              <a:srgbClr val="C9C9C9"/>
            </a:solidFill>
            <a:ln>
              <a:noFill/>
            </a:ln>
          </p:spPr>
        </p:sp>
        <p:sp>
          <p:nvSpPr>
            <p:cNvPr id="29" name="TextBox 29"/>
            <p:cNvSpPr txBox="1"/>
            <p:nvPr/>
          </p:nvSpPr>
          <p:spPr>
            <a:xfrm>
              <a:off x="4065460" y="6318409"/>
              <a:ext cx="30815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否No​​</a:t>
              </a:r>
            </a:p>
          </p:txBody>
        </p:sp>
      </p:grpSp>
      <p:grpSp>
        <p:nvGrpSpPr>
          <p:cNvPr id="45" name="figure-9"/>
          <p:cNvGrpSpPr/>
          <p:nvPr/>
        </p:nvGrpSpPr>
        <p:grpSpPr>
          <a:xfrm>
            <a:off x="6148388" y="4702016"/>
            <a:ext cx="3279781" cy="1441609"/>
            <a:chOff x="6148388" y="4702016"/>
            <a:chExt cx="3279781" cy="1441609"/>
          </a:xfrm>
        </p:grpSpPr>
        <p:sp>
          <p:nvSpPr>
            <p:cNvPr id="31" name="TextBox 31"/>
            <p:cNvSpPr txBox="1"/>
            <p:nvPr/>
          </p:nvSpPr>
          <p:spPr>
            <a:xfrm>
              <a:off x="6148388" y="4702016"/>
              <a:ext cx="327978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图9. 监管定义与内部定义的使用（在有成文模型定义的情况下）​​</a:t>
              </a:r>
            </a:p>
          </p:txBody>
        </p:sp>
        <p:sp>
          <p:nvSpPr>
            <p:cNvPr id="32" name="TextBox 32"/>
            <p:cNvSpPr txBox="1"/>
            <p:nvPr/>
          </p:nvSpPr>
          <p:spPr>
            <a:xfrm>
              <a:off x="6148388" y="4851559"/>
              <a:ext cx="2324066"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Usage of regulatory and in-house model definition​​</a:t>
              </a:r>
            </a:p>
          </p:txBody>
        </p:sp>
        <p:sp>
          <p:nvSpPr>
            <p:cNvPr id="33" name="Freeform 33"/>
            <p:cNvSpPr/>
            <p:nvPr/>
          </p:nvSpPr>
          <p:spPr>
            <a:xfrm>
              <a:off x="6515100" y="5076825"/>
              <a:ext cx="1066800" cy="1066800"/>
            </a:xfrm>
            <a:prstGeom prst="blockArc">
              <a:avLst>
                <a:gd name="adj1" fmla="val 16200000"/>
                <a:gd name="adj2" fmla="val 7776000"/>
                <a:gd name="adj3" fmla="val 16071"/>
              </a:avLst>
            </a:prstGeom>
            <a:solidFill>
              <a:srgbClr val="E72700"/>
            </a:solidFill>
            <a:ln>
              <a:noFill/>
            </a:ln>
          </p:spPr>
        </p:sp>
        <p:sp>
          <p:nvSpPr>
            <p:cNvPr id="34" name="Freeform 34"/>
            <p:cNvSpPr/>
            <p:nvPr/>
          </p:nvSpPr>
          <p:spPr>
            <a:xfrm>
              <a:off x="6515100" y="5076825"/>
              <a:ext cx="1066800" cy="1066800"/>
            </a:xfrm>
            <a:prstGeom prst="blockArc">
              <a:avLst>
                <a:gd name="adj1" fmla="val 7776000"/>
                <a:gd name="adj2" fmla="val 12096000"/>
                <a:gd name="adj3" fmla="val 16071"/>
              </a:avLst>
            </a:prstGeom>
            <a:solidFill>
              <a:srgbClr val="B61F00"/>
            </a:solidFill>
            <a:ln>
              <a:noFill/>
            </a:ln>
          </p:spPr>
        </p:sp>
        <p:sp>
          <p:nvSpPr>
            <p:cNvPr id="35" name="Freeform 35"/>
            <p:cNvSpPr/>
            <p:nvPr/>
          </p:nvSpPr>
          <p:spPr>
            <a:xfrm>
              <a:off x="6515100" y="5076825"/>
              <a:ext cx="1066800" cy="1066800"/>
            </a:xfrm>
            <a:prstGeom prst="blockArc">
              <a:avLst>
                <a:gd name="adj1" fmla="val 12096000"/>
                <a:gd name="adj2" fmla="val 16200000"/>
                <a:gd name="adj3" fmla="val 16071"/>
              </a:avLst>
            </a:prstGeom>
            <a:solidFill>
              <a:srgbClr val="7C1500"/>
            </a:solidFill>
            <a:ln>
              <a:noFill/>
            </a:ln>
          </p:spPr>
        </p:sp>
        <p:sp>
          <p:nvSpPr>
            <p:cNvPr id="36" name="TextBox 36"/>
            <p:cNvSpPr txBox="1"/>
            <p:nvPr/>
          </p:nvSpPr>
          <p:spPr>
            <a:xfrm>
              <a:off x="7544219" y="5793105"/>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61%​</a:t>
              </a:r>
            </a:p>
          </p:txBody>
        </p:sp>
        <p:sp>
          <p:nvSpPr>
            <p:cNvPr id="37" name="TextBox 37"/>
            <p:cNvSpPr txBox="1"/>
            <p:nvPr/>
          </p:nvSpPr>
          <p:spPr>
            <a:xfrm>
              <a:off x="6270727" y="5733098"/>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20%​</a:t>
              </a:r>
            </a:p>
          </p:txBody>
        </p:sp>
        <p:sp>
          <p:nvSpPr>
            <p:cNvPr id="38" name="TextBox 38"/>
            <p:cNvSpPr txBox="1"/>
            <p:nvPr/>
          </p:nvSpPr>
          <p:spPr>
            <a:xfrm>
              <a:off x="6542189" y="5015865"/>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19%​</a:t>
              </a:r>
            </a:p>
          </p:txBody>
        </p:sp>
        <p:sp>
          <p:nvSpPr>
            <p:cNvPr id="39" name="Rectangle 39"/>
            <p:cNvSpPr/>
            <p:nvPr/>
          </p:nvSpPr>
          <p:spPr>
            <a:xfrm>
              <a:off x="7772400" y="5372100"/>
              <a:ext cx="95250" cy="95250"/>
            </a:xfrm>
            <a:prstGeom prst="rect">
              <a:avLst/>
            </a:prstGeom>
            <a:solidFill>
              <a:srgbClr val="E72700"/>
            </a:solidFill>
            <a:ln>
              <a:noFill/>
            </a:ln>
          </p:spPr>
        </p:sp>
        <p:sp>
          <p:nvSpPr>
            <p:cNvPr id="40" name="TextBox 40"/>
            <p:cNvSpPr txBox="1"/>
            <p:nvPr/>
          </p:nvSpPr>
          <p:spPr>
            <a:xfrm>
              <a:off x="7910512" y="5393055"/>
              <a:ext cx="1132256"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监管定义 + 额外指引/强化​​​​</a:t>
              </a:r>
            </a:p>
          </p:txBody>
        </p:sp>
        <p:sp>
          <p:nvSpPr>
            <p:cNvPr id="41" name="Rectangle 41"/>
            <p:cNvSpPr/>
            <p:nvPr/>
          </p:nvSpPr>
          <p:spPr>
            <a:xfrm>
              <a:off x="7772400" y="5600700"/>
              <a:ext cx="95250" cy="95250"/>
            </a:xfrm>
            <a:prstGeom prst="rect">
              <a:avLst/>
            </a:prstGeom>
            <a:solidFill>
              <a:srgbClr val="B61F00"/>
            </a:solidFill>
            <a:ln>
              <a:noFill/>
            </a:ln>
          </p:spPr>
        </p:sp>
        <p:sp>
          <p:nvSpPr>
            <p:cNvPr id="42" name="TextBox 42"/>
            <p:cNvSpPr txBox="1"/>
            <p:nvPr/>
          </p:nvSpPr>
          <p:spPr>
            <a:xfrm>
              <a:off x="7910512" y="5621655"/>
              <a:ext cx="780898"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完全内部开发的定义​</a:t>
              </a:r>
            </a:p>
          </p:txBody>
        </p:sp>
        <p:sp>
          <p:nvSpPr>
            <p:cNvPr id="43" name="Rectangle 43"/>
            <p:cNvSpPr/>
            <p:nvPr/>
          </p:nvSpPr>
          <p:spPr>
            <a:xfrm>
              <a:off x="7772400" y="5829300"/>
              <a:ext cx="95250" cy="95250"/>
            </a:xfrm>
            <a:prstGeom prst="rect">
              <a:avLst/>
            </a:prstGeom>
            <a:solidFill>
              <a:srgbClr val="7C1500"/>
            </a:solidFill>
            <a:ln>
              <a:noFill/>
            </a:ln>
          </p:spPr>
        </p:sp>
        <p:sp>
          <p:nvSpPr>
            <p:cNvPr id="44" name="TextBox 44"/>
            <p:cNvSpPr txBox="1"/>
            <p:nvPr/>
          </p:nvSpPr>
          <p:spPr>
            <a:xfrm>
              <a:off x="7910512" y="5850255"/>
              <a:ext cx="377038"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监管定义​</a:t>
              </a:r>
            </a:p>
          </p:txBody>
        </p:sp>
      </p:grpSp>
      <p:grpSp>
        <p:nvGrpSpPr>
          <p:cNvPr id="47" name="footnote"/>
          <p:cNvGrpSpPr/>
          <p:nvPr/>
        </p:nvGrpSpPr>
        <p:grpSpPr>
          <a:xfrm>
            <a:off x="566738" y="6647736"/>
            <a:ext cx="4373573" cy="140494"/>
            <a:chOff x="566738" y="6647736"/>
            <a:chExt cx="4373573" cy="140494"/>
          </a:xfrm>
        </p:grpSpPr>
        <p:sp>
          <p:nvSpPr>
            <p:cNvPr id="46" name="TextBox 46"/>
            <p:cNvSpPr txBox="1"/>
            <p:nvPr/>
          </p:nvSpPr>
          <p:spPr>
            <a:xfrm>
              <a:off x="566738" y="6647736"/>
              <a:ext cx="4373573" cy="140494"/>
            </a:xfrm>
            <a:prstGeom prst="rect">
              <a:avLst/>
            </a:prstGeom>
            <a:noFill/>
            <a:ln>
              <a:noFill/>
            </a:ln>
          </p:spPr>
          <p:txBody>
            <a:bodyPr wrap="none" lIns="0" tIns="0" rIns="0" bIns="0" anchor="t" anchorCtr="0">
              <a:spAutoFit/>
            </a:bodyPr>
            <a:lstStyle/>
            <a:p>
              <a:pPr algn="l"/>
              <a:r>
                <a:rPr lang="zh-CN" sz="710" dirty="0">
                  <a:solidFill>
                    <a:srgbClr val="666666"/>
                  </a:solidFill>
                  <a:latin typeface="+mn-lt"/>
                  <a:ea typeface="+mn-ea"/>
                  <a:cs typeface="+mn-cs"/>
                </a:rPr>
                <a:t>* 美联储理事会与货币监理署（OCC）2011年发布的《模型风险管理监管指引》（SR 11-7）。​​​​​​​</a:t>
              </a:r>
            </a:p>
          </p:txBody>
        </p:sp>
      </p:grpSp>
      <p:grpSp>
        <p:nvGrpSpPr>
          <p:cNvPr id="81" name="nav"/>
          <p:cNvGrpSpPr/>
          <p:nvPr/>
        </p:nvGrpSpPr>
        <p:grpSpPr>
          <a:xfrm>
            <a:off x="9834562" y="0"/>
            <a:ext cx="2357438" cy="6858000"/>
            <a:chOff x="9834562" y="0"/>
            <a:chExt cx="2357438" cy="6858000"/>
          </a:xfrm>
        </p:grpSpPr>
        <p:sp>
          <p:nvSpPr>
            <p:cNvPr id="48" name="Line 48"/>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49" name="Rectangle 49"/>
            <p:cNvSpPr/>
            <p:nvPr/>
          </p:nvSpPr>
          <p:spPr>
            <a:xfrm>
              <a:off x="9839325" y="476250"/>
              <a:ext cx="2352675" cy="514350"/>
            </a:xfrm>
            <a:prstGeom prst="rect">
              <a:avLst/>
            </a:prstGeom>
            <a:solidFill>
              <a:srgbClr val="F3F3F3"/>
            </a:solidFill>
            <a:ln>
              <a:noFill/>
            </a:ln>
          </p:spPr>
        </p:sp>
        <p:sp>
          <p:nvSpPr>
            <p:cNvPr id="50" name="TextBox 50"/>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51" name="Rectangle 51"/>
            <p:cNvSpPr/>
            <p:nvPr/>
          </p:nvSpPr>
          <p:spPr>
            <a:xfrm>
              <a:off x="9839325" y="1000125"/>
              <a:ext cx="2352675" cy="514350"/>
            </a:xfrm>
            <a:prstGeom prst="rect">
              <a:avLst/>
            </a:prstGeom>
            <a:solidFill>
              <a:srgbClr val="F3F3F3"/>
            </a:solidFill>
            <a:ln>
              <a:noFill/>
            </a:ln>
          </p:spPr>
        </p:sp>
        <p:sp>
          <p:nvSpPr>
            <p:cNvPr id="52" name="TextBox 52"/>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53" name="Rectangle 53"/>
            <p:cNvSpPr/>
            <p:nvPr/>
          </p:nvSpPr>
          <p:spPr>
            <a:xfrm>
              <a:off x="9839325" y="1524000"/>
              <a:ext cx="2352675" cy="514350"/>
            </a:xfrm>
            <a:prstGeom prst="rect">
              <a:avLst/>
            </a:prstGeom>
            <a:solidFill>
              <a:srgbClr val="F3F3F3"/>
            </a:solidFill>
            <a:ln>
              <a:noFill/>
            </a:ln>
          </p:spPr>
        </p:sp>
        <p:sp>
          <p:nvSpPr>
            <p:cNvPr id="54" name="TextBox 54"/>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55" name="Rectangle 55"/>
            <p:cNvSpPr/>
            <p:nvPr/>
          </p:nvSpPr>
          <p:spPr>
            <a:xfrm>
              <a:off x="9839325" y="2047875"/>
              <a:ext cx="2352675" cy="514350"/>
            </a:xfrm>
            <a:prstGeom prst="rect">
              <a:avLst/>
            </a:prstGeom>
            <a:solidFill>
              <a:srgbClr val="F3F3F3"/>
            </a:solidFill>
            <a:ln>
              <a:noFill/>
            </a:ln>
          </p:spPr>
        </p:sp>
        <p:sp>
          <p:nvSpPr>
            <p:cNvPr id="56" name="TextBox 56"/>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57" name="Rectangle 57"/>
            <p:cNvSpPr/>
            <p:nvPr/>
          </p:nvSpPr>
          <p:spPr>
            <a:xfrm>
              <a:off x="9839325" y="2571750"/>
              <a:ext cx="2352675" cy="514350"/>
            </a:xfrm>
            <a:prstGeom prst="rect">
              <a:avLst/>
            </a:prstGeom>
            <a:solidFill>
              <a:srgbClr val="F8A291"/>
            </a:solidFill>
            <a:ln>
              <a:noFill/>
            </a:ln>
          </p:spPr>
        </p:sp>
        <p:sp>
          <p:nvSpPr>
            <p:cNvPr id="58" name="TextBox 58"/>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b="1" dirty="0">
                  <a:solidFill>
                    <a:srgbClr val="1A1A1A"/>
                  </a:solidFill>
                  <a:latin typeface="+mn-lt"/>
                  <a:ea typeface="+mn-ea"/>
                  <a:cs typeface="+mn-cs"/>
                </a:rPr>
                <a:t>模型版图与清单：</a:t>
              </a:r>
              <a:br/>
              <a:r>
                <a:rPr lang="zh-CN" sz="820" b="1" dirty="0">
                  <a:solidFill>
                    <a:srgbClr val="1A1A1A"/>
                  </a:solidFill>
                  <a:latin typeface="+mn-lt"/>
                  <a:ea typeface="+mn-ea"/>
                  <a:cs typeface="+mn-cs"/>
                </a:rPr>
                <a:t>高效模型风险管理的基础</a:t>
              </a:r>
            </a:p>
          </p:txBody>
        </p:sp>
        <p:sp>
          <p:nvSpPr>
            <p:cNvPr id="59" name="Rectangle 59"/>
            <p:cNvSpPr/>
            <p:nvPr/>
          </p:nvSpPr>
          <p:spPr>
            <a:xfrm>
              <a:off x="9839325" y="3095625"/>
              <a:ext cx="2352675" cy="514350"/>
            </a:xfrm>
            <a:prstGeom prst="rect">
              <a:avLst/>
            </a:prstGeom>
            <a:solidFill>
              <a:srgbClr val="F3F3F3"/>
            </a:solidFill>
            <a:ln>
              <a:noFill/>
            </a:ln>
          </p:spPr>
        </p:sp>
        <p:sp>
          <p:nvSpPr>
            <p:cNvPr id="60" name="TextBox 60"/>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61" name="Rectangle 61"/>
            <p:cNvSpPr/>
            <p:nvPr/>
          </p:nvSpPr>
          <p:spPr>
            <a:xfrm>
              <a:off x="9839325" y="3619500"/>
              <a:ext cx="2352675" cy="514350"/>
            </a:xfrm>
            <a:prstGeom prst="rect">
              <a:avLst/>
            </a:prstGeom>
            <a:solidFill>
              <a:srgbClr val="F3F3F3"/>
            </a:solidFill>
            <a:ln>
              <a:noFill/>
            </a:ln>
          </p:spPr>
        </p:sp>
        <p:sp>
          <p:nvSpPr>
            <p:cNvPr id="62" name="TextBox 62"/>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63" name="Rectangle 63"/>
            <p:cNvSpPr/>
            <p:nvPr/>
          </p:nvSpPr>
          <p:spPr>
            <a:xfrm>
              <a:off x="9839325" y="4143375"/>
              <a:ext cx="2352675" cy="514350"/>
            </a:xfrm>
            <a:prstGeom prst="rect">
              <a:avLst/>
            </a:prstGeom>
            <a:solidFill>
              <a:srgbClr val="F3F3F3"/>
            </a:solidFill>
            <a:ln>
              <a:noFill/>
            </a:ln>
          </p:spPr>
        </p:sp>
        <p:sp>
          <p:nvSpPr>
            <p:cNvPr id="64" name="TextBox 64"/>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65" name="Rectangle 65"/>
            <p:cNvSpPr/>
            <p:nvPr/>
          </p:nvSpPr>
          <p:spPr>
            <a:xfrm>
              <a:off x="9839325" y="4667250"/>
              <a:ext cx="2352675" cy="514350"/>
            </a:xfrm>
            <a:prstGeom prst="rect">
              <a:avLst/>
            </a:prstGeom>
            <a:solidFill>
              <a:srgbClr val="F3F3F3"/>
            </a:solidFill>
            <a:ln>
              <a:noFill/>
            </a:ln>
          </p:spPr>
        </p:sp>
        <p:sp>
          <p:nvSpPr>
            <p:cNvPr id="66" name="TextBox 66"/>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67" name="Rectangle 67"/>
            <p:cNvSpPr/>
            <p:nvPr/>
          </p:nvSpPr>
          <p:spPr>
            <a:xfrm>
              <a:off x="9839325" y="5191125"/>
              <a:ext cx="2352675" cy="514350"/>
            </a:xfrm>
            <a:prstGeom prst="rect">
              <a:avLst/>
            </a:prstGeom>
            <a:solidFill>
              <a:srgbClr val="F3F3F3"/>
            </a:solidFill>
            <a:ln>
              <a:noFill/>
            </a:ln>
          </p:spPr>
        </p:sp>
        <p:sp>
          <p:nvSpPr>
            <p:cNvPr id="68" name="TextBox 68"/>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69" name="Rectangle 69"/>
            <p:cNvSpPr/>
            <p:nvPr/>
          </p:nvSpPr>
          <p:spPr>
            <a:xfrm>
              <a:off x="9839325" y="5715000"/>
              <a:ext cx="2352675" cy="514350"/>
            </a:xfrm>
            <a:prstGeom prst="rect">
              <a:avLst/>
            </a:prstGeom>
            <a:solidFill>
              <a:srgbClr val="F3F3F3"/>
            </a:solidFill>
            <a:ln>
              <a:noFill/>
            </a:ln>
          </p:spPr>
        </p:sp>
        <p:sp>
          <p:nvSpPr>
            <p:cNvPr id="70" name="TextBox 70"/>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71" name="Ellipse 71"/>
            <p:cNvSpPr/>
            <p:nvPr/>
          </p:nvSpPr>
          <p:spPr>
            <a:xfrm>
              <a:off x="10020300" y="6372225"/>
              <a:ext cx="266700" cy="266700"/>
            </a:xfrm>
            <a:prstGeom prst="ellipse">
              <a:avLst/>
            </a:prstGeom>
            <a:solidFill>
              <a:srgbClr val="D7D8D6"/>
            </a:solidFill>
            <a:ln>
              <a:noFill/>
            </a:ln>
          </p:spPr>
        </p:sp>
        <p:sp>
          <p:nvSpPr>
            <p:cNvPr id="72" name="Freeform 72"/>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73" name="Ellipse 73"/>
            <p:cNvSpPr/>
            <p:nvPr/>
          </p:nvSpPr>
          <p:spPr>
            <a:xfrm>
              <a:off x="10420350" y="6372225"/>
              <a:ext cx="266700" cy="266700"/>
            </a:xfrm>
            <a:prstGeom prst="ellipse">
              <a:avLst/>
            </a:prstGeom>
            <a:solidFill>
              <a:srgbClr val="D7D8D6"/>
            </a:solidFill>
            <a:ln>
              <a:noFill/>
            </a:ln>
          </p:spPr>
        </p:sp>
        <p:grpSp>
          <p:nvGrpSpPr>
            <p:cNvPr id="77" name="Group 77"/>
            <p:cNvGrpSpPr/>
            <p:nvPr/>
          </p:nvGrpSpPr>
          <p:grpSpPr>
            <a:xfrm>
              <a:off x="10489406" y="6441281"/>
              <a:ext cx="128588" cy="128588"/>
              <a:chOff x="10489406" y="6441281"/>
              <a:chExt cx="128588" cy="128588"/>
            </a:xfrm>
          </p:grpSpPr>
          <p:sp>
            <p:nvSpPr>
              <p:cNvPr id="74" name="Freeform 74"/>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75" name="Freeform 75"/>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76" name="Freeform 76"/>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78" name="Ellipse 78"/>
            <p:cNvSpPr/>
            <p:nvPr/>
          </p:nvSpPr>
          <p:spPr>
            <a:xfrm>
              <a:off x="10820400" y="6372225"/>
              <a:ext cx="266700" cy="266700"/>
            </a:xfrm>
            <a:prstGeom prst="ellipse">
              <a:avLst/>
            </a:prstGeom>
            <a:solidFill>
              <a:srgbClr val="D7D8D6"/>
            </a:solidFill>
            <a:ln>
              <a:noFill/>
            </a:ln>
          </p:spPr>
        </p:sp>
        <p:sp>
          <p:nvSpPr>
            <p:cNvPr id="79" name="Freeform 79"/>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80" name="TextBox 80"/>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11</a:t>
              </a:r>
            </a:p>
          </p:txBody>
        </p:sp>
      </p:gr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8A291"/>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12</a:t>
              </a:r>
            </a:p>
          </p:txBody>
        </p:sp>
        <p:sp>
          <p:nvSpPr>
            <p:cNvPr id="4" name="TextBox 4"/>
            <p:cNvSpPr txBox="1"/>
            <p:nvPr/>
          </p:nvSpPr>
          <p:spPr>
            <a:xfrm>
              <a:off x="942594" y="151448"/>
              <a:ext cx="565315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模型版图与清单：</a:t>
              </a:r>
              <a:r>
                <a:rPr lang="zh-CN" sz="1950" b="1" dirty="0">
                  <a:solidFill>
                    <a:srgbClr val="B61F00"/>
                  </a:solidFill>
                  <a:latin typeface="+mj-lt"/>
                  <a:ea typeface="+mj-ea"/>
                  <a:cs typeface="+mj-cs"/>
                </a:rPr>
                <a:t>19种模型类型，四大类别</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F8A291"/>
              </a:solidFill>
            </a:ln>
          </p:spPr>
        </p:sp>
      </p:grpSp>
      <p:grpSp>
        <p:nvGrpSpPr>
          <p:cNvPr id="8" name="col-1"/>
          <p:cNvGrpSpPr/>
          <p:nvPr/>
        </p:nvGrpSpPr>
        <p:grpSpPr>
          <a:xfrm>
            <a:off x="566738" y="855345"/>
            <a:ext cx="2358390" cy="900112"/>
            <a:chOff x="566738" y="855345"/>
            <a:chExt cx="2358390" cy="900112"/>
          </a:xfrm>
        </p:grpSpPr>
        <p:sp>
          <p:nvSpPr>
            <p:cNvPr id="7" name="TextBox 7"/>
            <p:cNvSpPr txBox="1"/>
            <p:nvPr/>
          </p:nvSpPr>
          <p:spPr>
            <a:xfrm>
              <a:off x="566738" y="855345"/>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纯粹基于监管定义的模型定义，在评估某个模​</a:t>
              </a:r>
              <a:br/>
              <a:r>
                <a:rPr lang="zh-CN" sz="900" dirty="0">
                  <a:solidFill>
                    <a:srgbClr val="333333"/>
                  </a:solidFill>
                  <a:latin typeface="+mn-lt"/>
                  <a:ea typeface="+mn-ea"/>
                  <a:cs typeface="+mn-cs"/>
                </a:rPr>
                <a:t>型候选是否属于模型时仍难以直接适用。为克​</a:t>
              </a:r>
              <a:br/>
              <a:r>
                <a:rPr lang="zh-CN" sz="900" dirty="0">
                  <a:solidFill>
                    <a:srgbClr val="333333"/>
                  </a:solidFill>
                  <a:latin typeface="+mn-lt"/>
                  <a:ea typeface="+mn-ea"/>
                  <a:cs typeface="+mn-cs"/>
                </a:rPr>
                <a:t>服这一挑战，实践中可采用一系列更实用的判​</a:t>
              </a:r>
              <a:br/>
              <a:r>
                <a:rPr lang="zh-CN" sz="900" dirty="0">
                  <a:solidFill>
                    <a:srgbClr val="333333"/>
                  </a:solidFill>
                  <a:latin typeface="+mn-lt"/>
                  <a:ea typeface="+mn-ea"/>
                  <a:cs typeface="+mn-cs"/>
                </a:rPr>
                <a:t>据：决策树或评分卡/问卷在多数情况下被​​</a:t>
              </a:r>
              <a:br/>
              <a:r>
                <a:rPr lang="zh-CN" sz="900" dirty="0">
                  <a:solidFill>
                    <a:srgbClr val="333333"/>
                  </a:solidFill>
                  <a:latin typeface="+mn-lt"/>
                  <a:ea typeface="+mn-ea"/>
                  <a:cs typeface="+mn-cs"/>
                </a:rPr>
                <a:t>用于评估模型候选。​</a:t>
              </a:r>
            </a:p>
          </p:txBody>
        </p:sp>
      </p:grpSp>
      <p:grpSp>
        <p:nvGrpSpPr>
          <p:cNvPr id="10" name="col-2"/>
          <p:cNvGrpSpPr/>
          <p:nvPr/>
        </p:nvGrpSpPr>
        <p:grpSpPr>
          <a:xfrm>
            <a:off x="3424238" y="855345"/>
            <a:ext cx="2404110" cy="900112"/>
            <a:chOff x="3424238" y="855345"/>
            <a:chExt cx="2404110" cy="900112"/>
          </a:xfrm>
        </p:grpSpPr>
        <p:sp>
          <p:nvSpPr>
            <p:cNvPr id="9" name="TextBox 9"/>
            <p:cNvSpPr txBox="1"/>
            <p:nvPr/>
          </p:nvSpPr>
          <p:spPr>
            <a:xfrm>
              <a:off x="3424238" y="855345"/>
              <a:ext cx="240411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多数银行表示，无论银行规模大小，都使用这​</a:t>
              </a:r>
              <a:br/>
              <a:r>
                <a:rPr lang="zh-CN" sz="900" dirty="0">
                  <a:solidFill>
                    <a:srgbClr val="333333"/>
                  </a:solidFill>
                  <a:latin typeface="+mn-lt"/>
                  <a:ea typeface="+mn-ea"/>
                  <a:cs typeface="+mn-cs"/>
                </a:rPr>
                <a:t>些方法评估模型候选。在所有银行中，30%​</a:t>
              </a:r>
              <a:br/>
              <a:r>
                <a:rPr lang="zh-CN" sz="900" dirty="0">
                  <a:solidFill>
                    <a:srgbClr val="333333"/>
                  </a:solidFill>
                  <a:latin typeface="+mn-lt"/>
                  <a:ea typeface="+mn-ea"/>
                  <a:cs typeface="+mn-cs"/>
                </a:rPr>
                <a:t>使用另一种评估方法；值得注意的是，这些银​</a:t>
              </a:r>
              <a:br/>
              <a:r>
                <a:rPr lang="zh-CN" sz="900" dirty="0">
                  <a:solidFill>
                    <a:srgbClr val="333333"/>
                  </a:solidFill>
                  <a:latin typeface="+mn-lt"/>
                  <a:ea typeface="+mn-ea"/>
                  <a:cs typeface="+mn-cs"/>
                </a:rPr>
                <a:t>行——尤其是大型银行——多数指出这通常是​​​​​</a:t>
              </a:r>
              <a:br/>
              <a:r>
                <a:rPr lang="zh-CN" sz="900" dirty="0">
                  <a:solidFill>
                    <a:srgbClr val="333333"/>
                  </a:solidFill>
                  <a:latin typeface="+mn-lt"/>
                  <a:ea typeface="+mn-ea"/>
                  <a:cs typeface="+mn-cs"/>
                </a:rPr>
                <a:t>专家判断、定性评估或临时评估。​</a:t>
              </a:r>
            </a:p>
          </p:txBody>
        </p:sp>
      </p:grpSp>
      <p:grpSp>
        <p:nvGrpSpPr>
          <p:cNvPr id="13" name="col-3"/>
          <p:cNvGrpSpPr/>
          <p:nvPr/>
        </p:nvGrpSpPr>
        <p:grpSpPr>
          <a:xfrm>
            <a:off x="6281547" y="847249"/>
            <a:ext cx="2358581" cy="908209"/>
            <a:chOff x="6281547" y="847249"/>
            <a:chExt cx="2358581" cy="908209"/>
          </a:xfrm>
        </p:grpSpPr>
        <p:sp>
          <p:nvSpPr>
            <p:cNvPr id="11" name="TextBox 11"/>
            <p:cNvSpPr txBox="1"/>
            <p:nvPr/>
          </p:nvSpPr>
          <p:spPr>
            <a:xfrm>
              <a:off x="6281547" y="847249"/>
              <a:ext cx="1557747" cy="190690"/>
            </a:xfrm>
            <a:prstGeom prst="rect">
              <a:avLst/>
            </a:prstGeom>
            <a:noFill/>
            <a:ln>
              <a:noFill/>
            </a:ln>
          </p:spPr>
          <p:txBody>
            <a:bodyPr wrap="none" lIns="0" tIns="0" rIns="0" bIns="0" anchor="t" anchorCtr="0">
              <a:spAutoFit/>
            </a:bodyPr>
            <a:lstStyle/>
            <a:p>
              <a:pPr algn="l"/>
              <a:r>
                <a:rPr lang="zh-CN" sz="980" b="1" dirty="0">
                  <a:solidFill>
                    <a:srgbClr val="B61F00"/>
                  </a:solidFill>
                  <a:latin typeface="+mn-lt"/>
                  <a:ea typeface="+mn-ea"/>
                  <a:cs typeface="+mn-cs"/>
                </a:rPr>
                <a:t>19种模型类型，四大类别​</a:t>
              </a:r>
            </a:p>
          </p:txBody>
        </p:sp>
        <p:sp>
          <p:nvSpPr>
            <p:cNvPr id="12" name="TextBox 12"/>
            <p:cNvSpPr txBox="1"/>
            <p:nvPr/>
          </p:nvSpPr>
          <p:spPr>
            <a:xfrm>
              <a:off x="6281738" y="1036320"/>
              <a:ext cx="23583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银行的模型风险管理框架范围内涵盖的模型类​</a:t>
              </a:r>
              <a:br/>
              <a:r>
                <a:rPr lang="zh-CN" sz="900" dirty="0">
                  <a:solidFill>
                    <a:srgbClr val="333333"/>
                  </a:solidFill>
                  <a:latin typeface="+mn-lt"/>
                  <a:ea typeface="+mn-ea"/>
                  <a:cs typeface="+mn-cs"/>
                </a:rPr>
                <a:t>型差异很大。本调研始终使用一份包含19​</a:t>
              </a:r>
              <a:br/>
              <a:r>
                <a:rPr lang="zh-CN" sz="900" dirty="0">
                  <a:solidFill>
                    <a:srgbClr val="333333"/>
                  </a:solidFill>
                  <a:latin typeface="+mn-lt"/>
                  <a:ea typeface="+mn-ea"/>
                  <a:cs typeface="+mn-cs"/>
                </a:rPr>
                <a:t>种模型类型的清单，这19种模型类型归入​​</a:t>
              </a:r>
              <a:br/>
              <a:r>
                <a:rPr lang="zh-CN" sz="900" dirty="0">
                  <a:solidFill>
                    <a:srgbClr val="333333"/>
                  </a:solidFill>
                  <a:latin typeface="+mn-lt"/>
                  <a:ea typeface="+mn-ea"/>
                  <a:cs typeface="+mn-cs"/>
                </a:rPr>
                <a:t>四大类别。​</a:t>
              </a:r>
            </a:p>
          </p:txBody>
        </p:sp>
      </p:grpSp>
      <p:grpSp>
        <p:nvGrpSpPr>
          <p:cNvPr id="32" name="figure-10"/>
          <p:cNvGrpSpPr/>
          <p:nvPr/>
        </p:nvGrpSpPr>
        <p:grpSpPr>
          <a:xfrm>
            <a:off x="566738" y="2444591"/>
            <a:ext cx="2430895" cy="2984897"/>
            <a:chOff x="566738" y="2444591"/>
            <a:chExt cx="2430895" cy="2984897"/>
          </a:xfrm>
        </p:grpSpPr>
        <p:sp>
          <p:nvSpPr>
            <p:cNvPr id="14" name="TextBox 14"/>
            <p:cNvSpPr txBox="1"/>
            <p:nvPr/>
          </p:nvSpPr>
          <p:spPr>
            <a:xfrm>
              <a:off x="566738" y="2444591"/>
              <a:ext cx="2430895"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图10. 用决策树、评分卡/问卷评估模型候选​​​​</a:t>
              </a:r>
            </a:p>
          </p:txBody>
        </p:sp>
        <p:sp>
          <p:nvSpPr>
            <p:cNvPr id="15" name="TextBox 15"/>
            <p:cNvSpPr txBox="1"/>
            <p:nvPr/>
          </p:nvSpPr>
          <p:spPr>
            <a:xfrm>
              <a:off x="566738" y="2602230"/>
              <a:ext cx="2027569"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Use of decision tree, scorecards/questionnaires​​</a:t>
              </a:r>
            </a:p>
          </p:txBody>
        </p:sp>
        <p:sp>
          <p:nvSpPr>
            <p:cNvPr id="16" name="Freeform 16"/>
            <p:cNvSpPr/>
            <p:nvPr/>
          </p:nvSpPr>
          <p:spPr>
            <a:xfrm>
              <a:off x="1162050" y="3162300"/>
              <a:ext cx="1295400" cy="1295400"/>
            </a:xfrm>
            <a:prstGeom prst="blockArc">
              <a:avLst>
                <a:gd name="adj1" fmla="val 16200000"/>
                <a:gd name="adj2" fmla="val 2376000"/>
                <a:gd name="adj3" fmla="val 16176"/>
              </a:avLst>
            </a:prstGeom>
            <a:solidFill>
              <a:srgbClr val="B61F00"/>
            </a:solidFill>
            <a:ln>
              <a:noFill/>
            </a:ln>
          </p:spPr>
        </p:sp>
        <p:sp>
          <p:nvSpPr>
            <p:cNvPr id="17" name="Freeform 17"/>
            <p:cNvSpPr/>
            <p:nvPr/>
          </p:nvSpPr>
          <p:spPr>
            <a:xfrm>
              <a:off x="1162050" y="3162300"/>
              <a:ext cx="1295400" cy="1295400"/>
            </a:xfrm>
            <a:prstGeom prst="blockArc">
              <a:avLst>
                <a:gd name="adj1" fmla="val 2376000"/>
                <a:gd name="adj2" fmla="val 8856000"/>
                <a:gd name="adj3" fmla="val 16176"/>
              </a:avLst>
            </a:prstGeom>
            <a:solidFill>
              <a:srgbClr val="E72700"/>
            </a:solidFill>
            <a:ln>
              <a:noFill/>
            </a:ln>
          </p:spPr>
        </p:sp>
        <p:sp>
          <p:nvSpPr>
            <p:cNvPr id="18" name="Freeform 18"/>
            <p:cNvSpPr/>
            <p:nvPr/>
          </p:nvSpPr>
          <p:spPr>
            <a:xfrm>
              <a:off x="1162050" y="3162300"/>
              <a:ext cx="1295400" cy="1295400"/>
            </a:xfrm>
            <a:prstGeom prst="blockArc">
              <a:avLst>
                <a:gd name="adj1" fmla="val 8856000"/>
                <a:gd name="adj2" fmla="val 12528000"/>
                <a:gd name="adj3" fmla="val 16176"/>
              </a:avLst>
            </a:prstGeom>
            <a:solidFill>
              <a:srgbClr val="7C1500"/>
            </a:solidFill>
            <a:ln>
              <a:noFill/>
            </a:ln>
          </p:spPr>
        </p:sp>
        <p:sp>
          <p:nvSpPr>
            <p:cNvPr id="19" name="Freeform 19"/>
            <p:cNvSpPr/>
            <p:nvPr/>
          </p:nvSpPr>
          <p:spPr>
            <a:xfrm>
              <a:off x="1162050" y="3162300"/>
              <a:ext cx="1295400" cy="1295400"/>
            </a:xfrm>
            <a:prstGeom prst="blockArc">
              <a:avLst>
                <a:gd name="adj1" fmla="val 12528000"/>
                <a:gd name="adj2" fmla="val 17280000"/>
                <a:gd name="adj3" fmla="val 16176"/>
              </a:avLst>
            </a:prstGeom>
            <a:solidFill>
              <a:srgbClr val="C9C9C9"/>
            </a:solidFill>
            <a:ln>
              <a:noFill/>
            </a:ln>
          </p:spPr>
        </p:sp>
        <p:sp>
          <p:nvSpPr>
            <p:cNvPr id="20" name="TextBox 20"/>
            <p:cNvSpPr txBox="1"/>
            <p:nvPr/>
          </p:nvSpPr>
          <p:spPr>
            <a:xfrm>
              <a:off x="2384527" y="3434715"/>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36%​</a:t>
              </a:r>
            </a:p>
          </p:txBody>
        </p:sp>
        <p:sp>
          <p:nvSpPr>
            <p:cNvPr id="21" name="TextBox 21"/>
            <p:cNvSpPr txBox="1"/>
            <p:nvPr/>
          </p:nvSpPr>
          <p:spPr>
            <a:xfrm>
              <a:off x="1629194" y="4546282"/>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30%​</a:t>
              </a:r>
            </a:p>
          </p:txBody>
        </p:sp>
        <p:sp>
          <p:nvSpPr>
            <p:cNvPr id="22" name="TextBox 22"/>
            <p:cNvSpPr txBox="1"/>
            <p:nvPr/>
          </p:nvSpPr>
          <p:spPr>
            <a:xfrm>
              <a:off x="896722" y="3791902"/>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17%​</a:t>
              </a:r>
            </a:p>
          </p:txBody>
        </p:sp>
        <p:sp>
          <p:nvSpPr>
            <p:cNvPr id="23" name="TextBox 23"/>
            <p:cNvSpPr txBox="1"/>
            <p:nvPr/>
          </p:nvSpPr>
          <p:spPr>
            <a:xfrm>
              <a:off x="1390117" y="3041332"/>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22%​</a:t>
              </a:r>
            </a:p>
          </p:txBody>
        </p:sp>
        <p:sp>
          <p:nvSpPr>
            <p:cNvPr id="24" name="Rectangle 24"/>
            <p:cNvSpPr/>
            <p:nvPr/>
          </p:nvSpPr>
          <p:spPr>
            <a:xfrm>
              <a:off x="571500" y="4772025"/>
              <a:ext cx="95250" cy="95250"/>
            </a:xfrm>
            <a:prstGeom prst="rect">
              <a:avLst/>
            </a:prstGeom>
            <a:solidFill>
              <a:srgbClr val="B61F00"/>
            </a:solidFill>
            <a:ln>
              <a:noFill/>
            </a:ln>
          </p:spPr>
        </p:sp>
        <p:sp>
          <p:nvSpPr>
            <p:cNvPr id="25" name="TextBox 25"/>
            <p:cNvSpPr txBox="1"/>
            <p:nvPr/>
          </p:nvSpPr>
          <p:spPr>
            <a:xfrm>
              <a:off x="709612" y="4788932"/>
              <a:ext cx="1373901"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使用决策树With a decision tree​​</a:t>
              </a:r>
            </a:p>
          </p:txBody>
        </p:sp>
        <p:sp>
          <p:nvSpPr>
            <p:cNvPr id="26" name="Rectangle 26"/>
            <p:cNvSpPr/>
            <p:nvPr/>
          </p:nvSpPr>
          <p:spPr>
            <a:xfrm>
              <a:off x="571500" y="4943475"/>
              <a:ext cx="95250" cy="95250"/>
            </a:xfrm>
            <a:prstGeom prst="rect">
              <a:avLst/>
            </a:prstGeom>
            <a:solidFill>
              <a:srgbClr val="E72700"/>
            </a:solidFill>
            <a:ln>
              <a:noFill/>
            </a:ln>
          </p:spPr>
        </p:sp>
        <p:sp>
          <p:nvSpPr>
            <p:cNvPr id="27" name="TextBox 27"/>
            <p:cNvSpPr txBox="1"/>
            <p:nvPr/>
          </p:nvSpPr>
          <p:spPr>
            <a:xfrm>
              <a:off x="709612" y="4960382"/>
              <a:ext cx="2136379"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使用评分卡/问卷With a scorecard/questionnaire​​​</a:t>
              </a:r>
            </a:p>
          </p:txBody>
        </p:sp>
        <p:sp>
          <p:nvSpPr>
            <p:cNvPr id="28" name="Rectangle 28"/>
            <p:cNvSpPr/>
            <p:nvPr/>
          </p:nvSpPr>
          <p:spPr>
            <a:xfrm>
              <a:off x="571500" y="5114925"/>
              <a:ext cx="95250" cy="95250"/>
            </a:xfrm>
            <a:prstGeom prst="rect">
              <a:avLst/>
            </a:prstGeom>
            <a:solidFill>
              <a:srgbClr val="7C1500"/>
            </a:solidFill>
            <a:ln>
              <a:noFill/>
            </a:ln>
          </p:spPr>
        </p:sp>
        <p:sp>
          <p:nvSpPr>
            <p:cNvPr id="29" name="TextBox 29"/>
            <p:cNvSpPr txBox="1"/>
            <p:nvPr/>
          </p:nvSpPr>
          <p:spPr>
            <a:xfrm>
              <a:off x="709612" y="5131832"/>
              <a:ext cx="534724"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其他Other​​</a:t>
              </a:r>
            </a:p>
          </p:txBody>
        </p:sp>
        <p:sp>
          <p:nvSpPr>
            <p:cNvPr id="30" name="Rectangle 30"/>
            <p:cNvSpPr/>
            <p:nvPr/>
          </p:nvSpPr>
          <p:spPr>
            <a:xfrm>
              <a:off x="571500" y="5286375"/>
              <a:ext cx="95250" cy="95250"/>
            </a:xfrm>
            <a:prstGeom prst="rect">
              <a:avLst/>
            </a:prstGeom>
            <a:solidFill>
              <a:srgbClr val="C9C9C9"/>
            </a:solidFill>
            <a:ln>
              <a:noFill/>
            </a:ln>
          </p:spPr>
        </p:sp>
        <p:sp>
          <p:nvSpPr>
            <p:cNvPr id="31" name="TextBox 31"/>
            <p:cNvSpPr txBox="1"/>
            <p:nvPr/>
          </p:nvSpPr>
          <p:spPr>
            <a:xfrm>
              <a:off x="709612" y="5303282"/>
              <a:ext cx="1714404"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未做评估以确立模型定义No assessments​​</a:t>
              </a:r>
            </a:p>
          </p:txBody>
        </p:sp>
      </p:grpSp>
      <p:grpSp>
        <p:nvGrpSpPr>
          <p:cNvPr id="85" name="table-1"/>
          <p:cNvGrpSpPr/>
          <p:nvPr/>
        </p:nvGrpSpPr>
        <p:grpSpPr>
          <a:xfrm>
            <a:off x="3328988" y="2406491"/>
            <a:ext cx="6291262" cy="4141946"/>
            <a:chOff x="3328988" y="2406491"/>
            <a:chExt cx="6291262" cy="4141946"/>
          </a:xfrm>
        </p:grpSpPr>
        <p:sp>
          <p:nvSpPr>
            <p:cNvPr id="33" name="TextBox 33"/>
            <p:cNvSpPr txBox="1"/>
            <p:nvPr/>
          </p:nvSpPr>
          <p:spPr>
            <a:xfrm>
              <a:off x="3328988" y="2406491"/>
              <a:ext cx="2065509"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表1. 调研中使用的模型类型与模型类别​​</a:t>
              </a:r>
            </a:p>
          </p:txBody>
        </p:sp>
        <p:sp>
          <p:nvSpPr>
            <p:cNvPr id="34" name="TextBox 34"/>
            <p:cNvSpPr txBox="1"/>
            <p:nvPr/>
          </p:nvSpPr>
          <p:spPr>
            <a:xfrm>
              <a:off x="3328988" y="2550557"/>
              <a:ext cx="2299999"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Model types and model categories used in the survey​​</a:t>
              </a:r>
            </a:p>
          </p:txBody>
        </p:sp>
        <p:sp>
          <p:nvSpPr>
            <p:cNvPr id="35" name="Line 35"/>
            <p:cNvSpPr/>
            <p:nvPr/>
          </p:nvSpPr>
          <p:spPr>
            <a:xfrm>
              <a:off x="3333750" y="2647950"/>
              <a:ext cx="6286500" cy="9525"/>
            </a:xfrm>
            <a:custGeom>
              <a:avLst/>
              <a:gdLst/>
              <a:ahLst/>
              <a:cxnLst/>
              <a:rect l="l" t="t" r="r" b="b"/>
              <a:pathLst>
                <a:path w="6286500" h="9525">
                  <a:moveTo>
                    <a:pt x="0" y="0"/>
                  </a:moveTo>
                  <a:lnTo>
                    <a:pt x="6286500" y="0"/>
                  </a:lnTo>
                </a:path>
              </a:pathLst>
            </a:custGeom>
            <a:noFill/>
            <a:ln w="14288">
              <a:solidFill>
                <a:srgbClr val="E72700"/>
              </a:solidFill>
            </a:ln>
          </p:spPr>
        </p:sp>
        <p:sp>
          <p:nvSpPr>
            <p:cNvPr id="36" name="TextBox 36"/>
            <p:cNvSpPr txBox="1"/>
            <p:nvPr/>
          </p:nvSpPr>
          <p:spPr>
            <a:xfrm>
              <a:off x="3386138" y="2685336"/>
              <a:ext cx="1028085" cy="140494"/>
            </a:xfrm>
            <a:prstGeom prst="rect">
              <a:avLst/>
            </a:prstGeom>
            <a:noFill/>
            <a:ln>
              <a:noFill/>
            </a:ln>
          </p:spPr>
          <p:txBody>
            <a:bodyPr wrap="none" lIns="0" tIns="0" rIns="0" bIns="0" anchor="t" anchorCtr="0">
              <a:spAutoFit/>
            </a:bodyPr>
            <a:lstStyle/>
            <a:p>
              <a:pPr algn="l"/>
              <a:r>
                <a:rPr lang="zh-CN" sz="710" b="1" dirty="0">
                  <a:solidFill>
                    <a:srgbClr val="1A1A1A"/>
                  </a:solidFill>
                  <a:latin typeface="+mn-lt"/>
                  <a:ea typeface="+mn-ea"/>
                  <a:cs typeface="+mn-cs"/>
                </a:rPr>
                <a:t>模型类型Model type​​</a:t>
              </a:r>
            </a:p>
          </p:txBody>
        </p:sp>
        <p:sp>
          <p:nvSpPr>
            <p:cNvPr id="37" name="TextBox 37"/>
            <p:cNvSpPr txBox="1"/>
            <p:nvPr/>
          </p:nvSpPr>
          <p:spPr>
            <a:xfrm>
              <a:off x="7291388" y="2685336"/>
              <a:ext cx="1248613" cy="140494"/>
            </a:xfrm>
            <a:prstGeom prst="rect">
              <a:avLst/>
            </a:prstGeom>
            <a:noFill/>
            <a:ln>
              <a:noFill/>
            </a:ln>
          </p:spPr>
          <p:txBody>
            <a:bodyPr wrap="none" lIns="0" tIns="0" rIns="0" bIns="0" anchor="t" anchorCtr="0">
              <a:spAutoFit/>
            </a:bodyPr>
            <a:lstStyle/>
            <a:p>
              <a:pPr algn="l"/>
              <a:r>
                <a:rPr lang="zh-CN" sz="710" b="1" dirty="0">
                  <a:solidFill>
                    <a:srgbClr val="1A1A1A"/>
                  </a:solidFill>
                  <a:latin typeface="+mn-lt"/>
                  <a:ea typeface="+mn-ea"/>
                  <a:cs typeface="+mn-cs"/>
                </a:rPr>
                <a:t>模型类别Model category​​</a:t>
              </a:r>
            </a:p>
          </p:txBody>
        </p:sp>
        <p:sp>
          <p:nvSpPr>
            <p:cNvPr id="38" name="Line 38"/>
            <p:cNvSpPr/>
            <p:nvPr/>
          </p:nvSpPr>
          <p:spPr>
            <a:xfrm>
              <a:off x="3333750" y="2828925"/>
              <a:ext cx="6286500" cy="9525"/>
            </a:xfrm>
            <a:custGeom>
              <a:avLst/>
              <a:gdLst/>
              <a:ahLst/>
              <a:cxnLst/>
              <a:rect l="l" t="t" r="r" b="b"/>
              <a:pathLst>
                <a:path w="6286500" h="9525">
                  <a:moveTo>
                    <a:pt x="0" y="0"/>
                  </a:moveTo>
                  <a:lnTo>
                    <a:pt x="6286500" y="0"/>
                  </a:lnTo>
                </a:path>
              </a:pathLst>
            </a:custGeom>
            <a:noFill/>
            <a:ln w="9525">
              <a:solidFill>
                <a:srgbClr val="E72700"/>
              </a:solidFill>
            </a:ln>
          </p:spPr>
        </p:sp>
        <p:sp>
          <p:nvSpPr>
            <p:cNvPr id="39" name="TextBox 39"/>
            <p:cNvSpPr txBox="1"/>
            <p:nvPr/>
          </p:nvSpPr>
          <p:spPr>
            <a:xfrm>
              <a:off x="3386138" y="2902982"/>
              <a:ext cx="1349263"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信用风险（减值）模型：资本计算​</a:t>
              </a:r>
            </a:p>
          </p:txBody>
        </p:sp>
        <p:sp>
          <p:nvSpPr>
            <p:cNvPr id="40" name="Line 40"/>
            <p:cNvSpPr/>
            <p:nvPr/>
          </p:nvSpPr>
          <p:spPr>
            <a:xfrm>
              <a:off x="3333750" y="3024188"/>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41" name="TextBox 41"/>
            <p:cNvSpPr txBox="1"/>
            <p:nvPr/>
          </p:nvSpPr>
          <p:spPr>
            <a:xfrm>
              <a:off x="3386138" y="3098244"/>
              <a:ext cx="1349263"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信用风险（减值）模型：拨备计提​</a:t>
              </a:r>
            </a:p>
          </p:txBody>
        </p:sp>
        <p:sp>
          <p:nvSpPr>
            <p:cNvPr id="42" name="Line 42"/>
            <p:cNvSpPr/>
            <p:nvPr/>
          </p:nvSpPr>
          <p:spPr>
            <a:xfrm>
              <a:off x="3333750" y="3219450"/>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43" name="TextBox 43"/>
            <p:cNvSpPr txBox="1"/>
            <p:nvPr/>
          </p:nvSpPr>
          <p:spPr>
            <a:xfrm>
              <a:off x="3386138" y="3293507"/>
              <a:ext cx="2555458"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信用风险（减值）模型：风险管理与运营流程（如评分卡类模型）​</a:t>
              </a:r>
            </a:p>
          </p:txBody>
        </p:sp>
        <p:sp>
          <p:nvSpPr>
            <p:cNvPr id="44" name="Line 44"/>
            <p:cNvSpPr/>
            <p:nvPr/>
          </p:nvSpPr>
          <p:spPr>
            <a:xfrm>
              <a:off x="3333750" y="3414712"/>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45" name="TextBox 45"/>
            <p:cNvSpPr txBox="1"/>
            <p:nvPr/>
          </p:nvSpPr>
          <p:spPr>
            <a:xfrm>
              <a:off x="3386138" y="3488769"/>
              <a:ext cx="1004636"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市场风险模型：资本计算​</a:t>
              </a:r>
            </a:p>
          </p:txBody>
        </p:sp>
        <p:sp>
          <p:nvSpPr>
            <p:cNvPr id="46" name="Line 46"/>
            <p:cNvSpPr/>
            <p:nvPr/>
          </p:nvSpPr>
          <p:spPr>
            <a:xfrm>
              <a:off x="3333750" y="3609975"/>
              <a:ext cx="6286500" cy="9525"/>
            </a:xfrm>
            <a:custGeom>
              <a:avLst/>
              <a:gdLst/>
              <a:ahLst/>
              <a:cxnLst/>
              <a:rect l="l" t="t" r="r" b="b"/>
              <a:pathLst>
                <a:path w="6286500" h="9525">
                  <a:moveTo>
                    <a:pt x="0" y="0"/>
                  </a:moveTo>
                  <a:lnTo>
                    <a:pt x="6286500" y="0"/>
                  </a:lnTo>
                </a:path>
              </a:pathLst>
            </a:custGeom>
            <a:noFill/>
            <a:ln w="7620">
              <a:solidFill>
                <a:srgbClr val="D9D9D9"/>
              </a:solidFill>
            </a:ln>
          </p:spPr>
        </p:sp>
        <p:sp>
          <p:nvSpPr>
            <p:cNvPr id="47" name="TextBox 47"/>
            <p:cNvSpPr txBox="1"/>
            <p:nvPr/>
          </p:nvSpPr>
          <p:spPr>
            <a:xfrm>
              <a:off x="3386138" y="3684032"/>
              <a:ext cx="1004636"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市场风险模型：风险管理​</a:t>
              </a:r>
            </a:p>
          </p:txBody>
        </p:sp>
        <p:sp>
          <p:nvSpPr>
            <p:cNvPr id="48" name="Line 48"/>
            <p:cNvSpPr/>
            <p:nvPr/>
          </p:nvSpPr>
          <p:spPr>
            <a:xfrm>
              <a:off x="3333750" y="3805238"/>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49" name="TextBox 49"/>
            <p:cNvSpPr txBox="1"/>
            <p:nvPr/>
          </p:nvSpPr>
          <p:spPr>
            <a:xfrm>
              <a:off x="3386138" y="3879294"/>
              <a:ext cx="660009"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流动性风险模型​</a:t>
              </a:r>
            </a:p>
          </p:txBody>
        </p:sp>
        <p:sp>
          <p:nvSpPr>
            <p:cNvPr id="50" name="Line 50"/>
            <p:cNvSpPr/>
            <p:nvPr/>
          </p:nvSpPr>
          <p:spPr>
            <a:xfrm>
              <a:off x="3333750" y="4000500"/>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51" name="TextBox 51"/>
            <p:cNvSpPr txBox="1"/>
            <p:nvPr/>
          </p:nvSpPr>
          <p:spPr>
            <a:xfrm>
              <a:off x="3386138" y="4074557"/>
              <a:ext cx="573852"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操作风险模型​</a:t>
              </a:r>
            </a:p>
          </p:txBody>
        </p:sp>
        <p:sp>
          <p:nvSpPr>
            <p:cNvPr id="52" name="Line 52"/>
            <p:cNvSpPr/>
            <p:nvPr/>
          </p:nvSpPr>
          <p:spPr>
            <a:xfrm>
              <a:off x="3333750" y="4195762"/>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53" name="TextBox 53"/>
            <p:cNvSpPr txBox="1"/>
            <p:nvPr/>
          </p:nvSpPr>
          <p:spPr>
            <a:xfrm>
              <a:off x="3386138" y="4269819"/>
              <a:ext cx="1349263"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信用决策模型（如信用审批模型）​</a:t>
              </a:r>
            </a:p>
          </p:txBody>
        </p:sp>
        <p:sp>
          <p:nvSpPr>
            <p:cNvPr id="54" name="Line 54"/>
            <p:cNvSpPr/>
            <p:nvPr/>
          </p:nvSpPr>
          <p:spPr>
            <a:xfrm>
              <a:off x="3333750" y="4391025"/>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55" name="TextBox 55"/>
            <p:cNvSpPr txBox="1"/>
            <p:nvPr/>
          </p:nvSpPr>
          <p:spPr>
            <a:xfrm>
              <a:off x="3386138" y="4465082"/>
              <a:ext cx="573852"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经济资本模型​</a:t>
              </a:r>
            </a:p>
          </p:txBody>
        </p:sp>
        <p:sp>
          <p:nvSpPr>
            <p:cNvPr id="56" name="Line 56"/>
            <p:cNvSpPr/>
            <p:nvPr/>
          </p:nvSpPr>
          <p:spPr>
            <a:xfrm>
              <a:off x="3333750" y="4586288"/>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57" name="TextBox 57"/>
            <p:cNvSpPr txBox="1"/>
            <p:nvPr/>
          </p:nvSpPr>
          <p:spPr>
            <a:xfrm>
              <a:off x="3386138" y="4660344"/>
              <a:ext cx="1329025"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资产负债管理模型（例如含NII）​​</a:t>
              </a:r>
            </a:p>
          </p:txBody>
        </p:sp>
        <p:sp>
          <p:nvSpPr>
            <p:cNvPr id="58" name="Line 58"/>
            <p:cNvSpPr/>
            <p:nvPr/>
          </p:nvSpPr>
          <p:spPr>
            <a:xfrm>
              <a:off x="3333750" y="4781550"/>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59" name="TextBox 59"/>
            <p:cNvSpPr txBox="1"/>
            <p:nvPr/>
          </p:nvSpPr>
          <p:spPr>
            <a:xfrm>
              <a:off x="3386138" y="4855607"/>
              <a:ext cx="573852"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压力测试模型​</a:t>
              </a:r>
            </a:p>
          </p:txBody>
        </p:sp>
        <p:sp>
          <p:nvSpPr>
            <p:cNvPr id="60" name="Line 60"/>
            <p:cNvSpPr/>
            <p:nvPr/>
          </p:nvSpPr>
          <p:spPr>
            <a:xfrm>
              <a:off x="3333750" y="4976812"/>
              <a:ext cx="6286500" cy="9525"/>
            </a:xfrm>
            <a:custGeom>
              <a:avLst/>
              <a:gdLst/>
              <a:ahLst/>
              <a:cxnLst/>
              <a:rect l="l" t="t" r="r" b="b"/>
              <a:pathLst>
                <a:path w="6286500" h="9525">
                  <a:moveTo>
                    <a:pt x="0" y="0"/>
                  </a:moveTo>
                  <a:lnTo>
                    <a:pt x="6286500" y="0"/>
                  </a:lnTo>
                </a:path>
              </a:pathLst>
            </a:custGeom>
            <a:noFill/>
            <a:ln w="7620">
              <a:solidFill>
                <a:srgbClr val="D9D9D9"/>
              </a:solidFill>
            </a:ln>
          </p:spPr>
        </p:sp>
        <p:sp>
          <p:nvSpPr>
            <p:cNvPr id="61" name="TextBox 61"/>
            <p:cNvSpPr txBox="1"/>
            <p:nvPr/>
          </p:nvSpPr>
          <p:spPr>
            <a:xfrm>
              <a:off x="3386138" y="5050869"/>
              <a:ext cx="1062101"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交易监控/AML/欺诈模型​​</a:t>
              </a:r>
            </a:p>
          </p:txBody>
        </p:sp>
        <p:sp>
          <p:nvSpPr>
            <p:cNvPr id="62" name="Line 62"/>
            <p:cNvSpPr/>
            <p:nvPr/>
          </p:nvSpPr>
          <p:spPr>
            <a:xfrm>
              <a:off x="3333750" y="5172075"/>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63" name="TextBox 63"/>
            <p:cNvSpPr txBox="1"/>
            <p:nvPr/>
          </p:nvSpPr>
          <p:spPr>
            <a:xfrm>
              <a:off x="3386138" y="5246132"/>
              <a:ext cx="426817"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KYC模型​​</a:t>
              </a:r>
            </a:p>
          </p:txBody>
        </p:sp>
        <p:sp>
          <p:nvSpPr>
            <p:cNvPr id="64" name="Line 64"/>
            <p:cNvSpPr/>
            <p:nvPr/>
          </p:nvSpPr>
          <p:spPr>
            <a:xfrm>
              <a:off x="3333750" y="5367338"/>
              <a:ext cx="6286500" cy="9525"/>
            </a:xfrm>
            <a:custGeom>
              <a:avLst/>
              <a:gdLst/>
              <a:ahLst/>
              <a:cxnLst/>
              <a:rect l="l" t="t" r="r" b="b"/>
              <a:pathLst>
                <a:path w="6286500" h="9525">
                  <a:moveTo>
                    <a:pt x="0" y="0"/>
                  </a:moveTo>
                  <a:lnTo>
                    <a:pt x="6286500" y="0"/>
                  </a:lnTo>
                </a:path>
              </a:pathLst>
            </a:custGeom>
            <a:noFill/>
            <a:ln w="7620">
              <a:solidFill>
                <a:srgbClr val="D9D9D9"/>
              </a:solidFill>
            </a:ln>
          </p:spPr>
        </p:sp>
        <p:sp>
          <p:nvSpPr>
            <p:cNvPr id="65" name="TextBox 65"/>
            <p:cNvSpPr txBox="1"/>
            <p:nvPr/>
          </p:nvSpPr>
          <p:spPr>
            <a:xfrm>
              <a:off x="3386138" y="5441394"/>
              <a:ext cx="1004636"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金融工具估值与定价模型​</a:t>
              </a:r>
            </a:p>
          </p:txBody>
        </p:sp>
        <p:sp>
          <p:nvSpPr>
            <p:cNvPr id="66" name="Line 66"/>
            <p:cNvSpPr/>
            <p:nvPr/>
          </p:nvSpPr>
          <p:spPr>
            <a:xfrm>
              <a:off x="3333750" y="5562600"/>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67" name="TextBox 67"/>
            <p:cNvSpPr txBox="1"/>
            <p:nvPr/>
          </p:nvSpPr>
          <p:spPr>
            <a:xfrm>
              <a:off x="3386138" y="5636657"/>
              <a:ext cx="2440772"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会计模型（如资金转移定价模型及IFRS模型，IFRS 9除外）​​​​</a:t>
              </a:r>
            </a:p>
          </p:txBody>
        </p:sp>
        <p:sp>
          <p:nvSpPr>
            <p:cNvPr id="68" name="Line 68"/>
            <p:cNvSpPr/>
            <p:nvPr/>
          </p:nvSpPr>
          <p:spPr>
            <a:xfrm>
              <a:off x="3333750" y="5757862"/>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69" name="TextBox 69"/>
            <p:cNvSpPr txBox="1"/>
            <p:nvPr/>
          </p:nvSpPr>
          <p:spPr>
            <a:xfrm>
              <a:off x="3386138" y="5831919"/>
              <a:ext cx="746166"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业务决策制定模型​</a:t>
              </a:r>
            </a:p>
          </p:txBody>
        </p:sp>
        <p:sp>
          <p:nvSpPr>
            <p:cNvPr id="70" name="Line 70"/>
            <p:cNvSpPr/>
            <p:nvPr/>
          </p:nvSpPr>
          <p:spPr>
            <a:xfrm>
              <a:off x="3333750" y="5953125"/>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71" name="TextBox 71"/>
            <p:cNvSpPr txBox="1"/>
            <p:nvPr/>
          </p:nvSpPr>
          <p:spPr>
            <a:xfrm>
              <a:off x="3386138" y="6027182"/>
              <a:ext cx="401538"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营销模型​</a:t>
              </a:r>
            </a:p>
          </p:txBody>
        </p:sp>
        <p:sp>
          <p:nvSpPr>
            <p:cNvPr id="72" name="Line 72"/>
            <p:cNvSpPr/>
            <p:nvPr/>
          </p:nvSpPr>
          <p:spPr>
            <a:xfrm>
              <a:off x="3333750" y="6148388"/>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73" name="TextBox 73"/>
            <p:cNvSpPr txBox="1"/>
            <p:nvPr/>
          </p:nvSpPr>
          <p:spPr>
            <a:xfrm>
              <a:off x="3386138" y="6222444"/>
              <a:ext cx="376748"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HR模型​​</a:t>
              </a:r>
            </a:p>
          </p:txBody>
        </p:sp>
        <p:sp>
          <p:nvSpPr>
            <p:cNvPr id="74" name="Line 74"/>
            <p:cNvSpPr/>
            <p:nvPr/>
          </p:nvSpPr>
          <p:spPr>
            <a:xfrm>
              <a:off x="3333750" y="6343650"/>
              <a:ext cx="3886200" cy="9525"/>
            </a:xfrm>
            <a:custGeom>
              <a:avLst/>
              <a:gdLst/>
              <a:ahLst/>
              <a:cxnLst/>
              <a:rect l="l" t="t" r="r" b="b"/>
              <a:pathLst>
                <a:path w="3886200" h="9525">
                  <a:moveTo>
                    <a:pt x="0" y="0"/>
                  </a:moveTo>
                  <a:lnTo>
                    <a:pt x="3886200" y="0"/>
                  </a:lnTo>
                </a:path>
              </a:pathLst>
            </a:custGeom>
            <a:noFill/>
            <a:ln w="7620">
              <a:solidFill>
                <a:srgbClr val="D9D9D9"/>
              </a:solidFill>
            </a:ln>
          </p:spPr>
        </p:sp>
        <p:sp>
          <p:nvSpPr>
            <p:cNvPr id="75" name="TextBox 75"/>
            <p:cNvSpPr txBox="1"/>
            <p:nvPr/>
          </p:nvSpPr>
          <p:spPr>
            <a:xfrm>
              <a:off x="3386138" y="6417707"/>
              <a:ext cx="573852"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网络风险模型​</a:t>
              </a:r>
            </a:p>
          </p:txBody>
        </p:sp>
        <p:sp>
          <p:nvSpPr>
            <p:cNvPr id="76" name="Line 76"/>
            <p:cNvSpPr/>
            <p:nvPr/>
          </p:nvSpPr>
          <p:spPr>
            <a:xfrm>
              <a:off x="3333750" y="6538912"/>
              <a:ext cx="6286500" cy="9525"/>
            </a:xfrm>
            <a:custGeom>
              <a:avLst/>
              <a:gdLst/>
              <a:ahLst/>
              <a:cxnLst/>
              <a:rect l="l" t="t" r="r" b="b"/>
              <a:pathLst>
                <a:path w="6286500" h="9525">
                  <a:moveTo>
                    <a:pt x="0" y="0"/>
                  </a:moveTo>
                  <a:lnTo>
                    <a:pt x="6286500" y="0"/>
                  </a:lnTo>
                </a:path>
              </a:pathLst>
            </a:custGeom>
            <a:noFill/>
            <a:ln w="7620">
              <a:solidFill>
                <a:srgbClr val="D9D9D9"/>
              </a:solidFill>
            </a:ln>
          </p:spPr>
        </p:sp>
        <p:sp>
          <p:nvSpPr>
            <p:cNvPr id="77" name="Line 77"/>
            <p:cNvSpPr/>
            <p:nvPr/>
          </p:nvSpPr>
          <p:spPr>
            <a:xfrm>
              <a:off x="7219950" y="2867025"/>
              <a:ext cx="9525" cy="704850"/>
            </a:xfrm>
            <a:custGeom>
              <a:avLst/>
              <a:gdLst/>
              <a:ahLst/>
              <a:cxnLst/>
              <a:rect l="l" t="t" r="r" b="b"/>
              <a:pathLst>
                <a:path w="9525" h="704850">
                  <a:moveTo>
                    <a:pt x="0" y="0"/>
                  </a:moveTo>
                  <a:lnTo>
                    <a:pt x="0" y="704850"/>
                  </a:lnTo>
                </a:path>
              </a:pathLst>
            </a:custGeom>
            <a:noFill/>
            <a:ln w="11430">
              <a:solidFill>
                <a:srgbClr val="E72700"/>
              </a:solidFill>
            </a:ln>
          </p:spPr>
        </p:sp>
        <p:sp>
          <p:nvSpPr>
            <p:cNvPr id="78" name="TextBox 78"/>
            <p:cNvSpPr txBox="1"/>
            <p:nvPr/>
          </p:nvSpPr>
          <p:spPr>
            <a:xfrm>
              <a:off x="7310438" y="3179921"/>
              <a:ext cx="1611503"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金融风险模型（pillar 1资本与会计）​​</a:t>
              </a:r>
            </a:p>
          </p:txBody>
        </p:sp>
        <p:sp>
          <p:nvSpPr>
            <p:cNvPr id="79" name="Line 79"/>
            <p:cNvSpPr/>
            <p:nvPr/>
          </p:nvSpPr>
          <p:spPr>
            <a:xfrm>
              <a:off x="7219950" y="3648075"/>
              <a:ext cx="9525" cy="1290638"/>
            </a:xfrm>
            <a:custGeom>
              <a:avLst/>
              <a:gdLst/>
              <a:ahLst/>
              <a:cxnLst/>
              <a:rect l="l" t="t" r="r" b="b"/>
              <a:pathLst>
                <a:path w="9525" h="1290638">
                  <a:moveTo>
                    <a:pt x="0" y="0"/>
                  </a:moveTo>
                  <a:lnTo>
                    <a:pt x="0" y="1290638"/>
                  </a:lnTo>
                </a:path>
              </a:pathLst>
            </a:custGeom>
            <a:noFill/>
            <a:ln w="11430">
              <a:solidFill>
                <a:srgbClr val="E72700"/>
              </a:solidFill>
            </a:ln>
          </p:spPr>
        </p:sp>
        <p:sp>
          <p:nvSpPr>
            <p:cNvPr id="80" name="TextBox 80"/>
            <p:cNvSpPr txBox="1"/>
            <p:nvPr/>
          </p:nvSpPr>
          <p:spPr>
            <a:xfrm>
              <a:off x="7310438" y="4253865"/>
              <a:ext cx="170304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金融风险模型（pillar 2资本与流动性）​​</a:t>
              </a:r>
            </a:p>
          </p:txBody>
        </p:sp>
        <p:sp>
          <p:nvSpPr>
            <p:cNvPr id="81" name="Line 81"/>
            <p:cNvSpPr/>
            <p:nvPr/>
          </p:nvSpPr>
          <p:spPr>
            <a:xfrm>
              <a:off x="7219950" y="5014912"/>
              <a:ext cx="9525" cy="314325"/>
            </a:xfrm>
            <a:custGeom>
              <a:avLst/>
              <a:gdLst/>
              <a:ahLst/>
              <a:cxnLst/>
              <a:rect l="l" t="t" r="r" b="b"/>
              <a:pathLst>
                <a:path w="9525" h="314325">
                  <a:moveTo>
                    <a:pt x="0" y="0"/>
                  </a:moveTo>
                  <a:lnTo>
                    <a:pt x="0" y="314325"/>
                  </a:lnTo>
                </a:path>
              </a:pathLst>
            </a:custGeom>
            <a:noFill/>
            <a:ln w="11430">
              <a:solidFill>
                <a:srgbClr val="E72700"/>
              </a:solidFill>
            </a:ln>
          </p:spPr>
        </p:sp>
        <p:sp>
          <p:nvSpPr>
            <p:cNvPr id="82" name="TextBox 82"/>
            <p:cNvSpPr txBox="1"/>
            <p:nvPr/>
          </p:nvSpPr>
          <p:spPr>
            <a:xfrm>
              <a:off x="7310438" y="5132546"/>
              <a:ext cx="426039"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合规模型​</a:t>
              </a:r>
            </a:p>
          </p:txBody>
        </p:sp>
        <p:sp>
          <p:nvSpPr>
            <p:cNvPr id="83" name="Line 83"/>
            <p:cNvSpPr/>
            <p:nvPr/>
          </p:nvSpPr>
          <p:spPr>
            <a:xfrm>
              <a:off x="7219950" y="5405438"/>
              <a:ext cx="9525" cy="1095375"/>
            </a:xfrm>
            <a:custGeom>
              <a:avLst/>
              <a:gdLst/>
              <a:ahLst/>
              <a:cxnLst/>
              <a:rect l="l" t="t" r="r" b="b"/>
              <a:pathLst>
                <a:path w="9525" h="1095375">
                  <a:moveTo>
                    <a:pt x="0" y="0"/>
                  </a:moveTo>
                  <a:lnTo>
                    <a:pt x="0" y="1095375"/>
                  </a:lnTo>
                </a:path>
              </a:pathLst>
            </a:custGeom>
            <a:noFill/>
            <a:ln w="11430">
              <a:solidFill>
                <a:srgbClr val="E72700"/>
              </a:solidFill>
            </a:ln>
          </p:spPr>
        </p:sp>
        <p:sp>
          <p:nvSpPr>
            <p:cNvPr id="84" name="TextBox 84"/>
            <p:cNvSpPr txBox="1"/>
            <p:nvPr/>
          </p:nvSpPr>
          <p:spPr>
            <a:xfrm>
              <a:off x="7310438" y="5913596"/>
              <a:ext cx="426039"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其他模型​</a:t>
              </a:r>
            </a:p>
          </p:txBody>
        </p:sp>
      </p:grpSp>
      <p:grpSp>
        <p:nvGrpSpPr>
          <p:cNvPr id="119" name="nav"/>
          <p:cNvGrpSpPr/>
          <p:nvPr/>
        </p:nvGrpSpPr>
        <p:grpSpPr>
          <a:xfrm>
            <a:off x="9834562" y="0"/>
            <a:ext cx="2357438" cy="6858000"/>
            <a:chOff x="9834562" y="0"/>
            <a:chExt cx="2357438" cy="6858000"/>
          </a:xfrm>
        </p:grpSpPr>
        <p:sp>
          <p:nvSpPr>
            <p:cNvPr id="86" name="Line 86"/>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87" name="Rectangle 87"/>
            <p:cNvSpPr/>
            <p:nvPr/>
          </p:nvSpPr>
          <p:spPr>
            <a:xfrm>
              <a:off x="9839325" y="476250"/>
              <a:ext cx="2352675" cy="514350"/>
            </a:xfrm>
            <a:prstGeom prst="rect">
              <a:avLst/>
            </a:prstGeom>
            <a:solidFill>
              <a:srgbClr val="F3F3F3"/>
            </a:solidFill>
            <a:ln>
              <a:noFill/>
            </a:ln>
          </p:spPr>
        </p:sp>
        <p:sp>
          <p:nvSpPr>
            <p:cNvPr id="88" name="TextBox 88"/>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89" name="Rectangle 89"/>
            <p:cNvSpPr/>
            <p:nvPr/>
          </p:nvSpPr>
          <p:spPr>
            <a:xfrm>
              <a:off x="9839325" y="1000125"/>
              <a:ext cx="2352675" cy="514350"/>
            </a:xfrm>
            <a:prstGeom prst="rect">
              <a:avLst/>
            </a:prstGeom>
            <a:solidFill>
              <a:srgbClr val="F3F3F3"/>
            </a:solidFill>
            <a:ln>
              <a:noFill/>
            </a:ln>
          </p:spPr>
        </p:sp>
        <p:sp>
          <p:nvSpPr>
            <p:cNvPr id="90" name="TextBox 90"/>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91" name="Rectangle 91"/>
            <p:cNvSpPr/>
            <p:nvPr/>
          </p:nvSpPr>
          <p:spPr>
            <a:xfrm>
              <a:off x="9839325" y="1524000"/>
              <a:ext cx="2352675" cy="514350"/>
            </a:xfrm>
            <a:prstGeom prst="rect">
              <a:avLst/>
            </a:prstGeom>
            <a:solidFill>
              <a:srgbClr val="F3F3F3"/>
            </a:solidFill>
            <a:ln>
              <a:noFill/>
            </a:ln>
          </p:spPr>
        </p:sp>
        <p:sp>
          <p:nvSpPr>
            <p:cNvPr id="92" name="TextBox 92"/>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93" name="Rectangle 93"/>
            <p:cNvSpPr/>
            <p:nvPr/>
          </p:nvSpPr>
          <p:spPr>
            <a:xfrm>
              <a:off x="9839325" y="2047875"/>
              <a:ext cx="2352675" cy="514350"/>
            </a:xfrm>
            <a:prstGeom prst="rect">
              <a:avLst/>
            </a:prstGeom>
            <a:solidFill>
              <a:srgbClr val="F3F3F3"/>
            </a:solidFill>
            <a:ln>
              <a:noFill/>
            </a:ln>
          </p:spPr>
        </p:sp>
        <p:sp>
          <p:nvSpPr>
            <p:cNvPr id="94" name="TextBox 94"/>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95" name="Rectangle 95"/>
            <p:cNvSpPr/>
            <p:nvPr/>
          </p:nvSpPr>
          <p:spPr>
            <a:xfrm>
              <a:off x="9839325" y="2571750"/>
              <a:ext cx="2352675" cy="514350"/>
            </a:xfrm>
            <a:prstGeom prst="rect">
              <a:avLst/>
            </a:prstGeom>
            <a:solidFill>
              <a:srgbClr val="F8A291"/>
            </a:solidFill>
            <a:ln>
              <a:noFill/>
            </a:ln>
          </p:spPr>
        </p:sp>
        <p:sp>
          <p:nvSpPr>
            <p:cNvPr id="96" name="TextBox 96"/>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b="1" dirty="0">
                  <a:solidFill>
                    <a:srgbClr val="1A1A1A"/>
                  </a:solidFill>
                  <a:latin typeface="+mn-lt"/>
                  <a:ea typeface="+mn-ea"/>
                  <a:cs typeface="+mn-cs"/>
                </a:rPr>
                <a:t>模型版图与清单：</a:t>
              </a:r>
              <a:br/>
              <a:r>
                <a:rPr lang="zh-CN" sz="820" b="1" dirty="0">
                  <a:solidFill>
                    <a:srgbClr val="1A1A1A"/>
                  </a:solidFill>
                  <a:latin typeface="+mn-lt"/>
                  <a:ea typeface="+mn-ea"/>
                  <a:cs typeface="+mn-cs"/>
                </a:rPr>
                <a:t>高效模型风险管理的基础</a:t>
              </a:r>
            </a:p>
          </p:txBody>
        </p:sp>
        <p:sp>
          <p:nvSpPr>
            <p:cNvPr id="97" name="Rectangle 97"/>
            <p:cNvSpPr/>
            <p:nvPr/>
          </p:nvSpPr>
          <p:spPr>
            <a:xfrm>
              <a:off x="9839325" y="3095625"/>
              <a:ext cx="2352675" cy="514350"/>
            </a:xfrm>
            <a:prstGeom prst="rect">
              <a:avLst/>
            </a:prstGeom>
            <a:solidFill>
              <a:srgbClr val="F3F3F3"/>
            </a:solidFill>
            <a:ln>
              <a:noFill/>
            </a:ln>
          </p:spPr>
        </p:sp>
        <p:sp>
          <p:nvSpPr>
            <p:cNvPr id="98" name="TextBox 98"/>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99" name="Rectangle 99"/>
            <p:cNvSpPr/>
            <p:nvPr/>
          </p:nvSpPr>
          <p:spPr>
            <a:xfrm>
              <a:off x="9839325" y="3619500"/>
              <a:ext cx="2352675" cy="514350"/>
            </a:xfrm>
            <a:prstGeom prst="rect">
              <a:avLst/>
            </a:prstGeom>
            <a:solidFill>
              <a:srgbClr val="F3F3F3"/>
            </a:solidFill>
            <a:ln>
              <a:noFill/>
            </a:ln>
          </p:spPr>
        </p:sp>
        <p:sp>
          <p:nvSpPr>
            <p:cNvPr id="100" name="TextBox 100"/>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01" name="Rectangle 101"/>
            <p:cNvSpPr/>
            <p:nvPr/>
          </p:nvSpPr>
          <p:spPr>
            <a:xfrm>
              <a:off x="9839325" y="4143375"/>
              <a:ext cx="2352675" cy="514350"/>
            </a:xfrm>
            <a:prstGeom prst="rect">
              <a:avLst/>
            </a:prstGeom>
            <a:solidFill>
              <a:srgbClr val="F3F3F3"/>
            </a:solidFill>
            <a:ln>
              <a:noFill/>
            </a:ln>
          </p:spPr>
        </p:sp>
        <p:sp>
          <p:nvSpPr>
            <p:cNvPr id="102" name="TextBox 102"/>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03" name="Rectangle 103"/>
            <p:cNvSpPr/>
            <p:nvPr/>
          </p:nvSpPr>
          <p:spPr>
            <a:xfrm>
              <a:off x="9839325" y="4667250"/>
              <a:ext cx="2352675" cy="514350"/>
            </a:xfrm>
            <a:prstGeom prst="rect">
              <a:avLst/>
            </a:prstGeom>
            <a:solidFill>
              <a:srgbClr val="F3F3F3"/>
            </a:solidFill>
            <a:ln>
              <a:noFill/>
            </a:ln>
          </p:spPr>
        </p:sp>
        <p:sp>
          <p:nvSpPr>
            <p:cNvPr id="104" name="TextBox 104"/>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05" name="Rectangle 105"/>
            <p:cNvSpPr/>
            <p:nvPr/>
          </p:nvSpPr>
          <p:spPr>
            <a:xfrm>
              <a:off x="9839325" y="5191125"/>
              <a:ext cx="2352675" cy="514350"/>
            </a:xfrm>
            <a:prstGeom prst="rect">
              <a:avLst/>
            </a:prstGeom>
            <a:solidFill>
              <a:srgbClr val="F3F3F3"/>
            </a:solidFill>
            <a:ln>
              <a:noFill/>
            </a:ln>
          </p:spPr>
        </p:sp>
        <p:sp>
          <p:nvSpPr>
            <p:cNvPr id="106" name="TextBox 106"/>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07" name="Rectangle 107"/>
            <p:cNvSpPr/>
            <p:nvPr/>
          </p:nvSpPr>
          <p:spPr>
            <a:xfrm>
              <a:off x="9839325" y="5715000"/>
              <a:ext cx="2352675" cy="514350"/>
            </a:xfrm>
            <a:prstGeom prst="rect">
              <a:avLst/>
            </a:prstGeom>
            <a:solidFill>
              <a:srgbClr val="F3F3F3"/>
            </a:solidFill>
            <a:ln>
              <a:noFill/>
            </a:ln>
          </p:spPr>
        </p:sp>
        <p:sp>
          <p:nvSpPr>
            <p:cNvPr id="108" name="TextBox 108"/>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09" name="Ellipse 109"/>
            <p:cNvSpPr/>
            <p:nvPr/>
          </p:nvSpPr>
          <p:spPr>
            <a:xfrm>
              <a:off x="10020300" y="6372225"/>
              <a:ext cx="266700" cy="266700"/>
            </a:xfrm>
            <a:prstGeom prst="ellipse">
              <a:avLst/>
            </a:prstGeom>
            <a:solidFill>
              <a:srgbClr val="D7D8D6"/>
            </a:solidFill>
            <a:ln>
              <a:noFill/>
            </a:ln>
          </p:spPr>
        </p:sp>
        <p:sp>
          <p:nvSpPr>
            <p:cNvPr id="110" name="Freeform 110"/>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11" name="Ellipse 111"/>
            <p:cNvSpPr/>
            <p:nvPr/>
          </p:nvSpPr>
          <p:spPr>
            <a:xfrm>
              <a:off x="10420350" y="6372225"/>
              <a:ext cx="266700" cy="266700"/>
            </a:xfrm>
            <a:prstGeom prst="ellipse">
              <a:avLst/>
            </a:prstGeom>
            <a:solidFill>
              <a:srgbClr val="D7D8D6"/>
            </a:solidFill>
            <a:ln>
              <a:noFill/>
            </a:ln>
          </p:spPr>
        </p:sp>
        <p:grpSp>
          <p:nvGrpSpPr>
            <p:cNvPr id="115" name="Group 115"/>
            <p:cNvGrpSpPr/>
            <p:nvPr/>
          </p:nvGrpSpPr>
          <p:grpSpPr>
            <a:xfrm>
              <a:off x="10489406" y="6441281"/>
              <a:ext cx="128588" cy="128588"/>
              <a:chOff x="10489406" y="6441281"/>
              <a:chExt cx="128588" cy="128588"/>
            </a:xfrm>
          </p:grpSpPr>
          <p:sp>
            <p:nvSpPr>
              <p:cNvPr id="112" name="Freeform 112"/>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13" name="Freeform 113"/>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14" name="Freeform 114"/>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16" name="Ellipse 116"/>
            <p:cNvSpPr/>
            <p:nvPr/>
          </p:nvSpPr>
          <p:spPr>
            <a:xfrm>
              <a:off x="10820400" y="6372225"/>
              <a:ext cx="266700" cy="266700"/>
            </a:xfrm>
            <a:prstGeom prst="ellipse">
              <a:avLst/>
            </a:prstGeom>
            <a:solidFill>
              <a:srgbClr val="D7D8D6"/>
            </a:solidFill>
            <a:ln>
              <a:noFill/>
            </a:ln>
          </p:spPr>
        </p:sp>
        <p:sp>
          <p:nvSpPr>
            <p:cNvPr id="117" name="Freeform 117"/>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18" name="TextBox 118"/>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12</a:t>
              </a:r>
            </a:p>
          </p:txBody>
        </p:sp>
      </p:gr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8A291"/>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13</a:t>
              </a:r>
            </a:p>
          </p:txBody>
        </p:sp>
        <p:sp>
          <p:nvSpPr>
            <p:cNvPr id="4" name="TextBox 4"/>
            <p:cNvSpPr txBox="1"/>
            <p:nvPr/>
          </p:nvSpPr>
          <p:spPr>
            <a:xfrm>
              <a:off x="942594" y="151448"/>
              <a:ext cx="544998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模型版图与清单：</a:t>
              </a:r>
              <a:r>
                <a:rPr lang="zh-CN" sz="1950" b="1" dirty="0">
                  <a:solidFill>
                    <a:srgbClr val="B61F00"/>
                  </a:solidFill>
                  <a:latin typeface="+mj-lt"/>
                  <a:ea typeface="+mj-ea"/>
                  <a:cs typeface="+mj-cs"/>
                </a:rPr>
                <a:t>模型风险管理框架的范围</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F8A291"/>
              </a:solidFill>
            </a:ln>
          </p:spPr>
        </p:sp>
      </p:grpSp>
      <p:grpSp>
        <p:nvGrpSpPr>
          <p:cNvPr id="11" name="lead"/>
          <p:cNvGrpSpPr/>
          <p:nvPr/>
        </p:nvGrpSpPr>
        <p:grpSpPr>
          <a:xfrm>
            <a:off x="566547" y="847249"/>
            <a:ext cx="8551355" cy="917733"/>
            <a:chOff x="566547" y="847249"/>
            <a:chExt cx="8551355" cy="917733"/>
          </a:xfrm>
        </p:grpSpPr>
        <p:sp>
          <p:nvSpPr>
            <p:cNvPr id="7" name="TextBox 7"/>
            <p:cNvSpPr txBox="1"/>
            <p:nvPr/>
          </p:nvSpPr>
          <p:spPr>
            <a:xfrm>
              <a:off x="566547" y="847249"/>
              <a:ext cx="1537298" cy="190690"/>
            </a:xfrm>
            <a:prstGeom prst="rect">
              <a:avLst/>
            </a:prstGeom>
            <a:noFill/>
            <a:ln>
              <a:noFill/>
            </a:ln>
          </p:spPr>
          <p:txBody>
            <a:bodyPr wrap="none" lIns="0" tIns="0" rIns="0" bIns="0" anchor="t" anchorCtr="0">
              <a:spAutoFit/>
            </a:bodyPr>
            <a:lstStyle/>
            <a:p>
              <a:pPr algn="l"/>
              <a:r>
                <a:rPr lang="zh-CN" sz="980" b="1" dirty="0">
                  <a:solidFill>
                    <a:srgbClr val="B61F00"/>
                  </a:solidFill>
                  <a:latin typeface="+mn-lt"/>
                  <a:ea typeface="+mn-ea"/>
                  <a:cs typeface="+mn-cs"/>
                </a:rPr>
                <a:t>模型风险管理框架的范围​</a:t>
              </a:r>
            </a:p>
          </p:txBody>
        </p:sp>
        <p:sp>
          <p:nvSpPr>
            <p:cNvPr id="8" name="TextBox 8"/>
            <p:cNvSpPr txBox="1"/>
            <p:nvPr/>
          </p:nvSpPr>
          <p:spPr>
            <a:xfrm>
              <a:off x="566738" y="1012984"/>
              <a:ext cx="2186877"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Scope of the model risk management framework​</a:t>
              </a:r>
            </a:p>
          </p:txBody>
        </p:sp>
        <p:sp>
          <p:nvSpPr>
            <p:cNvPr id="9" name="TextBox 9"/>
            <p:cNvSpPr txBox="1"/>
            <p:nvPr/>
          </p:nvSpPr>
          <p:spPr>
            <a:xfrm>
              <a:off x="566738" y="1169670"/>
              <a:ext cx="8551164"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在四大模型类别中，金融风险模型（pillar 1资本与会计）最常纳入模型风险管理框架范围。考虑到监管对信用风险和市场风险模型的关注，这并不令人意外。​​</a:t>
              </a:r>
            </a:p>
          </p:txBody>
        </p:sp>
        <p:sp>
          <p:nvSpPr>
            <p:cNvPr id="10" name="TextBox 10"/>
            <p:cNvSpPr txBox="1"/>
            <p:nvPr/>
          </p:nvSpPr>
          <p:spPr>
            <a:xfrm>
              <a:off x="566738" y="1417320"/>
              <a:ext cx="818197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将金融风险模型（pillar 2资本与流动性）、合规模型和其他模型纳入模型风险管理范围的，多为拥有成熟模型风险管理框架的大型和中型银行。而合规模型和其​​</a:t>
              </a:r>
              <a:br/>
              <a:r>
                <a:rPr lang="zh-CN" sz="900" dirty="0">
                  <a:solidFill>
                    <a:srgbClr val="333333"/>
                  </a:solidFill>
                  <a:latin typeface="+mn-lt"/>
                  <a:ea typeface="+mn-ea"/>
                  <a:cs typeface="+mn-cs"/>
                </a:rPr>
                <a:t>他模型类别，除少数例外，主要出现在大型银行的模型风险管理框架范围内。​</a:t>
              </a:r>
            </a:p>
          </p:txBody>
        </p:sp>
      </p:grpSp>
      <p:grpSp>
        <p:nvGrpSpPr>
          <p:cNvPr id="125" name="figure-11"/>
          <p:cNvGrpSpPr/>
          <p:nvPr/>
        </p:nvGrpSpPr>
        <p:grpSpPr>
          <a:xfrm>
            <a:off x="566738" y="2015966"/>
            <a:ext cx="8863012" cy="3108722"/>
            <a:chOff x="566738" y="2015966"/>
            <a:chExt cx="8863012" cy="3108722"/>
          </a:xfrm>
        </p:grpSpPr>
        <p:sp>
          <p:nvSpPr>
            <p:cNvPr id="12" name="TextBox 12"/>
            <p:cNvSpPr txBox="1"/>
            <p:nvPr/>
          </p:nvSpPr>
          <p:spPr>
            <a:xfrm>
              <a:off x="566738" y="2015966"/>
              <a:ext cx="2239647"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图11. 各模型类型的模型风险框架覆盖范围​​</a:t>
              </a:r>
            </a:p>
          </p:txBody>
        </p:sp>
        <p:sp>
          <p:nvSpPr>
            <p:cNvPr id="13" name="TextBox 13"/>
            <p:cNvSpPr txBox="1"/>
            <p:nvPr/>
          </p:nvSpPr>
          <p:spPr>
            <a:xfrm>
              <a:off x="566738" y="2160032"/>
              <a:ext cx="2765351"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Scope of the model risk framework for each of the model types​​</a:t>
              </a:r>
            </a:p>
          </p:txBody>
        </p:sp>
        <p:sp>
          <p:nvSpPr>
            <p:cNvPr id="14" name="Line 14"/>
            <p:cNvSpPr/>
            <p:nvPr/>
          </p:nvSpPr>
          <p:spPr>
            <a:xfrm>
              <a:off x="952500" y="422910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15" name="TextBox 15"/>
            <p:cNvSpPr txBox="1"/>
            <p:nvPr/>
          </p:nvSpPr>
          <p:spPr>
            <a:xfrm>
              <a:off x="760646" y="4201716"/>
              <a:ext cx="148991"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0%​</a:t>
              </a:r>
            </a:p>
          </p:txBody>
        </p:sp>
        <p:sp>
          <p:nvSpPr>
            <p:cNvPr id="16" name="Line 16"/>
            <p:cNvSpPr/>
            <p:nvPr/>
          </p:nvSpPr>
          <p:spPr>
            <a:xfrm>
              <a:off x="952500" y="388620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17" name="TextBox 17"/>
            <p:cNvSpPr txBox="1"/>
            <p:nvPr/>
          </p:nvSpPr>
          <p:spPr>
            <a:xfrm>
              <a:off x="719183" y="385881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20%​</a:t>
              </a:r>
            </a:p>
          </p:txBody>
        </p:sp>
        <p:sp>
          <p:nvSpPr>
            <p:cNvPr id="18" name="Line 18"/>
            <p:cNvSpPr/>
            <p:nvPr/>
          </p:nvSpPr>
          <p:spPr>
            <a:xfrm>
              <a:off x="952500" y="354330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19" name="TextBox 19"/>
            <p:cNvSpPr txBox="1"/>
            <p:nvPr/>
          </p:nvSpPr>
          <p:spPr>
            <a:xfrm>
              <a:off x="719183" y="351591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40%​</a:t>
              </a:r>
            </a:p>
          </p:txBody>
        </p:sp>
        <p:sp>
          <p:nvSpPr>
            <p:cNvPr id="20" name="Line 20"/>
            <p:cNvSpPr/>
            <p:nvPr/>
          </p:nvSpPr>
          <p:spPr>
            <a:xfrm>
              <a:off x="952500" y="320040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1" name="TextBox 21"/>
            <p:cNvSpPr txBox="1"/>
            <p:nvPr/>
          </p:nvSpPr>
          <p:spPr>
            <a:xfrm>
              <a:off x="719183" y="317301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60%​</a:t>
              </a:r>
            </a:p>
          </p:txBody>
        </p:sp>
        <p:sp>
          <p:nvSpPr>
            <p:cNvPr id="22" name="Line 22"/>
            <p:cNvSpPr/>
            <p:nvPr/>
          </p:nvSpPr>
          <p:spPr>
            <a:xfrm>
              <a:off x="952500" y="285750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3" name="TextBox 23"/>
            <p:cNvSpPr txBox="1"/>
            <p:nvPr/>
          </p:nvSpPr>
          <p:spPr>
            <a:xfrm>
              <a:off x="719183" y="283011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80%​</a:t>
              </a:r>
            </a:p>
          </p:txBody>
        </p:sp>
        <p:sp>
          <p:nvSpPr>
            <p:cNvPr id="24" name="Line 24"/>
            <p:cNvSpPr/>
            <p:nvPr/>
          </p:nvSpPr>
          <p:spPr>
            <a:xfrm>
              <a:off x="952500" y="251460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5" name="TextBox 25"/>
            <p:cNvSpPr txBox="1"/>
            <p:nvPr/>
          </p:nvSpPr>
          <p:spPr>
            <a:xfrm>
              <a:off x="677720" y="2487216"/>
              <a:ext cx="231917"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100%​</a:t>
              </a:r>
            </a:p>
          </p:txBody>
        </p:sp>
        <p:sp>
          <p:nvSpPr>
            <p:cNvPr id="26" name="Rectangle 26"/>
            <p:cNvSpPr/>
            <p:nvPr/>
          </p:nvSpPr>
          <p:spPr>
            <a:xfrm>
              <a:off x="1050608" y="3611880"/>
              <a:ext cx="249555" cy="617220"/>
            </a:xfrm>
            <a:prstGeom prst="rect">
              <a:avLst/>
            </a:prstGeom>
            <a:solidFill>
              <a:srgbClr val="7C1500"/>
            </a:solidFill>
            <a:ln>
              <a:noFill/>
            </a:ln>
          </p:spPr>
        </p:sp>
        <p:sp>
          <p:nvSpPr>
            <p:cNvPr id="27" name="Rectangle 27"/>
            <p:cNvSpPr/>
            <p:nvPr/>
          </p:nvSpPr>
          <p:spPr>
            <a:xfrm>
              <a:off x="1050608" y="3063240"/>
              <a:ext cx="249555" cy="548640"/>
            </a:xfrm>
            <a:prstGeom prst="rect">
              <a:avLst/>
            </a:prstGeom>
            <a:solidFill>
              <a:srgbClr val="B61F00"/>
            </a:solidFill>
            <a:ln>
              <a:noFill/>
            </a:ln>
          </p:spPr>
        </p:sp>
        <p:sp>
          <p:nvSpPr>
            <p:cNvPr id="28" name="Rectangle 28"/>
            <p:cNvSpPr/>
            <p:nvPr/>
          </p:nvSpPr>
          <p:spPr>
            <a:xfrm>
              <a:off x="1050608" y="2703195"/>
              <a:ext cx="249555" cy="360045"/>
            </a:xfrm>
            <a:prstGeom prst="rect">
              <a:avLst/>
            </a:prstGeom>
            <a:solidFill>
              <a:srgbClr val="F8A291"/>
            </a:solidFill>
            <a:ln>
              <a:noFill/>
            </a:ln>
          </p:spPr>
        </p:sp>
        <p:sp>
          <p:nvSpPr>
            <p:cNvPr id="29" name="TextBox 29"/>
            <p:cNvSpPr txBox="1"/>
            <p:nvPr/>
          </p:nvSpPr>
          <p:spPr>
            <a:xfrm>
              <a:off x="1008825" y="42731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信用风险​</a:t>
              </a:r>
              <a:br/>
              <a:r>
                <a:rPr lang="zh-CN" sz="560" dirty="0">
                  <a:solidFill>
                    <a:srgbClr val="666666"/>
                  </a:solidFill>
                  <a:latin typeface="+mn-lt"/>
                  <a:ea typeface="+mn-ea"/>
                  <a:cs typeface="+mn-cs"/>
                </a:rPr>
                <a:t>资本计算​</a:t>
              </a:r>
            </a:p>
          </p:txBody>
        </p:sp>
        <p:sp>
          <p:nvSpPr>
            <p:cNvPr id="30" name="Rectangle 30"/>
            <p:cNvSpPr/>
            <p:nvPr/>
          </p:nvSpPr>
          <p:spPr>
            <a:xfrm>
              <a:off x="1497330" y="3594735"/>
              <a:ext cx="249555" cy="634365"/>
            </a:xfrm>
            <a:prstGeom prst="rect">
              <a:avLst/>
            </a:prstGeom>
            <a:solidFill>
              <a:srgbClr val="7C1500"/>
            </a:solidFill>
            <a:ln>
              <a:noFill/>
            </a:ln>
          </p:spPr>
        </p:sp>
        <p:sp>
          <p:nvSpPr>
            <p:cNvPr id="31" name="Rectangle 31"/>
            <p:cNvSpPr/>
            <p:nvPr/>
          </p:nvSpPr>
          <p:spPr>
            <a:xfrm>
              <a:off x="1497330" y="3063240"/>
              <a:ext cx="249555" cy="531495"/>
            </a:xfrm>
            <a:prstGeom prst="rect">
              <a:avLst/>
            </a:prstGeom>
            <a:solidFill>
              <a:srgbClr val="B61F00"/>
            </a:solidFill>
            <a:ln>
              <a:noFill/>
            </a:ln>
          </p:spPr>
        </p:sp>
        <p:sp>
          <p:nvSpPr>
            <p:cNvPr id="32" name="Rectangle 32"/>
            <p:cNvSpPr/>
            <p:nvPr/>
          </p:nvSpPr>
          <p:spPr>
            <a:xfrm>
              <a:off x="1497330" y="2703195"/>
              <a:ext cx="249555" cy="360045"/>
            </a:xfrm>
            <a:prstGeom prst="rect">
              <a:avLst/>
            </a:prstGeom>
            <a:solidFill>
              <a:srgbClr val="F8A291"/>
            </a:solidFill>
            <a:ln>
              <a:noFill/>
            </a:ln>
          </p:spPr>
        </p:sp>
        <p:sp>
          <p:nvSpPr>
            <p:cNvPr id="33" name="TextBox 33"/>
            <p:cNvSpPr txBox="1"/>
            <p:nvPr/>
          </p:nvSpPr>
          <p:spPr>
            <a:xfrm>
              <a:off x="1455547" y="42731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信用风险​</a:t>
              </a:r>
              <a:br/>
              <a:r>
                <a:rPr lang="zh-CN" sz="560" dirty="0">
                  <a:solidFill>
                    <a:srgbClr val="666666"/>
                  </a:solidFill>
                  <a:latin typeface="+mn-lt"/>
                  <a:ea typeface="+mn-ea"/>
                  <a:cs typeface="+mn-cs"/>
                </a:rPr>
                <a:t>拨备计提​</a:t>
              </a:r>
            </a:p>
          </p:txBody>
        </p:sp>
        <p:sp>
          <p:nvSpPr>
            <p:cNvPr id="34" name="Rectangle 34"/>
            <p:cNvSpPr/>
            <p:nvPr/>
          </p:nvSpPr>
          <p:spPr>
            <a:xfrm>
              <a:off x="1943100" y="3646170"/>
              <a:ext cx="249555" cy="582930"/>
            </a:xfrm>
            <a:prstGeom prst="rect">
              <a:avLst/>
            </a:prstGeom>
            <a:solidFill>
              <a:srgbClr val="7C1500"/>
            </a:solidFill>
            <a:ln>
              <a:noFill/>
            </a:ln>
          </p:spPr>
        </p:sp>
        <p:sp>
          <p:nvSpPr>
            <p:cNvPr id="35" name="Rectangle 35"/>
            <p:cNvSpPr/>
            <p:nvPr/>
          </p:nvSpPr>
          <p:spPr>
            <a:xfrm>
              <a:off x="1943100" y="3114675"/>
              <a:ext cx="249555" cy="531495"/>
            </a:xfrm>
            <a:prstGeom prst="rect">
              <a:avLst/>
            </a:prstGeom>
            <a:solidFill>
              <a:srgbClr val="B61F00"/>
            </a:solidFill>
            <a:ln>
              <a:noFill/>
            </a:ln>
          </p:spPr>
        </p:sp>
        <p:sp>
          <p:nvSpPr>
            <p:cNvPr id="36" name="Rectangle 36"/>
            <p:cNvSpPr/>
            <p:nvPr/>
          </p:nvSpPr>
          <p:spPr>
            <a:xfrm>
              <a:off x="1943100" y="2823210"/>
              <a:ext cx="249555" cy="291465"/>
            </a:xfrm>
            <a:prstGeom prst="rect">
              <a:avLst/>
            </a:prstGeom>
            <a:solidFill>
              <a:srgbClr val="F8A291"/>
            </a:solidFill>
            <a:ln>
              <a:noFill/>
            </a:ln>
          </p:spPr>
        </p:sp>
        <p:sp>
          <p:nvSpPr>
            <p:cNvPr id="37" name="TextBox 37"/>
            <p:cNvSpPr txBox="1"/>
            <p:nvPr/>
          </p:nvSpPr>
          <p:spPr>
            <a:xfrm>
              <a:off x="1865757" y="4273153"/>
              <a:ext cx="404241" cy="30241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风险管理与​</a:t>
              </a:r>
              <a:br/>
              <a:r>
                <a:rPr lang="zh-CN" sz="560" dirty="0">
                  <a:solidFill>
                    <a:srgbClr val="666666"/>
                  </a:solidFill>
                  <a:latin typeface="+mn-lt"/>
                  <a:ea typeface="+mn-ea"/>
                  <a:cs typeface="+mn-cs"/>
                </a:rPr>
                <a:t>运营流程​</a:t>
              </a:r>
              <a:br/>
              <a:r>
                <a:rPr lang="zh-CN" sz="560" dirty="0">
                  <a:solidFill>
                    <a:srgbClr val="666666"/>
                  </a:solidFill>
                  <a:latin typeface="+mn-lt"/>
                  <a:ea typeface="+mn-ea"/>
                  <a:cs typeface="+mn-cs"/>
                </a:rPr>
                <a:t>(评分卡)​​</a:t>
              </a:r>
            </a:p>
          </p:txBody>
        </p:sp>
        <p:sp>
          <p:nvSpPr>
            <p:cNvPr id="38" name="Rectangle 38"/>
            <p:cNvSpPr/>
            <p:nvPr/>
          </p:nvSpPr>
          <p:spPr>
            <a:xfrm>
              <a:off x="2388870" y="3663315"/>
              <a:ext cx="249555" cy="565785"/>
            </a:xfrm>
            <a:prstGeom prst="rect">
              <a:avLst/>
            </a:prstGeom>
            <a:solidFill>
              <a:srgbClr val="7C1500"/>
            </a:solidFill>
            <a:ln>
              <a:noFill/>
            </a:ln>
          </p:spPr>
        </p:sp>
        <p:sp>
          <p:nvSpPr>
            <p:cNvPr id="39" name="Rectangle 39"/>
            <p:cNvSpPr/>
            <p:nvPr/>
          </p:nvSpPr>
          <p:spPr>
            <a:xfrm>
              <a:off x="2388870" y="3234690"/>
              <a:ext cx="249555" cy="428625"/>
            </a:xfrm>
            <a:prstGeom prst="rect">
              <a:avLst/>
            </a:prstGeom>
            <a:solidFill>
              <a:srgbClr val="B61F00"/>
            </a:solidFill>
            <a:ln>
              <a:noFill/>
            </a:ln>
          </p:spPr>
        </p:sp>
        <p:sp>
          <p:nvSpPr>
            <p:cNvPr id="40" name="Rectangle 40"/>
            <p:cNvSpPr/>
            <p:nvPr/>
          </p:nvSpPr>
          <p:spPr>
            <a:xfrm>
              <a:off x="2388870" y="3028950"/>
              <a:ext cx="249555" cy="205740"/>
            </a:xfrm>
            <a:prstGeom prst="rect">
              <a:avLst/>
            </a:prstGeom>
            <a:solidFill>
              <a:srgbClr val="F8A291"/>
            </a:solidFill>
            <a:ln>
              <a:noFill/>
            </a:ln>
          </p:spPr>
        </p:sp>
        <p:sp>
          <p:nvSpPr>
            <p:cNvPr id="41" name="TextBox 41"/>
            <p:cNvSpPr txBox="1"/>
            <p:nvPr/>
          </p:nvSpPr>
          <p:spPr>
            <a:xfrm>
              <a:off x="2347087" y="42731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市场风险​</a:t>
              </a:r>
              <a:br/>
              <a:r>
                <a:rPr lang="zh-CN" sz="560" dirty="0">
                  <a:solidFill>
                    <a:srgbClr val="666666"/>
                  </a:solidFill>
                  <a:latin typeface="+mn-lt"/>
                  <a:ea typeface="+mn-ea"/>
                  <a:cs typeface="+mn-cs"/>
                </a:rPr>
                <a:t>资本计算​</a:t>
              </a:r>
            </a:p>
          </p:txBody>
        </p:sp>
        <p:sp>
          <p:nvSpPr>
            <p:cNvPr id="42" name="Rectangle 42"/>
            <p:cNvSpPr/>
            <p:nvPr/>
          </p:nvSpPr>
          <p:spPr>
            <a:xfrm>
              <a:off x="2835592" y="3680460"/>
              <a:ext cx="249555" cy="548640"/>
            </a:xfrm>
            <a:prstGeom prst="rect">
              <a:avLst/>
            </a:prstGeom>
            <a:solidFill>
              <a:srgbClr val="7C1500"/>
            </a:solidFill>
            <a:ln>
              <a:noFill/>
            </a:ln>
          </p:spPr>
        </p:sp>
        <p:sp>
          <p:nvSpPr>
            <p:cNvPr id="43" name="Rectangle 43"/>
            <p:cNvSpPr/>
            <p:nvPr/>
          </p:nvSpPr>
          <p:spPr>
            <a:xfrm>
              <a:off x="2835592" y="3166110"/>
              <a:ext cx="249555" cy="514350"/>
            </a:xfrm>
            <a:prstGeom prst="rect">
              <a:avLst/>
            </a:prstGeom>
            <a:solidFill>
              <a:srgbClr val="B61F00"/>
            </a:solidFill>
            <a:ln>
              <a:noFill/>
            </a:ln>
          </p:spPr>
        </p:sp>
        <p:sp>
          <p:nvSpPr>
            <p:cNvPr id="44" name="Rectangle 44"/>
            <p:cNvSpPr/>
            <p:nvPr/>
          </p:nvSpPr>
          <p:spPr>
            <a:xfrm>
              <a:off x="2835592" y="2874645"/>
              <a:ext cx="249555" cy="291465"/>
            </a:xfrm>
            <a:prstGeom prst="rect">
              <a:avLst/>
            </a:prstGeom>
            <a:solidFill>
              <a:srgbClr val="F8A291"/>
            </a:solidFill>
            <a:ln>
              <a:noFill/>
            </a:ln>
          </p:spPr>
        </p:sp>
        <p:sp>
          <p:nvSpPr>
            <p:cNvPr id="45" name="TextBox 45"/>
            <p:cNvSpPr txBox="1"/>
            <p:nvPr/>
          </p:nvSpPr>
          <p:spPr>
            <a:xfrm>
              <a:off x="2793810" y="42731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市场风险​</a:t>
              </a:r>
              <a:br/>
              <a:r>
                <a:rPr lang="zh-CN" sz="560" dirty="0">
                  <a:solidFill>
                    <a:srgbClr val="666666"/>
                  </a:solidFill>
                  <a:latin typeface="+mn-lt"/>
                  <a:ea typeface="+mn-ea"/>
                  <a:cs typeface="+mn-cs"/>
                </a:rPr>
                <a:t>管理​</a:t>
              </a:r>
            </a:p>
          </p:txBody>
        </p:sp>
        <p:sp>
          <p:nvSpPr>
            <p:cNvPr id="46" name="Rectangle 46"/>
            <p:cNvSpPr/>
            <p:nvPr/>
          </p:nvSpPr>
          <p:spPr>
            <a:xfrm>
              <a:off x="3281362" y="3646170"/>
              <a:ext cx="249555" cy="582930"/>
            </a:xfrm>
            <a:prstGeom prst="rect">
              <a:avLst/>
            </a:prstGeom>
            <a:solidFill>
              <a:srgbClr val="7C1500"/>
            </a:solidFill>
            <a:ln>
              <a:noFill/>
            </a:ln>
          </p:spPr>
        </p:sp>
        <p:sp>
          <p:nvSpPr>
            <p:cNvPr id="47" name="Rectangle 47"/>
            <p:cNvSpPr/>
            <p:nvPr/>
          </p:nvSpPr>
          <p:spPr>
            <a:xfrm>
              <a:off x="3281362" y="3114675"/>
              <a:ext cx="249555" cy="531495"/>
            </a:xfrm>
            <a:prstGeom prst="rect">
              <a:avLst/>
            </a:prstGeom>
            <a:solidFill>
              <a:srgbClr val="B61F00"/>
            </a:solidFill>
            <a:ln>
              <a:noFill/>
            </a:ln>
          </p:spPr>
        </p:sp>
        <p:sp>
          <p:nvSpPr>
            <p:cNvPr id="48" name="Rectangle 48"/>
            <p:cNvSpPr/>
            <p:nvPr/>
          </p:nvSpPr>
          <p:spPr>
            <a:xfrm>
              <a:off x="3281362" y="2891790"/>
              <a:ext cx="249555" cy="222885"/>
            </a:xfrm>
            <a:prstGeom prst="rect">
              <a:avLst/>
            </a:prstGeom>
            <a:solidFill>
              <a:srgbClr val="F8A291"/>
            </a:solidFill>
            <a:ln>
              <a:noFill/>
            </a:ln>
          </p:spPr>
        </p:sp>
        <p:sp>
          <p:nvSpPr>
            <p:cNvPr id="49" name="TextBox 49"/>
            <p:cNvSpPr txBox="1"/>
            <p:nvPr/>
          </p:nvSpPr>
          <p:spPr>
            <a:xfrm>
              <a:off x="3275140" y="4273153"/>
              <a:ext cx="26200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流动性​</a:t>
              </a:r>
              <a:br/>
              <a:r>
                <a:rPr lang="zh-CN" sz="560" dirty="0">
                  <a:solidFill>
                    <a:srgbClr val="666666"/>
                  </a:solidFill>
                  <a:latin typeface="+mn-lt"/>
                  <a:ea typeface="+mn-ea"/>
                  <a:cs typeface="+mn-cs"/>
                </a:rPr>
                <a:t>风险​</a:t>
              </a:r>
            </a:p>
          </p:txBody>
        </p:sp>
        <p:sp>
          <p:nvSpPr>
            <p:cNvPr id="50" name="Rectangle 50"/>
            <p:cNvSpPr/>
            <p:nvPr/>
          </p:nvSpPr>
          <p:spPr>
            <a:xfrm>
              <a:off x="3728085" y="3766185"/>
              <a:ext cx="249555" cy="462915"/>
            </a:xfrm>
            <a:prstGeom prst="rect">
              <a:avLst/>
            </a:prstGeom>
            <a:solidFill>
              <a:srgbClr val="7C1500"/>
            </a:solidFill>
            <a:ln>
              <a:noFill/>
            </a:ln>
          </p:spPr>
        </p:sp>
        <p:sp>
          <p:nvSpPr>
            <p:cNvPr id="51" name="Rectangle 51"/>
            <p:cNvSpPr/>
            <p:nvPr/>
          </p:nvSpPr>
          <p:spPr>
            <a:xfrm>
              <a:off x="3728085" y="3303270"/>
              <a:ext cx="249555" cy="462915"/>
            </a:xfrm>
            <a:prstGeom prst="rect">
              <a:avLst/>
            </a:prstGeom>
            <a:solidFill>
              <a:srgbClr val="B61F00"/>
            </a:solidFill>
            <a:ln>
              <a:noFill/>
            </a:ln>
          </p:spPr>
        </p:sp>
        <p:sp>
          <p:nvSpPr>
            <p:cNvPr id="52" name="Rectangle 52"/>
            <p:cNvSpPr/>
            <p:nvPr/>
          </p:nvSpPr>
          <p:spPr>
            <a:xfrm>
              <a:off x="3728085" y="3097530"/>
              <a:ext cx="249555" cy="205740"/>
            </a:xfrm>
            <a:prstGeom prst="rect">
              <a:avLst/>
            </a:prstGeom>
            <a:solidFill>
              <a:srgbClr val="F8A291"/>
            </a:solidFill>
            <a:ln>
              <a:noFill/>
            </a:ln>
          </p:spPr>
        </p:sp>
        <p:sp>
          <p:nvSpPr>
            <p:cNvPr id="53" name="TextBox 53"/>
            <p:cNvSpPr txBox="1"/>
            <p:nvPr/>
          </p:nvSpPr>
          <p:spPr>
            <a:xfrm>
              <a:off x="3676594" y="42731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操作风险​</a:t>
              </a:r>
            </a:p>
          </p:txBody>
        </p:sp>
        <p:sp>
          <p:nvSpPr>
            <p:cNvPr id="54" name="Rectangle 54"/>
            <p:cNvSpPr/>
            <p:nvPr/>
          </p:nvSpPr>
          <p:spPr>
            <a:xfrm>
              <a:off x="4173855" y="3817620"/>
              <a:ext cx="249555" cy="411480"/>
            </a:xfrm>
            <a:prstGeom prst="rect">
              <a:avLst/>
            </a:prstGeom>
            <a:solidFill>
              <a:srgbClr val="7C1500"/>
            </a:solidFill>
            <a:ln>
              <a:noFill/>
            </a:ln>
          </p:spPr>
        </p:sp>
        <p:sp>
          <p:nvSpPr>
            <p:cNvPr id="55" name="Rectangle 55"/>
            <p:cNvSpPr/>
            <p:nvPr/>
          </p:nvSpPr>
          <p:spPr>
            <a:xfrm>
              <a:off x="4173855" y="3406140"/>
              <a:ext cx="249555" cy="411480"/>
            </a:xfrm>
            <a:prstGeom prst="rect">
              <a:avLst/>
            </a:prstGeom>
            <a:solidFill>
              <a:srgbClr val="B61F00"/>
            </a:solidFill>
            <a:ln>
              <a:noFill/>
            </a:ln>
          </p:spPr>
        </p:sp>
        <p:sp>
          <p:nvSpPr>
            <p:cNvPr id="56" name="Rectangle 56"/>
            <p:cNvSpPr/>
            <p:nvPr/>
          </p:nvSpPr>
          <p:spPr>
            <a:xfrm>
              <a:off x="4173855" y="3234690"/>
              <a:ext cx="249555" cy="171450"/>
            </a:xfrm>
            <a:prstGeom prst="rect">
              <a:avLst/>
            </a:prstGeom>
            <a:solidFill>
              <a:srgbClr val="F8A291"/>
            </a:solidFill>
            <a:ln>
              <a:noFill/>
            </a:ln>
          </p:spPr>
        </p:sp>
        <p:sp>
          <p:nvSpPr>
            <p:cNvPr id="57" name="TextBox 57"/>
            <p:cNvSpPr txBox="1"/>
            <p:nvPr/>
          </p:nvSpPr>
          <p:spPr>
            <a:xfrm>
              <a:off x="4037838" y="4273153"/>
              <a:ext cx="521589"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信用决策​</a:t>
              </a:r>
              <a:br/>
              <a:r>
                <a:rPr lang="zh-CN" sz="560" dirty="0">
                  <a:solidFill>
                    <a:srgbClr val="666666"/>
                  </a:solidFill>
                  <a:latin typeface="+mn-lt"/>
                  <a:ea typeface="+mn-ea"/>
                  <a:cs typeface="+mn-cs"/>
                </a:rPr>
                <a:t>(如信用审批)​​</a:t>
              </a:r>
            </a:p>
          </p:txBody>
        </p:sp>
        <p:sp>
          <p:nvSpPr>
            <p:cNvPr id="58" name="Rectangle 58"/>
            <p:cNvSpPr/>
            <p:nvPr/>
          </p:nvSpPr>
          <p:spPr>
            <a:xfrm>
              <a:off x="4620578" y="3800475"/>
              <a:ext cx="249555" cy="428625"/>
            </a:xfrm>
            <a:prstGeom prst="rect">
              <a:avLst/>
            </a:prstGeom>
            <a:solidFill>
              <a:srgbClr val="7C1500"/>
            </a:solidFill>
            <a:ln>
              <a:noFill/>
            </a:ln>
          </p:spPr>
        </p:sp>
        <p:sp>
          <p:nvSpPr>
            <p:cNvPr id="59" name="Rectangle 59"/>
            <p:cNvSpPr/>
            <p:nvPr/>
          </p:nvSpPr>
          <p:spPr>
            <a:xfrm>
              <a:off x="4620578" y="3354705"/>
              <a:ext cx="249555" cy="445770"/>
            </a:xfrm>
            <a:prstGeom prst="rect">
              <a:avLst/>
            </a:prstGeom>
            <a:solidFill>
              <a:srgbClr val="B61F00"/>
            </a:solidFill>
            <a:ln>
              <a:noFill/>
            </a:ln>
          </p:spPr>
        </p:sp>
        <p:sp>
          <p:nvSpPr>
            <p:cNvPr id="60" name="Rectangle 60"/>
            <p:cNvSpPr/>
            <p:nvPr/>
          </p:nvSpPr>
          <p:spPr>
            <a:xfrm>
              <a:off x="4620578" y="3131820"/>
              <a:ext cx="249555" cy="222885"/>
            </a:xfrm>
            <a:prstGeom prst="rect">
              <a:avLst/>
            </a:prstGeom>
            <a:solidFill>
              <a:srgbClr val="F8A291"/>
            </a:solidFill>
            <a:ln>
              <a:noFill/>
            </a:ln>
          </p:spPr>
        </p:sp>
        <p:sp>
          <p:nvSpPr>
            <p:cNvPr id="61" name="TextBox 61"/>
            <p:cNvSpPr txBox="1"/>
            <p:nvPr/>
          </p:nvSpPr>
          <p:spPr>
            <a:xfrm>
              <a:off x="4569087" y="42731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经济资本​</a:t>
              </a:r>
            </a:p>
          </p:txBody>
        </p:sp>
        <p:sp>
          <p:nvSpPr>
            <p:cNvPr id="62" name="Rectangle 62"/>
            <p:cNvSpPr/>
            <p:nvPr/>
          </p:nvSpPr>
          <p:spPr>
            <a:xfrm>
              <a:off x="5066348" y="3697605"/>
              <a:ext cx="249555" cy="531495"/>
            </a:xfrm>
            <a:prstGeom prst="rect">
              <a:avLst/>
            </a:prstGeom>
            <a:solidFill>
              <a:srgbClr val="7C1500"/>
            </a:solidFill>
            <a:ln>
              <a:noFill/>
            </a:ln>
          </p:spPr>
        </p:sp>
        <p:sp>
          <p:nvSpPr>
            <p:cNvPr id="63" name="Rectangle 63"/>
            <p:cNvSpPr/>
            <p:nvPr/>
          </p:nvSpPr>
          <p:spPr>
            <a:xfrm>
              <a:off x="5066348" y="3183255"/>
              <a:ext cx="249555" cy="514350"/>
            </a:xfrm>
            <a:prstGeom prst="rect">
              <a:avLst/>
            </a:prstGeom>
            <a:solidFill>
              <a:srgbClr val="B61F00"/>
            </a:solidFill>
            <a:ln>
              <a:noFill/>
            </a:ln>
          </p:spPr>
        </p:sp>
        <p:sp>
          <p:nvSpPr>
            <p:cNvPr id="64" name="Rectangle 64"/>
            <p:cNvSpPr/>
            <p:nvPr/>
          </p:nvSpPr>
          <p:spPr>
            <a:xfrm>
              <a:off x="5066348" y="2926080"/>
              <a:ext cx="249555" cy="257175"/>
            </a:xfrm>
            <a:prstGeom prst="rect">
              <a:avLst/>
            </a:prstGeom>
            <a:solidFill>
              <a:srgbClr val="F8A291"/>
            </a:solidFill>
            <a:ln>
              <a:noFill/>
            </a:ln>
          </p:spPr>
        </p:sp>
        <p:sp>
          <p:nvSpPr>
            <p:cNvPr id="65" name="TextBox 65"/>
            <p:cNvSpPr txBox="1"/>
            <p:nvPr/>
          </p:nvSpPr>
          <p:spPr>
            <a:xfrm>
              <a:off x="4971224" y="4273153"/>
              <a:ext cx="43980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资产负债​</a:t>
              </a:r>
              <a:br/>
              <a:r>
                <a:rPr lang="zh-CN" sz="560" dirty="0">
                  <a:solidFill>
                    <a:srgbClr val="666666"/>
                  </a:solidFill>
                  <a:latin typeface="+mn-lt"/>
                  <a:ea typeface="+mn-ea"/>
                  <a:cs typeface="+mn-cs"/>
                </a:rPr>
                <a:t>管理(ALM)​​</a:t>
              </a:r>
            </a:p>
          </p:txBody>
        </p:sp>
        <p:sp>
          <p:nvSpPr>
            <p:cNvPr id="66" name="Rectangle 66"/>
            <p:cNvSpPr/>
            <p:nvPr/>
          </p:nvSpPr>
          <p:spPr>
            <a:xfrm>
              <a:off x="5512118" y="3749040"/>
              <a:ext cx="249555" cy="480060"/>
            </a:xfrm>
            <a:prstGeom prst="rect">
              <a:avLst/>
            </a:prstGeom>
            <a:solidFill>
              <a:srgbClr val="7C1500"/>
            </a:solidFill>
            <a:ln>
              <a:noFill/>
            </a:ln>
          </p:spPr>
        </p:sp>
        <p:sp>
          <p:nvSpPr>
            <p:cNvPr id="67" name="Rectangle 67"/>
            <p:cNvSpPr/>
            <p:nvPr/>
          </p:nvSpPr>
          <p:spPr>
            <a:xfrm>
              <a:off x="5512118" y="3320415"/>
              <a:ext cx="249555" cy="428625"/>
            </a:xfrm>
            <a:prstGeom prst="rect">
              <a:avLst/>
            </a:prstGeom>
            <a:solidFill>
              <a:srgbClr val="B61F00"/>
            </a:solidFill>
            <a:ln>
              <a:noFill/>
            </a:ln>
          </p:spPr>
        </p:sp>
        <p:sp>
          <p:nvSpPr>
            <p:cNvPr id="68" name="Rectangle 68"/>
            <p:cNvSpPr/>
            <p:nvPr/>
          </p:nvSpPr>
          <p:spPr>
            <a:xfrm>
              <a:off x="5512118" y="3114675"/>
              <a:ext cx="249555" cy="205740"/>
            </a:xfrm>
            <a:prstGeom prst="rect">
              <a:avLst/>
            </a:prstGeom>
            <a:solidFill>
              <a:srgbClr val="F8A291"/>
            </a:solidFill>
            <a:ln>
              <a:noFill/>
            </a:ln>
          </p:spPr>
        </p:sp>
        <p:sp>
          <p:nvSpPr>
            <p:cNvPr id="69" name="TextBox 69"/>
            <p:cNvSpPr txBox="1"/>
            <p:nvPr/>
          </p:nvSpPr>
          <p:spPr>
            <a:xfrm>
              <a:off x="5460627" y="42731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压力测试​</a:t>
              </a:r>
            </a:p>
          </p:txBody>
        </p:sp>
        <p:sp>
          <p:nvSpPr>
            <p:cNvPr id="70" name="Rectangle 70"/>
            <p:cNvSpPr/>
            <p:nvPr/>
          </p:nvSpPr>
          <p:spPr>
            <a:xfrm>
              <a:off x="5958840" y="3869055"/>
              <a:ext cx="249555" cy="360045"/>
            </a:xfrm>
            <a:prstGeom prst="rect">
              <a:avLst/>
            </a:prstGeom>
            <a:solidFill>
              <a:srgbClr val="7C1500"/>
            </a:solidFill>
            <a:ln>
              <a:noFill/>
            </a:ln>
          </p:spPr>
        </p:sp>
        <p:sp>
          <p:nvSpPr>
            <p:cNvPr id="71" name="Rectangle 71"/>
            <p:cNvSpPr/>
            <p:nvPr/>
          </p:nvSpPr>
          <p:spPr>
            <a:xfrm>
              <a:off x="5958840" y="3577590"/>
              <a:ext cx="249555" cy="291465"/>
            </a:xfrm>
            <a:prstGeom prst="rect">
              <a:avLst/>
            </a:prstGeom>
            <a:solidFill>
              <a:srgbClr val="B61F00"/>
            </a:solidFill>
            <a:ln>
              <a:noFill/>
            </a:ln>
          </p:spPr>
        </p:sp>
        <p:sp>
          <p:nvSpPr>
            <p:cNvPr id="72" name="Rectangle 72"/>
            <p:cNvSpPr/>
            <p:nvPr/>
          </p:nvSpPr>
          <p:spPr>
            <a:xfrm>
              <a:off x="5958840" y="3440430"/>
              <a:ext cx="249555" cy="137160"/>
            </a:xfrm>
            <a:prstGeom prst="rect">
              <a:avLst/>
            </a:prstGeom>
            <a:solidFill>
              <a:srgbClr val="F8A291"/>
            </a:solidFill>
            <a:ln>
              <a:noFill/>
            </a:ln>
          </p:spPr>
        </p:sp>
        <p:sp>
          <p:nvSpPr>
            <p:cNvPr id="73" name="TextBox 73"/>
            <p:cNvSpPr txBox="1"/>
            <p:nvPr/>
          </p:nvSpPr>
          <p:spPr>
            <a:xfrm>
              <a:off x="5877941" y="4273153"/>
              <a:ext cx="411353"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交易监控/​​</a:t>
              </a:r>
              <a:br/>
              <a:r>
                <a:rPr lang="zh-CN" sz="560" dirty="0">
                  <a:solidFill>
                    <a:srgbClr val="666666"/>
                  </a:solidFill>
                  <a:latin typeface="+mn-lt"/>
                  <a:ea typeface="+mn-ea"/>
                  <a:cs typeface="+mn-cs"/>
                </a:rPr>
                <a:t>AML/欺诈​​</a:t>
              </a:r>
            </a:p>
          </p:txBody>
        </p:sp>
        <p:sp>
          <p:nvSpPr>
            <p:cNvPr id="74" name="Rectangle 74"/>
            <p:cNvSpPr/>
            <p:nvPr/>
          </p:nvSpPr>
          <p:spPr>
            <a:xfrm>
              <a:off x="6404610" y="3937635"/>
              <a:ext cx="249555" cy="291465"/>
            </a:xfrm>
            <a:prstGeom prst="rect">
              <a:avLst/>
            </a:prstGeom>
            <a:solidFill>
              <a:srgbClr val="7C1500"/>
            </a:solidFill>
            <a:ln>
              <a:noFill/>
            </a:ln>
          </p:spPr>
        </p:sp>
        <p:sp>
          <p:nvSpPr>
            <p:cNvPr id="75" name="Rectangle 75"/>
            <p:cNvSpPr/>
            <p:nvPr/>
          </p:nvSpPr>
          <p:spPr>
            <a:xfrm>
              <a:off x="6404610" y="3749040"/>
              <a:ext cx="249555" cy="188595"/>
            </a:xfrm>
            <a:prstGeom prst="rect">
              <a:avLst/>
            </a:prstGeom>
            <a:solidFill>
              <a:srgbClr val="B61F00"/>
            </a:solidFill>
            <a:ln>
              <a:noFill/>
            </a:ln>
          </p:spPr>
        </p:sp>
        <p:sp>
          <p:nvSpPr>
            <p:cNvPr id="76" name="Rectangle 76"/>
            <p:cNvSpPr/>
            <p:nvPr/>
          </p:nvSpPr>
          <p:spPr>
            <a:xfrm>
              <a:off x="6404610" y="3663315"/>
              <a:ext cx="249555" cy="85725"/>
            </a:xfrm>
            <a:prstGeom prst="rect">
              <a:avLst/>
            </a:prstGeom>
            <a:solidFill>
              <a:srgbClr val="F8A291"/>
            </a:solidFill>
            <a:ln>
              <a:noFill/>
            </a:ln>
          </p:spPr>
        </p:sp>
        <p:sp>
          <p:nvSpPr>
            <p:cNvPr id="77" name="TextBox 77"/>
            <p:cNvSpPr txBox="1"/>
            <p:nvPr/>
          </p:nvSpPr>
          <p:spPr>
            <a:xfrm>
              <a:off x="6342060" y="4273153"/>
              <a:ext cx="374655"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KYC模型​​</a:t>
              </a:r>
            </a:p>
          </p:txBody>
        </p:sp>
        <p:sp>
          <p:nvSpPr>
            <p:cNvPr id="78" name="Rectangle 78"/>
            <p:cNvSpPr/>
            <p:nvPr/>
          </p:nvSpPr>
          <p:spPr>
            <a:xfrm>
              <a:off x="6851332" y="3714750"/>
              <a:ext cx="249555" cy="514350"/>
            </a:xfrm>
            <a:prstGeom prst="rect">
              <a:avLst/>
            </a:prstGeom>
            <a:solidFill>
              <a:srgbClr val="7C1500"/>
            </a:solidFill>
            <a:ln>
              <a:noFill/>
            </a:ln>
          </p:spPr>
        </p:sp>
        <p:sp>
          <p:nvSpPr>
            <p:cNvPr id="79" name="Rectangle 79"/>
            <p:cNvSpPr/>
            <p:nvPr/>
          </p:nvSpPr>
          <p:spPr>
            <a:xfrm>
              <a:off x="6851332" y="3268980"/>
              <a:ext cx="249555" cy="445770"/>
            </a:xfrm>
            <a:prstGeom prst="rect">
              <a:avLst/>
            </a:prstGeom>
            <a:solidFill>
              <a:srgbClr val="B61F00"/>
            </a:solidFill>
            <a:ln>
              <a:noFill/>
            </a:ln>
          </p:spPr>
        </p:sp>
        <p:sp>
          <p:nvSpPr>
            <p:cNvPr id="80" name="Rectangle 80"/>
            <p:cNvSpPr/>
            <p:nvPr/>
          </p:nvSpPr>
          <p:spPr>
            <a:xfrm>
              <a:off x="6851332" y="3028950"/>
              <a:ext cx="249555" cy="240030"/>
            </a:xfrm>
            <a:prstGeom prst="rect">
              <a:avLst/>
            </a:prstGeom>
            <a:solidFill>
              <a:srgbClr val="F8A291"/>
            </a:solidFill>
            <a:ln>
              <a:noFill/>
            </a:ln>
          </p:spPr>
        </p:sp>
        <p:sp>
          <p:nvSpPr>
            <p:cNvPr id="81" name="TextBox 81"/>
            <p:cNvSpPr txBox="1"/>
            <p:nvPr/>
          </p:nvSpPr>
          <p:spPr>
            <a:xfrm>
              <a:off x="6773989" y="4273153"/>
              <a:ext cx="40424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金融工具​</a:t>
              </a:r>
              <a:br/>
              <a:r>
                <a:rPr lang="zh-CN" sz="560" dirty="0">
                  <a:solidFill>
                    <a:srgbClr val="666666"/>
                  </a:solidFill>
                  <a:latin typeface="+mn-lt"/>
                  <a:ea typeface="+mn-ea"/>
                  <a:cs typeface="+mn-cs"/>
                </a:rPr>
                <a:t>估值与定价​</a:t>
              </a:r>
            </a:p>
          </p:txBody>
        </p:sp>
        <p:sp>
          <p:nvSpPr>
            <p:cNvPr id="82" name="Rectangle 82"/>
            <p:cNvSpPr/>
            <p:nvPr/>
          </p:nvSpPr>
          <p:spPr>
            <a:xfrm>
              <a:off x="7297102" y="3817620"/>
              <a:ext cx="249555" cy="411480"/>
            </a:xfrm>
            <a:prstGeom prst="rect">
              <a:avLst/>
            </a:prstGeom>
            <a:solidFill>
              <a:srgbClr val="7C1500"/>
            </a:solidFill>
            <a:ln>
              <a:noFill/>
            </a:ln>
          </p:spPr>
        </p:sp>
        <p:sp>
          <p:nvSpPr>
            <p:cNvPr id="83" name="Rectangle 83"/>
            <p:cNvSpPr/>
            <p:nvPr/>
          </p:nvSpPr>
          <p:spPr>
            <a:xfrm>
              <a:off x="7297102" y="3543300"/>
              <a:ext cx="249555" cy="274320"/>
            </a:xfrm>
            <a:prstGeom prst="rect">
              <a:avLst/>
            </a:prstGeom>
            <a:solidFill>
              <a:srgbClr val="B61F00"/>
            </a:solidFill>
            <a:ln>
              <a:noFill/>
            </a:ln>
          </p:spPr>
        </p:sp>
        <p:sp>
          <p:nvSpPr>
            <p:cNvPr id="84" name="Rectangle 84"/>
            <p:cNvSpPr/>
            <p:nvPr/>
          </p:nvSpPr>
          <p:spPr>
            <a:xfrm>
              <a:off x="7297102" y="3371850"/>
              <a:ext cx="249555" cy="171450"/>
            </a:xfrm>
            <a:prstGeom prst="rect">
              <a:avLst/>
            </a:prstGeom>
            <a:solidFill>
              <a:srgbClr val="F8A291"/>
            </a:solidFill>
            <a:ln>
              <a:noFill/>
            </a:ln>
          </p:spPr>
        </p:sp>
        <p:sp>
          <p:nvSpPr>
            <p:cNvPr id="85" name="TextBox 85"/>
            <p:cNvSpPr txBox="1"/>
            <p:nvPr/>
          </p:nvSpPr>
          <p:spPr>
            <a:xfrm>
              <a:off x="7191312" y="4273153"/>
              <a:ext cx="461137"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会计模型​</a:t>
              </a:r>
              <a:br/>
              <a:r>
                <a:rPr lang="en-US" sz="560" dirty="0">
                  <a:solidFill>
                    <a:srgbClr val="666666"/>
                  </a:solidFill>
                  <a:latin typeface="+mn-lt"/>
                  <a:ea typeface="+mn-ea"/>
                  <a:cs typeface="+mn-cs"/>
                </a:rPr>
                <a:t>(FTP/IFRS)​​</a:t>
              </a:r>
            </a:p>
          </p:txBody>
        </p:sp>
        <p:sp>
          <p:nvSpPr>
            <p:cNvPr id="86" name="Rectangle 86"/>
            <p:cNvSpPr/>
            <p:nvPr/>
          </p:nvSpPr>
          <p:spPr>
            <a:xfrm>
              <a:off x="7743825" y="3937635"/>
              <a:ext cx="249555" cy="291465"/>
            </a:xfrm>
            <a:prstGeom prst="rect">
              <a:avLst/>
            </a:prstGeom>
            <a:solidFill>
              <a:srgbClr val="7C1500"/>
            </a:solidFill>
            <a:ln>
              <a:noFill/>
            </a:ln>
          </p:spPr>
        </p:sp>
        <p:sp>
          <p:nvSpPr>
            <p:cNvPr id="87" name="Rectangle 87"/>
            <p:cNvSpPr/>
            <p:nvPr/>
          </p:nvSpPr>
          <p:spPr>
            <a:xfrm>
              <a:off x="7743825" y="3766185"/>
              <a:ext cx="249555" cy="171450"/>
            </a:xfrm>
            <a:prstGeom prst="rect">
              <a:avLst/>
            </a:prstGeom>
            <a:solidFill>
              <a:srgbClr val="B61F00"/>
            </a:solidFill>
            <a:ln>
              <a:noFill/>
            </a:ln>
          </p:spPr>
        </p:sp>
        <p:sp>
          <p:nvSpPr>
            <p:cNvPr id="88" name="Rectangle 88"/>
            <p:cNvSpPr/>
            <p:nvPr/>
          </p:nvSpPr>
          <p:spPr>
            <a:xfrm>
              <a:off x="7743825" y="3663315"/>
              <a:ext cx="249555" cy="102870"/>
            </a:xfrm>
            <a:prstGeom prst="rect">
              <a:avLst/>
            </a:prstGeom>
            <a:solidFill>
              <a:srgbClr val="F8A291"/>
            </a:solidFill>
            <a:ln>
              <a:noFill/>
            </a:ln>
          </p:spPr>
        </p:sp>
        <p:sp>
          <p:nvSpPr>
            <p:cNvPr id="89" name="TextBox 89"/>
            <p:cNvSpPr txBox="1"/>
            <p:nvPr/>
          </p:nvSpPr>
          <p:spPr>
            <a:xfrm>
              <a:off x="7702042" y="42731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业务决策​</a:t>
              </a:r>
              <a:br/>
              <a:r>
                <a:rPr lang="zh-CN" sz="560" dirty="0">
                  <a:solidFill>
                    <a:srgbClr val="666666"/>
                  </a:solidFill>
                  <a:latin typeface="+mn-lt"/>
                  <a:ea typeface="+mn-ea"/>
                  <a:cs typeface="+mn-cs"/>
                </a:rPr>
                <a:t>制定​</a:t>
              </a:r>
            </a:p>
          </p:txBody>
        </p:sp>
        <p:sp>
          <p:nvSpPr>
            <p:cNvPr id="90" name="Rectangle 90"/>
            <p:cNvSpPr/>
            <p:nvPr/>
          </p:nvSpPr>
          <p:spPr>
            <a:xfrm>
              <a:off x="8189595" y="3971925"/>
              <a:ext cx="249555" cy="257175"/>
            </a:xfrm>
            <a:prstGeom prst="rect">
              <a:avLst/>
            </a:prstGeom>
            <a:solidFill>
              <a:srgbClr val="7C1500"/>
            </a:solidFill>
            <a:ln>
              <a:noFill/>
            </a:ln>
          </p:spPr>
        </p:sp>
        <p:sp>
          <p:nvSpPr>
            <p:cNvPr id="91" name="Rectangle 91"/>
            <p:cNvSpPr/>
            <p:nvPr/>
          </p:nvSpPr>
          <p:spPr>
            <a:xfrm>
              <a:off x="8189595" y="3834765"/>
              <a:ext cx="249555" cy="137160"/>
            </a:xfrm>
            <a:prstGeom prst="rect">
              <a:avLst/>
            </a:prstGeom>
            <a:solidFill>
              <a:srgbClr val="B61F00"/>
            </a:solidFill>
            <a:ln>
              <a:noFill/>
            </a:ln>
          </p:spPr>
        </p:sp>
        <p:sp>
          <p:nvSpPr>
            <p:cNvPr id="92" name="Rectangle 92"/>
            <p:cNvSpPr/>
            <p:nvPr/>
          </p:nvSpPr>
          <p:spPr>
            <a:xfrm>
              <a:off x="8189595" y="3731895"/>
              <a:ext cx="249555" cy="102870"/>
            </a:xfrm>
            <a:prstGeom prst="rect">
              <a:avLst/>
            </a:prstGeom>
            <a:solidFill>
              <a:srgbClr val="F8A291"/>
            </a:solidFill>
            <a:ln>
              <a:noFill/>
            </a:ln>
          </p:spPr>
        </p:sp>
        <p:sp>
          <p:nvSpPr>
            <p:cNvPr id="93" name="TextBox 93"/>
            <p:cNvSpPr txBox="1"/>
            <p:nvPr/>
          </p:nvSpPr>
          <p:spPr>
            <a:xfrm>
              <a:off x="8138104" y="42731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营销模型​</a:t>
              </a:r>
            </a:p>
          </p:txBody>
        </p:sp>
        <p:sp>
          <p:nvSpPr>
            <p:cNvPr id="94" name="Rectangle 94"/>
            <p:cNvSpPr/>
            <p:nvPr/>
          </p:nvSpPr>
          <p:spPr>
            <a:xfrm>
              <a:off x="8635365" y="4023360"/>
              <a:ext cx="249555" cy="205740"/>
            </a:xfrm>
            <a:prstGeom prst="rect">
              <a:avLst/>
            </a:prstGeom>
            <a:solidFill>
              <a:srgbClr val="7C1500"/>
            </a:solidFill>
            <a:ln>
              <a:noFill/>
            </a:ln>
          </p:spPr>
        </p:sp>
        <p:sp>
          <p:nvSpPr>
            <p:cNvPr id="95" name="Rectangle 95"/>
            <p:cNvSpPr/>
            <p:nvPr/>
          </p:nvSpPr>
          <p:spPr>
            <a:xfrm>
              <a:off x="8635365" y="3886200"/>
              <a:ext cx="249555" cy="137160"/>
            </a:xfrm>
            <a:prstGeom prst="rect">
              <a:avLst/>
            </a:prstGeom>
            <a:solidFill>
              <a:srgbClr val="B61F00"/>
            </a:solidFill>
            <a:ln>
              <a:noFill/>
            </a:ln>
          </p:spPr>
        </p:sp>
        <p:sp>
          <p:nvSpPr>
            <p:cNvPr id="96" name="Rectangle 96"/>
            <p:cNvSpPr/>
            <p:nvPr/>
          </p:nvSpPr>
          <p:spPr>
            <a:xfrm>
              <a:off x="8635365" y="3834765"/>
              <a:ext cx="249555" cy="51435"/>
            </a:xfrm>
            <a:prstGeom prst="rect">
              <a:avLst/>
            </a:prstGeom>
            <a:solidFill>
              <a:srgbClr val="F8A291"/>
            </a:solidFill>
            <a:ln>
              <a:noFill/>
            </a:ln>
          </p:spPr>
        </p:sp>
        <p:sp>
          <p:nvSpPr>
            <p:cNvPr id="97" name="TextBox 97"/>
            <p:cNvSpPr txBox="1"/>
            <p:nvPr/>
          </p:nvSpPr>
          <p:spPr>
            <a:xfrm>
              <a:off x="8594720" y="4273153"/>
              <a:ext cx="330845"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HR模型​​</a:t>
              </a:r>
            </a:p>
          </p:txBody>
        </p:sp>
        <p:sp>
          <p:nvSpPr>
            <p:cNvPr id="98" name="Rectangle 98"/>
            <p:cNvSpPr/>
            <p:nvPr/>
          </p:nvSpPr>
          <p:spPr>
            <a:xfrm>
              <a:off x="9082088" y="4023360"/>
              <a:ext cx="249555" cy="205740"/>
            </a:xfrm>
            <a:prstGeom prst="rect">
              <a:avLst/>
            </a:prstGeom>
            <a:solidFill>
              <a:srgbClr val="7C1500"/>
            </a:solidFill>
            <a:ln>
              <a:noFill/>
            </a:ln>
          </p:spPr>
        </p:sp>
        <p:sp>
          <p:nvSpPr>
            <p:cNvPr id="99" name="Rectangle 99"/>
            <p:cNvSpPr/>
            <p:nvPr/>
          </p:nvSpPr>
          <p:spPr>
            <a:xfrm>
              <a:off x="9082088" y="3903345"/>
              <a:ext cx="249555" cy="120015"/>
            </a:xfrm>
            <a:prstGeom prst="rect">
              <a:avLst/>
            </a:prstGeom>
            <a:solidFill>
              <a:srgbClr val="B61F00"/>
            </a:solidFill>
            <a:ln>
              <a:noFill/>
            </a:ln>
          </p:spPr>
        </p:sp>
        <p:sp>
          <p:nvSpPr>
            <p:cNvPr id="100" name="Rectangle 100"/>
            <p:cNvSpPr/>
            <p:nvPr/>
          </p:nvSpPr>
          <p:spPr>
            <a:xfrm>
              <a:off x="9082088" y="3869055"/>
              <a:ext cx="249555" cy="34290"/>
            </a:xfrm>
            <a:prstGeom prst="rect">
              <a:avLst/>
            </a:prstGeom>
            <a:solidFill>
              <a:srgbClr val="F8A291"/>
            </a:solidFill>
            <a:ln>
              <a:noFill/>
            </a:ln>
          </p:spPr>
        </p:sp>
        <p:sp>
          <p:nvSpPr>
            <p:cNvPr id="101" name="TextBox 101"/>
            <p:cNvSpPr txBox="1"/>
            <p:nvPr/>
          </p:nvSpPr>
          <p:spPr>
            <a:xfrm>
              <a:off x="9030597" y="42731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网络风险​</a:t>
              </a:r>
            </a:p>
          </p:txBody>
        </p:sp>
        <p:sp>
          <p:nvSpPr>
            <p:cNvPr id="102" name="Line 102"/>
            <p:cNvSpPr/>
            <p:nvPr/>
          </p:nvSpPr>
          <p:spPr>
            <a:xfrm>
              <a:off x="952500" y="4229100"/>
              <a:ext cx="8477250" cy="9525"/>
            </a:xfrm>
            <a:custGeom>
              <a:avLst/>
              <a:gdLst/>
              <a:ahLst/>
              <a:cxnLst/>
              <a:rect l="l" t="t" r="r" b="b"/>
              <a:pathLst>
                <a:path w="8477250" h="9525">
                  <a:moveTo>
                    <a:pt x="0" y="0"/>
                  </a:moveTo>
                  <a:lnTo>
                    <a:pt x="8477250" y="0"/>
                  </a:lnTo>
                </a:path>
              </a:pathLst>
            </a:custGeom>
            <a:noFill/>
            <a:ln w="9525">
              <a:solidFill>
                <a:srgbClr val="666666"/>
              </a:solidFill>
            </a:ln>
          </p:spPr>
        </p:sp>
        <p:sp>
          <p:nvSpPr>
            <p:cNvPr id="103" name="Line 103"/>
            <p:cNvSpPr/>
            <p:nvPr/>
          </p:nvSpPr>
          <p:spPr>
            <a:xfrm>
              <a:off x="1005840" y="47339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4" name="Line 104"/>
            <p:cNvSpPr/>
            <p:nvPr/>
          </p:nvSpPr>
          <p:spPr>
            <a:xfrm>
              <a:off x="1005840" y="4772025"/>
              <a:ext cx="1677352" cy="9525"/>
            </a:xfrm>
            <a:custGeom>
              <a:avLst/>
              <a:gdLst/>
              <a:ahLst/>
              <a:cxnLst/>
              <a:rect l="l" t="t" r="r" b="b"/>
              <a:pathLst>
                <a:path w="1677352" h="9525">
                  <a:moveTo>
                    <a:pt x="0" y="0"/>
                  </a:moveTo>
                  <a:lnTo>
                    <a:pt x="1677352" y="0"/>
                  </a:lnTo>
                </a:path>
              </a:pathLst>
            </a:custGeom>
            <a:noFill/>
            <a:ln w="9525">
              <a:solidFill>
                <a:srgbClr val="9A9A9A"/>
              </a:solidFill>
            </a:ln>
          </p:spPr>
        </p:sp>
        <p:sp>
          <p:nvSpPr>
            <p:cNvPr id="105" name="Line 105"/>
            <p:cNvSpPr/>
            <p:nvPr/>
          </p:nvSpPr>
          <p:spPr>
            <a:xfrm>
              <a:off x="2683192" y="47339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6" name="TextBox 106"/>
            <p:cNvSpPr txBox="1"/>
            <p:nvPr/>
          </p:nvSpPr>
          <p:spPr>
            <a:xfrm>
              <a:off x="1133325" y="4812030"/>
              <a:ext cx="1423035"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金融风险模型（pillar 1资本与会计）​​</a:t>
              </a:r>
            </a:p>
          </p:txBody>
        </p:sp>
        <p:sp>
          <p:nvSpPr>
            <p:cNvPr id="107" name="Line 107"/>
            <p:cNvSpPr/>
            <p:nvPr/>
          </p:nvSpPr>
          <p:spPr>
            <a:xfrm>
              <a:off x="2790825" y="47339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8" name="Line 108"/>
            <p:cNvSpPr/>
            <p:nvPr/>
          </p:nvSpPr>
          <p:spPr>
            <a:xfrm>
              <a:off x="2790825" y="4772025"/>
              <a:ext cx="3015615" cy="9525"/>
            </a:xfrm>
            <a:custGeom>
              <a:avLst/>
              <a:gdLst/>
              <a:ahLst/>
              <a:cxnLst/>
              <a:rect l="l" t="t" r="r" b="b"/>
              <a:pathLst>
                <a:path w="3015615" h="9525">
                  <a:moveTo>
                    <a:pt x="0" y="0"/>
                  </a:moveTo>
                  <a:lnTo>
                    <a:pt x="3015615" y="0"/>
                  </a:lnTo>
                </a:path>
              </a:pathLst>
            </a:custGeom>
            <a:noFill/>
            <a:ln w="9525">
              <a:solidFill>
                <a:srgbClr val="9A9A9A"/>
              </a:solidFill>
            </a:ln>
          </p:spPr>
        </p:sp>
        <p:sp>
          <p:nvSpPr>
            <p:cNvPr id="109" name="Line 109"/>
            <p:cNvSpPr/>
            <p:nvPr/>
          </p:nvSpPr>
          <p:spPr>
            <a:xfrm>
              <a:off x="5806440" y="47339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0" name="TextBox 110"/>
            <p:cNvSpPr txBox="1"/>
            <p:nvPr/>
          </p:nvSpPr>
          <p:spPr>
            <a:xfrm>
              <a:off x="3546879" y="4812030"/>
              <a:ext cx="1503807"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金融风险模型（pillar 2资本与流动性）​​</a:t>
              </a:r>
            </a:p>
          </p:txBody>
        </p:sp>
        <p:sp>
          <p:nvSpPr>
            <p:cNvPr id="111" name="Line 111"/>
            <p:cNvSpPr/>
            <p:nvPr/>
          </p:nvSpPr>
          <p:spPr>
            <a:xfrm>
              <a:off x="5914072" y="47339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2" name="Line 112"/>
            <p:cNvSpPr/>
            <p:nvPr/>
          </p:nvSpPr>
          <p:spPr>
            <a:xfrm>
              <a:off x="5914072" y="4772025"/>
              <a:ext cx="784860" cy="9525"/>
            </a:xfrm>
            <a:custGeom>
              <a:avLst/>
              <a:gdLst/>
              <a:ahLst/>
              <a:cxnLst/>
              <a:rect l="l" t="t" r="r" b="b"/>
              <a:pathLst>
                <a:path w="784860" h="9525">
                  <a:moveTo>
                    <a:pt x="0" y="0"/>
                  </a:moveTo>
                  <a:lnTo>
                    <a:pt x="784860" y="0"/>
                  </a:lnTo>
                </a:path>
              </a:pathLst>
            </a:custGeom>
            <a:noFill/>
            <a:ln w="9525">
              <a:solidFill>
                <a:srgbClr val="9A9A9A"/>
              </a:solidFill>
            </a:ln>
          </p:spPr>
        </p:sp>
        <p:sp>
          <p:nvSpPr>
            <p:cNvPr id="113" name="Line 113"/>
            <p:cNvSpPr/>
            <p:nvPr/>
          </p:nvSpPr>
          <p:spPr>
            <a:xfrm>
              <a:off x="6698932" y="47339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4" name="TextBox 114"/>
            <p:cNvSpPr txBox="1"/>
            <p:nvPr/>
          </p:nvSpPr>
          <p:spPr>
            <a:xfrm>
              <a:off x="6118034" y="4812030"/>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合规模型​</a:t>
              </a:r>
            </a:p>
          </p:txBody>
        </p:sp>
        <p:sp>
          <p:nvSpPr>
            <p:cNvPr id="115" name="Line 115"/>
            <p:cNvSpPr/>
            <p:nvPr/>
          </p:nvSpPr>
          <p:spPr>
            <a:xfrm>
              <a:off x="6806565" y="47339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6" name="Line 116"/>
            <p:cNvSpPr/>
            <p:nvPr/>
          </p:nvSpPr>
          <p:spPr>
            <a:xfrm>
              <a:off x="6806565" y="4772025"/>
              <a:ext cx="2569845" cy="9525"/>
            </a:xfrm>
            <a:custGeom>
              <a:avLst/>
              <a:gdLst/>
              <a:ahLst/>
              <a:cxnLst/>
              <a:rect l="l" t="t" r="r" b="b"/>
              <a:pathLst>
                <a:path w="2569845" h="9525">
                  <a:moveTo>
                    <a:pt x="0" y="0"/>
                  </a:moveTo>
                  <a:lnTo>
                    <a:pt x="2569845" y="0"/>
                  </a:lnTo>
                </a:path>
              </a:pathLst>
            </a:custGeom>
            <a:noFill/>
            <a:ln w="9525">
              <a:solidFill>
                <a:srgbClr val="9A9A9A"/>
              </a:solidFill>
            </a:ln>
          </p:spPr>
        </p:sp>
        <p:sp>
          <p:nvSpPr>
            <p:cNvPr id="117" name="Line 117"/>
            <p:cNvSpPr/>
            <p:nvPr/>
          </p:nvSpPr>
          <p:spPr>
            <a:xfrm>
              <a:off x="9376410" y="47339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8" name="TextBox 118"/>
            <p:cNvSpPr txBox="1"/>
            <p:nvPr/>
          </p:nvSpPr>
          <p:spPr>
            <a:xfrm>
              <a:off x="7902718" y="4812030"/>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其他模型​</a:t>
              </a:r>
            </a:p>
          </p:txBody>
        </p:sp>
        <p:sp>
          <p:nvSpPr>
            <p:cNvPr id="119" name="Rectangle 119"/>
            <p:cNvSpPr/>
            <p:nvPr/>
          </p:nvSpPr>
          <p:spPr>
            <a:xfrm>
              <a:off x="571500" y="4981575"/>
              <a:ext cx="95250" cy="95250"/>
            </a:xfrm>
            <a:prstGeom prst="rect">
              <a:avLst/>
            </a:prstGeom>
            <a:solidFill>
              <a:srgbClr val="7C1500"/>
            </a:solidFill>
            <a:ln>
              <a:noFill/>
            </a:ln>
          </p:spPr>
        </p:sp>
        <p:sp>
          <p:nvSpPr>
            <p:cNvPr id="120" name="TextBox 120"/>
            <p:cNvSpPr txBox="1"/>
            <p:nvPr/>
          </p:nvSpPr>
          <p:spPr>
            <a:xfrm>
              <a:off x="709612" y="4998482"/>
              <a:ext cx="951999"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大型银行Large banks​​</a:t>
              </a:r>
            </a:p>
          </p:txBody>
        </p:sp>
        <p:sp>
          <p:nvSpPr>
            <p:cNvPr id="121" name="Rectangle 121"/>
            <p:cNvSpPr/>
            <p:nvPr/>
          </p:nvSpPr>
          <p:spPr>
            <a:xfrm>
              <a:off x="1742361" y="4981575"/>
              <a:ext cx="95250" cy="95250"/>
            </a:xfrm>
            <a:prstGeom prst="rect">
              <a:avLst/>
            </a:prstGeom>
            <a:solidFill>
              <a:srgbClr val="B61F00"/>
            </a:solidFill>
            <a:ln>
              <a:noFill/>
            </a:ln>
          </p:spPr>
        </p:sp>
        <p:sp>
          <p:nvSpPr>
            <p:cNvPr id="122" name="TextBox 122"/>
            <p:cNvSpPr txBox="1"/>
            <p:nvPr/>
          </p:nvSpPr>
          <p:spPr>
            <a:xfrm>
              <a:off x="1880473" y="4998482"/>
              <a:ext cx="1012313"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中型银行Medium banks​​</a:t>
              </a:r>
            </a:p>
          </p:txBody>
        </p:sp>
        <p:sp>
          <p:nvSpPr>
            <p:cNvPr id="123" name="Rectangle 123"/>
            <p:cNvSpPr/>
            <p:nvPr/>
          </p:nvSpPr>
          <p:spPr>
            <a:xfrm>
              <a:off x="2973134" y="4981575"/>
              <a:ext cx="95250" cy="95250"/>
            </a:xfrm>
            <a:prstGeom prst="rect">
              <a:avLst/>
            </a:prstGeom>
            <a:solidFill>
              <a:srgbClr val="F8A291"/>
            </a:solidFill>
            <a:ln>
              <a:noFill/>
            </a:ln>
          </p:spPr>
        </p:sp>
        <p:sp>
          <p:nvSpPr>
            <p:cNvPr id="124" name="TextBox 124"/>
            <p:cNvSpPr txBox="1"/>
            <p:nvPr/>
          </p:nvSpPr>
          <p:spPr>
            <a:xfrm>
              <a:off x="3111246" y="4998482"/>
              <a:ext cx="926006"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小型银行Small banks​​</a:t>
              </a:r>
            </a:p>
          </p:txBody>
        </p:sp>
      </p:grpSp>
      <p:grpSp>
        <p:nvGrpSpPr>
          <p:cNvPr id="159" name="nav"/>
          <p:cNvGrpSpPr/>
          <p:nvPr/>
        </p:nvGrpSpPr>
        <p:grpSpPr>
          <a:xfrm>
            <a:off x="9834562" y="0"/>
            <a:ext cx="2357438" cy="6858000"/>
            <a:chOff x="9834562" y="0"/>
            <a:chExt cx="2357438" cy="6858000"/>
          </a:xfrm>
        </p:grpSpPr>
        <p:sp>
          <p:nvSpPr>
            <p:cNvPr id="126" name="Line 126"/>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27" name="Rectangle 127"/>
            <p:cNvSpPr/>
            <p:nvPr/>
          </p:nvSpPr>
          <p:spPr>
            <a:xfrm>
              <a:off x="9839325" y="476250"/>
              <a:ext cx="2352675" cy="514350"/>
            </a:xfrm>
            <a:prstGeom prst="rect">
              <a:avLst/>
            </a:prstGeom>
            <a:solidFill>
              <a:srgbClr val="F3F3F3"/>
            </a:solidFill>
            <a:ln>
              <a:noFill/>
            </a:ln>
          </p:spPr>
        </p:sp>
        <p:sp>
          <p:nvSpPr>
            <p:cNvPr id="128" name="TextBox 128"/>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29" name="Rectangle 129"/>
            <p:cNvSpPr/>
            <p:nvPr/>
          </p:nvSpPr>
          <p:spPr>
            <a:xfrm>
              <a:off x="9839325" y="1000125"/>
              <a:ext cx="2352675" cy="514350"/>
            </a:xfrm>
            <a:prstGeom prst="rect">
              <a:avLst/>
            </a:prstGeom>
            <a:solidFill>
              <a:srgbClr val="F3F3F3"/>
            </a:solidFill>
            <a:ln>
              <a:noFill/>
            </a:ln>
          </p:spPr>
        </p:sp>
        <p:sp>
          <p:nvSpPr>
            <p:cNvPr id="130" name="TextBox 130"/>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31" name="Rectangle 131"/>
            <p:cNvSpPr/>
            <p:nvPr/>
          </p:nvSpPr>
          <p:spPr>
            <a:xfrm>
              <a:off x="9839325" y="1524000"/>
              <a:ext cx="2352675" cy="514350"/>
            </a:xfrm>
            <a:prstGeom prst="rect">
              <a:avLst/>
            </a:prstGeom>
            <a:solidFill>
              <a:srgbClr val="F3F3F3"/>
            </a:solidFill>
            <a:ln>
              <a:noFill/>
            </a:ln>
          </p:spPr>
        </p:sp>
        <p:sp>
          <p:nvSpPr>
            <p:cNvPr id="132" name="TextBox 132"/>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33" name="Rectangle 133"/>
            <p:cNvSpPr/>
            <p:nvPr/>
          </p:nvSpPr>
          <p:spPr>
            <a:xfrm>
              <a:off x="9839325" y="2047875"/>
              <a:ext cx="2352675" cy="514350"/>
            </a:xfrm>
            <a:prstGeom prst="rect">
              <a:avLst/>
            </a:prstGeom>
            <a:solidFill>
              <a:srgbClr val="F3F3F3"/>
            </a:solidFill>
            <a:ln>
              <a:noFill/>
            </a:ln>
          </p:spPr>
        </p:sp>
        <p:sp>
          <p:nvSpPr>
            <p:cNvPr id="134" name="TextBox 134"/>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35" name="Rectangle 135"/>
            <p:cNvSpPr/>
            <p:nvPr/>
          </p:nvSpPr>
          <p:spPr>
            <a:xfrm>
              <a:off x="9839325" y="2571750"/>
              <a:ext cx="2352675" cy="514350"/>
            </a:xfrm>
            <a:prstGeom prst="rect">
              <a:avLst/>
            </a:prstGeom>
            <a:solidFill>
              <a:srgbClr val="F8A291"/>
            </a:solidFill>
            <a:ln>
              <a:noFill/>
            </a:ln>
          </p:spPr>
        </p:sp>
        <p:sp>
          <p:nvSpPr>
            <p:cNvPr id="136" name="TextBox 136"/>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b="1" dirty="0">
                  <a:solidFill>
                    <a:srgbClr val="1A1A1A"/>
                  </a:solidFill>
                  <a:latin typeface="+mn-lt"/>
                  <a:ea typeface="+mn-ea"/>
                  <a:cs typeface="+mn-cs"/>
                </a:rPr>
                <a:t>模型版图与清单：</a:t>
              </a:r>
              <a:br/>
              <a:r>
                <a:rPr lang="zh-CN" sz="820" b="1" dirty="0">
                  <a:solidFill>
                    <a:srgbClr val="1A1A1A"/>
                  </a:solidFill>
                  <a:latin typeface="+mn-lt"/>
                  <a:ea typeface="+mn-ea"/>
                  <a:cs typeface="+mn-cs"/>
                </a:rPr>
                <a:t>高效模型风险管理的基础</a:t>
              </a:r>
            </a:p>
          </p:txBody>
        </p:sp>
        <p:sp>
          <p:nvSpPr>
            <p:cNvPr id="137" name="Rectangle 137"/>
            <p:cNvSpPr/>
            <p:nvPr/>
          </p:nvSpPr>
          <p:spPr>
            <a:xfrm>
              <a:off x="9839325" y="3095625"/>
              <a:ext cx="2352675" cy="514350"/>
            </a:xfrm>
            <a:prstGeom prst="rect">
              <a:avLst/>
            </a:prstGeom>
            <a:solidFill>
              <a:srgbClr val="F3F3F3"/>
            </a:solidFill>
            <a:ln>
              <a:noFill/>
            </a:ln>
          </p:spPr>
        </p:sp>
        <p:sp>
          <p:nvSpPr>
            <p:cNvPr id="138" name="TextBox 138"/>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39" name="Rectangle 139"/>
            <p:cNvSpPr/>
            <p:nvPr/>
          </p:nvSpPr>
          <p:spPr>
            <a:xfrm>
              <a:off x="9839325" y="3619500"/>
              <a:ext cx="2352675" cy="514350"/>
            </a:xfrm>
            <a:prstGeom prst="rect">
              <a:avLst/>
            </a:prstGeom>
            <a:solidFill>
              <a:srgbClr val="F3F3F3"/>
            </a:solidFill>
            <a:ln>
              <a:noFill/>
            </a:ln>
          </p:spPr>
        </p:sp>
        <p:sp>
          <p:nvSpPr>
            <p:cNvPr id="140" name="TextBox 140"/>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41" name="Rectangle 141"/>
            <p:cNvSpPr/>
            <p:nvPr/>
          </p:nvSpPr>
          <p:spPr>
            <a:xfrm>
              <a:off x="9839325" y="4143375"/>
              <a:ext cx="2352675" cy="514350"/>
            </a:xfrm>
            <a:prstGeom prst="rect">
              <a:avLst/>
            </a:prstGeom>
            <a:solidFill>
              <a:srgbClr val="F3F3F3"/>
            </a:solidFill>
            <a:ln>
              <a:noFill/>
            </a:ln>
          </p:spPr>
        </p:sp>
        <p:sp>
          <p:nvSpPr>
            <p:cNvPr id="142" name="TextBox 142"/>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43" name="Rectangle 143"/>
            <p:cNvSpPr/>
            <p:nvPr/>
          </p:nvSpPr>
          <p:spPr>
            <a:xfrm>
              <a:off x="9839325" y="4667250"/>
              <a:ext cx="2352675" cy="514350"/>
            </a:xfrm>
            <a:prstGeom prst="rect">
              <a:avLst/>
            </a:prstGeom>
            <a:solidFill>
              <a:srgbClr val="F3F3F3"/>
            </a:solidFill>
            <a:ln>
              <a:noFill/>
            </a:ln>
          </p:spPr>
        </p:sp>
        <p:sp>
          <p:nvSpPr>
            <p:cNvPr id="144" name="TextBox 144"/>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45" name="Rectangle 145"/>
            <p:cNvSpPr/>
            <p:nvPr/>
          </p:nvSpPr>
          <p:spPr>
            <a:xfrm>
              <a:off x="9839325" y="5191125"/>
              <a:ext cx="2352675" cy="514350"/>
            </a:xfrm>
            <a:prstGeom prst="rect">
              <a:avLst/>
            </a:prstGeom>
            <a:solidFill>
              <a:srgbClr val="F3F3F3"/>
            </a:solidFill>
            <a:ln>
              <a:noFill/>
            </a:ln>
          </p:spPr>
        </p:sp>
        <p:sp>
          <p:nvSpPr>
            <p:cNvPr id="146" name="TextBox 146"/>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47" name="Rectangle 147"/>
            <p:cNvSpPr/>
            <p:nvPr/>
          </p:nvSpPr>
          <p:spPr>
            <a:xfrm>
              <a:off x="9839325" y="5715000"/>
              <a:ext cx="2352675" cy="514350"/>
            </a:xfrm>
            <a:prstGeom prst="rect">
              <a:avLst/>
            </a:prstGeom>
            <a:solidFill>
              <a:srgbClr val="F3F3F3"/>
            </a:solidFill>
            <a:ln>
              <a:noFill/>
            </a:ln>
          </p:spPr>
        </p:sp>
        <p:sp>
          <p:nvSpPr>
            <p:cNvPr id="148" name="TextBox 148"/>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49" name="Ellipse 149"/>
            <p:cNvSpPr/>
            <p:nvPr/>
          </p:nvSpPr>
          <p:spPr>
            <a:xfrm>
              <a:off x="10020300" y="6372225"/>
              <a:ext cx="266700" cy="266700"/>
            </a:xfrm>
            <a:prstGeom prst="ellipse">
              <a:avLst/>
            </a:prstGeom>
            <a:solidFill>
              <a:srgbClr val="D7D8D6"/>
            </a:solidFill>
            <a:ln>
              <a:noFill/>
            </a:ln>
          </p:spPr>
        </p:sp>
        <p:sp>
          <p:nvSpPr>
            <p:cNvPr id="150" name="Freeform 150"/>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51" name="Ellipse 151"/>
            <p:cNvSpPr/>
            <p:nvPr/>
          </p:nvSpPr>
          <p:spPr>
            <a:xfrm>
              <a:off x="10420350" y="6372225"/>
              <a:ext cx="266700" cy="266700"/>
            </a:xfrm>
            <a:prstGeom prst="ellipse">
              <a:avLst/>
            </a:prstGeom>
            <a:solidFill>
              <a:srgbClr val="D7D8D6"/>
            </a:solidFill>
            <a:ln>
              <a:noFill/>
            </a:ln>
          </p:spPr>
        </p:sp>
        <p:grpSp>
          <p:nvGrpSpPr>
            <p:cNvPr id="155" name="Group 155"/>
            <p:cNvGrpSpPr/>
            <p:nvPr/>
          </p:nvGrpSpPr>
          <p:grpSpPr>
            <a:xfrm>
              <a:off x="10489406" y="6441281"/>
              <a:ext cx="128588" cy="128588"/>
              <a:chOff x="10489406" y="6441281"/>
              <a:chExt cx="128588" cy="128588"/>
            </a:xfrm>
          </p:grpSpPr>
          <p:sp>
            <p:nvSpPr>
              <p:cNvPr id="152" name="Freeform 152"/>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53" name="Freeform 153"/>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54" name="Freeform 154"/>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56" name="Ellipse 156"/>
            <p:cNvSpPr/>
            <p:nvPr/>
          </p:nvSpPr>
          <p:spPr>
            <a:xfrm>
              <a:off x="10820400" y="6372225"/>
              <a:ext cx="266700" cy="266700"/>
            </a:xfrm>
            <a:prstGeom prst="ellipse">
              <a:avLst/>
            </a:prstGeom>
            <a:solidFill>
              <a:srgbClr val="D7D8D6"/>
            </a:solidFill>
            <a:ln>
              <a:noFill/>
            </a:ln>
          </p:spPr>
        </p:sp>
        <p:sp>
          <p:nvSpPr>
            <p:cNvPr id="157" name="Freeform 157"/>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58" name="TextBox 158"/>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13</a:t>
              </a:r>
            </a:p>
          </p:txBody>
        </p:sp>
      </p:gr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8A291"/>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14</a:t>
              </a:r>
            </a:p>
          </p:txBody>
        </p:sp>
        <p:sp>
          <p:nvSpPr>
            <p:cNvPr id="4" name="TextBox 4"/>
            <p:cNvSpPr txBox="1"/>
            <p:nvPr/>
          </p:nvSpPr>
          <p:spPr>
            <a:xfrm>
              <a:off x="942594" y="151448"/>
              <a:ext cx="46178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模型版图与清单：</a:t>
              </a:r>
              <a:r>
                <a:rPr lang="zh-CN" sz="1950" b="1" dirty="0">
                  <a:solidFill>
                    <a:srgbClr val="B61F00"/>
                  </a:solidFill>
                  <a:latin typeface="+mj-lt"/>
                  <a:ea typeface="+mj-ea"/>
                  <a:cs typeface="+mj-cs"/>
                </a:rPr>
                <a:t>模型清单的完整度</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F8A291"/>
              </a:solidFill>
            </a:ln>
          </p:spPr>
        </p:sp>
      </p:grpSp>
      <p:grpSp>
        <p:nvGrpSpPr>
          <p:cNvPr id="10" name="lead"/>
          <p:cNvGrpSpPr/>
          <p:nvPr/>
        </p:nvGrpSpPr>
        <p:grpSpPr>
          <a:xfrm>
            <a:off x="566547" y="847249"/>
            <a:ext cx="8182166" cy="670083"/>
            <a:chOff x="566547" y="847249"/>
            <a:chExt cx="8182166" cy="670083"/>
          </a:xfrm>
        </p:grpSpPr>
        <p:sp>
          <p:nvSpPr>
            <p:cNvPr id="7" name="TextBox 7"/>
            <p:cNvSpPr txBox="1"/>
            <p:nvPr/>
          </p:nvSpPr>
          <p:spPr>
            <a:xfrm>
              <a:off x="566547" y="847249"/>
              <a:ext cx="1141515" cy="190690"/>
            </a:xfrm>
            <a:prstGeom prst="rect">
              <a:avLst/>
            </a:prstGeom>
            <a:noFill/>
            <a:ln>
              <a:noFill/>
            </a:ln>
          </p:spPr>
          <p:txBody>
            <a:bodyPr wrap="none" lIns="0" tIns="0" rIns="0" bIns="0" anchor="t" anchorCtr="0">
              <a:spAutoFit/>
            </a:bodyPr>
            <a:lstStyle/>
            <a:p>
              <a:pPr algn="l"/>
              <a:r>
                <a:rPr lang="zh-CN" sz="980" b="1" dirty="0">
                  <a:solidFill>
                    <a:srgbClr val="B61F00"/>
                  </a:solidFill>
                  <a:latin typeface="+mn-lt"/>
                  <a:ea typeface="+mn-ea"/>
                  <a:cs typeface="+mn-cs"/>
                </a:rPr>
                <a:t>模型清单的完整度​</a:t>
              </a:r>
            </a:p>
          </p:txBody>
        </p:sp>
        <p:sp>
          <p:nvSpPr>
            <p:cNvPr id="8" name="TextBox 8"/>
            <p:cNvSpPr txBox="1"/>
            <p:nvPr/>
          </p:nvSpPr>
          <p:spPr>
            <a:xfrm>
              <a:off x="566738" y="1012984"/>
              <a:ext cx="1701551"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Completeness of the model inventory​</a:t>
              </a:r>
            </a:p>
          </p:txBody>
        </p:sp>
        <p:sp>
          <p:nvSpPr>
            <p:cNvPr id="9" name="TextBox 9"/>
            <p:cNvSpPr txBox="1"/>
            <p:nvPr/>
          </p:nvSpPr>
          <p:spPr>
            <a:xfrm>
              <a:off x="566738" y="1169670"/>
              <a:ext cx="818197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在比较不同模型类别和模型类型时，模型清单的完整度呈现出与模型风险管理框架范围相似的图景。银行的模型清单在金融风险模型（pillar 1资本与会计）上最​​</a:t>
              </a:r>
              <a:br/>
              <a:r>
                <a:rPr lang="zh-CN" sz="900" dirty="0">
                  <a:solidFill>
                    <a:srgbClr val="333333"/>
                  </a:solidFill>
                  <a:latin typeface="+mn-lt"/>
                  <a:ea typeface="+mn-ea"/>
                  <a:cs typeface="+mn-cs"/>
                </a:rPr>
                <a:t>为完整，其次是金融风险模型（pillar 2资本与流动性）。​​</a:t>
              </a:r>
            </a:p>
          </p:txBody>
        </p:sp>
      </p:grpSp>
      <p:grpSp>
        <p:nvGrpSpPr>
          <p:cNvPr id="124" name="figure-12"/>
          <p:cNvGrpSpPr/>
          <p:nvPr/>
        </p:nvGrpSpPr>
        <p:grpSpPr>
          <a:xfrm>
            <a:off x="566738" y="1806416"/>
            <a:ext cx="8863012" cy="3356372"/>
            <a:chOff x="566738" y="1806416"/>
            <a:chExt cx="8863012" cy="3356372"/>
          </a:xfrm>
        </p:grpSpPr>
        <p:sp>
          <p:nvSpPr>
            <p:cNvPr id="11" name="TextBox 11"/>
            <p:cNvSpPr txBox="1"/>
            <p:nvPr/>
          </p:nvSpPr>
          <p:spPr>
            <a:xfrm>
              <a:off x="566738" y="1806416"/>
              <a:ext cx="190848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图12. 各模型类型的模型清单完整度​​</a:t>
              </a:r>
            </a:p>
          </p:txBody>
        </p:sp>
        <p:sp>
          <p:nvSpPr>
            <p:cNvPr id="12" name="TextBox 12"/>
            <p:cNvSpPr txBox="1"/>
            <p:nvPr/>
          </p:nvSpPr>
          <p:spPr>
            <a:xfrm>
              <a:off x="566738" y="1950482"/>
              <a:ext cx="2554148"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Model inventory completeness for each of the model types​​</a:t>
              </a:r>
            </a:p>
          </p:txBody>
        </p:sp>
        <p:sp>
          <p:nvSpPr>
            <p:cNvPr id="13" name="Line 13"/>
            <p:cNvSpPr/>
            <p:nvPr/>
          </p:nvSpPr>
          <p:spPr>
            <a:xfrm>
              <a:off x="952500" y="426720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14" name="TextBox 14"/>
            <p:cNvSpPr txBox="1"/>
            <p:nvPr/>
          </p:nvSpPr>
          <p:spPr>
            <a:xfrm>
              <a:off x="760646" y="4239816"/>
              <a:ext cx="148991"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0%​</a:t>
              </a:r>
            </a:p>
          </p:txBody>
        </p:sp>
        <p:sp>
          <p:nvSpPr>
            <p:cNvPr id="15" name="Line 15"/>
            <p:cNvSpPr/>
            <p:nvPr/>
          </p:nvSpPr>
          <p:spPr>
            <a:xfrm>
              <a:off x="952500" y="387477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16" name="TextBox 16"/>
            <p:cNvSpPr txBox="1"/>
            <p:nvPr/>
          </p:nvSpPr>
          <p:spPr>
            <a:xfrm>
              <a:off x="719183" y="384738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20%​</a:t>
              </a:r>
            </a:p>
          </p:txBody>
        </p:sp>
        <p:sp>
          <p:nvSpPr>
            <p:cNvPr id="17" name="Line 17"/>
            <p:cNvSpPr/>
            <p:nvPr/>
          </p:nvSpPr>
          <p:spPr>
            <a:xfrm>
              <a:off x="952500" y="348234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18" name="TextBox 18"/>
            <p:cNvSpPr txBox="1"/>
            <p:nvPr/>
          </p:nvSpPr>
          <p:spPr>
            <a:xfrm>
              <a:off x="719183" y="345495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40%​</a:t>
              </a:r>
            </a:p>
          </p:txBody>
        </p:sp>
        <p:sp>
          <p:nvSpPr>
            <p:cNvPr id="19" name="Line 19"/>
            <p:cNvSpPr/>
            <p:nvPr/>
          </p:nvSpPr>
          <p:spPr>
            <a:xfrm>
              <a:off x="952500" y="308991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0" name="TextBox 20"/>
            <p:cNvSpPr txBox="1"/>
            <p:nvPr/>
          </p:nvSpPr>
          <p:spPr>
            <a:xfrm>
              <a:off x="719183" y="306252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60%​</a:t>
              </a:r>
            </a:p>
          </p:txBody>
        </p:sp>
        <p:sp>
          <p:nvSpPr>
            <p:cNvPr id="21" name="Line 21"/>
            <p:cNvSpPr/>
            <p:nvPr/>
          </p:nvSpPr>
          <p:spPr>
            <a:xfrm>
              <a:off x="952500" y="269748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2" name="TextBox 22"/>
            <p:cNvSpPr txBox="1"/>
            <p:nvPr/>
          </p:nvSpPr>
          <p:spPr>
            <a:xfrm>
              <a:off x="719183" y="267009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80%​</a:t>
              </a:r>
            </a:p>
          </p:txBody>
        </p:sp>
        <p:sp>
          <p:nvSpPr>
            <p:cNvPr id="23" name="Line 23"/>
            <p:cNvSpPr/>
            <p:nvPr/>
          </p:nvSpPr>
          <p:spPr>
            <a:xfrm>
              <a:off x="952500" y="230505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4" name="TextBox 24"/>
            <p:cNvSpPr txBox="1"/>
            <p:nvPr/>
          </p:nvSpPr>
          <p:spPr>
            <a:xfrm>
              <a:off x="677720" y="2277666"/>
              <a:ext cx="231917"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100%​</a:t>
              </a:r>
            </a:p>
          </p:txBody>
        </p:sp>
        <p:sp>
          <p:nvSpPr>
            <p:cNvPr id="25" name="Rectangle 25"/>
            <p:cNvSpPr/>
            <p:nvPr/>
          </p:nvSpPr>
          <p:spPr>
            <a:xfrm>
              <a:off x="1050608" y="2579370"/>
              <a:ext cx="249555" cy="1687830"/>
            </a:xfrm>
            <a:prstGeom prst="rect">
              <a:avLst/>
            </a:prstGeom>
            <a:solidFill>
              <a:srgbClr val="7C1500"/>
            </a:solidFill>
            <a:ln>
              <a:noFill/>
            </a:ln>
          </p:spPr>
        </p:sp>
        <p:sp>
          <p:nvSpPr>
            <p:cNvPr id="26" name="Rectangle 26"/>
            <p:cNvSpPr/>
            <p:nvPr/>
          </p:nvSpPr>
          <p:spPr>
            <a:xfrm>
              <a:off x="1050608" y="2423160"/>
              <a:ext cx="249555" cy="157162"/>
            </a:xfrm>
            <a:prstGeom prst="rect">
              <a:avLst/>
            </a:prstGeom>
            <a:solidFill>
              <a:srgbClr val="B61F00"/>
            </a:solidFill>
            <a:ln>
              <a:noFill/>
            </a:ln>
          </p:spPr>
        </p:sp>
        <p:sp>
          <p:nvSpPr>
            <p:cNvPr id="27" name="Rectangle 27"/>
            <p:cNvSpPr/>
            <p:nvPr/>
          </p:nvSpPr>
          <p:spPr>
            <a:xfrm>
              <a:off x="1050608" y="2305050"/>
              <a:ext cx="249555" cy="118110"/>
            </a:xfrm>
            <a:prstGeom prst="rect">
              <a:avLst/>
            </a:prstGeom>
            <a:solidFill>
              <a:srgbClr val="F8A291"/>
            </a:solidFill>
            <a:ln>
              <a:noFill/>
            </a:ln>
          </p:spPr>
        </p:sp>
        <p:sp>
          <p:nvSpPr>
            <p:cNvPr id="28" name="TextBox 28"/>
            <p:cNvSpPr txBox="1"/>
            <p:nvPr/>
          </p:nvSpPr>
          <p:spPr>
            <a:xfrm>
              <a:off x="1008825" y="43112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信用风险​</a:t>
              </a:r>
              <a:br/>
              <a:r>
                <a:rPr lang="zh-CN" sz="560" dirty="0">
                  <a:solidFill>
                    <a:srgbClr val="666666"/>
                  </a:solidFill>
                  <a:latin typeface="+mn-lt"/>
                  <a:ea typeface="+mn-ea"/>
                  <a:cs typeface="+mn-cs"/>
                </a:rPr>
                <a:t>资本计算​</a:t>
              </a:r>
            </a:p>
          </p:txBody>
        </p:sp>
        <p:sp>
          <p:nvSpPr>
            <p:cNvPr id="29" name="Rectangle 29"/>
            <p:cNvSpPr/>
            <p:nvPr/>
          </p:nvSpPr>
          <p:spPr>
            <a:xfrm>
              <a:off x="1497330" y="2560320"/>
              <a:ext cx="249555" cy="1706880"/>
            </a:xfrm>
            <a:prstGeom prst="rect">
              <a:avLst/>
            </a:prstGeom>
            <a:solidFill>
              <a:srgbClr val="7C1500"/>
            </a:solidFill>
            <a:ln>
              <a:noFill/>
            </a:ln>
          </p:spPr>
        </p:sp>
        <p:sp>
          <p:nvSpPr>
            <p:cNvPr id="30" name="Rectangle 30"/>
            <p:cNvSpPr/>
            <p:nvPr/>
          </p:nvSpPr>
          <p:spPr>
            <a:xfrm>
              <a:off x="1497330" y="2383155"/>
              <a:ext cx="249555" cy="176212"/>
            </a:xfrm>
            <a:prstGeom prst="rect">
              <a:avLst/>
            </a:prstGeom>
            <a:solidFill>
              <a:srgbClr val="B61F00"/>
            </a:solidFill>
            <a:ln>
              <a:noFill/>
            </a:ln>
          </p:spPr>
        </p:sp>
        <p:sp>
          <p:nvSpPr>
            <p:cNvPr id="31" name="Rectangle 31"/>
            <p:cNvSpPr/>
            <p:nvPr/>
          </p:nvSpPr>
          <p:spPr>
            <a:xfrm>
              <a:off x="1497330" y="2305050"/>
              <a:ext cx="249555" cy="78105"/>
            </a:xfrm>
            <a:prstGeom prst="rect">
              <a:avLst/>
            </a:prstGeom>
            <a:solidFill>
              <a:srgbClr val="F8A291"/>
            </a:solidFill>
            <a:ln>
              <a:noFill/>
            </a:ln>
          </p:spPr>
        </p:sp>
        <p:sp>
          <p:nvSpPr>
            <p:cNvPr id="32" name="TextBox 32"/>
            <p:cNvSpPr txBox="1"/>
            <p:nvPr/>
          </p:nvSpPr>
          <p:spPr>
            <a:xfrm>
              <a:off x="1455547" y="43112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信用风险​</a:t>
              </a:r>
              <a:br/>
              <a:r>
                <a:rPr lang="zh-CN" sz="560" dirty="0">
                  <a:solidFill>
                    <a:srgbClr val="666666"/>
                  </a:solidFill>
                  <a:latin typeface="+mn-lt"/>
                  <a:ea typeface="+mn-ea"/>
                  <a:cs typeface="+mn-cs"/>
                </a:rPr>
                <a:t>拨备计提​</a:t>
              </a:r>
            </a:p>
          </p:txBody>
        </p:sp>
        <p:sp>
          <p:nvSpPr>
            <p:cNvPr id="33" name="Rectangle 33"/>
            <p:cNvSpPr/>
            <p:nvPr/>
          </p:nvSpPr>
          <p:spPr>
            <a:xfrm>
              <a:off x="1943100" y="2834640"/>
              <a:ext cx="249555" cy="1432560"/>
            </a:xfrm>
            <a:prstGeom prst="rect">
              <a:avLst/>
            </a:prstGeom>
            <a:solidFill>
              <a:srgbClr val="7C1500"/>
            </a:solidFill>
            <a:ln>
              <a:noFill/>
            </a:ln>
          </p:spPr>
        </p:sp>
        <p:sp>
          <p:nvSpPr>
            <p:cNvPr id="34" name="Rectangle 34"/>
            <p:cNvSpPr/>
            <p:nvPr/>
          </p:nvSpPr>
          <p:spPr>
            <a:xfrm>
              <a:off x="1943100" y="2442210"/>
              <a:ext cx="249555" cy="392430"/>
            </a:xfrm>
            <a:prstGeom prst="rect">
              <a:avLst/>
            </a:prstGeom>
            <a:solidFill>
              <a:srgbClr val="B61F00"/>
            </a:solidFill>
            <a:ln>
              <a:noFill/>
            </a:ln>
          </p:spPr>
        </p:sp>
        <p:sp>
          <p:nvSpPr>
            <p:cNvPr id="35" name="Rectangle 35"/>
            <p:cNvSpPr/>
            <p:nvPr/>
          </p:nvSpPr>
          <p:spPr>
            <a:xfrm>
              <a:off x="1943100" y="2305050"/>
              <a:ext cx="249555" cy="137160"/>
            </a:xfrm>
            <a:prstGeom prst="rect">
              <a:avLst/>
            </a:prstGeom>
            <a:solidFill>
              <a:srgbClr val="F8A291"/>
            </a:solidFill>
            <a:ln>
              <a:noFill/>
            </a:ln>
          </p:spPr>
        </p:sp>
        <p:sp>
          <p:nvSpPr>
            <p:cNvPr id="36" name="TextBox 36"/>
            <p:cNvSpPr txBox="1"/>
            <p:nvPr/>
          </p:nvSpPr>
          <p:spPr>
            <a:xfrm>
              <a:off x="1865757" y="4311253"/>
              <a:ext cx="404241" cy="30241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风险管理与​</a:t>
              </a:r>
              <a:br/>
              <a:r>
                <a:rPr lang="zh-CN" sz="560" dirty="0">
                  <a:solidFill>
                    <a:srgbClr val="666666"/>
                  </a:solidFill>
                  <a:latin typeface="+mn-lt"/>
                  <a:ea typeface="+mn-ea"/>
                  <a:cs typeface="+mn-cs"/>
                </a:rPr>
                <a:t>运营流程​</a:t>
              </a:r>
              <a:br/>
              <a:r>
                <a:rPr lang="zh-CN" sz="560" dirty="0">
                  <a:solidFill>
                    <a:srgbClr val="666666"/>
                  </a:solidFill>
                  <a:latin typeface="+mn-lt"/>
                  <a:ea typeface="+mn-ea"/>
                  <a:cs typeface="+mn-cs"/>
                </a:rPr>
                <a:t>(评分卡)​​</a:t>
              </a:r>
            </a:p>
          </p:txBody>
        </p:sp>
        <p:sp>
          <p:nvSpPr>
            <p:cNvPr id="37" name="Rectangle 37"/>
            <p:cNvSpPr/>
            <p:nvPr/>
          </p:nvSpPr>
          <p:spPr>
            <a:xfrm>
              <a:off x="2388870" y="2952750"/>
              <a:ext cx="249555" cy="1314450"/>
            </a:xfrm>
            <a:prstGeom prst="rect">
              <a:avLst/>
            </a:prstGeom>
            <a:solidFill>
              <a:srgbClr val="7C1500"/>
            </a:solidFill>
            <a:ln>
              <a:noFill/>
            </a:ln>
          </p:spPr>
        </p:sp>
        <p:sp>
          <p:nvSpPr>
            <p:cNvPr id="38" name="Rectangle 38"/>
            <p:cNvSpPr/>
            <p:nvPr/>
          </p:nvSpPr>
          <p:spPr>
            <a:xfrm>
              <a:off x="2388870" y="2795588"/>
              <a:ext cx="249555" cy="157162"/>
            </a:xfrm>
            <a:prstGeom prst="rect">
              <a:avLst/>
            </a:prstGeom>
            <a:solidFill>
              <a:srgbClr val="B61F00"/>
            </a:solidFill>
            <a:ln>
              <a:noFill/>
            </a:ln>
          </p:spPr>
        </p:sp>
        <p:sp>
          <p:nvSpPr>
            <p:cNvPr id="39" name="Rectangle 39"/>
            <p:cNvSpPr/>
            <p:nvPr/>
          </p:nvSpPr>
          <p:spPr>
            <a:xfrm>
              <a:off x="2388870" y="2305050"/>
              <a:ext cx="249555" cy="490538"/>
            </a:xfrm>
            <a:prstGeom prst="rect">
              <a:avLst/>
            </a:prstGeom>
            <a:solidFill>
              <a:srgbClr val="F8A291"/>
            </a:solidFill>
            <a:ln>
              <a:noFill/>
            </a:ln>
          </p:spPr>
        </p:sp>
        <p:sp>
          <p:nvSpPr>
            <p:cNvPr id="40" name="TextBox 40"/>
            <p:cNvSpPr txBox="1"/>
            <p:nvPr/>
          </p:nvSpPr>
          <p:spPr>
            <a:xfrm>
              <a:off x="2347087" y="43112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市场风险​</a:t>
              </a:r>
              <a:br/>
              <a:r>
                <a:rPr lang="zh-CN" sz="560" dirty="0">
                  <a:solidFill>
                    <a:srgbClr val="666666"/>
                  </a:solidFill>
                  <a:latin typeface="+mn-lt"/>
                  <a:ea typeface="+mn-ea"/>
                  <a:cs typeface="+mn-cs"/>
                </a:rPr>
                <a:t>资本计算​</a:t>
              </a:r>
            </a:p>
          </p:txBody>
        </p:sp>
        <p:sp>
          <p:nvSpPr>
            <p:cNvPr id="41" name="Rectangle 41"/>
            <p:cNvSpPr/>
            <p:nvPr/>
          </p:nvSpPr>
          <p:spPr>
            <a:xfrm>
              <a:off x="2835592" y="2873692"/>
              <a:ext cx="249555" cy="1393508"/>
            </a:xfrm>
            <a:prstGeom prst="rect">
              <a:avLst/>
            </a:prstGeom>
            <a:solidFill>
              <a:srgbClr val="7C1500"/>
            </a:solidFill>
            <a:ln>
              <a:noFill/>
            </a:ln>
          </p:spPr>
        </p:sp>
        <p:sp>
          <p:nvSpPr>
            <p:cNvPr id="42" name="Rectangle 42"/>
            <p:cNvSpPr/>
            <p:nvPr/>
          </p:nvSpPr>
          <p:spPr>
            <a:xfrm>
              <a:off x="2835592" y="2638425"/>
              <a:ext cx="249555" cy="235268"/>
            </a:xfrm>
            <a:prstGeom prst="rect">
              <a:avLst/>
            </a:prstGeom>
            <a:solidFill>
              <a:srgbClr val="B61F00"/>
            </a:solidFill>
            <a:ln>
              <a:noFill/>
            </a:ln>
          </p:spPr>
        </p:sp>
        <p:sp>
          <p:nvSpPr>
            <p:cNvPr id="43" name="Rectangle 43"/>
            <p:cNvSpPr/>
            <p:nvPr/>
          </p:nvSpPr>
          <p:spPr>
            <a:xfrm>
              <a:off x="2835592" y="2305050"/>
              <a:ext cx="249555" cy="333375"/>
            </a:xfrm>
            <a:prstGeom prst="rect">
              <a:avLst/>
            </a:prstGeom>
            <a:solidFill>
              <a:srgbClr val="F8A291"/>
            </a:solidFill>
            <a:ln>
              <a:noFill/>
            </a:ln>
          </p:spPr>
        </p:sp>
        <p:sp>
          <p:nvSpPr>
            <p:cNvPr id="44" name="TextBox 44"/>
            <p:cNvSpPr txBox="1"/>
            <p:nvPr/>
          </p:nvSpPr>
          <p:spPr>
            <a:xfrm>
              <a:off x="2793810" y="43112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市场风险​</a:t>
              </a:r>
              <a:br/>
              <a:r>
                <a:rPr lang="zh-CN" sz="560" dirty="0">
                  <a:solidFill>
                    <a:srgbClr val="666666"/>
                  </a:solidFill>
                  <a:latin typeface="+mn-lt"/>
                  <a:ea typeface="+mn-ea"/>
                  <a:cs typeface="+mn-cs"/>
                </a:rPr>
                <a:t>管理​</a:t>
              </a:r>
            </a:p>
          </p:txBody>
        </p:sp>
        <p:sp>
          <p:nvSpPr>
            <p:cNvPr id="45" name="Rectangle 45"/>
            <p:cNvSpPr/>
            <p:nvPr/>
          </p:nvSpPr>
          <p:spPr>
            <a:xfrm>
              <a:off x="3281362" y="2932748"/>
              <a:ext cx="249555" cy="1334452"/>
            </a:xfrm>
            <a:prstGeom prst="rect">
              <a:avLst/>
            </a:prstGeom>
            <a:solidFill>
              <a:srgbClr val="7C1500"/>
            </a:solidFill>
            <a:ln>
              <a:noFill/>
            </a:ln>
          </p:spPr>
        </p:sp>
        <p:sp>
          <p:nvSpPr>
            <p:cNvPr id="46" name="Rectangle 46"/>
            <p:cNvSpPr/>
            <p:nvPr/>
          </p:nvSpPr>
          <p:spPr>
            <a:xfrm>
              <a:off x="3281362" y="2638425"/>
              <a:ext cx="249555" cy="294322"/>
            </a:xfrm>
            <a:prstGeom prst="rect">
              <a:avLst/>
            </a:prstGeom>
            <a:solidFill>
              <a:srgbClr val="B61F00"/>
            </a:solidFill>
            <a:ln>
              <a:noFill/>
            </a:ln>
          </p:spPr>
        </p:sp>
        <p:sp>
          <p:nvSpPr>
            <p:cNvPr id="47" name="Rectangle 47"/>
            <p:cNvSpPr/>
            <p:nvPr/>
          </p:nvSpPr>
          <p:spPr>
            <a:xfrm>
              <a:off x="3281362" y="2305050"/>
              <a:ext cx="249555" cy="333375"/>
            </a:xfrm>
            <a:prstGeom prst="rect">
              <a:avLst/>
            </a:prstGeom>
            <a:solidFill>
              <a:srgbClr val="F8A291"/>
            </a:solidFill>
            <a:ln>
              <a:noFill/>
            </a:ln>
          </p:spPr>
        </p:sp>
        <p:sp>
          <p:nvSpPr>
            <p:cNvPr id="48" name="TextBox 48"/>
            <p:cNvSpPr txBox="1"/>
            <p:nvPr/>
          </p:nvSpPr>
          <p:spPr>
            <a:xfrm>
              <a:off x="3275140" y="4311253"/>
              <a:ext cx="26200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流动性​</a:t>
              </a:r>
              <a:br/>
              <a:r>
                <a:rPr lang="zh-CN" sz="560" dirty="0">
                  <a:solidFill>
                    <a:srgbClr val="666666"/>
                  </a:solidFill>
                  <a:latin typeface="+mn-lt"/>
                  <a:ea typeface="+mn-ea"/>
                  <a:cs typeface="+mn-cs"/>
                </a:rPr>
                <a:t>风险​</a:t>
              </a:r>
            </a:p>
          </p:txBody>
        </p:sp>
        <p:sp>
          <p:nvSpPr>
            <p:cNvPr id="49" name="Rectangle 49"/>
            <p:cNvSpPr/>
            <p:nvPr/>
          </p:nvSpPr>
          <p:spPr>
            <a:xfrm>
              <a:off x="3728085" y="3030855"/>
              <a:ext cx="249555" cy="1236345"/>
            </a:xfrm>
            <a:prstGeom prst="rect">
              <a:avLst/>
            </a:prstGeom>
            <a:solidFill>
              <a:srgbClr val="7C1500"/>
            </a:solidFill>
            <a:ln>
              <a:noFill/>
            </a:ln>
          </p:spPr>
        </p:sp>
        <p:sp>
          <p:nvSpPr>
            <p:cNvPr id="50" name="Rectangle 50"/>
            <p:cNvSpPr/>
            <p:nvPr/>
          </p:nvSpPr>
          <p:spPr>
            <a:xfrm>
              <a:off x="3728085" y="2873692"/>
              <a:ext cx="249555" cy="157162"/>
            </a:xfrm>
            <a:prstGeom prst="rect">
              <a:avLst/>
            </a:prstGeom>
            <a:solidFill>
              <a:srgbClr val="B61F00"/>
            </a:solidFill>
            <a:ln>
              <a:noFill/>
            </a:ln>
          </p:spPr>
        </p:sp>
        <p:sp>
          <p:nvSpPr>
            <p:cNvPr id="51" name="Rectangle 51"/>
            <p:cNvSpPr/>
            <p:nvPr/>
          </p:nvSpPr>
          <p:spPr>
            <a:xfrm>
              <a:off x="3728085" y="2305050"/>
              <a:ext cx="249555" cy="568642"/>
            </a:xfrm>
            <a:prstGeom prst="rect">
              <a:avLst/>
            </a:prstGeom>
            <a:solidFill>
              <a:srgbClr val="F8A291"/>
            </a:solidFill>
            <a:ln>
              <a:noFill/>
            </a:ln>
          </p:spPr>
        </p:sp>
        <p:sp>
          <p:nvSpPr>
            <p:cNvPr id="52" name="TextBox 52"/>
            <p:cNvSpPr txBox="1"/>
            <p:nvPr/>
          </p:nvSpPr>
          <p:spPr>
            <a:xfrm>
              <a:off x="3676594" y="43112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操作风险​</a:t>
              </a:r>
            </a:p>
          </p:txBody>
        </p:sp>
        <p:sp>
          <p:nvSpPr>
            <p:cNvPr id="53" name="Rectangle 53"/>
            <p:cNvSpPr/>
            <p:nvPr/>
          </p:nvSpPr>
          <p:spPr>
            <a:xfrm>
              <a:off x="4173855" y="3227070"/>
              <a:ext cx="249555" cy="1040130"/>
            </a:xfrm>
            <a:prstGeom prst="rect">
              <a:avLst/>
            </a:prstGeom>
            <a:solidFill>
              <a:srgbClr val="7C1500"/>
            </a:solidFill>
            <a:ln>
              <a:noFill/>
            </a:ln>
          </p:spPr>
        </p:sp>
        <p:sp>
          <p:nvSpPr>
            <p:cNvPr id="54" name="Rectangle 54"/>
            <p:cNvSpPr/>
            <p:nvPr/>
          </p:nvSpPr>
          <p:spPr>
            <a:xfrm>
              <a:off x="4173855" y="2756535"/>
              <a:ext cx="249555" cy="470535"/>
            </a:xfrm>
            <a:prstGeom prst="rect">
              <a:avLst/>
            </a:prstGeom>
            <a:solidFill>
              <a:srgbClr val="B61F00"/>
            </a:solidFill>
            <a:ln>
              <a:noFill/>
            </a:ln>
          </p:spPr>
        </p:sp>
        <p:sp>
          <p:nvSpPr>
            <p:cNvPr id="55" name="Rectangle 55"/>
            <p:cNvSpPr/>
            <p:nvPr/>
          </p:nvSpPr>
          <p:spPr>
            <a:xfrm>
              <a:off x="4173855" y="2305050"/>
              <a:ext cx="249555" cy="451485"/>
            </a:xfrm>
            <a:prstGeom prst="rect">
              <a:avLst/>
            </a:prstGeom>
            <a:solidFill>
              <a:srgbClr val="F8A291"/>
            </a:solidFill>
            <a:ln>
              <a:noFill/>
            </a:ln>
          </p:spPr>
        </p:sp>
        <p:sp>
          <p:nvSpPr>
            <p:cNvPr id="56" name="TextBox 56"/>
            <p:cNvSpPr txBox="1"/>
            <p:nvPr/>
          </p:nvSpPr>
          <p:spPr>
            <a:xfrm>
              <a:off x="4037838" y="4311253"/>
              <a:ext cx="521589"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信用决策​</a:t>
              </a:r>
              <a:br/>
              <a:r>
                <a:rPr lang="zh-CN" sz="560" dirty="0">
                  <a:solidFill>
                    <a:srgbClr val="666666"/>
                  </a:solidFill>
                  <a:latin typeface="+mn-lt"/>
                  <a:ea typeface="+mn-ea"/>
                  <a:cs typeface="+mn-cs"/>
                </a:rPr>
                <a:t>(如信用审批)​​</a:t>
              </a:r>
            </a:p>
          </p:txBody>
        </p:sp>
        <p:sp>
          <p:nvSpPr>
            <p:cNvPr id="57" name="Rectangle 57"/>
            <p:cNvSpPr/>
            <p:nvPr/>
          </p:nvSpPr>
          <p:spPr>
            <a:xfrm>
              <a:off x="4620578" y="2952750"/>
              <a:ext cx="249555" cy="1314450"/>
            </a:xfrm>
            <a:prstGeom prst="rect">
              <a:avLst/>
            </a:prstGeom>
            <a:solidFill>
              <a:srgbClr val="7C1500"/>
            </a:solidFill>
            <a:ln>
              <a:noFill/>
            </a:ln>
          </p:spPr>
        </p:sp>
        <p:sp>
          <p:nvSpPr>
            <p:cNvPr id="58" name="Rectangle 58"/>
            <p:cNvSpPr/>
            <p:nvPr/>
          </p:nvSpPr>
          <p:spPr>
            <a:xfrm>
              <a:off x="4620578" y="2677478"/>
              <a:ext cx="249555" cy="274320"/>
            </a:xfrm>
            <a:prstGeom prst="rect">
              <a:avLst/>
            </a:prstGeom>
            <a:solidFill>
              <a:srgbClr val="B61F00"/>
            </a:solidFill>
            <a:ln>
              <a:noFill/>
            </a:ln>
          </p:spPr>
        </p:sp>
        <p:sp>
          <p:nvSpPr>
            <p:cNvPr id="59" name="Rectangle 59"/>
            <p:cNvSpPr/>
            <p:nvPr/>
          </p:nvSpPr>
          <p:spPr>
            <a:xfrm>
              <a:off x="4620578" y="2305050"/>
              <a:ext cx="249555" cy="372428"/>
            </a:xfrm>
            <a:prstGeom prst="rect">
              <a:avLst/>
            </a:prstGeom>
            <a:solidFill>
              <a:srgbClr val="F8A291"/>
            </a:solidFill>
            <a:ln>
              <a:noFill/>
            </a:ln>
          </p:spPr>
        </p:sp>
        <p:sp>
          <p:nvSpPr>
            <p:cNvPr id="60" name="TextBox 60"/>
            <p:cNvSpPr txBox="1"/>
            <p:nvPr/>
          </p:nvSpPr>
          <p:spPr>
            <a:xfrm>
              <a:off x="4569087" y="43112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经济资本​</a:t>
              </a:r>
            </a:p>
          </p:txBody>
        </p:sp>
        <p:sp>
          <p:nvSpPr>
            <p:cNvPr id="61" name="Rectangle 61"/>
            <p:cNvSpPr/>
            <p:nvPr/>
          </p:nvSpPr>
          <p:spPr>
            <a:xfrm>
              <a:off x="5066348" y="3168015"/>
              <a:ext cx="249555" cy="1099185"/>
            </a:xfrm>
            <a:prstGeom prst="rect">
              <a:avLst/>
            </a:prstGeom>
            <a:solidFill>
              <a:srgbClr val="7C1500"/>
            </a:solidFill>
            <a:ln>
              <a:noFill/>
            </a:ln>
          </p:spPr>
        </p:sp>
        <p:sp>
          <p:nvSpPr>
            <p:cNvPr id="62" name="Rectangle 62"/>
            <p:cNvSpPr/>
            <p:nvPr/>
          </p:nvSpPr>
          <p:spPr>
            <a:xfrm>
              <a:off x="5066348" y="2775585"/>
              <a:ext cx="249555" cy="392430"/>
            </a:xfrm>
            <a:prstGeom prst="rect">
              <a:avLst/>
            </a:prstGeom>
            <a:solidFill>
              <a:srgbClr val="B61F00"/>
            </a:solidFill>
            <a:ln>
              <a:noFill/>
            </a:ln>
          </p:spPr>
        </p:sp>
        <p:sp>
          <p:nvSpPr>
            <p:cNvPr id="63" name="Rectangle 63"/>
            <p:cNvSpPr/>
            <p:nvPr/>
          </p:nvSpPr>
          <p:spPr>
            <a:xfrm>
              <a:off x="5066348" y="2305050"/>
              <a:ext cx="249555" cy="470535"/>
            </a:xfrm>
            <a:prstGeom prst="rect">
              <a:avLst/>
            </a:prstGeom>
            <a:solidFill>
              <a:srgbClr val="F8A291"/>
            </a:solidFill>
            <a:ln>
              <a:noFill/>
            </a:ln>
          </p:spPr>
        </p:sp>
        <p:sp>
          <p:nvSpPr>
            <p:cNvPr id="64" name="TextBox 64"/>
            <p:cNvSpPr txBox="1"/>
            <p:nvPr/>
          </p:nvSpPr>
          <p:spPr>
            <a:xfrm>
              <a:off x="4971224" y="4311253"/>
              <a:ext cx="43980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资产负债​</a:t>
              </a:r>
              <a:br/>
              <a:r>
                <a:rPr lang="zh-CN" sz="560" dirty="0">
                  <a:solidFill>
                    <a:srgbClr val="666666"/>
                  </a:solidFill>
                  <a:latin typeface="+mn-lt"/>
                  <a:ea typeface="+mn-ea"/>
                  <a:cs typeface="+mn-cs"/>
                </a:rPr>
                <a:t>管理(ALM)​​</a:t>
              </a:r>
            </a:p>
          </p:txBody>
        </p:sp>
        <p:sp>
          <p:nvSpPr>
            <p:cNvPr id="65" name="Rectangle 65"/>
            <p:cNvSpPr/>
            <p:nvPr/>
          </p:nvSpPr>
          <p:spPr>
            <a:xfrm>
              <a:off x="5512118" y="3128962"/>
              <a:ext cx="249555" cy="1138238"/>
            </a:xfrm>
            <a:prstGeom prst="rect">
              <a:avLst/>
            </a:prstGeom>
            <a:solidFill>
              <a:srgbClr val="7C1500"/>
            </a:solidFill>
            <a:ln>
              <a:noFill/>
            </a:ln>
          </p:spPr>
        </p:sp>
        <p:sp>
          <p:nvSpPr>
            <p:cNvPr id="66" name="Rectangle 66"/>
            <p:cNvSpPr/>
            <p:nvPr/>
          </p:nvSpPr>
          <p:spPr>
            <a:xfrm>
              <a:off x="5512118" y="2619375"/>
              <a:ext cx="249555" cy="510540"/>
            </a:xfrm>
            <a:prstGeom prst="rect">
              <a:avLst/>
            </a:prstGeom>
            <a:solidFill>
              <a:srgbClr val="B61F00"/>
            </a:solidFill>
            <a:ln>
              <a:noFill/>
            </a:ln>
          </p:spPr>
        </p:sp>
        <p:sp>
          <p:nvSpPr>
            <p:cNvPr id="67" name="Rectangle 67"/>
            <p:cNvSpPr/>
            <p:nvPr/>
          </p:nvSpPr>
          <p:spPr>
            <a:xfrm>
              <a:off x="5512118" y="2305050"/>
              <a:ext cx="249555" cy="314325"/>
            </a:xfrm>
            <a:prstGeom prst="rect">
              <a:avLst/>
            </a:prstGeom>
            <a:solidFill>
              <a:srgbClr val="F8A291"/>
            </a:solidFill>
            <a:ln>
              <a:noFill/>
            </a:ln>
          </p:spPr>
        </p:sp>
        <p:sp>
          <p:nvSpPr>
            <p:cNvPr id="68" name="TextBox 68"/>
            <p:cNvSpPr txBox="1"/>
            <p:nvPr/>
          </p:nvSpPr>
          <p:spPr>
            <a:xfrm>
              <a:off x="5460627" y="43112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压力测试​</a:t>
              </a:r>
            </a:p>
          </p:txBody>
        </p:sp>
        <p:sp>
          <p:nvSpPr>
            <p:cNvPr id="69" name="Rectangle 69"/>
            <p:cNvSpPr/>
            <p:nvPr/>
          </p:nvSpPr>
          <p:spPr>
            <a:xfrm>
              <a:off x="5958840" y="3796665"/>
              <a:ext cx="249555" cy="470535"/>
            </a:xfrm>
            <a:prstGeom prst="rect">
              <a:avLst/>
            </a:prstGeom>
            <a:solidFill>
              <a:srgbClr val="7C1500"/>
            </a:solidFill>
            <a:ln>
              <a:noFill/>
            </a:ln>
          </p:spPr>
        </p:sp>
        <p:sp>
          <p:nvSpPr>
            <p:cNvPr id="70" name="Rectangle 70"/>
            <p:cNvSpPr/>
            <p:nvPr/>
          </p:nvSpPr>
          <p:spPr>
            <a:xfrm>
              <a:off x="5958840" y="3247072"/>
              <a:ext cx="249555" cy="549592"/>
            </a:xfrm>
            <a:prstGeom prst="rect">
              <a:avLst/>
            </a:prstGeom>
            <a:solidFill>
              <a:srgbClr val="B61F00"/>
            </a:solidFill>
            <a:ln>
              <a:noFill/>
            </a:ln>
          </p:spPr>
        </p:sp>
        <p:sp>
          <p:nvSpPr>
            <p:cNvPr id="71" name="Rectangle 71"/>
            <p:cNvSpPr/>
            <p:nvPr/>
          </p:nvSpPr>
          <p:spPr>
            <a:xfrm>
              <a:off x="5958840" y="2305050"/>
              <a:ext cx="249555" cy="942022"/>
            </a:xfrm>
            <a:prstGeom prst="rect">
              <a:avLst/>
            </a:prstGeom>
            <a:solidFill>
              <a:srgbClr val="F8A291"/>
            </a:solidFill>
            <a:ln>
              <a:noFill/>
            </a:ln>
          </p:spPr>
        </p:sp>
        <p:sp>
          <p:nvSpPr>
            <p:cNvPr id="72" name="TextBox 72"/>
            <p:cNvSpPr txBox="1"/>
            <p:nvPr/>
          </p:nvSpPr>
          <p:spPr>
            <a:xfrm>
              <a:off x="5877941" y="4311253"/>
              <a:ext cx="411353"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交易监控/​​</a:t>
              </a:r>
              <a:br/>
              <a:r>
                <a:rPr lang="zh-CN" sz="560" dirty="0">
                  <a:solidFill>
                    <a:srgbClr val="666666"/>
                  </a:solidFill>
                  <a:latin typeface="+mn-lt"/>
                  <a:ea typeface="+mn-ea"/>
                  <a:cs typeface="+mn-cs"/>
                </a:rPr>
                <a:t>AML/欺诈​​</a:t>
              </a:r>
            </a:p>
          </p:txBody>
        </p:sp>
        <p:sp>
          <p:nvSpPr>
            <p:cNvPr id="73" name="Rectangle 73"/>
            <p:cNvSpPr/>
            <p:nvPr/>
          </p:nvSpPr>
          <p:spPr>
            <a:xfrm>
              <a:off x="6404610" y="3913822"/>
              <a:ext cx="249555" cy="353378"/>
            </a:xfrm>
            <a:prstGeom prst="rect">
              <a:avLst/>
            </a:prstGeom>
            <a:solidFill>
              <a:srgbClr val="7C1500"/>
            </a:solidFill>
            <a:ln>
              <a:noFill/>
            </a:ln>
          </p:spPr>
        </p:sp>
        <p:sp>
          <p:nvSpPr>
            <p:cNvPr id="74" name="Rectangle 74"/>
            <p:cNvSpPr/>
            <p:nvPr/>
          </p:nvSpPr>
          <p:spPr>
            <a:xfrm>
              <a:off x="6404610" y="3423285"/>
              <a:ext cx="249555" cy="490538"/>
            </a:xfrm>
            <a:prstGeom prst="rect">
              <a:avLst/>
            </a:prstGeom>
            <a:solidFill>
              <a:srgbClr val="B61F00"/>
            </a:solidFill>
            <a:ln>
              <a:noFill/>
            </a:ln>
          </p:spPr>
        </p:sp>
        <p:sp>
          <p:nvSpPr>
            <p:cNvPr id="75" name="Rectangle 75"/>
            <p:cNvSpPr/>
            <p:nvPr/>
          </p:nvSpPr>
          <p:spPr>
            <a:xfrm>
              <a:off x="6404610" y="2305050"/>
              <a:ext cx="249555" cy="1118235"/>
            </a:xfrm>
            <a:prstGeom prst="rect">
              <a:avLst/>
            </a:prstGeom>
            <a:solidFill>
              <a:srgbClr val="F8A291"/>
            </a:solidFill>
            <a:ln>
              <a:noFill/>
            </a:ln>
          </p:spPr>
        </p:sp>
        <p:sp>
          <p:nvSpPr>
            <p:cNvPr id="76" name="TextBox 76"/>
            <p:cNvSpPr txBox="1"/>
            <p:nvPr/>
          </p:nvSpPr>
          <p:spPr>
            <a:xfrm>
              <a:off x="6342060" y="4311253"/>
              <a:ext cx="374655"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KYC模型​​</a:t>
              </a:r>
            </a:p>
          </p:txBody>
        </p:sp>
        <p:sp>
          <p:nvSpPr>
            <p:cNvPr id="77" name="Rectangle 77"/>
            <p:cNvSpPr/>
            <p:nvPr/>
          </p:nvSpPr>
          <p:spPr>
            <a:xfrm>
              <a:off x="6851332" y="3089910"/>
              <a:ext cx="249555" cy="1177290"/>
            </a:xfrm>
            <a:prstGeom prst="rect">
              <a:avLst/>
            </a:prstGeom>
            <a:solidFill>
              <a:srgbClr val="7C1500"/>
            </a:solidFill>
            <a:ln>
              <a:noFill/>
            </a:ln>
          </p:spPr>
        </p:sp>
        <p:sp>
          <p:nvSpPr>
            <p:cNvPr id="78" name="Rectangle 78"/>
            <p:cNvSpPr/>
            <p:nvPr/>
          </p:nvSpPr>
          <p:spPr>
            <a:xfrm>
              <a:off x="6851332" y="2658428"/>
              <a:ext cx="249555" cy="431482"/>
            </a:xfrm>
            <a:prstGeom prst="rect">
              <a:avLst/>
            </a:prstGeom>
            <a:solidFill>
              <a:srgbClr val="B61F00"/>
            </a:solidFill>
            <a:ln>
              <a:noFill/>
            </a:ln>
          </p:spPr>
        </p:sp>
        <p:sp>
          <p:nvSpPr>
            <p:cNvPr id="79" name="Rectangle 79"/>
            <p:cNvSpPr/>
            <p:nvPr/>
          </p:nvSpPr>
          <p:spPr>
            <a:xfrm>
              <a:off x="6851332" y="2305050"/>
              <a:ext cx="249555" cy="353378"/>
            </a:xfrm>
            <a:prstGeom prst="rect">
              <a:avLst/>
            </a:prstGeom>
            <a:solidFill>
              <a:srgbClr val="F8A291"/>
            </a:solidFill>
            <a:ln>
              <a:noFill/>
            </a:ln>
          </p:spPr>
        </p:sp>
        <p:sp>
          <p:nvSpPr>
            <p:cNvPr id="80" name="TextBox 80"/>
            <p:cNvSpPr txBox="1"/>
            <p:nvPr/>
          </p:nvSpPr>
          <p:spPr>
            <a:xfrm>
              <a:off x="6773989" y="4311253"/>
              <a:ext cx="40424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金融工具​</a:t>
              </a:r>
              <a:br/>
              <a:r>
                <a:rPr lang="zh-CN" sz="560" dirty="0">
                  <a:solidFill>
                    <a:srgbClr val="666666"/>
                  </a:solidFill>
                  <a:latin typeface="+mn-lt"/>
                  <a:ea typeface="+mn-ea"/>
                  <a:cs typeface="+mn-cs"/>
                </a:rPr>
                <a:t>估值与定价​</a:t>
              </a:r>
            </a:p>
          </p:txBody>
        </p:sp>
        <p:sp>
          <p:nvSpPr>
            <p:cNvPr id="81" name="Rectangle 81"/>
            <p:cNvSpPr/>
            <p:nvPr/>
          </p:nvSpPr>
          <p:spPr>
            <a:xfrm>
              <a:off x="7297102" y="3658552"/>
              <a:ext cx="249555" cy="608648"/>
            </a:xfrm>
            <a:prstGeom prst="rect">
              <a:avLst/>
            </a:prstGeom>
            <a:solidFill>
              <a:srgbClr val="7C1500"/>
            </a:solidFill>
            <a:ln>
              <a:noFill/>
            </a:ln>
          </p:spPr>
        </p:sp>
        <p:sp>
          <p:nvSpPr>
            <p:cNvPr id="82" name="Rectangle 82"/>
            <p:cNvSpPr/>
            <p:nvPr/>
          </p:nvSpPr>
          <p:spPr>
            <a:xfrm>
              <a:off x="7297102" y="3050858"/>
              <a:ext cx="249555" cy="608648"/>
            </a:xfrm>
            <a:prstGeom prst="rect">
              <a:avLst/>
            </a:prstGeom>
            <a:solidFill>
              <a:srgbClr val="B61F00"/>
            </a:solidFill>
            <a:ln>
              <a:noFill/>
            </a:ln>
          </p:spPr>
        </p:sp>
        <p:sp>
          <p:nvSpPr>
            <p:cNvPr id="83" name="Rectangle 83"/>
            <p:cNvSpPr/>
            <p:nvPr/>
          </p:nvSpPr>
          <p:spPr>
            <a:xfrm>
              <a:off x="7297102" y="2305050"/>
              <a:ext cx="249555" cy="745808"/>
            </a:xfrm>
            <a:prstGeom prst="rect">
              <a:avLst/>
            </a:prstGeom>
            <a:solidFill>
              <a:srgbClr val="F8A291"/>
            </a:solidFill>
            <a:ln>
              <a:noFill/>
            </a:ln>
          </p:spPr>
        </p:sp>
        <p:sp>
          <p:nvSpPr>
            <p:cNvPr id="84" name="TextBox 84"/>
            <p:cNvSpPr txBox="1"/>
            <p:nvPr/>
          </p:nvSpPr>
          <p:spPr>
            <a:xfrm>
              <a:off x="7191312" y="4311253"/>
              <a:ext cx="461137"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会计模型​</a:t>
              </a:r>
              <a:br/>
              <a:r>
                <a:rPr lang="en-US" sz="560" dirty="0">
                  <a:solidFill>
                    <a:srgbClr val="666666"/>
                  </a:solidFill>
                  <a:latin typeface="+mn-lt"/>
                  <a:ea typeface="+mn-ea"/>
                  <a:cs typeface="+mn-cs"/>
                </a:rPr>
                <a:t>(FTP/IFRS)​​</a:t>
              </a:r>
            </a:p>
          </p:txBody>
        </p:sp>
        <p:sp>
          <p:nvSpPr>
            <p:cNvPr id="85" name="Rectangle 85"/>
            <p:cNvSpPr/>
            <p:nvPr/>
          </p:nvSpPr>
          <p:spPr>
            <a:xfrm>
              <a:off x="7743825" y="3952875"/>
              <a:ext cx="249555" cy="314325"/>
            </a:xfrm>
            <a:prstGeom prst="rect">
              <a:avLst/>
            </a:prstGeom>
            <a:solidFill>
              <a:srgbClr val="7C1500"/>
            </a:solidFill>
            <a:ln>
              <a:noFill/>
            </a:ln>
          </p:spPr>
        </p:sp>
        <p:sp>
          <p:nvSpPr>
            <p:cNvPr id="86" name="Rectangle 86"/>
            <p:cNvSpPr/>
            <p:nvPr/>
          </p:nvSpPr>
          <p:spPr>
            <a:xfrm>
              <a:off x="7743825" y="3404235"/>
              <a:ext cx="249555" cy="549592"/>
            </a:xfrm>
            <a:prstGeom prst="rect">
              <a:avLst/>
            </a:prstGeom>
            <a:solidFill>
              <a:srgbClr val="B61F00"/>
            </a:solidFill>
            <a:ln>
              <a:noFill/>
            </a:ln>
          </p:spPr>
        </p:sp>
        <p:sp>
          <p:nvSpPr>
            <p:cNvPr id="87" name="Rectangle 87"/>
            <p:cNvSpPr/>
            <p:nvPr/>
          </p:nvSpPr>
          <p:spPr>
            <a:xfrm>
              <a:off x="7743825" y="2305050"/>
              <a:ext cx="249555" cy="1099185"/>
            </a:xfrm>
            <a:prstGeom prst="rect">
              <a:avLst/>
            </a:prstGeom>
            <a:solidFill>
              <a:srgbClr val="F8A291"/>
            </a:solidFill>
            <a:ln>
              <a:noFill/>
            </a:ln>
          </p:spPr>
        </p:sp>
        <p:sp>
          <p:nvSpPr>
            <p:cNvPr id="88" name="TextBox 88"/>
            <p:cNvSpPr txBox="1"/>
            <p:nvPr/>
          </p:nvSpPr>
          <p:spPr>
            <a:xfrm>
              <a:off x="7702042" y="4311253"/>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业务决策​</a:t>
              </a:r>
              <a:br/>
              <a:r>
                <a:rPr lang="zh-CN" sz="560" dirty="0">
                  <a:solidFill>
                    <a:srgbClr val="666666"/>
                  </a:solidFill>
                  <a:latin typeface="+mn-lt"/>
                  <a:ea typeface="+mn-ea"/>
                  <a:cs typeface="+mn-cs"/>
                </a:rPr>
                <a:t>制定​</a:t>
              </a:r>
            </a:p>
          </p:txBody>
        </p:sp>
        <p:sp>
          <p:nvSpPr>
            <p:cNvPr id="89" name="Rectangle 89"/>
            <p:cNvSpPr/>
            <p:nvPr/>
          </p:nvSpPr>
          <p:spPr>
            <a:xfrm>
              <a:off x="8189595" y="4070985"/>
              <a:ext cx="249555" cy="196215"/>
            </a:xfrm>
            <a:prstGeom prst="rect">
              <a:avLst/>
            </a:prstGeom>
            <a:solidFill>
              <a:srgbClr val="7C1500"/>
            </a:solidFill>
            <a:ln>
              <a:noFill/>
            </a:ln>
          </p:spPr>
        </p:sp>
        <p:sp>
          <p:nvSpPr>
            <p:cNvPr id="90" name="Rectangle 90"/>
            <p:cNvSpPr/>
            <p:nvPr/>
          </p:nvSpPr>
          <p:spPr>
            <a:xfrm>
              <a:off x="8189595" y="3600450"/>
              <a:ext cx="249555" cy="470535"/>
            </a:xfrm>
            <a:prstGeom prst="rect">
              <a:avLst/>
            </a:prstGeom>
            <a:solidFill>
              <a:srgbClr val="B61F00"/>
            </a:solidFill>
            <a:ln>
              <a:noFill/>
            </a:ln>
          </p:spPr>
        </p:sp>
        <p:sp>
          <p:nvSpPr>
            <p:cNvPr id="91" name="Rectangle 91"/>
            <p:cNvSpPr/>
            <p:nvPr/>
          </p:nvSpPr>
          <p:spPr>
            <a:xfrm>
              <a:off x="8189595" y="2305050"/>
              <a:ext cx="249555" cy="1295400"/>
            </a:xfrm>
            <a:prstGeom prst="rect">
              <a:avLst/>
            </a:prstGeom>
            <a:solidFill>
              <a:srgbClr val="F8A291"/>
            </a:solidFill>
            <a:ln>
              <a:noFill/>
            </a:ln>
          </p:spPr>
        </p:sp>
        <p:sp>
          <p:nvSpPr>
            <p:cNvPr id="92" name="TextBox 92"/>
            <p:cNvSpPr txBox="1"/>
            <p:nvPr/>
          </p:nvSpPr>
          <p:spPr>
            <a:xfrm>
              <a:off x="8138104" y="43112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营销模型​</a:t>
              </a:r>
            </a:p>
          </p:txBody>
        </p:sp>
        <p:sp>
          <p:nvSpPr>
            <p:cNvPr id="93" name="Rectangle 93"/>
            <p:cNvSpPr/>
            <p:nvPr/>
          </p:nvSpPr>
          <p:spPr>
            <a:xfrm>
              <a:off x="8635365" y="4090988"/>
              <a:ext cx="249555" cy="176212"/>
            </a:xfrm>
            <a:prstGeom prst="rect">
              <a:avLst/>
            </a:prstGeom>
            <a:solidFill>
              <a:srgbClr val="7C1500"/>
            </a:solidFill>
            <a:ln>
              <a:noFill/>
            </a:ln>
          </p:spPr>
        </p:sp>
        <p:sp>
          <p:nvSpPr>
            <p:cNvPr id="94" name="Rectangle 94"/>
            <p:cNvSpPr/>
            <p:nvPr/>
          </p:nvSpPr>
          <p:spPr>
            <a:xfrm>
              <a:off x="8635365" y="3756660"/>
              <a:ext cx="249555" cy="333375"/>
            </a:xfrm>
            <a:prstGeom prst="rect">
              <a:avLst/>
            </a:prstGeom>
            <a:solidFill>
              <a:srgbClr val="B61F00"/>
            </a:solidFill>
            <a:ln>
              <a:noFill/>
            </a:ln>
          </p:spPr>
        </p:sp>
        <p:sp>
          <p:nvSpPr>
            <p:cNvPr id="95" name="Rectangle 95"/>
            <p:cNvSpPr/>
            <p:nvPr/>
          </p:nvSpPr>
          <p:spPr>
            <a:xfrm>
              <a:off x="8635365" y="2305050"/>
              <a:ext cx="249555" cy="1451610"/>
            </a:xfrm>
            <a:prstGeom prst="rect">
              <a:avLst/>
            </a:prstGeom>
            <a:solidFill>
              <a:srgbClr val="F8A291"/>
            </a:solidFill>
            <a:ln>
              <a:noFill/>
            </a:ln>
          </p:spPr>
        </p:sp>
        <p:sp>
          <p:nvSpPr>
            <p:cNvPr id="96" name="TextBox 96"/>
            <p:cNvSpPr txBox="1"/>
            <p:nvPr/>
          </p:nvSpPr>
          <p:spPr>
            <a:xfrm>
              <a:off x="8594720" y="4311253"/>
              <a:ext cx="330845"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HR模型​​</a:t>
              </a:r>
            </a:p>
          </p:txBody>
        </p:sp>
        <p:sp>
          <p:nvSpPr>
            <p:cNvPr id="97" name="Rectangle 97"/>
            <p:cNvSpPr/>
            <p:nvPr/>
          </p:nvSpPr>
          <p:spPr>
            <a:xfrm>
              <a:off x="9082088" y="4130040"/>
              <a:ext cx="249555" cy="137160"/>
            </a:xfrm>
            <a:prstGeom prst="rect">
              <a:avLst/>
            </a:prstGeom>
            <a:solidFill>
              <a:srgbClr val="7C1500"/>
            </a:solidFill>
            <a:ln>
              <a:noFill/>
            </a:ln>
          </p:spPr>
        </p:sp>
        <p:sp>
          <p:nvSpPr>
            <p:cNvPr id="98" name="Rectangle 98"/>
            <p:cNvSpPr/>
            <p:nvPr/>
          </p:nvSpPr>
          <p:spPr>
            <a:xfrm>
              <a:off x="9082088" y="3796665"/>
              <a:ext cx="249555" cy="333375"/>
            </a:xfrm>
            <a:prstGeom prst="rect">
              <a:avLst/>
            </a:prstGeom>
            <a:solidFill>
              <a:srgbClr val="B61F00"/>
            </a:solidFill>
            <a:ln>
              <a:noFill/>
            </a:ln>
          </p:spPr>
        </p:sp>
        <p:sp>
          <p:nvSpPr>
            <p:cNvPr id="99" name="Rectangle 99"/>
            <p:cNvSpPr/>
            <p:nvPr/>
          </p:nvSpPr>
          <p:spPr>
            <a:xfrm>
              <a:off x="9082088" y="2305050"/>
              <a:ext cx="249555" cy="1491615"/>
            </a:xfrm>
            <a:prstGeom prst="rect">
              <a:avLst/>
            </a:prstGeom>
            <a:solidFill>
              <a:srgbClr val="F8A291"/>
            </a:solidFill>
            <a:ln>
              <a:noFill/>
            </a:ln>
          </p:spPr>
        </p:sp>
        <p:sp>
          <p:nvSpPr>
            <p:cNvPr id="100" name="TextBox 100"/>
            <p:cNvSpPr txBox="1"/>
            <p:nvPr/>
          </p:nvSpPr>
          <p:spPr>
            <a:xfrm>
              <a:off x="9030597" y="4311253"/>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网络风险​</a:t>
              </a:r>
            </a:p>
          </p:txBody>
        </p:sp>
        <p:sp>
          <p:nvSpPr>
            <p:cNvPr id="101" name="Line 101"/>
            <p:cNvSpPr/>
            <p:nvPr/>
          </p:nvSpPr>
          <p:spPr>
            <a:xfrm>
              <a:off x="952500" y="4267200"/>
              <a:ext cx="8477250" cy="9525"/>
            </a:xfrm>
            <a:custGeom>
              <a:avLst/>
              <a:gdLst/>
              <a:ahLst/>
              <a:cxnLst/>
              <a:rect l="l" t="t" r="r" b="b"/>
              <a:pathLst>
                <a:path w="8477250" h="9525">
                  <a:moveTo>
                    <a:pt x="0" y="0"/>
                  </a:moveTo>
                  <a:lnTo>
                    <a:pt x="8477250" y="0"/>
                  </a:lnTo>
                </a:path>
              </a:pathLst>
            </a:custGeom>
            <a:noFill/>
            <a:ln w="9525">
              <a:solidFill>
                <a:srgbClr val="666666"/>
              </a:solidFill>
            </a:ln>
          </p:spPr>
        </p:sp>
        <p:sp>
          <p:nvSpPr>
            <p:cNvPr id="102" name="Line 102"/>
            <p:cNvSpPr/>
            <p:nvPr/>
          </p:nvSpPr>
          <p:spPr>
            <a:xfrm>
              <a:off x="1005840" y="47720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3" name="Line 103"/>
            <p:cNvSpPr/>
            <p:nvPr/>
          </p:nvSpPr>
          <p:spPr>
            <a:xfrm>
              <a:off x="1005840" y="4810125"/>
              <a:ext cx="1677352" cy="9525"/>
            </a:xfrm>
            <a:custGeom>
              <a:avLst/>
              <a:gdLst/>
              <a:ahLst/>
              <a:cxnLst/>
              <a:rect l="l" t="t" r="r" b="b"/>
              <a:pathLst>
                <a:path w="1677352" h="9525">
                  <a:moveTo>
                    <a:pt x="0" y="0"/>
                  </a:moveTo>
                  <a:lnTo>
                    <a:pt x="1677352" y="0"/>
                  </a:lnTo>
                </a:path>
              </a:pathLst>
            </a:custGeom>
            <a:noFill/>
            <a:ln w="9525">
              <a:solidFill>
                <a:srgbClr val="9A9A9A"/>
              </a:solidFill>
            </a:ln>
          </p:spPr>
        </p:sp>
        <p:sp>
          <p:nvSpPr>
            <p:cNvPr id="104" name="Line 104"/>
            <p:cNvSpPr/>
            <p:nvPr/>
          </p:nvSpPr>
          <p:spPr>
            <a:xfrm>
              <a:off x="2683192" y="47720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5" name="TextBox 105"/>
            <p:cNvSpPr txBox="1"/>
            <p:nvPr/>
          </p:nvSpPr>
          <p:spPr>
            <a:xfrm>
              <a:off x="1133325" y="4850130"/>
              <a:ext cx="1423035"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金融风险模型（pillar 1资本与会计）​​</a:t>
              </a:r>
            </a:p>
          </p:txBody>
        </p:sp>
        <p:sp>
          <p:nvSpPr>
            <p:cNvPr id="106" name="Line 106"/>
            <p:cNvSpPr/>
            <p:nvPr/>
          </p:nvSpPr>
          <p:spPr>
            <a:xfrm>
              <a:off x="2790825" y="47720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7" name="Line 107"/>
            <p:cNvSpPr/>
            <p:nvPr/>
          </p:nvSpPr>
          <p:spPr>
            <a:xfrm>
              <a:off x="2790825" y="4810125"/>
              <a:ext cx="3015615" cy="9525"/>
            </a:xfrm>
            <a:custGeom>
              <a:avLst/>
              <a:gdLst/>
              <a:ahLst/>
              <a:cxnLst/>
              <a:rect l="l" t="t" r="r" b="b"/>
              <a:pathLst>
                <a:path w="3015615" h="9525">
                  <a:moveTo>
                    <a:pt x="0" y="0"/>
                  </a:moveTo>
                  <a:lnTo>
                    <a:pt x="3015615" y="0"/>
                  </a:lnTo>
                </a:path>
              </a:pathLst>
            </a:custGeom>
            <a:noFill/>
            <a:ln w="9525">
              <a:solidFill>
                <a:srgbClr val="9A9A9A"/>
              </a:solidFill>
            </a:ln>
          </p:spPr>
        </p:sp>
        <p:sp>
          <p:nvSpPr>
            <p:cNvPr id="108" name="Line 108"/>
            <p:cNvSpPr/>
            <p:nvPr/>
          </p:nvSpPr>
          <p:spPr>
            <a:xfrm>
              <a:off x="5806440" y="47720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9" name="TextBox 109"/>
            <p:cNvSpPr txBox="1"/>
            <p:nvPr/>
          </p:nvSpPr>
          <p:spPr>
            <a:xfrm>
              <a:off x="3546879" y="4850130"/>
              <a:ext cx="1503807"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金融风险模型（pillar 2资本与流动性）​​</a:t>
              </a:r>
            </a:p>
          </p:txBody>
        </p:sp>
        <p:sp>
          <p:nvSpPr>
            <p:cNvPr id="110" name="Line 110"/>
            <p:cNvSpPr/>
            <p:nvPr/>
          </p:nvSpPr>
          <p:spPr>
            <a:xfrm>
              <a:off x="5914072" y="47720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1" name="Line 111"/>
            <p:cNvSpPr/>
            <p:nvPr/>
          </p:nvSpPr>
          <p:spPr>
            <a:xfrm>
              <a:off x="5914072" y="4810125"/>
              <a:ext cx="784860" cy="9525"/>
            </a:xfrm>
            <a:custGeom>
              <a:avLst/>
              <a:gdLst/>
              <a:ahLst/>
              <a:cxnLst/>
              <a:rect l="l" t="t" r="r" b="b"/>
              <a:pathLst>
                <a:path w="784860" h="9525">
                  <a:moveTo>
                    <a:pt x="0" y="0"/>
                  </a:moveTo>
                  <a:lnTo>
                    <a:pt x="784860" y="0"/>
                  </a:lnTo>
                </a:path>
              </a:pathLst>
            </a:custGeom>
            <a:noFill/>
            <a:ln w="9525">
              <a:solidFill>
                <a:srgbClr val="9A9A9A"/>
              </a:solidFill>
            </a:ln>
          </p:spPr>
        </p:sp>
        <p:sp>
          <p:nvSpPr>
            <p:cNvPr id="112" name="Line 112"/>
            <p:cNvSpPr/>
            <p:nvPr/>
          </p:nvSpPr>
          <p:spPr>
            <a:xfrm>
              <a:off x="6698932" y="47720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3" name="TextBox 113"/>
            <p:cNvSpPr txBox="1"/>
            <p:nvPr/>
          </p:nvSpPr>
          <p:spPr>
            <a:xfrm>
              <a:off x="6118034" y="4850130"/>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合规模型​</a:t>
              </a:r>
            </a:p>
          </p:txBody>
        </p:sp>
        <p:sp>
          <p:nvSpPr>
            <p:cNvPr id="114" name="Line 114"/>
            <p:cNvSpPr/>
            <p:nvPr/>
          </p:nvSpPr>
          <p:spPr>
            <a:xfrm>
              <a:off x="6806565" y="47720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5" name="Line 115"/>
            <p:cNvSpPr/>
            <p:nvPr/>
          </p:nvSpPr>
          <p:spPr>
            <a:xfrm>
              <a:off x="6806565" y="4810125"/>
              <a:ext cx="2569845" cy="9525"/>
            </a:xfrm>
            <a:custGeom>
              <a:avLst/>
              <a:gdLst/>
              <a:ahLst/>
              <a:cxnLst/>
              <a:rect l="l" t="t" r="r" b="b"/>
              <a:pathLst>
                <a:path w="2569845" h="9525">
                  <a:moveTo>
                    <a:pt x="0" y="0"/>
                  </a:moveTo>
                  <a:lnTo>
                    <a:pt x="2569845" y="0"/>
                  </a:lnTo>
                </a:path>
              </a:pathLst>
            </a:custGeom>
            <a:noFill/>
            <a:ln w="9525">
              <a:solidFill>
                <a:srgbClr val="9A9A9A"/>
              </a:solidFill>
            </a:ln>
          </p:spPr>
        </p:sp>
        <p:sp>
          <p:nvSpPr>
            <p:cNvPr id="116" name="Line 116"/>
            <p:cNvSpPr/>
            <p:nvPr/>
          </p:nvSpPr>
          <p:spPr>
            <a:xfrm>
              <a:off x="9376410" y="4772025"/>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7" name="TextBox 117"/>
            <p:cNvSpPr txBox="1"/>
            <p:nvPr/>
          </p:nvSpPr>
          <p:spPr>
            <a:xfrm>
              <a:off x="7902718" y="4850130"/>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其他模型​</a:t>
              </a:r>
            </a:p>
          </p:txBody>
        </p:sp>
        <p:sp>
          <p:nvSpPr>
            <p:cNvPr id="118" name="Rectangle 118"/>
            <p:cNvSpPr/>
            <p:nvPr/>
          </p:nvSpPr>
          <p:spPr>
            <a:xfrm>
              <a:off x="571500" y="5019675"/>
              <a:ext cx="95250" cy="95250"/>
            </a:xfrm>
            <a:prstGeom prst="rect">
              <a:avLst/>
            </a:prstGeom>
            <a:solidFill>
              <a:srgbClr val="7C1500"/>
            </a:solidFill>
            <a:ln>
              <a:noFill/>
            </a:ln>
          </p:spPr>
        </p:sp>
        <p:sp>
          <p:nvSpPr>
            <p:cNvPr id="119" name="TextBox 119"/>
            <p:cNvSpPr txBox="1"/>
            <p:nvPr/>
          </p:nvSpPr>
          <p:spPr>
            <a:xfrm>
              <a:off x="709612" y="5036582"/>
              <a:ext cx="654715"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完整Complete​​</a:t>
              </a:r>
            </a:p>
          </p:txBody>
        </p:sp>
        <p:sp>
          <p:nvSpPr>
            <p:cNvPr id="120" name="Rectangle 120"/>
            <p:cNvSpPr/>
            <p:nvPr/>
          </p:nvSpPr>
          <p:spPr>
            <a:xfrm>
              <a:off x="1451705" y="5019675"/>
              <a:ext cx="95250" cy="95250"/>
            </a:xfrm>
            <a:prstGeom prst="rect">
              <a:avLst/>
            </a:prstGeom>
            <a:solidFill>
              <a:srgbClr val="B61F00"/>
            </a:solidFill>
            <a:ln>
              <a:noFill/>
            </a:ln>
          </p:spPr>
        </p:sp>
        <p:sp>
          <p:nvSpPr>
            <p:cNvPr id="121" name="TextBox 121"/>
            <p:cNvSpPr txBox="1"/>
            <p:nvPr/>
          </p:nvSpPr>
          <p:spPr>
            <a:xfrm>
              <a:off x="1589818" y="5036582"/>
              <a:ext cx="813856"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不完整Incomplete​​</a:t>
              </a:r>
            </a:p>
          </p:txBody>
        </p:sp>
        <p:sp>
          <p:nvSpPr>
            <p:cNvPr id="122" name="Rectangle 122"/>
            <p:cNvSpPr/>
            <p:nvPr/>
          </p:nvSpPr>
          <p:spPr>
            <a:xfrm>
              <a:off x="2481691" y="5019675"/>
              <a:ext cx="95250" cy="95250"/>
            </a:xfrm>
            <a:prstGeom prst="rect">
              <a:avLst/>
            </a:prstGeom>
            <a:solidFill>
              <a:srgbClr val="F8A291"/>
            </a:solidFill>
            <a:ln>
              <a:noFill/>
            </a:ln>
          </p:spPr>
        </p:sp>
        <p:sp>
          <p:nvSpPr>
            <p:cNvPr id="123" name="TextBox 123"/>
            <p:cNvSpPr txBox="1"/>
            <p:nvPr/>
          </p:nvSpPr>
          <p:spPr>
            <a:xfrm>
              <a:off x="2619804" y="5036582"/>
              <a:ext cx="1606584"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不适用/未知Not applicable/unknown​​​</a:t>
              </a:r>
            </a:p>
          </p:txBody>
        </p:sp>
      </p:grpSp>
      <p:grpSp>
        <p:nvGrpSpPr>
          <p:cNvPr id="158" name="nav"/>
          <p:cNvGrpSpPr/>
          <p:nvPr/>
        </p:nvGrpSpPr>
        <p:grpSpPr>
          <a:xfrm>
            <a:off x="9834562" y="0"/>
            <a:ext cx="2357438" cy="6858000"/>
            <a:chOff x="9834562" y="0"/>
            <a:chExt cx="2357438" cy="6858000"/>
          </a:xfrm>
        </p:grpSpPr>
        <p:sp>
          <p:nvSpPr>
            <p:cNvPr id="125" name="Line 125"/>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26" name="Rectangle 126"/>
            <p:cNvSpPr/>
            <p:nvPr/>
          </p:nvSpPr>
          <p:spPr>
            <a:xfrm>
              <a:off x="9839325" y="476250"/>
              <a:ext cx="2352675" cy="514350"/>
            </a:xfrm>
            <a:prstGeom prst="rect">
              <a:avLst/>
            </a:prstGeom>
            <a:solidFill>
              <a:srgbClr val="F3F3F3"/>
            </a:solidFill>
            <a:ln>
              <a:noFill/>
            </a:ln>
          </p:spPr>
        </p:sp>
        <p:sp>
          <p:nvSpPr>
            <p:cNvPr id="127" name="TextBox 127"/>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28" name="Rectangle 128"/>
            <p:cNvSpPr/>
            <p:nvPr/>
          </p:nvSpPr>
          <p:spPr>
            <a:xfrm>
              <a:off x="9839325" y="1000125"/>
              <a:ext cx="2352675" cy="514350"/>
            </a:xfrm>
            <a:prstGeom prst="rect">
              <a:avLst/>
            </a:prstGeom>
            <a:solidFill>
              <a:srgbClr val="F3F3F3"/>
            </a:solidFill>
            <a:ln>
              <a:noFill/>
            </a:ln>
          </p:spPr>
        </p:sp>
        <p:sp>
          <p:nvSpPr>
            <p:cNvPr id="129" name="TextBox 129"/>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30" name="Rectangle 130"/>
            <p:cNvSpPr/>
            <p:nvPr/>
          </p:nvSpPr>
          <p:spPr>
            <a:xfrm>
              <a:off x="9839325" y="1524000"/>
              <a:ext cx="2352675" cy="514350"/>
            </a:xfrm>
            <a:prstGeom prst="rect">
              <a:avLst/>
            </a:prstGeom>
            <a:solidFill>
              <a:srgbClr val="F3F3F3"/>
            </a:solidFill>
            <a:ln>
              <a:noFill/>
            </a:ln>
          </p:spPr>
        </p:sp>
        <p:sp>
          <p:nvSpPr>
            <p:cNvPr id="131" name="TextBox 131"/>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32" name="Rectangle 132"/>
            <p:cNvSpPr/>
            <p:nvPr/>
          </p:nvSpPr>
          <p:spPr>
            <a:xfrm>
              <a:off x="9839325" y="2047875"/>
              <a:ext cx="2352675" cy="514350"/>
            </a:xfrm>
            <a:prstGeom prst="rect">
              <a:avLst/>
            </a:prstGeom>
            <a:solidFill>
              <a:srgbClr val="F3F3F3"/>
            </a:solidFill>
            <a:ln>
              <a:noFill/>
            </a:ln>
          </p:spPr>
        </p:sp>
        <p:sp>
          <p:nvSpPr>
            <p:cNvPr id="133" name="TextBox 133"/>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34" name="Rectangle 134"/>
            <p:cNvSpPr/>
            <p:nvPr/>
          </p:nvSpPr>
          <p:spPr>
            <a:xfrm>
              <a:off x="9839325" y="2571750"/>
              <a:ext cx="2352675" cy="514350"/>
            </a:xfrm>
            <a:prstGeom prst="rect">
              <a:avLst/>
            </a:prstGeom>
            <a:solidFill>
              <a:srgbClr val="F8A291"/>
            </a:solidFill>
            <a:ln>
              <a:noFill/>
            </a:ln>
          </p:spPr>
        </p:sp>
        <p:sp>
          <p:nvSpPr>
            <p:cNvPr id="135" name="TextBox 135"/>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b="1" dirty="0">
                  <a:solidFill>
                    <a:srgbClr val="1A1A1A"/>
                  </a:solidFill>
                  <a:latin typeface="+mn-lt"/>
                  <a:ea typeface="+mn-ea"/>
                  <a:cs typeface="+mn-cs"/>
                </a:rPr>
                <a:t>模型版图与清单：</a:t>
              </a:r>
              <a:br/>
              <a:r>
                <a:rPr lang="zh-CN" sz="820" b="1" dirty="0">
                  <a:solidFill>
                    <a:srgbClr val="1A1A1A"/>
                  </a:solidFill>
                  <a:latin typeface="+mn-lt"/>
                  <a:ea typeface="+mn-ea"/>
                  <a:cs typeface="+mn-cs"/>
                </a:rPr>
                <a:t>高效模型风险管理的基础</a:t>
              </a:r>
            </a:p>
          </p:txBody>
        </p:sp>
        <p:sp>
          <p:nvSpPr>
            <p:cNvPr id="136" name="Rectangle 136"/>
            <p:cNvSpPr/>
            <p:nvPr/>
          </p:nvSpPr>
          <p:spPr>
            <a:xfrm>
              <a:off x="9839325" y="3095625"/>
              <a:ext cx="2352675" cy="514350"/>
            </a:xfrm>
            <a:prstGeom prst="rect">
              <a:avLst/>
            </a:prstGeom>
            <a:solidFill>
              <a:srgbClr val="F3F3F3"/>
            </a:solidFill>
            <a:ln>
              <a:noFill/>
            </a:ln>
          </p:spPr>
        </p:sp>
        <p:sp>
          <p:nvSpPr>
            <p:cNvPr id="137" name="TextBox 137"/>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38" name="Rectangle 138"/>
            <p:cNvSpPr/>
            <p:nvPr/>
          </p:nvSpPr>
          <p:spPr>
            <a:xfrm>
              <a:off x="9839325" y="3619500"/>
              <a:ext cx="2352675" cy="514350"/>
            </a:xfrm>
            <a:prstGeom prst="rect">
              <a:avLst/>
            </a:prstGeom>
            <a:solidFill>
              <a:srgbClr val="F3F3F3"/>
            </a:solidFill>
            <a:ln>
              <a:noFill/>
            </a:ln>
          </p:spPr>
        </p:sp>
        <p:sp>
          <p:nvSpPr>
            <p:cNvPr id="139" name="TextBox 139"/>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40" name="Rectangle 140"/>
            <p:cNvSpPr/>
            <p:nvPr/>
          </p:nvSpPr>
          <p:spPr>
            <a:xfrm>
              <a:off x="9839325" y="4143375"/>
              <a:ext cx="2352675" cy="514350"/>
            </a:xfrm>
            <a:prstGeom prst="rect">
              <a:avLst/>
            </a:prstGeom>
            <a:solidFill>
              <a:srgbClr val="F3F3F3"/>
            </a:solidFill>
            <a:ln>
              <a:noFill/>
            </a:ln>
          </p:spPr>
        </p:sp>
        <p:sp>
          <p:nvSpPr>
            <p:cNvPr id="141" name="TextBox 141"/>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42" name="Rectangle 142"/>
            <p:cNvSpPr/>
            <p:nvPr/>
          </p:nvSpPr>
          <p:spPr>
            <a:xfrm>
              <a:off x="9839325" y="4667250"/>
              <a:ext cx="2352675" cy="514350"/>
            </a:xfrm>
            <a:prstGeom prst="rect">
              <a:avLst/>
            </a:prstGeom>
            <a:solidFill>
              <a:srgbClr val="F3F3F3"/>
            </a:solidFill>
            <a:ln>
              <a:noFill/>
            </a:ln>
          </p:spPr>
        </p:sp>
        <p:sp>
          <p:nvSpPr>
            <p:cNvPr id="143" name="TextBox 143"/>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44" name="Rectangle 144"/>
            <p:cNvSpPr/>
            <p:nvPr/>
          </p:nvSpPr>
          <p:spPr>
            <a:xfrm>
              <a:off x="9839325" y="5191125"/>
              <a:ext cx="2352675" cy="514350"/>
            </a:xfrm>
            <a:prstGeom prst="rect">
              <a:avLst/>
            </a:prstGeom>
            <a:solidFill>
              <a:srgbClr val="F3F3F3"/>
            </a:solidFill>
            <a:ln>
              <a:noFill/>
            </a:ln>
          </p:spPr>
        </p:sp>
        <p:sp>
          <p:nvSpPr>
            <p:cNvPr id="145" name="TextBox 145"/>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46" name="Rectangle 146"/>
            <p:cNvSpPr/>
            <p:nvPr/>
          </p:nvSpPr>
          <p:spPr>
            <a:xfrm>
              <a:off x="9839325" y="5715000"/>
              <a:ext cx="2352675" cy="514350"/>
            </a:xfrm>
            <a:prstGeom prst="rect">
              <a:avLst/>
            </a:prstGeom>
            <a:solidFill>
              <a:srgbClr val="F3F3F3"/>
            </a:solidFill>
            <a:ln>
              <a:noFill/>
            </a:ln>
          </p:spPr>
        </p:sp>
        <p:sp>
          <p:nvSpPr>
            <p:cNvPr id="147" name="TextBox 147"/>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48" name="Ellipse 148"/>
            <p:cNvSpPr/>
            <p:nvPr/>
          </p:nvSpPr>
          <p:spPr>
            <a:xfrm>
              <a:off x="10020300" y="6372225"/>
              <a:ext cx="266700" cy="266700"/>
            </a:xfrm>
            <a:prstGeom prst="ellipse">
              <a:avLst/>
            </a:prstGeom>
            <a:solidFill>
              <a:srgbClr val="D7D8D6"/>
            </a:solidFill>
            <a:ln>
              <a:noFill/>
            </a:ln>
          </p:spPr>
        </p:sp>
        <p:sp>
          <p:nvSpPr>
            <p:cNvPr id="149" name="Freeform 149"/>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50" name="Ellipse 150"/>
            <p:cNvSpPr/>
            <p:nvPr/>
          </p:nvSpPr>
          <p:spPr>
            <a:xfrm>
              <a:off x="10420350" y="6372225"/>
              <a:ext cx="266700" cy="266700"/>
            </a:xfrm>
            <a:prstGeom prst="ellipse">
              <a:avLst/>
            </a:prstGeom>
            <a:solidFill>
              <a:srgbClr val="D7D8D6"/>
            </a:solidFill>
            <a:ln>
              <a:noFill/>
            </a:ln>
          </p:spPr>
        </p:sp>
        <p:grpSp>
          <p:nvGrpSpPr>
            <p:cNvPr id="154" name="Group 154"/>
            <p:cNvGrpSpPr/>
            <p:nvPr/>
          </p:nvGrpSpPr>
          <p:grpSpPr>
            <a:xfrm>
              <a:off x="10489406" y="6441281"/>
              <a:ext cx="128588" cy="128588"/>
              <a:chOff x="10489406" y="6441281"/>
              <a:chExt cx="128588" cy="128588"/>
            </a:xfrm>
          </p:grpSpPr>
          <p:sp>
            <p:nvSpPr>
              <p:cNvPr id="151" name="Freeform 151"/>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52" name="Freeform 152"/>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53" name="Freeform 153"/>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55" name="Ellipse 155"/>
            <p:cNvSpPr/>
            <p:nvPr/>
          </p:nvSpPr>
          <p:spPr>
            <a:xfrm>
              <a:off x="10820400" y="6372225"/>
              <a:ext cx="266700" cy="266700"/>
            </a:xfrm>
            <a:prstGeom prst="ellipse">
              <a:avLst/>
            </a:prstGeom>
            <a:solidFill>
              <a:srgbClr val="D7D8D6"/>
            </a:solidFill>
            <a:ln>
              <a:noFill/>
            </a:ln>
          </p:spPr>
        </p:sp>
        <p:sp>
          <p:nvSpPr>
            <p:cNvPr id="156" name="Freeform 156"/>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57" name="TextBox 157"/>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14</a:t>
              </a:r>
            </a:p>
          </p:txBody>
        </p:sp>
      </p:gr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8A291"/>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15</a:t>
              </a:r>
            </a:p>
          </p:txBody>
        </p:sp>
        <p:sp>
          <p:nvSpPr>
            <p:cNvPr id="4" name="TextBox 4"/>
            <p:cNvSpPr txBox="1"/>
            <p:nvPr/>
          </p:nvSpPr>
          <p:spPr>
            <a:xfrm>
              <a:off x="942594" y="151448"/>
              <a:ext cx="489524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模型版图与清单：</a:t>
              </a:r>
              <a:r>
                <a:rPr lang="zh-CN" sz="1950" b="1" dirty="0">
                  <a:solidFill>
                    <a:srgbClr val="B61F00"/>
                  </a:solidFill>
                  <a:latin typeface="+mj-lt"/>
                  <a:ea typeface="+mj-ea"/>
                  <a:cs typeface="+mj-cs"/>
                </a:rPr>
                <a:t>模型清单规模与信息</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F8A291"/>
              </a:solidFill>
            </a:ln>
          </p:spPr>
        </p:sp>
      </p:grpSp>
      <p:grpSp>
        <p:nvGrpSpPr>
          <p:cNvPr id="13" name="col-1"/>
          <p:cNvGrpSpPr/>
          <p:nvPr/>
        </p:nvGrpSpPr>
        <p:grpSpPr>
          <a:xfrm>
            <a:off x="566547" y="847249"/>
            <a:ext cx="2358581" cy="3708559"/>
            <a:chOff x="566547" y="847249"/>
            <a:chExt cx="2358581" cy="3708559"/>
          </a:xfrm>
        </p:grpSpPr>
        <p:sp>
          <p:nvSpPr>
            <p:cNvPr id="7" name="TextBox 7"/>
            <p:cNvSpPr txBox="1"/>
            <p:nvPr/>
          </p:nvSpPr>
          <p:spPr>
            <a:xfrm>
              <a:off x="566547" y="847249"/>
              <a:ext cx="877660" cy="190690"/>
            </a:xfrm>
            <a:prstGeom prst="rect">
              <a:avLst/>
            </a:prstGeom>
            <a:noFill/>
            <a:ln>
              <a:noFill/>
            </a:ln>
          </p:spPr>
          <p:txBody>
            <a:bodyPr wrap="none" lIns="0" tIns="0" rIns="0" bIns="0" anchor="t" anchorCtr="0">
              <a:spAutoFit/>
            </a:bodyPr>
            <a:lstStyle/>
            <a:p>
              <a:pPr algn="l"/>
              <a:r>
                <a:rPr lang="zh-CN" sz="980" b="1" dirty="0">
                  <a:solidFill>
                    <a:srgbClr val="B61F00"/>
                  </a:solidFill>
                  <a:latin typeface="+mn-lt"/>
                  <a:ea typeface="+mn-ea"/>
                  <a:cs typeface="+mn-cs"/>
                </a:rPr>
                <a:t>模型清单规模​</a:t>
              </a:r>
            </a:p>
          </p:txBody>
        </p:sp>
        <p:sp>
          <p:nvSpPr>
            <p:cNvPr id="8" name="TextBox 8"/>
            <p:cNvSpPr txBox="1"/>
            <p:nvPr/>
          </p:nvSpPr>
          <p:spPr>
            <a:xfrm>
              <a:off x="566738" y="1012984"/>
              <a:ext cx="973734"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Model inventory size​</a:t>
              </a:r>
            </a:p>
          </p:txBody>
        </p:sp>
        <p:sp>
          <p:nvSpPr>
            <p:cNvPr id="9" name="TextBox 9"/>
            <p:cNvSpPr txBox="1"/>
            <p:nvPr/>
          </p:nvSpPr>
          <p:spPr>
            <a:xfrm>
              <a:off x="566738" y="1169670"/>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模型清单中的模型数量处于持续变化之中。模​</a:t>
              </a:r>
              <a:br/>
              <a:r>
                <a:rPr lang="zh-CN" sz="900" dirty="0">
                  <a:solidFill>
                    <a:srgbClr val="333333"/>
                  </a:solidFill>
                  <a:latin typeface="+mn-lt"/>
                  <a:ea typeface="+mn-ea"/>
                  <a:cs typeface="+mn-cs"/>
                </a:rPr>
                <a:t>型清单的范围扩展，是银行表示未来几年将持​</a:t>
              </a:r>
              <a:br/>
              <a:r>
                <a:rPr lang="zh-CN" sz="900" dirty="0">
                  <a:solidFill>
                    <a:srgbClr val="333333"/>
                  </a:solidFill>
                  <a:latin typeface="+mn-lt"/>
                  <a:ea typeface="+mn-ea"/>
                  <a:cs typeface="+mn-cs"/>
                </a:rPr>
                <a:t>续投入的关键主题之一。​</a:t>
              </a:r>
            </a:p>
          </p:txBody>
        </p:sp>
        <p:sp>
          <p:nvSpPr>
            <p:cNvPr id="10" name="TextBox 10"/>
            <p:cNvSpPr txBox="1"/>
            <p:nvPr/>
          </p:nvSpPr>
          <p:spPr>
            <a:xfrm>
              <a:off x="566738" y="1817370"/>
              <a:ext cx="23583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当前的模型清单实践在小型、中型和大型银行​</a:t>
              </a:r>
              <a:br/>
              <a:r>
                <a:rPr lang="zh-CN" sz="900" dirty="0">
                  <a:solidFill>
                    <a:srgbClr val="333333"/>
                  </a:solidFill>
                  <a:latin typeface="+mn-lt"/>
                  <a:ea typeface="+mn-ea"/>
                  <a:cs typeface="+mn-cs"/>
                </a:rPr>
                <a:t>之间差异很大。这并不意外：大型银行拥有更​</a:t>
              </a:r>
              <a:br/>
              <a:r>
                <a:rPr lang="zh-CN" sz="900" dirty="0">
                  <a:solidFill>
                    <a:srgbClr val="333333"/>
                  </a:solidFill>
                  <a:latin typeface="+mn-lt"/>
                  <a:ea typeface="+mn-ea"/>
                  <a:cs typeface="+mn-cs"/>
                </a:rPr>
                <a:t>成熟的模型风险管理框架，也涵盖更多模型类​</a:t>
              </a:r>
              <a:br/>
              <a:r>
                <a:rPr lang="zh-CN" sz="900" dirty="0">
                  <a:solidFill>
                    <a:srgbClr val="333333"/>
                  </a:solidFill>
                  <a:latin typeface="+mn-lt"/>
                  <a:ea typeface="+mn-ea"/>
                  <a:cs typeface="+mn-cs"/>
                </a:rPr>
                <a:t>型，如前几页所示。​</a:t>
              </a:r>
            </a:p>
          </p:txBody>
        </p:sp>
        <p:sp>
          <p:nvSpPr>
            <p:cNvPr id="11" name="TextBox 11"/>
            <p:cNvSpPr txBox="1"/>
            <p:nvPr/>
          </p:nvSpPr>
          <p:spPr>
            <a:xfrm>
              <a:off x="566738" y="2646045"/>
              <a:ext cx="23583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小型银行表示其模型清单平均有93个模型，​​</a:t>
              </a:r>
              <a:br/>
              <a:r>
                <a:rPr lang="zh-CN" sz="900" dirty="0">
                  <a:solidFill>
                    <a:srgbClr val="333333"/>
                  </a:solidFill>
                  <a:latin typeface="+mn-lt"/>
                  <a:ea typeface="+mn-ea"/>
                  <a:cs typeface="+mn-cs"/>
                </a:rPr>
                <a:t>中型银行172个，大型银行645个。这些​​​​</a:t>
              </a:r>
              <a:br/>
              <a:r>
                <a:rPr lang="zh-CN" sz="900" dirty="0">
                  <a:solidFill>
                    <a:srgbClr val="333333"/>
                  </a:solidFill>
                  <a:latin typeface="+mn-lt"/>
                  <a:ea typeface="+mn-ea"/>
                  <a:cs typeface="+mn-cs"/>
                </a:rPr>
                <a:t>数字需要谨慎比较，因为各行采用的模型定义​</a:t>
              </a:r>
              <a:br/>
              <a:r>
                <a:rPr lang="zh-CN" sz="900" dirty="0">
                  <a:solidFill>
                    <a:srgbClr val="333333"/>
                  </a:solidFill>
                  <a:latin typeface="+mn-lt"/>
                  <a:ea typeface="+mn-ea"/>
                  <a:cs typeface="+mn-cs"/>
                </a:rPr>
                <a:t>也决定了模型在哪个层级被界定：例如在信用​</a:t>
              </a:r>
              <a:br/>
              <a:r>
                <a:rPr lang="zh-CN" sz="900" dirty="0">
                  <a:solidFill>
                    <a:srgbClr val="333333"/>
                  </a:solidFill>
                  <a:latin typeface="+mn-lt"/>
                  <a:ea typeface="+mn-ea"/>
                  <a:cs typeface="+mn-cs"/>
                </a:rPr>
                <a:t>风险语境下，模型是单一评级体系还是单个​</a:t>
              </a:r>
              <a:br/>
              <a:r>
                <a:rPr lang="zh-CN" sz="900" dirty="0">
                  <a:solidFill>
                    <a:srgbClr val="333333"/>
                  </a:solidFill>
                  <a:latin typeface="+mn-lt"/>
                  <a:ea typeface="+mn-ea"/>
                  <a:cs typeface="+mn-cs"/>
                </a:rPr>
                <a:t>PD模型，这同样影响模型数量。​</a:t>
              </a:r>
            </a:p>
          </p:txBody>
        </p:sp>
        <p:sp>
          <p:nvSpPr>
            <p:cNvPr id="12" name="TextBox 12"/>
            <p:cNvSpPr txBox="1"/>
            <p:nvPr/>
          </p:nvSpPr>
          <p:spPr>
            <a:xfrm>
              <a:off x="566738" y="3836670"/>
              <a:ext cx="23583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不过，尤其在大型银行之间，清单规模差异也​</a:t>
              </a:r>
              <a:br/>
              <a:r>
                <a:rPr lang="zh-CN" sz="900" dirty="0">
                  <a:solidFill>
                    <a:srgbClr val="333333"/>
                  </a:solidFill>
                  <a:latin typeface="+mn-lt"/>
                  <a:ea typeface="+mn-ea"/>
                  <a:cs typeface="+mn-cs"/>
                </a:rPr>
                <a:t>很大：最小的25%大型银行最多有142个​​​​</a:t>
              </a:r>
              <a:br/>
              <a:r>
                <a:rPr lang="zh-CN" sz="900" dirty="0">
                  <a:solidFill>
                    <a:srgbClr val="333333"/>
                  </a:solidFill>
                  <a:latin typeface="+mn-lt"/>
                  <a:ea typeface="+mn-ea"/>
                  <a:cs typeface="+mn-cs"/>
                </a:rPr>
                <a:t>模型，而最大的25%大型银行拥有超过​​</a:t>
              </a:r>
              <a:br/>
              <a:r>
                <a:rPr lang="zh-CN" sz="900" dirty="0">
                  <a:solidFill>
                    <a:srgbClr val="333333"/>
                  </a:solidFill>
                  <a:latin typeface="+mn-lt"/>
                  <a:ea typeface="+mn-ea"/>
                  <a:cs typeface="+mn-cs"/>
                </a:rPr>
                <a:t>1000个模型。​</a:t>
              </a:r>
            </a:p>
          </p:txBody>
        </p:sp>
      </p:grpSp>
      <p:grpSp>
        <p:nvGrpSpPr>
          <p:cNvPr id="15" name="col-2"/>
          <p:cNvGrpSpPr/>
          <p:nvPr/>
        </p:nvGrpSpPr>
        <p:grpSpPr>
          <a:xfrm>
            <a:off x="3348038" y="855345"/>
            <a:ext cx="2472690" cy="538162"/>
            <a:chOff x="3348038" y="855345"/>
            <a:chExt cx="2472690" cy="538162"/>
          </a:xfrm>
        </p:grpSpPr>
        <p:sp>
          <p:nvSpPr>
            <p:cNvPr id="14" name="TextBox 14"/>
            <p:cNvSpPr txBox="1"/>
            <p:nvPr/>
          </p:nvSpPr>
          <p:spPr>
            <a:xfrm>
              <a:off x="3348038" y="855345"/>
              <a:ext cx="24726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目前的上限似乎在数千个模型的水平。这些数字​</a:t>
              </a:r>
              <a:br/>
              <a:r>
                <a:rPr lang="zh-CN" sz="900" dirty="0">
                  <a:solidFill>
                    <a:srgbClr val="333333"/>
                  </a:solidFill>
                  <a:latin typeface="+mn-lt"/>
                  <a:ea typeface="+mn-ea"/>
                  <a:cs typeface="+mn-cs"/>
                </a:rPr>
                <a:t>来自同时表示其模型清单或多或少完整的大型银​</a:t>
              </a:r>
              <a:br/>
              <a:r>
                <a:rPr lang="zh-CN" sz="900" dirty="0">
                  <a:solidFill>
                    <a:srgbClr val="333333"/>
                  </a:solidFill>
                  <a:latin typeface="+mn-lt"/>
                  <a:ea typeface="+mn-ea"/>
                  <a:cs typeface="+mn-cs"/>
                </a:rPr>
                <a:t>行。​</a:t>
              </a:r>
            </a:p>
          </p:txBody>
        </p:sp>
      </p:grpSp>
      <p:grpSp>
        <p:nvGrpSpPr>
          <p:cNvPr id="20" name="col-3"/>
          <p:cNvGrpSpPr/>
          <p:nvPr/>
        </p:nvGrpSpPr>
        <p:grpSpPr>
          <a:xfrm>
            <a:off x="6281547" y="847249"/>
            <a:ext cx="2930081" cy="1508284"/>
            <a:chOff x="6281547" y="847249"/>
            <a:chExt cx="2930081" cy="1508284"/>
          </a:xfrm>
        </p:grpSpPr>
        <p:sp>
          <p:nvSpPr>
            <p:cNvPr id="16" name="TextBox 16"/>
            <p:cNvSpPr txBox="1"/>
            <p:nvPr/>
          </p:nvSpPr>
          <p:spPr>
            <a:xfrm>
              <a:off x="6281547" y="847249"/>
              <a:ext cx="877660" cy="190690"/>
            </a:xfrm>
            <a:prstGeom prst="rect">
              <a:avLst/>
            </a:prstGeom>
            <a:noFill/>
            <a:ln>
              <a:noFill/>
            </a:ln>
          </p:spPr>
          <p:txBody>
            <a:bodyPr wrap="none" lIns="0" tIns="0" rIns="0" bIns="0" anchor="t" anchorCtr="0">
              <a:spAutoFit/>
            </a:bodyPr>
            <a:lstStyle/>
            <a:p>
              <a:pPr algn="l"/>
              <a:r>
                <a:rPr lang="zh-CN" sz="980" b="1" dirty="0">
                  <a:solidFill>
                    <a:srgbClr val="B61F00"/>
                  </a:solidFill>
                  <a:latin typeface="+mn-lt"/>
                  <a:ea typeface="+mn-ea"/>
                  <a:cs typeface="+mn-cs"/>
                </a:rPr>
                <a:t>模型清单信息​</a:t>
              </a:r>
            </a:p>
          </p:txBody>
        </p:sp>
        <p:sp>
          <p:nvSpPr>
            <p:cNvPr id="17" name="TextBox 17"/>
            <p:cNvSpPr txBox="1"/>
            <p:nvPr/>
          </p:nvSpPr>
          <p:spPr>
            <a:xfrm>
              <a:off x="6281738" y="1012984"/>
              <a:ext cx="1321534"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Model inventory information​</a:t>
              </a:r>
            </a:p>
          </p:txBody>
        </p:sp>
        <p:sp>
          <p:nvSpPr>
            <p:cNvPr id="18" name="TextBox 18"/>
            <p:cNvSpPr txBox="1"/>
            <p:nvPr/>
          </p:nvSpPr>
          <p:spPr>
            <a:xfrm>
              <a:off x="6281738" y="1169670"/>
              <a:ext cx="29298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模型清单可以在单个模型层级存储大量信息。结构化且高​</a:t>
              </a:r>
              <a:br/>
              <a:r>
                <a:rPr lang="zh-CN" sz="900" dirty="0">
                  <a:solidFill>
                    <a:srgbClr val="333333"/>
                  </a:solidFill>
                  <a:latin typeface="+mn-lt"/>
                  <a:ea typeface="+mn-ea"/>
                  <a:cs typeface="+mn-cs"/>
                </a:rPr>
                <a:t>质量的信息是高效模型风险管理的基础。小型和中型银行​</a:t>
              </a:r>
              <a:br/>
              <a:r>
                <a:rPr lang="zh-CN" sz="900" dirty="0">
                  <a:solidFill>
                    <a:srgbClr val="333333"/>
                  </a:solidFill>
                  <a:latin typeface="+mn-lt"/>
                  <a:ea typeface="+mn-ea"/>
                  <a:cs typeface="+mn-cs"/>
                </a:rPr>
                <a:t>平均存储约30个模型数据字段，而大型银行平均为58​​​</a:t>
              </a:r>
              <a:br/>
              <a:r>
                <a:rPr lang="zh-CN" sz="900" dirty="0">
                  <a:solidFill>
                    <a:srgbClr val="333333"/>
                  </a:solidFill>
                  <a:latin typeface="+mn-lt"/>
                  <a:ea typeface="+mn-ea"/>
                  <a:cs typeface="+mn-cs"/>
                </a:rPr>
                <a:t>个。​</a:t>
              </a:r>
            </a:p>
          </p:txBody>
        </p:sp>
        <p:sp>
          <p:nvSpPr>
            <p:cNvPr id="19" name="TextBox 19"/>
            <p:cNvSpPr txBox="1"/>
            <p:nvPr/>
          </p:nvSpPr>
          <p:spPr>
            <a:xfrm>
              <a:off x="6281738" y="1998345"/>
              <a:ext cx="29298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尽管这些差异在绝对数量上不算突出，但意味着大型银行​</a:t>
              </a:r>
              <a:br/>
              <a:r>
                <a:rPr lang="zh-CN" sz="900" dirty="0">
                  <a:solidFill>
                    <a:srgbClr val="333333"/>
                  </a:solidFill>
                  <a:latin typeface="+mn-lt"/>
                  <a:ea typeface="+mn-ea"/>
                  <a:cs typeface="+mn-cs"/>
                </a:rPr>
                <a:t>比小型和中型银行多存储并需要维护约25个数据字段。​​</a:t>
              </a:r>
            </a:p>
          </p:txBody>
        </p:sp>
      </p:grpSp>
      <p:grpSp>
        <p:nvGrpSpPr>
          <p:cNvPr id="66" name="figure-13"/>
          <p:cNvGrpSpPr/>
          <p:nvPr/>
        </p:nvGrpSpPr>
        <p:grpSpPr>
          <a:xfrm>
            <a:off x="3348038" y="1749266"/>
            <a:ext cx="2621286" cy="2175272"/>
            <a:chOff x="3348038" y="1749266"/>
            <a:chExt cx="2621286" cy="2175272"/>
          </a:xfrm>
        </p:grpSpPr>
        <p:sp>
          <p:nvSpPr>
            <p:cNvPr id="21" name="TextBox 21"/>
            <p:cNvSpPr txBox="1"/>
            <p:nvPr/>
          </p:nvSpPr>
          <p:spPr>
            <a:xfrm>
              <a:off x="3348038" y="1749266"/>
              <a:ext cx="157731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图13. 模型清单中的模型数量​​</a:t>
              </a:r>
            </a:p>
          </p:txBody>
        </p:sp>
        <p:sp>
          <p:nvSpPr>
            <p:cNvPr id="22" name="TextBox 22"/>
            <p:cNvSpPr txBox="1"/>
            <p:nvPr/>
          </p:nvSpPr>
          <p:spPr>
            <a:xfrm>
              <a:off x="3348038" y="1893332"/>
              <a:ext cx="1791715"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Number of models in the model inventory​​</a:t>
              </a:r>
            </a:p>
          </p:txBody>
        </p:sp>
        <p:sp>
          <p:nvSpPr>
            <p:cNvPr id="23" name="Line 23"/>
            <p:cNvSpPr/>
            <p:nvPr/>
          </p:nvSpPr>
          <p:spPr>
            <a:xfrm>
              <a:off x="3810000" y="3743325"/>
              <a:ext cx="2095500" cy="9525"/>
            </a:xfrm>
            <a:custGeom>
              <a:avLst/>
              <a:gdLst/>
              <a:ahLst/>
              <a:cxnLst/>
              <a:rect l="l" t="t" r="r" b="b"/>
              <a:pathLst>
                <a:path w="2095500" h="9525">
                  <a:moveTo>
                    <a:pt x="0" y="0"/>
                  </a:moveTo>
                  <a:lnTo>
                    <a:pt x="2095500" y="0"/>
                  </a:lnTo>
                </a:path>
              </a:pathLst>
            </a:custGeom>
            <a:noFill/>
            <a:ln w="6668">
              <a:solidFill>
                <a:srgbClr val="E6E6E6"/>
              </a:solidFill>
            </a:ln>
          </p:spPr>
        </p:sp>
        <p:sp>
          <p:nvSpPr>
            <p:cNvPr id="24" name="TextBox 24"/>
            <p:cNvSpPr txBox="1"/>
            <p:nvPr/>
          </p:nvSpPr>
          <p:spPr>
            <a:xfrm>
              <a:off x="3674687" y="3711178"/>
              <a:ext cx="92451"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0​</a:t>
              </a:r>
            </a:p>
          </p:txBody>
        </p:sp>
        <p:sp>
          <p:nvSpPr>
            <p:cNvPr id="25" name="Line 25"/>
            <p:cNvSpPr/>
            <p:nvPr/>
          </p:nvSpPr>
          <p:spPr>
            <a:xfrm>
              <a:off x="3810000" y="3525202"/>
              <a:ext cx="2095500" cy="9525"/>
            </a:xfrm>
            <a:custGeom>
              <a:avLst/>
              <a:gdLst/>
              <a:ahLst/>
              <a:cxnLst/>
              <a:rect l="l" t="t" r="r" b="b"/>
              <a:pathLst>
                <a:path w="2095500" h="9525">
                  <a:moveTo>
                    <a:pt x="0" y="0"/>
                  </a:moveTo>
                  <a:lnTo>
                    <a:pt x="2095500" y="0"/>
                  </a:lnTo>
                </a:path>
              </a:pathLst>
            </a:custGeom>
            <a:noFill/>
            <a:ln w="6668">
              <a:solidFill>
                <a:srgbClr val="E6E6E6"/>
              </a:solidFill>
            </a:ln>
          </p:spPr>
        </p:sp>
        <p:sp>
          <p:nvSpPr>
            <p:cNvPr id="26" name="TextBox 26"/>
            <p:cNvSpPr txBox="1"/>
            <p:nvPr/>
          </p:nvSpPr>
          <p:spPr>
            <a:xfrm>
              <a:off x="3591761" y="3493056"/>
              <a:ext cx="175377"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500​</a:t>
              </a:r>
            </a:p>
          </p:txBody>
        </p:sp>
        <p:sp>
          <p:nvSpPr>
            <p:cNvPr id="27" name="Line 27"/>
            <p:cNvSpPr/>
            <p:nvPr/>
          </p:nvSpPr>
          <p:spPr>
            <a:xfrm>
              <a:off x="3810000" y="3308032"/>
              <a:ext cx="2095500" cy="9525"/>
            </a:xfrm>
            <a:custGeom>
              <a:avLst/>
              <a:gdLst/>
              <a:ahLst/>
              <a:cxnLst/>
              <a:rect l="l" t="t" r="r" b="b"/>
              <a:pathLst>
                <a:path w="2095500" h="9525">
                  <a:moveTo>
                    <a:pt x="0" y="0"/>
                  </a:moveTo>
                  <a:lnTo>
                    <a:pt x="2095500" y="0"/>
                  </a:lnTo>
                </a:path>
              </a:pathLst>
            </a:custGeom>
            <a:noFill/>
            <a:ln w="6668">
              <a:solidFill>
                <a:srgbClr val="E6E6E6"/>
              </a:solidFill>
            </a:ln>
          </p:spPr>
        </p:sp>
        <p:sp>
          <p:nvSpPr>
            <p:cNvPr id="28" name="TextBox 28"/>
            <p:cNvSpPr txBox="1"/>
            <p:nvPr/>
          </p:nvSpPr>
          <p:spPr>
            <a:xfrm>
              <a:off x="3550298" y="3275886"/>
              <a:ext cx="216840"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1000​</a:t>
              </a:r>
            </a:p>
          </p:txBody>
        </p:sp>
        <p:sp>
          <p:nvSpPr>
            <p:cNvPr id="29" name="Line 29"/>
            <p:cNvSpPr/>
            <p:nvPr/>
          </p:nvSpPr>
          <p:spPr>
            <a:xfrm>
              <a:off x="3810000" y="3089910"/>
              <a:ext cx="2095500" cy="9525"/>
            </a:xfrm>
            <a:custGeom>
              <a:avLst/>
              <a:gdLst/>
              <a:ahLst/>
              <a:cxnLst/>
              <a:rect l="l" t="t" r="r" b="b"/>
              <a:pathLst>
                <a:path w="2095500" h="9525">
                  <a:moveTo>
                    <a:pt x="0" y="0"/>
                  </a:moveTo>
                  <a:lnTo>
                    <a:pt x="2095500" y="0"/>
                  </a:lnTo>
                </a:path>
              </a:pathLst>
            </a:custGeom>
            <a:noFill/>
            <a:ln w="6668">
              <a:solidFill>
                <a:srgbClr val="E6E6E6"/>
              </a:solidFill>
            </a:ln>
          </p:spPr>
        </p:sp>
        <p:sp>
          <p:nvSpPr>
            <p:cNvPr id="30" name="TextBox 30"/>
            <p:cNvSpPr txBox="1"/>
            <p:nvPr/>
          </p:nvSpPr>
          <p:spPr>
            <a:xfrm>
              <a:off x="3550298" y="3057763"/>
              <a:ext cx="216840"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1500​</a:t>
              </a:r>
            </a:p>
          </p:txBody>
        </p:sp>
        <p:sp>
          <p:nvSpPr>
            <p:cNvPr id="31" name="Line 31"/>
            <p:cNvSpPr/>
            <p:nvPr/>
          </p:nvSpPr>
          <p:spPr>
            <a:xfrm>
              <a:off x="3810000" y="2872740"/>
              <a:ext cx="2095500" cy="9525"/>
            </a:xfrm>
            <a:custGeom>
              <a:avLst/>
              <a:gdLst/>
              <a:ahLst/>
              <a:cxnLst/>
              <a:rect l="l" t="t" r="r" b="b"/>
              <a:pathLst>
                <a:path w="2095500" h="9525">
                  <a:moveTo>
                    <a:pt x="0" y="0"/>
                  </a:moveTo>
                  <a:lnTo>
                    <a:pt x="2095500" y="0"/>
                  </a:lnTo>
                </a:path>
              </a:pathLst>
            </a:custGeom>
            <a:noFill/>
            <a:ln w="6668">
              <a:solidFill>
                <a:srgbClr val="E6E6E6"/>
              </a:solidFill>
            </a:ln>
          </p:spPr>
        </p:sp>
        <p:sp>
          <p:nvSpPr>
            <p:cNvPr id="32" name="TextBox 32"/>
            <p:cNvSpPr txBox="1"/>
            <p:nvPr/>
          </p:nvSpPr>
          <p:spPr>
            <a:xfrm>
              <a:off x="3550298" y="2840593"/>
              <a:ext cx="216840"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2000​</a:t>
              </a:r>
            </a:p>
          </p:txBody>
        </p:sp>
        <p:sp>
          <p:nvSpPr>
            <p:cNvPr id="33" name="Line 33"/>
            <p:cNvSpPr/>
            <p:nvPr/>
          </p:nvSpPr>
          <p:spPr>
            <a:xfrm>
              <a:off x="3810000" y="2654618"/>
              <a:ext cx="2095500" cy="9525"/>
            </a:xfrm>
            <a:custGeom>
              <a:avLst/>
              <a:gdLst/>
              <a:ahLst/>
              <a:cxnLst/>
              <a:rect l="l" t="t" r="r" b="b"/>
              <a:pathLst>
                <a:path w="2095500" h="9525">
                  <a:moveTo>
                    <a:pt x="0" y="0"/>
                  </a:moveTo>
                  <a:lnTo>
                    <a:pt x="2095500" y="0"/>
                  </a:lnTo>
                </a:path>
              </a:pathLst>
            </a:custGeom>
            <a:noFill/>
            <a:ln w="6668">
              <a:solidFill>
                <a:srgbClr val="E6E6E6"/>
              </a:solidFill>
            </a:ln>
          </p:spPr>
        </p:sp>
        <p:sp>
          <p:nvSpPr>
            <p:cNvPr id="34" name="TextBox 34"/>
            <p:cNvSpPr txBox="1"/>
            <p:nvPr/>
          </p:nvSpPr>
          <p:spPr>
            <a:xfrm>
              <a:off x="3550298" y="2622471"/>
              <a:ext cx="216840"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2500​</a:t>
              </a:r>
            </a:p>
          </p:txBody>
        </p:sp>
        <p:sp>
          <p:nvSpPr>
            <p:cNvPr id="35" name="Line 35"/>
            <p:cNvSpPr/>
            <p:nvPr/>
          </p:nvSpPr>
          <p:spPr>
            <a:xfrm>
              <a:off x="3810000" y="2437448"/>
              <a:ext cx="2095500" cy="9525"/>
            </a:xfrm>
            <a:custGeom>
              <a:avLst/>
              <a:gdLst/>
              <a:ahLst/>
              <a:cxnLst/>
              <a:rect l="l" t="t" r="r" b="b"/>
              <a:pathLst>
                <a:path w="2095500" h="9525">
                  <a:moveTo>
                    <a:pt x="0" y="0"/>
                  </a:moveTo>
                  <a:lnTo>
                    <a:pt x="2095500" y="0"/>
                  </a:lnTo>
                </a:path>
              </a:pathLst>
            </a:custGeom>
            <a:noFill/>
            <a:ln w="6668">
              <a:solidFill>
                <a:srgbClr val="E6E6E6"/>
              </a:solidFill>
            </a:ln>
          </p:spPr>
        </p:sp>
        <p:sp>
          <p:nvSpPr>
            <p:cNvPr id="36" name="TextBox 36"/>
            <p:cNvSpPr txBox="1"/>
            <p:nvPr/>
          </p:nvSpPr>
          <p:spPr>
            <a:xfrm>
              <a:off x="3550298" y="2405301"/>
              <a:ext cx="216840"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3000​</a:t>
              </a:r>
            </a:p>
          </p:txBody>
        </p:sp>
        <p:sp>
          <p:nvSpPr>
            <p:cNvPr id="37" name="Line 37"/>
            <p:cNvSpPr/>
            <p:nvPr/>
          </p:nvSpPr>
          <p:spPr>
            <a:xfrm>
              <a:off x="3810000" y="2219325"/>
              <a:ext cx="2095500" cy="9525"/>
            </a:xfrm>
            <a:custGeom>
              <a:avLst/>
              <a:gdLst/>
              <a:ahLst/>
              <a:cxnLst/>
              <a:rect l="l" t="t" r="r" b="b"/>
              <a:pathLst>
                <a:path w="2095500" h="9525">
                  <a:moveTo>
                    <a:pt x="0" y="0"/>
                  </a:moveTo>
                  <a:lnTo>
                    <a:pt x="2095500" y="0"/>
                  </a:lnTo>
                </a:path>
              </a:pathLst>
            </a:custGeom>
            <a:noFill/>
            <a:ln w="6668">
              <a:solidFill>
                <a:srgbClr val="E6E6E6"/>
              </a:solidFill>
            </a:ln>
          </p:spPr>
        </p:sp>
        <p:sp>
          <p:nvSpPr>
            <p:cNvPr id="38" name="TextBox 38"/>
            <p:cNvSpPr txBox="1"/>
            <p:nvPr/>
          </p:nvSpPr>
          <p:spPr>
            <a:xfrm>
              <a:off x="3550298" y="2187178"/>
              <a:ext cx="216840"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3500​</a:t>
              </a:r>
            </a:p>
          </p:txBody>
        </p:sp>
        <p:sp>
          <p:nvSpPr>
            <p:cNvPr id="39" name="Line 39"/>
            <p:cNvSpPr/>
            <p:nvPr/>
          </p:nvSpPr>
          <p:spPr>
            <a:xfrm>
              <a:off x="4191000" y="3656648"/>
              <a:ext cx="9525" cy="78105"/>
            </a:xfrm>
            <a:custGeom>
              <a:avLst/>
              <a:gdLst/>
              <a:ahLst/>
              <a:cxnLst/>
              <a:rect l="l" t="t" r="r" b="b"/>
              <a:pathLst>
                <a:path w="9525" h="78105">
                  <a:moveTo>
                    <a:pt x="0" y="78105"/>
                  </a:moveTo>
                  <a:lnTo>
                    <a:pt x="0" y="0"/>
                  </a:lnTo>
                </a:path>
              </a:pathLst>
            </a:custGeom>
            <a:noFill/>
            <a:ln w="9525">
              <a:solidFill>
                <a:srgbClr val="F8A291"/>
              </a:solidFill>
            </a:ln>
          </p:spPr>
        </p:sp>
        <p:sp>
          <p:nvSpPr>
            <p:cNvPr id="40" name="Line 40"/>
            <p:cNvSpPr/>
            <p:nvPr/>
          </p:nvSpPr>
          <p:spPr>
            <a:xfrm>
              <a:off x="4114800" y="3656648"/>
              <a:ext cx="152400" cy="9525"/>
            </a:xfrm>
            <a:custGeom>
              <a:avLst/>
              <a:gdLst/>
              <a:ahLst/>
              <a:cxnLst/>
              <a:rect l="l" t="t" r="r" b="b"/>
              <a:pathLst>
                <a:path w="152400" h="9525">
                  <a:moveTo>
                    <a:pt x="0" y="0"/>
                  </a:moveTo>
                  <a:lnTo>
                    <a:pt x="152400" y="0"/>
                  </a:lnTo>
                </a:path>
              </a:pathLst>
            </a:custGeom>
            <a:noFill/>
            <a:ln w="9525">
              <a:solidFill>
                <a:srgbClr val="F8A291"/>
              </a:solidFill>
            </a:ln>
          </p:spPr>
        </p:sp>
        <p:sp>
          <p:nvSpPr>
            <p:cNvPr id="41" name="Line 41"/>
            <p:cNvSpPr/>
            <p:nvPr/>
          </p:nvSpPr>
          <p:spPr>
            <a:xfrm>
              <a:off x="4114800" y="3734752"/>
              <a:ext cx="152400" cy="9525"/>
            </a:xfrm>
            <a:custGeom>
              <a:avLst/>
              <a:gdLst/>
              <a:ahLst/>
              <a:cxnLst/>
              <a:rect l="l" t="t" r="r" b="b"/>
              <a:pathLst>
                <a:path w="152400" h="9525">
                  <a:moveTo>
                    <a:pt x="0" y="0"/>
                  </a:moveTo>
                  <a:lnTo>
                    <a:pt x="152400" y="0"/>
                  </a:lnTo>
                </a:path>
              </a:pathLst>
            </a:custGeom>
            <a:noFill/>
            <a:ln w="9525">
              <a:solidFill>
                <a:srgbClr val="F8A291"/>
              </a:solidFill>
            </a:ln>
          </p:spPr>
        </p:sp>
        <p:sp>
          <p:nvSpPr>
            <p:cNvPr id="42" name="Rectangle 42"/>
            <p:cNvSpPr/>
            <p:nvPr/>
          </p:nvSpPr>
          <p:spPr>
            <a:xfrm>
              <a:off x="4019550" y="3687128"/>
              <a:ext cx="342900" cy="30480"/>
            </a:xfrm>
            <a:prstGeom prst="rect">
              <a:avLst/>
            </a:prstGeom>
            <a:solidFill>
              <a:srgbClr val="F8A291"/>
            </a:solidFill>
            <a:ln>
              <a:noFill/>
            </a:ln>
          </p:spPr>
        </p:sp>
        <p:sp>
          <p:nvSpPr>
            <p:cNvPr id="43" name="Line 43"/>
            <p:cNvSpPr/>
            <p:nvPr/>
          </p:nvSpPr>
          <p:spPr>
            <a:xfrm>
              <a:off x="4019550" y="3706178"/>
              <a:ext cx="342900" cy="9525"/>
            </a:xfrm>
            <a:custGeom>
              <a:avLst/>
              <a:gdLst/>
              <a:ahLst/>
              <a:cxnLst/>
              <a:rect l="l" t="t" r="r" b="b"/>
              <a:pathLst>
                <a:path w="342900" h="9525">
                  <a:moveTo>
                    <a:pt x="0" y="0"/>
                  </a:moveTo>
                  <a:lnTo>
                    <a:pt x="342900" y="0"/>
                  </a:lnTo>
                </a:path>
              </a:pathLst>
            </a:custGeom>
            <a:noFill/>
            <a:ln w="11430">
              <a:solidFill>
                <a:srgbClr val="FFFFFF"/>
              </a:solidFill>
            </a:ln>
          </p:spPr>
        </p:sp>
        <p:sp>
          <p:nvSpPr>
            <p:cNvPr id="44" name="Ellipse 44"/>
            <p:cNvSpPr/>
            <p:nvPr/>
          </p:nvSpPr>
          <p:spPr>
            <a:xfrm>
              <a:off x="4170045" y="3591878"/>
              <a:ext cx="41910" cy="41910"/>
            </a:xfrm>
            <a:prstGeom prst="ellipse">
              <a:avLst/>
            </a:prstGeom>
            <a:solidFill>
              <a:srgbClr val="F8A291"/>
            </a:solidFill>
            <a:ln>
              <a:noFill/>
            </a:ln>
          </p:spPr>
        </p:sp>
        <p:sp>
          <p:nvSpPr>
            <p:cNvPr id="45" name="Ellipse 45"/>
            <p:cNvSpPr/>
            <p:nvPr/>
          </p:nvSpPr>
          <p:spPr>
            <a:xfrm>
              <a:off x="4170045" y="3556635"/>
              <a:ext cx="41910" cy="41910"/>
            </a:xfrm>
            <a:prstGeom prst="ellipse">
              <a:avLst/>
            </a:prstGeom>
            <a:solidFill>
              <a:srgbClr val="F8A291"/>
            </a:solidFill>
            <a:ln>
              <a:noFill/>
            </a:ln>
          </p:spPr>
        </p:sp>
        <p:sp>
          <p:nvSpPr>
            <p:cNvPr id="46" name="TextBox 46"/>
            <p:cNvSpPr txBox="1"/>
            <p:nvPr/>
          </p:nvSpPr>
          <p:spPr>
            <a:xfrm>
              <a:off x="4414838" y="3662839"/>
              <a:ext cx="168121" cy="133350"/>
            </a:xfrm>
            <a:prstGeom prst="rect">
              <a:avLst/>
            </a:prstGeom>
            <a:noFill/>
            <a:ln>
              <a:noFill/>
            </a:ln>
          </p:spPr>
          <p:txBody>
            <a:bodyPr wrap="none" lIns="0" tIns="0" rIns="0" bIns="0" anchor="t" anchorCtr="0">
              <a:spAutoFit/>
            </a:bodyPr>
            <a:lstStyle/>
            <a:p>
              <a:pPr algn="l"/>
              <a:r>
                <a:rPr lang="zh-CN" sz="680" b="1" dirty="0">
                  <a:solidFill>
                    <a:srgbClr val="1A1A1A"/>
                  </a:solidFill>
                  <a:latin typeface="+mn-lt"/>
                  <a:ea typeface="+mn-ea"/>
                  <a:cs typeface="+mn-cs"/>
                </a:rPr>
                <a:t>93​</a:t>
              </a:r>
            </a:p>
          </p:txBody>
        </p:sp>
        <p:sp>
          <p:nvSpPr>
            <p:cNvPr id="47" name="TextBox 47"/>
            <p:cNvSpPr txBox="1"/>
            <p:nvPr/>
          </p:nvSpPr>
          <p:spPr>
            <a:xfrm>
              <a:off x="3990231" y="3798332"/>
              <a:ext cx="401538"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小型银行​</a:t>
              </a:r>
            </a:p>
          </p:txBody>
        </p:sp>
        <p:sp>
          <p:nvSpPr>
            <p:cNvPr id="48" name="Line 48"/>
            <p:cNvSpPr/>
            <p:nvPr/>
          </p:nvSpPr>
          <p:spPr>
            <a:xfrm>
              <a:off x="4857750" y="3560445"/>
              <a:ext cx="9525" cy="169545"/>
            </a:xfrm>
            <a:custGeom>
              <a:avLst/>
              <a:gdLst/>
              <a:ahLst/>
              <a:cxnLst/>
              <a:rect l="l" t="t" r="r" b="b"/>
              <a:pathLst>
                <a:path w="9525" h="169545">
                  <a:moveTo>
                    <a:pt x="0" y="169545"/>
                  </a:moveTo>
                  <a:lnTo>
                    <a:pt x="0" y="0"/>
                  </a:lnTo>
                </a:path>
              </a:pathLst>
            </a:custGeom>
            <a:noFill/>
            <a:ln w="9525">
              <a:solidFill>
                <a:srgbClr val="E72700"/>
              </a:solidFill>
            </a:ln>
          </p:spPr>
        </p:sp>
        <p:sp>
          <p:nvSpPr>
            <p:cNvPr id="49" name="Line 49"/>
            <p:cNvSpPr/>
            <p:nvPr/>
          </p:nvSpPr>
          <p:spPr>
            <a:xfrm>
              <a:off x="4781550" y="3560445"/>
              <a:ext cx="152400" cy="9525"/>
            </a:xfrm>
            <a:custGeom>
              <a:avLst/>
              <a:gdLst/>
              <a:ahLst/>
              <a:cxnLst/>
              <a:rect l="l" t="t" r="r" b="b"/>
              <a:pathLst>
                <a:path w="152400" h="9525">
                  <a:moveTo>
                    <a:pt x="0" y="0"/>
                  </a:moveTo>
                  <a:lnTo>
                    <a:pt x="152400" y="0"/>
                  </a:lnTo>
                </a:path>
              </a:pathLst>
            </a:custGeom>
            <a:noFill/>
            <a:ln w="9525">
              <a:solidFill>
                <a:srgbClr val="E72700"/>
              </a:solidFill>
            </a:ln>
          </p:spPr>
        </p:sp>
        <p:sp>
          <p:nvSpPr>
            <p:cNvPr id="50" name="Line 50"/>
            <p:cNvSpPr/>
            <p:nvPr/>
          </p:nvSpPr>
          <p:spPr>
            <a:xfrm>
              <a:off x="4781550" y="3729990"/>
              <a:ext cx="152400" cy="9525"/>
            </a:xfrm>
            <a:custGeom>
              <a:avLst/>
              <a:gdLst/>
              <a:ahLst/>
              <a:cxnLst/>
              <a:rect l="l" t="t" r="r" b="b"/>
              <a:pathLst>
                <a:path w="152400" h="9525">
                  <a:moveTo>
                    <a:pt x="0" y="0"/>
                  </a:moveTo>
                  <a:lnTo>
                    <a:pt x="152400" y="0"/>
                  </a:lnTo>
                </a:path>
              </a:pathLst>
            </a:custGeom>
            <a:noFill/>
            <a:ln w="9525">
              <a:solidFill>
                <a:srgbClr val="E72700"/>
              </a:solidFill>
            </a:ln>
          </p:spPr>
        </p:sp>
        <p:sp>
          <p:nvSpPr>
            <p:cNvPr id="51" name="Rectangle 51"/>
            <p:cNvSpPr/>
            <p:nvPr/>
          </p:nvSpPr>
          <p:spPr>
            <a:xfrm>
              <a:off x="4686300" y="3638550"/>
              <a:ext cx="342900" cy="60960"/>
            </a:xfrm>
            <a:prstGeom prst="rect">
              <a:avLst/>
            </a:prstGeom>
            <a:solidFill>
              <a:srgbClr val="E72700"/>
            </a:solidFill>
            <a:ln>
              <a:noFill/>
            </a:ln>
          </p:spPr>
        </p:sp>
        <p:sp>
          <p:nvSpPr>
            <p:cNvPr id="52" name="Line 52"/>
            <p:cNvSpPr/>
            <p:nvPr/>
          </p:nvSpPr>
          <p:spPr>
            <a:xfrm>
              <a:off x="4686300" y="3677602"/>
              <a:ext cx="342900" cy="9525"/>
            </a:xfrm>
            <a:custGeom>
              <a:avLst/>
              <a:gdLst/>
              <a:ahLst/>
              <a:cxnLst/>
              <a:rect l="l" t="t" r="r" b="b"/>
              <a:pathLst>
                <a:path w="342900" h="9525">
                  <a:moveTo>
                    <a:pt x="0" y="0"/>
                  </a:moveTo>
                  <a:lnTo>
                    <a:pt x="342900" y="0"/>
                  </a:lnTo>
                </a:path>
              </a:pathLst>
            </a:custGeom>
            <a:noFill/>
            <a:ln w="11430">
              <a:solidFill>
                <a:srgbClr val="FFFFFF"/>
              </a:solidFill>
            </a:ln>
          </p:spPr>
        </p:sp>
        <p:sp>
          <p:nvSpPr>
            <p:cNvPr id="53" name="Ellipse 53"/>
            <p:cNvSpPr/>
            <p:nvPr/>
          </p:nvSpPr>
          <p:spPr>
            <a:xfrm>
              <a:off x="4836795" y="3461385"/>
              <a:ext cx="41910" cy="41910"/>
            </a:xfrm>
            <a:prstGeom prst="ellipse">
              <a:avLst/>
            </a:prstGeom>
            <a:solidFill>
              <a:srgbClr val="E72700"/>
            </a:solidFill>
            <a:ln>
              <a:noFill/>
            </a:ln>
          </p:spPr>
        </p:sp>
        <p:sp>
          <p:nvSpPr>
            <p:cNvPr id="54" name="Ellipse 54"/>
            <p:cNvSpPr/>
            <p:nvPr/>
          </p:nvSpPr>
          <p:spPr>
            <a:xfrm>
              <a:off x="4836795" y="3417570"/>
              <a:ext cx="41910" cy="41910"/>
            </a:xfrm>
            <a:prstGeom prst="ellipse">
              <a:avLst/>
            </a:prstGeom>
            <a:solidFill>
              <a:srgbClr val="E72700"/>
            </a:solidFill>
            <a:ln>
              <a:noFill/>
            </a:ln>
          </p:spPr>
        </p:sp>
        <p:sp>
          <p:nvSpPr>
            <p:cNvPr id="55" name="TextBox 55"/>
            <p:cNvSpPr txBox="1"/>
            <p:nvPr/>
          </p:nvSpPr>
          <p:spPr>
            <a:xfrm>
              <a:off x="5081588" y="3628549"/>
              <a:ext cx="220986" cy="133350"/>
            </a:xfrm>
            <a:prstGeom prst="rect">
              <a:avLst/>
            </a:prstGeom>
            <a:noFill/>
            <a:ln>
              <a:noFill/>
            </a:ln>
          </p:spPr>
          <p:txBody>
            <a:bodyPr wrap="none" lIns="0" tIns="0" rIns="0" bIns="0" anchor="t" anchorCtr="0">
              <a:spAutoFit/>
            </a:bodyPr>
            <a:lstStyle/>
            <a:p>
              <a:pPr algn="l"/>
              <a:r>
                <a:rPr lang="zh-CN" sz="680" b="1" dirty="0">
                  <a:solidFill>
                    <a:srgbClr val="1A1A1A"/>
                  </a:solidFill>
                  <a:latin typeface="+mn-lt"/>
                  <a:ea typeface="+mn-ea"/>
                  <a:cs typeface="+mn-cs"/>
                </a:rPr>
                <a:t>172​</a:t>
              </a:r>
            </a:p>
          </p:txBody>
        </p:sp>
        <p:sp>
          <p:nvSpPr>
            <p:cNvPr id="56" name="TextBox 56"/>
            <p:cNvSpPr txBox="1"/>
            <p:nvPr/>
          </p:nvSpPr>
          <p:spPr>
            <a:xfrm>
              <a:off x="4656981" y="3798332"/>
              <a:ext cx="401538"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中型银行​</a:t>
              </a:r>
            </a:p>
          </p:txBody>
        </p:sp>
        <p:sp>
          <p:nvSpPr>
            <p:cNvPr id="57" name="Line 57"/>
            <p:cNvSpPr/>
            <p:nvPr/>
          </p:nvSpPr>
          <p:spPr>
            <a:xfrm>
              <a:off x="5524500" y="2915602"/>
              <a:ext cx="9525" cy="802005"/>
            </a:xfrm>
            <a:custGeom>
              <a:avLst/>
              <a:gdLst/>
              <a:ahLst/>
              <a:cxnLst/>
              <a:rect l="l" t="t" r="r" b="b"/>
              <a:pathLst>
                <a:path w="9525" h="802005">
                  <a:moveTo>
                    <a:pt x="0" y="802005"/>
                  </a:moveTo>
                  <a:lnTo>
                    <a:pt x="0" y="0"/>
                  </a:lnTo>
                </a:path>
              </a:pathLst>
            </a:custGeom>
            <a:noFill/>
            <a:ln w="9525">
              <a:solidFill>
                <a:srgbClr val="7C1500"/>
              </a:solidFill>
            </a:ln>
          </p:spPr>
        </p:sp>
        <p:sp>
          <p:nvSpPr>
            <p:cNvPr id="58" name="Line 58"/>
            <p:cNvSpPr/>
            <p:nvPr/>
          </p:nvSpPr>
          <p:spPr>
            <a:xfrm>
              <a:off x="5448300" y="2915602"/>
              <a:ext cx="152400" cy="9525"/>
            </a:xfrm>
            <a:custGeom>
              <a:avLst/>
              <a:gdLst/>
              <a:ahLst/>
              <a:cxnLst/>
              <a:rect l="l" t="t" r="r" b="b"/>
              <a:pathLst>
                <a:path w="152400" h="9525">
                  <a:moveTo>
                    <a:pt x="0" y="0"/>
                  </a:moveTo>
                  <a:lnTo>
                    <a:pt x="152400" y="0"/>
                  </a:lnTo>
                </a:path>
              </a:pathLst>
            </a:custGeom>
            <a:noFill/>
            <a:ln w="9525">
              <a:solidFill>
                <a:srgbClr val="7C1500"/>
              </a:solidFill>
            </a:ln>
          </p:spPr>
        </p:sp>
        <p:sp>
          <p:nvSpPr>
            <p:cNvPr id="59" name="Line 59"/>
            <p:cNvSpPr/>
            <p:nvPr/>
          </p:nvSpPr>
          <p:spPr>
            <a:xfrm>
              <a:off x="5448300" y="3717608"/>
              <a:ext cx="152400" cy="9525"/>
            </a:xfrm>
            <a:custGeom>
              <a:avLst/>
              <a:gdLst/>
              <a:ahLst/>
              <a:cxnLst/>
              <a:rect l="l" t="t" r="r" b="b"/>
              <a:pathLst>
                <a:path w="152400" h="9525">
                  <a:moveTo>
                    <a:pt x="0" y="0"/>
                  </a:moveTo>
                  <a:lnTo>
                    <a:pt x="152400" y="0"/>
                  </a:lnTo>
                </a:path>
              </a:pathLst>
            </a:custGeom>
            <a:noFill/>
            <a:ln w="9525">
              <a:solidFill>
                <a:srgbClr val="7C1500"/>
              </a:solidFill>
            </a:ln>
          </p:spPr>
        </p:sp>
        <p:sp>
          <p:nvSpPr>
            <p:cNvPr id="60" name="Rectangle 60"/>
            <p:cNvSpPr/>
            <p:nvPr/>
          </p:nvSpPr>
          <p:spPr>
            <a:xfrm>
              <a:off x="5353050" y="3308032"/>
              <a:ext cx="342900" cy="373380"/>
            </a:xfrm>
            <a:prstGeom prst="rect">
              <a:avLst/>
            </a:prstGeom>
            <a:solidFill>
              <a:srgbClr val="7C1500"/>
            </a:solidFill>
            <a:ln>
              <a:noFill/>
            </a:ln>
          </p:spPr>
        </p:sp>
        <p:sp>
          <p:nvSpPr>
            <p:cNvPr id="61" name="Line 61"/>
            <p:cNvSpPr/>
            <p:nvPr/>
          </p:nvSpPr>
          <p:spPr>
            <a:xfrm>
              <a:off x="5353050" y="3569018"/>
              <a:ext cx="342900" cy="9525"/>
            </a:xfrm>
            <a:custGeom>
              <a:avLst/>
              <a:gdLst/>
              <a:ahLst/>
              <a:cxnLst/>
              <a:rect l="l" t="t" r="r" b="b"/>
              <a:pathLst>
                <a:path w="342900" h="9525">
                  <a:moveTo>
                    <a:pt x="0" y="0"/>
                  </a:moveTo>
                  <a:lnTo>
                    <a:pt x="342900" y="0"/>
                  </a:lnTo>
                </a:path>
              </a:pathLst>
            </a:custGeom>
            <a:noFill/>
            <a:ln w="11430">
              <a:solidFill>
                <a:srgbClr val="FFFFFF"/>
              </a:solidFill>
            </a:ln>
          </p:spPr>
        </p:sp>
        <p:sp>
          <p:nvSpPr>
            <p:cNvPr id="62" name="Ellipse 62"/>
            <p:cNvSpPr/>
            <p:nvPr/>
          </p:nvSpPr>
          <p:spPr>
            <a:xfrm>
              <a:off x="5503545" y="2372678"/>
              <a:ext cx="41910" cy="41910"/>
            </a:xfrm>
            <a:prstGeom prst="ellipse">
              <a:avLst/>
            </a:prstGeom>
            <a:solidFill>
              <a:srgbClr val="7C1500"/>
            </a:solidFill>
            <a:ln>
              <a:noFill/>
            </a:ln>
          </p:spPr>
        </p:sp>
        <p:sp>
          <p:nvSpPr>
            <p:cNvPr id="63" name="TextBox 63"/>
            <p:cNvSpPr txBox="1"/>
            <p:nvPr/>
          </p:nvSpPr>
          <p:spPr>
            <a:xfrm>
              <a:off x="5748338" y="3422809"/>
              <a:ext cx="220986" cy="133350"/>
            </a:xfrm>
            <a:prstGeom prst="rect">
              <a:avLst/>
            </a:prstGeom>
            <a:noFill/>
            <a:ln>
              <a:noFill/>
            </a:ln>
          </p:spPr>
          <p:txBody>
            <a:bodyPr wrap="none" lIns="0" tIns="0" rIns="0" bIns="0" anchor="t" anchorCtr="0">
              <a:spAutoFit/>
            </a:bodyPr>
            <a:lstStyle/>
            <a:p>
              <a:pPr algn="l"/>
              <a:r>
                <a:rPr lang="zh-CN" sz="680" b="1" dirty="0">
                  <a:solidFill>
                    <a:srgbClr val="1A1A1A"/>
                  </a:solidFill>
                  <a:latin typeface="+mn-lt"/>
                  <a:ea typeface="+mn-ea"/>
                  <a:cs typeface="+mn-cs"/>
                </a:rPr>
                <a:t>645​</a:t>
              </a:r>
            </a:p>
          </p:txBody>
        </p:sp>
        <p:sp>
          <p:nvSpPr>
            <p:cNvPr id="64" name="TextBox 64"/>
            <p:cNvSpPr txBox="1"/>
            <p:nvPr/>
          </p:nvSpPr>
          <p:spPr>
            <a:xfrm>
              <a:off x="5323731" y="3798332"/>
              <a:ext cx="401538"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大型银行​</a:t>
              </a:r>
            </a:p>
          </p:txBody>
        </p:sp>
        <p:sp>
          <p:nvSpPr>
            <p:cNvPr id="65" name="Line 65"/>
            <p:cNvSpPr/>
            <p:nvPr/>
          </p:nvSpPr>
          <p:spPr>
            <a:xfrm>
              <a:off x="3810000" y="3743325"/>
              <a:ext cx="2095500" cy="9525"/>
            </a:xfrm>
            <a:custGeom>
              <a:avLst/>
              <a:gdLst/>
              <a:ahLst/>
              <a:cxnLst/>
              <a:rect l="l" t="t" r="r" b="b"/>
              <a:pathLst>
                <a:path w="2095500" h="9525">
                  <a:moveTo>
                    <a:pt x="0" y="0"/>
                  </a:moveTo>
                  <a:lnTo>
                    <a:pt x="2095500" y="0"/>
                  </a:lnTo>
                </a:path>
              </a:pathLst>
            </a:custGeom>
            <a:noFill/>
            <a:ln w="9525">
              <a:solidFill>
                <a:srgbClr val="666666"/>
              </a:solidFill>
            </a:ln>
          </p:spPr>
        </p:sp>
      </p:grpSp>
      <p:grpSp>
        <p:nvGrpSpPr>
          <p:cNvPr id="105" name="figure-14"/>
          <p:cNvGrpSpPr/>
          <p:nvPr/>
        </p:nvGrpSpPr>
        <p:grpSpPr>
          <a:xfrm>
            <a:off x="6281738" y="2711291"/>
            <a:ext cx="2885708" cy="2175272"/>
            <a:chOff x="6281738" y="2711291"/>
            <a:chExt cx="2885708" cy="2175272"/>
          </a:xfrm>
        </p:grpSpPr>
        <p:sp>
          <p:nvSpPr>
            <p:cNvPr id="67" name="TextBox 67"/>
            <p:cNvSpPr txBox="1"/>
            <p:nvPr/>
          </p:nvSpPr>
          <p:spPr>
            <a:xfrm>
              <a:off x="6281738" y="2711291"/>
              <a:ext cx="2239647"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图14. 单个模型层级的模型清单数据字段数​​</a:t>
              </a:r>
            </a:p>
          </p:txBody>
        </p:sp>
        <p:sp>
          <p:nvSpPr>
            <p:cNvPr id="68" name="TextBox 68"/>
            <p:cNvSpPr txBox="1"/>
            <p:nvPr/>
          </p:nvSpPr>
          <p:spPr>
            <a:xfrm>
              <a:off x="6281738" y="2855357"/>
              <a:ext cx="2885708"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Number of fields in the model inventory at an individual model level​​</a:t>
              </a:r>
            </a:p>
          </p:txBody>
        </p:sp>
        <p:sp>
          <p:nvSpPr>
            <p:cNvPr id="69" name="Line 69"/>
            <p:cNvSpPr/>
            <p:nvPr/>
          </p:nvSpPr>
          <p:spPr>
            <a:xfrm>
              <a:off x="6762750" y="4705350"/>
              <a:ext cx="2286000" cy="9525"/>
            </a:xfrm>
            <a:custGeom>
              <a:avLst/>
              <a:gdLst/>
              <a:ahLst/>
              <a:cxnLst/>
              <a:rect l="l" t="t" r="r" b="b"/>
              <a:pathLst>
                <a:path w="2286000" h="9525">
                  <a:moveTo>
                    <a:pt x="0" y="0"/>
                  </a:moveTo>
                  <a:lnTo>
                    <a:pt x="2286000" y="0"/>
                  </a:lnTo>
                </a:path>
              </a:pathLst>
            </a:custGeom>
            <a:noFill/>
            <a:ln w="6668">
              <a:solidFill>
                <a:srgbClr val="E6E6E6"/>
              </a:solidFill>
            </a:ln>
          </p:spPr>
        </p:sp>
        <p:sp>
          <p:nvSpPr>
            <p:cNvPr id="70" name="TextBox 70"/>
            <p:cNvSpPr txBox="1"/>
            <p:nvPr/>
          </p:nvSpPr>
          <p:spPr>
            <a:xfrm>
              <a:off x="6627437" y="4673203"/>
              <a:ext cx="92451"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0​</a:t>
              </a:r>
            </a:p>
          </p:txBody>
        </p:sp>
        <p:sp>
          <p:nvSpPr>
            <p:cNvPr id="71" name="Line 71"/>
            <p:cNvSpPr/>
            <p:nvPr/>
          </p:nvSpPr>
          <p:spPr>
            <a:xfrm>
              <a:off x="6762750" y="4324350"/>
              <a:ext cx="2286000" cy="9525"/>
            </a:xfrm>
            <a:custGeom>
              <a:avLst/>
              <a:gdLst/>
              <a:ahLst/>
              <a:cxnLst/>
              <a:rect l="l" t="t" r="r" b="b"/>
              <a:pathLst>
                <a:path w="2286000" h="9525">
                  <a:moveTo>
                    <a:pt x="0" y="0"/>
                  </a:moveTo>
                  <a:lnTo>
                    <a:pt x="2286000" y="0"/>
                  </a:lnTo>
                </a:path>
              </a:pathLst>
            </a:custGeom>
            <a:noFill/>
            <a:ln w="6668">
              <a:solidFill>
                <a:srgbClr val="E6E6E6"/>
              </a:solidFill>
            </a:ln>
          </p:spPr>
        </p:sp>
        <p:sp>
          <p:nvSpPr>
            <p:cNvPr id="72" name="TextBox 72"/>
            <p:cNvSpPr txBox="1"/>
            <p:nvPr/>
          </p:nvSpPr>
          <p:spPr>
            <a:xfrm>
              <a:off x="6585974" y="4292203"/>
              <a:ext cx="13391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50​</a:t>
              </a:r>
            </a:p>
          </p:txBody>
        </p:sp>
        <p:sp>
          <p:nvSpPr>
            <p:cNvPr id="73" name="Line 73"/>
            <p:cNvSpPr/>
            <p:nvPr/>
          </p:nvSpPr>
          <p:spPr>
            <a:xfrm>
              <a:off x="6762750" y="3943350"/>
              <a:ext cx="2286000" cy="9525"/>
            </a:xfrm>
            <a:custGeom>
              <a:avLst/>
              <a:gdLst/>
              <a:ahLst/>
              <a:cxnLst/>
              <a:rect l="l" t="t" r="r" b="b"/>
              <a:pathLst>
                <a:path w="2286000" h="9525">
                  <a:moveTo>
                    <a:pt x="0" y="0"/>
                  </a:moveTo>
                  <a:lnTo>
                    <a:pt x="2286000" y="0"/>
                  </a:lnTo>
                </a:path>
              </a:pathLst>
            </a:custGeom>
            <a:noFill/>
            <a:ln w="6668">
              <a:solidFill>
                <a:srgbClr val="E6E6E6"/>
              </a:solidFill>
            </a:ln>
          </p:spPr>
        </p:sp>
        <p:sp>
          <p:nvSpPr>
            <p:cNvPr id="74" name="TextBox 74"/>
            <p:cNvSpPr txBox="1"/>
            <p:nvPr/>
          </p:nvSpPr>
          <p:spPr>
            <a:xfrm>
              <a:off x="6544511" y="3911203"/>
              <a:ext cx="175377"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100​</a:t>
              </a:r>
            </a:p>
          </p:txBody>
        </p:sp>
        <p:sp>
          <p:nvSpPr>
            <p:cNvPr id="75" name="Line 75"/>
            <p:cNvSpPr/>
            <p:nvPr/>
          </p:nvSpPr>
          <p:spPr>
            <a:xfrm>
              <a:off x="6762750" y="3562350"/>
              <a:ext cx="2286000" cy="9525"/>
            </a:xfrm>
            <a:custGeom>
              <a:avLst/>
              <a:gdLst/>
              <a:ahLst/>
              <a:cxnLst/>
              <a:rect l="l" t="t" r="r" b="b"/>
              <a:pathLst>
                <a:path w="2286000" h="9525">
                  <a:moveTo>
                    <a:pt x="0" y="0"/>
                  </a:moveTo>
                  <a:lnTo>
                    <a:pt x="2286000" y="0"/>
                  </a:lnTo>
                </a:path>
              </a:pathLst>
            </a:custGeom>
            <a:noFill/>
            <a:ln w="6668">
              <a:solidFill>
                <a:srgbClr val="E6E6E6"/>
              </a:solidFill>
            </a:ln>
          </p:spPr>
        </p:sp>
        <p:sp>
          <p:nvSpPr>
            <p:cNvPr id="76" name="TextBox 76"/>
            <p:cNvSpPr txBox="1"/>
            <p:nvPr/>
          </p:nvSpPr>
          <p:spPr>
            <a:xfrm>
              <a:off x="6544511" y="3530203"/>
              <a:ext cx="175377"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150​</a:t>
              </a:r>
            </a:p>
          </p:txBody>
        </p:sp>
        <p:sp>
          <p:nvSpPr>
            <p:cNvPr id="77" name="Line 77"/>
            <p:cNvSpPr/>
            <p:nvPr/>
          </p:nvSpPr>
          <p:spPr>
            <a:xfrm>
              <a:off x="6762750" y="3181350"/>
              <a:ext cx="2286000" cy="9525"/>
            </a:xfrm>
            <a:custGeom>
              <a:avLst/>
              <a:gdLst/>
              <a:ahLst/>
              <a:cxnLst/>
              <a:rect l="l" t="t" r="r" b="b"/>
              <a:pathLst>
                <a:path w="2286000" h="9525">
                  <a:moveTo>
                    <a:pt x="0" y="0"/>
                  </a:moveTo>
                  <a:lnTo>
                    <a:pt x="2286000" y="0"/>
                  </a:lnTo>
                </a:path>
              </a:pathLst>
            </a:custGeom>
            <a:noFill/>
            <a:ln w="6668">
              <a:solidFill>
                <a:srgbClr val="E6E6E6"/>
              </a:solidFill>
            </a:ln>
          </p:spPr>
        </p:sp>
        <p:sp>
          <p:nvSpPr>
            <p:cNvPr id="78" name="TextBox 78"/>
            <p:cNvSpPr txBox="1"/>
            <p:nvPr/>
          </p:nvSpPr>
          <p:spPr>
            <a:xfrm>
              <a:off x="6544511" y="3149203"/>
              <a:ext cx="175377"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200​</a:t>
              </a:r>
            </a:p>
          </p:txBody>
        </p:sp>
        <p:sp>
          <p:nvSpPr>
            <p:cNvPr id="79" name="Line 79"/>
            <p:cNvSpPr/>
            <p:nvPr/>
          </p:nvSpPr>
          <p:spPr>
            <a:xfrm>
              <a:off x="7239000" y="4133850"/>
              <a:ext cx="9525" cy="533400"/>
            </a:xfrm>
            <a:custGeom>
              <a:avLst/>
              <a:gdLst/>
              <a:ahLst/>
              <a:cxnLst/>
              <a:rect l="l" t="t" r="r" b="b"/>
              <a:pathLst>
                <a:path w="9525" h="533400">
                  <a:moveTo>
                    <a:pt x="0" y="533400"/>
                  </a:moveTo>
                  <a:lnTo>
                    <a:pt x="0" y="0"/>
                  </a:lnTo>
                </a:path>
              </a:pathLst>
            </a:custGeom>
            <a:noFill/>
            <a:ln w="9525">
              <a:solidFill>
                <a:srgbClr val="F8A291"/>
              </a:solidFill>
            </a:ln>
          </p:spPr>
        </p:sp>
        <p:sp>
          <p:nvSpPr>
            <p:cNvPr id="80" name="Line 80"/>
            <p:cNvSpPr/>
            <p:nvPr/>
          </p:nvSpPr>
          <p:spPr>
            <a:xfrm>
              <a:off x="7162800" y="4133850"/>
              <a:ext cx="152400" cy="9525"/>
            </a:xfrm>
            <a:custGeom>
              <a:avLst/>
              <a:gdLst/>
              <a:ahLst/>
              <a:cxnLst/>
              <a:rect l="l" t="t" r="r" b="b"/>
              <a:pathLst>
                <a:path w="152400" h="9525">
                  <a:moveTo>
                    <a:pt x="0" y="0"/>
                  </a:moveTo>
                  <a:lnTo>
                    <a:pt x="152400" y="0"/>
                  </a:lnTo>
                </a:path>
              </a:pathLst>
            </a:custGeom>
            <a:noFill/>
            <a:ln w="9525">
              <a:solidFill>
                <a:srgbClr val="F8A291"/>
              </a:solidFill>
            </a:ln>
          </p:spPr>
        </p:sp>
        <p:sp>
          <p:nvSpPr>
            <p:cNvPr id="81" name="Line 81"/>
            <p:cNvSpPr/>
            <p:nvPr/>
          </p:nvSpPr>
          <p:spPr>
            <a:xfrm>
              <a:off x="7162800" y="4667250"/>
              <a:ext cx="152400" cy="9525"/>
            </a:xfrm>
            <a:custGeom>
              <a:avLst/>
              <a:gdLst/>
              <a:ahLst/>
              <a:cxnLst/>
              <a:rect l="l" t="t" r="r" b="b"/>
              <a:pathLst>
                <a:path w="152400" h="9525">
                  <a:moveTo>
                    <a:pt x="0" y="0"/>
                  </a:moveTo>
                  <a:lnTo>
                    <a:pt x="152400" y="0"/>
                  </a:lnTo>
                </a:path>
              </a:pathLst>
            </a:custGeom>
            <a:noFill/>
            <a:ln w="9525">
              <a:solidFill>
                <a:srgbClr val="F8A291"/>
              </a:solidFill>
            </a:ln>
          </p:spPr>
        </p:sp>
        <p:sp>
          <p:nvSpPr>
            <p:cNvPr id="82" name="Rectangle 82"/>
            <p:cNvSpPr/>
            <p:nvPr/>
          </p:nvSpPr>
          <p:spPr>
            <a:xfrm>
              <a:off x="7067550" y="4362450"/>
              <a:ext cx="342900" cy="228600"/>
            </a:xfrm>
            <a:prstGeom prst="rect">
              <a:avLst/>
            </a:prstGeom>
            <a:solidFill>
              <a:srgbClr val="F8A291"/>
            </a:solidFill>
            <a:ln>
              <a:noFill/>
            </a:ln>
          </p:spPr>
        </p:sp>
        <p:sp>
          <p:nvSpPr>
            <p:cNvPr id="83" name="Line 83"/>
            <p:cNvSpPr/>
            <p:nvPr/>
          </p:nvSpPr>
          <p:spPr>
            <a:xfrm>
              <a:off x="7067550" y="4491990"/>
              <a:ext cx="342900" cy="9525"/>
            </a:xfrm>
            <a:custGeom>
              <a:avLst/>
              <a:gdLst/>
              <a:ahLst/>
              <a:cxnLst/>
              <a:rect l="l" t="t" r="r" b="b"/>
              <a:pathLst>
                <a:path w="342900" h="9525">
                  <a:moveTo>
                    <a:pt x="0" y="0"/>
                  </a:moveTo>
                  <a:lnTo>
                    <a:pt x="342900" y="0"/>
                  </a:lnTo>
                </a:path>
              </a:pathLst>
            </a:custGeom>
            <a:noFill/>
            <a:ln w="11430">
              <a:solidFill>
                <a:srgbClr val="FFFFFF"/>
              </a:solidFill>
            </a:ln>
          </p:spPr>
        </p:sp>
        <p:sp>
          <p:nvSpPr>
            <p:cNvPr id="84" name="Ellipse 84"/>
            <p:cNvSpPr/>
            <p:nvPr/>
          </p:nvSpPr>
          <p:spPr>
            <a:xfrm>
              <a:off x="7218045" y="3922395"/>
              <a:ext cx="41910" cy="41910"/>
            </a:xfrm>
            <a:prstGeom prst="ellipse">
              <a:avLst/>
            </a:prstGeom>
            <a:solidFill>
              <a:srgbClr val="F8A291"/>
            </a:solidFill>
            <a:ln>
              <a:noFill/>
            </a:ln>
          </p:spPr>
        </p:sp>
        <p:sp>
          <p:nvSpPr>
            <p:cNvPr id="85" name="Ellipse 85"/>
            <p:cNvSpPr/>
            <p:nvPr/>
          </p:nvSpPr>
          <p:spPr>
            <a:xfrm>
              <a:off x="7218045" y="3846195"/>
              <a:ext cx="41910" cy="41910"/>
            </a:xfrm>
            <a:prstGeom prst="ellipse">
              <a:avLst/>
            </a:prstGeom>
            <a:solidFill>
              <a:srgbClr val="F8A291"/>
            </a:solidFill>
            <a:ln>
              <a:noFill/>
            </a:ln>
          </p:spPr>
        </p:sp>
        <p:sp>
          <p:nvSpPr>
            <p:cNvPr id="86" name="TextBox 86"/>
            <p:cNvSpPr txBox="1"/>
            <p:nvPr/>
          </p:nvSpPr>
          <p:spPr>
            <a:xfrm>
              <a:off x="7462838" y="4421981"/>
              <a:ext cx="168121" cy="133350"/>
            </a:xfrm>
            <a:prstGeom prst="rect">
              <a:avLst/>
            </a:prstGeom>
            <a:noFill/>
            <a:ln>
              <a:noFill/>
            </a:ln>
          </p:spPr>
          <p:txBody>
            <a:bodyPr wrap="none" lIns="0" tIns="0" rIns="0" bIns="0" anchor="t" anchorCtr="0">
              <a:spAutoFit/>
            </a:bodyPr>
            <a:lstStyle/>
            <a:p>
              <a:pPr algn="l"/>
              <a:r>
                <a:rPr lang="zh-CN" sz="680" b="1" dirty="0">
                  <a:solidFill>
                    <a:srgbClr val="1A1A1A"/>
                  </a:solidFill>
                  <a:latin typeface="+mn-lt"/>
                  <a:ea typeface="+mn-ea"/>
                  <a:cs typeface="+mn-cs"/>
                </a:rPr>
                <a:t>32​</a:t>
              </a:r>
            </a:p>
          </p:txBody>
        </p:sp>
        <p:sp>
          <p:nvSpPr>
            <p:cNvPr id="87" name="TextBox 87"/>
            <p:cNvSpPr txBox="1"/>
            <p:nvPr/>
          </p:nvSpPr>
          <p:spPr>
            <a:xfrm>
              <a:off x="7038231" y="4760357"/>
              <a:ext cx="401538"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小型银行​</a:t>
              </a:r>
            </a:p>
          </p:txBody>
        </p:sp>
        <p:sp>
          <p:nvSpPr>
            <p:cNvPr id="88" name="Line 88"/>
            <p:cNvSpPr/>
            <p:nvPr/>
          </p:nvSpPr>
          <p:spPr>
            <a:xfrm>
              <a:off x="7905750" y="4171950"/>
              <a:ext cx="9525" cy="472440"/>
            </a:xfrm>
            <a:custGeom>
              <a:avLst/>
              <a:gdLst/>
              <a:ahLst/>
              <a:cxnLst/>
              <a:rect l="l" t="t" r="r" b="b"/>
              <a:pathLst>
                <a:path w="9525" h="472440">
                  <a:moveTo>
                    <a:pt x="0" y="472440"/>
                  </a:moveTo>
                  <a:lnTo>
                    <a:pt x="0" y="0"/>
                  </a:lnTo>
                </a:path>
              </a:pathLst>
            </a:custGeom>
            <a:noFill/>
            <a:ln w="9525">
              <a:solidFill>
                <a:srgbClr val="E72700"/>
              </a:solidFill>
            </a:ln>
          </p:spPr>
        </p:sp>
        <p:sp>
          <p:nvSpPr>
            <p:cNvPr id="89" name="Line 89"/>
            <p:cNvSpPr/>
            <p:nvPr/>
          </p:nvSpPr>
          <p:spPr>
            <a:xfrm>
              <a:off x="7829550" y="4171950"/>
              <a:ext cx="152400" cy="9525"/>
            </a:xfrm>
            <a:custGeom>
              <a:avLst/>
              <a:gdLst/>
              <a:ahLst/>
              <a:cxnLst/>
              <a:rect l="l" t="t" r="r" b="b"/>
              <a:pathLst>
                <a:path w="152400" h="9525">
                  <a:moveTo>
                    <a:pt x="0" y="0"/>
                  </a:moveTo>
                  <a:lnTo>
                    <a:pt x="152400" y="0"/>
                  </a:lnTo>
                </a:path>
              </a:pathLst>
            </a:custGeom>
            <a:noFill/>
            <a:ln w="9525">
              <a:solidFill>
                <a:srgbClr val="E72700"/>
              </a:solidFill>
            </a:ln>
          </p:spPr>
        </p:sp>
        <p:sp>
          <p:nvSpPr>
            <p:cNvPr id="90" name="Line 90"/>
            <p:cNvSpPr/>
            <p:nvPr/>
          </p:nvSpPr>
          <p:spPr>
            <a:xfrm>
              <a:off x="7829550" y="4644390"/>
              <a:ext cx="152400" cy="9525"/>
            </a:xfrm>
            <a:custGeom>
              <a:avLst/>
              <a:gdLst/>
              <a:ahLst/>
              <a:cxnLst/>
              <a:rect l="l" t="t" r="r" b="b"/>
              <a:pathLst>
                <a:path w="152400" h="9525">
                  <a:moveTo>
                    <a:pt x="0" y="0"/>
                  </a:moveTo>
                  <a:lnTo>
                    <a:pt x="152400" y="0"/>
                  </a:lnTo>
                </a:path>
              </a:pathLst>
            </a:custGeom>
            <a:noFill/>
            <a:ln w="9525">
              <a:solidFill>
                <a:srgbClr val="E72700"/>
              </a:solidFill>
            </a:ln>
          </p:spPr>
        </p:sp>
        <p:sp>
          <p:nvSpPr>
            <p:cNvPr id="91" name="Rectangle 91"/>
            <p:cNvSpPr/>
            <p:nvPr/>
          </p:nvSpPr>
          <p:spPr>
            <a:xfrm>
              <a:off x="7734300" y="4362450"/>
              <a:ext cx="342900" cy="190500"/>
            </a:xfrm>
            <a:prstGeom prst="rect">
              <a:avLst/>
            </a:prstGeom>
            <a:solidFill>
              <a:srgbClr val="E72700"/>
            </a:solidFill>
            <a:ln>
              <a:noFill/>
            </a:ln>
          </p:spPr>
        </p:sp>
        <p:sp>
          <p:nvSpPr>
            <p:cNvPr id="92" name="Line 92"/>
            <p:cNvSpPr/>
            <p:nvPr/>
          </p:nvSpPr>
          <p:spPr>
            <a:xfrm>
              <a:off x="7734300" y="4476750"/>
              <a:ext cx="342900" cy="9525"/>
            </a:xfrm>
            <a:custGeom>
              <a:avLst/>
              <a:gdLst/>
              <a:ahLst/>
              <a:cxnLst/>
              <a:rect l="l" t="t" r="r" b="b"/>
              <a:pathLst>
                <a:path w="342900" h="9525">
                  <a:moveTo>
                    <a:pt x="0" y="0"/>
                  </a:moveTo>
                  <a:lnTo>
                    <a:pt x="342900" y="0"/>
                  </a:lnTo>
                </a:path>
              </a:pathLst>
            </a:custGeom>
            <a:noFill/>
            <a:ln w="11430">
              <a:solidFill>
                <a:srgbClr val="FFFFFF"/>
              </a:solidFill>
            </a:ln>
          </p:spPr>
        </p:sp>
        <p:sp>
          <p:nvSpPr>
            <p:cNvPr id="93" name="Ellipse 93"/>
            <p:cNvSpPr/>
            <p:nvPr/>
          </p:nvSpPr>
          <p:spPr>
            <a:xfrm>
              <a:off x="7884795" y="3731895"/>
              <a:ext cx="41910" cy="41910"/>
            </a:xfrm>
            <a:prstGeom prst="ellipse">
              <a:avLst/>
            </a:prstGeom>
            <a:solidFill>
              <a:srgbClr val="E72700"/>
            </a:solidFill>
            <a:ln>
              <a:noFill/>
            </a:ln>
          </p:spPr>
        </p:sp>
        <p:sp>
          <p:nvSpPr>
            <p:cNvPr id="94" name="TextBox 94"/>
            <p:cNvSpPr txBox="1"/>
            <p:nvPr/>
          </p:nvSpPr>
          <p:spPr>
            <a:xfrm>
              <a:off x="8129588" y="4414361"/>
              <a:ext cx="168121" cy="133350"/>
            </a:xfrm>
            <a:prstGeom prst="rect">
              <a:avLst/>
            </a:prstGeom>
            <a:noFill/>
            <a:ln>
              <a:noFill/>
            </a:ln>
          </p:spPr>
          <p:txBody>
            <a:bodyPr wrap="none" lIns="0" tIns="0" rIns="0" bIns="0" anchor="t" anchorCtr="0">
              <a:spAutoFit/>
            </a:bodyPr>
            <a:lstStyle/>
            <a:p>
              <a:pPr algn="l"/>
              <a:r>
                <a:rPr lang="zh-CN" sz="680" b="1" dirty="0">
                  <a:solidFill>
                    <a:srgbClr val="1A1A1A"/>
                  </a:solidFill>
                  <a:latin typeface="+mn-lt"/>
                  <a:ea typeface="+mn-ea"/>
                  <a:cs typeface="+mn-cs"/>
                </a:rPr>
                <a:t>33​</a:t>
              </a:r>
            </a:p>
          </p:txBody>
        </p:sp>
        <p:sp>
          <p:nvSpPr>
            <p:cNvPr id="95" name="TextBox 95"/>
            <p:cNvSpPr txBox="1"/>
            <p:nvPr/>
          </p:nvSpPr>
          <p:spPr>
            <a:xfrm>
              <a:off x="7704981" y="4760357"/>
              <a:ext cx="401538"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中型银行​</a:t>
              </a:r>
            </a:p>
          </p:txBody>
        </p:sp>
        <p:sp>
          <p:nvSpPr>
            <p:cNvPr id="96" name="Line 96"/>
            <p:cNvSpPr/>
            <p:nvPr/>
          </p:nvSpPr>
          <p:spPr>
            <a:xfrm>
              <a:off x="8572500" y="3829050"/>
              <a:ext cx="9525" cy="762000"/>
            </a:xfrm>
            <a:custGeom>
              <a:avLst/>
              <a:gdLst/>
              <a:ahLst/>
              <a:cxnLst/>
              <a:rect l="l" t="t" r="r" b="b"/>
              <a:pathLst>
                <a:path w="9525" h="762000">
                  <a:moveTo>
                    <a:pt x="0" y="762000"/>
                  </a:moveTo>
                  <a:lnTo>
                    <a:pt x="0" y="0"/>
                  </a:lnTo>
                </a:path>
              </a:pathLst>
            </a:custGeom>
            <a:noFill/>
            <a:ln w="9525">
              <a:solidFill>
                <a:srgbClr val="7C1500"/>
              </a:solidFill>
            </a:ln>
          </p:spPr>
        </p:sp>
        <p:sp>
          <p:nvSpPr>
            <p:cNvPr id="97" name="Line 97"/>
            <p:cNvSpPr/>
            <p:nvPr/>
          </p:nvSpPr>
          <p:spPr>
            <a:xfrm>
              <a:off x="8496300" y="3829050"/>
              <a:ext cx="152400" cy="9525"/>
            </a:xfrm>
            <a:custGeom>
              <a:avLst/>
              <a:gdLst/>
              <a:ahLst/>
              <a:cxnLst/>
              <a:rect l="l" t="t" r="r" b="b"/>
              <a:pathLst>
                <a:path w="152400" h="9525">
                  <a:moveTo>
                    <a:pt x="0" y="0"/>
                  </a:moveTo>
                  <a:lnTo>
                    <a:pt x="152400" y="0"/>
                  </a:lnTo>
                </a:path>
              </a:pathLst>
            </a:custGeom>
            <a:noFill/>
            <a:ln w="9525">
              <a:solidFill>
                <a:srgbClr val="7C1500"/>
              </a:solidFill>
            </a:ln>
          </p:spPr>
        </p:sp>
        <p:sp>
          <p:nvSpPr>
            <p:cNvPr id="98" name="Line 98"/>
            <p:cNvSpPr/>
            <p:nvPr/>
          </p:nvSpPr>
          <p:spPr>
            <a:xfrm>
              <a:off x="8496300" y="4591050"/>
              <a:ext cx="152400" cy="9525"/>
            </a:xfrm>
            <a:custGeom>
              <a:avLst/>
              <a:gdLst/>
              <a:ahLst/>
              <a:cxnLst/>
              <a:rect l="l" t="t" r="r" b="b"/>
              <a:pathLst>
                <a:path w="152400" h="9525">
                  <a:moveTo>
                    <a:pt x="0" y="0"/>
                  </a:moveTo>
                  <a:lnTo>
                    <a:pt x="152400" y="0"/>
                  </a:lnTo>
                </a:path>
              </a:pathLst>
            </a:custGeom>
            <a:noFill/>
            <a:ln w="9525">
              <a:solidFill>
                <a:srgbClr val="7C1500"/>
              </a:solidFill>
            </a:ln>
          </p:spPr>
        </p:sp>
        <p:sp>
          <p:nvSpPr>
            <p:cNvPr id="99" name="Rectangle 99"/>
            <p:cNvSpPr/>
            <p:nvPr/>
          </p:nvSpPr>
          <p:spPr>
            <a:xfrm>
              <a:off x="8401050" y="4095750"/>
              <a:ext cx="342900" cy="381000"/>
            </a:xfrm>
            <a:prstGeom prst="rect">
              <a:avLst/>
            </a:prstGeom>
            <a:solidFill>
              <a:srgbClr val="7C1500"/>
            </a:solidFill>
            <a:ln>
              <a:noFill/>
            </a:ln>
          </p:spPr>
        </p:sp>
        <p:sp>
          <p:nvSpPr>
            <p:cNvPr id="100" name="Line 100"/>
            <p:cNvSpPr/>
            <p:nvPr/>
          </p:nvSpPr>
          <p:spPr>
            <a:xfrm>
              <a:off x="8401050" y="4324350"/>
              <a:ext cx="342900" cy="9525"/>
            </a:xfrm>
            <a:custGeom>
              <a:avLst/>
              <a:gdLst/>
              <a:ahLst/>
              <a:cxnLst/>
              <a:rect l="l" t="t" r="r" b="b"/>
              <a:pathLst>
                <a:path w="342900" h="9525">
                  <a:moveTo>
                    <a:pt x="0" y="0"/>
                  </a:moveTo>
                  <a:lnTo>
                    <a:pt x="342900" y="0"/>
                  </a:lnTo>
                </a:path>
              </a:pathLst>
            </a:custGeom>
            <a:noFill/>
            <a:ln w="11430">
              <a:solidFill>
                <a:srgbClr val="FFFFFF"/>
              </a:solidFill>
            </a:ln>
          </p:spPr>
        </p:sp>
        <p:sp>
          <p:nvSpPr>
            <p:cNvPr id="101" name="Ellipse 101"/>
            <p:cNvSpPr/>
            <p:nvPr/>
          </p:nvSpPr>
          <p:spPr>
            <a:xfrm>
              <a:off x="8551545" y="3236595"/>
              <a:ext cx="41910" cy="41910"/>
            </a:xfrm>
            <a:prstGeom prst="ellipse">
              <a:avLst/>
            </a:prstGeom>
            <a:solidFill>
              <a:srgbClr val="7C1500"/>
            </a:solidFill>
            <a:ln>
              <a:noFill/>
            </a:ln>
          </p:spPr>
        </p:sp>
        <p:sp>
          <p:nvSpPr>
            <p:cNvPr id="102" name="TextBox 102"/>
            <p:cNvSpPr txBox="1"/>
            <p:nvPr/>
          </p:nvSpPr>
          <p:spPr>
            <a:xfrm>
              <a:off x="8796338" y="4223861"/>
              <a:ext cx="168121" cy="133350"/>
            </a:xfrm>
            <a:prstGeom prst="rect">
              <a:avLst/>
            </a:prstGeom>
            <a:noFill/>
            <a:ln>
              <a:noFill/>
            </a:ln>
          </p:spPr>
          <p:txBody>
            <a:bodyPr wrap="none" lIns="0" tIns="0" rIns="0" bIns="0" anchor="t" anchorCtr="0">
              <a:spAutoFit/>
            </a:bodyPr>
            <a:lstStyle/>
            <a:p>
              <a:pPr algn="l"/>
              <a:r>
                <a:rPr lang="zh-CN" sz="680" b="1" dirty="0">
                  <a:solidFill>
                    <a:srgbClr val="1A1A1A"/>
                  </a:solidFill>
                  <a:latin typeface="+mn-lt"/>
                  <a:ea typeface="+mn-ea"/>
                  <a:cs typeface="+mn-cs"/>
                </a:rPr>
                <a:t>58​</a:t>
              </a:r>
            </a:p>
          </p:txBody>
        </p:sp>
        <p:sp>
          <p:nvSpPr>
            <p:cNvPr id="103" name="TextBox 103"/>
            <p:cNvSpPr txBox="1"/>
            <p:nvPr/>
          </p:nvSpPr>
          <p:spPr>
            <a:xfrm>
              <a:off x="8371731" y="4760357"/>
              <a:ext cx="401538" cy="126206"/>
            </a:xfrm>
            <a:prstGeom prst="rect">
              <a:avLst/>
            </a:prstGeom>
            <a:noFill/>
            <a:ln>
              <a:noFill/>
            </a:ln>
          </p:spPr>
          <p:txBody>
            <a:bodyPr wrap="none" lIns="0" tIns="0" rIns="0" bIns="0" anchor="t" anchorCtr="0">
              <a:spAutoFit/>
            </a:bodyPr>
            <a:lstStyle/>
            <a:p>
              <a:pPr algn="ctr"/>
              <a:r>
                <a:rPr lang="zh-CN" sz="640" dirty="0">
                  <a:solidFill>
                    <a:srgbClr val="666666"/>
                  </a:solidFill>
                  <a:latin typeface="+mn-lt"/>
                  <a:ea typeface="+mn-ea"/>
                  <a:cs typeface="+mn-cs"/>
                </a:rPr>
                <a:t>大型银行​</a:t>
              </a:r>
            </a:p>
          </p:txBody>
        </p:sp>
        <p:sp>
          <p:nvSpPr>
            <p:cNvPr id="104" name="Line 104"/>
            <p:cNvSpPr/>
            <p:nvPr/>
          </p:nvSpPr>
          <p:spPr>
            <a:xfrm>
              <a:off x="6762750" y="4705350"/>
              <a:ext cx="2286000" cy="9525"/>
            </a:xfrm>
            <a:custGeom>
              <a:avLst/>
              <a:gdLst/>
              <a:ahLst/>
              <a:cxnLst/>
              <a:rect l="l" t="t" r="r" b="b"/>
              <a:pathLst>
                <a:path w="2286000" h="9525">
                  <a:moveTo>
                    <a:pt x="0" y="0"/>
                  </a:moveTo>
                  <a:lnTo>
                    <a:pt x="2286000" y="0"/>
                  </a:lnTo>
                </a:path>
              </a:pathLst>
            </a:custGeom>
            <a:noFill/>
            <a:ln w="9525">
              <a:solidFill>
                <a:srgbClr val="666666"/>
              </a:solidFill>
            </a:ln>
          </p:spPr>
        </p:sp>
      </p:grpSp>
      <p:grpSp>
        <p:nvGrpSpPr>
          <p:cNvPr id="139" name="nav"/>
          <p:cNvGrpSpPr/>
          <p:nvPr/>
        </p:nvGrpSpPr>
        <p:grpSpPr>
          <a:xfrm>
            <a:off x="9834562" y="0"/>
            <a:ext cx="2357438" cy="6858000"/>
            <a:chOff x="9834562" y="0"/>
            <a:chExt cx="2357438" cy="6858000"/>
          </a:xfrm>
        </p:grpSpPr>
        <p:sp>
          <p:nvSpPr>
            <p:cNvPr id="106" name="Line 106"/>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07" name="Rectangle 107"/>
            <p:cNvSpPr/>
            <p:nvPr/>
          </p:nvSpPr>
          <p:spPr>
            <a:xfrm>
              <a:off x="9839325" y="476250"/>
              <a:ext cx="2352675" cy="514350"/>
            </a:xfrm>
            <a:prstGeom prst="rect">
              <a:avLst/>
            </a:prstGeom>
            <a:solidFill>
              <a:srgbClr val="F3F3F3"/>
            </a:solidFill>
            <a:ln>
              <a:noFill/>
            </a:ln>
          </p:spPr>
        </p:sp>
        <p:sp>
          <p:nvSpPr>
            <p:cNvPr id="108" name="TextBox 108"/>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09" name="Rectangle 109"/>
            <p:cNvSpPr/>
            <p:nvPr/>
          </p:nvSpPr>
          <p:spPr>
            <a:xfrm>
              <a:off x="9839325" y="1000125"/>
              <a:ext cx="2352675" cy="514350"/>
            </a:xfrm>
            <a:prstGeom prst="rect">
              <a:avLst/>
            </a:prstGeom>
            <a:solidFill>
              <a:srgbClr val="F3F3F3"/>
            </a:solidFill>
            <a:ln>
              <a:noFill/>
            </a:ln>
          </p:spPr>
        </p:sp>
        <p:sp>
          <p:nvSpPr>
            <p:cNvPr id="110" name="TextBox 110"/>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11" name="Rectangle 111"/>
            <p:cNvSpPr/>
            <p:nvPr/>
          </p:nvSpPr>
          <p:spPr>
            <a:xfrm>
              <a:off x="9839325" y="1524000"/>
              <a:ext cx="2352675" cy="514350"/>
            </a:xfrm>
            <a:prstGeom prst="rect">
              <a:avLst/>
            </a:prstGeom>
            <a:solidFill>
              <a:srgbClr val="F3F3F3"/>
            </a:solidFill>
            <a:ln>
              <a:noFill/>
            </a:ln>
          </p:spPr>
        </p:sp>
        <p:sp>
          <p:nvSpPr>
            <p:cNvPr id="112" name="TextBox 112"/>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13" name="Rectangle 113"/>
            <p:cNvSpPr/>
            <p:nvPr/>
          </p:nvSpPr>
          <p:spPr>
            <a:xfrm>
              <a:off x="9839325" y="2047875"/>
              <a:ext cx="2352675" cy="514350"/>
            </a:xfrm>
            <a:prstGeom prst="rect">
              <a:avLst/>
            </a:prstGeom>
            <a:solidFill>
              <a:srgbClr val="F3F3F3"/>
            </a:solidFill>
            <a:ln>
              <a:noFill/>
            </a:ln>
          </p:spPr>
        </p:sp>
        <p:sp>
          <p:nvSpPr>
            <p:cNvPr id="114" name="TextBox 114"/>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15" name="Rectangle 115"/>
            <p:cNvSpPr/>
            <p:nvPr/>
          </p:nvSpPr>
          <p:spPr>
            <a:xfrm>
              <a:off x="9839325" y="2571750"/>
              <a:ext cx="2352675" cy="514350"/>
            </a:xfrm>
            <a:prstGeom prst="rect">
              <a:avLst/>
            </a:prstGeom>
            <a:solidFill>
              <a:srgbClr val="F8A291"/>
            </a:solidFill>
            <a:ln>
              <a:noFill/>
            </a:ln>
          </p:spPr>
        </p:sp>
        <p:sp>
          <p:nvSpPr>
            <p:cNvPr id="116" name="TextBox 116"/>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b="1" dirty="0">
                  <a:solidFill>
                    <a:srgbClr val="1A1A1A"/>
                  </a:solidFill>
                  <a:latin typeface="+mn-lt"/>
                  <a:ea typeface="+mn-ea"/>
                  <a:cs typeface="+mn-cs"/>
                </a:rPr>
                <a:t>模型版图与清单：</a:t>
              </a:r>
              <a:br/>
              <a:r>
                <a:rPr lang="zh-CN" sz="820" b="1" dirty="0">
                  <a:solidFill>
                    <a:srgbClr val="1A1A1A"/>
                  </a:solidFill>
                  <a:latin typeface="+mn-lt"/>
                  <a:ea typeface="+mn-ea"/>
                  <a:cs typeface="+mn-cs"/>
                </a:rPr>
                <a:t>高效模型风险管理的基础</a:t>
              </a:r>
            </a:p>
          </p:txBody>
        </p:sp>
        <p:sp>
          <p:nvSpPr>
            <p:cNvPr id="117" name="Rectangle 117"/>
            <p:cNvSpPr/>
            <p:nvPr/>
          </p:nvSpPr>
          <p:spPr>
            <a:xfrm>
              <a:off x="9839325" y="3095625"/>
              <a:ext cx="2352675" cy="514350"/>
            </a:xfrm>
            <a:prstGeom prst="rect">
              <a:avLst/>
            </a:prstGeom>
            <a:solidFill>
              <a:srgbClr val="F3F3F3"/>
            </a:solidFill>
            <a:ln>
              <a:noFill/>
            </a:ln>
          </p:spPr>
        </p:sp>
        <p:sp>
          <p:nvSpPr>
            <p:cNvPr id="118" name="TextBox 118"/>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19" name="Rectangle 119"/>
            <p:cNvSpPr/>
            <p:nvPr/>
          </p:nvSpPr>
          <p:spPr>
            <a:xfrm>
              <a:off x="9839325" y="3619500"/>
              <a:ext cx="2352675" cy="514350"/>
            </a:xfrm>
            <a:prstGeom prst="rect">
              <a:avLst/>
            </a:prstGeom>
            <a:solidFill>
              <a:srgbClr val="F3F3F3"/>
            </a:solidFill>
            <a:ln>
              <a:noFill/>
            </a:ln>
          </p:spPr>
        </p:sp>
        <p:sp>
          <p:nvSpPr>
            <p:cNvPr id="120" name="TextBox 120"/>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21" name="Rectangle 121"/>
            <p:cNvSpPr/>
            <p:nvPr/>
          </p:nvSpPr>
          <p:spPr>
            <a:xfrm>
              <a:off x="9839325" y="4143375"/>
              <a:ext cx="2352675" cy="514350"/>
            </a:xfrm>
            <a:prstGeom prst="rect">
              <a:avLst/>
            </a:prstGeom>
            <a:solidFill>
              <a:srgbClr val="F3F3F3"/>
            </a:solidFill>
            <a:ln>
              <a:noFill/>
            </a:ln>
          </p:spPr>
        </p:sp>
        <p:sp>
          <p:nvSpPr>
            <p:cNvPr id="122" name="TextBox 122"/>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23" name="Rectangle 123"/>
            <p:cNvSpPr/>
            <p:nvPr/>
          </p:nvSpPr>
          <p:spPr>
            <a:xfrm>
              <a:off x="9839325" y="4667250"/>
              <a:ext cx="2352675" cy="514350"/>
            </a:xfrm>
            <a:prstGeom prst="rect">
              <a:avLst/>
            </a:prstGeom>
            <a:solidFill>
              <a:srgbClr val="F3F3F3"/>
            </a:solidFill>
            <a:ln>
              <a:noFill/>
            </a:ln>
          </p:spPr>
        </p:sp>
        <p:sp>
          <p:nvSpPr>
            <p:cNvPr id="124" name="TextBox 124"/>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25" name="Rectangle 125"/>
            <p:cNvSpPr/>
            <p:nvPr/>
          </p:nvSpPr>
          <p:spPr>
            <a:xfrm>
              <a:off x="9839325" y="5191125"/>
              <a:ext cx="2352675" cy="514350"/>
            </a:xfrm>
            <a:prstGeom prst="rect">
              <a:avLst/>
            </a:prstGeom>
            <a:solidFill>
              <a:srgbClr val="F3F3F3"/>
            </a:solidFill>
            <a:ln>
              <a:noFill/>
            </a:ln>
          </p:spPr>
        </p:sp>
        <p:sp>
          <p:nvSpPr>
            <p:cNvPr id="126" name="TextBox 126"/>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27" name="Rectangle 127"/>
            <p:cNvSpPr/>
            <p:nvPr/>
          </p:nvSpPr>
          <p:spPr>
            <a:xfrm>
              <a:off x="9839325" y="5715000"/>
              <a:ext cx="2352675" cy="514350"/>
            </a:xfrm>
            <a:prstGeom prst="rect">
              <a:avLst/>
            </a:prstGeom>
            <a:solidFill>
              <a:srgbClr val="F3F3F3"/>
            </a:solidFill>
            <a:ln>
              <a:noFill/>
            </a:ln>
          </p:spPr>
        </p:sp>
        <p:sp>
          <p:nvSpPr>
            <p:cNvPr id="128" name="TextBox 128"/>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29" name="Ellipse 129"/>
            <p:cNvSpPr/>
            <p:nvPr/>
          </p:nvSpPr>
          <p:spPr>
            <a:xfrm>
              <a:off x="10020300" y="6372225"/>
              <a:ext cx="266700" cy="266700"/>
            </a:xfrm>
            <a:prstGeom prst="ellipse">
              <a:avLst/>
            </a:prstGeom>
            <a:solidFill>
              <a:srgbClr val="D7D8D6"/>
            </a:solidFill>
            <a:ln>
              <a:noFill/>
            </a:ln>
          </p:spPr>
        </p:sp>
        <p:sp>
          <p:nvSpPr>
            <p:cNvPr id="130" name="Freeform 130"/>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31" name="Ellipse 131"/>
            <p:cNvSpPr/>
            <p:nvPr/>
          </p:nvSpPr>
          <p:spPr>
            <a:xfrm>
              <a:off x="10420350" y="6372225"/>
              <a:ext cx="266700" cy="266700"/>
            </a:xfrm>
            <a:prstGeom prst="ellipse">
              <a:avLst/>
            </a:prstGeom>
            <a:solidFill>
              <a:srgbClr val="D7D8D6"/>
            </a:solidFill>
            <a:ln>
              <a:noFill/>
            </a:ln>
          </p:spPr>
        </p:sp>
        <p:grpSp>
          <p:nvGrpSpPr>
            <p:cNvPr id="135" name="Group 135"/>
            <p:cNvGrpSpPr/>
            <p:nvPr/>
          </p:nvGrpSpPr>
          <p:grpSpPr>
            <a:xfrm>
              <a:off x="10489406" y="6441281"/>
              <a:ext cx="128588" cy="128588"/>
              <a:chOff x="10489406" y="6441281"/>
              <a:chExt cx="128588" cy="128588"/>
            </a:xfrm>
          </p:grpSpPr>
          <p:sp>
            <p:nvSpPr>
              <p:cNvPr id="132" name="Freeform 132"/>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33" name="Freeform 133"/>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34" name="Freeform 134"/>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36" name="Ellipse 136"/>
            <p:cNvSpPr/>
            <p:nvPr/>
          </p:nvSpPr>
          <p:spPr>
            <a:xfrm>
              <a:off x="10820400" y="6372225"/>
              <a:ext cx="266700" cy="266700"/>
            </a:xfrm>
            <a:prstGeom prst="ellipse">
              <a:avLst/>
            </a:prstGeom>
            <a:solidFill>
              <a:srgbClr val="D7D8D6"/>
            </a:solidFill>
            <a:ln>
              <a:noFill/>
            </a:ln>
          </p:spPr>
        </p:sp>
        <p:sp>
          <p:nvSpPr>
            <p:cNvPr id="137" name="Freeform 137"/>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38" name="TextBox 138"/>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15</a:t>
              </a:r>
            </a:p>
          </p:txBody>
        </p:sp>
      </p:gr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8A291"/>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16</a:t>
              </a:r>
            </a:p>
          </p:txBody>
        </p:sp>
        <p:sp>
          <p:nvSpPr>
            <p:cNvPr id="4" name="TextBox 4"/>
            <p:cNvSpPr txBox="1"/>
            <p:nvPr/>
          </p:nvSpPr>
          <p:spPr>
            <a:xfrm>
              <a:off x="942594" y="151448"/>
              <a:ext cx="544998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模型版图与清单：</a:t>
              </a:r>
              <a:r>
                <a:rPr lang="zh-CN" sz="1950" b="1" dirty="0">
                  <a:solidFill>
                    <a:srgbClr val="B61F00"/>
                  </a:solidFill>
                  <a:latin typeface="+mj-lt"/>
                  <a:ea typeface="+mj-ea"/>
                  <a:cs typeface="+mj-cs"/>
                </a:rPr>
                <a:t>单个模型层级存储的信息</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F8A291"/>
              </a:solidFill>
            </a:ln>
          </p:spPr>
        </p:sp>
      </p:grpSp>
      <p:grpSp>
        <p:nvGrpSpPr>
          <p:cNvPr id="9" name="col-1"/>
          <p:cNvGrpSpPr/>
          <p:nvPr/>
        </p:nvGrpSpPr>
        <p:grpSpPr>
          <a:xfrm>
            <a:off x="566738" y="912495"/>
            <a:ext cx="2358390" cy="1185862"/>
            <a:chOff x="566738" y="912495"/>
            <a:chExt cx="2358390" cy="1185862"/>
          </a:xfrm>
        </p:grpSpPr>
        <p:sp>
          <p:nvSpPr>
            <p:cNvPr id="7" name="TextBox 7"/>
            <p:cNvSpPr txBox="1"/>
            <p:nvPr/>
          </p:nvSpPr>
          <p:spPr>
            <a:xfrm>
              <a:off x="566738" y="912495"/>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多数银行至少会存储被视为模型风险管理关键​</a:t>
              </a:r>
              <a:br/>
              <a:r>
                <a:rPr lang="zh-CN" sz="900" dirty="0">
                  <a:solidFill>
                    <a:srgbClr val="333333"/>
                  </a:solidFill>
                  <a:latin typeface="+mn-lt"/>
                  <a:ea typeface="+mn-ea"/>
                  <a:cs typeface="+mn-cs"/>
                </a:rPr>
                <a:t>的信息，包括模型所有者、模型重大性、模型​</a:t>
              </a:r>
              <a:br/>
              <a:r>
                <a:rPr lang="zh-CN" sz="900" dirty="0">
                  <a:solidFill>
                    <a:srgbClr val="333333"/>
                  </a:solidFill>
                  <a:latin typeface="+mn-lt"/>
                  <a:ea typeface="+mn-ea"/>
                  <a:cs typeface="+mn-cs"/>
                </a:rPr>
                <a:t>质量和模型用途。​</a:t>
              </a:r>
            </a:p>
          </p:txBody>
        </p:sp>
        <p:sp>
          <p:nvSpPr>
            <p:cNvPr id="8" name="TextBox 8"/>
            <p:cNvSpPr txBox="1"/>
            <p:nvPr/>
          </p:nvSpPr>
          <p:spPr>
            <a:xfrm>
              <a:off x="566738" y="1560195"/>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而需要更多努力才能获取、并且需要持续跟踪​</a:t>
              </a:r>
              <a:br/>
              <a:r>
                <a:rPr lang="zh-CN" sz="900" dirty="0">
                  <a:solidFill>
                    <a:srgbClr val="333333"/>
                  </a:solidFill>
                  <a:latin typeface="+mn-lt"/>
                  <a:ea typeface="+mn-ea"/>
                  <a:cs typeface="+mn-cs"/>
                </a:rPr>
                <a:t>的信息，例如模型依赖关系和模型限制，在银​</a:t>
              </a:r>
              <a:br/>
              <a:r>
                <a:rPr lang="zh-CN" sz="900" dirty="0">
                  <a:solidFill>
                    <a:srgbClr val="333333"/>
                  </a:solidFill>
                  <a:latin typeface="+mn-lt"/>
                  <a:ea typeface="+mn-ea"/>
                  <a:cs typeface="+mn-cs"/>
                </a:rPr>
                <a:t>行的模型清单中可得性要低得多。​</a:t>
              </a:r>
            </a:p>
          </p:txBody>
        </p:sp>
      </p:grpSp>
      <p:grpSp>
        <p:nvGrpSpPr>
          <p:cNvPr id="86" name="figure-15"/>
          <p:cNvGrpSpPr/>
          <p:nvPr/>
        </p:nvGrpSpPr>
        <p:grpSpPr>
          <a:xfrm>
            <a:off x="3424238" y="901541"/>
            <a:ext cx="5843663" cy="5010626"/>
            <a:chOff x="3424238" y="901541"/>
            <a:chExt cx="5843663" cy="5010626"/>
          </a:xfrm>
        </p:grpSpPr>
        <p:sp>
          <p:nvSpPr>
            <p:cNvPr id="10" name="TextBox 10"/>
            <p:cNvSpPr txBox="1"/>
            <p:nvPr/>
          </p:nvSpPr>
          <p:spPr>
            <a:xfrm>
              <a:off x="3424238" y="901541"/>
              <a:ext cx="2350035"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图15. 单个模型层级在模型清单中存储的信息​​</a:t>
              </a:r>
            </a:p>
          </p:txBody>
        </p:sp>
        <p:sp>
          <p:nvSpPr>
            <p:cNvPr id="11" name="TextBox 11"/>
            <p:cNvSpPr txBox="1"/>
            <p:nvPr/>
          </p:nvSpPr>
          <p:spPr>
            <a:xfrm>
              <a:off x="3424238" y="1055132"/>
              <a:ext cx="3001986"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Information stored in the model inventory at an individual model level​​</a:t>
              </a:r>
            </a:p>
          </p:txBody>
        </p:sp>
        <p:sp>
          <p:nvSpPr>
            <p:cNvPr id="12" name="TextBox 12"/>
            <p:cNvSpPr txBox="1"/>
            <p:nvPr/>
          </p:nvSpPr>
          <p:spPr>
            <a:xfrm>
              <a:off x="4973282" y="1365409"/>
              <a:ext cx="956031"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模型类型Model type​​</a:t>
              </a:r>
            </a:p>
          </p:txBody>
        </p:sp>
        <p:sp>
          <p:nvSpPr>
            <p:cNvPr id="13" name="Rectangle 13"/>
            <p:cNvSpPr/>
            <p:nvPr/>
          </p:nvSpPr>
          <p:spPr>
            <a:xfrm>
              <a:off x="6000750" y="1314450"/>
              <a:ext cx="2923222" cy="142875"/>
            </a:xfrm>
            <a:prstGeom prst="rect">
              <a:avLst/>
            </a:prstGeom>
            <a:solidFill>
              <a:srgbClr val="E96B52"/>
            </a:solidFill>
            <a:ln>
              <a:noFill/>
            </a:ln>
          </p:spPr>
        </p:sp>
        <p:sp>
          <p:nvSpPr>
            <p:cNvPr id="14" name="TextBox 14"/>
            <p:cNvSpPr txBox="1"/>
            <p:nvPr/>
          </p:nvSpPr>
          <p:spPr>
            <a:xfrm>
              <a:off x="8966835" y="1365409"/>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93%​</a:t>
              </a:r>
            </a:p>
          </p:txBody>
        </p:sp>
        <p:sp>
          <p:nvSpPr>
            <p:cNvPr id="15" name="TextBox 15"/>
            <p:cNvSpPr txBox="1"/>
            <p:nvPr/>
          </p:nvSpPr>
          <p:spPr>
            <a:xfrm>
              <a:off x="4813058" y="1622584"/>
              <a:ext cx="1116254"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模型所有者Model owner​​</a:t>
              </a:r>
            </a:p>
          </p:txBody>
        </p:sp>
        <p:sp>
          <p:nvSpPr>
            <p:cNvPr id="16" name="Rectangle 16"/>
            <p:cNvSpPr/>
            <p:nvPr/>
          </p:nvSpPr>
          <p:spPr>
            <a:xfrm>
              <a:off x="6000750" y="1571625"/>
              <a:ext cx="2797492" cy="142875"/>
            </a:xfrm>
            <a:prstGeom prst="rect">
              <a:avLst/>
            </a:prstGeom>
            <a:solidFill>
              <a:srgbClr val="E96B52"/>
            </a:solidFill>
            <a:ln>
              <a:noFill/>
            </a:ln>
          </p:spPr>
        </p:sp>
        <p:sp>
          <p:nvSpPr>
            <p:cNvPr id="17" name="TextBox 17"/>
            <p:cNvSpPr txBox="1"/>
            <p:nvPr/>
          </p:nvSpPr>
          <p:spPr>
            <a:xfrm>
              <a:off x="8841105" y="1622584"/>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89%​</a:t>
              </a:r>
            </a:p>
          </p:txBody>
        </p:sp>
        <p:sp>
          <p:nvSpPr>
            <p:cNvPr id="18" name="TextBox 18"/>
            <p:cNvSpPr txBox="1"/>
            <p:nvPr/>
          </p:nvSpPr>
          <p:spPr>
            <a:xfrm>
              <a:off x="4580171" y="1879759"/>
              <a:ext cx="1349141"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模型重大性Model materiality​​</a:t>
              </a:r>
            </a:p>
          </p:txBody>
        </p:sp>
        <p:sp>
          <p:nvSpPr>
            <p:cNvPr id="19" name="Rectangle 19"/>
            <p:cNvSpPr/>
            <p:nvPr/>
          </p:nvSpPr>
          <p:spPr>
            <a:xfrm>
              <a:off x="6000750" y="1828800"/>
              <a:ext cx="2671762" cy="142875"/>
            </a:xfrm>
            <a:prstGeom prst="rect">
              <a:avLst/>
            </a:prstGeom>
            <a:solidFill>
              <a:srgbClr val="E96B52"/>
            </a:solidFill>
            <a:ln>
              <a:noFill/>
            </a:ln>
          </p:spPr>
        </p:sp>
        <p:sp>
          <p:nvSpPr>
            <p:cNvPr id="20" name="TextBox 20"/>
            <p:cNvSpPr txBox="1"/>
            <p:nvPr/>
          </p:nvSpPr>
          <p:spPr>
            <a:xfrm>
              <a:off x="8715375" y="1879759"/>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85%​</a:t>
              </a:r>
            </a:p>
          </p:txBody>
        </p:sp>
        <p:sp>
          <p:nvSpPr>
            <p:cNvPr id="21" name="TextBox 21"/>
            <p:cNvSpPr txBox="1"/>
            <p:nvPr/>
          </p:nvSpPr>
          <p:spPr>
            <a:xfrm>
              <a:off x="4383189" y="2136934"/>
              <a:ext cx="1546123"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模型审批日期Model approval date​​</a:t>
              </a:r>
            </a:p>
          </p:txBody>
        </p:sp>
        <p:sp>
          <p:nvSpPr>
            <p:cNvPr id="22" name="Rectangle 22"/>
            <p:cNvSpPr/>
            <p:nvPr/>
          </p:nvSpPr>
          <p:spPr>
            <a:xfrm>
              <a:off x="6000750" y="2085975"/>
              <a:ext cx="2546032" cy="142875"/>
            </a:xfrm>
            <a:prstGeom prst="rect">
              <a:avLst/>
            </a:prstGeom>
            <a:solidFill>
              <a:srgbClr val="E96B52"/>
            </a:solidFill>
            <a:ln>
              <a:noFill/>
            </a:ln>
          </p:spPr>
        </p:sp>
        <p:sp>
          <p:nvSpPr>
            <p:cNvPr id="23" name="TextBox 23"/>
            <p:cNvSpPr txBox="1"/>
            <p:nvPr/>
          </p:nvSpPr>
          <p:spPr>
            <a:xfrm>
              <a:off x="8589645" y="2136934"/>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81%​</a:t>
              </a:r>
            </a:p>
          </p:txBody>
        </p:sp>
        <p:sp>
          <p:nvSpPr>
            <p:cNvPr id="24" name="TextBox 24"/>
            <p:cNvSpPr txBox="1"/>
            <p:nvPr/>
          </p:nvSpPr>
          <p:spPr>
            <a:xfrm>
              <a:off x="5023533" y="2394109"/>
              <a:ext cx="905780"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模型用途Model use​​</a:t>
              </a:r>
            </a:p>
          </p:txBody>
        </p:sp>
        <p:sp>
          <p:nvSpPr>
            <p:cNvPr id="25" name="Rectangle 25"/>
            <p:cNvSpPr/>
            <p:nvPr/>
          </p:nvSpPr>
          <p:spPr>
            <a:xfrm>
              <a:off x="6000750" y="2343150"/>
              <a:ext cx="2483168" cy="142875"/>
            </a:xfrm>
            <a:prstGeom prst="rect">
              <a:avLst/>
            </a:prstGeom>
            <a:solidFill>
              <a:srgbClr val="E96B52"/>
            </a:solidFill>
            <a:ln>
              <a:noFill/>
            </a:ln>
          </p:spPr>
        </p:sp>
        <p:sp>
          <p:nvSpPr>
            <p:cNvPr id="26" name="TextBox 26"/>
            <p:cNvSpPr txBox="1"/>
            <p:nvPr/>
          </p:nvSpPr>
          <p:spPr>
            <a:xfrm>
              <a:off x="8526780" y="2394109"/>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79%​</a:t>
              </a:r>
            </a:p>
          </p:txBody>
        </p:sp>
        <p:sp>
          <p:nvSpPr>
            <p:cNvPr id="27" name="TextBox 27"/>
            <p:cNvSpPr txBox="1"/>
            <p:nvPr/>
          </p:nvSpPr>
          <p:spPr>
            <a:xfrm>
              <a:off x="3724138" y="2651284"/>
              <a:ext cx="2205174"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当前使用的模型版本Current model version in use​​</a:t>
              </a:r>
            </a:p>
          </p:txBody>
        </p:sp>
        <p:sp>
          <p:nvSpPr>
            <p:cNvPr id="28" name="Rectangle 28"/>
            <p:cNvSpPr/>
            <p:nvPr/>
          </p:nvSpPr>
          <p:spPr>
            <a:xfrm>
              <a:off x="6000750" y="2600325"/>
              <a:ext cx="2263140" cy="142875"/>
            </a:xfrm>
            <a:prstGeom prst="rect">
              <a:avLst/>
            </a:prstGeom>
            <a:solidFill>
              <a:srgbClr val="E96B52"/>
            </a:solidFill>
            <a:ln>
              <a:noFill/>
            </a:ln>
          </p:spPr>
        </p:sp>
        <p:sp>
          <p:nvSpPr>
            <p:cNvPr id="29" name="TextBox 29"/>
            <p:cNvSpPr txBox="1"/>
            <p:nvPr/>
          </p:nvSpPr>
          <p:spPr>
            <a:xfrm>
              <a:off x="8306752" y="2651284"/>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72%​</a:t>
              </a:r>
            </a:p>
          </p:txBody>
        </p:sp>
        <p:sp>
          <p:nvSpPr>
            <p:cNvPr id="30" name="TextBox 30"/>
            <p:cNvSpPr txBox="1"/>
            <p:nvPr/>
          </p:nvSpPr>
          <p:spPr>
            <a:xfrm>
              <a:off x="4602936" y="2908459"/>
              <a:ext cx="1326377"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模型开发者Model developers​​</a:t>
              </a:r>
            </a:p>
          </p:txBody>
        </p:sp>
        <p:sp>
          <p:nvSpPr>
            <p:cNvPr id="31" name="Rectangle 31"/>
            <p:cNvSpPr/>
            <p:nvPr/>
          </p:nvSpPr>
          <p:spPr>
            <a:xfrm>
              <a:off x="6000750" y="2857500"/>
              <a:ext cx="2231708" cy="142875"/>
            </a:xfrm>
            <a:prstGeom prst="rect">
              <a:avLst/>
            </a:prstGeom>
            <a:solidFill>
              <a:srgbClr val="E96B52"/>
            </a:solidFill>
            <a:ln>
              <a:noFill/>
            </a:ln>
          </p:spPr>
        </p:sp>
        <p:sp>
          <p:nvSpPr>
            <p:cNvPr id="32" name="TextBox 32"/>
            <p:cNvSpPr txBox="1"/>
            <p:nvPr/>
          </p:nvSpPr>
          <p:spPr>
            <a:xfrm>
              <a:off x="8275320" y="2908459"/>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71%​</a:t>
              </a:r>
            </a:p>
          </p:txBody>
        </p:sp>
        <p:sp>
          <p:nvSpPr>
            <p:cNvPr id="33" name="TextBox 33"/>
            <p:cNvSpPr txBox="1"/>
            <p:nvPr/>
          </p:nvSpPr>
          <p:spPr>
            <a:xfrm>
              <a:off x="4868419" y="3165634"/>
              <a:ext cx="1060893"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模型质量Model quality​​</a:t>
              </a:r>
            </a:p>
          </p:txBody>
        </p:sp>
        <p:sp>
          <p:nvSpPr>
            <p:cNvPr id="34" name="Rectangle 34"/>
            <p:cNvSpPr/>
            <p:nvPr/>
          </p:nvSpPr>
          <p:spPr>
            <a:xfrm>
              <a:off x="6000750" y="3114675"/>
              <a:ext cx="2137410" cy="142875"/>
            </a:xfrm>
            <a:prstGeom prst="rect">
              <a:avLst/>
            </a:prstGeom>
            <a:solidFill>
              <a:srgbClr val="E96B52"/>
            </a:solidFill>
            <a:ln>
              <a:noFill/>
            </a:ln>
          </p:spPr>
        </p:sp>
        <p:sp>
          <p:nvSpPr>
            <p:cNvPr id="35" name="TextBox 35"/>
            <p:cNvSpPr txBox="1"/>
            <p:nvPr/>
          </p:nvSpPr>
          <p:spPr>
            <a:xfrm>
              <a:off x="8181022" y="3165634"/>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68%​</a:t>
              </a:r>
            </a:p>
          </p:txBody>
        </p:sp>
        <p:sp>
          <p:nvSpPr>
            <p:cNvPr id="36" name="TextBox 36"/>
            <p:cNvSpPr txBox="1"/>
            <p:nvPr/>
          </p:nvSpPr>
          <p:spPr>
            <a:xfrm>
              <a:off x="4625907" y="3422809"/>
              <a:ext cx="1303405"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模型验证者Model validators​​</a:t>
              </a:r>
            </a:p>
          </p:txBody>
        </p:sp>
        <p:sp>
          <p:nvSpPr>
            <p:cNvPr id="37" name="Rectangle 37"/>
            <p:cNvSpPr/>
            <p:nvPr/>
          </p:nvSpPr>
          <p:spPr>
            <a:xfrm>
              <a:off x="6000750" y="3371850"/>
              <a:ext cx="2137410" cy="142875"/>
            </a:xfrm>
            <a:prstGeom prst="rect">
              <a:avLst/>
            </a:prstGeom>
            <a:solidFill>
              <a:srgbClr val="E96B52"/>
            </a:solidFill>
            <a:ln>
              <a:noFill/>
            </a:ln>
          </p:spPr>
        </p:sp>
        <p:sp>
          <p:nvSpPr>
            <p:cNvPr id="38" name="TextBox 38"/>
            <p:cNvSpPr txBox="1"/>
            <p:nvPr/>
          </p:nvSpPr>
          <p:spPr>
            <a:xfrm>
              <a:off x="8181022" y="3422809"/>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68%​</a:t>
              </a:r>
            </a:p>
          </p:txBody>
        </p:sp>
        <p:sp>
          <p:nvSpPr>
            <p:cNvPr id="39" name="TextBox 39"/>
            <p:cNvSpPr txBox="1"/>
            <p:nvPr/>
          </p:nvSpPr>
          <p:spPr>
            <a:xfrm>
              <a:off x="4996311" y="3679984"/>
              <a:ext cx="933001"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模型层级Model tier​​</a:t>
              </a:r>
            </a:p>
          </p:txBody>
        </p:sp>
        <p:sp>
          <p:nvSpPr>
            <p:cNvPr id="40" name="Rectangle 40"/>
            <p:cNvSpPr/>
            <p:nvPr/>
          </p:nvSpPr>
          <p:spPr>
            <a:xfrm>
              <a:off x="6000750" y="3629025"/>
              <a:ext cx="2137410" cy="142875"/>
            </a:xfrm>
            <a:prstGeom prst="rect">
              <a:avLst/>
            </a:prstGeom>
            <a:solidFill>
              <a:srgbClr val="E96B52"/>
            </a:solidFill>
            <a:ln>
              <a:noFill/>
            </a:ln>
          </p:spPr>
        </p:sp>
        <p:sp>
          <p:nvSpPr>
            <p:cNvPr id="41" name="TextBox 41"/>
            <p:cNvSpPr txBox="1"/>
            <p:nvPr/>
          </p:nvSpPr>
          <p:spPr>
            <a:xfrm>
              <a:off x="8181022" y="3679984"/>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68%​</a:t>
              </a:r>
            </a:p>
          </p:txBody>
        </p:sp>
        <p:sp>
          <p:nvSpPr>
            <p:cNvPr id="42" name="TextBox 42"/>
            <p:cNvSpPr txBox="1"/>
            <p:nvPr/>
          </p:nvSpPr>
          <p:spPr>
            <a:xfrm>
              <a:off x="4831470" y="3937159"/>
              <a:ext cx="1097842"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模型使用者Model users​​</a:t>
              </a:r>
            </a:p>
          </p:txBody>
        </p:sp>
        <p:sp>
          <p:nvSpPr>
            <p:cNvPr id="43" name="Rectangle 43"/>
            <p:cNvSpPr/>
            <p:nvPr/>
          </p:nvSpPr>
          <p:spPr>
            <a:xfrm>
              <a:off x="6000750" y="3886200"/>
              <a:ext cx="1885950" cy="142875"/>
            </a:xfrm>
            <a:prstGeom prst="rect">
              <a:avLst/>
            </a:prstGeom>
            <a:solidFill>
              <a:srgbClr val="E96B52"/>
            </a:solidFill>
            <a:ln>
              <a:noFill/>
            </a:ln>
          </p:spPr>
        </p:sp>
        <p:sp>
          <p:nvSpPr>
            <p:cNvPr id="44" name="TextBox 44"/>
            <p:cNvSpPr txBox="1"/>
            <p:nvPr/>
          </p:nvSpPr>
          <p:spPr>
            <a:xfrm>
              <a:off x="7929562" y="3937159"/>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60%​</a:t>
              </a:r>
            </a:p>
          </p:txBody>
        </p:sp>
        <p:sp>
          <p:nvSpPr>
            <p:cNvPr id="45" name="TextBox 45"/>
            <p:cNvSpPr txBox="1"/>
            <p:nvPr/>
          </p:nvSpPr>
          <p:spPr>
            <a:xfrm>
              <a:off x="4145362" y="4194334"/>
              <a:ext cx="1783950"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模型生命周期阶段Model lifecycle phase​​</a:t>
              </a:r>
            </a:p>
          </p:txBody>
        </p:sp>
        <p:sp>
          <p:nvSpPr>
            <p:cNvPr id="46" name="Rectangle 46"/>
            <p:cNvSpPr/>
            <p:nvPr/>
          </p:nvSpPr>
          <p:spPr>
            <a:xfrm>
              <a:off x="6000750" y="4143375"/>
              <a:ext cx="1885950" cy="142875"/>
            </a:xfrm>
            <a:prstGeom prst="rect">
              <a:avLst/>
            </a:prstGeom>
            <a:solidFill>
              <a:srgbClr val="E96B52"/>
            </a:solidFill>
            <a:ln>
              <a:noFill/>
            </a:ln>
          </p:spPr>
        </p:sp>
        <p:sp>
          <p:nvSpPr>
            <p:cNvPr id="47" name="TextBox 47"/>
            <p:cNvSpPr txBox="1"/>
            <p:nvPr/>
          </p:nvSpPr>
          <p:spPr>
            <a:xfrm>
              <a:off x="7929562" y="4194334"/>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60%​</a:t>
              </a:r>
            </a:p>
          </p:txBody>
        </p:sp>
        <p:sp>
          <p:nvSpPr>
            <p:cNvPr id="48" name="TextBox 48"/>
            <p:cNvSpPr txBox="1"/>
            <p:nvPr/>
          </p:nvSpPr>
          <p:spPr>
            <a:xfrm>
              <a:off x="4410743" y="4451509"/>
              <a:ext cx="151856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模型依赖关系Model dependencies​​</a:t>
              </a:r>
            </a:p>
          </p:txBody>
        </p:sp>
        <p:sp>
          <p:nvSpPr>
            <p:cNvPr id="49" name="Rectangle 49"/>
            <p:cNvSpPr/>
            <p:nvPr/>
          </p:nvSpPr>
          <p:spPr>
            <a:xfrm>
              <a:off x="6000750" y="4400550"/>
              <a:ext cx="1351598" cy="142875"/>
            </a:xfrm>
            <a:prstGeom prst="rect">
              <a:avLst/>
            </a:prstGeom>
            <a:solidFill>
              <a:srgbClr val="E96B52"/>
            </a:solidFill>
            <a:ln>
              <a:noFill/>
            </a:ln>
          </p:spPr>
        </p:sp>
        <p:sp>
          <p:nvSpPr>
            <p:cNvPr id="50" name="TextBox 50"/>
            <p:cNvSpPr txBox="1"/>
            <p:nvPr/>
          </p:nvSpPr>
          <p:spPr>
            <a:xfrm>
              <a:off x="7395210" y="4451509"/>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43%​</a:t>
              </a:r>
            </a:p>
          </p:txBody>
        </p:sp>
        <p:sp>
          <p:nvSpPr>
            <p:cNvPr id="51" name="TextBox 51"/>
            <p:cNvSpPr txBox="1"/>
            <p:nvPr/>
          </p:nvSpPr>
          <p:spPr>
            <a:xfrm>
              <a:off x="4607530" y="4708684"/>
              <a:ext cx="1321782"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模型复杂度Model complexity​​</a:t>
              </a:r>
            </a:p>
          </p:txBody>
        </p:sp>
        <p:sp>
          <p:nvSpPr>
            <p:cNvPr id="52" name="Rectangle 52"/>
            <p:cNvSpPr/>
            <p:nvPr/>
          </p:nvSpPr>
          <p:spPr>
            <a:xfrm>
              <a:off x="6000750" y="4657725"/>
              <a:ext cx="1225868" cy="142875"/>
            </a:xfrm>
            <a:prstGeom prst="rect">
              <a:avLst/>
            </a:prstGeom>
            <a:solidFill>
              <a:srgbClr val="E96B52"/>
            </a:solidFill>
            <a:ln>
              <a:noFill/>
            </a:ln>
          </p:spPr>
        </p:sp>
        <p:sp>
          <p:nvSpPr>
            <p:cNvPr id="53" name="TextBox 53"/>
            <p:cNvSpPr txBox="1"/>
            <p:nvPr/>
          </p:nvSpPr>
          <p:spPr>
            <a:xfrm>
              <a:off x="7269480" y="4708684"/>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39%​</a:t>
              </a:r>
            </a:p>
          </p:txBody>
        </p:sp>
        <p:sp>
          <p:nvSpPr>
            <p:cNvPr id="54" name="TextBox 54"/>
            <p:cNvSpPr txBox="1"/>
            <p:nvPr/>
          </p:nvSpPr>
          <p:spPr>
            <a:xfrm>
              <a:off x="3893628" y="4965859"/>
              <a:ext cx="2035684"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模型实施平台Model implementation platform​​</a:t>
              </a:r>
            </a:p>
          </p:txBody>
        </p:sp>
        <p:sp>
          <p:nvSpPr>
            <p:cNvPr id="55" name="Rectangle 55"/>
            <p:cNvSpPr/>
            <p:nvPr/>
          </p:nvSpPr>
          <p:spPr>
            <a:xfrm>
              <a:off x="6000750" y="4914900"/>
              <a:ext cx="1194435" cy="142875"/>
            </a:xfrm>
            <a:prstGeom prst="rect">
              <a:avLst/>
            </a:prstGeom>
            <a:solidFill>
              <a:srgbClr val="E96B52"/>
            </a:solidFill>
            <a:ln>
              <a:noFill/>
            </a:ln>
          </p:spPr>
        </p:sp>
        <p:sp>
          <p:nvSpPr>
            <p:cNvPr id="56" name="TextBox 56"/>
            <p:cNvSpPr txBox="1"/>
            <p:nvPr/>
          </p:nvSpPr>
          <p:spPr>
            <a:xfrm>
              <a:off x="7238048" y="4965859"/>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38%​</a:t>
              </a:r>
            </a:p>
          </p:txBody>
        </p:sp>
        <p:sp>
          <p:nvSpPr>
            <p:cNvPr id="57" name="TextBox 57"/>
            <p:cNvSpPr txBox="1"/>
            <p:nvPr/>
          </p:nvSpPr>
          <p:spPr>
            <a:xfrm>
              <a:off x="4694679" y="5223034"/>
              <a:ext cx="1234633"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模型限制Model limitations​​</a:t>
              </a:r>
            </a:p>
          </p:txBody>
        </p:sp>
        <p:sp>
          <p:nvSpPr>
            <p:cNvPr id="58" name="Rectangle 58"/>
            <p:cNvSpPr/>
            <p:nvPr/>
          </p:nvSpPr>
          <p:spPr>
            <a:xfrm>
              <a:off x="6000750" y="5172075"/>
              <a:ext cx="1005840" cy="142875"/>
            </a:xfrm>
            <a:prstGeom prst="rect">
              <a:avLst/>
            </a:prstGeom>
            <a:solidFill>
              <a:srgbClr val="E96B52"/>
            </a:solidFill>
            <a:ln>
              <a:noFill/>
            </a:ln>
          </p:spPr>
        </p:sp>
        <p:sp>
          <p:nvSpPr>
            <p:cNvPr id="59" name="TextBox 59"/>
            <p:cNvSpPr txBox="1"/>
            <p:nvPr/>
          </p:nvSpPr>
          <p:spPr>
            <a:xfrm>
              <a:off x="7049452" y="5223034"/>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32%​</a:t>
              </a:r>
            </a:p>
          </p:txBody>
        </p:sp>
        <p:sp>
          <p:nvSpPr>
            <p:cNvPr id="60" name="TextBox 60"/>
            <p:cNvSpPr txBox="1"/>
            <p:nvPr/>
          </p:nvSpPr>
          <p:spPr>
            <a:xfrm>
              <a:off x="4017115" y="5480209"/>
              <a:ext cx="1912198"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模型开发平台Model development platform​​</a:t>
              </a:r>
            </a:p>
          </p:txBody>
        </p:sp>
        <p:sp>
          <p:nvSpPr>
            <p:cNvPr id="61" name="Rectangle 61"/>
            <p:cNvSpPr/>
            <p:nvPr/>
          </p:nvSpPr>
          <p:spPr>
            <a:xfrm>
              <a:off x="6000750" y="5429250"/>
              <a:ext cx="880110" cy="142875"/>
            </a:xfrm>
            <a:prstGeom prst="rect">
              <a:avLst/>
            </a:prstGeom>
            <a:solidFill>
              <a:srgbClr val="E96B52"/>
            </a:solidFill>
            <a:ln>
              <a:noFill/>
            </a:ln>
          </p:spPr>
        </p:sp>
        <p:sp>
          <p:nvSpPr>
            <p:cNvPr id="62" name="TextBox 62"/>
            <p:cNvSpPr txBox="1"/>
            <p:nvPr/>
          </p:nvSpPr>
          <p:spPr>
            <a:xfrm>
              <a:off x="6923722" y="5480209"/>
              <a:ext cx="229225" cy="133350"/>
            </a:xfrm>
            <a:prstGeom prst="rect">
              <a:avLst/>
            </a:prstGeom>
            <a:noFill/>
            <a:ln>
              <a:noFill/>
            </a:ln>
          </p:spPr>
          <p:txBody>
            <a:bodyPr wrap="none" lIns="0" tIns="0" rIns="0" bIns="0" anchor="t" anchorCtr="0">
              <a:spAutoFit/>
            </a:bodyPr>
            <a:lstStyle/>
            <a:p>
              <a:pPr algn="l"/>
              <a:r>
                <a:rPr lang="zh-CN" sz="680" dirty="0">
                  <a:solidFill>
                    <a:srgbClr val="1A1A1A"/>
                  </a:solidFill>
                  <a:latin typeface="+mn-lt"/>
                  <a:ea typeface="+mn-ea"/>
                  <a:cs typeface="+mn-cs"/>
                </a:rPr>
                <a:t>28%​</a:t>
              </a:r>
            </a:p>
          </p:txBody>
        </p:sp>
        <p:sp>
          <p:nvSpPr>
            <p:cNvPr id="63" name="Line 63"/>
            <p:cNvSpPr/>
            <p:nvPr/>
          </p:nvSpPr>
          <p:spPr>
            <a:xfrm>
              <a:off x="6000750"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64" name="TextBox 64"/>
            <p:cNvSpPr txBox="1"/>
            <p:nvPr/>
          </p:nvSpPr>
          <p:spPr>
            <a:xfrm>
              <a:off x="5921273" y="5793105"/>
              <a:ext cx="158953"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0%​</a:t>
              </a:r>
            </a:p>
          </p:txBody>
        </p:sp>
        <p:sp>
          <p:nvSpPr>
            <p:cNvPr id="65" name="Line 65"/>
            <p:cNvSpPr/>
            <p:nvPr/>
          </p:nvSpPr>
          <p:spPr>
            <a:xfrm>
              <a:off x="6315075"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66" name="TextBox 66"/>
            <p:cNvSpPr txBox="1"/>
            <p:nvPr/>
          </p:nvSpPr>
          <p:spPr>
            <a:xfrm>
              <a:off x="6213386" y="579310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10%​</a:t>
              </a:r>
            </a:p>
          </p:txBody>
        </p:sp>
        <p:sp>
          <p:nvSpPr>
            <p:cNvPr id="67" name="Line 67"/>
            <p:cNvSpPr/>
            <p:nvPr/>
          </p:nvSpPr>
          <p:spPr>
            <a:xfrm>
              <a:off x="6629400"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68" name="TextBox 68"/>
            <p:cNvSpPr txBox="1"/>
            <p:nvPr/>
          </p:nvSpPr>
          <p:spPr>
            <a:xfrm>
              <a:off x="6527711" y="579310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20%​</a:t>
              </a:r>
            </a:p>
          </p:txBody>
        </p:sp>
        <p:sp>
          <p:nvSpPr>
            <p:cNvPr id="69" name="Line 69"/>
            <p:cNvSpPr/>
            <p:nvPr/>
          </p:nvSpPr>
          <p:spPr>
            <a:xfrm>
              <a:off x="6943725"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70" name="TextBox 70"/>
            <p:cNvSpPr txBox="1"/>
            <p:nvPr/>
          </p:nvSpPr>
          <p:spPr>
            <a:xfrm>
              <a:off x="6842036" y="579310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30%​</a:t>
              </a:r>
            </a:p>
          </p:txBody>
        </p:sp>
        <p:sp>
          <p:nvSpPr>
            <p:cNvPr id="71" name="Line 71"/>
            <p:cNvSpPr/>
            <p:nvPr/>
          </p:nvSpPr>
          <p:spPr>
            <a:xfrm>
              <a:off x="7258050"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72" name="TextBox 72"/>
            <p:cNvSpPr txBox="1"/>
            <p:nvPr/>
          </p:nvSpPr>
          <p:spPr>
            <a:xfrm>
              <a:off x="7156361" y="579310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40%​</a:t>
              </a:r>
            </a:p>
          </p:txBody>
        </p:sp>
        <p:sp>
          <p:nvSpPr>
            <p:cNvPr id="73" name="Line 73"/>
            <p:cNvSpPr/>
            <p:nvPr/>
          </p:nvSpPr>
          <p:spPr>
            <a:xfrm>
              <a:off x="7572375"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74" name="TextBox 74"/>
            <p:cNvSpPr txBox="1"/>
            <p:nvPr/>
          </p:nvSpPr>
          <p:spPr>
            <a:xfrm>
              <a:off x="7470686" y="579310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50%​</a:t>
              </a:r>
            </a:p>
          </p:txBody>
        </p:sp>
        <p:sp>
          <p:nvSpPr>
            <p:cNvPr id="75" name="Line 75"/>
            <p:cNvSpPr/>
            <p:nvPr/>
          </p:nvSpPr>
          <p:spPr>
            <a:xfrm>
              <a:off x="7886700"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76" name="TextBox 76"/>
            <p:cNvSpPr txBox="1"/>
            <p:nvPr/>
          </p:nvSpPr>
          <p:spPr>
            <a:xfrm>
              <a:off x="7785011" y="579310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60%​</a:t>
              </a:r>
            </a:p>
          </p:txBody>
        </p:sp>
        <p:sp>
          <p:nvSpPr>
            <p:cNvPr id="77" name="Line 77"/>
            <p:cNvSpPr/>
            <p:nvPr/>
          </p:nvSpPr>
          <p:spPr>
            <a:xfrm>
              <a:off x="8201025"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78" name="TextBox 78"/>
            <p:cNvSpPr txBox="1"/>
            <p:nvPr/>
          </p:nvSpPr>
          <p:spPr>
            <a:xfrm>
              <a:off x="8099336" y="579310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70%​</a:t>
              </a:r>
            </a:p>
          </p:txBody>
        </p:sp>
        <p:sp>
          <p:nvSpPr>
            <p:cNvPr id="79" name="Line 79"/>
            <p:cNvSpPr/>
            <p:nvPr/>
          </p:nvSpPr>
          <p:spPr>
            <a:xfrm>
              <a:off x="8515350"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80" name="TextBox 80"/>
            <p:cNvSpPr txBox="1"/>
            <p:nvPr/>
          </p:nvSpPr>
          <p:spPr>
            <a:xfrm>
              <a:off x="8413661" y="579310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80%​</a:t>
              </a:r>
            </a:p>
          </p:txBody>
        </p:sp>
        <p:sp>
          <p:nvSpPr>
            <p:cNvPr id="81" name="Line 81"/>
            <p:cNvSpPr/>
            <p:nvPr/>
          </p:nvSpPr>
          <p:spPr>
            <a:xfrm>
              <a:off x="8829675"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82" name="TextBox 82"/>
            <p:cNvSpPr txBox="1"/>
            <p:nvPr/>
          </p:nvSpPr>
          <p:spPr>
            <a:xfrm>
              <a:off x="8727986" y="579310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90%​</a:t>
              </a:r>
            </a:p>
          </p:txBody>
        </p:sp>
        <p:sp>
          <p:nvSpPr>
            <p:cNvPr id="83" name="Line 83"/>
            <p:cNvSpPr/>
            <p:nvPr/>
          </p:nvSpPr>
          <p:spPr>
            <a:xfrm>
              <a:off x="9144000" y="5724525"/>
              <a:ext cx="9525" cy="38100"/>
            </a:xfrm>
            <a:custGeom>
              <a:avLst/>
              <a:gdLst/>
              <a:ahLst/>
              <a:cxnLst/>
              <a:rect l="l" t="t" r="r" b="b"/>
              <a:pathLst>
                <a:path w="9525" h="38100">
                  <a:moveTo>
                    <a:pt x="0" y="0"/>
                  </a:moveTo>
                  <a:lnTo>
                    <a:pt x="0" y="38100"/>
                  </a:lnTo>
                </a:path>
              </a:pathLst>
            </a:custGeom>
            <a:noFill/>
            <a:ln w="7620">
              <a:solidFill>
                <a:srgbClr val="9A9A9A"/>
              </a:solidFill>
            </a:ln>
          </p:spPr>
        </p:sp>
        <p:sp>
          <p:nvSpPr>
            <p:cNvPr id="84" name="TextBox 84"/>
            <p:cNvSpPr txBox="1"/>
            <p:nvPr/>
          </p:nvSpPr>
          <p:spPr>
            <a:xfrm>
              <a:off x="9020099" y="5793105"/>
              <a:ext cx="247802"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100%​</a:t>
              </a:r>
            </a:p>
          </p:txBody>
        </p:sp>
        <p:sp>
          <p:nvSpPr>
            <p:cNvPr id="85" name="Line 85"/>
            <p:cNvSpPr/>
            <p:nvPr/>
          </p:nvSpPr>
          <p:spPr>
            <a:xfrm>
              <a:off x="6000750" y="5724525"/>
              <a:ext cx="3143250" cy="9525"/>
            </a:xfrm>
            <a:custGeom>
              <a:avLst/>
              <a:gdLst/>
              <a:ahLst/>
              <a:cxnLst/>
              <a:rect l="l" t="t" r="r" b="b"/>
              <a:pathLst>
                <a:path w="3143250" h="9525">
                  <a:moveTo>
                    <a:pt x="0" y="0"/>
                  </a:moveTo>
                  <a:lnTo>
                    <a:pt x="3143250" y="0"/>
                  </a:lnTo>
                </a:path>
              </a:pathLst>
            </a:custGeom>
            <a:noFill/>
            <a:ln w="7620">
              <a:solidFill>
                <a:srgbClr val="9A9A9A"/>
              </a:solidFill>
            </a:ln>
          </p:spPr>
        </p:sp>
      </p:grpSp>
      <p:grpSp>
        <p:nvGrpSpPr>
          <p:cNvPr id="120" name="nav"/>
          <p:cNvGrpSpPr/>
          <p:nvPr/>
        </p:nvGrpSpPr>
        <p:grpSpPr>
          <a:xfrm>
            <a:off x="9834562" y="0"/>
            <a:ext cx="2357438" cy="6858000"/>
            <a:chOff x="9834562" y="0"/>
            <a:chExt cx="2357438" cy="6858000"/>
          </a:xfrm>
        </p:grpSpPr>
        <p:sp>
          <p:nvSpPr>
            <p:cNvPr id="87" name="Line 87"/>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88" name="Rectangle 88"/>
            <p:cNvSpPr/>
            <p:nvPr/>
          </p:nvSpPr>
          <p:spPr>
            <a:xfrm>
              <a:off x="9839325" y="476250"/>
              <a:ext cx="2352675" cy="514350"/>
            </a:xfrm>
            <a:prstGeom prst="rect">
              <a:avLst/>
            </a:prstGeom>
            <a:solidFill>
              <a:srgbClr val="F3F3F3"/>
            </a:solidFill>
            <a:ln>
              <a:noFill/>
            </a:ln>
          </p:spPr>
        </p:sp>
        <p:sp>
          <p:nvSpPr>
            <p:cNvPr id="89" name="TextBox 89"/>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90" name="Rectangle 90"/>
            <p:cNvSpPr/>
            <p:nvPr/>
          </p:nvSpPr>
          <p:spPr>
            <a:xfrm>
              <a:off x="9839325" y="1000125"/>
              <a:ext cx="2352675" cy="514350"/>
            </a:xfrm>
            <a:prstGeom prst="rect">
              <a:avLst/>
            </a:prstGeom>
            <a:solidFill>
              <a:srgbClr val="F3F3F3"/>
            </a:solidFill>
            <a:ln>
              <a:noFill/>
            </a:ln>
          </p:spPr>
        </p:sp>
        <p:sp>
          <p:nvSpPr>
            <p:cNvPr id="91" name="TextBox 91"/>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92" name="Rectangle 92"/>
            <p:cNvSpPr/>
            <p:nvPr/>
          </p:nvSpPr>
          <p:spPr>
            <a:xfrm>
              <a:off x="9839325" y="1524000"/>
              <a:ext cx="2352675" cy="514350"/>
            </a:xfrm>
            <a:prstGeom prst="rect">
              <a:avLst/>
            </a:prstGeom>
            <a:solidFill>
              <a:srgbClr val="F3F3F3"/>
            </a:solidFill>
            <a:ln>
              <a:noFill/>
            </a:ln>
          </p:spPr>
        </p:sp>
        <p:sp>
          <p:nvSpPr>
            <p:cNvPr id="93" name="TextBox 93"/>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94" name="Rectangle 94"/>
            <p:cNvSpPr/>
            <p:nvPr/>
          </p:nvSpPr>
          <p:spPr>
            <a:xfrm>
              <a:off x="9839325" y="2047875"/>
              <a:ext cx="2352675" cy="514350"/>
            </a:xfrm>
            <a:prstGeom prst="rect">
              <a:avLst/>
            </a:prstGeom>
            <a:solidFill>
              <a:srgbClr val="F3F3F3"/>
            </a:solidFill>
            <a:ln>
              <a:noFill/>
            </a:ln>
          </p:spPr>
        </p:sp>
        <p:sp>
          <p:nvSpPr>
            <p:cNvPr id="95" name="TextBox 95"/>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96" name="Rectangle 96"/>
            <p:cNvSpPr/>
            <p:nvPr/>
          </p:nvSpPr>
          <p:spPr>
            <a:xfrm>
              <a:off x="9839325" y="2571750"/>
              <a:ext cx="2352675" cy="514350"/>
            </a:xfrm>
            <a:prstGeom prst="rect">
              <a:avLst/>
            </a:prstGeom>
            <a:solidFill>
              <a:srgbClr val="F8A291"/>
            </a:solidFill>
            <a:ln>
              <a:noFill/>
            </a:ln>
          </p:spPr>
        </p:sp>
        <p:sp>
          <p:nvSpPr>
            <p:cNvPr id="97" name="TextBox 97"/>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b="1" dirty="0">
                  <a:solidFill>
                    <a:srgbClr val="1A1A1A"/>
                  </a:solidFill>
                  <a:latin typeface="+mn-lt"/>
                  <a:ea typeface="+mn-ea"/>
                  <a:cs typeface="+mn-cs"/>
                </a:rPr>
                <a:t>模型版图与清单：</a:t>
              </a:r>
              <a:br/>
              <a:r>
                <a:rPr lang="zh-CN" sz="820" b="1" dirty="0">
                  <a:solidFill>
                    <a:srgbClr val="1A1A1A"/>
                  </a:solidFill>
                  <a:latin typeface="+mn-lt"/>
                  <a:ea typeface="+mn-ea"/>
                  <a:cs typeface="+mn-cs"/>
                </a:rPr>
                <a:t>高效模型风险管理的基础</a:t>
              </a:r>
            </a:p>
          </p:txBody>
        </p:sp>
        <p:sp>
          <p:nvSpPr>
            <p:cNvPr id="98" name="Rectangle 98"/>
            <p:cNvSpPr/>
            <p:nvPr/>
          </p:nvSpPr>
          <p:spPr>
            <a:xfrm>
              <a:off x="9839325" y="3095625"/>
              <a:ext cx="2352675" cy="514350"/>
            </a:xfrm>
            <a:prstGeom prst="rect">
              <a:avLst/>
            </a:prstGeom>
            <a:solidFill>
              <a:srgbClr val="F3F3F3"/>
            </a:solidFill>
            <a:ln>
              <a:noFill/>
            </a:ln>
          </p:spPr>
        </p:sp>
        <p:sp>
          <p:nvSpPr>
            <p:cNvPr id="99" name="TextBox 99"/>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00" name="Rectangle 100"/>
            <p:cNvSpPr/>
            <p:nvPr/>
          </p:nvSpPr>
          <p:spPr>
            <a:xfrm>
              <a:off x="9839325" y="3619500"/>
              <a:ext cx="2352675" cy="514350"/>
            </a:xfrm>
            <a:prstGeom prst="rect">
              <a:avLst/>
            </a:prstGeom>
            <a:solidFill>
              <a:srgbClr val="F3F3F3"/>
            </a:solidFill>
            <a:ln>
              <a:noFill/>
            </a:ln>
          </p:spPr>
        </p:sp>
        <p:sp>
          <p:nvSpPr>
            <p:cNvPr id="101" name="TextBox 101"/>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02" name="Rectangle 102"/>
            <p:cNvSpPr/>
            <p:nvPr/>
          </p:nvSpPr>
          <p:spPr>
            <a:xfrm>
              <a:off x="9839325" y="4143375"/>
              <a:ext cx="2352675" cy="514350"/>
            </a:xfrm>
            <a:prstGeom prst="rect">
              <a:avLst/>
            </a:prstGeom>
            <a:solidFill>
              <a:srgbClr val="F3F3F3"/>
            </a:solidFill>
            <a:ln>
              <a:noFill/>
            </a:ln>
          </p:spPr>
        </p:sp>
        <p:sp>
          <p:nvSpPr>
            <p:cNvPr id="103" name="TextBox 103"/>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04" name="Rectangle 104"/>
            <p:cNvSpPr/>
            <p:nvPr/>
          </p:nvSpPr>
          <p:spPr>
            <a:xfrm>
              <a:off x="9839325" y="4667250"/>
              <a:ext cx="2352675" cy="514350"/>
            </a:xfrm>
            <a:prstGeom prst="rect">
              <a:avLst/>
            </a:prstGeom>
            <a:solidFill>
              <a:srgbClr val="F3F3F3"/>
            </a:solidFill>
            <a:ln>
              <a:noFill/>
            </a:ln>
          </p:spPr>
        </p:sp>
        <p:sp>
          <p:nvSpPr>
            <p:cNvPr id="105" name="TextBox 105"/>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06" name="Rectangle 106"/>
            <p:cNvSpPr/>
            <p:nvPr/>
          </p:nvSpPr>
          <p:spPr>
            <a:xfrm>
              <a:off x="9839325" y="5191125"/>
              <a:ext cx="2352675" cy="514350"/>
            </a:xfrm>
            <a:prstGeom prst="rect">
              <a:avLst/>
            </a:prstGeom>
            <a:solidFill>
              <a:srgbClr val="F3F3F3"/>
            </a:solidFill>
            <a:ln>
              <a:noFill/>
            </a:ln>
          </p:spPr>
        </p:sp>
        <p:sp>
          <p:nvSpPr>
            <p:cNvPr id="107" name="TextBox 107"/>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08" name="Rectangle 108"/>
            <p:cNvSpPr/>
            <p:nvPr/>
          </p:nvSpPr>
          <p:spPr>
            <a:xfrm>
              <a:off x="9839325" y="5715000"/>
              <a:ext cx="2352675" cy="514350"/>
            </a:xfrm>
            <a:prstGeom prst="rect">
              <a:avLst/>
            </a:prstGeom>
            <a:solidFill>
              <a:srgbClr val="F3F3F3"/>
            </a:solidFill>
            <a:ln>
              <a:noFill/>
            </a:ln>
          </p:spPr>
        </p:sp>
        <p:sp>
          <p:nvSpPr>
            <p:cNvPr id="109" name="TextBox 109"/>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10" name="Ellipse 110"/>
            <p:cNvSpPr/>
            <p:nvPr/>
          </p:nvSpPr>
          <p:spPr>
            <a:xfrm>
              <a:off x="10020300" y="6372225"/>
              <a:ext cx="266700" cy="266700"/>
            </a:xfrm>
            <a:prstGeom prst="ellipse">
              <a:avLst/>
            </a:prstGeom>
            <a:solidFill>
              <a:srgbClr val="D7D8D6"/>
            </a:solidFill>
            <a:ln>
              <a:noFill/>
            </a:ln>
          </p:spPr>
        </p:sp>
        <p:sp>
          <p:nvSpPr>
            <p:cNvPr id="111" name="Freeform 111"/>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12" name="Ellipse 112"/>
            <p:cNvSpPr/>
            <p:nvPr/>
          </p:nvSpPr>
          <p:spPr>
            <a:xfrm>
              <a:off x="10420350" y="6372225"/>
              <a:ext cx="266700" cy="266700"/>
            </a:xfrm>
            <a:prstGeom prst="ellipse">
              <a:avLst/>
            </a:prstGeom>
            <a:solidFill>
              <a:srgbClr val="D7D8D6"/>
            </a:solidFill>
            <a:ln>
              <a:noFill/>
            </a:ln>
          </p:spPr>
        </p:sp>
        <p:grpSp>
          <p:nvGrpSpPr>
            <p:cNvPr id="116" name="Group 116"/>
            <p:cNvGrpSpPr/>
            <p:nvPr/>
          </p:nvGrpSpPr>
          <p:grpSpPr>
            <a:xfrm>
              <a:off x="10489406" y="6441281"/>
              <a:ext cx="128588" cy="128588"/>
              <a:chOff x="10489406" y="6441281"/>
              <a:chExt cx="128588" cy="128588"/>
            </a:xfrm>
          </p:grpSpPr>
          <p:sp>
            <p:nvSpPr>
              <p:cNvPr id="113" name="Freeform 113"/>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14" name="Freeform 114"/>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15" name="Freeform 115"/>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17" name="Ellipse 117"/>
            <p:cNvSpPr/>
            <p:nvPr/>
          </p:nvSpPr>
          <p:spPr>
            <a:xfrm>
              <a:off x="10820400" y="6372225"/>
              <a:ext cx="266700" cy="266700"/>
            </a:xfrm>
            <a:prstGeom prst="ellipse">
              <a:avLst/>
            </a:prstGeom>
            <a:solidFill>
              <a:srgbClr val="D7D8D6"/>
            </a:solidFill>
            <a:ln>
              <a:noFill/>
            </a:ln>
          </p:spPr>
        </p:sp>
        <p:sp>
          <p:nvSpPr>
            <p:cNvPr id="118" name="Freeform 118"/>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19" name="TextBox 119"/>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16</a:t>
              </a:r>
            </a:p>
          </p:txBody>
        </p:sp>
      </p:gr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ave-field"/>
          <p:cNvSpPr/>
          <p:nvPr/>
        </p:nvSpPr>
        <p:spPr>
          <a:xfrm>
            <a:off x="0" y="0"/>
            <a:ext cx="9829800" cy="6858000"/>
          </a:xfrm>
          <a:prstGeom prst="rect">
            <a:avLst/>
          </a:prstGeom>
          <a:gradFill>
            <a:gsLst>
              <a:gs pos="0">
                <a:srgbClr val="5E261B"/>
              </a:gs>
              <a:gs pos="55000">
                <a:srgbClr val="7F382A"/>
              </a:gs>
              <a:gs pos="100000">
                <a:srgbClr val="AE6A5D"/>
              </a:gs>
            </a:gsLst>
            <a:lin ang="2700000" scaled="1"/>
          </a:gradFill>
          <a:ln>
            <a:noFill/>
          </a:ln>
        </p:spPr>
      </p:sp>
      <p:sp>
        <p:nvSpPr>
          <p:cNvPr id="3" name="wave-1"/>
          <p:cNvSpPr/>
          <p:nvPr/>
        </p:nvSpPr>
        <p:spPr>
          <a:xfrm rot="-840000">
            <a:off x="0" y="4000500"/>
            <a:ext cx="11811000" cy="2667000"/>
          </a:xfrm>
          <a:prstGeom prst="ellipse">
            <a:avLst/>
          </a:prstGeom>
          <a:solidFill>
            <a:srgbClr val="FFFFFF">
              <a:alpha val="10000"/>
            </a:srgbClr>
          </a:solidFill>
          <a:ln>
            <a:noFill/>
          </a:ln>
        </p:spPr>
      </p:sp>
      <p:sp>
        <p:nvSpPr>
          <p:cNvPr id="4" name="wave-2"/>
          <p:cNvSpPr/>
          <p:nvPr/>
        </p:nvSpPr>
        <p:spPr>
          <a:xfrm rot="-1080000">
            <a:off x="-2095500" y="95250"/>
            <a:ext cx="9906000" cy="2095500"/>
          </a:xfrm>
          <a:prstGeom prst="ellipse">
            <a:avLst/>
          </a:prstGeom>
          <a:solidFill>
            <a:srgbClr val="FFFFFF">
              <a:alpha val="8000"/>
            </a:srgbClr>
          </a:solidFill>
          <a:ln>
            <a:noFill/>
          </a:ln>
        </p:spPr>
      </p:sp>
      <p:sp>
        <p:nvSpPr>
          <p:cNvPr id="5" name="wave-3"/>
          <p:cNvSpPr/>
          <p:nvPr/>
        </p:nvSpPr>
        <p:spPr>
          <a:xfrm rot="-720000">
            <a:off x="3238500" y="2190750"/>
            <a:ext cx="8001000" cy="1333500"/>
          </a:xfrm>
          <a:prstGeom prst="ellipse">
            <a:avLst/>
          </a:prstGeom>
          <a:solidFill>
            <a:srgbClr val="4A180E">
              <a:alpha val="18000"/>
            </a:srgbClr>
          </a:solidFill>
          <a:ln>
            <a:noFill/>
          </a:ln>
        </p:spPr>
      </p:sp>
      <p:grpSp>
        <p:nvGrpSpPr>
          <p:cNvPr id="10" name="section-title"/>
          <p:cNvGrpSpPr/>
          <p:nvPr/>
        </p:nvGrpSpPr>
        <p:grpSpPr>
          <a:xfrm>
            <a:off x="745236" y="2025015"/>
            <a:ext cx="4031742" cy="1718310"/>
            <a:chOff x="745236" y="2025015"/>
            <a:chExt cx="4031742" cy="1718310"/>
          </a:xfrm>
        </p:grpSpPr>
        <p:sp>
          <p:nvSpPr>
            <p:cNvPr id="6" name="TextBox 6"/>
            <p:cNvSpPr txBox="1"/>
            <p:nvPr/>
          </p:nvSpPr>
          <p:spPr>
            <a:xfrm>
              <a:off x="745236" y="2025015"/>
              <a:ext cx="2254758" cy="645414"/>
            </a:xfrm>
            <a:prstGeom prst="rect">
              <a:avLst/>
            </a:prstGeom>
            <a:noFill/>
            <a:ln>
              <a:noFill/>
            </a:ln>
          </p:spPr>
          <p:txBody>
            <a:bodyPr wrap="none" lIns="0" tIns="0" rIns="0" bIns="0" anchor="t" anchorCtr="0">
              <a:spAutoFit/>
            </a:bodyPr>
            <a:lstStyle/>
            <a:p>
              <a:pPr algn="l"/>
              <a:r>
                <a:rPr lang="zh-CN" sz="3300" b="1" dirty="0">
                  <a:solidFill>
                    <a:srgbClr val="FFFFFF"/>
                  </a:solidFill>
                  <a:latin typeface="+mn-lt"/>
                  <a:ea typeface="+mn-ea"/>
                  <a:cs typeface="+mn-cs"/>
                </a:rPr>
                <a:t>关于治理与</a:t>
              </a:r>
            </a:p>
          </p:txBody>
        </p:sp>
        <p:sp>
          <p:nvSpPr>
            <p:cNvPr id="7" name="TextBox 7"/>
            <p:cNvSpPr txBox="1"/>
            <p:nvPr/>
          </p:nvSpPr>
          <p:spPr>
            <a:xfrm>
              <a:off x="745236" y="2596515"/>
              <a:ext cx="4031742" cy="645414"/>
            </a:xfrm>
            <a:prstGeom prst="rect">
              <a:avLst/>
            </a:prstGeom>
            <a:noFill/>
            <a:ln>
              <a:noFill/>
            </a:ln>
          </p:spPr>
          <p:txBody>
            <a:bodyPr wrap="none" lIns="0" tIns="0" rIns="0" bIns="0" anchor="t" anchorCtr="0">
              <a:spAutoFit/>
            </a:bodyPr>
            <a:lstStyle/>
            <a:p>
              <a:pPr algn="l"/>
              <a:r>
                <a:rPr lang="zh-CN" sz="3300" b="1" dirty="0">
                  <a:solidFill>
                    <a:srgbClr val="FFFFFF"/>
                  </a:solidFill>
                  <a:latin typeface="+mn-lt"/>
                  <a:ea typeface="+mn-ea"/>
                  <a:cs typeface="+mn-cs"/>
                </a:rPr>
                <a:t>模型生命周期的观点</a:t>
              </a:r>
            </a:p>
          </p:txBody>
        </p:sp>
        <p:sp>
          <p:nvSpPr>
            <p:cNvPr id="8" name="TextBox 8"/>
            <p:cNvSpPr txBox="1"/>
            <p:nvPr/>
          </p:nvSpPr>
          <p:spPr>
            <a:xfrm>
              <a:off x="755904" y="3299460"/>
              <a:ext cx="3232270" cy="234696"/>
            </a:xfrm>
            <a:prstGeom prst="rect">
              <a:avLst/>
            </a:prstGeom>
            <a:noFill/>
            <a:ln>
              <a:noFill/>
            </a:ln>
          </p:spPr>
          <p:txBody>
            <a:bodyPr wrap="none" lIns="0" tIns="0" rIns="0" bIns="0" anchor="t" anchorCtr="0">
              <a:spAutoFit/>
            </a:bodyPr>
            <a:lstStyle/>
            <a:p>
              <a:pPr algn="l"/>
              <a:r>
                <a:rPr lang="en-US" sz="1200" dirty="0">
                  <a:solidFill>
                    <a:srgbClr val="FFFFFF">
                      <a:alphaMod val="85000"/>
                    </a:srgbClr>
                  </a:solidFill>
                  <a:latin typeface="+mn-lt"/>
                  <a:ea typeface="+mn-ea"/>
                  <a:cs typeface="+mn-cs"/>
                </a:rPr>
                <a:t>Views on governance and model lifecycle​</a:t>
              </a:r>
            </a:p>
          </p:txBody>
        </p:sp>
        <p:sp>
          <p:nvSpPr>
            <p:cNvPr id="9" name="Line 9"/>
            <p:cNvSpPr/>
            <p:nvPr/>
          </p:nvSpPr>
          <p:spPr>
            <a:xfrm>
              <a:off x="762000" y="3733800"/>
              <a:ext cx="1524000" cy="9525"/>
            </a:xfrm>
            <a:custGeom>
              <a:avLst/>
              <a:gdLst/>
              <a:ahLst/>
              <a:cxnLst/>
              <a:rect l="l" t="t" r="r" b="b"/>
              <a:pathLst>
                <a:path w="1524000" h="9525">
                  <a:moveTo>
                    <a:pt x="0" y="0"/>
                  </a:moveTo>
                  <a:lnTo>
                    <a:pt x="1524000" y="0"/>
                  </a:lnTo>
                </a:path>
              </a:pathLst>
            </a:custGeom>
            <a:noFill/>
            <a:ln w="19050">
              <a:solidFill>
                <a:srgbClr val="FFFFFF"/>
              </a:solidFill>
            </a:ln>
          </p:spPr>
        </p:sp>
      </p:grpSp>
      <p:grpSp>
        <p:nvGrpSpPr>
          <p:cNvPr id="44" name="nav"/>
          <p:cNvGrpSpPr/>
          <p:nvPr/>
        </p:nvGrpSpPr>
        <p:grpSpPr>
          <a:xfrm>
            <a:off x="9834562" y="0"/>
            <a:ext cx="2357438" cy="6858000"/>
            <a:chOff x="9834562" y="0"/>
            <a:chExt cx="2357438" cy="6858000"/>
          </a:xfrm>
        </p:grpSpPr>
        <p:sp>
          <p:nvSpPr>
            <p:cNvPr id="11" name="Line 11"/>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2" name="Rectangle 12"/>
            <p:cNvSpPr/>
            <p:nvPr/>
          </p:nvSpPr>
          <p:spPr>
            <a:xfrm>
              <a:off x="9839325" y="476250"/>
              <a:ext cx="2352675" cy="514350"/>
            </a:xfrm>
            <a:prstGeom prst="rect">
              <a:avLst/>
            </a:prstGeom>
            <a:solidFill>
              <a:srgbClr val="F3F3F3"/>
            </a:solidFill>
            <a:ln>
              <a:noFill/>
            </a:ln>
          </p:spPr>
        </p:sp>
        <p:sp>
          <p:nvSpPr>
            <p:cNvPr id="13" name="TextBox 13"/>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4" name="Rectangle 14"/>
            <p:cNvSpPr/>
            <p:nvPr/>
          </p:nvSpPr>
          <p:spPr>
            <a:xfrm>
              <a:off x="9839325" y="1000125"/>
              <a:ext cx="2352675" cy="514350"/>
            </a:xfrm>
            <a:prstGeom prst="rect">
              <a:avLst/>
            </a:prstGeom>
            <a:solidFill>
              <a:srgbClr val="F3F3F3"/>
            </a:solidFill>
            <a:ln>
              <a:noFill/>
            </a:ln>
          </p:spPr>
        </p:sp>
        <p:sp>
          <p:nvSpPr>
            <p:cNvPr id="15" name="TextBox 15"/>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6" name="Rectangle 16"/>
            <p:cNvSpPr/>
            <p:nvPr/>
          </p:nvSpPr>
          <p:spPr>
            <a:xfrm>
              <a:off x="9839325" y="1524000"/>
              <a:ext cx="2352675" cy="514350"/>
            </a:xfrm>
            <a:prstGeom prst="rect">
              <a:avLst/>
            </a:prstGeom>
            <a:solidFill>
              <a:srgbClr val="F3F3F3"/>
            </a:solidFill>
            <a:ln>
              <a:noFill/>
            </a:ln>
          </p:spPr>
        </p:sp>
        <p:sp>
          <p:nvSpPr>
            <p:cNvPr id="17" name="TextBox 17"/>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8" name="Rectangle 18"/>
            <p:cNvSpPr/>
            <p:nvPr/>
          </p:nvSpPr>
          <p:spPr>
            <a:xfrm>
              <a:off x="9839325" y="2047875"/>
              <a:ext cx="2352675" cy="514350"/>
            </a:xfrm>
            <a:prstGeom prst="rect">
              <a:avLst/>
            </a:prstGeom>
            <a:solidFill>
              <a:srgbClr val="F3F3F3"/>
            </a:solidFill>
            <a:ln>
              <a:noFill/>
            </a:ln>
          </p:spPr>
        </p:sp>
        <p:sp>
          <p:nvSpPr>
            <p:cNvPr id="19" name="TextBox 19"/>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20" name="Rectangle 20"/>
            <p:cNvSpPr/>
            <p:nvPr/>
          </p:nvSpPr>
          <p:spPr>
            <a:xfrm>
              <a:off x="9839325" y="2571750"/>
              <a:ext cx="2352675" cy="514350"/>
            </a:xfrm>
            <a:prstGeom prst="rect">
              <a:avLst/>
            </a:prstGeom>
            <a:solidFill>
              <a:srgbClr val="F3F3F3"/>
            </a:solidFill>
            <a:ln>
              <a:noFill/>
            </a:ln>
          </p:spPr>
        </p:sp>
        <p:sp>
          <p:nvSpPr>
            <p:cNvPr id="21" name="TextBox 21"/>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22" name="Rectangle 22"/>
            <p:cNvSpPr/>
            <p:nvPr/>
          </p:nvSpPr>
          <p:spPr>
            <a:xfrm>
              <a:off x="9839325" y="3095625"/>
              <a:ext cx="2352675" cy="514350"/>
            </a:xfrm>
            <a:prstGeom prst="rect">
              <a:avLst/>
            </a:prstGeom>
            <a:solidFill>
              <a:srgbClr val="6B1100"/>
            </a:solidFill>
            <a:ln>
              <a:noFill/>
            </a:ln>
          </p:spPr>
        </p:sp>
        <p:sp>
          <p:nvSpPr>
            <p:cNvPr id="23" name="TextBox 23"/>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24" name="Rectangle 24"/>
            <p:cNvSpPr/>
            <p:nvPr/>
          </p:nvSpPr>
          <p:spPr>
            <a:xfrm>
              <a:off x="9839325" y="3619500"/>
              <a:ext cx="2352675" cy="514350"/>
            </a:xfrm>
            <a:prstGeom prst="rect">
              <a:avLst/>
            </a:prstGeom>
            <a:solidFill>
              <a:srgbClr val="F3F3F3"/>
            </a:solidFill>
            <a:ln>
              <a:noFill/>
            </a:ln>
          </p:spPr>
        </p:sp>
        <p:sp>
          <p:nvSpPr>
            <p:cNvPr id="25" name="TextBox 25"/>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26" name="Rectangle 26"/>
            <p:cNvSpPr/>
            <p:nvPr/>
          </p:nvSpPr>
          <p:spPr>
            <a:xfrm>
              <a:off x="9839325" y="4143375"/>
              <a:ext cx="2352675" cy="514350"/>
            </a:xfrm>
            <a:prstGeom prst="rect">
              <a:avLst/>
            </a:prstGeom>
            <a:solidFill>
              <a:srgbClr val="F3F3F3"/>
            </a:solidFill>
            <a:ln>
              <a:noFill/>
            </a:ln>
          </p:spPr>
        </p:sp>
        <p:sp>
          <p:nvSpPr>
            <p:cNvPr id="27" name="TextBox 27"/>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28" name="Rectangle 28"/>
            <p:cNvSpPr/>
            <p:nvPr/>
          </p:nvSpPr>
          <p:spPr>
            <a:xfrm>
              <a:off x="9839325" y="4667250"/>
              <a:ext cx="2352675" cy="514350"/>
            </a:xfrm>
            <a:prstGeom prst="rect">
              <a:avLst/>
            </a:prstGeom>
            <a:solidFill>
              <a:srgbClr val="F3F3F3"/>
            </a:solidFill>
            <a:ln>
              <a:noFill/>
            </a:ln>
          </p:spPr>
        </p:sp>
        <p:sp>
          <p:nvSpPr>
            <p:cNvPr id="29" name="TextBox 29"/>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30" name="Rectangle 30"/>
            <p:cNvSpPr/>
            <p:nvPr/>
          </p:nvSpPr>
          <p:spPr>
            <a:xfrm>
              <a:off x="9839325" y="5191125"/>
              <a:ext cx="2352675" cy="514350"/>
            </a:xfrm>
            <a:prstGeom prst="rect">
              <a:avLst/>
            </a:prstGeom>
            <a:solidFill>
              <a:srgbClr val="F3F3F3"/>
            </a:solidFill>
            <a:ln>
              <a:noFill/>
            </a:ln>
          </p:spPr>
        </p:sp>
        <p:sp>
          <p:nvSpPr>
            <p:cNvPr id="31" name="TextBox 31"/>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32" name="Rectangle 32"/>
            <p:cNvSpPr/>
            <p:nvPr/>
          </p:nvSpPr>
          <p:spPr>
            <a:xfrm>
              <a:off x="9839325" y="5715000"/>
              <a:ext cx="2352675" cy="514350"/>
            </a:xfrm>
            <a:prstGeom prst="rect">
              <a:avLst/>
            </a:prstGeom>
            <a:solidFill>
              <a:srgbClr val="F3F3F3"/>
            </a:solidFill>
            <a:ln>
              <a:noFill/>
            </a:ln>
          </p:spPr>
        </p:sp>
        <p:sp>
          <p:nvSpPr>
            <p:cNvPr id="33" name="TextBox 33"/>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34" name="Ellipse 34"/>
            <p:cNvSpPr/>
            <p:nvPr/>
          </p:nvSpPr>
          <p:spPr>
            <a:xfrm>
              <a:off x="10020300" y="6372225"/>
              <a:ext cx="266700" cy="266700"/>
            </a:xfrm>
            <a:prstGeom prst="ellipse">
              <a:avLst/>
            </a:prstGeom>
            <a:solidFill>
              <a:srgbClr val="D7D8D6"/>
            </a:solidFill>
            <a:ln>
              <a:noFill/>
            </a:ln>
          </p:spPr>
        </p:sp>
        <p:sp>
          <p:nvSpPr>
            <p:cNvPr id="35" name="Freeform 35"/>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36" name="Ellipse 36"/>
            <p:cNvSpPr/>
            <p:nvPr/>
          </p:nvSpPr>
          <p:spPr>
            <a:xfrm>
              <a:off x="10420350" y="6372225"/>
              <a:ext cx="266700" cy="266700"/>
            </a:xfrm>
            <a:prstGeom prst="ellipse">
              <a:avLst/>
            </a:prstGeom>
            <a:solidFill>
              <a:srgbClr val="D7D8D6"/>
            </a:solidFill>
            <a:ln>
              <a:noFill/>
            </a:ln>
          </p:spPr>
        </p:sp>
        <p:grpSp>
          <p:nvGrpSpPr>
            <p:cNvPr id="40" name="Group 40"/>
            <p:cNvGrpSpPr/>
            <p:nvPr/>
          </p:nvGrpSpPr>
          <p:grpSpPr>
            <a:xfrm>
              <a:off x="10489406" y="6441281"/>
              <a:ext cx="128588" cy="128588"/>
              <a:chOff x="10489406" y="6441281"/>
              <a:chExt cx="128588" cy="128588"/>
            </a:xfrm>
          </p:grpSpPr>
          <p:sp>
            <p:nvSpPr>
              <p:cNvPr id="37" name="Freeform 37"/>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38" name="Freeform 38"/>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39" name="Freeform 39"/>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41" name="Ellipse 41"/>
            <p:cNvSpPr/>
            <p:nvPr/>
          </p:nvSpPr>
          <p:spPr>
            <a:xfrm>
              <a:off x="10820400" y="6372225"/>
              <a:ext cx="266700" cy="266700"/>
            </a:xfrm>
            <a:prstGeom prst="ellipse">
              <a:avLst/>
            </a:prstGeom>
            <a:solidFill>
              <a:srgbClr val="D7D8D6"/>
            </a:solidFill>
            <a:ln>
              <a:noFill/>
            </a:ln>
          </p:spPr>
        </p:sp>
        <p:sp>
          <p:nvSpPr>
            <p:cNvPr id="42" name="Freeform 42"/>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43" name="TextBox 43"/>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17</a:t>
              </a:r>
            </a:p>
          </p:txBody>
        </p:sp>
      </p:gr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18</a:t>
              </a:r>
            </a:p>
          </p:txBody>
        </p:sp>
        <p:sp>
          <p:nvSpPr>
            <p:cNvPr id="4" name="TextBox 4"/>
            <p:cNvSpPr txBox="1"/>
            <p:nvPr/>
          </p:nvSpPr>
          <p:spPr>
            <a:xfrm>
              <a:off x="942594" y="151448"/>
              <a:ext cx="46178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三道防线</a:t>
              </a:r>
              <a:r>
                <a:rPr lang="zh-CN" sz="1950" b="1" dirty="0">
                  <a:solidFill>
                    <a:srgbClr val="1A1A1A"/>
                  </a:solidFill>
                  <a:latin typeface="+mj-lt"/>
                  <a:ea typeface="+mj-ea"/>
                  <a:cs typeface="+mj-cs"/>
                </a:rPr>
                <a:t>治理模型​</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0" name="lead-panel"/>
          <p:cNvGrpSpPr/>
          <p:nvPr/>
        </p:nvGrpSpPr>
        <p:grpSpPr>
          <a:xfrm>
            <a:off x="476250" y="800100"/>
            <a:ext cx="2762250" cy="5772150"/>
            <a:chOff x="476250" y="800100"/>
            <a:chExt cx="2762250" cy="5772150"/>
          </a:xfrm>
        </p:grpSpPr>
        <p:sp>
          <p:nvSpPr>
            <p:cNvPr id="7" name="Rectangle 7"/>
            <p:cNvSpPr/>
            <p:nvPr/>
          </p:nvSpPr>
          <p:spPr>
            <a:xfrm>
              <a:off x="476250" y="800100"/>
              <a:ext cx="2762250" cy="5772150"/>
            </a:xfrm>
            <a:prstGeom prst="rect">
              <a:avLst/>
            </a:prstGeom>
            <a:solidFill>
              <a:srgbClr val="F7F7F7"/>
            </a:solidFill>
            <a:ln>
              <a:noFill/>
            </a:ln>
          </p:spPr>
        </p:sp>
        <p:sp>
          <p:nvSpPr>
            <p:cNvPr id="8" name="TextBox 8"/>
            <p:cNvSpPr txBox="1"/>
            <p:nvPr/>
          </p:nvSpPr>
          <p:spPr>
            <a:xfrm>
              <a:off x="603885" y="983456"/>
              <a:ext cx="2365502" cy="696278"/>
            </a:xfrm>
            <a:prstGeom prst="rect">
              <a:avLst/>
            </a:prstGeom>
            <a:noFill/>
            <a:ln>
              <a:noFill/>
            </a:ln>
          </p:spPr>
          <p:txBody>
            <a:bodyPr wrap="none" lIns="0" tIns="0" rIns="0" bIns="0" anchor="t" anchorCtr="0">
              <a:spAutoFit/>
            </a:bodyPr>
            <a:lstStyle/>
            <a:p>
              <a:pPr algn="l">
                <a:lnSpc>
                  <a:spcPts val="1875"/>
                </a:lnSpc>
              </a:pPr>
              <a:r>
                <a:rPr lang="zh-CN" sz="1120" dirty="0">
                  <a:solidFill>
                    <a:srgbClr val="AA1B00"/>
                  </a:solidFill>
                  <a:latin typeface="+mn-lt"/>
                  <a:ea typeface="+mn-ea"/>
                  <a:cs typeface="+mn-cs"/>
                </a:rPr>
                <a:t>三道防线治理模型明确了业务单元、​</a:t>
              </a:r>
              <a:br/>
              <a:r>
                <a:rPr lang="zh-CN" sz="1120" dirty="0">
                  <a:solidFill>
                    <a:srgbClr val="AA1B00"/>
                  </a:solidFill>
                  <a:latin typeface="+mn-lt"/>
                  <a:ea typeface="+mn-ea"/>
                  <a:cs typeface="+mn-cs"/>
                </a:rPr>
                <a:t>职能部门、风险管理和内部审计在​</a:t>
              </a:r>
              <a:br/>
              <a:r>
                <a:rPr lang="zh-CN" sz="1120" dirty="0">
                  <a:solidFill>
                    <a:srgbClr val="AA1B00"/>
                  </a:solidFill>
                  <a:latin typeface="+mn-lt"/>
                  <a:ea typeface="+mn-ea"/>
                  <a:cs typeface="+mn-cs"/>
                </a:rPr>
                <a:t>模型风险管理中的相应角色。​</a:t>
              </a:r>
            </a:p>
          </p:txBody>
        </p:sp>
        <p:sp>
          <p:nvSpPr>
            <p:cNvPr id="9" name="TextBox 9"/>
            <p:cNvSpPr txBox="1"/>
            <p:nvPr/>
          </p:nvSpPr>
          <p:spPr>
            <a:xfrm>
              <a:off x="603885" y="1869281"/>
              <a:ext cx="2365502" cy="1410652"/>
            </a:xfrm>
            <a:prstGeom prst="rect">
              <a:avLst/>
            </a:prstGeom>
            <a:noFill/>
            <a:ln>
              <a:noFill/>
            </a:ln>
          </p:spPr>
          <p:txBody>
            <a:bodyPr wrap="none" lIns="0" tIns="0" rIns="0" bIns="0" anchor="t" anchorCtr="0">
              <a:spAutoFit/>
            </a:bodyPr>
            <a:lstStyle/>
            <a:p>
              <a:pPr algn="l">
                <a:lnSpc>
                  <a:spcPts val="1875"/>
                </a:lnSpc>
              </a:pPr>
              <a:r>
                <a:rPr lang="zh-CN" sz="1120" dirty="0">
                  <a:solidFill>
                    <a:srgbClr val="AA1B00"/>
                  </a:solidFill>
                  <a:latin typeface="+mn-lt"/>
                  <a:ea typeface="+mn-ea"/>
                  <a:cs typeface="+mn-cs"/>
                </a:rPr>
                <a:t>三道防线框架整合了全部模型利益​</a:t>
              </a:r>
              <a:br/>
              <a:r>
                <a:rPr lang="zh-CN" sz="1120" dirty="0">
                  <a:solidFill>
                    <a:srgbClr val="AA1B00"/>
                  </a:solidFill>
                  <a:latin typeface="+mn-lt"/>
                  <a:ea typeface="+mn-ea"/>
                  <a:cs typeface="+mn-cs"/>
                </a:rPr>
                <a:t>相关方，覆盖所有防线和管理机构。​</a:t>
              </a:r>
              <a:br/>
              <a:r>
                <a:rPr lang="zh-CN" sz="1120" dirty="0">
                  <a:solidFill>
                    <a:srgbClr val="AA1B00"/>
                  </a:solidFill>
                  <a:latin typeface="+mn-lt"/>
                  <a:ea typeface="+mn-ea"/>
                  <a:cs typeface="+mn-cs"/>
                </a:rPr>
                <a:t>它使角色与职责同现有组织结构保​</a:t>
              </a:r>
              <a:br/>
              <a:r>
                <a:rPr lang="zh-CN" sz="1120" dirty="0">
                  <a:solidFill>
                    <a:srgbClr val="AA1B00"/>
                  </a:solidFill>
                  <a:latin typeface="+mn-lt"/>
                  <a:ea typeface="+mn-ea"/>
                  <a:cs typeface="+mn-cs"/>
                </a:rPr>
                <a:t>持一致，并将重要模型审批集中到​</a:t>
              </a:r>
              <a:br/>
              <a:r>
                <a:rPr lang="zh-CN" sz="1120" dirty="0">
                  <a:solidFill>
                    <a:srgbClr val="AA1B00"/>
                  </a:solidFill>
                  <a:latin typeface="+mn-lt"/>
                  <a:ea typeface="+mn-ea"/>
                  <a:cs typeface="+mn-cs"/>
                </a:rPr>
                <a:t>模型风险管理委员会或其他委员会​</a:t>
              </a:r>
              <a:br/>
              <a:r>
                <a:rPr lang="zh-CN" sz="1120" dirty="0">
                  <a:solidFill>
                    <a:srgbClr val="AA1B00"/>
                  </a:solidFill>
                  <a:latin typeface="+mn-lt"/>
                  <a:ea typeface="+mn-ea"/>
                  <a:cs typeface="+mn-cs"/>
                </a:rPr>
                <a:t>的授权中。​</a:t>
              </a:r>
            </a:p>
          </p:txBody>
        </p:sp>
      </p:grpSp>
      <p:grpSp>
        <p:nvGrpSpPr>
          <p:cNvPr id="12" name="intro"/>
          <p:cNvGrpSpPr/>
          <p:nvPr/>
        </p:nvGrpSpPr>
        <p:grpSpPr>
          <a:xfrm>
            <a:off x="3424238" y="874395"/>
            <a:ext cx="3350760" cy="176212"/>
            <a:chOff x="3424238" y="874395"/>
            <a:chExt cx="3350760" cy="176212"/>
          </a:xfrm>
        </p:grpSpPr>
        <p:sp>
          <p:nvSpPr>
            <p:cNvPr id="11" name="TextBox 11"/>
            <p:cNvSpPr txBox="1"/>
            <p:nvPr/>
          </p:nvSpPr>
          <p:spPr>
            <a:xfrm>
              <a:off x="3424238" y="874395"/>
              <a:ext cx="3350760" cy="176212"/>
            </a:xfrm>
            <a:prstGeom prst="rect">
              <a:avLst/>
            </a:prstGeom>
            <a:noFill/>
            <a:ln>
              <a:noFill/>
            </a:ln>
          </p:spPr>
          <p:txBody>
            <a:bodyPr wrap="none" lIns="0" tIns="0" rIns="0" bIns="0" anchor="t" anchorCtr="0">
              <a:spAutoFit/>
            </a:bodyPr>
            <a:lstStyle/>
            <a:p>
              <a:pPr algn="l"/>
              <a:r>
                <a:rPr lang="zh-CN" sz="900" b="1" dirty="0">
                  <a:solidFill>
                    <a:srgbClr val="1A1A1A"/>
                  </a:solidFill>
                  <a:latin typeface="+mn-lt"/>
                  <a:ea typeface="+mn-ea"/>
                  <a:cs typeface="+mn-cs"/>
                </a:rPr>
                <a:t>该模型包含以下组成部分及其在模型风险管理中的概要角色：​</a:t>
              </a:r>
            </a:p>
          </p:txBody>
        </p:sp>
      </p:grpSp>
      <p:grpSp>
        <p:nvGrpSpPr>
          <p:cNvPr id="17" name="card-1"/>
          <p:cNvGrpSpPr/>
          <p:nvPr/>
        </p:nvGrpSpPr>
        <p:grpSpPr>
          <a:xfrm>
            <a:off x="3333750" y="1104900"/>
            <a:ext cx="2038350" cy="952500"/>
            <a:chOff x="3333750" y="1104900"/>
            <a:chExt cx="2038350" cy="952500"/>
          </a:xfrm>
        </p:grpSpPr>
        <p:sp>
          <p:nvSpPr>
            <p:cNvPr id="13" name="Rectangle 13"/>
            <p:cNvSpPr/>
            <p:nvPr/>
          </p:nvSpPr>
          <p:spPr>
            <a:xfrm>
              <a:off x="3333750" y="1104900"/>
              <a:ext cx="2038350" cy="190500"/>
            </a:xfrm>
            <a:prstGeom prst="rect">
              <a:avLst/>
            </a:prstGeom>
            <a:solidFill>
              <a:srgbClr val="6B1100"/>
            </a:solidFill>
            <a:ln>
              <a:noFill/>
            </a:ln>
          </p:spPr>
        </p:sp>
        <p:sp>
          <p:nvSpPr>
            <p:cNvPr id="14" name="TextBox 14"/>
            <p:cNvSpPr txBox="1"/>
            <p:nvPr/>
          </p:nvSpPr>
          <p:spPr>
            <a:xfrm>
              <a:off x="3405188" y="1161336"/>
              <a:ext cx="1609950"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第一道防线First line of defence​​</a:t>
              </a:r>
            </a:p>
          </p:txBody>
        </p:sp>
        <p:sp>
          <p:nvSpPr>
            <p:cNvPr id="15" name="Rectangle 15"/>
            <p:cNvSpPr/>
            <p:nvPr/>
          </p:nvSpPr>
          <p:spPr>
            <a:xfrm>
              <a:off x="3333750" y="1295400"/>
              <a:ext cx="2038350" cy="762000"/>
            </a:xfrm>
            <a:prstGeom prst="rect">
              <a:avLst/>
            </a:prstGeom>
            <a:solidFill>
              <a:srgbClr val="F7F7F7"/>
            </a:solidFill>
            <a:ln>
              <a:noFill/>
            </a:ln>
          </p:spPr>
        </p:sp>
        <p:sp>
          <p:nvSpPr>
            <p:cNvPr id="16" name="TextBox 16"/>
            <p:cNvSpPr txBox="1"/>
            <p:nvPr/>
          </p:nvSpPr>
          <p:spPr>
            <a:xfrm>
              <a:off x="3405188" y="1370886"/>
              <a:ext cx="1682179"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33333"/>
                  </a:solidFill>
                  <a:latin typeface="+mn-lt"/>
                  <a:ea typeface="+mn-ea"/>
                  <a:cs typeface="+mn-cs"/>
                </a:rPr>
                <a:t>模型风险的产生与所有权，包括模型的开​</a:t>
              </a:r>
              <a:br/>
              <a:r>
                <a:rPr lang="zh-CN" sz="710" dirty="0">
                  <a:solidFill>
                    <a:srgbClr val="333333"/>
                  </a:solidFill>
                  <a:latin typeface="+mn-lt"/>
                  <a:ea typeface="+mn-ea"/>
                  <a:cs typeface="+mn-cs"/>
                </a:rPr>
                <a:t>发、使用和维护。​</a:t>
              </a:r>
            </a:p>
          </p:txBody>
        </p:sp>
      </p:grpSp>
      <p:grpSp>
        <p:nvGrpSpPr>
          <p:cNvPr id="22" name="card-2"/>
          <p:cNvGrpSpPr/>
          <p:nvPr/>
        </p:nvGrpSpPr>
        <p:grpSpPr>
          <a:xfrm>
            <a:off x="5467350" y="1104900"/>
            <a:ext cx="2038350" cy="952500"/>
            <a:chOff x="5467350" y="1104900"/>
            <a:chExt cx="2038350" cy="952500"/>
          </a:xfrm>
        </p:grpSpPr>
        <p:sp>
          <p:nvSpPr>
            <p:cNvPr id="18" name="Rectangle 18"/>
            <p:cNvSpPr/>
            <p:nvPr/>
          </p:nvSpPr>
          <p:spPr>
            <a:xfrm>
              <a:off x="5467350" y="1104900"/>
              <a:ext cx="2038350" cy="190500"/>
            </a:xfrm>
            <a:prstGeom prst="rect">
              <a:avLst/>
            </a:prstGeom>
            <a:solidFill>
              <a:srgbClr val="AA1B00"/>
            </a:solidFill>
            <a:ln>
              <a:noFill/>
            </a:ln>
          </p:spPr>
        </p:sp>
        <p:sp>
          <p:nvSpPr>
            <p:cNvPr id="19" name="TextBox 19"/>
            <p:cNvSpPr txBox="1"/>
            <p:nvPr/>
          </p:nvSpPr>
          <p:spPr>
            <a:xfrm>
              <a:off x="5538788" y="1161336"/>
              <a:ext cx="1690291" cy="140494"/>
            </a:xfrm>
            <a:prstGeom prst="rect">
              <a:avLst/>
            </a:prstGeom>
            <a:noFill/>
            <a:ln>
              <a:noFill/>
            </a:ln>
          </p:spPr>
          <p:txBody>
            <a:bodyPr wrap="none" lIns="0" tIns="0" rIns="0" bIns="0" anchor="t" anchorCtr="0">
              <a:spAutoFit/>
            </a:bodyPr>
            <a:lstStyle/>
            <a:p>
              <a:pPr algn="l"/>
              <a:r>
                <a:rPr lang="zh-CN" sz="710" b="1" dirty="0">
                  <a:solidFill>
                    <a:srgbClr val="FFFFFF"/>
                  </a:solidFill>
                  <a:latin typeface="+mn-lt"/>
                  <a:ea typeface="+mn-ea"/>
                  <a:cs typeface="+mn-cs"/>
                </a:rPr>
                <a:t>第二道防线Second line of defence​​</a:t>
              </a:r>
            </a:p>
          </p:txBody>
        </p:sp>
        <p:sp>
          <p:nvSpPr>
            <p:cNvPr id="20" name="Rectangle 20"/>
            <p:cNvSpPr/>
            <p:nvPr/>
          </p:nvSpPr>
          <p:spPr>
            <a:xfrm>
              <a:off x="5467350" y="1295400"/>
              <a:ext cx="2038350" cy="762000"/>
            </a:xfrm>
            <a:prstGeom prst="rect">
              <a:avLst/>
            </a:prstGeom>
            <a:solidFill>
              <a:srgbClr val="F7F7F7"/>
            </a:solidFill>
            <a:ln>
              <a:noFill/>
            </a:ln>
          </p:spPr>
        </p:sp>
        <p:sp>
          <p:nvSpPr>
            <p:cNvPr id="21" name="TextBox 21"/>
            <p:cNvSpPr txBox="1"/>
            <p:nvPr/>
          </p:nvSpPr>
          <p:spPr>
            <a:xfrm>
              <a:off x="5538788" y="1370886"/>
              <a:ext cx="1682179" cy="407194"/>
            </a:xfrm>
            <a:prstGeom prst="rect">
              <a:avLst/>
            </a:prstGeom>
            <a:noFill/>
            <a:ln>
              <a:noFill/>
            </a:ln>
          </p:spPr>
          <p:txBody>
            <a:bodyPr wrap="none" lIns="0" tIns="0" rIns="0" bIns="0" anchor="t" anchorCtr="0">
              <a:spAutoFit/>
            </a:bodyPr>
            <a:lstStyle/>
            <a:p>
              <a:pPr algn="l">
                <a:lnSpc>
                  <a:spcPts val="1050"/>
                </a:lnSpc>
              </a:pPr>
              <a:r>
                <a:rPr lang="zh-CN" sz="710" dirty="0">
                  <a:solidFill>
                    <a:srgbClr val="333333"/>
                  </a:solidFill>
                  <a:latin typeface="+mn-lt"/>
                  <a:ea typeface="+mn-ea"/>
                  <a:cs typeface="+mn-cs"/>
                </a:rPr>
                <a:t>对模型进行独立验证；设计并实施模型风​</a:t>
              </a:r>
              <a:br/>
              <a:r>
                <a:rPr lang="zh-CN" sz="710" dirty="0">
                  <a:solidFill>
                    <a:srgbClr val="333333"/>
                  </a:solidFill>
                  <a:latin typeface="+mn-lt"/>
                  <a:ea typeface="+mn-ea"/>
                  <a:cs typeface="+mn-cs"/>
                </a:rPr>
                <a:t>险管理框架，以评估、监控和报告银行的​</a:t>
              </a:r>
              <a:br/>
              <a:r>
                <a:rPr lang="zh-CN" sz="710" dirty="0">
                  <a:solidFill>
                    <a:srgbClr val="333333"/>
                  </a:solidFill>
                  <a:latin typeface="+mn-lt"/>
                  <a:ea typeface="+mn-ea"/>
                  <a:cs typeface="+mn-cs"/>
                </a:rPr>
                <a:t>模型风险。​</a:t>
              </a:r>
            </a:p>
          </p:txBody>
        </p:sp>
      </p:grpSp>
      <p:grpSp>
        <p:nvGrpSpPr>
          <p:cNvPr id="27" name="card-3"/>
          <p:cNvGrpSpPr/>
          <p:nvPr/>
        </p:nvGrpSpPr>
        <p:grpSpPr>
          <a:xfrm>
            <a:off x="7600950" y="1104900"/>
            <a:ext cx="2038350" cy="952500"/>
            <a:chOff x="7600950" y="1104900"/>
            <a:chExt cx="2038350" cy="952500"/>
          </a:xfrm>
        </p:grpSpPr>
        <p:sp>
          <p:nvSpPr>
            <p:cNvPr id="23" name="Rectangle 23"/>
            <p:cNvSpPr/>
            <p:nvPr/>
          </p:nvSpPr>
          <p:spPr>
            <a:xfrm>
              <a:off x="7600950" y="1104900"/>
              <a:ext cx="2038350" cy="190500"/>
            </a:xfrm>
            <a:prstGeom prst="rect">
              <a:avLst/>
            </a:prstGeom>
            <a:solidFill>
              <a:srgbClr val="C35642"/>
            </a:solidFill>
            <a:ln>
              <a:noFill/>
            </a:ln>
          </p:spPr>
        </p:sp>
        <p:sp>
          <p:nvSpPr>
            <p:cNvPr id="24" name="TextBox 24"/>
            <p:cNvSpPr txBox="1"/>
            <p:nvPr/>
          </p:nvSpPr>
          <p:spPr>
            <a:xfrm>
              <a:off x="7672388" y="1161336"/>
              <a:ext cx="1609950" cy="140494"/>
            </a:xfrm>
            <a:prstGeom prst="rect">
              <a:avLst/>
            </a:prstGeom>
            <a:noFill/>
            <a:ln>
              <a:noFill/>
            </a:ln>
          </p:spPr>
          <p:txBody>
            <a:bodyPr wrap="none" lIns="0" tIns="0" rIns="0" bIns="0" anchor="t" anchorCtr="0">
              <a:spAutoFit/>
            </a:bodyPr>
            <a:lstStyle/>
            <a:p>
              <a:pPr algn="l"/>
              <a:r>
                <a:rPr lang="zh-CN" sz="710" b="1" dirty="0">
                  <a:solidFill>
                    <a:srgbClr val="1A1A1A"/>
                  </a:solidFill>
                  <a:latin typeface="+mn-lt"/>
                  <a:ea typeface="+mn-ea"/>
                  <a:cs typeface="+mn-cs"/>
                </a:rPr>
                <a:t>第三道防线Third line of defence​​</a:t>
              </a:r>
            </a:p>
          </p:txBody>
        </p:sp>
        <p:sp>
          <p:nvSpPr>
            <p:cNvPr id="25" name="Rectangle 25"/>
            <p:cNvSpPr/>
            <p:nvPr/>
          </p:nvSpPr>
          <p:spPr>
            <a:xfrm>
              <a:off x="7600950" y="1295400"/>
              <a:ext cx="2038350" cy="762000"/>
            </a:xfrm>
            <a:prstGeom prst="rect">
              <a:avLst/>
            </a:prstGeom>
            <a:solidFill>
              <a:srgbClr val="F7F7F7"/>
            </a:solidFill>
            <a:ln>
              <a:noFill/>
            </a:ln>
          </p:spPr>
        </p:sp>
        <p:sp>
          <p:nvSpPr>
            <p:cNvPr id="26" name="TextBox 26"/>
            <p:cNvSpPr txBox="1"/>
            <p:nvPr/>
          </p:nvSpPr>
          <p:spPr>
            <a:xfrm>
              <a:off x="7672388" y="1370886"/>
              <a:ext cx="1682179"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33333"/>
                  </a:solidFill>
                  <a:latin typeface="+mn-lt"/>
                  <a:ea typeface="+mn-ea"/>
                  <a:cs typeface="+mn-cs"/>
                </a:rPr>
                <a:t>内部审计职能评估模型风险管理框架的有​</a:t>
              </a:r>
              <a:br/>
              <a:r>
                <a:rPr lang="zh-CN" sz="710" dirty="0">
                  <a:solidFill>
                    <a:srgbClr val="333333"/>
                  </a:solidFill>
                  <a:latin typeface="+mn-lt"/>
                  <a:ea typeface="+mn-ea"/>
                  <a:cs typeface="+mn-cs"/>
                </a:rPr>
                <a:t>效性与完整性。​</a:t>
              </a:r>
            </a:p>
          </p:txBody>
        </p:sp>
      </p:grpSp>
      <p:grpSp>
        <p:nvGrpSpPr>
          <p:cNvPr id="137" name="figure-16"/>
          <p:cNvGrpSpPr/>
          <p:nvPr/>
        </p:nvGrpSpPr>
        <p:grpSpPr>
          <a:xfrm>
            <a:off x="3352800" y="2215991"/>
            <a:ext cx="7152132" cy="4337209"/>
            <a:chOff x="3352800" y="2215991"/>
            <a:chExt cx="7152132" cy="4337209"/>
          </a:xfrm>
        </p:grpSpPr>
        <p:sp>
          <p:nvSpPr>
            <p:cNvPr id="28" name="TextBox 28"/>
            <p:cNvSpPr txBox="1"/>
            <p:nvPr/>
          </p:nvSpPr>
          <p:spPr>
            <a:xfrm>
              <a:off x="3424238" y="2215991"/>
              <a:ext cx="1798093"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图16. 模型风险管理三道防线模型​​</a:t>
              </a:r>
            </a:p>
          </p:txBody>
        </p:sp>
        <p:sp>
          <p:nvSpPr>
            <p:cNvPr id="29" name="TextBox 29"/>
            <p:cNvSpPr txBox="1"/>
            <p:nvPr/>
          </p:nvSpPr>
          <p:spPr>
            <a:xfrm>
              <a:off x="3424238" y="2360057"/>
              <a:ext cx="2287059"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Model risk management three lines of defence model​​</a:t>
              </a:r>
            </a:p>
          </p:txBody>
        </p:sp>
        <p:sp>
          <p:nvSpPr>
            <p:cNvPr id="30" name="Rectangle 30"/>
            <p:cNvSpPr/>
            <p:nvPr/>
          </p:nvSpPr>
          <p:spPr>
            <a:xfrm>
              <a:off x="3352800" y="2514600"/>
              <a:ext cx="6267450" cy="4038600"/>
            </a:xfrm>
            <a:prstGeom prst="rect">
              <a:avLst/>
            </a:prstGeom>
            <a:solidFill>
              <a:srgbClr val="FFFFFF"/>
            </a:solidFill>
            <a:ln w="11430">
              <a:solidFill>
                <a:srgbClr val="AA1B00"/>
              </a:solidFill>
            </a:ln>
          </p:spPr>
        </p:sp>
        <p:sp>
          <p:nvSpPr>
            <p:cNvPr id="31" name="Rectangle 31"/>
            <p:cNvSpPr/>
            <p:nvPr/>
          </p:nvSpPr>
          <p:spPr>
            <a:xfrm>
              <a:off x="3486150" y="2628900"/>
              <a:ext cx="4762500" cy="247650"/>
            </a:xfrm>
            <a:prstGeom prst="rect">
              <a:avLst/>
            </a:prstGeom>
            <a:solidFill>
              <a:srgbClr val="D9D9D9"/>
            </a:solidFill>
            <a:ln>
              <a:noFill/>
            </a:ln>
          </p:spPr>
        </p:sp>
        <p:sp>
          <p:nvSpPr>
            <p:cNvPr id="32" name="Ellipse 32"/>
            <p:cNvSpPr/>
            <p:nvPr/>
          </p:nvSpPr>
          <p:spPr>
            <a:xfrm>
              <a:off x="3552825" y="2667000"/>
              <a:ext cx="171450" cy="171450"/>
            </a:xfrm>
            <a:prstGeom prst="ellipse">
              <a:avLst/>
            </a:prstGeom>
            <a:solidFill>
              <a:srgbClr val="FFFFFF"/>
            </a:solidFill>
            <a:ln>
              <a:noFill/>
            </a:ln>
          </p:spPr>
        </p:sp>
        <p:grpSp>
          <p:nvGrpSpPr>
            <p:cNvPr id="41" name="Group 41"/>
            <p:cNvGrpSpPr/>
            <p:nvPr/>
          </p:nvGrpSpPr>
          <p:grpSpPr>
            <a:xfrm>
              <a:off x="3595688" y="2709862"/>
              <a:ext cx="90487" cy="95251"/>
              <a:chOff x="3595688" y="2709862"/>
              <a:chExt cx="90487" cy="95251"/>
            </a:xfrm>
          </p:grpSpPr>
          <p:sp>
            <p:nvSpPr>
              <p:cNvPr id="33" name="Freeform 33"/>
              <p:cNvSpPr/>
              <p:nvPr/>
            </p:nvSpPr>
            <p:spPr>
              <a:xfrm>
                <a:off x="3595688" y="2795588"/>
                <a:ext cx="85725" cy="9525"/>
              </a:xfrm>
              <a:custGeom>
                <a:avLst/>
                <a:gdLst/>
                <a:ahLst/>
                <a:cxnLst/>
                <a:rect l="l" t="t" r="r" b="b"/>
                <a:pathLst>
                  <a:path w="85725" h="9525">
                    <a:moveTo>
                      <a:pt x="0" y="0"/>
                    </a:moveTo>
                    <a:lnTo>
                      <a:pt x="85725" y="0"/>
                    </a:lnTo>
                  </a:path>
                </a:pathLst>
              </a:custGeom>
              <a:noFill/>
              <a:ln w="9525">
                <a:solidFill>
                  <a:srgbClr val="6B1100"/>
                </a:solidFill>
              </a:ln>
            </p:spPr>
          </p:sp>
          <p:sp>
            <p:nvSpPr>
              <p:cNvPr id="34" name="Freeform 34"/>
              <p:cNvSpPr/>
              <p:nvPr/>
            </p:nvSpPr>
            <p:spPr>
              <a:xfrm>
                <a:off x="3595688" y="2743200"/>
                <a:ext cx="85725" cy="9525"/>
              </a:xfrm>
              <a:custGeom>
                <a:avLst/>
                <a:gdLst/>
                <a:ahLst/>
                <a:cxnLst/>
                <a:rect l="l" t="t" r="r" b="b"/>
                <a:pathLst>
                  <a:path w="85725" h="9525">
                    <a:moveTo>
                      <a:pt x="0" y="0"/>
                    </a:moveTo>
                    <a:lnTo>
                      <a:pt x="85725" y="0"/>
                    </a:lnTo>
                  </a:path>
                </a:pathLst>
              </a:custGeom>
              <a:noFill/>
              <a:ln w="9525">
                <a:solidFill>
                  <a:srgbClr val="6B1100"/>
                </a:solidFill>
              </a:ln>
            </p:spPr>
          </p:sp>
          <p:sp>
            <p:nvSpPr>
              <p:cNvPr id="35" name="Freeform 35"/>
              <p:cNvSpPr/>
              <p:nvPr/>
            </p:nvSpPr>
            <p:spPr>
              <a:xfrm>
                <a:off x="3605212" y="2709862"/>
                <a:ext cx="66675" cy="14288"/>
              </a:xfrm>
              <a:custGeom>
                <a:avLst/>
                <a:gdLst/>
                <a:ahLst/>
                <a:cxnLst/>
                <a:rect l="l" t="t" r="r" b="b"/>
                <a:pathLst>
                  <a:path w="66675" h="14288">
                    <a:moveTo>
                      <a:pt x="0" y="14288"/>
                    </a:moveTo>
                    <a:lnTo>
                      <a:pt x="33338" y="0"/>
                    </a:lnTo>
                    <a:lnTo>
                      <a:pt x="66675" y="14288"/>
                    </a:lnTo>
                  </a:path>
                </a:pathLst>
              </a:custGeom>
              <a:noFill/>
              <a:ln w="9525">
                <a:solidFill>
                  <a:srgbClr val="6B1100"/>
                </a:solidFill>
              </a:ln>
            </p:spPr>
          </p:sp>
          <p:sp>
            <p:nvSpPr>
              <p:cNvPr id="36" name="Freeform 36"/>
              <p:cNvSpPr/>
              <p:nvPr/>
            </p:nvSpPr>
            <p:spPr>
              <a:xfrm>
                <a:off x="3600450" y="2743200"/>
                <a:ext cx="9525" cy="52388"/>
              </a:xfrm>
              <a:custGeom>
                <a:avLst/>
                <a:gdLst/>
                <a:ahLst/>
                <a:cxnLst/>
                <a:rect l="l" t="t" r="r" b="b"/>
                <a:pathLst>
                  <a:path w="9525" h="52388">
                    <a:moveTo>
                      <a:pt x="0" y="0"/>
                    </a:moveTo>
                    <a:lnTo>
                      <a:pt x="0" y="52388"/>
                    </a:lnTo>
                  </a:path>
                </a:pathLst>
              </a:custGeom>
              <a:noFill/>
              <a:ln w="9525">
                <a:solidFill>
                  <a:srgbClr val="6B1100"/>
                </a:solidFill>
              </a:ln>
            </p:spPr>
          </p:sp>
          <p:sp>
            <p:nvSpPr>
              <p:cNvPr id="37" name="Freeform 37"/>
              <p:cNvSpPr/>
              <p:nvPr/>
            </p:nvSpPr>
            <p:spPr>
              <a:xfrm>
                <a:off x="3676650" y="2743200"/>
                <a:ext cx="9525" cy="52388"/>
              </a:xfrm>
              <a:custGeom>
                <a:avLst/>
                <a:gdLst/>
                <a:ahLst/>
                <a:cxnLst/>
                <a:rect l="l" t="t" r="r" b="b"/>
                <a:pathLst>
                  <a:path w="9525" h="52388">
                    <a:moveTo>
                      <a:pt x="0" y="0"/>
                    </a:moveTo>
                    <a:lnTo>
                      <a:pt x="0" y="52388"/>
                    </a:lnTo>
                  </a:path>
                </a:pathLst>
              </a:custGeom>
              <a:noFill/>
              <a:ln w="9525">
                <a:solidFill>
                  <a:srgbClr val="6B1100"/>
                </a:solidFill>
              </a:ln>
            </p:spPr>
          </p:sp>
          <p:sp>
            <p:nvSpPr>
              <p:cNvPr id="38" name="Freeform 38"/>
              <p:cNvSpPr/>
              <p:nvPr/>
            </p:nvSpPr>
            <p:spPr>
              <a:xfrm>
                <a:off x="3619500" y="2762250"/>
                <a:ext cx="9525" cy="14288"/>
              </a:xfrm>
              <a:custGeom>
                <a:avLst/>
                <a:gdLst/>
                <a:ahLst/>
                <a:cxnLst/>
                <a:rect l="l" t="t" r="r" b="b"/>
                <a:pathLst>
                  <a:path w="9525" h="14288">
                    <a:moveTo>
                      <a:pt x="0" y="0"/>
                    </a:moveTo>
                    <a:lnTo>
                      <a:pt x="0" y="14288"/>
                    </a:lnTo>
                  </a:path>
                </a:pathLst>
              </a:custGeom>
              <a:noFill/>
              <a:ln w="9525">
                <a:solidFill>
                  <a:srgbClr val="6B1100"/>
                </a:solidFill>
              </a:ln>
            </p:spPr>
          </p:sp>
          <p:sp>
            <p:nvSpPr>
              <p:cNvPr id="39" name="Freeform 39"/>
              <p:cNvSpPr/>
              <p:nvPr/>
            </p:nvSpPr>
            <p:spPr>
              <a:xfrm>
                <a:off x="3638550" y="2762250"/>
                <a:ext cx="9525" cy="14288"/>
              </a:xfrm>
              <a:custGeom>
                <a:avLst/>
                <a:gdLst/>
                <a:ahLst/>
                <a:cxnLst/>
                <a:rect l="l" t="t" r="r" b="b"/>
                <a:pathLst>
                  <a:path w="9525" h="14288">
                    <a:moveTo>
                      <a:pt x="0" y="0"/>
                    </a:moveTo>
                    <a:lnTo>
                      <a:pt x="0" y="14288"/>
                    </a:lnTo>
                  </a:path>
                </a:pathLst>
              </a:custGeom>
              <a:noFill/>
              <a:ln w="9525">
                <a:solidFill>
                  <a:srgbClr val="6B1100"/>
                </a:solidFill>
              </a:ln>
            </p:spPr>
          </p:sp>
          <p:sp>
            <p:nvSpPr>
              <p:cNvPr id="40" name="Freeform 40"/>
              <p:cNvSpPr/>
              <p:nvPr/>
            </p:nvSpPr>
            <p:spPr>
              <a:xfrm>
                <a:off x="3657600" y="2762250"/>
                <a:ext cx="9525" cy="14288"/>
              </a:xfrm>
              <a:custGeom>
                <a:avLst/>
                <a:gdLst/>
                <a:ahLst/>
                <a:cxnLst/>
                <a:rect l="l" t="t" r="r" b="b"/>
                <a:pathLst>
                  <a:path w="9525" h="14288">
                    <a:moveTo>
                      <a:pt x="0" y="0"/>
                    </a:moveTo>
                    <a:lnTo>
                      <a:pt x="0" y="14288"/>
                    </a:lnTo>
                  </a:path>
                </a:pathLst>
              </a:custGeom>
              <a:noFill/>
              <a:ln w="9525">
                <a:solidFill>
                  <a:srgbClr val="6B1100"/>
                </a:solidFill>
              </a:ln>
            </p:spPr>
          </p:sp>
        </p:grpSp>
        <p:sp>
          <p:nvSpPr>
            <p:cNvPr id="42" name="TextBox 42"/>
            <p:cNvSpPr txBox="1"/>
            <p:nvPr/>
          </p:nvSpPr>
          <p:spPr>
            <a:xfrm>
              <a:off x="4590674" y="2709148"/>
              <a:ext cx="2743951" cy="140494"/>
            </a:xfrm>
            <a:prstGeom prst="rect">
              <a:avLst/>
            </a:prstGeom>
            <a:noFill/>
            <a:ln>
              <a:noFill/>
            </a:ln>
          </p:spPr>
          <p:txBody>
            <a:bodyPr wrap="none" lIns="0" tIns="0" rIns="0" bIns="0" anchor="t" anchorCtr="0">
              <a:spAutoFit/>
            </a:bodyPr>
            <a:lstStyle/>
            <a:p>
              <a:pPr algn="ctr"/>
              <a:r>
                <a:rPr lang="zh-CN" sz="710" b="1" dirty="0">
                  <a:solidFill>
                    <a:srgbClr val="1A1A1A"/>
                  </a:solidFill>
                  <a:latin typeface="+mn-lt"/>
                  <a:ea typeface="+mn-ea"/>
                  <a:cs typeface="+mn-cs"/>
                </a:rPr>
                <a:t>管理委员会（及各委员会）</a:t>
              </a:r>
              <a:r>
                <a:rPr lang="en-US" sz="600" dirty="0">
                  <a:solidFill>
                    <a:srgbClr val="666666"/>
                  </a:solidFill>
                  <a:latin typeface="+mn-lt"/>
                  <a:ea typeface="+mn-ea"/>
                  <a:cs typeface="+mn-cs"/>
                </a:rPr>
                <a:t xml:space="preserve"> Management board (and committees)</a:t>
              </a:r>
              <a:r>
                <a:rPr lang="zh-CN" sz="710" b="1" dirty="0">
                  <a:solidFill>
                    <a:srgbClr val="1A1A1A"/>
                  </a:solidFill>
                  <a:latin typeface="+mn-lt"/>
                  <a:ea typeface="+mn-ea"/>
                  <a:cs typeface="+mn-cs"/>
                </a:rPr>
                <a:t>​​</a:t>
              </a:r>
            </a:p>
          </p:txBody>
        </p:sp>
        <p:sp>
          <p:nvSpPr>
            <p:cNvPr id="43" name="Rectangle 43"/>
            <p:cNvSpPr/>
            <p:nvPr/>
          </p:nvSpPr>
          <p:spPr>
            <a:xfrm>
              <a:off x="3486150" y="2971800"/>
              <a:ext cx="4762500" cy="247650"/>
            </a:xfrm>
            <a:prstGeom prst="rect">
              <a:avLst/>
            </a:prstGeom>
            <a:solidFill>
              <a:srgbClr val="D9D9D9"/>
            </a:solidFill>
            <a:ln>
              <a:noFill/>
            </a:ln>
          </p:spPr>
        </p:sp>
        <p:sp>
          <p:nvSpPr>
            <p:cNvPr id="44" name="Ellipse 44"/>
            <p:cNvSpPr/>
            <p:nvPr/>
          </p:nvSpPr>
          <p:spPr>
            <a:xfrm>
              <a:off x="3552825" y="3009900"/>
              <a:ext cx="171450" cy="171450"/>
            </a:xfrm>
            <a:prstGeom prst="ellipse">
              <a:avLst/>
            </a:prstGeom>
            <a:solidFill>
              <a:srgbClr val="FFFFFF"/>
            </a:solidFill>
            <a:ln>
              <a:noFill/>
            </a:ln>
          </p:spPr>
        </p:sp>
        <p:grpSp>
          <p:nvGrpSpPr>
            <p:cNvPr id="51" name="Group 51"/>
            <p:cNvGrpSpPr/>
            <p:nvPr/>
          </p:nvGrpSpPr>
          <p:grpSpPr>
            <a:xfrm>
              <a:off x="3595688" y="3052762"/>
              <a:ext cx="85724" cy="85726"/>
              <a:chOff x="3595688" y="3052762"/>
              <a:chExt cx="85724" cy="85726"/>
            </a:xfrm>
          </p:grpSpPr>
          <p:sp>
            <p:nvSpPr>
              <p:cNvPr id="45" name="Freeform 45"/>
              <p:cNvSpPr/>
              <p:nvPr/>
            </p:nvSpPr>
            <p:spPr>
              <a:xfrm>
                <a:off x="3629025" y="3090862"/>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6B1100"/>
                </a:solidFill>
              </a:ln>
            </p:spPr>
          </p:sp>
          <p:sp>
            <p:nvSpPr>
              <p:cNvPr id="46" name="Freeform 46"/>
              <p:cNvSpPr/>
              <p:nvPr/>
            </p:nvSpPr>
            <p:spPr>
              <a:xfrm>
                <a:off x="3619500" y="3124200"/>
                <a:ext cx="38100" cy="14288"/>
              </a:xfrm>
              <a:custGeom>
                <a:avLst/>
                <a:gdLst/>
                <a:ahLst/>
                <a:cxnLst/>
                <a:rect l="l" t="t" r="r" b="b"/>
                <a:pathLst>
                  <a:path w="38100" h="14288">
                    <a:moveTo>
                      <a:pt x="0" y="14288"/>
                    </a:moveTo>
                    <a:lnTo>
                      <a:pt x="0" y="9525"/>
                    </a:lnTo>
                    <a:cubicBezTo>
                      <a:pt x="0" y="4264"/>
                      <a:pt x="4264" y="0"/>
                      <a:pt x="9525" y="0"/>
                    </a:cubicBezTo>
                    <a:lnTo>
                      <a:pt x="28575" y="0"/>
                    </a:lnTo>
                    <a:cubicBezTo>
                      <a:pt x="33836" y="0"/>
                      <a:pt x="38100" y="4264"/>
                      <a:pt x="38100" y="9525"/>
                    </a:cubicBezTo>
                    <a:lnTo>
                      <a:pt x="38100" y="14288"/>
                    </a:lnTo>
                  </a:path>
                </a:pathLst>
              </a:custGeom>
              <a:noFill/>
              <a:ln w="9525">
                <a:solidFill>
                  <a:srgbClr val="6B1100"/>
                </a:solidFill>
              </a:ln>
            </p:spPr>
          </p:sp>
          <p:sp>
            <p:nvSpPr>
              <p:cNvPr id="47" name="Freeform 47"/>
              <p:cNvSpPr/>
              <p:nvPr/>
            </p:nvSpPr>
            <p:spPr>
              <a:xfrm>
                <a:off x="3652838" y="3052762"/>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6B1100"/>
                </a:solidFill>
              </a:ln>
            </p:spPr>
          </p:sp>
          <p:sp>
            <p:nvSpPr>
              <p:cNvPr id="48" name="Freeform 48"/>
              <p:cNvSpPr/>
              <p:nvPr/>
            </p:nvSpPr>
            <p:spPr>
              <a:xfrm>
                <a:off x="3662362" y="3086100"/>
                <a:ext cx="19050" cy="14288"/>
              </a:xfrm>
              <a:custGeom>
                <a:avLst/>
                <a:gdLst/>
                <a:ahLst/>
                <a:cxnLst/>
                <a:rect l="l" t="t" r="r" b="b"/>
                <a:pathLst>
                  <a:path w="19050" h="14288">
                    <a:moveTo>
                      <a:pt x="0" y="0"/>
                    </a:moveTo>
                    <a:lnTo>
                      <a:pt x="9525" y="0"/>
                    </a:lnTo>
                    <a:cubicBezTo>
                      <a:pt x="14786" y="0"/>
                      <a:pt x="19050" y="4264"/>
                      <a:pt x="19050" y="9525"/>
                    </a:cubicBezTo>
                    <a:lnTo>
                      <a:pt x="19050" y="14288"/>
                    </a:lnTo>
                  </a:path>
                </a:pathLst>
              </a:custGeom>
              <a:noFill/>
              <a:ln w="9525">
                <a:solidFill>
                  <a:srgbClr val="6B1100"/>
                </a:solidFill>
              </a:ln>
            </p:spPr>
          </p:sp>
          <p:sp>
            <p:nvSpPr>
              <p:cNvPr id="49" name="Freeform 49"/>
              <p:cNvSpPr/>
              <p:nvPr/>
            </p:nvSpPr>
            <p:spPr>
              <a:xfrm>
                <a:off x="3605212" y="3052762"/>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6B1100"/>
                </a:solidFill>
              </a:ln>
            </p:spPr>
          </p:sp>
          <p:sp>
            <p:nvSpPr>
              <p:cNvPr id="50" name="Freeform 50"/>
              <p:cNvSpPr/>
              <p:nvPr/>
            </p:nvSpPr>
            <p:spPr>
              <a:xfrm>
                <a:off x="3595688" y="3086100"/>
                <a:ext cx="19050" cy="14288"/>
              </a:xfrm>
              <a:custGeom>
                <a:avLst/>
                <a:gdLst/>
                <a:ahLst/>
                <a:cxnLst/>
                <a:rect l="l" t="t" r="r" b="b"/>
                <a:pathLst>
                  <a:path w="19050" h="14288">
                    <a:moveTo>
                      <a:pt x="0" y="14288"/>
                    </a:moveTo>
                    <a:lnTo>
                      <a:pt x="0" y="9525"/>
                    </a:lnTo>
                    <a:cubicBezTo>
                      <a:pt x="0" y="4264"/>
                      <a:pt x="4264" y="0"/>
                      <a:pt x="9525" y="0"/>
                    </a:cubicBezTo>
                    <a:lnTo>
                      <a:pt x="19050" y="0"/>
                    </a:lnTo>
                  </a:path>
                </a:pathLst>
              </a:custGeom>
              <a:noFill/>
              <a:ln w="9525">
                <a:solidFill>
                  <a:srgbClr val="6B1100"/>
                </a:solidFill>
              </a:ln>
            </p:spPr>
          </p:sp>
        </p:grpSp>
        <p:sp>
          <p:nvSpPr>
            <p:cNvPr id="52" name="TextBox 52"/>
            <p:cNvSpPr txBox="1"/>
            <p:nvPr/>
          </p:nvSpPr>
          <p:spPr>
            <a:xfrm>
              <a:off x="4578586" y="3052048"/>
              <a:ext cx="2768128" cy="140494"/>
            </a:xfrm>
            <a:prstGeom prst="rect">
              <a:avLst/>
            </a:prstGeom>
            <a:noFill/>
            <a:ln>
              <a:noFill/>
            </a:ln>
          </p:spPr>
          <p:txBody>
            <a:bodyPr wrap="none" lIns="0" tIns="0" rIns="0" bIns="0" anchor="t" anchorCtr="0">
              <a:spAutoFit/>
            </a:bodyPr>
            <a:lstStyle/>
            <a:p>
              <a:pPr algn="ctr"/>
              <a:r>
                <a:rPr lang="zh-CN" sz="710" b="1" dirty="0">
                  <a:solidFill>
                    <a:srgbClr val="1A1A1A"/>
                  </a:solidFill>
                  <a:latin typeface="+mn-lt"/>
                  <a:ea typeface="+mn-ea"/>
                  <a:cs typeface="+mn-cs"/>
                </a:rPr>
                <a:t>高级管理层（及各委员会）</a:t>
              </a:r>
              <a:r>
                <a:rPr lang="en-US" sz="600" dirty="0">
                  <a:solidFill>
                    <a:srgbClr val="666666"/>
                  </a:solidFill>
                  <a:latin typeface="+mn-lt"/>
                  <a:ea typeface="+mn-ea"/>
                  <a:cs typeface="+mn-cs"/>
                </a:rPr>
                <a:t xml:space="preserve"> Senior management (and committees)</a:t>
              </a:r>
              <a:r>
                <a:rPr lang="zh-CN" sz="710" b="1" dirty="0">
                  <a:solidFill>
                    <a:srgbClr val="1A1A1A"/>
                  </a:solidFill>
                  <a:latin typeface="+mn-lt"/>
                  <a:ea typeface="+mn-ea"/>
                  <a:cs typeface="+mn-cs"/>
                </a:rPr>
                <a:t>​​</a:t>
              </a:r>
            </a:p>
          </p:txBody>
        </p:sp>
        <p:sp>
          <p:nvSpPr>
            <p:cNvPr id="53" name="Rectangle 53"/>
            <p:cNvSpPr/>
            <p:nvPr/>
          </p:nvSpPr>
          <p:spPr>
            <a:xfrm>
              <a:off x="3486150" y="3314700"/>
              <a:ext cx="4762500" cy="590550"/>
            </a:xfrm>
            <a:prstGeom prst="rect">
              <a:avLst/>
            </a:prstGeom>
            <a:solidFill>
              <a:srgbClr val="FFFFFF"/>
            </a:solidFill>
            <a:ln w="7620">
              <a:solidFill>
                <a:srgbClr val="BFBFBF"/>
              </a:solidFill>
            </a:ln>
          </p:spPr>
        </p:sp>
        <p:sp>
          <p:nvSpPr>
            <p:cNvPr id="54" name="TextBox 54"/>
            <p:cNvSpPr txBox="1"/>
            <p:nvPr/>
          </p:nvSpPr>
          <p:spPr>
            <a:xfrm>
              <a:off x="4491434" y="3375184"/>
              <a:ext cx="2751932"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决策、模型审批与升级</a:t>
              </a:r>
              <a:r>
                <a:rPr lang="en-US" sz="560" dirty="0">
                  <a:solidFill>
                    <a:srgbClr val="666666"/>
                  </a:solidFill>
                  <a:latin typeface="+mn-lt"/>
                  <a:ea typeface="+mn-ea"/>
                  <a:cs typeface="+mn-cs"/>
                </a:rPr>
                <a:t xml:space="preserve"> Decision taking, model approval and escalation</a:t>
              </a:r>
              <a:r>
                <a:rPr lang="zh-CN" sz="680" b="1" dirty="0">
                  <a:solidFill>
                    <a:srgbClr val="1A1A1A"/>
                  </a:solidFill>
                  <a:latin typeface="+mn-lt"/>
                  <a:ea typeface="+mn-ea"/>
                  <a:cs typeface="+mn-cs"/>
                </a:rPr>
                <a:t>​​</a:t>
              </a:r>
            </a:p>
          </p:txBody>
        </p:sp>
        <p:sp>
          <p:nvSpPr>
            <p:cNvPr id="55" name="Rectangle 55"/>
            <p:cNvSpPr/>
            <p:nvPr/>
          </p:nvSpPr>
          <p:spPr>
            <a:xfrm>
              <a:off x="3562350" y="3524250"/>
              <a:ext cx="2266950" cy="285750"/>
            </a:xfrm>
            <a:prstGeom prst="rect">
              <a:avLst/>
            </a:prstGeom>
            <a:solidFill>
              <a:srgbClr val="EDEDED"/>
            </a:solidFill>
            <a:ln>
              <a:noFill/>
            </a:ln>
          </p:spPr>
        </p:sp>
        <p:sp>
          <p:nvSpPr>
            <p:cNvPr id="56" name="Ellipse 56"/>
            <p:cNvSpPr/>
            <p:nvPr/>
          </p:nvSpPr>
          <p:spPr>
            <a:xfrm>
              <a:off x="3619500" y="3581400"/>
              <a:ext cx="171450" cy="171450"/>
            </a:xfrm>
            <a:prstGeom prst="ellipse">
              <a:avLst/>
            </a:prstGeom>
            <a:solidFill>
              <a:srgbClr val="FFFFFF"/>
            </a:solidFill>
            <a:ln>
              <a:noFill/>
            </a:ln>
          </p:spPr>
        </p:sp>
        <p:grpSp>
          <p:nvGrpSpPr>
            <p:cNvPr id="62" name="Group 62"/>
            <p:cNvGrpSpPr/>
            <p:nvPr/>
          </p:nvGrpSpPr>
          <p:grpSpPr>
            <a:xfrm>
              <a:off x="3662362" y="3624262"/>
              <a:ext cx="85725" cy="90488"/>
              <a:chOff x="3662362" y="3624262"/>
              <a:chExt cx="85725" cy="90488"/>
            </a:xfrm>
          </p:grpSpPr>
          <p:sp>
            <p:nvSpPr>
              <p:cNvPr id="57" name="Freeform 57"/>
              <p:cNvSpPr/>
              <p:nvPr/>
            </p:nvSpPr>
            <p:spPr>
              <a:xfrm>
                <a:off x="3681412" y="3705225"/>
                <a:ext cx="47625" cy="9525"/>
              </a:xfrm>
              <a:custGeom>
                <a:avLst/>
                <a:gdLst/>
                <a:ahLst/>
                <a:cxnLst/>
                <a:rect l="l" t="t" r="r" b="b"/>
                <a:pathLst>
                  <a:path w="47625" h="9525">
                    <a:moveTo>
                      <a:pt x="0" y="0"/>
                    </a:moveTo>
                    <a:lnTo>
                      <a:pt x="47625" y="0"/>
                    </a:lnTo>
                  </a:path>
                </a:pathLst>
              </a:custGeom>
              <a:noFill/>
              <a:ln w="9525">
                <a:solidFill>
                  <a:srgbClr val="6B1100"/>
                </a:solidFill>
              </a:ln>
            </p:spPr>
          </p:sp>
          <p:sp>
            <p:nvSpPr>
              <p:cNvPr id="58" name="Freeform 58"/>
              <p:cNvSpPr/>
              <p:nvPr/>
            </p:nvSpPr>
            <p:spPr>
              <a:xfrm>
                <a:off x="3676650" y="3633788"/>
                <a:ext cx="57150" cy="9525"/>
              </a:xfrm>
              <a:custGeom>
                <a:avLst/>
                <a:gdLst/>
                <a:ahLst/>
                <a:cxnLst/>
                <a:rect l="l" t="t" r="r" b="b"/>
                <a:pathLst>
                  <a:path w="57150" h="9525">
                    <a:moveTo>
                      <a:pt x="0" y="4762"/>
                    </a:moveTo>
                    <a:lnTo>
                      <a:pt x="28575" y="0"/>
                    </a:lnTo>
                    <a:lnTo>
                      <a:pt x="57150" y="4762"/>
                    </a:lnTo>
                  </a:path>
                </a:pathLst>
              </a:custGeom>
              <a:noFill/>
              <a:ln w="9525">
                <a:solidFill>
                  <a:srgbClr val="6B1100"/>
                </a:solidFill>
              </a:ln>
            </p:spPr>
          </p:sp>
          <p:sp>
            <p:nvSpPr>
              <p:cNvPr id="59" name="Freeform 59"/>
              <p:cNvSpPr/>
              <p:nvPr/>
            </p:nvSpPr>
            <p:spPr>
              <a:xfrm>
                <a:off x="3705225" y="3624262"/>
                <a:ext cx="9525" cy="80962"/>
              </a:xfrm>
              <a:custGeom>
                <a:avLst/>
                <a:gdLst/>
                <a:ahLst/>
                <a:cxnLst/>
                <a:rect l="l" t="t" r="r" b="b"/>
                <a:pathLst>
                  <a:path w="9525" h="80962">
                    <a:moveTo>
                      <a:pt x="0" y="0"/>
                    </a:moveTo>
                    <a:lnTo>
                      <a:pt x="0" y="80962"/>
                    </a:lnTo>
                  </a:path>
                </a:pathLst>
              </a:custGeom>
              <a:noFill/>
              <a:ln w="9525">
                <a:solidFill>
                  <a:srgbClr val="6B1100"/>
                </a:solidFill>
              </a:ln>
            </p:spPr>
          </p:sp>
          <p:sp>
            <p:nvSpPr>
              <p:cNvPr id="60" name="Freeform 60"/>
              <p:cNvSpPr/>
              <p:nvPr/>
            </p:nvSpPr>
            <p:spPr>
              <a:xfrm>
                <a:off x="3662362" y="3638550"/>
                <a:ext cx="28575" cy="42862"/>
              </a:xfrm>
              <a:custGeom>
                <a:avLst/>
                <a:gdLst/>
                <a:ahLst/>
                <a:cxnLst/>
                <a:rect l="l" t="t" r="r" b="b"/>
                <a:pathLst>
                  <a:path w="28575" h="42862">
                    <a:moveTo>
                      <a:pt x="28575" y="28575"/>
                    </a:moveTo>
                    <a:lnTo>
                      <a:pt x="14288" y="0"/>
                    </a:lnTo>
                    <a:lnTo>
                      <a:pt x="0" y="28575"/>
                    </a:lnTo>
                    <a:cubicBezTo>
                      <a:pt x="0" y="36466"/>
                      <a:pt x="6397" y="42862"/>
                      <a:pt x="14288" y="42862"/>
                    </a:cubicBezTo>
                    <a:cubicBezTo>
                      <a:pt x="22178" y="42862"/>
                      <a:pt x="28575" y="36466"/>
                      <a:pt x="28575" y="28575"/>
                    </a:cubicBezTo>
                  </a:path>
                </a:pathLst>
              </a:custGeom>
              <a:noFill/>
              <a:ln w="9525">
                <a:solidFill>
                  <a:srgbClr val="6B1100"/>
                </a:solidFill>
              </a:ln>
            </p:spPr>
          </p:sp>
          <p:sp>
            <p:nvSpPr>
              <p:cNvPr id="61" name="Freeform 61"/>
              <p:cNvSpPr/>
              <p:nvPr/>
            </p:nvSpPr>
            <p:spPr>
              <a:xfrm>
                <a:off x="3719512" y="3638550"/>
                <a:ext cx="28575" cy="42862"/>
              </a:xfrm>
              <a:custGeom>
                <a:avLst/>
                <a:gdLst/>
                <a:ahLst/>
                <a:cxnLst/>
                <a:rect l="l" t="t" r="r" b="b"/>
                <a:pathLst>
                  <a:path w="28575" h="42862">
                    <a:moveTo>
                      <a:pt x="28575" y="28575"/>
                    </a:moveTo>
                    <a:lnTo>
                      <a:pt x="14288" y="0"/>
                    </a:lnTo>
                    <a:lnTo>
                      <a:pt x="0" y="28575"/>
                    </a:lnTo>
                    <a:cubicBezTo>
                      <a:pt x="0" y="36466"/>
                      <a:pt x="6397" y="42862"/>
                      <a:pt x="14288" y="42862"/>
                    </a:cubicBezTo>
                    <a:cubicBezTo>
                      <a:pt x="22178" y="42862"/>
                      <a:pt x="28575" y="36466"/>
                      <a:pt x="28575" y="28575"/>
                    </a:cubicBezTo>
                  </a:path>
                </a:pathLst>
              </a:custGeom>
              <a:noFill/>
              <a:ln w="9525">
                <a:solidFill>
                  <a:srgbClr val="6B1100"/>
                </a:solidFill>
              </a:ln>
            </p:spPr>
          </p:sp>
        </p:grpSp>
        <p:sp>
          <p:nvSpPr>
            <p:cNvPr id="63" name="TextBox 63"/>
            <p:cNvSpPr txBox="1"/>
            <p:nvPr/>
          </p:nvSpPr>
          <p:spPr>
            <a:xfrm>
              <a:off x="3843338" y="3579257"/>
              <a:ext cx="1095883" cy="221456"/>
            </a:xfrm>
            <a:prstGeom prst="rect">
              <a:avLst/>
            </a:prstGeom>
            <a:noFill/>
            <a:ln>
              <a:noFill/>
            </a:ln>
          </p:spPr>
          <p:txBody>
            <a:bodyPr wrap="none" lIns="0" tIns="0" rIns="0" bIns="0" anchor="t" anchorCtr="0">
              <a:spAutoFit/>
            </a:bodyPr>
            <a:lstStyle/>
            <a:p>
              <a:pPr algn="l">
                <a:lnSpc>
                  <a:spcPts val="750"/>
                </a:lnSpc>
              </a:pPr>
              <a:r>
                <a:rPr lang="zh-CN" sz="640" b="1" dirty="0">
                  <a:solidFill>
                    <a:srgbClr val="1A1A1A"/>
                  </a:solidFill>
                  <a:latin typeface="+mn-lt"/>
                  <a:ea typeface="+mn-ea"/>
                  <a:cs typeface="+mn-cs"/>
                </a:rPr>
                <a:t>战略模型风险委员会​</a:t>
              </a:r>
            </a:p>
            <a:p>
              <a:pPr algn="l">
                <a:lnSpc>
                  <a:spcPts val="750"/>
                </a:lnSpc>
              </a:pPr>
              <a:r>
                <a:rPr lang="en-US" sz="520" dirty="0">
                  <a:solidFill>
                    <a:srgbClr val="666666"/>
                  </a:solidFill>
                  <a:latin typeface="+mn-lt"/>
                  <a:ea typeface="+mn-ea"/>
                  <a:cs typeface="+mn-cs"/>
                </a:rPr>
                <a:t>Strategic model risk committee​​</a:t>
              </a:r>
            </a:p>
          </p:txBody>
        </p:sp>
        <p:sp>
          <p:nvSpPr>
            <p:cNvPr id="64" name="Rectangle 64"/>
            <p:cNvSpPr/>
            <p:nvPr/>
          </p:nvSpPr>
          <p:spPr>
            <a:xfrm>
              <a:off x="5905500" y="3524250"/>
              <a:ext cx="2266950" cy="285750"/>
            </a:xfrm>
            <a:prstGeom prst="rect">
              <a:avLst/>
            </a:prstGeom>
            <a:solidFill>
              <a:srgbClr val="EDEDED"/>
            </a:solidFill>
            <a:ln>
              <a:noFill/>
            </a:ln>
          </p:spPr>
        </p:sp>
        <p:sp>
          <p:nvSpPr>
            <p:cNvPr id="65" name="Ellipse 65"/>
            <p:cNvSpPr/>
            <p:nvPr/>
          </p:nvSpPr>
          <p:spPr>
            <a:xfrm>
              <a:off x="5962650" y="3581400"/>
              <a:ext cx="171450" cy="171450"/>
            </a:xfrm>
            <a:prstGeom prst="ellipse">
              <a:avLst/>
            </a:prstGeom>
            <a:solidFill>
              <a:srgbClr val="FFFFFF"/>
            </a:solidFill>
            <a:ln>
              <a:noFill/>
            </a:ln>
          </p:spPr>
        </p:sp>
        <p:grpSp>
          <p:nvGrpSpPr>
            <p:cNvPr id="70" name="Group 70"/>
            <p:cNvGrpSpPr/>
            <p:nvPr/>
          </p:nvGrpSpPr>
          <p:grpSpPr>
            <a:xfrm>
              <a:off x="6015038" y="3629025"/>
              <a:ext cx="71437" cy="80963"/>
              <a:chOff x="6015038" y="3629025"/>
              <a:chExt cx="71437" cy="80963"/>
            </a:xfrm>
          </p:grpSpPr>
          <p:sp>
            <p:nvSpPr>
              <p:cNvPr id="66" name="Freeform 66"/>
              <p:cNvSpPr/>
              <p:nvPr/>
            </p:nvSpPr>
            <p:spPr>
              <a:xfrm>
                <a:off x="6015038" y="3629025"/>
                <a:ext cx="57150" cy="76200"/>
              </a:xfrm>
              <a:custGeom>
                <a:avLst/>
                <a:gdLst/>
                <a:ahLst/>
                <a:cxnLst/>
                <a:rect l="l" t="t" r="r" b="b"/>
                <a:pathLst>
                  <a:path w="57150" h="76200">
                    <a:moveTo>
                      <a:pt x="21979" y="76200"/>
                    </a:moveTo>
                    <a:lnTo>
                      <a:pt x="9525" y="76200"/>
                    </a:lnTo>
                    <a:cubicBezTo>
                      <a:pt x="4264" y="76200"/>
                      <a:pt x="0" y="71936"/>
                      <a:pt x="0" y="66675"/>
                    </a:cubicBezTo>
                    <a:lnTo>
                      <a:pt x="0" y="9525"/>
                    </a:lnTo>
                    <a:cubicBezTo>
                      <a:pt x="0" y="4264"/>
                      <a:pt x="4264" y="0"/>
                      <a:pt x="9525" y="0"/>
                    </a:cubicBezTo>
                    <a:lnTo>
                      <a:pt x="47625" y="0"/>
                    </a:lnTo>
                    <a:cubicBezTo>
                      <a:pt x="52886" y="0"/>
                      <a:pt x="57150" y="4264"/>
                      <a:pt x="57150" y="9525"/>
                    </a:cubicBezTo>
                    <a:lnTo>
                      <a:pt x="57150" y="47625"/>
                    </a:lnTo>
                  </a:path>
                </a:pathLst>
              </a:custGeom>
              <a:noFill/>
              <a:ln w="9525">
                <a:solidFill>
                  <a:srgbClr val="6B1100"/>
                </a:solidFill>
              </a:ln>
            </p:spPr>
          </p:sp>
          <p:sp>
            <p:nvSpPr>
              <p:cNvPr id="67" name="Freeform 67"/>
              <p:cNvSpPr/>
              <p:nvPr/>
            </p:nvSpPr>
            <p:spPr>
              <a:xfrm>
                <a:off x="6057900" y="3690938"/>
                <a:ext cx="28575" cy="19050"/>
              </a:xfrm>
              <a:custGeom>
                <a:avLst/>
                <a:gdLst/>
                <a:ahLst/>
                <a:cxnLst/>
                <a:rect l="l" t="t" r="r" b="b"/>
                <a:pathLst>
                  <a:path w="28575" h="19050">
                    <a:moveTo>
                      <a:pt x="0" y="9525"/>
                    </a:moveTo>
                    <a:lnTo>
                      <a:pt x="9525" y="19050"/>
                    </a:lnTo>
                    <a:lnTo>
                      <a:pt x="28575" y="0"/>
                    </a:lnTo>
                  </a:path>
                </a:pathLst>
              </a:custGeom>
              <a:noFill/>
              <a:ln w="9525">
                <a:solidFill>
                  <a:srgbClr val="6B1100"/>
                </a:solidFill>
              </a:ln>
            </p:spPr>
          </p:sp>
          <p:sp>
            <p:nvSpPr>
              <p:cNvPr id="68" name="Freeform 68"/>
              <p:cNvSpPr/>
              <p:nvPr/>
            </p:nvSpPr>
            <p:spPr>
              <a:xfrm>
                <a:off x="6034088" y="3648075"/>
                <a:ext cx="19050" cy="9525"/>
              </a:xfrm>
              <a:custGeom>
                <a:avLst/>
                <a:gdLst/>
                <a:ahLst/>
                <a:cxnLst/>
                <a:rect l="l" t="t" r="r" b="b"/>
                <a:pathLst>
                  <a:path w="19050" h="9525">
                    <a:moveTo>
                      <a:pt x="0" y="0"/>
                    </a:moveTo>
                    <a:lnTo>
                      <a:pt x="19050" y="0"/>
                    </a:lnTo>
                  </a:path>
                </a:pathLst>
              </a:custGeom>
              <a:noFill/>
              <a:ln w="9525">
                <a:solidFill>
                  <a:srgbClr val="6B1100"/>
                </a:solidFill>
              </a:ln>
            </p:spPr>
          </p:sp>
          <p:sp>
            <p:nvSpPr>
              <p:cNvPr id="69" name="Freeform 69"/>
              <p:cNvSpPr/>
              <p:nvPr/>
            </p:nvSpPr>
            <p:spPr>
              <a:xfrm>
                <a:off x="6034088" y="3667125"/>
                <a:ext cx="9525" cy="9525"/>
              </a:xfrm>
              <a:custGeom>
                <a:avLst/>
                <a:gdLst/>
                <a:ahLst/>
                <a:cxnLst/>
                <a:rect l="l" t="t" r="r" b="b"/>
                <a:pathLst>
                  <a:path w="9525" h="9525">
                    <a:moveTo>
                      <a:pt x="0" y="0"/>
                    </a:moveTo>
                    <a:lnTo>
                      <a:pt x="9525" y="0"/>
                    </a:lnTo>
                  </a:path>
                </a:pathLst>
              </a:custGeom>
              <a:noFill/>
              <a:ln w="9525">
                <a:solidFill>
                  <a:srgbClr val="6B1100"/>
                </a:solidFill>
              </a:ln>
            </p:spPr>
          </p:sp>
        </p:grpSp>
        <p:sp>
          <p:nvSpPr>
            <p:cNvPr id="71" name="TextBox 71"/>
            <p:cNvSpPr txBox="1"/>
            <p:nvPr/>
          </p:nvSpPr>
          <p:spPr>
            <a:xfrm>
              <a:off x="6186488" y="3579257"/>
              <a:ext cx="1571371" cy="221456"/>
            </a:xfrm>
            <a:prstGeom prst="rect">
              <a:avLst/>
            </a:prstGeom>
            <a:noFill/>
            <a:ln>
              <a:noFill/>
            </a:ln>
          </p:spPr>
          <p:txBody>
            <a:bodyPr wrap="none" lIns="0" tIns="0" rIns="0" bIns="0" anchor="t" anchorCtr="0">
              <a:spAutoFit/>
            </a:bodyPr>
            <a:lstStyle/>
            <a:p>
              <a:pPr algn="l">
                <a:lnSpc>
                  <a:spcPts val="750"/>
                </a:lnSpc>
              </a:pPr>
              <a:r>
                <a:rPr lang="zh-CN" sz="640" b="1" dirty="0">
                  <a:solidFill>
                    <a:srgbClr val="1A1A1A"/>
                  </a:solidFill>
                  <a:latin typeface="+mn-lt"/>
                  <a:ea typeface="+mn-ea"/>
                  <a:cs typeface="+mn-cs"/>
                </a:rPr>
                <a:t>运营模型风险（验证）委员会​</a:t>
              </a:r>
            </a:p>
            <a:p>
              <a:pPr algn="l">
                <a:lnSpc>
                  <a:spcPts val="750"/>
                </a:lnSpc>
              </a:pPr>
              <a:r>
                <a:rPr lang="en-US" sz="520" dirty="0">
                  <a:solidFill>
                    <a:srgbClr val="666666"/>
                  </a:solidFill>
                  <a:latin typeface="+mn-lt"/>
                  <a:ea typeface="+mn-ea"/>
                  <a:cs typeface="+mn-cs"/>
                </a:rPr>
                <a:t>Operational model risk (validation) committee​​</a:t>
              </a:r>
            </a:p>
          </p:txBody>
        </p:sp>
        <p:sp>
          <p:nvSpPr>
            <p:cNvPr id="72" name="Rectangle 72"/>
            <p:cNvSpPr/>
            <p:nvPr/>
          </p:nvSpPr>
          <p:spPr>
            <a:xfrm>
              <a:off x="3486150" y="4000500"/>
              <a:ext cx="4762500" cy="742950"/>
            </a:xfrm>
            <a:prstGeom prst="rect">
              <a:avLst/>
            </a:prstGeom>
            <a:solidFill>
              <a:srgbClr val="FFFFFF"/>
            </a:solidFill>
            <a:ln w="7620">
              <a:solidFill>
                <a:srgbClr val="BFBFBF"/>
              </a:solidFill>
            </a:ln>
          </p:spPr>
        </p:sp>
        <p:sp>
          <p:nvSpPr>
            <p:cNvPr id="73" name="TextBox 73"/>
            <p:cNvSpPr txBox="1"/>
            <p:nvPr/>
          </p:nvSpPr>
          <p:spPr>
            <a:xfrm>
              <a:off x="4260413" y="4060984"/>
              <a:ext cx="3213974"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模型风险识别、计量与报告</a:t>
              </a:r>
              <a:r>
                <a:rPr lang="en-US" sz="560" dirty="0">
                  <a:solidFill>
                    <a:srgbClr val="666666"/>
                  </a:solidFill>
                  <a:latin typeface="+mn-lt"/>
                  <a:ea typeface="+mn-ea"/>
                  <a:cs typeface="+mn-cs"/>
                </a:rPr>
                <a:t xml:space="preserve"> Model risk identification, measurement and reporting</a:t>
              </a:r>
              <a:r>
                <a:rPr lang="zh-CN" sz="680" b="1" dirty="0">
                  <a:solidFill>
                    <a:srgbClr val="1A1A1A"/>
                  </a:solidFill>
                  <a:latin typeface="+mn-lt"/>
                  <a:ea typeface="+mn-ea"/>
                  <a:cs typeface="+mn-cs"/>
                </a:rPr>
                <a:t>​​</a:t>
              </a:r>
            </a:p>
          </p:txBody>
        </p:sp>
        <p:sp>
          <p:nvSpPr>
            <p:cNvPr id="74" name="Rectangle 74"/>
            <p:cNvSpPr/>
            <p:nvPr/>
          </p:nvSpPr>
          <p:spPr>
            <a:xfrm>
              <a:off x="3562350" y="4210050"/>
              <a:ext cx="1485900" cy="285750"/>
            </a:xfrm>
            <a:prstGeom prst="rect">
              <a:avLst/>
            </a:prstGeom>
            <a:solidFill>
              <a:srgbClr val="EDEDED"/>
            </a:solidFill>
            <a:ln>
              <a:noFill/>
            </a:ln>
          </p:spPr>
        </p:sp>
        <p:sp>
          <p:nvSpPr>
            <p:cNvPr id="75" name="Ellipse 75"/>
            <p:cNvSpPr/>
            <p:nvPr/>
          </p:nvSpPr>
          <p:spPr>
            <a:xfrm>
              <a:off x="3619500" y="4267200"/>
              <a:ext cx="171450" cy="171450"/>
            </a:xfrm>
            <a:prstGeom prst="ellipse">
              <a:avLst/>
            </a:prstGeom>
            <a:solidFill>
              <a:srgbClr val="FFFFFF"/>
            </a:solidFill>
            <a:ln>
              <a:noFill/>
            </a:ln>
          </p:spPr>
        </p:sp>
        <p:grpSp>
          <p:nvGrpSpPr>
            <p:cNvPr id="78" name="Group 78"/>
            <p:cNvGrpSpPr/>
            <p:nvPr/>
          </p:nvGrpSpPr>
          <p:grpSpPr>
            <a:xfrm>
              <a:off x="3655935" y="4310062"/>
              <a:ext cx="93003" cy="85726"/>
              <a:chOff x="3655935" y="4310062"/>
              <a:chExt cx="93003" cy="85726"/>
            </a:xfrm>
          </p:grpSpPr>
          <p:sp>
            <p:nvSpPr>
              <p:cNvPr id="76" name="Freeform 76"/>
              <p:cNvSpPr/>
              <p:nvPr/>
            </p:nvSpPr>
            <p:spPr>
              <a:xfrm>
                <a:off x="3655935" y="4310062"/>
                <a:ext cx="93003" cy="84992"/>
              </a:xfrm>
              <a:custGeom>
                <a:avLst/>
                <a:gdLst/>
                <a:ahLst/>
                <a:cxnLst/>
                <a:rect l="l" t="t" r="r" b="b"/>
                <a:pathLst>
                  <a:path w="93003" h="84992">
                    <a:moveTo>
                      <a:pt x="46718" y="84992"/>
                    </a:moveTo>
                    <a:cubicBezTo>
                      <a:pt x="16883" y="75743"/>
                      <a:pt x="0" y="44255"/>
                      <a:pt x="8808" y="14288"/>
                    </a:cubicBezTo>
                    <a:cubicBezTo>
                      <a:pt x="23646" y="14966"/>
                      <a:pt x="38165" y="9842"/>
                      <a:pt x="49290" y="0"/>
                    </a:cubicBezTo>
                    <a:cubicBezTo>
                      <a:pt x="60414" y="9842"/>
                      <a:pt x="74933" y="14966"/>
                      <a:pt x="89771" y="14288"/>
                    </a:cubicBezTo>
                    <a:cubicBezTo>
                      <a:pt x="93003" y="25285"/>
                      <a:pt x="92854" y="37000"/>
                      <a:pt x="89342" y="47911"/>
                    </a:cubicBezTo>
                  </a:path>
                </a:pathLst>
              </a:custGeom>
              <a:noFill/>
              <a:ln w="9525">
                <a:solidFill>
                  <a:srgbClr val="6B1100"/>
                </a:solidFill>
              </a:ln>
            </p:spPr>
          </p:sp>
          <p:sp>
            <p:nvSpPr>
              <p:cNvPr id="77" name="Freeform 77"/>
              <p:cNvSpPr/>
              <p:nvPr/>
            </p:nvSpPr>
            <p:spPr>
              <a:xfrm>
                <a:off x="3719512" y="4376738"/>
                <a:ext cx="28575" cy="19050"/>
              </a:xfrm>
              <a:custGeom>
                <a:avLst/>
                <a:gdLst/>
                <a:ahLst/>
                <a:cxnLst/>
                <a:rect l="l" t="t" r="r" b="b"/>
                <a:pathLst>
                  <a:path w="28575" h="19050">
                    <a:moveTo>
                      <a:pt x="0" y="9525"/>
                    </a:moveTo>
                    <a:lnTo>
                      <a:pt x="9525" y="19050"/>
                    </a:lnTo>
                    <a:lnTo>
                      <a:pt x="28575" y="0"/>
                    </a:lnTo>
                  </a:path>
                </a:pathLst>
              </a:custGeom>
              <a:noFill/>
              <a:ln w="9525">
                <a:solidFill>
                  <a:srgbClr val="6B1100"/>
                </a:solidFill>
              </a:ln>
            </p:spPr>
          </p:sp>
        </p:grpSp>
        <p:sp>
          <p:nvSpPr>
            <p:cNvPr id="79" name="TextBox 79"/>
            <p:cNvSpPr txBox="1"/>
            <p:nvPr/>
          </p:nvSpPr>
          <p:spPr>
            <a:xfrm>
              <a:off x="3843338" y="4265057"/>
              <a:ext cx="798703" cy="221456"/>
            </a:xfrm>
            <a:prstGeom prst="rect">
              <a:avLst/>
            </a:prstGeom>
            <a:noFill/>
            <a:ln>
              <a:noFill/>
            </a:ln>
          </p:spPr>
          <p:txBody>
            <a:bodyPr wrap="none" lIns="0" tIns="0" rIns="0" bIns="0" anchor="t" anchorCtr="0">
              <a:spAutoFit/>
            </a:bodyPr>
            <a:lstStyle/>
            <a:p>
              <a:pPr algn="l">
                <a:lnSpc>
                  <a:spcPts val="750"/>
                </a:lnSpc>
              </a:pPr>
              <a:r>
                <a:rPr lang="zh-CN" sz="640" b="1" dirty="0">
                  <a:solidFill>
                    <a:srgbClr val="1A1A1A"/>
                  </a:solidFill>
                  <a:latin typeface="+mn-lt"/>
                  <a:ea typeface="+mn-ea"/>
                  <a:cs typeface="+mn-cs"/>
                </a:rPr>
                <a:t>独立验证​</a:t>
              </a:r>
            </a:p>
            <a:p>
              <a:pPr algn="l">
                <a:lnSpc>
                  <a:spcPts val="750"/>
                </a:lnSpc>
              </a:pPr>
              <a:r>
                <a:rPr lang="en-US" sz="520" dirty="0">
                  <a:solidFill>
                    <a:srgbClr val="666666"/>
                  </a:solidFill>
                  <a:latin typeface="+mn-lt"/>
                  <a:ea typeface="+mn-ea"/>
                  <a:cs typeface="+mn-cs"/>
                </a:rPr>
                <a:t>Independent validation​​</a:t>
              </a:r>
            </a:p>
          </p:txBody>
        </p:sp>
        <p:sp>
          <p:nvSpPr>
            <p:cNvPr id="80" name="Rectangle 80"/>
            <p:cNvSpPr/>
            <p:nvPr/>
          </p:nvSpPr>
          <p:spPr>
            <a:xfrm>
              <a:off x="5124450" y="4210050"/>
              <a:ext cx="1485900" cy="285750"/>
            </a:xfrm>
            <a:prstGeom prst="rect">
              <a:avLst/>
            </a:prstGeom>
            <a:solidFill>
              <a:srgbClr val="EDEDED"/>
            </a:solidFill>
            <a:ln>
              <a:noFill/>
            </a:ln>
          </p:spPr>
        </p:sp>
        <p:sp>
          <p:nvSpPr>
            <p:cNvPr id="81" name="Ellipse 81"/>
            <p:cNvSpPr/>
            <p:nvPr/>
          </p:nvSpPr>
          <p:spPr>
            <a:xfrm>
              <a:off x="5181600" y="4267200"/>
              <a:ext cx="171450" cy="171450"/>
            </a:xfrm>
            <a:prstGeom prst="ellipse">
              <a:avLst/>
            </a:prstGeom>
            <a:solidFill>
              <a:srgbClr val="FFFFFF"/>
            </a:solidFill>
            <a:ln>
              <a:noFill/>
            </a:ln>
          </p:spPr>
        </p:sp>
        <p:grpSp>
          <p:nvGrpSpPr>
            <p:cNvPr id="84" name="Group 84"/>
            <p:cNvGrpSpPr/>
            <p:nvPr/>
          </p:nvGrpSpPr>
          <p:grpSpPr>
            <a:xfrm>
              <a:off x="5222372" y="4307972"/>
              <a:ext cx="89906" cy="89906"/>
              <a:chOff x="5222372" y="4307972"/>
              <a:chExt cx="89906" cy="89906"/>
            </a:xfrm>
          </p:grpSpPr>
          <p:sp>
            <p:nvSpPr>
              <p:cNvPr id="82" name="Freeform 82"/>
              <p:cNvSpPr/>
              <p:nvPr/>
            </p:nvSpPr>
            <p:spPr>
              <a:xfrm>
                <a:off x="5222372" y="4307972"/>
                <a:ext cx="89906" cy="89906"/>
              </a:xfrm>
              <a:custGeom>
                <a:avLst/>
                <a:gdLst/>
                <a:ahLst/>
                <a:cxnLst/>
                <a:rect l="l" t="t" r="r" b="b"/>
                <a:pathLst>
                  <a:path w="89906" h="89906">
                    <a:moveTo>
                      <a:pt x="36976" y="8363"/>
                    </a:moveTo>
                    <a:cubicBezTo>
                      <a:pt x="39005" y="0"/>
                      <a:pt x="50902" y="0"/>
                      <a:pt x="52930" y="8363"/>
                    </a:cubicBezTo>
                    <a:cubicBezTo>
                      <a:pt x="53548" y="10911"/>
                      <a:pt x="55345" y="13011"/>
                      <a:pt x="57767" y="14015"/>
                    </a:cubicBezTo>
                    <a:cubicBezTo>
                      <a:pt x="60190" y="15018"/>
                      <a:pt x="62946" y="14805"/>
                      <a:pt x="65184" y="13440"/>
                    </a:cubicBezTo>
                    <a:cubicBezTo>
                      <a:pt x="72533" y="8963"/>
                      <a:pt x="80948" y="17374"/>
                      <a:pt x="76471" y="24727"/>
                    </a:cubicBezTo>
                    <a:cubicBezTo>
                      <a:pt x="75108" y="26965"/>
                      <a:pt x="74895" y="29718"/>
                      <a:pt x="75898" y="32139"/>
                    </a:cubicBezTo>
                    <a:cubicBezTo>
                      <a:pt x="76900" y="34560"/>
                      <a:pt x="78998" y="36357"/>
                      <a:pt x="81544" y="36976"/>
                    </a:cubicBezTo>
                    <a:cubicBezTo>
                      <a:pt x="89906" y="39005"/>
                      <a:pt x="89906" y="50902"/>
                      <a:pt x="81544" y="52930"/>
                    </a:cubicBezTo>
                    <a:cubicBezTo>
                      <a:pt x="78995" y="53548"/>
                      <a:pt x="76895" y="55345"/>
                      <a:pt x="75892" y="57767"/>
                    </a:cubicBezTo>
                    <a:cubicBezTo>
                      <a:pt x="74888" y="60190"/>
                      <a:pt x="75102" y="62946"/>
                      <a:pt x="76467" y="65184"/>
                    </a:cubicBezTo>
                    <a:cubicBezTo>
                      <a:pt x="80943" y="72533"/>
                      <a:pt x="72533" y="80948"/>
                      <a:pt x="65180" y="76471"/>
                    </a:cubicBezTo>
                    <a:cubicBezTo>
                      <a:pt x="62942" y="75108"/>
                      <a:pt x="60188" y="74895"/>
                      <a:pt x="57767" y="75898"/>
                    </a:cubicBezTo>
                    <a:cubicBezTo>
                      <a:pt x="55347" y="76900"/>
                      <a:pt x="53550" y="78998"/>
                      <a:pt x="52930" y="81544"/>
                    </a:cubicBezTo>
                    <a:cubicBezTo>
                      <a:pt x="50902" y="89906"/>
                      <a:pt x="39005" y="89906"/>
                      <a:pt x="36976" y="81544"/>
                    </a:cubicBezTo>
                    <a:cubicBezTo>
                      <a:pt x="36359" y="78995"/>
                      <a:pt x="34561" y="76895"/>
                      <a:pt x="32139" y="75892"/>
                    </a:cubicBezTo>
                    <a:cubicBezTo>
                      <a:pt x="29717" y="74888"/>
                      <a:pt x="26961" y="75102"/>
                      <a:pt x="24722" y="76467"/>
                    </a:cubicBezTo>
                    <a:cubicBezTo>
                      <a:pt x="17374" y="80943"/>
                      <a:pt x="8958" y="72533"/>
                      <a:pt x="13435" y="65180"/>
                    </a:cubicBezTo>
                    <a:cubicBezTo>
                      <a:pt x="14798" y="62942"/>
                      <a:pt x="15011" y="60188"/>
                      <a:pt x="14009" y="57767"/>
                    </a:cubicBezTo>
                    <a:cubicBezTo>
                      <a:pt x="13006" y="55347"/>
                      <a:pt x="10909" y="53550"/>
                      <a:pt x="8363" y="52930"/>
                    </a:cubicBezTo>
                    <a:cubicBezTo>
                      <a:pt x="0" y="50902"/>
                      <a:pt x="0" y="39005"/>
                      <a:pt x="8363" y="36976"/>
                    </a:cubicBezTo>
                    <a:cubicBezTo>
                      <a:pt x="10911" y="36359"/>
                      <a:pt x="13011" y="34561"/>
                      <a:pt x="14015" y="32139"/>
                    </a:cubicBezTo>
                    <a:cubicBezTo>
                      <a:pt x="15018" y="29717"/>
                      <a:pt x="14805" y="26961"/>
                      <a:pt x="13440" y="24722"/>
                    </a:cubicBezTo>
                    <a:cubicBezTo>
                      <a:pt x="8963" y="17374"/>
                      <a:pt x="17374" y="8958"/>
                      <a:pt x="24727" y="13435"/>
                    </a:cubicBezTo>
                    <a:cubicBezTo>
                      <a:pt x="29489" y="16331"/>
                      <a:pt x="35662" y="13768"/>
                      <a:pt x="36976" y="8363"/>
                    </a:cubicBezTo>
                  </a:path>
                </a:pathLst>
              </a:custGeom>
              <a:noFill/>
              <a:ln w="9525">
                <a:solidFill>
                  <a:srgbClr val="6B1100"/>
                </a:solidFill>
              </a:ln>
            </p:spPr>
          </p:sp>
          <p:sp>
            <p:nvSpPr>
              <p:cNvPr id="83" name="Freeform 83"/>
              <p:cNvSpPr/>
              <p:nvPr/>
            </p:nvSpPr>
            <p:spPr>
              <a:xfrm>
                <a:off x="5253038" y="4338638"/>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9525">
                <a:solidFill>
                  <a:srgbClr val="6B1100"/>
                </a:solidFill>
              </a:ln>
            </p:spPr>
          </p:sp>
        </p:grpSp>
        <p:sp>
          <p:nvSpPr>
            <p:cNvPr id="85" name="TextBox 85"/>
            <p:cNvSpPr txBox="1"/>
            <p:nvPr/>
          </p:nvSpPr>
          <p:spPr>
            <a:xfrm>
              <a:off x="5405438" y="4265057"/>
              <a:ext cx="818515" cy="221456"/>
            </a:xfrm>
            <a:prstGeom prst="rect">
              <a:avLst/>
            </a:prstGeom>
            <a:noFill/>
            <a:ln>
              <a:noFill/>
            </a:ln>
          </p:spPr>
          <p:txBody>
            <a:bodyPr wrap="none" lIns="0" tIns="0" rIns="0" bIns="0" anchor="t" anchorCtr="0">
              <a:spAutoFit/>
            </a:bodyPr>
            <a:lstStyle/>
            <a:p>
              <a:pPr algn="l">
                <a:lnSpc>
                  <a:spcPts val="750"/>
                </a:lnSpc>
              </a:pPr>
              <a:r>
                <a:rPr lang="zh-CN" sz="640" b="1" dirty="0">
                  <a:solidFill>
                    <a:srgbClr val="1A1A1A"/>
                  </a:solidFill>
                  <a:latin typeface="+mn-lt"/>
                  <a:ea typeface="+mn-ea"/>
                  <a:cs typeface="+mn-cs"/>
                </a:rPr>
                <a:t>模型风险管理​</a:t>
              </a:r>
            </a:p>
            <a:p>
              <a:pPr algn="l">
                <a:lnSpc>
                  <a:spcPts val="750"/>
                </a:lnSpc>
              </a:pPr>
              <a:r>
                <a:rPr lang="en-US" sz="520" dirty="0">
                  <a:solidFill>
                    <a:srgbClr val="666666"/>
                  </a:solidFill>
                  <a:latin typeface="+mn-lt"/>
                  <a:ea typeface="+mn-ea"/>
                  <a:cs typeface="+mn-cs"/>
                </a:rPr>
                <a:t>Model risk management​​</a:t>
              </a:r>
            </a:p>
          </p:txBody>
        </p:sp>
        <p:sp>
          <p:nvSpPr>
            <p:cNvPr id="86" name="Rectangle 86"/>
            <p:cNvSpPr/>
            <p:nvPr/>
          </p:nvSpPr>
          <p:spPr>
            <a:xfrm>
              <a:off x="6686550" y="4210050"/>
              <a:ext cx="1485900" cy="285750"/>
            </a:xfrm>
            <a:prstGeom prst="rect">
              <a:avLst/>
            </a:prstGeom>
            <a:solidFill>
              <a:srgbClr val="EDEDED"/>
            </a:solidFill>
            <a:ln>
              <a:noFill/>
            </a:ln>
          </p:spPr>
        </p:sp>
        <p:sp>
          <p:nvSpPr>
            <p:cNvPr id="87" name="Ellipse 87"/>
            <p:cNvSpPr/>
            <p:nvPr/>
          </p:nvSpPr>
          <p:spPr>
            <a:xfrm>
              <a:off x="6743700" y="4267200"/>
              <a:ext cx="171450" cy="171450"/>
            </a:xfrm>
            <a:prstGeom prst="ellipse">
              <a:avLst/>
            </a:prstGeom>
            <a:solidFill>
              <a:srgbClr val="FFFFFF"/>
            </a:solidFill>
            <a:ln>
              <a:noFill/>
            </a:ln>
          </p:spPr>
        </p:sp>
        <p:grpSp>
          <p:nvGrpSpPr>
            <p:cNvPr id="90" name="Group 90"/>
            <p:cNvGrpSpPr/>
            <p:nvPr/>
          </p:nvGrpSpPr>
          <p:grpSpPr>
            <a:xfrm>
              <a:off x="6786562" y="4324350"/>
              <a:ext cx="85725" cy="57150"/>
              <a:chOff x="6786562" y="4324350"/>
              <a:chExt cx="85725" cy="57150"/>
            </a:xfrm>
          </p:grpSpPr>
          <p:sp>
            <p:nvSpPr>
              <p:cNvPr id="88" name="Freeform 88"/>
              <p:cNvSpPr/>
              <p:nvPr/>
            </p:nvSpPr>
            <p:spPr>
              <a:xfrm>
                <a:off x="6819900" y="4343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6B1100"/>
                </a:solidFill>
              </a:ln>
            </p:spPr>
          </p:sp>
          <p:sp>
            <p:nvSpPr>
              <p:cNvPr id="89" name="Freeform 89"/>
              <p:cNvSpPr/>
              <p:nvPr/>
            </p:nvSpPr>
            <p:spPr>
              <a:xfrm>
                <a:off x="6786562" y="4324350"/>
                <a:ext cx="85725" cy="57150"/>
              </a:xfrm>
              <a:custGeom>
                <a:avLst/>
                <a:gdLst/>
                <a:ahLst/>
                <a:cxnLst/>
                <a:rect l="l" t="t" r="r" b="b"/>
                <a:pathLst>
                  <a:path w="85725" h="57150">
                    <a:moveTo>
                      <a:pt x="85725" y="28575"/>
                    </a:moveTo>
                    <a:cubicBezTo>
                      <a:pt x="74295" y="47625"/>
                      <a:pt x="60007" y="57150"/>
                      <a:pt x="42862" y="57150"/>
                    </a:cubicBezTo>
                    <a:cubicBezTo>
                      <a:pt x="25718" y="57150"/>
                      <a:pt x="11430" y="47625"/>
                      <a:pt x="0" y="28575"/>
                    </a:cubicBezTo>
                    <a:cubicBezTo>
                      <a:pt x="11430" y="9525"/>
                      <a:pt x="25718" y="0"/>
                      <a:pt x="42862" y="0"/>
                    </a:cubicBezTo>
                    <a:cubicBezTo>
                      <a:pt x="60007" y="0"/>
                      <a:pt x="74295" y="9525"/>
                      <a:pt x="85725" y="28575"/>
                    </a:cubicBezTo>
                  </a:path>
                </a:pathLst>
              </a:custGeom>
              <a:noFill/>
              <a:ln w="9525">
                <a:solidFill>
                  <a:srgbClr val="6B1100"/>
                </a:solidFill>
              </a:ln>
            </p:spPr>
          </p:sp>
        </p:grpSp>
        <p:sp>
          <p:nvSpPr>
            <p:cNvPr id="91" name="TextBox 91"/>
            <p:cNvSpPr txBox="1"/>
            <p:nvPr/>
          </p:nvSpPr>
          <p:spPr>
            <a:xfrm>
              <a:off x="6967538" y="4265057"/>
              <a:ext cx="739267" cy="221456"/>
            </a:xfrm>
            <a:prstGeom prst="rect">
              <a:avLst/>
            </a:prstGeom>
            <a:noFill/>
            <a:ln>
              <a:noFill/>
            </a:ln>
          </p:spPr>
          <p:txBody>
            <a:bodyPr wrap="none" lIns="0" tIns="0" rIns="0" bIns="0" anchor="t" anchorCtr="0">
              <a:spAutoFit/>
            </a:bodyPr>
            <a:lstStyle/>
            <a:p>
              <a:pPr algn="l">
                <a:lnSpc>
                  <a:spcPts val="750"/>
                </a:lnSpc>
              </a:pPr>
              <a:r>
                <a:rPr lang="zh-CN" sz="640" b="1" dirty="0">
                  <a:solidFill>
                    <a:srgbClr val="1A1A1A"/>
                  </a:solidFill>
                  <a:latin typeface="+mn-lt"/>
                  <a:ea typeface="+mn-ea"/>
                  <a:cs typeface="+mn-cs"/>
                </a:rPr>
                <a:t>模型风险监督​</a:t>
              </a:r>
            </a:p>
            <a:p>
              <a:pPr algn="l">
                <a:lnSpc>
                  <a:spcPts val="750"/>
                </a:lnSpc>
              </a:pPr>
              <a:r>
                <a:rPr lang="en-US" sz="520" dirty="0">
                  <a:solidFill>
                    <a:srgbClr val="666666"/>
                  </a:solidFill>
                  <a:latin typeface="+mn-lt"/>
                  <a:ea typeface="+mn-ea"/>
                  <a:cs typeface="+mn-cs"/>
                </a:rPr>
                <a:t>Model risk oversight​​</a:t>
              </a:r>
            </a:p>
          </p:txBody>
        </p:sp>
        <p:sp>
          <p:nvSpPr>
            <p:cNvPr id="92" name="Rectangle 92"/>
            <p:cNvSpPr/>
            <p:nvPr/>
          </p:nvSpPr>
          <p:spPr>
            <a:xfrm>
              <a:off x="3562350" y="4629150"/>
              <a:ext cx="4610100" cy="95250"/>
            </a:xfrm>
            <a:prstGeom prst="rect">
              <a:avLst/>
            </a:prstGeom>
            <a:solidFill>
              <a:srgbClr val="AA1B00"/>
            </a:solidFill>
            <a:ln>
              <a:noFill/>
            </a:ln>
          </p:spPr>
        </p:sp>
        <p:sp>
          <p:nvSpPr>
            <p:cNvPr id="93" name="TextBox 93"/>
            <p:cNvSpPr txBox="1"/>
            <p:nvPr/>
          </p:nvSpPr>
          <p:spPr>
            <a:xfrm>
              <a:off x="5187891" y="4639866"/>
              <a:ext cx="1359018"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第二道防线 Second line of defence​​</a:t>
              </a:r>
            </a:p>
          </p:txBody>
        </p:sp>
        <p:sp>
          <p:nvSpPr>
            <p:cNvPr id="94" name="Rectangle 94"/>
            <p:cNvSpPr/>
            <p:nvPr/>
          </p:nvSpPr>
          <p:spPr>
            <a:xfrm>
              <a:off x="3486150" y="4838700"/>
              <a:ext cx="4762500" cy="742950"/>
            </a:xfrm>
            <a:prstGeom prst="rect">
              <a:avLst/>
            </a:prstGeom>
            <a:solidFill>
              <a:srgbClr val="FFFFFF"/>
            </a:solidFill>
            <a:ln w="7620">
              <a:solidFill>
                <a:srgbClr val="BFBFBF"/>
              </a:solidFill>
            </a:ln>
          </p:spPr>
        </p:sp>
        <p:sp>
          <p:nvSpPr>
            <p:cNvPr id="95" name="TextBox 95"/>
            <p:cNvSpPr txBox="1"/>
            <p:nvPr/>
          </p:nvSpPr>
          <p:spPr>
            <a:xfrm>
              <a:off x="3697383" y="4899184"/>
              <a:ext cx="4340034"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模型所有权、开发、使用与模型版图架构</a:t>
              </a:r>
              <a:r>
                <a:rPr lang="en-US" sz="560" dirty="0">
                  <a:solidFill>
                    <a:srgbClr val="666666"/>
                  </a:solidFill>
                  <a:latin typeface="+mn-lt"/>
                  <a:ea typeface="+mn-ea"/>
                  <a:cs typeface="+mn-cs"/>
                </a:rPr>
                <a:t xml:space="preserve"> Model ownership, development, use and model landscape architecture</a:t>
              </a:r>
              <a:r>
                <a:rPr lang="zh-CN" sz="680" b="1" dirty="0">
                  <a:solidFill>
                    <a:srgbClr val="1A1A1A"/>
                  </a:solidFill>
                  <a:latin typeface="+mn-lt"/>
                  <a:ea typeface="+mn-ea"/>
                  <a:cs typeface="+mn-cs"/>
                </a:rPr>
                <a:t>​​</a:t>
              </a:r>
            </a:p>
          </p:txBody>
        </p:sp>
        <p:sp>
          <p:nvSpPr>
            <p:cNvPr id="96" name="Rectangle 96"/>
            <p:cNvSpPr/>
            <p:nvPr/>
          </p:nvSpPr>
          <p:spPr>
            <a:xfrm>
              <a:off x="3562350" y="5048250"/>
              <a:ext cx="1095375" cy="285750"/>
            </a:xfrm>
            <a:prstGeom prst="rect">
              <a:avLst/>
            </a:prstGeom>
            <a:solidFill>
              <a:srgbClr val="EDEDED"/>
            </a:solidFill>
            <a:ln>
              <a:noFill/>
            </a:ln>
          </p:spPr>
        </p:sp>
        <p:sp>
          <p:nvSpPr>
            <p:cNvPr id="97" name="Ellipse 97"/>
            <p:cNvSpPr/>
            <p:nvPr/>
          </p:nvSpPr>
          <p:spPr>
            <a:xfrm>
              <a:off x="3619500" y="5105400"/>
              <a:ext cx="171450" cy="171450"/>
            </a:xfrm>
            <a:prstGeom prst="ellipse">
              <a:avLst/>
            </a:prstGeom>
            <a:solidFill>
              <a:srgbClr val="FFFFFF"/>
            </a:solidFill>
            <a:ln>
              <a:noFill/>
            </a:ln>
          </p:spPr>
        </p:sp>
        <p:grpSp>
          <p:nvGrpSpPr>
            <p:cNvPr id="101" name="Group 101"/>
            <p:cNvGrpSpPr/>
            <p:nvPr/>
          </p:nvGrpSpPr>
          <p:grpSpPr>
            <a:xfrm>
              <a:off x="3676650" y="5148262"/>
              <a:ext cx="71437" cy="85726"/>
              <a:chOff x="3676650" y="5148262"/>
              <a:chExt cx="71437" cy="85726"/>
            </a:xfrm>
          </p:grpSpPr>
          <p:sp>
            <p:nvSpPr>
              <p:cNvPr id="98" name="Freeform 98"/>
              <p:cNvSpPr/>
              <p:nvPr/>
            </p:nvSpPr>
            <p:spPr>
              <a:xfrm>
                <a:off x="3686175" y="5148262"/>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6B1100"/>
                </a:solidFill>
              </a:ln>
            </p:spPr>
          </p:sp>
          <p:sp>
            <p:nvSpPr>
              <p:cNvPr id="99" name="Freeform 99"/>
              <p:cNvSpPr/>
              <p:nvPr/>
            </p:nvSpPr>
            <p:spPr>
              <a:xfrm>
                <a:off x="3676650" y="5205412"/>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9525">
                <a:solidFill>
                  <a:srgbClr val="6B1100"/>
                </a:solidFill>
              </a:ln>
            </p:spPr>
          </p:sp>
          <p:sp>
            <p:nvSpPr>
              <p:cNvPr id="100" name="Freeform 100"/>
              <p:cNvSpPr/>
              <p:nvPr/>
            </p:nvSpPr>
            <p:spPr>
              <a:xfrm>
                <a:off x="3719512" y="5214938"/>
                <a:ext cx="28575" cy="19050"/>
              </a:xfrm>
              <a:custGeom>
                <a:avLst/>
                <a:gdLst/>
                <a:ahLst/>
                <a:cxnLst/>
                <a:rect l="l" t="t" r="r" b="b"/>
                <a:pathLst>
                  <a:path w="28575" h="19050">
                    <a:moveTo>
                      <a:pt x="0" y="9525"/>
                    </a:moveTo>
                    <a:lnTo>
                      <a:pt x="9525" y="19050"/>
                    </a:lnTo>
                    <a:lnTo>
                      <a:pt x="28575" y="0"/>
                    </a:lnTo>
                  </a:path>
                </a:pathLst>
              </a:custGeom>
              <a:noFill/>
              <a:ln w="9525">
                <a:solidFill>
                  <a:srgbClr val="6B1100"/>
                </a:solidFill>
              </a:ln>
            </p:spPr>
          </p:sp>
        </p:grpSp>
        <p:sp>
          <p:nvSpPr>
            <p:cNvPr id="102" name="TextBox 102"/>
            <p:cNvSpPr txBox="1"/>
            <p:nvPr/>
          </p:nvSpPr>
          <p:spPr>
            <a:xfrm>
              <a:off x="3843338" y="5103257"/>
              <a:ext cx="475107" cy="221456"/>
            </a:xfrm>
            <a:prstGeom prst="rect">
              <a:avLst/>
            </a:prstGeom>
            <a:noFill/>
            <a:ln>
              <a:noFill/>
            </a:ln>
          </p:spPr>
          <p:txBody>
            <a:bodyPr wrap="none" lIns="0" tIns="0" rIns="0" bIns="0" anchor="t" anchorCtr="0">
              <a:spAutoFit/>
            </a:bodyPr>
            <a:lstStyle/>
            <a:p>
              <a:pPr algn="l">
                <a:lnSpc>
                  <a:spcPts val="750"/>
                </a:lnSpc>
              </a:pPr>
              <a:r>
                <a:rPr lang="zh-CN" sz="640" b="1" dirty="0">
                  <a:solidFill>
                    <a:srgbClr val="1A1A1A"/>
                  </a:solidFill>
                  <a:latin typeface="+mn-lt"/>
                  <a:ea typeface="+mn-ea"/>
                  <a:cs typeface="+mn-cs"/>
                </a:rPr>
                <a:t>模型所有者​</a:t>
              </a:r>
            </a:p>
            <a:p>
              <a:pPr algn="l">
                <a:lnSpc>
                  <a:spcPts val="750"/>
                </a:lnSpc>
              </a:pPr>
              <a:r>
                <a:rPr lang="en-US" sz="520" dirty="0">
                  <a:solidFill>
                    <a:srgbClr val="666666"/>
                  </a:solidFill>
                  <a:latin typeface="+mn-lt"/>
                  <a:ea typeface="+mn-ea"/>
                  <a:cs typeface="+mn-cs"/>
                </a:rPr>
                <a:t>Model owner​​</a:t>
              </a:r>
            </a:p>
          </p:txBody>
        </p:sp>
        <p:sp>
          <p:nvSpPr>
            <p:cNvPr id="103" name="Rectangle 103"/>
            <p:cNvSpPr/>
            <p:nvPr/>
          </p:nvSpPr>
          <p:spPr>
            <a:xfrm>
              <a:off x="4733925" y="5048250"/>
              <a:ext cx="1095375" cy="285750"/>
            </a:xfrm>
            <a:prstGeom prst="rect">
              <a:avLst/>
            </a:prstGeom>
            <a:solidFill>
              <a:srgbClr val="EDEDED"/>
            </a:solidFill>
            <a:ln>
              <a:noFill/>
            </a:ln>
          </p:spPr>
        </p:sp>
        <p:sp>
          <p:nvSpPr>
            <p:cNvPr id="104" name="Ellipse 104"/>
            <p:cNvSpPr/>
            <p:nvPr/>
          </p:nvSpPr>
          <p:spPr>
            <a:xfrm>
              <a:off x="4791075" y="5105400"/>
              <a:ext cx="171450" cy="171450"/>
            </a:xfrm>
            <a:prstGeom prst="ellipse">
              <a:avLst/>
            </a:prstGeom>
            <a:solidFill>
              <a:srgbClr val="FFFFFF"/>
            </a:solidFill>
            <a:ln>
              <a:noFill/>
            </a:ln>
          </p:spPr>
        </p:sp>
        <p:grpSp>
          <p:nvGrpSpPr>
            <p:cNvPr id="109" name="Group 109"/>
            <p:cNvGrpSpPr/>
            <p:nvPr/>
          </p:nvGrpSpPr>
          <p:grpSpPr>
            <a:xfrm>
              <a:off x="4833938" y="5148262"/>
              <a:ext cx="85725" cy="85726"/>
              <a:chOff x="4833938" y="5148262"/>
              <a:chExt cx="85725" cy="85726"/>
            </a:xfrm>
          </p:grpSpPr>
          <p:sp>
            <p:nvSpPr>
              <p:cNvPr id="105" name="Freeform 105"/>
              <p:cNvSpPr/>
              <p:nvPr/>
            </p:nvSpPr>
            <p:spPr>
              <a:xfrm>
                <a:off x="4843462" y="5148262"/>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6B1100"/>
                </a:solidFill>
              </a:ln>
            </p:spPr>
          </p:sp>
          <p:sp>
            <p:nvSpPr>
              <p:cNvPr id="106" name="Freeform 106"/>
              <p:cNvSpPr/>
              <p:nvPr/>
            </p:nvSpPr>
            <p:spPr>
              <a:xfrm>
                <a:off x="4833938" y="5205412"/>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6B1100"/>
                </a:solidFill>
              </a:ln>
            </p:spPr>
          </p:sp>
          <p:sp>
            <p:nvSpPr>
              <p:cNvPr id="107" name="Freeform 107"/>
              <p:cNvSpPr/>
              <p:nvPr/>
            </p:nvSpPr>
            <p:spPr>
              <a:xfrm>
                <a:off x="4895850" y="5148882"/>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6B1100"/>
                </a:solidFill>
              </a:ln>
            </p:spPr>
          </p:sp>
          <p:sp>
            <p:nvSpPr>
              <p:cNvPr id="108" name="Freeform 108"/>
              <p:cNvSpPr/>
              <p:nvPr/>
            </p:nvSpPr>
            <p:spPr>
              <a:xfrm>
                <a:off x="4905375" y="5206127"/>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6B1100"/>
                </a:solidFill>
              </a:ln>
            </p:spPr>
          </p:sp>
        </p:grpSp>
        <p:sp>
          <p:nvSpPr>
            <p:cNvPr id="110" name="TextBox 110"/>
            <p:cNvSpPr txBox="1"/>
            <p:nvPr/>
          </p:nvSpPr>
          <p:spPr>
            <a:xfrm>
              <a:off x="5014912" y="5103257"/>
              <a:ext cx="462864" cy="221456"/>
            </a:xfrm>
            <a:prstGeom prst="rect">
              <a:avLst/>
            </a:prstGeom>
            <a:noFill/>
            <a:ln>
              <a:noFill/>
            </a:ln>
          </p:spPr>
          <p:txBody>
            <a:bodyPr wrap="none" lIns="0" tIns="0" rIns="0" bIns="0" anchor="t" anchorCtr="0">
              <a:spAutoFit/>
            </a:bodyPr>
            <a:lstStyle/>
            <a:p>
              <a:pPr algn="l">
                <a:lnSpc>
                  <a:spcPts val="750"/>
                </a:lnSpc>
              </a:pPr>
              <a:r>
                <a:rPr lang="zh-CN" sz="640" b="1" dirty="0">
                  <a:solidFill>
                    <a:srgbClr val="1A1A1A"/>
                  </a:solidFill>
                  <a:latin typeface="+mn-lt"/>
                  <a:ea typeface="+mn-ea"/>
                  <a:cs typeface="+mn-cs"/>
                </a:rPr>
                <a:t>模型使用者​</a:t>
              </a:r>
            </a:p>
            <a:p>
              <a:pPr algn="l">
                <a:lnSpc>
                  <a:spcPts val="750"/>
                </a:lnSpc>
              </a:pPr>
              <a:r>
                <a:rPr lang="en-US" sz="520" dirty="0">
                  <a:solidFill>
                    <a:srgbClr val="666666"/>
                  </a:solidFill>
                  <a:latin typeface="+mn-lt"/>
                  <a:ea typeface="+mn-ea"/>
                  <a:cs typeface="+mn-cs"/>
                </a:rPr>
                <a:t>Model user​​</a:t>
              </a:r>
            </a:p>
          </p:txBody>
        </p:sp>
        <p:sp>
          <p:nvSpPr>
            <p:cNvPr id="111" name="Rectangle 111"/>
            <p:cNvSpPr/>
            <p:nvPr/>
          </p:nvSpPr>
          <p:spPr>
            <a:xfrm>
              <a:off x="5905500" y="5048250"/>
              <a:ext cx="1095375" cy="285750"/>
            </a:xfrm>
            <a:prstGeom prst="rect">
              <a:avLst/>
            </a:prstGeom>
            <a:solidFill>
              <a:srgbClr val="EDEDED"/>
            </a:solidFill>
            <a:ln>
              <a:noFill/>
            </a:ln>
          </p:spPr>
        </p:sp>
        <p:sp>
          <p:nvSpPr>
            <p:cNvPr id="112" name="Ellipse 112"/>
            <p:cNvSpPr/>
            <p:nvPr/>
          </p:nvSpPr>
          <p:spPr>
            <a:xfrm>
              <a:off x="5962650" y="5105400"/>
              <a:ext cx="171450" cy="171450"/>
            </a:xfrm>
            <a:prstGeom prst="ellipse">
              <a:avLst/>
            </a:prstGeom>
            <a:solidFill>
              <a:srgbClr val="FFFFFF"/>
            </a:solidFill>
            <a:ln>
              <a:noFill/>
            </a:ln>
          </p:spPr>
        </p:sp>
        <p:sp>
          <p:nvSpPr>
            <p:cNvPr id="113" name="Freeform 113"/>
            <p:cNvSpPr/>
            <p:nvPr/>
          </p:nvSpPr>
          <p:spPr>
            <a:xfrm>
              <a:off x="6005512" y="5148262"/>
              <a:ext cx="85725" cy="85725"/>
            </a:xfrm>
            <a:custGeom>
              <a:avLst/>
              <a:gdLst/>
              <a:ahLst/>
              <a:cxnLst/>
              <a:rect l="l" t="t" r="r" b="b"/>
              <a:pathLst>
                <a:path w="85725" h="85725">
                  <a:moveTo>
                    <a:pt x="4762" y="19050"/>
                  </a:moveTo>
                  <a:lnTo>
                    <a:pt x="19050" y="19050"/>
                  </a:lnTo>
                  <a:cubicBezTo>
                    <a:pt x="21680" y="19050"/>
                    <a:pt x="23812" y="16918"/>
                    <a:pt x="23812" y="14288"/>
                  </a:cubicBezTo>
                  <a:lnTo>
                    <a:pt x="23812" y="9525"/>
                  </a:lnTo>
                  <a:cubicBezTo>
                    <a:pt x="23812" y="4264"/>
                    <a:pt x="28077" y="0"/>
                    <a:pt x="33338" y="0"/>
                  </a:cubicBezTo>
                  <a:cubicBezTo>
                    <a:pt x="38598" y="0"/>
                    <a:pt x="42862" y="4264"/>
                    <a:pt x="42862" y="9525"/>
                  </a:cubicBezTo>
                  <a:lnTo>
                    <a:pt x="42862" y="14288"/>
                  </a:lnTo>
                  <a:cubicBezTo>
                    <a:pt x="42862" y="16918"/>
                    <a:pt x="44995" y="19050"/>
                    <a:pt x="47625" y="19050"/>
                  </a:cubicBezTo>
                  <a:lnTo>
                    <a:pt x="61912" y="19050"/>
                  </a:lnTo>
                  <a:cubicBezTo>
                    <a:pt x="64543" y="19050"/>
                    <a:pt x="66675" y="21182"/>
                    <a:pt x="66675" y="23812"/>
                  </a:cubicBezTo>
                  <a:lnTo>
                    <a:pt x="66675" y="38100"/>
                  </a:lnTo>
                  <a:cubicBezTo>
                    <a:pt x="66675" y="40730"/>
                    <a:pt x="68807" y="42862"/>
                    <a:pt x="71438" y="42862"/>
                  </a:cubicBezTo>
                  <a:lnTo>
                    <a:pt x="76200" y="42862"/>
                  </a:lnTo>
                  <a:cubicBezTo>
                    <a:pt x="81461" y="42862"/>
                    <a:pt x="85725" y="47127"/>
                    <a:pt x="85725" y="52388"/>
                  </a:cubicBezTo>
                  <a:cubicBezTo>
                    <a:pt x="85725" y="57648"/>
                    <a:pt x="81461" y="61912"/>
                    <a:pt x="76200" y="61912"/>
                  </a:cubicBezTo>
                  <a:lnTo>
                    <a:pt x="71438" y="61912"/>
                  </a:lnTo>
                  <a:cubicBezTo>
                    <a:pt x="68807" y="61912"/>
                    <a:pt x="66675" y="64045"/>
                    <a:pt x="66675" y="66675"/>
                  </a:cubicBezTo>
                  <a:lnTo>
                    <a:pt x="66675" y="80962"/>
                  </a:lnTo>
                  <a:cubicBezTo>
                    <a:pt x="66675" y="83593"/>
                    <a:pt x="64543" y="85725"/>
                    <a:pt x="61912" y="85725"/>
                  </a:cubicBezTo>
                  <a:lnTo>
                    <a:pt x="47625" y="85725"/>
                  </a:lnTo>
                  <a:cubicBezTo>
                    <a:pt x="44995" y="85725"/>
                    <a:pt x="42862" y="83593"/>
                    <a:pt x="42862" y="80962"/>
                  </a:cubicBezTo>
                  <a:lnTo>
                    <a:pt x="42862" y="76200"/>
                  </a:lnTo>
                  <a:cubicBezTo>
                    <a:pt x="42862" y="70939"/>
                    <a:pt x="38598" y="66675"/>
                    <a:pt x="33338" y="66675"/>
                  </a:cubicBezTo>
                  <a:cubicBezTo>
                    <a:pt x="28077" y="66675"/>
                    <a:pt x="23812" y="70939"/>
                    <a:pt x="23812" y="76200"/>
                  </a:cubicBezTo>
                  <a:lnTo>
                    <a:pt x="23812" y="80962"/>
                  </a:lnTo>
                  <a:cubicBezTo>
                    <a:pt x="23812" y="83593"/>
                    <a:pt x="21680" y="85725"/>
                    <a:pt x="19050" y="85725"/>
                  </a:cubicBezTo>
                  <a:lnTo>
                    <a:pt x="4762" y="85725"/>
                  </a:lnTo>
                  <a:cubicBezTo>
                    <a:pt x="2132" y="85725"/>
                    <a:pt x="0" y="83593"/>
                    <a:pt x="0" y="80962"/>
                  </a:cubicBezTo>
                  <a:lnTo>
                    <a:pt x="0" y="66675"/>
                  </a:lnTo>
                  <a:cubicBezTo>
                    <a:pt x="0" y="64045"/>
                    <a:pt x="2132" y="61912"/>
                    <a:pt x="4762" y="61912"/>
                  </a:cubicBezTo>
                  <a:lnTo>
                    <a:pt x="9525" y="61912"/>
                  </a:lnTo>
                  <a:cubicBezTo>
                    <a:pt x="14786" y="61912"/>
                    <a:pt x="19050" y="57648"/>
                    <a:pt x="19050" y="52388"/>
                  </a:cubicBezTo>
                  <a:cubicBezTo>
                    <a:pt x="19050" y="47127"/>
                    <a:pt x="14786" y="42862"/>
                    <a:pt x="9525" y="42862"/>
                  </a:cubicBezTo>
                  <a:lnTo>
                    <a:pt x="4762" y="42862"/>
                  </a:lnTo>
                  <a:cubicBezTo>
                    <a:pt x="2132" y="42862"/>
                    <a:pt x="0" y="40730"/>
                    <a:pt x="0" y="38100"/>
                  </a:cubicBezTo>
                  <a:lnTo>
                    <a:pt x="0" y="23812"/>
                  </a:lnTo>
                  <a:cubicBezTo>
                    <a:pt x="0" y="21182"/>
                    <a:pt x="2132" y="19050"/>
                    <a:pt x="4762" y="19050"/>
                  </a:cubicBezTo>
                </a:path>
              </a:pathLst>
            </a:custGeom>
            <a:noFill/>
            <a:ln w="9525">
              <a:solidFill>
                <a:srgbClr val="6B1100"/>
              </a:solidFill>
            </a:ln>
          </p:spPr>
        </p:sp>
        <p:sp>
          <p:nvSpPr>
            <p:cNvPr id="114" name="TextBox 114"/>
            <p:cNvSpPr txBox="1"/>
            <p:nvPr/>
          </p:nvSpPr>
          <p:spPr>
            <a:xfrm>
              <a:off x="6186488" y="5103257"/>
              <a:ext cx="590677" cy="221456"/>
            </a:xfrm>
            <a:prstGeom prst="rect">
              <a:avLst/>
            </a:prstGeom>
            <a:noFill/>
            <a:ln>
              <a:noFill/>
            </a:ln>
          </p:spPr>
          <p:txBody>
            <a:bodyPr wrap="none" lIns="0" tIns="0" rIns="0" bIns="0" anchor="t" anchorCtr="0">
              <a:spAutoFit/>
            </a:bodyPr>
            <a:lstStyle/>
            <a:p>
              <a:pPr algn="l">
                <a:lnSpc>
                  <a:spcPts val="750"/>
                </a:lnSpc>
              </a:pPr>
              <a:r>
                <a:rPr lang="zh-CN" sz="640" b="1" dirty="0">
                  <a:solidFill>
                    <a:srgbClr val="1A1A1A"/>
                  </a:solidFill>
                  <a:latin typeface="+mn-lt"/>
                  <a:ea typeface="+mn-ea"/>
                  <a:cs typeface="+mn-cs"/>
                </a:rPr>
                <a:t>模型开发者​</a:t>
              </a:r>
            </a:p>
            <a:p>
              <a:pPr algn="l">
                <a:lnSpc>
                  <a:spcPts val="750"/>
                </a:lnSpc>
              </a:pPr>
              <a:r>
                <a:rPr lang="en-US" sz="520" dirty="0">
                  <a:solidFill>
                    <a:srgbClr val="666666"/>
                  </a:solidFill>
                  <a:latin typeface="+mn-lt"/>
                  <a:ea typeface="+mn-ea"/>
                  <a:cs typeface="+mn-cs"/>
                </a:rPr>
                <a:t>Model developer​​</a:t>
              </a:r>
            </a:p>
          </p:txBody>
        </p:sp>
        <p:sp>
          <p:nvSpPr>
            <p:cNvPr id="115" name="Rectangle 115"/>
            <p:cNvSpPr/>
            <p:nvPr/>
          </p:nvSpPr>
          <p:spPr>
            <a:xfrm>
              <a:off x="7077075" y="5048250"/>
              <a:ext cx="1095375" cy="285750"/>
            </a:xfrm>
            <a:prstGeom prst="rect">
              <a:avLst/>
            </a:prstGeom>
            <a:solidFill>
              <a:srgbClr val="EDEDED"/>
            </a:solidFill>
            <a:ln>
              <a:noFill/>
            </a:ln>
          </p:spPr>
        </p:sp>
        <p:sp>
          <p:nvSpPr>
            <p:cNvPr id="116" name="Ellipse 116"/>
            <p:cNvSpPr/>
            <p:nvPr/>
          </p:nvSpPr>
          <p:spPr>
            <a:xfrm>
              <a:off x="7134225" y="5105400"/>
              <a:ext cx="171450" cy="171450"/>
            </a:xfrm>
            <a:prstGeom prst="ellipse">
              <a:avLst/>
            </a:prstGeom>
            <a:solidFill>
              <a:srgbClr val="FFFFFF"/>
            </a:solidFill>
            <a:ln>
              <a:noFill/>
            </a:ln>
          </p:spPr>
        </p:sp>
        <p:grpSp>
          <p:nvGrpSpPr>
            <p:cNvPr id="122" name="Group 122"/>
            <p:cNvGrpSpPr/>
            <p:nvPr/>
          </p:nvGrpSpPr>
          <p:grpSpPr>
            <a:xfrm>
              <a:off x="7177088" y="5148262"/>
              <a:ext cx="85725" cy="85725"/>
              <a:chOff x="7177088" y="5148262"/>
              <a:chExt cx="85725" cy="85725"/>
            </a:xfrm>
          </p:grpSpPr>
          <p:sp>
            <p:nvSpPr>
              <p:cNvPr id="117" name="Freeform 117"/>
              <p:cNvSpPr/>
              <p:nvPr/>
            </p:nvSpPr>
            <p:spPr>
              <a:xfrm>
                <a:off x="7177088" y="5205412"/>
                <a:ext cx="28575" cy="28575"/>
              </a:xfrm>
              <a:custGeom>
                <a:avLst/>
                <a:gdLst/>
                <a:ahLst/>
                <a:cxnLst/>
                <a:rect l="l" t="t" r="r" b="b"/>
                <a:pathLst>
                  <a:path w="28575" h="28575">
                    <a:moveTo>
                      <a:pt x="0" y="9525"/>
                    </a:moveTo>
                    <a:cubicBezTo>
                      <a:pt x="0" y="4264"/>
                      <a:pt x="4264" y="0"/>
                      <a:pt x="9525" y="0"/>
                    </a:cubicBezTo>
                    <a:lnTo>
                      <a:pt x="19050" y="0"/>
                    </a:lnTo>
                    <a:cubicBezTo>
                      <a:pt x="24311" y="0"/>
                      <a:pt x="28575" y="4264"/>
                      <a:pt x="28575" y="9525"/>
                    </a:cubicBezTo>
                    <a:lnTo>
                      <a:pt x="28575" y="19050"/>
                    </a:lnTo>
                    <a:cubicBezTo>
                      <a:pt x="28575" y="24311"/>
                      <a:pt x="24311" y="28575"/>
                      <a:pt x="19050" y="28575"/>
                    </a:cubicBezTo>
                    <a:lnTo>
                      <a:pt x="9525" y="28575"/>
                    </a:lnTo>
                    <a:cubicBezTo>
                      <a:pt x="4264" y="28575"/>
                      <a:pt x="0" y="24311"/>
                      <a:pt x="0" y="19050"/>
                    </a:cubicBezTo>
                    <a:lnTo>
                      <a:pt x="0" y="9525"/>
                    </a:lnTo>
                  </a:path>
                </a:pathLst>
              </a:custGeom>
              <a:noFill/>
              <a:ln w="9525">
                <a:solidFill>
                  <a:srgbClr val="6B1100"/>
                </a:solidFill>
              </a:ln>
            </p:spPr>
          </p:sp>
          <p:sp>
            <p:nvSpPr>
              <p:cNvPr id="118" name="Freeform 118"/>
              <p:cNvSpPr/>
              <p:nvPr/>
            </p:nvSpPr>
            <p:spPr>
              <a:xfrm>
                <a:off x="7234238" y="5205412"/>
                <a:ext cx="28575" cy="28575"/>
              </a:xfrm>
              <a:custGeom>
                <a:avLst/>
                <a:gdLst/>
                <a:ahLst/>
                <a:cxnLst/>
                <a:rect l="l" t="t" r="r" b="b"/>
                <a:pathLst>
                  <a:path w="28575" h="28575">
                    <a:moveTo>
                      <a:pt x="0" y="9525"/>
                    </a:moveTo>
                    <a:cubicBezTo>
                      <a:pt x="0" y="4264"/>
                      <a:pt x="4264" y="0"/>
                      <a:pt x="9525" y="0"/>
                    </a:cubicBezTo>
                    <a:lnTo>
                      <a:pt x="19050" y="0"/>
                    </a:lnTo>
                    <a:cubicBezTo>
                      <a:pt x="24311" y="0"/>
                      <a:pt x="28575" y="4264"/>
                      <a:pt x="28575" y="9525"/>
                    </a:cubicBezTo>
                    <a:lnTo>
                      <a:pt x="28575" y="19050"/>
                    </a:lnTo>
                    <a:cubicBezTo>
                      <a:pt x="28575" y="24311"/>
                      <a:pt x="24311" y="28575"/>
                      <a:pt x="19050" y="28575"/>
                    </a:cubicBezTo>
                    <a:lnTo>
                      <a:pt x="9525" y="28575"/>
                    </a:lnTo>
                    <a:cubicBezTo>
                      <a:pt x="4264" y="28575"/>
                      <a:pt x="0" y="24311"/>
                      <a:pt x="0" y="19050"/>
                    </a:cubicBezTo>
                    <a:lnTo>
                      <a:pt x="0" y="9525"/>
                    </a:lnTo>
                  </a:path>
                </a:pathLst>
              </a:custGeom>
              <a:noFill/>
              <a:ln w="9525">
                <a:solidFill>
                  <a:srgbClr val="6B1100"/>
                </a:solidFill>
              </a:ln>
            </p:spPr>
          </p:sp>
          <p:sp>
            <p:nvSpPr>
              <p:cNvPr id="119" name="Freeform 119"/>
              <p:cNvSpPr/>
              <p:nvPr/>
            </p:nvSpPr>
            <p:spPr>
              <a:xfrm>
                <a:off x="7205662" y="5148262"/>
                <a:ext cx="28575" cy="28575"/>
              </a:xfrm>
              <a:custGeom>
                <a:avLst/>
                <a:gdLst/>
                <a:ahLst/>
                <a:cxnLst/>
                <a:rect l="l" t="t" r="r" b="b"/>
                <a:pathLst>
                  <a:path w="28575" h="28575">
                    <a:moveTo>
                      <a:pt x="0" y="9525"/>
                    </a:moveTo>
                    <a:cubicBezTo>
                      <a:pt x="0" y="4264"/>
                      <a:pt x="4264" y="0"/>
                      <a:pt x="9525" y="0"/>
                    </a:cubicBezTo>
                    <a:lnTo>
                      <a:pt x="19050" y="0"/>
                    </a:lnTo>
                    <a:cubicBezTo>
                      <a:pt x="24311" y="0"/>
                      <a:pt x="28575" y="4264"/>
                      <a:pt x="28575" y="9525"/>
                    </a:cubicBezTo>
                    <a:lnTo>
                      <a:pt x="28575" y="19050"/>
                    </a:lnTo>
                    <a:cubicBezTo>
                      <a:pt x="28575" y="24311"/>
                      <a:pt x="24311" y="28575"/>
                      <a:pt x="19050" y="28575"/>
                    </a:cubicBezTo>
                    <a:lnTo>
                      <a:pt x="9525" y="28575"/>
                    </a:lnTo>
                    <a:cubicBezTo>
                      <a:pt x="4264" y="28575"/>
                      <a:pt x="0" y="24311"/>
                      <a:pt x="0" y="19050"/>
                    </a:cubicBezTo>
                    <a:lnTo>
                      <a:pt x="0" y="9525"/>
                    </a:lnTo>
                  </a:path>
                </a:pathLst>
              </a:custGeom>
              <a:noFill/>
              <a:ln w="9525">
                <a:solidFill>
                  <a:srgbClr val="6B1100"/>
                </a:solidFill>
              </a:ln>
            </p:spPr>
          </p:sp>
          <p:sp>
            <p:nvSpPr>
              <p:cNvPr id="120" name="Freeform 120"/>
              <p:cNvSpPr/>
              <p:nvPr/>
            </p:nvSpPr>
            <p:spPr>
              <a:xfrm>
                <a:off x="7191375" y="5191125"/>
                <a:ext cx="57150" cy="14288"/>
              </a:xfrm>
              <a:custGeom>
                <a:avLst/>
                <a:gdLst/>
                <a:ahLst/>
                <a:cxnLst/>
                <a:rect l="l" t="t" r="r" b="b"/>
                <a:pathLst>
                  <a:path w="57150" h="14288">
                    <a:moveTo>
                      <a:pt x="0" y="14288"/>
                    </a:moveTo>
                    <a:lnTo>
                      <a:pt x="0" y="9525"/>
                    </a:lnTo>
                    <a:cubicBezTo>
                      <a:pt x="0" y="4264"/>
                      <a:pt x="4264" y="0"/>
                      <a:pt x="9525" y="0"/>
                    </a:cubicBezTo>
                    <a:lnTo>
                      <a:pt x="47625" y="0"/>
                    </a:lnTo>
                    <a:cubicBezTo>
                      <a:pt x="52886" y="0"/>
                      <a:pt x="57150" y="4264"/>
                      <a:pt x="57150" y="9525"/>
                    </a:cubicBezTo>
                    <a:lnTo>
                      <a:pt x="57150" y="14288"/>
                    </a:lnTo>
                  </a:path>
                </a:pathLst>
              </a:custGeom>
              <a:noFill/>
              <a:ln w="9525">
                <a:solidFill>
                  <a:srgbClr val="6B1100"/>
                </a:solidFill>
              </a:ln>
            </p:spPr>
          </p:sp>
          <p:sp>
            <p:nvSpPr>
              <p:cNvPr id="121" name="Freeform 121"/>
              <p:cNvSpPr/>
              <p:nvPr/>
            </p:nvSpPr>
            <p:spPr>
              <a:xfrm>
                <a:off x="7219950" y="5176838"/>
                <a:ext cx="9525" cy="14288"/>
              </a:xfrm>
              <a:custGeom>
                <a:avLst/>
                <a:gdLst/>
                <a:ahLst/>
                <a:cxnLst/>
                <a:rect l="l" t="t" r="r" b="b"/>
                <a:pathLst>
                  <a:path w="9525" h="14288">
                    <a:moveTo>
                      <a:pt x="0" y="0"/>
                    </a:moveTo>
                    <a:lnTo>
                      <a:pt x="0" y="14288"/>
                    </a:lnTo>
                  </a:path>
                </a:pathLst>
              </a:custGeom>
              <a:noFill/>
              <a:ln w="9525">
                <a:solidFill>
                  <a:srgbClr val="6B1100"/>
                </a:solidFill>
              </a:ln>
            </p:spPr>
          </p:sp>
        </p:grpSp>
        <p:sp>
          <p:nvSpPr>
            <p:cNvPr id="123" name="TextBox 123"/>
            <p:cNvSpPr txBox="1"/>
            <p:nvPr/>
          </p:nvSpPr>
          <p:spPr>
            <a:xfrm>
              <a:off x="7358062" y="5103257"/>
              <a:ext cx="920877" cy="221456"/>
            </a:xfrm>
            <a:prstGeom prst="rect">
              <a:avLst/>
            </a:prstGeom>
            <a:noFill/>
            <a:ln>
              <a:noFill/>
            </a:ln>
          </p:spPr>
          <p:txBody>
            <a:bodyPr wrap="none" lIns="0" tIns="0" rIns="0" bIns="0" anchor="t" anchorCtr="0">
              <a:spAutoFit/>
            </a:bodyPr>
            <a:lstStyle/>
            <a:p>
              <a:pPr algn="l">
                <a:lnSpc>
                  <a:spcPts val="750"/>
                </a:lnSpc>
              </a:pPr>
              <a:r>
                <a:rPr lang="zh-CN" sz="640" b="1" dirty="0">
                  <a:solidFill>
                    <a:srgbClr val="1A1A1A"/>
                  </a:solidFill>
                  <a:latin typeface="+mn-lt"/>
                  <a:ea typeface="+mn-ea"/>
                  <a:cs typeface="+mn-cs"/>
                </a:rPr>
                <a:t>模型版图架构师​</a:t>
              </a:r>
            </a:p>
            <a:p>
              <a:pPr algn="l">
                <a:lnSpc>
                  <a:spcPts val="750"/>
                </a:lnSpc>
              </a:pPr>
              <a:r>
                <a:rPr lang="en-US" sz="520" dirty="0">
                  <a:solidFill>
                    <a:srgbClr val="666666"/>
                  </a:solidFill>
                  <a:latin typeface="+mn-lt"/>
                  <a:ea typeface="+mn-ea"/>
                  <a:cs typeface="+mn-cs"/>
                </a:rPr>
                <a:t>Model landscape architect​​</a:t>
              </a:r>
            </a:p>
          </p:txBody>
        </p:sp>
        <p:sp>
          <p:nvSpPr>
            <p:cNvPr id="124" name="Rectangle 124"/>
            <p:cNvSpPr/>
            <p:nvPr/>
          </p:nvSpPr>
          <p:spPr>
            <a:xfrm>
              <a:off x="3562350" y="5467350"/>
              <a:ext cx="4610100" cy="95250"/>
            </a:xfrm>
            <a:prstGeom prst="rect">
              <a:avLst/>
            </a:prstGeom>
            <a:solidFill>
              <a:srgbClr val="6B1100"/>
            </a:solidFill>
            <a:ln>
              <a:noFill/>
            </a:ln>
          </p:spPr>
        </p:sp>
        <p:sp>
          <p:nvSpPr>
            <p:cNvPr id="125" name="TextBox 125"/>
            <p:cNvSpPr txBox="1"/>
            <p:nvPr/>
          </p:nvSpPr>
          <p:spPr>
            <a:xfrm>
              <a:off x="5219573" y="5478066"/>
              <a:ext cx="1295654"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第一道防线 First line of defence​​</a:t>
              </a:r>
            </a:p>
          </p:txBody>
        </p:sp>
        <p:sp>
          <p:nvSpPr>
            <p:cNvPr id="126" name="Polygon 126"/>
            <p:cNvSpPr/>
            <p:nvPr/>
          </p:nvSpPr>
          <p:spPr>
            <a:xfrm>
              <a:off x="5819775" y="2895600"/>
              <a:ext cx="95250" cy="57150"/>
            </a:xfrm>
            <a:custGeom>
              <a:avLst/>
              <a:gdLst/>
              <a:ahLst/>
              <a:cxnLst/>
              <a:rect l="l" t="t" r="r" b="b"/>
              <a:pathLst>
                <a:path w="95250" h="57150">
                  <a:moveTo>
                    <a:pt x="0" y="0"/>
                  </a:moveTo>
                  <a:lnTo>
                    <a:pt x="95250" y="0"/>
                  </a:lnTo>
                  <a:lnTo>
                    <a:pt x="47625" y="57150"/>
                  </a:lnTo>
                  <a:close/>
                </a:path>
              </a:pathLst>
            </a:custGeom>
            <a:solidFill>
              <a:srgbClr val="9A9A9A"/>
            </a:solidFill>
            <a:ln>
              <a:noFill/>
            </a:ln>
          </p:spPr>
        </p:sp>
        <p:sp>
          <p:nvSpPr>
            <p:cNvPr id="127" name="Polygon 127"/>
            <p:cNvSpPr/>
            <p:nvPr/>
          </p:nvSpPr>
          <p:spPr>
            <a:xfrm>
              <a:off x="5819775" y="3238500"/>
              <a:ext cx="95250" cy="57150"/>
            </a:xfrm>
            <a:custGeom>
              <a:avLst/>
              <a:gdLst/>
              <a:ahLst/>
              <a:cxnLst/>
              <a:rect l="l" t="t" r="r" b="b"/>
              <a:pathLst>
                <a:path w="95250" h="57150">
                  <a:moveTo>
                    <a:pt x="0" y="0"/>
                  </a:moveTo>
                  <a:lnTo>
                    <a:pt x="95250" y="0"/>
                  </a:lnTo>
                  <a:lnTo>
                    <a:pt x="47625" y="57150"/>
                  </a:lnTo>
                  <a:close/>
                </a:path>
              </a:pathLst>
            </a:custGeom>
            <a:solidFill>
              <a:srgbClr val="9A9A9A"/>
            </a:solidFill>
            <a:ln>
              <a:noFill/>
            </a:ln>
          </p:spPr>
        </p:sp>
        <p:sp>
          <p:nvSpPr>
            <p:cNvPr id="128" name="Rectangle 128"/>
            <p:cNvSpPr/>
            <p:nvPr/>
          </p:nvSpPr>
          <p:spPr>
            <a:xfrm>
              <a:off x="8382000" y="2628900"/>
              <a:ext cx="133350" cy="2952750"/>
            </a:xfrm>
            <a:prstGeom prst="rect">
              <a:avLst/>
            </a:prstGeom>
            <a:solidFill>
              <a:srgbClr val="C35642"/>
            </a:solidFill>
            <a:ln>
              <a:noFill/>
            </a:ln>
          </p:spPr>
        </p:sp>
        <p:sp>
          <p:nvSpPr>
            <p:cNvPr id="129" name="TextBox 129"/>
            <p:cNvSpPr txBox="1"/>
            <p:nvPr/>
          </p:nvSpPr>
          <p:spPr>
            <a:xfrm rot="5400000">
              <a:off x="7736757" y="4045744"/>
              <a:ext cx="143431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第三道防线 Third line of defence​​​</a:t>
              </a:r>
            </a:p>
          </p:txBody>
        </p:sp>
        <p:sp>
          <p:nvSpPr>
            <p:cNvPr id="130" name="Rectangle 130"/>
            <p:cNvSpPr/>
            <p:nvPr/>
          </p:nvSpPr>
          <p:spPr>
            <a:xfrm>
              <a:off x="8572500" y="2628900"/>
              <a:ext cx="323850" cy="2952750"/>
            </a:xfrm>
            <a:prstGeom prst="rect">
              <a:avLst/>
            </a:prstGeom>
            <a:solidFill>
              <a:srgbClr val="D9D9D9"/>
            </a:solidFill>
            <a:ln>
              <a:noFill/>
            </a:ln>
          </p:spPr>
        </p:sp>
        <p:sp>
          <p:nvSpPr>
            <p:cNvPr id="131" name="Ellipse 131"/>
            <p:cNvSpPr/>
            <p:nvPr/>
          </p:nvSpPr>
          <p:spPr>
            <a:xfrm>
              <a:off x="8648700" y="2695575"/>
              <a:ext cx="171450" cy="171450"/>
            </a:xfrm>
            <a:prstGeom prst="ellipse">
              <a:avLst/>
            </a:prstGeom>
            <a:solidFill>
              <a:srgbClr val="FFFFFF"/>
            </a:solidFill>
            <a:ln>
              <a:noFill/>
            </a:ln>
          </p:spPr>
        </p:sp>
        <p:grpSp>
          <p:nvGrpSpPr>
            <p:cNvPr id="134" name="Group 134"/>
            <p:cNvGrpSpPr/>
            <p:nvPr/>
          </p:nvGrpSpPr>
          <p:grpSpPr>
            <a:xfrm>
              <a:off x="8691562" y="2738438"/>
              <a:ext cx="85725" cy="85725"/>
              <a:chOff x="8691562" y="2738438"/>
              <a:chExt cx="85725" cy="85725"/>
            </a:xfrm>
          </p:grpSpPr>
          <p:sp>
            <p:nvSpPr>
              <p:cNvPr id="132" name="Freeform 132"/>
              <p:cNvSpPr/>
              <p:nvPr/>
            </p:nvSpPr>
            <p:spPr>
              <a:xfrm>
                <a:off x="8691562" y="2738438"/>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9525">
                <a:solidFill>
                  <a:srgbClr val="6B1100"/>
                </a:solidFill>
              </a:ln>
            </p:spPr>
          </p:sp>
          <p:sp>
            <p:nvSpPr>
              <p:cNvPr id="133" name="Freeform 133"/>
              <p:cNvSpPr/>
              <p:nvPr/>
            </p:nvSpPr>
            <p:spPr>
              <a:xfrm>
                <a:off x="8748712" y="2795588"/>
                <a:ext cx="28575" cy="28575"/>
              </a:xfrm>
              <a:custGeom>
                <a:avLst/>
                <a:gdLst/>
                <a:ahLst/>
                <a:cxnLst/>
                <a:rect l="l" t="t" r="r" b="b"/>
                <a:pathLst>
                  <a:path w="28575" h="28575">
                    <a:moveTo>
                      <a:pt x="28575" y="28575"/>
                    </a:moveTo>
                    <a:lnTo>
                      <a:pt x="0" y="0"/>
                    </a:lnTo>
                  </a:path>
                </a:pathLst>
              </a:custGeom>
              <a:noFill/>
              <a:ln w="9525">
                <a:solidFill>
                  <a:srgbClr val="6B1100"/>
                </a:solidFill>
              </a:ln>
            </p:spPr>
          </p:sp>
        </p:grpSp>
        <p:sp>
          <p:nvSpPr>
            <p:cNvPr id="135" name="TextBox 135"/>
            <p:cNvSpPr txBox="1"/>
            <p:nvPr/>
          </p:nvSpPr>
          <p:spPr>
            <a:xfrm rot="5400000">
              <a:off x="8136945" y="4168378"/>
              <a:ext cx="1208295" cy="140494"/>
            </a:xfrm>
            <a:prstGeom prst="rect">
              <a:avLst/>
            </a:prstGeom>
            <a:noFill/>
            <a:ln>
              <a:noFill/>
            </a:ln>
          </p:spPr>
          <p:txBody>
            <a:bodyPr wrap="none" lIns="0" tIns="0" rIns="0" bIns="0" anchor="t" anchorCtr="0">
              <a:spAutoFit/>
            </a:bodyPr>
            <a:lstStyle/>
            <a:p>
              <a:pPr algn="ctr"/>
              <a:r>
                <a:rPr lang="zh-CN" sz="710" b="1" dirty="0">
                  <a:solidFill>
                    <a:srgbClr val="1A1A1A"/>
                  </a:solidFill>
                  <a:latin typeface="+mn-lt"/>
                  <a:ea typeface="+mn-ea"/>
                  <a:cs typeface="+mn-cs"/>
                </a:rPr>
                <a:t>内部审计 Internal audit​​</a:t>
              </a:r>
            </a:p>
          </p:txBody>
        </p:sp>
        <p:sp>
          <p:nvSpPr>
            <p:cNvPr id="136" name="TextBox 136"/>
            <p:cNvSpPr txBox="1"/>
            <p:nvPr/>
          </p:nvSpPr>
          <p:spPr>
            <a:xfrm rot="5400000">
              <a:off x="7727823" y="3989784"/>
              <a:ext cx="2777109"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33333"/>
                  </a:solidFill>
                  <a:latin typeface="+mn-lt"/>
                  <a:ea typeface="+mn-ea"/>
                  <a:cs typeface="+mn-cs"/>
                </a:rPr>
                <a:t>审计并复核对法规、政策和程序的遵守情况​</a:t>
              </a:r>
              <a:br/>
              <a:r>
                <a:rPr lang="en-US" sz="640" dirty="0">
                  <a:solidFill>
                    <a:srgbClr val="333333"/>
                  </a:solidFill>
                  <a:latin typeface="+mn-lt"/>
                  <a:ea typeface="+mn-ea"/>
                  <a:cs typeface="+mn-cs"/>
                </a:rPr>
                <a:t>Audit and review compliance with regulation, policies and procedures​</a:t>
              </a:r>
            </a:p>
          </p:txBody>
        </p:sp>
      </p:grpSp>
      <p:grpSp>
        <p:nvGrpSpPr>
          <p:cNvPr id="171" name="nav"/>
          <p:cNvGrpSpPr/>
          <p:nvPr/>
        </p:nvGrpSpPr>
        <p:grpSpPr>
          <a:xfrm>
            <a:off x="9834562" y="0"/>
            <a:ext cx="2357438" cy="6858000"/>
            <a:chOff x="9834562" y="0"/>
            <a:chExt cx="2357438" cy="6858000"/>
          </a:xfrm>
        </p:grpSpPr>
        <p:sp>
          <p:nvSpPr>
            <p:cNvPr id="138" name="Line 138"/>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39" name="Rectangle 139"/>
            <p:cNvSpPr/>
            <p:nvPr/>
          </p:nvSpPr>
          <p:spPr>
            <a:xfrm>
              <a:off x="9839325" y="476250"/>
              <a:ext cx="2352675" cy="514350"/>
            </a:xfrm>
            <a:prstGeom prst="rect">
              <a:avLst/>
            </a:prstGeom>
            <a:solidFill>
              <a:srgbClr val="F3F3F3"/>
            </a:solidFill>
            <a:ln>
              <a:noFill/>
            </a:ln>
          </p:spPr>
        </p:sp>
        <p:sp>
          <p:nvSpPr>
            <p:cNvPr id="140" name="TextBox 140"/>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41" name="Rectangle 141"/>
            <p:cNvSpPr/>
            <p:nvPr/>
          </p:nvSpPr>
          <p:spPr>
            <a:xfrm>
              <a:off x="9839325" y="1000125"/>
              <a:ext cx="2352675" cy="514350"/>
            </a:xfrm>
            <a:prstGeom prst="rect">
              <a:avLst/>
            </a:prstGeom>
            <a:solidFill>
              <a:srgbClr val="F3F3F3"/>
            </a:solidFill>
            <a:ln>
              <a:noFill/>
            </a:ln>
          </p:spPr>
        </p:sp>
        <p:sp>
          <p:nvSpPr>
            <p:cNvPr id="142" name="TextBox 142"/>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43" name="Rectangle 143"/>
            <p:cNvSpPr/>
            <p:nvPr/>
          </p:nvSpPr>
          <p:spPr>
            <a:xfrm>
              <a:off x="9839325" y="1524000"/>
              <a:ext cx="2352675" cy="514350"/>
            </a:xfrm>
            <a:prstGeom prst="rect">
              <a:avLst/>
            </a:prstGeom>
            <a:solidFill>
              <a:srgbClr val="F3F3F3"/>
            </a:solidFill>
            <a:ln>
              <a:noFill/>
            </a:ln>
          </p:spPr>
        </p:sp>
        <p:sp>
          <p:nvSpPr>
            <p:cNvPr id="144" name="TextBox 144"/>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45" name="Rectangle 145"/>
            <p:cNvSpPr/>
            <p:nvPr/>
          </p:nvSpPr>
          <p:spPr>
            <a:xfrm>
              <a:off x="9839325" y="2047875"/>
              <a:ext cx="2352675" cy="514350"/>
            </a:xfrm>
            <a:prstGeom prst="rect">
              <a:avLst/>
            </a:prstGeom>
            <a:solidFill>
              <a:srgbClr val="F3F3F3"/>
            </a:solidFill>
            <a:ln>
              <a:noFill/>
            </a:ln>
          </p:spPr>
        </p:sp>
        <p:sp>
          <p:nvSpPr>
            <p:cNvPr id="146" name="TextBox 146"/>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47" name="Rectangle 147"/>
            <p:cNvSpPr/>
            <p:nvPr/>
          </p:nvSpPr>
          <p:spPr>
            <a:xfrm>
              <a:off x="9839325" y="2571750"/>
              <a:ext cx="2352675" cy="514350"/>
            </a:xfrm>
            <a:prstGeom prst="rect">
              <a:avLst/>
            </a:prstGeom>
            <a:solidFill>
              <a:srgbClr val="F3F3F3"/>
            </a:solidFill>
            <a:ln>
              <a:noFill/>
            </a:ln>
          </p:spPr>
        </p:sp>
        <p:sp>
          <p:nvSpPr>
            <p:cNvPr id="148" name="TextBox 148"/>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49" name="Rectangle 149"/>
            <p:cNvSpPr/>
            <p:nvPr/>
          </p:nvSpPr>
          <p:spPr>
            <a:xfrm>
              <a:off x="9839325" y="3095625"/>
              <a:ext cx="2352675" cy="514350"/>
            </a:xfrm>
            <a:prstGeom prst="rect">
              <a:avLst/>
            </a:prstGeom>
            <a:solidFill>
              <a:srgbClr val="6B1100"/>
            </a:solidFill>
            <a:ln>
              <a:noFill/>
            </a:ln>
          </p:spPr>
        </p:sp>
        <p:sp>
          <p:nvSpPr>
            <p:cNvPr id="150" name="TextBox 150"/>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151" name="Rectangle 151"/>
            <p:cNvSpPr/>
            <p:nvPr/>
          </p:nvSpPr>
          <p:spPr>
            <a:xfrm>
              <a:off x="9839325" y="3619500"/>
              <a:ext cx="2352675" cy="514350"/>
            </a:xfrm>
            <a:prstGeom prst="rect">
              <a:avLst/>
            </a:prstGeom>
            <a:solidFill>
              <a:srgbClr val="F3F3F3"/>
            </a:solidFill>
            <a:ln>
              <a:noFill/>
            </a:ln>
          </p:spPr>
        </p:sp>
        <p:sp>
          <p:nvSpPr>
            <p:cNvPr id="152" name="TextBox 152"/>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53" name="Rectangle 153"/>
            <p:cNvSpPr/>
            <p:nvPr/>
          </p:nvSpPr>
          <p:spPr>
            <a:xfrm>
              <a:off x="9839325" y="4143375"/>
              <a:ext cx="2352675" cy="514350"/>
            </a:xfrm>
            <a:prstGeom prst="rect">
              <a:avLst/>
            </a:prstGeom>
            <a:solidFill>
              <a:srgbClr val="F3F3F3"/>
            </a:solidFill>
            <a:ln>
              <a:noFill/>
            </a:ln>
          </p:spPr>
        </p:sp>
        <p:sp>
          <p:nvSpPr>
            <p:cNvPr id="154" name="TextBox 154"/>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55" name="Rectangle 155"/>
            <p:cNvSpPr/>
            <p:nvPr/>
          </p:nvSpPr>
          <p:spPr>
            <a:xfrm>
              <a:off x="9839325" y="4667250"/>
              <a:ext cx="2352675" cy="514350"/>
            </a:xfrm>
            <a:prstGeom prst="rect">
              <a:avLst/>
            </a:prstGeom>
            <a:solidFill>
              <a:srgbClr val="F3F3F3"/>
            </a:solidFill>
            <a:ln>
              <a:noFill/>
            </a:ln>
          </p:spPr>
        </p:sp>
        <p:sp>
          <p:nvSpPr>
            <p:cNvPr id="156" name="TextBox 156"/>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57" name="Rectangle 157"/>
            <p:cNvSpPr/>
            <p:nvPr/>
          </p:nvSpPr>
          <p:spPr>
            <a:xfrm>
              <a:off x="9839325" y="5191125"/>
              <a:ext cx="2352675" cy="514350"/>
            </a:xfrm>
            <a:prstGeom prst="rect">
              <a:avLst/>
            </a:prstGeom>
            <a:solidFill>
              <a:srgbClr val="F3F3F3"/>
            </a:solidFill>
            <a:ln>
              <a:noFill/>
            </a:ln>
          </p:spPr>
        </p:sp>
        <p:sp>
          <p:nvSpPr>
            <p:cNvPr id="158" name="TextBox 158"/>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59" name="Rectangle 159"/>
            <p:cNvSpPr/>
            <p:nvPr/>
          </p:nvSpPr>
          <p:spPr>
            <a:xfrm>
              <a:off x="9839325" y="5715000"/>
              <a:ext cx="2352675" cy="514350"/>
            </a:xfrm>
            <a:prstGeom prst="rect">
              <a:avLst/>
            </a:prstGeom>
            <a:solidFill>
              <a:srgbClr val="F3F3F3"/>
            </a:solidFill>
            <a:ln>
              <a:noFill/>
            </a:ln>
          </p:spPr>
        </p:sp>
        <p:sp>
          <p:nvSpPr>
            <p:cNvPr id="160" name="TextBox 160"/>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61" name="Ellipse 161"/>
            <p:cNvSpPr/>
            <p:nvPr/>
          </p:nvSpPr>
          <p:spPr>
            <a:xfrm>
              <a:off x="10020300" y="6372225"/>
              <a:ext cx="266700" cy="266700"/>
            </a:xfrm>
            <a:prstGeom prst="ellipse">
              <a:avLst/>
            </a:prstGeom>
            <a:solidFill>
              <a:srgbClr val="D7D8D6"/>
            </a:solidFill>
            <a:ln>
              <a:noFill/>
            </a:ln>
          </p:spPr>
        </p:sp>
        <p:sp>
          <p:nvSpPr>
            <p:cNvPr id="162" name="Freeform 162"/>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63" name="Ellipse 163"/>
            <p:cNvSpPr/>
            <p:nvPr/>
          </p:nvSpPr>
          <p:spPr>
            <a:xfrm>
              <a:off x="10420350" y="6372225"/>
              <a:ext cx="266700" cy="266700"/>
            </a:xfrm>
            <a:prstGeom prst="ellipse">
              <a:avLst/>
            </a:prstGeom>
            <a:solidFill>
              <a:srgbClr val="D7D8D6"/>
            </a:solidFill>
            <a:ln>
              <a:noFill/>
            </a:ln>
          </p:spPr>
        </p:sp>
        <p:grpSp>
          <p:nvGrpSpPr>
            <p:cNvPr id="167" name="Group 167"/>
            <p:cNvGrpSpPr/>
            <p:nvPr/>
          </p:nvGrpSpPr>
          <p:grpSpPr>
            <a:xfrm>
              <a:off x="10489406" y="6441281"/>
              <a:ext cx="128588" cy="128588"/>
              <a:chOff x="10489406" y="6441281"/>
              <a:chExt cx="128588" cy="128588"/>
            </a:xfrm>
          </p:grpSpPr>
          <p:sp>
            <p:nvSpPr>
              <p:cNvPr id="164" name="Freeform 164"/>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65" name="Freeform 165"/>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66" name="Freeform 166"/>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68" name="Ellipse 168"/>
            <p:cNvSpPr/>
            <p:nvPr/>
          </p:nvSpPr>
          <p:spPr>
            <a:xfrm>
              <a:off x="10820400" y="6372225"/>
              <a:ext cx="266700" cy="266700"/>
            </a:xfrm>
            <a:prstGeom prst="ellipse">
              <a:avLst/>
            </a:prstGeom>
            <a:solidFill>
              <a:srgbClr val="D7D8D6"/>
            </a:solidFill>
            <a:ln>
              <a:noFill/>
            </a:ln>
          </p:spPr>
        </p:sp>
        <p:sp>
          <p:nvSpPr>
            <p:cNvPr id="169" name="Freeform 169"/>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70" name="TextBox 170"/>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18</a:t>
              </a:r>
            </a:p>
          </p:txBody>
        </p:sp>
      </p:gr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19</a:t>
              </a:r>
            </a:p>
          </p:txBody>
        </p:sp>
        <p:sp>
          <p:nvSpPr>
            <p:cNvPr id="4" name="TextBox 4"/>
            <p:cNvSpPr txBox="1"/>
            <p:nvPr/>
          </p:nvSpPr>
          <p:spPr>
            <a:xfrm>
              <a:off x="942594" y="151448"/>
              <a:ext cx="378577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模型所有者</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2" name="col-1"/>
          <p:cNvGrpSpPr/>
          <p:nvPr/>
        </p:nvGrpSpPr>
        <p:grpSpPr>
          <a:xfrm>
            <a:off x="566547" y="847249"/>
            <a:ext cx="2587181" cy="3060859"/>
            <a:chOff x="566547" y="847249"/>
            <a:chExt cx="2587181" cy="3060859"/>
          </a:xfrm>
        </p:grpSpPr>
        <p:sp>
          <p:nvSpPr>
            <p:cNvPr id="7" name="TextBox 7"/>
            <p:cNvSpPr txBox="1"/>
            <p:nvPr/>
          </p:nvSpPr>
          <p:spPr>
            <a:xfrm>
              <a:off x="566547" y="847249"/>
              <a:ext cx="745732"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模型所有者​</a:t>
              </a:r>
            </a:p>
          </p:txBody>
        </p:sp>
        <p:sp>
          <p:nvSpPr>
            <p:cNvPr id="8" name="TextBox 8"/>
            <p:cNvSpPr txBox="1"/>
            <p:nvPr/>
          </p:nvSpPr>
          <p:spPr>
            <a:xfrm>
              <a:off x="566738" y="1012984"/>
              <a:ext cx="786420"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The model owner​</a:t>
              </a:r>
            </a:p>
          </p:txBody>
        </p:sp>
        <p:sp>
          <p:nvSpPr>
            <p:cNvPr id="9" name="TextBox 9"/>
            <p:cNvSpPr txBox="1"/>
            <p:nvPr/>
          </p:nvSpPr>
          <p:spPr>
            <a:xfrm>
              <a:off x="566738" y="1169670"/>
              <a:ext cx="2586990" cy="12620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模型风险管理的关键角色之一是模型所有者。模型​</a:t>
              </a:r>
              <a:br/>
              <a:r>
                <a:rPr lang="zh-CN" sz="900" dirty="0">
                  <a:solidFill>
                    <a:srgbClr val="333333"/>
                  </a:solidFill>
                  <a:latin typeface="+mn-lt"/>
                  <a:ea typeface="+mn-ea"/>
                  <a:cs typeface="+mn-cs"/>
                </a:rPr>
                <a:t>所有者对一组特定模型（包括这些模型的质量）负​</a:t>
              </a:r>
              <a:br/>
              <a:r>
                <a:rPr lang="zh-CN" sz="900" dirty="0">
                  <a:solidFill>
                    <a:srgbClr val="333333"/>
                  </a:solidFill>
                  <a:latin typeface="+mn-lt"/>
                  <a:ea typeface="+mn-ea"/>
                  <a:cs typeface="+mn-cs"/>
                </a:rPr>
                <a:t>责并承担问责。模型所有者还充当第一道防线与其​</a:t>
              </a:r>
              <a:br/>
              <a:r>
                <a:rPr lang="zh-CN" sz="900" dirty="0">
                  <a:solidFill>
                    <a:srgbClr val="333333"/>
                  </a:solidFill>
                  <a:latin typeface="+mn-lt"/>
                  <a:ea typeface="+mn-ea"/>
                  <a:cs typeface="+mn-cs"/>
                </a:rPr>
                <a:t>他各方之间的桥梁，例如确保独立模型验证的发现​</a:t>
              </a:r>
              <a:br/>
              <a:r>
                <a:rPr lang="zh-CN" sz="900" dirty="0">
                  <a:solidFill>
                    <a:srgbClr val="333333"/>
                  </a:solidFill>
                  <a:latin typeface="+mn-lt"/>
                  <a:ea typeface="+mn-ea"/>
                  <a:cs typeface="+mn-cs"/>
                </a:rPr>
                <a:t>以恰当的方式在规定时间内得到解决。多数银行（​</a:t>
              </a:r>
              <a:br/>
              <a:r>
                <a:rPr lang="zh-CN" sz="900" dirty="0">
                  <a:solidFill>
                    <a:srgbClr val="333333"/>
                  </a:solidFill>
                  <a:latin typeface="+mn-lt"/>
                  <a:ea typeface="+mn-ea"/>
                  <a:cs typeface="+mn-cs"/>
                </a:rPr>
                <a:t>86%）表示其模型所有者角色已清晰定义并记​</a:t>
              </a:r>
              <a:br/>
              <a:r>
                <a:rPr lang="zh-CN" sz="900" dirty="0">
                  <a:solidFill>
                    <a:srgbClr val="333333"/>
                  </a:solidFill>
                  <a:latin typeface="+mn-lt"/>
                  <a:ea typeface="+mn-ea"/>
                  <a:cs typeface="+mn-cs"/>
                </a:rPr>
                <a:t>录在案，大、中、小型银行的回答几乎没有差别。​</a:t>
              </a:r>
            </a:p>
          </p:txBody>
        </p:sp>
        <p:sp>
          <p:nvSpPr>
            <p:cNvPr id="10" name="TextBox 10"/>
            <p:cNvSpPr txBox="1"/>
            <p:nvPr/>
          </p:nvSpPr>
          <p:spPr>
            <a:xfrm>
              <a:off x="566738" y="2541270"/>
              <a:ext cx="25869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结果显示，多数银行任命的模型所有者来自模型开​</a:t>
              </a:r>
              <a:br/>
              <a:r>
                <a:rPr lang="zh-CN" sz="900" dirty="0">
                  <a:solidFill>
                    <a:srgbClr val="333333"/>
                  </a:solidFill>
                  <a:latin typeface="+mn-lt"/>
                  <a:ea typeface="+mn-ea"/>
                  <a:cs typeface="+mn-cs"/>
                </a:rPr>
                <a:t>发部门。尽管这取决于各行的组织治理，但由承担​</a:t>
              </a:r>
              <a:br/>
              <a:r>
                <a:rPr lang="zh-CN" sz="900" dirty="0">
                  <a:solidFill>
                    <a:srgbClr val="333333"/>
                  </a:solidFill>
                  <a:latin typeface="+mn-lt"/>
                  <a:ea typeface="+mn-ea"/>
                  <a:cs typeface="+mn-cs"/>
                </a:rPr>
                <a:t>模型开发职责的人员担任模型所有者，可能在模型​</a:t>
              </a:r>
              <a:br/>
              <a:r>
                <a:rPr lang="zh-CN" sz="900" dirty="0">
                  <a:solidFill>
                    <a:srgbClr val="333333"/>
                  </a:solidFill>
                  <a:latin typeface="+mn-lt"/>
                  <a:ea typeface="+mn-ea"/>
                  <a:cs typeface="+mn-cs"/>
                </a:rPr>
                <a:t>使用方面造成利益冲突，例如资源部署和开发优先​</a:t>
              </a:r>
              <a:br/>
              <a:r>
                <a:rPr lang="zh-CN" sz="900" dirty="0">
                  <a:solidFill>
                    <a:srgbClr val="333333"/>
                  </a:solidFill>
                  <a:latin typeface="+mn-lt"/>
                  <a:ea typeface="+mn-ea"/>
                  <a:cs typeface="+mn-cs"/>
                </a:rPr>
                <a:t>级方面。​</a:t>
              </a:r>
            </a:p>
          </p:txBody>
        </p:sp>
        <p:sp>
          <p:nvSpPr>
            <p:cNvPr id="11" name="TextBox 11"/>
            <p:cNvSpPr txBox="1"/>
            <p:nvPr/>
          </p:nvSpPr>
          <p:spPr>
            <a:xfrm>
              <a:off x="566738" y="3550920"/>
              <a:ext cx="25869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然而，模型所有者角色的采纳仍是一项挑战，且在​</a:t>
              </a:r>
              <a:br/>
              <a:r>
                <a:rPr lang="zh-CN" sz="900" dirty="0">
                  <a:solidFill>
                    <a:srgbClr val="333333"/>
                  </a:solidFill>
                  <a:latin typeface="+mn-lt"/>
                  <a:ea typeface="+mn-ea"/>
                  <a:cs typeface="+mn-cs"/>
                </a:rPr>
                <a:t>不同模型类型之间差异很大。​</a:t>
              </a:r>
            </a:p>
          </p:txBody>
        </p:sp>
      </p:grpSp>
      <p:grpSp>
        <p:nvGrpSpPr>
          <p:cNvPr id="23" name="figure-17"/>
          <p:cNvGrpSpPr/>
          <p:nvPr/>
        </p:nvGrpSpPr>
        <p:grpSpPr>
          <a:xfrm>
            <a:off x="3633788" y="863441"/>
            <a:ext cx="2621247" cy="2740343"/>
            <a:chOff x="3633788" y="863441"/>
            <a:chExt cx="2621247" cy="2740343"/>
          </a:xfrm>
        </p:grpSpPr>
        <p:sp>
          <p:nvSpPr>
            <p:cNvPr id="13" name="TextBox 13"/>
            <p:cNvSpPr txBox="1"/>
            <p:nvPr/>
          </p:nvSpPr>
          <p:spPr>
            <a:xfrm>
              <a:off x="3633788" y="863441"/>
              <a:ext cx="2350035"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图17. 清晰定义并记录模型所有者角色的银行​​</a:t>
              </a:r>
            </a:p>
          </p:txBody>
        </p:sp>
        <p:sp>
          <p:nvSpPr>
            <p:cNvPr id="14" name="TextBox 14"/>
            <p:cNvSpPr txBox="1"/>
            <p:nvPr/>
          </p:nvSpPr>
          <p:spPr>
            <a:xfrm>
              <a:off x="3633788" y="1021080"/>
              <a:ext cx="2621247"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Banks that clearly defined and documented the model owner role​​</a:t>
              </a:r>
            </a:p>
          </p:txBody>
        </p:sp>
        <p:sp>
          <p:nvSpPr>
            <p:cNvPr id="15" name="Freeform 15"/>
            <p:cNvSpPr/>
            <p:nvPr/>
          </p:nvSpPr>
          <p:spPr>
            <a:xfrm>
              <a:off x="4210050" y="1638300"/>
              <a:ext cx="1485900" cy="1485900"/>
            </a:xfrm>
            <a:prstGeom prst="blockArc">
              <a:avLst>
                <a:gd name="adj1" fmla="val 16200000"/>
                <a:gd name="adj2" fmla="val 13176000"/>
                <a:gd name="adj3" fmla="val 16667"/>
              </a:avLst>
            </a:prstGeom>
            <a:solidFill>
              <a:srgbClr val="AA1B00"/>
            </a:solidFill>
            <a:ln>
              <a:noFill/>
            </a:ln>
          </p:spPr>
        </p:sp>
        <p:sp>
          <p:nvSpPr>
            <p:cNvPr id="16" name="Freeform 16"/>
            <p:cNvSpPr/>
            <p:nvPr/>
          </p:nvSpPr>
          <p:spPr>
            <a:xfrm>
              <a:off x="4210050" y="1638300"/>
              <a:ext cx="1485900" cy="1485900"/>
            </a:xfrm>
            <a:prstGeom prst="blockArc">
              <a:avLst>
                <a:gd name="adj1" fmla="val 13176000"/>
                <a:gd name="adj2" fmla="val 16200000"/>
                <a:gd name="adj3" fmla="val 16667"/>
              </a:avLst>
            </a:prstGeom>
            <a:solidFill>
              <a:srgbClr val="C9C9C9"/>
            </a:solidFill>
            <a:ln>
              <a:noFill/>
            </a:ln>
          </p:spPr>
        </p:sp>
        <p:sp>
          <p:nvSpPr>
            <p:cNvPr id="17" name="TextBox 17"/>
            <p:cNvSpPr txBox="1"/>
            <p:nvPr/>
          </p:nvSpPr>
          <p:spPr>
            <a:xfrm>
              <a:off x="5198212" y="3139440"/>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86%​</a:t>
              </a:r>
            </a:p>
          </p:txBody>
        </p:sp>
        <p:sp>
          <p:nvSpPr>
            <p:cNvPr id="18" name="TextBox 18"/>
            <p:cNvSpPr txBox="1"/>
            <p:nvPr/>
          </p:nvSpPr>
          <p:spPr>
            <a:xfrm>
              <a:off x="4449889" y="1537335"/>
              <a:ext cx="251841"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14%​</a:t>
              </a:r>
            </a:p>
          </p:txBody>
        </p:sp>
        <p:sp>
          <p:nvSpPr>
            <p:cNvPr id="19" name="Rectangle 19"/>
            <p:cNvSpPr/>
            <p:nvPr/>
          </p:nvSpPr>
          <p:spPr>
            <a:xfrm>
              <a:off x="3638550" y="3457575"/>
              <a:ext cx="95250" cy="95250"/>
            </a:xfrm>
            <a:prstGeom prst="rect">
              <a:avLst/>
            </a:prstGeom>
            <a:solidFill>
              <a:srgbClr val="AA1B00"/>
            </a:solidFill>
            <a:ln>
              <a:noFill/>
            </a:ln>
          </p:spPr>
        </p:sp>
        <p:sp>
          <p:nvSpPr>
            <p:cNvPr id="20" name="TextBox 20"/>
            <p:cNvSpPr txBox="1"/>
            <p:nvPr/>
          </p:nvSpPr>
          <p:spPr>
            <a:xfrm>
              <a:off x="3776662" y="3470434"/>
              <a:ext cx="35755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是Yes​​</a:t>
              </a:r>
            </a:p>
          </p:txBody>
        </p:sp>
        <p:sp>
          <p:nvSpPr>
            <p:cNvPr id="21" name="Rectangle 21"/>
            <p:cNvSpPr/>
            <p:nvPr/>
          </p:nvSpPr>
          <p:spPr>
            <a:xfrm>
              <a:off x="4213098" y="3457575"/>
              <a:ext cx="95250" cy="95250"/>
            </a:xfrm>
            <a:prstGeom prst="rect">
              <a:avLst/>
            </a:prstGeom>
            <a:solidFill>
              <a:srgbClr val="C9C9C9"/>
            </a:solidFill>
            <a:ln>
              <a:noFill/>
            </a:ln>
          </p:spPr>
        </p:sp>
        <p:sp>
          <p:nvSpPr>
            <p:cNvPr id="22" name="TextBox 22"/>
            <p:cNvSpPr txBox="1"/>
            <p:nvPr/>
          </p:nvSpPr>
          <p:spPr>
            <a:xfrm>
              <a:off x="4351210" y="3470434"/>
              <a:ext cx="30815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否No​​</a:t>
              </a:r>
            </a:p>
          </p:txBody>
        </p:sp>
      </p:grpSp>
      <p:grpSp>
        <p:nvGrpSpPr>
          <p:cNvPr id="38" name="figure-18"/>
          <p:cNvGrpSpPr/>
          <p:nvPr/>
        </p:nvGrpSpPr>
        <p:grpSpPr>
          <a:xfrm>
            <a:off x="6586538" y="863441"/>
            <a:ext cx="2520706" cy="3080147"/>
            <a:chOff x="6586538" y="863441"/>
            <a:chExt cx="2520706" cy="3080147"/>
          </a:xfrm>
        </p:grpSpPr>
        <p:sp>
          <p:nvSpPr>
            <p:cNvPr id="24" name="TextBox 24"/>
            <p:cNvSpPr txBox="1"/>
            <p:nvPr/>
          </p:nvSpPr>
          <p:spPr>
            <a:xfrm>
              <a:off x="6586538" y="863441"/>
              <a:ext cx="157731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图18. 最常任命的模型所有者​​</a:t>
              </a:r>
            </a:p>
          </p:txBody>
        </p:sp>
        <p:sp>
          <p:nvSpPr>
            <p:cNvPr id="25" name="TextBox 25"/>
            <p:cNvSpPr txBox="1"/>
            <p:nvPr/>
          </p:nvSpPr>
          <p:spPr>
            <a:xfrm>
              <a:off x="6586538" y="1021080"/>
              <a:ext cx="1450173"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Most often appointed model owner​​</a:t>
              </a:r>
            </a:p>
          </p:txBody>
        </p:sp>
        <p:sp>
          <p:nvSpPr>
            <p:cNvPr id="26" name="Freeform 26"/>
            <p:cNvSpPr/>
            <p:nvPr/>
          </p:nvSpPr>
          <p:spPr>
            <a:xfrm>
              <a:off x="7258050" y="1638300"/>
              <a:ext cx="1485900" cy="1485900"/>
            </a:xfrm>
            <a:prstGeom prst="blockArc">
              <a:avLst>
                <a:gd name="adj1" fmla="val 16200000"/>
                <a:gd name="adj2" fmla="val 8640000"/>
                <a:gd name="adj3" fmla="val 16667"/>
              </a:avLst>
            </a:prstGeom>
            <a:solidFill>
              <a:srgbClr val="AA1B00"/>
            </a:solidFill>
            <a:ln>
              <a:noFill/>
            </a:ln>
          </p:spPr>
        </p:sp>
        <p:sp>
          <p:nvSpPr>
            <p:cNvPr id="27" name="Freeform 27"/>
            <p:cNvSpPr/>
            <p:nvPr/>
          </p:nvSpPr>
          <p:spPr>
            <a:xfrm>
              <a:off x="7258050" y="1638300"/>
              <a:ext cx="1485900" cy="1485900"/>
            </a:xfrm>
            <a:prstGeom prst="blockArc">
              <a:avLst>
                <a:gd name="adj1" fmla="val 8640000"/>
                <a:gd name="adj2" fmla="val 14040000"/>
                <a:gd name="adj3" fmla="val 16667"/>
              </a:avLst>
            </a:prstGeom>
            <a:solidFill>
              <a:srgbClr val="C35642"/>
            </a:solidFill>
            <a:ln>
              <a:noFill/>
            </a:ln>
          </p:spPr>
        </p:sp>
        <p:sp>
          <p:nvSpPr>
            <p:cNvPr id="28" name="Freeform 28"/>
            <p:cNvSpPr/>
            <p:nvPr/>
          </p:nvSpPr>
          <p:spPr>
            <a:xfrm>
              <a:off x="7258050" y="1638300"/>
              <a:ext cx="1485900" cy="1485900"/>
            </a:xfrm>
            <a:prstGeom prst="blockArc">
              <a:avLst>
                <a:gd name="adj1" fmla="val 14040000"/>
                <a:gd name="adj2" fmla="val 16200000"/>
                <a:gd name="adj3" fmla="val 16667"/>
              </a:avLst>
            </a:prstGeom>
            <a:solidFill>
              <a:srgbClr val="6B1100"/>
            </a:solidFill>
            <a:ln>
              <a:noFill/>
            </a:ln>
          </p:spPr>
        </p:sp>
        <p:sp>
          <p:nvSpPr>
            <p:cNvPr id="29" name="TextBox 29"/>
            <p:cNvSpPr txBox="1"/>
            <p:nvPr/>
          </p:nvSpPr>
          <p:spPr>
            <a:xfrm>
              <a:off x="8658644" y="2740342"/>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65%​</a:t>
              </a:r>
            </a:p>
          </p:txBody>
        </p:sp>
        <p:sp>
          <p:nvSpPr>
            <p:cNvPr id="30" name="TextBox 30"/>
            <p:cNvSpPr txBox="1"/>
            <p:nvPr/>
          </p:nvSpPr>
          <p:spPr>
            <a:xfrm>
              <a:off x="6993674" y="2200275"/>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25%​</a:t>
              </a:r>
            </a:p>
          </p:txBody>
        </p:sp>
        <p:sp>
          <p:nvSpPr>
            <p:cNvPr id="31" name="TextBox 31"/>
            <p:cNvSpPr txBox="1"/>
            <p:nvPr/>
          </p:nvSpPr>
          <p:spPr>
            <a:xfrm>
              <a:off x="7595654" y="1496378"/>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10%​</a:t>
              </a:r>
            </a:p>
          </p:txBody>
        </p:sp>
        <p:sp>
          <p:nvSpPr>
            <p:cNvPr id="32" name="Rectangle 32"/>
            <p:cNvSpPr/>
            <p:nvPr/>
          </p:nvSpPr>
          <p:spPr>
            <a:xfrm>
              <a:off x="6591300" y="3457575"/>
              <a:ext cx="95250" cy="95250"/>
            </a:xfrm>
            <a:prstGeom prst="rect">
              <a:avLst/>
            </a:prstGeom>
            <a:solidFill>
              <a:srgbClr val="AA1B00"/>
            </a:solidFill>
            <a:ln>
              <a:noFill/>
            </a:ln>
          </p:spPr>
        </p:sp>
        <p:sp>
          <p:nvSpPr>
            <p:cNvPr id="33" name="TextBox 33"/>
            <p:cNvSpPr txBox="1"/>
            <p:nvPr/>
          </p:nvSpPr>
          <p:spPr>
            <a:xfrm>
              <a:off x="6729412" y="3474482"/>
              <a:ext cx="2179466"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来自模型开发部门Someone from model development​​</a:t>
              </a:r>
            </a:p>
          </p:txBody>
        </p:sp>
        <p:sp>
          <p:nvSpPr>
            <p:cNvPr id="34" name="Rectangle 34"/>
            <p:cNvSpPr/>
            <p:nvPr/>
          </p:nvSpPr>
          <p:spPr>
            <a:xfrm>
              <a:off x="6591300" y="3629025"/>
              <a:ext cx="95250" cy="95250"/>
            </a:xfrm>
            <a:prstGeom prst="rect">
              <a:avLst/>
            </a:prstGeom>
            <a:solidFill>
              <a:srgbClr val="C35642"/>
            </a:solidFill>
            <a:ln>
              <a:noFill/>
            </a:ln>
          </p:spPr>
        </p:sp>
        <p:sp>
          <p:nvSpPr>
            <p:cNvPr id="35" name="TextBox 35"/>
            <p:cNvSpPr txBox="1"/>
            <p:nvPr/>
          </p:nvSpPr>
          <p:spPr>
            <a:xfrm>
              <a:off x="6729412" y="3645932"/>
              <a:ext cx="237783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来自模型使用和/或报告部门Model use and/or reporting​​​</a:t>
              </a:r>
            </a:p>
          </p:txBody>
        </p:sp>
        <p:sp>
          <p:nvSpPr>
            <p:cNvPr id="36" name="Rectangle 36"/>
            <p:cNvSpPr/>
            <p:nvPr/>
          </p:nvSpPr>
          <p:spPr>
            <a:xfrm>
              <a:off x="6591300" y="3800475"/>
              <a:ext cx="95250" cy="95250"/>
            </a:xfrm>
            <a:prstGeom prst="rect">
              <a:avLst/>
            </a:prstGeom>
            <a:solidFill>
              <a:srgbClr val="6B1100"/>
            </a:solidFill>
            <a:ln>
              <a:noFill/>
            </a:ln>
          </p:spPr>
        </p:sp>
        <p:sp>
          <p:nvSpPr>
            <p:cNvPr id="37" name="TextBox 37"/>
            <p:cNvSpPr txBox="1"/>
            <p:nvPr/>
          </p:nvSpPr>
          <p:spPr>
            <a:xfrm>
              <a:off x="6729412" y="3817382"/>
              <a:ext cx="534724"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其他Other​​</a:t>
              </a:r>
            </a:p>
          </p:txBody>
        </p:sp>
      </p:grpSp>
      <p:grpSp>
        <p:nvGrpSpPr>
          <p:cNvPr id="72" name="nav"/>
          <p:cNvGrpSpPr/>
          <p:nvPr/>
        </p:nvGrpSpPr>
        <p:grpSpPr>
          <a:xfrm>
            <a:off x="9834562" y="0"/>
            <a:ext cx="2357438" cy="6858000"/>
            <a:chOff x="9834562" y="0"/>
            <a:chExt cx="2357438" cy="6858000"/>
          </a:xfrm>
        </p:grpSpPr>
        <p:sp>
          <p:nvSpPr>
            <p:cNvPr id="39" name="Line 39"/>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40" name="Rectangle 40"/>
            <p:cNvSpPr/>
            <p:nvPr/>
          </p:nvSpPr>
          <p:spPr>
            <a:xfrm>
              <a:off x="9839325" y="476250"/>
              <a:ext cx="2352675" cy="514350"/>
            </a:xfrm>
            <a:prstGeom prst="rect">
              <a:avLst/>
            </a:prstGeom>
            <a:solidFill>
              <a:srgbClr val="F3F3F3"/>
            </a:solidFill>
            <a:ln>
              <a:noFill/>
            </a:ln>
          </p:spPr>
        </p:sp>
        <p:sp>
          <p:nvSpPr>
            <p:cNvPr id="41" name="TextBox 41"/>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42" name="Rectangle 42"/>
            <p:cNvSpPr/>
            <p:nvPr/>
          </p:nvSpPr>
          <p:spPr>
            <a:xfrm>
              <a:off x="9839325" y="1000125"/>
              <a:ext cx="2352675" cy="514350"/>
            </a:xfrm>
            <a:prstGeom prst="rect">
              <a:avLst/>
            </a:prstGeom>
            <a:solidFill>
              <a:srgbClr val="F3F3F3"/>
            </a:solidFill>
            <a:ln>
              <a:noFill/>
            </a:ln>
          </p:spPr>
        </p:sp>
        <p:sp>
          <p:nvSpPr>
            <p:cNvPr id="43" name="TextBox 43"/>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44" name="Rectangle 44"/>
            <p:cNvSpPr/>
            <p:nvPr/>
          </p:nvSpPr>
          <p:spPr>
            <a:xfrm>
              <a:off x="9839325" y="1524000"/>
              <a:ext cx="2352675" cy="514350"/>
            </a:xfrm>
            <a:prstGeom prst="rect">
              <a:avLst/>
            </a:prstGeom>
            <a:solidFill>
              <a:srgbClr val="F3F3F3"/>
            </a:solidFill>
            <a:ln>
              <a:noFill/>
            </a:ln>
          </p:spPr>
        </p:sp>
        <p:sp>
          <p:nvSpPr>
            <p:cNvPr id="45" name="TextBox 45"/>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46" name="Rectangle 46"/>
            <p:cNvSpPr/>
            <p:nvPr/>
          </p:nvSpPr>
          <p:spPr>
            <a:xfrm>
              <a:off x="9839325" y="2047875"/>
              <a:ext cx="2352675" cy="514350"/>
            </a:xfrm>
            <a:prstGeom prst="rect">
              <a:avLst/>
            </a:prstGeom>
            <a:solidFill>
              <a:srgbClr val="F3F3F3"/>
            </a:solidFill>
            <a:ln>
              <a:noFill/>
            </a:ln>
          </p:spPr>
        </p:sp>
        <p:sp>
          <p:nvSpPr>
            <p:cNvPr id="47" name="TextBox 47"/>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48" name="Rectangle 48"/>
            <p:cNvSpPr/>
            <p:nvPr/>
          </p:nvSpPr>
          <p:spPr>
            <a:xfrm>
              <a:off x="9839325" y="2571750"/>
              <a:ext cx="2352675" cy="514350"/>
            </a:xfrm>
            <a:prstGeom prst="rect">
              <a:avLst/>
            </a:prstGeom>
            <a:solidFill>
              <a:srgbClr val="F3F3F3"/>
            </a:solidFill>
            <a:ln>
              <a:noFill/>
            </a:ln>
          </p:spPr>
        </p:sp>
        <p:sp>
          <p:nvSpPr>
            <p:cNvPr id="49" name="TextBox 49"/>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50" name="Rectangle 50"/>
            <p:cNvSpPr/>
            <p:nvPr/>
          </p:nvSpPr>
          <p:spPr>
            <a:xfrm>
              <a:off x="9839325" y="3095625"/>
              <a:ext cx="2352675" cy="514350"/>
            </a:xfrm>
            <a:prstGeom prst="rect">
              <a:avLst/>
            </a:prstGeom>
            <a:solidFill>
              <a:srgbClr val="6B1100"/>
            </a:solidFill>
            <a:ln>
              <a:noFill/>
            </a:ln>
          </p:spPr>
        </p:sp>
        <p:sp>
          <p:nvSpPr>
            <p:cNvPr id="51" name="TextBox 51"/>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52" name="Rectangle 52"/>
            <p:cNvSpPr/>
            <p:nvPr/>
          </p:nvSpPr>
          <p:spPr>
            <a:xfrm>
              <a:off x="9839325" y="3619500"/>
              <a:ext cx="2352675" cy="514350"/>
            </a:xfrm>
            <a:prstGeom prst="rect">
              <a:avLst/>
            </a:prstGeom>
            <a:solidFill>
              <a:srgbClr val="F3F3F3"/>
            </a:solidFill>
            <a:ln>
              <a:noFill/>
            </a:ln>
          </p:spPr>
        </p:sp>
        <p:sp>
          <p:nvSpPr>
            <p:cNvPr id="53" name="TextBox 53"/>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54" name="Rectangle 54"/>
            <p:cNvSpPr/>
            <p:nvPr/>
          </p:nvSpPr>
          <p:spPr>
            <a:xfrm>
              <a:off x="9839325" y="4143375"/>
              <a:ext cx="2352675" cy="514350"/>
            </a:xfrm>
            <a:prstGeom prst="rect">
              <a:avLst/>
            </a:prstGeom>
            <a:solidFill>
              <a:srgbClr val="F3F3F3"/>
            </a:solidFill>
            <a:ln>
              <a:noFill/>
            </a:ln>
          </p:spPr>
        </p:sp>
        <p:sp>
          <p:nvSpPr>
            <p:cNvPr id="55" name="TextBox 55"/>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56" name="Rectangle 56"/>
            <p:cNvSpPr/>
            <p:nvPr/>
          </p:nvSpPr>
          <p:spPr>
            <a:xfrm>
              <a:off x="9839325" y="4667250"/>
              <a:ext cx="2352675" cy="514350"/>
            </a:xfrm>
            <a:prstGeom prst="rect">
              <a:avLst/>
            </a:prstGeom>
            <a:solidFill>
              <a:srgbClr val="F3F3F3"/>
            </a:solidFill>
            <a:ln>
              <a:noFill/>
            </a:ln>
          </p:spPr>
        </p:sp>
        <p:sp>
          <p:nvSpPr>
            <p:cNvPr id="57" name="TextBox 57"/>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58" name="Rectangle 58"/>
            <p:cNvSpPr/>
            <p:nvPr/>
          </p:nvSpPr>
          <p:spPr>
            <a:xfrm>
              <a:off x="9839325" y="5191125"/>
              <a:ext cx="2352675" cy="514350"/>
            </a:xfrm>
            <a:prstGeom prst="rect">
              <a:avLst/>
            </a:prstGeom>
            <a:solidFill>
              <a:srgbClr val="F3F3F3"/>
            </a:solidFill>
            <a:ln>
              <a:noFill/>
            </a:ln>
          </p:spPr>
        </p:sp>
        <p:sp>
          <p:nvSpPr>
            <p:cNvPr id="59" name="TextBox 59"/>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60" name="Rectangle 60"/>
            <p:cNvSpPr/>
            <p:nvPr/>
          </p:nvSpPr>
          <p:spPr>
            <a:xfrm>
              <a:off x="9839325" y="5715000"/>
              <a:ext cx="2352675" cy="514350"/>
            </a:xfrm>
            <a:prstGeom prst="rect">
              <a:avLst/>
            </a:prstGeom>
            <a:solidFill>
              <a:srgbClr val="F3F3F3"/>
            </a:solidFill>
            <a:ln>
              <a:noFill/>
            </a:ln>
          </p:spPr>
        </p:sp>
        <p:sp>
          <p:nvSpPr>
            <p:cNvPr id="61" name="TextBox 61"/>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62" name="Ellipse 62"/>
            <p:cNvSpPr/>
            <p:nvPr/>
          </p:nvSpPr>
          <p:spPr>
            <a:xfrm>
              <a:off x="10020300" y="6372225"/>
              <a:ext cx="266700" cy="266700"/>
            </a:xfrm>
            <a:prstGeom prst="ellipse">
              <a:avLst/>
            </a:prstGeom>
            <a:solidFill>
              <a:srgbClr val="D7D8D6"/>
            </a:solidFill>
            <a:ln>
              <a:noFill/>
            </a:ln>
          </p:spPr>
        </p:sp>
        <p:sp>
          <p:nvSpPr>
            <p:cNvPr id="63" name="Freeform 63"/>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64" name="Ellipse 64"/>
            <p:cNvSpPr/>
            <p:nvPr/>
          </p:nvSpPr>
          <p:spPr>
            <a:xfrm>
              <a:off x="10420350" y="6372225"/>
              <a:ext cx="266700" cy="266700"/>
            </a:xfrm>
            <a:prstGeom prst="ellipse">
              <a:avLst/>
            </a:prstGeom>
            <a:solidFill>
              <a:srgbClr val="D7D8D6"/>
            </a:solidFill>
            <a:ln>
              <a:noFill/>
            </a:ln>
          </p:spPr>
        </p:sp>
        <p:grpSp>
          <p:nvGrpSpPr>
            <p:cNvPr id="68" name="Group 68"/>
            <p:cNvGrpSpPr/>
            <p:nvPr/>
          </p:nvGrpSpPr>
          <p:grpSpPr>
            <a:xfrm>
              <a:off x="10489406" y="6441281"/>
              <a:ext cx="128588" cy="128588"/>
              <a:chOff x="10489406" y="6441281"/>
              <a:chExt cx="128588" cy="128588"/>
            </a:xfrm>
          </p:grpSpPr>
          <p:sp>
            <p:nvSpPr>
              <p:cNvPr id="65" name="Freeform 65"/>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66" name="Freeform 66"/>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67" name="Freeform 67"/>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69" name="Ellipse 69"/>
            <p:cNvSpPr/>
            <p:nvPr/>
          </p:nvSpPr>
          <p:spPr>
            <a:xfrm>
              <a:off x="10820400" y="6372225"/>
              <a:ext cx="266700" cy="266700"/>
            </a:xfrm>
            <a:prstGeom prst="ellipse">
              <a:avLst/>
            </a:prstGeom>
            <a:solidFill>
              <a:srgbClr val="D7D8D6"/>
            </a:solidFill>
            <a:ln>
              <a:noFill/>
            </a:ln>
          </p:spPr>
        </p:sp>
        <p:sp>
          <p:nvSpPr>
            <p:cNvPr id="70" name="Freeform 70"/>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71" name="TextBox 71"/>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19</a:t>
              </a:r>
            </a:p>
          </p:txBody>
        </p:sp>
      </p:gr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20</a:t>
              </a:r>
            </a:p>
          </p:txBody>
        </p:sp>
        <p:sp>
          <p:nvSpPr>
            <p:cNvPr id="4" name="TextBox 4"/>
            <p:cNvSpPr txBox="1"/>
            <p:nvPr/>
          </p:nvSpPr>
          <p:spPr>
            <a:xfrm>
              <a:off x="942594" y="151448"/>
              <a:ext cx="46178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模型所有权</a:t>
              </a:r>
              <a:r>
                <a:rPr lang="zh-CN" sz="1950" b="1" dirty="0">
                  <a:solidFill>
                    <a:srgbClr val="1A1A1A"/>
                  </a:solidFill>
                  <a:latin typeface="+mj-lt"/>
                  <a:ea typeface="+mj-ea"/>
                  <a:cs typeface="+mj-cs"/>
                </a:rPr>
                <a:t>的采纳​</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0" name="col-1"/>
          <p:cNvGrpSpPr/>
          <p:nvPr/>
        </p:nvGrpSpPr>
        <p:grpSpPr>
          <a:xfrm>
            <a:off x="566547" y="847249"/>
            <a:ext cx="2472881" cy="1584483"/>
            <a:chOff x="566547" y="847249"/>
            <a:chExt cx="2472881" cy="1584483"/>
          </a:xfrm>
        </p:grpSpPr>
        <p:sp>
          <p:nvSpPr>
            <p:cNvPr id="7" name="TextBox 7"/>
            <p:cNvSpPr txBox="1"/>
            <p:nvPr/>
          </p:nvSpPr>
          <p:spPr>
            <a:xfrm>
              <a:off x="566547" y="847249"/>
              <a:ext cx="745732"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模型所有权​</a:t>
              </a:r>
            </a:p>
          </p:txBody>
        </p:sp>
        <p:sp>
          <p:nvSpPr>
            <p:cNvPr id="8" name="TextBox 8"/>
            <p:cNvSpPr txBox="1"/>
            <p:nvPr/>
          </p:nvSpPr>
          <p:spPr>
            <a:xfrm>
              <a:off x="566738" y="1012984"/>
              <a:ext cx="786179"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Model ownership​</a:t>
              </a:r>
            </a:p>
          </p:txBody>
        </p:sp>
        <p:sp>
          <p:nvSpPr>
            <p:cNvPr id="9" name="TextBox 9"/>
            <p:cNvSpPr txBox="1"/>
            <p:nvPr/>
          </p:nvSpPr>
          <p:spPr>
            <a:xfrm>
              <a:off x="566738" y="1169670"/>
              <a:ext cx="2472690" cy="12620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35%的银行表示，在组织内推行模型所有权​</a:t>
              </a:r>
              <a:br/>
              <a:r>
                <a:rPr lang="zh-CN" sz="900" dirty="0">
                  <a:solidFill>
                    <a:srgbClr val="333333"/>
                  </a:solidFill>
                  <a:latin typeface="+mn-lt"/>
                  <a:ea typeface="+mn-ea"/>
                  <a:cs typeface="+mn-cs"/>
                </a:rPr>
                <a:t>时，最大的挑战是让人员按模型所有者的职责​</a:t>
              </a:r>
              <a:br/>
              <a:r>
                <a:rPr lang="zh-CN" sz="900" dirty="0">
                  <a:solidFill>
                    <a:srgbClr val="333333"/>
                  </a:solidFill>
                  <a:latin typeface="+mn-lt"/>
                  <a:ea typeface="+mn-ea"/>
                  <a:cs typeface="+mn-cs"/>
                </a:rPr>
                <a:t>行动。第二大挑战（19%的银行）是让人员​​</a:t>
              </a:r>
              <a:br/>
              <a:r>
                <a:rPr lang="zh-CN" sz="900" dirty="0">
                  <a:solidFill>
                    <a:srgbClr val="333333"/>
                  </a:solidFill>
                  <a:latin typeface="+mn-lt"/>
                  <a:ea typeface="+mn-ea"/>
                  <a:cs typeface="+mn-cs"/>
                </a:rPr>
                <a:t>理解模型所有者的职责。职责与期望不明确、​</a:t>
              </a:r>
              <a:br/>
              <a:r>
                <a:rPr lang="zh-CN" sz="900" dirty="0">
                  <a:solidFill>
                    <a:srgbClr val="333333"/>
                  </a:solidFill>
                  <a:latin typeface="+mn-lt"/>
                  <a:ea typeface="+mn-ea"/>
                  <a:cs typeface="+mn-cs"/>
                </a:rPr>
                <a:t>接受职责、以及找到能担任模型所有者的人员，​</a:t>
              </a:r>
              <a:br/>
              <a:r>
                <a:rPr lang="zh-CN" sz="900" dirty="0">
                  <a:solidFill>
                    <a:srgbClr val="333333"/>
                  </a:solidFill>
                  <a:latin typeface="+mn-lt"/>
                  <a:ea typeface="+mn-ea"/>
                  <a:cs typeface="+mn-cs"/>
                </a:rPr>
                <a:t>也被列为模型所有权的核心挑战，各约占​</a:t>
              </a:r>
              <a:br/>
              <a:r>
                <a:rPr lang="zh-CN" sz="900" dirty="0">
                  <a:solidFill>
                    <a:srgbClr val="333333"/>
                  </a:solidFill>
                  <a:latin typeface="+mn-lt"/>
                  <a:ea typeface="+mn-ea"/>
                  <a:cs typeface="+mn-cs"/>
                </a:rPr>
                <a:t>10%的银行。​</a:t>
              </a:r>
            </a:p>
          </p:txBody>
        </p:sp>
      </p:grpSp>
      <p:grpSp>
        <p:nvGrpSpPr>
          <p:cNvPr id="12" name="col-2"/>
          <p:cNvGrpSpPr/>
          <p:nvPr/>
        </p:nvGrpSpPr>
        <p:grpSpPr>
          <a:xfrm>
            <a:off x="3424238" y="855345"/>
            <a:ext cx="2358390" cy="1262062"/>
            <a:chOff x="3424238" y="855345"/>
            <a:chExt cx="2358390" cy="1262062"/>
          </a:xfrm>
        </p:grpSpPr>
        <p:sp>
          <p:nvSpPr>
            <p:cNvPr id="11" name="TextBox 11"/>
            <p:cNvSpPr txBox="1"/>
            <p:nvPr/>
          </p:nvSpPr>
          <p:spPr>
            <a:xfrm>
              <a:off x="3424238" y="855345"/>
              <a:ext cx="2358390" cy="12620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采纳率最高的是金融风险模型（pillar 1资​​</a:t>
              </a:r>
              <a:br/>
              <a:r>
                <a:rPr lang="zh-CN" sz="900" dirty="0">
                  <a:solidFill>
                    <a:srgbClr val="333333"/>
                  </a:solidFill>
                  <a:latin typeface="+mn-lt"/>
                  <a:ea typeface="+mn-ea"/>
                  <a:cs typeface="+mn-cs"/>
                </a:rPr>
                <a:t>本与会计），多数银行表示该类别中所有模型​</a:t>
              </a:r>
              <a:br/>
              <a:r>
                <a:rPr lang="zh-CN" sz="900" dirty="0">
                  <a:solidFill>
                    <a:srgbClr val="333333"/>
                  </a:solidFill>
                  <a:latin typeface="+mn-lt"/>
                  <a:ea typeface="+mn-ea"/>
                  <a:cs typeface="+mn-cs"/>
                </a:rPr>
                <a:t>都采纳了模型所有者角色；其次是金融风险模​</a:t>
              </a:r>
              <a:br/>
              <a:r>
                <a:rPr lang="zh-CN" sz="900" dirty="0">
                  <a:solidFill>
                    <a:srgbClr val="333333"/>
                  </a:solidFill>
                  <a:latin typeface="+mn-lt"/>
                  <a:ea typeface="+mn-ea"/>
                  <a:cs typeface="+mn-cs"/>
                </a:rPr>
                <a:t>型（pillar 2资本与流动性）。合规和其他​​</a:t>
              </a:r>
              <a:br/>
              <a:r>
                <a:rPr lang="zh-CN" sz="900" dirty="0">
                  <a:solidFill>
                    <a:srgbClr val="333333"/>
                  </a:solidFill>
                  <a:latin typeface="+mn-lt"/>
                  <a:ea typeface="+mn-ea"/>
                  <a:cs typeface="+mn-cs"/>
                </a:rPr>
                <a:t>模型类别的采纳率最低，其中的例外是金融工​</a:t>
              </a:r>
              <a:br/>
              <a:r>
                <a:rPr lang="zh-CN" sz="900" dirty="0">
                  <a:solidFill>
                    <a:srgbClr val="333333"/>
                  </a:solidFill>
                  <a:latin typeface="+mn-lt"/>
                  <a:ea typeface="+mn-ea"/>
                  <a:cs typeface="+mn-cs"/>
                </a:rPr>
                <a:t>具估值与定价模型，其采纳水平与金融风险模​</a:t>
              </a:r>
              <a:br/>
              <a:r>
                <a:rPr lang="zh-CN" sz="900" dirty="0">
                  <a:solidFill>
                    <a:srgbClr val="333333"/>
                  </a:solidFill>
                  <a:latin typeface="+mn-lt"/>
                  <a:ea typeface="+mn-ea"/>
                  <a:cs typeface="+mn-cs"/>
                </a:rPr>
                <a:t>型（pillar 2资本与流动性）相当。​​</a:t>
              </a:r>
            </a:p>
          </p:txBody>
        </p:sp>
      </p:grpSp>
      <p:grpSp>
        <p:nvGrpSpPr>
          <p:cNvPr id="39" name="figure-19"/>
          <p:cNvGrpSpPr/>
          <p:nvPr/>
        </p:nvGrpSpPr>
        <p:grpSpPr>
          <a:xfrm>
            <a:off x="6331178" y="863441"/>
            <a:ext cx="3111184" cy="1932623"/>
            <a:chOff x="6331178" y="863441"/>
            <a:chExt cx="3111184" cy="1932623"/>
          </a:xfrm>
        </p:grpSpPr>
        <p:sp>
          <p:nvSpPr>
            <p:cNvPr id="13" name="TextBox 13"/>
            <p:cNvSpPr txBox="1"/>
            <p:nvPr/>
          </p:nvSpPr>
          <p:spPr>
            <a:xfrm>
              <a:off x="6376988" y="863441"/>
              <a:ext cx="1798093"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图19. 推行模型所有权的核心挑战​​</a:t>
              </a:r>
            </a:p>
          </p:txBody>
        </p:sp>
        <p:sp>
          <p:nvSpPr>
            <p:cNvPr id="14" name="TextBox 14"/>
            <p:cNvSpPr txBox="1"/>
            <p:nvPr/>
          </p:nvSpPr>
          <p:spPr>
            <a:xfrm>
              <a:off x="6376988" y="1011555"/>
              <a:ext cx="2112299"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Core challenges in getting model ownership adopted​​</a:t>
              </a:r>
            </a:p>
          </p:txBody>
        </p:sp>
        <p:sp>
          <p:nvSpPr>
            <p:cNvPr id="15" name="Freeform 15"/>
            <p:cNvSpPr/>
            <p:nvPr/>
          </p:nvSpPr>
          <p:spPr>
            <a:xfrm>
              <a:off x="6572250" y="1476375"/>
              <a:ext cx="1143000" cy="1143000"/>
            </a:xfrm>
            <a:prstGeom prst="blockArc">
              <a:avLst>
                <a:gd name="adj1" fmla="val 16200000"/>
                <a:gd name="adj2" fmla="val 2160000"/>
                <a:gd name="adj3" fmla="val 16667"/>
              </a:avLst>
            </a:prstGeom>
            <a:solidFill>
              <a:srgbClr val="AA1B00"/>
            </a:solidFill>
            <a:ln>
              <a:noFill/>
            </a:ln>
          </p:spPr>
        </p:sp>
        <p:sp>
          <p:nvSpPr>
            <p:cNvPr id="16" name="Freeform 16"/>
            <p:cNvSpPr/>
            <p:nvPr/>
          </p:nvSpPr>
          <p:spPr>
            <a:xfrm>
              <a:off x="6572250" y="1476375"/>
              <a:ext cx="1143000" cy="1143000"/>
            </a:xfrm>
            <a:prstGeom prst="blockArc">
              <a:avLst>
                <a:gd name="adj1" fmla="val 2160000"/>
                <a:gd name="adj2" fmla="val 6264000"/>
                <a:gd name="adj3" fmla="val 16667"/>
              </a:avLst>
            </a:prstGeom>
            <a:solidFill>
              <a:srgbClr val="D9EBC9"/>
            </a:solidFill>
            <a:ln>
              <a:noFill/>
            </a:ln>
          </p:spPr>
        </p:sp>
        <p:sp>
          <p:nvSpPr>
            <p:cNvPr id="17" name="Freeform 17"/>
            <p:cNvSpPr/>
            <p:nvPr/>
          </p:nvSpPr>
          <p:spPr>
            <a:xfrm>
              <a:off x="6572250" y="1476375"/>
              <a:ext cx="1143000" cy="1143000"/>
            </a:xfrm>
            <a:prstGeom prst="blockArc">
              <a:avLst>
                <a:gd name="adj1" fmla="val 6264000"/>
                <a:gd name="adj2" fmla="val 9288000"/>
                <a:gd name="adj3" fmla="val 16667"/>
              </a:avLst>
            </a:prstGeom>
            <a:solidFill>
              <a:srgbClr val="C35642"/>
            </a:solidFill>
            <a:ln>
              <a:noFill/>
            </a:ln>
          </p:spPr>
        </p:sp>
        <p:sp>
          <p:nvSpPr>
            <p:cNvPr id="18" name="Freeform 18"/>
            <p:cNvSpPr/>
            <p:nvPr/>
          </p:nvSpPr>
          <p:spPr>
            <a:xfrm>
              <a:off x="6572250" y="1476375"/>
              <a:ext cx="1143000" cy="1143000"/>
            </a:xfrm>
            <a:prstGeom prst="blockArc">
              <a:avLst>
                <a:gd name="adj1" fmla="val 9288000"/>
                <a:gd name="adj2" fmla="val 11664000"/>
                <a:gd name="adj3" fmla="val 16667"/>
              </a:avLst>
            </a:prstGeom>
            <a:solidFill>
              <a:srgbClr val="6B1100"/>
            </a:solidFill>
            <a:ln>
              <a:noFill/>
            </a:ln>
          </p:spPr>
        </p:sp>
        <p:sp>
          <p:nvSpPr>
            <p:cNvPr id="19" name="Freeform 19"/>
            <p:cNvSpPr/>
            <p:nvPr/>
          </p:nvSpPr>
          <p:spPr>
            <a:xfrm>
              <a:off x="6572250" y="1476375"/>
              <a:ext cx="1143000" cy="1143000"/>
            </a:xfrm>
            <a:prstGeom prst="blockArc">
              <a:avLst>
                <a:gd name="adj1" fmla="val 11664000"/>
                <a:gd name="adj2" fmla="val 14040000"/>
                <a:gd name="adj3" fmla="val 16667"/>
              </a:avLst>
            </a:prstGeom>
            <a:solidFill>
              <a:srgbClr val="4A150B"/>
            </a:solidFill>
            <a:ln>
              <a:noFill/>
            </a:ln>
          </p:spPr>
        </p:sp>
        <p:sp>
          <p:nvSpPr>
            <p:cNvPr id="20" name="Freeform 20"/>
            <p:cNvSpPr/>
            <p:nvPr/>
          </p:nvSpPr>
          <p:spPr>
            <a:xfrm>
              <a:off x="6572250" y="1476375"/>
              <a:ext cx="1143000" cy="1143000"/>
            </a:xfrm>
            <a:prstGeom prst="blockArc">
              <a:avLst>
                <a:gd name="adj1" fmla="val 14040000"/>
                <a:gd name="adj2" fmla="val 16200000"/>
                <a:gd name="adj3" fmla="val 16667"/>
              </a:avLst>
            </a:prstGeom>
            <a:solidFill>
              <a:srgbClr val="BF614F"/>
            </a:solidFill>
            <a:ln>
              <a:noFill/>
            </a:ln>
          </p:spPr>
        </p:sp>
        <p:sp>
          <p:nvSpPr>
            <p:cNvPr id="21" name="TextBox 21"/>
            <p:cNvSpPr txBox="1"/>
            <p:nvPr/>
          </p:nvSpPr>
          <p:spPr>
            <a:xfrm>
              <a:off x="7642770" y="1693069"/>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35%​</a:t>
              </a:r>
            </a:p>
          </p:txBody>
        </p:sp>
        <p:sp>
          <p:nvSpPr>
            <p:cNvPr id="22" name="TextBox 22"/>
            <p:cNvSpPr txBox="1"/>
            <p:nvPr/>
          </p:nvSpPr>
          <p:spPr>
            <a:xfrm>
              <a:off x="7258913" y="2662714"/>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19%​</a:t>
              </a:r>
            </a:p>
          </p:txBody>
        </p:sp>
        <p:sp>
          <p:nvSpPr>
            <p:cNvPr id="23" name="TextBox 23"/>
            <p:cNvSpPr txBox="1"/>
            <p:nvPr/>
          </p:nvSpPr>
          <p:spPr>
            <a:xfrm>
              <a:off x="6580733" y="254365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14%​</a:t>
              </a:r>
            </a:p>
          </p:txBody>
        </p:sp>
        <p:sp>
          <p:nvSpPr>
            <p:cNvPr id="24" name="TextBox 24"/>
            <p:cNvSpPr txBox="1"/>
            <p:nvPr/>
          </p:nvSpPr>
          <p:spPr>
            <a:xfrm>
              <a:off x="6331178" y="2074069"/>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11%​</a:t>
              </a:r>
            </a:p>
          </p:txBody>
        </p:sp>
        <p:sp>
          <p:nvSpPr>
            <p:cNvPr id="25" name="TextBox 25"/>
            <p:cNvSpPr txBox="1"/>
            <p:nvPr/>
          </p:nvSpPr>
          <p:spPr>
            <a:xfrm>
              <a:off x="6448335" y="161782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11%​</a:t>
              </a:r>
            </a:p>
          </p:txBody>
        </p:sp>
        <p:sp>
          <p:nvSpPr>
            <p:cNvPr id="26" name="TextBox 26"/>
            <p:cNvSpPr txBox="1"/>
            <p:nvPr/>
          </p:nvSpPr>
          <p:spPr>
            <a:xfrm>
              <a:off x="6808380" y="134731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10%​</a:t>
              </a:r>
            </a:p>
          </p:txBody>
        </p:sp>
        <p:sp>
          <p:nvSpPr>
            <p:cNvPr id="27" name="Rectangle 27"/>
            <p:cNvSpPr/>
            <p:nvPr/>
          </p:nvSpPr>
          <p:spPr>
            <a:xfrm>
              <a:off x="7886700" y="1238250"/>
              <a:ext cx="85725" cy="85725"/>
            </a:xfrm>
            <a:prstGeom prst="rect">
              <a:avLst/>
            </a:prstGeom>
            <a:solidFill>
              <a:srgbClr val="AA1B00"/>
            </a:solidFill>
            <a:ln>
              <a:noFill/>
            </a:ln>
          </p:spPr>
        </p:sp>
        <p:sp>
          <p:nvSpPr>
            <p:cNvPr id="28" name="TextBox 28"/>
            <p:cNvSpPr txBox="1"/>
            <p:nvPr/>
          </p:nvSpPr>
          <p:spPr>
            <a:xfrm>
              <a:off x="8015288" y="1249680"/>
              <a:ext cx="1427074"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人员在实践中按模型所有者的职责行动​</a:t>
              </a:r>
            </a:p>
          </p:txBody>
        </p:sp>
        <p:sp>
          <p:nvSpPr>
            <p:cNvPr id="29" name="Rectangle 29"/>
            <p:cNvSpPr/>
            <p:nvPr/>
          </p:nvSpPr>
          <p:spPr>
            <a:xfrm>
              <a:off x="7886700" y="1419225"/>
              <a:ext cx="85725" cy="85725"/>
            </a:xfrm>
            <a:prstGeom prst="rect">
              <a:avLst/>
            </a:prstGeom>
            <a:solidFill>
              <a:srgbClr val="D9EBC9"/>
            </a:solidFill>
            <a:ln>
              <a:noFill/>
            </a:ln>
          </p:spPr>
        </p:sp>
        <p:sp>
          <p:nvSpPr>
            <p:cNvPr id="30" name="TextBox 30"/>
            <p:cNvSpPr txBox="1"/>
            <p:nvPr/>
          </p:nvSpPr>
          <p:spPr>
            <a:xfrm>
              <a:off x="8015288" y="1430655"/>
              <a:ext cx="1023214"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人员理解模型所有者的职责​</a:t>
              </a:r>
            </a:p>
          </p:txBody>
        </p:sp>
        <p:sp>
          <p:nvSpPr>
            <p:cNvPr id="31" name="Rectangle 31"/>
            <p:cNvSpPr/>
            <p:nvPr/>
          </p:nvSpPr>
          <p:spPr>
            <a:xfrm>
              <a:off x="7886700" y="1600200"/>
              <a:ext cx="85725" cy="85725"/>
            </a:xfrm>
            <a:prstGeom prst="rect">
              <a:avLst/>
            </a:prstGeom>
            <a:solidFill>
              <a:srgbClr val="C35642"/>
            </a:solidFill>
            <a:ln>
              <a:noFill/>
            </a:ln>
          </p:spPr>
        </p:sp>
        <p:sp>
          <p:nvSpPr>
            <p:cNvPr id="32" name="TextBox 32"/>
            <p:cNvSpPr txBox="1"/>
            <p:nvPr/>
          </p:nvSpPr>
          <p:spPr>
            <a:xfrm>
              <a:off x="8015288" y="1611630"/>
              <a:ext cx="1184758"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人员接受模型所有权角色的职责​</a:t>
              </a:r>
            </a:p>
          </p:txBody>
        </p:sp>
        <p:sp>
          <p:nvSpPr>
            <p:cNvPr id="33" name="Rectangle 33"/>
            <p:cNvSpPr/>
            <p:nvPr/>
          </p:nvSpPr>
          <p:spPr>
            <a:xfrm>
              <a:off x="7886700" y="1781175"/>
              <a:ext cx="85725" cy="85725"/>
            </a:xfrm>
            <a:prstGeom prst="rect">
              <a:avLst/>
            </a:prstGeom>
            <a:solidFill>
              <a:srgbClr val="6B1100"/>
            </a:solidFill>
            <a:ln>
              <a:noFill/>
            </a:ln>
          </p:spPr>
        </p:sp>
        <p:sp>
          <p:nvSpPr>
            <p:cNvPr id="34" name="TextBox 34"/>
            <p:cNvSpPr txBox="1"/>
            <p:nvPr/>
          </p:nvSpPr>
          <p:spPr>
            <a:xfrm>
              <a:off x="8015288" y="1792605"/>
              <a:ext cx="1346302"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模型所有权角色的职责与期望不明确​</a:t>
              </a:r>
            </a:p>
          </p:txBody>
        </p:sp>
        <p:sp>
          <p:nvSpPr>
            <p:cNvPr id="35" name="Rectangle 35"/>
            <p:cNvSpPr/>
            <p:nvPr/>
          </p:nvSpPr>
          <p:spPr>
            <a:xfrm>
              <a:off x="7886700" y="1962150"/>
              <a:ext cx="85725" cy="85725"/>
            </a:xfrm>
            <a:prstGeom prst="rect">
              <a:avLst/>
            </a:prstGeom>
            <a:solidFill>
              <a:srgbClr val="4A150B"/>
            </a:solidFill>
            <a:ln>
              <a:noFill/>
            </a:ln>
          </p:spPr>
        </p:sp>
        <p:sp>
          <p:nvSpPr>
            <p:cNvPr id="36" name="TextBox 36"/>
            <p:cNvSpPr txBox="1"/>
            <p:nvPr/>
          </p:nvSpPr>
          <p:spPr>
            <a:xfrm>
              <a:off x="8015288" y="1973580"/>
              <a:ext cx="1103986"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找到能担任模型所有者的人员​</a:t>
              </a:r>
            </a:p>
          </p:txBody>
        </p:sp>
        <p:sp>
          <p:nvSpPr>
            <p:cNvPr id="37" name="Rectangle 37"/>
            <p:cNvSpPr/>
            <p:nvPr/>
          </p:nvSpPr>
          <p:spPr>
            <a:xfrm>
              <a:off x="7886700" y="2143125"/>
              <a:ext cx="85725" cy="85725"/>
            </a:xfrm>
            <a:prstGeom prst="rect">
              <a:avLst/>
            </a:prstGeom>
            <a:solidFill>
              <a:srgbClr val="BF614F"/>
            </a:solidFill>
            <a:ln>
              <a:noFill/>
            </a:ln>
          </p:spPr>
        </p:sp>
        <p:sp>
          <p:nvSpPr>
            <p:cNvPr id="38" name="TextBox 38"/>
            <p:cNvSpPr txBox="1"/>
            <p:nvPr/>
          </p:nvSpPr>
          <p:spPr>
            <a:xfrm>
              <a:off x="8015288" y="2154555"/>
              <a:ext cx="501899"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其他Other​​</a:t>
              </a:r>
            </a:p>
          </p:txBody>
        </p:sp>
      </p:grpSp>
      <p:grpSp>
        <p:nvGrpSpPr>
          <p:cNvPr id="179" name="figure-20"/>
          <p:cNvGrpSpPr/>
          <p:nvPr/>
        </p:nvGrpSpPr>
        <p:grpSpPr>
          <a:xfrm>
            <a:off x="566738" y="3282791"/>
            <a:ext cx="8863012" cy="2784872"/>
            <a:chOff x="566738" y="3282791"/>
            <a:chExt cx="8863012" cy="2784872"/>
          </a:xfrm>
        </p:grpSpPr>
        <p:sp>
          <p:nvSpPr>
            <p:cNvPr id="40" name="TextBox 40"/>
            <p:cNvSpPr txBox="1"/>
            <p:nvPr/>
          </p:nvSpPr>
          <p:spPr>
            <a:xfrm>
              <a:off x="566738" y="3282791"/>
              <a:ext cx="2901977"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图20. 各模型类型中采纳模型所有者角色的模型版图份额​​</a:t>
              </a:r>
            </a:p>
          </p:txBody>
        </p:sp>
        <p:sp>
          <p:nvSpPr>
            <p:cNvPr id="41" name="TextBox 41"/>
            <p:cNvSpPr txBox="1"/>
            <p:nvPr/>
          </p:nvSpPr>
          <p:spPr>
            <a:xfrm>
              <a:off x="566738" y="3426857"/>
              <a:ext cx="4298859"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Share of the model landscape for which the model owner role is adopted for each of the model types​​</a:t>
              </a:r>
            </a:p>
          </p:txBody>
        </p:sp>
        <p:sp>
          <p:nvSpPr>
            <p:cNvPr id="42" name="Line 42"/>
            <p:cNvSpPr/>
            <p:nvPr/>
          </p:nvSpPr>
          <p:spPr>
            <a:xfrm>
              <a:off x="952500" y="5172075"/>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43" name="TextBox 43"/>
            <p:cNvSpPr txBox="1"/>
            <p:nvPr/>
          </p:nvSpPr>
          <p:spPr>
            <a:xfrm>
              <a:off x="760646" y="5144691"/>
              <a:ext cx="148991"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0%​</a:t>
              </a:r>
            </a:p>
          </p:txBody>
        </p:sp>
        <p:sp>
          <p:nvSpPr>
            <p:cNvPr id="44" name="Line 44"/>
            <p:cNvSpPr/>
            <p:nvPr/>
          </p:nvSpPr>
          <p:spPr>
            <a:xfrm>
              <a:off x="952500" y="4814888"/>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45" name="TextBox 45"/>
            <p:cNvSpPr txBox="1"/>
            <p:nvPr/>
          </p:nvSpPr>
          <p:spPr>
            <a:xfrm>
              <a:off x="719183" y="4787503"/>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25%​</a:t>
              </a:r>
            </a:p>
          </p:txBody>
        </p:sp>
        <p:sp>
          <p:nvSpPr>
            <p:cNvPr id="46" name="Line 46"/>
            <p:cNvSpPr/>
            <p:nvPr/>
          </p:nvSpPr>
          <p:spPr>
            <a:xfrm>
              <a:off x="952500" y="445770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47" name="TextBox 47"/>
            <p:cNvSpPr txBox="1"/>
            <p:nvPr/>
          </p:nvSpPr>
          <p:spPr>
            <a:xfrm>
              <a:off x="719183" y="443031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50%​</a:t>
              </a:r>
            </a:p>
          </p:txBody>
        </p:sp>
        <p:sp>
          <p:nvSpPr>
            <p:cNvPr id="48" name="Line 48"/>
            <p:cNvSpPr/>
            <p:nvPr/>
          </p:nvSpPr>
          <p:spPr>
            <a:xfrm>
              <a:off x="952500" y="4100512"/>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49" name="TextBox 49"/>
            <p:cNvSpPr txBox="1"/>
            <p:nvPr/>
          </p:nvSpPr>
          <p:spPr>
            <a:xfrm>
              <a:off x="719183" y="4073128"/>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75%​</a:t>
              </a:r>
            </a:p>
          </p:txBody>
        </p:sp>
        <p:sp>
          <p:nvSpPr>
            <p:cNvPr id="50" name="Line 50"/>
            <p:cNvSpPr/>
            <p:nvPr/>
          </p:nvSpPr>
          <p:spPr>
            <a:xfrm>
              <a:off x="952500" y="3743325"/>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51" name="TextBox 51"/>
            <p:cNvSpPr txBox="1"/>
            <p:nvPr/>
          </p:nvSpPr>
          <p:spPr>
            <a:xfrm>
              <a:off x="677720" y="3715941"/>
              <a:ext cx="231917"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100%​</a:t>
              </a:r>
            </a:p>
          </p:txBody>
        </p:sp>
        <p:sp>
          <p:nvSpPr>
            <p:cNvPr id="52" name="Rectangle 52"/>
            <p:cNvSpPr/>
            <p:nvPr/>
          </p:nvSpPr>
          <p:spPr>
            <a:xfrm>
              <a:off x="1051560" y="4171950"/>
              <a:ext cx="247650" cy="1000125"/>
            </a:xfrm>
            <a:prstGeom prst="rect">
              <a:avLst/>
            </a:prstGeom>
            <a:solidFill>
              <a:srgbClr val="C35642"/>
            </a:solidFill>
            <a:ln>
              <a:noFill/>
            </a:ln>
          </p:spPr>
        </p:sp>
        <p:sp>
          <p:nvSpPr>
            <p:cNvPr id="53" name="Rectangle 53"/>
            <p:cNvSpPr/>
            <p:nvPr/>
          </p:nvSpPr>
          <p:spPr>
            <a:xfrm>
              <a:off x="1051560" y="3957638"/>
              <a:ext cx="247650" cy="214312"/>
            </a:xfrm>
            <a:prstGeom prst="rect">
              <a:avLst/>
            </a:prstGeom>
            <a:solidFill>
              <a:srgbClr val="D9EBC9"/>
            </a:solidFill>
            <a:ln>
              <a:noFill/>
            </a:ln>
          </p:spPr>
        </p:sp>
        <p:sp>
          <p:nvSpPr>
            <p:cNvPr id="54" name="Rectangle 54"/>
            <p:cNvSpPr/>
            <p:nvPr/>
          </p:nvSpPr>
          <p:spPr>
            <a:xfrm>
              <a:off x="1051560" y="3929062"/>
              <a:ext cx="247650" cy="28575"/>
            </a:xfrm>
            <a:prstGeom prst="rect">
              <a:avLst/>
            </a:prstGeom>
            <a:solidFill>
              <a:srgbClr val="6B1100"/>
            </a:solidFill>
            <a:ln>
              <a:noFill/>
            </a:ln>
          </p:spPr>
        </p:sp>
        <p:sp>
          <p:nvSpPr>
            <p:cNvPr id="55" name="Rectangle 55"/>
            <p:cNvSpPr/>
            <p:nvPr/>
          </p:nvSpPr>
          <p:spPr>
            <a:xfrm>
              <a:off x="1051560" y="3743325"/>
              <a:ext cx="247650" cy="185738"/>
            </a:xfrm>
            <a:prstGeom prst="rect">
              <a:avLst/>
            </a:prstGeom>
            <a:solidFill>
              <a:srgbClr val="AA1B00"/>
            </a:solidFill>
            <a:ln>
              <a:noFill/>
            </a:ln>
          </p:spPr>
        </p:sp>
        <p:sp>
          <p:nvSpPr>
            <p:cNvPr id="56" name="TextBox 56"/>
            <p:cNvSpPr txBox="1"/>
            <p:nvPr/>
          </p:nvSpPr>
          <p:spPr>
            <a:xfrm>
              <a:off x="1008825" y="5216128"/>
              <a:ext cx="333121"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信用风险​</a:t>
              </a:r>
              <a:br/>
              <a:r>
                <a:rPr lang="zh-CN" sz="560" dirty="0">
                  <a:solidFill>
                    <a:srgbClr val="666666"/>
                  </a:solidFill>
                  <a:latin typeface="+mn-lt"/>
                  <a:ea typeface="+mn-ea"/>
                  <a:cs typeface="+mn-cs"/>
                </a:rPr>
                <a:t>资本计算​</a:t>
              </a:r>
            </a:p>
          </p:txBody>
        </p:sp>
        <p:sp>
          <p:nvSpPr>
            <p:cNvPr id="57" name="Rectangle 57"/>
            <p:cNvSpPr/>
            <p:nvPr/>
          </p:nvSpPr>
          <p:spPr>
            <a:xfrm>
              <a:off x="1498282" y="4271962"/>
              <a:ext cx="247650" cy="900112"/>
            </a:xfrm>
            <a:prstGeom prst="rect">
              <a:avLst/>
            </a:prstGeom>
            <a:solidFill>
              <a:srgbClr val="C35642"/>
            </a:solidFill>
            <a:ln>
              <a:noFill/>
            </a:ln>
          </p:spPr>
        </p:sp>
        <p:sp>
          <p:nvSpPr>
            <p:cNvPr id="58" name="Rectangle 58"/>
            <p:cNvSpPr/>
            <p:nvPr/>
          </p:nvSpPr>
          <p:spPr>
            <a:xfrm>
              <a:off x="1498282" y="4029075"/>
              <a:ext cx="247650" cy="242888"/>
            </a:xfrm>
            <a:prstGeom prst="rect">
              <a:avLst/>
            </a:prstGeom>
            <a:solidFill>
              <a:srgbClr val="D9EBC9"/>
            </a:solidFill>
            <a:ln>
              <a:noFill/>
            </a:ln>
          </p:spPr>
        </p:sp>
        <p:sp>
          <p:nvSpPr>
            <p:cNvPr id="59" name="Rectangle 59"/>
            <p:cNvSpPr/>
            <p:nvPr/>
          </p:nvSpPr>
          <p:spPr>
            <a:xfrm>
              <a:off x="1498282" y="3957638"/>
              <a:ext cx="247650" cy="71438"/>
            </a:xfrm>
            <a:prstGeom prst="rect">
              <a:avLst/>
            </a:prstGeom>
            <a:solidFill>
              <a:srgbClr val="6B1100"/>
            </a:solidFill>
            <a:ln>
              <a:noFill/>
            </a:ln>
          </p:spPr>
        </p:sp>
        <p:sp>
          <p:nvSpPr>
            <p:cNvPr id="60" name="Rectangle 60"/>
            <p:cNvSpPr/>
            <p:nvPr/>
          </p:nvSpPr>
          <p:spPr>
            <a:xfrm>
              <a:off x="1498282" y="3743325"/>
              <a:ext cx="247650" cy="214312"/>
            </a:xfrm>
            <a:prstGeom prst="rect">
              <a:avLst/>
            </a:prstGeom>
            <a:solidFill>
              <a:srgbClr val="AA1B00"/>
            </a:solidFill>
            <a:ln>
              <a:noFill/>
            </a:ln>
          </p:spPr>
        </p:sp>
        <p:sp>
          <p:nvSpPr>
            <p:cNvPr id="61" name="TextBox 61"/>
            <p:cNvSpPr txBox="1"/>
            <p:nvPr/>
          </p:nvSpPr>
          <p:spPr>
            <a:xfrm>
              <a:off x="1455547" y="5216128"/>
              <a:ext cx="333121"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信用风险​</a:t>
              </a:r>
              <a:br/>
              <a:r>
                <a:rPr lang="zh-CN" sz="560" dirty="0">
                  <a:solidFill>
                    <a:srgbClr val="666666"/>
                  </a:solidFill>
                  <a:latin typeface="+mn-lt"/>
                  <a:ea typeface="+mn-ea"/>
                  <a:cs typeface="+mn-cs"/>
                </a:rPr>
                <a:t>拨备计提​</a:t>
              </a:r>
            </a:p>
          </p:txBody>
        </p:sp>
        <p:sp>
          <p:nvSpPr>
            <p:cNvPr id="62" name="Rectangle 62"/>
            <p:cNvSpPr/>
            <p:nvPr/>
          </p:nvSpPr>
          <p:spPr>
            <a:xfrm>
              <a:off x="1944052" y="4386262"/>
              <a:ext cx="247650" cy="785812"/>
            </a:xfrm>
            <a:prstGeom prst="rect">
              <a:avLst/>
            </a:prstGeom>
            <a:solidFill>
              <a:srgbClr val="C35642"/>
            </a:solidFill>
            <a:ln>
              <a:noFill/>
            </a:ln>
          </p:spPr>
        </p:sp>
        <p:sp>
          <p:nvSpPr>
            <p:cNvPr id="63" name="Rectangle 63"/>
            <p:cNvSpPr/>
            <p:nvPr/>
          </p:nvSpPr>
          <p:spPr>
            <a:xfrm>
              <a:off x="1944052" y="4100512"/>
              <a:ext cx="247650" cy="285750"/>
            </a:xfrm>
            <a:prstGeom prst="rect">
              <a:avLst/>
            </a:prstGeom>
            <a:solidFill>
              <a:srgbClr val="D9EBC9"/>
            </a:solidFill>
            <a:ln>
              <a:noFill/>
            </a:ln>
          </p:spPr>
        </p:sp>
        <p:sp>
          <p:nvSpPr>
            <p:cNvPr id="64" name="Rectangle 64"/>
            <p:cNvSpPr/>
            <p:nvPr/>
          </p:nvSpPr>
          <p:spPr>
            <a:xfrm>
              <a:off x="1944052" y="3957638"/>
              <a:ext cx="247650" cy="142875"/>
            </a:xfrm>
            <a:prstGeom prst="rect">
              <a:avLst/>
            </a:prstGeom>
            <a:solidFill>
              <a:srgbClr val="6B1100"/>
            </a:solidFill>
            <a:ln>
              <a:noFill/>
            </a:ln>
          </p:spPr>
        </p:sp>
        <p:sp>
          <p:nvSpPr>
            <p:cNvPr id="65" name="Rectangle 65"/>
            <p:cNvSpPr/>
            <p:nvPr/>
          </p:nvSpPr>
          <p:spPr>
            <a:xfrm>
              <a:off x="1944052" y="3743325"/>
              <a:ext cx="247650" cy="214312"/>
            </a:xfrm>
            <a:prstGeom prst="rect">
              <a:avLst/>
            </a:prstGeom>
            <a:solidFill>
              <a:srgbClr val="AA1B00"/>
            </a:solidFill>
            <a:ln>
              <a:noFill/>
            </a:ln>
          </p:spPr>
        </p:sp>
        <p:sp>
          <p:nvSpPr>
            <p:cNvPr id="66" name="TextBox 66"/>
            <p:cNvSpPr txBox="1"/>
            <p:nvPr/>
          </p:nvSpPr>
          <p:spPr>
            <a:xfrm>
              <a:off x="1865757" y="5216128"/>
              <a:ext cx="404241" cy="292894"/>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风险管理与​</a:t>
              </a:r>
              <a:br/>
              <a:r>
                <a:rPr lang="zh-CN" sz="560" dirty="0">
                  <a:solidFill>
                    <a:srgbClr val="666666"/>
                  </a:solidFill>
                  <a:latin typeface="+mn-lt"/>
                  <a:ea typeface="+mn-ea"/>
                  <a:cs typeface="+mn-cs"/>
                </a:rPr>
                <a:t>运营流程​</a:t>
              </a:r>
              <a:br/>
              <a:r>
                <a:rPr lang="zh-CN" sz="560" dirty="0">
                  <a:solidFill>
                    <a:srgbClr val="666666"/>
                  </a:solidFill>
                  <a:latin typeface="+mn-lt"/>
                  <a:ea typeface="+mn-ea"/>
                  <a:cs typeface="+mn-cs"/>
                </a:rPr>
                <a:t>(评分卡)​​</a:t>
              </a:r>
            </a:p>
          </p:txBody>
        </p:sp>
        <p:sp>
          <p:nvSpPr>
            <p:cNvPr id="67" name="Rectangle 67"/>
            <p:cNvSpPr/>
            <p:nvPr/>
          </p:nvSpPr>
          <p:spPr>
            <a:xfrm>
              <a:off x="2389822" y="4229100"/>
              <a:ext cx="247650" cy="942975"/>
            </a:xfrm>
            <a:prstGeom prst="rect">
              <a:avLst/>
            </a:prstGeom>
            <a:solidFill>
              <a:srgbClr val="C35642"/>
            </a:solidFill>
            <a:ln>
              <a:noFill/>
            </a:ln>
          </p:spPr>
        </p:sp>
        <p:sp>
          <p:nvSpPr>
            <p:cNvPr id="68" name="Rectangle 68"/>
            <p:cNvSpPr/>
            <p:nvPr/>
          </p:nvSpPr>
          <p:spPr>
            <a:xfrm>
              <a:off x="2389822" y="4057650"/>
              <a:ext cx="247650" cy="171450"/>
            </a:xfrm>
            <a:prstGeom prst="rect">
              <a:avLst/>
            </a:prstGeom>
            <a:solidFill>
              <a:srgbClr val="D9EBC9"/>
            </a:solidFill>
            <a:ln>
              <a:noFill/>
            </a:ln>
          </p:spPr>
        </p:sp>
        <p:sp>
          <p:nvSpPr>
            <p:cNvPr id="69" name="Rectangle 69"/>
            <p:cNvSpPr/>
            <p:nvPr/>
          </p:nvSpPr>
          <p:spPr>
            <a:xfrm>
              <a:off x="2389822" y="3986212"/>
              <a:ext cx="247650" cy="71438"/>
            </a:xfrm>
            <a:prstGeom prst="rect">
              <a:avLst/>
            </a:prstGeom>
            <a:solidFill>
              <a:srgbClr val="6B1100"/>
            </a:solidFill>
            <a:ln>
              <a:noFill/>
            </a:ln>
          </p:spPr>
        </p:sp>
        <p:sp>
          <p:nvSpPr>
            <p:cNvPr id="70" name="Rectangle 70"/>
            <p:cNvSpPr/>
            <p:nvPr/>
          </p:nvSpPr>
          <p:spPr>
            <a:xfrm>
              <a:off x="2389822" y="3743325"/>
              <a:ext cx="247650" cy="242888"/>
            </a:xfrm>
            <a:prstGeom prst="rect">
              <a:avLst/>
            </a:prstGeom>
            <a:solidFill>
              <a:srgbClr val="AA1B00"/>
            </a:solidFill>
            <a:ln>
              <a:noFill/>
            </a:ln>
          </p:spPr>
        </p:sp>
        <p:sp>
          <p:nvSpPr>
            <p:cNvPr id="71" name="TextBox 71"/>
            <p:cNvSpPr txBox="1"/>
            <p:nvPr/>
          </p:nvSpPr>
          <p:spPr>
            <a:xfrm>
              <a:off x="2347087" y="5216128"/>
              <a:ext cx="333121"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市场风险​</a:t>
              </a:r>
              <a:br/>
              <a:r>
                <a:rPr lang="zh-CN" sz="560" dirty="0">
                  <a:solidFill>
                    <a:srgbClr val="666666"/>
                  </a:solidFill>
                  <a:latin typeface="+mn-lt"/>
                  <a:ea typeface="+mn-ea"/>
                  <a:cs typeface="+mn-cs"/>
                </a:rPr>
                <a:t>资本计算​</a:t>
              </a:r>
            </a:p>
          </p:txBody>
        </p:sp>
        <p:sp>
          <p:nvSpPr>
            <p:cNvPr id="72" name="Rectangle 72"/>
            <p:cNvSpPr/>
            <p:nvPr/>
          </p:nvSpPr>
          <p:spPr>
            <a:xfrm>
              <a:off x="2836545" y="4314825"/>
              <a:ext cx="247650" cy="857250"/>
            </a:xfrm>
            <a:prstGeom prst="rect">
              <a:avLst/>
            </a:prstGeom>
            <a:solidFill>
              <a:srgbClr val="C35642"/>
            </a:solidFill>
            <a:ln>
              <a:noFill/>
            </a:ln>
          </p:spPr>
        </p:sp>
        <p:sp>
          <p:nvSpPr>
            <p:cNvPr id="73" name="Rectangle 73"/>
            <p:cNvSpPr/>
            <p:nvPr/>
          </p:nvSpPr>
          <p:spPr>
            <a:xfrm>
              <a:off x="2836545" y="4057650"/>
              <a:ext cx="247650" cy="257175"/>
            </a:xfrm>
            <a:prstGeom prst="rect">
              <a:avLst/>
            </a:prstGeom>
            <a:solidFill>
              <a:srgbClr val="D9EBC9"/>
            </a:solidFill>
            <a:ln>
              <a:noFill/>
            </a:ln>
          </p:spPr>
        </p:sp>
        <p:sp>
          <p:nvSpPr>
            <p:cNvPr id="74" name="Rectangle 74"/>
            <p:cNvSpPr/>
            <p:nvPr/>
          </p:nvSpPr>
          <p:spPr>
            <a:xfrm>
              <a:off x="2836545" y="3986212"/>
              <a:ext cx="247650" cy="71438"/>
            </a:xfrm>
            <a:prstGeom prst="rect">
              <a:avLst/>
            </a:prstGeom>
            <a:solidFill>
              <a:srgbClr val="6B1100"/>
            </a:solidFill>
            <a:ln>
              <a:noFill/>
            </a:ln>
          </p:spPr>
        </p:sp>
        <p:sp>
          <p:nvSpPr>
            <p:cNvPr id="75" name="Rectangle 75"/>
            <p:cNvSpPr/>
            <p:nvPr/>
          </p:nvSpPr>
          <p:spPr>
            <a:xfrm>
              <a:off x="2836545" y="3743325"/>
              <a:ext cx="247650" cy="242888"/>
            </a:xfrm>
            <a:prstGeom prst="rect">
              <a:avLst/>
            </a:prstGeom>
            <a:solidFill>
              <a:srgbClr val="AA1B00"/>
            </a:solidFill>
            <a:ln>
              <a:noFill/>
            </a:ln>
          </p:spPr>
        </p:sp>
        <p:sp>
          <p:nvSpPr>
            <p:cNvPr id="76" name="TextBox 76"/>
            <p:cNvSpPr txBox="1"/>
            <p:nvPr/>
          </p:nvSpPr>
          <p:spPr>
            <a:xfrm>
              <a:off x="2793810" y="5216128"/>
              <a:ext cx="333121"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市场风险​</a:t>
              </a:r>
              <a:br/>
              <a:r>
                <a:rPr lang="zh-CN" sz="560" dirty="0">
                  <a:solidFill>
                    <a:srgbClr val="666666"/>
                  </a:solidFill>
                  <a:latin typeface="+mn-lt"/>
                  <a:ea typeface="+mn-ea"/>
                  <a:cs typeface="+mn-cs"/>
                </a:rPr>
                <a:t>管理​</a:t>
              </a:r>
            </a:p>
          </p:txBody>
        </p:sp>
        <p:sp>
          <p:nvSpPr>
            <p:cNvPr id="77" name="Rectangle 77"/>
            <p:cNvSpPr/>
            <p:nvPr/>
          </p:nvSpPr>
          <p:spPr>
            <a:xfrm>
              <a:off x="3282315" y="4314825"/>
              <a:ext cx="247650" cy="857250"/>
            </a:xfrm>
            <a:prstGeom prst="rect">
              <a:avLst/>
            </a:prstGeom>
            <a:solidFill>
              <a:srgbClr val="C35642"/>
            </a:solidFill>
            <a:ln>
              <a:noFill/>
            </a:ln>
          </p:spPr>
        </p:sp>
        <p:sp>
          <p:nvSpPr>
            <p:cNvPr id="78" name="Rectangle 78"/>
            <p:cNvSpPr/>
            <p:nvPr/>
          </p:nvSpPr>
          <p:spPr>
            <a:xfrm>
              <a:off x="3282315" y="4143375"/>
              <a:ext cx="247650" cy="171450"/>
            </a:xfrm>
            <a:prstGeom prst="rect">
              <a:avLst/>
            </a:prstGeom>
            <a:solidFill>
              <a:srgbClr val="D9EBC9"/>
            </a:solidFill>
            <a:ln>
              <a:noFill/>
            </a:ln>
          </p:spPr>
        </p:sp>
        <p:sp>
          <p:nvSpPr>
            <p:cNvPr id="79" name="Rectangle 79"/>
            <p:cNvSpPr/>
            <p:nvPr/>
          </p:nvSpPr>
          <p:spPr>
            <a:xfrm>
              <a:off x="3282315" y="4029075"/>
              <a:ext cx="247650" cy="114300"/>
            </a:xfrm>
            <a:prstGeom prst="rect">
              <a:avLst/>
            </a:prstGeom>
            <a:solidFill>
              <a:srgbClr val="6B1100"/>
            </a:solidFill>
            <a:ln>
              <a:noFill/>
            </a:ln>
          </p:spPr>
        </p:sp>
        <p:sp>
          <p:nvSpPr>
            <p:cNvPr id="80" name="Rectangle 80"/>
            <p:cNvSpPr/>
            <p:nvPr/>
          </p:nvSpPr>
          <p:spPr>
            <a:xfrm>
              <a:off x="3282315" y="3743325"/>
              <a:ext cx="247650" cy="285750"/>
            </a:xfrm>
            <a:prstGeom prst="rect">
              <a:avLst/>
            </a:prstGeom>
            <a:solidFill>
              <a:srgbClr val="AA1B00"/>
            </a:solidFill>
            <a:ln>
              <a:noFill/>
            </a:ln>
          </p:spPr>
        </p:sp>
        <p:sp>
          <p:nvSpPr>
            <p:cNvPr id="81" name="TextBox 81"/>
            <p:cNvSpPr txBox="1"/>
            <p:nvPr/>
          </p:nvSpPr>
          <p:spPr>
            <a:xfrm>
              <a:off x="3275140" y="5216128"/>
              <a:ext cx="262001"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流动性​</a:t>
              </a:r>
              <a:br/>
              <a:r>
                <a:rPr lang="zh-CN" sz="560" dirty="0">
                  <a:solidFill>
                    <a:srgbClr val="666666"/>
                  </a:solidFill>
                  <a:latin typeface="+mn-lt"/>
                  <a:ea typeface="+mn-ea"/>
                  <a:cs typeface="+mn-cs"/>
                </a:rPr>
                <a:t>风险​</a:t>
              </a:r>
            </a:p>
          </p:txBody>
        </p:sp>
        <p:sp>
          <p:nvSpPr>
            <p:cNvPr id="82" name="Rectangle 82"/>
            <p:cNvSpPr/>
            <p:nvPr/>
          </p:nvSpPr>
          <p:spPr>
            <a:xfrm>
              <a:off x="3729038" y="4357688"/>
              <a:ext cx="247650" cy="814388"/>
            </a:xfrm>
            <a:prstGeom prst="rect">
              <a:avLst/>
            </a:prstGeom>
            <a:solidFill>
              <a:srgbClr val="C35642"/>
            </a:solidFill>
            <a:ln>
              <a:noFill/>
            </a:ln>
          </p:spPr>
        </p:sp>
        <p:sp>
          <p:nvSpPr>
            <p:cNvPr id="83" name="Rectangle 83"/>
            <p:cNvSpPr/>
            <p:nvPr/>
          </p:nvSpPr>
          <p:spPr>
            <a:xfrm>
              <a:off x="3729038" y="4143375"/>
              <a:ext cx="247650" cy="214312"/>
            </a:xfrm>
            <a:prstGeom prst="rect">
              <a:avLst/>
            </a:prstGeom>
            <a:solidFill>
              <a:srgbClr val="D9EBC9"/>
            </a:solidFill>
            <a:ln>
              <a:noFill/>
            </a:ln>
          </p:spPr>
        </p:sp>
        <p:sp>
          <p:nvSpPr>
            <p:cNvPr id="84" name="Rectangle 84"/>
            <p:cNvSpPr/>
            <p:nvPr/>
          </p:nvSpPr>
          <p:spPr>
            <a:xfrm>
              <a:off x="3729038" y="4029075"/>
              <a:ext cx="247650" cy="114300"/>
            </a:xfrm>
            <a:prstGeom prst="rect">
              <a:avLst/>
            </a:prstGeom>
            <a:solidFill>
              <a:srgbClr val="6B1100"/>
            </a:solidFill>
            <a:ln>
              <a:noFill/>
            </a:ln>
          </p:spPr>
        </p:sp>
        <p:sp>
          <p:nvSpPr>
            <p:cNvPr id="85" name="Rectangle 85"/>
            <p:cNvSpPr/>
            <p:nvPr/>
          </p:nvSpPr>
          <p:spPr>
            <a:xfrm>
              <a:off x="3729038" y="3743325"/>
              <a:ext cx="247650" cy="285750"/>
            </a:xfrm>
            <a:prstGeom prst="rect">
              <a:avLst/>
            </a:prstGeom>
            <a:solidFill>
              <a:srgbClr val="AA1B00"/>
            </a:solidFill>
            <a:ln>
              <a:noFill/>
            </a:ln>
          </p:spPr>
        </p:sp>
        <p:sp>
          <p:nvSpPr>
            <p:cNvPr id="86" name="TextBox 86"/>
            <p:cNvSpPr txBox="1"/>
            <p:nvPr/>
          </p:nvSpPr>
          <p:spPr>
            <a:xfrm>
              <a:off x="3676594" y="52161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操作风险​</a:t>
              </a:r>
            </a:p>
          </p:txBody>
        </p:sp>
        <p:sp>
          <p:nvSpPr>
            <p:cNvPr id="87" name="Rectangle 87"/>
            <p:cNvSpPr/>
            <p:nvPr/>
          </p:nvSpPr>
          <p:spPr>
            <a:xfrm>
              <a:off x="4174808" y="4514850"/>
              <a:ext cx="247650" cy="657225"/>
            </a:xfrm>
            <a:prstGeom prst="rect">
              <a:avLst/>
            </a:prstGeom>
            <a:solidFill>
              <a:srgbClr val="C35642"/>
            </a:solidFill>
            <a:ln>
              <a:noFill/>
            </a:ln>
          </p:spPr>
        </p:sp>
        <p:sp>
          <p:nvSpPr>
            <p:cNvPr id="88" name="Rectangle 88"/>
            <p:cNvSpPr/>
            <p:nvPr/>
          </p:nvSpPr>
          <p:spPr>
            <a:xfrm>
              <a:off x="4174808" y="4200525"/>
              <a:ext cx="247650" cy="314325"/>
            </a:xfrm>
            <a:prstGeom prst="rect">
              <a:avLst/>
            </a:prstGeom>
            <a:solidFill>
              <a:srgbClr val="D9EBC9"/>
            </a:solidFill>
            <a:ln>
              <a:noFill/>
            </a:ln>
          </p:spPr>
        </p:sp>
        <p:sp>
          <p:nvSpPr>
            <p:cNvPr id="89" name="Rectangle 89"/>
            <p:cNvSpPr/>
            <p:nvPr/>
          </p:nvSpPr>
          <p:spPr>
            <a:xfrm>
              <a:off x="4174808" y="4057650"/>
              <a:ext cx="247650" cy="142875"/>
            </a:xfrm>
            <a:prstGeom prst="rect">
              <a:avLst/>
            </a:prstGeom>
            <a:solidFill>
              <a:srgbClr val="6B1100"/>
            </a:solidFill>
            <a:ln>
              <a:noFill/>
            </a:ln>
          </p:spPr>
        </p:sp>
        <p:sp>
          <p:nvSpPr>
            <p:cNvPr id="90" name="Rectangle 90"/>
            <p:cNvSpPr/>
            <p:nvPr/>
          </p:nvSpPr>
          <p:spPr>
            <a:xfrm>
              <a:off x="4174808" y="3743325"/>
              <a:ext cx="247650" cy="314325"/>
            </a:xfrm>
            <a:prstGeom prst="rect">
              <a:avLst/>
            </a:prstGeom>
            <a:solidFill>
              <a:srgbClr val="AA1B00"/>
            </a:solidFill>
            <a:ln>
              <a:noFill/>
            </a:ln>
          </p:spPr>
        </p:sp>
        <p:sp>
          <p:nvSpPr>
            <p:cNvPr id="91" name="TextBox 91"/>
            <p:cNvSpPr txBox="1"/>
            <p:nvPr/>
          </p:nvSpPr>
          <p:spPr>
            <a:xfrm>
              <a:off x="4037838" y="5216128"/>
              <a:ext cx="521589"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信用决策​</a:t>
              </a:r>
              <a:br/>
              <a:r>
                <a:rPr lang="zh-CN" sz="560" dirty="0">
                  <a:solidFill>
                    <a:srgbClr val="666666"/>
                  </a:solidFill>
                  <a:latin typeface="+mn-lt"/>
                  <a:ea typeface="+mn-ea"/>
                  <a:cs typeface="+mn-cs"/>
                </a:rPr>
                <a:t>(如信用审批)​​</a:t>
              </a:r>
            </a:p>
          </p:txBody>
        </p:sp>
        <p:sp>
          <p:nvSpPr>
            <p:cNvPr id="92" name="Rectangle 92"/>
            <p:cNvSpPr/>
            <p:nvPr/>
          </p:nvSpPr>
          <p:spPr>
            <a:xfrm>
              <a:off x="4621530" y="4371975"/>
              <a:ext cx="247650" cy="800100"/>
            </a:xfrm>
            <a:prstGeom prst="rect">
              <a:avLst/>
            </a:prstGeom>
            <a:solidFill>
              <a:srgbClr val="C35642"/>
            </a:solidFill>
            <a:ln>
              <a:noFill/>
            </a:ln>
          </p:spPr>
        </p:sp>
        <p:sp>
          <p:nvSpPr>
            <p:cNvPr id="93" name="Rectangle 93"/>
            <p:cNvSpPr/>
            <p:nvPr/>
          </p:nvSpPr>
          <p:spPr>
            <a:xfrm>
              <a:off x="4621530" y="4143375"/>
              <a:ext cx="247650" cy="228600"/>
            </a:xfrm>
            <a:prstGeom prst="rect">
              <a:avLst/>
            </a:prstGeom>
            <a:solidFill>
              <a:srgbClr val="D9EBC9"/>
            </a:solidFill>
            <a:ln>
              <a:noFill/>
            </a:ln>
          </p:spPr>
        </p:sp>
        <p:sp>
          <p:nvSpPr>
            <p:cNvPr id="94" name="Rectangle 94"/>
            <p:cNvSpPr/>
            <p:nvPr/>
          </p:nvSpPr>
          <p:spPr>
            <a:xfrm>
              <a:off x="4621530" y="4029075"/>
              <a:ext cx="247650" cy="114300"/>
            </a:xfrm>
            <a:prstGeom prst="rect">
              <a:avLst/>
            </a:prstGeom>
            <a:solidFill>
              <a:srgbClr val="6B1100"/>
            </a:solidFill>
            <a:ln>
              <a:noFill/>
            </a:ln>
          </p:spPr>
        </p:sp>
        <p:sp>
          <p:nvSpPr>
            <p:cNvPr id="95" name="Rectangle 95"/>
            <p:cNvSpPr/>
            <p:nvPr/>
          </p:nvSpPr>
          <p:spPr>
            <a:xfrm>
              <a:off x="4621530" y="3743325"/>
              <a:ext cx="247650" cy="285750"/>
            </a:xfrm>
            <a:prstGeom prst="rect">
              <a:avLst/>
            </a:prstGeom>
            <a:solidFill>
              <a:srgbClr val="AA1B00"/>
            </a:solidFill>
            <a:ln>
              <a:noFill/>
            </a:ln>
          </p:spPr>
        </p:sp>
        <p:sp>
          <p:nvSpPr>
            <p:cNvPr id="96" name="TextBox 96"/>
            <p:cNvSpPr txBox="1"/>
            <p:nvPr/>
          </p:nvSpPr>
          <p:spPr>
            <a:xfrm>
              <a:off x="4569087" y="52161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经济资本​</a:t>
              </a:r>
            </a:p>
          </p:txBody>
        </p:sp>
        <p:sp>
          <p:nvSpPr>
            <p:cNvPr id="97" name="Rectangle 97"/>
            <p:cNvSpPr/>
            <p:nvPr/>
          </p:nvSpPr>
          <p:spPr>
            <a:xfrm>
              <a:off x="5067300" y="4414838"/>
              <a:ext cx="247650" cy="757238"/>
            </a:xfrm>
            <a:prstGeom prst="rect">
              <a:avLst/>
            </a:prstGeom>
            <a:solidFill>
              <a:srgbClr val="C35642"/>
            </a:solidFill>
            <a:ln>
              <a:noFill/>
            </a:ln>
          </p:spPr>
        </p:sp>
        <p:sp>
          <p:nvSpPr>
            <p:cNvPr id="98" name="Rectangle 98"/>
            <p:cNvSpPr/>
            <p:nvPr/>
          </p:nvSpPr>
          <p:spPr>
            <a:xfrm>
              <a:off x="5067300" y="4200525"/>
              <a:ext cx="247650" cy="214312"/>
            </a:xfrm>
            <a:prstGeom prst="rect">
              <a:avLst/>
            </a:prstGeom>
            <a:solidFill>
              <a:srgbClr val="D9EBC9"/>
            </a:solidFill>
            <a:ln>
              <a:noFill/>
            </a:ln>
          </p:spPr>
        </p:sp>
        <p:sp>
          <p:nvSpPr>
            <p:cNvPr id="99" name="Rectangle 99"/>
            <p:cNvSpPr/>
            <p:nvPr/>
          </p:nvSpPr>
          <p:spPr>
            <a:xfrm>
              <a:off x="5067300" y="4057650"/>
              <a:ext cx="247650" cy="142875"/>
            </a:xfrm>
            <a:prstGeom prst="rect">
              <a:avLst/>
            </a:prstGeom>
            <a:solidFill>
              <a:srgbClr val="6B1100"/>
            </a:solidFill>
            <a:ln>
              <a:noFill/>
            </a:ln>
          </p:spPr>
        </p:sp>
        <p:sp>
          <p:nvSpPr>
            <p:cNvPr id="100" name="Rectangle 100"/>
            <p:cNvSpPr/>
            <p:nvPr/>
          </p:nvSpPr>
          <p:spPr>
            <a:xfrm>
              <a:off x="5067300" y="3743325"/>
              <a:ext cx="247650" cy="314325"/>
            </a:xfrm>
            <a:prstGeom prst="rect">
              <a:avLst/>
            </a:prstGeom>
            <a:solidFill>
              <a:srgbClr val="AA1B00"/>
            </a:solidFill>
            <a:ln>
              <a:noFill/>
            </a:ln>
          </p:spPr>
        </p:sp>
        <p:sp>
          <p:nvSpPr>
            <p:cNvPr id="101" name="TextBox 101"/>
            <p:cNvSpPr txBox="1"/>
            <p:nvPr/>
          </p:nvSpPr>
          <p:spPr>
            <a:xfrm>
              <a:off x="4971224" y="5216128"/>
              <a:ext cx="439801"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资产负债​</a:t>
              </a:r>
              <a:br/>
              <a:r>
                <a:rPr lang="zh-CN" sz="560" dirty="0">
                  <a:solidFill>
                    <a:srgbClr val="666666"/>
                  </a:solidFill>
                  <a:latin typeface="+mn-lt"/>
                  <a:ea typeface="+mn-ea"/>
                  <a:cs typeface="+mn-cs"/>
                </a:rPr>
                <a:t>管理(ALM)​​</a:t>
              </a:r>
            </a:p>
          </p:txBody>
        </p:sp>
        <p:sp>
          <p:nvSpPr>
            <p:cNvPr id="102" name="Rectangle 102"/>
            <p:cNvSpPr/>
            <p:nvPr/>
          </p:nvSpPr>
          <p:spPr>
            <a:xfrm>
              <a:off x="5513070" y="4486275"/>
              <a:ext cx="247650" cy="685800"/>
            </a:xfrm>
            <a:prstGeom prst="rect">
              <a:avLst/>
            </a:prstGeom>
            <a:solidFill>
              <a:srgbClr val="C35642"/>
            </a:solidFill>
            <a:ln>
              <a:noFill/>
            </a:ln>
          </p:spPr>
        </p:sp>
        <p:sp>
          <p:nvSpPr>
            <p:cNvPr id="103" name="Rectangle 103"/>
            <p:cNvSpPr/>
            <p:nvPr/>
          </p:nvSpPr>
          <p:spPr>
            <a:xfrm>
              <a:off x="5513070" y="4171950"/>
              <a:ext cx="247650" cy="314325"/>
            </a:xfrm>
            <a:prstGeom prst="rect">
              <a:avLst/>
            </a:prstGeom>
            <a:solidFill>
              <a:srgbClr val="D9EBC9"/>
            </a:solidFill>
            <a:ln>
              <a:noFill/>
            </a:ln>
          </p:spPr>
        </p:sp>
        <p:sp>
          <p:nvSpPr>
            <p:cNvPr id="104" name="Rectangle 104"/>
            <p:cNvSpPr/>
            <p:nvPr/>
          </p:nvSpPr>
          <p:spPr>
            <a:xfrm>
              <a:off x="5513070" y="4000500"/>
              <a:ext cx="247650" cy="171450"/>
            </a:xfrm>
            <a:prstGeom prst="rect">
              <a:avLst/>
            </a:prstGeom>
            <a:solidFill>
              <a:srgbClr val="6B1100"/>
            </a:solidFill>
            <a:ln>
              <a:noFill/>
            </a:ln>
          </p:spPr>
        </p:sp>
        <p:sp>
          <p:nvSpPr>
            <p:cNvPr id="105" name="Rectangle 105"/>
            <p:cNvSpPr/>
            <p:nvPr/>
          </p:nvSpPr>
          <p:spPr>
            <a:xfrm>
              <a:off x="5513070" y="3743325"/>
              <a:ext cx="247650" cy="257175"/>
            </a:xfrm>
            <a:prstGeom prst="rect">
              <a:avLst/>
            </a:prstGeom>
            <a:solidFill>
              <a:srgbClr val="AA1B00"/>
            </a:solidFill>
            <a:ln>
              <a:noFill/>
            </a:ln>
          </p:spPr>
        </p:sp>
        <p:sp>
          <p:nvSpPr>
            <p:cNvPr id="106" name="TextBox 106"/>
            <p:cNvSpPr txBox="1"/>
            <p:nvPr/>
          </p:nvSpPr>
          <p:spPr>
            <a:xfrm>
              <a:off x="5460627" y="52161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压力测试​</a:t>
              </a:r>
            </a:p>
          </p:txBody>
        </p:sp>
        <p:sp>
          <p:nvSpPr>
            <p:cNvPr id="107" name="Rectangle 107"/>
            <p:cNvSpPr/>
            <p:nvPr/>
          </p:nvSpPr>
          <p:spPr>
            <a:xfrm>
              <a:off x="5959792" y="4743450"/>
              <a:ext cx="247650" cy="428625"/>
            </a:xfrm>
            <a:prstGeom prst="rect">
              <a:avLst/>
            </a:prstGeom>
            <a:solidFill>
              <a:srgbClr val="C35642"/>
            </a:solidFill>
            <a:ln>
              <a:noFill/>
            </a:ln>
          </p:spPr>
        </p:sp>
        <p:sp>
          <p:nvSpPr>
            <p:cNvPr id="108" name="Rectangle 108"/>
            <p:cNvSpPr/>
            <p:nvPr/>
          </p:nvSpPr>
          <p:spPr>
            <a:xfrm>
              <a:off x="5959792" y="4686300"/>
              <a:ext cx="247650" cy="57150"/>
            </a:xfrm>
            <a:prstGeom prst="rect">
              <a:avLst/>
            </a:prstGeom>
            <a:solidFill>
              <a:srgbClr val="D9EBC9"/>
            </a:solidFill>
            <a:ln>
              <a:noFill/>
            </a:ln>
          </p:spPr>
        </p:sp>
        <p:sp>
          <p:nvSpPr>
            <p:cNvPr id="109" name="Rectangle 109"/>
            <p:cNvSpPr/>
            <p:nvPr/>
          </p:nvSpPr>
          <p:spPr>
            <a:xfrm>
              <a:off x="5959792" y="4572000"/>
              <a:ext cx="247650" cy="114300"/>
            </a:xfrm>
            <a:prstGeom prst="rect">
              <a:avLst/>
            </a:prstGeom>
            <a:solidFill>
              <a:srgbClr val="6B1100"/>
            </a:solidFill>
            <a:ln>
              <a:noFill/>
            </a:ln>
          </p:spPr>
        </p:sp>
        <p:sp>
          <p:nvSpPr>
            <p:cNvPr id="110" name="Rectangle 110"/>
            <p:cNvSpPr/>
            <p:nvPr/>
          </p:nvSpPr>
          <p:spPr>
            <a:xfrm>
              <a:off x="5959792" y="4457700"/>
              <a:ext cx="247650" cy="114300"/>
            </a:xfrm>
            <a:prstGeom prst="rect">
              <a:avLst/>
            </a:prstGeom>
            <a:solidFill>
              <a:srgbClr val="4A150B"/>
            </a:solidFill>
            <a:ln>
              <a:noFill/>
            </a:ln>
          </p:spPr>
        </p:sp>
        <p:sp>
          <p:nvSpPr>
            <p:cNvPr id="111" name="Rectangle 111"/>
            <p:cNvSpPr/>
            <p:nvPr/>
          </p:nvSpPr>
          <p:spPr>
            <a:xfrm>
              <a:off x="5959792" y="3743325"/>
              <a:ext cx="247650" cy="714375"/>
            </a:xfrm>
            <a:prstGeom prst="rect">
              <a:avLst/>
            </a:prstGeom>
            <a:solidFill>
              <a:srgbClr val="AA1B00"/>
            </a:solidFill>
            <a:ln>
              <a:noFill/>
            </a:ln>
          </p:spPr>
        </p:sp>
        <p:sp>
          <p:nvSpPr>
            <p:cNvPr id="112" name="TextBox 112"/>
            <p:cNvSpPr txBox="1"/>
            <p:nvPr/>
          </p:nvSpPr>
          <p:spPr>
            <a:xfrm>
              <a:off x="5896290" y="5216128"/>
              <a:ext cx="374655"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KYC模型​​</a:t>
              </a:r>
            </a:p>
          </p:txBody>
        </p:sp>
        <p:sp>
          <p:nvSpPr>
            <p:cNvPr id="113" name="Rectangle 113"/>
            <p:cNvSpPr/>
            <p:nvPr/>
          </p:nvSpPr>
          <p:spPr>
            <a:xfrm>
              <a:off x="6405562" y="4557712"/>
              <a:ext cx="247650" cy="614362"/>
            </a:xfrm>
            <a:prstGeom prst="rect">
              <a:avLst/>
            </a:prstGeom>
            <a:solidFill>
              <a:srgbClr val="C35642"/>
            </a:solidFill>
            <a:ln>
              <a:noFill/>
            </a:ln>
          </p:spPr>
        </p:sp>
        <p:sp>
          <p:nvSpPr>
            <p:cNvPr id="114" name="Rectangle 114"/>
            <p:cNvSpPr/>
            <p:nvPr/>
          </p:nvSpPr>
          <p:spPr>
            <a:xfrm>
              <a:off x="6405562" y="4514850"/>
              <a:ext cx="247650" cy="42862"/>
            </a:xfrm>
            <a:prstGeom prst="rect">
              <a:avLst/>
            </a:prstGeom>
            <a:solidFill>
              <a:srgbClr val="D9EBC9"/>
            </a:solidFill>
            <a:ln>
              <a:noFill/>
            </a:ln>
          </p:spPr>
        </p:sp>
        <p:sp>
          <p:nvSpPr>
            <p:cNvPr id="115" name="Rectangle 115"/>
            <p:cNvSpPr/>
            <p:nvPr/>
          </p:nvSpPr>
          <p:spPr>
            <a:xfrm>
              <a:off x="6405562" y="4400550"/>
              <a:ext cx="247650" cy="114300"/>
            </a:xfrm>
            <a:prstGeom prst="rect">
              <a:avLst/>
            </a:prstGeom>
            <a:solidFill>
              <a:srgbClr val="6B1100"/>
            </a:solidFill>
            <a:ln>
              <a:noFill/>
            </a:ln>
          </p:spPr>
        </p:sp>
        <p:sp>
          <p:nvSpPr>
            <p:cNvPr id="116" name="Rectangle 116"/>
            <p:cNvSpPr/>
            <p:nvPr/>
          </p:nvSpPr>
          <p:spPr>
            <a:xfrm>
              <a:off x="6405562" y="4229100"/>
              <a:ext cx="247650" cy="171450"/>
            </a:xfrm>
            <a:prstGeom prst="rect">
              <a:avLst/>
            </a:prstGeom>
            <a:solidFill>
              <a:srgbClr val="4A150B"/>
            </a:solidFill>
            <a:ln>
              <a:noFill/>
            </a:ln>
          </p:spPr>
        </p:sp>
        <p:sp>
          <p:nvSpPr>
            <p:cNvPr id="117" name="Rectangle 117"/>
            <p:cNvSpPr/>
            <p:nvPr/>
          </p:nvSpPr>
          <p:spPr>
            <a:xfrm>
              <a:off x="6405562" y="3743325"/>
              <a:ext cx="247650" cy="485775"/>
            </a:xfrm>
            <a:prstGeom prst="rect">
              <a:avLst/>
            </a:prstGeom>
            <a:solidFill>
              <a:srgbClr val="AA1B00"/>
            </a:solidFill>
            <a:ln>
              <a:noFill/>
            </a:ln>
          </p:spPr>
        </p:sp>
        <p:sp>
          <p:nvSpPr>
            <p:cNvPr id="118" name="TextBox 118"/>
            <p:cNvSpPr txBox="1"/>
            <p:nvPr/>
          </p:nvSpPr>
          <p:spPr>
            <a:xfrm>
              <a:off x="6323711" y="5216128"/>
              <a:ext cx="411353"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交易监控/​​</a:t>
              </a:r>
              <a:br/>
              <a:r>
                <a:rPr lang="zh-CN" sz="560" dirty="0">
                  <a:solidFill>
                    <a:srgbClr val="666666"/>
                  </a:solidFill>
                  <a:latin typeface="+mn-lt"/>
                  <a:ea typeface="+mn-ea"/>
                  <a:cs typeface="+mn-cs"/>
                </a:rPr>
                <a:t>AML/欺诈​​</a:t>
              </a:r>
            </a:p>
          </p:txBody>
        </p:sp>
        <p:sp>
          <p:nvSpPr>
            <p:cNvPr id="119" name="Rectangle 119"/>
            <p:cNvSpPr/>
            <p:nvPr/>
          </p:nvSpPr>
          <p:spPr>
            <a:xfrm>
              <a:off x="6852285" y="4486275"/>
              <a:ext cx="247650" cy="685800"/>
            </a:xfrm>
            <a:prstGeom prst="rect">
              <a:avLst/>
            </a:prstGeom>
            <a:solidFill>
              <a:srgbClr val="C35642"/>
            </a:solidFill>
            <a:ln>
              <a:noFill/>
            </a:ln>
          </p:spPr>
        </p:sp>
        <p:sp>
          <p:nvSpPr>
            <p:cNvPr id="120" name="Rectangle 120"/>
            <p:cNvSpPr/>
            <p:nvPr/>
          </p:nvSpPr>
          <p:spPr>
            <a:xfrm>
              <a:off x="6852285" y="4343400"/>
              <a:ext cx="247650" cy="142875"/>
            </a:xfrm>
            <a:prstGeom prst="rect">
              <a:avLst/>
            </a:prstGeom>
            <a:solidFill>
              <a:srgbClr val="D9EBC9"/>
            </a:solidFill>
            <a:ln>
              <a:noFill/>
            </a:ln>
          </p:spPr>
        </p:sp>
        <p:sp>
          <p:nvSpPr>
            <p:cNvPr id="121" name="Rectangle 121"/>
            <p:cNvSpPr/>
            <p:nvPr/>
          </p:nvSpPr>
          <p:spPr>
            <a:xfrm>
              <a:off x="6852285" y="4229100"/>
              <a:ext cx="247650" cy="114300"/>
            </a:xfrm>
            <a:prstGeom prst="rect">
              <a:avLst/>
            </a:prstGeom>
            <a:solidFill>
              <a:srgbClr val="6B1100"/>
            </a:solidFill>
            <a:ln>
              <a:noFill/>
            </a:ln>
          </p:spPr>
        </p:sp>
        <p:sp>
          <p:nvSpPr>
            <p:cNvPr id="122" name="Rectangle 122"/>
            <p:cNvSpPr/>
            <p:nvPr/>
          </p:nvSpPr>
          <p:spPr>
            <a:xfrm>
              <a:off x="6852285" y="4086225"/>
              <a:ext cx="247650" cy="142875"/>
            </a:xfrm>
            <a:prstGeom prst="rect">
              <a:avLst/>
            </a:prstGeom>
            <a:solidFill>
              <a:srgbClr val="4A150B"/>
            </a:solidFill>
            <a:ln>
              <a:noFill/>
            </a:ln>
          </p:spPr>
        </p:sp>
        <p:sp>
          <p:nvSpPr>
            <p:cNvPr id="123" name="Rectangle 123"/>
            <p:cNvSpPr/>
            <p:nvPr/>
          </p:nvSpPr>
          <p:spPr>
            <a:xfrm>
              <a:off x="6852285" y="3743325"/>
              <a:ext cx="247650" cy="342900"/>
            </a:xfrm>
            <a:prstGeom prst="rect">
              <a:avLst/>
            </a:prstGeom>
            <a:solidFill>
              <a:srgbClr val="AA1B00"/>
            </a:solidFill>
            <a:ln>
              <a:noFill/>
            </a:ln>
          </p:spPr>
        </p:sp>
        <p:sp>
          <p:nvSpPr>
            <p:cNvPr id="124" name="TextBox 124"/>
            <p:cNvSpPr txBox="1"/>
            <p:nvPr/>
          </p:nvSpPr>
          <p:spPr>
            <a:xfrm>
              <a:off x="6773989" y="5216128"/>
              <a:ext cx="404241"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金融工具​</a:t>
              </a:r>
              <a:br/>
              <a:r>
                <a:rPr lang="zh-CN" sz="560" dirty="0">
                  <a:solidFill>
                    <a:srgbClr val="666666"/>
                  </a:solidFill>
                  <a:latin typeface="+mn-lt"/>
                  <a:ea typeface="+mn-ea"/>
                  <a:cs typeface="+mn-cs"/>
                </a:rPr>
                <a:t>估值与定价​</a:t>
              </a:r>
            </a:p>
          </p:txBody>
        </p:sp>
        <p:sp>
          <p:nvSpPr>
            <p:cNvPr id="125" name="Rectangle 125"/>
            <p:cNvSpPr/>
            <p:nvPr/>
          </p:nvSpPr>
          <p:spPr>
            <a:xfrm>
              <a:off x="7298055" y="4629150"/>
              <a:ext cx="247650" cy="542925"/>
            </a:xfrm>
            <a:prstGeom prst="rect">
              <a:avLst/>
            </a:prstGeom>
            <a:solidFill>
              <a:srgbClr val="C35642"/>
            </a:solidFill>
            <a:ln>
              <a:noFill/>
            </a:ln>
          </p:spPr>
        </p:sp>
        <p:sp>
          <p:nvSpPr>
            <p:cNvPr id="126" name="Rectangle 126"/>
            <p:cNvSpPr/>
            <p:nvPr/>
          </p:nvSpPr>
          <p:spPr>
            <a:xfrm>
              <a:off x="7298055" y="4557712"/>
              <a:ext cx="247650" cy="71438"/>
            </a:xfrm>
            <a:prstGeom prst="rect">
              <a:avLst/>
            </a:prstGeom>
            <a:solidFill>
              <a:srgbClr val="D9EBC9"/>
            </a:solidFill>
            <a:ln>
              <a:noFill/>
            </a:ln>
          </p:spPr>
        </p:sp>
        <p:sp>
          <p:nvSpPr>
            <p:cNvPr id="127" name="Rectangle 127"/>
            <p:cNvSpPr/>
            <p:nvPr/>
          </p:nvSpPr>
          <p:spPr>
            <a:xfrm>
              <a:off x="7298055" y="4414838"/>
              <a:ext cx="247650" cy="142875"/>
            </a:xfrm>
            <a:prstGeom prst="rect">
              <a:avLst/>
            </a:prstGeom>
            <a:solidFill>
              <a:srgbClr val="6B1100"/>
            </a:solidFill>
            <a:ln>
              <a:noFill/>
            </a:ln>
          </p:spPr>
        </p:sp>
        <p:sp>
          <p:nvSpPr>
            <p:cNvPr id="128" name="Rectangle 128"/>
            <p:cNvSpPr/>
            <p:nvPr/>
          </p:nvSpPr>
          <p:spPr>
            <a:xfrm>
              <a:off x="7298055" y="4243388"/>
              <a:ext cx="247650" cy="171450"/>
            </a:xfrm>
            <a:prstGeom prst="rect">
              <a:avLst/>
            </a:prstGeom>
            <a:solidFill>
              <a:srgbClr val="4A150B"/>
            </a:solidFill>
            <a:ln>
              <a:noFill/>
            </a:ln>
          </p:spPr>
        </p:sp>
        <p:sp>
          <p:nvSpPr>
            <p:cNvPr id="129" name="Rectangle 129"/>
            <p:cNvSpPr/>
            <p:nvPr/>
          </p:nvSpPr>
          <p:spPr>
            <a:xfrm>
              <a:off x="7298055" y="3743325"/>
              <a:ext cx="247650" cy="500062"/>
            </a:xfrm>
            <a:prstGeom prst="rect">
              <a:avLst/>
            </a:prstGeom>
            <a:solidFill>
              <a:srgbClr val="AA1B00"/>
            </a:solidFill>
            <a:ln>
              <a:noFill/>
            </a:ln>
          </p:spPr>
        </p:sp>
        <p:sp>
          <p:nvSpPr>
            <p:cNvPr id="130" name="TextBox 130"/>
            <p:cNvSpPr txBox="1"/>
            <p:nvPr/>
          </p:nvSpPr>
          <p:spPr>
            <a:xfrm>
              <a:off x="7191312" y="5216128"/>
              <a:ext cx="461137"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会计模型​</a:t>
              </a:r>
              <a:br/>
              <a:r>
                <a:rPr lang="en-US" sz="560" dirty="0">
                  <a:solidFill>
                    <a:srgbClr val="666666"/>
                  </a:solidFill>
                  <a:latin typeface="+mn-lt"/>
                  <a:ea typeface="+mn-ea"/>
                  <a:cs typeface="+mn-cs"/>
                </a:rPr>
                <a:t>(FTP/IFRS)​​</a:t>
              </a:r>
            </a:p>
          </p:txBody>
        </p:sp>
        <p:sp>
          <p:nvSpPr>
            <p:cNvPr id="131" name="Rectangle 131"/>
            <p:cNvSpPr/>
            <p:nvPr/>
          </p:nvSpPr>
          <p:spPr>
            <a:xfrm>
              <a:off x="7744778" y="4857750"/>
              <a:ext cx="247650" cy="314325"/>
            </a:xfrm>
            <a:prstGeom prst="rect">
              <a:avLst/>
            </a:prstGeom>
            <a:solidFill>
              <a:srgbClr val="C35642"/>
            </a:solidFill>
            <a:ln>
              <a:noFill/>
            </a:ln>
          </p:spPr>
        </p:sp>
        <p:sp>
          <p:nvSpPr>
            <p:cNvPr id="132" name="Rectangle 132"/>
            <p:cNvSpPr/>
            <p:nvPr/>
          </p:nvSpPr>
          <p:spPr>
            <a:xfrm>
              <a:off x="7744778" y="4772025"/>
              <a:ext cx="247650" cy="85725"/>
            </a:xfrm>
            <a:prstGeom prst="rect">
              <a:avLst/>
            </a:prstGeom>
            <a:solidFill>
              <a:srgbClr val="D9EBC9"/>
            </a:solidFill>
            <a:ln>
              <a:noFill/>
            </a:ln>
          </p:spPr>
        </p:sp>
        <p:sp>
          <p:nvSpPr>
            <p:cNvPr id="133" name="Rectangle 133"/>
            <p:cNvSpPr/>
            <p:nvPr/>
          </p:nvSpPr>
          <p:spPr>
            <a:xfrm>
              <a:off x="7744778" y="4657725"/>
              <a:ext cx="247650" cy="114300"/>
            </a:xfrm>
            <a:prstGeom prst="rect">
              <a:avLst/>
            </a:prstGeom>
            <a:solidFill>
              <a:srgbClr val="6B1100"/>
            </a:solidFill>
            <a:ln>
              <a:noFill/>
            </a:ln>
          </p:spPr>
        </p:sp>
        <p:sp>
          <p:nvSpPr>
            <p:cNvPr id="134" name="Rectangle 134"/>
            <p:cNvSpPr/>
            <p:nvPr/>
          </p:nvSpPr>
          <p:spPr>
            <a:xfrm>
              <a:off x="7744778" y="4486275"/>
              <a:ext cx="247650" cy="171450"/>
            </a:xfrm>
            <a:prstGeom prst="rect">
              <a:avLst/>
            </a:prstGeom>
            <a:solidFill>
              <a:srgbClr val="4A150B"/>
            </a:solidFill>
            <a:ln>
              <a:noFill/>
            </a:ln>
          </p:spPr>
        </p:sp>
        <p:sp>
          <p:nvSpPr>
            <p:cNvPr id="135" name="Rectangle 135"/>
            <p:cNvSpPr/>
            <p:nvPr/>
          </p:nvSpPr>
          <p:spPr>
            <a:xfrm>
              <a:off x="7744778" y="3743325"/>
              <a:ext cx="247650" cy="742950"/>
            </a:xfrm>
            <a:prstGeom prst="rect">
              <a:avLst/>
            </a:prstGeom>
            <a:solidFill>
              <a:srgbClr val="AA1B00"/>
            </a:solidFill>
            <a:ln>
              <a:noFill/>
            </a:ln>
          </p:spPr>
        </p:sp>
        <p:sp>
          <p:nvSpPr>
            <p:cNvPr id="136" name="TextBox 136"/>
            <p:cNvSpPr txBox="1"/>
            <p:nvPr/>
          </p:nvSpPr>
          <p:spPr>
            <a:xfrm>
              <a:off x="7702042" y="5216128"/>
              <a:ext cx="333121" cy="202406"/>
            </a:xfrm>
            <a:prstGeom prst="rect">
              <a:avLst/>
            </a:prstGeom>
            <a:noFill/>
            <a:ln>
              <a:noFill/>
            </a:ln>
          </p:spPr>
          <p:txBody>
            <a:bodyPr wrap="none" lIns="0" tIns="0" rIns="0" bIns="0" anchor="t" anchorCtr="0">
              <a:spAutoFit/>
            </a:bodyPr>
            <a:lstStyle/>
            <a:p>
              <a:pPr algn="ctr">
                <a:lnSpc>
                  <a:spcPts val="712"/>
                </a:lnSpc>
              </a:pPr>
              <a:r>
                <a:rPr lang="zh-CN" sz="560" dirty="0">
                  <a:solidFill>
                    <a:srgbClr val="666666"/>
                  </a:solidFill>
                  <a:latin typeface="+mn-lt"/>
                  <a:ea typeface="+mn-ea"/>
                  <a:cs typeface="+mn-cs"/>
                </a:rPr>
                <a:t>业务决策​</a:t>
              </a:r>
              <a:br/>
              <a:r>
                <a:rPr lang="zh-CN" sz="560" dirty="0">
                  <a:solidFill>
                    <a:srgbClr val="666666"/>
                  </a:solidFill>
                  <a:latin typeface="+mn-lt"/>
                  <a:ea typeface="+mn-ea"/>
                  <a:cs typeface="+mn-cs"/>
                </a:rPr>
                <a:t>制定​</a:t>
              </a:r>
            </a:p>
          </p:txBody>
        </p:sp>
        <p:sp>
          <p:nvSpPr>
            <p:cNvPr id="137" name="Rectangle 137"/>
            <p:cNvSpPr/>
            <p:nvPr/>
          </p:nvSpPr>
          <p:spPr>
            <a:xfrm>
              <a:off x="8190548" y="4972050"/>
              <a:ext cx="247650" cy="200025"/>
            </a:xfrm>
            <a:prstGeom prst="rect">
              <a:avLst/>
            </a:prstGeom>
            <a:solidFill>
              <a:srgbClr val="C35642"/>
            </a:solidFill>
            <a:ln>
              <a:noFill/>
            </a:ln>
          </p:spPr>
        </p:sp>
        <p:sp>
          <p:nvSpPr>
            <p:cNvPr id="138" name="Rectangle 138"/>
            <p:cNvSpPr/>
            <p:nvPr/>
          </p:nvSpPr>
          <p:spPr>
            <a:xfrm>
              <a:off x="8190548" y="4800600"/>
              <a:ext cx="247650" cy="171450"/>
            </a:xfrm>
            <a:prstGeom prst="rect">
              <a:avLst/>
            </a:prstGeom>
            <a:solidFill>
              <a:srgbClr val="6B1100"/>
            </a:solidFill>
            <a:ln>
              <a:noFill/>
            </a:ln>
          </p:spPr>
        </p:sp>
        <p:sp>
          <p:nvSpPr>
            <p:cNvPr id="139" name="Rectangle 139"/>
            <p:cNvSpPr/>
            <p:nvPr/>
          </p:nvSpPr>
          <p:spPr>
            <a:xfrm>
              <a:off x="8190548" y="4486275"/>
              <a:ext cx="247650" cy="314325"/>
            </a:xfrm>
            <a:prstGeom prst="rect">
              <a:avLst/>
            </a:prstGeom>
            <a:solidFill>
              <a:srgbClr val="4A150B"/>
            </a:solidFill>
            <a:ln>
              <a:noFill/>
            </a:ln>
          </p:spPr>
        </p:sp>
        <p:sp>
          <p:nvSpPr>
            <p:cNvPr id="140" name="Rectangle 140"/>
            <p:cNvSpPr/>
            <p:nvPr/>
          </p:nvSpPr>
          <p:spPr>
            <a:xfrm>
              <a:off x="8190548" y="3743325"/>
              <a:ext cx="247650" cy="742950"/>
            </a:xfrm>
            <a:prstGeom prst="rect">
              <a:avLst/>
            </a:prstGeom>
            <a:solidFill>
              <a:srgbClr val="AA1B00"/>
            </a:solidFill>
            <a:ln>
              <a:noFill/>
            </a:ln>
          </p:spPr>
        </p:sp>
        <p:sp>
          <p:nvSpPr>
            <p:cNvPr id="141" name="TextBox 141"/>
            <p:cNvSpPr txBox="1"/>
            <p:nvPr/>
          </p:nvSpPr>
          <p:spPr>
            <a:xfrm>
              <a:off x="8138104" y="52161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营销模型​</a:t>
              </a:r>
            </a:p>
          </p:txBody>
        </p:sp>
        <p:sp>
          <p:nvSpPr>
            <p:cNvPr id="142" name="Rectangle 142"/>
            <p:cNvSpPr/>
            <p:nvPr/>
          </p:nvSpPr>
          <p:spPr>
            <a:xfrm>
              <a:off x="8636318" y="5000625"/>
              <a:ext cx="247650" cy="171450"/>
            </a:xfrm>
            <a:prstGeom prst="rect">
              <a:avLst/>
            </a:prstGeom>
            <a:solidFill>
              <a:srgbClr val="C35642"/>
            </a:solidFill>
            <a:ln>
              <a:noFill/>
            </a:ln>
          </p:spPr>
        </p:sp>
        <p:sp>
          <p:nvSpPr>
            <p:cNvPr id="143" name="Rectangle 143"/>
            <p:cNvSpPr/>
            <p:nvPr/>
          </p:nvSpPr>
          <p:spPr>
            <a:xfrm>
              <a:off x="8636318" y="4886325"/>
              <a:ext cx="247650" cy="114300"/>
            </a:xfrm>
            <a:prstGeom prst="rect">
              <a:avLst/>
            </a:prstGeom>
            <a:solidFill>
              <a:srgbClr val="6B1100"/>
            </a:solidFill>
            <a:ln>
              <a:noFill/>
            </a:ln>
          </p:spPr>
        </p:sp>
        <p:sp>
          <p:nvSpPr>
            <p:cNvPr id="144" name="Rectangle 144"/>
            <p:cNvSpPr/>
            <p:nvPr/>
          </p:nvSpPr>
          <p:spPr>
            <a:xfrm>
              <a:off x="8636318" y="4572000"/>
              <a:ext cx="247650" cy="314325"/>
            </a:xfrm>
            <a:prstGeom prst="rect">
              <a:avLst/>
            </a:prstGeom>
            <a:solidFill>
              <a:srgbClr val="4A150B"/>
            </a:solidFill>
            <a:ln>
              <a:noFill/>
            </a:ln>
          </p:spPr>
        </p:sp>
        <p:sp>
          <p:nvSpPr>
            <p:cNvPr id="145" name="Rectangle 145"/>
            <p:cNvSpPr/>
            <p:nvPr/>
          </p:nvSpPr>
          <p:spPr>
            <a:xfrm>
              <a:off x="8636318" y="3743325"/>
              <a:ext cx="247650" cy="828675"/>
            </a:xfrm>
            <a:prstGeom prst="rect">
              <a:avLst/>
            </a:prstGeom>
            <a:solidFill>
              <a:srgbClr val="AA1B00"/>
            </a:solidFill>
            <a:ln>
              <a:noFill/>
            </a:ln>
          </p:spPr>
        </p:sp>
        <p:sp>
          <p:nvSpPr>
            <p:cNvPr id="146" name="TextBox 146"/>
            <p:cNvSpPr txBox="1"/>
            <p:nvPr/>
          </p:nvSpPr>
          <p:spPr>
            <a:xfrm>
              <a:off x="8594720" y="5216128"/>
              <a:ext cx="330845"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HR模型​​</a:t>
              </a:r>
            </a:p>
          </p:txBody>
        </p:sp>
        <p:sp>
          <p:nvSpPr>
            <p:cNvPr id="147" name="Rectangle 147"/>
            <p:cNvSpPr/>
            <p:nvPr/>
          </p:nvSpPr>
          <p:spPr>
            <a:xfrm>
              <a:off x="9083040" y="4886325"/>
              <a:ext cx="247650" cy="285750"/>
            </a:xfrm>
            <a:prstGeom prst="rect">
              <a:avLst/>
            </a:prstGeom>
            <a:solidFill>
              <a:srgbClr val="C35642"/>
            </a:solidFill>
            <a:ln>
              <a:noFill/>
            </a:ln>
          </p:spPr>
        </p:sp>
        <p:sp>
          <p:nvSpPr>
            <p:cNvPr id="148" name="Rectangle 148"/>
            <p:cNvSpPr/>
            <p:nvPr/>
          </p:nvSpPr>
          <p:spPr>
            <a:xfrm>
              <a:off x="9083040" y="4772025"/>
              <a:ext cx="247650" cy="114300"/>
            </a:xfrm>
            <a:prstGeom prst="rect">
              <a:avLst/>
            </a:prstGeom>
            <a:solidFill>
              <a:srgbClr val="6B1100"/>
            </a:solidFill>
            <a:ln>
              <a:noFill/>
            </a:ln>
          </p:spPr>
        </p:sp>
        <p:sp>
          <p:nvSpPr>
            <p:cNvPr id="149" name="Rectangle 149"/>
            <p:cNvSpPr/>
            <p:nvPr/>
          </p:nvSpPr>
          <p:spPr>
            <a:xfrm>
              <a:off x="9083040" y="4600575"/>
              <a:ext cx="247650" cy="171450"/>
            </a:xfrm>
            <a:prstGeom prst="rect">
              <a:avLst/>
            </a:prstGeom>
            <a:solidFill>
              <a:srgbClr val="4A150B"/>
            </a:solidFill>
            <a:ln>
              <a:noFill/>
            </a:ln>
          </p:spPr>
        </p:sp>
        <p:sp>
          <p:nvSpPr>
            <p:cNvPr id="150" name="Rectangle 150"/>
            <p:cNvSpPr/>
            <p:nvPr/>
          </p:nvSpPr>
          <p:spPr>
            <a:xfrm>
              <a:off x="9083040" y="3743325"/>
              <a:ext cx="247650" cy="857250"/>
            </a:xfrm>
            <a:prstGeom prst="rect">
              <a:avLst/>
            </a:prstGeom>
            <a:solidFill>
              <a:srgbClr val="AA1B00"/>
            </a:solidFill>
            <a:ln>
              <a:noFill/>
            </a:ln>
          </p:spPr>
        </p:sp>
        <p:sp>
          <p:nvSpPr>
            <p:cNvPr id="151" name="TextBox 151"/>
            <p:cNvSpPr txBox="1"/>
            <p:nvPr/>
          </p:nvSpPr>
          <p:spPr>
            <a:xfrm>
              <a:off x="9030597" y="52161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网络风险​</a:t>
              </a:r>
            </a:p>
          </p:txBody>
        </p:sp>
        <p:sp>
          <p:nvSpPr>
            <p:cNvPr id="152" name="Line 152"/>
            <p:cNvSpPr/>
            <p:nvPr/>
          </p:nvSpPr>
          <p:spPr>
            <a:xfrm>
              <a:off x="952500" y="5172075"/>
              <a:ext cx="8477250" cy="9525"/>
            </a:xfrm>
            <a:custGeom>
              <a:avLst/>
              <a:gdLst/>
              <a:ahLst/>
              <a:cxnLst/>
              <a:rect l="l" t="t" r="r" b="b"/>
              <a:pathLst>
                <a:path w="8477250" h="9525">
                  <a:moveTo>
                    <a:pt x="0" y="0"/>
                  </a:moveTo>
                  <a:lnTo>
                    <a:pt x="8477250" y="0"/>
                  </a:lnTo>
                </a:path>
              </a:pathLst>
            </a:custGeom>
            <a:noFill/>
            <a:ln w="9525">
              <a:solidFill>
                <a:srgbClr val="666666"/>
              </a:solidFill>
            </a:ln>
          </p:spPr>
        </p:sp>
        <p:sp>
          <p:nvSpPr>
            <p:cNvPr id="153" name="Line 153"/>
            <p:cNvSpPr/>
            <p:nvPr/>
          </p:nvSpPr>
          <p:spPr>
            <a:xfrm>
              <a:off x="1005840" y="56769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54" name="Line 154"/>
            <p:cNvSpPr/>
            <p:nvPr/>
          </p:nvSpPr>
          <p:spPr>
            <a:xfrm>
              <a:off x="1005840" y="5715000"/>
              <a:ext cx="1677352" cy="9525"/>
            </a:xfrm>
            <a:custGeom>
              <a:avLst/>
              <a:gdLst/>
              <a:ahLst/>
              <a:cxnLst/>
              <a:rect l="l" t="t" r="r" b="b"/>
              <a:pathLst>
                <a:path w="1677352" h="9525">
                  <a:moveTo>
                    <a:pt x="0" y="0"/>
                  </a:moveTo>
                  <a:lnTo>
                    <a:pt x="1677352" y="0"/>
                  </a:lnTo>
                </a:path>
              </a:pathLst>
            </a:custGeom>
            <a:noFill/>
            <a:ln w="9525">
              <a:solidFill>
                <a:srgbClr val="9A9A9A"/>
              </a:solidFill>
            </a:ln>
          </p:spPr>
        </p:sp>
        <p:sp>
          <p:nvSpPr>
            <p:cNvPr id="155" name="Line 155"/>
            <p:cNvSpPr/>
            <p:nvPr/>
          </p:nvSpPr>
          <p:spPr>
            <a:xfrm>
              <a:off x="2683192" y="56769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56" name="TextBox 156"/>
            <p:cNvSpPr txBox="1"/>
            <p:nvPr/>
          </p:nvSpPr>
          <p:spPr>
            <a:xfrm>
              <a:off x="1133325" y="5755005"/>
              <a:ext cx="1423035"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金融风险模型（pillar 1资本与会计）​​</a:t>
              </a:r>
            </a:p>
          </p:txBody>
        </p:sp>
        <p:sp>
          <p:nvSpPr>
            <p:cNvPr id="157" name="Line 157"/>
            <p:cNvSpPr/>
            <p:nvPr/>
          </p:nvSpPr>
          <p:spPr>
            <a:xfrm>
              <a:off x="2790825" y="56769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58" name="Line 158"/>
            <p:cNvSpPr/>
            <p:nvPr/>
          </p:nvSpPr>
          <p:spPr>
            <a:xfrm>
              <a:off x="2790825" y="5715000"/>
              <a:ext cx="3015615" cy="9525"/>
            </a:xfrm>
            <a:custGeom>
              <a:avLst/>
              <a:gdLst/>
              <a:ahLst/>
              <a:cxnLst/>
              <a:rect l="l" t="t" r="r" b="b"/>
              <a:pathLst>
                <a:path w="3015615" h="9525">
                  <a:moveTo>
                    <a:pt x="0" y="0"/>
                  </a:moveTo>
                  <a:lnTo>
                    <a:pt x="3015615" y="0"/>
                  </a:lnTo>
                </a:path>
              </a:pathLst>
            </a:custGeom>
            <a:noFill/>
            <a:ln w="9525">
              <a:solidFill>
                <a:srgbClr val="9A9A9A"/>
              </a:solidFill>
            </a:ln>
          </p:spPr>
        </p:sp>
        <p:sp>
          <p:nvSpPr>
            <p:cNvPr id="159" name="Line 159"/>
            <p:cNvSpPr/>
            <p:nvPr/>
          </p:nvSpPr>
          <p:spPr>
            <a:xfrm>
              <a:off x="5806440" y="56769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60" name="TextBox 160"/>
            <p:cNvSpPr txBox="1"/>
            <p:nvPr/>
          </p:nvSpPr>
          <p:spPr>
            <a:xfrm>
              <a:off x="3546879" y="5755005"/>
              <a:ext cx="1503807"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金融风险模型（pillar 2资本与流动性）​​</a:t>
              </a:r>
            </a:p>
          </p:txBody>
        </p:sp>
        <p:sp>
          <p:nvSpPr>
            <p:cNvPr id="161" name="Line 161"/>
            <p:cNvSpPr/>
            <p:nvPr/>
          </p:nvSpPr>
          <p:spPr>
            <a:xfrm>
              <a:off x="5914072" y="56769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62" name="Line 162"/>
            <p:cNvSpPr/>
            <p:nvPr/>
          </p:nvSpPr>
          <p:spPr>
            <a:xfrm>
              <a:off x="5914072" y="5715000"/>
              <a:ext cx="784860" cy="9525"/>
            </a:xfrm>
            <a:custGeom>
              <a:avLst/>
              <a:gdLst/>
              <a:ahLst/>
              <a:cxnLst/>
              <a:rect l="l" t="t" r="r" b="b"/>
              <a:pathLst>
                <a:path w="784860" h="9525">
                  <a:moveTo>
                    <a:pt x="0" y="0"/>
                  </a:moveTo>
                  <a:lnTo>
                    <a:pt x="784860" y="0"/>
                  </a:lnTo>
                </a:path>
              </a:pathLst>
            </a:custGeom>
            <a:noFill/>
            <a:ln w="9525">
              <a:solidFill>
                <a:srgbClr val="9A9A9A"/>
              </a:solidFill>
            </a:ln>
          </p:spPr>
        </p:sp>
        <p:sp>
          <p:nvSpPr>
            <p:cNvPr id="163" name="Line 163"/>
            <p:cNvSpPr/>
            <p:nvPr/>
          </p:nvSpPr>
          <p:spPr>
            <a:xfrm>
              <a:off x="6698932" y="56769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64" name="TextBox 164"/>
            <p:cNvSpPr txBox="1"/>
            <p:nvPr/>
          </p:nvSpPr>
          <p:spPr>
            <a:xfrm>
              <a:off x="6118034" y="5755005"/>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合规模型​</a:t>
              </a:r>
            </a:p>
          </p:txBody>
        </p:sp>
        <p:sp>
          <p:nvSpPr>
            <p:cNvPr id="165" name="Line 165"/>
            <p:cNvSpPr/>
            <p:nvPr/>
          </p:nvSpPr>
          <p:spPr>
            <a:xfrm>
              <a:off x="6806565" y="56769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66" name="Line 166"/>
            <p:cNvSpPr/>
            <p:nvPr/>
          </p:nvSpPr>
          <p:spPr>
            <a:xfrm>
              <a:off x="6806565" y="5715000"/>
              <a:ext cx="2569845" cy="9525"/>
            </a:xfrm>
            <a:custGeom>
              <a:avLst/>
              <a:gdLst/>
              <a:ahLst/>
              <a:cxnLst/>
              <a:rect l="l" t="t" r="r" b="b"/>
              <a:pathLst>
                <a:path w="2569845" h="9525">
                  <a:moveTo>
                    <a:pt x="0" y="0"/>
                  </a:moveTo>
                  <a:lnTo>
                    <a:pt x="2569845" y="0"/>
                  </a:lnTo>
                </a:path>
              </a:pathLst>
            </a:custGeom>
            <a:noFill/>
            <a:ln w="9525">
              <a:solidFill>
                <a:srgbClr val="9A9A9A"/>
              </a:solidFill>
            </a:ln>
          </p:spPr>
        </p:sp>
        <p:sp>
          <p:nvSpPr>
            <p:cNvPr id="167" name="Line 167"/>
            <p:cNvSpPr/>
            <p:nvPr/>
          </p:nvSpPr>
          <p:spPr>
            <a:xfrm>
              <a:off x="9376410" y="56769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68" name="TextBox 168"/>
            <p:cNvSpPr txBox="1"/>
            <p:nvPr/>
          </p:nvSpPr>
          <p:spPr>
            <a:xfrm>
              <a:off x="7902718" y="5755005"/>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其他模型​</a:t>
              </a:r>
            </a:p>
          </p:txBody>
        </p:sp>
        <p:sp>
          <p:nvSpPr>
            <p:cNvPr id="169" name="Rectangle 169"/>
            <p:cNvSpPr/>
            <p:nvPr/>
          </p:nvSpPr>
          <p:spPr>
            <a:xfrm>
              <a:off x="571500" y="5924550"/>
              <a:ext cx="95250" cy="95250"/>
            </a:xfrm>
            <a:prstGeom prst="rect">
              <a:avLst/>
            </a:prstGeom>
            <a:solidFill>
              <a:srgbClr val="C35642"/>
            </a:solidFill>
            <a:ln>
              <a:noFill/>
            </a:ln>
          </p:spPr>
        </p:sp>
        <p:sp>
          <p:nvSpPr>
            <p:cNvPr id="170" name="TextBox 170"/>
            <p:cNvSpPr txBox="1"/>
            <p:nvPr/>
          </p:nvSpPr>
          <p:spPr>
            <a:xfrm>
              <a:off x="709612" y="5941457"/>
              <a:ext cx="311074"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100%​​</a:t>
              </a:r>
            </a:p>
          </p:txBody>
        </p:sp>
        <p:sp>
          <p:nvSpPr>
            <p:cNvPr id="171" name="Rectangle 171"/>
            <p:cNvSpPr/>
            <p:nvPr/>
          </p:nvSpPr>
          <p:spPr>
            <a:xfrm>
              <a:off x="1032320" y="5924550"/>
              <a:ext cx="95250" cy="95250"/>
            </a:xfrm>
            <a:prstGeom prst="rect">
              <a:avLst/>
            </a:prstGeom>
            <a:solidFill>
              <a:srgbClr val="D9EBC9"/>
            </a:solidFill>
            <a:ln>
              <a:noFill/>
            </a:ln>
          </p:spPr>
        </p:sp>
        <p:sp>
          <p:nvSpPr>
            <p:cNvPr id="172" name="TextBox 172"/>
            <p:cNvSpPr txBox="1"/>
            <p:nvPr/>
          </p:nvSpPr>
          <p:spPr>
            <a:xfrm>
              <a:off x="1170432" y="5941457"/>
              <a:ext cx="453233"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75–100%​​</a:t>
              </a:r>
            </a:p>
          </p:txBody>
        </p:sp>
        <p:sp>
          <p:nvSpPr>
            <p:cNvPr id="173" name="Rectangle 173"/>
            <p:cNvSpPr/>
            <p:nvPr/>
          </p:nvSpPr>
          <p:spPr>
            <a:xfrm>
              <a:off x="1680162" y="5924550"/>
              <a:ext cx="95250" cy="95250"/>
            </a:xfrm>
            <a:prstGeom prst="rect">
              <a:avLst/>
            </a:prstGeom>
            <a:solidFill>
              <a:srgbClr val="6B1100"/>
            </a:solidFill>
            <a:ln>
              <a:noFill/>
            </a:ln>
          </p:spPr>
        </p:sp>
        <p:sp>
          <p:nvSpPr>
            <p:cNvPr id="174" name="TextBox 174"/>
            <p:cNvSpPr txBox="1"/>
            <p:nvPr/>
          </p:nvSpPr>
          <p:spPr>
            <a:xfrm>
              <a:off x="1818275" y="5941457"/>
              <a:ext cx="405846"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50–75%​​</a:t>
              </a:r>
            </a:p>
          </p:txBody>
        </p:sp>
        <p:sp>
          <p:nvSpPr>
            <p:cNvPr id="175" name="Rectangle 175"/>
            <p:cNvSpPr/>
            <p:nvPr/>
          </p:nvSpPr>
          <p:spPr>
            <a:xfrm>
              <a:off x="2277808" y="5924550"/>
              <a:ext cx="95250" cy="95250"/>
            </a:xfrm>
            <a:prstGeom prst="rect">
              <a:avLst/>
            </a:prstGeom>
            <a:solidFill>
              <a:srgbClr val="4A150B"/>
            </a:solidFill>
            <a:ln>
              <a:noFill/>
            </a:ln>
          </p:spPr>
        </p:sp>
        <p:sp>
          <p:nvSpPr>
            <p:cNvPr id="176" name="TextBox 176"/>
            <p:cNvSpPr txBox="1"/>
            <p:nvPr/>
          </p:nvSpPr>
          <p:spPr>
            <a:xfrm>
              <a:off x="2415921" y="5941457"/>
              <a:ext cx="405846"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25–50%​​</a:t>
              </a:r>
            </a:p>
          </p:txBody>
        </p:sp>
        <p:sp>
          <p:nvSpPr>
            <p:cNvPr id="177" name="Rectangle 177"/>
            <p:cNvSpPr/>
            <p:nvPr/>
          </p:nvSpPr>
          <p:spPr>
            <a:xfrm>
              <a:off x="2875455" y="5924550"/>
              <a:ext cx="95250" cy="95250"/>
            </a:xfrm>
            <a:prstGeom prst="rect">
              <a:avLst/>
            </a:prstGeom>
            <a:solidFill>
              <a:srgbClr val="AA1B00"/>
            </a:solidFill>
            <a:ln>
              <a:noFill/>
            </a:ln>
          </p:spPr>
        </p:sp>
        <p:sp>
          <p:nvSpPr>
            <p:cNvPr id="178" name="TextBox 178"/>
            <p:cNvSpPr txBox="1"/>
            <p:nvPr/>
          </p:nvSpPr>
          <p:spPr>
            <a:xfrm>
              <a:off x="3013567" y="5941457"/>
              <a:ext cx="311074"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&lt;25%​​</a:t>
              </a:r>
            </a:p>
          </p:txBody>
        </p:sp>
      </p:grpSp>
      <p:grpSp>
        <p:nvGrpSpPr>
          <p:cNvPr id="213" name="nav"/>
          <p:cNvGrpSpPr/>
          <p:nvPr/>
        </p:nvGrpSpPr>
        <p:grpSpPr>
          <a:xfrm>
            <a:off x="9834562" y="0"/>
            <a:ext cx="2357438" cy="6858000"/>
            <a:chOff x="9834562" y="0"/>
            <a:chExt cx="2357438" cy="6858000"/>
          </a:xfrm>
        </p:grpSpPr>
        <p:sp>
          <p:nvSpPr>
            <p:cNvPr id="180" name="Line 180"/>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81" name="Rectangle 181"/>
            <p:cNvSpPr/>
            <p:nvPr/>
          </p:nvSpPr>
          <p:spPr>
            <a:xfrm>
              <a:off x="9839325" y="476250"/>
              <a:ext cx="2352675" cy="514350"/>
            </a:xfrm>
            <a:prstGeom prst="rect">
              <a:avLst/>
            </a:prstGeom>
            <a:solidFill>
              <a:srgbClr val="F3F3F3"/>
            </a:solidFill>
            <a:ln>
              <a:noFill/>
            </a:ln>
          </p:spPr>
        </p:sp>
        <p:sp>
          <p:nvSpPr>
            <p:cNvPr id="182" name="TextBox 182"/>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83" name="Rectangle 183"/>
            <p:cNvSpPr/>
            <p:nvPr/>
          </p:nvSpPr>
          <p:spPr>
            <a:xfrm>
              <a:off x="9839325" y="1000125"/>
              <a:ext cx="2352675" cy="514350"/>
            </a:xfrm>
            <a:prstGeom prst="rect">
              <a:avLst/>
            </a:prstGeom>
            <a:solidFill>
              <a:srgbClr val="F3F3F3"/>
            </a:solidFill>
            <a:ln>
              <a:noFill/>
            </a:ln>
          </p:spPr>
        </p:sp>
        <p:sp>
          <p:nvSpPr>
            <p:cNvPr id="184" name="TextBox 184"/>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85" name="Rectangle 185"/>
            <p:cNvSpPr/>
            <p:nvPr/>
          </p:nvSpPr>
          <p:spPr>
            <a:xfrm>
              <a:off x="9839325" y="1524000"/>
              <a:ext cx="2352675" cy="514350"/>
            </a:xfrm>
            <a:prstGeom prst="rect">
              <a:avLst/>
            </a:prstGeom>
            <a:solidFill>
              <a:srgbClr val="F3F3F3"/>
            </a:solidFill>
            <a:ln>
              <a:noFill/>
            </a:ln>
          </p:spPr>
        </p:sp>
        <p:sp>
          <p:nvSpPr>
            <p:cNvPr id="186" name="TextBox 186"/>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87" name="Rectangle 187"/>
            <p:cNvSpPr/>
            <p:nvPr/>
          </p:nvSpPr>
          <p:spPr>
            <a:xfrm>
              <a:off x="9839325" y="2047875"/>
              <a:ext cx="2352675" cy="514350"/>
            </a:xfrm>
            <a:prstGeom prst="rect">
              <a:avLst/>
            </a:prstGeom>
            <a:solidFill>
              <a:srgbClr val="F3F3F3"/>
            </a:solidFill>
            <a:ln>
              <a:noFill/>
            </a:ln>
          </p:spPr>
        </p:sp>
        <p:sp>
          <p:nvSpPr>
            <p:cNvPr id="188" name="TextBox 188"/>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89" name="Rectangle 189"/>
            <p:cNvSpPr/>
            <p:nvPr/>
          </p:nvSpPr>
          <p:spPr>
            <a:xfrm>
              <a:off x="9839325" y="2571750"/>
              <a:ext cx="2352675" cy="514350"/>
            </a:xfrm>
            <a:prstGeom prst="rect">
              <a:avLst/>
            </a:prstGeom>
            <a:solidFill>
              <a:srgbClr val="F3F3F3"/>
            </a:solidFill>
            <a:ln>
              <a:noFill/>
            </a:ln>
          </p:spPr>
        </p:sp>
        <p:sp>
          <p:nvSpPr>
            <p:cNvPr id="190" name="TextBox 190"/>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91" name="Rectangle 191"/>
            <p:cNvSpPr/>
            <p:nvPr/>
          </p:nvSpPr>
          <p:spPr>
            <a:xfrm>
              <a:off x="9839325" y="3095625"/>
              <a:ext cx="2352675" cy="514350"/>
            </a:xfrm>
            <a:prstGeom prst="rect">
              <a:avLst/>
            </a:prstGeom>
            <a:solidFill>
              <a:srgbClr val="6B1100"/>
            </a:solidFill>
            <a:ln>
              <a:noFill/>
            </a:ln>
          </p:spPr>
        </p:sp>
        <p:sp>
          <p:nvSpPr>
            <p:cNvPr id="192" name="TextBox 192"/>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193" name="Rectangle 193"/>
            <p:cNvSpPr/>
            <p:nvPr/>
          </p:nvSpPr>
          <p:spPr>
            <a:xfrm>
              <a:off x="9839325" y="3619500"/>
              <a:ext cx="2352675" cy="514350"/>
            </a:xfrm>
            <a:prstGeom prst="rect">
              <a:avLst/>
            </a:prstGeom>
            <a:solidFill>
              <a:srgbClr val="F3F3F3"/>
            </a:solidFill>
            <a:ln>
              <a:noFill/>
            </a:ln>
          </p:spPr>
        </p:sp>
        <p:sp>
          <p:nvSpPr>
            <p:cNvPr id="194" name="TextBox 194"/>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95" name="Rectangle 195"/>
            <p:cNvSpPr/>
            <p:nvPr/>
          </p:nvSpPr>
          <p:spPr>
            <a:xfrm>
              <a:off x="9839325" y="4143375"/>
              <a:ext cx="2352675" cy="514350"/>
            </a:xfrm>
            <a:prstGeom prst="rect">
              <a:avLst/>
            </a:prstGeom>
            <a:solidFill>
              <a:srgbClr val="F3F3F3"/>
            </a:solidFill>
            <a:ln>
              <a:noFill/>
            </a:ln>
          </p:spPr>
        </p:sp>
        <p:sp>
          <p:nvSpPr>
            <p:cNvPr id="196" name="TextBox 196"/>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97" name="Rectangle 197"/>
            <p:cNvSpPr/>
            <p:nvPr/>
          </p:nvSpPr>
          <p:spPr>
            <a:xfrm>
              <a:off x="9839325" y="4667250"/>
              <a:ext cx="2352675" cy="514350"/>
            </a:xfrm>
            <a:prstGeom prst="rect">
              <a:avLst/>
            </a:prstGeom>
            <a:solidFill>
              <a:srgbClr val="F3F3F3"/>
            </a:solidFill>
            <a:ln>
              <a:noFill/>
            </a:ln>
          </p:spPr>
        </p:sp>
        <p:sp>
          <p:nvSpPr>
            <p:cNvPr id="198" name="TextBox 198"/>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99" name="Rectangle 199"/>
            <p:cNvSpPr/>
            <p:nvPr/>
          </p:nvSpPr>
          <p:spPr>
            <a:xfrm>
              <a:off x="9839325" y="5191125"/>
              <a:ext cx="2352675" cy="514350"/>
            </a:xfrm>
            <a:prstGeom prst="rect">
              <a:avLst/>
            </a:prstGeom>
            <a:solidFill>
              <a:srgbClr val="F3F3F3"/>
            </a:solidFill>
            <a:ln>
              <a:noFill/>
            </a:ln>
          </p:spPr>
        </p:sp>
        <p:sp>
          <p:nvSpPr>
            <p:cNvPr id="200" name="TextBox 200"/>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201" name="Rectangle 201"/>
            <p:cNvSpPr/>
            <p:nvPr/>
          </p:nvSpPr>
          <p:spPr>
            <a:xfrm>
              <a:off x="9839325" y="5715000"/>
              <a:ext cx="2352675" cy="514350"/>
            </a:xfrm>
            <a:prstGeom prst="rect">
              <a:avLst/>
            </a:prstGeom>
            <a:solidFill>
              <a:srgbClr val="F3F3F3"/>
            </a:solidFill>
            <a:ln>
              <a:noFill/>
            </a:ln>
          </p:spPr>
        </p:sp>
        <p:sp>
          <p:nvSpPr>
            <p:cNvPr id="202" name="TextBox 202"/>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203" name="Ellipse 203"/>
            <p:cNvSpPr/>
            <p:nvPr/>
          </p:nvSpPr>
          <p:spPr>
            <a:xfrm>
              <a:off x="10020300" y="6372225"/>
              <a:ext cx="266700" cy="266700"/>
            </a:xfrm>
            <a:prstGeom prst="ellipse">
              <a:avLst/>
            </a:prstGeom>
            <a:solidFill>
              <a:srgbClr val="D7D8D6"/>
            </a:solidFill>
            <a:ln>
              <a:noFill/>
            </a:ln>
          </p:spPr>
        </p:sp>
        <p:sp>
          <p:nvSpPr>
            <p:cNvPr id="204" name="Freeform 204"/>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205" name="Ellipse 205"/>
            <p:cNvSpPr/>
            <p:nvPr/>
          </p:nvSpPr>
          <p:spPr>
            <a:xfrm>
              <a:off x="10420350" y="6372225"/>
              <a:ext cx="266700" cy="266700"/>
            </a:xfrm>
            <a:prstGeom prst="ellipse">
              <a:avLst/>
            </a:prstGeom>
            <a:solidFill>
              <a:srgbClr val="D7D8D6"/>
            </a:solidFill>
            <a:ln>
              <a:noFill/>
            </a:ln>
          </p:spPr>
        </p:sp>
        <p:grpSp>
          <p:nvGrpSpPr>
            <p:cNvPr id="209" name="Group 209"/>
            <p:cNvGrpSpPr/>
            <p:nvPr/>
          </p:nvGrpSpPr>
          <p:grpSpPr>
            <a:xfrm>
              <a:off x="10489406" y="6441281"/>
              <a:ext cx="128588" cy="128588"/>
              <a:chOff x="10489406" y="6441281"/>
              <a:chExt cx="128588" cy="128588"/>
            </a:xfrm>
          </p:grpSpPr>
          <p:sp>
            <p:nvSpPr>
              <p:cNvPr id="206" name="Freeform 206"/>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207" name="Freeform 207"/>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208" name="Freeform 208"/>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210" name="Ellipse 210"/>
            <p:cNvSpPr/>
            <p:nvPr/>
          </p:nvSpPr>
          <p:spPr>
            <a:xfrm>
              <a:off x="10820400" y="6372225"/>
              <a:ext cx="266700" cy="266700"/>
            </a:xfrm>
            <a:prstGeom prst="ellipse">
              <a:avLst/>
            </a:prstGeom>
            <a:solidFill>
              <a:srgbClr val="D7D8D6"/>
            </a:solidFill>
            <a:ln>
              <a:noFill/>
            </a:ln>
          </p:spPr>
        </p:sp>
        <p:sp>
          <p:nvSpPr>
            <p:cNvPr id="211" name="Freeform 211"/>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212" name="TextBox 212"/>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20</a:t>
              </a:r>
            </a:p>
          </p:txBody>
        </p:sp>
      </p:gr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21</a:t>
              </a:r>
            </a:p>
          </p:txBody>
        </p:sp>
        <p:sp>
          <p:nvSpPr>
            <p:cNvPr id="4" name="TextBox 4"/>
            <p:cNvSpPr txBox="1"/>
            <p:nvPr/>
          </p:nvSpPr>
          <p:spPr>
            <a:xfrm>
              <a:off x="942594" y="151448"/>
              <a:ext cx="572735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模型风险管理团队</a:t>
              </a:r>
              <a:r>
                <a:rPr lang="zh-CN" sz="1950" b="1" dirty="0">
                  <a:solidFill>
                    <a:srgbClr val="1A1A1A"/>
                  </a:solidFill>
                  <a:latin typeface="+mj-lt"/>
                  <a:ea typeface="+mj-ea"/>
                  <a:cs typeface="+mj-cs"/>
                </a:rPr>
                <a:t>与汇报线​</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3" name="col-1"/>
          <p:cNvGrpSpPr/>
          <p:nvPr/>
        </p:nvGrpSpPr>
        <p:grpSpPr>
          <a:xfrm>
            <a:off x="566547" y="847249"/>
            <a:ext cx="2621471" cy="3556158"/>
            <a:chOff x="566547" y="847249"/>
            <a:chExt cx="2621471" cy="3556158"/>
          </a:xfrm>
        </p:grpSpPr>
        <p:sp>
          <p:nvSpPr>
            <p:cNvPr id="7" name="TextBox 7"/>
            <p:cNvSpPr txBox="1"/>
            <p:nvPr/>
          </p:nvSpPr>
          <p:spPr>
            <a:xfrm>
              <a:off x="566547" y="847249"/>
              <a:ext cx="1141515"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模型风险管理团队​</a:t>
              </a:r>
            </a:p>
          </p:txBody>
        </p:sp>
        <p:sp>
          <p:nvSpPr>
            <p:cNvPr id="8" name="TextBox 8"/>
            <p:cNvSpPr txBox="1"/>
            <p:nvPr/>
          </p:nvSpPr>
          <p:spPr>
            <a:xfrm>
              <a:off x="566738" y="1012984"/>
              <a:ext cx="1381300"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Model risk management teams​</a:t>
              </a:r>
            </a:p>
          </p:txBody>
        </p:sp>
        <p:sp>
          <p:nvSpPr>
            <p:cNvPr id="9" name="TextBox 9"/>
            <p:cNvSpPr txBox="1"/>
            <p:nvPr/>
          </p:nvSpPr>
          <p:spPr>
            <a:xfrm>
              <a:off x="566738" y="1169670"/>
              <a:ext cx="2586990" cy="51911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模型风险管理、模型验证和模型风险监督均属于第​</a:t>
              </a:r>
              <a:br/>
              <a:r>
                <a:rPr lang="zh-CN" sz="900" dirty="0">
                  <a:solidFill>
                    <a:srgbClr val="333333"/>
                  </a:solidFill>
                  <a:latin typeface="+mn-lt"/>
                  <a:ea typeface="+mn-ea"/>
                  <a:cs typeface="+mn-cs"/>
                </a:rPr>
                <a:t>二道防线。然而，第二道防线的组织形式在各银行​</a:t>
              </a:r>
              <a:br/>
              <a:r>
                <a:rPr lang="zh-CN" sz="900" dirty="0">
                  <a:solidFill>
                    <a:srgbClr val="333333"/>
                  </a:solidFill>
                  <a:latin typeface="+mn-lt"/>
                  <a:ea typeface="+mn-ea"/>
                  <a:cs typeface="+mn-cs"/>
                </a:rPr>
                <a:t>之间有所不同。​</a:t>
              </a:r>
            </a:p>
          </p:txBody>
        </p:sp>
        <p:sp>
          <p:nvSpPr>
            <p:cNvPr id="10" name="TextBox 10"/>
            <p:cNvSpPr txBox="1"/>
            <p:nvPr/>
          </p:nvSpPr>
          <p:spPr>
            <a:xfrm>
              <a:off x="566738" y="1788795"/>
              <a:ext cx="2621280"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多数银行采用的汇报结构——同时也是最佳实践—​​​​</a:t>
              </a:r>
              <a:br/>
              <a:r>
                <a:rPr lang="zh-CN" sz="900" dirty="0">
                  <a:solidFill>
                    <a:srgbClr val="333333"/>
                  </a:solidFill>
                  <a:latin typeface="+mn-lt"/>
                  <a:ea typeface="+mn-ea"/>
                  <a:cs typeface="+mn-cs"/>
                </a:rPr>
                <a:t>—是模型风险管理负责人直接向CRO汇报。​​​</a:t>
              </a:r>
            </a:p>
          </p:txBody>
        </p:sp>
        <p:sp>
          <p:nvSpPr>
            <p:cNvPr id="11" name="TextBox 11"/>
            <p:cNvSpPr txBox="1"/>
            <p:nvPr/>
          </p:nvSpPr>
          <p:spPr>
            <a:xfrm>
              <a:off x="566738" y="2236470"/>
              <a:ext cx="2586990" cy="69056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另有24%的银行表示，模型风险管理负责人向​​</a:t>
              </a:r>
              <a:br/>
              <a:r>
                <a:rPr lang="zh-CN" sz="900" dirty="0">
                  <a:solidFill>
                    <a:srgbClr val="333333"/>
                  </a:solidFill>
                  <a:latin typeface="+mn-lt"/>
                  <a:ea typeface="+mn-ea"/>
                  <a:cs typeface="+mn-cs"/>
                </a:rPr>
                <a:t>企业风险管理负责人汇报，后者再向CRO汇​​</a:t>
              </a:r>
              <a:br/>
              <a:r>
                <a:rPr lang="zh-CN" sz="900" dirty="0">
                  <a:solidFill>
                    <a:srgbClr val="333333"/>
                  </a:solidFill>
                  <a:latin typeface="+mn-lt"/>
                  <a:ea typeface="+mn-ea"/>
                  <a:cs typeface="+mn-cs"/>
                </a:rPr>
                <a:t>报。仅有极少数银行表示模型风险管理负责人向操​</a:t>
              </a:r>
              <a:br/>
              <a:r>
                <a:rPr lang="zh-CN" sz="900" dirty="0">
                  <a:solidFill>
                    <a:srgbClr val="333333"/>
                  </a:solidFill>
                  <a:latin typeface="+mn-lt"/>
                  <a:ea typeface="+mn-ea"/>
                  <a:cs typeface="+mn-cs"/>
                </a:rPr>
                <a:t>作风险负责人汇报。​</a:t>
              </a:r>
            </a:p>
          </p:txBody>
        </p:sp>
        <p:sp>
          <p:nvSpPr>
            <p:cNvPr id="12" name="TextBox 12"/>
            <p:cNvSpPr txBox="1"/>
            <p:nvPr/>
          </p:nvSpPr>
          <p:spPr>
            <a:xfrm>
              <a:off x="566738" y="3027045"/>
              <a:ext cx="2586990" cy="137636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除集中化的模型风险管理职能外，部分银行还设有​</a:t>
              </a:r>
              <a:br/>
              <a:r>
                <a:rPr lang="zh-CN" sz="900" dirty="0">
                  <a:solidFill>
                    <a:srgbClr val="333333"/>
                  </a:solidFill>
                  <a:latin typeface="+mn-lt"/>
                  <a:ea typeface="+mn-ea"/>
                  <a:cs typeface="+mn-cs"/>
                </a:rPr>
                <a:t>去中心化的模型风险管理职能，它们有时向中央模​</a:t>
              </a:r>
              <a:br/>
              <a:r>
                <a:rPr lang="zh-CN" sz="900" dirty="0">
                  <a:solidFill>
                    <a:srgbClr val="333333"/>
                  </a:solidFill>
                  <a:latin typeface="+mn-lt"/>
                  <a:ea typeface="+mn-ea"/>
                  <a:cs typeface="+mn-cs"/>
                </a:rPr>
                <a:t>型风险管理团队汇报，有时直接向当地CRO​</a:t>
              </a:r>
              <a:br/>
              <a:r>
                <a:rPr lang="zh-CN" sz="900" dirty="0">
                  <a:solidFill>
                    <a:srgbClr val="333333"/>
                  </a:solidFill>
                  <a:latin typeface="+mn-lt"/>
                  <a:ea typeface="+mn-ea"/>
                  <a:cs typeface="+mn-cs"/>
                </a:rPr>
                <a:t>汇报。调研中提到的做法包括按关键风险类型设立​</a:t>
              </a:r>
              <a:br/>
              <a:r>
                <a:rPr lang="zh-CN" sz="900" dirty="0">
                  <a:solidFill>
                    <a:srgbClr val="333333"/>
                  </a:solidFill>
                  <a:latin typeface="+mn-lt"/>
                  <a:ea typeface="+mn-ea"/>
                  <a:cs typeface="+mn-cs"/>
                </a:rPr>
                <a:t>独立的模型风险管理部门，或按特定业务单元开展​</a:t>
              </a:r>
              <a:br/>
              <a:r>
                <a:rPr lang="zh-CN" sz="900" dirty="0">
                  <a:solidFill>
                    <a:srgbClr val="333333"/>
                  </a:solidFill>
                  <a:latin typeface="+mn-lt"/>
                  <a:ea typeface="+mn-ea"/>
                  <a:cs typeface="+mn-cs"/>
                </a:rPr>
                <a:t>模型风险管理。去中心化模型风险管理职能的挑战​</a:t>
              </a:r>
              <a:br/>
              <a:r>
                <a:rPr lang="zh-CN" sz="900" dirty="0">
                  <a:solidFill>
                    <a:srgbClr val="333333"/>
                  </a:solidFill>
                  <a:latin typeface="+mn-lt"/>
                  <a:ea typeface="+mn-ea"/>
                  <a:cs typeface="+mn-cs"/>
                </a:rPr>
                <a:t>在于政策、文档和程序在各风险类型、各业务单元​</a:t>
              </a:r>
              <a:br/>
              <a:r>
                <a:rPr lang="zh-CN" sz="900" dirty="0">
                  <a:solidFill>
                    <a:srgbClr val="333333"/>
                  </a:solidFill>
                  <a:latin typeface="+mn-lt"/>
                  <a:ea typeface="+mn-ea"/>
                  <a:cs typeface="+mn-cs"/>
                </a:rPr>
                <a:t>之间以及与中央模型风险管理部门之间的一致性。​</a:t>
              </a:r>
            </a:p>
          </p:txBody>
        </p:sp>
      </p:grpSp>
      <p:grpSp>
        <p:nvGrpSpPr>
          <p:cNvPr id="50" name="figure-21"/>
          <p:cNvGrpSpPr/>
          <p:nvPr/>
        </p:nvGrpSpPr>
        <p:grpSpPr>
          <a:xfrm>
            <a:off x="3633788" y="863441"/>
            <a:ext cx="5967412" cy="5708809"/>
            <a:chOff x="3633788" y="863441"/>
            <a:chExt cx="5967412" cy="5708809"/>
          </a:xfrm>
        </p:grpSpPr>
        <p:sp>
          <p:nvSpPr>
            <p:cNvPr id="14" name="TextBox 14"/>
            <p:cNvSpPr txBox="1"/>
            <p:nvPr/>
          </p:nvSpPr>
          <p:spPr>
            <a:xfrm>
              <a:off x="3633788" y="863441"/>
              <a:ext cx="1379440"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图21. 向CRO的汇报线​​​​</a:t>
              </a:r>
            </a:p>
          </p:txBody>
        </p:sp>
        <p:sp>
          <p:nvSpPr>
            <p:cNvPr id="15" name="TextBox 15"/>
            <p:cNvSpPr txBox="1"/>
            <p:nvPr/>
          </p:nvSpPr>
          <p:spPr>
            <a:xfrm>
              <a:off x="3633788" y="1007507"/>
              <a:ext cx="1215077"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Reporting lines to the CRO​​</a:t>
              </a:r>
            </a:p>
          </p:txBody>
        </p:sp>
        <p:sp>
          <p:nvSpPr>
            <p:cNvPr id="16" name="Rectangle 16"/>
            <p:cNvSpPr/>
            <p:nvPr/>
          </p:nvSpPr>
          <p:spPr>
            <a:xfrm>
              <a:off x="3638550" y="1181100"/>
              <a:ext cx="5962650" cy="5391150"/>
            </a:xfrm>
            <a:prstGeom prst="rect">
              <a:avLst/>
            </a:prstGeom>
            <a:solidFill>
              <a:srgbClr val="F7F7F7"/>
            </a:solidFill>
            <a:ln>
              <a:noFill/>
            </a:ln>
          </p:spPr>
        </p:sp>
        <p:sp>
          <p:nvSpPr>
            <p:cNvPr id="17" name="Ellipse 17"/>
            <p:cNvSpPr/>
            <p:nvPr/>
          </p:nvSpPr>
          <p:spPr>
            <a:xfrm>
              <a:off x="4076700" y="1552575"/>
              <a:ext cx="1181100" cy="1181100"/>
            </a:xfrm>
            <a:prstGeom prst="ellipse">
              <a:avLst/>
            </a:prstGeom>
            <a:solidFill>
              <a:srgbClr val="FFFFFF"/>
            </a:solidFill>
            <a:ln w="114300">
              <a:solidFill>
                <a:srgbClr val="6B1100"/>
              </a:solidFill>
            </a:ln>
          </p:spPr>
        </p:sp>
        <p:sp>
          <p:nvSpPr>
            <p:cNvPr id="18" name="Ellipse 18"/>
            <p:cNvSpPr/>
            <p:nvPr/>
          </p:nvSpPr>
          <p:spPr>
            <a:xfrm>
              <a:off x="4171950" y="1647825"/>
              <a:ext cx="990600" cy="990600"/>
            </a:xfrm>
            <a:prstGeom prst="ellipse">
              <a:avLst/>
            </a:prstGeom>
            <a:noFill/>
            <a:ln w="14288">
              <a:solidFill>
                <a:srgbClr val="C35642"/>
              </a:solidFill>
            </a:ln>
          </p:spPr>
        </p:sp>
        <p:sp>
          <p:nvSpPr>
            <p:cNvPr id="19" name="TextBox 19"/>
            <p:cNvSpPr txBox="1"/>
            <p:nvPr/>
          </p:nvSpPr>
          <p:spPr>
            <a:xfrm>
              <a:off x="4352788" y="2034540"/>
              <a:ext cx="628924" cy="352044"/>
            </a:xfrm>
            <a:prstGeom prst="rect">
              <a:avLst/>
            </a:prstGeom>
            <a:noFill/>
            <a:ln>
              <a:noFill/>
            </a:ln>
          </p:spPr>
          <p:txBody>
            <a:bodyPr wrap="none" lIns="0" tIns="0" rIns="0" bIns="0" anchor="t" anchorCtr="0">
              <a:spAutoFit/>
            </a:bodyPr>
            <a:lstStyle/>
            <a:p>
              <a:pPr algn="ctr"/>
              <a:r>
                <a:rPr lang="zh-CN" sz="1800" b="1" dirty="0">
                  <a:solidFill>
                    <a:srgbClr val="1A1A1A"/>
                  </a:solidFill>
                  <a:latin typeface="+mn-lt"/>
                  <a:ea typeface="+mn-ea"/>
                  <a:cs typeface="+mn-cs"/>
                </a:rPr>
                <a:t>51%​</a:t>
              </a:r>
            </a:p>
          </p:txBody>
        </p:sp>
        <p:sp>
          <p:nvSpPr>
            <p:cNvPr id="20" name="Rectangle 20"/>
            <p:cNvSpPr/>
            <p:nvPr/>
          </p:nvSpPr>
          <p:spPr>
            <a:xfrm>
              <a:off x="3981450" y="2857500"/>
              <a:ext cx="1371600" cy="3581400"/>
            </a:xfrm>
            <a:prstGeom prst="rect">
              <a:avLst/>
            </a:prstGeom>
            <a:solidFill>
              <a:srgbClr val="FFFFFF"/>
            </a:solidFill>
            <a:ln w="7620">
              <a:solidFill>
                <a:srgbClr val="C35642"/>
              </a:solidFill>
            </a:ln>
          </p:spPr>
        </p:sp>
        <p:sp>
          <p:nvSpPr>
            <p:cNvPr id="21" name="Rectangle 21"/>
            <p:cNvSpPr/>
            <p:nvPr/>
          </p:nvSpPr>
          <p:spPr>
            <a:xfrm>
              <a:off x="4000500" y="3143250"/>
              <a:ext cx="1333500" cy="381000"/>
            </a:xfrm>
            <a:prstGeom prst="rect">
              <a:avLst/>
            </a:prstGeom>
            <a:solidFill>
              <a:srgbClr val="E0AEA5"/>
            </a:solidFill>
            <a:ln>
              <a:noFill/>
            </a:ln>
          </p:spPr>
        </p:sp>
        <p:sp>
          <p:nvSpPr>
            <p:cNvPr id="22" name="TextBox 22"/>
            <p:cNvSpPr txBox="1"/>
            <p:nvPr/>
          </p:nvSpPr>
          <p:spPr>
            <a:xfrm>
              <a:off x="4501187" y="3284220"/>
              <a:ext cx="332125"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mn-lt"/>
                  <a:ea typeface="+mn-ea"/>
                  <a:cs typeface="+mn-cs"/>
                </a:rPr>
                <a:t>CRO​</a:t>
              </a:r>
            </a:p>
          </p:txBody>
        </p:sp>
        <p:sp>
          <p:nvSpPr>
            <p:cNvPr id="23" name="Polygon 23"/>
            <p:cNvSpPr/>
            <p:nvPr/>
          </p:nvSpPr>
          <p:spPr>
            <a:xfrm>
              <a:off x="4610100" y="3733800"/>
              <a:ext cx="114300" cy="95250"/>
            </a:xfrm>
            <a:custGeom>
              <a:avLst/>
              <a:gdLst/>
              <a:ahLst/>
              <a:cxnLst/>
              <a:rect l="l" t="t" r="r" b="b"/>
              <a:pathLst>
                <a:path w="114300" h="95250">
                  <a:moveTo>
                    <a:pt x="0" y="95250"/>
                  </a:moveTo>
                  <a:lnTo>
                    <a:pt x="114300" y="95250"/>
                  </a:lnTo>
                  <a:lnTo>
                    <a:pt x="57150" y="0"/>
                  </a:lnTo>
                  <a:close/>
                </a:path>
              </a:pathLst>
            </a:custGeom>
            <a:solidFill>
              <a:srgbClr val="AA1B00"/>
            </a:solidFill>
            <a:ln>
              <a:noFill/>
            </a:ln>
          </p:spPr>
        </p:sp>
        <p:sp>
          <p:nvSpPr>
            <p:cNvPr id="24" name="Rectangle 24"/>
            <p:cNvSpPr/>
            <p:nvPr/>
          </p:nvSpPr>
          <p:spPr>
            <a:xfrm>
              <a:off x="4000500" y="3905250"/>
              <a:ext cx="1333500" cy="495300"/>
            </a:xfrm>
            <a:prstGeom prst="rect">
              <a:avLst/>
            </a:prstGeom>
            <a:solidFill>
              <a:srgbClr val="E0AEA5"/>
            </a:solidFill>
            <a:ln>
              <a:noFill/>
            </a:ln>
          </p:spPr>
        </p:sp>
        <p:sp>
          <p:nvSpPr>
            <p:cNvPr id="25" name="TextBox 25"/>
            <p:cNvSpPr txBox="1"/>
            <p:nvPr/>
          </p:nvSpPr>
          <p:spPr>
            <a:xfrm>
              <a:off x="4182032" y="4029789"/>
              <a:ext cx="970436" cy="297656"/>
            </a:xfrm>
            <a:prstGeom prst="rect">
              <a:avLst/>
            </a:prstGeom>
            <a:noFill/>
            <a:ln>
              <a:noFill/>
            </a:ln>
          </p:spPr>
          <p:txBody>
            <a:bodyPr wrap="none" lIns="0" tIns="0" rIns="0" bIns="0" anchor="t" anchorCtr="0">
              <a:spAutoFit/>
            </a:bodyPr>
            <a:lstStyle/>
            <a:p>
              <a:pPr algn="ctr">
                <a:lnSpc>
                  <a:spcPts val="1125"/>
                </a:lnSpc>
              </a:pPr>
              <a:r>
                <a:rPr lang="zh-CN" sz="790" b="1" dirty="0">
                  <a:solidFill>
                    <a:srgbClr val="1A1A1A"/>
                  </a:solidFill>
                  <a:latin typeface="+mn-lt"/>
                  <a:ea typeface="+mn-ea"/>
                  <a:cs typeface="+mn-cs"/>
                </a:rPr>
                <a:t>模型风险管理负责人​</a:t>
              </a:r>
            </a:p>
            <a:p>
              <a:pPr algn="ctr">
                <a:lnSpc>
                  <a:spcPts val="1125"/>
                </a:lnSpc>
              </a:pPr>
              <a:r>
                <a:rPr lang="en-US" sz="600" dirty="0">
                  <a:solidFill>
                    <a:srgbClr val="333333"/>
                  </a:solidFill>
                  <a:latin typeface="+mn-lt"/>
                  <a:ea typeface="+mn-ea"/>
                  <a:cs typeface="+mn-cs"/>
                </a:rPr>
                <a:t>Head of MRM​​</a:t>
              </a:r>
            </a:p>
          </p:txBody>
        </p:sp>
        <p:sp>
          <p:nvSpPr>
            <p:cNvPr id="26" name="Ellipse 26"/>
            <p:cNvSpPr/>
            <p:nvPr/>
          </p:nvSpPr>
          <p:spPr>
            <a:xfrm>
              <a:off x="6029325" y="1552575"/>
              <a:ext cx="1181100" cy="1181100"/>
            </a:xfrm>
            <a:prstGeom prst="ellipse">
              <a:avLst/>
            </a:prstGeom>
            <a:solidFill>
              <a:srgbClr val="FFFFFF"/>
            </a:solidFill>
            <a:ln w="114300">
              <a:solidFill>
                <a:srgbClr val="6B1100"/>
              </a:solidFill>
            </a:ln>
          </p:spPr>
        </p:sp>
        <p:sp>
          <p:nvSpPr>
            <p:cNvPr id="27" name="Ellipse 27"/>
            <p:cNvSpPr/>
            <p:nvPr/>
          </p:nvSpPr>
          <p:spPr>
            <a:xfrm>
              <a:off x="6124575" y="1647825"/>
              <a:ext cx="990600" cy="990600"/>
            </a:xfrm>
            <a:prstGeom prst="ellipse">
              <a:avLst/>
            </a:prstGeom>
            <a:noFill/>
            <a:ln w="14288">
              <a:solidFill>
                <a:srgbClr val="C35642"/>
              </a:solidFill>
            </a:ln>
          </p:spPr>
        </p:sp>
        <p:sp>
          <p:nvSpPr>
            <p:cNvPr id="28" name="TextBox 28"/>
            <p:cNvSpPr txBox="1"/>
            <p:nvPr/>
          </p:nvSpPr>
          <p:spPr>
            <a:xfrm>
              <a:off x="6305413" y="2034540"/>
              <a:ext cx="628924" cy="352044"/>
            </a:xfrm>
            <a:prstGeom prst="rect">
              <a:avLst/>
            </a:prstGeom>
            <a:noFill/>
            <a:ln>
              <a:noFill/>
            </a:ln>
          </p:spPr>
          <p:txBody>
            <a:bodyPr wrap="none" lIns="0" tIns="0" rIns="0" bIns="0" anchor="t" anchorCtr="0">
              <a:spAutoFit/>
            </a:bodyPr>
            <a:lstStyle/>
            <a:p>
              <a:pPr algn="ctr"/>
              <a:r>
                <a:rPr lang="zh-CN" sz="1800" b="1" dirty="0">
                  <a:solidFill>
                    <a:srgbClr val="1A1A1A"/>
                  </a:solidFill>
                  <a:latin typeface="+mn-lt"/>
                  <a:ea typeface="+mn-ea"/>
                  <a:cs typeface="+mn-cs"/>
                </a:rPr>
                <a:t>24%​</a:t>
              </a:r>
            </a:p>
          </p:txBody>
        </p:sp>
        <p:sp>
          <p:nvSpPr>
            <p:cNvPr id="29" name="Rectangle 29"/>
            <p:cNvSpPr/>
            <p:nvPr/>
          </p:nvSpPr>
          <p:spPr>
            <a:xfrm>
              <a:off x="5934075" y="2857500"/>
              <a:ext cx="1371600" cy="3581400"/>
            </a:xfrm>
            <a:prstGeom prst="rect">
              <a:avLst/>
            </a:prstGeom>
            <a:solidFill>
              <a:srgbClr val="FFFFFF"/>
            </a:solidFill>
            <a:ln w="7620">
              <a:solidFill>
                <a:srgbClr val="C35642"/>
              </a:solidFill>
            </a:ln>
          </p:spPr>
        </p:sp>
        <p:sp>
          <p:nvSpPr>
            <p:cNvPr id="30" name="Rectangle 30"/>
            <p:cNvSpPr/>
            <p:nvPr/>
          </p:nvSpPr>
          <p:spPr>
            <a:xfrm>
              <a:off x="5953125" y="3143250"/>
              <a:ext cx="1333500" cy="381000"/>
            </a:xfrm>
            <a:prstGeom prst="rect">
              <a:avLst/>
            </a:prstGeom>
            <a:solidFill>
              <a:srgbClr val="E0AEA5"/>
            </a:solidFill>
            <a:ln>
              <a:noFill/>
            </a:ln>
          </p:spPr>
        </p:sp>
        <p:sp>
          <p:nvSpPr>
            <p:cNvPr id="31" name="TextBox 31"/>
            <p:cNvSpPr txBox="1"/>
            <p:nvPr/>
          </p:nvSpPr>
          <p:spPr>
            <a:xfrm>
              <a:off x="6453812" y="3284220"/>
              <a:ext cx="332125"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mn-lt"/>
                  <a:ea typeface="+mn-ea"/>
                  <a:cs typeface="+mn-cs"/>
                </a:rPr>
                <a:t>CRO​</a:t>
              </a:r>
            </a:p>
          </p:txBody>
        </p:sp>
        <p:sp>
          <p:nvSpPr>
            <p:cNvPr id="32" name="Polygon 32"/>
            <p:cNvSpPr/>
            <p:nvPr/>
          </p:nvSpPr>
          <p:spPr>
            <a:xfrm>
              <a:off x="6562725" y="3733800"/>
              <a:ext cx="114300" cy="95250"/>
            </a:xfrm>
            <a:custGeom>
              <a:avLst/>
              <a:gdLst/>
              <a:ahLst/>
              <a:cxnLst/>
              <a:rect l="l" t="t" r="r" b="b"/>
              <a:pathLst>
                <a:path w="114300" h="95250">
                  <a:moveTo>
                    <a:pt x="0" y="95250"/>
                  </a:moveTo>
                  <a:lnTo>
                    <a:pt x="114300" y="95250"/>
                  </a:lnTo>
                  <a:lnTo>
                    <a:pt x="57150" y="0"/>
                  </a:lnTo>
                  <a:close/>
                </a:path>
              </a:pathLst>
            </a:custGeom>
            <a:solidFill>
              <a:srgbClr val="AA1B00"/>
            </a:solidFill>
            <a:ln>
              <a:noFill/>
            </a:ln>
          </p:spPr>
        </p:sp>
        <p:sp>
          <p:nvSpPr>
            <p:cNvPr id="33" name="Rectangle 33"/>
            <p:cNvSpPr/>
            <p:nvPr/>
          </p:nvSpPr>
          <p:spPr>
            <a:xfrm>
              <a:off x="5953125" y="3905250"/>
              <a:ext cx="1333500" cy="495300"/>
            </a:xfrm>
            <a:prstGeom prst="rect">
              <a:avLst/>
            </a:prstGeom>
            <a:solidFill>
              <a:srgbClr val="E0AEA5"/>
            </a:solidFill>
            <a:ln>
              <a:noFill/>
            </a:ln>
          </p:spPr>
        </p:sp>
        <p:sp>
          <p:nvSpPr>
            <p:cNvPr id="34" name="TextBox 34"/>
            <p:cNvSpPr txBox="1"/>
            <p:nvPr/>
          </p:nvSpPr>
          <p:spPr>
            <a:xfrm>
              <a:off x="6007418" y="4029789"/>
              <a:ext cx="1224915" cy="297656"/>
            </a:xfrm>
            <a:prstGeom prst="rect">
              <a:avLst/>
            </a:prstGeom>
            <a:noFill/>
            <a:ln>
              <a:noFill/>
            </a:ln>
          </p:spPr>
          <p:txBody>
            <a:bodyPr wrap="none" lIns="0" tIns="0" rIns="0" bIns="0" anchor="t" anchorCtr="0">
              <a:spAutoFit/>
            </a:bodyPr>
            <a:lstStyle/>
            <a:p>
              <a:pPr algn="ctr">
                <a:lnSpc>
                  <a:spcPts val="1125"/>
                </a:lnSpc>
              </a:pPr>
              <a:r>
                <a:rPr lang="zh-CN" sz="790" b="1" dirty="0">
                  <a:solidFill>
                    <a:srgbClr val="1A1A1A"/>
                  </a:solidFill>
                  <a:latin typeface="+mn-lt"/>
                  <a:ea typeface="+mn-ea"/>
                  <a:cs typeface="+mn-cs"/>
                </a:rPr>
                <a:t>企业风险管理负责人​</a:t>
              </a:r>
            </a:p>
            <a:p>
              <a:pPr algn="ctr">
                <a:lnSpc>
                  <a:spcPts val="1125"/>
                </a:lnSpc>
              </a:pPr>
              <a:r>
                <a:rPr lang="en-US" sz="600" dirty="0">
                  <a:solidFill>
                    <a:srgbClr val="333333"/>
                  </a:solidFill>
                  <a:latin typeface="+mn-lt"/>
                  <a:ea typeface="+mn-ea"/>
                  <a:cs typeface="+mn-cs"/>
                </a:rPr>
                <a:t>Head of enterprise risk mgmt.​​</a:t>
              </a:r>
            </a:p>
          </p:txBody>
        </p:sp>
        <p:sp>
          <p:nvSpPr>
            <p:cNvPr id="35" name="Polygon 35"/>
            <p:cNvSpPr/>
            <p:nvPr/>
          </p:nvSpPr>
          <p:spPr>
            <a:xfrm>
              <a:off x="6562725" y="4610100"/>
              <a:ext cx="114300" cy="95250"/>
            </a:xfrm>
            <a:custGeom>
              <a:avLst/>
              <a:gdLst/>
              <a:ahLst/>
              <a:cxnLst/>
              <a:rect l="l" t="t" r="r" b="b"/>
              <a:pathLst>
                <a:path w="114300" h="95250">
                  <a:moveTo>
                    <a:pt x="0" y="95250"/>
                  </a:moveTo>
                  <a:lnTo>
                    <a:pt x="114300" y="95250"/>
                  </a:lnTo>
                  <a:lnTo>
                    <a:pt x="57150" y="0"/>
                  </a:lnTo>
                  <a:close/>
                </a:path>
              </a:pathLst>
            </a:custGeom>
            <a:solidFill>
              <a:srgbClr val="AA1B00"/>
            </a:solidFill>
            <a:ln>
              <a:noFill/>
            </a:ln>
          </p:spPr>
        </p:sp>
        <p:sp>
          <p:nvSpPr>
            <p:cNvPr id="36" name="Rectangle 36"/>
            <p:cNvSpPr/>
            <p:nvPr/>
          </p:nvSpPr>
          <p:spPr>
            <a:xfrm>
              <a:off x="5953125" y="4781550"/>
              <a:ext cx="1333500" cy="495300"/>
            </a:xfrm>
            <a:prstGeom prst="rect">
              <a:avLst/>
            </a:prstGeom>
            <a:solidFill>
              <a:srgbClr val="E0AEA5"/>
            </a:solidFill>
            <a:ln>
              <a:noFill/>
            </a:ln>
          </p:spPr>
        </p:sp>
        <p:sp>
          <p:nvSpPr>
            <p:cNvPr id="37" name="TextBox 37"/>
            <p:cNvSpPr txBox="1"/>
            <p:nvPr/>
          </p:nvSpPr>
          <p:spPr>
            <a:xfrm>
              <a:off x="6134657" y="4906089"/>
              <a:ext cx="970436" cy="297656"/>
            </a:xfrm>
            <a:prstGeom prst="rect">
              <a:avLst/>
            </a:prstGeom>
            <a:noFill/>
            <a:ln>
              <a:noFill/>
            </a:ln>
          </p:spPr>
          <p:txBody>
            <a:bodyPr wrap="none" lIns="0" tIns="0" rIns="0" bIns="0" anchor="t" anchorCtr="0">
              <a:spAutoFit/>
            </a:bodyPr>
            <a:lstStyle/>
            <a:p>
              <a:pPr algn="ctr">
                <a:lnSpc>
                  <a:spcPts val="1125"/>
                </a:lnSpc>
              </a:pPr>
              <a:r>
                <a:rPr lang="zh-CN" sz="790" b="1" dirty="0">
                  <a:solidFill>
                    <a:srgbClr val="1A1A1A"/>
                  </a:solidFill>
                  <a:latin typeface="+mn-lt"/>
                  <a:ea typeface="+mn-ea"/>
                  <a:cs typeface="+mn-cs"/>
                </a:rPr>
                <a:t>模型风险管理负责人​</a:t>
              </a:r>
            </a:p>
            <a:p>
              <a:pPr algn="ctr">
                <a:lnSpc>
                  <a:spcPts val="1125"/>
                </a:lnSpc>
              </a:pPr>
              <a:r>
                <a:rPr lang="en-US" sz="600" dirty="0">
                  <a:solidFill>
                    <a:srgbClr val="333333"/>
                  </a:solidFill>
                  <a:latin typeface="+mn-lt"/>
                  <a:ea typeface="+mn-ea"/>
                  <a:cs typeface="+mn-cs"/>
                </a:rPr>
                <a:t>Head of MRM​​</a:t>
              </a:r>
            </a:p>
          </p:txBody>
        </p:sp>
        <p:sp>
          <p:nvSpPr>
            <p:cNvPr id="38" name="Ellipse 38"/>
            <p:cNvSpPr/>
            <p:nvPr/>
          </p:nvSpPr>
          <p:spPr>
            <a:xfrm>
              <a:off x="7981950" y="1552575"/>
              <a:ext cx="1181100" cy="1181100"/>
            </a:xfrm>
            <a:prstGeom prst="ellipse">
              <a:avLst/>
            </a:prstGeom>
            <a:solidFill>
              <a:srgbClr val="FFFFFF"/>
            </a:solidFill>
            <a:ln w="114300">
              <a:solidFill>
                <a:srgbClr val="6B1100"/>
              </a:solidFill>
            </a:ln>
          </p:spPr>
        </p:sp>
        <p:sp>
          <p:nvSpPr>
            <p:cNvPr id="39" name="Ellipse 39"/>
            <p:cNvSpPr/>
            <p:nvPr/>
          </p:nvSpPr>
          <p:spPr>
            <a:xfrm>
              <a:off x="8077200" y="1647825"/>
              <a:ext cx="990600" cy="990600"/>
            </a:xfrm>
            <a:prstGeom prst="ellipse">
              <a:avLst/>
            </a:prstGeom>
            <a:noFill/>
            <a:ln w="14288">
              <a:solidFill>
                <a:srgbClr val="C35642"/>
              </a:solidFill>
            </a:ln>
          </p:spPr>
        </p:sp>
        <p:sp>
          <p:nvSpPr>
            <p:cNvPr id="40" name="TextBox 40"/>
            <p:cNvSpPr txBox="1"/>
            <p:nvPr/>
          </p:nvSpPr>
          <p:spPr>
            <a:xfrm>
              <a:off x="8328007" y="2034540"/>
              <a:ext cx="488987" cy="352044"/>
            </a:xfrm>
            <a:prstGeom prst="rect">
              <a:avLst/>
            </a:prstGeom>
            <a:noFill/>
            <a:ln>
              <a:noFill/>
            </a:ln>
          </p:spPr>
          <p:txBody>
            <a:bodyPr wrap="none" lIns="0" tIns="0" rIns="0" bIns="0" anchor="t" anchorCtr="0">
              <a:spAutoFit/>
            </a:bodyPr>
            <a:lstStyle/>
            <a:p>
              <a:pPr algn="ctr"/>
              <a:r>
                <a:rPr lang="zh-CN" sz="1800" b="1" dirty="0">
                  <a:solidFill>
                    <a:srgbClr val="1A1A1A"/>
                  </a:solidFill>
                  <a:latin typeface="+mn-lt"/>
                  <a:ea typeface="+mn-ea"/>
                  <a:cs typeface="+mn-cs"/>
                </a:rPr>
                <a:t>1%​</a:t>
              </a:r>
            </a:p>
          </p:txBody>
        </p:sp>
        <p:sp>
          <p:nvSpPr>
            <p:cNvPr id="41" name="Rectangle 41"/>
            <p:cNvSpPr/>
            <p:nvPr/>
          </p:nvSpPr>
          <p:spPr>
            <a:xfrm>
              <a:off x="7886700" y="2857500"/>
              <a:ext cx="1371600" cy="3581400"/>
            </a:xfrm>
            <a:prstGeom prst="rect">
              <a:avLst/>
            </a:prstGeom>
            <a:solidFill>
              <a:srgbClr val="FFFFFF"/>
            </a:solidFill>
            <a:ln w="7620">
              <a:solidFill>
                <a:srgbClr val="C35642"/>
              </a:solidFill>
            </a:ln>
          </p:spPr>
        </p:sp>
        <p:sp>
          <p:nvSpPr>
            <p:cNvPr id="42" name="Rectangle 42"/>
            <p:cNvSpPr/>
            <p:nvPr/>
          </p:nvSpPr>
          <p:spPr>
            <a:xfrm>
              <a:off x="7905750" y="3143250"/>
              <a:ext cx="1333500" cy="381000"/>
            </a:xfrm>
            <a:prstGeom prst="rect">
              <a:avLst/>
            </a:prstGeom>
            <a:solidFill>
              <a:srgbClr val="E0AEA5"/>
            </a:solidFill>
            <a:ln>
              <a:noFill/>
            </a:ln>
          </p:spPr>
        </p:sp>
        <p:sp>
          <p:nvSpPr>
            <p:cNvPr id="43" name="TextBox 43"/>
            <p:cNvSpPr txBox="1"/>
            <p:nvPr/>
          </p:nvSpPr>
          <p:spPr>
            <a:xfrm>
              <a:off x="8406437" y="3284220"/>
              <a:ext cx="332125"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mn-lt"/>
                  <a:ea typeface="+mn-ea"/>
                  <a:cs typeface="+mn-cs"/>
                </a:rPr>
                <a:t>CRO​</a:t>
              </a:r>
            </a:p>
          </p:txBody>
        </p:sp>
        <p:sp>
          <p:nvSpPr>
            <p:cNvPr id="44" name="Polygon 44"/>
            <p:cNvSpPr/>
            <p:nvPr/>
          </p:nvSpPr>
          <p:spPr>
            <a:xfrm>
              <a:off x="8515350" y="3733800"/>
              <a:ext cx="114300" cy="95250"/>
            </a:xfrm>
            <a:custGeom>
              <a:avLst/>
              <a:gdLst/>
              <a:ahLst/>
              <a:cxnLst/>
              <a:rect l="l" t="t" r="r" b="b"/>
              <a:pathLst>
                <a:path w="114300" h="95250">
                  <a:moveTo>
                    <a:pt x="0" y="95250"/>
                  </a:moveTo>
                  <a:lnTo>
                    <a:pt x="114300" y="95250"/>
                  </a:lnTo>
                  <a:lnTo>
                    <a:pt x="57150" y="0"/>
                  </a:lnTo>
                  <a:close/>
                </a:path>
              </a:pathLst>
            </a:custGeom>
            <a:solidFill>
              <a:srgbClr val="AA1B00"/>
            </a:solidFill>
            <a:ln>
              <a:noFill/>
            </a:ln>
          </p:spPr>
        </p:sp>
        <p:sp>
          <p:nvSpPr>
            <p:cNvPr id="45" name="Rectangle 45"/>
            <p:cNvSpPr/>
            <p:nvPr/>
          </p:nvSpPr>
          <p:spPr>
            <a:xfrm>
              <a:off x="7905750" y="3905250"/>
              <a:ext cx="1333500" cy="495300"/>
            </a:xfrm>
            <a:prstGeom prst="rect">
              <a:avLst/>
            </a:prstGeom>
            <a:solidFill>
              <a:srgbClr val="E0AEA5"/>
            </a:solidFill>
            <a:ln>
              <a:noFill/>
            </a:ln>
          </p:spPr>
        </p:sp>
        <p:sp>
          <p:nvSpPr>
            <p:cNvPr id="46" name="TextBox 46"/>
            <p:cNvSpPr txBox="1"/>
            <p:nvPr/>
          </p:nvSpPr>
          <p:spPr>
            <a:xfrm>
              <a:off x="8080058" y="4029789"/>
              <a:ext cx="984885" cy="297656"/>
            </a:xfrm>
            <a:prstGeom prst="rect">
              <a:avLst/>
            </a:prstGeom>
            <a:noFill/>
            <a:ln>
              <a:noFill/>
            </a:ln>
          </p:spPr>
          <p:txBody>
            <a:bodyPr wrap="none" lIns="0" tIns="0" rIns="0" bIns="0" anchor="t" anchorCtr="0">
              <a:spAutoFit/>
            </a:bodyPr>
            <a:lstStyle/>
            <a:p>
              <a:pPr algn="ctr">
                <a:lnSpc>
                  <a:spcPts val="1125"/>
                </a:lnSpc>
              </a:pPr>
              <a:r>
                <a:rPr lang="zh-CN" sz="790" b="1" dirty="0">
                  <a:solidFill>
                    <a:srgbClr val="1A1A1A"/>
                  </a:solidFill>
                  <a:latin typeface="+mn-lt"/>
                  <a:ea typeface="+mn-ea"/>
                  <a:cs typeface="+mn-cs"/>
                </a:rPr>
                <a:t>操作风险负责人​</a:t>
              </a:r>
            </a:p>
            <a:p>
              <a:pPr algn="ctr">
                <a:lnSpc>
                  <a:spcPts val="1125"/>
                </a:lnSpc>
              </a:pPr>
              <a:r>
                <a:rPr lang="en-US" sz="600" dirty="0">
                  <a:solidFill>
                    <a:srgbClr val="333333"/>
                  </a:solidFill>
                  <a:latin typeface="+mn-lt"/>
                  <a:ea typeface="+mn-ea"/>
                  <a:cs typeface="+mn-cs"/>
                </a:rPr>
                <a:t>Head of operational risk​​</a:t>
              </a:r>
            </a:p>
          </p:txBody>
        </p:sp>
        <p:sp>
          <p:nvSpPr>
            <p:cNvPr id="47" name="Polygon 47"/>
            <p:cNvSpPr/>
            <p:nvPr/>
          </p:nvSpPr>
          <p:spPr>
            <a:xfrm>
              <a:off x="8515350" y="4610100"/>
              <a:ext cx="114300" cy="95250"/>
            </a:xfrm>
            <a:custGeom>
              <a:avLst/>
              <a:gdLst/>
              <a:ahLst/>
              <a:cxnLst/>
              <a:rect l="l" t="t" r="r" b="b"/>
              <a:pathLst>
                <a:path w="114300" h="95250">
                  <a:moveTo>
                    <a:pt x="0" y="95250"/>
                  </a:moveTo>
                  <a:lnTo>
                    <a:pt x="114300" y="95250"/>
                  </a:lnTo>
                  <a:lnTo>
                    <a:pt x="57150" y="0"/>
                  </a:lnTo>
                  <a:close/>
                </a:path>
              </a:pathLst>
            </a:custGeom>
            <a:solidFill>
              <a:srgbClr val="AA1B00"/>
            </a:solidFill>
            <a:ln>
              <a:noFill/>
            </a:ln>
          </p:spPr>
        </p:sp>
        <p:sp>
          <p:nvSpPr>
            <p:cNvPr id="48" name="Rectangle 48"/>
            <p:cNvSpPr/>
            <p:nvPr/>
          </p:nvSpPr>
          <p:spPr>
            <a:xfrm>
              <a:off x="7905750" y="4781550"/>
              <a:ext cx="1333500" cy="495300"/>
            </a:xfrm>
            <a:prstGeom prst="rect">
              <a:avLst/>
            </a:prstGeom>
            <a:solidFill>
              <a:srgbClr val="E0AEA5"/>
            </a:solidFill>
            <a:ln>
              <a:noFill/>
            </a:ln>
          </p:spPr>
        </p:sp>
        <p:sp>
          <p:nvSpPr>
            <p:cNvPr id="49" name="TextBox 49"/>
            <p:cNvSpPr txBox="1"/>
            <p:nvPr/>
          </p:nvSpPr>
          <p:spPr>
            <a:xfrm>
              <a:off x="8087282" y="4906089"/>
              <a:ext cx="970436" cy="297656"/>
            </a:xfrm>
            <a:prstGeom prst="rect">
              <a:avLst/>
            </a:prstGeom>
            <a:noFill/>
            <a:ln>
              <a:noFill/>
            </a:ln>
          </p:spPr>
          <p:txBody>
            <a:bodyPr wrap="none" lIns="0" tIns="0" rIns="0" bIns="0" anchor="t" anchorCtr="0">
              <a:spAutoFit/>
            </a:bodyPr>
            <a:lstStyle/>
            <a:p>
              <a:pPr algn="ctr">
                <a:lnSpc>
                  <a:spcPts val="1125"/>
                </a:lnSpc>
              </a:pPr>
              <a:r>
                <a:rPr lang="zh-CN" sz="790" b="1" dirty="0">
                  <a:solidFill>
                    <a:srgbClr val="1A1A1A"/>
                  </a:solidFill>
                  <a:latin typeface="+mn-lt"/>
                  <a:ea typeface="+mn-ea"/>
                  <a:cs typeface="+mn-cs"/>
                </a:rPr>
                <a:t>模型风险管理负责人​</a:t>
              </a:r>
            </a:p>
            <a:p>
              <a:pPr algn="ctr">
                <a:lnSpc>
                  <a:spcPts val="1125"/>
                </a:lnSpc>
              </a:pPr>
              <a:r>
                <a:rPr lang="en-US" sz="600" dirty="0">
                  <a:solidFill>
                    <a:srgbClr val="333333"/>
                  </a:solidFill>
                  <a:latin typeface="+mn-lt"/>
                  <a:ea typeface="+mn-ea"/>
                  <a:cs typeface="+mn-cs"/>
                </a:rPr>
                <a:t>Head of MRM​​</a:t>
              </a:r>
            </a:p>
          </p:txBody>
        </p:sp>
      </p:grpSp>
      <p:grpSp>
        <p:nvGrpSpPr>
          <p:cNvPr id="84" name="nav"/>
          <p:cNvGrpSpPr/>
          <p:nvPr/>
        </p:nvGrpSpPr>
        <p:grpSpPr>
          <a:xfrm>
            <a:off x="9834562" y="0"/>
            <a:ext cx="2357438" cy="6858000"/>
            <a:chOff x="9834562" y="0"/>
            <a:chExt cx="2357438" cy="6858000"/>
          </a:xfrm>
        </p:grpSpPr>
        <p:sp>
          <p:nvSpPr>
            <p:cNvPr id="51" name="Line 51"/>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52" name="Rectangle 52"/>
            <p:cNvSpPr/>
            <p:nvPr/>
          </p:nvSpPr>
          <p:spPr>
            <a:xfrm>
              <a:off x="9839325" y="476250"/>
              <a:ext cx="2352675" cy="514350"/>
            </a:xfrm>
            <a:prstGeom prst="rect">
              <a:avLst/>
            </a:prstGeom>
            <a:solidFill>
              <a:srgbClr val="F3F3F3"/>
            </a:solidFill>
            <a:ln>
              <a:noFill/>
            </a:ln>
          </p:spPr>
        </p:sp>
        <p:sp>
          <p:nvSpPr>
            <p:cNvPr id="53" name="TextBox 53"/>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54" name="Rectangle 54"/>
            <p:cNvSpPr/>
            <p:nvPr/>
          </p:nvSpPr>
          <p:spPr>
            <a:xfrm>
              <a:off x="9839325" y="1000125"/>
              <a:ext cx="2352675" cy="514350"/>
            </a:xfrm>
            <a:prstGeom prst="rect">
              <a:avLst/>
            </a:prstGeom>
            <a:solidFill>
              <a:srgbClr val="F3F3F3"/>
            </a:solidFill>
            <a:ln>
              <a:noFill/>
            </a:ln>
          </p:spPr>
        </p:sp>
        <p:sp>
          <p:nvSpPr>
            <p:cNvPr id="55" name="TextBox 55"/>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56" name="Rectangle 56"/>
            <p:cNvSpPr/>
            <p:nvPr/>
          </p:nvSpPr>
          <p:spPr>
            <a:xfrm>
              <a:off x="9839325" y="1524000"/>
              <a:ext cx="2352675" cy="514350"/>
            </a:xfrm>
            <a:prstGeom prst="rect">
              <a:avLst/>
            </a:prstGeom>
            <a:solidFill>
              <a:srgbClr val="F3F3F3"/>
            </a:solidFill>
            <a:ln>
              <a:noFill/>
            </a:ln>
          </p:spPr>
        </p:sp>
        <p:sp>
          <p:nvSpPr>
            <p:cNvPr id="57" name="TextBox 57"/>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58" name="Rectangle 58"/>
            <p:cNvSpPr/>
            <p:nvPr/>
          </p:nvSpPr>
          <p:spPr>
            <a:xfrm>
              <a:off x="9839325" y="2047875"/>
              <a:ext cx="2352675" cy="514350"/>
            </a:xfrm>
            <a:prstGeom prst="rect">
              <a:avLst/>
            </a:prstGeom>
            <a:solidFill>
              <a:srgbClr val="F3F3F3"/>
            </a:solidFill>
            <a:ln>
              <a:noFill/>
            </a:ln>
          </p:spPr>
        </p:sp>
        <p:sp>
          <p:nvSpPr>
            <p:cNvPr id="59" name="TextBox 59"/>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60" name="Rectangle 60"/>
            <p:cNvSpPr/>
            <p:nvPr/>
          </p:nvSpPr>
          <p:spPr>
            <a:xfrm>
              <a:off x="9839325" y="2571750"/>
              <a:ext cx="2352675" cy="514350"/>
            </a:xfrm>
            <a:prstGeom prst="rect">
              <a:avLst/>
            </a:prstGeom>
            <a:solidFill>
              <a:srgbClr val="F3F3F3"/>
            </a:solidFill>
            <a:ln>
              <a:noFill/>
            </a:ln>
          </p:spPr>
        </p:sp>
        <p:sp>
          <p:nvSpPr>
            <p:cNvPr id="61" name="TextBox 61"/>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62" name="Rectangle 62"/>
            <p:cNvSpPr/>
            <p:nvPr/>
          </p:nvSpPr>
          <p:spPr>
            <a:xfrm>
              <a:off x="9839325" y="3095625"/>
              <a:ext cx="2352675" cy="514350"/>
            </a:xfrm>
            <a:prstGeom prst="rect">
              <a:avLst/>
            </a:prstGeom>
            <a:solidFill>
              <a:srgbClr val="6B1100"/>
            </a:solidFill>
            <a:ln>
              <a:noFill/>
            </a:ln>
          </p:spPr>
        </p:sp>
        <p:sp>
          <p:nvSpPr>
            <p:cNvPr id="63" name="TextBox 63"/>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64" name="Rectangle 64"/>
            <p:cNvSpPr/>
            <p:nvPr/>
          </p:nvSpPr>
          <p:spPr>
            <a:xfrm>
              <a:off x="9839325" y="3619500"/>
              <a:ext cx="2352675" cy="514350"/>
            </a:xfrm>
            <a:prstGeom prst="rect">
              <a:avLst/>
            </a:prstGeom>
            <a:solidFill>
              <a:srgbClr val="F3F3F3"/>
            </a:solidFill>
            <a:ln>
              <a:noFill/>
            </a:ln>
          </p:spPr>
        </p:sp>
        <p:sp>
          <p:nvSpPr>
            <p:cNvPr id="65" name="TextBox 65"/>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66" name="Rectangle 66"/>
            <p:cNvSpPr/>
            <p:nvPr/>
          </p:nvSpPr>
          <p:spPr>
            <a:xfrm>
              <a:off x="9839325" y="4143375"/>
              <a:ext cx="2352675" cy="514350"/>
            </a:xfrm>
            <a:prstGeom prst="rect">
              <a:avLst/>
            </a:prstGeom>
            <a:solidFill>
              <a:srgbClr val="F3F3F3"/>
            </a:solidFill>
            <a:ln>
              <a:noFill/>
            </a:ln>
          </p:spPr>
        </p:sp>
        <p:sp>
          <p:nvSpPr>
            <p:cNvPr id="67" name="TextBox 67"/>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68" name="Rectangle 68"/>
            <p:cNvSpPr/>
            <p:nvPr/>
          </p:nvSpPr>
          <p:spPr>
            <a:xfrm>
              <a:off x="9839325" y="4667250"/>
              <a:ext cx="2352675" cy="514350"/>
            </a:xfrm>
            <a:prstGeom prst="rect">
              <a:avLst/>
            </a:prstGeom>
            <a:solidFill>
              <a:srgbClr val="F3F3F3"/>
            </a:solidFill>
            <a:ln>
              <a:noFill/>
            </a:ln>
          </p:spPr>
        </p:sp>
        <p:sp>
          <p:nvSpPr>
            <p:cNvPr id="69" name="TextBox 69"/>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70" name="Rectangle 70"/>
            <p:cNvSpPr/>
            <p:nvPr/>
          </p:nvSpPr>
          <p:spPr>
            <a:xfrm>
              <a:off x="9839325" y="5191125"/>
              <a:ext cx="2352675" cy="514350"/>
            </a:xfrm>
            <a:prstGeom prst="rect">
              <a:avLst/>
            </a:prstGeom>
            <a:solidFill>
              <a:srgbClr val="F3F3F3"/>
            </a:solidFill>
            <a:ln>
              <a:noFill/>
            </a:ln>
          </p:spPr>
        </p:sp>
        <p:sp>
          <p:nvSpPr>
            <p:cNvPr id="71" name="TextBox 71"/>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72" name="Rectangle 72"/>
            <p:cNvSpPr/>
            <p:nvPr/>
          </p:nvSpPr>
          <p:spPr>
            <a:xfrm>
              <a:off x="9839325" y="5715000"/>
              <a:ext cx="2352675" cy="514350"/>
            </a:xfrm>
            <a:prstGeom prst="rect">
              <a:avLst/>
            </a:prstGeom>
            <a:solidFill>
              <a:srgbClr val="F3F3F3"/>
            </a:solidFill>
            <a:ln>
              <a:noFill/>
            </a:ln>
          </p:spPr>
        </p:sp>
        <p:sp>
          <p:nvSpPr>
            <p:cNvPr id="73" name="TextBox 73"/>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74" name="Ellipse 74"/>
            <p:cNvSpPr/>
            <p:nvPr/>
          </p:nvSpPr>
          <p:spPr>
            <a:xfrm>
              <a:off x="10020300" y="6372225"/>
              <a:ext cx="266700" cy="266700"/>
            </a:xfrm>
            <a:prstGeom prst="ellipse">
              <a:avLst/>
            </a:prstGeom>
            <a:solidFill>
              <a:srgbClr val="D7D8D6"/>
            </a:solidFill>
            <a:ln>
              <a:noFill/>
            </a:ln>
          </p:spPr>
        </p:sp>
        <p:sp>
          <p:nvSpPr>
            <p:cNvPr id="75" name="Freeform 75"/>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76" name="Ellipse 76"/>
            <p:cNvSpPr/>
            <p:nvPr/>
          </p:nvSpPr>
          <p:spPr>
            <a:xfrm>
              <a:off x="10420350" y="6372225"/>
              <a:ext cx="266700" cy="266700"/>
            </a:xfrm>
            <a:prstGeom prst="ellipse">
              <a:avLst/>
            </a:prstGeom>
            <a:solidFill>
              <a:srgbClr val="D7D8D6"/>
            </a:solidFill>
            <a:ln>
              <a:noFill/>
            </a:ln>
          </p:spPr>
        </p:sp>
        <p:grpSp>
          <p:nvGrpSpPr>
            <p:cNvPr id="80" name="Group 80"/>
            <p:cNvGrpSpPr/>
            <p:nvPr/>
          </p:nvGrpSpPr>
          <p:grpSpPr>
            <a:xfrm>
              <a:off x="10489406" y="6441281"/>
              <a:ext cx="128588" cy="128588"/>
              <a:chOff x="10489406" y="6441281"/>
              <a:chExt cx="128588" cy="128588"/>
            </a:xfrm>
          </p:grpSpPr>
          <p:sp>
            <p:nvSpPr>
              <p:cNvPr id="77" name="Freeform 77"/>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78" name="Freeform 78"/>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79" name="Freeform 79"/>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81" name="Ellipse 81"/>
            <p:cNvSpPr/>
            <p:nvPr/>
          </p:nvSpPr>
          <p:spPr>
            <a:xfrm>
              <a:off x="10820400" y="6372225"/>
              <a:ext cx="266700" cy="266700"/>
            </a:xfrm>
            <a:prstGeom prst="ellipse">
              <a:avLst/>
            </a:prstGeom>
            <a:solidFill>
              <a:srgbClr val="D7D8D6"/>
            </a:solidFill>
            <a:ln>
              <a:noFill/>
            </a:ln>
          </p:spPr>
        </p:sp>
        <p:sp>
          <p:nvSpPr>
            <p:cNvPr id="82" name="Freeform 82"/>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83" name="TextBox 83"/>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21</a:t>
              </a:r>
            </a:p>
          </p:txBody>
        </p:sp>
      </p:gr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22</a:t>
              </a:r>
            </a:p>
          </p:txBody>
        </p:sp>
        <p:sp>
          <p:nvSpPr>
            <p:cNvPr id="4" name="TextBox 4"/>
            <p:cNvSpPr txBox="1"/>
            <p:nvPr/>
          </p:nvSpPr>
          <p:spPr>
            <a:xfrm>
              <a:off x="942594" y="151448"/>
              <a:ext cx="600472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独立模型风险管理团队</a:t>
              </a:r>
              <a:r>
                <a:rPr lang="zh-CN" sz="1950" b="1" dirty="0">
                  <a:solidFill>
                    <a:srgbClr val="1A1A1A"/>
                  </a:solidFill>
                  <a:latin typeface="+mj-lt"/>
                  <a:ea typeface="+mj-ea"/>
                  <a:cs typeface="+mj-cs"/>
                </a:rPr>
                <a:t>的兴起​</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3" name="col-1"/>
          <p:cNvGrpSpPr/>
          <p:nvPr/>
        </p:nvGrpSpPr>
        <p:grpSpPr>
          <a:xfrm>
            <a:off x="566547" y="847249"/>
            <a:ext cx="2587181" cy="3346608"/>
            <a:chOff x="566547" y="847249"/>
            <a:chExt cx="2587181" cy="3346608"/>
          </a:xfrm>
        </p:grpSpPr>
        <p:sp>
          <p:nvSpPr>
            <p:cNvPr id="7" name="TextBox 7"/>
            <p:cNvSpPr txBox="1"/>
            <p:nvPr/>
          </p:nvSpPr>
          <p:spPr>
            <a:xfrm>
              <a:off x="566547" y="847249"/>
              <a:ext cx="1801153"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独立模型风险管理团队的兴起​</a:t>
              </a:r>
            </a:p>
          </p:txBody>
        </p:sp>
        <p:sp>
          <p:nvSpPr>
            <p:cNvPr id="8" name="TextBox 8"/>
            <p:cNvSpPr txBox="1"/>
            <p:nvPr/>
          </p:nvSpPr>
          <p:spPr>
            <a:xfrm>
              <a:off x="566738" y="1012984"/>
              <a:ext cx="1922453"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The emergence of stand-alone MRM teams​</a:t>
              </a:r>
            </a:p>
          </p:txBody>
        </p:sp>
        <p:sp>
          <p:nvSpPr>
            <p:cNvPr id="9" name="TextBox 9"/>
            <p:cNvSpPr txBox="1"/>
            <p:nvPr/>
          </p:nvSpPr>
          <p:spPr>
            <a:xfrm>
              <a:off x="566738" y="1169670"/>
              <a:ext cx="25869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SR 11-7文件的发布为模型风险管理设定了起​</a:t>
              </a:r>
              <a:br/>
              <a:r>
                <a:rPr lang="zh-CN" sz="900" dirty="0">
                  <a:solidFill>
                    <a:srgbClr val="333333"/>
                  </a:solidFill>
                  <a:latin typeface="+mn-lt"/>
                  <a:ea typeface="+mn-ea"/>
                  <a:cs typeface="+mn-cs"/>
                </a:rPr>
                <a:t>点，此后模型风险管理职责往往开始从已有的模型​</a:t>
              </a:r>
              <a:br/>
              <a:r>
                <a:rPr lang="zh-CN" sz="900" dirty="0">
                  <a:solidFill>
                    <a:srgbClr val="333333"/>
                  </a:solidFill>
                  <a:latin typeface="+mn-lt"/>
                  <a:ea typeface="+mn-ea"/>
                  <a:cs typeface="+mn-cs"/>
                </a:rPr>
                <a:t>验证职能中独立出来。​</a:t>
              </a:r>
            </a:p>
          </p:txBody>
        </p:sp>
        <p:sp>
          <p:nvSpPr>
            <p:cNvPr id="10" name="TextBox 10"/>
            <p:cNvSpPr txBox="1"/>
            <p:nvPr/>
          </p:nvSpPr>
          <p:spPr>
            <a:xfrm>
              <a:off x="566738" y="1817370"/>
              <a:ext cx="25869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十年后，在欧洲出台更具体的指引几年之后，独立​</a:t>
              </a:r>
              <a:br/>
              <a:r>
                <a:rPr lang="zh-CN" sz="900" dirty="0">
                  <a:solidFill>
                    <a:srgbClr val="333333"/>
                  </a:solidFill>
                  <a:latin typeface="+mn-lt"/>
                  <a:ea typeface="+mn-ea"/>
                  <a:cs typeface="+mn-cs"/>
                </a:rPr>
                <a:t>的模型风险管理部门或团队开始涌现，尤其是在大​</a:t>
              </a:r>
              <a:br/>
              <a:r>
                <a:rPr lang="zh-CN" sz="900" dirty="0">
                  <a:solidFill>
                    <a:srgbClr val="333333"/>
                  </a:solidFill>
                  <a:latin typeface="+mn-lt"/>
                  <a:ea typeface="+mn-ea"/>
                  <a:cs typeface="+mn-cs"/>
                </a:rPr>
                <a:t>型银行。​</a:t>
              </a:r>
            </a:p>
          </p:txBody>
        </p:sp>
        <p:sp>
          <p:nvSpPr>
            <p:cNvPr id="11" name="TextBox 11"/>
            <p:cNvSpPr txBox="1"/>
            <p:nvPr/>
          </p:nvSpPr>
          <p:spPr>
            <a:xfrm>
              <a:off x="566738" y="2465070"/>
              <a:ext cx="25869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多数大型银行表示，模型风险管理职责由独立团队​</a:t>
              </a:r>
              <a:br/>
              <a:r>
                <a:rPr lang="zh-CN" sz="900" dirty="0">
                  <a:solidFill>
                    <a:srgbClr val="333333"/>
                  </a:solidFill>
                  <a:latin typeface="+mn-lt"/>
                  <a:ea typeface="+mn-ea"/>
                  <a:cs typeface="+mn-cs"/>
                </a:rPr>
                <a:t>承担，或由模型风险与模型验证团队共同承担。​</a:t>
              </a:r>
            </a:p>
          </p:txBody>
        </p:sp>
        <p:sp>
          <p:nvSpPr>
            <p:cNvPr id="12" name="TextBox 12"/>
            <p:cNvSpPr txBox="1"/>
            <p:nvPr/>
          </p:nvSpPr>
          <p:spPr>
            <a:xfrm>
              <a:off x="566738" y="2931795"/>
              <a:ext cx="2586990" cy="12620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相比之下，63%的小型银行表示模型风险管理​​</a:t>
              </a:r>
              <a:br/>
              <a:r>
                <a:rPr lang="zh-CN" sz="900" dirty="0">
                  <a:solidFill>
                    <a:srgbClr val="333333"/>
                  </a:solidFill>
                  <a:latin typeface="+mn-lt"/>
                  <a:ea typeface="+mn-ea"/>
                  <a:cs typeface="+mn-cs"/>
                </a:rPr>
                <a:t>职责仍由模型验证团队承担。这在一定程度上可以​</a:t>
              </a:r>
              <a:br/>
              <a:r>
                <a:rPr lang="zh-CN" sz="900" dirty="0">
                  <a:solidFill>
                    <a:srgbClr val="333333"/>
                  </a:solidFill>
                  <a:latin typeface="+mn-lt"/>
                  <a:ea typeface="+mn-ea"/>
                  <a:cs typeface="+mn-cs"/>
                </a:rPr>
                <a:t>用模型数量和可用资源来解释：模型较少往往意味​</a:t>
              </a:r>
              <a:br/>
              <a:r>
                <a:rPr lang="zh-CN" sz="900" dirty="0">
                  <a:solidFill>
                    <a:srgbClr val="333333"/>
                  </a:solidFill>
                  <a:latin typeface="+mn-lt"/>
                  <a:ea typeface="+mn-ea"/>
                  <a:cs typeface="+mn-cs"/>
                </a:rPr>
                <a:t>着模型验证和模型风险管理职责较少，可能没有必​</a:t>
              </a:r>
              <a:br/>
              <a:r>
                <a:rPr lang="zh-CN" sz="900" dirty="0">
                  <a:solidFill>
                    <a:srgbClr val="333333"/>
                  </a:solidFill>
                  <a:latin typeface="+mn-lt"/>
                  <a:ea typeface="+mn-ea"/>
                  <a:cs typeface="+mn-cs"/>
                </a:rPr>
                <a:t>要设立独立的模型风险管理团队。然而，成熟的模​</a:t>
              </a:r>
              <a:br/>
              <a:r>
                <a:rPr lang="zh-CN" sz="900" dirty="0">
                  <a:solidFill>
                    <a:srgbClr val="333333"/>
                  </a:solidFill>
                  <a:latin typeface="+mn-lt"/>
                  <a:ea typeface="+mn-ea"/>
                  <a:cs typeface="+mn-cs"/>
                </a:rPr>
                <a:t>型风险管理框架要求将模型风险管理职责与模型验​</a:t>
              </a:r>
              <a:br/>
              <a:r>
                <a:rPr lang="zh-CN" sz="900" dirty="0">
                  <a:solidFill>
                    <a:srgbClr val="333333"/>
                  </a:solidFill>
                  <a:latin typeface="+mn-lt"/>
                  <a:ea typeface="+mn-ea"/>
                  <a:cs typeface="+mn-cs"/>
                </a:rPr>
                <a:t>证职责分离。​</a:t>
              </a:r>
            </a:p>
          </p:txBody>
        </p:sp>
      </p:grpSp>
      <p:grpSp>
        <p:nvGrpSpPr>
          <p:cNvPr id="68" name="figure-22"/>
          <p:cNvGrpSpPr/>
          <p:nvPr/>
        </p:nvGrpSpPr>
        <p:grpSpPr>
          <a:xfrm>
            <a:off x="3633788" y="863441"/>
            <a:ext cx="5795962" cy="3673793"/>
            <a:chOff x="3633788" y="863441"/>
            <a:chExt cx="5795962" cy="3673793"/>
          </a:xfrm>
        </p:grpSpPr>
        <p:sp>
          <p:nvSpPr>
            <p:cNvPr id="14" name="TextBox 14"/>
            <p:cNvSpPr txBox="1"/>
            <p:nvPr/>
          </p:nvSpPr>
          <p:spPr>
            <a:xfrm>
              <a:off x="3633788" y="863441"/>
              <a:ext cx="1687705"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图22. 模型风险管理的组织结构​​</a:t>
              </a:r>
            </a:p>
          </p:txBody>
        </p:sp>
        <p:sp>
          <p:nvSpPr>
            <p:cNvPr id="15" name="TextBox 15"/>
            <p:cNvSpPr txBox="1"/>
            <p:nvPr/>
          </p:nvSpPr>
          <p:spPr>
            <a:xfrm>
              <a:off x="3633788" y="1007507"/>
              <a:ext cx="2144780"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Model risk management organisational structure​​</a:t>
              </a:r>
            </a:p>
          </p:txBody>
        </p:sp>
        <p:sp>
          <p:nvSpPr>
            <p:cNvPr id="16" name="Line 16"/>
            <p:cNvSpPr/>
            <p:nvPr/>
          </p:nvSpPr>
          <p:spPr>
            <a:xfrm>
              <a:off x="4095750" y="3810000"/>
              <a:ext cx="5334000" cy="9525"/>
            </a:xfrm>
            <a:custGeom>
              <a:avLst/>
              <a:gdLst/>
              <a:ahLst/>
              <a:cxnLst/>
              <a:rect l="l" t="t" r="r" b="b"/>
              <a:pathLst>
                <a:path w="5334000" h="9525">
                  <a:moveTo>
                    <a:pt x="0" y="0"/>
                  </a:moveTo>
                  <a:lnTo>
                    <a:pt x="5334000" y="0"/>
                  </a:lnTo>
                </a:path>
              </a:pathLst>
            </a:custGeom>
            <a:noFill/>
            <a:ln w="7620">
              <a:solidFill>
                <a:srgbClr val="E6E6E6"/>
              </a:solidFill>
            </a:ln>
          </p:spPr>
        </p:sp>
        <p:sp>
          <p:nvSpPr>
            <p:cNvPr id="17" name="TextBox 17"/>
            <p:cNvSpPr txBox="1"/>
            <p:nvPr/>
          </p:nvSpPr>
          <p:spPr>
            <a:xfrm>
              <a:off x="3874011" y="3770471"/>
              <a:ext cx="178877"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0%​</a:t>
              </a:r>
            </a:p>
          </p:txBody>
        </p:sp>
        <p:sp>
          <p:nvSpPr>
            <p:cNvPr id="18" name="Line 18"/>
            <p:cNvSpPr/>
            <p:nvPr/>
          </p:nvSpPr>
          <p:spPr>
            <a:xfrm>
              <a:off x="4095750" y="3512820"/>
              <a:ext cx="5334000" cy="9525"/>
            </a:xfrm>
            <a:custGeom>
              <a:avLst/>
              <a:gdLst/>
              <a:ahLst/>
              <a:cxnLst/>
              <a:rect l="l" t="t" r="r" b="b"/>
              <a:pathLst>
                <a:path w="5334000" h="9525">
                  <a:moveTo>
                    <a:pt x="0" y="0"/>
                  </a:moveTo>
                  <a:lnTo>
                    <a:pt x="5334000" y="0"/>
                  </a:lnTo>
                </a:path>
              </a:pathLst>
            </a:custGeom>
            <a:noFill/>
            <a:ln w="7620">
              <a:solidFill>
                <a:srgbClr val="E6E6E6"/>
              </a:solidFill>
            </a:ln>
          </p:spPr>
        </p:sp>
        <p:sp>
          <p:nvSpPr>
            <p:cNvPr id="19" name="TextBox 19"/>
            <p:cNvSpPr txBox="1"/>
            <p:nvPr/>
          </p:nvSpPr>
          <p:spPr>
            <a:xfrm>
              <a:off x="3823663" y="3472339"/>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10%​</a:t>
              </a:r>
            </a:p>
          </p:txBody>
        </p:sp>
        <p:sp>
          <p:nvSpPr>
            <p:cNvPr id="20" name="Line 20"/>
            <p:cNvSpPr/>
            <p:nvPr/>
          </p:nvSpPr>
          <p:spPr>
            <a:xfrm>
              <a:off x="4095750" y="3214688"/>
              <a:ext cx="5334000" cy="9525"/>
            </a:xfrm>
            <a:custGeom>
              <a:avLst/>
              <a:gdLst/>
              <a:ahLst/>
              <a:cxnLst/>
              <a:rect l="l" t="t" r="r" b="b"/>
              <a:pathLst>
                <a:path w="5334000" h="9525">
                  <a:moveTo>
                    <a:pt x="0" y="0"/>
                  </a:moveTo>
                  <a:lnTo>
                    <a:pt x="5334000" y="0"/>
                  </a:lnTo>
                </a:path>
              </a:pathLst>
            </a:custGeom>
            <a:noFill/>
            <a:ln w="7620">
              <a:solidFill>
                <a:srgbClr val="E6E6E6"/>
              </a:solidFill>
            </a:ln>
          </p:spPr>
        </p:sp>
        <p:sp>
          <p:nvSpPr>
            <p:cNvPr id="21" name="TextBox 21"/>
            <p:cNvSpPr txBox="1"/>
            <p:nvPr/>
          </p:nvSpPr>
          <p:spPr>
            <a:xfrm>
              <a:off x="3823663" y="3175159"/>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20%​</a:t>
              </a:r>
            </a:p>
          </p:txBody>
        </p:sp>
        <p:sp>
          <p:nvSpPr>
            <p:cNvPr id="22" name="Line 22"/>
            <p:cNvSpPr/>
            <p:nvPr/>
          </p:nvSpPr>
          <p:spPr>
            <a:xfrm>
              <a:off x="4095750" y="2916555"/>
              <a:ext cx="5334000" cy="9525"/>
            </a:xfrm>
            <a:custGeom>
              <a:avLst/>
              <a:gdLst/>
              <a:ahLst/>
              <a:cxnLst/>
              <a:rect l="l" t="t" r="r" b="b"/>
              <a:pathLst>
                <a:path w="5334000" h="9525">
                  <a:moveTo>
                    <a:pt x="0" y="0"/>
                  </a:moveTo>
                  <a:lnTo>
                    <a:pt x="5334000" y="0"/>
                  </a:lnTo>
                </a:path>
              </a:pathLst>
            </a:custGeom>
            <a:noFill/>
            <a:ln w="7620">
              <a:solidFill>
                <a:srgbClr val="E6E6E6"/>
              </a:solidFill>
            </a:ln>
          </p:spPr>
        </p:sp>
        <p:sp>
          <p:nvSpPr>
            <p:cNvPr id="23" name="TextBox 23"/>
            <p:cNvSpPr txBox="1"/>
            <p:nvPr/>
          </p:nvSpPr>
          <p:spPr>
            <a:xfrm>
              <a:off x="3823663" y="2877979"/>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30%​</a:t>
              </a:r>
            </a:p>
          </p:txBody>
        </p:sp>
        <p:sp>
          <p:nvSpPr>
            <p:cNvPr id="24" name="Line 24"/>
            <p:cNvSpPr/>
            <p:nvPr/>
          </p:nvSpPr>
          <p:spPr>
            <a:xfrm>
              <a:off x="4095750" y="2619375"/>
              <a:ext cx="5334000" cy="9525"/>
            </a:xfrm>
            <a:custGeom>
              <a:avLst/>
              <a:gdLst/>
              <a:ahLst/>
              <a:cxnLst/>
              <a:rect l="l" t="t" r="r" b="b"/>
              <a:pathLst>
                <a:path w="5334000" h="9525">
                  <a:moveTo>
                    <a:pt x="0" y="0"/>
                  </a:moveTo>
                  <a:lnTo>
                    <a:pt x="5334000" y="0"/>
                  </a:lnTo>
                </a:path>
              </a:pathLst>
            </a:custGeom>
            <a:noFill/>
            <a:ln w="7620">
              <a:solidFill>
                <a:srgbClr val="E6E6E6"/>
              </a:solidFill>
            </a:ln>
          </p:spPr>
        </p:sp>
        <p:sp>
          <p:nvSpPr>
            <p:cNvPr id="25" name="TextBox 25"/>
            <p:cNvSpPr txBox="1"/>
            <p:nvPr/>
          </p:nvSpPr>
          <p:spPr>
            <a:xfrm>
              <a:off x="3823663" y="2579846"/>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40%​</a:t>
              </a:r>
            </a:p>
          </p:txBody>
        </p:sp>
        <p:sp>
          <p:nvSpPr>
            <p:cNvPr id="26" name="Line 26"/>
            <p:cNvSpPr/>
            <p:nvPr/>
          </p:nvSpPr>
          <p:spPr>
            <a:xfrm>
              <a:off x="4095750" y="2322195"/>
              <a:ext cx="5334000" cy="9525"/>
            </a:xfrm>
            <a:custGeom>
              <a:avLst/>
              <a:gdLst/>
              <a:ahLst/>
              <a:cxnLst/>
              <a:rect l="l" t="t" r="r" b="b"/>
              <a:pathLst>
                <a:path w="5334000" h="9525">
                  <a:moveTo>
                    <a:pt x="0" y="0"/>
                  </a:moveTo>
                  <a:lnTo>
                    <a:pt x="5334000" y="0"/>
                  </a:lnTo>
                </a:path>
              </a:pathLst>
            </a:custGeom>
            <a:noFill/>
            <a:ln w="7620">
              <a:solidFill>
                <a:srgbClr val="E6E6E6"/>
              </a:solidFill>
            </a:ln>
          </p:spPr>
        </p:sp>
        <p:sp>
          <p:nvSpPr>
            <p:cNvPr id="27" name="TextBox 27"/>
            <p:cNvSpPr txBox="1"/>
            <p:nvPr/>
          </p:nvSpPr>
          <p:spPr>
            <a:xfrm>
              <a:off x="3823663" y="2281714"/>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50%​</a:t>
              </a:r>
            </a:p>
          </p:txBody>
        </p:sp>
        <p:sp>
          <p:nvSpPr>
            <p:cNvPr id="28" name="Line 28"/>
            <p:cNvSpPr/>
            <p:nvPr/>
          </p:nvSpPr>
          <p:spPr>
            <a:xfrm>
              <a:off x="4095750" y="2024062"/>
              <a:ext cx="5334000" cy="9525"/>
            </a:xfrm>
            <a:custGeom>
              <a:avLst/>
              <a:gdLst/>
              <a:ahLst/>
              <a:cxnLst/>
              <a:rect l="l" t="t" r="r" b="b"/>
              <a:pathLst>
                <a:path w="5334000" h="9525">
                  <a:moveTo>
                    <a:pt x="0" y="0"/>
                  </a:moveTo>
                  <a:lnTo>
                    <a:pt x="5334000" y="0"/>
                  </a:lnTo>
                </a:path>
              </a:pathLst>
            </a:custGeom>
            <a:noFill/>
            <a:ln w="7620">
              <a:solidFill>
                <a:srgbClr val="E6E6E6"/>
              </a:solidFill>
            </a:ln>
          </p:spPr>
        </p:sp>
        <p:sp>
          <p:nvSpPr>
            <p:cNvPr id="29" name="TextBox 29"/>
            <p:cNvSpPr txBox="1"/>
            <p:nvPr/>
          </p:nvSpPr>
          <p:spPr>
            <a:xfrm>
              <a:off x="3823663" y="1984534"/>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60%​</a:t>
              </a:r>
            </a:p>
          </p:txBody>
        </p:sp>
        <p:sp>
          <p:nvSpPr>
            <p:cNvPr id="30" name="Line 30"/>
            <p:cNvSpPr/>
            <p:nvPr/>
          </p:nvSpPr>
          <p:spPr>
            <a:xfrm>
              <a:off x="4095750" y="1725930"/>
              <a:ext cx="5334000" cy="9525"/>
            </a:xfrm>
            <a:custGeom>
              <a:avLst/>
              <a:gdLst/>
              <a:ahLst/>
              <a:cxnLst/>
              <a:rect l="l" t="t" r="r" b="b"/>
              <a:pathLst>
                <a:path w="5334000" h="9525">
                  <a:moveTo>
                    <a:pt x="0" y="0"/>
                  </a:moveTo>
                  <a:lnTo>
                    <a:pt x="5334000" y="0"/>
                  </a:lnTo>
                </a:path>
              </a:pathLst>
            </a:custGeom>
            <a:noFill/>
            <a:ln w="7620">
              <a:solidFill>
                <a:srgbClr val="E6E6E6"/>
              </a:solidFill>
            </a:ln>
          </p:spPr>
        </p:sp>
        <p:sp>
          <p:nvSpPr>
            <p:cNvPr id="31" name="TextBox 31"/>
            <p:cNvSpPr txBox="1"/>
            <p:nvPr/>
          </p:nvSpPr>
          <p:spPr>
            <a:xfrm>
              <a:off x="3823663" y="1687354"/>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70%​</a:t>
              </a:r>
            </a:p>
          </p:txBody>
        </p:sp>
        <p:sp>
          <p:nvSpPr>
            <p:cNvPr id="32" name="Line 32"/>
            <p:cNvSpPr/>
            <p:nvPr/>
          </p:nvSpPr>
          <p:spPr>
            <a:xfrm>
              <a:off x="4095750" y="1428750"/>
              <a:ext cx="5334000" cy="9525"/>
            </a:xfrm>
            <a:custGeom>
              <a:avLst/>
              <a:gdLst/>
              <a:ahLst/>
              <a:cxnLst/>
              <a:rect l="l" t="t" r="r" b="b"/>
              <a:pathLst>
                <a:path w="5334000" h="9525">
                  <a:moveTo>
                    <a:pt x="0" y="0"/>
                  </a:moveTo>
                  <a:lnTo>
                    <a:pt x="5334000" y="0"/>
                  </a:lnTo>
                </a:path>
              </a:pathLst>
            </a:custGeom>
            <a:noFill/>
            <a:ln w="7620">
              <a:solidFill>
                <a:srgbClr val="E6E6E6"/>
              </a:solidFill>
            </a:ln>
          </p:spPr>
        </p:sp>
        <p:sp>
          <p:nvSpPr>
            <p:cNvPr id="33" name="TextBox 33"/>
            <p:cNvSpPr txBox="1"/>
            <p:nvPr/>
          </p:nvSpPr>
          <p:spPr>
            <a:xfrm>
              <a:off x="3823663" y="1389221"/>
              <a:ext cx="229225" cy="133350"/>
            </a:xfrm>
            <a:prstGeom prst="rect">
              <a:avLst/>
            </a:prstGeom>
            <a:noFill/>
            <a:ln>
              <a:noFill/>
            </a:ln>
          </p:spPr>
          <p:txBody>
            <a:bodyPr wrap="none" lIns="0" tIns="0" rIns="0" bIns="0" anchor="t" anchorCtr="0">
              <a:spAutoFit/>
            </a:bodyPr>
            <a:lstStyle/>
            <a:p>
              <a:pPr algn="r"/>
              <a:r>
                <a:rPr lang="zh-CN" sz="680" dirty="0">
                  <a:solidFill>
                    <a:srgbClr val="666666"/>
                  </a:solidFill>
                  <a:latin typeface="+mn-lt"/>
                  <a:ea typeface="+mn-ea"/>
                  <a:cs typeface="+mn-cs"/>
                </a:rPr>
                <a:t>80%​</a:t>
              </a:r>
            </a:p>
          </p:txBody>
        </p:sp>
        <p:sp>
          <p:nvSpPr>
            <p:cNvPr id="34" name="Rectangle 34"/>
            <p:cNvSpPr/>
            <p:nvPr/>
          </p:nvSpPr>
          <p:spPr>
            <a:xfrm>
              <a:off x="4276725" y="2857500"/>
              <a:ext cx="285750" cy="952500"/>
            </a:xfrm>
            <a:prstGeom prst="rect">
              <a:avLst/>
            </a:prstGeom>
            <a:solidFill>
              <a:srgbClr val="D8482E"/>
            </a:solidFill>
            <a:ln>
              <a:noFill/>
            </a:ln>
          </p:spPr>
        </p:sp>
        <p:sp>
          <p:nvSpPr>
            <p:cNvPr id="35" name="TextBox 35"/>
            <p:cNvSpPr txBox="1"/>
            <p:nvPr/>
          </p:nvSpPr>
          <p:spPr>
            <a:xfrm>
              <a:off x="4300141" y="275201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32%​</a:t>
              </a:r>
            </a:p>
          </p:txBody>
        </p:sp>
        <p:sp>
          <p:nvSpPr>
            <p:cNvPr id="36" name="Rectangle 36"/>
            <p:cNvSpPr/>
            <p:nvPr/>
          </p:nvSpPr>
          <p:spPr>
            <a:xfrm>
              <a:off x="4619625" y="2798445"/>
              <a:ext cx="285750" cy="1011555"/>
            </a:xfrm>
            <a:prstGeom prst="rect">
              <a:avLst/>
            </a:prstGeom>
            <a:solidFill>
              <a:srgbClr val="C35642"/>
            </a:solidFill>
            <a:ln>
              <a:noFill/>
            </a:ln>
          </p:spPr>
        </p:sp>
        <p:sp>
          <p:nvSpPr>
            <p:cNvPr id="37" name="TextBox 37"/>
            <p:cNvSpPr txBox="1"/>
            <p:nvPr/>
          </p:nvSpPr>
          <p:spPr>
            <a:xfrm>
              <a:off x="4643041" y="269295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34%​</a:t>
              </a:r>
            </a:p>
          </p:txBody>
        </p:sp>
        <p:sp>
          <p:nvSpPr>
            <p:cNvPr id="38" name="Rectangle 38"/>
            <p:cNvSpPr/>
            <p:nvPr/>
          </p:nvSpPr>
          <p:spPr>
            <a:xfrm>
              <a:off x="4962525" y="2857500"/>
              <a:ext cx="285750" cy="952500"/>
            </a:xfrm>
            <a:prstGeom prst="rect">
              <a:avLst/>
            </a:prstGeom>
            <a:solidFill>
              <a:srgbClr val="AA1B00"/>
            </a:solidFill>
            <a:ln>
              <a:noFill/>
            </a:ln>
          </p:spPr>
        </p:sp>
        <p:sp>
          <p:nvSpPr>
            <p:cNvPr id="39" name="TextBox 39"/>
            <p:cNvSpPr txBox="1"/>
            <p:nvPr/>
          </p:nvSpPr>
          <p:spPr>
            <a:xfrm>
              <a:off x="4985941" y="275201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32%​</a:t>
              </a:r>
            </a:p>
          </p:txBody>
        </p:sp>
        <p:sp>
          <p:nvSpPr>
            <p:cNvPr id="40" name="TextBox 40"/>
            <p:cNvSpPr txBox="1"/>
            <p:nvPr/>
          </p:nvSpPr>
          <p:spPr>
            <a:xfrm>
              <a:off x="4388548" y="3860959"/>
              <a:ext cx="747903"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666666"/>
                  </a:solidFill>
                  <a:latin typeface="+mn-lt"/>
                  <a:ea typeface="+mn-ea"/>
                  <a:cs typeface="+mn-cs"/>
                </a:rPr>
                <a:t>模型风险管理团队​</a:t>
              </a:r>
              <a:br/>
              <a:r>
                <a:rPr lang="zh-CN" sz="680" dirty="0">
                  <a:solidFill>
                    <a:srgbClr val="666666"/>
                  </a:solidFill>
                  <a:latin typeface="+mn-lt"/>
                  <a:ea typeface="+mn-ea"/>
                  <a:cs typeface="+mn-cs"/>
                </a:rPr>
                <a:t>是独立团队​</a:t>
              </a:r>
            </a:p>
          </p:txBody>
        </p:sp>
        <p:sp>
          <p:nvSpPr>
            <p:cNvPr id="41" name="TextBox 41"/>
            <p:cNvSpPr txBox="1"/>
            <p:nvPr/>
          </p:nvSpPr>
          <p:spPr>
            <a:xfrm>
              <a:off x="5659926" y="3704511"/>
              <a:ext cx="186348"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0%​</a:t>
              </a:r>
            </a:p>
          </p:txBody>
        </p:sp>
        <p:sp>
          <p:nvSpPr>
            <p:cNvPr id="42" name="Rectangle 42"/>
            <p:cNvSpPr/>
            <p:nvPr/>
          </p:nvSpPr>
          <p:spPr>
            <a:xfrm>
              <a:off x="5953125" y="3392805"/>
              <a:ext cx="285750" cy="417195"/>
            </a:xfrm>
            <a:prstGeom prst="rect">
              <a:avLst/>
            </a:prstGeom>
            <a:solidFill>
              <a:srgbClr val="C35642"/>
            </a:solidFill>
            <a:ln>
              <a:noFill/>
            </a:ln>
          </p:spPr>
        </p:sp>
        <p:sp>
          <p:nvSpPr>
            <p:cNvPr id="43" name="TextBox 43"/>
            <p:cNvSpPr txBox="1"/>
            <p:nvPr/>
          </p:nvSpPr>
          <p:spPr>
            <a:xfrm>
              <a:off x="5976541" y="328731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14%​</a:t>
              </a:r>
            </a:p>
          </p:txBody>
        </p:sp>
        <p:sp>
          <p:nvSpPr>
            <p:cNvPr id="44" name="Rectangle 44"/>
            <p:cNvSpPr/>
            <p:nvPr/>
          </p:nvSpPr>
          <p:spPr>
            <a:xfrm>
              <a:off x="6296025" y="3036570"/>
              <a:ext cx="285750" cy="773430"/>
            </a:xfrm>
            <a:prstGeom prst="rect">
              <a:avLst/>
            </a:prstGeom>
            <a:solidFill>
              <a:srgbClr val="AA1B00"/>
            </a:solidFill>
            <a:ln>
              <a:noFill/>
            </a:ln>
          </p:spPr>
        </p:sp>
        <p:sp>
          <p:nvSpPr>
            <p:cNvPr id="45" name="TextBox 45"/>
            <p:cNvSpPr txBox="1"/>
            <p:nvPr/>
          </p:nvSpPr>
          <p:spPr>
            <a:xfrm>
              <a:off x="6319441" y="293108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26%​</a:t>
              </a:r>
            </a:p>
          </p:txBody>
        </p:sp>
        <p:sp>
          <p:nvSpPr>
            <p:cNvPr id="46" name="TextBox 46"/>
            <p:cNvSpPr txBox="1"/>
            <p:nvPr/>
          </p:nvSpPr>
          <p:spPr>
            <a:xfrm>
              <a:off x="5678868" y="3860959"/>
              <a:ext cx="834263"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666666"/>
                  </a:solidFill>
                  <a:latin typeface="+mn-lt"/>
                  <a:ea typeface="+mn-ea"/>
                  <a:cs typeface="+mn-cs"/>
                </a:rPr>
                <a:t>模型风险团队是模型​</a:t>
              </a:r>
              <a:br/>
              <a:r>
                <a:rPr lang="zh-CN" sz="680" dirty="0">
                  <a:solidFill>
                    <a:srgbClr val="666666"/>
                  </a:solidFill>
                  <a:latin typeface="+mn-lt"/>
                  <a:ea typeface="+mn-ea"/>
                  <a:cs typeface="+mn-cs"/>
                </a:rPr>
                <a:t>验证团队的子团队​</a:t>
              </a:r>
            </a:p>
          </p:txBody>
        </p:sp>
        <p:sp>
          <p:nvSpPr>
            <p:cNvPr id="47" name="Rectangle 47"/>
            <p:cNvSpPr/>
            <p:nvPr/>
          </p:nvSpPr>
          <p:spPr>
            <a:xfrm>
              <a:off x="6943725" y="1934528"/>
              <a:ext cx="285750" cy="1875472"/>
            </a:xfrm>
            <a:prstGeom prst="rect">
              <a:avLst/>
            </a:prstGeom>
            <a:solidFill>
              <a:srgbClr val="D8482E"/>
            </a:solidFill>
            <a:ln>
              <a:noFill/>
            </a:ln>
          </p:spPr>
        </p:sp>
        <p:sp>
          <p:nvSpPr>
            <p:cNvPr id="48" name="TextBox 48"/>
            <p:cNvSpPr txBox="1"/>
            <p:nvPr/>
          </p:nvSpPr>
          <p:spPr>
            <a:xfrm>
              <a:off x="6967141" y="1829038"/>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63%​</a:t>
              </a:r>
            </a:p>
          </p:txBody>
        </p:sp>
        <p:sp>
          <p:nvSpPr>
            <p:cNvPr id="49" name="Rectangle 49"/>
            <p:cNvSpPr/>
            <p:nvPr/>
          </p:nvSpPr>
          <p:spPr>
            <a:xfrm>
              <a:off x="7286625" y="2589848"/>
              <a:ext cx="285750" cy="1220152"/>
            </a:xfrm>
            <a:prstGeom prst="rect">
              <a:avLst/>
            </a:prstGeom>
            <a:solidFill>
              <a:srgbClr val="C35642"/>
            </a:solidFill>
            <a:ln>
              <a:noFill/>
            </a:ln>
          </p:spPr>
        </p:sp>
        <p:sp>
          <p:nvSpPr>
            <p:cNvPr id="50" name="TextBox 50"/>
            <p:cNvSpPr txBox="1"/>
            <p:nvPr/>
          </p:nvSpPr>
          <p:spPr>
            <a:xfrm>
              <a:off x="7310041" y="2484358"/>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41%​</a:t>
              </a:r>
            </a:p>
          </p:txBody>
        </p:sp>
        <p:sp>
          <p:nvSpPr>
            <p:cNvPr id="51" name="Rectangle 51"/>
            <p:cNvSpPr/>
            <p:nvPr/>
          </p:nvSpPr>
          <p:spPr>
            <a:xfrm>
              <a:off x="7629525" y="3244215"/>
              <a:ext cx="285750" cy="565785"/>
            </a:xfrm>
            <a:prstGeom prst="rect">
              <a:avLst/>
            </a:prstGeom>
            <a:solidFill>
              <a:srgbClr val="AA1B00"/>
            </a:solidFill>
            <a:ln>
              <a:noFill/>
            </a:ln>
          </p:spPr>
        </p:sp>
        <p:sp>
          <p:nvSpPr>
            <p:cNvPr id="52" name="TextBox 52"/>
            <p:cNvSpPr txBox="1"/>
            <p:nvPr/>
          </p:nvSpPr>
          <p:spPr>
            <a:xfrm>
              <a:off x="7652941" y="313872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19%​</a:t>
              </a:r>
            </a:p>
          </p:txBody>
        </p:sp>
        <p:sp>
          <p:nvSpPr>
            <p:cNvPr id="53" name="TextBox 53"/>
            <p:cNvSpPr txBox="1"/>
            <p:nvPr/>
          </p:nvSpPr>
          <p:spPr>
            <a:xfrm>
              <a:off x="7012368" y="3860959"/>
              <a:ext cx="834263"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666666"/>
                  </a:solidFill>
                  <a:latin typeface="+mn-lt"/>
                  <a:ea typeface="+mn-ea"/>
                  <a:cs typeface="+mn-cs"/>
                </a:rPr>
                <a:t>模型风险管理职责​</a:t>
              </a:r>
              <a:br/>
              <a:r>
                <a:rPr lang="zh-CN" sz="680" dirty="0">
                  <a:solidFill>
                    <a:srgbClr val="666666"/>
                  </a:solidFill>
                  <a:latin typeface="+mn-lt"/>
                  <a:ea typeface="+mn-ea"/>
                  <a:cs typeface="+mn-cs"/>
                </a:rPr>
                <a:t>由模型验证团队承担​</a:t>
              </a:r>
            </a:p>
          </p:txBody>
        </p:sp>
        <p:sp>
          <p:nvSpPr>
            <p:cNvPr id="54" name="Rectangle 54"/>
            <p:cNvSpPr/>
            <p:nvPr/>
          </p:nvSpPr>
          <p:spPr>
            <a:xfrm>
              <a:off x="8277225" y="3661410"/>
              <a:ext cx="285750" cy="148590"/>
            </a:xfrm>
            <a:prstGeom prst="rect">
              <a:avLst/>
            </a:prstGeom>
            <a:solidFill>
              <a:srgbClr val="D8482E"/>
            </a:solidFill>
            <a:ln>
              <a:noFill/>
            </a:ln>
          </p:spPr>
        </p:sp>
        <p:sp>
          <p:nvSpPr>
            <p:cNvPr id="55" name="TextBox 55"/>
            <p:cNvSpPr txBox="1"/>
            <p:nvPr/>
          </p:nvSpPr>
          <p:spPr>
            <a:xfrm>
              <a:off x="8326926" y="3555921"/>
              <a:ext cx="186348"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5%​</a:t>
              </a:r>
            </a:p>
          </p:txBody>
        </p:sp>
        <p:sp>
          <p:nvSpPr>
            <p:cNvPr id="56" name="Rectangle 56"/>
            <p:cNvSpPr/>
            <p:nvPr/>
          </p:nvSpPr>
          <p:spPr>
            <a:xfrm>
              <a:off x="8620125" y="3512820"/>
              <a:ext cx="285750" cy="297180"/>
            </a:xfrm>
            <a:prstGeom prst="rect">
              <a:avLst/>
            </a:prstGeom>
            <a:solidFill>
              <a:srgbClr val="C35642"/>
            </a:solidFill>
            <a:ln>
              <a:noFill/>
            </a:ln>
          </p:spPr>
        </p:sp>
        <p:sp>
          <p:nvSpPr>
            <p:cNvPr id="57" name="TextBox 57"/>
            <p:cNvSpPr txBox="1"/>
            <p:nvPr/>
          </p:nvSpPr>
          <p:spPr>
            <a:xfrm>
              <a:off x="8643541" y="340733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10%​</a:t>
              </a:r>
            </a:p>
          </p:txBody>
        </p:sp>
        <p:sp>
          <p:nvSpPr>
            <p:cNvPr id="58" name="Rectangle 58"/>
            <p:cNvSpPr/>
            <p:nvPr/>
          </p:nvSpPr>
          <p:spPr>
            <a:xfrm>
              <a:off x="8963025" y="3125152"/>
              <a:ext cx="285750" cy="684848"/>
            </a:xfrm>
            <a:prstGeom prst="rect">
              <a:avLst/>
            </a:prstGeom>
            <a:solidFill>
              <a:srgbClr val="AA1B00"/>
            </a:solidFill>
            <a:ln>
              <a:noFill/>
            </a:ln>
          </p:spPr>
        </p:sp>
        <p:sp>
          <p:nvSpPr>
            <p:cNvPr id="59" name="TextBox 59"/>
            <p:cNvSpPr txBox="1"/>
            <p:nvPr/>
          </p:nvSpPr>
          <p:spPr>
            <a:xfrm>
              <a:off x="8986441" y="3019663"/>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23%​</a:t>
              </a:r>
            </a:p>
          </p:txBody>
        </p:sp>
        <p:sp>
          <p:nvSpPr>
            <p:cNvPr id="60" name="TextBox 60"/>
            <p:cNvSpPr txBox="1"/>
            <p:nvPr/>
          </p:nvSpPr>
          <p:spPr>
            <a:xfrm>
              <a:off x="8465339" y="3860959"/>
              <a:ext cx="595322" cy="133350"/>
            </a:xfrm>
            <a:prstGeom prst="rect">
              <a:avLst/>
            </a:prstGeom>
            <a:noFill/>
            <a:ln>
              <a:noFill/>
            </a:ln>
          </p:spPr>
          <p:txBody>
            <a:bodyPr wrap="none" lIns="0" tIns="0" rIns="0" bIns="0" anchor="t" anchorCtr="0">
              <a:spAutoFit/>
            </a:bodyPr>
            <a:lstStyle/>
            <a:p>
              <a:pPr algn="ctr"/>
              <a:r>
                <a:rPr lang="zh-CN" sz="680" dirty="0">
                  <a:solidFill>
                    <a:srgbClr val="666666"/>
                  </a:solidFill>
                  <a:latin typeface="+mn-lt"/>
                  <a:ea typeface="+mn-ea"/>
                  <a:cs typeface="+mn-cs"/>
                </a:rPr>
                <a:t>其他 Other​​</a:t>
              </a:r>
            </a:p>
          </p:txBody>
        </p:sp>
        <p:sp>
          <p:nvSpPr>
            <p:cNvPr id="61" name="Line 61"/>
            <p:cNvSpPr/>
            <p:nvPr/>
          </p:nvSpPr>
          <p:spPr>
            <a:xfrm>
              <a:off x="4095750" y="3810000"/>
              <a:ext cx="5334000" cy="9525"/>
            </a:xfrm>
            <a:custGeom>
              <a:avLst/>
              <a:gdLst/>
              <a:ahLst/>
              <a:cxnLst/>
              <a:rect l="l" t="t" r="r" b="b"/>
              <a:pathLst>
                <a:path w="5334000" h="9525">
                  <a:moveTo>
                    <a:pt x="0" y="0"/>
                  </a:moveTo>
                  <a:lnTo>
                    <a:pt x="5334000" y="0"/>
                  </a:lnTo>
                </a:path>
              </a:pathLst>
            </a:custGeom>
            <a:noFill/>
            <a:ln w="9525">
              <a:solidFill>
                <a:srgbClr val="666666"/>
              </a:solidFill>
            </a:ln>
          </p:spPr>
        </p:sp>
        <p:sp>
          <p:nvSpPr>
            <p:cNvPr id="62" name="Rectangle 62"/>
            <p:cNvSpPr/>
            <p:nvPr/>
          </p:nvSpPr>
          <p:spPr>
            <a:xfrm>
              <a:off x="4191000" y="4391025"/>
              <a:ext cx="95250" cy="95250"/>
            </a:xfrm>
            <a:prstGeom prst="rect">
              <a:avLst/>
            </a:prstGeom>
            <a:solidFill>
              <a:srgbClr val="D8482E"/>
            </a:solidFill>
            <a:ln>
              <a:noFill/>
            </a:ln>
          </p:spPr>
        </p:sp>
        <p:sp>
          <p:nvSpPr>
            <p:cNvPr id="63" name="TextBox 63"/>
            <p:cNvSpPr txBox="1"/>
            <p:nvPr/>
          </p:nvSpPr>
          <p:spPr>
            <a:xfrm>
              <a:off x="4329112" y="4403884"/>
              <a:ext cx="98328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小型银行Small banks​​</a:t>
              </a:r>
            </a:p>
          </p:txBody>
        </p:sp>
        <p:sp>
          <p:nvSpPr>
            <p:cNvPr id="64" name="Rectangle 64"/>
            <p:cNvSpPr/>
            <p:nvPr/>
          </p:nvSpPr>
          <p:spPr>
            <a:xfrm>
              <a:off x="5393055" y="4391025"/>
              <a:ext cx="95250" cy="95250"/>
            </a:xfrm>
            <a:prstGeom prst="rect">
              <a:avLst/>
            </a:prstGeom>
            <a:solidFill>
              <a:srgbClr val="C35642"/>
            </a:solidFill>
            <a:ln>
              <a:noFill/>
            </a:ln>
          </p:spPr>
        </p:sp>
        <p:sp>
          <p:nvSpPr>
            <p:cNvPr id="65" name="TextBox 65"/>
            <p:cNvSpPr txBox="1"/>
            <p:nvPr/>
          </p:nvSpPr>
          <p:spPr>
            <a:xfrm>
              <a:off x="5531168" y="4403884"/>
              <a:ext cx="107498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中型银行Medium banks​​</a:t>
              </a:r>
            </a:p>
          </p:txBody>
        </p:sp>
        <p:sp>
          <p:nvSpPr>
            <p:cNvPr id="66" name="Rectangle 66"/>
            <p:cNvSpPr/>
            <p:nvPr/>
          </p:nvSpPr>
          <p:spPr>
            <a:xfrm>
              <a:off x="6679978" y="4391025"/>
              <a:ext cx="95250" cy="95250"/>
            </a:xfrm>
            <a:prstGeom prst="rect">
              <a:avLst/>
            </a:prstGeom>
            <a:solidFill>
              <a:srgbClr val="AA1B00"/>
            </a:solidFill>
            <a:ln>
              <a:noFill/>
            </a:ln>
          </p:spPr>
        </p:sp>
        <p:sp>
          <p:nvSpPr>
            <p:cNvPr id="67" name="TextBox 67"/>
            <p:cNvSpPr txBox="1"/>
            <p:nvPr/>
          </p:nvSpPr>
          <p:spPr>
            <a:xfrm>
              <a:off x="6818090" y="4403884"/>
              <a:ext cx="1010904"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大型银行Large banks​​</a:t>
              </a:r>
            </a:p>
          </p:txBody>
        </p:sp>
      </p:grpSp>
      <p:grpSp>
        <p:nvGrpSpPr>
          <p:cNvPr id="102" name="nav"/>
          <p:cNvGrpSpPr/>
          <p:nvPr/>
        </p:nvGrpSpPr>
        <p:grpSpPr>
          <a:xfrm>
            <a:off x="9834562" y="0"/>
            <a:ext cx="2357438" cy="6858000"/>
            <a:chOff x="9834562" y="0"/>
            <a:chExt cx="2357438" cy="6858000"/>
          </a:xfrm>
        </p:grpSpPr>
        <p:sp>
          <p:nvSpPr>
            <p:cNvPr id="69" name="Line 69"/>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70" name="Rectangle 70"/>
            <p:cNvSpPr/>
            <p:nvPr/>
          </p:nvSpPr>
          <p:spPr>
            <a:xfrm>
              <a:off x="9839325" y="476250"/>
              <a:ext cx="2352675" cy="514350"/>
            </a:xfrm>
            <a:prstGeom prst="rect">
              <a:avLst/>
            </a:prstGeom>
            <a:solidFill>
              <a:srgbClr val="F3F3F3"/>
            </a:solidFill>
            <a:ln>
              <a:noFill/>
            </a:ln>
          </p:spPr>
        </p:sp>
        <p:sp>
          <p:nvSpPr>
            <p:cNvPr id="71" name="TextBox 71"/>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72" name="Rectangle 72"/>
            <p:cNvSpPr/>
            <p:nvPr/>
          </p:nvSpPr>
          <p:spPr>
            <a:xfrm>
              <a:off x="9839325" y="1000125"/>
              <a:ext cx="2352675" cy="514350"/>
            </a:xfrm>
            <a:prstGeom prst="rect">
              <a:avLst/>
            </a:prstGeom>
            <a:solidFill>
              <a:srgbClr val="F3F3F3"/>
            </a:solidFill>
            <a:ln>
              <a:noFill/>
            </a:ln>
          </p:spPr>
        </p:sp>
        <p:sp>
          <p:nvSpPr>
            <p:cNvPr id="73" name="TextBox 73"/>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74" name="Rectangle 74"/>
            <p:cNvSpPr/>
            <p:nvPr/>
          </p:nvSpPr>
          <p:spPr>
            <a:xfrm>
              <a:off x="9839325" y="1524000"/>
              <a:ext cx="2352675" cy="514350"/>
            </a:xfrm>
            <a:prstGeom prst="rect">
              <a:avLst/>
            </a:prstGeom>
            <a:solidFill>
              <a:srgbClr val="F3F3F3"/>
            </a:solidFill>
            <a:ln>
              <a:noFill/>
            </a:ln>
          </p:spPr>
        </p:sp>
        <p:sp>
          <p:nvSpPr>
            <p:cNvPr id="75" name="TextBox 75"/>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76" name="Rectangle 76"/>
            <p:cNvSpPr/>
            <p:nvPr/>
          </p:nvSpPr>
          <p:spPr>
            <a:xfrm>
              <a:off x="9839325" y="2047875"/>
              <a:ext cx="2352675" cy="514350"/>
            </a:xfrm>
            <a:prstGeom prst="rect">
              <a:avLst/>
            </a:prstGeom>
            <a:solidFill>
              <a:srgbClr val="F3F3F3"/>
            </a:solidFill>
            <a:ln>
              <a:noFill/>
            </a:ln>
          </p:spPr>
        </p:sp>
        <p:sp>
          <p:nvSpPr>
            <p:cNvPr id="77" name="TextBox 77"/>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78" name="Rectangle 78"/>
            <p:cNvSpPr/>
            <p:nvPr/>
          </p:nvSpPr>
          <p:spPr>
            <a:xfrm>
              <a:off x="9839325" y="2571750"/>
              <a:ext cx="2352675" cy="514350"/>
            </a:xfrm>
            <a:prstGeom prst="rect">
              <a:avLst/>
            </a:prstGeom>
            <a:solidFill>
              <a:srgbClr val="F3F3F3"/>
            </a:solidFill>
            <a:ln>
              <a:noFill/>
            </a:ln>
          </p:spPr>
        </p:sp>
        <p:sp>
          <p:nvSpPr>
            <p:cNvPr id="79" name="TextBox 79"/>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80" name="Rectangle 80"/>
            <p:cNvSpPr/>
            <p:nvPr/>
          </p:nvSpPr>
          <p:spPr>
            <a:xfrm>
              <a:off x="9839325" y="3095625"/>
              <a:ext cx="2352675" cy="514350"/>
            </a:xfrm>
            <a:prstGeom prst="rect">
              <a:avLst/>
            </a:prstGeom>
            <a:solidFill>
              <a:srgbClr val="6B1100"/>
            </a:solidFill>
            <a:ln>
              <a:noFill/>
            </a:ln>
          </p:spPr>
        </p:sp>
        <p:sp>
          <p:nvSpPr>
            <p:cNvPr id="81" name="TextBox 81"/>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82" name="Rectangle 82"/>
            <p:cNvSpPr/>
            <p:nvPr/>
          </p:nvSpPr>
          <p:spPr>
            <a:xfrm>
              <a:off x="9839325" y="3619500"/>
              <a:ext cx="2352675" cy="514350"/>
            </a:xfrm>
            <a:prstGeom prst="rect">
              <a:avLst/>
            </a:prstGeom>
            <a:solidFill>
              <a:srgbClr val="F3F3F3"/>
            </a:solidFill>
            <a:ln>
              <a:noFill/>
            </a:ln>
          </p:spPr>
        </p:sp>
        <p:sp>
          <p:nvSpPr>
            <p:cNvPr id="83" name="TextBox 83"/>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84" name="Rectangle 84"/>
            <p:cNvSpPr/>
            <p:nvPr/>
          </p:nvSpPr>
          <p:spPr>
            <a:xfrm>
              <a:off x="9839325" y="4143375"/>
              <a:ext cx="2352675" cy="514350"/>
            </a:xfrm>
            <a:prstGeom prst="rect">
              <a:avLst/>
            </a:prstGeom>
            <a:solidFill>
              <a:srgbClr val="F3F3F3"/>
            </a:solidFill>
            <a:ln>
              <a:noFill/>
            </a:ln>
          </p:spPr>
        </p:sp>
        <p:sp>
          <p:nvSpPr>
            <p:cNvPr id="85" name="TextBox 85"/>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86" name="Rectangle 86"/>
            <p:cNvSpPr/>
            <p:nvPr/>
          </p:nvSpPr>
          <p:spPr>
            <a:xfrm>
              <a:off x="9839325" y="4667250"/>
              <a:ext cx="2352675" cy="514350"/>
            </a:xfrm>
            <a:prstGeom prst="rect">
              <a:avLst/>
            </a:prstGeom>
            <a:solidFill>
              <a:srgbClr val="F3F3F3"/>
            </a:solidFill>
            <a:ln>
              <a:noFill/>
            </a:ln>
          </p:spPr>
        </p:sp>
        <p:sp>
          <p:nvSpPr>
            <p:cNvPr id="87" name="TextBox 87"/>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88" name="Rectangle 88"/>
            <p:cNvSpPr/>
            <p:nvPr/>
          </p:nvSpPr>
          <p:spPr>
            <a:xfrm>
              <a:off x="9839325" y="5191125"/>
              <a:ext cx="2352675" cy="514350"/>
            </a:xfrm>
            <a:prstGeom prst="rect">
              <a:avLst/>
            </a:prstGeom>
            <a:solidFill>
              <a:srgbClr val="F3F3F3"/>
            </a:solidFill>
            <a:ln>
              <a:noFill/>
            </a:ln>
          </p:spPr>
        </p:sp>
        <p:sp>
          <p:nvSpPr>
            <p:cNvPr id="89" name="TextBox 89"/>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90" name="Rectangle 90"/>
            <p:cNvSpPr/>
            <p:nvPr/>
          </p:nvSpPr>
          <p:spPr>
            <a:xfrm>
              <a:off x="9839325" y="5715000"/>
              <a:ext cx="2352675" cy="514350"/>
            </a:xfrm>
            <a:prstGeom prst="rect">
              <a:avLst/>
            </a:prstGeom>
            <a:solidFill>
              <a:srgbClr val="F3F3F3"/>
            </a:solidFill>
            <a:ln>
              <a:noFill/>
            </a:ln>
          </p:spPr>
        </p:sp>
        <p:sp>
          <p:nvSpPr>
            <p:cNvPr id="91" name="TextBox 91"/>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92" name="Ellipse 92"/>
            <p:cNvSpPr/>
            <p:nvPr/>
          </p:nvSpPr>
          <p:spPr>
            <a:xfrm>
              <a:off x="10020300" y="6372225"/>
              <a:ext cx="266700" cy="266700"/>
            </a:xfrm>
            <a:prstGeom prst="ellipse">
              <a:avLst/>
            </a:prstGeom>
            <a:solidFill>
              <a:srgbClr val="D7D8D6"/>
            </a:solidFill>
            <a:ln>
              <a:noFill/>
            </a:ln>
          </p:spPr>
        </p:sp>
        <p:sp>
          <p:nvSpPr>
            <p:cNvPr id="93" name="Freeform 93"/>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94" name="Ellipse 94"/>
            <p:cNvSpPr/>
            <p:nvPr/>
          </p:nvSpPr>
          <p:spPr>
            <a:xfrm>
              <a:off x="10420350" y="6372225"/>
              <a:ext cx="266700" cy="266700"/>
            </a:xfrm>
            <a:prstGeom prst="ellipse">
              <a:avLst/>
            </a:prstGeom>
            <a:solidFill>
              <a:srgbClr val="D7D8D6"/>
            </a:solidFill>
            <a:ln>
              <a:noFill/>
            </a:ln>
          </p:spPr>
        </p:sp>
        <p:grpSp>
          <p:nvGrpSpPr>
            <p:cNvPr id="98" name="Group 98"/>
            <p:cNvGrpSpPr/>
            <p:nvPr/>
          </p:nvGrpSpPr>
          <p:grpSpPr>
            <a:xfrm>
              <a:off x="10489406" y="6441281"/>
              <a:ext cx="128588" cy="128588"/>
              <a:chOff x="10489406" y="6441281"/>
              <a:chExt cx="128588" cy="128588"/>
            </a:xfrm>
          </p:grpSpPr>
          <p:sp>
            <p:nvSpPr>
              <p:cNvPr id="95" name="Freeform 95"/>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96" name="Freeform 96"/>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97" name="Freeform 97"/>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99" name="Ellipse 99"/>
            <p:cNvSpPr/>
            <p:nvPr/>
          </p:nvSpPr>
          <p:spPr>
            <a:xfrm>
              <a:off x="10820400" y="6372225"/>
              <a:ext cx="266700" cy="266700"/>
            </a:xfrm>
            <a:prstGeom prst="ellipse">
              <a:avLst/>
            </a:prstGeom>
            <a:solidFill>
              <a:srgbClr val="D7D8D6"/>
            </a:solidFill>
            <a:ln>
              <a:noFill/>
            </a:ln>
          </p:spPr>
        </p:sp>
        <p:sp>
          <p:nvSpPr>
            <p:cNvPr id="100" name="Freeform 100"/>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01" name="TextBox 101"/>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22</a:t>
              </a:r>
            </a:p>
          </p:txBody>
        </p:sp>
      </p:gr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23</a:t>
              </a:r>
            </a:p>
          </p:txBody>
        </p:sp>
        <p:sp>
          <p:nvSpPr>
            <p:cNvPr id="4" name="TextBox 4"/>
            <p:cNvSpPr txBox="1"/>
            <p:nvPr/>
          </p:nvSpPr>
          <p:spPr>
            <a:xfrm>
              <a:off x="942594" y="151448"/>
              <a:ext cx="544998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模型风险管理团队</a:t>
              </a:r>
              <a:r>
                <a:rPr lang="zh-CN" sz="1950" b="1" dirty="0">
                  <a:solidFill>
                    <a:srgbClr val="1A1A1A"/>
                  </a:solidFill>
                  <a:latin typeface="+mj-lt"/>
                  <a:ea typeface="+mj-ea"/>
                  <a:cs typeface="+mj-cs"/>
                </a:rPr>
                <a:t>的职责​</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1" name="lead"/>
          <p:cNvGrpSpPr/>
          <p:nvPr/>
        </p:nvGrpSpPr>
        <p:grpSpPr>
          <a:xfrm>
            <a:off x="566547" y="847249"/>
            <a:ext cx="8405051" cy="917733"/>
            <a:chOff x="566547" y="847249"/>
            <a:chExt cx="8405051" cy="917733"/>
          </a:xfrm>
        </p:grpSpPr>
        <p:sp>
          <p:nvSpPr>
            <p:cNvPr id="7" name="TextBox 7"/>
            <p:cNvSpPr txBox="1"/>
            <p:nvPr/>
          </p:nvSpPr>
          <p:spPr>
            <a:xfrm>
              <a:off x="566547" y="847249"/>
              <a:ext cx="1537298"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模型风险管理团队的职责​</a:t>
              </a:r>
            </a:p>
          </p:txBody>
        </p:sp>
        <p:sp>
          <p:nvSpPr>
            <p:cNvPr id="8" name="TextBox 8"/>
            <p:cNvSpPr txBox="1"/>
            <p:nvPr/>
          </p:nvSpPr>
          <p:spPr>
            <a:xfrm>
              <a:off x="566738" y="1012984"/>
              <a:ext cx="2356005"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Responsibilities of the model risk management team​</a:t>
              </a:r>
            </a:p>
          </p:txBody>
        </p:sp>
        <p:sp>
          <p:nvSpPr>
            <p:cNvPr id="9" name="TextBox 9"/>
            <p:cNvSpPr txBox="1"/>
            <p:nvPr/>
          </p:nvSpPr>
          <p:spPr>
            <a:xfrm>
              <a:off x="566738" y="1169670"/>
              <a:ext cx="6134062"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银行表示，模型风险管理团队的两大关键职责是制定模型风险管理政策与标准，以及设计并维护模型清单的结构。​</a:t>
              </a:r>
            </a:p>
          </p:txBody>
        </p:sp>
        <p:sp>
          <p:nvSpPr>
            <p:cNvPr id="10" name="TextBox 10"/>
            <p:cNvSpPr txBox="1"/>
            <p:nvPr/>
          </p:nvSpPr>
          <p:spPr>
            <a:xfrm>
              <a:off x="566738" y="1417320"/>
              <a:ext cx="8404860"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超过半数银行提到的其他重要职责包括：“设计并维护模型清单”、“模型识别与发现”、“核查全部模型族的清单完整性”、“创建模型风险报告”以及“在约定​​​​​​​​​​</a:t>
              </a:r>
              <a:br/>
              <a:r>
                <a:rPr lang="zh-CN" sz="900" dirty="0">
                  <a:solidFill>
                    <a:srgbClr val="333333"/>
                  </a:solidFill>
                  <a:latin typeface="+mn-lt"/>
                  <a:ea typeface="+mn-ea"/>
                  <a:cs typeface="+mn-cs"/>
                </a:rPr>
                <a:t>期限内跟进验证发现”。​​</a:t>
              </a:r>
            </a:p>
          </p:txBody>
        </p:sp>
      </p:grpSp>
      <p:grpSp>
        <p:nvGrpSpPr>
          <p:cNvPr id="64" name="figure-23"/>
          <p:cNvGrpSpPr/>
          <p:nvPr/>
        </p:nvGrpSpPr>
        <p:grpSpPr>
          <a:xfrm>
            <a:off x="566738" y="2054066"/>
            <a:ext cx="8863012" cy="2981801"/>
            <a:chOff x="566738" y="2054066"/>
            <a:chExt cx="8863012" cy="2981801"/>
          </a:xfrm>
        </p:grpSpPr>
        <p:sp>
          <p:nvSpPr>
            <p:cNvPr id="12" name="TextBox 12"/>
            <p:cNvSpPr txBox="1"/>
            <p:nvPr/>
          </p:nvSpPr>
          <p:spPr>
            <a:xfrm>
              <a:off x="566738" y="2054066"/>
              <a:ext cx="2239647"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图23. 银行内模型风险管理团队的关键职责​​</a:t>
              </a:r>
            </a:p>
          </p:txBody>
        </p:sp>
        <p:sp>
          <p:nvSpPr>
            <p:cNvPr id="13" name="TextBox 13"/>
            <p:cNvSpPr txBox="1"/>
            <p:nvPr/>
          </p:nvSpPr>
          <p:spPr>
            <a:xfrm>
              <a:off x="566738" y="2198132"/>
              <a:ext cx="2980523"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Key responsibilities of the model risk management team within banks​​</a:t>
              </a:r>
            </a:p>
          </p:txBody>
        </p:sp>
        <p:sp>
          <p:nvSpPr>
            <p:cNvPr id="14" name="Line 14"/>
            <p:cNvSpPr/>
            <p:nvPr/>
          </p:nvSpPr>
          <p:spPr>
            <a:xfrm>
              <a:off x="1047750" y="46482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15" name="TextBox 15"/>
            <p:cNvSpPr txBox="1"/>
            <p:nvPr/>
          </p:nvSpPr>
          <p:spPr>
            <a:xfrm>
              <a:off x="835972" y="4612719"/>
              <a:ext cx="168915"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0%​</a:t>
              </a:r>
            </a:p>
          </p:txBody>
        </p:sp>
        <p:sp>
          <p:nvSpPr>
            <p:cNvPr id="16" name="Line 16"/>
            <p:cNvSpPr/>
            <p:nvPr/>
          </p:nvSpPr>
          <p:spPr>
            <a:xfrm>
              <a:off x="1047750" y="44386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17" name="TextBox 17"/>
            <p:cNvSpPr txBox="1"/>
            <p:nvPr/>
          </p:nvSpPr>
          <p:spPr>
            <a:xfrm>
              <a:off x="788586" y="440316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10%​</a:t>
              </a:r>
            </a:p>
          </p:txBody>
        </p:sp>
        <p:sp>
          <p:nvSpPr>
            <p:cNvPr id="18" name="Line 18"/>
            <p:cNvSpPr/>
            <p:nvPr/>
          </p:nvSpPr>
          <p:spPr>
            <a:xfrm>
              <a:off x="1047750" y="42291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19" name="TextBox 19"/>
            <p:cNvSpPr txBox="1"/>
            <p:nvPr/>
          </p:nvSpPr>
          <p:spPr>
            <a:xfrm>
              <a:off x="788586" y="41936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20%​</a:t>
              </a:r>
            </a:p>
          </p:txBody>
        </p:sp>
        <p:sp>
          <p:nvSpPr>
            <p:cNvPr id="20" name="Line 20"/>
            <p:cNvSpPr/>
            <p:nvPr/>
          </p:nvSpPr>
          <p:spPr>
            <a:xfrm>
              <a:off x="1047750" y="40195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1" name="TextBox 21"/>
            <p:cNvSpPr txBox="1"/>
            <p:nvPr/>
          </p:nvSpPr>
          <p:spPr>
            <a:xfrm>
              <a:off x="788586" y="398406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30%​</a:t>
              </a:r>
            </a:p>
          </p:txBody>
        </p:sp>
        <p:sp>
          <p:nvSpPr>
            <p:cNvPr id="22" name="Line 22"/>
            <p:cNvSpPr/>
            <p:nvPr/>
          </p:nvSpPr>
          <p:spPr>
            <a:xfrm>
              <a:off x="1047750" y="38100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3" name="TextBox 23"/>
            <p:cNvSpPr txBox="1"/>
            <p:nvPr/>
          </p:nvSpPr>
          <p:spPr>
            <a:xfrm>
              <a:off x="788586" y="37745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40%​</a:t>
              </a:r>
            </a:p>
          </p:txBody>
        </p:sp>
        <p:sp>
          <p:nvSpPr>
            <p:cNvPr id="24" name="Line 24"/>
            <p:cNvSpPr/>
            <p:nvPr/>
          </p:nvSpPr>
          <p:spPr>
            <a:xfrm>
              <a:off x="1047750" y="36004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5" name="TextBox 25"/>
            <p:cNvSpPr txBox="1"/>
            <p:nvPr/>
          </p:nvSpPr>
          <p:spPr>
            <a:xfrm>
              <a:off x="788586" y="356496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50%​</a:t>
              </a:r>
            </a:p>
          </p:txBody>
        </p:sp>
        <p:sp>
          <p:nvSpPr>
            <p:cNvPr id="26" name="Line 26"/>
            <p:cNvSpPr/>
            <p:nvPr/>
          </p:nvSpPr>
          <p:spPr>
            <a:xfrm>
              <a:off x="1047750" y="33909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7" name="TextBox 27"/>
            <p:cNvSpPr txBox="1"/>
            <p:nvPr/>
          </p:nvSpPr>
          <p:spPr>
            <a:xfrm>
              <a:off x="788586" y="33554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60%​</a:t>
              </a:r>
            </a:p>
          </p:txBody>
        </p:sp>
        <p:sp>
          <p:nvSpPr>
            <p:cNvPr id="28" name="Line 28"/>
            <p:cNvSpPr/>
            <p:nvPr/>
          </p:nvSpPr>
          <p:spPr>
            <a:xfrm>
              <a:off x="1047750" y="31813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9" name="TextBox 29"/>
            <p:cNvSpPr txBox="1"/>
            <p:nvPr/>
          </p:nvSpPr>
          <p:spPr>
            <a:xfrm>
              <a:off x="788586" y="314586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70%​</a:t>
              </a:r>
            </a:p>
          </p:txBody>
        </p:sp>
        <p:sp>
          <p:nvSpPr>
            <p:cNvPr id="30" name="Line 30"/>
            <p:cNvSpPr/>
            <p:nvPr/>
          </p:nvSpPr>
          <p:spPr>
            <a:xfrm>
              <a:off x="1047750" y="29718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31" name="TextBox 31"/>
            <p:cNvSpPr txBox="1"/>
            <p:nvPr/>
          </p:nvSpPr>
          <p:spPr>
            <a:xfrm>
              <a:off x="788586" y="29363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80%​</a:t>
              </a:r>
            </a:p>
          </p:txBody>
        </p:sp>
        <p:sp>
          <p:nvSpPr>
            <p:cNvPr id="32" name="Line 32"/>
            <p:cNvSpPr/>
            <p:nvPr/>
          </p:nvSpPr>
          <p:spPr>
            <a:xfrm>
              <a:off x="1047750" y="27622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33" name="TextBox 33"/>
            <p:cNvSpPr txBox="1"/>
            <p:nvPr/>
          </p:nvSpPr>
          <p:spPr>
            <a:xfrm>
              <a:off x="788586" y="272676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90%​</a:t>
              </a:r>
            </a:p>
          </p:txBody>
        </p:sp>
        <p:sp>
          <p:nvSpPr>
            <p:cNvPr id="34" name="Line 34"/>
            <p:cNvSpPr/>
            <p:nvPr/>
          </p:nvSpPr>
          <p:spPr>
            <a:xfrm>
              <a:off x="1047750" y="25527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35" name="TextBox 35"/>
            <p:cNvSpPr txBox="1"/>
            <p:nvPr/>
          </p:nvSpPr>
          <p:spPr>
            <a:xfrm>
              <a:off x="741200" y="2517219"/>
              <a:ext cx="263688"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100%​</a:t>
              </a:r>
            </a:p>
          </p:txBody>
        </p:sp>
        <p:sp>
          <p:nvSpPr>
            <p:cNvPr id="36" name="Rectangle 36"/>
            <p:cNvSpPr/>
            <p:nvPr/>
          </p:nvSpPr>
          <p:spPr>
            <a:xfrm>
              <a:off x="1323022" y="2825115"/>
              <a:ext cx="381000" cy="1823085"/>
            </a:xfrm>
            <a:prstGeom prst="rect">
              <a:avLst/>
            </a:prstGeom>
            <a:solidFill>
              <a:srgbClr val="AA1B00"/>
            </a:solidFill>
            <a:ln>
              <a:noFill/>
            </a:ln>
          </p:spPr>
        </p:sp>
        <p:sp>
          <p:nvSpPr>
            <p:cNvPr id="37" name="TextBox 37"/>
            <p:cNvSpPr txBox="1"/>
            <p:nvPr/>
          </p:nvSpPr>
          <p:spPr>
            <a:xfrm>
              <a:off x="1394064" y="271962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87%​</a:t>
              </a:r>
            </a:p>
          </p:txBody>
        </p:sp>
        <p:sp>
          <p:nvSpPr>
            <p:cNvPr id="38" name="TextBox 38"/>
            <p:cNvSpPr txBox="1"/>
            <p:nvPr/>
          </p:nvSpPr>
          <p:spPr>
            <a:xfrm>
              <a:off x="1221105" y="4707255"/>
              <a:ext cx="5848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设计并记录模型​</a:t>
              </a:r>
              <a:br/>
              <a:r>
                <a:rPr lang="zh-CN" sz="600" dirty="0">
                  <a:solidFill>
                    <a:srgbClr val="666666"/>
                  </a:solidFill>
                  <a:latin typeface="+mn-lt"/>
                  <a:ea typeface="+mn-ea"/>
                  <a:cs typeface="+mn-cs"/>
                </a:rPr>
                <a:t>风险政策与标准​</a:t>
              </a:r>
            </a:p>
          </p:txBody>
        </p:sp>
        <p:sp>
          <p:nvSpPr>
            <p:cNvPr id="39" name="Rectangle 39"/>
            <p:cNvSpPr/>
            <p:nvPr/>
          </p:nvSpPr>
          <p:spPr>
            <a:xfrm>
              <a:off x="2254568" y="2887980"/>
              <a:ext cx="381000" cy="1760220"/>
            </a:xfrm>
            <a:prstGeom prst="rect">
              <a:avLst/>
            </a:prstGeom>
            <a:solidFill>
              <a:srgbClr val="AA1B00"/>
            </a:solidFill>
            <a:ln>
              <a:noFill/>
            </a:ln>
          </p:spPr>
        </p:sp>
        <p:sp>
          <p:nvSpPr>
            <p:cNvPr id="40" name="TextBox 40"/>
            <p:cNvSpPr txBox="1"/>
            <p:nvPr/>
          </p:nvSpPr>
          <p:spPr>
            <a:xfrm>
              <a:off x="2325609" y="278249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84%​</a:t>
              </a:r>
            </a:p>
          </p:txBody>
        </p:sp>
        <p:sp>
          <p:nvSpPr>
            <p:cNvPr id="41" name="TextBox 41"/>
            <p:cNvSpPr txBox="1"/>
            <p:nvPr/>
          </p:nvSpPr>
          <p:spPr>
            <a:xfrm>
              <a:off x="2114550" y="4707255"/>
              <a:ext cx="6610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设计并维护​</a:t>
              </a:r>
              <a:br/>
              <a:r>
                <a:rPr lang="zh-CN" sz="600" dirty="0">
                  <a:solidFill>
                    <a:srgbClr val="666666"/>
                  </a:solidFill>
                  <a:latin typeface="+mn-lt"/>
                  <a:ea typeface="+mn-ea"/>
                  <a:cs typeface="+mn-cs"/>
                </a:rPr>
                <a:t>模型清单（内容）​</a:t>
              </a:r>
            </a:p>
          </p:txBody>
        </p:sp>
        <p:sp>
          <p:nvSpPr>
            <p:cNvPr id="42" name="Rectangle 42"/>
            <p:cNvSpPr/>
            <p:nvPr/>
          </p:nvSpPr>
          <p:spPr>
            <a:xfrm>
              <a:off x="3185160" y="3202305"/>
              <a:ext cx="381000" cy="1445895"/>
            </a:xfrm>
            <a:prstGeom prst="rect">
              <a:avLst/>
            </a:prstGeom>
            <a:solidFill>
              <a:srgbClr val="AA1B00"/>
            </a:solidFill>
            <a:ln>
              <a:noFill/>
            </a:ln>
          </p:spPr>
        </p:sp>
        <p:sp>
          <p:nvSpPr>
            <p:cNvPr id="43" name="TextBox 43"/>
            <p:cNvSpPr txBox="1"/>
            <p:nvPr/>
          </p:nvSpPr>
          <p:spPr>
            <a:xfrm>
              <a:off x="3256201" y="309681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69%​</a:t>
              </a:r>
            </a:p>
          </p:txBody>
        </p:sp>
        <p:sp>
          <p:nvSpPr>
            <p:cNvPr id="44" name="TextBox 44"/>
            <p:cNvSpPr txBox="1"/>
            <p:nvPr/>
          </p:nvSpPr>
          <p:spPr>
            <a:xfrm>
              <a:off x="3197542" y="4707255"/>
              <a:ext cx="3562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模型识别​</a:t>
              </a:r>
              <a:br/>
              <a:r>
                <a:rPr lang="zh-CN" sz="600" dirty="0">
                  <a:solidFill>
                    <a:srgbClr val="666666"/>
                  </a:solidFill>
                  <a:latin typeface="+mn-lt"/>
                  <a:ea typeface="+mn-ea"/>
                  <a:cs typeface="+mn-cs"/>
                </a:rPr>
                <a:t>与发现​</a:t>
              </a:r>
            </a:p>
          </p:txBody>
        </p:sp>
        <p:sp>
          <p:nvSpPr>
            <p:cNvPr id="45" name="Rectangle 45"/>
            <p:cNvSpPr/>
            <p:nvPr/>
          </p:nvSpPr>
          <p:spPr>
            <a:xfrm>
              <a:off x="4116705" y="3307080"/>
              <a:ext cx="381000" cy="1341120"/>
            </a:xfrm>
            <a:prstGeom prst="rect">
              <a:avLst/>
            </a:prstGeom>
            <a:solidFill>
              <a:srgbClr val="AA1B00"/>
            </a:solidFill>
            <a:ln>
              <a:noFill/>
            </a:ln>
          </p:spPr>
        </p:sp>
        <p:sp>
          <p:nvSpPr>
            <p:cNvPr id="46" name="TextBox 46"/>
            <p:cNvSpPr txBox="1"/>
            <p:nvPr/>
          </p:nvSpPr>
          <p:spPr>
            <a:xfrm>
              <a:off x="4187746" y="320159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64%​</a:t>
              </a:r>
            </a:p>
          </p:txBody>
        </p:sp>
        <p:sp>
          <p:nvSpPr>
            <p:cNvPr id="47" name="TextBox 47"/>
            <p:cNvSpPr txBox="1"/>
            <p:nvPr/>
          </p:nvSpPr>
          <p:spPr>
            <a:xfrm>
              <a:off x="4014788" y="4707255"/>
              <a:ext cx="5848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核查全部模型族​</a:t>
              </a:r>
              <a:br/>
              <a:r>
                <a:rPr lang="zh-CN" sz="600" dirty="0">
                  <a:solidFill>
                    <a:srgbClr val="666666"/>
                  </a:solidFill>
                  <a:latin typeface="+mn-lt"/>
                  <a:ea typeface="+mn-ea"/>
                  <a:cs typeface="+mn-cs"/>
                </a:rPr>
                <a:t>的清单完整性​</a:t>
              </a:r>
            </a:p>
          </p:txBody>
        </p:sp>
        <p:sp>
          <p:nvSpPr>
            <p:cNvPr id="48" name="Rectangle 48"/>
            <p:cNvSpPr/>
            <p:nvPr/>
          </p:nvSpPr>
          <p:spPr>
            <a:xfrm>
              <a:off x="5048250" y="3307080"/>
              <a:ext cx="381000" cy="1341120"/>
            </a:xfrm>
            <a:prstGeom prst="rect">
              <a:avLst/>
            </a:prstGeom>
            <a:solidFill>
              <a:srgbClr val="AA1B00"/>
            </a:solidFill>
            <a:ln>
              <a:noFill/>
            </a:ln>
          </p:spPr>
        </p:sp>
        <p:sp>
          <p:nvSpPr>
            <p:cNvPr id="49" name="TextBox 49"/>
            <p:cNvSpPr txBox="1"/>
            <p:nvPr/>
          </p:nvSpPr>
          <p:spPr>
            <a:xfrm>
              <a:off x="5119291" y="320159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64%​</a:t>
              </a:r>
            </a:p>
          </p:txBody>
        </p:sp>
        <p:sp>
          <p:nvSpPr>
            <p:cNvPr id="50" name="TextBox 50"/>
            <p:cNvSpPr txBox="1"/>
            <p:nvPr/>
          </p:nvSpPr>
          <p:spPr>
            <a:xfrm>
              <a:off x="5060632" y="4707255"/>
              <a:ext cx="3562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创建模型​</a:t>
              </a:r>
              <a:br/>
              <a:r>
                <a:rPr lang="zh-CN" sz="600" dirty="0">
                  <a:solidFill>
                    <a:srgbClr val="666666"/>
                  </a:solidFill>
                  <a:latin typeface="+mn-lt"/>
                  <a:ea typeface="+mn-ea"/>
                  <a:cs typeface="+mn-cs"/>
                </a:rPr>
                <a:t>风险报告​</a:t>
              </a:r>
            </a:p>
          </p:txBody>
        </p:sp>
        <p:sp>
          <p:nvSpPr>
            <p:cNvPr id="51" name="Rectangle 51"/>
            <p:cNvSpPr/>
            <p:nvPr/>
          </p:nvSpPr>
          <p:spPr>
            <a:xfrm>
              <a:off x="5979795" y="3474720"/>
              <a:ext cx="381000" cy="1173480"/>
            </a:xfrm>
            <a:prstGeom prst="rect">
              <a:avLst/>
            </a:prstGeom>
            <a:solidFill>
              <a:srgbClr val="AA1B00"/>
            </a:solidFill>
            <a:ln>
              <a:noFill/>
            </a:ln>
          </p:spPr>
        </p:sp>
        <p:sp>
          <p:nvSpPr>
            <p:cNvPr id="52" name="TextBox 52"/>
            <p:cNvSpPr txBox="1"/>
            <p:nvPr/>
          </p:nvSpPr>
          <p:spPr>
            <a:xfrm>
              <a:off x="6050836" y="336923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56%​</a:t>
              </a:r>
            </a:p>
          </p:txBody>
        </p:sp>
        <p:sp>
          <p:nvSpPr>
            <p:cNvPr id="53" name="TextBox 53"/>
            <p:cNvSpPr txBox="1"/>
            <p:nvPr/>
          </p:nvSpPr>
          <p:spPr>
            <a:xfrm>
              <a:off x="5915977" y="4707255"/>
              <a:ext cx="5086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在约定期限内​</a:t>
              </a:r>
              <a:br/>
              <a:r>
                <a:rPr lang="zh-CN" sz="600" dirty="0">
                  <a:solidFill>
                    <a:srgbClr val="666666"/>
                  </a:solidFill>
                  <a:latin typeface="+mn-lt"/>
                  <a:ea typeface="+mn-ea"/>
                  <a:cs typeface="+mn-cs"/>
                </a:rPr>
                <a:t>跟进验证发现​</a:t>
              </a:r>
            </a:p>
          </p:txBody>
        </p:sp>
        <p:sp>
          <p:nvSpPr>
            <p:cNvPr id="54" name="Rectangle 54"/>
            <p:cNvSpPr/>
            <p:nvPr/>
          </p:nvSpPr>
          <p:spPr>
            <a:xfrm>
              <a:off x="6911340" y="3642360"/>
              <a:ext cx="381000" cy="1005840"/>
            </a:xfrm>
            <a:prstGeom prst="rect">
              <a:avLst/>
            </a:prstGeom>
            <a:solidFill>
              <a:srgbClr val="AA1B00"/>
            </a:solidFill>
            <a:ln>
              <a:noFill/>
            </a:ln>
          </p:spPr>
        </p:sp>
        <p:sp>
          <p:nvSpPr>
            <p:cNvPr id="55" name="TextBox 55"/>
            <p:cNvSpPr txBox="1"/>
            <p:nvPr/>
          </p:nvSpPr>
          <p:spPr>
            <a:xfrm>
              <a:off x="6982381" y="353687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48%​</a:t>
              </a:r>
            </a:p>
          </p:txBody>
        </p:sp>
        <p:sp>
          <p:nvSpPr>
            <p:cNvPr id="56" name="TextBox 56"/>
            <p:cNvSpPr txBox="1"/>
            <p:nvPr/>
          </p:nvSpPr>
          <p:spPr>
            <a:xfrm>
              <a:off x="6729412" y="4707255"/>
              <a:ext cx="74485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协调模型开发/验证​​</a:t>
              </a:r>
              <a:br/>
              <a:r>
                <a:rPr lang="zh-CN" sz="600" dirty="0">
                  <a:solidFill>
                    <a:srgbClr val="666666"/>
                  </a:solidFill>
                  <a:latin typeface="+mn-lt"/>
                  <a:ea typeface="+mn-ea"/>
                  <a:cs typeface="+mn-cs"/>
                </a:rPr>
                <a:t>标准、指引与评分​</a:t>
              </a:r>
              <a:br/>
              <a:r>
                <a:rPr lang="zh-CN" sz="600" dirty="0">
                  <a:solidFill>
                    <a:srgbClr val="666666"/>
                  </a:solidFill>
                  <a:latin typeface="+mn-lt"/>
                  <a:ea typeface="+mn-ea"/>
                  <a:cs typeface="+mn-cs"/>
                </a:rPr>
                <a:t>模板的制定与文档​</a:t>
              </a:r>
            </a:p>
          </p:txBody>
        </p:sp>
        <p:sp>
          <p:nvSpPr>
            <p:cNvPr id="57" name="Rectangle 57"/>
            <p:cNvSpPr/>
            <p:nvPr/>
          </p:nvSpPr>
          <p:spPr>
            <a:xfrm>
              <a:off x="7841932" y="3663315"/>
              <a:ext cx="381000" cy="984885"/>
            </a:xfrm>
            <a:prstGeom prst="rect">
              <a:avLst/>
            </a:prstGeom>
            <a:solidFill>
              <a:srgbClr val="AA1B00"/>
            </a:solidFill>
            <a:ln>
              <a:noFill/>
            </a:ln>
          </p:spPr>
        </p:sp>
        <p:sp>
          <p:nvSpPr>
            <p:cNvPr id="58" name="TextBox 58"/>
            <p:cNvSpPr txBox="1"/>
            <p:nvPr/>
          </p:nvSpPr>
          <p:spPr>
            <a:xfrm>
              <a:off x="7912974" y="355782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47%​</a:t>
              </a:r>
            </a:p>
          </p:txBody>
        </p:sp>
        <p:sp>
          <p:nvSpPr>
            <p:cNvPr id="59" name="TextBox 59"/>
            <p:cNvSpPr txBox="1"/>
            <p:nvPr/>
          </p:nvSpPr>
          <p:spPr>
            <a:xfrm>
              <a:off x="7740015" y="4707255"/>
              <a:ext cx="5848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促进模型全生命​</a:t>
              </a:r>
              <a:br/>
              <a:r>
                <a:rPr lang="zh-CN" sz="600" dirty="0">
                  <a:solidFill>
                    <a:srgbClr val="666666"/>
                  </a:solidFill>
                  <a:latin typeface="+mn-lt"/>
                  <a:ea typeface="+mn-ea"/>
                  <a:cs typeface="+mn-cs"/>
                </a:rPr>
                <a:t>周期的协同​</a:t>
              </a:r>
            </a:p>
          </p:txBody>
        </p:sp>
        <p:sp>
          <p:nvSpPr>
            <p:cNvPr id="60" name="Rectangle 60"/>
            <p:cNvSpPr/>
            <p:nvPr/>
          </p:nvSpPr>
          <p:spPr>
            <a:xfrm>
              <a:off x="8773478" y="3935730"/>
              <a:ext cx="381000" cy="712470"/>
            </a:xfrm>
            <a:prstGeom prst="rect">
              <a:avLst/>
            </a:prstGeom>
            <a:solidFill>
              <a:srgbClr val="AA1B00"/>
            </a:solidFill>
            <a:ln>
              <a:noFill/>
            </a:ln>
          </p:spPr>
        </p:sp>
        <p:sp>
          <p:nvSpPr>
            <p:cNvPr id="61" name="TextBox 61"/>
            <p:cNvSpPr txBox="1"/>
            <p:nvPr/>
          </p:nvSpPr>
          <p:spPr>
            <a:xfrm>
              <a:off x="8844519" y="383024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34%​</a:t>
              </a:r>
            </a:p>
          </p:txBody>
        </p:sp>
        <p:sp>
          <p:nvSpPr>
            <p:cNvPr id="62" name="TextBox 62"/>
            <p:cNvSpPr txBox="1"/>
            <p:nvPr/>
          </p:nvSpPr>
          <p:spPr>
            <a:xfrm>
              <a:off x="8633460" y="4707255"/>
              <a:ext cx="6610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模型决策（如审批​</a:t>
              </a:r>
              <a:br/>
              <a:r>
                <a:rPr lang="zh-CN" sz="600" dirty="0">
                  <a:solidFill>
                    <a:srgbClr val="666666"/>
                  </a:solidFill>
                  <a:latin typeface="+mn-lt"/>
                  <a:ea typeface="+mn-ea"/>
                  <a:cs typeface="+mn-cs"/>
                </a:rPr>
                <a:t>模型或验证结果）​</a:t>
              </a:r>
            </a:p>
          </p:txBody>
        </p:sp>
        <p:sp>
          <p:nvSpPr>
            <p:cNvPr id="63" name="Line 63"/>
            <p:cNvSpPr/>
            <p:nvPr/>
          </p:nvSpPr>
          <p:spPr>
            <a:xfrm>
              <a:off x="1047750" y="4648200"/>
              <a:ext cx="8382000" cy="9525"/>
            </a:xfrm>
            <a:custGeom>
              <a:avLst/>
              <a:gdLst/>
              <a:ahLst/>
              <a:cxnLst/>
              <a:rect l="l" t="t" r="r" b="b"/>
              <a:pathLst>
                <a:path w="8382000" h="9525">
                  <a:moveTo>
                    <a:pt x="0" y="0"/>
                  </a:moveTo>
                  <a:lnTo>
                    <a:pt x="8382000" y="0"/>
                  </a:lnTo>
                </a:path>
              </a:pathLst>
            </a:custGeom>
            <a:noFill/>
            <a:ln w="9525">
              <a:solidFill>
                <a:srgbClr val="666666"/>
              </a:solidFill>
            </a:ln>
          </p:spPr>
        </p:sp>
      </p:grpSp>
      <p:grpSp>
        <p:nvGrpSpPr>
          <p:cNvPr id="98" name="nav"/>
          <p:cNvGrpSpPr/>
          <p:nvPr/>
        </p:nvGrpSpPr>
        <p:grpSpPr>
          <a:xfrm>
            <a:off x="9834562" y="0"/>
            <a:ext cx="2357438" cy="6858000"/>
            <a:chOff x="9834562" y="0"/>
            <a:chExt cx="2357438" cy="6858000"/>
          </a:xfrm>
        </p:grpSpPr>
        <p:sp>
          <p:nvSpPr>
            <p:cNvPr id="65" name="Line 65"/>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66" name="Rectangle 66"/>
            <p:cNvSpPr/>
            <p:nvPr/>
          </p:nvSpPr>
          <p:spPr>
            <a:xfrm>
              <a:off x="9839325" y="476250"/>
              <a:ext cx="2352675" cy="514350"/>
            </a:xfrm>
            <a:prstGeom prst="rect">
              <a:avLst/>
            </a:prstGeom>
            <a:solidFill>
              <a:srgbClr val="F3F3F3"/>
            </a:solidFill>
            <a:ln>
              <a:noFill/>
            </a:ln>
          </p:spPr>
        </p:sp>
        <p:sp>
          <p:nvSpPr>
            <p:cNvPr id="67" name="TextBox 67"/>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68" name="Rectangle 68"/>
            <p:cNvSpPr/>
            <p:nvPr/>
          </p:nvSpPr>
          <p:spPr>
            <a:xfrm>
              <a:off x="9839325" y="1000125"/>
              <a:ext cx="2352675" cy="514350"/>
            </a:xfrm>
            <a:prstGeom prst="rect">
              <a:avLst/>
            </a:prstGeom>
            <a:solidFill>
              <a:srgbClr val="F3F3F3"/>
            </a:solidFill>
            <a:ln>
              <a:noFill/>
            </a:ln>
          </p:spPr>
        </p:sp>
        <p:sp>
          <p:nvSpPr>
            <p:cNvPr id="69" name="TextBox 69"/>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70" name="Rectangle 70"/>
            <p:cNvSpPr/>
            <p:nvPr/>
          </p:nvSpPr>
          <p:spPr>
            <a:xfrm>
              <a:off x="9839325" y="1524000"/>
              <a:ext cx="2352675" cy="514350"/>
            </a:xfrm>
            <a:prstGeom prst="rect">
              <a:avLst/>
            </a:prstGeom>
            <a:solidFill>
              <a:srgbClr val="F3F3F3"/>
            </a:solidFill>
            <a:ln>
              <a:noFill/>
            </a:ln>
          </p:spPr>
        </p:sp>
        <p:sp>
          <p:nvSpPr>
            <p:cNvPr id="71" name="TextBox 71"/>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72" name="Rectangle 72"/>
            <p:cNvSpPr/>
            <p:nvPr/>
          </p:nvSpPr>
          <p:spPr>
            <a:xfrm>
              <a:off x="9839325" y="2047875"/>
              <a:ext cx="2352675" cy="514350"/>
            </a:xfrm>
            <a:prstGeom prst="rect">
              <a:avLst/>
            </a:prstGeom>
            <a:solidFill>
              <a:srgbClr val="F3F3F3"/>
            </a:solidFill>
            <a:ln>
              <a:noFill/>
            </a:ln>
          </p:spPr>
        </p:sp>
        <p:sp>
          <p:nvSpPr>
            <p:cNvPr id="73" name="TextBox 73"/>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74" name="Rectangle 74"/>
            <p:cNvSpPr/>
            <p:nvPr/>
          </p:nvSpPr>
          <p:spPr>
            <a:xfrm>
              <a:off x="9839325" y="2571750"/>
              <a:ext cx="2352675" cy="514350"/>
            </a:xfrm>
            <a:prstGeom prst="rect">
              <a:avLst/>
            </a:prstGeom>
            <a:solidFill>
              <a:srgbClr val="F3F3F3"/>
            </a:solidFill>
            <a:ln>
              <a:noFill/>
            </a:ln>
          </p:spPr>
        </p:sp>
        <p:sp>
          <p:nvSpPr>
            <p:cNvPr id="75" name="TextBox 75"/>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76" name="Rectangle 76"/>
            <p:cNvSpPr/>
            <p:nvPr/>
          </p:nvSpPr>
          <p:spPr>
            <a:xfrm>
              <a:off x="9839325" y="3095625"/>
              <a:ext cx="2352675" cy="514350"/>
            </a:xfrm>
            <a:prstGeom prst="rect">
              <a:avLst/>
            </a:prstGeom>
            <a:solidFill>
              <a:srgbClr val="6B1100"/>
            </a:solidFill>
            <a:ln>
              <a:noFill/>
            </a:ln>
          </p:spPr>
        </p:sp>
        <p:sp>
          <p:nvSpPr>
            <p:cNvPr id="77" name="TextBox 77"/>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78" name="Rectangle 78"/>
            <p:cNvSpPr/>
            <p:nvPr/>
          </p:nvSpPr>
          <p:spPr>
            <a:xfrm>
              <a:off x="9839325" y="3619500"/>
              <a:ext cx="2352675" cy="514350"/>
            </a:xfrm>
            <a:prstGeom prst="rect">
              <a:avLst/>
            </a:prstGeom>
            <a:solidFill>
              <a:srgbClr val="F3F3F3"/>
            </a:solidFill>
            <a:ln>
              <a:noFill/>
            </a:ln>
          </p:spPr>
        </p:sp>
        <p:sp>
          <p:nvSpPr>
            <p:cNvPr id="79" name="TextBox 79"/>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80" name="Rectangle 80"/>
            <p:cNvSpPr/>
            <p:nvPr/>
          </p:nvSpPr>
          <p:spPr>
            <a:xfrm>
              <a:off x="9839325" y="4143375"/>
              <a:ext cx="2352675" cy="514350"/>
            </a:xfrm>
            <a:prstGeom prst="rect">
              <a:avLst/>
            </a:prstGeom>
            <a:solidFill>
              <a:srgbClr val="F3F3F3"/>
            </a:solidFill>
            <a:ln>
              <a:noFill/>
            </a:ln>
          </p:spPr>
        </p:sp>
        <p:sp>
          <p:nvSpPr>
            <p:cNvPr id="81" name="TextBox 81"/>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82" name="Rectangle 82"/>
            <p:cNvSpPr/>
            <p:nvPr/>
          </p:nvSpPr>
          <p:spPr>
            <a:xfrm>
              <a:off x="9839325" y="4667250"/>
              <a:ext cx="2352675" cy="514350"/>
            </a:xfrm>
            <a:prstGeom prst="rect">
              <a:avLst/>
            </a:prstGeom>
            <a:solidFill>
              <a:srgbClr val="F3F3F3"/>
            </a:solidFill>
            <a:ln>
              <a:noFill/>
            </a:ln>
          </p:spPr>
        </p:sp>
        <p:sp>
          <p:nvSpPr>
            <p:cNvPr id="83" name="TextBox 83"/>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84" name="Rectangle 84"/>
            <p:cNvSpPr/>
            <p:nvPr/>
          </p:nvSpPr>
          <p:spPr>
            <a:xfrm>
              <a:off x="9839325" y="5191125"/>
              <a:ext cx="2352675" cy="514350"/>
            </a:xfrm>
            <a:prstGeom prst="rect">
              <a:avLst/>
            </a:prstGeom>
            <a:solidFill>
              <a:srgbClr val="F3F3F3"/>
            </a:solidFill>
            <a:ln>
              <a:noFill/>
            </a:ln>
          </p:spPr>
        </p:sp>
        <p:sp>
          <p:nvSpPr>
            <p:cNvPr id="85" name="TextBox 85"/>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86" name="Rectangle 86"/>
            <p:cNvSpPr/>
            <p:nvPr/>
          </p:nvSpPr>
          <p:spPr>
            <a:xfrm>
              <a:off x="9839325" y="5715000"/>
              <a:ext cx="2352675" cy="514350"/>
            </a:xfrm>
            <a:prstGeom prst="rect">
              <a:avLst/>
            </a:prstGeom>
            <a:solidFill>
              <a:srgbClr val="F3F3F3"/>
            </a:solidFill>
            <a:ln>
              <a:noFill/>
            </a:ln>
          </p:spPr>
        </p:sp>
        <p:sp>
          <p:nvSpPr>
            <p:cNvPr id="87" name="TextBox 87"/>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88" name="Ellipse 88"/>
            <p:cNvSpPr/>
            <p:nvPr/>
          </p:nvSpPr>
          <p:spPr>
            <a:xfrm>
              <a:off x="10020300" y="6372225"/>
              <a:ext cx="266700" cy="266700"/>
            </a:xfrm>
            <a:prstGeom prst="ellipse">
              <a:avLst/>
            </a:prstGeom>
            <a:solidFill>
              <a:srgbClr val="D7D8D6"/>
            </a:solidFill>
            <a:ln>
              <a:noFill/>
            </a:ln>
          </p:spPr>
        </p:sp>
        <p:sp>
          <p:nvSpPr>
            <p:cNvPr id="89" name="Freeform 89"/>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90" name="Ellipse 90"/>
            <p:cNvSpPr/>
            <p:nvPr/>
          </p:nvSpPr>
          <p:spPr>
            <a:xfrm>
              <a:off x="10420350" y="6372225"/>
              <a:ext cx="266700" cy="266700"/>
            </a:xfrm>
            <a:prstGeom prst="ellipse">
              <a:avLst/>
            </a:prstGeom>
            <a:solidFill>
              <a:srgbClr val="D7D8D6"/>
            </a:solidFill>
            <a:ln>
              <a:noFill/>
            </a:ln>
          </p:spPr>
        </p:sp>
        <p:grpSp>
          <p:nvGrpSpPr>
            <p:cNvPr id="94" name="Group 94"/>
            <p:cNvGrpSpPr/>
            <p:nvPr/>
          </p:nvGrpSpPr>
          <p:grpSpPr>
            <a:xfrm>
              <a:off x="10489406" y="6441281"/>
              <a:ext cx="128588" cy="128588"/>
              <a:chOff x="10489406" y="6441281"/>
              <a:chExt cx="128588" cy="128588"/>
            </a:xfrm>
          </p:grpSpPr>
          <p:sp>
            <p:nvSpPr>
              <p:cNvPr id="91" name="Freeform 91"/>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92" name="Freeform 92"/>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93" name="Freeform 93"/>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95" name="Ellipse 95"/>
            <p:cNvSpPr/>
            <p:nvPr/>
          </p:nvSpPr>
          <p:spPr>
            <a:xfrm>
              <a:off x="10820400" y="6372225"/>
              <a:ext cx="266700" cy="266700"/>
            </a:xfrm>
            <a:prstGeom prst="ellipse">
              <a:avLst/>
            </a:prstGeom>
            <a:solidFill>
              <a:srgbClr val="D7D8D6"/>
            </a:solidFill>
            <a:ln>
              <a:noFill/>
            </a:ln>
          </p:spPr>
        </p:sp>
        <p:sp>
          <p:nvSpPr>
            <p:cNvPr id="96" name="Freeform 96"/>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97" name="TextBox 97"/>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23</a:t>
              </a:r>
            </a:p>
          </p:txBody>
        </p:sp>
      </p:gr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24</a:t>
              </a:r>
            </a:p>
          </p:txBody>
        </p:sp>
        <p:sp>
          <p:nvSpPr>
            <p:cNvPr id="4" name="TextBox 4"/>
            <p:cNvSpPr txBox="1"/>
            <p:nvPr/>
          </p:nvSpPr>
          <p:spPr>
            <a:xfrm>
              <a:off x="942594" y="151448"/>
              <a:ext cx="489524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模型风险管理委员会</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1" name="col-1"/>
          <p:cNvGrpSpPr/>
          <p:nvPr/>
        </p:nvGrpSpPr>
        <p:grpSpPr>
          <a:xfrm>
            <a:off x="566547" y="847249"/>
            <a:ext cx="2375726" cy="1870234"/>
            <a:chOff x="566547" y="847249"/>
            <a:chExt cx="2375726" cy="1870234"/>
          </a:xfrm>
        </p:grpSpPr>
        <p:sp>
          <p:nvSpPr>
            <p:cNvPr id="7" name="TextBox 7"/>
            <p:cNvSpPr txBox="1"/>
            <p:nvPr/>
          </p:nvSpPr>
          <p:spPr>
            <a:xfrm>
              <a:off x="566547" y="847249"/>
              <a:ext cx="1273443"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模型风险管理委员会​</a:t>
              </a:r>
            </a:p>
          </p:txBody>
        </p:sp>
        <p:sp>
          <p:nvSpPr>
            <p:cNvPr id="8" name="TextBox 8"/>
            <p:cNvSpPr txBox="1"/>
            <p:nvPr/>
          </p:nvSpPr>
          <p:spPr>
            <a:xfrm>
              <a:off x="566738" y="1012984"/>
              <a:ext cx="1628388"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Model risk management committees​</a:t>
              </a:r>
            </a:p>
          </p:txBody>
        </p:sp>
        <p:sp>
          <p:nvSpPr>
            <p:cNvPr id="9" name="TextBox 9"/>
            <p:cNvSpPr txBox="1"/>
            <p:nvPr/>
          </p:nvSpPr>
          <p:spPr>
            <a:xfrm>
              <a:off x="566738" y="1169670"/>
              <a:ext cx="23583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模型风险管理委员会是模型风险管理框架中的​</a:t>
              </a:r>
              <a:br/>
              <a:r>
                <a:rPr lang="zh-CN" sz="900" dirty="0">
                  <a:solidFill>
                    <a:srgbClr val="333333"/>
                  </a:solidFill>
                  <a:latin typeface="+mn-lt"/>
                  <a:ea typeface="+mn-ea"/>
                  <a:cs typeface="+mn-cs"/>
                </a:rPr>
                <a:t>关键决策机构。​</a:t>
              </a:r>
            </a:p>
          </p:txBody>
        </p:sp>
        <p:sp>
          <p:nvSpPr>
            <p:cNvPr id="10" name="TextBox 10"/>
            <p:cNvSpPr txBox="1"/>
            <p:nvPr/>
          </p:nvSpPr>
          <p:spPr>
            <a:xfrm>
              <a:off x="566738" y="1636395"/>
              <a:ext cx="2375535"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在设有模型风险委员会的银行中，约四分之三​</a:t>
              </a:r>
              <a:br/>
              <a:r>
                <a:rPr lang="zh-CN" sz="900" dirty="0">
                  <a:solidFill>
                    <a:srgbClr val="333333"/>
                  </a:solidFill>
                  <a:latin typeface="+mn-lt"/>
                  <a:ea typeface="+mn-ea"/>
                  <a:cs typeface="+mn-cs"/>
                </a:rPr>
                <a:t>表示其模型风险委员会负责模型审批和模型风​</a:t>
              </a:r>
              <a:br/>
              <a:r>
                <a:rPr lang="zh-CN" sz="900" dirty="0">
                  <a:solidFill>
                    <a:srgbClr val="333333"/>
                  </a:solidFill>
                  <a:latin typeface="+mn-lt"/>
                  <a:ea typeface="+mn-ea"/>
                  <a:cs typeface="+mn-cs"/>
                </a:rPr>
                <a:t>险框架文档审批。略少于半数的银行表示其模​</a:t>
              </a:r>
              <a:br/>
              <a:r>
                <a:rPr lang="zh-CN" sz="900" dirty="0">
                  <a:solidFill>
                    <a:srgbClr val="333333"/>
                  </a:solidFill>
                  <a:latin typeface="+mn-lt"/>
                  <a:ea typeface="+mn-ea"/>
                  <a:cs typeface="+mn-cs"/>
                </a:rPr>
                <a:t>型风险委员会还负责识别跨模型的和/或未​​</a:t>
              </a:r>
              <a:br/>
              <a:r>
                <a:rPr lang="zh-CN" sz="900" dirty="0">
                  <a:solidFill>
                    <a:srgbClr val="333333"/>
                  </a:solidFill>
                  <a:latin typeface="+mn-lt"/>
                  <a:ea typeface="+mn-ea"/>
                  <a:cs typeface="+mn-cs"/>
                </a:rPr>
                <a:t>来的模型影响（如COVID-19、IBOR改革）​​​​</a:t>
              </a:r>
              <a:br/>
              <a:r>
                <a:rPr lang="zh-CN" sz="900" dirty="0">
                  <a:solidFill>
                    <a:srgbClr val="333333"/>
                  </a:solidFill>
                  <a:latin typeface="+mn-lt"/>
                  <a:ea typeface="+mn-ea"/>
                  <a:cs typeface="+mn-cs"/>
                </a:rPr>
                <a:t>。​</a:t>
              </a:r>
            </a:p>
          </p:txBody>
        </p:sp>
      </p:grpSp>
      <p:grpSp>
        <p:nvGrpSpPr>
          <p:cNvPr id="14" name="col-2"/>
          <p:cNvGrpSpPr/>
          <p:nvPr/>
        </p:nvGrpSpPr>
        <p:grpSpPr>
          <a:xfrm>
            <a:off x="3424238" y="855345"/>
            <a:ext cx="2358390" cy="1547812"/>
            <a:chOff x="3424238" y="855345"/>
            <a:chExt cx="2358390" cy="1547812"/>
          </a:xfrm>
        </p:grpSpPr>
        <p:sp>
          <p:nvSpPr>
            <p:cNvPr id="12" name="TextBox 12"/>
            <p:cNvSpPr txBox="1"/>
            <p:nvPr/>
          </p:nvSpPr>
          <p:spPr>
            <a:xfrm>
              <a:off x="3424238" y="855345"/>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模型风险委员会职责的其他例子包括审批模型​</a:t>
              </a:r>
              <a:br/>
              <a:r>
                <a:rPr lang="zh-CN" sz="900" dirty="0">
                  <a:solidFill>
                    <a:srgbClr val="333333"/>
                  </a:solidFill>
                  <a:latin typeface="+mn-lt"/>
                  <a:ea typeface="+mn-ea"/>
                  <a:cs typeface="+mn-cs"/>
                </a:rPr>
                <a:t>监控和模型验证结果，以及审批建模流程和模​</a:t>
              </a:r>
              <a:br/>
              <a:r>
                <a:rPr lang="zh-CN" sz="900" dirty="0">
                  <a:solidFill>
                    <a:srgbClr val="333333"/>
                  </a:solidFill>
                  <a:latin typeface="+mn-lt"/>
                  <a:ea typeface="+mn-ea"/>
                  <a:cs typeface="+mn-cs"/>
                </a:rPr>
                <a:t>型组合（规划、运营决策）。​</a:t>
              </a:r>
            </a:p>
          </p:txBody>
        </p:sp>
        <p:sp>
          <p:nvSpPr>
            <p:cNvPr id="13" name="TextBox 13"/>
            <p:cNvSpPr txBox="1"/>
            <p:nvPr/>
          </p:nvSpPr>
          <p:spPr>
            <a:xfrm>
              <a:off x="3424238" y="1503045"/>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然而，随着模型版图日趋复杂，委员会的职责​</a:t>
              </a:r>
              <a:br/>
              <a:r>
                <a:rPr lang="zh-CN" sz="900" dirty="0">
                  <a:solidFill>
                    <a:srgbClr val="333333"/>
                  </a:solidFill>
                  <a:latin typeface="+mn-lt"/>
                  <a:ea typeface="+mn-ea"/>
                  <a:cs typeface="+mn-cs"/>
                </a:rPr>
                <a:t>也在增加，导致委员会与高级利益相关方之间​</a:t>
              </a:r>
              <a:br/>
              <a:r>
                <a:rPr lang="zh-CN" sz="900" dirty="0">
                  <a:solidFill>
                    <a:srgbClr val="333333"/>
                  </a:solidFill>
                  <a:latin typeface="+mn-lt"/>
                  <a:ea typeface="+mn-ea"/>
                  <a:cs typeface="+mn-cs"/>
                </a:rPr>
                <a:t>产生大量运营决策。因此，银行开始区分战略​</a:t>
              </a:r>
              <a:br/>
              <a:r>
                <a:rPr lang="zh-CN" sz="900" dirty="0">
                  <a:solidFill>
                    <a:srgbClr val="333333"/>
                  </a:solidFill>
                  <a:latin typeface="+mn-lt"/>
                  <a:ea typeface="+mn-ea"/>
                  <a:cs typeface="+mn-cs"/>
                </a:rPr>
                <a:t>和运营模型风险管理委员会。大型银行中​</a:t>
              </a:r>
              <a:br/>
              <a:r>
                <a:rPr lang="zh-CN" sz="900" dirty="0">
                  <a:solidFill>
                    <a:srgbClr val="333333"/>
                  </a:solidFill>
                  <a:latin typeface="+mn-lt"/>
                  <a:ea typeface="+mn-ea"/>
                  <a:cs typeface="+mn-cs"/>
                </a:rPr>
                <a:t>53%表示区分了战略与运营模型风险委员会，​</a:t>
              </a:r>
            </a:p>
          </p:txBody>
        </p:sp>
      </p:grpSp>
      <p:grpSp>
        <p:nvGrpSpPr>
          <p:cNvPr id="17" name="col-3"/>
          <p:cNvGrpSpPr/>
          <p:nvPr/>
        </p:nvGrpSpPr>
        <p:grpSpPr>
          <a:xfrm>
            <a:off x="6281738" y="855345"/>
            <a:ext cx="2398395" cy="1547813"/>
            <a:chOff x="6281738" y="855345"/>
            <a:chExt cx="2398395" cy="1547813"/>
          </a:xfrm>
        </p:grpSpPr>
        <p:sp>
          <p:nvSpPr>
            <p:cNvPr id="15" name="TextBox 15"/>
            <p:cNvSpPr txBox="1"/>
            <p:nvPr/>
          </p:nvSpPr>
          <p:spPr>
            <a:xfrm>
              <a:off x="6281738" y="855345"/>
              <a:ext cx="2398395"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中型银行为41%，小型银行为31%。多种因​​​​</a:t>
              </a:r>
              <a:br/>
              <a:r>
                <a:rPr lang="zh-CN" sz="900" dirty="0">
                  <a:solidFill>
                    <a:srgbClr val="333333"/>
                  </a:solidFill>
                  <a:latin typeface="+mn-lt"/>
                  <a:ea typeface="+mn-ea"/>
                  <a:cs typeface="+mn-cs"/>
                </a:rPr>
                <a:t>素造成这一差异，例如模型风险管理框架的成​</a:t>
              </a:r>
              <a:br/>
              <a:r>
                <a:rPr lang="zh-CN" sz="900" dirty="0">
                  <a:solidFill>
                    <a:srgbClr val="333333"/>
                  </a:solidFill>
                  <a:latin typeface="+mn-lt"/>
                  <a:ea typeface="+mn-ea"/>
                  <a:cs typeface="+mn-cs"/>
                </a:rPr>
                <a:t>熟度和模型清单的规模，进而也决定了这种区​</a:t>
              </a:r>
              <a:br/>
              <a:r>
                <a:rPr lang="zh-CN" sz="900" dirty="0">
                  <a:solidFill>
                    <a:srgbClr val="333333"/>
                  </a:solidFill>
                  <a:latin typeface="+mn-lt"/>
                  <a:ea typeface="+mn-ea"/>
                  <a:cs typeface="+mn-cs"/>
                </a:rPr>
                <a:t>分的必要性。​</a:t>
              </a:r>
            </a:p>
          </p:txBody>
        </p:sp>
        <p:sp>
          <p:nvSpPr>
            <p:cNvPr id="16" name="TextBox 16"/>
            <p:cNvSpPr txBox="1"/>
            <p:nvPr/>
          </p:nvSpPr>
          <p:spPr>
            <a:xfrm>
              <a:off x="6281738" y="1684020"/>
              <a:ext cx="2398395"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另一个有趣的发现是，31%的中型银行表示​​</a:t>
              </a:r>
              <a:br/>
              <a:r>
                <a:rPr lang="zh-CN" sz="900" dirty="0">
                  <a:solidFill>
                    <a:srgbClr val="333333"/>
                  </a:solidFill>
                  <a:latin typeface="+mn-lt"/>
                  <a:ea typeface="+mn-ea"/>
                  <a:cs typeface="+mn-cs"/>
                </a:rPr>
                <a:t>完全没有模型风险管理委员会；而小型银行中​</a:t>
              </a:r>
              <a:br/>
              <a:r>
                <a:rPr lang="zh-CN" sz="900" dirty="0">
                  <a:solidFill>
                    <a:srgbClr val="333333"/>
                  </a:solidFill>
                  <a:latin typeface="+mn-lt"/>
                  <a:ea typeface="+mn-ea"/>
                  <a:cs typeface="+mn-cs"/>
                </a:rPr>
                <a:t>仅16%、大型银行中仅10%表示本行不存在​​​​</a:t>
              </a:r>
              <a:br/>
              <a:r>
                <a:rPr lang="zh-CN" sz="900" dirty="0">
                  <a:solidFill>
                    <a:srgbClr val="333333"/>
                  </a:solidFill>
                  <a:latin typeface="+mn-lt"/>
                  <a:ea typeface="+mn-ea"/>
                  <a:cs typeface="+mn-cs"/>
                </a:rPr>
                <a:t>模型风险委员会。​</a:t>
              </a:r>
            </a:p>
          </p:txBody>
        </p:sp>
      </p:grpSp>
      <p:grpSp>
        <p:nvGrpSpPr>
          <p:cNvPr id="45" name="figure-24"/>
          <p:cNvGrpSpPr/>
          <p:nvPr/>
        </p:nvGrpSpPr>
        <p:grpSpPr>
          <a:xfrm>
            <a:off x="566738" y="3016091"/>
            <a:ext cx="2957512" cy="2305527"/>
            <a:chOff x="566738" y="3016091"/>
            <a:chExt cx="2957512" cy="2305527"/>
          </a:xfrm>
        </p:grpSpPr>
        <p:sp>
          <p:nvSpPr>
            <p:cNvPr id="18" name="TextBox 18"/>
            <p:cNvSpPr txBox="1"/>
            <p:nvPr/>
          </p:nvSpPr>
          <p:spPr>
            <a:xfrm>
              <a:off x="566738" y="3016091"/>
              <a:ext cx="1798093"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图24. 模型风险管理委员会的职责​​</a:t>
              </a:r>
            </a:p>
          </p:txBody>
        </p:sp>
        <p:sp>
          <p:nvSpPr>
            <p:cNvPr id="19" name="TextBox 19"/>
            <p:cNvSpPr txBox="1"/>
            <p:nvPr/>
          </p:nvSpPr>
          <p:spPr>
            <a:xfrm>
              <a:off x="566738" y="3164205"/>
              <a:ext cx="2386910"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Responsibilities of the model risk management committees​​</a:t>
              </a:r>
            </a:p>
          </p:txBody>
        </p:sp>
        <p:sp>
          <p:nvSpPr>
            <p:cNvPr id="20" name="Line 20"/>
            <p:cNvSpPr/>
            <p:nvPr/>
          </p:nvSpPr>
          <p:spPr>
            <a:xfrm>
              <a:off x="952500" y="5038725"/>
              <a:ext cx="2571750" cy="9525"/>
            </a:xfrm>
            <a:custGeom>
              <a:avLst/>
              <a:gdLst/>
              <a:ahLst/>
              <a:cxnLst/>
              <a:rect l="l" t="t" r="r" b="b"/>
              <a:pathLst>
                <a:path w="2571750" h="9525">
                  <a:moveTo>
                    <a:pt x="0" y="0"/>
                  </a:moveTo>
                  <a:lnTo>
                    <a:pt x="2571750" y="0"/>
                  </a:lnTo>
                </a:path>
              </a:pathLst>
            </a:custGeom>
            <a:noFill/>
            <a:ln w="7620">
              <a:solidFill>
                <a:srgbClr val="E6E6E6"/>
              </a:solidFill>
            </a:ln>
          </p:spPr>
        </p:sp>
        <p:sp>
          <p:nvSpPr>
            <p:cNvPr id="21" name="TextBox 21"/>
            <p:cNvSpPr txBox="1"/>
            <p:nvPr/>
          </p:nvSpPr>
          <p:spPr>
            <a:xfrm>
              <a:off x="750684" y="5007292"/>
              <a:ext cx="158953"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0%​</a:t>
              </a:r>
            </a:p>
          </p:txBody>
        </p:sp>
        <p:sp>
          <p:nvSpPr>
            <p:cNvPr id="22" name="Line 22"/>
            <p:cNvSpPr/>
            <p:nvPr/>
          </p:nvSpPr>
          <p:spPr>
            <a:xfrm>
              <a:off x="952500" y="4733925"/>
              <a:ext cx="2571750" cy="9525"/>
            </a:xfrm>
            <a:custGeom>
              <a:avLst/>
              <a:gdLst/>
              <a:ahLst/>
              <a:cxnLst/>
              <a:rect l="l" t="t" r="r" b="b"/>
              <a:pathLst>
                <a:path w="2571750" h="9525">
                  <a:moveTo>
                    <a:pt x="0" y="0"/>
                  </a:moveTo>
                  <a:lnTo>
                    <a:pt x="2571750" y="0"/>
                  </a:lnTo>
                </a:path>
              </a:pathLst>
            </a:custGeom>
            <a:noFill/>
            <a:ln w="7620">
              <a:solidFill>
                <a:srgbClr val="E6E6E6"/>
              </a:solidFill>
            </a:ln>
          </p:spPr>
        </p:sp>
        <p:sp>
          <p:nvSpPr>
            <p:cNvPr id="23" name="TextBox 23"/>
            <p:cNvSpPr txBox="1"/>
            <p:nvPr/>
          </p:nvSpPr>
          <p:spPr>
            <a:xfrm>
              <a:off x="706260" y="4702492"/>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20%​</a:t>
              </a:r>
            </a:p>
          </p:txBody>
        </p:sp>
        <p:sp>
          <p:nvSpPr>
            <p:cNvPr id="24" name="Line 24"/>
            <p:cNvSpPr/>
            <p:nvPr/>
          </p:nvSpPr>
          <p:spPr>
            <a:xfrm>
              <a:off x="952500" y="4429125"/>
              <a:ext cx="2571750" cy="9525"/>
            </a:xfrm>
            <a:custGeom>
              <a:avLst/>
              <a:gdLst/>
              <a:ahLst/>
              <a:cxnLst/>
              <a:rect l="l" t="t" r="r" b="b"/>
              <a:pathLst>
                <a:path w="2571750" h="9525">
                  <a:moveTo>
                    <a:pt x="0" y="0"/>
                  </a:moveTo>
                  <a:lnTo>
                    <a:pt x="2571750" y="0"/>
                  </a:lnTo>
                </a:path>
              </a:pathLst>
            </a:custGeom>
            <a:noFill/>
            <a:ln w="7620">
              <a:solidFill>
                <a:srgbClr val="E6E6E6"/>
              </a:solidFill>
            </a:ln>
          </p:spPr>
        </p:sp>
        <p:sp>
          <p:nvSpPr>
            <p:cNvPr id="25" name="TextBox 25"/>
            <p:cNvSpPr txBox="1"/>
            <p:nvPr/>
          </p:nvSpPr>
          <p:spPr>
            <a:xfrm>
              <a:off x="706260" y="4397692"/>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40%​</a:t>
              </a:r>
            </a:p>
          </p:txBody>
        </p:sp>
        <p:sp>
          <p:nvSpPr>
            <p:cNvPr id="26" name="Line 26"/>
            <p:cNvSpPr/>
            <p:nvPr/>
          </p:nvSpPr>
          <p:spPr>
            <a:xfrm>
              <a:off x="952500" y="4124325"/>
              <a:ext cx="2571750" cy="9525"/>
            </a:xfrm>
            <a:custGeom>
              <a:avLst/>
              <a:gdLst/>
              <a:ahLst/>
              <a:cxnLst/>
              <a:rect l="l" t="t" r="r" b="b"/>
              <a:pathLst>
                <a:path w="2571750" h="9525">
                  <a:moveTo>
                    <a:pt x="0" y="0"/>
                  </a:moveTo>
                  <a:lnTo>
                    <a:pt x="2571750" y="0"/>
                  </a:lnTo>
                </a:path>
              </a:pathLst>
            </a:custGeom>
            <a:noFill/>
            <a:ln w="7620">
              <a:solidFill>
                <a:srgbClr val="E6E6E6"/>
              </a:solidFill>
            </a:ln>
          </p:spPr>
        </p:sp>
        <p:sp>
          <p:nvSpPr>
            <p:cNvPr id="27" name="TextBox 27"/>
            <p:cNvSpPr txBox="1"/>
            <p:nvPr/>
          </p:nvSpPr>
          <p:spPr>
            <a:xfrm>
              <a:off x="706260" y="4092892"/>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60%​</a:t>
              </a:r>
            </a:p>
          </p:txBody>
        </p:sp>
        <p:sp>
          <p:nvSpPr>
            <p:cNvPr id="28" name="Line 28"/>
            <p:cNvSpPr/>
            <p:nvPr/>
          </p:nvSpPr>
          <p:spPr>
            <a:xfrm>
              <a:off x="952500" y="3819525"/>
              <a:ext cx="2571750" cy="9525"/>
            </a:xfrm>
            <a:custGeom>
              <a:avLst/>
              <a:gdLst/>
              <a:ahLst/>
              <a:cxnLst/>
              <a:rect l="l" t="t" r="r" b="b"/>
              <a:pathLst>
                <a:path w="2571750" h="9525">
                  <a:moveTo>
                    <a:pt x="0" y="0"/>
                  </a:moveTo>
                  <a:lnTo>
                    <a:pt x="2571750" y="0"/>
                  </a:lnTo>
                </a:path>
              </a:pathLst>
            </a:custGeom>
            <a:noFill/>
            <a:ln w="7620">
              <a:solidFill>
                <a:srgbClr val="E6E6E6"/>
              </a:solidFill>
            </a:ln>
          </p:spPr>
        </p:sp>
        <p:sp>
          <p:nvSpPr>
            <p:cNvPr id="29" name="TextBox 29"/>
            <p:cNvSpPr txBox="1"/>
            <p:nvPr/>
          </p:nvSpPr>
          <p:spPr>
            <a:xfrm>
              <a:off x="706260" y="3788092"/>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80%​</a:t>
              </a:r>
            </a:p>
          </p:txBody>
        </p:sp>
        <p:sp>
          <p:nvSpPr>
            <p:cNvPr id="30" name="Line 30"/>
            <p:cNvSpPr/>
            <p:nvPr/>
          </p:nvSpPr>
          <p:spPr>
            <a:xfrm>
              <a:off x="952500" y="3514725"/>
              <a:ext cx="2571750" cy="9525"/>
            </a:xfrm>
            <a:custGeom>
              <a:avLst/>
              <a:gdLst/>
              <a:ahLst/>
              <a:cxnLst/>
              <a:rect l="l" t="t" r="r" b="b"/>
              <a:pathLst>
                <a:path w="2571750" h="9525">
                  <a:moveTo>
                    <a:pt x="0" y="0"/>
                  </a:moveTo>
                  <a:lnTo>
                    <a:pt x="2571750" y="0"/>
                  </a:lnTo>
                </a:path>
              </a:pathLst>
            </a:custGeom>
            <a:noFill/>
            <a:ln w="7620">
              <a:solidFill>
                <a:srgbClr val="E6E6E6"/>
              </a:solidFill>
            </a:ln>
          </p:spPr>
        </p:sp>
        <p:sp>
          <p:nvSpPr>
            <p:cNvPr id="31" name="TextBox 31"/>
            <p:cNvSpPr txBox="1"/>
            <p:nvPr/>
          </p:nvSpPr>
          <p:spPr>
            <a:xfrm>
              <a:off x="661835" y="3483292"/>
              <a:ext cx="247802"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100%​</a:t>
              </a:r>
            </a:p>
          </p:txBody>
        </p:sp>
        <p:sp>
          <p:nvSpPr>
            <p:cNvPr id="32" name="Rectangle 32"/>
            <p:cNvSpPr/>
            <p:nvPr/>
          </p:nvSpPr>
          <p:spPr>
            <a:xfrm>
              <a:off x="1112520" y="3850005"/>
              <a:ext cx="323850" cy="1188720"/>
            </a:xfrm>
            <a:prstGeom prst="rect">
              <a:avLst/>
            </a:prstGeom>
            <a:solidFill>
              <a:srgbClr val="AA1B00"/>
            </a:solidFill>
            <a:ln>
              <a:noFill/>
            </a:ln>
          </p:spPr>
        </p:sp>
        <p:sp>
          <p:nvSpPr>
            <p:cNvPr id="33" name="TextBox 33"/>
            <p:cNvSpPr txBox="1"/>
            <p:nvPr/>
          </p:nvSpPr>
          <p:spPr>
            <a:xfrm>
              <a:off x="1159833" y="3748564"/>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78%​</a:t>
              </a:r>
            </a:p>
          </p:txBody>
        </p:sp>
        <p:sp>
          <p:nvSpPr>
            <p:cNvPr id="34" name="TextBox 34"/>
            <p:cNvSpPr txBox="1"/>
            <p:nvPr/>
          </p:nvSpPr>
          <p:spPr>
            <a:xfrm>
              <a:off x="1085926" y="5097780"/>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模型审批​</a:t>
              </a:r>
            </a:p>
          </p:txBody>
        </p:sp>
        <p:sp>
          <p:nvSpPr>
            <p:cNvPr id="35" name="Rectangle 35"/>
            <p:cNvSpPr/>
            <p:nvPr/>
          </p:nvSpPr>
          <p:spPr>
            <a:xfrm>
              <a:off x="1754505" y="3880485"/>
              <a:ext cx="323850" cy="1158240"/>
            </a:xfrm>
            <a:prstGeom prst="rect">
              <a:avLst/>
            </a:prstGeom>
            <a:solidFill>
              <a:srgbClr val="AA1B00"/>
            </a:solidFill>
            <a:ln>
              <a:noFill/>
            </a:ln>
          </p:spPr>
        </p:sp>
        <p:sp>
          <p:nvSpPr>
            <p:cNvPr id="36" name="TextBox 36"/>
            <p:cNvSpPr txBox="1"/>
            <p:nvPr/>
          </p:nvSpPr>
          <p:spPr>
            <a:xfrm>
              <a:off x="1801818" y="3779044"/>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76%​</a:t>
              </a:r>
            </a:p>
          </p:txBody>
        </p:sp>
        <p:sp>
          <p:nvSpPr>
            <p:cNvPr id="37" name="TextBox 37"/>
            <p:cNvSpPr txBox="1"/>
            <p:nvPr/>
          </p:nvSpPr>
          <p:spPr>
            <a:xfrm>
              <a:off x="1662112" y="5097780"/>
              <a:ext cx="5086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模型风险框架​</a:t>
              </a:r>
              <a:br/>
              <a:r>
                <a:rPr lang="zh-CN" sz="600" dirty="0">
                  <a:solidFill>
                    <a:srgbClr val="666666"/>
                  </a:solidFill>
                  <a:latin typeface="+mn-lt"/>
                  <a:ea typeface="+mn-ea"/>
                  <a:cs typeface="+mn-cs"/>
                </a:rPr>
                <a:t>文档审批​</a:t>
              </a:r>
            </a:p>
          </p:txBody>
        </p:sp>
        <p:sp>
          <p:nvSpPr>
            <p:cNvPr id="38" name="Rectangle 38"/>
            <p:cNvSpPr/>
            <p:nvPr/>
          </p:nvSpPr>
          <p:spPr>
            <a:xfrm>
              <a:off x="2398395" y="4291965"/>
              <a:ext cx="323850" cy="746760"/>
            </a:xfrm>
            <a:prstGeom prst="rect">
              <a:avLst/>
            </a:prstGeom>
            <a:solidFill>
              <a:srgbClr val="AA1B00"/>
            </a:solidFill>
            <a:ln>
              <a:noFill/>
            </a:ln>
          </p:spPr>
        </p:sp>
        <p:sp>
          <p:nvSpPr>
            <p:cNvPr id="39" name="TextBox 39"/>
            <p:cNvSpPr txBox="1"/>
            <p:nvPr/>
          </p:nvSpPr>
          <p:spPr>
            <a:xfrm>
              <a:off x="2445708" y="4190524"/>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49%​</a:t>
              </a:r>
            </a:p>
          </p:txBody>
        </p:sp>
        <p:sp>
          <p:nvSpPr>
            <p:cNvPr id="40" name="TextBox 40"/>
            <p:cNvSpPr txBox="1"/>
            <p:nvPr/>
          </p:nvSpPr>
          <p:spPr>
            <a:xfrm>
              <a:off x="2225992" y="5097780"/>
              <a:ext cx="66865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识别跨模型和/或​​</a:t>
              </a:r>
              <a:br/>
              <a:r>
                <a:rPr lang="zh-CN" sz="600" dirty="0">
                  <a:solidFill>
                    <a:srgbClr val="666666"/>
                  </a:solidFill>
                  <a:latin typeface="+mn-lt"/>
                  <a:ea typeface="+mn-ea"/>
                  <a:cs typeface="+mn-cs"/>
                </a:rPr>
                <a:t>未来模型影响​</a:t>
              </a:r>
            </a:p>
          </p:txBody>
        </p:sp>
        <p:sp>
          <p:nvSpPr>
            <p:cNvPr id="41" name="Rectangle 41"/>
            <p:cNvSpPr/>
            <p:nvPr/>
          </p:nvSpPr>
          <p:spPr>
            <a:xfrm>
              <a:off x="3040380" y="4672965"/>
              <a:ext cx="323850" cy="365760"/>
            </a:xfrm>
            <a:prstGeom prst="rect">
              <a:avLst/>
            </a:prstGeom>
            <a:solidFill>
              <a:srgbClr val="AA1B00"/>
            </a:solidFill>
            <a:ln>
              <a:noFill/>
            </a:ln>
          </p:spPr>
        </p:sp>
        <p:sp>
          <p:nvSpPr>
            <p:cNvPr id="42" name="TextBox 42"/>
            <p:cNvSpPr txBox="1"/>
            <p:nvPr/>
          </p:nvSpPr>
          <p:spPr>
            <a:xfrm>
              <a:off x="3087693" y="4571524"/>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24%​</a:t>
              </a:r>
            </a:p>
          </p:txBody>
        </p:sp>
        <p:sp>
          <p:nvSpPr>
            <p:cNvPr id="43" name="TextBox 43"/>
            <p:cNvSpPr txBox="1"/>
            <p:nvPr/>
          </p:nvSpPr>
          <p:spPr>
            <a:xfrm>
              <a:off x="2939103" y="5097780"/>
              <a:ext cx="526405"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其他 Other​​</a:t>
              </a:r>
            </a:p>
          </p:txBody>
        </p:sp>
        <p:sp>
          <p:nvSpPr>
            <p:cNvPr id="44" name="Line 44"/>
            <p:cNvSpPr/>
            <p:nvPr/>
          </p:nvSpPr>
          <p:spPr>
            <a:xfrm>
              <a:off x="952500" y="5038725"/>
              <a:ext cx="2571750" cy="9525"/>
            </a:xfrm>
            <a:custGeom>
              <a:avLst/>
              <a:gdLst/>
              <a:ahLst/>
              <a:cxnLst/>
              <a:rect l="l" t="t" r="r" b="b"/>
              <a:pathLst>
                <a:path w="2571750" h="9525">
                  <a:moveTo>
                    <a:pt x="0" y="0"/>
                  </a:moveTo>
                  <a:lnTo>
                    <a:pt x="2571750" y="0"/>
                  </a:lnTo>
                </a:path>
              </a:pathLst>
            </a:custGeom>
            <a:noFill/>
            <a:ln w="9525">
              <a:solidFill>
                <a:srgbClr val="666666"/>
              </a:solidFill>
            </a:ln>
          </p:spPr>
        </p:sp>
      </p:grpSp>
      <p:grpSp>
        <p:nvGrpSpPr>
          <p:cNvPr id="75" name="figure-25"/>
          <p:cNvGrpSpPr/>
          <p:nvPr/>
        </p:nvGrpSpPr>
        <p:grpSpPr>
          <a:xfrm>
            <a:off x="3805238" y="3016091"/>
            <a:ext cx="5540782" cy="2384822"/>
            <a:chOff x="3805238" y="3016091"/>
            <a:chExt cx="5540782" cy="2384822"/>
          </a:xfrm>
        </p:grpSpPr>
        <p:sp>
          <p:nvSpPr>
            <p:cNvPr id="46" name="TextBox 46"/>
            <p:cNvSpPr txBox="1"/>
            <p:nvPr/>
          </p:nvSpPr>
          <p:spPr>
            <a:xfrm>
              <a:off x="3805238" y="3016091"/>
              <a:ext cx="2570812"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图25. 区分战略与运营模型风险管理委员会的银行​​</a:t>
              </a:r>
            </a:p>
          </p:txBody>
        </p:sp>
        <p:sp>
          <p:nvSpPr>
            <p:cNvPr id="47" name="TextBox 47"/>
            <p:cNvSpPr txBox="1"/>
            <p:nvPr/>
          </p:nvSpPr>
          <p:spPr>
            <a:xfrm>
              <a:off x="3805238" y="3164205"/>
              <a:ext cx="4054888"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Banks that make a distinction between strategic and operational model risk management committees​​</a:t>
              </a:r>
            </a:p>
          </p:txBody>
        </p:sp>
        <p:sp>
          <p:nvSpPr>
            <p:cNvPr id="48" name="Freeform 48"/>
            <p:cNvSpPr/>
            <p:nvPr/>
          </p:nvSpPr>
          <p:spPr>
            <a:xfrm>
              <a:off x="4038600" y="3714750"/>
              <a:ext cx="1257300" cy="1257300"/>
            </a:xfrm>
            <a:prstGeom prst="blockArc">
              <a:avLst>
                <a:gd name="adj1" fmla="val 16200000"/>
                <a:gd name="adj2" fmla="val 1296000"/>
                <a:gd name="adj3" fmla="val 16667"/>
              </a:avLst>
            </a:prstGeom>
            <a:solidFill>
              <a:srgbClr val="C35642"/>
            </a:solidFill>
            <a:ln>
              <a:noFill/>
            </a:ln>
          </p:spPr>
        </p:sp>
        <p:sp>
          <p:nvSpPr>
            <p:cNvPr id="49" name="Freeform 49"/>
            <p:cNvSpPr/>
            <p:nvPr/>
          </p:nvSpPr>
          <p:spPr>
            <a:xfrm>
              <a:off x="4038600" y="3714750"/>
              <a:ext cx="1257300" cy="1257300"/>
            </a:xfrm>
            <a:prstGeom prst="blockArc">
              <a:avLst>
                <a:gd name="adj1" fmla="val 1296000"/>
                <a:gd name="adj2" fmla="val 12744000"/>
                <a:gd name="adj3" fmla="val 16667"/>
              </a:avLst>
            </a:prstGeom>
            <a:solidFill>
              <a:srgbClr val="EDBCB3"/>
            </a:solidFill>
            <a:ln>
              <a:noFill/>
            </a:ln>
          </p:spPr>
        </p:sp>
        <p:sp>
          <p:nvSpPr>
            <p:cNvPr id="50" name="Freeform 50"/>
            <p:cNvSpPr/>
            <p:nvPr/>
          </p:nvSpPr>
          <p:spPr>
            <a:xfrm>
              <a:off x="4038600" y="3714750"/>
              <a:ext cx="1257300" cy="1257300"/>
            </a:xfrm>
            <a:prstGeom prst="blockArc">
              <a:avLst>
                <a:gd name="adj1" fmla="val 12744000"/>
                <a:gd name="adj2" fmla="val 16200000"/>
                <a:gd name="adj3" fmla="val 16667"/>
              </a:avLst>
            </a:prstGeom>
            <a:solidFill>
              <a:srgbClr val="6B1100"/>
            </a:solidFill>
            <a:ln>
              <a:noFill/>
            </a:ln>
          </p:spPr>
        </p:sp>
        <p:sp>
          <p:nvSpPr>
            <p:cNvPr id="51" name="Freeform 51"/>
            <p:cNvSpPr/>
            <p:nvPr/>
          </p:nvSpPr>
          <p:spPr>
            <a:xfrm>
              <a:off x="5943600" y="3714750"/>
              <a:ext cx="1257300" cy="1257300"/>
            </a:xfrm>
            <a:prstGeom prst="blockArc">
              <a:avLst>
                <a:gd name="adj1" fmla="val 16200000"/>
                <a:gd name="adj2" fmla="val 3456000"/>
                <a:gd name="adj3" fmla="val 16667"/>
              </a:avLst>
            </a:prstGeom>
            <a:solidFill>
              <a:srgbClr val="C35642"/>
            </a:solidFill>
            <a:ln>
              <a:noFill/>
            </a:ln>
          </p:spPr>
        </p:sp>
        <p:sp>
          <p:nvSpPr>
            <p:cNvPr id="52" name="Freeform 52"/>
            <p:cNvSpPr/>
            <p:nvPr/>
          </p:nvSpPr>
          <p:spPr>
            <a:xfrm>
              <a:off x="5943600" y="3714750"/>
              <a:ext cx="1257300" cy="1257300"/>
            </a:xfrm>
            <a:prstGeom prst="blockArc">
              <a:avLst>
                <a:gd name="adj1" fmla="val 3456000"/>
                <a:gd name="adj2" fmla="val 9504000"/>
                <a:gd name="adj3" fmla="val 16667"/>
              </a:avLst>
            </a:prstGeom>
            <a:solidFill>
              <a:srgbClr val="EDBCB3"/>
            </a:solidFill>
            <a:ln>
              <a:noFill/>
            </a:ln>
          </p:spPr>
        </p:sp>
        <p:sp>
          <p:nvSpPr>
            <p:cNvPr id="53" name="Freeform 53"/>
            <p:cNvSpPr/>
            <p:nvPr/>
          </p:nvSpPr>
          <p:spPr>
            <a:xfrm>
              <a:off x="5943600" y="3714750"/>
              <a:ext cx="1257300" cy="1257300"/>
            </a:xfrm>
            <a:prstGeom prst="blockArc">
              <a:avLst>
                <a:gd name="adj1" fmla="val 9504000"/>
                <a:gd name="adj2" fmla="val 16200000"/>
                <a:gd name="adj3" fmla="val 16667"/>
              </a:avLst>
            </a:prstGeom>
            <a:solidFill>
              <a:srgbClr val="6B1100"/>
            </a:solidFill>
            <a:ln>
              <a:noFill/>
            </a:ln>
          </p:spPr>
        </p:sp>
        <p:sp>
          <p:nvSpPr>
            <p:cNvPr id="54" name="Freeform 54"/>
            <p:cNvSpPr/>
            <p:nvPr/>
          </p:nvSpPr>
          <p:spPr>
            <a:xfrm>
              <a:off x="7848600" y="3714750"/>
              <a:ext cx="1257300" cy="1257300"/>
            </a:xfrm>
            <a:prstGeom prst="blockArc">
              <a:avLst>
                <a:gd name="adj1" fmla="val 16200000"/>
                <a:gd name="adj2" fmla="val 6048000"/>
                <a:gd name="adj3" fmla="val 16667"/>
              </a:avLst>
            </a:prstGeom>
            <a:solidFill>
              <a:srgbClr val="C35642"/>
            </a:solidFill>
            <a:ln>
              <a:noFill/>
            </a:ln>
          </p:spPr>
        </p:sp>
        <p:sp>
          <p:nvSpPr>
            <p:cNvPr id="55" name="Freeform 55"/>
            <p:cNvSpPr/>
            <p:nvPr/>
          </p:nvSpPr>
          <p:spPr>
            <a:xfrm>
              <a:off x="7848600" y="3714750"/>
              <a:ext cx="1257300" cy="1257300"/>
            </a:xfrm>
            <a:prstGeom prst="blockArc">
              <a:avLst>
                <a:gd name="adj1" fmla="val 6048000"/>
                <a:gd name="adj2" fmla="val 14040000"/>
                <a:gd name="adj3" fmla="val 16667"/>
              </a:avLst>
            </a:prstGeom>
            <a:solidFill>
              <a:srgbClr val="EDBCB3"/>
            </a:solidFill>
            <a:ln>
              <a:noFill/>
            </a:ln>
          </p:spPr>
        </p:sp>
        <p:sp>
          <p:nvSpPr>
            <p:cNvPr id="56" name="Freeform 56"/>
            <p:cNvSpPr/>
            <p:nvPr/>
          </p:nvSpPr>
          <p:spPr>
            <a:xfrm>
              <a:off x="7848600" y="3714750"/>
              <a:ext cx="1257300" cy="1257300"/>
            </a:xfrm>
            <a:prstGeom prst="blockArc">
              <a:avLst>
                <a:gd name="adj1" fmla="val 14040000"/>
                <a:gd name="adj2" fmla="val 16200000"/>
                <a:gd name="adj3" fmla="val 16667"/>
              </a:avLst>
            </a:prstGeom>
            <a:solidFill>
              <a:srgbClr val="6B1100"/>
            </a:solidFill>
            <a:ln>
              <a:noFill/>
            </a:ln>
          </p:spPr>
        </p:sp>
        <p:sp>
          <p:nvSpPr>
            <p:cNvPr id="57" name="TextBox 57"/>
            <p:cNvSpPr txBox="1"/>
            <p:nvPr/>
          </p:nvSpPr>
          <p:spPr>
            <a:xfrm>
              <a:off x="4175607" y="4308634"/>
              <a:ext cx="983286"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小型银行Small banks​​</a:t>
              </a:r>
            </a:p>
          </p:txBody>
        </p:sp>
        <p:sp>
          <p:nvSpPr>
            <p:cNvPr id="58" name="TextBox 58"/>
            <p:cNvSpPr txBox="1"/>
            <p:nvPr/>
          </p:nvSpPr>
          <p:spPr>
            <a:xfrm>
              <a:off x="5169128" y="388096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31%​</a:t>
              </a:r>
            </a:p>
          </p:txBody>
        </p:sp>
        <p:sp>
          <p:nvSpPr>
            <p:cNvPr id="59" name="TextBox 59"/>
            <p:cNvSpPr txBox="1"/>
            <p:nvPr/>
          </p:nvSpPr>
          <p:spPr>
            <a:xfrm>
              <a:off x="4205198" y="497443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53%​</a:t>
              </a:r>
            </a:p>
          </p:txBody>
        </p:sp>
        <p:sp>
          <p:nvSpPr>
            <p:cNvPr id="60" name="TextBox 60"/>
            <p:cNvSpPr txBox="1"/>
            <p:nvPr/>
          </p:nvSpPr>
          <p:spPr>
            <a:xfrm>
              <a:off x="4184243" y="364474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16%​</a:t>
              </a:r>
            </a:p>
          </p:txBody>
        </p:sp>
        <p:sp>
          <p:nvSpPr>
            <p:cNvPr id="61" name="TextBox 61"/>
            <p:cNvSpPr txBox="1"/>
            <p:nvPr/>
          </p:nvSpPr>
          <p:spPr>
            <a:xfrm>
              <a:off x="6034756" y="4308634"/>
              <a:ext cx="1074988"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中型银行Medium banks​​</a:t>
              </a:r>
            </a:p>
          </p:txBody>
        </p:sp>
        <p:sp>
          <p:nvSpPr>
            <p:cNvPr id="62" name="TextBox 62"/>
            <p:cNvSpPr txBox="1"/>
            <p:nvPr/>
          </p:nvSpPr>
          <p:spPr>
            <a:xfrm>
              <a:off x="7175093" y="409432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41%​</a:t>
              </a:r>
            </a:p>
          </p:txBody>
        </p:sp>
        <p:sp>
          <p:nvSpPr>
            <p:cNvPr id="63" name="TextBox 63"/>
            <p:cNvSpPr txBox="1"/>
            <p:nvPr/>
          </p:nvSpPr>
          <p:spPr>
            <a:xfrm>
              <a:off x="6219735" y="5019199"/>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28%​</a:t>
              </a:r>
            </a:p>
          </p:txBody>
        </p:sp>
        <p:sp>
          <p:nvSpPr>
            <p:cNvPr id="64" name="TextBox 64"/>
            <p:cNvSpPr txBox="1"/>
            <p:nvPr/>
          </p:nvSpPr>
          <p:spPr>
            <a:xfrm>
              <a:off x="5830163" y="388096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31%​</a:t>
              </a:r>
            </a:p>
          </p:txBody>
        </p:sp>
        <p:sp>
          <p:nvSpPr>
            <p:cNvPr id="65" name="TextBox 65"/>
            <p:cNvSpPr txBox="1"/>
            <p:nvPr/>
          </p:nvSpPr>
          <p:spPr>
            <a:xfrm>
              <a:off x="7971798" y="4308634"/>
              <a:ext cx="1010904"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大型银行Large banks​​</a:t>
              </a:r>
            </a:p>
          </p:txBody>
        </p:sp>
        <p:sp>
          <p:nvSpPr>
            <p:cNvPr id="66" name="TextBox 66"/>
            <p:cNvSpPr txBox="1"/>
            <p:nvPr/>
          </p:nvSpPr>
          <p:spPr>
            <a:xfrm>
              <a:off x="9105810" y="4374356"/>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53%​</a:t>
              </a:r>
            </a:p>
          </p:txBody>
        </p:sp>
        <p:sp>
          <p:nvSpPr>
            <p:cNvPr id="67" name="TextBox 67"/>
            <p:cNvSpPr txBox="1"/>
            <p:nvPr/>
          </p:nvSpPr>
          <p:spPr>
            <a:xfrm>
              <a:off x="7622768" y="446770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37%​</a:t>
              </a:r>
            </a:p>
          </p:txBody>
        </p:sp>
        <p:sp>
          <p:nvSpPr>
            <p:cNvPr id="68" name="TextBox 68"/>
            <p:cNvSpPr txBox="1"/>
            <p:nvPr/>
          </p:nvSpPr>
          <p:spPr>
            <a:xfrm>
              <a:off x="8124735" y="3588544"/>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10%​</a:t>
              </a:r>
            </a:p>
          </p:txBody>
        </p:sp>
        <p:sp>
          <p:nvSpPr>
            <p:cNvPr id="69" name="Rectangle 69"/>
            <p:cNvSpPr/>
            <p:nvPr/>
          </p:nvSpPr>
          <p:spPr>
            <a:xfrm>
              <a:off x="3810000" y="5257800"/>
              <a:ext cx="95250" cy="95250"/>
            </a:xfrm>
            <a:prstGeom prst="rect">
              <a:avLst/>
            </a:prstGeom>
            <a:solidFill>
              <a:srgbClr val="C35642"/>
            </a:solidFill>
            <a:ln>
              <a:noFill/>
            </a:ln>
          </p:spPr>
        </p:sp>
        <p:sp>
          <p:nvSpPr>
            <p:cNvPr id="70" name="TextBox 70"/>
            <p:cNvSpPr txBox="1"/>
            <p:nvPr/>
          </p:nvSpPr>
          <p:spPr>
            <a:xfrm>
              <a:off x="3948112" y="5274707"/>
              <a:ext cx="337083"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是Yes​​</a:t>
              </a:r>
            </a:p>
          </p:txBody>
        </p:sp>
        <p:sp>
          <p:nvSpPr>
            <p:cNvPr id="71" name="Rectangle 71"/>
            <p:cNvSpPr/>
            <p:nvPr/>
          </p:nvSpPr>
          <p:spPr>
            <a:xfrm>
              <a:off x="4367974" y="5257800"/>
              <a:ext cx="95250" cy="95250"/>
            </a:xfrm>
            <a:prstGeom prst="rect">
              <a:avLst/>
            </a:prstGeom>
            <a:solidFill>
              <a:srgbClr val="EDBCB3"/>
            </a:solidFill>
            <a:ln>
              <a:noFill/>
            </a:ln>
          </p:spPr>
        </p:sp>
        <p:sp>
          <p:nvSpPr>
            <p:cNvPr id="72" name="TextBox 72"/>
            <p:cNvSpPr txBox="1"/>
            <p:nvPr/>
          </p:nvSpPr>
          <p:spPr>
            <a:xfrm>
              <a:off x="4506087" y="5274707"/>
              <a:ext cx="290591"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否No​​</a:t>
              </a:r>
            </a:p>
          </p:txBody>
        </p:sp>
        <p:sp>
          <p:nvSpPr>
            <p:cNvPr id="73" name="Rectangle 73"/>
            <p:cNvSpPr/>
            <p:nvPr/>
          </p:nvSpPr>
          <p:spPr>
            <a:xfrm>
              <a:off x="4878991" y="5257800"/>
              <a:ext cx="95250" cy="95250"/>
            </a:xfrm>
            <a:prstGeom prst="rect">
              <a:avLst/>
            </a:prstGeom>
            <a:solidFill>
              <a:srgbClr val="6B1100"/>
            </a:solidFill>
            <a:ln>
              <a:noFill/>
            </a:ln>
          </p:spPr>
        </p:sp>
        <p:sp>
          <p:nvSpPr>
            <p:cNvPr id="74" name="TextBox 74"/>
            <p:cNvSpPr txBox="1"/>
            <p:nvPr/>
          </p:nvSpPr>
          <p:spPr>
            <a:xfrm>
              <a:off x="5017103" y="5274707"/>
              <a:ext cx="185639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无模型风险委员会No model risk committees​​</a:t>
              </a:r>
            </a:p>
          </p:txBody>
        </p:sp>
      </p:grpSp>
      <p:grpSp>
        <p:nvGrpSpPr>
          <p:cNvPr id="109" name="nav"/>
          <p:cNvGrpSpPr/>
          <p:nvPr/>
        </p:nvGrpSpPr>
        <p:grpSpPr>
          <a:xfrm>
            <a:off x="9834562" y="0"/>
            <a:ext cx="2357438" cy="6858000"/>
            <a:chOff x="9834562" y="0"/>
            <a:chExt cx="2357438" cy="6858000"/>
          </a:xfrm>
        </p:grpSpPr>
        <p:sp>
          <p:nvSpPr>
            <p:cNvPr id="76" name="Line 76"/>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77" name="Rectangle 77"/>
            <p:cNvSpPr/>
            <p:nvPr/>
          </p:nvSpPr>
          <p:spPr>
            <a:xfrm>
              <a:off x="9839325" y="476250"/>
              <a:ext cx="2352675" cy="514350"/>
            </a:xfrm>
            <a:prstGeom prst="rect">
              <a:avLst/>
            </a:prstGeom>
            <a:solidFill>
              <a:srgbClr val="F3F3F3"/>
            </a:solidFill>
            <a:ln>
              <a:noFill/>
            </a:ln>
          </p:spPr>
        </p:sp>
        <p:sp>
          <p:nvSpPr>
            <p:cNvPr id="78" name="TextBox 78"/>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79" name="Rectangle 79"/>
            <p:cNvSpPr/>
            <p:nvPr/>
          </p:nvSpPr>
          <p:spPr>
            <a:xfrm>
              <a:off x="9839325" y="1000125"/>
              <a:ext cx="2352675" cy="514350"/>
            </a:xfrm>
            <a:prstGeom prst="rect">
              <a:avLst/>
            </a:prstGeom>
            <a:solidFill>
              <a:srgbClr val="F3F3F3"/>
            </a:solidFill>
            <a:ln>
              <a:noFill/>
            </a:ln>
          </p:spPr>
        </p:sp>
        <p:sp>
          <p:nvSpPr>
            <p:cNvPr id="80" name="TextBox 80"/>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81" name="Rectangle 81"/>
            <p:cNvSpPr/>
            <p:nvPr/>
          </p:nvSpPr>
          <p:spPr>
            <a:xfrm>
              <a:off x="9839325" y="1524000"/>
              <a:ext cx="2352675" cy="514350"/>
            </a:xfrm>
            <a:prstGeom prst="rect">
              <a:avLst/>
            </a:prstGeom>
            <a:solidFill>
              <a:srgbClr val="F3F3F3"/>
            </a:solidFill>
            <a:ln>
              <a:noFill/>
            </a:ln>
          </p:spPr>
        </p:sp>
        <p:sp>
          <p:nvSpPr>
            <p:cNvPr id="82" name="TextBox 82"/>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83" name="Rectangle 83"/>
            <p:cNvSpPr/>
            <p:nvPr/>
          </p:nvSpPr>
          <p:spPr>
            <a:xfrm>
              <a:off x="9839325" y="2047875"/>
              <a:ext cx="2352675" cy="514350"/>
            </a:xfrm>
            <a:prstGeom prst="rect">
              <a:avLst/>
            </a:prstGeom>
            <a:solidFill>
              <a:srgbClr val="F3F3F3"/>
            </a:solidFill>
            <a:ln>
              <a:noFill/>
            </a:ln>
          </p:spPr>
        </p:sp>
        <p:sp>
          <p:nvSpPr>
            <p:cNvPr id="84" name="TextBox 84"/>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85" name="Rectangle 85"/>
            <p:cNvSpPr/>
            <p:nvPr/>
          </p:nvSpPr>
          <p:spPr>
            <a:xfrm>
              <a:off x="9839325" y="2571750"/>
              <a:ext cx="2352675" cy="514350"/>
            </a:xfrm>
            <a:prstGeom prst="rect">
              <a:avLst/>
            </a:prstGeom>
            <a:solidFill>
              <a:srgbClr val="F3F3F3"/>
            </a:solidFill>
            <a:ln>
              <a:noFill/>
            </a:ln>
          </p:spPr>
        </p:sp>
        <p:sp>
          <p:nvSpPr>
            <p:cNvPr id="86" name="TextBox 86"/>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87" name="Rectangle 87"/>
            <p:cNvSpPr/>
            <p:nvPr/>
          </p:nvSpPr>
          <p:spPr>
            <a:xfrm>
              <a:off x="9839325" y="3095625"/>
              <a:ext cx="2352675" cy="514350"/>
            </a:xfrm>
            <a:prstGeom prst="rect">
              <a:avLst/>
            </a:prstGeom>
            <a:solidFill>
              <a:srgbClr val="6B1100"/>
            </a:solidFill>
            <a:ln>
              <a:noFill/>
            </a:ln>
          </p:spPr>
        </p:sp>
        <p:sp>
          <p:nvSpPr>
            <p:cNvPr id="88" name="TextBox 88"/>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89" name="Rectangle 89"/>
            <p:cNvSpPr/>
            <p:nvPr/>
          </p:nvSpPr>
          <p:spPr>
            <a:xfrm>
              <a:off x="9839325" y="3619500"/>
              <a:ext cx="2352675" cy="514350"/>
            </a:xfrm>
            <a:prstGeom prst="rect">
              <a:avLst/>
            </a:prstGeom>
            <a:solidFill>
              <a:srgbClr val="F3F3F3"/>
            </a:solidFill>
            <a:ln>
              <a:noFill/>
            </a:ln>
          </p:spPr>
        </p:sp>
        <p:sp>
          <p:nvSpPr>
            <p:cNvPr id="90" name="TextBox 90"/>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91" name="Rectangle 91"/>
            <p:cNvSpPr/>
            <p:nvPr/>
          </p:nvSpPr>
          <p:spPr>
            <a:xfrm>
              <a:off x="9839325" y="4143375"/>
              <a:ext cx="2352675" cy="514350"/>
            </a:xfrm>
            <a:prstGeom prst="rect">
              <a:avLst/>
            </a:prstGeom>
            <a:solidFill>
              <a:srgbClr val="F3F3F3"/>
            </a:solidFill>
            <a:ln>
              <a:noFill/>
            </a:ln>
          </p:spPr>
        </p:sp>
        <p:sp>
          <p:nvSpPr>
            <p:cNvPr id="92" name="TextBox 92"/>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93" name="Rectangle 93"/>
            <p:cNvSpPr/>
            <p:nvPr/>
          </p:nvSpPr>
          <p:spPr>
            <a:xfrm>
              <a:off x="9839325" y="4667250"/>
              <a:ext cx="2352675" cy="514350"/>
            </a:xfrm>
            <a:prstGeom prst="rect">
              <a:avLst/>
            </a:prstGeom>
            <a:solidFill>
              <a:srgbClr val="F3F3F3"/>
            </a:solidFill>
            <a:ln>
              <a:noFill/>
            </a:ln>
          </p:spPr>
        </p:sp>
        <p:sp>
          <p:nvSpPr>
            <p:cNvPr id="94" name="TextBox 94"/>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95" name="Rectangle 95"/>
            <p:cNvSpPr/>
            <p:nvPr/>
          </p:nvSpPr>
          <p:spPr>
            <a:xfrm>
              <a:off x="9839325" y="5191125"/>
              <a:ext cx="2352675" cy="514350"/>
            </a:xfrm>
            <a:prstGeom prst="rect">
              <a:avLst/>
            </a:prstGeom>
            <a:solidFill>
              <a:srgbClr val="F3F3F3"/>
            </a:solidFill>
            <a:ln>
              <a:noFill/>
            </a:ln>
          </p:spPr>
        </p:sp>
        <p:sp>
          <p:nvSpPr>
            <p:cNvPr id="96" name="TextBox 96"/>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97" name="Rectangle 97"/>
            <p:cNvSpPr/>
            <p:nvPr/>
          </p:nvSpPr>
          <p:spPr>
            <a:xfrm>
              <a:off x="9839325" y="5715000"/>
              <a:ext cx="2352675" cy="514350"/>
            </a:xfrm>
            <a:prstGeom prst="rect">
              <a:avLst/>
            </a:prstGeom>
            <a:solidFill>
              <a:srgbClr val="F3F3F3"/>
            </a:solidFill>
            <a:ln>
              <a:noFill/>
            </a:ln>
          </p:spPr>
        </p:sp>
        <p:sp>
          <p:nvSpPr>
            <p:cNvPr id="98" name="TextBox 98"/>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99" name="Ellipse 99"/>
            <p:cNvSpPr/>
            <p:nvPr/>
          </p:nvSpPr>
          <p:spPr>
            <a:xfrm>
              <a:off x="10020300" y="6372225"/>
              <a:ext cx="266700" cy="266700"/>
            </a:xfrm>
            <a:prstGeom prst="ellipse">
              <a:avLst/>
            </a:prstGeom>
            <a:solidFill>
              <a:srgbClr val="D7D8D6"/>
            </a:solidFill>
            <a:ln>
              <a:noFill/>
            </a:ln>
          </p:spPr>
        </p:sp>
        <p:sp>
          <p:nvSpPr>
            <p:cNvPr id="100" name="Freeform 100"/>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01" name="Ellipse 101"/>
            <p:cNvSpPr/>
            <p:nvPr/>
          </p:nvSpPr>
          <p:spPr>
            <a:xfrm>
              <a:off x="10420350" y="6372225"/>
              <a:ext cx="266700" cy="266700"/>
            </a:xfrm>
            <a:prstGeom prst="ellipse">
              <a:avLst/>
            </a:prstGeom>
            <a:solidFill>
              <a:srgbClr val="D7D8D6"/>
            </a:solidFill>
            <a:ln>
              <a:noFill/>
            </a:ln>
          </p:spPr>
        </p:sp>
        <p:grpSp>
          <p:nvGrpSpPr>
            <p:cNvPr id="105" name="Group 105"/>
            <p:cNvGrpSpPr/>
            <p:nvPr/>
          </p:nvGrpSpPr>
          <p:grpSpPr>
            <a:xfrm>
              <a:off x="10489406" y="6441281"/>
              <a:ext cx="128588" cy="128588"/>
              <a:chOff x="10489406" y="6441281"/>
              <a:chExt cx="128588" cy="128588"/>
            </a:xfrm>
          </p:grpSpPr>
          <p:sp>
            <p:nvSpPr>
              <p:cNvPr id="102" name="Freeform 102"/>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03" name="Freeform 103"/>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04" name="Freeform 104"/>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06" name="Ellipse 106"/>
            <p:cNvSpPr/>
            <p:nvPr/>
          </p:nvSpPr>
          <p:spPr>
            <a:xfrm>
              <a:off x="10820400" y="6372225"/>
              <a:ext cx="266700" cy="266700"/>
            </a:xfrm>
            <a:prstGeom prst="ellipse">
              <a:avLst/>
            </a:prstGeom>
            <a:solidFill>
              <a:srgbClr val="D7D8D6"/>
            </a:solidFill>
            <a:ln>
              <a:noFill/>
            </a:ln>
          </p:spPr>
        </p:sp>
        <p:sp>
          <p:nvSpPr>
            <p:cNvPr id="107" name="Freeform 107"/>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08" name="TextBox 108"/>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24</a:t>
              </a:r>
            </a:p>
          </p:txBody>
        </p:sp>
      </p:gr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25</a:t>
              </a:r>
            </a:p>
          </p:txBody>
        </p:sp>
        <p:sp>
          <p:nvSpPr>
            <p:cNvPr id="4" name="TextBox 4"/>
            <p:cNvSpPr txBox="1"/>
            <p:nvPr/>
          </p:nvSpPr>
          <p:spPr>
            <a:xfrm>
              <a:off x="942594" y="151448"/>
              <a:ext cx="572735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模型开发与验证团队</a:t>
              </a:r>
              <a:r>
                <a:rPr lang="zh-CN" sz="1950" b="1" dirty="0">
                  <a:solidFill>
                    <a:srgbClr val="1A1A1A"/>
                  </a:solidFill>
                  <a:latin typeface="+mj-lt"/>
                  <a:ea typeface="+mj-ea"/>
                  <a:cs typeface="+mj-cs"/>
                </a:rPr>
                <a:t>的资源​</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2" name="col-1"/>
          <p:cNvGrpSpPr/>
          <p:nvPr/>
        </p:nvGrpSpPr>
        <p:grpSpPr>
          <a:xfrm>
            <a:off x="566547" y="847249"/>
            <a:ext cx="2472881" cy="3108483"/>
            <a:chOff x="566547" y="847249"/>
            <a:chExt cx="2472881" cy="3108483"/>
          </a:xfrm>
        </p:grpSpPr>
        <p:sp>
          <p:nvSpPr>
            <p:cNvPr id="7" name="TextBox 7"/>
            <p:cNvSpPr txBox="1"/>
            <p:nvPr/>
          </p:nvSpPr>
          <p:spPr>
            <a:xfrm>
              <a:off x="566547" y="847249"/>
              <a:ext cx="1537298"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模型开发与模型验证团队​</a:t>
              </a:r>
            </a:p>
          </p:txBody>
        </p:sp>
        <p:sp>
          <p:nvSpPr>
            <p:cNvPr id="8" name="TextBox 8"/>
            <p:cNvSpPr txBox="1"/>
            <p:nvPr/>
          </p:nvSpPr>
          <p:spPr>
            <a:xfrm>
              <a:off x="566738" y="1012984"/>
              <a:ext cx="2099703"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Model development and model validation teams​</a:t>
              </a:r>
            </a:p>
          </p:txBody>
        </p:sp>
        <p:sp>
          <p:nvSpPr>
            <p:cNvPr id="9" name="TextBox 9"/>
            <p:cNvSpPr txBox="1"/>
            <p:nvPr/>
          </p:nvSpPr>
          <p:spPr>
            <a:xfrm>
              <a:off x="566738" y="1169670"/>
              <a:ext cx="2358390" cy="69056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如前所述，银行的模型清单中及模型风险管理​</a:t>
              </a:r>
              <a:br/>
              <a:r>
                <a:rPr lang="zh-CN" sz="900" dirty="0">
                  <a:solidFill>
                    <a:srgbClr val="333333"/>
                  </a:solidFill>
                  <a:latin typeface="+mn-lt"/>
                  <a:ea typeface="+mn-ea"/>
                  <a:cs typeface="+mn-cs"/>
                </a:rPr>
                <a:t>框架范围内的模型越来越多。这些模型需要开​</a:t>
              </a:r>
              <a:br/>
              <a:r>
                <a:rPr lang="zh-CN" sz="900" dirty="0">
                  <a:solidFill>
                    <a:srgbClr val="333333"/>
                  </a:solidFill>
                  <a:latin typeface="+mn-lt"/>
                  <a:ea typeface="+mn-ea"/>
                  <a:cs typeface="+mn-cs"/>
                </a:rPr>
                <a:t>发和验证，导致模型开发和模型验证所需的​</a:t>
              </a:r>
              <a:br/>
              <a:r>
                <a:rPr lang="zh-CN" sz="900" dirty="0">
                  <a:solidFill>
                    <a:srgbClr val="333333"/>
                  </a:solidFill>
                  <a:latin typeface="+mn-lt"/>
                  <a:ea typeface="+mn-ea"/>
                  <a:cs typeface="+mn-cs"/>
                </a:rPr>
                <a:t>FTE数量上升。​</a:t>
              </a:r>
            </a:p>
          </p:txBody>
        </p:sp>
        <p:sp>
          <p:nvSpPr>
            <p:cNvPr id="10" name="TextBox 10"/>
            <p:cNvSpPr txBox="1"/>
            <p:nvPr/>
          </p:nvSpPr>
          <p:spPr>
            <a:xfrm>
              <a:off x="566738" y="1960245"/>
              <a:ext cx="2472690" cy="69056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从小型到大型银行，模型验证团队的平均规模​</a:t>
              </a:r>
              <a:br/>
              <a:r>
                <a:rPr lang="zh-CN" sz="900" dirty="0">
                  <a:solidFill>
                    <a:srgbClr val="333333"/>
                  </a:solidFill>
                  <a:latin typeface="+mn-lt"/>
                  <a:ea typeface="+mn-ea"/>
                  <a:cs typeface="+mn-cs"/>
                </a:rPr>
                <a:t>都小于模型开发团队。值得注意的是，与模型​</a:t>
              </a:r>
              <a:br/>
              <a:r>
                <a:rPr lang="zh-CN" sz="900" dirty="0">
                  <a:solidFill>
                    <a:srgbClr val="333333"/>
                  </a:solidFill>
                  <a:latin typeface="+mn-lt"/>
                  <a:ea typeface="+mn-ea"/>
                  <a:cs typeface="+mn-cs"/>
                </a:rPr>
                <a:t>开发相比，更多银行表示其模型验证资源不足；​</a:t>
              </a:r>
              <a:br/>
              <a:r>
                <a:rPr lang="zh-CN" sz="900" dirty="0">
                  <a:solidFill>
                    <a:srgbClr val="333333"/>
                  </a:solidFill>
                  <a:latin typeface="+mn-lt"/>
                  <a:ea typeface="+mn-ea"/>
                  <a:cs typeface="+mn-cs"/>
                </a:rPr>
                <a:t>尽管很大一部分银行表示两个团队都资源不足。​</a:t>
              </a:r>
            </a:p>
          </p:txBody>
        </p:sp>
        <p:sp>
          <p:nvSpPr>
            <p:cNvPr id="11" name="TextBox 11"/>
            <p:cNvSpPr txBox="1"/>
            <p:nvPr/>
          </p:nvSpPr>
          <p:spPr>
            <a:xfrm>
              <a:off x="566738" y="2750820"/>
              <a:ext cx="2358390" cy="1204912"/>
            </a:xfrm>
            <a:prstGeom prst="rect">
              <a:avLst/>
            </a:prstGeom>
            <a:noFill/>
            <a:ln>
              <a:noFill/>
            </a:ln>
          </p:spPr>
          <p:txBody>
            <a:bodyPr wrap="none" lIns="0" tIns="0" rIns="0" bIns="0" anchor="t" anchorCtr="0">
              <a:spAutoFit/>
            </a:bodyPr>
            <a:lstStyle/>
            <a:p>
              <a:pPr algn="l">
                <a:lnSpc>
                  <a:spcPts val="1350"/>
                </a:lnSpc>
              </a:pPr>
              <a:r>
                <a:rPr lang="zh-CN" sz="900" dirty="0">
                  <a:solidFill>
                    <a:srgbClr val="333333"/>
                  </a:solidFill>
                  <a:latin typeface="+mn-lt"/>
                  <a:ea typeface="+mn-ea"/>
                  <a:cs typeface="+mn-cs"/>
                </a:rPr>
                <a:t>受访银行指出，更成熟的模型风险管理框架和​</a:t>
              </a:r>
              <a:br/>
              <a:r>
                <a:rPr lang="zh-CN" sz="900" dirty="0">
                  <a:solidFill>
                    <a:srgbClr val="333333"/>
                  </a:solidFill>
                  <a:latin typeface="+mn-lt"/>
                  <a:ea typeface="+mn-ea"/>
                  <a:cs typeface="+mn-cs"/>
                </a:rPr>
                <a:t>监管合规是导致模型开发和验证工作量增加的​</a:t>
              </a:r>
              <a:br/>
              <a:r>
                <a:rPr lang="zh-CN" sz="900" dirty="0">
                  <a:solidFill>
                    <a:srgbClr val="333333"/>
                  </a:solidFill>
                  <a:latin typeface="+mn-lt"/>
                  <a:ea typeface="+mn-ea"/>
                  <a:cs typeface="+mn-cs"/>
                </a:rPr>
                <a:t>关键原因。银行表示，找到合适的定量人才、​</a:t>
              </a:r>
              <a:br/>
              <a:r>
                <a:rPr lang="zh-CN" sz="900" dirty="0">
                  <a:solidFill>
                    <a:srgbClr val="333333"/>
                  </a:solidFill>
                  <a:latin typeface="+mn-lt"/>
                  <a:ea typeface="+mn-ea"/>
                  <a:cs typeface="+mn-cs"/>
                </a:rPr>
                <a:t>范围内模型数量增长以及监管要求不断增加，​</a:t>
              </a:r>
              <a:br/>
              <a:r>
                <a:rPr lang="zh-CN" sz="900" dirty="0">
                  <a:solidFill>
                    <a:srgbClr val="333333"/>
                  </a:solidFill>
                  <a:latin typeface="+mn-lt"/>
                  <a:ea typeface="+mn-ea"/>
                  <a:cs typeface="+mn-cs"/>
                </a:rPr>
                <a:t>是模型开发能力不足的重要原因。模型验证能​</a:t>
              </a:r>
              <a:br/>
              <a:r>
                <a:rPr lang="zh-CN" sz="900" dirty="0">
                  <a:solidFill>
                    <a:srgbClr val="333333"/>
                  </a:solidFill>
                  <a:latin typeface="+mn-lt"/>
                  <a:ea typeface="+mn-ea"/>
                  <a:cs typeface="+mn-cs"/>
                </a:rPr>
                <a:t>力不足也有类似原因，包括需验证模型范围的​</a:t>
              </a:r>
              <a:br/>
              <a:r>
                <a:rPr lang="zh-CN" sz="900" dirty="0">
                  <a:solidFill>
                    <a:srgbClr val="333333"/>
                  </a:solidFill>
                  <a:latin typeface="+mn-lt"/>
                  <a:ea typeface="+mn-ea"/>
                  <a:cs typeface="+mn-cs"/>
                </a:rPr>
                <a:t>扩大、预算约束以及找到合适的定量人才。​</a:t>
              </a:r>
            </a:p>
          </p:txBody>
        </p:sp>
      </p:grpSp>
      <p:grpSp>
        <p:nvGrpSpPr>
          <p:cNvPr id="23" name="figure-26"/>
          <p:cNvGrpSpPr/>
          <p:nvPr/>
        </p:nvGrpSpPr>
        <p:grpSpPr>
          <a:xfrm>
            <a:off x="3424238" y="863441"/>
            <a:ext cx="2215930" cy="2489597"/>
            <a:chOff x="3424238" y="863441"/>
            <a:chExt cx="2215930" cy="2489597"/>
          </a:xfrm>
        </p:grpSpPr>
        <p:sp>
          <p:nvSpPr>
            <p:cNvPr id="13" name="TextBox 13"/>
            <p:cNvSpPr txBox="1"/>
            <p:nvPr/>
          </p:nvSpPr>
          <p:spPr>
            <a:xfrm>
              <a:off x="3424238" y="863441"/>
              <a:ext cx="157731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图26. 模型开发资源是否充足​​</a:t>
              </a:r>
            </a:p>
          </p:txBody>
        </p:sp>
        <p:sp>
          <p:nvSpPr>
            <p:cNvPr id="14" name="TextBox 14"/>
            <p:cNvSpPr txBox="1"/>
            <p:nvPr/>
          </p:nvSpPr>
          <p:spPr>
            <a:xfrm>
              <a:off x="3424238" y="1011555"/>
              <a:ext cx="1837691"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Sufficient resources for model development​​</a:t>
              </a:r>
            </a:p>
          </p:txBody>
        </p:sp>
        <p:sp>
          <p:nvSpPr>
            <p:cNvPr id="15" name="Freeform 15"/>
            <p:cNvSpPr/>
            <p:nvPr/>
          </p:nvSpPr>
          <p:spPr>
            <a:xfrm>
              <a:off x="4133850" y="1600200"/>
              <a:ext cx="1257300" cy="1257300"/>
            </a:xfrm>
            <a:prstGeom prst="blockArc">
              <a:avLst>
                <a:gd name="adj1" fmla="val 16200000"/>
                <a:gd name="adj2" fmla="val 5616000"/>
                <a:gd name="adj3" fmla="val 16667"/>
              </a:avLst>
            </a:prstGeom>
            <a:solidFill>
              <a:srgbClr val="AA1B00"/>
            </a:solidFill>
            <a:ln>
              <a:noFill/>
            </a:ln>
          </p:spPr>
        </p:sp>
        <p:sp>
          <p:nvSpPr>
            <p:cNvPr id="16" name="Freeform 16"/>
            <p:cNvSpPr/>
            <p:nvPr/>
          </p:nvSpPr>
          <p:spPr>
            <a:xfrm>
              <a:off x="4133850" y="1600200"/>
              <a:ext cx="1257300" cy="1257300"/>
            </a:xfrm>
            <a:prstGeom prst="blockArc">
              <a:avLst>
                <a:gd name="adj1" fmla="val 5616000"/>
                <a:gd name="adj2" fmla="val 16200000"/>
                <a:gd name="adj3" fmla="val 16667"/>
              </a:avLst>
            </a:prstGeom>
            <a:solidFill>
              <a:srgbClr val="EDBCB3"/>
            </a:solidFill>
            <a:ln>
              <a:noFill/>
            </a:ln>
          </p:spPr>
        </p:sp>
        <p:sp>
          <p:nvSpPr>
            <p:cNvPr id="17" name="TextBox 17"/>
            <p:cNvSpPr txBox="1"/>
            <p:nvPr/>
          </p:nvSpPr>
          <p:spPr>
            <a:xfrm>
              <a:off x="5389781" y="2209086"/>
              <a:ext cx="250387" cy="140494"/>
            </a:xfrm>
            <a:prstGeom prst="rect">
              <a:avLst/>
            </a:prstGeom>
            <a:noFill/>
            <a:ln>
              <a:noFill/>
            </a:ln>
          </p:spPr>
          <p:txBody>
            <a:bodyPr wrap="none" lIns="0" tIns="0" rIns="0" bIns="0" anchor="t" anchorCtr="0">
              <a:spAutoFit/>
            </a:bodyPr>
            <a:lstStyle/>
            <a:p>
              <a:pPr algn="ctr"/>
              <a:r>
                <a:rPr lang="zh-CN" sz="710" b="1" dirty="0">
                  <a:solidFill>
                    <a:srgbClr val="1A1A1A"/>
                  </a:solidFill>
                  <a:latin typeface="+mn-lt"/>
                  <a:ea typeface="+mn-ea"/>
                  <a:cs typeface="+mn-cs"/>
                </a:rPr>
                <a:t>51%​</a:t>
              </a:r>
            </a:p>
          </p:txBody>
        </p:sp>
        <p:sp>
          <p:nvSpPr>
            <p:cNvPr id="18" name="TextBox 18"/>
            <p:cNvSpPr txBox="1"/>
            <p:nvPr/>
          </p:nvSpPr>
          <p:spPr>
            <a:xfrm>
              <a:off x="3890566" y="2161461"/>
              <a:ext cx="238917"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49%​</a:t>
              </a:r>
            </a:p>
          </p:txBody>
        </p:sp>
        <p:sp>
          <p:nvSpPr>
            <p:cNvPr id="19" name="Rectangle 19"/>
            <p:cNvSpPr/>
            <p:nvPr/>
          </p:nvSpPr>
          <p:spPr>
            <a:xfrm>
              <a:off x="3429000" y="3209925"/>
              <a:ext cx="95250" cy="95250"/>
            </a:xfrm>
            <a:prstGeom prst="rect">
              <a:avLst/>
            </a:prstGeom>
            <a:solidFill>
              <a:srgbClr val="AA1B00"/>
            </a:solidFill>
            <a:ln>
              <a:noFill/>
            </a:ln>
          </p:spPr>
        </p:sp>
        <p:sp>
          <p:nvSpPr>
            <p:cNvPr id="20" name="TextBox 20"/>
            <p:cNvSpPr txBox="1"/>
            <p:nvPr/>
          </p:nvSpPr>
          <p:spPr>
            <a:xfrm>
              <a:off x="3567112" y="3226832"/>
              <a:ext cx="337083"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是Yes​​</a:t>
              </a:r>
            </a:p>
          </p:txBody>
        </p:sp>
        <p:sp>
          <p:nvSpPr>
            <p:cNvPr id="21" name="Rectangle 21"/>
            <p:cNvSpPr/>
            <p:nvPr/>
          </p:nvSpPr>
          <p:spPr>
            <a:xfrm>
              <a:off x="3986974" y="3209925"/>
              <a:ext cx="95250" cy="95250"/>
            </a:xfrm>
            <a:prstGeom prst="rect">
              <a:avLst/>
            </a:prstGeom>
            <a:solidFill>
              <a:srgbClr val="EDBCB3"/>
            </a:solidFill>
            <a:ln>
              <a:noFill/>
            </a:ln>
          </p:spPr>
        </p:sp>
        <p:sp>
          <p:nvSpPr>
            <p:cNvPr id="22" name="TextBox 22"/>
            <p:cNvSpPr txBox="1"/>
            <p:nvPr/>
          </p:nvSpPr>
          <p:spPr>
            <a:xfrm>
              <a:off x="4125087" y="3226832"/>
              <a:ext cx="290591"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否No​​</a:t>
              </a:r>
            </a:p>
          </p:txBody>
        </p:sp>
      </p:grpSp>
      <p:grpSp>
        <p:nvGrpSpPr>
          <p:cNvPr id="34" name="figure-27"/>
          <p:cNvGrpSpPr/>
          <p:nvPr/>
        </p:nvGrpSpPr>
        <p:grpSpPr>
          <a:xfrm>
            <a:off x="3424238" y="3778091"/>
            <a:ext cx="2197833" cy="2489597"/>
            <a:chOff x="3424238" y="3778091"/>
            <a:chExt cx="2197833" cy="2489597"/>
          </a:xfrm>
        </p:grpSpPr>
        <p:sp>
          <p:nvSpPr>
            <p:cNvPr id="24" name="TextBox 24"/>
            <p:cNvSpPr txBox="1"/>
            <p:nvPr/>
          </p:nvSpPr>
          <p:spPr>
            <a:xfrm>
              <a:off x="3424238" y="3778091"/>
              <a:ext cx="157731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图27. 模型验证资源是否充足​​</a:t>
              </a:r>
            </a:p>
          </p:txBody>
        </p:sp>
        <p:sp>
          <p:nvSpPr>
            <p:cNvPr id="25" name="TextBox 25"/>
            <p:cNvSpPr txBox="1"/>
            <p:nvPr/>
          </p:nvSpPr>
          <p:spPr>
            <a:xfrm>
              <a:off x="3424238" y="3926205"/>
              <a:ext cx="1736645"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Sufficient resources for model validation​​</a:t>
              </a:r>
            </a:p>
          </p:txBody>
        </p:sp>
        <p:sp>
          <p:nvSpPr>
            <p:cNvPr id="26" name="Freeform 26"/>
            <p:cNvSpPr/>
            <p:nvPr/>
          </p:nvSpPr>
          <p:spPr>
            <a:xfrm>
              <a:off x="4133850" y="4514850"/>
              <a:ext cx="1257300" cy="1257300"/>
            </a:xfrm>
            <a:prstGeom prst="blockArc">
              <a:avLst>
                <a:gd name="adj1" fmla="val 16200000"/>
                <a:gd name="adj2" fmla="val 3888000"/>
                <a:gd name="adj3" fmla="val 16667"/>
              </a:avLst>
            </a:prstGeom>
            <a:solidFill>
              <a:srgbClr val="AA1B00"/>
            </a:solidFill>
            <a:ln>
              <a:noFill/>
            </a:ln>
          </p:spPr>
        </p:sp>
        <p:sp>
          <p:nvSpPr>
            <p:cNvPr id="27" name="Freeform 27"/>
            <p:cNvSpPr/>
            <p:nvPr/>
          </p:nvSpPr>
          <p:spPr>
            <a:xfrm>
              <a:off x="4133850" y="4514850"/>
              <a:ext cx="1257300" cy="1257300"/>
            </a:xfrm>
            <a:prstGeom prst="blockArc">
              <a:avLst>
                <a:gd name="adj1" fmla="val 3888000"/>
                <a:gd name="adj2" fmla="val 16200000"/>
                <a:gd name="adj3" fmla="val 16667"/>
              </a:avLst>
            </a:prstGeom>
            <a:solidFill>
              <a:srgbClr val="EDBCB3"/>
            </a:solidFill>
            <a:ln>
              <a:noFill/>
            </a:ln>
          </p:spPr>
        </p:sp>
        <p:sp>
          <p:nvSpPr>
            <p:cNvPr id="28" name="TextBox 28"/>
            <p:cNvSpPr txBox="1"/>
            <p:nvPr/>
          </p:nvSpPr>
          <p:spPr>
            <a:xfrm>
              <a:off x="5371684" y="4936093"/>
              <a:ext cx="250387" cy="140494"/>
            </a:xfrm>
            <a:prstGeom prst="rect">
              <a:avLst/>
            </a:prstGeom>
            <a:noFill/>
            <a:ln>
              <a:noFill/>
            </a:ln>
          </p:spPr>
          <p:txBody>
            <a:bodyPr wrap="none" lIns="0" tIns="0" rIns="0" bIns="0" anchor="t" anchorCtr="0">
              <a:spAutoFit/>
            </a:bodyPr>
            <a:lstStyle/>
            <a:p>
              <a:pPr algn="ctr"/>
              <a:r>
                <a:rPr lang="zh-CN" sz="710" b="1" dirty="0">
                  <a:solidFill>
                    <a:srgbClr val="1A1A1A"/>
                  </a:solidFill>
                  <a:latin typeface="+mn-lt"/>
                  <a:ea typeface="+mn-ea"/>
                  <a:cs typeface="+mn-cs"/>
                </a:rPr>
                <a:t>43%​</a:t>
              </a:r>
            </a:p>
          </p:txBody>
        </p:sp>
        <p:sp>
          <p:nvSpPr>
            <p:cNvPr id="29" name="TextBox 29"/>
            <p:cNvSpPr txBox="1"/>
            <p:nvPr/>
          </p:nvSpPr>
          <p:spPr>
            <a:xfrm>
              <a:off x="3908664" y="5263753"/>
              <a:ext cx="238917" cy="140494"/>
            </a:xfrm>
            <a:prstGeom prst="rect">
              <a:avLst/>
            </a:prstGeom>
            <a:noFill/>
            <a:ln>
              <a:noFill/>
            </a:ln>
          </p:spPr>
          <p:txBody>
            <a:bodyPr wrap="none" lIns="0" tIns="0" rIns="0" bIns="0" anchor="t" anchorCtr="0">
              <a:spAutoFit/>
            </a:bodyPr>
            <a:lstStyle/>
            <a:p>
              <a:pPr algn="ctr"/>
              <a:r>
                <a:rPr lang="zh-CN" sz="710" dirty="0">
                  <a:solidFill>
                    <a:srgbClr val="666666"/>
                  </a:solidFill>
                  <a:latin typeface="+mn-lt"/>
                  <a:ea typeface="+mn-ea"/>
                  <a:cs typeface="+mn-cs"/>
                </a:rPr>
                <a:t>57%​</a:t>
              </a:r>
            </a:p>
          </p:txBody>
        </p:sp>
        <p:sp>
          <p:nvSpPr>
            <p:cNvPr id="30" name="Rectangle 30"/>
            <p:cNvSpPr/>
            <p:nvPr/>
          </p:nvSpPr>
          <p:spPr>
            <a:xfrm>
              <a:off x="3429000" y="6124575"/>
              <a:ext cx="95250" cy="95250"/>
            </a:xfrm>
            <a:prstGeom prst="rect">
              <a:avLst/>
            </a:prstGeom>
            <a:solidFill>
              <a:srgbClr val="AA1B00"/>
            </a:solidFill>
            <a:ln>
              <a:noFill/>
            </a:ln>
          </p:spPr>
        </p:sp>
        <p:sp>
          <p:nvSpPr>
            <p:cNvPr id="31" name="TextBox 31"/>
            <p:cNvSpPr txBox="1"/>
            <p:nvPr/>
          </p:nvSpPr>
          <p:spPr>
            <a:xfrm>
              <a:off x="3567112" y="6141482"/>
              <a:ext cx="337083"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是Yes​​</a:t>
              </a:r>
            </a:p>
          </p:txBody>
        </p:sp>
        <p:sp>
          <p:nvSpPr>
            <p:cNvPr id="32" name="Rectangle 32"/>
            <p:cNvSpPr/>
            <p:nvPr/>
          </p:nvSpPr>
          <p:spPr>
            <a:xfrm>
              <a:off x="3986974" y="6124575"/>
              <a:ext cx="95250" cy="95250"/>
            </a:xfrm>
            <a:prstGeom prst="rect">
              <a:avLst/>
            </a:prstGeom>
            <a:solidFill>
              <a:srgbClr val="EDBCB3"/>
            </a:solidFill>
            <a:ln>
              <a:noFill/>
            </a:ln>
          </p:spPr>
        </p:sp>
        <p:sp>
          <p:nvSpPr>
            <p:cNvPr id="33" name="TextBox 33"/>
            <p:cNvSpPr txBox="1"/>
            <p:nvPr/>
          </p:nvSpPr>
          <p:spPr>
            <a:xfrm>
              <a:off x="4125087" y="6141482"/>
              <a:ext cx="290591"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否No​​</a:t>
              </a:r>
            </a:p>
          </p:txBody>
        </p:sp>
      </p:grpSp>
      <p:grpSp>
        <p:nvGrpSpPr>
          <p:cNvPr id="81" name="figure-28"/>
          <p:cNvGrpSpPr/>
          <p:nvPr/>
        </p:nvGrpSpPr>
        <p:grpSpPr>
          <a:xfrm>
            <a:off x="6376988" y="863441"/>
            <a:ext cx="3271913" cy="2257901"/>
            <a:chOff x="6376988" y="863441"/>
            <a:chExt cx="3271913" cy="2257901"/>
          </a:xfrm>
        </p:grpSpPr>
        <p:sp>
          <p:nvSpPr>
            <p:cNvPr id="35" name="TextBox 35"/>
            <p:cNvSpPr txBox="1"/>
            <p:nvPr/>
          </p:nvSpPr>
          <p:spPr>
            <a:xfrm>
              <a:off x="6376988" y="863441"/>
              <a:ext cx="168611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图28. 模型开发团队FTE总数​​​​</a:t>
              </a:r>
            </a:p>
          </p:txBody>
        </p:sp>
        <p:sp>
          <p:nvSpPr>
            <p:cNvPr id="36" name="TextBox 36"/>
            <p:cNvSpPr txBox="1"/>
            <p:nvPr/>
          </p:nvSpPr>
          <p:spPr>
            <a:xfrm>
              <a:off x="6376988" y="1011555"/>
              <a:ext cx="1357511"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Total FTEs in model development​​</a:t>
              </a:r>
            </a:p>
          </p:txBody>
        </p:sp>
        <p:sp>
          <p:nvSpPr>
            <p:cNvPr id="37" name="TextBox 37"/>
            <p:cNvSpPr txBox="1"/>
            <p:nvPr/>
          </p:nvSpPr>
          <p:spPr>
            <a:xfrm>
              <a:off x="6741523" y="1432084"/>
              <a:ext cx="42603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大型银行​</a:t>
              </a:r>
            </a:p>
          </p:txBody>
        </p:sp>
        <p:sp>
          <p:nvSpPr>
            <p:cNvPr id="38" name="Rectangle 38"/>
            <p:cNvSpPr/>
            <p:nvPr/>
          </p:nvSpPr>
          <p:spPr>
            <a:xfrm>
              <a:off x="7239000" y="1295400"/>
              <a:ext cx="91440" cy="247650"/>
            </a:xfrm>
            <a:prstGeom prst="rect">
              <a:avLst/>
            </a:prstGeom>
            <a:solidFill>
              <a:srgbClr val="F0F3C8"/>
            </a:solidFill>
            <a:ln>
              <a:noFill/>
            </a:ln>
          </p:spPr>
        </p:sp>
        <p:sp>
          <p:nvSpPr>
            <p:cNvPr id="39" name="Rectangle 39"/>
            <p:cNvSpPr/>
            <p:nvPr/>
          </p:nvSpPr>
          <p:spPr>
            <a:xfrm>
              <a:off x="7330440" y="1295400"/>
              <a:ext cx="297180" cy="247650"/>
            </a:xfrm>
            <a:prstGeom prst="rect">
              <a:avLst/>
            </a:prstGeom>
            <a:solidFill>
              <a:srgbClr val="EAA79B"/>
            </a:solidFill>
            <a:ln>
              <a:noFill/>
            </a:ln>
          </p:spPr>
        </p:sp>
        <p:sp>
          <p:nvSpPr>
            <p:cNvPr id="40" name="Rectangle 40"/>
            <p:cNvSpPr/>
            <p:nvPr/>
          </p:nvSpPr>
          <p:spPr>
            <a:xfrm>
              <a:off x="7627620" y="1295400"/>
              <a:ext cx="640080" cy="247650"/>
            </a:xfrm>
            <a:prstGeom prst="rect">
              <a:avLst/>
            </a:prstGeom>
            <a:solidFill>
              <a:srgbClr val="D8482E"/>
            </a:solidFill>
            <a:ln>
              <a:noFill/>
            </a:ln>
          </p:spPr>
        </p:sp>
        <p:sp>
          <p:nvSpPr>
            <p:cNvPr id="41" name="Rectangle 41"/>
            <p:cNvSpPr/>
            <p:nvPr/>
          </p:nvSpPr>
          <p:spPr>
            <a:xfrm>
              <a:off x="8267700" y="1295400"/>
              <a:ext cx="297180" cy="247650"/>
            </a:xfrm>
            <a:prstGeom prst="rect">
              <a:avLst/>
            </a:prstGeom>
            <a:solidFill>
              <a:srgbClr val="C35642"/>
            </a:solidFill>
            <a:ln>
              <a:noFill/>
            </a:ln>
          </p:spPr>
        </p:sp>
        <p:sp>
          <p:nvSpPr>
            <p:cNvPr id="42" name="Rectangle 42"/>
            <p:cNvSpPr/>
            <p:nvPr/>
          </p:nvSpPr>
          <p:spPr>
            <a:xfrm>
              <a:off x="8564880" y="1295400"/>
              <a:ext cx="434340" cy="247650"/>
            </a:xfrm>
            <a:prstGeom prst="rect">
              <a:avLst/>
            </a:prstGeom>
            <a:solidFill>
              <a:srgbClr val="AA1B00"/>
            </a:solidFill>
            <a:ln>
              <a:noFill/>
            </a:ln>
          </p:spPr>
        </p:sp>
        <p:sp>
          <p:nvSpPr>
            <p:cNvPr id="43" name="Rectangle 43"/>
            <p:cNvSpPr/>
            <p:nvPr/>
          </p:nvSpPr>
          <p:spPr>
            <a:xfrm>
              <a:off x="8999220" y="1295400"/>
              <a:ext cx="228600" cy="247650"/>
            </a:xfrm>
            <a:prstGeom prst="rect">
              <a:avLst/>
            </a:prstGeom>
            <a:solidFill>
              <a:srgbClr val="6B1100"/>
            </a:solidFill>
            <a:ln>
              <a:noFill/>
            </a:ln>
          </p:spPr>
        </p:sp>
        <p:sp>
          <p:nvSpPr>
            <p:cNvPr id="44" name="Rectangle 44"/>
            <p:cNvSpPr/>
            <p:nvPr/>
          </p:nvSpPr>
          <p:spPr>
            <a:xfrm>
              <a:off x="9227820" y="1295400"/>
              <a:ext cx="297180" cy="247650"/>
            </a:xfrm>
            <a:prstGeom prst="rect">
              <a:avLst/>
            </a:prstGeom>
            <a:solidFill>
              <a:srgbClr val="4A150B"/>
            </a:solidFill>
            <a:ln>
              <a:noFill/>
            </a:ln>
          </p:spPr>
        </p:sp>
        <p:sp>
          <p:nvSpPr>
            <p:cNvPr id="45" name="TextBox 45"/>
            <p:cNvSpPr txBox="1"/>
            <p:nvPr/>
          </p:nvSpPr>
          <p:spPr>
            <a:xfrm>
              <a:off x="6741523" y="1927384"/>
              <a:ext cx="42603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中型银行​</a:t>
              </a:r>
            </a:p>
          </p:txBody>
        </p:sp>
        <p:sp>
          <p:nvSpPr>
            <p:cNvPr id="46" name="Rectangle 46"/>
            <p:cNvSpPr/>
            <p:nvPr/>
          </p:nvSpPr>
          <p:spPr>
            <a:xfrm>
              <a:off x="7239000" y="1790700"/>
              <a:ext cx="228600" cy="247650"/>
            </a:xfrm>
            <a:prstGeom prst="rect">
              <a:avLst/>
            </a:prstGeom>
            <a:solidFill>
              <a:srgbClr val="F0F3C8"/>
            </a:solidFill>
            <a:ln>
              <a:noFill/>
            </a:ln>
          </p:spPr>
        </p:sp>
        <p:sp>
          <p:nvSpPr>
            <p:cNvPr id="47" name="Rectangle 47"/>
            <p:cNvSpPr/>
            <p:nvPr/>
          </p:nvSpPr>
          <p:spPr>
            <a:xfrm>
              <a:off x="7467600" y="1790700"/>
              <a:ext cx="914400" cy="247650"/>
            </a:xfrm>
            <a:prstGeom prst="rect">
              <a:avLst/>
            </a:prstGeom>
            <a:solidFill>
              <a:srgbClr val="EAA79B"/>
            </a:solidFill>
            <a:ln>
              <a:noFill/>
            </a:ln>
          </p:spPr>
        </p:sp>
        <p:sp>
          <p:nvSpPr>
            <p:cNvPr id="48" name="Rectangle 48"/>
            <p:cNvSpPr/>
            <p:nvPr/>
          </p:nvSpPr>
          <p:spPr>
            <a:xfrm>
              <a:off x="8382000" y="1790700"/>
              <a:ext cx="685800" cy="247650"/>
            </a:xfrm>
            <a:prstGeom prst="rect">
              <a:avLst/>
            </a:prstGeom>
            <a:solidFill>
              <a:srgbClr val="D8482E"/>
            </a:solidFill>
            <a:ln>
              <a:noFill/>
            </a:ln>
          </p:spPr>
        </p:sp>
        <p:sp>
          <p:nvSpPr>
            <p:cNvPr id="49" name="Rectangle 49"/>
            <p:cNvSpPr/>
            <p:nvPr/>
          </p:nvSpPr>
          <p:spPr>
            <a:xfrm>
              <a:off x="9067800" y="1790700"/>
              <a:ext cx="228600" cy="247650"/>
            </a:xfrm>
            <a:prstGeom prst="rect">
              <a:avLst/>
            </a:prstGeom>
            <a:solidFill>
              <a:srgbClr val="C35642"/>
            </a:solidFill>
            <a:ln>
              <a:noFill/>
            </a:ln>
          </p:spPr>
        </p:sp>
        <p:sp>
          <p:nvSpPr>
            <p:cNvPr id="50" name="Rectangle 50"/>
            <p:cNvSpPr/>
            <p:nvPr/>
          </p:nvSpPr>
          <p:spPr>
            <a:xfrm>
              <a:off x="9296400" y="1790700"/>
              <a:ext cx="137160" cy="247650"/>
            </a:xfrm>
            <a:prstGeom prst="rect">
              <a:avLst/>
            </a:prstGeom>
            <a:solidFill>
              <a:srgbClr val="AA1B00"/>
            </a:solidFill>
            <a:ln>
              <a:noFill/>
            </a:ln>
          </p:spPr>
        </p:sp>
        <p:sp>
          <p:nvSpPr>
            <p:cNvPr id="51" name="Rectangle 51"/>
            <p:cNvSpPr/>
            <p:nvPr/>
          </p:nvSpPr>
          <p:spPr>
            <a:xfrm>
              <a:off x="9433560" y="1790700"/>
              <a:ext cx="68580" cy="247650"/>
            </a:xfrm>
            <a:prstGeom prst="rect">
              <a:avLst/>
            </a:prstGeom>
            <a:solidFill>
              <a:srgbClr val="6B1100"/>
            </a:solidFill>
            <a:ln>
              <a:noFill/>
            </a:ln>
          </p:spPr>
        </p:sp>
        <p:sp>
          <p:nvSpPr>
            <p:cNvPr id="52" name="Rectangle 52"/>
            <p:cNvSpPr/>
            <p:nvPr/>
          </p:nvSpPr>
          <p:spPr>
            <a:xfrm>
              <a:off x="9502140" y="1790700"/>
              <a:ext cx="22860" cy="247650"/>
            </a:xfrm>
            <a:prstGeom prst="rect">
              <a:avLst/>
            </a:prstGeom>
            <a:solidFill>
              <a:srgbClr val="4A150B"/>
            </a:solidFill>
            <a:ln>
              <a:noFill/>
            </a:ln>
          </p:spPr>
        </p:sp>
        <p:sp>
          <p:nvSpPr>
            <p:cNvPr id="53" name="TextBox 53"/>
            <p:cNvSpPr txBox="1"/>
            <p:nvPr/>
          </p:nvSpPr>
          <p:spPr>
            <a:xfrm>
              <a:off x="6741523" y="2422684"/>
              <a:ext cx="42603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小型银行​</a:t>
              </a:r>
            </a:p>
          </p:txBody>
        </p:sp>
        <p:sp>
          <p:nvSpPr>
            <p:cNvPr id="54" name="Rectangle 54"/>
            <p:cNvSpPr/>
            <p:nvPr/>
          </p:nvSpPr>
          <p:spPr>
            <a:xfrm>
              <a:off x="7239000" y="2286000"/>
              <a:ext cx="1074420" cy="247650"/>
            </a:xfrm>
            <a:prstGeom prst="rect">
              <a:avLst/>
            </a:prstGeom>
            <a:solidFill>
              <a:srgbClr val="F0F3C8"/>
            </a:solidFill>
            <a:ln>
              <a:noFill/>
            </a:ln>
          </p:spPr>
        </p:sp>
        <p:sp>
          <p:nvSpPr>
            <p:cNvPr id="55" name="Rectangle 55"/>
            <p:cNvSpPr/>
            <p:nvPr/>
          </p:nvSpPr>
          <p:spPr>
            <a:xfrm>
              <a:off x="8313420" y="2286000"/>
              <a:ext cx="594360" cy="247650"/>
            </a:xfrm>
            <a:prstGeom prst="rect">
              <a:avLst/>
            </a:prstGeom>
            <a:solidFill>
              <a:srgbClr val="EAA79B"/>
            </a:solidFill>
            <a:ln>
              <a:noFill/>
            </a:ln>
          </p:spPr>
        </p:sp>
        <p:sp>
          <p:nvSpPr>
            <p:cNvPr id="56" name="Rectangle 56"/>
            <p:cNvSpPr/>
            <p:nvPr/>
          </p:nvSpPr>
          <p:spPr>
            <a:xfrm>
              <a:off x="8907780" y="2286000"/>
              <a:ext cx="297180" cy="247650"/>
            </a:xfrm>
            <a:prstGeom prst="rect">
              <a:avLst/>
            </a:prstGeom>
            <a:solidFill>
              <a:srgbClr val="D8482E"/>
            </a:solidFill>
            <a:ln>
              <a:noFill/>
            </a:ln>
          </p:spPr>
        </p:sp>
        <p:sp>
          <p:nvSpPr>
            <p:cNvPr id="57" name="Rectangle 57"/>
            <p:cNvSpPr/>
            <p:nvPr/>
          </p:nvSpPr>
          <p:spPr>
            <a:xfrm>
              <a:off x="9204960" y="2286000"/>
              <a:ext cx="114300" cy="247650"/>
            </a:xfrm>
            <a:prstGeom prst="rect">
              <a:avLst/>
            </a:prstGeom>
            <a:solidFill>
              <a:srgbClr val="C35642"/>
            </a:solidFill>
            <a:ln>
              <a:noFill/>
            </a:ln>
          </p:spPr>
        </p:sp>
        <p:sp>
          <p:nvSpPr>
            <p:cNvPr id="58" name="Rectangle 58"/>
            <p:cNvSpPr/>
            <p:nvPr/>
          </p:nvSpPr>
          <p:spPr>
            <a:xfrm>
              <a:off x="9319260" y="2286000"/>
              <a:ext cx="137160" cy="247650"/>
            </a:xfrm>
            <a:prstGeom prst="rect">
              <a:avLst/>
            </a:prstGeom>
            <a:solidFill>
              <a:srgbClr val="AA1B00"/>
            </a:solidFill>
            <a:ln>
              <a:noFill/>
            </a:ln>
          </p:spPr>
        </p:sp>
        <p:sp>
          <p:nvSpPr>
            <p:cNvPr id="59" name="Rectangle 59"/>
            <p:cNvSpPr/>
            <p:nvPr/>
          </p:nvSpPr>
          <p:spPr>
            <a:xfrm>
              <a:off x="9456420" y="2286000"/>
              <a:ext cx="45720" cy="247650"/>
            </a:xfrm>
            <a:prstGeom prst="rect">
              <a:avLst/>
            </a:prstGeom>
            <a:solidFill>
              <a:srgbClr val="6B1100"/>
            </a:solidFill>
            <a:ln>
              <a:noFill/>
            </a:ln>
          </p:spPr>
        </p:sp>
        <p:sp>
          <p:nvSpPr>
            <p:cNvPr id="60" name="Rectangle 60"/>
            <p:cNvSpPr/>
            <p:nvPr/>
          </p:nvSpPr>
          <p:spPr>
            <a:xfrm>
              <a:off x="9502140" y="2286000"/>
              <a:ext cx="22860" cy="247650"/>
            </a:xfrm>
            <a:prstGeom prst="rect">
              <a:avLst/>
            </a:prstGeom>
            <a:solidFill>
              <a:srgbClr val="4A150B"/>
            </a:solidFill>
            <a:ln>
              <a:noFill/>
            </a:ln>
          </p:spPr>
        </p:sp>
        <p:sp>
          <p:nvSpPr>
            <p:cNvPr id="61" name="TextBox 61"/>
            <p:cNvSpPr txBox="1"/>
            <p:nvPr/>
          </p:nvSpPr>
          <p:spPr>
            <a:xfrm>
              <a:off x="7159523" y="2640330"/>
              <a:ext cx="158953"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0%​</a:t>
              </a:r>
            </a:p>
          </p:txBody>
        </p:sp>
        <p:sp>
          <p:nvSpPr>
            <p:cNvPr id="62" name="TextBox 62"/>
            <p:cNvSpPr txBox="1"/>
            <p:nvPr/>
          </p:nvSpPr>
          <p:spPr>
            <a:xfrm>
              <a:off x="7594511" y="264033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20%​</a:t>
              </a:r>
            </a:p>
          </p:txBody>
        </p:sp>
        <p:sp>
          <p:nvSpPr>
            <p:cNvPr id="63" name="TextBox 63"/>
            <p:cNvSpPr txBox="1"/>
            <p:nvPr/>
          </p:nvSpPr>
          <p:spPr>
            <a:xfrm>
              <a:off x="8051711" y="264033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40%​</a:t>
              </a:r>
            </a:p>
          </p:txBody>
        </p:sp>
        <p:sp>
          <p:nvSpPr>
            <p:cNvPr id="64" name="TextBox 64"/>
            <p:cNvSpPr txBox="1"/>
            <p:nvPr/>
          </p:nvSpPr>
          <p:spPr>
            <a:xfrm>
              <a:off x="8508911" y="264033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60%​</a:t>
              </a:r>
            </a:p>
          </p:txBody>
        </p:sp>
        <p:sp>
          <p:nvSpPr>
            <p:cNvPr id="65" name="TextBox 65"/>
            <p:cNvSpPr txBox="1"/>
            <p:nvPr/>
          </p:nvSpPr>
          <p:spPr>
            <a:xfrm>
              <a:off x="8966111" y="264033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80%​</a:t>
              </a:r>
            </a:p>
          </p:txBody>
        </p:sp>
        <p:sp>
          <p:nvSpPr>
            <p:cNvPr id="66" name="TextBox 66"/>
            <p:cNvSpPr txBox="1"/>
            <p:nvPr/>
          </p:nvSpPr>
          <p:spPr>
            <a:xfrm>
              <a:off x="9401099" y="2640330"/>
              <a:ext cx="247802"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100%​</a:t>
              </a:r>
            </a:p>
          </p:txBody>
        </p:sp>
        <p:sp>
          <p:nvSpPr>
            <p:cNvPr id="67" name="Rectangle 67"/>
            <p:cNvSpPr/>
            <p:nvPr/>
          </p:nvSpPr>
          <p:spPr>
            <a:xfrm>
              <a:off x="6381750" y="2838450"/>
              <a:ext cx="85725" cy="85725"/>
            </a:xfrm>
            <a:prstGeom prst="rect">
              <a:avLst/>
            </a:prstGeom>
            <a:solidFill>
              <a:srgbClr val="F0F3C8"/>
            </a:solidFill>
            <a:ln>
              <a:noFill/>
            </a:ln>
          </p:spPr>
        </p:sp>
        <p:sp>
          <p:nvSpPr>
            <p:cNvPr id="68" name="TextBox 68"/>
            <p:cNvSpPr txBox="1"/>
            <p:nvPr/>
          </p:nvSpPr>
          <p:spPr>
            <a:xfrm>
              <a:off x="6510338" y="2849880"/>
              <a:ext cx="276073"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1–10​​</a:t>
              </a:r>
            </a:p>
          </p:txBody>
        </p:sp>
        <p:sp>
          <p:nvSpPr>
            <p:cNvPr id="69" name="Rectangle 69"/>
            <p:cNvSpPr/>
            <p:nvPr/>
          </p:nvSpPr>
          <p:spPr>
            <a:xfrm>
              <a:off x="6833616" y="2838450"/>
              <a:ext cx="85725" cy="85725"/>
            </a:xfrm>
            <a:prstGeom prst="rect">
              <a:avLst/>
            </a:prstGeom>
            <a:solidFill>
              <a:srgbClr val="EAA79B"/>
            </a:solidFill>
            <a:ln>
              <a:noFill/>
            </a:ln>
          </p:spPr>
        </p:sp>
        <p:sp>
          <p:nvSpPr>
            <p:cNvPr id="70" name="TextBox 70"/>
            <p:cNvSpPr txBox="1"/>
            <p:nvPr/>
          </p:nvSpPr>
          <p:spPr>
            <a:xfrm>
              <a:off x="6962204" y="2849880"/>
              <a:ext cx="320497"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10–20​​</a:t>
              </a:r>
            </a:p>
          </p:txBody>
        </p:sp>
        <p:sp>
          <p:nvSpPr>
            <p:cNvPr id="71" name="Rectangle 71"/>
            <p:cNvSpPr/>
            <p:nvPr/>
          </p:nvSpPr>
          <p:spPr>
            <a:xfrm>
              <a:off x="7332726" y="2838450"/>
              <a:ext cx="85725" cy="85725"/>
            </a:xfrm>
            <a:prstGeom prst="rect">
              <a:avLst/>
            </a:prstGeom>
            <a:solidFill>
              <a:srgbClr val="D8482E"/>
            </a:solidFill>
            <a:ln>
              <a:noFill/>
            </a:ln>
          </p:spPr>
        </p:sp>
        <p:sp>
          <p:nvSpPr>
            <p:cNvPr id="72" name="TextBox 72"/>
            <p:cNvSpPr txBox="1"/>
            <p:nvPr/>
          </p:nvSpPr>
          <p:spPr>
            <a:xfrm>
              <a:off x="7461314" y="2849880"/>
              <a:ext cx="320497"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20–50​​</a:t>
              </a:r>
            </a:p>
          </p:txBody>
        </p:sp>
        <p:sp>
          <p:nvSpPr>
            <p:cNvPr id="73" name="Rectangle 73"/>
            <p:cNvSpPr/>
            <p:nvPr/>
          </p:nvSpPr>
          <p:spPr>
            <a:xfrm>
              <a:off x="7831836" y="2838450"/>
              <a:ext cx="85725" cy="85725"/>
            </a:xfrm>
            <a:prstGeom prst="rect">
              <a:avLst/>
            </a:prstGeom>
            <a:solidFill>
              <a:srgbClr val="C35642"/>
            </a:solidFill>
            <a:ln>
              <a:noFill/>
            </a:ln>
          </p:spPr>
        </p:sp>
        <p:sp>
          <p:nvSpPr>
            <p:cNvPr id="74" name="TextBox 74"/>
            <p:cNvSpPr txBox="1"/>
            <p:nvPr/>
          </p:nvSpPr>
          <p:spPr>
            <a:xfrm>
              <a:off x="7960424" y="2849880"/>
              <a:ext cx="364922"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50–100​​</a:t>
              </a:r>
            </a:p>
          </p:txBody>
        </p:sp>
        <p:sp>
          <p:nvSpPr>
            <p:cNvPr id="75" name="Rectangle 75"/>
            <p:cNvSpPr/>
            <p:nvPr/>
          </p:nvSpPr>
          <p:spPr>
            <a:xfrm>
              <a:off x="6381750" y="2990850"/>
              <a:ext cx="85725" cy="85725"/>
            </a:xfrm>
            <a:prstGeom prst="rect">
              <a:avLst/>
            </a:prstGeom>
            <a:solidFill>
              <a:srgbClr val="AA1B00"/>
            </a:solidFill>
            <a:ln>
              <a:noFill/>
            </a:ln>
          </p:spPr>
        </p:sp>
        <p:sp>
          <p:nvSpPr>
            <p:cNvPr id="76" name="TextBox 76"/>
            <p:cNvSpPr txBox="1"/>
            <p:nvPr/>
          </p:nvSpPr>
          <p:spPr>
            <a:xfrm>
              <a:off x="6510338" y="3002280"/>
              <a:ext cx="409346"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100–200​​</a:t>
              </a:r>
            </a:p>
          </p:txBody>
        </p:sp>
        <p:sp>
          <p:nvSpPr>
            <p:cNvPr id="77" name="Rectangle 77"/>
            <p:cNvSpPr/>
            <p:nvPr/>
          </p:nvSpPr>
          <p:spPr>
            <a:xfrm>
              <a:off x="6975348" y="2990850"/>
              <a:ext cx="85725" cy="85725"/>
            </a:xfrm>
            <a:prstGeom prst="rect">
              <a:avLst/>
            </a:prstGeom>
            <a:solidFill>
              <a:srgbClr val="6B1100"/>
            </a:solidFill>
            <a:ln>
              <a:noFill/>
            </a:ln>
          </p:spPr>
        </p:sp>
        <p:sp>
          <p:nvSpPr>
            <p:cNvPr id="78" name="TextBox 78"/>
            <p:cNvSpPr txBox="1"/>
            <p:nvPr/>
          </p:nvSpPr>
          <p:spPr>
            <a:xfrm>
              <a:off x="7103936" y="3002280"/>
              <a:ext cx="409346"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200–500​​</a:t>
              </a:r>
            </a:p>
          </p:txBody>
        </p:sp>
        <p:sp>
          <p:nvSpPr>
            <p:cNvPr id="79" name="Rectangle 79"/>
            <p:cNvSpPr/>
            <p:nvPr/>
          </p:nvSpPr>
          <p:spPr>
            <a:xfrm>
              <a:off x="7568946" y="2990850"/>
              <a:ext cx="85725" cy="85725"/>
            </a:xfrm>
            <a:prstGeom prst="rect">
              <a:avLst/>
            </a:prstGeom>
            <a:solidFill>
              <a:srgbClr val="4A150B"/>
            </a:solidFill>
            <a:ln>
              <a:noFill/>
            </a:ln>
          </p:spPr>
        </p:sp>
        <p:sp>
          <p:nvSpPr>
            <p:cNvPr id="80" name="TextBox 80"/>
            <p:cNvSpPr txBox="1"/>
            <p:nvPr/>
          </p:nvSpPr>
          <p:spPr>
            <a:xfrm>
              <a:off x="7697534" y="3002280"/>
              <a:ext cx="276073"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&gt;500​​</a:t>
              </a:r>
            </a:p>
          </p:txBody>
        </p:sp>
      </p:grpSp>
      <p:grpSp>
        <p:nvGrpSpPr>
          <p:cNvPr id="127" name="figure-29"/>
          <p:cNvGrpSpPr/>
          <p:nvPr/>
        </p:nvGrpSpPr>
        <p:grpSpPr>
          <a:xfrm>
            <a:off x="6376988" y="3778091"/>
            <a:ext cx="3271913" cy="2257901"/>
            <a:chOff x="6376988" y="3778091"/>
            <a:chExt cx="3271913" cy="2257901"/>
          </a:xfrm>
        </p:grpSpPr>
        <p:sp>
          <p:nvSpPr>
            <p:cNvPr id="82" name="TextBox 82"/>
            <p:cNvSpPr txBox="1"/>
            <p:nvPr/>
          </p:nvSpPr>
          <p:spPr>
            <a:xfrm>
              <a:off x="6376988" y="3778091"/>
              <a:ext cx="168611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图29. 模型验证团队FTE总数​​​​</a:t>
              </a:r>
            </a:p>
          </p:txBody>
        </p:sp>
        <p:sp>
          <p:nvSpPr>
            <p:cNvPr id="83" name="TextBox 83"/>
            <p:cNvSpPr txBox="1"/>
            <p:nvPr/>
          </p:nvSpPr>
          <p:spPr>
            <a:xfrm>
              <a:off x="6376988" y="3926205"/>
              <a:ext cx="1256098"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Total FTEs in model validation​​</a:t>
              </a:r>
            </a:p>
          </p:txBody>
        </p:sp>
        <p:sp>
          <p:nvSpPr>
            <p:cNvPr id="84" name="TextBox 84"/>
            <p:cNvSpPr txBox="1"/>
            <p:nvPr/>
          </p:nvSpPr>
          <p:spPr>
            <a:xfrm>
              <a:off x="6741523" y="4346734"/>
              <a:ext cx="42603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大型银行​</a:t>
              </a:r>
            </a:p>
          </p:txBody>
        </p:sp>
        <p:sp>
          <p:nvSpPr>
            <p:cNvPr id="85" name="Rectangle 85"/>
            <p:cNvSpPr/>
            <p:nvPr/>
          </p:nvSpPr>
          <p:spPr>
            <a:xfrm>
              <a:off x="7239000" y="4210050"/>
              <a:ext cx="205740" cy="247650"/>
            </a:xfrm>
            <a:prstGeom prst="rect">
              <a:avLst/>
            </a:prstGeom>
            <a:solidFill>
              <a:srgbClr val="F0F3C8"/>
            </a:solidFill>
            <a:ln>
              <a:noFill/>
            </a:ln>
          </p:spPr>
        </p:sp>
        <p:sp>
          <p:nvSpPr>
            <p:cNvPr id="86" name="Rectangle 86"/>
            <p:cNvSpPr/>
            <p:nvPr/>
          </p:nvSpPr>
          <p:spPr>
            <a:xfrm>
              <a:off x="7444740" y="4210050"/>
              <a:ext cx="594360" cy="247650"/>
            </a:xfrm>
            <a:prstGeom prst="rect">
              <a:avLst/>
            </a:prstGeom>
            <a:solidFill>
              <a:srgbClr val="EAA79B"/>
            </a:solidFill>
            <a:ln>
              <a:noFill/>
            </a:ln>
          </p:spPr>
        </p:sp>
        <p:sp>
          <p:nvSpPr>
            <p:cNvPr id="87" name="Rectangle 87"/>
            <p:cNvSpPr/>
            <p:nvPr/>
          </p:nvSpPr>
          <p:spPr>
            <a:xfrm>
              <a:off x="8039100" y="4210050"/>
              <a:ext cx="685800" cy="247650"/>
            </a:xfrm>
            <a:prstGeom prst="rect">
              <a:avLst/>
            </a:prstGeom>
            <a:solidFill>
              <a:srgbClr val="D8482E"/>
            </a:solidFill>
            <a:ln>
              <a:noFill/>
            </a:ln>
          </p:spPr>
        </p:sp>
        <p:sp>
          <p:nvSpPr>
            <p:cNvPr id="88" name="Rectangle 88"/>
            <p:cNvSpPr/>
            <p:nvPr/>
          </p:nvSpPr>
          <p:spPr>
            <a:xfrm>
              <a:off x="8724900" y="4210050"/>
              <a:ext cx="342900" cy="247650"/>
            </a:xfrm>
            <a:prstGeom prst="rect">
              <a:avLst/>
            </a:prstGeom>
            <a:solidFill>
              <a:srgbClr val="C35642"/>
            </a:solidFill>
            <a:ln>
              <a:noFill/>
            </a:ln>
          </p:spPr>
        </p:sp>
        <p:sp>
          <p:nvSpPr>
            <p:cNvPr id="89" name="Rectangle 89"/>
            <p:cNvSpPr/>
            <p:nvPr/>
          </p:nvSpPr>
          <p:spPr>
            <a:xfrm>
              <a:off x="9067800" y="4210050"/>
              <a:ext cx="182880" cy="247650"/>
            </a:xfrm>
            <a:prstGeom prst="rect">
              <a:avLst/>
            </a:prstGeom>
            <a:solidFill>
              <a:srgbClr val="AA1B00"/>
            </a:solidFill>
            <a:ln>
              <a:noFill/>
            </a:ln>
          </p:spPr>
        </p:sp>
        <p:sp>
          <p:nvSpPr>
            <p:cNvPr id="90" name="Rectangle 90"/>
            <p:cNvSpPr/>
            <p:nvPr/>
          </p:nvSpPr>
          <p:spPr>
            <a:xfrm>
              <a:off x="9250680" y="4210050"/>
              <a:ext cx="137160" cy="247650"/>
            </a:xfrm>
            <a:prstGeom prst="rect">
              <a:avLst/>
            </a:prstGeom>
            <a:solidFill>
              <a:srgbClr val="6B1100"/>
            </a:solidFill>
            <a:ln>
              <a:noFill/>
            </a:ln>
          </p:spPr>
        </p:sp>
        <p:sp>
          <p:nvSpPr>
            <p:cNvPr id="91" name="Rectangle 91"/>
            <p:cNvSpPr/>
            <p:nvPr/>
          </p:nvSpPr>
          <p:spPr>
            <a:xfrm>
              <a:off x="9387840" y="4210050"/>
              <a:ext cx="137160" cy="247650"/>
            </a:xfrm>
            <a:prstGeom prst="rect">
              <a:avLst/>
            </a:prstGeom>
            <a:solidFill>
              <a:srgbClr val="4A150B"/>
            </a:solidFill>
            <a:ln>
              <a:noFill/>
            </a:ln>
          </p:spPr>
        </p:sp>
        <p:sp>
          <p:nvSpPr>
            <p:cNvPr id="92" name="TextBox 92"/>
            <p:cNvSpPr txBox="1"/>
            <p:nvPr/>
          </p:nvSpPr>
          <p:spPr>
            <a:xfrm>
              <a:off x="6741523" y="4842034"/>
              <a:ext cx="42603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中型银行​</a:t>
              </a:r>
            </a:p>
          </p:txBody>
        </p:sp>
        <p:sp>
          <p:nvSpPr>
            <p:cNvPr id="93" name="Rectangle 93"/>
            <p:cNvSpPr/>
            <p:nvPr/>
          </p:nvSpPr>
          <p:spPr>
            <a:xfrm>
              <a:off x="7239000" y="4705350"/>
              <a:ext cx="914400" cy="247650"/>
            </a:xfrm>
            <a:prstGeom prst="rect">
              <a:avLst/>
            </a:prstGeom>
            <a:solidFill>
              <a:srgbClr val="F0F3C8"/>
            </a:solidFill>
            <a:ln>
              <a:noFill/>
            </a:ln>
          </p:spPr>
        </p:sp>
        <p:sp>
          <p:nvSpPr>
            <p:cNvPr id="94" name="Rectangle 94"/>
            <p:cNvSpPr/>
            <p:nvPr/>
          </p:nvSpPr>
          <p:spPr>
            <a:xfrm>
              <a:off x="8153400" y="4705350"/>
              <a:ext cx="685800" cy="247650"/>
            </a:xfrm>
            <a:prstGeom prst="rect">
              <a:avLst/>
            </a:prstGeom>
            <a:solidFill>
              <a:srgbClr val="EAA79B"/>
            </a:solidFill>
            <a:ln>
              <a:noFill/>
            </a:ln>
          </p:spPr>
        </p:sp>
        <p:sp>
          <p:nvSpPr>
            <p:cNvPr id="95" name="Rectangle 95"/>
            <p:cNvSpPr/>
            <p:nvPr/>
          </p:nvSpPr>
          <p:spPr>
            <a:xfrm>
              <a:off x="8839200" y="4705350"/>
              <a:ext cx="457200" cy="247650"/>
            </a:xfrm>
            <a:prstGeom prst="rect">
              <a:avLst/>
            </a:prstGeom>
            <a:solidFill>
              <a:srgbClr val="D8482E"/>
            </a:solidFill>
            <a:ln>
              <a:noFill/>
            </a:ln>
          </p:spPr>
        </p:sp>
        <p:sp>
          <p:nvSpPr>
            <p:cNvPr id="96" name="Rectangle 96"/>
            <p:cNvSpPr/>
            <p:nvPr/>
          </p:nvSpPr>
          <p:spPr>
            <a:xfrm>
              <a:off x="9296400" y="4705350"/>
              <a:ext cx="114300" cy="247650"/>
            </a:xfrm>
            <a:prstGeom prst="rect">
              <a:avLst/>
            </a:prstGeom>
            <a:solidFill>
              <a:srgbClr val="C35642"/>
            </a:solidFill>
            <a:ln>
              <a:noFill/>
            </a:ln>
          </p:spPr>
        </p:sp>
        <p:sp>
          <p:nvSpPr>
            <p:cNvPr id="97" name="Rectangle 97"/>
            <p:cNvSpPr/>
            <p:nvPr/>
          </p:nvSpPr>
          <p:spPr>
            <a:xfrm>
              <a:off x="9410700" y="4705350"/>
              <a:ext cx="91440" cy="247650"/>
            </a:xfrm>
            <a:prstGeom prst="rect">
              <a:avLst/>
            </a:prstGeom>
            <a:solidFill>
              <a:srgbClr val="AA1B00"/>
            </a:solidFill>
            <a:ln>
              <a:noFill/>
            </a:ln>
          </p:spPr>
        </p:sp>
        <p:sp>
          <p:nvSpPr>
            <p:cNvPr id="98" name="Rectangle 98"/>
            <p:cNvSpPr/>
            <p:nvPr/>
          </p:nvSpPr>
          <p:spPr>
            <a:xfrm>
              <a:off x="9502140" y="4705350"/>
              <a:ext cx="11430" cy="247650"/>
            </a:xfrm>
            <a:prstGeom prst="rect">
              <a:avLst/>
            </a:prstGeom>
            <a:solidFill>
              <a:srgbClr val="6B1100"/>
            </a:solidFill>
            <a:ln>
              <a:noFill/>
            </a:ln>
          </p:spPr>
        </p:sp>
        <p:sp>
          <p:nvSpPr>
            <p:cNvPr id="99" name="Rectangle 99"/>
            <p:cNvSpPr/>
            <p:nvPr/>
          </p:nvSpPr>
          <p:spPr>
            <a:xfrm>
              <a:off x="9513570" y="4705350"/>
              <a:ext cx="11430" cy="247650"/>
            </a:xfrm>
            <a:prstGeom prst="rect">
              <a:avLst/>
            </a:prstGeom>
            <a:solidFill>
              <a:srgbClr val="4A150B"/>
            </a:solidFill>
            <a:ln>
              <a:noFill/>
            </a:ln>
          </p:spPr>
        </p:sp>
        <p:sp>
          <p:nvSpPr>
            <p:cNvPr id="100" name="TextBox 100"/>
            <p:cNvSpPr txBox="1"/>
            <p:nvPr/>
          </p:nvSpPr>
          <p:spPr>
            <a:xfrm>
              <a:off x="6741523" y="5337334"/>
              <a:ext cx="426039" cy="133350"/>
            </a:xfrm>
            <a:prstGeom prst="rect">
              <a:avLst/>
            </a:prstGeom>
            <a:noFill/>
            <a:ln>
              <a:noFill/>
            </a:ln>
          </p:spPr>
          <p:txBody>
            <a:bodyPr wrap="none" lIns="0" tIns="0" rIns="0" bIns="0" anchor="t" anchorCtr="0">
              <a:spAutoFit/>
            </a:bodyPr>
            <a:lstStyle/>
            <a:p>
              <a:pPr algn="r"/>
              <a:r>
                <a:rPr lang="zh-CN" sz="680" dirty="0">
                  <a:solidFill>
                    <a:srgbClr val="333333"/>
                  </a:solidFill>
                  <a:latin typeface="+mn-lt"/>
                  <a:ea typeface="+mn-ea"/>
                  <a:cs typeface="+mn-cs"/>
                </a:rPr>
                <a:t>小型银行​</a:t>
              </a:r>
            </a:p>
          </p:txBody>
        </p:sp>
        <p:sp>
          <p:nvSpPr>
            <p:cNvPr id="101" name="Rectangle 101"/>
            <p:cNvSpPr/>
            <p:nvPr/>
          </p:nvSpPr>
          <p:spPr>
            <a:xfrm>
              <a:off x="7239000" y="5200650"/>
              <a:ext cx="1485900" cy="247650"/>
            </a:xfrm>
            <a:prstGeom prst="rect">
              <a:avLst/>
            </a:prstGeom>
            <a:solidFill>
              <a:srgbClr val="F0F3C8"/>
            </a:solidFill>
            <a:ln>
              <a:noFill/>
            </a:ln>
          </p:spPr>
        </p:sp>
        <p:sp>
          <p:nvSpPr>
            <p:cNvPr id="102" name="Rectangle 102"/>
            <p:cNvSpPr/>
            <p:nvPr/>
          </p:nvSpPr>
          <p:spPr>
            <a:xfrm>
              <a:off x="8724900" y="5200650"/>
              <a:ext cx="411480" cy="247650"/>
            </a:xfrm>
            <a:prstGeom prst="rect">
              <a:avLst/>
            </a:prstGeom>
            <a:solidFill>
              <a:srgbClr val="EAA79B"/>
            </a:solidFill>
            <a:ln>
              <a:noFill/>
            </a:ln>
          </p:spPr>
        </p:sp>
        <p:sp>
          <p:nvSpPr>
            <p:cNvPr id="103" name="Rectangle 103"/>
            <p:cNvSpPr/>
            <p:nvPr/>
          </p:nvSpPr>
          <p:spPr>
            <a:xfrm>
              <a:off x="9136380" y="5200650"/>
              <a:ext cx="228600" cy="247650"/>
            </a:xfrm>
            <a:prstGeom prst="rect">
              <a:avLst/>
            </a:prstGeom>
            <a:solidFill>
              <a:srgbClr val="D8482E"/>
            </a:solidFill>
            <a:ln>
              <a:noFill/>
            </a:ln>
          </p:spPr>
        </p:sp>
        <p:sp>
          <p:nvSpPr>
            <p:cNvPr id="104" name="Rectangle 104"/>
            <p:cNvSpPr/>
            <p:nvPr/>
          </p:nvSpPr>
          <p:spPr>
            <a:xfrm>
              <a:off x="9364980" y="5200650"/>
              <a:ext cx="68580" cy="247650"/>
            </a:xfrm>
            <a:prstGeom prst="rect">
              <a:avLst/>
            </a:prstGeom>
            <a:solidFill>
              <a:srgbClr val="C35642"/>
            </a:solidFill>
            <a:ln>
              <a:noFill/>
            </a:ln>
          </p:spPr>
        </p:sp>
        <p:sp>
          <p:nvSpPr>
            <p:cNvPr id="105" name="Rectangle 105"/>
            <p:cNvSpPr/>
            <p:nvPr/>
          </p:nvSpPr>
          <p:spPr>
            <a:xfrm>
              <a:off x="9433560" y="5200650"/>
              <a:ext cx="68580" cy="247650"/>
            </a:xfrm>
            <a:prstGeom prst="rect">
              <a:avLst/>
            </a:prstGeom>
            <a:solidFill>
              <a:srgbClr val="AA1B00"/>
            </a:solidFill>
            <a:ln>
              <a:noFill/>
            </a:ln>
          </p:spPr>
        </p:sp>
        <p:sp>
          <p:nvSpPr>
            <p:cNvPr id="106" name="Rectangle 106"/>
            <p:cNvSpPr/>
            <p:nvPr/>
          </p:nvSpPr>
          <p:spPr>
            <a:xfrm>
              <a:off x="9502140" y="5200650"/>
              <a:ext cx="22860" cy="247650"/>
            </a:xfrm>
            <a:prstGeom prst="rect">
              <a:avLst/>
            </a:prstGeom>
            <a:solidFill>
              <a:srgbClr val="6B1100"/>
            </a:solidFill>
            <a:ln>
              <a:noFill/>
            </a:ln>
          </p:spPr>
        </p:sp>
        <p:sp>
          <p:nvSpPr>
            <p:cNvPr id="107" name="TextBox 107"/>
            <p:cNvSpPr txBox="1"/>
            <p:nvPr/>
          </p:nvSpPr>
          <p:spPr>
            <a:xfrm>
              <a:off x="7159523" y="5554980"/>
              <a:ext cx="158953"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0%​</a:t>
              </a:r>
            </a:p>
          </p:txBody>
        </p:sp>
        <p:sp>
          <p:nvSpPr>
            <p:cNvPr id="108" name="TextBox 108"/>
            <p:cNvSpPr txBox="1"/>
            <p:nvPr/>
          </p:nvSpPr>
          <p:spPr>
            <a:xfrm>
              <a:off x="7594511" y="555498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20%​</a:t>
              </a:r>
            </a:p>
          </p:txBody>
        </p:sp>
        <p:sp>
          <p:nvSpPr>
            <p:cNvPr id="109" name="TextBox 109"/>
            <p:cNvSpPr txBox="1"/>
            <p:nvPr/>
          </p:nvSpPr>
          <p:spPr>
            <a:xfrm>
              <a:off x="8051711" y="555498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40%​</a:t>
              </a:r>
            </a:p>
          </p:txBody>
        </p:sp>
        <p:sp>
          <p:nvSpPr>
            <p:cNvPr id="110" name="TextBox 110"/>
            <p:cNvSpPr txBox="1"/>
            <p:nvPr/>
          </p:nvSpPr>
          <p:spPr>
            <a:xfrm>
              <a:off x="8508911" y="555498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60%​</a:t>
              </a:r>
            </a:p>
          </p:txBody>
        </p:sp>
        <p:sp>
          <p:nvSpPr>
            <p:cNvPr id="111" name="TextBox 111"/>
            <p:cNvSpPr txBox="1"/>
            <p:nvPr/>
          </p:nvSpPr>
          <p:spPr>
            <a:xfrm>
              <a:off x="8966111" y="555498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80%​</a:t>
              </a:r>
            </a:p>
          </p:txBody>
        </p:sp>
        <p:sp>
          <p:nvSpPr>
            <p:cNvPr id="112" name="TextBox 112"/>
            <p:cNvSpPr txBox="1"/>
            <p:nvPr/>
          </p:nvSpPr>
          <p:spPr>
            <a:xfrm>
              <a:off x="9401099" y="5554980"/>
              <a:ext cx="247802"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100%​</a:t>
              </a:r>
            </a:p>
          </p:txBody>
        </p:sp>
        <p:sp>
          <p:nvSpPr>
            <p:cNvPr id="113" name="Rectangle 113"/>
            <p:cNvSpPr/>
            <p:nvPr/>
          </p:nvSpPr>
          <p:spPr>
            <a:xfrm>
              <a:off x="6381750" y="5753100"/>
              <a:ext cx="85725" cy="85725"/>
            </a:xfrm>
            <a:prstGeom prst="rect">
              <a:avLst/>
            </a:prstGeom>
            <a:solidFill>
              <a:srgbClr val="F0F3C8"/>
            </a:solidFill>
            <a:ln>
              <a:noFill/>
            </a:ln>
          </p:spPr>
        </p:sp>
        <p:sp>
          <p:nvSpPr>
            <p:cNvPr id="114" name="TextBox 114"/>
            <p:cNvSpPr txBox="1"/>
            <p:nvPr/>
          </p:nvSpPr>
          <p:spPr>
            <a:xfrm>
              <a:off x="6510338" y="5764530"/>
              <a:ext cx="276073"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1–10​​</a:t>
              </a:r>
            </a:p>
          </p:txBody>
        </p:sp>
        <p:sp>
          <p:nvSpPr>
            <p:cNvPr id="115" name="Rectangle 115"/>
            <p:cNvSpPr/>
            <p:nvPr/>
          </p:nvSpPr>
          <p:spPr>
            <a:xfrm>
              <a:off x="6833616" y="5753100"/>
              <a:ext cx="85725" cy="85725"/>
            </a:xfrm>
            <a:prstGeom prst="rect">
              <a:avLst/>
            </a:prstGeom>
            <a:solidFill>
              <a:srgbClr val="EAA79B"/>
            </a:solidFill>
            <a:ln>
              <a:noFill/>
            </a:ln>
          </p:spPr>
        </p:sp>
        <p:sp>
          <p:nvSpPr>
            <p:cNvPr id="116" name="TextBox 116"/>
            <p:cNvSpPr txBox="1"/>
            <p:nvPr/>
          </p:nvSpPr>
          <p:spPr>
            <a:xfrm>
              <a:off x="6962204" y="5764530"/>
              <a:ext cx="320497"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10–20​​</a:t>
              </a:r>
            </a:p>
          </p:txBody>
        </p:sp>
        <p:sp>
          <p:nvSpPr>
            <p:cNvPr id="117" name="Rectangle 117"/>
            <p:cNvSpPr/>
            <p:nvPr/>
          </p:nvSpPr>
          <p:spPr>
            <a:xfrm>
              <a:off x="7332726" y="5753100"/>
              <a:ext cx="85725" cy="85725"/>
            </a:xfrm>
            <a:prstGeom prst="rect">
              <a:avLst/>
            </a:prstGeom>
            <a:solidFill>
              <a:srgbClr val="D8482E"/>
            </a:solidFill>
            <a:ln>
              <a:noFill/>
            </a:ln>
          </p:spPr>
        </p:sp>
        <p:sp>
          <p:nvSpPr>
            <p:cNvPr id="118" name="TextBox 118"/>
            <p:cNvSpPr txBox="1"/>
            <p:nvPr/>
          </p:nvSpPr>
          <p:spPr>
            <a:xfrm>
              <a:off x="7461314" y="5764530"/>
              <a:ext cx="320497"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20–50​​</a:t>
              </a:r>
            </a:p>
          </p:txBody>
        </p:sp>
        <p:sp>
          <p:nvSpPr>
            <p:cNvPr id="119" name="Rectangle 119"/>
            <p:cNvSpPr/>
            <p:nvPr/>
          </p:nvSpPr>
          <p:spPr>
            <a:xfrm>
              <a:off x="7831836" y="5753100"/>
              <a:ext cx="85725" cy="85725"/>
            </a:xfrm>
            <a:prstGeom prst="rect">
              <a:avLst/>
            </a:prstGeom>
            <a:solidFill>
              <a:srgbClr val="C35642"/>
            </a:solidFill>
            <a:ln>
              <a:noFill/>
            </a:ln>
          </p:spPr>
        </p:sp>
        <p:sp>
          <p:nvSpPr>
            <p:cNvPr id="120" name="TextBox 120"/>
            <p:cNvSpPr txBox="1"/>
            <p:nvPr/>
          </p:nvSpPr>
          <p:spPr>
            <a:xfrm>
              <a:off x="7960424" y="5764530"/>
              <a:ext cx="364922"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50–100​​</a:t>
              </a:r>
            </a:p>
          </p:txBody>
        </p:sp>
        <p:sp>
          <p:nvSpPr>
            <p:cNvPr id="121" name="Rectangle 121"/>
            <p:cNvSpPr/>
            <p:nvPr/>
          </p:nvSpPr>
          <p:spPr>
            <a:xfrm>
              <a:off x="6381750" y="5905500"/>
              <a:ext cx="85725" cy="85725"/>
            </a:xfrm>
            <a:prstGeom prst="rect">
              <a:avLst/>
            </a:prstGeom>
            <a:solidFill>
              <a:srgbClr val="AA1B00"/>
            </a:solidFill>
            <a:ln>
              <a:noFill/>
            </a:ln>
          </p:spPr>
        </p:sp>
        <p:sp>
          <p:nvSpPr>
            <p:cNvPr id="122" name="TextBox 122"/>
            <p:cNvSpPr txBox="1"/>
            <p:nvPr/>
          </p:nvSpPr>
          <p:spPr>
            <a:xfrm>
              <a:off x="6510338" y="5916930"/>
              <a:ext cx="409346"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100–200​​</a:t>
              </a:r>
            </a:p>
          </p:txBody>
        </p:sp>
        <p:sp>
          <p:nvSpPr>
            <p:cNvPr id="123" name="Rectangle 123"/>
            <p:cNvSpPr/>
            <p:nvPr/>
          </p:nvSpPr>
          <p:spPr>
            <a:xfrm>
              <a:off x="6975348" y="5905500"/>
              <a:ext cx="85725" cy="85725"/>
            </a:xfrm>
            <a:prstGeom prst="rect">
              <a:avLst/>
            </a:prstGeom>
            <a:solidFill>
              <a:srgbClr val="6B1100"/>
            </a:solidFill>
            <a:ln>
              <a:noFill/>
            </a:ln>
          </p:spPr>
        </p:sp>
        <p:sp>
          <p:nvSpPr>
            <p:cNvPr id="124" name="TextBox 124"/>
            <p:cNvSpPr txBox="1"/>
            <p:nvPr/>
          </p:nvSpPr>
          <p:spPr>
            <a:xfrm>
              <a:off x="7103936" y="5916930"/>
              <a:ext cx="409346"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200–500​​</a:t>
              </a:r>
            </a:p>
          </p:txBody>
        </p:sp>
        <p:sp>
          <p:nvSpPr>
            <p:cNvPr id="125" name="Rectangle 125"/>
            <p:cNvSpPr/>
            <p:nvPr/>
          </p:nvSpPr>
          <p:spPr>
            <a:xfrm>
              <a:off x="7568946" y="5905500"/>
              <a:ext cx="85725" cy="85725"/>
            </a:xfrm>
            <a:prstGeom prst="rect">
              <a:avLst/>
            </a:prstGeom>
            <a:solidFill>
              <a:srgbClr val="4A150B"/>
            </a:solidFill>
            <a:ln>
              <a:noFill/>
            </a:ln>
          </p:spPr>
        </p:sp>
        <p:sp>
          <p:nvSpPr>
            <p:cNvPr id="126" name="TextBox 126"/>
            <p:cNvSpPr txBox="1"/>
            <p:nvPr/>
          </p:nvSpPr>
          <p:spPr>
            <a:xfrm>
              <a:off x="7697534" y="5916930"/>
              <a:ext cx="276073"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&gt;500​​</a:t>
              </a:r>
            </a:p>
          </p:txBody>
        </p:sp>
      </p:grpSp>
      <p:grpSp>
        <p:nvGrpSpPr>
          <p:cNvPr id="161" name="nav"/>
          <p:cNvGrpSpPr/>
          <p:nvPr/>
        </p:nvGrpSpPr>
        <p:grpSpPr>
          <a:xfrm>
            <a:off x="9834562" y="0"/>
            <a:ext cx="2357438" cy="6858000"/>
            <a:chOff x="9834562" y="0"/>
            <a:chExt cx="2357438" cy="6858000"/>
          </a:xfrm>
        </p:grpSpPr>
        <p:sp>
          <p:nvSpPr>
            <p:cNvPr id="128" name="Line 128"/>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29" name="Rectangle 129"/>
            <p:cNvSpPr/>
            <p:nvPr/>
          </p:nvSpPr>
          <p:spPr>
            <a:xfrm>
              <a:off x="9839325" y="476250"/>
              <a:ext cx="2352675" cy="514350"/>
            </a:xfrm>
            <a:prstGeom prst="rect">
              <a:avLst/>
            </a:prstGeom>
            <a:solidFill>
              <a:srgbClr val="F3F3F3"/>
            </a:solidFill>
            <a:ln>
              <a:noFill/>
            </a:ln>
          </p:spPr>
        </p:sp>
        <p:sp>
          <p:nvSpPr>
            <p:cNvPr id="130" name="TextBox 130"/>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31" name="Rectangle 131"/>
            <p:cNvSpPr/>
            <p:nvPr/>
          </p:nvSpPr>
          <p:spPr>
            <a:xfrm>
              <a:off x="9839325" y="1000125"/>
              <a:ext cx="2352675" cy="514350"/>
            </a:xfrm>
            <a:prstGeom prst="rect">
              <a:avLst/>
            </a:prstGeom>
            <a:solidFill>
              <a:srgbClr val="F3F3F3"/>
            </a:solidFill>
            <a:ln>
              <a:noFill/>
            </a:ln>
          </p:spPr>
        </p:sp>
        <p:sp>
          <p:nvSpPr>
            <p:cNvPr id="132" name="TextBox 132"/>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33" name="Rectangle 133"/>
            <p:cNvSpPr/>
            <p:nvPr/>
          </p:nvSpPr>
          <p:spPr>
            <a:xfrm>
              <a:off x="9839325" y="1524000"/>
              <a:ext cx="2352675" cy="514350"/>
            </a:xfrm>
            <a:prstGeom prst="rect">
              <a:avLst/>
            </a:prstGeom>
            <a:solidFill>
              <a:srgbClr val="F3F3F3"/>
            </a:solidFill>
            <a:ln>
              <a:noFill/>
            </a:ln>
          </p:spPr>
        </p:sp>
        <p:sp>
          <p:nvSpPr>
            <p:cNvPr id="134" name="TextBox 134"/>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35" name="Rectangle 135"/>
            <p:cNvSpPr/>
            <p:nvPr/>
          </p:nvSpPr>
          <p:spPr>
            <a:xfrm>
              <a:off x="9839325" y="2047875"/>
              <a:ext cx="2352675" cy="514350"/>
            </a:xfrm>
            <a:prstGeom prst="rect">
              <a:avLst/>
            </a:prstGeom>
            <a:solidFill>
              <a:srgbClr val="F3F3F3"/>
            </a:solidFill>
            <a:ln>
              <a:noFill/>
            </a:ln>
          </p:spPr>
        </p:sp>
        <p:sp>
          <p:nvSpPr>
            <p:cNvPr id="136" name="TextBox 136"/>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37" name="Rectangle 137"/>
            <p:cNvSpPr/>
            <p:nvPr/>
          </p:nvSpPr>
          <p:spPr>
            <a:xfrm>
              <a:off x="9839325" y="2571750"/>
              <a:ext cx="2352675" cy="514350"/>
            </a:xfrm>
            <a:prstGeom prst="rect">
              <a:avLst/>
            </a:prstGeom>
            <a:solidFill>
              <a:srgbClr val="F3F3F3"/>
            </a:solidFill>
            <a:ln>
              <a:noFill/>
            </a:ln>
          </p:spPr>
        </p:sp>
        <p:sp>
          <p:nvSpPr>
            <p:cNvPr id="138" name="TextBox 138"/>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39" name="Rectangle 139"/>
            <p:cNvSpPr/>
            <p:nvPr/>
          </p:nvSpPr>
          <p:spPr>
            <a:xfrm>
              <a:off x="9839325" y="3095625"/>
              <a:ext cx="2352675" cy="514350"/>
            </a:xfrm>
            <a:prstGeom prst="rect">
              <a:avLst/>
            </a:prstGeom>
            <a:solidFill>
              <a:srgbClr val="6B1100"/>
            </a:solidFill>
            <a:ln>
              <a:noFill/>
            </a:ln>
          </p:spPr>
        </p:sp>
        <p:sp>
          <p:nvSpPr>
            <p:cNvPr id="140" name="TextBox 140"/>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141" name="Rectangle 141"/>
            <p:cNvSpPr/>
            <p:nvPr/>
          </p:nvSpPr>
          <p:spPr>
            <a:xfrm>
              <a:off x="9839325" y="3619500"/>
              <a:ext cx="2352675" cy="514350"/>
            </a:xfrm>
            <a:prstGeom prst="rect">
              <a:avLst/>
            </a:prstGeom>
            <a:solidFill>
              <a:srgbClr val="F3F3F3"/>
            </a:solidFill>
            <a:ln>
              <a:noFill/>
            </a:ln>
          </p:spPr>
        </p:sp>
        <p:sp>
          <p:nvSpPr>
            <p:cNvPr id="142" name="TextBox 142"/>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43" name="Rectangle 143"/>
            <p:cNvSpPr/>
            <p:nvPr/>
          </p:nvSpPr>
          <p:spPr>
            <a:xfrm>
              <a:off x="9839325" y="4143375"/>
              <a:ext cx="2352675" cy="514350"/>
            </a:xfrm>
            <a:prstGeom prst="rect">
              <a:avLst/>
            </a:prstGeom>
            <a:solidFill>
              <a:srgbClr val="F3F3F3"/>
            </a:solidFill>
            <a:ln>
              <a:noFill/>
            </a:ln>
          </p:spPr>
        </p:sp>
        <p:sp>
          <p:nvSpPr>
            <p:cNvPr id="144" name="TextBox 144"/>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45" name="Rectangle 145"/>
            <p:cNvSpPr/>
            <p:nvPr/>
          </p:nvSpPr>
          <p:spPr>
            <a:xfrm>
              <a:off x="9839325" y="4667250"/>
              <a:ext cx="2352675" cy="514350"/>
            </a:xfrm>
            <a:prstGeom prst="rect">
              <a:avLst/>
            </a:prstGeom>
            <a:solidFill>
              <a:srgbClr val="F3F3F3"/>
            </a:solidFill>
            <a:ln>
              <a:noFill/>
            </a:ln>
          </p:spPr>
        </p:sp>
        <p:sp>
          <p:nvSpPr>
            <p:cNvPr id="146" name="TextBox 146"/>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47" name="Rectangle 147"/>
            <p:cNvSpPr/>
            <p:nvPr/>
          </p:nvSpPr>
          <p:spPr>
            <a:xfrm>
              <a:off x="9839325" y="5191125"/>
              <a:ext cx="2352675" cy="514350"/>
            </a:xfrm>
            <a:prstGeom prst="rect">
              <a:avLst/>
            </a:prstGeom>
            <a:solidFill>
              <a:srgbClr val="F3F3F3"/>
            </a:solidFill>
            <a:ln>
              <a:noFill/>
            </a:ln>
          </p:spPr>
        </p:sp>
        <p:sp>
          <p:nvSpPr>
            <p:cNvPr id="148" name="TextBox 148"/>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49" name="Rectangle 149"/>
            <p:cNvSpPr/>
            <p:nvPr/>
          </p:nvSpPr>
          <p:spPr>
            <a:xfrm>
              <a:off x="9839325" y="5715000"/>
              <a:ext cx="2352675" cy="514350"/>
            </a:xfrm>
            <a:prstGeom prst="rect">
              <a:avLst/>
            </a:prstGeom>
            <a:solidFill>
              <a:srgbClr val="F3F3F3"/>
            </a:solidFill>
            <a:ln>
              <a:noFill/>
            </a:ln>
          </p:spPr>
        </p:sp>
        <p:sp>
          <p:nvSpPr>
            <p:cNvPr id="150" name="TextBox 150"/>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51" name="Ellipse 151"/>
            <p:cNvSpPr/>
            <p:nvPr/>
          </p:nvSpPr>
          <p:spPr>
            <a:xfrm>
              <a:off x="10020300" y="6372225"/>
              <a:ext cx="266700" cy="266700"/>
            </a:xfrm>
            <a:prstGeom prst="ellipse">
              <a:avLst/>
            </a:prstGeom>
            <a:solidFill>
              <a:srgbClr val="D7D8D6"/>
            </a:solidFill>
            <a:ln>
              <a:noFill/>
            </a:ln>
          </p:spPr>
        </p:sp>
        <p:sp>
          <p:nvSpPr>
            <p:cNvPr id="152" name="Freeform 152"/>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53" name="Ellipse 153"/>
            <p:cNvSpPr/>
            <p:nvPr/>
          </p:nvSpPr>
          <p:spPr>
            <a:xfrm>
              <a:off x="10420350" y="6372225"/>
              <a:ext cx="266700" cy="266700"/>
            </a:xfrm>
            <a:prstGeom prst="ellipse">
              <a:avLst/>
            </a:prstGeom>
            <a:solidFill>
              <a:srgbClr val="D7D8D6"/>
            </a:solidFill>
            <a:ln>
              <a:noFill/>
            </a:ln>
          </p:spPr>
        </p:sp>
        <p:grpSp>
          <p:nvGrpSpPr>
            <p:cNvPr id="157" name="Group 157"/>
            <p:cNvGrpSpPr/>
            <p:nvPr/>
          </p:nvGrpSpPr>
          <p:grpSpPr>
            <a:xfrm>
              <a:off x="10489406" y="6441281"/>
              <a:ext cx="128588" cy="128588"/>
              <a:chOff x="10489406" y="6441281"/>
              <a:chExt cx="128588" cy="128588"/>
            </a:xfrm>
          </p:grpSpPr>
          <p:sp>
            <p:nvSpPr>
              <p:cNvPr id="154" name="Freeform 154"/>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55" name="Freeform 155"/>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56" name="Freeform 156"/>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58" name="Ellipse 158"/>
            <p:cNvSpPr/>
            <p:nvPr/>
          </p:nvSpPr>
          <p:spPr>
            <a:xfrm>
              <a:off x="10820400" y="6372225"/>
              <a:ext cx="266700" cy="266700"/>
            </a:xfrm>
            <a:prstGeom prst="ellipse">
              <a:avLst/>
            </a:prstGeom>
            <a:solidFill>
              <a:srgbClr val="D7D8D6"/>
            </a:solidFill>
            <a:ln>
              <a:noFill/>
            </a:ln>
          </p:spPr>
        </p:sp>
        <p:sp>
          <p:nvSpPr>
            <p:cNvPr id="159" name="Freeform 159"/>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60" name="TextBox 160"/>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25</a:t>
              </a:r>
            </a:p>
          </p:txBody>
        </p:sp>
      </p:gr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26</a:t>
              </a:r>
            </a:p>
          </p:txBody>
        </p:sp>
        <p:sp>
          <p:nvSpPr>
            <p:cNvPr id="4" name="TextBox 4"/>
            <p:cNvSpPr txBox="1"/>
            <p:nvPr/>
          </p:nvSpPr>
          <p:spPr>
            <a:xfrm>
              <a:off x="942594" y="151448"/>
              <a:ext cx="517261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内部审计</a:t>
              </a:r>
              <a:r>
                <a:rPr lang="zh-CN" sz="1950" b="1" dirty="0">
                  <a:solidFill>
                    <a:srgbClr val="1A1A1A"/>
                  </a:solidFill>
                  <a:latin typeface="+mj-lt"/>
                  <a:ea typeface="+mj-ea"/>
                  <a:cs typeface="+mj-cs"/>
                </a:rPr>
                <a:t>的角色与职责​</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1" name="lead"/>
          <p:cNvGrpSpPr/>
          <p:nvPr/>
        </p:nvGrpSpPr>
        <p:grpSpPr>
          <a:xfrm>
            <a:off x="566547" y="847249"/>
            <a:ext cx="6740043" cy="746283"/>
            <a:chOff x="566547" y="847249"/>
            <a:chExt cx="6740043" cy="746283"/>
          </a:xfrm>
        </p:grpSpPr>
        <p:sp>
          <p:nvSpPr>
            <p:cNvPr id="7" name="TextBox 7"/>
            <p:cNvSpPr txBox="1"/>
            <p:nvPr/>
          </p:nvSpPr>
          <p:spPr>
            <a:xfrm>
              <a:off x="566547" y="847249"/>
              <a:ext cx="1405370"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内部审计：角色与职责​</a:t>
              </a:r>
            </a:p>
          </p:txBody>
        </p:sp>
        <p:sp>
          <p:nvSpPr>
            <p:cNvPr id="8" name="TextBox 8"/>
            <p:cNvSpPr txBox="1"/>
            <p:nvPr/>
          </p:nvSpPr>
          <p:spPr>
            <a:xfrm>
              <a:off x="566738" y="1012984"/>
              <a:ext cx="1832340"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Internal audit: Role and responsibilities​</a:t>
              </a:r>
            </a:p>
          </p:txBody>
        </p:sp>
        <p:sp>
          <p:nvSpPr>
            <p:cNvPr id="9" name="TextBox 9"/>
            <p:cNvSpPr txBox="1"/>
            <p:nvPr/>
          </p:nvSpPr>
          <p:spPr>
            <a:xfrm>
              <a:off x="566738" y="1169670"/>
              <a:ext cx="6497536"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近几年，内部审计部门在模型风险管理框架中的角色更加突出。绝大多数银行表示内部审计在模型风险管理中发挥作用。​</a:t>
              </a:r>
            </a:p>
          </p:txBody>
        </p:sp>
        <p:sp>
          <p:nvSpPr>
            <p:cNvPr id="10" name="TextBox 10"/>
            <p:cNvSpPr txBox="1"/>
            <p:nvPr/>
          </p:nvSpPr>
          <p:spPr>
            <a:xfrm>
              <a:off x="566738" y="1417320"/>
              <a:ext cx="6739852" cy="176212"/>
            </a:xfrm>
            <a:prstGeom prst="rect">
              <a:avLst/>
            </a:prstGeom>
            <a:noFill/>
            <a:ln>
              <a:noFill/>
            </a:ln>
          </p:spPr>
          <p:txBody>
            <a:bodyPr wrap="none" lIns="0" tIns="0" rIns="0" bIns="0" anchor="t" anchorCtr="0">
              <a:spAutoFit/>
            </a:bodyPr>
            <a:lstStyle/>
            <a:p>
              <a:pPr algn="l"/>
              <a:r>
                <a:rPr lang="zh-CN" sz="900" dirty="0">
                  <a:solidFill>
                    <a:srgbClr val="333333"/>
                  </a:solidFill>
                  <a:latin typeface="+mn-lt"/>
                  <a:ea typeface="+mn-ea"/>
                  <a:cs typeface="+mn-cs"/>
                </a:rPr>
                <a:t>内部审计最常见的职责涉及评估是否建立了可用的模型风险管理政策、验证是否及时执行，以及是否符合模型风险管理政策。​</a:t>
              </a:r>
            </a:p>
          </p:txBody>
        </p:sp>
      </p:grpSp>
      <p:grpSp>
        <p:nvGrpSpPr>
          <p:cNvPr id="63" name="figure-30"/>
          <p:cNvGrpSpPr/>
          <p:nvPr/>
        </p:nvGrpSpPr>
        <p:grpSpPr>
          <a:xfrm>
            <a:off x="566738" y="1882616"/>
            <a:ext cx="8863012" cy="2981801"/>
            <a:chOff x="566738" y="1882616"/>
            <a:chExt cx="8863012" cy="2981801"/>
          </a:xfrm>
        </p:grpSpPr>
        <p:sp>
          <p:nvSpPr>
            <p:cNvPr id="12" name="TextBox 12"/>
            <p:cNvSpPr txBox="1"/>
            <p:nvPr/>
          </p:nvSpPr>
          <p:spPr>
            <a:xfrm>
              <a:off x="566738" y="1882616"/>
              <a:ext cx="2460423"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图30. 内部审计部门在模型风险方面的关键职责​​</a:t>
              </a:r>
            </a:p>
          </p:txBody>
        </p:sp>
        <p:sp>
          <p:nvSpPr>
            <p:cNvPr id="13" name="TextBox 13"/>
            <p:cNvSpPr txBox="1"/>
            <p:nvPr/>
          </p:nvSpPr>
          <p:spPr>
            <a:xfrm>
              <a:off x="566738" y="2026682"/>
              <a:ext cx="3217349"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Key responsibilities regarding model risk of the internal audit department​​</a:t>
              </a:r>
            </a:p>
          </p:txBody>
        </p:sp>
        <p:sp>
          <p:nvSpPr>
            <p:cNvPr id="14" name="Line 14"/>
            <p:cNvSpPr/>
            <p:nvPr/>
          </p:nvSpPr>
          <p:spPr>
            <a:xfrm>
              <a:off x="1047750" y="44767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15" name="TextBox 15"/>
            <p:cNvSpPr txBox="1"/>
            <p:nvPr/>
          </p:nvSpPr>
          <p:spPr>
            <a:xfrm>
              <a:off x="835972" y="4441269"/>
              <a:ext cx="168915"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0%​</a:t>
              </a:r>
            </a:p>
          </p:txBody>
        </p:sp>
        <p:sp>
          <p:nvSpPr>
            <p:cNvPr id="16" name="Line 16"/>
            <p:cNvSpPr/>
            <p:nvPr/>
          </p:nvSpPr>
          <p:spPr>
            <a:xfrm>
              <a:off x="1047750" y="42672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17" name="TextBox 17"/>
            <p:cNvSpPr txBox="1"/>
            <p:nvPr/>
          </p:nvSpPr>
          <p:spPr>
            <a:xfrm>
              <a:off x="788586" y="42317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10%​</a:t>
              </a:r>
            </a:p>
          </p:txBody>
        </p:sp>
        <p:sp>
          <p:nvSpPr>
            <p:cNvPr id="18" name="Line 18"/>
            <p:cNvSpPr/>
            <p:nvPr/>
          </p:nvSpPr>
          <p:spPr>
            <a:xfrm>
              <a:off x="1047750" y="40576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19" name="TextBox 19"/>
            <p:cNvSpPr txBox="1"/>
            <p:nvPr/>
          </p:nvSpPr>
          <p:spPr>
            <a:xfrm>
              <a:off x="788586" y="402216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20%​</a:t>
              </a:r>
            </a:p>
          </p:txBody>
        </p:sp>
        <p:sp>
          <p:nvSpPr>
            <p:cNvPr id="20" name="Line 20"/>
            <p:cNvSpPr/>
            <p:nvPr/>
          </p:nvSpPr>
          <p:spPr>
            <a:xfrm>
              <a:off x="1047750" y="38481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1" name="TextBox 21"/>
            <p:cNvSpPr txBox="1"/>
            <p:nvPr/>
          </p:nvSpPr>
          <p:spPr>
            <a:xfrm>
              <a:off x="788586" y="38126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30%​</a:t>
              </a:r>
            </a:p>
          </p:txBody>
        </p:sp>
        <p:sp>
          <p:nvSpPr>
            <p:cNvPr id="22" name="Line 22"/>
            <p:cNvSpPr/>
            <p:nvPr/>
          </p:nvSpPr>
          <p:spPr>
            <a:xfrm>
              <a:off x="1047750" y="36385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3" name="TextBox 23"/>
            <p:cNvSpPr txBox="1"/>
            <p:nvPr/>
          </p:nvSpPr>
          <p:spPr>
            <a:xfrm>
              <a:off x="788586" y="360306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40%​</a:t>
              </a:r>
            </a:p>
          </p:txBody>
        </p:sp>
        <p:sp>
          <p:nvSpPr>
            <p:cNvPr id="24" name="Line 24"/>
            <p:cNvSpPr/>
            <p:nvPr/>
          </p:nvSpPr>
          <p:spPr>
            <a:xfrm>
              <a:off x="1047750" y="34290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5" name="TextBox 25"/>
            <p:cNvSpPr txBox="1"/>
            <p:nvPr/>
          </p:nvSpPr>
          <p:spPr>
            <a:xfrm>
              <a:off x="788586" y="33935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50%​</a:t>
              </a:r>
            </a:p>
          </p:txBody>
        </p:sp>
        <p:sp>
          <p:nvSpPr>
            <p:cNvPr id="26" name="Line 26"/>
            <p:cNvSpPr/>
            <p:nvPr/>
          </p:nvSpPr>
          <p:spPr>
            <a:xfrm>
              <a:off x="1047750" y="32194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7" name="TextBox 27"/>
            <p:cNvSpPr txBox="1"/>
            <p:nvPr/>
          </p:nvSpPr>
          <p:spPr>
            <a:xfrm>
              <a:off x="788586" y="318396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60%​</a:t>
              </a:r>
            </a:p>
          </p:txBody>
        </p:sp>
        <p:sp>
          <p:nvSpPr>
            <p:cNvPr id="28" name="Line 28"/>
            <p:cNvSpPr/>
            <p:nvPr/>
          </p:nvSpPr>
          <p:spPr>
            <a:xfrm>
              <a:off x="1047750" y="30099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29" name="TextBox 29"/>
            <p:cNvSpPr txBox="1"/>
            <p:nvPr/>
          </p:nvSpPr>
          <p:spPr>
            <a:xfrm>
              <a:off x="788586" y="29744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70%​</a:t>
              </a:r>
            </a:p>
          </p:txBody>
        </p:sp>
        <p:sp>
          <p:nvSpPr>
            <p:cNvPr id="30" name="Line 30"/>
            <p:cNvSpPr/>
            <p:nvPr/>
          </p:nvSpPr>
          <p:spPr>
            <a:xfrm>
              <a:off x="1047750" y="28003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31" name="TextBox 31"/>
            <p:cNvSpPr txBox="1"/>
            <p:nvPr/>
          </p:nvSpPr>
          <p:spPr>
            <a:xfrm>
              <a:off x="788586" y="276486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80%​</a:t>
              </a:r>
            </a:p>
          </p:txBody>
        </p:sp>
        <p:sp>
          <p:nvSpPr>
            <p:cNvPr id="32" name="Line 32"/>
            <p:cNvSpPr/>
            <p:nvPr/>
          </p:nvSpPr>
          <p:spPr>
            <a:xfrm>
              <a:off x="1047750" y="259080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33" name="TextBox 33"/>
            <p:cNvSpPr txBox="1"/>
            <p:nvPr/>
          </p:nvSpPr>
          <p:spPr>
            <a:xfrm>
              <a:off x="788586" y="25553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90%​</a:t>
              </a:r>
            </a:p>
          </p:txBody>
        </p:sp>
        <p:sp>
          <p:nvSpPr>
            <p:cNvPr id="34" name="Line 34"/>
            <p:cNvSpPr/>
            <p:nvPr/>
          </p:nvSpPr>
          <p:spPr>
            <a:xfrm>
              <a:off x="1047750" y="2381250"/>
              <a:ext cx="8382000" cy="9525"/>
            </a:xfrm>
            <a:custGeom>
              <a:avLst/>
              <a:gdLst/>
              <a:ahLst/>
              <a:cxnLst/>
              <a:rect l="l" t="t" r="r" b="b"/>
              <a:pathLst>
                <a:path w="8382000" h="9525">
                  <a:moveTo>
                    <a:pt x="0" y="0"/>
                  </a:moveTo>
                  <a:lnTo>
                    <a:pt x="8382000" y="0"/>
                  </a:lnTo>
                </a:path>
              </a:pathLst>
            </a:custGeom>
            <a:noFill/>
            <a:ln w="7620">
              <a:solidFill>
                <a:srgbClr val="E6E6E6"/>
              </a:solidFill>
            </a:ln>
          </p:spPr>
        </p:sp>
        <p:sp>
          <p:nvSpPr>
            <p:cNvPr id="35" name="TextBox 35"/>
            <p:cNvSpPr txBox="1"/>
            <p:nvPr/>
          </p:nvSpPr>
          <p:spPr>
            <a:xfrm>
              <a:off x="741200" y="2345769"/>
              <a:ext cx="263688"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100%​</a:t>
              </a:r>
            </a:p>
          </p:txBody>
        </p:sp>
        <p:sp>
          <p:nvSpPr>
            <p:cNvPr id="36" name="Rectangle 36"/>
            <p:cNvSpPr/>
            <p:nvPr/>
          </p:nvSpPr>
          <p:spPr>
            <a:xfrm>
              <a:off x="1323022" y="2821305"/>
              <a:ext cx="381000" cy="1655445"/>
            </a:xfrm>
            <a:prstGeom prst="rect">
              <a:avLst/>
            </a:prstGeom>
            <a:solidFill>
              <a:srgbClr val="AA1B00"/>
            </a:solidFill>
            <a:ln>
              <a:noFill/>
            </a:ln>
          </p:spPr>
        </p:sp>
        <p:sp>
          <p:nvSpPr>
            <p:cNvPr id="37" name="TextBox 37"/>
            <p:cNvSpPr txBox="1"/>
            <p:nvPr/>
          </p:nvSpPr>
          <p:spPr>
            <a:xfrm>
              <a:off x="1394064" y="271581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79%​</a:t>
              </a:r>
            </a:p>
          </p:txBody>
        </p:sp>
        <p:sp>
          <p:nvSpPr>
            <p:cNvPr id="38" name="TextBox 38"/>
            <p:cNvSpPr txBox="1"/>
            <p:nvPr/>
          </p:nvSpPr>
          <p:spPr>
            <a:xfrm>
              <a:off x="1144905" y="4535805"/>
              <a:ext cx="7372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核实已建立可接受的​</a:t>
              </a:r>
              <a:br/>
              <a:r>
                <a:rPr lang="zh-CN" sz="600" dirty="0">
                  <a:solidFill>
                    <a:srgbClr val="666666"/>
                  </a:solidFill>
                  <a:latin typeface="+mn-lt"/>
                  <a:ea typeface="+mn-ea"/>
                  <a:cs typeface="+mn-cs"/>
                </a:rPr>
                <a:t>模型风险管理实践​</a:t>
              </a:r>
            </a:p>
          </p:txBody>
        </p:sp>
        <p:sp>
          <p:nvSpPr>
            <p:cNvPr id="39" name="Rectangle 39"/>
            <p:cNvSpPr/>
            <p:nvPr/>
          </p:nvSpPr>
          <p:spPr>
            <a:xfrm>
              <a:off x="2254568" y="2842260"/>
              <a:ext cx="381000" cy="1634490"/>
            </a:xfrm>
            <a:prstGeom prst="rect">
              <a:avLst/>
            </a:prstGeom>
            <a:solidFill>
              <a:srgbClr val="AA1B00"/>
            </a:solidFill>
            <a:ln>
              <a:noFill/>
            </a:ln>
          </p:spPr>
        </p:sp>
        <p:sp>
          <p:nvSpPr>
            <p:cNvPr id="40" name="TextBox 40"/>
            <p:cNvSpPr txBox="1"/>
            <p:nvPr/>
          </p:nvSpPr>
          <p:spPr>
            <a:xfrm>
              <a:off x="2325609" y="273677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78%​</a:t>
              </a:r>
            </a:p>
          </p:txBody>
        </p:sp>
        <p:sp>
          <p:nvSpPr>
            <p:cNvPr id="41" name="TextBox 41"/>
            <p:cNvSpPr txBox="1"/>
            <p:nvPr/>
          </p:nvSpPr>
          <p:spPr>
            <a:xfrm>
              <a:off x="2038350" y="4535805"/>
              <a:ext cx="81343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评估验证是否恰当及时​</a:t>
              </a:r>
              <a:br/>
              <a:r>
                <a:rPr lang="zh-CN" sz="600" dirty="0">
                  <a:solidFill>
                    <a:srgbClr val="666666"/>
                  </a:solidFill>
                  <a:latin typeface="+mn-lt"/>
                  <a:ea typeface="+mn-ea"/>
                  <a:cs typeface="+mn-cs"/>
                </a:rPr>
                <a:t>完成，并进行了适当​</a:t>
              </a:r>
              <a:br/>
              <a:r>
                <a:rPr lang="zh-CN" sz="600" dirty="0">
                  <a:solidFill>
                    <a:srgbClr val="666666"/>
                  </a:solidFill>
                  <a:latin typeface="+mn-lt"/>
                  <a:ea typeface="+mn-ea"/>
                  <a:cs typeface="+mn-cs"/>
                </a:rPr>
                <a:t>有效的挑战​</a:t>
              </a:r>
            </a:p>
          </p:txBody>
        </p:sp>
        <p:sp>
          <p:nvSpPr>
            <p:cNvPr id="42" name="Rectangle 42"/>
            <p:cNvSpPr/>
            <p:nvPr/>
          </p:nvSpPr>
          <p:spPr>
            <a:xfrm>
              <a:off x="3185160" y="3051810"/>
              <a:ext cx="381000" cy="1424940"/>
            </a:xfrm>
            <a:prstGeom prst="rect">
              <a:avLst/>
            </a:prstGeom>
            <a:solidFill>
              <a:srgbClr val="AA1B00"/>
            </a:solidFill>
            <a:ln>
              <a:noFill/>
            </a:ln>
          </p:spPr>
        </p:sp>
        <p:sp>
          <p:nvSpPr>
            <p:cNvPr id="43" name="TextBox 43"/>
            <p:cNvSpPr txBox="1"/>
            <p:nvPr/>
          </p:nvSpPr>
          <p:spPr>
            <a:xfrm>
              <a:off x="3256201" y="294632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68%​</a:t>
              </a:r>
            </a:p>
          </p:txBody>
        </p:sp>
        <p:sp>
          <p:nvSpPr>
            <p:cNvPr id="44" name="TextBox 44"/>
            <p:cNvSpPr txBox="1"/>
            <p:nvPr/>
          </p:nvSpPr>
          <p:spPr>
            <a:xfrm>
              <a:off x="2968942" y="4535805"/>
              <a:ext cx="8134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核实模型所有者与控制​</a:t>
              </a:r>
              <a:br/>
              <a:r>
                <a:rPr lang="zh-CN" sz="600" dirty="0">
                  <a:solidFill>
                    <a:srgbClr val="666666"/>
                  </a:solidFill>
                  <a:latin typeface="+mn-lt"/>
                  <a:ea typeface="+mn-ea"/>
                  <a:cs typeface="+mn-cs"/>
                </a:rPr>
                <a:t>职能遵守这些政策​</a:t>
              </a:r>
            </a:p>
          </p:txBody>
        </p:sp>
        <p:sp>
          <p:nvSpPr>
            <p:cNvPr id="45" name="Rectangle 45"/>
            <p:cNvSpPr/>
            <p:nvPr/>
          </p:nvSpPr>
          <p:spPr>
            <a:xfrm>
              <a:off x="4116705" y="3491865"/>
              <a:ext cx="381000" cy="984885"/>
            </a:xfrm>
            <a:prstGeom prst="rect">
              <a:avLst/>
            </a:prstGeom>
            <a:solidFill>
              <a:srgbClr val="AA1B00"/>
            </a:solidFill>
            <a:ln>
              <a:noFill/>
            </a:ln>
          </p:spPr>
        </p:sp>
        <p:sp>
          <p:nvSpPr>
            <p:cNvPr id="46" name="TextBox 46"/>
            <p:cNvSpPr txBox="1"/>
            <p:nvPr/>
          </p:nvSpPr>
          <p:spPr>
            <a:xfrm>
              <a:off x="4187746" y="338637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47%​</a:t>
              </a:r>
            </a:p>
          </p:txBody>
        </p:sp>
        <p:sp>
          <p:nvSpPr>
            <p:cNvPr id="47" name="TextBox 47"/>
            <p:cNvSpPr txBox="1"/>
            <p:nvPr/>
          </p:nvSpPr>
          <p:spPr>
            <a:xfrm>
              <a:off x="4052888" y="4535805"/>
              <a:ext cx="5086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核查模型清单​</a:t>
              </a:r>
              <a:br/>
              <a:r>
                <a:rPr lang="zh-CN" sz="600" dirty="0">
                  <a:solidFill>
                    <a:srgbClr val="666666"/>
                  </a:solidFill>
                  <a:latin typeface="+mn-lt"/>
                  <a:ea typeface="+mn-ea"/>
                  <a:cs typeface="+mn-cs"/>
                </a:rPr>
                <a:t>的完整性​</a:t>
              </a:r>
            </a:p>
          </p:txBody>
        </p:sp>
        <p:sp>
          <p:nvSpPr>
            <p:cNvPr id="48" name="Rectangle 48"/>
            <p:cNvSpPr/>
            <p:nvPr/>
          </p:nvSpPr>
          <p:spPr>
            <a:xfrm>
              <a:off x="5048250" y="3533775"/>
              <a:ext cx="381000" cy="942975"/>
            </a:xfrm>
            <a:prstGeom prst="rect">
              <a:avLst/>
            </a:prstGeom>
            <a:solidFill>
              <a:srgbClr val="AA1B00"/>
            </a:solidFill>
            <a:ln>
              <a:noFill/>
            </a:ln>
          </p:spPr>
        </p:sp>
        <p:sp>
          <p:nvSpPr>
            <p:cNvPr id="49" name="TextBox 49"/>
            <p:cNvSpPr txBox="1"/>
            <p:nvPr/>
          </p:nvSpPr>
          <p:spPr>
            <a:xfrm>
              <a:off x="5119291" y="342828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45%​</a:t>
              </a:r>
            </a:p>
          </p:txBody>
        </p:sp>
        <p:sp>
          <p:nvSpPr>
            <p:cNvPr id="50" name="TextBox 50"/>
            <p:cNvSpPr txBox="1"/>
            <p:nvPr/>
          </p:nvSpPr>
          <p:spPr>
            <a:xfrm>
              <a:off x="4832032" y="4535805"/>
              <a:ext cx="8134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核查模型所有者与控制​</a:t>
              </a:r>
              <a:br/>
              <a:r>
                <a:rPr lang="zh-CN" sz="600" dirty="0">
                  <a:solidFill>
                    <a:srgbClr val="666666"/>
                  </a:solidFill>
                  <a:latin typeface="+mn-lt"/>
                  <a:ea typeface="+mn-ea"/>
                  <a:cs typeface="+mn-cs"/>
                </a:rPr>
                <a:t>小组符合文档标准​</a:t>
              </a:r>
            </a:p>
          </p:txBody>
        </p:sp>
        <p:sp>
          <p:nvSpPr>
            <p:cNvPr id="51" name="Rectangle 51"/>
            <p:cNvSpPr/>
            <p:nvPr/>
          </p:nvSpPr>
          <p:spPr>
            <a:xfrm>
              <a:off x="5979795" y="3743325"/>
              <a:ext cx="381000" cy="733425"/>
            </a:xfrm>
            <a:prstGeom prst="rect">
              <a:avLst/>
            </a:prstGeom>
            <a:solidFill>
              <a:srgbClr val="AA1B00"/>
            </a:solidFill>
            <a:ln>
              <a:noFill/>
            </a:ln>
          </p:spPr>
        </p:sp>
        <p:sp>
          <p:nvSpPr>
            <p:cNvPr id="52" name="TextBox 52"/>
            <p:cNvSpPr txBox="1"/>
            <p:nvPr/>
          </p:nvSpPr>
          <p:spPr>
            <a:xfrm>
              <a:off x="6050836" y="3637836"/>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35%​</a:t>
              </a:r>
            </a:p>
          </p:txBody>
        </p:sp>
        <p:sp>
          <p:nvSpPr>
            <p:cNvPr id="53" name="TextBox 53"/>
            <p:cNvSpPr txBox="1"/>
            <p:nvPr/>
          </p:nvSpPr>
          <p:spPr>
            <a:xfrm>
              <a:off x="5901004" y="4535805"/>
              <a:ext cx="538582"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核实模型使用​</a:t>
              </a:r>
            </a:p>
          </p:txBody>
        </p:sp>
        <p:sp>
          <p:nvSpPr>
            <p:cNvPr id="54" name="Rectangle 54"/>
            <p:cNvSpPr/>
            <p:nvPr/>
          </p:nvSpPr>
          <p:spPr>
            <a:xfrm>
              <a:off x="6911340" y="4015740"/>
              <a:ext cx="381000" cy="461010"/>
            </a:xfrm>
            <a:prstGeom prst="rect">
              <a:avLst/>
            </a:prstGeom>
            <a:solidFill>
              <a:srgbClr val="AA1B00"/>
            </a:solidFill>
            <a:ln>
              <a:noFill/>
            </a:ln>
          </p:spPr>
        </p:sp>
        <p:sp>
          <p:nvSpPr>
            <p:cNvPr id="55" name="TextBox 55"/>
            <p:cNvSpPr txBox="1"/>
            <p:nvPr/>
          </p:nvSpPr>
          <p:spPr>
            <a:xfrm>
              <a:off x="6982381" y="391025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22%​</a:t>
              </a:r>
            </a:p>
          </p:txBody>
        </p:sp>
        <p:sp>
          <p:nvSpPr>
            <p:cNvPr id="56" name="TextBox 56"/>
            <p:cNvSpPr txBox="1"/>
            <p:nvPr/>
          </p:nvSpPr>
          <p:spPr>
            <a:xfrm>
              <a:off x="6733222" y="4535805"/>
              <a:ext cx="7372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评估建立并监控模型​</a:t>
              </a:r>
              <a:br/>
              <a:r>
                <a:rPr lang="zh-CN" sz="600" dirty="0">
                  <a:solidFill>
                    <a:srgbClr val="666666"/>
                  </a:solidFill>
                  <a:latin typeface="+mn-lt"/>
                  <a:ea typeface="+mn-ea"/>
                  <a:cs typeface="+mn-cs"/>
                </a:rPr>
                <a:t>使用限额的流程​</a:t>
              </a:r>
            </a:p>
          </p:txBody>
        </p:sp>
        <p:sp>
          <p:nvSpPr>
            <p:cNvPr id="57" name="Rectangle 57"/>
            <p:cNvSpPr/>
            <p:nvPr/>
          </p:nvSpPr>
          <p:spPr>
            <a:xfrm>
              <a:off x="7841932" y="4015740"/>
              <a:ext cx="381000" cy="461010"/>
            </a:xfrm>
            <a:prstGeom prst="rect">
              <a:avLst/>
            </a:prstGeom>
            <a:solidFill>
              <a:srgbClr val="AA1B00"/>
            </a:solidFill>
            <a:ln>
              <a:noFill/>
            </a:ln>
          </p:spPr>
        </p:sp>
        <p:sp>
          <p:nvSpPr>
            <p:cNvPr id="58" name="TextBox 58"/>
            <p:cNvSpPr txBox="1"/>
            <p:nvPr/>
          </p:nvSpPr>
          <p:spPr>
            <a:xfrm>
              <a:off x="7912974" y="3910251"/>
              <a:ext cx="238917"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22%​</a:t>
              </a:r>
            </a:p>
          </p:txBody>
        </p:sp>
        <p:sp>
          <p:nvSpPr>
            <p:cNvPr id="59" name="TextBox 59"/>
            <p:cNvSpPr txBox="1"/>
            <p:nvPr/>
          </p:nvSpPr>
          <p:spPr>
            <a:xfrm>
              <a:off x="7854315" y="4535805"/>
              <a:ext cx="3562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评估模型​</a:t>
              </a:r>
              <a:br/>
              <a:r>
                <a:rPr lang="zh-CN" sz="600" dirty="0">
                  <a:solidFill>
                    <a:srgbClr val="666666"/>
                  </a:solidFill>
                  <a:latin typeface="+mn-lt"/>
                  <a:ea typeface="+mn-ea"/>
                  <a:cs typeface="+mn-cs"/>
                </a:rPr>
                <a:t>风险评级​</a:t>
              </a:r>
            </a:p>
          </p:txBody>
        </p:sp>
        <p:sp>
          <p:nvSpPr>
            <p:cNvPr id="60" name="TextBox 60"/>
            <p:cNvSpPr txBox="1"/>
            <p:nvPr/>
          </p:nvSpPr>
          <p:spPr>
            <a:xfrm>
              <a:off x="8870803" y="4371261"/>
              <a:ext cx="186348" cy="140494"/>
            </a:xfrm>
            <a:prstGeom prst="rect">
              <a:avLst/>
            </a:prstGeom>
            <a:noFill/>
            <a:ln>
              <a:noFill/>
            </a:ln>
          </p:spPr>
          <p:txBody>
            <a:bodyPr wrap="none" lIns="0" tIns="0" rIns="0" bIns="0" anchor="t" anchorCtr="0">
              <a:spAutoFit/>
            </a:bodyPr>
            <a:lstStyle/>
            <a:p>
              <a:pPr algn="ctr"/>
              <a:r>
                <a:rPr lang="zh-CN" sz="710" dirty="0">
                  <a:solidFill>
                    <a:srgbClr val="1A1A1A"/>
                  </a:solidFill>
                  <a:latin typeface="+mn-lt"/>
                  <a:ea typeface="+mn-ea"/>
                  <a:cs typeface="+mn-cs"/>
                </a:rPr>
                <a:t>0%​</a:t>
              </a:r>
            </a:p>
          </p:txBody>
        </p:sp>
        <p:sp>
          <p:nvSpPr>
            <p:cNvPr id="61" name="TextBox 61"/>
            <p:cNvSpPr txBox="1"/>
            <p:nvPr/>
          </p:nvSpPr>
          <p:spPr>
            <a:xfrm>
              <a:off x="8671560" y="4535805"/>
              <a:ext cx="5848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分析特定模型的​</a:t>
              </a:r>
              <a:br/>
              <a:r>
                <a:rPr lang="zh-CN" sz="600" dirty="0">
                  <a:solidFill>
                    <a:srgbClr val="666666"/>
                  </a:solidFill>
                  <a:latin typeface="+mn-lt"/>
                  <a:ea typeface="+mn-ea"/>
                  <a:cs typeface="+mn-cs"/>
                </a:rPr>
                <a:t>方法论与假设​</a:t>
              </a:r>
            </a:p>
          </p:txBody>
        </p:sp>
        <p:sp>
          <p:nvSpPr>
            <p:cNvPr id="62" name="Line 62"/>
            <p:cNvSpPr/>
            <p:nvPr/>
          </p:nvSpPr>
          <p:spPr>
            <a:xfrm>
              <a:off x="1047750" y="4476750"/>
              <a:ext cx="8382000" cy="9525"/>
            </a:xfrm>
            <a:custGeom>
              <a:avLst/>
              <a:gdLst/>
              <a:ahLst/>
              <a:cxnLst/>
              <a:rect l="l" t="t" r="r" b="b"/>
              <a:pathLst>
                <a:path w="8382000" h="9525">
                  <a:moveTo>
                    <a:pt x="0" y="0"/>
                  </a:moveTo>
                  <a:lnTo>
                    <a:pt x="8382000" y="0"/>
                  </a:lnTo>
                </a:path>
              </a:pathLst>
            </a:custGeom>
            <a:noFill/>
            <a:ln w="9525">
              <a:solidFill>
                <a:srgbClr val="666666"/>
              </a:solidFill>
            </a:ln>
          </p:spPr>
        </p:sp>
      </p:grpSp>
      <p:grpSp>
        <p:nvGrpSpPr>
          <p:cNvPr id="97" name="nav"/>
          <p:cNvGrpSpPr/>
          <p:nvPr/>
        </p:nvGrpSpPr>
        <p:grpSpPr>
          <a:xfrm>
            <a:off x="9834562" y="0"/>
            <a:ext cx="2357438" cy="6858000"/>
            <a:chOff x="9834562" y="0"/>
            <a:chExt cx="2357438" cy="6858000"/>
          </a:xfrm>
        </p:grpSpPr>
        <p:sp>
          <p:nvSpPr>
            <p:cNvPr id="64" name="Line 64"/>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65" name="Rectangle 65"/>
            <p:cNvSpPr/>
            <p:nvPr/>
          </p:nvSpPr>
          <p:spPr>
            <a:xfrm>
              <a:off x="9839325" y="476250"/>
              <a:ext cx="2352675" cy="514350"/>
            </a:xfrm>
            <a:prstGeom prst="rect">
              <a:avLst/>
            </a:prstGeom>
            <a:solidFill>
              <a:srgbClr val="F3F3F3"/>
            </a:solidFill>
            <a:ln>
              <a:noFill/>
            </a:ln>
          </p:spPr>
        </p:sp>
        <p:sp>
          <p:nvSpPr>
            <p:cNvPr id="66" name="TextBox 66"/>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67" name="Rectangle 67"/>
            <p:cNvSpPr/>
            <p:nvPr/>
          </p:nvSpPr>
          <p:spPr>
            <a:xfrm>
              <a:off x="9839325" y="1000125"/>
              <a:ext cx="2352675" cy="514350"/>
            </a:xfrm>
            <a:prstGeom prst="rect">
              <a:avLst/>
            </a:prstGeom>
            <a:solidFill>
              <a:srgbClr val="F3F3F3"/>
            </a:solidFill>
            <a:ln>
              <a:noFill/>
            </a:ln>
          </p:spPr>
        </p:sp>
        <p:sp>
          <p:nvSpPr>
            <p:cNvPr id="68" name="TextBox 68"/>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69" name="Rectangle 69"/>
            <p:cNvSpPr/>
            <p:nvPr/>
          </p:nvSpPr>
          <p:spPr>
            <a:xfrm>
              <a:off x="9839325" y="1524000"/>
              <a:ext cx="2352675" cy="514350"/>
            </a:xfrm>
            <a:prstGeom prst="rect">
              <a:avLst/>
            </a:prstGeom>
            <a:solidFill>
              <a:srgbClr val="F3F3F3"/>
            </a:solidFill>
            <a:ln>
              <a:noFill/>
            </a:ln>
          </p:spPr>
        </p:sp>
        <p:sp>
          <p:nvSpPr>
            <p:cNvPr id="70" name="TextBox 70"/>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71" name="Rectangle 71"/>
            <p:cNvSpPr/>
            <p:nvPr/>
          </p:nvSpPr>
          <p:spPr>
            <a:xfrm>
              <a:off x="9839325" y="2047875"/>
              <a:ext cx="2352675" cy="514350"/>
            </a:xfrm>
            <a:prstGeom prst="rect">
              <a:avLst/>
            </a:prstGeom>
            <a:solidFill>
              <a:srgbClr val="F3F3F3"/>
            </a:solidFill>
            <a:ln>
              <a:noFill/>
            </a:ln>
          </p:spPr>
        </p:sp>
        <p:sp>
          <p:nvSpPr>
            <p:cNvPr id="72" name="TextBox 72"/>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73" name="Rectangle 73"/>
            <p:cNvSpPr/>
            <p:nvPr/>
          </p:nvSpPr>
          <p:spPr>
            <a:xfrm>
              <a:off x="9839325" y="2571750"/>
              <a:ext cx="2352675" cy="514350"/>
            </a:xfrm>
            <a:prstGeom prst="rect">
              <a:avLst/>
            </a:prstGeom>
            <a:solidFill>
              <a:srgbClr val="F3F3F3"/>
            </a:solidFill>
            <a:ln>
              <a:noFill/>
            </a:ln>
          </p:spPr>
        </p:sp>
        <p:sp>
          <p:nvSpPr>
            <p:cNvPr id="74" name="TextBox 74"/>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75" name="Rectangle 75"/>
            <p:cNvSpPr/>
            <p:nvPr/>
          </p:nvSpPr>
          <p:spPr>
            <a:xfrm>
              <a:off x="9839325" y="3095625"/>
              <a:ext cx="2352675" cy="514350"/>
            </a:xfrm>
            <a:prstGeom prst="rect">
              <a:avLst/>
            </a:prstGeom>
            <a:solidFill>
              <a:srgbClr val="6B1100"/>
            </a:solidFill>
            <a:ln>
              <a:noFill/>
            </a:ln>
          </p:spPr>
        </p:sp>
        <p:sp>
          <p:nvSpPr>
            <p:cNvPr id="76" name="TextBox 76"/>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77" name="Rectangle 77"/>
            <p:cNvSpPr/>
            <p:nvPr/>
          </p:nvSpPr>
          <p:spPr>
            <a:xfrm>
              <a:off x="9839325" y="3619500"/>
              <a:ext cx="2352675" cy="514350"/>
            </a:xfrm>
            <a:prstGeom prst="rect">
              <a:avLst/>
            </a:prstGeom>
            <a:solidFill>
              <a:srgbClr val="F3F3F3"/>
            </a:solidFill>
            <a:ln>
              <a:noFill/>
            </a:ln>
          </p:spPr>
        </p:sp>
        <p:sp>
          <p:nvSpPr>
            <p:cNvPr id="78" name="TextBox 78"/>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79" name="Rectangle 79"/>
            <p:cNvSpPr/>
            <p:nvPr/>
          </p:nvSpPr>
          <p:spPr>
            <a:xfrm>
              <a:off x="9839325" y="4143375"/>
              <a:ext cx="2352675" cy="514350"/>
            </a:xfrm>
            <a:prstGeom prst="rect">
              <a:avLst/>
            </a:prstGeom>
            <a:solidFill>
              <a:srgbClr val="F3F3F3"/>
            </a:solidFill>
            <a:ln>
              <a:noFill/>
            </a:ln>
          </p:spPr>
        </p:sp>
        <p:sp>
          <p:nvSpPr>
            <p:cNvPr id="80" name="TextBox 80"/>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81" name="Rectangle 81"/>
            <p:cNvSpPr/>
            <p:nvPr/>
          </p:nvSpPr>
          <p:spPr>
            <a:xfrm>
              <a:off x="9839325" y="4667250"/>
              <a:ext cx="2352675" cy="514350"/>
            </a:xfrm>
            <a:prstGeom prst="rect">
              <a:avLst/>
            </a:prstGeom>
            <a:solidFill>
              <a:srgbClr val="F3F3F3"/>
            </a:solidFill>
            <a:ln>
              <a:noFill/>
            </a:ln>
          </p:spPr>
        </p:sp>
        <p:sp>
          <p:nvSpPr>
            <p:cNvPr id="82" name="TextBox 82"/>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83" name="Rectangle 83"/>
            <p:cNvSpPr/>
            <p:nvPr/>
          </p:nvSpPr>
          <p:spPr>
            <a:xfrm>
              <a:off x="9839325" y="5191125"/>
              <a:ext cx="2352675" cy="514350"/>
            </a:xfrm>
            <a:prstGeom prst="rect">
              <a:avLst/>
            </a:prstGeom>
            <a:solidFill>
              <a:srgbClr val="F3F3F3"/>
            </a:solidFill>
            <a:ln>
              <a:noFill/>
            </a:ln>
          </p:spPr>
        </p:sp>
        <p:sp>
          <p:nvSpPr>
            <p:cNvPr id="84" name="TextBox 84"/>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85" name="Rectangle 85"/>
            <p:cNvSpPr/>
            <p:nvPr/>
          </p:nvSpPr>
          <p:spPr>
            <a:xfrm>
              <a:off x="9839325" y="5715000"/>
              <a:ext cx="2352675" cy="514350"/>
            </a:xfrm>
            <a:prstGeom prst="rect">
              <a:avLst/>
            </a:prstGeom>
            <a:solidFill>
              <a:srgbClr val="F3F3F3"/>
            </a:solidFill>
            <a:ln>
              <a:noFill/>
            </a:ln>
          </p:spPr>
        </p:sp>
        <p:sp>
          <p:nvSpPr>
            <p:cNvPr id="86" name="TextBox 86"/>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87" name="Ellipse 87"/>
            <p:cNvSpPr/>
            <p:nvPr/>
          </p:nvSpPr>
          <p:spPr>
            <a:xfrm>
              <a:off x="10020300" y="6372225"/>
              <a:ext cx="266700" cy="266700"/>
            </a:xfrm>
            <a:prstGeom prst="ellipse">
              <a:avLst/>
            </a:prstGeom>
            <a:solidFill>
              <a:srgbClr val="D7D8D6"/>
            </a:solidFill>
            <a:ln>
              <a:noFill/>
            </a:ln>
          </p:spPr>
        </p:sp>
        <p:sp>
          <p:nvSpPr>
            <p:cNvPr id="88" name="Freeform 88"/>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89" name="Ellipse 89"/>
            <p:cNvSpPr/>
            <p:nvPr/>
          </p:nvSpPr>
          <p:spPr>
            <a:xfrm>
              <a:off x="10420350" y="6372225"/>
              <a:ext cx="266700" cy="266700"/>
            </a:xfrm>
            <a:prstGeom prst="ellipse">
              <a:avLst/>
            </a:prstGeom>
            <a:solidFill>
              <a:srgbClr val="D7D8D6"/>
            </a:solidFill>
            <a:ln>
              <a:noFill/>
            </a:ln>
          </p:spPr>
        </p:sp>
        <p:grpSp>
          <p:nvGrpSpPr>
            <p:cNvPr id="93" name="Group 93"/>
            <p:cNvGrpSpPr/>
            <p:nvPr/>
          </p:nvGrpSpPr>
          <p:grpSpPr>
            <a:xfrm>
              <a:off x="10489406" y="6441281"/>
              <a:ext cx="128588" cy="128588"/>
              <a:chOff x="10489406" y="6441281"/>
              <a:chExt cx="128588" cy="128588"/>
            </a:xfrm>
          </p:grpSpPr>
          <p:sp>
            <p:nvSpPr>
              <p:cNvPr id="90" name="Freeform 90"/>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91" name="Freeform 91"/>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92" name="Freeform 92"/>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94" name="Ellipse 94"/>
            <p:cNvSpPr/>
            <p:nvPr/>
          </p:nvSpPr>
          <p:spPr>
            <a:xfrm>
              <a:off x="10820400" y="6372225"/>
              <a:ext cx="266700" cy="266700"/>
            </a:xfrm>
            <a:prstGeom prst="ellipse">
              <a:avLst/>
            </a:prstGeom>
            <a:solidFill>
              <a:srgbClr val="D7D8D6"/>
            </a:solidFill>
            <a:ln>
              <a:noFill/>
            </a:ln>
          </p:spPr>
        </p:sp>
        <p:sp>
          <p:nvSpPr>
            <p:cNvPr id="95" name="Freeform 95"/>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96" name="TextBox 96"/>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26</a:t>
              </a:r>
            </a:p>
          </p:txBody>
        </p:sp>
      </p:gr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27</a:t>
              </a:r>
            </a:p>
          </p:txBody>
        </p:sp>
        <p:sp>
          <p:nvSpPr>
            <p:cNvPr id="4" name="TextBox 4"/>
            <p:cNvSpPr txBox="1"/>
            <p:nvPr/>
          </p:nvSpPr>
          <p:spPr>
            <a:xfrm>
              <a:off x="942594" y="151448"/>
              <a:ext cx="692280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模型架构师</a:t>
              </a:r>
              <a:r>
                <a:rPr lang="zh-CN" sz="1950" b="1" dirty="0">
                  <a:solidFill>
                    <a:srgbClr val="1A1A1A"/>
                  </a:solidFill>
                  <a:latin typeface="+mj-lt"/>
                  <a:ea typeface="+mj-ea"/>
                  <a:cs typeface="+mj-cs"/>
                </a:rPr>
                <a:t>——模型版图的战略视角​​​</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1" name="col-1"/>
          <p:cNvGrpSpPr/>
          <p:nvPr/>
        </p:nvGrpSpPr>
        <p:grpSpPr>
          <a:xfrm>
            <a:off x="566547" y="847249"/>
            <a:ext cx="2587181" cy="2346483"/>
            <a:chOff x="566547" y="847249"/>
            <a:chExt cx="2587181" cy="2346483"/>
          </a:xfrm>
        </p:grpSpPr>
        <p:sp>
          <p:nvSpPr>
            <p:cNvPr id="7" name="TextBox 7"/>
            <p:cNvSpPr txBox="1"/>
            <p:nvPr/>
          </p:nvSpPr>
          <p:spPr>
            <a:xfrm>
              <a:off x="566547" y="847249"/>
              <a:ext cx="2065008"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模型版图的战略视角：模型架构师​</a:t>
              </a:r>
            </a:p>
          </p:txBody>
        </p:sp>
        <p:sp>
          <p:nvSpPr>
            <p:cNvPr id="8" name="TextBox 8"/>
            <p:cNvSpPr txBox="1"/>
            <p:nvPr/>
          </p:nvSpPr>
          <p:spPr>
            <a:xfrm>
              <a:off x="566738" y="1012984"/>
              <a:ext cx="2518283" cy="247650"/>
            </a:xfrm>
            <a:prstGeom prst="rect">
              <a:avLst/>
            </a:prstGeom>
            <a:noFill/>
            <a:ln>
              <a:noFill/>
            </a:ln>
          </p:spPr>
          <p:txBody>
            <a:bodyPr wrap="none" lIns="0" tIns="0" rIns="0" bIns="0" anchor="t" anchorCtr="0">
              <a:spAutoFit/>
            </a:bodyPr>
            <a:lstStyle/>
            <a:p>
              <a:pPr algn="l">
                <a:lnSpc>
                  <a:spcPts val="900"/>
                </a:lnSpc>
              </a:pPr>
              <a:r>
                <a:rPr lang="en-US" sz="680" dirty="0">
                  <a:solidFill>
                    <a:srgbClr val="666666"/>
                  </a:solidFill>
                  <a:latin typeface="+mn-lt"/>
                  <a:ea typeface="+mn-ea"/>
                  <a:cs typeface="+mn-cs"/>
                </a:rPr>
                <a:t>A strategic perspective on the model landscape: the model​</a:t>
              </a:r>
              <a:br/>
              <a:r>
                <a:rPr lang="en-US" sz="680" dirty="0">
                  <a:solidFill>
                    <a:srgbClr val="666666"/>
                  </a:solidFill>
                  <a:latin typeface="+mn-lt"/>
                  <a:ea typeface="+mn-ea"/>
                  <a:cs typeface="+mn-cs"/>
                </a:rPr>
                <a:t>architect​</a:t>
              </a:r>
            </a:p>
          </p:txBody>
        </p:sp>
        <p:sp>
          <p:nvSpPr>
            <p:cNvPr id="9" name="TextBox 9"/>
            <p:cNvSpPr txBox="1"/>
            <p:nvPr/>
          </p:nvSpPr>
          <p:spPr>
            <a:xfrm>
              <a:off x="566738" y="1283970"/>
              <a:ext cx="25869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模型风险管理治理中一个相对较新的角色是模型架​</a:t>
              </a:r>
              <a:br/>
              <a:r>
                <a:rPr lang="zh-CN" sz="900" dirty="0">
                  <a:solidFill>
                    <a:srgbClr val="333333"/>
                  </a:solidFill>
                  <a:latin typeface="+mn-lt"/>
                  <a:ea typeface="+mn-ea"/>
                  <a:cs typeface="+mn-cs"/>
                </a:rPr>
                <a:t>构师。模型架构师对模型版图（特定部分）的设计​</a:t>
              </a:r>
              <a:br/>
              <a:r>
                <a:rPr lang="zh-CN" sz="900" dirty="0">
                  <a:solidFill>
                    <a:srgbClr val="333333"/>
                  </a:solidFill>
                  <a:latin typeface="+mn-lt"/>
                  <a:ea typeface="+mn-ea"/>
                  <a:cs typeface="+mn-cs"/>
                </a:rPr>
                <a:t>与维护拥有战略视角。​</a:t>
              </a:r>
            </a:p>
          </p:txBody>
        </p:sp>
        <p:sp>
          <p:nvSpPr>
            <p:cNvPr id="10" name="TextBox 10"/>
            <p:cNvSpPr txBox="1"/>
            <p:nvPr/>
          </p:nvSpPr>
          <p:spPr>
            <a:xfrm>
              <a:off x="566738" y="1931670"/>
              <a:ext cx="2586990" cy="12620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模型架构师考虑模型版图中不同模型用途的所有视​</a:t>
              </a:r>
              <a:br/>
              <a:r>
                <a:rPr lang="zh-CN" sz="900" dirty="0">
                  <a:solidFill>
                    <a:srgbClr val="333333"/>
                  </a:solidFill>
                  <a:latin typeface="+mn-lt"/>
                  <a:ea typeface="+mn-ea"/>
                  <a:cs typeface="+mn-cs"/>
                </a:rPr>
                <a:t>角和需求（例如全部信用风险模型），以设计并维​</a:t>
              </a:r>
              <a:br/>
              <a:r>
                <a:rPr lang="zh-CN" sz="900" dirty="0">
                  <a:solidFill>
                    <a:srgbClr val="333333"/>
                  </a:solidFill>
                  <a:latin typeface="+mn-lt"/>
                  <a:ea typeface="+mn-ea"/>
                  <a:cs typeface="+mn-cs"/>
                </a:rPr>
                <a:t>护最优的模型版图，包括模型合理化、减少模型数​</a:t>
              </a:r>
              <a:br/>
              <a:r>
                <a:rPr lang="zh-CN" sz="900" dirty="0">
                  <a:solidFill>
                    <a:srgbClr val="333333"/>
                  </a:solidFill>
                  <a:latin typeface="+mn-lt"/>
                  <a:ea typeface="+mn-ea"/>
                  <a:cs typeface="+mn-cs"/>
                </a:rPr>
                <a:t>量以及优化模型依赖关系。模型架构师的角色近年​</a:t>
              </a:r>
              <a:br/>
              <a:r>
                <a:rPr lang="zh-CN" sz="900" dirty="0">
                  <a:solidFill>
                    <a:srgbClr val="333333"/>
                  </a:solidFill>
                  <a:latin typeface="+mn-lt"/>
                  <a:ea typeface="+mn-ea"/>
                  <a:cs typeface="+mn-cs"/>
                </a:rPr>
                <a:t>才出现，调研结果也体现了这一点。仍有85%​</a:t>
              </a:r>
              <a:br/>
              <a:r>
                <a:rPr lang="zh-CN" sz="900" dirty="0">
                  <a:solidFill>
                    <a:srgbClr val="333333"/>
                  </a:solidFill>
                  <a:latin typeface="+mn-lt"/>
                  <a:ea typeface="+mn-ea"/>
                  <a:cs typeface="+mn-cs"/>
                </a:rPr>
                <a:t>的银行表示其组织中没有模型架构师角色；设有该​</a:t>
              </a:r>
              <a:br/>
              <a:r>
                <a:rPr lang="zh-CN" sz="900" dirty="0">
                  <a:solidFill>
                    <a:srgbClr val="333333"/>
                  </a:solidFill>
                  <a:latin typeface="+mn-lt"/>
                  <a:ea typeface="+mn-ea"/>
                  <a:cs typeface="+mn-cs"/>
                </a:rPr>
                <a:t>角色的银行从小型到大型均有分布。​</a:t>
              </a:r>
            </a:p>
          </p:txBody>
        </p:sp>
      </p:grpSp>
      <p:grpSp>
        <p:nvGrpSpPr>
          <p:cNvPr id="26" name="figure-31"/>
          <p:cNvGrpSpPr/>
          <p:nvPr/>
        </p:nvGrpSpPr>
        <p:grpSpPr>
          <a:xfrm>
            <a:off x="3633788" y="863441"/>
            <a:ext cx="2033587" cy="2965847"/>
            <a:chOff x="3633788" y="863441"/>
            <a:chExt cx="2033587" cy="2965847"/>
          </a:xfrm>
        </p:grpSpPr>
        <p:sp>
          <p:nvSpPr>
            <p:cNvPr id="12" name="TextBox 12"/>
            <p:cNvSpPr txBox="1"/>
            <p:nvPr/>
          </p:nvSpPr>
          <p:spPr>
            <a:xfrm>
              <a:off x="3633788" y="863441"/>
              <a:ext cx="1798093"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图31. 设有模型架构师角色的银行​​</a:t>
              </a:r>
            </a:p>
          </p:txBody>
        </p:sp>
        <p:sp>
          <p:nvSpPr>
            <p:cNvPr id="13" name="TextBox 13"/>
            <p:cNvSpPr txBox="1"/>
            <p:nvPr/>
          </p:nvSpPr>
          <p:spPr>
            <a:xfrm>
              <a:off x="3633788" y="1007507"/>
              <a:ext cx="1851948"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Banks with a model architect role in place​​</a:t>
              </a:r>
            </a:p>
          </p:txBody>
        </p:sp>
        <p:sp>
          <p:nvSpPr>
            <p:cNvPr id="14" name="Freeform 14"/>
            <p:cNvSpPr/>
            <p:nvPr/>
          </p:nvSpPr>
          <p:spPr>
            <a:xfrm>
              <a:off x="4181475" y="1543050"/>
              <a:ext cx="1485900" cy="1485900"/>
            </a:xfrm>
            <a:prstGeom prst="blockArc">
              <a:avLst>
                <a:gd name="adj1" fmla="val 16200000"/>
                <a:gd name="adj2" fmla="val 12960000"/>
                <a:gd name="adj3" fmla="val 16667"/>
              </a:avLst>
            </a:prstGeom>
            <a:solidFill>
              <a:srgbClr val="D8482E"/>
            </a:solidFill>
            <a:ln>
              <a:noFill/>
            </a:ln>
          </p:spPr>
        </p:sp>
        <p:sp>
          <p:nvSpPr>
            <p:cNvPr id="15" name="Freeform 15"/>
            <p:cNvSpPr/>
            <p:nvPr/>
          </p:nvSpPr>
          <p:spPr>
            <a:xfrm>
              <a:off x="4181475" y="1543050"/>
              <a:ext cx="1485900" cy="1485900"/>
            </a:xfrm>
            <a:prstGeom prst="blockArc">
              <a:avLst>
                <a:gd name="adj1" fmla="val 12960000"/>
                <a:gd name="adj2" fmla="val 13824000"/>
                <a:gd name="adj3" fmla="val 16667"/>
              </a:avLst>
            </a:prstGeom>
            <a:solidFill>
              <a:srgbClr val="6B1100"/>
            </a:solidFill>
            <a:ln>
              <a:noFill/>
            </a:ln>
          </p:spPr>
        </p:sp>
        <p:sp>
          <p:nvSpPr>
            <p:cNvPr id="16" name="Freeform 16"/>
            <p:cNvSpPr/>
            <p:nvPr/>
          </p:nvSpPr>
          <p:spPr>
            <a:xfrm>
              <a:off x="4181475" y="1543050"/>
              <a:ext cx="1485900" cy="1485900"/>
            </a:xfrm>
            <a:prstGeom prst="blockArc">
              <a:avLst>
                <a:gd name="adj1" fmla="val 13824000"/>
                <a:gd name="adj2" fmla="val 16200000"/>
                <a:gd name="adj3" fmla="val 16667"/>
              </a:avLst>
            </a:prstGeom>
            <a:solidFill>
              <a:srgbClr val="AA1B00"/>
            </a:solidFill>
            <a:ln>
              <a:noFill/>
            </a:ln>
          </p:spPr>
        </p:sp>
        <p:sp>
          <p:nvSpPr>
            <p:cNvPr id="17" name="TextBox 17"/>
            <p:cNvSpPr txBox="1"/>
            <p:nvPr/>
          </p:nvSpPr>
          <p:spPr>
            <a:xfrm>
              <a:off x="5194402" y="3032760"/>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85%​</a:t>
              </a:r>
            </a:p>
          </p:txBody>
        </p:sp>
        <p:sp>
          <p:nvSpPr>
            <p:cNvPr id="18" name="TextBox 18"/>
            <p:cNvSpPr txBox="1"/>
            <p:nvPr/>
          </p:nvSpPr>
          <p:spPr>
            <a:xfrm>
              <a:off x="4175805" y="1636395"/>
              <a:ext cx="205650"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4%​</a:t>
              </a:r>
            </a:p>
          </p:txBody>
        </p:sp>
        <p:sp>
          <p:nvSpPr>
            <p:cNvPr id="19" name="TextBox 19"/>
            <p:cNvSpPr txBox="1"/>
            <p:nvPr/>
          </p:nvSpPr>
          <p:spPr>
            <a:xfrm>
              <a:off x="4492409" y="1409700"/>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11%​</a:t>
              </a:r>
            </a:p>
          </p:txBody>
        </p:sp>
        <p:sp>
          <p:nvSpPr>
            <p:cNvPr id="20" name="Rectangle 20"/>
            <p:cNvSpPr/>
            <p:nvPr/>
          </p:nvSpPr>
          <p:spPr>
            <a:xfrm>
              <a:off x="3638550" y="3343275"/>
              <a:ext cx="95250" cy="95250"/>
            </a:xfrm>
            <a:prstGeom prst="rect">
              <a:avLst/>
            </a:prstGeom>
            <a:solidFill>
              <a:srgbClr val="D8482E"/>
            </a:solidFill>
            <a:ln>
              <a:noFill/>
            </a:ln>
          </p:spPr>
        </p:sp>
        <p:sp>
          <p:nvSpPr>
            <p:cNvPr id="21" name="TextBox 21"/>
            <p:cNvSpPr txBox="1"/>
            <p:nvPr/>
          </p:nvSpPr>
          <p:spPr>
            <a:xfrm>
              <a:off x="3776662" y="3360182"/>
              <a:ext cx="290591"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否No​​</a:t>
              </a:r>
            </a:p>
          </p:txBody>
        </p:sp>
        <p:sp>
          <p:nvSpPr>
            <p:cNvPr id="22" name="Rectangle 22"/>
            <p:cNvSpPr/>
            <p:nvPr/>
          </p:nvSpPr>
          <p:spPr>
            <a:xfrm>
              <a:off x="3638550" y="3514725"/>
              <a:ext cx="95250" cy="95250"/>
            </a:xfrm>
            <a:prstGeom prst="rect">
              <a:avLst/>
            </a:prstGeom>
            <a:solidFill>
              <a:srgbClr val="6B1100"/>
            </a:solidFill>
            <a:ln>
              <a:noFill/>
            </a:ln>
          </p:spPr>
        </p:sp>
        <p:sp>
          <p:nvSpPr>
            <p:cNvPr id="23" name="TextBox 23"/>
            <p:cNvSpPr txBox="1"/>
            <p:nvPr/>
          </p:nvSpPr>
          <p:spPr>
            <a:xfrm>
              <a:off x="3776662" y="3531632"/>
              <a:ext cx="1176950"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是，信用与市场风险模型均设​</a:t>
              </a:r>
            </a:p>
          </p:txBody>
        </p:sp>
        <p:sp>
          <p:nvSpPr>
            <p:cNvPr id="24" name="Rectangle 24"/>
            <p:cNvSpPr/>
            <p:nvPr/>
          </p:nvSpPr>
          <p:spPr>
            <a:xfrm>
              <a:off x="3638550" y="3686175"/>
              <a:ext cx="95250" cy="95250"/>
            </a:xfrm>
            <a:prstGeom prst="rect">
              <a:avLst/>
            </a:prstGeom>
            <a:solidFill>
              <a:srgbClr val="AA1B00"/>
            </a:solidFill>
            <a:ln>
              <a:noFill/>
            </a:ln>
          </p:spPr>
        </p:sp>
        <p:sp>
          <p:nvSpPr>
            <p:cNvPr id="25" name="TextBox 25"/>
            <p:cNvSpPr txBox="1"/>
            <p:nvPr/>
          </p:nvSpPr>
          <p:spPr>
            <a:xfrm>
              <a:off x="3776662" y="3703082"/>
              <a:ext cx="83232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是，仅信用风险模型​</a:t>
              </a:r>
            </a:p>
          </p:txBody>
        </p:sp>
      </p:grpSp>
      <p:grpSp>
        <p:nvGrpSpPr>
          <p:cNvPr id="28" name="pull-quote"/>
          <p:cNvGrpSpPr/>
          <p:nvPr/>
        </p:nvGrpSpPr>
        <p:grpSpPr>
          <a:xfrm>
            <a:off x="6563868" y="1060132"/>
            <a:ext cx="2646616" cy="1618107"/>
            <a:chOff x="6563868" y="1060132"/>
            <a:chExt cx="2646616" cy="1618107"/>
          </a:xfrm>
        </p:grpSpPr>
        <p:sp>
          <p:nvSpPr>
            <p:cNvPr id="27" name="TextBox 27"/>
            <p:cNvSpPr txBox="1"/>
            <p:nvPr/>
          </p:nvSpPr>
          <p:spPr>
            <a:xfrm>
              <a:off x="6563868" y="1060132"/>
              <a:ext cx="2646616" cy="1618107"/>
            </a:xfrm>
            <a:prstGeom prst="rect">
              <a:avLst/>
            </a:prstGeom>
            <a:noFill/>
            <a:ln>
              <a:noFill/>
            </a:ln>
          </p:spPr>
          <p:txBody>
            <a:bodyPr wrap="none" lIns="0" tIns="0" rIns="0" bIns="0" anchor="t" anchorCtr="0">
              <a:spAutoFit/>
            </a:bodyPr>
            <a:lstStyle/>
            <a:p>
              <a:pPr algn="l">
                <a:lnSpc>
                  <a:spcPts val="2550"/>
                </a:lnSpc>
              </a:pPr>
              <a:r>
                <a:rPr lang="zh-CN" sz="1650" dirty="0">
                  <a:solidFill>
                    <a:srgbClr val="AA1B00"/>
                  </a:solidFill>
                  <a:latin typeface="+mn-lt"/>
                  <a:ea typeface="+mn-ea"/>
                  <a:cs typeface="+mn-cs"/>
                </a:rPr>
                <a:t>仍有85%的银行表示其组​​</a:t>
              </a:r>
              <a:br/>
              <a:r>
                <a:rPr lang="zh-CN" sz="1650" dirty="0">
                  <a:solidFill>
                    <a:srgbClr val="AA1B00"/>
                  </a:solidFill>
                  <a:latin typeface="+mn-lt"/>
                  <a:ea typeface="+mn-ea"/>
                  <a:cs typeface="+mn-cs"/>
                </a:rPr>
                <a:t>织中没有模型架构师角色。​</a:t>
              </a:r>
              <a:br/>
              <a:r>
                <a:rPr lang="zh-CN" sz="1650" dirty="0">
                  <a:solidFill>
                    <a:srgbClr val="AA1B00"/>
                  </a:solidFill>
                  <a:latin typeface="+mn-lt"/>
                  <a:ea typeface="+mn-ea"/>
                  <a:cs typeface="+mn-cs"/>
                </a:rPr>
                <a:t>设有该角色的银行分布在从​</a:t>
              </a:r>
              <a:br/>
              <a:r>
                <a:rPr lang="zh-CN" sz="1650" dirty="0">
                  <a:solidFill>
                    <a:srgbClr val="AA1B00"/>
                  </a:solidFill>
                  <a:latin typeface="+mn-lt"/>
                  <a:ea typeface="+mn-ea"/>
                  <a:cs typeface="+mn-cs"/>
                </a:rPr>
                <a:t>小型到大型的各类规模银行​</a:t>
              </a:r>
              <a:br/>
              <a:r>
                <a:rPr lang="zh-CN" sz="1650" dirty="0">
                  <a:solidFill>
                    <a:srgbClr val="AA1B00"/>
                  </a:solidFill>
                  <a:latin typeface="+mn-lt"/>
                  <a:ea typeface="+mn-ea"/>
                  <a:cs typeface="+mn-cs"/>
                </a:rPr>
                <a:t>中。​</a:t>
              </a:r>
            </a:p>
          </p:txBody>
        </p:sp>
      </p:grpSp>
      <p:grpSp>
        <p:nvGrpSpPr>
          <p:cNvPr id="62" name="nav"/>
          <p:cNvGrpSpPr/>
          <p:nvPr/>
        </p:nvGrpSpPr>
        <p:grpSpPr>
          <a:xfrm>
            <a:off x="9834562" y="0"/>
            <a:ext cx="2357438" cy="6858000"/>
            <a:chOff x="9834562" y="0"/>
            <a:chExt cx="2357438" cy="6858000"/>
          </a:xfrm>
        </p:grpSpPr>
        <p:sp>
          <p:nvSpPr>
            <p:cNvPr id="29" name="Line 29"/>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30" name="Rectangle 30"/>
            <p:cNvSpPr/>
            <p:nvPr/>
          </p:nvSpPr>
          <p:spPr>
            <a:xfrm>
              <a:off x="9839325" y="476250"/>
              <a:ext cx="2352675" cy="514350"/>
            </a:xfrm>
            <a:prstGeom prst="rect">
              <a:avLst/>
            </a:prstGeom>
            <a:solidFill>
              <a:srgbClr val="F3F3F3"/>
            </a:solidFill>
            <a:ln>
              <a:noFill/>
            </a:ln>
          </p:spPr>
        </p:sp>
        <p:sp>
          <p:nvSpPr>
            <p:cNvPr id="31" name="TextBox 31"/>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32" name="Rectangle 32"/>
            <p:cNvSpPr/>
            <p:nvPr/>
          </p:nvSpPr>
          <p:spPr>
            <a:xfrm>
              <a:off x="9839325" y="1000125"/>
              <a:ext cx="2352675" cy="514350"/>
            </a:xfrm>
            <a:prstGeom prst="rect">
              <a:avLst/>
            </a:prstGeom>
            <a:solidFill>
              <a:srgbClr val="F3F3F3"/>
            </a:solidFill>
            <a:ln>
              <a:noFill/>
            </a:ln>
          </p:spPr>
        </p:sp>
        <p:sp>
          <p:nvSpPr>
            <p:cNvPr id="33" name="TextBox 33"/>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34" name="Rectangle 34"/>
            <p:cNvSpPr/>
            <p:nvPr/>
          </p:nvSpPr>
          <p:spPr>
            <a:xfrm>
              <a:off x="9839325" y="1524000"/>
              <a:ext cx="2352675" cy="514350"/>
            </a:xfrm>
            <a:prstGeom prst="rect">
              <a:avLst/>
            </a:prstGeom>
            <a:solidFill>
              <a:srgbClr val="F3F3F3"/>
            </a:solidFill>
            <a:ln>
              <a:noFill/>
            </a:ln>
          </p:spPr>
        </p:sp>
        <p:sp>
          <p:nvSpPr>
            <p:cNvPr id="35" name="TextBox 35"/>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36" name="Rectangle 36"/>
            <p:cNvSpPr/>
            <p:nvPr/>
          </p:nvSpPr>
          <p:spPr>
            <a:xfrm>
              <a:off x="9839325" y="2047875"/>
              <a:ext cx="2352675" cy="514350"/>
            </a:xfrm>
            <a:prstGeom prst="rect">
              <a:avLst/>
            </a:prstGeom>
            <a:solidFill>
              <a:srgbClr val="F3F3F3"/>
            </a:solidFill>
            <a:ln>
              <a:noFill/>
            </a:ln>
          </p:spPr>
        </p:sp>
        <p:sp>
          <p:nvSpPr>
            <p:cNvPr id="37" name="TextBox 37"/>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38" name="Rectangle 38"/>
            <p:cNvSpPr/>
            <p:nvPr/>
          </p:nvSpPr>
          <p:spPr>
            <a:xfrm>
              <a:off x="9839325" y="2571750"/>
              <a:ext cx="2352675" cy="514350"/>
            </a:xfrm>
            <a:prstGeom prst="rect">
              <a:avLst/>
            </a:prstGeom>
            <a:solidFill>
              <a:srgbClr val="F3F3F3"/>
            </a:solidFill>
            <a:ln>
              <a:noFill/>
            </a:ln>
          </p:spPr>
        </p:sp>
        <p:sp>
          <p:nvSpPr>
            <p:cNvPr id="39" name="TextBox 39"/>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40" name="Rectangle 40"/>
            <p:cNvSpPr/>
            <p:nvPr/>
          </p:nvSpPr>
          <p:spPr>
            <a:xfrm>
              <a:off x="9839325" y="3095625"/>
              <a:ext cx="2352675" cy="514350"/>
            </a:xfrm>
            <a:prstGeom prst="rect">
              <a:avLst/>
            </a:prstGeom>
            <a:solidFill>
              <a:srgbClr val="6B1100"/>
            </a:solidFill>
            <a:ln>
              <a:noFill/>
            </a:ln>
          </p:spPr>
        </p:sp>
        <p:sp>
          <p:nvSpPr>
            <p:cNvPr id="41" name="TextBox 41"/>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42" name="Rectangle 42"/>
            <p:cNvSpPr/>
            <p:nvPr/>
          </p:nvSpPr>
          <p:spPr>
            <a:xfrm>
              <a:off x="9839325" y="3619500"/>
              <a:ext cx="2352675" cy="514350"/>
            </a:xfrm>
            <a:prstGeom prst="rect">
              <a:avLst/>
            </a:prstGeom>
            <a:solidFill>
              <a:srgbClr val="F3F3F3"/>
            </a:solidFill>
            <a:ln>
              <a:noFill/>
            </a:ln>
          </p:spPr>
        </p:sp>
        <p:sp>
          <p:nvSpPr>
            <p:cNvPr id="43" name="TextBox 43"/>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44" name="Rectangle 44"/>
            <p:cNvSpPr/>
            <p:nvPr/>
          </p:nvSpPr>
          <p:spPr>
            <a:xfrm>
              <a:off x="9839325" y="4143375"/>
              <a:ext cx="2352675" cy="514350"/>
            </a:xfrm>
            <a:prstGeom prst="rect">
              <a:avLst/>
            </a:prstGeom>
            <a:solidFill>
              <a:srgbClr val="F3F3F3"/>
            </a:solidFill>
            <a:ln>
              <a:noFill/>
            </a:ln>
          </p:spPr>
        </p:sp>
        <p:sp>
          <p:nvSpPr>
            <p:cNvPr id="45" name="TextBox 45"/>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46" name="Rectangle 46"/>
            <p:cNvSpPr/>
            <p:nvPr/>
          </p:nvSpPr>
          <p:spPr>
            <a:xfrm>
              <a:off x="9839325" y="4667250"/>
              <a:ext cx="2352675" cy="514350"/>
            </a:xfrm>
            <a:prstGeom prst="rect">
              <a:avLst/>
            </a:prstGeom>
            <a:solidFill>
              <a:srgbClr val="F3F3F3"/>
            </a:solidFill>
            <a:ln>
              <a:noFill/>
            </a:ln>
          </p:spPr>
        </p:sp>
        <p:sp>
          <p:nvSpPr>
            <p:cNvPr id="47" name="TextBox 47"/>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48" name="Rectangle 48"/>
            <p:cNvSpPr/>
            <p:nvPr/>
          </p:nvSpPr>
          <p:spPr>
            <a:xfrm>
              <a:off x="9839325" y="5191125"/>
              <a:ext cx="2352675" cy="514350"/>
            </a:xfrm>
            <a:prstGeom prst="rect">
              <a:avLst/>
            </a:prstGeom>
            <a:solidFill>
              <a:srgbClr val="F3F3F3"/>
            </a:solidFill>
            <a:ln>
              <a:noFill/>
            </a:ln>
          </p:spPr>
        </p:sp>
        <p:sp>
          <p:nvSpPr>
            <p:cNvPr id="49" name="TextBox 49"/>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50" name="Rectangle 50"/>
            <p:cNvSpPr/>
            <p:nvPr/>
          </p:nvSpPr>
          <p:spPr>
            <a:xfrm>
              <a:off x="9839325" y="5715000"/>
              <a:ext cx="2352675" cy="514350"/>
            </a:xfrm>
            <a:prstGeom prst="rect">
              <a:avLst/>
            </a:prstGeom>
            <a:solidFill>
              <a:srgbClr val="F3F3F3"/>
            </a:solidFill>
            <a:ln>
              <a:noFill/>
            </a:ln>
          </p:spPr>
        </p:sp>
        <p:sp>
          <p:nvSpPr>
            <p:cNvPr id="51" name="TextBox 51"/>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52" name="Ellipse 52"/>
            <p:cNvSpPr/>
            <p:nvPr/>
          </p:nvSpPr>
          <p:spPr>
            <a:xfrm>
              <a:off x="10020300" y="6372225"/>
              <a:ext cx="266700" cy="266700"/>
            </a:xfrm>
            <a:prstGeom prst="ellipse">
              <a:avLst/>
            </a:prstGeom>
            <a:solidFill>
              <a:srgbClr val="D7D8D6"/>
            </a:solidFill>
            <a:ln>
              <a:noFill/>
            </a:ln>
          </p:spPr>
        </p:sp>
        <p:sp>
          <p:nvSpPr>
            <p:cNvPr id="53" name="Freeform 53"/>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54" name="Ellipse 54"/>
            <p:cNvSpPr/>
            <p:nvPr/>
          </p:nvSpPr>
          <p:spPr>
            <a:xfrm>
              <a:off x="10420350" y="6372225"/>
              <a:ext cx="266700" cy="266700"/>
            </a:xfrm>
            <a:prstGeom prst="ellipse">
              <a:avLst/>
            </a:prstGeom>
            <a:solidFill>
              <a:srgbClr val="D7D8D6"/>
            </a:solidFill>
            <a:ln>
              <a:noFill/>
            </a:ln>
          </p:spPr>
        </p:sp>
        <p:grpSp>
          <p:nvGrpSpPr>
            <p:cNvPr id="58" name="Group 58"/>
            <p:cNvGrpSpPr/>
            <p:nvPr/>
          </p:nvGrpSpPr>
          <p:grpSpPr>
            <a:xfrm>
              <a:off x="10489406" y="6441281"/>
              <a:ext cx="128588" cy="128588"/>
              <a:chOff x="10489406" y="6441281"/>
              <a:chExt cx="128588" cy="128588"/>
            </a:xfrm>
          </p:grpSpPr>
          <p:sp>
            <p:nvSpPr>
              <p:cNvPr id="55" name="Freeform 55"/>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56" name="Freeform 56"/>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57" name="Freeform 57"/>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59" name="Ellipse 59"/>
            <p:cNvSpPr/>
            <p:nvPr/>
          </p:nvSpPr>
          <p:spPr>
            <a:xfrm>
              <a:off x="10820400" y="6372225"/>
              <a:ext cx="266700" cy="266700"/>
            </a:xfrm>
            <a:prstGeom prst="ellipse">
              <a:avLst/>
            </a:prstGeom>
            <a:solidFill>
              <a:srgbClr val="D7D8D6"/>
            </a:solidFill>
            <a:ln>
              <a:noFill/>
            </a:ln>
          </p:spPr>
        </p:sp>
        <p:sp>
          <p:nvSpPr>
            <p:cNvPr id="60" name="Freeform 60"/>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61" name="TextBox 61"/>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27</a:t>
              </a:r>
            </a:p>
          </p:txBody>
        </p:sp>
      </p:gr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28</a:t>
              </a:r>
            </a:p>
          </p:txBody>
        </p:sp>
        <p:sp>
          <p:nvSpPr>
            <p:cNvPr id="4" name="TextBox 4"/>
            <p:cNvSpPr txBox="1"/>
            <p:nvPr/>
          </p:nvSpPr>
          <p:spPr>
            <a:xfrm>
              <a:off x="942594" y="151448"/>
              <a:ext cx="406314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模型生命周期</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2" name="col-1"/>
          <p:cNvGrpSpPr/>
          <p:nvPr/>
        </p:nvGrpSpPr>
        <p:grpSpPr>
          <a:xfrm>
            <a:off x="566547" y="847249"/>
            <a:ext cx="2587181" cy="2517933"/>
            <a:chOff x="566547" y="847249"/>
            <a:chExt cx="2587181" cy="2517933"/>
          </a:xfrm>
        </p:grpSpPr>
        <p:sp>
          <p:nvSpPr>
            <p:cNvPr id="7" name="TextBox 7"/>
            <p:cNvSpPr txBox="1"/>
            <p:nvPr/>
          </p:nvSpPr>
          <p:spPr>
            <a:xfrm>
              <a:off x="566547" y="847249"/>
              <a:ext cx="877660"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模型生命周期​</a:t>
              </a:r>
            </a:p>
          </p:txBody>
        </p:sp>
        <p:sp>
          <p:nvSpPr>
            <p:cNvPr id="8" name="TextBox 8"/>
            <p:cNvSpPr txBox="1"/>
            <p:nvPr/>
          </p:nvSpPr>
          <p:spPr>
            <a:xfrm>
              <a:off x="566738" y="1012984"/>
              <a:ext cx="900435"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The model lifecycle​</a:t>
              </a:r>
            </a:p>
          </p:txBody>
        </p:sp>
        <p:sp>
          <p:nvSpPr>
            <p:cNvPr id="9" name="TextBox 9"/>
            <p:cNvSpPr txBox="1"/>
            <p:nvPr/>
          </p:nvSpPr>
          <p:spPr>
            <a:xfrm>
              <a:off x="566738" y="1169670"/>
              <a:ext cx="25869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模型生命周期的概念是有效模型治理的关键。它有​</a:t>
              </a:r>
              <a:br/>
              <a:r>
                <a:rPr lang="zh-CN" sz="900" dirty="0">
                  <a:solidFill>
                    <a:srgbClr val="333333"/>
                  </a:solidFill>
                  <a:latin typeface="+mn-lt"/>
                  <a:ea typeface="+mn-ea"/>
                  <a:cs typeface="+mn-cs"/>
                </a:rPr>
                <a:t>助于界定模型生命周期各步骤中的角色与职责。​</a:t>
              </a:r>
            </a:p>
          </p:txBody>
        </p:sp>
        <p:sp>
          <p:nvSpPr>
            <p:cNvPr id="10" name="TextBox 10"/>
            <p:cNvSpPr txBox="1"/>
            <p:nvPr/>
          </p:nvSpPr>
          <p:spPr>
            <a:xfrm>
              <a:off x="566738" y="1636395"/>
              <a:ext cx="25869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模型生命周期在各银行之间有所不同，但多数框架​</a:t>
              </a:r>
              <a:br/>
              <a:r>
                <a:rPr lang="zh-CN" sz="900" dirty="0">
                  <a:solidFill>
                    <a:srgbClr val="333333"/>
                  </a:solidFill>
                  <a:latin typeface="+mn-lt"/>
                  <a:ea typeface="+mn-ea"/>
                  <a:cs typeface="+mn-cs"/>
                </a:rPr>
                <a:t>都包含若干关键步骤，尽管措辞可能不同。​</a:t>
              </a:r>
            </a:p>
          </p:txBody>
        </p:sp>
        <p:sp>
          <p:nvSpPr>
            <p:cNvPr id="11" name="TextBox 11"/>
            <p:cNvSpPr txBox="1"/>
            <p:nvPr/>
          </p:nvSpPr>
          <p:spPr>
            <a:xfrm>
              <a:off x="566738" y="2103120"/>
              <a:ext cx="2586990" cy="12620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可以看到，9个模型生命周期阶段中有7个被​​​​</a:t>
              </a:r>
              <a:br/>
              <a:r>
                <a:rPr lang="zh-CN" sz="900" dirty="0">
                  <a:solidFill>
                    <a:srgbClr val="333333"/>
                  </a:solidFill>
                  <a:latin typeface="+mn-lt"/>
                  <a:ea typeface="+mn-ea"/>
                  <a:cs typeface="+mn-cs"/>
                </a:rPr>
                <a:t>超过四分之三的银行使用。模型退役和数据收集是​</a:t>
              </a:r>
              <a:br/>
              <a:r>
                <a:rPr lang="zh-CN" sz="900" dirty="0">
                  <a:solidFill>
                    <a:srgbClr val="333333"/>
                  </a:solidFill>
                  <a:latin typeface="+mn-lt"/>
                  <a:ea typeface="+mn-ea"/>
                  <a:cs typeface="+mn-cs"/>
                </a:rPr>
                <a:t>使用较少的两个阶段。模型退役（或模型退出）阶​</a:t>
              </a:r>
              <a:br/>
              <a:r>
                <a:rPr lang="zh-CN" sz="900" dirty="0">
                  <a:solidFill>
                    <a:srgbClr val="333333"/>
                  </a:solidFill>
                  <a:latin typeface="+mn-lt"/>
                  <a:ea typeface="+mn-ea"/>
                  <a:cs typeface="+mn-cs"/>
                </a:rPr>
                <a:t>段很重要，它是停止使用不应再使用的模型的机制​</a:t>
              </a:r>
              <a:br/>
              <a:r>
                <a:rPr lang="zh-CN" sz="900" dirty="0">
                  <a:solidFill>
                    <a:srgbClr val="333333"/>
                  </a:solidFill>
                  <a:latin typeface="+mn-lt"/>
                  <a:ea typeface="+mn-ea"/>
                  <a:cs typeface="+mn-cs"/>
                </a:rPr>
                <a:t>，例如已有替代模型或新版本可用时。围绕这一步​</a:t>
              </a:r>
              <a:br/>
              <a:r>
                <a:rPr lang="zh-CN" sz="900" dirty="0">
                  <a:solidFill>
                    <a:srgbClr val="333333"/>
                  </a:solidFill>
                  <a:latin typeface="+mn-lt"/>
                  <a:ea typeface="+mn-ea"/>
                  <a:cs typeface="+mn-cs"/>
                </a:rPr>
                <a:t>骤建立恰当的治理，还能防止过时的模型文档或未​</a:t>
              </a:r>
              <a:br/>
              <a:r>
                <a:rPr lang="zh-CN" sz="900" dirty="0">
                  <a:solidFill>
                    <a:srgbClr val="333333"/>
                  </a:solidFill>
                  <a:latin typeface="+mn-lt"/>
                  <a:ea typeface="+mn-ea"/>
                  <a:cs typeface="+mn-cs"/>
                </a:rPr>
                <a:t>解决的模型验证发现仍留在模型风险管理框架内。​</a:t>
              </a:r>
            </a:p>
          </p:txBody>
        </p:sp>
      </p:grpSp>
      <p:grpSp>
        <p:nvGrpSpPr>
          <p:cNvPr id="49" name="figure-32"/>
          <p:cNvGrpSpPr/>
          <p:nvPr/>
        </p:nvGrpSpPr>
        <p:grpSpPr>
          <a:xfrm>
            <a:off x="3633788" y="863441"/>
            <a:ext cx="5367413" cy="2324576"/>
            <a:chOff x="3633788" y="863441"/>
            <a:chExt cx="5367413" cy="2324576"/>
          </a:xfrm>
        </p:grpSpPr>
        <p:sp>
          <p:nvSpPr>
            <p:cNvPr id="13" name="TextBox 13"/>
            <p:cNvSpPr txBox="1"/>
            <p:nvPr/>
          </p:nvSpPr>
          <p:spPr>
            <a:xfrm>
              <a:off x="3633788" y="863441"/>
              <a:ext cx="2129258"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图32. 最常用的生命周期阶段的使用情况​​</a:t>
              </a:r>
            </a:p>
          </p:txBody>
        </p:sp>
        <p:sp>
          <p:nvSpPr>
            <p:cNvPr id="14" name="TextBox 14"/>
            <p:cNvSpPr txBox="1"/>
            <p:nvPr/>
          </p:nvSpPr>
          <p:spPr>
            <a:xfrm>
              <a:off x="3633788" y="1007507"/>
              <a:ext cx="1813291"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Use of the most common lifecycle phases​​</a:t>
              </a:r>
            </a:p>
          </p:txBody>
        </p:sp>
        <p:sp>
          <p:nvSpPr>
            <p:cNvPr id="15" name="TextBox 15"/>
            <p:cNvSpPr txBox="1"/>
            <p:nvPr/>
          </p:nvSpPr>
          <p:spPr>
            <a:xfrm>
              <a:off x="4828845" y="1236107"/>
              <a:ext cx="1119517" cy="126206"/>
            </a:xfrm>
            <a:prstGeom prst="rect">
              <a:avLst/>
            </a:prstGeom>
            <a:noFill/>
            <a:ln>
              <a:noFill/>
            </a:ln>
          </p:spPr>
          <p:txBody>
            <a:bodyPr wrap="none" lIns="0" tIns="0" rIns="0" bIns="0" anchor="t" anchorCtr="0">
              <a:spAutoFit/>
            </a:bodyPr>
            <a:lstStyle/>
            <a:p>
              <a:pPr algn="r"/>
              <a:r>
                <a:rPr lang="zh-CN" sz="640" dirty="0">
                  <a:solidFill>
                    <a:srgbClr val="333333"/>
                  </a:solidFill>
                  <a:latin typeface="+mn-lt"/>
                  <a:ea typeface="+mn-ea"/>
                  <a:cs typeface="+mn-cs"/>
                </a:rPr>
                <a:t>模型验证Model validation​​</a:t>
              </a:r>
            </a:p>
          </p:txBody>
        </p:sp>
        <p:sp>
          <p:nvSpPr>
            <p:cNvPr id="16" name="Rectangle 16"/>
            <p:cNvSpPr/>
            <p:nvPr/>
          </p:nvSpPr>
          <p:spPr>
            <a:xfrm>
              <a:off x="6019800" y="1200150"/>
              <a:ext cx="2686050" cy="123825"/>
            </a:xfrm>
            <a:prstGeom prst="rect">
              <a:avLst/>
            </a:prstGeom>
            <a:solidFill>
              <a:srgbClr val="AA1B00"/>
            </a:solidFill>
            <a:ln>
              <a:noFill/>
            </a:ln>
          </p:spPr>
        </p:sp>
        <p:sp>
          <p:nvSpPr>
            <p:cNvPr id="17" name="TextBox 17"/>
            <p:cNvSpPr txBox="1"/>
            <p:nvPr/>
          </p:nvSpPr>
          <p:spPr>
            <a:xfrm>
              <a:off x="8748712" y="123610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94%​</a:t>
              </a:r>
            </a:p>
          </p:txBody>
        </p:sp>
        <p:sp>
          <p:nvSpPr>
            <p:cNvPr id="18" name="TextBox 18"/>
            <p:cNvSpPr txBox="1"/>
            <p:nvPr/>
          </p:nvSpPr>
          <p:spPr>
            <a:xfrm>
              <a:off x="4272679" y="1436132"/>
              <a:ext cx="1675684" cy="126206"/>
            </a:xfrm>
            <a:prstGeom prst="rect">
              <a:avLst/>
            </a:prstGeom>
            <a:noFill/>
            <a:ln>
              <a:noFill/>
            </a:ln>
          </p:spPr>
          <p:txBody>
            <a:bodyPr wrap="none" lIns="0" tIns="0" rIns="0" bIns="0" anchor="t" anchorCtr="0">
              <a:spAutoFit/>
            </a:bodyPr>
            <a:lstStyle/>
            <a:p>
              <a:pPr algn="r"/>
              <a:r>
                <a:rPr lang="zh-CN" sz="640" dirty="0">
                  <a:solidFill>
                    <a:srgbClr val="333333"/>
                  </a:solidFill>
                  <a:latin typeface="+mn-lt"/>
                  <a:ea typeface="+mn-ea"/>
                  <a:cs typeface="+mn-cs"/>
                </a:rPr>
                <a:t>模型（再）开发Model (re)development​​</a:t>
              </a:r>
            </a:p>
          </p:txBody>
        </p:sp>
        <p:sp>
          <p:nvSpPr>
            <p:cNvPr id="19" name="Rectangle 19"/>
            <p:cNvSpPr/>
            <p:nvPr/>
          </p:nvSpPr>
          <p:spPr>
            <a:xfrm>
              <a:off x="6019800" y="1400175"/>
              <a:ext cx="2486025" cy="123825"/>
            </a:xfrm>
            <a:prstGeom prst="rect">
              <a:avLst/>
            </a:prstGeom>
            <a:solidFill>
              <a:srgbClr val="AA1B00"/>
            </a:solidFill>
            <a:ln>
              <a:noFill/>
            </a:ln>
          </p:spPr>
        </p:sp>
        <p:sp>
          <p:nvSpPr>
            <p:cNvPr id="20" name="TextBox 20"/>
            <p:cNvSpPr txBox="1"/>
            <p:nvPr/>
          </p:nvSpPr>
          <p:spPr>
            <a:xfrm>
              <a:off x="8548688" y="143613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87%​</a:t>
              </a:r>
            </a:p>
          </p:txBody>
        </p:sp>
        <p:sp>
          <p:nvSpPr>
            <p:cNvPr id="21" name="TextBox 21"/>
            <p:cNvSpPr txBox="1"/>
            <p:nvPr/>
          </p:nvSpPr>
          <p:spPr>
            <a:xfrm>
              <a:off x="3870849" y="1636157"/>
              <a:ext cx="2077513" cy="126206"/>
            </a:xfrm>
            <a:prstGeom prst="rect">
              <a:avLst/>
            </a:prstGeom>
            <a:noFill/>
            <a:ln>
              <a:noFill/>
            </a:ln>
          </p:spPr>
          <p:txBody>
            <a:bodyPr wrap="none" lIns="0" tIns="0" rIns="0" bIns="0" anchor="t" anchorCtr="0">
              <a:spAutoFit/>
            </a:bodyPr>
            <a:lstStyle/>
            <a:p>
              <a:pPr algn="r"/>
              <a:r>
                <a:rPr lang="zh-CN" sz="640" dirty="0">
                  <a:solidFill>
                    <a:srgbClr val="333333"/>
                  </a:solidFill>
                  <a:latin typeface="+mn-lt"/>
                  <a:ea typeface="+mn-ea"/>
                  <a:cs typeface="+mn-cs"/>
                </a:rPr>
                <a:t>模型实施与IT测试Implementation and IT testing​​​</a:t>
              </a:r>
            </a:p>
          </p:txBody>
        </p:sp>
        <p:sp>
          <p:nvSpPr>
            <p:cNvPr id="22" name="Rectangle 22"/>
            <p:cNvSpPr/>
            <p:nvPr/>
          </p:nvSpPr>
          <p:spPr>
            <a:xfrm>
              <a:off x="6019800" y="1600200"/>
              <a:ext cx="2486025" cy="123825"/>
            </a:xfrm>
            <a:prstGeom prst="rect">
              <a:avLst/>
            </a:prstGeom>
            <a:solidFill>
              <a:srgbClr val="AA1B00"/>
            </a:solidFill>
            <a:ln>
              <a:noFill/>
            </a:ln>
          </p:spPr>
        </p:sp>
        <p:sp>
          <p:nvSpPr>
            <p:cNvPr id="23" name="TextBox 23"/>
            <p:cNvSpPr txBox="1"/>
            <p:nvPr/>
          </p:nvSpPr>
          <p:spPr>
            <a:xfrm>
              <a:off x="8548688" y="163615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87%​</a:t>
              </a:r>
            </a:p>
          </p:txBody>
        </p:sp>
        <p:sp>
          <p:nvSpPr>
            <p:cNvPr id="24" name="TextBox 24"/>
            <p:cNvSpPr txBox="1"/>
            <p:nvPr/>
          </p:nvSpPr>
          <p:spPr>
            <a:xfrm>
              <a:off x="4880322" y="1836182"/>
              <a:ext cx="1068041" cy="126206"/>
            </a:xfrm>
            <a:prstGeom prst="rect">
              <a:avLst/>
            </a:prstGeom>
            <a:noFill/>
            <a:ln>
              <a:noFill/>
            </a:ln>
          </p:spPr>
          <p:txBody>
            <a:bodyPr wrap="none" lIns="0" tIns="0" rIns="0" bIns="0" anchor="t" anchorCtr="0">
              <a:spAutoFit/>
            </a:bodyPr>
            <a:lstStyle/>
            <a:p>
              <a:pPr algn="r"/>
              <a:r>
                <a:rPr lang="zh-CN" sz="640" dirty="0">
                  <a:solidFill>
                    <a:srgbClr val="333333"/>
                  </a:solidFill>
                  <a:latin typeface="+mn-lt"/>
                  <a:ea typeface="+mn-ea"/>
                  <a:cs typeface="+mn-cs"/>
                </a:rPr>
                <a:t>模型审批Model approval​​</a:t>
              </a:r>
            </a:p>
          </p:txBody>
        </p:sp>
        <p:sp>
          <p:nvSpPr>
            <p:cNvPr id="25" name="Rectangle 25"/>
            <p:cNvSpPr/>
            <p:nvPr/>
          </p:nvSpPr>
          <p:spPr>
            <a:xfrm>
              <a:off x="6019800" y="1800225"/>
              <a:ext cx="2457450" cy="123825"/>
            </a:xfrm>
            <a:prstGeom prst="rect">
              <a:avLst/>
            </a:prstGeom>
            <a:solidFill>
              <a:srgbClr val="AA1B00"/>
            </a:solidFill>
            <a:ln>
              <a:noFill/>
            </a:ln>
          </p:spPr>
        </p:sp>
        <p:sp>
          <p:nvSpPr>
            <p:cNvPr id="26" name="TextBox 26"/>
            <p:cNvSpPr txBox="1"/>
            <p:nvPr/>
          </p:nvSpPr>
          <p:spPr>
            <a:xfrm>
              <a:off x="8520112" y="183618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86%​</a:t>
              </a:r>
            </a:p>
          </p:txBody>
        </p:sp>
        <p:sp>
          <p:nvSpPr>
            <p:cNvPr id="27" name="TextBox 27"/>
            <p:cNvSpPr txBox="1"/>
            <p:nvPr/>
          </p:nvSpPr>
          <p:spPr>
            <a:xfrm>
              <a:off x="5095304" y="2036207"/>
              <a:ext cx="853059" cy="126206"/>
            </a:xfrm>
            <a:prstGeom prst="rect">
              <a:avLst/>
            </a:prstGeom>
            <a:noFill/>
            <a:ln>
              <a:noFill/>
            </a:ln>
          </p:spPr>
          <p:txBody>
            <a:bodyPr wrap="none" lIns="0" tIns="0" rIns="0" bIns="0" anchor="t" anchorCtr="0">
              <a:spAutoFit/>
            </a:bodyPr>
            <a:lstStyle/>
            <a:p>
              <a:pPr algn="r"/>
              <a:r>
                <a:rPr lang="zh-CN" sz="640" dirty="0">
                  <a:solidFill>
                    <a:srgbClr val="333333"/>
                  </a:solidFill>
                  <a:latin typeface="+mn-lt"/>
                  <a:ea typeface="+mn-ea"/>
                  <a:cs typeface="+mn-cs"/>
                </a:rPr>
                <a:t>模型使用Model use​​</a:t>
              </a:r>
            </a:p>
          </p:txBody>
        </p:sp>
        <p:sp>
          <p:nvSpPr>
            <p:cNvPr id="28" name="Rectangle 28"/>
            <p:cNvSpPr/>
            <p:nvPr/>
          </p:nvSpPr>
          <p:spPr>
            <a:xfrm>
              <a:off x="6019800" y="2000250"/>
              <a:ext cx="2428875" cy="123825"/>
            </a:xfrm>
            <a:prstGeom prst="rect">
              <a:avLst/>
            </a:prstGeom>
            <a:solidFill>
              <a:srgbClr val="AA1B00"/>
            </a:solidFill>
            <a:ln>
              <a:noFill/>
            </a:ln>
          </p:spPr>
        </p:sp>
        <p:sp>
          <p:nvSpPr>
            <p:cNvPr id="29" name="TextBox 29"/>
            <p:cNvSpPr txBox="1"/>
            <p:nvPr/>
          </p:nvSpPr>
          <p:spPr>
            <a:xfrm>
              <a:off x="8491538" y="203620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85%​</a:t>
              </a:r>
            </a:p>
          </p:txBody>
        </p:sp>
        <p:sp>
          <p:nvSpPr>
            <p:cNvPr id="30" name="TextBox 30"/>
            <p:cNvSpPr txBox="1"/>
            <p:nvPr/>
          </p:nvSpPr>
          <p:spPr>
            <a:xfrm>
              <a:off x="4789928" y="2236232"/>
              <a:ext cx="1158434" cy="126206"/>
            </a:xfrm>
            <a:prstGeom prst="rect">
              <a:avLst/>
            </a:prstGeom>
            <a:noFill/>
            <a:ln>
              <a:noFill/>
            </a:ln>
          </p:spPr>
          <p:txBody>
            <a:bodyPr wrap="none" lIns="0" tIns="0" rIns="0" bIns="0" anchor="t" anchorCtr="0">
              <a:spAutoFit/>
            </a:bodyPr>
            <a:lstStyle/>
            <a:p>
              <a:pPr algn="r"/>
              <a:r>
                <a:rPr lang="zh-CN" sz="640" dirty="0">
                  <a:solidFill>
                    <a:srgbClr val="333333"/>
                  </a:solidFill>
                  <a:latin typeface="+mn-lt"/>
                  <a:ea typeface="+mn-ea"/>
                  <a:cs typeface="+mn-cs"/>
                </a:rPr>
                <a:t>模型监控Model monitoring​​</a:t>
              </a:r>
            </a:p>
          </p:txBody>
        </p:sp>
        <p:sp>
          <p:nvSpPr>
            <p:cNvPr id="31" name="Rectangle 31"/>
            <p:cNvSpPr/>
            <p:nvPr/>
          </p:nvSpPr>
          <p:spPr>
            <a:xfrm>
              <a:off x="6019800" y="2200275"/>
              <a:ext cx="2343150" cy="123825"/>
            </a:xfrm>
            <a:prstGeom prst="rect">
              <a:avLst/>
            </a:prstGeom>
            <a:solidFill>
              <a:srgbClr val="AA1B00"/>
            </a:solidFill>
            <a:ln>
              <a:noFill/>
            </a:ln>
          </p:spPr>
        </p:sp>
        <p:sp>
          <p:nvSpPr>
            <p:cNvPr id="32" name="TextBox 32"/>
            <p:cNvSpPr txBox="1"/>
            <p:nvPr/>
          </p:nvSpPr>
          <p:spPr>
            <a:xfrm>
              <a:off x="8405812" y="223623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82%​</a:t>
              </a:r>
            </a:p>
          </p:txBody>
        </p:sp>
        <p:sp>
          <p:nvSpPr>
            <p:cNvPr id="33" name="TextBox 33"/>
            <p:cNvSpPr txBox="1"/>
            <p:nvPr/>
          </p:nvSpPr>
          <p:spPr>
            <a:xfrm>
              <a:off x="3988810" y="2436257"/>
              <a:ext cx="1959552" cy="126206"/>
            </a:xfrm>
            <a:prstGeom prst="rect">
              <a:avLst/>
            </a:prstGeom>
            <a:noFill/>
            <a:ln>
              <a:noFill/>
            </a:ln>
          </p:spPr>
          <p:txBody>
            <a:bodyPr wrap="none" lIns="0" tIns="0" rIns="0" bIns="0" anchor="t" anchorCtr="0">
              <a:spAutoFit/>
            </a:bodyPr>
            <a:lstStyle/>
            <a:p>
              <a:pPr algn="r"/>
              <a:r>
                <a:rPr lang="zh-CN" sz="640" dirty="0">
                  <a:solidFill>
                    <a:srgbClr val="333333"/>
                  </a:solidFill>
                  <a:latin typeface="+mn-lt"/>
                  <a:ea typeface="+mn-ea"/>
                  <a:cs typeface="+mn-cs"/>
                </a:rPr>
                <a:t>模型启动或模型变更Model initiation or change​​</a:t>
              </a:r>
            </a:p>
          </p:txBody>
        </p:sp>
        <p:sp>
          <p:nvSpPr>
            <p:cNvPr id="34" name="Rectangle 34"/>
            <p:cNvSpPr/>
            <p:nvPr/>
          </p:nvSpPr>
          <p:spPr>
            <a:xfrm>
              <a:off x="6019800" y="2400300"/>
              <a:ext cx="2257425" cy="123825"/>
            </a:xfrm>
            <a:prstGeom prst="rect">
              <a:avLst/>
            </a:prstGeom>
            <a:solidFill>
              <a:srgbClr val="AA1B00"/>
            </a:solidFill>
            <a:ln>
              <a:noFill/>
            </a:ln>
          </p:spPr>
        </p:sp>
        <p:sp>
          <p:nvSpPr>
            <p:cNvPr id="35" name="TextBox 35"/>
            <p:cNvSpPr txBox="1"/>
            <p:nvPr/>
          </p:nvSpPr>
          <p:spPr>
            <a:xfrm>
              <a:off x="8320088" y="243625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79%​</a:t>
              </a:r>
            </a:p>
          </p:txBody>
        </p:sp>
        <p:sp>
          <p:nvSpPr>
            <p:cNvPr id="36" name="TextBox 36"/>
            <p:cNvSpPr txBox="1"/>
            <p:nvPr/>
          </p:nvSpPr>
          <p:spPr>
            <a:xfrm>
              <a:off x="4557403" y="2636282"/>
              <a:ext cx="1390960" cy="126206"/>
            </a:xfrm>
            <a:prstGeom prst="rect">
              <a:avLst/>
            </a:prstGeom>
            <a:noFill/>
            <a:ln>
              <a:noFill/>
            </a:ln>
          </p:spPr>
          <p:txBody>
            <a:bodyPr wrap="none" lIns="0" tIns="0" rIns="0" bIns="0" anchor="t" anchorCtr="0">
              <a:spAutoFit/>
            </a:bodyPr>
            <a:lstStyle/>
            <a:p>
              <a:pPr algn="r"/>
              <a:r>
                <a:rPr lang="zh-CN" sz="640" dirty="0">
                  <a:solidFill>
                    <a:srgbClr val="333333"/>
                  </a:solidFill>
                  <a:latin typeface="+mn-lt"/>
                  <a:ea typeface="+mn-ea"/>
                  <a:cs typeface="+mn-cs"/>
                </a:rPr>
                <a:t>模型退役Model decommissioning​​</a:t>
              </a:r>
            </a:p>
          </p:txBody>
        </p:sp>
        <p:sp>
          <p:nvSpPr>
            <p:cNvPr id="37" name="Rectangle 37"/>
            <p:cNvSpPr/>
            <p:nvPr/>
          </p:nvSpPr>
          <p:spPr>
            <a:xfrm>
              <a:off x="6019800" y="2600325"/>
              <a:ext cx="1800225" cy="123825"/>
            </a:xfrm>
            <a:prstGeom prst="rect">
              <a:avLst/>
            </a:prstGeom>
            <a:solidFill>
              <a:srgbClr val="AA1B00"/>
            </a:solidFill>
            <a:ln>
              <a:noFill/>
            </a:ln>
          </p:spPr>
        </p:sp>
        <p:sp>
          <p:nvSpPr>
            <p:cNvPr id="38" name="TextBox 38"/>
            <p:cNvSpPr txBox="1"/>
            <p:nvPr/>
          </p:nvSpPr>
          <p:spPr>
            <a:xfrm>
              <a:off x="7862888" y="263628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63%​</a:t>
              </a:r>
            </a:p>
          </p:txBody>
        </p:sp>
        <p:sp>
          <p:nvSpPr>
            <p:cNvPr id="39" name="TextBox 39"/>
            <p:cNvSpPr txBox="1"/>
            <p:nvPr/>
          </p:nvSpPr>
          <p:spPr>
            <a:xfrm>
              <a:off x="4441104" y="2836307"/>
              <a:ext cx="1507259" cy="126206"/>
            </a:xfrm>
            <a:prstGeom prst="rect">
              <a:avLst/>
            </a:prstGeom>
            <a:noFill/>
            <a:ln>
              <a:noFill/>
            </a:ln>
          </p:spPr>
          <p:txBody>
            <a:bodyPr wrap="none" lIns="0" tIns="0" rIns="0" bIns="0" anchor="t" anchorCtr="0">
              <a:spAutoFit/>
            </a:bodyPr>
            <a:lstStyle/>
            <a:p>
              <a:pPr algn="r"/>
              <a:r>
                <a:rPr lang="zh-CN" sz="640" dirty="0">
                  <a:solidFill>
                    <a:srgbClr val="333333"/>
                  </a:solidFill>
                  <a:latin typeface="+mn-lt"/>
                  <a:ea typeface="+mn-ea"/>
                  <a:cs typeface="+mn-cs"/>
                </a:rPr>
                <a:t>模型数据收集Model data collection​​</a:t>
              </a:r>
            </a:p>
          </p:txBody>
        </p:sp>
        <p:sp>
          <p:nvSpPr>
            <p:cNvPr id="40" name="Rectangle 40"/>
            <p:cNvSpPr/>
            <p:nvPr/>
          </p:nvSpPr>
          <p:spPr>
            <a:xfrm>
              <a:off x="6019800" y="2800350"/>
              <a:ext cx="1371600" cy="123825"/>
            </a:xfrm>
            <a:prstGeom prst="rect">
              <a:avLst/>
            </a:prstGeom>
            <a:solidFill>
              <a:srgbClr val="AA1B00"/>
            </a:solidFill>
            <a:ln>
              <a:noFill/>
            </a:ln>
          </p:spPr>
        </p:sp>
        <p:sp>
          <p:nvSpPr>
            <p:cNvPr id="41" name="TextBox 41"/>
            <p:cNvSpPr txBox="1"/>
            <p:nvPr/>
          </p:nvSpPr>
          <p:spPr>
            <a:xfrm>
              <a:off x="7434262" y="283630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48%​</a:t>
              </a:r>
            </a:p>
          </p:txBody>
        </p:sp>
        <p:sp>
          <p:nvSpPr>
            <p:cNvPr id="42" name="TextBox 42"/>
            <p:cNvSpPr txBox="1"/>
            <p:nvPr/>
          </p:nvSpPr>
          <p:spPr>
            <a:xfrm>
              <a:off x="5940323" y="3068955"/>
              <a:ext cx="158953"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0%​</a:t>
              </a:r>
            </a:p>
          </p:txBody>
        </p:sp>
        <p:sp>
          <p:nvSpPr>
            <p:cNvPr id="43" name="TextBox 43"/>
            <p:cNvSpPr txBox="1"/>
            <p:nvPr/>
          </p:nvSpPr>
          <p:spPr>
            <a:xfrm>
              <a:off x="6489611" y="306895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20%​</a:t>
              </a:r>
            </a:p>
          </p:txBody>
        </p:sp>
        <p:sp>
          <p:nvSpPr>
            <p:cNvPr id="44" name="TextBox 44"/>
            <p:cNvSpPr txBox="1"/>
            <p:nvPr/>
          </p:nvSpPr>
          <p:spPr>
            <a:xfrm>
              <a:off x="7061111" y="306895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40%​</a:t>
              </a:r>
            </a:p>
          </p:txBody>
        </p:sp>
        <p:sp>
          <p:nvSpPr>
            <p:cNvPr id="45" name="TextBox 45"/>
            <p:cNvSpPr txBox="1"/>
            <p:nvPr/>
          </p:nvSpPr>
          <p:spPr>
            <a:xfrm>
              <a:off x="7632611" y="306895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60%​</a:t>
              </a:r>
            </a:p>
          </p:txBody>
        </p:sp>
        <p:sp>
          <p:nvSpPr>
            <p:cNvPr id="46" name="TextBox 46"/>
            <p:cNvSpPr txBox="1"/>
            <p:nvPr/>
          </p:nvSpPr>
          <p:spPr>
            <a:xfrm>
              <a:off x="8204111" y="3068955"/>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80%​</a:t>
              </a:r>
            </a:p>
          </p:txBody>
        </p:sp>
        <p:sp>
          <p:nvSpPr>
            <p:cNvPr id="47" name="TextBox 47"/>
            <p:cNvSpPr txBox="1"/>
            <p:nvPr/>
          </p:nvSpPr>
          <p:spPr>
            <a:xfrm>
              <a:off x="8753399" y="3068955"/>
              <a:ext cx="247802"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100%​</a:t>
              </a:r>
            </a:p>
          </p:txBody>
        </p:sp>
        <p:sp>
          <p:nvSpPr>
            <p:cNvPr id="48" name="Line 48"/>
            <p:cNvSpPr/>
            <p:nvPr/>
          </p:nvSpPr>
          <p:spPr>
            <a:xfrm>
              <a:off x="6019800" y="3019425"/>
              <a:ext cx="2857500" cy="9525"/>
            </a:xfrm>
            <a:custGeom>
              <a:avLst/>
              <a:gdLst/>
              <a:ahLst/>
              <a:cxnLst/>
              <a:rect l="l" t="t" r="r" b="b"/>
              <a:pathLst>
                <a:path w="2857500" h="9525">
                  <a:moveTo>
                    <a:pt x="0" y="0"/>
                  </a:moveTo>
                  <a:lnTo>
                    <a:pt x="2857500" y="0"/>
                  </a:lnTo>
                </a:path>
              </a:pathLst>
            </a:custGeom>
            <a:noFill/>
            <a:ln w="7620">
              <a:solidFill>
                <a:srgbClr val="9A9A9A"/>
              </a:solidFill>
            </a:ln>
          </p:spPr>
        </p:sp>
      </p:grpSp>
      <p:grpSp>
        <p:nvGrpSpPr>
          <p:cNvPr id="99" name="figure-33"/>
          <p:cNvGrpSpPr/>
          <p:nvPr/>
        </p:nvGrpSpPr>
        <p:grpSpPr>
          <a:xfrm>
            <a:off x="3633788" y="3416141"/>
            <a:ext cx="5922391" cy="2908459"/>
            <a:chOff x="3633788" y="3416141"/>
            <a:chExt cx="5922391" cy="2908459"/>
          </a:xfrm>
        </p:grpSpPr>
        <p:sp>
          <p:nvSpPr>
            <p:cNvPr id="50" name="TextBox 50"/>
            <p:cNvSpPr txBox="1"/>
            <p:nvPr/>
          </p:nvSpPr>
          <p:spPr>
            <a:xfrm>
              <a:off x="3633788" y="3416141"/>
              <a:ext cx="1356539"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图33. 模型生命周期示例​​</a:t>
              </a:r>
            </a:p>
          </p:txBody>
        </p:sp>
        <p:sp>
          <p:nvSpPr>
            <p:cNvPr id="51" name="TextBox 51"/>
            <p:cNvSpPr txBox="1"/>
            <p:nvPr/>
          </p:nvSpPr>
          <p:spPr>
            <a:xfrm>
              <a:off x="3633788" y="3560207"/>
              <a:ext cx="1080749"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Model lifecycle example​​</a:t>
              </a:r>
            </a:p>
          </p:txBody>
        </p:sp>
        <p:sp>
          <p:nvSpPr>
            <p:cNvPr id="52" name="Ellipse 52"/>
            <p:cNvSpPr/>
            <p:nvPr/>
          </p:nvSpPr>
          <p:spPr>
            <a:xfrm>
              <a:off x="5391150" y="3962400"/>
              <a:ext cx="2362200" cy="2362200"/>
            </a:xfrm>
            <a:prstGeom prst="ellipse">
              <a:avLst/>
            </a:prstGeom>
            <a:solidFill>
              <a:srgbClr val="F7F7F7"/>
            </a:solidFill>
            <a:ln>
              <a:noFill/>
            </a:ln>
          </p:spPr>
        </p:sp>
        <p:sp>
          <p:nvSpPr>
            <p:cNvPr id="53" name="Freeform 53"/>
            <p:cNvSpPr/>
            <p:nvPr/>
          </p:nvSpPr>
          <p:spPr>
            <a:xfrm>
              <a:off x="5829300" y="4400550"/>
              <a:ext cx="1485900" cy="1485900"/>
            </a:xfrm>
            <a:prstGeom prst="blockArc">
              <a:avLst>
                <a:gd name="adj1" fmla="val 13860000"/>
                <a:gd name="adj2" fmla="val 16140000"/>
                <a:gd name="adj3" fmla="val 21795"/>
              </a:avLst>
            </a:prstGeom>
            <a:solidFill>
              <a:srgbClr val="C6543F"/>
            </a:solidFill>
            <a:ln>
              <a:noFill/>
            </a:ln>
          </p:spPr>
        </p:sp>
        <p:sp>
          <p:nvSpPr>
            <p:cNvPr id="54" name="Freeform 54"/>
            <p:cNvSpPr/>
            <p:nvPr/>
          </p:nvSpPr>
          <p:spPr>
            <a:xfrm>
              <a:off x="5829300" y="4400550"/>
              <a:ext cx="1485900" cy="1485900"/>
            </a:xfrm>
            <a:prstGeom prst="blockArc">
              <a:avLst>
                <a:gd name="adj1" fmla="val 16260000"/>
                <a:gd name="adj2" fmla="val 18540000"/>
                <a:gd name="adj3" fmla="val 21795"/>
              </a:avLst>
            </a:prstGeom>
            <a:solidFill>
              <a:srgbClr val="CB5A46"/>
            </a:solidFill>
            <a:ln>
              <a:noFill/>
            </a:ln>
          </p:spPr>
        </p:sp>
        <p:sp>
          <p:nvSpPr>
            <p:cNvPr id="55" name="Freeform 55"/>
            <p:cNvSpPr/>
            <p:nvPr/>
          </p:nvSpPr>
          <p:spPr>
            <a:xfrm>
              <a:off x="5829300" y="4400550"/>
              <a:ext cx="1485900" cy="1485900"/>
            </a:xfrm>
            <a:prstGeom prst="blockArc">
              <a:avLst>
                <a:gd name="adj1" fmla="val 18660000"/>
                <a:gd name="adj2" fmla="val 20940000"/>
                <a:gd name="adj3" fmla="val 21795"/>
              </a:avLst>
            </a:prstGeom>
            <a:solidFill>
              <a:srgbClr val="D0624E"/>
            </a:solidFill>
            <a:ln>
              <a:noFill/>
            </a:ln>
          </p:spPr>
        </p:sp>
        <p:sp>
          <p:nvSpPr>
            <p:cNvPr id="56" name="Freeform 56"/>
            <p:cNvSpPr/>
            <p:nvPr/>
          </p:nvSpPr>
          <p:spPr>
            <a:xfrm>
              <a:off x="5829300" y="4400550"/>
              <a:ext cx="1485900" cy="1485900"/>
            </a:xfrm>
            <a:prstGeom prst="blockArc">
              <a:avLst>
                <a:gd name="adj1" fmla="val 21060000"/>
                <a:gd name="adj2" fmla="val 1740000"/>
                <a:gd name="adj3" fmla="val 21795"/>
              </a:avLst>
            </a:prstGeom>
            <a:solidFill>
              <a:srgbClr val="D46956"/>
            </a:solidFill>
            <a:ln>
              <a:noFill/>
            </a:ln>
          </p:spPr>
        </p:sp>
        <p:sp>
          <p:nvSpPr>
            <p:cNvPr id="57" name="Freeform 57"/>
            <p:cNvSpPr/>
            <p:nvPr/>
          </p:nvSpPr>
          <p:spPr>
            <a:xfrm>
              <a:off x="5829300" y="4400550"/>
              <a:ext cx="1485900" cy="1485900"/>
            </a:xfrm>
            <a:prstGeom prst="blockArc">
              <a:avLst>
                <a:gd name="adj1" fmla="val 1860000"/>
                <a:gd name="adj2" fmla="val 4140000"/>
                <a:gd name="adj3" fmla="val 21795"/>
              </a:avLst>
            </a:prstGeom>
            <a:solidFill>
              <a:srgbClr val="D8715E"/>
            </a:solidFill>
            <a:ln>
              <a:noFill/>
            </a:ln>
          </p:spPr>
        </p:sp>
        <p:sp>
          <p:nvSpPr>
            <p:cNvPr id="58" name="Freeform 58"/>
            <p:cNvSpPr/>
            <p:nvPr/>
          </p:nvSpPr>
          <p:spPr>
            <a:xfrm>
              <a:off x="5829300" y="4400550"/>
              <a:ext cx="1485900" cy="1485900"/>
            </a:xfrm>
            <a:prstGeom prst="blockArc">
              <a:avLst>
                <a:gd name="adj1" fmla="val 4260000"/>
                <a:gd name="adj2" fmla="val 6540000"/>
                <a:gd name="adj3" fmla="val 21795"/>
              </a:avLst>
            </a:prstGeom>
            <a:solidFill>
              <a:srgbClr val="DC7866"/>
            </a:solidFill>
            <a:ln>
              <a:noFill/>
            </a:ln>
          </p:spPr>
        </p:sp>
        <p:sp>
          <p:nvSpPr>
            <p:cNvPr id="59" name="Freeform 59"/>
            <p:cNvSpPr/>
            <p:nvPr/>
          </p:nvSpPr>
          <p:spPr>
            <a:xfrm>
              <a:off x="5829300" y="4400550"/>
              <a:ext cx="1485900" cy="1485900"/>
            </a:xfrm>
            <a:prstGeom prst="blockArc">
              <a:avLst>
                <a:gd name="adj1" fmla="val 6660000"/>
                <a:gd name="adj2" fmla="val 8940000"/>
                <a:gd name="adj3" fmla="val 21795"/>
              </a:avLst>
            </a:prstGeom>
            <a:solidFill>
              <a:srgbClr val="E0806E"/>
            </a:solidFill>
            <a:ln>
              <a:noFill/>
            </a:ln>
          </p:spPr>
        </p:sp>
        <p:sp>
          <p:nvSpPr>
            <p:cNvPr id="60" name="Freeform 60"/>
            <p:cNvSpPr/>
            <p:nvPr/>
          </p:nvSpPr>
          <p:spPr>
            <a:xfrm>
              <a:off x="5829300" y="4400550"/>
              <a:ext cx="1485900" cy="1485900"/>
            </a:xfrm>
            <a:prstGeom prst="blockArc">
              <a:avLst>
                <a:gd name="adj1" fmla="val 9060000"/>
                <a:gd name="adj2" fmla="val 11340000"/>
                <a:gd name="adj3" fmla="val 21795"/>
              </a:avLst>
            </a:prstGeom>
            <a:solidFill>
              <a:srgbClr val="E48776"/>
            </a:solidFill>
            <a:ln>
              <a:noFill/>
            </a:ln>
          </p:spPr>
        </p:sp>
        <p:sp>
          <p:nvSpPr>
            <p:cNvPr id="61" name="Freeform 61"/>
            <p:cNvSpPr/>
            <p:nvPr/>
          </p:nvSpPr>
          <p:spPr>
            <a:xfrm>
              <a:off x="5829300" y="4400550"/>
              <a:ext cx="1485900" cy="1485900"/>
            </a:xfrm>
            <a:prstGeom prst="blockArc">
              <a:avLst>
                <a:gd name="adj1" fmla="val 11460000"/>
                <a:gd name="adj2" fmla="val 13740000"/>
                <a:gd name="adj3" fmla="val 21795"/>
              </a:avLst>
            </a:prstGeom>
            <a:solidFill>
              <a:srgbClr val="E88E7E"/>
            </a:solidFill>
            <a:ln>
              <a:noFill/>
            </a:ln>
          </p:spPr>
        </p:sp>
        <p:sp>
          <p:nvSpPr>
            <p:cNvPr id="62" name="Freeform 62"/>
            <p:cNvSpPr/>
            <p:nvPr/>
          </p:nvSpPr>
          <p:spPr>
            <a:xfrm>
              <a:off x="6324600" y="4895850"/>
              <a:ext cx="495300" cy="495300"/>
            </a:xfrm>
            <a:prstGeom prst="circularArrow">
              <a:avLst/>
            </a:prstGeom>
            <a:solidFill>
              <a:srgbClr val="6B1100"/>
            </a:solidFill>
            <a:ln>
              <a:noFill/>
            </a:ln>
          </p:spPr>
        </p:sp>
        <p:sp>
          <p:nvSpPr>
            <p:cNvPr id="63" name="Ellipse 63"/>
            <p:cNvSpPr/>
            <p:nvPr/>
          </p:nvSpPr>
          <p:spPr>
            <a:xfrm>
              <a:off x="6287452" y="4511992"/>
              <a:ext cx="171450" cy="171450"/>
            </a:xfrm>
            <a:prstGeom prst="ellipse">
              <a:avLst/>
            </a:prstGeom>
            <a:solidFill>
              <a:srgbClr val="FFFFFF"/>
            </a:solidFill>
            <a:ln w="11430">
              <a:solidFill>
                <a:srgbClr val="6B1100"/>
              </a:solidFill>
            </a:ln>
          </p:spPr>
        </p:sp>
        <p:sp>
          <p:nvSpPr>
            <p:cNvPr id="64" name="TextBox 64"/>
            <p:cNvSpPr txBox="1"/>
            <p:nvPr/>
          </p:nvSpPr>
          <p:spPr>
            <a:xfrm>
              <a:off x="6315550" y="4558189"/>
              <a:ext cx="115256" cy="133350"/>
            </a:xfrm>
            <a:prstGeom prst="rect">
              <a:avLst/>
            </a:prstGeom>
            <a:noFill/>
            <a:ln>
              <a:noFill/>
            </a:ln>
          </p:spPr>
          <p:txBody>
            <a:bodyPr wrap="none" lIns="0" tIns="0" rIns="0" bIns="0" anchor="t" anchorCtr="0">
              <a:spAutoFit/>
            </a:bodyPr>
            <a:lstStyle/>
            <a:p>
              <a:pPr algn="ctr"/>
              <a:r>
                <a:rPr lang="zh-CN" sz="680" b="1" dirty="0">
                  <a:solidFill>
                    <a:srgbClr val="6B1100"/>
                  </a:solidFill>
                  <a:latin typeface="+mn-lt"/>
                  <a:ea typeface="+mn-ea"/>
                  <a:cs typeface="+mn-cs"/>
                </a:rPr>
                <a:t>1​</a:t>
              </a:r>
            </a:p>
          </p:txBody>
        </p:sp>
        <p:sp>
          <p:nvSpPr>
            <p:cNvPr id="65" name="Freeform 65"/>
            <p:cNvSpPr/>
            <p:nvPr/>
          </p:nvSpPr>
          <p:spPr>
            <a:xfrm>
              <a:off x="4667250" y="4343400"/>
              <a:ext cx="1631632" cy="48578"/>
            </a:xfrm>
            <a:custGeom>
              <a:avLst/>
              <a:gdLst/>
              <a:ahLst/>
              <a:cxnLst/>
              <a:rect l="l" t="t" r="r" b="b"/>
              <a:pathLst>
                <a:path w="1631632" h="48578">
                  <a:moveTo>
                    <a:pt x="1631632" y="48578"/>
                  </a:moveTo>
                  <a:lnTo>
                    <a:pt x="476250" y="0"/>
                  </a:lnTo>
                  <a:lnTo>
                    <a:pt x="0" y="0"/>
                  </a:lnTo>
                </a:path>
              </a:pathLst>
            </a:custGeom>
            <a:noFill/>
            <a:ln w="7620">
              <a:solidFill>
                <a:srgbClr val="9A9A9A"/>
              </a:solidFill>
            </a:ln>
          </p:spPr>
        </p:sp>
        <p:sp>
          <p:nvSpPr>
            <p:cNvPr id="66" name="TextBox 66"/>
            <p:cNvSpPr txBox="1"/>
            <p:nvPr/>
          </p:nvSpPr>
          <p:spPr>
            <a:xfrm>
              <a:off x="3638106" y="4261009"/>
              <a:ext cx="976757" cy="238125"/>
            </a:xfrm>
            <a:prstGeom prst="rect">
              <a:avLst/>
            </a:prstGeom>
            <a:noFill/>
            <a:ln>
              <a:noFill/>
            </a:ln>
          </p:spPr>
          <p:txBody>
            <a:bodyPr wrap="none" lIns="0" tIns="0" rIns="0" bIns="0" anchor="t" anchorCtr="0">
              <a:spAutoFit/>
            </a:bodyPr>
            <a:lstStyle/>
            <a:p>
              <a:pPr algn="r">
                <a:lnSpc>
                  <a:spcPts val="825"/>
                </a:lnSpc>
              </a:pPr>
              <a:r>
                <a:rPr lang="zh-CN" sz="680" b="1" dirty="0">
                  <a:solidFill>
                    <a:srgbClr val="1A1A1A"/>
                  </a:solidFill>
                  <a:latin typeface="+mn-lt"/>
                  <a:ea typeface="+mn-ea"/>
                  <a:cs typeface="+mn-cs"/>
                </a:rPr>
                <a:t>模型启动或变更​</a:t>
              </a:r>
            </a:p>
            <a:p>
              <a:pPr algn="r">
                <a:lnSpc>
                  <a:spcPts val="825"/>
                </a:lnSpc>
              </a:pPr>
              <a:r>
                <a:rPr lang="en-US" sz="560" dirty="0">
                  <a:solidFill>
                    <a:srgbClr val="666666"/>
                  </a:solidFill>
                  <a:latin typeface="+mn-lt"/>
                  <a:ea typeface="+mn-ea"/>
                  <a:cs typeface="+mn-cs"/>
                </a:rPr>
                <a:t>Model initiation or change​​</a:t>
              </a:r>
            </a:p>
          </p:txBody>
        </p:sp>
        <p:sp>
          <p:nvSpPr>
            <p:cNvPr id="67" name="Ellipse 67"/>
            <p:cNvSpPr/>
            <p:nvPr/>
          </p:nvSpPr>
          <p:spPr>
            <a:xfrm>
              <a:off x="6685598" y="4511992"/>
              <a:ext cx="171450" cy="171450"/>
            </a:xfrm>
            <a:prstGeom prst="ellipse">
              <a:avLst/>
            </a:prstGeom>
            <a:solidFill>
              <a:srgbClr val="FFFFFF"/>
            </a:solidFill>
            <a:ln w="11430">
              <a:solidFill>
                <a:srgbClr val="6B1100"/>
              </a:solidFill>
            </a:ln>
          </p:spPr>
        </p:sp>
        <p:sp>
          <p:nvSpPr>
            <p:cNvPr id="68" name="TextBox 68"/>
            <p:cNvSpPr txBox="1"/>
            <p:nvPr/>
          </p:nvSpPr>
          <p:spPr>
            <a:xfrm>
              <a:off x="6713695" y="4558189"/>
              <a:ext cx="115256" cy="133350"/>
            </a:xfrm>
            <a:prstGeom prst="rect">
              <a:avLst/>
            </a:prstGeom>
            <a:noFill/>
            <a:ln>
              <a:noFill/>
            </a:ln>
          </p:spPr>
          <p:txBody>
            <a:bodyPr wrap="none" lIns="0" tIns="0" rIns="0" bIns="0" anchor="t" anchorCtr="0">
              <a:spAutoFit/>
            </a:bodyPr>
            <a:lstStyle/>
            <a:p>
              <a:pPr algn="ctr"/>
              <a:r>
                <a:rPr lang="zh-CN" sz="680" b="1" dirty="0">
                  <a:solidFill>
                    <a:srgbClr val="6B1100"/>
                  </a:solidFill>
                  <a:latin typeface="+mn-lt"/>
                  <a:ea typeface="+mn-ea"/>
                  <a:cs typeface="+mn-cs"/>
                </a:rPr>
                <a:t>2​</a:t>
              </a:r>
            </a:p>
          </p:txBody>
        </p:sp>
        <p:sp>
          <p:nvSpPr>
            <p:cNvPr id="69" name="Freeform 69"/>
            <p:cNvSpPr/>
            <p:nvPr/>
          </p:nvSpPr>
          <p:spPr>
            <a:xfrm>
              <a:off x="6845618" y="4343400"/>
              <a:ext cx="1631632" cy="48578"/>
            </a:xfrm>
            <a:custGeom>
              <a:avLst/>
              <a:gdLst/>
              <a:ahLst/>
              <a:cxnLst/>
              <a:rect l="l" t="t" r="r" b="b"/>
              <a:pathLst>
                <a:path w="1631632" h="48578">
                  <a:moveTo>
                    <a:pt x="0" y="48578"/>
                  </a:moveTo>
                  <a:lnTo>
                    <a:pt x="1155382" y="0"/>
                  </a:lnTo>
                  <a:lnTo>
                    <a:pt x="1631632" y="0"/>
                  </a:lnTo>
                </a:path>
              </a:pathLst>
            </a:custGeom>
            <a:noFill/>
            <a:ln w="7620">
              <a:solidFill>
                <a:srgbClr val="9A9A9A"/>
              </a:solidFill>
            </a:ln>
          </p:spPr>
        </p:sp>
        <p:sp>
          <p:nvSpPr>
            <p:cNvPr id="70" name="TextBox 70"/>
            <p:cNvSpPr txBox="1"/>
            <p:nvPr/>
          </p:nvSpPr>
          <p:spPr>
            <a:xfrm>
              <a:off x="8529638" y="4261009"/>
              <a:ext cx="816737" cy="238125"/>
            </a:xfrm>
            <a:prstGeom prst="rect">
              <a:avLst/>
            </a:prstGeom>
            <a:noFill/>
            <a:ln>
              <a:noFill/>
            </a:ln>
          </p:spPr>
          <p:txBody>
            <a:bodyPr wrap="none" lIns="0" tIns="0" rIns="0" bIns="0" anchor="t" anchorCtr="0">
              <a:spAutoFit/>
            </a:bodyPr>
            <a:lstStyle/>
            <a:p>
              <a:pPr algn="l">
                <a:lnSpc>
                  <a:spcPts val="825"/>
                </a:lnSpc>
              </a:pPr>
              <a:r>
                <a:rPr lang="zh-CN" sz="680" b="1" dirty="0">
                  <a:solidFill>
                    <a:srgbClr val="1A1A1A"/>
                  </a:solidFill>
                  <a:latin typeface="+mn-lt"/>
                  <a:ea typeface="+mn-ea"/>
                  <a:cs typeface="+mn-cs"/>
                </a:rPr>
                <a:t>模型数据收集​</a:t>
              </a:r>
            </a:p>
            <a:p>
              <a:pPr algn="l">
                <a:lnSpc>
                  <a:spcPts val="825"/>
                </a:lnSpc>
              </a:pPr>
              <a:r>
                <a:rPr lang="en-US" sz="560" dirty="0">
                  <a:solidFill>
                    <a:srgbClr val="666666"/>
                  </a:solidFill>
                  <a:latin typeface="+mn-lt"/>
                  <a:ea typeface="+mn-ea"/>
                  <a:cs typeface="+mn-cs"/>
                </a:rPr>
                <a:t>Model data collection​​</a:t>
              </a:r>
            </a:p>
          </p:txBody>
        </p:sp>
        <p:sp>
          <p:nvSpPr>
            <p:cNvPr id="71" name="Ellipse 71"/>
            <p:cNvSpPr/>
            <p:nvPr/>
          </p:nvSpPr>
          <p:spPr>
            <a:xfrm>
              <a:off x="6989445" y="4767262"/>
              <a:ext cx="171450" cy="171450"/>
            </a:xfrm>
            <a:prstGeom prst="ellipse">
              <a:avLst/>
            </a:prstGeom>
            <a:solidFill>
              <a:srgbClr val="FFFFFF"/>
            </a:solidFill>
            <a:ln w="11430">
              <a:solidFill>
                <a:srgbClr val="6B1100"/>
              </a:solidFill>
            </a:ln>
          </p:spPr>
        </p:sp>
        <p:sp>
          <p:nvSpPr>
            <p:cNvPr id="72" name="TextBox 72"/>
            <p:cNvSpPr txBox="1"/>
            <p:nvPr/>
          </p:nvSpPr>
          <p:spPr>
            <a:xfrm>
              <a:off x="7017542" y="4813459"/>
              <a:ext cx="115256" cy="133350"/>
            </a:xfrm>
            <a:prstGeom prst="rect">
              <a:avLst/>
            </a:prstGeom>
            <a:noFill/>
            <a:ln>
              <a:noFill/>
            </a:ln>
          </p:spPr>
          <p:txBody>
            <a:bodyPr wrap="none" lIns="0" tIns="0" rIns="0" bIns="0" anchor="t" anchorCtr="0">
              <a:spAutoFit/>
            </a:bodyPr>
            <a:lstStyle/>
            <a:p>
              <a:pPr algn="ctr"/>
              <a:r>
                <a:rPr lang="zh-CN" sz="680" b="1" dirty="0">
                  <a:solidFill>
                    <a:srgbClr val="6B1100"/>
                  </a:solidFill>
                  <a:latin typeface="+mn-lt"/>
                  <a:ea typeface="+mn-ea"/>
                  <a:cs typeface="+mn-cs"/>
                </a:rPr>
                <a:t>3​</a:t>
              </a:r>
            </a:p>
          </p:txBody>
        </p:sp>
        <p:sp>
          <p:nvSpPr>
            <p:cNvPr id="73" name="Freeform 73"/>
            <p:cNvSpPr/>
            <p:nvPr/>
          </p:nvSpPr>
          <p:spPr>
            <a:xfrm>
              <a:off x="7264718" y="4743450"/>
              <a:ext cx="1212532" cy="9525"/>
            </a:xfrm>
            <a:custGeom>
              <a:avLst/>
              <a:gdLst/>
              <a:ahLst/>
              <a:cxnLst/>
              <a:rect l="l" t="t" r="r" b="b"/>
              <a:pathLst>
                <a:path w="1212532" h="9525">
                  <a:moveTo>
                    <a:pt x="0" y="0"/>
                  </a:moveTo>
                  <a:lnTo>
                    <a:pt x="736282" y="0"/>
                  </a:lnTo>
                  <a:lnTo>
                    <a:pt x="1212532" y="0"/>
                  </a:lnTo>
                </a:path>
              </a:pathLst>
            </a:custGeom>
            <a:noFill/>
            <a:ln w="7620">
              <a:solidFill>
                <a:srgbClr val="9A9A9A"/>
              </a:solidFill>
            </a:ln>
          </p:spPr>
        </p:sp>
        <p:sp>
          <p:nvSpPr>
            <p:cNvPr id="74" name="TextBox 74"/>
            <p:cNvSpPr txBox="1"/>
            <p:nvPr/>
          </p:nvSpPr>
          <p:spPr>
            <a:xfrm>
              <a:off x="8529638" y="4661059"/>
              <a:ext cx="884301" cy="238125"/>
            </a:xfrm>
            <a:prstGeom prst="rect">
              <a:avLst/>
            </a:prstGeom>
            <a:noFill/>
            <a:ln>
              <a:noFill/>
            </a:ln>
          </p:spPr>
          <p:txBody>
            <a:bodyPr wrap="none" lIns="0" tIns="0" rIns="0" bIns="0" anchor="t" anchorCtr="0">
              <a:spAutoFit/>
            </a:bodyPr>
            <a:lstStyle/>
            <a:p>
              <a:pPr algn="l">
                <a:lnSpc>
                  <a:spcPts val="825"/>
                </a:lnSpc>
              </a:pPr>
              <a:r>
                <a:rPr lang="zh-CN" sz="680" b="1" dirty="0">
                  <a:solidFill>
                    <a:srgbClr val="1A1A1A"/>
                  </a:solidFill>
                  <a:latin typeface="+mn-lt"/>
                  <a:ea typeface="+mn-ea"/>
                  <a:cs typeface="+mn-cs"/>
                </a:rPr>
                <a:t>模型（再）开发​</a:t>
              </a:r>
            </a:p>
            <a:p>
              <a:pPr algn="l">
                <a:lnSpc>
                  <a:spcPts val="825"/>
                </a:lnSpc>
              </a:pPr>
              <a:r>
                <a:rPr lang="en-US" sz="560" dirty="0">
                  <a:solidFill>
                    <a:srgbClr val="666666"/>
                  </a:solidFill>
                  <a:latin typeface="+mn-lt"/>
                  <a:ea typeface="+mn-ea"/>
                  <a:cs typeface="+mn-cs"/>
                </a:rPr>
                <a:t>Model (re)development​​</a:t>
              </a:r>
            </a:p>
          </p:txBody>
        </p:sp>
        <p:sp>
          <p:nvSpPr>
            <p:cNvPr id="75" name="Ellipse 75"/>
            <p:cNvSpPr/>
            <p:nvPr/>
          </p:nvSpPr>
          <p:spPr>
            <a:xfrm>
              <a:off x="7058978" y="5158740"/>
              <a:ext cx="171450" cy="171450"/>
            </a:xfrm>
            <a:prstGeom prst="ellipse">
              <a:avLst/>
            </a:prstGeom>
            <a:solidFill>
              <a:srgbClr val="FFFFFF"/>
            </a:solidFill>
            <a:ln w="11430">
              <a:solidFill>
                <a:srgbClr val="6B1100"/>
              </a:solidFill>
            </a:ln>
          </p:spPr>
        </p:sp>
        <p:sp>
          <p:nvSpPr>
            <p:cNvPr id="76" name="TextBox 76"/>
            <p:cNvSpPr txBox="1"/>
            <p:nvPr/>
          </p:nvSpPr>
          <p:spPr>
            <a:xfrm>
              <a:off x="7087075" y="5204936"/>
              <a:ext cx="115256" cy="133350"/>
            </a:xfrm>
            <a:prstGeom prst="rect">
              <a:avLst/>
            </a:prstGeom>
            <a:noFill/>
            <a:ln>
              <a:noFill/>
            </a:ln>
          </p:spPr>
          <p:txBody>
            <a:bodyPr wrap="none" lIns="0" tIns="0" rIns="0" bIns="0" anchor="t" anchorCtr="0">
              <a:spAutoFit/>
            </a:bodyPr>
            <a:lstStyle/>
            <a:p>
              <a:pPr algn="ctr"/>
              <a:r>
                <a:rPr lang="zh-CN" sz="680" b="1" dirty="0">
                  <a:solidFill>
                    <a:srgbClr val="6B1100"/>
                  </a:solidFill>
                  <a:latin typeface="+mn-lt"/>
                  <a:ea typeface="+mn-ea"/>
                  <a:cs typeface="+mn-cs"/>
                </a:rPr>
                <a:t>4​</a:t>
              </a:r>
            </a:p>
          </p:txBody>
        </p:sp>
        <p:sp>
          <p:nvSpPr>
            <p:cNvPr id="77" name="Freeform 77"/>
            <p:cNvSpPr/>
            <p:nvPr/>
          </p:nvSpPr>
          <p:spPr>
            <a:xfrm>
              <a:off x="7359968" y="5143500"/>
              <a:ext cx="1117282" cy="139065"/>
            </a:xfrm>
            <a:custGeom>
              <a:avLst/>
              <a:gdLst/>
              <a:ahLst/>
              <a:cxnLst/>
              <a:rect l="l" t="t" r="r" b="b"/>
              <a:pathLst>
                <a:path w="1117282" h="139065">
                  <a:moveTo>
                    <a:pt x="0" y="139065"/>
                  </a:moveTo>
                  <a:lnTo>
                    <a:pt x="641032" y="0"/>
                  </a:lnTo>
                  <a:lnTo>
                    <a:pt x="1117282" y="0"/>
                  </a:lnTo>
                </a:path>
              </a:pathLst>
            </a:custGeom>
            <a:noFill/>
            <a:ln w="7620">
              <a:solidFill>
                <a:srgbClr val="9A9A9A"/>
              </a:solidFill>
            </a:ln>
          </p:spPr>
        </p:sp>
        <p:sp>
          <p:nvSpPr>
            <p:cNvPr id="78" name="TextBox 78"/>
            <p:cNvSpPr txBox="1"/>
            <p:nvPr/>
          </p:nvSpPr>
          <p:spPr>
            <a:xfrm>
              <a:off x="8529638" y="5061109"/>
              <a:ext cx="638937" cy="238125"/>
            </a:xfrm>
            <a:prstGeom prst="rect">
              <a:avLst/>
            </a:prstGeom>
            <a:noFill/>
            <a:ln>
              <a:noFill/>
            </a:ln>
          </p:spPr>
          <p:txBody>
            <a:bodyPr wrap="none" lIns="0" tIns="0" rIns="0" bIns="0" anchor="t" anchorCtr="0">
              <a:spAutoFit/>
            </a:bodyPr>
            <a:lstStyle/>
            <a:p>
              <a:pPr algn="l">
                <a:lnSpc>
                  <a:spcPts val="825"/>
                </a:lnSpc>
              </a:pPr>
              <a:r>
                <a:rPr lang="zh-CN" sz="680" b="1" dirty="0">
                  <a:solidFill>
                    <a:srgbClr val="1A1A1A"/>
                  </a:solidFill>
                  <a:latin typeface="+mn-lt"/>
                  <a:ea typeface="+mn-ea"/>
                  <a:cs typeface="+mn-cs"/>
                </a:rPr>
                <a:t>模型验证​</a:t>
              </a:r>
            </a:p>
            <a:p>
              <a:pPr algn="l">
                <a:lnSpc>
                  <a:spcPts val="825"/>
                </a:lnSpc>
              </a:pPr>
              <a:r>
                <a:rPr lang="en-US" sz="560" dirty="0">
                  <a:solidFill>
                    <a:srgbClr val="666666"/>
                  </a:solidFill>
                  <a:latin typeface="+mn-lt"/>
                  <a:ea typeface="+mn-ea"/>
                  <a:cs typeface="+mn-cs"/>
                </a:rPr>
                <a:t>Model validation​​</a:t>
              </a:r>
            </a:p>
          </p:txBody>
        </p:sp>
        <p:sp>
          <p:nvSpPr>
            <p:cNvPr id="79" name="Ellipse 79"/>
            <p:cNvSpPr/>
            <p:nvPr/>
          </p:nvSpPr>
          <p:spPr>
            <a:xfrm>
              <a:off x="6859905" y="5502592"/>
              <a:ext cx="171450" cy="171450"/>
            </a:xfrm>
            <a:prstGeom prst="ellipse">
              <a:avLst/>
            </a:prstGeom>
            <a:solidFill>
              <a:srgbClr val="FFFFFF"/>
            </a:solidFill>
            <a:ln w="11430">
              <a:solidFill>
                <a:srgbClr val="6B1100"/>
              </a:solidFill>
            </a:ln>
          </p:spPr>
        </p:sp>
        <p:sp>
          <p:nvSpPr>
            <p:cNvPr id="80" name="TextBox 80"/>
            <p:cNvSpPr txBox="1"/>
            <p:nvPr/>
          </p:nvSpPr>
          <p:spPr>
            <a:xfrm>
              <a:off x="6888002" y="5548789"/>
              <a:ext cx="115256" cy="133350"/>
            </a:xfrm>
            <a:prstGeom prst="rect">
              <a:avLst/>
            </a:prstGeom>
            <a:noFill/>
            <a:ln>
              <a:noFill/>
            </a:ln>
          </p:spPr>
          <p:txBody>
            <a:bodyPr wrap="none" lIns="0" tIns="0" rIns="0" bIns="0" anchor="t" anchorCtr="0">
              <a:spAutoFit/>
            </a:bodyPr>
            <a:lstStyle/>
            <a:p>
              <a:pPr algn="ctr"/>
              <a:r>
                <a:rPr lang="zh-CN" sz="680" b="1" dirty="0">
                  <a:solidFill>
                    <a:srgbClr val="6B1100"/>
                  </a:solidFill>
                  <a:latin typeface="+mn-lt"/>
                  <a:ea typeface="+mn-ea"/>
                  <a:cs typeface="+mn-cs"/>
                </a:rPr>
                <a:t>5​</a:t>
              </a:r>
            </a:p>
          </p:txBody>
        </p:sp>
        <p:sp>
          <p:nvSpPr>
            <p:cNvPr id="81" name="Freeform 81"/>
            <p:cNvSpPr/>
            <p:nvPr/>
          </p:nvSpPr>
          <p:spPr>
            <a:xfrm>
              <a:off x="7086600" y="5543550"/>
              <a:ext cx="1390650" cy="212407"/>
            </a:xfrm>
            <a:custGeom>
              <a:avLst/>
              <a:gdLst/>
              <a:ahLst/>
              <a:cxnLst/>
              <a:rect l="l" t="t" r="r" b="b"/>
              <a:pathLst>
                <a:path w="1390650" h="212407">
                  <a:moveTo>
                    <a:pt x="0" y="212407"/>
                  </a:moveTo>
                  <a:lnTo>
                    <a:pt x="914400" y="0"/>
                  </a:lnTo>
                  <a:lnTo>
                    <a:pt x="1390650" y="0"/>
                  </a:lnTo>
                </a:path>
              </a:pathLst>
            </a:custGeom>
            <a:noFill/>
            <a:ln w="7620">
              <a:solidFill>
                <a:srgbClr val="9A9A9A"/>
              </a:solidFill>
            </a:ln>
          </p:spPr>
        </p:sp>
        <p:sp>
          <p:nvSpPr>
            <p:cNvPr id="82" name="TextBox 82"/>
            <p:cNvSpPr txBox="1"/>
            <p:nvPr/>
          </p:nvSpPr>
          <p:spPr>
            <a:xfrm>
              <a:off x="8529638" y="5461159"/>
              <a:ext cx="1026541" cy="238125"/>
            </a:xfrm>
            <a:prstGeom prst="rect">
              <a:avLst/>
            </a:prstGeom>
            <a:noFill/>
            <a:ln>
              <a:noFill/>
            </a:ln>
          </p:spPr>
          <p:txBody>
            <a:bodyPr wrap="none" lIns="0" tIns="0" rIns="0" bIns="0" anchor="t" anchorCtr="0">
              <a:spAutoFit/>
            </a:bodyPr>
            <a:lstStyle/>
            <a:p>
              <a:pPr algn="l">
                <a:lnSpc>
                  <a:spcPts val="825"/>
                </a:lnSpc>
              </a:pPr>
              <a:r>
                <a:rPr lang="zh-CN" sz="680" b="1" dirty="0">
                  <a:solidFill>
                    <a:srgbClr val="1A1A1A"/>
                  </a:solidFill>
                  <a:latin typeface="+mn-lt"/>
                  <a:ea typeface="+mn-ea"/>
                  <a:cs typeface="+mn-cs"/>
                </a:rPr>
                <a:t>实施与测试​</a:t>
              </a:r>
            </a:p>
            <a:p>
              <a:pPr algn="l">
                <a:lnSpc>
                  <a:spcPts val="825"/>
                </a:lnSpc>
              </a:pPr>
              <a:r>
                <a:rPr lang="en-US" sz="560" dirty="0">
                  <a:solidFill>
                    <a:srgbClr val="666666"/>
                  </a:solidFill>
                  <a:latin typeface="+mn-lt"/>
                  <a:ea typeface="+mn-ea"/>
                  <a:cs typeface="+mn-cs"/>
                </a:rPr>
                <a:t>Implementation and testing​​</a:t>
              </a:r>
            </a:p>
          </p:txBody>
        </p:sp>
        <p:sp>
          <p:nvSpPr>
            <p:cNvPr id="83" name="Ellipse 83"/>
            <p:cNvSpPr/>
            <p:nvPr/>
          </p:nvSpPr>
          <p:spPr>
            <a:xfrm>
              <a:off x="6486525" y="5638800"/>
              <a:ext cx="171450" cy="171450"/>
            </a:xfrm>
            <a:prstGeom prst="ellipse">
              <a:avLst/>
            </a:prstGeom>
            <a:solidFill>
              <a:srgbClr val="FFFFFF"/>
            </a:solidFill>
            <a:ln w="11430">
              <a:solidFill>
                <a:srgbClr val="6B1100"/>
              </a:solidFill>
            </a:ln>
          </p:spPr>
        </p:sp>
        <p:sp>
          <p:nvSpPr>
            <p:cNvPr id="84" name="TextBox 84"/>
            <p:cNvSpPr txBox="1"/>
            <p:nvPr/>
          </p:nvSpPr>
          <p:spPr>
            <a:xfrm>
              <a:off x="6514622" y="5684996"/>
              <a:ext cx="115256" cy="133350"/>
            </a:xfrm>
            <a:prstGeom prst="rect">
              <a:avLst/>
            </a:prstGeom>
            <a:noFill/>
            <a:ln>
              <a:noFill/>
            </a:ln>
          </p:spPr>
          <p:txBody>
            <a:bodyPr wrap="none" lIns="0" tIns="0" rIns="0" bIns="0" anchor="t" anchorCtr="0">
              <a:spAutoFit/>
            </a:bodyPr>
            <a:lstStyle/>
            <a:p>
              <a:pPr algn="ctr"/>
              <a:r>
                <a:rPr lang="zh-CN" sz="680" b="1" dirty="0">
                  <a:solidFill>
                    <a:srgbClr val="6B1100"/>
                  </a:solidFill>
                  <a:latin typeface="+mn-lt"/>
                  <a:ea typeface="+mn-ea"/>
                  <a:cs typeface="+mn-cs"/>
                </a:rPr>
                <a:t>6​</a:t>
              </a:r>
            </a:p>
          </p:txBody>
        </p:sp>
        <p:sp>
          <p:nvSpPr>
            <p:cNvPr id="85" name="Freeform 85"/>
            <p:cNvSpPr/>
            <p:nvPr/>
          </p:nvSpPr>
          <p:spPr>
            <a:xfrm>
              <a:off x="6572250" y="5943600"/>
              <a:ext cx="1905000" cy="9525"/>
            </a:xfrm>
            <a:custGeom>
              <a:avLst/>
              <a:gdLst/>
              <a:ahLst/>
              <a:cxnLst/>
              <a:rect l="l" t="t" r="r" b="b"/>
              <a:pathLst>
                <a:path w="1905000" h="9525">
                  <a:moveTo>
                    <a:pt x="0" y="0"/>
                  </a:moveTo>
                  <a:lnTo>
                    <a:pt x="1428750" y="0"/>
                  </a:lnTo>
                  <a:lnTo>
                    <a:pt x="1905000" y="0"/>
                  </a:lnTo>
                </a:path>
              </a:pathLst>
            </a:custGeom>
            <a:noFill/>
            <a:ln w="7620">
              <a:solidFill>
                <a:srgbClr val="9A9A9A"/>
              </a:solidFill>
            </a:ln>
          </p:spPr>
        </p:sp>
        <p:sp>
          <p:nvSpPr>
            <p:cNvPr id="86" name="TextBox 86"/>
            <p:cNvSpPr txBox="1"/>
            <p:nvPr/>
          </p:nvSpPr>
          <p:spPr>
            <a:xfrm>
              <a:off x="8529638" y="5861209"/>
              <a:ext cx="382905" cy="238125"/>
            </a:xfrm>
            <a:prstGeom prst="rect">
              <a:avLst/>
            </a:prstGeom>
            <a:noFill/>
            <a:ln>
              <a:noFill/>
            </a:ln>
          </p:spPr>
          <p:txBody>
            <a:bodyPr wrap="none" lIns="0" tIns="0" rIns="0" bIns="0" anchor="t" anchorCtr="0">
              <a:spAutoFit/>
            </a:bodyPr>
            <a:lstStyle/>
            <a:p>
              <a:pPr algn="l">
                <a:lnSpc>
                  <a:spcPts val="825"/>
                </a:lnSpc>
              </a:pPr>
              <a:r>
                <a:rPr lang="zh-CN" sz="680" b="1" dirty="0">
                  <a:solidFill>
                    <a:srgbClr val="1A1A1A"/>
                  </a:solidFill>
                  <a:latin typeface="+mn-lt"/>
                  <a:ea typeface="+mn-ea"/>
                  <a:cs typeface="+mn-cs"/>
                </a:rPr>
                <a:t>审批​</a:t>
              </a:r>
            </a:p>
            <a:p>
              <a:pPr algn="l">
                <a:lnSpc>
                  <a:spcPts val="825"/>
                </a:lnSpc>
              </a:pPr>
              <a:r>
                <a:rPr lang="en-US" sz="560" dirty="0">
                  <a:solidFill>
                    <a:srgbClr val="666666"/>
                  </a:solidFill>
                  <a:latin typeface="+mn-lt"/>
                  <a:ea typeface="+mn-ea"/>
                  <a:cs typeface="+mn-cs"/>
                </a:rPr>
                <a:t>Approval​​</a:t>
              </a:r>
            </a:p>
          </p:txBody>
        </p:sp>
        <p:sp>
          <p:nvSpPr>
            <p:cNvPr id="87" name="Ellipse 87"/>
            <p:cNvSpPr/>
            <p:nvPr/>
          </p:nvSpPr>
          <p:spPr>
            <a:xfrm>
              <a:off x="6113145" y="5502592"/>
              <a:ext cx="171450" cy="171450"/>
            </a:xfrm>
            <a:prstGeom prst="ellipse">
              <a:avLst/>
            </a:prstGeom>
            <a:solidFill>
              <a:srgbClr val="FFFFFF"/>
            </a:solidFill>
            <a:ln w="11430">
              <a:solidFill>
                <a:srgbClr val="6B1100"/>
              </a:solidFill>
            </a:ln>
          </p:spPr>
        </p:sp>
        <p:sp>
          <p:nvSpPr>
            <p:cNvPr id="88" name="TextBox 88"/>
            <p:cNvSpPr txBox="1"/>
            <p:nvPr/>
          </p:nvSpPr>
          <p:spPr>
            <a:xfrm>
              <a:off x="6141242" y="5548789"/>
              <a:ext cx="115256" cy="133350"/>
            </a:xfrm>
            <a:prstGeom prst="rect">
              <a:avLst/>
            </a:prstGeom>
            <a:noFill/>
            <a:ln>
              <a:noFill/>
            </a:ln>
          </p:spPr>
          <p:txBody>
            <a:bodyPr wrap="none" lIns="0" tIns="0" rIns="0" bIns="0" anchor="t" anchorCtr="0">
              <a:spAutoFit/>
            </a:bodyPr>
            <a:lstStyle/>
            <a:p>
              <a:pPr algn="ctr"/>
              <a:r>
                <a:rPr lang="zh-CN" sz="680" b="1" dirty="0">
                  <a:solidFill>
                    <a:srgbClr val="6B1100"/>
                  </a:solidFill>
                  <a:latin typeface="+mn-lt"/>
                  <a:ea typeface="+mn-ea"/>
                  <a:cs typeface="+mn-cs"/>
                </a:rPr>
                <a:t>7​</a:t>
              </a:r>
            </a:p>
          </p:txBody>
        </p:sp>
        <p:sp>
          <p:nvSpPr>
            <p:cNvPr id="89" name="Freeform 89"/>
            <p:cNvSpPr/>
            <p:nvPr/>
          </p:nvSpPr>
          <p:spPr>
            <a:xfrm>
              <a:off x="4667250" y="5755958"/>
              <a:ext cx="1390650" cy="130493"/>
            </a:xfrm>
            <a:custGeom>
              <a:avLst/>
              <a:gdLst/>
              <a:ahLst/>
              <a:cxnLst/>
              <a:rect l="l" t="t" r="r" b="b"/>
              <a:pathLst>
                <a:path w="1390650" h="130493">
                  <a:moveTo>
                    <a:pt x="1390650" y="0"/>
                  </a:moveTo>
                  <a:lnTo>
                    <a:pt x="476250" y="130493"/>
                  </a:lnTo>
                  <a:lnTo>
                    <a:pt x="0" y="130493"/>
                  </a:lnTo>
                </a:path>
              </a:pathLst>
            </a:custGeom>
            <a:noFill/>
            <a:ln w="7620">
              <a:solidFill>
                <a:srgbClr val="9A9A9A"/>
              </a:solidFill>
            </a:ln>
          </p:spPr>
        </p:sp>
        <p:sp>
          <p:nvSpPr>
            <p:cNvPr id="90" name="TextBox 90"/>
            <p:cNvSpPr txBox="1"/>
            <p:nvPr/>
          </p:nvSpPr>
          <p:spPr>
            <a:xfrm>
              <a:off x="4382745" y="5804059"/>
              <a:ext cx="232118" cy="238125"/>
            </a:xfrm>
            <a:prstGeom prst="rect">
              <a:avLst/>
            </a:prstGeom>
            <a:noFill/>
            <a:ln>
              <a:noFill/>
            </a:ln>
          </p:spPr>
          <p:txBody>
            <a:bodyPr wrap="none" lIns="0" tIns="0" rIns="0" bIns="0" anchor="t" anchorCtr="0">
              <a:spAutoFit/>
            </a:bodyPr>
            <a:lstStyle/>
            <a:p>
              <a:pPr algn="r">
                <a:lnSpc>
                  <a:spcPts val="825"/>
                </a:lnSpc>
              </a:pPr>
              <a:r>
                <a:rPr lang="zh-CN" sz="680" b="1" dirty="0">
                  <a:solidFill>
                    <a:srgbClr val="1A1A1A"/>
                  </a:solidFill>
                  <a:latin typeface="+mn-lt"/>
                  <a:ea typeface="+mn-ea"/>
                  <a:cs typeface="+mn-cs"/>
                </a:rPr>
                <a:t>使用​</a:t>
              </a:r>
            </a:p>
            <a:p>
              <a:pPr algn="r">
                <a:lnSpc>
                  <a:spcPts val="825"/>
                </a:lnSpc>
              </a:pPr>
              <a:r>
                <a:rPr lang="en-US" sz="560" dirty="0">
                  <a:solidFill>
                    <a:srgbClr val="666666"/>
                  </a:solidFill>
                  <a:latin typeface="+mn-lt"/>
                  <a:ea typeface="+mn-ea"/>
                  <a:cs typeface="+mn-cs"/>
                </a:rPr>
                <a:t>Use​​</a:t>
              </a:r>
            </a:p>
          </p:txBody>
        </p:sp>
        <p:sp>
          <p:nvSpPr>
            <p:cNvPr id="91" name="Ellipse 91"/>
            <p:cNvSpPr/>
            <p:nvPr/>
          </p:nvSpPr>
          <p:spPr>
            <a:xfrm>
              <a:off x="5914072" y="5158740"/>
              <a:ext cx="171450" cy="171450"/>
            </a:xfrm>
            <a:prstGeom prst="ellipse">
              <a:avLst/>
            </a:prstGeom>
            <a:solidFill>
              <a:srgbClr val="FFFFFF"/>
            </a:solidFill>
            <a:ln w="11430">
              <a:solidFill>
                <a:srgbClr val="6B1100"/>
              </a:solidFill>
            </a:ln>
          </p:spPr>
        </p:sp>
        <p:sp>
          <p:nvSpPr>
            <p:cNvPr id="92" name="TextBox 92"/>
            <p:cNvSpPr txBox="1"/>
            <p:nvPr/>
          </p:nvSpPr>
          <p:spPr>
            <a:xfrm>
              <a:off x="5942170" y="5204936"/>
              <a:ext cx="115256" cy="133350"/>
            </a:xfrm>
            <a:prstGeom prst="rect">
              <a:avLst/>
            </a:prstGeom>
            <a:noFill/>
            <a:ln>
              <a:noFill/>
            </a:ln>
          </p:spPr>
          <p:txBody>
            <a:bodyPr wrap="none" lIns="0" tIns="0" rIns="0" bIns="0" anchor="t" anchorCtr="0">
              <a:spAutoFit/>
            </a:bodyPr>
            <a:lstStyle/>
            <a:p>
              <a:pPr algn="ctr"/>
              <a:r>
                <a:rPr lang="zh-CN" sz="680" b="1" dirty="0">
                  <a:solidFill>
                    <a:srgbClr val="6B1100"/>
                  </a:solidFill>
                  <a:latin typeface="+mn-lt"/>
                  <a:ea typeface="+mn-ea"/>
                  <a:cs typeface="+mn-cs"/>
                </a:rPr>
                <a:t>8​</a:t>
              </a:r>
            </a:p>
          </p:txBody>
        </p:sp>
        <p:sp>
          <p:nvSpPr>
            <p:cNvPr id="93" name="Freeform 93"/>
            <p:cNvSpPr/>
            <p:nvPr/>
          </p:nvSpPr>
          <p:spPr>
            <a:xfrm>
              <a:off x="4667250" y="5282565"/>
              <a:ext cx="1117282" cy="89535"/>
            </a:xfrm>
            <a:custGeom>
              <a:avLst/>
              <a:gdLst/>
              <a:ahLst/>
              <a:cxnLst/>
              <a:rect l="l" t="t" r="r" b="b"/>
              <a:pathLst>
                <a:path w="1117282" h="89535">
                  <a:moveTo>
                    <a:pt x="1117282" y="0"/>
                  </a:moveTo>
                  <a:lnTo>
                    <a:pt x="476250" y="89535"/>
                  </a:lnTo>
                  <a:lnTo>
                    <a:pt x="0" y="89535"/>
                  </a:lnTo>
                </a:path>
              </a:pathLst>
            </a:custGeom>
            <a:noFill/>
            <a:ln w="7620">
              <a:solidFill>
                <a:srgbClr val="9A9A9A"/>
              </a:solidFill>
            </a:ln>
          </p:spPr>
        </p:sp>
        <p:sp>
          <p:nvSpPr>
            <p:cNvPr id="94" name="TextBox 94"/>
            <p:cNvSpPr txBox="1"/>
            <p:nvPr/>
          </p:nvSpPr>
          <p:spPr>
            <a:xfrm>
              <a:off x="3943922" y="5289709"/>
              <a:ext cx="670941" cy="238125"/>
            </a:xfrm>
            <a:prstGeom prst="rect">
              <a:avLst/>
            </a:prstGeom>
            <a:noFill/>
            <a:ln>
              <a:noFill/>
            </a:ln>
          </p:spPr>
          <p:txBody>
            <a:bodyPr wrap="none" lIns="0" tIns="0" rIns="0" bIns="0" anchor="t" anchorCtr="0">
              <a:spAutoFit/>
            </a:bodyPr>
            <a:lstStyle/>
            <a:p>
              <a:pPr algn="r">
                <a:lnSpc>
                  <a:spcPts val="825"/>
                </a:lnSpc>
              </a:pPr>
              <a:r>
                <a:rPr lang="zh-CN" sz="680" b="1" dirty="0">
                  <a:solidFill>
                    <a:srgbClr val="1A1A1A"/>
                  </a:solidFill>
                  <a:latin typeface="+mn-lt"/>
                  <a:ea typeface="+mn-ea"/>
                  <a:cs typeface="+mn-cs"/>
                </a:rPr>
                <a:t>模型监控​</a:t>
              </a:r>
            </a:p>
            <a:p>
              <a:pPr algn="r">
                <a:lnSpc>
                  <a:spcPts val="825"/>
                </a:lnSpc>
              </a:pPr>
              <a:r>
                <a:rPr lang="en-US" sz="560" dirty="0">
                  <a:solidFill>
                    <a:srgbClr val="666666"/>
                  </a:solidFill>
                  <a:latin typeface="+mn-lt"/>
                  <a:ea typeface="+mn-ea"/>
                  <a:cs typeface="+mn-cs"/>
                </a:rPr>
                <a:t>Model monitoring​​</a:t>
              </a:r>
            </a:p>
          </p:txBody>
        </p:sp>
        <p:sp>
          <p:nvSpPr>
            <p:cNvPr id="95" name="Ellipse 95"/>
            <p:cNvSpPr/>
            <p:nvPr/>
          </p:nvSpPr>
          <p:spPr>
            <a:xfrm>
              <a:off x="5983605" y="4767262"/>
              <a:ext cx="171450" cy="171450"/>
            </a:xfrm>
            <a:prstGeom prst="ellipse">
              <a:avLst/>
            </a:prstGeom>
            <a:solidFill>
              <a:srgbClr val="FFFFFF"/>
            </a:solidFill>
            <a:ln w="11430">
              <a:solidFill>
                <a:srgbClr val="6B1100"/>
              </a:solidFill>
            </a:ln>
          </p:spPr>
        </p:sp>
        <p:sp>
          <p:nvSpPr>
            <p:cNvPr id="96" name="TextBox 96"/>
            <p:cNvSpPr txBox="1"/>
            <p:nvPr/>
          </p:nvSpPr>
          <p:spPr>
            <a:xfrm>
              <a:off x="6011702" y="4813459"/>
              <a:ext cx="115256" cy="133350"/>
            </a:xfrm>
            <a:prstGeom prst="rect">
              <a:avLst/>
            </a:prstGeom>
            <a:noFill/>
            <a:ln>
              <a:noFill/>
            </a:ln>
          </p:spPr>
          <p:txBody>
            <a:bodyPr wrap="none" lIns="0" tIns="0" rIns="0" bIns="0" anchor="t" anchorCtr="0">
              <a:spAutoFit/>
            </a:bodyPr>
            <a:lstStyle/>
            <a:p>
              <a:pPr algn="ctr"/>
              <a:r>
                <a:rPr lang="zh-CN" sz="680" b="1" dirty="0">
                  <a:solidFill>
                    <a:srgbClr val="6B1100"/>
                  </a:solidFill>
                  <a:latin typeface="+mn-lt"/>
                  <a:ea typeface="+mn-ea"/>
                  <a:cs typeface="+mn-cs"/>
                </a:rPr>
                <a:t>9​</a:t>
              </a:r>
            </a:p>
          </p:txBody>
        </p:sp>
        <p:sp>
          <p:nvSpPr>
            <p:cNvPr id="97" name="Freeform 97"/>
            <p:cNvSpPr/>
            <p:nvPr/>
          </p:nvSpPr>
          <p:spPr>
            <a:xfrm>
              <a:off x="4667250" y="4743450"/>
              <a:ext cx="1212532" cy="114300"/>
            </a:xfrm>
            <a:custGeom>
              <a:avLst/>
              <a:gdLst/>
              <a:ahLst/>
              <a:cxnLst/>
              <a:rect l="l" t="t" r="r" b="b"/>
              <a:pathLst>
                <a:path w="1212532" h="114300">
                  <a:moveTo>
                    <a:pt x="1212532" y="0"/>
                  </a:moveTo>
                  <a:lnTo>
                    <a:pt x="476250" y="114300"/>
                  </a:lnTo>
                  <a:lnTo>
                    <a:pt x="0" y="114300"/>
                  </a:lnTo>
                </a:path>
              </a:pathLst>
            </a:custGeom>
            <a:noFill/>
            <a:ln w="7620">
              <a:solidFill>
                <a:srgbClr val="9A9A9A"/>
              </a:solidFill>
            </a:ln>
          </p:spPr>
        </p:sp>
        <p:sp>
          <p:nvSpPr>
            <p:cNvPr id="98" name="TextBox 98"/>
            <p:cNvSpPr txBox="1"/>
            <p:nvPr/>
          </p:nvSpPr>
          <p:spPr>
            <a:xfrm>
              <a:off x="3965258" y="4775359"/>
              <a:ext cx="649605" cy="238125"/>
            </a:xfrm>
            <a:prstGeom prst="rect">
              <a:avLst/>
            </a:prstGeom>
            <a:noFill/>
            <a:ln>
              <a:noFill/>
            </a:ln>
          </p:spPr>
          <p:txBody>
            <a:bodyPr wrap="none" lIns="0" tIns="0" rIns="0" bIns="0" anchor="t" anchorCtr="0">
              <a:spAutoFit/>
            </a:bodyPr>
            <a:lstStyle/>
            <a:p>
              <a:pPr algn="r">
                <a:lnSpc>
                  <a:spcPts val="825"/>
                </a:lnSpc>
              </a:pPr>
              <a:r>
                <a:rPr lang="zh-CN" sz="680" b="1" dirty="0">
                  <a:solidFill>
                    <a:srgbClr val="1A1A1A"/>
                  </a:solidFill>
                  <a:latin typeface="+mn-lt"/>
                  <a:ea typeface="+mn-ea"/>
                  <a:cs typeface="+mn-cs"/>
                </a:rPr>
                <a:t>退役​</a:t>
              </a:r>
            </a:p>
            <a:p>
              <a:pPr algn="r">
                <a:lnSpc>
                  <a:spcPts val="825"/>
                </a:lnSpc>
              </a:pPr>
              <a:r>
                <a:rPr lang="en-US" sz="560" dirty="0">
                  <a:solidFill>
                    <a:srgbClr val="666666"/>
                  </a:solidFill>
                  <a:latin typeface="+mn-lt"/>
                  <a:ea typeface="+mn-ea"/>
                  <a:cs typeface="+mn-cs"/>
                </a:rPr>
                <a:t>Decommissioning​​</a:t>
              </a:r>
            </a:p>
          </p:txBody>
        </p:sp>
      </p:grpSp>
      <p:grpSp>
        <p:nvGrpSpPr>
          <p:cNvPr id="133" name="nav"/>
          <p:cNvGrpSpPr/>
          <p:nvPr/>
        </p:nvGrpSpPr>
        <p:grpSpPr>
          <a:xfrm>
            <a:off x="9834562" y="0"/>
            <a:ext cx="2357438" cy="6858000"/>
            <a:chOff x="9834562" y="0"/>
            <a:chExt cx="2357438" cy="6858000"/>
          </a:xfrm>
        </p:grpSpPr>
        <p:sp>
          <p:nvSpPr>
            <p:cNvPr id="100" name="Line 100"/>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01" name="Rectangle 101"/>
            <p:cNvSpPr/>
            <p:nvPr/>
          </p:nvSpPr>
          <p:spPr>
            <a:xfrm>
              <a:off x="9839325" y="476250"/>
              <a:ext cx="2352675" cy="514350"/>
            </a:xfrm>
            <a:prstGeom prst="rect">
              <a:avLst/>
            </a:prstGeom>
            <a:solidFill>
              <a:srgbClr val="F3F3F3"/>
            </a:solidFill>
            <a:ln>
              <a:noFill/>
            </a:ln>
          </p:spPr>
        </p:sp>
        <p:sp>
          <p:nvSpPr>
            <p:cNvPr id="102" name="TextBox 102"/>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03" name="Rectangle 103"/>
            <p:cNvSpPr/>
            <p:nvPr/>
          </p:nvSpPr>
          <p:spPr>
            <a:xfrm>
              <a:off x="9839325" y="1000125"/>
              <a:ext cx="2352675" cy="514350"/>
            </a:xfrm>
            <a:prstGeom prst="rect">
              <a:avLst/>
            </a:prstGeom>
            <a:solidFill>
              <a:srgbClr val="F3F3F3"/>
            </a:solidFill>
            <a:ln>
              <a:noFill/>
            </a:ln>
          </p:spPr>
        </p:sp>
        <p:sp>
          <p:nvSpPr>
            <p:cNvPr id="104" name="TextBox 104"/>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05" name="Rectangle 105"/>
            <p:cNvSpPr/>
            <p:nvPr/>
          </p:nvSpPr>
          <p:spPr>
            <a:xfrm>
              <a:off x="9839325" y="1524000"/>
              <a:ext cx="2352675" cy="514350"/>
            </a:xfrm>
            <a:prstGeom prst="rect">
              <a:avLst/>
            </a:prstGeom>
            <a:solidFill>
              <a:srgbClr val="F3F3F3"/>
            </a:solidFill>
            <a:ln>
              <a:noFill/>
            </a:ln>
          </p:spPr>
        </p:sp>
        <p:sp>
          <p:nvSpPr>
            <p:cNvPr id="106" name="TextBox 106"/>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07" name="Rectangle 107"/>
            <p:cNvSpPr/>
            <p:nvPr/>
          </p:nvSpPr>
          <p:spPr>
            <a:xfrm>
              <a:off x="9839325" y="2047875"/>
              <a:ext cx="2352675" cy="514350"/>
            </a:xfrm>
            <a:prstGeom prst="rect">
              <a:avLst/>
            </a:prstGeom>
            <a:solidFill>
              <a:srgbClr val="F3F3F3"/>
            </a:solidFill>
            <a:ln>
              <a:noFill/>
            </a:ln>
          </p:spPr>
        </p:sp>
        <p:sp>
          <p:nvSpPr>
            <p:cNvPr id="108" name="TextBox 108"/>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09" name="Rectangle 109"/>
            <p:cNvSpPr/>
            <p:nvPr/>
          </p:nvSpPr>
          <p:spPr>
            <a:xfrm>
              <a:off x="9839325" y="2571750"/>
              <a:ext cx="2352675" cy="514350"/>
            </a:xfrm>
            <a:prstGeom prst="rect">
              <a:avLst/>
            </a:prstGeom>
            <a:solidFill>
              <a:srgbClr val="F3F3F3"/>
            </a:solidFill>
            <a:ln>
              <a:noFill/>
            </a:ln>
          </p:spPr>
        </p:sp>
        <p:sp>
          <p:nvSpPr>
            <p:cNvPr id="110" name="TextBox 110"/>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11" name="Rectangle 111"/>
            <p:cNvSpPr/>
            <p:nvPr/>
          </p:nvSpPr>
          <p:spPr>
            <a:xfrm>
              <a:off x="9839325" y="3095625"/>
              <a:ext cx="2352675" cy="514350"/>
            </a:xfrm>
            <a:prstGeom prst="rect">
              <a:avLst/>
            </a:prstGeom>
            <a:solidFill>
              <a:srgbClr val="6B1100"/>
            </a:solidFill>
            <a:ln>
              <a:noFill/>
            </a:ln>
          </p:spPr>
        </p:sp>
        <p:sp>
          <p:nvSpPr>
            <p:cNvPr id="112" name="TextBox 112"/>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113" name="Rectangle 113"/>
            <p:cNvSpPr/>
            <p:nvPr/>
          </p:nvSpPr>
          <p:spPr>
            <a:xfrm>
              <a:off x="9839325" y="3619500"/>
              <a:ext cx="2352675" cy="514350"/>
            </a:xfrm>
            <a:prstGeom prst="rect">
              <a:avLst/>
            </a:prstGeom>
            <a:solidFill>
              <a:srgbClr val="F3F3F3"/>
            </a:solidFill>
            <a:ln>
              <a:noFill/>
            </a:ln>
          </p:spPr>
        </p:sp>
        <p:sp>
          <p:nvSpPr>
            <p:cNvPr id="114" name="TextBox 114"/>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15" name="Rectangle 115"/>
            <p:cNvSpPr/>
            <p:nvPr/>
          </p:nvSpPr>
          <p:spPr>
            <a:xfrm>
              <a:off x="9839325" y="4143375"/>
              <a:ext cx="2352675" cy="514350"/>
            </a:xfrm>
            <a:prstGeom prst="rect">
              <a:avLst/>
            </a:prstGeom>
            <a:solidFill>
              <a:srgbClr val="F3F3F3"/>
            </a:solidFill>
            <a:ln>
              <a:noFill/>
            </a:ln>
          </p:spPr>
        </p:sp>
        <p:sp>
          <p:nvSpPr>
            <p:cNvPr id="116" name="TextBox 116"/>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17" name="Rectangle 117"/>
            <p:cNvSpPr/>
            <p:nvPr/>
          </p:nvSpPr>
          <p:spPr>
            <a:xfrm>
              <a:off x="9839325" y="4667250"/>
              <a:ext cx="2352675" cy="514350"/>
            </a:xfrm>
            <a:prstGeom prst="rect">
              <a:avLst/>
            </a:prstGeom>
            <a:solidFill>
              <a:srgbClr val="F3F3F3"/>
            </a:solidFill>
            <a:ln>
              <a:noFill/>
            </a:ln>
          </p:spPr>
        </p:sp>
        <p:sp>
          <p:nvSpPr>
            <p:cNvPr id="118" name="TextBox 118"/>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19" name="Rectangle 119"/>
            <p:cNvSpPr/>
            <p:nvPr/>
          </p:nvSpPr>
          <p:spPr>
            <a:xfrm>
              <a:off x="9839325" y="5191125"/>
              <a:ext cx="2352675" cy="514350"/>
            </a:xfrm>
            <a:prstGeom prst="rect">
              <a:avLst/>
            </a:prstGeom>
            <a:solidFill>
              <a:srgbClr val="F3F3F3"/>
            </a:solidFill>
            <a:ln>
              <a:noFill/>
            </a:ln>
          </p:spPr>
        </p:sp>
        <p:sp>
          <p:nvSpPr>
            <p:cNvPr id="120" name="TextBox 120"/>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21" name="Rectangle 121"/>
            <p:cNvSpPr/>
            <p:nvPr/>
          </p:nvSpPr>
          <p:spPr>
            <a:xfrm>
              <a:off x="9839325" y="5715000"/>
              <a:ext cx="2352675" cy="514350"/>
            </a:xfrm>
            <a:prstGeom prst="rect">
              <a:avLst/>
            </a:prstGeom>
            <a:solidFill>
              <a:srgbClr val="F3F3F3"/>
            </a:solidFill>
            <a:ln>
              <a:noFill/>
            </a:ln>
          </p:spPr>
        </p:sp>
        <p:sp>
          <p:nvSpPr>
            <p:cNvPr id="122" name="TextBox 122"/>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23" name="Ellipse 123"/>
            <p:cNvSpPr/>
            <p:nvPr/>
          </p:nvSpPr>
          <p:spPr>
            <a:xfrm>
              <a:off x="10020300" y="6372225"/>
              <a:ext cx="266700" cy="266700"/>
            </a:xfrm>
            <a:prstGeom prst="ellipse">
              <a:avLst/>
            </a:prstGeom>
            <a:solidFill>
              <a:srgbClr val="D7D8D6"/>
            </a:solidFill>
            <a:ln>
              <a:noFill/>
            </a:ln>
          </p:spPr>
        </p:sp>
        <p:sp>
          <p:nvSpPr>
            <p:cNvPr id="124" name="Freeform 124"/>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25" name="Ellipse 125"/>
            <p:cNvSpPr/>
            <p:nvPr/>
          </p:nvSpPr>
          <p:spPr>
            <a:xfrm>
              <a:off x="10420350" y="6372225"/>
              <a:ext cx="266700" cy="266700"/>
            </a:xfrm>
            <a:prstGeom prst="ellipse">
              <a:avLst/>
            </a:prstGeom>
            <a:solidFill>
              <a:srgbClr val="D7D8D6"/>
            </a:solidFill>
            <a:ln>
              <a:noFill/>
            </a:ln>
          </p:spPr>
        </p:sp>
        <p:grpSp>
          <p:nvGrpSpPr>
            <p:cNvPr id="129" name="Group 129"/>
            <p:cNvGrpSpPr/>
            <p:nvPr/>
          </p:nvGrpSpPr>
          <p:grpSpPr>
            <a:xfrm>
              <a:off x="10489406" y="6441281"/>
              <a:ext cx="128588" cy="128588"/>
              <a:chOff x="10489406" y="6441281"/>
              <a:chExt cx="128588" cy="128588"/>
            </a:xfrm>
          </p:grpSpPr>
          <p:sp>
            <p:nvSpPr>
              <p:cNvPr id="126" name="Freeform 126"/>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27" name="Freeform 127"/>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28" name="Freeform 128"/>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30" name="Ellipse 130"/>
            <p:cNvSpPr/>
            <p:nvPr/>
          </p:nvSpPr>
          <p:spPr>
            <a:xfrm>
              <a:off x="10820400" y="6372225"/>
              <a:ext cx="266700" cy="266700"/>
            </a:xfrm>
            <a:prstGeom prst="ellipse">
              <a:avLst/>
            </a:prstGeom>
            <a:solidFill>
              <a:srgbClr val="D7D8D6"/>
            </a:solidFill>
            <a:ln>
              <a:noFill/>
            </a:ln>
          </p:spPr>
        </p:sp>
        <p:sp>
          <p:nvSpPr>
            <p:cNvPr id="131" name="Freeform 131"/>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32" name="TextBox 132"/>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28</a:t>
              </a:r>
            </a:p>
          </p:txBody>
        </p:sp>
      </p:gr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6B11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29</a:t>
              </a:r>
            </a:p>
          </p:txBody>
        </p:sp>
        <p:sp>
          <p:nvSpPr>
            <p:cNvPr id="4" name="TextBox 4"/>
            <p:cNvSpPr txBox="1"/>
            <p:nvPr/>
          </p:nvSpPr>
          <p:spPr>
            <a:xfrm>
              <a:off x="942594" y="151448"/>
              <a:ext cx="406314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治理与生命周期：</a:t>
              </a:r>
              <a:r>
                <a:rPr lang="zh-CN" sz="1950" b="1" dirty="0">
                  <a:solidFill>
                    <a:srgbClr val="AA1B00"/>
                  </a:solidFill>
                  <a:latin typeface="+mj-lt"/>
                  <a:ea typeface="+mj-ea"/>
                  <a:cs typeface="+mj-cs"/>
                </a:rPr>
                <a:t>机器学习模型</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6B1100"/>
              </a:solidFill>
            </a:ln>
          </p:spPr>
        </p:sp>
      </p:grpSp>
      <p:grpSp>
        <p:nvGrpSpPr>
          <p:cNvPr id="11" name="col-1"/>
          <p:cNvGrpSpPr/>
          <p:nvPr/>
        </p:nvGrpSpPr>
        <p:grpSpPr>
          <a:xfrm>
            <a:off x="566547" y="847249"/>
            <a:ext cx="3615881" cy="1146334"/>
            <a:chOff x="566547" y="847249"/>
            <a:chExt cx="3615881" cy="1146334"/>
          </a:xfrm>
        </p:grpSpPr>
        <p:sp>
          <p:nvSpPr>
            <p:cNvPr id="7" name="TextBox 7"/>
            <p:cNvSpPr txBox="1"/>
            <p:nvPr/>
          </p:nvSpPr>
          <p:spPr>
            <a:xfrm>
              <a:off x="566547" y="847249"/>
              <a:ext cx="877660"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机器学习模型​</a:t>
              </a:r>
            </a:p>
          </p:txBody>
        </p:sp>
        <p:sp>
          <p:nvSpPr>
            <p:cNvPr id="8" name="TextBox 8"/>
            <p:cNvSpPr txBox="1"/>
            <p:nvPr/>
          </p:nvSpPr>
          <p:spPr>
            <a:xfrm>
              <a:off x="566738" y="1012984"/>
              <a:ext cx="1120164"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Machine learning models​</a:t>
              </a:r>
            </a:p>
          </p:txBody>
        </p:sp>
        <p:sp>
          <p:nvSpPr>
            <p:cNvPr id="9" name="TextBox 9"/>
            <p:cNvSpPr txBox="1"/>
            <p:nvPr/>
          </p:nvSpPr>
          <p:spPr>
            <a:xfrm>
              <a:off x="566738" y="1169670"/>
              <a:ext cx="36156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机器学习模型的使用在银行各类模型类型中日益普遍。不到三分之一（​</a:t>
              </a:r>
              <a:br/>
              <a:r>
                <a:rPr lang="zh-CN" sz="900" dirty="0">
                  <a:solidFill>
                    <a:srgbClr val="333333"/>
                  </a:solidFill>
                  <a:latin typeface="+mn-lt"/>
                  <a:ea typeface="+mn-ea"/>
                  <a:cs typeface="+mn-cs"/>
                </a:rPr>
                <a:t>31%）的银行表示，模型开发中完全未使用机器学习技术。​</a:t>
              </a:r>
            </a:p>
          </p:txBody>
        </p:sp>
        <p:sp>
          <p:nvSpPr>
            <p:cNvPr id="10" name="TextBox 10"/>
            <p:cNvSpPr txBox="1"/>
            <p:nvPr/>
          </p:nvSpPr>
          <p:spPr>
            <a:xfrm>
              <a:off x="566738" y="1636395"/>
              <a:ext cx="354711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然而，61%的银行没有针对机器学习模型的专项模型风险标准（例如​​</a:t>
              </a:r>
              <a:br/>
              <a:r>
                <a:rPr lang="zh-CN" sz="900" dirty="0">
                  <a:solidFill>
                    <a:srgbClr val="333333"/>
                  </a:solidFill>
                  <a:latin typeface="+mn-lt"/>
                  <a:ea typeface="+mn-ea"/>
                  <a:cs typeface="+mn-cs"/>
                </a:rPr>
                <a:t>模型验证标准）。​</a:t>
              </a:r>
            </a:p>
          </p:txBody>
        </p:sp>
      </p:grpSp>
      <p:grpSp>
        <p:nvGrpSpPr>
          <p:cNvPr id="26" name="figure-35"/>
          <p:cNvGrpSpPr/>
          <p:nvPr/>
        </p:nvGrpSpPr>
        <p:grpSpPr>
          <a:xfrm>
            <a:off x="4872038" y="863441"/>
            <a:ext cx="4081810" cy="1746409"/>
            <a:chOff x="4872038" y="863441"/>
            <a:chExt cx="4081810" cy="1746409"/>
          </a:xfrm>
        </p:grpSpPr>
        <p:sp>
          <p:nvSpPr>
            <p:cNvPr id="12" name="TextBox 12"/>
            <p:cNvSpPr txBox="1"/>
            <p:nvPr/>
          </p:nvSpPr>
          <p:spPr>
            <a:xfrm>
              <a:off x="4872038" y="863441"/>
              <a:ext cx="3785084"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图35. 是否具备针对机器学习模型的专项模型风险标准（如模型验证标准）​​</a:t>
              </a:r>
            </a:p>
          </p:txBody>
        </p:sp>
        <p:sp>
          <p:nvSpPr>
            <p:cNvPr id="13" name="TextBox 13"/>
            <p:cNvSpPr txBox="1"/>
            <p:nvPr/>
          </p:nvSpPr>
          <p:spPr>
            <a:xfrm>
              <a:off x="4872038" y="1007507"/>
              <a:ext cx="3144095"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Availability of specific model risk standards for machine learning models​​</a:t>
              </a:r>
            </a:p>
          </p:txBody>
        </p:sp>
        <p:sp>
          <p:nvSpPr>
            <p:cNvPr id="14" name="Freeform 14"/>
            <p:cNvSpPr/>
            <p:nvPr/>
          </p:nvSpPr>
          <p:spPr>
            <a:xfrm>
              <a:off x="5505450" y="1428750"/>
              <a:ext cx="1181100" cy="1181100"/>
            </a:xfrm>
            <a:prstGeom prst="blockArc">
              <a:avLst>
                <a:gd name="adj1" fmla="val 16200000"/>
                <a:gd name="adj2" fmla="val 7776000"/>
                <a:gd name="adj3" fmla="val 16129"/>
              </a:avLst>
            </a:prstGeom>
            <a:solidFill>
              <a:srgbClr val="D8482E"/>
            </a:solidFill>
            <a:ln>
              <a:noFill/>
            </a:ln>
          </p:spPr>
        </p:sp>
        <p:sp>
          <p:nvSpPr>
            <p:cNvPr id="15" name="Freeform 15"/>
            <p:cNvSpPr/>
            <p:nvPr/>
          </p:nvSpPr>
          <p:spPr>
            <a:xfrm>
              <a:off x="5505450" y="1428750"/>
              <a:ext cx="1181100" cy="1181100"/>
            </a:xfrm>
            <a:prstGeom prst="blockArc">
              <a:avLst>
                <a:gd name="adj1" fmla="val 7776000"/>
                <a:gd name="adj2" fmla="val 13176000"/>
                <a:gd name="adj3" fmla="val 16129"/>
              </a:avLst>
            </a:prstGeom>
            <a:solidFill>
              <a:srgbClr val="C35642"/>
            </a:solidFill>
            <a:ln>
              <a:noFill/>
            </a:ln>
          </p:spPr>
        </p:sp>
        <p:sp>
          <p:nvSpPr>
            <p:cNvPr id="16" name="Freeform 16"/>
            <p:cNvSpPr/>
            <p:nvPr/>
          </p:nvSpPr>
          <p:spPr>
            <a:xfrm>
              <a:off x="5505450" y="1428750"/>
              <a:ext cx="1181100" cy="1181100"/>
            </a:xfrm>
            <a:prstGeom prst="blockArc">
              <a:avLst>
                <a:gd name="adj1" fmla="val 13176000"/>
                <a:gd name="adj2" fmla="val 16200000"/>
                <a:gd name="adj3" fmla="val 16129"/>
              </a:avLst>
            </a:prstGeom>
            <a:solidFill>
              <a:srgbClr val="6B1100"/>
            </a:solidFill>
            <a:ln>
              <a:noFill/>
            </a:ln>
          </p:spPr>
        </p:sp>
        <p:sp>
          <p:nvSpPr>
            <p:cNvPr id="17" name="TextBox 17"/>
            <p:cNvSpPr txBox="1"/>
            <p:nvPr/>
          </p:nvSpPr>
          <p:spPr>
            <a:xfrm>
              <a:off x="6643271" y="2217658"/>
              <a:ext cx="250387" cy="140494"/>
            </a:xfrm>
            <a:prstGeom prst="rect">
              <a:avLst/>
            </a:prstGeom>
            <a:noFill/>
            <a:ln>
              <a:noFill/>
            </a:ln>
          </p:spPr>
          <p:txBody>
            <a:bodyPr wrap="none" lIns="0" tIns="0" rIns="0" bIns="0" anchor="t" anchorCtr="0">
              <a:spAutoFit/>
            </a:bodyPr>
            <a:lstStyle/>
            <a:p>
              <a:pPr algn="ctr"/>
              <a:r>
                <a:rPr lang="zh-CN" sz="710" b="1" dirty="0">
                  <a:solidFill>
                    <a:srgbClr val="1A1A1A"/>
                  </a:solidFill>
                  <a:latin typeface="+mn-lt"/>
                  <a:ea typeface="+mn-ea"/>
                  <a:cs typeface="+mn-cs"/>
                </a:rPr>
                <a:t>61%​</a:t>
              </a:r>
            </a:p>
          </p:txBody>
        </p:sp>
        <p:sp>
          <p:nvSpPr>
            <p:cNvPr id="18" name="TextBox 18"/>
            <p:cNvSpPr txBox="1"/>
            <p:nvPr/>
          </p:nvSpPr>
          <p:spPr>
            <a:xfrm>
              <a:off x="5259289" y="2043351"/>
              <a:ext cx="250387" cy="140494"/>
            </a:xfrm>
            <a:prstGeom prst="rect">
              <a:avLst/>
            </a:prstGeom>
            <a:noFill/>
            <a:ln>
              <a:noFill/>
            </a:ln>
          </p:spPr>
          <p:txBody>
            <a:bodyPr wrap="none" lIns="0" tIns="0" rIns="0" bIns="0" anchor="t" anchorCtr="0">
              <a:spAutoFit/>
            </a:bodyPr>
            <a:lstStyle/>
            <a:p>
              <a:pPr algn="ctr"/>
              <a:r>
                <a:rPr lang="zh-CN" sz="710" b="1" dirty="0">
                  <a:solidFill>
                    <a:srgbClr val="1A1A1A"/>
                  </a:solidFill>
                  <a:latin typeface="+mn-lt"/>
                  <a:ea typeface="+mn-ea"/>
                  <a:cs typeface="+mn-cs"/>
                </a:rPr>
                <a:t>25%​</a:t>
              </a:r>
            </a:p>
          </p:txBody>
        </p:sp>
        <p:sp>
          <p:nvSpPr>
            <p:cNvPr id="19" name="TextBox 19"/>
            <p:cNvSpPr txBox="1"/>
            <p:nvPr/>
          </p:nvSpPr>
          <p:spPr>
            <a:xfrm>
              <a:off x="5666959" y="1328976"/>
              <a:ext cx="250387" cy="140494"/>
            </a:xfrm>
            <a:prstGeom prst="rect">
              <a:avLst/>
            </a:prstGeom>
            <a:noFill/>
            <a:ln>
              <a:noFill/>
            </a:ln>
          </p:spPr>
          <p:txBody>
            <a:bodyPr wrap="none" lIns="0" tIns="0" rIns="0" bIns="0" anchor="t" anchorCtr="0">
              <a:spAutoFit/>
            </a:bodyPr>
            <a:lstStyle/>
            <a:p>
              <a:pPr algn="ctr"/>
              <a:r>
                <a:rPr lang="zh-CN" sz="710" b="1" dirty="0">
                  <a:solidFill>
                    <a:srgbClr val="1A1A1A"/>
                  </a:solidFill>
                  <a:latin typeface="+mn-lt"/>
                  <a:ea typeface="+mn-ea"/>
                  <a:cs typeface="+mn-cs"/>
                </a:rPr>
                <a:t>14%​</a:t>
              </a:r>
            </a:p>
          </p:txBody>
        </p:sp>
        <p:sp>
          <p:nvSpPr>
            <p:cNvPr id="20" name="Rectangle 20"/>
            <p:cNvSpPr/>
            <p:nvPr/>
          </p:nvSpPr>
          <p:spPr>
            <a:xfrm>
              <a:off x="7048500" y="1971675"/>
              <a:ext cx="95250" cy="95250"/>
            </a:xfrm>
            <a:prstGeom prst="rect">
              <a:avLst/>
            </a:prstGeom>
            <a:solidFill>
              <a:srgbClr val="D8482E"/>
            </a:solidFill>
            <a:ln>
              <a:noFill/>
            </a:ln>
          </p:spPr>
        </p:sp>
        <p:sp>
          <p:nvSpPr>
            <p:cNvPr id="21" name="TextBox 21"/>
            <p:cNvSpPr txBox="1"/>
            <p:nvPr/>
          </p:nvSpPr>
          <p:spPr>
            <a:xfrm>
              <a:off x="7186612" y="1984534"/>
              <a:ext cx="30815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否No​​</a:t>
              </a:r>
            </a:p>
          </p:txBody>
        </p:sp>
        <p:sp>
          <p:nvSpPr>
            <p:cNvPr id="22" name="Rectangle 22"/>
            <p:cNvSpPr/>
            <p:nvPr/>
          </p:nvSpPr>
          <p:spPr>
            <a:xfrm>
              <a:off x="7573328" y="1971675"/>
              <a:ext cx="95250" cy="95250"/>
            </a:xfrm>
            <a:prstGeom prst="rect">
              <a:avLst/>
            </a:prstGeom>
            <a:solidFill>
              <a:srgbClr val="C35642"/>
            </a:solidFill>
            <a:ln>
              <a:noFill/>
            </a:ln>
          </p:spPr>
        </p:sp>
        <p:sp>
          <p:nvSpPr>
            <p:cNvPr id="23" name="TextBox 23"/>
            <p:cNvSpPr txBox="1"/>
            <p:nvPr/>
          </p:nvSpPr>
          <p:spPr>
            <a:xfrm>
              <a:off x="7711440" y="1984534"/>
              <a:ext cx="35755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是Yes​​</a:t>
              </a:r>
            </a:p>
          </p:txBody>
        </p:sp>
        <p:sp>
          <p:nvSpPr>
            <p:cNvPr id="24" name="Rectangle 24"/>
            <p:cNvSpPr/>
            <p:nvPr/>
          </p:nvSpPr>
          <p:spPr>
            <a:xfrm>
              <a:off x="8147876" y="1971675"/>
              <a:ext cx="95250" cy="95250"/>
            </a:xfrm>
            <a:prstGeom prst="rect">
              <a:avLst/>
            </a:prstGeom>
            <a:solidFill>
              <a:srgbClr val="6B1100"/>
            </a:solidFill>
            <a:ln>
              <a:noFill/>
            </a:ln>
          </p:spPr>
        </p:sp>
        <p:sp>
          <p:nvSpPr>
            <p:cNvPr id="25" name="TextBox 25"/>
            <p:cNvSpPr txBox="1"/>
            <p:nvPr/>
          </p:nvSpPr>
          <p:spPr>
            <a:xfrm>
              <a:off x="8285988" y="1984534"/>
              <a:ext cx="667860"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未知Unknown​​</a:t>
              </a:r>
            </a:p>
          </p:txBody>
        </p:sp>
      </p:grpSp>
      <p:grpSp>
        <p:nvGrpSpPr>
          <p:cNvPr id="119" name="figure-34"/>
          <p:cNvGrpSpPr/>
          <p:nvPr/>
        </p:nvGrpSpPr>
        <p:grpSpPr>
          <a:xfrm>
            <a:off x="566738" y="3358991"/>
            <a:ext cx="8889237" cy="2438876"/>
            <a:chOff x="566738" y="3358991"/>
            <a:chExt cx="8889237" cy="2438876"/>
          </a:xfrm>
        </p:grpSpPr>
        <p:sp>
          <p:nvSpPr>
            <p:cNvPr id="27" name="TextBox 27"/>
            <p:cNvSpPr txBox="1"/>
            <p:nvPr/>
          </p:nvSpPr>
          <p:spPr>
            <a:xfrm>
              <a:off x="566738" y="3358991"/>
              <a:ext cx="190848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图34. 使用机器学习技术的模型类型​​</a:t>
              </a:r>
            </a:p>
          </p:txBody>
        </p:sp>
        <p:sp>
          <p:nvSpPr>
            <p:cNvPr id="28" name="TextBox 28"/>
            <p:cNvSpPr txBox="1"/>
            <p:nvPr/>
          </p:nvSpPr>
          <p:spPr>
            <a:xfrm>
              <a:off x="566738" y="3503057"/>
              <a:ext cx="2605781"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Model types for which machine learning techniques are used​​</a:t>
              </a:r>
            </a:p>
          </p:txBody>
        </p:sp>
        <p:sp>
          <p:nvSpPr>
            <p:cNvPr id="29" name="Line 29"/>
            <p:cNvSpPr/>
            <p:nvPr/>
          </p:nvSpPr>
          <p:spPr>
            <a:xfrm>
              <a:off x="952500" y="5095875"/>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30" name="TextBox 30"/>
            <p:cNvSpPr txBox="1"/>
            <p:nvPr/>
          </p:nvSpPr>
          <p:spPr>
            <a:xfrm>
              <a:off x="760646" y="5068491"/>
              <a:ext cx="148991"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0%​</a:t>
              </a:r>
            </a:p>
          </p:txBody>
        </p:sp>
        <p:sp>
          <p:nvSpPr>
            <p:cNvPr id="31" name="Line 31"/>
            <p:cNvSpPr/>
            <p:nvPr/>
          </p:nvSpPr>
          <p:spPr>
            <a:xfrm>
              <a:off x="952500" y="491871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32" name="TextBox 32"/>
            <p:cNvSpPr txBox="1"/>
            <p:nvPr/>
          </p:nvSpPr>
          <p:spPr>
            <a:xfrm>
              <a:off x="760646" y="4891326"/>
              <a:ext cx="148991"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5%​</a:t>
              </a:r>
            </a:p>
          </p:txBody>
        </p:sp>
        <p:sp>
          <p:nvSpPr>
            <p:cNvPr id="33" name="Line 33"/>
            <p:cNvSpPr/>
            <p:nvPr/>
          </p:nvSpPr>
          <p:spPr>
            <a:xfrm>
              <a:off x="952500" y="4742498"/>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34" name="TextBox 34"/>
            <p:cNvSpPr txBox="1"/>
            <p:nvPr/>
          </p:nvSpPr>
          <p:spPr>
            <a:xfrm>
              <a:off x="719183" y="4715113"/>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10%​</a:t>
              </a:r>
            </a:p>
          </p:txBody>
        </p:sp>
        <p:sp>
          <p:nvSpPr>
            <p:cNvPr id="35" name="Line 35"/>
            <p:cNvSpPr/>
            <p:nvPr/>
          </p:nvSpPr>
          <p:spPr>
            <a:xfrm>
              <a:off x="952500" y="4565332"/>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36" name="TextBox 36"/>
            <p:cNvSpPr txBox="1"/>
            <p:nvPr/>
          </p:nvSpPr>
          <p:spPr>
            <a:xfrm>
              <a:off x="719183" y="4537948"/>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15%​</a:t>
              </a:r>
            </a:p>
          </p:txBody>
        </p:sp>
        <p:sp>
          <p:nvSpPr>
            <p:cNvPr id="37" name="Line 37"/>
            <p:cNvSpPr/>
            <p:nvPr/>
          </p:nvSpPr>
          <p:spPr>
            <a:xfrm>
              <a:off x="952500" y="4388168"/>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38" name="TextBox 38"/>
            <p:cNvSpPr txBox="1"/>
            <p:nvPr/>
          </p:nvSpPr>
          <p:spPr>
            <a:xfrm>
              <a:off x="719183" y="4360783"/>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20%​</a:t>
              </a:r>
            </a:p>
          </p:txBody>
        </p:sp>
        <p:sp>
          <p:nvSpPr>
            <p:cNvPr id="39" name="Line 39"/>
            <p:cNvSpPr/>
            <p:nvPr/>
          </p:nvSpPr>
          <p:spPr>
            <a:xfrm>
              <a:off x="952500" y="4211002"/>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40" name="TextBox 40"/>
            <p:cNvSpPr txBox="1"/>
            <p:nvPr/>
          </p:nvSpPr>
          <p:spPr>
            <a:xfrm>
              <a:off x="719183" y="4183618"/>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25%​</a:t>
              </a:r>
            </a:p>
          </p:txBody>
        </p:sp>
        <p:sp>
          <p:nvSpPr>
            <p:cNvPr id="41" name="Line 41"/>
            <p:cNvSpPr/>
            <p:nvPr/>
          </p:nvSpPr>
          <p:spPr>
            <a:xfrm>
              <a:off x="952500" y="403479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42" name="TextBox 42"/>
            <p:cNvSpPr txBox="1"/>
            <p:nvPr/>
          </p:nvSpPr>
          <p:spPr>
            <a:xfrm>
              <a:off x="719183" y="4007406"/>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30%​</a:t>
              </a:r>
            </a:p>
          </p:txBody>
        </p:sp>
        <p:sp>
          <p:nvSpPr>
            <p:cNvPr id="43" name="Line 43"/>
            <p:cNvSpPr/>
            <p:nvPr/>
          </p:nvSpPr>
          <p:spPr>
            <a:xfrm>
              <a:off x="952500" y="3857625"/>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44" name="TextBox 44"/>
            <p:cNvSpPr txBox="1"/>
            <p:nvPr/>
          </p:nvSpPr>
          <p:spPr>
            <a:xfrm>
              <a:off x="719183" y="3830241"/>
              <a:ext cx="190454" cy="111919"/>
            </a:xfrm>
            <a:prstGeom prst="rect">
              <a:avLst/>
            </a:prstGeom>
            <a:noFill/>
            <a:ln>
              <a:noFill/>
            </a:ln>
          </p:spPr>
          <p:txBody>
            <a:bodyPr wrap="none" lIns="0" tIns="0" rIns="0" bIns="0" anchor="t" anchorCtr="0">
              <a:spAutoFit/>
            </a:bodyPr>
            <a:lstStyle/>
            <a:p>
              <a:pPr algn="r"/>
              <a:r>
                <a:rPr lang="zh-CN" sz="560" dirty="0">
                  <a:solidFill>
                    <a:srgbClr val="666666"/>
                  </a:solidFill>
                  <a:latin typeface="+mn-lt"/>
                  <a:ea typeface="+mn-ea"/>
                  <a:cs typeface="+mn-cs"/>
                </a:rPr>
                <a:t>35%​</a:t>
              </a:r>
            </a:p>
          </p:txBody>
        </p:sp>
        <p:sp>
          <p:nvSpPr>
            <p:cNvPr id="45" name="Rectangle 45"/>
            <p:cNvSpPr/>
            <p:nvPr/>
          </p:nvSpPr>
          <p:spPr>
            <a:xfrm>
              <a:off x="1045845" y="4848225"/>
              <a:ext cx="237172" cy="247650"/>
            </a:xfrm>
            <a:prstGeom prst="rect">
              <a:avLst/>
            </a:prstGeom>
            <a:solidFill>
              <a:srgbClr val="C35642"/>
            </a:solidFill>
            <a:ln>
              <a:noFill/>
            </a:ln>
          </p:spPr>
        </p:sp>
        <p:sp>
          <p:nvSpPr>
            <p:cNvPr id="46" name="TextBox 46"/>
            <p:cNvSpPr txBox="1"/>
            <p:nvPr/>
          </p:nvSpPr>
          <p:spPr>
            <a:xfrm>
              <a:off x="1089459" y="4758928"/>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7%​</a:t>
              </a:r>
            </a:p>
          </p:txBody>
        </p:sp>
        <p:sp>
          <p:nvSpPr>
            <p:cNvPr id="47" name="TextBox 47"/>
            <p:cNvSpPr txBox="1"/>
            <p:nvPr/>
          </p:nvSpPr>
          <p:spPr>
            <a:xfrm>
              <a:off x="997394" y="5139928"/>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信用风险​</a:t>
              </a:r>
              <a:br/>
              <a:r>
                <a:rPr lang="zh-CN" sz="560" dirty="0">
                  <a:solidFill>
                    <a:srgbClr val="666666"/>
                  </a:solidFill>
                  <a:latin typeface="+mn-lt"/>
                  <a:ea typeface="+mn-ea"/>
                  <a:cs typeface="+mn-cs"/>
                </a:rPr>
                <a:t>资本计算​</a:t>
              </a:r>
            </a:p>
          </p:txBody>
        </p:sp>
        <p:sp>
          <p:nvSpPr>
            <p:cNvPr id="48" name="Rectangle 48"/>
            <p:cNvSpPr/>
            <p:nvPr/>
          </p:nvSpPr>
          <p:spPr>
            <a:xfrm>
              <a:off x="1469708" y="4990148"/>
              <a:ext cx="237172" cy="105728"/>
            </a:xfrm>
            <a:prstGeom prst="rect">
              <a:avLst/>
            </a:prstGeom>
            <a:solidFill>
              <a:srgbClr val="C35642"/>
            </a:solidFill>
            <a:ln>
              <a:noFill/>
            </a:ln>
          </p:spPr>
        </p:sp>
        <p:sp>
          <p:nvSpPr>
            <p:cNvPr id="49" name="TextBox 49"/>
            <p:cNvSpPr txBox="1"/>
            <p:nvPr/>
          </p:nvSpPr>
          <p:spPr>
            <a:xfrm>
              <a:off x="1514274" y="4900851"/>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3%​</a:t>
              </a:r>
            </a:p>
          </p:txBody>
        </p:sp>
        <p:sp>
          <p:nvSpPr>
            <p:cNvPr id="50" name="TextBox 50"/>
            <p:cNvSpPr txBox="1"/>
            <p:nvPr/>
          </p:nvSpPr>
          <p:spPr>
            <a:xfrm>
              <a:off x="1422210" y="5139928"/>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信用风险​</a:t>
              </a:r>
              <a:br/>
              <a:r>
                <a:rPr lang="zh-CN" sz="560" dirty="0">
                  <a:solidFill>
                    <a:srgbClr val="666666"/>
                  </a:solidFill>
                  <a:latin typeface="+mn-lt"/>
                  <a:ea typeface="+mn-ea"/>
                  <a:cs typeface="+mn-cs"/>
                </a:rPr>
                <a:t>拨备计提​</a:t>
              </a:r>
            </a:p>
          </p:txBody>
        </p:sp>
        <p:sp>
          <p:nvSpPr>
            <p:cNvPr id="51" name="Rectangle 51"/>
            <p:cNvSpPr/>
            <p:nvPr/>
          </p:nvSpPr>
          <p:spPr>
            <a:xfrm>
              <a:off x="1893570" y="4530090"/>
              <a:ext cx="237172" cy="565785"/>
            </a:xfrm>
            <a:prstGeom prst="rect">
              <a:avLst/>
            </a:prstGeom>
            <a:solidFill>
              <a:srgbClr val="C35642"/>
            </a:solidFill>
            <a:ln>
              <a:noFill/>
            </a:ln>
          </p:spPr>
        </p:sp>
        <p:sp>
          <p:nvSpPr>
            <p:cNvPr id="52" name="TextBox 52"/>
            <p:cNvSpPr txBox="1"/>
            <p:nvPr/>
          </p:nvSpPr>
          <p:spPr>
            <a:xfrm>
              <a:off x="1916453" y="444079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16%​</a:t>
              </a:r>
            </a:p>
          </p:txBody>
        </p:sp>
        <p:sp>
          <p:nvSpPr>
            <p:cNvPr id="53" name="TextBox 53"/>
            <p:cNvSpPr txBox="1"/>
            <p:nvPr/>
          </p:nvSpPr>
          <p:spPr>
            <a:xfrm>
              <a:off x="1809560" y="5139928"/>
              <a:ext cx="404241" cy="30241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风险管理与​</a:t>
              </a:r>
              <a:br/>
              <a:r>
                <a:rPr lang="zh-CN" sz="560" dirty="0">
                  <a:solidFill>
                    <a:srgbClr val="666666"/>
                  </a:solidFill>
                  <a:latin typeface="+mn-lt"/>
                  <a:ea typeface="+mn-ea"/>
                  <a:cs typeface="+mn-cs"/>
                </a:rPr>
                <a:t>运营流程​</a:t>
              </a:r>
              <a:br/>
              <a:r>
                <a:rPr lang="zh-CN" sz="560" dirty="0">
                  <a:solidFill>
                    <a:srgbClr val="666666"/>
                  </a:solidFill>
                  <a:latin typeface="+mn-lt"/>
                  <a:ea typeface="+mn-ea"/>
                  <a:cs typeface="+mn-cs"/>
                </a:rPr>
                <a:t>(评分卡)​​</a:t>
              </a:r>
            </a:p>
          </p:txBody>
        </p:sp>
        <p:sp>
          <p:nvSpPr>
            <p:cNvPr id="54" name="TextBox 54"/>
            <p:cNvSpPr txBox="1"/>
            <p:nvPr/>
          </p:nvSpPr>
          <p:spPr>
            <a:xfrm>
              <a:off x="2361999" y="5006578"/>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0%​</a:t>
              </a:r>
            </a:p>
          </p:txBody>
        </p:sp>
        <p:sp>
          <p:nvSpPr>
            <p:cNvPr id="55" name="TextBox 55"/>
            <p:cNvSpPr txBox="1"/>
            <p:nvPr/>
          </p:nvSpPr>
          <p:spPr>
            <a:xfrm>
              <a:off x="2269934" y="5139928"/>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市场风险​</a:t>
              </a:r>
              <a:br/>
              <a:r>
                <a:rPr lang="zh-CN" sz="560" dirty="0">
                  <a:solidFill>
                    <a:srgbClr val="666666"/>
                  </a:solidFill>
                  <a:latin typeface="+mn-lt"/>
                  <a:ea typeface="+mn-ea"/>
                  <a:cs typeface="+mn-cs"/>
                </a:rPr>
                <a:t>资本计算​</a:t>
              </a:r>
            </a:p>
          </p:txBody>
        </p:sp>
        <p:sp>
          <p:nvSpPr>
            <p:cNvPr id="56" name="Rectangle 56"/>
            <p:cNvSpPr/>
            <p:nvPr/>
          </p:nvSpPr>
          <p:spPr>
            <a:xfrm>
              <a:off x="2741295" y="5060632"/>
              <a:ext cx="237172" cy="35242"/>
            </a:xfrm>
            <a:prstGeom prst="rect">
              <a:avLst/>
            </a:prstGeom>
            <a:solidFill>
              <a:srgbClr val="C35642"/>
            </a:solidFill>
            <a:ln>
              <a:noFill/>
            </a:ln>
          </p:spPr>
        </p:sp>
        <p:sp>
          <p:nvSpPr>
            <p:cNvPr id="57" name="TextBox 57"/>
            <p:cNvSpPr txBox="1"/>
            <p:nvPr/>
          </p:nvSpPr>
          <p:spPr>
            <a:xfrm>
              <a:off x="2784909" y="4971336"/>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a:t>
              </a:r>
            </a:p>
          </p:txBody>
        </p:sp>
        <p:sp>
          <p:nvSpPr>
            <p:cNvPr id="58" name="TextBox 58"/>
            <p:cNvSpPr txBox="1"/>
            <p:nvPr/>
          </p:nvSpPr>
          <p:spPr>
            <a:xfrm>
              <a:off x="2692844" y="5139928"/>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市场风险​</a:t>
              </a:r>
              <a:br/>
              <a:r>
                <a:rPr lang="zh-CN" sz="560" dirty="0">
                  <a:solidFill>
                    <a:srgbClr val="666666"/>
                  </a:solidFill>
                  <a:latin typeface="+mn-lt"/>
                  <a:ea typeface="+mn-ea"/>
                  <a:cs typeface="+mn-cs"/>
                </a:rPr>
                <a:t>管理​</a:t>
              </a:r>
            </a:p>
          </p:txBody>
        </p:sp>
        <p:sp>
          <p:nvSpPr>
            <p:cNvPr id="59" name="Rectangle 59"/>
            <p:cNvSpPr/>
            <p:nvPr/>
          </p:nvSpPr>
          <p:spPr>
            <a:xfrm>
              <a:off x="3165158" y="5060632"/>
              <a:ext cx="237172" cy="35242"/>
            </a:xfrm>
            <a:prstGeom prst="rect">
              <a:avLst/>
            </a:prstGeom>
            <a:solidFill>
              <a:srgbClr val="C35642"/>
            </a:solidFill>
            <a:ln>
              <a:noFill/>
            </a:ln>
          </p:spPr>
        </p:sp>
        <p:sp>
          <p:nvSpPr>
            <p:cNvPr id="60" name="TextBox 60"/>
            <p:cNvSpPr txBox="1"/>
            <p:nvPr/>
          </p:nvSpPr>
          <p:spPr>
            <a:xfrm>
              <a:off x="3209724" y="4971336"/>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a:t>
              </a:r>
            </a:p>
          </p:txBody>
        </p:sp>
        <p:sp>
          <p:nvSpPr>
            <p:cNvPr id="61" name="TextBox 61"/>
            <p:cNvSpPr txBox="1"/>
            <p:nvPr/>
          </p:nvSpPr>
          <p:spPr>
            <a:xfrm>
              <a:off x="3153220" y="5139928"/>
              <a:ext cx="26200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流动性​</a:t>
              </a:r>
              <a:br/>
              <a:r>
                <a:rPr lang="zh-CN" sz="560" dirty="0">
                  <a:solidFill>
                    <a:srgbClr val="666666"/>
                  </a:solidFill>
                  <a:latin typeface="+mn-lt"/>
                  <a:ea typeface="+mn-ea"/>
                  <a:cs typeface="+mn-cs"/>
                </a:rPr>
                <a:t>风险​</a:t>
              </a:r>
            </a:p>
          </p:txBody>
        </p:sp>
        <p:sp>
          <p:nvSpPr>
            <p:cNvPr id="62" name="TextBox 62"/>
            <p:cNvSpPr txBox="1"/>
            <p:nvPr/>
          </p:nvSpPr>
          <p:spPr>
            <a:xfrm>
              <a:off x="3632634" y="5006578"/>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0%​</a:t>
              </a:r>
            </a:p>
          </p:txBody>
        </p:sp>
        <p:sp>
          <p:nvSpPr>
            <p:cNvPr id="63" name="TextBox 63"/>
            <p:cNvSpPr txBox="1"/>
            <p:nvPr/>
          </p:nvSpPr>
          <p:spPr>
            <a:xfrm>
              <a:off x="3530862" y="51399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操作风险​</a:t>
              </a:r>
            </a:p>
          </p:txBody>
        </p:sp>
        <p:sp>
          <p:nvSpPr>
            <p:cNvPr id="64" name="Rectangle 64"/>
            <p:cNvSpPr/>
            <p:nvPr/>
          </p:nvSpPr>
          <p:spPr>
            <a:xfrm>
              <a:off x="4012882" y="4105275"/>
              <a:ext cx="237172" cy="990600"/>
            </a:xfrm>
            <a:prstGeom prst="rect">
              <a:avLst/>
            </a:prstGeom>
            <a:solidFill>
              <a:srgbClr val="C35642"/>
            </a:solidFill>
            <a:ln>
              <a:noFill/>
            </a:ln>
          </p:spPr>
        </p:sp>
        <p:sp>
          <p:nvSpPr>
            <p:cNvPr id="65" name="TextBox 65"/>
            <p:cNvSpPr txBox="1"/>
            <p:nvPr/>
          </p:nvSpPr>
          <p:spPr>
            <a:xfrm>
              <a:off x="4036718" y="4015978"/>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28%​</a:t>
              </a:r>
            </a:p>
          </p:txBody>
        </p:sp>
        <p:sp>
          <p:nvSpPr>
            <p:cNvPr id="66" name="TextBox 66"/>
            <p:cNvSpPr txBox="1"/>
            <p:nvPr/>
          </p:nvSpPr>
          <p:spPr>
            <a:xfrm>
              <a:off x="3871150" y="5139928"/>
              <a:ext cx="521589"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信用决策​</a:t>
              </a:r>
              <a:br/>
              <a:r>
                <a:rPr lang="zh-CN" sz="560" dirty="0">
                  <a:solidFill>
                    <a:srgbClr val="666666"/>
                  </a:solidFill>
                  <a:latin typeface="+mn-lt"/>
                  <a:ea typeface="+mn-ea"/>
                  <a:cs typeface="+mn-cs"/>
                </a:rPr>
                <a:t>(如信用审批)​​</a:t>
              </a:r>
            </a:p>
          </p:txBody>
        </p:sp>
        <p:sp>
          <p:nvSpPr>
            <p:cNvPr id="67" name="TextBox 67"/>
            <p:cNvSpPr txBox="1"/>
            <p:nvPr/>
          </p:nvSpPr>
          <p:spPr>
            <a:xfrm>
              <a:off x="4480359" y="5006578"/>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0%​</a:t>
              </a:r>
            </a:p>
          </p:txBody>
        </p:sp>
        <p:sp>
          <p:nvSpPr>
            <p:cNvPr id="68" name="TextBox 68"/>
            <p:cNvSpPr txBox="1"/>
            <p:nvPr/>
          </p:nvSpPr>
          <p:spPr>
            <a:xfrm>
              <a:off x="4378587" y="51399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经济资本​</a:t>
              </a:r>
            </a:p>
          </p:txBody>
        </p:sp>
        <p:sp>
          <p:nvSpPr>
            <p:cNvPr id="69" name="Rectangle 69"/>
            <p:cNvSpPr/>
            <p:nvPr/>
          </p:nvSpPr>
          <p:spPr>
            <a:xfrm>
              <a:off x="4860608" y="5060632"/>
              <a:ext cx="237172" cy="35242"/>
            </a:xfrm>
            <a:prstGeom prst="rect">
              <a:avLst/>
            </a:prstGeom>
            <a:solidFill>
              <a:srgbClr val="C35642"/>
            </a:solidFill>
            <a:ln>
              <a:noFill/>
            </a:ln>
          </p:spPr>
        </p:sp>
        <p:sp>
          <p:nvSpPr>
            <p:cNvPr id="70" name="TextBox 70"/>
            <p:cNvSpPr txBox="1"/>
            <p:nvPr/>
          </p:nvSpPr>
          <p:spPr>
            <a:xfrm>
              <a:off x="4905174" y="4971336"/>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a:t>
              </a:r>
            </a:p>
          </p:txBody>
        </p:sp>
        <p:sp>
          <p:nvSpPr>
            <p:cNvPr id="71" name="TextBox 71"/>
            <p:cNvSpPr txBox="1"/>
            <p:nvPr/>
          </p:nvSpPr>
          <p:spPr>
            <a:xfrm>
              <a:off x="4759770" y="5139928"/>
              <a:ext cx="43980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资产负债​</a:t>
              </a:r>
              <a:br/>
              <a:r>
                <a:rPr lang="zh-CN" sz="560" dirty="0">
                  <a:solidFill>
                    <a:srgbClr val="666666"/>
                  </a:solidFill>
                  <a:latin typeface="+mn-lt"/>
                  <a:ea typeface="+mn-ea"/>
                  <a:cs typeface="+mn-cs"/>
                </a:rPr>
                <a:t>管理(ALM)​​</a:t>
              </a:r>
            </a:p>
          </p:txBody>
        </p:sp>
        <p:sp>
          <p:nvSpPr>
            <p:cNvPr id="72" name="Rectangle 72"/>
            <p:cNvSpPr/>
            <p:nvPr/>
          </p:nvSpPr>
          <p:spPr>
            <a:xfrm>
              <a:off x="5284470" y="4953952"/>
              <a:ext cx="237172" cy="141922"/>
            </a:xfrm>
            <a:prstGeom prst="rect">
              <a:avLst/>
            </a:prstGeom>
            <a:solidFill>
              <a:srgbClr val="C35642"/>
            </a:solidFill>
            <a:ln>
              <a:noFill/>
            </a:ln>
          </p:spPr>
        </p:sp>
        <p:sp>
          <p:nvSpPr>
            <p:cNvPr id="73" name="TextBox 73"/>
            <p:cNvSpPr txBox="1"/>
            <p:nvPr/>
          </p:nvSpPr>
          <p:spPr>
            <a:xfrm>
              <a:off x="5328084" y="4864656"/>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4%​</a:t>
              </a:r>
            </a:p>
          </p:txBody>
        </p:sp>
        <p:sp>
          <p:nvSpPr>
            <p:cNvPr id="74" name="TextBox 74"/>
            <p:cNvSpPr txBox="1"/>
            <p:nvPr/>
          </p:nvSpPr>
          <p:spPr>
            <a:xfrm>
              <a:off x="5226312" y="51399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压力测试​</a:t>
              </a:r>
            </a:p>
          </p:txBody>
        </p:sp>
        <p:sp>
          <p:nvSpPr>
            <p:cNvPr id="75" name="Rectangle 75"/>
            <p:cNvSpPr/>
            <p:nvPr/>
          </p:nvSpPr>
          <p:spPr>
            <a:xfrm>
              <a:off x="5708332" y="4530090"/>
              <a:ext cx="237172" cy="565785"/>
            </a:xfrm>
            <a:prstGeom prst="rect">
              <a:avLst/>
            </a:prstGeom>
            <a:solidFill>
              <a:srgbClr val="C35642"/>
            </a:solidFill>
            <a:ln>
              <a:noFill/>
            </a:ln>
          </p:spPr>
        </p:sp>
        <p:sp>
          <p:nvSpPr>
            <p:cNvPr id="76" name="TextBox 76"/>
            <p:cNvSpPr txBox="1"/>
            <p:nvPr/>
          </p:nvSpPr>
          <p:spPr>
            <a:xfrm>
              <a:off x="5732168" y="444079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16%​</a:t>
              </a:r>
            </a:p>
          </p:txBody>
        </p:sp>
        <p:sp>
          <p:nvSpPr>
            <p:cNvPr id="77" name="TextBox 77"/>
            <p:cNvSpPr txBox="1"/>
            <p:nvPr/>
          </p:nvSpPr>
          <p:spPr>
            <a:xfrm>
              <a:off x="5640067" y="5139928"/>
              <a:ext cx="374655"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KYC模型​​</a:t>
              </a:r>
            </a:p>
          </p:txBody>
        </p:sp>
        <p:sp>
          <p:nvSpPr>
            <p:cNvPr id="78" name="Rectangle 78"/>
            <p:cNvSpPr/>
            <p:nvPr/>
          </p:nvSpPr>
          <p:spPr>
            <a:xfrm>
              <a:off x="6132195" y="4105275"/>
              <a:ext cx="237172" cy="990600"/>
            </a:xfrm>
            <a:prstGeom prst="rect">
              <a:avLst/>
            </a:prstGeom>
            <a:solidFill>
              <a:srgbClr val="C35642"/>
            </a:solidFill>
            <a:ln>
              <a:noFill/>
            </a:ln>
          </p:spPr>
        </p:sp>
        <p:sp>
          <p:nvSpPr>
            <p:cNvPr id="79" name="TextBox 79"/>
            <p:cNvSpPr txBox="1"/>
            <p:nvPr/>
          </p:nvSpPr>
          <p:spPr>
            <a:xfrm>
              <a:off x="6155078" y="4015978"/>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28%​</a:t>
              </a:r>
            </a:p>
          </p:txBody>
        </p:sp>
        <p:sp>
          <p:nvSpPr>
            <p:cNvPr id="80" name="TextBox 80"/>
            <p:cNvSpPr txBox="1"/>
            <p:nvPr/>
          </p:nvSpPr>
          <p:spPr>
            <a:xfrm>
              <a:off x="6044628" y="5139928"/>
              <a:ext cx="411353"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交易监控/​​</a:t>
              </a:r>
              <a:br/>
              <a:r>
                <a:rPr lang="zh-CN" sz="560" dirty="0">
                  <a:solidFill>
                    <a:srgbClr val="666666"/>
                  </a:solidFill>
                  <a:latin typeface="+mn-lt"/>
                  <a:ea typeface="+mn-ea"/>
                  <a:cs typeface="+mn-cs"/>
                </a:rPr>
                <a:t>AML/欺诈​​</a:t>
              </a:r>
            </a:p>
          </p:txBody>
        </p:sp>
        <p:sp>
          <p:nvSpPr>
            <p:cNvPr id="81" name="Rectangle 81"/>
            <p:cNvSpPr/>
            <p:nvPr/>
          </p:nvSpPr>
          <p:spPr>
            <a:xfrm>
              <a:off x="6556058" y="4990148"/>
              <a:ext cx="237172" cy="105728"/>
            </a:xfrm>
            <a:prstGeom prst="rect">
              <a:avLst/>
            </a:prstGeom>
            <a:solidFill>
              <a:srgbClr val="C35642"/>
            </a:solidFill>
            <a:ln>
              <a:noFill/>
            </a:ln>
          </p:spPr>
        </p:sp>
        <p:sp>
          <p:nvSpPr>
            <p:cNvPr id="82" name="TextBox 82"/>
            <p:cNvSpPr txBox="1"/>
            <p:nvPr/>
          </p:nvSpPr>
          <p:spPr>
            <a:xfrm>
              <a:off x="6600624" y="4900851"/>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3%​</a:t>
              </a:r>
            </a:p>
          </p:txBody>
        </p:sp>
        <p:sp>
          <p:nvSpPr>
            <p:cNvPr id="83" name="TextBox 83"/>
            <p:cNvSpPr txBox="1"/>
            <p:nvPr/>
          </p:nvSpPr>
          <p:spPr>
            <a:xfrm>
              <a:off x="6472999" y="5139928"/>
              <a:ext cx="40424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金融工具​</a:t>
              </a:r>
              <a:br/>
              <a:r>
                <a:rPr lang="zh-CN" sz="560" dirty="0">
                  <a:solidFill>
                    <a:srgbClr val="666666"/>
                  </a:solidFill>
                  <a:latin typeface="+mn-lt"/>
                  <a:ea typeface="+mn-ea"/>
                  <a:cs typeface="+mn-cs"/>
                </a:rPr>
                <a:t>估值与定价​</a:t>
              </a:r>
            </a:p>
          </p:txBody>
        </p:sp>
        <p:sp>
          <p:nvSpPr>
            <p:cNvPr id="84" name="Rectangle 84"/>
            <p:cNvSpPr/>
            <p:nvPr/>
          </p:nvSpPr>
          <p:spPr>
            <a:xfrm>
              <a:off x="6979920" y="5060632"/>
              <a:ext cx="237172" cy="35242"/>
            </a:xfrm>
            <a:prstGeom prst="rect">
              <a:avLst/>
            </a:prstGeom>
            <a:solidFill>
              <a:srgbClr val="C35642"/>
            </a:solidFill>
            <a:ln>
              <a:noFill/>
            </a:ln>
          </p:spPr>
        </p:sp>
        <p:sp>
          <p:nvSpPr>
            <p:cNvPr id="85" name="TextBox 85"/>
            <p:cNvSpPr txBox="1"/>
            <p:nvPr/>
          </p:nvSpPr>
          <p:spPr>
            <a:xfrm>
              <a:off x="7023534" y="4971336"/>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a:t>
              </a:r>
            </a:p>
          </p:txBody>
        </p:sp>
        <p:sp>
          <p:nvSpPr>
            <p:cNvPr id="86" name="TextBox 86"/>
            <p:cNvSpPr txBox="1"/>
            <p:nvPr/>
          </p:nvSpPr>
          <p:spPr>
            <a:xfrm>
              <a:off x="6867462" y="5139928"/>
              <a:ext cx="461137"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会计模型​</a:t>
              </a:r>
              <a:br/>
              <a:r>
                <a:rPr lang="en-US" sz="560" dirty="0">
                  <a:solidFill>
                    <a:srgbClr val="666666"/>
                  </a:solidFill>
                  <a:latin typeface="+mn-lt"/>
                  <a:ea typeface="+mn-ea"/>
                  <a:cs typeface="+mn-cs"/>
                </a:rPr>
                <a:t>(FTP/IFRS)​​</a:t>
              </a:r>
            </a:p>
          </p:txBody>
        </p:sp>
        <p:sp>
          <p:nvSpPr>
            <p:cNvPr id="87" name="Rectangle 87"/>
            <p:cNvSpPr/>
            <p:nvPr/>
          </p:nvSpPr>
          <p:spPr>
            <a:xfrm>
              <a:off x="7403782" y="4458652"/>
              <a:ext cx="237172" cy="637222"/>
            </a:xfrm>
            <a:prstGeom prst="rect">
              <a:avLst/>
            </a:prstGeom>
            <a:solidFill>
              <a:srgbClr val="C35642"/>
            </a:solidFill>
            <a:ln>
              <a:noFill/>
            </a:ln>
          </p:spPr>
        </p:sp>
        <p:sp>
          <p:nvSpPr>
            <p:cNvPr id="88" name="TextBox 88"/>
            <p:cNvSpPr txBox="1"/>
            <p:nvPr/>
          </p:nvSpPr>
          <p:spPr>
            <a:xfrm>
              <a:off x="7427618" y="4369356"/>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18%​</a:t>
              </a:r>
            </a:p>
          </p:txBody>
        </p:sp>
        <p:sp>
          <p:nvSpPr>
            <p:cNvPr id="89" name="TextBox 89"/>
            <p:cNvSpPr txBox="1"/>
            <p:nvPr/>
          </p:nvSpPr>
          <p:spPr>
            <a:xfrm>
              <a:off x="7356284" y="5139928"/>
              <a:ext cx="33312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业务决策​</a:t>
              </a:r>
              <a:br/>
              <a:r>
                <a:rPr lang="zh-CN" sz="560" dirty="0">
                  <a:solidFill>
                    <a:srgbClr val="666666"/>
                  </a:solidFill>
                  <a:latin typeface="+mn-lt"/>
                  <a:ea typeface="+mn-ea"/>
                  <a:cs typeface="+mn-cs"/>
                </a:rPr>
                <a:t>制定​</a:t>
              </a:r>
            </a:p>
          </p:txBody>
        </p:sp>
        <p:sp>
          <p:nvSpPr>
            <p:cNvPr id="90" name="Rectangle 90"/>
            <p:cNvSpPr/>
            <p:nvPr/>
          </p:nvSpPr>
          <p:spPr>
            <a:xfrm>
              <a:off x="7827645" y="4247198"/>
              <a:ext cx="237172" cy="848678"/>
            </a:xfrm>
            <a:prstGeom prst="rect">
              <a:avLst/>
            </a:prstGeom>
            <a:solidFill>
              <a:srgbClr val="C35642"/>
            </a:solidFill>
            <a:ln>
              <a:noFill/>
            </a:ln>
          </p:spPr>
        </p:sp>
        <p:sp>
          <p:nvSpPr>
            <p:cNvPr id="91" name="TextBox 91"/>
            <p:cNvSpPr txBox="1"/>
            <p:nvPr/>
          </p:nvSpPr>
          <p:spPr>
            <a:xfrm>
              <a:off x="7850528" y="4157901"/>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24%​</a:t>
              </a:r>
            </a:p>
          </p:txBody>
        </p:sp>
        <p:sp>
          <p:nvSpPr>
            <p:cNvPr id="92" name="TextBox 92"/>
            <p:cNvSpPr txBox="1"/>
            <p:nvPr/>
          </p:nvSpPr>
          <p:spPr>
            <a:xfrm>
              <a:off x="7769487" y="51399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营销模型​</a:t>
              </a:r>
            </a:p>
          </p:txBody>
        </p:sp>
        <p:sp>
          <p:nvSpPr>
            <p:cNvPr id="93" name="Rectangle 93"/>
            <p:cNvSpPr/>
            <p:nvPr/>
          </p:nvSpPr>
          <p:spPr>
            <a:xfrm>
              <a:off x="8251508" y="4990148"/>
              <a:ext cx="237172" cy="105728"/>
            </a:xfrm>
            <a:prstGeom prst="rect">
              <a:avLst/>
            </a:prstGeom>
            <a:solidFill>
              <a:srgbClr val="C35642"/>
            </a:solidFill>
            <a:ln>
              <a:noFill/>
            </a:ln>
          </p:spPr>
        </p:sp>
        <p:sp>
          <p:nvSpPr>
            <p:cNvPr id="94" name="TextBox 94"/>
            <p:cNvSpPr txBox="1"/>
            <p:nvPr/>
          </p:nvSpPr>
          <p:spPr>
            <a:xfrm>
              <a:off x="8296074" y="4900851"/>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3%​</a:t>
              </a:r>
            </a:p>
          </p:txBody>
        </p:sp>
        <p:sp>
          <p:nvSpPr>
            <p:cNvPr id="95" name="TextBox 95"/>
            <p:cNvSpPr txBox="1"/>
            <p:nvPr/>
          </p:nvSpPr>
          <p:spPr>
            <a:xfrm>
              <a:off x="8205147" y="5139928"/>
              <a:ext cx="330845"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HR模型​​</a:t>
              </a:r>
            </a:p>
          </p:txBody>
        </p:sp>
        <p:sp>
          <p:nvSpPr>
            <p:cNvPr id="96" name="Rectangle 96"/>
            <p:cNvSpPr/>
            <p:nvPr/>
          </p:nvSpPr>
          <p:spPr>
            <a:xfrm>
              <a:off x="8675370" y="4848225"/>
              <a:ext cx="237172" cy="247650"/>
            </a:xfrm>
            <a:prstGeom prst="rect">
              <a:avLst/>
            </a:prstGeom>
            <a:solidFill>
              <a:srgbClr val="C35642"/>
            </a:solidFill>
            <a:ln>
              <a:noFill/>
            </a:ln>
          </p:spPr>
        </p:sp>
        <p:sp>
          <p:nvSpPr>
            <p:cNvPr id="97" name="TextBox 97"/>
            <p:cNvSpPr txBox="1"/>
            <p:nvPr/>
          </p:nvSpPr>
          <p:spPr>
            <a:xfrm>
              <a:off x="8718984" y="4758928"/>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7%​</a:t>
              </a:r>
            </a:p>
          </p:txBody>
        </p:sp>
        <p:sp>
          <p:nvSpPr>
            <p:cNvPr id="98" name="TextBox 98"/>
            <p:cNvSpPr txBox="1"/>
            <p:nvPr/>
          </p:nvSpPr>
          <p:spPr>
            <a:xfrm>
              <a:off x="8617212" y="5139928"/>
              <a:ext cx="35253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网络风险​</a:t>
              </a:r>
            </a:p>
          </p:txBody>
        </p:sp>
        <p:sp>
          <p:nvSpPr>
            <p:cNvPr id="99" name="Rectangle 99"/>
            <p:cNvSpPr/>
            <p:nvPr/>
          </p:nvSpPr>
          <p:spPr>
            <a:xfrm>
              <a:off x="9099232" y="3999548"/>
              <a:ext cx="237172" cy="1096328"/>
            </a:xfrm>
            <a:prstGeom prst="rect">
              <a:avLst/>
            </a:prstGeom>
            <a:solidFill>
              <a:srgbClr val="6B1100"/>
            </a:solidFill>
            <a:ln>
              <a:noFill/>
            </a:ln>
          </p:spPr>
        </p:sp>
        <p:sp>
          <p:nvSpPr>
            <p:cNvPr id="100" name="TextBox 100"/>
            <p:cNvSpPr txBox="1"/>
            <p:nvPr/>
          </p:nvSpPr>
          <p:spPr>
            <a:xfrm>
              <a:off x="9123068" y="3910251"/>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31%​</a:t>
              </a:r>
            </a:p>
          </p:txBody>
        </p:sp>
        <p:sp>
          <p:nvSpPr>
            <p:cNvPr id="101" name="TextBox 101"/>
            <p:cNvSpPr txBox="1"/>
            <p:nvPr/>
          </p:nvSpPr>
          <p:spPr>
            <a:xfrm>
              <a:off x="8980614" y="5139928"/>
              <a:ext cx="475361"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666666"/>
                  </a:solidFill>
                  <a:latin typeface="+mn-lt"/>
                  <a:ea typeface="+mn-ea"/>
                  <a:cs typeface="+mn-cs"/>
                </a:rPr>
                <a:t>模型开发中未​</a:t>
              </a:r>
              <a:br/>
              <a:r>
                <a:rPr lang="zh-CN" sz="560" dirty="0">
                  <a:solidFill>
                    <a:srgbClr val="666666"/>
                  </a:solidFill>
                  <a:latin typeface="+mn-lt"/>
                  <a:ea typeface="+mn-ea"/>
                  <a:cs typeface="+mn-cs"/>
                </a:rPr>
                <a:t>使用机器学习​</a:t>
              </a:r>
            </a:p>
          </p:txBody>
        </p:sp>
        <p:sp>
          <p:nvSpPr>
            <p:cNvPr id="102" name="Line 102"/>
            <p:cNvSpPr/>
            <p:nvPr/>
          </p:nvSpPr>
          <p:spPr>
            <a:xfrm>
              <a:off x="952500" y="5095875"/>
              <a:ext cx="8477250" cy="9525"/>
            </a:xfrm>
            <a:custGeom>
              <a:avLst/>
              <a:gdLst/>
              <a:ahLst/>
              <a:cxnLst/>
              <a:rect l="l" t="t" r="r" b="b"/>
              <a:pathLst>
                <a:path w="8477250" h="9525">
                  <a:moveTo>
                    <a:pt x="0" y="0"/>
                  </a:moveTo>
                  <a:lnTo>
                    <a:pt x="8477250" y="0"/>
                  </a:lnTo>
                </a:path>
              </a:pathLst>
            </a:custGeom>
            <a:noFill/>
            <a:ln w="9525">
              <a:solidFill>
                <a:srgbClr val="666666"/>
              </a:solidFill>
            </a:ln>
          </p:spPr>
        </p:sp>
        <p:sp>
          <p:nvSpPr>
            <p:cNvPr id="103" name="Line 103"/>
            <p:cNvSpPr/>
            <p:nvPr/>
          </p:nvSpPr>
          <p:spPr>
            <a:xfrm>
              <a:off x="1002982" y="56007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4" name="Line 104"/>
            <p:cNvSpPr/>
            <p:nvPr/>
          </p:nvSpPr>
          <p:spPr>
            <a:xfrm>
              <a:off x="1002982" y="5638800"/>
              <a:ext cx="1594485" cy="9525"/>
            </a:xfrm>
            <a:custGeom>
              <a:avLst/>
              <a:gdLst/>
              <a:ahLst/>
              <a:cxnLst/>
              <a:rect l="l" t="t" r="r" b="b"/>
              <a:pathLst>
                <a:path w="1594485" h="9525">
                  <a:moveTo>
                    <a:pt x="0" y="0"/>
                  </a:moveTo>
                  <a:lnTo>
                    <a:pt x="1594485" y="0"/>
                  </a:lnTo>
                </a:path>
              </a:pathLst>
            </a:custGeom>
            <a:noFill/>
            <a:ln w="9525">
              <a:solidFill>
                <a:srgbClr val="9A9A9A"/>
              </a:solidFill>
            </a:ln>
          </p:spPr>
        </p:sp>
        <p:sp>
          <p:nvSpPr>
            <p:cNvPr id="105" name="Line 105"/>
            <p:cNvSpPr/>
            <p:nvPr/>
          </p:nvSpPr>
          <p:spPr>
            <a:xfrm>
              <a:off x="2597468" y="56007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6" name="TextBox 106"/>
            <p:cNvSpPr txBox="1"/>
            <p:nvPr/>
          </p:nvSpPr>
          <p:spPr>
            <a:xfrm>
              <a:off x="1088708" y="5678805"/>
              <a:ext cx="1423035"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金融风险模型（pillar 1资本与会计）​​</a:t>
              </a:r>
            </a:p>
          </p:txBody>
        </p:sp>
        <p:sp>
          <p:nvSpPr>
            <p:cNvPr id="107" name="Line 107"/>
            <p:cNvSpPr/>
            <p:nvPr/>
          </p:nvSpPr>
          <p:spPr>
            <a:xfrm>
              <a:off x="2698432" y="56007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08" name="Line 108"/>
            <p:cNvSpPr/>
            <p:nvPr/>
          </p:nvSpPr>
          <p:spPr>
            <a:xfrm>
              <a:off x="2698432" y="5638800"/>
              <a:ext cx="2866073" cy="9525"/>
            </a:xfrm>
            <a:custGeom>
              <a:avLst/>
              <a:gdLst/>
              <a:ahLst/>
              <a:cxnLst/>
              <a:rect l="l" t="t" r="r" b="b"/>
              <a:pathLst>
                <a:path w="2866073" h="9525">
                  <a:moveTo>
                    <a:pt x="0" y="0"/>
                  </a:moveTo>
                  <a:lnTo>
                    <a:pt x="2866073" y="0"/>
                  </a:lnTo>
                </a:path>
              </a:pathLst>
            </a:custGeom>
            <a:noFill/>
            <a:ln w="9525">
              <a:solidFill>
                <a:srgbClr val="9A9A9A"/>
              </a:solidFill>
            </a:ln>
          </p:spPr>
        </p:sp>
        <p:sp>
          <p:nvSpPr>
            <p:cNvPr id="109" name="Line 109"/>
            <p:cNvSpPr/>
            <p:nvPr/>
          </p:nvSpPr>
          <p:spPr>
            <a:xfrm>
              <a:off x="5564505" y="56007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0" name="TextBox 110"/>
            <p:cNvSpPr txBox="1"/>
            <p:nvPr/>
          </p:nvSpPr>
          <p:spPr>
            <a:xfrm>
              <a:off x="3379565" y="5678805"/>
              <a:ext cx="1503807"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金融风险模型（pillar 2资本与流动性）​​</a:t>
              </a:r>
            </a:p>
          </p:txBody>
        </p:sp>
        <p:sp>
          <p:nvSpPr>
            <p:cNvPr id="111" name="Line 111"/>
            <p:cNvSpPr/>
            <p:nvPr/>
          </p:nvSpPr>
          <p:spPr>
            <a:xfrm>
              <a:off x="5665470" y="56007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2" name="Line 112"/>
            <p:cNvSpPr/>
            <p:nvPr/>
          </p:nvSpPr>
          <p:spPr>
            <a:xfrm>
              <a:off x="5665470" y="5638800"/>
              <a:ext cx="746760" cy="9525"/>
            </a:xfrm>
            <a:custGeom>
              <a:avLst/>
              <a:gdLst/>
              <a:ahLst/>
              <a:cxnLst/>
              <a:rect l="l" t="t" r="r" b="b"/>
              <a:pathLst>
                <a:path w="746760" h="9525">
                  <a:moveTo>
                    <a:pt x="0" y="0"/>
                  </a:moveTo>
                  <a:lnTo>
                    <a:pt x="746760" y="0"/>
                  </a:lnTo>
                </a:path>
              </a:pathLst>
            </a:custGeom>
            <a:noFill/>
            <a:ln w="9525">
              <a:solidFill>
                <a:srgbClr val="9A9A9A"/>
              </a:solidFill>
            </a:ln>
          </p:spPr>
        </p:sp>
        <p:sp>
          <p:nvSpPr>
            <p:cNvPr id="113" name="Line 113"/>
            <p:cNvSpPr/>
            <p:nvPr/>
          </p:nvSpPr>
          <p:spPr>
            <a:xfrm>
              <a:off x="6412230" y="56007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4" name="TextBox 114"/>
            <p:cNvSpPr txBox="1"/>
            <p:nvPr/>
          </p:nvSpPr>
          <p:spPr>
            <a:xfrm>
              <a:off x="5850331" y="5678805"/>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合规模型​</a:t>
              </a:r>
            </a:p>
          </p:txBody>
        </p:sp>
        <p:sp>
          <p:nvSpPr>
            <p:cNvPr id="115" name="Line 115"/>
            <p:cNvSpPr/>
            <p:nvPr/>
          </p:nvSpPr>
          <p:spPr>
            <a:xfrm>
              <a:off x="6513195" y="56007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6" name="Line 116"/>
            <p:cNvSpPr/>
            <p:nvPr/>
          </p:nvSpPr>
          <p:spPr>
            <a:xfrm>
              <a:off x="6513195" y="5638800"/>
              <a:ext cx="2442210" cy="9525"/>
            </a:xfrm>
            <a:custGeom>
              <a:avLst/>
              <a:gdLst/>
              <a:ahLst/>
              <a:cxnLst/>
              <a:rect l="l" t="t" r="r" b="b"/>
              <a:pathLst>
                <a:path w="2442210" h="9525">
                  <a:moveTo>
                    <a:pt x="0" y="0"/>
                  </a:moveTo>
                  <a:lnTo>
                    <a:pt x="2442210" y="0"/>
                  </a:lnTo>
                </a:path>
              </a:pathLst>
            </a:custGeom>
            <a:noFill/>
            <a:ln w="9525">
              <a:solidFill>
                <a:srgbClr val="9A9A9A"/>
              </a:solidFill>
            </a:ln>
          </p:spPr>
        </p:sp>
        <p:sp>
          <p:nvSpPr>
            <p:cNvPr id="117" name="Line 117"/>
            <p:cNvSpPr/>
            <p:nvPr/>
          </p:nvSpPr>
          <p:spPr>
            <a:xfrm>
              <a:off x="8955405" y="5600700"/>
              <a:ext cx="9525" cy="38100"/>
            </a:xfrm>
            <a:custGeom>
              <a:avLst/>
              <a:gdLst/>
              <a:ahLst/>
              <a:cxnLst/>
              <a:rect l="l" t="t" r="r" b="b"/>
              <a:pathLst>
                <a:path w="9525" h="38100">
                  <a:moveTo>
                    <a:pt x="0" y="0"/>
                  </a:moveTo>
                  <a:lnTo>
                    <a:pt x="0" y="38100"/>
                  </a:lnTo>
                </a:path>
              </a:pathLst>
            </a:custGeom>
            <a:noFill/>
            <a:ln w="9525">
              <a:solidFill>
                <a:srgbClr val="9A9A9A"/>
              </a:solidFill>
            </a:ln>
          </p:spPr>
        </p:sp>
        <p:sp>
          <p:nvSpPr>
            <p:cNvPr id="118" name="TextBox 118"/>
            <p:cNvSpPr txBox="1"/>
            <p:nvPr/>
          </p:nvSpPr>
          <p:spPr>
            <a:xfrm>
              <a:off x="7545781" y="5678805"/>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其他模型​</a:t>
              </a:r>
            </a:p>
          </p:txBody>
        </p:sp>
      </p:grpSp>
      <p:grpSp>
        <p:nvGrpSpPr>
          <p:cNvPr id="153" name="nav"/>
          <p:cNvGrpSpPr/>
          <p:nvPr/>
        </p:nvGrpSpPr>
        <p:grpSpPr>
          <a:xfrm>
            <a:off x="9834562" y="0"/>
            <a:ext cx="2357438" cy="6858000"/>
            <a:chOff x="9834562" y="0"/>
            <a:chExt cx="2357438" cy="6858000"/>
          </a:xfrm>
        </p:grpSpPr>
        <p:sp>
          <p:nvSpPr>
            <p:cNvPr id="120" name="Line 120"/>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21" name="Rectangle 121"/>
            <p:cNvSpPr/>
            <p:nvPr/>
          </p:nvSpPr>
          <p:spPr>
            <a:xfrm>
              <a:off x="9839325" y="476250"/>
              <a:ext cx="2352675" cy="514350"/>
            </a:xfrm>
            <a:prstGeom prst="rect">
              <a:avLst/>
            </a:prstGeom>
            <a:solidFill>
              <a:srgbClr val="F3F3F3"/>
            </a:solidFill>
            <a:ln>
              <a:noFill/>
            </a:ln>
          </p:spPr>
        </p:sp>
        <p:sp>
          <p:nvSpPr>
            <p:cNvPr id="122" name="TextBox 122"/>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23" name="Rectangle 123"/>
            <p:cNvSpPr/>
            <p:nvPr/>
          </p:nvSpPr>
          <p:spPr>
            <a:xfrm>
              <a:off x="9839325" y="1000125"/>
              <a:ext cx="2352675" cy="514350"/>
            </a:xfrm>
            <a:prstGeom prst="rect">
              <a:avLst/>
            </a:prstGeom>
            <a:solidFill>
              <a:srgbClr val="F3F3F3"/>
            </a:solidFill>
            <a:ln>
              <a:noFill/>
            </a:ln>
          </p:spPr>
        </p:sp>
        <p:sp>
          <p:nvSpPr>
            <p:cNvPr id="124" name="TextBox 124"/>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25" name="Rectangle 125"/>
            <p:cNvSpPr/>
            <p:nvPr/>
          </p:nvSpPr>
          <p:spPr>
            <a:xfrm>
              <a:off x="9839325" y="1524000"/>
              <a:ext cx="2352675" cy="514350"/>
            </a:xfrm>
            <a:prstGeom prst="rect">
              <a:avLst/>
            </a:prstGeom>
            <a:solidFill>
              <a:srgbClr val="F3F3F3"/>
            </a:solidFill>
            <a:ln>
              <a:noFill/>
            </a:ln>
          </p:spPr>
        </p:sp>
        <p:sp>
          <p:nvSpPr>
            <p:cNvPr id="126" name="TextBox 126"/>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27" name="Rectangle 127"/>
            <p:cNvSpPr/>
            <p:nvPr/>
          </p:nvSpPr>
          <p:spPr>
            <a:xfrm>
              <a:off x="9839325" y="2047875"/>
              <a:ext cx="2352675" cy="514350"/>
            </a:xfrm>
            <a:prstGeom prst="rect">
              <a:avLst/>
            </a:prstGeom>
            <a:solidFill>
              <a:srgbClr val="F3F3F3"/>
            </a:solidFill>
            <a:ln>
              <a:noFill/>
            </a:ln>
          </p:spPr>
        </p:sp>
        <p:sp>
          <p:nvSpPr>
            <p:cNvPr id="128" name="TextBox 128"/>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29" name="Rectangle 129"/>
            <p:cNvSpPr/>
            <p:nvPr/>
          </p:nvSpPr>
          <p:spPr>
            <a:xfrm>
              <a:off x="9839325" y="2571750"/>
              <a:ext cx="2352675" cy="514350"/>
            </a:xfrm>
            <a:prstGeom prst="rect">
              <a:avLst/>
            </a:prstGeom>
            <a:solidFill>
              <a:srgbClr val="F3F3F3"/>
            </a:solidFill>
            <a:ln>
              <a:noFill/>
            </a:ln>
          </p:spPr>
        </p:sp>
        <p:sp>
          <p:nvSpPr>
            <p:cNvPr id="130" name="TextBox 130"/>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31" name="Rectangle 131"/>
            <p:cNvSpPr/>
            <p:nvPr/>
          </p:nvSpPr>
          <p:spPr>
            <a:xfrm>
              <a:off x="9839325" y="3095625"/>
              <a:ext cx="2352675" cy="514350"/>
            </a:xfrm>
            <a:prstGeom prst="rect">
              <a:avLst/>
            </a:prstGeom>
            <a:solidFill>
              <a:srgbClr val="6B1100"/>
            </a:solidFill>
            <a:ln>
              <a:noFill/>
            </a:ln>
          </p:spPr>
        </p:sp>
        <p:sp>
          <p:nvSpPr>
            <p:cNvPr id="132" name="TextBox 132"/>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关于治理与模型生命周期的观点</a:t>
              </a:r>
            </a:p>
          </p:txBody>
        </p:sp>
        <p:sp>
          <p:nvSpPr>
            <p:cNvPr id="133" name="Rectangle 133"/>
            <p:cNvSpPr/>
            <p:nvPr/>
          </p:nvSpPr>
          <p:spPr>
            <a:xfrm>
              <a:off x="9839325" y="3619500"/>
              <a:ext cx="2352675" cy="514350"/>
            </a:xfrm>
            <a:prstGeom prst="rect">
              <a:avLst/>
            </a:prstGeom>
            <a:solidFill>
              <a:srgbClr val="F3F3F3"/>
            </a:solidFill>
            <a:ln>
              <a:noFill/>
            </a:ln>
          </p:spPr>
        </p:sp>
        <p:sp>
          <p:nvSpPr>
            <p:cNvPr id="134" name="TextBox 134"/>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35" name="Rectangle 135"/>
            <p:cNvSpPr/>
            <p:nvPr/>
          </p:nvSpPr>
          <p:spPr>
            <a:xfrm>
              <a:off x="9839325" y="4143375"/>
              <a:ext cx="2352675" cy="514350"/>
            </a:xfrm>
            <a:prstGeom prst="rect">
              <a:avLst/>
            </a:prstGeom>
            <a:solidFill>
              <a:srgbClr val="F3F3F3"/>
            </a:solidFill>
            <a:ln>
              <a:noFill/>
            </a:ln>
          </p:spPr>
        </p:sp>
        <p:sp>
          <p:nvSpPr>
            <p:cNvPr id="136" name="TextBox 136"/>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37" name="Rectangle 137"/>
            <p:cNvSpPr/>
            <p:nvPr/>
          </p:nvSpPr>
          <p:spPr>
            <a:xfrm>
              <a:off x="9839325" y="4667250"/>
              <a:ext cx="2352675" cy="514350"/>
            </a:xfrm>
            <a:prstGeom prst="rect">
              <a:avLst/>
            </a:prstGeom>
            <a:solidFill>
              <a:srgbClr val="F3F3F3"/>
            </a:solidFill>
            <a:ln>
              <a:noFill/>
            </a:ln>
          </p:spPr>
        </p:sp>
        <p:sp>
          <p:nvSpPr>
            <p:cNvPr id="138" name="TextBox 138"/>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39" name="Rectangle 139"/>
            <p:cNvSpPr/>
            <p:nvPr/>
          </p:nvSpPr>
          <p:spPr>
            <a:xfrm>
              <a:off x="9839325" y="5191125"/>
              <a:ext cx="2352675" cy="514350"/>
            </a:xfrm>
            <a:prstGeom prst="rect">
              <a:avLst/>
            </a:prstGeom>
            <a:solidFill>
              <a:srgbClr val="F3F3F3"/>
            </a:solidFill>
            <a:ln>
              <a:noFill/>
            </a:ln>
          </p:spPr>
        </p:sp>
        <p:sp>
          <p:nvSpPr>
            <p:cNvPr id="140" name="TextBox 140"/>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41" name="Rectangle 141"/>
            <p:cNvSpPr/>
            <p:nvPr/>
          </p:nvSpPr>
          <p:spPr>
            <a:xfrm>
              <a:off x="9839325" y="5715000"/>
              <a:ext cx="2352675" cy="514350"/>
            </a:xfrm>
            <a:prstGeom prst="rect">
              <a:avLst/>
            </a:prstGeom>
            <a:solidFill>
              <a:srgbClr val="F3F3F3"/>
            </a:solidFill>
            <a:ln>
              <a:noFill/>
            </a:ln>
          </p:spPr>
        </p:sp>
        <p:sp>
          <p:nvSpPr>
            <p:cNvPr id="142" name="TextBox 142"/>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43" name="Ellipse 143"/>
            <p:cNvSpPr/>
            <p:nvPr/>
          </p:nvSpPr>
          <p:spPr>
            <a:xfrm>
              <a:off x="10020300" y="6372225"/>
              <a:ext cx="266700" cy="266700"/>
            </a:xfrm>
            <a:prstGeom prst="ellipse">
              <a:avLst/>
            </a:prstGeom>
            <a:solidFill>
              <a:srgbClr val="D7D8D6"/>
            </a:solidFill>
            <a:ln>
              <a:noFill/>
            </a:ln>
          </p:spPr>
        </p:sp>
        <p:sp>
          <p:nvSpPr>
            <p:cNvPr id="144" name="Freeform 144"/>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45" name="Ellipse 145"/>
            <p:cNvSpPr/>
            <p:nvPr/>
          </p:nvSpPr>
          <p:spPr>
            <a:xfrm>
              <a:off x="10420350" y="6372225"/>
              <a:ext cx="266700" cy="266700"/>
            </a:xfrm>
            <a:prstGeom prst="ellipse">
              <a:avLst/>
            </a:prstGeom>
            <a:solidFill>
              <a:srgbClr val="D7D8D6"/>
            </a:solidFill>
            <a:ln>
              <a:noFill/>
            </a:ln>
          </p:spPr>
        </p:sp>
        <p:grpSp>
          <p:nvGrpSpPr>
            <p:cNvPr id="149" name="Group 149"/>
            <p:cNvGrpSpPr/>
            <p:nvPr/>
          </p:nvGrpSpPr>
          <p:grpSpPr>
            <a:xfrm>
              <a:off x="10489406" y="6441281"/>
              <a:ext cx="128588" cy="128588"/>
              <a:chOff x="10489406" y="6441281"/>
              <a:chExt cx="128588" cy="128588"/>
            </a:xfrm>
          </p:grpSpPr>
          <p:sp>
            <p:nvSpPr>
              <p:cNvPr id="146" name="Freeform 146"/>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47" name="Freeform 147"/>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48" name="Freeform 148"/>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50" name="Ellipse 150"/>
            <p:cNvSpPr/>
            <p:nvPr/>
          </p:nvSpPr>
          <p:spPr>
            <a:xfrm>
              <a:off x="10820400" y="6372225"/>
              <a:ext cx="266700" cy="266700"/>
            </a:xfrm>
            <a:prstGeom prst="ellipse">
              <a:avLst/>
            </a:prstGeom>
            <a:solidFill>
              <a:srgbClr val="D7D8D6"/>
            </a:solidFill>
            <a:ln>
              <a:noFill/>
            </a:ln>
          </p:spPr>
        </p:sp>
        <p:sp>
          <p:nvSpPr>
            <p:cNvPr id="151" name="Freeform 151"/>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52" name="TextBox 152"/>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29</a:t>
              </a:r>
            </a:p>
          </p:txBody>
        </p:sp>
      </p:gr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ave-field"/>
          <p:cNvSpPr/>
          <p:nvPr/>
        </p:nvSpPr>
        <p:spPr>
          <a:xfrm>
            <a:off x="0" y="0"/>
            <a:ext cx="9829800" cy="6858000"/>
          </a:xfrm>
          <a:prstGeom prst="rect">
            <a:avLst/>
          </a:prstGeom>
          <a:gradFill>
            <a:gsLst>
              <a:gs pos="0">
                <a:srgbClr val="8A301F"/>
              </a:gs>
              <a:gs pos="55000">
                <a:srgbClr val="A84C3A"/>
              </a:gs>
              <a:gs pos="100000">
                <a:srgbClr val="CB8B7F"/>
              </a:gs>
            </a:gsLst>
            <a:lin ang="2700000" scaled="1"/>
          </a:gradFill>
          <a:ln>
            <a:noFill/>
          </a:ln>
        </p:spPr>
      </p:sp>
      <p:sp>
        <p:nvSpPr>
          <p:cNvPr id="3" name="wave-1"/>
          <p:cNvSpPr/>
          <p:nvPr/>
        </p:nvSpPr>
        <p:spPr>
          <a:xfrm rot="-840000">
            <a:off x="0" y="4000500"/>
            <a:ext cx="11811000" cy="2667000"/>
          </a:xfrm>
          <a:prstGeom prst="ellipse">
            <a:avLst/>
          </a:prstGeom>
          <a:solidFill>
            <a:srgbClr val="FFFFFF">
              <a:alpha val="10000"/>
            </a:srgbClr>
          </a:solidFill>
          <a:ln>
            <a:noFill/>
          </a:ln>
        </p:spPr>
      </p:sp>
      <p:sp>
        <p:nvSpPr>
          <p:cNvPr id="4" name="wave-2"/>
          <p:cNvSpPr/>
          <p:nvPr/>
        </p:nvSpPr>
        <p:spPr>
          <a:xfrm rot="-1080000">
            <a:off x="-2095500" y="95250"/>
            <a:ext cx="9906000" cy="2095500"/>
          </a:xfrm>
          <a:prstGeom prst="ellipse">
            <a:avLst/>
          </a:prstGeom>
          <a:solidFill>
            <a:srgbClr val="FFFFFF">
              <a:alpha val="8000"/>
            </a:srgbClr>
          </a:solidFill>
          <a:ln>
            <a:noFill/>
          </a:ln>
        </p:spPr>
      </p:sp>
      <p:sp>
        <p:nvSpPr>
          <p:cNvPr id="5" name="wave-3"/>
          <p:cNvSpPr/>
          <p:nvPr/>
        </p:nvSpPr>
        <p:spPr>
          <a:xfrm rot="-720000">
            <a:off x="3238500" y="2190750"/>
            <a:ext cx="8001000" cy="1333500"/>
          </a:xfrm>
          <a:prstGeom prst="ellipse">
            <a:avLst/>
          </a:prstGeom>
          <a:solidFill>
            <a:srgbClr val="5F2014">
              <a:alpha val="18000"/>
            </a:srgbClr>
          </a:solidFill>
          <a:ln>
            <a:noFill/>
          </a:ln>
        </p:spPr>
      </p:sp>
      <p:grpSp>
        <p:nvGrpSpPr>
          <p:cNvPr id="10" name="section-title"/>
          <p:cNvGrpSpPr/>
          <p:nvPr/>
        </p:nvGrpSpPr>
        <p:grpSpPr>
          <a:xfrm>
            <a:off x="745236" y="2025015"/>
            <a:ext cx="4096388" cy="1718310"/>
            <a:chOff x="745236" y="2025015"/>
            <a:chExt cx="4096388" cy="1718310"/>
          </a:xfrm>
        </p:grpSpPr>
        <p:sp>
          <p:nvSpPr>
            <p:cNvPr id="6" name="TextBox 6"/>
            <p:cNvSpPr txBox="1"/>
            <p:nvPr/>
          </p:nvSpPr>
          <p:spPr>
            <a:xfrm>
              <a:off x="745236" y="2025015"/>
              <a:ext cx="2699004" cy="645414"/>
            </a:xfrm>
            <a:prstGeom prst="rect">
              <a:avLst/>
            </a:prstGeom>
            <a:noFill/>
            <a:ln>
              <a:noFill/>
            </a:ln>
          </p:spPr>
          <p:txBody>
            <a:bodyPr wrap="none" lIns="0" tIns="0" rIns="0" bIns="0" anchor="t" anchorCtr="0">
              <a:spAutoFit/>
            </a:bodyPr>
            <a:lstStyle/>
            <a:p>
              <a:pPr algn="l"/>
              <a:r>
                <a:rPr lang="zh-CN" sz="3300" b="1" dirty="0">
                  <a:solidFill>
                    <a:srgbClr val="FFFFFF"/>
                  </a:solidFill>
                  <a:latin typeface="+mn-lt"/>
                  <a:ea typeface="+mn-ea"/>
                  <a:cs typeface="+mn-cs"/>
                </a:rPr>
                <a:t>技术与工具：</a:t>
              </a:r>
            </a:p>
          </p:txBody>
        </p:sp>
        <p:sp>
          <p:nvSpPr>
            <p:cNvPr id="7" name="TextBox 7"/>
            <p:cNvSpPr txBox="1"/>
            <p:nvPr/>
          </p:nvSpPr>
          <p:spPr>
            <a:xfrm>
              <a:off x="748284" y="2661285"/>
              <a:ext cx="1481328" cy="528066"/>
            </a:xfrm>
            <a:prstGeom prst="rect">
              <a:avLst/>
            </a:prstGeom>
            <a:noFill/>
            <a:ln>
              <a:noFill/>
            </a:ln>
          </p:spPr>
          <p:txBody>
            <a:bodyPr wrap="none" lIns="0" tIns="0" rIns="0" bIns="0" anchor="t" anchorCtr="0">
              <a:spAutoFit/>
            </a:bodyPr>
            <a:lstStyle/>
            <a:p>
              <a:pPr algn="l"/>
              <a:r>
                <a:rPr lang="zh-CN" sz="2700" dirty="0">
                  <a:solidFill>
                    <a:srgbClr val="FFFFFF"/>
                  </a:solidFill>
                  <a:latin typeface="+mn-lt"/>
                  <a:ea typeface="+mn-ea"/>
                  <a:cs typeface="+mn-cs"/>
                </a:rPr>
                <a:t>改进空间</a:t>
              </a:r>
            </a:p>
          </p:txBody>
        </p:sp>
        <p:sp>
          <p:nvSpPr>
            <p:cNvPr id="8" name="TextBox 8"/>
            <p:cNvSpPr txBox="1"/>
            <p:nvPr/>
          </p:nvSpPr>
          <p:spPr>
            <a:xfrm>
              <a:off x="755904" y="3299460"/>
              <a:ext cx="4085720" cy="234696"/>
            </a:xfrm>
            <a:prstGeom prst="rect">
              <a:avLst/>
            </a:prstGeom>
            <a:noFill/>
            <a:ln>
              <a:noFill/>
            </a:ln>
          </p:spPr>
          <p:txBody>
            <a:bodyPr wrap="none" lIns="0" tIns="0" rIns="0" bIns="0" anchor="t" anchorCtr="0">
              <a:spAutoFit/>
            </a:bodyPr>
            <a:lstStyle/>
            <a:p>
              <a:pPr algn="l"/>
              <a:r>
                <a:rPr lang="en-US" sz="1200" dirty="0">
                  <a:solidFill>
                    <a:srgbClr val="FFFFFF">
                      <a:alphaMod val="85000"/>
                    </a:srgbClr>
                  </a:solidFill>
                  <a:latin typeface="+mn-lt"/>
                  <a:ea typeface="+mn-ea"/>
                  <a:cs typeface="+mn-cs"/>
                </a:rPr>
                <a:t>Technology and tooling: Potential for improvement​</a:t>
              </a:r>
            </a:p>
          </p:txBody>
        </p:sp>
        <p:sp>
          <p:nvSpPr>
            <p:cNvPr id="9" name="Line 9"/>
            <p:cNvSpPr/>
            <p:nvPr/>
          </p:nvSpPr>
          <p:spPr>
            <a:xfrm>
              <a:off x="762000" y="3733800"/>
              <a:ext cx="1524000" cy="9525"/>
            </a:xfrm>
            <a:custGeom>
              <a:avLst/>
              <a:gdLst/>
              <a:ahLst/>
              <a:cxnLst/>
              <a:rect l="l" t="t" r="r" b="b"/>
              <a:pathLst>
                <a:path w="1524000" h="9525">
                  <a:moveTo>
                    <a:pt x="0" y="0"/>
                  </a:moveTo>
                  <a:lnTo>
                    <a:pt x="1524000" y="0"/>
                  </a:lnTo>
                </a:path>
              </a:pathLst>
            </a:custGeom>
            <a:noFill/>
            <a:ln w="19050">
              <a:solidFill>
                <a:srgbClr val="FFFFFF"/>
              </a:solidFill>
            </a:ln>
          </p:spPr>
        </p:sp>
      </p:grpSp>
      <p:grpSp>
        <p:nvGrpSpPr>
          <p:cNvPr id="44" name="nav"/>
          <p:cNvGrpSpPr/>
          <p:nvPr/>
        </p:nvGrpSpPr>
        <p:grpSpPr>
          <a:xfrm>
            <a:off x="9834562" y="0"/>
            <a:ext cx="2357438" cy="6858000"/>
            <a:chOff x="9834562" y="0"/>
            <a:chExt cx="2357438" cy="6858000"/>
          </a:xfrm>
        </p:grpSpPr>
        <p:sp>
          <p:nvSpPr>
            <p:cNvPr id="11" name="Line 11"/>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2" name="Rectangle 12"/>
            <p:cNvSpPr/>
            <p:nvPr/>
          </p:nvSpPr>
          <p:spPr>
            <a:xfrm>
              <a:off x="9839325" y="476250"/>
              <a:ext cx="2352675" cy="514350"/>
            </a:xfrm>
            <a:prstGeom prst="rect">
              <a:avLst/>
            </a:prstGeom>
            <a:solidFill>
              <a:srgbClr val="F3F3F3"/>
            </a:solidFill>
            <a:ln>
              <a:noFill/>
            </a:ln>
          </p:spPr>
        </p:sp>
        <p:sp>
          <p:nvSpPr>
            <p:cNvPr id="13" name="TextBox 13"/>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4" name="Rectangle 14"/>
            <p:cNvSpPr/>
            <p:nvPr/>
          </p:nvSpPr>
          <p:spPr>
            <a:xfrm>
              <a:off x="9839325" y="1000125"/>
              <a:ext cx="2352675" cy="514350"/>
            </a:xfrm>
            <a:prstGeom prst="rect">
              <a:avLst/>
            </a:prstGeom>
            <a:solidFill>
              <a:srgbClr val="F3F3F3"/>
            </a:solidFill>
            <a:ln>
              <a:noFill/>
            </a:ln>
          </p:spPr>
        </p:sp>
        <p:sp>
          <p:nvSpPr>
            <p:cNvPr id="15" name="TextBox 15"/>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6" name="Rectangle 16"/>
            <p:cNvSpPr/>
            <p:nvPr/>
          </p:nvSpPr>
          <p:spPr>
            <a:xfrm>
              <a:off x="9839325" y="1524000"/>
              <a:ext cx="2352675" cy="514350"/>
            </a:xfrm>
            <a:prstGeom prst="rect">
              <a:avLst/>
            </a:prstGeom>
            <a:solidFill>
              <a:srgbClr val="F3F3F3"/>
            </a:solidFill>
            <a:ln>
              <a:noFill/>
            </a:ln>
          </p:spPr>
        </p:sp>
        <p:sp>
          <p:nvSpPr>
            <p:cNvPr id="17" name="TextBox 17"/>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8" name="Rectangle 18"/>
            <p:cNvSpPr/>
            <p:nvPr/>
          </p:nvSpPr>
          <p:spPr>
            <a:xfrm>
              <a:off x="9839325" y="2047875"/>
              <a:ext cx="2352675" cy="514350"/>
            </a:xfrm>
            <a:prstGeom prst="rect">
              <a:avLst/>
            </a:prstGeom>
            <a:solidFill>
              <a:srgbClr val="F3F3F3"/>
            </a:solidFill>
            <a:ln>
              <a:noFill/>
            </a:ln>
          </p:spPr>
        </p:sp>
        <p:sp>
          <p:nvSpPr>
            <p:cNvPr id="19" name="TextBox 19"/>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20" name="Rectangle 20"/>
            <p:cNvSpPr/>
            <p:nvPr/>
          </p:nvSpPr>
          <p:spPr>
            <a:xfrm>
              <a:off x="9839325" y="2571750"/>
              <a:ext cx="2352675" cy="514350"/>
            </a:xfrm>
            <a:prstGeom prst="rect">
              <a:avLst/>
            </a:prstGeom>
            <a:solidFill>
              <a:srgbClr val="F3F3F3"/>
            </a:solidFill>
            <a:ln>
              <a:noFill/>
            </a:ln>
          </p:spPr>
        </p:sp>
        <p:sp>
          <p:nvSpPr>
            <p:cNvPr id="21" name="TextBox 21"/>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22" name="Rectangle 22"/>
            <p:cNvSpPr/>
            <p:nvPr/>
          </p:nvSpPr>
          <p:spPr>
            <a:xfrm>
              <a:off x="9839325" y="3095625"/>
              <a:ext cx="2352675" cy="514350"/>
            </a:xfrm>
            <a:prstGeom prst="rect">
              <a:avLst/>
            </a:prstGeom>
            <a:solidFill>
              <a:srgbClr val="F3F3F3"/>
            </a:solidFill>
            <a:ln>
              <a:noFill/>
            </a:ln>
          </p:spPr>
        </p:sp>
        <p:sp>
          <p:nvSpPr>
            <p:cNvPr id="23" name="TextBox 23"/>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24" name="Rectangle 24"/>
            <p:cNvSpPr/>
            <p:nvPr/>
          </p:nvSpPr>
          <p:spPr>
            <a:xfrm>
              <a:off x="9839325" y="3619500"/>
              <a:ext cx="2352675" cy="514350"/>
            </a:xfrm>
            <a:prstGeom prst="rect">
              <a:avLst/>
            </a:prstGeom>
            <a:solidFill>
              <a:srgbClr val="AA1B00"/>
            </a:solidFill>
            <a:ln>
              <a:noFill/>
            </a:ln>
          </p:spPr>
        </p:sp>
        <p:sp>
          <p:nvSpPr>
            <p:cNvPr id="25" name="TextBox 25"/>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技术与工具：改进空间</a:t>
              </a:r>
            </a:p>
          </p:txBody>
        </p:sp>
        <p:sp>
          <p:nvSpPr>
            <p:cNvPr id="26" name="Rectangle 26"/>
            <p:cNvSpPr/>
            <p:nvPr/>
          </p:nvSpPr>
          <p:spPr>
            <a:xfrm>
              <a:off x="9839325" y="4143375"/>
              <a:ext cx="2352675" cy="514350"/>
            </a:xfrm>
            <a:prstGeom prst="rect">
              <a:avLst/>
            </a:prstGeom>
            <a:solidFill>
              <a:srgbClr val="F3F3F3"/>
            </a:solidFill>
            <a:ln>
              <a:noFill/>
            </a:ln>
          </p:spPr>
        </p:sp>
        <p:sp>
          <p:nvSpPr>
            <p:cNvPr id="27" name="TextBox 27"/>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28" name="Rectangle 28"/>
            <p:cNvSpPr/>
            <p:nvPr/>
          </p:nvSpPr>
          <p:spPr>
            <a:xfrm>
              <a:off x="9839325" y="4667250"/>
              <a:ext cx="2352675" cy="514350"/>
            </a:xfrm>
            <a:prstGeom prst="rect">
              <a:avLst/>
            </a:prstGeom>
            <a:solidFill>
              <a:srgbClr val="F3F3F3"/>
            </a:solidFill>
            <a:ln>
              <a:noFill/>
            </a:ln>
          </p:spPr>
        </p:sp>
        <p:sp>
          <p:nvSpPr>
            <p:cNvPr id="29" name="TextBox 29"/>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30" name="Rectangle 30"/>
            <p:cNvSpPr/>
            <p:nvPr/>
          </p:nvSpPr>
          <p:spPr>
            <a:xfrm>
              <a:off x="9839325" y="5191125"/>
              <a:ext cx="2352675" cy="514350"/>
            </a:xfrm>
            <a:prstGeom prst="rect">
              <a:avLst/>
            </a:prstGeom>
            <a:solidFill>
              <a:srgbClr val="F3F3F3"/>
            </a:solidFill>
            <a:ln>
              <a:noFill/>
            </a:ln>
          </p:spPr>
        </p:sp>
        <p:sp>
          <p:nvSpPr>
            <p:cNvPr id="31" name="TextBox 31"/>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32" name="Rectangle 32"/>
            <p:cNvSpPr/>
            <p:nvPr/>
          </p:nvSpPr>
          <p:spPr>
            <a:xfrm>
              <a:off x="9839325" y="5715000"/>
              <a:ext cx="2352675" cy="514350"/>
            </a:xfrm>
            <a:prstGeom prst="rect">
              <a:avLst/>
            </a:prstGeom>
            <a:solidFill>
              <a:srgbClr val="F3F3F3"/>
            </a:solidFill>
            <a:ln>
              <a:noFill/>
            </a:ln>
          </p:spPr>
        </p:sp>
        <p:sp>
          <p:nvSpPr>
            <p:cNvPr id="33" name="TextBox 33"/>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34" name="Ellipse 34"/>
            <p:cNvSpPr/>
            <p:nvPr/>
          </p:nvSpPr>
          <p:spPr>
            <a:xfrm>
              <a:off x="10020300" y="6372225"/>
              <a:ext cx="266700" cy="266700"/>
            </a:xfrm>
            <a:prstGeom prst="ellipse">
              <a:avLst/>
            </a:prstGeom>
            <a:solidFill>
              <a:srgbClr val="D7D8D6"/>
            </a:solidFill>
            <a:ln>
              <a:noFill/>
            </a:ln>
          </p:spPr>
        </p:sp>
        <p:sp>
          <p:nvSpPr>
            <p:cNvPr id="35" name="Freeform 35"/>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36" name="Ellipse 36"/>
            <p:cNvSpPr/>
            <p:nvPr/>
          </p:nvSpPr>
          <p:spPr>
            <a:xfrm>
              <a:off x="10420350" y="6372225"/>
              <a:ext cx="266700" cy="266700"/>
            </a:xfrm>
            <a:prstGeom prst="ellipse">
              <a:avLst/>
            </a:prstGeom>
            <a:solidFill>
              <a:srgbClr val="D7D8D6"/>
            </a:solidFill>
            <a:ln>
              <a:noFill/>
            </a:ln>
          </p:spPr>
        </p:sp>
        <p:grpSp>
          <p:nvGrpSpPr>
            <p:cNvPr id="40" name="Group 40"/>
            <p:cNvGrpSpPr/>
            <p:nvPr/>
          </p:nvGrpSpPr>
          <p:grpSpPr>
            <a:xfrm>
              <a:off x="10489406" y="6441281"/>
              <a:ext cx="128588" cy="128588"/>
              <a:chOff x="10489406" y="6441281"/>
              <a:chExt cx="128588" cy="128588"/>
            </a:xfrm>
          </p:grpSpPr>
          <p:sp>
            <p:nvSpPr>
              <p:cNvPr id="37" name="Freeform 37"/>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38" name="Freeform 38"/>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39" name="Freeform 39"/>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41" name="Ellipse 41"/>
            <p:cNvSpPr/>
            <p:nvPr/>
          </p:nvSpPr>
          <p:spPr>
            <a:xfrm>
              <a:off x="10820400" y="6372225"/>
              <a:ext cx="266700" cy="266700"/>
            </a:xfrm>
            <a:prstGeom prst="ellipse">
              <a:avLst/>
            </a:prstGeom>
            <a:solidFill>
              <a:srgbClr val="D7D8D6"/>
            </a:solidFill>
            <a:ln>
              <a:noFill/>
            </a:ln>
          </p:spPr>
        </p:sp>
        <p:sp>
          <p:nvSpPr>
            <p:cNvPr id="42" name="Freeform 42"/>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43" name="TextBox 43"/>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30</a:t>
              </a:r>
            </a:p>
          </p:txBody>
        </p:sp>
      </p:gr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A1B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31</a:t>
              </a:r>
            </a:p>
          </p:txBody>
        </p:sp>
        <p:sp>
          <p:nvSpPr>
            <p:cNvPr id="4" name="TextBox 4"/>
            <p:cNvSpPr txBox="1"/>
            <p:nvPr/>
          </p:nvSpPr>
          <p:spPr>
            <a:xfrm>
              <a:off x="942594" y="151448"/>
              <a:ext cx="636030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技术与工具：</a:t>
              </a:r>
              <a:r>
                <a:rPr lang="zh-CN" sz="1950" b="1" dirty="0">
                  <a:solidFill>
                    <a:srgbClr val="AA1B00"/>
                  </a:solidFill>
                  <a:latin typeface="+mj-lt"/>
                  <a:ea typeface="+mj-ea"/>
                  <a:cs typeface="+mj-cs"/>
                </a:rPr>
                <a:t>工具类型</a:t>
              </a:r>
              <a:r>
                <a:rPr lang="zh-CN" sz="1950" b="1" dirty="0">
                  <a:solidFill>
                    <a:srgbClr val="1A1A1A"/>
                  </a:solidFill>
                  <a:latin typeface="+mj-lt"/>
                  <a:ea typeface="+mj-ea"/>
                  <a:cs typeface="+mj-cs"/>
                </a:rPr>
                <a:t>——从 Excel 到自研方案​​​​</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AA1B00"/>
              </a:solidFill>
            </a:ln>
          </p:spPr>
        </p:sp>
      </p:grpSp>
      <p:grpSp>
        <p:nvGrpSpPr>
          <p:cNvPr id="9" name="leadbox"/>
          <p:cNvGrpSpPr/>
          <p:nvPr/>
        </p:nvGrpSpPr>
        <p:grpSpPr>
          <a:xfrm>
            <a:off x="476250" y="762000"/>
            <a:ext cx="9144000" cy="628650"/>
            <a:chOff x="476250" y="762000"/>
            <a:chExt cx="9144000" cy="628650"/>
          </a:xfrm>
        </p:grpSpPr>
        <p:sp>
          <p:nvSpPr>
            <p:cNvPr id="7" name="Rectangle 7"/>
            <p:cNvSpPr/>
            <p:nvPr/>
          </p:nvSpPr>
          <p:spPr>
            <a:xfrm>
              <a:off x="476250" y="762000"/>
              <a:ext cx="9144000" cy="628650"/>
            </a:xfrm>
            <a:prstGeom prst="rect">
              <a:avLst/>
            </a:prstGeom>
            <a:solidFill>
              <a:srgbClr val="F7F7F7"/>
            </a:solidFill>
            <a:ln>
              <a:noFill/>
            </a:ln>
          </p:spPr>
        </p:sp>
        <p:sp>
          <p:nvSpPr>
            <p:cNvPr id="8" name="TextBox 8"/>
            <p:cNvSpPr txBox="1"/>
            <p:nvPr/>
          </p:nvSpPr>
          <p:spPr>
            <a:xfrm>
              <a:off x="604266" y="895350"/>
              <a:ext cx="8218361" cy="405384"/>
            </a:xfrm>
            <a:prstGeom prst="rect">
              <a:avLst/>
            </a:prstGeom>
            <a:noFill/>
            <a:ln>
              <a:noFill/>
            </a:ln>
          </p:spPr>
          <p:txBody>
            <a:bodyPr wrap="none" lIns="0" tIns="0" rIns="0" bIns="0" anchor="t" anchorCtr="0">
              <a:spAutoFit/>
            </a:bodyPr>
            <a:lstStyle/>
            <a:p>
              <a:pPr algn="l">
                <a:lnSpc>
                  <a:spcPts val="1575"/>
                </a:lnSpc>
              </a:pPr>
              <a:r>
                <a:rPr lang="zh-CN" sz="1050" dirty="0">
                  <a:solidFill>
                    <a:srgbClr val="AA1B00"/>
                  </a:solidFill>
                  <a:latin typeface="+mn-lt"/>
                  <a:ea typeface="+mn-ea"/>
                  <a:cs typeface="+mn-cs"/>
                </a:rPr>
                <a:t>成功实施模型风险管理框架往往有模型风险管理工具的支撑。有价值的模型风险管理工具将模型清单、文档库、生命周期管理与工作流、分​</a:t>
              </a:r>
              <a:br/>
              <a:r>
                <a:rPr lang="zh-CN" sz="1050" dirty="0">
                  <a:solidFill>
                    <a:srgbClr val="AA1B00"/>
                  </a:solidFill>
                  <a:latin typeface="+mn-lt"/>
                  <a:ea typeface="+mn-ea"/>
                  <a:cs typeface="+mn-cs"/>
                </a:rPr>
                <a:t>析与报告能力集成到单一平台。工具及其功能可极大提升模型风险管理活动的有效性。​</a:t>
              </a:r>
            </a:p>
          </p:txBody>
        </p:sp>
      </p:grpSp>
      <p:grpSp>
        <p:nvGrpSpPr>
          <p:cNvPr id="14" name="col-1"/>
          <p:cNvGrpSpPr/>
          <p:nvPr/>
        </p:nvGrpSpPr>
        <p:grpSpPr>
          <a:xfrm>
            <a:off x="566547" y="1571149"/>
            <a:ext cx="2358581" cy="2708434"/>
            <a:chOff x="566547" y="1571149"/>
            <a:chExt cx="2358581" cy="2708434"/>
          </a:xfrm>
        </p:grpSpPr>
        <p:sp>
          <p:nvSpPr>
            <p:cNvPr id="10" name="TextBox 10"/>
            <p:cNvSpPr txBox="1"/>
            <p:nvPr/>
          </p:nvSpPr>
          <p:spPr>
            <a:xfrm>
              <a:off x="566547" y="1571149"/>
              <a:ext cx="1898275" cy="514541"/>
            </a:xfrm>
            <a:prstGeom prst="rect">
              <a:avLst/>
            </a:prstGeom>
            <a:noFill/>
            <a:ln>
              <a:noFill/>
            </a:ln>
          </p:spPr>
          <p:txBody>
            <a:bodyPr wrap="none" lIns="0" tIns="0" rIns="0" bIns="0" anchor="t" anchorCtr="0">
              <a:spAutoFit/>
            </a:bodyPr>
            <a:lstStyle/>
            <a:p>
              <a:pPr algn="l">
                <a:lnSpc>
                  <a:spcPts val="1275"/>
                </a:lnSpc>
              </a:pPr>
              <a:r>
                <a:rPr lang="zh-CN" sz="980" b="1" dirty="0">
                  <a:solidFill>
                    <a:srgbClr val="AA1B00"/>
                  </a:solidFill>
                  <a:latin typeface="+mn-lt"/>
                  <a:ea typeface="+mn-ea"/>
                  <a:cs typeface="+mn-cs"/>
                </a:rPr>
                <a:t>工具类型：从Excel到自研方案​​</a:t>
              </a:r>
              <a:br/>
              <a:r>
                <a:rPr lang="en-US" sz="980" b="1" dirty="0">
                  <a:solidFill>
                    <a:srgbClr val="AA1B00"/>
                  </a:solidFill>
                  <a:latin typeface="+mn-lt"/>
                  <a:ea typeface="+mn-ea"/>
                  <a:cs typeface="+mn-cs"/>
                </a:rPr>
                <a:t>Tooling types: From Excel to​</a:t>
              </a:r>
              <a:br/>
              <a:r>
                <a:rPr lang="en-US" sz="980" b="1" dirty="0">
                  <a:solidFill>
                    <a:srgbClr val="AA1B00"/>
                  </a:solidFill>
                  <a:latin typeface="+mn-lt"/>
                  <a:ea typeface="+mn-ea"/>
                  <a:cs typeface="+mn-cs"/>
                </a:rPr>
                <a:t>solutions developed in-house​</a:t>
              </a:r>
            </a:p>
          </p:txBody>
        </p:sp>
        <p:sp>
          <p:nvSpPr>
            <p:cNvPr id="11" name="TextBox 11"/>
            <p:cNvSpPr txBox="1"/>
            <p:nvPr/>
          </p:nvSpPr>
          <p:spPr>
            <a:xfrm>
              <a:off x="566738" y="2084070"/>
              <a:ext cx="23583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调研结果显示，42%的银行使用Excel作​​​​</a:t>
              </a:r>
              <a:br/>
              <a:r>
                <a:rPr lang="zh-CN" sz="900" dirty="0">
                  <a:solidFill>
                    <a:srgbClr val="333333"/>
                  </a:solidFill>
                  <a:latin typeface="+mn-lt"/>
                  <a:ea typeface="+mn-ea"/>
                  <a:cs typeface="+mn-cs"/>
                </a:rPr>
                <a:t>为模型风险管理工具，是最普遍的工具。另有​</a:t>
              </a:r>
              <a:br/>
              <a:r>
                <a:rPr lang="zh-CN" sz="900" dirty="0">
                  <a:solidFill>
                    <a:srgbClr val="333333"/>
                  </a:solidFill>
                  <a:latin typeface="+mn-lt"/>
                  <a:ea typeface="+mn-ea"/>
                  <a:cs typeface="+mn-cs"/>
                </a:rPr>
                <a:t>30%的银行表示使用供应商方案。较少银行​</a:t>
              </a:r>
              <a:br/>
              <a:r>
                <a:rPr lang="zh-CN" sz="900" dirty="0">
                  <a:solidFill>
                    <a:srgbClr val="333333"/>
                  </a:solidFill>
                  <a:latin typeface="+mn-lt"/>
                  <a:ea typeface="+mn-ea"/>
                  <a:cs typeface="+mn-cs"/>
                </a:rPr>
                <a:t>使用SharePoint或自研方案。部分银行表​​</a:t>
              </a:r>
              <a:br/>
              <a:r>
                <a:rPr lang="zh-CN" sz="900" dirty="0">
                  <a:solidFill>
                    <a:srgbClr val="333333"/>
                  </a:solidFill>
                  <a:latin typeface="+mn-lt"/>
                  <a:ea typeface="+mn-ea"/>
                  <a:cs typeface="+mn-cs"/>
                </a:rPr>
                <a:t>示组合使用多种工具（如Excel与​​</a:t>
              </a:r>
              <a:br/>
              <a:r>
                <a:rPr lang="zh-CN" sz="900" dirty="0">
                  <a:solidFill>
                    <a:srgbClr val="333333"/>
                  </a:solidFill>
                  <a:latin typeface="+mn-lt"/>
                  <a:ea typeface="+mn-ea"/>
                  <a:cs typeface="+mn-cs"/>
                </a:rPr>
                <a:t>SharePoint），以获得所需的全部功能。​</a:t>
              </a:r>
            </a:p>
          </p:txBody>
        </p:sp>
        <p:sp>
          <p:nvSpPr>
            <p:cNvPr id="12" name="TextBox 12"/>
            <p:cNvSpPr txBox="1"/>
            <p:nvPr/>
          </p:nvSpPr>
          <p:spPr>
            <a:xfrm>
              <a:off x="566738" y="3274695"/>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尽管Excel是各规模银行最常用的工具，​​</a:t>
              </a:r>
              <a:br/>
              <a:r>
                <a:rPr lang="zh-CN" sz="900" dirty="0">
                  <a:solidFill>
                    <a:srgbClr val="333333"/>
                  </a:solidFill>
                  <a:latin typeface="+mn-lt"/>
                  <a:ea typeface="+mn-ea"/>
                  <a:cs typeface="+mn-cs"/>
                </a:rPr>
                <a:t>但大型银行比中小型银行更常使用供应商方案​</a:t>
              </a:r>
              <a:br/>
              <a:r>
                <a:rPr lang="zh-CN" sz="900" dirty="0">
                  <a:solidFill>
                    <a:srgbClr val="333333"/>
                  </a:solidFill>
                  <a:latin typeface="+mn-lt"/>
                  <a:ea typeface="+mn-ea"/>
                  <a:cs typeface="+mn-cs"/>
                </a:rPr>
                <a:t>或自研方案。​</a:t>
              </a:r>
            </a:p>
          </p:txBody>
        </p:sp>
        <p:sp>
          <p:nvSpPr>
            <p:cNvPr id="13" name="TextBox 13"/>
            <p:cNvSpPr txBox="1"/>
            <p:nvPr/>
          </p:nvSpPr>
          <p:spPr>
            <a:xfrm>
              <a:off x="566738" y="3922395"/>
              <a:ext cx="23583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此外，部分中小型银行表示完全不使用任何模​</a:t>
              </a:r>
              <a:br/>
              <a:r>
                <a:rPr lang="zh-CN" sz="900" dirty="0">
                  <a:solidFill>
                    <a:srgbClr val="333333"/>
                  </a:solidFill>
                  <a:latin typeface="+mn-lt"/>
                  <a:ea typeface="+mn-ea"/>
                  <a:cs typeface="+mn-cs"/>
                </a:rPr>
                <a:t>型风险管理工具。​</a:t>
              </a:r>
            </a:p>
          </p:txBody>
        </p:sp>
      </p:grpSp>
      <p:grpSp>
        <p:nvGrpSpPr>
          <p:cNvPr id="45" name="figure-36"/>
          <p:cNvGrpSpPr/>
          <p:nvPr/>
        </p:nvGrpSpPr>
        <p:grpSpPr>
          <a:xfrm>
            <a:off x="3443288" y="1587341"/>
            <a:ext cx="2557462" cy="2750106"/>
            <a:chOff x="3443288" y="1587341"/>
            <a:chExt cx="2557462" cy="2750106"/>
          </a:xfrm>
        </p:grpSpPr>
        <p:sp>
          <p:nvSpPr>
            <p:cNvPr id="15" name="TextBox 15"/>
            <p:cNvSpPr txBox="1"/>
            <p:nvPr/>
          </p:nvSpPr>
          <p:spPr>
            <a:xfrm>
              <a:off x="3443288" y="1587341"/>
              <a:ext cx="190848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图36. 模型风险管理实践所用的工具​​</a:t>
              </a:r>
            </a:p>
          </p:txBody>
        </p:sp>
        <p:sp>
          <p:nvSpPr>
            <p:cNvPr id="16" name="TextBox 16"/>
            <p:cNvSpPr txBox="1"/>
            <p:nvPr/>
          </p:nvSpPr>
          <p:spPr>
            <a:xfrm>
              <a:off x="3443288" y="1735455"/>
              <a:ext cx="2059855"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Tooling used for model risk management practices​​</a:t>
              </a:r>
            </a:p>
          </p:txBody>
        </p:sp>
        <p:sp>
          <p:nvSpPr>
            <p:cNvPr id="17" name="Line 17"/>
            <p:cNvSpPr/>
            <p:nvPr/>
          </p:nvSpPr>
          <p:spPr>
            <a:xfrm>
              <a:off x="3810000" y="4057650"/>
              <a:ext cx="2190750" cy="9525"/>
            </a:xfrm>
            <a:custGeom>
              <a:avLst/>
              <a:gdLst/>
              <a:ahLst/>
              <a:cxnLst/>
              <a:rect l="l" t="t" r="r" b="b"/>
              <a:pathLst>
                <a:path w="2190750" h="9525">
                  <a:moveTo>
                    <a:pt x="0" y="0"/>
                  </a:moveTo>
                  <a:lnTo>
                    <a:pt x="2190750" y="0"/>
                  </a:lnTo>
                </a:path>
              </a:pathLst>
            </a:custGeom>
            <a:noFill/>
            <a:ln w="7620">
              <a:solidFill>
                <a:srgbClr val="E6E6E6"/>
              </a:solidFill>
            </a:ln>
          </p:spPr>
        </p:sp>
        <p:sp>
          <p:nvSpPr>
            <p:cNvPr id="18" name="TextBox 18"/>
            <p:cNvSpPr txBox="1"/>
            <p:nvPr/>
          </p:nvSpPr>
          <p:spPr>
            <a:xfrm>
              <a:off x="3608184" y="4026218"/>
              <a:ext cx="158953"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0%​</a:t>
              </a:r>
            </a:p>
          </p:txBody>
        </p:sp>
        <p:sp>
          <p:nvSpPr>
            <p:cNvPr id="19" name="Line 19"/>
            <p:cNvSpPr/>
            <p:nvPr/>
          </p:nvSpPr>
          <p:spPr>
            <a:xfrm>
              <a:off x="3810000" y="3676650"/>
              <a:ext cx="2190750" cy="9525"/>
            </a:xfrm>
            <a:custGeom>
              <a:avLst/>
              <a:gdLst/>
              <a:ahLst/>
              <a:cxnLst/>
              <a:rect l="l" t="t" r="r" b="b"/>
              <a:pathLst>
                <a:path w="2190750" h="9525">
                  <a:moveTo>
                    <a:pt x="0" y="0"/>
                  </a:moveTo>
                  <a:lnTo>
                    <a:pt x="2190750" y="0"/>
                  </a:lnTo>
                </a:path>
              </a:pathLst>
            </a:custGeom>
            <a:noFill/>
            <a:ln w="7620">
              <a:solidFill>
                <a:srgbClr val="E6E6E6"/>
              </a:solidFill>
            </a:ln>
          </p:spPr>
        </p:sp>
        <p:sp>
          <p:nvSpPr>
            <p:cNvPr id="20" name="TextBox 20"/>
            <p:cNvSpPr txBox="1"/>
            <p:nvPr/>
          </p:nvSpPr>
          <p:spPr>
            <a:xfrm>
              <a:off x="3563760" y="3645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10%​</a:t>
              </a:r>
            </a:p>
          </p:txBody>
        </p:sp>
        <p:sp>
          <p:nvSpPr>
            <p:cNvPr id="21" name="Line 21"/>
            <p:cNvSpPr/>
            <p:nvPr/>
          </p:nvSpPr>
          <p:spPr>
            <a:xfrm>
              <a:off x="3810000" y="3295650"/>
              <a:ext cx="2190750" cy="9525"/>
            </a:xfrm>
            <a:custGeom>
              <a:avLst/>
              <a:gdLst/>
              <a:ahLst/>
              <a:cxnLst/>
              <a:rect l="l" t="t" r="r" b="b"/>
              <a:pathLst>
                <a:path w="2190750" h="9525">
                  <a:moveTo>
                    <a:pt x="0" y="0"/>
                  </a:moveTo>
                  <a:lnTo>
                    <a:pt x="2190750" y="0"/>
                  </a:lnTo>
                </a:path>
              </a:pathLst>
            </a:custGeom>
            <a:noFill/>
            <a:ln w="7620">
              <a:solidFill>
                <a:srgbClr val="E6E6E6"/>
              </a:solidFill>
            </a:ln>
          </p:spPr>
        </p:sp>
        <p:sp>
          <p:nvSpPr>
            <p:cNvPr id="22" name="TextBox 22"/>
            <p:cNvSpPr txBox="1"/>
            <p:nvPr/>
          </p:nvSpPr>
          <p:spPr>
            <a:xfrm>
              <a:off x="3563760" y="3264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20%​</a:t>
              </a:r>
            </a:p>
          </p:txBody>
        </p:sp>
        <p:sp>
          <p:nvSpPr>
            <p:cNvPr id="23" name="Line 23"/>
            <p:cNvSpPr/>
            <p:nvPr/>
          </p:nvSpPr>
          <p:spPr>
            <a:xfrm>
              <a:off x="3810000" y="2914650"/>
              <a:ext cx="2190750" cy="9525"/>
            </a:xfrm>
            <a:custGeom>
              <a:avLst/>
              <a:gdLst/>
              <a:ahLst/>
              <a:cxnLst/>
              <a:rect l="l" t="t" r="r" b="b"/>
              <a:pathLst>
                <a:path w="2190750" h="9525">
                  <a:moveTo>
                    <a:pt x="0" y="0"/>
                  </a:moveTo>
                  <a:lnTo>
                    <a:pt x="2190750" y="0"/>
                  </a:lnTo>
                </a:path>
              </a:pathLst>
            </a:custGeom>
            <a:noFill/>
            <a:ln w="7620">
              <a:solidFill>
                <a:srgbClr val="E6E6E6"/>
              </a:solidFill>
            </a:ln>
          </p:spPr>
        </p:sp>
        <p:sp>
          <p:nvSpPr>
            <p:cNvPr id="24" name="TextBox 24"/>
            <p:cNvSpPr txBox="1"/>
            <p:nvPr/>
          </p:nvSpPr>
          <p:spPr>
            <a:xfrm>
              <a:off x="3563760" y="2883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30%​</a:t>
              </a:r>
            </a:p>
          </p:txBody>
        </p:sp>
        <p:sp>
          <p:nvSpPr>
            <p:cNvPr id="25" name="Line 25"/>
            <p:cNvSpPr/>
            <p:nvPr/>
          </p:nvSpPr>
          <p:spPr>
            <a:xfrm>
              <a:off x="3810000" y="2533650"/>
              <a:ext cx="2190750" cy="9525"/>
            </a:xfrm>
            <a:custGeom>
              <a:avLst/>
              <a:gdLst/>
              <a:ahLst/>
              <a:cxnLst/>
              <a:rect l="l" t="t" r="r" b="b"/>
              <a:pathLst>
                <a:path w="2190750" h="9525">
                  <a:moveTo>
                    <a:pt x="0" y="0"/>
                  </a:moveTo>
                  <a:lnTo>
                    <a:pt x="2190750" y="0"/>
                  </a:lnTo>
                </a:path>
              </a:pathLst>
            </a:custGeom>
            <a:noFill/>
            <a:ln w="7620">
              <a:solidFill>
                <a:srgbClr val="E6E6E6"/>
              </a:solidFill>
            </a:ln>
          </p:spPr>
        </p:sp>
        <p:sp>
          <p:nvSpPr>
            <p:cNvPr id="26" name="TextBox 26"/>
            <p:cNvSpPr txBox="1"/>
            <p:nvPr/>
          </p:nvSpPr>
          <p:spPr>
            <a:xfrm>
              <a:off x="3563760" y="2502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40%​</a:t>
              </a:r>
            </a:p>
          </p:txBody>
        </p:sp>
        <p:sp>
          <p:nvSpPr>
            <p:cNvPr id="27" name="Line 27"/>
            <p:cNvSpPr/>
            <p:nvPr/>
          </p:nvSpPr>
          <p:spPr>
            <a:xfrm>
              <a:off x="3810000" y="2152650"/>
              <a:ext cx="2190750" cy="9525"/>
            </a:xfrm>
            <a:custGeom>
              <a:avLst/>
              <a:gdLst/>
              <a:ahLst/>
              <a:cxnLst/>
              <a:rect l="l" t="t" r="r" b="b"/>
              <a:pathLst>
                <a:path w="2190750" h="9525">
                  <a:moveTo>
                    <a:pt x="0" y="0"/>
                  </a:moveTo>
                  <a:lnTo>
                    <a:pt x="2190750" y="0"/>
                  </a:lnTo>
                </a:path>
              </a:pathLst>
            </a:custGeom>
            <a:noFill/>
            <a:ln w="7620">
              <a:solidFill>
                <a:srgbClr val="E6E6E6"/>
              </a:solidFill>
            </a:ln>
          </p:spPr>
        </p:sp>
        <p:sp>
          <p:nvSpPr>
            <p:cNvPr id="28" name="TextBox 28"/>
            <p:cNvSpPr txBox="1"/>
            <p:nvPr/>
          </p:nvSpPr>
          <p:spPr>
            <a:xfrm>
              <a:off x="3563760" y="2121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50%​</a:t>
              </a:r>
            </a:p>
          </p:txBody>
        </p:sp>
        <p:sp>
          <p:nvSpPr>
            <p:cNvPr id="29" name="Rectangle 29"/>
            <p:cNvSpPr/>
            <p:nvPr/>
          </p:nvSpPr>
          <p:spPr>
            <a:xfrm>
              <a:off x="3905250" y="2457450"/>
              <a:ext cx="247650" cy="1600200"/>
            </a:xfrm>
            <a:prstGeom prst="rect">
              <a:avLst/>
            </a:prstGeom>
            <a:solidFill>
              <a:srgbClr val="AA1B00"/>
            </a:solidFill>
            <a:ln>
              <a:noFill/>
            </a:ln>
          </p:spPr>
        </p:sp>
        <p:sp>
          <p:nvSpPr>
            <p:cNvPr id="30" name="TextBox 30"/>
            <p:cNvSpPr txBox="1"/>
            <p:nvPr/>
          </p:nvSpPr>
          <p:spPr>
            <a:xfrm>
              <a:off x="3914463" y="2356009"/>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42%​</a:t>
              </a:r>
            </a:p>
          </p:txBody>
        </p:sp>
        <p:sp>
          <p:nvSpPr>
            <p:cNvPr id="31" name="TextBox 31"/>
            <p:cNvSpPr txBox="1"/>
            <p:nvPr/>
          </p:nvSpPr>
          <p:spPr>
            <a:xfrm>
              <a:off x="3810952" y="4120753"/>
              <a:ext cx="436245" cy="216694"/>
            </a:xfrm>
            <a:prstGeom prst="rect">
              <a:avLst/>
            </a:prstGeom>
            <a:noFill/>
            <a:ln>
              <a:noFill/>
            </a:ln>
          </p:spPr>
          <p:txBody>
            <a:bodyPr wrap="none" lIns="0" tIns="0" rIns="0" bIns="0" anchor="t" anchorCtr="0">
              <a:spAutoFit/>
            </a:bodyPr>
            <a:lstStyle/>
            <a:p>
              <a:pPr algn="ctr">
                <a:lnSpc>
                  <a:spcPts val="825"/>
                </a:lnSpc>
              </a:pPr>
              <a:r>
                <a:rPr lang="en-US" sz="560" dirty="0">
                  <a:solidFill>
                    <a:srgbClr val="666666"/>
                  </a:solidFill>
                  <a:latin typeface="+mn-lt"/>
                  <a:ea typeface="+mn-ea"/>
                  <a:cs typeface="+mn-cs"/>
                </a:rPr>
                <a:t>Microsoft​​</a:t>
              </a:r>
              <a:br/>
              <a:r>
                <a:rPr lang="en-US" sz="560" dirty="0">
                  <a:solidFill>
                    <a:srgbClr val="666666"/>
                  </a:solidFill>
                  <a:latin typeface="+mn-lt"/>
                  <a:ea typeface="+mn-ea"/>
                  <a:cs typeface="+mn-cs"/>
                </a:rPr>
                <a:t>Excel​​</a:t>
              </a:r>
            </a:p>
          </p:txBody>
        </p:sp>
        <p:sp>
          <p:nvSpPr>
            <p:cNvPr id="32" name="Rectangle 32"/>
            <p:cNvSpPr/>
            <p:nvPr/>
          </p:nvSpPr>
          <p:spPr>
            <a:xfrm>
              <a:off x="4343400" y="2914650"/>
              <a:ext cx="247650" cy="1143000"/>
            </a:xfrm>
            <a:prstGeom prst="rect">
              <a:avLst/>
            </a:prstGeom>
            <a:solidFill>
              <a:srgbClr val="AA1B00"/>
            </a:solidFill>
            <a:ln>
              <a:noFill/>
            </a:ln>
          </p:spPr>
        </p:sp>
        <p:sp>
          <p:nvSpPr>
            <p:cNvPr id="33" name="TextBox 33"/>
            <p:cNvSpPr txBox="1"/>
            <p:nvPr/>
          </p:nvSpPr>
          <p:spPr>
            <a:xfrm>
              <a:off x="4352613" y="2813209"/>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30%​</a:t>
              </a:r>
            </a:p>
          </p:txBody>
        </p:sp>
        <p:sp>
          <p:nvSpPr>
            <p:cNvPr id="34" name="TextBox 34"/>
            <p:cNvSpPr txBox="1"/>
            <p:nvPr/>
          </p:nvSpPr>
          <p:spPr>
            <a:xfrm>
              <a:off x="4156646" y="4120753"/>
              <a:ext cx="621157"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666666"/>
                  </a:solidFill>
                  <a:latin typeface="+mn-lt"/>
                  <a:ea typeface="+mn-ea"/>
                  <a:cs typeface="+mn-cs"/>
                </a:rPr>
                <a:t>供应商方案​</a:t>
              </a:r>
              <a:br/>
              <a:r>
                <a:rPr lang="en-US" sz="560" dirty="0">
                  <a:solidFill>
                    <a:srgbClr val="666666"/>
                  </a:solidFill>
                  <a:latin typeface="+mn-lt"/>
                  <a:ea typeface="+mn-ea"/>
                  <a:cs typeface="+mn-cs"/>
                </a:rPr>
                <a:t>Vendor solution​​</a:t>
              </a:r>
            </a:p>
          </p:txBody>
        </p:sp>
        <p:sp>
          <p:nvSpPr>
            <p:cNvPr id="35" name="Rectangle 35"/>
            <p:cNvSpPr/>
            <p:nvPr/>
          </p:nvSpPr>
          <p:spPr>
            <a:xfrm>
              <a:off x="4781550" y="3524250"/>
              <a:ext cx="247650" cy="533400"/>
            </a:xfrm>
            <a:prstGeom prst="rect">
              <a:avLst/>
            </a:prstGeom>
            <a:solidFill>
              <a:srgbClr val="AA1B00"/>
            </a:solidFill>
            <a:ln>
              <a:noFill/>
            </a:ln>
          </p:spPr>
        </p:sp>
        <p:sp>
          <p:nvSpPr>
            <p:cNvPr id="36" name="TextBox 36"/>
            <p:cNvSpPr txBox="1"/>
            <p:nvPr/>
          </p:nvSpPr>
          <p:spPr>
            <a:xfrm>
              <a:off x="4790763" y="3422809"/>
              <a:ext cx="229225"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14%​</a:t>
              </a:r>
            </a:p>
          </p:txBody>
        </p:sp>
        <p:sp>
          <p:nvSpPr>
            <p:cNvPr id="37" name="TextBox 37"/>
            <p:cNvSpPr txBox="1"/>
            <p:nvPr/>
          </p:nvSpPr>
          <p:spPr>
            <a:xfrm>
              <a:off x="4536122" y="4120753"/>
              <a:ext cx="7385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666666"/>
                  </a:solidFill>
                  <a:latin typeface="+mn-lt"/>
                  <a:ea typeface="+mn-ea"/>
                  <a:cs typeface="+mn-cs"/>
                </a:rPr>
                <a:t>其他自研方案​</a:t>
              </a:r>
              <a:br/>
              <a:r>
                <a:rPr lang="en-US" sz="560" dirty="0">
                  <a:solidFill>
                    <a:srgbClr val="666666"/>
                  </a:solidFill>
                  <a:latin typeface="+mn-lt"/>
                  <a:ea typeface="+mn-ea"/>
                  <a:cs typeface="+mn-cs"/>
                </a:rPr>
                <a:t>In-house developed​​</a:t>
              </a:r>
            </a:p>
          </p:txBody>
        </p:sp>
        <p:sp>
          <p:nvSpPr>
            <p:cNvPr id="38" name="Rectangle 38"/>
            <p:cNvSpPr/>
            <p:nvPr/>
          </p:nvSpPr>
          <p:spPr>
            <a:xfrm>
              <a:off x="5219700" y="3752850"/>
              <a:ext cx="247650" cy="304800"/>
            </a:xfrm>
            <a:prstGeom prst="rect">
              <a:avLst/>
            </a:prstGeom>
            <a:solidFill>
              <a:srgbClr val="AA1B00"/>
            </a:solidFill>
            <a:ln>
              <a:noFill/>
            </a:ln>
          </p:spPr>
        </p:sp>
        <p:sp>
          <p:nvSpPr>
            <p:cNvPr id="39" name="TextBox 39"/>
            <p:cNvSpPr txBox="1"/>
            <p:nvPr/>
          </p:nvSpPr>
          <p:spPr>
            <a:xfrm>
              <a:off x="5254087" y="3651409"/>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8%​</a:t>
              </a:r>
            </a:p>
          </p:txBody>
        </p:sp>
        <p:sp>
          <p:nvSpPr>
            <p:cNvPr id="40" name="TextBox 40"/>
            <p:cNvSpPr txBox="1"/>
            <p:nvPr/>
          </p:nvSpPr>
          <p:spPr>
            <a:xfrm>
              <a:off x="5096698" y="4120753"/>
              <a:ext cx="493653" cy="111919"/>
            </a:xfrm>
            <a:prstGeom prst="rect">
              <a:avLst/>
            </a:prstGeom>
            <a:noFill/>
            <a:ln>
              <a:noFill/>
            </a:ln>
          </p:spPr>
          <p:txBody>
            <a:bodyPr wrap="none" lIns="0" tIns="0" rIns="0" bIns="0" anchor="t" anchorCtr="0">
              <a:spAutoFit/>
            </a:bodyPr>
            <a:lstStyle/>
            <a:p>
              <a:pPr algn="ctr"/>
              <a:r>
                <a:rPr lang="en-US" sz="560" dirty="0">
                  <a:solidFill>
                    <a:srgbClr val="666666"/>
                  </a:solidFill>
                  <a:latin typeface="+mn-lt"/>
                  <a:ea typeface="+mn-ea"/>
                  <a:cs typeface="+mn-cs"/>
                </a:rPr>
                <a:t>SharePoint​​</a:t>
              </a:r>
            </a:p>
          </p:txBody>
        </p:sp>
        <p:sp>
          <p:nvSpPr>
            <p:cNvPr id="41" name="Rectangle 41"/>
            <p:cNvSpPr/>
            <p:nvPr/>
          </p:nvSpPr>
          <p:spPr>
            <a:xfrm>
              <a:off x="5657850" y="3867150"/>
              <a:ext cx="247650" cy="190500"/>
            </a:xfrm>
            <a:prstGeom prst="rect">
              <a:avLst/>
            </a:prstGeom>
            <a:solidFill>
              <a:srgbClr val="AA1B00"/>
            </a:solidFill>
            <a:ln>
              <a:noFill/>
            </a:ln>
          </p:spPr>
        </p:sp>
        <p:sp>
          <p:nvSpPr>
            <p:cNvPr id="42" name="TextBox 42"/>
            <p:cNvSpPr txBox="1"/>
            <p:nvPr/>
          </p:nvSpPr>
          <p:spPr>
            <a:xfrm>
              <a:off x="5692237" y="3765709"/>
              <a:ext cx="178877" cy="133350"/>
            </a:xfrm>
            <a:prstGeom prst="rect">
              <a:avLst/>
            </a:prstGeom>
            <a:noFill/>
            <a:ln>
              <a:noFill/>
            </a:ln>
          </p:spPr>
          <p:txBody>
            <a:bodyPr wrap="none" lIns="0" tIns="0" rIns="0" bIns="0" anchor="t" anchorCtr="0">
              <a:spAutoFit/>
            </a:bodyPr>
            <a:lstStyle/>
            <a:p>
              <a:pPr algn="ctr"/>
              <a:r>
                <a:rPr lang="zh-CN" sz="680" dirty="0">
                  <a:solidFill>
                    <a:srgbClr val="1A1A1A"/>
                  </a:solidFill>
                  <a:latin typeface="+mn-lt"/>
                  <a:ea typeface="+mn-ea"/>
                  <a:cs typeface="+mn-cs"/>
                </a:rPr>
                <a:t>5%​</a:t>
              </a:r>
            </a:p>
          </p:txBody>
        </p:sp>
        <p:sp>
          <p:nvSpPr>
            <p:cNvPr id="43" name="TextBox 43"/>
            <p:cNvSpPr txBox="1"/>
            <p:nvPr/>
          </p:nvSpPr>
          <p:spPr>
            <a:xfrm>
              <a:off x="5579554" y="4120753"/>
              <a:ext cx="404241"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666666"/>
                  </a:solidFill>
                  <a:latin typeface="+mn-lt"/>
                  <a:ea typeface="+mn-ea"/>
                  <a:cs typeface="+mn-cs"/>
                </a:rPr>
                <a:t>未使用任何​</a:t>
              </a:r>
              <a:br/>
              <a:r>
                <a:rPr lang="zh-CN" sz="560" dirty="0">
                  <a:solidFill>
                    <a:srgbClr val="666666"/>
                  </a:solidFill>
                  <a:latin typeface="+mn-lt"/>
                  <a:ea typeface="+mn-ea"/>
                  <a:cs typeface="+mn-cs"/>
                </a:rPr>
                <a:t>工具​</a:t>
              </a:r>
            </a:p>
          </p:txBody>
        </p:sp>
        <p:sp>
          <p:nvSpPr>
            <p:cNvPr id="44" name="Line 44"/>
            <p:cNvSpPr/>
            <p:nvPr/>
          </p:nvSpPr>
          <p:spPr>
            <a:xfrm>
              <a:off x="3810000" y="4057650"/>
              <a:ext cx="2190750" cy="9525"/>
            </a:xfrm>
            <a:custGeom>
              <a:avLst/>
              <a:gdLst/>
              <a:ahLst/>
              <a:cxnLst/>
              <a:rect l="l" t="t" r="r" b="b"/>
              <a:pathLst>
                <a:path w="2190750" h="9525">
                  <a:moveTo>
                    <a:pt x="0" y="0"/>
                  </a:moveTo>
                  <a:lnTo>
                    <a:pt x="2190750" y="0"/>
                  </a:lnTo>
                </a:path>
              </a:pathLst>
            </a:custGeom>
            <a:noFill/>
            <a:ln w="9525">
              <a:solidFill>
                <a:srgbClr val="666666"/>
              </a:solidFill>
            </a:ln>
          </p:spPr>
        </p:sp>
      </p:grpSp>
      <p:grpSp>
        <p:nvGrpSpPr>
          <p:cNvPr id="101" name="figure-37"/>
          <p:cNvGrpSpPr/>
          <p:nvPr/>
        </p:nvGrpSpPr>
        <p:grpSpPr>
          <a:xfrm>
            <a:off x="6300788" y="1587341"/>
            <a:ext cx="3267428" cy="3003947"/>
            <a:chOff x="6300788" y="1587341"/>
            <a:chExt cx="3267428" cy="3003947"/>
          </a:xfrm>
        </p:grpSpPr>
        <p:sp>
          <p:nvSpPr>
            <p:cNvPr id="46" name="TextBox 46"/>
            <p:cNvSpPr txBox="1"/>
            <p:nvPr/>
          </p:nvSpPr>
          <p:spPr>
            <a:xfrm>
              <a:off x="6300788" y="1587341"/>
              <a:ext cx="2681200"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图37. 按银行规模分解的模型风险管理工具使用情况​​</a:t>
              </a:r>
            </a:p>
          </p:txBody>
        </p:sp>
        <p:sp>
          <p:nvSpPr>
            <p:cNvPr id="47" name="TextBox 47"/>
            <p:cNvSpPr txBox="1"/>
            <p:nvPr/>
          </p:nvSpPr>
          <p:spPr>
            <a:xfrm>
              <a:off x="6300788" y="1735455"/>
              <a:ext cx="3267428"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Breakdown of tooling used for model risk management practices by banks by size​​</a:t>
              </a:r>
            </a:p>
          </p:txBody>
        </p:sp>
        <p:sp>
          <p:nvSpPr>
            <p:cNvPr id="48" name="Line 48"/>
            <p:cNvSpPr/>
            <p:nvPr/>
          </p:nvSpPr>
          <p:spPr>
            <a:xfrm>
              <a:off x="6667500" y="40576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49" name="TextBox 49"/>
            <p:cNvSpPr txBox="1"/>
            <p:nvPr/>
          </p:nvSpPr>
          <p:spPr>
            <a:xfrm>
              <a:off x="6465684" y="4026218"/>
              <a:ext cx="158953"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0%​</a:t>
              </a:r>
            </a:p>
          </p:txBody>
        </p:sp>
        <p:sp>
          <p:nvSpPr>
            <p:cNvPr id="50" name="Line 50"/>
            <p:cNvSpPr/>
            <p:nvPr/>
          </p:nvSpPr>
          <p:spPr>
            <a:xfrm>
              <a:off x="6667500" y="36766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51" name="TextBox 51"/>
            <p:cNvSpPr txBox="1"/>
            <p:nvPr/>
          </p:nvSpPr>
          <p:spPr>
            <a:xfrm>
              <a:off x="6421260" y="3645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10%​</a:t>
              </a:r>
            </a:p>
          </p:txBody>
        </p:sp>
        <p:sp>
          <p:nvSpPr>
            <p:cNvPr id="52" name="Line 52"/>
            <p:cNvSpPr/>
            <p:nvPr/>
          </p:nvSpPr>
          <p:spPr>
            <a:xfrm>
              <a:off x="6667500" y="32956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53" name="TextBox 53"/>
            <p:cNvSpPr txBox="1"/>
            <p:nvPr/>
          </p:nvSpPr>
          <p:spPr>
            <a:xfrm>
              <a:off x="6421260" y="3264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20%​</a:t>
              </a:r>
            </a:p>
          </p:txBody>
        </p:sp>
        <p:sp>
          <p:nvSpPr>
            <p:cNvPr id="54" name="Line 54"/>
            <p:cNvSpPr/>
            <p:nvPr/>
          </p:nvSpPr>
          <p:spPr>
            <a:xfrm>
              <a:off x="6667500" y="29146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55" name="TextBox 55"/>
            <p:cNvSpPr txBox="1"/>
            <p:nvPr/>
          </p:nvSpPr>
          <p:spPr>
            <a:xfrm>
              <a:off x="6421260" y="2883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30%​</a:t>
              </a:r>
            </a:p>
          </p:txBody>
        </p:sp>
        <p:sp>
          <p:nvSpPr>
            <p:cNvPr id="56" name="Line 56"/>
            <p:cNvSpPr/>
            <p:nvPr/>
          </p:nvSpPr>
          <p:spPr>
            <a:xfrm>
              <a:off x="6667500" y="25336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57" name="TextBox 57"/>
            <p:cNvSpPr txBox="1"/>
            <p:nvPr/>
          </p:nvSpPr>
          <p:spPr>
            <a:xfrm>
              <a:off x="6421260" y="2502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40%​</a:t>
              </a:r>
            </a:p>
          </p:txBody>
        </p:sp>
        <p:sp>
          <p:nvSpPr>
            <p:cNvPr id="58" name="Line 58"/>
            <p:cNvSpPr/>
            <p:nvPr/>
          </p:nvSpPr>
          <p:spPr>
            <a:xfrm>
              <a:off x="6667500" y="2152650"/>
              <a:ext cx="2857500" cy="9525"/>
            </a:xfrm>
            <a:custGeom>
              <a:avLst/>
              <a:gdLst/>
              <a:ahLst/>
              <a:cxnLst/>
              <a:rect l="l" t="t" r="r" b="b"/>
              <a:pathLst>
                <a:path w="2857500" h="9525">
                  <a:moveTo>
                    <a:pt x="0" y="0"/>
                  </a:moveTo>
                  <a:lnTo>
                    <a:pt x="2857500" y="0"/>
                  </a:lnTo>
                </a:path>
              </a:pathLst>
            </a:custGeom>
            <a:noFill/>
            <a:ln w="7620">
              <a:solidFill>
                <a:srgbClr val="E6E6E6"/>
              </a:solidFill>
            </a:ln>
          </p:spPr>
        </p:sp>
        <p:sp>
          <p:nvSpPr>
            <p:cNvPr id="59" name="TextBox 59"/>
            <p:cNvSpPr txBox="1"/>
            <p:nvPr/>
          </p:nvSpPr>
          <p:spPr>
            <a:xfrm>
              <a:off x="6421260" y="21212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50%​</a:t>
              </a:r>
            </a:p>
          </p:txBody>
        </p:sp>
        <p:sp>
          <p:nvSpPr>
            <p:cNvPr id="60" name="Rectangle 60"/>
            <p:cNvSpPr/>
            <p:nvPr/>
          </p:nvSpPr>
          <p:spPr>
            <a:xfrm>
              <a:off x="6724650" y="2609850"/>
              <a:ext cx="133350" cy="1447800"/>
            </a:xfrm>
            <a:prstGeom prst="rect">
              <a:avLst/>
            </a:prstGeom>
            <a:solidFill>
              <a:srgbClr val="D8482E"/>
            </a:solidFill>
            <a:ln>
              <a:noFill/>
            </a:ln>
          </p:spPr>
        </p:sp>
        <p:sp>
          <p:nvSpPr>
            <p:cNvPr id="61" name="TextBox 61"/>
            <p:cNvSpPr txBox="1"/>
            <p:nvPr/>
          </p:nvSpPr>
          <p:spPr>
            <a:xfrm>
              <a:off x="6696098" y="25205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38%​</a:t>
              </a:r>
            </a:p>
          </p:txBody>
        </p:sp>
        <p:sp>
          <p:nvSpPr>
            <p:cNvPr id="62" name="Rectangle 62"/>
            <p:cNvSpPr/>
            <p:nvPr/>
          </p:nvSpPr>
          <p:spPr>
            <a:xfrm>
              <a:off x="6886575" y="2228850"/>
              <a:ext cx="133350" cy="1828800"/>
            </a:xfrm>
            <a:prstGeom prst="rect">
              <a:avLst/>
            </a:prstGeom>
            <a:solidFill>
              <a:srgbClr val="C35642"/>
            </a:solidFill>
            <a:ln>
              <a:noFill/>
            </a:ln>
          </p:spPr>
        </p:sp>
        <p:sp>
          <p:nvSpPr>
            <p:cNvPr id="63" name="TextBox 63"/>
            <p:cNvSpPr txBox="1"/>
            <p:nvPr/>
          </p:nvSpPr>
          <p:spPr>
            <a:xfrm>
              <a:off x="6858023" y="21395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48%​</a:t>
              </a:r>
            </a:p>
          </p:txBody>
        </p:sp>
        <p:sp>
          <p:nvSpPr>
            <p:cNvPr id="64" name="Rectangle 64"/>
            <p:cNvSpPr/>
            <p:nvPr/>
          </p:nvSpPr>
          <p:spPr>
            <a:xfrm>
              <a:off x="7048500" y="2571750"/>
              <a:ext cx="133350" cy="1485900"/>
            </a:xfrm>
            <a:prstGeom prst="rect">
              <a:avLst/>
            </a:prstGeom>
            <a:solidFill>
              <a:srgbClr val="AA1B00"/>
            </a:solidFill>
            <a:ln>
              <a:noFill/>
            </a:ln>
          </p:spPr>
        </p:sp>
        <p:sp>
          <p:nvSpPr>
            <p:cNvPr id="65" name="TextBox 65"/>
            <p:cNvSpPr txBox="1"/>
            <p:nvPr/>
          </p:nvSpPr>
          <p:spPr>
            <a:xfrm>
              <a:off x="7019948" y="24824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39%​</a:t>
              </a:r>
            </a:p>
          </p:txBody>
        </p:sp>
        <p:sp>
          <p:nvSpPr>
            <p:cNvPr id="66" name="TextBox 66"/>
            <p:cNvSpPr txBox="1"/>
            <p:nvPr/>
          </p:nvSpPr>
          <p:spPr>
            <a:xfrm>
              <a:off x="6735128" y="4120753"/>
              <a:ext cx="436245" cy="216694"/>
            </a:xfrm>
            <a:prstGeom prst="rect">
              <a:avLst/>
            </a:prstGeom>
            <a:noFill/>
            <a:ln>
              <a:noFill/>
            </a:ln>
          </p:spPr>
          <p:txBody>
            <a:bodyPr wrap="none" lIns="0" tIns="0" rIns="0" bIns="0" anchor="t" anchorCtr="0">
              <a:spAutoFit/>
            </a:bodyPr>
            <a:lstStyle/>
            <a:p>
              <a:pPr algn="ctr">
                <a:lnSpc>
                  <a:spcPts val="825"/>
                </a:lnSpc>
              </a:pPr>
              <a:r>
                <a:rPr lang="en-US" sz="560" dirty="0">
                  <a:solidFill>
                    <a:srgbClr val="666666"/>
                  </a:solidFill>
                  <a:latin typeface="+mn-lt"/>
                  <a:ea typeface="+mn-ea"/>
                  <a:cs typeface="+mn-cs"/>
                </a:rPr>
                <a:t>Microsoft​​</a:t>
              </a:r>
              <a:br/>
              <a:r>
                <a:rPr lang="en-US" sz="560" dirty="0">
                  <a:solidFill>
                    <a:srgbClr val="666666"/>
                  </a:solidFill>
                  <a:latin typeface="+mn-lt"/>
                  <a:ea typeface="+mn-ea"/>
                  <a:cs typeface="+mn-cs"/>
                </a:rPr>
                <a:t>Excel​​</a:t>
              </a:r>
            </a:p>
          </p:txBody>
        </p:sp>
        <p:sp>
          <p:nvSpPr>
            <p:cNvPr id="67" name="Rectangle 67"/>
            <p:cNvSpPr/>
            <p:nvPr/>
          </p:nvSpPr>
          <p:spPr>
            <a:xfrm>
              <a:off x="7296150" y="2495550"/>
              <a:ext cx="133350" cy="1562100"/>
            </a:xfrm>
            <a:prstGeom prst="rect">
              <a:avLst/>
            </a:prstGeom>
            <a:solidFill>
              <a:srgbClr val="D8482E"/>
            </a:solidFill>
            <a:ln>
              <a:noFill/>
            </a:ln>
          </p:spPr>
        </p:sp>
        <p:sp>
          <p:nvSpPr>
            <p:cNvPr id="68" name="TextBox 68"/>
            <p:cNvSpPr txBox="1"/>
            <p:nvPr/>
          </p:nvSpPr>
          <p:spPr>
            <a:xfrm>
              <a:off x="7267598" y="24062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41%​</a:t>
              </a:r>
            </a:p>
          </p:txBody>
        </p:sp>
        <p:sp>
          <p:nvSpPr>
            <p:cNvPr id="69" name="Rectangle 69"/>
            <p:cNvSpPr/>
            <p:nvPr/>
          </p:nvSpPr>
          <p:spPr>
            <a:xfrm>
              <a:off x="7458075" y="3143250"/>
              <a:ext cx="133350" cy="914400"/>
            </a:xfrm>
            <a:prstGeom prst="rect">
              <a:avLst/>
            </a:prstGeom>
            <a:solidFill>
              <a:srgbClr val="C35642"/>
            </a:solidFill>
            <a:ln>
              <a:noFill/>
            </a:ln>
          </p:spPr>
        </p:sp>
        <p:sp>
          <p:nvSpPr>
            <p:cNvPr id="70" name="TextBox 70"/>
            <p:cNvSpPr txBox="1"/>
            <p:nvPr/>
          </p:nvSpPr>
          <p:spPr>
            <a:xfrm>
              <a:off x="7429523" y="30539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24%​</a:t>
              </a:r>
            </a:p>
          </p:txBody>
        </p:sp>
        <p:sp>
          <p:nvSpPr>
            <p:cNvPr id="71" name="Rectangle 71"/>
            <p:cNvSpPr/>
            <p:nvPr/>
          </p:nvSpPr>
          <p:spPr>
            <a:xfrm>
              <a:off x="7620000" y="3219450"/>
              <a:ext cx="133350" cy="838200"/>
            </a:xfrm>
            <a:prstGeom prst="rect">
              <a:avLst/>
            </a:prstGeom>
            <a:solidFill>
              <a:srgbClr val="AA1B00"/>
            </a:solidFill>
            <a:ln>
              <a:noFill/>
            </a:ln>
          </p:spPr>
        </p:sp>
        <p:sp>
          <p:nvSpPr>
            <p:cNvPr id="72" name="TextBox 72"/>
            <p:cNvSpPr txBox="1"/>
            <p:nvPr/>
          </p:nvSpPr>
          <p:spPr>
            <a:xfrm>
              <a:off x="7591448" y="31301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22%​</a:t>
              </a:r>
            </a:p>
          </p:txBody>
        </p:sp>
        <p:sp>
          <p:nvSpPr>
            <p:cNvPr id="73" name="TextBox 73"/>
            <p:cNvSpPr txBox="1"/>
            <p:nvPr/>
          </p:nvSpPr>
          <p:spPr>
            <a:xfrm>
              <a:off x="7214172" y="4120753"/>
              <a:ext cx="621157"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666666"/>
                  </a:solidFill>
                  <a:latin typeface="+mn-lt"/>
                  <a:ea typeface="+mn-ea"/>
                  <a:cs typeface="+mn-cs"/>
                </a:rPr>
                <a:t>供应商方案​</a:t>
              </a:r>
              <a:br/>
              <a:r>
                <a:rPr lang="en-US" sz="560" dirty="0">
                  <a:solidFill>
                    <a:srgbClr val="666666"/>
                  </a:solidFill>
                  <a:latin typeface="+mn-lt"/>
                  <a:ea typeface="+mn-ea"/>
                  <a:cs typeface="+mn-cs"/>
                </a:rPr>
                <a:t>Vendor solution​​</a:t>
              </a:r>
            </a:p>
          </p:txBody>
        </p:sp>
        <p:sp>
          <p:nvSpPr>
            <p:cNvPr id="74" name="Rectangle 74"/>
            <p:cNvSpPr/>
            <p:nvPr/>
          </p:nvSpPr>
          <p:spPr>
            <a:xfrm>
              <a:off x="7867650" y="3409950"/>
              <a:ext cx="133350" cy="647700"/>
            </a:xfrm>
            <a:prstGeom prst="rect">
              <a:avLst/>
            </a:prstGeom>
            <a:solidFill>
              <a:srgbClr val="D8482E"/>
            </a:solidFill>
            <a:ln>
              <a:noFill/>
            </a:ln>
          </p:spPr>
        </p:sp>
        <p:sp>
          <p:nvSpPr>
            <p:cNvPr id="75" name="TextBox 75"/>
            <p:cNvSpPr txBox="1"/>
            <p:nvPr/>
          </p:nvSpPr>
          <p:spPr>
            <a:xfrm>
              <a:off x="7839098" y="33206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17%​</a:t>
              </a:r>
            </a:p>
          </p:txBody>
        </p:sp>
        <p:sp>
          <p:nvSpPr>
            <p:cNvPr id="76" name="Rectangle 76"/>
            <p:cNvSpPr/>
            <p:nvPr/>
          </p:nvSpPr>
          <p:spPr>
            <a:xfrm>
              <a:off x="8029575" y="3676650"/>
              <a:ext cx="133350" cy="381000"/>
            </a:xfrm>
            <a:prstGeom prst="rect">
              <a:avLst/>
            </a:prstGeom>
            <a:solidFill>
              <a:srgbClr val="C35642"/>
            </a:solidFill>
            <a:ln>
              <a:noFill/>
            </a:ln>
          </p:spPr>
        </p:sp>
        <p:sp>
          <p:nvSpPr>
            <p:cNvPr id="77" name="TextBox 77"/>
            <p:cNvSpPr txBox="1"/>
            <p:nvPr/>
          </p:nvSpPr>
          <p:spPr>
            <a:xfrm>
              <a:off x="8001023" y="35873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10%​</a:t>
              </a:r>
            </a:p>
          </p:txBody>
        </p:sp>
        <p:sp>
          <p:nvSpPr>
            <p:cNvPr id="78" name="Rectangle 78"/>
            <p:cNvSpPr/>
            <p:nvPr/>
          </p:nvSpPr>
          <p:spPr>
            <a:xfrm>
              <a:off x="8191500" y="3409950"/>
              <a:ext cx="133350" cy="647700"/>
            </a:xfrm>
            <a:prstGeom prst="rect">
              <a:avLst/>
            </a:prstGeom>
            <a:solidFill>
              <a:srgbClr val="AA1B00"/>
            </a:solidFill>
            <a:ln>
              <a:noFill/>
            </a:ln>
          </p:spPr>
        </p:sp>
        <p:sp>
          <p:nvSpPr>
            <p:cNvPr id="79" name="TextBox 79"/>
            <p:cNvSpPr txBox="1"/>
            <p:nvPr/>
          </p:nvSpPr>
          <p:spPr>
            <a:xfrm>
              <a:off x="8162948" y="33206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17%​</a:t>
              </a:r>
            </a:p>
          </p:txBody>
        </p:sp>
        <p:sp>
          <p:nvSpPr>
            <p:cNvPr id="80" name="TextBox 80"/>
            <p:cNvSpPr txBox="1"/>
            <p:nvPr/>
          </p:nvSpPr>
          <p:spPr>
            <a:xfrm>
              <a:off x="7726998" y="4120753"/>
              <a:ext cx="738505"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666666"/>
                  </a:solidFill>
                  <a:latin typeface="+mn-lt"/>
                  <a:ea typeface="+mn-ea"/>
                  <a:cs typeface="+mn-cs"/>
                </a:rPr>
                <a:t>其他自研方案​</a:t>
              </a:r>
              <a:br/>
              <a:r>
                <a:rPr lang="en-US" sz="560" dirty="0">
                  <a:solidFill>
                    <a:srgbClr val="666666"/>
                  </a:solidFill>
                  <a:latin typeface="+mn-lt"/>
                  <a:ea typeface="+mn-ea"/>
                  <a:cs typeface="+mn-cs"/>
                </a:rPr>
                <a:t>In-house developed​​</a:t>
              </a:r>
            </a:p>
          </p:txBody>
        </p:sp>
        <p:sp>
          <p:nvSpPr>
            <p:cNvPr id="81" name="Rectangle 81"/>
            <p:cNvSpPr/>
            <p:nvPr/>
          </p:nvSpPr>
          <p:spPr>
            <a:xfrm>
              <a:off x="8439150" y="3943350"/>
              <a:ext cx="133350" cy="114300"/>
            </a:xfrm>
            <a:prstGeom prst="rect">
              <a:avLst/>
            </a:prstGeom>
            <a:solidFill>
              <a:srgbClr val="D8482E"/>
            </a:solidFill>
            <a:ln>
              <a:noFill/>
            </a:ln>
          </p:spPr>
        </p:sp>
        <p:sp>
          <p:nvSpPr>
            <p:cNvPr id="82" name="TextBox 82"/>
            <p:cNvSpPr txBox="1"/>
            <p:nvPr/>
          </p:nvSpPr>
          <p:spPr>
            <a:xfrm>
              <a:off x="8431329" y="3854053"/>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3%​</a:t>
              </a:r>
            </a:p>
          </p:txBody>
        </p:sp>
        <p:sp>
          <p:nvSpPr>
            <p:cNvPr id="83" name="Rectangle 83"/>
            <p:cNvSpPr/>
            <p:nvPr/>
          </p:nvSpPr>
          <p:spPr>
            <a:xfrm>
              <a:off x="8601075" y="3676650"/>
              <a:ext cx="133350" cy="381000"/>
            </a:xfrm>
            <a:prstGeom prst="rect">
              <a:avLst/>
            </a:prstGeom>
            <a:solidFill>
              <a:srgbClr val="C35642"/>
            </a:solidFill>
            <a:ln>
              <a:noFill/>
            </a:ln>
          </p:spPr>
        </p:sp>
        <p:sp>
          <p:nvSpPr>
            <p:cNvPr id="84" name="TextBox 84"/>
            <p:cNvSpPr txBox="1"/>
            <p:nvPr/>
          </p:nvSpPr>
          <p:spPr>
            <a:xfrm>
              <a:off x="8572523" y="35873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10%​</a:t>
              </a:r>
            </a:p>
          </p:txBody>
        </p:sp>
        <p:sp>
          <p:nvSpPr>
            <p:cNvPr id="85" name="Rectangle 85"/>
            <p:cNvSpPr/>
            <p:nvPr/>
          </p:nvSpPr>
          <p:spPr>
            <a:xfrm>
              <a:off x="8763000" y="3638550"/>
              <a:ext cx="133350" cy="419100"/>
            </a:xfrm>
            <a:prstGeom prst="rect">
              <a:avLst/>
            </a:prstGeom>
            <a:solidFill>
              <a:srgbClr val="AA1B00"/>
            </a:solidFill>
            <a:ln>
              <a:noFill/>
            </a:ln>
          </p:spPr>
        </p:sp>
        <p:sp>
          <p:nvSpPr>
            <p:cNvPr id="86" name="TextBox 86"/>
            <p:cNvSpPr txBox="1"/>
            <p:nvPr/>
          </p:nvSpPr>
          <p:spPr>
            <a:xfrm>
              <a:off x="8734448" y="35492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11%​</a:t>
              </a:r>
            </a:p>
          </p:txBody>
        </p:sp>
        <p:sp>
          <p:nvSpPr>
            <p:cNvPr id="87" name="TextBox 87"/>
            <p:cNvSpPr txBox="1"/>
            <p:nvPr/>
          </p:nvSpPr>
          <p:spPr>
            <a:xfrm>
              <a:off x="8420923" y="4120753"/>
              <a:ext cx="493653" cy="111919"/>
            </a:xfrm>
            <a:prstGeom prst="rect">
              <a:avLst/>
            </a:prstGeom>
            <a:noFill/>
            <a:ln>
              <a:noFill/>
            </a:ln>
          </p:spPr>
          <p:txBody>
            <a:bodyPr wrap="none" lIns="0" tIns="0" rIns="0" bIns="0" anchor="t" anchorCtr="0">
              <a:spAutoFit/>
            </a:bodyPr>
            <a:lstStyle/>
            <a:p>
              <a:pPr algn="ctr"/>
              <a:r>
                <a:rPr lang="en-US" sz="560" dirty="0">
                  <a:solidFill>
                    <a:srgbClr val="666666"/>
                  </a:solidFill>
                  <a:latin typeface="+mn-lt"/>
                  <a:ea typeface="+mn-ea"/>
                  <a:cs typeface="+mn-cs"/>
                </a:rPr>
                <a:t>SharePoint​​</a:t>
              </a:r>
            </a:p>
          </p:txBody>
        </p:sp>
        <p:sp>
          <p:nvSpPr>
            <p:cNvPr id="88" name="TextBox 88"/>
            <p:cNvSpPr txBox="1"/>
            <p:nvPr/>
          </p:nvSpPr>
          <p:spPr>
            <a:xfrm>
              <a:off x="9002829" y="3968353"/>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0%​</a:t>
              </a:r>
            </a:p>
          </p:txBody>
        </p:sp>
        <p:sp>
          <p:nvSpPr>
            <p:cNvPr id="89" name="Rectangle 89"/>
            <p:cNvSpPr/>
            <p:nvPr/>
          </p:nvSpPr>
          <p:spPr>
            <a:xfrm>
              <a:off x="9172575" y="3790950"/>
              <a:ext cx="133350" cy="266700"/>
            </a:xfrm>
            <a:prstGeom prst="rect">
              <a:avLst/>
            </a:prstGeom>
            <a:solidFill>
              <a:srgbClr val="C35642"/>
            </a:solidFill>
            <a:ln>
              <a:noFill/>
            </a:ln>
          </p:spPr>
        </p:sp>
        <p:sp>
          <p:nvSpPr>
            <p:cNvPr id="90" name="TextBox 90"/>
            <p:cNvSpPr txBox="1"/>
            <p:nvPr/>
          </p:nvSpPr>
          <p:spPr>
            <a:xfrm>
              <a:off x="9164754" y="3701653"/>
              <a:ext cx="148991"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7%​</a:t>
              </a:r>
            </a:p>
          </p:txBody>
        </p:sp>
        <p:sp>
          <p:nvSpPr>
            <p:cNvPr id="91" name="Rectangle 91"/>
            <p:cNvSpPr/>
            <p:nvPr/>
          </p:nvSpPr>
          <p:spPr>
            <a:xfrm>
              <a:off x="9334500" y="3638550"/>
              <a:ext cx="133350" cy="419100"/>
            </a:xfrm>
            <a:prstGeom prst="rect">
              <a:avLst/>
            </a:prstGeom>
            <a:solidFill>
              <a:srgbClr val="AA1B00"/>
            </a:solidFill>
            <a:ln>
              <a:noFill/>
            </a:ln>
          </p:spPr>
        </p:sp>
        <p:sp>
          <p:nvSpPr>
            <p:cNvPr id="92" name="TextBox 92"/>
            <p:cNvSpPr txBox="1"/>
            <p:nvPr/>
          </p:nvSpPr>
          <p:spPr>
            <a:xfrm>
              <a:off x="9305948" y="3549253"/>
              <a:ext cx="190454" cy="111919"/>
            </a:xfrm>
            <a:prstGeom prst="rect">
              <a:avLst/>
            </a:prstGeom>
            <a:noFill/>
            <a:ln>
              <a:noFill/>
            </a:ln>
          </p:spPr>
          <p:txBody>
            <a:bodyPr wrap="none" lIns="0" tIns="0" rIns="0" bIns="0" anchor="t" anchorCtr="0">
              <a:spAutoFit/>
            </a:bodyPr>
            <a:lstStyle/>
            <a:p>
              <a:pPr algn="ctr"/>
              <a:r>
                <a:rPr lang="zh-CN" sz="560" dirty="0">
                  <a:solidFill>
                    <a:srgbClr val="1A1A1A"/>
                  </a:solidFill>
                  <a:latin typeface="+mn-lt"/>
                  <a:ea typeface="+mn-ea"/>
                  <a:cs typeface="+mn-cs"/>
                </a:rPr>
                <a:t>11%​</a:t>
              </a:r>
            </a:p>
          </p:txBody>
        </p:sp>
        <p:sp>
          <p:nvSpPr>
            <p:cNvPr id="93" name="TextBox 93"/>
            <p:cNvSpPr txBox="1"/>
            <p:nvPr/>
          </p:nvSpPr>
          <p:spPr>
            <a:xfrm>
              <a:off x="9037130" y="4120753"/>
              <a:ext cx="404241" cy="216694"/>
            </a:xfrm>
            <a:prstGeom prst="rect">
              <a:avLst/>
            </a:prstGeom>
            <a:noFill/>
            <a:ln>
              <a:noFill/>
            </a:ln>
          </p:spPr>
          <p:txBody>
            <a:bodyPr wrap="none" lIns="0" tIns="0" rIns="0" bIns="0" anchor="t" anchorCtr="0">
              <a:spAutoFit/>
            </a:bodyPr>
            <a:lstStyle/>
            <a:p>
              <a:pPr algn="ctr">
                <a:lnSpc>
                  <a:spcPts val="825"/>
                </a:lnSpc>
              </a:pPr>
              <a:r>
                <a:rPr lang="zh-CN" sz="560" dirty="0">
                  <a:solidFill>
                    <a:srgbClr val="666666"/>
                  </a:solidFill>
                  <a:latin typeface="+mn-lt"/>
                  <a:ea typeface="+mn-ea"/>
                  <a:cs typeface="+mn-cs"/>
                </a:rPr>
                <a:t>未使用任何​</a:t>
              </a:r>
              <a:br/>
              <a:r>
                <a:rPr lang="zh-CN" sz="560" dirty="0">
                  <a:solidFill>
                    <a:srgbClr val="666666"/>
                  </a:solidFill>
                  <a:latin typeface="+mn-lt"/>
                  <a:ea typeface="+mn-ea"/>
                  <a:cs typeface="+mn-cs"/>
                </a:rPr>
                <a:t>工具​</a:t>
              </a:r>
            </a:p>
          </p:txBody>
        </p:sp>
        <p:sp>
          <p:nvSpPr>
            <p:cNvPr id="94" name="Line 94"/>
            <p:cNvSpPr/>
            <p:nvPr/>
          </p:nvSpPr>
          <p:spPr>
            <a:xfrm>
              <a:off x="6667500" y="4057650"/>
              <a:ext cx="2857500" cy="9525"/>
            </a:xfrm>
            <a:custGeom>
              <a:avLst/>
              <a:gdLst/>
              <a:ahLst/>
              <a:cxnLst/>
              <a:rect l="l" t="t" r="r" b="b"/>
              <a:pathLst>
                <a:path w="2857500" h="9525">
                  <a:moveTo>
                    <a:pt x="0" y="0"/>
                  </a:moveTo>
                  <a:lnTo>
                    <a:pt x="2857500" y="0"/>
                  </a:lnTo>
                </a:path>
              </a:pathLst>
            </a:custGeom>
            <a:noFill/>
            <a:ln w="9525">
              <a:solidFill>
                <a:srgbClr val="666666"/>
              </a:solidFill>
            </a:ln>
          </p:spPr>
        </p:sp>
        <p:sp>
          <p:nvSpPr>
            <p:cNvPr id="95" name="Rectangle 95"/>
            <p:cNvSpPr/>
            <p:nvPr/>
          </p:nvSpPr>
          <p:spPr>
            <a:xfrm>
              <a:off x="6305550" y="4448175"/>
              <a:ext cx="95250" cy="95250"/>
            </a:xfrm>
            <a:prstGeom prst="rect">
              <a:avLst/>
            </a:prstGeom>
            <a:solidFill>
              <a:srgbClr val="D8482E"/>
            </a:solidFill>
            <a:ln>
              <a:noFill/>
            </a:ln>
          </p:spPr>
        </p:sp>
        <p:sp>
          <p:nvSpPr>
            <p:cNvPr id="96" name="TextBox 96"/>
            <p:cNvSpPr txBox="1"/>
            <p:nvPr/>
          </p:nvSpPr>
          <p:spPr>
            <a:xfrm>
              <a:off x="6443662" y="4465082"/>
              <a:ext cx="689611"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大型银行Large​​</a:t>
              </a:r>
            </a:p>
          </p:txBody>
        </p:sp>
        <p:sp>
          <p:nvSpPr>
            <p:cNvPr id="97" name="Rectangle 97"/>
            <p:cNvSpPr/>
            <p:nvPr/>
          </p:nvSpPr>
          <p:spPr>
            <a:xfrm>
              <a:off x="7217331" y="4448175"/>
              <a:ext cx="95250" cy="95250"/>
            </a:xfrm>
            <a:prstGeom prst="rect">
              <a:avLst/>
            </a:prstGeom>
            <a:solidFill>
              <a:srgbClr val="C35642"/>
            </a:solidFill>
            <a:ln>
              <a:noFill/>
            </a:ln>
          </p:spPr>
        </p:sp>
        <p:sp>
          <p:nvSpPr>
            <p:cNvPr id="98" name="TextBox 98"/>
            <p:cNvSpPr txBox="1"/>
            <p:nvPr/>
          </p:nvSpPr>
          <p:spPr>
            <a:xfrm>
              <a:off x="7355443" y="4465082"/>
              <a:ext cx="749864"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中型银行Medium​​</a:t>
              </a:r>
            </a:p>
          </p:txBody>
        </p:sp>
        <p:sp>
          <p:nvSpPr>
            <p:cNvPr id="99" name="Rectangle 99"/>
            <p:cNvSpPr/>
            <p:nvPr/>
          </p:nvSpPr>
          <p:spPr>
            <a:xfrm>
              <a:off x="8189024" y="4448175"/>
              <a:ext cx="95250" cy="95250"/>
            </a:xfrm>
            <a:prstGeom prst="rect">
              <a:avLst/>
            </a:prstGeom>
            <a:solidFill>
              <a:srgbClr val="AA1B00"/>
            </a:solidFill>
            <a:ln>
              <a:noFill/>
            </a:ln>
          </p:spPr>
        </p:sp>
        <p:sp>
          <p:nvSpPr>
            <p:cNvPr id="100" name="TextBox 100"/>
            <p:cNvSpPr txBox="1"/>
            <p:nvPr/>
          </p:nvSpPr>
          <p:spPr>
            <a:xfrm>
              <a:off x="8327136" y="4465082"/>
              <a:ext cx="663471"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小型银行Small​​</a:t>
              </a:r>
            </a:p>
          </p:txBody>
        </p:sp>
      </p:grpSp>
      <p:grpSp>
        <p:nvGrpSpPr>
          <p:cNvPr id="135" name="nav"/>
          <p:cNvGrpSpPr/>
          <p:nvPr/>
        </p:nvGrpSpPr>
        <p:grpSpPr>
          <a:xfrm>
            <a:off x="9834562" y="0"/>
            <a:ext cx="2357438" cy="6858000"/>
            <a:chOff x="9834562" y="0"/>
            <a:chExt cx="2357438" cy="6858000"/>
          </a:xfrm>
        </p:grpSpPr>
        <p:sp>
          <p:nvSpPr>
            <p:cNvPr id="102" name="Line 102"/>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03" name="Rectangle 103"/>
            <p:cNvSpPr/>
            <p:nvPr/>
          </p:nvSpPr>
          <p:spPr>
            <a:xfrm>
              <a:off x="9839325" y="476250"/>
              <a:ext cx="2352675" cy="514350"/>
            </a:xfrm>
            <a:prstGeom prst="rect">
              <a:avLst/>
            </a:prstGeom>
            <a:solidFill>
              <a:srgbClr val="F3F3F3"/>
            </a:solidFill>
            <a:ln>
              <a:noFill/>
            </a:ln>
          </p:spPr>
        </p:sp>
        <p:sp>
          <p:nvSpPr>
            <p:cNvPr id="104" name="TextBox 104"/>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05" name="Rectangle 105"/>
            <p:cNvSpPr/>
            <p:nvPr/>
          </p:nvSpPr>
          <p:spPr>
            <a:xfrm>
              <a:off x="9839325" y="1000125"/>
              <a:ext cx="2352675" cy="514350"/>
            </a:xfrm>
            <a:prstGeom prst="rect">
              <a:avLst/>
            </a:prstGeom>
            <a:solidFill>
              <a:srgbClr val="F3F3F3"/>
            </a:solidFill>
            <a:ln>
              <a:noFill/>
            </a:ln>
          </p:spPr>
        </p:sp>
        <p:sp>
          <p:nvSpPr>
            <p:cNvPr id="106" name="TextBox 106"/>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07" name="Rectangle 107"/>
            <p:cNvSpPr/>
            <p:nvPr/>
          </p:nvSpPr>
          <p:spPr>
            <a:xfrm>
              <a:off x="9839325" y="1524000"/>
              <a:ext cx="2352675" cy="514350"/>
            </a:xfrm>
            <a:prstGeom prst="rect">
              <a:avLst/>
            </a:prstGeom>
            <a:solidFill>
              <a:srgbClr val="F3F3F3"/>
            </a:solidFill>
            <a:ln>
              <a:noFill/>
            </a:ln>
          </p:spPr>
        </p:sp>
        <p:sp>
          <p:nvSpPr>
            <p:cNvPr id="108" name="TextBox 108"/>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09" name="Rectangle 109"/>
            <p:cNvSpPr/>
            <p:nvPr/>
          </p:nvSpPr>
          <p:spPr>
            <a:xfrm>
              <a:off x="9839325" y="2047875"/>
              <a:ext cx="2352675" cy="514350"/>
            </a:xfrm>
            <a:prstGeom prst="rect">
              <a:avLst/>
            </a:prstGeom>
            <a:solidFill>
              <a:srgbClr val="F3F3F3"/>
            </a:solidFill>
            <a:ln>
              <a:noFill/>
            </a:ln>
          </p:spPr>
        </p:sp>
        <p:sp>
          <p:nvSpPr>
            <p:cNvPr id="110" name="TextBox 110"/>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11" name="Rectangle 111"/>
            <p:cNvSpPr/>
            <p:nvPr/>
          </p:nvSpPr>
          <p:spPr>
            <a:xfrm>
              <a:off x="9839325" y="2571750"/>
              <a:ext cx="2352675" cy="514350"/>
            </a:xfrm>
            <a:prstGeom prst="rect">
              <a:avLst/>
            </a:prstGeom>
            <a:solidFill>
              <a:srgbClr val="F3F3F3"/>
            </a:solidFill>
            <a:ln>
              <a:noFill/>
            </a:ln>
          </p:spPr>
        </p:sp>
        <p:sp>
          <p:nvSpPr>
            <p:cNvPr id="112" name="TextBox 112"/>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13" name="Rectangle 113"/>
            <p:cNvSpPr/>
            <p:nvPr/>
          </p:nvSpPr>
          <p:spPr>
            <a:xfrm>
              <a:off x="9839325" y="3095625"/>
              <a:ext cx="2352675" cy="514350"/>
            </a:xfrm>
            <a:prstGeom prst="rect">
              <a:avLst/>
            </a:prstGeom>
            <a:solidFill>
              <a:srgbClr val="F3F3F3"/>
            </a:solidFill>
            <a:ln>
              <a:noFill/>
            </a:ln>
          </p:spPr>
        </p:sp>
        <p:sp>
          <p:nvSpPr>
            <p:cNvPr id="114" name="TextBox 114"/>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15" name="Rectangle 115"/>
            <p:cNvSpPr/>
            <p:nvPr/>
          </p:nvSpPr>
          <p:spPr>
            <a:xfrm>
              <a:off x="9839325" y="3619500"/>
              <a:ext cx="2352675" cy="514350"/>
            </a:xfrm>
            <a:prstGeom prst="rect">
              <a:avLst/>
            </a:prstGeom>
            <a:solidFill>
              <a:srgbClr val="AA1B00"/>
            </a:solidFill>
            <a:ln>
              <a:noFill/>
            </a:ln>
          </p:spPr>
        </p:sp>
        <p:sp>
          <p:nvSpPr>
            <p:cNvPr id="116" name="TextBox 116"/>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技术与工具：改进空间</a:t>
              </a:r>
            </a:p>
          </p:txBody>
        </p:sp>
        <p:sp>
          <p:nvSpPr>
            <p:cNvPr id="117" name="Rectangle 117"/>
            <p:cNvSpPr/>
            <p:nvPr/>
          </p:nvSpPr>
          <p:spPr>
            <a:xfrm>
              <a:off x="9839325" y="4143375"/>
              <a:ext cx="2352675" cy="514350"/>
            </a:xfrm>
            <a:prstGeom prst="rect">
              <a:avLst/>
            </a:prstGeom>
            <a:solidFill>
              <a:srgbClr val="F3F3F3"/>
            </a:solidFill>
            <a:ln>
              <a:noFill/>
            </a:ln>
          </p:spPr>
        </p:sp>
        <p:sp>
          <p:nvSpPr>
            <p:cNvPr id="118" name="TextBox 118"/>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19" name="Rectangle 119"/>
            <p:cNvSpPr/>
            <p:nvPr/>
          </p:nvSpPr>
          <p:spPr>
            <a:xfrm>
              <a:off x="9839325" y="4667250"/>
              <a:ext cx="2352675" cy="514350"/>
            </a:xfrm>
            <a:prstGeom prst="rect">
              <a:avLst/>
            </a:prstGeom>
            <a:solidFill>
              <a:srgbClr val="F3F3F3"/>
            </a:solidFill>
            <a:ln>
              <a:noFill/>
            </a:ln>
          </p:spPr>
        </p:sp>
        <p:sp>
          <p:nvSpPr>
            <p:cNvPr id="120" name="TextBox 120"/>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21" name="Rectangle 121"/>
            <p:cNvSpPr/>
            <p:nvPr/>
          </p:nvSpPr>
          <p:spPr>
            <a:xfrm>
              <a:off x="9839325" y="5191125"/>
              <a:ext cx="2352675" cy="514350"/>
            </a:xfrm>
            <a:prstGeom prst="rect">
              <a:avLst/>
            </a:prstGeom>
            <a:solidFill>
              <a:srgbClr val="F3F3F3"/>
            </a:solidFill>
            <a:ln>
              <a:noFill/>
            </a:ln>
          </p:spPr>
        </p:sp>
        <p:sp>
          <p:nvSpPr>
            <p:cNvPr id="122" name="TextBox 122"/>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23" name="Rectangle 123"/>
            <p:cNvSpPr/>
            <p:nvPr/>
          </p:nvSpPr>
          <p:spPr>
            <a:xfrm>
              <a:off x="9839325" y="5715000"/>
              <a:ext cx="2352675" cy="514350"/>
            </a:xfrm>
            <a:prstGeom prst="rect">
              <a:avLst/>
            </a:prstGeom>
            <a:solidFill>
              <a:srgbClr val="F3F3F3"/>
            </a:solidFill>
            <a:ln>
              <a:noFill/>
            </a:ln>
          </p:spPr>
        </p:sp>
        <p:sp>
          <p:nvSpPr>
            <p:cNvPr id="124" name="TextBox 124"/>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25" name="Ellipse 125"/>
            <p:cNvSpPr/>
            <p:nvPr/>
          </p:nvSpPr>
          <p:spPr>
            <a:xfrm>
              <a:off x="10020300" y="6372225"/>
              <a:ext cx="266700" cy="266700"/>
            </a:xfrm>
            <a:prstGeom prst="ellipse">
              <a:avLst/>
            </a:prstGeom>
            <a:solidFill>
              <a:srgbClr val="D7D8D6"/>
            </a:solidFill>
            <a:ln>
              <a:noFill/>
            </a:ln>
          </p:spPr>
        </p:sp>
        <p:sp>
          <p:nvSpPr>
            <p:cNvPr id="126" name="Freeform 126"/>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27" name="Ellipse 127"/>
            <p:cNvSpPr/>
            <p:nvPr/>
          </p:nvSpPr>
          <p:spPr>
            <a:xfrm>
              <a:off x="10420350" y="6372225"/>
              <a:ext cx="266700" cy="266700"/>
            </a:xfrm>
            <a:prstGeom prst="ellipse">
              <a:avLst/>
            </a:prstGeom>
            <a:solidFill>
              <a:srgbClr val="D7D8D6"/>
            </a:solidFill>
            <a:ln>
              <a:noFill/>
            </a:ln>
          </p:spPr>
        </p:sp>
        <p:grpSp>
          <p:nvGrpSpPr>
            <p:cNvPr id="131" name="Group 131"/>
            <p:cNvGrpSpPr/>
            <p:nvPr/>
          </p:nvGrpSpPr>
          <p:grpSpPr>
            <a:xfrm>
              <a:off x="10489406" y="6441281"/>
              <a:ext cx="128588" cy="128588"/>
              <a:chOff x="10489406" y="6441281"/>
              <a:chExt cx="128588" cy="128588"/>
            </a:xfrm>
          </p:grpSpPr>
          <p:sp>
            <p:nvSpPr>
              <p:cNvPr id="128" name="Freeform 128"/>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29" name="Freeform 129"/>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30" name="Freeform 130"/>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32" name="Ellipse 132"/>
            <p:cNvSpPr/>
            <p:nvPr/>
          </p:nvSpPr>
          <p:spPr>
            <a:xfrm>
              <a:off x="10820400" y="6372225"/>
              <a:ext cx="266700" cy="266700"/>
            </a:xfrm>
            <a:prstGeom prst="ellipse">
              <a:avLst/>
            </a:prstGeom>
            <a:solidFill>
              <a:srgbClr val="D7D8D6"/>
            </a:solidFill>
            <a:ln>
              <a:noFill/>
            </a:ln>
          </p:spPr>
        </p:sp>
        <p:sp>
          <p:nvSpPr>
            <p:cNvPr id="133" name="Freeform 133"/>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34" name="TextBox 134"/>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31</a:t>
              </a:r>
            </a:p>
          </p:txBody>
        </p:sp>
      </p:gr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A1B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32</a:t>
              </a:r>
            </a:p>
          </p:txBody>
        </p:sp>
        <p:sp>
          <p:nvSpPr>
            <p:cNvPr id="4" name="TextBox 4"/>
            <p:cNvSpPr txBox="1"/>
            <p:nvPr/>
          </p:nvSpPr>
          <p:spPr>
            <a:xfrm>
              <a:off x="942594" y="151448"/>
              <a:ext cx="378577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技术与工具：</a:t>
              </a:r>
              <a:r>
                <a:rPr lang="zh-CN" sz="1950" b="1" dirty="0">
                  <a:solidFill>
                    <a:srgbClr val="AA1B00"/>
                  </a:solidFill>
                  <a:latin typeface="+mj-lt"/>
                  <a:ea typeface="+mj-ea"/>
                  <a:cs typeface="+mj-cs"/>
                </a:rPr>
                <a:t>使用了哪些功能</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AA1B00"/>
              </a:solidFill>
            </a:ln>
          </p:spPr>
        </p:sp>
      </p:grpSp>
      <p:grpSp>
        <p:nvGrpSpPr>
          <p:cNvPr id="12" name="col-1"/>
          <p:cNvGrpSpPr/>
          <p:nvPr/>
        </p:nvGrpSpPr>
        <p:grpSpPr>
          <a:xfrm>
            <a:off x="566547" y="847249"/>
            <a:ext cx="2358581" cy="2517933"/>
            <a:chOff x="566547" y="847249"/>
            <a:chExt cx="2358581" cy="2517933"/>
          </a:xfrm>
        </p:grpSpPr>
        <p:sp>
          <p:nvSpPr>
            <p:cNvPr id="7" name="TextBox 7"/>
            <p:cNvSpPr txBox="1"/>
            <p:nvPr/>
          </p:nvSpPr>
          <p:spPr>
            <a:xfrm>
              <a:off x="566547" y="847249"/>
              <a:ext cx="1141515"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使用了哪些功能？​</a:t>
              </a:r>
            </a:p>
          </p:txBody>
        </p:sp>
        <p:sp>
          <p:nvSpPr>
            <p:cNvPr id="8" name="TextBox 8"/>
            <p:cNvSpPr txBox="1"/>
            <p:nvPr/>
          </p:nvSpPr>
          <p:spPr>
            <a:xfrm>
              <a:off x="566738" y="1012984"/>
              <a:ext cx="1431509"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What functionalities are used?​</a:t>
              </a:r>
            </a:p>
          </p:txBody>
        </p:sp>
        <p:sp>
          <p:nvSpPr>
            <p:cNvPr id="9" name="TextBox 9"/>
            <p:cNvSpPr txBox="1"/>
            <p:nvPr/>
          </p:nvSpPr>
          <p:spPr>
            <a:xfrm>
              <a:off x="566738" y="1169670"/>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模型风险管理工具中使用最广泛的功能是模型​</a:t>
              </a:r>
              <a:br/>
              <a:r>
                <a:rPr lang="zh-CN" sz="900" dirty="0">
                  <a:solidFill>
                    <a:srgbClr val="333333"/>
                  </a:solidFill>
                  <a:latin typeface="+mn-lt"/>
                  <a:ea typeface="+mn-ea"/>
                  <a:cs typeface="+mn-cs"/>
                </a:rPr>
                <a:t>清单。调研显示，97%的银行在其工具中​​</a:t>
              </a:r>
              <a:br/>
              <a:r>
                <a:rPr lang="zh-CN" sz="900" dirty="0">
                  <a:solidFill>
                    <a:srgbClr val="333333"/>
                  </a:solidFill>
                  <a:latin typeface="+mn-lt"/>
                  <a:ea typeface="+mn-ea"/>
                  <a:cs typeface="+mn-cs"/>
                </a:rPr>
                <a:t>使用该功能。此外，65%和57%的银行表​​​​</a:t>
              </a:r>
              <a:br/>
              <a:r>
                <a:rPr lang="zh-CN" sz="900" dirty="0">
                  <a:solidFill>
                    <a:srgbClr val="333333"/>
                  </a:solidFill>
                  <a:latin typeface="+mn-lt"/>
                  <a:ea typeface="+mn-ea"/>
                  <a:cs typeface="+mn-cs"/>
                </a:rPr>
                <a:t>示使用存储发现（如验证发现、监管发现）以​</a:t>
              </a:r>
              <a:br/>
              <a:r>
                <a:rPr lang="zh-CN" sz="900" dirty="0">
                  <a:solidFill>
                    <a:srgbClr val="333333"/>
                  </a:solidFill>
                  <a:latin typeface="+mn-lt"/>
                  <a:ea typeface="+mn-ea"/>
                  <a:cs typeface="+mn-cs"/>
                </a:rPr>
                <a:t>及分析与风险报告功能。​</a:t>
              </a:r>
            </a:p>
          </p:txBody>
        </p:sp>
        <p:sp>
          <p:nvSpPr>
            <p:cNvPr id="10" name="TextBox 10"/>
            <p:cNvSpPr txBox="1"/>
            <p:nvPr/>
          </p:nvSpPr>
          <p:spPr>
            <a:xfrm>
              <a:off x="566738" y="2179320"/>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生命周期管理、工作流与资源规划功能能极大​</a:t>
              </a:r>
              <a:br/>
              <a:r>
                <a:rPr lang="zh-CN" sz="900" dirty="0">
                  <a:solidFill>
                    <a:srgbClr val="333333"/>
                  </a:solidFill>
                  <a:latin typeface="+mn-lt"/>
                  <a:ea typeface="+mn-ea"/>
                  <a:cs typeface="+mn-cs"/>
                </a:rPr>
                <a:t>提升模型风险管理的成熟度与效率，但仅少数​</a:t>
              </a:r>
              <a:br/>
              <a:r>
                <a:rPr lang="zh-CN" sz="900" dirty="0">
                  <a:solidFill>
                    <a:srgbClr val="333333"/>
                  </a:solidFill>
                  <a:latin typeface="+mn-lt"/>
                  <a:ea typeface="+mn-ea"/>
                  <a:cs typeface="+mn-cs"/>
                </a:rPr>
                <a:t>银行使用。​</a:t>
              </a:r>
            </a:p>
          </p:txBody>
        </p:sp>
        <p:sp>
          <p:nvSpPr>
            <p:cNvPr id="11" name="TextBox 11"/>
            <p:cNvSpPr txBox="1"/>
            <p:nvPr/>
          </p:nvSpPr>
          <p:spPr>
            <a:xfrm>
              <a:off x="566738" y="2827020"/>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使用Excel作为模型风险管理工具的银行，​​</a:t>
              </a:r>
              <a:br/>
              <a:r>
                <a:rPr lang="zh-CN" sz="900" dirty="0">
                  <a:solidFill>
                    <a:srgbClr val="333333"/>
                  </a:solidFill>
                  <a:latin typeface="+mn-lt"/>
                  <a:ea typeface="+mn-ea"/>
                  <a:cs typeface="+mn-cs"/>
                </a:rPr>
                <a:t>对某些功能的使用远少于使用其他类型工具（​</a:t>
              </a:r>
              <a:br/>
              <a:r>
                <a:rPr lang="zh-CN" sz="900" dirty="0">
                  <a:solidFill>
                    <a:srgbClr val="333333"/>
                  </a:solidFill>
                  <a:latin typeface="+mn-lt"/>
                  <a:ea typeface="+mn-ea"/>
                  <a:cs typeface="+mn-cs"/>
                </a:rPr>
                <a:t>如供应商方案或自研方案）的银行。​</a:t>
              </a:r>
            </a:p>
          </p:txBody>
        </p:sp>
      </p:grpSp>
      <p:grpSp>
        <p:nvGrpSpPr>
          <p:cNvPr id="46" name="figure-38"/>
          <p:cNvGrpSpPr/>
          <p:nvPr/>
        </p:nvGrpSpPr>
        <p:grpSpPr>
          <a:xfrm>
            <a:off x="3443288" y="863441"/>
            <a:ext cx="5797951" cy="2353151"/>
            <a:chOff x="3443288" y="863441"/>
            <a:chExt cx="5797951" cy="2353151"/>
          </a:xfrm>
        </p:grpSpPr>
        <p:sp>
          <p:nvSpPr>
            <p:cNvPr id="13" name="TextBox 13"/>
            <p:cNvSpPr txBox="1"/>
            <p:nvPr/>
          </p:nvSpPr>
          <p:spPr>
            <a:xfrm>
              <a:off x="3443288" y="863441"/>
              <a:ext cx="2018870"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图38. 模型风险管理工具所使用的功能​​</a:t>
              </a:r>
            </a:p>
          </p:txBody>
        </p:sp>
        <p:sp>
          <p:nvSpPr>
            <p:cNvPr id="14" name="TextBox 14"/>
            <p:cNvSpPr txBox="1"/>
            <p:nvPr/>
          </p:nvSpPr>
          <p:spPr>
            <a:xfrm>
              <a:off x="3443288" y="1007507"/>
              <a:ext cx="2416195"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Functionalities of the model risk management tool used​​</a:t>
              </a:r>
            </a:p>
          </p:txBody>
        </p:sp>
        <p:sp>
          <p:nvSpPr>
            <p:cNvPr id="15" name="TextBox 15"/>
            <p:cNvSpPr txBox="1"/>
            <p:nvPr/>
          </p:nvSpPr>
          <p:spPr>
            <a:xfrm>
              <a:off x="5092582" y="1240155"/>
              <a:ext cx="1046280"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模型清单Model inventory​​</a:t>
              </a:r>
            </a:p>
          </p:txBody>
        </p:sp>
        <p:sp>
          <p:nvSpPr>
            <p:cNvPr id="16" name="Rectangle 16"/>
            <p:cNvSpPr/>
            <p:nvPr/>
          </p:nvSpPr>
          <p:spPr>
            <a:xfrm>
              <a:off x="6210300" y="1200150"/>
              <a:ext cx="2771775" cy="123825"/>
            </a:xfrm>
            <a:prstGeom prst="rect">
              <a:avLst/>
            </a:prstGeom>
            <a:solidFill>
              <a:srgbClr val="AA1B00"/>
            </a:solidFill>
            <a:ln>
              <a:noFill/>
            </a:ln>
          </p:spPr>
        </p:sp>
        <p:sp>
          <p:nvSpPr>
            <p:cNvPr id="17" name="TextBox 17"/>
            <p:cNvSpPr txBox="1"/>
            <p:nvPr/>
          </p:nvSpPr>
          <p:spPr>
            <a:xfrm>
              <a:off x="9024938" y="123610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97%​</a:t>
              </a:r>
            </a:p>
          </p:txBody>
        </p:sp>
        <p:sp>
          <p:nvSpPr>
            <p:cNvPr id="18" name="TextBox 18"/>
            <p:cNvSpPr txBox="1"/>
            <p:nvPr/>
          </p:nvSpPr>
          <p:spPr>
            <a:xfrm>
              <a:off x="3984841" y="1468755"/>
              <a:ext cx="2154022"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存储发现（如模型验证发现、监管发现、模型问题或事件）​</a:t>
              </a:r>
            </a:p>
          </p:txBody>
        </p:sp>
        <p:sp>
          <p:nvSpPr>
            <p:cNvPr id="19" name="Rectangle 19"/>
            <p:cNvSpPr/>
            <p:nvPr/>
          </p:nvSpPr>
          <p:spPr>
            <a:xfrm>
              <a:off x="6210300" y="1428750"/>
              <a:ext cx="1857375" cy="123825"/>
            </a:xfrm>
            <a:prstGeom prst="rect">
              <a:avLst/>
            </a:prstGeom>
            <a:solidFill>
              <a:srgbClr val="AA1B00"/>
            </a:solidFill>
            <a:ln>
              <a:noFill/>
            </a:ln>
          </p:spPr>
        </p:sp>
        <p:sp>
          <p:nvSpPr>
            <p:cNvPr id="20" name="TextBox 20"/>
            <p:cNvSpPr txBox="1"/>
            <p:nvPr/>
          </p:nvSpPr>
          <p:spPr>
            <a:xfrm>
              <a:off x="8110538" y="146470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65%​</a:t>
              </a:r>
            </a:p>
          </p:txBody>
        </p:sp>
        <p:sp>
          <p:nvSpPr>
            <p:cNvPr id="21" name="TextBox 21"/>
            <p:cNvSpPr txBox="1"/>
            <p:nvPr/>
          </p:nvSpPr>
          <p:spPr>
            <a:xfrm>
              <a:off x="3965981" y="1697355"/>
              <a:ext cx="2172881"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分析与模型风险报告Analytics and model risk reporting​​</a:t>
              </a:r>
            </a:p>
          </p:txBody>
        </p:sp>
        <p:sp>
          <p:nvSpPr>
            <p:cNvPr id="22" name="Rectangle 22"/>
            <p:cNvSpPr/>
            <p:nvPr/>
          </p:nvSpPr>
          <p:spPr>
            <a:xfrm>
              <a:off x="6210300" y="1657350"/>
              <a:ext cx="1628775" cy="123825"/>
            </a:xfrm>
            <a:prstGeom prst="rect">
              <a:avLst/>
            </a:prstGeom>
            <a:solidFill>
              <a:srgbClr val="AA1B00"/>
            </a:solidFill>
            <a:ln>
              <a:noFill/>
            </a:ln>
          </p:spPr>
        </p:sp>
        <p:sp>
          <p:nvSpPr>
            <p:cNvPr id="23" name="TextBox 23"/>
            <p:cNvSpPr txBox="1"/>
            <p:nvPr/>
          </p:nvSpPr>
          <p:spPr>
            <a:xfrm>
              <a:off x="7881938" y="169330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57%​</a:t>
              </a:r>
            </a:p>
          </p:txBody>
        </p:sp>
        <p:sp>
          <p:nvSpPr>
            <p:cNvPr id="24" name="TextBox 24"/>
            <p:cNvSpPr txBox="1"/>
            <p:nvPr/>
          </p:nvSpPr>
          <p:spPr>
            <a:xfrm>
              <a:off x="4550245" y="1925955"/>
              <a:ext cx="1588618"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模型文档库（如模型文档、模型验证报告）​</a:t>
              </a:r>
            </a:p>
          </p:txBody>
        </p:sp>
        <p:sp>
          <p:nvSpPr>
            <p:cNvPr id="25" name="Rectangle 25"/>
            <p:cNvSpPr/>
            <p:nvPr/>
          </p:nvSpPr>
          <p:spPr>
            <a:xfrm>
              <a:off x="6210300" y="1885950"/>
              <a:ext cx="1285875" cy="123825"/>
            </a:xfrm>
            <a:prstGeom prst="rect">
              <a:avLst/>
            </a:prstGeom>
            <a:solidFill>
              <a:srgbClr val="AA1B00"/>
            </a:solidFill>
            <a:ln>
              <a:noFill/>
            </a:ln>
          </p:spPr>
        </p:sp>
        <p:sp>
          <p:nvSpPr>
            <p:cNvPr id="26" name="TextBox 26"/>
            <p:cNvSpPr txBox="1"/>
            <p:nvPr/>
          </p:nvSpPr>
          <p:spPr>
            <a:xfrm>
              <a:off x="7539038" y="192190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45%​</a:t>
              </a:r>
            </a:p>
          </p:txBody>
        </p:sp>
        <p:sp>
          <p:nvSpPr>
            <p:cNvPr id="27" name="TextBox 27"/>
            <p:cNvSpPr txBox="1"/>
            <p:nvPr/>
          </p:nvSpPr>
          <p:spPr>
            <a:xfrm>
              <a:off x="4309205" y="2154555"/>
              <a:ext cx="1829657"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模型生命周期管理Model lifecycle management​​</a:t>
              </a:r>
            </a:p>
          </p:txBody>
        </p:sp>
        <p:sp>
          <p:nvSpPr>
            <p:cNvPr id="28" name="Rectangle 28"/>
            <p:cNvSpPr/>
            <p:nvPr/>
          </p:nvSpPr>
          <p:spPr>
            <a:xfrm>
              <a:off x="6210300" y="2114550"/>
              <a:ext cx="1171575" cy="123825"/>
            </a:xfrm>
            <a:prstGeom prst="rect">
              <a:avLst/>
            </a:prstGeom>
            <a:solidFill>
              <a:srgbClr val="AA1B00"/>
            </a:solidFill>
            <a:ln>
              <a:noFill/>
            </a:ln>
          </p:spPr>
        </p:sp>
        <p:sp>
          <p:nvSpPr>
            <p:cNvPr id="29" name="TextBox 29"/>
            <p:cNvSpPr txBox="1"/>
            <p:nvPr/>
          </p:nvSpPr>
          <p:spPr>
            <a:xfrm>
              <a:off x="7424738" y="215050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41%​</a:t>
              </a:r>
            </a:p>
          </p:txBody>
        </p:sp>
        <p:sp>
          <p:nvSpPr>
            <p:cNvPr id="30" name="TextBox 30"/>
            <p:cNvSpPr txBox="1"/>
            <p:nvPr/>
          </p:nvSpPr>
          <p:spPr>
            <a:xfrm>
              <a:off x="4147630" y="2383155"/>
              <a:ext cx="1991233"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工作流与资源规划Workflow and resource planning​​</a:t>
              </a:r>
            </a:p>
          </p:txBody>
        </p:sp>
        <p:sp>
          <p:nvSpPr>
            <p:cNvPr id="31" name="Rectangle 31"/>
            <p:cNvSpPr/>
            <p:nvPr/>
          </p:nvSpPr>
          <p:spPr>
            <a:xfrm>
              <a:off x="6210300" y="2343150"/>
              <a:ext cx="628650" cy="123825"/>
            </a:xfrm>
            <a:prstGeom prst="rect">
              <a:avLst/>
            </a:prstGeom>
            <a:solidFill>
              <a:srgbClr val="AA1B00"/>
            </a:solidFill>
            <a:ln>
              <a:noFill/>
            </a:ln>
          </p:spPr>
        </p:sp>
        <p:sp>
          <p:nvSpPr>
            <p:cNvPr id="32" name="TextBox 32"/>
            <p:cNvSpPr txBox="1"/>
            <p:nvPr/>
          </p:nvSpPr>
          <p:spPr>
            <a:xfrm>
              <a:off x="6881812" y="2379107"/>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22%​</a:t>
              </a:r>
            </a:p>
          </p:txBody>
        </p:sp>
        <p:sp>
          <p:nvSpPr>
            <p:cNvPr id="33" name="TextBox 33"/>
            <p:cNvSpPr txBox="1"/>
            <p:nvPr/>
          </p:nvSpPr>
          <p:spPr>
            <a:xfrm>
              <a:off x="4711789" y="2611755"/>
              <a:ext cx="1427074"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建模数据集库（如模型开发所用数据）​</a:t>
              </a:r>
            </a:p>
          </p:txBody>
        </p:sp>
        <p:sp>
          <p:nvSpPr>
            <p:cNvPr id="34" name="Rectangle 34"/>
            <p:cNvSpPr/>
            <p:nvPr/>
          </p:nvSpPr>
          <p:spPr>
            <a:xfrm>
              <a:off x="6210300" y="2571750"/>
              <a:ext cx="200025" cy="123825"/>
            </a:xfrm>
            <a:prstGeom prst="rect">
              <a:avLst/>
            </a:prstGeom>
            <a:solidFill>
              <a:srgbClr val="AA1B00"/>
            </a:solidFill>
            <a:ln>
              <a:noFill/>
            </a:ln>
          </p:spPr>
        </p:sp>
        <p:sp>
          <p:nvSpPr>
            <p:cNvPr id="35" name="TextBox 35"/>
            <p:cNvSpPr txBox="1"/>
            <p:nvPr/>
          </p:nvSpPr>
          <p:spPr>
            <a:xfrm>
              <a:off x="6453188" y="2607707"/>
              <a:ext cx="168915"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7%​</a:t>
              </a:r>
            </a:p>
          </p:txBody>
        </p:sp>
        <p:sp>
          <p:nvSpPr>
            <p:cNvPr id="36" name="TextBox 36"/>
            <p:cNvSpPr txBox="1"/>
            <p:nvPr/>
          </p:nvSpPr>
          <p:spPr>
            <a:xfrm>
              <a:off x="4711789" y="2840355"/>
              <a:ext cx="1427074"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自动文档生成（如模型验证报告生成）​</a:t>
              </a:r>
            </a:p>
          </p:txBody>
        </p:sp>
        <p:sp>
          <p:nvSpPr>
            <p:cNvPr id="37" name="Rectangle 37"/>
            <p:cNvSpPr/>
            <p:nvPr/>
          </p:nvSpPr>
          <p:spPr>
            <a:xfrm>
              <a:off x="6210300" y="2800350"/>
              <a:ext cx="200025" cy="123825"/>
            </a:xfrm>
            <a:prstGeom prst="rect">
              <a:avLst/>
            </a:prstGeom>
            <a:solidFill>
              <a:srgbClr val="AA1B00"/>
            </a:solidFill>
            <a:ln>
              <a:noFill/>
            </a:ln>
          </p:spPr>
        </p:sp>
        <p:sp>
          <p:nvSpPr>
            <p:cNvPr id="38" name="TextBox 38"/>
            <p:cNvSpPr txBox="1"/>
            <p:nvPr/>
          </p:nvSpPr>
          <p:spPr>
            <a:xfrm>
              <a:off x="6453188" y="2836307"/>
              <a:ext cx="168915"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7%​</a:t>
              </a:r>
            </a:p>
          </p:txBody>
        </p:sp>
        <p:sp>
          <p:nvSpPr>
            <p:cNvPr id="39" name="TextBox 39"/>
            <p:cNvSpPr txBox="1"/>
            <p:nvPr/>
          </p:nvSpPr>
          <p:spPr>
            <a:xfrm>
              <a:off x="6161113" y="3097530"/>
              <a:ext cx="98374"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0​</a:t>
              </a:r>
            </a:p>
          </p:txBody>
        </p:sp>
        <p:sp>
          <p:nvSpPr>
            <p:cNvPr id="40" name="TextBox 40"/>
            <p:cNvSpPr txBox="1"/>
            <p:nvPr/>
          </p:nvSpPr>
          <p:spPr>
            <a:xfrm>
              <a:off x="6710401" y="3097530"/>
              <a:ext cx="142799"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20​</a:t>
              </a:r>
            </a:p>
          </p:txBody>
        </p:sp>
        <p:sp>
          <p:nvSpPr>
            <p:cNvPr id="41" name="TextBox 41"/>
            <p:cNvSpPr txBox="1"/>
            <p:nvPr/>
          </p:nvSpPr>
          <p:spPr>
            <a:xfrm>
              <a:off x="7281901" y="3097530"/>
              <a:ext cx="142799"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40​</a:t>
              </a:r>
            </a:p>
          </p:txBody>
        </p:sp>
        <p:sp>
          <p:nvSpPr>
            <p:cNvPr id="42" name="TextBox 42"/>
            <p:cNvSpPr txBox="1"/>
            <p:nvPr/>
          </p:nvSpPr>
          <p:spPr>
            <a:xfrm>
              <a:off x="7853401" y="3097530"/>
              <a:ext cx="142799"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60​</a:t>
              </a:r>
            </a:p>
          </p:txBody>
        </p:sp>
        <p:sp>
          <p:nvSpPr>
            <p:cNvPr id="43" name="TextBox 43"/>
            <p:cNvSpPr txBox="1"/>
            <p:nvPr/>
          </p:nvSpPr>
          <p:spPr>
            <a:xfrm>
              <a:off x="8424901" y="3097530"/>
              <a:ext cx="142799"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80​</a:t>
              </a:r>
            </a:p>
          </p:txBody>
        </p:sp>
        <p:sp>
          <p:nvSpPr>
            <p:cNvPr id="44" name="TextBox 44"/>
            <p:cNvSpPr txBox="1"/>
            <p:nvPr/>
          </p:nvSpPr>
          <p:spPr>
            <a:xfrm>
              <a:off x="8974188" y="3097530"/>
              <a:ext cx="187223"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100​</a:t>
              </a:r>
            </a:p>
          </p:txBody>
        </p:sp>
        <p:sp>
          <p:nvSpPr>
            <p:cNvPr id="45" name="Line 45"/>
            <p:cNvSpPr/>
            <p:nvPr/>
          </p:nvSpPr>
          <p:spPr>
            <a:xfrm>
              <a:off x="6210300" y="3048000"/>
              <a:ext cx="2857500" cy="9525"/>
            </a:xfrm>
            <a:custGeom>
              <a:avLst/>
              <a:gdLst/>
              <a:ahLst/>
              <a:cxnLst/>
              <a:rect l="l" t="t" r="r" b="b"/>
              <a:pathLst>
                <a:path w="2857500" h="9525">
                  <a:moveTo>
                    <a:pt x="0" y="0"/>
                  </a:moveTo>
                  <a:lnTo>
                    <a:pt x="2857500" y="0"/>
                  </a:lnTo>
                </a:path>
              </a:pathLst>
            </a:custGeom>
            <a:noFill/>
            <a:ln w="7620">
              <a:solidFill>
                <a:srgbClr val="9A9A9A"/>
              </a:solidFill>
            </a:ln>
          </p:spPr>
        </p:sp>
      </p:grpSp>
      <p:grpSp>
        <p:nvGrpSpPr>
          <p:cNvPr id="100" name="figure-39"/>
          <p:cNvGrpSpPr/>
          <p:nvPr/>
        </p:nvGrpSpPr>
        <p:grpSpPr>
          <a:xfrm>
            <a:off x="3443288" y="3435191"/>
            <a:ext cx="5889767" cy="3232547"/>
            <a:chOff x="3443288" y="3435191"/>
            <a:chExt cx="5889767" cy="3232547"/>
          </a:xfrm>
        </p:grpSpPr>
        <p:sp>
          <p:nvSpPr>
            <p:cNvPr id="47" name="TextBox 47"/>
            <p:cNvSpPr txBox="1"/>
            <p:nvPr/>
          </p:nvSpPr>
          <p:spPr>
            <a:xfrm>
              <a:off x="3443288" y="3435191"/>
              <a:ext cx="2735027"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图39. Excel用户与非Excel用户对工具功能的使用​​​​</a:t>
              </a:r>
            </a:p>
          </p:txBody>
        </p:sp>
        <p:sp>
          <p:nvSpPr>
            <p:cNvPr id="48" name="TextBox 48"/>
            <p:cNvSpPr txBox="1"/>
            <p:nvPr/>
          </p:nvSpPr>
          <p:spPr>
            <a:xfrm>
              <a:off x="3443288" y="3579257"/>
              <a:ext cx="3908312"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Functionalities of the model risk management tool used by Excel users and non-Excel users​​</a:t>
              </a:r>
            </a:p>
          </p:txBody>
        </p:sp>
        <p:sp>
          <p:nvSpPr>
            <p:cNvPr id="49" name="TextBox 49"/>
            <p:cNvSpPr txBox="1"/>
            <p:nvPr/>
          </p:nvSpPr>
          <p:spPr>
            <a:xfrm>
              <a:off x="5761825" y="3859530"/>
              <a:ext cx="377038"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模型清单​</a:t>
              </a:r>
            </a:p>
          </p:txBody>
        </p:sp>
        <p:sp>
          <p:nvSpPr>
            <p:cNvPr id="50" name="Rectangle 50"/>
            <p:cNvSpPr/>
            <p:nvPr/>
          </p:nvSpPr>
          <p:spPr>
            <a:xfrm>
              <a:off x="6210300" y="3810000"/>
              <a:ext cx="2714625" cy="85725"/>
            </a:xfrm>
            <a:prstGeom prst="rect">
              <a:avLst/>
            </a:prstGeom>
            <a:solidFill>
              <a:srgbClr val="D8482E"/>
            </a:solidFill>
            <a:ln>
              <a:noFill/>
            </a:ln>
          </p:spPr>
        </p:sp>
        <p:sp>
          <p:nvSpPr>
            <p:cNvPr id="51" name="TextBox 51"/>
            <p:cNvSpPr txBox="1"/>
            <p:nvPr/>
          </p:nvSpPr>
          <p:spPr>
            <a:xfrm>
              <a:off x="8958262" y="3825478"/>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95%​</a:t>
              </a:r>
            </a:p>
          </p:txBody>
        </p:sp>
        <p:sp>
          <p:nvSpPr>
            <p:cNvPr id="52" name="Rectangle 52"/>
            <p:cNvSpPr/>
            <p:nvPr/>
          </p:nvSpPr>
          <p:spPr>
            <a:xfrm>
              <a:off x="6210300" y="3914775"/>
              <a:ext cx="2857500" cy="85725"/>
            </a:xfrm>
            <a:prstGeom prst="rect">
              <a:avLst/>
            </a:prstGeom>
            <a:solidFill>
              <a:srgbClr val="AA1B00"/>
            </a:solidFill>
            <a:ln>
              <a:noFill/>
            </a:ln>
          </p:spPr>
        </p:sp>
        <p:sp>
          <p:nvSpPr>
            <p:cNvPr id="53" name="TextBox 53"/>
            <p:cNvSpPr txBox="1"/>
            <p:nvPr/>
          </p:nvSpPr>
          <p:spPr>
            <a:xfrm>
              <a:off x="9101138" y="3930253"/>
              <a:ext cx="231917"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100%​</a:t>
              </a:r>
            </a:p>
          </p:txBody>
        </p:sp>
        <p:sp>
          <p:nvSpPr>
            <p:cNvPr id="54" name="TextBox 54"/>
            <p:cNvSpPr txBox="1"/>
            <p:nvPr/>
          </p:nvSpPr>
          <p:spPr>
            <a:xfrm>
              <a:off x="3984841" y="4173855"/>
              <a:ext cx="2154022"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存储发现（如模型验证发现、监管发现、模型问题或事件）​</a:t>
              </a:r>
            </a:p>
          </p:txBody>
        </p:sp>
        <p:sp>
          <p:nvSpPr>
            <p:cNvPr id="55" name="Rectangle 55"/>
            <p:cNvSpPr/>
            <p:nvPr/>
          </p:nvSpPr>
          <p:spPr>
            <a:xfrm>
              <a:off x="6210300" y="4124325"/>
              <a:ext cx="2143125" cy="85725"/>
            </a:xfrm>
            <a:prstGeom prst="rect">
              <a:avLst/>
            </a:prstGeom>
            <a:solidFill>
              <a:srgbClr val="D8482E"/>
            </a:solidFill>
            <a:ln>
              <a:noFill/>
            </a:ln>
          </p:spPr>
        </p:sp>
        <p:sp>
          <p:nvSpPr>
            <p:cNvPr id="56" name="TextBox 56"/>
            <p:cNvSpPr txBox="1"/>
            <p:nvPr/>
          </p:nvSpPr>
          <p:spPr>
            <a:xfrm>
              <a:off x="8386762" y="4139803"/>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75%​</a:t>
              </a:r>
            </a:p>
          </p:txBody>
        </p:sp>
        <p:sp>
          <p:nvSpPr>
            <p:cNvPr id="57" name="Rectangle 57"/>
            <p:cNvSpPr/>
            <p:nvPr/>
          </p:nvSpPr>
          <p:spPr>
            <a:xfrm>
              <a:off x="6210300" y="4229100"/>
              <a:ext cx="1485900" cy="85725"/>
            </a:xfrm>
            <a:prstGeom prst="rect">
              <a:avLst/>
            </a:prstGeom>
            <a:solidFill>
              <a:srgbClr val="AA1B00"/>
            </a:solidFill>
            <a:ln>
              <a:noFill/>
            </a:ln>
          </p:spPr>
        </p:sp>
        <p:sp>
          <p:nvSpPr>
            <p:cNvPr id="58" name="TextBox 58"/>
            <p:cNvSpPr txBox="1"/>
            <p:nvPr/>
          </p:nvSpPr>
          <p:spPr>
            <a:xfrm>
              <a:off x="7729538" y="4244578"/>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52%​</a:t>
              </a:r>
            </a:p>
          </p:txBody>
        </p:sp>
        <p:sp>
          <p:nvSpPr>
            <p:cNvPr id="59" name="TextBox 59"/>
            <p:cNvSpPr txBox="1"/>
            <p:nvPr/>
          </p:nvSpPr>
          <p:spPr>
            <a:xfrm>
              <a:off x="5357965" y="4488180"/>
              <a:ext cx="780898"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分析与模型风险报告​</a:t>
              </a:r>
            </a:p>
          </p:txBody>
        </p:sp>
        <p:sp>
          <p:nvSpPr>
            <p:cNvPr id="60" name="Rectangle 60"/>
            <p:cNvSpPr/>
            <p:nvPr/>
          </p:nvSpPr>
          <p:spPr>
            <a:xfrm>
              <a:off x="6210300" y="4438650"/>
              <a:ext cx="1857375" cy="85725"/>
            </a:xfrm>
            <a:prstGeom prst="rect">
              <a:avLst/>
            </a:prstGeom>
            <a:solidFill>
              <a:srgbClr val="D8482E"/>
            </a:solidFill>
            <a:ln>
              <a:noFill/>
            </a:ln>
          </p:spPr>
        </p:sp>
        <p:sp>
          <p:nvSpPr>
            <p:cNvPr id="61" name="TextBox 61"/>
            <p:cNvSpPr txBox="1"/>
            <p:nvPr/>
          </p:nvSpPr>
          <p:spPr>
            <a:xfrm>
              <a:off x="8101012" y="4454128"/>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65%​</a:t>
              </a:r>
            </a:p>
          </p:txBody>
        </p:sp>
        <p:sp>
          <p:nvSpPr>
            <p:cNvPr id="62" name="Rectangle 62"/>
            <p:cNvSpPr/>
            <p:nvPr/>
          </p:nvSpPr>
          <p:spPr>
            <a:xfrm>
              <a:off x="6210300" y="4543425"/>
              <a:ext cx="1285875" cy="85725"/>
            </a:xfrm>
            <a:prstGeom prst="rect">
              <a:avLst/>
            </a:prstGeom>
            <a:solidFill>
              <a:srgbClr val="AA1B00"/>
            </a:solidFill>
            <a:ln>
              <a:noFill/>
            </a:ln>
          </p:spPr>
        </p:sp>
        <p:sp>
          <p:nvSpPr>
            <p:cNvPr id="63" name="TextBox 63"/>
            <p:cNvSpPr txBox="1"/>
            <p:nvPr/>
          </p:nvSpPr>
          <p:spPr>
            <a:xfrm>
              <a:off x="7529512" y="4558903"/>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45%​</a:t>
              </a:r>
            </a:p>
          </p:txBody>
        </p:sp>
        <p:sp>
          <p:nvSpPr>
            <p:cNvPr id="64" name="TextBox 64"/>
            <p:cNvSpPr txBox="1"/>
            <p:nvPr/>
          </p:nvSpPr>
          <p:spPr>
            <a:xfrm>
              <a:off x="4550245" y="4802505"/>
              <a:ext cx="1588618"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模型文档库（如模型文档、模型验证报告）​</a:t>
              </a:r>
            </a:p>
          </p:txBody>
        </p:sp>
        <p:sp>
          <p:nvSpPr>
            <p:cNvPr id="65" name="Rectangle 65"/>
            <p:cNvSpPr/>
            <p:nvPr/>
          </p:nvSpPr>
          <p:spPr>
            <a:xfrm>
              <a:off x="6210300" y="4752975"/>
              <a:ext cx="1657350" cy="85725"/>
            </a:xfrm>
            <a:prstGeom prst="rect">
              <a:avLst/>
            </a:prstGeom>
            <a:solidFill>
              <a:srgbClr val="D8482E"/>
            </a:solidFill>
            <a:ln>
              <a:noFill/>
            </a:ln>
          </p:spPr>
        </p:sp>
        <p:sp>
          <p:nvSpPr>
            <p:cNvPr id="66" name="TextBox 66"/>
            <p:cNvSpPr txBox="1"/>
            <p:nvPr/>
          </p:nvSpPr>
          <p:spPr>
            <a:xfrm>
              <a:off x="7900988" y="4768453"/>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58%​</a:t>
              </a:r>
            </a:p>
          </p:txBody>
        </p:sp>
        <p:sp>
          <p:nvSpPr>
            <p:cNvPr id="67" name="Rectangle 67"/>
            <p:cNvSpPr/>
            <p:nvPr/>
          </p:nvSpPr>
          <p:spPr>
            <a:xfrm>
              <a:off x="6210300" y="4857750"/>
              <a:ext cx="800100" cy="85725"/>
            </a:xfrm>
            <a:prstGeom prst="rect">
              <a:avLst/>
            </a:prstGeom>
            <a:solidFill>
              <a:srgbClr val="AA1B00"/>
            </a:solidFill>
            <a:ln>
              <a:noFill/>
            </a:ln>
          </p:spPr>
        </p:sp>
        <p:sp>
          <p:nvSpPr>
            <p:cNvPr id="68" name="TextBox 68"/>
            <p:cNvSpPr txBox="1"/>
            <p:nvPr/>
          </p:nvSpPr>
          <p:spPr>
            <a:xfrm>
              <a:off x="7043738" y="4873228"/>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28%​</a:t>
              </a:r>
            </a:p>
          </p:txBody>
        </p:sp>
        <p:sp>
          <p:nvSpPr>
            <p:cNvPr id="69" name="TextBox 69"/>
            <p:cNvSpPr txBox="1"/>
            <p:nvPr/>
          </p:nvSpPr>
          <p:spPr>
            <a:xfrm>
              <a:off x="5438737" y="5116830"/>
              <a:ext cx="700126"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模型生命周期管理​</a:t>
              </a:r>
            </a:p>
          </p:txBody>
        </p:sp>
        <p:sp>
          <p:nvSpPr>
            <p:cNvPr id="70" name="Rectangle 70"/>
            <p:cNvSpPr/>
            <p:nvPr/>
          </p:nvSpPr>
          <p:spPr>
            <a:xfrm>
              <a:off x="6210300" y="5067300"/>
              <a:ext cx="1514475" cy="85725"/>
            </a:xfrm>
            <a:prstGeom prst="rect">
              <a:avLst/>
            </a:prstGeom>
            <a:solidFill>
              <a:srgbClr val="D8482E"/>
            </a:solidFill>
            <a:ln>
              <a:noFill/>
            </a:ln>
          </p:spPr>
        </p:sp>
        <p:sp>
          <p:nvSpPr>
            <p:cNvPr id="71" name="TextBox 71"/>
            <p:cNvSpPr txBox="1"/>
            <p:nvPr/>
          </p:nvSpPr>
          <p:spPr>
            <a:xfrm>
              <a:off x="7758112" y="5082778"/>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53%​</a:t>
              </a:r>
            </a:p>
          </p:txBody>
        </p:sp>
        <p:sp>
          <p:nvSpPr>
            <p:cNvPr id="72" name="Rectangle 72"/>
            <p:cNvSpPr/>
            <p:nvPr/>
          </p:nvSpPr>
          <p:spPr>
            <a:xfrm>
              <a:off x="6210300" y="5172075"/>
              <a:ext cx="685800" cy="85725"/>
            </a:xfrm>
            <a:prstGeom prst="rect">
              <a:avLst/>
            </a:prstGeom>
            <a:solidFill>
              <a:srgbClr val="AA1B00"/>
            </a:solidFill>
            <a:ln>
              <a:noFill/>
            </a:ln>
          </p:spPr>
        </p:sp>
        <p:sp>
          <p:nvSpPr>
            <p:cNvPr id="73" name="TextBox 73"/>
            <p:cNvSpPr txBox="1"/>
            <p:nvPr/>
          </p:nvSpPr>
          <p:spPr>
            <a:xfrm>
              <a:off x="6929438" y="5187553"/>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24%​</a:t>
              </a:r>
            </a:p>
          </p:txBody>
        </p:sp>
        <p:sp>
          <p:nvSpPr>
            <p:cNvPr id="74" name="TextBox 74"/>
            <p:cNvSpPr txBox="1"/>
            <p:nvPr/>
          </p:nvSpPr>
          <p:spPr>
            <a:xfrm>
              <a:off x="5438737" y="5431155"/>
              <a:ext cx="700126"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工作流与资源规划​</a:t>
              </a:r>
            </a:p>
          </p:txBody>
        </p:sp>
        <p:sp>
          <p:nvSpPr>
            <p:cNvPr id="75" name="Rectangle 75"/>
            <p:cNvSpPr/>
            <p:nvPr/>
          </p:nvSpPr>
          <p:spPr>
            <a:xfrm>
              <a:off x="6210300" y="5381625"/>
              <a:ext cx="657225" cy="85725"/>
            </a:xfrm>
            <a:prstGeom prst="rect">
              <a:avLst/>
            </a:prstGeom>
            <a:solidFill>
              <a:srgbClr val="D8482E"/>
            </a:solidFill>
            <a:ln>
              <a:noFill/>
            </a:ln>
          </p:spPr>
        </p:sp>
        <p:sp>
          <p:nvSpPr>
            <p:cNvPr id="76" name="TextBox 76"/>
            <p:cNvSpPr txBox="1"/>
            <p:nvPr/>
          </p:nvSpPr>
          <p:spPr>
            <a:xfrm>
              <a:off x="6900862" y="5397103"/>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23%​</a:t>
              </a:r>
            </a:p>
          </p:txBody>
        </p:sp>
        <p:sp>
          <p:nvSpPr>
            <p:cNvPr id="77" name="Rectangle 77"/>
            <p:cNvSpPr/>
            <p:nvPr/>
          </p:nvSpPr>
          <p:spPr>
            <a:xfrm>
              <a:off x="6210300" y="5486400"/>
              <a:ext cx="600075" cy="85725"/>
            </a:xfrm>
            <a:prstGeom prst="rect">
              <a:avLst/>
            </a:prstGeom>
            <a:solidFill>
              <a:srgbClr val="AA1B00"/>
            </a:solidFill>
            <a:ln>
              <a:noFill/>
            </a:ln>
          </p:spPr>
        </p:sp>
        <p:sp>
          <p:nvSpPr>
            <p:cNvPr id="78" name="TextBox 78"/>
            <p:cNvSpPr txBox="1"/>
            <p:nvPr/>
          </p:nvSpPr>
          <p:spPr>
            <a:xfrm>
              <a:off x="6843712" y="5501878"/>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21%​</a:t>
              </a:r>
            </a:p>
          </p:txBody>
        </p:sp>
        <p:sp>
          <p:nvSpPr>
            <p:cNvPr id="79" name="TextBox 79"/>
            <p:cNvSpPr txBox="1"/>
            <p:nvPr/>
          </p:nvSpPr>
          <p:spPr>
            <a:xfrm>
              <a:off x="4711789" y="5745480"/>
              <a:ext cx="1427074"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建模数据集库（如模型开发所用数据）​</a:t>
              </a:r>
            </a:p>
          </p:txBody>
        </p:sp>
        <p:sp>
          <p:nvSpPr>
            <p:cNvPr id="80" name="Rectangle 80"/>
            <p:cNvSpPr/>
            <p:nvPr/>
          </p:nvSpPr>
          <p:spPr>
            <a:xfrm>
              <a:off x="6210300" y="5695950"/>
              <a:ext cx="228600" cy="85725"/>
            </a:xfrm>
            <a:prstGeom prst="rect">
              <a:avLst/>
            </a:prstGeom>
            <a:solidFill>
              <a:srgbClr val="D8482E"/>
            </a:solidFill>
            <a:ln>
              <a:noFill/>
            </a:ln>
          </p:spPr>
        </p:sp>
        <p:sp>
          <p:nvSpPr>
            <p:cNvPr id="81" name="TextBox 81"/>
            <p:cNvSpPr txBox="1"/>
            <p:nvPr/>
          </p:nvSpPr>
          <p:spPr>
            <a:xfrm>
              <a:off x="6472238" y="5711428"/>
              <a:ext cx="148991"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8%​</a:t>
              </a:r>
            </a:p>
          </p:txBody>
        </p:sp>
        <p:sp>
          <p:nvSpPr>
            <p:cNvPr id="82" name="Rectangle 82"/>
            <p:cNvSpPr/>
            <p:nvPr/>
          </p:nvSpPr>
          <p:spPr>
            <a:xfrm>
              <a:off x="6210300" y="5800725"/>
              <a:ext cx="200025" cy="85725"/>
            </a:xfrm>
            <a:prstGeom prst="rect">
              <a:avLst/>
            </a:prstGeom>
            <a:solidFill>
              <a:srgbClr val="AA1B00"/>
            </a:solidFill>
            <a:ln>
              <a:noFill/>
            </a:ln>
          </p:spPr>
        </p:sp>
        <p:sp>
          <p:nvSpPr>
            <p:cNvPr id="83" name="TextBox 83"/>
            <p:cNvSpPr txBox="1"/>
            <p:nvPr/>
          </p:nvSpPr>
          <p:spPr>
            <a:xfrm>
              <a:off x="6443662" y="5816203"/>
              <a:ext cx="148991"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7%​</a:t>
              </a:r>
            </a:p>
          </p:txBody>
        </p:sp>
        <p:sp>
          <p:nvSpPr>
            <p:cNvPr id="84" name="TextBox 84"/>
            <p:cNvSpPr txBox="1"/>
            <p:nvPr/>
          </p:nvSpPr>
          <p:spPr>
            <a:xfrm>
              <a:off x="4711789" y="6059805"/>
              <a:ext cx="1427074" cy="119062"/>
            </a:xfrm>
            <a:prstGeom prst="rect">
              <a:avLst/>
            </a:prstGeom>
            <a:noFill/>
            <a:ln>
              <a:noFill/>
            </a:ln>
          </p:spPr>
          <p:txBody>
            <a:bodyPr wrap="none" lIns="0" tIns="0" rIns="0" bIns="0" anchor="t" anchorCtr="0">
              <a:spAutoFit/>
            </a:bodyPr>
            <a:lstStyle/>
            <a:p>
              <a:pPr algn="r"/>
              <a:r>
                <a:rPr lang="zh-CN" sz="600" dirty="0">
                  <a:solidFill>
                    <a:srgbClr val="333333"/>
                  </a:solidFill>
                  <a:latin typeface="+mn-lt"/>
                  <a:ea typeface="+mn-ea"/>
                  <a:cs typeface="+mn-cs"/>
                </a:rPr>
                <a:t>自动文档生成（如模型验证报告生成）​</a:t>
              </a:r>
            </a:p>
          </p:txBody>
        </p:sp>
        <p:sp>
          <p:nvSpPr>
            <p:cNvPr id="85" name="Rectangle 85"/>
            <p:cNvSpPr/>
            <p:nvPr/>
          </p:nvSpPr>
          <p:spPr>
            <a:xfrm>
              <a:off x="6210300" y="6010275"/>
              <a:ext cx="142875" cy="85725"/>
            </a:xfrm>
            <a:prstGeom prst="rect">
              <a:avLst/>
            </a:prstGeom>
            <a:solidFill>
              <a:srgbClr val="D8482E"/>
            </a:solidFill>
            <a:ln>
              <a:noFill/>
            </a:ln>
          </p:spPr>
        </p:sp>
        <p:sp>
          <p:nvSpPr>
            <p:cNvPr id="86" name="TextBox 86"/>
            <p:cNvSpPr txBox="1"/>
            <p:nvPr/>
          </p:nvSpPr>
          <p:spPr>
            <a:xfrm>
              <a:off x="6386512" y="6025753"/>
              <a:ext cx="148991"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5%​</a:t>
              </a:r>
            </a:p>
          </p:txBody>
        </p:sp>
        <p:sp>
          <p:nvSpPr>
            <p:cNvPr id="87" name="Rectangle 87"/>
            <p:cNvSpPr/>
            <p:nvPr/>
          </p:nvSpPr>
          <p:spPr>
            <a:xfrm>
              <a:off x="6210300" y="6115050"/>
              <a:ext cx="285750" cy="85725"/>
            </a:xfrm>
            <a:prstGeom prst="rect">
              <a:avLst/>
            </a:prstGeom>
            <a:solidFill>
              <a:srgbClr val="AA1B00"/>
            </a:solidFill>
            <a:ln>
              <a:noFill/>
            </a:ln>
          </p:spPr>
        </p:sp>
        <p:sp>
          <p:nvSpPr>
            <p:cNvPr id="88" name="TextBox 88"/>
            <p:cNvSpPr txBox="1"/>
            <p:nvPr/>
          </p:nvSpPr>
          <p:spPr>
            <a:xfrm>
              <a:off x="6529388" y="6130528"/>
              <a:ext cx="190454" cy="111919"/>
            </a:xfrm>
            <a:prstGeom prst="rect">
              <a:avLst/>
            </a:prstGeom>
            <a:noFill/>
            <a:ln>
              <a:noFill/>
            </a:ln>
          </p:spPr>
          <p:txBody>
            <a:bodyPr wrap="none" lIns="0" tIns="0" rIns="0" bIns="0" anchor="t" anchorCtr="0">
              <a:spAutoFit/>
            </a:bodyPr>
            <a:lstStyle/>
            <a:p>
              <a:pPr algn="l"/>
              <a:r>
                <a:rPr lang="zh-CN" sz="560" dirty="0">
                  <a:solidFill>
                    <a:srgbClr val="1A1A1A"/>
                  </a:solidFill>
                  <a:latin typeface="+mn-lt"/>
                  <a:ea typeface="+mn-ea"/>
                  <a:cs typeface="+mn-cs"/>
                </a:rPr>
                <a:t>10%​</a:t>
              </a:r>
            </a:p>
          </p:txBody>
        </p:sp>
        <p:sp>
          <p:nvSpPr>
            <p:cNvPr id="89" name="TextBox 89"/>
            <p:cNvSpPr txBox="1"/>
            <p:nvPr/>
          </p:nvSpPr>
          <p:spPr>
            <a:xfrm>
              <a:off x="6161113" y="6374130"/>
              <a:ext cx="98374"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0​</a:t>
              </a:r>
            </a:p>
          </p:txBody>
        </p:sp>
        <p:sp>
          <p:nvSpPr>
            <p:cNvPr id="90" name="TextBox 90"/>
            <p:cNvSpPr txBox="1"/>
            <p:nvPr/>
          </p:nvSpPr>
          <p:spPr>
            <a:xfrm>
              <a:off x="6710401" y="6374130"/>
              <a:ext cx="142799"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20​</a:t>
              </a:r>
            </a:p>
          </p:txBody>
        </p:sp>
        <p:sp>
          <p:nvSpPr>
            <p:cNvPr id="91" name="TextBox 91"/>
            <p:cNvSpPr txBox="1"/>
            <p:nvPr/>
          </p:nvSpPr>
          <p:spPr>
            <a:xfrm>
              <a:off x="7281901" y="6374130"/>
              <a:ext cx="142799"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40​</a:t>
              </a:r>
            </a:p>
          </p:txBody>
        </p:sp>
        <p:sp>
          <p:nvSpPr>
            <p:cNvPr id="92" name="TextBox 92"/>
            <p:cNvSpPr txBox="1"/>
            <p:nvPr/>
          </p:nvSpPr>
          <p:spPr>
            <a:xfrm>
              <a:off x="7853401" y="6374130"/>
              <a:ext cx="142799"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60​</a:t>
              </a:r>
            </a:p>
          </p:txBody>
        </p:sp>
        <p:sp>
          <p:nvSpPr>
            <p:cNvPr id="93" name="TextBox 93"/>
            <p:cNvSpPr txBox="1"/>
            <p:nvPr/>
          </p:nvSpPr>
          <p:spPr>
            <a:xfrm>
              <a:off x="8424901" y="6374130"/>
              <a:ext cx="142799"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80​</a:t>
              </a:r>
            </a:p>
          </p:txBody>
        </p:sp>
        <p:sp>
          <p:nvSpPr>
            <p:cNvPr id="94" name="TextBox 94"/>
            <p:cNvSpPr txBox="1"/>
            <p:nvPr/>
          </p:nvSpPr>
          <p:spPr>
            <a:xfrm>
              <a:off x="8974188" y="6374130"/>
              <a:ext cx="187223"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100​</a:t>
              </a:r>
            </a:p>
          </p:txBody>
        </p:sp>
        <p:sp>
          <p:nvSpPr>
            <p:cNvPr id="95" name="Line 95"/>
            <p:cNvSpPr/>
            <p:nvPr/>
          </p:nvSpPr>
          <p:spPr>
            <a:xfrm>
              <a:off x="6210300" y="6324600"/>
              <a:ext cx="2857500" cy="9525"/>
            </a:xfrm>
            <a:custGeom>
              <a:avLst/>
              <a:gdLst/>
              <a:ahLst/>
              <a:cxnLst/>
              <a:rect l="l" t="t" r="r" b="b"/>
              <a:pathLst>
                <a:path w="2857500" h="9525">
                  <a:moveTo>
                    <a:pt x="0" y="0"/>
                  </a:moveTo>
                  <a:lnTo>
                    <a:pt x="2857500" y="0"/>
                  </a:lnTo>
                </a:path>
              </a:pathLst>
            </a:custGeom>
            <a:noFill/>
            <a:ln w="7620">
              <a:solidFill>
                <a:srgbClr val="9A9A9A"/>
              </a:solidFill>
            </a:ln>
          </p:spPr>
        </p:sp>
        <p:sp>
          <p:nvSpPr>
            <p:cNvPr id="96" name="Rectangle 96"/>
            <p:cNvSpPr/>
            <p:nvPr/>
          </p:nvSpPr>
          <p:spPr>
            <a:xfrm>
              <a:off x="6210300" y="6524625"/>
              <a:ext cx="95250" cy="95250"/>
            </a:xfrm>
            <a:prstGeom prst="rect">
              <a:avLst/>
            </a:prstGeom>
            <a:solidFill>
              <a:srgbClr val="D8482E"/>
            </a:solidFill>
            <a:ln>
              <a:noFill/>
            </a:ln>
          </p:spPr>
        </p:sp>
        <p:sp>
          <p:nvSpPr>
            <p:cNvPr id="97" name="TextBox 97"/>
            <p:cNvSpPr txBox="1"/>
            <p:nvPr/>
          </p:nvSpPr>
          <p:spPr>
            <a:xfrm>
              <a:off x="6348412" y="6541532"/>
              <a:ext cx="130275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非Excel用户Non-Excel users​​​</a:t>
              </a:r>
            </a:p>
          </p:txBody>
        </p:sp>
        <p:sp>
          <p:nvSpPr>
            <p:cNvPr id="98" name="Rectangle 98"/>
            <p:cNvSpPr/>
            <p:nvPr/>
          </p:nvSpPr>
          <p:spPr>
            <a:xfrm>
              <a:off x="7770590" y="6524625"/>
              <a:ext cx="95250" cy="95250"/>
            </a:xfrm>
            <a:prstGeom prst="rect">
              <a:avLst/>
            </a:prstGeom>
            <a:solidFill>
              <a:srgbClr val="AA1B00"/>
            </a:solidFill>
            <a:ln>
              <a:noFill/>
            </a:ln>
          </p:spPr>
        </p:sp>
        <p:sp>
          <p:nvSpPr>
            <p:cNvPr id="99" name="TextBox 99"/>
            <p:cNvSpPr txBox="1"/>
            <p:nvPr/>
          </p:nvSpPr>
          <p:spPr>
            <a:xfrm>
              <a:off x="7908703" y="6541532"/>
              <a:ext cx="975855"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Excel用户Excel users​​</a:t>
              </a:r>
            </a:p>
          </p:txBody>
        </p:sp>
      </p:grpSp>
      <p:grpSp>
        <p:nvGrpSpPr>
          <p:cNvPr id="134" name="nav"/>
          <p:cNvGrpSpPr/>
          <p:nvPr/>
        </p:nvGrpSpPr>
        <p:grpSpPr>
          <a:xfrm>
            <a:off x="9834562" y="0"/>
            <a:ext cx="2357438" cy="6858000"/>
            <a:chOff x="9834562" y="0"/>
            <a:chExt cx="2357438" cy="6858000"/>
          </a:xfrm>
        </p:grpSpPr>
        <p:sp>
          <p:nvSpPr>
            <p:cNvPr id="101" name="Line 101"/>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02" name="Rectangle 102"/>
            <p:cNvSpPr/>
            <p:nvPr/>
          </p:nvSpPr>
          <p:spPr>
            <a:xfrm>
              <a:off x="9839325" y="476250"/>
              <a:ext cx="2352675" cy="514350"/>
            </a:xfrm>
            <a:prstGeom prst="rect">
              <a:avLst/>
            </a:prstGeom>
            <a:solidFill>
              <a:srgbClr val="F3F3F3"/>
            </a:solidFill>
            <a:ln>
              <a:noFill/>
            </a:ln>
          </p:spPr>
        </p:sp>
        <p:sp>
          <p:nvSpPr>
            <p:cNvPr id="103" name="TextBox 103"/>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04" name="Rectangle 104"/>
            <p:cNvSpPr/>
            <p:nvPr/>
          </p:nvSpPr>
          <p:spPr>
            <a:xfrm>
              <a:off x="9839325" y="1000125"/>
              <a:ext cx="2352675" cy="514350"/>
            </a:xfrm>
            <a:prstGeom prst="rect">
              <a:avLst/>
            </a:prstGeom>
            <a:solidFill>
              <a:srgbClr val="F3F3F3"/>
            </a:solidFill>
            <a:ln>
              <a:noFill/>
            </a:ln>
          </p:spPr>
        </p:sp>
        <p:sp>
          <p:nvSpPr>
            <p:cNvPr id="105" name="TextBox 105"/>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06" name="Rectangle 106"/>
            <p:cNvSpPr/>
            <p:nvPr/>
          </p:nvSpPr>
          <p:spPr>
            <a:xfrm>
              <a:off x="9839325" y="1524000"/>
              <a:ext cx="2352675" cy="514350"/>
            </a:xfrm>
            <a:prstGeom prst="rect">
              <a:avLst/>
            </a:prstGeom>
            <a:solidFill>
              <a:srgbClr val="F3F3F3"/>
            </a:solidFill>
            <a:ln>
              <a:noFill/>
            </a:ln>
          </p:spPr>
        </p:sp>
        <p:sp>
          <p:nvSpPr>
            <p:cNvPr id="107" name="TextBox 107"/>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08" name="Rectangle 108"/>
            <p:cNvSpPr/>
            <p:nvPr/>
          </p:nvSpPr>
          <p:spPr>
            <a:xfrm>
              <a:off x="9839325" y="2047875"/>
              <a:ext cx="2352675" cy="514350"/>
            </a:xfrm>
            <a:prstGeom prst="rect">
              <a:avLst/>
            </a:prstGeom>
            <a:solidFill>
              <a:srgbClr val="F3F3F3"/>
            </a:solidFill>
            <a:ln>
              <a:noFill/>
            </a:ln>
          </p:spPr>
        </p:sp>
        <p:sp>
          <p:nvSpPr>
            <p:cNvPr id="109" name="TextBox 109"/>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10" name="Rectangle 110"/>
            <p:cNvSpPr/>
            <p:nvPr/>
          </p:nvSpPr>
          <p:spPr>
            <a:xfrm>
              <a:off x="9839325" y="2571750"/>
              <a:ext cx="2352675" cy="514350"/>
            </a:xfrm>
            <a:prstGeom prst="rect">
              <a:avLst/>
            </a:prstGeom>
            <a:solidFill>
              <a:srgbClr val="F3F3F3"/>
            </a:solidFill>
            <a:ln>
              <a:noFill/>
            </a:ln>
          </p:spPr>
        </p:sp>
        <p:sp>
          <p:nvSpPr>
            <p:cNvPr id="111" name="TextBox 111"/>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12" name="Rectangle 112"/>
            <p:cNvSpPr/>
            <p:nvPr/>
          </p:nvSpPr>
          <p:spPr>
            <a:xfrm>
              <a:off x="9839325" y="3095625"/>
              <a:ext cx="2352675" cy="514350"/>
            </a:xfrm>
            <a:prstGeom prst="rect">
              <a:avLst/>
            </a:prstGeom>
            <a:solidFill>
              <a:srgbClr val="F3F3F3"/>
            </a:solidFill>
            <a:ln>
              <a:noFill/>
            </a:ln>
          </p:spPr>
        </p:sp>
        <p:sp>
          <p:nvSpPr>
            <p:cNvPr id="113" name="TextBox 113"/>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14" name="Rectangle 114"/>
            <p:cNvSpPr/>
            <p:nvPr/>
          </p:nvSpPr>
          <p:spPr>
            <a:xfrm>
              <a:off x="9839325" y="3619500"/>
              <a:ext cx="2352675" cy="514350"/>
            </a:xfrm>
            <a:prstGeom prst="rect">
              <a:avLst/>
            </a:prstGeom>
            <a:solidFill>
              <a:srgbClr val="AA1B00"/>
            </a:solidFill>
            <a:ln>
              <a:noFill/>
            </a:ln>
          </p:spPr>
        </p:sp>
        <p:sp>
          <p:nvSpPr>
            <p:cNvPr id="115" name="TextBox 115"/>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技术与工具：改进空间</a:t>
              </a:r>
            </a:p>
          </p:txBody>
        </p:sp>
        <p:sp>
          <p:nvSpPr>
            <p:cNvPr id="116" name="Rectangle 116"/>
            <p:cNvSpPr/>
            <p:nvPr/>
          </p:nvSpPr>
          <p:spPr>
            <a:xfrm>
              <a:off x="9839325" y="4143375"/>
              <a:ext cx="2352675" cy="514350"/>
            </a:xfrm>
            <a:prstGeom prst="rect">
              <a:avLst/>
            </a:prstGeom>
            <a:solidFill>
              <a:srgbClr val="F3F3F3"/>
            </a:solidFill>
            <a:ln>
              <a:noFill/>
            </a:ln>
          </p:spPr>
        </p:sp>
        <p:sp>
          <p:nvSpPr>
            <p:cNvPr id="117" name="TextBox 117"/>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18" name="Rectangle 118"/>
            <p:cNvSpPr/>
            <p:nvPr/>
          </p:nvSpPr>
          <p:spPr>
            <a:xfrm>
              <a:off x="9839325" y="4667250"/>
              <a:ext cx="2352675" cy="514350"/>
            </a:xfrm>
            <a:prstGeom prst="rect">
              <a:avLst/>
            </a:prstGeom>
            <a:solidFill>
              <a:srgbClr val="F3F3F3"/>
            </a:solidFill>
            <a:ln>
              <a:noFill/>
            </a:ln>
          </p:spPr>
        </p:sp>
        <p:sp>
          <p:nvSpPr>
            <p:cNvPr id="119" name="TextBox 119"/>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20" name="Rectangle 120"/>
            <p:cNvSpPr/>
            <p:nvPr/>
          </p:nvSpPr>
          <p:spPr>
            <a:xfrm>
              <a:off x="9839325" y="5191125"/>
              <a:ext cx="2352675" cy="514350"/>
            </a:xfrm>
            <a:prstGeom prst="rect">
              <a:avLst/>
            </a:prstGeom>
            <a:solidFill>
              <a:srgbClr val="F3F3F3"/>
            </a:solidFill>
            <a:ln>
              <a:noFill/>
            </a:ln>
          </p:spPr>
        </p:sp>
        <p:sp>
          <p:nvSpPr>
            <p:cNvPr id="121" name="TextBox 121"/>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22" name="Rectangle 122"/>
            <p:cNvSpPr/>
            <p:nvPr/>
          </p:nvSpPr>
          <p:spPr>
            <a:xfrm>
              <a:off x="9839325" y="5715000"/>
              <a:ext cx="2352675" cy="514350"/>
            </a:xfrm>
            <a:prstGeom prst="rect">
              <a:avLst/>
            </a:prstGeom>
            <a:solidFill>
              <a:srgbClr val="F3F3F3"/>
            </a:solidFill>
            <a:ln>
              <a:noFill/>
            </a:ln>
          </p:spPr>
        </p:sp>
        <p:sp>
          <p:nvSpPr>
            <p:cNvPr id="123" name="TextBox 123"/>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24" name="Ellipse 124"/>
            <p:cNvSpPr/>
            <p:nvPr/>
          </p:nvSpPr>
          <p:spPr>
            <a:xfrm>
              <a:off x="10020300" y="6372225"/>
              <a:ext cx="266700" cy="266700"/>
            </a:xfrm>
            <a:prstGeom prst="ellipse">
              <a:avLst/>
            </a:prstGeom>
            <a:solidFill>
              <a:srgbClr val="D7D8D6"/>
            </a:solidFill>
            <a:ln>
              <a:noFill/>
            </a:ln>
          </p:spPr>
        </p:sp>
        <p:sp>
          <p:nvSpPr>
            <p:cNvPr id="125" name="Freeform 125"/>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26" name="Ellipse 126"/>
            <p:cNvSpPr/>
            <p:nvPr/>
          </p:nvSpPr>
          <p:spPr>
            <a:xfrm>
              <a:off x="10420350" y="6372225"/>
              <a:ext cx="266700" cy="266700"/>
            </a:xfrm>
            <a:prstGeom prst="ellipse">
              <a:avLst/>
            </a:prstGeom>
            <a:solidFill>
              <a:srgbClr val="D7D8D6"/>
            </a:solidFill>
            <a:ln>
              <a:noFill/>
            </a:ln>
          </p:spPr>
        </p:sp>
        <p:grpSp>
          <p:nvGrpSpPr>
            <p:cNvPr id="130" name="Group 130"/>
            <p:cNvGrpSpPr/>
            <p:nvPr/>
          </p:nvGrpSpPr>
          <p:grpSpPr>
            <a:xfrm>
              <a:off x="10489406" y="6441281"/>
              <a:ext cx="128588" cy="128588"/>
              <a:chOff x="10489406" y="6441281"/>
              <a:chExt cx="128588" cy="128588"/>
            </a:xfrm>
          </p:grpSpPr>
          <p:sp>
            <p:nvSpPr>
              <p:cNvPr id="127" name="Freeform 127"/>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28" name="Freeform 128"/>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29" name="Freeform 129"/>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31" name="Ellipse 131"/>
            <p:cNvSpPr/>
            <p:nvPr/>
          </p:nvSpPr>
          <p:spPr>
            <a:xfrm>
              <a:off x="10820400" y="6372225"/>
              <a:ext cx="266700" cy="266700"/>
            </a:xfrm>
            <a:prstGeom prst="ellipse">
              <a:avLst/>
            </a:prstGeom>
            <a:solidFill>
              <a:srgbClr val="D7D8D6"/>
            </a:solidFill>
            <a:ln>
              <a:noFill/>
            </a:ln>
          </p:spPr>
        </p:sp>
        <p:sp>
          <p:nvSpPr>
            <p:cNvPr id="132" name="Freeform 132"/>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33" name="TextBox 133"/>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32</a:t>
              </a:r>
            </a:p>
          </p:txBody>
        </p:sp>
      </p:gr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AA1B00"/>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33</a:t>
              </a:r>
            </a:p>
          </p:txBody>
        </p:sp>
        <p:sp>
          <p:nvSpPr>
            <p:cNvPr id="4" name="TextBox 4"/>
            <p:cNvSpPr txBox="1"/>
            <p:nvPr/>
          </p:nvSpPr>
          <p:spPr>
            <a:xfrm>
              <a:off x="942594" y="151448"/>
              <a:ext cx="378577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技术与工具：</a:t>
              </a:r>
              <a:r>
                <a:rPr lang="zh-CN" sz="1950" b="1" dirty="0">
                  <a:solidFill>
                    <a:srgbClr val="AA1B00"/>
                  </a:solidFill>
                  <a:latin typeface="+mj-lt"/>
                  <a:ea typeface="+mj-ea"/>
                  <a:cs typeface="+mj-cs"/>
                </a:rPr>
                <a:t>工具的实践应用</a:t>
              </a:r>
              <a:r>
                <a:rPr lang="zh-CN" sz="1950" b="1" dirty="0">
                  <a:solidFill>
                    <a:srgbClr val="1A1A1A"/>
                  </a:solidFill>
                  <a:latin typeface="+mj-lt"/>
                  <a:ea typeface="+mj-ea"/>
                  <a:cs typeface="+mj-cs"/>
                </a:rPr>
                <a:t>​</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AA1B00"/>
              </a:solidFill>
            </a:ln>
          </p:spPr>
        </p:sp>
      </p:grpSp>
      <p:grpSp>
        <p:nvGrpSpPr>
          <p:cNvPr id="14" name="col-1"/>
          <p:cNvGrpSpPr/>
          <p:nvPr/>
        </p:nvGrpSpPr>
        <p:grpSpPr>
          <a:xfrm>
            <a:off x="566547" y="847249"/>
            <a:ext cx="2358581" cy="3270409"/>
            <a:chOff x="566547" y="847249"/>
            <a:chExt cx="2358581" cy="3270409"/>
          </a:xfrm>
        </p:grpSpPr>
        <p:sp>
          <p:nvSpPr>
            <p:cNvPr id="7" name="TextBox 7"/>
            <p:cNvSpPr txBox="1"/>
            <p:nvPr/>
          </p:nvSpPr>
          <p:spPr>
            <a:xfrm>
              <a:off x="566547" y="847249"/>
              <a:ext cx="1009587"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工具的实践应用​</a:t>
              </a:r>
            </a:p>
          </p:txBody>
        </p:sp>
        <p:sp>
          <p:nvSpPr>
            <p:cNvPr id="8" name="TextBox 8"/>
            <p:cNvSpPr txBox="1"/>
            <p:nvPr/>
          </p:nvSpPr>
          <p:spPr>
            <a:xfrm>
              <a:off x="566738" y="1012984"/>
              <a:ext cx="882066"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Tooling in practice​</a:t>
              </a:r>
            </a:p>
          </p:txBody>
        </p:sp>
        <p:sp>
          <p:nvSpPr>
            <p:cNvPr id="9" name="TextBox 9"/>
            <p:cNvSpPr txBox="1"/>
            <p:nvPr/>
          </p:nvSpPr>
          <p:spPr>
            <a:xfrm>
              <a:off x="566738" y="1169670"/>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尽管多数银行认识到使用模型风险管理工具的​</a:t>
              </a:r>
              <a:br/>
              <a:r>
                <a:rPr lang="zh-CN" sz="900" dirty="0">
                  <a:solidFill>
                    <a:srgbClr val="333333"/>
                  </a:solidFill>
                  <a:latin typeface="+mn-lt"/>
                  <a:ea typeface="+mn-ea"/>
                  <a:cs typeface="+mn-cs"/>
                </a:rPr>
                <a:t>好处，但对各项陈述的回答表明，工具尚未支​</a:t>
              </a:r>
              <a:br/>
              <a:r>
                <a:rPr lang="zh-CN" sz="900" dirty="0">
                  <a:solidFill>
                    <a:srgbClr val="333333"/>
                  </a:solidFill>
                  <a:latin typeface="+mn-lt"/>
                  <a:ea typeface="+mn-ea"/>
                  <a:cs typeface="+mn-cs"/>
                </a:rPr>
                <a:t>撑大多数银行模型风险管理的全部模块。​</a:t>
              </a:r>
            </a:p>
          </p:txBody>
        </p:sp>
        <p:sp>
          <p:nvSpPr>
            <p:cNvPr id="10" name="TextBox 10"/>
            <p:cNvSpPr txBox="1"/>
            <p:nvPr/>
          </p:nvSpPr>
          <p:spPr>
            <a:xfrm>
              <a:off x="566738" y="1817370"/>
              <a:ext cx="2358390" cy="7191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绝大多数银行非常同意或比较同意模型清单存​</a:t>
              </a:r>
              <a:br/>
              <a:r>
                <a:rPr lang="zh-CN" sz="900" dirty="0">
                  <a:solidFill>
                    <a:srgbClr val="333333"/>
                  </a:solidFill>
                  <a:latin typeface="+mn-lt"/>
                  <a:ea typeface="+mn-ea"/>
                  <a:cs typeface="+mn-cs"/>
                </a:rPr>
                <a:t>储并维护了整个模型版图的所有信息于一处。​</a:t>
              </a:r>
              <a:br/>
              <a:r>
                <a:rPr lang="zh-CN" sz="900" dirty="0">
                  <a:solidFill>
                    <a:srgbClr val="333333"/>
                  </a:solidFill>
                  <a:latin typeface="+mn-lt"/>
                  <a:ea typeface="+mn-ea"/>
                  <a:cs typeface="+mn-cs"/>
                </a:rPr>
                <a:t>工具的可访问性和在整个生命周期追踪模型的​</a:t>
              </a:r>
              <a:br/>
              <a:r>
                <a:rPr lang="zh-CN" sz="900" dirty="0">
                  <a:solidFill>
                    <a:srgbClr val="333333"/>
                  </a:solidFill>
                  <a:latin typeface="+mn-lt"/>
                  <a:ea typeface="+mn-ea"/>
                  <a:cs typeface="+mn-cs"/>
                </a:rPr>
                <a:t>功能也得到类似评价。​</a:t>
              </a:r>
            </a:p>
          </p:txBody>
        </p:sp>
        <p:sp>
          <p:nvSpPr>
            <p:cNvPr id="11" name="TextBox 11"/>
            <p:cNvSpPr txBox="1"/>
            <p:nvPr/>
          </p:nvSpPr>
          <p:spPr>
            <a:xfrm>
              <a:off x="566738" y="2646045"/>
              <a:ext cx="23583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然而，用户专属视图、所有模型及模型风险管​</a:t>
              </a:r>
              <a:br/>
              <a:r>
                <a:rPr lang="zh-CN" sz="900" dirty="0">
                  <a:solidFill>
                    <a:srgbClr val="333333"/>
                  </a:solidFill>
                  <a:latin typeface="+mn-lt"/>
                  <a:ea typeface="+mn-ea"/>
                  <a:cs typeface="+mn-cs"/>
                </a:rPr>
                <a:t>理相关文档的存储，尤其是报告与分析组件，​</a:t>
              </a:r>
              <a:br/>
              <a:r>
                <a:rPr lang="zh-CN" sz="900" dirty="0">
                  <a:solidFill>
                    <a:srgbClr val="333333"/>
                  </a:solidFill>
                  <a:latin typeface="+mn-lt"/>
                  <a:ea typeface="+mn-ea"/>
                  <a:cs typeface="+mn-cs"/>
                </a:rPr>
                <a:t>在多数银行中往往缺失。​</a:t>
              </a:r>
            </a:p>
          </p:txBody>
        </p:sp>
        <p:sp>
          <p:nvSpPr>
            <p:cNvPr id="12" name="TextBox 12"/>
            <p:cNvSpPr txBox="1"/>
            <p:nvPr/>
          </p:nvSpPr>
          <p:spPr>
            <a:xfrm>
              <a:off x="566738" y="3293745"/>
              <a:ext cx="23583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几乎没有银行使用工具分析项目时间线与资源​</a:t>
              </a:r>
              <a:br/>
              <a:r>
                <a:rPr lang="zh-CN" sz="900" dirty="0">
                  <a:solidFill>
                    <a:srgbClr val="333333"/>
                  </a:solidFill>
                  <a:latin typeface="+mn-lt"/>
                  <a:ea typeface="+mn-ea"/>
                  <a:cs typeface="+mn-cs"/>
                </a:rPr>
                <a:t>可用性，例如用于模型开发和模型验证。​</a:t>
              </a:r>
            </a:p>
          </p:txBody>
        </p:sp>
        <p:sp>
          <p:nvSpPr>
            <p:cNvPr id="13" name="TextBox 13"/>
            <p:cNvSpPr txBox="1"/>
            <p:nvPr/>
          </p:nvSpPr>
          <p:spPr>
            <a:xfrm>
              <a:off x="566738" y="3760470"/>
              <a:ext cx="235839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这说明模型风险管理工具的改进潜力巨大，可​</a:t>
              </a:r>
              <a:br/>
              <a:r>
                <a:rPr lang="zh-CN" sz="900" dirty="0">
                  <a:solidFill>
                    <a:srgbClr val="333333"/>
                  </a:solidFill>
                  <a:latin typeface="+mn-lt"/>
                  <a:ea typeface="+mn-ea"/>
                  <a:cs typeface="+mn-cs"/>
                </a:rPr>
                <a:t>以帮助更有效地利用所有模型的可用信息。​</a:t>
              </a:r>
            </a:p>
          </p:txBody>
        </p:sp>
      </p:grpSp>
      <p:grpSp>
        <p:nvGrpSpPr>
          <p:cNvPr id="136" name="figure-40"/>
          <p:cNvGrpSpPr/>
          <p:nvPr/>
        </p:nvGrpSpPr>
        <p:grpSpPr>
          <a:xfrm>
            <a:off x="3443288" y="863441"/>
            <a:ext cx="6093201" cy="5118497"/>
            <a:chOff x="3443288" y="863441"/>
            <a:chExt cx="6093201" cy="5118497"/>
          </a:xfrm>
        </p:grpSpPr>
        <p:sp>
          <p:nvSpPr>
            <p:cNvPr id="15" name="TextBox 15"/>
            <p:cNvSpPr txBox="1"/>
            <p:nvPr/>
          </p:nvSpPr>
          <p:spPr>
            <a:xfrm>
              <a:off x="3443288" y="863441"/>
              <a:ext cx="2350035"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图40. 对模型风险管理工具相关陈述的认同度​​</a:t>
              </a:r>
            </a:p>
          </p:txBody>
        </p:sp>
        <p:sp>
          <p:nvSpPr>
            <p:cNvPr id="16" name="TextBox 16"/>
            <p:cNvSpPr txBox="1"/>
            <p:nvPr/>
          </p:nvSpPr>
          <p:spPr>
            <a:xfrm>
              <a:off x="3443288" y="1007507"/>
              <a:ext cx="3178725"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Agreement with statements regarding the model risk management tooling​​</a:t>
              </a:r>
            </a:p>
          </p:txBody>
        </p:sp>
        <p:sp>
          <p:nvSpPr>
            <p:cNvPr id="17" name="TextBox 17"/>
            <p:cNvSpPr txBox="1"/>
            <p:nvPr/>
          </p:nvSpPr>
          <p:spPr>
            <a:xfrm>
              <a:off x="4757738" y="1278255"/>
              <a:ext cx="1000125" cy="209550"/>
            </a:xfrm>
            <a:prstGeom prst="rect">
              <a:avLst/>
            </a:prstGeom>
            <a:noFill/>
            <a:ln>
              <a:noFill/>
            </a:ln>
          </p:spPr>
          <p:txBody>
            <a:bodyPr wrap="none" lIns="0" tIns="0" rIns="0" bIns="0" anchor="t" anchorCtr="0">
              <a:spAutoFit/>
            </a:bodyPr>
            <a:lstStyle/>
            <a:p>
              <a:pPr algn="r">
                <a:lnSpc>
                  <a:spcPts val="712"/>
                </a:lnSpc>
              </a:pPr>
              <a:r>
                <a:rPr lang="zh-CN" sz="600" dirty="0">
                  <a:solidFill>
                    <a:srgbClr val="333333"/>
                  </a:solidFill>
                  <a:latin typeface="+mn-lt"/>
                  <a:ea typeface="+mn-ea"/>
                  <a:cs typeface="+mn-cs"/>
                </a:rPr>
                <a:t>模型清单存储并维护整个模型</a:t>
              </a:r>
              <a:br/>
              <a:r>
                <a:rPr lang="zh-CN" sz="600" dirty="0">
                  <a:solidFill>
                    <a:srgbClr val="333333"/>
                  </a:solidFill>
                  <a:latin typeface="+mn-lt"/>
                  <a:ea typeface="+mn-ea"/>
                  <a:cs typeface="+mn-cs"/>
                </a:rPr>
                <a:t>版图的所有信息于一处</a:t>
              </a:r>
            </a:p>
          </p:txBody>
        </p:sp>
        <p:sp>
          <p:nvSpPr>
            <p:cNvPr id="18" name="Rectangle 18"/>
            <p:cNvSpPr/>
            <p:nvPr/>
          </p:nvSpPr>
          <p:spPr>
            <a:xfrm>
              <a:off x="5829300" y="1257300"/>
              <a:ext cx="1520190" cy="209550"/>
            </a:xfrm>
            <a:prstGeom prst="rect">
              <a:avLst/>
            </a:prstGeom>
            <a:solidFill>
              <a:srgbClr val="D8482E"/>
            </a:solidFill>
            <a:ln>
              <a:noFill/>
            </a:ln>
          </p:spPr>
        </p:sp>
        <p:sp>
          <p:nvSpPr>
            <p:cNvPr id="19" name="TextBox 19"/>
            <p:cNvSpPr txBox="1"/>
            <p:nvPr/>
          </p:nvSpPr>
          <p:spPr>
            <a:xfrm>
              <a:off x="6487706" y="13592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42%​</a:t>
              </a:r>
            </a:p>
          </p:txBody>
        </p:sp>
        <p:sp>
          <p:nvSpPr>
            <p:cNvPr id="20" name="Rectangle 20"/>
            <p:cNvSpPr/>
            <p:nvPr/>
          </p:nvSpPr>
          <p:spPr>
            <a:xfrm>
              <a:off x="7349490" y="1257300"/>
              <a:ext cx="1483995" cy="209550"/>
            </a:xfrm>
            <a:prstGeom prst="rect">
              <a:avLst/>
            </a:prstGeom>
            <a:solidFill>
              <a:srgbClr val="C35642"/>
            </a:solidFill>
            <a:ln>
              <a:noFill/>
            </a:ln>
          </p:spPr>
        </p:sp>
        <p:sp>
          <p:nvSpPr>
            <p:cNvPr id="21" name="TextBox 21"/>
            <p:cNvSpPr txBox="1"/>
            <p:nvPr/>
          </p:nvSpPr>
          <p:spPr>
            <a:xfrm>
              <a:off x="7989799" y="13592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41%​</a:t>
              </a:r>
            </a:p>
          </p:txBody>
        </p:sp>
        <p:sp>
          <p:nvSpPr>
            <p:cNvPr id="22" name="Rectangle 22"/>
            <p:cNvSpPr/>
            <p:nvPr/>
          </p:nvSpPr>
          <p:spPr>
            <a:xfrm>
              <a:off x="8833485" y="1257300"/>
              <a:ext cx="361950" cy="209550"/>
            </a:xfrm>
            <a:prstGeom prst="rect">
              <a:avLst/>
            </a:prstGeom>
            <a:solidFill>
              <a:srgbClr val="AA1B00"/>
            </a:solidFill>
            <a:ln>
              <a:noFill/>
            </a:ln>
          </p:spPr>
        </p:sp>
        <p:sp>
          <p:nvSpPr>
            <p:cNvPr id="23" name="TextBox 23"/>
            <p:cNvSpPr txBox="1"/>
            <p:nvPr/>
          </p:nvSpPr>
          <p:spPr>
            <a:xfrm>
              <a:off x="8912771" y="13592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10%​</a:t>
              </a:r>
            </a:p>
          </p:txBody>
        </p:sp>
        <p:sp>
          <p:nvSpPr>
            <p:cNvPr id="24" name="Rectangle 24"/>
            <p:cNvSpPr/>
            <p:nvPr/>
          </p:nvSpPr>
          <p:spPr>
            <a:xfrm>
              <a:off x="9195435" y="1257300"/>
              <a:ext cx="36195" cy="209550"/>
            </a:xfrm>
            <a:prstGeom prst="rect">
              <a:avLst/>
            </a:prstGeom>
            <a:solidFill>
              <a:srgbClr val="6B1100"/>
            </a:solidFill>
            <a:ln>
              <a:noFill/>
            </a:ln>
          </p:spPr>
        </p:sp>
        <p:sp>
          <p:nvSpPr>
            <p:cNvPr id="25" name="Rectangle 25"/>
            <p:cNvSpPr/>
            <p:nvPr/>
          </p:nvSpPr>
          <p:spPr>
            <a:xfrm>
              <a:off x="9231630" y="1257300"/>
              <a:ext cx="217170" cy="209550"/>
            </a:xfrm>
            <a:prstGeom prst="rect">
              <a:avLst/>
            </a:prstGeom>
            <a:solidFill>
              <a:srgbClr val="4A150B"/>
            </a:solidFill>
            <a:ln>
              <a:noFill/>
            </a:ln>
          </p:spPr>
        </p:sp>
        <p:sp>
          <p:nvSpPr>
            <p:cNvPr id="26" name="TextBox 26"/>
            <p:cNvSpPr txBox="1"/>
            <p:nvPr/>
          </p:nvSpPr>
          <p:spPr>
            <a:xfrm>
              <a:off x="9260738" y="1359218"/>
              <a:ext cx="158953" cy="119062"/>
            </a:xfrm>
            <a:prstGeom prst="rect">
              <a:avLst/>
            </a:prstGeom>
            <a:noFill/>
            <a:ln>
              <a:noFill/>
            </a:ln>
          </p:spPr>
          <p:txBody>
            <a:bodyPr wrap="none" lIns="0" tIns="0" rIns="0" bIns="0" anchor="t" anchorCtr="0">
              <a:spAutoFit/>
            </a:bodyPr>
            <a:lstStyle/>
            <a:p>
              <a:pPr algn="ctr"/>
              <a:r>
                <a:rPr lang="zh-CN" sz="600" dirty="0">
                  <a:solidFill>
                    <a:srgbClr val="1A1A1A"/>
                  </a:solidFill>
                  <a:latin typeface="+mn-lt"/>
                  <a:ea typeface="+mn-ea"/>
                  <a:cs typeface="+mn-cs"/>
                </a:rPr>
                <a:t>6%​</a:t>
              </a:r>
            </a:p>
          </p:txBody>
        </p:sp>
        <p:sp>
          <p:nvSpPr>
            <p:cNvPr id="27" name="TextBox 27"/>
            <p:cNvSpPr txBox="1"/>
            <p:nvPr/>
          </p:nvSpPr>
          <p:spPr>
            <a:xfrm>
              <a:off x="4910138" y="1792605"/>
              <a:ext cx="847725" cy="209550"/>
            </a:xfrm>
            <a:prstGeom prst="rect">
              <a:avLst/>
            </a:prstGeom>
            <a:noFill/>
            <a:ln>
              <a:noFill/>
            </a:ln>
          </p:spPr>
          <p:txBody>
            <a:bodyPr wrap="none" lIns="0" tIns="0" rIns="0" bIns="0" anchor="t" anchorCtr="0">
              <a:spAutoFit/>
            </a:bodyPr>
            <a:lstStyle/>
            <a:p>
              <a:pPr algn="r">
                <a:lnSpc>
                  <a:spcPts val="712"/>
                </a:lnSpc>
              </a:pPr>
              <a:r>
                <a:rPr lang="zh-CN" sz="600" dirty="0">
                  <a:solidFill>
                    <a:srgbClr val="333333"/>
                  </a:solidFill>
                  <a:latin typeface="+mn-lt"/>
                  <a:ea typeface="+mn-ea"/>
                  <a:cs typeface="+mn-cs"/>
                </a:rPr>
                <a:t>模型风险工具对所有使用</a:t>
              </a:r>
              <a:br/>
              <a:r>
                <a:rPr lang="zh-CN" sz="600" dirty="0">
                  <a:solidFill>
                    <a:srgbClr val="333333"/>
                  </a:solidFill>
                  <a:latin typeface="+mn-lt"/>
                  <a:ea typeface="+mn-ea"/>
                  <a:cs typeface="+mn-cs"/>
                </a:rPr>
                <a:t>模型的人员开放可访问</a:t>
              </a:r>
            </a:p>
          </p:txBody>
        </p:sp>
        <p:sp>
          <p:nvSpPr>
            <p:cNvPr id="28" name="Rectangle 28"/>
            <p:cNvSpPr/>
            <p:nvPr/>
          </p:nvSpPr>
          <p:spPr>
            <a:xfrm>
              <a:off x="5829300" y="1771650"/>
              <a:ext cx="1483995" cy="209550"/>
            </a:xfrm>
            <a:prstGeom prst="rect">
              <a:avLst/>
            </a:prstGeom>
            <a:solidFill>
              <a:srgbClr val="D8482E"/>
            </a:solidFill>
            <a:ln>
              <a:noFill/>
            </a:ln>
          </p:spPr>
        </p:sp>
        <p:sp>
          <p:nvSpPr>
            <p:cNvPr id="29" name="TextBox 29"/>
            <p:cNvSpPr txBox="1"/>
            <p:nvPr/>
          </p:nvSpPr>
          <p:spPr>
            <a:xfrm>
              <a:off x="6469609" y="18735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41%​</a:t>
              </a:r>
            </a:p>
          </p:txBody>
        </p:sp>
        <p:sp>
          <p:nvSpPr>
            <p:cNvPr id="30" name="Rectangle 30"/>
            <p:cNvSpPr/>
            <p:nvPr/>
          </p:nvSpPr>
          <p:spPr>
            <a:xfrm>
              <a:off x="7313295" y="1771650"/>
              <a:ext cx="1049655" cy="209550"/>
            </a:xfrm>
            <a:prstGeom prst="rect">
              <a:avLst/>
            </a:prstGeom>
            <a:solidFill>
              <a:srgbClr val="C35642"/>
            </a:solidFill>
            <a:ln>
              <a:noFill/>
            </a:ln>
          </p:spPr>
        </p:sp>
        <p:sp>
          <p:nvSpPr>
            <p:cNvPr id="31" name="TextBox 31"/>
            <p:cNvSpPr txBox="1"/>
            <p:nvPr/>
          </p:nvSpPr>
          <p:spPr>
            <a:xfrm>
              <a:off x="7736434" y="18735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29%​</a:t>
              </a:r>
            </a:p>
          </p:txBody>
        </p:sp>
        <p:sp>
          <p:nvSpPr>
            <p:cNvPr id="32" name="Rectangle 32"/>
            <p:cNvSpPr/>
            <p:nvPr/>
          </p:nvSpPr>
          <p:spPr>
            <a:xfrm>
              <a:off x="8362950" y="1771650"/>
              <a:ext cx="434340" cy="209550"/>
            </a:xfrm>
            <a:prstGeom prst="rect">
              <a:avLst/>
            </a:prstGeom>
            <a:solidFill>
              <a:srgbClr val="AA1B00"/>
            </a:solidFill>
            <a:ln>
              <a:noFill/>
            </a:ln>
          </p:spPr>
        </p:sp>
        <p:sp>
          <p:nvSpPr>
            <p:cNvPr id="33" name="TextBox 33"/>
            <p:cNvSpPr txBox="1"/>
            <p:nvPr/>
          </p:nvSpPr>
          <p:spPr>
            <a:xfrm>
              <a:off x="8478431" y="18735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12%​</a:t>
              </a:r>
            </a:p>
          </p:txBody>
        </p:sp>
        <p:sp>
          <p:nvSpPr>
            <p:cNvPr id="34" name="Rectangle 34"/>
            <p:cNvSpPr/>
            <p:nvPr/>
          </p:nvSpPr>
          <p:spPr>
            <a:xfrm>
              <a:off x="8797290" y="1771650"/>
              <a:ext cx="325755" cy="209550"/>
            </a:xfrm>
            <a:prstGeom prst="rect">
              <a:avLst/>
            </a:prstGeom>
            <a:solidFill>
              <a:srgbClr val="6B1100"/>
            </a:solidFill>
            <a:ln>
              <a:noFill/>
            </a:ln>
          </p:spPr>
        </p:sp>
        <p:sp>
          <p:nvSpPr>
            <p:cNvPr id="35" name="TextBox 35"/>
            <p:cNvSpPr txBox="1"/>
            <p:nvPr/>
          </p:nvSpPr>
          <p:spPr>
            <a:xfrm>
              <a:off x="8880691" y="1873568"/>
              <a:ext cx="15895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9%​</a:t>
              </a:r>
            </a:p>
          </p:txBody>
        </p:sp>
        <p:sp>
          <p:nvSpPr>
            <p:cNvPr id="36" name="Rectangle 36"/>
            <p:cNvSpPr/>
            <p:nvPr/>
          </p:nvSpPr>
          <p:spPr>
            <a:xfrm>
              <a:off x="9123045" y="1771650"/>
              <a:ext cx="325755" cy="209550"/>
            </a:xfrm>
            <a:prstGeom prst="rect">
              <a:avLst/>
            </a:prstGeom>
            <a:solidFill>
              <a:srgbClr val="4A150B"/>
            </a:solidFill>
            <a:ln>
              <a:noFill/>
            </a:ln>
          </p:spPr>
        </p:sp>
        <p:sp>
          <p:nvSpPr>
            <p:cNvPr id="37" name="TextBox 37"/>
            <p:cNvSpPr txBox="1"/>
            <p:nvPr/>
          </p:nvSpPr>
          <p:spPr>
            <a:xfrm>
              <a:off x="9206446" y="1873568"/>
              <a:ext cx="158953" cy="119062"/>
            </a:xfrm>
            <a:prstGeom prst="rect">
              <a:avLst/>
            </a:prstGeom>
            <a:noFill/>
            <a:ln>
              <a:noFill/>
            </a:ln>
          </p:spPr>
          <p:txBody>
            <a:bodyPr wrap="none" lIns="0" tIns="0" rIns="0" bIns="0" anchor="t" anchorCtr="0">
              <a:spAutoFit/>
            </a:bodyPr>
            <a:lstStyle/>
            <a:p>
              <a:pPr algn="ctr"/>
              <a:r>
                <a:rPr lang="zh-CN" sz="600" dirty="0">
                  <a:solidFill>
                    <a:srgbClr val="1A1A1A"/>
                  </a:solidFill>
                  <a:latin typeface="+mn-lt"/>
                  <a:ea typeface="+mn-ea"/>
                  <a:cs typeface="+mn-cs"/>
                </a:rPr>
                <a:t>9%​</a:t>
              </a:r>
            </a:p>
          </p:txBody>
        </p:sp>
        <p:sp>
          <p:nvSpPr>
            <p:cNvPr id="38" name="TextBox 38"/>
            <p:cNvSpPr txBox="1"/>
            <p:nvPr/>
          </p:nvSpPr>
          <p:spPr>
            <a:xfrm>
              <a:off x="4605338" y="2306955"/>
              <a:ext cx="1152525" cy="209550"/>
            </a:xfrm>
            <a:prstGeom prst="rect">
              <a:avLst/>
            </a:prstGeom>
            <a:noFill/>
            <a:ln>
              <a:noFill/>
            </a:ln>
          </p:spPr>
          <p:txBody>
            <a:bodyPr wrap="none" lIns="0" tIns="0" rIns="0" bIns="0" anchor="t" anchorCtr="0">
              <a:spAutoFit/>
            </a:bodyPr>
            <a:lstStyle/>
            <a:p>
              <a:pPr algn="r">
                <a:lnSpc>
                  <a:spcPts val="712"/>
                </a:lnSpc>
              </a:pPr>
              <a:r>
                <a:rPr lang="zh-CN" sz="600" dirty="0">
                  <a:solidFill>
                    <a:srgbClr val="333333"/>
                  </a:solidFill>
                  <a:latin typeface="+mn-lt"/>
                  <a:ea typeface="+mn-ea"/>
                  <a:cs typeface="+mn-cs"/>
                </a:rPr>
                <a:t>生命周期管理功能在整个生命周期</a:t>
              </a:r>
              <a:br/>
              <a:r>
                <a:rPr lang="zh-CN" sz="600" dirty="0">
                  <a:solidFill>
                    <a:srgbClr val="333333"/>
                  </a:solidFill>
                  <a:latin typeface="+mn-lt"/>
                  <a:ea typeface="+mn-ea"/>
                  <a:cs typeface="+mn-cs"/>
                </a:rPr>
                <a:t>（从启动到退役）追踪每个模型</a:t>
              </a:r>
            </a:p>
          </p:txBody>
        </p:sp>
        <p:sp>
          <p:nvSpPr>
            <p:cNvPr id="39" name="Rectangle 39"/>
            <p:cNvSpPr/>
            <p:nvPr/>
          </p:nvSpPr>
          <p:spPr>
            <a:xfrm>
              <a:off x="5829300" y="2286000"/>
              <a:ext cx="1411605" cy="209550"/>
            </a:xfrm>
            <a:prstGeom prst="rect">
              <a:avLst/>
            </a:prstGeom>
            <a:solidFill>
              <a:srgbClr val="D8482E"/>
            </a:solidFill>
            <a:ln>
              <a:noFill/>
            </a:ln>
          </p:spPr>
        </p:sp>
        <p:sp>
          <p:nvSpPr>
            <p:cNvPr id="40" name="TextBox 40"/>
            <p:cNvSpPr txBox="1"/>
            <p:nvPr/>
          </p:nvSpPr>
          <p:spPr>
            <a:xfrm>
              <a:off x="6433414" y="23879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39%​</a:t>
              </a:r>
            </a:p>
          </p:txBody>
        </p:sp>
        <p:sp>
          <p:nvSpPr>
            <p:cNvPr id="41" name="Rectangle 41"/>
            <p:cNvSpPr/>
            <p:nvPr/>
          </p:nvSpPr>
          <p:spPr>
            <a:xfrm>
              <a:off x="7240905" y="2286000"/>
              <a:ext cx="941070" cy="209550"/>
            </a:xfrm>
            <a:prstGeom prst="rect">
              <a:avLst/>
            </a:prstGeom>
            <a:solidFill>
              <a:srgbClr val="C35642"/>
            </a:solidFill>
            <a:ln>
              <a:noFill/>
            </a:ln>
          </p:spPr>
        </p:sp>
        <p:sp>
          <p:nvSpPr>
            <p:cNvPr id="42" name="TextBox 42"/>
            <p:cNvSpPr txBox="1"/>
            <p:nvPr/>
          </p:nvSpPr>
          <p:spPr>
            <a:xfrm>
              <a:off x="7609751" y="23879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26%​</a:t>
              </a:r>
            </a:p>
          </p:txBody>
        </p:sp>
        <p:sp>
          <p:nvSpPr>
            <p:cNvPr id="43" name="Rectangle 43"/>
            <p:cNvSpPr/>
            <p:nvPr/>
          </p:nvSpPr>
          <p:spPr>
            <a:xfrm>
              <a:off x="8181975" y="2286000"/>
              <a:ext cx="615315" cy="209550"/>
            </a:xfrm>
            <a:prstGeom prst="rect">
              <a:avLst/>
            </a:prstGeom>
            <a:solidFill>
              <a:srgbClr val="AA1B00"/>
            </a:solidFill>
            <a:ln>
              <a:noFill/>
            </a:ln>
          </p:spPr>
        </p:sp>
        <p:sp>
          <p:nvSpPr>
            <p:cNvPr id="44" name="TextBox 44"/>
            <p:cNvSpPr txBox="1"/>
            <p:nvPr/>
          </p:nvSpPr>
          <p:spPr>
            <a:xfrm>
              <a:off x="8387944" y="23879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17%​</a:t>
              </a:r>
            </a:p>
          </p:txBody>
        </p:sp>
        <p:sp>
          <p:nvSpPr>
            <p:cNvPr id="45" name="Rectangle 45"/>
            <p:cNvSpPr/>
            <p:nvPr/>
          </p:nvSpPr>
          <p:spPr>
            <a:xfrm>
              <a:off x="8797290" y="2286000"/>
              <a:ext cx="217170" cy="209550"/>
            </a:xfrm>
            <a:prstGeom prst="rect">
              <a:avLst/>
            </a:prstGeom>
            <a:solidFill>
              <a:srgbClr val="6B1100"/>
            </a:solidFill>
            <a:ln>
              <a:noFill/>
            </a:ln>
          </p:spPr>
        </p:sp>
        <p:sp>
          <p:nvSpPr>
            <p:cNvPr id="46" name="TextBox 46"/>
            <p:cNvSpPr txBox="1"/>
            <p:nvPr/>
          </p:nvSpPr>
          <p:spPr>
            <a:xfrm>
              <a:off x="8826398" y="2387918"/>
              <a:ext cx="15895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6%​</a:t>
              </a:r>
            </a:p>
          </p:txBody>
        </p:sp>
        <p:sp>
          <p:nvSpPr>
            <p:cNvPr id="47" name="Rectangle 47"/>
            <p:cNvSpPr/>
            <p:nvPr/>
          </p:nvSpPr>
          <p:spPr>
            <a:xfrm>
              <a:off x="9014460" y="2286000"/>
              <a:ext cx="434340" cy="209550"/>
            </a:xfrm>
            <a:prstGeom prst="rect">
              <a:avLst/>
            </a:prstGeom>
            <a:solidFill>
              <a:srgbClr val="4A150B"/>
            </a:solidFill>
            <a:ln>
              <a:noFill/>
            </a:ln>
          </p:spPr>
        </p:sp>
        <p:sp>
          <p:nvSpPr>
            <p:cNvPr id="48" name="TextBox 48"/>
            <p:cNvSpPr txBox="1"/>
            <p:nvPr/>
          </p:nvSpPr>
          <p:spPr>
            <a:xfrm>
              <a:off x="9129941" y="2387918"/>
              <a:ext cx="203378" cy="119062"/>
            </a:xfrm>
            <a:prstGeom prst="rect">
              <a:avLst/>
            </a:prstGeom>
            <a:noFill/>
            <a:ln>
              <a:noFill/>
            </a:ln>
          </p:spPr>
          <p:txBody>
            <a:bodyPr wrap="none" lIns="0" tIns="0" rIns="0" bIns="0" anchor="t" anchorCtr="0">
              <a:spAutoFit/>
            </a:bodyPr>
            <a:lstStyle/>
            <a:p>
              <a:pPr algn="ctr"/>
              <a:r>
                <a:rPr lang="zh-CN" sz="600" dirty="0">
                  <a:solidFill>
                    <a:srgbClr val="1A1A1A"/>
                  </a:solidFill>
                  <a:latin typeface="+mn-lt"/>
                  <a:ea typeface="+mn-ea"/>
                  <a:cs typeface="+mn-cs"/>
                </a:rPr>
                <a:t>12%​</a:t>
              </a:r>
            </a:p>
          </p:txBody>
        </p:sp>
        <p:sp>
          <p:nvSpPr>
            <p:cNvPr id="49" name="TextBox 49"/>
            <p:cNvSpPr txBox="1"/>
            <p:nvPr/>
          </p:nvSpPr>
          <p:spPr>
            <a:xfrm>
              <a:off x="4605338" y="2821305"/>
              <a:ext cx="1152525" cy="209550"/>
            </a:xfrm>
            <a:prstGeom prst="rect">
              <a:avLst/>
            </a:prstGeom>
            <a:noFill/>
            <a:ln>
              <a:noFill/>
            </a:ln>
          </p:spPr>
          <p:txBody>
            <a:bodyPr wrap="none" lIns="0" tIns="0" rIns="0" bIns="0" anchor="t" anchorCtr="0">
              <a:spAutoFit/>
            </a:bodyPr>
            <a:lstStyle/>
            <a:p>
              <a:pPr algn="r">
                <a:lnSpc>
                  <a:spcPts val="712"/>
                </a:lnSpc>
              </a:pPr>
              <a:r>
                <a:rPr lang="zh-CN" sz="600" dirty="0">
                  <a:solidFill>
                    <a:srgbClr val="333333"/>
                  </a:solidFill>
                  <a:latin typeface="+mn-lt"/>
                  <a:ea typeface="+mn-ea"/>
                  <a:cs typeface="+mn-cs"/>
                </a:rPr>
                <a:t>生命周期管理功能为每个阶段定义</a:t>
              </a:r>
              <a:br/>
              <a:r>
                <a:rPr lang="zh-CN" sz="600" dirty="0">
                  <a:solidFill>
                    <a:srgbClr val="333333"/>
                  </a:solidFill>
                  <a:latin typeface="+mn-lt"/>
                  <a:ea typeface="+mn-ea"/>
                  <a:cs typeface="+mn-cs"/>
                </a:rPr>
                <a:t>了活动及明确分配的角色与职责</a:t>
              </a:r>
            </a:p>
          </p:txBody>
        </p:sp>
        <p:sp>
          <p:nvSpPr>
            <p:cNvPr id="50" name="Rectangle 50"/>
            <p:cNvSpPr/>
            <p:nvPr/>
          </p:nvSpPr>
          <p:spPr>
            <a:xfrm>
              <a:off x="5829300" y="2800350"/>
              <a:ext cx="1013460" cy="209550"/>
            </a:xfrm>
            <a:prstGeom prst="rect">
              <a:avLst/>
            </a:prstGeom>
            <a:solidFill>
              <a:srgbClr val="D8482E"/>
            </a:solidFill>
            <a:ln>
              <a:noFill/>
            </a:ln>
          </p:spPr>
        </p:sp>
        <p:sp>
          <p:nvSpPr>
            <p:cNvPr id="51" name="TextBox 51"/>
            <p:cNvSpPr txBox="1"/>
            <p:nvPr/>
          </p:nvSpPr>
          <p:spPr>
            <a:xfrm>
              <a:off x="6234341" y="29022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28%​</a:t>
              </a:r>
            </a:p>
          </p:txBody>
        </p:sp>
        <p:sp>
          <p:nvSpPr>
            <p:cNvPr id="52" name="Rectangle 52"/>
            <p:cNvSpPr/>
            <p:nvPr/>
          </p:nvSpPr>
          <p:spPr>
            <a:xfrm>
              <a:off x="6842760" y="2800350"/>
              <a:ext cx="1049655" cy="209550"/>
            </a:xfrm>
            <a:prstGeom prst="rect">
              <a:avLst/>
            </a:prstGeom>
            <a:solidFill>
              <a:srgbClr val="C35642"/>
            </a:solidFill>
            <a:ln>
              <a:noFill/>
            </a:ln>
          </p:spPr>
        </p:sp>
        <p:sp>
          <p:nvSpPr>
            <p:cNvPr id="53" name="TextBox 53"/>
            <p:cNvSpPr txBox="1"/>
            <p:nvPr/>
          </p:nvSpPr>
          <p:spPr>
            <a:xfrm>
              <a:off x="7265899" y="29022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29%​</a:t>
              </a:r>
            </a:p>
          </p:txBody>
        </p:sp>
        <p:sp>
          <p:nvSpPr>
            <p:cNvPr id="54" name="Rectangle 54"/>
            <p:cNvSpPr/>
            <p:nvPr/>
          </p:nvSpPr>
          <p:spPr>
            <a:xfrm>
              <a:off x="7892415" y="2800350"/>
              <a:ext cx="796290" cy="209550"/>
            </a:xfrm>
            <a:prstGeom prst="rect">
              <a:avLst/>
            </a:prstGeom>
            <a:solidFill>
              <a:srgbClr val="AA1B00"/>
            </a:solidFill>
            <a:ln>
              <a:noFill/>
            </a:ln>
          </p:spPr>
        </p:sp>
        <p:sp>
          <p:nvSpPr>
            <p:cNvPr id="55" name="TextBox 55"/>
            <p:cNvSpPr txBox="1"/>
            <p:nvPr/>
          </p:nvSpPr>
          <p:spPr>
            <a:xfrm>
              <a:off x="8188871" y="29022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22%​</a:t>
              </a:r>
            </a:p>
          </p:txBody>
        </p:sp>
        <p:sp>
          <p:nvSpPr>
            <p:cNvPr id="56" name="Rectangle 56"/>
            <p:cNvSpPr/>
            <p:nvPr/>
          </p:nvSpPr>
          <p:spPr>
            <a:xfrm>
              <a:off x="8688705" y="2800350"/>
              <a:ext cx="325755" cy="209550"/>
            </a:xfrm>
            <a:prstGeom prst="rect">
              <a:avLst/>
            </a:prstGeom>
            <a:solidFill>
              <a:srgbClr val="6B1100"/>
            </a:solidFill>
            <a:ln>
              <a:noFill/>
            </a:ln>
          </p:spPr>
        </p:sp>
        <p:sp>
          <p:nvSpPr>
            <p:cNvPr id="57" name="TextBox 57"/>
            <p:cNvSpPr txBox="1"/>
            <p:nvPr/>
          </p:nvSpPr>
          <p:spPr>
            <a:xfrm>
              <a:off x="8772106" y="2902268"/>
              <a:ext cx="15895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9%​</a:t>
              </a:r>
            </a:p>
          </p:txBody>
        </p:sp>
        <p:sp>
          <p:nvSpPr>
            <p:cNvPr id="58" name="Rectangle 58"/>
            <p:cNvSpPr/>
            <p:nvPr/>
          </p:nvSpPr>
          <p:spPr>
            <a:xfrm>
              <a:off x="9014460" y="2800350"/>
              <a:ext cx="434340" cy="209550"/>
            </a:xfrm>
            <a:prstGeom prst="rect">
              <a:avLst/>
            </a:prstGeom>
            <a:solidFill>
              <a:srgbClr val="4A150B"/>
            </a:solidFill>
            <a:ln>
              <a:noFill/>
            </a:ln>
          </p:spPr>
        </p:sp>
        <p:sp>
          <p:nvSpPr>
            <p:cNvPr id="59" name="TextBox 59"/>
            <p:cNvSpPr txBox="1"/>
            <p:nvPr/>
          </p:nvSpPr>
          <p:spPr>
            <a:xfrm>
              <a:off x="9129941" y="2902268"/>
              <a:ext cx="203378" cy="119062"/>
            </a:xfrm>
            <a:prstGeom prst="rect">
              <a:avLst/>
            </a:prstGeom>
            <a:noFill/>
            <a:ln>
              <a:noFill/>
            </a:ln>
          </p:spPr>
          <p:txBody>
            <a:bodyPr wrap="none" lIns="0" tIns="0" rIns="0" bIns="0" anchor="t" anchorCtr="0">
              <a:spAutoFit/>
            </a:bodyPr>
            <a:lstStyle/>
            <a:p>
              <a:pPr algn="ctr"/>
              <a:r>
                <a:rPr lang="zh-CN" sz="600" dirty="0">
                  <a:solidFill>
                    <a:srgbClr val="1A1A1A"/>
                  </a:solidFill>
                  <a:latin typeface="+mn-lt"/>
                  <a:ea typeface="+mn-ea"/>
                  <a:cs typeface="+mn-cs"/>
                </a:rPr>
                <a:t>12%​</a:t>
              </a:r>
            </a:p>
          </p:txBody>
        </p:sp>
        <p:sp>
          <p:nvSpPr>
            <p:cNvPr id="60" name="TextBox 60"/>
            <p:cNvSpPr txBox="1"/>
            <p:nvPr/>
          </p:nvSpPr>
          <p:spPr>
            <a:xfrm>
              <a:off x="4605338" y="3335655"/>
              <a:ext cx="1152525" cy="209550"/>
            </a:xfrm>
            <a:prstGeom prst="rect">
              <a:avLst/>
            </a:prstGeom>
            <a:noFill/>
            <a:ln>
              <a:noFill/>
            </a:ln>
          </p:spPr>
          <p:txBody>
            <a:bodyPr wrap="none" lIns="0" tIns="0" rIns="0" bIns="0" anchor="t" anchorCtr="0">
              <a:spAutoFit/>
            </a:bodyPr>
            <a:lstStyle/>
            <a:p>
              <a:pPr algn="r">
                <a:lnSpc>
                  <a:spcPts val="712"/>
                </a:lnSpc>
              </a:pPr>
              <a:r>
                <a:rPr lang="zh-CN" sz="600" dirty="0">
                  <a:solidFill>
                    <a:srgbClr val="333333"/>
                  </a:solidFill>
                  <a:latin typeface="+mn-lt"/>
                  <a:ea typeface="+mn-ea"/>
                  <a:cs typeface="+mn-cs"/>
                </a:rPr>
                <a:t>文档库存储所有模型相关文档</a:t>
              </a:r>
              <a:br/>
              <a:r>
                <a:rPr lang="zh-CN" sz="600" dirty="0">
                  <a:solidFill>
                    <a:srgbClr val="333333"/>
                  </a:solidFill>
                  <a:latin typeface="+mn-lt"/>
                  <a:ea typeface="+mn-ea"/>
                  <a:cs typeface="+mn-cs"/>
                </a:rPr>
                <a:t>以及模型风险管理相关政策与标准</a:t>
              </a:r>
            </a:p>
          </p:txBody>
        </p:sp>
        <p:sp>
          <p:nvSpPr>
            <p:cNvPr id="61" name="Rectangle 61"/>
            <p:cNvSpPr/>
            <p:nvPr/>
          </p:nvSpPr>
          <p:spPr>
            <a:xfrm>
              <a:off x="5829300" y="3314700"/>
              <a:ext cx="896302" cy="209550"/>
            </a:xfrm>
            <a:prstGeom prst="rect">
              <a:avLst/>
            </a:prstGeom>
            <a:solidFill>
              <a:srgbClr val="D8482E"/>
            </a:solidFill>
            <a:ln>
              <a:noFill/>
            </a:ln>
          </p:spPr>
        </p:sp>
        <p:sp>
          <p:nvSpPr>
            <p:cNvPr id="62" name="TextBox 62"/>
            <p:cNvSpPr txBox="1"/>
            <p:nvPr/>
          </p:nvSpPr>
          <p:spPr>
            <a:xfrm>
              <a:off x="6175286" y="34166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25%​</a:t>
              </a:r>
            </a:p>
          </p:txBody>
        </p:sp>
        <p:sp>
          <p:nvSpPr>
            <p:cNvPr id="63" name="Rectangle 63"/>
            <p:cNvSpPr/>
            <p:nvPr/>
          </p:nvSpPr>
          <p:spPr>
            <a:xfrm>
              <a:off x="6725602" y="3314700"/>
              <a:ext cx="896302" cy="209550"/>
            </a:xfrm>
            <a:prstGeom prst="rect">
              <a:avLst/>
            </a:prstGeom>
            <a:solidFill>
              <a:srgbClr val="C35642"/>
            </a:solidFill>
            <a:ln>
              <a:noFill/>
            </a:ln>
          </p:spPr>
        </p:sp>
        <p:sp>
          <p:nvSpPr>
            <p:cNvPr id="64" name="TextBox 64"/>
            <p:cNvSpPr txBox="1"/>
            <p:nvPr/>
          </p:nvSpPr>
          <p:spPr>
            <a:xfrm>
              <a:off x="7071589" y="34166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25%​</a:t>
              </a:r>
            </a:p>
          </p:txBody>
        </p:sp>
        <p:sp>
          <p:nvSpPr>
            <p:cNvPr id="65" name="Rectangle 65"/>
            <p:cNvSpPr/>
            <p:nvPr/>
          </p:nvSpPr>
          <p:spPr>
            <a:xfrm>
              <a:off x="7620952" y="3314700"/>
              <a:ext cx="681038" cy="209550"/>
            </a:xfrm>
            <a:prstGeom prst="rect">
              <a:avLst/>
            </a:prstGeom>
            <a:solidFill>
              <a:srgbClr val="AA1B00"/>
            </a:solidFill>
            <a:ln>
              <a:noFill/>
            </a:ln>
          </p:spPr>
        </p:sp>
        <p:sp>
          <p:nvSpPr>
            <p:cNvPr id="66" name="TextBox 66"/>
            <p:cNvSpPr txBox="1"/>
            <p:nvPr/>
          </p:nvSpPr>
          <p:spPr>
            <a:xfrm>
              <a:off x="7860259" y="34166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19%​</a:t>
              </a:r>
            </a:p>
          </p:txBody>
        </p:sp>
        <p:sp>
          <p:nvSpPr>
            <p:cNvPr id="67" name="Rectangle 67"/>
            <p:cNvSpPr/>
            <p:nvPr/>
          </p:nvSpPr>
          <p:spPr>
            <a:xfrm>
              <a:off x="8301990" y="3314700"/>
              <a:ext cx="465772" cy="209550"/>
            </a:xfrm>
            <a:prstGeom prst="rect">
              <a:avLst/>
            </a:prstGeom>
            <a:solidFill>
              <a:srgbClr val="6B1100"/>
            </a:solidFill>
            <a:ln>
              <a:noFill/>
            </a:ln>
          </p:spPr>
        </p:sp>
        <p:sp>
          <p:nvSpPr>
            <p:cNvPr id="68" name="TextBox 68"/>
            <p:cNvSpPr txBox="1"/>
            <p:nvPr/>
          </p:nvSpPr>
          <p:spPr>
            <a:xfrm>
              <a:off x="8433664" y="34166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13%​</a:t>
              </a:r>
            </a:p>
          </p:txBody>
        </p:sp>
        <p:sp>
          <p:nvSpPr>
            <p:cNvPr id="69" name="Rectangle 69"/>
            <p:cNvSpPr/>
            <p:nvPr/>
          </p:nvSpPr>
          <p:spPr>
            <a:xfrm>
              <a:off x="8767762" y="3314700"/>
              <a:ext cx="681038" cy="209550"/>
            </a:xfrm>
            <a:prstGeom prst="rect">
              <a:avLst/>
            </a:prstGeom>
            <a:solidFill>
              <a:srgbClr val="4A150B"/>
            </a:solidFill>
            <a:ln>
              <a:noFill/>
            </a:ln>
          </p:spPr>
        </p:sp>
        <p:sp>
          <p:nvSpPr>
            <p:cNvPr id="70" name="TextBox 70"/>
            <p:cNvSpPr txBox="1"/>
            <p:nvPr/>
          </p:nvSpPr>
          <p:spPr>
            <a:xfrm>
              <a:off x="9007069" y="3416618"/>
              <a:ext cx="203378" cy="119062"/>
            </a:xfrm>
            <a:prstGeom prst="rect">
              <a:avLst/>
            </a:prstGeom>
            <a:noFill/>
            <a:ln>
              <a:noFill/>
            </a:ln>
          </p:spPr>
          <p:txBody>
            <a:bodyPr wrap="none" lIns="0" tIns="0" rIns="0" bIns="0" anchor="t" anchorCtr="0">
              <a:spAutoFit/>
            </a:bodyPr>
            <a:lstStyle/>
            <a:p>
              <a:pPr algn="ctr"/>
              <a:r>
                <a:rPr lang="zh-CN" sz="600" dirty="0">
                  <a:solidFill>
                    <a:srgbClr val="1A1A1A"/>
                  </a:solidFill>
                  <a:latin typeface="+mn-lt"/>
                  <a:ea typeface="+mn-ea"/>
                  <a:cs typeface="+mn-cs"/>
                </a:rPr>
                <a:t>19%​</a:t>
              </a:r>
            </a:p>
          </p:txBody>
        </p:sp>
        <p:sp>
          <p:nvSpPr>
            <p:cNvPr id="71" name="TextBox 71"/>
            <p:cNvSpPr txBox="1"/>
            <p:nvPr/>
          </p:nvSpPr>
          <p:spPr>
            <a:xfrm>
              <a:off x="4605338" y="3850005"/>
              <a:ext cx="1152525" cy="209550"/>
            </a:xfrm>
            <a:prstGeom prst="rect">
              <a:avLst/>
            </a:prstGeom>
            <a:noFill/>
            <a:ln>
              <a:noFill/>
            </a:ln>
          </p:spPr>
          <p:txBody>
            <a:bodyPr wrap="none" lIns="0" tIns="0" rIns="0" bIns="0" anchor="t" anchorCtr="0">
              <a:spAutoFit/>
            </a:bodyPr>
            <a:lstStyle/>
            <a:p>
              <a:pPr algn="r">
                <a:lnSpc>
                  <a:spcPts val="712"/>
                </a:lnSpc>
              </a:pPr>
              <a:r>
                <a:rPr lang="zh-CN" sz="600" dirty="0">
                  <a:solidFill>
                    <a:srgbClr val="333333"/>
                  </a:solidFill>
                  <a:latin typeface="+mn-lt"/>
                  <a:ea typeface="+mn-ea"/>
                  <a:cs typeface="+mn-cs"/>
                </a:rPr>
                <a:t>模型风险工具为不同角色和组织</a:t>
              </a:r>
              <a:br/>
              <a:r>
                <a:rPr lang="zh-CN" sz="600" dirty="0">
                  <a:solidFill>
                    <a:srgbClr val="333333"/>
                  </a:solidFill>
                  <a:latin typeface="+mn-lt"/>
                  <a:ea typeface="+mn-ea"/>
                  <a:cs typeface="+mn-cs"/>
                </a:rPr>
                <a:t>结构的不同部分提供用户专属视图</a:t>
              </a:r>
            </a:p>
          </p:txBody>
        </p:sp>
        <p:sp>
          <p:nvSpPr>
            <p:cNvPr id="72" name="Rectangle 72"/>
            <p:cNvSpPr/>
            <p:nvPr/>
          </p:nvSpPr>
          <p:spPr>
            <a:xfrm>
              <a:off x="5829300" y="3829050"/>
              <a:ext cx="621982" cy="209550"/>
            </a:xfrm>
            <a:prstGeom prst="rect">
              <a:avLst/>
            </a:prstGeom>
            <a:solidFill>
              <a:srgbClr val="D8482E"/>
            </a:solidFill>
            <a:ln>
              <a:noFill/>
            </a:ln>
          </p:spPr>
        </p:sp>
        <p:sp>
          <p:nvSpPr>
            <p:cNvPr id="73" name="TextBox 73"/>
            <p:cNvSpPr txBox="1"/>
            <p:nvPr/>
          </p:nvSpPr>
          <p:spPr>
            <a:xfrm>
              <a:off x="6038126" y="39309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17%​</a:t>
              </a:r>
            </a:p>
          </p:txBody>
        </p:sp>
        <p:sp>
          <p:nvSpPr>
            <p:cNvPr id="74" name="Rectangle 74"/>
            <p:cNvSpPr/>
            <p:nvPr/>
          </p:nvSpPr>
          <p:spPr>
            <a:xfrm>
              <a:off x="6451282" y="3829050"/>
              <a:ext cx="1206818" cy="209550"/>
            </a:xfrm>
            <a:prstGeom prst="rect">
              <a:avLst/>
            </a:prstGeom>
            <a:solidFill>
              <a:srgbClr val="C35642"/>
            </a:solidFill>
            <a:ln>
              <a:noFill/>
            </a:ln>
          </p:spPr>
        </p:sp>
        <p:sp>
          <p:nvSpPr>
            <p:cNvPr id="75" name="TextBox 75"/>
            <p:cNvSpPr txBox="1"/>
            <p:nvPr/>
          </p:nvSpPr>
          <p:spPr>
            <a:xfrm>
              <a:off x="6952526" y="39309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33%​</a:t>
              </a:r>
            </a:p>
          </p:txBody>
        </p:sp>
        <p:sp>
          <p:nvSpPr>
            <p:cNvPr id="76" name="Rectangle 76"/>
            <p:cNvSpPr/>
            <p:nvPr/>
          </p:nvSpPr>
          <p:spPr>
            <a:xfrm>
              <a:off x="7657148" y="3829050"/>
              <a:ext cx="1097280" cy="209550"/>
            </a:xfrm>
            <a:prstGeom prst="rect">
              <a:avLst/>
            </a:prstGeom>
            <a:solidFill>
              <a:srgbClr val="AA1B00"/>
            </a:solidFill>
            <a:ln>
              <a:noFill/>
            </a:ln>
          </p:spPr>
        </p:sp>
        <p:sp>
          <p:nvSpPr>
            <p:cNvPr id="77" name="TextBox 77"/>
            <p:cNvSpPr txBox="1"/>
            <p:nvPr/>
          </p:nvSpPr>
          <p:spPr>
            <a:xfrm>
              <a:off x="8104099" y="39309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30%​</a:t>
              </a:r>
            </a:p>
          </p:txBody>
        </p:sp>
        <p:sp>
          <p:nvSpPr>
            <p:cNvPr id="78" name="Rectangle 78"/>
            <p:cNvSpPr/>
            <p:nvPr/>
          </p:nvSpPr>
          <p:spPr>
            <a:xfrm>
              <a:off x="8754428" y="3829050"/>
              <a:ext cx="292418" cy="209550"/>
            </a:xfrm>
            <a:prstGeom prst="rect">
              <a:avLst/>
            </a:prstGeom>
            <a:solidFill>
              <a:srgbClr val="6B1100"/>
            </a:solidFill>
            <a:ln>
              <a:noFill/>
            </a:ln>
          </p:spPr>
        </p:sp>
        <p:sp>
          <p:nvSpPr>
            <p:cNvPr id="79" name="TextBox 79"/>
            <p:cNvSpPr txBox="1"/>
            <p:nvPr/>
          </p:nvSpPr>
          <p:spPr>
            <a:xfrm>
              <a:off x="8820683" y="3930968"/>
              <a:ext cx="15895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8%​</a:t>
              </a:r>
            </a:p>
          </p:txBody>
        </p:sp>
        <p:sp>
          <p:nvSpPr>
            <p:cNvPr id="80" name="Rectangle 80"/>
            <p:cNvSpPr/>
            <p:nvPr/>
          </p:nvSpPr>
          <p:spPr>
            <a:xfrm>
              <a:off x="9046845" y="3829050"/>
              <a:ext cx="401955" cy="209550"/>
            </a:xfrm>
            <a:prstGeom prst="rect">
              <a:avLst/>
            </a:prstGeom>
            <a:solidFill>
              <a:srgbClr val="4A150B"/>
            </a:solidFill>
            <a:ln>
              <a:noFill/>
            </a:ln>
          </p:spPr>
        </p:sp>
        <p:sp>
          <p:nvSpPr>
            <p:cNvPr id="81" name="TextBox 81"/>
            <p:cNvSpPr txBox="1"/>
            <p:nvPr/>
          </p:nvSpPr>
          <p:spPr>
            <a:xfrm>
              <a:off x="9146134" y="3930968"/>
              <a:ext cx="203378" cy="119062"/>
            </a:xfrm>
            <a:prstGeom prst="rect">
              <a:avLst/>
            </a:prstGeom>
            <a:noFill/>
            <a:ln>
              <a:noFill/>
            </a:ln>
          </p:spPr>
          <p:txBody>
            <a:bodyPr wrap="none" lIns="0" tIns="0" rIns="0" bIns="0" anchor="t" anchorCtr="0">
              <a:spAutoFit/>
            </a:bodyPr>
            <a:lstStyle/>
            <a:p>
              <a:pPr algn="ctr"/>
              <a:r>
                <a:rPr lang="zh-CN" sz="600" dirty="0">
                  <a:solidFill>
                    <a:srgbClr val="1A1A1A"/>
                  </a:solidFill>
                  <a:latin typeface="+mn-lt"/>
                  <a:ea typeface="+mn-ea"/>
                  <a:cs typeface="+mn-cs"/>
                </a:rPr>
                <a:t>11%​</a:t>
              </a:r>
            </a:p>
          </p:txBody>
        </p:sp>
        <p:sp>
          <p:nvSpPr>
            <p:cNvPr id="82" name="TextBox 82"/>
            <p:cNvSpPr txBox="1"/>
            <p:nvPr/>
          </p:nvSpPr>
          <p:spPr>
            <a:xfrm>
              <a:off x="4681538" y="4364355"/>
              <a:ext cx="1076325" cy="209550"/>
            </a:xfrm>
            <a:prstGeom prst="rect">
              <a:avLst/>
            </a:prstGeom>
            <a:noFill/>
            <a:ln>
              <a:noFill/>
            </a:ln>
          </p:spPr>
          <p:txBody>
            <a:bodyPr wrap="none" lIns="0" tIns="0" rIns="0" bIns="0" anchor="t" anchorCtr="0">
              <a:spAutoFit/>
            </a:bodyPr>
            <a:lstStyle/>
            <a:p>
              <a:pPr algn="r">
                <a:lnSpc>
                  <a:spcPts val="712"/>
                </a:lnSpc>
              </a:pPr>
              <a:r>
                <a:rPr lang="zh-CN" sz="600" dirty="0">
                  <a:solidFill>
                    <a:srgbClr val="333333"/>
                  </a:solidFill>
                  <a:latin typeface="+mn-lt"/>
                  <a:ea typeface="+mn-ea"/>
                  <a:cs typeface="+mn-cs"/>
                </a:rPr>
                <a:t>分析与报告能力用于为不同类型</a:t>
              </a:r>
              <a:br/>
              <a:r>
                <a:rPr lang="zh-CN" sz="600" dirty="0">
                  <a:solidFill>
                    <a:srgbClr val="333333"/>
                  </a:solidFill>
                  <a:latin typeface="+mn-lt"/>
                  <a:ea typeface="+mn-ea"/>
                  <a:cs typeface="+mn-cs"/>
                </a:rPr>
                <a:t>的利益相关方创建模型风险报告</a:t>
              </a:r>
            </a:p>
          </p:txBody>
        </p:sp>
        <p:sp>
          <p:nvSpPr>
            <p:cNvPr id="83" name="Rectangle 83"/>
            <p:cNvSpPr/>
            <p:nvPr/>
          </p:nvSpPr>
          <p:spPr>
            <a:xfrm>
              <a:off x="5829300" y="4343400"/>
              <a:ext cx="615315" cy="209550"/>
            </a:xfrm>
            <a:prstGeom prst="rect">
              <a:avLst/>
            </a:prstGeom>
            <a:solidFill>
              <a:srgbClr val="D8482E"/>
            </a:solidFill>
            <a:ln>
              <a:noFill/>
            </a:ln>
          </p:spPr>
        </p:sp>
        <p:sp>
          <p:nvSpPr>
            <p:cNvPr id="84" name="TextBox 84"/>
            <p:cNvSpPr txBox="1"/>
            <p:nvPr/>
          </p:nvSpPr>
          <p:spPr>
            <a:xfrm>
              <a:off x="6035269" y="44453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17%​</a:t>
              </a:r>
            </a:p>
          </p:txBody>
        </p:sp>
        <p:sp>
          <p:nvSpPr>
            <p:cNvPr id="85" name="Rectangle 85"/>
            <p:cNvSpPr/>
            <p:nvPr/>
          </p:nvSpPr>
          <p:spPr>
            <a:xfrm>
              <a:off x="6444615" y="4343400"/>
              <a:ext cx="1122045" cy="209550"/>
            </a:xfrm>
            <a:prstGeom prst="rect">
              <a:avLst/>
            </a:prstGeom>
            <a:solidFill>
              <a:srgbClr val="C35642"/>
            </a:solidFill>
            <a:ln>
              <a:noFill/>
            </a:ln>
          </p:spPr>
        </p:sp>
        <p:sp>
          <p:nvSpPr>
            <p:cNvPr id="86" name="TextBox 86"/>
            <p:cNvSpPr txBox="1"/>
            <p:nvPr/>
          </p:nvSpPr>
          <p:spPr>
            <a:xfrm>
              <a:off x="6903949" y="44453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31%​</a:t>
              </a:r>
            </a:p>
          </p:txBody>
        </p:sp>
        <p:sp>
          <p:nvSpPr>
            <p:cNvPr id="87" name="Rectangle 87"/>
            <p:cNvSpPr/>
            <p:nvPr/>
          </p:nvSpPr>
          <p:spPr>
            <a:xfrm>
              <a:off x="7566660" y="4343400"/>
              <a:ext cx="1085850" cy="209550"/>
            </a:xfrm>
            <a:prstGeom prst="rect">
              <a:avLst/>
            </a:prstGeom>
            <a:solidFill>
              <a:srgbClr val="AA1B00"/>
            </a:solidFill>
            <a:ln>
              <a:noFill/>
            </a:ln>
          </p:spPr>
        </p:sp>
        <p:sp>
          <p:nvSpPr>
            <p:cNvPr id="88" name="TextBox 88"/>
            <p:cNvSpPr txBox="1"/>
            <p:nvPr/>
          </p:nvSpPr>
          <p:spPr>
            <a:xfrm>
              <a:off x="8007896" y="44453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30%​</a:t>
              </a:r>
            </a:p>
          </p:txBody>
        </p:sp>
        <p:sp>
          <p:nvSpPr>
            <p:cNvPr id="89" name="Rectangle 89"/>
            <p:cNvSpPr/>
            <p:nvPr/>
          </p:nvSpPr>
          <p:spPr>
            <a:xfrm>
              <a:off x="8652510" y="4343400"/>
              <a:ext cx="217170" cy="209550"/>
            </a:xfrm>
            <a:prstGeom prst="rect">
              <a:avLst/>
            </a:prstGeom>
            <a:solidFill>
              <a:srgbClr val="6B1100"/>
            </a:solidFill>
            <a:ln>
              <a:noFill/>
            </a:ln>
          </p:spPr>
        </p:sp>
        <p:sp>
          <p:nvSpPr>
            <p:cNvPr id="90" name="TextBox 90"/>
            <p:cNvSpPr txBox="1"/>
            <p:nvPr/>
          </p:nvSpPr>
          <p:spPr>
            <a:xfrm>
              <a:off x="8681618" y="4445318"/>
              <a:ext cx="15895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6%​</a:t>
              </a:r>
            </a:p>
          </p:txBody>
        </p:sp>
        <p:sp>
          <p:nvSpPr>
            <p:cNvPr id="91" name="Rectangle 91"/>
            <p:cNvSpPr/>
            <p:nvPr/>
          </p:nvSpPr>
          <p:spPr>
            <a:xfrm>
              <a:off x="8869680" y="4343400"/>
              <a:ext cx="579120" cy="209550"/>
            </a:xfrm>
            <a:prstGeom prst="rect">
              <a:avLst/>
            </a:prstGeom>
            <a:solidFill>
              <a:srgbClr val="4A150B"/>
            </a:solidFill>
            <a:ln>
              <a:noFill/>
            </a:ln>
          </p:spPr>
        </p:sp>
        <p:sp>
          <p:nvSpPr>
            <p:cNvPr id="92" name="TextBox 92"/>
            <p:cNvSpPr txBox="1"/>
            <p:nvPr/>
          </p:nvSpPr>
          <p:spPr>
            <a:xfrm>
              <a:off x="9057551" y="4445318"/>
              <a:ext cx="203378" cy="119062"/>
            </a:xfrm>
            <a:prstGeom prst="rect">
              <a:avLst/>
            </a:prstGeom>
            <a:noFill/>
            <a:ln>
              <a:noFill/>
            </a:ln>
          </p:spPr>
          <p:txBody>
            <a:bodyPr wrap="none" lIns="0" tIns="0" rIns="0" bIns="0" anchor="t" anchorCtr="0">
              <a:spAutoFit/>
            </a:bodyPr>
            <a:lstStyle/>
            <a:p>
              <a:pPr algn="ctr"/>
              <a:r>
                <a:rPr lang="zh-CN" sz="600" dirty="0">
                  <a:solidFill>
                    <a:srgbClr val="1A1A1A"/>
                  </a:solidFill>
                  <a:latin typeface="+mn-lt"/>
                  <a:ea typeface="+mn-ea"/>
                  <a:cs typeface="+mn-cs"/>
                </a:rPr>
                <a:t>16%​</a:t>
              </a:r>
            </a:p>
          </p:txBody>
        </p:sp>
        <p:sp>
          <p:nvSpPr>
            <p:cNvPr id="93" name="TextBox 93"/>
            <p:cNvSpPr txBox="1"/>
            <p:nvPr/>
          </p:nvSpPr>
          <p:spPr>
            <a:xfrm>
              <a:off x="4605338" y="4878705"/>
              <a:ext cx="1152525" cy="209550"/>
            </a:xfrm>
            <a:prstGeom prst="rect">
              <a:avLst/>
            </a:prstGeom>
            <a:noFill/>
            <a:ln>
              <a:noFill/>
            </a:ln>
          </p:spPr>
          <p:txBody>
            <a:bodyPr wrap="none" lIns="0" tIns="0" rIns="0" bIns="0" anchor="t" anchorCtr="0">
              <a:spAutoFit/>
            </a:bodyPr>
            <a:lstStyle/>
            <a:p>
              <a:pPr algn="r">
                <a:lnSpc>
                  <a:spcPts val="712"/>
                </a:lnSpc>
              </a:pPr>
              <a:r>
                <a:rPr lang="zh-CN" sz="600" dirty="0">
                  <a:solidFill>
                    <a:srgbClr val="333333"/>
                  </a:solidFill>
                  <a:latin typeface="+mn-lt"/>
                  <a:ea typeface="+mn-ea"/>
                  <a:cs typeface="+mn-cs"/>
                </a:rPr>
                <a:t>分析与报告能力包含基于实时数据</a:t>
              </a:r>
              <a:br/>
              <a:r>
                <a:rPr lang="zh-CN" sz="600" dirty="0">
                  <a:solidFill>
                    <a:srgbClr val="333333"/>
                  </a:solidFill>
                  <a:latin typeface="+mn-lt"/>
                  <a:ea typeface="+mn-ea"/>
                  <a:cs typeface="+mn-cs"/>
                </a:rPr>
                <a:t>的模型风险指标仪表盘与报告</a:t>
              </a:r>
            </a:p>
          </p:txBody>
        </p:sp>
        <p:sp>
          <p:nvSpPr>
            <p:cNvPr id="94" name="Rectangle 94"/>
            <p:cNvSpPr/>
            <p:nvPr/>
          </p:nvSpPr>
          <p:spPr>
            <a:xfrm>
              <a:off x="5829300" y="4857750"/>
              <a:ext cx="401955" cy="209550"/>
            </a:xfrm>
            <a:prstGeom prst="rect">
              <a:avLst/>
            </a:prstGeom>
            <a:solidFill>
              <a:srgbClr val="D8482E"/>
            </a:solidFill>
            <a:ln>
              <a:noFill/>
            </a:ln>
          </p:spPr>
        </p:sp>
        <p:sp>
          <p:nvSpPr>
            <p:cNvPr id="95" name="TextBox 95"/>
            <p:cNvSpPr txBox="1"/>
            <p:nvPr/>
          </p:nvSpPr>
          <p:spPr>
            <a:xfrm>
              <a:off x="5928589" y="49596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11%​</a:t>
              </a:r>
            </a:p>
          </p:txBody>
        </p:sp>
        <p:sp>
          <p:nvSpPr>
            <p:cNvPr id="96" name="Rectangle 96"/>
            <p:cNvSpPr/>
            <p:nvPr/>
          </p:nvSpPr>
          <p:spPr>
            <a:xfrm>
              <a:off x="6231255" y="4857750"/>
              <a:ext cx="1169670" cy="209550"/>
            </a:xfrm>
            <a:prstGeom prst="rect">
              <a:avLst/>
            </a:prstGeom>
            <a:solidFill>
              <a:srgbClr val="C35642"/>
            </a:solidFill>
            <a:ln>
              <a:noFill/>
            </a:ln>
          </p:spPr>
        </p:sp>
        <p:sp>
          <p:nvSpPr>
            <p:cNvPr id="97" name="TextBox 97"/>
            <p:cNvSpPr txBox="1"/>
            <p:nvPr/>
          </p:nvSpPr>
          <p:spPr>
            <a:xfrm>
              <a:off x="6714401" y="49596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32%​</a:t>
              </a:r>
            </a:p>
          </p:txBody>
        </p:sp>
        <p:sp>
          <p:nvSpPr>
            <p:cNvPr id="98" name="Rectangle 98"/>
            <p:cNvSpPr/>
            <p:nvPr/>
          </p:nvSpPr>
          <p:spPr>
            <a:xfrm>
              <a:off x="7401878" y="4857750"/>
              <a:ext cx="1060132" cy="209550"/>
            </a:xfrm>
            <a:prstGeom prst="rect">
              <a:avLst/>
            </a:prstGeom>
            <a:solidFill>
              <a:srgbClr val="AA1B00"/>
            </a:solidFill>
            <a:ln>
              <a:noFill/>
            </a:ln>
          </p:spPr>
        </p:sp>
        <p:sp>
          <p:nvSpPr>
            <p:cNvPr id="99" name="TextBox 99"/>
            <p:cNvSpPr txBox="1"/>
            <p:nvPr/>
          </p:nvSpPr>
          <p:spPr>
            <a:xfrm>
              <a:off x="7829779" y="495966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29%​</a:t>
              </a:r>
            </a:p>
          </p:txBody>
        </p:sp>
        <p:sp>
          <p:nvSpPr>
            <p:cNvPr id="100" name="Rectangle 100"/>
            <p:cNvSpPr/>
            <p:nvPr/>
          </p:nvSpPr>
          <p:spPr>
            <a:xfrm>
              <a:off x="8462010" y="4857750"/>
              <a:ext cx="328612" cy="209550"/>
            </a:xfrm>
            <a:prstGeom prst="rect">
              <a:avLst/>
            </a:prstGeom>
            <a:solidFill>
              <a:srgbClr val="6B1100"/>
            </a:solidFill>
            <a:ln>
              <a:noFill/>
            </a:ln>
          </p:spPr>
        </p:sp>
        <p:sp>
          <p:nvSpPr>
            <p:cNvPr id="101" name="TextBox 101"/>
            <p:cNvSpPr txBox="1"/>
            <p:nvPr/>
          </p:nvSpPr>
          <p:spPr>
            <a:xfrm>
              <a:off x="8546363" y="4959668"/>
              <a:ext cx="15895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9%​</a:t>
              </a:r>
            </a:p>
          </p:txBody>
        </p:sp>
        <p:sp>
          <p:nvSpPr>
            <p:cNvPr id="102" name="Rectangle 102"/>
            <p:cNvSpPr/>
            <p:nvPr/>
          </p:nvSpPr>
          <p:spPr>
            <a:xfrm>
              <a:off x="8790622" y="4857750"/>
              <a:ext cx="658178" cy="209550"/>
            </a:xfrm>
            <a:prstGeom prst="rect">
              <a:avLst/>
            </a:prstGeom>
            <a:solidFill>
              <a:srgbClr val="4A150B"/>
            </a:solidFill>
            <a:ln>
              <a:noFill/>
            </a:ln>
          </p:spPr>
        </p:sp>
        <p:sp>
          <p:nvSpPr>
            <p:cNvPr id="103" name="TextBox 103"/>
            <p:cNvSpPr txBox="1"/>
            <p:nvPr/>
          </p:nvSpPr>
          <p:spPr>
            <a:xfrm>
              <a:off x="9018499" y="4959668"/>
              <a:ext cx="203378" cy="119062"/>
            </a:xfrm>
            <a:prstGeom prst="rect">
              <a:avLst/>
            </a:prstGeom>
            <a:noFill/>
            <a:ln>
              <a:noFill/>
            </a:ln>
          </p:spPr>
          <p:txBody>
            <a:bodyPr wrap="none" lIns="0" tIns="0" rIns="0" bIns="0" anchor="t" anchorCtr="0">
              <a:spAutoFit/>
            </a:bodyPr>
            <a:lstStyle/>
            <a:p>
              <a:pPr algn="ctr"/>
              <a:r>
                <a:rPr lang="zh-CN" sz="600" dirty="0">
                  <a:solidFill>
                    <a:srgbClr val="1A1A1A"/>
                  </a:solidFill>
                  <a:latin typeface="+mn-lt"/>
                  <a:ea typeface="+mn-ea"/>
                  <a:cs typeface="+mn-cs"/>
                </a:rPr>
                <a:t>18%​</a:t>
              </a:r>
            </a:p>
          </p:txBody>
        </p:sp>
        <p:sp>
          <p:nvSpPr>
            <p:cNvPr id="104" name="TextBox 104"/>
            <p:cNvSpPr txBox="1"/>
            <p:nvPr/>
          </p:nvSpPr>
          <p:spPr>
            <a:xfrm>
              <a:off x="4452938" y="5393055"/>
              <a:ext cx="1304925" cy="209550"/>
            </a:xfrm>
            <a:prstGeom prst="rect">
              <a:avLst/>
            </a:prstGeom>
            <a:noFill/>
            <a:ln>
              <a:noFill/>
            </a:ln>
          </p:spPr>
          <p:txBody>
            <a:bodyPr wrap="none" lIns="0" tIns="0" rIns="0" bIns="0" anchor="t" anchorCtr="0">
              <a:spAutoFit/>
            </a:bodyPr>
            <a:lstStyle/>
            <a:p>
              <a:pPr algn="r">
                <a:lnSpc>
                  <a:spcPts val="712"/>
                </a:lnSpc>
              </a:pPr>
              <a:r>
                <a:rPr lang="zh-CN" sz="600" dirty="0">
                  <a:solidFill>
                    <a:srgbClr val="333333"/>
                  </a:solidFill>
                  <a:latin typeface="+mn-lt"/>
                  <a:ea typeface="+mn-ea"/>
                  <a:cs typeface="+mn-cs"/>
                </a:rPr>
                <a:t>工作流功能包含项目时间线与资源</a:t>
              </a:r>
              <a:br/>
              <a:r>
                <a:rPr lang="zh-CN" sz="600" dirty="0">
                  <a:solidFill>
                    <a:srgbClr val="333333"/>
                  </a:solidFill>
                  <a:latin typeface="+mn-lt"/>
                  <a:ea typeface="+mn-ea"/>
                  <a:cs typeface="+mn-cs"/>
                </a:rPr>
                <a:t>可用性及规划的信息（如开发、验证）</a:t>
              </a:r>
            </a:p>
          </p:txBody>
        </p:sp>
        <p:sp>
          <p:nvSpPr>
            <p:cNvPr id="105" name="Rectangle 105"/>
            <p:cNvSpPr/>
            <p:nvPr/>
          </p:nvSpPr>
          <p:spPr>
            <a:xfrm>
              <a:off x="5829300" y="5372100"/>
              <a:ext cx="108585" cy="209550"/>
            </a:xfrm>
            <a:prstGeom prst="rect">
              <a:avLst/>
            </a:prstGeom>
            <a:solidFill>
              <a:srgbClr val="D8482E"/>
            </a:solidFill>
            <a:ln>
              <a:noFill/>
            </a:ln>
          </p:spPr>
        </p:sp>
        <p:sp>
          <p:nvSpPr>
            <p:cNvPr id="106" name="Rectangle 106"/>
            <p:cNvSpPr/>
            <p:nvPr/>
          </p:nvSpPr>
          <p:spPr>
            <a:xfrm>
              <a:off x="5937885" y="5372100"/>
              <a:ext cx="579120" cy="209550"/>
            </a:xfrm>
            <a:prstGeom prst="rect">
              <a:avLst/>
            </a:prstGeom>
            <a:solidFill>
              <a:srgbClr val="C35642"/>
            </a:solidFill>
            <a:ln>
              <a:noFill/>
            </a:ln>
          </p:spPr>
        </p:sp>
        <p:sp>
          <p:nvSpPr>
            <p:cNvPr id="107" name="TextBox 107"/>
            <p:cNvSpPr txBox="1"/>
            <p:nvPr/>
          </p:nvSpPr>
          <p:spPr>
            <a:xfrm>
              <a:off x="6125756" y="54740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16%​</a:t>
              </a:r>
            </a:p>
          </p:txBody>
        </p:sp>
        <p:sp>
          <p:nvSpPr>
            <p:cNvPr id="108" name="Rectangle 108"/>
            <p:cNvSpPr/>
            <p:nvPr/>
          </p:nvSpPr>
          <p:spPr>
            <a:xfrm>
              <a:off x="6517005" y="5372100"/>
              <a:ext cx="977265" cy="209550"/>
            </a:xfrm>
            <a:prstGeom prst="rect">
              <a:avLst/>
            </a:prstGeom>
            <a:solidFill>
              <a:srgbClr val="AA1B00"/>
            </a:solidFill>
            <a:ln>
              <a:noFill/>
            </a:ln>
          </p:spPr>
        </p:sp>
        <p:sp>
          <p:nvSpPr>
            <p:cNvPr id="109" name="TextBox 109"/>
            <p:cNvSpPr txBox="1"/>
            <p:nvPr/>
          </p:nvSpPr>
          <p:spPr>
            <a:xfrm>
              <a:off x="6903949" y="54740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27%​</a:t>
              </a:r>
            </a:p>
          </p:txBody>
        </p:sp>
        <p:sp>
          <p:nvSpPr>
            <p:cNvPr id="110" name="Rectangle 110"/>
            <p:cNvSpPr/>
            <p:nvPr/>
          </p:nvSpPr>
          <p:spPr>
            <a:xfrm>
              <a:off x="7494270" y="5372100"/>
              <a:ext cx="615315" cy="209550"/>
            </a:xfrm>
            <a:prstGeom prst="rect">
              <a:avLst/>
            </a:prstGeom>
            <a:solidFill>
              <a:srgbClr val="6B1100"/>
            </a:solidFill>
            <a:ln>
              <a:noFill/>
            </a:ln>
          </p:spPr>
        </p:sp>
        <p:sp>
          <p:nvSpPr>
            <p:cNvPr id="111" name="TextBox 111"/>
            <p:cNvSpPr txBox="1"/>
            <p:nvPr/>
          </p:nvSpPr>
          <p:spPr>
            <a:xfrm>
              <a:off x="7700239" y="5474018"/>
              <a:ext cx="203378"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17%​</a:t>
              </a:r>
            </a:p>
          </p:txBody>
        </p:sp>
        <p:sp>
          <p:nvSpPr>
            <p:cNvPr id="112" name="Rectangle 112"/>
            <p:cNvSpPr/>
            <p:nvPr/>
          </p:nvSpPr>
          <p:spPr>
            <a:xfrm>
              <a:off x="8109585" y="5372100"/>
              <a:ext cx="1339215" cy="209550"/>
            </a:xfrm>
            <a:prstGeom prst="rect">
              <a:avLst/>
            </a:prstGeom>
            <a:solidFill>
              <a:srgbClr val="4A150B"/>
            </a:solidFill>
            <a:ln>
              <a:noFill/>
            </a:ln>
          </p:spPr>
        </p:sp>
        <p:sp>
          <p:nvSpPr>
            <p:cNvPr id="113" name="TextBox 113"/>
            <p:cNvSpPr txBox="1"/>
            <p:nvPr/>
          </p:nvSpPr>
          <p:spPr>
            <a:xfrm>
              <a:off x="8677504" y="5474018"/>
              <a:ext cx="203378" cy="119062"/>
            </a:xfrm>
            <a:prstGeom prst="rect">
              <a:avLst/>
            </a:prstGeom>
            <a:noFill/>
            <a:ln>
              <a:noFill/>
            </a:ln>
          </p:spPr>
          <p:txBody>
            <a:bodyPr wrap="none" lIns="0" tIns="0" rIns="0" bIns="0" anchor="t" anchorCtr="0">
              <a:spAutoFit/>
            </a:bodyPr>
            <a:lstStyle/>
            <a:p>
              <a:pPr algn="ctr"/>
              <a:r>
                <a:rPr lang="zh-CN" sz="600" dirty="0">
                  <a:solidFill>
                    <a:srgbClr val="1A1A1A"/>
                  </a:solidFill>
                  <a:latin typeface="+mn-lt"/>
                  <a:ea typeface="+mn-ea"/>
                  <a:cs typeface="+mn-cs"/>
                </a:rPr>
                <a:t>37%​</a:t>
              </a:r>
            </a:p>
          </p:txBody>
        </p:sp>
        <p:sp>
          <p:nvSpPr>
            <p:cNvPr id="114" name="TextBox 114"/>
            <p:cNvSpPr txBox="1"/>
            <p:nvPr/>
          </p:nvSpPr>
          <p:spPr>
            <a:xfrm>
              <a:off x="5783075" y="5673328"/>
              <a:ext cx="92451"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0​</a:t>
              </a:r>
            </a:p>
          </p:txBody>
        </p:sp>
        <p:sp>
          <p:nvSpPr>
            <p:cNvPr id="115" name="TextBox 115"/>
            <p:cNvSpPr txBox="1"/>
            <p:nvPr/>
          </p:nvSpPr>
          <p:spPr>
            <a:xfrm>
              <a:off x="6124293" y="5673328"/>
              <a:ext cx="133914"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10​</a:t>
              </a:r>
            </a:p>
          </p:txBody>
        </p:sp>
        <p:sp>
          <p:nvSpPr>
            <p:cNvPr id="116" name="TextBox 116"/>
            <p:cNvSpPr txBox="1"/>
            <p:nvPr/>
          </p:nvSpPr>
          <p:spPr>
            <a:xfrm>
              <a:off x="6486243" y="5673328"/>
              <a:ext cx="133914"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20​</a:t>
              </a:r>
            </a:p>
          </p:txBody>
        </p:sp>
        <p:sp>
          <p:nvSpPr>
            <p:cNvPr id="117" name="TextBox 117"/>
            <p:cNvSpPr txBox="1"/>
            <p:nvPr/>
          </p:nvSpPr>
          <p:spPr>
            <a:xfrm>
              <a:off x="6848193" y="5673328"/>
              <a:ext cx="133914"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30​</a:t>
              </a:r>
            </a:p>
          </p:txBody>
        </p:sp>
        <p:sp>
          <p:nvSpPr>
            <p:cNvPr id="118" name="TextBox 118"/>
            <p:cNvSpPr txBox="1"/>
            <p:nvPr/>
          </p:nvSpPr>
          <p:spPr>
            <a:xfrm>
              <a:off x="7210143" y="5673328"/>
              <a:ext cx="133914"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40​</a:t>
              </a:r>
            </a:p>
          </p:txBody>
        </p:sp>
        <p:sp>
          <p:nvSpPr>
            <p:cNvPr id="119" name="TextBox 119"/>
            <p:cNvSpPr txBox="1"/>
            <p:nvPr/>
          </p:nvSpPr>
          <p:spPr>
            <a:xfrm>
              <a:off x="7572093" y="5673328"/>
              <a:ext cx="133914"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50​</a:t>
              </a:r>
            </a:p>
          </p:txBody>
        </p:sp>
        <p:sp>
          <p:nvSpPr>
            <p:cNvPr id="120" name="TextBox 120"/>
            <p:cNvSpPr txBox="1"/>
            <p:nvPr/>
          </p:nvSpPr>
          <p:spPr>
            <a:xfrm>
              <a:off x="7934043" y="5673328"/>
              <a:ext cx="133914"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60​</a:t>
              </a:r>
            </a:p>
          </p:txBody>
        </p:sp>
        <p:sp>
          <p:nvSpPr>
            <p:cNvPr id="121" name="TextBox 121"/>
            <p:cNvSpPr txBox="1"/>
            <p:nvPr/>
          </p:nvSpPr>
          <p:spPr>
            <a:xfrm>
              <a:off x="8295993" y="5673328"/>
              <a:ext cx="133914"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70​</a:t>
              </a:r>
            </a:p>
          </p:txBody>
        </p:sp>
        <p:sp>
          <p:nvSpPr>
            <p:cNvPr id="122" name="TextBox 122"/>
            <p:cNvSpPr txBox="1"/>
            <p:nvPr/>
          </p:nvSpPr>
          <p:spPr>
            <a:xfrm>
              <a:off x="8657943" y="5673328"/>
              <a:ext cx="133914"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80​</a:t>
              </a:r>
            </a:p>
          </p:txBody>
        </p:sp>
        <p:sp>
          <p:nvSpPr>
            <p:cNvPr id="123" name="TextBox 123"/>
            <p:cNvSpPr txBox="1"/>
            <p:nvPr/>
          </p:nvSpPr>
          <p:spPr>
            <a:xfrm>
              <a:off x="9019893" y="5673328"/>
              <a:ext cx="133914"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90​</a:t>
              </a:r>
            </a:p>
          </p:txBody>
        </p:sp>
        <p:sp>
          <p:nvSpPr>
            <p:cNvPr id="124" name="TextBox 124"/>
            <p:cNvSpPr txBox="1"/>
            <p:nvPr/>
          </p:nvSpPr>
          <p:spPr>
            <a:xfrm>
              <a:off x="9361112" y="5673328"/>
              <a:ext cx="175377" cy="111919"/>
            </a:xfrm>
            <a:prstGeom prst="rect">
              <a:avLst/>
            </a:prstGeom>
            <a:noFill/>
            <a:ln>
              <a:noFill/>
            </a:ln>
          </p:spPr>
          <p:txBody>
            <a:bodyPr wrap="none" lIns="0" tIns="0" rIns="0" bIns="0" anchor="t" anchorCtr="0">
              <a:spAutoFit/>
            </a:bodyPr>
            <a:lstStyle/>
            <a:p>
              <a:pPr algn="ctr"/>
              <a:r>
                <a:rPr lang="zh-CN" sz="560" dirty="0">
                  <a:solidFill>
                    <a:srgbClr val="666666"/>
                  </a:solidFill>
                  <a:latin typeface="+mn-lt"/>
                  <a:ea typeface="+mn-ea"/>
                  <a:cs typeface="+mn-cs"/>
                </a:rPr>
                <a:t>100​</a:t>
              </a:r>
            </a:p>
          </p:txBody>
        </p:sp>
        <p:sp>
          <p:nvSpPr>
            <p:cNvPr id="125" name="Line 125"/>
            <p:cNvSpPr/>
            <p:nvPr/>
          </p:nvSpPr>
          <p:spPr>
            <a:xfrm>
              <a:off x="5829300" y="5619750"/>
              <a:ext cx="3619500" cy="9525"/>
            </a:xfrm>
            <a:custGeom>
              <a:avLst/>
              <a:gdLst/>
              <a:ahLst/>
              <a:cxnLst/>
              <a:rect l="l" t="t" r="r" b="b"/>
              <a:pathLst>
                <a:path w="3619500" h="9525">
                  <a:moveTo>
                    <a:pt x="0" y="0"/>
                  </a:moveTo>
                  <a:lnTo>
                    <a:pt x="3619500" y="0"/>
                  </a:lnTo>
                </a:path>
              </a:pathLst>
            </a:custGeom>
            <a:noFill/>
            <a:ln w="7620">
              <a:solidFill>
                <a:srgbClr val="9A9A9A"/>
              </a:solidFill>
            </a:ln>
          </p:spPr>
        </p:sp>
        <p:sp>
          <p:nvSpPr>
            <p:cNvPr id="126" name="Rectangle 126"/>
            <p:cNvSpPr/>
            <p:nvPr/>
          </p:nvSpPr>
          <p:spPr>
            <a:xfrm>
              <a:off x="5829300" y="5838825"/>
              <a:ext cx="95250" cy="95250"/>
            </a:xfrm>
            <a:prstGeom prst="rect">
              <a:avLst/>
            </a:prstGeom>
            <a:solidFill>
              <a:srgbClr val="D8482E"/>
            </a:solidFill>
            <a:ln>
              <a:noFill/>
            </a:ln>
          </p:spPr>
        </p:sp>
        <p:sp>
          <p:nvSpPr>
            <p:cNvPr id="127" name="TextBox 127"/>
            <p:cNvSpPr txBox="1"/>
            <p:nvPr/>
          </p:nvSpPr>
          <p:spPr>
            <a:xfrm>
              <a:off x="5967412" y="5855732"/>
              <a:ext cx="401538"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非常同意​</a:t>
              </a:r>
            </a:p>
          </p:txBody>
        </p:sp>
        <p:sp>
          <p:nvSpPr>
            <p:cNvPr id="128" name="Rectangle 128"/>
            <p:cNvSpPr/>
            <p:nvPr/>
          </p:nvSpPr>
          <p:spPr>
            <a:xfrm>
              <a:off x="6452044" y="5838825"/>
              <a:ext cx="95250" cy="95250"/>
            </a:xfrm>
            <a:prstGeom prst="rect">
              <a:avLst/>
            </a:prstGeom>
            <a:solidFill>
              <a:srgbClr val="C35642"/>
            </a:solidFill>
            <a:ln>
              <a:noFill/>
            </a:ln>
          </p:spPr>
        </p:sp>
        <p:sp>
          <p:nvSpPr>
            <p:cNvPr id="129" name="TextBox 129"/>
            <p:cNvSpPr txBox="1"/>
            <p:nvPr/>
          </p:nvSpPr>
          <p:spPr>
            <a:xfrm>
              <a:off x="6590157" y="5855732"/>
              <a:ext cx="401538"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比较同意​</a:t>
              </a:r>
            </a:p>
          </p:txBody>
        </p:sp>
        <p:sp>
          <p:nvSpPr>
            <p:cNvPr id="130" name="Rectangle 130"/>
            <p:cNvSpPr/>
            <p:nvPr/>
          </p:nvSpPr>
          <p:spPr>
            <a:xfrm>
              <a:off x="7074789" y="5838825"/>
              <a:ext cx="95250" cy="95250"/>
            </a:xfrm>
            <a:prstGeom prst="rect">
              <a:avLst/>
            </a:prstGeom>
            <a:solidFill>
              <a:srgbClr val="AA1B00"/>
            </a:solidFill>
            <a:ln>
              <a:noFill/>
            </a:ln>
          </p:spPr>
        </p:sp>
        <p:sp>
          <p:nvSpPr>
            <p:cNvPr id="131" name="TextBox 131"/>
            <p:cNvSpPr txBox="1"/>
            <p:nvPr/>
          </p:nvSpPr>
          <p:spPr>
            <a:xfrm>
              <a:off x="7212902" y="5855732"/>
              <a:ext cx="229225"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中立​</a:t>
              </a:r>
            </a:p>
          </p:txBody>
        </p:sp>
        <p:sp>
          <p:nvSpPr>
            <p:cNvPr id="132" name="Rectangle 132"/>
            <p:cNvSpPr/>
            <p:nvPr/>
          </p:nvSpPr>
          <p:spPr>
            <a:xfrm>
              <a:off x="7524274" y="5838825"/>
              <a:ext cx="95250" cy="95250"/>
            </a:xfrm>
            <a:prstGeom prst="rect">
              <a:avLst/>
            </a:prstGeom>
            <a:solidFill>
              <a:srgbClr val="6B1100"/>
            </a:solidFill>
            <a:ln>
              <a:noFill/>
            </a:ln>
          </p:spPr>
        </p:sp>
        <p:sp>
          <p:nvSpPr>
            <p:cNvPr id="133" name="TextBox 133"/>
            <p:cNvSpPr txBox="1"/>
            <p:nvPr/>
          </p:nvSpPr>
          <p:spPr>
            <a:xfrm>
              <a:off x="7662386" y="5855732"/>
              <a:ext cx="487695"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比较不同意​</a:t>
              </a:r>
            </a:p>
          </p:txBody>
        </p:sp>
        <p:sp>
          <p:nvSpPr>
            <p:cNvPr id="134" name="Rectangle 134"/>
            <p:cNvSpPr/>
            <p:nvPr/>
          </p:nvSpPr>
          <p:spPr>
            <a:xfrm>
              <a:off x="8233648" y="5838825"/>
              <a:ext cx="95250" cy="95250"/>
            </a:xfrm>
            <a:prstGeom prst="rect">
              <a:avLst/>
            </a:prstGeom>
            <a:solidFill>
              <a:srgbClr val="4A150B"/>
            </a:solidFill>
            <a:ln>
              <a:noFill/>
            </a:ln>
          </p:spPr>
        </p:sp>
        <p:sp>
          <p:nvSpPr>
            <p:cNvPr id="135" name="TextBox 135"/>
            <p:cNvSpPr txBox="1"/>
            <p:nvPr/>
          </p:nvSpPr>
          <p:spPr>
            <a:xfrm>
              <a:off x="8371761" y="5855732"/>
              <a:ext cx="487695"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非常不同意​</a:t>
              </a:r>
            </a:p>
          </p:txBody>
        </p:sp>
      </p:grpSp>
      <p:grpSp>
        <p:nvGrpSpPr>
          <p:cNvPr id="170" name="nav"/>
          <p:cNvGrpSpPr/>
          <p:nvPr/>
        </p:nvGrpSpPr>
        <p:grpSpPr>
          <a:xfrm>
            <a:off x="9834562" y="0"/>
            <a:ext cx="2357438" cy="6858000"/>
            <a:chOff x="9834562" y="0"/>
            <a:chExt cx="2357438" cy="6858000"/>
          </a:xfrm>
        </p:grpSpPr>
        <p:sp>
          <p:nvSpPr>
            <p:cNvPr id="137" name="Line 137"/>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38" name="Rectangle 138"/>
            <p:cNvSpPr/>
            <p:nvPr/>
          </p:nvSpPr>
          <p:spPr>
            <a:xfrm>
              <a:off x="9839325" y="476250"/>
              <a:ext cx="2352675" cy="514350"/>
            </a:xfrm>
            <a:prstGeom prst="rect">
              <a:avLst/>
            </a:prstGeom>
            <a:solidFill>
              <a:srgbClr val="F3F3F3"/>
            </a:solidFill>
            <a:ln>
              <a:noFill/>
            </a:ln>
          </p:spPr>
        </p:sp>
        <p:sp>
          <p:nvSpPr>
            <p:cNvPr id="139" name="TextBox 139"/>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40" name="Rectangle 140"/>
            <p:cNvSpPr/>
            <p:nvPr/>
          </p:nvSpPr>
          <p:spPr>
            <a:xfrm>
              <a:off x="9839325" y="1000125"/>
              <a:ext cx="2352675" cy="514350"/>
            </a:xfrm>
            <a:prstGeom prst="rect">
              <a:avLst/>
            </a:prstGeom>
            <a:solidFill>
              <a:srgbClr val="F3F3F3"/>
            </a:solidFill>
            <a:ln>
              <a:noFill/>
            </a:ln>
          </p:spPr>
        </p:sp>
        <p:sp>
          <p:nvSpPr>
            <p:cNvPr id="141" name="TextBox 141"/>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42" name="Rectangle 142"/>
            <p:cNvSpPr/>
            <p:nvPr/>
          </p:nvSpPr>
          <p:spPr>
            <a:xfrm>
              <a:off x="9839325" y="1524000"/>
              <a:ext cx="2352675" cy="514350"/>
            </a:xfrm>
            <a:prstGeom prst="rect">
              <a:avLst/>
            </a:prstGeom>
            <a:solidFill>
              <a:srgbClr val="F3F3F3"/>
            </a:solidFill>
            <a:ln>
              <a:noFill/>
            </a:ln>
          </p:spPr>
        </p:sp>
        <p:sp>
          <p:nvSpPr>
            <p:cNvPr id="143" name="TextBox 143"/>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44" name="Rectangle 144"/>
            <p:cNvSpPr/>
            <p:nvPr/>
          </p:nvSpPr>
          <p:spPr>
            <a:xfrm>
              <a:off x="9839325" y="2047875"/>
              <a:ext cx="2352675" cy="514350"/>
            </a:xfrm>
            <a:prstGeom prst="rect">
              <a:avLst/>
            </a:prstGeom>
            <a:solidFill>
              <a:srgbClr val="F3F3F3"/>
            </a:solidFill>
            <a:ln>
              <a:noFill/>
            </a:ln>
          </p:spPr>
        </p:sp>
        <p:sp>
          <p:nvSpPr>
            <p:cNvPr id="145" name="TextBox 145"/>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46" name="Rectangle 146"/>
            <p:cNvSpPr/>
            <p:nvPr/>
          </p:nvSpPr>
          <p:spPr>
            <a:xfrm>
              <a:off x="9839325" y="2571750"/>
              <a:ext cx="2352675" cy="514350"/>
            </a:xfrm>
            <a:prstGeom prst="rect">
              <a:avLst/>
            </a:prstGeom>
            <a:solidFill>
              <a:srgbClr val="F3F3F3"/>
            </a:solidFill>
            <a:ln>
              <a:noFill/>
            </a:ln>
          </p:spPr>
        </p:sp>
        <p:sp>
          <p:nvSpPr>
            <p:cNvPr id="147" name="TextBox 147"/>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48" name="Rectangle 148"/>
            <p:cNvSpPr/>
            <p:nvPr/>
          </p:nvSpPr>
          <p:spPr>
            <a:xfrm>
              <a:off x="9839325" y="3095625"/>
              <a:ext cx="2352675" cy="514350"/>
            </a:xfrm>
            <a:prstGeom prst="rect">
              <a:avLst/>
            </a:prstGeom>
            <a:solidFill>
              <a:srgbClr val="F3F3F3"/>
            </a:solidFill>
            <a:ln>
              <a:noFill/>
            </a:ln>
          </p:spPr>
        </p:sp>
        <p:sp>
          <p:nvSpPr>
            <p:cNvPr id="149" name="TextBox 149"/>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50" name="Rectangle 150"/>
            <p:cNvSpPr/>
            <p:nvPr/>
          </p:nvSpPr>
          <p:spPr>
            <a:xfrm>
              <a:off x="9839325" y="3619500"/>
              <a:ext cx="2352675" cy="514350"/>
            </a:xfrm>
            <a:prstGeom prst="rect">
              <a:avLst/>
            </a:prstGeom>
            <a:solidFill>
              <a:srgbClr val="AA1B00"/>
            </a:solidFill>
            <a:ln>
              <a:noFill/>
            </a:ln>
          </p:spPr>
        </p:sp>
        <p:sp>
          <p:nvSpPr>
            <p:cNvPr id="151" name="TextBox 151"/>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技术与工具：改进空间</a:t>
              </a:r>
            </a:p>
          </p:txBody>
        </p:sp>
        <p:sp>
          <p:nvSpPr>
            <p:cNvPr id="152" name="Rectangle 152"/>
            <p:cNvSpPr/>
            <p:nvPr/>
          </p:nvSpPr>
          <p:spPr>
            <a:xfrm>
              <a:off x="9839325" y="4143375"/>
              <a:ext cx="2352675" cy="514350"/>
            </a:xfrm>
            <a:prstGeom prst="rect">
              <a:avLst/>
            </a:prstGeom>
            <a:solidFill>
              <a:srgbClr val="F3F3F3"/>
            </a:solidFill>
            <a:ln>
              <a:noFill/>
            </a:ln>
          </p:spPr>
        </p:sp>
        <p:sp>
          <p:nvSpPr>
            <p:cNvPr id="153" name="TextBox 153"/>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54" name="Rectangle 154"/>
            <p:cNvSpPr/>
            <p:nvPr/>
          </p:nvSpPr>
          <p:spPr>
            <a:xfrm>
              <a:off x="9839325" y="4667250"/>
              <a:ext cx="2352675" cy="514350"/>
            </a:xfrm>
            <a:prstGeom prst="rect">
              <a:avLst/>
            </a:prstGeom>
            <a:solidFill>
              <a:srgbClr val="F3F3F3"/>
            </a:solidFill>
            <a:ln>
              <a:noFill/>
            </a:ln>
          </p:spPr>
        </p:sp>
        <p:sp>
          <p:nvSpPr>
            <p:cNvPr id="155" name="TextBox 155"/>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56" name="Rectangle 156"/>
            <p:cNvSpPr/>
            <p:nvPr/>
          </p:nvSpPr>
          <p:spPr>
            <a:xfrm>
              <a:off x="9839325" y="5191125"/>
              <a:ext cx="2352675" cy="514350"/>
            </a:xfrm>
            <a:prstGeom prst="rect">
              <a:avLst/>
            </a:prstGeom>
            <a:solidFill>
              <a:srgbClr val="F3F3F3"/>
            </a:solidFill>
            <a:ln>
              <a:noFill/>
            </a:ln>
          </p:spPr>
        </p:sp>
        <p:sp>
          <p:nvSpPr>
            <p:cNvPr id="157" name="TextBox 157"/>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58" name="Rectangle 158"/>
            <p:cNvSpPr/>
            <p:nvPr/>
          </p:nvSpPr>
          <p:spPr>
            <a:xfrm>
              <a:off x="9839325" y="5715000"/>
              <a:ext cx="2352675" cy="514350"/>
            </a:xfrm>
            <a:prstGeom prst="rect">
              <a:avLst/>
            </a:prstGeom>
            <a:solidFill>
              <a:srgbClr val="F3F3F3"/>
            </a:solidFill>
            <a:ln>
              <a:noFill/>
            </a:ln>
          </p:spPr>
        </p:sp>
        <p:sp>
          <p:nvSpPr>
            <p:cNvPr id="159" name="TextBox 159"/>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60" name="Ellipse 160"/>
            <p:cNvSpPr/>
            <p:nvPr/>
          </p:nvSpPr>
          <p:spPr>
            <a:xfrm>
              <a:off x="10020300" y="6372225"/>
              <a:ext cx="266700" cy="266700"/>
            </a:xfrm>
            <a:prstGeom prst="ellipse">
              <a:avLst/>
            </a:prstGeom>
            <a:solidFill>
              <a:srgbClr val="D7D8D6"/>
            </a:solidFill>
            <a:ln>
              <a:noFill/>
            </a:ln>
          </p:spPr>
        </p:sp>
        <p:sp>
          <p:nvSpPr>
            <p:cNvPr id="161" name="Freeform 161"/>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62" name="Ellipse 162"/>
            <p:cNvSpPr/>
            <p:nvPr/>
          </p:nvSpPr>
          <p:spPr>
            <a:xfrm>
              <a:off x="10420350" y="6372225"/>
              <a:ext cx="266700" cy="266700"/>
            </a:xfrm>
            <a:prstGeom prst="ellipse">
              <a:avLst/>
            </a:prstGeom>
            <a:solidFill>
              <a:srgbClr val="D7D8D6"/>
            </a:solidFill>
            <a:ln>
              <a:noFill/>
            </a:ln>
          </p:spPr>
        </p:sp>
        <p:grpSp>
          <p:nvGrpSpPr>
            <p:cNvPr id="166" name="Group 166"/>
            <p:cNvGrpSpPr/>
            <p:nvPr/>
          </p:nvGrpSpPr>
          <p:grpSpPr>
            <a:xfrm>
              <a:off x="10489406" y="6441281"/>
              <a:ext cx="128588" cy="128588"/>
              <a:chOff x="10489406" y="6441281"/>
              <a:chExt cx="128588" cy="128588"/>
            </a:xfrm>
          </p:grpSpPr>
          <p:sp>
            <p:nvSpPr>
              <p:cNvPr id="163" name="Freeform 163"/>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64" name="Freeform 164"/>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65" name="Freeform 165"/>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67" name="Ellipse 167"/>
            <p:cNvSpPr/>
            <p:nvPr/>
          </p:nvSpPr>
          <p:spPr>
            <a:xfrm>
              <a:off x="10820400" y="6372225"/>
              <a:ext cx="266700" cy="266700"/>
            </a:xfrm>
            <a:prstGeom prst="ellipse">
              <a:avLst/>
            </a:prstGeom>
            <a:solidFill>
              <a:srgbClr val="D7D8D6"/>
            </a:solidFill>
            <a:ln>
              <a:noFill/>
            </a:ln>
          </p:spPr>
        </p:sp>
        <p:sp>
          <p:nvSpPr>
            <p:cNvPr id="168" name="Freeform 168"/>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69" name="TextBox 169"/>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33</a:t>
              </a:r>
            </a:p>
          </p:txBody>
        </p:sp>
      </p:gr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ave-field"/>
          <p:cNvSpPr/>
          <p:nvPr/>
        </p:nvSpPr>
        <p:spPr>
          <a:xfrm>
            <a:off x="0" y="0"/>
            <a:ext cx="9829800" cy="6858000"/>
          </a:xfrm>
          <a:prstGeom prst="rect">
            <a:avLst/>
          </a:prstGeom>
          <a:gradFill>
            <a:gsLst>
              <a:gs pos="0">
                <a:srgbClr val="AE503F"/>
              </a:gs>
              <a:gs pos="55000">
                <a:srgbClr val="C86B5A"/>
              </a:gs>
              <a:gs pos="100000">
                <a:srgbClr val="E3ADA3"/>
              </a:gs>
            </a:gsLst>
            <a:lin ang="2700000" scaled="1"/>
          </a:gradFill>
          <a:ln>
            <a:noFill/>
          </a:ln>
        </p:spPr>
      </p:sp>
      <p:sp>
        <p:nvSpPr>
          <p:cNvPr id="3" name="wave-1"/>
          <p:cNvSpPr/>
          <p:nvPr/>
        </p:nvSpPr>
        <p:spPr>
          <a:xfrm rot="-840000">
            <a:off x="0" y="4000500"/>
            <a:ext cx="11811000" cy="2667000"/>
          </a:xfrm>
          <a:prstGeom prst="ellipse">
            <a:avLst/>
          </a:prstGeom>
          <a:solidFill>
            <a:srgbClr val="FFFFFF">
              <a:alpha val="12000"/>
            </a:srgbClr>
          </a:solidFill>
          <a:ln>
            <a:noFill/>
          </a:ln>
        </p:spPr>
      </p:sp>
      <p:sp>
        <p:nvSpPr>
          <p:cNvPr id="4" name="wave-2"/>
          <p:cNvSpPr/>
          <p:nvPr/>
        </p:nvSpPr>
        <p:spPr>
          <a:xfrm rot="-1080000">
            <a:off x="-2095500" y="95250"/>
            <a:ext cx="9906000" cy="2095500"/>
          </a:xfrm>
          <a:prstGeom prst="ellipse">
            <a:avLst/>
          </a:prstGeom>
          <a:solidFill>
            <a:srgbClr val="FFFFFF">
              <a:alpha val="10000"/>
            </a:srgbClr>
          </a:solidFill>
          <a:ln>
            <a:noFill/>
          </a:ln>
        </p:spPr>
      </p:sp>
      <p:sp>
        <p:nvSpPr>
          <p:cNvPr id="5" name="wave-3"/>
          <p:cNvSpPr/>
          <p:nvPr/>
        </p:nvSpPr>
        <p:spPr>
          <a:xfrm rot="-720000">
            <a:off x="3238500" y="2190750"/>
            <a:ext cx="8001000" cy="1333500"/>
          </a:xfrm>
          <a:prstGeom prst="ellipse">
            <a:avLst/>
          </a:prstGeom>
          <a:solidFill>
            <a:srgbClr val="8A392A">
              <a:alpha val="16000"/>
            </a:srgbClr>
          </a:solidFill>
          <a:ln>
            <a:noFill/>
          </a:ln>
        </p:spPr>
      </p:sp>
      <p:grpSp>
        <p:nvGrpSpPr>
          <p:cNvPr id="10" name="section-title"/>
          <p:cNvGrpSpPr/>
          <p:nvPr/>
        </p:nvGrpSpPr>
        <p:grpSpPr>
          <a:xfrm>
            <a:off x="745236" y="2025015"/>
            <a:ext cx="3870124" cy="1718310"/>
            <a:chOff x="745236" y="2025015"/>
            <a:chExt cx="3870124" cy="1718310"/>
          </a:xfrm>
        </p:grpSpPr>
        <p:sp>
          <p:nvSpPr>
            <p:cNvPr id="6" name="TextBox 6"/>
            <p:cNvSpPr txBox="1"/>
            <p:nvPr/>
          </p:nvSpPr>
          <p:spPr>
            <a:xfrm>
              <a:off x="745236" y="2025015"/>
              <a:ext cx="2254758" cy="645414"/>
            </a:xfrm>
            <a:prstGeom prst="rect">
              <a:avLst/>
            </a:prstGeom>
            <a:noFill/>
            <a:ln>
              <a:noFill/>
            </a:ln>
          </p:spPr>
          <p:txBody>
            <a:bodyPr wrap="none" lIns="0" tIns="0" rIns="0" bIns="0" anchor="t" anchorCtr="0">
              <a:spAutoFit/>
            </a:bodyPr>
            <a:lstStyle/>
            <a:p>
              <a:pPr algn="l"/>
              <a:r>
                <a:rPr lang="zh-CN" sz="3300" b="1" dirty="0">
                  <a:solidFill>
                    <a:srgbClr val="FFFFFF"/>
                  </a:solidFill>
                  <a:latin typeface="+mn-lt"/>
                  <a:ea typeface="+mn-ea"/>
                  <a:cs typeface="+mn-cs"/>
                </a:rPr>
                <a:t>风险缓释：</a:t>
              </a:r>
            </a:p>
          </p:txBody>
        </p:sp>
        <p:sp>
          <p:nvSpPr>
            <p:cNvPr id="7" name="TextBox 7"/>
            <p:cNvSpPr txBox="1"/>
            <p:nvPr/>
          </p:nvSpPr>
          <p:spPr>
            <a:xfrm>
              <a:off x="748284" y="2661285"/>
              <a:ext cx="2571750" cy="528066"/>
            </a:xfrm>
            <a:prstGeom prst="rect">
              <a:avLst/>
            </a:prstGeom>
            <a:noFill/>
            <a:ln>
              <a:noFill/>
            </a:ln>
          </p:spPr>
          <p:txBody>
            <a:bodyPr wrap="none" lIns="0" tIns="0" rIns="0" bIns="0" anchor="t" anchorCtr="0">
              <a:spAutoFit/>
            </a:bodyPr>
            <a:lstStyle/>
            <a:p>
              <a:pPr algn="l"/>
              <a:r>
                <a:rPr lang="zh-CN" sz="2700" dirty="0">
                  <a:solidFill>
                    <a:srgbClr val="FFFFFF"/>
                  </a:solidFill>
                  <a:latin typeface="+mn-lt"/>
                  <a:ea typeface="+mn-ea"/>
                  <a:cs typeface="+mn-cs"/>
                </a:rPr>
                <a:t>模型监控与报告</a:t>
              </a:r>
            </a:p>
          </p:txBody>
        </p:sp>
        <p:sp>
          <p:nvSpPr>
            <p:cNvPr id="8" name="TextBox 8"/>
            <p:cNvSpPr txBox="1"/>
            <p:nvPr/>
          </p:nvSpPr>
          <p:spPr>
            <a:xfrm>
              <a:off x="755904" y="3299460"/>
              <a:ext cx="3859456" cy="234696"/>
            </a:xfrm>
            <a:prstGeom prst="rect">
              <a:avLst/>
            </a:prstGeom>
            <a:noFill/>
            <a:ln>
              <a:noFill/>
            </a:ln>
          </p:spPr>
          <p:txBody>
            <a:bodyPr wrap="none" lIns="0" tIns="0" rIns="0" bIns="0" anchor="t" anchorCtr="0">
              <a:spAutoFit/>
            </a:bodyPr>
            <a:lstStyle/>
            <a:p>
              <a:pPr algn="l"/>
              <a:r>
                <a:rPr lang="en-US" sz="1200" dirty="0">
                  <a:solidFill>
                    <a:srgbClr val="FFFFFF">
                      <a:alphaMod val="90000"/>
                    </a:srgbClr>
                  </a:solidFill>
                  <a:latin typeface="+mn-lt"/>
                  <a:ea typeface="+mn-ea"/>
                  <a:cs typeface="+mn-cs"/>
                </a:rPr>
                <a:t>Mitigating risk: Model monitoring and reporting​</a:t>
              </a:r>
            </a:p>
          </p:txBody>
        </p:sp>
        <p:sp>
          <p:nvSpPr>
            <p:cNvPr id="9" name="Line 9"/>
            <p:cNvSpPr/>
            <p:nvPr/>
          </p:nvSpPr>
          <p:spPr>
            <a:xfrm>
              <a:off x="762000" y="3733800"/>
              <a:ext cx="1524000" cy="9525"/>
            </a:xfrm>
            <a:custGeom>
              <a:avLst/>
              <a:gdLst/>
              <a:ahLst/>
              <a:cxnLst/>
              <a:rect l="l" t="t" r="r" b="b"/>
              <a:pathLst>
                <a:path w="1524000" h="9525">
                  <a:moveTo>
                    <a:pt x="0" y="0"/>
                  </a:moveTo>
                  <a:lnTo>
                    <a:pt x="1524000" y="0"/>
                  </a:lnTo>
                </a:path>
              </a:pathLst>
            </a:custGeom>
            <a:noFill/>
            <a:ln w="19050">
              <a:solidFill>
                <a:srgbClr val="FFFFFF"/>
              </a:solidFill>
            </a:ln>
          </p:spPr>
        </p:sp>
      </p:grpSp>
      <p:grpSp>
        <p:nvGrpSpPr>
          <p:cNvPr id="44" name="nav"/>
          <p:cNvGrpSpPr/>
          <p:nvPr/>
        </p:nvGrpSpPr>
        <p:grpSpPr>
          <a:xfrm>
            <a:off x="9834562" y="0"/>
            <a:ext cx="2357438" cy="6858000"/>
            <a:chOff x="9834562" y="0"/>
            <a:chExt cx="2357438" cy="6858000"/>
          </a:xfrm>
        </p:grpSpPr>
        <p:sp>
          <p:nvSpPr>
            <p:cNvPr id="11" name="Line 11"/>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2" name="Rectangle 12"/>
            <p:cNvSpPr/>
            <p:nvPr/>
          </p:nvSpPr>
          <p:spPr>
            <a:xfrm>
              <a:off x="9839325" y="476250"/>
              <a:ext cx="2352675" cy="514350"/>
            </a:xfrm>
            <a:prstGeom prst="rect">
              <a:avLst/>
            </a:prstGeom>
            <a:solidFill>
              <a:srgbClr val="F3F3F3"/>
            </a:solidFill>
            <a:ln>
              <a:noFill/>
            </a:ln>
          </p:spPr>
        </p:sp>
        <p:sp>
          <p:nvSpPr>
            <p:cNvPr id="13" name="TextBox 13"/>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4" name="Rectangle 14"/>
            <p:cNvSpPr/>
            <p:nvPr/>
          </p:nvSpPr>
          <p:spPr>
            <a:xfrm>
              <a:off x="9839325" y="1000125"/>
              <a:ext cx="2352675" cy="514350"/>
            </a:xfrm>
            <a:prstGeom prst="rect">
              <a:avLst/>
            </a:prstGeom>
            <a:solidFill>
              <a:srgbClr val="F3F3F3"/>
            </a:solidFill>
            <a:ln>
              <a:noFill/>
            </a:ln>
          </p:spPr>
        </p:sp>
        <p:sp>
          <p:nvSpPr>
            <p:cNvPr id="15" name="TextBox 15"/>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6" name="Rectangle 16"/>
            <p:cNvSpPr/>
            <p:nvPr/>
          </p:nvSpPr>
          <p:spPr>
            <a:xfrm>
              <a:off x="9839325" y="1524000"/>
              <a:ext cx="2352675" cy="514350"/>
            </a:xfrm>
            <a:prstGeom prst="rect">
              <a:avLst/>
            </a:prstGeom>
            <a:solidFill>
              <a:srgbClr val="F3F3F3"/>
            </a:solidFill>
            <a:ln>
              <a:noFill/>
            </a:ln>
          </p:spPr>
        </p:sp>
        <p:sp>
          <p:nvSpPr>
            <p:cNvPr id="17" name="TextBox 17"/>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8" name="Rectangle 18"/>
            <p:cNvSpPr/>
            <p:nvPr/>
          </p:nvSpPr>
          <p:spPr>
            <a:xfrm>
              <a:off x="9839325" y="2047875"/>
              <a:ext cx="2352675" cy="514350"/>
            </a:xfrm>
            <a:prstGeom prst="rect">
              <a:avLst/>
            </a:prstGeom>
            <a:solidFill>
              <a:srgbClr val="F3F3F3"/>
            </a:solidFill>
            <a:ln>
              <a:noFill/>
            </a:ln>
          </p:spPr>
        </p:sp>
        <p:sp>
          <p:nvSpPr>
            <p:cNvPr id="19" name="TextBox 19"/>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20" name="Rectangle 20"/>
            <p:cNvSpPr/>
            <p:nvPr/>
          </p:nvSpPr>
          <p:spPr>
            <a:xfrm>
              <a:off x="9839325" y="2571750"/>
              <a:ext cx="2352675" cy="514350"/>
            </a:xfrm>
            <a:prstGeom prst="rect">
              <a:avLst/>
            </a:prstGeom>
            <a:solidFill>
              <a:srgbClr val="F3F3F3"/>
            </a:solidFill>
            <a:ln>
              <a:noFill/>
            </a:ln>
          </p:spPr>
        </p:sp>
        <p:sp>
          <p:nvSpPr>
            <p:cNvPr id="21" name="TextBox 21"/>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22" name="Rectangle 22"/>
            <p:cNvSpPr/>
            <p:nvPr/>
          </p:nvSpPr>
          <p:spPr>
            <a:xfrm>
              <a:off x="9839325" y="3095625"/>
              <a:ext cx="2352675" cy="514350"/>
            </a:xfrm>
            <a:prstGeom prst="rect">
              <a:avLst/>
            </a:prstGeom>
            <a:solidFill>
              <a:srgbClr val="F3F3F3"/>
            </a:solidFill>
            <a:ln>
              <a:noFill/>
            </a:ln>
          </p:spPr>
        </p:sp>
        <p:sp>
          <p:nvSpPr>
            <p:cNvPr id="23" name="TextBox 23"/>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24" name="Rectangle 24"/>
            <p:cNvSpPr/>
            <p:nvPr/>
          </p:nvSpPr>
          <p:spPr>
            <a:xfrm>
              <a:off x="9839325" y="3619500"/>
              <a:ext cx="2352675" cy="514350"/>
            </a:xfrm>
            <a:prstGeom prst="rect">
              <a:avLst/>
            </a:prstGeom>
            <a:solidFill>
              <a:srgbClr val="F3F3F3"/>
            </a:solidFill>
            <a:ln>
              <a:noFill/>
            </a:ln>
          </p:spPr>
        </p:sp>
        <p:sp>
          <p:nvSpPr>
            <p:cNvPr id="25" name="TextBox 25"/>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26" name="Rectangle 26"/>
            <p:cNvSpPr/>
            <p:nvPr/>
          </p:nvSpPr>
          <p:spPr>
            <a:xfrm>
              <a:off x="9839325" y="4143375"/>
              <a:ext cx="2352675" cy="514350"/>
            </a:xfrm>
            <a:prstGeom prst="rect">
              <a:avLst/>
            </a:prstGeom>
            <a:solidFill>
              <a:srgbClr val="C35642"/>
            </a:solidFill>
            <a:ln>
              <a:noFill/>
            </a:ln>
          </p:spPr>
        </p:sp>
        <p:sp>
          <p:nvSpPr>
            <p:cNvPr id="27" name="TextBox 27"/>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风险缓释：模型监控与报告</a:t>
              </a:r>
            </a:p>
          </p:txBody>
        </p:sp>
        <p:sp>
          <p:nvSpPr>
            <p:cNvPr id="28" name="Rectangle 28"/>
            <p:cNvSpPr/>
            <p:nvPr/>
          </p:nvSpPr>
          <p:spPr>
            <a:xfrm>
              <a:off x="9839325" y="4667250"/>
              <a:ext cx="2352675" cy="514350"/>
            </a:xfrm>
            <a:prstGeom prst="rect">
              <a:avLst/>
            </a:prstGeom>
            <a:solidFill>
              <a:srgbClr val="F3F3F3"/>
            </a:solidFill>
            <a:ln>
              <a:noFill/>
            </a:ln>
          </p:spPr>
        </p:sp>
        <p:sp>
          <p:nvSpPr>
            <p:cNvPr id="29" name="TextBox 29"/>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30" name="Rectangle 30"/>
            <p:cNvSpPr/>
            <p:nvPr/>
          </p:nvSpPr>
          <p:spPr>
            <a:xfrm>
              <a:off x="9839325" y="5191125"/>
              <a:ext cx="2352675" cy="514350"/>
            </a:xfrm>
            <a:prstGeom prst="rect">
              <a:avLst/>
            </a:prstGeom>
            <a:solidFill>
              <a:srgbClr val="F3F3F3"/>
            </a:solidFill>
            <a:ln>
              <a:noFill/>
            </a:ln>
          </p:spPr>
        </p:sp>
        <p:sp>
          <p:nvSpPr>
            <p:cNvPr id="31" name="TextBox 31"/>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32" name="Rectangle 32"/>
            <p:cNvSpPr/>
            <p:nvPr/>
          </p:nvSpPr>
          <p:spPr>
            <a:xfrm>
              <a:off x="9839325" y="5715000"/>
              <a:ext cx="2352675" cy="514350"/>
            </a:xfrm>
            <a:prstGeom prst="rect">
              <a:avLst/>
            </a:prstGeom>
            <a:solidFill>
              <a:srgbClr val="F3F3F3"/>
            </a:solidFill>
            <a:ln>
              <a:noFill/>
            </a:ln>
          </p:spPr>
        </p:sp>
        <p:sp>
          <p:nvSpPr>
            <p:cNvPr id="33" name="TextBox 33"/>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34" name="Ellipse 34"/>
            <p:cNvSpPr/>
            <p:nvPr/>
          </p:nvSpPr>
          <p:spPr>
            <a:xfrm>
              <a:off x="10020300" y="6372225"/>
              <a:ext cx="266700" cy="266700"/>
            </a:xfrm>
            <a:prstGeom prst="ellipse">
              <a:avLst/>
            </a:prstGeom>
            <a:solidFill>
              <a:srgbClr val="D7D8D6"/>
            </a:solidFill>
            <a:ln>
              <a:noFill/>
            </a:ln>
          </p:spPr>
        </p:sp>
        <p:sp>
          <p:nvSpPr>
            <p:cNvPr id="35" name="Freeform 35"/>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36" name="Ellipse 36"/>
            <p:cNvSpPr/>
            <p:nvPr/>
          </p:nvSpPr>
          <p:spPr>
            <a:xfrm>
              <a:off x="10420350" y="6372225"/>
              <a:ext cx="266700" cy="266700"/>
            </a:xfrm>
            <a:prstGeom prst="ellipse">
              <a:avLst/>
            </a:prstGeom>
            <a:solidFill>
              <a:srgbClr val="D7D8D6"/>
            </a:solidFill>
            <a:ln>
              <a:noFill/>
            </a:ln>
          </p:spPr>
        </p:sp>
        <p:grpSp>
          <p:nvGrpSpPr>
            <p:cNvPr id="40" name="Group 40"/>
            <p:cNvGrpSpPr/>
            <p:nvPr/>
          </p:nvGrpSpPr>
          <p:grpSpPr>
            <a:xfrm>
              <a:off x="10489406" y="6441281"/>
              <a:ext cx="128588" cy="128588"/>
              <a:chOff x="10489406" y="6441281"/>
              <a:chExt cx="128588" cy="128588"/>
            </a:xfrm>
          </p:grpSpPr>
          <p:sp>
            <p:nvSpPr>
              <p:cNvPr id="37" name="Freeform 37"/>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38" name="Freeform 38"/>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39" name="Freeform 39"/>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41" name="Ellipse 41"/>
            <p:cNvSpPr/>
            <p:nvPr/>
          </p:nvSpPr>
          <p:spPr>
            <a:xfrm>
              <a:off x="10820400" y="6372225"/>
              <a:ext cx="266700" cy="266700"/>
            </a:xfrm>
            <a:prstGeom prst="ellipse">
              <a:avLst/>
            </a:prstGeom>
            <a:solidFill>
              <a:srgbClr val="D7D8D6"/>
            </a:solidFill>
            <a:ln>
              <a:noFill/>
            </a:ln>
          </p:spPr>
        </p:sp>
        <p:sp>
          <p:nvSpPr>
            <p:cNvPr id="42" name="Freeform 42"/>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43" name="TextBox 43"/>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34</a:t>
              </a:r>
            </a:p>
          </p:txBody>
        </p:sp>
      </p:gr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35642"/>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35</a:t>
              </a:r>
            </a:p>
          </p:txBody>
        </p:sp>
        <p:sp>
          <p:nvSpPr>
            <p:cNvPr id="4" name="TextBox 4"/>
            <p:cNvSpPr txBox="1"/>
            <p:nvPr/>
          </p:nvSpPr>
          <p:spPr>
            <a:xfrm>
              <a:off x="942594" y="151448"/>
              <a:ext cx="378577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监控与报告：</a:t>
              </a:r>
              <a:r>
                <a:rPr lang="zh-CN" sz="1950" b="1" dirty="0">
                  <a:solidFill>
                    <a:srgbClr val="AA1B00"/>
                  </a:solidFill>
                  <a:latin typeface="+mj-lt"/>
                  <a:ea typeface="+mj-ea"/>
                  <a:cs typeface="+mj-cs"/>
                </a:rPr>
                <a:t>模型监控</a:t>
              </a:r>
              <a:r>
                <a:rPr lang="zh-CN" sz="1950" b="1" dirty="0">
                  <a:solidFill>
                    <a:srgbClr val="1A1A1A"/>
                  </a:solidFill>
                  <a:latin typeface="+mj-lt"/>
                  <a:ea typeface="+mj-ea"/>
                  <a:cs typeface="+mj-cs"/>
                </a:rPr>
                <a:t>的实践​</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C35642"/>
              </a:solidFill>
            </a:ln>
          </p:spPr>
        </p:sp>
      </p:grpSp>
      <p:grpSp>
        <p:nvGrpSpPr>
          <p:cNvPr id="9" name="leadbox"/>
          <p:cNvGrpSpPr/>
          <p:nvPr/>
        </p:nvGrpSpPr>
        <p:grpSpPr>
          <a:xfrm>
            <a:off x="476250" y="762000"/>
            <a:ext cx="9144000" cy="628650"/>
            <a:chOff x="476250" y="762000"/>
            <a:chExt cx="9144000" cy="628650"/>
          </a:xfrm>
        </p:grpSpPr>
        <p:sp>
          <p:nvSpPr>
            <p:cNvPr id="7" name="Rectangle 7"/>
            <p:cNvSpPr/>
            <p:nvPr/>
          </p:nvSpPr>
          <p:spPr>
            <a:xfrm>
              <a:off x="476250" y="762000"/>
              <a:ext cx="9144000" cy="628650"/>
            </a:xfrm>
            <a:prstGeom prst="rect">
              <a:avLst/>
            </a:prstGeom>
            <a:solidFill>
              <a:srgbClr val="F7F7F7"/>
            </a:solidFill>
            <a:ln>
              <a:noFill/>
            </a:ln>
          </p:spPr>
        </p:sp>
        <p:sp>
          <p:nvSpPr>
            <p:cNvPr id="8" name="TextBox 8"/>
            <p:cNvSpPr txBox="1"/>
            <p:nvPr/>
          </p:nvSpPr>
          <p:spPr>
            <a:xfrm>
              <a:off x="604266" y="895350"/>
              <a:ext cx="8218361" cy="405384"/>
            </a:xfrm>
            <a:prstGeom prst="rect">
              <a:avLst/>
            </a:prstGeom>
            <a:noFill/>
            <a:ln>
              <a:noFill/>
            </a:ln>
          </p:spPr>
          <p:txBody>
            <a:bodyPr wrap="none" lIns="0" tIns="0" rIns="0" bIns="0" anchor="t" anchorCtr="0">
              <a:spAutoFit/>
            </a:bodyPr>
            <a:lstStyle/>
            <a:p>
              <a:pPr algn="l">
                <a:lnSpc>
                  <a:spcPts val="1575"/>
                </a:lnSpc>
              </a:pPr>
              <a:r>
                <a:rPr lang="zh-CN" sz="1050" dirty="0">
                  <a:solidFill>
                    <a:srgbClr val="AA1B00"/>
                  </a:solidFill>
                  <a:latin typeface="+mn-lt"/>
                  <a:ea typeface="+mn-ea"/>
                  <a:cs typeface="+mn-cs"/>
                </a:rPr>
                <a:t>模型监控有助于及时发现模型质量恶化（例如违反模型假设）、组合变化（例如模型重大性）、其他模型问题以及数据质量问题。当模型监​</a:t>
              </a:r>
              <a:br/>
              <a:r>
                <a:rPr lang="zh-CN" sz="1050" dirty="0">
                  <a:solidFill>
                    <a:srgbClr val="AA1B00"/>
                  </a:solidFill>
                  <a:latin typeface="+mn-lt"/>
                  <a:ea typeface="+mn-ea"/>
                  <a:cs typeface="+mn-cs"/>
                </a:rPr>
                <a:t>控实现自动化时，这些收益更大，带来贯穿模型生命周期的更智能的工作方式，以及对稀缺资源更高效的利用。​</a:t>
              </a:r>
            </a:p>
          </p:txBody>
        </p:sp>
      </p:grpSp>
      <p:grpSp>
        <p:nvGrpSpPr>
          <p:cNvPr id="15" name="col-1"/>
          <p:cNvGrpSpPr/>
          <p:nvPr/>
        </p:nvGrpSpPr>
        <p:grpSpPr>
          <a:xfrm>
            <a:off x="566547" y="1579245"/>
            <a:ext cx="2701481" cy="3128962"/>
            <a:chOff x="566547" y="1579245"/>
            <a:chExt cx="2701481" cy="3128962"/>
          </a:xfrm>
        </p:grpSpPr>
        <p:sp>
          <p:nvSpPr>
            <p:cNvPr id="10" name="TextBox 10"/>
            <p:cNvSpPr txBox="1"/>
            <p:nvPr/>
          </p:nvSpPr>
          <p:spPr>
            <a:xfrm>
              <a:off x="566738" y="1579245"/>
              <a:ext cx="2701290"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因此，模型监控有助于缓解模型开发和验证的资源​</a:t>
              </a:r>
              <a:br/>
              <a:r>
                <a:rPr lang="zh-CN" sz="900" dirty="0">
                  <a:solidFill>
                    <a:srgbClr val="333333"/>
                  </a:solidFill>
                  <a:latin typeface="+mn-lt"/>
                  <a:ea typeface="+mn-ea"/>
                  <a:cs typeface="+mn-cs"/>
                </a:rPr>
                <a:t>压力。例如，更频繁、更及时地掌握模型质量和重​</a:t>
              </a:r>
              <a:br/>
              <a:r>
                <a:rPr lang="zh-CN" sz="900" dirty="0">
                  <a:solidFill>
                    <a:srgbClr val="333333"/>
                  </a:solidFill>
                  <a:latin typeface="+mn-lt"/>
                  <a:ea typeface="+mn-ea"/>
                  <a:cs typeface="+mn-cs"/>
                </a:rPr>
                <a:t>大性信息，无需定期执行人工模型验证或一线复核。​</a:t>
              </a:r>
            </a:p>
          </p:txBody>
        </p:sp>
        <p:sp>
          <p:nvSpPr>
            <p:cNvPr id="11" name="TextBox 11"/>
            <p:cNvSpPr txBox="1"/>
            <p:nvPr/>
          </p:nvSpPr>
          <p:spPr>
            <a:xfrm>
              <a:off x="566547" y="2295049"/>
              <a:ext cx="613805"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监控实践​</a:t>
              </a:r>
            </a:p>
          </p:txBody>
        </p:sp>
        <p:sp>
          <p:nvSpPr>
            <p:cNvPr id="12" name="TextBox 12"/>
            <p:cNvSpPr txBox="1"/>
            <p:nvPr/>
          </p:nvSpPr>
          <p:spPr>
            <a:xfrm>
              <a:off x="566738" y="2460784"/>
              <a:ext cx="1051463"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Monitoring in practice​</a:t>
              </a:r>
            </a:p>
          </p:txBody>
        </p:sp>
        <p:sp>
          <p:nvSpPr>
            <p:cNvPr id="13" name="TextBox 13"/>
            <p:cNvSpPr txBox="1"/>
            <p:nvPr/>
          </p:nvSpPr>
          <p:spPr>
            <a:xfrm>
              <a:off x="566738" y="2617470"/>
              <a:ext cx="25869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调研中仅针对信用风险和市场风险模型评估了模型​</a:t>
              </a:r>
              <a:br/>
              <a:r>
                <a:rPr lang="zh-CN" sz="900" dirty="0">
                  <a:solidFill>
                    <a:srgbClr val="333333"/>
                  </a:solidFill>
                  <a:latin typeface="+mn-lt"/>
                  <a:ea typeface="+mn-ea"/>
                  <a:cs typeface="+mn-cs"/>
                </a:rPr>
                <a:t>监控，因为它们目前被视为监控最成熟的领域。银​</a:t>
              </a:r>
              <a:br/>
              <a:r>
                <a:rPr lang="zh-CN" sz="900" dirty="0">
                  <a:solidFill>
                    <a:srgbClr val="333333"/>
                  </a:solidFill>
                  <a:latin typeface="+mn-lt"/>
                  <a:ea typeface="+mn-ea"/>
                  <a:cs typeface="+mn-cs"/>
                </a:rPr>
                <a:t>行表示，模型表现、模型结果和组合特征/稳定​​</a:t>
              </a:r>
              <a:br/>
              <a:r>
                <a:rPr lang="zh-CN" sz="900" dirty="0">
                  <a:solidFill>
                    <a:srgbClr val="333333"/>
                  </a:solidFill>
                  <a:latin typeface="+mn-lt"/>
                  <a:ea typeface="+mn-ea"/>
                  <a:cs typeface="+mn-cs"/>
                </a:rPr>
                <a:t>性是最常监控的方面。在市场风险模型监控中，组​</a:t>
              </a:r>
              <a:br/>
              <a:r>
                <a:rPr lang="zh-CN" sz="900" dirty="0">
                  <a:solidFill>
                    <a:srgbClr val="333333"/>
                  </a:solidFill>
                  <a:latin typeface="+mn-lt"/>
                  <a:ea typeface="+mn-ea"/>
                  <a:cs typeface="+mn-cs"/>
                </a:rPr>
                <a:t>合特征/稳定性的作用远小于信用风险模型，因​​</a:t>
              </a:r>
              <a:br/>
              <a:r>
                <a:rPr lang="zh-CN" sz="900" dirty="0">
                  <a:solidFill>
                    <a:srgbClr val="333333"/>
                  </a:solidFill>
                  <a:latin typeface="+mn-lt"/>
                  <a:ea typeface="+mn-ea"/>
                  <a:cs typeface="+mn-cs"/>
                </a:rPr>
                <a:t>为这对市场风险模型的相关性较低。​</a:t>
              </a:r>
            </a:p>
          </p:txBody>
        </p:sp>
        <p:sp>
          <p:nvSpPr>
            <p:cNvPr id="14" name="TextBox 14"/>
            <p:cNvSpPr txBox="1"/>
            <p:nvPr/>
          </p:nvSpPr>
          <p:spPr>
            <a:xfrm>
              <a:off x="566738" y="3808095"/>
              <a:ext cx="25869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信用风险模型的监控比市场风险模型更常见。在所​</a:t>
              </a:r>
              <a:br/>
              <a:r>
                <a:rPr lang="zh-CN" sz="900" dirty="0">
                  <a:solidFill>
                    <a:srgbClr val="333333"/>
                  </a:solidFill>
                  <a:latin typeface="+mn-lt"/>
                  <a:ea typeface="+mn-ea"/>
                  <a:cs typeface="+mn-cs"/>
                </a:rPr>
                <a:t>有银行中，87%表示对信用风险模型进行监控，​​</a:t>
              </a:r>
              <a:br/>
              <a:r>
                <a:rPr lang="zh-CN" sz="900" dirty="0">
                  <a:solidFill>
                    <a:srgbClr val="333333"/>
                  </a:solidFill>
                  <a:latin typeface="+mn-lt"/>
                  <a:ea typeface="+mn-ea"/>
                  <a:cs typeface="+mn-cs"/>
                </a:rPr>
                <a:t>而市场风险模型仅为64%。大型银行中信用与市​​</a:t>
              </a:r>
              <a:br/>
              <a:r>
                <a:rPr lang="zh-CN" sz="900" dirty="0">
                  <a:solidFill>
                    <a:srgbClr val="333333"/>
                  </a:solidFill>
                  <a:latin typeface="+mn-lt"/>
                  <a:ea typeface="+mn-ea"/>
                  <a:cs typeface="+mn-cs"/>
                </a:rPr>
                <a:t>场风险的数字更接近，而小型银行更倾向于监控信​</a:t>
              </a:r>
              <a:br/>
              <a:r>
                <a:rPr lang="zh-CN" sz="900" dirty="0">
                  <a:solidFill>
                    <a:srgbClr val="333333"/>
                  </a:solidFill>
                  <a:latin typeface="+mn-lt"/>
                  <a:ea typeface="+mn-ea"/>
                  <a:cs typeface="+mn-cs"/>
                </a:rPr>
                <a:t>用风险模型而非市场风险模型。​</a:t>
              </a:r>
            </a:p>
          </p:txBody>
        </p:sp>
      </p:grpSp>
      <p:grpSp>
        <p:nvGrpSpPr>
          <p:cNvPr id="59" name="figure-41"/>
          <p:cNvGrpSpPr/>
          <p:nvPr/>
        </p:nvGrpSpPr>
        <p:grpSpPr>
          <a:xfrm>
            <a:off x="3729038" y="1587341"/>
            <a:ext cx="5506485" cy="4146947"/>
            <a:chOff x="3729038" y="1587341"/>
            <a:chExt cx="5506485" cy="4146947"/>
          </a:xfrm>
        </p:grpSpPr>
        <p:sp>
          <p:nvSpPr>
            <p:cNvPr id="16" name="TextBox 16"/>
            <p:cNvSpPr txBox="1"/>
            <p:nvPr/>
          </p:nvSpPr>
          <p:spPr>
            <a:xfrm>
              <a:off x="3729038" y="1587341"/>
              <a:ext cx="1798093"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图41. 模型监控流程中监控的方面​​</a:t>
              </a:r>
            </a:p>
          </p:txBody>
        </p:sp>
        <p:sp>
          <p:nvSpPr>
            <p:cNvPr id="17" name="TextBox 17"/>
            <p:cNvSpPr txBox="1"/>
            <p:nvPr/>
          </p:nvSpPr>
          <p:spPr>
            <a:xfrm>
              <a:off x="3729038" y="1731407"/>
              <a:ext cx="2816868"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Aspects that are monitored during the model monitoring process​​</a:t>
              </a:r>
            </a:p>
          </p:txBody>
        </p:sp>
        <p:sp>
          <p:nvSpPr>
            <p:cNvPr id="18" name="TextBox 18"/>
            <p:cNvSpPr txBox="1"/>
            <p:nvPr/>
          </p:nvSpPr>
          <p:spPr>
            <a:xfrm>
              <a:off x="5202746" y="2041684"/>
              <a:ext cx="745617" cy="238125"/>
            </a:xfrm>
            <a:prstGeom prst="rect">
              <a:avLst/>
            </a:prstGeom>
            <a:noFill/>
            <a:ln>
              <a:noFill/>
            </a:ln>
          </p:spPr>
          <p:txBody>
            <a:bodyPr wrap="none" lIns="0" tIns="0" rIns="0" bIns="0" anchor="t" anchorCtr="0">
              <a:spAutoFit/>
            </a:bodyPr>
            <a:lstStyle/>
            <a:p>
              <a:pPr algn="r">
                <a:lnSpc>
                  <a:spcPts val="825"/>
                </a:lnSpc>
              </a:pPr>
              <a:r>
                <a:rPr lang="zh-CN" sz="680" dirty="0">
                  <a:solidFill>
                    <a:srgbClr val="333333"/>
                  </a:solidFill>
                  <a:latin typeface="+mn-lt"/>
                  <a:ea typeface="+mn-ea"/>
                  <a:cs typeface="+mn-cs"/>
                </a:rPr>
                <a:t>模型表现​</a:t>
              </a:r>
            </a:p>
            <a:p>
              <a:pPr algn="r">
                <a:lnSpc>
                  <a:spcPts val="825"/>
                </a:lnSpc>
              </a:pPr>
              <a:r>
                <a:rPr lang="en-US" sz="560" dirty="0">
                  <a:solidFill>
                    <a:srgbClr val="666666"/>
                  </a:solidFill>
                  <a:latin typeface="+mn-lt"/>
                  <a:ea typeface="+mn-ea"/>
                  <a:cs typeface="+mn-cs"/>
                </a:rPr>
                <a:t>Model performance​​</a:t>
              </a:r>
            </a:p>
          </p:txBody>
        </p:sp>
        <p:sp>
          <p:nvSpPr>
            <p:cNvPr id="19" name="Rectangle 19"/>
            <p:cNvSpPr/>
            <p:nvPr/>
          </p:nvSpPr>
          <p:spPr>
            <a:xfrm>
              <a:off x="6019800" y="2000250"/>
              <a:ext cx="2956560" cy="152400"/>
            </a:xfrm>
            <a:prstGeom prst="rect">
              <a:avLst/>
            </a:prstGeom>
            <a:solidFill>
              <a:srgbClr val="AA1B00"/>
            </a:solidFill>
            <a:ln>
              <a:noFill/>
            </a:ln>
          </p:spPr>
        </p:sp>
        <p:sp>
          <p:nvSpPr>
            <p:cNvPr id="20" name="TextBox 20"/>
            <p:cNvSpPr txBox="1"/>
            <p:nvPr/>
          </p:nvSpPr>
          <p:spPr>
            <a:xfrm>
              <a:off x="9019222" y="204573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97%​</a:t>
              </a:r>
            </a:p>
          </p:txBody>
        </p:sp>
        <p:sp>
          <p:nvSpPr>
            <p:cNvPr id="21" name="Rectangle 21"/>
            <p:cNvSpPr/>
            <p:nvPr/>
          </p:nvSpPr>
          <p:spPr>
            <a:xfrm>
              <a:off x="6019800" y="2190750"/>
              <a:ext cx="2834640" cy="152400"/>
            </a:xfrm>
            <a:prstGeom prst="rect">
              <a:avLst/>
            </a:prstGeom>
            <a:solidFill>
              <a:srgbClr val="D8482E"/>
            </a:solidFill>
            <a:ln>
              <a:noFill/>
            </a:ln>
          </p:spPr>
        </p:sp>
        <p:sp>
          <p:nvSpPr>
            <p:cNvPr id="22" name="TextBox 22"/>
            <p:cNvSpPr txBox="1"/>
            <p:nvPr/>
          </p:nvSpPr>
          <p:spPr>
            <a:xfrm>
              <a:off x="8897302" y="223623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93%​</a:t>
              </a:r>
            </a:p>
          </p:txBody>
        </p:sp>
        <p:sp>
          <p:nvSpPr>
            <p:cNvPr id="23" name="TextBox 23"/>
            <p:cNvSpPr txBox="1"/>
            <p:nvPr/>
          </p:nvSpPr>
          <p:spPr>
            <a:xfrm>
              <a:off x="5320094" y="2632234"/>
              <a:ext cx="628269" cy="238125"/>
            </a:xfrm>
            <a:prstGeom prst="rect">
              <a:avLst/>
            </a:prstGeom>
            <a:noFill/>
            <a:ln>
              <a:noFill/>
            </a:ln>
          </p:spPr>
          <p:txBody>
            <a:bodyPr wrap="none" lIns="0" tIns="0" rIns="0" bIns="0" anchor="t" anchorCtr="0">
              <a:spAutoFit/>
            </a:bodyPr>
            <a:lstStyle/>
            <a:p>
              <a:pPr algn="r">
                <a:lnSpc>
                  <a:spcPts val="825"/>
                </a:lnSpc>
              </a:pPr>
              <a:r>
                <a:rPr lang="zh-CN" sz="680" dirty="0">
                  <a:solidFill>
                    <a:srgbClr val="333333"/>
                  </a:solidFill>
                  <a:latin typeface="+mn-lt"/>
                  <a:ea typeface="+mn-ea"/>
                  <a:cs typeface="+mn-cs"/>
                </a:rPr>
                <a:t>模型结果​</a:t>
              </a:r>
            </a:p>
            <a:p>
              <a:pPr algn="r">
                <a:lnSpc>
                  <a:spcPts val="825"/>
                </a:lnSpc>
              </a:pPr>
              <a:r>
                <a:rPr lang="en-US" sz="560" dirty="0">
                  <a:solidFill>
                    <a:srgbClr val="666666"/>
                  </a:solidFill>
                  <a:latin typeface="+mn-lt"/>
                  <a:ea typeface="+mn-ea"/>
                  <a:cs typeface="+mn-cs"/>
                </a:rPr>
                <a:t>Model outcomes​​</a:t>
              </a:r>
            </a:p>
          </p:txBody>
        </p:sp>
        <p:sp>
          <p:nvSpPr>
            <p:cNvPr id="24" name="Rectangle 24"/>
            <p:cNvSpPr/>
            <p:nvPr/>
          </p:nvSpPr>
          <p:spPr>
            <a:xfrm>
              <a:off x="6019800" y="2590800"/>
              <a:ext cx="2499360" cy="152400"/>
            </a:xfrm>
            <a:prstGeom prst="rect">
              <a:avLst/>
            </a:prstGeom>
            <a:solidFill>
              <a:srgbClr val="AA1B00"/>
            </a:solidFill>
            <a:ln>
              <a:noFill/>
            </a:ln>
          </p:spPr>
        </p:sp>
        <p:sp>
          <p:nvSpPr>
            <p:cNvPr id="25" name="TextBox 25"/>
            <p:cNvSpPr txBox="1"/>
            <p:nvPr/>
          </p:nvSpPr>
          <p:spPr>
            <a:xfrm>
              <a:off x="8562022" y="263628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82%​</a:t>
              </a:r>
            </a:p>
          </p:txBody>
        </p:sp>
        <p:sp>
          <p:nvSpPr>
            <p:cNvPr id="26" name="Rectangle 26"/>
            <p:cNvSpPr/>
            <p:nvPr/>
          </p:nvSpPr>
          <p:spPr>
            <a:xfrm>
              <a:off x="6019800" y="2781300"/>
              <a:ext cx="2133600" cy="152400"/>
            </a:xfrm>
            <a:prstGeom prst="rect">
              <a:avLst/>
            </a:prstGeom>
            <a:solidFill>
              <a:srgbClr val="D8482E"/>
            </a:solidFill>
            <a:ln>
              <a:noFill/>
            </a:ln>
          </p:spPr>
        </p:sp>
        <p:sp>
          <p:nvSpPr>
            <p:cNvPr id="27" name="TextBox 27"/>
            <p:cNvSpPr txBox="1"/>
            <p:nvPr/>
          </p:nvSpPr>
          <p:spPr>
            <a:xfrm>
              <a:off x="8196262" y="282678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70%​</a:t>
              </a:r>
            </a:p>
          </p:txBody>
        </p:sp>
        <p:sp>
          <p:nvSpPr>
            <p:cNvPr id="28" name="TextBox 28"/>
            <p:cNvSpPr txBox="1"/>
            <p:nvPr/>
          </p:nvSpPr>
          <p:spPr>
            <a:xfrm>
              <a:off x="4633786" y="3222784"/>
              <a:ext cx="1314577" cy="238125"/>
            </a:xfrm>
            <a:prstGeom prst="rect">
              <a:avLst/>
            </a:prstGeom>
            <a:noFill/>
            <a:ln>
              <a:noFill/>
            </a:ln>
          </p:spPr>
          <p:txBody>
            <a:bodyPr wrap="none" lIns="0" tIns="0" rIns="0" bIns="0" anchor="t" anchorCtr="0">
              <a:spAutoFit/>
            </a:bodyPr>
            <a:lstStyle/>
            <a:p>
              <a:pPr algn="r">
                <a:lnSpc>
                  <a:spcPts val="825"/>
                </a:lnSpc>
              </a:pPr>
              <a:r>
                <a:rPr lang="zh-CN" sz="680" dirty="0">
                  <a:solidFill>
                    <a:srgbClr val="333333"/>
                  </a:solidFill>
                  <a:latin typeface="+mn-lt"/>
                  <a:ea typeface="+mn-ea"/>
                  <a:cs typeface="+mn-cs"/>
                </a:rPr>
                <a:t>组合特征/稳定性​</a:t>
              </a:r>
            </a:p>
            <a:p>
              <a:pPr algn="r">
                <a:lnSpc>
                  <a:spcPts val="825"/>
                </a:lnSpc>
              </a:pPr>
              <a:r>
                <a:rPr lang="en-US" sz="560" dirty="0">
                  <a:solidFill>
                    <a:srgbClr val="666666"/>
                  </a:solidFill>
                  <a:latin typeface="+mn-lt"/>
                  <a:ea typeface="+mn-ea"/>
                  <a:cs typeface="+mn-cs"/>
                </a:rPr>
                <a:t>Portfolio characteristics/stability​​</a:t>
              </a:r>
            </a:p>
          </p:txBody>
        </p:sp>
        <p:sp>
          <p:nvSpPr>
            <p:cNvPr id="29" name="Rectangle 29"/>
            <p:cNvSpPr/>
            <p:nvPr/>
          </p:nvSpPr>
          <p:spPr>
            <a:xfrm>
              <a:off x="6019800" y="3181350"/>
              <a:ext cx="2499360" cy="152400"/>
            </a:xfrm>
            <a:prstGeom prst="rect">
              <a:avLst/>
            </a:prstGeom>
            <a:solidFill>
              <a:srgbClr val="AA1B00"/>
            </a:solidFill>
            <a:ln>
              <a:noFill/>
            </a:ln>
          </p:spPr>
        </p:sp>
        <p:sp>
          <p:nvSpPr>
            <p:cNvPr id="30" name="TextBox 30"/>
            <p:cNvSpPr txBox="1"/>
            <p:nvPr/>
          </p:nvSpPr>
          <p:spPr>
            <a:xfrm>
              <a:off x="8562022" y="322683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82%​</a:t>
              </a:r>
            </a:p>
          </p:txBody>
        </p:sp>
        <p:sp>
          <p:nvSpPr>
            <p:cNvPr id="31" name="Rectangle 31"/>
            <p:cNvSpPr/>
            <p:nvPr/>
          </p:nvSpPr>
          <p:spPr>
            <a:xfrm>
              <a:off x="6019800" y="3371850"/>
              <a:ext cx="1645920" cy="152400"/>
            </a:xfrm>
            <a:prstGeom prst="rect">
              <a:avLst/>
            </a:prstGeom>
            <a:solidFill>
              <a:srgbClr val="D8482E"/>
            </a:solidFill>
            <a:ln>
              <a:noFill/>
            </a:ln>
          </p:spPr>
        </p:sp>
        <p:sp>
          <p:nvSpPr>
            <p:cNvPr id="32" name="TextBox 32"/>
            <p:cNvSpPr txBox="1"/>
            <p:nvPr/>
          </p:nvSpPr>
          <p:spPr>
            <a:xfrm>
              <a:off x="7708582" y="341733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54%​</a:t>
              </a:r>
            </a:p>
          </p:txBody>
        </p:sp>
        <p:sp>
          <p:nvSpPr>
            <p:cNvPr id="33" name="TextBox 33"/>
            <p:cNvSpPr txBox="1"/>
            <p:nvPr/>
          </p:nvSpPr>
          <p:spPr>
            <a:xfrm>
              <a:off x="5444554" y="3813334"/>
              <a:ext cx="503809" cy="238125"/>
            </a:xfrm>
            <a:prstGeom prst="rect">
              <a:avLst/>
            </a:prstGeom>
            <a:noFill/>
            <a:ln>
              <a:noFill/>
            </a:ln>
          </p:spPr>
          <p:txBody>
            <a:bodyPr wrap="none" lIns="0" tIns="0" rIns="0" bIns="0" anchor="t" anchorCtr="0">
              <a:spAutoFit/>
            </a:bodyPr>
            <a:lstStyle/>
            <a:p>
              <a:pPr algn="r">
                <a:lnSpc>
                  <a:spcPts val="825"/>
                </a:lnSpc>
              </a:pPr>
              <a:r>
                <a:rPr lang="zh-CN" sz="680" dirty="0">
                  <a:solidFill>
                    <a:srgbClr val="333333"/>
                  </a:solidFill>
                  <a:latin typeface="+mn-lt"/>
                  <a:ea typeface="+mn-ea"/>
                  <a:cs typeface="+mn-cs"/>
                </a:rPr>
                <a:t>数据质量​</a:t>
              </a:r>
            </a:p>
            <a:p>
              <a:pPr algn="r">
                <a:lnSpc>
                  <a:spcPts val="825"/>
                </a:lnSpc>
              </a:pPr>
              <a:r>
                <a:rPr lang="en-US" sz="560" dirty="0">
                  <a:solidFill>
                    <a:srgbClr val="666666"/>
                  </a:solidFill>
                  <a:latin typeface="+mn-lt"/>
                  <a:ea typeface="+mn-ea"/>
                  <a:cs typeface="+mn-cs"/>
                </a:rPr>
                <a:t>Data quality​​</a:t>
              </a:r>
            </a:p>
          </p:txBody>
        </p:sp>
        <p:sp>
          <p:nvSpPr>
            <p:cNvPr id="34" name="Rectangle 34"/>
            <p:cNvSpPr/>
            <p:nvPr/>
          </p:nvSpPr>
          <p:spPr>
            <a:xfrm>
              <a:off x="6019800" y="3771900"/>
              <a:ext cx="1798320" cy="152400"/>
            </a:xfrm>
            <a:prstGeom prst="rect">
              <a:avLst/>
            </a:prstGeom>
            <a:solidFill>
              <a:srgbClr val="AA1B00"/>
            </a:solidFill>
            <a:ln>
              <a:noFill/>
            </a:ln>
          </p:spPr>
        </p:sp>
        <p:sp>
          <p:nvSpPr>
            <p:cNvPr id="35" name="TextBox 35"/>
            <p:cNvSpPr txBox="1"/>
            <p:nvPr/>
          </p:nvSpPr>
          <p:spPr>
            <a:xfrm>
              <a:off x="7860982" y="381738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59%​</a:t>
              </a:r>
            </a:p>
          </p:txBody>
        </p:sp>
        <p:sp>
          <p:nvSpPr>
            <p:cNvPr id="36" name="Rectangle 36"/>
            <p:cNvSpPr/>
            <p:nvPr/>
          </p:nvSpPr>
          <p:spPr>
            <a:xfrm>
              <a:off x="6019800" y="3962400"/>
              <a:ext cx="1584960" cy="152400"/>
            </a:xfrm>
            <a:prstGeom prst="rect">
              <a:avLst/>
            </a:prstGeom>
            <a:solidFill>
              <a:srgbClr val="D8482E"/>
            </a:solidFill>
            <a:ln>
              <a:noFill/>
            </a:ln>
          </p:spPr>
        </p:sp>
        <p:sp>
          <p:nvSpPr>
            <p:cNvPr id="37" name="TextBox 37"/>
            <p:cNvSpPr txBox="1"/>
            <p:nvPr/>
          </p:nvSpPr>
          <p:spPr>
            <a:xfrm>
              <a:off x="7647622" y="400788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52%​</a:t>
              </a:r>
            </a:p>
          </p:txBody>
        </p:sp>
        <p:sp>
          <p:nvSpPr>
            <p:cNvPr id="38" name="TextBox 38"/>
            <p:cNvSpPr txBox="1"/>
            <p:nvPr/>
          </p:nvSpPr>
          <p:spPr>
            <a:xfrm>
              <a:off x="4744022" y="4403884"/>
              <a:ext cx="1204341" cy="238125"/>
            </a:xfrm>
            <a:prstGeom prst="rect">
              <a:avLst/>
            </a:prstGeom>
            <a:noFill/>
            <a:ln>
              <a:noFill/>
            </a:ln>
          </p:spPr>
          <p:txBody>
            <a:bodyPr wrap="none" lIns="0" tIns="0" rIns="0" bIns="0" anchor="t" anchorCtr="0">
              <a:spAutoFit/>
            </a:bodyPr>
            <a:lstStyle/>
            <a:p>
              <a:pPr algn="r">
                <a:lnSpc>
                  <a:spcPts val="825"/>
                </a:lnSpc>
              </a:pPr>
              <a:r>
                <a:rPr lang="zh-CN" sz="680" dirty="0">
                  <a:solidFill>
                    <a:srgbClr val="333333"/>
                  </a:solidFill>
                  <a:latin typeface="+mn-lt"/>
                  <a:ea typeface="+mn-ea"/>
                  <a:cs typeface="+mn-cs"/>
                </a:rPr>
                <a:t>模型重大性/敞口规模​</a:t>
              </a:r>
            </a:p>
            <a:p>
              <a:pPr algn="r">
                <a:lnSpc>
                  <a:spcPts val="825"/>
                </a:lnSpc>
              </a:pPr>
              <a:r>
                <a:rPr lang="en-US" sz="560" dirty="0">
                  <a:solidFill>
                    <a:srgbClr val="666666"/>
                  </a:solidFill>
                  <a:latin typeface="+mn-lt"/>
                  <a:ea typeface="+mn-ea"/>
                  <a:cs typeface="+mn-cs"/>
                </a:rPr>
                <a:t>Model materiality/exposure size​​</a:t>
              </a:r>
            </a:p>
          </p:txBody>
        </p:sp>
        <p:sp>
          <p:nvSpPr>
            <p:cNvPr id="39" name="Rectangle 39"/>
            <p:cNvSpPr/>
            <p:nvPr/>
          </p:nvSpPr>
          <p:spPr>
            <a:xfrm>
              <a:off x="6019800" y="4362450"/>
              <a:ext cx="1615440" cy="152400"/>
            </a:xfrm>
            <a:prstGeom prst="rect">
              <a:avLst/>
            </a:prstGeom>
            <a:solidFill>
              <a:srgbClr val="AA1B00"/>
            </a:solidFill>
            <a:ln>
              <a:noFill/>
            </a:ln>
          </p:spPr>
        </p:sp>
        <p:sp>
          <p:nvSpPr>
            <p:cNvPr id="40" name="TextBox 40"/>
            <p:cNvSpPr txBox="1"/>
            <p:nvPr/>
          </p:nvSpPr>
          <p:spPr>
            <a:xfrm>
              <a:off x="7678102" y="440793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53%​</a:t>
              </a:r>
            </a:p>
          </p:txBody>
        </p:sp>
        <p:sp>
          <p:nvSpPr>
            <p:cNvPr id="41" name="Rectangle 41"/>
            <p:cNvSpPr/>
            <p:nvPr/>
          </p:nvSpPr>
          <p:spPr>
            <a:xfrm>
              <a:off x="6019800" y="4552950"/>
              <a:ext cx="1402080" cy="152400"/>
            </a:xfrm>
            <a:prstGeom prst="rect">
              <a:avLst/>
            </a:prstGeom>
            <a:solidFill>
              <a:srgbClr val="D8482E"/>
            </a:solidFill>
            <a:ln>
              <a:noFill/>
            </a:ln>
          </p:spPr>
        </p:sp>
        <p:sp>
          <p:nvSpPr>
            <p:cNvPr id="42" name="TextBox 42"/>
            <p:cNvSpPr txBox="1"/>
            <p:nvPr/>
          </p:nvSpPr>
          <p:spPr>
            <a:xfrm>
              <a:off x="7464742" y="459843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46%​</a:t>
              </a:r>
            </a:p>
          </p:txBody>
        </p:sp>
        <p:sp>
          <p:nvSpPr>
            <p:cNvPr id="43" name="TextBox 43"/>
            <p:cNvSpPr txBox="1"/>
            <p:nvPr/>
          </p:nvSpPr>
          <p:spPr>
            <a:xfrm>
              <a:off x="5529897" y="4994434"/>
              <a:ext cx="418465" cy="238125"/>
            </a:xfrm>
            <a:prstGeom prst="rect">
              <a:avLst/>
            </a:prstGeom>
            <a:noFill/>
            <a:ln>
              <a:noFill/>
            </a:ln>
          </p:spPr>
          <p:txBody>
            <a:bodyPr wrap="none" lIns="0" tIns="0" rIns="0" bIns="0" anchor="t" anchorCtr="0">
              <a:spAutoFit/>
            </a:bodyPr>
            <a:lstStyle/>
            <a:p>
              <a:pPr algn="r">
                <a:lnSpc>
                  <a:spcPts val="825"/>
                </a:lnSpc>
              </a:pPr>
              <a:r>
                <a:rPr lang="zh-CN" sz="680" dirty="0">
                  <a:solidFill>
                    <a:srgbClr val="333333"/>
                  </a:solidFill>
                  <a:latin typeface="+mn-lt"/>
                  <a:ea typeface="+mn-ea"/>
                  <a:cs typeface="+mn-cs"/>
                </a:rPr>
                <a:t>模型使用​</a:t>
              </a:r>
            </a:p>
            <a:p>
              <a:pPr algn="r">
                <a:lnSpc>
                  <a:spcPts val="825"/>
                </a:lnSpc>
              </a:pPr>
              <a:r>
                <a:rPr lang="en-US" sz="560" dirty="0">
                  <a:solidFill>
                    <a:srgbClr val="666666"/>
                  </a:solidFill>
                  <a:latin typeface="+mn-lt"/>
                  <a:ea typeface="+mn-ea"/>
                  <a:cs typeface="+mn-cs"/>
                </a:rPr>
                <a:t>Model use​​</a:t>
              </a:r>
            </a:p>
          </p:txBody>
        </p:sp>
        <p:sp>
          <p:nvSpPr>
            <p:cNvPr id="44" name="Rectangle 44"/>
            <p:cNvSpPr/>
            <p:nvPr/>
          </p:nvSpPr>
          <p:spPr>
            <a:xfrm>
              <a:off x="6019800" y="4953000"/>
              <a:ext cx="1249680" cy="152400"/>
            </a:xfrm>
            <a:prstGeom prst="rect">
              <a:avLst/>
            </a:prstGeom>
            <a:solidFill>
              <a:srgbClr val="AA1B00"/>
            </a:solidFill>
            <a:ln>
              <a:noFill/>
            </a:ln>
          </p:spPr>
        </p:sp>
        <p:sp>
          <p:nvSpPr>
            <p:cNvPr id="45" name="TextBox 45"/>
            <p:cNvSpPr txBox="1"/>
            <p:nvPr/>
          </p:nvSpPr>
          <p:spPr>
            <a:xfrm>
              <a:off x="7312342" y="499848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41%​</a:t>
              </a:r>
            </a:p>
          </p:txBody>
        </p:sp>
        <p:sp>
          <p:nvSpPr>
            <p:cNvPr id="46" name="Rectangle 46"/>
            <p:cNvSpPr/>
            <p:nvPr/>
          </p:nvSpPr>
          <p:spPr>
            <a:xfrm>
              <a:off x="6019800" y="5143500"/>
              <a:ext cx="1188720" cy="152400"/>
            </a:xfrm>
            <a:prstGeom prst="rect">
              <a:avLst/>
            </a:prstGeom>
            <a:solidFill>
              <a:srgbClr val="D8482E"/>
            </a:solidFill>
            <a:ln>
              <a:noFill/>
            </a:ln>
          </p:spPr>
        </p:sp>
        <p:sp>
          <p:nvSpPr>
            <p:cNvPr id="47" name="TextBox 47"/>
            <p:cNvSpPr txBox="1"/>
            <p:nvPr/>
          </p:nvSpPr>
          <p:spPr>
            <a:xfrm>
              <a:off x="7251382" y="5188982"/>
              <a:ext cx="216301" cy="126206"/>
            </a:xfrm>
            <a:prstGeom prst="rect">
              <a:avLst/>
            </a:prstGeom>
            <a:noFill/>
            <a:ln>
              <a:noFill/>
            </a:ln>
          </p:spPr>
          <p:txBody>
            <a:bodyPr wrap="none" lIns="0" tIns="0" rIns="0" bIns="0" anchor="t" anchorCtr="0">
              <a:spAutoFit/>
            </a:bodyPr>
            <a:lstStyle/>
            <a:p>
              <a:pPr algn="l"/>
              <a:r>
                <a:rPr lang="zh-CN" sz="640" dirty="0">
                  <a:solidFill>
                    <a:srgbClr val="1A1A1A"/>
                  </a:solidFill>
                  <a:latin typeface="+mn-lt"/>
                  <a:ea typeface="+mn-ea"/>
                  <a:cs typeface="+mn-cs"/>
                </a:rPr>
                <a:t>39%​</a:t>
              </a:r>
            </a:p>
          </p:txBody>
        </p:sp>
        <p:sp>
          <p:nvSpPr>
            <p:cNvPr id="48" name="TextBox 48"/>
            <p:cNvSpPr txBox="1"/>
            <p:nvPr/>
          </p:nvSpPr>
          <p:spPr>
            <a:xfrm>
              <a:off x="5940323" y="5421630"/>
              <a:ext cx="158953"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0%​</a:t>
              </a:r>
            </a:p>
          </p:txBody>
        </p:sp>
        <p:sp>
          <p:nvSpPr>
            <p:cNvPr id="49" name="TextBox 49"/>
            <p:cNvSpPr txBox="1"/>
            <p:nvPr/>
          </p:nvSpPr>
          <p:spPr>
            <a:xfrm>
              <a:off x="6527711" y="542163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20%​</a:t>
              </a:r>
            </a:p>
          </p:txBody>
        </p:sp>
        <p:sp>
          <p:nvSpPr>
            <p:cNvPr id="50" name="TextBox 50"/>
            <p:cNvSpPr txBox="1"/>
            <p:nvPr/>
          </p:nvSpPr>
          <p:spPr>
            <a:xfrm>
              <a:off x="7137311" y="542163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40%​</a:t>
              </a:r>
            </a:p>
          </p:txBody>
        </p:sp>
        <p:sp>
          <p:nvSpPr>
            <p:cNvPr id="51" name="TextBox 51"/>
            <p:cNvSpPr txBox="1"/>
            <p:nvPr/>
          </p:nvSpPr>
          <p:spPr>
            <a:xfrm>
              <a:off x="7746911" y="542163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60%​</a:t>
              </a:r>
            </a:p>
          </p:txBody>
        </p:sp>
        <p:sp>
          <p:nvSpPr>
            <p:cNvPr id="52" name="TextBox 52"/>
            <p:cNvSpPr txBox="1"/>
            <p:nvPr/>
          </p:nvSpPr>
          <p:spPr>
            <a:xfrm>
              <a:off x="8356511" y="5421630"/>
              <a:ext cx="20337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80%​</a:t>
              </a:r>
            </a:p>
          </p:txBody>
        </p:sp>
        <p:sp>
          <p:nvSpPr>
            <p:cNvPr id="53" name="TextBox 53"/>
            <p:cNvSpPr txBox="1"/>
            <p:nvPr/>
          </p:nvSpPr>
          <p:spPr>
            <a:xfrm>
              <a:off x="8943899" y="5421630"/>
              <a:ext cx="247802"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100%​</a:t>
              </a:r>
            </a:p>
          </p:txBody>
        </p:sp>
        <p:sp>
          <p:nvSpPr>
            <p:cNvPr id="54" name="Line 54"/>
            <p:cNvSpPr/>
            <p:nvPr/>
          </p:nvSpPr>
          <p:spPr>
            <a:xfrm>
              <a:off x="6019800" y="5372100"/>
              <a:ext cx="3048000" cy="9525"/>
            </a:xfrm>
            <a:custGeom>
              <a:avLst/>
              <a:gdLst/>
              <a:ahLst/>
              <a:cxnLst/>
              <a:rect l="l" t="t" r="r" b="b"/>
              <a:pathLst>
                <a:path w="3048000" h="9525">
                  <a:moveTo>
                    <a:pt x="0" y="0"/>
                  </a:moveTo>
                  <a:lnTo>
                    <a:pt x="3048000" y="0"/>
                  </a:lnTo>
                </a:path>
              </a:pathLst>
            </a:custGeom>
            <a:noFill/>
            <a:ln w="7620">
              <a:solidFill>
                <a:srgbClr val="9A9A9A"/>
              </a:solidFill>
            </a:ln>
          </p:spPr>
        </p:sp>
        <p:sp>
          <p:nvSpPr>
            <p:cNvPr id="55" name="Rectangle 55"/>
            <p:cNvSpPr/>
            <p:nvPr/>
          </p:nvSpPr>
          <p:spPr>
            <a:xfrm>
              <a:off x="6019800" y="5591175"/>
              <a:ext cx="95250" cy="95250"/>
            </a:xfrm>
            <a:prstGeom prst="rect">
              <a:avLst/>
            </a:prstGeom>
            <a:solidFill>
              <a:srgbClr val="AA1B00"/>
            </a:solidFill>
            <a:ln>
              <a:noFill/>
            </a:ln>
          </p:spPr>
        </p:sp>
        <p:sp>
          <p:nvSpPr>
            <p:cNvPr id="56" name="TextBox 56"/>
            <p:cNvSpPr txBox="1"/>
            <p:nvPr/>
          </p:nvSpPr>
          <p:spPr>
            <a:xfrm>
              <a:off x="6157912" y="5608082"/>
              <a:ext cx="1386759"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信用风险模型Credit risk models​​</a:t>
              </a:r>
            </a:p>
          </p:txBody>
        </p:sp>
        <p:sp>
          <p:nvSpPr>
            <p:cNvPr id="57" name="Rectangle 57"/>
            <p:cNvSpPr/>
            <p:nvPr/>
          </p:nvSpPr>
          <p:spPr>
            <a:xfrm>
              <a:off x="7628668" y="5591175"/>
              <a:ext cx="95250" cy="95250"/>
            </a:xfrm>
            <a:prstGeom prst="rect">
              <a:avLst/>
            </a:prstGeom>
            <a:solidFill>
              <a:srgbClr val="D8482E"/>
            </a:solidFill>
            <a:ln>
              <a:noFill/>
            </a:ln>
          </p:spPr>
        </p:sp>
        <p:sp>
          <p:nvSpPr>
            <p:cNvPr id="58" name="TextBox 58"/>
            <p:cNvSpPr txBox="1"/>
            <p:nvPr/>
          </p:nvSpPr>
          <p:spPr>
            <a:xfrm>
              <a:off x="7766780" y="5608082"/>
              <a:ext cx="1425666"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市场风险模型Market risk models​​</a:t>
              </a:r>
            </a:p>
          </p:txBody>
        </p:sp>
      </p:grpSp>
      <p:grpSp>
        <p:nvGrpSpPr>
          <p:cNvPr id="93" name="nav"/>
          <p:cNvGrpSpPr/>
          <p:nvPr/>
        </p:nvGrpSpPr>
        <p:grpSpPr>
          <a:xfrm>
            <a:off x="9834562" y="0"/>
            <a:ext cx="2357438" cy="6858000"/>
            <a:chOff x="9834562" y="0"/>
            <a:chExt cx="2357438" cy="6858000"/>
          </a:xfrm>
        </p:grpSpPr>
        <p:sp>
          <p:nvSpPr>
            <p:cNvPr id="60" name="Line 60"/>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61" name="Rectangle 61"/>
            <p:cNvSpPr/>
            <p:nvPr/>
          </p:nvSpPr>
          <p:spPr>
            <a:xfrm>
              <a:off x="9839325" y="476250"/>
              <a:ext cx="2352675" cy="514350"/>
            </a:xfrm>
            <a:prstGeom prst="rect">
              <a:avLst/>
            </a:prstGeom>
            <a:solidFill>
              <a:srgbClr val="F3F3F3"/>
            </a:solidFill>
            <a:ln>
              <a:noFill/>
            </a:ln>
          </p:spPr>
        </p:sp>
        <p:sp>
          <p:nvSpPr>
            <p:cNvPr id="62" name="TextBox 62"/>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63" name="Rectangle 63"/>
            <p:cNvSpPr/>
            <p:nvPr/>
          </p:nvSpPr>
          <p:spPr>
            <a:xfrm>
              <a:off x="9839325" y="1000125"/>
              <a:ext cx="2352675" cy="514350"/>
            </a:xfrm>
            <a:prstGeom prst="rect">
              <a:avLst/>
            </a:prstGeom>
            <a:solidFill>
              <a:srgbClr val="F3F3F3"/>
            </a:solidFill>
            <a:ln>
              <a:noFill/>
            </a:ln>
          </p:spPr>
        </p:sp>
        <p:sp>
          <p:nvSpPr>
            <p:cNvPr id="64" name="TextBox 64"/>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65" name="Rectangle 65"/>
            <p:cNvSpPr/>
            <p:nvPr/>
          </p:nvSpPr>
          <p:spPr>
            <a:xfrm>
              <a:off x="9839325" y="1524000"/>
              <a:ext cx="2352675" cy="514350"/>
            </a:xfrm>
            <a:prstGeom prst="rect">
              <a:avLst/>
            </a:prstGeom>
            <a:solidFill>
              <a:srgbClr val="F3F3F3"/>
            </a:solidFill>
            <a:ln>
              <a:noFill/>
            </a:ln>
          </p:spPr>
        </p:sp>
        <p:sp>
          <p:nvSpPr>
            <p:cNvPr id="66" name="TextBox 66"/>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67" name="Rectangle 67"/>
            <p:cNvSpPr/>
            <p:nvPr/>
          </p:nvSpPr>
          <p:spPr>
            <a:xfrm>
              <a:off x="9839325" y="2047875"/>
              <a:ext cx="2352675" cy="514350"/>
            </a:xfrm>
            <a:prstGeom prst="rect">
              <a:avLst/>
            </a:prstGeom>
            <a:solidFill>
              <a:srgbClr val="F3F3F3"/>
            </a:solidFill>
            <a:ln>
              <a:noFill/>
            </a:ln>
          </p:spPr>
        </p:sp>
        <p:sp>
          <p:nvSpPr>
            <p:cNvPr id="68" name="TextBox 68"/>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69" name="Rectangle 69"/>
            <p:cNvSpPr/>
            <p:nvPr/>
          </p:nvSpPr>
          <p:spPr>
            <a:xfrm>
              <a:off x="9839325" y="2571750"/>
              <a:ext cx="2352675" cy="514350"/>
            </a:xfrm>
            <a:prstGeom prst="rect">
              <a:avLst/>
            </a:prstGeom>
            <a:solidFill>
              <a:srgbClr val="F3F3F3"/>
            </a:solidFill>
            <a:ln>
              <a:noFill/>
            </a:ln>
          </p:spPr>
        </p:sp>
        <p:sp>
          <p:nvSpPr>
            <p:cNvPr id="70" name="TextBox 70"/>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71" name="Rectangle 71"/>
            <p:cNvSpPr/>
            <p:nvPr/>
          </p:nvSpPr>
          <p:spPr>
            <a:xfrm>
              <a:off x="9839325" y="3095625"/>
              <a:ext cx="2352675" cy="514350"/>
            </a:xfrm>
            <a:prstGeom prst="rect">
              <a:avLst/>
            </a:prstGeom>
            <a:solidFill>
              <a:srgbClr val="F3F3F3"/>
            </a:solidFill>
            <a:ln>
              <a:noFill/>
            </a:ln>
          </p:spPr>
        </p:sp>
        <p:sp>
          <p:nvSpPr>
            <p:cNvPr id="72" name="TextBox 72"/>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73" name="Rectangle 73"/>
            <p:cNvSpPr/>
            <p:nvPr/>
          </p:nvSpPr>
          <p:spPr>
            <a:xfrm>
              <a:off x="9839325" y="3619500"/>
              <a:ext cx="2352675" cy="514350"/>
            </a:xfrm>
            <a:prstGeom prst="rect">
              <a:avLst/>
            </a:prstGeom>
            <a:solidFill>
              <a:srgbClr val="F3F3F3"/>
            </a:solidFill>
            <a:ln>
              <a:noFill/>
            </a:ln>
          </p:spPr>
        </p:sp>
        <p:sp>
          <p:nvSpPr>
            <p:cNvPr id="74" name="TextBox 74"/>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75" name="Rectangle 75"/>
            <p:cNvSpPr/>
            <p:nvPr/>
          </p:nvSpPr>
          <p:spPr>
            <a:xfrm>
              <a:off x="9839325" y="4143375"/>
              <a:ext cx="2352675" cy="514350"/>
            </a:xfrm>
            <a:prstGeom prst="rect">
              <a:avLst/>
            </a:prstGeom>
            <a:solidFill>
              <a:srgbClr val="C35642"/>
            </a:solidFill>
            <a:ln>
              <a:noFill/>
            </a:ln>
          </p:spPr>
        </p:sp>
        <p:sp>
          <p:nvSpPr>
            <p:cNvPr id="76" name="TextBox 76"/>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风险缓释：模型监控与报告</a:t>
              </a:r>
            </a:p>
          </p:txBody>
        </p:sp>
        <p:sp>
          <p:nvSpPr>
            <p:cNvPr id="77" name="Rectangle 77"/>
            <p:cNvSpPr/>
            <p:nvPr/>
          </p:nvSpPr>
          <p:spPr>
            <a:xfrm>
              <a:off x="9839325" y="4667250"/>
              <a:ext cx="2352675" cy="514350"/>
            </a:xfrm>
            <a:prstGeom prst="rect">
              <a:avLst/>
            </a:prstGeom>
            <a:solidFill>
              <a:srgbClr val="F3F3F3"/>
            </a:solidFill>
            <a:ln>
              <a:noFill/>
            </a:ln>
          </p:spPr>
        </p:sp>
        <p:sp>
          <p:nvSpPr>
            <p:cNvPr id="78" name="TextBox 78"/>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79" name="Rectangle 79"/>
            <p:cNvSpPr/>
            <p:nvPr/>
          </p:nvSpPr>
          <p:spPr>
            <a:xfrm>
              <a:off x="9839325" y="5191125"/>
              <a:ext cx="2352675" cy="514350"/>
            </a:xfrm>
            <a:prstGeom prst="rect">
              <a:avLst/>
            </a:prstGeom>
            <a:solidFill>
              <a:srgbClr val="F3F3F3"/>
            </a:solidFill>
            <a:ln>
              <a:noFill/>
            </a:ln>
          </p:spPr>
        </p:sp>
        <p:sp>
          <p:nvSpPr>
            <p:cNvPr id="80" name="TextBox 80"/>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81" name="Rectangle 81"/>
            <p:cNvSpPr/>
            <p:nvPr/>
          </p:nvSpPr>
          <p:spPr>
            <a:xfrm>
              <a:off x="9839325" y="5715000"/>
              <a:ext cx="2352675" cy="514350"/>
            </a:xfrm>
            <a:prstGeom prst="rect">
              <a:avLst/>
            </a:prstGeom>
            <a:solidFill>
              <a:srgbClr val="F3F3F3"/>
            </a:solidFill>
            <a:ln>
              <a:noFill/>
            </a:ln>
          </p:spPr>
        </p:sp>
        <p:sp>
          <p:nvSpPr>
            <p:cNvPr id="82" name="TextBox 82"/>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83" name="Ellipse 83"/>
            <p:cNvSpPr/>
            <p:nvPr/>
          </p:nvSpPr>
          <p:spPr>
            <a:xfrm>
              <a:off x="10020300" y="6372225"/>
              <a:ext cx="266700" cy="266700"/>
            </a:xfrm>
            <a:prstGeom prst="ellipse">
              <a:avLst/>
            </a:prstGeom>
            <a:solidFill>
              <a:srgbClr val="D7D8D6"/>
            </a:solidFill>
            <a:ln>
              <a:noFill/>
            </a:ln>
          </p:spPr>
        </p:sp>
        <p:sp>
          <p:nvSpPr>
            <p:cNvPr id="84" name="Freeform 84"/>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85" name="Ellipse 85"/>
            <p:cNvSpPr/>
            <p:nvPr/>
          </p:nvSpPr>
          <p:spPr>
            <a:xfrm>
              <a:off x="10420350" y="6372225"/>
              <a:ext cx="266700" cy="266700"/>
            </a:xfrm>
            <a:prstGeom prst="ellipse">
              <a:avLst/>
            </a:prstGeom>
            <a:solidFill>
              <a:srgbClr val="D7D8D6"/>
            </a:solidFill>
            <a:ln>
              <a:noFill/>
            </a:ln>
          </p:spPr>
        </p:sp>
        <p:grpSp>
          <p:nvGrpSpPr>
            <p:cNvPr id="89" name="Group 89"/>
            <p:cNvGrpSpPr/>
            <p:nvPr/>
          </p:nvGrpSpPr>
          <p:grpSpPr>
            <a:xfrm>
              <a:off x="10489406" y="6441281"/>
              <a:ext cx="128588" cy="128588"/>
              <a:chOff x="10489406" y="6441281"/>
              <a:chExt cx="128588" cy="128588"/>
            </a:xfrm>
          </p:grpSpPr>
          <p:sp>
            <p:nvSpPr>
              <p:cNvPr id="86" name="Freeform 86"/>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87" name="Freeform 87"/>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88" name="Freeform 88"/>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90" name="Ellipse 90"/>
            <p:cNvSpPr/>
            <p:nvPr/>
          </p:nvSpPr>
          <p:spPr>
            <a:xfrm>
              <a:off x="10820400" y="6372225"/>
              <a:ext cx="266700" cy="266700"/>
            </a:xfrm>
            <a:prstGeom prst="ellipse">
              <a:avLst/>
            </a:prstGeom>
            <a:solidFill>
              <a:srgbClr val="D7D8D6"/>
            </a:solidFill>
            <a:ln>
              <a:noFill/>
            </a:ln>
          </p:spPr>
        </p:sp>
        <p:sp>
          <p:nvSpPr>
            <p:cNvPr id="91" name="Freeform 91"/>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92" name="TextBox 92"/>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35</a:t>
              </a:r>
            </a:p>
          </p:txBody>
        </p:sp>
      </p:gr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35642"/>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36</a:t>
              </a:r>
            </a:p>
          </p:txBody>
        </p:sp>
        <p:sp>
          <p:nvSpPr>
            <p:cNvPr id="4" name="TextBox 4"/>
            <p:cNvSpPr txBox="1"/>
            <p:nvPr/>
          </p:nvSpPr>
          <p:spPr>
            <a:xfrm>
              <a:off x="942594" y="151448"/>
              <a:ext cx="461788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监控与报告：</a:t>
              </a:r>
              <a:r>
                <a:rPr lang="zh-CN" sz="1950" b="1" dirty="0">
                  <a:solidFill>
                    <a:srgbClr val="AA1B00"/>
                  </a:solidFill>
                  <a:latin typeface="+mj-lt"/>
                  <a:ea typeface="+mj-ea"/>
                  <a:cs typeface="+mj-cs"/>
                </a:rPr>
                <a:t>自动化监控</a:t>
              </a:r>
              <a:r>
                <a:rPr lang="zh-CN" sz="1950" b="1" dirty="0">
                  <a:solidFill>
                    <a:srgbClr val="1A1A1A"/>
                  </a:solidFill>
                  <a:latin typeface="+mj-lt"/>
                  <a:ea typeface="+mj-ea"/>
                  <a:cs typeface="+mj-cs"/>
                </a:rPr>
                <a:t>与监控频率​</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C35642"/>
              </a:solidFill>
            </a:ln>
          </p:spPr>
        </p:sp>
      </p:grpSp>
      <p:grpSp>
        <p:nvGrpSpPr>
          <p:cNvPr id="14" name="col-1"/>
          <p:cNvGrpSpPr/>
          <p:nvPr/>
        </p:nvGrpSpPr>
        <p:grpSpPr>
          <a:xfrm>
            <a:off x="566547" y="847249"/>
            <a:ext cx="2507166" cy="3632358"/>
            <a:chOff x="566547" y="847249"/>
            <a:chExt cx="2507166" cy="3632358"/>
          </a:xfrm>
        </p:grpSpPr>
        <p:sp>
          <p:nvSpPr>
            <p:cNvPr id="7" name="TextBox 7"/>
            <p:cNvSpPr txBox="1"/>
            <p:nvPr/>
          </p:nvSpPr>
          <p:spPr>
            <a:xfrm>
              <a:off x="566547" y="847249"/>
              <a:ext cx="1537298"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自动化模型监控提升效率​</a:t>
              </a:r>
            </a:p>
          </p:txBody>
        </p:sp>
        <p:sp>
          <p:nvSpPr>
            <p:cNvPr id="8" name="TextBox 8"/>
            <p:cNvSpPr txBox="1"/>
            <p:nvPr/>
          </p:nvSpPr>
          <p:spPr>
            <a:xfrm>
              <a:off x="566738" y="1012984"/>
              <a:ext cx="2506975"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Increasing efficiency with automated model monitoring​</a:t>
              </a:r>
            </a:p>
          </p:txBody>
        </p:sp>
        <p:sp>
          <p:nvSpPr>
            <p:cNvPr id="9" name="TextBox 9"/>
            <p:cNvSpPr txBox="1"/>
            <p:nvPr/>
          </p:nvSpPr>
          <p:spPr>
            <a:xfrm>
              <a:off x="566738" y="1169670"/>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模型监控自动化可以提高效率，且在模型监控​</a:t>
              </a:r>
              <a:br/>
              <a:r>
                <a:rPr lang="zh-CN" sz="900" dirty="0">
                  <a:solidFill>
                    <a:srgbClr val="333333"/>
                  </a:solidFill>
                  <a:latin typeface="+mn-lt"/>
                  <a:ea typeface="+mn-ea"/>
                  <a:cs typeface="+mn-cs"/>
                </a:rPr>
                <a:t>框架实施后，可减少监控执行中的人工参与。​</a:t>
              </a:r>
              <a:br/>
              <a:r>
                <a:rPr lang="zh-CN" sz="900" dirty="0">
                  <a:solidFill>
                    <a:srgbClr val="333333"/>
                  </a:solidFill>
                  <a:latin typeface="+mn-lt"/>
                  <a:ea typeface="+mn-ea"/>
                  <a:cs typeface="+mn-cs"/>
                </a:rPr>
                <a:t>这为模型开发和模型验证资源腾出时间来分析​</a:t>
              </a:r>
              <a:br/>
              <a:r>
                <a:rPr lang="zh-CN" sz="900" dirty="0">
                  <a:solidFill>
                    <a:srgbClr val="333333"/>
                  </a:solidFill>
                  <a:latin typeface="+mn-lt"/>
                  <a:ea typeface="+mn-ea"/>
                  <a:cs typeface="+mn-cs"/>
                </a:rPr>
                <a:t>结果。此外，自动化使提高模型监控频率并将​</a:t>
              </a:r>
              <a:br/>
              <a:r>
                <a:rPr lang="zh-CN" sz="900" dirty="0">
                  <a:solidFill>
                    <a:srgbClr val="333333"/>
                  </a:solidFill>
                  <a:latin typeface="+mn-lt"/>
                  <a:ea typeface="+mn-ea"/>
                  <a:cs typeface="+mn-cs"/>
                </a:rPr>
                <a:t>其与银行风险偏好挂钩变得更容易。​</a:t>
              </a:r>
            </a:p>
          </p:txBody>
        </p:sp>
        <p:sp>
          <p:nvSpPr>
            <p:cNvPr id="10" name="TextBox 10"/>
            <p:cNvSpPr txBox="1"/>
            <p:nvPr/>
          </p:nvSpPr>
          <p:spPr>
            <a:xfrm>
              <a:off x="566738" y="2179320"/>
              <a:ext cx="240411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然而，尽管有这些好处，近三分之二（62%）​​</a:t>
              </a:r>
              <a:br/>
              <a:r>
                <a:rPr lang="zh-CN" sz="900" dirty="0">
                  <a:solidFill>
                    <a:srgbClr val="333333"/>
                  </a:solidFill>
                  <a:latin typeface="+mn-lt"/>
                  <a:ea typeface="+mn-ea"/>
                  <a:cs typeface="+mn-cs"/>
                </a:rPr>
                <a:t>的银行表示其模型监控流程尚未自动化。模型​</a:t>
              </a:r>
              <a:br/>
              <a:r>
                <a:rPr lang="zh-CN" sz="900" dirty="0">
                  <a:solidFill>
                    <a:srgbClr val="333333"/>
                  </a:solidFill>
                  <a:latin typeface="+mn-lt"/>
                  <a:ea typeface="+mn-ea"/>
                  <a:cs typeface="+mn-cs"/>
                </a:rPr>
                <a:t>监控的自动化程度与银行规模相关：82%的​​</a:t>
              </a:r>
              <a:br/>
              <a:r>
                <a:rPr lang="zh-CN" sz="900" dirty="0">
                  <a:solidFill>
                    <a:srgbClr val="333333"/>
                  </a:solidFill>
                  <a:latin typeface="+mn-lt"/>
                  <a:ea typeface="+mn-ea"/>
                  <a:cs typeface="+mn-cs"/>
                </a:rPr>
                <a:t>小型银行的模型监控未自动化，中型和大型银​</a:t>
              </a:r>
              <a:br/>
              <a:r>
                <a:rPr lang="zh-CN" sz="900" dirty="0">
                  <a:solidFill>
                    <a:srgbClr val="333333"/>
                  </a:solidFill>
                  <a:latin typeface="+mn-lt"/>
                  <a:ea typeface="+mn-ea"/>
                  <a:cs typeface="+mn-cs"/>
                </a:rPr>
                <a:t>行分别为62%和52%。​​​​</a:t>
              </a:r>
            </a:p>
          </p:txBody>
        </p:sp>
        <p:sp>
          <p:nvSpPr>
            <p:cNvPr id="11" name="TextBox 11"/>
            <p:cNvSpPr txBox="1"/>
            <p:nvPr/>
          </p:nvSpPr>
          <p:spPr>
            <a:xfrm>
              <a:off x="566547" y="3257074"/>
              <a:ext cx="613805"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监控频率​</a:t>
              </a:r>
            </a:p>
          </p:txBody>
        </p:sp>
        <p:sp>
          <p:nvSpPr>
            <p:cNvPr id="12" name="TextBox 12"/>
            <p:cNvSpPr txBox="1"/>
            <p:nvPr/>
          </p:nvSpPr>
          <p:spPr>
            <a:xfrm>
              <a:off x="566738" y="3422809"/>
              <a:ext cx="1019482"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Monitoring frequency​</a:t>
              </a:r>
            </a:p>
          </p:txBody>
        </p:sp>
        <p:sp>
          <p:nvSpPr>
            <p:cNvPr id="13" name="TextBox 13"/>
            <p:cNvSpPr txBox="1"/>
            <p:nvPr/>
          </p:nvSpPr>
          <p:spPr>
            <a:xfrm>
              <a:off x="566738" y="3579495"/>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正如预期，市场风险模型的监控频率通常高于​</a:t>
              </a:r>
              <a:br/>
              <a:r>
                <a:rPr lang="zh-CN" sz="900" dirty="0">
                  <a:solidFill>
                    <a:srgbClr val="333333"/>
                  </a:solidFill>
                  <a:latin typeface="+mn-lt"/>
                  <a:ea typeface="+mn-ea"/>
                  <a:cs typeface="+mn-cs"/>
                </a:rPr>
                <a:t>信用风险模型。市场风险模型，尤其是与银行​</a:t>
              </a:r>
              <a:br/>
              <a:r>
                <a:rPr lang="zh-CN" sz="900" dirty="0">
                  <a:solidFill>
                    <a:srgbClr val="333333"/>
                  </a:solidFill>
                  <a:latin typeface="+mn-lt"/>
                  <a:ea typeface="+mn-ea"/>
                  <a:cs typeface="+mn-cs"/>
                </a:rPr>
                <a:t>金融市场活动相关的模型，其输入、假设和校​</a:t>
              </a:r>
              <a:br/>
              <a:r>
                <a:rPr lang="zh-CN" sz="900" dirty="0">
                  <a:solidFill>
                    <a:srgbClr val="333333"/>
                  </a:solidFill>
                  <a:latin typeface="+mn-lt"/>
                  <a:ea typeface="+mn-ea"/>
                  <a:cs typeface="+mn-cs"/>
                </a:rPr>
                <a:t>准的变化速度快于信用风险模型的输入、假设​</a:t>
              </a:r>
              <a:br/>
              <a:r>
                <a:rPr lang="zh-CN" sz="900" dirty="0">
                  <a:solidFill>
                    <a:srgbClr val="333333"/>
                  </a:solidFill>
                  <a:latin typeface="+mn-lt"/>
                  <a:ea typeface="+mn-ea"/>
                  <a:cs typeface="+mn-cs"/>
                </a:rPr>
                <a:t>和校准。​</a:t>
              </a:r>
            </a:p>
          </p:txBody>
        </p:sp>
      </p:grpSp>
      <p:grpSp>
        <p:nvGrpSpPr>
          <p:cNvPr id="16" name="col-2"/>
          <p:cNvGrpSpPr/>
          <p:nvPr/>
        </p:nvGrpSpPr>
        <p:grpSpPr>
          <a:xfrm>
            <a:off x="3424238" y="855345"/>
            <a:ext cx="2472690" cy="1081088"/>
            <a:chOff x="3424238" y="855345"/>
            <a:chExt cx="2472690" cy="1081088"/>
          </a:xfrm>
        </p:grpSpPr>
        <p:sp>
          <p:nvSpPr>
            <p:cNvPr id="15" name="TextBox 15"/>
            <p:cNvSpPr txBox="1"/>
            <p:nvPr/>
          </p:nvSpPr>
          <p:spPr>
            <a:xfrm>
              <a:off x="3424238" y="855345"/>
              <a:ext cx="24726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超过30%的银行表示至少每月监控一次市​​</a:t>
              </a:r>
              <a:br/>
              <a:r>
                <a:rPr lang="zh-CN" sz="900" dirty="0">
                  <a:solidFill>
                    <a:srgbClr val="333333"/>
                  </a:solidFill>
                  <a:latin typeface="+mn-lt"/>
                  <a:ea typeface="+mn-ea"/>
                  <a:cs typeface="+mn-cs"/>
                </a:rPr>
                <a:t>场风险模型，其中很大一部分声称按日或按周​</a:t>
              </a:r>
              <a:br/>
              <a:r>
                <a:rPr lang="zh-CN" sz="900" dirty="0">
                  <a:solidFill>
                    <a:srgbClr val="333333"/>
                  </a:solidFill>
                  <a:latin typeface="+mn-lt"/>
                  <a:ea typeface="+mn-ea"/>
                  <a:cs typeface="+mn-cs"/>
                </a:rPr>
                <a:t>监控市场风险模型。对于信用风险模型，银行​</a:t>
              </a:r>
              <a:br/>
              <a:r>
                <a:rPr lang="zh-CN" sz="900" dirty="0">
                  <a:solidFill>
                    <a:srgbClr val="333333"/>
                  </a:solidFill>
                  <a:latin typeface="+mn-lt"/>
                  <a:ea typeface="+mn-ea"/>
                  <a:cs typeface="+mn-cs"/>
                </a:rPr>
                <a:t>表示不使用日频或周频，理由与上述说明一致；​</a:t>
              </a:r>
              <a:br/>
              <a:r>
                <a:rPr lang="zh-CN" sz="900" dirty="0">
                  <a:solidFill>
                    <a:srgbClr val="333333"/>
                  </a:solidFill>
                  <a:latin typeface="+mn-lt"/>
                  <a:ea typeface="+mn-ea"/>
                  <a:cs typeface="+mn-cs"/>
                </a:rPr>
                <a:t>取而代之的是，近半数银行对信用风险模型采​</a:t>
              </a:r>
              <a:br/>
              <a:r>
                <a:rPr lang="zh-CN" sz="900" dirty="0">
                  <a:solidFill>
                    <a:srgbClr val="333333"/>
                  </a:solidFill>
                  <a:latin typeface="+mn-lt"/>
                  <a:ea typeface="+mn-ea"/>
                  <a:cs typeface="+mn-cs"/>
                </a:rPr>
                <a:t>用季度监控。​</a:t>
              </a:r>
            </a:p>
          </p:txBody>
        </p:sp>
      </p:grpSp>
      <p:grpSp>
        <p:nvGrpSpPr>
          <p:cNvPr id="39" name="figure-42"/>
          <p:cNvGrpSpPr/>
          <p:nvPr/>
        </p:nvGrpSpPr>
        <p:grpSpPr>
          <a:xfrm>
            <a:off x="3424238" y="2235041"/>
            <a:ext cx="1854607" cy="2651522"/>
            <a:chOff x="3424238" y="2235041"/>
            <a:chExt cx="1854607" cy="2651522"/>
          </a:xfrm>
        </p:grpSpPr>
        <p:sp>
          <p:nvSpPr>
            <p:cNvPr id="17" name="TextBox 17"/>
            <p:cNvSpPr txBox="1"/>
            <p:nvPr/>
          </p:nvSpPr>
          <p:spPr>
            <a:xfrm>
              <a:off x="3424238" y="2235041"/>
              <a:ext cx="1356539"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图42. 模型监控的自动化​​</a:t>
              </a:r>
            </a:p>
          </p:txBody>
        </p:sp>
        <p:sp>
          <p:nvSpPr>
            <p:cNvPr id="18" name="TextBox 18"/>
            <p:cNvSpPr txBox="1"/>
            <p:nvPr/>
          </p:nvSpPr>
          <p:spPr>
            <a:xfrm>
              <a:off x="3424238" y="2379107"/>
              <a:ext cx="1429776"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Automation of model monitoring​​</a:t>
              </a:r>
            </a:p>
          </p:txBody>
        </p:sp>
        <p:sp>
          <p:nvSpPr>
            <p:cNvPr id="19" name="Freeform 19"/>
            <p:cNvSpPr/>
            <p:nvPr/>
          </p:nvSpPr>
          <p:spPr>
            <a:xfrm>
              <a:off x="3867150" y="2714625"/>
              <a:ext cx="1219200" cy="1219200"/>
            </a:xfrm>
            <a:prstGeom prst="blockArc">
              <a:avLst>
                <a:gd name="adj1" fmla="val 16200000"/>
                <a:gd name="adj2" fmla="val 7992000"/>
                <a:gd name="adj3" fmla="val 17188"/>
              </a:avLst>
            </a:prstGeom>
            <a:solidFill>
              <a:srgbClr val="6B1100"/>
            </a:solidFill>
            <a:ln>
              <a:noFill/>
            </a:ln>
          </p:spPr>
        </p:sp>
        <p:sp>
          <p:nvSpPr>
            <p:cNvPr id="20" name="Freeform 20"/>
            <p:cNvSpPr/>
            <p:nvPr/>
          </p:nvSpPr>
          <p:spPr>
            <a:xfrm>
              <a:off x="3867150" y="2714625"/>
              <a:ext cx="1219200" cy="1219200"/>
            </a:xfrm>
            <a:prstGeom prst="blockArc">
              <a:avLst>
                <a:gd name="adj1" fmla="val 7992000"/>
                <a:gd name="adj2" fmla="val 11232000"/>
                <a:gd name="adj3" fmla="val 17188"/>
              </a:avLst>
            </a:prstGeom>
            <a:solidFill>
              <a:srgbClr val="AA1B00"/>
            </a:solidFill>
            <a:ln>
              <a:noFill/>
            </a:ln>
          </p:spPr>
        </p:sp>
        <p:sp>
          <p:nvSpPr>
            <p:cNvPr id="21" name="Freeform 21"/>
            <p:cNvSpPr/>
            <p:nvPr/>
          </p:nvSpPr>
          <p:spPr>
            <a:xfrm>
              <a:off x="3867150" y="2714625"/>
              <a:ext cx="1219200" cy="1219200"/>
            </a:xfrm>
            <a:prstGeom prst="blockArc">
              <a:avLst>
                <a:gd name="adj1" fmla="val 11232000"/>
                <a:gd name="adj2" fmla="val 14256000"/>
                <a:gd name="adj3" fmla="val 17188"/>
              </a:avLst>
            </a:prstGeom>
            <a:solidFill>
              <a:srgbClr val="C35642"/>
            </a:solidFill>
            <a:ln>
              <a:noFill/>
            </a:ln>
          </p:spPr>
        </p:sp>
        <p:sp>
          <p:nvSpPr>
            <p:cNvPr id="22" name="Freeform 22"/>
            <p:cNvSpPr/>
            <p:nvPr/>
          </p:nvSpPr>
          <p:spPr>
            <a:xfrm>
              <a:off x="3867150" y="2714625"/>
              <a:ext cx="1219200" cy="1219200"/>
            </a:xfrm>
            <a:prstGeom prst="blockArc">
              <a:avLst>
                <a:gd name="adj1" fmla="val 14256000"/>
                <a:gd name="adj2" fmla="val 15552000"/>
                <a:gd name="adj3" fmla="val 17188"/>
              </a:avLst>
            </a:prstGeom>
            <a:solidFill>
              <a:srgbClr val="EDBCB3"/>
            </a:solidFill>
            <a:ln>
              <a:noFill/>
            </a:ln>
          </p:spPr>
        </p:sp>
        <p:sp>
          <p:nvSpPr>
            <p:cNvPr id="23" name="Freeform 23"/>
            <p:cNvSpPr/>
            <p:nvPr/>
          </p:nvSpPr>
          <p:spPr>
            <a:xfrm>
              <a:off x="3867150" y="2714625"/>
              <a:ext cx="1219200" cy="1219200"/>
            </a:xfrm>
            <a:prstGeom prst="blockArc">
              <a:avLst>
                <a:gd name="adj1" fmla="val 15552000"/>
                <a:gd name="adj2" fmla="val 16200000"/>
                <a:gd name="adj3" fmla="val 17188"/>
              </a:avLst>
            </a:prstGeom>
            <a:solidFill>
              <a:srgbClr val="D8482E"/>
            </a:solidFill>
            <a:ln>
              <a:noFill/>
            </a:ln>
          </p:spPr>
        </p:sp>
        <p:sp>
          <p:nvSpPr>
            <p:cNvPr id="24" name="TextBox 24"/>
            <p:cNvSpPr txBox="1"/>
            <p:nvPr/>
          </p:nvSpPr>
          <p:spPr>
            <a:xfrm>
              <a:off x="5038635" y="3554254"/>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62%​</a:t>
              </a:r>
            </a:p>
          </p:txBody>
        </p:sp>
        <p:sp>
          <p:nvSpPr>
            <p:cNvPr id="25" name="TextBox 25"/>
            <p:cNvSpPr txBox="1"/>
            <p:nvPr/>
          </p:nvSpPr>
          <p:spPr>
            <a:xfrm>
              <a:off x="3667035" y="3533299"/>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15%​</a:t>
              </a:r>
            </a:p>
          </p:txBody>
        </p:sp>
        <p:sp>
          <p:nvSpPr>
            <p:cNvPr id="26" name="TextBox 26"/>
            <p:cNvSpPr txBox="1"/>
            <p:nvPr/>
          </p:nvSpPr>
          <p:spPr>
            <a:xfrm>
              <a:off x="3737520" y="2891314"/>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14%​</a:t>
              </a:r>
            </a:p>
          </p:txBody>
        </p:sp>
        <p:sp>
          <p:nvSpPr>
            <p:cNvPr id="27" name="TextBox 27"/>
            <p:cNvSpPr txBox="1"/>
            <p:nvPr/>
          </p:nvSpPr>
          <p:spPr>
            <a:xfrm>
              <a:off x="4113520" y="2602706"/>
              <a:ext cx="187345"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6%​</a:t>
              </a:r>
            </a:p>
          </p:txBody>
        </p:sp>
        <p:sp>
          <p:nvSpPr>
            <p:cNvPr id="28" name="TextBox 28"/>
            <p:cNvSpPr txBox="1"/>
            <p:nvPr/>
          </p:nvSpPr>
          <p:spPr>
            <a:xfrm>
              <a:off x="4314498" y="2554129"/>
              <a:ext cx="187345"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3%​</a:t>
              </a:r>
            </a:p>
          </p:txBody>
        </p:sp>
        <p:sp>
          <p:nvSpPr>
            <p:cNvPr id="29" name="Rectangle 29"/>
            <p:cNvSpPr/>
            <p:nvPr/>
          </p:nvSpPr>
          <p:spPr>
            <a:xfrm>
              <a:off x="3429000" y="4133850"/>
              <a:ext cx="95250" cy="95250"/>
            </a:xfrm>
            <a:prstGeom prst="rect">
              <a:avLst/>
            </a:prstGeom>
            <a:solidFill>
              <a:srgbClr val="6B1100"/>
            </a:solidFill>
            <a:ln>
              <a:noFill/>
            </a:ln>
          </p:spPr>
        </p:sp>
        <p:sp>
          <p:nvSpPr>
            <p:cNvPr id="30" name="TextBox 30"/>
            <p:cNvSpPr txBox="1"/>
            <p:nvPr/>
          </p:nvSpPr>
          <p:spPr>
            <a:xfrm>
              <a:off x="3567112" y="4150757"/>
              <a:ext cx="290591"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否No​​</a:t>
              </a:r>
            </a:p>
          </p:txBody>
        </p:sp>
        <p:sp>
          <p:nvSpPr>
            <p:cNvPr id="31" name="Rectangle 31"/>
            <p:cNvSpPr/>
            <p:nvPr/>
          </p:nvSpPr>
          <p:spPr>
            <a:xfrm>
              <a:off x="3429000" y="4286250"/>
              <a:ext cx="95250" cy="95250"/>
            </a:xfrm>
            <a:prstGeom prst="rect">
              <a:avLst/>
            </a:prstGeom>
            <a:solidFill>
              <a:srgbClr val="AA1B00"/>
            </a:solidFill>
            <a:ln>
              <a:noFill/>
            </a:ln>
          </p:spPr>
        </p:sp>
        <p:sp>
          <p:nvSpPr>
            <p:cNvPr id="32" name="TextBox 32"/>
            <p:cNvSpPr txBox="1"/>
            <p:nvPr/>
          </p:nvSpPr>
          <p:spPr>
            <a:xfrm>
              <a:off x="3567112" y="4303157"/>
              <a:ext cx="1349263"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是，信用与市场风险模型均自动化​</a:t>
              </a:r>
            </a:p>
          </p:txBody>
        </p:sp>
        <p:sp>
          <p:nvSpPr>
            <p:cNvPr id="33" name="Rectangle 33"/>
            <p:cNvSpPr/>
            <p:nvPr/>
          </p:nvSpPr>
          <p:spPr>
            <a:xfrm>
              <a:off x="3429000" y="4438650"/>
              <a:ext cx="95250" cy="95250"/>
            </a:xfrm>
            <a:prstGeom prst="rect">
              <a:avLst/>
            </a:prstGeom>
            <a:solidFill>
              <a:srgbClr val="C35642"/>
            </a:solidFill>
            <a:ln>
              <a:noFill/>
            </a:ln>
          </p:spPr>
        </p:sp>
        <p:sp>
          <p:nvSpPr>
            <p:cNvPr id="34" name="TextBox 34"/>
            <p:cNvSpPr txBox="1"/>
            <p:nvPr/>
          </p:nvSpPr>
          <p:spPr>
            <a:xfrm>
              <a:off x="3567112" y="4455557"/>
              <a:ext cx="83232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是，仅信用风险模型​</a:t>
              </a:r>
            </a:p>
          </p:txBody>
        </p:sp>
        <p:sp>
          <p:nvSpPr>
            <p:cNvPr id="35" name="Rectangle 35"/>
            <p:cNvSpPr/>
            <p:nvPr/>
          </p:nvSpPr>
          <p:spPr>
            <a:xfrm>
              <a:off x="3429000" y="4591050"/>
              <a:ext cx="95250" cy="95250"/>
            </a:xfrm>
            <a:prstGeom prst="rect">
              <a:avLst/>
            </a:prstGeom>
            <a:solidFill>
              <a:srgbClr val="EDBCB3"/>
            </a:solidFill>
            <a:ln>
              <a:noFill/>
            </a:ln>
          </p:spPr>
        </p:sp>
        <p:sp>
          <p:nvSpPr>
            <p:cNvPr id="36" name="TextBox 36"/>
            <p:cNvSpPr txBox="1"/>
            <p:nvPr/>
          </p:nvSpPr>
          <p:spPr>
            <a:xfrm>
              <a:off x="3567112" y="4607957"/>
              <a:ext cx="832322"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是，仅市场风险模型​</a:t>
              </a:r>
            </a:p>
          </p:txBody>
        </p:sp>
        <p:sp>
          <p:nvSpPr>
            <p:cNvPr id="37" name="Rectangle 37"/>
            <p:cNvSpPr/>
            <p:nvPr/>
          </p:nvSpPr>
          <p:spPr>
            <a:xfrm>
              <a:off x="3429000" y="4743450"/>
              <a:ext cx="95250" cy="95250"/>
            </a:xfrm>
            <a:prstGeom prst="rect">
              <a:avLst/>
            </a:prstGeom>
            <a:solidFill>
              <a:srgbClr val="D8482E"/>
            </a:solidFill>
            <a:ln>
              <a:noFill/>
            </a:ln>
          </p:spPr>
        </p:sp>
        <p:sp>
          <p:nvSpPr>
            <p:cNvPr id="38" name="TextBox 38"/>
            <p:cNvSpPr txBox="1"/>
            <p:nvPr/>
          </p:nvSpPr>
          <p:spPr>
            <a:xfrm>
              <a:off x="3567112" y="4760357"/>
              <a:ext cx="746166"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是，其他类型模型​</a:t>
              </a:r>
            </a:p>
          </p:txBody>
        </p:sp>
      </p:grpSp>
      <p:grpSp>
        <p:nvGrpSpPr>
          <p:cNvPr id="95" name="figure-43"/>
          <p:cNvGrpSpPr/>
          <p:nvPr/>
        </p:nvGrpSpPr>
        <p:grpSpPr>
          <a:xfrm>
            <a:off x="6338888" y="863441"/>
            <a:ext cx="3178545" cy="3877151"/>
            <a:chOff x="6338888" y="863441"/>
            <a:chExt cx="3178545" cy="3877151"/>
          </a:xfrm>
        </p:grpSpPr>
        <p:sp>
          <p:nvSpPr>
            <p:cNvPr id="40" name="TextBox 40"/>
            <p:cNvSpPr txBox="1"/>
            <p:nvPr/>
          </p:nvSpPr>
          <p:spPr>
            <a:xfrm>
              <a:off x="6338888" y="863441"/>
              <a:ext cx="2239647"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图43. 信用与市场风险模型监控的平均频率​​</a:t>
              </a:r>
            </a:p>
          </p:txBody>
        </p:sp>
        <p:sp>
          <p:nvSpPr>
            <p:cNvPr id="41" name="TextBox 41"/>
            <p:cNvSpPr txBox="1"/>
            <p:nvPr/>
          </p:nvSpPr>
          <p:spPr>
            <a:xfrm>
              <a:off x="6338888" y="1011555"/>
              <a:ext cx="3178545" cy="119062"/>
            </a:xfrm>
            <a:prstGeom prst="rect">
              <a:avLst/>
            </a:prstGeom>
            <a:noFill/>
            <a:ln>
              <a:noFill/>
            </a:ln>
          </p:spPr>
          <p:txBody>
            <a:bodyPr wrap="none" lIns="0" tIns="0" rIns="0" bIns="0" anchor="t" anchorCtr="0">
              <a:spAutoFit/>
            </a:bodyPr>
            <a:lstStyle/>
            <a:p>
              <a:pPr algn="l"/>
              <a:r>
                <a:rPr lang="en-US" sz="600" dirty="0">
                  <a:solidFill>
                    <a:srgbClr val="666666"/>
                  </a:solidFill>
                  <a:latin typeface="+mn-lt"/>
                  <a:ea typeface="+mn-ea"/>
                  <a:cs typeface="+mn-cs"/>
                </a:rPr>
                <a:t>Average frequency of model monitoring for credit risk and market risk models​​</a:t>
              </a:r>
            </a:p>
          </p:txBody>
        </p:sp>
        <p:sp>
          <p:nvSpPr>
            <p:cNvPr id="42" name="Line 42"/>
            <p:cNvSpPr/>
            <p:nvPr/>
          </p:nvSpPr>
          <p:spPr>
            <a:xfrm>
              <a:off x="6858000" y="4000500"/>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43" name="TextBox 43"/>
            <p:cNvSpPr txBox="1"/>
            <p:nvPr/>
          </p:nvSpPr>
          <p:spPr>
            <a:xfrm>
              <a:off x="6656184" y="3969068"/>
              <a:ext cx="158953"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0%​</a:t>
              </a:r>
            </a:p>
          </p:txBody>
        </p:sp>
        <p:sp>
          <p:nvSpPr>
            <p:cNvPr id="44" name="Line 44"/>
            <p:cNvSpPr/>
            <p:nvPr/>
          </p:nvSpPr>
          <p:spPr>
            <a:xfrm>
              <a:off x="6858000" y="3743325"/>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45" name="TextBox 45"/>
            <p:cNvSpPr txBox="1"/>
            <p:nvPr/>
          </p:nvSpPr>
          <p:spPr>
            <a:xfrm>
              <a:off x="6611760" y="3711892"/>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10%​</a:t>
              </a:r>
            </a:p>
          </p:txBody>
        </p:sp>
        <p:sp>
          <p:nvSpPr>
            <p:cNvPr id="46" name="Line 46"/>
            <p:cNvSpPr/>
            <p:nvPr/>
          </p:nvSpPr>
          <p:spPr>
            <a:xfrm>
              <a:off x="6858000" y="3486150"/>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47" name="TextBox 47"/>
            <p:cNvSpPr txBox="1"/>
            <p:nvPr/>
          </p:nvSpPr>
          <p:spPr>
            <a:xfrm>
              <a:off x="6611760" y="34547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20%​</a:t>
              </a:r>
            </a:p>
          </p:txBody>
        </p:sp>
        <p:sp>
          <p:nvSpPr>
            <p:cNvPr id="48" name="Line 48"/>
            <p:cNvSpPr/>
            <p:nvPr/>
          </p:nvSpPr>
          <p:spPr>
            <a:xfrm>
              <a:off x="6858000" y="3228975"/>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49" name="TextBox 49"/>
            <p:cNvSpPr txBox="1"/>
            <p:nvPr/>
          </p:nvSpPr>
          <p:spPr>
            <a:xfrm>
              <a:off x="6611760" y="3197542"/>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30%​</a:t>
              </a:r>
            </a:p>
          </p:txBody>
        </p:sp>
        <p:sp>
          <p:nvSpPr>
            <p:cNvPr id="50" name="Line 50"/>
            <p:cNvSpPr/>
            <p:nvPr/>
          </p:nvSpPr>
          <p:spPr>
            <a:xfrm>
              <a:off x="6858000" y="2971800"/>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51" name="TextBox 51"/>
            <p:cNvSpPr txBox="1"/>
            <p:nvPr/>
          </p:nvSpPr>
          <p:spPr>
            <a:xfrm>
              <a:off x="6611760" y="294036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40%​</a:t>
              </a:r>
            </a:p>
          </p:txBody>
        </p:sp>
        <p:sp>
          <p:nvSpPr>
            <p:cNvPr id="52" name="Line 52"/>
            <p:cNvSpPr/>
            <p:nvPr/>
          </p:nvSpPr>
          <p:spPr>
            <a:xfrm>
              <a:off x="6858000" y="2714625"/>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53" name="TextBox 53"/>
            <p:cNvSpPr txBox="1"/>
            <p:nvPr/>
          </p:nvSpPr>
          <p:spPr>
            <a:xfrm>
              <a:off x="6611760" y="2683192"/>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50%​</a:t>
              </a:r>
            </a:p>
          </p:txBody>
        </p:sp>
        <p:sp>
          <p:nvSpPr>
            <p:cNvPr id="54" name="Line 54"/>
            <p:cNvSpPr/>
            <p:nvPr/>
          </p:nvSpPr>
          <p:spPr>
            <a:xfrm>
              <a:off x="6858000" y="2457450"/>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55" name="TextBox 55"/>
            <p:cNvSpPr txBox="1"/>
            <p:nvPr/>
          </p:nvSpPr>
          <p:spPr>
            <a:xfrm>
              <a:off x="6611760" y="242601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60%​</a:t>
              </a:r>
            </a:p>
          </p:txBody>
        </p:sp>
        <p:sp>
          <p:nvSpPr>
            <p:cNvPr id="56" name="Line 56"/>
            <p:cNvSpPr/>
            <p:nvPr/>
          </p:nvSpPr>
          <p:spPr>
            <a:xfrm>
              <a:off x="6858000" y="2200275"/>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57" name="TextBox 57"/>
            <p:cNvSpPr txBox="1"/>
            <p:nvPr/>
          </p:nvSpPr>
          <p:spPr>
            <a:xfrm>
              <a:off x="6611760" y="2168842"/>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70%​</a:t>
              </a:r>
            </a:p>
          </p:txBody>
        </p:sp>
        <p:sp>
          <p:nvSpPr>
            <p:cNvPr id="58" name="Line 58"/>
            <p:cNvSpPr/>
            <p:nvPr/>
          </p:nvSpPr>
          <p:spPr>
            <a:xfrm>
              <a:off x="6858000" y="1943100"/>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59" name="TextBox 59"/>
            <p:cNvSpPr txBox="1"/>
            <p:nvPr/>
          </p:nvSpPr>
          <p:spPr>
            <a:xfrm>
              <a:off x="6611760" y="1911668"/>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80%​</a:t>
              </a:r>
            </a:p>
          </p:txBody>
        </p:sp>
        <p:sp>
          <p:nvSpPr>
            <p:cNvPr id="60" name="Line 60"/>
            <p:cNvSpPr/>
            <p:nvPr/>
          </p:nvSpPr>
          <p:spPr>
            <a:xfrm>
              <a:off x="6858000" y="1685925"/>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61" name="TextBox 61"/>
            <p:cNvSpPr txBox="1"/>
            <p:nvPr/>
          </p:nvSpPr>
          <p:spPr>
            <a:xfrm>
              <a:off x="6611760" y="1654492"/>
              <a:ext cx="203378"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90%​</a:t>
              </a:r>
            </a:p>
          </p:txBody>
        </p:sp>
        <p:sp>
          <p:nvSpPr>
            <p:cNvPr id="62" name="Line 62"/>
            <p:cNvSpPr/>
            <p:nvPr/>
          </p:nvSpPr>
          <p:spPr>
            <a:xfrm>
              <a:off x="6858000" y="1428750"/>
              <a:ext cx="2286000" cy="9525"/>
            </a:xfrm>
            <a:custGeom>
              <a:avLst/>
              <a:gdLst/>
              <a:ahLst/>
              <a:cxnLst/>
              <a:rect l="l" t="t" r="r" b="b"/>
              <a:pathLst>
                <a:path w="2286000" h="9525">
                  <a:moveTo>
                    <a:pt x="0" y="0"/>
                  </a:moveTo>
                  <a:lnTo>
                    <a:pt x="2286000" y="0"/>
                  </a:lnTo>
                </a:path>
              </a:pathLst>
            </a:custGeom>
            <a:noFill/>
            <a:ln w="7620">
              <a:solidFill>
                <a:srgbClr val="E6E6E6"/>
              </a:solidFill>
            </a:ln>
          </p:spPr>
        </p:sp>
        <p:sp>
          <p:nvSpPr>
            <p:cNvPr id="63" name="TextBox 63"/>
            <p:cNvSpPr txBox="1"/>
            <p:nvPr/>
          </p:nvSpPr>
          <p:spPr>
            <a:xfrm>
              <a:off x="6567335" y="1397318"/>
              <a:ext cx="247802" cy="119062"/>
            </a:xfrm>
            <a:prstGeom prst="rect">
              <a:avLst/>
            </a:prstGeom>
            <a:noFill/>
            <a:ln>
              <a:noFill/>
            </a:ln>
          </p:spPr>
          <p:txBody>
            <a:bodyPr wrap="none" lIns="0" tIns="0" rIns="0" bIns="0" anchor="t" anchorCtr="0">
              <a:spAutoFit/>
            </a:bodyPr>
            <a:lstStyle/>
            <a:p>
              <a:pPr algn="r"/>
              <a:r>
                <a:rPr lang="zh-CN" sz="600" dirty="0">
                  <a:solidFill>
                    <a:srgbClr val="666666"/>
                  </a:solidFill>
                  <a:latin typeface="+mn-lt"/>
                  <a:ea typeface="+mn-ea"/>
                  <a:cs typeface="+mn-cs"/>
                </a:rPr>
                <a:t>100%​</a:t>
              </a:r>
            </a:p>
          </p:txBody>
        </p:sp>
        <p:sp>
          <p:nvSpPr>
            <p:cNvPr id="64" name="Rectangle 64"/>
            <p:cNvSpPr/>
            <p:nvPr/>
          </p:nvSpPr>
          <p:spPr>
            <a:xfrm>
              <a:off x="7086600" y="3408998"/>
              <a:ext cx="685800" cy="591502"/>
            </a:xfrm>
            <a:prstGeom prst="rect">
              <a:avLst/>
            </a:prstGeom>
            <a:solidFill>
              <a:srgbClr val="D8482E"/>
            </a:solidFill>
            <a:ln>
              <a:noFill/>
            </a:ln>
          </p:spPr>
        </p:sp>
        <p:sp>
          <p:nvSpPr>
            <p:cNvPr id="65" name="TextBox 65"/>
            <p:cNvSpPr txBox="1"/>
            <p:nvPr/>
          </p:nvSpPr>
          <p:spPr>
            <a:xfrm>
              <a:off x="7309395" y="3664744"/>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23%​</a:t>
              </a:r>
            </a:p>
          </p:txBody>
        </p:sp>
        <p:sp>
          <p:nvSpPr>
            <p:cNvPr id="66" name="Rectangle 66"/>
            <p:cNvSpPr/>
            <p:nvPr/>
          </p:nvSpPr>
          <p:spPr>
            <a:xfrm>
              <a:off x="7086600" y="2200275"/>
              <a:ext cx="685800" cy="1208722"/>
            </a:xfrm>
            <a:prstGeom prst="rect">
              <a:avLst/>
            </a:prstGeom>
            <a:solidFill>
              <a:srgbClr val="6B1100"/>
            </a:solidFill>
            <a:ln>
              <a:noFill/>
            </a:ln>
          </p:spPr>
        </p:sp>
        <p:sp>
          <p:nvSpPr>
            <p:cNvPr id="67" name="TextBox 67"/>
            <p:cNvSpPr txBox="1"/>
            <p:nvPr/>
          </p:nvSpPr>
          <p:spPr>
            <a:xfrm>
              <a:off x="7309395" y="2764631"/>
              <a:ext cx="24021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47%​</a:t>
              </a:r>
            </a:p>
          </p:txBody>
        </p:sp>
        <p:sp>
          <p:nvSpPr>
            <p:cNvPr id="68" name="Rectangle 68"/>
            <p:cNvSpPr/>
            <p:nvPr/>
          </p:nvSpPr>
          <p:spPr>
            <a:xfrm>
              <a:off x="7086600" y="1403032"/>
              <a:ext cx="685800" cy="797242"/>
            </a:xfrm>
            <a:prstGeom prst="rect">
              <a:avLst/>
            </a:prstGeom>
            <a:solidFill>
              <a:srgbClr val="AA1B00"/>
            </a:solidFill>
            <a:ln>
              <a:noFill/>
            </a:ln>
          </p:spPr>
        </p:sp>
        <p:sp>
          <p:nvSpPr>
            <p:cNvPr id="69" name="TextBox 69"/>
            <p:cNvSpPr txBox="1"/>
            <p:nvPr/>
          </p:nvSpPr>
          <p:spPr>
            <a:xfrm>
              <a:off x="7309395" y="1761649"/>
              <a:ext cx="24021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31%​</a:t>
              </a:r>
            </a:p>
          </p:txBody>
        </p:sp>
        <p:sp>
          <p:nvSpPr>
            <p:cNvPr id="70" name="TextBox 70"/>
            <p:cNvSpPr txBox="1"/>
            <p:nvPr/>
          </p:nvSpPr>
          <p:spPr>
            <a:xfrm>
              <a:off x="7070916" y="4060984"/>
              <a:ext cx="717169"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信用风险模型​</a:t>
              </a:r>
            </a:p>
            <a:p>
              <a:pPr algn="ctr">
                <a:lnSpc>
                  <a:spcPts val="825"/>
                </a:lnSpc>
              </a:pPr>
              <a:r>
                <a:rPr lang="en-US" sz="560" dirty="0">
                  <a:solidFill>
                    <a:srgbClr val="666666"/>
                  </a:solidFill>
                  <a:latin typeface="+mn-lt"/>
                  <a:ea typeface="+mn-ea"/>
                  <a:cs typeface="+mn-cs"/>
                </a:rPr>
                <a:t>Credit risk models​​</a:t>
              </a:r>
            </a:p>
          </p:txBody>
        </p:sp>
        <p:sp>
          <p:nvSpPr>
            <p:cNvPr id="71" name="Rectangle 71"/>
            <p:cNvSpPr/>
            <p:nvPr/>
          </p:nvSpPr>
          <p:spPr>
            <a:xfrm>
              <a:off x="8229600" y="3589020"/>
              <a:ext cx="685800" cy="411480"/>
            </a:xfrm>
            <a:prstGeom prst="rect">
              <a:avLst/>
            </a:prstGeom>
            <a:solidFill>
              <a:srgbClr val="EDBCB3"/>
            </a:solidFill>
            <a:ln>
              <a:noFill/>
            </a:ln>
          </p:spPr>
        </p:sp>
        <p:sp>
          <p:nvSpPr>
            <p:cNvPr id="72" name="TextBox 72"/>
            <p:cNvSpPr txBox="1"/>
            <p:nvPr/>
          </p:nvSpPr>
          <p:spPr>
            <a:xfrm>
              <a:off x="8452395" y="375523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16%​</a:t>
              </a:r>
            </a:p>
          </p:txBody>
        </p:sp>
        <p:sp>
          <p:nvSpPr>
            <p:cNvPr id="73" name="Rectangle 73"/>
            <p:cNvSpPr/>
            <p:nvPr/>
          </p:nvSpPr>
          <p:spPr>
            <a:xfrm>
              <a:off x="8229600" y="3460432"/>
              <a:ext cx="685800" cy="128588"/>
            </a:xfrm>
            <a:prstGeom prst="rect">
              <a:avLst/>
            </a:prstGeom>
            <a:solidFill>
              <a:srgbClr val="D67B6A"/>
            </a:solidFill>
            <a:ln>
              <a:noFill/>
            </a:ln>
          </p:spPr>
        </p:sp>
        <p:sp>
          <p:nvSpPr>
            <p:cNvPr id="74" name="TextBox 74"/>
            <p:cNvSpPr txBox="1"/>
            <p:nvPr/>
          </p:nvSpPr>
          <p:spPr>
            <a:xfrm>
              <a:off x="8478828" y="3485674"/>
              <a:ext cx="187345"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5%​</a:t>
              </a:r>
            </a:p>
          </p:txBody>
        </p:sp>
        <p:sp>
          <p:nvSpPr>
            <p:cNvPr id="75" name="Rectangle 75"/>
            <p:cNvSpPr/>
            <p:nvPr/>
          </p:nvSpPr>
          <p:spPr>
            <a:xfrm>
              <a:off x="8229600" y="3100388"/>
              <a:ext cx="685800" cy="360045"/>
            </a:xfrm>
            <a:prstGeom prst="rect">
              <a:avLst/>
            </a:prstGeom>
            <a:solidFill>
              <a:srgbClr val="D8482E"/>
            </a:solidFill>
            <a:ln>
              <a:noFill/>
            </a:ln>
          </p:spPr>
        </p:sp>
        <p:sp>
          <p:nvSpPr>
            <p:cNvPr id="76" name="TextBox 76"/>
            <p:cNvSpPr txBox="1"/>
            <p:nvPr/>
          </p:nvSpPr>
          <p:spPr>
            <a:xfrm>
              <a:off x="8452395" y="3240881"/>
              <a:ext cx="240210" cy="133350"/>
            </a:xfrm>
            <a:prstGeom prst="rect">
              <a:avLst/>
            </a:prstGeom>
            <a:noFill/>
            <a:ln>
              <a:noFill/>
            </a:ln>
          </p:spPr>
          <p:txBody>
            <a:bodyPr wrap="none" lIns="0" tIns="0" rIns="0" bIns="0" anchor="t" anchorCtr="0">
              <a:spAutoFit/>
            </a:bodyPr>
            <a:lstStyle/>
            <a:p>
              <a:pPr algn="ctr"/>
              <a:r>
                <a:rPr lang="zh-CN" sz="680" b="1" dirty="0">
                  <a:solidFill>
                    <a:srgbClr val="1A1A1A"/>
                  </a:solidFill>
                  <a:latin typeface="+mn-lt"/>
                  <a:ea typeface="+mn-ea"/>
                  <a:cs typeface="+mn-cs"/>
                </a:rPr>
                <a:t>14%​</a:t>
              </a:r>
            </a:p>
          </p:txBody>
        </p:sp>
        <p:sp>
          <p:nvSpPr>
            <p:cNvPr id="77" name="Rectangle 77"/>
            <p:cNvSpPr/>
            <p:nvPr/>
          </p:nvSpPr>
          <p:spPr>
            <a:xfrm>
              <a:off x="8229600" y="2328862"/>
              <a:ext cx="685800" cy="771525"/>
            </a:xfrm>
            <a:prstGeom prst="rect">
              <a:avLst/>
            </a:prstGeom>
            <a:solidFill>
              <a:srgbClr val="6B1100"/>
            </a:solidFill>
            <a:ln>
              <a:noFill/>
            </a:ln>
          </p:spPr>
        </p:sp>
        <p:sp>
          <p:nvSpPr>
            <p:cNvPr id="78" name="TextBox 78"/>
            <p:cNvSpPr txBox="1"/>
            <p:nvPr/>
          </p:nvSpPr>
          <p:spPr>
            <a:xfrm>
              <a:off x="8452395" y="2675096"/>
              <a:ext cx="24021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30%​</a:t>
              </a:r>
            </a:p>
          </p:txBody>
        </p:sp>
        <p:sp>
          <p:nvSpPr>
            <p:cNvPr id="79" name="Rectangle 79"/>
            <p:cNvSpPr/>
            <p:nvPr/>
          </p:nvSpPr>
          <p:spPr>
            <a:xfrm>
              <a:off x="8229600" y="1403032"/>
              <a:ext cx="685800" cy="925830"/>
            </a:xfrm>
            <a:prstGeom prst="rect">
              <a:avLst/>
            </a:prstGeom>
            <a:solidFill>
              <a:srgbClr val="AA1B00"/>
            </a:solidFill>
            <a:ln>
              <a:noFill/>
            </a:ln>
          </p:spPr>
        </p:sp>
        <p:sp>
          <p:nvSpPr>
            <p:cNvPr id="80" name="TextBox 80"/>
            <p:cNvSpPr txBox="1"/>
            <p:nvPr/>
          </p:nvSpPr>
          <p:spPr>
            <a:xfrm>
              <a:off x="8452395" y="1826419"/>
              <a:ext cx="24021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36%​</a:t>
              </a:r>
            </a:p>
          </p:txBody>
        </p:sp>
        <p:sp>
          <p:nvSpPr>
            <p:cNvPr id="81" name="TextBox 81"/>
            <p:cNvSpPr txBox="1"/>
            <p:nvPr/>
          </p:nvSpPr>
          <p:spPr>
            <a:xfrm>
              <a:off x="8197914" y="4060984"/>
              <a:ext cx="749173"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市场风险模型​</a:t>
              </a:r>
            </a:p>
            <a:p>
              <a:pPr algn="ctr">
                <a:lnSpc>
                  <a:spcPts val="825"/>
                </a:lnSpc>
              </a:pPr>
              <a:r>
                <a:rPr lang="en-US" sz="560" dirty="0">
                  <a:solidFill>
                    <a:srgbClr val="666666"/>
                  </a:solidFill>
                  <a:latin typeface="+mn-lt"/>
                  <a:ea typeface="+mn-ea"/>
                  <a:cs typeface="+mn-cs"/>
                </a:rPr>
                <a:t>Market risk models​​</a:t>
              </a:r>
            </a:p>
          </p:txBody>
        </p:sp>
        <p:sp>
          <p:nvSpPr>
            <p:cNvPr id="82" name="Line 82"/>
            <p:cNvSpPr/>
            <p:nvPr/>
          </p:nvSpPr>
          <p:spPr>
            <a:xfrm>
              <a:off x="6858000" y="4000500"/>
              <a:ext cx="2286000" cy="9525"/>
            </a:xfrm>
            <a:custGeom>
              <a:avLst/>
              <a:gdLst/>
              <a:ahLst/>
              <a:cxnLst/>
              <a:rect l="l" t="t" r="r" b="b"/>
              <a:pathLst>
                <a:path w="2286000" h="9525">
                  <a:moveTo>
                    <a:pt x="0" y="0"/>
                  </a:moveTo>
                  <a:lnTo>
                    <a:pt x="2286000" y="0"/>
                  </a:lnTo>
                </a:path>
              </a:pathLst>
            </a:custGeom>
            <a:noFill/>
            <a:ln w="9525">
              <a:solidFill>
                <a:srgbClr val="666666"/>
              </a:solidFill>
            </a:ln>
          </p:spPr>
        </p:sp>
        <p:sp>
          <p:nvSpPr>
            <p:cNvPr id="83" name="Rectangle 83"/>
            <p:cNvSpPr/>
            <p:nvPr/>
          </p:nvSpPr>
          <p:spPr>
            <a:xfrm>
              <a:off x="6343650" y="4457700"/>
              <a:ext cx="85725" cy="85725"/>
            </a:xfrm>
            <a:prstGeom prst="rect">
              <a:avLst/>
            </a:prstGeom>
            <a:solidFill>
              <a:srgbClr val="4A150B"/>
            </a:solidFill>
            <a:ln>
              <a:noFill/>
            </a:ln>
          </p:spPr>
        </p:sp>
        <p:sp>
          <p:nvSpPr>
            <p:cNvPr id="84" name="TextBox 84"/>
            <p:cNvSpPr txBox="1"/>
            <p:nvPr/>
          </p:nvSpPr>
          <p:spPr>
            <a:xfrm>
              <a:off x="6472238" y="4469130"/>
              <a:ext cx="646260"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日内Intradaily​​</a:t>
              </a:r>
            </a:p>
          </p:txBody>
        </p:sp>
        <p:sp>
          <p:nvSpPr>
            <p:cNvPr id="85" name="Rectangle 85"/>
            <p:cNvSpPr/>
            <p:nvPr/>
          </p:nvSpPr>
          <p:spPr>
            <a:xfrm>
              <a:off x="7159752" y="4457700"/>
              <a:ext cx="85725" cy="85725"/>
            </a:xfrm>
            <a:prstGeom prst="rect">
              <a:avLst/>
            </a:prstGeom>
            <a:solidFill>
              <a:srgbClr val="EDBCB3"/>
            </a:solidFill>
            <a:ln>
              <a:noFill/>
            </a:ln>
          </p:spPr>
        </p:sp>
        <p:sp>
          <p:nvSpPr>
            <p:cNvPr id="86" name="TextBox 86"/>
            <p:cNvSpPr txBox="1"/>
            <p:nvPr/>
          </p:nvSpPr>
          <p:spPr>
            <a:xfrm>
              <a:off x="7288340" y="4469130"/>
              <a:ext cx="444718"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每日Daily​​</a:t>
              </a:r>
            </a:p>
          </p:txBody>
        </p:sp>
        <p:sp>
          <p:nvSpPr>
            <p:cNvPr id="87" name="Rectangle 87"/>
            <p:cNvSpPr/>
            <p:nvPr/>
          </p:nvSpPr>
          <p:spPr>
            <a:xfrm>
              <a:off x="7783830" y="4457700"/>
              <a:ext cx="85725" cy="85725"/>
            </a:xfrm>
            <a:prstGeom prst="rect">
              <a:avLst/>
            </a:prstGeom>
            <a:solidFill>
              <a:srgbClr val="D67B6A"/>
            </a:solidFill>
            <a:ln>
              <a:noFill/>
            </a:ln>
          </p:spPr>
        </p:sp>
        <p:sp>
          <p:nvSpPr>
            <p:cNvPr id="88" name="TextBox 88"/>
            <p:cNvSpPr txBox="1"/>
            <p:nvPr/>
          </p:nvSpPr>
          <p:spPr>
            <a:xfrm>
              <a:off x="7912418" y="4469130"/>
              <a:ext cx="525742"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每周Weekly​​</a:t>
              </a:r>
            </a:p>
          </p:txBody>
        </p:sp>
        <p:sp>
          <p:nvSpPr>
            <p:cNvPr id="89" name="Rectangle 89"/>
            <p:cNvSpPr/>
            <p:nvPr/>
          </p:nvSpPr>
          <p:spPr>
            <a:xfrm>
              <a:off x="6343650" y="4610100"/>
              <a:ext cx="85725" cy="85725"/>
            </a:xfrm>
            <a:prstGeom prst="rect">
              <a:avLst/>
            </a:prstGeom>
            <a:solidFill>
              <a:srgbClr val="D8482E"/>
            </a:solidFill>
            <a:ln>
              <a:noFill/>
            </a:ln>
          </p:spPr>
        </p:sp>
        <p:sp>
          <p:nvSpPr>
            <p:cNvPr id="90" name="TextBox 90"/>
            <p:cNvSpPr txBox="1"/>
            <p:nvPr/>
          </p:nvSpPr>
          <p:spPr>
            <a:xfrm>
              <a:off x="6472238" y="4621530"/>
              <a:ext cx="570052"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每月Monthly​​</a:t>
              </a:r>
            </a:p>
          </p:txBody>
        </p:sp>
        <p:sp>
          <p:nvSpPr>
            <p:cNvPr id="91" name="Rectangle 91"/>
            <p:cNvSpPr/>
            <p:nvPr/>
          </p:nvSpPr>
          <p:spPr>
            <a:xfrm>
              <a:off x="7087362" y="4610100"/>
              <a:ext cx="85725" cy="85725"/>
            </a:xfrm>
            <a:prstGeom prst="rect">
              <a:avLst/>
            </a:prstGeom>
            <a:solidFill>
              <a:srgbClr val="6B1100"/>
            </a:solidFill>
            <a:ln>
              <a:noFill/>
            </a:ln>
          </p:spPr>
        </p:sp>
        <p:sp>
          <p:nvSpPr>
            <p:cNvPr id="92" name="TextBox 92"/>
            <p:cNvSpPr txBox="1"/>
            <p:nvPr/>
          </p:nvSpPr>
          <p:spPr>
            <a:xfrm>
              <a:off x="7215950" y="4621530"/>
              <a:ext cx="658749"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每季Quarterly​​</a:t>
              </a:r>
            </a:p>
          </p:txBody>
        </p:sp>
        <p:sp>
          <p:nvSpPr>
            <p:cNvPr id="93" name="Rectangle 93"/>
            <p:cNvSpPr/>
            <p:nvPr/>
          </p:nvSpPr>
          <p:spPr>
            <a:xfrm>
              <a:off x="7919466" y="4610100"/>
              <a:ext cx="85725" cy="85725"/>
            </a:xfrm>
            <a:prstGeom prst="rect">
              <a:avLst/>
            </a:prstGeom>
            <a:solidFill>
              <a:srgbClr val="AA1B00"/>
            </a:solidFill>
            <a:ln>
              <a:noFill/>
            </a:ln>
          </p:spPr>
        </p:sp>
        <p:sp>
          <p:nvSpPr>
            <p:cNvPr id="94" name="TextBox 94"/>
            <p:cNvSpPr txBox="1"/>
            <p:nvPr/>
          </p:nvSpPr>
          <p:spPr>
            <a:xfrm>
              <a:off x="8048054" y="4621530"/>
              <a:ext cx="509435" cy="119062"/>
            </a:xfrm>
            <a:prstGeom prst="rect">
              <a:avLst/>
            </a:prstGeom>
            <a:noFill/>
            <a:ln>
              <a:noFill/>
            </a:ln>
          </p:spPr>
          <p:txBody>
            <a:bodyPr wrap="none" lIns="0" tIns="0" rIns="0" bIns="0" anchor="t" anchorCtr="0">
              <a:spAutoFit/>
            </a:bodyPr>
            <a:lstStyle/>
            <a:p>
              <a:pPr algn="l"/>
              <a:r>
                <a:rPr lang="zh-CN" sz="600" dirty="0">
                  <a:solidFill>
                    <a:srgbClr val="666666"/>
                  </a:solidFill>
                  <a:latin typeface="+mn-lt"/>
                  <a:ea typeface="+mn-ea"/>
                  <a:cs typeface="+mn-cs"/>
                </a:rPr>
                <a:t>每年Yearly​​</a:t>
              </a:r>
            </a:p>
          </p:txBody>
        </p:sp>
      </p:grpSp>
      <p:grpSp>
        <p:nvGrpSpPr>
          <p:cNvPr id="129" name="nav"/>
          <p:cNvGrpSpPr/>
          <p:nvPr/>
        </p:nvGrpSpPr>
        <p:grpSpPr>
          <a:xfrm>
            <a:off x="9834562" y="0"/>
            <a:ext cx="2357438" cy="6858000"/>
            <a:chOff x="9834562" y="0"/>
            <a:chExt cx="2357438" cy="6858000"/>
          </a:xfrm>
        </p:grpSpPr>
        <p:sp>
          <p:nvSpPr>
            <p:cNvPr id="96" name="Line 96"/>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97" name="Rectangle 97"/>
            <p:cNvSpPr/>
            <p:nvPr/>
          </p:nvSpPr>
          <p:spPr>
            <a:xfrm>
              <a:off x="9839325" y="476250"/>
              <a:ext cx="2352675" cy="514350"/>
            </a:xfrm>
            <a:prstGeom prst="rect">
              <a:avLst/>
            </a:prstGeom>
            <a:solidFill>
              <a:srgbClr val="F3F3F3"/>
            </a:solidFill>
            <a:ln>
              <a:noFill/>
            </a:ln>
          </p:spPr>
        </p:sp>
        <p:sp>
          <p:nvSpPr>
            <p:cNvPr id="98" name="TextBox 98"/>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99" name="Rectangle 99"/>
            <p:cNvSpPr/>
            <p:nvPr/>
          </p:nvSpPr>
          <p:spPr>
            <a:xfrm>
              <a:off x="9839325" y="1000125"/>
              <a:ext cx="2352675" cy="514350"/>
            </a:xfrm>
            <a:prstGeom prst="rect">
              <a:avLst/>
            </a:prstGeom>
            <a:solidFill>
              <a:srgbClr val="F3F3F3"/>
            </a:solidFill>
            <a:ln>
              <a:noFill/>
            </a:ln>
          </p:spPr>
        </p:sp>
        <p:sp>
          <p:nvSpPr>
            <p:cNvPr id="100" name="TextBox 100"/>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01" name="Rectangle 101"/>
            <p:cNvSpPr/>
            <p:nvPr/>
          </p:nvSpPr>
          <p:spPr>
            <a:xfrm>
              <a:off x="9839325" y="1524000"/>
              <a:ext cx="2352675" cy="514350"/>
            </a:xfrm>
            <a:prstGeom prst="rect">
              <a:avLst/>
            </a:prstGeom>
            <a:solidFill>
              <a:srgbClr val="F3F3F3"/>
            </a:solidFill>
            <a:ln>
              <a:noFill/>
            </a:ln>
          </p:spPr>
        </p:sp>
        <p:sp>
          <p:nvSpPr>
            <p:cNvPr id="102" name="TextBox 102"/>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03" name="Rectangle 103"/>
            <p:cNvSpPr/>
            <p:nvPr/>
          </p:nvSpPr>
          <p:spPr>
            <a:xfrm>
              <a:off x="9839325" y="2047875"/>
              <a:ext cx="2352675" cy="514350"/>
            </a:xfrm>
            <a:prstGeom prst="rect">
              <a:avLst/>
            </a:prstGeom>
            <a:solidFill>
              <a:srgbClr val="F3F3F3"/>
            </a:solidFill>
            <a:ln>
              <a:noFill/>
            </a:ln>
          </p:spPr>
        </p:sp>
        <p:sp>
          <p:nvSpPr>
            <p:cNvPr id="104" name="TextBox 104"/>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05" name="Rectangle 105"/>
            <p:cNvSpPr/>
            <p:nvPr/>
          </p:nvSpPr>
          <p:spPr>
            <a:xfrm>
              <a:off x="9839325" y="2571750"/>
              <a:ext cx="2352675" cy="514350"/>
            </a:xfrm>
            <a:prstGeom prst="rect">
              <a:avLst/>
            </a:prstGeom>
            <a:solidFill>
              <a:srgbClr val="F3F3F3"/>
            </a:solidFill>
            <a:ln>
              <a:noFill/>
            </a:ln>
          </p:spPr>
        </p:sp>
        <p:sp>
          <p:nvSpPr>
            <p:cNvPr id="106" name="TextBox 106"/>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07" name="Rectangle 107"/>
            <p:cNvSpPr/>
            <p:nvPr/>
          </p:nvSpPr>
          <p:spPr>
            <a:xfrm>
              <a:off x="9839325" y="3095625"/>
              <a:ext cx="2352675" cy="514350"/>
            </a:xfrm>
            <a:prstGeom prst="rect">
              <a:avLst/>
            </a:prstGeom>
            <a:solidFill>
              <a:srgbClr val="F3F3F3"/>
            </a:solidFill>
            <a:ln>
              <a:noFill/>
            </a:ln>
          </p:spPr>
        </p:sp>
        <p:sp>
          <p:nvSpPr>
            <p:cNvPr id="108" name="TextBox 108"/>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09" name="Rectangle 109"/>
            <p:cNvSpPr/>
            <p:nvPr/>
          </p:nvSpPr>
          <p:spPr>
            <a:xfrm>
              <a:off x="9839325" y="3619500"/>
              <a:ext cx="2352675" cy="514350"/>
            </a:xfrm>
            <a:prstGeom prst="rect">
              <a:avLst/>
            </a:prstGeom>
            <a:solidFill>
              <a:srgbClr val="F3F3F3"/>
            </a:solidFill>
            <a:ln>
              <a:noFill/>
            </a:ln>
          </p:spPr>
        </p:sp>
        <p:sp>
          <p:nvSpPr>
            <p:cNvPr id="110" name="TextBox 110"/>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11" name="Rectangle 111"/>
            <p:cNvSpPr/>
            <p:nvPr/>
          </p:nvSpPr>
          <p:spPr>
            <a:xfrm>
              <a:off x="9839325" y="4143375"/>
              <a:ext cx="2352675" cy="514350"/>
            </a:xfrm>
            <a:prstGeom prst="rect">
              <a:avLst/>
            </a:prstGeom>
            <a:solidFill>
              <a:srgbClr val="C35642"/>
            </a:solidFill>
            <a:ln>
              <a:noFill/>
            </a:ln>
          </p:spPr>
        </p:sp>
        <p:sp>
          <p:nvSpPr>
            <p:cNvPr id="112" name="TextBox 112"/>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风险缓释：模型监控与报告</a:t>
              </a:r>
            </a:p>
          </p:txBody>
        </p:sp>
        <p:sp>
          <p:nvSpPr>
            <p:cNvPr id="113" name="Rectangle 113"/>
            <p:cNvSpPr/>
            <p:nvPr/>
          </p:nvSpPr>
          <p:spPr>
            <a:xfrm>
              <a:off x="9839325" y="4667250"/>
              <a:ext cx="2352675" cy="514350"/>
            </a:xfrm>
            <a:prstGeom prst="rect">
              <a:avLst/>
            </a:prstGeom>
            <a:solidFill>
              <a:srgbClr val="F3F3F3"/>
            </a:solidFill>
            <a:ln>
              <a:noFill/>
            </a:ln>
          </p:spPr>
        </p:sp>
        <p:sp>
          <p:nvSpPr>
            <p:cNvPr id="114" name="TextBox 114"/>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115" name="Rectangle 115"/>
            <p:cNvSpPr/>
            <p:nvPr/>
          </p:nvSpPr>
          <p:spPr>
            <a:xfrm>
              <a:off x="9839325" y="5191125"/>
              <a:ext cx="2352675" cy="514350"/>
            </a:xfrm>
            <a:prstGeom prst="rect">
              <a:avLst/>
            </a:prstGeom>
            <a:solidFill>
              <a:srgbClr val="F3F3F3"/>
            </a:solidFill>
            <a:ln>
              <a:noFill/>
            </a:ln>
          </p:spPr>
        </p:sp>
        <p:sp>
          <p:nvSpPr>
            <p:cNvPr id="116" name="TextBox 116"/>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17" name="Rectangle 117"/>
            <p:cNvSpPr/>
            <p:nvPr/>
          </p:nvSpPr>
          <p:spPr>
            <a:xfrm>
              <a:off x="9839325" y="5715000"/>
              <a:ext cx="2352675" cy="514350"/>
            </a:xfrm>
            <a:prstGeom prst="rect">
              <a:avLst/>
            </a:prstGeom>
            <a:solidFill>
              <a:srgbClr val="F3F3F3"/>
            </a:solidFill>
            <a:ln>
              <a:noFill/>
            </a:ln>
          </p:spPr>
        </p:sp>
        <p:sp>
          <p:nvSpPr>
            <p:cNvPr id="118" name="TextBox 118"/>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19" name="Ellipse 119"/>
            <p:cNvSpPr/>
            <p:nvPr/>
          </p:nvSpPr>
          <p:spPr>
            <a:xfrm>
              <a:off x="10020300" y="6372225"/>
              <a:ext cx="266700" cy="266700"/>
            </a:xfrm>
            <a:prstGeom prst="ellipse">
              <a:avLst/>
            </a:prstGeom>
            <a:solidFill>
              <a:srgbClr val="D7D8D6"/>
            </a:solidFill>
            <a:ln>
              <a:noFill/>
            </a:ln>
          </p:spPr>
        </p:sp>
        <p:sp>
          <p:nvSpPr>
            <p:cNvPr id="120" name="Freeform 120"/>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21" name="Ellipse 121"/>
            <p:cNvSpPr/>
            <p:nvPr/>
          </p:nvSpPr>
          <p:spPr>
            <a:xfrm>
              <a:off x="10420350" y="6372225"/>
              <a:ext cx="266700" cy="266700"/>
            </a:xfrm>
            <a:prstGeom prst="ellipse">
              <a:avLst/>
            </a:prstGeom>
            <a:solidFill>
              <a:srgbClr val="D7D8D6"/>
            </a:solidFill>
            <a:ln>
              <a:noFill/>
            </a:ln>
          </p:spPr>
        </p:sp>
        <p:grpSp>
          <p:nvGrpSpPr>
            <p:cNvPr id="125" name="Group 125"/>
            <p:cNvGrpSpPr/>
            <p:nvPr/>
          </p:nvGrpSpPr>
          <p:grpSpPr>
            <a:xfrm>
              <a:off x="10489406" y="6441281"/>
              <a:ext cx="128588" cy="128588"/>
              <a:chOff x="10489406" y="6441281"/>
              <a:chExt cx="128588" cy="128588"/>
            </a:xfrm>
          </p:grpSpPr>
          <p:sp>
            <p:nvSpPr>
              <p:cNvPr id="122" name="Freeform 122"/>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23" name="Freeform 123"/>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24" name="Freeform 124"/>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26" name="Ellipse 126"/>
            <p:cNvSpPr/>
            <p:nvPr/>
          </p:nvSpPr>
          <p:spPr>
            <a:xfrm>
              <a:off x="10820400" y="6372225"/>
              <a:ext cx="266700" cy="266700"/>
            </a:xfrm>
            <a:prstGeom prst="ellipse">
              <a:avLst/>
            </a:prstGeom>
            <a:solidFill>
              <a:srgbClr val="D7D8D6"/>
            </a:solidFill>
            <a:ln>
              <a:noFill/>
            </a:ln>
          </p:spPr>
        </p:sp>
        <p:sp>
          <p:nvSpPr>
            <p:cNvPr id="127" name="Freeform 127"/>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28" name="TextBox 128"/>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36</a:t>
              </a:r>
            </a:p>
          </p:txBody>
        </p:sp>
      </p:gr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35642"/>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37</a:t>
              </a:r>
            </a:p>
          </p:txBody>
        </p:sp>
        <p:sp>
          <p:nvSpPr>
            <p:cNvPr id="4" name="TextBox 4"/>
            <p:cNvSpPr txBox="1"/>
            <p:nvPr/>
          </p:nvSpPr>
          <p:spPr>
            <a:xfrm>
              <a:off x="942594" y="151448"/>
              <a:ext cx="489524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监控与报告：</a:t>
              </a:r>
              <a:r>
                <a:rPr lang="zh-CN" sz="1950" b="1" dirty="0">
                  <a:solidFill>
                    <a:srgbClr val="AA1B00"/>
                  </a:solidFill>
                  <a:latin typeface="+mj-lt"/>
                  <a:ea typeface="+mj-ea"/>
                  <a:cs typeface="+mj-cs"/>
                </a:rPr>
                <a:t>模型风险报告</a:t>
              </a:r>
              <a:r>
                <a:rPr lang="zh-CN" sz="1950" b="1" dirty="0">
                  <a:solidFill>
                    <a:srgbClr val="1A1A1A"/>
                  </a:solidFill>
                  <a:latin typeface="+mj-lt"/>
                  <a:ea typeface="+mj-ea"/>
                  <a:cs typeface="+mj-cs"/>
                </a:rPr>
                <a:t>与风险偏好​</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C35642"/>
              </a:solidFill>
            </a:ln>
          </p:spPr>
        </p:sp>
      </p:grpSp>
      <p:grpSp>
        <p:nvGrpSpPr>
          <p:cNvPr id="11" name="col-1"/>
          <p:cNvGrpSpPr/>
          <p:nvPr/>
        </p:nvGrpSpPr>
        <p:grpSpPr>
          <a:xfrm>
            <a:off x="566547" y="847249"/>
            <a:ext cx="2472881" cy="3137058"/>
            <a:chOff x="566547" y="847249"/>
            <a:chExt cx="2472881" cy="3137058"/>
          </a:xfrm>
        </p:grpSpPr>
        <p:sp>
          <p:nvSpPr>
            <p:cNvPr id="7" name="TextBox 7"/>
            <p:cNvSpPr txBox="1"/>
            <p:nvPr/>
          </p:nvSpPr>
          <p:spPr>
            <a:xfrm>
              <a:off x="566547" y="847249"/>
              <a:ext cx="349949" cy="190690"/>
            </a:xfrm>
            <a:prstGeom prst="rect">
              <a:avLst/>
            </a:prstGeom>
            <a:noFill/>
            <a:ln>
              <a:noFill/>
            </a:ln>
          </p:spPr>
          <p:txBody>
            <a:bodyPr wrap="none" lIns="0" tIns="0" rIns="0" bIns="0" anchor="t" anchorCtr="0">
              <a:spAutoFit/>
            </a:bodyPr>
            <a:lstStyle/>
            <a:p>
              <a:pPr algn="l"/>
              <a:r>
                <a:rPr lang="zh-CN" sz="980" b="1" dirty="0">
                  <a:solidFill>
                    <a:srgbClr val="AA1B00"/>
                  </a:solidFill>
                  <a:latin typeface="+mn-lt"/>
                  <a:ea typeface="+mn-ea"/>
                  <a:cs typeface="+mn-cs"/>
                </a:rPr>
                <a:t>报告​</a:t>
              </a:r>
            </a:p>
          </p:txBody>
        </p:sp>
        <p:sp>
          <p:nvSpPr>
            <p:cNvPr id="8" name="TextBox 8"/>
            <p:cNvSpPr txBox="1"/>
            <p:nvPr/>
          </p:nvSpPr>
          <p:spPr>
            <a:xfrm>
              <a:off x="566738" y="1012984"/>
              <a:ext cx="493141" cy="133350"/>
            </a:xfrm>
            <a:prstGeom prst="rect">
              <a:avLst/>
            </a:prstGeom>
            <a:noFill/>
            <a:ln>
              <a:noFill/>
            </a:ln>
          </p:spPr>
          <p:txBody>
            <a:bodyPr wrap="none" lIns="0" tIns="0" rIns="0" bIns="0" anchor="t" anchorCtr="0">
              <a:spAutoFit/>
            </a:bodyPr>
            <a:lstStyle/>
            <a:p>
              <a:pPr algn="l"/>
              <a:r>
                <a:rPr lang="en-US" sz="680" dirty="0">
                  <a:solidFill>
                    <a:srgbClr val="666666"/>
                  </a:solidFill>
                  <a:latin typeface="+mn-lt"/>
                  <a:ea typeface="+mn-ea"/>
                  <a:cs typeface="+mn-cs"/>
                </a:rPr>
                <a:t>Reporting​</a:t>
              </a:r>
            </a:p>
          </p:txBody>
        </p:sp>
        <p:sp>
          <p:nvSpPr>
            <p:cNvPr id="9" name="TextBox 9"/>
            <p:cNvSpPr txBox="1"/>
            <p:nvPr/>
          </p:nvSpPr>
          <p:spPr>
            <a:xfrm>
              <a:off x="566738" y="1169670"/>
              <a:ext cx="24726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向高级管理层和管理委员会频繁报告模型风险，​</a:t>
              </a:r>
              <a:br/>
              <a:r>
                <a:rPr lang="zh-CN" sz="900" dirty="0">
                  <a:solidFill>
                    <a:srgbClr val="333333"/>
                  </a:solidFill>
                  <a:latin typeface="+mn-lt"/>
                  <a:ea typeface="+mn-ea"/>
                  <a:cs typeface="+mn-cs"/>
                </a:rPr>
                <a:t>可提升管理层意识和对模型风险的战略所有权。​</a:t>
              </a:r>
              <a:br/>
              <a:r>
                <a:rPr lang="zh-CN" sz="900" dirty="0">
                  <a:solidFill>
                    <a:srgbClr val="333333"/>
                  </a:solidFill>
                  <a:latin typeface="+mn-lt"/>
                  <a:ea typeface="+mn-ea"/>
                  <a:cs typeface="+mn-cs"/>
                </a:rPr>
                <a:t>77%的银行表示会向高级管理层或管理委员​</a:t>
              </a:r>
              <a:br/>
              <a:r>
                <a:rPr lang="zh-CN" sz="900" dirty="0">
                  <a:solidFill>
                    <a:srgbClr val="333333"/>
                  </a:solidFill>
                  <a:latin typeface="+mn-lt"/>
                  <a:ea typeface="+mn-ea"/>
                  <a:cs typeface="+mn-cs"/>
                </a:rPr>
                <a:t>会定期提交模型风险报告。这强调了多数银行​</a:t>
              </a:r>
              <a:br/>
              <a:r>
                <a:rPr lang="zh-CN" sz="900" dirty="0">
                  <a:solidFill>
                    <a:srgbClr val="333333"/>
                  </a:solidFill>
                  <a:latin typeface="+mn-lt"/>
                  <a:ea typeface="+mn-ea"/>
                  <a:cs typeface="+mn-cs"/>
                </a:rPr>
                <a:t>认识到在管理层层面提升模型风险意识的重要​</a:t>
              </a:r>
              <a:br/>
              <a:r>
                <a:rPr lang="zh-CN" sz="900" dirty="0">
                  <a:solidFill>
                    <a:srgbClr val="333333"/>
                  </a:solidFill>
                  <a:latin typeface="+mn-lt"/>
                  <a:ea typeface="+mn-ea"/>
                  <a:cs typeface="+mn-cs"/>
                </a:rPr>
                <a:t>性。​</a:t>
              </a:r>
            </a:p>
          </p:txBody>
        </p:sp>
        <p:sp>
          <p:nvSpPr>
            <p:cNvPr id="10" name="TextBox 10"/>
            <p:cNvSpPr txBox="1"/>
            <p:nvPr/>
          </p:nvSpPr>
          <p:spPr>
            <a:xfrm>
              <a:off x="566738" y="2360295"/>
              <a:ext cx="2381250" cy="16240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理解整体模型风险的关键是模型风险偏好——​​​</a:t>
              </a:r>
              <a:br/>
              <a:r>
                <a:rPr lang="zh-CN" sz="900" dirty="0">
                  <a:solidFill>
                    <a:srgbClr val="333333"/>
                  </a:solidFill>
                  <a:latin typeface="+mn-lt"/>
                  <a:ea typeface="+mn-ea"/>
                  <a:cs typeface="+mn-cs"/>
                </a:rPr>
                <a:t>更具体地说，是为模型风险项目设定特定的限​</a:t>
              </a:r>
              <a:br/>
              <a:r>
                <a:rPr lang="zh-CN" sz="900" dirty="0">
                  <a:solidFill>
                    <a:srgbClr val="333333"/>
                  </a:solidFill>
                  <a:latin typeface="+mn-lt"/>
                  <a:ea typeface="+mn-ea"/>
                  <a:cs typeface="+mn-cs"/>
                </a:rPr>
                <a:t>额和容忍度。59%的银行表示已制定风险偏​​</a:t>
              </a:r>
              <a:br/>
              <a:r>
                <a:rPr lang="zh-CN" sz="900" dirty="0">
                  <a:solidFill>
                    <a:srgbClr val="333333"/>
                  </a:solidFill>
                  <a:latin typeface="+mn-lt"/>
                  <a:ea typeface="+mn-ea"/>
                  <a:cs typeface="+mn-cs"/>
                </a:rPr>
                <a:t>好。然而，当前市场洞察表明，这些风险偏好​</a:t>
              </a:r>
              <a:br/>
              <a:r>
                <a:rPr lang="zh-CN" sz="900" dirty="0">
                  <a:solidFill>
                    <a:srgbClr val="333333"/>
                  </a:solidFill>
                  <a:latin typeface="+mn-lt"/>
                  <a:ea typeface="+mn-ea"/>
                  <a:cs typeface="+mn-cs"/>
                </a:rPr>
                <a:t>陈述往往较为简单，侧重于模型验证结果，因​</a:t>
              </a:r>
              <a:br/>
              <a:r>
                <a:rPr lang="zh-CN" sz="900" dirty="0">
                  <a:solidFill>
                    <a:srgbClr val="333333"/>
                  </a:solidFill>
                  <a:latin typeface="+mn-lt"/>
                  <a:ea typeface="+mn-ea"/>
                  <a:cs typeface="+mn-cs"/>
                </a:rPr>
                <a:t>而并不总能覆盖全行模型风险的全部范围与深​</a:t>
              </a:r>
              <a:br/>
              <a:r>
                <a:rPr lang="zh-CN" sz="900" dirty="0">
                  <a:solidFill>
                    <a:srgbClr val="333333"/>
                  </a:solidFill>
                  <a:latin typeface="+mn-lt"/>
                  <a:ea typeface="+mn-ea"/>
                  <a:cs typeface="+mn-cs"/>
                </a:rPr>
                <a:t>度。因此，银行应实施模型风险偏好框架，并​</a:t>
              </a:r>
              <a:br/>
              <a:r>
                <a:rPr lang="zh-CN" sz="900" dirty="0">
                  <a:solidFill>
                    <a:srgbClr val="333333"/>
                  </a:solidFill>
                  <a:latin typeface="+mn-lt"/>
                  <a:ea typeface="+mn-ea"/>
                  <a:cs typeface="+mn-cs"/>
                </a:rPr>
                <a:t>证明模型不确定性得到了充分的理解、管理、​</a:t>
              </a:r>
              <a:br/>
              <a:r>
                <a:rPr lang="zh-CN" sz="900" dirty="0">
                  <a:solidFill>
                    <a:srgbClr val="333333"/>
                  </a:solidFill>
                  <a:latin typeface="+mn-lt"/>
                  <a:ea typeface="+mn-ea"/>
                  <a:cs typeface="+mn-cs"/>
                </a:rPr>
                <a:t>监控和报告。​</a:t>
              </a:r>
            </a:p>
          </p:txBody>
        </p:sp>
      </p:grpSp>
      <p:grpSp>
        <p:nvGrpSpPr>
          <p:cNvPr id="13" name="col-2"/>
          <p:cNvGrpSpPr/>
          <p:nvPr/>
        </p:nvGrpSpPr>
        <p:grpSpPr>
          <a:xfrm>
            <a:off x="3424238" y="855345"/>
            <a:ext cx="2358390" cy="1081088"/>
            <a:chOff x="3424238" y="855345"/>
            <a:chExt cx="2358390" cy="1081088"/>
          </a:xfrm>
        </p:grpSpPr>
        <p:sp>
          <p:nvSpPr>
            <p:cNvPr id="12" name="TextBox 12"/>
            <p:cNvSpPr txBox="1"/>
            <p:nvPr/>
          </p:nvSpPr>
          <p:spPr>
            <a:xfrm>
              <a:off x="3424238" y="855345"/>
              <a:ext cx="2358390" cy="108108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将报告流程自动化，或在模型风险管理工具中​</a:t>
              </a:r>
              <a:br/>
              <a:r>
                <a:rPr lang="zh-CN" sz="900" dirty="0">
                  <a:solidFill>
                    <a:srgbClr val="333333"/>
                  </a:solidFill>
                  <a:latin typeface="+mn-lt"/>
                  <a:ea typeface="+mn-ea"/>
                  <a:cs typeface="+mn-cs"/>
                </a:rPr>
                <a:t>提供最新数据，使得例如将模型监控与模型质​</a:t>
              </a:r>
              <a:br/>
              <a:r>
                <a:rPr lang="zh-CN" sz="900" dirty="0">
                  <a:solidFill>
                    <a:srgbClr val="333333"/>
                  </a:solidFill>
                  <a:latin typeface="+mn-lt"/>
                  <a:ea typeface="+mn-ea"/>
                  <a:cs typeface="+mn-cs"/>
                </a:rPr>
                <a:t>量关联、进而与模型风险管理的风险偏好关联​</a:t>
              </a:r>
              <a:br/>
              <a:r>
                <a:rPr lang="zh-CN" sz="900" dirty="0">
                  <a:solidFill>
                    <a:srgbClr val="333333"/>
                  </a:solidFill>
                  <a:latin typeface="+mn-lt"/>
                  <a:ea typeface="+mn-ea"/>
                  <a:cs typeface="+mn-cs"/>
                </a:rPr>
                <a:t>成为可能。如图40所述，48%的银行表示​​​​</a:t>
              </a:r>
              <a:br/>
              <a:r>
                <a:rPr lang="zh-CN" sz="900" dirty="0">
                  <a:solidFill>
                    <a:srgbClr val="333333"/>
                  </a:solidFill>
                  <a:latin typeface="+mn-lt"/>
                  <a:ea typeface="+mn-ea"/>
                  <a:cs typeface="+mn-cs"/>
                </a:rPr>
                <a:t>利用模型风险管理工具的分析与报告能力为不​</a:t>
              </a:r>
              <a:br/>
              <a:r>
                <a:rPr lang="zh-CN" sz="900" dirty="0">
                  <a:solidFill>
                    <a:srgbClr val="333333"/>
                  </a:solidFill>
                  <a:latin typeface="+mn-lt"/>
                  <a:ea typeface="+mn-ea"/>
                  <a:cs typeface="+mn-cs"/>
                </a:rPr>
                <a:t>同类型的利益相关方创建模型风险报告。​</a:t>
              </a:r>
            </a:p>
          </p:txBody>
        </p:sp>
      </p:grpSp>
      <p:grpSp>
        <p:nvGrpSpPr>
          <p:cNvPr id="25" name="figure-44"/>
          <p:cNvGrpSpPr/>
          <p:nvPr/>
        </p:nvGrpSpPr>
        <p:grpSpPr>
          <a:xfrm>
            <a:off x="3424238" y="2482691"/>
            <a:ext cx="2320506" cy="2587943"/>
            <a:chOff x="3424238" y="2482691"/>
            <a:chExt cx="2320506" cy="2587943"/>
          </a:xfrm>
        </p:grpSpPr>
        <p:sp>
          <p:nvSpPr>
            <p:cNvPr id="14" name="TextBox 14"/>
            <p:cNvSpPr txBox="1"/>
            <p:nvPr/>
          </p:nvSpPr>
          <p:spPr>
            <a:xfrm>
              <a:off x="3424238" y="2482691"/>
              <a:ext cx="232050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图44. 向高级管理层/管理委员会定期提交​​​​</a:t>
              </a:r>
            </a:p>
          </p:txBody>
        </p:sp>
        <p:sp>
          <p:nvSpPr>
            <p:cNvPr id="15" name="TextBox 15"/>
            <p:cNvSpPr txBox="1"/>
            <p:nvPr/>
          </p:nvSpPr>
          <p:spPr>
            <a:xfrm>
              <a:off x="3424238" y="2606516"/>
              <a:ext cx="1066770"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模型风险报告的银行​</a:t>
              </a:r>
            </a:p>
          </p:txBody>
        </p:sp>
        <p:sp>
          <p:nvSpPr>
            <p:cNvPr id="16" name="TextBox 16"/>
            <p:cNvSpPr txBox="1"/>
            <p:nvPr/>
          </p:nvSpPr>
          <p:spPr>
            <a:xfrm>
              <a:off x="3424238" y="2754630"/>
              <a:ext cx="2219325" cy="309562"/>
            </a:xfrm>
            <a:prstGeom prst="rect">
              <a:avLst/>
            </a:prstGeom>
            <a:noFill/>
            <a:ln>
              <a:noFill/>
            </a:ln>
          </p:spPr>
          <p:txBody>
            <a:bodyPr wrap="none" lIns="0" tIns="0" rIns="0" bIns="0" anchor="t" anchorCtr="0">
              <a:spAutoFit/>
            </a:bodyPr>
            <a:lstStyle/>
            <a:p>
              <a:pPr algn="l">
                <a:lnSpc>
                  <a:spcPts val="750"/>
                </a:lnSpc>
              </a:pPr>
              <a:r>
                <a:rPr lang="en-US" sz="600" dirty="0">
                  <a:solidFill>
                    <a:srgbClr val="666666"/>
                  </a:solidFill>
                  <a:latin typeface="+mn-lt"/>
                  <a:ea typeface="+mn-ea"/>
                  <a:cs typeface="+mn-cs"/>
                </a:rPr>
                <a:t>Percentage of banks that provide senior​</a:t>
              </a:r>
              <a:br/>
              <a:r>
                <a:rPr lang="en-US" sz="600" dirty="0">
                  <a:solidFill>
                    <a:srgbClr val="666666"/>
                  </a:solidFill>
                  <a:latin typeface="+mn-lt"/>
                  <a:ea typeface="+mn-ea"/>
                  <a:cs typeface="+mn-cs"/>
                </a:rPr>
                <a:t>management/management board with periodical reports on​</a:t>
              </a:r>
              <a:br/>
              <a:r>
                <a:rPr lang="en-US" sz="600" dirty="0">
                  <a:solidFill>
                    <a:srgbClr val="666666"/>
                  </a:solidFill>
                  <a:latin typeface="+mn-lt"/>
                  <a:ea typeface="+mn-ea"/>
                  <a:cs typeface="+mn-cs"/>
                </a:rPr>
                <a:t>model risk​</a:t>
              </a:r>
            </a:p>
          </p:txBody>
        </p:sp>
        <p:sp>
          <p:nvSpPr>
            <p:cNvPr id="17" name="Freeform 17"/>
            <p:cNvSpPr/>
            <p:nvPr/>
          </p:nvSpPr>
          <p:spPr>
            <a:xfrm>
              <a:off x="4114800" y="3295650"/>
              <a:ext cx="1295400" cy="1295400"/>
            </a:xfrm>
            <a:prstGeom prst="blockArc">
              <a:avLst>
                <a:gd name="adj1" fmla="val 16200000"/>
                <a:gd name="adj2" fmla="val 11232000"/>
                <a:gd name="adj3" fmla="val 17647"/>
              </a:avLst>
            </a:prstGeom>
            <a:solidFill>
              <a:srgbClr val="C35642"/>
            </a:solidFill>
            <a:ln>
              <a:noFill/>
            </a:ln>
          </p:spPr>
        </p:sp>
        <p:sp>
          <p:nvSpPr>
            <p:cNvPr id="18" name="Freeform 18"/>
            <p:cNvSpPr/>
            <p:nvPr/>
          </p:nvSpPr>
          <p:spPr>
            <a:xfrm>
              <a:off x="4114800" y="3295650"/>
              <a:ext cx="1295400" cy="1295400"/>
            </a:xfrm>
            <a:prstGeom prst="blockArc">
              <a:avLst>
                <a:gd name="adj1" fmla="val 11232000"/>
                <a:gd name="adj2" fmla="val 16200000"/>
                <a:gd name="adj3" fmla="val 17647"/>
              </a:avLst>
            </a:prstGeom>
            <a:solidFill>
              <a:srgbClr val="C9C9C9"/>
            </a:solidFill>
            <a:ln>
              <a:noFill/>
            </a:ln>
          </p:spPr>
        </p:sp>
        <p:sp>
          <p:nvSpPr>
            <p:cNvPr id="19" name="TextBox 19"/>
            <p:cNvSpPr txBox="1"/>
            <p:nvPr/>
          </p:nvSpPr>
          <p:spPr>
            <a:xfrm>
              <a:off x="5146777" y="4481512"/>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77%​</a:t>
              </a:r>
            </a:p>
          </p:txBody>
        </p:sp>
        <p:sp>
          <p:nvSpPr>
            <p:cNvPr id="20" name="TextBox 20"/>
            <p:cNvSpPr txBox="1"/>
            <p:nvPr/>
          </p:nvSpPr>
          <p:spPr>
            <a:xfrm>
              <a:off x="4120324" y="3309938"/>
              <a:ext cx="251841"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23%​</a:t>
              </a:r>
            </a:p>
          </p:txBody>
        </p:sp>
        <p:sp>
          <p:nvSpPr>
            <p:cNvPr id="21" name="Rectangle 21"/>
            <p:cNvSpPr/>
            <p:nvPr/>
          </p:nvSpPr>
          <p:spPr>
            <a:xfrm>
              <a:off x="3429000" y="4924425"/>
              <a:ext cx="95250" cy="95250"/>
            </a:xfrm>
            <a:prstGeom prst="rect">
              <a:avLst/>
            </a:prstGeom>
            <a:solidFill>
              <a:srgbClr val="C35642"/>
            </a:solidFill>
            <a:ln>
              <a:noFill/>
            </a:ln>
          </p:spPr>
        </p:sp>
        <p:sp>
          <p:nvSpPr>
            <p:cNvPr id="22" name="TextBox 22"/>
            <p:cNvSpPr txBox="1"/>
            <p:nvPr/>
          </p:nvSpPr>
          <p:spPr>
            <a:xfrm>
              <a:off x="3567112" y="4937284"/>
              <a:ext cx="35755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是Yes​​</a:t>
              </a:r>
            </a:p>
          </p:txBody>
        </p:sp>
        <p:sp>
          <p:nvSpPr>
            <p:cNvPr id="23" name="Rectangle 23"/>
            <p:cNvSpPr/>
            <p:nvPr/>
          </p:nvSpPr>
          <p:spPr>
            <a:xfrm>
              <a:off x="4003548" y="4924425"/>
              <a:ext cx="95250" cy="95250"/>
            </a:xfrm>
            <a:prstGeom prst="rect">
              <a:avLst/>
            </a:prstGeom>
            <a:solidFill>
              <a:srgbClr val="C9C9C9"/>
            </a:solidFill>
            <a:ln>
              <a:noFill/>
            </a:ln>
          </p:spPr>
        </p:sp>
        <p:sp>
          <p:nvSpPr>
            <p:cNvPr id="24" name="TextBox 24"/>
            <p:cNvSpPr txBox="1"/>
            <p:nvPr/>
          </p:nvSpPr>
          <p:spPr>
            <a:xfrm>
              <a:off x="4141660" y="4937284"/>
              <a:ext cx="30815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否No​​</a:t>
              </a:r>
            </a:p>
          </p:txBody>
        </p:sp>
      </p:grpSp>
      <p:grpSp>
        <p:nvGrpSpPr>
          <p:cNvPr id="36" name="figure-45"/>
          <p:cNvGrpSpPr/>
          <p:nvPr/>
        </p:nvGrpSpPr>
        <p:grpSpPr>
          <a:xfrm>
            <a:off x="6396038" y="2482691"/>
            <a:ext cx="3122754" cy="2587943"/>
            <a:chOff x="6396038" y="2482691"/>
            <a:chExt cx="3122754" cy="2587943"/>
          </a:xfrm>
        </p:grpSpPr>
        <p:sp>
          <p:nvSpPr>
            <p:cNvPr id="26" name="TextBox 26"/>
            <p:cNvSpPr txBox="1"/>
            <p:nvPr/>
          </p:nvSpPr>
          <p:spPr>
            <a:xfrm>
              <a:off x="6396038" y="2482691"/>
              <a:ext cx="3122754"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图45. 具备模型风险偏好（或专项限额）作为风险类型的银行​​</a:t>
              </a:r>
            </a:p>
          </p:txBody>
        </p:sp>
        <p:sp>
          <p:nvSpPr>
            <p:cNvPr id="27" name="TextBox 27"/>
            <p:cNvSpPr txBox="1"/>
            <p:nvPr/>
          </p:nvSpPr>
          <p:spPr>
            <a:xfrm>
              <a:off x="6396038" y="2630805"/>
              <a:ext cx="2886075" cy="214312"/>
            </a:xfrm>
            <a:prstGeom prst="rect">
              <a:avLst/>
            </a:prstGeom>
            <a:noFill/>
            <a:ln>
              <a:noFill/>
            </a:ln>
          </p:spPr>
          <p:txBody>
            <a:bodyPr wrap="none" lIns="0" tIns="0" rIns="0" bIns="0" anchor="t" anchorCtr="0">
              <a:spAutoFit/>
            </a:bodyPr>
            <a:lstStyle/>
            <a:p>
              <a:pPr algn="l">
                <a:lnSpc>
                  <a:spcPts val="750"/>
                </a:lnSpc>
              </a:pPr>
              <a:r>
                <a:rPr lang="en-US" sz="600" dirty="0">
                  <a:solidFill>
                    <a:srgbClr val="666666"/>
                  </a:solidFill>
                  <a:latin typeface="+mn-lt"/>
                  <a:ea typeface="+mn-ea"/>
                  <a:cs typeface="+mn-cs"/>
                </a:rPr>
                <a:t>Percentage of banks that have a risk appetite (or specific limits) for model​</a:t>
              </a:r>
              <a:br/>
              <a:r>
                <a:rPr lang="en-US" sz="600" dirty="0">
                  <a:solidFill>
                    <a:srgbClr val="666666"/>
                  </a:solidFill>
                  <a:latin typeface="+mn-lt"/>
                  <a:ea typeface="+mn-ea"/>
                  <a:cs typeface="+mn-cs"/>
                </a:rPr>
                <a:t>risk as a risk type​</a:t>
              </a:r>
            </a:p>
          </p:txBody>
        </p:sp>
        <p:sp>
          <p:nvSpPr>
            <p:cNvPr id="28" name="Freeform 28"/>
            <p:cNvSpPr/>
            <p:nvPr/>
          </p:nvSpPr>
          <p:spPr>
            <a:xfrm>
              <a:off x="7324725" y="3295650"/>
              <a:ext cx="1295400" cy="1295400"/>
            </a:xfrm>
            <a:prstGeom prst="blockArc">
              <a:avLst>
                <a:gd name="adj1" fmla="val 16200000"/>
                <a:gd name="adj2" fmla="val 7344000"/>
                <a:gd name="adj3" fmla="val 17647"/>
              </a:avLst>
            </a:prstGeom>
            <a:solidFill>
              <a:srgbClr val="AA1B00"/>
            </a:solidFill>
            <a:ln>
              <a:noFill/>
            </a:ln>
          </p:spPr>
        </p:sp>
        <p:sp>
          <p:nvSpPr>
            <p:cNvPr id="29" name="Freeform 29"/>
            <p:cNvSpPr/>
            <p:nvPr/>
          </p:nvSpPr>
          <p:spPr>
            <a:xfrm>
              <a:off x="7324725" y="3295650"/>
              <a:ext cx="1295400" cy="1295400"/>
            </a:xfrm>
            <a:prstGeom prst="blockArc">
              <a:avLst>
                <a:gd name="adj1" fmla="val 7344000"/>
                <a:gd name="adj2" fmla="val 16200000"/>
                <a:gd name="adj3" fmla="val 17647"/>
              </a:avLst>
            </a:prstGeom>
            <a:solidFill>
              <a:srgbClr val="C9C9C9"/>
            </a:solidFill>
            <a:ln>
              <a:noFill/>
            </a:ln>
          </p:spPr>
        </p:sp>
        <p:sp>
          <p:nvSpPr>
            <p:cNvPr id="30" name="TextBox 30"/>
            <p:cNvSpPr txBox="1"/>
            <p:nvPr/>
          </p:nvSpPr>
          <p:spPr>
            <a:xfrm>
              <a:off x="8590064" y="4113848"/>
              <a:ext cx="263957" cy="147638"/>
            </a:xfrm>
            <a:prstGeom prst="rect">
              <a:avLst/>
            </a:prstGeom>
            <a:noFill/>
            <a:ln>
              <a:noFill/>
            </a:ln>
          </p:spPr>
          <p:txBody>
            <a:bodyPr wrap="none" lIns="0" tIns="0" rIns="0" bIns="0" anchor="t" anchorCtr="0">
              <a:spAutoFit/>
            </a:bodyPr>
            <a:lstStyle/>
            <a:p>
              <a:pPr algn="ctr"/>
              <a:r>
                <a:rPr lang="zh-CN" sz="750" b="1" dirty="0">
                  <a:solidFill>
                    <a:srgbClr val="1A1A1A"/>
                  </a:solidFill>
                  <a:latin typeface="+mn-lt"/>
                  <a:ea typeface="+mn-ea"/>
                  <a:cs typeface="+mn-cs"/>
                </a:rPr>
                <a:t>59%​</a:t>
              </a:r>
            </a:p>
          </p:txBody>
        </p:sp>
        <p:sp>
          <p:nvSpPr>
            <p:cNvPr id="31" name="TextBox 31"/>
            <p:cNvSpPr txBox="1"/>
            <p:nvPr/>
          </p:nvSpPr>
          <p:spPr>
            <a:xfrm>
              <a:off x="7096887" y="3677602"/>
              <a:ext cx="251841" cy="147638"/>
            </a:xfrm>
            <a:prstGeom prst="rect">
              <a:avLst/>
            </a:prstGeom>
            <a:noFill/>
            <a:ln>
              <a:noFill/>
            </a:ln>
          </p:spPr>
          <p:txBody>
            <a:bodyPr wrap="none" lIns="0" tIns="0" rIns="0" bIns="0" anchor="t" anchorCtr="0">
              <a:spAutoFit/>
            </a:bodyPr>
            <a:lstStyle/>
            <a:p>
              <a:pPr algn="ctr"/>
              <a:r>
                <a:rPr lang="zh-CN" sz="750" dirty="0">
                  <a:solidFill>
                    <a:srgbClr val="666666"/>
                  </a:solidFill>
                  <a:latin typeface="+mn-lt"/>
                  <a:ea typeface="+mn-ea"/>
                  <a:cs typeface="+mn-cs"/>
                </a:rPr>
                <a:t>41%​</a:t>
              </a:r>
            </a:p>
          </p:txBody>
        </p:sp>
        <p:sp>
          <p:nvSpPr>
            <p:cNvPr id="32" name="Rectangle 32"/>
            <p:cNvSpPr/>
            <p:nvPr/>
          </p:nvSpPr>
          <p:spPr>
            <a:xfrm>
              <a:off x="6400800" y="4924425"/>
              <a:ext cx="95250" cy="95250"/>
            </a:xfrm>
            <a:prstGeom prst="rect">
              <a:avLst/>
            </a:prstGeom>
            <a:solidFill>
              <a:srgbClr val="AA1B00"/>
            </a:solidFill>
            <a:ln>
              <a:noFill/>
            </a:ln>
          </p:spPr>
        </p:sp>
        <p:sp>
          <p:nvSpPr>
            <p:cNvPr id="33" name="TextBox 33"/>
            <p:cNvSpPr txBox="1"/>
            <p:nvPr/>
          </p:nvSpPr>
          <p:spPr>
            <a:xfrm>
              <a:off x="6538912" y="4937284"/>
              <a:ext cx="357556"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是Yes​​</a:t>
              </a:r>
            </a:p>
          </p:txBody>
        </p:sp>
        <p:sp>
          <p:nvSpPr>
            <p:cNvPr id="34" name="Rectangle 34"/>
            <p:cNvSpPr/>
            <p:nvPr/>
          </p:nvSpPr>
          <p:spPr>
            <a:xfrm>
              <a:off x="6975348" y="4924425"/>
              <a:ext cx="95250" cy="95250"/>
            </a:xfrm>
            <a:prstGeom prst="rect">
              <a:avLst/>
            </a:prstGeom>
            <a:solidFill>
              <a:srgbClr val="C9C9C9"/>
            </a:solidFill>
            <a:ln>
              <a:noFill/>
            </a:ln>
          </p:spPr>
        </p:sp>
        <p:sp>
          <p:nvSpPr>
            <p:cNvPr id="35" name="TextBox 35"/>
            <p:cNvSpPr txBox="1"/>
            <p:nvPr/>
          </p:nvSpPr>
          <p:spPr>
            <a:xfrm>
              <a:off x="7113461" y="4937284"/>
              <a:ext cx="308158" cy="133350"/>
            </a:xfrm>
            <a:prstGeom prst="rect">
              <a:avLst/>
            </a:prstGeom>
            <a:noFill/>
            <a:ln>
              <a:noFill/>
            </a:ln>
          </p:spPr>
          <p:txBody>
            <a:bodyPr wrap="none" lIns="0" tIns="0" rIns="0" bIns="0" anchor="t" anchorCtr="0">
              <a:spAutoFit/>
            </a:bodyPr>
            <a:lstStyle/>
            <a:p>
              <a:pPr algn="l"/>
              <a:r>
                <a:rPr lang="zh-CN" sz="680" dirty="0">
                  <a:solidFill>
                    <a:srgbClr val="666666"/>
                  </a:solidFill>
                  <a:latin typeface="+mn-lt"/>
                  <a:ea typeface="+mn-ea"/>
                  <a:cs typeface="+mn-cs"/>
                </a:rPr>
                <a:t>否No​​</a:t>
              </a:r>
            </a:p>
          </p:txBody>
        </p:sp>
      </p:grpSp>
      <p:grpSp>
        <p:nvGrpSpPr>
          <p:cNvPr id="70" name="nav"/>
          <p:cNvGrpSpPr/>
          <p:nvPr/>
        </p:nvGrpSpPr>
        <p:grpSpPr>
          <a:xfrm>
            <a:off x="9834562" y="0"/>
            <a:ext cx="2357438" cy="6858000"/>
            <a:chOff x="9834562" y="0"/>
            <a:chExt cx="2357438" cy="6858000"/>
          </a:xfrm>
        </p:grpSpPr>
        <p:sp>
          <p:nvSpPr>
            <p:cNvPr id="37" name="Line 37"/>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38" name="Rectangle 38"/>
            <p:cNvSpPr/>
            <p:nvPr/>
          </p:nvSpPr>
          <p:spPr>
            <a:xfrm>
              <a:off x="9839325" y="476250"/>
              <a:ext cx="2352675" cy="514350"/>
            </a:xfrm>
            <a:prstGeom prst="rect">
              <a:avLst/>
            </a:prstGeom>
            <a:solidFill>
              <a:srgbClr val="F3F3F3"/>
            </a:solidFill>
            <a:ln>
              <a:noFill/>
            </a:ln>
          </p:spPr>
        </p:sp>
        <p:sp>
          <p:nvSpPr>
            <p:cNvPr id="39" name="TextBox 39"/>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40" name="Rectangle 40"/>
            <p:cNvSpPr/>
            <p:nvPr/>
          </p:nvSpPr>
          <p:spPr>
            <a:xfrm>
              <a:off x="9839325" y="1000125"/>
              <a:ext cx="2352675" cy="514350"/>
            </a:xfrm>
            <a:prstGeom prst="rect">
              <a:avLst/>
            </a:prstGeom>
            <a:solidFill>
              <a:srgbClr val="F3F3F3"/>
            </a:solidFill>
            <a:ln>
              <a:noFill/>
            </a:ln>
          </p:spPr>
        </p:sp>
        <p:sp>
          <p:nvSpPr>
            <p:cNvPr id="41" name="TextBox 41"/>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42" name="Rectangle 42"/>
            <p:cNvSpPr/>
            <p:nvPr/>
          </p:nvSpPr>
          <p:spPr>
            <a:xfrm>
              <a:off x="9839325" y="1524000"/>
              <a:ext cx="2352675" cy="514350"/>
            </a:xfrm>
            <a:prstGeom prst="rect">
              <a:avLst/>
            </a:prstGeom>
            <a:solidFill>
              <a:srgbClr val="F3F3F3"/>
            </a:solidFill>
            <a:ln>
              <a:noFill/>
            </a:ln>
          </p:spPr>
        </p:sp>
        <p:sp>
          <p:nvSpPr>
            <p:cNvPr id="43" name="TextBox 43"/>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44" name="Rectangle 44"/>
            <p:cNvSpPr/>
            <p:nvPr/>
          </p:nvSpPr>
          <p:spPr>
            <a:xfrm>
              <a:off x="9839325" y="2047875"/>
              <a:ext cx="2352675" cy="514350"/>
            </a:xfrm>
            <a:prstGeom prst="rect">
              <a:avLst/>
            </a:prstGeom>
            <a:solidFill>
              <a:srgbClr val="F3F3F3"/>
            </a:solidFill>
            <a:ln>
              <a:noFill/>
            </a:ln>
          </p:spPr>
        </p:sp>
        <p:sp>
          <p:nvSpPr>
            <p:cNvPr id="45" name="TextBox 45"/>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46" name="Rectangle 46"/>
            <p:cNvSpPr/>
            <p:nvPr/>
          </p:nvSpPr>
          <p:spPr>
            <a:xfrm>
              <a:off x="9839325" y="2571750"/>
              <a:ext cx="2352675" cy="514350"/>
            </a:xfrm>
            <a:prstGeom prst="rect">
              <a:avLst/>
            </a:prstGeom>
            <a:solidFill>
              <a:srgbClr val="F3F3F3"/>
            </a:solidFill>
            <a:ln>
              <a:noFill/>
            </a:ln>
          </p:spPr>
        </p:sp>
        <p:sp>
          <p:nvSpPr>
            <p:cNvPr id="47" name="TextBox 47"/>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48" name="Rectangle 48"/>
            <p:cNvSpPr/>
            <p:nvPr/>
          </p:nvSpPr>
          <p:spPr>
            <a:xfrm>
              <a:off x="9839325" y="3095625"/>
              <a:ext cx="2352675" cy="514350"/>
            </a:xfrm>
            <a:prstGeom prst="rect">
              <a:avLst/>
            </a:prstGeom>
            <a:solidFill>
              <a:srgbClr val="F3F3F3"/>
            </a:solidFill>
            <a:ln>
              <a:noFill/>
            </a:ln>
          </p:spPr>
        </p:sp>
        <p:sp>
          <p:nvSpPr>
            <p:cNvPr id="49" name="TextBox 49"/>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50" name="Rectangle 50"/>
            <p:cNvSpPr/>
            <p:nvPr/>
          </p:nvSpPr>
          <p:spPr>
            <a:xfrm>
              <a:off x="9839325" y="3619500"/>
              <a:ext cx="2352675" cy="514350"/>
            </a:xfrm>
            <a:prstGeom prst="rect">
              <a:avLst/>
            </a:prstGeom>
            <a:solidFill>
              <a:srgbClr val="F3F3F3"/>
            </a:solidFill>
            <a:ln>
              <a:noFill/>
            </a:ln>
          </p:spPr>
        </p:sp>
        <p:sp>
          <p:nvSpPr>
            <p:cNvPr id="51" name="TextBox 51"/>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52" name="Rectangle 52"/>
            <p:cNvSpPr/>
            <p:nvPr/>
          </p:nvSpPr>
          <p:spPr>
            <a:xfrm>
              <a:off x="9839325" y="4143375"/>
              <a:ext cx="2352675" cy="514350"/>
            </a:xfrm>
            <a:prstGeom prst="rect">
              <a:avLst/>
            </a:prstGeom>
            <a:solidFill>
              <a:srgbClr val="C35642"/>
            </a:solidFill>
            <a:ln>
              <a:noFill/>
            </a:ln>
          </p:spPr>
        </p:sp>
        <p:sp>
          <p:nvSpPr>
            <p:cNvPr id="53" name="TextBox 53"/>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风险缓释：模型监控与报告</a:t>
              </a:r>
            </a:p>
          </p:txBody>
        </p:sp>
        <p:sp>
          <p:nvSpPr>
            <p:cNvPr id="54" name="Rectangle 54"/>
            <p:cNvSpPr/>
            <p:nvPr/>
          </p:nvSpPr>
          <p:spPr>
            <a:xfrm>
              <a:off x="9839325" y="4667250"/>
              <a:ext cx="2352675" cy="514350"/>
            </a:xfrm>
            <a:prstGeom prst="rect">
              <a:avLst/>
            </a:prstGeom>
            <a:solidFill>
              <a:srgbClr val="F3F3F3"/>
            </a:solidFill>
            <a:ln>
              <a:noFill/>
            </a:ln>
          </p:spPr>
        </p:sp>
        <p:sp>
          <p:nvSpPr>
            <p:cNvPr id="55" name="TextBox 55"/>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模型风险管理的未来</a:t>
              </a:r>
            </a:p>
          </p:txBody>
        </p:sp>
        <p:sp>
          <p:nvSpPr>
            <p:cNvPr id="56" name="Rectangle 56"/>
            <p:cNvSpPr/>
            <p:nvPr/>
          </p:nvSpPr>
          <p:spPr>
            <a:xfrm>
              <a:off x="9839325" y="5191125"/>
              <a:ext cx="2352675" cy="514350"/>
            </a:xfrm>
            <a:prstGeom prst="rect">
              <a:avLst/>
            </a:prstGeom>
            <a:solidFill>
              <a:srgbClr val="F3F3F3"/>
            </a:solidFill>
            <a:ln>
              <a:noFill/>
            </a:ln>
          </p:spPr>
        </p:sp>
        <p:sp>
          <p:nvSpPr>
            <p:cNvPr id="57" name="TextBox 57"/>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58" name="Rectangle 58"/>
            <p:cNvSpPr/>
            <p:nvPr/>
          </p:nvSpPr>
          <p:spPr>
            <a:xfrm>
              <a:off x="9839325" y="5715000"/>
              <a:ext cx="2352675" cy="514350"/>
            </a:xfrm>
            <a:prstGeom prst="rect">
              <a:avLst/>
            </a:prstGeom>
            <a:solidFill>
              <a:srgbClr val="F3F3F3"/>
            </a:solidFill>
            <a:ln>
              <a:noFill/>
            </a:ln>
          </p:spPr>
        </p:sp>
        <p:sp>
          <p:nvSpPr>
            <p:cNvPr id="59" name="TextBox 59"/>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60" name="Ellipse 60"/>
            <p:cNvSpPr/>
            <p:nvPr/>
          </p:nvSpPr>
          <p:spPr>
            <a:xfrm>
              <a:off x="10020300" y="6372225"/>
              <a:ext cx="266700" cy="266700"/>
            </a:xfrm>
            <a:prstGeom prst="ellipse">
              <a:avLst/>
            </a:prstGeom>
            <a:solidFill>
              <a:srgbClr val="D7D8D6"/>
            </a:solidFill>
            <a:ln>
              <a:noFill/>
            </a:ln>
          </p:spPr>
        </p:sp>
        <p:sp>
          <p:nvSpPr>
            <p:cNvPr id="61" name="Freeform 61"/>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62" name="Ellipse 62"/>
            <p:cNvSpPr/>
            <p:nvPr/>
          </p:nvSpPr>
          <p:spPr>
            <a:xfrm>
              <a:off x="10420350" y="6372225"/>
              <a:ext cx="266700" cy="266700"/>
            </a:xfrm>
            <a:prstGeom prst="ellipse">
              <a:avLst/>
            </a:prstGeom>
            <a:solidFill>
              <a:srgbClr val="D7D8D6"/>
            </a:solidFill>
            <a:ln>
              <a:noFill/>
            </a:ln>
          </p:spPr>
        </p:sp>
        <p:grpSp>
          <p:nvGrpSpPr>
            <p:cNvPr id="66" name="Group 66"/>
            <p:cNvGrpSpPr/>
            <p:nvPr/>
          </p:nvGrpSpPr>
          <p:grpSpPr>
            <a:xfrm>
              <a:off x="10489406" y="6441281"/>
              <a:ext cx="128588" cy="128588"/>
              <a:chOff x="10489406" y="6441281"/>
              <a:chExt cx="128588" cy="128588"/>
            </a:xfrm>
          </p:grpSpPr>
          <p:sp>
            <p:nvSpPr>
              <p:cNvPr id="63" name="Freeform 63"/>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64" name="Freeform 64"/>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65" name="Freeform 65"/>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67" name="Ellipse 67"/>
            <p:cNvSpPr/>
            <p:nvPr/>
          </p:nvSpPr>
          <p:spPr>
            <a:xfrm>
              <a:off x="10820400" y="6372225"/>
              <a:ext cx="266700" cy="266700"/>
            </a:xfrm>
            <a:prstGeom prst="ellipse">
              <a:avLst/>
            </a:prstGeom>
            <a:solidFill>
              <a:srgbClr val="D7D8D6"/>
            </a:solidFill>
            <a:ln>
              <a:noFill/>
            </a:ln>
          </p:spPr>
        </p:sp>
        <p:sp>
          <p:nvSpPr>
            <p:cNvPr id="68" name="Freeform 68"/>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69" name="TextBox 69"/>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37</a:t>
              </a:r>
            </a:p>
          </p:txBody>
        </p:sp>
      </p:gr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ave-field"/>
          <p:cNvSpPr/>
          <p:nvPr/>
        </p:nvSpPr>
        <p:spPr>
          <a:xfrm>
            <a:off x="0" y="0"/>
            <a:ext cx="9829800" cy="6858000"/>
          </a:xfrm>
          <a:prstGeom prst="rect">
            <a:avLst/>
          </a:prstGeom>
          <a:gradFill>
            <a:gsLst>
              <a:gs pos="0">
                <a:srgbClr val="C6422A"/>
              </a:gs>
              <a:gs pos="55000">
                <a:srgbClr val="D8482E"/>
              </a:gs>
              <a:gs pos="100000">
                <a:srgbClr val="EE9B8C"/>
              </a:gs>
            </a:gsLst>
            <a:lin ang="2700000" scaled="1"/>
          </a:gradFill>
          <a:ln>
            <a:noFill/>
          </a:ln>
        </p:spPr>
      </p:sp>
      <p:sp>
        <p:nvSpPr>
          <p:cNvPr id="3" name="wave-1"/>
          <p:cNvSpPr/>
          <p:nvPr/>
        </p:nvSpPr>
        <p:spPr>
          <a:xfrm rot="-840000">
            <a:off x="0" y="4000500"/>
            <a:ext cx="11811000" cy="2667000"/>
          </a:xfrm>
          <a:prstGeom prst="ellipse">
            <a:avLst/>
          </a:prstGeom>
          <a:solidFill>
            <a:srgbClr val="FFFFFF">
              <a:alpha val="14000"/>
            </a:srgbClr>
          </a:solidFill>
          <a:ln>
            <a:noFill/>
          </a:ln>
        </p:spPr>
      </p:sp>
      <p:sp>
        <p:nvSpPr>
          <p:cNvPr id="4" name="wave-2"/>
          <p:cNvSpPr/>
          <p:nvPr/>
        </p:nvSpPr>
        <p:spPr>
          <a:xfrm rot="-1080000">
            <a:off x="-2095500" y="95250"/>
            <a:ext cx="9906000" cy="2095500"/>
          </a:xfrm>
          <a:prstGeom prst="ellipse">
            <a:avLst/>
          </a:prstGeom>
          <a:solidFill>
            <a:srgbClr val="FFFFFF">
              <a:alpha val="12000"/>
            </a:srgbClr>
          </a:solidFill>
          <a:ln>
            <a:noFill/>
          </a:ln>
        </p:spPr>
      </p:sp>
      <p:sp>
        <p:nvSpPr>
          <p:cNvPr id="5" name="wave-3"/>
          <p:cNvSpPr/>
          <p:nvPr/>
        </p:nvSpPr>
        <p:spPr>
          <a:xfrm rot="-720000">
            <a:off x="3238500" y="2190750"/>
            <a:ext cx="8001000" cy="1333500"/>
          </a:xfrm>
          <a:prstGeom prst="ellipse">
            <a:avLst/>
          </a:prstGeom>
          <a:solidFill>
            <a:srgbClr val="8A2E1D">
              <a:alpha val="14000"/>
            </a:srgbClr>
          </a:solidFill>
          <a:ln>
            <a:noFill/>
          </a:ln>
        </p:spPr>
      </p:sp>
      <p:grpSp>
        <p:nvGrpSpPr>
          <p:cNvPr id="9" name="section-title"/>
          <p:cNvGrpSpPr/>
          <p:nvPr/>
        </p:nvGrpSpPr>
        <p:grpSpPr>
          <a:xfrm>
            <a:off x="745236" y="2025015"/>
            <a:ext cx="4031742" cy="1146810"/>
            <a:chOff x="745236" y="2025015"/>
            <a:chExt cx="4031742" cy="1146810"/>
          </a:xfrm>
        </p:grpSpPr>
        <p:sp>
          <p:nvSpPr>
            <p:cNvPr id="6" name="TextBox 6"/>
            <p:cNvSpPr txBox="1"/>
            <p:nvPr/>
          </p:nvSpPr>
          <p:spPr>
            <a:xfrm>
              <a:off x="745236" y="2025015"/>
              <a:ext cx="4031742" cy="645414"/>
            </a:xfrm>
            <a:prstGeom prst="rect">
              <a:avLst/>
            </a:prstGeom>
            <a:noFill/>
            <a:ln>
              <a:noFill/>
            </a:ln>
          </p:spPr>
          <p:txBody>
            <a:bodyPr wrap="none" lIns="0" tIns="0" rIns="0" bIns="0" anchor="t" anchorCtr="0">
              <a:spAutoFit/>
            </a:bodyPr>
            <a:lstStyle/>
            <a:p>
              <a:pPr algn="l"/>
              <a:r>
                <a:rPr lang="zh-CN" sz="3300" b="1" dirty="0">
                  <a:solidFill>
                    <a:srgbClr val="1A1A1A"/>
                  </a:solidFill>
                  <a:latin typeface="+mn-lt"/>
                  <a:ea typeface="+mn-ea"/>
                  <a:cs typeface="+mn-cs"/>
                </a:rPr>
                <a:t>模型风险管理的未来</a:t>
              </a:r>
            </a:p>
          </p:txBody>
        </p:sp>
        <p:sp>
          <p:nvSpPr>
            <p:cNvPr id="7" name="TextBox 7"/>
            <p:cNvSpPr txBox="1"/>
            <p:nvPr/>
          </p:nvSpPr>
          <p:spPr>
            <a:xfrm>
              <a:off x="755142" y="2711768"/>
              <a:ext cx="3409506" cy="264033"/>
            </a:xfrm>
            <a:prstGeom prst="rect">
              <a:avLst/>
            </a:prstGeom>
            <a:noFill/>
            <a:ln>
              <a:noFill/>
            </a:ln>
          </p:spPr>
          <p:txBody>
            <a:bodyPr wrap="none" lIns="0" tIns="0" rIns="0" bIns="0" anchor="t" anchorCtr="0">
              <a:spAutoFit/>
            </a:bodyPr>
            <a:lstStyle/>
            <a:p>
              <a:pPr algn="l"/>
              <a:r>
                <a:rPr lang="en-US" sz="1350" dirty="0">
                  <a:solidFill>
                    <a:srgbClr val="1A1A1A">
                      <a:alphaMod val="80000"/>
                    </a:srgbClr>
                  </a:solidFill>
                  <a:latin typeface="+mn-lt"/>
                  <a:ea typeface="+mn-ea"/>
                  <a:cs typeface="+mn-cs"/>
                </a:rPr>
                <a:t>The future of model risk management​</a:t>
              </a:r>
            </a:p>
          </p:txBody>
        </p:sp>
        <p:sp>
          <p:nvSpPr>
            <p:cNvPr id="8" name="Line 8"/>
            <p:cNvSpPr/>
            <p:nvPr/>
          </p:nvSpPr>
          <p:spPr>
            <a:xfrm>
              <a:off x="762000" y="3162300"/>
              <a:ext cx="1524000" cy="9525"/>
            </a:xfrm>
            <a:custGeom>
              <a:avLst/>
              <a:gdLst/>
              <a:ahLst/>
              <a:cxnLst/>
              <a:rect l="l" t="t" r="r" b="b"/>
              <a:pathLst>
                <a:path w="1524000" h="9525">
                  <a:moveTo>
                    <a:pt x="0" y="0"/>
                  </a:moveTo>
                  <a:lnTo>
                    <a:pt x="1524000" y="0"/>
                  </a:lnTo>
                </a:path>
              </a:pathLst>
            </a:custGeom>
            <a:noFill/>
            <a:ln w="19050">
              <a:solidFill>
                <a:srgbClr val="1A1A1A"/>
              </a:solidFill>
            </a:ln>
          </p:spPr>
        </p:sp>
      </p:grpSp>
      <p:grpSp>
        <p:nvGrpSpPr>
          <p:cNvPr id="43" name="nav"/>
          <p:cNvGrpSpPr/>
          <p:nvPr/>
        </p:nvGrpSpPr>
        <p:grpSpPr>
          <a:xfrm>
            <a:off x="9834562" y="0"/>
            <a:ext cx="2357438" cy="6858000"/>
            <a:chOff x="9834562" y="0"/>
            <a:chExt cx="2357438" cy="6858000"/>
          </a:xfrm>
        </p:grpSpPr>
        <p:sp>
          <p:nvSpPr>
            <p:cNvPr id="10" name="Line 10"/>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11" name="Rectangle 11"/>
            <p:cNvSpPr/>
            <p:nvPr/>
          </p:nvSpPr>
          <p:spPr>
            <a:xfrm>
              <a:off x="9839325" y="476250"/>
              <a:ext cx="2352675" cy="514350"/>
            </a:xfrm>
            <a:prstGeom prst="rect">
              <a:avLst/>
            </a:prstGeom>
            <a:solidFill>
              <a:srgbClr val="F3F3F3"/>
            </a:solidFill>
            <a:ln>
              <a:noFill/>
            </a:ln>
          </p:spPr>
        </p:sp>
        <p:sp>
          <p:nvSpPr>
            <p:cNvPr id="12" name="TextBox 12"/>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13" name="Rectangle 13"/>
            <p:cNvSpPr/>
            <p:nvPr/>
          </p:nvSpPr>
          <p:spPr>
            <a:xfrm>
              <a:off x="9839325" y="1000125"/>
              <a:ext cx="2352675" cy="514350"/>
            </a:xfrm>
            <a:prstGeom prst="rect">
              <a:avLst/>
            </a:prstGeom>
            <a:solidFill>
              <a:srgbClr val="F3F3F3"/>
            </a:solidFill>
            <a:ln>
              <a:noFill/>
            </a:ln>
          </p:spPr>
        </p:sp>
        <p:sp>
          <p:nvSpPr>
            <p:cNvPr id="14" name="TextBox 14"/>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15" name="Rectangle 15"/>
            <p:cNvSpPr/>
            <p:nvPr/>
          </p:nvSpPr>
          <p:spPr>
            <a:xfrm>
              <a:off x="9839325" y="1524000"/>
              <a:ext cx="2352675" cy="514350"/>
            </a:xfrm>
            <a:prstGeom prst="rect">
              <a:avLst/>
            </a:prstGeom>
            <a:solidFill>
              <a:srgbClr val="F3F3F3"/>
            </a:solidFill>
            <a:ln>
              <a:noFill/>
            </a:ln>
          </p:spPr>
        </p:sp>
        <p:sp>
          <p:nvSpPr>
            <p:cNvPr id="16" name="TextBox 16"/>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17" name="Rectangle 17"/>
            <p:cNvSpPr/>
            <p:nvPr/>
          </p:nvSpPr>
          <p:spPr>
            <a:xfrm>
              <a:off x="9839325" y="2047875"/>
              <a:ext cx="2352675" cy="514350"/>
            </a:xfrm>
            <a:prstGeom prst="rect">
              <a:avLst/>
            </a:prstGeom>
            <a:solidFill>
              <a:srgbClr val="F3F3F3"/>
            </a:solidFill>
            <a:ln>
              <a:noFill/>
            </a:ln>
          </p:spPr>
        </p:sp>
        <p:sp>
          <p:nvSpPr>
            <p:cNvPr id="18" name="TextBox 18"/>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19" name="Rectangle 19"/>
            <p:cNvSpPr/>
            <p:nvPr/>
          </p:nvSpPr>
          <p:spPr>
            <a:xfrm>
              <a:off x="9839325" y="2571750"/>
              <a:ext cx="2352675" cy="514350"/>
            </a:xfrm>
            <a:prstGeom prst="rect">
              <a:avLst/>
            </a:prstGeom>
            <a:solidFill>
              <a:srgbClr val="F3F3F3"/>
            </a:solidFill>
            <a:ln>
              <a:noFill/>
            </a:ln>
          </p:spPr>
        </p:sp>
        <p:sp>
          <p:nvSpPr>
            <p:cNvPr id="20" name="TextBox 20"/>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21" name="Rectangle 21"/>
            <p:cNvSpPr/>
            <p:nvPr/>
          </p:nvSpPr>
          <p:spPr>
            <a:xfrm>
              <a:off x="9839325" y="3095625"/>
              <a:ext cx="2352675" cy="514350"/>
            </a:xfrm>
            <a:prstGeom prst="rect">
              <a:avLst/>
            </a:prstGeom>
            <a:solidFill>
              <a:srgbClr val="F3F3F3"/>
            </a:solidFill>
            <a:ln>
              <a:noFill/>
            </a:ln>
          </p:spPr>
        </p:sp>
        <p:sp>
          <p:nvSpPr>
            <p:cNvPr id="22" name="TextBox 22"/>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23" name="Rectangle 23"/>
            <p:cNvSpPr/>
            <p:nvPr/>
          </p:nvSpPr>
          <p:spPr>
            <a:xfrm>
              <a:off x="9839325" y="3619500"/>
              <a:ext cx="2352675" cy="514350"/>
            </a:xfrm>
            <a:prstGeom prst="rect">
              <a:avLst/>
            </a:prstGeom>
            <a:solidFill>
              <a:srgbClr val="F3F3F3"/>
            </a:solidFill>
            <a:ln>
              <a:noFill/>
            </a:ln>
          </p:spPr>
        </p:sp>
        <p:sp>
          <p:nvSpPr>
            <p:cNvPr id="24" name="TextBox 24"/>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25" name="Rectangle 25"/>
            <p:cNvSpPr/>
            <p:nvPr/>
          </p:nvSpPr>
          <p:spPr>
            <a:xfrm>
              <a:off x="9839325" y="4143375"/>
              <a:ext cx="2352675" cy="514350"/>
            </a:xfrm>
            <a:prstGeom prst="rect">
              <a:avLst/>
            </a:prstGeom>
            <a:solidFill>
              <a:srgbClr val="F3F3F3"/>
            </a:solidFill>
            <a:ln>
              <a:noFill/>
            </a:ln>
          </p:spPr>
        </p:sp>
        <p:sp>
          <p:nvSpPr>
            <p:cNvPr id="26" name="TextBox 26"/>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27" name="Rectangle 27"/>
            <p:cNvSpPr/>
            <p:nvPr/>
          </p:nvSpPr>
          <p:spPr>
            <a:xfrm>
              <a:off x="9839325" y="4667250"/>
              <a:ext cx="2352675" cy="514350"/>
            </a:xfrm>
            <a:prstGeom prst="rect">
              <a:avLst/>
            </a:prstGeom>
            <a:solidFill>
              <a:srgbClr val="D8482E"/>
            </a:solidFill>
            <a:ln>
              <a:noFill/>
            </a:ln>
          </p:spPr>
        </p:sp>
        <p:sp>
          <p:nvSpPr>
            <p:cNvPr id="28" name="TextBox 28"/>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模型风险管理的未来</a:t>
              </a:r>
            </a:p>
          </p:txBody>
        </p:sp>
        <p:sp>
          <p:nvSpPr>
            <p:cNvPr id="29" name="Rectangle 29"/>
            <p:cNvSpPr/>
            <p:nvPr/>
          </p:nvSpPr>
          <p:spPr>
            <a:xfrm>
              <a:off x="9839325" y="5191125"/>
              <a:ext cx="2352675" cy="514350"/>
            </a:xfrm>
            <a:prstGeom prst="rect">
              <a:avLst/>
            </a:prstGeom>
            <a:solidFill>
              <a:srgbClr val="F3F3F3"/>
            </a:solidFill>
            <a:ln>
              <a:noFill/>
            </a:ln>
          </p:spPr>
        </p:sp>
        <p:sp>
          <p:nvSpPr>
            <p:cNvPr id="30" name="TextBox 30"/>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31" name="Rectangle 31"/>
            <p:cNvSpPr/>
            <p:nvPr/>
          </p:nvSpPr>
          <p:spPr>
            <a:xfrm>
              <a:off x="9839325" y="5715000"/>
              <a:ext cx="2352675" cy="514350"/>
            </a:xfrm>
            <a:prstGeom prst="rect">
              <a:avLst/>
            </a:prstGeom>
            <a:solidFill>
              <a:srgbClr val="F3F3F3"/>
            </a:solidFill>
            <a:ln>
              <a:noFill/>
            </a:ln>
          </p:spPr>
        </p:sp>
        <p:sp>
          <p:nvSpPr>
            <p:cNvPr id="32" name="TextBox 32"/>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33" name="Ellipse 33"/>
            <p:cNvSpPr/>
            <p:nvPr/>
          </p:nvSpPr>
          <p:spPr>
            <a:xfrm>
              <a:off x="10020300" y="6372225"/>
              <a:ext cx="266700" cy="266700"/>
            </a:xfrm>
            <a:prstGeom prst="ellipse">
              <a:avLst/>
            </a:prstGeom>
            <a:solidFill>
              <a:srgbClr val="D7D8D6"/>
            </a:solidFill>
            <a:ln>
              <a:noFill/>
            </a:ln>
          </p:spPr>
        </p:sp>
        <p:sp>
          <p:nvSpPr>
            <p:cNvPr id="34" name="Freeform 34"/>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35" name="Ellipse 35"/>
            <p:cNvSpPr/>
            <p:nvPr/>
          </p:nvSpPr>
          <p:spPr>
            <a:xfrm>
              <a:off x="10420350" y="6372225"/>
              <a:ext cx="266700" cy="266700"/>
            </a:xfrm>
            <a:prstGeom prst="ellipse">
              <a:avLst/>
            </a:prstGeom>
            <a:solidFill>
              <a:srgbClr val="D7D8D6"/>
            </a:solidFill>
            <a:ln>
              <a:noFill/>
            </a:ln>
          </p:spPr>
        </p:sp>
        <p:grpSp>
          <p:nvGrpSpPr>
            <p:cNvPr id="39" name="Group 39"/>
            <p:cNvGrpSpPr/>
            <p:nvPr/>
          </p:nvGrpSpPr>
          <p:grpSpPr>
            <a:xfrm>
              <a:off x="10489406" y="6441281"/>
              <a:ext cx="128588" cy="128588"/>
              <a:chOff x="10489406" y="6441281"/>
              <a:chExt cx="128588" cy="128588"/>
            </a:xfrm>
          </p:grpSpPr>
          <p:sp>
            <p:nvSpPr>
              <p:cNvPr id="36" name="Freeform 36"/>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37" name="Freeform 37"/>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38" name="Freeform 38"/>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40" name="Ellipse 40"/>
            <p:cNvSpPr/>
            <p:nvPr/>
          </p:nvSpPr>
          <p:spPr>
            <a:xfrm>
              <a:off x="10820400" y="6372225"/>
              <a:ext cx="266700" cy="266700"/>
            </a:xfrm>
            <a:prstGeom prst="ellipse">
              <a:avLst/>
            </a:prstGeom>
            <a:solidFill>
              <a:srgbClr val="D7D8D6"/>
            </a:solidFill>
            <a:ln>
              <a:noFill/>
            </a:ln>
          </p:spPr>
        </p:sp>
        <p:sp>
          <p:nvSpPr>
            <p:cNvPr id="41" name="Freeform 41"/>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42" name="TextBox 42"/>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38</a:t>
              </a:r>
            </a:p>
          </p:txBody>
        </p:sp>
      </p:gr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9639300" cy="542925"/>
            <a:chOff x="0" y="0"/>
            <a:chExt cx="96393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D8482E"/>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1A1A1A"/>
                  </a:solidFill>
                  <a:latin typeface="+mj-lt"/>
                  <a:ea typeface="+mj-ea"/>
                  <a:cs typeface="+mj-cs"/>
                </a:rPr>
                <a:t>39</a:t>
              </a:r>
            </a:p>
          </p:txBody>
        </p:sp>
        <p:sp>
          <p:nvSpPr>
            <p:cNvPr id="4" name="TextBox 4"/>
            <p:cNvSpPr txBox="1"/>
            <p:nvPr/>
          </p:nvSpPr>
          <p:spPr>
            <a:xfrm>
              <a:off x="942594" y="151448"/>
              <a:ext cx="489524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模型风险管理的未来：</a:t>
              </a:r>
              <a:r>
                <a:rPr lang="zh-CN" sz="1950" b="1" dirty="0">
                  <a:solidFill>
                    <a:srgbClr val="AA1B00"/>
                  </a:solidFill>
                  <a:latin typeface="+mj-lt"/>
                  <a:ea typeface="+mj-ea"/>
                  <a:cs typeface="+mj-cs"/>
                </a:rPr>
                <a:t>升级路径</a:t>
              </a:r>
              <a:r>
                <a:rPr lang="zh-CN" sz="1950" b="1" dirty="0">
                  <a:solidFill>
                    <a:srgbClr val="1A1A1A"/>
                  </a:solidFill>
                  <a:latin typeface="+mj-lt"/>
                  <a:ea typeface="+mj-ea"/>
                  <a:cs typeface="+mj-cs"/>
                </a:rPr>
                <a:t>与挑战​</a:t>
              </a:r>
            </a:p>
          </p:txBody>
        </p:sp>
        <p:sp>
          <p:nvSpPr>
            <p:cNvPr id="5" name="Line 5"/>
            <p:cNvSpPr/>
            <p:nvPr/>
          </p:nvSpPr>
          <p:spPr>
            <a:xfrm>
              <a:off x="952500" y="533400"/>
              <a:ext cx="8686800" cy="9525"/>
            </a:xfrm>
            <a:custGeom>
              <a:avLst/>
              <a:gdLst/>
              <a:ahLst/>
              <a:cxnLst/>
              <a:rect l="l" t="t" r="r" b="b"/>
              <a:pathLst>
                <a:path w="8686800" h="9525">
                  <a:moveTo>
                    <a:pt x="0" y="0"/>
                  </a:moveTo>
                  <a:lnTo>
                    <a:pt x="8686800" y="0"/>
                  </a:lnTo>
                </a:path>
              </a:pathLst>
            </a:custGeom>
            <a:noFill/>
            <a:ln w="14288">
              <a:solidFill>
                <a:srgbClr val="D8482E"/>
              </a:solidFill>
            </a:ln>
          </p:spPr>
        </p:sp>
      </p:grpSp>
      <p:grpSp>
        <p:nvGrpSpPr>
          <p:cNvPr id="8" name="col-1"/>
          <p:cNvGrpSpPr/>
          <p:nvPr/>
        </p:nvGrpSpPr>
        <p:grpSpPr>
          <a:xfrm>
            <a:off x="566738" y="855345"/>
            <a:ext cx="2358390" cy="1262062"/>
            <a:chOff x="566738" y="855345"/>
            <a:chExt cx="2358390" cy="1262062"/>
          </a:xfrm>
        </p:grpSpPr>
        <p:sp>
          <p:nvSpPr>
            <p:cNvPr id="7" name="TextBox 7"/>
            <p:cNvSpPr txBox="1"/>
            <p:nvPr/>
          </p:nvSpPr>
          <p:spPr>
            <a:xfrm>
              <a:off x="566738" y="855345"/>
              <a:ext cx="2358390" cy="126206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近几年，模型风险管理受到银行越来越多的关​</a:t>
              </a:r>
              <a:br/>
              <a:r>
                <a:rPr lang="zh-CN" sz="900" dirty="0">
                  <a:solidFill>
                    <a:srgbClr val="333333"/>
                  </a:solidFill>
                  <a:latin typeface="+mn-lt"/>
                  <a:ea typeface="+mn-ea"/>
                  <a:cs typeface="+mn-cs"/>
                </a:rPr>
                <a:t>注。由于经济状况可能快速变化，银行必须持​</a:t>
              </a:r>
              <a:br/>
              <a:r>
                <a:rPr lang="zh-CN" sz="900" dirty="0">
                  <a:solidFill>
                    <a:srgbClr val="333333"/>
                  </a:solidFill>
                  <a:latin typeface="+mn-lt"/>
                  <a:ea typeface="+mn-ea"/>
                  <a:cs typeface="+mn-cs"/>
                </a:rPr>
                <a:t>续监控模型，以应对不断变化的模型条件并缓​</a:t>
              </a:r>
              <a:br/>
              <a:r>
                <a:rPr lang="zh-CN" sz="900" dirty="0">
                  <a:solidFill>
                    <a:srgbClr val="333333"/>
                  </a:solidFill>
                  <a:latin typeface="+mn-lt"/>
                  <a:ea typeface="+mn-ea"/>
                  <a:cs typeface="+mn-cs"/>
                </a:rPr>
                <a:t>释新出现的模型风险。正如引言中已提到的，​</a:t>
              </a:r>
              <a:br/>
              <a:r>
                <a:rPr lang="zh-CN" sz="900" dirty="0">
                  <a:solidFill>
                    <a:srgbClr val="333333"/>
                  </a:solidFill>
                  <a:latin typeface="+mn-lt"/>
                  <a:ea typeface="+mn-ea"/>
                  <a:cs typeface="+mn-cs"/>
                </a:rPr>
                <a:t>COVID-19疫情凸显了建立成熟的模型风险​</a:t>
              </a:r>
              <a:br/>
              <a:r>
                <a:rPr lang="zh-CN" sz="900" dirty="0">
                  <a:solidFill>
                    <a:srgbClr val="333333"/>
                  </a:solidFill>
                  <a:latin typeface="+mn-lt"/>
                  <a:ea typeface="+mn-ea"/>
                  <a:cs typeface="+mn-cs"/>
                </a:rPr>
                <a:t>管理框架以缓释模型风险并持续监控模型的重​</a:t>
              </a:r>
              <a:br/>
              <a:r>
                <a:rPr lang="zh-CN" sz="900" dirty="0">
                  <a:solidFill>
                    <a:srgbClr val="333333"/>
                  </a:solidFill>
                  <a:latin typeface="+mn-lt"/>
                  <a:ea typeface="+mn-ea"/>
                  <a:cs typeface="+mn-cs"/>
                </a:rPr>
                <a:t>要性。​</a:t>
              </a:r>
            </a:p>
          </p:txBody>
        </p:sp>
      </p:grpSp>
      <p:grpSp>
        <p:nvGrpSpPr>
          <p:cNvPr id="10" name="col-2"/>
          <p:cNvGrpSpPr/>
          <p:nvPr/>
        </p:nvGrpSpPr>
        <p:grpSpPr>
          <a:xfrm>
            <a:off x="3424238" y="855345"/>
            <a:ext cx="2358390" cy="1443038"/>
            <a:chOff x="3424238" y="855345"/>
            <a:chExt cx="2358390" cy="1443038"/>
          </a:xfrm>
        </p:grpSpPr>
        <p:sp>
          <p:nvSpPr>
            <p:cNvPr id="9" name="TextBox 9"/>
            <p:cNvSpPr txBox="1"/>
            <p:nvPr/>
          </p:nvSpPr>
          <p:spPr>
            <a:xfrm>
              <a:off x="3424238" y="855345"/>
              <a:ext cx="2358390" cy="1443038"/>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展望未来，银行表示有意在未来一到两年内在​</a:t>
              </a:r>
              <a:br/>
              <a:r>
                <a:rPr lang="zh-CN" sz="900" dirty="0">
                  <a:solidFill>
                    <a:srgbClr val="333333"/>
                  </a:solidFill>
                  <a:latin typeface="+mn-lt"/>
                  <a:ea typeface="+mn-ea"/>
                  <a:cs typeface="+mn-cs"/>
                </a:rPr>
                <a:t>诸多领域增强其模型风险管理框架。至少超过​</a:t>
              </a:r>
              <a:br/>
              <a:r>
                <a:rPr lang="zh-CN" sz="900" dirty="0">
                  <a:solidFill>
                    <a:srgbClr val="333333"/>
                  </a:solidFill>
                  <a:latin typeface="+mn-lt"/>
                  <a:ea typeface="+mn-ea"/>
                  <a:cs typeface="+mn-cs"/>
                </a:rPr>
                <a:t>半数的银行有意在以下领域加强框架：分析与​</a:t>
              </a:r>
              <a:br/>
              <a:r>
                <a:rPr lang="zh-CN" sz="900" dirty="0">
                  <a:solidFill>
                    <a:srgbClr val="333333"/>
                  </a:solidFill>
                  <a:latin typeface="+mn-lt"/>
                  <a:ea typeface="+mn-ea"/>
                  <a:cs typeface="+mn-cs"/>
                </a:rPr>
                <a:t>报告、范围扩展（将更多模型纳入模型风险管​</a:t>
              </a:r>
              <a:br/>
              <a:r>
                <a:rPr lang="zh-CN" sz="900" dirty="0">
                  <a:solidFill>
                    <a:srgbClr val="333333"/>
                  </a:solidFill>
                  <a:latin typeface="+mn-lt"/>
                  <a:ea typeface="+mn-ea"/>
                  <a:cs typeface="+mn-cs"/>
                </a:rPr>
                <a:t>理框架范围）、模型风险治理、模型风险政策​</a:t>
              </a:r>
              <a:br/>
              <a:r>
                <a:rPr lang="zh-CN" sz="900" dirty="0">
                  <a:solidFill>
                    <a:srgbClr val="333333"/>
                  </a:solidFill>
                  <a:latin typeface="+mn-lt"/>
                  <a:ea typeface="+mn-ea"/>
                  <a:cs typeface="+mn-cs"/>
                </a:rPr>
                <a:t>与标准以及流程标准化。其中，模型风险政策​</a:t>
              </a:r>
              <a:br/>
              <a:r>
                <a:rPr lang="zh-CN" sz="900" dirty="0">
                  <a:solidFill>
                    <a:srgbClr val="333333"/>
                  </a:solidFill>
                  <a:latin typeface="+mn-lt"/>
                  <a:ea typeface="+mn-ea"/>
                  <a:cs typeface="+mn-cs"/>
                </a:rPr>
                <a:t>与标准以及流程标准化被认为是最具挑战的改​</a:t>
              </a:r>
              <a:br/>
              <a:r>
                <a:rPr lang="zh-CN" sz="900" dirty="0">
                  <a:solidFill>
                    <a:srgbClr val="333333"/>
                  </a:solidFill>
                  <a:latin typeface="+mn-lt"/>
                  <a:ea typeface="+mn-ea"/>
                  <a:cs typeface="+mn-cs"/>
                </a:rPr>
                <a:t>进领域。​</a:t>
              </a:r>
            </a:p>
          </p:txBody>
        </p:sp>
      </p:grpSp>
      <p:grpSp>
        <p:nvGrpSpPr>
          <p:cNvPr id="12" name="col-3"/>
          <p:cNvGrpSpPr/>
          <p:nvPr/>
        </p:nvGrpSpPr>
        <p:grpSpPr>
          <a:xfrm>
            <a:off x="6281738" y="855345"/>
            <a:ext cx="2358390" cy="900112"/>
            <a:chOff x="6281738" y="855345"/>
            <a:chExt cx="2358390" cy="900112"/>
          </a:xfrm>
        </p:grpSpPr>
        <p:sp>
          <p:nvSpPr>
            <p:cNvPr id="11" name="TextBox 11"/>
            <p:cNvSpPr txBox="1"/>
            <p:nvPr/>
          </p:nvSpPr>
          <p:spPr>
            <a:xfrm>
              <a:off x="6281738" y="855345"/>
              <a:ext cx="2358390" cy="900112"/>
            </a:xfrm>
            <a:prstGeom prst="rect">
              <a:avLst/>
            </a:prstGeom>
            <a:noFill/>
            <a:ln>
              <a:noFill/>
            </a:ln>
          </p:spPr>
          <p:txBody>
            <a:bodyPr wrap="none" lIns="0" tIns="0" rIns="0" bIns="0" anchor="t" anchorCtr="0">
              <a:spAutoFit/>
            </a:bodyPr>
            <a:lstStyle/>
            <a:p>
              <a:pPr algn="l">
                <a:lnSpc>
                  <a:spcPts val="1425"/>
                </a:lnSpc>
              </a:pPr>
              <a:r>
                <a:rPr lang="zh-CN" sz="900" dirty="0">
                  <a:solidFill>
                    <a:srgbClr val="333333"/>
                  </a:solidFill>
                  <a:latin typeface="+mn-lt"/>
                  <a:ea typeface="+mn-ea"/>
                  <a:cs typeface="+mn-cs"/>
                </a:rPr>
                <a:t>调研结果指出，大多数银行仍认为在成熟并改​</a:t>
              </a:r>
              <a:br/>
              <a:r>
                <a:rPr lang="zh-CN" sz="900" dirty="0">
                  <a:solidFill>
                    <a:srgbClr val="333333"/>
                  </a:solidFill>
                  <a:latin typeface="+mn-lt"/>
                  <a:ea typeface="+mn-ea"/>
                  <a:cs typeface="+mn-cs"/>
                </a:rPr>
                <a:t>进其模型风险管理框架方面有许多领域可以着​</a:t>
              </a:r>
              <a:br/>
              <a:r>
                <a:rPr lang="zh-CN" sz="900" dirty="0">
                  <a:solidFill>
                    <a:srgbClr val="333333"/>
                  </a:solidFill>
                  <a:latin typeface="+mn-lt"/>
                  <a:ea typeface="+mn-ea"/>
                  <a:cs typeface="+mn-cs"/>
                </a:rPr>
                <a:t>手。成熟的模型风险管理框架能够提升银行内​</a:t>
              </a:r>
              <a:br/>
              <a:r>
                <a:rPr lang="zh-CN" sz="900" dirty="0">
                  <a:solidFill>
                    <a:srgbClr val="333333"/>
                  </a:solidFill>
                  <a:latin typeface="+mn-lt"/>
                  <a:ea typeface="+mn-ea"/>
                  <a:cs typeface="+mn-cs"/>
                </a:rPr>
                <a:t>部的模型风险意识，帮助银行应对不断增长的​</a:t>
              </a:r>
              <a:br/>
              <a:r>
                <a:rPr lang="zh-CN" sz="900" dirty="0">
                  <a:solidFill>
                    <a:srgbClr val="333333"/>
                  </a:solidFill>
                  <a:latin typeface="+mn-lt"/>
                  <a:ea typeface="+mn-ea"/>
                  <a:cs typeface="+mn-cs"/>
                </a:rPr>
                <a:t>模型版图，成为更负责任的企业。​</a:t>
              </a:r>
            </a:p>
          </p:txBody>
        </p:sp>
      </p:grpSp>
      <p:grpSp>
        <p:nvGrpSpPr>
          <p:cNvPr id="89" name="figure-46"/>
          <p:cNvGrpSpPr/>
          <p:nvPr/>
        </p:nvGrpSpPr>
        <p:grpSpPr>
          <a:xfrm>
            <a:off x="566738" y="2596991"/>
            <a:ext cx="8863012" cy="2861072"/>
            <a:chOff x="566738" y="2596991"/>
            <a:chExt cx="8863012" cy="2861072"/>
          </a:xfrm>
        </p:grpSpPr>
        <p:sp>
          <p:nvSpPr>
            <p:cNvPr id="13" name="TextBox 13"/>
            <p:cNvSpPr txBox="1"/>
            <p:nvPr/>
          </p:nvSpPr>
          <p:spPr>
            <a:xfrm>
              <a:off x="566738" y="2596991"/>
              <a:ext cx="2129258"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图46. 模型风险管理拟改进的领域与挑战​​</a:t>
              </a:r>
            </a:p>
          </p:txBody>
        </p:sp>
        <p:sp>
          <p:nvSpPr>
            <p:cNvPr id="14" name="TextBox 14"/>
            <p:cNvSpPr txBox="1"/>
            <p:nvPr/>
          </p:nvSpPr>
          <p:spPr>
            <a:xfrm>
              <a:off x="566738" y="2741057"/>
              <a:ext cx="3066714" cy="126206"/>
            </a:xfrm>
            <a:prstGeom prst="rect">
              <a:avLst/>
            </a:prstGeom>
            <a:noFill/>
            <a:ln>
              <a:noFill/>
            </a:ln>
          </p:spPr>
          <p:txBody>
            <a:bodyPr wrap="none" lIns="0" tIns="0" rIns="0" bIns="0" anchor="t" anchorCtr="0">
              <a:spAutoFit/>
            </a:bodyPr>
            <a:lstStyle/>
            <a:p>
              <a:pPr algn="l"/>
              <a:r>
                <a:rPr lang="en-US" sz="640" dirty="0">
                  <a:solidFill>
                    <a:srgbClr val="666666"/>
                  </a:solidFill>
                  <a:latin typeface="+mn-lt"/>
                  <a:ea typeface="+mn-ea"/>
                  <a:cs typeface="+mn-cs"/>
                </a:rPr>
                <a:t>Intended improvement areas and challenges for model risk management​​</a:t>
              </a:r>
            </a:p>
          </p:txBody>
        </p:sp>
        <p:sp>
          <p:nvSpPr>
            <p:cNvPr id="15" name="Line 15"/>
            <p:cNvSpPr/>
            <p:nvPr/>
          </p:nvSpPr>
          <p:spPr>
            <a:xfrm>
              <a:off x="952500" y="4905375"/>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16" name="TextBox 16"/>
            <p:cNvSpPr txBox="1"/>
            <p:nvPr/>
          </p:nvSpPr>
          <p:spPr>
            <a:xfrm>
              <a:off x="740722" y="4869894"/>
              <a:ext cx="168915"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0%​</a:t>
              </a:r>
            </a:p>
          </p:txBody>
        </p:sp>
        <p:sp>
          <p:nvSpPr>
            <p:cNvPr id="17" name="Line 17"/>
            <p:cNvSpPr/>
            <p:nvPr/>
          </p:nvSpPr>
          <p:spPr>
            <a:xfrm>
              <a:off x="952500" y="4603432"/>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18" name="TextBox 18"/>
            <p:cNvSpPr txBox="1"/>
            <p:nvPr/>
          </p:nvSpPr>
          <p:spPr>
            <a:xfrm>
              <a:off x="693336" y="4567952"/>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10%​</a:t>
              </a:r>
            </a:p>
          </p:txBody>
        </p:sp>
        <p:sp>
          <p:nvSpPr>
            <p:cNvPr id="19" name="Line 19"/>
            <p:cNvSpPr/>
            <p:nvPr/>
          </p:nvSpPr>
          <p:spPr>
            <a:xfrm>
              <a:off x="952500" y="4302442"/>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0" name="TextBox 20"/>
            <p:cNvSpPr txBox="1"/>
            <p:nvPr/>
          </p:nvSpPr>
          <p:spPr>
            <a:xfrm>
              <a:off x="693336" y="4266962"/>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20%​</a:t>
              </a:r>
            </a:p>
          </p:txBody>
        </p:sp>
        <p:sp>
          <p:nvSpPr>
            <p:cNvPr id="21" name="Line 21"/>
            <p:cNvSpPr/>
            <p:nvPr/>
          </p:nvSpPr>
          <p:spPr>
            <a:xfrm>
              <a:off x="952500" y="4000500"/>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2" name="TextBox 22"/>
            <p:cNvSpPr txBox="1"/>
            <p:nvPr/>
          </p:nvSpPr>
          <p:spPr>
            <a:xfrm>
              <a:off x="693336" y="3965019"/>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30%​</a:t>
              </a:r>
            </a:p>
          </p:txBody>
        </p:sp>
        <p:sp>
          <p:nvSpPr>
            <p:cNvPr id="23" name="Line 23"/>
            <p:cNvSpPr/>
            <p:nvPr/>
          </p:nvSpPr>
          <p:spPr>
            <a:xfrm>
              <a:off x="952500" y="3698558"/>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4" name="TextBox 24"/>
            <p:cNvSpPr txBox="1"/>
            <p:nvPr/>
          </p:nvSpPr>
          <p:spPr>
            <a:xfrm>
              <a:off x="693336" y="3663077"/>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40%​</a:t>
              </a:r>
            </a:p>
          </p:txBody>
        </p:sp>
        <p:sp>
          <p:nvSpPr>
            <p:cNvPr id="25" name="Line 25"/>
            <p:cNvSpPr/>
            <p:nvPr/>
          </p:nvSpPr>
          <p:spPr>
            <a:xfrm>
              <a:off x="952500" y="3397568"/>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6" name="TextBox 26"/>
            <p:cNvSpPr txBox="1"/>
            <p:nvPr/>
          </p:nvSpPr>
          <p:spPr>
            <a:xfrm>
              <a:off x="693336" y="3362087"/>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50%​</a:t>
              </a:r>
            </a:p>
          </p:txBody>
        </p:sp>
        <p:sp>
          <p:nvSpPr>
            <p:cNvPr id="27" name="Line 27"/>
            <p:cNvSpPr/>
            <p:nvPr/>
          </p:nvSpPr>
          <p:spPr>
            <a:xfrm>
              <a:off x="952500" y="3095625"/>
              <a:ext cx="8477250" cy="9525"/>
            </a:xfrm>
            <a:custGeom>
              <a:avLst/>
              <a:gdLst/>
              <a:ahLst/>
              <a:cxnLst/>
              <a:rect l="l" t="t" r="r" b="b"/>
              <a:pathLst>
                <a:path w="8477250" h="9525">
                  <a:moveTo>
                    <a:pt x="0" y="0"/>
                  </a:moveTo>
                  <a:lnTo>
                    <a:pt x="8477250" y="0"/>
                  </a:lnTo>
                </a:path>
              </a:pathLst>
            </a:custGeom>
            <a:noFill/>
            <a:ln w="7620">
              <a:solidFill>
                <a:srgbClr val="E6E6E6"/>
              </a:solidFill>
            </a:ln>
          </p:spPr>
        </p:sp>
        <p:sp>
          <p:nvSpPr>
            <p:cNvPr id="28" name="TextBox 28"/>
            <p:cNvSpPr txBox="1"/>
            <p:nvPr/>
          </p:nvSpPr>
          <p:spPr>
            <a:xfrm>
              <a:off x="693336" y="3060144"/>
              <a:ext cx="216301" cy="126206"/>
            </a:xfrm>
            <a:prstGeom prst="rect">
              <a:avLst/>
            </a:prstGeom>
            <a:noFill/>
            <a:ln>
              <a:noFill/>
            </a:ln>
          </p:spPr>
          <p:txBody>
            <a:bodyPr wrap="none" lIns="0" tIns="0" rIns="0" bIns="0" anchor="t" anchorCtr="0">
              <a:spAutoFit/>
            </a:bodyPr>
            <a:lstStyle/>
            <a:p>
              <a:pPr algn="r"/>
              <a:r>
                <a:rPr lang="zh-CN" sz="640" dirty="0">
                  <a:solidFill>
                    <a:srgbClr val="666666"/>
                  </a:solidFill>
                  <a:latin typeface="+mn-lt"/>
                  <a:ea typeface="+mn-ea"/>
                  <a:cs typeface="+mn-cs"/>
                </a:rPr>
                <a:t>60%​</a:t>
              </a:r>
            </a:p>
          </p:txBody>
        </p:sp>
        <p:sp>
          <p:nvSpPr>
            <p:cNvPr id="29" name="Rectangle 29"/>
            <p:cNvSpPr/>
            <p:nvPr/>
          </p:nvSpPr>
          <p:spPr>
            <a:xfrm>
              <a:off x="1090612" y="3246120"/>
              <a:ext cx="228600" cy="1659255"/>
            </a:xfrm>
            <a:prstGeom prst="rect">
              <a:avLst/>
            </a:prstGeom>
            <a:solidFill>
              <a:srgbClr val="D8482E"/>
            </a:solidFill>
            <a:ln>
              <a:noFill/>
            </a:ln>
          </p:spPr>
        </p:sp>
        <p:sp>
          <p:nvSpPr>
            <p:cNvPr id="30" name="TextBox 30"/>
            <p:cNvSpPr txBox="1"/>
            <p:nvPr/>
          </p:nvSpPr>
          <p:spPr>
            <a:xfrm>
              <a:off x="1096762" y="3148727"/>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55%​</a:t>
              </a:r>
            </a:p>
          </p:txBody>
        </p:sp>
        <p:sp>
          <p:nvSpPr>
            <p:cNvPr id="31" name="Rectangle 31"/>
            <p:cNvSpPr/>
            <p:nvPr/>
          </p:nvSpPr>
          <p:spPr>
            <a:xfrm>
              <a:off x="1357312" y="4603432"/>
              <a:ext cx="228600" cy="301942"/>
            </a:xfrm>
            <a:prstGeom prst="rect">
              <a:avLst/>
            </a:prstGeom>
            <a:solidFill>
              <a:srgbClr val="6B1100"/>
            </a:solidFill>
            <a:ln>
              <a:noFill/>
            </a:ln>
          </p:spPr>
        </p:sp>
        <p:sp>
          <p:nvSpPr>
            <p:cNvPr id="32" name="TextBox 32"/>
            <p:cNvSpPr txBox="1"/>
            <p:nvPr/>
          </p:nvSpPr>
          <p:spPr>
            <a:xfrm>
              <a:off x="1363462" y="450603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10%​</a:t>
              </a:r>
            </a:p>
          </p:txBody>
        </p:sp>
        <p:sp>
          <p:nvSpPr>
            <p:cNvPr id="33" name="TextBox 33"/>
            <p:cNvSpPr txBox="1"/>
            <p:nvPr/>
          </p:nvSpPr>
          <p:spPr>
            <a:xfrm>
              <a:off x="1160145" y="4964430"/>
              <a:ext cx="3562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模型风险​</a:t>
              </a:r>
              <a:br/>
              <a:r>
                <a:rPr lang="zh-CN" sz="600" dirty="0">
                  <a:solidFill>
                    <a:srgbClr val="666666"/>
                  </a:solidFill>
                  <a:latin typeface="+mn-lt"/>
                  <a:ea typeface="+mn-ea"/>
                  <a:cs typeface="+mn-cs"/>
                </a:rPr>
                <a:t>治理​</a:t>
              </a:r>
            </a:p>
          </p:txBody>
        </p:sp>
        <p:sp>
          <p:nvSpPr>
            <p:cNvPr id="34" name="Rectangle 34"/>
            <p:cNvSpPr/>
            <p:nvPr/>
          </p:nvSpPr>
          <p:spPr>
            <a:xfrm>
              <a:off x="1861185" y="3307080"/>
              <a:ext cx="228600" cy="1598295"/>
            </a:xfrm>
            <a:prstGeom prst="rect">
              <a:avLst/>
            </a:prstGeom>
            <a:solidFill>
              <a:srgbClr val="D8482E"/>
            </a:solidFill>
            <a:ln>
              <a:noFill/>
            </a:ln>
          </p:spPr>
        </p:sp>
        <p:sp>
          <p:nvSpPr>
            <p:cNvPr id="35" name="TextBox 35"/>
            <p:cNvSpPr txBox="1"/>
            <p:nvPr/>
          </p:nvSpPr>
          <p:spPr>
            <a:xfrm>
              <a:off x="1867334" y="3209687"/>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53%​</a:t>
              </a:r>
            </a:p>
          </p:txBody>
        </p:sp>
        <p:sp>
          <p:nvSpPr>
            <p:cNvPr id="36" name="Rectangle 36"/>
            <p:cNvSpPr/>
            <p:nvPr/>
          </p:nvSpPr>
          <p:spPr>
            <a:xfrm>
              <a:off x="2127885" y="4211955"/>
              <a:ext cx="228600" cy="693420"/>
            </a:xfrm>
            <a:prstGeom prst="rect">
              <a:avLst/>
            </a:prstGeom>
            <a:solidFill>
              <a:srgbClr val="6B1100"/>
            </a:solidFill>
            <a:ln>
              <a:noFill/>
            </a:ln>
          </p:spPr>
        </p:sp>
        <p:sp>
          <p:nvSpPr>
            <p:cNvPr id="37" name="TextBox 37"/>
            <p:cNvSpPr txBox="1"/>
            <p:nvPr/>
          </p:nvSpPr>
          <p:spPr>
            <a:xfrm>
              <a:off x="2134034" y="4114562"/>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23%​</a:t>
              </a:r>
            </a:p>
          </p:txBody>
        </p:sp>
        <p:sp>
          <p:nvSpPr>
            <p:cNvPr id="38" name="TextBox 38"/>
            <p:cNvSpPr txBox="1"/>
            <p:nvPr/>
          </p:nvSpPr>
          <p:spPr>
            <a:xfrm>
              <a:off x="1968818" y="4964430"/>
              <a:ext cx="2800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分析与​</a:t>
              </a:r>
              <a:br/>
              <a:r>
                <a:rPr lang="zh-CN" sz="600" dirty="0">
                  <a:solidFill>
                    <a:srgbClr val="666666"/>
                  </a:solidFill>
                  <a:latin typeface="+mn-lt"/>
                  <a:ea typeface="+mn-ea"/>
                  <a:cs typeface="+mn-cs"/>
                </a:rPr>
                <a:t>报告​</a:t>
              </a:r>
            </a:p>
          </p:txBody>
        </p:sp>
        <p:sp>
          <p:nvSpPr>
            <p:cNvPr id="39" name="Rectangle 39"/>
            <p:cNvSpPr/>
            <p:nvPr/>
          </p:nvSpPr>
          <p:spPr>
            <a:xfrm>
              <a:off x="2631758" y="3307080"/>
              <a:ext cx="228600" cy="1598295"/>
            </a:xfrm>
            <a:prstGeom prst="rect">
              <a:avLst/>
            </a:prstGeom>
            <a:solidFill>
              <a:srgbClr val="D8482E"/>
            </a:solidFill>
            <a:ln>
              <a:noFill/>
            </a:ln>
          </p:spPr>
        </p:sp>
        <p:sp>
          <p:nvSpPr>
            <p:cNvPr id="40" name="TextBox 40"/>
            <p:cNvSpPr txBox="1"/>
            <p:nvPr/>
          </p:nvSpPr>
          <p:spPr>
            <a:xfrm>
              <a:off x="2637907" y="3209687"/>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53%​</a:t>
              </a:r>
            </a:p>
          </p:txBody>
        </p:sp>
        <p:sp>
          <p:nvSpPr>
            <p:cNvPr id="41" name="Rectangle 41"/>
            <p:cNvSpPr/>
            <p:nvPr/>
          </p:nvSpPr>
          <p:spPr>
            <a:xfrm>
              <a:off x="2898458" y="3910012"/>
              <a:ext cx="228600" cy="995362"/>
            </a:xfrm>
            <a:prstGeom prst="rect">
              <a:avLst/>
            </a:prstGeom>
            <a:solidFill>
              <a:srgbClr val="6B1100"/>
            </a:solidFill>
            <a:ln>
              <a:noFill/>
            </a:ln>
          </p:spPr>
        </p:sp>
        <p:sp>
          <p:nvSpPr>
            <p:cNvPr id="42" name="TextBox 42"/>
            <p:cNvSpPr txBox="1"/>
            <p:nvPr/>
          </p:nvSpPr>
          <p:spPr>
            <a:xfrm>
              <a:off x="2904607" y="381261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33%​</a:t>
              </a:r>
            </a:p>
          </p:txBody>
        </p:sp>
        <p:sp>
          <p:nvSpPr>
            <p:cNvPr id="43" name="TextBox 43"/>
            <p:cNvSpPr txBox="1"/>
            <p:nvPr/>
          </p:nvSpPr>
          <p:spPr>
            <a:xfrm>
              <a:off x="2548890" y="4964430"/>
              <a:ext cx="6610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模型识别与模型​</a:t>
              </a:r>
              <a:br/>
              <a:r>
                <a:rPr lang="zh-CN" sz="600" dirty="0">
                  <a:solidFill>
                    <a:srgbClr val="666666"/>
                  </a:solidFill>
                  <a:latin typeface="+mn-lt"/>
                  <a:ea typeface="+mn-ea"/>
                  <a:cs typeface="+mn-cs"/>
                </a:rPr>
                <a:t>风险管理框架范围​</a:t>
              </a:r>
            </a:p>
          </p:txBody>
        </p:sp>
        <p:sp>
          <p:nvSpPr>
            <p:cNvPr id="44" name="Rectangle 44"/>
            <p:cNvSpPr/>
            <p:nvPr/>
          </p:nvSpPr>
          <p:spPr>
            <a:xfrm>
              <a:off x="3402330" y="3427095"/>
              <a:ext cx="228600" cy="1478280"/>
            </a:xfrm>
            <a:prstGeom prst="rect">
              <a:avLst/>
            </a:prstGeom>
            <a:solidFill>
              <a:srgbClr val="D8482E"/>
            </a:solidFill>
            <a:ln>
              <a:noFill/>
            </a:ln>
          </p:spPr>
        </p:sp>
        <p:sp>
          <p:nvSpPr>
            <p:cNvPr id="45" name="TextBox 45"/>
            <p:cNvSpPr txBox="1"/>
            <p:nvPr/>
          </p:nvSpPr>
          <p:spPr>
            <a:xfrm>
              <a:off x="3408479" y="3329702"/>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49%​</a:t>
              </a:r>
            </a:p>
          </p:txBody>
        </p:sp>
        <p:sp>
          <p:nvSpPr>
            <p:cNvPr id="46" name="Rectangle 46"/>
            <p:cNvSpPr/>
            <p:nvPr/>
          </p:nvSpPr>
          <p:spPr>
            <a:xfrm>
              <a:off x="3669030" y="3940492"/>
              <a:ext cx="228600" cy="964882"/>
            </a:xfrm>
            <a:prstGeom prst="rect">
              <a:avLst/>
            </a:prstGeom>
            <a:solidFill>
              <a:srgbClr val="6B1100"/>
            </a:solidFill>
            <a:ln>
              <a:noFill/>
            </a:ln>
          </p:spPr>
        </p:sp>
        <p:sp>
          <p:nvSpPr>
            <p:cNvPr id="47" name="TextBox 47"/>
            <p:cNvSpPr txBox="1"/>
            <p:nvPr/>
          </p:nvSpPr>
          <p:spPr>
            <a:xfrm>
              <a:off x="3675179" y="384309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32%​</a:t>
              </a:r>
            </a:p>
          </p:txBody>
        </p:sp>
        <p:sp>
          <p:nvSpPr>
            <p:cNvPr id="48" name="TextBox 48"/>
            <p:cNvSpPr txBox="1"/>
            <p:nvPr/>
          </p:nvSpPr>
          <p:spPr>
            <a:xfrm>
              <a:off x="3509962" y="4964430"/>
              <a:ext cx="2800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流程​</a:t>
              </a:r>
              <a:br/>
              <a:r>
                <a:rPr lang="zh-CN" sz="600" dirty="0">
                  <a:solidFill>
                    <a:srgbClr val="666666"/>
                  </a:solidFill>
                  <a:latin typeface="+mn-lt"/>
                  <a:ea typeface="+mn-ea"/>
                  <a:cs typeface="+mn-cs"/>
                </a:rPr>
                <a:t>标准化​</a:t>
              </a:r>
            </a:p>
          </p:txBody>
        </p:sp>
        <p:sp>
          <p:nvSpPr>
            <p:cNvPr id="49" name="Rectangle 49"/>
            <p:cNvSpPr/>
            <p:nvPr/>
          </p:nvSpPr>
          <p:spPr>
            <a:xfrm>
              <a:off x="4172902" y="3427095"/>
              <a:ext cx="228600" cy="1478280"/>
            </a:xfrm>
            <a:prstGeom prst="rect">
              <a:avLst/>
            </a:prstGeom>
            <a:solidFill>
              <a:srgbClr val="D8482E"/>
            </a:solidFill>
            <a:ln>
              <a:noFill/>
            </a:ln>
          </p:spPr>
        </p:sp>
        <p:sp>
          <p:nvSpPr>
            <p:cNvPr id="50" name="TextBox 50"/>
            <p:cNvSpPr txBox="1"/>
            <p:nvPr/>
          </p:nvSpPr>
          <p:spPr>
            <a:xfrm>
              <a:off x="4179052" y="3329702"/>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49%​</a:t>
              </a:r>
            </a:p>
          </p:txBody>
        </p:sp>
        <p:sp>
          <p:nvSpPr>
            <p:cNvPr id="51" name="Rectangle 51"/>
            <p:cNvSpPr/>
            <p:nvPr/>
          </p:nvSpPr>
          <p:spPr>
            <a:xfrm>
              <a:off x="4439602" y="3879532"/>
              <a:ext cx="228600" cy="1025842"/>
            </a:xfrm>
            <a:prstGeom prst="rect">
              <a:avLst/>
            </a:prstGeom>
            <a:solidFill>
              <a:srgbClr val="6B1100"/>
            </a:solidFill>
            <a:ln>
              <a:noFill/>
            </a:ln>
          </p:spPr>
        </p:sp>
        <p:sp>
          <p:nvSpPr>
            <p:cNvPr id="52" name="TextBox 52"/>
            <p:cNvSpPr txBox="1"/>
            <p:nvPr/>
          </p:nvSpPr>
          <p:spPr>
            <a:xfrm>
              <a:off x="4445752" y="378213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34%​</a:t>
              </a:r>
            </a:p>
          </p:txBody>
        </p:sp>
        <p:sp>
          <p:nvSpPr>
            <p:cNvPr id="53" name="TextBox 53"/>
            <p:cNvSpPr txBox="1"/>
            <p:nvPr/>
          </p:nvSpPr>
          <p:spPr>
            <a:xfrm>
              <a:off x="4232034" y="4964430"/>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模型监控​</a:t>
              </a:r>
            </a:p>
          </p:txBody>
        </p:sp>
        <p:sp>
          <p:nvSpPr>
            <p:cNvPr id="54" name="Rectangle 54"/>
            <p:cNvSpPr/>
            <p:nvPr/>
          </p:nvSpPr>
          <p:spPr>
            <a:xfrm>
              <a:off x="4943475" y="3548062"/>
              <a:ext cx="228600" cy="1357312"/>
            </a:xfrm>
            <a:prstGeom prst="rect">
              <a:avLst/>
            </a:prstGeom>
            <a:solidFill>
              <a:srgbClr val="D8482E"/>
            </a:solidFill>
            <a:ln>
              <a:noFill/>
            </a:ln>
          </p:spPr>
        </p:sp>
        <p:sp>
          <p:nvSpPr>
            <p:cNvPr id="55" name="TextBox 55"/>
            <p:cNvSpPr txBox="1"/>
            <p:nvPr/>
          </p:nvSpPr>
          <p:spPr>
            <a:xfrm>
              <a:off x="4949624" y="345066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45%​</a:t>
              </a:r>
            </a:p>
          </p:txBody>
        </p:sp>
        <p:sp>
          <p:nvSpPr>
            <p:cNvPr id="56" name="Rectangle 56"/>
            <p:cNvSpPr/>
            <p:nvPr/>
          </p:nvSpPr>
          <p:spPr>
            <a:xfrm>
              <a:off x="5210175" y="4664392"/>
              <a:ext cx="228600" cy="240982"/>
            </a:xfrm>
            <a:prstGeom prst="rect">
              <a:avLst/>
            </a:prstGeom>
            <a:solidFill>
              <a:srgbClr val="6B1100"/>
            </a:solidFill>
            <a:ln>
              <a:noFill/>
            </a:ln>
          </p:spPr>
        </p:sp>
        <p:sp>
          <p:nvSpPr>
            <p:cNvPr id="57" name="TextBox 57"/>
            <p:cNvSpPr txBox="1"/>
            <p:nvPr/>
          </p:nvSpPr>
          <p:spPr>
            <a:xfrm>
              <a:off x="5240017" y="4566999"/>
              <a:ext cx="168915"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8%​</a:t>
              </a:r>
            </a:p>
          </p:txBody>
        </p:sp>
        <p:sp>
          <p:nvSpPr>
            <p:cNvPr id="58" name="TextBox 58"/>
            <p:cNvSpPr txBox="1"/>
            <p:nvPr/>
          </p:nvSpPr>
          <p:spPr>
            <a:xfrm>
              <a:off x="5013008" y="4964430"/>
              <a:ext cx="3562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模型生命​</a:t>
              </a:r>
              <a:br/>
              <a:r>
                <a:rPr lang="zh-CN" sz="600" dirty="0">
                  <a:solidFill>
                    <a:srgbClr val="666666"/>
                  </a:solidFill>
                  <a:latin typeface="+mn-lt"/>
                  <a:ea typeface="+mn-ea"/>
                  <a:cs typeface="+mn-cs"/>
                </a:rPr>
                <a:t>周期管理​</a:t>
              </a:r>
            </a:p>
          </p:txBody>
        </p:sp>
        <p:sp>
          <p:nvSpPr>
            <p:cNvPr id="59" name="Rectangle 59"/>
            <p:cNvSpPr/>
            <p:nvPr/>
          </p:nvSpPr>
          <p:spPr>
            <a:xfrm>
              <a:off x="5714048" y="3578542"/>
              <a:ext cx="228600" cy="1326832"/>
            </a:xfrm>
            <a:prstGeom prst="rect">
              <a:avLst/>
            </a:prstGeom>
            <a:solidFill>
              <a:srgbClr val="D8482E"/>
            </a:solidFill>
            <a:ln>
              <a:noFill/>
            </a:ln>
          </p:spPr>
        </p:sp>
        <p:sp>
          <p:nvSpPr>
            <p:cNvPr id="60" name="TextBox 60"/>
            <p:cNvSpPr txBox="1"/>
            <p:nvPr/>
          </p:nvSpPr>
          <p:spPr>
            <a:xfrm>
              <a:off x="5720197" y="348114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44%​</a:t>
              </a:r>
            </a:p>
          </p:txBody>
        </p:sp>
        <p:sp>
          <p:nvSpPr>
            <p:cNvPr id="61" name="Rectangle 61"/>
            <p:cNvSpPr/>
            <p:nvPr/>
          </p:nvSpPr>
          <p:spPr>
            <a:xfrm>
              <a:off x="5980748" y="4271962"/>
              <a:ext cx="228600" cy="633412"/>
            </a:xfrm>
            <a:prstGeom prst="rect">
              <a:avLst/>
            </a:prstGeom>
            <a:solidFill>
              <a:srgbClr val="6B1100"/>
            </a:solidFill>
            <a:ln>
              <a:noFill/>
            </a:ln>
          </p:spPr>
        </p:sp>
        <p:sp>
          <p:nvSpPr>
            <p:cNvPr id="62" name="TextBox 62"/>
            <p:cNvSpPr txBox="1"/>
            <p:nvPr/>
          </p:nvSpPr>
          <p:spPr>
            <a:xfrm>
              <a:off x="5986897" y="417456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21%​</a:t>
              </a:r>
            </a:p>
          </p:txBody>
        </p:sp>
        <p:sp>
          <p:nvSpPr>
            <p:cNvPr id="63" name="TextBox 63"/>
            <p:cNvSpPr txBox="1"/>
            <p:nvPr/>
          </p:nvSpPr>
          <p:spPr>
            <a:xfrm>
              <a:off x="5773179" y="4964430"/>
              <a:ext cx="377038" cy="119062"/>
            </a:xfrm>
            <a:prstGeom prst="rect">
              <a:avLst/>
            </a:prstGeom>
            <a:noFill/>
            <a:ln>
              <a:noFill/>
            </a:ln>
          </p:spPr>
          <p:txBody>
            <a:bodyPr wrap="none" lIns="0" tIns="0" rIns="0" bIns="0" anchor="t" anchorCtr="0">
              <a:spAutoFit/>
            </a:bodyPr>
            <a:lstStyle/>
            <a:p>
              <a:pPr algn="ctr"/>
              <a:r>
                <a:rPr lang="zh-CN" sz="600" dirty="0">
                  <a:solidFill>
                    <a:srgbClr val="666666"/>
                  </a:solidFill>
                  <a:latin typeface="+mn-lt"/>
                  <a:ea typeface="+mn-ea"/>
                  <a:cs typeface="+mn-cs"/>
                </a:rPr>
                <a:t>模型清单​</a:t>
              </a:r>
            </a:p>
          </p:txBody>
        </p:sp>
        <p:sp>
          <p:nvSpPr>
            <p:cNvPr id="64" name="Rectangle 64"/>
            <p:cNvSpPr/>
            <p:nvPr/>
          </p:nvSpPr>
          <p:spPr>
            <a:xfrm>
              <a:off x="6484620" y="3698558"/>
              <a:ext cx="228600" cy="1206818"/>
            </a:xfrm>
            <a:prstGeom prst="rect">
              <a:avLst/>
            </a:prstGeom>
            <a:solidFill>
              <a:srgbClr val="D8482E"/>
            </a:solidFill>
            <a:ln>
              <a:noFill/>
            </a:ln>
          </p:spPr>
        </p:sp>
        <p:sp>
          <p:nvSpPr>
            <p:cNvPr id="65" name="TextBox 65"/>
            <p:cNvSpPr txBox="1"/>
            <p:nvPr/>
          </p:nvSpPr>
          <p:spPr>
            <a:xfrm>
              <a:off x="6490769" y="3601164"/>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40%​</a:t>
              </a:r>
            </a:p>
          </p:txBody>
        </p:sp>
        <p:sp>
          <p:nvSpPr>
            <p:cNvPr id="66" name="Rectangle 66"/>
            <p:cNvSpPr/>
            <p:nvPr/>
          </p:nvSpPr>
          <p:spPr>
            <a:xfrm>
              <a:off x="6751320" y="4483418"/>
              <a:ext cx="228600" cy="421958"/>
            </a:xfrm>
            <a:prstGeom prst="rect">
              <a:avLst/>
            </a:prstGeom>
            <a:solidFill>
              <a:srgbClr val="6B1100"/>
            </a:solidFill>
            <a:ln>
              <a:noFill/>
            </a:ln>
          </p:spPr>
        </p:sp>
        <p:sp>
          <p:nvSpPr>
            <p:cNvPr id="67" name="TextBox 67"/>
            <p:cNvSpPr txBox="1"/>
            <p:nvPr/>
          </p:nvSpPr>
          <p:spPr>
            <a:xfrm>
              <a:off x="6757469" y="4386024"/>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14%​</a:t>
              </a:r>
            </a:p>
          </p:txBody>
        </p:sp>
        <p:sp>
          <p:nvSpPr>
            <p:cNvPr id="68" name="TextBox 68"/>
            <p:cNvSpPr txBox="1"/>
            <p:nvPr/>
          </p:nvSpPr>
          <p:spPr>
            <a:xfrm>
              <a:off x="6554152" y="4964430"/>
              <a:ext cx="3562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工作流与​</a:t>
              </a:r>
              <a:br/>
              <a:r>
                <a:rPr lang="zh-CN" sz="600" dirty="0">
                  <a:solidFill>
                    <a:srgbClr val="666666"/>
                  </a:solidFill>
                  <a:latin typeface="+mn-lt"/>
                  <a:ea typeface="+mn-ea"/>
                  <a:cs typeface="+mn-cs"/>
                </a:rPr>
                <a:t>资源规划​</a:t>
              </a:r>
            </a:p>
          </p:txBody>
        </p:sp>
        <p:sp>
          <p:nvSpPr>
            <p:cNvPr id="69" name="Rectangle 69"/>
            <p:cNvSpPr/>
            <p:nvPr/>
          </p:nvSpPr>
          <p:spPr>
            <a:xfrm>
              <a:off x="7255192" y="3819525"/>
              <a:ext cx="228600" cy="1085850"/>
            </a:xfrm>
            <a:prstGeom prst="rect">
              <a:avLst/>
            </a:prstGeom>
            <a:solidFill>
              <a:srgbClr val="D8482E"/>
            </a:solidFill>
            <a:ln>
              <a:noFill/>
            </a:ln>
          </p:spPr>
        </p:sp>
        <p:sp>
          <p:nvSpPr>
            <p:cNvPr id="70" name="TextBox 70"/>
            <p:cNvSpPr txBox="1"/>
            <p:nvPr/>
          </p:nvSpPr>
          <p:spPr>
            <a:xfrm>
              <a:off x="7261342" y="3722132"/>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36%​</a:t>
              </a:r>
            </a:p>
          </p:txBody>
        </p:sp>
        <p:sp>
          <p:nvSpPr>
            <p:cNvPr id="71" name="Rectangle 71"/>
            <p:cNvSpPr/>
            <p:nvPr/>
          </p:nvSpPr>
          <p:spPr>
            <a:xfrm>
              <a:off x="7521892" y="4241482"/>
              <a:ext cx="228600" cy="663892"/>
            </a:xfrm>
            <a:prstGeom prst="rect">
              <a:avLst/>
            </a:prstGeom>
            <a:solidFill>
              <a:srgbClr val="6B1100"/>
            </a:solidFill>
            <a:ln>
              <a:noFill/>
            </a:ln>
          </p:spPr>
        </p:sp>
        <p:sp>
          <p:nvSpPr>
            <p:cNvPr id="72" name="TextBox 72"/>
            <p:cNvSpPr txBox="1"/>
            <p:nvPr/>
          </p:nvSpPr>
          <p:spPr>
            <a:xfrm>
              <a:off x="7528042" y="414408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22%​</a:t>
              </a:r>
            </a:p>
          </p:txBody>
        </p:sp>
        <p:sp>
          <p:nvSpPr>
            <p:cNvPr id="73" name="TextBox 73"/>
            <p:cNvSpPr txBox="1"/>
            <p:nvPr/>
          </p:nvSpPr>
          <p:spPr>
            <a:xfrm>
              <a:off x="7172325" y="4964430"/>
              <a:ext cx="6610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范围扩展​</a:t>
              </a:r>
              <a:br/>
              <a:r>
                <a:rPr lang="zh-CN" sz="600" dirty="0">
                  <a:solidFill>
                    <a:srgbClr val="666666"/>
                  </a:solidFill>
                  <a:latin typeface="+mn-lt"/>
                  <a:ea typeface="+mn-ea"/>
                  <a:cs typeface="+mn-cs"/>
                </a:rPr>
                <a:t>（纳入更多模型）​</a:t>
              </a:r>
            </a:p>
          </p:txBody>
        </p:sp>
        <p:sp>
          <p:nvSpPr>
            <p:cNvPr id="74" name="Rectangle 74"/>
            <p:cNvSpPr/>
            <p:nvPr/>
          </p:nvSpPr>
          <p:spPr>
            <a:xfrm>
              <a:off x="8025765" y="3910012"/>
              <a:ext cx="228600" cy="995362"/>
            </a:xfrm>
            <a:prstGeom prst="rect">
              <a:avLst/>
            </a:prstGeom>
            <a:solidFill>
              <a:srgbClr val="D8482E"/>
            </a:solidFill>
            <a:ln>
              <a:noFill/>
            </a:ln>
          </p:spPr>
        </p:sp>
        <p:sp>
          <p:nvSpPr>
            <p:cNvPr id="75" name="TextBox 75"/>
            <p:cNvSpPr txBox="1"/>
            <p:nvPr/>
          </p:nvSpPr>
          <p:spPr>
            <a:xfrm>
              <a:off x="8031914" y="381261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33%​</a:t>
              </a:r>
            </a:p>
          </p:txBody>
        </p:sp>
        <p:sp>
          <p:nvSpPr>
            <p:cNvPr id="76" name="Rectangle 76"/>
            <p:cNvSpPr/>
            <p:nvPr/>
          </p:nvSpPr>
          <p:spPr>
            <a:xfrm>
              <a:off x="8292465" y="3910012"/>
              <a:ext cx="228600" cy="995362"/>
            </a:xfrm>
            <a:prstGeom prst="rect">
              <a:avLst/>
            </a:prstGeom>
            <a:solidFill>
              <a:srgbClr val="6B1100"/>
            </a:solidFill>
            <a:ln>
              <a:noFill/>
            </a:ln>
          </p:spPr>
        </p:sp>
        <p:sp>
          <p:nvSpPr>
            <p:cNvPr id="77" name="TextBox 77"/>
            <p:cNvSpPr txBox="1"/>
            <p:nvPr/>
          </p:nvSpPr>
          <p:spPr>
            <a:xfrm>
              <a:off x="8298614" y="3812619"/>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33%​</a:t>
              </a:r>
            </a:p>
          </p:txBody>
        </p:sp>
        <p:sp>
          <p:nvSpPr>
            <p:cNvPr id="78" name="TextBox 78"/>
            <p:cNvSpPr txBox="1"/>
            <p:nvPr/>
          </p:nvSpPr>
          <p:spPr>
            <a:xfrm>
              <a:off x="8057198" y="4964430"/>
              <a:ext cx="4324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模型风险​</a:t>
              </a:r>
              <a:br/>
              <a:r>
                <a:rPr lang="zh-CN" sz="600" dirty="0">
                  <a:solidFill>
                    <a:srgbClr val="666666"/>
                  </a:solidFill>
                  <a:latin typeface="+mn-lt"/>
                  <a:ea typeface="+mn-ea"/>
                  <a:cs typeface="+mn-cs"/>
                </a:rPr>
                <a:t>政策与标准​</a:t>
              </a:r>
            </a:p>
          </p:txBody>
        </p:sp>
        <p:sp>
          <p:nvSpPr>
            <p:cNvPr id="79" name="Rectangle 79"/>
            <p:cNvSpPr/>
            <p:nvPr/>
          </p:nvSpPr>
          <p:spPr>
            <a:xfrm>
              <a:off x="8796338" y="4000500"/>
              <a:ext cx="228600" cy="904875"/>
            </a:xfrm>
            <a:prstGeom prst="rect">
              <a:avLst/>
            </a:prstGeom>
            <a:solidFill>
              <a:srgbClr val="D8482E"/>
            </a:solidFill>
            <a:ln>
              <a:noFill/>
            </a:ln>
          </p:spPr>
        </p:sp>
        <p:sp>
          <p:nvSpPr>
            <p:cNvPr id="80" name="TextBox 80"/>
            <p:cNvSpPr txBox="1"/>
            <p:nvPr/>
          </p:nvSpPr>
          <p:spPr>
            <a:xfrm>
              <a:off x="8802487" y="3903107"/>
              <a:ext cx="216301"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30%​</a:t>
              </a:r>
            </a:p>
          </p:txBody>
        </p:sp>
        <p:sp>
          <p:nvSpPr>
            <p:cNvPr id="81" name="Rectangle 81"/>
            <p:cNvSpPr/>
            <p:nvPr/>
          </p:nvSpPr>
          <p:spPr>
            <a:xfrm>
              <a:off x="9063038" y="4664392"/>
              <a:ext cx="228600" cy="240982"/>
            </a:xfrm>
            <a:prstGeom prst="rect">
              <a:avLst/>
            </a:prstGeom>
            <a:solidFill>
              <a:srgbClr val="6B1100"/>
            </a:solidFill>
            <a:ln>
              <a:noFill/>
            </a:ln>
          </p:spPr>
        </p:sp>
        <p:sp>
          <p:nvSpPr>
            <p:cNvPr id="82" name="TextBox 82"/>
            <p:cNvSpPr txBox="1"/>
            <p:nvPr/>
          </p:nvSpPr>
          <p:spPr>
            <a:xfrm>
              <a:off x="9092880" y="4566999"/>
              <a:ext cx="168915" cy="126206"/>
            </a:xfrm>
            <a:prstGeom prst="rect">
              <a:avLst/>
            </a:prstGeom>
            <a:noFill/>
            <a:ln>
              <a:noFill/>
            </a:ln>
          </p:spPr>
          <p:txBody>
            <a:bodyPr wrap="none" lIns="0" tIns="0" rIns="0" bIns="0" anchor="t" anchorCtr="0">
              <a:spAutoFit/>
            </a:bodyPr>
            <a:lstStyle/>
            <a:p>
              <a:pPr algn="ctr"/>
              <a:r>
                <a:rPr lang="zh-CN" sz="640" dirty="0">
                  <a:solidFill>
                    <a:srgbClr val="1A1A1A"/>
                  </a:solidFill>
                  <a:latin typeface="+mn-lt"/>
                  <a:ea typeface="+mn-ea"/>
                  <a:cs typeface="+mn-cs"/>
                </a:rPr>
                <a:t>8%​</a:t>
              </a:r>
            </a:p>
          </p:txBody>
        </p:sp>
        <p:sp>
          <p:nvSpPr>
            <p:cNvPr id="83" name="TextBox 83"/>
            <p:cNvSpPr txBox="1"/>
            <p:nvPr/>
          </p:nvSpPr>
          <p:spPr>
            <a:xfrm>
              <a:off x="8903970" y="4964430"/>
              <a:ext cx="280035" cy="223838"/>
            </a:xfrm>
            <a:prstGeom prst="rect">
              <a:avLst/>
            </a:prstGeom>
            <a:noFill/>
            <a:ln>
              <a:noFill/>
            </a:ln>
          </p:spPr>
          <p:txBody>
            <a:bodyPr wrap="none" lIns="0" tIns="0" rIns="0" bIns="0" anchor="t" anchorCtr="0">
              <a:spAutoFit/>
            </a:bodyPr>
            <a:lstStyle/>
            <a:p>
              <a:pPr algn="ctr">
                <a:lnSpc>
                  <a:spcPts val="825"/>
                </a:lnSpc>
              </a:pPr>
              <a:r>
                <a:rPr lang="zh-CN" sz="600" dirty="0">
                  <a:solidFill>
                    <a:srgbClr val="666666"/>
                  </a:solidFill>
                  <a:latin typeface="+mn-lt"/>
                  <a:ea typeface="+mn-ea"/>
                  <a:cs typeface="+mn-cs"/>
                </a:rPr>
                <a:t>流程与​</a:t>
              </a:r>
              <a:br/>
              <a:r>
                <a:rPr lang="zh-CN" sz="600" dirty="0">
                  <a:solidFill>
                    <a:srgbClr val="666666"/>
                  </a:solidFill>
                  <a:latin typeface="+mn-lt"/>
                  <a:ea typeface="+mn-ea"/>
                  <a:cs typeface="+mn-cs"/>
                </a:rPr>
                <a:t>审批​</a:t>
              </a:r>
            </a:p>
          </p:txBody>
        </p:sp>
        <p:sp>
          <p:nvSpPr>
            <p:cNvPr id="84" name="Line 84"/>
            <p:cNvSpPr/>
            <p:nvPr/>
          </p:nvSpPr>
          <p:spPr>
            <a:xfrm>
              <a:off x="952500" y="4905375"/>
              <a:ext cx="8477250" cy="9525"/>
            </a:xfrm>
            <a:custGeom>
              <a:avLst/>
              <a:gdLst/>
              <a:ahLst/>
              <a:cxnLst/>
              <a:rect l="l" t="t" r="r" b="b"/>
              <a:pathLst>
                <a:path w="8477250" h="9525">
                  <a:moveTo>
                    <a:pt x="0" y="0"/>
                  </a:moveTo>
                  <a:lnTo>
                    <a:pt x="8477250" y="0"/>
                  </a:lnTo>
                </a:path>
              </a:pathLst>
            </a:custGeom>
            <a:noFill/>
            <a:ln w="9525">
              <a:solidFill>
                <a:srgbClr val="666666"/>
              </a:solidFill>
            </a:ln>
          </p:spPr>
        </p:sp>
        <p:sp>
          <p:nvSpPr>
            <p:cNvPr id="85" name="Rectangle 85"/>
            <p:cNvSpPr/>
            <p:nvPr/>
          </p:nvSpPr>
          <p:spPr>
            <a:xfrm>
              <a:off x="952500" y="5314950"/>
              <a:ext cx="95250" cy="95250"/>
            </a:xfrm>
            <a:prstGeom prst="rect">
              <a:avLst/>
            </a:prstGeom>
            <a:solidFill>
              <a:srgbClr val="D8482E"/>
            </a:solidFill>
            <a:ln>
              <a:noFill/>
            </a:ln>
          </p:spPr>
        </p:sp>
        <p:sp>
          <p:nvSpPr>
            <p:cNvPr id="86" name="TextBox 86"/>
            <p:cNvSpPr txBox="1"/>
            <p:nvPr/>
          </p:nvSpPr>
          <p:spPr>
            <a:xfrm>
              <a:off x="1090612" y="5331857"/>
              <a:ext cx="2493848"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模型风险管理框架的拟改进领域Intended improvement areas​​</a:t>
              </a:r>
            </a:p>
          </p:txBody>
        </p:sp>
        <p:sp>
          <p:nvSpPr>
            <p:cNvPr id="87" name="Rectangle 87"/>
            <p:cNvSpPr/>
            <p:nvPr/>
          </p:nvSpPr>
          <p:spPr>
            <a:xfrm>
              <a:off x="3663267" y="5314950"/>
              <a:ext cx="95250" cy="95250"/>
            </a:xfrm>
            <a:prstGeom prst="rect">
              <a:avLst/>
            </a:prstGeom>
            <a:solidFill>
              <a:srgbClr val="6B1100"/>
            </a:solidFill>
            <a:ln>
              <a:noFill/>
            </a:ln>
          </p:spPr>
        </p:sp>
        <p:sp>
          <p:nvSpPr>
            <p:cNvPr id="88" name="TextBox 88"/>
            <p:cNvSpPr txBox="1"/>
            <p:nvPr/>
          </p:nvSpPr>
          <p:spPr>
            <a:xfrm>
              <a:off x="3801380" y="5331857"/>
              <a:ext cx="1658095" cy="126206"/>
            </a:xfrm>
            <a:prstGeom prst="rect">
              <a:avLst/>
            </a:prstGeom>
            <a:noFill/>
            <a:ln>
              <a:noFill/>
            </a:ln>
          </p:spPr>
          <p:txBody>
            <a:bodyPr wrap="none" lIns="0" tIns="0" rIns="0" bIns="0" anchor="t" anchorCtr="0">
              <a:spAutoFit/>
            </a:bodyPr>
            <a:lstStyle/>
            <a:p>
              <a:pPr algn="l"/>
              <a:r>
                <a:rPr lang="zh-CN" sz="640" dirty="0">
                  <a:solidFill>
                    <a:srgbClr val="666666"/>
                  </a:solidFill>
                  <a:latin typeface="+mn-lt"/>
                  <a:ea typeface="+mn-ea"/>
                  <a:cs typeface="+mn-cs"/>
                </a:rPr>
                <a:t>模型风险管理框架面临的挑战Challenges​​</a:t>
              </a:r>
            </a:p>
          </p:txBody>
        </p:sp>
      </p:grpSp>
      <p:grpSp>
        <p:nvGrpSpPr>
          <p:cNvPr id="123" name="nav"/>
          <p:cNvGrpSpPr/>
          <p:nvPr/>
        </p:nvGrpSpPr>
        <p:grpSpPr>
          <a:xfrm>
            <a:off x="9834562" y="0"/>
            <a:ext cx="2357438" cy="6858000"/>
            <a:chOff x="9834562" y="0"/>
            <a:chExt cx="2357438" cy="6858000"/>
          </a:xfrm>
        </p:grpSpPr>
        <p:sp>
          <p:nvSpPr>
            <p:cNvPr id="90" name="Line 90"/>
            <p:cNvSpPr/>
            <p:nvPr/>
          </p:nvSpPr>
          <p:spPr>
            <a:xfrm>
              <a:off x="9834562" y="0"/>
              <a:ext cx="9525" cy="6858000"/>
            </a:xfrm>
            <a:custGeom>
              <a:avLst/>
              <a:gdLst/>
              <a:ahLst/>
              <a:cxnLst/>
              <a:rect l="l" t="t" r="r" b="b"/>
              <a:pathLst>
                <a:path w="9525" h="6858000">
                  <a:moveTo>
                    <a:pt x="0" y="0"/>
                  </a:moveTo>
                  <a:lnTo>
                    <a:pt x="0" y="6858000"/>
                  </a:lnTo>
                </a:path>
              </a:pathLst>
            </a:custGeom>
            <a:noFill/>
            <a:ln w="9525">
              <a:solidFill>
                <a:srgbClr val="DADADA"/>
              </a:solidFill>
            </a:ln>
          </p:spPr>
        </p:sp>
        <p:sp>
          <p:nvSpPr>
            <p:cNvPr id="91" name="Rectangle 91"/>
            <p:cNvSpPr/>
            <p:nvPr/>
          </p:nvSpPr>
          <p:spPr>
            <a:xfrm>
              <a:off x="9839325" y="476250"/>
              <a:ext cx="2352675" cy="514350"/>
            </a:xfrm>
            <a:prstGeom prst="rect">
              <a:avLst/>
            </a:prstGeom>
            <a:solidFill>
              <a:srgbClr val="F3F3F3"/>
            </a:solidFill>
            <a:ln>
              <a:noFill/>
            </a:ln>
          </p:spPr>
        </p:sp>
        <p:sp>
          <p:nvSpPr>
            <p:cNvPr id="92" name="TextBox 92"/>
            <p:cNvSpPr txBox="1"/>
            <p:nvPr/>
          </p:nvSpPr>
          <p:spPr>
            <a:xfrm>
              <a:off x="9967912" y="691991"/>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前言</a:t>
              </a:r>
            </a:p>
          </p:txBody>
        </p:sp>
        <p:sp>
          <p:nvSpPr>
            <p:cNvPr id="93" name="Rectangle 93"/>
            <p:cNvSpPr/>
            <p:nvPr/>
          </p:nvSpPr>
          <p:spPr>
            <a:xfrm>
              <a:off x="9839325" y="1000125"/>
              <a:ext cx="2352675" cy="514350"/>
            </a:xfrm>
            <a:prstGeom prst="rect">
              <a:avLst/>
            </a:prstGeom>
            <a:solidFill>
              <a:srgbClr val="F3F3F3"/>
            </a:solidFill>
            <a:ln>
              <a:noFill/>
            </a:ln>
          </p:spPr>
        </p:sp>
        <p:sp>
          <p:nvSpPr>
            <p:cNvPr id="94" name="TextBox 94"/>
            <p:cNvSpPr txBox="1"/>
            <p:nvPr/>
          </p:nvSpPr>
          <p:spPr>
            <a:xfrm>
              <a:off x="9967912" y="1215866"/>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执行摘要</a:t>
              </a:r>
            </a:p>
          </p:txBody>
        </p:sp>
        <p:sp>
          <p:nvSpPr>
            <p:cNvPr id="95" name="Rectangle 95"/>
            <p:cNvSpPr/>
            <p:nvPr/>
          </p:nvSpPr>
          <p:spPr>
            <a:xfrm>
              <a:off x="9839325" y="1524000"/>
              <a:ext cx="2352675" cy="514350"/>
            </a:xfrm>
            <a:prstGeom prst="rect">
              <a:avLst/>
            </a:prstGeom>
            <a:solidFill>
              <a:srgbClr val="F3F3F3"/>
            </a:solidFill>
            <a:ln>
              <a:noFill/>
            </a:ln>
          </p:spPr>
        </p:sp>
        <p:sp>
          <p:nvSpPr>
            <p:cNvPr id="96" name="TextBox 96"/>
            <p:cNvSpPr txBox="1"/>
            <p:nvPr/>
          </p:nvSpPr>
          <p:spPr>
            <a:xfrm>
              <a:off x="9967912" y="1739741"/>
              <a:ext cx="1444574"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为什么模型风险管理至关重要</a:t>
              </a:r>
            </a:p>
          </p:txBody>
        </p:sp>
        <p:sp>
          <p:nvSpPr>
            <p:cNvPr id="97" name="Rectangle 97"/>
            <p:cNvSpPr/>
            <p:nvPr/>
          </p:nvSpPr>
          <p:spPr>
            <a:xfrm>
              <a:off x="9839325" y="2047875"/>
              <a:ext cx="2352675" cy="514350"/>
            </a:xfrm>
            <a:prstGeom prst="rect">
              <a:avLst/>
            </a:prstGeom>
            <a:solidFill>
              <a:srgbClr val="F3F3F3"/>
            </a:solidFill>
            <a:ln>
              <a:noFill/>
            </a:ln>
          </p:spPr>
        </p:sp>
        <p:sp>
          <p:nvSpPr>
            <p:cNvPr id="98" name="TextBox 98"/>
            <p:cNvSpPr txBox="1"/>
            <p:nvPr/>
          </p:nvSpPr>
          <p:spPr>
            <a:xfrm>
              <a:off x="9967912" y="2263616"/>
              <a:ext cx="671855"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关于本次调研</a:t>
              </a:r>
            </a:p>
          </p:txBody>
        </p:sp>
        <p:sp>
          <p:nvSpPr>
            <p:cNvPr id="99" name="Rectangle 99"/>
            <p:cNvSpPr/>
            <p:nvPr/>
          </p:nvSpPr>
          <p:spPr>
            <a:xfrm>
              <a:off x="9839325" y="2571750"/>
              <a:ext cx="2352675" cy="514350"/>
            </a:xfrm>
            <a:prstGeom prst="rect">
              <a:avLst/>
            </a:prstGeom>
            <a:solidFill>
              <a:srgbClr val="F3F3F3"/>
            </a:solidFill>
            <a:ln>
              <a:noFill/>
            </a:ln>
          </p:spPr>
        </p:sp>
        <p:sp>
          <p:nvSpPr>
            <p:cNvPr id="100" name="TextBox 100"/>
            <p:cNvSpPr txBox="1"/>
            <p:nvPr/>
          </p:nvSpPr>
          <p:spPr>
            <a:xfrm>
              <a:off x="9967912" y="2711291"/>
              <a:ext cx="115506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66666"/>
                  </a:solidFill>
                  <a:latin typeface="+mn-lt"/>
                  <a:ea typeface="+mn-ea"/>
                  <a:cs typeface="+mn-cs"/>
                </a:rPr>
                <a:t>模型版图与清单：</a:t>
              </a:r>
              <a:br/>
              <a:r>
                <a:rPr lang="zh-CN" sz="820" dirty="0">
                  <a:solidFill>
                    <a:srgbClr val="666666"/>
                  </a:solidFill>
                  <a:latin typeface="+mn-lt"/>
                  <a:ea typeface="+mn-ea"/>
                  <a:cs typeface="+mn-cs"/>
                </a:rPr>
                <a:t>高效模型风险管理的基础</a:t>
              </a:r>
            </a:p>
          </p:txBody>
        </p:sp>
        <p:sp>
          <p:nvSpPr>
            <p:cNvPr id="101" name="Rectangle 101"/>
            <p:cNvSpPr/>
            <p:nvPr/>
          </p:nvSpPr>
          <p:spPr>
            <a:xfrm>
              <a:off x="9839325" y="3095625"/>
              <a:ext cx="2352675" cy="514350"/>
            </a:xfrm>
            <a:prstGeom prst="rect">
              <a:avLst/>
            </a:prstGeom>
            <a:solidFill>
              <a:srgbClr val="F3F3F3"/>
            </a:solidFill>
            <a:ln>
              <a:noFill/>
            </a:ln>
          </p:spPr>
        </p:sp>
        <p:sp>
          <p:nvSpPr>
            <p:cNvPr id="102" name="TextBox 102"/>
            <p:cNvSpPr txBox="1"/>
            <p:nvPr/>
          </p:nvSpPr>
          <p:spPr>
            <a:xfrm>
              <a:off x="9967912" y="3311366"/>
              <a:ext cx="1554963"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关于治理与模型生命周期的观点</a:t>
              </a:r>
            </a:p>
          </p:txBody>
        </p:sp>
        <p:sp>
          <p:nvSpPr>
            <p:cNvPr id="103" name="Rectangle 103"/>
            <p:cNvSpPr/>
            <p:nvPr/>
          </p:nvSpPr>
          <p:spPr>
            <a:xfrm>
              <a:off x="9839325" y="3619500"/>
              <a:ext cx="2352675" cy="514350"/>
            </a:xfrm>
            <a:prstGeom prst="rect">
              <a:avLst/>
            </a:prstGeom>
            <a:solidFill>
              <a:srgbClr val="F3F3F3"/>
            </a:solidFill>
            <a:ln>
              <a:noFill/>
            </a:ln>
          </p:spPr>
        </p:sp>
        <p:sp>
          <p:nvSpPr>
            <p:cNvPr id="104" name="TextBox 104"/>
            <p:cNvSpPr txBox="1"/>
            <p:nvPr/>
          </p:nvSpPr>
          <p:spPr>
            <a:xfrm>
              <a:off x="9967912" y="3835241"/>
              <a:ext cx="111340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技术与工具：改进空间</a:t>
              </a:r>
            </a:p>
          </p:txBody>
        </p:sp>
        <p:sp>
          <p:nvSpPr>
            <p:cNvPr id="105" name="Rectangle 105"/>
            <p:cNvSpPr/>
            <p:nvPr/>
          </p:nvSpPr>
          <p:spPr>
            <a:xfrm>
              <a:off x="9839325" y="4143375"/>
              <a:ext cx="2352675" cy="514350"/>
            </a:xfrm>
            <a:prstGeom prst="rect">
              <a:avLst/>
            </a:prstGeom>
            <a:solidFill>
              <a:srgbClr val="F3F3F3"/>
            </a:solidFill>
            <a:ln>
              <a:noFill/>
            </a:ln>
          </p:spPr>
        </p:sp>
        <p:sp>
          <p:nvSpPr>
            <p:cNvPr id="106" name="TextBox 106"/>
            <p:cNvSpPr txBox="1"/>
            <p:nvPr/>
          </p:nvSpPr>
          <p:spPr>
            <a:xfrm>
              <a:off x="9967912" y="4359116"/>
              <a:ext cx="1334186"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风险缓释：模型监控与报告</a:t>
              </a:r>
            </a:p>
          </p:txBody>
        </p:sp>
        <p:sp>
          <p:nvSpPr>
            <p:cNvPr id="107" name="Rectangle 107"/>
            <p:cNvSpPr/>
            <p:nvPr/>
          </p:nvSpPr>
          <p:spPr>
            <a:xfrm>
              <a:off x="9839325" y="4667250"/>
              <a:ext cx="2352675" cy="514350"/>
            </a:xfrm>
            <a:prstGeom prst="rect">
              <a:avLst/>
            </a:prstGeom>
            <a:solidFill>
              <a:srgbClr val="D8482E"/>
            </a:solidFill>
            <a:ln>
              <a:noFill/>
            </a:ln>
          </p:spPr>
        </p:sp>
        <p:sp>
          <p:nvSpPr>
            <p:cNvPr id="108" name="TextBox 108"/>
            <p:cNvSpPr txBox="1"/>
            <p:nvPr/>
          </p:nvSpPr>
          <p:spPr>
            <a:xfrm>
              <a:off x="9967912" y="4882991"/>
              <a:ext cx="100302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模型风险管理的未来</a:t>
              </a:r>
            </a:p>
          </p:txBody>
        </p:sp>
        <p:sp>
          <p:nvSpPr>
            <p:cNvPr id="109" name="Rectangle 109"/>
            <p:cNvSpPr/>
            <p:nvPr/>
          </p:nvSpPr>
          <p:spPr>
            <a:xfrm>
              <a:off x="9839325" y="5191125"/>
              <a:ext cx="2352675" cy="514350"/>
            </a:xfrm>
            <a:prstGeom prst="rect">
              <a:avLst/>
            </a:prstGeom>
            <a:solidFill>
              <a:srgbClr val="F3F3F3"/>
            </a:solidFill>
            <a:ln>
              <a:noFill/>
            </a:ln>
          </p:spPr>
        </p:sp>
        <p:sp>
          <p:nvSpPr>
            <p:cNvPr id="110" name="TextBox 110"/>
            <p:cNvSpPr txBox="1"/>
            <p:nvPr/>
          </p:nvSpPr>
          <p:spPr>
            <a:xfrm>
              <a:off x="9967912" y="5406866"/>
              <a:ext cx="230302"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致谢</a:t>
              </a:r>
            </a:p>
          </p:txBody>
        </p:sp>
        <p:sp>
          <p:nvSpPr>
            <p:cNvPr id="111" name="Rectangle 111"/>
            <p:cNvSpPr/>
            <p:nvPr/>
          </p:nvSpPr>
          <p:spPr>
            <a:xfrm>
              <a:off x="9839325" y="5715000"/>
              <a:ext cx="2352675" cy="514350"/>
            </a:xfrm>
            <a:prstGeom prst="rect">
              <a:avLst/>
            </a:prstGeom>
            <a:solidFill>
              <a:srgbClr val="F3F3F3"/>
            </a:solidFill>
            <a:ln>
              <a:noFill/>
            </a:ln>
          </p:spPr>
        </p:sp>
        <p:sp>
          <p:nvSpPr>
            <p:cNvPr id="112" name="TextBox 112"/>
            <p:cNvSpPr txBox="1"/>
            <p:nvPr/>
          </p:nvSpPr>
          <p:spPr>
            <a:xfrm>
              <a:off x="9967912" y="5930741"/>
              <a:ext cx="451079" cy="161925"/>
            </a:xfrm>
            <a:prstGeom prst="rect">
              <a:avLst/>
            </a:prstGeom>
            <a:noFill/>
            <a:ln>
              <a:noFill/>
            </a:ln>
          </p:spPr>
          <p:txBody>
            <a:bodyPr wrap="none" lIns="0" tIns="0" rIns="0" bIns="0" anchor="t" anchorCtr="0">
              <a:spAutoFit/>
            </a:bodyPr>
            <a:lstStyle/>
            <a:p>
              <a:pPr algn="l"/>
              <a:r>
                <a:rPr lang="zh-CN" sz="820" dirty="0">
                  <a:solidFill>
                    <a:srgbClr val="666666"/>
                  </a:solidFill>
                  <a:latin typeface="+mn-lt"/>
                  <a:ea typeface="+mn-ea"/>
                  <a:cs typeface="+mn-cs"/>
                </a:rPr>
                <a:t>联系方式</a:t>
              </a:r>
            </a:p>
          </p:txBody>
        </p:sp>
        <p:sp>
          <p:nvSpPr>
            <p:cNvPr id="113" name="Ellipse 113"/>
            <p:cNvSpPr/>
            <p:nvPr/>
          </p:nvSpPr>
          <p:spPr>
            <a:xfrm>
              <a:off x="10020300" y="6372225"/>
              <a:ext cx="266700" cy="266700"/>
            </a:xfrm>
            <a:prstGeom prst="ellipse">
              <a:avLst/>
            </a:prstGeom>
            <a:solidFill>
              <a:srgbClr val="D7D8D6"/>
            </a:solidFill>
            <a:ln>
              <a:noFill/>
            </a:ln>
          </p:spPr>
        </p:sp>
        <p:sp>
          <p:nvSpPr>
            <p:cNvPr id="114" name="Freeform 114"/>
            <p:cNvSpPr/>
            <p:nvPr/>
          </p:nvSpPr>
          <p:spPr>
            <a:xfrm>
              <a:off x="10132219" y="6462712"/>
              <a:ext cx="42862" cy="85725"/>
            </a:xfrm>
            <a:custGeom>
              <a:avLst/>
              <a:gdLst/>
              <a:ahLst/>
              <a:cxnLst/>
              <a:rect l="l" t="t" r="r" b="b"/>
              <a:pathLst>
                <a:path w="42862" h="85725">
                  <a:moveTo>
                    <a:pt x="42862" y="0"/>
                  </a:moveTo>
                  <a:lnTo>
                    <a:pt x="0" y="42862"/>
                  </a:lnTo>
                  <a:lnTo>
                    <a:pt x="42862" y="85725"/>
                  </a:lnTo>
                </a:path>
              </a:pathLst>
            </a:custGeom>
            <a:noFill/>
            <a:ln w="14288">
              <a:solidFill>
                <a:srgbClr val="FFFFFF"/>
              </a:solidFill>
            </a:ln>
          </p:spPr>
        </p:sp>
        <p:sp>
          <p:nvSpPr>
            <p:cNvPr id="115" name="Ellipse 115"/>
            <p:cNvSpPr/>
            <p:nvPr/>
          </p:nvSpPr>
          <p:spPr>
            <a:xfrm>
              <a:off x="10420350" y="6372225"/>
              <a:ext cx="266700" cy="266700"/>
            </a:xfrm>
            <a:prstGeom prst="ellipse">
              <a:avLst/>
            </a:prstGeom>
            <a:solidFill>
              <a:srgbClr val="D7D8D6"/>
            </a:solidFill>
            <a:ln>
              <a:noFill/>
            </a:ln>
          </p:spPr>
        </p:sp>
        <p:grpSp>
          <p:nvGrpSpPr>
            <p:cNvPr id="119" name="Group 119"/>
            <p:cNvGrpSpPr/>
            <p:nvPr/>
          </p:nvGrpSpPr>
          <p:grpSpPr>
            <a:xfrm>
              <a:off x="10489406" y="6441281"/>
              <a:ext cx="128588" cy="128588"/>
              <a:chOff x="10489406" y="6441281"/>
              <a:chExt cx="128588" cy="128588"/>
            </a:xfrm>
          </p:grpSpPr>
          <p:sp>
            <p:nvSpPr>
              <p:cNvPr id="116" name="Freeform 116"/>
              <p:cNvSpPr/>
              <p:nvPr/>
            </p:nvSpPr>
            <p:spPr>
              <a:xfrm>
                <a:off x="10489406" y="6441281"/>
                <a:ext cx="128588" cy="64294"/>
              </a:xfrm>
              <a:custGeom>
                <a:avLst/>
                <a:gdLst/>
                <a:ahLst/>
                <a:cxnLst/>
                <a:rect l="l" t="t" r="r" b="b"/>
                <a:pathLst>
                  <a:path w="128588" h="64294">
                    <a:moveTo>
                      <a:pt x="14288" y="64294"/>
                    </a:moveTo>
                    <a:lnTo>
                      <a:pt x="0" y="64294"/>
                    </a:lnTo>
                    <a:lnTo>
                      <a:pt x="64294" y="0"/>
                    </a:lnTo>
                    <a:lnTo>
                      <a:pt x="128588" y="64294"/>
                    </a:lnTo>
                    <a:lnTo>
                      <a:pt x="114300" y="64294"/>
                    </a:lnTo>
                  </a:path>
                </a:pathLst>
              </a:custGeom>
              <a:noFill/>
              <a:ln w="14288">
                <a:solidFill>
                  <a:srgbClr val="FFFFFF"/>
                </a:solidFill>
              </a:ln>
            </p:spPr>
          </p:sp>
          <p:sp>
            <p:nvSpPr>
              <p:cNvPr id="117" name="Freeform 117"/>
              <p:cNvSpPr/>
              <p:nvPr/>
            </p:nvSpPr>
            <p:spPr>
              <a:xfrm>
                <a:off x="10503694" y="6505575"/>
                <a:ext cx="100012" cy="64294"/>
              </a:xfrm>
              <a:custGeom>
                <a:avLst/>
                <a:gdLst/>
                <a:ahLst/>
                <a:cxnLst/>
                <a:rect l="l" t="t" r="r" b="b"/>
                <a:pathLst>
                  <a:path w="100012" h="64294">
                    <a:moveTo>
                      <a:pt x="0" y="0"/>
                    </a:moveTo>
                    <a:lnTo>
                      <a:pt x="0" y="50006"/>
                    </a:lnTo>
                    <a:cubicBezTo>
                      <a:pt x="0" y="57897"/>
                      <a:pt x="6397" y="64294"/>
                      <a:pt x="14288" y="64294"/>
                    </a:cubicBezTo>
                    <a:lnTo>
                      <a:pt x="85725" y="64294"/>
                    </a:lnTo>
                    <a:cubicBezTo>
                      <a:pt x="93616" y="64294"/>
                      <a:pt x="100012" y="57897"/>
                      <a:pt x="100012" y="50006"/>
                    </a:cubicBezTo>
                    <a:lnTo>
                      <a:pt x="100012" y="0"/>
                    </a:lnTo>
                  </a:path>
                </a:pathLst>
              </a:custGeom>
              <a:noFill/>
              <a:ln w="14288">
                <a:solidFill>
                  <a:srgbClr val="FFFFFF"/>
                </a:solidFill>
              </a:ln>
            </p:spPr>
          </p:sp>
          <p:sp>
            <p:nvSpPr>
              <p:cNvPr id="118" name="Freeform 118"/>
              <p:cNvSpPr/>
              <p:nvPr/>
            </p:nvSpPr>
            <p:spPr>
              <a:xfrm>
                <a:off x="10532269" y="6512719"/>
                <a:ext cx="42862" cy="57150"/>
              </a:xfrm>
              <a:custGeom>
                <a:avLst/>
                <a:gdLst/>
                <a:ahLst/>
                <a:cxnLst/>
                <a:rect l="l" t="t" r="r" b="b"/>
                <a:pathLst>
                  <a:path w="42862" h="57150">
                    <a:moveTo>
                      <a:pt x="0" y="57150"/>
                    </a:moveTo>
                    <a:lnTo>
                      <a:pt x="0" y="14288"/>
                    </a:lnTo>
                    <a:cubicBezTo>
                      <a:pt x="0" y="6397"/>
                      <a:pt x="6397" y="0"/>
                      <a:pt x="14288" y="0"/>
                    </a:cubicBezTo>
                    <a:lnTo>
                      <a:pt x="28575" y="0"/>
                    </a:lnTo>
                    <a:cubicBezTo>
                      <a:pt x="36466" y="0"/>
                      <a:pt x="42862" y="6397"/>
                      <a:pt x="42862" y="14288"/>
                    </a:cubicBezTo>
                    <a:lnTo>
                      <a:pt x="42862" y="57150"/>
                    </a:lnTo>
                  </a:path>
                </a:pathLst>
              </a:custGeom>
              <a:noFill/>
              <a:ln w="14288">
                <a:solidFill>
                  <a:srgbClr val="FFFFFF"/>
                </a:solidFill>
              </a:ln>
            </p:spPr>
          </p:sp>
        </p:grpSp>
        <p:sp>
          <p:nvSpPr>
            <p:cNvPr id="120" name="Ellipse 120"/>
            <p:cNvSpPr/>
            <p:nvPr/>
          </p:nvSpPr>
          <p:spPr>
            <a:xfrm>
              <a:off x="10820400" y="6372225"/>
              <a:ext cx="266700" cy="266700"/>
            </a:xfrm>
            <a:prstGeom prst="ellipse">
              <a:avLst/>
            </a:prstGeom>
            <a:solidFill>
              <a:srgbClr val="D7D8D6"/>
            </a:solidFill>
            <a:ln>
              <a:noFill/>
            </a:ln>
          </p:spPr>
        </p:sp>
        <p:sp>
          <p:nvSpPr>
            <p:cNvPr id="121" name="Freeform 121"/>
            <p:cNvSpPr/>
            <p:nvPr/>
          </p:nvSpPr>
          <p:spPr>
            <a:xfrm>
              <a:off x="10932319" y="6462712"/>
              <a:ext cx="42862" cy="85725"/>
            </a:xfrm>
            <a:custGeom>
              <a:avLst/>
              <a:gdLst/>
              <a:ahLst/>
              <a:cxnLst/>
              <a:rect l="l" t="t" r="r" b="b"/>
              <a:pathLst>
                <a:path w="42862" h="85725">
                  <a:moveTo>
                    <a:pt x="0" y="0"/>
                  </a:moveTo>
                  <a:lnTo>
                    <a:pt x="42862" y="42862"/>
                  </a:lnTo>
                  <a:lnTo>
                    <a:pt x="0" y="85725"/>
                  </a:lnTo>
                </a:path>
              </a:pathLst>
            </a:custGeom>
            <a:noFill/>
            <a:ln w="14288">
              <a:solidFill>
                <a:srgbClr val="FFFFFF"/>
              </a:solidFill>
            </a:ln>
          </p:spPr>
        </p:sp>
        <p:sp>
          <p:nvSpPr>
            <p:cNvPr id="122" name="TextBox 122"/>
            <p:cNvSpPr txBox="1"/>
            <p:nvPr/>
          </p:nvSpPr>
          <p:spPr>
            <a:xfrm>
              <a:off x="11806314" y="6456045"/>
              <a:ext cx="142799" cy="176212"/>
            </a:xfrm>
            <a:prstGeom prst="rect">
              <a:avLst/>
            </a:prstGeom>
            <a:noFill/>
            <a:ln>
              <a:noFill/>
            </a:ln>
          </p:spPr>
          <p:txBody>
            <a:bodyPr wrap="none" lIns="0" tIns="0" rIns="0" bIns="0" anchor="t" anchorCtr="0">
              <a:spAutoFit/>
            </a:bodyPr>
            <a:lstStyle/>
            <a:p>
              <a:pPr algn="r"/>
              <a:r>
                <a:rPr lang="zh-CN" sz="900" dirty="0">
                  <a:solidFill>
                    <a:srgbClr val="9A9A9A"/>
                  </a:solidFill>
                  <a:latin typeface="+mn-lt"/>
                  <a:ea typeface="+mn-ea"/>
                  <a:cs typeface="+mn-cs"/>
                </a:rPr>
                <a:t>39</a:t>
              </a:r>
            </a:p>
          </p:txBody>
        </p:sp>
      </p:gr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ver-blue-field"/>
          <p:cNvSpPr/>
          <p:nvPr/>
        </p:nvSpPr>
        <p:spPr>
          <a:xfrm>
            <a:off x="0" y="990600"/>
            <a:ext cx="12192000" cy="4505325"/>
          </a:xfrm>
          <a:prstGeom prst="rect">
            <a:avLst/>
          </a:prstGeom>
          <a:gradFill>
            <a:gsLst>
              <a:gs pos="0">
                <a:srgbClr val="C45F4A"/>
              </a:gs>
              <a:gs pos="55000">
                <a:srgbClr val="BA6250"/>
              </a:gs>
              <a:gs pos="100000">
                <a:srgbClr val="CE897B"/>
              </a:gs>
            </a:gsLst>
            <a:lin ang="2700000" scaled="1"/>
          </a:gradFill>
          <a:ln>
            <a:noFill/>
          </a:ln>
        </p:spPr>
      </p:sp>
      <p:sp>
        <p:nvSpPr>
          <p:cNvPr id="3" name="cover-deco-line-1"/>
          <p:cNvSpPr/>
          <p:nvPr/>
        </p:nvSpPr>
        <p:spPr>
          <a:xfrm>
            <a:off x="5905500" y="990600"/>
            <a:ext cx="4191000" cy="4505325"/>
          </a:xfrm>
          <a:custGeom>
            <a:avLst/>
            <a:gdLst/>
            <a:ahLst/>
            <a:cxnLst/>
            <a:rect l="l" t="t" r="r" b="b"/>
            <a:pathLst>
              <a:path w="4191000" h="4505325">
                <a:moveTo>
                  <a:pt x="0" y="0"/>
                </a:moveTo>
                <a:cubicBezTo>
                  <a:pt x="1333500" y="1485900"/>
                  <a:pt x="2667000" y="3009900"/>
                  <a:pt x="4191000" y="4505325"/>
                </a:cubicBezTo>
              </a:path>
            </a:pathLst>
          </a:custGeom>
          <a:noFill/>
          <a:ln w="19050">
            <a:solidFill>
              <a:srgbClr val="FFFFFF">
                <a:alpha val="10000"/>
              </a:srgbClr>
            </a:solidFill>
          </a:ln>
        </p:spPr>
      </p:sp>
      <p:sp>
        <p:nvSpPr>
          <p:cNvPr id="4" name="cover-deco-line-2"/>
          <p:cNvSpPr/>
          <p:nvPr/>
        </p:nvSpPr>
        <p:spPr>
          <a:xfrm>
            <a:off x="7239000" y="990600"/>
            <a:ext cx="3810000" cy="4505325"/>
          </a:xfrm>
          <a:custGeom>
            <a:avLst/>
            <a:gdLst/>
            <a:ahLst/>
            <a:cxnLst/>
            <a:rect l="l" t="t" r="r" b="b"/>
            <a:pathLst>
              <a:path w="3810000" h="4505325">
                <a:moveTo>
                  <a:pt x="0" y="0"/>
                </a:moveTo>
                <a:cubicBezTo>
                  <a:pt x="1143000" y="1295400"/>
                  <a:pt x="2286000" y="2819400"/>
                  <a:pt x="3810000" y="4505325"/>
                </a:cubicBezTo>
              </a:path>
            </a:pathLst>
          </a:custGeom>
          <a:noFill/>
          <a:ln w="19050">
            <a:solidFill>
              <a:srgbClr val="FFFFFF">
                <a:alpha val="8000"/>
              </a:srgbClr>
            </a:solidFill>
          </a:ln>
        </p:spPr>
      </p:sp>
      <p:sp>
        <p:nvSpPr>
          <p:cNvPr id="5" name="cover-deco-line-3"/>
          <p:cNvSpPr/>
          <p:nvPr/>
        </p:nvSpPr>
        <p:spPr>
          <a:xfrm>
            <a:off x="9334500" y="990600"/>
            <a:ext cx="2857500" cy="2819400"/>
          </a:xfrm>
          <a:custGeom>
            <a:avLst/>
            <a:gdLst/>
            <a:ahLst/>
            <a:cxnLst/>
            <a:rect l="l" t="t" r="r" b="b"/>
            <a:pathLst>
              <a:path w="2857500" h="2819400">
                <a:moveTo>
                  <a:pt x="0" y="0"/>
                </a:moveTo>
                <a:lnTo>
                  <a:pt x="2857500" y="2819400"/>
                </a:lnTo>
              </a:path>
            </a:pathLst>
          </a:custGeom>
          <a:noFill/>
          <a:ln w="14288">
            <a:solidFill>
              <a:srgbClr val="FFFFFF">
                <a:alpha val="9000"/>
              </a:srgbClr>
            </a:solidFill>
          </a:ln>
        </p:spPr>
      </p:sp>
      <p:sp>
        <p:nvSpPr>
          <p:cNvPr id="6" name="cover-deco-ring"/>
          <p:cNvSpPr/>
          <p:nvPr/>
        </p:nvSpPr>
        <p:spPr>
          <a:xfrm>
            <a:off x="9620250" y="1047750"/>
            <a:ext cx="2286000" cy="2286000"/>
          </a:xfrm>
          <a:prstGeom prst="ellipse">
            <a:avLst/>
          </a:prstGeom>
          <a:noFill/>
          <a:ln w="19050">
            <a:solidFill>
              <a:srgbClr val="FFFFFF">
                <a:alpha val="10000"/>
              </a:srgbClr>
            </a:solidFill>
          </a:ln>
        </p:spPr>
      </p:sp>
      <p:grpSp>
        <p:nvGrpSpPr>
          <p:cNvPr id="11" name="cover-title"/>
          <p:cNvGrpSpPr/>
          <p:nvPr/>
        </p:nvGrpSpPr>
        <p:grpSpPr>
          <a:xfrm>
            <a:off x="1019175" y="1581150"/>
            <a:ext cx="6091809" cy="2842260"/>
            <a:chOff x="1019175" y="1581150"/>
            <a:chExt cx="6091809" cy="2842260"/>
          </a:xfrm>
        </p:grpSpPr>
        <p:sp>
          <p:nvSpPr>
            <p:cNvPr id="7" name="Ellipse 7"/>
            <p:cNvSpPr/>
            <p:nvPr/>
          </p:nvSpPr>
          <p:spPr>
            <a:xfrm>
              <a:off x="1019175" y="1581150"/>
              <a:ext cx="495300" cy="495300"/>
            </a:xfrm>
            <a:prstGeom prst="ellipse">
              <a:avLst/>
            </a:prstGeom>
            <a:gradFill>
              <a:gsLst>
                <a:gs pos="0">
                  <a:srgbClr val="ED8776"/>
                </a:gs>
                <a:gs pos="100000">
                  <a:srgbClr val="E5624C"/>
                </a:gs>
              </a:gsLst>
              <a:lin ang="2700000" scaled="1"/>
            </a:gradFill>
            <a:ln>
              <a:noFill/>
            </a:ln>
          </p:spPr>
        </p:sp>
        <p:sp>
          <p:nvSpPr>
            <p:cNvPr id="8" name="TextBox 8"/>
            <p:cNvSpPr txBox="1"/>
            <p:nvPr/>
          </p:nvSpPr>
          <p:spPr>
            <a:xfrm>
              <a:off x="1276350" y="1783080"/>
              <a:ext cx="3369945" cy="1276350"/>
            </a:xfrm>
            <a:prstGeom prst="rect">
              <a:avLst/>
            </a:prstGeom>
            <a:noFill/>
            <a:ln>
              <a:noFill/>
            </a:ln>
          </p:spPr>
          <p:txBody>
            <a:bodyPr wrap="none" lIns="0" tIns="0" rIns="0" bIns="0" anchor="t" anchorCtr="0">
              <a:spAutoFit/>
            </a:bodyPr>
            <a:lstStyle/>
            <a:p>
              <a:pPr algn="l"/>
              <a:r>
                <a:rPr lang="zh-CN" sz="6600" dirty="0">
                  <a:solidFill>
                    <a:srgbClr val="FFFFFF"/>
                  </a:solidFill>
                  <a:latin typeface="+mn-lt"/>
                  <a:ea typeface="+mn-ea"/>
                  <a:cs typeface="+mn-cs"/>
                </a:rPr>
                <a:t>2025年​</a:t>
              </a:r>
            </a:p>
          </p:txBody>
        </p:sp>
        <p:sp>
          <p:nvSpPr>
            <p:cNvPr id="9" name="TextBox 9"/>
            <p:cNvSpPr txBox="1"/>
            <p:nvPr/>
          </p:nvSpPr>
          <p:spPr>
            <a:xfrm>
              <a:off x="4771644" y="2094548"/>
              <a:ext cx="2055305" cy="705231"/>
            </a:xfrm>
            <a:prstGeom prst="rect">
              <a:avLst/>
            </a:prstGeom>
            <a:noFill/>
            <a:ln>
              <a:noFill/>
            </a:ln>
          </p:spPr>
          <p:txBody>
            <a:bodyPr wrap="none" lIns="0" tIns="0" rIns="0" bIns="0" anchor="t" anchorCtr="0">
              <a:spAutoFit/>
            </a:bodyPr>
            <a:lstStyle/>
            <a:p>
              <a:pPr algn="l">
                <a:lnSpc>
                  <a:spcPts val="2550"/>
                </a:lnSpc>
              </a:pPr>
              <a:r>
                <a:rPr lang="en-US" sz="1950" spc="225" dirty="0">
                  <a:solidFill>
                    <a:srgbClr val="CDD2F2"/>
                  </a:solidFill>
                  <a:latin typeface="+mn-lt"/>
                  <a:ea typeface="+mn-ea"/>
                  <a:cs typeface="+mn-cs"/>
                </a:rPr>
                <a:t>ANNUAL​</a:t>
              </a:r>
              <a:br/>
              <a:r>
                <a:rPr lang="en-US" sz="1950" spc="225" dirty="0">
                  <a:solidFill>
                    <a:srgbClr val="CDD2F2"/>
                  </a:solidFill>
                  <a:latin typeface="+mn-lt"/>
                  <a:ea typeface="+mn-ea"/>
                  <a:cs typeface="+mn-cs"/>
                </a:rPr>
                <a:t>WORK REPORT​</a:t>
              </a:r>
            </a:p>
          </p:txBody>
        </p:sp>
        <p:sp>
          <p:nvSpPr>
            <p:cNvPr id="10" name="TextBox 10"/>
            <p:cNvSpPr txBox="1"/>
            <p:nvPr/>
          </p:nvSpPr>
          <p:spPr>
            <a:xfrm>
              <a:off x="1257300" y="3032760"/>
              <a:ext cx="5853684" cy="1390650"/>
            </a:xfrm>
            <a:prstGeom prst="rect">
              <a:avLst/>
            </a:prstGeom>
            <a:noFill/>
            <a:ln>
              <a:noFill/>
            </a:ln>
          </p:spPr>
          <p:txBody>
            <a:bodyPr wrap="none" lIns="0" tIns="0" rIns="0" bIns="0" anchor="t" anchorCtr="0">
              <a:spAutoFit/>
            </a:bodyPr>
            <a:lstStyle/>
            <a:p>
              <a:pPr algn="l"/>
              <a:r>
                <a:rPr lang="zh-CN" sz="7200" dirty="0">
                  <a:solidFill>
                    <a:srgbClr val="FFFFFF"/>
                  </a:solidFill>
                  <a:latin typeface="+mn-lt"/>
                  <a:ea typeface="+mn-ea"/>
                  <a:cs typeface="+mn-cs"/>
                </a:rPr>
                <a:t>工作述职汇报</a:t>
              </a:r>
            </a:p>
          </p:txBody>
        </p:sp>
      </p:grpSp>
      <p:sp>
        <p:nvSpPr>
          <p:cNvPr id="12" name="cover-signature-bar"/>
          <p:cNvSpPr/>
          <p:nvPr/>
        </p:nvSpPr>
        <p:spPr>
          <a:xfrm>
            <a:off x="1019175" y="5076825"/>
            <a:ext cx="4286250" cy="733425"/>
          </a:xfrm>
          <a:prstGeom prst="rect">
            <a:avLst/>
          </a:prstGeom>
          <a:solidFill>
            <a:srgbClr val="FFFFFF"/>
          </a:solidFill>
          <a:ln>
            <a:noFill/>
          </a:ln>
          <a:effectLst>
            <a:outerShdw blurRad="152400" dist="57150" dir="5400000" algn="ctr" rotWithShape="0">
              <a:srgbClr val="C1553F">
                <a:alpha val="9000"/>
              </a:srgbClr>
            </a:outerShdw>
          </a:effectLst>
        </p:spPr>
      </p:sp>
      <p:sp>
        <p:nvSpPr>
          <p:cNvPr id="13" name="TextBox 13"/>
          <p:cNvSpPr txBox="1"/>
          <p:nvPr/>
        </p:nvSpPr>
        <p:spPr>
          <a:xfrm>
            <a:off x="10767060" y="373856"/>
            <a:ext cx="1182008" cy="220028"/>
          </a:xfrm>
          <a:prstGeom prst="rect">
            <a:avLst/>
          </a:prstGeom>
          <a:noFill/>
          <a:ln>
            <a:noFill/>
          </a:ln>
        </p:spPr>
        <p:txBody>
          <a:bodyPr wrap="none" lIns="0" tIns="0" rIns="0" bIns="0" anchor="t" anchorCtr="0">
            <a:spAutoFit/>
          </a:bodyPr>
          <a:lstStyle/>
          <a:p>
            <a:pPr algn="l"/>
            <a:r>
              <a:rPr lang="en-US" sz="1120" b="1" spc="150" dirty="0">
                <a:solidFill>
                  <a:srgbClr val="FFFFFF"/>
                </a:solidFill>
                <a:latin typeface="+mn-lt"/>
                <a:ea typeface="+mn-ea"/>
                <a:cs typeface="+mn-cs"/>
              </a:rPr>
              <a:t>YOUR LOGO​</a:t>
            </a:r>
          </a:p>
        </p:txBody>
      </p:sp>
      <p:grpSp>
        <p:nvGrpSpPr>
          <p:cNvPr id="17" name="cover-arrow-chip"/>
          <p:cNvGrpSpPr/>
          <p:nvPr/>
        </p:nvGrpSpPr>
        <p:grpSpPr>
          <a:xfrm>
            <a:off x="10925175" y="5191125"/>
            <a:ext cx="1266825" cy="590550"/>
            <a:chOff x="10925175" y="5191125"/>
            <a:chExt cx="1266825" cy="590550"/>
          </a:xfrm>
        </p:grpSpPr>
        <p:sp>
          <p:nvSpPr>
            <p:cNvPr id="14" name="Rectangle 14"/>
            <p:cNvSpPr/>
            <p:nvPr/>
          </p:nvSpPr>
          <p:spPr>
            <a:xfrm>
              <a:off x="10925175" y="5191125"/>
              <a:ext cx="1266825" cy="590550"/>
            </a:xfrm>
            <a:prstGeom prst="rect">
              <a:avLst/>
            </a:prstGeom>
            <a:gradFill>
              <a:gsLst>
                <a:gs pos="0">
                  <a:srgbClr val="E5624C"/>
                </a:gs>
                <a:gs pos="100000">
                  <a:srgbClr val="ED8776"/>
                </a:gs>
              </a:gsLst>
              <a:lin ang="0" scaled="1"/>
            </a:gradFill>
            <a:ln>
              <a:noFill/>
            </a:ln>
          </p:spPr>
        </p:sp>
        <p:sp>
          <p:nvSpPr>
            <p:cNvPr id="15" name="TextBox 15"/>
            <p:cNvSpPr txBox="1"/>
            <p:nvPr/>
          </p:nvSpPr>
          <p:spPr>
            <a:xfrm>
              <a:off x="11389995" y="5329238"/>
              <a:ext cx="197782"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n-lt"/>
                  <a:ea typeface="+mn-ea"/>
                  <a:cs typeface="+mn-cs"/>
                </a:rPr>
                <a:t>‹</a:t>
              </a:r>
            </a:p>
          </p:txBody>
        </p:sp>
        <p:sp>
          <p:nvSpPr>
            <p:cNvPr id="16" name="TextBox 16"/>
            <p:cNvSpPr txBox="1"/>
            <p:nvPr/>
          </p:nvSpPr>
          <p:spPr>
            <a:xfrm>
              <a:off x="11656695" y="5329238"/>
              <a:ext cx="197782"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n-lt"/>
                  <a:ea typeface="+mn-ea"/>
                  <a:cs typeface="+mn-cs"/>
                </a:rPr>
                <a:t>›</a:t>
              </a:r>
            </a:p>
          </p:txBody>
        </p:sp>
      </p:gr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c-deco-wave-1"/>
          <p:cNvSpPr/>
          <p:nvPr/>
        </p:nvSpPr>
        <p:spPr>
          <a:xfrm>
            <a:off x="0" y="4476750"/>
            <a:ext cx="12192000" cy="2381250"/>
          </a:xfrm>
          <a:custGeom>
            <a:avLst/>
            <a:gdLst/>
            <a:ahLst/>
            <a:cxnLst/>
            <a:rect l="l" t="t" r="r" b="b"/>
            <a:pathLst>
              <a:path w="12192000" h="2381250">
                <a:moveTo>
                  <a:pt x="0" y="857250"/>
                </a:moveTo>
                <a:cubicBezTo>
                  <a:pt x="2857500" y="0"/>
                  <a:pt x="4953000" y="1619250"/>
                  <a:pt x="7429500" y="1143000"/>
                </a:cubicBezTo>
                <a:cubicBezTo>
                  <a:pt x="9525000" y="742950"/>
                  <a:pt x="11049000" y="1238250"/>
                  <a:pt x="12192000" y="857250"/>
                </a:cubicBezTo>
                <a:lnTo>
                  <a:pt x="12192000" y="2381250"/>
                </a:lnTo>
                <a:lnTo>
                  <a:pt x="0" y="2381250"/>
                </a:lnTo>
                <a:close/>
              </a:path>
            </a:pathLst>
          </a:custGeom>
          <a:solidFill>
            <a:srgbClr val="EEF0FA"/>
          </a:solidFill>
          <a:ln>
            <a:noFill/>
          </a:ln>
        </p:spPr>
      </p:sp>
      <p:sp>
        <p:nvSpPr>
          <p:cNvPr id="3" name="toc-deco-wave-2"/>
          <p:cNvSpPr/>
          <p:nvPr/>
        </p:nvSpPr>
        <p:spPr>
          <a:xfrm>
            <a:off x="0" y="5524500"/>
            <a:ext cx="12192000" cy="1333500"/>
          </a:xfrm>
          <a:custGeom>
            <a:avLst/>
            <a:gdLst/>
            <a:ahLst/>
            <a:cxnLst/>
            <a:rect l="l" t="t" r="r" b="b"/>
            <a:pathLst>
              <a:path w="12192000" h="1333500">
                <a:moveTo>
                  <a:pt x="0" y="571500"/>
                </a:moveTo>
                <a:cubicBezTo>
                  <a:pt x="2476500" y="0"/>
                  <a:pt x="5334000" y="1143000"/>
                  <a:pt x="8191500" y="666750"/>
                </a:cubicBezTo>
                <a:cubicBezTo>
                  <a:pt x="10096500" y="342900"/>
                  <a:pt x="11239500" y="762000"/>
                  <a:pt x="12192000" y="476250"/>
                </a:cubicBezTo>
                <a:lnTo>
                  <a:pt x="12192000" y="1333500"/>
                </a:lnTo>
                <a:lnTo>
                  <a:pt x="0" y="1333500"/>
                </a:lnTo>
                <a:close/>
              </a:path>
            </a:pathLst>
          </a:custGeom>
          <a:solidFill>
            <a:srgbClr val="E4E8F7"/>
          </a:solidFill>
          <a:ln>
            <a:noFill/>
          </a:ln>
        </p:spPr>
      </p:sp>
      <p:sp>
        <p:nvSpPr>
          <p:cNvPr id="4" name="toc-deco-line-1"/>
          <p:cNvSpPr/>
          <p:nvPr/>
        </p:nvSpPr>
        <p:spPr>
          <a:xfrm>
            <a:off x="571500" y="1428750"/>
            <a:ext cx="11049000" cy="381000"/>
          </a:xfrm>
          <a:custGeom>
            <a:avLst/>
            <a:gdLst/>
            <a:ahLst/>
            <a:cxnLst/>
            <a:rect l="l" t="t" r="r" b="b"/>
            <a:pathLst>
              <a:path w="11049000" h="381000">
                <a:moveTo>
                  <a:pt x="0" y="190500"/>
                </a:moveTo>
                <a:cubicBezTo>
                  <a:pt x="2286000" y="0"/>
                  <a:pt x="6096000" y="381000"/>
                  <a:pt x="11049000" y="0"/>
                </a:cubicBezTo>
              </a:path>
            </a:pathLst>
          </a:custGeom>
          <a:noFill/>
          <a:ln w="14288">
            <a:solidFill>
              <a:srgbClr val="DDE2F5"/>
            </a:solidFill>
          </a:ln>
        </p:spPr>
      </p:sp>
      <p:grpSp>
        <p:nvGrpSpPr>
          <p:cNvPr id="7" name="toc-watermark"/>
          <p:cNvGrpSpPr/>
          <p:nvPr/>
        </p:nvGrpSpPr>
        <p:grpSpPr>
          <a:xfrm>
            <a:off x="3887876" y="315278"/>
            <a:ext cx="4416247" cy="1076325"/>
            <a:chOff x="3887876" y="315278"/>
            <a:chExt cx="4416247" cy="1076325"/>
          </a:xfrm>
        </p:grpSpPr>
        <p:sp>
          <p:nvSpPr>
            <p:cNvPr id="5" name="TextBox 5"/>
            <p:cNvSpPr txBox="1"/>
            <p:nvPr/>
          </p:nvSpPr>
          <p:spPr>
            <a:xfrm>
              <a:off x="3887876" y="315278"/>
              <a:ext cx="4416247" cy="1076325"/>
            </a:xfrm>
            <a:prstGeom prst="rect">
              <a:avLst/>
            </a:prstGeom>
            <a:noFill/>
            <a:ln>
              <a:noFill/>
            </a:ln>
          </p:spPr>
          <p:txBody>
            <a:bodyPr wrap="none" lIns="0" tIns="0" rIns="0" bIns="0" anchor="t" anchorCtr="0">
              <a:spAutoFit/>
            </a:bodyPr>
            <a:lstStyle/>
            <a:p>
              <a:pPr algn="ctr"/>
              <a:r>
                <a:rPr lang="en-US" sz="5550" spc="750" dirty="0">
                  <a:solidFill>
                    <a:srgbClr val="E9EBF8"/>
                  </a:solidFill>
                  <a:latin typeface="+mn-lt"/>
                  <a:ea typeface="+mn-ea"/>
                  <a:cs typeface="+mn-cs"/>
                </a:rPr>
                <a:t>CONTENTS</a:t>
              </a:r>
            </a:p>
          </p:txBody>
        </p:sp>
        <p:sp>
          <p:nvSpPr>
            <p:cNvPr id="6" name="TextBox 6"/>
            <p:cNvSpPr txBox="1"/>
            <p:nvPr/>
          </p:nvSpPr>
          <p:spPr>
            <a:xfrm>
              <a:off x="5614035" y="580072"/>
              <a:ext cx="963930" cy="674751"/>
            </a:xfrm>
            <a:prstGeom prst="rect">
              <a:avLst/>
            </a:prstGeom>
            <a:noFill/>
            <a:ln>
              <a:noFill/>
            </a:ln>
          </p:spPr>
          <p:txBody>
            <a:bodyPr wrap="none" lIns="0" tIns="0" rIns="0" bIns="0" anchor="t" anchorCtr="0">
              <a:spAutoFit/>
            </a:bodyPr>
            <a:lstStyle/>
            <a:p>
              <a:pPr algn="ctr"/>
              <a:r>
                <a:rPr lang="zh-CN" sz="3450" b="1" dirty="0">
                  <a:solidFill>
                    <a:srgbClr val="C1553F"/>
                  </a:solidFill>
                  <a:latin typeface="+mn-lt"/>
                  <a:ea typeface="+mn-ea"/>
                  <a:cs typeface="+mn-cs"/>
                </a:rPr>
                <a:t>目录</a:t>
              </a:r>
            </a:p>
          </p:txBody>
        </p:sp>
      </p:grpSp>
      <p:sp>
        <p:nvSpPr>
          <p:cNvPr id="8" name="toc-deco-arrow"/>
          <p:cNvSpPr txBox="1"/>
          <p:nvPr/>
        </p:nvSpPr>
        <p:spPr>
          <a:xfrm>
            <a:off x="314706" y="1234440"/>
            <a:ext cx="151562" cy="352044"/>
          </a:xfrm>
          <a:prstGeom prst="rect">
            <a:avLst/>
          </a:prstGeom>
          <a:noFill/>
          <a:ln>
            <a:noFill/>
          </a:ln>
        </p:spPr>
        <p:txBody>
          <a:bodyPr wrap="none" lIns="0" tIns="0" rIns="0" bIns="0" anchor="t" anchorCtr="0">
            <a:spAutoFit/>
          </a:bodyPr>
          <a:lstStyle/>
          <a:p>
            <a:pPr algn="l"/>
            <a:r>
              <a:rPr lang="zh-CN" sz="1800" dirty="0">
                <a:solidFill>
                  <a:srgbClr val="E5624C"/>
                </a:solidFill>
                <a:latin typeface="+mn-lt"/>
                <a:ea typeface="+mn-ea"/>
                <a:cs typeface="+mn-cs"/>
              </a:rPr>
              <a:t>→</a:t>
            </a:r>
          </a:p>
        </p:txBody>
      </p:sp>
      <p:grpSp>
        <p:nvGrpSpPr>
          <p:cNvPr id="14" name="toc-item-1"/>
          <p:cNvGrpSpPr/>
          <p:nvPr/>
        </p:nvGrpSpPr>
        <p:grpSpPr>
          <a:xfrm>
            <a:off x="1133475" y="2457450"/>
            <a:ext cx="1624965" cy="2619375"/>
            <a:chOff x="1133475" y="2457450"/>
            <a:chExt cx="1624965" cy="2619375"/>
          </a:xfrm>
        </p:grpSpPr>
        <p:sp>
          <p:nvSpPr>
            <p:cNvPr id="9" name="Rectangle 9"/>
            <p:cNvSpPr/>
            <p:nvPr/>
          </p:nvSpPr>
          <p:spPr>
            <a:xfrm>
              <a:off x="1133475" y="2457450"/>
              <a:ext cx="695325" cy="2619375"/>
            </a:xfrm>
            <a:prstGeom prst="rect">
              <a:avLst/>
            </a:prstGeom>
            <a:solidFill>
              <a:srgbClr val="FFFFFF"/>
            </a:solidFill>
            <a:ln>
              <a:noFill/>
            </a:ln>
            <a:effectLst>
              <a:outerShdw blurRad="152400" dist="57150" dir="5400000" algn="ctr" rotWithShape="0">
                <a:srgbClr val="C1553F">
                  <a:alpha val="7500"/>
                </a:srgbClr>
              </a:outerShdw>
            </a:effectLst>
          </p:spPr>
        </p:sp>
        <p:sp>
          <p:nvSpPr>
            <p:cNvPr id="10" name="TextBox 10"/>
            <p:cNvSpPr txBox="1"/>
            <p:nvPr/>
          </p:nvSpPr>
          <p:spPr>
            <a:xfrm>
              <a:off x="1280160" y="2819400"/>
              <a:ext cx="474726" cy="586740"/>
            </a:xfrm>
            <a:prstGeom prst="rect">
              <a:avLst/>
            </a:prstGeom>
            <a:noFill/>
            <a:ln>
              <a:noFill/>
            </a:ln>
          </p:spPr>
          <p:txBody>
            <a:bodyPr wrap="none" lIns="0" tIns="0" rIns="0" bIns="0" anchor="t" anchorCtr="0">
              <a:spAutoFit/>
            </a:bodyPr>
            <a:lstStyle/>
            <a:p>
              <a:pPr algn="l"/>
              <a:r>
                <a:rPr lang="zh-CN" sz="3000" dirty="0">
                  <a:solidFill>
                    <a:srgbClr val="EA7E6C"/>
                  </a:solidFill>
                  <a:latin typeface="+mn-lt"/>
                  <a:ea typeface="+mn-ea"/>
                  <a:cs typeface="+mn-cs"/>
                </a:rPr>
                <a:t>01</a:t>
              </a:r>
            </a:p>
          </p:txBody>
        </p:sp>
        <p:sp>
          <p:nvSpPr>
            <p:cNvPr id="11" name="TextBox 11"/>
            <p:cNvSpPr txBox="1"/>
            <p:nvPr/>
          </p:nvSpPr>
          <p:spPr>
            <a:xfrm>
              <a:off x="1286256" y="3348990"/>
              <a:ext cx="1472184" cy="352044"/>
            </a:xfrm>
            <a:prstGeom prst="rect">
              <a:avLst/>
            </a:prstGeom>
            <a:noFill/>
            <a:ln>
              <a:noFill/>
            </a:ln>
          </p:spPr>
          <p:txBody>
            <a:bodyPr wrap="none" lIns="0" tIns="0" rIns="0" bIns="0" anchor="t" anchorCtr="0">
              <a:spAutoFit/>
            </a:bodyPr>
            <a:lstStyle/>
            <a:p>
              <a:pPr algn="l"/>
              <a:r>
                <a:rPr lang="zh-CN" sz="1800" b="1" dirty="0">
                  <a:solidFill>
                    <a:srgbClr val="C1553F"/>
                  </a:solidFill>
                  <a:latin typeface="+mn-lt"/>
                  <a:ea typeface="+mn-ea"/>
                  <a:cs typeface="+mn-cs"/>
                </a:rPr>
                <a:t>市场消费洞察</a:t>
              </a:r>
            </a:p>
          </p:txBody>
        </p:sp>
        <p:sp>
          <p:nvSpPr>
            <p:cNvPr id="12" name="TextBox 12"/>
            <p:cNvSpPr txBox="1"/>
            <p:nvPr/>
          </p:nvSpPr>
          <p:spPr>
            <a:xfrm>
              <a:off x="1299972" y="3838099"/>
              <a:ext cx="1378966" cy="419291"/>
            </a:xfrm>
            <a:prstGeom prst="rect">
              <a:avLst/>
            </a:prstGeom>
            <a:noFill/>
            <a:ln>
              <a:noFill/>
            </a:ln>
          </p:spPr>
          <p:txBody>
            <a:bodyPr wrap="none" lIns="0" tIns="0" rIns="0" bIns="0" anchor="t" anchorCtr="0">
              <a:spAutoFit/>
            </a:bodyPr>
            <a:lstStyle/>
            <a:p>
              <a:pPr algn="l">
                <a:lnSpc>
                  <a:spcPts val="1800"/>
                </a:lnSpc>
              </a:pPr>
              <a:r>
                <a:rPr lang="zh-CN" sz="980" dirty="0">
                  <a:solidFill>
                    <a:srgbClr val="808699"/>
                  </a:solidFill>
                  <a:latin typeface="+mn-lt"/>
                  <a:ea typeface="+mn-ea"/>
                  <a:cs typeface="+mn-cs"/>
                </a:rPr>
                <a:t>点击此处添加文本标题</a:t>
              </a:r>
              <a:br/>
              <a:r>
                <a:rPr lang="zh-CN" sz="980" dirty="0">
                  <a:solidFill>
                    <a:srgbClr val="808699"/>
                  </a:solidFill>
                  <a:latin typeface="+mn-lt"/>
                  <a:ea typeface="+mn-ea"/>
                  <a:cs typeface="+mn-cs"/>
                </a:rPr>
                <a:t>注意文字大小和文字段落</a:t>
              </a:r>
            </a:p>
          </p:txBody>
        </p:sp>
        <p:sp>
          <p:nvSpPr>
            <p:cNvPr id="13" name="Rectangle 13"/>
            <p:cNvSpPr/>
            <p:nvPr/>
          </p:nvSpPr>
          <p:spPr>
            <a:xfrm>
              <a:off x="1295400" y="4514850"/>
              <a:ext cx="361950" cy="38100"/>
            </a:xfrm>
            <a:prstGeom prst="rect">
              <a:avLst/>
            </a:prstGeom>
            <a:solidFill>
              <a:srgbClr val="E5624C"/>
            </a:solidFill>
            <a:ln>
              <a:noFill/>
            </a:ln>
          </p:spPr>
        </p:sp>
      </p:grpSp>
      <p:grpSp>
        <p:nvGrpSpPr>
          <p:cNvPr id="20" name="toc-item-2"/>
          <p:cNvGrpSpPr/>
          <p:nvPr/>
        </p:nvGrpSpPr>
        <p:grpSpPr>
          <a:xfrm>
            <a:off x="3952875" y="2895600"/>
            <a:ext cx="1624965" cy="2619375"/>
            <a:chOff x="3952875" y="2895600"/>
            <a:chExt cx="1624965" cy="2619375"/>
          </a:xfrm>
        </p:grpSpPr>
        <p:sp>
          <p:nvSpPr>
            <p:cNvPr id="15" name="Rectangle 15"/>
            <p:cNvSpPr/>
            <p:nvPr/>
          </p:nvSpPr>
          <p:spPr>
            <a:xfrm>
              <a:off x="3952875" y="2895600"/>
              <a:ext cx="695325" cy="2619375"/>
            </a:xfrm>
            <a:prstGeom prst="rect">
              <a:avLst/>
            </a:prstGeom>
            <a:solidFill>
              <a:srgbClr val="FFFFFF"/>
            </a:solidFill>
            <a:ln>
              <a:noFill/>
            </a:ln>
            <a:effectLst>
              <a:outerShdw blurRad="152400" dist="57150" dir="5400000" algn="ctr" rotWithShape="0">
                <a:srgbClr val="C1553F">
                  <a:alpha val="7500"/>
                </a:srgbClr>
              </a:outerShdw>
            </a:effectLst>
          </p:spPr>
        </p:sp>
        <p:sp>
          <p:nvSpPr>
            <p:cNvPr id="16" name="TextBox 16"/>
            <p:cNvSpPr txBox="1"/>
            <p:nvPr/>
          </p:nvSpPr>
          <p:spPr>
            <a:xfrm>
              <a:off x="4099560" y="3276600"/>
              <a:ext cx="474726" cy="586740"/>
            </a:xfrm>
            <a:prstGeom prst="rect">
              <a:avLst/>
            </a:prstGeom>
            <a:noFill/>
            <a:ln>
              <a:noFill/>
            </a:ln>
          </p:spPr>
          <p:txBody>
            <a:bodyPr wrap="none" lIns="0" tIns="0" rIns="0" bIns="0" anchor="t" anchorCtr="0">
              <a:spAutoFit/>
            </a:bodyPr>
            <a:lstStyle/>
            <a:p>
              <a:pPr algn="l"/>
              <a:r>
                <a:rPr lang="zh-CN" sz="3000" dirty="0">
                  <a:solidFill>
                    <a:srgbClr val="EA7E6C"/>
                  </a:solidFill>
                  <a:latin typeface="+mn-lt"/>
                  <a:ea typeface="+mn-ea"/>
                  <a:cs typeface="+mn-cs"/>
                </a:rPr>
                <a:t>02</a:t>
              </a:r>
            </a:p>
          </p:txBody>
        </p:sp>
        <p:sp>
          <p:nvSpPr>
            <p:cNvPr id="17" name="TextBox 17"/>
            <p:cNvSpPr txBox="1"/>
            <p:nvPr/>
          </p:nvSpPr>
          <p:spPr>
            <a:xfrm>
              <a:off x="4105656" y="3806190"/>
              <a:ext cx="1472184" cy="352044"/>
            </a:xfrm>
            <a:prstGeom prst="rect">
              <a:avLst/>
            </a:prstGeom>
            <a:noFill/>
            <a:ln>
              <a:noFill/>
            </a:ln>
          </p:spPr>
          <p:txBody>
            <a:bodyPr wrap="none" lIns="0" tIns="0" rIns="0" bIns="0" anchor="t" anchorCtr="0">
              <a:spAutoFit/>
            </a:bodyPr>
            <a:lstStyle/>
            <a:p>
              <a:pPr algn="l"/>
              <a:r>
                <a:rPr lang="zh-CN" sz="1800" b="1" dirty="0">
                  <a:solidFill>
                    <a:srgbClr val="C1553F"/>
                  </a:solidFill>
                  <a:latin typeface="+mn-lt"/>
                  <a:ea typeface="+mn-ea"/>
                  <a:cs typeface="+mn-cs"/>
                </a:rPr>
                <a:t>品牌战略定位</a:t>
              </a:r>
            </a:p>
          </p:txBody>
        </p:sp>
        <p:sp>
          <p:nvSpPr>
            <p:cNvPr id="18" name="TextBox 18"/>
            <p:cNvSpPr txBox="1"/>
            <p:nvPr/>
          </p:nvSpPr>
          <p:spPr>
            <a:xfrm>
              <a:off x="4119372" y="4295299"/>
              <a:ext cx="1378966" cy="419291"/>
            </a:xfrm>
            <a:prstGeom prst="rect">
              <a:avLst/>
            </a:prstGeom>
            <a:noFill/>
            <a:ln>
              <a:noFill/>
            </a:ln>
          </p:spPr>
          <p:txBody>
            <a:bodyPr wrap="none" lIns="0" tIns="0" rIns="0" bIns="0" anchor="t" anchorCtr="0">
              <a:spAutoFit/>
            </a:bodyPr>
            <a:lstStyle/>
            <a:p>
              <a:pPr algn="l">
                <a:lnSpc>
                  <a:spcPts val="1800"/>
                </a:lnSpc>
              </a:pPr>
              <a:r>
                <a:rPr lang="zh-CN" sz="980" dirty="0">
                  <a:solidFill>
                    <a:srgbClr val="808699"/>
                  </a:solidFill>
                  <a:latin typeface="+mn-lt"/>
                  <a:ea typeface="+mn-ea"/>
                  <a:cs typeface="+mn-cs"/>
                </a:rPr>
                <a:t>点击此处添加文本标题</a:t>
              </a:r>
              <a:br/>
              <a:r>
                <a:rPr lang="zh-CN" sz="980" dirty="0">
                  <a:solidFill>
                    <a:srgbClr val="808699"/>
                  </a:solidFill>
                  <a:latin typeface="+mn-lt"/>
                  <a:ea typeface="+mn-ea"/>
                  <a:cs typeface="+mn-cs"/>
                </a:rPr>
                <a:t>注意文字大小和文字段落</a:t>
              </a:r>
            </a:p>
          </p:txBody>
        </p:sp>
        <p:sp>
          <p:nvSpPr>
            <p:cNvPr id="19" name="Rectangle 19"/>
            <p:cNvSpPr/>
            <p:nvPr/>
          </p:nvSpPr>
          <p:spPr>
            <a:xfrm>
              <a:off x="4114800" y="4972050"/>
              <a:ext cx="361950" cy="38100"/>
            </a:xfrm>
            <a:prstGeom prst="rect">
              <a:avLst/>
            </a:prstGeom>
            <a:solidFill>
              <a:srgbClr val="E5624C"/>
            </a:solidFill>
            <a:ln>
              <a:noFill/>
            </a:ln>
          </p:spPr>
        </p:sp>
      </p:grpSp>
      <p:grpSp>
        <p:nvGrpSpPr>
          <p:cNvPr id="26" name="toc-item-3"/>
          <p:cNvGrpSpPr/>
          <p:nvPr/>
        </p:nvGrpSpPr>
        <p:grpSpPr>
          <a:xfrm>
            <a:off x="6753225" y="2247900"/>
            <a:ext cx="1624965" cy="2619375"/>
            <a:chOff x="6753225" y="2247900"/>
            <a:chExt cx="1624965" cy="2619375"/>
          </a:xfrm>
        </p:grpSpPr>
        <p:sp>
          <p:nvSpPr>
            <p:cNvPr id="21" name="Rectangle 21"/>
            <p:cNvSpPr/>
            <p:nvPr/>
          </p:nvSpPr>
          <p:spPr>
            <a:xfrm>
              <a:off x="6753225" y="2247900"/>
              <a:ext cx="695325" cy="2619375"/>
            </a:xfrm>
            <a:prstGeom prst="rect">
              <a:avLst/>
            </a:prstGeom>
            <a:solidFill>
              <a:srgbClr val="FFFFFF"/>
            </a:solidFill>
            <a:ln>
              <a:noFill/>
            </a:ln>
            <a:effectLst>
              <a:outerShdw blurRad="152400" dist="57150" dir="5400000" algn="ctr" rotWithShape="0">
                <a:srgbClr val="C1553F">
                  <a:alpha val="7500"/>
                </a:srgbClr>
              </a:outerShdw>
            </a:effectLst>
          </p:spPr>
        </p:sp>
        <p:sp>
          <p:nvSpPr>
            <p:cNvPr id="22" name="TextBox 22"/>
            <p:cNvSpPr txBox="1"/>
            <p:nvPr/>
          </p:nvSpPr>
          <p:spPr>
            <a:xfrm>
              <a:off x="6899910" y="2609850"/>
              <a:ext cx="474726" cy="586740"/>
            </a:xfrm>
            <a:prstGeom prst="rect">
              <a:avLst/>
            </a:prstGeom>
            <a:noFill/>
            <a:ln>
              <a:noFill/>
            </a:ln>
          </p:spPr>
          <p:txBody>
            <a:bodyPr wrap="none" lIns="0" tIns="0" rIns="0" bIns="0" anchor="t" anchorCtr="0">
              <a:spAutoFit/>
            </a:bodyPr>
            <a:lstStyle/>
            <a:p>
              <a:pPr algn="l"/>
              <a:r>
                <a:rPr lang="zh-CN" sz="3000" dirty="0">
                  <a:solidFill>
                    <a:srgbClr val="EA7E6C"/>
                  </a:solidFill>
                  <a:latin typeface="+mn-lt"/>
                  <a:ea typeface="+mn-ea"/>
                  <a:cs typeface="+mn-cs"/>
                </a:rPr>
                <a:t>03</a:t>
              </a:r>
            </a:p>
          </p:txBody>
        </p:sp>
        <p:sp>
          <p:nvSpPr>
            <p:cNvPr id="23" name="TextBox 23"/>
            <p:cNvSpPr txBox="1"/>
            <p:nvPr/>
          </p:nvSpPr>
          <p:spPr>
            <a:xfrm>
              <a:off x="6906006" y="3139440"/>
              <a:ext cx="1472184" cy="352044"/>
            </a:xfrm>
            <a:prstGeom prst="rect">
              <a:avLst/>
            </a:prstGeom>
            <a:noFill/>
            <a:ln>
              <a:noFill/>
            </a:ln>
          </p:spPr>
          <p:txBody>
            <a:bodyPr wrap="none" lIns="0" tIns="0" rIns="0" bIns="0" anchor="t" anchorCtr="0">
              <a:spAutoFit/>
            </a:bodyPr>
            <a:lstStyle/>
            <a:p>
              <a:pPr algn="l"/>
              <a:r>
                <a:rPr lang="zh-CN" sz="1800" b="1" dirty="0">
                  <a:solidFill>
                    <a:srgbClr val="C1553F"/>
                  </a:solidFill>
                  <a:latin typeface="+mn-lt"/>
                  <a:ea typeface="+mn-ea"/>
                  <a:cs typeface="+mn-cs"/>
                </a:rPr>
                <a:t>策略制定执行</a:t>
              </a:r>
            </a:p>
          </p:txBody>
        </p:sp>
        <p:sp>
          <p:nvSpPr>
            <p:cNvPr id="24" name="TextBox 24"/>
            <p:cNvSpPr txBox="1"/>
            <p:nvPr/>
          </p:nvSpPr>
          <p:spPr>
            <a:xfrm>
              <a:off x="6919722" y="3628549"/>
              <a:ext cx="1378966" cy="419291"/>
            </a:xfrm>
            <a:prstGeom prst="rect">
              <a:avLst/>
            </a:prstGeom>
            <a:noFill/>
            <a:ln>
              <a:noFill/>
            </a:ln>
          </p:spPr>
          <p:txBody>
            <a:bodyPr wrap="none" lIns="0" tIns="0" rIns="0" bIns="0" anchor="t" anchorCtr="0">
              <a:spAutoFit/>
            </a:bodyPr>
            <a:lstStyle/>
            <a:p>
              <a:pPr algn="l">
                <a:lnSpc>
                  <a:spcPts val="1800"/>
                </a:lnSpc>
              </a:pPr>
              <a:r>
                <a:rPr lang="zh-CN" sz="980" dirty="0">
                  <a:solidFill>
                    <a:srgbClr val="808699"/>
                  </a:solidFill>
                  <a:latin typeface="+mn-lt"/>
                  <a:ea typeface="+mn-ea"/>
                  <a:cs typeface="+mn-cs"/>
                </a:rPr>
                <a:t>点击此处添加文本标题</a:t>
              </a:r>
              <a:br/>
              <a:r>
                <a:rPr lang="zh-CN" sz="980" dirty="0">
                  <a:solidFill>
                    <a:srgbClr val="808699"/>
                  </a:solidFill>
                  <a:latin typeface="+mn-lt"/>
                  <a:ea typeface="+mn-ea"/>
                  <a:cs typeface="+mn-cs"/>
                </a:rPr>
                <a:t>注意文字大小和文字段落</a:t>
              </a:r>
            </a:p>
          </p:txBody>
        </p:sp>
        <p:sp>
          <p:nvSpPr>
            <p:cNvPr id="25" name="Rectangle 25"/>
            <p:cNvSpPr/>
            <p:nvPr/>
          </p:nvSpPr>
          <p:spPr>
            <a:xfrm>
              <a:off x="6915150" y="4305300"/>
              <a:ext cx="361950" cy="38100"/>
            </a:xfrm>
            <a:prstGeom prst="rect">
              <a:avLst/>
            </a:prstGeom>
            <a:solidFill>
              <a:srgbClr val="E5624C"/>
            </a:solidFill>
            <a:ln>
              <a:noFill/>
            </a:ln>
          </p:spPr>
        </p:sp>
      </p:grpSp>
      <p:grpSp>
        <p:nvGrpSpPr>
          <p:cNvPr id="32" name="toc-item-4"/>
          <p:cNvGrpSpPr/>
          <p:nvPr/>
        </p:nvGrpSpPr>
        <p:grpSpPr>
          <a:xfrm>
            <a:off x="9286875" y="2667000"/>
            <a:ext cx="1624965" cy="2619375"/>
            <a:chOff x="9286875" y="2667000"/>
            <a:chExt cx="1624965" cy="2619375"/>
          </a:xfrm>
        </p:grpSpPr>
        <p:sp>
          <p:nvSpPr>
            <p:cNvPr id="27" name="Rectangle 27"/>
            <p:cNvSpPr/>
            <p:nvPr/>
          </p:nvSpPr>
          <p:spPr>
            <a:xfrm>
              <a:off x="9286875" y="2667000"/>
              <a:ext cx="695325" cy="2619375"/>
            </a:xfrm>
            <a:prstGeom prst="rect">
              <a:avLst/>
            </a:prstGeom>
            <a:solidFill>
              <a:srgbClr val="FFFFFF"/>
            </a:solidFill>
            <a:ln>
              <a:noFill/>
            </a:ln>
            <a:effectLst>
              <a:outerShdw blurRad="152400" dist="57150" dir="5400000" algn="ctr" rotWithShape="0">
                <a:srgbClr val="C1553F">
                  <a:alpha val="7500"/>
                </a:srgbClr>
              </a:outerShdw>
            </a:effectLst>
          </p:spPr>
        </p:sp>
        <p:sp>
          <p:nvSpPr>
            <p:cNvPr id="28" name="TextBox 28"/>
            <p:cNvSpPr txBox="1"/>
            <p:nvPr/>
          </p:nvSpPr>
          <p:spPr>
            <a:xfrm>
              <a:off x="9433560" y="3048000"/>
              <a:ext cx="474726" cy="586740"/>
            </a:xfrm>
            <a:prstGeom prst="rect">
              <a:avLst/>
            </a:prstGeom>
            <a:noFill/>
            <a:ln>
              <a:noFill/>
            </a:ln>
          </p:spPr>
          <p:txBody>
            <a:bodyPr wrap="none" lIns="0" tIns="0" rIns="0" bIns="0" anchor="t" anchorCtr="0">
              <a:spAutoFit/>
            </a:bodyPr>
            <a:lstStyle/>
            <a:p>
              <a:pPr algn="l"/>
              <a:r>
                <a:rPr lang="zh-CN" sz="3000" dirty="0">
                  <a:solidFill>
                    <a:srgbClr val="EA7E6C"/>
                  </a:solidFill>
                  <a:latin typeface="+mn-lt"/>
                  <a:ea typeface="+mn-ea"/>
                  <a:cs typeface="+mn-cs"/>
                </a:rPr>
                <a:t>04</a:t>
              </a:r>
            </a:p>
          </p:txBody>
        </p:sp>
        <p:sp>
          <p:nvSpPr>
            <p:cNvPr id="29" name="TextBox 29"/>
            <p:cNvSpPr txBox="1"/>
            <p:nvPr/>
          </p:nvSpPr>
          <p:spPr>
            <a:xfrm>
              <a:off x="9439656" y="3577590"/>
              <a:ext cx="1472184" cy="352044"/>
            </a:xfrm>
            <a:prstGeom prst="rect">
              <a:avLst/>
            </a:prstGeom>
            <a:noFill/>
            <a:ln>
              <a:noFill/>
            </a:ln>
          </p:spPr>
          <p:txBody>
            <a:bodyPr wrap="none" lIns="0" tIns="0" rIns="0" bIns="0" anchor="t" anchorCtr="0">
              <a:spAutoFit/>
            </a:bodyPr>
            <a:lstStyle/>
            <a:p>
              <a:pPr algn="l"/>
              <a:r>
                <a:rPr lang="zh-CN" sz="1800" b="1" dirty="0">
                  <a:solidFill>
                    <a:srgbClr val="C1553F"/>
                  </a:solidFill>
                  <a:latin typeface="+mn-lt"/>
                  <a:ea typeface="+mn-ea"/>
                  <a:cs typeface="+mn-cs"/>
                </a:rPr>
                <a:t>传播推广效果</a:t>
              </a:r>
            </a:p>
          </p:txBody>
        </p:sp>
        <p:sp>
          <p:nvSpPr>
            <p:cNvPr id="30" name="TextBox 30"/>
            <p:cNvSpPr txBox="1"/>
            <p:nvPr/>
          </p:nvSpPr>
          <p:spPr>
            <a:xfrm>
              <a:off x="9453372" y="4066699"/>
              <a:ext cx="1378966" cy="419291"/>
            </a:xfrm>
            <a:prstGeom prst="rect">
              <a:avLst/>
            </a:prstGeom>
            <a:noFill/>
            <a:ln>
              <a:noFill/>
            </a:ln>
          </p:spPr>
          <p:txBody>
            <a:bodyPr wrap="none" lIns="0" tIns="0" rIns="0" bIns="0" anchor="t" anchorCtr="0">
              <a:spAutoFit/>
            </a:bodyPr>
            <a:lstStyle/>
            <a:p>
              <a:pPr algn="l">
                <a:lnSpc>
                  <a:spcPts val="1800"/>
                </a:lnSpc>
              </a:pPr>
              <a:r>
                <a:rPr lang="zh-CN" sz="980" dirty="0">
                  <a:solidFill>
                    <a:srgbClr val="808699"/>
                  </a:solidFill>
                  <a:latin typeface="+mn-lt"/>
                  <a:ea typeface="+mn-ea"/>
                  <a:cs typeface="+mn-cs"/>
                </a:rPr>
                <a:t>点击此处添加文本标题</a:t>
              </a:r>
              <a:br/>
              <a:r>
                <a:rPr lang="zh-CN" sz="980" dirty="0">
                  <a:solidFill>
                    <a:srgbClr val="808699"/>
                  </a:solidFill>
                  <a:latin typeface="+mn-lt"/>
                  <a:ea typeface="+mn-ea"/>
                  <a:cs typeface="+mn-cs"/>
                </a:rPr>
                <a:t>注意文字大小和文字段落</a:t>
              </a:r>
            </a:p>
          </p:txBody>
        </p:sp>
        <p:sp>
          <p:nvSpPr>
            <p:cNvPr id="31" name="Rectangle 31"/>
            <p:cNvSpPr/>
            <p:nvPr/>
          </p:nvSpPr>
          <p:spPr>
            <a:xfrm>
              <a:off x="9448800" y="4743450"/>
              <a:ext cx="361950" cy="38100"/>
            </a:xfrm>
            <a:prstGeom prst="rect">
              <a:avLst/>
            </a:prstGeom>
            <a:solidFill>
              <a:srgbClr val="E5624C"/>
            </a:solidFill>
            <a:ln>
              <a:noFill/>
            </a:ln>
          </p:spPr>
        </p:sp>
      </p:gr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silver-panel"/>
          <p:cNvSpPr/>
          <p:nvPr/>
        </p:nvSpPr>
        <p:spPr>
          <a:xfrm>
            <a:off x="0" y="0"/>
            <a:ext cx="2933700" cy="6858000"/>
          </a:xfrm>
          <a:prstGeom prst="rect">
            <a:avLst/>
          </a:prstGeom>
          <a:gradFill>
            <a:gsLst>
              <a:gs pos="0">
                <a:srgbClr val="EDEEF3"/>
              </a:gs>
              <a:gs pos="45000">
                <a:srgbClr val="D6D9E2"/>
              </a:gs>
              <a:gs pos="100000">
                <a:srgbClr val="BFC4D4"/>
              </a:gs>
            </a:gsLst>
            <a:lin ang="2700000" scaled="1"/>
          </a:gradFill>
          <a:ln>
            <a:noFill/>
          </a:ln>
        </p:spPr>
      </p:sp>
      <p:sp>
        <p:nvSpPr>
          <p:cNvPr id="3" name="section-silver-fold-1"/>
          <p:cNvSpPr/>
          <p:nvPr/>
        </p:nvSpPr>
        <p:spPr>
          <a:xfrm>
            <a:off x="0" y="0"/>
            <a:ext cx="2381250" cy="1143000"/>
          </a:xfrm>
          <a:custGeom>
            <a:avLst/>
            <a:gdLst/>
            <a:ahLst/>
            <a:cxnLst/>
            <a:rect l="l" t="t" r="r" b="b"/>
            <a:pathLst>
              <a:path w="2381250" h="1143000">
                <a:moveTo>
                  <a:pt x="0" y="1143000"/>
                </a:moveTo>
                <a:lnTo>
                  <a:pt x="2381250" y="0"/>
                </a:lnTo>
              </a:path>
            </a:pathLst>
          </a:custGeom>
          <a:noFill/>
          <a:ln w="247650">
            <a:solidFill>
              <a:srgbClr val="F6F7FA">
                <a:alpha val="70000"/>
              </a:srgbClr>
            </a:solidFill>
          </a:ln>
        </p:spPr>
      </p:sp>
      <p:sp>
        <p:nvSpPr>
          <p:cNvPr id="4" name="section-silver-fold-2"/>
          <p:cNvSpPr/>
          <p:nvPr/>
        </p:nvSpPr>
        <p:spPr>
          <a:xfrm>
            <a:off x="0" y="3333750"/>
            <a:ext cx="2933700" cy="1238250"/>
          </a:xfrm>
          <a:custGeom>
            <a:avLst/>
            <a:gdLst/>
            <a:ahLst/>
            <a:cxnLst/>
            <a:rect l="l" t="t" r="r" b="b"/>
            <a:pathLst>
              <a:path w="2933700" h="1238250">
                <a:moveTo>
                  <a:pt x="0" y="762000"/>
                </a:moveTo>
                <a:cubicBezTo>
                  <a:pt x="1143000" y="0"/>
                  <a:pt x="2286000" y="1238250"/>
                  <a:pt x="2933700" y="476250"/>
                </a:cubicBezTo>
              </a:path>
            </a:pathLst>
          </a:custGeom>
          <a:noFill/>
          <a:ln w="285750">
            <a:solidFill>
              <a:srgbClr val="AEB4C6">
                <a:alpha val="50000"/>
              </a:srgbClr>
            </a:solidFill>
          </a:ln>
        </p:spPr>
      </p:sp>
      <p:sp>
        <p:nvSpPr>
          <p:cNvPr id="5" name="section-silver-fold-3"/>
          <p:cNvSpPr/>
          <p:nvPr/>
        </p:nvSpPr>
        <p:spPr>
          <a:xfrm>
            <a:off x="285750" y="4953000"/>
            <a:ext cx="2647950" cy="1905000"/>
          </a:xfrm>
          <a:custGeom>
            <a:avLst/>
            <a:gdLst/>
            <a:ahLst/>
            <a:cxnLst/>
            <a:rect l="l" t="t" r="r" b="b"/>
            <a:pathLst>
              <a:path w="2647950" h="1905000">
                <a:moveTo>
                  <a:pt x="0" y="1905000"/>
                </a:moveTo>
                <a:lnTo>
                  <a:pt x="2647950" y="0"/>
                </a:lnTo>
              </a:path>
            </a:pathLst>
          </a:custGeom>
          <a:noFill/>
          <a:ln w="209550">
            <a:solidFill>
              <a:srgbClr val="F6F7FA">
                <a:alpha val="60000"/>
              </a:srgbClr>
            </a:solidFill>
          </a:ln>
        </p:spPr>
      </p:sp>
      <p:grpSp>
        <p:nvGrpSpPr>
          <p:cNvPr id="10" name="section-icon-circle"/>
          <p:cNvGrpSpPr/>
          <p:nvPr/>
        </p:nvGrpSpPr>
        <p:grpSpPr>
          <a:xfrm>
            <a:off x="2000250" y="1914525"/>
            <a:ext cx="1752600" cy="1752600"/>
            <a:chOff x="2000250" y="1914525"/>
            <a:chExt cx="1752600" cy="1752600"/>
          </a:xfrm>
        </p:grpSpPr>
        <p:sp>
          <p:nvSpPr>
            <p:cNvPr id="6" name="Ellipse 6"/>
            <p:cNvSpPr/>
            <p:nvPr/>
          </p:nvSpPr>
          <p:spPr>
            <a:xfrm>
              <a:off x="2000250" y="1914525"/>
              <a:ext cx="1752600" cy="1752600"/>
            </a:xfrm>
            <a:prstGeom prst="ellipse">
              <a:avLst/>
            </a:prstGeom>
            <a:solidFill>
              <a:srgbClr val="FFFFFF"/>
            </a:solidFill>
            <a:ln>
              <a:noFill/>
            </a:ln>
            <a:effectLst>
              <a:outerShdw blurRad="152400" dist="57150" dir="5400000" algn="ctr" rotWithShape="0">
                <a:srgbClr val="C1553F">
                  <a:alpha val="7500"/>
                </a:srgbClr>
              </a:outerShdw>
            </a:effectLst>
          </p:spPr>
        </p:sp>
        <p:sp>
          <p:nvSpPr>
            <p:cNvPr id="7" name="Ellipse 7"/>
            <p:cNvSpPr/>
            <p:nvPr/>
          </p:nvSpPr>
          <p:spPr>
            <a:xfrm>
              <a:off x="2457450" y="2371725"/>
              <a:ext cx="838200" cy="838200"/>
            </a:xfrm>
            <a:prstGeom prst="ellipse">
              <a:avLst/>
            </a:prstGeom>
            <a:noFill/>
            <a:ln w="66675">
              <a:solidFill>
                <a:srgbClr val="E5624C"/>
              </a:solidFill>
            </a:ln>
          </p:spPr>
        </p:sp>
        <p:sp>
          <p:nvSpPr>
            <p:cNvPr id="8" name="Freeform 8"/>
            <p:cNvSpPr/>
            <p:nvPr/>
          </p:nvSpPr>
          <p:spPr>
            <a:xfrm>
              <a:off x="2667000" y="2581275"/>
              <a:ext cx="381000" cy="381000"/>
            </a:xfrm>
            <a:custGeom>
              <a:avLst/>
              <a:gdLst/>
              <a:ahLst/>
              <a:cxnLst/>
              <a:rect l="l" t="t" r="r" b="b"/>
              <a:pathLst>
                <a:path w="381000" h="381000">
                  <a:moveTo>
                    <a:pt x="0" y="0"/>
                  </a:moveTo>
                  <a:lnTo>
                    <a:pt x="381000" y="381000"/>
                  </a:lnTo>
                </a:path>
              </a:pathLst>
            </a:custGeom>
            <a:noFill/>
            <a:ln w="66675">
              <a:solidFill>
                <a:srgbClr val="E5624C"/>
              </a:solidFill>
              <a:tailEnd type="triangle" w="lg" len="lg"/>
            </a:ln>
          </p:spPr>
        </p:sp>
        <p:sp>
          <p:nvSpPr>
            <p:cNvPr id="9" name="Freeform 9"/>
            <p:cNvSpPr/>
            <p:nvPr/>
          </p:nvSpPr>
          <p:spPr>
            <a:xfrm>
              <a:off x="2667000" y="2581275"/>
              <a:ext cx="209550" cy="9525"/>
            </a:xfrm>
            <a:custGeom>
              <a:avLst/>
              <a:gdLst/>
              <a:ahLst/>
              <a:cxnLst/>
              <a:rect l="l" t="t" r="r" b="b"/>
              <a:pathLst>
                <a:path w="209550" h="9525">
                  <a:moveTo>
                    <a:pt x="0" y="0"/>
                  </a:moveTo>
                  <a:lnTo>
                    <a:pt x="209550" y="0"/>
                  </a:lnTo>
                </a:path>
              </a:pathLst>
            </a:custGeom>
            <a:noFill/>
            <a:ln w="66675">
              <a:solidFill>
                <a:srgbClr val="E5624C"/>
              </a:solidFill>
            </a:ln>
          </p:spPr>
        </p:sp>
      </p:grpSp>
      <p:grpSp>
        <p:nvGrpSpPr>
          <p:cNvPr id="15" name="section-title-block"/>
          <p:cNvGrpSpPr/>
          <p:nvPr/>
        </p:nvGrpSpPr>
        <p:grpSpPr>
          <a:xfrm>
            <a:off x="4324350" y="2121218"/>
            <a:ext cx="3981450" cy="1401127"/>
            <a:chOff x="4324350" y="2121218"/>
            <a:chExt cx="3981450" cy="1401127"/>
          </a:xfrm>
        </p:grpSpPr>
        <p:sp>
          <p:nvSpPr>
            <p:cNvPr id="11" name="TextBox 11"/>
            <p:cNvSpPr txBox="1"/>
            <p:nvPr/>
          </p:nvSpPr>
          <p:spPr>
            <a:xfrm>
              <a:off x="4324350" y="2121218"/>
              <a:ext cx="3783635" cy="847725"/>
            </a:xfrm>
            <a:prstGeom prst="rect">
              <a:avLst/>
            </a:prstGeom>
            <a:noFill/>
            <a:ln>
              <a:noFill/>
            </a:ln>
          </p:spPr>
          <p:txBody>
            <a:bodyPr wrap="none" lIns="0" tIns="0" rIns="0" bIns="0" anchor="t" anchorCtr="0">
              <a:spAutoFit/>
            </a:bodyPr>
            <a:lstStyle/>
            <a:p>
              <a:pPr algn="l"/>
              <a:r>
                <a:rPr lang="en-US" sz="4350" spc="600" dirty="0">
                  <a:solidFill>
                    <a:srgbClr val="C9CFEA"/>
                  </a:solidFill>
                  <a:latin typeface="+mn-lt"/>
                  <a:ea typeface="+mn-ea"/>
                  <a:cs typeface="+mn-cs"/>
                </a:rPr>
                <a:t>STRATEGY​</a:t>
              </a:r>
            </a:p>
          </p:txBody>
        </p:sp>
        <p:sp>
          <p:nvSpPr>
            <p:cNvPr id="12" name="TextBox 12"/>
            <p:cNvSpPr txBox="1"/>
            <p:nvPr/>
          </p:nvSpPr>
          <p:spPr>
            <a:xfrm>
              <a:off x="4324350" y="2760345"/>
              <a:ext cx="3188208" cy="762000"/>
            </a:xfrm>
            <a:prstGeom prst="rect">
              <a:avLst/>
            </a:prstGeom>
            <a:noFill/>
            <a:ln>
              <a:noFill/>
            </a:ln>
          </p:spPr>
          <p:txBody>
            <a:bodyPr wrap="none" lIns="0" tIns="0" rIns="0" bIns="0" anchor="t" anchorCtr="0">
              <a:spAutoFit/>
            </a:bodyPr>
            <a:lstStyle/>
            <a:p>
              <a:pPr algn="l"/>
              <a:r>
                <a:rPr lang="zh-CN" sz="3900" b="1" dirty="0">
                  <a:solidFill>
                    <a:srgbClr val="C1553F"/>
                  </a:solidFill>
                  <a:latin typeface="+mn-lt"/>
                  <a:ea typeface="+mn-ea"/>
                  <a:cs typeface="+mn-cs"/>
                </a:rPr>
                <a:t>品牌战略定位</a:t>
              </a:r>
            </a:p>
          </p:txBody>
        </p:sp>
        <p:sp>
          <p:nvSpPr>
            <p:cNvPr id="13" name="Ellipse 13"/>
            <p:cNvSpPr/>
            <p:nvPr/>
          </p:nvSpPr>
          <p:spPr>
            <a:xfrm>
              <a:off x="7534275" y="2981325"/>
              <a:ext cx="171450" cy="171450"/>
            </a:xfrm>
            <a:prstGeom prst="ellipse">
              <a:avLst/>
            </a:prstGeom>
            <a:noFill/>
            <a:ln w="38100">
              <a:solidFill>
                <a:srgbClr val="E5624C"/>
              </a:solidFill>
            </a:ln>
          </p:spPr>
        </p:sp>
        <p:sp>
          <p:nvSpPr>
            <p:cNvPr id="14" name="Rectangle 14"/>
            <p:cNvSpPr/>
            <p:nvPr/>
          </p:nvSpPr>
          <p:spPr>
            <a:xfrm>
              <a:off x="4343400" y="3390900"/>
              <a:ext cx="3962400" cy="28575"/>
            </a:xfrm>
            <a:prstGeom prst="rect">
              <a:avLst/>
            </a:prstGeom>
            <a:solidFill>
              <a:srgbClr val="C1553F"/>
            </a:solidFill>
            <a:ln>
              <a:noFill/>
            </a:ln>
          </p:spPr>
        </p:sp>
      </p:grpSp>
      <p:grpSp>
        <p:nvGrpSpPr>
          <p:cNvPr id="17" name="section-body"/>
          <p:cNvGrpSpPr/>
          <p:nvPr/>
        </p:nvGrpSpPr>
        <p:grpSpPr>
          <a:xfrm>
            <a:off x="4337304" y="3794760"/>
            <a:ext cx="6260592" cy="501396"/>
            <a:chOff x="4337304" y="3794760"/>
            <a:chExt cx="6260592" cy="501396"/>
          </a:xfrm>
        </p:grpSpPr>
        <p:sp>
          <p:nvSpPr>
            <p:cNvPr id="16" name="TextBox 16"/>
            <p:cNvSpPr txBox="1"/>
            <p:nvPr/>
          </p:nvSpPr>
          <p:spPr>
            <a:xfrm>
              <a:off x="4337304" y="3794760"/>
              <a:ext cx="6260592" cy="501396"/>
            </a:xfrm>
            <a:prstGeom prst="rect">
              <a:avLst/>
            </a:prstGeom>
            <a:noFill/>
            <a:ln>
              <a:noFill/>
            </a:ln>
          </p:spPr>
          <p:txBody>
            <a:bodyPr wrap="none" lIns="0" tIns="0" rIns="0" bIns="0" anchor="t" anchorCtr="0">
              <a:spAutoFit/>
            </a:bodyPr>
            <a:lstStyle/>
            <a:p>
              <a:pPr algn="l">
                <a:lnSpc>
                  <a:spcPts val="2100"/>
                </a:lnSpc>
              </a:pPr>
              <a:r>
                <a:rPr lang="zh-CN" sz="1200" dirty="0">
                  <a:solidFill>
                    <a:srgbClr val="808699"/>
                  </a:solidFill>
                  <a:latin typeface="+mn-lt"/>
                  <a:ea typeface="+mn-ea"/>
                  <a:cs typeface="+mn-cs"/>
                </a:rPr>
                <a:t>市场环境不断变化，消费者需求也在不断演变，品牌建设是一个长期而持续的过程。在未来的</a:t>
              </a:r>
              <a:br/>
              <a:r>
                <a:rPr lang="zh-CN" sz="1200" dirty="0">
                  <a:solidFill>
                    <a:srgbClr val="808699"/>
                  </a:solidFill>
                  <a:latin typeface="+mn-lt"/>
                  <a:ea typeface="+mn-ea"/>
                  <a:cs typeface="+mn-cs"/>
                </a:rPr>
                <a:t>发展中，我们将继续坚持以品牌核心价值为导向，不断创新和优化品牌战略。</a:t>
              </a:r>
            </a:p>
          </p:txBody>
        </p:sp>
      </p:grpSp>
      <p:grpSp>
        <p:nvGrpSpPr>
          <p:cNvPr id="20" name="section-part-chip"/>
          <p:cNvGrpSpPr/>
          <p:nvPr/>
        </p:nvGrpSpPr>
        <p:grpSpPr>
          <a:xfrm>
            <a:off x="4343400" y="4819650"/>
            <a:ext cx="2000250" cy="382048"/>
            <a:chOff x="4343400" y="4819650"/>
            <a:chExt cx="2000250" cy="382048"/>
          </a:xfrm>
        </p:grpSpPr>
        <p:sp>
          <p:nvSpPr>
            <p:cNvPr id="18" name="Rectangle 18"/>
            <p:cNvSpPr/>
            <p:nvPr/>
          </p:nvSpPr>
          <p:spPr>
            <a:xfrm>
              <a:off x="4343400" y="4819650"/>
              <a:ext cx="2000250" cy="381000"/>
            </a:xfrm>
            <a:prstGeom prst="rect">
              <a:avLst/>
            </a:prstGeom>
            <a:solidFill>
              <a:srgbClr val="FFFFFF"/>
            </a:solidFill>
            <a:ln>
              <a:noFill/>
            </a:ln>
            <a:effectLst>
              <a:outerShdw blurRad="152400" dist="57150" dir="5400000" algn="ctr" rotWithShape="0">
                <a:srgbClr val="C1553F">
                  <a:alpha val="7500"/>
                </a:srgbClr>
              </a:outerShdw>
            </a:effectLst>
          </p:spPr>
        </p:sp>
        <p:sp>
          <p:nvSpPr>
            <p:cNvPr id="19" name="TextBox 19"/>
            <p:cNvSpPr txBox="1"/>
            <p:nvPr/>
          </p:nvSpPr>
          <p:spPr>
            <a:xfrm>
              <a:off x="4822302" y="4922996"/>
              <a:ext cx="1042446" cy="278702"/>
            </a:xfrm>
            <a:prstGeom prst="rect">
              <a:avLst/>
            </a:prstGeom>
            <a:noFill/>
            <a:ln>
              <a:noFill/>
            </a:ln>
          </p:spPr>
          <p:txBody>
            <a:bodyPr wrap="none" lIns="0" tIns="0" rIns="0" bIns="0" anchor="t" anchorCtr="0">
              <a:spAutoFit/>
            </a:bodyPr>
            <a:lstStyle/>
            <a:p>
              <a:pPr algn="ctr"/>
              <a:r>
                <a:rPr lang="en-US" sz="1420" spc="150" dirty="0">
                  <a:solidFill>
                    <a:srgbClr val="E5624C"/>
                  </a:solidFill>
                  <a:latin typeface="+mn-lt"/>
                  <a:ea typeface="+mn-ea"/>
                  <a:cs typeface="+mn-cs"/>
                </a:rPr>
                <a:t>PART ONE</a:t>
              </a:r>
            </a:p>
          </p:txBody>
        </p:sp>
      </p:grpSp>
      <p:sp>
        <p:nvSpPr>
          <p:cNvPr id="21" name="TextBox 21"/>
          <p:cNvSpPr txBox="1"/>
          <p:nvPr/>
        </p:nvSpPr>
        <p:spPr>
          <a:xfrm>
            <a:off x="10767060" y="526256"/>
            <a:ext cx="1182008" cy="220028"/>
          </a:xfrm>
          <a:prstGeom prst="rect">
            <a:avLst/>
          </a:prstGeom>
          <a:noFill/>
          <a:ln>
            <a:noFill/>
          </a:ln>
        </p:spPr>
        <p:txBody>
          <a:bodyPr wrap="none" lIns="0" tIns="0" rIns="0" bIns="0" anchor="t" anchorCtr="0">
            <a:spAutoFit/>
          </a:bodyPr>
          <a:lstStyle/>
          <a:p>
            <a:pPr algn="l"/>
            <a:r>
              <a:rPr lang="en-US" sz="1120" b="1" spc="150" dirty="0">
                <a:solidFill>
                  <a:srgbClr val="D47D6B"/>
                </a:solidFill>
                <a:latin typeface="+mn-lt"/>
                <a:ea typeface="+mn-ea"/>
                <a:cs typeface="+mn-cs"/>
              </a:rPr>
              <a:t>YOUR LOGO​</a:t>
            </a:r>
          </a:p>
        </p:txBody>
      </p:sp>
      <p:grpSp>
        <p:nvGrpSpPr>
          <p:cNvPr id="27" name="section-phone"/>
          <p:cNvGrpSpPr/>
          <p:nvPr/>
        </p:nvGrpSpPr>
        <p:grpSpPr>
          <a:xfrm>
            <a:off x="10434638" y="6141244"/>
            <a:ext cx="1502397" cy="250412"/>
            <a:chOff x="10434638" y="6141244"/>
            <a:chExt cx="1502397" cy="250412"/>
          </a:xfrm>
        </p:grpSpPr>
        <p:grpSp>
          <p:nvGrpSpPr>
            <p:cNvPr id="25" name="Group 25"/>
            <p:cNvGrpSpPr/>
            <p:nvPr/>
          </p:nvGrpSpPr>
          <p:grpSpPr>
            <a:xfrm>
              <a:off x="10434638" y="6141244"/>
              <a:ext cx="104775" cy="157163"/>
              <a:chOff x="10434638" y="6141244"/>
              <a:chExt cx="104775" cy="157163"/>
            </a:xfrm>
          </p:grpSpPr>
          <p:sp>
            <p:nvSpPr>
              <p:cNvPr id="22" name="Freeform 22"/>
              <p:cNvSpPr/>
              <p:nvPr/>
            </p:nvSpPr>
            <p:spPr>
              <a:xfrm>
                <a:off x="10434638" y="6141244"/>
                <a:ext cx="104775" cy="157163"/>
              </a:xfrm>
              <a:custGeom>
                <a:avLst/>
                <a:gdLst/>
                <a:ahLst/>
                <a:cxnLst/>
                <a:rect l="l" t="t" r="r" b="b"/>
                <a:pathLst>
                  <a:path w="104775" h="157163">
                    <a:moveTo>
                      <a:pt x="0" y="17463"/>
                    </a:moveTo>
                    <a:cubicBezTo>
                      <a:pt x="0" y="7818"/>
                      <a:pt x="7818" y="0"/>
                      <a:pt x="17463" y="0"/>
                    </a:cubicBezTo>
                    <a:lnTo>
                      <a:pt x="87313" y="0"/>
                    </a:lnTo>
                    <a:cubicBezTo>
                      <a:pt x="96957" y="0"/>
                      <a:pt x="104775" y="7818"/>
                      <a:pt x="104775" y="17463"/>
                    </a:cubicBezTo>
                    <a:lnTo>
                      <a:pt x="104775" y="139700"/>
                    </a:lnTo>
                    <a:cubicBezTo>
                      <a:pt x="104775" y="149344"/>
                      <a:pt x="96957" y="157163"/>
                      <a:pt x="87313" y="157163"/>
                    </a:cubicBezTo>
                    <a:lnTo>
                      <a:pt x="17463" y="157163"/>
                    </a:lnTo>
                    <a:cubicBezTo>
                      <a:pt x="7818" y="157163"/>
                      <a:pt x="0" y="149344"/>
                      <a:pt x="0" y="139700"/>
                    </a:cubicBezTo>
                    <a:lnTo>
                      <a:pt x="0" y="17463"/>
                    </a:lnTo>
                  </a:path>
                </a:pathLst>
              </a:custGeom>
              <a:noFill/>
              <a:ln w="17463">
                <a:solidFill>
                  <a:srgbClr val="C1553F"/>
                </a:solidFill>
              </a:ln>
            </p:spPr>
          </p:sp>
          <p:sp>
            <p:nvSpPr>
              <p:cNvPr id="23" name="Freeform 23"/>
              <p:cNvSpPr/>
              <p:nvPr/>
            </p:nvSpPr>
            <p:spPr>
              <a:xfrm>
                <a:off x="10478294" y="6149975"/>
                <a:ext cx="17463" cy="9525"/>
              </a:xfrm>
              <a:custGeom>
                <a:avLst/>
                <a:gdLst/>
                <a:ahLst/>
                <a:cxnLst/>
                <a:rect l="l" t="t" r="r" b="b"/>
                <a:pathLst>
                  <a:path w="17463" h="9525">
                    <a:moveTo>
                      <a:pt x="0" y="0"/>
                    </a:moveTo>
                    <a:lnTo>
                      <a:pt x="17463" y="0"/>
                    </a:lnTo>
                  </a:path>
                </a:pathLst>
              </a:custGeom>
              <a:noFill/>
              <a:ln w="17463">
                <a:solidFill>
                  <a:srgbClr val="C1553F"/>
                </a:solidFill>
              </a:ln>
            </p:spPr>
          </p:sp>
          <p:sp>
            <p:nvSpPr>
              <p:cNvPr id="24" name="Freeform 24"/>
              <p:cNvSpPr/>
              <p:nvPr/>
            </p:nvSpPr>
            <p:spPr>
              <a:xfrm>
                <a:off x="10487025" y="6263481"/>
                <a:ext cx="9525" cy="9525"/>
              </a:xfrm>
              <a:custGeom>
                <a:avLst/>
                <a:gdLst/>
                <a:ahLst/>
                <a:cxnLst/>
                <a:rect l="l" t="t" r="r" b="b"/>
                <a:pathLst>
                  <a:path w="9525" h="9525">
                    <a:moveTo>
                      <a:pt x="0" y="0"/>
                    </a:moveTo>
                    <a:lnTo>
                      <a:pt x="0" y="87"/>
                    </a:lnTo>
                  </a:path>
                </a:pathLst>
              </a:custGeom>
              <a:noFill/>
              <a:ln w="17463">
                <a:solidFill>
                  <a:srgbClr val="C1553F"/>
                </a:solidFill>
              </a:ln>
            </p:spPr>
          </p:sp>
        </p:grpSp>
        <p:sp>
          <p:nvSpPr>
            <p:cNvPr id="26" name="TextBox 26"/>
            <p:cNvSpPr txBox="1"/>
            <p:nvPr/>
          </p:nvSpPr>
          <p:spPr>
            <a:xfrm>
              <a:off x="10680954" y="6156960"/>
              <a:ext cx="1256081" cy="234696"/>
            </a:xfrm>
            <a:prstGeom prst="rect">
              <a:avLst/>
            </a:prstGeom>
            <a:noFill/>
            <a:ln>
              <a:noFill/>
            </a:ln>
          </p:spPr>
          <p:txBody>
            <a:bodyPr wrap="none" lIns="0" tIns="0" rIns="0" bIns="0" anchor="t" anchorCtr="0">
              <a:spAutoFit/>
            </a:bodyPr>
            <a:lstStyle/>
            <a:p>
              <a:pPr algn="l"/>
              <a:r>
                <a:rPr lang="zh-CN" sz="1200" dirty="0">
                  <a:solidFill>
                    <a:srgbClr val="705F5B"/>
                  </a:solidFill>
                  <a:latin typeface="+mn-lt"/>
                  <a:ea typeface="+mn-ea"/>
                  <a:cs typeface="+mn-cs"/>
                </a:rPr>
                <a:t>4000-800-4000​</a:t>
              </a:r>
            </a:p>
          </p:txBody>
        </p:sp>
      </p:gr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hanks-deco-fold-1"/>
          <p:cNvSpPr/>
          <p:nvPr/>
        </p:nvSpPr>
        <p:spPr>
          <a:xfrm>
            <a:off x="1905000" y="2286000"/>
            <a:ext cx="3429000" cy="4572000"/>
          </a:xfrm>
          <a:custGeom>
            <a:avLst/>
            <a:gdLst/>
            <a:ahLst/>
            <a:cxnLst/>
            <a:rect l="l" t="t" r="r" b="b"/>
            <a:pathLst>
              <a:path w="3429000" h="4572000">
                <a:moveTo>
                  <a:pt x="0" y="4572000"/>
                </a:moveTo>
                <a:cubicBezTo>
                  <a:pt x="2095500" y="2667000"/>
                  <a:pt x="952500" y="1333500"/>
                  <a:pt x="3429000" y="0"/>
                </a:cubicBezTo>
              </a:path>
            </a:pathLst>
          </a:custGeom>
          <a:noFill/>
          <a:ln w="571500">
            <a:solidFill>
              <a:srgbClr val="E8EAF2"/>
            </a:solidFill>
          </a:ln>
        </p:spPr>
      </p:sp>
      <p:sp>
        <p:nvSpPr>
          <p:cNvPr id="3" name="thanks-deco-fold-2"/>
          <p:cNvSpPr/>
          <p:nvPr/>
        </p:nvSpPr>
        <p:spPr>
          <a:xfrm>
            <a:off x="9334500" y="0"/>
            <a:ext cx="1905000" cy="4953000"/>
          </a:xfrm>
          <a:custGeom>
            <a:avLst/>
            <a:gdLst/>
            <a:ahLst/>
            <a:cxnLst/>
            <a:rect l="l" t="t" r="r" b="b"/>
            <a:pathLst>
              <a:path w="1905000" h="4953000">
                <a:moveTo>
                  <a:pt x="952500" y="0"/>
                </a:moveTo>
                <a:cubicBezTo>
                  <a:pt x="0" y="1905000"/>
                  <a:pt x="1905000" y="3048000"/>
                  <a:pt x="762000" y="4953000"/>
                </a:cubicBezTo>
              </a:path>
            </a:pathLst>
          </a:custGeom>
          <a:noFill/>
          <a:ln w="495300">
            <a:solidFill>
              <a:srgbClr val="E8EAF2"/>
            </a:solidFill>
          </a:ln>
        </p:spPr>
      </p:sp>
      <p:sp>
        <p:nvSpPr>
          <p:cNvPr id="4" name="thanks-deco-fold-3"/>
          <p:cNvSpPr/>
          <p:nvPr/>
        </p:nvSpPr>
        <p:spPr>
          <a:xfrm>
            <a:off x="6096000" y="5334000"/>
            <a:ext cx="6096000" cy="1524000"/>
          </a:xfrm>
          <a:custGeom>
            <a:avLst/>
            <a:gdLst/>
            <a:ahLst/>
            <a:cxnLst/>
            <a:rect l="l" t="t" r="r" b="b"/>
            <a:pathLst>
              <a:path w="6096000" h="1524000">
                <a:moveTo>
                  <a:pt x="0" y="1524000"/>
                </a:moveTo>
                <a:cubicBezTo>
                  <a:pt x="1143000" y="381000"/>
                  <a:pt x="3429000" y="762000"/>
                  <a:pt x="6096000" y="0"/>
                </a:cubicBezTo>
              </a:path>
            </a:pathLst>
          </a:custGeom>
          <a:noFill/>
          <a:ln w="419100">
            <a:solidFill>
              <a:srgbClr val="EDEFF6"/>
            </a:solidFill>
          </a:ln>
        </p:spPr>
      </p:sp>
      <p:sp>
        <p:nvSpPr>
          <p:cNvPr id="5" name="TextBox 5"/>
          <p:cNvSpPr txBox="1"/>
          <p:nvPr/>
        </p:nvSpPr>
        <p:spPr>
          <a:xfrm>
            <a:off x="727710" y="621506"/>
            <a:ext cx="1182008" cy="220028"/>
          </a:xfrm>
          <a:prstGeom prst="rect">
            <a:avLst/>
          </a:prstGeom>
          <a:noFill/>
          <a:ln>
            <a:noFill/>
          </a:ln>
        </p:spPr>
        <p:txBody>
          <a:bodyPr wrap="none" lIns="0" tIns="0" rIns="0" bIns="0" anchor="t" anchorCtr="0">
            <a:spAutoFit/>
          </a:bodyPr>
          <a:lstStyle/>
          <a:p>
            <a:pPr algn="l"/>
            <a:r>
              <a:rPr lang="en-US" sz="1120" b="1" spc="150" dirty="0">
                <a:solidFill>
                  <a:srgbClr val="D47D6B"/>
                </a:solidFill>
                <a:latin typeface="+mn-lt"/>
                <a:ea typeface="+mn-ea"/>
                <a:cs typeface="+mn-cs"/>
              </a:rPr>
              <a:t>YOUR LOGO​</a:t>
            </a:r>
          </a:p>
        </p:txBody>
      </p:sp>
      <p:grpSp>
        <p:nvGrpSpPr>
          <p:cNvPr id="7" name="thanks-title"/>
          <p:cNvGrpSpPr/>
          <p:nvPr/>
        </p:nvGrpSpPr>
        <p:grpSpPr>
          <a:xfrm>
            <a:off x="3486760" y="2322195"/>
            <a:ext cx="5218481" cy="1905000"/>
            <a:chOff x="3486760" y="2322195"/>
            <a:chExt cx="5218481" cy="1905000"/>
          </a:xfrm>
        </p:grpSpPr>
        <p:sp>
          <p:nvSpPr>
            <p:cNvPr id="6" name="TextBox 6"/>
            <p:cNvSpPr txBox="1"/>
            <p:nvPr/>
          </p:nvSpPr>
          <p:spPr>
            <a:xfrm>
              <a:off x="3486760" y="2322195"/>
              <a:ext cx="5218481" cy="1905000"/>
            </a:xfrm>
            <a:prstGeom prst="rect">
              <a:avLst/>
            </a:prstGeom>
            <a:noFill/>
            <a:ln>
              <a:noFill/>
            </a:ln>
          </p:spPr>
          <p:txBody>
            <a:bodyPr wrap="none" lIns="0" tIns="0" rIns="0" bIns="0" anchor="t" anchorCtr="0">
              <a:spAutoFit/>
            </a:bodyPr>
            <a:lstStyle/>
            <a:p>
              <a:pPr algn="ctr"/>
              <a:r>
                <a:rPr lang="en-US" sz="9900" spc="750" dirty="0">
                  <a:solidFill>
                    <a:srgbClr val="C1553F"/>
                  </a:solidFill>
                  <a:latin typeface="+mn-lt"/>
                  <a:ea typeface="+mn-ea"/>
                  <a:cs typeface="+mn-cs"/>
                </a:rPr>
                <a:t>THANKS</a:t>
              </a:r>
            </a:p>
          </p:txBody>
        </p:sp>
      </p:grpSp>
      <p:grpSp>
        <p:nvGrpSpPr>
          <p:cNvPr id="12" name="thanks-sign"/>
          <p:cNvGrpSpPr/>
          <p:nvPr/>
        </p:nvGrpSpPr>
        <p:grpSpPr>
          <a:xfrm>
            <a:off x="3895725" y="4038600"/>
            <a:ext cx="4286250" cy="561975"/>
            <a:chOff x="3895725" y="4038600"/>
            <a:chExt cx="4286250" cy="561975"/>
          </a:xfrm>
        </p:grpSpPr>
        <p:sp>
          <p:nvSpPr>
            <p:cNvPr id="8" name="Rectangle 8"/>
            <p:cNvSpPr/>
            <p:nvPr/>
          </p:nvSpPr>
          <p:spPr>
            <a:xfrm>
              <a:off x="3895725" y="4171950"/>
              <a:ext cx="2200275" cy="361950"/>
            </a:xfrm>
            <a:prstGeom prst="rect">
              <a:avLst/>
            </a:prstGeom>
            <a:gradFill>
              <a:gsLst>
                <a:gs pos="0">
                  <a:srgbClr val="E5624C"/>
                </a:gs>
                <a:gs pos="100000">
                  <a:srgbClr val="F0998A"/>
                </a:gs>
              </a:gsLst>
              <a:lin ang="0" scaled="1"/>
            </a:gradFill>
            <a:ln>
              <a:noFill/>
            </a:ln>
          </p:spPr>
        </p:sp>
        <p:sp>
          <p:nvSpPr>
            <p:cNvPr id="9" name="Freeform 9"/>
            <p:cNvSpPr/>
            <p:nvPr/>
          </p:nvSpPr>
          <p:spPr>
            <a:xfrm>
              <a:off x="4076700" y="4352925"/>
              <a:ext cx="1600200" cy="9525"/>
            </a:xfrm>
            <a:custGeom>
              <a:avLst/>
              <a:gdLst/>
              <a:ahLst/>
              <a:cxnLst/>
              <a:rect l="l" t="t" r="r" b="b"/>
              <a:pathLst>
                <a:path w="1600200" h="9525">
                  <a:moveTo>
                    <a:pt x="0" y="0"/>
                  </a:moveTo>
                  <a:lnTo>
                    <a:pt x="1600200" y="0"/>
                  </a:lnTo>
                </a:path>
              </a:pathLst>
            </a:custGeom>
            <a:noFill/>
            <a:ln w="28575">
              <a:solidFill>
                <a:srgbClr val="FFFFFF"/>
              </a:solidFill>
              <a:tailEnd type="triangle" w="lg" len="lg"/>
            </a:ln>
          </p:spPr>
        </p:sp>
        <p:sp>
          <p:nvSpPr>
            <p:cNvPr id="10" name="Rectangle 10"/>
            <p:cNvSpPr/>
            <p:nvPr/>
          </p:nvSpPr>
          <p:spPr>
            <a:xfrm>
              <a:off x="6096000" y="4038600"/>
              <a:ext cx="2085975" cy="561975"/>
            </a:xfrm>
            <a:prstGeom prst="rect">
              <a:avLst/>
            </a:prstGeom>
            <a:solidFill>
              <a:srgbClr val="FFFFFF"/>
            </a:solidFill>
            <a:ln>
              <a:noFill/>
            </a:ln>
            <a:effectLst>
              <a:outerShdw blurRad="152400" dist="57150" dir="5400000" algn="ctr" rotWithShape="0">
                <a:srgbClr val="C1553F">
                  <a:alpha val="7500"/>
                </a:srgbClr>
              </a:outerShdw>
            </a:effectLst>
          </p:spPr>
        </p:sp>
        <p:sp>
          <p:nvSpPr>
            <p:cNvPr id="11" name="TextBox 11"/>
            <p:cNvSpPr txBox="1"/>
            <p:nvPr/>
          </p:nvSpPr>
          <p:spPr>
            <a:xfrm>
              <a:off x="6792646" y="4243864"/>
              <a:ext cx="702208" cy="249364"/>
            </a:xfrm>
            <a:prstGeom prst="rect">
              <a:avLst/>
            </a:prstGeom>
            <a:noFill/>
            <a:ln>
              <a:noFill/>
            </a:ln>
          </p:spPr>
          <p:txBody>
            <a:bodyPr wrap="none" lIns="0" tIns="0" rIns="0" bIns="0" anchor="t" anchorCtr="0">
              <a:spAutoFit/>
            </a:bodyPr>
            <a:lstStyle/>
            <a:p>
              <a:pPr algn="ctr"/>
              <a:r>
                <a:rPr lang="zh-CN" sz="1280" dirty="0">
                  <a:solidFill>
                    <a:srgbClr val="E58676"/>
                  </a:solidFill>
                  <a:latin typeface="+mn-lt"/>
                  <a:ea typeface="+mn-ea"/>
                  <a:cs typeface="+mn-cs"/>
                </a:rPr>
                <a:t>策划人：</a:t>
              </a:r>
            </a:p>
          </p:txBody>
        </p:sp>
      </p:grpSp>
      <p:sp>
        <p:nvSpPr>
          <p:cNvPr id="13" name="Line 13"/>
          <p:cNvSpPr/>
          <p:nvPr/>
        </p:nvSpPr>
        <p:spPr>
          <a:xfrm>
            <a:off x="342900" y="5924550"/>
            <a:ext cx="11049000" cy="9525"/>
          </a:xfrm>
          <a:custGeom>
            <a:avLst/>
            <a:gdLst/>
            <a:ahLst/>
            <a:cxnLst/>
            <a:rect l="l" t="t" r="r" b="b"/>
            <a:pathLst>
              <a:path w="11049000" h="9525">
                <a:moveTo>
                  <a:pt x="0" y="0"/>
                </a:moveTo>
                <a:lnTo>
                  <a:pt x="11049000" y="0"/>
                </a:lnTo>
              </a:path>
            </a:pathLst>
          </a:custGeom>
          <a:noFill/>
          <a:ln w="14288">
            <a:solidFill>
              <a:srgbClr val="DD988A"/>
            </a:solidFill>
          </a:ln>
        </p:spPr>
      </p:sp>
      <p:sp>
        <p:nvSpPr>
          <p:cNvPr id="14" name="thanks-bottom-arrow"/>
          <p:cNvSpPr/>
          <p:nvPr/>
        </p:nvSpPr>
        <p:spPr>
          <a:xfrm>
            <a:off x="11049000" y="5962650"/>
            <a:ext cx="361950" cy="9525"/>
          </a:xfrm>
          <a:custGeom>
            <a:avLst/>
            <a:gdLst/>
            <a:ahLst/>
            <a:cxnLst/>
            <a:rect l="l" t="t" r="r" b="b"/>
            <a:pathLst>
              <a:path w="361950" h="9525">
                <a:moveTo>
                  <a:pt x="0" y="0"/>
                </a:moveTo>
                <a:lnTo>
                  <a:pt x="361950" y="0"/>
                </a:lnTo>
              </a:path>
            </a:pathLst>
          </a:custGeom>
          <a:noFill/>
          <a:ln w="23812">
            <a:solidFill>
              <a:srgbClr val="E5624C"/>
            </a:solidFill>
            <a:tailEnd type="triangle" w="lg" len="lg"/>
          </a:ln>
        </p:spPr>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3373782" cy="440055"/>
            <a:chOff x="302895" y="214312"/>
            <a:chExt cx="3373782"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16.​</a:t>
              </a:r>
            </a:p>
          </p:txBody>
        </p:sp>
        <p:sp>
          <p:nvSpPr>
            <p:cNvPr id="3" name="TextBox 3"/>
            <p:cNvSpPr txBox="1"/>
            <p:nvPr/>
          </p:nvSpPr>
          <p:spPr>
            <a:xfrm>
              <a:off x="866394" y="246698"/>
              <a:ext cx="2810283"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「人 货 场」全链路破圈</a:t>
              </a:r>
            </a:p>
          </p:txBody>
        </p:sp>
      </p:grpSp>
      <p:grpSp>
        <p:nvGrpSpPr>
          <p:cNvPr id="11" name="left-rail"/>
          <p:cNvGrpSpPr/>
          <p:nvPr/>
        </p:nvGrpSpPr>
        <p:grpSpPr>
          <a:xfrm>
            <a:off x="280797" y="1228249"/>
            <a:ext cx="537616" cy="4829651"/>
            <a:chOff x="280797" y="1228249"/>
            <a:chExt cx="537616" cy="4829651"/>
          </a:xfrm>
        </p:grpSpPr>
        <p:sp>
          <p:nvSpPr>
            <p:cNvPr id="5" name="TextBox 5"/>
            <p:cNvSpPr txBox="1"/>
            <p:nvPr/>
          </p:nvSpPr>
          <p:spPr>
            <a:xfrm>
              <a:off x="395097" y="1228249"/>
              <a:ext cx="273761" cy="190690"/>
            </a:xfrm>
            <a:prstGeom prst="rect">
              <a:avLst/>
            </a:prstGeom>
            <a:noFill/>
            <a:ln>
              <a:noFill/>
            </a:ln>
          </p:spPr>
          <p:txBody>
            <a:bodyPr wrap="none" lIns="0" tIns="0" rIns="0" bIns="0" anchor="t" anchorCtr="0">
              <a:spAutoFit/>
            </a:bodyPr>
            <a:lstStyle/>
            <a:p>
              <a:pPr algn="l"/>
              <a:r>
                <a:rPr lang="zh-CN" sz="980" dirty="0">
                  <a:solidFill>
                    <a:srgbClr val="D47D6B"/>
                  </a:solidFill>
                  <a:latin typeface="+mn-lt"/>
                  <a:ea typeface="+mn-ea"/>
                  <a:cs typeface="+mn-cs"/>
                </a:rPr>
                <a:t>目标</a:t>
              </a:r>
            </a:p>
          </p:txBody>
        </p:sp>
        <p:sp>
          <p:nvSpPr>
            <p:cNvPr id="6" name="Line 6"/>
            <p:cNvSpPr/>
            <p:nvPr/>
          </p:nvSpPr>
          <p:spPr>
            <a:xfrm>
              <a:off x="457200" y="1447800"/>
              <a:ext cx="9525" cy="4610100"/>
            </a:xfrm>
            <a:custGeom>
              <a:avLst/>
              <a:gdLst/>
              <a:ahLst/>
              <a:cxnLst/>
              <a:rect l="l" t="t" r="r" b="b"/>
              <a:pathLst>
                <a:path w="9525" h="4610100">
                  <a:moveTo>
                    <a:pt x="0" y="0"/>
                  </a:moveTo>
                  <a:lnTo>
                    <a:pt x="0" y="4610100"/>
                  </a:lnTo>
                </a:path>
              </a:pathLst>
            </a:custGeom>
            <a:noFill/>
            <a:ln w="14288">
              <a:solidFill>
                <a:srgbClr val="C9CFEA"/>
              </a:solidFill>
            </a:ln>
          </p:spPr>
        </p:sp>
        <p:sp>
          <p:nvSpPr>
            <p:cNvPr id="7" name="TextBox 7"/>
            <p:cNvSpPr txBox="1"/>
            <p:nvPr/>
          </p:nvSpPr>
          <p:spPr>
            <a:xfrm>
              <a:off x="280797" y="3380899"/>
              <a:ext cx="273761" cy="190690"/>
            </a:xfrm>
            <a:prstGeom prst="rect">
              <a:avLst/>
            </a:prstGeom>
            <a:noFill/>
            <a:ln>
              <a:noFill/>
            </a:ln>
          </p:spPr>
          <p:txBody>
            <a:bodyPr wrap="none" lIns="0" tIns="0" rIns="0" bIns="0" anchor="t" anchorCtr="0">
              <a:spAutoFit/>
            </a:bodyPr>
            <a:lstStyle/>
            <a:p>
              <a:pPr algn="l"/>
              <a:r>
                <a:rPr lang="zh-CN" sz="980" dirty="0">
                  <a:solidFill>
                    <a:srgbClr val="D47D6B"/>
                  </a:solidFill>
                  <a:latin typeface="+mn-lt"/>
                  <a:ea typeface="+mn-ea"/>
                  <a:cs typeface="+mn-cs"/>
                </a:rPr>
                <a:t>经营</a:t>
              </a:r>
            </a:p>
          </p:txBody>
        </p:sp>
        <p:sp>
          <p:nvSpPr>
            <p:cNvPr id="8" name="TextBox 8"/>
            <p:cNvSpPr txBox="1"/>
            <p:nvPr/>
          </p:nvSpPr>
          <p:spPr>
            <a:xfrm>
              <a:off x="280797" y="3552349"/>
              <a:ext cx="405689" cy="190690"/>
            </a:xfrm>
            <a:prstGeom prst="rect">
              <a:avLst/>
            </a:prstGeom>
            <a:noFill/>
            <a:ln>
              <a:noFill/>
            </a:ln>
          </p:spPr>
          <p:txBody>
            <a:bodyPr wrap="none" lIns="0" tIns="0" rIns="0" bIns="0" anchor="t" anchorCtr="0">
              <a:spAutoFit/>
            </a:bodyPr>
            <a:lstStyle/>
            <a:p>
              <a:pPr algn="l"/>
              <a:r>
                <a:rPr lang="zh-CN" sz="980" dirty="0">
                  <a:solidFill>
                    <a:srgbClr val="D47D6B"/>
                  </a:solidFill>
                  <a:latin typeface="+mn-lt"/>
                  <a:ea typeface="+mn-ea"/>
                  <a:cs typeface="+mn-cs"/>
                </a:rPr>
                <a:t>方法论</a:t>
              </a:r>
            </a:p>
          </p:txBody>
        </p:sp>
        <p:sp>
          <p:nvSpPr>
            <p:cNvPr id="9" name="TextBox 9"/>
            <p:cNvSpPr txBox="1"/>
            <p:nvPr/>
          </p:nvSpPr>
          <p:spPr>
            <a:xfrm>
              <a:off x="280797" y="5533549"/>
              <a:ext cx="537616" cy="190690"/>
            </a:xfrm>
            <a:prstGeom prst="rect">
              <a:avLst/>
            </a:prstGeom>
            <a:noFill/>
            <a:ln>
              <a:noFill/>
            </a:ln>
          </p:spPr>
          <p:txBody>
            <a:bodyPr wrap="none" lIns="0" tIns="0" rIns="0" bIns="0" anchor="t" anchorCtr="0">
              <a:spAutoFit/>
            </a:bodyPr>
            <a:lstStyle/>
            <a:p>
              <a:pPr algn="l"/>
              <a:r>
                <a:rPr lang="zh-CN" sz="980" dirty="0">
                  <a:solidFill>
                    <a:srgbClr val="D47D6B"/>
                  </a:solidFill>
                  <a:latin typeface="+mn-lt"/>
                  <a:ea typeface="+mn-ea"/>
                  <a:cs typeface="+mn-cs"/>
                </a:rPr>
                <a:t>营销产品</a:t>
              </a:r>
            </a:p>
          </p:txBody>
        </p:sp>
        <p:sp>
          <p:nvSpPr>
            <p:cNvPr id="10" name="TextBox 10"/>
            <p:cNvSpPr txBox="1"/>
            <p:nvPr/>
          </p:nvSpPr>
          <p:spPr>
            <a:xfrm>
              <a:off x="280797" y="5704999"/>
              <a:ext cx="273761" cy="190690"/>
            </a:xfrm>
            <a:prstGeom prst="rect">
              <a:avLst/>
            </a:prstGeom>
            <a:noFill/>
            <a:ln>
              <a:noFill/>
            </a:ln>
          </p:spPr>
          <p:txBody>
            <a:bodyPr wrap="none" lIns="0" tIns="0" rIns="0" bIns="0" anchor="t" anchorCtr="0">
              <a:spAutoFit/>
            </a:bodyPr>
            <a:lstStyle/>
            <a:p>
              <a:pPr algn="l"/>
              <a:r>
                <a:rPr lang="zh-CN" sz="980" dirty="0">
                  <a:solidFill>
                    <a:srgbClr val="D47D6B"/>
                  </a:solidFill>
                  <a:latin typeface="+mn-lt"/>
                  <a:ea typeface="+mn-ea"/>
                  <a:cs typeface="+mn-cs"/>
                </a:rPr>
                <a:t>全景</a:t>
              </a:r>
            </a:p>
          </p:txBody>
        </p:sp>
      </p:grpSp>
      <p:grpSp>
        <p:nvGrpSpPr>
          <p:cNvPr id="13" name="goal-banner"/>
          <p:cNvGrpSpPr/>
          <p:nvPr/>
        </p:nvGrpSpPr>
        <p:grpSpPr>
          <a:xfrm>
            <a:off x="5332298" y="1119664"/>
            <a:ext cx="1908404" cy="249364"/>
            <a:chOff x="5332298" y="1119664"/>
            <a:chExt cx="1908404" cy="249364"/>
          </a:xfrm>
        </p:grpSpPr>
        <p:sp>
          <p:nvSpPr>
            <p:cNvPr id="12" name="TextBox 12"/>
            <p:cNvSpPr txBox="1"/>
            <p:nvPr/>
          </p:nvSpPr>
          <p:spPr>
            <a:xfrm>
              <a:off x="5332298" y="1119664"/>
              <a:ext cx="1908404" cy="249364"/>
            </a:xfrm>
            <a:prstGeom prst="rect">
              <a:avLst/>
            </a:prstGeom>
            <a:noFill/>
            <a:ln>
              <a:noFill/>
            </a:ln>
          </p:spPr>
          <p:txBody>
            <a:bodyPr wrap="none" lIns="0" tIns="0" rIns="0" bIns="0" anchor="t" anchorCtr="0">
              <a:spAutoFit/>
            </a:bodyPr>
            <a:lstStyle/>
            <a:p>
              <a:pPr algn="ctr"/>
              <a:r>
                <a:rPr lang="zh-CN" sz="1280" b="1" dirty="0">
                  <a:solidFill>
                    <a:srgbClr val="E5624C"/>
                  </a:solidFill>
                  <a:latin typeface="+mn-lt"/>
                  <a:ea typeface="+mn-ea"/>
                  <a:cs typeface="+mn-cs"/>
                </a:rPr>
                <a:t>确定性经营结合助力破圈</a:t>
              </a:r>
            </a:p>
          </p:txBody>
        </p:sp>
      </p:grpSp>
      <p:grpSp>
        <p:nvGrpSpPr>
          <p:cNvPr id="60" name="col-renqun"/>
          <p:cNvGrpSpPr/>
          <p:nvPr/>
        </p:nvGrpSpPr>
        <p:grpSpPr>
          <a:xfrm>
            <a:off x="1219200" y="1504950"/>
            <a:ext cx="3581400" cy="3943350"/>
            <a:chOff x="1219200" y="1504950"/>
            <a:chExt cx="3581400" cy="3943350"/>
          </a:xfrm>
        </p:grpSpPr>
        <p:sp>
          <p:nvSpPr>
            <p:cNvPr id="14" name="Rectangle 14"/>
            <p:cNvSpPr/>
            <p:nvPr/>
          </p:nvSpPr>
          <p:spPr>
            <a:xfrm>
              <a:off x="1219200" y="1504950"/>
              <a:ext cx="3581400" cy="533400"/>
            </a:xfrm>
            <a:prstGeom prst="roundRect">
              <a:avLst>
                <a:gd name="adj" fmla="val 7143"/>
              </a:avLst>
            </a:prstGeom>
            <a:gradFill>
              <a:gsLst>
                <a:gs pos="0">
                  <a:srgbClr val="E5624C"/>
                </a:gs>
                <a:gs pos="100000">
                  <a:srgbClr val="F0998A"/>
                </a:gs>
              </a:gsLst>
              <a:lin ang="0" scaled="1"/>
            </a:gradFill>
            <a:ln>
              <a:noFill/>
            </a:ln>
          </p:spPr>
        </p:sp>
        <p:sp>
          <p:nvSpPr>
            <p:cNvPr id="15" name="TextBox 15"/>
            <p:cNvSpPr txBox="1"/>
            <p:nvPr/>
          </p:nvSpPr>
          <p:spPr>
            <a:xfrm>
              <a:off x="2099539" y="1650206"/>
              <a:ext cx="182072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人群经营：一站式解决方案</a:t>
              </a:r>
            </a:p>
          </p:txBody>
        </p:sp>
        <p:sp>
          <p:nvSpPr>
            <p:cNvPr id="16" name="TextBox 16"/>
            <p:cNvSpPr txBox="1"/>
            <p:nvPr/>
          </p:nvSpPr>
          <p:spPr>
            <a:xfrm>
              <a:off x="2299329" y="1863566"/>
              <a:ext cx="1421143" cy="161925"/>
            </a:xfrm>
            <a:prstGeom prst="rect">
              <a:avLst/>
            </a:prstGeom>
            <a:noFill/>
            <a:ln>
              <a:noFill/>
            </a:ln>
          </p:spPr>
          <p:txBody>
            <a:bodyPr wrap="none" lIns="0" tIns="0" rIns="0" bIns="0" anchor="t" anchorCtr="0">
              <a:spAutoFit/>
            </a:bodyPr>
            <a:lstStyle/>
            <a:p>
              <a:pPr algn="ctr"/>
              <a:r>
                <a:rPr lang="zh-CN" sz="820" dirty="0">
                  <a:solidFill>
                    <a:srgbClr val="FDEDE8"/>
                  </a:solidFill>
                  <a:latin typeface="+mn-lt"/>
                  <a:ea typeface="+mn-ea"/>
                  <a:cs typeface="+mn-cs"/>
                </a:rPr>
                <a:t>GMVX DEEPLINK拆解及监控​</a:t>
              </a:r>
            </a:p>
          </p:txBody>
        </p:sp>
        <p:sp>
          <p:nvSpPr>
            <p:cNvPr id="17" name="Rectangle 17"/>
            <p:cNvSpPr/>
            <p:nvPr/>
          </p:nvSpPr>
          <p:spPr>
            <a:xfrm>
              <a:off x="1219200" y="2076450"/>
              <a:ext cx="3581400" cy="3371850"/>
            </a:xfrm>
            <a:prstGeom prst="roundRect">
              <a:avLst>
                <a:gd name="adj" fmla="val 1130"/>
              </a:avLst>
            </a:prstGeom>
            <a:solidFill>
              <a:srgbClr val="FFFFFF"/>
            </a:solidFill>
            <a:ln w="9525">
              <a:solidFill>
                <a:srgbClr val="E4E7F5"/>
              </a:solidFill>
            </a:ln>
          </p:spPr>
        </p:sp>
        <p:sp>
          <p:nvSpPr>
            <p:cNvPr id="18" name="TextBox 18"/>
            <p:cNvSpPr txBox="1"/>
            <p:nvPr/>
          </p:nvSpPr>
          <p:spPr>
            <a:xfrm>
              <a:off x="2080648" y="2237899"/>
              <a:ext cx="1858504" cy="190690"/>
            </a:xfrm>
            <a:prstGeom prst="rect">
              <a:avLst/>
            </a:prstGeom>
            <a:noFill/>
            <a:ln>
              <a:noFill/>
            </a:ln>
          </p:spPr>
          <p:txBody>
            <a:bodyPr wrap="none" lIns="0" tIns="0" rIns="0" bIns="0" anchor="t" anchorCtr="0">
              <a:spAutoFit/>
            </a:bodyPr>
            <a:lstStyle/>
            <a:p>
              <a:pPr algn="ctr"/>
              <a:r>
                <a:rPr lang="zh-CN" sz="980" b="1" dirty="0">
                  <a:solidFill>
                    <a:srgbClr val="523F3B"/>
                  </a:solidFill>
                  <a:latin typeface="+mn-lt"/>
                  <a:ea typeface="+mn-ea"/>
                  <a:cs typeface="+mn-cs"/>
                </a:rPr>
                <a:t>DEEPLINK2.0人群经营方法论​</a:t>
              </a:r>
            </a:p>
          </p:txBody>
        </p:sp>
        <p:sp>
          <p:nvSpPr>
            <p:cNvPr id="19" name="Line 19"/>
            <p:cNvSpPr/>
            <p:nvPr/>
          </p:nvSpPr>
          <p:spPr>
            <a:xfrm>
              <a:off x="1447800" y="2552700"/>
              <a:ext cx="9525" cy="2667000"/>
            </a:xfrm>
            <a:custGeom>
              <a:avLst/>
              <a:gdLst/>
              <a:ahLst/>
              <a:cxnLst/>
              <a:rect l="l" t="t" r="r" b="b"/>
              <a:pathLst>
                <a:path w="9525" h="2667000">
                  <a:moveTo>
                    <a:pt x="0" y="0"/>
                  </a:moveTo>
                  <a:lnTo>
                    <a:pt x="0" y="2667000"/>
                  </a:lnTo>
                </a:path>
              </a:pathLst>
            </a:custGeom>
            <a:noFill/>
            <a:ln w="19050">
              <a:solidFill>
                <a:srgbClr val="F0B4AA"/>
              </a:solidFill>
            </a:ln>
          </p:spPr>
        </p:sp>
        <p:sp>
          <p:nvSpPr>
            <p:cNvPr id="20" name="Rectangle 20"/>
            <p:cNvSpPr/>
            <p:nvPr/>
          </p:nvSpPr>
          <p:spPr>
            <a:xfrm>
              <a:off x="1333500" y="2686050"/>
              <a:ext cx="228600" cy="228600"/>
            </a:xfrm>
            <a:prstGeom prst="roundRect">
              <a:avLst>
                <a:gd name="adj" fmla="val 16667"/>
              </a:avLst>
            </a:prstGeom>
            <a:solidFill>
              <a:srgbClr val="E5624C"/>
            </a:solidFill>
            <a:ln>
              <a:noFill/>
            </a:ln>
          </p:spPr>
        </p:sp>
        <p:sp>
          <p:nvSpPr>
            <p:cNvPr id="21" name="TextBox 21"/>
            <p:cNvSpPr txBox="1"/>
            <p:nvPr/>
          </p:nvSpPr>
          <p:spPr>
            <a:xfrm>
              <a:off x="1412234" y="2767012"/>
              <a:ext cx="71133"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D</a:t>
              </a:r>
            </a:p>
          </p:txBody>
        </p:sp>
        <p:sp>
          <p:nvSpPr>
            <p:cNvPr id="22" name="TextBox 22"/>
            <p:cNvSpPr txBox="1"/>
            <p:nvPr/>
          </p:nvSpPr>
          <p:spPr>
            <a:xfrm>
              <a:off x="1633538" y="2767012"/>
              <a:ext cx="211455" cy="147638"/>
            </a:xfrm>
            <a:prstGeom prst="rect">
              <a:avLst/>
            </a:prstGeom>
            <a:noFill/>
            <a:ln>
              <a:noFill/>
            </a:ln>
          </p:spPr>
          <p:txBody>
            <a:bodyPr wrap="none" lIns="0" tIns="0" rIns="0" bIns="0" anchor="t" anchorCtr="0">
              <a:spAutoFit/>
            </a:bodyPr>
            <a:lstStyle/>
            <a:p>
              <a:pPr algn="l"/>
              <a:r>
                <a:rPr lang="zh-CN" sz="750" dirty="0">
                  <a:solidFill>
                    <a:srgbClr val="808699"/>
                  </a:solidFill>
                  <a:latin typeface="+mn-lt"/>
                  <a:ea typeface="+mn-ea"/>
                  <a:cs typeface="+mn-cs"/>
                </a:rPr>
                <a:t>落客</a:t>
              </a:r>
            </a:p>
          </p:txBody>
        </p:sp>
        <p:sp>
          <p:nvSpPr>
            <p:cNvPr id="23" name="Rectangle 23"/>
            <p:cNvSpPr/>
            <p:nvPr/>
          </p:nvSpPr>
          <p:spPr>
            <a:xfrm>
              <a:off x="1333500" y="3143250"/>
              <a:ext cx="228600" cy="228600"/>
            </a:xfrm>
            <a:prstGeom prst="roundRect">
              <a:avLst>
                <a:gd name="adj" fmla="val 16667"/>
              </a:avLst>
            </a:prstGeom>
            <a:solidFill>
              <a:srgbClr val="EA7460"/>
            </a:solidFill>
            <a:ln>
              <a:noFill/>
            </a:ln>
          </p:spPr>
        </p:sp>
        <p:sp>
          <p:nvSpPr>
            <p:cNvPr id="24" name="TextBox 24"/>
            <p:cNvSpPr txBox="1"/>
            <p:nvPr/>
          </p:nvSpPr>
          <p:spPr>
            <a:xfrm>
              <a:off x="1381430" y="3224212"/>
              <a:ext cx="132740"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E1</a:t>
              </a:r>
            </a:p>
          </p:txBody>
        </p:sp>
        <p:sp>
          <p:nvSpPr>
            <p:cNvPr id="25" name="TextBox 25"/>
            <p:cNvSpPr txBox="1"/>
            <p:nvPr/>
          </p:nvSpPr>
          <p:spPr>
            <a:xfrm>
              <a:off x="1633538" y="3224212"/>
              <a:ext cx="211455" cy="147638"/>
            </a:xfrm>
            <a:prstGeom prst="rect">
              <a:avLst/>
            </a:prstGeom>
            <a:noFill/>
            <a:ln>
              <a:noFill/>
            </a:ln>
          </p:spPr>
          <p:txBody>
            <a:bodyPr wrap="none" lIns="0" tIns="0" rIns="0" bIns="0" anchor="t" anchorCtr="0">
              <a:spAutoFit/>
            </a:bodyPr>
            <a:lstStyle/>
            <a:p>
              <a:pPr algn="l"/>
              <a:r>
                <a:rPr lang="zh-CN" sz="750" dirty="0">
                  <a:solidFill>
                    <a:srgbClr val="808699"/>
                  </a:solidFill>
                  <a:latin typeface="+mn-lt"/>
                  <a:ea typeface="+mn-ea"/>
                  <a:cs typeface="+mn-cs"/>
                </a:rPr>
                <a:t>兴趣</a:t>
              </a:r>
            </a:p>
          </p:txBody>
        </p:sp>
        <p:sp>
          <p:nvSpPr>
            <p:cNvPr id="26" name="Rectangle 26"/>
            <p:cNvSpPr/>
            <p:nvPr/>
          </p:nvSpPr>
          <p:spPr>
            <a:xfrm>
              <a:off x="1333500" y="3600450"/>
              <a:ext cx="228600" cy="228600"/>
            </a:xfrm>
            <a:prstGeom prst="roundRect">
              <a:avLst>
                <a:gd name="adj" fmla="val 16667"/>
              </a:avLst>
            </a:prstGeom>
            <a:solidFill>
              <a:srgbClr val="ED8776"/>
            </a:solidFill>
            <a:ln>
              <a:noFill/>
            </a:ln>
          </p:spPr>
        </p:sp>
        <p:sp>
          <p:nvSpPr>
            <p:cNvPr id="27" name="TextBox 27"/>
            <p:cNvSpPr txBox="1"/>
            <p:nvPr/>
          </p:nvSpPr>
          <p:spPr>
            <a:xfrm>
              <a:off x="1412234" y="3681412"/>
              <a:ext cx="71133"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E</a:t>
              </a:r>
            </a:p>
          </p:txBody>
        </p:sp>
        <p:sp>
          <p:nvSpPr>
            <p:cNvPr id="28" name="TextBox 28"/>
            <p:cNvSpPr txBox="1"/>
            <p:nvPr/>
          </p:nvSpPr>
          <p:spPr>
            <a:xfrm>
              <a:off x="1633538" y="3681412"/>
              <a:ext cx="211455" cy="147638"/>
            </a:xfrm>
            <a:prstGeom prst="rect">
              <a:avLst/>
            </a:prstGeom>
            <a:noFill/>
            <a:ln>
              <a:noFill/>
            </a:ln>
          </p:spPr>
          <p:txBody>
            <a:bodyPr wrap="none" lIns="0" tIns="0" rIns="0" bIns="0" anchor="t" anchorCtr="0">
              <a:spAutoFit/>
            </a:bodyPr>
            <a:lstStyle/>
            <a:p>
              <a:pPr algn="l"/>
              <a:r>
                <a:rPr lang="zh-CN" sz="750" dirty="0">
                  <a:solidFill>
                    <a:srgbClr val="808699"/>
                  </a:solidFill>
                  <a:latin typeface="+mn-lt"/>
                  <a:ea typeface="+mn-ea"/>
                  <a:cs typeface="+mn-cs"/>
                </a:rPr>
                <a:t>首购</a:t>
              </a:r>
            </a:p>
          </p:txBody>
        </p:sp>
        <p:sp>
          <p:nvSpPr>
            <p:cNvPr id="29" name="Rectangle 29"/>
            <p:cNvSpPr/>
            <p:nvPr/>
          </p:nvSpPr>
          <p:spPr>
            <a:xfrm>
              <a:off x="1333500" y="4057650"/>
              <a:ext cx="228600" cy="228600"/>
            </a:xfrm>
            <a:prstGeom prst="roundRect">
              <a:avLst>
                <a:gd name="adj" fmla="val 16667"/>
              </a:avLst>
            </a:prstGeom>
            <a:solidFill>
              <a:srgbClr val="F09D8F"/>
            </a:solidFill>
            <a:ln>
              <a:noFill/>
            </a:ln>
          </p:spPr>
        </p:sp>
        <p:sp>
          <p:nvSpPr>
            <p:cNvPr id="30" name="TextBox 30"/>
            <p:cNvSpPr txBox="1"/>
            <p:nvPr/>
          </p:nvSpPr>
          <p:spPr>
            <a:xfrm>
              <a:off x="1412234" y="4138612"/>
              <a:ext cx="71133"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P</a:t>
              </a:r>
            </a:p>
          </p:txBody>
        </p:sp>
        <p:sp>
          <p:nvSpPr>
            <p:cNvPr id="31" name="TextBox 31"/>
            <p:cNvSpPr txBox="1"/>
            <p:nvPr/>
          </p:nvSpPr>
          <p:spPr>
            <a:xfrm>
              <a:off x="1633538" y="4138612"/>
              <a:ext cx="211455" cy="147638"/>
            </a:xfrm>
            <a:prstGeom prst="rect">
              <a:avLst/>
            </a:prstGeom>
            <a:noFill/>
            <a:ln>
              <a:noFill/>
            </a:ln>
          </p:spPr>
          <p:txBody>
            <a:bodyPr wrap="none" lIns="0" tIns="0" rIns="0" bIns="0" anchor="t" anchorCtr="0">
              <a:spAutoFit/>
            </a:bodyPr>
            <a:lstStyle/>
            <a:p>
              <a:pPr algn="l"/>
              <a:r>
                <a:rPr lang="zh-CN" sz="750" dirty="0">
                  <a:solidFill>
                    <a:srgbClr val="808699"/>
                  </a:solidFill>
                  <a:latin typeface="+mn-lt"/>
                  <a:ea typeface="+mn-ea"/>
                  <a:cs typeface="+mn-cs"/>
                </a:rPr>
                <a:t>访问</a:t>
              </a:r>
            </a:p>
          </p:txBody>
        </p:sp>
        <p:sp>
          <p:nvSpPr>
            <p:cNvPr id="32" name="Rectangle 32"/>
            <p:cNvSpPr/>
            <p:nvPr/>
          </p:nvSpPr>
          <p:spPr>
            <a:xfrm>
              <a:off x="1333500" y="4514850"/>
              <a:ext cx="228600" cy="228600"/>
            </a:xfrm>
            <a:prstGeom prst="roundRect">
              <a:avLst>
                <a:gd name="adj" fmla="val 16667"/>
              </a:avLst>
            </a:prstGeom>
            <a:solidFill>
              <a:srgbClr val="F3B3A8"/>
            </a:solidFill>
            <a:ln>
              <a:noFill/>
            </a:ln>
          </p:spPr>
        </p:sp>
        <p:sp>
          <p:nvSpPr>
            <p:cNvPr id="33" name="TextBox 33"/>
            <p:cNvSpPr txBox="1"/>
            <p:nvPr/>
          </p:nvSpPr>
          <p:spPr>
            <a:xfrm>
              <a:off x="1381430" y="4595812"/>
              <a:ext cx="132740"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NK</a:t>
              </a:r>
            </a:p>
          </p:txBody>
        </p:sp>
        <p:sp>
          <p:nvSpPr>
            <p:cNvPr id="34" name="TextBox 34"/>
            <p:cNvSpPr txBox="1"/>
            <p:nvPr/>
          </p:nvSpPr>
          <p:spPr>
            <a:xfrm>
              <a:off x="1633538" y="4595812"/>
              <a:ext cx="211455" cy="147638"/>
            </a:xfrm>
            <a:prstGeom prst="rect">
              <a:avLst/>
            </a:prstGeom>
            <a:noFill/>
            <a:ln>
              <a:noFill/>
            </a:ln>
          </p:spPr>
          <p:txBody>
            <a:bodyPr wrap="none" lIns="0" tIns="0" rIns="0" bIns="0" anchor="t" anchorCtr="0">
              <a:spAutoFit/>
            </a:bodyPr>
            <a:lstStyle/>
            <a:p>
              <a:pPr algn="l"/>
              <a:r>
                <a:rPr lang="zh-CN" sz="750" dirty="0">
                  <a:solidFill>
                    <a:srgbClr val="808699"/>
                  </a:solidFill>
                  <a:latin typeface="+mn-lt"/>
                  <a:ea typeface="+mn-ea"/>
                  <a:cs typeface="+mn-cs"/>
                </a:rPr>
                <a:t>复购</a:t>
              </a:r>
            </a:p>
          </p:txBody>
        </p:sp>
        <p:sp>
          <p:nvSpPr>
            <p:cNvPr id="35" name="Rectangle 35"/>
            <p:cNvSpPr/>
            <p:nvPr/>
          </p:nvSpPr>
          <p:spPr>
            <a:xfrm>
              <a:off x="1885950" y="2552700"/>
              <a:ext cx="2819400" cy="723900"/>
            </a:xfrm>
            <a:prstGeom prst="roundRect">
              <a:avLst>
                <a:gd name="adj" fmla="val 5263"/>
              </a:avLst>
            </a:prstGeom>
            <a:solidFill>
              <a:srgbClr val="FFF8F6"/>
            </a:solidFill>
            <a:ln w="9525">
              <a:solidFill>
                <a:srgbClr val="ED8776"/>
              </a:solidFill>
              <a:custDash>
                <a:ds d="400000" sp="300000"/>
              </a:custDash>
            </a:ln>
          </p:spPr>
        </p:sp>
        <p:sp>
          <p:nvSpPr>
            <p:cNvPr id="36" name="Rectangle 36"/>
            <p:cNvSpPr/>
            <p:nvPr/>
          </p:nvSpPr>
          <p:spPr>
            <a:xfrm>
              <a:off x="1981200" y="2647950"/>
              <a:ext cx="438150" cy="190500"/>
            </a:xfrm>
            <a:prstGeom prst="roundRect">
              <a:avLst>
                <a:gd name="adj" fmla="val 50000"/>
              </a:avLst>
            </a:prstGeom>
            <a:solidFill>
              <a:srgbClr val="E5624C"/>
            </a:solidFill>
            <a:ln>
              <a:noFill/>
            </a:ln>
          </p:spPr>
        </p:sp>
        <p:sp>
          <p:nvSpPr>
            <p:cNvPr id="37" name="TextBox 37"/>
            <p:cNvSpPr txBox="1"/>
            <p:nvPr/>
          </p:nvSpPr>
          <p:spPr>
            <a:xfrm>
              <a:off x="2085124" y="2692241"/>
              <a:ext cx="23030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投前</a:t>
              </a:r>
            </a:p>
          </p:txBody>
        </p:sp>
        <p:sp>
          <p:nvSpPr>
            <p:cNvPr id="38" name="Rectangle 38"/>
            <p:cNvSpPr/>
            <p:nvPr/>
          </p:nvSpPr>
          <p:spPr>
            <a:xfrm>
              <a:off x="2495550" y="2647950"/>
              <a:ext cx="723900" cy="190500"/>
            </a:xfrm>
            <a:prstGeom prst="roundRect">
              <a:avLst>
                <a:gd name="adj" fmla="val 50000"/>
              </a:avLst>
            </a:prstGeom>
            <a:solidFill>
              <a:srgbClr val="FFFFFF"/>
            </a:solidFill>
            <a:ln w="9525">
              <a:solidFill>
                <a:srgbClr val="ED8776"/>
              </a:solidFill>
            </a:ln>
          </p:spPr>
        </p:sp>
        <p:sp>
          <p:nvSpPr>
            <p:cNvPr id="39" name="TextBox 39"/>
            <p:cNvSpPr txBox="1"/>
            <p:nvPr/>
          </p:nvSpPr>
          <p:spPr>
            <a:xfrm>
              <a:off x="2650808" y="270033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官方定制</a:t>
              </a:r>
            </a:p>
          </p:txBody>
        </p:sp>
        <p:sp>
          <p:nvSpPr>
            <p:cNvPr id="40" name="Rectangle 40"/>
            <p:cNvSpPr/>
            <p:nvPr/>
          </p:nvSpPr>
          <p:spPr>
            <a:xfrm>
              <a:off x="3295650" y="2647950"/>
              <a:ext cx="628650" cy="190500"/>
            </a:xfrm>
            <a:prstGeom prst="roundRect">
              <a:avLst>
                <a:gd name="adj" fmla="val 50000"/>
              </a:avLst>
            </a:prstGeom>
            <a:solidFill>
              <a:srgbClr val="FFFFFF"/>
            </a:solidFill>
            <a:ln w="9525">
              <a:solidFill>
                <a:srgbClr val="ED8776"/>
              </a:solidFill>
            </a:ln>
          </p:spPr>
        </p:sp>
        <p:sp>
          <p:nvSpPr>
            <p:cNvPr id="41" name="TextBox 41"/>
            <p:cNvSpPr txBox="1"/>
            <p:nvPr/>
          </p:nvSpPr>
          <p:spPr>
            <a:xfrm>
              <a:off x="3453765" y="2700338"/>
              <a:ext cx="31242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自定义</a:t>
              </a:r>
            </a:p>
          </p:txBody>
        </p:sp>
        <p:sp>
          <p:nvSpPr>
            <p:cNvPr id="42" name="TextBox 42"/>
            <p:cNvSpPr txBox="1"/>
            <p:nvPr/>
          </p:nvSpPr>
          <p:spPr>
            <a:xfrm>
              <a:off x="2090738" y="3005138"/>
              <a:ext cx="530733" cy="147638"/>
            </a:xfrm>
            <a:prstGeom prst="rect">
              <a:avLst/>
            </a:prstGeom>
            <a:noFill/>
            <a:ln>
              <a:noFill/>
            </a:ln>
          </p:spPr>
          <p:txBody>
            <a:bodyPr wrap="none" lIns="0" tIns="0" rIns="0" bIns="0" anchor="t" anchorCtr="0">
              <a:spAutoFit/>
            </a:bodyPr>
            <a:lstStyle/>
            <a:p>
              <a:pPr algn="l"/>
              <a:r>
                <a:rPr lang="zh-CN" sz="750" dirty="0">
                  <a:solidFill>
                    <a:srgbClr val="808699"/>
                  </a:solidFill>
                  <a:latin typeface="+mn-lt"/>
                  <a:ea typeface="+mn-ea"/>
                  <a:cs typeface="+mn-cs"/>
                </a:rPr>
                <a:t>定义TA人群</a:t>
              </a:r>
            </a:p>
          </p:txBody>
        </p:sp>
        <p:sp>
          <p:nvSpPr>
            <p:cNvPr id="43" name="Rectangle 43"/>
            <p:cNvSpPr/>
            <p:nvPr/>
          </p:nvSpPr>
          <p:spPr>
            <a:xfrm>
              <a:off x="1885950" y="3352800"/>
              <a:ext cx="2819400" cy="723900"/>
            </a:xfrm>
            <a:prstGeom prst="roundRect">
              <a:avLst>
                <a:gd name="adj" fmla="val 5263"/>
              </a:avLst>
            </a:prstGeom>
            <a:solidFill>
              <a:srgbClr val="FFF8F6"/>
            </a:solidFill>
            <a:ln w="9525">
              <a:solidFill>
                <a:srgbClr val="ED8776"/>
              </a:solidFill>
              <a:custDash>
                <a:ds d="400000" sp="300000"/>
              </a:custDash>
            </a:ln>
          </p:spPr>
        </p:sp>
        <p:sp>
          <p:nvSpPr>
            <p:cNvPr id="44" name="Rectangle 44"/>
            <p:cNvSpPr/>
            <p:nvPr/>
          </p:nvSpPr>
          <p:spPr>
            <a:xfrm>
              <a:off x="1981200" y="3448050"/>
              <a:ext cx="438150" cy="190500"/>
            </a:xfrm>
            <a:prstGeom prst="roundRect">
              <a:avLst>
                <a:gd name="adj" fmla="val 50000"/>
              </a:avLst>
            </a:prstGeom>
            <a:solidFill>
              <a:srgbClr val="E5624C"/>
            </a:solidFill>
            <a:ln>
              <a:noFill/>
            </a:ln>
          </p:spPr>
        </p:sp>
        <p:sp>
          <p:nvSpPr>
            <p:cNvPr id="45" name="TextBox 45"/>
            <p:cNvSpPr txBox="1"/>
            <p:nvPr/>
          </p:nvSpPr>
          <p:spPr>
            <a:xfrm>
              <a:off x="2085124" y="3492341"/>
              <a:ext cx="23030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投中</a:t>
              </a:r>
            </a:p>
          </p:txBody>
        </p:sp>
        <p:sp>
          <p:nvSpPr>
            <p:cNvPr id="46" name="Rectangle 46"/>
            <p:cNvSpPr/>
            <p:nvPr/>
          </p:nvSpPr>
          <p:spPr>
            <a:xfrm>
              <a:off x="2495550" y="3448050"/>
              <a:ext cx="723900" cy="190500"/>
            </a:xfrm>
            <a:prstGeom prst="roundRect">
              <a:avLst>
                <a:gd name="adj" fmla="val 50000"/>
              </a:avLst>
            </a:prstGeom>
            <a:solidFill>
              <a:srgbClr val="FFFFFF"/>
            </a:solidFill>
            <a:ln w="9525">
              <a:solidFill>
                <a:srgbClr val="ED8776"/>
              </a:solidFill>
            </a:ln>
          </p:spPr>
        </p:sp>
        <p:sp>
          <p:nvSpPr>
            <p:cNvPr id="47" name="TextBox 47"/>
            <p:cNvSpPr txBox="1"/>
            <p:nvPr/>
          </p:nvSpPr>
          <p:spPr>
            <a:xfrm>
              <a:off x="2650808" y="350043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场景圈层</a:t>
              </a:r>
            </a:p>
          </p:txBody>
        </p:sp>
        <p:sp>
          <p:nvSpPr>
            <p:cNvPr id="48" name="Rectangle 48"/>
            <p:cNvSpPr/>
            <p:nvPr/>
          </p:nvSpPr>
          <p:spPr>
            <a:xfrm>
              <a:off x="3295650" y="3448050"/>
              <a:ext cx="723900" cy="190500"/>
            </a:xfrm>
            <a:prstGeom prst="roundRect">
              <a:avLst>
                <a:gd name="adj" fmla="val 50000"/>
              </a:avLst>
            </a:prstGeom>
            <a:solidFill>
              <a:srgbClr val="FFFFFF"/>
            </a:solidFill>
            <a:ln w="9525">
              <a:solidFill>
                <a:srgbClr val="ED8776"/>
              </a:solidFill>
            </a:ln>
          </p:spPr>
        </p:sp>
        <p:sp>
          <p:nvSpPr>
            <p:cNvPr id="49" name="TextBox 49"/>
            <p:cNvSpPr txBox="1"/>
            <p:nvPr/>
          </p:nvSpPr>
          <p:spPr>
            <a:xfrm>
              <a:off x="3450908" y="350043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品类行为</a:t>
              </a:r>
            </a:p>
          </p:txBody>
        </p:sp>
        <p:sp>
          <p:nvSpPr>
            <p:cNvPr id="50" name="TextBox 50"/>
            <p:cNvSpPr txBox="1"/>
            <p:nvPr/>
          </p:nvSpPr>
          <p:spPr>
            <a:xfrm>
              <a:off x="2090738" y="3805238"/>
              <a:ext cx="1655255" cy="147638"/>
            </a:xfrm>
            <a:prstGeom prst="rect">
              <a:avLst/>
            </a:prstGeom>
            <a:noFill/>
            <a:ln>
              <a:noFill/>
            </a:ln>
          </p:spPr>
          <p:txBody>
            <a:bodyPr wrap="none" lIns="0" tIns="0" rIns="0" bIns="0" anchor="t" anchorCtr="0">
              <a:spAutoFit/>
            </a:bodyPr>
            <a:lstStyle/>
            <a:p>
              <a:pPr algn="l"/>
              <a:r>
                <a:rPr lang="zh-CN" sz="750" dirty="0">
                  <a:solidFill>
                    <a:srgbClr val="808699"/>
                  </a:solidFill>
                  <a:latin typeface="+mn-lt"/>
                  <a:ea typeface="+mn-ea"/>
                  <a:cs typeface="+mn-cs"/>
                </a:rPr>
                <a:t>探索机会市场 · 消费需求 · 行为供给</a:t>
              </a:r>
            </a:p>
          </p:txBody>
        </p:sp>
        <p:sp>
          <p:nvSpPr>
            <p:cNvPr id="51" name="Rectangle 51"/>
            <p:cNvSpPr/>
            <p:nvPr/>
          </p:nvSpPr>
          <p:spPr>
            <a:xfrm>
              <a:off x="1885950" y="4152900"/>
              <a:ext cx="2819400" cy="723900"/>
            </a:xfrm>
            <a:prstGeom prst="roundRect">
              <a:avLst>
                <a:gd name="adj" fmla="val 5263"/>
              </a:avLst>
            </a:prstGeom>
            <a:solidFill>
              <a:srgbClr val="FFF8F6"/>
            </a:solidFill>
            <a:ln w="9525">
              <a:solidFill>
                <a:srgbClr val="ED8776"/>
              </a:solidFill>
              <a:custDash>
                <a:ds d="400000" sp="300000"/>
              </a:custDash>
            </a:ln>
          </p:spPr>
        </p:sp>
        <p:sp>
          <p:nvSpPr>
            <p:cNvPr id="52" name="Rectangle 52"/>
            <p:cNvSpPr/>
            <p:nvPr/>
          </p:nvSpPr>
          <p:spPr>
            <a:xfrm>
              <a:off x="1981200" y="4248150"/>
              <a:ext cx="438150" cy="190500"/>
            </a:xfrm>
            <a:prstGeom prst="roundRect">
              <a:avLst>
                <a:gd name="adj" fmla="val 50000"/>
              </a:avLst>
            </a:prstGeom>
            <a:solidFill>
              <a:srgbClr val="E5624C"/>
            </a:solidFill>
            <a:ln>
              <a:noFill/>
            </a:ln>
          </p:spPr>
        </p:sp>
        <p:sp>
          <p:nvSpPr>
            <p:cNvPr id="53" name="TextBox 53"/>
            <p:cNvSpPr txBox="1"/>
            <p:nvPr/>
          </p:nvSpPr>
          <p:spPr>
            <a:xfrm>
              <a:off x="2085124" y="4292441"/>
              <a:ext cx="23030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投后</a:t>
              </a:r>
            </a:p>
          </p:txBody>
        </p:sp>
        <p:sp>
          <p:nvSpPr>
            <p:cNvPr id="54" name="Rectangle 54"/>
            <p:cNvSpPr/>
            <p:nvPr/>
          </p:nvSpPr>
          <p:spPr>
            <a:xfrm>
              <a:off x="2495550" y="4248150"/>
              <a:ext cx="723900" cy="190500"/>
            </a:xfrm>
            <a:prstGeom prst="roundRect">
              <a:avLst>
                <a:gd name="adj" fmla="val 50000"/>
              </a:avLst>
            </a:prstGeom>
            <a:solidFill>
              <a:srgbClr val="FFFFFF"/>
            </a:solidFill>
            <a:ln w="9525">
              <a:solidFill>
                <a:srgbClr val="ED8776"/>
              </a:solidFill>
            </a:ln>
          </p:spPr>
        </p:sp>
        <p:sp>
          <p:nvSpPr>
            <p:cNvPr id="55" name="TextBox 55"/>
            <p:cNvSpPr txBox="1"/>
            <p:nvPr/>
          </p:nvSpPr>
          <p:spPr>
            <a:xfrm>
              <a:off x="2663761" y="4300538"/>
              <a:ext cx="387477"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LTV价值</a:t>
              </a:r>
            </a:p>
          </p:txBody>
        </p:sp>
        <p:sp>
          <p:nvSpPr>
            <p:cNvPr id="56" name="Rectangle 56"/>
            <p:cNvSpPr/>
            <p:nvPr/>
          </p:nvSpPr>
          <p:spPr>
            <a:xfrm>
              <a:off x="3295650" y="4248150"/>
              <a:ext cx="723900" cy="190500"/>
            </a:xfrm>
            <a:prstGeom prst="roundRect">
              <a:avLst>
                <a:gd name="adj" fmla="val 50000"/>
              </a:avLst>
            </a:prstGeom>
            <a:solidFill>
              <a:srgbClr val="FFFFFF"/>
            </a:solidFill>
            <a:ln w="9525">
              <a:solidFill>
                <a:srgbClr val="ED8776"/>
              </a:solidFill>
            </a:ln>
          </p:spPr>
        </p:sp>
        <p:sp>
          <p:nvSpPr>
            <p:cNvPr id="57" name="TextBox 57"/>
            <p:cNvSpPr txBox="1"/>
            <p:nvPr/>
          </p:nvSpPr>
          <p:spPr>
            <a:xfrm>
              <a:off x="3450908" y="430053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复购表现</a:t>
              </a:r>
            </a:p>
          </p:txBody>
        </p:sp>
        <p:sp>
          <p:nvSpPr>
            <p:cNvPr id="58" name="TextBox 58"/>
            <p:cNvSpPr txBox="1"/>
            <p:nvPr/>
          </p:nvSpPr>
          <p:spPr>
            <a:xfrm>
              <a:off x="2090738" y="4605338"/>
              <a:ext cx="1756220" cy="147638"/>
            </a:xfrm>
            <a:prstGeom prst="rect">
              <a:avLst/>
            </a:prstGeom>
            <a:noFill/>
            <a:ln>
              <a:noFill/>
            </a:ln>
          </p:spPr>
          <p:txBody>
            <a:bodyPr wrap="none" lIns="0" tIns="0" rIns="0" bIns="0" anchor="t" anchorCtr="0">
              <a:spAutoFit/>
            </a:bodyPr>
            <a:lstStyle/>
            <a:p>
              <a:pPr algn="l"/>
              <a:r>
                <a:rPr lang="zh-CN" sz="750" dirty="0">
                  <a:solidFill>
                    <a:srgbClr val="808699"/>
                  </a:solidFill>
                  <a:latin typeface="+mn-lt"/>
                  <a:ea typeface="+mn-ea"/>
                  <a:cs typeface="+mn-cs"/>
                </a:rPr>
                <a:t>长周期价值评估 · 资产渗透 · 竞对透视</a:t>
              </a:r>
            </a:p>
          </p:txBody>
        </p:sp>
        <p:sp>
          <p:nvSpPr>
            <p:cNvPr id="59" name="TextBox 59"/>
            <p:cNvSpPr txBox="1"/>
            <p:nvPr/>
          </p:nvSpPr>
          <p:spPr>
            <a:xfrm>
              <a:off x="2550795" y="5119688"/>
              <a:ext cx="918210" cy="147638"/>
            </a:xfrm>
            <a:prstGeom prst="rect">
              <a:avLst/>
            </a:prstGeom>
            <a:noFill/>
            <a:ln>
              <a:noFill/>
            </a:ln>
          </p:spPr>
          <p:txBody>
            <a:bodyPr wrap="none" lIns="0" tIns="0" rIns="0" bIns="0" anchor="t" anchorCtr="0">
              <a:spAutoFit/>
            </a:bodyPr>
            <a:lstStyle/>
            <a:p>
              <a:pPr algn="ctr"/>
              <a:r>
                <a:rPr lang="zh-CN" sz="750" dirty="0">
                  <a:solidFill>
                    <a:srgbClr val="B9BECF"/>
                  </a:solidFill>
                  <a:latin typeface="+mn-lt"/>
                  <a:ea typeface="+mn-ea"/>
                  <a:cs typeface="+mn-cs"/>
                </a:rPr>
                <a:t>人群资产全周期运营</a:t>
              </a:r>
            </a:p>
          </p:txBody>
        </p:sp>
      </p:grpSp>
      <p:grpSp>
        <p:nvGrpSpPr>
          <p:cNvPr id="114" name="col-huopin"/>
          <p:cNvGrpSpPr/>
          <p:nvPr/>
        </p:nvGrpSpPr>
        <p:grpSpPr>
          <a:xfrm>
            <a:off x="4876800" y="1504950"/>
            <a:ext cx="3562350" cy="3943350"/>
            <a:chOff x="4876800" y="1504950"/>
            <a:chExt cx="3562350" cy="3943350"/>
          </a:xfrm>
        </p:grpSpPr>
        <p:sp>
          <p:nvSpPr>
            <p:cNvPr id="61" name="Rectangle 61"/>
            <p:cNvSpPr/>
            <p:nvPr/>
          </p:nvSpPr>
          <p:spPr>
            <a:xfrm>
              <a:off x="4876800" y="1504950"/>
              <a:ext cx="3562350" cy="533400"/>
            </a:xfrm>
            <a:prstGeom prst="roundRect">
              <a:avLst>
                <a:gd name="adj" fmla="val 7143"/>
              </a:avLst>
            </a:prstGeom>
            <a:gradFill>
              <a:gsLst>
                <a:gs pos="0">
                  <a:srgbClr val="C1553F"/>
                </a:gs>
                <a:gs pos="100000">
                  <a:srgbClr val="CE897B"/>
                </a:gs>
              </a:gsLst>
              <a:lin ang="0" scaled="1"/>
            </a:gradFill>
            <a:ln>
              <a:noFill/>
            </a:ln>
          </p:spPr>
        </p:sp>
        <p:sp>
          <p:nvSpPr>
            <p:cNvPr id="62" name="TextBox 62"/>
            <p:cNvSpPr txBox="1"/>
            <p:nvPr/>
          </p:nvSpPr>
          <p:spPr>
            <a:xfrm>
              <a:off x="5567794" y="1650206"/>
              <a:ext cx="218036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货品经营：VIEW货品经营方法论</a:t>
              </a:r>
            </a:p>
          </p:txBody>
        </p:sp>
        <p:sp>
          <p:nvSpPr>
            <p:cNvPr id="63" name="TextBox 63"/>
            <p:cNvSpPr txBox="1"/>
            <p:nvPr/>
          </p:nvSpPr>
          <p:spPr>
            <a:xfrm>
              <a:off x="6061541" y="1863566"/>
              <a:ext cx="1192868" cy="161925"/>
            </a:xfrm>
            <a:prstGeom prst="rect">
              <a:avLst/>
            </a:prstGeom>
            <a:noFill/>
            <a:ln>
              <a:noFill/>
            </a:ln>
          </p:spPr>
          <p:txBody>
            <a:bodyPr wrap="none" lIns="0" tIns="0" rIns="0" bIns="0" anchor="t" anchorCtr="0">
              <a:spAutoFit/>
            </a:bodyPr>
            <a:lstStyle/>
            <a:p>
              <a:pPr algn="ctr"/>
              <a:r>
                <a:rPr lang="zh-CN" sz="820" dirty="0">
                  <a:solidFill>
                    <a:srgbClr val="E8EAFB"/>
                  </a:solidFill>
                  <a:latin typeface="+mn-lt"/>
                  <a:ea typeface="+mn-ea"/>
                  <a:cs typeface="+mn-cs"/>
                </a:rPr>
                <a:t>GMV X 货品拆解及监控​</a:t>
              </a:r>
            </a:p>
          </p:txBody>
        </p:sp>
        <p:sp>
          <p:nvSpPr>
            <p:cNvPr id="64" name="Rectangle 64"/>
            <p:cNvSpPr/>
            <p:nvPr/>
          </p:nvSpPr>
          <p:spPr>
            <a:xfrm>
              <a:off x="4876800" y="2076450"/>
              <a:ext cx="3562350" cy="3371850"/>
            </a:xfrm>
            <a:prstGeom prst="roundRect">
              <a:avLst>
                <a:gd name="adj" fmla="val 1130"/>
              </a:avLst>
            </a:prstGeom>
            <a:solidFill>
              <a:srgbClr val="FFFFFF"/>
            </a:solidFill>
            <a:ln w="9525">
              <a:solidFill>
                <a:srgbClr val="E4E7F5"/>
              </a:solidFill>
            </a:ln>
          </p:spPr>
        </p:sp>
        <p:sp>
          <p:nvSpPr>
            <p:cNvPr id="65" name="TextBox 65"/>
            <p:cNvSpPr txBox="1"/>
            <p:nvPr/>
          </p:nvSpPr>
          <p:spPr>
            <a:xfrm>
              <a:off x="6039848" y="2237899"/>
              <a:ext cx="1236254" cy="190690"/>
            </a:xfrm>
            <a:prstGeom prst="rect">
              <a:avLst/>
            </a:prstGeom>
            <a:noFill/>
            <a:ln>
              <a:noFill/>
            </a:ln>
          </p:spPr>
          <p:txBody>
            <a:bodyPr wrap="none" lIns="0" tIns="0" rIns="0" bIns="0" anchor="t" anchorCtr="0">
              <a:spAutoFit/>
            </a:bodyPr>
            <a:lstStyle/>
            <a:p>
              <a:pPr algn="ctr"/>
              <a:r>
                <a:rPr lang="zh-CN" sz="980" b="1" dirty="0">
                  <a:solidFill>
                    <a:srgbClr val="523F3B"/>
                  </a:solidFill>
                  <a:latin typeface="+mn-lt"/>
                  <a:ea typeface="+mn-ea"/>
                  <a:cs typeface="+mn-cs"/>
                </a:rPr>
                <a:t>VIEW 货品资产洞察​</a:t>
              </a:r>
            </a:p>
          </p:txBody>
        </p:sp>
        <p:sp>
          <p:nvSpPr>
            <p:cNvPr id="66" name="TextBox 66"/>
            <p:cNvSpPr txBox="1"/>
            <p:nvPr/>
          </p:nvSpPr>
          <p:spPr>
            <a:xfrm>
              <a:off x="5397544" y="2444591"/>
              <a:ext cx="2520861" cy="161925"/>
            </a:xfrm>
            <a:prstGeom prst="rect">
              <a:avLst/>
            </a:prstGeom>
            <a:noFill/>
            <a:ln>
              <a:noFill/>
            </a:ln>
          </p:spPr>
          <p:txBody>
            <a:bodyPr wrap="none" lIns="0" tIns="0" rIns="0" bIns="0" anchor="t" anchorCtr="0">
              <a:spAutoFit/>
            </a:bodyPr>
            <a:lstStyle/>
            <a:p>
              <a:pPr algn="ctr"/>
              <a:r>
                <a:rPr lang="zh-CN" sz="820" dirty="0">
                  <a:solidFill>
                    <a:srgbClr val="808699"/>
                  </a:solidFill>
                  <a:latin typeface="+mn-lt"/>
                  <a:ea typeface="+mn-ea"/>
                  <a:cs typeface="+mn-cs"/>
                </a:rPr>
                <a:t>资产总量=种草资产+拉新资产+连带资产+复购资产​</a:t>
              </a:r>
            </a:p>
          </p:txBody>
        </p:sp>
        <p:sp>
          <p:nvSpPr>
            <p:cNvPr id="67" name="Rectangle 67"/>
            <p:cNvSpPr/>
            <p:nvPr/>
          </p:nvSpPr>
          <p:spPr>
            <a:xfrm>
              <a:off x="4972050" y="2628900"/>
              <a:ext cx="1066800" cy="209550"/>
            </a:xfrm>
            <a:prstGeom prst="roundRect">
              <a:avLst>
                <a:gd name="adj" fmla="val 13636"/>
              </a:avLst>
            </a:prstGeom>
            <a:solidFill>
              <a:srgbClr val="D47D6B"/>
            </a:solidFill>
            <a:ln>
              <a:noFill/>
            </a:ln>
          </p:spPr>
        </p:sp>
        <p:sp>
          <p:nvSpPr>
            <p:cNvPr id="68" name="TextBox 68"/>
            <p:cNvSpPr txBox="1"/>
            <p:nvPr/>
          </p:nvSpPr>
          <p:spPr>
            <a:xfrm>
              <a:off x="5279911" y="268271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单品资产</a:t>
              </a:r>
            </a:p>
          </p:txBody>
        </p:sp>
        <p:sp>
          <p:nvSpPr>
            <p:cNvPr id="69" name="Rectangle 69"/>
            <p:cNvSpPr/>
            <p:nvPr/>
          </p:nvSpPr>
          <p:spPr>
            <a:xfrm>
              <a:off x="6115050" y="2628900"/>
              <a:ext cx="1066800" cy="209550"/>
            </a:xfrm>
            <a:prstGeom prst="roundRect">
              <a:avLst>
                <a:gd name="adj" fmla="val 13636"/>
              </a:avLst>
            </a:prstGeom>
            <a:solidFill>
              <a:srgbClr val="D47D6B"/>
            </a:solidFill>
            <a:ln>
              <a:noFill/>
            </a:ln>
          </p:spPr>
        </p:sp>
        <p:sp>
          <p:nvSpPr>
            <p:cNvPr id="70" name="TextBox 70"/>
            <p:cNvSpPr txBox="1"/>
            <p:nvPr/>
          </p:nvSpPr>
          <p:spPr>
            <a:xfrm>
              <a:off x="6422911" y="268271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品线资产</a:t>
              </a:r>
            </a:p>
          </p:txBody>
        </p:sp>
        <p:sp>
          <p:nvSpPr>
            <p:cNvPr id="71" name="Rectangle 71"/>
            <p:cNvSpPr/>
            <p:nvPr/>
          </p:nvSpPr>
          <p:spPr>
            <a:xfrm>
              <a:off x="7258050" y="2628900"/>
              <a:ext cx="1066800" cy="209550"/>
            </a:xfrm>
            <a:prstGeom prst="roundRect">
              <a:avLst>
                <a:gd name="adj" fmla="val 13636"/>
              </a:avLst>
            </a:prstGeom>
            <a:solidFill>
              <a:srgbClr val="D47D6B"/>
            </a:solidFill>
            <a:ln>
              <a:noFill/>
            </a:ln>
          </p:spPr>
        </p:sp>
        <p:sp>
          <p:nvSpPr>
            <p:cNvPr id="72" name="TextBox 72"/>
            <p:cNvSpPr txBox="1"/>
            <p:nvPr/>
          </p:nvSpPr>
          <p:spPr>
            <a:xfrm>
              <a:off x="7580074" y="2682716"/>
              <a:ext cx="422753"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SPU资产</a:t>
              </a:r>
            </a:p>
          </p:txBody>
        </p:sp>
        <p:sp>
          <p:nvSpPr>
            <p:cNvPr id="73" name="TextBox 73"/>
            <p:cNvSpPr txBox="1"/>
            <p:nvPr/>
          </p:nvSpPr>
          <p:spPr>
            <a:xfrm>
              <a:off x="5409146" y="2898934"/>
              <a:ext cx="192608" cy="133350"/>
            </a:xfrm>
            <a:prstGeom prst="rect">
              <a:avLst/>
            </a:prstGeom>
            <a:noFill/>
            <a:ln>
              <a:noFill/>
            </a:ln>
          </p:spPr>
          <p:txBody>
            <a:bodyPr wrap="none" lIns="0" tIns="0" rIns="0" bIns="0" anchor="t" anchorCtr="0">
              <a:spAutoFit/>
            </a:bodyPr>
            <a:lstStyle/>
            <a:p>
              <a:pPr algn="ctr"/>
              <a:r>
                <a:rPr lang="zh-CN" sz="680" dirty="0">
                  <a:solidFill>
                    <a:srgbClr val="9AA0B5"/>
                  </a:solidFill>
                  <a:latin typeface="+mn-lt"/>
                  <a:ea typeface="+mn-ea"/>
                  <a:cs typeface="+mn-cs"/>
                </a:rPr>
                <a:t>适用</a:t>
              </a:r>
            </a:p>
          </p:txBody>
        </p:sp>
        <p:sp>
          <p:nvSpPr>
            <p:cNvPr id="74" name="TextBox 74"/>
            <p:cNvSpPr txBox="1"/>
            <p:nvPr/>
          </p:nvSpPr>
          <p:spPr>
            <a:xfrm>
              <a:off x="6460604" y="2898934"/>
              <a:ext cx="375691" cy="133350"/>
            </a:xfrm>
            <a:prstGeom prst="rect">
              <a:avLst/>
            </a:prstGeom>
            <a:noFill/>
            <a:ln>
              <a:noFill/>
            </a:ln>
          </p:spPr>
          <p:txBody>
            <a:bodyPr wrap="none" lIns="0" tIns="0" rIns="0" bIns="0" anchor="t" anchorCtr="0">
              <a:spAutoFit/>
            </a:bodyPr>
            <a:lstStyle/>
            <a:p>
              <a:pPr algn="ctr"/>
              <a:r>
                <a:rPr lang="zh-CN" sz="680" dirty="0">
                  <a:solidFill>
                    <a:srgbClr val="9AA0B5"/>
                  </a:solidFill>
                  <a:latin typeface="+mn-lt"/>
                  <a:ea typeface="+mn-ea"/>
                  <a:cs typeface="+mn-cs"/>
                </a:rPr>
                <a:t>适配中标</a:t>
              </a:r>
            </a:p>
          </p:txBody>
        </p:sp>
        <p:sp>
          <p:nvSpPr>
            <p:cNvPr id="75" name="TextBox 75"/>
            <p:cNvSpPr txBox="1"/>
            <p:nvPr/>
          </p:nvSpPr>
          <p:spPr>
            <a:xfrm>
              <a:off x="7603604" y="2898934"/>
              <a:ext cx="375691" cy="133350"/>
            </a:xfrm>
            <a:prstGeom prst="rect">
              <a:avLst/>
            </a:prstGeom>
            <a:noFill/>
            <a:ln>
              <a:noFill/>
            </a:ln>
          </p:spPr>
          <p:txBody>
            <a:bodyPr wrap="none" lIns="0" tIns="0" rIns="0" bIns="0" anchor="t" anchorCtr="0">
              <a:spAutoFit/>
            </a:bodyPr>
            <a:lstStyle/>
            <a:p>
              <a:pPr algn="ctr"/>
              <a:r>
                <a:rPr lang="zh-CN" sz="680" dirty="0">
                  <a:solidFill>
                    <a:srgbClr val="9AA0B5"/>
                  </a:solidFill>
                  <a:latin typeface="+mn-lt"/>
                  <a:ea typeface="+mn-ea"/>
                  <a:cs typeface="+mn-cs"/>
                </a:rPr>
                <a:t>适配品类</a:t>
              </a:r>
            </a:p>
          </p:txBody>
        </p:sp>
        <p:grpSp>
          <p:nvGrpSpPr>
            <p:cNvPr id="78" name="Group 78"/>
            <p:cNvGrpSpPr/>
            <p:nvPr/>
          </p:nvGrpSpPr>
          <p:grpSpPr>
            <a:xfrm>
              <a:off x="5324475" y="3111919"/>
              <a:ext cx="114300" cy="119813"/>
              <a:chOff x="5324475" y="3111919"/>
              <a:chExt cx="114300" cy="119813"/>
            </a:xfrm>
          </p:grpSpPr>
          <p:sp>
            <p:nvSpPr>
              <p:cNvPr id="76" name="Freeform 76"/>
              <p:cNvSpPr/>
              <p:nvPr/>
            </p:nvSpPr>
            <p:spPr>
              <a:xfrm>
                <a:off x="5324475" y="3111919"/>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C1553F"/>
                </a:solidFill>
              </a:ln>
            </p:spPr>
          </p:sp>
          <p:sp>
            <p:nvSpPr>
              <p:cNvPr id="77" name="Freeform 77"/>
              <p:cNvSpPr/>
              <p:nvPr/>
            </p:nvSpPr>
            <p:spPr>
              <a:xfrm>
                <a:off x="5324475" y="3178969"/>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C1553F"/>
                </a:solidFill>
              </a:ln>
            </p:spPr>
          </p:sp>
        </p:grpSp>
        <p:grpSp>
          <p:nvGrpSpPr>
            <p:cNvPr id="83" name="Group 83"/>
            <p:cNvGrpSpPr/>
            <p:nvPr/>
          </p:nvGrpSpPr>
          <p:grpSpPr>
            <a:xfrm>
              <a:off x="6174581" y="3107531"/>
              <a:ext cx="128588" cy="128588"/>
              <a:chOff x="6174581" y="3107531"/>
              <a:chExt cx="128588" cy="128588"/>
            </a:xfrm>
          </p:grpSpPr>
          <p:sp>
            <p:nvSpPr>
              <p:cNvPr id="79" name="Freeform 79"/>
              <p:cNvSpPr/>
              <p:nvPr/>
            </p:nvSpPr>
            <p:spPr>
              <a:xfrm>
                <a:off x="6188869" y="31075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C1553F"/>
                </a:solidFill>
              </a:ln>
            </p:spPr>
          </p:sp>
          <p:sp>
            <p:nvSpPr>
              <p:cNvPr id="80" name="Freeform 80"/>
              <p:cNvSpPr/>
              <p:nvPr/>
            </p:nvSpPr>
            <p:spPr>
              <a:xfrm>
                <a:off x="6174581" y="31932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C1553F"/>
                </a:solidFill>
              </a:ln>
            </p:spPr>
          </p:sp>
          <p:sp>
            <p:nvSpPr>
              <p:cNvPr id="81" name="Freeform 81"/>
              <p:cNvSpPr/>
              <p:nvPr/>
            </p:nvSpPr>
            <p:spPr>
              <a:xfrm>
                <a:off x="6267450" y="31084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C1553F"/>
                </a:solidFill>
              </a:ln>
            </p:spPr>
          </p:sp>
          <p:sp>
            <p:nvSpPr>
              <p:cNvPr id="82" name="Freeform 82"/>
              <p:cNvSpPr/>
              <p:nvPr/>
            </p:nvSpPr>
            <p:spPr>
              <a:xfrm>
                <a:off x="6281738" y="31943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C1553F"/>
                </a:solidFill>
              </a:ln>
            </p:spPr>
          </p:sp>
        </p:grpSp>
        <p:grpSp>
          <p:nvGrpSpPr>
            <p:cNvPr id="87" name="Group 87"/>
            <p:cNvGrpSpPr/>
            <p:nvPr/>
          </p:nvGrpSpPr>
          <p:grpSpPr>
            <a:xfrm>
              <a:off x="7046119" y="3107531"/>
              <a:ext cx="100012" cy="128588"/>
              <a:chOff x="7046119" y="3107531"/>
              <a:chExt cx="100012" cy="128588"/>
            </a:xfrm>
          </p:grpSpPr>
          <p:sp>
            <p:nvSpPr>
              <p:cNvPr id="84" name="Freeform 84"/>
              <p:cNvSpPr/>
              <p:nvPr/>
            </p:nvSpPr>
            <p:spPr>
              <a:xfrm>
                <a:off x="7046119" y="3150394"/>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C1553F"/>
                </a:solidFill>
              </a:ln>
            </p:spPr>
          </p:sp>
          <p:sp>
            <p:nvSpPr>
              <p:cNvPr id="85" name="Freeform 85"/>
              <p:cNvSpPr/>
              <p:nvPr/>
            </p:nvSpPr>
            <p:spPr>
              <a:xfrm>
                <a:off x="7096125" y="3107531"/>
                <a:ext cx="9525" cy="78581"/>
              </a:xfrm>
              <a:custGeom>
                <a:avLst/>
                <a:gdLst/>
                <a:ahLst/>
                <a:cxnLst/>
                <a:rect l="l" t="t" r="r" b="b"/>
                <a:pathLst>
                  <a:path w="9525" h="78581">
                    <a:moveTo>
                      <a:pt x="0" y="78581"/>
                    </a:moveTo>
                    <a:lnTo>
                      <a:pt x="0" y="0"/>
                    </a:lnTo>
                  </a:path>
                </a:pathLst>
              </a:custGeom>
              <a:noFill/>
              <a:ln w="14288">
                <a:solidFill>
                  <a:srgbClr val="C1553F"/>
                </a:solidFill>
              </a:ln>
            </p:spPr>
          </p:sp>
          <p:sp>
            <p:nvSpPr>
              <p:cNvPr id="86" name="Freeform 86"/>
              <p:cNvSpPr/>
              <p:nvPr/>
            </p:nvSpPr>
            <p:spPr>
              <a:xfrm>
                <a:off x="7074694" y="3107531"/>
                <a:ext cx="42862" cy="21431"/>
              </a:xfrm>
              <a:custGeom>
                <a:avLst/>
                <a:gdLst/>
                <a:ahLst/>
                <a:cxnLst/>
                <a:rect l="l" t="t" r="r" b="b"/>
                <a:pathLst>
                  <a:path w="42862" h="21431">
                    <a:moveTo>
                      <a:pt x="0" y="21431"/>
                    </a:moveTo>
                    <a:lnTo>
                      <a:pt x="21431" y="0"/>
                    </a:lnTo>
                    <a:lnTo>
                      <a:pt x="42862" y="21431"/>
                    </a:lnTo>
                  </a:path>
                </a:pathLst>
              </a:custGeom>
              <a:noFill/>
              <a:ln w="14288">
                <a:solidFill>
                  <a:srgbClr val="C1553F"/>
                </a:solidFill>
              </a:ln>
            </p:spPr>
          </p:sp>
        </p:grpSp>
        <p:grpSp>
          <p:nvGrpSpPr>
            <p:cNvPr id="90" name="Group 90"/>
            <p:cNvGrpSpPr/>
            <p:nvPr/>
          </p:nvGrpSpPr>
          <p:grpSpPr>
            <a:xfrm>
              <a:off x="7889081" y="3107531"/>
              <a:ext cx="128587" cy="128587"/>
              <a:chOff x="7889081" y="3107531"/>
              <a:chExt cx="128587" cy="128587"/>
            </a:xfrm>
          </p:grpSpPr>
          <p:sp>
            <p:nvSpPr>
              <p:cNvPr id="88" name="Freeform 88"/>
              <p:cNvSpPr/>
              <p:nvPr/>
            </p:nvSpPr>
            <p:spPr>
              <a:xfrm>
                <a:off x="7889081" y="3107531"/>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C1553F"/>
                </a:solidFill>
              </a:ln>
            </p:spPr>
          </p:sp>
          <p:sp>
            <p:nvSpPr>
              <p:cNvPr id="89" name="Freeform 89"/>
              <p:cNvSpPr/>
              <p:nvPr/>
            </p:nvSpPr>
            <p:spPr>
              <a:xfrm>
                <a:off x="7974806" y="3193256"/>
                <a:ext cx="42862" cy="42862"/>
              </a:xfrm>
              <a:custGeom>
                <a:avLst/>
                <a:gdLst/>
                <a:ahLst/>
                <a:cxnLst/>
                <a:rect l="l" t="t" r="r" b="b"/>
                <a:pathLst>
                  <a:path w="42862" h="42862">
                    <a:moveTo>
                      <a:pt x="42862" y="42862"/>
                    </a:moveTo>
                    <a:lnTo>
                      <a:pt x="0" y="0"/>
                    </a:lnTo>
                  </a:path>
                </a:pathLst>
              </a:custGeom>
              <a:noFill/>
              <a:ln w="14288">
                <a:solidFill>
                  <a:srgbClr val="C1553F"/>
                </a:solidFill>
              </a:ln>
            </p:spPr>
          </p:sp>
        </p:grpSp>
        <p:sp>
          <p:nvSpPr>
            <p:cNvPr id="91" name="TextBox 91"/>
            <p:cNvSpPr txBox="1"/>
            <p:nvPr/>
          </p:nvSpPr>
          <p:spPr>
            <a:xfrm>
              <a:off x="5073968" y="3348038"/>
              <a:ext cx="61531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资产流动分析</a:t>
              </a:r>
            </a:p>
          </p:txBody>
        </p:sp>
        <p:sp>
          <p:nvSpPr>
            <p:cNvPr id="92" name="TextBox 92"/>
            <p:cNvSpPr txBox="1"/>
            <p:nvPr/>
          </p:nvSpPr>
          <p:spPr>
            <a:xfrm>
              <a:off x="5931218" y="3348038"/>
              <a:ext cx="61531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人群画像分析</a:t>
              </a:r>
            </a:p>
          </p:txBody>
        </p:sp>
        <p:sp>
          <p:nvSpPr>
            <p:cNvPr id="93" name="TextBox 93"/>
            <p:cNvSpPr txBox="1"/>
            <p:nvPr/>
          </p:nvSpPr>
          <p:spPr>
            <a:xfrm>
              <a:off x="6788468" y="3348038"/>
              <a:ext cx="61531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推广渠道分析</a:t>
              </a:r>
            </a:p>
          </p:txBody>
        </p:sp>
        <p:sp>
          <p:nvSpPr>
            <p:cNvPr id="94" name="TextBox 94"/>
            <p:cNvSpPr txBox="1"/>
            <p:nvPr/>
          </p:nvSpPr>
          <p:spPr>
            <a:xfrm>
              <a:off x="7696200" y="3348038"/>
              <a:ext cx="51435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关键词分析</a:t>
              </a:r>
            </a:p>
          </p:txBody>
        </p:sp>
        <p:sp>
          <p:nvSpPr>
            <p:cNvPr id="95" name="TextBox 95"/>
            <p:cNvSpPr txBox="1"/>
            <p:nvPr/>
          </p:nvSpPr>
          <p:spPr>
            <a:xfrm>
              <a:off x="6039848" y="3609499"/>
              <a:ext cx="1236254" cy="190690"/>
            </a:xfrm>
            <a:prstGeom prst="rect">
              <a:avLst/>
            </a:prstGeom>
            <a:noFill/>
            <a:ln>
              <a:noFill/>
            </a:ln>
          </p:spPr>
          <p:txBody>
            <a:bodyPr wrap="none" lIns="0" tIns="0" rIns="0" bIns="0" anchor="t" anchorCtr="0">
              <a:spAutoFit/>
            </a:bodyPr>
            <a:lstStyle/>
            <a:p>
              <a:pPr algn="ctr"/>
              <a:r>
                <a:rPr lang="zh-CN" sz="980" b="1" dirty="0">
                  <a:solidFill>
                    <a:srgbClr val="523F3B"/>
                  </a:solidFill>
                  <a:latin typeface="+mn-lt"/>
                  <a:ea typeface="+mn-ea"/>
                  <a:cs typeface="+mn-cs"/>
                </a:rPr>
                <a:t>VIEW 货品成长方案​</a:t>
              </a:r>
            </a:p>
          </p:txBody>
        </p:sp>
        <p:sp>
          <p:nvSpPr>
            <p:cNvPr id="96" name="TextBox 96"/>
            <p:cNvSpPr txBox="1"/>
            <p:nvPr/>
          </p:nvSpPr>
          <p:spPr>
            <a:xfrm>
              <a:off x="5770105" y="3797141"/>
              <a:ext cx="1775739" cy="161925"/>
            </a:xfrm>
            <a:prstGeom prst="rect">
              <a:avLst/>
            </a:prstGeom>
            <a:noFill/>
            <a:ln>
              <a:noFill/>
            </a:ln>
          </p:spPr>
          <p:txBody>
            <a:bodyPr wrap="none" lIns="0" tIns="0" rIns="0" bIns="0" anchor="t" anchorCtr="0">
              <a:spAutoFit/>
            </a:bodyPr>
            <a:lstStyle/>
            <a:p>
              <a:pPr algn="ctr"/>
              <a:r>
                <a:rPr lang="zh-CN" sz="820" dirty="0">
                  <a:solidFill>
                    <a:srgbClr val="808699"/>
                  </a:solidFill>
                  <a:latin typeface="+mn-lt"/>
                  <a:ea typeface="+mn-ea"/>
                  <a:cs typeface="+mn-cs"/>
                </a:rPr>
                <a:t>对标优秀货品，发现差距，明确抓手</a:t>
              </a:r>
            </a:p>
          </p:txBody>
        </p:sp>
        <p:sp>
          <p:nvSpPr>
            <p:cNvPr id="97" name="Rectangle 97"/>
            <p:cNvSpPr/>
            <p:nvPr/>
          </p:nvSpPr>
          <p:spPr>
            <a:xfrm>
              <a:off x="4972050" y="3981450"/>
              <a:ext cx="781050" cy="209550"/>
            </a:xfrm>
            <a:prstGeom prst="roundRect">
              <a:avLst>
                <a:gd name="adj" fmla="val 13636"/>
              </a:avLst>
            </a:prstGeom>
            <a:gradFill>
              <a:gsLst>
                <a:gs pos="0">
                  <a:srgbClr val="C1553F"/>
                </a:gs>
                <a:gs pos="100000">
                  <a:srgbClr val="CE897B"/>
                </a:gs>
              </a:gsLst>
              <a:lin ang="0" scaled="1"/>
            </a:gradFill>
            <a:ln>
              <a:noFill/>
            </a:ln>
          </p:spPr>
        </p:sp>
        <p:sp>
          <p:nvSpPr>
            <p:cNvPr id="98" name="TextBox 98"/>
            <p:cNvSpPr txBox="1"/>
            <p:nvPr/>
          </p:nvSpPr>
          <p:spPr>
            <a:xfrm>
              <a:off x="5256848" y="404336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阶段</a:t>
              </a:r>
            </a:p>
          </p:txBody>
        </p:sp>
        <p:sp>
          <p:nvSpPr>
            <p:cNvPr id="99" name="Rectangle 99"/>
            <p:cNvSpPr/>
            <p:nvPr/>
          </p:nvSpPr>
          <p:spPr>
            <a:xfrm>
              <a:off x="5791200" y="3981450"/>
              <a:ext cx="876300" cy="209550"/>
            </a:xfrm>
            <a:prstGeom prst="roundRect">
              <a:avLst>
                <a:gd name="adj" fmla="val 13636"/>
              </a:avLst>
            </a:prstGeom>
            <a:gradFill>
              <a:gsLst>
                <a:gs pos="0">
                  <a:srgbClr val="C1553F"/>
                </a:gs>
                <a:gs pos="100000">
                  <a:srgbClr val="CE897B"/>
                </a:gs>
              </a:gsLst>
              <a:lin ang="0" scaled="1"/>
            </a:gradFill>
            <a:ln>
              <a:noFill/>
            </a:ln>
          </p:spPr>
        </p:sp>
        <p:sp>
          <p:nvSpPr>
            <p:cNvPr id="100" name="TextBox 100"/>
            <p:cNvSpPr txBox="1"/>
            <p:nvPr/>
          </p:nvSpPr>
          <p:spPr>
            <a:xfrm>
              <a:off x="6073140" y="4043362"/>
              <a:ext cx="31242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上架前</a:t>
              </a:r>
            </a:p>
          </p:txBody>
        </p:sp>
        <p:sp>
          <p:nvSpPr>
            <p:cNvPr id="101" name="Rectangle 101"/>
            <p:cNvSpPr/>
            <p:nvPr/>
          </p:nvSpPr>
          <p:spPr>
            <a:xfrm>
              <a:off x="6705600" y="3981450"/>
              <a:ext cx="876300" cy="209550"/>
            </a:xfrm>
            <a:prstGeom prst="roundRect">
              <a:avLst>
                <a:gd name="adj" fmla="val 13636"/>
              </a:avLst>
            </a:prstGeom>
            <a:gradFill>
              <a:gsLst>
                <a:gs pos="0">
                  <a:srgbClr val="C1553F"/>
                </a:gs>
                <a:gs pos="100000">
                  <a:srgbClr val="CE897B"/>
                </a:gs>
              </a:gsLst>
              <a:lin ang="0" scaled="1"/>
            </a:gradFill>
            <a:ln>
              <a:noFill/>
            </a:ln>
          </p:spPr>
        </p:sp>
        <p:sp>
          <p:nvSpPr>
            <p:cNvPr id="102" name="TextBox 102"/>
            <p:cNvSpPr txBox="1"/>
            <p:nvPr/>
          </p:nvSpPr>
          <p:spPr>
            <a:xfrm>
              <a:off x="6937058" y="404336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上架中期</a:t>
              </a:r>
            </a:p>
          </p:txBody>
        </p:sp>
        <p:sp>
          <p:nvSpPr>
            <p:cNvPr id="103" name="Rectangle 103"/>
            <p:cNvSpPr/>
            <p:nvPr/>
          </p:nvSpPr>
          <p:spPr>
            <a:xfrm>
              <a:off x="7620000" y="3981450"/>
              <a:ext cx="819150" cy="209550"/>
            </a:xfrm>
            <a:prstGeom prst="roundRect">
              <a:avLst>
                <a:gd name="adj" fmla="val 13636"/>
              </a:avLst>
            </a:prstGeom>
            <a:gradFill>
              <a:gsLst>
                <a:gs pos="0">
                  <a:srgbClr val="C1553F"/>
                </a:gs>
                <a:gs pos="100000">
                  <a:srgbClr val="CE897B"/>
                </a:gs>
              </a:gsLst>
              <a:lin ang="0" scaled="1"/>
            </a:gradFill>
            <a:ln>
              <a:noFill/>
            </a:ln>
          </p:spPr>
        </p:sp>
        <p:sp>
          <p:nvSpPr>
            <p:cNvPr id="104" name="TextBox 104"/>
            <p:cNvSpPr txBox="1"/>
            <p:nvPr/>
          </p:nvSpPr>
          <p:spPr>
            <a:xfrm>
              <a:off x="7822882" y="404336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上架后期</a:t>
              </a:r>
            </a:p>
          </p:txBody>
        </p:sp>
        <p:sp>
          <p:nvSpPr>
            <p:cNvPr id="105" name="TextBox 105"/>
            <p:cNvSpPr txBox="1"/>
            <p:nvPr/>
          </p:nvSpPr>
          <p:spPr>
            <a:xfrm>
              <a:off x="4903470" y="4281488"/>
              <a:ext cx="91821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本店单品的发现型短</a:t>
              </a:r>
            </a:p>
          </p:txBody>
        </p:sp>
        <p:sp>
          <p:nvSpPr>
            <p:cNvPr id="106" name="TextBox 106"/>
            <p:cNvSpPr txBox="1"/>
            <p:nvPr/>
          </p:nvSpPr>
          <p:spPr>
            <a:xfrm>
              <a:off x="6073140" y="4281488"/>
              <a:ext cx="31242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冷启动</a:t>
              </a:r>
            </a:p>
          </p:txBody>
        </p:sp>
        <p:sp>
          <p:nvSpPr>
            <p:cNvPr id="107" name="TextBox 107"/>
            <p:cNvSpPr txBox="1"/>
            <p:nvPr/>
          </p:nvSpPr>
          <p:spPr>
            <a:xfrm>
              <a:off x="6937058" y="428148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潜客成长</a:t>
              </a:r>
            </a:p>
          </p:txBody>
        </p:sp>
        <p:sp>
          <p:nvSpPr>
            <p:cNvPr id="108" name="TextBox 108"/>
            <p:cNvSpPr txBox="1"/>
            <p:nvPr/>
          </p:nvSpPr>
          <p:spPr>
            <a:xfrm>
              <a:off x="7822882" y="428148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爆品维持</a:t>
              </a:r>
            </a:p>
          </p:txBody>
        </p:sp>
        <p:sp>
          <p:nvSpPr>
            <p:cNvPr id="109" name="Line 109"/>
            <p:cNvSpPr/>
            <p:nvPr/>
          </p:nvSpPr>
          <p:spPr>
            <a:xfrm>
              <a:off x="4972050" y="4476750"/>
              <a:ext cx="3467100" cy="9525"/>
            </a:xfrm>
            <a:custGeom>
              <a:avLst/>
              <a:gdLst/>
              <a:ahLst/>
              <a:cxnLst/>
              <a:rect l="l" t="t" r="r" b="b"/>
              <a:pathLst>
                <a:path w="3467100" h="9525">
                  <a:moveTo>
                    <a:pt x="0" y="0"/>
                  </a:moveTo>
                  <a:lnTo>
                    <a:pt x="3467100" y="0"/>
                  </a:lnTo>
                </a:path>
              </a:pathLst>
            </a:custGeom>
            <a:noFill/>
            <a:ln w="9525">
              <a:solidFill>
                <a:srgbClr val="EDEFF8"/>
              </a:solidFill>
            </a:ln>
          </p:spPr>
        </p:sp>
        <p:sp>
          <p:nvSpPr>
            <p:cNvPr id="110" name="TextBox 110"/>
            <p:cNvSpPr txBox="1"/>
            <p:nvPr/>
          </p:nvSpPr>
          <p:spPr>
            <a:xfrm>
              <a:off x="5105400" y="4605338"/>
              <a:ext cx="51435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新客的结构</a:t>
              </a:r>
            </a:p>
          </p:txBody>
        </p:sp>
        <p:sp>
          <p:nvSpPr>
            <p:cNvPr id="111" name="TextBox 111"/>
            <p:cNvSpPr txBox="1"/>
            <p:nvPr/>
          </p:nvSpPr>
          <p:spPr>
            <a:xfrm>
              <a:off x="6022658" y="460533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付费结构</a:t>
              </a:r>
            </a:p>
          </p:txBody>
        </p:sp>
        <p:sp>
          <p:nvSpPr>
            <p:cNvPr id="112" name="TextBox 112"/>
            <p:cNvSpPr txBox="1"/>
            <p:nvPr/>
          </p:nvSpPr>
          <p:spPr>
            <a:xfrm>
              <a:off x="6836092" y="4605338"/>
              <a:ext cx="61531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目标市场承接</a:t>
              </a:r>
            </a:p>
          </p:txBody>
        </p:sp>
        <p:sp>
          <p:nvSpPr>
            <p:cNvPr id="113" name="TextBox 113"/>
            <p:cNvSpPr txBox="1"/>
            <p:nvPr/>
          </p:nvSpPr>
          <p:spPr>
            <a:xfrm>
              <a:off x="7822882" y="460533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长期维持</a:t>
              </a:r>
            </a:p>
          </p:txBody>
        </p:sp>
      </p:grpSp>
      <p:grpSp>
        <p:nvGrpSpPr>
          <p:cNvPr id="139" name="col-changyu"/>
          <p:cNvGrpSpPr/>
          <p:nvPr/>
        </p:nvGrpSpPr>
        <p:grpSpPr>
          <a:xfrm>
            <a:off x="8515350" y="1504950"/>
            <a:ext cx="3371850" cy="3943350"/>
            <a:chOff x="8515350" y="1504950"/>
            <a:chExt cx="3371850" cy="3943350"/>
          </a:xfrm>
        </p:grpSpPr>
        <p:sp>
          <p:nvSpPr>
            <p:cNvPr id="115" name="Rectangle 115"/>
            <p:cNvSpPr/>
            <p:nvPr/>
          </p:nvSpPr>
          <p:spPr>
            <a:xfrm>
              <a:off x="8515350" y="1504950"/>
              <a:ext cx="3371850" cy="533400"/>
            </a:xfrm>
            <a:prstGeom prst="roundRect">
              <a:avLst>
                <a:gd name="adj" fmla="val 7143"/>
              </a:avLst>
            </a:prstGeom>
            <a:gradFill>
              <a:gsLst>
                <a:gs pos="0">
                  <a:srgbClr val="C1553F"/>
                </a:gs>
                <a:gs pos="100000">
                  <a:srgbClr val="CE897B"/>
                </a:gs>
              </a:gsLst>
              <a:lin ang="0" scaled="1"/>
            </a:gradFill>
            <a:ln>
              <a:noFill/>
            </a:ln>
          </p:spPr>
        </p:sp>
        <p:sp>
          <p:nvSpPr>
            <p:cNvPr id="116" name="TextBox 116"/>
            <p:cNvSpPr txBox="1"/>
            <p:nvPr/>
          </p:nvSpPr>
          <p:spPr>
            <a:xfrm>
              <a:off x="9140139" y="1650206"/>
              <a:ext cx="212227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场域经营：内容营销全场景覆盖</a:t>
              </a:r>
            </a:p>
          </p:txBody>
        </p:sp>
        <p:sp>
          <p:nvSpPr>
            <p:cNvPr id="117" name="TextBox 117"/>
            <p:cNvSpPr txBox="1"/>
            <p:nvPr/>
          </p:nvSpPr>
          <p:spPr>
            <a:xfrm>
              <a:off x="9423794" y="1863566"/>
              <a:ext cx="1554963" cy="161925"/>
            </a:xfrm>
            <a:prstGeom prst="rect">
              <a:avLst/>
            </a:prstGeom>
            <a:noFill/>
            <a:ln>
              <a:noFill/>
            </a:ln>
          </p:spPr>
          <p:txBody>
            <a:bodyPr wrap="none" lIns="0" tIns="0" rIns="0" bIns="0" anchor="t" anchorCtr="0">
              <a:spAutoFit/>
            </a:bodyPr>
            <a:lstStyle/>
            <a:p>
              <a:pPr algn="ctr"/>
              <a:r>
                <a:rPr lang="zh-CN" sz="820" dirty="0">
                  <a:solidFill>
                    <a:srgbClr val="E8EAFB"/>
                  </a:solidFill>
                  <a:latin typeface="+mn-lt"/>
                  <a:ea typeface="+mn-ea"/>
                  <a:cs typeface="+mn-cs"/>
                </a:rPr>
                <a:t>直播间超级资源矩阵一站式投放</a:t>
              </a:r>
            </a:p>
          </p:txBody>
        </p:sp>
        <p:sp>
          <p:nvSpPr>
            <p:cNvPr id="118" name="Rectangle 118"/>
            <p:cNvSpPr/>
            <p:nvPr/>
          </p:nvSpPr>
          <p:spPr>
            <a:xfrm>
              <a:off x="8515350" y="2076450"/>
              <a:ext cx="3371850" cy="3371850"/>
            </a:xfrm>
            <a:prstGeom prst="roundRect">
              <a:avLst>
                <a:gd name="adj" fmla="val 1130"/>
              </a:avLst>
            </a:prstGeom>
            <a:solidFill>
              <a:srgbClr val="FFFFFF"/>
            </a:solidFill>
            <a:ln w="9525">
              <a:solidFill>
                <a:srgbClr val="E4E7F5"/>
              </a:solidFill>
            </a:ln>
          </p:spPr>
        </p:sp>
        <p:sp>
          <p:nvSpPr>
            <p:cNvPr id="119" name="TextBox 119"/>
            <p:cNvSpPr txBox="1"/>
            <p:nvPr/>
          </p:nvSpPr>
          <p:spPr>
            <a:xfrm>
              <a:off x="9338793" y="2237899"/>
              <a:ext cx="1724965" cy="190690"/>
            </a:xfrm>
            <a:prstGeom prst="rect">
              <a:avLst/>
            </a:prstGeom>
            <a:noFill/>
            <a:ln>
              <a:noFill/>
            </a:ln>
          </p:spPr>
          <p:txBody>
            <a:bodyPr wrap="none" lIns="0" tIns="0" rIns="0" bIns="0" anchor="t" anchorCtr="0">
              <a:spAutoFit/>
            </a:bodyPr>
            <a:lstStyle/>
            <a:p>
              <a:pPr algn="ctr"/>
              <a:r>
                <a:rPr lang="zh-CN" sz="980" b="1" dirty="0">
                  <a:solidFill>
                    <a:srgbClr val="523F3B"/>
                  </a:solidFill>
                  <a:latin typeface="+mn-lt"/>
                  <a:ea typeface="+mn-ea"/>
                  <a:cs typeface="+mn-cs"/>
                </a:rPr>
                <a:t>核心电商场景内容化升级强直</a:t>
              </a:r>
            </a:p>
          </p:txBody>
        </p:sp>
        <p:sp>
          <p:nvSpPr>
            <p:cNvPr id="120" name="TextBox 120"/>
            <p:cNvSpPr txBox="1"/>
            <p:nvPr/>
          </p:nvSpPr>
          <p:spPr>
            <a:xfrm>
              <a:off x="9536684" y="2409349"/>
              <a:ext cx="1329182" cy="190690"/>
            </a:xfrm>
            <a:prstGeom prst="rect">
              <a:avLst/>
            </a:prstGeom>
            <a:noFill/>
            <a:ln>
              <a:noFill/>
            </a:ln>
          </p:spPr>
          <p:txBody>
            <a:bodyPr wrap="none" lIns="0" tIns="0" rIns="0" bIns="0" anchor="t" anchorCtr="0">
              <a:spAutoFit/>
            </a:bodyPr>
            <a:lstStyle/>
            <a:p>
              <a:pPr algn="ctr"/>
              <a:r>
                <a:rPr lang="zh-CN" sz="980" b="1" dirty="0">
                  <a:solidFill>
                    <a:srgbClr val="523F3B"/>
                  </a:solidFill>
                  <a:latin typeface="+mn-lt"/>
                  <a:ea typeface="+mn-ea"/>
                  <a:cs typeface="+mn-cs"/>
                </a:rPr>
                <a:t>播心智领域一站式触达</a:t>
              </a:r>
            </a:p>
          </p:txBody>
        </p:sp>
        <p:sp>
          <p:nvSpPr>
            <p:cNvPr id="121" name="Ellipse 121"/>
            <p:cNvSpPr/>
            <p:nvPr/>
          </p:nvSpPr>
          <p:spPr>
            <a:xfrm>
              <a:off x="9010650" y="2886075"/>
              <a:ext cx="514350" cy="514350"/>
            </a:xfrm>
            <a:prstGeom prst="ellipse">
              <a:avLst/>
            </a:prstGeom>
            <a:solidFill>
              <a:srgbClr val="D47D6B"/>
            </a:solidFill>
            <a:ln>
              <a:noFill/>
            </a:ln>
          </p:spPr>
        </p:sp>
        <p:sp>
          <p:nvSpPr>
            <p:cNvPr id="122" name="TextBox 122"/>
            <p:cNvSpPr txBox="1"/>
            <p:nvPr/>
          </p:nvSpPr>
          <p:spPr>
            <a:xfrm>
              <a:off x="9097480" y="3101816"/>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搜索场</a:t>
              </a:r>
            </a:p>
          </p:txBody>
        </p:sp>
        <p:sp>
          <p:nvSpPr>
            <p:cNvPr id="123" name="Ellipse 123"/>
            <p:cNvSpPr/>
            <p:nvPr/>
          </p:nvSpPr>
          <p:spPr>
            <a:xfrm>
              <a:off x="10877550" y="2886075"/>
              <a:ext cx="514350" cy="514350"/>
            </a:xfrm>
            <a:prstGeom prst="ellipse">
              <a:avLst/>
            </a:prstGeom>
            <a:solidFill>
              <a:srgbClr val="D47D6B"/>
            </a:solidFill>
            <a:ln>
              <a:noFill/>
            </a:ln>
          </p:spPr>
        </p:sp>
        <p:sp>
          <p:nvSpPr>
            <p:cNvPr id="124" name="TextBox 124"/>
            <p:cNvSpPr txBox="1"/>
            <p:nvPr/>
          </p:nvSpPr>
          <p:spPr>
            <a:xfrm>
              <a:off x="10964380" y="3101816"/>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推荐场</a:t>
              </a:r>
            </a:p>
          </p:txBody>
        </p:sp>
        <p:sp>
          <p:nvSpPr>
            <p:cNvPr id="125" name="Ellipse 125"/>
            <p:cNvSpPr/>
            <p:nvPr/>
          </p:nvSpPr>
          <p:spPr>
            <a:xfrm>
              <a:off x="9972675" y="2533650"/>
              <a:ext cx="457200" cy="457200"/>
            </a:xfrm>
            <a:prstGeom prst="ellipse">
              <a:avLst/>
            </a:prstGeom>
            <a:solidFill>
              <a:srgbClr val="C1553F"/>
            </a:solidFill>
            <a:ln>
              <a:noFill/>
            </a:ln>
          </p:spPr>
        </p:sp>
        <p:sp>
          <p:nvSpPr>
            <p:cNvPr id="126" name="TextBox 126"/>
            <p:cNvSpPr txBox="1"/>
            <p:nvPr/>
          </p:nvSpPr>
          <p:spPr>
            <a:xfrm>
              <a:off x="10086124" y="2720816"/>
              <a:ext cx="23030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开屏</a:t>
              </a:r>
            </a:p>
          </p:txBody>
        </p:sp>
        <p:sp>
          <p:nvSpPr>
            <p:cNvPr id="127" name="Rectangle 127"/>
            <p:cNvSpPr/>
            <p:nvPr/>
          </p:nvSpPr>
          <p:spPr>
            <a:xfrm>
              <a:off x="9744075" y="2952750"/>
              <a:ext cx="914400" cy="1866900"/>
            </a:xfrm>
            <a:prstGeom prst="roundRect">
              <a:avLst>
                <a:gd name="adj" fmla="val 12500"/>
              </a:avLst>
            </a:prstGeom>
            <a:solidFill>
              <a:srgbClr val="452F2A"/>
            </a:solidFill>
            <a:ln>
              <a:noFill/>
            </a:ln>
          </p:spPr>
        </p:sp>
        <p:sp>
          <p:nvSpPr>
            <p:cNvPr id="128" name="Rectangle 128"/>
            <p:cNvSpPr/>
            <p:nvPr/>
          </p:nvSpPr>
          <p:spPr>
            <a:xfrm>
              <a:off x="9820275" y="3067050"/>
              <a:ext cx="762000" cy="1638300"/>
            </a:xfrm>
            <a:prstGeom prst="roundRect">
              <a:avLst>
                <a:gd name="adj" fmla="val 7500"/>
              </a:avLst>
            </a:prstGeom>
            <a:solidFill>
              <a:srgbClr val="F2F4FB"/>
            </a:solidFill>
            <a:ln>
              <a:noFill/>
            </a:ln>
          </p:spPr>
        </p:sp>
        <p:sp>
          <p:nvSpPr>
            <p:cNvPr id="129" name="Rectangle 129"/>
            <p:cNvSpPr/>
            <p:nvPr/>
          </p:nvSpPr>
          <p:spPr>
            <a:xfrm>
              <a:off x="9896475" y="3162300"/>
              <a:ext cx="285750" cy="209550"/>
            </a:xfrm>
            <a:prstGeom prst="roundRect">
              <a:avLst>
                <a:gd name="adj" fmla="val 13636"/>
              </a:avLst>
            </a:prstGeom>
            <a:solidFill>
              <a:srgbClr val="ED8776"/>
            </a:solidFill>
            <a:ln>
              <a:noFill/>
            </a:ln>
          </p:spPr>
        </p:sp>
        <p:sp>
          <p:nvSpPr>
            <p:cNvPr id="130" name="Rectangle 130"/>
            <p:cNvSpPr/>
            <p:nvPr/>
          </p:nvSpPr>
          <p:spPr>
            <a:xfrm>
              <a:off x="10220325" y="3162300"/>
              <a:ext cx="285750" cy="209550"/>
            </a:xfrm>
            <a:prstGeom prst="roundRect">
              <a:avLst>
                <a:gd name="adj" fmla="val 13636"/>
              </a:avLst>
            </a:prstGeom>
            <a:solidFill>
              <a:srgbClr val="DD988A"/>
            </a:solidFill>
            <a:ln>
              <a:noFill/>
            </a:ln>
          </p:spPr>
        </p:sp>
        <p:sp>
          <p:nvSpPr>
            <p:cNvPr id="131" name="Rectangle 131"/>
            <p:cNvSpPr/>
            <p:nvPr/>
          </p:nvSpPr>
          <p:spPr>
            <a:xfrm>
              <a:off x="9896475" y="3429000"/>
              <a:ext cx="609600" cy="76200"/>
            </a:xfrm>
            <a:prstGeom prst="roundRect">
              <a:avLst>
                <a:gd name="adj" fmla="val 25000"/>
              </a:avLst>
            </a:prstGeom>
            <a:solidFill>
              <a:srgbClr val="C9CFEA"/>
            </a:solidFill>
            <a:ln>
              <a:noFill/>
            </a:ln>
          </p:spPr>
        </p:sp>
        <p:sp>
          <p:nvSpPr>
            <p:cNvPr id="132" name="Rectangle 132"/>
            <p:cNvSpPr/>
            <p:nvPr/>
          </p:nvSpPr>
          <p:spPr>
            <a:xfrm>
              <a:off x="9896475" y="3562350"/>
              <a:ext cx="609600" cy="285750"/>
            </a:xfrm>
            <a:prstGeom prst="roundRect">
              <a:avLst>
                <a:gd name="adj" fmla="val 10000"/>
              </a:avLst>
            </a:prstGeom>
            <a:solidFill>
              <a:srgbClr val="DDE2F5"/>
            </a:solidFill>
            <a:ln>
              <a:noFill/>
            </a:ln>
          </p:spPr>
        </p:sp>
        <p:sp>
          <p:nvSpPr>
            <p:cNvPr id="133" name="Rectangle 133"/>
            <p:cNvSpPr/>
            <p:nvPr/>
          </p:nvSpPr>
          <p:spPr>
            <a:xfrm>
              <a:off x="9896475" y="3905250"/>
              <a:ext cx="609600" cy="285750"/>
            </a:xfrm>
            <a:prstGeom prst="roundRect">
              <a:avLst>
                <a:gd name="adj" fmla="val 10000"/>
              </a:avLst>
            </a:prstGeom>
            <a:solidFill>
              <a:srgbClr val="DDE2F5"/>
            </a:solidFill>
            <a:ln>
              <a:noFill/>
            </a:ln>
          </p:spPr>
        </p:sp>
        <p:sp>
          <p:nvSpPr>
            <p:cNvPr id="134" name="Rectangle 134"/>
            <p:cNvSpPr/>
            <p:nvPr/>
          </p:nvSpPr>
          <p:spPr>
            <a:xfrm>
              <a:off x="9896475" y="4248150"/>
              <a:ext cx="609600" cy="323850"/>
            </a:xfrm>
            <a:prstGeom prst="roundRect">
              <a:avLst>
                <a:gd name="adj" fmla="val 8824"/>
              </a:avLst>
            </a:prstGeom>
            <a:solidFill>
              <a:srgbClr val="D47D6B"/>
            </a:solidFill>
            <a:ln>
              <a:noFill/>
            </a:ln>
          </p:spPr>
        </p:sp>
        <p:sp>
          <p:nvSpPr>
            <p:cNvPr id="135" name="TextBox 135"/>
            <p:cNvSpPr txBox="1"/>
            <p:nvPr/>
          </p:nvSpPr>
          <p:spPr>
            <a:xfrm>
              <a:off x="10059200" y="4365784"/>
              <a:ext cx="284150"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直播间</a:t>
              </a:r>
            </a:p>
          </p:txBody>
        </p:sp>
        <p:sp>
          <p:nvSpPr>
            <p:cNvPr id="136" name="Line 136"/>
            <p:cNvSpPr/>
            <p:nvPr/>
          </p:nvSpPr>
          <p:spPr>
            <a:xfrm>
              <a:off x="9505950" y="3352800"/>
              <a:ext cx="247650" cy="228600"/>
            </a:xfrm>
            <a:custGeom>
              <a:avLst/>
              <a:gdLst/>
              <a:ahLst/>
              <a:cxnLst/>
              <a:rect l="l" t="t" r="r" b="b"/>
              <a:pathLst>
                <a:path w="247650" h="228600">
                  <a:moveTo>
                    <a:pt x="0" y="0"/>
                  </a:moveTo>
                  <a:lnTo>
                    <a:pt x="247650" y="228600"/>
                  </a:lnTo>
                </a:path>
              </a:pathLst>
            </a:custGeom>
            <a:noFill/>
            <a:ln w="19050">
              <a:solidFill>
                <a:srgbClr val="E0A69A"/>
              </a:solidFill>
            </a:ln>
          </p:spPr>
        </p:sp>
        <p:sp>
          <p:nvSpPr>
            <p:cNvPr id="137" name="Line 137"/>
            <p:cNvSpPr/>
            <p:nvPr/>
          </p:nvSpPr>
          <p:spPr>
            <a:xfrm>
              <a:off x="10648950" y="3352800"/>
              <a:ext cx="247650" cy="228600"/>
            </a:xfrm>
            <a:custGeom>
              <a:avLst/>
              <a:gdLst/>
              <a:ahLst/>
              <a:cxnLst/>
              <a:rect l="l" t="t" r="r" b="b"/>
              <a:pathLst>
                <a:path w="247650" h="228600">
                  <a:moveTo>
                    <a:pt x="247650" y="0"/>
                  </a:moveTo>
                  <a:lnTo>
                    <a:pt x="0" y="228600"/>
                  </a:lnTo>
                </a:path>
              </a:pathLst>
            </a:custGeom>
            <a:noFill/>
            <a:ln w="19050">
              <a:solidFill>
                <a:srgbClr val="E0A69A"/>
              </a:solidFill>
            </a:ln>
          </p:spPr>
        </p:sp>
        <p:sp>
          <p:nvSpPr>
            <p:cNvPr id="138" name="TextBox 138"/>
            <p:cNvSpPr txBox="1"/>
            <p:nvPr/>
          </p:nvSpPr>
          <p:spPr>
            <a:xfrm>
              <a:off x="10030930" y="5054441"/>
              <a:ext cx="340690"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直播间</a:t>
              </a:r>
            </a:p>
          </p:txBody>
        </p:sp>
      </p:grpSp>
      <p:grpSp>
        <p:nvGrpSpPr>
          <p:cNvPr id="164" name="product-row"/>
          <p:cNvGrpSpPr/>
          <p:nvPr/>
        </p:nvGrpSpPr>
        <p:grpSpPr>
          <a:xfrm>
            <a:off x="1219200" y="5505450"/>
            <a:ext cx="10610850" cy="285750"/>
            <a:chOff x="1219200" y="5505450"/>
            <a:chExt cx="10610850" cy="285750"/>
          </a:xfrm>
        </p:grpSpPr>
        <p:sp>
          <p:nvSpPr>
            <p:cNvPr id="140" name="Rectangle 140"/>
            <p:cNvSpPr/>
            <p:nvPr/>
          </p:nvSpPr>
          <p:spPr>
            <a:xfrm>
              <a:off x="1219200" y="5505450"/>
              <a:ext cx="762000" cy="285750"/>
            </a:xfrm>
            <a:prstGeom prst="roundRect">
              <a:avLst>
                <a:gd name="adj" fmla="val 13333"/>
              </a:avLst>
            </a:prstGeom>
            <a:solidFill>
              <a:srgbClr val="E5624C"/>
            </a:solidFill>
            <a:ln>
              <a:noFill/>
            </a:ln>
          </p:spPr>
        </p:sp>
        <p:sp>
          <p:nvSpPr>
            <p:cNvPr id="141" name="TextBox 141"/>
            <p:cNvSpPr txBox="1"/>
            <p:nvPr/>
          </p:nvSpPr>
          <p:spPr>
            <a:xfrm>
              <a:off x="1353122" y="55987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营销产品</a:t>
              </a:r>
            </a:p>
          </p:txBody>
        </p:sp>
        <p:sp>
          <p:nvSpPr>
            <p:cNvPr id="142" name="Rectangle 142"/>
            <p:cNvSpPr/>
            <p:nvPr/>
          </p:nvSpPr>
          <p:spPr>
            <a:xfrm>
              <a:off x="2057400" y="5524500"/>
              <a:ext cx="819150" cy="247650"/>
            </a:xfrm>
            <a:prstGeom prst="roundRect">
              <a:avLst>
                <a:gd name="adj" fmla="val 15385"/>
              </a:avLst>
            </a:prstGeom>
            <a:solidFill>
              <a:srgbClr val="FFFFFF"/>
            </a:solidFill>
            <a:ln w="9525">
              <a:solidFill>
                <a:srgbClr val="E8ACA2"/>
              </a:solidFill>
            </a:ln>
          </p:spPr>
        </p:sp>
        <p:sp>
          <p:nvSpPr>
            <p:cNvPr id="143" name="TextBox 143"/>
            <p:cNvSpPr txBox="1"/>
            <p:nvPr/>
          </p:nvSpPr>
          <p:spPr>
            <a:xfrm>
              <a:off x="2209800" y="5605462"/>
              <a:ext cx="51435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关键词推广</a:t>
              </a:r>
            </a:p>
          </p:txBody>
        </p:sp>
        <p:sp>
          <p:nvSpPr>
            <p:cNvPr id="144" name="Rectangle 144"/>
            <p:cNvSpPr/>
            <p:nvPr/>
          </p:nvSpPr>
          <p:spPr>
            <a:xfrm>
              <a:off x="2952750" y="5524500"/>
              <a:ext cx="819150" cy="247650"/>
            </a:xfrm>
            <a:prstGeom prst="roundRect">
              <a:avLst>
                <a:gd name="adj" fmla="val 15385"/>
              </a:avLst>
            </a:prstGeom>
            <a:solidFill>
              <a:srgbClr val="FFFFFF"/>
            </a:solidFill>
            <a:ln w="9525">
              <a:solidFill>
                <a:srgbClr val="E8ACA2"/>
              </a:solidFill>
            </a:ln>
          </p:spPr>
        </p:sp>
        <p:sp>
          <p:nvSpPr>
            <p:cNvPr id="145" name="TextBox 145"/>
            <p:cNvSpPr txBox="1"/>
            <p:nvPr/>
          </p:nvSpPr>
          <p:spPr>
            <a:xfrm>
              <a:off x="3054668" y="5605462"/>
              <a:ext cx="61531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精准人群推广</a:t>
              </a:r>
            </a:p>
          </p:txBody>
        </p:sp>
        <p:sp>
          <p:nvSpPr>
            <p:cNvPr id="146" name="Rectangle 146"/>
            <p:cNvSpPr/>
            <p:nvPr/>
          </p:nvSpPr>
          <p:spPr>
            <a:xfrm>
              <a:off x="3848100" y="5524500"/>
              <a:ext cx="819150" cy="247650"/>
            </a:xfrm>
            <a:prstGeom prst="roundRect">
              <a:avLst>
                <a:gd name="adj" fmla="val 15385"/>
              </a:avLst>
            </a:prstGeom>
            <a:solidFill>
              <a:srgbClr val="FFFFFF"/>
            </a:solidFill>
            <a:ln w="9525">
              <a:solidFill>
                <a:srgbClr val="E8ACA2"/>
              </a:solidFill>
            </a:ln>
          </p:spPr>
        </p:sp>
        <p:sp>
          <p:nvSpPr>
            <p:cNvPr id="147" name="TextBox 147"/>
            <p:cNvSpPr txBox="1"/>
            <p:nvPr/>
          </p:nvSpPr>
          <p:spPr>
            <a:xfrm>
              <a:off x="4000500" y="5605462"/>
              <a:ext cx="51435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消费者运营</a:t>
              </a:r>
            </a:p>
          </p:txBody>
        </p:sp>
        <p:sp>
          <p:nvSpPr>
            <p:cNvPr id="148" name="Rectangle 148"/>
            <p:cNvSpPr/>
            <p:nvPr/>
          </p:nvSpPr>
          <p:spPr>
            <a:xfrm>
              <a:off x="4743450" y="5524500"/>
              <a:ext cx="819150" cy="247650"/>
            </a:xfrm>
            <a:prstGeom prst="roundRect">
              <a:avLst>
                <a:gd name="adj" fmla="val 15385"/>
              </a:avLst>
            </a:prstGeom>
            <a:solidFill>
              <a:srgbClr val="FFFFFF"/>
            </a:solidFill>
            <a:ln w="9525">
              <a:solidFill>
                <a:srgbClr val="E8ACA2"/>
              </a:solidFill>
            </a:ln>
          </p:spPr>
        </p:sp>
        <p:sp>
          <p:nvSpPr>
            <p:cNvPr id="149" name="TextBox 149"/>
            <p:cNvSpPr txBox="1"/>
            <p:nvPr/>
          </p:nvSpPr>
          <p:spPr>
            <a:xfrm>
              <a:off x="4946332" y="560546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货品运营</a:t>
              </a:r>
            </a:p>
          </p:txBody>
        </p:sp>
        <p:sp>
          <p:nvSpPr>
            <p:cNvPr id="150" name="Rectangle 150"/>
            <p:cNvSpPr/>
            <p:nvPr/>
          </p:nvSpPr>
          <p:spPr>
            <a:xfrm>
              <a:off x="5638800" y="5524500"/>
              <a:ext cx="819150" cy="247650"/>
            </a:xfrm>
            <a:prstGeom prst="roundRect">
              <a:avLst>
                <a:gd name="adj" fmla="val 15385"/>
              </a:avLst>
            </a:prstGeom>
            <a:solidFill>
              <a:srgbClr val="FFFFFF"/>
            </a:solidFill>
            <a:ln w="9525">
              <a:solidFill>
                <a:srgbClr val="E8ACA2"/>
              </a:solidFill>
            </a:ln>
          </p:spPr>
        </p:sp>
        <p:sp>
          <p:nvSpPr>
            <p:cNvPr id="151" name="TextBox 151"/>
            <p:cNvSpPr txBox="1"/>
            <p:nvPr/>
          </p:nvSpPr>
          <p:spPr>
            <a:xfrm>
              <a:off x="5841682" y="560546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店铺运营</a:t>
              </a:r>
            </a:p>
          </p:txBody>
        </p:sp>
        <p:sp>
          <p:nvSpPr>
            <p:cNvPr id="152" name="Rectangle 152"/>
            <p:cNvSpPr/>
            <p:nvPr/>
          </p:nvSpPr>
          <p:spPr>
            <a:xfrm>
              <a:off x="6534150" y="5524500"/>
              <a:ext cx="819150" cy="247650"/>
            </a:xfrm>
            <a:prstGeom prst="roundRect">
              <a:avLst>
                <a:gd name="adj" fmla="val 15385"/>
              </a:avLst>
            </a:prstGeom>
            <a:solidFill>
              <a:srgbClr val="FFFFFF"/>
            </a:solidFill>
            <a:ln w="9525">
              <a:solidFill>
                <a:srgbClr val="E8ACA2"/>
              </a:solidFill>
            </a:ln>
          </p:spPr>
        </p:sp>
        <p:sp>
          <p:nvSpPr>
            <p:cNvPr id="153" name="TextBox 153"/>
            <p:cNvSpPr txBox="1"/>
            <p:nvPr/>
          </p:nvSpPr>
          <p:spPr>
            <a:xfrm>
              <a:off x="6737032" y="560546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内容场景</a:t>
              </a:r>
            </a:p>
          </p:txBody>
        </p:sp>
        <p:sp>
          <p:nvSpPr>
            <p:cNvPr id="154" name="Rectangle 154"/>
            <p:cNvSpPr/>
            <p:nvPr/>
          </p:nvSpPr>
          <p:spPr>
            <a:xfrm>
              <a:off x="7429500" y="5524500"/>
              <a:ext cx="819150" cy="247650"/>
            </a:xfrm>
            <a:prstGeom prst="roundRect">
              <a:avLst>
                <a:gd name="adj" fmla="val 15385"/>
              </a:avLst>
            </a:prstGeom>
            <a:solidFill>
              <a:srgbClr val="FFFFFF"/>
            </a:solidFill>
            <a:ln w="9525">
              <a:solidFill>
                <a:srgbClr val="E8ACA2"/>
              </a:solidFill>
            </a:ln>
          </p:spPr>
        </p:sp>
        <p:sp>
          <p:nvSpPr>
            <p:cNvPr id="155" name="TextBox 155"/>
            <p:cNvSpPr txBox="1"/>
            <p:nvPr/>
          </p:nvSpPr>
          <p:spPr>
            <a:xfrm>
              <a:off x="7632382" y="560546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活动场景</a:t>
              </a:r>
            </a:p>
          </p:txBody>
        </p:sp>
        <p:sp>
          <p:nvSpPr>
            <p:cNvPr id="156" name="Rectangle 156"/>
            <p:cNvSpPr/>
            <p:nvPr/>
          </p:nvSpPr>
          <p:spPr>
            <a:xfrm>
              <a:off x="8324850" y="5524500"/>
              <a:ext cx="819150" cy="247650"/>
            </a:xfrm>
            <a:prstGeom prst="roundRect">
              <a:avLst>
                <a:gd name="adj" fmla="val 15385"/>
              </a:avLst>
            </a:prstGeom>
            <a:solidFill>
              <a:srgbClr val="FFFFFF"/>
            </a:solidFill>
            <a:ln w="9525">
              <a:solidFill>
                <a:srgbClr val="E8ACA2"/>
              </a:solidFill>
            </a:ln>
          </p:spPr>
        </p:sp>
        <p:sp>
          <p:nvSpPr>
            <p:cNvPr id="157" name="TextBox 157"/>
            <p:cNvSpPr txBox="1"/>
            <p:nvPr/>
          </p:nvSpPr>
          <p:spPr>
            <a:xfrm>
              <a:off x="8527732" y="560546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高价场景</a:t>
              </a:r>
            </a:p>
          </p:txBody>
        </p:sp>
        <p:sp>
          <p:nvSpPr>
            <p:cNvPr id="158" name="Rectangle 158"/>
            <p:cNvSpPr/>
            <p:nvPr/>
          </p:nvSpPr>
          <p:spPr>
            <a:xfrm>
              <a:off x="9220200" y="5524500"/>
              <a:ext cx="819150" cy="247650"/>
            </a:xfrm>
            <a:prstGeom prst="roundRect">
              <a:avLst>
                <a:gd name="adj" fmla="val 15385"/>
              </a:avLst>
            </a:prstGeom>
            <a:solidFill>
              <a:srgbClr val="FFFFFF"/>
            </a:solidFill>
            <a:ln w="9525">
              <a:solidFill>
                <a:srgbClr val="E8ACA2"/>
              </a:solidFill>
            </a:ln>
          </p:spPr>
        </p:sp>
        <p:sp>
          <p:nvSpPr>
            <p:cNvPr id="159" name="TextBox 159"/>
            <p:cNvSpPr txBox="1"/>
            <p:nvPr/>
          </p:nvSpPr>
          <p:spPr>
            <a:xfrm>
              <a:off x="9423082" y="560546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品牌专区</a:t>
              </a:r>
            </a:p>
          </p:txBody>
        </p:sp>
        <p:sp>
          <p:nvSpPr>
            <p:cNvPr id="160" name="Rectangle 160"/>
            <p:cNvSpPr/>
            <p:nvPr/>
          </p:nvSpPr>
          <p:spPr>
            <a:xfrm>
              <a:off x="10115550" y="5524500"/>
              <a:ext cx="819150" cy="247650"/>
            </a:xfrm>
            <a:prstGeom prst="roundRect">
              <a:avLst>
                <a:gd name="adj" fmla="val 15385"/>
              </a:avLst>
            </a:prstGeom>
            <a:solidFill>
              <a:srgbClr val="FFFFFF"/>
            </a:solidFill>
            <a:ln w="9525">
              <a:solidFill>
                <a:srgbClr val="E8ACA2"/>
              </a:solidFill>
            </a:ln>
          </p:spPr>
        </p:sp>
        <p:sp>
          <p:nvSpPr>
            <p:cNvPr id="161" name="TextBox 161"/>
            <p:cNvSpPr txBox="1"/>
            <p:nvPr/>
          </p:nvSpPr>
          <p:spPr>
            <a:xfrm>
              <a:off x="10318432" y="560546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品牌首秀</a:t>
              </a:r>
            </a:p>
          </p:txBody>
        </p:sp>
        <p:sp>
          <p:nvSpPr>
            <p:cNvPr id="162" name="Rectangle 162"/>
            <p:cNvSpPr/>
            <p:nvPr/>
          </p:nvSpPr>
          <p:spPr>
            <a:xfrm>
              <a:off x="11010900" y="5524500"/>
              <a:ext cx="819150" cy="247650"/>
            </a:xfrm>
            <a:prstGeom prst="roundRect">
              <a:avLst>
                <a:gd name="adj" fmla="val 15385"/>
              </a:avLst>
            </a:prstGeom>
            <a:solidFill>
              <a:srgbClr val="FFFFFF"/>
            </a:solidFill>
            <a:ln w="9525">
              <a:solidFill>
                <a:srgbClr val="E8ACA2"/>
              </a:solidFill>
            </a:ln>
          </p:spPr>
        </p:sp>
        <p:sp>
          <p:nvSpPr>
            <p:cNvPr id="163" name="TextBox 163"/>
            <p:cNvSpPr txBox="1"/>
            <p:nvPr/>
          </p:nvSpPr>
          <p:spPr>
            <a:xfrm>
              <a:off x="11215647" y="5605462"/>
              <a:ext cx="409657" cy="147638"/>
            </a:xfrm>
            <a:prstGeom prst="rect">
              <a:avLst/>
            </a:prstGeom>
            <a:noFill/>
            <a:ln>
              <a:noFill/>
            </a:ln>
          </p:spPr>
          <p:txBody>
            <a:bodyPr wrap="none" lIns="0" tIns="0" rIns="0" bIns="0" anchor="t" anchorCtr="0">
              <a:spAutoFit/>
            </a:bodyPr>
            <a:lstStyle/>
            <a:p>
              <a:pPr algn="ctr"/>
              <a:r>
                <a:rPr lang="en-US" sz="750" dirty="0">
                  <a:solidFill>
                    <a:srgbClr val="705F5B"/>
                  </a:solidFill>
                  <a:latin typeface="+mn-lt"/>
                  <a:ea typeface="+mn-ea"/>
                  <a:cs typeface="+mn-cs"/>
                </a:rPr>
                <a:t>Uni Desk</a:t>
              </a:r>
            </a:p>
          </p:txBody>
        </p:sp>
      </p:grpSp>
      <p:grpSp>
        <p:nvGrpSpPr>
          <p:cNvPr id="183" name="tool-row"/>
          <p:cNvGrpSpPr/>
          <p:nvPr/>
        </p:nvGrpSpPr>
        <p:grpSpPr>
          <a:xfrm>
            <a:off x="1219200" y="5905500"/>
            <a:ext cx="10515600" cy="285750"/>
            <a:chOff x="1219200" y="5905500"/>
            <a:chExt cx="10515600" cy="285750"/>
          </a:xfrm>
        </p:grpSpPr>
        <p:sp>
          <p:nvSpPr>
            <p:cNvPr id="165" name="Rectangle 165"/>
            <p:cNvSpPr/>
            <p:nvPr/>
          </p:nvSpPr>
          <p:spPr>
            <a:xfrm>
              <a:off x="1219200" y="5905500"/>
              <a:ext cx="762000" cy="285750"/>
            </a:xfrm>
            <a:prstGeom prst="roundRect">
              <a:avLst>
                <a:gd name="adj" fmla="val 13333"/>
              </a:avLst>
            </a:prstGeom>
            <a:solidFill>
              <a:srgbClr val="C1553F"/>
            </a:solidFill>
            <a:ln>
              <a:noFill/>
            </a:ln>
          </p:spPr>
        </p:sp>
        <p:sp>
          <p:nvSpPr>
            <p:cNvPr id="166" name="TextBox 166"/>
            <p:cNvSpPr txBox="1"/>
            <p:nvPr/>
          </p:nvSpPr>
          <p:spPr>
            <a:xfrm>
              <a:off x="1353122" y="59988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数据工具</a:t>
              </a:r>
            </a:p>
          </p:txBody>
        </p:sp>
        <p:sp>
          <p:nvSpPr>
            <p:cNvPr id="167" name="Rectangle 167"/>
            <p:cNvSpPr/>
            <p:nvPr/>
          </p:nvSpPr>
          <p:spPr>
            <a:xfrm>
              <a:off x="2057400" y="5924550"/>
              <a:ext cx="1143000" cy="247650"/>
            </a:xfrm>
            <a:prstGeom prst="roundRect">
              <a:avLst>
                <a:gd name="adj" fmla="val 15385"/>
              </a:avLst>
            </a:prstGeom>
            <a:solidFill>
              <a:srgbClr val="FFFFFF"/>
            </a:solidFill>
            <a:ln w="9525">
              <a:solidFill>
                <a:srgbClr val="E6B8AE"/>
              </a:solidFill>
            </a:ln>
          </p:spPr>
        </p:sp>
        <p:sp>
          <p:nvSpPr>
            <p:cNvPr id="168" name="TextBox 168"/>
            <p:cNvSpPr txBox="1"/>
            <p:nvPr/>
          </p:nvSpPr>
          <p:spPr>
            <a:xfrm>
              <a:off x="2472690" y="6005512"/>
              <a:ext cx="31242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达摩盘</a:t>
              </a:r>
            </a:p>
          </p:txBody>
        </p:sp>
        <p:sp>
          <p:nvSpPr>
            <p:cNvPr id="169" name="Rectangle 169"/>
            <p:cNvSpPr/>
            <p:nvPr/>
          </p:nvSpPr>
          <p:spPr>
            <a:xfrm>
              <a:off x="3276600" y="5924550"/>
              <a:ext cx="1143000" cy="247650"/>
            </a:xfrm>
            <a:prstGeom prst="roundRect">
              <a:avLst>
                <a:gd name="adj" fmla="val 15385"/>
              </a:avLst>
            </a:prstGeom>
            <a:solidFill>
              <a:srgbClr val="FFFFFF"/>
            </a:solidFill>
            <a:ln w="9525">
              <a:solidFill>
                <a:srgbClr val="E6B8AE"/>
              </a:solidFill>
            </a:ln>
          </p:spPr>
        </p:sp>
        <p:sp>
          <p:nvSpPr>
            <p:cNvPr id="170" name="TextBox 170"/>
            <p:cNvSpPr txBox="1"/>
            <p:nvPr/>
          </p:nvSpPr>
          <p:spPr>
            <a:xfrm>
              <a:off x="3641408" y="600551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生意参谋</a:t>
              </a:r>
            </a:p>
          </p:txBody>
        </p:sp>
        <p:sp>
          <p:nvSpPr>
            <p:cNvPr id="171" name="Rectangle 171"/>
            <p:cNvSpPr/>
            <p:nvPr/>
          </p:nvSpPr>
          <p:spPr>
            <a:xfrm>
              <a:off x="4495800" y="5924550"/>
              <a:ext cx="1143000" cy="247650"/>
            </a:xfrm>
            <a:prstGeom prst="roundRect">
              <a:avLst>
                <a:gd name="adj" fmla="val 15385"/>
              </a:avLst>
            </a:prstGeom>
            <a:solidFill>
              <a:srgbClr val="FFFFFF"/>
            </a:solidFill>
            <a:ln w="9525">
              <a:solidFill>
                <a:srgbClr val="E6B8AE"/>
              </a:solidFill>
            </a:ln>
          </p:spPr>
        </p:sp>
        <p:sp>
          <p:nvSpPr>
            <p:cNvPr id="172" name="TextBox 172"/>
            <p:cNvSpPr txBox="1"/>
            <p:nvPr/>
          </p:nvSpPr>
          <p:spPr>
            <a:xfrm>
              <a:off x="4860608" y="600551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品牌数据</a:t>
              </a:r>
            </a:p>
          </p:txBody>
        </p:sp>
        <p:sp>
          <p:nvSpPr>
            <p:cNvPr id="173" name="Rectangle 173"/>
            <p:cNvSpPr/>
            <p:nvPr/>
          </p:nvSpPr>
          <p:spPr>
            <a:xfrm>
              <a:off x="5715000" y="5924550"/>
              <a:ext cx="1143000" cy="247650"/>
            </a:xfrm>
            <a:prstGeom prst="roundRect">
              <a:avLst>
                <a:gd name="adj" fmla="val 15385"/>
              </a:avLst>
            </a:prstGeom>
            <a:solidFill>
              <a:srgbClr val="FFFFFF"/>
            </a:solidFill>
            <a:ln w="9525">
              <a:solidFill>
                <a:srgbClr val="E6B8AE"/>
              </a:solidFill>
            </a:ln>
          </p:spPr>
        </p:sp>
        <p:sp>
          <p:nvSpPr>
            <p:cNvPr id="174" name="TextBox 174"/>
            <p:cNvSpPr txBox="1"/>
            <p:nvPr/>
          </p:nvSpPr>
          <p:spPr>
            <a:xfrm>
              <a:off x="6079808" y="600551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引擎中心</a:t>
              </a:r>
            </a:p>
          </p:txBody>
        </p:sp>
        <p:sp>
          <p:nvSpPr>
            <p:cNvPr id="175" name="Rectangle 175"/>
            <p:cNvSpPr/>
            <p:nvPr/>
          </p:nvSpPr>
          <p:spPr>
            <a:xfrm>
              <a:off x="6934200" y="5924550"/>
              <a:ext cx="1143000" cy="247650"/>
            </a:xfrm>
            <a:prstGeom prst="roundRect">
              <a:avLst>
                <a:gd name="adj" fmla="val 15385"/>
              </a:avLst>
            </a:prstGeom>
            <a:solidFill>
              <a:srgbClr val="FFFFFF"/>
            </a:solidFill>
            <a:ln w="9525">
              <a:solidFill>
                <a:srgbClr val="E6B8AE"/>
              </a:solidFill>
            </a:ln>
          </p:spPr>
        </p:sp>
        <p:sp>
          <p:nvSpPr>
            <p:cNvPr id="176" name="TextBox 176"/>
            <p:cNvSpPr txBox="1"/>
            <p:nvPr/>
          </p:nvSpPr>
          <p:spPr>
            <a:xfrm>
              <a:off x="7299008" y="600551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营销洞察</a:t>
              </a:r>
            </a:p>
          </p:txBody>
        </p:sp>
        <p:sp>
          <p:nvSpPr>
            <p:cNvPr id="177" name="Rectangle 177"/>
            <p:cNvSpPr/>
            <p:nvPr/>
          </p:nvSpPr>
          <p:spPr>
            <a:xfrm>
              <a:off x="8153400" y="5924550"/>
              <a:ext cx="1143000" cy="247650"/>
            </a:xfrm>
            <a:prstGeom prst="roundRect">
              <a:avLst>
                <a:gd name="adj" fmla="val 15385"/>
              </a:avLst>
            </a:prstGeom>
            <a:solidFill>
              <a:srgbClr val="FFFFFF"/>
            </a:solidFill>
            <a:ln w="9525">
              <a:solidFill>
                <a:srgbClr val="E6B8AE"/>
              </a:solidFill>
            </a:ln>
          </p:spPr>
        </p:sp>
        <p:sp>
          <p:nvSpPr>
            <p:cNvPr id="178" name="TextBox 178"/>
            <p:cNvSpPr txBox="1"/>
            <p:nvPr/>
          </p:nvSpPr>
          <p:spPr>
            <a:xfrm>
              <a:off x="8518208" y="600551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抢位助手</a:t>
              </a:r>
            </a:p>
          </p:txBody>
        </p:sp>
        <p:sp>
          <p:nvSpPr>
            <p:cNvPr id="179" name="Rectangle 179"/>
            <p:cNvSpPr/>
            <p:nvPr/>
          </p:nvSpPr>
          <p:spPr>
            <a:xfrm>
              <a:off x="9372600" y="5924550"/>
              <a:ext cx="1143000" cy="247650"/>
            </a:xfrm>
            <a:prstGeom prst="roundRect">
              <a:avLst>
                <a:gd name="adj" fmla="val 15385"/>
              </a:avLst>
            </a:prstGeom>
            <a:solidFill>
              <a:srgbClr val="FFFFFF"/>
            </a:solidFill>
            <a:ln w="9525">
              <a:solidFill>
                <a:srgbClr val="E6B8AE"/>
              </a:solidFill>
            </a:ln>
          </p:spPr>
        </p:sp>
        <p:sp>
          <p:nvSpPr>
            <p:cNvPr id="180" name="TextBox 180"/>
            <p:cNvSpPr txBox="1"/>
            <p:nvPr/>
          </p:nvSpPr>
          <p:spPr>
            <a:xfrm>
              <a:off x="9787890" y="6005512"/>
              <a:ext cx="31242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观星台</a:t>
              </a:r>
            </a:p>
          </p:txBody>
        </p:sp>
        <p:sp>
          <p:nvSpPr>
            <p:cNvPr id="181" name="Rectangle 181"/>
            <p:cNvSpPr/>
            <p:nvPr/>
          </p:nvSpPr>
          <p:spPr>
            <a:xfrm>
              <a:off x="10591800" y="5924550"/>
              <a:ext cx="1143000" cy="247650"/>
            </a:xfrm>
            <a:prstGeom prst="roundRect">
              <a:avLst>
                <a:gd name="adj" fmla="val 15385"/>
              </a:avLst>
            </a:prstGeom>
            <a:solidFill>
              <a:srgbClr val="FFFFFF"/>
            </a:solidFill>
            <a:ln w="9525">
              <a:solidFill>
                <a:srgbClr val="E6B8AE"/>
              </a:solidFill>
            </a:ln>
          </p:spPr>
        </p:sp>
        <p:sp>
          <p:nvSpPr>
            <p:cNvPr id="182" name="TextBox 182"/>
            <p:cNvSpPr txBox="1"/>
            <p:nvPr/>
          </p:nvSpPr>
          <p:spPr>
            <a:xfrm>
              <a:off x="10956608" y="6005512"/>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创意工坊</a:t>
              </a:r>
            </a:p>
          </p:txBody>
        </p:sp>
      </p:gr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420874" cy="440055"/>
            <a:chOff x="302895" y="214312"/>
            <a:chExt cx="2420874"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17.​</a:t>
              </a:r>
            </a:p>
          </p:txBody>
        </p:sp>
        <p:sp>
          <p:nvSpPr>
            <p:cNvPr id="3" name="TextBox 3"/>
            <p:cNvSpPr txBox="1"/>
            <p:nvPr/>
          </p:nvSpPr>
          <p:spPr>
            <a:xfrm>
              <a:off x="866394" y="246698"/>
              <a:ext cx="1857375"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企业品牌战略屋</a:t>
              </a:r>
            </a:p>
          </p:txBody>
        </p:sp>
      </p:grpSp>
      <p:grpSp>
        <p:nvGrpSpPr>
          <p:cNvPr id="8" name="strategy-roof"/>
          <p:cNvGrpSpPr/>
          <p:nvPr/>
        </p:nvGrpSpPr>
        <p:grpSpPr>
          <a:xfrm>
            <a:off x="2428875" y="914400"/>
            <a:ext cx="7334250" cy="723900"/>
            <a:chOff x="2428875" y="914400"/>
            <a:chExt cx="7334250" cy="723900"/>
          </a:xfrm>
        </p:grpSpPr>
        <p:sp>
          <p:nvSpPr>
            <p:cNvPr id="5" name="Freeform 5"/>
            <p:cNvSpPr/>
            <p:nvPr/>
          </p:nvSpPr>
          <p:spPr>
            <a:xfrm>
              <a:off x="2428875" y="914400"/>
              <a:ext cx="7334250" cy="723900"/>
            </a:xfrm>
            <a:prstGeom prst="triangle">
              <a:avLst/>
            </a:prstGeom>
            <a:solidFill>
              <a:srgbClr val="C4624E"/>
            </a:solidFill>
            <a:ln>
              <a:noFill/>
            </a:ln>
          </p:spPr>
        </p:sp>
        <p:sp>
          <p:nvSpPr>
            <p:cNvPr id="6" name="TextBox 6"/>
            <p:cNvSpPr txBox="1"/>
            <p:nvPr/>
          </p:nvSpPr>
          <p:spPr>
            <a:xfrm>
              <a:off x="5959119" y="11329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使命</a:t>
              </a:r>
            </a:p>
          </p:txBody>
        </p:sp>
        <p:sp>
          <p:nvSpPr>
            <p:cNvPr id="7" name="TextBox 7"/>
            <p:cNvSpPr txBox="1"/>
            <p:nvPr/>
          </p:nvSpPr>
          <p:spPr>
            <a:xfrm>
              <a:off x="4747832" y="1353502"/>
              <a:ext cx="2696337"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持续打造专业品牌形象推动业务高质量增长</a:t>
              </a:r>
            </a:p>
          </p:txBody>
        </p:sp>
      </p:grpSp>
      <p:grpSp>
        <p:nvGrpSpPr>
          <p:cNvPr id="21" name="strategy-rail"/>
          <p:cNvGrpSpPr/>
          <p:nvPr/>
        </p:nvGrpSpPr>
        <p:grpSpPr>
          <a:xfrm>
            <a:off x="266700" y="1885950"/>
            <a:ext cx="533400" cy="4231957"/>
            <a:chOff x="266700" y="1885950"/>
            <a:chExt cx="533400" cy="4231957"/>
          </a:xfrm>
        </p:grpSpPr>
        <p:sp>
          <p:nvSpPr>
            <p:cNvPr id="9" name="Rectangle 9"/>
            <p:cNvSpPr/>
            <p:nvPr/>
          </p:nvSpPr>
          <p:spPr>
            <a:xfrm>
              <a:off x="266700" y="1885950"/>
              <a:ext cx="533400" cy="400050"/>
            </a:xfrm>
            <a:prstGeom prst="roundRect">
              <a:avLst>
                <a:gd name="adj" fmla="val 9524"/>
              </a:avLst>
            </a:prstGeom>
            <a:solidFill>
              <a:srgbClr val="E4E7F8"/>
            </a:solidFill>
            <a:ln>
              <a:noFill/>
            </a:ln>
          </p:spPr>
        </p:sp>
        <p:sp>
          <p:nvSpPr>
            <p:cNvPr id="10" name="TextBox 10"/>
            <p:cNvSpPr txBox="1"/>
            <p:nvPr/>
          </p:nvSpPr>
          <p:spPr>
            <a:xfrm>
              <a:off x="407480" y="1960245"/>
              <a:ext cx="251841" cy="176212"/>
            </a:xfrm>
            <a:prstGeom prst="rect">
              <a:avLst/>
            </a:prstGeom>
            <a:noFill/>
            <a:ln>
              <a:noFill/>
            </a:ln>
          </p:spPr>
          <p:txBody>
            <a:bodyPr wrap="none" lIns="0" tIns="0" rIns="0" bIns="0" anchor="t" anchorCtr="0">
              <a:spAutoFit/>
            </a:bodyPr>
            <a:lstStyle/>
            <a:p>
              <a:pPr algn="ctr"/>
              <a:r>
                <a:rPr lang="zh-CN" sz="900" dirty="0">
                  <a:solidFill>
                    <a:srgbClr val="D47D6B"/>
                  </a:solidFill>
                  <a:latin typeface="+mn-lt"/>
                  <a:ea typeface="+mn-ea"/>
                  <a:cs typeface="+mn-cs"/>
                </a:rPr>
                <a:t>战略</a:t>
              </a:r>
            </a:p>
          </p:txBody>
        </p:sp>
        <p:sp>
          <p:nvSpPr>
            <p:cNvPr id="11" name="TextBox 11"/>
            <p:cNvSpPr txBox="1"/>
            <p:nvPr/>
          </p:nvSpPr>
          <p:spPr>
            <a:xfrm>
              <a:off x="407480" y="2112645"/>
              <a:ext cx="251841" cy="176212"/>
            </a:xfrm>
            <a:prstGeom prst="rect">
              <a:avLst/>
            </a:prstGeom>
            <a:noFill/>
            <a:ln>
              <a:noFill/>
            </a:ln>
          </p:spPr>
          <p:txBody>
            <a:bodyPr wrap="none" lIns="0" tIns="0" rIns="0" bIns="0" anchor="t" anchorCtr="0">
              <a:spAutoFit/>
            </a:bodyPr>
            <a:lstStyle/>
            <a:p>
              <a:pPr algn="ctr"/>
              <a:r>
                <a:rPr lang="zh-CN" sz="900" dirty="0">
                  <a:solidFill>
                    <a:srgbClr val="D47D6B"/>
                  </a:solidFill>
                  <a:latin typeface="+mn-lt"/>
                  <a:ea typeface="+mn-ea"/>
                  <a:cs typeface="+mn-cs"/>
                </a:rPr>
                <a:t>目标</a:t>
              </a:r>
            </a:p>
          </p:txBody>
        </p:sp>
        <p:sp>
          <p:nvSpPr>
            <p:cNvPr id="12" name="Rectangle 12"/>
            <p:cNvSpPr/>
            <p:nvPr/>
          </p:nvSpPr>
          <p:spPr>
            <a:xfrm>
              <a:off x="266700" y="2857500"/>
              <a:ext cx="533400" cy="400050"/>
            </a:xfrm>
            <a:prstGeom prst="roundRect">
              <a:avLst>
                <a:gd name="adj" fmla="val 9524"/>
              </a:avLst>
            </a:prstGeom>
            <a:solidFill>
              <a:srgbClr val="FBE4DD"/>
            </a:solidFill>
            <a:ln>
              <a:noFill/>
            </a:ln>
          </p:spPr>
        </p:sp>
        <p:sp>
          <p:nvSpPr>
            <p:cNvPr id="13" name="TextBox 13"/>
            <p:cNvSpPr txBox="1"/>
            <p:nvPr/>
          </p:nvSpPr>
          <p:spPr>
            <a:xfrm>
              <a:off x="407480" y="2931795"/>
              <a:ext cx="251841" cy="176212"/>
            </a:xfrm>
            <a:prstGeom prst="rect">
              <a:avLst/>
            </a:prstGeom>
            <a:noFill/>
            <a:ln>
              <a:noFill/>
            </a:ln>
          </p:spPr>
          <p:txBody>
            <a:bodyPr wrap="none" lIns="0" tIns="0" rIns="0" bIns="0" anchor="t" anchorCtr="0">
              <a:spAutoFit/>
            </a:bodyPr>
            <a:lstStyle/>
            <a:p>
              <a:pPr algn="ctr"/>
              <a:r>
                <a:rPr lang="zh-CN" sz="900" dirty="0">
                  <a:solidFill>
                    <a:srgbClr val="E5624C"/>
                  </a:solidFill>
                  <a:latin typeface="+mn-lt"/>
                  <a:ea typeface="+mn-ea"/>
                  <a:cs typeface="+mn-cs"/>
                </a:rPr>
                <a:t>主要</a:t>
              </a:r>
            </a:p>
          </p:txBody>
        </p:sp>
        <p:sp>
          <p:nvSpPr>
            <p:cNvPr id="14" name="TextBox 14"/>
            <p:cNvSpPr txBox="1"/>
            <p:nvPr/>
          </p:nvSpPr>
          <p:spPr>
            <a:xfrm>
              <a:off x="407480" y="3084195"/>
              <a:ext cx="251841" cy="176212"/>
            </a:xfrm>
            <a:prstGeom prst="rect">
              <a:avLst/>
            </a:prstGeom>
            <a:noFill/>
            <a:ln>
              <a:noFill/>
            </a:ln>
          </p:spPr>
          <p:txBody>
            <a:bodyPr wrap="none" lIns="0" tIns="0" rIns="0" bIns="0" anchor="t" anchorCtr="0">
              <a:spAutoFit/>
            </a:bodyPr>
            <a:lstStyle/>
            <a:p>
              <a:pPr algn="ctr"/>
              <a:r>
                <a:rPr lang="zh-CN" sz="900" dirty="0">
                  <a:solidFill>
                    <a:srgbClr val="E5624C"/>
                  </a:solidFill>
                  <a:latin typeface="+mn-lt"/>
                  <a:ea typeface="+mn-ea"/>
                  <a:cs typeface="+mn-cs"/>
                </a:rPr>
                <a:t>战场</a:t>
              </a:r>
            </a:p>
          </p:txBody>
        </p:sp>
        <p:sp>
          <p:nvSpPr>
            <p:cNvPr id="15" name="Rectangle 15"/>
            <p:cNvSpPr/>
            <p:nvPr/>
          </p:nvSpPr>
          <p:spPr>
            <a:xfrm>
              <a:off x="266700" y="4038600"/>
              <a:ext cx="533400" cy="400050"/>
            </a:xfrm>
            <a:prstGeom prst="roundRect">
              <a:avLst>
                <a:gd name="adj" fmla="val 9524"/>
              </a:avLst>
            </a:prstGeom>
            <a:solidFill>
              <a:srgbClr val="E4E7F8"/>
            </a:solidFill>
            <a:ln>
              <a:noFill/>
            </a:ln>
          </p:spPr>
        </p:sp>
        <p:sp>
          <p:nvSpPr>
            <p:cNvPr id="16" name="TextBox 16"/>
            <p:cNvSpPr txBox="1"/>
            <p:nvPr/>
          </p:nvSpPr>
          <p:spPr>
            <a:xfrm>
              <a:off x="407480" y="4112895"/>
              <a:ext cx="251841" cy="176212"/>
            </a:xfrm>
            <a:prstGeom prst="rect">
              <a:avLst/>
            </a:prstGeom>
            <a:noFill/>
            <a:ln>
              <a:noFill/>
            </a:ln>
          </p:spPr>
          <p:txBody>
            <a:bodyPr wrap="none" lIns="0" tIns="0" rIns="0" bIns="0" anchor="t" anchorCtr="0">
              <a:spAutoFit/>
            </a:bodyPr>
            <a:lstStyle/>
            <a:p>
              <a:pPr algn="ctr"/>
              <a:r>
                <a:rPr lang="zh-CN" sz="900" dirty="0">
                  <a:solidFill>
                    <a:srgbClr val="D47D6B"/>
                  </a:solidFill>
                  <a:latin typeface="+mn-lt"/>
                  <a:ea typeface="+mn-ea"/>
                  <a:cs typeface="+mn-cs"/>
                </a:rPr>
                <a:t>关键</a:t>
              </a:r>
            </a:p>
          </p:txBody>
        </p:sp>
        <p:sp>
          <p:nvSpPr>
            <p:cNvPr id="17" name="TextBox 17"/>
            <p:cNvSpPr txBox="1"/>
            <p:nvPr/>
          </p:nvSpPr>
          <p:spPr>
            <a:xfrm>
              <a:off x="407480" y="4265295"/>
              <a:ext cx="251841" cy="176212"/>
            </a:xfrm>
            <a:prstGeom prst="rect">
              <a:avLst/>
            </a:prstGeom>
            <a:noFill/>
            <a:ln>
              <a:noFill/>
            </a:ln>
          </p:spPr>
          <p:txBody>
            <a:bodyPr wrap="none" lIns="0" tIns="0" rIns="0" bIns="0" anchor="t" anchorCtr="0">
              <a:spAutoFit/>
            </a:bodyPr>
            <a:lstStyle/>
            <a:p>
              <a:pPr algn="ctr"/>
              <a:r>
                <a:rPr lang="zh-CN" sz="900" dirty="0">
                  <a:solidFill>
                    <a:srgbClr val="D47D6B"/>
                  </a:solidFill>
                  <a:latin typeface="+mn-lt"/>
                  <a:ea typeface="+mn-ea"/>
                  <a:cs typeface="+mn-cs"/>
                </a:rPr>
                <a:t>战役</a:t>
              </a:r>
            </a:p>
          </p:txBody>
        </p:sp>
        <p:sp>
          <p:nvSpPr>
            <p:cNvPr id="18" name="Rectangle 18"/>
            <p:cNvSpPr/>
            <p:nvPr/>
          </p:nvSpPr>
          <p:spPr>
            <a:xfrm>
              <a:off x="266700" y="5715000"/>
              <a:ext cx="533400" cy="400050"/>
            </a:xfrm>
            <a:prstGeom prst="roundRect">
              <a:avLst>
                <a:gd name="adj" fmla="val 9524"/>
              </a:avLst>
            </a:prstGeom>
            <a:solidFill>
              <a:srgbClr val="E4E7F8"/>
            </a:solidFill>
            <a:ln>
              <a:noFill/>
            </a:ln>
          </p:spPr>
        </p:sp>
        <p:sp>
          <p:nvSpPr>
            <p:cNvPr id="19" name="TextBox 19"/>
            <p:cNvSpPr txBox="1"/>
            <p:nvPr/>
          </p:nvSpPr>
          <p:spPr>
            <a:xfrm>
              <a:off x="407480" y="5789295"/>
              <a:ext cx="251841" cy="176212"/>
            </a:xfrm>
            <a:prstGeom prst="rect">
              <a:avLst/>
            </a:prstGeom>
            <a:noFill/>
            <a:ln>
              <a:noFill/>
            </a:ln>
          </p:spPr>
          <p:txBody>
            <a:bodyPr wrap="none" lIns="0" tIns="0" rIns="0" bIns="0" anchor="t" anchorCtr="0">
              <a:spAutoFit/>
            </a:bodyPr>
            <a:lstStyle/>
            <a:p>
              <a:pPr algn="ctr"/>
              <a:r>
                <a:rPr lang="zh-CN" sz="900" dirty="0">
                  <a:solidFill>
                    <a:srgbClr val="D47D6B"/>
                  </a:solidFill>
                  <a:latin typeface="+mn-lt"/>
                  <a:ea typeface="+mn-ea"/>
                  <a:cs typeface="+mn-cs"/>
                </a:rPr>
                <a:t>组织</a:t>
              </a:r>
            </a:p>
          </p:txBody>
        </p:sp>
        <p:sp>
          <p:nvSpPr>
            <p:cNvPr id="20" name="TextBox 20"/>
            <p:cNvSpPr txBox="1"/>
            <p:nvPr/>
          </p:nvSpPr>
          <p:spPr>
            <a:xfrm>
              <a:off x="407480" y="5941695"/>
              <a:ext cx="251841" cy="176212"/>
            </a:xfrm>
            <a:prstGeom prst="rect">
              <a:avLst/>
            </a:prstGeom>
            <a:noFill/>
            <a:ln>
              <a:noFill/>
            </a:ln>
          </p:spPr>
          <p:txBody>
            <a:bodyPr wrap="none" lIns="0" tIns="0" rIns="0" bIns="0" anchor="t" anchorCtr="0">
              <a:spAutoFit/>
            </a:bodyPr>
            <a:lstStyle/>
            <a:p>
              <a:pPr algn="ctr"/>
              <a:r>
                <a:rPr lang="zh-CN" sz="900" dirty="0">
                  <a:solidFill>
                    <a:srgbClr val="D47D6B"/>
                  </a:solidFill>
                  <a:latin typeface="+mn-lt"/>
                  <a:ea typeface="+mn-ea"/>
                  <a:cs typeface="+mn-cs"/>
                </a:rPr>
                <a:t>保障</a:t>
              </a:r>
            </a:p>
          </p:txBody>
        </p:sp>
      </p:grpSp>
      <p:grpSp>
        <p:nvGrpSpPr>
          <p:cNvPr id="26" name="goal-row"/>
          <p:cNvGrpSpPr/>
          <p:nvPr/>
        </p:nvGrpSpPr>
        <p:grpSpPr>
          <a:xfrm>
            <a:off x="990600" y="1885950"/>
            <a:ext cx="10515600" cy="285750"/>
            <a:chOff x="990600" y="1885950"/>
            <a:chExt cx="10515600" cy="285750"/>
          </a:xfrm>
        </p:grpSpPr>
        <p:sp>
          <p:nvSpPr>
            <p:cNvPr id="22" name="Rectangle 22"/>
            <p:cNvSpPr/>
            <p:nvPr/>
          </p:nvSpPr>
          <p:spPr>
            <a:xfrm>
              <a:off x="990600" y="1885950"/>
              <a:ext cx="5200650" cy="285750"/>
            </a:xfrm>
            <a:prstGeom prst="roundRect">
              <a:avLst>
                <a:gd name="adj" fmla="val 50000"/>
              </a:avLst>
            </a:prstGeom>
            <a:solidFill>
              <a:srgbClr val="FFFFFF"/>
            </a:solidFill>
            <a:ln w="9525">
              <a:solidFill>
                <a:srgbClr val="C9CFEA"/>
              </a:solidFill>
            </a:ln>
          </p:spPr>
        </p:sp>
        <p:sp>
          <p:nvSpPr>
            <p:cNvPr id="23" name="TextBox 23"/>
            <p:cNvSpPr txBox="1"/>
            <p:nvPr/>
          </p:nvSpPr>
          <p:spPr>
            <a:xfrm>
              <a:off x="1912981" y="1971199"/>
              <a:ext cx="3355889" cy="190690"/>
            </a:xfrm>
            <a:prstGeom prst="rect">
              <a:avLst/>
            </a:prstGeom>
            <a:noFill/>
            <a:ln>
              <a:noFill/>
            </a:ln>
          </p:spPr>
          <p:txBody>
            <a:bodyPr wrap="none" lIns="0" tIns="0" rIns="0" bIns="0" anchor="t" anchorCtr="0">
              <a:spAutoFit/>
            </a:bodyPr>
            <a:lstStyle/>
            <a:p>
              <a:pPr algn="ctr"/>
              <a:r>
                <a:rPr lang="zh-CN" sz="980" dirty="0">
                  <a:solidFill>
                    <a:srgbClr val="523F3B"/>
                  </a:solidFill>
                  <a:latin typeface="+mn-lt"/>
                  <a:ea typeface="+mn-ea"/>
                  <a:cs typeface="+mn-cs"/>
                </a:rPr>
                <a:t>1.输出体系化ToB营销方法论升级企业品牌下的营销打法​</a:t>
              </a:r>
            </a:p>
          </p:txBody>
        </p:sp>
        <p:sp>
          <p:nvSpPr>
            <p:cNvPr id="24" name="Rectangle 24"/>
            <p:cNvSpPr/>
            <p:nvPr/>
          </p:nvSpPr>
          <p:spPr>
            <a:xfrm>
              <a:off x="6305550" y="1885950"/>
              <a:ext cx="5200650" cy="285750"/>
            </a:xfrm>
            <a:prstGeom prst="roundRect">
              <a:avLst>
                <a:gd name="adj" fmla="val 50000"/>
              </a:avLst>
            </a:prstGeom>
            <a:solidFill>
              <a:srgbClr val="FFFFFF"/>
            </a:solidFill>
            <a:ln w="9525">
              <a:solidFill>
                <a:srgbClr val="C9CFEA"/>
              </a:solidFill>
            </a:ln>
          </p:spPr>
        </p:sp>
        <p:sp>
          <p:nvSpPr>
            <p:cNvPr id="25" name="TextBox 25"/>
            <p:cNvSpPr txBox="1"/>
            <p:nvPr/>
          </p:nvSpPr>
          <p:spPr>
            <a:xfrm>
              <a:off x="7258397" y="1971199"/>
              <a:ext cx="3294957" cy="190690"/>
            </a:xfrm>
            <a:prstGeom prst="rect">
              <a:avLst/>
            </a:prstGeom>
            <a:noFill/>
            <a:ln>
              <a:noFill/>
            </a:ln>
          </p:spPr>
          <p:txBody>
            <a:bodyPr wrap="none" lIns="0" tIns="0" rIns="0" bIns="0" anchor="t" anchorCtr="0">
              <a:spAutoFit/>
            </a:bodyPr>
            <a:lstStyle/>
            <a:p>
              <a:pPr algn="ctr"/>
              <a:r>
                <a:rPr lang="zh-CN" sz="980" dirty="0">
                  <a:solidFill>
                    <a:srgbClr val="523F3B"/>
                  </a:solidFill>
                  <a:latin typeface="+mn-lt"/>
                  <a:ea typeface="+mn-ea"/>
                  <a:cs typeface="+mn-cs"/>
                </a:rPr>
                <a:t>2.专注ToB，"Mar Tech"标签的无提示提及率占据第一​</a:t>
              </a:r>
            </a:p>
          </p:txBody>
        </p:sp>
      </p:grpSp>
      <p:grpSp>
        <p:nvGrpSpPr>
          <p:cNvPr id="43" name="battlefield-row"/>
          <p:cNvGrpSpPr/>
          <p:nvPr/>
        </p:nvGrpSpPr>
        <p:grpSpPr>
          <a:xfrm>
            <a:off x="990600" y="2457450"/>
            <a:ext cx="10648950" cy="1123950"/>
            <a:chOff x="990600" y="2457450"/>
            <a:chExt cx="10648950" cy="1123950"/>
          </a:xfrm>
        </p:grpSpPr>
        <p:sp>
          <p:nvSpPr>
            <p:cNvPr id="27" name="Rectangle 27"/>
            <p:cNvSpPr/>
            <p:nvPr/>
          </p:nvSpPr>
          <p:spPr>
            <a:xfrm>
              <a:off x="990600" y="2457450"/>
              <a:ext cx="2590800" cy="1123950"/>
            </a:xfrm>
            <a:prstGeom prst="roundRect">
              <a:avLst>
                <a:gd name="adj" fmla="val 3390"/>
              </a:avLst>
            </a:prstGeom>
            <a:solidFill>
              <a:srgbClr val="FFFFFF"/>
            </a:solidFill>
            <a:ln w="9525">
              <a:solidFill>
                <a:srgbClr val="EDD5CD"/>
              </a:solidFill>
            </a:ln>
          </p:spPr>
        </p:sp>
        <p:sp>
          <p:nvSpPr>
            <p:cNvPr id="28" name="Rectangle 28"/>
            <p:cNvSpPr/>
            <p:nvPr/>
          </p:nvSpPr>
          <p:spPr>
            <a:xfrm>
              <a:off x="990600" y="2457450"/>
              <a:ext cx="2590800" cy="285750"/>
            </a:xfrm>
            <a:prstGeom prst="roundRect">
              <a:avLst>
                <a:gd name="adj" fmla="val 13333"/>
              </a:avLst>
            </a:prstGeom>
            <a:solidFill>
              <a:srgbClr val="FBE9E4"/>
            </a:solidFill>
            <a:ln>
              <a:noFill/>
            </a:ln>
          </p:spPr>
        </p:sp>
        <p:sp>
          <p:nvSpPr>
            <p:cNvPr id="29" name="TextBox 29"/>
            <p:cNvSpPr txBox="1"/>
            <p:nvPr/>
          </p:nvSpPr>
          <p:spPr>
            <a:xfrm>
              <a:off x="1433131" y="2550795"/>
              <a:ext cx="1705737"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产品及品牌定位清晰化和统一化</a:t>
              </a:r>
            </a:p>
          </p:txBody>
        </p:sp>
        <p:sp>
          <p:nvSpPr>
            <p:cNvPr id="30" name="TextBox 30"/>
            <p:cNvSpPr txBox="1"/>
            <p:nvPr/>
          </p:nvSpPr>
          <p:spPr>
            <a:xfrm>
              <a:off x="1081088" y="2829639"/>
              <a:ext cx="1614805" cy="4595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清晰的产品GTM、品牌风格、视觉</a:t>
              </a:r>
              <a:br/>
              <a:r>
                <a:rPr lang="zh-CN" sz="790" dirty="0">
                  <a:solidFill>
                    <a:srgbClr val="705F5B"/>
                  </a:solidFill>
                  <a:latin typeface="+mn-lt"/>
                  <a:ea typeface="+mn-ea"/>
                  <a:cs typeface="+mn-cs"/>
                </a:rPr>
                <a:t>识别系统，保证其高质量与一致性，</a:t>
              </a:r>
              <a:br/>
              <a:r>
                <a:rPr lang="zh-CN" sz="790" dirty="0">
                  <a:solidFill>
                    <a:srgbClr val="705F5B"/>
                  </a:solidFill>
                  <a:latin typeface="+mn-lt"/>
                  <a:ea typeface="+mn-ea"/>
                  <a:cs typeface="+mn-cs"/>
                </a:rPr>
                <a:t>建立</a:t>
              </a:r>
              <a:r>
                <a:rPr lang="zh-CN" sz="790" dirty="0">
                  <a:solidFill>
                    <a:srgbClr val="E5624C"/>
                  </a:solidFill>
                  <a:latin typeface="+mn-lt"/>
                  <a:ea typeface="+mn-ea"/>
                  <a:cs typeface="+mn-cs"/>
                </a:rPr>
                <a:t>长期有效的品牌价值</a:t>
              </a:r>
              <a:r>
                <a:rPr lang="zh-CN" sz="790" dirty="0">
                  <a:solidFill>
                    <a:srgbClr val="705F5B"/>
                  </a:solidFill>
                  <a:latin typeface="+mn-lt"/>
                  <a:ea typeface="+mn-ea"/>
                  <a:cs typeface="+mn-cs"/>
                </a:rPr>
                <a:t>。</a:t>
              </a:r>
            </a:p>
          </p:txBody>
        </p:sp>
        <p:sp>
          <p:nvSpPr>
            <p:cNvPr id="31" name="Rectangle 31"/>
            <p:cNvSpPr/>
            <p:nvPr/>
          </p:nvSpPr>
          <p:spPr>
            <a:xfrm>
              <a:off x="3676650" y="2457450"/>
              <a:ext cx="2590800" cy="1123950"/>
            </a:xfrm>
            <a:prstGeom prst="roundRect">
              <a:avLst>
                <a:gd name="adj" fmla="val 3390"/>
              </a:avLst>
            </a:prstGeom>
            <a:solidFill>
              <a:srgbClr val="FFFFFF"/>
            </a:solidFill>
            <a:ln w="9525">
              <a:solidFill>
                <a:srgbClr val="EDD5CD"/>
              </a:solidFill>
            </a:ln>
          </p:spPr>
        </p:sp>
        <p:sp>
          <p:nvSpPr>
            <p:cNvPr id="32" name="Rectangle 32"/>
            <p:cNvSpPr/>
            <p:nvPr/>
          </p:nvSpPr>
          <p:spPr>
            <a:xfrm>
              <a:off x="3676650" y="2457450"/>
              <a:ext cx="2590800" cy="285750"/>
            </a:xfrm>
            <a:prstGeom prst="roundRect">
              <a:avLst>
                <a:gd name="adj" fmla="val 13333"/>
              </a:avLst>
            </a:prstGeom>
            <a:solidFill>
              <a:srgbClr val="FBE9E4"/>
            </a:solidFill>
            <a:ln>
              <a:noFill/>
            </a:ln>
          </p:spPr>
        </p:sp>
        <p:sp>
          <p:nvSpPr>
            <p:cNvPr id="33" name="TextBox 33"/>
            <p:cNvSpPr txBox="1"/>
            <p:nvPr/>
          </p:nvSpPr>
          <p:spPr>
            <a:xfrm>
              <a:off x="4361498" y="2550795"/>
              <a:ext cx="1221105"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打造品牌的行业影响力</a:t>
              </a:r>
            </a:p>
          </p:txBody>
        </p:sp>
        <p:sp>
          <p:nvSpPr>
            <p:cNvPr id="34" name="TextBox 34"/>
            <p:cNvSpPr txBox="1"/>
            <p:nvPr/>
          </p:nvSpPr>
          <p:spPr>
            <a:xfrm>
              <a:off x="3767138" y="2829639"/>
              <a:ext cx="1715135" cy="4595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围绕重点业务场景(如增长、数字化)</a:t>
              </a:r>
              <a:br/>
              <a:r>
                <a:rPr lang="zh-CN" sz="790" dirty="0">
                  <a:solidFill>
                    <a:srgbClr val="705F5B"/>
                  </a:solidFill>
                  <a:latin typeface="+mn-lt"/>
                  <a:ea typeface="+mn-ea"/>
                  <a:cs typeface="+mn-cs"/>
                </a:rPr>
                <a:t>在行业内进行企业品牌专业影响力的打</a:t>
              </a:r>
              <a:br/>
              <a:r>
                <a:rPr lang="zh-CN" sz="790" dirty="0">
                  <a:solidFill>
                    <a:srgbClr val="705F5B"/>
                  </a:solidFill>
                  <a:latin typeface="+mn-lt"/>
                  <a:ea typeface="+mn-ea"/>
                  <a:cs typeface="+mn-cs"/>
                </a:rPr>
                <a:t>造，</a:t>
              </a:r>
              <a:r>
                <a:rPr lang="zh-CN" sz="790" dirty="0">
                  <a:solidFill>
                    <a:srgbClr val="E5624C"/>
                  </a:solidFill>
                  <a:latin typeface="+mn-lt"/>
                  <a:ea typeface="+mn-ea"/>
                  <a:cs typeface="+mn-cs"/>
                </a:rPr>
                <a:t>树立专业性形象</a:t>
              </a:r>
              <a:r>
                <a:rPr lang="zh-CN" sz="790" dirty="0">
                  <a:solidFill>
                    <a:srgbClr val="705F5B"/>
                  </a:solidFill>
                  <a:latin typeface="+mn-lt"/>
                  <a:ea typeface="+mn-ea"/>
                  <a:cs typeface="+mn-cs"/>
                </a:rPr>
                <a:t>。</a:t>
              </a:r>
            </a:p>
          </p:txBody>
        </p:sp>
        <p:sp>
          <p:nvSpPr>
            <p:cNvPr id="35" name="Rectangle 35"/>
            <p:cNvSpPr/>
            <p:nvPr/>
          </p:nvSpPr>
          <p:spPr>
            <a:xfrm>
              <a:off x="6362700" y="2457450"/>
              <a:ext cx="2590800" cy="1123950"/>
            </a:xfrm>
            <a:prstGeom prst="roundRect">
              <a:avLst>
                <a:gd name="adj" fmla="val 3390"/>
              </a:avLst>
            </a:prstGeom>
            <a:solidFill>
              <a:srgbClr val="FFFFFF"/>
            </a:solidFill>
            <a:ln w="9525">
              <a:solidFill>
                <a:srgbClr val="EDD5CD"/>
              </a:solidFill>
            </a:ln>
          </p:spPr>
        </p:sp>
        <p:sp>
          <p:nvSpPr>
            <p:cNvPr id="36" name="Rectangle 36"/>
            <p:cNvSpPr/>
            <p:nvPr/>
          </p:nvSpPr>
          <p:spPr>
            <a:xfrm>
              <a:off x="6362700" y="2457450"/>
              <a:ext cx="2590800" cy="285750"/>
            </a:xfrm>
            <a:prstGeom prst="roundRect">
              <a:avLst>
                <a:gd name="adj" fmla="val 13333"/>
              </a:avLst>
            </a:prstGeom>
            <a:solidFill>
              <a:srgbClr val="FBE9E4"/>
            </a:solidFill>
            <a:ln>
              <a:noFill/>
            </a:ln>
          </p:spPr>
        </p:sp>
        <p:sp>
          <p:nvSpPr>
            <p:cNvPr id="37" name="TextBox 37"/>
            <p:cNvSpPr txBox="1"/>
            <p:nvPr/>
          </p:nvSpPr>
          <p:spPr>
            <a:xfrm>
              <a:off x="6926389" y="2550795"/>
              <a:ext cx="1463421"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持续性、高质量的营销创新</a:t>
              </a:r>
            </a:p>
          </p:txBody>
        </p:sp>
        <p:sp>
          <p:nvSpPr>
            <p:cNvPr id="38" name="TextBox 38"/>
            <p:cNvSpPr txBox="1"/>
            <p:nvPr/>
          </p:nvSpPr>
          <p:spPr>
            <a:xfrm>
              <a:off x="6453188" y="2829639"/>
              <a:ext cx="171513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升级营销产品，提高获客效率，在营</a:t>
              </a:r>
              <a:br/>
              <a:r>
                <a:rPr lang="zh-CN" sz="790" dirty="0">
                  <a:solidFill>
                    <a:srgbClr val="705F5B"/>
                  </a:solidFill>
                  <a:latin typeface="+mn-lt"/>
                  <a:ea typeface="+mn-ea"/>
                  <a:cs typeface="+mn-cs"/>
                </a:rPr>
                <a:t>销过程中塑造品牌务实、专业的形象。</a:t>
              </a:r>
            </a:p>
          </p:txBody>
        </p:sp>
        <p:sp>
          <p:nvSpPr>
            <p:cNvPr id="39" name="Rectangle 39"/>
            <p:cNvSpPr/>
            <p:nvPr/>
          </p:nvSpPr>
          <p:spPr>
            <a:xfrm>
              <a:off x="9048750" y="2457450"/>
              <a:ext cx="2590800" cy="1123950"/>
            </a:xfrm>
            <a:prstGeom prst="roundRect">
              <a:avLst>
                <a:gd name="adj" fmla="val 3390"/>
              </a:avLst>
            </a:prstGeom>
            <a:solidFill>
              <a:srgbClr val="FFFFFF"/>
            </a:solidFill>
            <a:ln w="9525">
              <a:solidFill>
                <a:srgbClr val="EDD5CD"/>
              </a:solidFill>
            </a:ln>
          </p:spPr>
        </p:sp>
        <p:sp>
          <p:nvSpPr>
            <p:cNvPr id="40" name="Rectangle 40"/>
            <p:cNvSpPr/>
            <p:nvPr/>
          </p:nvSpPr>
          <p:spPr>
            <a:xfrm>
              <a:off x="9048750" y="2457450"/>
              <a:ext cx="2590800" cy="285750"/>
            </a:xfrm>
            <a:prstGeom prst="roundRect">
              <a:avLst>
                <a:gd name="adj" fmla="val 13333"/>
              </a:avLst>
            </a:prstGeom>
            <a:solidFill>
              <a:srgbClr val="FBE9E4"/>
            </a:solidFill>
            <a:ln>
              <a:noFill/>
            </a:ln>
          </p:spPr>
        </p:sp>
        <p:sp>
          <p:nvSpPr>
            <p:cNvPr id="41" name="TextBox 41"/>
            <p:cNvSpPr txBox="1"/>
            <p:nvPr/>
          </p:nvSpPr>
          <p:spPr>
            <a:xfrm>
              <a:off x="9370124" y="2550795"/>
              <a:ext cx="1948053"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体系化营销打法，对外对内双向赋能</a:t>
              </a:r>
            </a:p>
          </p:txBody>
        </p:sp>
        <p:sp>
          <p:nvSpPr>
            <p:cNvPr id="42" name="TextBox 42"/>
            <p:cNvSpPr txBox="1"/>
            <p:nvPr/>
          </p:nvSpPr>
          <p:spPr>
            <a:xfrm>
              <a:off x="9139238" y="2829639"/>
              <a:ext cx="1614805" cy="4595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提升目标客户对品牌的认可度，带给</a:t>
              </a:r>
              <a:br/>
              <a:r>
                <a:rPr lang="zh-CN" sz="790" dirty="0">
                  <a:solidFill>
                    <a:srgbClr val="705F5B"/>
                  </a:solidFill>
                  <a:latin typeface="+mn-lt"/>
                  <a:ea typeface="+mn-ea"/>
                  <a:cs typeface="+mn-cs"/>
                </a:rPr>
                <a:t>外部高影响、有价值的认知，制作最</a:t>
              </a:r>
              <a:br/>
              <a:r>
                <a:rPr lang="zh-CN" sz="790" dirty="0">
                  <a:solidFill>
                    <a:srgbClr val="705F5B"/>
                  </a:solidFill>
                  <a:latin typeface="+mn-lt"/>
                  <a:ea typeface="+mn-ea"/>
                  <a:cs typeface="+mn-cs"/>
                </a:rPr>
                <a:t>全面且可落地的营销方法论。</a:t>
              </a:r>
            </a:p>
          </p:txBody>
        </p:sp>
      </p:grpSp>
      <p:grpSp>
        <p:nvGrpSpPr>
          <p:cNvPr id="96" name="battle-row"/>
          <p:cNvGrpSpPr/>
          <p:nvPr/>
        </p:nvGrpSpPr>
        <p:grpSpPr>
          <a:xfrm>
            <a:off x="990600" y="3771900"/>
            <a:ext cx="10648950" cy="1657350"/>
            <a:chOff x="990600" y="3771900"/>
            <a:chExt cx="10648950" cy="1657350"/>
          </a:xfrm>
        </p:grpSpPr>
        <p:sp>
          <p:nvSpPr>
            <p:cNvPr id="44" name="Rectangle 44"/>
            <p:cNvSpPr/>
            <p:nvPr/>
          </p:nvSpPr>
          <p:spPr>
            <a:xfrm>
              <a:off x="990600" y="3771900"/>
              <a:ext cx="2590800" cy="1657350"/>
            </a:xfrm>
            <a:prstGeom prst="roundRect">
              <a:avLst>
                <a:gd name="adj" fmla="val 2299"/>
              </a:avLst>
            </a:prstGeom>
            <a:solidFill>
              <a:srgbClr val="FFFFFF"/>
            </a:solidFill>
            <a:ln w="9525">
              <a:solidFill>
                <a:srgbClr val="D5D9F0"/>
              </a:solidFill>
            </a:ln>
          </p:spPr>
        </p:sp>
        <p:sp>
          <p:nvSpPr>
            <p:cNvPr id="45" name="Rectangle 45"/>
            <p:cNvSpPr/>
            <p:nvPr/>
          </p:nvSpPr>
          <p:spPr>
            <a:xfrm>
              <a:off x="990600" y="3771900"/>
              <a:ext cx="2590800" cy="285750"/>
            </a:xfrm>
            <a:prstGeom prst="roundRect">
              <a:avLst>
                <a:gd name="adj" fmla="val 13333"/>
              </a:avLst>
            </a:prstGeom>
            <a:solidFill>
              <a:srgbClr val="C4624E"/>
            </a:solidFill>
            <a:ln>
              <a:noFill/>
            </a:ln>
          </p:spPr>
        </p:sp>
        <p:sp>
          <p:nvSpPr>
            <p:cNvPr id="46" name="TextBox 46"/>
            <p:cNvSpPr txBox="1"/>
            <p:nvPr/>
          </p:nvSpPr>
          <p:spPr>
            <a:xfrm>
              <a:off x="1917764" y="386524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数字营销能力</a:t>
              </a:r>
            </a:p>
          </p:txBody>
        </p:sp>
        <p:sp>
          <p:nvSpPr>
            <p:cNvPr id="47" name="Rectangle 47"/>
            <p:cNvSpPr/>
            <p:nvPr/>
          </p:nvSpPr>
          <p:spPr>
            <a:xfrm>
              <a:off x="1200150" y="4191000"/>
              <a:ext cx="781050" cy="228600"/>
            </a:xfrm>
            <a:prstGeom prst="roundRect">
              <a:avLst>
                <a:gd name="adj" fmla="val 50000"/>
              </a:avLst>
            </a:prstGeom>
            <a:solidFill>
              <a:srgbClr val="FFFFFF"/>
            </a:solidFill>
            <a:ln w="9525">
              <a:solidFill>
                <a:srgbClr val="DD988A"/>
              </a:solidFill>
            </a:ln>
          </p:spPr>
        </p:sp>
        <p:sp>
          <p:nvSpPr>
            <p:cNvPr id="48" name="TextBox 48"/>
            <p:cNvSpPr txBox="1"/>
            <p:nvPr/>
          </p:nvSpPr>
          <p:spPr>
            <a:xfrm>
              <a:off x="1365136" y="4254341"/>
              <a:ext cx="451079"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广告投放</a:t>
              </a:r>
            </a:p>
          </p:txBody>
        </p:sp>
        <p:grpSp>
          <p:nvGrpSpPr>
            <p:cNvPr id="53" name="Group 53"/>
            <p:cNvGrpSpPr/>
            <p:nvPr/>
          </p:nvGrpSpPr>
          <p:grpSpPr>
            <a:xfrm>
              <a:off x="2078831" y="4248150"/>
              <a:ext cx="128588" cy="114300"/>
              <a:chOff x="2078831" y="4248150"/>
              <a:chExt cx="128588" cy="114300"/>
            </a:xfrm>
          </p:grpSpPr>
          <p:sp>
            <p:nvSpPr>
              <p:cNvPr id="49" name="Freeform 49"/>
              <p:cNvSpPr/>
              <p:nvPr/>
            </p:nvSpPr>
            <p:spPr>
              <a:xfrm>
                <a:off x="2078831" y="4269581"/>
                <a:ext cx="128588" cy="9525"/>
              </a:xfrm>
              <a:custGeom>
                <a:avLst/>
                <a:gdLst/>
                <a:ahLst/>
                <a:cxnLst/>
                <a:rect l="l" t="t" r="r" b="b"/>
                <a:pathLst>
                  <a:path w="128588" h="9525">
                    <a:moveTo>
                      <a:pt x="128588" y="0"/>
                    </a:moveTo>
                    <a:lnTo>
                      <a:pt x="0" y="0"/>
                    </a:lnTo>
                  </a:path>
                </a:pathLst>
              </a:custGeom>
              <a:noFill/>
              <a:ln w="14288">
                <a:solidFill>
                  <a:srgbClr val="C1553F"/>
                </a:solidFill>
              </a:ln>
            </p:spPr>
          </p:sp>
          <p:sp>
            <p:nvSpPr>
              <p:cNvPr id="50" name="Freeform 50"/>
              <p:cNvSpPr/>
              <p:nvPr/>
            </p:nvSpPr>
            <p:spPr>
              <a:xfrm>
                <a:off x="2185988" y="4248150"/>
                <a:ext cx="21431" cy="42862"/>
              </a:xfrm>
              <a:custGeom>
                <a:avLst/>
                <a:gdLst/>
                <a:ahLst/>
                <a:cxnLst/>
                <a:rect l="l" t="t" r="r" b="b"/>
                <a:pathLst>
                  <a:path w="21431" h="42862">
                    <a:moveTo>
                      <a:pt x="0" y="42862"/>
                    </a:moveTo>
                    <a:lnTo>
                      <a:pt x="21431" y="21431"/>
                    </a:lnTo>
                    <a:lnTo>
                      <a:pt x="0" y="0"/>
                    </a:lnTo>
                  </a:path>
                </a:pathLst>
              </a:custGeom>
              <a:noFill/>
              <a:ln w="14288">
                <a:solidFill>
                  <a:srgbClr val="C1553F"/>
                </a:solidFill>
              </a:ln>
            </p:spPr>
          </p:sp>
          <p:sp>
            <p:nvSpPr>
              <p:cNvPr id="51" name="Freeform 51"/>
              <p:cNvSpPr/>
              <p:nvPr/>
            </p:nvSpPr>
            <p:spPr>
              <a:xfrm>
                <a:off x="2078831" y="4319588"/>
                <a:ext cx="21431" cy="42862"/>
              </a:xfrm>
              <a:custGeom>
                <a:avLst/>
                <a:gdLst/>
                <a:ahLst/>
                <a:cxnLst/>
                <a:rect l="l" t="t" r="r" b="b"/>
                <a:pathLst>
                  <a:path w="21431" h="42862">
                    <a:moveTo>
                      <a:pt x="21431" y="42862"/>
                    </a:moveTo>
                    <a:lnTo>
                      <a:pt x="0" y="21431"/>
                    </a:lnTo>
                    <a:lnTo>
                      <a:pt x="21431" y="0"/>
                    </a:lnTo>
                  </a:path>
                </a:pathLst>
              </a:custGeom>
              <a:noFill/>
              <a:ln w="14288">
                <a:solidFill>
                  <a:srgbClr val="C1553F"/>
                </a:solidFill>
              </a:ln>
            </p:spPr>
          </p:sp>
          <p:sp>
            <p:nvSpPr>
              <p:cNvPr id="52" name="Freeform 52"/>
              <p:cNvSpPr/>
              <p:nvPr/>
            </p:nvSpPr>
            <p:spPr>
              <a:xfrm>
                <a:off x="2078831" y="4341019"/>
                <a:ext cx="128588" cy="9525"/>
              </a:xfrm>
              <a:custGeom>
                <a:avLst/>
                <a:gdLst/>
                <a:ahLst/>
                <a:cxnLst/>
                <a:rect l="l" t="t" r="r" b="b"/>
                <a:pathLst>
                  <a:path w="128588" h="9525">
                    <a:moveTo>
                      <a:pt x="0" y="0"/>
                    </a:moveTo>
                    <a:lnTo>
                      <a:pt x="128588" y="0"/>
                    </a:lnTo>
                  </a:path>
                </a:pathLst>
              </a:custGeom>
              <a:noFill/>
              <a:ln w="14288">
                <a:solidFill>
                  <a:srgbClr val="C1553F"/>
                </a:solidFill>
              </a:ln>
            </p:spPr>
          </p:sp>
        </p:grpSp>
        <p:sp>
          <p:nvSpPr>
            <p:cNvPr id="54" name="Rectangle 54"/>
            <p:cNvSpPr/>
            <p:nvPr/>
          </p:nvSpPr>
          <p:spPr>
            <a:xfrm>
              <a:off x="2305050" y="4191000"/>
              <a:ext cx="723900" cy="228600"/>
            </a:xfrm>
            <a:prstGeom prst="roundRect">
              <a:avLst>
                <a:gd name="adj" fmla="val 50000"/>
              </a:avLst>
            </a:prstGeom>
            <a:solidFill>
              <a:srgbClr val="FFFFFF"/>
            </a:solidFill>
            <a:ln w="9525">
              <a:solidFill>
                <a:srgbClr val="DD988A"/>
              </a:solidFill>
            </a:ln>
          </p:spPr>
        </p:sp>
        <p:sp>
          <p:nvSpPr>
            <p:cNvPr id="55" name="TextBox 55"/>
            <p:cNvSpPr txBox="1"/>
            <p:nvPr/>
          </p:nvSpPr>
          <p:spPr>
            <a:xfrm>
              <a:off x="2457342" y="4254341"/>
              <a:ext cx="419316"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ToB官网</a:t>
              </a:r>
            </a:p>
          </p:txBody>
        </p:sp>
        <p:sp>
          <p:nvSpPr>
            <p:cNvPr id="56" name="TextBox 56"/>
            <p:cNvSpPr txBox="1"/>
            <p:nvPr/>
          </p:nvSpPr>
          <p:spPr>
            <a:xfrm>
              <a:off x="1749489" y="4601289"/>
              <a:ext cx="1073023"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基于数据驱动进行广告</a:t>
              </a:r>
            </a:p>
          </p:txBody>
        </p:sp>
        <p:sp>
          <p:nvSpPr>
            <p:cNvPr id="57" name="TextBox 57"/>
            <p:cNvSpPr txBox="1"/>
            <p:nvPr/>
          </p:nvSpPr>
          <p:spPr>
            <a:xfrm>
              <a:off x="2015363" y="4772739"/>
              <a:ext cx="541274"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的策略投放</a:t>
              </a:r>
            </a:p>
          </p:txBody>
        </p:sp>
        <p:sp>
          <p:nvSpPr>
            <p:cNvPr id="58" name="TextBox 58"/>
            <p:cNvSpPr txBox="1"/>
            <p:nvPr/>
          </p:nvSpPr>
          <p:spPr>
            <a:xfrm>
              <a:off x="1749489" y="5001339"/>
              <a:ext cx="1073023"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官网为品牌认知、用户</a:t>
              </a:r>
            </a:p>
          </p:txBody>
        </p:sp>
        <p:sp>
          <p:nvSpPr>
            <p:cNvPr id="59" name="TextBox 59"/>
            <p:cNvSpPr txBox="1"/>
            <p:nvPr/>
          </p:nvSpPr>
          <p:spPr>
            <a:xfrm>
              <a:off x="1749489" y="5172789"/>
              <a:ext cx="1073023"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运营提供强有力的支持</a:t>
              </a:r>
            </a:p>
          </p:txBody>
        </p:sp>
        <p:sp>
          <p:nvSpPr>
            <p:cNvPr id="60" name="Rectangle 60"/>
            <p:cNvSpPr/>
            <p:nvPr/>
          </p:nvSpPr>
          <p:spPr>
            <a:xfrm>
              <a:off x="3676650" y="3771900"/>
              <a:ext cx="2590800" cy="1657350"/>
            </a:xfrm>
            <a:prstGeom prst="roundRect">
              <a:avLst>
                <a:gd name="adj" fmla="val 2299"/>
              </a:avLst>
            </a:prstGeom>
            <a:solidFill>
              <a:srgbClr val="FFFFFF"/>
            </a:solidFill>
            <a:ln w="9525">
              <a:solidFill>
                <a:srgbClr val="D5D9F0"/>
              </a:solidFill>
            </a:ln>
          </p:spPr>
        </p:sp>
        <p:sp>
          <p:nvSpPr>
            <p:cNvPr id="61" name="Rectangle 61"/>
            <p:cNvSpPr/>
            <p:nvPr/>
          </p:nvSpPr>
          <p:spPr>
            <a:xfrm>
              <a:off x="3676650" y="3771900"/>
              <a:ext cx="2590800" cy="285750"/>
            </a:xfrm>
            <a:prstGeom prst="roundRect">
              <a:avLst>
                <a:gd name="adj" fmla="val 13333"/>
              </a:avLst>
            </a:prstGeom>
            <a:solidFill>
              <a:srgbClr val="C4624E"/>
            </a:solidFill>
            <a:ln>
              <a:noFill/>
            </a:ln>
          </p:spPr>
        </p:sp>
        <p:sp>
          <p:nvSpPr>
            <p:cNvPr id="62" name="TextBox 62"/>
            <p:cNvSpPr txBox="1"/>
            <p:nvPr/>
          </p:nvSpPr>
          <p:spPr>
            <a:xfrm>
              <a:off x="4603814" y="386524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内容营销能力</a:t>
              </a:r>
            </a:p>
          </p:txBody>
        </p:sp>
        <p:sp>
          <p:nvSpPr>
            <p:cNvPr id="63" name="TextBox 63"/>
            <p:cNvSpPr txBox="1"/>
            <p:nvPr/>
          </p:nvSpPr>
          <p:spPr>
            <a:xfrm>
              <a:off x="4260919" y="4159091"/>
              <a:ext cx="1422262" cy="161925"/>
            </a:xfrm>
            <a:prstGeom prst="rect">
              <a:avLst/>
            </a:prstGeom>
            <a:noFill/>
            <a:ln>
              <a:noFill/>
            </a:ln>
          </p:spPr>
          <p:txBody>
            <a:bodyPr wrap="none" lIns="0" tIns="0" rIns="0" bIns="0" anchor="t" anchorCtr="0">
              <a:spAutoFit/>
            </a:bodyPr>
            <a:lstStyle/>
            <a:p>
              <a:pPr algn="ctr"/>
              <a:r>
                <a:rPr lang="zh-CN" sz="820" b="1" dirty="0">
                  <a:solidFill>
                    <a:srgbClr val="E5624C"/>
                  </a:solidFill>
                  <a:latin typeface="+mn-lt"/>
                  <a:ea typeface="+mn-ea"/>
                  <a:cs typeface="+mn-cs"/>
                </a:rPr>
                <a:t>塑造ToB营销阵地，提高黏性</a:t>
              </a:r>
            </a:p>
          </p:txBody>
        </p:sp>
        <p:sp>
          <p:nvSpPr>
            <p:cNvPr id="64" name="Rectangle 64"/>
            <p:cNvSpPr/>
            <p:nvPr/>
          </p:nvSpPr>
          <p:spPr>
            <a:xfrm>
              <a:off x="3848100" y="4362450"/>
              <a:ext cx="685800" cy="209550"/>
            </a:xfrm>
            <a:prstGeom prst="roundRect">
              <a:avLst>
                <a:gd name="adj" fmla="val 13636"/>
              </a:avLst>
            </a:prstGeom>
            <a:solidFill>
              <a:srgbClr val="D47D6B"/>
            </a:solidFill>
            <a:ln>
              <a:noFill/>
            </a:ln>
          </p:spPr>
        </p:sp>
        <p:sp>
          <p:nvSpPr>
            <p:cNvPr id="65" name="TextBox 65"/>
            <p:cNvSpPr txBox="1"/>
            <p:nvPr/>
          </p:nvSpPr>
          <p:spPr>
            <a:xfrm>
              <a:off x="3984308" y="4424362"/>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跨界营销</a:t>
              </a:r>
            </a:p>
          </p:txBody>
        </p:sp>
        <p:sp>
          <p:nvSpPr>
            <p:cNvPr id="66" name="TextBox 66"/>
            <p:cNvSpPr txBox="1"/>
            <p:nvPr/>
          </p:nvSpPr>
          <p:spPr>
            <a:xfrm>
              <a:off x="4624388" y="4420314"/>
              <a:ext cx="1280907"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KOL｜社群资源｜客户资源</a:t>
              </a:r>
            </a:p>
          </p:txBody>
        </p:sp>
        <p:sp>
          <p:nvSpPr>
            <p:cNvPr id="67" name="Rectangle 67"/>
            <p:cNvSpPr/>
            <p:nvPr/>
          </p:nvSpPr>
          <p:spPr>
            <a:xfrm>
              <a:off x="3848100" y="4667250"/>
              <a:ext cx="685800" cy="209550"/>
            </a:xfrm>
            <a:prstGeom prst="roundRect">
              <a:avLst>
                <a:gd name="adj" fmla="val 13636"/>
              </a:avLst>
            </a:prstGeom>
            <a:solidFill>
              <a:srgbClr val="D47D6B"/>
            </a:solidFill>
            <a:ln>
              <a:noFill/>
            </a:ln>
          </p:spPr>
        </p:sp>
        <p:sp>
          <p:nvSpPr>
            <p:cNvPr id="68" name="TextBox 68"/>
            <p:cNvSpPr txBox="1"/>
            <p:nvPr/>
          </p:nvSpPr>
          <p:spPr>
            <a:xfrm>
              <a:off x="3984308" y="4729162"/>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内容阵地</a:t>
              </a:r>
            </a:p>
          </p:txBody>
        </p:sp>
        <p:sp>
          <p:nvSpPr>
            <p:cNvPr id="69" name="TextBox 69"/>
            <p:cNvSpPr txBox="1"/>
            <p:nvPr/>
          </p:nvSpPr>
          <p:spPr>
            <a:xfrm>
              <a:off x="4624388" y="4725114"/>
              <a:ext cx="107302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短视频访谈｜在线直播</a:t>
              </a:r>
            </a:p>
          </p:txBody>
        </p:sp>
        <p:sp>
          <p:nvSpPr>
            <p:cNvPr id="70" name="Rectangle 70"/>
            <p:cNvSpPr/>
            <p:nvPr/>
          </p:nvSpPr>
          <p:spPr>
            <a:xfrm>
              <a:off x="6362700" y="3771900"/>
              <a:ext cx="2590800" cy="1657350"/>
            </a:xfrm>
            <a:prstGeom prst="roundRect">
              <a:avLst>
                <a:gd name="adj" fmla="val 2299"/>
              </a:avLst>
            </a:prstGeom>
            <a:solidFill>
              <a:srgbClr val="FFFFFF"/>
            </a:solidFill>
            <a:ln w="9525">
              <a:solidFill>
                <a:srgbClr val="D5D9F0"/>
              </a:solidFill>
            </a:ln>
          </p:spPr>
        </p:sp>
        <p:sp>
          <p:nvSpPr>
            <p:cNvPr id="71" name="Rectangle 71"/>
            <p:cNvSpPr/>
            <p:nvPr/>
          </p:nvSpPr>
          <p:spPr>
            <a:xfrm>
              <a:off x="6362700" y="3771900"/>
              <a:ext cx="2590800" cy="285750"/>
            </a:xfrm>
            <a:prstGeom prst="roundRect">
              <a:avLst>
                <a:gd name="adj" fmla="val 13333"/>
              </a:avLst>
            </a:prstGeom>
            <a:solidFill>
              <a:srgbClr val="C4624E"/>
            </a:solidFill>
            <a:ln>
              <a:noFill/>
            </a:ln>
          </p:spPr>
        </p:sp>
        <p:sp>
          <p:nvSpPr>
            <p:cNvPr id="72" name="TextBox 72"/>
            <p:cNvSpPr txBox="1"/>
            <p:nvPr/>
          </p:nvSpPr>
          <p:spPr>
            <a:xfrm>
              <a:off x="7289864" y="386524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线下活动能力</a:t>
              </a:r>
            </a:p>
          </p:txBody>
        </p:sp>
        <p:sp>
          <p:nvSpPr>
            <p:cNvPr id="73" name="Rectangle 73"/>
            <p:cNvSpPr/>
            <p:nvPr/>
          </p:nvSpPr>
          <p:spPr>
            <a:xfrm>
              <a:off x="7258050" y="4152900"/>
              <a:ext cx="800100" cy="209550"/>
            </a:xfrm>
            <a:prstGeom prst="roundRect">
              <a:avLst>
                <a:gd name="adj" fmla="val 50000"/>
              </a:avLst>
            </a:prstGeom>
            <a:solidFill>
              <a:srgbClr val="E4E7F8"/>
            </a:solidFill>
            <a:ln>
              <a:noFill/>
            </a:ln>
          </p:spPr>
        </p:sp>
        <p:sp>
          <p:nvSpPr>
            <p:cNvPr id="74" name="TextBox 74"/>
            <p:cNvSpPr txBox="1"/>
            <p:nvPr/>
          </p:nvSpPr>
          <p:spPr>
            <a:xfrm>
              <a:off x="7440638" y="4210764"/>
              <a:ext cx="434924" cy="154781"/>
            </a:xfrm>
            <a:prstGeom prst="rect">
              <a:avLst/>
            </a:prstGeom>
            <a:noFill/>
            <a:ln>
              <a:noFill/>
            </a:ln>
          </p:spPr>
          <p:txBody>
            <a:bodyPr wrap="none" lIns="0" tIns="0" rIns="0" bIns="0" anchor="t" anchorCtr="0">
              <a:spAutoFit/>
            </a:bodyPr>
            <a:lstStyle/>
            <a:p>
              <a:pPr algn="ctr"/>
              <a:r>
                <a:rPr lang="zh-CN" sz="790" dirty="0">
                  <a:solidFill>
                    <a:srgbClr val="C1553F"/>
                  </a:solidFill>
                  <a:latin typeface="+mn-lt"/>
                  <a:ea typeface="+mn-ea"/>
                  <a:cs typeface="+mn-cs"/>
                </a:rPr>
                <a:t>线下策展</a:t>
              </a:r>
            </a:p>
          </p:txBody>
        </p:sp>
        <p:sp>
          <p:nvSpPr>
            <p:cNvPr id="75" name="Freeform 75"/>
            <p:cNvSpPr/>
            <p:nvPr/>
          </p:nvSpPr>
          <p:spPr>
            <a:xfrm>
              <a:off x="7658100" y="4400550"/>
              <a:ext cx="9525" cy="114300"/>
            </a:xfrm>
            <a:custGeom>
              <a:avLst/>
              <a:gdLst/>
              <a:ahLst/>
              <a:cxnLst/>
              <a:rect l="l" t="t" r="r" b="b"/>
              <a:pathLst>
                <a:path w="9525" h="114300">
                  <a:moveTo>
                    <a:pt x="0" y="0"/>
                  </a:moveTo>
                  <a:lnTo>
                    <a:pt x="0" y="114300"/>
                  </a:lnTo>
                </a:path>
              </a:pathLst>
            </a:custGeom>
            <a:noFill/>
            <a:ln w="19050">
              <a:solidFill>
                <a:srgbClr val="DD988A"/>
              </a:solidFill>
              <a:tailEnd type="triangle" w="lg" len="lg"/>
            </a:ln>
          </p:spPr>
        </p:sp>
        <p:sp>
          <p:nvSpPr>
            <p:cNvPr id="76" name="TextBox 76"/>
            <p:cNvSpPr txBox="1"/>
            <p:nvPr/>
          </p:nvSpPr>
          <p:spPr>
            <a:xfrm>
              <a:off x="7174763" y="4582239"/>
              <a:ext cx="96667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打造舒适的品牌活动</a:t>
              </a:r>
            </a:p>
          </p:txBody>
        </p:sp>
        <p:sp>
          <p:nvSpPr>
            <p:cNvPr id="77" name="Freeform 77"/>
            <p:cNvSpPr/>
            <p:nvPr/>
          </p:nvSpPr>
          <p:spPr>
            <a:xfrm>
              <a:off x="7658100" y="4724400"/>
              <a:ext cx="9525" cy="114300"/>
            </a:xfrm>
            <a:custGeom>
              <a:avLst/>
              <a:gdLst/>
              <a:ahLst/>
              <a:cxnLst/>
              <a:rect l="l" t="t" r="r" b="b"/>
              <a:pathLst>
                <a:path w="9525" h="114300">
                  <a:moveTo>
                    <a:pt x="0" y="0"/>
                  </a:moveTo>
                  <a:lnTo>
                    <a:pt x="0" y="114300"/>
                  </a:lnTo>
                </a:path>
              </a:pathLst>
            </a:custGeom>
            <a:noFill/>
            <a:ln w="19050">
              <a:solidFill>
                <a:srgbClr val="DD988A"/>
              </a:solidFill>
              <a:tailEnd type="triangle" w="lg" len="lg"/>
            </a:ln>
          </p:spPr>
        </p:sp>
        <p:sp>
          <p:nvSpPr>
            <p:cNvPr id="78" name="Rectangle 78"/>
            <p:cNvSpPr/>
            <p:nvPr/>
          </p:nvSpPr>
          <p:spPr>
            <a:xfrm>
              <a:off x="7258050" y="4895850"/>
              <a:ext cx="800100" cy="209550"/>
            </a:xfrm>
            <a:prstGeom prst="roundRect">
              <a:avLst>
                <a:gd name="adj" fmla="val 50000"/>
              </a:avLst>
            </a:prstGeom>
            <a:solidFill>
              <a:srgbClr val="FBE4DD"/>
            </a:solidFill>
            <a:ln>
              <a:noFill/>
            </a:ln>
          </p:spPr>
        </p:sp>
        <p:sp>
          <p:nvSpPr>
            <p:cNvPr id="79" name="TextBox 79"/>
            <p:cNvSpPr txBox="1"/>
            <p:nvPr/>
          </p:nvSpPr>
          <p:spPr>
            <a:xfrm>
              <a:off x="7440638" y="4953714"/>
              <a:ext cx="434924" cy="154781"/>
            </a:xfrm>
            <a:prstGeom prst="rect">
              <a:avLst/>
            </a:prstGeom>
            <a:noFill/>
            <a:ln>
              <a:noFill/>
            </a:ln>
          </p:spPr>
          <p:txBody>
            <a:bodyPr wrap="none" lIns="0" tIns="0" rIns="0" bIns="0" anchor="t" anchorCtr="0">
              <a:spAutoFit/>
            </a:bodyPr>
            <a:lstStyle/>
            <a:p>
              <a:pPr algn="ctr"/>
              <a:r>
                <a:rPr lang="zh-CN" sz="790" dirty="0">
                  <a:solidFill>
                    <a:srgbClr val="E5624C"/>
                  </a:solidFill>
                  <a:latin typeface="+mn-lt"/>
                  <a:ea typeface="+mn-ea"/>
                  <a:cs typeface="+mn-cs"/>
                </a:rPr>
                <a:t>客户邀约</a:t>
              </a:r>
            </a:p>
          </p:txBody>
        </p:sp>
        <p:sp>
          <p:nvSpPr>
            <p:cNvPr id="80" name="TextBox 80"/>
            <p:cNvSpPr txBox="1"/>
            <p:nvPr/>
          </p:nvSpPr>
          <p:spPr>
            <a:xfrm>
              <a:off x="7174763" y="5210889"/>
              <a:ext cx="96667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让客户深度了解品牌</a:t>
              </a:r>
            </a:p>
          </p:txBody>
        </p:sp>
        <p:sp>
          <p:nvSpPr>
            <p:cNvPr id="81" name="Rectangle 81"/>
            <p:cNvSpPr/>
            <p:nvPr/>
          </p:nvSpPr>
          <p:spPr>
            <a:xfrm>
              <a:off x="9048750" y="3771900"/>
              <a:ext cx="2590800" cy="1657350"/>
            </a:xfrm>
            <a:prstGeom prst="roundRect">
              <a:avLst>
                <a:gd name="adj" fmla="val 2299"/>
              </a:avLst>
            </a:prstGeom>
            <a:solidFill>
              <a:srgbClr val="FFFFFF"/>
            </a:solidFill>
            <a:ln w="9525">
              <a:solidFill>
                <a:srgbClr val="D5D9F0"/>
              </a:solidFill>
            </a:ln>
          </p:spPr>
        </p:sp>
        <p:sp>
          <p:nvSpPr>
            <p:cNvPr id="82" name="Rectangle 82"/>
            <p:cNvSpPr/>
            <p:nvPr/>
          </p:nvSpPr>
          <p:spPr>
            <a:xfrm>
              <a:off x="9048750" y="3771900"/>
              <a:ext cx="2590800" cy="285750"/>
            </a:xfrm>
            <a:prstGeom prst="roundRect">
              <a:avLst>
                <a:gd name="adj" fmla="val 13333"/>
              </a:avLst>
            </a:prstGeom>
            <a:solidFill>
              <a:srgbClr val="C4624E"/>
            </a:solidFill>
            <a:ln>
              <a:noFill/>
            </a:ln>
          </p:spPr>
        </p:sp>
        <p:sp>
          <p:nvSpPr>
            <p:cNvPr id="83" name="TextBox 83"/>
            <p:cNvSpPr txBox="1"/>
            <p:nvPr/>
          </p:nvSpPr>
          <p:spPr>
            <a:xfrm>
              <a:off x="10097072" y="38652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赋能机制</a:t>
              </a:r>
            </a:p>
          </p:txBody>
        </p:sp>
        <p:sp>
          <p:nvSpPr>
            <p:cNvPr id="84" name="Ellipse 84"/>
            <p:cNvSpPr/>
            <p:nvPr/>
          </p:nvSpPr>
          <p:spPr>
            <a:xfrm>
              <a:off x="9315450" y="4191000"/>
              <a:ext cx="419100" cy="419100"/>
            </a:xfrm>
            <a:prstGeom prst="ellipse">
              <a:avLst/>
            </a:prstGeom>
            <a:solidFill>
              <a:srgbClr val="EDF0FB"/>
            </a:solidFill>
            <a:ln w="19050">
              <a:solidFill>
                <a:srgbClr val="D47D6B"/>
              </a:solidFill>
            </a:ln>
          </p:spPr>
        </p:sp>
        <p:sp>
          <p:nvSpPr>
            <p:cNvPr id="85" name="TextBox 85"/>
            <p:cNvSpPr txBox="1"/>
            <p:nvPr/>
          </p:nvSpPr>
          <p:spPr>
            <a:xfrm>
              <a:off x="9446308" y="4351020"/>
              <a:ext cx="157383" cy="176212"/>
            </a:xfrm>
            <a:prstGeom prst="rect">
              <a:avLst/>
            </a:prstGeom>
            <a:noFill/>
            <a:ln>
              <a:noFill/>
            </a:ln>
          </p:spPr>
          <p:txBody>
            <a:bodyPr wrap="none" lIns="0" tIns="0" rIns="0" bIns="0" anchor="t" anchorCtr="0">
              <a:spAutoFit/>
            </a:bodyPr>
            <a:lstStyle/>
            <a:p>
              <a:pPr algn="ctr"/>
              <a:r>
                <a:rPr lang="en-US" sz="900" b="1" dirty="0">
                  <a:solidFill>
                    <a:srgbClr val="C1553F"/>
                  </a:solidFill>
                  <a:latin typeface="+mn-lt"/>
                  <a:ea typeface="+mn-ea"/>
                  <a:cs typeface="+mn-cs"/>
                </a:rPr>
                <a:t>A.</a:t>
              </a:r>
            </a:p>
          </p:txBody>
        </p:sp>
        <p:sp>
          <p:nvSpPr>
            <p:cNvPr id="86" name="TextBox 86"/>
            <p:cNvSpPr txBox="1"/>
            <p:nvPr/>
          </p:nvSpPr>
          <p:spPr>
            <a:xfrm>
              <a:off x="9318308" y="470058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升级市场</a:t>
              </a:r>
            </a:p>
          </p:txBody>
        </p:sp>
        <p:sp>
          <p:nvSpPr>
            <p:cNvPr id="87" name="TextBox 87"/>
            <p:cNvSpPr txBox="1"/>
            <p:nvPr/>
          </p:nvSpPr>
          <p:spPr>
            <a:xfrm>
              <a:off x="9318308" y="483393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营销打法</a:t>
              </a:r>
            </a:p>
          </p:txBody>
        </p:sp>
        <p:sp>
          <p:nvSpPr>
            <p:cNvPr id="88" name="Ellipse 88"/>
            <p:cNvSpPr/>
            <p:nvPr/>
          </p:nvSpPr>
          <p:spPr>
            <a:xfrm>
              <a:off x="10134600" y="4191000"/>
              <a:ext cx="419100" cy="419100"/>
            </a:xfrm>
            <a:prstGeom prst="ellipse">
              <a:avLst/>
            </a:prstGeom>
            <a:solidFill>
              <a:srgbClr val="EDF0FB"/>
            </a:solidFill>
            <a:ln w="19050">
              <a:solidFill>
                <a:srgbClr val="D47D6B"/>
              </a:solidFill>
            </a:ln>
          </p:spPr>
        </p:sp>
        <p:sp>
          <p:nvSpPr>
            <p:cNvPr id="89" name="TextBox 89"/>
            <p:cNvSpPr txBox="1"/>
            <p:nvPr/>
          </p:nvSpPr>
          <p:spPr>
            <a:xfrm>
              <a:off x="10265458" y="4351020"/>
              <a:ext cx="157383" cy="176212"/>
            </a:xfrm>
            <a:prstGeom prst="rect">
              <a:avLst/>
            </a:prstGeom>
            <a:noFill/>
            <a:ln>
              <a:noFill/>
            </a:ln>
          </p:spPr>
          <p:txBody>
            <a:bodyPr wrap="none" lIns="0" tIns="0" rIns="0" bIns="0" anchor="t" anchorCtr="0">
              <a:spAutoFit/>
            </a:bodyPr>
            <a:lstStyle/>
            <a:p>
              <a:pPr algn="ctr"/>
              <a:r>
                <a:rPr lang="en-US" sz="900" b="1" dirty="0">
                  <a:solidFill>
                    <a:srgbClr val="C1553F"/>
                  </a:solidFill>
                  <a:latin typeface="+mn-lt"/>
                  <a:ea typeface="+mn-ea"/>
                  <a:cs typeface="+mn-cs"/>
                </a:rPr>
                <a:t>B.</a:t>
              </a:r>
            </a:p>
          </p:txBody>
        </p:sp>
        <p:sp>
          <p:nvSpPr>
            <p:cNvPr id="90" name="TextBox 90"/>
            <p:cNvSpPr txBox="1"/>
            <p:nvPr/>
          </p:nvSpPr>
          <p:spPr>
            <a:xfrm>
              <a:off x="10137458" y="470058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培训落地</a:t>
              </a:r>
            </a:p>
          </p:txBody>
        </p:sp>
        <p:sp>
          <p:nvSpPr>
            <p:cNvPr id="91" name="TextBox 91"/>
            <p:cNvSpPr txBox="1"/>
            <p:nvPr/>
          </p:nvSpPr>
          <p:spPr>
            <a:xfrm>
              <a:off x="10187940" y="4833938"/>
              <a:ext cx="31242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方法论</a:t>
              </a:r>
            </a:p>
          </p:txBody>
        </p:sp>
        <p:sp>
          <p:nvSpPr>
            <p:cNvPr id="92" name="Ellipse 92"/>
            <p:cNvSpPr/>
            <p:nvPr/>
          </p:nvSpPr>
          <p:spPr>
            <a:xfrm>
              <a:off x="10953750" y="4191000"/>
              <a:ext cx="419100" cy="419100"/>
            </a:xfrm>
            <a:prstGeom prst="ellipse">
              <a:avLst/>
            </a:prstGeom>
            <a:solidFill>
              <a:srgbClr val="EDF0FB"/>
            </a:solidFill>
            <a:ln w="19050">
              <a:solidFill>
                <a:srgbClr val="D47D6B"/>
              </a:solidFill>
            </a:ln>
          </p:spPr>
        </p:sp>
        <p:sp>
          <p:nvSpPr>
            <p:cNvPr id="93" name="TextBox 93"/>
            <p:cNvSpPr txBox="1"/>
            <p:nvPr/>
          </p:nvSpPr>
          <p:spPr>
            <a:xfrm>
              <a:off x="11084608" y="4351020"/>
              <a:ext cx="157383" cy="176212"/>
            </a:xfrm>
            <a:prstGeom prst="rect">
              <a:avLst/>
            </a:prstGeom>
            <a:noFill/>
            <a:ln>
              <a:noFill/>
            </a:ln>
          </p:spPr>
          <p:txBody>
            <a:bodyPr wrap="none" lIns="0" tIns="0" rIns="0" bIns="0" anchor="t" anchorCtr="0">
              <a:spAutoFit/>
            </a:bodyPr>
            <a:lstStyle/>
            <a:p>
              <a:pPr algn="ctr"/>
              <a:r>
                <a:rPr lang="en-US" sz="900" b="1" dirty="0">
                  <a:solidFill>
                    <a:srgbClr val="C1553F"/>
                  </a:solidFill>
                  <a:latin typeface="+mn-lt"/>
                  <a:ea typeface="+mn-ea"/>
                  <a:cs typeface="+mn-cs"/>
                </a:rPr>
                <a:t>C.</a:t>
              </a:r>
            </a:p>
          </p:txBody>
        </p:sp>
        <p:sp>
          <p:nvSpPr>
            <p:cNvPr id="94" name="TextBox 94"/>
            <p:cNvSpPr txBox="1"/>
            <p:nvPr/>
          </p:nvSpPr>
          <p:spPr>
            <a:xfrm>
              <a:off x="10956608" y="470058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搭建共享</a:t>
              </a:r>
            </a:p>
          </p:txBody>
        </p:sp>
        <p:sp>
          <p:nvSpPr>
            <p:cNvPr id="95" name="TextBox 95"/>
            <p:cNvSpPr txBox="1"/>
            <p:nvPr/>
          </p:nvSpPr>
          <p:spPr>
            <a:xfrm>
              <a:off x="11057572" y="4833938"/>
              <a:ext cx="21145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模型</a:t>
              </a:r>
            </a:p>
          </p:txBody>
        </p:sp>
      </p:grpSp>
      <p:grpSp>
        <p:nvGrpSpPr>
          <p:cNvPr id="109" name="org-row"/>
          <p:cNvGrpSpPr/>
          <p:nvPr/>
        </p:nvGrpSpPr>
        <p:grpSpPr>
          <a:xfrm>
            <a:off x="990600" y="5581650"/>
            <a:ext cx="10591800" cy="933450"/>
            <a:chOff x="990600" y="5581650"/>
            <a:chExt cx="10591800" cy="933450"/>
          </a:xfrm>
        </p:grpSpPr>
        <p:sp>
          <p:nvSpPr>
            <p:cNvPr id="97" name="Rectangle 97"/>
            <p:cNvSpPr/>
            <p:nvPr/>
          </p:nvSpPr>
          <p:spPr>
            <a:xfrm>
              <a:off x="990600" y="5581650"/>
              <a:ext cx="3467100" cy="933450"/>
            </a:xfrm>
            <a:prstGeom prst="roundRect">
              <a:avLst>
                <a:gd name="adj" fmla="val 4082"/>
              </a:avLst>
            </a:prstGeom>
            <a:solidFill>
              <a:srgbClr val="FFFFFF"/>
            </a:solidFill>
            <a:ln w="9525">
              <a:solidFill>
                <a:srgbClr val="D5D9F0"/>
              </a:solidFill>
            </a:ln>
          </p:spPr>
        </p:sp>
        <p:sp>
          <p:nvSpPr>
            <p:cNvPr id="98" name="TextBox 98"/>
            <p:cNvSpPr txBox="1"/>
            <p:nvPr/>
          </p:nvSpPr>
          <p:spPr>
            <a:xfrm>
              <a:off x="2191487" y="5724049"/>
              <a:ext cx="1065327" cy="190690"/>
            </a:xfrm>
            <a:prstGeom prst="rect">
              <a:avLst/>
            </a:prstGeom>
            <a:noFill/>
            <a:ln>
              <a:noFill/>
            </a:ln>
          </p:spPr>
          <p:txBody>
            <a:bodyPr wrap="none" lIns="0" tIns="0" rIns="0" bIns="0" anchor="t" anchorCtr="0">
              <a:spAutoFit/>
            </a:bodyPr>
            <a:lstStyle/>
            <a:p>
              <a:pPr algn="ctr"/>
              <a:r>
                <a:rPr lang="zh-CN" sz="980" b="1" dirty="0">
                  <a:solidFill>
                    <a:srgbClr val="C1553F"/>
                  </a:solidFill>
                  <a:latin typeface="+mn-lt"/>
                  <a:ea typeface="+mn-ea"/>
                  <a:cs typeface="+mn-cs"/>
                </a:rPr>
                <a:t>人才的专业力塑造</a:t>
              </a:r>
            </a:p>
          </p:txBody>
        </p:sp>
        <p:sp>
          <p:nvSpPr>
            <p:cNvPr id="99" name="TextBox 99"/>
            <p:cNvSpPr txBox="1"/>
            <p:nvPr/>
          </p:nvSpPr>
          <p:spPr>
            <a:xfrm>
              <a:off x="1655890" y="5991939"/>
              <a:ext cx="2136521"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持续引进专业人才，吸引收拢型人才建立高效</a:t>
              </a:r>
            </a:p>
          </p:txBody>
        </p:sp>
        <p:sp>
          <p:nvSpPr>
            <p:cNvPr id="100" name="TextBox 100"/>
            <p:cNvSpPr txBox="1"/>
            <p:nvPr/>
          </p:nvSpPr>
          <p:spPr>
            <a:xfrm>
              <a:off x="1974939" y="6163389"/>
              <a:ext cx="1498422"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培训机制，培养各领域核心人才</a:t>
              </a:r>
            </a:p>
          </p:txBody>
        </p:sp>
        <p:sp>
          <p:nvSpPr>
            <p:cNvPr id="101" name="Rectangle 101"/>
            <p:cNvSpPr/>
            <p:nvPr/>
          </p:nvSpPr>
          <p:spPr>
            <a:xfrm>
              <a:off x="4552950" y="5581650"/>
              <a:ext cx="3467100" cy="933450"/>
            </a:xfrm>
            <a:prstGeom prst="roundRect">
              <a:avLst>
                <a:gd name="adj" fmla="val 4082"/>
              </a:avLst>
            </a:prstGeom>
            <a:solidFill>
              <a:srgbClr val="FFFFFF"/>
            </a:solidFill>
            <a:ln w="9525">
              <a:solidFill>
                <a:srgbClr val="D5D9F0"/>
              </a:solidFill>
            </a:ln>
          </p:spPr>
        </p:sp>
        <p:sp>
          <p:nvSpPr>
            <p:cNvPr id="102" name="TextBox 102"/>
            <p:cNvSpPr txBox="1"/>
            <p:nvPr/>
          </p:nvSpPr>
          <p:spPr>
            <a:xfrm>
              <a:off x="5885764" y="5724049"/>
              <a:ext cx="801472" cy="190690"/>
            </a:xfrm>
            <a:prstGeom prst="rect">
              <a:avLst/>
            </a:prstGeom>
            <a:noFill/>
            <a:ln>
              <a:noFill/>
            </a:ln>
          </p:spPr>
          <p:txBody>
            <a:bodyPr wrap="none" lIns="0" tIns="0" rIns="0" bIns="0" anchor="t" anchorCtr="0">
              <a:spAutoFit/>
            </a:bodyPr>
            <a:lstStyle/>
            <a:p>
              <a:pPr algn="ctr"/>
              <a:r>
                <a:rPr lang="zh-CN" sz="980" b="1" dirty="0">
                  <a:solidFill>
                    <a:srgbClr val="C1553F"/>
                  </a:solidFill>
                  <a:latin typeface="+mn-lt"/>
                  <a:ea typeface="+mn-ea"/>
                  <a:cs typeface="+mn-cs"/>
                </a:rPr>
                <a:t>协同创作机制</a:t>
              </a:r>
            </a:p>
          </p:txBody>
        </p:sp>
        <p:sp>
          <p:nvSpPr>
            <p:cNvPr id="103" name="TextBox 103"/>
            <p:cNvSpPr txBox="1"/>
            <p:nvPr/>
          </p:nvSpPr>
          <p:spPr>
            <a:xfrm>
              <a:off x="5271414" y="5991939"/>
              <a:ext cx="2030171"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通过组织机制设计，例如内容创作专项小组</a:t>
              </a:r>
            </a:p>
          </p:txBody>
        </p:sp>
        <p:sp>
          <p:nvSpPr>
            <p:cNvPr id="104" name="TextBox 104"/>
            <p:cNvSpPr txBox="1"/>
            <p:nvPr/>
          </p:nvSpPr>
          <p:spPr>
            <a:xfrm>
              <a:off x="5537289" y="6163389"/>
              <a:ext cx="1498422"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等强化协作精神及内容共创能力</a:t>
              </a:r>
            </a:p>
          </p:txBody>
        </p:sp>
        <p:sp>
          <p:nvSpPr>
            <p:cNvPr id="105" name="Rectangle 105"/>
            <p:cNvSpPr/>
            <p:nvPr/>
          </p:nvSpPr>
          <p:spPr>
            <a:xfrm>
              <a:off x="8115300" y="5581650"/>
              <a:ext cx="3467100" cy="933450"/>
            </a:xfrm>
            <a:prstGeom prst="roundRect">
              <a:avLst>
                <a:gd name="adj" fmla="val 4082"/>
              </a:avLst>
            </a:prstGeom>
            <a:solidFill>
              <a:srgbClr val="FFFFFF"/>
            </a:solidFill>
            <a:ln w="9525">
              <a:solidFill>
                <a:srgbClr val="D5D9F0"/>
              </a:solidFill>
            </a:ln>
          </p:spPr>
        </p:sp>
        <p:sp>
          <p:nvSpPr>
            <p:cNvPr id="106" name="TextBox 106"/>
            <p:cNvSpPr txBox="1"/>
            <p:nvPr/>
          </p:nvSpPr>
          <p:spPr>
            <a:xfrm>
              <a:off x="9316187" y="5724049"/>
              <a:ext cx="1065327" cy="190690"/>
            </a:xfrm>
            <a:prstGeom prst="rect">
              <a:avLst/>
            </a:prstGeom>
            <a:noFill/>
            <a:ln>
              <a:noFill/>
            </a:ln>
          </p:spPr>
          <p:txBody>
            <a:bodyPr wrap="none" lIns="0" tIns="0" rIns="0" bIns="0" anchor="t" anchorCtr="0">
              <a:spAutoFit/>
            </a:bodyPr>
            <a:lstStyle/>
            <a:p>
              <a:pPr algn="ctr"/>
              <a:r>
                <a:rPr lang="zh-CN" sz="980" b="1" dirty="0">
                  <a:solidFill>
                    <a:srgbClr val="C1553F"/>
                  </a:solidFill>
                  <a:latin typeface="+mn-lt"/>
                  <a:ea typeface="+mn-ea"/>
                  <a:cs typeface="+mn-cs"/>
                </a:rPr>
                <a:t>务实、高质量文化</a:t>
              </a:r>
            </a:p>
          </p:txBody>
        </p:sp>
        <p:sp>
          <p:nvSpPr>
            <p:cNvPr id="107" name="TextBox 107"/>
            <p:cNvSpPr txBox="1"/>
            <p:nvPr/>
          </p:nvSpPr>
          <p:spPr>
            <a:xfrm>
              <a:off x="9205989" y="5991939"/>
              <a:ext cx="128572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打造务实、高质量的文化，</a:t>
              </a:r>
            </a:p>
          </p:txBody>
        </p:sp>
        <p:sp>
          <p:nvSpPr>
            <p:cNvPr id="108" name="TextBox 108"/>
            <p:cNvSpPr txBox="1"/>
            <p:nvPr/>
          </p:nvSpPr>
          <p:spPr>
            <a:xfrm>
              <a:off x="9525038" y="6163389"/>
              <a:ext cx="647624" cy="154781"/>
            </a:xfrm>
            <a:prstGeom prst="rect">
              <a:avLst/>
            </a:prstGeom>
            <a:noFill/>
            <a:ln>
              <a:noFill/>
            </a:ln>
          </p:spPr>
          <p:txBody>
            <a:bodyPr wrap="none" lIns="0" tIns="0" rIns="0" bIns="0" anchor="t" anchorCtr="0">
              <a:spAutoFit/>
            </a:bodyPr>
            <a:lstStyle/>
            <a:p>
              <a:pPr algn="ctr"/>
              <a:r>
                <a:rPr lang="zh-CN" sz="790" b="1" dirty="0">
                  <a:solidFill>
                    <a:srgbClr val="C1553F"/>
                  </a:solidFill>
                  <a:latin typeface="+mn-lt"/>
                  <a:ea typeface="+mn-ea"/>
                  <a:cs typeface="+mn-cs"/>
                </a:rPr>
                <a:t>聚焦长期价值</a:t>
              </a:r>
            </a:p>
          </p:txBody>
        </p:sp>
      </p:gr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1633347" cy="440055"/>
            <a:chOff x="302895" y="214312"/>
            <a:chExt cx="1633347"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18.​</a:t>
              </a:r>
            </a:p>
          </p:txBody>
        </p:sp>
        <p:sp>
          <p:nvSpPr>
            <p:cNvPr id="3" name="TextBox 3"/>
            <p:cNvSpPr txBox="1"/>
            <p:nvPr/>
          </p:nvSpPr>
          <p:spPr>
            <a:xfrm>
              <a:off x="866394" y="246698"/>
              <a:ext cx="1069848"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全域营销</a:t>
              </a:r>
            </a:p>
          </p:txBody>
        </p:sp>
      </p:grpSp>
      <p:grpSp>
        <p:nvGrpSpPr>
          <p:cNvPr id="81" name="ring-diagram"/>
          <p:cNvGrpSpPr/>
          <p:nvPr/>
        </p:nvGrpSpPr>
        <p:grpSpPr>
          <a:xfrm>
            <a:off x="1714538" y="1255395"/>
            <a:ext cx="8096212" cy="3011805"/>
            <a:chOff x="1714538" y="1255395"/>
            <a:chExt cx="8096212" cy="3011805"/>
          </a:xfrm>
        </p:grpSpPr>
        <p:sp>
          <p:nvSpPr>
            <p:cNvPr id="5" name="Ellipse 5"/>
            <p:cNvSpPr/>
            <p:nvPr/>
          </p:nvSpPr>
          <p:spPr>
            <a:xfrm>
              <a:off x="2381250" y="1733550"/>
              <a:ext cx="3238500" cy="2247900"/>
            </a:xfrm>
            <a:prstGeom prst="ellipse">
              <a:avLst/>
            </a:prstGeom>
            <a:noFill/>
            <a:ln w="209550">
              <a:solidFill>
                <a:srgbClr val="D47D6B">
                  <a:alpha val="75000"/>
                </a:srgbClr>
              </a:solidFill>
            </a:ln>
          </p:spPr>
        </p:sp>
        <p:sp>
          <p:nvSpPr>
            <p:cNvPr id="6" name="Ellipse 6"/>
            <p:cNvSpPr/>
            <p:nvPr/>
          </p:nvSpPr>
          <p:spPr>
            <a:xfrm>
              <a:off x="6572250" y="1733550"/>
              <a:ext cx="3238500" cy="2247900"/>
            </a:xfrm>
            <a:prstGeom prst="ellipse">
              <a:avLst/>
            </a:prstGeom>
            <a:noFill/>
            <a:ln w="209550">
              <a:solidFill>
                <a:srgbClr val="ED8776">
                  <a:alpha val="75000"/>
                </a:srgbClr>
              </a:solidFill>
            </a:ln>
          </p:spPr>
        </p:sp>
        <p:sp>
          <p:nvSpPr>
            <p:cNvPr id="7" name="TextBox 7"/>
            <p:cNvSpPr txBox="1"/>
            <p:nvPr/>
          </p:nvSpPr>
          <p:spPr>
            <a:xfrm>
              <a:off x="3665220" y="2712720"/>
              <a:ext cx="670560" cy="469392"/>
            </a:xfrm>
            <a:prstGeom prst="rect">
              <a:avLst/>
            </a:prstGeom>
            <a:noFill/>
            <a:ln>
              <a:noFill/>
            </a:ln>
          </p:spPr>
          <p:txBody>
            <a:bodyPr wrap="none" lIns="0" tIns="0" rIns="0" bIns="0" anchor="t" anchorCtr="0">
              <a:spAutoFit/>
            </a:bodyPr>
            <a:lstStyle/>
            <a:p>
              <a:pPr algn="ctr"/>
              <a:r>
                <a:rPr lang="zh-CN" sz="2400" b="1" dirty="0">
                  <a:solidFill>
                    <a:srgbClr val="C1553F"/>
                  </a:solidFill>
                  <a:latin typeface="+mn-lt"/>
                  <a:ea typeface="+mn-ea"/>
                  <a:cs typeface="+mn-cs"/>
                </a:rPr>
                <a:t>公域</a:t>
              </a:r>
            </a:p>
          </p:txBody>
        </p:sp>
        <p:sp>
          <p:nvSpPr>
            <p:cNvPr id="8" name="TextBox 8"/>
            <p:cNvSpPr txBox="1"/>
            <p:nvPr/>
          </p:nvSpPr>
          <p:spPr>
            <a:xfrm>
              <a:off x="7856220" y="2712720"/>
              <a:ext cx="670560" cy="469392"/>
            </a:xfrm>
            <a:prstGeom prst="rect">
              <a:avLst/>
            </a:prstGeom>
            <a:noFill/>
            <a:ln>
              <a:noFill/>
            </a:ln>
          </p:spPr>
          <p:txBody>
            <a:bodyPr wrap="none" lIns="0" tIns="0" rIns="0" bIns="0" anchor="t" anchorCtr="0">
              <a:spAutoFit/>
            </a:bodyPr>
            <a:lstStyle/>
            <a:p>
              <a:pPr algn="ctr"/>
              <a:r>
                <a:rPr lang="zh-CN" sz="2400" b="1" dirty="0">
                  <a:solidFill>
                    <a:srgbClr val="E5624C"/>
                  </a:solidFill>
                  <a:latin typeface="+mn-lt"/>
                  <a:ea typeface="+mn-ea"/>
                  <a:cs typeface="+mn-cs"/>
                </a:rPr>
                <a:t>私域</a:t>
              </a:r>
            </a:p>
          </p:txBody>
        </p:sp>
        <p:sp>
          <p:nvSpPr>
            <p:cNvPr id="9" name="Ellipse 9"/>
            <p:cNvSpPr/>
            <p:nvPr/>
          </p:nvSpPr>
          <p:spPr>
            <a:xfrm>
              <a:off x="3457575" y="1390650"/>
              <a:ext cx="304800" cy="304800"/>
            </a:xfrm>
            <a:prstGeom prst="ellipse">
              <a:avLst/>
            </a:prstGeom>
            <a:solidFill>
              <a:srgbClr val="D47D6B"/>
            </a:solidFill>
            <a:ln>
              <a:noFill/>
            </a:ln>
          </p:spPr>
        </p:sp>
        <p:grpSp>
          <p:nvGrpSpPr>
            <p:cNvPr id="12" name="Group 12"/>
            <p:cNvGrpSpPr/>
            <p:nvPr/>
          </p:nvGrpSpPr>
          <p:grpSpPr>
            <a:xfrm>
              <a:off x="3552825" y="1504950"/>
              <a:ext cx="114300" cy="76200"/>
              <a:chOff x="3552825" y="1504950"/>
              <a:chExt cx="114300" cy="76200"/>
            </a:xfrm>
          </p:grpSpPr>
          <p:sp>
            <p:nvSpPr>
              <p:cNvPr id="10" name="Freeform 10"/>
              <p:cNvSpPr/>
              <p:nvPr/>
            </p:nvSpPr>
            <p:spPr>
              <a:xfrm>
                <a:off x="3629025" y="1514914"/>
                <a:ext cx="38100" cy="56272"/>
              </a:xfrm>
              <a:custGeom>
                <a:avLst/>
                <a:gdLst/>
                <a:ahLst/>
                <a:cxnLst/>
                <a:rect l="l" t="t" r="r" b="b"/>
                <a:pathLst>
                  <a:path w="38100" h="56272">
                    <a:moveTo>
                      <a:pt x="0" y="15436"/>
                    </a:moveTo>
                    <a:lnTo>
                      <a:pt x="28912" y="983"/>
                    </a:lnTo>
                    <a:cubicBezTo>
                      <a:pt x="30879" y="0"/>
                      <a:pt x="33216" y="105"/>
                      <a:pt x="35088" y="1262"/>
                    </a:cubicBezTo>
                    <a:cubicBezTo>
                      <a:pt x="36959" y="2418"/>
                      <a:pt x="38099" y="4460"/>
                      <a:pt x="38100" y="6660"/>
                    </a:cubicBezTo>
                    <a:lnTo>
                      <a:pt x="38100" y="49612"/>
                    </a:lnTo>
                    <a:cubicBezTo>
                      <a:pt x="38099" y="51812"/>
                      <a:pt x="36959" y="53854"/>
                      <a:pt x="35088" y="55010"/>
                    </a:cubicBezTo>
                    <a:cubicBezTo>
                      <a:pt x="33216" y="56167"/>
                      <a:pt x="30879" y="56272"/>
                      <a:pt x="28912" y="55289"/>
                    </a:cubicBezTo>
                    <a:lnTo>
                      <a:pt x="0" y="40836"/>
                    </a:lnTo>
                    <a:lnTo>
                      <a:pt x="0" y="15436"/>
                    </a:lnTo>
                  </a:path>
                </a:pathLst>
              </a:custGeom>
              <a:noFill/>
              <a:ln w="12700">
                <a:solidFill>
                  <a:srgbClr val="FFFFFF"/>
                </a:solidFill>
              </a:ln>
            </p:spPr>
          </p:sp>
          <p:sp>
            <p:nvSpPr>
              <p:cNvPr id="11" name="Freeform 11"/>
              <p:cNvSpPr/>
              <p:nvPr/>
            </p:nvSpPr>
            <p:spPr>
              <a:xfrm>
                <a:off x="3552825" y="1504950"/>
                <a:ext cx="76200" cy="76200"/>
              </a:xfrm>
              <a:custGeom>
                <a:avLst/>
                <a:gdLst/>
                <a:ahLst/>
                <a:cxnLst/>
                <a:rect l="l" t="t" r="r" b="b"/>
                <a:pathLst>
                  <a:path w="76200" h="76200">
                    <a:moveTo>
                      <a:pt x="0" y="12700"/>
                    </a:moveTo>
                    <a:cubicBezTo>
                      <a:pt x="0" y="5686"/>
                      <a:pt x="5686" y="0"/>
                      <a:pt x="12700" y="0"/>
                    </a:cubicBezTo>
                    <a:lnTo>
                      <a:pt x="63500" y="0"/>
                    </a:lnTo>
                    <a:cubicBezTo>
                      <a:pt x="70514" y="0"/>
                      <a:pt x="76200" y="5686"/>
                      <a:pt x="76200" y="12700"/>
                    </a:cubicBezTo>
                    <a:lnTo>
                      <a:pt x="76200" y="63500"/>
                    </a:lnTo>
                    <a:cubicBezTo>
                      <a:pt x="76200" y="70514"/>
                      <a:pt x="70514" y="76200"/>
                      <a:pt x="63500" y="76200"/>
                    </a:cubicBezTo>
                    <a:lnTo>
                      <a:pt x="12700" y="76200"/>
                    </a:lnTo>
                    <a:cubicBezTo>
                      <a:pt x="5686" y="76200"/>
                      <a:pt x="0" y="70514"/>
                      <a:pt x="0" y="63500"/>
                    </a:cubicBezTo>
                    <a:lnTo>
                      <a:pt x="0" y="12700"/>
                    </a:lnTo>
                  </a:path>
                </a:pathLst>
              </a:custGeom>
              <a:noFill/>
              <a:ln w="12700">
                <a:solidFill>
                  <a:srgbClr val="FFFFFF"/>
                </a:solidFill>
              </a:ln>
            </p:spPr>
          </p:sp>
        </p:grpSp>
        <p:sp>
          <p:nvSpPr>
            <p:cNvPr id="13" name="TextBox 13"/>
            <p:cNvSpPr txBox="1"/>
            <p:nvPr/>
          </p:nvSpPr>
          <p:spPr>
            <a:xfrm>
              <a:off x="2174938" y="1388745"/>
              <a:ext cx="736473"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视频音乐平台</a:t>
              </a:r>
            </a:p>
          </p:txBody>
        </p:sp>
        <p:sp>
          <p:nvSpPr>
            <p:cNvPr id="14" name="Ellipse 14"/>
            <p:cNvSpPr/>
            <p:nvPr/>
          </p:nvSpPr>
          <p:spPr>
            <a:xfrm>
              <a:off x="4648200" y="1562100"/>
              <a:ext cx="304800" cy="304800"/>
            </a:xfrm>
            <a:prstGeom prst="ellipse">
              <a:avLst/>
            </a:prstGeom>
            <a:solidFill>
              <a:srgbClr val="D47D6B"/>
            </a:solidFill>
            <a:ln>
              <a:noFill/>
            </a:ln>
          </p:spPr>
        </p:sp>
        <p:sp>
          <p:nvSpPr>
            <p:cNvPr id="15" name="Freeform 15"/>
            <p:cNvSpPr/>
            <p:nvPr/>
          </p:nvSpPr>
          <p:spPr>
            <a:xfrm>
              <a:off x="4736948" y="165877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FFFFFF"/>
              </a:solidFill>
            </a:ln>
          </p:spPr>
        </p:sp>
        <p:sp>
          <p:nvSpPr>
            <p:cNvPr id="16" name="TextBox 16"/>
            <p:cNvSpPr txBox="1"/>
            <p:nvPr/>
          </p:nvSpPr>
          <p:spPr>
            <a:xfrm>
              <a:off x="4492942" y="1293495"/>
              <a:ext cx="615315"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社交类平台</a:t>
              </a:r>
            </a:p>
          </p:txBody>
        </p:sp>
        <p:sp>
          <p:nvSpPr>
            <p:cNvPr id="17" name="Ellipse 17"/>
            <p:cNvSpPr/>
            <p:nvPr/>
          </p:nvSpPr>
          <p:spPr>
            <a:xfrm>
              <a:off x="2724150" y="1895475"/>
              <a:ext cx="304800" cy="304800"/>
            </a:xfrm>
            <a:prstGeom prst="ellipse">
              <a:avLst/>
            </a:prstGeom>
            <a:solidFill>
              <a:srgbClr val="D47D6B"/>
            </a:solidFill>
            <a:ln>
              <a:noFill/>
            </a:ln>
          </p:spPr>
        </p:sp>
        <p:grpSp>
          <p:nvGrpSpPr>
            <p:cNvPr id="22" name="Group 22"/>
            <p:cNvGrpSpPr/>
            <p:nvPr/>
          </p:nvGrpSpPr>
          <p:grpSpPr>
            <a:xfrm>
              <a:off x="2825750" y="1990725"/>
              <a:ext cx="101600" cy="114300"/>
              <a:chOff x="2825750" y="1990725"/>
              <a:chExt cx="101600" cy="114300"/>
            </a:xfrm>
          </p:grpSpPr>
          <p:sp>
            <p:nvSpPr>
              <p:cNvPr id="18" name="Freeform 18"/>
              <p:cNvSpPr/>
              <p:nvPr/>
            </p:nvSpPr>
            <p:spPr>
              <a:xfrm>
                <a:off x="2825750" y="20796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9" name="Freeform 19"/>
              <p:cNvSpPr/>
              <p:nvPr/>
            </p:nvSpPr>
            <p:spPr>
              <a:xfrm>
                <a:off x="2895600" y="20796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20" name="Freeform 20"/>
              <p:cNvSpPr/>
              <p:nvPr/>
            </p:nvSpPr>
            <p:spPr>
              <a:xfrm>
                <a:off x="2825750" y="1990725"/>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FFFFFF"/>
                </a:solidFill>
              </a:ln>
            </p:spPr>
          </p:sp>
          <p:sp>
            <p:nvSpPr>
              <p:cNvPr id="21" name="Freeform 21"/>
              <p:cNvSpPr/>
              <p:nvPr/>
            </p:nvSpPr>
            <p:spPr>
              <a:xfrm>
                <a:off x="2838450" y="2003425"/>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FFFFFF"/>
                </a:solidFill>
              </a:ln>
            </p:spPr>
          </p:sp>
        </p:grpSp>
        <p:sp>
          <p:nvSpPr>
            <p:cNvPr id="23" name="TextBox 23"/>
            <p:cNvSpPr txBox="1"/>
            <p:nvPr/>
          </p:nvSpPr>
          <p:spPr>
            <a:xfrm>
              <a:off x="1934146" y="1998345"/>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电商平台</a:t>
              </a:r>
            </a:p>
          </p:txBody>
        </p:sp>
        <p:sp>
          <p:nvSpPr>
            <p:cNvPr id="24" name="Ellipse 24"/>
            <p:cNvSpPr/>
            <p:nvPr/>
          </p:nvSpPr>
          <p:spPr>
            <a:xfrm>
              <a:off x="2447925" y="2724150"/>
              <a:ext cx="304800" cy="304800"/>
            </a:xfrm>
            <a:prstGeom prst="ellipse">
              <a:avLst/>
            </a:prstGeom>
            <a:solidFill>
              <a:srgbClr val="D47D6B"/>
            </a:solidFill>
            <a:ln>
              <a:noFill/>
            </a:ln>
          </p:spPr>
        </p:sp>
        <p:grpSp>
          <p:nvGrpSpPr>
            <p:cNvPr id="28" name="Group 28"/>
            <p:cNvGrpSpPr/>
            <p:nvPr/>
          </p:nvGrpSpPr>
          <p:grpSpPr>
            <a:xfrm>
              <a:off x="2562225" y="2819400"/>
              <a:ext cx="76200" cy="114300"/>
              <a:chOff x="2562225" y="2819400"/>
              <a:chExt cx="76200" cy="114300"/>
            </a:xfrm>
          </p:grpSpPr>
          <p:sp>
            <p:nvSpPr>
              <p:cNvPr id="25" name="Freeform 25"/>
              <p:cNvSpPr/>
              <p:nvPr/>
            </p:nvSpPr>
            <p:spPr>
              <a:xfrm>
                <a:off x="2562225" y="281940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FFFFFF"/>
                </a:solidFill>
              </a:ln>
            </p:spPr>
          </p:sp>
          <p:sp>
            <p:nvSpPr>
              <p:cNvPr id="26" name="Freeform 26"/>
              <p:cNvSpPr/>
              <p:nvPr/>
            </p:nvSpPr>
            <p:spPr>
              <a:xfrm>
                <a:off x="2593975" y="2825750"/>
                <a:ext cx="12700" cy="9525"/>
              </a:xfrm>
              <a:custGeom>
                <a:avLst/>
                <a:gdLst/>
                <a:ahLst/>
                <a:cxnLst/>
                <a:rect l="l" t="t" r="r" b="b"/>
                <a:pathLst>
                  <a:path w="12700" h="9525">
                    <a:moveTo>
                      <a:pt x="0" y="0"/>
                    </a:moveTo>
                    <a:lnTo>
                      <a:pt x="12700" y="0"/>
                    </a:lnTo>
                  </a:path>
                </a:pathLst>
              </a:custGeom>
              <a:noFill/>
              <a:ln w="12700">
                <a:solidFill>
                  <a:srgbClr val="FFFFFF"/>
                </a:solidFill>
              </a:ln>
            </p:spPr>
          </p:sp>
          <p:sp>
            <p:nvSpPr>
              <p:cNvPr id="27" name="Freeform 27"/>
              <p:cNvSpPr/>
              <p:nvPr/>
            </p:nvSpPr>
            <p:spPr>
              <a:xfrm>
                <a:off x="2600325" y="2908300"/>
                <a:ext cx="9525" cy="9525"/>
              </a:xfrm>
              <a:custGeom>
                <a:avLst/>
                <a:gdLst/>
                <a:ahLst/>
                <a:cxnLst/>
                <a:rect l="l" t="t" r="r" b="b"/>
                <a:pathLst>
                  <a:path w="9525" h="9525">
                    <a:moveTo>
                      <a:pt x="0" y="0"/>
                    </a:moveTo>
                    <a:lnTo>
                      <a:pt x="0" y="64"/>
                    </a:lnTo>
                  </a:path>
                </a:pathLst>
              </a:custGeom>
              <a:noFill/>
              <a:ln w="12700">
                <a:solidFill>
                  <a:srgbClr val="FFFFFF"/>
                </a:solidFill>
              </a:ln>
            </p:spPr>
          </p:sp>
        </p:grpSp>
        <p:sp>
          <p:nvSpPr>
            <p:cNvPr id="29" name="TextBox 29"/>
            <p:cNvSpPr txBox="1"/>
            <p:nvPr/>
          </p:nvSpPr>
          <p:spPr>
            <a:xfrm>
              <a:off x="1714538" y="2827020"/>
              <a:ext cx="514274"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Q2O平台</a:t>
              </a:r>
            </a:p>
          </p:txBody>
        </p:sp>
        <p:sp>
          <p:nvSpPr>
            <p:cNvPr id="30" name="Ellipse 30"/>
            <p:cNvSpPr/>
            <p:nvPr/>
          </p:nvSpPr>
          <p:spPr>
            <a:xfrm>
              <a:off x="2724150" y="3486150"/>
              <a:ext cx="304800" cy="304800"/>
            </a:xfrm>
            <a:prstGeom prst="ellipse">
              <a:avLst/>
            </a:prstGeom>
            <a:solidFill>
              <a:srgbClr val="D47D6B"/>
            </a:solidFill>
            <a:ln>
              <a:noFill/>
            </a:ln>
          </p:spPr>
        </p:sp>
        <p:grpSp>
          <p:nvGrpSpPr>
            <p:cNvPr id="33" name="Group 33"/>
            <p:cNvGrpSpPr/>
            <p:nvPr/>
          </p:nvGrpSpPr>
          <p:grpSpPr>
            <a:xfrm>
              <a:off x="2819400" y="3581400"/>
              <a:ext cx="114300" cy="114300"/>
              <a:chOff x="2819400" y="3581400"/>
              <a:chExt cx="114300" cy="114300"/>
            </a:xfrm>
          </p:grpSpPr>
          <p:sp>
            <p:nvSpPr>
              <p:cNvPr id="31" name="Freeform 31"/>
              <p:cNvSpPr/>
              <p:nvPr/>
            </p:nvSpPr>
            <p:spPr>
              <a:xfrm>
                <a:off x="2819400" y="358140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FFFFFF"/>
                </a:solidFill>
              </a:ln>
            </p:spPr>
          </p:sp>
          <p:sp>
            <p:nvSpPr>
              <p:cNvPr id="32" name="Freeform 32"/>
              <p:cNvSpPr/>
              <p:nvPr/>
            </p:nvSpPr>
            <p:spPr>
              <a:xfrm>
                <a:off x="2895600" y="3657600"/>
                <a:ext cx="38100" cy="38100"/>
              </a:xfrm>
              <a:custGeom>
                <a:avLst/>
                <a:gdLst/>
                <a:ahLst/>
                <a:cxnLst/>
                <a:rect l="l" t="t" r="r" b="b"/>
                <a:pathLst>
                  <a:path w="38100" h="38100">
                    <a:moveTo>
                      <a:pt x="38100" y="38100"/>
                    </a:moveTo>
                    <a:lnTo>
                      <a:pt x="0" y="0"/>
                    </a:lnTo>
                  </a:path>
                </a:pathLst>
              </a:custGeom>
              <a:noFill/>
              <a:ln w="12700">
                <a:solidFill>
                  <a:srgbClr val="FFFFFF"/>
                </a:solidFill>
              </a:ln>
            </p:spPr>
          </p:sp>
        </p:grpSp>
        <p:sp>
          <p:nvSpPr>
            <p:cNvPr id="34" name="TextBox 34"/>
            <p:cNvSpPr txBox="1"/>
            <p:nvPr/>
          </p:nvSpPr>
          <p:spPr>
            <a:xfrm>
              <a:off x="1943672" y="3589020"/>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搜索引擎</a:t>
              </a:r>
            </a:p>
          </p:txBody>
        </p:sp>
        <p:sp>
          <p:nvSpPr>
            <p:cNvPr id="35" name="Ellipse 35"/>
            <p:cNvSpPr/>
            <p:nvPr/>
          </p:nvSpPr>
          <p:spPr>
            <a:xfrm>
              <a:off x="3571875" y="3962400"/>
              <a:ext cx="304800" cy="304800"/>
            </a:xfrm>
            <a:prstGeom prst="ellipse">
              <a:avLst/>
            </a:prstGeom>
            <a:solidFill>
              <a:srgbClr val="D47D6B"/>
            </a:solidFill>
            <a:ln>
              <a:noFill/>
            </a:ln>
          </p:spPr>
        </p:sp>
        <p:grpSp>
          <p:nvGrpSpPr>
            <p:cNvPr id="39" name="Group 39"/>
            <p:cNvGrpSpPr/>
            <p:nvPr/>
          </p:nvGrpSpPr>
          <p:grpSpPr>
            <a:xfrm>
              <a:off x="3667125" y="4057650"/>
              <a:ext cx="114300" cy="114300"/>
              <a:chOff x="3667125" y="4057650"/>
              <a:chExt cx="114300" cy="114300"/>
            </a:xfrm>
          </p:grpSpPr>
          <p:sp>
            <p:nvSpPr>
              <p:cNvPr id="36" name="Freeform 36"/>
              <p:cNvSpPr/>
              <p:nvPr/>
            </p:nvSpPr>
            <p:spPr>
              <a:xfrm>
                <a:off x="3667125" y="4057650"/>
                <a:ext cx="114300" cy="57150"/>
              </a:xfrm>
              <a:custGeom>
                <a:avLst/>
                <a:gdLst/>
                <a:ahLst/>
                <a:cxnLst/>
                <a:rect l="l" t="t" r="r" b="b"/>
                <a:pathLst>
                  <a:path w="114300" h="57150">
                    <a:moveTo>
                      <a:pt x="12700" y="57150"/>
                    </a:moveTo>
                    <a:lnTo>
                      <a:pt x="0" y="57150"/>
                    </a:lnTo>
                    <a:lnTo>
                      <a:pt x="57150" y="0"/>
                    </a:lnTo>
                    <a:lnTo>
                      <a:pt x="114300" y="57150"/>
                    </a:lnTo>
                    <a:lnTo>
                      <a:pt x="101600" y="57150"/>
                    </a:lnTo>
                  </a:path>
                </a:pathLst>
              </a:custGeom>
              <a:noFill/>
              <a:ln w="12700">
                <a:solidFill>
                  <a:srgbClr val="FFFFFF"/>
                </a:solidFill>
              </a:ln>
            </p:spPr>
          </p:sp>
          <p:sp>
            <p:nvSpPr>
              <p:cNvPr id="37" name="Freeform 37"/>
              <p:cNvSpPr/>
              <p:nvPr/>
            </p:nvSpPr>
            <p:spPr>
              <a:xfrm>
                <a:off x="3679825" y="4114800"/>
                <a:ext cx="88900" cy="57150"/>
              </a:xfrm>
              <a:custGeom>
                <a:avLst/>
                <a:gdLst/>
                <a:ahLst/>
                <a:cxnLst/>
                <a:rect l="l" t="t" r="r" b="b"/>
                <a:pathLst>
                  <a:path w="88900" h="57150">
                    <a:moveTo>
                      <a:pt x="0" y="0"/>
                    </a:moveTo>
                    <a:lnTo>
                      <a:pt x="0" y="44450"/>
                    </a:lnTo>
                    <a:cubicBezTo>
                      <a:pt x="0" y="51464"/>
                      <a:pt x="5686" y="57150"/>
                      <a:pt x="12700" y="57150"/>
                    </a:cubicBezTo>
                    <a:lnTo>
                      <a:pt x="76200" y="57150"/>
                    </a:lnTo>
                    <a:cubicBezTo>
                      <a:pt x="83214" y="57150"/>
                      <a:pt x="88900" y="51464"/>
                      <a:pt x="88900" y="44450"/>
                    </a:cubicBezTo>
                    <a:lnTo>
                      <a:pt x="88900" y="0"/>
                    </a:lnTo>
                  </a:path>
                </a:pathLst>
              </a:custGeom>
              <a:noFill/>
              <a:ln w="12700">
                <a:solidFill>
                  <a:srgbClr val="FFFFFF"/>
                </a:solidFill>
              </a:ln>
            </p:spPr>
          </p:sp>
          <p:sp>
            <p:nvSpPr>
              <p:cNvPr id="38" name="Freeform 38"/>
              <p:cNvSpPr/>
              <p:nvPr/>
            </p:nvSpPr>
            <p:spPr>
              <a:xfrm>
                <a:off x="3705225" y="4121150"/>
                <a:ext cx="38100" cy="50800"/>
              </a:xfrm>
              <a:custGeom>
                <a:avLst/>
                <a:gdLst/>
                <a:ahLst/>
                <a:cxnLst/>
                <a:rect l="l" t="t" r="r" b="b"/>
                <a:pathLst>
                  <a:path w="38100" h="50800">
                    <a:moveTo>
                      <a:pt x="0" y="50800"/>
                    </a:moveTo>
                    <a:lnTo>
                      <a:pt x="0" y="12700"/>
                    </a:lnTo>
                    <a:cubicBezTo>
                      <a:pt x="0" y="5686"/>
                      <a:pt x="5686" y="0"/>
                      <a:pt x="12700" y="0"/>
                    </a:cubicBezTo>
                    <a:lnTo>
                      <a:pt x="25400" y="0"/>
                    </a:lnTo>
                    <a:cubicBezTo>
                      <a:pt x="32414" y="0"/>
                      <a:pt x="38100" y="5686"/>
                      <a:pt x="38100" y="12700"/>
                    </a:cubicBezTo>
                    <a:lnTo>
                      <a:pt x="38100" y="50800"/>
                    </a:lnTo>
                  </a:path>
                </a:pathLst>
              </a:custGeom>
              <a:noFill/>
              <a:ln w="12700">
                <a:solidFill>
                  <a:srgbClr val="FFFFFF"/>
                </a:solidFill>
              </a:ln>
            </p:spPr>
          </p:sp>
        </p:grpSp>
        <p:sp>
          <p:nvSpPr>
            <p:cNvPr id="40" name="TextBox 40"/>
            <p:cNvSpPr txBox="1"/>
            <p:nvPr/>
          </p:nvSpPr>
          <p:spPr>
            <a:xfrm>
              <a:off x="2403538" y="4065270"/>
              <a:ext cx="736473"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生活服务平台</a:t>
              </a:r>
            </a:p>
          </p:txBody>
        </p:sp>
        <p:sp>
          <p:nvSpPr>
            <p:cNvPr id="41" name="Ellipse 41"/>
            <p:cNvSpPr/>
            <p:nvPr/>
          </p:nvSpPr>
          <p:spPr>
            <a:xfrm>
              <a:off x="7467600" y="1485900"/>
              <a:ext cx="304800" cy="304800"/>
            </a:xfrm>
            <a:prstGeom prst="ellipse">
              <a:avLst/>
            </a:prstGeom>
            <a:solidFill>
              <a:srgbClr val="ED8776"/>
            </a:solidFill>
            <a:ln>
              <a:noFill/>
            </a:ln>
          </p:spPr>
        </p:sp>
        <p:grpSp>
          <p:nvGrpSpPr>
            <p:cNvPr id="45" name="Group 45"/>
            <p:cNvGrpSpPr/>
            <p:nvPr/>
          </p:nvGrpSpPr>
          <p:grpSpPr>
            <a:xfrm>
              <a:off x="7581900" y="1581150"/>
              <a:ext cx="76200" cy="114300"/>
              <a:chOff x="7581900" y="1581150"/>
              <a:chExt cx="76200" cy="114300"/>
            </a:xfrm>
          </p:grpSpPr>
          <p:sp>
            <p:nvSpPr>
              <p:cNvPr id="42" name="Freeform 42"/>
              <p:cNvSpPr/>
              <p:nvPr/>
            </p:nvSpPr>
            <p:spPr>
              <a:xfrm>
                <a:off x="7581900" y="158115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FFFFFF"/>
                </a:solidFill>
              </a:ln>
            </p:spPr>
          </p:sp>
          <p:sp>
            <p:nvSpPr>
              <p:cNvPr id="43" name="Freeform 43"/>
              <p:cNvSpPr/>
              <p:nvPr/>
            </p:nvSpPr>
            <p:spPr>
              <a:xfrm>
                <a:off x="7613650" y="1587500"/>
                <a:ext cx="12700" cy="9525"/>
              </a:xfrm>
              <a:custGeom>
                <a:avLst/>
                <a:gdLst/>
                <a:ahLst/>
                <a:cxnLst/>
                <a:rect l="l" t="t" r="r" b="b"/>
                <a:pathLst>
                  <a:path w="12700" h="9525">
                    <a:moveTo>
                      <a:pt x="0" y="0"/>
                    </a:moveTo>
                    <a:lnTo>
                      <a:pt x="12700" y="0"/>
                    </a:lnTo>
                  </a:path>
                </a:pathLst>
              </a:custGeom>
              <a:noFill/>
              <a:ln w="12700">
                <a:solidFill>
                  <a:srgbClr val="FFFFFF"/>
                </a:solidFill>
              </a:ln>
            </p:spPr>
          </p:sp>
          <p:sp>
            <p:nvSpPr>
              <p:cNvPr id="44" name="Freeform 44"/>
              <p:cNvSpPr/>
              <p:nvPr/>
            </p:nvSpPr>
            <p:spPr>
              <a:xfrm>
                <a:off x="7620000" y="1670050"/>
                <a:ext cx="9525" cy="9525"/>
              </a:xfrm>
              <a:custGeom>
                <a:avLst/>
                <a:gdLst/>
                <a:ahLst/>
                <a:cxnLst/>
                <a:rect l="l" t="t" r="r" b="b"/>
                <a:pathLst>
                  <a:path w="9525" h="9525">
                    <a:moveTo>
                      <a:pt x="0" y="0"/>
                    </a:moveTo>
                    <a:lnTo>
                      <a:pt x="0" y="64"/>
                    </a:lnTo>
                  </a:path>
                </a:pathLst>
              </a:custGeom>
              <a:noFill/>
              <a:ln w="12700">
                <a:solidFill>
                  <a:srgbClr val="FFFFFF"/>
                </a:solidFill>
              </a:ln>
            </p:spPr>
          </p:sp>
        </p:grpSp>
        <p:sp>
          <p:nvSpPr>
            <p:cNvPr id="46" name="TextBox 46"/>
            <p:cNvSpPr txBox="1"/>
            <p:nvPr/>
          </p:nvSpPr>
          <p:spPr>
            <a:xfrm>
              <a:off x="7433500" y="1255395"/>
              <a:ext cx="372999"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小程序</a:t>
              </a:r>
            </a:p>
          </p:txBody>
        </p:sp>
        <p:sp>
          <p:nvSpPr>
            <p:cNvPr id="47" name="Ellipse 47"/>
            <p:cNvSpPr/>
            <p:nvPr/>
          </p:nvSpPr>
          <p:spPr>
            <a:xfrm>
              <a:off x="8324850" y="1390650"/>
              <a:ext cx="304800" cy="304800"/>
            </a:xfrm>
            <a:prstGeom prst="ellipse">
              <a:avLst/>
            </a:prstGeom>
            <a:solidFill>
              <a:srgbClr val="ED8776"/>
            </a:solidFill>
            <a:ln>
              <a:noFill/>
            </a:ln>
          </p:spPr>
        </p:sp>
        <p:grpSp>
          <p:nvGrpSpPr>
            <p:cNvPr id="51" name="Group 51"/>
            <p:cNvGrpSpPr/>
            <p:nvPr/>
          </p:nvGrpSpPr>
          <p:grpSpPr>
            <a:xfrm>
              <a:off x="8420100" y="1485900"/>
              <a:ext cx="114300" cy="114300"/>
              <a:chOff x="8420100" y="1485900"/>
              <a:chExt cx="114300" cy="114300"/>
            </a:xfrm>
          </p:grpSpPr>
          <p:sp>
            <p:nvSpPr>
              <p:cNvPr id="48" name="Freeform 48"/>
              <p:cNvSpPr/>
              <p:nvPr/>
            </p:nvSpPr>
            <p:spPr>
              <a:xfrm>
                <a:off x="8420100" y="1485900"/>
                <a:ext cx="114300" cy="57150"/>
              </a:xfrm>
              <a:custGeom>
                <a:avLst/>
                <a:gdLst/>
                <a:ahLst/>
                <a:cxnLst/>
                <a:rect l="l" t="t" r="r" b="b"/>
                <a:pathLst>
                  <a:path w="114300" h="57150">
                    <a:moveTo>
                      <a:pt x="12700" y="57150"/>
                    </a:moveTo>
                    <a:lnTo>
                      <a:pt x="0" y="57150"/>
                    </a:lnTo>
                    <a:lnTo>
                      <a:pt x="57150" y="0"/>
                    </a:lnTo>
                    <a:lnTo>
                      <a:pt x="114300" y="57150"/>
                    </a:lnTo>
                    <a:lnTo>
                      <a:pt x="101600" y="57150"/>
                    </a:lnTo>
                  </a:path>
                </a:pathLst>
              </a:custGeom>
              <a:noFill/>
              <a:ln w="12700">
                <a:solidFill>
                  <a:srgbClr val="FFFFFF"/>
                </a:solidFill>
              </a:ln>
            </p:spPr>
          </p:sp>
          <p:sp>
            <p:nvSpPr>
              <p:cNvPr id="49" name="Freeform 49"/>
              <p:cNvSpPr/>
              <p:nvPr/>
            </p:nvSpPr>
            <p:spPr>
              <a:xfrm>
                <a:off x="8432800" y="1543050"/>
                <a:ext cx="88900" cy="57150"/>
              </a:xfrm>
              <a:custGeom>
                <a:avLst/>
                <a:gdLst/>
                <a:ahLst/>
                <a:cxnLst/>
                <a:rect l="l" t="t" r="r" b="b"/>
                <a:pathLst>
                  <a:path w="88900" h="57150">
                    <a:moveTo>
                      <a:pt x="0" y="0"/>
                    </a:moveTo>
                    <a:lnTo>
                      <a:pt x="0" y="44450"/>
                    </a:lnTo>
                    <a:cubicBezTo>
                      <a:pt x="0" y="51464"/>
                      <a:pt x="5686" y="57150"/>
                      <a:pt x="12700" y="57150"/>
                    </a:cubicBezTo>
                    <a:lnTo>
                      <a:pt x="76200" y="57150"/>
                    </a:lnTo>
                    <a:cubicBezTo>
                      <a:pt x="83214" y="57150"/>
                      <a:pt x="88900" y="51464"/>
                      <a:pt x="88900" y="44450"/>
                    </a:cubicBezTo>
                    <a:lnTo>
                      <a:pt x="88900" y="0"/>
                    </a:lnTo>
                  </a:path>
                </a:pathLst>
              </a:custGeom>
              <a:noFill/>
              <a:ln w="12700">
                <a:solidFill>
                  <a:srgbClr val="FFFFFF"/>
                </a:solidFill>
              </a:ln>
            </p:spPr>
          </p:sp>
          <p:sp>
            <p:nvSpPr>
              <p:cNvPr id="50" name="Freeform 50"/>
              <p:cNvSpPr/>
              <p:nvPr/>
            </p:nvSpPr>
            <p:spPr>
              <a:xfrm>
                <a:off x="8458200" y="1549400"/>
                <a:ext cx="38100" cy="50800"/>
              </a:xfrm>
              <a:custGeom>
                <a:avLst/>
                <a:gdLst/>
                <a:ahLst/>
                <a:cxnLst/>
                <a:rect l="l" t="t" r="r" b="b"/>
                <a:pathLst>
                  <a:path w="38100" h="50800">
                    <a:moveTo>
                      <a:pt x="0" y="50800"/>
                    </a:moveTo>
                    <a:lnTo>
                      <a:pt x="0" y="12700"/>
                    </a:lnTo>
                    <a:cubicBezTo>
                      <a:pt x="0" y="5686"/>
                      <a:pt x="5686" y="0"/>
                      <a:pt x="12700" y="0"/>
                    </a:cubicBezTo>
                    <a:lnTo>
                      <a:pt x="25400" y="0"/>
                    </a:lnTo>
                    <a:cubicBezTo>
                      <a:pt x="32414" y="0"/>
                      <a:pt x="38100" y="5686"/>
                      <a:pt x="38100" y="12700"/>
                    </a:cubicBezTo>
                    <a:lnTo>
                      <a:pt x="38100" y="50800"/>
                    </a:lnTo>
                  </a:path>
                </a:pathLst>
              </a:custGeom>
              <a:noFill/>
              <a:ln w="12700">
                <a:solidFill>
                  <a:srgbClr val="FFFFFF"/>
                </a:solidFill>
              </a:ln>
            </p:spPr>
          </p:sp>
        </p:grpSp>
        <p:sp>
          <p:nvSpPr>
            <p:cNvPr id="52" name="TextBox 52"/>
            <p:cNvSpPr txBox="1"/>
            <p:nvPr/>
          </p:nvSpPr>
          <p:spPr>
            <a:xfrm>
              <a:off x="8891588" y="1493520"/>
              <a:ext cx="251841"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店铺</a:t>
              </a:r>
            </a:p>
          </p:txBody>
        </p:sp>
        <p:sp>
          <p:nvSpPr>
            <p:cNvPr id="53" name="Ellipse 53"/>
            <p:cNvSpPr/>
            <p:nvPr/>
          </p:nvSpPr>
          <p:spPr>
            <a:xfrm>
              <a:off x="8943975" y="2105025"/>
              <a:ext cx="304800" cy="304800"/>
            </a:xfrm>
            <a:prstGeom prst="ellipse">
              <a:avLst/>
            </a:prstGeom>
            <a:solidFill>
              <a:srgbClr val="ED8776"/>
            </a:solidFill>
            <a:ln>
              <a:noFill/>
            </a:ln>
          </p:spPr>
        </p:sp>
        <p:sp>
          <p:nvSpPr>
            <p:cNvPr id="54" name="Freeform 54"/>
            <p:cNvSpPr/>
            <p:nvPr/>
          </p:nvSpPr>
          <p:spPr>
            <a:xfrm>
              <a:off x="9032723" y="2201704"/>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FFFFFF"/>
              </a:solidFill>
            </a:ln>
          </p:spPr>
        </p:sp>
        <p:sp>
          <p:nvSpPr>
            <p:cNvPr id="55" name="TextBox 55"/>
            <p:cNvSpPr txBox="1"/>
            <p:nvPr/>
          </p:nvSpPr>
          <p:spPr>
            <a:xfrm>
              <a:off x="9320212" y="2207895"/>
              <a:ext cx="251841"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群聊</a:t>
              </a:r>
            </a:p>
          </p:txBody>
        </p:sp>
        <p:sp>
          <p:nvSpPr>
            <p:cNvPr id="56" name="Ellipse 56"/>
            <p:cNvSpPr/>
            <p:nvPr/>
          </p:nvSpPr>
          <p:spPr>
            <a:xfrm>
              <a:off x="9010650" y="2819400"/>
              <a:ext cx="304800" cy="304800"/>
            </a:xfrm>
            <a:prstGeom prst="ellipse">
              <a:avLst/>
            </a:prstGeom>
            <a:solidFill>
              <a:srgbClr val="ED8776"/>
            </a:solidFill>
            <a:ln>
              <a:noFill/>
            </a:ln>
          </p:spPr>
        </p:sp>
        <p:grpSp>
          <p:nvGrpSpPr>
            <p:cNvPr id="61" name="Group 61"/>
            <p:cNvGrpSpPr/>
            <p:nvPr/>
          </p:nvGrpSpPr>
          <p:grpSpPr>
            <a:xfrm>
              <a:off x="9105900" y="2914650"/>
              <a:ext cx="114300" cy="114301"/>
              <a:chOff x="9105900" y="2914650"/>
              <a:chExt cx="114300" cy="114301"/>
            </a:xfrm>
          </p:grpSpPr>
          <p:sp>
            <p:nvSpPr>
              <p:cNvPr id="57" name="Freeform 57"/>
              <p:cNvSpPr/>
              <p:nvPr/>
            </p:nvSpPr>
            <p:spPr>
              <a:xfrm>
                <a:off x="9118600" y="29146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58" name="Freeform 58"/>
              <p:cNvSpPr/>
              <p:nvPr/>
            </p:nvSpPr>
            <p:spPr>
              <a:xfrm>
                <a:off x="9105900" y="29908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59" name="Freeform 59"/>
              <p:cNvSpPr/>
              <p:nvPr/>
            </p:nvSpPr>
            <p:spPr>
              <a:xfrm>
                <a:off x="9188450" y="29154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60" name="Freeform 60"/>
              <p:cNvSpPr/>
              <p:nvPr/>
            </p:nvSpPr>
            <p:spPr>
              <a:xfrm>
                <a:off x="9201150" y="29918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62" name="TextBox 62"/>
            <p:cNvSpPr txBox="1"/>
            <p:nvPr/>
          </p:nvSpPr>
          <p:spPr>
            <a:xfrm>
              <a:off x="9386888" y="2922270"/>
              <a:ext cx="251841"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客服</a:t>
              </a:r>
            </a:p>
          </p:txBody>
        </p:sp>
        <p:sp>
          <p:nvSpPr>
            <p:cNvPr id="63" name="Ellipse 63"/>
            <p:cNvSpPr/>
            <p:nvPr/>
          </p:nvSpPr>
          <p:spPr>
            <a:xfrm>
              <a:off x="8896350" y="3533775"/>
              <a:ext cx="304800" cy="304800"/>
            </a:xfrm>
            <a:prstGeom prst="ellipse">
              <a:avLst/>
            </a:prstGeom>
            <a:solidFill>
              <a:srgbClr val="ED8776"/>
            </a:solidFill>
            <a:ln>
              <a:noFill/>
            </a:ln>
          </p:spPr>
        </p:sp>
        <p:grpSp>
          <p:nvGrpSpPr>
            <p:cNvPr id="68" name="Group 68"/>
            <p:cNvGrpSpPr/>
            <p:nvPr/>
          </p:nvGrpSpPr>
          <p:grpSpPr>
            <a:xfrm>
              <a:off x="8997950" y="3629025"/>
              <a:ext cx="101600" cy="114300"/>
              <a:chOff x="8997950" y="3629025"/>
              <a:chExt cx="101600" cy="114300"/>
            </a:xfrm>
          </p:grpSpPr>
          <p:sp>
            <p:nvSpPr>
              <p:cNvPr id="64" name="Freeform 64"/>
              <p:cNvSpPr/>
              <p:nvPr/>
            </p:nvSpPr>
            <p:spPr>
              <a:xfrm>
                <a:off x="8997950" y="37179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65" name="Freeform 65"/>
              <p:cNvSpPr/>
              <p:nvPr/>
            </p:nvSpPr>
            <p:spPr>
              <a:xfrm>
                <a:off x="9067800" y="37179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66" name="Freeform 66"/>
              <p:cNvSpPr/>
              <p:nvPr/>
            </p:nvSpPr>
            <p:spPr>
              <a:xfrm>
                <a:off x="8997950" y="3629025"/>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FFFFFF"/>
                </a:solidFill>
              </a:ln>
            </p:spPr>
          </p:sp>
          <p:sp>
            <p:nvSpPr>
              <p:cNvPr id="67" name="Freeform 67"/>
              <p:cNvSpPr/>
              <p:nvPr/>
            </p:nvSpPr>
            <p:spPr>
              <a:xfrm>
                <a:off x="9010650" y="3641725"/>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FFFFFF"/>
                </a:solidFill>
              </a:ln>
            </p:spPr>
          </p:sp>
        </p:grpSp>
        <p:sp>
          <p:nvSpPr>
            <p:cNvPr id="69" name="TextBox 69"/>
            <p:cNvSpPr txBox="1"/>
            <p:nvPr/>
          </p:nvSpPr>
          <p:spPr>
            <a:xfrm>
              <a:off x="9272588" y="3636645"/>
              <a:ext cx="494157"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电商平台</a:t>
              </a:r>
            </a:p>
          </p:txBody>
        </p:sp>
        <p:sp>
          <p:nvSpPr>
            <p:cNvPr id="70" name="Ellipse 70"/>
            <p:cNvSpPr/>
            <p:nvPr/>
          </p:nvSpPr>
          <p:spPr>
            <a:xfrm>
              <a:off x="8229600" y="3962400"/>
              <a:ext cx="304800" cy="304800"/>
            </a:xfrm>
            <a:prstGeom prst="ellipse">
              <a:avLst/>
            </a:prstGeom>
            <a:solidFill>
              <a:srgbClr val="ED8776"/>
            </a:solidFill>
            <a:ln>
              <a:noFill/>
            </a:ln>
          </p:spPr>
        </p:sp>
        <p:grpSp>
          <p:nvGrpSpPr>
            <p:cNvPr id="74" name="Group 74"/>
            <p:cNvGrpSpPr/>
            <p:nvPr/>
          </p:nvGrpSpPr>
          <p:grpSpPr>
            <a:xfrm>
              <a:off x="8343900" y="4057650"/>
              <a:ext cx="76200" cy="114300"/>
              <a:chOff x="8343900" y="4057650"/>
              <a:chExt cx="76200" cy="114300"/>
            </a:xfrm>
          </p:grpSpPr>
          <p:sp>
            <p:nvSpPr>
              <p:cNvPr id="71" name="Freeform 71"/>
              <p:cNvSpPr/>
              <p:nvPr/>
            </p:nvSpPr>
            <p:spPr>
              <a:xfrm>
                <a:off x="8343900" y="405765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FFFFFF"/>
                </a:solidFill>
              </a:ln>
            </p:spPr>
          </p:sp>
          <p:sp>
            <p:nvSpPr>
              <p:cNvPr id="72" name="Freeform 72"/>
              <p:cNvSpPr/>
              <p:nvPr/>
            </p:nvSpPr>
            <p:spPr>
              <a:xfrm>
                <a:off x="8375650" y="4064000"/>
                <a:ext cx="12700" cy="9525"/>
              </a:xfrm>
              <a:custGeom>
                <a:avLst/>
                <a:gdLst/>
                <a:ahLst/>
                <a:cxnLst/>
                <a:rect l="l" t="t" r="r" b="b"/>
                <a:pathLst>
                  <a:path w="12700" h="9525">
                    <a:moveTo>
                      <a:pt x="0" y="0"/>
                    </a:moveTo>
                    <a:lnTo>
                      <a:pt x="12700" y="0"/>
                    </a:lnTo>
                  </a:path>
                </a:pathLst>
              </a:custGeom>
              <a:noFill/>
              <a:ln w="12700">
                <a:solidFill>
                  <a:srgbClr val="FFFFFF"/>
                </a:solidFill>
              </a:ln>
            </p:spPr>
          </p:sp>
          <p:sp>
            <p:nvSpPr>
              <p:cNvPr id="73" name="Freeform 73"/>
              <p:cNvSpPr/>
              <p:nvPr/>
            </p:nvSpPr>
            <p:spPr>
              <a:xfrm>
                <a:off x="8382000" y="4146550"/>
                <a:ext cx="9525" cy="9525"/>
              </a:xfrm>
              <a:custGeom>
                <a:avLst/>
                <a:gdLst/>
                <a:ahLst/>
                <a:cxnLst/>
                <a:rect l="l" t="t" r="r" b="b"/>
                <a:pathLst>
                  <a:path w="9525" h="9525">
                    <a:moveTo>
                      <a:pt x="0" y="0"/>
                    </a:moveTo>
                    <a:lnTo>
                      <a:pt x="0" y="64"/>
                    </a:lnTo>
                  </a:path>
                </a:pathLst>
              </a:custGeom>
              <a:noFill/>
              <a:ln w="12700">
                <a:solidFill>
                  <a:srgbClr val="FFFFFF"/>
                </a:solidFill>
              </a:ln>
            </p:spPr>
          </p:sp>
        </p:grpSp>
        <p:sp>
          <p:nvSpPr>
            <p:cNvPr id="75" name="TextBox 75"/>
            <p:cNvSpPr txBox="1"/>
            <p:nvPr/>
          </p:nvSpPr>
          <p:spPr>
            <a:xfrm>
              <a:off x="8605838" y="4065270"/>
              <a:ext cx="451752"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自有app</a:t>
              </a:r>
            </a:p>
          </p:txBody>
        </p:sp>
        <p:sp>
          <p:nvSpPr>
            <p:cNvPr id="76" name="Ellipse 76"/>
            <p:cNvSpPr/>
            <p:nvPr/>
          </p:nvSpPr>
          <p:spPr>
            <a:xfrm>
              <a:off x="7391400" y="3867150"/>
              <a:ext cx="304800" cy="304800"/>
            </a:xfrm>
            <a:prstGeom prst="ellipse">
              <a:avLst/>
            </a:prstGeom>
            <a:solidFill>
              <a:srgbClr val="ED8776"/>
            </a:solidFill>
            <a:ln>
              <a:noFill/>
            </a:ln>
          </p:spPr>
        </p:sp>
        <p:grpSp>
          <p:nvGrpSpPr>
            <p:cNvPr id="79" name="Group 79"/>
            <p:cNvGrpSpPr/>
            <p:nvPr/>
          </p:nvGrpSpPr>
          <p:grpSpPr>
            <a:xfrm>
              <a:off x="7493000" y="3968750"/>
              <a:ext cx="101600" cy="101600"/>
              <a:chOff x="7493000" y="3968750"/>
              <a:chExt cx="101600" cy="101600"/>
            </a:xfrm>
          </p:grpSpPr>
          <p:sp>
            <p:nvSpPr>
              <p:cNvPr id="77" name="Freeform 77"/>
              <p:cNvSpPr/>
              <p:nvPr/>
            </p:nvSpPr>
            <p:spPr>
              <a:xfrm>
                <a:off x="7493000" y="3968750"/>
                <a:ext cx="95250" cy="101600"/>
              </a:xfrm>
              <a:custGeom>
                <a:avLst/>
                <a:gdLst/>
                <a:ahLst/>
                <a:cxnLst/>
                <a:rect l="l" t="t" r="r" b="b"/>
                <a:pathLst>
                  <a:path w="95250" h="101600">
                    <a:moveTo>
                      <a:pt x="82550" y="25400"/>
                    </a:moveTo>
                    <a:lnTo>
                      <a:pt x="82550" y="6350"/>
                    </a:lnTo>
                    <a:cubicBezTo>
                      <a:pt x="82550" y="2843"/>
                      <a:pt x="79707" y="0"/>
                      <a:pt x="76200" y="0"/>
                    </a:cubicBezTo>
                    <a:lnTo>
                      <a:pt x="12700" y="0"/>
                    </a:lnTo>
                    <a:cubicBezTo>
                      <a:pt x="5686" y="0"/>
                      <a:pt x="0" y="5686"/>
                      <a:pt x="0" y="12700"/>
                    </a:cubicBezTo>
                    <a:cubicBezTo>
                      <a:pt x="0" y="19714"/>
                      <a:pt x="5686" y="25400"/>
                      <a:pt x="12700" y="25400"/>
                    </a:cubicBezTo>
                    <a:lnTo>
                      <a:pt x="88900" y="25400"/>
                    </a:lnTo>
                    <a:cubicBezTo>
                      <a:pt x="92407" y="25400"/>
                      <a:pt x="95250" y="28243"/>
                      <a:pt x="95250" y="31750"/>
                    </a:cubicBezTo>
                    <a:lnTo>
                      <a:pt x="95250" y="50800"/>
                    </a:lnTo>
                    <a:moveTo>
                      <a:pt x="95250" y="76200"/>
                    </a:moveTo>
                    <a:lnTo>
                      <a:pt x="95250" y="95250"/>
                    </a:lnTo>
                    <a:cubicBezTo>
                      <a:pt x="95250" y="98757"/>
                      <a:pt x="92407" y="101600"/>
                      <a:pt x="88900" y="101600"/>
                    </a:cubicBezTo>
                    <a:lnTo>
                      <a:pt x="12700" y="101600"/>
                    </a:lnTo>
                    <a:cubicBezTo>
                      <a:pt x="5686" y="101600"/>
                      <a:pt x="0" y="95914"/>
                      <a:pt x="0" y="88900"/>
                    </a:cubicBezTo>
                    <a:lnTo>
                      <a:pt x="0" y="12700"/>
                    </a:lnTo>
                  </a:path>
                </a:pathLst>
              </a:custGeom>
              <a:noFill/>
              <a:ln w="12700">
                <a:solidFill>
                  <a:srgbClr val="FFFFFF"/>
                </a:solidFill>
              </a:ln>
            </p:spPr>
          </p:sp>
          <p:sp>
            <p:nvSpPr>
              <p:cNvPr id="78" name="Freeform 78"/>
              <p:cNvSpPr/>
              <p:nvPr/>
            </p:nvSpPr>
            <p:spPr>
              <a:xfrm>
                <a:off x="7556500" y="4019550"/>
                <a:ext cx="38100" cy="25400"/>
              </a:xfrm>
              <a:custGeom>
                <a:avLst/>
                <a:gdLst/>
                <a:ahLst/>
                <a:cxnLst/>
                <a:rect l="l" t="t" r="r" b="b"/>
                <a:pathLst>
                  <a:path w="38100" h="25400">
                    <a:moveTo>
                      <a:pt x="38100" y="0"/>
                    </a:moveTo>
                    <a:lnTo>
                      <a:pt x="38100" y="25400"/>
                    </a:lnTo>
                    <a:lnTo>
                      <a:pt x="12700" y="25400"/>
                    </a:lnTo>
                    <a:cubicBezTo>
                      <a:pt x="5686" y="25400"/>
                      <a:pt x="0" y="19714"/>
                      <a:pt x="0" y="12700"/>
                    </a:cubicBezTo>
                    <a:cubicBezTo>
                      <a:pt x="0" y="5686"/>
                      <a:pt x="5686" y="0"/>
                      <a:pt x="12700" y="0"/>
                    </a:cubicBezTo>
                    <a:lnTo>
                      <a:pt x="38100" y="0"/>
                    </a:lnTo>
                  </a:path>
                </a:pathLst>
              </a:custGeom>
              <a:noFill/>
              <a:ln w="12700">
                <a:solidFill>
                  <a:srgbClr val="FFFFFF"/>
                </a:solidFill>
              </a:ln>
            </p:spPr>
          </p:sp>
        </p:grpSp>
        <p:sp>
          <p:nvSpPr>
            <p:cNvPr id="80" name="TextBox 80"/>
            <p:cNvSpPr txBox="1"/>
            <p:nvPr/>
          </p:nvSpPr>
          <p:spPr>
            <a:xfrm>
              <a:off x="6572821" y="3970020"/>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会员中心</a:t>
              </a:r>
            </a:p>
          </p:txBody>
        </p:sp>
      </p:grpSp>
      <p:grpSp>
        <p:nvGrpSpPr>
          <p:cNvPr id="83" name="left-arc-note"/>
          <p:cNvGrpSpPr/>
          <p:nvPr/>
        </p:nvGrpSpPr>
        <p:grpSpPr>
          <a:xfrm>
            <a:off x="351917" y="1190149"/>
            <a:ext cx="134366" cy="2495740"/>
            <a:chOff x="351917" y="1190149"/>
            <a:chExt cx="134366" cy="2495740"/>
          </a:xfrm>
        </p:grpSpPr>
        <p:sp>
          <p:nvSpPr>
            <p:cNvPr id="82" name="TextBox 82"/>
            <p:cNvSpPr txBox="1"/>
            <p:nvPr/>
          </p:nvSpPr>
          <p:spPr>
            <a:xfrm>
              <a:off x="351917" y="1190149"/>
              <a:ext cx="134366" cy="2495740"/>
            </a:xfrm>
            <a:prstGeom prst="rect">
              <a:avLst/>
            </a:prstGeom>
            <a:noFill/>
            <a:ln>
              <a:noFill/>
            </a:ln>
          </p:spPr>
          <p:txBody>
            <a:bodyPr wrap="none" lIns="0" tIns="0" rIns="0" bIns="0" anchor="t" anchorCtr="0">
              <a:spAutoFit/>
            </a:bodyPr>
            <a:lstStyle/>
            <a:p>
              <a:pPr algn="ctr">
                <a:lnSpc>
                  <a:spcPts val="1650"/>
                </a:lnSpc>
              </a:pPr>
              <a:r>
                <a:rPr lang="zh-CN" sz="980" dirty="0">
                  <a:solidFill>
                    <a:srgbClr val="D47D6B"/>
                  </a:solidFill>
                  <a:latin typeface="+mn-lt"/>
                  <a:ea typeface="+mn-ea"/>
                  <a:cs typeface="+mn-cs"/>
                </a:rPr>
                <a:t>全</a:t>
              </a:r>
              <a:br/>
              <a:r>
                <a:rPr lang="zh-CN" sz="980" dirty="0">
                  <a:solidFill>
                    <a:srgbClr val="D47D6B"/>
                  </a:solidFill>
                  <a:latin typeface="+mn-lt"/>
                  <a:ea typeface="+mn-ea"/>
                  <a:cs typeface="+mn-cs"/>
                </a:rPr>
                <a:t>域</a:t>
              </a:r>
              <a:br/>
              <a:r>
                <a:rPr lang="zh-CN" sz="980" dirty="0">
                  <a:solidFill>
                    <a:srgbClr val="D47D6B"/>
                  </a:solidFill>
                  <a:latin typeface="+mn-lt"/>
                  <a:ea typeface="+mn-ea"/>
                  <a:cs typeface="+mn-cs"/>
                </a:rPr>
                <a:t>触</a:t>
              </a:r>
              <a:br/>
              <a:r>
                <a:rPr lang="zh-CN" sz="980" dirty="0">
                  <a:solidFill>
                    <a:srgbClr val="D47D6B"/>
                  </a:solidFill>
                  <a:latin typeface="+mn-lt"/>
                  <a:ea typeface="+mn-ea"/>
                  <a:cs typeface="+mn-cs"/>
                </a:rPr>
                <a:t>达</a:t>
              </a:r>
              <a:br/>
              <a:r>
                <a:rPr lang="zh-CN" sz="980" dirty="0">
                  <a:solidFill>
                    <a:srgbClr val="D47D6B"/>
                  </a:solidFill>
                  <a:latin typeface="+mn-lt"/>
                  <a:ea typeface="+mn-ea"/>
                  <a:cs typeface="+mn-cs"/>
                </a:rPr>
                <a:t>，</a:t>
              </a:r>
              <a:br/>
              <a:r>
                <a:rPr lang="zh-CN" sz="980" dirty="0">
                  <a:solidFill>
                    <a:srgbClr val="D47D6B"/>
                  </a:solidFill>
                  <a:latin typeface="+mn-lt"/>
                  <a:ea typeface="+mn-ea"/>
                  <a:cs typeface="+mn-cs"/>
                </a:rPr>
                <a:t>广</a:t>
              </a:r>
              <a:br/>
              <a:r>
                <a:rPr lang="zh-CN" sz="980" dirty="0">
                  <a:solidFill>
                    <a:srgbClr val="D47D6B"/>
                  </a:solidFill>
                  <a:latin typeface="+mn-lt"/>
                  <a:ea typeface="+mn-ea"/>
                  <a:cs typeface="+mn-cs"/>
                </a:rPr>
                <a:t>泛</a:t>
              </a:r>
              <a:br/>
              <a:r>
                <a:rPr lang="zh-CN" sz="980" dirty="0">
                  <a:solidFill>
                    <a:srgbClr val="D47D6B"/>
                  </a:solidFill>
                  <a:latin typeface="+mn-lt"/>
                  <a:ea typeface="+mn-ea"/>
                  <a:cs typeface="+mn-cs"/>
                </a:rPr>
                <a:t>获</a:t>
              </a:r>
              <a:br/>
              <a:r>
                <a:rPr lang="zh-CN" sz="980" dirty="0">
                  <a:solidFill>
                    <a:srgbClr val="D47D6B"/>
                  </a:solidFill>
                  <a:latin typeface="+mn-lt"/>
                  <a:ea typeface="+mn-ea"/>
                  <a:cs typeface="+mn-cs"/>
                </a:rPr>
                <a:t>取</a:t>
              </a:r>
              <a:br/>
              <a:r>
                <a:rPr lang="zh-CN" sz="980" dirty="0">
                  <a:solidFill>
                    <a:srgbClr val="D47D6B"/>
                  </a:solidFill>
                  <a:latin typeface="+mn-lt"/>
                  <a:ea typeface="+mn-ea"/>
                  <a:cs typeface="+mn-cs"/>
                </a:rPr>
                <a:t>新</a:t>
              </a:r>
              <a:br/>
              <a:r>
                <a:rPr lang="zh-CN" sz="980" dirty="0">
                  <a:solidFill>
                    <a:srgbClr val="D47D6B"/>
                  </a:solidFill>
                  <a:latin typeface="+mn-lt"/>
                  <a:ea typeface="+mn-ea"/>
                  <a:cs typeface="+mn-cs"/>
                </a:rPr>
                <a:t>客</a:t>
              </a:r>
              <a:br/>
              <a:r>
                <a:rPr lang="zh-CN" sz="980" dirty="0">
                  <a:solidFill>
                    <a:srgbClr val="D47D6B"/>
                  </a:solidFill>
                  <a:latin typeface="+mn-lt"/>
                  <a:ea typeface="+mn-ea"/>
                  <a:cs typeface="+mn-cs"/>
                </a:rPr>
                <a:t>户</a:t>
              </a:r>
            </a:p>
          </p:txBody>
        </p:sp>
      </p:grpSp>
      <p:grpSp>
        <p:nvGrpSpPr>
          <p:cNvPr id="85" name="right-arc-note"/>
          <p:cNvGrpSpPr/>
          <p:nvPr/>
        </p:nvGrpSpPr>
        <p:grpSpPr>
          <a:xfrm>
            <a:off x="11667617" y="1190149"/>
            <a:ext cx="134366" cy="2705290"/>
            <a:chOff x="11667617" y="1190149"/>
            <a:chExt cx="134366" cy="2705290"/>
          </a:xfrm>
        </p:grpSpPr>
        <p:sp>
          <p:nvSpPr>
            <p:cNvPr id="84" name="TextBox 84"/>
            <p:cNvSpPr txBox="1"/>
            <p:nvPr/>
          </p:nvSpPr>
          <p:spPr>
            <a:xfrm>
              <a:off x="11667617" y="1190149"/>
              <a:ext cx="134366" cy="2705290"/>
            </a:xfrm>
            <a:prstGeom prst="rect">
              <a:avLst/>
            </a:prstGeom>
            <a:noFill/>
            <a:ln>
              <a:noFill/>
            </a:ln>
          </p:spPr>
          <p:txBody>
            <a:bodyPr wrap="none" lIns="0" tIns="0" rIns="0" bIns="0" anchor="t" anchorCtr="0">
              <a:spAutoFit/>
            </a:bodyPr>
            <a:lstStyle/>
            <a:p>
              <a:pPr algn="ctr">
                <a:lnSpc>
                  <a:spcPts val="1650"/>
                </a:lnSpc>
              </a:pPr>
              <a:r>
                <a:rPr lang="zh-CN" sz="980" dirty="0">
                  <a:solidFill>
                    <a:srgbClr val="ED8776"/>
                  </a:solidFill>
                  <a:latin typeface="+mn-lt"/>
                  <a:ea typeface="+mn-ea"/>
                  <a:cs typeface="+mn-cs"/>
                </a:rPr>
                <a:t>提</a:t>
              </a:r>
              <a:br/>
              <a:r>
                <a:rPr lang="zh-CN" sz="980" dirty="0">
                  <a:solidFill>
                    <a:srgbClr val="ED8776"/>
                  </a:solidFill>
                  <a:latin typeface="+mn-lt"/>
                  <a:ea typeface="+mn-ea"/>
                  <a:cs typeface="+mn-cs"/>
                </a:rPr>
                <a:t>升</a:t>
              </a:r>
              <a:br/>
              <a:r>
                <a:rPr lang="zh-CN" sz="980" dirty="0">
                  <a:solidFill>
                    <a:srgbClr val="ED8776"/>
                  </a:solidFill>
                  <a:latin typeface="+mn-lt"/>
                  <a:ea typeface="+mn-ea"/>
                  <a:cs typeface="+mn-cs"/>
                </a:rPr>
                <a:t>客</a:t>
              </a:r>
              <a:br/>
              <a:r>
                <a:rPr lang="zh-CN" sz="980" dirty="0">
                  <a:solidFill>
                    <a:srgbClr val="ED8776"/>
                  </a:solidFill>
                  <a:latin typeface="+mn-lt"/>
                  <a:ea typeface="+mn-ea"/>
                  <a:cs typeface="+mn-cs"/>
                </a:rPr>
                <a:t>户</a:t>
              </a:r>
              <a:br/>
              <a:r>
                <a:rPr lang="zh-CN" sz="980" dirty="0">
                  <a:solidFill>
                    <a:srgbClr val="ED8776"/>
                  </a:solidFill>
                  <a:latin typeface="+mn-lt"/>
                  <a:ea typeface="+mn-ea"/>
                  <a:cs typeface="+mn-cs"/>
                </a:rPr>
                <a:t>忠</a:t>
              </a:r>
              <a:br/>
              <a:r>
                <a:rPr lang="zh-CN" sz="980" dirty="0">
                  <a:solidFill>
                    <a:srgbClr val="ED8776"/>
                  </a:solidFill>
                  <a:latin typeface="+mn-lt"/>
                  <a:ea typeface="+mn-ea"/>
                  <a:cs typeface="+mn-cs"/>
                </a:rPr>
                <a:t>诚</a:t>
              </a:r>
              <a:br/>
              <a:r>
                <a:rPr lang="zh-CN" sz="980" dirty="0">
                  <a:solidFill>
                    <a:srgbClr val="ED8776"/>
                  </a:solidFill>
                  <a:latin typeface="+mn-lt"/>
                  <a:ea typeface="+mn-ea"/>
                  <a:cs typeface="+mn-cs"/>
                </a:rPr>
                <a:t>度</a:t>
              </a:r>
              <a:br/>
              <a:r>
                <a:rPr lang="zh-CN" sz="980" dirty="0">
                  <a:solidFill>
                    <a:srgbClr val="ED8776"/>
                  </a:solidFill>
                  <a:latin typeface="+mn-lt"/>
                  <a:ea typeface="+mn-ea"/>
                  <a:cs typeface="+mn-cs"/>
                </a:rPr>
                <a:t>沉</a:t>
              </a:r>
              <a:br/>
              <a:r>
                <a:rPr lang="zh-CN" sz="980" dirty="0">
                  <a:solidFill>
                    <a:srgbClr val="ED8776"/>
                  </a:solidFill>
                  <a:latin typeface="+mn-lt"/>
                  <a:ea typeface="+mn-ea"/>
                  <a:cs typeface="+mn-cs"/>
                </a:rPr>
                <a:t>淀</a:t>
              </a:r>
              <a:br/>
              <a:r>
                <a:rPr lang="zh-CN" sz="980" dirty="0">
                  <a:solidFill>
                    <a:srgbClr val="ED8776"/>
                  </a:solidFill>
                  <a:latin typeface="+mn-lt"/>
                  <a:ea typeface="+mn-ea"/>
                  <a:cs typeface="+mn-cs"/>
                </a:rPr>
                <a:t>品</a:t>
              </a:r>
              <a:br/>
              <a:r>
                <a:rPr lang="zh-CN" sz="980" dirty="0">
                  <a:solidFill>
                    <a:srgbClr val="ED8776"/>
                  </a:solidFill>
                  <a:latin typeface="+mn-lt"/>
                  <a:ea typeface="+mn-ea"/>
                  <a:cs typeface="+mn-cs"/>
                </a:rPr>
                <a:t>牌</a:t>
              </a:r>
              <a:br/>
              <a:r>
                <a:rPr lang="zh-CN" sz="980" dirty="0">
                  <a:solidFill>
                    <a:srgbClr val="ED8776"/>
                  </a:solidFill>
                  <a:latin typeface="+mn-lt"/>
                  <a:ea typeface="+mn-ea"/>
                  <a:cs typeface="+mn-cs"/>
                </a:rPr>
                <a:t>资</a:t>
              </a:r>
              <a:br/>
              <a:r>
                <a:rPr lang="zh-CN" sz="980" dirty="0">
                  <a:solidFill>
                    <a:srgbClr val="ED8776"/>
                  </a:solidFill>
                  <a:latin typeface="+mn-lt"/>
                  <a:ea typeface="+mn-ea"/>
                  <a:cs typeface="+mn-cs"/>
                </a:rPr>
                <a:t>产</a:t>
              </a:r>
            </a:p>
          </p:txBody>
        </p:sp>
      </p:grpSp>
      <p:grpSp>
        <p:nvGrpSpPr>
          <p:cNvPr id="91" name="flow-card-1"/>
          <p:cNvGrpSpPr/>
          <p:nvPr/>
        </p:nvGrpSpPr>
        <p:grpSpPr>
          <a:xfrm>
            <a:off x="228600" y="4686300"/>
            <a:ext cx="2266950" cy="1752600"/>
            <a:chOff x="228600" y="4686300"/>
            <a:chExt cx="2266950" cy="1752600"/>
          </a:xfrm>
        </p:grpSpPr>
        <p:sp>
          <p:nvSpPr>
            <p:cNvPr id="86" name="Rectangle 86"/>
            <p:cNvSpPr/>
            <p:nvPr/>
          </p:nvSpPr>
          <p:spPr>
            <a:xfrm>
              <a:off x="228600" y="4686300"/>
              <a:ext cx="2266950" cy="285750"/>
            </a:xfrm>
            <a:prstGeom prst="roundRect">
              <a:avLst>
                <a:gd name="adj" fmla="val 13333"/>
              </a:avLst>
            </a:prstGeom>
            <a:gradFill>
              <a:gsLst>
                <a:gs pos="0">
                  <a:srgbClr val="C1553F"/>
                </a:gs>
                <a:gs pos="100000">
                  <a:srgbClr val="CE897B"/>
                </a:gs>
              </a:gsLst>
              <a:lin ang="0" scaled="1"/>
            </a:gradFill>
            <a:ln>
              <a:noFill/>
            </a:ln>
          </p:spPr>
        </p:sp>
        <p:sp>
          <p:nvSpPr>
            <p:cNvPr id="87" name="TextBox 87"/>
            <p:cNvSpPr txBox="1"/>
            <p:nvPr/>
          </p:nvSpPr>
          <p:spPr>
            <a:xfrm>
              <a:off x="829412" y="4771549"/>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全域触达获取流量</a:t>
              </a:r>
            </a:p>
          </p:txBody>
        </p:sp>
        <p:sp>
          <p:nvSpPr>
            <p:cNvPr id="88" name="Rectangle 88"/>
            <p:cNvSpPr/>
            <p:nvPr/>
          </p:nvSpPr>
          <p:spPr>
            <a:xfrm>
              <a:off x="228600" y="4972050"/>
              <a:ext cx="2266950" cy="1466850"/>
            </a:xfrm>
            <a:prstGeom prst="roundRect">
              <a:avLst>
                <a:gd name="adj" fmla="val 2597"/>
              </a:avLst>
            </a:prstGeom>
            <a:solidFill>
              <a:srgbClr val="FFFFFF"/>
            </a:solidFill>
            <a:ln w="9525">
              <a:solidFill>
                <a:srgbClr val="E4E7F5"/>
              </a:solidFill>
            </a:ln>
          </p:spPr>
        </p:sp>
        <p:sp>
          <p:nvSpPr>
            <p:cNvPr id="89" name="TextBox 89"/>
            <p:cNvSpPr txBox="1"/>
            <p:nvPr/>
          </p:nvSpPr>
          <p:spPr>
            <a:xfrm>
              <a:off x="319088" y="5085636"/>
              <a:ext cx="1542415" cy="407194"/>
            </a:xfrm>
            <a:prstGeom prst="rect">
              <a:avLst/>
            </a:prstGeom>
            <a:noFill/>
            <a:ln>
              <a:noFill/>
            </a:ln>
          </p:spPr>
          <p:txBody>
            <a:bodyPr wrap="none" lIns="0" tIns="0" rIns="0" bIns="0" anchor="t" anchorCtr="0">
              <a:spAutoFit/>
            </a:bodyPr>
            <a:lstStyle/>
            <a:p>
              <a:pPr algn="l">
                <a:lnSpc>
                  <a:spcPts val="1050"/>
                </a:lnSpc>
              </a:pPr>
              <a:r>
                <a:rPr lang="zh-CN" sz="710" b="1" dirty="0">
                  <a:solidFill>
                    <a:srgbClr val="E5624C"/>
                  </a:solidFill>
                  <a:latin typeface="+mn-lt"/>
                  <a:ea typeface="+mn-ea"/>
                  <a:cs typeface="+mn-cs"/>
                </a:rPr>
                <a:t>私域运营：</a:t>
              </a:r>
              <a:r>
                <a:rPr lang="zh-CN" sz="710" dirty="0">
                  <a:solidFill>
                    <a:srgbClr val="000000"/>
                  </a:solidFill>
                  <a:latin typeface="+mn-lt"/>
                  <a:ea typeface="+mn-ea"/>
                  <a:cs typeface="+mn-cs"/>
                </a:rPr>
                <a:t>搭建企业自有平台，将公域</a:t>
              </a:r>
              <a:br/>
              <a:r>
                <a:rPr lang="zh-CN" sz="710" dirty="0">
                  <a:solidFill>
                    <a:srgbClr val="000000"/>
                  </a:solidFill>
                  <a:latin typeface="+mn-lt"/>
                  <a:ea typeface="+mn-ea"/>
                  <a:cs typeface="+mn-cs"/>
                </a:rPr>
                <a:t>流量转化为私域运营，实现线索资质</a:t>
              </a:r>
              <a:br/>
              <a:r>
                <a:rPr lang="zh-CN" sz="710" dirty="0">
                  <a:solidFill>
                    <a:srgbClr val="000000"/>
                  </a:solidFill>
                  <a:latin typeface="+mn-lt"/>
                  <a:ea typeface="+mn-ea"/>
                  <a:cs typeface="+mn-cs"/>
                </a:rPr>
                <a:t>与沉淀</a:t>
              </a:r>
            </a:p>
          </p:txBody>
        </p:sp>
        <p:sp>
          <p:nvSpPr>
            <p:cNvPr id="90" name="TextBox 90"/>
            <p:cNvSpPr txBox="1"/>
            <p:nvPr/>
          </p:nvSpPr>
          <p:spPr>
            <a:xfrm>
              <a:off x="319088" y="5676186"/>
              <a:ext cx="1542415" cy="407194"/>
            </a:xfrm>
            <a:prstGeom prst="rect">
              <a:avLst/>
            </a:prstGeom>
            <a:noFill/>
            <a:ln>
              <a:noFill/>
            </a:ln>
          </p:spPr>
          <p:txBody>
            <a:bodyPr wrap="none" lIns="0" tIns="0" rIns="0" bIns="0" anchor="t" anchorCtr="0">
              <a:spAutoFit/>
            </a:bodyPr>
            <a:lstStyle/>
            <a:p>
              <a:pPr algn="l">
                <a:lnSpc>
                  <a:spcPts val="1050"/>
                </a:lnSpc>
              </a:pPr>
              <a:r>
                <a:rPr lang="zh-CN" sz="710" b="1" dirty="0">
                  <a:solidFill>
                    <a:srgbClr val="E5624C"/>
                  </a:solidFill>
                  <a:latin typeface="+mn-lt"/>
                  <a:ea typeface="+mn-ea"/>
                  <a:cs typeface="+mn-cs"/>
                </a:rPr>
                <a:t>全域触控：</a:t>
              </a:r>
              <a:r>
                <a:rPr lang="zh-CN" sz="710" dirty="0">
                  <a:solidFill>
                    <a:srgbClr val="000000"/>
                  </a:solidFill>
                  <a:latin typeface="+mn-lt"/>
                  <a:ea typeface="+mn-ea"/>
                  <a:cs typeface="+mn-cs"/>
                </a:rPr>
                <a:t>根据渠道特征精准匹配营销</a:t>
              </a:r>
              <a:br/>
              <a:r>
                <a:rPr lang="zh-CN" sz="710" dirty="0">
                  <a:solidFill>
                    <a:srgbClr val="000000"/>
                  </a:solidFill>
                  <a:latin typeface="+mn-lt"/>
                  <a:ea typeface="+mn-ea"/>
                  <a:cs typeface="+mn-cs"/>
                </a:rPr>
                <a:t>推广内容，同时确保信息及体验一致</a:t>
              </a:r>
              <a:br/>
              <a:r>
                <a:rPr lang="zh-CN" sz="710" dirty="0">
                  <a:solidFill>
                    <a:srgbClr val="000000"/>
                  </a:solidFill>
                  <a:latin typeface="+mn-lt"/>
                  <a:ea typeface="+mn-ea"/>
                  <a:cs typeface="+mn-cs"/>
                </a:rPr>
                <a:t>性，全渠道融合</a:t>
              </a:r>
            </a:p>
          </p:txBody>
        </p:sp>
      </p:grpSp>
      <p:grpSp>
        <p:nvGrpSpPr>
          <p:cNvPr id="97" name="flow-card-2"/>
          <p:cNvGrpSpPr/>
          <p:nvPr/>
        </p:nvGrpSpPr>
        <p:grpSpPr>
          <a:xfrm>
            <a:off x="2552700" y="4686300"/>
            <a:ext cx="2266950" cy="1752600"/>
            <a:chOff x="2552700" y="4686300"/>
            <a:chExt cx="2266950" cy="1752600"/>
          </a:xfrm>
        </p:grpSpPr>
        <p:sp>
          <p:nvSpPr>
            <p:cNvPr id="92" name="Rectangle 92"/>
            <p:cNvSpPr/>
            <p:nvPr/>
          </p:nvSpPr>
          <p:spPr>
            <a:xfrm>
              <a:off x="2552700" y="4686300"/>
              <a:ext cx="2266950" cy="285750"/>
            </a:xfrm>
            <a:prstGeom prst="roundRect">
              <a:avLst>
                <a:gd name="adj" fmla="val 13333"/>
              </a:avLst>
            </a:prstGeom>
            <a:gradFill>
              <a:gsLst>
                <a:gs pos="0">
                  <a:srgbClr val="C1553F"/>
                </a:gs>
                <a:gs pos="100000">
                  <a:srgbClr val="CE897B"/>
                </a:gs>
              </a:gsLst>
              <a:lin ang="0" scaled="1"/>
            </a:gradFill>
            <a:ln>
              <a:noFill/>
            </a:ln>
          </p:spPr>
        </p:sp>
        <p:sp>
          <p:nvSpPr>
            <p:cNvPr id="93" name="TextBox 93"/>
            <p:cNvSpPr txBox="1"/>
            <p:nvPr/>
          </p:nvSpPr>
          <p:spPr>
            <a:xfrm>
              <a:off x="3153512" y="4771549"/>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精准营销促进转化</a:t>
              </a:r>
            </a:p>
          </p:txBody>
        </p:sp>
        <p:sp>
          <p:nvSpPr>
            <p:cNvPr id="94" name="Rectangle 94"/>
            <p:cNvSpPr/>
            <p:nvPr/>
          </p:nvSpPr>
          <p:spPr>
            <a:xfrm>
              <a:off x="2552700" y="4972050"/>
              <a:ext cx="2266950" cy="1466850"/>
            </a:xfrm>
            <a:prstGeom prst="roundRect">
              <a:avLst>
                <a:gd name="adj" fmla="val 2597"/>
              </a:avLst>
            </a:prstGeom>
            <a:solidFill>
              <a:srgbClr val="FFFFFF"/>
            </a:solidFill>
            <a:ln w="9525">
              <a:solidFill>
                <a:srgbClr val="E4E7F5"/>
              </a:solidFill>
            </a:ln>
          </p:spPr>
        </p:sp>
        <p:sp>
          <p:nvSpPr>
            <p:cNvPr id="95" name="TextBox 95"/>
            <p:cNvSpPr txBox="1"/>
            <p:nvPr/>
          </p:nvSpPr>
          <p:spPr>
            <a:xfrm>
              <a:off x="2643188" y="5085636"/>
              <a:ext cx="1542415" cy="407194"/>
            </a:xfrm>
            <a:prstGeom prst="rect">
              <a:avLst/>
            </a:prstGeom>
            <a:noFill/>
            <a:ln>
              <a:noFill/>
            </a:ln>
          </p:spPr>
          <p:txBody>
            <a:bodyPr wrap="none" lIns="0" tIns="0" rIns="0" bIns="0" anchor="t" anchorCtr="0">
              <a:spAutoFit/>
            </a:bodyPr>
            <a:lstStyle/>
            <a:p>
              <a:pPr algn="l">
                <a:lnSpc>
                  <a:spcPts val="1050"/>
                </a:lnSpc>
              </a:pPr>
              <a:r>
                <a:rPr lang="zh-CN" sz="710" b="1" dirty="0">
                  <a:solidFill>
                    <a:srgbClr val="C1553F"/>
                  </a:solidFill>
                  <a:latin typeface="+mn-lt"/>
                  <a:ea typeface="+mn-ea"/>
                  <a:cs typeface="+mn-cs"/>
                </a:rPr>
                <a:t>精准洞察：</a:t>
              </a:r>
              <a:r>
                <a:rPr lang="zh-CN" sz="710" dirty="0">
                  <a:solidFill>
                    <a:srgbClr val="000000"/>
                  </a:solidFill>
                  <a:latin typeface="+mn-lt"/>
                  <a:ea typeface="+mn-ea"/>
                  <a:cs typeface="+mn-cs"/>
                </a:rPr>
                <a:t>基于客户在全域触点的互动</a:t>
              </a:r>
              <a:br/>
              <a:r>
                <a:rPr lang="zh-CN" sz="710" dirty="0">
                  <a:solidFill>
                    <a:srgbClr val="000000"/>
                  </a:solidFill>
                  <a:latin typeface="+mn-lt"/>
                  <a:ea typeface="+mn-ea"/>
                  <a:cs typeface="+mn-cs"/>
                </a:rPr>
                <a:t>行为，分析客户的消费偏好，深度挖</a:t>
              </a:r>
              <a:br/>
              <a:r>
                <a:rPr lang="zh-CN" sz="710" dirty="0">
                  <a:solidFill>
                    <a:srgbClr val="000000"/>
                  </a:solidFill>
                  <a:latin typeface="+mn-lt"/>
                  <a:ea typeface="+mn-ea"/>
                  <a:cs typeface="+mn-cs"/>
                </a:rPr>
                <a:t>掘客户需求</a:t>
              </a:r>
            </a:p>
          </p:txBody>
        </p:sp>
        <p:sp>
          <p:nvSpPr>
            <p:cNvPr id="96" name="TextBox 96"/>
            <p:cNvSpPr txBox="1"/>
            <p:nvPr/>
          </p:nvSpPr>
          <p:spPr>
            <a:xfrm>
              <a:off x="2643188" y="5676186"/>
              <a:ext cx="1542415" cy="407194"/>
            </a:xfrm>
            <a:prstGeom prst="rect">
              <a:avLst/>
            </a:prstGeom>
            <a:noFill/>
            <a:ln>
              <a:noFill/>
            </a:ln>
          </p:spPr>
          <p:txBody>
            <a:bodyPr wrap="none" lIns="0" tIns="0" rIns="0" bIns="0" anchor="t" anchorCtr="0">
              <a:spAutoFit/>
            </a:bodyPr>
            <a:lstStyle/>
            <a:p>
              <a:pPr algn="l">
                <a:lnSpc>
                  <a:spcPts val="1050"/>
                </a:lnSpc>
              </a:pPr>
              <a:r>
                <a:rPr lang="zh-CN" sz="710" b="1" dirty="0">
                  <a:solidFill>
                    <a:srgbClr val="C1553F"/>
                  </a:solidFill>
                  <a:latin typeface="+mn-lt"/>
                  <a:ea typeface="+mn-ea"/>
                  <a:cs typeface="+mn-cs"/>
                </a:rPr>
                <a:t>线索转化：</a:t>
              </a:r>
              <a:r>
                <a:rPr lang="zh-CN" sz="710" dirty="0">
                  <a:solidFill>
                    <a:srgbClr val="000000"/>
                  </a:solidFill>
                  <a:latin typeface="+mn-lt"/>
                  <a:ea typeface="+mn-ea"/>
                  <a:cs typeface="+mn-cs"/>
                </a:rPr>
                <a:t>构建智能推荐引擎，基于客</a:t>
              </a:r>
              <a:br/>
              <a:r>
                <a:rPr lang="zh-CN" sz="710" dirty="0">
                  <a:solidFill>
                    <a:srgbClr val="000000"/>
                  </a:solidFill>
                  <a:latin typeface="+mn-lt"/>
                  <a:ea typeface="+mn-ea"/>
                  <a:cs typeface="+mn-cs"/>
                </a:rPr>
                <a:t>户偏好，提供个性化产品及服务推</a:t>
              </a:r>
              <a:br/>
              <a:r>
                <a:rPr lang="zh-CN" sz="710" dirty="0">
                  <a:solidFill>
                    <a:srgbClr val="000000"/>
                  </a:solidFill>
                  <a:latin typeface="+mn-lt"/>
                  <a:ea typeface="+mn-ea"/>
                  <a:cs typeface="+mn-cs"/>
                </a:rPr>
                <a:t>荐，促成转化</a:t>
              </a:r>
            </a:p>
          </p:txBody>
        </p:sp>
      </p:grpSp>
      <p:grpSp>
        <p:nvGrpSpPr>
          <p:cNvPr id="103" name="flow-card-3"/>
          <p:cNvGrpSpPr/>
          <p:nvPr/>
        </p:nvGrpSpPr>
        <p:grpSpPr>
          <a:xfrm>
            <a:off x="4876800" y="4686300"/>
            <a:ext cx="2266950" cy="1752600"/>
            <a:chOff x="4876800" y="4686300"/>
            <a:chExt cx="2266950" cy="1752600"/>
          </a:xfrm>
        </p:grpSpPr>
        <p:sp>
          <p:nvSpPr>
            <p:cNvPr id="98" name="Rectangle 98"/>
            <p:cNvSpPr/>
            <p:nvPr/>
          </p:nvSpPr>
          <p:spPr>
            <a:xfrm>
              <a:off x="4876800" y="4686300"/>
              <a:ext cx="2266950" cy="285750"/>
            </a:xfrm>
            <a:prstGeom prst="roundRect">
              <a:avLst>
                <a:gd name="adj" fmla="val 13333"/>
              </a:avLst>
            </a:prstGeom>
            <a:gradFill>
              <a:gsLst>
                <a:gs pos="0">
                  <a:srgbClr val="C1553F"/>
                </a:gs>
                <a:gs pos="100000">
                  <a:srgbClr val="CE897B"/>
                </a:gs>
              </a:gsLst>
              <a:lin ang="0" scaled="1"/>
            </a:gradFill>
            <a:ln>
              <a:noFill/>
            </a:ln>
          </p:spPr>
        </p:sp>
        <p:sp>
          <p:nvSpPr>
            <p:cNvPr id="99" name="TextBox 99"/>
            <p:cNvSpPr txBox="1"/>
            <p:nvPr/>
          </p:nvSpPr>
          <p:spPr>
            <a:xfrm>
              <a:off x="5477612" y="4771549"/>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服务体验优化升级</a:t>
              </a:r>
            </a:p>
          </p:txBody>
        </p:sp>
        <p:sp>
          <p:nvSpPr>
            <p:cNvPr id="100" name="Rectangle 100"/>
            <p:cNvSpPr/>
            <p:nvPr/>
          </p:nvSpPr>
          <p:spPr>
            <a:xfrm>
              <a:off x="4876800" y="4972050"/>
              <a:ext cx="2266950" cy="1466850"/>
            </a:xfrm>
            <a:prstGeom prst="roundRect">
              <a:avLst>
                <a:gd name="adj" fmla="val 2597"/>
              </a:avLst>
            </a:prstGeom>
            <a:solidFill>
              <a:srgbClr val="FFFFFF"/>
            </a:solidFill>
            <a:ln w="9525">
              <a:solidFill>
                <a:srgbClr val="E4E7F5"/>
              </a:solidFill>
            </a:ln>
          </p:spPr>
        </p:sp>
        <p:sp>
          <p:nvSpPr>
            <p:cNvPr id="101" name="TextBox 101"/>
            <p:cNvSpPr txBox="1"/>
            <p:nvPr/>
          </p:nvSpPr>
          <p:spPr>
            <a:xfrm>
              <a:off x="4967288" y="5085636"/>
              <a:ext cx="1542415" cy="407194"/>
            </a:xfrm>
            <a:prstGeom prst="rect">
              <a:avLst/>
            </a:prstGeom>
            <a:noFill/>
            <a:ln>
              <a:noFill/>
            </a:ln>
          </p:spPr>
          <p:txBody>
            <a:bodyPr wrap="none" lIns="0" tIns="0" rIns="0" bIns="0" anchor="t" anchorCtr="0">
              <a:spAutoFit/>
            </a:bodyPr>
            <a:lstStyle/>
            <a:p>
              <a:pPr algn="l">
                <a:lnSpc>
                  <a:spcPts val="1050"/>
                </a:lnSpc>
              </a:pPr>
              <a:r>
                <a:rPr lang="zh-CN" sz="710" b="1" dirty="0">
                  <a:solidFill>
                    <a:srgbClr val="C1553F"/>
                  </a:solidFill>
                  <a:latin typeface="+mn-lt"/>
                  <a:ea typeface="+mn-ea"/>
                  <a:cs typeface="+mn-cs"/>
                </a:rPr>
                <a:t>智能客服：</a:t>
              </a:r>
              <a:r>
                <a:rPr lang="zh-CN" sz="710" dirty="0">
                  <a:solidFill>
                    <a:srgbClr val="000000"/>
                  </a:solidFill>
                  <a:latin typeface="+mn-lt"/>
                  <a:ea typeface="+mn-ea"/>
                  <a:cs typeface="+mn-cs"/>
                </a:rPr>
                <a:t>利用智能在线客服，实时全</a:t>
              </a:r>
              <a:br/>
              <a:r>
                <a:rPr lang="zh-CN" sz="710" dirty="0">
                  <a:solidFill>
                    <a:srgbClr val="000000"/>
                  </a:solidFill>
                  <a:latin typeface="+mn-lt"/>
                  <a:ea typeface="+mn-ea"/>
                  <a:cs typeface="+mn-cs"/>
                </a:rPr>
                <a:t>域响应客户消费过程中的诉求，提升</a:t>
              </a:r>
              <a:br/>
              <a:r>
                <a:rPr lang="zh-CN" sz="710" dirty="0">
                  <a:solidFill>
                    <a:srgbClr val="000000"/>
                  </a:solidFill>
                  <a:latin typeface="+mn-lt"/>
                  <a:ea typeface="+mn-ea"/>
                  <a:cs typeface="+mn-cs"/>
                </a:rPr>
                <a:t>客户体验及满意度</a:t>
              </a:r>
            </a:p>
          </p:txBody>
        </p:sp>
        <p:sp>
          <p:nvSpPr>
            <p:cNvPr id="102" name="TextBox 102"/>
            <p:cNvSpPr txBox="1"/>
            <p:nvPr/>
          </p:nvSpPr>
          <p:spPr>
            <a:xfrm>
              <a:off x="4967288" y="5676186"/>
              <a:ext cx="1542415" cy="407194"/>
            </a:xfrm>
            <a:prstGeom prst="rect">
              <a:avLst/>
            </a:prstGeom>
            <a:noFill/>
            <a:ln>
              <a:noFill/>
            </a:ln>
          </p:spPr>
          <p:txBody>
            <a:bodyPr wrap="none" lIns="0" tIns="0" rIns="0" bIns="0" anchor="t" anchorCtr="0">
              <a:spAutoFit/>
            </a:bodyPr>
            <a:lstStyle/>
            <a:p>
              <a:pPr algn="l">
                <a:lnSpc>
                  <a:spcPts val="1050"/>
                </a:lnSpc>
              </a:pPr>
              <a:r>
                <a:rPr lang="zh-CN" sz="710" b="1" dirty="0">
                  <a:solidFill>
                    <a:srgbClr val="C1553F"/>
                  </a:solidFill>
                  <a:latin typeface="+mn-lt"/>
                  <a:ea typeface="+mn-ea"/>
                  <a:cs typeface="+mn-cs"/>
                </a:rPr>
                <a:t>定制化服务：</a:t>
              </a:r>
              <a:r>
                <a:rPr lang="zh-CN" sz="710" dirty="0">
                  <a:solidFill>
                    <a:srgbClr val="000000"/>
                  </a:solidFill>
                  <a:latin typeface="+mn-lt"/>
                  <a:ea typeface="+mn-ea"/>
                  <a:cs typeface="+mn-cs"/>
                </a:rPr>
                <a:t>针对客户的个性偏好，提</a:t>
              </a:r>
              <a:br/>
              <a:r>
                <a:rPr lang="zh-CN" sz="710" dirty="0">
                  <a:solidFill>
                    <a:srgbClr val="000000"/>
                  </a:solidFill>
                  <a:latin typeface="+mn-lt"/>
                  <a:ea typeface="+mn-ea"/>
                  <a:cs typeface="+mn-cs"/>
                </a:rPr>
                <a:t>供定制化服务，满足不同客户群体的</a:t>
              </a:r>
              <a:br/>
              <a:r>
                <a:rPr lang="zh-CN" sz="710" dirty="0">
                  <a:solidFill>
                    <a:srgbClr val="000000"/>
                  </a:solidFill>
                  <a:latin typeface="+mn-lt"/>
                  <a:ea typeface="+mn-ea"/>
                  <a:cs typeface="+mn-cs"/>
                </a:rPr>
                <a:t>分层需求</a:t>
              </a:r>
            </a:p>
          </p:txBody>
        </p:sp>
      </p:grpSp>
      <p:grpSp>
        <p:nvGrpSpPr>
          <p:cNvPr id="109" name="flow-card-4"/>
          <p:cNvGrpSpPr/>
          <p:nvPr/>
        </p:nvGrpSpPr>
        <p:grpSpPr>
          <a:xfrm>
            <a:off x="7200900" y="4686300"/>
            <a:ext cx="2266950" cy="1752600"/>
            <a:chOff x="7200900" y="4686300"/>
            <a:chExt cx="2266950" cy="1752600"/>
          </a:xfrm>
        </p:grpSpPr>
        <p:sp>
          <p:nvSpPr>
            <p:cNvPr id="104" name="Rectangle 104"/>
            <p:cNvSpPr/>
            <p:nvPr/>
          </p:nvSpPr>
          <p:spPr>
            <a:xfrm>
              <a:off x="7200900" y="4686300"/>
              <a:ext cx="2266950" cy="285750"/>
            </a:xfrm>
            <a:prstGeom prst="roundRect">
              <a:avLst>
                <a:gd name="adj" fmla="val 13333"/>
              </a:avLst>
            </a:prstGeom>
            <a:gradFill>
              <a:gsLst>
                <a:gs pos="0">
                  <a:srgbClr val="C1553F"/>
                </a:gs>
                <a:gs pos="100000">
                  <a:srgbClr val="CE897B"/>
                </a:gs>
              </a:gsLst>
              <a:lin ang="0" scaled="1"/>
            </a:gradFill>
            <a:ln>
              <a:noFill/>
            </a:ln>
          </p:spPr>
        </p:sp>
        <p:sp>
          <p:nvSpPr>
            <p:cNvPr id="105" name="TextBox 105"/>
            <p:cNvSpPr txBox="1"/>
            <p:nvPr/>
          </p:nvSpPr>
          <p:spPr>
            <a:xfrm>
              <a:off x="7801712" y="4771549"/>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会员权益提高忠诚</a:t>
              </a:r>
            </a:p>
          </p:txBody>
        </p:sp>
        <p:sp>
          <p:nvSpPr>
            <p:cNvPr id="106" name="Rectangle 106"/>
            <p:cNvSpPr/>
            <p:nvPr/>
          </p:nvSpPr>
          <p:spPr>
            <a:xfrm>
              <a:off x="7200900" y="4972050"/>
              <a:ext cx="2266950" cy="1466850"/>
            </a:xfrm>
            <a:prstGeom prst="roundRect">
              <a:avLst>
                <a:gd name="adj" fmla="val 2597"/>
              </a:avLst>
            </a:prstGeom>
            <a:solidFill>
              <a:srgbClr val="FFFFFF"/>
            </a:solidFill>
            <a:ln w="9525">
              <a:solidFill>
                <a:srgbClr val="E4E7F5"/>
              </a:solidFill>
            </a:ln>
          </p:spPr>
        </p:sp>
        <p:sp>
          <p:nvSpPr>
            <p:cNvPr id="107" name="TextBox 107"/>
            <p:cNvSpPr txBox="1"/>
            <p:nvPr/>
          </p:nvSpPr>
          <p:spPr>
            <a:xfrm>
              <a:off x="7291388" y="5085636"/>
              <a:ext cx="1542415" cy="407194"/>
            </a:xfrm>
            <a:prstGeom prst="rect">
              <a:avLst/>
            </a:prstGeom>
            <a:noFill/>
            <a:ln>
              <a:noFill/>
            </a:ln>
          </p:spPr>
          <p:txBody>
            <a:bodyPr wrap="none" lIns="0" tIns="0" rIns="0" bIns="0" anchor="t" anchorCtr="0">
              <a:spAutoFit/>
            </a:bodyPr>
            <a:lstStyle/>
            <a:p>
              <a:pPr algn="l">
                <a:lnSpc>
                  <a:spcPts val="1050"/>
                </a:lnSpc>
              </a:pPr>
              <a:r>
                <a:rPr lang="zh-CN" sz="710" b="1" dirty="0">
                  <a:solidFill>
                    <a:srgbClr val="C1553F"/>
                  </a:solidFill>
                  <a:latin typeface="+mn-lt"/>
                  <a:ea typeface="+mn-ea"/>
                  <a:cs typeface="+mn-cs"/>
                </a:rPr>
                <a:t>私社交互动：</a:t>
              </a:r>
              <a:r>
                <a:rPr lang="zh-CN" sz="710" dirty="0">
                  <a:solidFill>
                    <a:srgbClr val="000000"/>
                  </a:solidFill>
                  <a:latin typeface="+mn-lt"/>
                  <a:ea typeface="+mn-ea"/>
                  <a:cs typeface="+mn-cs"/>
                </a:rPr>
                <a:t>针对各等级会员，提供差</a:t>
              </a:r>
              <a:br/>
              <a:r>
                <a:rPr lang="zh-CN" sz="710" dirty="0">
                  <a:solidFill>
                    <a:srgbClr val="000000"/>
                  </a:solidFill>
                  <a:latin typeface="+mn-lt"/>
                  <a:ea typeface="+mn-ea"/>
                  <a:cs typeface="+mn-cs"/>
                </a:rPr>
                <a:t>异化专属社群，通过节日问候、专属</a:t>
              </a:r>
              <a:br/>
              <a:r>
                <a:rPr lang="zh-CN" sz="710" dirty="0">
                  <a:solidFill>
                    <a:srgbClr val="000000"/>
                  </a:solidFill>
                  <a:latin typeface="+mn-lt"/>
                  <a:ea typeface="+mn-ea"/>
                  <a:cs typeface="+mn-cs"/>
                </a:rPr>
                <a:t>礼物等方式，提升会员体验和忠诚度</a:t>
              </a:r>
            </a:p>
          </p:txBody>
        </p:sp>
        <p:sp>
          <p:nvSpPr>
            <p:cNvPr id="108" name="TextBox 108"/>
            <p:cNvSpPr txBox="1"/>
            <p:nvPr/>
          </p:nvSpPr>
          <p:spPr>
            <a:xfrm>
              <a:off x="7291388" y="5676186"/>
              <a:ext cx="1542415" cy="273844"/>
            </a:xfrm>
            <a:prstGeom prst="rect">
              <a:avLst/>
            </a:prstGeom>
            <a:noFill/>
            <a:ln>
              <a:noFill/>
            </a:ln>
          </p:spPr>
          <p:txBody>
            <a:bodyPr wrap="none" lIns="0" tIns="0" rIns="0" bIns="0" anchor="t" anchorCtr="0">
              <a:spAutoFit/>
            </a:bodyPr>
            <a:lstStyle/>
            <a:p>
              <a:pPr algn="l">
                <a:lnSpc>
                  <a:spcPts val="1050"/>
                </a:lnSpc>
              </a:pPr>
              <a:r>
                <a:rPr lang="zh-CN" sz="710" b="1" dirty="0">
                  <a:solidFill>
                    <a:srgbClr val="C1553F"/>
                  </a:solidFill>
                  <a:latin typeface="+mn-lt"/>
                  <a:ea typeface="+mn-ea"/>
                  <a:cs typeface="+mn-cs"/>
                </a:rPr>
                <a:t>技术平台：</a:t>
              </a:r>
              <a:r>
                <a:rPr lang="zh-CN" sz="710" dirty="0">
                  <a:solidFill>
                    <a:srgbClr val="000000"/>
                  </a:solidFill>
                  <a:latin typeface="+mn-lt"/>
                  <a:ea typeface="+mn-ea"/>
                  <a:cs typeface="+mn-cs"/>
                </a:rPr>
                <a:t>构建会员交流互动平台，增</a:t>
              </a:r>
              <a:br/>
              <a:r>
                <a:rPr lang="zh-CN" sz="710" dirty="0">
                  <a:solidFill>
                    <a:srgbClr val="000000"/>
                  </a:solidFill>
                  <a:latin typeface="+mn-lt"/>
                  <a:ea typeface="+mn-ea"/>
                  <a:cs typeface="+mn-cs"/>
                </a:rPr>
                <a:t>强会员参与感及活跃度</a:t>
              </a:r>
            </a:p>
          </p:txBody>
        </p:sp>
      </p:grpSp>
      <p:grpSp>
        <p:nvGrpSpPr>
          <p:cNvPr id="115" name="flow-card-5"/>
          <p:cNvGrpSpPr/>
          <p:nvPr/>
        </p:nvGrpSpPr>
        <p:grpSpPr>
          <a:xfrm>
            <a:off x="9525000" y="4686300"/>
            <a:ext cx="2266950" cy="1752600"/>
            <a:chOff x="9525000" y="4686300"/>
            <a:chExt cx="2266950" cy="1752600"/>
          </a:xfrm>
        </p:grpSpPr>
        <p:sp>
          <p:nvSpPr>
            <p:cNvPr id="110" name="Rectangle 110"/>
            <p:cNvSpPr/>
            <p:nvPr/>
          </p:nvSpPr>
          <p:spPr>
            <a:xfrm>
              <a:off x="9525000" y="4686300"/>
              <a:ext cx="2266950" cy="285750"/>
            </a:xfrm>
            <a:prstGeom prst="roundRect">
              <a:avLst>
                <a:gd name="adj" fmla="val 13333"/>
              </a:avLst>
            </a:prstGeom>
            <a:gradFill>
              <a:gsLst>
                <a:gs pos="0">
                  <a:srgbClr val="C1553F"/>
                </a:gs>
                <a:gs pos="100000">
                  <a:srgbClr val="CE897B"/>
                </a:gs>
              </a:gsLst>
              <a:lin ang="0" scaled="1"/>
            </a:gradFill>
            <a:ln>
              <a:noFill/>
            </a:ln>
          </p:spPr>
        </p:sp>
        <p:sp>
          <p:nvSpPr>
            <p:cNvPr id="111" name="TextBox 111"/>
            <p:cNvSpPr txBox="1"/>
            <p:nvPr/>
          </p:nvSpPr>
          <p:spPr>
            <a:xfrm>
              <a:off x="10125812" y="4771549"/>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裂变拉动新客获取</a:t>
              </a:r>
            </a:p>
          </p:txBody>
        </p:sp>
        <p:sp>
          <p:nvSpPr>
            <p:cNvPr id="112" name="Rectangle 112"/>
            <p:cNvSpPr/>
            <p:nvPr/>
          </p:nvSpPr>
          <p:spPr>
            <a:xfrm>
              <a:off x="9525000" y="4972050"/>
              <a:ext cx="2266950" cy="1466850"/>
            </a:xfrm>
            <a:prstGeom prst="roundRect">
              <a:avLst>
                <a:gd name="adj" fmla="val 2597"/>
              </a:avLst>
            </a:prstGeom>
            <a:solidFill>
              <a:srgbClr val="FFFFFF"/>
            </a:solidFill>
            <a:ln w="9525">
              <a:solidFill>
                <a:srgbClr val="E4E7F5"/>
              </a:solidFill>
            </a:ln>
          </p:spPr>
        </p:sp>
        <p:sp>
          <p:nvSpPr>
            <p:cNvPr id="113" name="TextBox 113"/>
            <p:cNvSpPr txBox="1"/>
            <p:nvPr/>
          </p:nvSpPr>
          <p:spPr>
            <a:xfrm>
              <a:off x="9615488" y="5085636"/>
              <a:ext cx="1542415" cy="407194"/>
            </a:xfrm>
            <a:prstGeom prst="rect">
              <a:avLst/>
            </a:prstGeom>
            <a:noFill/>
            <a:ln>
              <a:noFill/>
            </a:ln>
          </p:spPr>
          <p:txBody>
            <a:bodyPr wrap="none" lIns="0" tIns="0" rIns="0" bIns="0" anchor="t" anchorCtr="0">
              <a:spAutoFit/>
            </a:bodyPr>
            <a:lstStyle/>
            <a:p>
              <a:pPr algn="l">
                <a:lnSpc>
                  <a:spcPts val="1050"/>
                </a:lnSpc>
              </a:pPr>
              <a:r>
                <a:rPr lang="zh-CN" sz="710" b="1" dirty="0">
                  <a:solidFill>
                    <a:srgbClr val="E5624C"/>
                  </a:solidFill>
                  <a:latin typeface="+mn-lt"/>
                  <a:ea typeface="+mn-ea"/>
                  <a:cs typeface="+mn-cs"/>
                </a:rPr>
                <a:t>社交裂变：</a:t>
              </a:r>
              <a:r>
                <a:rPr lang="zh-CN" sz="710" dirty="0">
                  <a:solidFill>
                    <a:srgbClr val="000000"/>
                  </a:solidFill>
                  <a:latin typeface="+mn-lt"/>
                  <a:ea typeface="+mn-ea"/>
                  <a:cs typeface="+mn-cs"/>
                </a:rPr>
                <a:t>利用社交平台，构建社交化</a:t>
              </a:r>
              <a:br/>
              <a:r>
                <a:rPr lang="zh-CN" sz="710" dirty="0">
                  <a:solidFill>
                    <a:srgbClr val="000000"/>
                  </a:solidFill>
                  <a:latin typeface="+mn-lt"/>
                  <a:ea typeface="+mn-ea"/>
                  <a:cs typeface="+mn-cs"/>
                </a:rPr>
                <a:t>营销模式，助力企业拓展潜客群体，</a:t>
              </a:r>
              <a:br/>
              <a:r>
                <a:rPr lang="zh-CN" sz="710" dirty="0">
                  <a:solidFill>
                    <a:srgbClr val="000000"/>
                  </a:solidFill>
                  <a:latin typeface="+mn-lt"/>
                  <a:ea typeface="+mn-ea"/>
                  <a:cs typeface="+mn-cs"/>
                </a:rPr>
                <a:t>获取更多新客资源</a:t>
              </a:r>
            </a:p>
          </p:txBody>
        </p:sp>
        <p:sp>
          <p:nvSpPr>
            <p:cNvPr id="114" name="TextBox 114"/>
            <p:cNvSpPr txBox="1"/>
            <p:nvPr/>
          </p:nvSpPr>
          <p:spPr>
            <a:xfrm>
              <a:off x="9615488" y="5676186"/>
              <a:ext cx="1632585" cy="407194"/>
            </a:xfrm>
            <a:prstGeom prst="rect">
              <a:avLst/>
            </a:prstGeom>
            <a:noFill/>
            <a:ln>
              <a:noFill/>
            </a:ln>
          </p:spPr>
          <p:txBody>
            <a:bodyPr wrap="none" lIns="0" tIns="0" rIns="0" bIns="0" anchor="t" anchorCtr="0">
              <a:spAutoFit/>
            </a:bodyPr>
            <a:lstStyle/>
            <a:p>
              <a:pPr algn="l">
                <a:lnSpc>
                  <a:spcPts val="1050"/>
                </a:lnSpc>
              </a:pPr>
              <a:r>
                <a:rPr lang="zh-CN" sz="710" b="1" dirty="0">
                  <a:solidFill>
                    <a:srgbClr val="E5624C"/>
                  </a:solidFill>
                  <a:latin typeface="+mn-lt"/>
                  <a:ea typeface="+mn-ea"/>
                  <a:cs typeface="+mn-cs"/>
                </a:rPr>
                <a:t>直播共享：</a:t>
              </a:r>
              <a:r>
                <a:rPr lang="zh-CN" sz="710" dirty="0">
                  <a:solidFill>
                    <a:srgbClr val="000000"/>
                  </a:solidFill>
                  <a:latin typeface="+mn-lt"/>
                  <a:ea typeface="+mn-ea"/>
                  <a:cs typeface="+mn-cs"/>
                </a:rPr>
                <a:t>企业打造直播共享平台，为客</a:t>
              </a:r>
              <a:br/>
              <a:r>
                <a:rPr lang="zh-CN" sz="710" dirty="0">
                  <a:solidFill>
                    <a:srgbClr val="000000"/>
                  </a:solidFill>
                  <a:latin typeface="+mn-lt"/>
                  <a:ea typeface="+mn-ea"/>
                  <a:cs typeface="+mn-cs"/>
                </a:rPr>
                <a:t>户打造一个自我展示平台，同时实现</a:t>
              </a:r>
              <a:br/>
              <a:r>
                <a:rPr lang="zh-CN" sz="710" dirty="0">
                  <a:solidFill>
                    <a:srgbClr val="000000"/>
                  </a:solidFill>
                  <a:latin typeface="+mn-lt"/>
                  <a:ea typeface="+mn-ea"/>
                  <a:cs typeface="+mn-cs"/>
                </a:rPr>
                <a:t>品牌传播效应</a:t>
              </a:r>
            </a:p>
          </p:txBody>
        </p:sp>
      </p:gr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683383" cy="440055"/>
            <a:chOff x="302895" y="214312"/>
            <a:chExt cx="2683383"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19.​</a:t>
              </a:r>
            </a:p>
          </p:txBody>
        </p:sp>
        <p:sp>
          <p:nvSpPr>
            <p:cNvPr id="3" name="TextBox 3"/>
            <p:cNvSpPr txBox="1"/>
            <p:nvPr/>
          </p:nvSpPr>
          <p:spPr>
            <a:xfrm>
              <a:off x="866394" y="246698"/>
              <a:ext cx="2119884"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品牌生命周期运营</a:t>
              </a:r>
            </a:p>
          </p:txBody>
        </p:sp>
      </p:grpSp>
      <p:grpSp>
        <p:nvGrpSpPr>
          <p:cNvPr id="21" name="lifecycle-platforms"/>
          <p:cNvGrpSpPr/>
          <p:nvPr/>
        </p:nvGrpSpPr>
        <p:grpSpPr>
          <a:xfrm>
            <a:off x="533400" y="1524000"/>
            <a:ext cx="228600" cy="1143000"/>
            <a:chOff x="533400" y="1524000"/>
            <a:chExt cx="228600" cy="1143000"/>
          </a:xfrm>
        </p:grpSpPr>
        <p:sp>
          <p:nvSpPr>
            <p:cNvPr id="5" name="Rectangle 5"/>
            <p:cNvSpPr/>
            <p:nvPr/>
          </p:nvSpPr>
          <p:spPr>
            <a:xfrm>
              <a:off x="533400" y="1524000"/>
              <a:ext cx="228600" cy="228600"/>
            </a:xfrm>
            <a:prstGeom prst="roundRect">
              <a:avLst>
                <a:gd name="adj" fmla="val 20833"/>
              </a:avLst>
            </a:prstGeom>
            <a:solidFill>
              <a:srgbClr val="FB8B72"/>
            </a:solidFill>
            <a:ln>
              <a:noFill/>
            </a:ln>
          </p:spPr>
        </p:sp>
        <p:grpSp>
          <p:nvGrpSpPr>
            <p:cNvPr id="8" name="Group 8"/>
            <p:cNvGrpSpPr/>
            <p:nvPr/>
          </p:nvGrpSpPr>
          <p:grpSpPr>
            <a:xfrm>
              <a:off x="590550" y="1600200"/>
              <a:ext cx="114300" cy="76200"/>
              <a:chOff x="590550" y="1600200"/>
              <a:chExt cx="114300" cy="76200"/>
            </a:xfrm>
          </p:grpSpPr>
          <p:sp>
            <p:nvSpPr>
              <p:cNvPr id="6" name="Freeform 6"/>
              <p:cNvSpPr/>
              <p:nvPr/>
            </p:nvSpPr>
            <p:spPr>
              <a:xfrm>
                <a:off x="666750" y="1610164"/>
                <a:ext cx="38100" cy="56272"/>
              </a:xfrm>
              <a:custGeom>
                <a:avLst/>
                <a:gdLst/>
                <a:ahLst/>
                <a:cxnLst/>
                <a:rect l="l" t="t" r="r" b="b"/>
                <a:pathLst>
                  <a:path w="38100" h="56272">
                    <a:moveTo>
                      <a:pt x="0" y="15436"/>
                    </a:moveTo>
                    <a:lnTo>
                      <a:pt x="28912" y="983"/>
                    </a:lnTo>
                    <a:cubicBezTo>
                      <a:pt x="30879" y="0"/>
                      <a:pt x="33216" y="105"/>
                      <a:pt x="35088" y="1262"/>
                    </a:cubicBezTo>
                    <a:cubicBezTo>
                      <a:pt x="36959" y="2418"/>
                      <a:pt x="38099" y="4460"/>
                      <a:pt x="38100" y="6660"/>
                    </a:cubicBezTo>
                    <a:lnTo>
                      <a:pt x="38100" y="49612"/>
                    </a:lnTo>
                    <a:cubicBezTo>
                      <a:pt x="38099" y="51812"/>
                      <a:pt x="36959" y="53854"/>
                      <a:pt x="35088" y="55010"/>
                    </a:cubicBezTo>
                    <a:cubicBezTo>
                      <a:pt x="33216" y="56167"/>
                      <a:pt x="30879" y="56272"/>
                      <a:pt x="28912" y="55289"/>
                    </a:cubicBezTo>
                    <a:lnTo>
                      <a:pt x="0" y="40836"/>
                    </a:lnTo>
                    <a:lnTo>
                      <a:pt x="0" y="15436"/>
                    </a:lnTo>
                  </a:path>
                </a:pathLst>
              </a:custGeom>
              <a:noFill/>
              <a:ln w="12700">
                <a:solidFill>
                  <a:srgbClr val="FFFFFF"/>
                </a:solidFill>
              </a:ln>
            </p:spPr>
          </p:sp>
          <p:sp>
            <p:nvSpPr>
              <p:cNvPr id="7" name="Freeform 7"/>
              <p:cNvSpPr/>
              <p:nvPr/>
            </p:nvSpPr>
            <p:spPr>
              <a:xfrm>
                <a:off x="590550" y="1600200"/>
                <a:ext cx="76200" cy="76200"/>
              </a:xfrm>
              <a:custGeom>
                <a:avLst/>
                <a:gdLst/>
                <a:ahLst/>
                <a:cxnLst/>
                <a:rect l="l" t="t" r="r" b="b"/>
                <a:pathLst>
                  <a:path w="76200" h="76200">
                    <a:moveTo>
                      <a:pt x="0" y="12700"/>
                    </a:moveTo>
                    <a:cubicBezTo>
                      <a:pt x="0" y="5686"/>
                      <a:pt x="5686" y="0"/>
                      <a:pt x="12700" y="0"/>
                    </a:cubicBezTo>
                    <a:lnTo>
                      <a:pt x="63500" y="0"/>
                    </a:lnTo>
                    <a:cubicBezTo>
                      <a:pt x="70514" y="0"/>
                      <a:pt x="76200" y="5686"/>
                      <a:pt x="76200" y="12700"/>
                    </a:cubicBezTo>
                    <a:lnTo>
                      <a:pt x="76200" y="63500"/>
                    </a:lnTo>
                    <a:cubicBezTo>
                      <a:pt x="76200" y="70514"/>
                      <a:pt x="70514" y="76200"/>
                      <a:pt x="63500" y="76200"/>
                    </a:cubicBezTo>
                    <a:lnTo>
                      <a:pt x="12700" y="76200"/>
                    </a:lnTo>
                    <a:cubicBezTo>
                      <a:pt x="5686" y="76200"/>
                      <a:pt x="0" y="70514"/>
                      <a:pt x="0" y="63500"/>
                    </a:cubicBezTo>
                    <a:lnTo>
                      <a:pt x="0" y="12700"/>
                    </a:lnTo>
                  </a:path>
                </a:pathLst>
              </a:custGeom>
              <a:noFill/>
              <a:ln w="12700">
                <a:solidFill>
                  <a:srgbClr val="FFFFFF"/>
                </a:solidFill>
              </a:ln>
            </p:spPr>
          </p:sp>
        </p:grpSp>
        <p:sp>
          <p:nvSpPr>
            <p:cNvPr id="9" name="Rectangle 9"/>
            <p:cNvSpPr/>
            <p:nvPr/>
          </p:nvSpPr>
          <p:spPr>
            <a:xfrm>
              <a:off x="533400" y="1828800"/>
              <a:ext cx="228600" cy="228600"/>
            </a:xfrm>
            <a:prstGeom prst="roundRect">
              <a:avLst>
                <a:gd name="adj" fmla="val 20833"/>
              </a:avLst>
            </a:prstGeom>
            <a:solidFill>
              <a:srgbClr val="C12507"/>
            </a:solidFill>
            <a:ln>
              <a:noFill/>
            </a:ln>
          </p:spPr>
        </p:sp>
        <p:sp>
          <p:nvSpPr>
            <p:cNvPr id="10" name="Freeform 10"/>
            <p:cNvSpPr/>
            <p:nvPr/>
          </p:nvSpPr>
          <p:spPr>
            <a:xfrm>
              <a:off x="584048" y="188737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FFFFFF"/>
              </a:solidFill>
            </a:ln>
          </p:spPr>
        </p:sp>
        <p:sp>
          <p:nvSpPr>
            <p:cNvPr id="11" name="Rectangle 11"/>
            <p:cNvSpPr/>
            <p:nvPr/>
          </p:nvSpPr>
          <p:spPr>
            <a:xfrm>
              <a:off x="533400" y="2133600"/>
              <a:ext cx="228600" cy="228600"/>
            </a:xfrm>
            <a:prstGeom prst="roundRect">
              <a:avLst>
                <a:gd name="adj" fmla="val 20833"/>
              </a:avLst>
            </a:prstGeom>
            <a:solidFill>
              <a:srgbClr val="FF4D24"/>
            </a:solidFill>
            <a:ln>
              <a:noFill/>
            </a:ln>
          </p:spPr>
        </p:sp>
        <p:grpSp>
          <p:nvGrpSpPr>
            <p:cNvPr id="15" name="Group 15"/>
            <p:cNvGrpSpPr/>
            <p:nvPr/>
          </p:nvGrpSpPr>
          <p:grpSpPr>
            <a:xfrm>
              <a:off x="603250" y="2197100"/>
              <a:ext cx="88900" cy="101600"/>
              <a:chOff x="603250" y="2197100"/>
              <a:chExt cx="88900" cy="101600"/>
            </a:xfrm>
          </p:grpSpPr>
          <p:sp>
            <p:nvSpPr>
              <p:cNvPr id="12" name="Freeform 12"/>
              <p:cNvSpPr/>
              <p:nvPr/>
            </p:nvSpPr>
            <p:spPr>
              <a:xfrm>
                <a:off x="603250" y="2197100"/>
                <a:ext cx="88900" cy="101600"/>
              </a:xfrm>
              <a:custGeom>
                <a:avLst/>
                <a:gdLst/>
                <a:ahLst/>
                <a:cxnLst/>
                <a:rect l="l" t="t" r="r" b="b"/>
                <a:pathLst>
                  <a:path w="88900" h="101600">
                    <a:moveTo>
                      <a:pt x="88900" y="0"/>
                    </a:moveTo>
                    <a:lnTo>
                      <a:pt x="88900" y="101600"/>
                    </a:lnTo>
                    <a:lnTo>
                      <a:pt x="12700" y="101600"/>
                    </a:lnTo>
                    <a:cubicBezTo>
                      <a:pt x="5686" y="101600"/>
                      <a:pt x="0" y="95914"/>
                      <a:pt x="0" y="88900"/>
                    </a:cubicBezTo>
                    <a:lnTo>
                      <a:pt x="0" y="12700"/>
                    </a:lnTo>
                    <a:cubicBezTo>
                      <a:pt x="0" y="5686"/>
                      <a:pt x="5686" y="0"/>
                      <a:pt x="12700" y="0"/>
                    </a:cubicBezTo>
                    <a:lnTo>
                      <a:pt x="88900" y="0"/>
                    </a:lnTo>
                  </a:path>
                </a:pathLst>
              </a:custGeom>
              <a:noFill/>
              <a:ln w="12700">
                <a:solidFill>
                  <a:srgbClr val="FFFFFF"/>
                </a:solidFill>
              </a:ln>
            </p:spPr>
          </p:sp>
          <p:sp>
            <p:nvSpPr>
              <p:cNvPr id="13" name="Freeform 13"/>
              <p:cNvSpPr/>
              <p:nvPr/>
            </p:nvSpPr>
            <p:spPr>
              <a:xfrm>
                <a:off x="603250" y="2273300"/>
                <a:ext cx="88900" cy="12700"/>
              </a:xfrm>
              <a:custGeom>
                <a:avLst/>
                <a:gdLst/>
                <a:ahLst/>
                <a:cxnLst/>
                <a:rect l="l" t="t" r="r" b="b"/>
                <a:pathLst>
                  <a:path w="88900" h="12700">
                    <a:moveTo>
                      <a:pt x="88900" y="0"/>
                    </a:moveTo>
                    <a:lnTo>
                      <a:pt x="12700" y="0"/>
                    </a:lnTo>
                    <a:cubicBezTo>
                      <a:pt x="5686" y="0"/>
                      <a:pt x="0" y="5686"/>
                      <a:pt x="0" y="12700"/>
                    </a:cubicBezTo>
                  </a:path>
                </a:pathLst>
              </a:custGeom>
              <a:noFill/>
              <a:ln w="12700">
                <a:solidFill>
                  <a:srgbClr val="FFFFFF"/>
                </a:solidFill>
              </a:ln>
            </p:spPr>
          </p:sp>
          <p:sp>
            <p:nvSpPr>
              <p:cNvPr id="14" name="Freeform 14"/>
              <p:cNvSpPr/>
              <p:nvPr/>
            </p:nvSpPr>
            <p:spPr>
              <a:xfrm>
                <a:off x="628650" y="2222500"/>
                <a:ext cx="38100" cy="9525"/>
              </a:xfrm>
              <a:custGeom>
                <a:avLst/>
                <a:gdLst/>
                <a:ahLst/>
                <a:cxnLst/>
                <a:rect l="l" t="t" r="r" b="b"/>
                <a:pathLst>
                  <a:path w="38100" h="9525">
                    <a:moveTo>
                      <a:pt x="0" y="0"/>
                    </a:moveTo>
                    <a:lnTo>
                      <a:pt x="38100" y="0"/>
                    </a:lnTo>
                  </a:path>
                </a:pathLst>
              </a:custGeom>
              <a:noFill/>
              <a:ln w="12700">
                <a:solidFill>
                  <a:srgbClr val="FFFFFF"/>
                </a:solidFill>
              </a:ln>
            </p:spPr>
          </p:sp>
        </p:grpSp>
        <p:sp>
          <p:nvSpPr>
            <p:cNvPr id="16" name="Rectangle 16"/>
            <p:cNvSpPr/>
            <p:nvPr/>
          </p:nvSpPr>
          <p:spPr>
            <a:xfrm>
              <a:off x="533400" y="2438400"/>
              <a:ext cx="228600" cy="228600"/>
            </a:xfrm>
            <a:prstGeom prst="roundRect">
              <a:avLst>
                <a:gd name="adj" fmla="val 20833"/>
              </a:avLst>
            </a:prstGeom>
            <a:solidFill>
              <a:srgbClr val="261C1A"/>
            </a:solidFill>
            <a:ln>
              <a:noFill/>
            </a:ln>
          </p:spPr>
        </p:sp>
        <p:grpSp>
          <p:nvGrpSpPr>
            <p:cNvPr id="20" name="Group 20"/>
            <p:cNvGrpSpPr/>
            <p:nvPr/>
          </p:nvGrpSpPr>
          <p:grpSpPr>
            <a:xfrm>
              <a:off x="609600" y="2495550"/>
              <a:ext cx="76200" cy="114300"/>
              <a:chOff x="609600" y="2495550"/>
              <a:chExt cx="76200" cy="114300"/>
            </a:xfrm>
          </p:grpSpPr>
          <p:sp>
            <p:nvSpPr>
              <p:cNvPr id="17" name="Freeform 17"/>
              <p:cNvSpPr/>
              <p:nvPr/>
            </p:nvSpPr>
            <p:spPr>
              <a:xfrm>
                <a:off x="609600" y="249555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FFFFFF"/>
                </a:solidFill>
              </a:ln>
            </p:spPr>
          </p:sp>
          <p:sp>
            <p:nvSpPr>
              <p:cNvPr id="18" name="Freeform 18"/>
              <p:cNvSpPr/>
              <p:nvPr/>
            </p:nvSpPr>
            <p:spPr>
              <a:xfrm>
                <a:off x="641350" y="2501900"/>
                <a:ext cx="12700" cy="9525"/>
              </a:xfrm>
              <a:custGeom>
                <a:avLst/>
                <a:gdLst/>
                <a:ahLst/>
                <a:cxnLst/>
                <a:rect l="l" t="t" r="r" b="b"/>
                <a:pathLst>
                  <a:path w="12700" h="9525">
                    <a:moveTo>
                      <a:pt x="0" y="0"/>
                    </a:moveTo>
                    <a:lnTo>
                      <a:pt x="12700" y="0"/>
                    </a:lnTo>
                  </a:path>
                </a:pathLst>
              </a:custGeom>
              <a:noFill/>
              <a:ln w="12700">
                <a:solidFill>
                  <a:srgbClr val="FFFFFF"/>
                </a:solidFill>
              </a:ln>
            </p:spPr>
          </p:sp>
          <p:sp>
            <p:nvSpPr>
              <p:cNvPr id="19" name="Freeform 19"/>
              <p:cNvSpPr/>
              <p:nvPr/>
            </p:nvSpPr>
            <p:spPr>
              <a:xfrm>
                <a:off x="647700" y="2584450"/>
                <a:ext cx="9525" cy="9525"/>
              </a:xfrm>
              <a:custGeom>
                <a:avLst/>
                <a:gdLst/>
                <a:ahLst/>
                <a:cxnLst/>
                <a:rect l="l" t="t" r="r" b="b"/>
                <a:pathLst>
                  <a:path w="9525" h="9525">
                    <a:moveTo>
                      <a:pt x="0" y="0"/>
                    </a:moveTo>
                    <a:lnTo>
                      <a:pt x="0" y="64"/>
                    </a:lnTo>
                  </a:path>
                </a:pathLst>
              </a:custGeom>
              <a:noFill/>
              <a:ln w="12700">
                <a:solidFill>
                  <a:srgbClr val="FFFFFF"/>
                </a:solidFill>
              </a:ln>
            </p:spPr>
          </p:sp>
        </p:grpSp>
      </p:grpSp>
      <p:sp>
        <p:nvSpPr>
          <p:cNvPr id="22" name="lifecycle-beam"/>
          <p:cNvSpPr/>
          <p:nvPr/>
        </p:nvSpPr>
        <p:spPr>
          <a:xfrm>
            <a:off x="285750" y="2914650"/>
            <a:ext cx="1047750" cy="628650"/>
          </a:xfrm>
          <a:custGeom>
            <a:avLst/>
            <a:gdLst/>
            <a:ahLst/>
            <a:cxnLst/>
            <a:rect l="l" t="t" r="r" b="b"/>
            <a:pathLst>
              <a:path w="1047750" h="628650">
                <a:moveTo>
                  <a:pt x="361950" y="0"/>
                </a:moveTo>
                <a:lnTo>
                  <a:pt x="0" y="628650"/>
                </a:lnTo>
                <a:lnTo>
                  <a:pt x="1047750" y="628650"/>
                </a:lnTo>
                <a:close/>
              </a:path>
            </a:pathLst>
          </a:custGeom>
          <a:solidFill>
            <a:srgbClr val="EEF0FA"/>
          </a:solidFill>
          <a:ln>
            <a:noFill/>
          </a:ln>
        </p:spPr>
      </p:sp>
      <p:grpSp>
        <p:nvGrpSpPr>
          <p:cNvPr id="28" name="stage-panel-1"/>
          <p:cNvGrpSpPr/>
          <p:nvPr/>
        </p:nvGrpSpPr>
        <p:grpSpPr>
          <a:xfrm>
            <a:off x="1638300" y="952500"/>
            <a:ext cx="2457450" cy="2266950"/>
            <a:chOff x="1638300" y="952500"/>
            <a:chExt cx="2457450" cy="2266950"/>
          </a:xfrm>
        </p:grpSpPr>
        <p:sp>
          <p:nvSpPr>
            <p:cNvPr id="23" name="Rectangle 23"/>
            <p:cNvSpPr/>
            <p:nvPr/>
          </p:nvSpPr>
          <p:spPr>
            <a:xfrm>
              <a:off x="1638300" y="952500"/>
              <a:ext cx="2457450" cy="2266950"/>
            </a:xfrm>
            <a:prstGeom prst="rect">
              <a:avLst/>
            </a:prstGeom>
            <a:solidFill>
              <a:srgbClr val="F3F5FC"/>
            </a:solidFill>
            <a:ln>
              <a:noFill/>
            </a:ln>
          </p:spPr>
        </p:sp>
        <p:sp>
          <p:nvSpPr>
            <p:cNvPr id="24" name="TextBox 24"/>
            <p:cNvSpPr txBox="1"/>
            <p:nvPr/>
          </p:nvSpPr>
          <p:spPr>
            <a:xfrm>
              <a:off x="2619946" y="1179195"/>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找对人群</a:t>
              </a:r>
            </a:p>
          </p:txBody>
        </p:sp>
        <p:sp>
          <p:nvSpPr>
            <p:cNvPr id="25" name="TextBox 25"/>
            <p:cNvSpPr txBox="1"/>
            <p:nvPr/>
          </p:nvSpPr>
          <p:spPr>
            <a:xfrm>
              <a:off x="2559368" y="1369695"/>
              <a:ext cx="615315"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产品和内容</a:t>
              </a:r>
            </a:p>
          </p:txBody>
        </p:sp>
        <p:sp>
          <p:nvSpPr>
            <p:cNvPr id="26" name="Freeform 26"/>
            <p:cNvSpPr/>
            <p:nvPr/>
          </p:nvSpPr>
          <p:spPr>
            <a:xfrm>
              <a:off x="1638300" y="2552700"/>
              <a:ext cx="2457450" cy="666750"/>
            </a:xfrm>
            <a:custGeom>
              <a:avLst/>
              <a:gdLst/>
              <a:ahLst/>
              <a:cxnLst/>
              <a:rect l="l" t="t" r="r" b="b"/>
              <a:pathLst>
                <a:path w="2457450" h="666750">
                  <a:moveTo>
                    <a:pt x="0" y="266700"/>
                  </a:moveTo>
                  <a:cubicBezTo>
                    <a:pt x="647700" y="228600"/>
                    <a:pt x="1219200" y="152400"/>
                    <a:pt x="2457450" y="0"/>
                  </a:cubicBezTo>
                  <a:lnTo>
                    <a:pt x="2457450" y="666750"/>
                  </a:lnTo>
                  <a:lnTo>
                    <a:pt x="0" y="666750"/>
                  </a:lnTo>
                  <a:close/>
                </a:path>
              </a:pathLst>
            </a:custGeom>
            <a:gradFill>
              <a:gsLst>
                <a:gs pos="0">
                  <a:srgbClr val="D47D6B">
                    <a:alpha val="55000"/>
                  </a:srgbClr>
                </a:gs>
                <a:gs pos="100000">
                  <a:srgbClr val="D47D6B">
                    <a:alpha val="5000"/>
                  </a:srgbClr>
                </a:gs>
              </a:gsLst>
              <a:lin ang="5400000" scaled="1"/>
            </a:gradFill>
            <a:ln>
              <a:noFill/>
            </a:ln>
          </p:spPr>
        </p:sp>
        <p:sp>
          <p:nvSpPr>
            <p:cNvPr id="27" name="TextBox 27"/>
            <p:cNvSpPr txBox="1"/>
            <p:nvPr/>
          </p:nvSpPr>
          <p:spPr>
            <a:xfrm>
              <a:off x="2484374" y="2983706"/>
              <a:ext cx="765302"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产品引入期</a:t>
              </a:r>
            </a:p>
          </p:txBody>
        </p:sp>
      </p:grpSp>
      <p:grpSp>
        <p:nvGrpSpPr>
          <p:cNvPr id="34" name="stage-panel-2"/>
          <p:cNvGrpSpPr/>
          <p:nvPr/>
        </p:nvGrpSpPr>
        <p:grpSpPr>
          <a:xfrm>
            <a:off x="4210050" y="952500"/>
            <a:ext cx="2457450" cy="2266950"/>
            <a:chOff x="4210050" y="952500"/>
            <a:chExt cx="2457450" cy="2266950"/>
          </a:xfrm>
        </p:grpSpPr>
        <p:sp>
          <p:nvSpPr>
            <p:cNvPr id="29" name="Rectangle 29"/>
            <p:cNvSpPr/>
            <p:nvPr/>
          </p:nvSpPr>
          <p:spPr>
            <a:xfrm>
              <a:off x="4210050" y="952500"/>
              <a:ext cx="2457450" cy="2266950"/>
            </a:xfrm>
            <a:prstGeom prst="rect">
              <a:avLst/>
            </a:prstGeom>
            <a:solidFill>
              <a:srgbClr val="F3F5FC"/>
            </a:solidFill>
            <a:ln>
              <a:noFill/>
            </a:ln>
          </p:spPr>
        </p:sp>
        <p:sp>
          <p:nvSpPr>
            <p:cNvPr id="30" name="TextBox 30"/>
            <p:cNvSpPr txBox="1"/>
            <p:nvPr/>
          </p:nvSpPr>
          <p:spPr>
            <a:xfrm>
              <a:off x="4949380" y="1179195"/>
              <a:ext cx="978789"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打通人群赛道声量</a:t>
              </a:r>
            </a:p>
          </p:txBody>
        </p:sp>
        <p:sp>
          <p:nvSpPr>
            <p:cNvPr id="31" name="TextBox 31"/>
            <p:cNvSpPr txBox="1"/>
            <p:nvPr/>
          </p:nvSpPr>
          <p:spPr>
            <a:xfrm>
              <a:off x="4949380" y="1369695"/>
              <a:ext cx="978789"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占领探索增长模式</a:t>
              </a:r>
            </a:p>
          </p:txBody>
        </p:sp>
        <p:sp>
          <p:nvSpPr>
            <p:cNvPr id="32" name="Freeform 32"/>
            <p:cNvSpPr/>
            <p:nvPr/>
          </p:nvSpPr>
          <p:spPr>
            <a:xfrm>
              <a:off x="4210050" y="2133600"/>
              <a:ext cx="2457450" cy="1085850"/>
            </a:xfrm>
            <a:custGeom>
              <a:avLst/>
              <a:gdLst/>
              <a:ahLst/>
              <a:cxnLst/>
              <a:rect l="l" t="t" r="r" b="b"/>
              <a:pathLst>
                <a:path w="2457450" h="1085850">
                  <a:moveTo>
                    <a:pt x="0" y="647700"/>
                  </a:moveTo>
                  <a:cubicBezTo>
                    <a:pt x="742950" y="533400"/>
                    <a:pt x="1504950" y="209550"/>
                    <a:pt x="2457450" y="0"/>
                  </a:cubicBezTo>
                  <a:lnTo>
                    <a:pt x="2457450" y="1085850"/>
                  </a:lnTo>
                  <a:lnTo>
                    <a:pt x="0" y="1085850"/>
                  </a:lnTo>
                  <a:close/>
                </a:path>
              </a:pathLst>
            </a:custGeom>
            <a:gradFill>
              <a:gsLst>
                <a:gs pos="0">
                  <a:srgbClr val="C4624E">
                    <a:alpha val="75000"/>
                  </a:srgbClr>
                </a:gs>
                <a:gs pos="100000">
                  <a:srgbClr val="C4624E">
                    <a:alpha val="8000"/>
                  </a:srgbClr>
                </a:gs>
              </a:gsLst>
              <a:lin ang="5400000" scaled="1"/>
            </a:gradFill>
            <a:ln>
              <a:noFill/>
            </a:ln>
          </p:spPr>
        </p:sp>
        <p:sp>
          <p:nvSpPr>
            <p:cNvPr id="33" name="TextBox 33"/>
            <p:cNvSpPr txBox="1"/>
            <p:nvPr/>
          </p:nvSpPr>
          <p:spPr>
            <a:xfrm>
              <a:off x="5056124" y="2983706"/>
              <a:ext cx="765302"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产品成长期</a:t>
              </a:r>
            </a:p>
          </p:txBody>
        </p:sp>
      </p:grpSp>
      <p:grpSp>
        <p:nvGrpSpPr>
          <p:cNvPr id="40" name="stage-panel-3"/>
          <p:cNvGrpSpPr/>
          <p:nvPr/>
        </p:nvGrpSpPr>
        <p:grpSpPr>
          <a:xfrm>
            <a:off x="6772275" y="952500"/>
            <a:ext cx="2457450" cy="2266950"/>
            <a:chOff x="6772275" y="952500"/>
            <a:chExt cx="2457450" cy="2266950"/>
          </a:xfrm>
        </p:grpSpPr>
        <p:sp>
          <p:nvSpPr>
            <p:cNvPr id="35" name="Rectangle 35"/>
            <p:cNvSpPr/>
            <p:nvPr/>
          </p:nvSpPr>
          <p:spPr>
            <a:xfrm>
              <a:off x="6772275" y="952500"/>
              <a:ext cx="2457450" cy="2266950"/>
            </a:xfrm>
            <a:prstGeom prst="rect">
              <a:avLst/>
            </a:prstGeom>
            <a:solidFill>
              <a:srgbClr val="F3F5FC"/>
            </a:solidFill>
            <a:ln>
              <a:noFill/>
            </a:ln>
          </p:spPr>
        </p:sp>
        <p:sp>
          <p:nvSpPr>
            <p:cNvPr id="36" name="TextBox 36"/>
            <p:cNvSpPr txBox="1"/>
            <p:nvPr/>
          </p:nvSpPr>
          <p:spPr>
            <a:xfrm>
              <a:off x="7329868" y="1179195"/>
              <a:ext cx="1342263"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拓展人群机会和场景机会</a:t>
              </a:r>
            </a:p>
          </p:txBody>
        </p:sp>
        <p:sp>
          <p:nvSpPr>
            <p:cNvPr id="37" name="TextBox 37"/>
            <p:cNvSpPr txBox="1"/>
            <p:nvPr/>
          </p:nvSpPr>
          <p:spPr>
            <a:xfrm>
              <a:off x="7451026" y="1369695"/>
              <a:ext cx="109994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尝试新的用户增长点</a:t>
              </a:r>
            </a:p>
          </p:txBody>
        </p:sp>
        <p:sp>
          <p:nvSpPr>
            <p:cNvPr id="38" name="Freeform 38"/>
            <p:cNvSpPr/>
            <p:nvPr/>
          </p:nvSpPr>
          <p:spPr>
            <a:xfrm>
              <a:off x="6772275" y="1714500"/>
              <a:ext cx="2457450" cy="1504950"/>
            </a:xfrm>
            <a:custGeom>
              <a:avLst/>
              <a:gdLst/>
              <a:ahLst/>
              <a:cxnLst/>
              <a:rect l="l" t="t" r="r" b="b"/>
              <a:pathLst>
                <a:path w="2457450" h="1504950">
                  <a:moveTo>
                    <a:pt x="0" y="990600"/>
                  </a:moveTo>
                  <a:cubicBezTo>
                    <a:pt x="657225" y="571500"/>
                    <a:pt x="1800225" y="95250"/>
                    <a:pt x="2457450" y="0"/>
                  </a:cubicBezTo>
                  <a:lnTo>
                    <a:pt x="2457450" y="1504950"/>
                  </a:lnTo>
                  <a:lnTo>
                    <a:pt x="0" y="1504950"/>
                  </a:lnTo>
                  <a:close/>
                </a:path>
              </a:pathLst>
            </a:custGeom>
            <a:gradFill>
              <a:gsLst>
                <a:gs pos="0">
                  <a:srgbClr val="E5624C">
                    <a:alpha val="85000"/>
                  </a:srgbClr>
                </a:gs>
                <a:gs pos="100000">
                  <a:srgbClr val="E5624C">
                    <a:alpha val="10000"/>
                  </a:srgbClr>
                </a:gs>
              </a:gsLst>
              <a:lin ang="5400000" scaled="1"/>
            </a:gradFill>
            <a:ln>
              <a:noFill/>
            </a:ln>
          </p:spPr>
        </p:sp>
        <p:sp>
          <p:nvSpPr>
            <p:cNvPr id="39" name="TextBox 39"/>
            <p:cNvSpPr txBox="1"/>
            <p:nvPr/>
          </p:nvSpPr>
          <p:spPr>
            <a:xfrm>
              <a:off x="7618349" y="2983706"/>
              <a:ext cx="765302" cy="220028"/>
            </a:xfrm>
            <a:prstGeom prst="rect">
              <a:avLst/>
            </a:prstGeom>
            <a:noFill/>
            <a:ln>
              <a:noFill/>
            </a:ln>
          </p:spPr>
          <p:txBody>
            <a:bodyPr wrap="none" lIns="0" tIns="0" rIns="0" bIns="0" anchor="t" anchorCtr="0">
              <a:spAutoFit/>
            </a:bodyPr>
            <a:lstStyle/>
            <a:p>
              <a:pPr algn="ctr"/>
              <a:r>
                <a:rPr lang="zh-CN" sz="1120" b="1" dirty="0">
                  <a:solidFill>
                    <a:srgbClr val="E5624C"/>
                  </a:solidFill>
                  <a:latin typeface="+mn-lt"/>
                  <a:ea typeface="+mn-ea"/>
                  <a:cs typeface="+mn-cs"/>
                </a:rPr>
                <a:t>产品成熟期</a:t>
              </a:r>
            </a:p>
          </p:txBody>
        </p:sp>
      </p:grpSp>
      <p:grpSp>
        <p:nvGrpSpPr>
          <p:cNvPr id="47" name="stage-panel-4"/>
          <p:cNvGrpSpPr/>
          <p:nvPr/>
        </p:nvGrpSpPr>
        <p:grpSpPr>
          <a:xfrm>
            <a:off x="9334500" y="952500"/>
            <a:ext cx="2457450" cy="2266950"/>
            <a:chOff x="9334500" y="952500"/>
            <a:chExt cx="2457450" cy="2266950"/>
          </a:xfrm>
        </p:grpSpPr>
        <p:sp>
          <p:nvSpPr>
            <p:cNvPr id="41" name="Rectangle 41"/>
            <p:cNvSpPr/>
            <p:nvPr/>
          </p:nvSpPr>
          <p:spPr>
            <a:xfrm>
              <a:off x="9334500" y="952500"/>
              <a:ext cx="2457450" cy="2266950"/>
            </a:xfrm>
            <a:prstGeom prst="rect">
              <a:avLst/>
            </a:prstGeom>
            <a:solidFill>
              <a:srgbClr val="F3F5FC"/>
            </a:solidFill>
            <a:ln>
              <a:noFill/>
            </a:ln>
          </p:spPr>
        </p:sp>
        <p:sp>
          <p:nvSpPr>
            <p:cNvPr id="42" name="TextBox 42"/>
            <p:cNvSpPr txBox="1"/>
            <p:nvPr/>
          </p:nvSpPr>
          <p:spPr>
            <a:xfrm>
              <a:off x="10134410" y="1179195"/>
              <a:ext cx="857631"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产品创新的同时</a:t>
              </a:r>
            </a:p>
          </p:txBody>
        </p:sp>
        <p:sp>
          <p:nvSpPr>
            <p:cNvPr id="43" name="TextBox 43"/>
            <p:cNvSpPr txBox="1"/>
            <p:nvPr/>
          </p:nvSpPr>
          <p:spPr>
            <a:xfrm>
              <a:off x="10073830" y="1369695"/>
              <a:ext cx="978789"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营销创新打法创新</a:t>
              </a:r>
            </a:p>
          </p:txBody>
        </p:sp>
        <p:sp>
          <p:nvSpPr>
            <p:cNvPr id="44" name="Freeform 44"/>
            <p:cNvSpPr/>
            <p:nvPr/>
          </p:nvSpPr>
          <p:spPr>
            <a:xfrm>
              <a:off x="9334500" y="1428750"/>
              <a:ext cx="2457450" cy="1200150"/>
            </a:xfrm>
            <a:custGeom>
              <a:avLst/>
              <a:gdLst/>
              <a:ahLst/>
              <a:cxnLst/>
              <a:rect l="l" t="t" r="r" b="b"/>
              <a:pathLst>
                <a:path w="2457450" h="1200150">
                  <a:moveTo>
                    <a:pt x="0" y="1200150"/>
                  </a:moveTo>
                  <a:cubicBezTo>
                    <a:pt x="762000" y="571500"/>
                    <a:pt x="1714500" y="190500"/>
                    <a:pt x="2228850" y="114300"/>
                  </a:cubicBezTo>
                  <a:lnTo>
                    <a:pt x="2457450" y="0"/>
                  </a:lnTo>
                  <a:lnTo>
                    <a:pt x="2324100" y="247650"/>
                  </a:lnTo>
                  <a:lnTo>
                    <a:pt x="2457450" y="0"/>
                  </a:lnTo>
                </a:path>
              </a:pathLst>
            </a:custGeom>
            <a:noFill/>
            <a:ln w="28575">
              <a:solidFill>
                <a:srgbClr val="C05E4A"/>
              </a:solidFill>
            </a:ln>
          </p:spPr>
        </p:sp>
        <p:sp>
          <p:nvSpPr>
            <p:cNvPr id="45" name="Freeform 45"/>
            <p:cNvSpPr/>
            <p:nvPr/>
          </p:nvSpPr>
          <p:spPr>
            <a:xfrm>
              <a:off x="9334500" y="1504950"/>
              <a:ext cx="2457450" cy="1714500"/>
            </a:xfrm>
            <a:custGeom>
              <a:avLst/>
              <a:gdLst/>
              <a:ahLst/>
              <a:cxnLst/>
              <a:rect l="l" t="t" r="r" b="b"/>
              <a:pathLst>
                <a:path w="2457450" h="1714500">
                  <a:moveTo>
                    <a:pt x="0" y="1123950"/>
                  </a:moveTo>
                  <a:cubicBezTo>
                    <a:pt x="762000" y="495300"/>
                    <a:pt x="1714500" y="133350"/>
                    <a:pt x="2457450" y="0"/>
                  </a:cubicBezTo>
                  <a:lnTo>
                    <a:pt x="2457450" y="1714500"/>
                  </a:lnTo>
                  <a:lnTo>
                    <a:pt x="0" y="1714500"/>
                  </a:lnTo>
                  <a:close/>
                </a:path>
              </a:pathLst>
            </a:custGeom>
            <a:gradFill>
              <a:gsLst>
                <a:gs pos="0">
                  <a:srgbClr val="C05E4A">
                    <a:alpha val="95000"/>
                  </a:srgbClr>
                </a:gs>
                <a:gs pos="100000">
                  <a:srgbClr val="C05E4A">
                    <a:alpha val="12000"/>
                  </a:srgbClr>
                </a:gs>
              </a:gsLst>
              <a:lin ang="5400000" scaled="1"/>
            </a:gradFill>
            <a:ln>
              <a:noFill/>
            </a:ln>
          </p:spPr>
        </p:sp>
        <p:sp>
          <p:nvSpPr>
            <p:cNvPr id="46" name="TextBox 46"/>
            <p:cNvSpPr txBox="1"/>
            <p:nvPr/>
          </p:nvSpPr>
          <p:spPr>
            <a:xfrm>
              <a:off x="10180574" y="2983706"/>
              <a:ext cx="765302"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产品焕新期</a:t>
              </a:r>
            </a:p>
          </p:txBody>
        </p:sp>
      </p:grpSp>
      <p:grpSp>
        <p:nvGrpSpPr>
          <p:cNvPr id="56" name="matrix-rail"/>
          <p:cNvGrpSpPr/>
          <p:nvPr/>
        </p:nvGrpSpPr>
        <p:grpSpPr>
          <a:xfrm>
            <a:off x="342900" y="3695700"/>
            <a:ext cx="952500" cy="2647950"/>
            <a:chOff x="342900" y="3695700"/>
            <a:chExt cx="952500" cy="2647950"/>
          </a:xfrm>
        </p:grpSpPr>
        <p:sp>
          <p:nvSpPr>
            <p:cNvPr id="48" name="Rectangle 48"/>
            <p:cNvSpPr/>
            <p:nvPr/>
          </p:nvSpPr>
          <p:spPr>
            <a:xfrm>
              <a:off x="342900" y="3695700"/>
              <a:ext cx="952500" cy="285750"/>
            </a:xfrm>
            <a:prstGeom prst="roundRect">
              <a:avLst>
                <a:gd name="adj" fmla="val 50000"/>
              </a:avLst>
            </a:prstGeom>
            <a:solidFill>
              <a:srgbClr val="E5624C"/>
            </a:solidFill>
            <a:ln>
              <a:noFill/>
            </a:ln>
          </p:spPr>
        </p:sp>
        <p:sp>
          <p:nvSpPr>
            <p:cNvPr id="49" name="TextBox 49"/>
            <p:cNvSpPr txBox="1"/>
            <p:nvPr/>
          </p:nvSpPr>
          <p:spPr>
            <a:xfrm>
              <a:off x="550342" y="37809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达人内容</a:t>
              </a:r>
            </a:p>
          </p:txBody>
        </p:sp>
        <p:sp>
          <p:nvSpPr>
            <p:cNvPr id="50" name="Rectangle 50"/>
            <p:cNvSpPr/>
            <p:nvPr/>
          </p:nvSpPr>
          <p:spPr>
            <a:xfrm>
              <a:off x="342900" y="4686300"/>
              <a:ext cx="952500" cy="285750"/>
            </a:xfrm>
            <a:prstGeom prst="roundRect">
              <a:avLst>
                <a:gd name="adj" fmla="val 50000"/>
              </a:avLst>
            </a:prstGeom>
            <a:solidFill>
              <a:srgbClr val="D47D6B"/>
            </a:solidFill>
            <a:ln>
              <a:noFill/>
            </a:ln>
          </p:spPr>
        </p:sp>
        <p:sp>
          <p:nvSpPr>
            <p:cNvPr id="51" name="TextBox 51"/>
            <p:cNvSpPr txBox="1"/>
            <p:nvPr/>
          </p:nvSpPr>
          <p:spPr>
            <a:xfrm>
              <a:off x="550342" y="47715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搜索占位</a:t>
              </a:r>
            </a:p>
          </p:txBody>
        </p:sp>
        <p:sp>
          <p:nvSpPr>
            <p:cNvPr id="52" name="Rectangle 52"/>
            <p:cNvSpPr/>
            <p:nvPr/>
          </p:nvSpPr>
          <p:spPr>
            <a:xfrm>
              <a:off x="342900" y="5467350"/>
              <a:ext cx="952500" cy="285750"/>
            </a:xfrm>
            <a:prstGeom prst="roundRect">
              <a:avLst>
                <a:gd name="adj" fmla="val 50000"/>
              </a:avLst>
            </a:prstGeom>
            <a:solidFill>
              <a:srgbClr val="D47D6B"/>
            </a:solidFill>
            <a:ln>
              <a:noFill/>
            </a:ln>
          </p:spPr>
        </p:sp>
        <p:sp>
          <p:nvSpPr>
            <p:cNvPr id="53" name="TextBox 53"/>
            <p:cNvSpPr txBox="1"/>
            <p:nvPr/>
          </p:nvSpPr>
          <p:spPr>
            <a:xfrm>
              <a:off x="550342" y="55525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创意玩法</a:t>
              </a:r>
            </a:p>
          </p:txBody>
        </p:sp>
        <p:sp>
          <p:nvSpPr>
            <p:cNvPr id="54" name="Rectangle 54"/>
            <p:cNvSpPr/>
            <p:nvPr/>
          </p:nvSpPr>
          <p:spPr>
            <a:xfrm>
              <a:off x="342900" y="6057900"/>
              <a:ext cx="952500" cy="285750"/>
            </a:xfrm>
            <a:prstGeom prst="roundRect">
              <a:avLst>
                <a:gd name="adj" fmla="val 50000"/>
              </a:avLst>
            </a:prstGeom>
            <a:solidFill>
              <a:srgbClr val="E5624C"/>
            </a:solidFill>
            <a:ln>
              <a:noFill/>
            </a:ln>
          </p:spPr>
        </p:sp>
        <p:sp>
          <p:nvSpPr>
            <p:cNvPr id="55" name="TextBox 55"/>
            <p:cNvSpPr txBox="1"/>
            <p:nvPr/>
          </p:nvSpPr>
          <p:spPr>
            <a:xfrm>
              <a:off x="550342" y="61431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私域流转</a:t>
              </a:r>
            </a:p>
          </p:txBody>
        </p:sp>
      </p:grpSp>
      <p:grpSp>
        <p:nvGrpSpPr>
          <p:cNvPr id="65" name="matrix-row-1"/>
          <p:cNvGrpSpPr/>
          <p:nvPr/>
        </p:nvGrpSpPr>
        <p:grpSpPr>
          <a:xfrm>
            <a:off x="1638300" y="3390900"/>
            <a:ext cx="10153650" cy="971550"/>
            <a:chOff x="1638300" y="3390900"/>
            <a:chExt cx="10153650" cy="971550"/>
          </a:xfrm>
        </p:grpSpPr>
        <p:sp>
          <p:nvSpPr>
            <p:cNvPr id="57" name="Rectangle 57"/>
            <p:cNvSpPr/>
            <p:nvPr/>
          </p:nvSpPr>
          <p:spPr>
            <a:xfrm>
              <a:off x="1638300" y="3390900"/>
              <a:ext cx="2457450" cy="971550"/>
            </a:xfrm>
            <a:prstGeom prst="rect">
              <a:avLst/>
            </a:prstGeom>
            <a:solidFill>
              <a:srgbClr val="FFFFFF"/>
            </a:solidFill>
            <a:ln w="9525">
              <a:solidFill>
                <a:srgbClr val="F0C0B8"/>
              </a:solidFill>
            </a:ln>
          </p:spPr>
        </p:sp>
        <p:sp>
          <p:nvSpPr>
            <p:cNvPr id="58" name="TextBox 58"/>
            <p:cNvSpPr txBox="1"/>
            <p:nvPr/>
          </p:nvSpPr>
          <p:spPr>
            <a:xfrm>
              <a:off x="1728788" y="3515439"/>
              <a:ext cx="151447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C05745"/>
                  </a:solidFill>
                  <a:latin typeface="+mn-lt"/>
                  <a:ea typeface="+mn-ea"/>
                  <a:cs typeface="+mn-cs"/>
                </a:rPr>
                <a:t>通过</a:t>
              </a:r>
              <a:r>
                <a:rPr lang="zh-CN" sz="790" b="1" dirty="0">
                  <a:solidFill>
                    <a:srgbClr val="C05745"/>
                  </a:solidFill>
                  <a:latin typeface="+mn-lt"/>
                  <a:ea typeface="+mn-ea"/>
                  <a:cs typeface="+mn-cs"/>
                </a:rPr>
                <a:t>测品、测内容、测创意</a:t>
              </a:r>
              <a:r>
                <a:rPr lang="zh-CN" sz="790" dirty="0">
                  <a:solidFill>
                    <a:srgbClr val="C05745"/>
                  </a:solidFill>
                  <a:latin typeface="+mn-lt"/>
                  <a:ea typeface="+mn-ea"/>
                  <a:cs typeface="+mn-cs"/>
                </a:rPr>
                <a:t>、测策</a:t>
              </a:r>
              <a:br/>
              <a:r>
                <a:rPr lang="zh-CN" sz="790" dirty="0">
                  <a:solidFill>
                    <a:srgbClr val="C05745"/>
                  </a:solidFill>
                  <a:latin typeface="+mn-lt"/>
                  <a:ea typeface="+mn-ea"/>
                  <a:cs typeface="+mn-cs"/>
                </a:rPr>
                <a:t>略找到目标用户的沟通场景和内容</a:t>
              </a:r>
            </a:p>
          </p:txBody>
        </p:sp>
        <p:sp>
          <p:nvSpPr>
            <p:cNvPr id="59" name="Rectangle 59"/>
            <p:cNvSpPr/>
            <p:nvPr/>
          </p:nvSpPr>
          <p:spPr>
            <a:xfrm>
              <a:off x="4210050" y="3390900"/>
              <a:ext cx="2457450" cy="971550"/>
            </a:xfrm>
            <a:prstGeom prst="rect">
              <a:avLst/>
            </a:prstGeom>
            <a:solidFill>
              <a:srgbClr val="FFFFFF"/>
            </a:solidFill>
            <a:ln w="9525">
              <a:solidFill>
                <a:srgbClr val="F0C0B8"/>
              </a:solidFill>
            </a:ln>
          </p:spPr>
        </p:sp>
        <p:sp>
          <p:nvSpPr>
            <p:cNvPr id="60" name="TextBox 60"/>
            <p:cNvSpPr txBox="1"/>
            <p:nvPr/>
          </p:nvSpPr>
          <p:spPr>
            <a:xfrm>
              <a:off x="4300538" y="3515439"/>
              <a:ext cx="151447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C05745"/>
                  </a:solidFill>
                  <a:latin typeface="+mn-lt"/>
                  <a:ea typeface="+mn-ea"/>
                  <a:cs typeface="+mn-cs"/>
                </a:rPr>
                <a:t>锁定核心人群，与</a:t>
              </a:r>
              <a:r>
                <a:rPr lang="zh-CN" sz="790" b="1" dirty="0">
                  <a:solidFill>
                    <a:srgbClr val="C05745"/>
                  </a:solidFill>
                  <a:latin typeface="+mn-lt"/>
                  <a:ea typeface="+mn-ea"/>
                  <a:cs typeface="+mn-cs"/>
                </a:rPr>
                <a:t>头部达人/圈层</a:t>
              </a:r>
              <a:br/>
              <a:r>
                <a:rPr lang="zh-CN" sz="790" b="1" dirty="0">
                  <a:solidFill>
                    <a:srgbClr val="C05745"/>
                  </a:solidFill>
                  <a:latin typeface="+mn-lt"/>
                  <a:ea typeface="+mn-ea"/>
                  <a:cs typeface="+mn-cs"/>
                </a:rPr>
                <a:t>达人</a:t>
              </a:r>
              <a:r>
                <a:rPr lang="zh-CN" sz="790" dirty="0">
                  <a:solidFill>
                    <a:srgbClr val="C05745"/>
                  </a:solidFill>
                  <a:latin typeface="+mn-lt"/>
                  <a:ea typeface="+mn-ea"/>
                  <a:cs typeface="+mn-cs"/>
                </a:rPr>
                <a:t>合作扩展影响力和信赖感，提</a:t>
              </a:r>
              <a:br/>
              <a:r>
                <a:rPr lang="zh-CN" sz="790" dirty="0">
                  <a:solidFill>
                    <a:srgbClr val="C05745"/>
                  </a:solidFill>
                  <a:latin typeface="+mn-lt"/>
                  <a:ea typeface="+mn-ea"/>
                  <a:cs typeface="+mn-cs"/>
                </a:rPr>
                <a:t>高目标营造占位</a:t>
              </a:r>
            </a:p>
          </p:txBody>
        </p:sp>
        <p:sp>
          <p:nvSpPr>
            <p:cNvPr id="61" name="Rectangle 61"/>
            <p:cNvSpPr/>
            <p:nvPr/>
          </p:nvSpPr>
          <p:spPr>
            <a:xfrm>
              <a:off x="6772275" y="3390900"/>
              <a:ext cx="2457450" cy="971550"/>
            </a:xfrm>
            <a:prstGeom prst="rect">
              <a:avLst/>
            </a:prstGeom>
            <a:solidFill>
              <a:srgbClr val="FFFFFF"/>
            </a:solidFill>
            <a:ln w="9525">
              <a:solidFill>
                <a:srgbClr val="F0C0B8"/>
              </a:solidFill>
            </a:ln>
          </p:spPr>
        </p:sp>
        <p:sp>
          <p:nvSpPr>
            <p:cNvPr id="62" name="TextBox 62"/>
            <p:cNvSpPr txBox="1"/>
            <p:nvPr/>
          </p:nvSpPr>
          <p:spPr>
            <a:xfrm>
              <a:off x="6862762" y="3515439"/>
              <a:ext cx="151447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C05745"/>
                  </a:solidFill>
                  <a:latin typeface="+mn-lt"/>
                  <a:ea typeface="+mn-ea"/>
                  <a:cs typeface="+mn-cs"/>
                </a:rPr>
                <a:t>与跨圈达人合作，跨品类创意挖</a:t>
              </a:r>
              <a:br/>
              <a:r>
                <a:rPr lang="zh-CN" sz="790" dirty="0">
                  <a:solidFill>
                    <a:srgbClr val="C05745"/>
                  </a:solidFill>
                  <a:latin typeface="+mn-lt"/>
                  <a:ea typeface="+mn-ea"/>
                  <a:cs typeface="+mn-cs"/>
                </a:rPr>
                <a:t>掘新的内容场景，拓展达人内容覆</a:t>
              </a:r>
              <a:br/>
              <a:r>
                <a:rPr lang="zh-CN" sz="790" dirty="0">
                  <a:solidFill>
                    <a:srgbClr val="C05745"/>
                  </a:solidFill>
                  <a:latin typeface="+mn-lt"/>
                  <a:ea typeface="+mn-ea"/>
                  <a:cs typeface="+mn-cs"/>
                </a:rPr>
                <a:t>盖率</a:t>
              </a:r>
            </a:p>
          </p:txBody>
        </p:sp>
        <p:sp>
          <p:nvSpPr>
            <p:cNvPr id="63" name="Rectangle 63"/>
            <p:cNvSpPr/>
            <p:nvPr/>
          </p:nvSpPr>
          <p:spPr>
            <a:xfrm>
              <a:off x="9334500" y="3390900"/>
              <a:ext cx="2457450" cy="971550"/>
            </a:xfrm>
            <a:prstGeom prst="rect">
              <a:avLst/>
            </a:prstGeom>
            <a:solidFill>
              <a:srgbClr val="FFFFFF"/>
            </a:solidFill>
            <a:ln w="9525">
              <a:solidFill>
                <a:srgbClr val="F0C0B8"/>
              </a:solidFill>
            </a:ln>
          </p:spPr>
        </p:sp>
        <p:sp>
          <p:nvSpPr>
            <p:cNvPr id="64" name="TextBox 64"/>
            <p:cNvSpPr txBox="1"/>
            <p:nvPr/>
          </p:nvSpPr>
          <p:spPr>
            <a:xfrm>
              <a:off x="9424988" y="3515439"/>
              <a:ext cx="141414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C05745"/>
                  </a:solidFill>
                  <a:latin typeface="+mn-lt"/>
                  <a:ea typeface="+mn-ea"/>
                  <a:cs typeface="+mn-cs"/>
                </a:rPr>
                <a:t>与趋势达人、潮流达人、创新达</a:t>
              </a:r>
              <a:br/>
              <a:r>
                <a:rPr lang="zh-CN" sz="790" dirty="0">
                  <a:solidFill>
                    <a:srgbClr val="C05745"/>
                  </a:solidFill>
                  <a:latin typeface="+mn-lt"/>
                  <a:ea typeface="+mn-ea"/>
                  <a:cs typeface="+mn-cs"/>
                </a:rPr>
                <a:t>人合作探索品牌认知的突破爆点</a:t>
              </a:r>
            </a:p>
          </p:txBody>
        </p:sp>
      </p:grpSp>
      <p:grpSp>
        <p:nvGrpSpPr>
          <p:cNvPr id="74" name="matrix-row-2"/>
          <p:cNvGrpSpPr/>
          <p:nvPr/>
        </p:nvGrpSpPr>
        <p:grpSpPr>
          <a:xfrm>
            <a:off x="1638300" y="4476750"/>
            <a:ext cx="10153650" cy="647700"/>
            <a:chOff x="1638300" y="4476750"/>
            <a:chExt cx="10153650" cy="647700"/>
          </a:xfrm>
        </p:grpSpPr>
        <p:sp>
          <p:nvSpPr>
            <p:cNvPr id="66" name="Rectangle 66"/>
            <p:cNvSpPr/>
            <p:nvPr/>
          </p:nvSpPr>
          <p:spPr>
            <a:xfrm>
              <a:off x="1638300" y="4476750"/>
              <a:ext cx="2457450" cy="647700"/>
            </a:xfrm>
            <a:prstGeom prst="rect">
              <a:avLst/>
            </a:prstGeom>
            <a:solidFill>
              <a:srgbClr val="FFFFFF"/>
            </a:solidFill>
            <a:ln w="9525">
              <a:solidFill>
                <a:srgbClr val="C9CFEA"/>
              </a:solidFill>
            </a:ln>
          </p:spPr>
        </p:sp>
        <p:sp>
          <p:nvSpPr>
            <p:cNvPr id="67" name="TextBox 67"/>
            <p:cNvSpPr txBox="1"/>
            <p:nvPr/>
          </p:nvSpPr>
          <p:spPr>
            <a:xfrm>
              <a:off x="1728788" y="4582239"/>
              <a:ext cx="1530026"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B85D4A"/>
                  </a:solidFill>
                  <a:latin typeface="+mn-lt"/>
                  <a:ea typeface="+mn-ea"/>
                  <a:cs typeface="+mn-cs"/>
                </a:rPr>
                <a:t>抢占</a:t>
              </a:r>
              <a:r>
                <a:rPr lang="zh-CN" sz="790" b="1" dirty="0">
                  <a:solidFill>
                    <a:srgbClr val="B85D4A"/>
                  </a:solidFill>
                  <a:latin typeface="+mn-lt"/>
                  <a:ea typeface="+mn-ea"/>
                  <a:cs typeface="+mn-cs"/>
                </a:rPr>
                <a:t>品类/行业/竞品</a:t>
              </a:r>
              <a:r>
                <a:rPr lang="zh-CN" sz="790" dirty="0">
                  <a:solidFill>
                    <a:srgbClr val="B85D4A"/>
                  </a:solidFill>
                  <a:latin typeface="+mn-lt"/>
                  <a:ea typeface="+mn-ea"/>
                  <a:cs typeface="+mn-cs"/>
                </a:rPr>
                <a:t>的流量，布局</a:t>
              </a:r>
              <a:br/>
              <a:r>
                <a:rPr lang="zh-CN" sz="790" dirty="0">
                  <a:solidFill>
                    <a:srgbClr val="B85D4A"/>
                  </a:solidFill>
                  <a:latin typeface="+mn-lt"/>
                  <a:ea typeface="+mn-ea"/>
                  <a:cs typeface="+mn-cs"/>
                </a:rPr>
                <a:t>场景和功效词打穿产品心智</a:t>
              </a:r>
            </a:p>
          </p:txBody>
        </p:sp>
        <p:sp>
          <p:nvSpPr>
            <p:cNvPr id="68" name="Rectangle 68"/>
            <p:cNvSpPr/>
            <p:nvPr/>
          </p:nvSpPr>
          <p:spPr>
            <a:xfrm>
              <a:off x="4210050" y="4476750"/>
              <a:ext cx="2457450" cy="647700"/>
            </a:xfrm>
            <a:prstGeom prst="rect">
              <a:avLst/>
            </a:prstGeom>
            <a:solidFill>
              <a:srgbClr val="FFFFFF"/>
            </a:solidFill>
            <a:ln w="9525">
              <a:solidFill>
                <a:srgbClr val="C9CFEA"/>
              </a:solidFill>
            </a:ln>
          </p:spPr>
        </p:sp>
        <p:sp>
          <p:nvSpPr>
            <p:cNvPr id="69" name="TextBox 69"/>
            <p:cNvSpPr txBox="1"/>
            <p:nvPr/>
          </p:nvSpPr>
          <p:spPr>
            <a:xfrm>
              <a:off x="4300538" y="4582239"/>
              <a:ext cx="151447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B85D4A"/>
                  </a:solidFill>
                  <a:latin typeface="+mn-lt"/>
                  <a:ea typeface="+mn-ea"/>
                  <a:cs typeface="+mn-cs"/>
                </a:rPr>
                <a:t>加强品牌词、产品词、场景词、</a:t>
              </a:r>
              <a:br/>
              <a:r>
                <a:rPr lang="zh-CN" sz="790" dirty="0">
                  <a:solidFill>
                    <a:srgbClr val="B85D4A"/>
                  </a:solidFill>
                  <a:latin typeface="+mn-lt"/>
                  <a:ea typeface="+mn-ea"/>
                  <a:cs typeface="+mn-cs"/>
                </a:rPr>
                <a:t>衍生词占位，在拦截流量的同时搭</a:t>
              </a:r>
              <a:br/>
              <a:r>
                <a:rPr lang="zh-CN" sz="790" dirty="0">
                  <a:solidFill>
                    <a:srgbClr val="B85D4A"/>
                  </a:solidFill>
                  <a:latin typeface="+mn-lt"/>
                  <a:ea typeface="+mn-ea"/>
                  <a:cs typeface="+mn-cs"/>
                </a:rPr>
                <a:t>建自有矩阵</a:t>
              </a:r>
            </a:p>
          </p:txBody>
        </p:sp>
        <p:sp>
          <p:nvSpPr>
            <p:cNvPr id="70" name="Rectangle 70"/>
            <p:cNvSpPr/>
            <p:nvPr/>
          </p:nvSpPr>
          <p:spPr>
            <a:xfrm>
              <a:off x="6772275" y="4476750"/>
              <a:ext cx="2457450" cy="647700"/>
            </a:xfrm>
            <a:prstGeom prst="rect">
              <a:avLst/>
            </a:prstGeom>
            <a:solidFill>
              <a:srgbClr val="FFFFFF"/>
            </a:solidFill>
            <a:ln w="9525">
              <a:solidFill>
                <a:srgbClr val="C9CFEA"/>
              </a:solidFill>
            </a:ln>
          </p:spPr>
        </p:sp>
        <p:sp>
          <p:nvSpPr>
            <p:cNvPr id="71" name="TextBox 71"/>
            <p:cNvSpPr txBox="1"/>
            <p:nvPr/>
          </p:nvSpPr>
          <p:spPr>
            <a:xfrm>
              <a:off x="6862762" y="4582239"/>
              <a:ext cx="151447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B85D4A"/>
                  </a:solidFill>
                  <a:latin typeface="+mn-lt"/>
                  <a:ea typeface="+mn-ea"/>
                  <a:cs typeface="+mn-cs"/>
                </a:rPr>
                <a:t>搭建</a:t>
              </a:r>
              <a:r>
                <a:rPr lang="zh-CN" sz="790" b="1" dirty="0">
                  <a:solidFill>
                    <a:srgbClr val="B85D4A"/>
                  </a:solidFill>
                  <a:latin typeface="+mn-lt"/>
                  <a:ea typeface="+mn-ea"/>
                  <a:cs typeface="+mn-cs"/>
                </a:rPr>
                <a:t>关键词矩阵</a:t>
              </a:r>
              <a:r>
                <a:rPr lang="zh-CN" sz="790" dirty="0">
                  <a:solidFill>
                    <a:srgbClr val="B85D4A"/>
                  </a:solidFill>
                  <a:latin typeface="+mn-lt"/>
                  <a:ea typeface="+mn-ea"/>
                  <a:cs typeface="+mn-cs"/>
                </a:rPr>
                <a:t>，精准布局同时拓</a:t>
              </a:r>
              <a:br/>
              <a:r>
                <a:rPr lang="zh-CN" sz="790" dirty="0">
                  <a:solidFill>
                    <a:srgbClr val="B85D4A"/>
                  </a:solidFill>
                  <a:latin typeface="+mn-lt"/>
                  <a:ea typeface="+mn-ea"/>
                  <a:cs typeface="+mn-cs"/>
                </a:rPr>
                <a:t>展新词，提升品牌词行业占位</a:t>
              </a:r>
            </a:p>
          </p:txBody>
        </p:sp>
        <p:sp>
          <p:nvSpPr>
            <p:cNvPr id="72" name="Rectangle 72"/>
            <p:cNvSpPr/>
            <p:nvPr/>
          </p:nvSpPr>
          <p:spPr>
            <a:xfrm>
              <a:off x="9334500" y="4476750"/>
              <a:ext cx="2457450" cy="647700"/>
            </a:xfrm>
            <a:prstGeom prst="rect">
              <a:avLst/>
            </a:prstGeom>
            <a:solidFill>
              <a:srgbClr val="FFFFFF"/>
            </a:solidFill>
            <a:ln w="9525">
              <a:solidFill>
                <a:srgbClr val="C9CFEA"/>
              </a:solidFill>
            </a:ln>
          </p:spPr>
        </p:sp>
        <p:sp>
          <p:nvSpPr>
            <p:cNvPr id="73" name="TextBox 73"/>
            <p:cNvSpPr txBox="1"/>
            <p:nvPr/>
          </p:nvSpPr>
          <p:spPr>
            <a:xfrm>
              <a:off x="9424988" y="4582239"/>
              <a:ext cx="141414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B85D4A"/>
                  </a:solidFill>
                  <a:latin typeface="+mn-lt"/>
                  <a:ea typeface="+mn-ea"/>
                  <a:cs typeface="+mn-cs"/>
                </a:rPr>
                <a:t>各类关键词的长尾化，使用场景</a:t>
              </a:r>
              <a:br/>
              <a:r>
                <a:rPr lang="zh-CN" sz="790" dirty="0">
                  <a:solidFill>
                    <a:srgbClr val="B85D4A"/>
                  </a:solidFill>
                  <a:latin typeface="+mn-lt"/>
                  <a:ea typeface="+mn-ea"/>
                  <a:cs typeface="+mn-cs"/>
                </a:rPr>
                <a:t>的创新，养新词</a:t>
              </a:r>
            </a:p>
          </p:txBody>
        </p:sp>
      </p:grpSp>
      <p:grpSp>
        <p:nvGrpSpPr>
          <p:cNvPr id="79" name="matrix-row-3"/>
          <p:cNvGrpSpPr/>
          <p:nvPr/>
        </p:nvGrpSpPr>
        <p:grpSpPr>
          <a:xfrm>
            <a:off x="1638300" y="5219700"/>
            <a:ext cx="10153650" cy="438150"/>
            <a:chOff x="1638300" y="5219700"/>
            <a:chExt cx="10153650" cy="438150"/>
          </a:xfrm>
        </p:grpSpPr>
        <p:sp>
          <p:nvSpPr>
            <p:cNvPr id="75" name="Rectangle 75"/>
            <p:cNvSpPr/>
            <p:nvPr/>
          </p:nvSpPr>
          <p:spPr>
            <a:xfrm>
              <a:off x="1638300" y="5219700"/>
              <a:ext cx="4762500" cy="438150"/>
            </a:xfrm>
            <a:prstGeom prst="roundRect">
              <a:avLst>
                <a:gd name="adj" fmla="val 8696"/>
              </a:avLst>
            </a:prstGeom>
            <a:gradFill>
              <a:gsLst>
                <a:gs pos="0">
                  <a:srgbClr val="C4624E"/>
                </a:gs>
                <a:gs pos="100000">
                  <a:srgbClr val="CE897B"/>
                </a:gs>
              </a:gsLst>
              <a:lin ang="0" scaled="1"/>
            </a:gradFill>
            <a:ln>
              <a:noFill/>
            </a:ln>
          </p:spPr>
        </p:sp>
        <p:sp>
          <p:nvSpPr>
            <p:cNvPr id="76" name="TextBox 76"/>
            <p:cNvSpPr txBox="1"/>
            <p:nvPr/>
          </p:nvSpPr>
          <p:spPr>
            <a:xfrm>
              <a:off x="2524544" y="5397341"/>
              <a:ext cx="299001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通过联名玩法，制造社交货币，在品牌初创阶段打造热度声量</a:t>
              </a:r>
            </a:p>
          </p:txBody>
        </p:sp>
        <p:sp>
          <p:nvSpPr>
            <p:cNvPr id="77" name="Rectangle 77"/>
            <p:cNvSpPr/>
            <p:nvPr/>
          </p:nvSpPr>
          <p:spPr>
            <a:xfrm>
              <a:off x="6553200" y="5219700"/>
              <a:ext cx="5238750" cy="438150"/>
            </a:xfrm>
            <a:prstGeom prst="roundRect">
              <a:avLst>
                <a:gd name="adj" fmla="val 8696"/>
              </a:avLst>
            </a:prstGeom>
            <a:gradFill>
              <a:gsLst>
                <a:gs pos="0">
                  <a:srgbClr val="C4624E"/>
                </a:gs>
                <a:gs pos="100000">
                  <a:srgbClr val="CE897B"/>
                </a:gs>
              </a:gsLst>
              <a:lin ang="0" scaled="1"/>
            </a:gradFill>
            <a:ln>
              <a:noFill/>
            </a:ln>
          </p:spPr>
        </p:sp>
        <p:sp>
          <p:nvSpPr>
            <p:cNvPr id="78" name="TextBox 78"/>
            <p:cNvSpPr txBox="1"/>
            <p:nvPr/>
          </p:nvSpPr>
          <p:spPr>
            <a:xfrm>
              <a:off x="7515132" y="5397341"/>
              <a:ext cx="331488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IP跨界玩法成为打破行业壁垒、品牌增长固局开拓新市场的有效办法</a:t>
              </a:r>
            </a:p>
          </p:txBody>
        </p:sp>
      </p:grpSp>
      <p:grpSp>
        <p:nvGrpSpPr>
          <p:cNvPr id="84" name="matrix-row-4"/>
          <p:cNvGrpSpPr/>
          <p:nvPr/>
        </p:nvGrpSpPr>
        <p:grpSpPr>
          <a:xfrm>
            <a:off x="1638300" y="5791200"/>
            <a:ext cx="10153650" cy="495300"/>
            <a:chOff x="1638300" y="5791200"/>
            <a:chExt cx="10153650" cy="495300"/>
          </a:xfrm>
        </p:grpSpPr>
        <p:sp>
          <p:nvSpPr>
            <p:cNvPr id="80" name="Rectangle 80"/>
            <p:cNvSpPr/>
            <p:nvPr/>
          </p:nvSpPr>
          <p:spPr>
            <a:xfrm>
              <a:off x="1638300" y="5791200"/>
              <a:ext cx="7124700" cy="495300"/>
            </a:xfrm>
            <a:prstGeom prst="rect">
              <a:avLst/>
            </a:prstGeom>
            <a:solidFill>
              <a:srgbClr val="FFFFFF"/>
            </a:solidFill>
            <a:ln w="9525">
              <a:solidFill>
                <a:srgbClr val="ED8776"/>
              </a:solidFill>
            </a:ln>
          </p:spPr>
        </p:sp>
        <p:sp>
          <p:nvSpPr>
            <p:cNvPr id="81" name="TextBox 81"/>
            <p:cNvSpPr txBox="1"/>
            <p:nvPr/>
          </p:nvSpPr>
          <p:spPr>
            <a:xfrm>
              <a:off x="4211815" y="5993368"/>
              <a:ext cx="1977669"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搭建品牌阵地，注重私域积累渠道构建</a:t>
              </a:r>
            </a:p>
          </p:txBody>
        </p:sp>
        <p:sp>
          <p:nvSpPr>
            <p:cNvPr id="82" name="Rectangle 82"/>
            <p:cNvSpPr/>
            <p:nvPr/>
          </p:nvSpPr>
          <p:spPr>
            <a:xfrm>
              <a:off x="9334500" y="5791200"/>
              <a:ext cx="2457450" cy="495300"/>
            </a:xfrm>
            <a:prstGeom prst="rect">
              <a:avLst/>
            </a:prstGeom>
            <a:solidFill>
              <a:srgbClr val="FFFFFF"/>
            </a:solidFill>
            <a:ln w="9525">
              <a:solidFill>
                <a:srgbClr val="ED8776"/>
              </a:solidFill>
            </a:ln>
          </p:spPr>
        </p:sp>
        <p:sp>
          <p:nvSpPr>
            <p:cNvPr id="83" name="TextBox 83"/>
            <p:cNvSpPr txBox="1"/>
            <p:nvPr/>
          </p:nvSpPr>
          <p:spPr>
            <a:xfrm>
              <a:off x="10211143" y="5993368"/>
              <a:ext cx="70416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私域矩阵盘活</a:t>
              </a:r>
            </a:p>
          </p:txBody>
        </p:sp>
      </p:gr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158365" cy="440055"/>
            <a:chOff x="302895" y="214312"/>
            <a:chExt cx="2158365"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20.​</a:t>
              </a:r>
            </a:p>
          </p:txBody>
        </p:sp>
        <p:sp>
          <p:nvSpPr>
            <p:cNvPr id="3" name="TextBox 3"/>
            <p:cNvSpPr txBox="1"/>
            <p:nvPr/>
          </p:nvSpPr>
          <p:spPr>
            <a:xfrm>
              <a:off x="866394" y="246698"/>
              <a:ext cx="159486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产品投放方案</a:t>
              </a:r>
            </a:p>
          </p:txBody>
        </p:sp>
      </p:grpSp>
      <p:grpSp>
        <p:nvGrpSpPr>
          <p:cNvPr id="29" name="timeline-axis"/>
          <p:cNvGrpSpPr/>
          <p:nvPr/>
        </p:nvGrpSpPr>
        <p:grpSpPr>
          <a:xfrm>
            <a:off x="285750" y="971550"/>
            <a:ext cx="11491913" cy="1164907"/>
            <a:chOff x="285750" y="971550"/>
            <a:chExt cx="11491913" cy="1164907"/>
          </a:xfrm>
        </p:grpSpPr>
        <p:sp>
          <p:nvSpPr>
            <p:cNvPr id="5" name="Freeform 5"/>
            <p:cNvSpPr/>
            <p:nvPr/>
          </p:nvSpPr>
          <p:spPr>
            <a:xfrm>
              <a:off x="1619250" y="1171109"/>
              <a:ext cx="3238500" cy="524341"/>
            </a:xfrm>
            <a:custGeom>
              <a:avLst/>
              <a:gdLst/>
              <a:ahLst/>
              <a:cxnLst/>
              <a:rect l="l" t="t" r="r" b="b"/>
              <a:pathLst>
                <a:path w="3238500" h="524341">
                  <a:moveTo>
                    <a:pt x="0" y="524341"/>
                  </a:moveTo>
                  <a:cubicBezTo>
                    <a:pt x="239827" y="210396"/>
                    <a:pt x="889564" y="0"/>
                    <a:pt x="1619250" y="0"/>
                  </a:cubicBezTo>
                  <a:cubicBezTo>
                    <a:pt x="2348936" y="0"/>
                    <a:pt x="2998673" y="210396"/>
                    <a:pt x="3238500" y="524341"/>
                  </a:cubicBezTo>
                </a:path>
              </a:pathLst>
            </a:custGeom>
            <a:noFill/>
            <a:ln w="76200">
              <a:solidFill>
                <a:srgbClr val="F0B4AA"/>
              </a:solidFill>
            </a:ln>
          </p:spPr>
        </p:sp>
        <p:sp>
          <p:nvSpPr>
            <p:cNvPr id="6" name="Freeform 6"/>
            <p:cNvSpPr/>
            <p:nvPr/>
          </p:nvSpPr>
          <p:spPr>
            <a:xfrm>
              <a:off x="5286375" y="1240026"/>
              <a:ext cx="3028950" cy="455424"/>
            </a:xfrm>
            <a:custGeom>
              <a:avLst/>
              <a:gdLst/>
              <a:ahLst/>
              <a:cxnLst/>
              <a:rect l="l" t="t" r="r" b="b"/>
              <a:pathLst>
                <a:path w="3028950" h="455424">
                  <a:moveTo>
                    <a:pt x="0" y="455424"/>
                  </a:moveTo>
                  <a:cubicBezTo>
                    <a:pt x="238239" y="181330"/>
                    <a:pt x="841239" y="0"/>
                    <a:pt x="1514475" y="0"/>
                  </a:cubicBezTo>
                  <a:cubicBezTo>
                    <a:pt x="2187711" y="0"/>
                    <a:pt x="2790711" y="181330"/>
                    <a:pt x="3028950" y="455424"/>
                  </a:cubicBezTo>
                </a:path>
              </a:pathLst>
            </a:custGeom>
            <a:noFill/>
            <a:ln w="76200">
              <a:solidFill>
                <a:srgbClr val="E3B2A7">
                  <a:alpha val="60000"/>
                </a:srgbClr>
              </a:solidFill>
            </a:ln>
          </p:spPr>
        </p:sp>
        <p:sp>
          <p:nvSpPr>
            <p:cNvPr id="7" name="Freeform 7"/>
            <p:cNvSpPr/>
            <p:nvPr/>
          </p:nvSpPr>
          <p:spPr>
            <a:xfrm>
              <a:off x="9124950" y="1284830"/>
              <a:ext cx="2590800" cy="410620"/>
            </a:xfrm>
            <a:custGeom>
              <a:avLst/>
              <a:gdLst/>
              <a:ahLst/>
              <a:cxnLst/>
              <a:rect l="l" t="t" r="r" b="b"/>
              <a:pathLst>
                <a:path w="2590800" h="410620">
                  <a:moveTo>
                    <a:pt x="0" y="410620"/>
                  </a:moveTo>
                  <a:cubicBezTo>
                    <a:pt x="200475" y="163846"/>
                    <a:pt x="717365" y="0"/>
                    <a:pt x="1295400" y="0"/>
                  </a:cubicBezTo>
                  <a:cubicBezTo>
                    <a:pt x="1873435" y="0"/>
                    <a:pt x="2390325" y="163846"/>
                    <a:pt x="2590800" y="410620"/>
                  </a:cubicBezTo>
                </a:path>
              </a:pathLst>
            </a:custGeom>
            <a:noFill/>
            <a:ln w="76200">
              <a:solidFill>
                <a:srgbClr val="F0B4AA"/>
              </a:solidFill>
            </a:ln>
          </p:spPr>
        </p:sp>
        <p:sp>
          <p:nvSpPr>
            <p:cNvPr id="8" name="Ellipse 8"/>
            <p:cNvSpPr/>
            <p:nvPr/>
          </p:nvSpPr>
          <p:spPr>
            <a:xfrm>
              <a:off x="1847850" y="990600"/>
              <a:ext cx="190500" cy="190500"/>
            </a:xfrm>
            <a:prstGeom prst="ellipse">
              <a:avLst/>
            </a:prstGeom>
            <a:solidFill>
              <a:srgbClr val="E5624C"/>
            </a:solidFill>
            <a:ln>
              <a:noFill/>
            </a:ln>
          </p:spPr>
        </p:sp>
        <p:sp>
          <p:nvSpPr>
            <p:cNvPr id="9" name="TextBox 9"/>
            <p:cNvSpPr txBox="1"/>
            <p:nvPr/>
          </p:nvSpPr>
          <p:spPr>
            <a:xfrm>
              <a:off x="1903353" y="103632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a:t>
              </a:r>
            </a:p>
          </p:txBody>
        </p:sp>
        <p:sp>
          <p:nvSpPr>
            <p:cNvPr id="10" name="TextBox 10"/>
            <p:cNvSpPr txBox="1"/>
            <p:nvPr/>
          </p:nvSpPr>
          <p:spPr>
            <a:xfrm>
              <a:off x="2855849" y="1021556"/>
              <a:ext cx="765302"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测试蓄水期</a:t>
              </a:r>
            </a:p>
          </p:txBody>
        </p:sp>
        <p:sp>
          <p:nvSpPr>
            <p:cNvPr id="11" name="TextBox 11"/>
            <p:cNvSpPr txBox="1"/>
            <p:nvPr/>
          </p:nvSpPr>
          <p:spPr>
            <a:xfrm>
              <a:off x="2676562" y="1293495"/>
              <a:ext cx="1123876" cy="176212"/>
            </a:xfrm>
            <a:prstGeom prst="rect">
              <a:avLst/>
            </a:prstGeom>
            <a:noFill/>
            <a:ln>
              <a:noFill/>
            </a:ln>
          </p:spPr>
          <p:txBody>
            <a:bodyPr wrap="none" lIns="0" tIns="0" rIns="0" bIns="0" anchor="t" anchorCtr="0">
              <a:spAutoFit/>
            </a:bodyPr>
            <a:lstStyle/>
            <a:p>
              <a:pPr algn="ctr"/>
              <a:r>
                <a:rPr lang="zh-CN" sz="900" b="1" dirty="0">
                  <a:solidFill>
                    <a:srgbClr val="523F3B"/>
                  </a:solidFill>
                  <a:latin typeface="+mn-lt"/>
                  <a:ea typeface="+mn-ea"/>
                  <a:cs typeface="+mn-cs"/>
                </a:rPr>
                <a:t>(1月15日-2月10日)</a:t>
              </a:r>
            </a:p>
          </p:txBody>
        </p:sp>
        <p:sp>
          <p:nvSpPr>
            <p:cNvPr id="12" name="Ellipse 12"/>
            <p:cNvSpPr/>
            <p:nvPr/>
          </p:nvSpPr>
          <p:spPr>
            <a:xfrm>
              <a:off x="5257800" y="971550"/>
              <a:ext cx="190500" cy="190500"/>
            </a:xfrm>
            <a:prstGeom prst="ellipse">
              <a:avLst/>
            </a:prstGeom>
            <a:solidFill>
              <a:srgbClr val="E5624C"/>
            </a:solidFill>
            <a:ln>
              <a:noFill/>
            </a:ln>
          </p:spPr>
        </p:sp>
        <p:sp>
          <p:nvSpPr>
            <p:cNvPr id="13" name="TextBox 13"/>
            <p:cNvSpPr txBox="1"/>
            <p:nvPr/>
          </p:nvSpPr>
          <p:spPr>
            <a:xfrm>
              <a:off x="5313303" y="10172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a:t>
              </a:r>
            </a:p>
          </p:txBody>
        </p:sp>
        <p:sp>
          <p:nvSpPr>
            <p:cNvPr id="14" name="TextBox 14"/>
            <p:cNvSpPr txBox="1"/>
            <p:nvPr/>
          </p:nvSpPr>
          <p:spPr>
            <a:xfrm>
              <a:off x="6418199" y="1021556"/>
              <a:ext cx="765302" cy="220028"/>
            </a:xfrm>
            <a:prstGeom prst="rect">
              <a:avLst/>
            </a:prstGeom>
            <a:noFill/>
            <a:ln>
              <a:noFill/>
            </a:ln>
          </p:spPr>
          <p:txBody>
            <a:bodyPr wrap="none" lIns="0" tIns="0" rIns="0" bIns="0" anchor="t" anchorCtr="0">
              <a:spAutoFit/>
            </a:bodyPr>
            <a:lstStyle/>
            <a:p>
              <a:pPr algn="ctr"/>
              <a:r>
                <a:rPr lang="zh-CN" sz="1120" b="1" dirty="0">
                  <a:solidFill>
                    <a:srgbClr val="E5624C"/>
                  </a:solidFill>
                  <a:latin typeface="+mn-lt"/>
                  <a:ea typeface="+mn-ea"/>
                  <a:cs typeface="+mn-cs"/>
                </a:rPr>
                <a:t>种草加热期</a:t>
              </a:r>
            </a:p>
          </p:txBody>
        </p:sp>
        <p:sp>
          <p:nvSpPr>
            <p:cNvPr id="15" name="TextBox 15"/>
            <p:cNvSpPr txBox="1"/>
            <p:nvPr/>
          </p:nvSpPr>
          <p:spPr>
            <a:xfrm>
              <a:off x="6238912" y="1293495"/>
              <a:ext cx="1123876" cy="176212"/>
            </a:xfrm>
            <a:prstGeom prst="rect">
              <a:avLst/>
            </a:prstGeom>
            <a:noFill/>
            <a:ln>
              <a:noFill/>
            </a:ln>
          </p:spPr>
          <p:txBody>
            <a:bodyPr wrap="none" lIns="0" tIns="0" rIns="0" bIns="0" anchor="t" anchorCtr="0">
              <a:spAutoFit/>
            </a:bodyPr>
            <a:lstStyle/>
            <a:p>
              <a:pPr algn="ctr"/>
              <a:r>
                <a:rPr lang="zh-CN" sz="900" b="1" dirty="0">
                  <a:solidFill>
                    <a:srgbClr val="523F3B"/>
                  </a:solidFill>
                  <a:latin typeface="+mn-lt"/>
                  <a:ea typeface="+mn-ea"/>
                  <a:cs typeface="+mn-cs"/>
                </a:rPr>
                <a:t>(2月23日-2月28日)</a:t>
              </a:r>
            </a:p>
          </p:txBody>
        </p:sp>
        <p:sp>
          <p:nvSpPr>
            <p:cNvPr id="16" name="Ellipse 16"/>
            <p:cNvSpPr/>
            <p:nvPr/>
          </p:nvSpPr>
          <p:spPr>
            <a:xfrm>
              <a:off x="9086850" y="971550"/>
              <a:ext cx="190500" cy="190500"/>
            </a:xfrm>
            <a:prstGeom prst="ellipse">
              <a:avLst/>
            </a:prstGeom>
            <a:solidFill>
              <a:srgbClr val="E5624C"/>
            </a:solidFill>
            <a:ln>
              <a:noFill/>
            </a:ln>
          </p:spPr>
        </p:sp>
        <p:sp>
          <p:nvSpPr>
            <p:cNvPr id="17" name="TextBox 17"/>
            <p:cNvSpPr txBox="1"/>
            <p:nvPr/>
          </p:nvSpPr>
          <p:spPr>
            <a:xfrm>
              <a:off x="9142353" y="10172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a:t>
              </a:r>
            </a:p>
          </p:txBody>
        </p:sp>
        <p:sp>
          <p:nvSpPr>
            <p:cNvPr id="18" name="TextBox 18"/>
            <p:cNvSpPr txBox="1"/>
            <p:nvPr/>
          </p:nvSpPr>
          <p:spPr>
            <a:xfrm>
              <a:off x="9999599" y="1021556"/>
              <a:ext cx="765302" cy="220028"/>
            </a:xfrm>
            <a:prstGeom prst="rect">
              <a:avLst/>
            </a:prstGeom>
            <a:noFill/>
            <a:ln>
              <a:noFill/>
            </a:ln>
          </p:spPr>
          <p:txBody>
            <a:bodyPr wrap="none" lIns="0" tIns="0" rIns="0" bIns="0" anchor="t" anchorCtr="0">
              <a:spAutoFit/>
            </a:bodyPr>
            <a:lstStyle/>
            <a:p>
              <a:pPr algn="ctr"/>
              <a:r>
                <a:rPr lang="zh-CN" sz="1120" b="1" dirty="0">
                  <a:solidFill>
                    <a:srgbClr val="E5624C"/>
                  </a:solidFill>
                  <a:latin typeface="+mn-lt"/>
                  <a:ea typeface="+mn-ea"/>
                  <a:cs typeface="+mn-cs"/>
                </a:rPr>
                <a:t>快步冲刺期</a:t>
              </a:r>
            </a:p>
          </p:txBody>
        </p:sp>
        <p:sp>
          <p:nvSpPr>
            <p:cNvPr id="19" name="TextBox 19"/>
            <p:cNvSpPr txBox="1"/>
            <p:nvPr/>
          </p:nvSpPr>
          <p:spPr>
            <a:xfrm>
              <a:off x="9855297" y="1293495"/>
              <a:ext cx="1053907" cy="176212"/>
            </a:xfrm>
            <a:prstGeom prst="rect">
              <a:avLst/>
            </a:prstGeom>
            <a:noFill/>
            <a:ln>
              <a:noFill/>
            </a:ln>
          </p:spPr>
          <p:txBody>
            <a:bodyPr wrap="none" lIns="0" tIns="0" rIns="0" bIns="0" anchor="t" anchorCtr="0">
              <a:spAutoFit/>
            </a:bodyPr>
            <a:lstStyle/>
            <a:p>
              <a:pPr algn="ctr"/>
              <a:r>
                <a:rPr lang="zh-CN" sz="900" b="1" dirty="0">
                  <a:solidFill>
                    <a:srgbClr val="523F3B"/>
                  </a:solidFill>
                  <a:latin typeface="+mn-lt"/>
                  <a:ea typeface="+mn-ea"/>
                  <a:cs typeface="+mn-cs"/>
                </a:rPr>
                <a:t>(3月4日-4月30日)</a:t>
              </a:r>
            </a:p>
          </p:txBody>
        </p:sp>
        <p:sp>
          <p:nvSpPr>
            <p:cNvPr id="20" name="Line 20"/>
            <p:cNvSpPr/>
            <p:nvPr/>
          </p:nvSpPr>
          <p:spPr>
            <a:xfrm>
              <a:off x="285750" y="1866900"/>
              <a:ext cx="11372850" cy="1"/>
            </a:xfrm>
            <a:prstGeom prst="line">
              <a:avLst/>
            </a:prstGeom>
            <a:noFill/>
            <a:ln w="14288">
              <a:solidFill>
                <a:srgbClr val="DD988A"/>
              </a:solidFill>
              <a:tailEnd type="triangle" w="lg" len="lg"/>
            </a:ln>
          </p:spPr>
        </p:sp>
        <p:sp>
          <p:nvSpPr>
            <p:cNvPr id="21" name="TextBox 21"/>
            <p:cNvSpPr txBox="1"/>
            <p:nvPr/>
          </p:nvSpPr>
          <p:spPr>
            <a:xfrm>
              <a:off x="319088" y="1701641"/>
              <a:ext cx="451079" cy="161925"/>
            </a:xfrm>
            <a:prstGeom prst="rect">
              <a:avLst/>
            </a:prstGeom>
            <a:noFill/>
            <a:ln>
              <a:noFill/>
            </a:ln>
          </p:spPr>
          <p:txBody>
            <a:bodyPr wrap="none" lIns="0" tIns="0" rIns="0" bIns="0" anchor="t" anchorCtr="0">
              <a:spAutoFit/>
            </a:bodyPr>
            <a:lstStyle/>
            <a:p>
              <a:pPr algn="l"/>
              <a:r>
                <a:rPr lang="zh-CN" sz="820" dirty="0">
                  <a:solidFill>
                    <a:srgbClr val="808699"/>
                  </a:solidFill>
                  <a:latin typeface="+mn-lt"/>
                  <a:ea typeface="+mn-ea"/>
                  <a:cs typeface="+mn-cs"/>
                </a:rPr>
                <a:t>投放开始</a:t>
              </a:r>
            </a:p>
          </p:txBody>
        </p:sp>
        <p:sp>
          <p:nvSpPr>
            <p:cNvPr id="22" name="TextBox 22"/>
            <p:cNvSpPr txBox="1"/>
            <p:nvPr/>
          </p:nvSpPr>
          <p:spPr>
            <a:xfrm>
              <a:off x="11326584" y="1701641"/>
              <a:ext cx="451079" cy="161925"/>
            </a:xfrm>
            <a:prstGeom prst="rect">
              <a:avLst/>
            </a:prstGeom>
            <a:noFill/>
            <a:ln>
              <a:noFill/>
            </a:ln>
          </p:spPr>
          <p:txBody>
            <a:bodyPr wrap="none" lIns="0" tIns="0" rIns="0" bIns="0" anchor="t" anchorCtr="0">
              <a:spAutoFit/>
            </a:bodyPr>
            <a:lstStyle/>
            <a:p>
              <a:pPr algn="r"/>
              <a:r>
                <a:rPr lang="zh-CN" sz="820" dirty="0">
                  <a:solidFill>
                    <a:srgbClr val="808699"/>
                  </a:solidFill>
                  <a:latin typeface="+mn-lt"/>
                  <a:ea typeface="+mn-ea"/>
                  <a:cs typeface="+mn-cs"/>
                </a:rPr>
                <a:t>投放结束</a:t>
              </a:r>
            </a:p>
          </p:txBody>
        </p:sp>
        <p:sp>
          <p:nvSpPr>
            <p:cNvPr id="23" name="Polygon 23"/>
            <p:cNvSpPr/>
            <p:nvPr/>
          </p:nvSpPr>
          <p:spPr>
            <a:xfrm>
              <a:off x="3181350" y="1724025"/>
              <a:ext cx="114300" cy="85725"/>
            </a:xfrm>
            <a:custGeom>
              <a:avLst/>
              <a:gdLst/>
              <a:ahLst/>
              <a:cxnLst/>
              <a:rect l="l" t="t" r="r" b="b"/>
              <a:pathLst>
                <a:path w="114300" h="85725">
                  <a:moveTo>
                    <a:pt x="0" y="85725"/>
                  </a:moveTo>
                  <a:lnTo>
                    <a:pt x="114300" y="85725"/>
                  </a:lnTo>
                  <a:lnTo>
                    <a:pt x="57150" y="0"/>
                  </a:lnTo>
                  <a:close/>
                </a:path>
              </a:pathLst>
            </a:custGeom>
            <a:solidFill>
              <a:srgbClr val="E5624C"/>
            </a:solidFill>
            <a:ln>
              <a:noFill/>
            </a:ln>
          </p:spPr>
        </p:sp>
        <p:sp>
          <p:nvSpPr>
            <p:cNvPr id="24" name="TextBox 24"/>
            <p:cNvSpPr txBox="1"/>
            <p:nvPr/>
          </p:nvSpPr>
          <p:spPr>
            <a:xfrm>
              <a:off x="3052000" y="1960245"/>
              <a:ext cx="372999" cy="176212"/>
            </a:xfrm>
            <a:prstGeom prst="rect">
              <a:avLst/>
            </a:prstGeom>
            <a:noFill/>
            <a:ln>
              <a:noFill/>
            </a:ln>
          </p:spPr>
          <p:txBody>
            <a:bodyPr wrap="none" lIns="0" tIns="0" rIns="0" bIns="0" anchor="t" anchorCtr="0">
              <a:spAutoFit/>
            </a:bodyPr>
            <a:lstStyle/>
            <a:p>
              <a:pPr algn="ctr"/>
              <a:r>
                <a:rPr lang="zh-CN" sz="900" b="1" dirty="0">
                  <a:solidFill>
                    <a:srgbClr val="C1553F"/>
                  </a:solidFill>
                  <a:latin typeface="+mn-lt"/>
                  <a:ea typeface="+mn-ea"/>
                  <a:cs typeface="+mn-cs"/>
                </a:rPr>
                <a:t>年货节</a:t>
              </a:r>
            </a:p>
          </p:txBody>
        </p:sp>
        <p:sp>
          <p:nvSpPr>
            <p:cNvPr id="25" name="Polygon 25"/>
            <p:cNvSpPr/>
            <p:nvPr/>
          </p:nvSpPr>
          <p:spPr>
            <a:xfrm>
              <a:off x="6743700" y="1724025"/>
              <a:ext cx="114300" cy="85725"/>
            </a:xfrm>
            <a:custGeom>
              <a:avLst/>
              <a:gdLst/>
              <a:ahLst/>
              <a:cxnLst/>
              <a:rect l="l" t="t" r="r" b="b"/>
              <a:pathLst>
                <a:path w="114300" h="85725">
                  <a:moveTo>
                    <a:pt x="0" y="85725"/>
                  </a:moveTo>
                  <a:lnTo>
                    <a:pt x="114300" y="85725"/>
                  </a:lnTo>
                  <a:lnTo>
                    <a:pt x="57150" y="0"/>
                  </a:lnTo>
                  <a:close/>
                </a:path>
              </a:pathLst>
            </a:custGeom>
            <a:solidFill>
              <a:srgbClr val="E5624C"/>
            </a:solidFill>
            <a:ln>
              <a:noFill/>
            </a:ln>
          </p:spPr>
        </p:sp>
        <p:sp>
          <p:nvSpPr>
            <p:cNvPr id="26" name="TextBox 26"/>
            <p:cNvSpPr txBox="1"/>
            <p:nvPr/>
          </p:nvSpPr>
          <p:spPr>
            <a:xfrm>
              <a:off x="6458208" y="1960245"/>
              <a:ext cx="685284" cy="176212"/>
            </a:xfrm>
            <a:prstGeom prst="rect">
              <a:avLst/>
            </a:prstGeom>
            <a:noFill/>
            <a:ln>
              <a:noFill/>
            </a:ln>
          </p:spPr>
          <p:txBody>
            <a:bodyPr wrap="none" lIns="0" tIns="0" rIns="0" bIns="0" anchor="t" anchorCtr="0">
              <a:spAutoFit/>
            </a:bodyPr>
            <a:lstStyle/>
            <a:p>
              <a:pPr algn="ctr"/>
              <a:r>
                <a:rPr lang="zh-CN" sz="900" b="1" dirty="0">
                  <a:solidFill>
                    <a:srgbClr val="C1553F"/>
                  </a:solidFill>
                  <a:latin typeface="+mn-lt"/>
                  <a:ea typeface="+mn-ea"/>
                  <a:cs typeface="+mn-cs"/>
                </a:rPr>
                <a:t>春节/情人节</a:t>
              </a:r>
            </a:p>
          </p:txBody>
        </p:sp>
        <p:sp>
          <p:nvSpPr>
            <p:cNvPr id="27" name="Polygon 27"/>
            <p:cNvSpPr/>
            <p:nvPr/>
          </p:nvSpPr>
          <p:spPr>
            <a:xfrm>
              <a:off x="10325100" y="1724025"/>
              <a:ext cx="114300" cy="85725"/>
            </a:xfrm>
            <a:custGeom>
              <a:avLst/>
              <a:gdLst/>
              <a:ahLst/>
              <a:cxnLst/>
              <a:rect l="l" t="t" r="r" b="b"/>
              <a:pathLst>
                <a:path w="114300" h="85725">
                  <a:moveTo>
                    <a:pt x="0" y="85725"/>
                  </a:moveTo>
                  <a:lnTo>
                    <a:pt x="114300" y="85725"/>
                  </a:lnTo>
                  <a:lnTo>
                    <a:pt x="57150" y="0"/>
                  </a:lnTo>
                  <a:close/>
                </a:path>
              </a:pathLst>
            </a:custGeom>
            <a:solidFill>
              <a:srgbClr val="E5624C"/>
            </a:solidFill>
            <a:ln>
              <a:noFill/>
            </a:ln>
          </p:spPr>
        </p:sp>
        <p:sp>
          <p:nvSpPr>
            <p:cNvPr id="28" name="TextBox 28"/>
            <p:cNvSpPr txBox="1"/>
            <p:nvPr/>
          </p:nvSpPr>
          <p:spPr>
            <a:xfrm>
              <a:off x="10246940" y="1960245"/>
              <a:ext cx="270620" cy="176212"/>
            </a:xfrm>
            <a:prstGeom prst="rect">
              <a:avLst/>
            </a:prstGeom>
            <a:noFill/>
            <a:ln>
              <a:noFill/>
            </a:ln>
          </p:spPr>
          <p:txBody>
            <a:bodyPr wrap="none" lIns="0" tIns="0" rIns="0" bIns="0" anchor="t" anchorCtr="0">
              <a:spAutoFit/>
            </a:bodyPr>
            <a:lstStyle/>
            <a:p>
              <a:pPr algn="ctr"/>
              <a:r>
                <a:rPr lang="zh-CN" sz="900" b="1" dirty="0">
                  <a:solidFill>
                    <a:srgbClr val="C1553F"/>
                  </a:solidFill>
                  <a:latin typeface="+mn-lt"/>
                  <a:ea typeface="+mn-ea"/>
                  <a:cs typeface="+mn-cs"/>
                </a:rPr>
                <a:t>38节</a:t>
              </a:r>
            </a:p>
          </p:txBody>
        </p:sp>
      </p:grpSp>
      <p:grpSp>
        <p:nvGrpSpPr>
          <p:cNvPr id="38" name="row-budget"/>
          <p:cNvGrpSpPr/>
          <p:nvPr/>
        </p:nvGrpSpPr>
        <p:grpSpPr>
          <a:xfrm>
            <a:off x="228600" y="2171700"/>
            <a:ext cx="11544300" cy="308134"/>
            <a:chOff x="228600" y="2171700"/>
            <a:chExt cx="11544300" cy="308134"/>
          </a:xfrm>
        </p:grpSpPr>
        <p:sp>
          <p:nvSpPr>
            <p:cNvPr id="30" name="Rectangle 30"/>
            <p:cNvSpPr/>
            <p:nvPr/>
          </p:nvSpPr>
          <p:spPr>
            <a:xfrm>
              <a:off x="228600" y="2171700"/>
              <a:ext cx="1162050" cy="304800"/>
            </a:xfrm>
            <a:prstGeom prst="roundRect">
              <a:avLst>
                <a:gd name="adj" fmla="val 12500"/>
              </a:avLst>
            </a:prstGeom>
            <a:gradFill>
              <a:gsLst>
                <a:gs pos="0">
                  <a:srgbClr val="C1553F"/>
                </a:gs>
                <a:gs pos="100000">
                  <a:srgbClr val="CE897B"/>
                </a:gs>
              </a:gsLst>
              <a:lin ang="0" scaled="1"/>
            </a:gradFill>
            <a:ln>
              <a:noFill/>
            </a:ln>
          </p:spPr>
        </p:sp>
        <p:sp>
          <p:nvSpPr>
            <p:cNvPr id="31" name="TextBox 31"/>
            <p:cNvSpPr txBox="1"/>
            <p:nvPr/>
          </p:nvSpPr>
          <p:spPr>
            <a:xfrm>
              <a:off x="540817" y="22664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预算分配</a:t>
              </a:r>
            </a:p>
          </p:txBody>
        </p:sp>
        <p:sp>
          <p:nvSpPr>
            <p:cNvPr id="32" name="Rectangle 32"/>
            <p:cNvSpPr/>
            <p:nvPr/>
          </p:nvSpPr>
          <p:spPr>
            <a:xfrm>
              <a:off x="1466850" y="2171700"/>
              <a:ext cx="3524250" cy="304800"/>
            </a:xfrm>
            <a:prstGeom prst="roundRect">
              <a:avLst>
                <a:gd name="adj" fmla="val 12500"/>
              </a:avLst>
            </a:prstGeom>
            <a:gradFill>
              <a:gsLst>
                <a:gs pos="0">
                  <a:srgbClr val="C1553F"/>
                </a:gs>
                <a:gs pos="100000">
                  <a:srgbClr val="CE897B"/>
                </a:gs>
              </a:gsLst>
              <a:lin ang="0" scaled="1"/>
            </a:gradFill>
            <a:ln>
              <a:noFill/>
            </a:ln>
          </p:spPr>
        </p:sp>
        <p:sp>
          <p:nvSpPr>
            <p:cNvPr id="33" name="TextBox 33"/>
            <p:cNvSpPr txBox="1"/>
            <p:nvPr/>
          </p:nvSpPr>
          <p:spPr>
            <a:xfrm>
              <a:off x="3022531" y="2259806"/>
              <a:ext cx="412888"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22W​</a:t>
              </a:r>
            </a:p>
          </p:txBody>
        </p:sp>
        <p:sp>
          <p:nvSpPr>
            <p:cNvPr id="34" name="Rectangle 34"/>
            <p:cNvSpPr/>
            <p:nvPr/>
          </p:nvSpPr>
          <p:spPr>
            <a:xfrm>
              <a:off x="5067300" y="2171700"/>
              <a:ext cx="3524250" cy="304800"/>
            </a:xfrm>
            <a:prstGeom prst="roundRect">
              <a:avLst>
                <a:gd name="adj" fmla="val 12500"/>
              </a:avLst>
            </a:prstGeom>
            <a:gradFill>
              <a:gsLst>
                <a:gs pos="0">
                  <a:srgbClr val="C1553F"/>
                </a:gs>
                <a:gs pos="100000">
                  <a:srgbClr val="CE897B"/>
                </a:gs>
              </a:gsLst>
              <a:lin ang="0" scaled="1"/>
            </a:gradFill>
            <a:ln>
              <a:noFill/>
            </a:ln>
          </p:spPr>
        </p:sp>
        <p:sp>
          <p:nvSpPr>
            <p:cNvPr id="35" name="TextBox 35"/>
            <p:cNvSpPr txBox="1"/>
            <p:nvPr/>
          </p:nvSpPr>
          <p:spPr>
            <a:xfrm>
              <a:off x="6622981" y="2259806"/>
              <a:ext cx="412888"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25W​</a:t>
              </a:r>
            </a:p>
          </p:txBody>
        </p:sp>
        <p:sp>
          <p:nvSpPr>
            <p:cNvPr id="36" name="Rectangle 36"/>
            <p:cNvSpPr/>
            <p:nvPr/>
          </p:nvSpPr>
          <p:spPr>
            <a:xfrm>
              <a:off x="8667750" y="2171700"/>
              <a:ext cx="3105150" cy="304800"/>
            </a:xfrm>
            <a:prstGeom prst="roundRect">
              <a:avLst>
                <a:gd name="adj" fmla="val 12500"/>
              </a:avLst>
            </a:prstGeom>
            <a:gradFill>
              <a:gsLst>
                <a:gs pos="0">
                  <a:srgbClr val="C1553F"/>
                </a:gs>
                <a:gs pos="100000">
                  <a:srgbClr val="CE897B"/>
                </a:gs>
              </a:gsLst>
              <a:lin ang="0" scaled="1"/>
            </a:gradFill>
            <a:ln>
              <a:noFill/>
            </a:ln>
          </p:spPr>
        </p:sp>
        <p:sp>
          <p:nvSpPr>
            <p:cNvPr id="37" name="TextBox 37"/>
            <p:cNvSpPr txBox="1"/>
            <p:nvPr/>
          </p:nvSpPr>
          <p:spPr>
            <a:xfrm>
              <a:off x="10013881" y="2259806"/>
              <a:ext cx="412888"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35W​</a:t>
              </a:r>
            </a:p>
          </p:txBody>
        </p:sp>
      </p:grpSp>
      <p:grpSp>
        <p:nvGrpSpPr>
          <p:cNvPr id="50" name="row-purpose"/>
          <p:cNvGrpSpPr/>
          <p:nvPr/>
        </p:nvGrpSpPr>
        <p:grpSpPr>
          <a:xfrm>
            <a:off x="228600" y="2571750"/>
            <a:ext cx="11544300" cy="685800"/>
            <a:chOff x="228600" y="2571750"/>
            <a:chExt cx="11544300" cy="685800"/>
          </a:xfrm>
        </p:grpSpPr>
        <p:sp>
          <p:nvSpPr>
            <p:cNvPr id="39" name="Rectangle 39"/>
            <p:cNvSpPr/>
            <p:nvPr/>
          </p:nvSpPr>
          <p:spPr>
            <a:xfrm>
              <a:off x="228600" y="2571750"/>
              <a:ext cx="1162050" cy="304800"/>
            </a:xfrm>
            <a:prstGeom prst="roundRect">
              <a:avLst>
                <a:gd name="adj" fmla="val 12500"/>
              </a:avLst>
            </a:prstGeom>
            <a:gradFill>
              <a:gsLst>
                <a:gs pos="0">
                  <a:srgbClr val="C1553F"/>
                </a:gs>
                <a:gs pos="100000">
                  <a:srgbClr val="CE897B"/>
                </a:gs>
              </a:gsLst>
              <a:lin ang="0" scaled="1"/>
            </a:gradFill>
            <a:ln>
              <a:noFill/>
            </a:ln>
          </p:spPr>
        </p:sp>
        <p:sp>
          <p:nvSpPr>
            <p:cNvPr id="40" name="TextBox 40"/>
            <p:cNvSpPr txBox="1"/>
            <p:nvPr/>
          </p:nvSpPr>
          <p:spPr>
            <a:xfrm>
              <a:off x="540817" y="26665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阶段目的</a:t>
              </a:r>
            </a:p>
          </p:txBody>
        </p:sp>
        <p:sp>
          <p:nvSpPr>
            <p:cNvPr id="41" name="Rectangle 41"/>
            <p:cNvSpPr/>
            <p:nvPr/>
          </p:nvSpPr>
          <p:spPr>
            <a:xfrm>
              <a:off x="1466850" y="2571750"/>
              <a:ext cx="3524250" cy="685800"/>
            </a:xfrm>
            <a:prstGeom prst="roundRect">
              <a:avLst>
                <a:gd name="adj" fmla="val 5556"/>
              </a:avLst>
            </a:prstGeom>
            <a:solidFill>
              <a:srgbClr val="FFFFFF"/>
            </a:solidFill>
            <a:ln w="9525">
              <a:solidFill>
                <a:srgbClr val="E4E7F5"/>
              </a:solidFill>
            </a:ln>
          </p:spPr>
        </p:sp>
        <p:sp>
          <p:nvSpPr>
            <p:cNvPr id="42" name="TextBox 42"/>
            <p:cNvSpPr txBox="1"/>
            <p:nvPr/>
          </p:nvSpPr>
          <p:spPr>
            <a:xfrm>
              <a:off x="2396300" y="2768441"/>
              <a:ext cx="166535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广度覆盖，探测高意向人群为后期</a:t>
              </a:r>
            </a:p>
          </p:txBody>
        </p:sp>
        <p:sp>
          <p:nvSpPr>
            <p:cNvPr id="43" name="TextBox 43"/>
            <p:cNvSpPr txBox="1"/>
            <p:nvPr/>
          </p:nvSpPr>
          <p:spPr>
            <a:xfrm>
              <a:off x="2617076" y="2939891"/>
              <a:ext cx="1223797"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多维度数据优化积累数据</a:t>
              </a:r>
            </a:p>
          </p:txBody>
        </p:sp>
        <p:sp>
          <p:nvSpPr>
            <p:cNvPr id="44" name="Rectangle 44"/>
            <p:cNvSpPr/>
            <p:nvPr/>
          </p:nvSpPr>
          <p:spPr>
            <a:xfrm>
              <a:off x="5067300" y="2571750"/>
              <a:ext cx="3524250" cy="685800"/>
            </a:xfrm>
            <a:prstGeom prst="roundRect">
              <a:avLst>
                <a:gd name="adj" fmla="val 5556"/>
              </a:avLst>
            </a:prstGeom>
            <a:solidFill>
              <a:srgbClr val="FFFFFF"/>
            </a:solidFill>
            <a:ln w="9525">
              <a:solidFill>
                <a:srgbClr val="E4E7F5"/>
              </a:solidFill>
            </a:ln>
          </p:spPr>
        </p:sp>
        <p:sp>
          <p:nvSpPr>
            <p:cNvPr id="45" name="TextBox 45"/>
            <p:cNvSpPr txBox="1"/>
            <p:nvPr/>
          </p:nvSpPr>
          <p:spPr>
            <a:xfrm>
              <a:off x="5996750" y="2768441"/>
              <a:ext cx="166535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稳步放量，访客找回持续保持用户</a:t>
              </a:r>
            </a:p>
          </p:txBody>
        </p:sp>
        <p:sp>
          <p:nvSpPr>
            <p:cNvPr id="46" name="TextBox 46"/>
            <p:cNvSpPr txBox="1"/>
            <p:nvPr/>
          </p:nvSpPr>
          <p:spPr>
            <a:xfrm>
              <a:off x="5996750" y="2939891"/>
              <a:ext cx="166535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对产品的关注度，提升到店与加购</a:t>
              </a:r>
            </a:p>
          </p:txBody>
        </p:sp>
        <p:sp>
          <p:nvSpPr>
            <p:cNvPr id="47" name="Rectangle 47"/>
            <p:cNvSpPr/>
            <p:nvPr/>
          </p:nvSpPr>
          <p:spPr>
            <a:xfrm>
              <a:off x="8667750" y="2571750"/>
              <a:ext cx="3105150" cy="685800"/>
            </a:xfrm>
            <a:prstGeom prst="roundRect">
              <a:avLst>
                <a:gd name="adj" fmla="val 5556"/>
              </a:avLst>
            </a:prstGeom>
            <a:solidFill>
              <a:srgbClr val="FFFFFF"/>
            </a:solidFill>
            <a:ln w="9525">
              <a:solidFill>
                <a:srgbClr val="E4E7F5"/>
              </a:solidFill>
            </a:ln>
          </p:spPr>
        </p:sp>
        <p:sp>
          <p:nvSpPr>
            <p:cNvPr id="48" name="TextBox 48"/>
            <p:cNvSpPr txBox="1"/>
            <p:nvPr/>
          </p:nvSpPr>
          <p:spPr>
            <a:xfrm>
              <a:off x="9387650" y="2768441"/>
              <a:ext cx="166535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高意向人群重定向，加入竞品购买</a:t>
              </a:r>
            </a:p>
          </p:txBody>
        </p:sp>
        <p:sp>
          <p:nvSpPr>
            <p:cNvPr id="49" name="TextBox 49"/>
            <p:cNvSpPr txBox="1"/>
            <p:nvPr/>
          </p:nvSpPr>
          <p:spPr>
            <a:xfrm>
              <a:off x="9249404" y="2939891"/>
              <a:ext cx="1941843"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人群，重点提升转化，争取GMV小高峰​</a:t>
              </a:r>
            </a:p>
          </p:txBody>
        </p:sp>
      </p:grpSp>
      <p:grpSp>
        <p:nvGrpSpPr>
          <p:cNvPr id="71" name="row-audience"/>
          <p:cNvGrpSpPr/>
          <p:nvPr/>
        </p:nvGrpSpPr>
        <p:grpSpPr>
          <a:xfrm>
            <a:off x="228600" y="3352800"/>
            <a:ext cx="11544300" cy="1047750"/>
            <a:chOff x="228600" y="3352800"/>
            <a:chExt cx="11544300" cy="1047750"/>
          </a:xfrm>
        </p:grpSpPr>
        <p:sp>
          <p:nvSpPr>
            <p:cNvPr id="51" name="Rectangle 51"/>
            <p:cNvSpPr/>
            <p:nvPr/>
          </p:nvSpPr>
          <p:spPr>
            <a:xfrm>
              <a:off x="228600" y="3352800"/>
              <a:ext cx="1162050" cy="304800"/>
            </a:xfrm>
            <a:prstGeom prst="roundRect">
              <a:avLst>
                <a:gd name="adj" fmla="val 12500"/>
              </a:avLst>
            </a:prstGeom>
            <a:gradFill>
              <a:gsLst>
                <a:gs pos="0">
                  <a:srgbClr val="C1553F"/>
                </a:gs>
                <a:gs pos="100000">
                  <a:srgbClr val="CE897B"/>
                </a:gs>
              </a:gsLst>
              <a:lin ang="0" scaled="1"/>
            </a:gradFill>
            <a:ln>
              <a:noFill/>
            </a:ln>
          </p:spPr>
        </p:sp>
        <p:sp>
          <p:nvSpPr>
            <p:cNvPr id="52" name="TextBox 52"/>
            <p:cNvSpPr txBox="1"/>
            <p:nvPr/>
          </p:nvSpPr>
          <p:spPr>
            <a:xfrm>
              <a:off x="540817" y="34475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人群策略</a:t>
              </a:r>
            </a:p>
          </p:txBody>
        </p:sp>
        <p:sp>
          <p:nvSpPr>
            <p:cNvPr id="53" name="Rectangle 53"/>
            <p:cNvSpPr/>
            <p:nvPr/>
          </p:nvSpPr>
          <p:spPr>
            <a:xfrm>
              <a:off x="1466850" y="3371850"/>
              <a:ext cx="3524250" cy="1028700"/>
            </a:xfrm>
            <a:prstGeom prst="roundRect">
              <a:avLst>
                <a:gd name="adj" fmla="val 3704"/>
              </a:avLst>
            </a:prstGeom>
            <a:solidFill>
              <a:srgbClr val="FFFFFF"/>
            </a:solidFill>
            <a:ln w="9525">
              <a:solidFill>
                <a:srgbClr val="E4E7F5"/>
              </a:solidFill>
            </a:ln>
          </p:spPr>
        </p:sp>
        <p:sp>
          <p:nvSpPr>
            <p:cNvPr id="54" name="Ellipse 54"/>
            <p:cNvSpPr/>
            <p:nvPr/>
          </p:nvSpPr>
          <p:spPr>
            <a:xfrm>
              <a:off x="1819275" y="3486150"/>
              <a:ext cx="266700" cy="266700"/>
            </a:xfrm>
            <a:prstGeom prst="ellipse">
              <a:avLst/>
            </a:prstGeom>
            <a:solidFill>
              <a:srgbClr val="D47D6B"/>
            </a:solidFill>
            <a:ln>
              <a:noFill/>
            </a:ln>
          </p:spPr>
        </p:sp>
        <p:sp>
          <p:nvSpPr>
            <p:cNvPr id="55" name="Freeform 55"/>
            <p:cNvSpPr/>
            <p:nvPr/>
          </p:nvSpPr>
          <p:spPr>
            <a:xfrm>
              <a:off x="1743075" y="3810000"/>
              <a:ext cx="419100" cy="152400"/>
            </a:xfrm>
            <a:custGeom>
              <a:avLst/>
              <a:gdLst/>
              <a:ahLst/>
              <a:cxnLst/>
              <a:rect l="l" t="t" r="r" b="b"/>
              <a:pathLst>
                <a:path w="419100" h="152400">
                  <a:moveTo>
                    <a:pt x="0" y="152400"/>
                  </a:moveTo>
                  <a:cubicBezTo>
                    <a:pt x="0" y="0"/>
                    <a:pt x="419100" y="0"/>
                    <a:pt x="419100" y="152400"/>
                  </a:cubicBezTo>
                  <a:close/>
                </a:path>
              </a:pathLst>
            </a:custGeom>
            <a:solidFill>
              <a:srgbClr val="D47D6B"/>
            </a:solidFill>
            <a:ln>
              <a:noFill/>
            </a:ln>
          </p:spPr>
        </p:sp>
        <p:sp>
          <p:nvSpPr>
            <p:cNvPr id="56" name="TextBox 56"/>
            <p:cNvSpPr txBox="1"/>
            <p:nvPr/>
          </p:nvSpPr>
          <p:spPr>
            <a:xfrm>
              <a:off x="2328862" y="3568541"/>
              <a:ext cx="157162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基于品牌调性，优选</a:t>
              </a:r>
              <a:r>
                <a:rPr lang="zh-CN" sz="820" dirty="0">
                  <a:solidFill>
                    <a:srgbClr val="E5624C"/>
                  </a:solidFill>
                  <a:latin typeface="+mn-lt"/>
                  <a:ea typeface="+mn-ea"/>
                  <a:cs typeface="+mn-cs"/>
                </a:rPr>
                <a:t>爱好者</a:t>
              </a:r>
              <a:r>
                <a:rPr lang="zh-CN" sz="820" dirty="0">
                  <a:solidFill>
                    <a:srgbClr val="705F5B"/>
                  </a:solidFill>
                  <a:latin typeface="+mn-lt"/>
                  <a:ea typeface="+mn-ea"/>
                  <a:cs typeface="+mn-cs"/>
                </a:rPr>
                <a:t>进行投</a:t>
              </a:r>
              <a:br/>
              <a:r>
                <a:rPr lang="zh-CN" sz="820" dirty="0">
                  <a:solidFill>
                    <a:srgbClr val="705F5B"/>
                  </a:solidFill>
                  <a:latin typeface="+mn-lt"/>
                  <a:ea typeface="+mn-ea"/>
                  <a:cs typeface="+mn-cs"/>
                </a:rPr>
                <a:t>放，高曝光提升广告记忆</a:t>
              </a:r>
            </a:p>
          </p:txBody>
        </p:sp>
        <p:sp>
          <p:nvSpPr>
            <p:cNvPr id="57" name="Rectangle 57"/>
            <p:cNvSpPr/>
            <p:nvPr/>
          </p:nvSpPr>
          <p:spPr>
            <a:xfrm>
              <a:off x="2333625" y="4038600"/>
              <a:ext cx="2286000" cy="228600"/>
            </a:xfrm>
            <a:prstGeom prst="roundRect">
              <a:avLst>
                <a:gd name="adj" fmla="val 16667"/>
              </a:avLst>
            </a:prstGeom>
            <a:solidFill>
              <a:srgbClr val="EEF0FB"/>
            </a:solidFill>
            <a:ln>
              <a:noFill/>
            </a:ln>
          </p:spPr>
        </p:sp>
        <p:sp>
          <p:nvSpPr>
            <p:cNvPr id="58" name="TextBox 58"/>
            <p:cNvSpPr txBox="1"/>
            <p:nvPr/>
          </p:nvSpPr>
          <p:spPr>
            <a:xfrm>
              <a:off x="2682215" y="4105989"/>
              <a:ext cx="1588820" cy="154781"/>
            </a:xfrm>
            <a:prstGeom prst="rect">
              <a:avLst/>
            </a:prstGeom>
            <a:noFill/>
            <a:ln>
              <a:noFill/>
            </a:ln>
          </p:spPr>
          <p:txBody>
            <a:bodyPr wrap="none" lIns="0" tIns="0" rIns="0" bIns="0" anchor="t" anchorCtr="0">
              <a:spAutoFit/>
            </a:bodyPr>
            <a:lstStyle/>
            <a:p>
              <a:pPr algn="ctr"/>
              <a:r>
                <a:rPr lang="zh-CN" sz="790" dirty="0">
                  <a:solidFill>
                    <a:srgbClr val="C1553F"/>
                  </a:solidFill>
                  <a:latin typeface="+mn-lt"/>
                  <a:ea typeface="+mn-ea"/>
                  <a:cs typeface="+mn-cs"/>
                </a:rPr>
                <a:t>年龄:25-28岁｜地域:一二线城市</a:t>
              </a:r>
            </a:p>
          </p:txBody>
        </p:sp>
        <p:sp>
          <p:nvSpPr>
            <p:cNvPr id="59" name="Rectangle 59"/>
            <p:cNvSpPr/>
            <p:nvPr/>
          </p:nvSpPr>
          <p:spPr>
            <a:xfrm>
              <a:off x="5067300" y="3371850"/>
              <a:ext cx="3524250" cy="1028700"/>
            </a:xfrm>
            <a:prstGeom prst="roundRect">
              <a:avLst>
                <a:gd name="adj" fmla="val 3704"/>
              </a:avLst>
            </a:prstGeom>
            <a:solidFill>
              <a:srgbClr val="FFFFFF"/>
            </a:solidFill>
            <a:ln w="9525">
              <a:solidFill>
                <a:srgbClr val="E4E7F5"/>
              </a:solidFill>
            </a:ln>
          </p:spPr>
        </p:sp>
        <p:sp>
          <p:nvSpPr>
            <p:cNvPr id="60" name="Ellipse 60"/>
            <p:cNvSpPr/>
            <p:nvPr/>
          </p:nvSpPr>
          <p:spPr>
            <a:xfrm>
              <a:off x="5419725" y="3486150"/>
              <a:ext cx="266700" cy="266700"/>
            </a:xfrm>
            <a:prstGeom prst="ellipse">
              <a:avLst/>
            </a:prstGeom>
            <a:solidFill>
              <a:srgbClr val="C4776A"/>
            </a:solidFill>
            <a:ln>
              <a:noFill/>
            </a:ln>
          </p:spPr>
        </p:sp>
        <p:sp>
          <p:nvSpPr>
            <p:cNvPr id="61" name="Freeform 61"/>
            <p:cNvSpPr/>
            <p:nvPr/>
          </p:nvSpPr>
          <p:spPr>
            <a:xfrm>
              <a:off x="5343525" y="3810000"/>
              <a:ext cx="419100" cy="152400"/>
            </a:xfrm>
            <a:custGeom>
              <a:avLst/>
              <a:gdLst/>
              <a:ahLst/>
              <a:cxnLst/>
              <a:rect l="l" t="t" r="r" b="b"/>
              <a:pathLst>
                <a:path w="419100" h="152400">
                  <a:moveTo>
                    <a:pt x="0" y="152400"/>
                  </a:moveTo>
                  <a:cubicBezTo>
                    <a:pt x="0" y="0"/>
                    <a:pt x="419100" y="0"/>
                    <a:pt x="419100" y="152400"/>
                  </a:cubicBezTo>
                  <a:close/>
                </a:path>
              </a:pathLst>
            </a:custGeom>
            <a:solidFill>
              <a:srgbClr val="C4776A"/>
            </a:solidFill>
            <a:ln>
              <a:noFill/>
            </a:ln>
          </p:spPr>
        </p:sp>
        <p:sp>
          <p:nvSpPr>
            <p:cNvPr id="62" name="TextBox 62"/>
            <p:cNvSpPr txBox="1"/>
            <p:nvPr/>
          </p:nvSpPr>
          <p:spPr>
            <a:xfrm>
              <a:off x="5929312" y="3568541"/>
              <a:ext cx="157162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对测试阶段的</a:t>
              </a:r>
              <a:r>
                <a:rPr lang="zh-CN" sz="820" dirty="0">
                  <a:solidFill>
                    <a:srgbClr val="E5624C"/>
                  </a:solidFill>
                  <a:latin typeface="+mn-lt"/>
                  <a:ea typeface="+mn-ea"/>
                  <a:cs typeface="+mn-cs"/>
                </a:rPr>
                <a:t>广告点击人群</a:t>
              </a:r>
              <a:r>
                <a:rPr lang="zh-CN" sz="820" dirty="0">
                  <a:solidFill>
                    <a:srgbClr val="705F5B"/>
                  </a:solidFill>
                  <a:latin typeface="+mn-lt"/>
                  <a:ea typeface="+mn-ea"/>
                  <a:cs typeface="+mn-cs"/>
                </a:rPr>
                <a:t>找回再</a:t>
              </a:r>
              <a:br/>
              <a:r>
                <a:rPr lang="zh-CN" sz="820" dirty="0">
                  <a:solidFill>
                    <a:srgbClr val="705F5B"/>
                  </a:solidFill>
                  <a:latin typeface="+mn-lt"/>
                  <a:ea typeface="+mn-ea"/>
                  <a:cs typeface="+mn-cs"/>
                </a:rPr>
                <a:t>投放，提升种草效率</a:t>
              </a:r>
            </a:p>
          </p:txBody>
        </p:sp>
        <p:sp>
          <p:nvSpPr>
            <p:cNvPr id="63" name="Rectangle 63"/>
            <p:cNvSpPr/>
            <p:nvPr/>
          </p:nvSpPr>
          <p:spPr>
            <a:xfrm>
              <a:off x="5934075" y="4038600"/>
              <a:ext cx="2286000" cy="228600"/>
            </a:xfrm>
            <a:prstGeom prst="roundRect">
              <a:avLst>
                <a:gd name="adj" fmla="val 16667"/>
              </a:avLst>
            </a:prstGeom>
            <a:solidFill>
              <a:srgbClr val="FDF0EC"/>
            </a:solidFill>
            <a:ln>
              <a:noFill/>
            </a:ln>
          </p:spPr>
        </p:sp>
        <p:sp>
          <p:nvSpPr>
            <p:cNvPr id="64" name="TextBox 64"/>
            <p:cNvSpPr txBox="1"/>
            <p:nvPr/>
          </p:nvSpPr>
          <p:spPr>
            <a:xfrm>
              <a:off x="6335840" y="4105989"/>
              <a:ext cx="1482470" cy="154781"/>
            </a:xfrm>
            <a:prstGeom prst="rect">
              <a:avLst/>
            </a:prstGeom>
            <a:noFill/>
            <a:ln>
              <a:noFill/>
            </a:ln>
          </p:spPr>
          <p:txBody>
            <a:bodyPr wrap="none" lIns="0" tIns="0" rIns="0" bIns="0" anchor="t" anchorCtr="0">
              <a:spAutoFit/>
            </a:bodyPr>
            <a:lstStyle/>
            <a:p>
              <a:pPr algn="ctr"/>
              <a:r>
                <a:rPr lang="zh-CN" sz="790" dirty="0">
                  <a:solidFill>
                    <a:srgbClr val="E5624C"/>
                  </a:solidFill>
                  <a:latin typeface="+mn-lt"/>
                  <a:ea typeface="+mn-ea"/>
                  <a:cs typeface="+mn-cs"/>
                </a:rPr>
                <a:t>年龄:28-35岁｜地域:一线城市</a:t>
              </a:r>
            </a:p>
          </p:txBody>
        </p:sp>
        <p:sp>
          <p:nvSpPr>
            <p:cNvPr id="65" name="Rectangle 65"/>
            <p:cNvSpPr/>
            <p:nvPr/>
          </p:nvSpPr>
          <p:spPr>
            <a:xfrm>
              <a:off x="8667750" y="3371850"/>
              <a:ext cx="3105150" cy="1028700"/>
            </a:xfrm>
            <a:prstGeom prst="roundRect">
              <a:avLst>
                <a:gd name="adj" fmla="val 3704"/>
              </a:avLst>
            </a:prstGeom>
            <a:solidFill>
              <a:srgbClr val="FFFFFF"/>
            </a:solidFill>
            <a:ln w="9525">
              <a:solidFill>
                <a:srgbClr val="E4E7F5"/>
              </a:solidFill>
            </a:ln>
          </p:spPr>
        </p:sp>
        <p:sp>
          <p:nvSpPr>
            <p:cNvPr id="66" name="Ellipse 66"/>
            <p:cNvSpPr/>
            <p:nvPr/>
          </p:nvSpPr>
          <p:spPr>
            <a:xfrm>
              <a:off x="8991600" y="3486150"/>
              <a:ext cx="266700" cy="266700"/>
            </a:xfrm>
            <a:prstGeom prst="ellipse">
              <a:avLst/>
            </a:prstGeom>
            <a:solidFill>
              <a:srgbClr val="A8685B"/>
            </a:solidFill>
            <a:ln>
              <a:noFill/>
            </a:ln>
          </p:spPr>
        </p:sp>
        <p:sp>
          <p:nvSpPr>
            <p:cNvPr id="67" name="Freeform 67"/>
            <p:cNvSpPr/>
            <p:nvPr/>
          </p:nvSpPr>
          <p:spPr>
            <a:xfrm>
              <a:off x="8915400" y="3810000"/>
              <a:ext cx="419100" cy="152400"/>
            </a:xfrm>
            <a:custGeom>
              <a:avLst/>
              <a:gdLst/>
              <a:ahLst/>
              <a:cxnLst/>
              <a:rect l="l" t="t" r="r" b="b"/>
              <a:pathLst>
                <a:path w="419100" h="152400">
                  <a:moveTo>
                    <a:pt x="0" y="152400"/>
                  </a:moveTo>
                  <a:cubicBezTo>
                    <a:pt x="0" y="0"/>
                    <a:pt x="419100" y="0"/>
                    <a:pt x="419100" y="152400"/>
                  </a:cubicBezTo>
                  <a:close/>
                </a:path>
              </a:pathLst>
            </a:custGeom>
            <a:solidFill>
              <a:srgbClr val="A8685B"/>
            </a:solidFill>
            <a:ln>
              <a:noFill/>
            </a:ln>
          </p:spPr>
        </p:sp>
        <p:sp>
          <p:nvSpPr>
            <p:cNvPr id="68" name="TextBox 68"/>
            <p:cNvSpPr txBox="1"/>
            <p:nvPr/>
          </p:nvSpPr>
          <p:spPr>
            <a:xfrm>
              <a:off x="9482138" y="3568541"/>
              <a:ext cx="136334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锁定竞品购买人群，同步拓展</a:t>
              </a:r>
              <a:br/>
              <a:r>
                <a:rPr lang="zh-CN" sz="820" dirty="0">
                  <a:solidFill>
                    <a:srgbClr val="E5624C"/>
                  </a:solidFill>
                  <a:latin typeface="+mn-lt"/>
                  <a:ea typeface="+mn-ea"/>
                  <a:cs typeface="+mn-cs"/>
                </a:rPr>
                <a:t>相似人群</a:t>
              </a:r>
              <a:r>
                <a:rPr lang="zh-CN" sz="820" dirty="0">
                  <a:solidFill>
                    <a:srgbClr val="705F5B"/>
                  </a:solidFill>
                  <a:latin typeface="+mn-lt"/>
                  <a:ea typeface="+mn-ea"/>
                  <a:cs typeface="+mn-cs"/>
                </a:rPr>
                <a:t>进行投放提升转化率</a:t>
              </a:r>
            </a:p>
          </p:txBody>
        </p:sp>
        <p:sp>
          <p:nvSpPr>
            <p:cNvPr id="69" name="Rectangle 69"/>
            <p:cNvSpPr/>
            <p:nvPr/>
          </p:nvSpPr>
          <p:spPr>
            <a:xfrm>
              <a:off x="9486900" y="4038600"/>
              <a:ext cx="2114550" cy="228600"/>
            </a:xfrm>
            <a:prstGeom prst="roundRect">
              <a:avLst>
                <a:gd name="adj" fmla="val 16667"/>
              </a:avLst>
            </a:prstGeom>
            <a:solidFill>
              <a:srgbClr val="FDF0EC"/>
            </a:solidFill>
            <a:ln>
              <a:noFill/>
            </a:ln>
          </p:spPr>
        </p:sp>
        <p:sp>
          <p:nvSpPr>
            <p:cNvPr id="70" name="TextBox 70"/>
            <p:cNvSpPr txBox="1"/>
            <p:nvPr/>
          </p:nvSpPr>
          <p:spPr>
            <a:xfrm>
              <a:off x="9802940" y="4105989"/>
              <a:ext cx="1482470" cy="154781"/>
            </a:xfrm>
            <a:prstGeom prst="rect">
              <a:avLst/>
            </a:prstGeom>
            <a:noFill/>
            <a:ln>
              <a:noFill/>
            </a:ln>
          </p:spPr>
          <p:txBody>
            <a:bodyPr wrap="none" lIns="0" tIns="0" rIns="0" bIns="0" anchor="t" anchorCtr="0">
              <a:spAutoFit/>
            </a:bodyPr>
            <a:lstStyle/>
            <a:p>
              <a:pPr algn="ctr"/>
              <a:r>
                <a:rPr lang="zh-CN" sz="790" dirty="0">
                  <a:solidFill>
                    <a:srgbClr val="E5624C"/>
                  </a:solidFill>
                  <a:latin typeface="+mn-lt"/>
                  <a:ea typeface="+mn-ea"/>
                  <a:cs typeface="+mn-cs"/>
                </a:rPr>
                <a:t>年龄:30-45岁｜地域:一线城市</a:t>
              </a:r>
            </a:p>
          </p:txBody>
        </p:sp>
      </p:grpSp>
      <p:grpSp>
        <p:nvGrpSpPr>
          <p:cNvPr id="76" name="row-adform"/>
          <p:cNvGrpSpPr/>
          <p:nvPr/>
        </p:nvGrpSpPr>
        <p:grpSpPr>
          <a:xfrm>
            <a:off x="228600" y="4495800"/>
            <a:ext cx="11544300" cy="304800"/>
            <a:chOff x="228600" y="4495800"/>
            <a:chExt cx="11544300" cy="304800"/>
          </a:xfrm>
        </p:grpSpPr>
        <p:sp>
          <p:nvSpPr>
            <p:cNvPr id="72" name="Rectangle 72"/>
            <p:cNvSpPr/>
            <p:nvPr/>
          </p:nvSpPr>
          <p:spPr>
            <a:xfrm>
              <a:off x="228600" y="4495800"/>
              <a:ext cx="1162050" cy="304800"/>
            </a:xfrm>
            <a:prstGeom prst="roundRect">
              <a:avLst>
                <a:gd name="adj" fmla="val 12500"/>
              </a:avLst>
            </a:prstGeom>
            <a:gradFill>
              <a:gsLst>
                <a:gs pos="0">
                  <a:srgbClr val="E5624C"/>
                </a:gs>
                <a:gs pos="100000">
                  <a:srgbClr val="F0998A"/>
                </a:gs>
              </a:gsLst>
              <a:lin ang="0" scaled="1"/>
            </a:gradFill>
            <a:ln>
              <a:noFill/>
            </a:ln>
          </p:spPr>
        </p:sp>
        <p:sp>
          <p:nvSpPr>
            <p:cNvPr id="73" name="TextBox 73"/>
            <p:cNvSpPr txBox="1"/>
            <p:nvPr/>
          </p:nvSpPr>
          <p:spPr>
            <a:xfrm>
              <a:off x="540817" y="45905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广告形式</a:t>
              </a:r>
            </a:p>
          </p:txBody>
        </p:sp>
        <p:sp>
          <p:nvSpPr>
            <p:cNvPr id="74" name="Rectangle 74"/>
            <p:cNvSpPr/>
            <p:nvPr/>
          </p:nvSpPr>
          <p:spPr>
            <a:xfrm>
              <a:off x="1466850" y="4495800"/>
              <a:ext cx="10306050" cy="304800"/>
            </a:xfrm>
            <a:prstGeom prst="roundRect">
              <a:avLst>
                <a:gd name="adj" fmla="val 12500"/>
              </a:avLst>
            </a:prstGeom>
            <a:gradFill>
              <a:gsLst>
                <a:gs pos="0">
                  <a:srgbClr val="E5624C"/>
                </a:gs>
                <a:gs pos="100000">
                  <a:srgbClr val="F0998A"/>
                </a:gs>
              </a:gsLst>
              <a:lin ang="0" scaled="1"/>
            </a:gradFill>
            <a:ln>
              <a:noFill/>
            </a:ln>
          </p:spPr>
        </p:sp>
        <p:sp>
          <p:nvSpPr>
            <p:cNvPr id="75" name="TextBox 75"/>
            <p:cNvSpPr txBox="1"/>
            <p:nvPr/>
          </p:nvSpPr>
          <p:spPr>
            <a:xfrm>
              <a:off x="5543454" y="4592002"/>
              <a:ext cx="215284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静态开屏+视频信息流+图文信息流</a:t>
              </a:r>
            </a:p>
          </p:txBody>
        </p:sp>
      </p:grpSp>
      <p:grpSp>
        <p:nvGrpSpPr>
          <p:cNvPr id="85" name="row-media"/>
          <p:cNvGrpSpPr/>
          <p:nvPr/>
        </p:nvGrpSpPr>
        <p:grpSpPr>
          <a:xfrm>
            <a:off x="228600" y="4876800"/>
            <a:ext cx="11544300" cy="609600"/>
            <a:chOff x="228600" y="4876800"/>
            <a:chExt cx="11544300" cy="609600"/>
          </a:xfrm>
        </p:grpSpPr>
        <p:sp>
          <p:nvSpPr>
            <p:cNvPr id="77" name="Rectangle 77"/>
            <p:cNvSpPr/>
            <p:nvPr/>
          </p:nvSpPr>
          <p:spPr>
            <a:xfrm>
              <a:off x="228600" y="4876800"/>
              <a:ext cx="1162050" cy="304800"/>
            </a:xfrm>
            <a:prstGeom prst="roundRect">
              <a:avLst>
                <a:gd name="adj" fmla="val 12500"/>
              </a:avLst>
            </a:prstGeom>
            <a:gradFill>
              <a:gsLst>
                <a:gs pos="0">
                  <a:srgbClr val="C1553F"/>
                </a:gs>
                <a:gs pos="100000">
                  <a:srgbClr val="CE897B"/>
                </a:gs>
              </a:gsLst>
              <a:lin ang="0" scaled="1"/>
            </a:gradFill>
            <a:ln>
              <a:noFill/>
            </a:ln>
          </p:spPr>
        </p:sp>
        <p:sp>
          <p:nvSpPr>
            <p:cNvPr id="78" name="TextBox 78"/>
            <p:cNvSpPr txBox="1"/>
            <p:nvPr/>
          </p:nvSpPr>
          <p:spPr>
            <a:xfrm>
              <a:off x="540817" y="49715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投放媒体</a:t>
              </a:r>
            </a:p>
          </p:txBody>
        </p:sp>
        <p:sp>
          <p:nvSpPr>
            <p:cNvPr id="79" name="Rectangle 79"/>
            <p:cNvSpPr/>
            <p:nvPr/>
          </p:nvSpPr>
          <p:spPr>
            <a:xfrm>
              <a:off x="1466850" y="4876800"/>
              <a:ext cx="3524250" cy="609600"/>
            </a:xfrm>
            <a:prstGeom prst="roundRect">
              <a:avLst>
                <a:gd name="adj" fmla="val 6250"/>
              </a:avLst>
            </a:prstGeom>
            <a:solidFill>
              <a:srgbClr val="FFFFFF"/>
            </a:solidFill>
            <a:ln w="9525">
              <a:solidFill>
                <a:srgbClr val="E4E7F5"/>
              </a:solidFill>
            </a:ln>
          </p:spPr>
        </p:sp>
        <p:sp>
          <p:nvSpPr>
            <p:cNvPr id="80" name="TextBox 80"/>
            <p:cNvSpPr txBox="1"/>
            <p:nvPr/>
          </p:nvSpPr>
          <p:spPr>
            <a:xfrm>
              <a:off x="1595438" y="5016341"/>
              <a:ext cx="177990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基于目标人群触媒习惯，筛选主流媒体</a:t>
              </a:r>
              <a:br/>
              <a:r>
                <a:rPr lang="zh-CN" sz="820" dirty="0">
                  <a:solidFill>
                    <a:srgbClr val="705F5B"/>
                  </a:solidFill>
                  <a:latin typeface="+mn-lt"/>
                  <a:ea typeface="+mn-ea"/>
                  <a:cs typeface="+mn-cs"/>
                </a:rPr>
                <a:t>加大</a:t>
              </a:r>
              <a:r>
                <a:rPr lang="zh-CN" sz="820" dirty="0">
                  <a:solidFill>
                    <a:srgbClr val="C1553F"/>
                  </a:solidFill>
                  <a:latin typeface="+mn-lt"/>
                  <a:ea typeface="+mn-ea"/>
                  <a:cs typeface="+mn-cs"/>
                </a:rPr>
                <a:t>曝光(视频娱乐类/音乐视频类)</a:t>
              </a:r>
            </a:p>
          </p:txBody>
        </p:sp>
        <p:sp>
          <p:nvSpPr>
            <p:cNvPr id="81" name="Rectangle 81"/>
            <p:cNvSpPr/>
            <p:nvPr/>
          </p:nvSpPr>
          <p:spPr>
            <a:xfrm>
              <a:off x="5067300" y="4876800"/>
              <a:ext cx="3524250" cy="609600"/>
            </a:xfrm>
            <a:prstGeom prst="roundRect">
              <a:avLst>
                <a:gd name="adj" fmla="val 6250"/>
              </a:avLst>
            </a:prstGeom>
            <a:solidFill>
              <a:srgbClr val="FFFFFF"/>
            </a:solidFill>
            <a:ln w="9525">
              <a:solidFill>
                <a:srgbClr val="E4E7F5"/>
              </a:solidFill>
            </a:ln>
          </p:spPr>
        </p:sp>
        <p:sp>
          <p:nvSpPr>
            <p:cNvPr id="82" name="TextBox 82"/>
            <p:cNvSpPr txBox="1"/>
            <p:nvPr/>
          </p:nvSpPr>
          <p:spPr>
            <a:xfrm>
              <a:off x="5195888" y="5016341"/>
              <a:ext cx="1904873"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快速筛选出</a:t>
              </a:r>
              <a:r>
                <a:rPr lang="zh-CN" sz="820" dirty="0">
                  <a:solidFill>
                    <a:srgbClr val="C1553F"/>
                  </a:solidFill>
                  <a:latin typeface="+mn-lt"/>
                  <a:ea typeface="+mn-ea"/>
                  <a:cs typeface="+mn-cs"/>
                </a:rPr>
                <a:t>最优组合(媒体+人群+创意)</a:t>
              </a:r>
              <a:r>
                <a:rPr lang="zh-CN" sz="820" dirty="0">
                  <a:solidFill>
                    <a:srgbClr val="705F5B"/>
                  </a:solidFill>
                  <a:latin typeface="+mn-lt"/>
                  <a:ea typeface="+mn-ea"/>
                  <a:cs typeface="+mn-cs"/>
                </a:rPr>
                <a:t>，</a:t>
              </a:r>
              <a:br/>
              <a:r>
                <a:rPr lang="zh-CN" sz="820" dirty="0">
                  <a:solidFill>
                    <a:srgbClr val="705F5B"/>
                  </a:solidFill>
                  <a:latin typeface="+mn-lt"/>
                  <a:ea typeface="+mn-ea"/>
                  <a:cs typeface="+mn-cs"/>
                </a:rPr>
                <a:t>保证投放期间产品热度</a:t>
              </a:r>
            </a:p>
          </p:txBody>
        </p:sp>
        <p:sp>
          <p:nvSpPr>
            <p:cNvPr id="83" name="Rectangle 83"/>
            <p:cNvSpPr/>
            <p:nvPr/>
          </p:nvSpPr>
          <p:spPr>
            <a:xfrm>
              <a:off x="8667750" y="4876800"/>
              <a:ext cx="3105150" cy="609600"/>
            </a:xfrm>
            <a:prstGeom prst="roundRect">
              <a:avLst>
                <a:gd name="adj" fmla="val 6250"/>
              </a:avLst>
            </a:prstGeom>
            <a:solidFill>
              <a:srgbClr val="FFFFFF"/>
            </a:solidFill>
            <a:ln w="9525">
              <a:solidFill>
                <a:srgbClr val="E4E7F5"/>
              </a:solidFill>
            </a:ln>
          </p:spPr>
        </p:sp>
        <p:sp>
          <p:nvSpPr>
            <p:cNvPr id="84" name="TextBox 84"/>
            <p:cNvSpPr txBox="1"/>
            <p:nvPr/>
          </p:nvSpPr>
          <p:spPr>
            <a:xfrm>
              <a:off x="8796338" y="5016341"/>
              <a:ext cx="188404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关停广告点击率低和转化差的媒体投放，</a:t>
              </a:r>
              <a:br/>
              <a:r>
                <a:rPr lang="zh-CN" sz="820" dirty="0">
                  <a:solidFill>
                    <a:srgbClr val="705F5B"/>
                  </a:solidFill>
                  <a:latin typeface="+mn-lt"/>
                  <a:ea typeface="+mn-ea"/>
                  <a:cs typeface="+mn-cs"/>
                </a:rPr>
                <a:t>重点投放</a:t>
              </a:r>
              <a:r>
                <a:rPr lang="zh-CN" sz="820" dirty="0">
                  <a:solidFill>
                    <a:srgbClr val="C1553F"/>
                  </a:solidFill>
                  <a:latin typeface="+mn-lt"/>
                  <a:ea typeface="+mn-ea"/>
                  <a:cs typeface="+mn-cs"/>
                </a:rPr>
                <a:t>转化效果好的媒体</a:t>
              </a:r>
            </a:p>
          </p:txBody>
        </p:sp>
      </p:grpSp>
      <p:grpSp>
        <p:nvGrpSpPr>
          <p:cNvPr id="105" name="row-material"/>
          <p:cNvGrpSpPr/>
          <p:nvPr/>
        </p:nvGrpSpPr>
        <p:grpSpPr>
          <a:xfrm>
            <a:off x="228600" y="5581650"/>
            <a:ext cx="11544300" cy="781050"/>
            <a:chOff x="228600" y="5581650"/>
            <a:chExt cx="11544300" cy="781050"/>
          </a:xfrm>
        </p:grpSpPr>
        <p:sp>
          <p:nvSpPr>
            <p:cNvPr id="86" name="Rectangle 86"/>
            <p:cNvSpPr/>
            <p:nvPr/>
          </p:nvSpPr>
          <p:spPr>
            <a:xfrm>
              <a:off x="228600" y="5581650"/>
              <a:ext cx="1162050" cy="304800"/>
            </a:xfrm>
            <a:prstGeom prst="roundRect">
              <a:avLst>
                <a:gd name="adj" fmla="val 12500"/>
              </a:avLst>
            </a:prstGeom>
            <a:gradFill>
              <a:gsLst>
                <a:gs pos="0">
                  <a:srgbClr val="E5624C"/>
                </a:gs>
                <a:gs pos="100000">
                  <a:srgbClr val="F0998A"/>
                </a:gs>
              </a:gsLst>
              <a:lin ang="0" scaled="1"/>
            </a:gradFill>
            <a:ln>
              <a:noFill/>
            </a:ln>
          </p:spPr>
        </p:sp>
        <p:sp>
          <p:nvSpPr>
            <p:cNvPr id="87" name="TextBox 87"/>
            <p:cNvSpPr txBox="1"/>
            <p:nvPr/>
          </p:nvSpPr>
          <p:spPr>
            <a:xfrm>
              <a:off x="540817" y="56764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素材策略</a:t>
              </a:r>
            </a:p>
          </p:txBody>
        </p:sp>
        <p:sp>
          <p:nvSpPr>
            <p:cNvPr id="88" name="Rectangle 88"/>
            <p:cNvSpPr/>
            <p:nvPr/>
          </p:nvSpPr>
          <p:spPr>
            <a:xfrm>
              <a:off x="1466850" y="5581650"/>
              <a:ext cx="3524250" cy="781050"/>
            </a:xfrm>
            <a:prstGeom prst="roundRect">
              <a:avLst>
                <a:gd name="adj" fmla="val 4878"/>
              </a:avLst>
            </a:prstGeom>
            <a:solidFill>
              <a:srgbClr val="FFFFFF"/>
            </a:solidFill>
            <a:ln w="9525">
              <a:solidFill>
                <a:srgbClr val="E4E7F5"/>
              </a:solidFill>
            </a:ln>
          </p:spPr>
        </p:sp>
        <p:sp>
          <p:nvSpPr>
            <p:cNvPr id="89" name="TextBox 89"/>
            <p:cNvSpPr txBox="1"/>
            <p:nvPr/>
          </p:nvSpPr>
          <p:spPr>
            <a:xfrm>
              <a:off x="1595438" y="5721191"/>
              <a:ext cx="177990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针对目标人群，设计多套素材测试不同</a:t>
              </a:r>
              <a:br/>
              <a:r>
                <a:rPr lang="zh-CN" sz="820" dirty="0">
                  <a:solidFill>
                    <a:srgbClr val="705F5B"/>
                  </a:solidFill>
                  <a:latin typeface="+mn-lt"/>
                  <a:ea typeface="+mn-ea"/>
                  <a:cs typeface="+mn-cs"/>
                </a:rPr>
                <a:t>素材的欢迎程度</a:t>
              </a:r>
            </a:p>
          </p:txBody>
        </p:sp>
        <p:sp>
          <p:nvSpPr>
            <p:cNvPr id="90" name="Rectangle 90"/>
            <p:cNvSpPr/>
            <p:nvPr/>
          </p:nvSpPr>
          <p:spPr>
            <a:xfrm>
              <a:off x="1600200" y="6076950"/>
              <a:ext cx="952500" cy="209550"/>
            </a:xfrm>
            <a:prstGeom prst="roundRect">
              <a:avLst>
                <a:gd name="adj" fmla="val 50000"/>
              </a:avLst>
            </a:prstGeom>
            <a:solidFill>
              <a:srgbClr val="FBE9E4"/>
            </a:solidFill>
            <a:ln>
              <a:noFill/>
            </a:ln>
          </p:spPr>
        </p:sp>
        <p:sp>
          <p:nvSpPr>
            <p:cNvPr id="91" name="TextBox 91"/>
            <p:cNvSpPr txBox="1"/>
            <p:nvPr/>
          </p:nvSpPr>
          <p:spPr>
            <a:xfrm>
              <a:off x="1813789" y="6134814"/>
              <a:ext cx="525322" cy="154781"/>
            </a:xfrm>
            <a:prstGeom prst="rect">
              <a:avLst/>
            </a:prstGeom>
            <a:noFill/>
            <a:ln>
              <a:noFill/>
            </a:ln>
          </p:spPr>
          <p:txBody>
            <a:bodyPr wrap="none" lIns="0" tIns="0" rIns="0" bIns="0" anchor="t" anchorCtr="0">
              <a:spAutoFit/>
            </a:bodyPr>
            <a:lstStyle/>
            <a:p>
              <a:pPr algn="ctr"/>
              <a:r>
                <a:rPr lang="zh-CN" sz="790" dirty="0">
                  <a:solidFill>
                    <a:srgbClr val="E5624C"/>
                  </a:solidFill>
                  <a:latin typeface="+mn-lt"/>
                  <a:ea typeface="+mn-ea"/>
                  <a:cs typeface="+mn-cs"/>
                </a:rPr>
                <a:t>促销力度 ①</a:t>
              </a:r>
            </a:p>
          </p:txBody>
        </p:sp>
        <p:sp>
          <p:nvSpPr>
            <p:cNvPr id="92" name="Rectangle 92"/>
            <p:cNvSpPr/>
            <p:nvPr/>
          </p:nvSpPr>
          <p:spPr>
            <a:xfrm>
              <a:off x="2628900" y="6076950"/>
              <a:ext cx="952500" cy="209550"/>
            </a:xfrm>
            <a:prstGeom prst="roundRect">
              <a:avLst>
                <a:gd name="adj" fmla="val 50000"/>
              </a:avLst>
            </a:prstGeom>
            <a:solidFill>
              <a:srgbClr val="FBE9E4"/>
            </a:solidFill>
            <a:ln>
              <a:noFill/>
            </a:ln>
          </p:spPr>
        </p:sp>
        <p:sp>
          <p:nvSpPr>
            <p:cNvPr id="93" name="TextBox 93"/>
            <p:cNvSpPr txBox="1"/>
            <p:nvPr/>
          </p:nvSpPr>
          <p:spPr>
            <a:xfrm>
              <a:off x="2842489" y="6134814"/>
              <a:ext cx="525322" cy="154781"/>
            </a:xfrm>
            <a:prstGeom prst="rect">
              <a:avLst/>
            </a:prstGeom>
            <a:noFill/>
            <a:ln>
              <a:noFill/>
            </a:ln>
          </p:spPr>
          <p:txBody>
            <a:bodyPr wrap="none" lIns="0" tIns="0" rIns="0" bIns="0" anchor="t" anchorCtr="0">
              <a:spAutoFit/>
            </a:bodyPr>
            <a:lstStyle/>
            <a:p>
              <a:pPr algn="ctr"/>
              <a:r>
                <a:rPr lang="zh-CN" sz="790" dirty="0">
                  <a:solidFill>
                    <a:srgbClr val="E5624C"/>
                  </a:solidFill>
                  <a:latin typeface="+mn-lt"/>
                  <a:ea typeface="+mn-ea"/>
                  <a:cs typeface="+mn-cs"/>
                </a:rPr>
                <a:t>产品优势 ②</a:t>
              </a:r>
            </a:p>
          </p:txBody>
        </p:sp>
        <p:sp>
          <p:nvSpPr>
            <p:cNvPr id="94" name="Rectangle 94"/>
            <p:cNvSpPr/>
            <p:nvPr/>
          </p:nvSpPr>
          <p:spPr>
            <a:xfrm>
              <a:off x="3657600" y="6076950"/>
              <a:ext cx="952500" cy="209550"/>
            </a:xfrm>
            <a:prstGeom prst="roundRect">
              <a:avLst>
                <a:gd name="adj" fmla="val 50000"/>
              </a:avLst>
            </a:prstGeom>
            <a:solidFill>
              <a:srgbClr val="FBE9E4"/>
            </a:solidFill>
            <a:ln>
              <a:noFill/>
            </a:ln>
          </p:spPr>
        </p:sp>
        <p:sp>
          <p:nvSpPr>
            <p:cNvPr id="95" name="TextBox 95"/>
            <p:cNvSpPr txBox="1"/>
            <p:nvPr/>
          </p:nvSpPr>
          <p:spPr>
            <a:xfrm>
              <a:off x="3871189" y="6134814"/>
              <a:ext cx="525322" cy="154781"/>
            </a:xfrm>
            <a:prstGeom prst="rect">
              <a:avLst/>
            </a:prstGeom>
            <a:noFill/>
            <a:ln>
              <a:noFill/>
            </a:ln>
          </p:spPr>
          <p:txBody>
            <a:bodyPr wrap="none" lIns="0" tIns="0" rIns="0" bIns="0" anchor="t" anchorCtr="0">
              <a:spAutoFit/>
            </a:bodyPr>
            <a:lstStyle/>
            <a:p>
              <a:pPr algn="ctr"/>
              <a:r>
                <a:rPr lang="zh-CN" sz="790" dirty="0">
                  <a:solidFill>
                    <a:srgbClr val="E5624C"/>
                  </a:solidFill>
                  <a:latin typeface="+mn-lt"/>
                  <a:ea typeface="+mn-ea"/>
                  <a:cs typeface="+mn-cs"/>
                </a:rPr>
                <a:t>使用场景 ③</a:t>
              </a:r>
            </a:p>
          </p:txBody>
        </p:sp>
        <p:sp>
          <p:nvSpPr>
            <p:cNvPr id="96" name="Rectangle 96"/>
            <p:cNvSpPr/>
            <p:nvPr/>
          </p:nvSpPr>
          <p:spPr>
            <a:xfrm>
              <a:off x="5067300" y="5581650"/>
              <a:ext cx="3524250" cy="781050"/>
            </a:xfrm>
            <a:prstGeom prst="roundRect">
              <a:avLst>
                <a:gd name="adj" fmla="val 4878"/>
              </a:avLst>
            </a:prstGeom>
            <a:solidFill>
              <a:srgbClr val="FFFFFF"/>
            </a:solidFill>
            <a:ln w="9525">
              <a:solidFill>
                <a:srgbClr val="E4E7F5"/>
              </a:solidFill>
            </a:ln>
          </p:spPr>
        </p:sp>
        <p:sp>
          <p:nvSpPr>
            <p:cNvPr id="97" name="Rectangle 97"/>
            <p:cNvSpPr/>
            <p:nvPr/>
          </p:nvSpPr>
          <p:spPr>
            <a:xfrm>
              <a:off x="6438900" y="5676900"/>
              <a:ext cx="781050" cy="628650"/>
            </a:xfrm>
            <a:prstGeom prst="roundRect">
              <a:avLst>
                <a:gd name="adj" fmla="val 12121"/>
              </a:avLst>
            </a:prstGeom>
            <a:solidFill>
              <a:srgbClr val="452F2A"/>
            </a:solidFill>
            <a:ln>
              <a:noFill/>
            </a:ln>
          </p:spPr>
        </p:sp>
        <p:sp>
          <p:nvSpPr>
            <p:cNvPr id="98" name="Rectangle 98"/>
            <p:cNvSpPr/>
            <p:nvPr/>
          </p:nvSpPr>
          <p:spPr>
            <a:xfrm>
              <a:off x="6496050" y="5734050"/>
              <a:ext cx="666750" cy="514350"/>
            </a:xfrm>
            <a:prstGeom prst="roundRect">
              <a:avLst>
                <a:gd name="adj" fmla="val 7407"/>
              </a:avLst>
            </a:prstGeom>
            <a:solidFill>
              <a:srgbClr val="F2F4FB"/>
            </a:solidFill>
            <a:ln>
              <a:noFill/>
            </a:ln>
          </p:spPr>
        </p:sp>
        <p:sp>
          <p:nvSpPr>
            <p:cNvPr id="99" name="TextBox 99"/>
            <p:cNvSpPr txBox="1"/>
            <p:nvPr/>
          </p:nvSpPr>
          <p:spPr>
            <a:xfrm>
              <a:off x="5298961" y="5797391"/>
              <a:ext cx="45107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送礼场景</a:t>
              </a:r>
            </a:p>
          </p:txBody>
        </p:sp>
        <p:sp>
          <p:nvSpPr>
            <p:cNvPr id="100" name="TextBox 100"/>
            <p:cNvSpPr txBox="1"/>
            <p:nvPr/>
          </p:nvSpPr>
          <p:spPr>
            <a:xfrm>
              <a:off x="5298961" y="6006941"/>
              <a:ext cx="45107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优惠促销</a:t>
              </a:r>
            </a:p>
          </p:txBody>
        </p:sp>
        <p:sp>
          <p:nvSpPr>
            <p:cNvPr id="101" name="TextBox 101"/>
            <p:cNvSpPr txBox="1"/>
            <p:nvPr/>
          </p:nvSpPr>
          <p:spPr>
            <a:xfrm>
              <a:off x="7884330" y="5797391"/>
              <a:ext cx="538140" cy="161925"/>
            </a:xfrm>
            <a:prstGeom prst="rect">
              <a:avLst/>
            </a:prstGeom>
            <a:noFill/>
            <a:ln>
              <a:noFill/>
            </a:ln>
          </p:spPr>
          <p:txBody>
            <a:bodyPr wrap="none" lIns="0" tIns="0" rIns="0" bIns="0" anchor="t" anchorCtr="0">
              <a:spAutoFit/>
            </a:bodyPr>
            <a:lstStyle/>
            <a:p>
              <a:pPr algn="ctr"/>
              <a:r>
                <a:rPr lang="en-US" sz="820" dirty="0">
                  <a:solidFill>
                    <a:srgbClr val="705F5B"/>
                  </a:solidFill>
                  <a:latin typeface="+mn-lt"/>
                  <a:ea typeface="+mn-ea"/>
                  <a:cs typeface="+mn-cs"/>
                </a:rPr>
                <a:t>A/B test​</a:t>
              </a:r>
            </a:p>
          </p:txBody>
        </p:sp>
        <p:sp>
          <p:nvSpPr>
            <p:cNvPr id="102" name="TextBox 102"/>
            <p:cNvSpPr txBox="1"/>
            <p:nvPr/>
          </p:nvSpPr>
          <p:spPr>
            <a:xfrm>
              <a:off x="7872666" y="6006941"/>
              <a:ext cx="561467"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实时点击率</a:t>
              </a:r>
            </a:p>
          </p:txBody>
        </p:sp>
        <p:sp>
          <p:nvSpPr>
            <p:cNvPr id="103" name="Rectangle 103"/>
            <p:cNvSpPr/>
            <p:nvPr/>
          </p:nvSpPr>
          <p:spPr>
            <a:xfrm>
              <a:off x="8667750" y="5581650"/>
              <a:ext cx="3105150" cy="781050"/>
            </a:xfrm>
            <a:prstGeom prst="roundRect">
              <a:avLst>
                <a:gd name="adj" fmla="val 4878"/>
              </a:avLst>
            </a:prstGeom>
            <a:solidFill>
              <a:srgbClr val="FFFFFF"/>
            </a:solidFill>
            <a:ln w="9525">
              <a:solidFill>
                <a:srgbClr val="E4E7F5"/>
              </a:solidFill>
            </a:ln>
          </p:spPr>
        </p:sp>
        <p:sp>
          <p:nvSpPr>
            <p:cNvPr id="104" name="TextBox 104"/>
            <p:cNvSpPr txBox="1"/>
            <p:nvPr/>
          </p:nvSpPr>
          <p:spPr>
            <a:xfrm>
              <a:off x="8796338" y="5706189"/>
              <a:ext cx="1715135" cy="6119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① 高点击率创意素材追投，进一步提升</a:t>
              </a:r>
              <a:br/>
              <a:r>
                <a:rPr lang="zh-CN" sz="790" dirty="0">
                  <a:solidFill>
                    <a:srgbClr val="705F5B"/>
                  </a:solidFill>
                  <a:latin typeface="+mn-lt"/>
                  <a:ea typeface="+mn-ea"/>
                  <a:cs typeface="+mn-cs"/>
                </a:rPr>
                <a:t>转化; ② 不断预测人群对于素材的喜好</a:t>
              </a:r>
              <a:br/>
              <a:r>
                <a:rPr lang="zh-CN" sz="790" dirty="0">
                  <a:solidFill>
                    <a:srgbClr val="705F5B"/>
                  </a:solidFill>
                  <a:latin typeface="+mn-lt"/>
                  <a:ea typeface="+mn-ea"/>
                  <a:cs typeface="+mn-cs"/>
                </a:rPr>
                <a:t>程度，针对高点击率及高转化率素材采</a:t>
              </a:r>
              <a:br/>
              <a:r>
                <a:rPr lang="zh-CN" sz="790" dirty="0">
                  <a:solidFill>
                    <a:srgbClr val="705F5B"/>
                  </a:solidFill>
                  <a:latin typeface="+mn-lt"/>
                  <a:ea typeface="+mn-ea"/>
                  <a:cs typeface="+mn-cs"/>
                </a:rPr>
                <a:t>取扩充和使用;</a:t>
              </a:r>
            </a:p>
          </p:txBody>
        </p:sp>
      </p:gr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4533415" cy="440055"/>
            <a:chOff x="302895" y="214312"/>
            <a:chExt cx="4533415"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21.​</a:t>
              </a:r>
            </a:p>
          </p:txBody>
        </p:sp>
        <p:sp>
          <p:nvSpPr>
            <p:cNvPr id="3" name="TextBox 3"/>
            <p:cNvSpPr txBox="1"/>
            <p:nvPr/>
          </p:nvSpPr>
          <p:spPr>
            <a:xfrm>
              <a:off x="866394" y="246698"/>
              <a:ext cx="396991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短视频+直播+线下门店, 全域经营</a:t>
              </a:r>
            </a:p>
          </p:txBody>
        </p:sp>
      </p:grpSp>
      <p:grpSp>
        <p:nvGrpSpPr>
          <p:cNvPr id="22" name="card-short-video"/>
          <p:cNvGrpSpPr/>
          <p:nvPr/>
        </p:nvGrpSpPr>
        <p:grpSpPr>
          <a:xfrm>
            <a:off x="676275" y="1276350"/>
            <a:ext cx="2847975" cy="1790700"/>
            <a:chOff x="676275" y="1276350"/>
            <a:chExt cx="2847975" cy="1790700"/>
          </a:xfrm>
        </p:grpSpPr>
        <p:sp>
          <p:nvSpPr>
            <p:cNvPr id="5" name="Rectangle 5"/>
            <p:cNvSpPr/>
            <p:nvPr/>
          </p:nvSpPr>
          <p:spPr>
            <a:xfrm>
              <a:off x="1466850" y="1276350"/>
              <a:ext cx="1076325" cy="209550"/>
            </a:xfrm>
            <a:prstGeom prst="roundRect">
              <a:avLst>
                <a:gd name="adj" fmla="val 18182"/>
              </a:avLst>
            </a:prstGeom>
            <a:gradFill>
              <a:gsLst>
                <a:gs pos="0">
                  <a:srgbClr val="C1553F"/>
                </a:gs>
                <a:gs pos="100000">
                  <a:srgbClr val="CE897B"/>
                </a:gs>
              </a:gsLst>
              <a:lin ang="0" scaled="1"/>
            </a:gradFill>
            <a:ln>
              <a:noFill/>
            </a:ln>
          </p:spPr>
        </p:sp>
        <p:sp>
          <p:nvSpPr>
            <p:cNvPr id="6" name="TextBox 6"/>
            <p:cNvSpPr txBox="1"/>
            <p:nvPr/>
          </p:nvSpPr>
          <p:spPr>
            <a:xfrm>
              <a:off x="1813750" y="1331595"/>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短视频</a:t>
              </a:r>
            </a:p>
          </p:txBody>
        </p:sp>
        <p:sp>
          <p:nvSpPr>
            <p:cNvPr id="7" name="Rectangle 7"/>
            <p:cNvSpPr/>
            <p:nvPr/>
          </p:nvSpPr>
          <p:spPr>
            <a:xfrm>
              <a:off x="676275" y="1581150"/>
              <a:ext cx="809625" cy="904875"/>
            </a:xfrm>
            <a:prstGeom prst="roundRect">
              <a:avLst>
                <a:gd name="adj" fmla="val 4706"/>
              </a:avLst>
            </a:prstGeom>
            <a:solidFill>
              <a:srgbClr val="EEF0FB"/>
            </a:solidFill>
            <a:ln w="9525">
              <a:solidFill>
                <a:srgbClr val="C9CFEA"/>
              </a:solidFill>
            </a:ln>
          </p:spPr>
        </p:sp>
        <p:sp>
          <p:nvSpPr>
            <p:cNvPr id="8" name="Rectangle 8"/>
            <p:cNvSpPr/>
            <p:nvPr/>
          </p:nvSpPr>
          <p:spPr>
            <a:xfrm>
              <a:off x="752475" y="1657350"/>
              <a:ext cx="381000" cy="76200"/>
            </a:xfrm>
            <a:prstGeom prst="roundRect">
              <a:avLst>
                <a:gd name="adj" fmla="val 25000"/>
              </a:avLst>
            </a:prstGeom>
            <a:solidFill>
              <a:srgbClr val="C9CFEA"/>
            </a:solidFill>
            <a:ln>
              <a:noFill/>
            </a:ln>
          </p:spPr>
        </p:sp>
        <p:sp>
          <p:nvSpPr>
            <p:cNvPr id="9" name="Rectangle 9"/>
            <p:cNvSpPr/>
            <p:nvPr/>
          </p:nvSpPr>
          <p:spPr>
            <a:xfrm>
              <a:off x="752475" y="1790700"/>
              <a:ext cx="657225" cy="428625"/>
            </a:xfrm>
            <a:prstGeom prst="roundRect">
              <a:avLst>
                <a:gd name="adj" fmla="val 4444"/>
              </a:avLst>
            </a:prstGeom>
            <a:solidFill>
              <a:srgbClr val="DDE2F5"/>
            </a:solidFill>
            <a:ln>
              <a:noFill/>
            </a:ln>
          </p:spPr>
        </p:sp>
        <p:sp>
          <p:nvSpPr>
            <p:cNvPr id="10" name="Rectangle 10"/>
            <p:cNvSpPr/>
            <p:nvPr/>
          </p:nvSpPr>
          <p:spPr>
            <a:xfrm>
              <a:off x="1562100" y="1581150"/>
              <a:ext cx="809625" cy="904875"/>
            </a:xfrm>
            <a:prstGeom prst="roundRect">
              <a:avLst>
                <a:gd name="adj" fmla="val 4706"/>
              </a:avLst>
            </a:prstGeom>
            <a:solidFill>
              <a:srgbClr val="EEF0FB"/>
            </a:solidFill>
            <a:ln w="9525">
              <a:solidFill>
                <a:srgbClr val="C9CFEA"/>
              </a:solidFill>
            </a:ln>
          </p:spPr>
        </p:sp>
        <p:sp>
          <p:nvSpPr>
            <p:cNvPr id="11" name="Rectangle 11"/>
            <p:cNvSpPr/>
            <p:nvPr/>
          </p:nvSpPr>
          <p:spPr>
            <a:xfrm>
              <a:off x="1638300" y="1657350"/>
              <a:ext cx="381000" cy="76200"/>
            </a:xfrm>
            <a:prstGeom prst="roundRect">
              <a:avLst>
                <a:gd name="adj" fmla="val 25000"/>
              </a:avLst>
            </a:prstGeom>
            <a:solidFill>
              <a:srgbClr val="C9CFEA"/>
            </a:solidFill>
            <a:ln>
              <a:noFill/>
            </a:ln>
          </p:spPr>
        </p:sp>
        <p:sp>
          <p:nvSpPr>
            <p:cNvPr id="12" name="Rectangle 12"/>
            <p:cNvSpPr/>
            <p:nvPr/>
          </p:nvSpPr>
          <p:spPr>
            <a:xfrm>
              <a:off x="1638300" y="1790700"/>
              <a:ext cx="657225" cy="428625"/>
            </a:xfrm>
            <a:prstGeom prst="roundRect">
              <a:avLst>
                <a:gd name="adj" fmla="val 4444"/>
              </a:avLst>
            </a:prstGeom>
            <a:solidFill>
              <a:srgbClr val="DDE2F5"/>
            </a:solidFill>
            <a:ln>
              <a:noFill/>
            </a:ln>
          </p:spPr>
        </p:sp>
        <p:sp>
          <p:nvSpPr>
            <p:cNvPr id="13" name="Rectangle 13"/>
            <p:cNvSpPr/>
            <p:nvPr/>
          </p:nvSpPr>
          <p:spPr>
            <a:xfrm>
              <a:off x="2447925" y="1581150"/>
              <a:ext cx="809625" cy="904875"/>
            </a:xfrm>
            <a:prstGeom prst="roundRect">
              <a:avLst>
                <a:gd name="adj" fmla="val 4706"/>
              </a:avLst>
            </a:prstGeom>
            <a:solidFill>
              <a:srgbClr val="EEF0FB"/>
            </a:solidFill>
            <a:ln w="9525">
              <a:solidFill>
                <a:srgbClr val="C9CFEA"/>
              </a:solidFill>
            </a:ln>
          </p:spPr>
        </p:sp>
        <p:sp>
          <p:nvSpPr>
            <p:cNvPr id="14" name="Rectangle 14"/>
            <p:cNvSpPr/>
            <p:nvPr/>
          </p:nvSpPr>
          <p:spPr>
            <a:xfrm>
              <a:off x="2524125" y="1657350"/>
              <a:ext cx="381000" cy="76200"/>
            </a:xfrm>
            <a:prstGeom prst="roundRect">
              <a:avLst>
                <a:gd name="adj" fmla="val 25000"/>
              </a:avLst>
            </a:prstGeom>
            <a:solidFill>
              <a:srgbClr val="C9CFEA"/>
            </a:solidFill>
            <a:ln>
              <a:noFill/>
            </a:ln>
          </p:spPr>
        </p:sp>
        <p:sp>
          <p:nvSpPr>
            <p:cNvPr id="15" name="Rectangle 15"/>
            <p:cNvSpPr/>
            <p:nvPr/>
          </p:nvSpPr>
          <p:spPr>
            <a:xfrm>
              <a:off x="2524125" y="1790700"/>
              <a:ext cx="657225" cy="428625"/>
            </a:xfrm>
            <a:prstGeom prst="roundRect">
              <a:avLst>
                <a:gd name="adj" fmla="val 4444"/>
              </a:avLst>
            </a:prstGeom>
            <a:solidFill>
              <a:srgbClr val="DDE2F5"/>
            </a:solidFill>
            <a:ln>
              <a:noFill/>
            </a:ln>
          </p:spPr>
        </p:sp>
        <p:sp>
          <p:nvSpPr>
            <p:cNvPr id="16" name="Rectangle 16"/>
            <p:cNvSpPr/>
            <p:nvPr/>
          </p:nvSpPr>
          <p:spPr>
            <a:xfrm>
              <a:off x="676275" y="2571750"/>
              <a:ext cx="1428750" cy="495300"/>
            </a:xfrm>
            <a:prstGeom prst="roundRect">
              <a:avLst>
                <a:gd name="adj" fmla="val 7692"/>
              </a:avLst>
            </a:prstGeom>
            <a:solidFill>
              <a:srgbClr val="FFFFFF"/>
            </a:solidFill>
            <a:ln w="9525">
              <a:solidFill>
                <a:srgbClr val="E6B8AE"/>
              </a:solidFill>
            </a:ln>
          </p:spPr>
        </p:sp>
        <p:sp>
          <p:nvSpPr>
            <p:cNvPr id="17" name="TextBox 17"/>
            <p:cNvSpPr txBox="1"/>
            <p:nvPr/>
          </p:nvSpPr>
          <p:spPr>
            <a:xfrm>
              <a:off x="931545" y="2690812"/>
              <a:ext cx="91821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达人探店视频中挂商</a:t>
              </a:r>
            </a:p>
          </p:txBody>
        </p:sp>
        <p:sp>
          <p:nvSpPr>
            <p:cNvPr id="18" name="TextBox 18"/>
            <p:cNvSpPr txBox="1"/>
            <p:nvPr/>
          </p:nvSpPr>
          <p:spPr>
            <a:xfrm>
              <a:off x="982028" y="2843212"/>
              <a:ext cx="81724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家地址和团购优惠</a:t>
              </a:r>
            </a:p>
          </p:txBody>
        </p:sp>
        <p:sp>
          <p:nvSpPr>
            <p:cNvPr id="19" name="Rectangle 19"/>
            <p:cNvSpPr/>
            <p:nvPr/>
          </p:nvSpPr>
          <p:spPr>
            <a:xfrm>
              <a:off x="2181225" y="2571750"/>
              <a:ext cx="1343025" cy="495300"/>
            </a:xfrm>
            <a:prstGeom prst="roundRect">
              <a:avLst>
                <a:gd name="adj" fmla="val 7692"/>
              </a:avLst>
            </a:prstGeom>
            <a:solidFill>
              <a:srgbClr val="FFFFFF"/>
            </a:solidFill>
            <a:ln w="9525">
              <a:solidFill>
                <a:srgbClr val="E6B8AE"/>
              </a:solidFill>
            </a:ln>
          </p:spPr>
        </p:sp>
        <p:sp>
          <p:nvSpPr>
            <p:cNvPr id="20" name="TextBox 20"/>
            <p:cNvSpPr txBox="1"/>
            <p:nvPr/>
          </p:nvSpPr>
          <p:spPr>
            <a:xfrm>
              <a:off x="2388870" y="2690812"/>
              <a:ext cx="91821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通过表单形式吸引消</a:t>
              </a:r>
            </a:p>
          </p:txBody>
        </p:sp>
        <p:sp>
          <p:nvSpPr>
            <p:cNvPr id="21" name="TextBox 21"/>
            <p:cNvSpPr txBox="1"/>
            <p:nvPr/>
          </p:nvSpPr>
          <p:spPr>
            <a:xfrm>
              <a:off x="2427208" y="2843212"/>
              <a:ext cx="841534"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费者留资+探店POI</a:t>
              </a:r>
            </a:p>
          </p:txBody>
        </p:sp>
      </p:grpSp>
      <p:grpSp>
        <p:nvGrpSpPr>
          <p:cNvPr id="31" name="card-brand"/>
          <p:cNvGrpSpPr/>
          <p:nvPr/>
        </p:nvGrpSpPr>
        <p:grpSpPr>
          <a:xfrm>
            <a:off x="3609975" y="1276350"/>
            <a:ext cx="1295400" cy="1790700"/>
            <a:chOff x="3609975" y="1276350"/>
            <a:chExt cx="1295400" cy="1790700"/>
          </a:xfrm>
        </p:grpSpPr>
        <p:sp>
          <p:nvSpPr>
            <p:cNvPr id="23" name="Rectangle 23"/>
            <p:cNvSpPr/>
            <p:nvPr/>
          </p:nvSpPr>
          <p:spPr>
            <a:xfrm>
              <a:off x="3724275" y="1276350"/>
              <a:ext cx="847725" cy="209550"/>
            </a:xfrm>
            <a:prstGeom prst="roundRect">
              <a:avLst>
                <a:gd name="adj" fmla="val 18182"/>
              </a:avLst>
            </a:prstGeom>
            <a:gradFill>
              <a:gsLst>
                <a:gs pos="0">
                  <a:srgbClr val="C1553F"/>
                </a:gs>
                <a:gs pos="100000">
                  <a:srgbClr val="CE897B"/>
                </a:gs>
              </a:gsLst>
              <a:lin ang="0" scaled="1"/>
            </a:gradFill>
            <a:ln>
              <a:noFill/>
            </a:ln>
          </p:spPr>
        </p:sp>
        <p:sp>
          <p:nvSpPr>
            <p:cNvPr id="24" name="TextBox 24"/>
            <p:cNvSpPr txBox="1"/>
            <p:nvPr/>
          </p:nvSpPr>
          <p:spPr>
            <a:xfrm>
              <a:off x="3956876" y="1331595"/>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品牌号</a:t>
              </a:r>
            </a:p>
          </p:txBody>
        </p:sp>
        <p:sp>
          <p:nvSpPr>
            <p:cNvPr id="25" name="Rectangle 25"/>
            <p:cNvSpPr/>
            <p:nvPr/>
          </p:nvSpPr>
          <p:spPr>
            <a:xfrm>
              <a:off x="3609975" y="1581150"/>
              <a:ext cx="1295400" cy="904875"/>
            </a:xfrm>
            <a:prstGeom prst="roundRect">
              <a:avLst>
                <a:gd name="adj" fmla="val 4211"/>
              </a:avLst>
            </a:prstGeom>
            <a:solidFill>
              <a:srgbClr val="EEF0FB"/>
            </a:solidFill>
            <a:ln w="9525">
              <a:solidFill>
                <a:srgbClr val="C9CFEA"/>
              </a:solidFill>
            </a:ln>
          </p:spPr>
        </p:sp>
        <p:sp>
          <p:nvSpPr>
            <p:cNvPr id="26" name="Rectangle 26"/>
            <p:cNvSpPr/>
            <p:nvPr/>
          </p:nvSpPr>
          <p:spPr>
            <a:xfrm>
              <a:off x="3686175" y="1657350"/>
              <a:ext cx="476250" cy="76200"/>
            </a:xfrm>
            <a:prstGeom prst="roundRect">
              <a:avLst>
                <a:gd name="adj" fmla="val 25000"/>
              </a:avLst>
            </a:prstGeom>
            <a:solidFill>
              <a:srgbClr val="C9CFEA"/>
            </a:solidFill>
            <a:ln>
              <a:noFill/>
            </a:ln>
          </p:spPr>
        </p:sp>
        <p:sp>
          <p:nvSpPr>
            <p:cNvPr id="27" name="Rectangle 27"/>
            <p:cNvSpPr/>
            <p:nvPr/>
          </p:nvSpPr>
          <p:spPr>
            <a:xfrm>
              <a:off x="3686175" y="1790700"/>
              <a:ext cx="1143000" cy="428625"/>
            </a:xfrm>
            <a:prstGeom prst="roundRect">
              <a:avLst>
                <a:gd name="adj" fmla="val 4444"/>
              </a:avLst>
            </a:prstGeom>
            <a:solidFill>
              <a:srgbClr val="DDE2F5"/>
            </a:solidFill>
            <a:ln>
              <a:noFill/>
            </a:ln>
          </p:spPr>
        </p:sp>
        <p:sp>
          <p:nvSpPr>
            <p:cNvPr id="28" name="Rectangle 28"/>
            <p:cNvSpPr/>
            <p:nvPr/>
          </p:nvSpPr>
          <p:spPr>
            <a:xfrm>
              <a:off x="3609975" y="2571750"/>
              <a:ext cx="1295400" cy="495300"/>
            </a:xfrm>
            <a:prstGeom prst="roundRect">
              <a:avLst>
                <a:gd name="adj" fmla="val 7692"/>
              </a:avLst>
            </a:prstGeom>
            <a:solidFill>
              <a:srgbClr val="FFFFFF"/>
            </a:solidFill>
            <a:ln w="9525">
              <a:solidFill>
                <a:srgbClr val="E6B8AE"/>
              </a:solidFill>
            </a:ln>
          </p:spPr>
        </p:sp>
        <p:sp>
          <p:nvSpPr>
            <p:cNvPr id="29" name="TextBox 29"/>
            <p:cNvSpPr txBox="1"/>
            <p:nvPr/>
          </p:nvSpPr>
          <p:spPr>
            <a:xfrm>
              <a:off x="3849052" y="2690812"/>
              <a:ext cx="81724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品牌号门店企业阵</a:t>
              </a:r>
            </a:p>
          </p:txBody>
        </p:sp>
        <p:sp>
          <p:nvSpPr>
            <p:cNvPr id="30" name="TextBox 30"/>
            <p:cNvSpPr txBox="1"/>
            <p:nvPr/>
          </p:nvSpPr>
          <p:spPr>
            <a:xfrm>
              <a:off x="4000500" y="2843212"/>
              <a:ext cx="51435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地信息漏出</a:t>
              </a:r>
            </a:p>
          </p:txBody>
        </p:sp>
      </p:grpSp>
      <p:grpSp>
        <p:nvGrpSpPr>
          <p:cNvPr id="41" name="card-live"/>
          <p:cNvGrpSpPr/>
          <p:nvPr/>
        </p:nvGrpSpPr>
        <p:grpSpPr>
          <a:xfrm>
            <a:off x="847725" y="3248025"/>
            <a:ext cx="2590800" cy="1647825"/>
            <a:chOff x="847725" y="3248025"/>
            <a:chExt cx="2590800" cy="1647825"/>
          </a:xfrm>
        </p:grpSpPr>
        <p:sp>
          <p:nvSpPr>
            <p:cNvPr id="32" name="Rectangle 32"/>
            <p:cNvSpPr/>
            <p:nvPr/>
          </p:nvSpPr>
          <p:spPr>
            <a:xfrm>
              <a:off x="1466850" y="3248025"/>
              <a:ext cx="847725" cy="209550"/>
            </a:xfrm>
            <a:prstGeom prst="roundRect">
              <a:avLst>
                <a:gd name="adj" fmla="val 18182"/>
              </a:avLst>
            </a:prstGeom>
            <a:solidFill>
              <a:srgbClr val="E5624C"/>
            </a:solidFill>
            <a:ln>
              <a:noFill/>
            </a:ln>
          </p:spPr>
        </p:sp>
        <p:sp>
          <p:nvSpPr>
            <p:cNvPr id="33" name="TextBox 33"/>
            <p:cNvSpPr txBox="1"/>
            <p:nvPr/>
          </p:nvSpPr>
          <p:spPr>
            <a:xfrm>
              <a:off x="1699450" y="3303270"/>
              <a:ext cx="37299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直播间</a:t>
              </a:r>
            </a:p>
          </p:txBody>
        </p:sp>
        <p:sp>
          <p:nvSpPr>
            <p:cNvPr id="34" name="Rectangle 34"/>
            <p:cNvSpPr/>
            <p:nvPr/>
          </p:nvSpPr>
          <p:spPr>
            <a:xfrm>
              <a:off x="1133475" y="3552825"/>
              <a:ext cx="1409700" cy="904875"/>
            </a:xfrm>
            <a:prstGeom prst="roundRect">
              <a:avLst>
                <a:gd name="adj" fmla="val 4211"/>
              </a:avLst>
            </a:prstGeom>
            <a:solidFill>
              <a:srgbClr val="EEF0FB"/>
            </a:solidFill>
            <a:ln w="9525">
              <a:solidFill>
                <a:srgbClr val="C9CFEA"/>
              </a:solidFill>
            </a:ln>
          </p:spPr>
        </p:sp>
        <p:sp>
          <p:nvSpPr>
            <p:cNvPr id="35" name="Rectangle 35"/>
            <p:cNvSpPr/>
            <p:nvPr/>
          </p:nvSpPr>
          <p:spPr>
            <a:xfrm>
              <a:off x="1209675" y="3629025"/>
              <a:ext cx="438150" cy="76200"/>
            </a:xfrm>
            <a:prstGeom prst="roundRect">
              <a:avLst>
                <a:gd name="adj" fmla="val 25000"/>
              </a:avLst>
            </a:prstGeom>
            <a:solidFill>
              <a:srgbClr val="C9CFEA"/>
            </a:solidFill>
            <a:ln>
              <a:noFill/>
            </a:ln>
          </p:spPr>
        </p:sp>
        <p:sp>
          <p:nvSpPr>
            <p:cNvPr id="36" name="Rectangle 36"/>
            <p:cNvSpPr/>
            <p:nvPr/>
          </p:nvSpPr>
          <p:spPr>
            <a:xfrm>
              <a:off x="1209675" y="3762375"/>
              <a:ext cx="1257300" cy="428625"/>
            </a:xfrm>
            <a:prstGeom prst="roundRect">
              <a:avLst>
                <a:gd name="adj" fmla="val 4444"/>
              </a:avLst>
            </a:prstGeom>
            <a:solidFill>
              <a:srgbClr val="DDE2F5"/>
            </a:solidFill>
            <a:ln>
              <a:noFill/>
            </a:ln>
          </p:spPr>
        </p:sp>
        <p:sp>
          <p:nvSpPr>
            <p:cNvPr id="37" name="Rectangle 37"/>
            <p:cNvSpPr/>
            <p:nvPr/>
          </p:nvSpPr>
          <p:spPr>
            <a:xfrm>
              <a:off x="847725" y="4514850"/>
              <a:ext cx="2590800" cy="381000"/>
            </a:xfrm>
            <a:prstGeom prst="roundRect">
              <a:avLst>
                <a:gd name="adj" fmla="val 10000"/>
              </a:avLst>
            </a:prstGeom>
            <a:solidFill>
              <a:srgbClr val="FFFFFF"/>
            </a:solidFill>
            <a:ln w="9525">
              <a:solidFill>
                <a:srgbClr val="E6B8AE"/>
              </a:solidFill>
            </a:ln>
          </p:spPr>
        </p:sp>
        <p:sp>
          <p:nvSpPr>
            <p:cNvPr id="38" name="TextBox 38"/>
            <p:cNvSpPr txBox="1"/>
            <p:nvPr/>
          </p:nvSpPr>
          <p:spPr>
            <a:xfrm>
              <a:off x="1500188" y="4586288"/>
              <a:ext cx="390525"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05F5B"/>
                  </a:solidFill>
                  <a:latin typeface="+mn-lt"/>
                  <a:ea typeface="+mn-ea"/>
                  <a:cs typeface="+mn-cs"/>
                </a:rPr>
                <a:t>达人直播</a:t>
              </a:r>
              <a:br/>
              <a:r>
                <a:rPr lang="zh-CN" sz="750" dirty="0">
                  <a:solidFill>
                    <a:srgbClr val="705F5B"/>
                  </a:solidFill>
                  <a:latin typeface="+mn-lt"/>
                  <a:ea typeface="+mn-ea"/>
                  <a:cs typeface="+mn-cs"/>
                </a:rPr>
                <a:t>团购信息</a:t>
              </a:r>
            </a:p>
          </p:txBody>
        </p:sp>
        <p:sp>
          <p:nvSpPr>
            <p:cNvPr id="39" name="Freeform 39"/>
            <p:cNvSpPr/>
            <p:nvPr/>
          </p:nvSpPr>
          <p:spPr>
            <a:xfrm>
              <a:off x="2019300" y="4705350"/>
              <a:ext cx="285750" cy="9525"/>
            </a:xfrm>
            <a:custGeom>
              <a:avLst/>
              <a:gdLst/>
              <a:ahLst/>
              <a:cxnLst/>
              <a:rect l="l" t="t" r="r" b="b"/>
              <a:pathLst>
                <a:path w="285750" h="9525">
                  <a:moveTo>
                    <a:pt x="0" y="0"/>
                  </a:moveTo>
                  <a:lnTo>
                    <a:pt x="285750" y="0"/>
                  </a:lnTo>
                </a:path>
              </a:pathLst>
            </a:custGeom>
            <a:noFill/>
            <a:ln w="19050">
              <a:solidFill>
                <a:srgbClr val="DD988A"/>
              </a:solidFill>
              <a:tailEnd type="triangle" w="lg" len="lg"/>
            </a:ln>
          </p:spPr>
        </p:sp>
        <p:sp>
          <p:nvSpPr>
            <p:cNvPr id="40" name="TextBox 40"/>
            <p:cNvSpPr txBox="1"/>
            <p:nvPr/>
          </p:nvSpPr>
          <p:spPr>
            <a:xfrm>
              <a:off x="2376488" y="4586288"/>
              <a:ext cx="390525"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705F5B"/>
                  </a:solidFill>
                  <a:latin typeface="+mn-lt"/>
                  <a:ea typeface="+mn-ea"/>
                  <a:cs typeface="+mn-cs"/>
                </a:rPr>
                <a:t>用户直接</a:t>
              </a:r>
              <a:br/>
              <a:r>
                <a:rPr lang="zh-CN" sz="750" dirty="0">
                  <a:solidFill>
                    <a:srgbClr val="705F5B"/>
                  </a:solidFill>
                  <a:latin typeface="+mn-lt"/>
                  <a:ea typeface="+mn-ea"/>
                  <a:cs typeface="+mn-cs"/>
                </a:rPr>
                <a:t>店铺购买</a:t>
              </a:r>
            </a:p>
          </p:txBody>
        </p:sp>
      </p:grpSp>
      <p:grpSp>
        <p:nvGrpSpPr>
          <p:cNvPr id="54" name="card-same-city"/>
          <p:cNvGrpSpPr/>
          <p:nvPr/>
        </p:nvGrpSpPr>
        <p:grpSpPr>
          <a:xfrm>
            <a:off x="3724275" y="3248025"/>
            <a:ext cx="2085975" cy="1647825"/>
            <a:chOff x="3724275" y="3248025"/>
            <a:chExt cx="2085975" cy="1647825"/>
          </a:xfrm>
        </p:grpSpPr>
        <p:sp>
          <p:nvSpPr>
            <p:cNvPr id="42" name="Rectangle 42"/>
            <p:cNvSpPr/>
            <p:nvPr/>
          </p:nvSpPr>
          <p:spPr>
            <a:xfrm>
              <a:off x="3724275" y="3248025"/>
              <a:ext cx="1143000" cy="209550"/>
            </a:xfrm>
            <a:prstGeom prst="roundRect">
              <a:avLst>
                <a:gd name="adj" fmla="val 18182"/>
              </a:avLst>
            </a:prstGeom>
            <a:solidFill>
              <a:srgbClr val="E5624C"/>
            </a:solidFill>
            <a:ln>
              <a:noFill/>
            </a:ln>
          </p:spPr>
        </p:sp>
        <p:sp>
          <p:nvSpPr>
            <p:cNvPr id="43" name="TextBox 43"/>
            <p:cNvSpPr txBox="1"/>
            <p:nvPr/>
          </p:nvSpPr>
          <p:spPr>
            <a:xfrm>
              <a:off x="3857570" y="3303270"/>
              <a:ext cx="87641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同城/榜单/团购</a:t>
              </a:r>
            </a:p>
          </p:txBody>
        </p:sp>
        <p:sp>
          <p:nvSpPr>
            <p:cNvPr id="44" name="Rectangle 44"/>
            <p:cNvSpPr/>
            <p:nvPr/>
          </p:nvSpPr>
          <p:spPr>
            <a:xfrm>
              <a:off x="3724275" y="3552825"/>
              <a:ext cx="1000125" cy="904875"/>
            </a:xfrm>
            <a:prstGeom prst="roundRect">
              <a:avLst>
                <a:gd name="adj" fmla="val 4211"/>
              </a:avLst>
            </a:prstGeom>
            <a:solidFill>
              <a:srgbClr val="EEF0FB"/>
            </a:solidFill>
            <a:ln w="9525">
              <a:solidFill>
                <a:srgbClr val="C9CFEA"/>
              </a:solidFill>
            </a:ln>
          </p:spPr>
        </p:sp>
        <p:sp>
          <p:nvSpPr>
            <p:cNvPr id="45" name="Rectangle 45"/>
            <p:cNvSpPr/>
            <p:nvPr/>
          </p:nvSpPr>
          <p:spPr>
            <a:xfrm>
              <a:off x="3800475" y="3629025"/>
              <a:ext cx="381000" cy="76200"/>
            </a:xfrm>
            <a:prstGeom prst="roundRect">
              <a:avLst>
                <a:gd name="adj" fmla="val 25000"/>
              </a:avLst>
            </a:prstGeom>
            <a:solidFill>
              <a:srgbClr val="C9CFEA"/>
            </a:solidFill>
            <a:ln>
              <a:noFill/>
            </a:ln>
          </p:spPr>
        </p:sp>
        <p:sp>
          <p:nvSpPr>
            <p:cNvPr id="46" name="Rectangle 46"/>
            <p:cNvSpPr/>
            <p:nvPr/>
          </p:nvSpPr>
          <p:spPr>
            <a:xfrm>
              <a:off x="3800475" y="3762375"/>
              <a:ext cx="847725" cy="428625"/>
            </a:xfrm>
            <a:prstGeom prst="roundRect">
              <a:avLst>
                <a:gd name="adj" fmla="val 4444"/>
              </a:avLst>
            </a:prstGeom>
            <a:solidFill>
              <a:srgbClr val="DDE2F5"/>
            </a:solidFill>
            <a:ln>
              <a:noFill/>
            </a:ln>
          </p:spPr>
        </p:sp>
        <p:sp>
          <p:nvSpPr>
            <p:cNvPr id="47" name="Rectangle 47"/>
            <p:cNvSpPr/>
            <p:nvPr/>
          </p:nvSpPr>
          <p:spPr>
            <a:xfrm>
              <a:off x="4810125" y="3552825"/>
              <a:ext cx="1000125" cy="904875"/>
            </a:xfrm>
            <a:prstGeom prst="roundRect">
              <a:avLst>
                <a:gd name="adj" fmla="val 4211"/>
              </a:avLst>
            </a:prstGeom>
            <a:solidFill>
              <a:srgbClr val="EEF0FB"/>
            </a:solidFill>
            <a:ln w="9525">
              <a:solidFill>
                <a:srgbClr val="C9CFEA"/>
              </a:solidFill>
            </a:ln>
          </p:spPr>
        </p:sp>
        <p:sp>
          <p:nvSpPr>
            <p:cNvPr id="48" name="Rectangle 48"/>
            <p:cNvSpPr/>
            <p:nvPr/>
          </p:nvSpPr>
          <p:spPr>
            <a:xfrm>
              <a:off x="4886325" y="3629025"/>
              <a:ext cx="381000" cy="76200"/>
            </a:xfrm>
            <a:prstGeom prst="roundRect">
              <a:avLst>
                <a:gd name="adj" fmla="val 25000"/>
              </a:avLst>
            </a:prstGeom>
            <a:solidFill>
              <a:srgbClr val="C9CFEA"/>
            </a:solidFill>
            <a:ln>
              <a:noFill/>
            </a:ln>
          </p:spPr>
        </p:sp>
        <p:sp>
          <p:nvSpPr>
            <p:cNvPr id="49" name="Rectangle 49"/>
            <p:cNvSpPr/>
            <p:nvPr/>
          </p:nvSpPr>
          <p:spPr>
            <a:xfrm>
              <a:off x="4886325" y="3762375"/>
              <a:ext cx="847725" cy="428625"/>
            </a:xfrm>
            <a:prstGeom prst="roundRect">
              <a:avLst>
                <a:gd name="adj" fmla="val 4444"/>
              </a:avLst>
            </a:prstGeom>
            <a:solidFill>
              <a:srgbClr val="DDE2F5"/>
            </a:solidFill>
            <a:ln>
              <a:noFill/>
            </a:ln>
          </p:spPr>
        </p:sp>
        <p:sp>
          <p:nvSpPr>
            <p:cNvPr id="50" name="Rectangle 50"/>
            <p:cNvSpPr/>
            <p:nvPr/>
          </p:nvSpPr>
          <p:spPr>
            <a:xfrm>
              <a:off x="3724275" y="4514850"/>
              <a:ext cx="1000125" cy="381000"/>
            </a:xfrm>
            <a:prstGeom prst="roundRect">
              <a:avLst>
                <a:gd name="adj" fmla="val 10000"/>
              </a:avLst>
            </a:prstGeom>
            <a:solidFill>
              <a:srgbClr val="FFFFFF"/>
            </a:solidFill>
            <a:ln w="9525">
              <a:solidFill>
                <a:srgbClr val="E6B8AE"/>
              </a:solidFill>
            </a:ln>
          </p:spPr>
        </p:sp>
        <p:sp>
          <p:nvSpPr>
            <p:cNvPr id="51" name="TextBox 51"/>
            <p:cNvSpPr txBox="1"/>
            <p:nvPr/>
          </p:nvSpPr>
          <p:spPr>
            <a:xfrm>
              <a:off x="3929062" y="4586288"/>
              <a:ext cx="581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705F5B"/>
                  </a:solidFill>
                  <a:latin typeface="+mn-lt"/>
                  <a:ea typeface="+mn-ea"/>
                  <a:cs typeface="+mn-cs"/>
                </a:rPr>
                <a:t>团购信息</a:t>
              </a:r>
              <a:br/>
              <a:r>
                <a:rPr lang="zh-CN" sz="750" dirty="0">
                  <a:solidFill>
                    <a:srgbClr val="705F5B"/>
                  </a:solidFill>
                  <a:latin typeface="+mn-lt"/>
                  <a:ea typeface="+mn-ea"/>
                  <a:cs typeface="+mn-cs"/>
                </a:rPr>
                <a:t>品牌团购信息</a:t>
              </a:r>
            </a:p>
          </p:txBody>
        </p:sp>
        <p:sp>
          <p:nvSpPr>
            <p:cNvPr id="52" name="Rectangle 52"/>
            <p:cNvSpPr/>
            <p:nvPr/>
          </p:nvSpPr>
          <p:spPr>
            <a:xfrm>
              <a:off x="4810125" y="4514850"/>
              <a:ext cx="1000125" cy="381000"/>
            </a:xfrm>
            <a:prstGeom prst="roundRect">
              <a:avLst>
                <a:gd name="adj" fmla="val 10000"/>
              </a:avLst>
            </a:prstGeom>
            <a:solidFill>
              <a:srgbClr val="FFFFFF"/>
            </a:solidFill>
            <a:ln w="9525">
              <a:solidFill>
                <a:srgbClr val="E6B8AE"/>
              </a:solidFill>
            </a:ln>
          </p:spPr>
        </p:sp>
        <p:sp>
          <p:nvSpPr>
            <p:cNvPr id="53" name="TextBox 53"/>
            <p:cNvSpPr txBox="1"/>
            <p:nvPr/>
          </p:nvSpPr>
          <p:spPr>
            <a:xfrm>
              <a:off x="5014912" y="4586288"/>
              <a:ext cx="5810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705F5B"/>
                  </a:solidFill>
                  <a:latin typeface="+mn-lt"/>
                  <a:ea typeface="+mn-ea"/>
                  <a:cs typeface="+mn-cs"/>
                </a:rPr>
                <a:t>同城入口各类</a:t>
              </a:r>
              <a:br/>
              <a:r>
                <a:rPr lang="zh-CN" sz="750" dirty="0">
                  <a:solidFill>
                    <a:srgbClr val="705F5B"/>
                  </a:solidFill>
                  <a:latin typeface="+mn-lt"/>
                  <a:ea typeface="+mn-ea"/>
                  <a:cs typeface="+mn-cs"/>
                </a:rPr>
                <a:t>商铺榜单</a:t>
              </a:r>
            </a:p>
          </p:txBody>
        </p:sp>
      </p:grpSp>
      <p:grpSp>
        <p:nvGrpSpPr>
          <p:cNvPr id="58" name="middle-link"/>
          <p:cNvGrpSpPr/>
          <p:nvPr/>
        </p:nvGrpSpPr>
        <p:grpSpPr>
          <a:xfrm>
            <a:off x="5381625" y="2303145"/>
            <a:ext cx="1476375" cy="595312"/>
            <a:chOff x="5381625" y="2303145"/>
            <a:chExt cx="1476375" cy="595312"/>
          </a:xfrm>
        </p:grpSpPr>
        <p:sp>
          <p:nvSpPr>
            <p:cNvPr id="55" name="TextBox 55"/>
            <p:cNvSpPr txBox="1"/>
            <p:nvPr/>
          </p:nvSpPr>
          <p:spPr>
            <a:xfrm>
              <a:off x="5620912" y="2303145"/>
              <a:ext cx="1045426"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内容推荐/搜索内容</a:t>
              </a:r>
            </a:p>
          </p:txBody>
        </p:sp>
        <p:sp>
          <p:nvSpPr>
            <p:cNvPr id="56" name="Line 56"/>
            <p:cNvSpPr/>
            <p:nvPr/>
          </p:nvSpPr>
          <p:spPr>
            <a:xfrm>
              <a:off x="5381625" y="2552700"/>
              <a:ext cx="1476375" cy="1"/>
            </a:xfrm>
            <a:prstGeom prst="line">
              <a:avLst/>
            </a:prstGeom>
            <a:noFill/>
            <a:ln w="19050">
              <a:solidFill>
                <a:srgbClr val="DD988A"/>
              </a:solidFill>
              <a:headEnd type="triangle" w="lg" len="lg"/>
              <a:tailEnd type="triangle" w="lg" len="lg"/>
            </a:ln>
          </p:spPr>
        </p:sp>
        <p:sp>
          <p:nvSpPr>
            <p:cNvPr id="57" name="TextBox 57"/>
            <p:cNvSpPr txBox="1"/>
            <p:nvPr/>
          </p:nvSpPr>
          <p:spPr>
            <a:xfrm>
              <a:off x="5714810" y="2722245"/>
              <a:ext cx="857631"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内容浏览与消费</a:t>
              </a:r>
            </a:p>
          </p:txBody>
        </p:sp>
      </p:grpSp>
      <p:grpSp>
        <p:nvGrpSpPr>
          <p:cNvPr id="83" name="wheel-diagram"/>
          <p:cNvGrpSpPr/>
          <p:nvPr/>
        </p:nvGrpSpPr>
        <p:grpSpPr>
          <a:xfrm>
            <a:off x="7381875" y="1190625"/>
            <a:ext cx="3608243" cy="3352463"/>
            <a:chOff x="7381875" y="1190625"/>
            <a:chExt cx="3608243" cy="3352463"/>
          </a:xfrm>
        </p:grpSpPr>
        <p:sp>
          <p:nvSpPr>
            <p:cNvPr id="59" name="Ellipse 59"/>
            <p:cNvSpPr/>
            <p:nvPr/>
          </p:nvSpPr>
          <p:spPr>
            <a:xfrm>
              <a:off x="7381875" y="1190625"/>
              <a:ext cx="3333750" cy="3333750"/>
            </a:xfrm>
            <a:prstGeom prst="ellipse">
              <a:avLst/>
            </a:prstGeom>
            <a:noFill/>
            <a:ln w="14288">
              <a:solidFill>
                <a:srgbClr val="C9CFEA"/>
              </a:solidFill>
              <a:custDash>
                <a:ds d="333333" sp="266667"/>
              </a:custDash>
            </a:ln>
          </p:spPr>
        </p:sp>
        <p:sp>
          <p:nvSpPr>
            <p:cNvPr id="60" name="Ellipse 60"/>
            <p:cNvSpPr/>
            <p:nvPr/>
          </p:nvSpPr>
          <p:spPr>
            <a:xfrm>
              <a:off x="7715250" y="1524000"/>
              <a:ext cx="2667000" cy="2667000"/>
            </a:xfrm>
            <a:prstGeom prst="ellipse">
              <a:avLst/>
            </a:prstGeom>
            <a:noFill/>
            <a:ln w="14288">
              <a:solidFill>
                <a:srgbClr val="DDE2F5"/>
              </a:solidFill>
            </a:ln>
          </p:spPr>
        </p:sp>
        <p:sp>
          <p:nvSpPr>
            <p:cNvPr id="61" name="Ellipse 61"/>
            <p:cNvSpPr/>
            <p:nvPr/>
          </p:nvSpPr>
          <p:spPr>
            <a:xfrm>
              <a:off x="8724900" y="2533650"/>
              <a:ext cx="647700" cy="647700"/>
            </a:xfrm>
            <a:prstGeom prst="ellipse">
              <a:avLst/>
            </a:prstGeom>
            <a:solidFill>
              <a:srgbClr val="C1553F"/>
            </a:solidFill>
            <a:ln>
              <a:noFill/>
            </a:ln>
          </p:spPr>
        </p:sp>
        <p:sp>
          <p:nvSpPr>
            <p:cNvPr id="62" name="TextBox 62"/>
            <p:cNvSpPr txBox="1"/>
            <p:nvPr/>
          </p:nvSpPr>
          <p:spPr>
            <a:xfrm>
              <a:off x="8902065" y="280130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用户</a:t>
              </a:r>
            </a:p>
          </p:txBody>
        </p:sp>
        <p:sp>
          <p:nvSpPr>
            <p:cNvPr id="63" name="Rectangle 63"/>
            <p:cNvSpPr/>
            <p:nvPr/>
          </p:nvSpPr>
          <p:spPr>
            <a:xfrm>
              <a:off x="9382125" y="1952625"/>
              <a:ext cx="914400" cy="247650"/>
            </a:xfrm>
            <a:prstGeom prst="roundRect">
              <a:avLst>
                <a:gd name="adj" fmla="val 50000"/>
              </a:avLst>
            </a:prstGeom>
            <a:solidFill>
              <a:srgbClr val="C4624E"/>
            </a:solidFill>
            <a:ln>
              <a:noFill/>
            </a:ln>
          </p:spPr>
        </p:sp>
        <p:sp>
          <p:nvSpPr>
            <p:cNvPr id="64" name="TextBox 64"/>
            <p:cNvSpPr txBox="1"/>
            <p:nvPr/>
          </p:nvSpPr>
          <p:spPr>
            <a:xfrm>
              <a:off x="9592246" y="2026920"/>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兴趣种草</a:t>
              </a:r>
            </a:p>
          </p:txBody>
        </p:sp>
        <p:sp>
          <p:nvSpPr>
            <p:cNvPr id="65" name="Rectangle 65"/>
            <p:cNvSpPr/>
            <p:nvPr/>
          </p:nvSpPr>
          <p:spPr>
            <a:xfrm>
              <a:off x="9810750" y="2733675"/>
              <a:ext cx="914400" cy="247650"/>
            </a:xfrm>
            <a:prstGeom prst="roundRect">
              <a:avLst>
                <a:gd name="adj" fmla="val 50000"/>
              </a:avLst>
            </a:prstGeom>
            <a:solidFill>
              <a:srgbClr val="C4624E"/>
            </a:solidFill>
            <a:ln>
              <a:noFill/>
            </a:ln>
          </p:spPr>
        </p:sp>
        <p:sp>
          <p:nvSpPr>
            <p:cNvPr id="66" name="TextBox 66"/>
            <p:cNvSpPr txBox="1"/>
            <p:nvPr/>
          </p:nvSpPr>
          <p:spPr>
            <a:xfrm>
              <a:off x="10020872" y="2807970"/>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线上消费</a:t>
              </a:r>
            </a:p>
          </p:txBody>
        </p:sp>
        <p:sp>
          <p:nvSpPr>
            <p:cNvPr id="67" name="Rectangle 67"/>
            <p:cNvSpPr/>
            <p:nvPr/>
          </p:nvSpPr>
          <p:spPr>
            <a:xfrm>
              <a:off x="8620125" y="3505200"/>
              <a:ext cx="914400" cy="247650"/>
            </a:xfrm>
            <a:prstGeom prst="roundRect">
              <a:avLst>
                <a:gd name="adj" fmla="val 50000"/>
              </a:avLst>
            </a:prstGeom>
            <a:solidFill>
              <a:srgbClr val="C4624E"/>
            </a:solidFill>
            <a:ln>
              <a:noFill/>
            </a:ln>
          </p:spPr>
        </p:sp>
        <p:sp>
          <p:nvSpPr>
            <p:cNvPr id="68" name="TextBox 68"/>
            <p:cNvSpPr txBox="1"/>
            <p:nvPr/>
          </p:nvSpPr>
          <p:spPr>
            <a:xfrm>
              <a:off x="8830246" y="357949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线下体验</a:t>
              </a:r>
            </a:p>
          </p:txBody>
        </p:sp>
        <p:sp>
          <p:nvSpPr>
            <p:cNvPr id="69" name="Rectangle 69"/>
            <p:cNvSpPr/>
            <p:nvPr/>
          </p:nvSpPr>
          <p:spPr>
            <a:xfrm>
              <a:off x="7734300" y="2733675"/>
              <a:ext cx="914400" cy="247650"/>
            </a:xfrm>
            <a:prstGeom prst="roundRect">
              <a:avLst>
                <a:gd name="adj" fmla="val 50000"/>
              </a:avLst>
            </a:prstGeom>
            <a:solidFill>
              <a:srgbClr val="C4624E"/>
            </a:solidFill>
            <a:ln>
              <a:noFill/>
            </a:ln>
          </p:spPr>
        </p:sp>
        <p:sp>
          <p:nvSpPr>
            <p:cNvPr id="70" name="TextBox 70"/>
            <p:cNvSpPr txBox="1"/>
            <p:nvPr/>
          </p:nvSpPr>
          <p:spPr>
            <a:xfrm>
              <a:off x="7883842" y="2807970"/>
              <a:ext cx="615315"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消费者问卷</a:t>
              </a:r>
            </a:p>
          </p:txBody>
        </p:sp>
        <p:sp>
          <p:nvSpPr>
            <p:cNvPr id="71" name="TextBox 71"/>
            <p:cNvSpPr txBox="1"/>
            <p:nvPr/>
          </p:nvSpPr>
          <p:spPr>
            <a:xfrm>
              <a:off x="8430196" y="1407795"/>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自发分享</a:t>
              </a:r>
            </a:p>
          </p:txBody>
        </p:sp>
        <p:sp>
          <p:nvSpPr>
            <p:cNvPr id="72" name="TextBox 72"/>
            <p:cNvSpPr txBox="1"/>
            <p:nvPr/>
          </p:nvSpPr>
          <p:spPr>
            <a:xfrm>
              <a:off x="9201722" y="1407795"/>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推荐搜索</a:t>
              </a:r>
            </a:p>
          </p:txBody>
        </p:sp>
        <p:sp>
          <p:nvSpPr>
            <p:cNvPr id="73" name="TextBox 73"/>
            <p:cNvSpPr txBox="1"/>
            <p:nvPr/>
          </p:nvSpPr>
          <p:spPr>
            <a:xfrm>
              <a:off x="9849422" y="1788795"/>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内容吸引</a:t>
              </a:r>
            </a:p>
          </p:txBody>
        </p:sp>
        <p:sp>
          <p:nvSpPr>
            <p:cNvPr id="74" name="TextBox 74"/>
            <p:cNvSpPr txBox="1"/>
            <p:nvPr/>
          </p:nvSpPr>
          <p:spPr>
            <a:xfrm>
              <a:off x="10188892" y="2426970"/>
              <a:ext cx="615315"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利益点吸引</a:t>
              </a:r>
            </a:p>
          </p:txBody>
        </p:sp>
        <p:sp>
          <p:nvSpPr>
            <p:cNvPr id="75" name="TextBox 75"/>
            <p:cNvSpPr txBox="1"/>
            <p:nvPr/>
          </p:nvSpPr>
          <p:spPr>
            <a:xfrm>
              <a:off x="10249472" y="3169920"/>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团购转化</a:t>
              </a:r>
            </a:p>
          </p:txBody>
        </p:sp>
        <p:sp>
          <p:nvSpPr>
            <p:cNvPr id="76" name="TextBox 76"/>
            <p:cNvSpPr txBox="1"/>
            <p:nvPr/>
          </p:nvSpPr>
          <p:spPr>
            <a:xfrm>
              <a:off x="9849422" y="3827145"/>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引流到店</a:t>
              </a:r>
            </a:p>
          </p:txBody>
        </p:sp>
        <p:sp>
          <p:nvSpPr>
            <p:cNvPr id="77" name="TextBox 77"/>
            <p:cNvSpPr txBox="1"/>
            <p:nvPr/>
          </p:nvSpPr>
          <p:spPr>
            <a:xfrm>
              <a:off x="9163622" y="4179570"/>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到店核销</a:t>
              </a:r>
            </a:p>
          </p:txBody>
        </p:sp>
        <p:sp>
          <p:nvSpPr>
            <p:cNvPr id="78" name="TextBox 78"/>
            <p:cNvSpPr txBox="1"/>
            <p:nvPr/>
          </p:nvSpPr>
          <p:spPr>
            <a:xfrm>
              <a:off x="8420672" y="4179570"/>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体验良好</a:t>
              </a:r>
            </a:p>
          </p:txBody>
        </p:sp>
        <p:sp>
          <p:nvSpPr>
            <p:cNvPr id="79" name="TextBox 79"/>
            <p:cNvSpPr txBox="1"/>
            <p:nvPr/>
          </p:nvSpPr>
          <p:spPr>
            <a:xfrm>
              <a:off x="7696771" y="3731895"/>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利益返现</a:t>
              </a:r>
            </a:p>
          </p:txBody>
        </p:sp>
        <p:sp>
          <p:nvSpPr>
            <p:cNvPr id="80" name="TextBox 80"/>
            <p:cNvSpPr txBox="1"/>
            <p:nvPr/>
          </p:nvSpPr>
          <p:spPr>
            <a:xfrm>
              <a:off x="7430071" y="2550795"/>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品牌好感</a:t>
              </a:r>
            </a:p>
          </p:txBody>
        </p:sp>
        <p:sp>
          <p:nvSpPr>
            <p:cNvPr id="81" name="TextBox 81"/>
            <p:cNvSpPr txBox="1"/>
            <p:nvPr/>
          </p:nvSpPr>
          <p:spPr>
            <a:xfrm rot="-2520000">
              <a:off x="7462301" y="1423888"/>
              <a:ext cx="628485" cy="190690"/>
            </a:xfrm>
            <a:prstGeom prst="rect">
              <a:avLst/>
            </a:prstGeom>
            <a:noFill/>
            <a:ln>
              <a:noFill/>
            </a:ln>
          </p:spPr>
          <p:txBody>
            <a:bodyPr wrap="none" lIns="0" tIns="0" rIns="0" bIns="0" anchor="t" anchorCtr="0">
              <a:spAutoFit/>
            </a:bodyPr>
            <a:lstStyle/>
            <a:p>
              <a:pPr algn="l"/>
              <a:r>
                <a:rPr lang="zh-CN" sz="980" spc="225" dirty="0">
                  <a:solidFill>
                    <a:srgbClr val="E0A69A"/>
                  </a:solidFill>
                  <a:latin typeface="+mn-lt"/>
                  <a:ea typeface="+mn-ea"/>
                  <a:cs typeface="+mn-cs"/>
                </a:rPr>
                <a:t>传播接受</a:t>
              </a:r>
            </a:p>
          </p:txBody>
        </p:sp>
        <p:sp>
          <p:nvSpPr>
            <p:cNvPr id="82" name="TextBox 82"/>
            <p:cNvSpPr txBox="1"/>
            <p:nvPr/>
          </p:nvSpPr>
          <p:spPr>
            <a:xfrm rot="2520000">
              <a:off x="10361633" y="4352398"/>
              <a:ext cx="628485" cy="190690"/>
            </a:xfrm>
            <a:prstGeom prst="rect">
              <a:avLst/>
            </a:prstGeom>
            <a:noFill/>
            <a:ln>
              <a:noFill/>
            </a:ln>
          </p:spPr>
          <p:txBody>
            <a:bodyPr wrap="none" lIns="0" tIns="0" rIns="0" bIns="0" anchor="t" anchorCtr="0">
              <a:spAutoFit/>
            </a:bodyPr>
            <a:lstStyle/>
            <a:p>
              <a:pPr algn="l"/>
              <a:r>
                <a:rPr lang="zh-CN" sz="980" spc="225" dirty="0">
                  <a:solidFill>
                    <a:srgbClr val="E0A69A"/>
                  </a:solidFill>
                  <a:latin typeface="+mn-lt"/>
                  <a:ea typeface="+mn-ea"/>
                  <a:cs typeface="+mn-cs"/>
                </a:rPr>
                <a:t>需求满足</a:t>
              </a:r>
            </a:p>
          </p:txBody>
        </p:sp>
      </p:grpSp>
      <p:grpSp>
        <p:nvGrpSpPr>
          <p:cNvPr id="92" name="flow-band-1"/>
          <p:cNvGrpSpPr/>
          <p:nvPr/>
        </p:nvGrpSpPr>
        <p:grpSpPr>
          <a:xfrm>
            <a:off x="381000" y="5048250"/>
            <a:ext cx="3429000" cy="1047750"/>
            <a:chOff x="381000" y="5048250"/>
            <a:chExt cx="3429000" cy="1047750"/>
          </a:xfrm>
        </p:grpSpPr>
        <p:sp>
          <p:nvSpPr>
            <p:cNvPr id="84" name="Freeform 84"/>
            <p:cNvSpPr/>
            <p:nvPr/>
          </p:nvSpPr>
          <p:spPr>
            <a:xfrm>
              <a:off x="381000" y="5048250"/>
              <a:ext cx="3429000" cy="381000"/>
            </a:xfrm>
            <a:prstGeom prst="homePlate">
              <a:avLst/>
            </a:prstGeom>
            <a:solidFill>
              <a:srgbClr val="C4624E"/>
            </a:solidFill>
            <a:ln>
              <a:noFill/>
            </a:ln>
          </p:spPr>
        </p:sp>
        <p:sp>
          <p:nvSpPr>
            <p:cNvPr id="85" name="TextBox 85"/>
            <p:cNvSpPr txBox="1"/>
            <p:nvPr/>
          </p:nvSpPr>
          <p:spPr>
            <a:xfrm>
              <a:off x="1388697" y="5182552"/>
              <a:ext cx="122310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升级货品/升级客户</a:t>
              </a:r>
            </a:p>
          </p:txBody>
        </p:sp>
        <p:sp>
          <p:nvSpPr>
            <p:cNvPr id="86" name="TextBox 86"/>
            <p:cNvSpPr txBox="1"/>
            <p:nvPr/>
          </p:nvSpPr>
          <p:spPr>
            <a:xfrm>
              <a:off x="1181672" y="5617845"/>
              <a:ext cx="494157" cy="176212"/>
            </a:xfrm>
            <a:prstGeom prst="rect">
              <a:avLst/>
            </a:prstGeom>
            <a:noFill/>
            <a:ln>
              <a:noFill/>
            </a:ln>
          </p:spPr>
          <p:txBody>
            <a:bodyPr wrap="none" lIns="0" tIns="0" rIns="0" bIns="0" anchor="t" anchorCtr="0">
              <a:spAutoFit/>
            </a:bodyPr>
            <a:lstStyle/>
            <a:p>
              <a:pPr algn="ctr"/>
              <a:r>
                <a:rPr lang="zh-CN" sz="900" b="1" dirty="0">
                  <a:solidFill>
                    <a:srgbClr val="C1553F"/>
                  </a:solidFill>
                  <a:latin typeface="+mn-lt"/>
                  <a:ea typeface="+mn-ea"/>
                  <a:cs typeface="+mn-cs"/>
                </a:rPr>
                <a:t>团货升级</a:t>
              </a:r>
            </a:p>
          </p:txBody>
        </p:sp>
        <p:sp>
          <p:nvSpPr>
            <p:cNvPr id="87" name="TextBox 87"/>
            <p:cNvSpPr txBox="1"/>
            <p:nvPr/>
          </p:nvSpPr>
          <p:spPr>
            <a:xfrm>
              <a:off x="2610422" y="5617845"/>
              <a:ext cx="494157" cy="176212"/>
            </a:xfrm>
            <a:prstGeom prst="rect">
              <a:avLst/>
            </a:prstGeom>
            <a:noFill/>
            <a:ln>
              <a:noFill/>
            </a:ln>
          </p:spPr>
          <p:txBody>
            <a:bodyPr wrap="none" lIns="0" tIns="0" rIns="0" bIns="0" anchor="t" anchorCtr="0">
              <a:spAutoFit/>
            </a:bodyPr>
            <a:lstStyle/>
            <a:p>
              <a:pPr algn="ctr"/>
              <a:r>
                <a:rPr lang="zh-CN" sz="900" b="1" dirty="0">
                  <a:solidFill>
                    <a:srgbClr val="C1553F"/>
                  </a:solidFill>
                  <a:latin typeface="+mn-lt"/>
                  <a:ea typeface="+mn-ea"/>
                  <a:cs typeface="+mn-cs"/>
                </a:rPr>
                <a:t>到店开单</a:t>
              </a:r>
            </a:p>
          </p:txBody>
        </p:sp>
        <p:sp>
          <p:nvSpPr>
            <p:cNvPr id="88" name="Rectangle 88"/>
            <p:cNvSpPr/>
            <p:nvPr/>
          </p:nvSpPr>
          <p:spPr>
            <a:xfrm>
              <a:off x="666750" y="5848350"/>
              <a:ext cx="1524000" cy="247650"/>
            </a:xfrm>
            <a:prstGeom prst="roundRect">
              <a:avLst>
                <a:gd name="adj" fmla="val 15385"/>
              </a:avLst>
            </a:prstGeom>
            <a:solidFill>
              <a:srgbClr val="FFFFFF"/>
            </a:solidFill>
            <a:ln w="9525">
              <a:solidFill>
                <a:srgbClr val="E6B8AE"/>
              </a:solidFill>
            </a:ln>
          </p:spPr>
        </p:sp>
        <p:sp>
          <p:nvSpPr>
            <p:cNvPr id="89" name="TextBox 89"/>
            <p:cNvSpPr txBox="1"/>
            <p:nvPr/>
          </p:nvSpPr>
          <p:spPr>
            <a:xfrm>
              <a:off x="945413" y="5925264"/>
              <a:ext cx="96667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货品组合｜货盘结构</a:t>
              </a:r>
            </a:p>
          </p:txBody>
        </p:sp>
        <p:sp>
          <p:nvSpPr>
            <p:cNvPr id="90" name="Rectangle 90"/>
            <p:cNvSpPr/>
            <p:nvPr/>
          </p:nvSpPr>
          <p:spPr>
            <a:xfrm>
              <a:off x="2095500" y="5848350"/>
              <a:ext cx="1524000" cy="247650"/>
            </a:xfrm>
            <a:prstGeom prst="roundRect">
              <a:avLst>
                <a:gd name="adj" fmla="val 15385"/>
              </a:avLst>
            </a:prstGeom>
            <a:solidFill>
              <a:srgbClr val="FFFFFF"/>
            </a:solidFill>
            <a:ln w="9525">
              <a:solidFill>
                <a:srgbClr val="E6B8AE"/>
              </a:solidFill>
            </a:ln>
          </p:spPr>
        </p:sp>
        <p:sp>
          <p:nvSpPr>
            <p:cNvPr id="91" name="TextBox 91"/>
            <p:cNvSpPr txBox="1"/>
            <p:nvPr/>
          </p:nvSpPr>
          <p:spPr>
            <a:xfrm>
              <a:off x="2374163" y="5925264"/>
              <a:ext cx="96667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到店服务｜会员体系</a:t>
              </a:r>
            </a:p>
          </p:txBody>
        </p:sp>
      </p:grpSp>
      <p:grpSp>
        <p:nvGrpSpPr>
          <p:cNvPr id="104" name="flow-band-2"/>
          <p:cNvGrpSpPr/>
          <p:nvPr/>
        </p:nvGrpSpPr>
        <p:grpSpPr>
          <a:xfrm>
            <a:off x="4000500" y="5048250"/>
            <a:ext cx="3429000" cy="1047750"/>
            <a:chOff x="4000500" y="5048250"/>
            <a:chExt cx="3429000" cy="1047750"/>
          </a:xfrm>
        </p:grpSpPr>
        <p:sp>
          <p:nvSpPr>
            <p:cNvPr id="93" name="Freeform 93"/>
            <p:cNvSpPr/>
            <p:nvPr/>
          </p:nvSpPr>
          <p:spPr>
            <a:xfrm>
              <a:off x="4000500" y="5048250"/>
              <a:ext cx="3429000" cy="381000"/>
            </a:xfrm>
            <a:prstGeom prst="homePlate">
              <a:avLst/>
            </a:prstGeom>
            <a:solidFill>
              <a:srgbClr val="E5624C"/>
            </a:solidFill>
            <a:ln>
              <a:noFill/>
            </a:ln>
          </p:spPr>
        </p:sp>
        <p:sp>
          <p:nvSpPr>
            <p:cNvPr id="94" name="TextBox 94"/>
            <p:cNvSpPr txBox="1"/>
            <p:nvPr/>
          </p:nvSpPr>
          <p:spPr>
            <a:xfrm>
              <a:off x="5190363" y="518255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建设转化链路</a:t>
              </a:r>
            </a:p>
          </p:txBody>
        </p:sp>
        <p:sp>
          <p:nvSpPr>
            <p:cNvPr id="95" name="TextBox 95"/>
            <p:cNvSpPr txBox="1"/>
            <p:nvPr/>
          </p:nvSpPr>
          <p:spPr>
            <a:xfrm>
              <a:off x="4420172" y="5617845"/>
              <a:ext cx="494157"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团队核销</a:t>
              </a:r>
            </a:p>
          </p:txBody>
        </p:sp>
        <p:sp>
          <p:nvSpPr>
            <p:cNvPr id="96" name="TextBox 96"/>
            <p:cNvSpPr txBox="1"/>
            <p:nvPr/>
          </p:nvSpPr>
          <p:spPr>
            <a:xfrm>
              <a:off x="5448871" y="5617845"/>
              <a:ext cx="494157"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直接到店</a:t>
              </a:r>
            </a:p>
          </p:txBody>
        </p:sp>
        <p:sp>
          <p:nvSpPr>
            <p:cNvPr id="97" name="TextBox 97"/>
            <p:cNvSpPr txBox="1"/>
            <p:nvPr/>
          </p:nvSpPr>
          <p:spPr>
            <a:xfrm>
              <a:off x="6477571" y="5617845"/>
              <a:ext cx="494157"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线索留资</a:t>
              </a:r>
            </a:p>
          </p:txBody>
        </p:sp>
        <p:sp>
          <p:nvSpPr>
            <p:cNvPr id="98" name="Rectangle 98"/>
            <p:cNvSpPr/>
            <p:nvPr/>
          </p:nvSpPr>
          <p:spPr>
            <a:xfrm>
              <a:off x="4095750" y="5848350"/>
              <a:ext cx="1028700" cy="247650"/>
            </a:xfrm>
            <a:prstGeom prst="roundRect">
              <a:avLst>
                <a:gd name="adj" fmla="val 15385"/>
              </a:avLst>
            </a:prstGeom>
            <a:solidFill>
              <a:srgbClr val="FFFFFF"/>
            </a:solidFill>
            <a:ln w="9525">
              <a:solidFill>
                <a:srgbClr val="E8ACA2"/>
              </a:solidFill>
            </a:ln>
          </p:spPr>
        </p:sp>
        <p:sp>
          <p:nvSpPr>
            <p:cNvPr id="99" name="TextBox 99"/>
            <p:cNvSpPr txBox="1"/>
            <p:nvPr/>
          </p:nvSpPr>
          <p:spPr>
            <a:xfrm>
              <a:off x="4286288" y="5925264"/>
              <a:ext cx="647624"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团品货盘运营</a:t>
              </a:r>
            </a:p>
          </p:txBody>
        </p:sp>
        <p:sp>
          <p:nvSpPr>
            <p:cNvPr id="100" name="Rectangle 100"/>
            <p:cNvSpPr/>
            <p:nvPr/>
          </p:nvSpPr>
          <p:spPr>
            <a:xfrm>
              <a:off x="5181600" y="5848350"/>
              <a:ext cx="1028700" cy="247650"/>
            </a:xfrm>
            <a:prstGeom prst="roundRect">
              <a:avLst>
                <a:gd name="adj" fmla="val 15385"/>
              </a:avLst>
            </a:prstGeom>
            <a:solidFill>
              <a:srgbClr val="FFFFFF"/>
            </a:solidFill>
            <a:ln w="9525">
              <a:solidFill>
                <a:srgbClr val="E8ACA2"/>
              </a:solidFill>
            </a:ln>
          </p:spPr>
        </p:sp>
        <p:sp>
          <p:nvSpPr>
            <p:cNvPr id="101" name="TextBox 101"/>
            <p:cNvSpPr txBox="1"/>
            <p:nvPr/>
          </p:nvSpPr>
          <p:spPr>
            <a:xfrm>
              <a:off x="5372138" y="5925264"/>
              <a:ext cx="647624"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到店转化承接</a:t>
              </a:r>
            </a:p>
          </p:txBody>
        </p:sp>
        <p:sp>
          <p:nvSpPr>
            <p:cNvPr id="102" name="Rectangle 102"/>
            <p:cNvSpPr/>
            <p:nvPr/>
          </p:nvSpPr>
          <p:spPr>
            <a:xfrm>
              <a:off x="6267450" y="5848350"/>
              <a:ext cx="1028700" cy="247650"/>
            </a:xfrm>
            <a:prstGeom prst="roundRect">
              <a:avLst>
                <a:gd name="adj" fmla="val 15385"/>
              </a:avLst>
            </a:prstGeom>
            <a:solidFill>
              <a:srgbClr val="FFFFFF"/>
            </a:solidFill>
            <a:ln w="9525">
              <a:solidFill>
                <a:srgbClr val="E8ACA2"/>
              </a:solidFill>
            </a:ln>
          </p:spPr>
        </p:sp>
        <p:sp>
          <p:nvSpPr>
            <p:cNvPr id="103" name="TextBox 103"/>
            <p:cNvSpPr txBox="1"/>
            <p:nvPr/>
          </p:nvSpPr>
          <p:spPr>
            <a:xfrm>
              <a:off x="6457988" y="5925264"/>
              <a:ext cx="647624"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线索能力应用</a:t>
              </a:r>
            </a:p>
          </p:txBody>
        </p:sp>
      </p:grpSp>
      <p:grpSp>
        <p:nvGrpSpPr>
          <p:cNvPr id="113" name="flow-band-3"/>
          <p:cNvGrpSpPr/>
          <p:nvPr/>
        </p:nvGrpSpPr>
        <p:grpSpPr>
          <a:xfrm>
            <a:off x="7620000" y="5048250"/>
            <a:ext cx="4343400" cy="1047750"/>
            <a:chOff x="7620000" y="5048250"/>
            <a:chExt cx="4343400" cy="1047750"/>
          </a:xfrm>
        </p:grpSpPr>
        <p:sp>
          <p:nvSpPr>
            <p:cNvPr id="105" name="Freeform 105"/>
            <p:cNvSpPr/>
            <p:nvPr/>
          </p:nvSpPr>
          <p:spPr>
            <a:xfrm>
              <a:off x="7620000" y="5048250"/>
              <a:ext cx="4343400" cy="381000"/>
            </a:xfrm>
            <a:prstGeom prst="homePlate">
              <a:avLst/>
            </a:prstGeom>
            <a:solidFill>
              <a:srgbClr val="C4624E"/>
            </a:solidFill>
            <a:ln>
              <a:noFill/>
            </a:ln>
          </p:spPr>
        </p:sp>
        <p:sp>
          <p:nvSpPr>
            <p:cNvPr id="106" name="TextBox 106"/>
            <p:cNvSpPr txBox="1"/>
            <p:nvPr/>
          </p:nvSpPr>
          <p:spPr>
            <a:xfrm>
              <a:off x="9267063" y="518255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做好全域经营</a:t>
              </a:r>
            </a:p>
          </p:txBody>
        </p:sp>
        <p:sp>
          <p:nvSpPr>
            <p:cNvPr id="107" name="TextBox 107"/>
            <p:cNvSpPr txBox="1"/>
            <p:nvPr/>
          </p:nvSpPr>
          <p:spPr>
            <a:xfrm>
              <a:off x="8230171" y="5617845"/>
              <a:ext cx="494157" cy="176212"/>
            </a:xfrm>
            <a:prstGeom prst="rect">
              <a:avLst/>
            </a:prstGeom>
            <a:noFill/>
            <a:ln>
              <a:noFill/>
            </a:ln>
          </p:spPr>
          <p:txBody>
            <a:bodyPr wrap="none" lIns="0" tIns="0" rIns="0" bIns="0" anchor="t" anchorCtr="0">
              <a:spAutoFit/>
            </a:bodyPr>
            <a:lstStyle/>
            <a:p>
              <a:pPr algn="ctr"/>
              <a:r>
                <a:rPr lang="zh-CN" sz="900" b="1" dirty="0">
                  <a:solidFill>
                    <a:srgbClr val="C1553F"/>
                  </a:solidFill>
                  <a:latin typeface="+mn-lt"/>
                  <a:ea typeface="+mn-ea"/>
                  <a:cs typeface="+mn-cs"/>
                </a:rPr>
                <a:t>流量渠道</a:t>
              </a:r>
            </a:p>
          </p:txBody>
        </p:sp>
        <p:sp>
          <p:nvSpPr>
            <p:cNvPr id="108" name="TextBox 108"/>
            <p:cNvSpPr txBox="1"/>
            <p:nvPr/>
          </p:nvSpPr>
          <p:spPr>
            <a:xfrm>
              <a:off x="9849422" y="5617845"/>
              <a:ext cx="494157" cy="176212"/>
            </a:xfrm>
            <a:prstGeom prst="rect">
              <a:avLst/>
            </a:prstGeom>
            <a:noFill/>
            <a:ln>
              <a:noFill/>
            </a:ln>
          </p:spPr>
          <p:txBody>
            <a:bodyPr wrap="none" lIns="0" tIns="0" rIns="0" bIns="0" anchor="t" anchorCtr="0">
              <a:spAutoFit/>
            </a:bodyPr>
            <a:lstStyle/>
            <a:p>
              <a:pPr algn="ctr"/>
              <a:r>
                <a:rPr lang="zh-CN" sz="900" b="1" dirty="0">
                  <a:solidFill>
                    <a:srgbClr val="C1553F"/>
                  </a:solidFill>
                  <a:latin typeface="+mn-lt"/>
                  <a:ea typeface="+mn-ea"/>
                  <a:cs typeface="+mn-cs"/>
                </a:rPr>
                <a:t>阵地建设</a:t>
              </a:r>
            </a:p>
          </p:txBody>
        </p:sp>
        <p:sp>
          <p:nvSpPr>
            <p:cNvPr id="109" name="Rectangle 109"/>
            <p:cNvSpPr/>
            <p:nvPr/>
          </p:nvSpPr>
          <p:spPr>
            <a:xfrm>
              <a:off x="7810500" y="5848350"/>
              <a:ext cx="1333500" cy="247650"/>
            </a:xfrm>
            <a:prstGeom prst="roundRect">
              <a:avLst>
                <a:gd name="adj" fmla="val 15385"/>
              </a:avLst>
            </a:prstGeom>
            <a:solidFill>
              <a:srgbClr val="FFFFFF"/>
            </a:solidFill>
            <a:ln w="9525">
              <a:solidFill>
                <a:srgbClr val="E6B8AE"/>
              </a:solidFill>
            </a:ln>
          </p:spPr>
        </p:sp>
        <p:sp>
          <p:nvSpPr>
            <p:cNvPr id="110" name="TextBox 110"/>
            <p:cNvSpPr txBox="1"/>
            <p:nvPr/>
          </p:nvSpPr>
          <p:spPr>
            <a:xfrm>
              <a:off x="8206613" y="5925264"/>
              <a:ext cx="541274"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短｜直｜搜</a:t>
              </a:r>
            </a:p>
          </p:txBody>
        </p:sp>
        <p:sp>
          <p:nvSpPr>
            <p:cNvPr id="111" name="Rectangle 111"/>
            <p:cNvSpPr/>
            <p:nvPr/>
          </p:nvSpPr>
          <p:spPr>
            <a:xfrm>
              <a:off x="9429750" y="5848350"/>
              <a:ext cx="1333500" cy="247650"/>
            </a:xfrm>
            <a:prstGeom prst="roundRect">
              <a:avLst>
                <a:gd name="adj" fmla="val 15385"/>
              </a:avLst>
            </a:prstGeom>
            <a:solidFill>
              <a:srgbClr val="FFFFFF"/>
            </a:solidFill>
            <a:ln w="9525">
              <a:solidFill>
                <a:srgbClr val="E6B8AE"/>
              </a:solidFill>
            </a:ln>
          </p:spPr>
        </p:sp>
        <p:sp>
          <p:nvSpPr>
            <p:cNvPr id="112" name="TextBox 112"/>
            <p:cNvSpPr txBox="1"/>
            <p:nvPr/>
          </p:nvSpPr>
          <p:spPr>
            <a:xfrm>
              <a:off x="9682792" y="5925264"/>
              <a:ext cx="827415"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商详｜店详｜POI</a:t>
              </a:r>
            </a:p>
          </p:txBody>
        </p:sp>
      </p:gr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1633347" cy="440055"/>
            <a:chOff x="302895" y="214312"/>
            <a:chExt cx="1633347"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22.​</a:t>
              </a:r>
            </a:p>
          </p:txBody>
        </p:sp>
        <p:sp>
          <p:nvSpPr>
            <p:cNvPr id="3" name="TextBox 3"/>
            <p:cNvSpPr txBox="1"/>
            <p:nvPr/>
          </p:nvSpPr>
          <p:spPr>
            <a:xfrm>
              <a:off x="866394" y="246698"/>
              <a:ext cx="1069848"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种草方案</a:t>
              </a:r>
            </a:p>
          </p:txBody>
        </p:sp>
      </p:grpSp>
      <p:grpSp>
        <p:nvGrpSpPr>
          <p:cNvPr id="6" name="page-subtitle"/>
          <p:cNvGrpSpPr/>
          <p:nvPr/>
        </p:nvGrpSpPr>
        <p:grpSpPr>
          <a:xfrm>
            <a:off x="4300400" y="880110"/>
            <a:ext cx="3591199" cy="234696"/>
            <a:chOff x="4300400" y="880110"/>
            <a:chExt cx="3591199" cy="234696"/>
          </a:xfrm>
        </p:grpSpPr>
        <p:sp>
          <p:nvSpPr>
            <p:cNvPr id="5" name="TextBox 5"/>
            <p:cNvSpPr txBox="1"/>
            <p:nvPr/>
          </p:nvSpPr>
          <p:spPr>
            <a:xfrm>
              <a:off x="4300400" y="880110"/>
              <a:ext cx="3591199" cy="234696"/>
            </a:xfrm>
            <a:prstGeom prst="rect">
              <a:avLst/>
            </a:prstGeom>
            <a:noFill/>
            <a:ln>
              <a:noFill/>
            </a:ln>
          </p:spPr>
          <p:txBody>
            <a:bodyPr wrap="none" lIns="0" tIns="0" rIns="0" bIns="0" anchor="t" anchorCtr="0">
              <a:spAutoFit/>
            </a:bodyPr>
            <a:lstStyle/>
            <a:p>
              <a:pPr algn="ctr"/>
              <a:r>
                <a:rPr lang="zh-CN" sz="1200" b="1" dirty="0">
                  <a:solidFill>
                    <a:srgbClr val="E5624C"/>
                  </a:solidFill>
                  <a:latin typeface="+mn-lt"/>
                  <a:ea typeface="+mn-ea"/>
                  <a:cs typeface="+mn-cs"/>
                </a:rPr>
                <a:t>规模化+精细化种草投资，持续提升品类&amp;品牌认知</a:t>
              </a:r>
            </a:p>
          </p:txBody>
        </p:sp>
      </p:grpSp>
      <p:grpSp>
        <p:nvGrpSpPr>
          <p:cNvPr id="35" name="card-platform"/>
          <p:cNvGrpSpPr/>
          <p:nvPr/>
        </p:nvGrpSpPr>
        <p:grpSpPr>
          <a:xfrm>
            <a:off x="228600" y="1181100"/>
            <a:ext cx="3790950" cy="5295900"/>
            <a:chOff x="228600" y="1181100"/>
            <a:chExt cx="3790950" cy="5295900"/>
          </a:xfrm>
        </p:grpSpPr>
        <p:sp>
          <p:nvSpPr>
            <p:cNvPr id="7" name="Rectangle 7"/>
            <p:cNvSpPr/>
            <p:nvPr/>
          </p:nvSpPr>
          <p:spPr>
            <a:xfrm>
              <a:off x="1838325" y="1181100"/>
              <a:ext cx="571500" cy="114300"/>
            </a:xfrm>
            <a:prstGeom prst="rect">
              <a:avLst/>
            </a:prstGeom>
            <a:solidFill>
              <a:srgbClr val="C1553F"/>
            </a:solidFill>
            <a:ln>
              <a:noFill/>
            </a:ln>
          </p:spPr>
        </p:sp>
        <p:sp>
          <p:nvSpPr>
            <p:cNvPr id="8" name="Rectangle 8"/>
            <p:cNvSpPr/>
            <p:nvPr/>
          </p:nvSpPr>
          <p:spPr>
            <a:xfrm>
              <a:off x="228600" y="1295400"/>
              <a:ext cx="3790950" cy="5181600"/>
            </a:xfrm>
            <a:prstGeom prst="roundRect">
              <a:avLst>
                <a:gd name="adj" fmla="val 1508"/>
              </a:avLst>
            </a:prstGeom>
            <a:solidFill>
              <a:srgbClr val="FFFFFF"/>
            </a:solidFill>
            <a:ln w="9525">
              <a:solidFill>
                <a:srgbClr val="E4E7F5"/>
              </a:solidFill>
            </a:ln>
          </p:spPr>
        </p:sp>
        <p:sp>
          <p:nvSpPr>
            <p:cNvPr id="9" name="Ellipse 9"/>
            <p:cNvSpPr/>
            <p:nvPr/>
          </p:nvSpPr>
          <p:spPr>
            <a:xfrm>
              <a:off x="1800225" y="1943100"/>
              <a:ext cx="647700" cy="152400"/>
            </a:xfrm>
            <a:prstGeom prst="ellipse">
              <a:avLst/>
            </a:prstGeom>
            <a:solidFill>
              <a:srgbClr val="DDE2F5"/>
            </a:solidFill>
            <a:ln>
              <a:noFill/>
            </a:ln>
          </p:spPr>
        </p:sp>
        <p:sp>
          <p:nvSpPr>
            <p:cNvPr id="10" name="TextBox 10"/>
            <p:cNvSpPr txBox="1"/>
            <p:nvPr/>
          </p:nvSpPr>
          <p:spPr>
            <a:xfrm>
              <a:off x="1935934" y="1473518"/>
              <a:ext cx="376282" cy="847725"/>
            </a:xfrm>
            <a:prstGeom prst="rect">
              <a:avLst/>
            </a:prstGeom>
            <a:noFill/>
            <a:ln>
              <a:noFill/>
            </a:ln>
          </p:spPr>
          <p:txBody>
            <a:bodyPr wrap="none" lIns="0" tIns="0" rIns="0" bIns="0" anchor="t" anchorCtr="0">
              <a:spAutoFit/>
            </a:bodyPr>
            <a:lstStyle/>
            <a:p>
              <a:pPr algn="ctr"/>
              <a:r>
                <a:rPr lang="zh-CN" sz="4350" b="1" dirty="0">
                  <a:solidFill>
                    <a:srgbClr val="D47D6B"/>
                  </a:solidFill>
                  <a:latin typeface="+mn-lt"/>
                  <a:ea typeface="+mn-ea"/>
                  <a:cs typeface="+mn-cs"/>
                </a:rPr>
                <a:t>1</a:t>
              </a:r>
            </a:p>
          </p:txBody>
        </p:sp>
        <p:sp>
          <p:nvSpPr>
            <p:cNvPr id="11" name="Rectangle 11"/>
            <p:cNvSpPr/>
            <p:nvPr/>
          </p:nvSpPr>
          <p:spPr>
            <a:xfrm>
              <a:off x="228600" y="2152650"/>
              <a:ext cx="3790950" cy="323850"/>
            </a:xfrm>
            <a:prstGeom prst="rect">
              <a:avLst/>
            </a:prstGeom>
            <a:gradFill>
              <a:gsLst>
                <a:gs pos="0">
                  <a:srgbClr val="C1553F"/>
                </a:gs>
                <a:gs pos="100000">
                  <a:srgbClr val="CE897B"/>
                </a:gs>
              </a:gsLst>
              <a:lin ang="0" scaled="1"/>
            </a:gradFill>
            <a:ln>
              <a:noFill/>
            </a:ln>
          </p:spPr>
        </p:sp>
        <p:sp>
          <p:nvSpPr>
            <p:cNvPr id="12" name="TextBox 12"/>
            <p:cNvSpPr txBox="1"/>
            <p:nvPr/>
          </p:nvSpPr>
          <p:spPr>
            <a:xfrm>
              <a:off x="1741424" y="225028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多平台投放</a:t>
              </a:r>
            </a:p>
          </p:txBody>
        </p:sp>
        <p:sp>
          <p:nvSpPr>
            <p:cNvPr id="13" name="TextBox 13"/>
            <p:cNvSpPr txBox="1"/>
            <p:nvPr/>
          </p:nvSpPr>
          <p:spPr>
            <a:xfrm>
              <a:off x="968312" y="2607945"/>
              <a:ext cx="231152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提升品牌内容平台内声量不做一次性投放，</a:t>
              </a:r>
            </a:p>
          </p:txBody>
        </p:sp>
        <p:sp>
          <p:nvSpPr>
            <p:cNvPr id="14" name="TextBox 14"/>
            <p:cNvSpPr txBox="1"/>
            <p:nvPr/>
          </p:nvSpPr>
          <p:spPr>
            <a:xfrm>
              <a:off x="1755838" y="2798445"/>
              <a:ext cx="736473"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长尾获量投资</a:t>
              </a:r>
            </a:p>
          </p:txBody>
        </p:sp>
        <p:sp>
          <p:nvSpPr>
            <p:cNvPr id="15" name="Rectangle 15"/>
            <p:cNvSpPr/>
            <p:nvPr/>
          </p:nvSpPr>
          <p:spPr>
            <a:xfrm>
              <a:off x="533400" y="3067050"/>
              <a:ext cx="285750" cy="285750"/>
            </a:xfrm>
            <a:prstGeom prst="roundRect">
              <a:avLst>
                <a:gd name="adj" fmla="val 20000"/>
              </a:avLst>
            </a:prstGeom>
            <a:solidFill>
              <a:srgbClr val="FF4D24"/>
            </a:solidFill>
            <a:ln>
              <a:noFill/>
            </a:ln>
          </p:spPr>
        </p:sp>
        <p:sp>
          <p:nvSpPr>
            <p:cNvPr id="16" name="TextBox 16"/>
            <p:cNvSpPr txBox="1"/>
            <p:nvPr/>
          </p:nvSpPr>
          <p:spPr>
            <a:xfrm>
              <a:off x="534200" y="3194209"/>
              <a:ext cx="28415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小红书</a:t>
              </a:r>
            </a:p>
          </p:txBody>
        </p:sp>
        <p:sp>
          <p:nvSpPr>
            <p:cNvPr id="17" name="Rectangle 17"/>
            <p:cNvSpPr/>
            <p:nvPr/>
          </p:nvSpPr>
          <p:spPr>
            <a:xfrm>
              <a:off x="952500" y="3067050"/>
              <a:ext cx="1447800" cy="285750"/>
            </a:xfrm>
            <a:prstGeom prst="roundRect">
              <a:avLst>
                <a:gd name="adj" fmla="val 50000"/>
              </a:avLst>
            </a:prstGeom>
            <a:solidFill>
              <a:srgbClr val="FFFFFF"/>
            </a:solidFill>
            <a:ln w="9525">
              <a:solidFill>
                <a:srgbClr val="ED8776"/>
              </a:solidFill>
            </a:ln>
          </p:spPr>
        </p:sp>
        <p:sp>
          <p:nvSpPr>
            <p:cNvPr id="18" name="TextBox 18"/>
            <p:cNvSpPr txBox="1"/>
            <p:nvPr/>
          </p:nvSpPr>
          <p:spPr>
            <a:xfrm>
              <a:off x="1173420" y="3152299"/>
              <a:ext cx="1005959" cy="190690"/>
            </a:xfrm>
            <a:prstGeom prst="rect">
              <a:avLst/>
            </a:prstGeom>
            <a:noFill/>
            <a:ln>
              <a:noFill/>
            </a:ln>
          </p:spPr>
          <p:txBody>
            <a:bodyPr wrap="none" lIns="0" tIns="0" rIns="0" bIns="0" anchor="t" anchorCtr="0">
              <a:spAutoFit/>
            </a:bodyPr>
            <a:lstStyle/>
            <a:p>
              <a:pPr algn="ctr"/>
              <a:r>
                <a:rPr lang="zh-CN" sz="980" dirty="0">
                  <a:solidFill>
                    <a:srgbClr val="E5624C"/>
                  </a:solidFill>
                  <a:latin typeface="+mn-lt"/>
                  <a:ea typeface="+mn-ea"/>
                  <a:cs typeface="+mn-cs"/>
                </a:rPr>
                <a:t>种草&amp;口碑主阵地</a:t>
              </a:r>
            </a:p>
          </p:txBody>
        </p:sp>
        <p:sp>
          <p:nvSpPr>
            <p:cNvPr id="19" name="Rectangle 19"/>
            <p:cNvSpPr/>
            <p:nvPr/>
          </p:nvSpPr>
          <p:spPr>
            <a:xfrm>
              <a:off x="2857500" y="3143250"/>
              <a:ext cx="285750" cy="285750"/>
            </a:xfrm>
            <a:prstGeom prst="roundRect">
              <a:avLst>
                <a:gd name="adj" fmla="val 23333"/>
              </a:avLst>
            </a:prstGeom>
            <a:solidFill>
              <a:srgbClr val="261C1A"/>
            </a:solidFill>
            <a:ln>
              <a:noFill/>
            </a:ln>
          </p:spPr>
        </p:sp>
        <p:grpSp>
          <p:nvGrpSpPr>
            <p:cNvPr id="22" name="Group 22"/>
            <p:cNvGrpSpPr/>
            <p:nvPr/>
          </p:nvGrpSpPr>
          <p:grpSpPr>
            <a:xfrm>
              <a:off x="2936081" y="3243262"/>
              <a:ext cx="128587" cy="85725"/>
              <a:chOff x="2936081" y="3243262"/>
              <a:chExt cx="128587" cy="85725"/>
            </a:xfrm>
          </p:grpSpPr>
          <p:sp>
            <p:nvSpPr>
              <p:cNvPr id="20" name="Freeform 20"/>
              <p:cNvSpPr/>
              <p:nvPr/>
            </p:nvSpPr>
            <p:spPr>
              <a:xfrm>
                <a:off x="3021806" y="3254472"/>
                <a:ext cx="42862" cy="63306"/>
              </a:xfrm>
              <a:custGeom>
                <a:avLst/>
                <a:gdLst/>
                <a:ahLst/>
                <a:cxnLst/>
                <a:rect l="l" t="t" r="r" b="b"/>
                <a:pathLst>
                  <a:path w="42862" h="63306">
                    <a:moveTo>
                      <a:pt x="0" y="17365"/>
                    </a:moveTo>
                    <a:lnTo>
                      <a:pt x="32525" y="1106"/>
                    </a:lnTo>
                    <a:cubicBezTo>
                      <a:pt x="34739" y="0"/>
                      <a:pt x="37368" y="118"/>
                      <a:pt x="39474" y="1419"/>
                    </a:cubicBezTo>
                    <a:cubicBezTo>
                      <a:pt x="41579" y="2720"/>
                      <a:pt x="42861" y="5018"/>
                      <a:pt x="42862" y="7493"/>
                    </a:cubicBezTo>
                    <a:lnTo>
                      <a:pt x="42862" y="55813"/>
                    </a:lnTo>
                    <a:cubicBezTo>
                      <a:pt x="42861" y="58288"/>
                      <a:pt x="41579" y="60586"/>
                      <a:pt x="39474" y="61887"/>
                    </a:cubicBezTo>
                    <a:cubicBezTo>
                      <a:pt x="37368" y="63187"/>
                      <a:pt x="34739" y="63306"/>
                      <a:pt x="32525" y="62200"/>
                    </a:cubicBezTo>
                    <a:lnTo>
                      <a:pt x="0" y="45940"/>
                    </a:lnTo>
                    <a:lnTo>
                      <a:pt x="0" y="17365"/>
                    </a:lnTo>
                  </a:path>
                </a:pathLst>
              </a:custGeom>
              <a:noFill/>
              <a:ln w="14288">
                <a:solidFill>
                  <a:srgbClr val="FFFFFF"/>
                </a:solidFill>
              </a:ln>
            </p:spPr>
          </p:sp>
          <p:sp>
            <p:nvSpPr>
              <p:cNvPr id="21" name="Freeform 21"/>
              <p:cNvSpPr/>
              <p:nvPr/>
            </p:nvSpPr>
            <p:spPr>
              <a:xfrm>
                <a:off x="2936081" y="3243262"/>
                <a:ext cx="85725" cy="85725"/>
              </a:xfrm>
              <a:custGeom>
                <a:avLst/>
                <a:gdLst/>
                <a:ahLst/>
                <a:cxnLst/>
                <a:rect l="l" t="t" r="r" b="b"/>
                <a:pathLst>
                  <a:path w="85725" h="85725">
                    <a:moveTo>
                      <a:pt x="0" y="14288"/>
                    </a:moveTo>
                    <a:cubicBezTo>
                      <a:pt x="0" y="6397"/>
                      <a:pt x="6397" y="0"/>
                      <a:pt x="14288" y="0"/>
                    </a:cubicBezTo>
                    <a:lnTo>
                      <a:pt x="71438" y="0"/>
                    </a:lnTo>
                    <a:cubicBezTo>
                      <a:pt x="79328" y="0"/>
                      <a:pt x="85725" y="6397"/>
                      <a:pt x="85725" y="14288"/>
                    </a:cubicBezTo>
                    <a:lnTo>
                      <a:pt x="85725" y="71438"/>
                    </a:lnTo>
                    <a:cubicBezTo>
                      <a:pt x="85725" y="79328"/>
                      <a:pt x="79328" y="85725"/>
                      <a:pt x="71438" y="85725"/>
                    </a:cubicBezTo>
                    <a:lnTo>
                      <a:pt x="14288" y="85725"/>
                    </a:lnTo>
                    <a:cubicBezTo>
                      <a:pt x="6397" y="85725"/>
                      <a:pt x="0" y="79328"/>
                      <a:pt x="0" y="71438"/>
                    </a:cubicBezTo>
                    <a:lnTo>
                      <a:pt x="0" y="14288"/>
                    </a:lnTo>
                  </a:path>
                </a:pathLst>
              </a:custGeom>
              <a:noFill/>
              <a:ln w="14288">
                <a:solidFill>
                  <a:srgbClr val="FFFFFF"/>
                </a:solidFill>
              </a:ln>
            </p:spPr>
          </p:sp>
        </p:grpSp>
        <p:sp>
          <p:nvSpPr>
            <p:cNvPr id="23" name="Rectangle 23"/>
            <p:cNvSpPr/>
            <p:nvPr/>
          </p:nvSpPr>
          <p:spPr>
            <a:xfrm>
              <a:off x="2438400" y="3543300"/>
              <a:ext cx="1219200" cy="285750"/>
            </a:xfrm>
            <a:prstGeom prst="roundRect">
              <a:avLst>
                <a:gd name="adj" fmla="val 50000"/>
              </a:avLst>
            </a:prstGeom>
            <a:solidFill>
              <a:srgbClr val="FFFFFF"/>
            </a:solidFill>
            <a:ln w="9525">
              <a:solidFill>
                <a:srgbClr val="DD988A"/>
              </a:solidFill>
            </a:ln>
          </p:spPr>
        </p:sp>
        <p:sp>
          <p:nvSpPr>
            <p:cNvPr id="24" name="TextBox 24"/>
            <p:cNvSpPr txBox="1"/>
            <p:nvPr/>
          </p:nvSpPr>
          <p:spPr>
            <a:xfrm>
              <a:off x="2713228" y="3628549"/>
              <a:ext cx="669544" cy="190690"/>
            </a:xfrm>
            <a:prstGeom prst="rect">
              <a:avLst/>
            </a:prstGeom>
            <a:noFill/>
            <a:ln>
              <a:noFill/>
            </a:ln>
          </p:spPr>
          <p:txBody>
            <a:bodyPr wrap="none" lIns="0" tIns="0" rIns="0" bIns="0" anchor="t" anchorCtr="0">
              <a:spAutoFit/>
            </a:bodyPr>
            <a:lstStyle/>
            <a:p>
              <a:pPr algn="ctr"/>
              <a:r>
                <a:rPr lang="zh-CN" sz="980" dirty="0">
                  <a:solidFill>
                    <a:srgbClr val="C1553F"/>
                  </a:solidFill>
                  <a:latin typeface="+mn-lt"/>
                  <a:ea typeface="+mn-ea"/>
                  <a:cs typeface="+mn-cs"/>
                </a:rPr>
                <a:t>声量放大器</a:t>
              </a:r>
            </a:p>
          </p:txBody>
        </p:sp>
        <p:sp>
          <p:nvSpPr>
            <p:cNvPr id="25" name="Freeform 25"/>
            <p:cNvSpPr/>
            <p:nvPr/>
          </p:nvSpPr>
          <p:spPr>
            <a:xfrm>
              <a:off x="381000" y="3333750"/>
              <a:ext cx="1714500" cy="2000250"/>
            </a:xfrm>
            <a:prstGeom prst="triangle">
              <a:avLst/>
            </a:prstGeom>
            <a:solidFill>
              <a:srgbClr val="FDF2EF"/>
            </a:solidFill>
            <a:ln>
              <a:noFill/>
            </a:ln>
          </p:spPr>
        </p:sp>
        <p:sp>
          <p:nvSpPr>
            <p:cNvPr id="26" name="TextBox 26"/>
            <p:cNvSpPr txBox="1"/>
            <p:nvPr/>
          </p:nvSpPr>
          <p:spPr>
            <a:xfrm>
              <a:off x="801862" y="3995738"/>
              <a:ext cx="872776"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持续口碑种草&amp;舆情</a:t>
              </a:r>
            </a:p>
          </p:txBody>
        </p:sp>
        <p:sp>
          <p:nvSpPr>
            <p:cNvPr id="27" name="TextBox 27"/>
            <p:cNvSpPr txBox="1"/>
            <p:nvPr/>
          </p:nvSpPr>
          <p:spPr>
            <a:xfrm>
              <a:off x="779145" y="4148138"/>
              <a:ext cx="91821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优化抢占核心关键词</a:t>
              </a:r>
            </a:p>
          </p:txBody>
        </p:sp>
        <p:sp>
          <p:nvSpPr>
            <p:cNvPr id="28" name="Ellipse 28"/>
            <p:cNvSpPr/>
            <p:nvPr/>
          </p:nvSpPr>
          <p:spPr>
            <a:xfrm>
              <a:off x="838200" y="4352925"/>
              <a:ext cx="800100" cy="95250"/>
            </a:xfrm>
            <a:prstGeom prst="ellipse">
              <a:avLst/>
            </a:prstGeom>
            <a:solidFill>
              <a:srgbClr val="F0C0B8">
                <a:alpha val="55000"/>
              </a:srgbClr>
            </a:solidFill>
            <a:ln>
              <a:noFill/>
            </a:ln>
          </p:spPr>
        </p:sp>
        <p:sp>
          <p:nvSpPr>
            <p:cNvPr id="29" name="TextBox 29"/>
            <p:cNvSpPr txBox="1"/>
            <p:nvPr/>
          </p:nvSpPr>
          <p:spPr>
            <a:xfrm>
              <a:off x="782978" y="4635341"/>
              <a:ext cx="910544" cy="161925"/>
            </a:xfrm>
            <a:prstGeom prst="rect">
              <a:avLst/>
            </a:prstGeom>
            <a:noFill/>
            <a:ln>
              <a:noFill/>
            </a:ln>
          </p:spPr>
          <p:txBody>
            <a:bodyPr wrap="none" lIns="0" tIns="0" rIns="0" bIns="0" anchor="t" anchorCtr="0">
              <a:spAutoFit/>
            </a:bodyPr>
            <a:lstStyle/>
            <a:p>
              <a:pPr algn="ctr"/>
              <a:r>
                <a:rPr lang="zh-CN" sz="820" dirty="0">
                  <a:solidFill>
                    <a:srgbClr val="523F3B"/>
                  </a:solidFill>
                  <a:latin typeface="+mn-lt"/>
                  <a:ea typeface="+mn-ea"/>
                  <a:cs typeface="+mn-cs"/>
                </a:rPr>
                <a:t>C端为主，兼顾B端</a:t>
              </a:r>
            </a:p>
          </p:txBody>
        </p:sp>
        <p:sp>
          <p:nvSpPr>
            <p:cNvPr id="30" name="Freeform 30"/>
            <p:cNvSpPr/>
            <p:nvPr/>
          </p:nvSpPr>
          <p:spPr>
            <a:xfrm>
              <a:off x="2057400" y="3333750"/>
              <a:ext cx="1714500" cy="2000250"/>
            </a:xfrm>
            <a:prstGeom prst="triangle">
              <a:avLst/>
            </a:prstGeom>
            <a:solidFill>
              <a:srgbClr val="F1F3FB"/>
            </a:solidFill>
            <a:ln>
              <a:noFill/>
            </a:ln>
          </p:spPr>
        </p:sp>
        <p:sp>
          <p:nvSpPr>
            <p:cNvPr id="31" name="TextBox 31"/>
            <p:cNvSpPr txBox="1"/>
            <p:nvPr/>
          </p:nvSpPr>
          <p:spPr>
            <a:xfrm>
              <a:off x="2606992" y="4395788"/>
              <a:ext cx="61531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联名活动跨圈</a:t>
              </a:r>
            </a:p>
          </p:txBody>
        </p:sp>
        <p:sp>
          <p:nvSpPr>
            <p:cNvPr id="32" name="TextBox 32"/>
            <p:cNvSpPr txBox="1"/>
            <p:nvPr/>
          </p:nvSpPr>
          <p:spPr>
            <a:xfrm>
              <a:off x="2606992" y="4548188"/>
              <a:ext cx="61531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打爆品牌声量</a:t>
              </a:r>
            </a:p>
          </p:txBody>
        </p:sp>
        <p:sp>
          <p:nvSpPr>
            <p:cNvPr id="33" name="Ellipse 33"/>
            <p:cNvSpPr/>
            <p:nvPr/>
          </p:nvSpPr>
          <p:spPr>
            <a:xfrm>
              <a:off x="2514600" y="4733925"/>
              <a:ext cx="800100" cy="95250"/>
            </a:xfrm>
            <a:prstGeom prst="ellipse">
              <a:avLst/>
            </a:prstGeom>
            <a:solidFill>
              <a:srgbClr val="E6B8AE">
                <a:alpha val="55000"/>
              </a:srgbClr>
            </a:solidFill>
            <a:ln>
              <a:noFill/>
            </a:ln>
          </p:spPr>
        </p:sp>
        <p:sp>
          <p:nvSpPr>
            <p:cNvPr id="34" name="TextBox 34"/>
            <p:cNvSpPr txBox="1"/>
            <p:nvPr/>
          </p:nvSpPr>
          <p:spPr>
            <a:xfrm>
              <a:off x="2680155" y="5016341"/>
              <a:ext cx="468991" cy="161925"/>
            </a:xfrm>
            <a:prstGeom prst="rect">
              <a:avLst/>
            </a:prstGeom>
            <a:noFill/>
            <a:ln>
              <a:noFill/>
            </a:ln>
          </p:spPr>
          <p:txBody>
            <a:bodyPr wrap="none" lIns="0" tIns="0" rIns="0" bIns="0" anchor="t" anchorCtr="0">
              <a:spAutoFit/>
            </a:bodyPr>
            <a:lstStyle/>
            <a:p>
              <a:pPr algn="ctr"/>
              <a:r>
                <a:rPr lang="zh-CN" sz="820" dirty="0">
                  <a:solidFill>
                    <a:srgbClr val="523F3B"/>
                  </a:solidFill>
                  <a:latin typeface="+mn-lt"/>
                  <a:ea typeface="+mn-ea"/>
                  <a:cs typeface="+mn-cs"/>
                </a:rPr>
                <a:t>B端＞C端</a:t>
              </a:r>
            </a:p>
          </p:txBody>
        </p:sp>
      </p:grpSp>
      <p:grpSp>
        <p:nvGrpSpPr>
          <p:cNvPr id="64" name="card-content"/>
          <p:cNvGrpSpPr/>
          <p:nvPr/>
        </p:nvGrpSpPr>
        <p:grpSpPr>
          <a:xfrm>
            <a:off x="4076700" y="1181100"/>
            <a:ext cx="4152900" cy="5295900"/>
            <a:chOff x="4076700" y="1181100"/>
            <a:chExt cx="4152900" cy="5295900"/>
          </a:xfrm>
        </p:grpSpPr>
        <p:sp>
          <p:nvSpPr>
            <p:cNvPr id="36" name="Rectangle 36"/>
            <p:cNvSpPr/>
            <p:nvPr/>
          </p:nvSpPr>
          <p:spPr>
            <a:xfrm>
              <a:off x="5867400" y="1181100"/>
              <a:ext cx="571500" cy="114300"/>
            </a:xfrm>
            <a:prstGeom prst="rect">
              <a:avLst/>
            </a:prstGeom>
            <a:solidFill>
              <a:srgbClr val="E5624C"/>
            </a:solidFill>
            <a:ln>
              <a:noFill/>
            </a:ln>
          </p:spPr>
        </p:sp>
        <p:sp>
          <p:nvSpPr>
            <p:cNvPr id="37" name="Rectangle 37"/>
            <p:cNvSpPr/>
            <p:nvPr/>
          </p:nvSpPr>
          <p:spPr>
            <a:xfrm>
              <a:off x="4076700" y="1295400"/>
              <a:ext cx="4152900" cy="5181600"/>
            </a:xfrm>
            <a:prstGeom prst="roundRect">
              <a:avLst>
                <a:gd name="adj" fmla="val 1376"/>
              </a:avLst>
            </a:prstGeom>
            <a:solidFill>
              <a:srgbClr val="FFFFFF"/>
            </a:solidFill>
            <a:ln w="9525">
              <a:solidFill>
                <a:srgbClr val="E4E7F5"/>
              </a:solidFill>
            </a:ln>
          </p:spPr>
        </p:sp>
        <p:sp>
          <p:nvSpPr>
            <p:cNvPr id="38" name="Ellipse 38"/>
            <p:cNvSpPr/>
            <p:nvPr/>
          </p:nvSpPr>
          <p:spPr>
            <a:xfrm>
              <a:off x="5829300" y="1943100"/>
              <a:ext cx="647700" cy="152400"/>
            </a:xfrm>
            <a:prstGeom prst="ellipse">
              <a:avLst/>
            </a:prstGeom>
            <a:solidFill>
              <a:srgbClr val="F8D8CE"/>
            </a:solidFill>
            <a:ln>
              <a:noFill/>
            </a:ln>
          </p:spPr>
        </p:sp>
        <p:sp>
          <p:nvSpPr>
            <p:cNvPr id="39" name="TextBox 39"/>
            <p:cNvSpPr txBox="1"/>
            <p:nvPr/>
          </p:nvSpPr>
          <p:spPr>
            <a:xfrm>
              <a:off x="5965009" y="1473518"/>
              <a:ext cx="376282" cy="847725"/>
            </a:xfrm>
            <a:prstGeom prst="rect">
              <a:avLst/>
            </a:prstGeom>
            <a:noFill/>
            <a:ln>
              <a:noFill/>
            </a:ln>
          </p:spPr>
          <p:txBody>
            <a:bodyPr wrap="none" lIns="0" tIns="0" rIns="0" bIns="0" anchor="t" anchorCtr="0">
              <a:spAutoFit/>
            </a:bodyPr>
            <a:lstStyle/>
            <a:p>
              <a:pPr algn="ctr"/>
              <a:r>
                <a:rPr lang="zh-CN" sz="4350" b="1" dirty="0">
                  <a:solidFill>
                    <a:srgbClr val="E5624C"/>
                  </a:solidFill>
                  <a:latin typeface="+mn-lt"/>
                  <a:ea typeface="+mn-ea"/>
                  <a:cs typeface="+mn-cs"/>
                </a:rPr>
                <a:t>2</a:t>
              </a:r>
            </a:p>
          </p:txBody>
        </p:sp>
        <p:sp>
          <p:nvSpPr>
            <p:cNvPr id="40" name="Rectangle 40"/>
            <p:cNvSpPr/>
            <p:nvPr/>
          </p:nvSpPr>
          <p:spPr>
            <a:xfrm>
              <a:off x="4076700" y="2152650"/>
              <a:ext cx="4152900" cy="323850"/>
            </a:xfrm>
            <a:prstGeom prst="rect">
              <a:avLst/>
            </a:prstGeom>
            <a:gradFill>
              <a:gsLst>
                <a:gs pos="0">
                  <a:srgbClr val="E5624C"/>
                </a:gs>
                <a:gs pos="100000">
                  <a:srgbClr val="F0998A"/>
                </a:gs>
              </a:gsLst>
              <a:lin ang="0" scaled="1"/>
            </a:gradFill>
            <a:ln>
              <a:noFill/>
            </a:ln>
          </p:spPr>
        </p:sp>
        <p:sp>
          <p:nvSpPr>
            <p:cNvPr id="41" name="TextBox 41"/>
            <p:cNvSpPr txBox="1"/>
            <p:nvPr/>
          </p:nvSpPr>
          <p:spPr>
            <a:xfrm>
              <a:off x="5770499" y="225028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内容立体化</a:t>
              </a:r>
            </a:p>
          </p:txBody>
        </p:sp>
        <p:sp>
          <p:nvSpPr>
            <p:cNvPr id="42" name="TextBox 42"/>
            <p:cNvSpPr txBox="1"/>
            <p:nvPr/>
          </p:nvSpPr>
          <p:spPr>
            <a:xfrm>
              <a:off x="4876229" y="2607945"/>
              <a:ext cx="2553843"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把达人种草内容转化成品牌资产核心人群精细化</a:t>
              </a:r>
            </a:p>
          </p:txBody>
        </p:sp>
        <p:sp>
          <p:nvSpPr>
            <p:cNvPr id="43" name="TextBox 43"/>
            <p:cNvSpPr txBox="1"/>
            <p:nvPr/>
          </p:nvSpPr>
          <p:spPr>
            <a:xfrm>
              <a:off x="5057966" y="2798445"/>
              <a:ext cx="2190369"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沟通立体化输出社媒内容，维持品类领先</a:t>
              </a:r>
            </a:p>
          </p:txBody>
        </p:sp>
        <p:sp>
          <p:nvSpPr>
            <p:cNvPr id="44" name="TextBox 44"/>
            <p:cNvSpPr txBox="1"/>
            <p:nvPr/>
          </p:nvSpPr>
          <p:spPr>
            <a:xfrm>
              <a:off x="4123728" y="3187541"/>
              <a:ext cx="782244"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减肥攻略分享深</a:t>
              </a:r>
            </a:p>
          </p:txBody>
        </p:sp>
        <p:sp>
          <p:nvSpPr>
            <p:cNvPr id="45" name="TextBox 45"/>
            <p:cNvSpPr txBox="1"/>
            <p:nvPr/>
          </p:nvSpPr>
          <p:spPr>
            <a:xfrm>
              <a:off x="4178922" y="3358991"/>
              <a:ext cx="671855"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化</a:t>
              </a:r>
              <a:r>
                <a:rPr lang="zh-CN" sz="820" dirty="0">
                  <a:solidFill>
                    <a:srgbClr val="E5624C"/>
                  </a:solidFill>
                  <a:latin typeface="+mn-lt"/>
                  <a:ea typeface="+mn-ea"/>
                  <a:cs typeface="+mn-cs"/>
                </a:rPr>
                <a:t>场景化种草</a:t>
              </a:r>
            </a:p>
          </p:txBody>
        </p:sp>
        <p:sp>
          <p:nvSpPr>
            <p:cNvPr id="46" name="Freeform 46"/>
            <p:cNvSpPr/>
            <p:nvPr/>
          </p:nvSpPr>
          <p:spPr>
            <a:xfrm>
              <a:off x="4838700" y="3619500"/>
              <a:ext cx="209550" cy="171450"/>
            </a:xfrm>
            <a:custGeom>
              <a:avLst/>
              <a:gdLst/>
              <a:ahLst/>
              <a:cxnLst/>
              <a:rect l="l" t="t" r="r" b="b"/>
              <a:pathLst>
                <a:path w="209550" h="171450">
                  <a:moveTo>
                    <a:pt x="0" y="0"/>
                  </a:moveTo>
                  <a:lnTo>
                    <a:pt x="209550" y="171450"/>
                  </a:lnTo>
                </a:path>
              </a:pathLst>
            </a:custGeom>
            <a:noFill/>
            <a:ln w="14288">
              <a:solidFill>
                <a:srgbClr val="C9CFEA"/>
              </a:solidFill>
              <a:tailEnd type="triangle" w="lg" len="lg"/>
            </a:ln>
          </p:spPr>
        </p:sp>
        <p:sp>
          <p:nvSpPr>
            <p:cNvPr id="47" name="TextBox 47"/>
            <p:cNvSpPr txBox="1"/>
            <p:nvPr/>
          </p:nvSpPr>
          <p:spPr>
            <a:xfrm>
              <a:off x="7341222" y="3054191"/>
              <a:ext cx="671855"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线下探店体验</a:t>
              </a:r>
            </a:p>
          </p:txBody>
        </p:sp>
        <p:sp>
          <p:nvSpPr>
            <p:cNvPr id="48" name="TextBox 48"/>
            <p:cNvSpPr txBox="1"/>
            <p:nvPr/>
          </p:nvSpPr>
          <p:spPr>
            <a:xfrm>
              <a:off x="7341222" y="3225641"/>
              <a:ext cx="671855"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口碑分享</a:t>
              </a:r>
              <a:r>
                <a:rPr lang="zh-CN" sz="820" dirty="0">
                  <a:solidFill>
                    <a:srgbClr val="705F5B"/>
                  </a:solidFill>
                  <a:latin typeface="+mn-lt"/>
                  <a:ea typeface="+mn-ea"/>
                  <a:cs typeface="+mn-cs"/>
                </a:rPr>
                <a:t>营造</a:t>
              </a:r>
            </a:p>
          </p:txBody>
        </p:sp>
        <p:sp>
          <p:nvSpPr>
            <p:cNvPr id="49" name="TextBox 49"/>
            <p:cNvSpPr txBox="1"/>
            <p:nvPr/>
          </p:nvSpPr>
          <p:spPr>
            <a:xfrm>
              <a:off x="7341222" y="3397091"/>
              <a:ext cx="671855"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大家都在试项</a:t>
              </a:r>
            </a:p>
          </p:txBody>
        </p:sp>
        <p:sp>
          <p:nvSpPr>
            <p:cNvPr id="50" name="TextBox 50"/>
            <p:cNvSpPr txBox="1"/>
            <p:nvPr/>
          </p:nvSpPr>
          <p:spPr>
            <a:xfrm>
              <a:off x="7451611" y="3568541"/>
              <a:ext cx="45107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目的氛围</a:t>
              </a:r>
            </a:p>
          </p:txBody>
        </p:sp>
        <p:sp>
          <p:nvSpPr>
            <p:cNvPr id="51" name="Freeform 51"/>
            <p:cNvSpPr/>
            <p:nvPr/>
          </p:nvSpPr>
          <p:spPr>
            <a:xfrm>
              <a:off x="6819900" y="3714750"/>
              <a:ext cx="304800" cy="114300"/>
            </a:xfrm>
            <a:custGeom>
              <a:avLst/>
              <a:gdLst/>
              <a:ahLst/>
              <a:cxnLst/>
              <a:rect l="l" t="t" r="r" b="b"/>
              <a:pathLst>
                <a:path w="304800" h="114300">
                  <a:moveTo>
                    <a:pt x="304800" y="0"/>
                  </a:moveTo>
                  <a:lnTo>
                    <a:pt x="0" y="114300"/>
                  </a:lnTo>
                </a:path>
              </a:pathLst>
            </a:custGeom>
            <a:noFill/>
            <a:ln w="14288">
              <a:solidFill>
                <a:srgbClr val="C9CFEA"/>
              </a:solidFill>
              <a:tailEnd type="triangle" w="lg" len="lg"/>
            </a:ln>
          </p:spPr>
        </p:sp>
        <p:sp>
          <p:nvSpPr>
            <p:cNvPr id="52" name="Ellipse 52"/>
            <p:cNvSpPr/>
            <p:nvPr/>
          </p:nvSpPr>
          <p:spPr>
            <a:xfrm>
              <a:off x="5353050" y="3105150"/>
              <a:ext cx="1257300" cy="1257300"/>
            </a:xfrm>
            <a:prstGeom prst="ellipse">
              <a:avLst/>
            </a:prstGeom>
            <a:solidFill>
              <a:srgbClr val="FFFFFF">
                <a:alpha val="60000"/>
              </a:srgbClr>
            </a:solidFill>
            <a:ln w="19050">
              <a:solidFill>
                <a:srgbClr val="DD988A"/>
              </a:solidFill>
            </a:ln>
          </p:spPr>
        </p:sp>
        <p:sp>
          <p:nvSpPr>
            <p:cNvPr id="53" name="TextBox 53"/>
            <p:cNvSpPr txBox="1"/>
            <p:nvPr/>
          </p:nvSpPr>
          <p:spPr>
            <a:xfrm>
              <a:off x="5676083" y="3490912"/>
              <a:ext cx="611234" cy="440055"/>
            </a:xfrm>
            <a:prstGeom prst="rect">
              <a:avLst/>
            </a:prstGeom>
            <a:noFill/>
            <a:ln>
              <a:noFill/>
            </a:ln>
          </p:spPr>
          <p:txBody>
            <a:bodyPr wrap="none" lIns="0" tIns="0" rIns="0" bIns="0" anchor="t" anchorCtr="0">
              <a:spAutoFit/>
            </a:bodyPr>
            <a:lstStyle/>
            <a:p>
              <a:pPr algn="ctr"/>
              <a:r>
                <a:rPr lang="zh-CN" sz="2250" b="1" dirty="0">
                  <a:solidFill>
                    <a:srgbClr val="C1553F"/>
                  </a:solidFill>
                  <a:latin typeface="+mn-lt"/>
                  <a:ea typeface="+mn-ea"/>
                  <a:cs typeface="+mn-cs"/>
                </a:rPr>
                <a:t>60%</a:t>
              </a:r>
            </a:p>
          </p:txBody>
        </p:sp>
        <p:sp>
          <p:nvSpPr>
            <p:cNvPr id="54" name="TextBox 54"/>
            <p:cNvSpPr txBox="1"/>
            <p:nvPr/>
          </p:nvSpPr>
          <p:spPr>
            <a:xfrm>
              <a:off x="5712892" y="3876199"/>
              <a:ext cx="537616" cy="190690"/>
            </a:xfrm>
            <a:prstGeom prst="rect">
              <a:avLst/>
            </a:prstGeom>
            <a:noFill/>
            <a:ln>
              <a:noFill/>
            </a:ln>
          </p:spPr>
          <p:txBody>
            <a:bodyPr wrap="none" lIns="0" tIns="0" rIns="0" bIns="0" anchor="t" anchorCtr="0">
              <a:spAutoFit/>
            </a:bodyPr>
            <a:lstStyle/>
            <a:p>
              <a:pPr algn="ctr"/>
              <a:r>
                <a:rPr lang="zh-CN" sz="980" dirty="0">
                  <a:solidFill>
                    <a:srgbClr val="523F3B"/>
                  </a:solidFill>
                  <a:latin typeface="+mn-lt"/>
                  <a:ea typeface="+mn-ea"/>
                  <a:cs typeface="+mn-cs"/>
                </a:rPr>
                <a:t>探店体验</a:t>
              </a:r>
            </a:p>
          </p:txBody>
        </p:sp>
        <p:sp>
          <p:nvSpPr>
            <p:cNvPr id="55" name="Ellipse 55"/>
            <p:cNvSpPr/>
            <p:nvPr/>
          </p:nvSpPr>
          <p:spPr>
            <a:xfrm>
              <a:off x="4667250" y="4000500"/>
              <a:ext cx="952500" cy="952500"/>
            </a:xfrm>
            <a:prstGeom prst="ellipse">
              <a:avLst/>
            </a:prstGeom>
            <a:solidFill>
              <a:srgbClr val="FFFFFF">
                <a:alpha val="60000"/>
              </a:srgbClr>
            </a:solidFill>
            <a:ln w="19050">
              <a:solidFill>
                <a:srgbClr val="ED8776"/>
              </a:solidFill>
            </a:ln>
          </p:spPr>
        </p:sp>
        <p:sp>
          <p:nvSpPr>
            <p:cNvPr id="56" name="TextBox 56"/>
            <p:cNvSpPr txBox="1"/>
            <p:nvPr/>
          </p:nvSpPr>
          <p:spPr>
            <a:xfrm>
              <a:off x="4919381" y="4279582"/>
              <a:ext cx="448238" cy="322707"/>
            </a:xfrm>
            <a:prstGeom prst="rect">
              <a:avLst/>
            </a:prstGeom>
            <a:noFill/>
            <a:ln>
              <a:noFill/>
            </a:ln>
          </p:spPr>
          <p:txBody>
            <a:bodyPr wrap="none" lIns="0" tIns="0" rIns="0" bIns="0" anchor="t" anchorCtr="0">
              <a:spAutoFit/>
            </a:bodyPr>
            <a:lstStyle/>
            <a:p>
              <a:pPr algn="ctr"/>
              <a:r>
                <a:rPr lang="zh-CN" sz="1650" b="1" dirty="0">
                  <a:solidFill>
                    <a:srgbClr val="E5624C"/>
                  </a:solidFill>
                  <a:latin typeface="+mn-lt"/>
                  <a:ea typeface="+mn-ea"/>
                  <a:cs typeface="+mn-cs"/>
                </a:rPr>
                <a:t>20%</a:t>
              </a:r>
            </a:p>
          </p:txBody>
        </p:sp>
        <p:sp>
          <p:nvSpPr>
            <p:cNvPr id="57" name="TextBox 57"/>
            <p:cNvSpPr txBox="1"/>
            <p:nvPr/>
          </p:nvSpPr>
          <p:spPr>
            <a:xfrm>
              <a:off x="4896421" y="457009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干货植入</a:t>
              </a:r>
            </a:p>
          </p:txBody>
        </p:sp>
        <p:sp>
          <p:nvSpPr>
            <p:cNvPr id="58" name="Ellipse 58"/>
            <p:cNvSpPr/>
            <p:nvPr/>
          </p:nvSpPr>
          <p:spPr>
            <a:xfrm>
              <a:off x="5981700" y="4210050"/>
              <a:ext cx="838200" cy="838200"/>
            </a:xfrm>
            <a:prstGeom prst="ellipse">
              <a:avLst/>
            </a:prstGeom>
            <a:solidFill>
              <a:srgbClr val="FFFFFF">
                <a:alpha val="60000"/>
              </a:srgbClr>
            </a:solidFill>
            <a:ln w="19050">
              <a:solidFill>
                <a:srgbClr val="DD988A"/>
              </a:solidFill>
            </a:ln>
          </p:spPr>
        </p:sp>
        <p:sp>
          <p:nvSpPr>
            <p:cNvPr id="59" name="TextBox 59"/>
            <p:cNvSpPr txBox="1"/>
            <p:nvPr/>
          </p:nvSpPr>
          <p:spPr>
            <a:xfrm>
              <a:off x="6207896" y="4456271"/>
              <a:ext cx="385807" cy="278702"/>
            </a:xfrm>
            <a:prstGeom prst="rect">
              <a:avLst/>
            </a:prstGeom>
            <a:noFill/>
            <a:ln>
              <a:noFill/>
            </a:ln>
          </p:spPr>
          <p:txBody>
            <a:bodyPr wrap="none" lIns="0" tIns="0" rIns="0" bIns="0" anchor="t" anchorCtr="0">
              <a:spAutoFit/>
            </a:bodyPr>
            <a:lstStyle/>
            <a:p>
              <a:pPr algn="ctr"/>
              <a:r>
                <a:rPr lang="zh-CN" sz="1420" b="1" dirty="0">
                  <a:solidFill>
                    <a:srgbClr val="D47D6B"/>
                  </a:solidFill>
                  <a:latin typeface="+mn-lt"/>
                  <a:ea typeface="+mn-ea"/>
                  <a:cs typeface="+mn-cs"/>
                </a:rPr>
                <a:t>10%</a:t>
              </a:r>
            </a:p>
          </p:txBody>
        </p:sp>
        <p:sp>
          <p:nvSpPr>
            <p:cNvPr id="60" name="TextBox 60"/>
            <p:cNvSpPr txBox="1"/>
            <p:nvPr/>
          </p:nvSpPr>
          <p:spPr>
            <a:xfrm>
              <a:off x="6153721" y="470344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科普背书</a:t>
              </a:r>
            </a:p>
          </p:txBody>
        </p:sp>
        <p:sp>
          <p:nvSpPr>
            <p:cNvPr id="61" name="TextBox 61"/>
            <p:cNvSpPr txBox="1"/>
            <p:nvPr/>
          </p:nvSpPr>
          <p:spPr>
            <a:xfrm>
              <a:off x="4451490" y="5397341"/>
              <a:ext cx="100302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科普项目优势利好，</a:t>
              </a:r>
            </a:p>
          </p:txBody>
        </p:sp>
        <p:sp>
          <p:nvSpPr>
            <p:cNvPr id="62" name="TextBox 62"/>
            <p:cNvSpPr txBox="1"/>
            <p:nvPr/>
          </p:nvSpPr>
          <p:spPr>
            <a:xfrm>
              <a:off x="4561878" y="5568791"/>
              <a:ext cx="782244"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消除消费者顾虑</a:t>
              </a:r>
            </a:p>
          </p:txBody>
        </p:sp>
        <p:sp>
          <p:nvSpPr>
            <p:cNvPr id="63" name="Freeform 63"/>
            <p:cNvSpPr/>
            <p:nvPr/>
          </p:nvSpPr>
          <p:spPr>
            <a:xfrm>
              <a:off x="5810250" y="5391150"/>
              <a:ext cx="361950" cy="133350"/>
            </a:xfrm>
            <a:custGeom>
              <a:avLst/>
              <a:gdLst/>
              <a:ahLst/>
              <a:cxnLst/>
              <a:rect l="l" t="t" r="r" b="b"/>
              <a:pathLst>
                <a:path w="361950" h="133350">
                  <a:moveTo>
                    <a:pt x="0" y="133350"/>
                  </a:moveTo>
                  <a:lnTo>
                    <a:pt x="361950" y="0"/>
                  </a:lnTo>
                </a:path>
              </a:pathLst>
            </a:custGeom>
            <a:noFill/>
            <a:ln w="14288">
              <a:solidFill>
                <a:srgbClr val="C9CFEA"/>
              </a:solidFill>
              <a:tailEnd type="triangle" w="lg" len="lg"/>
            </a:ln>
          </p:spPr>
        </p:sp>
      </p:grpSp>
      <p:grpSp>
        <p:nvGrpSpPr>
          <p:cNvPr id="89" name="card-kol"/>
          <p:cNvGrpSpPr/>
          <p:nvPr/>
        </p:nvGrpSpPr>
        <p:grpSpPr>
          <a:xfrm>
            <a:off x="8286750" y="1181100"/>
            <a:ext cx="3733800" cy="5295900"/>
            <a:chOff x="8286750" y="1181100"/>
            <a:chExt cx="3733800" cy="5295900"/>
          </a:xfrm>
        </p:grpSpPr>
        <p:sp>
          <p:nvSpPr>
            <p:cNvPr id="65" name="Rectangle 65"/>
            <p:cNvSpPr/>
            <p:nvPr/>
          </p:nvSpPr>
          <p:spPr>
            <a:xfrm>
              <a:off x="9867900" y="1181100"/>
              <a:ext cx="571500" cy="114300"/>
            </a:xfrm>
            <a:prstGeom prst="rect">
              <a:avLst/>
            </a:prstGeom>
            <a:solidFill>
              <a:srgbClr val="D47D6B"/>
            </a:solidFill>
            <a:ln>
              <a:noFill/>
            </a:ln>
          </p:spPr>
        </p:sp>
        <p:sp>
          <p:nvSpPr>
            <p:cNvPr id="66" name="Rectangle 66"/>
            <p:cNvSpPr/>
            <p:nvPr/>
          </p:nvSpPr>
          <p:spPr>
            <a:xfrm>
              <a:off x="8286750" y="1295400"/>
              <a:ext cx="3733800" cy="5181600"/>
            </a:xfrm>
            <a:prstGeom prst="roundRect">
              <a:avLst>
                <a:gd name="adj" fmla="val 1531"/>
              </a:avLst>
            </a:prstGeom>
            <a:solidFill>
              <a:srgbClr val="FFFFFF"/>
            </a:solidFill>
            <a:ln w="9525">
              <a:solidFill>
                <a:srgbClr val="E4E7F5"/>
              </a:solidFill>
            </a:ln>
          </p:spPr>
        </p:sp>
        <p:sp>
          <p:nvSpPr>
            <p:cNvPr id="67" name="Ellipse 67"/>
            <p:cNvSpPr/>
            <p:nvPr/>
          </p:nvSpPr>
          <p:spPr>
            <a:xfrm>
              <a:off x="9829800" y="1943100"/>
              <a:ext cx="647700" cy="152400"/>
            </a:xfrm>
            <a:prstGeom prst="ellipse">
              <a:avLst/>
            </a:prstGeom>
            <a:solidFill>
              <a:srgbClr val="E3E6F7"/>
            </a:solidFill>
            <a:ln>
              <a:noFill/>
            </a:ln>
          </p:spPr>
        </p:sp>
        <p:sp>
          <p:nvSpPr>
            <p:cNvPr id="68" name="TextBox 68"/>
            <p:cNvSpPr txBox="1"/>
            <p:nvPr/>
          </p:nvSpPr>
          <p:spPr>
            <a:xfrm>
              <a:off x="9965509" y="1473518"/>
              <a:ext cx="376282" cy="847725"/>
            </a:xfrm>
            <a:prstGeom prst="rect">
              <a:avLst/>
            </a:prstGeom>
            <a:noFill/>
            <a:ln>
              <a:noFill/>
            </a:ln>
          </p:spPr>
          <p:txBody>
            <a:bodyPr wrap="none" lIns="0" tIns="0" rIns="0" bIns="0" anchor="t" anchorCtr="0">
              <a:spAutoFit/>
            </a:bodyPr>
            <a:lstStyle/>
            <a:p>
              <a:pPr algn="ctr"/>
              <a:r>
                <a:rPr lang="zh-CN" sz="4350" b="1" dirty="0">
                  <a:solidFill>
                    <a:srgbClr val="E0B3AA"/>
                  </a:solidFill>
                  <a:latin typeface="+mn-lt"/>
                  <a:ea typeface="+mn-ea"/>
                  <a:cs typeface="+mn-cs"/>
                </a:rPr>
                <a:t>3</a:t>
              </a:r>
            </a:p>
          </p:txBody>
        </p:sp>
        <p:sp>
          <p:nvSpPr>
            <p:cNvPr id="69" name="Rectangle 69"/>
            <p:cNvSpPr/>
            <p:nvPr/>
          </p:nvSpPr>
          <p:spPr>
            <a:xfrm>
              <a:off x="8286750" y="2152650"/>
              <a:ext cx="3733800" cy="323850"/>
            </a:xfrm>
            <a:prstGeom prst="rect">
              <a:avLst/>
            </a:prstGeom>
            <a:gradFill>
              <a:gsLst>
                <a:gs pos="0">
                  <a:srgbClr val="C1553F"/>
                </a:gs>
                <a:gs pos="100000">
                  <a:srgbClr val="CE897B"/>
                </a:gs>
              </a:gsLst>
              <a:lin ang="0" scaled="1"/>
            </a:gradFill>
            <a:ln>
              <a:noFill/>
            </a:ln>
          </p:spPr>
        </p:sp>
        <p:sp>
          <p:nvSpPr>
            <p:cNvPr id="70" name="TextBox 70"/>
            <p:cNvSpPr txBox="1"/>
            <p:nvPr/>
          </p:nvSpPr>
          <p:spPr>
            <a:xfrm>
              <a:off x="9770999" y="225028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达人矩阵化</a:t>
              </a:r>
            </a:p>
          </p:txBody>
        </p:sp>
        <p:sp>
          <p:nvSpPr>
            <p:cNvPr id="71" name="TextBox 71"/>
            <p:cNvSpPr txBox="1"/>
            <p:nvPr/>
          </p:nvSpPr>
          <p:spPr>
            <a:xfrm>
              <a:off x="9140247" y="2607945"/>
              <a:ext cx="2026806"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美妆+科普+探店+时尚人设为主大数据</a:t>
              </a:r>
            </a:p>
          </p:txBody>
        </p:sp>
        <p:sp>
          <p:nvSpPr>
            <p:cNvPr id="72" name="TextBox 72"/>
            <p:cNvSpPr txBox="1"/>
            <p:nvPr/>
          </p:nvSpPr>
          <p:spPr>
            <a:xfrm>
              <a:off x="9173868" y="2798445"/>
              <a:ext cx="1959563"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选号权威背书，头：腰：尾</a:t>
              </a:r>
              <a:r>
                <a:rPr lang="zh-CN" sz="900" b="1" dirty="0">
                  <a:solidFill>
                    <a:srgbClr val="E5624C"/>
                  </a:solidFill>
                  <a:latin typeface="+mn-lt"/>
                  <a:ea typeface="+mn-ea"/>
                  <a:cs typeface="+mn-cs"/>
                </a:rPr>
                <a:t xml:space="preserve"> = 3:4:3</a:t>
              </a:r>
            </a:p>
          </p:txBody>
        </p:sp>
        <p:sp>
          <p:nvSpPr>
            <p:cNvPr id="73" name="Freeform 73"/>
            <p:cNvSpPr/>
            <p:nvPr/>
          </p:nvSpPr>
          <p:spPr>
            <a:xfrm>
              <a:off x="9746932" y="3257550"/>
              <a:ext cx="1053637" cy="1542505"/>
            </a:xfrm>
            <a:custGeom>
              <a:avLst/>
              <a:gdLst/>
              <a:ahLst/>
              <a:cxnLst/>
              <a:rect l="l" t="t" r="r" b="b"/>
              <a:pathLst>
                <a:path w="1053637" h="1542505">
                  <a:moveTo>
                    <a:pt x="254318" y="742950"/>
                  </a:moveTo>
                  <a:lnTo>
                    <a:pt x="254318" y="0"/>
                  </a:lnTo>
                  <a:cubicBezTo>
                    <a:pt x="550832" y="127"/>
                    <a:pt x="818878" y="176551"/>
                    <a:pt x="936258" y="448843"/>
                  </a:cubicBezTo>
                  <a:cubicBezTo>
                    <a:pt x="1053637" y="721135"/>
                    <a:pt x="997870" y="1037149"/>
                    <a:pt x="794380" y="1252816"/>
                  </a:cubicBezTo>
                  <a:cubicBezTo>
                    <a:pt x="590890" y="1468484"/>
                    <a:pt x="278647" y="1542505"/>
                    <a:pt x="0" y="1441132"/>
                  </a:cubicBezTo>
                  <a:close/>
                </a:path>
              </a:pathLst>
            </a:custGeom>
            <a:solidFill>
              <a:srgbClr val="E0B3AA"/>
            </a:solidFill>
            <a:ln>
              <a:noFill/>
            </a:ln>
          </p:spPr>
        </p:sp>
        <p:sp>
          <p:nvSpPr>
            <p:cNvPr id="74" name="Freeform 74"/>
            <p:cNvSpPr/>
            <p:nvPr/>
          </p:nvSpPr>
          <p:spPr>
            <a:xfrm>
              <a:off x="9235588" y="3746182"/>
              <a:ext cx="765662" cy="952500"/>
            </a:xfrm>
            <a:custGeom>
              <a:avLst/>
              <a:gdLst/>
              <a:ahLst/>
              <a:cxnLst/>
              <a:rect l="l" t="t" r="r" b="b"/>
              <a:pathLst>
                <a:path w="765662" h="952500">
                  <a:moveTo>
                    <a:pt x="765662" y="254317"/>
                  </a:moveTo>
                  <a:lnTo>
                    <a:pt x="511344" y="952500"/>
                  </a:lnTo>
                  <a:cubicBezTo>
                    <a:pt x="326157" y="885075"/>
                    <a:pt x="175346" y="746833"/>
                    <a:pt x="92102" y="568196"/>
                  </a:cubicBezTo>
                  <a:cubicBezTo>
                    <a:pt x="8857" y="389560"/>
                    <a:pt x="0" y="185168"/>
                    <a:pt x="67479" y="0"/>
                  </a:cubicBezTo>
                  <a:close/>
                </a:path>
              </a:pathLst>
            </a:custGeom>
            <a:solidFill>
              <a:srgbClr val="ED8776"/>
            </a:solidFill>
            <a:ln>
              <a:noFill/>
            </a:ln>
          </p:spPr>
        </p:sp>
        <p:sp>
          <p:nvSpPr>
            <p:cNvPr id="75" name="Freeform 75"/>
            <p:cNvSpPr/>
            <p:nvPr/>
          </p:nvSpPr>
          <p:spPr>
            <a:xfrm>
              <a:off x="9303068" y="3327082"/>
              <a:ext cx="698182" cy="673417"/>
            </a:xfrm>
            <a:custGeom>
              <a:avLst/>
              <a:gdLst/>
              <a:ahLst/>
              <a:cxnLst/>
              <a:rect l="l" t="t" r="r" b="b"/>
              <a:pathLst>
                <a:path w="698182" h="673417">
                  <a:moveTo>
                    <a:pt x="698182" y="673417"/>
                  </a:moveTo>
                  <a:lnTo>
                    <a:pt x="0" y="419100"/>
                  </a:lnTo>
                  <a:cubicBezTo>
                    <a:pt x="67352" y="234048"/>
                    <a:pt x="205418" y="83306"/>
                    <a:pt x="383857" y="0"/>
                  </a:cubicBezTo>
                  <a:close/>
                </a:path>
              </a:pathLst>
            </a:custGeom>
            <a:solidFill>
              <a:srgbClr val="D47D6B"/>
            </a:solidFill>
            <a:ln>
              <a:noFill/>
            </a:ln>
          </p:spPr>
        </p:sp>
        <p:sp>
          <p:nvSpPr>
            <p:cNvPr id="76" name="Freeform 76"/>
            <p:cNvSpPr/>
            <p:nvPr/>
          </p:nvSpPr>
          <p:spPr>
            <a:xfrm>
              <a:off x="9686925" y="3257476"/>
              <a:ext cx="314325" cy="743024"/>
            </a:xfrm>
            <a:custGeom>
              <a:avLst/>
              <a:gdLst/>
              <a:ahLst/>
              <a:cxnLst/>
              <a:rect l="l" t="t" r="r" b="b"/>
              <a:pathLst>
                <a:path w="314325" h="743024">
                  <a:moveTo>
                    <a:pt x="314325" y="743024"/>
                  </a:moveTo>
                  <a:lnTo>
                    <a:pt x="0" y="69606"/>
                  </a:lnTo>
                  <a:cubicBezTo>
                    <a:pt x="98434" y="23735"/>
                    <a:pt x="205727" y="0"/>
                    <a:pt x="314325" y="74"/>
                  </a:cubicBezTo>
                  <a:close/>
                </a:path>
              </a:pathLst>
            </a:custGeom>
            <a:solidFill>
              <a:srgbClr val="C1553F"/>
            </a:solidFill>
            <a:ln>
              <a:noFill/>
            </a:ln>
          </p:spPr>
        </p:sp>
        <p:sp>
          <p:nvSpPr>
            <p:cNvPr id="77" name="TextBox 77"/>
            <p:cNvSpPr txBox="1"/>
            <p:nvPr/>
          </p:nvSpPr>
          <p:spPr>
            <a:xfrm>
              <a:off x="8915645" y="3612356"/>
              <a:ext cx="304309"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75%</a:t>
              </a:r>
            </a:p>
          </p:txBody>
        </p:sp>
        <p:sp>
          <p:nvSpPr>
            <p:cNvPr id="78" name="TextBox 78"/>
            <p:cNvSpPr txBox="1"/>
            <p:nvPr/>
          </p:nvSpPr>
          <p:spPr>
            <a:xfrm>
              <a:off x="11144495" y="3269456"/>
              <a:ext cx="304309" cy="220028"/>
            </a:xfrm>
            <a:prstGeom prst="rect">
              <a:avLst/>
            </a:prstGeom>
            <a:noFill/>
            <a:ln>
              <a:noFill/>
            </a:ln>
          </p:spPr>
          <p:txBody>
            <a:bodyPr wrap="none" lIns="0" tIns="0" rIns="0" bIns="0" anchor="t" anchorCtr="0">
              <a:spAutoFit/>
            </a:bodyPr>
            <a:lstStyle/>
            <a:p>
              <a:pPr algn="ctr"/>
              <a:r>
                <a:rPr lang="zh-CN" sz="1120" b="1" dirty="0">
                  <a:solidFill>
                    <a:srgbClr val="E5624C"/>
                  </a:solidFill>
                  <a:latin typeface="+mn-lt"/>
                  <a:ea typeface="+mn-ea"/>
                  <a:cs typeface="+mn-cs"/>
                </a:rPr>
                <a:t>45%</a:t>
              </a:r>
            </a:p>
          </p:txBody>
        </p:sp>
        <p:sp>
          <p:nvSpPr>
            <p:cNvPr id="79" name="TextBox 79"/>
            <p:cNvSpPr txBox="1"/>
            <p:nvPr/>
          </p:nvSpPr>
          <p:spPr>
            <a:xfrm>
              <a:off x="11239745" y="4126706"/>
              <a:ext cx="304309"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20%</a:t>
              </a:r>
            </a:p>
          </p:txBody>
        </p:sp>
        <p:sp>
          <p:nvSpPr>
            <p:cNvPr id="80" name="TextBox 80"/>
            <p:cNvSpPr txBox="1"/>
            <p:nvPr/>
          </p:nvSpPr>
          <p:spPr>
            <a:xfrm>
              <a:off x="10826081" y="4926806"/>
              <a:ext cx="217237" cy="220028"/>
            </a:xfrm>
            <a:prstGeom prst="rect">
              <a:avLst/>
            </a:prstGeom>
            <a:noFill/>
            <a:ln>
              <a:noFill/>
            </a:ln>
          </p:spPr>
          <p:txBody>
            <a:bodyPr wrap="none" lIns="0" tIns="0" rIns="0" bIns="0" anchor="t" anchorCtr="0">
              <a:spAutoFit/>
            </a:bodyPr>
            <a:lstStyle/>
            <a:p>
              <a:pPr algn="ctr"/>
              <a:r>
                <a:rPr lang="zh-CN" sz="1120" b="1" dirty="0">
                  <a:solidFill>
                    <a:srgbClr val="E5624C"/>
                  </a:solidFill>
                  <a:latin typeface="+mn-lt"/>
                  <a:ea typeface="+mn-ea"/>
                  <a:cs typeface="+mn-cs"/>
                </a:rPr>
                <a:t>6%</a:t>
              </a:r>
            </a:p>
          </p:txBody>
        </p:sp>
        <p:sp>
          <p:nvSpPr>
            <p:cNvPr id="81" name="Rectangle 81"/>
            <p:cNvSpPr/>
            <p:nvPr/>
          </p:nvSpPr>
          <p:spPr>
            <a:xfrm>
              <a:off x="8782050" y="5334000"/>
              <a:ext cx="95250" cy="95250"/>
            </a:xfrm>
            <a:prstGeom prst="rect">
              <a:avLst/>
            </a:prstGeom>
            <a:solidFill>
              <a:srgbClr val="E0B3AA"/>
            </a:solidFill>
            <a:ln>
              <a:noFill/>
            </a:ln>
          </p:spPr>
        </p:sp>
        <p:sp>
          <p:nvSpPr>
            <p:cNvPr id="82" name="TextBox 82"/>
            <p:cNvSpPr txBox="1"/>
            <p:nvPr/>
          </p:nvSpPr>
          <p:spPr>
            <a:xfrm>
              <a:off x="8929688" y="534423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美妆</a:t>
              </a:r>
            </a:p>
          </p:txBody>
        </p:sp>
        <p:sp>
          <p:nvSpPr>
            <p:cNvPr id="83" name="Rectangle 83"/>
            <p:cNvSpPr/>
            <p:nvPr/>
          </p:nvSpPr>
          <p:spPr>
            <a:xfrm>
              <a:off x="9334500" y="5334000"/>
              <a:ext cx="95250" cy="95250"/>
            </a:xfrm>
            <a:prstGeom prst="rect">
              <a:avLst/>
            </a:prstGeom>
            <a:solidFill>
              <a:srgbClr val="ED8776"/>
            </a:solidFill>
            <a:ln>
              <a:noFill/>
            </a:ln>
          </p:spPr>
        </p:sp>
        <p:sp>
          <p:nvSpPr>
            <p:cNvPr id="84" name="TextBox 84"/>
            <p:cNvSpPr txBox="1"/>
            <p:nvPr/>
          </p:nvSpPr>
          <p:spPr>
            <a:xfrm>
              <a:off x="9482138" y="534423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科普</a:t>
              </a:r>
            </a:p>
          </p:txBody>
        </p:sp>
        <p:sp>
          <p:nvSpPr>
            <p:cNvPr id="85" name="Rectangle 85"/>
            <p:cNvSpPr/>
            <p:nvPr/>
          </p:nvSpPr>
          <p:spPr>
            <a:xfrm>
              <a:off x="9886950" y="5334000"/>
              <a:ext cx="95250" cy="95250"/>
            </a:xfrm>
            <a:prstGeom prst="rect">
              <a:avLst/>
            </a:prstGeom>
            <a:solidFill>
              <a:srgbClr val="D47D6B"/>
            </a:solidFill>
            <a:ln>
              <a:noFill/>
            </a:ln>
          </p:spPr>
        </p:sp>
        <p:sp>
          <p:nvSpPr>
            <p:cNvPr id="86" name="TextBox 86"/>
            <p:cNvSpPr txBox="1"/>
            <p:nvPr/>
          </p:nvSpPr>
          <p:spPr>
            <a:xfrm>
              <a:off x="10034588" y="534423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探店</a:t>
              </a:r>
            </a:p>
          </p:txBody>
        </p:sp>
        <p:sp>
          <p:nvSpPr>
            <p:cNvPr id="87" name="Rectangle 87"/>
            <p:cNvSpPr/>
            <p:nvPr/>
          </p:nvSpPr>
          <p:spPr>
            <a:xfrm>
              <a:off x="10439400" y="5334000"/>
              <a:ext cx="95250" cy="95250"/>
            </a:xfrm>
            <a:prstGeom prst="rect">
              <a:avLst/>
            </a:prstGeom>
            <a:solidFill>
              <a:srgbClr val="C1553F"/>
            </a:solidFill>
            <a:ln>
              <a:noFill/>
            </a:ln>
          </p:spPr>
        </p:sp>
        <p:sp>
          <p:nvSpPr>
            <p:cNvPr id="88" name="TextBox 88"/>
            <p:cNvSpPr txBox="1"/>
            <p:nvPr/>
          </p:nvSpPr>
          <p:spPr>
            <a:xfrm>
              <a:off x="10587038" y="534423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时尚</a:t>
              </a:r>
            </a:p>
          </p:txBody>
        </p:sp>
      </p:gr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032497" cy="440055"/>
            <a:chOff x="302895" y="214312"/>
            <a:chExt cx="2032497"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23.​</a:t>
              </a:r>
            </a:p>
          </p:txBody>
        </p:sp>
        <p:sp>
          <p:nvSpPr>
            <p:cNvPr id="3" name="TextBox 3"/>
            <p:cNvSpPr txBox="1"/>
            <p:nvPr/>
          </p:nvSpPr>
          <p:spPr>
            <a:xfrm>
              <a:off x="866394" y="246698"/>
              <a:ext cx="1468998"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品牌IP合作​</a:t>
              </a:r>
            </a:p>
          </p:txBody>
        </p:sp>
      </p:grpSp>
      <p:grpSp>
        <p:nvGrpSpPr>
          <p:cNvPr id="25" name="ip-center"/>
          <p:cNvGrpSpPr/>
          <p:nvPr/>
        </p:nvGrpSpPr>
        <p:grpSpPr>
          <a:xfrm>
            <a:off x="4349115" y="953452"/>
            <a:ext cx="3493770" cy="4491609"/>
            <a:chOff x="4349115" y="953452"/>
            <a:chExt cx="3493770" cy="4491609"/>
          </a:xfrm>
        </p:grpSpPr>
        <p:sp>
          <p:nvSpPr>
            <p:cNvPr id="5" name="TextBox 5"/>
            <p:cNvSpPr txBox="1"/>
            <p:nvPr/>
          </p:nvSpPr>
          <p:spPr>
            <a:xfrm>
              <a:off x="5949315" y="953452"/>
              <a:ext cx="293370" cy="205359"/>
            </a:xfrm>
            <a:prstGeom prst="rect">
              <a:avLst/>
            </a:prstGeom>
            <a:noFill/>
            <a:ln>
              <a:noFill/>
            </a:ln>
          </p:spPr>
          <p:txBody>
            <a:bodyPr wrap="none" lIns="0" tIns="0" rIns="0" bIns="0" anchor="t" anchorCtr="0">
              <a:spAutoFit/>
            </a:bodyPr>
            <a:lstStyle/>
            <a:p>
              <a:pPr algn="ctr"/>
              <a:r>
                <a:rPr lang="zh-CN" sz="1050" dirty="0">
                  <a:solidFill>
                    <a:srgbClr val="C1553F"/>
                  </a:solidFill>
                  <a:latin typeface="+mn-lt"/>
                  <a:ea typeface="+mn-ea"/>
                  <a:cs typeface="+mn-cs"/>
                </a:rPr>
                <a:t>小说</a:t>
              </a:r>
            </a:p>
          </p:txBody>
        </p:sp>
        <p:sp>
          <p:nvSpPr>
            <p:cNvPr id="6" name="TextBox 6"/>
            <p:cNvSpPr txBox="1"/>
            <p:nvPr/>
          </p:nvSpPr>
          <p:spPr>
            <a:xfrm>
              <a:off x="4349115" y="2001202"/>
              <a:ext cx="293370" cy="205359"/>
            </a:xfrm>
            <a:prstGeom prst="rect">
              <a:avLst/>
            </a:prstGeom>
            <a:noFill/>
            <a:ln>
              <a:noFill/>
            </a:ln>
          </p:spPr>
          <p:txBody>
            <a:bodyPr wrap="none" lIns="0" tIns="0" rIns="0" bIns="0" anchor="t" anchorCtr="0">
              <a:spAutoFit/>
            </a:bodyPr>
            <a:lstStyle/>
            <a:p>
              <a:pPr algn="ctr"/>
              <a:r>
                <a:rPr lang="zh-CN" sz="1050" dirty="0">
                  <a:solidFill>
                    <a:srgbClr val="C1553F"/>
                  </a:solidFill>
                  <a:latin typeface="+mn-lt"/>
                  <a:ea typeface="+mn-ea"/>
                  <a:cs typeface="+mn-cs"/>
                </a:rPr>
                <a:t>综艺</a:t>
              </a:r>
            </a:p>
          </p:txBody>
        </p:sp>
        <p:sp>
          <p:nvSpPr>
            <p:cNvPr id="7" name="TextBox 7"/>
            <p:cNvSpPr txBox="1"/>
            <p:nvPr/>
          </p:nvSpPr>
          <p:spPr>
            <a:xfrm>
              <a:off x="7549515" y="2001202"/>
              <a:ext cx="293370" cy="205359"/>
            </a:xfrm>
            <a:prstGeom prst="rect">
              <a:avLst/>
            </a:prstGeom>
            <a:noFill/>
            <a:ln>
              <a:noFill/>
            </a:ln>
          </p:spPr>
          <p:txBody>
            <a:bodyPr wrap="none" lIns="0" tIns="0" rIns="0" bIns="0" anchor="t" anchorCtr="0">
              <a:spAutoFit/>
            </a:bodyPr>
            <a:lstStyle/>
            <a:p>
              <a:pPr algn="ctr"/>
              <a:r>
                <a:rPr lang="zh-CN" sz="1050" dirty="0">
                  <a:solidFill>
                    <a:srgbClr val="C1553F"/>
                  </a:solidFill>
                  <a:latin typeface="+mn-lt"/>
                  <a:ea typeface="+mn-ea"/>
                  <a:cs typeface="+mn-cs"/>
                </a:rPr>
                <a:t>文化</a:t>
              </a:r>
            </a:p>
          </p:txBody>
        </p:sp>
        <p:sp>
          <p:nvSpPr>
            <p:cNvPr id="8" name="TextBox 8"/>
            <p:cNvSpPr txBox="1"/>
            <p:nvPr/>
          </p:nvSpPr>
          <p:spPr>
            <a:xfrm>
              <a:off x="4349115" y="4172902"/>
              <a:ext cx="293370" cy="205359"/>
            </a:xfrm>
            <a:prstGeom prst="rect">
              <a:avLst/>
            </a:prstGeom>
            <a:noFill/>
            <a:ln>
              <a:noFill/>
            </a:ln>
          </p:spPr>
          <p:txBody>
            <a:bodyPr wrap="none" lIns="0" tIns="0" rIns="0" bIns="0" anchor="t" anchorCtr="0">
              <a:spAutoFit/>
            </a:bodyPr>
            <a:lstStyle/>
            <a:p>
              <a:pPr algn="ctr"/>
              <a:r>
                <a:rPr lang="zh-CN" sz="1050" dirty="0">
                  <a:solidFill>
                    <a:srgbClr val="C1553F"/>
                  </a:solidFill>
                  <a:latin typeface="+mn-lt"/>
                  <a:ea typeface="+mn-ea"/>
                  <a:cs typeface="+mn-cs"/>
                </a:rPr>
                <a:t>游戏</a:t>
              </a:r>
            </a:p>
          </p:txBody>
        </p:sp>
        <p:sp>
          <p:nvSpPr>
            <p:cNvPr id="9" name="TextBox 9"/>
            <p:cNvSpPr txBox="1"/>
            <p:nvPr/>
          </p:nvSpPr>
          <p:spPr>
            <a:xfrm>
              <a:off x="7549515" y="4172902"/>
              <a:ext cx="293370" cy="205359"/>
            </a:xfrm>
            <a:prstGeom prst="rect">
              <a:avLst/>
            </a:prstGeom>
            <a:noFill/>
            <a:ln>
              <a:noFill/>
            </a:ln>
          </p:spPr>
          <p:txBody>
            <a:bodyPr wrap="none" lIns="0" tIns="0" rIns="0" bIns="0" anchor="t" anchorCtr="0">
              <a:spAutoFit/>
            </a:bodyPr>
            <a:lstStyle/>
            <a:p>
              <a:pPr algn="ctr"/>
              <a:r>
                <a:rPr lang="zh-CN" sz="1050" dirty="0">
                  <a:solidFill>
                    <a:srgbClr val="C1553F"/>
                  </a:solidFill>
                  <a:latin typeface="+mn-lt"/>
                  <a:ea typeface="+mn-ea"/>
                  <a:cs typeface="+mn-cs"/>
                </a:rPr>
                <a:t>音乐</a:t>
              </a:r>
            </a:p>
          </p:txBody>
        </p:sp>
        <p:sp>
          <p:nvSpPr>
            <p:cNvPr id="10" name="TextBox 10"/>
            <p:cNvSpPr txBox="1"/>
            <p:nvPr/>
          </p:nvSpPr>
          <p:spPr>
            <a:xfrm>
              <a:off x="5949315" y="5239702"/>
              <a:ext cx="293370" cy="205359"/>
            </a:xfrm>
            <a:prstGeom prst="rect">
              <a:avLst/>
            </a:prstGeom>
            <a:noFill/>
            <a:ln>
              <a:noFill/>
            </a:ln>
          </p:spPr>
          <p:txBody>
            <a:bodyPr wrap="none" lIns="0" tIns="0" rIns="0" bIns="0" anchor="t" anchorCtr="0">
              <a:spAutoFit/>
            </a:bodyPr>
            <a:lstStyle/>
            <a:p>
              <a:pPr algn="ctr"/>
              <a:r>
                <a:rPr lang="zh-CN" sz="1050" dirty="0">
                  <a:solidFill>
                    <a:srgbClr val="C1553F"/>
                  </a:solidFill>
                  <a:latin typeface="+mn-lt"/>
                  <a:ea typeface="+mn-ea"/>
                  <a:cs typeface="+mn-cs"/>
                </a:rPr>
                <a:t>漫画</a:t>
              </a:r>
            </a:p>
          </p:txBody>
        </p:sp>
        <p:sp>
          <p:nvSpPr>
            <p:cNvPr id="11" name="Line 11"/>
            <p:cNvSpPr/>
            <p:nvPr/>
          </p:nvSpPr>
          <p:spPr>
            <a:xfrm>
              <a:off x="6096000" y="1143000"/>
              <a:ext cx="9525" cy="1143000"/>
            </a:xfrm>
            <a:custGeom>
              <a:avLst/>
              <a:gdLst/>
              <a:ahLst/>
              <a:cxnLst/>
              <a:rect l="l" t="t" r="r" b="b"/>
              <a:pathLst>
                <a:path w="9525" h="1143000">
                  <a:moveTo>
                    <a:pt x="0" y="0"/>
                  </a:moveTo>
                  <a:lnTo>
                    <a:pt x="0" y="1143000"/>
                  </a:lnTo>
                </a:path>
              </a:pathLst>
            </a:custGeom>
            <a:noFill/>
            <a:ln w="14288">
              <a:solidFill>
                <a:srgbClr val="C9CFEA"/>
              </a:solidFill>
            </a:ln>
          </p:spPr>
        </p:sp>
        <p:sp>
          <p:nvSpPr>
            <p:cNvPr id="12" name="Line 12"/>
            <p:cNvSpPr/>
            <p:nvPr/>
          </p:nvSpPr>
          <p:spPr>
            <a:xfrm>
              <a:off x="4629150" y="2171700"/>
              <a:ext cx="800100" cy="590550"/>
            </a:xfrm>
            <a:custGeom>
              <a:avLst/>
              <a:gdLst/>
              <a:ahLst/>
              <a:cxnLst/>
              <a:rect l="l" t="t" r="r" b="b"/>
              <a:pathLst>
                <a:path w="800100" h="590550">
                  <a:moveTo>
                    <a:pt x="0" y="0"/>
                  </a:moveTo>
                  <a:lnTo>
                    <a:pt x="800100" y="590550"/>
                  </a:lnTo>
                </a:path>
              </a:pathLst>
            </a:custGeom>
            <a:noFill/>
            <a:ln w="14288">
              <a:solidFill>
                <a:srgbClr val="C9CFEA"/>
              </a:solidFill>
            </a:ln>
          </p:spPr>
        </p:sp>
        <p:sp>
          <p:nvSpPr>
            <p:cNvPr id="13" name="Line 13"/>
            <p:cNvSpPr/>
            <p:nvPr/>
          </p:nvSpPr>
          <p:spPr>
            <a:xfrm>
              <a:off x="6762750" y="2171700"/>
              <a:ext cx="800100" cy="590550"/>
            </a:xfrm>
            <a:custGeom>
              <a:avLst/>
              <a:gdLst/>
              <a:ahLst/>
              <a:cxnLst/>
              <a:rect l="l" t="t" r="r" b="b"/>
              <a:pathLst>
                <a:path w="800100" h="590550">
                  <a:moveTo>
                    <a:pt x="800100" y="0"/>
                  </a:moveTo>
                  <a:lnTo>
                    <a:pt x="0" y="590550"/>
                  </a:lnTo>
                </a:path>
              </a:pathLst>
            </a:custGeom>
            <a:noFill/>
            <a:ln w="14288">
              <a:solidFill>
                <a:srgbClr val="C9CFEA"/>
              </a:solidFill>
            </a:ln>
          </p:spPr>
        </p:sp>
        <p:sp>
          <p:nvSpPr>
            <p:cNvPr id="14" name="Line 14"/>
            <p:cNvSpPr/>
            <p:nvPr/>
          </p:nvSpPr>
          <p:spPr>
            <a:xfrm>
              <a:off x="4629150" y="3619500"/>
              <a:ext cx="800100" cy="590550"/>
            </a:xfrm>
            <a:custGeom>
              <a:avLst/>
              <a:gdLst/>
              <a:ahLst/>
              <a:cxnLst/>
              <a:rect l="l" t="t" r="r" b="b"/>
              <a:pathLst>
                <a:path w="800100" h="590550">
                  <a:moveTo>
                    <a:pt x="0" y="590550"/>
                  </a:moveTo>
                  <a:lnTo>
                    <a:pt x="800100" y="0"/>
                  </a:lnTo>
                </a:path>
              </a:pathLst>
            </a:custGeom>
            <a:noFill/>
            <a:ln w="14288">
              <a:solidFill>
                <a:srgbClr val="C9CFEA"/>
              </a:solidFill>
            </a:ln>
          </p:spPr>
        </p:sp>
        <p:sp>
          <p:nvSpPr>
            <p:cNvPr id="15" name="Line 15"/>
            <p:cNvSpPr/>
            <p:nvPr/>
          </p:nvSpPr>
          <p:spPr>
            <a:xfrm>
              <a:off x="6762750" y="3619500"/>
              <a:ext cx="800100" cy="590550"/>
            </a:xfrm>
            <a:custGeom>
              <a:avLst/>
              <a:gdLst/>
              <a:ahLst/>
              <a:cxnLst/>
              <a:rect l="l" t="t" r="r" b="b"/>
              <a:pathLst>
                <a:path w="800100" h="590550">
                  <a:moveTo>
                    <a:pt x="800100" y="590550"/>
                  </a:moveTo>
                  <a:lnTo>
                    <a:pt x="0" y="0"/>
                  </a:lnTo>
                </a:path>
              </a:pathLst>
            </a:custGeom>
            <a:noFill/>
            <a:ln w="14288">
              <a:solidFill>
                <a:srgbClr val="C9CFEA"/>
              </a:solidFill>
            </a:ln>
          </p:spPr>
        </p:sp>
        <p:sp>
          <p:nvSpPr>
            <p:cNvPr id="16" name="Line 16"/>
            <p:cNvSpPr/>
            <p:nvPr/>
          </p:nvSpPr>
          <p:spPr>
            <a:xfrm>
              <a:off x="6096000" y="4000500"/>
              <a:ext cx="9525" cy="1257300"/>
            </a:xfrm>
            <a:custGeom>
              <a:avLst/>
              <a:gdLst/>
              <a:ahLst/>
              <a:cxnLst/>
              <a:rect l="l" t="t" r="r" b="b"/>
              <a:pathLst>
                <a:path w="9525" h="1257300">
                  <a:moveTo>
                    <a:pt x="0" y="1257300"/>
                  </a:moveTo>
                  <a:lnTo>
                    <a:pt x="0" y="0"/>
                  </a:lnTo>
                </a:path>
              </a:pathLst>
            </a:custGeom>
            <a:noFill/>
            <a:ln w="14288">
              <a:solidFill>
                <a:srgbClr val="C9CFEA"/>
              </a:solidFill>
            </a:ln>
          </p:spPr>
        </p:sp>
        <p:sp>
          <p:nvSpPr>
            <p:cNvPr id="17" name="Freeform 17"/>
            <p:cNvSpPr/>
            <p:nvPr/>
          </p:nvSpPr>
          <p:spPr>
            <a:xfrm>
              <a:off x="5238750" y="2286000"/>
              <a:ext cx="1714500" cy="1714500"/>
            </a:xfrm>
            <a:prstGeom prst="hexagon">
              <a:avLst/>
            </a:prstGeom>
            <a:solidFill>
              <a:srgbClr val="C4624E"/>
            </a:solidFill>
            <a:ln>
              <a:noFill/>
            </a:ln>
          </p:spPr>
        </p:sp>
        <p:sp>
          <p:nvSpPr>
            <p:cNvPr id="18" name="TextBox 18"/>
            <p:cNvSpPr txBox="1"/>
            <p:nvPr/>
          </p:nvSpPr>
          <p:spPr>
            <a:xfrm>
              <a:off x="5869770" y="2901315"/>
              <a:ext cx="452460" cy="645414"/>
            </a:xfrm>
            <a:prstGeom prst="rect">
              <a:avLst/>
            </a:prstGeom>
            <a:noFill/>
            <a:ln>
              <a:noFill/>
            </a:ln>
          </p:spPr>
          <p:txBody>
            <a:bodyPr wrap="none" lIns="0" tIns="0" rIns="0" bIns="0" anchor="t" anchorCtr="0">
              <a:spAutoFit/>
            </a:bodyPr>
            <a:lstStyle/>
            <a:p>
              <a:pPr algn="ctr"/>
              <a:r>
                <a:rPr lang="en-US" sz="3300" b="1" dirty="0">
                  <a:solidFill>
                    <a:srgbClr val="FFFFFF"/>
                  </a:solidFill>
                  <a:latin typeface="+mn-lt"/>
                  <a:ea typeface="+mn-ea"/>
                  <a:cs typeface="+mn-cs"/>
                </a:rPr>
                <a:t>IP</a:t>
              </a:r>
            </a:p>
          </p:txBody>
        </p:sp>
        <p:sp>
          <p:nvSpPr>
            <p:cNvPr id="19" name="TextBox 19"/>
            <p:cNvSpPr txBox="1"/>
            <p:nvPr/>
          </p:nvSpPr>
          <p:spPr>
            <a:xfrm>
              <a:off x="5827192" y="24474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题材丰富</a:t>
              </a:r>
            </a:p>
          </p:txBody>
        </p:sp>
        <p:sp>
          <p:nvSpPr>
            <p:cNvPr id="20" name="TextBox 20"/>
            <p:cNvSpPr txBox="1"/>
            <p:nvPr/>
          </p:nvSpPr>
          <p:spPr>
            <a:xfrm>
              <a:off x="5805852" y="2632234"/>
              <a:ext cx="580296" cy="133350"/>
            </a:xfrm>
            <a:prstGeom prst="rect">
              <a:avLst/>
            </a:prstGeom>
            <a:noFill/>
            <a:ln>
              <a:noFill/>
            </a:ln>
          </p:spPr>
          <p:txBody>
            <a:bodyPr wrap="none" lIns="0" tIns="0" rIns="0" bIns="0" anchor="t" anchorCtr="0">
              <a:spAutoFit/>
            </a:bodyPr>
            <a:lstStyle/>
            <a:p>
              <a:pPr algn="ctr"/>
              <a:r>
                <a:rPr lang="en-US" sz="680" dirty="0">
                  <a:solidFill>
                    <a:srgbClr val="D5D9F5"/>
                  </a:solidFill>
                  <a:latin typeface="+mn-lt"/>
                  <a:ea typeface="+mn-ea"/>
                  <a:cs typeface="+mn-cs"/>
                </a:rPr>
                <a:t>Many themes</a:t>
              </a:r>
            </a:p>
          </p:txBody>
        </p:sp>
        <p:sp>
          <p:nvSpPr>
            <p:cNvPr id="21" name="TextBox 21"/>
            <p:cNvSpPr txBox="1"/>
            <p:nvPr/>
          </p:nvSpPr>
          <p:spPr>
            <a:xfrm>
              <a:off x="5220271" y="36366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粉丝忠诚</a:t>
              </a:r>
            </a:p>
          </p:txBody>
        </p:sp>
        <p:sp>
          <p:nvSpPr>
            <p:cNvPr id="22" name="TextBox 22"/>
            <p:cNvSpPr txBox="1"/>
            <p:nvPr/>
          </p:nvSpPr>
          <p:spPr>
            <a:xfrm>
              <a:off x="5259388" y="3802380"/>
              <a:ext cx="415925" cy="119062"/>
            </a:xfrm>
            <a:prstGeom prst="rect">
              <a:avLst/>
            </a:prstGeom>
            <a:noFill/>
            <a:ln>
              <a:noFill/>
            </a:ln>
          </p:spPr>
          <p:txBody>
            <a:bodyPr wrap="none" lIns="0" tIns="0" rIns="0" bIns="0" anchor="t" anchorCtr="0">
              <a:spAutoFit/>
            </a:bodyPr>
            <a:lstStyle/>
            <a:p>
              <a:pPr algn="ctr"/>
              <a:r>
                <a:rPr lang="en-US" sz="600" dirty="0">
                  <a:solidFill>
                    <a:srgbClr val="D5D9F5"/>
                  </a:solidFill>
                  <a:latin typeface="+mn-lt"/>
                  <a:ea typeface="+mn-ea"/>
                  <a:cs typeface="+mn-cs"/>
                </a:rPr>
                <a:t>Loyal fans</a:t>
              </a:r>
            </a:p>
          </p:txBody>
        </p:sp>
        <p:sp>
          <p:nvSpPr>
            <p:cNvPr id="23" name="TextBox 23"/>
            <p:cNvSpPr txBox="1"/>
            <p:nvPr/>
          </p:nvSpPr>
          <p:spPr>
            <a:xfrm>
              <a:off x="6496621" y="36366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高话题度</a:t>
              </a:r>
            </a:p>
          </p:txBody>
        </p:sp>
        <p:sp>
          <p:nvSpPr>
            <p:cNvPr id="24" name="TextBox 24"/>
            <p:cNvSpPr txBox="1"/>
            <p:nvPr/>
          </p:nvSpPr>
          <p:spPr>
            <a:xfrm>
              <a:off x="6545898" y="3802380"/>
              <a:ext cx="395605" cy="119062"/>
            </a:xfrm>
            <a:prstGeom prst="rect">
              <a:avLst/>
            </a:prstGeom>
            <a:noFill/>
            <a:ln>
              <a:noFill/>
            </a:ln>
          </p:spPr>
          <p:txBody>
            <a:bodyPr wrap="none" lIns="0" tIns="0" rIns="0" bIns="0" anchor="t" anchorCtr="0">
              <a:spAutoFit/>
            </a:bodyPr>
            <a:lstStyle/>
            <a:p>
              <a:pPr algn="ctr"/>
              <a:r>
                <a:rPr lang="en-US" sz="600" dirty="0">
                  <a:solidFill>
                    <a:srgbClr val="D5D9F5"/>
                  </a:solidFill>
                  <a:latin typeface="+mn-lt"/>
                  <a:ea typeface="+mn-ea"/>
                  <a:cs typeface="+mn-cs"/>
                </a:rPr>
                <a:t>High topic</a:t>
              </a:r>
            </a:p>
          </p:txBody>
        </p:sp>
      </p:grpSp>
      <p:grpSp>
        <p:nvGrpSpPr>
          <p:cNvPr id="42" name="ip-left-auth"/>
          <p:cNvGrpSpPr/>
          <p:nvPr/>
        </p:nvGrpSpPr>
        <p:grpSpPr>
          <a:xfrm>
            <a:off x="933450" y="1885950"/>
            <a:ext cx="3124200" cy="2485739"/>
            <a:chOff x="933450" y="1885950"/>
            <a:chExt cx="3124200" cy="2485739"/>
          </a:xfrm>
        </p:grpSpPr>
        <p:sp>
          <p:nvSpPr>
            <p:cNvPr id="26" name="Ellipse 26"/>
            <p:cNvSpPr/>
            <p:nvPr/>
          </p:nvSpPr>
          <p:spPr>
            <a:xfrm>
              <a:off x="933450" y="1885950"/>
              <a:ext cx="800100" cy="800100"/>
            </a:xfrm>
            <a:prstGeom prst="ellipse">
              <a:avLst/>
            </a:prstGeom>
            <a:solidFill>
              <a:srgbClr val="C4624E"/>
            </a:solidFill>
            <a:ln>
              <a:noFill/>
            </a:ln>
          </p:spPr>
        </p:sp>
        <p:grpSp>
          <p:nvGrpSpPr>
            <p:cNvPr id="31" name="Group 31"/>
            <p:cNvGrpSpPr/>
            <p:nvPr/>
          </p:nvGrpSpPr>
          <p:grpSpPr>
            <a:xfrm>
              <a:off x="1219200" y="2157412"/>
              <a:ext cx="228600" cy="257176"/>
              <a:chOff x="1219200" y="2157412"/>
              <a:chExt cx="228600" cy="257176"/>
            </a:xfrm>
          </p:grpSpPr>
          <p:sp>
            <p:nvSpPr>
              <p:cNvPr id="27" name="Freeform 27"/>
              <p:cNvSpPr/>
              <p:nvPr/>
            </p:nvSpPr>
            <p:spPr>
              <a:xfrm>
                <a:off x="1219200" y="2357438"/>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FFFFFF"/>
                </a:solidFill>
              </a:ln>
            </p:spPr>
          </p:sp>
          <p:sp>
            <p:nvSpPr>
              <p:cNvPr id="28" name="Freeform 28"/>
              <p:cNvSpPr/>
              <p:nvPr/>
            </p:nvSpPr>
            <p:spPr>
              <a:xfrm>
                <a:off x="1376362" y="2357438"/>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FFFFFF"/>
                </a:solidFill>
              </a:ln>
            </p:spPr>
          </p:sp>
          <p:sp>
            <p:nvSpPr>
              <p:cNvPr id="29" name="Freeform 29"/>
              <p:cNvSpPr/>
              <p:nvPr/>
            </p:nvSpPr>
            <p:spPr>
              <a:xfrm>
                <a:off x="1219200" y="2157412"/>
                <a:ext cx="185738" cy="200025"/>
              </a:xfrm>
              <a:custGeom>
                <a:avLst/>
                <a:gdLst/>
                <a:ahLst/>
                <a:cxnLst/>
                <a:rect l="l" t="t" r="r" b="b"/>
                <a:pathLst>
                  <a:path w="185738" h="200025">
                    <a:moveTo>
                      <a:pt x="185738" y="200025"/>
                    </a:moveTo>
                    <a:lnTo>
                      <a:pt x="28575" y="200025"/>
                    </a:lnTo>
                    <a:lnTo>
                      <a:pt x="28575" y="0"/>
                    </a:lnTo>
                    <a:lnTo>
                      <a:pt x="0" y="0"/>
                    </a:lnTo>
                  </a:path>
                </a:pathLst>
              </a:custGeom>
              <a:noFill/>
              <a:ln w="28575">
                <a:solidFill>
                  <a:srgbClr val="FFFFFF"/>
                </a:solidFill>
              </a:ln>
            </p:spPr>
          </p:sp>
          <p:sp>
            <p:nvSpPr>
              <p:cNvPr id="30" name="Freeform 30"/>
              <p:cNvSpPr/>
              <p:nvPr/>
            </p:nvSpPr>
            <p:spPr>
              <a:xfrm>
                <a:off x="1247775" y="2185988"/>
                <a:ext cx="200025" cy="114300"/>
              </a:xfrm>
              <a:custGeom>
                <a:avLst/>
                <a:gdLst/>
                <a:ahLst/>
                <a:cxnLst/>
                <a:rect l="l" t="t" r="r" b="b"/>
                <a:pathLst>
                  <a:path w="200025" h="114300">
                    <a:moveTo>
                      <a:pt x="0" y="0"/>
                    </a:moveTo>
                    <a:lnTo>
                      <a:pt x="200025" y="14288"/>
                    </a:lnTo>
                    <a:lnTo>
                      <a:pt x="185738" y="114300"/>
                    </a:lnTo>
                    <a:lnTo>
                      <a:pt x="0" y="114300"/>
                    </a:lnTo>
                  </a:path>
                </a:pathLst>
              </a:custGeom>
              <a:noFill/>
              <a:ln w="28575">
                <a:solidFill>
                  <a:srgbClr val="FFFFFF"/>
                </a:solidFill>
              </a:ln>
            </p:spPr>
          </p:sp>
        </p:grpSp>
        <p:sp>
          <p:nvSpPr>
            <p:cNvPr id="32" name="TextBox 32"/>
            <p:cNvSpPr txBox="1"/>
            <p:nvPr/>
          </p:nvSpPr>
          <p:spPr>
            <a:xfrm>
              <a:off x="1064692" y="2790349"/>
              <a:ext cx="537616" cy="190690"/>
            </a:xfrm>
            <a:prstGeom prst="rect">
              <a:avLst/>
            </a:prstGeom>
            <a:noFill/>
            <a:ln>
              <a:noFill/>
            </a:ln>
          </p:spPr>
          <p:txBody>
            <a:bodyPr wrap="none" lIns="0" tIns="0" rIns="0" bIns="0" anchor="t" anchorCtr="0">
              <a:spAutoFit/>
            </a:bodyPr>
            <a:lstStyle/>
            <a:p>
              <a:pPr algn="ctr"/>
              <a:r>
                <a:rPr lang="zh-CN" sz="980" dirty="0">
                  <a:solidFill>
                    <a:srgbClr val="705F5B"/>
                  </a:solidFill>
                  <a:latin typeface="+mn-lt"/>
                  <a:ea typeface="+mn-ea"/>
                  <a:cs typeface="+mn-cs"/>
                </a:rPr>
                <a:t>商品授权</a:t>
              </a:r>
            </a:p>
          </p:txBody>
        </p:sp>
        <p:sp>
          <p:nvSpPr>
            <p:cNvPr id="33" name="Ellipse 33"/>
            <p:cNvSpPr/>
            <p:nvPr/>
          </p:nvSpPr>
          <p:spPr>
            <a:xfrm>
              <a:off x="933450" y="3276600"/>
              <a:ext cx="800100" cy="800100"/>
            </a:xfrm>
            <a:prstGeom prst="ellipse">
              <a:avLst/>
            </a:prstGeom>
            <a:solidFill>
              <a:srgbClr val="C4624E"/>
            </a:solidFill>
            <a:ln>
              <a:noFill/>
            </a:ln>
          </p:spPr>
        </p:sp>
        <p:sp>
          <p:nvSpPr>
            <p:cNvPr id="34" name="Freeform 34"/>
            <p:cNvSpPr/>
            <p:nvPr/>
          </p:nvSpPr>
          <p:spPr>
            <a:xfrm>
              <a:off x="1190282" y="3551277"/>
              <a:ext cx="285236" cy="252846"/>
            </a:xfrm>
            <a:custGeom>
              <a:avLst/>
              <a:gdLst/>
              <a:ahLst/>
              <a:cxnLst/>
              <a:rect l="l" t="t" r="r" b="b"/>
              <a:pathLst>
                <a:path w="285236" h="252846">
                  <a:moveTo>
                    <a:pt x="14630" y="239673"/>
                  </a:moveTo>
                  <a:lnTo>
                    <a:pt x="33204" y="183952"/>
                  </a:lnTo>
                  <a:cubicBezTo>
                    <a:pt x="0" y="134845"/>
                    <a:pt x="12830" y="71480"/>
                    <a:pt x="63208" y="35733"/>
                  </a:cubicBezTo>
                  <a:cubicBezTo>
                    <a:pt x="113586" y="0"/>
                    <a:pt x="185938" y="2929"/>
                    <a:pt x="232443" y="42591"/>
                  </a:cubicBezTo>
                  <a:cubicBezTo>
                    <a:pt x="278949" y="82267"/>
                    <a:pt x="285236" y="146404"/>
                    <a:pt x="247145" y="192624"/>
                  </a:cubicBezTo>
                  <a:cubicBezTo>
                    <a:pt x="209055" y="238844"/>
                    <a:pt x="138346" y="252846"/>
                    <a:pt x="81782" y="225385"/>
                  </a:cubicBezTo>
                  <a:lnTo>
                    <a:pt x="14630" y="239673"/>
                  </a:lnTo>
                </a:path>
              </a:pathLst>
            </a:custGeom>
            <a:noFill/>
            <a:ln w="28575">
              <a:solidFill>
                <a:srgbClr val="FFFFFF"/>
              </a:solidFill>
            </a:ln>
          </p:spPr>
        </p:sp>
        <p:sp>
          <p:nvSpPr>
            <p:cNvPr id="35" name="TextBox 35"/>
            <p:cNvSpPr txBox="1"/>
            <p:nvPr/>
          </p:nvSpPr>
          <p:spPr>
            <a:xfrm>
              <a:off x="1130656" y="4180999"/>
              <a:ext cx="405689" cy="190690"/>
            </a:xfrm>
            <a:prstGeom prst="rect">
              <a:avLst/>
            </a:prstGeom>
            <a:noFill/>
            <a:ln>
              <a:noFill/>
            </a:ln>
          </p:spPr>
          <p:txBody>
            <a:bodyPr wrap="none" lIns="0" tIns="0" rIns="0" bIns="0" anchor="t" anchorCtr="0">
              <a:spAutoFit/>
            </a:bodyPr>
            <a:lstStyle/>
            <a:p>
              <a:pPr algn="ctr"/>
              <a:r>
                <a:rPr lang="zh-CN" sz="980" dirty="0">
                  <a:solidFill>
                    <a:srgbClr val="705F5B"/>
                  </a:solidFill>
                  <a:latin typeface="+mn-lt"/>
                  <a:ea typeface="+mn-ea"/>
                  <a:cs typeface="+mn-cs"/>
                </a:rPr>
                <a:t>传播权</a:t>
              </a:r>
            </a:p>
          </p:txBody>
        </p:sp>
        <p:sp>
          <p:nvSpPr>
            <p:cNvPr id="36" name="Rectangle 36"/>
            <p:cNvSpPr/>
            <p:nvPr/>
          </p:nvSpPr>
          <p:spPr>
            <a:xfrm>
              <a:off x="2400300" y="2114550"/>
              <a:ext cx="914400" cy="266700"/>
            </a:xfrm>
            <a:prstGeom prst="roundRect">
              <a:avLst>
                <a:gd name="adj" fmla="val 50000"/>
              </a:avLst>
            </a:prstGeom>
            <a:solidFill>
              <a:srgbClr val="E5624C"/>
            </a:solidFill>
            <a:ln>
              <a:noFill/>
            </a:ln>
          </p:spPr>
        </p:sp>
        <p:sp>
          <p:nvSpPr>
            <p:cNvPr id="37" name="TextBox 37"/>
            <p:cNvSpPr txBox="1"/>
            <p:nvPr/>
          </p:nvSpPr>
          <p:spPr>
            <a:xfrm>
              <a:off x="2620320" y="2190274"/>
              <a:ext cx="47436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IP授权​</a:t>
              </a:r>
            </a:p>
          </p:txBody>
        </p:sp>
        <p:sp>
          <p:nvSpPr>
            <p:cNvPr id="38" name="Rectangle 38"/>
            <p:cNvSpPr/>
            <p:nvPr/>
          </p:nvSpPr>
          <p:spPr>
            <a:xfrm>
              <a:off x="2190750" y="2533650"/>
              <a:ext cx="1866900" cy="1047750"/>
            </a:xfrm>
            <a:prstGeom prst="roundRect">
              <a:avLst>
                <a:gd name="adj" fmla="val 3636"/>
              </a:avLst>
            </a:prstGeom>
            <a:solidFill>
              <a:srgbClr val="FFFFFF"/>
            </a:solidFill>
            <a:ln w="9525">
              <a:solidFill>
                <a:srgbClr val="EDD5CD"/>
              </a:solidFill>
            </a:ln>
          </p:spPr>
        </p:sp>
        <p:sp>
          <p:nvSpPr>
            <p:cNvPr id="39" name="TextBox 39"/>
            <p:cNvSpPr txBox="1"/>
            <p:nvPr/>
          </p:nvSpPr>
          <p:spPr>
            <a:xfrm>
              <a:off x="2619713" y="2737247"/>
              <a:ext cx="1008974" cy="183356"/>
            </a:xfrm>
            <a:prstGeom prst="rect">
              <a:avLst/>
            </a:prstGeom>
            <a:noFill/>
            <a:ln>
              <a:noFill/>
            </a:ln>
          </p:spPr>
          <p:txBody>
            <a:bodyPr wrap="none" lIns="0" tIns="0" rIns="0" bIns="0" anchor="t" anchorCtr="0">
              <a:spAutoFit/>
            </a:bodyPr>
            <a:lstStyle/>
            <a:p>
              <a:pPr algn="ctr"/>
              <a:r>
                <a:rPr lang="zh-CN" sz="940" dirty="0">
                  <a:solidFill>
                    <a:srgbClr val="705F5B"/>
                  </a:solidFill>
                  <a:latin typeface="+mn-lt"/>
                  <a:ea typeface="+mn-ea"/>
                  <a:cs typeface="+mn-cs"/>
                </a:rPr>
                <a:t>将用户对IP的喜爱</a:t>
              </a:r>
            </a:p>
          </p:txBody>
        </p:sp>
        <p:sp>
          <p:nvSpPr>
            <p:cNvPr id="40" name="TextBox 40"/>
            <p:cNvSpPr txBox="1"/>
            <p:nvPr/>
          </p:nvSpPr>
          <p:spPr>
            <a:xfrm>
              <a:off x="2549995" y="2965847"/>
              <a:ext cx="1148410" cy="183356"/>
            </a:xfrm>
            <a:prstGeom prst="rect">
              <a:avLst/>
            </a:prstGeom>
            <a:noFill/>
            <a:ln>
              <a:noFill/>
            </a:ln>
          </p:spPr>
          <p:txBody>
            <a:bodyPr wrap="none" lIns="0" tIns="0" rIns="0" bIns="0" anchor="t" anchorCtr="0">
              <a:spAutoFit/>
            </a:bodyPr>
            <a:lstStyle/>
            <a:p>
              <a:pPr algn="ctr"/>
              <a:r>
                <a:rPr lang="zh-CN" sz="940" dirty="0">
                  <a:solidFill>
                    <a:srgbClr val="705F5B"/>
                  </a:solidFill>
                  <a:latin typeface="+mn-lt"/>
                  <a:ea typeface="+mn-ea"/>
                  <a:cs typeface="+mn-cs"/>
                </a:rPr>
                <a:t>转嫁给商品直接拉动</a:t>
              </a:r>
            </a:p>
          </p:txBody>
        </p:sp>
        <p:sp>
          <p:nvSpPr>
            <p:cNvPr id="41" name="TextBox 41"/>
            <p:cNvSpPr txBox="1"/>
            <p:nvPr/>
          </p:nvSpPr>
          <p:spPr>
            <a:xfrm>
              <a:off x="2866352" y="3194447"/>
              <a:ext cx="515696" cy="183356"/>
            </a:xfrm>
            <a:prstGeom prst="rect">
              <a:avLst/>
            </a:prstGeom>
            <a:noFill/>
            <a:ln>
              <a:noFill/>
            </a:ln>
          </p:spPr>
          <p:txBody>
            <a:bodyPr wrap="none" lIns="0" tIns="0" rIns="0" bIns="0" anchor="t" anchorCtr="0">
              <a:spAutoFit/>
            </a:bodyPr>
            <a:lstStyle/>
            <a:p>
              <a:pPr algn="ctr"/>
              <a:r>
                <a:rPr lang="zh-CN" sz="940" dirty="0">
                  <a:solidFill>
                    <a:srgbClr val="705F5B"/>
                  </a:solidFill>
                  <a:latin typeface="+mn-lt"/>
                  <a:ea typeface="+mn-ea"/>
                  <a:cs typeface="+mn-cs"/>
                </a:rPr>
                <a:t>消费转化</a:t>
              </a:r>
            </a:p>
          </p:txBody>
        </p:sp>
      </p:grpSp>
      <p:grpSp>
        <p:nvGrpSpPr>
          <p:cNvPr id="63" name="ip-right-integrate"/>
          <p:cNvGrpSpPr/>
          <p:nvPr/>
        </p:nvGrpSpPr>
        <p:grpSpPr>
          <a:xfrm>
            <a:off x="8134350" y="1885950"/>
            <a:ext cx="3124200" cy="2485739"/>
            <a:chOff x="8134350" y="1885950"/>
            <a:chExt cx="3124200" cy="2485739"/>
          </a:xfrm>
        </p:grpSpPr>
        <p:sp>
          <p:nvSpPr>
            <p:cNvPr id="43" name="Ellipse 43"/>
            <p:cNvSpPr/>
            <p:nvPr/>
          </p:nvSpPr>
          <p:spPr>
            <a:xfrm>
              <a:off x="10458450" y="1885950"/>
              <a:ext cx="800100" cy="800100"/>
            </a:xfrm>
            <a:prstGeom prst="ellipse">
              <a:avLst/>
            </a:prstGeom>
            <a:solidFill>
              <a:srgbClr val="C4624E"/>
            </a:solidFill>
            <a:ln>
              <a:noFill/>
            </a:ln>
          </p:spPr>
        </p:sp>
        <p:grpSp>
          <p:nvGrpSpPr>
            <p:cNvPr id="47" name="Group 47"/>
            <p:cNvGrpSpPr/>
            <p:nvPr/>
          </p:nvGrpSpPr>
          <p:grpSpPr>
            <a:xfrm>
              <a:off x="10758488" y="2157412"/>
              <a:ext cx="200025" cy="257176"/>
              <a:chOff x="10758488" y="2157412"/>
              <a:chExt cx="200025" cy="257176"/>
            </a:xfrm>
          </p:grpSpPr>
          <p:sp>
            <p:nvSpPr>
              <p:cNvPr id="44" name="Freeform 44"/>
              <p:cNvSpPr/>
              <p:nvPr/>
            </p:nvSpPr>
            <p:spPr>
              <a:xfrm>
                <a:off x="10758488" y="2243138"/>
                <a:ext cx="200025" cy="171450"/>
              </a:xfrm>
              <a:custGeom>
                <a:avLst/>
                <a:gdLst/>
                <a:ahLst/>
                <a:cxnLst/>
                <a:rect l="l" t="t" r="r" b="b"/>
                <a:pathLst>
                  <a:path w="200025" h="171450">
                    <a:moveTo>
                      <a:pt x="42862" y="0"/>
                    </a:moveTo>
                    <a:lnTo>
                      <a:pt x="28575" y="0"/>
                    </a:lnTo>
                    <a:cubicBezTo>
                      <a:pt x="12793" y="0"/>
                      <a:pt x="0" y="12793"/>
                      <a:pt x="0" y="28575"/>
                    </a:cubicBezTo>
                    <a:lnTo>
                      <a:pt x="0" y="142875"/>
                    </a:lnTo>
                    <a:cubicBezTo>
                      <a:pt x="0" y="158657"/>
                      <a:pt x="12793" y="171450"/>
                      <a:pt x="28575" y="171450"/>
                    </a:cubicBezTo>
                    <a:lnTo>
                      <a:pt x="171450" y="171450"/>
                    </a:lnTo>
                    <a:cubicBezTo>
                      <a:pt x="187232" y="171450"/>
                      <a:pt x="200025" y="158657"/>
                      <a:pt x="200025" y="142875"/>
                    </a:cubicBezTo>
                    <a:lnTo>
                      <a:pt x="200025" y="28575"/>
                    </a:lnTo>
                    <a:cubicBezTo>
                      <a:pt x="200025" y="12793"/>
                      <a:pt x="187232" y="0"/>
                      <a:pt x="171450" y="0"/>
                    </a:cubicBezTo>
                    <a:lnTo>
                      <a:pt x="157162" y="0"/>
                    </a:lnTo>
                  </a:path>
                </a:pathLst>
              </a:custGeom>
              <a:noFill/>
              <a:ln w="28575">
                <a:solidFill>
                  <a:srgbClr val="FFFFFF"/>
                </a:solidFill>
              </a:ln>
            </p:spPr>
          </p:sp>
          <p:sp>
            <p:nvSpPr>
              <p:cNvPr id="45" name="Freeform 45"/>
              <p:cNvSpPr/>
              <p:nvPr/>
            </p:nvSpPr>
            <p:spPr>
              <a:xfrm>
                <a:off x="10858500" y="2157412"/>
                <a:ext cx="9525" cy="157162"/>
              </a:xfrm>
              <a:custGeom>
                <a:avLst/>
                <a:gdLst/>
                <a:ahLst/>
                <a:cxnLst/>
                <a:rect l="l" t="t" r="r" b="b"/>
                <a:pathLst>
                  <a:path w="9525" h="157162">
                    <a:moveTo>
                      <a:pt x="0" y="157162"/>
                    </a:moveTo>
                    <a:lnTo>
                      <a:pt x="0" y="0"/>
                    </a:lnTo>
                  </a:path>
                </a:pathLst>
              </a:custGeom>
              <a:noFill/>
              <a:ln w="28575">
                <a:solidFill>
                  <a:srgbClr val="FFFFFF"/>
                </a:solidFill>
              </a:ln>
            </p:spPr>
          </p:sp>
          <p:sp>
            <p:nvSpPr>
              <p:cNvPr id="46" name="Freeform 46"/>
              <p:cNvSpPr/>
              <p:nvPr/>
            </p:nvSpPr>
            <p:spPr>
              <a:xfrm>
                <a:off x="10815638" y="2157412"/>
                <a:ext cx="85725" cy="42862"/>
              </a:xfrm>
              <a:custGeom>
                <a:avLst/>
                <a:gdLst/>
                <a:ahLst/>
                <a:cxnLst/>
                <a:rect l="l" t="t" r="r" b="b"/>
                <a:pathLst>
                  <a:path w="85725" h="42862">
                    <a:moveTo>
                      <a:pt x="0" y="42862"/>
                    </a:moveTo>
                    <a:lnTo>
                      <a:pt x="42862" y="0"/>
                    </a:lnTo>
                    <a:lnTo>
                      <a:pt x="85725" y="42862"/>
                    </a:lnTo>
                  </a:path>
                </a:pathLst>
              </a:custGeom>
              <a:noFill/>
              <a:ln w="28575">
                <a:solidFill>
                  <a:srgbClr val="FFFFFF"/>
                </a:solidFill>
              </a:ln>
            </p:spPr>
          </p:sp>
        </p:grpSp>
        <p:sp>
          <p:nvSpPr>
            <p:cNvPr id="48" name="TextBox 48"/>
            <p:cNvSpPr txBox="1"/>
            <p:nvPr/>
          </p:nvSpPr>
          <p:spPr>
            <a:xfrm>
              <a:off x="10589692" y="2790349"/>
              <a:ext cx="537616" cy="190690"/>
            </a:xfrm>
            <a:prstGeom prst="rect">
              <a:avLst/>
            </a:prstGeom>
            <a:noFill/>
            <a:ln>
              <a:noFill/>
            </a:ln>
          </p:spPr>
          <p:txBody>
            <a:bodyPr wrap="none" lIns="0" tIns="0" rIns="0" bIns="0" anchor="t" anchorCtr="0">
              <a:spAutoFit/>
            </a:bodyPr>
            <a:lstStyle/>
            <a:p>
              <a:pPr algn="ctr"/>
              <a:r>
                <a:rPr lang="zh-CN" sz="980" dirty="0">
                  <a:solidFill>
                    <a:srgbClr val="705F5B"/>
                  </a:solidFill>
                  <a:latin typeface="+mn-lt"/>
                  <a:ea typeface="+mn-ea"/>
                  <a:cs typeface="+mn-cs"/>
                </a:rPr>
                <a:t>全域营销</a:t>
              </a:r>
            </a:p>
          </p:txBody>
        </p:sp>
        <p:sp>
          <p:nvSpPr>
            <p:cNvPr id="49" name="Ellipse 49"/>
            <p:cNvSpPr/>
            <p:nvPr/>
          </p:nvSpPr>
          <p:spPr>
            <a:xfrm>
              <a:off x="10458450" y="3276600"/>
              <a:ext cx="800100" cy="800100"/>
            </a:xfrm>
            <a:prstGeom prst="ellipse">
              <a:avLst/>
            </a:prstGeom>
            <a:solidFill>
              <a:srgbClr val="C4624E"/>
            </a:solidFill>
            <a:ln>
              <a:noFill/>
            </a:ln>
          </p:spPr>
        </p:sp>
        <p:grpSp>
          <p:nvGrpSpPr>
            <p:cNvPr id="55" name="Group 55"/>
            <p:cNvGrpSpPr/>
            <p:nvPr/>
          </p:nvGrpSpPr>
          <p:grpSpPr>
            <a:xfrm>
              <a:off x="10758488" y="3548062"/>
              <a:ext cx="200025" cy="257175"/>
              <a:chOff x="10758488" y="3548062"/>
              <a:chExt cx="200025" cy="257175"/>
            </a:xfrm>
          </p:grpSpPr>
          <p:sp>
            <p:nvSpPr>
              <p:cNvPr id="50" name="Freeform 50"/>
              <p:cNvSpPr/>
              <p:nvPr/>
            </p:nvSpPr>
            <p:spPr>
              <a:xfrm>
                <a:off x="10887075" y="3548062"/>
                <a:ext cx="71438" cy="71438"/>
              </a:xfrm>
              <a:custGeom>
                <a:avLst/>
                <a:gdLst/>
                <a:ahLst/>
                <a:cxnLst/>
                <a:rect l="l" t="t" r="r" b="b"/>
                <a:pathLst>
                  <a:path w="71438" h="71438">
                    <a:moveTo>
                      <a:pt x="0" y="0"/>
                    </a:moveTo>
                    <a:lnTo>
                      <a:pt x="0" y="57150"/>
                    </a:lnTo>
                    <a:cubicBezTo>
                      <a:pt x="0" y="65041"/>
                      <a:pt x="6397" y="71438"/>
                      <a:pt x="14288" y="71438"/>
                    </a:cubicBezTo>
                    <a:lnTo>
                      <a:pt x="71438" y="71438"/>
                    </a:lnTo>
                  </a:path>
                </a:pathLst>
              </a:custGeom>
              <a:noFill/>
              <a:ln w="28575">
                <a:solidFill>
                  <a:srgbClr val="FFFFFF"/>
                </a:solidFill>
              </a:ln>
            </p:spPr>
          </p:sp>
          <p:sp>
            <p:nvSpPr>
              <p:cNvPr id="51" name="Freeform 51"/>
              <p:cNvSpPr/>
              <p:nvPr/>
            </p:nvSpPr>
            <p:spPr>
              <a:xfrm>
                <a:off x="10758488" y="3548062"/>
                <a:ext cx="200025" cy="257175"/>
              </a:xfrm>
              <a:custGeom>
                <a:avLst/>
                <a:gdLst/>
                <a:ahLst/>
                <a:cxnLst/>
                <a:rect l="l" t="t" r="r" b="b"/>
                <a:pathLst>
                  <a:path w="200025" h="257175">
                    <a:moveTo>
                      <a:pt x="171450" y="257175"/>
                    </a:moveTo>
                    <a:lnTo>
                      <a:pt x="28575" y="257175"/>
                    </a:lnTo>
                    <a:cubicBezTo>
                      <a:pt x="12793" y="257175"/>
                      <a:pt x="0" y="244382"/>
                      <a:pt x="0" y="228600"/>
                    </a:cubicBezTo>
                    <a:lnTo>
                      <a:pt x="0" y="28575"/>
                    </a:lnTo>
                    <a:cubicBezTo>
                      <a:pt x="0" y="12793"/>
                      <a:pt x="12793" y="0"/>
                      <a:pt x="28575" y="0"/>
                    </a:cubicBezTo>
                    <a:lnTo>
                      <a:pt x="128588" y="0"/>
                    </a:lnTo>
                    <a:lnTo>
                      <a:pt x="200025" y="71438"/>
                    </a:lnTo>
                    <a:lnTo>
                      <a:pt x="200025" y="228600"/>
                    </a:lnTo>
                    <a:cubicBezTo>
                      <a:pt x="200025" y="244382"/>
                      <a:pt x="187232" y="257175"/>
                      <a:pt x="171450" y="257175"/>
                    </a:cubicBezTo>
                  </a:path>
                </a:pathLst>
              </a:custGeom>
              <a:noFill/>
              <a:ln w="28575">
                <a:solidFill>
                  <a:srgbClr val="FFFFFF"/>
                </a:solidFill>
              </a:ln>
            </p:spPr>
          </p:sp>
          <p:sp>
            <p:nvSpPr>
              <p:cNvPr id="52" name="Freeform 52"/>
              <p:cNvSpPr/>
              <p:nvPr/>
            </p:nvSpPr>
            <p:spPr>
              <a:xfrm>
                <a:off x="10815638" y="3633788"/>
                <a:ext cx="14288" cy="9525"/>
              </a:xfrm>
              <a:custGeom>
                <a:avLst/>
                <a:gdLst/>
                <a:ahLst/>
                <a:cxnLst/>
                <a:rect l="l" t="t" r="r" b="b"/>
                <a:pathLst>
                  <a:path w="14288" h="9525">
                    <a:moveTo>
                      <a:pt x="0" y="0"/>
                    </a:moveTo>
                    <a:lnTo>
                      <a:pt x="14288" y="0"/>
                    </a:lnTo>
                  </a:path>
                </a:pathLst>
              </a:custGeom>
              <a:noFill/>
              <a:ln w="28575">
                <a:solidFill>
                  <a:srgbClr val="FFFFFF"/>
                </a:solidFill>
              </a:ln>
            </p:spPr>
          </p:sp>
          <p:sp>
            <p:nvSpPr>
              <p:cNvPr id="53" name="Freeform 53"/>
              <p:cNvSpPr/>
              <p:nvPr/>
            </p:nvSpPr>
            <p:spPr>
              <a:xfrm>
                <a:off x="10815638" y="3690938"/>
                <a:ext cx="85725" cy="9525"/>
              </a:xfrm>
              <a:custGeom>
                <a:avLst/>
                <a:gdLst/>
                <a:ahLst/>
                <a:cxnLst/>
                <a:rect l="l" t="t" r="r" b="b"/>
                <a:pathLst>
                  <a:path w="85725" h="9525">
                    <a:moveTo>
                      <a:pt x="0" y="0"/>
                    </a:moveTo>
                    <a:lnTo>
                      <a:pt x="85725" y="0"/>
                    </a:lnTo>
                  </a:path>
                </a:pathLst>
              </a:custGeom>
              <a:noFill/>
              <a:ln w="28575">
                <a:solidFill>
                  <a:srgbClr val="FFFFFF"/>
                </a:solidFill>
              </a:ln>
            </p:spPr>
          </p:sp>
          <p:sp>
            <p:nvSpPr>
              <p:cNvPr id="54" name="Freeform 54"/>
              <p:cNvSpPr/>
              <p:nvPr/>
            </p:nvSpPr>
            <p:spPr>
              <a:xfrm>
                <a:off x="10815638" y="3748088"/>
                <a:ext cx="85725" cy="9525"/>
              </a:xfrm>
              <a:custGeom>
                <a:avLst/>
                <a:gdLst/>
                <a:ahLst/>
                <a:cxnLst/>
                <a:rect l="l" t="t" r="r" b="b"/>
                <a:pathLst>
                  <a:path w="85725" h="9525">
                    <a:moveTo>
                      <a:pt x="0" y="0"/>
                    </a:moveTo>
                    <a:lnTo>
                      <a:pt x="85725" y="0"/>
                    </a:lnTo>
                  </a:path>
                </a:pathLst>
              </a:custGeom>
              <a:noFill/>
              <a:ln w="28575">
                <a:solidFill>
                  <a:srgbClr val="FFFFFF"/>
                </a:solidFill>
              </a:ln>
            </p:spPr>
          </p:sp>
        </p:grpSp>
        <p:sp>
          <p:nvSpPr>
            <p:cNvPr id="56" name="TextBox 56"/>
            <p:cNvSpPr txBox="1"/>
            <p:nvPr/>
          </p:nvSpPr>
          <p:spPr>
            <a:xfrm>
              <a:off x="10589692" y="4180999"/>
              <a:ext cx="537616" cy="190690"/>
            </a:xfrm>
            <a:prstGeom prst="rect">
              <a:avLst/>
            </a:prstGeom>
            <a:noFill/>
            <a:ln>
              <a:noFill/>
            </a:ln>
          </p:spPr>
          <p:txBody>
            <a:bodyPr wrap="none" lIns="0" tIns="0" rIns="0" bIns="0" anchor="t" anchorCtr="0">
              <a:spAutoFit/>
            </a:bodyPr>
            <a:lstStyle/>
            <a:p>
              <a:pPr algn="ctr"/>
              <a:r>
                <a:rPr lang="zh-CN" sz="980" dirty="0">
                  <a:solidFill>
                    <a:srgbClr val="705F5B"/>
                  </a:solidFill>
                  <a:latin typeface="+mn-lt"/>
                  <a:ea typeface="+mn-ea"/>
                  <a:cs typeface="+mn-cs"/>
                </a:rPr>
                <a:t>内容共创</a:t>
              </a:r>
            </a:p>
          </p:txBody>
        </p:sp>
        <p:sp>
          <p:nvSpPr>
            <p:cNvPr id="57" name="Rectangle 57"/>
            <p:cNvSpPr/>
            <p:nvPr/>
          </p:nvSpPr>
          <p:spPr>
            <a:xfrm>
              <a:off x="8877300" y="2114550"/>
              <a:ext cx="1143000" cy="266700"/>
            </a:xfrm>
            <a:prstGeom prst="roundRect">
              <a:avLst>
                <a:gd name="adj" fmla="val 50000"/>
              </a:avLst>
            </a:prstGeom>
            <a:solidFill>
              <a:srgbClr val="E5624C"/>
            </a:solidFill>
            <a:ln>
              <a:noFill/>
            </a:ln>
          </p:spPr>
        </p:sp>
        <p:sp>
          <p:nvSpPr>
            <p:cNvPr id="58" name="TextBox 58"/>
            <p:cNvSpPr txBox="1"/>
            <p:nvPr/>
          </p:nvSpPr>
          <p:spPr>
            <a:xfrm>
              <a:off x="9117787" y="2190274"/>
              <a:ext cx="6620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IP整合营销</a:t>
              </a:r>
            </a:p>
          </p:txBody>
        </p:sp>
        <p:sp>
          <p:nvSpPr>
            <p:cNvPr id="59" name="Rectangle 59"/>
            <p:cNvSpPr/>
            <p:nvPr/>
          </p:nvSpPr>
          <p:spPr>
            <a:xfrm>
              <a:off x="8134350" y="2533650"/>
              <a:ext cx="1866900" cy="1047750"/>
            </a:xfrm>
            <a:prstGeom prst="roundRect">
              <a:avLst>
                <a:gd name="adj" fmla="val 3636"/>
              </a:avLst>
            </a:prstGeom>
            <a:solidFill>
              <a:srgbClr val="FFFFFF"/>
            </a:solidFill>
            <a:ln w="9525">
              <a:solidFill>
                <a:srgbClr val="EDD5CD"/>
              </a:solidFill>
            </a:ln>
          </p:spPr>
        </p:sp>
        <p:sp>
          <p:nvSpPr>
            <p:cNvPr id="60" name="TextBox 60"/>
            <p:cNvSpPr txBox="1"/>
            <p:nvPr/>
          </p:nvSpPr>
          <p:spPr>
            <a:xfrm>
              <a:off x="8563313" y="2737247"/>
              <a:ext cx="1008974" cy="183356"/>
            </a:xfrm>
            <a:prstGeom prst="rect">
              <a:avLst/>
            </a:prstGeom>
            <a:noFill/>
            <a:ln>
              <a:noFill/>
            </a:ln>
          </p:spPr>
          <p:txBody>
            <a:bodyPr wrap="none" lIns="0" tIns="0" rIns="0" bIns="0" anchor="t" anchorCtr="0">
              <a:spAutoFit/>
            </a:bodyPr>
            <a:lstStyle/>
            <a:p>
              <a:pPr algn="ctr"/>
              <a:r>
                <a:rPr lang="zh-CN" sz="940" dirty="0">
                  <a:solidFill>
                    <a:srgbClr val="705F5B"/>
                  </a:solidFill>
                  <a:latin typeface="+mn-lt"/>
                  <a:ea typeface="+mn-ea"/>
                  <a:cs typeface="+mn-cs"/>
                </a:rPr>
                <a:t>构建结合IP的品牌</a:t>
              </a:r>
            </a:p>
          </p:txBody>
        </p:sp>
        <p:sp>
          <p:nvSpPr>
            <p:cNvPr id="61" name="TextBox 61"/>
            <p:cNvSpPr txBox="1"/>
            <p:nvPr/>
          </p:nvSpPr>
          <p:spPr>
            <a:xfrm>
              <a:off x="8493595" y="2965847"/>
              <a:ext cx="1148410" cy="183356"/>
            </a:xfrm>
            <a:prstGeom prst="rect">
              <a:avLst/>
            </a:prstGeom>
            <a:noFill/>
            <a:ln>
              <a:noFill/>
            </a:ln>
          </p:spPr>
          <p:txBody>
            <a:bodyPr wrap="none" lIns="0" tIns="0" rIns="0" bIns="0" anchor="t" anchorCtr="0">
              <a:spAutoFit/>
            </a:bodyPr>
            <a:lstStyle/>
            <a:p>
              <a:pPr algn="ctr"/>
              <a:r>
                <a:rPr lang="zh-CN" sz="940" dirty="0">
                  <a:solidFill>
                    <a:srgbClr val="705F5B"/>
                  </a:solidFill>
                  <a:latin typeface="+mn-lt"/>
                  <a:ea typeface="+mn-ea"/>
                  <a:cs typeface="+mn-cs"/>
                </a:rPr>
                <a:t>认同形成深度与长期</a:t>
              </a:r>
            </a:p>
          </p:txBody>
        </p:sp>
        <p:sp>
          <p:nvSpPr>
            <p:cNvPr id="62" name="TextBox 62"/>
            <p:cNvSpPr txBox="1"/>
            <p:nvPr/>
          </p:nvSpPr>
          <p:spPr>
            <a:xfrm>
              <a:off x="8746680" y="3194447"/>
              <a:ext cx="642239" cy="183356"/>
            </a:xfrm>
            <a:prstGeom prst="rect">
              <a:avLst/>
            </a:prstGeom>
            <a:noFill/>
            <a:ln>
              <a:noFill/>
            </a:ln>
          </p:spPr>
          <p:txBody>
            <a:bodyPr wrap="none" lIns="0" tIns="0" rIns="0" bIns="0" anchor="t" anchorCtr="0">
              <a:spAutoFit/>
            </a:bodyPr>
            <a:lstStyle/>
            <a:p>
              <a:pPr algn="ctr"/>
              <a:r>
                <a:rPr lang="zh-CN" sz="940" dirty="0">
                  <a:solidFill>
                    <a:srgbClr val="705F5B"/>
                  </a:solidFill>
                  <a:latin typeface="+mn-lt"/>
                  <a:ea typeface="+mn-ea"/>
                  <a:cs typeface="+mn-cs"/>
                </a:rPr>
                <a:t>的用户共鸣</a:t>
              </a:r>
            </a:p>
          </p:txBody>
        </p:sp>
      </p:grpSp>
      <p:grpSp>
        <p:nvGrpSpPr>
          <p:cNvPr id="69" name="ip-bottom-1"/>
          <p:cNvGrpSpPr/>
          <p:nvPr/>
        </p:nvGrpSpPr>
        <p:grpSpPr>
          <a:xfrm>
            <a:off x="571500" y="5514499"/>
            <a:ext cx="3429000" cy="1000601"/>
            <a:chOff x="571500" y="5514499"/>
            <a:chExt cx="3429000" cy="1000601"/>
          </a:xfrm>
        </p:grpSpPr>
        <p:sp>
          <p:nvSpPr>
            <p:cNvPr id="64" name="TextBox 64"/>
            <p:cNvSpPr txBox="1"/>
            <p:nvPr/>
          </p:nvSpPr>
          <p:spPr>
            <a:xfrm>
              <a:off x="1954987" y="5514499"/>
              <a:ext cx="662027" cy="190690"/>
            </a:xfrm>
            <a:prstGeom prst="rect">
              <a:avLst/>
            </a:prstGeom>
            <a:noFill/>
            <a:ln>
              <a:noFill/>
            </a:ln>
          </p:spPr>
          <p:txBody>
            <a:bodyPr wrap="none" lIns="0" tIns="0" rIns="0" bIns="0" anchor="t" anchorCtr="0">
              <a:spAutoFit/>
            </a:bodyPr>
            <a:lstStyle/>
            <a:p>
              <a:pPr algn="ctr"/>
              <a:r>
                <a:rPr lang="zh-CN" sz="980" b="1" dirty="0">
                  <a:solidFill>
                    <a:srgbClr val="E5624C"/>
                  </a:solidFill>
                  <a:latin typeface="+mn-lt"/>
                  <a:ea typeface="+mn-ea"/>
                  <a:cs typeface="+mn-cs"/>
                </a:rPr>
                <a:t>IP场景植入</a:t>
              </a:r>
            </a:p>
          </p:txBody>
        </p:sp>
        <p:sp>
          <p:nvSpPr>
            <p:cNvPr id="65" name="TextBox 65"/>
            <p:cNvSpPr txBox="1"/>
            <p:nvPr/>
          </p:nvSpPr>
          <p:spPr>
            <a:xfrm>
              <a:off x="1702372" y="5736193"/>
              <a:ext cx="1167257" cy="169069"/>
            </a:xfrm>
            <a:prstGeom prst="rect">
              <a:avLst/>
            </a:prstGeom>
            <a:noFill/>
            <a:ln>
              <a:noFill/>
            </a:ln>
          </p:spPr>
          <p:txBody>
            <a:bodyPr wrap="none" lIns="0" tIns="0" rIns="0" bIns="0" anchor="t" anchorCtr="0">
              <a:spAutoFit/>
            </a:bodyPr>
            <a:lstStyle/>
            <a:p>
              <a:pPr algn="ctr"/>
              <a:r>
                <a:rPr lang="zh-CN" sz="860" dirty="0">
                  <a:solidFill>
                    <a:srgbClr val="808699"/>
                  </a:solidFill>
                  <a:latin typeface="+mn-lt"/>
                  <a:ea typeface="+mn-ea"/>
                  <a:cs typeface="+mn-cs"/>
                </a:rPr>
                <a:t>创意定制产品直观种草</a:t>
              </a:r>
            </a:p>
          </p:txBody>
        </p:sp>
        <p:sp>
          <p:nvSpPr>
            <p:cNvPr id="66" name="Freeform 66"/>
            <p:cNvSpPr/>
            <p:nvPr/>
          </p:nvSpPr>
          <p:spPr>
            <a:xfrm>
              <a:off x="571500" y="5981700"/>
              <a:ext cx="3429000" cy="533400"/>
            </a:xfrm>
            <a:prstGeom prst="chevron">
              <a:avLst/>
            </a:prstGeom>
            <a:solidFill>
              <a:srgbClr val="E5624C"/>
            </a:solidFill>
            <a:ln>
              <a:noFill/>
            </a:ln>
          </p:spPr>
        </p:sp>
        <p:sp>
          <p:nvSpPr>
            <p:cNvPr id="67" name="TextBox 67"/>
            <p:cNvSpPr txBox="1"/>
            <p:nvPr/>
          </p:nvSpPr>
          <p:spPr>
            <a:xfrm>
              <a:off x="1616951" y="6121241"/>
              <a:ext cx="1223797"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打造品牌成为节目中偶像</a:t>
              </a:r>
            </a:p>
          </p:txBody>
        </p:sp>
        <p:sp>
          <p:nvSpPr>
            <p:cNvPr id="68" name="TextBox 68"/>
            <p:cNvSpPr txBox="1"/>
            <p:nvPr/>
          </p:nvSpPr>
          <p:spPr>
            <a:xfrm>
              <a:off x="1892922" y="6273641"/>
              <a:ext cx="67185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成长的见证者</a:t>
              </a:r>
            </a:p>
          </p:txBody>
        </p:sp>
      </p:grpSp>
      <p:grpSp>
        <p:nvGrpSpPr>
          <p:cNvPr id="75" name="ip-bottom-2"/>
          <p:cNvGrpSpPr/>
          <p:nvPr/>
        </p:nvGrpSpPr>
        <p:grpSpPr>
          <a:xfrm>
            <a:off x="4286250" y="5514499"/>
            <a:ext cx="3429000" cy="1000601"/>
            <a:chOff x="4286250" y="5514499"/>
            <a:chExt cx="3429000" cy="1000601"/>
          </a:xfrm>
        </p:grpSpPr>
        <p:sp>
          <p:nvSpPr>
            <p:cNvPr id="70" name="TextBox 70"/>
            <p:cNvSpPr txBox="1"/>
            <p:nvPr/>
          </p:nvSpPr>
          <p:spPr>
            <a:xfrm>
              <a:off x="5669737" y="5514499"/>
              <a:ext cx="662027" cy="190690"/>
            </a:xfrm>
            <a:prstGeom prst="rect">
              <a:avLst/>
            </a:prstGeom>
            <a:noFill/>
            <a:ln>
              <a:noFill/>
            </a:ln>
          </p:spPr>
          <p:txBody>
            <a:bodyPr wrap="none" lIns="0" tIns="0" rIns="0" bIns="0" anchor="t" anchorCtr="0">
              <a:spAutoFit/>
            </a:bodyPr>
            <a:lstStyle/>
            <a:p>
              <a:pPr algn="ctr"/>
              <a:r>
                <a:rPr lang="zh-CN" sz="980" b="1" dirty="0">
                  <a:solidFill>
                    <a:srgbClr val="E5624C"/>
                  </a:solidFill>
                  <a:latin typeface="+mn-lt"/>
                  <a:ea typeface="+mn-ea"/>
                  <a:cs typeface="+mn-cs"/>
                </a:rPr>
                <a:t>IP内容沉淀</a:t>
              </a:r>
            </a:p>
          </p:txBody>
        </p:sp>
        <p:sp>
          <p:nvSpPr>
            <p:cNvPr id="71" name="TextBox 71"/>
            <p:cNvSpPr txBox="1"/>
            <p:nvPr/>
          </p:nvSpPr>
          <p:spPr>
            <a:xfrm>
              <a:off x="5475008" y="5736193"/>
              <a:ext cx="1051484" cy="169069"/>
            </a:xfrm>
            <a:prstGeom prst="rect">
              <a:avLst/>
            </a:prstGeom>
            <a:noFill/>
            <a:ln>
              <a:noFill/>
            </a:ln>
          </p:spPr>
          <p:txBody>
            <a:bodyPr wrap="none" lIns="0" tIns="0" rIns="0" bIns="0" anchor="t" anchorCtr="0">
              <a:spAutoFit/>
            </a:bodyPr>
            <a:lstStyle/>
            <a:p>
              <a:pPr algn="ctr"/>
              <a:r>
                <a:rPr lang="zh-CN" sz="860" dirty="0">
                  <a:solidFill>
                    <a:srgbClr val="808699"/>
                  </a:solidFill>
                  <a:latin typeface="+mn-lt"/>
                  <a:ea typeface="+mn-ea"/>
                  <a:cs typeface="+mn-cs"/>
                </a:rPr>
                <a:t>为私域资产观众转移</a:t>
              </a:r>
            </a:p>
          </p:txBody>
        </p:sp>
        <p:sp>
          <p:nvSpPr>
            <p:cNvPr id="72" name="Freeform 72"/>
            <p:cNvSpPr/>
            <p:nvPr/>
          </p:nvSpPr>
          <p:spPr>
            <a:xfrm>
              <a:off x="4286250" y="5981700"/>
              <a:ext cx="3429000" cy="533400"/>
            </a:xfrm>
            <a:prstGeom prst="chevron">
              <a:avLst/>
            </a:prstGeom>
            <a:solidFill>
              <a:srgbClr val="E5624C"/>
            </a:solidFill>
            <a:ln>
              <a:noFill/>
            </a:ln>
          </p:spPr>
        </p:sp>
        <p:sp>
          <p:nvSpPr>
            <p:cNvPr id="73" name="TextBox 73"/>
            <p:cNvSpPr txBox="1"/>
            <p:nvPr/>
          </p:nvSpPr>
          <p:spPr>
            <a:xfrm>
              <a:off x="5111029" y="6121241"/>
              <a:ext cx="1665143"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IP内容+明星偶像内容品牌社交平​</a:t>
              </a:r>
            </a:p>
          </p:txBody>
        </p:sp>
        <p:sp>
          <p:nvSpPr>
            <p:cNvPr id="74" name="TextBox 74"/>
            <p:cNvSpPr txBox="1"/>
            <p:nvPr/>
          </p:nvSpPr>
          <p:spPr>
            <a:xfrm>
              <a:off x="5491764" y="6273641"/>
              <a:ext cx="903671"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台&amp;私域运营炒作​</a:t>
              </a:r>
            </a:p>
          </p:txBody>
        </p:sp>
      </p:grpSp>
      <p:grpSp>
        <p:nvGrpSpPr>
          <p:cNvPr id="81" name="ip-bottom-3"/>
          <p:cNvGrpSpPr/>
          <p:nvPr/>
        </p:nvGrpSpPr>
        <p:grpSpPr>
          <a:xfrm>
            <a:off x="8001000" y="5514499"/>
            <a:ext cx="3429000" cy="1000601"/>
            <a:chOff x="8001000" y="5514499"/>
            <a:chExt cx="3429000" cy="1000601"/>
          </a:xfrm>
        </p:grpSpPr>
        <p:sp>
          <p:nvSpPr>
            <p:cNvPr id="76" name="TextBox 76"/>
            <p:cNvSpPr txBox="1"/>
            <p:nvPr/>
          </p:nvSpPr>
          <p:spPr>
            <a:xfrm>
              <a:off x="9384487" y="5514499"/>
              <a:ext cx="662027" cy="190690"/>
            </a:xfrm>
            <a:prstGeom prst="rect">
              <a:avLst/>
            </a:prstGeom>
            <a:noFill/>
            <a:ln>
              <a:noFill/>
            </a:ln>
          </p:spPr>
          <p:txBody>
            <a:bodyPr wrap="none" lIns="0" tIns="0" rIns="0" bIns="0" anchor="t" anchorCtr="0">
              <a:spAutoFit/>
            </a:bodyPr>
            <a:lstStyle/>
            <a:p>
              <a:pPr algn="ctr"/>
              <a:r>
                <a:rPr lang="zh-CN" sz="980" b="1" dirty="0">
                  <a:solidFill>
                    <a:srgbClr val="E5624C"/>
                  </a:solidFill>
                  <a:latin typeface="+mn-lt"/>
                  <a:ea typeface="+mn-ea"/>
                  <a:cs typeface="+mn-cs"/>
                </a:rPr>
                <a:t>IP形象授权</a:t>
              </a:r>
            </a:p>
          </p:txBody>
        </p:sp>
        <p:sp>
          <p:nvSpPr>
            <p:cNvPr id="77" name="TextBox 77"/>
            <p:cNvSpPr txBox="1"/>
            <p:nvPr/>
          </p:nvSpPr>
          <p:spPr>
            <a:xfrm>
              <a:off x="9131872" y="5736193"/>
              <a:ext cx="1167257" cy="169069"/>
            </a:xfrm>
            <a:prstGeom prst="rect">
              <a:avLst/>
            </a:prstGeom>
            <a:noFill/>
            <a:ln>
              <a:noFill/>
            </a:ln>
          </p:spPr>
          <p:txBody>
            <a:bodyPr wrap="none" lIns="0" tIns="0" rIns="0" bIns="0" anchor="t" anchorCtr="0">
              <a:spAutoFit/>
            </a:bodyPr>
            <a:lstStyle/>
            <a:p>
              <a:pPr algn="ctr"/>
              <a:r>
                <a:rPr lang="zh-CN" sz="860" dirty="0">
                  <a:solidFill>
                    <a:srgbClr val="808699"/>
                  </a:solidFill>
                  <a:latin typeface="+mn-lt"/>
                  <a:ea typeface="+mn-ea"/>
                  <a:cs typeface="+mn-cs"/>
                </a:rPr>
                <a:t>销售活动刺激购买转化</a:t>
              </a:r>
            </a:p>
          </p:txBody>
        </p:sp>
        <p:sp>
          <p:nvSpPr>
            <p:cNvPr id="78" name="Freeform 78"/>
            <p:cNvSpPr/>
            <p:nvPr/>
          </p:nvSpPr>
          <p:spPr>
            <a:xfrm>
              <a:off x="8001000" y="5981700"/>
              <a:ext cx="3429000" cy="533400"/>
            </a:xfrm>
            <a:prstGeom prst="chevron">
              <a:avLst/>
            </a:prstGeom>
            <a:solidFill>
              <a:srgbClr val="E5624C"/>
            </a:solidFill>
            <a:ln>
              <a:noFill/>
            </a:ln>
          </p:spPr>
        </p:sp>
        <p:sp>
          <p:nvSpPr>
            <p:cNvPr id="79" name="TextBox 79"/>
            <p:cNvSpPr txBox="1"/>
            <p:nvPr/>
          </p:nvSpPr>
          <p:spPr>
            <a:xfrm>
              <a:off x="8991361" y="6121241"/>
              <a:ext cx="1333978"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IP授权+偶像同款赋能线上​</a:t>
              </a:r>
            </a:p>
          </p:txBody>
        </p:sp>
        <p:sp>
          <p:nvSpPr>
            <p:cNvPr id="80" name="TextBox 80"/>
            <p:cNvSpPr txBox="1"/>
            <p:nvPr/>
          </p:nvSpPr>
          <p:spPr>
            <a:xfrm>
              <a:off x="9181677" y="6273641"/>
              <a:ext cx="953346"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电商/线下门店生意</a:t>
              </a:r>
            </a:p>
          </p:txBody>
        </p:sp>
      </p:gr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4258437" cy="440055"/>
            <a:chOff x="302895" y="214312"/>
            <a:chExt cx="4258437"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24.​</a:t>
              </a:r>
            </a:p>
          </p:txBody>
        </p:sp>
        <p:sp>
          <p:nvSpPr>
            <p:cNvPr id="3" name="TextBox 3"/>
            <p:cNvSpPr txBox="1"/>
            <p:nvPr/>
          </p:nvSpPr>
          <p:spPr>
            <a:xfrm>
              <a:off x="866394" y="246698"/>
              <a:ext cx="3694938"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占领全圈层人群心智，促进成交</a:t>
              </a:r>
            </a:p>
          </p:txBody>
        </p:sp>
      </p:grpSp>
      <p:grpSp>
        <p:nvGrpSpPr>
          <p:cNvPr id="17" name="left-col"/>
          <p:cNvGrpSpPr/>
          <p:nvPr/>
        </p:nvGrpSpPr>
        <p:grpSpPr>
          <a:xfrm>
            <a:off x="342900" y="1132999"/>
            <a:ext cx="2209800" cy="3191351"/>
            <a:chOff x="342900" y="1132999"/>
            <a:chExt cx="2209800" cy="3191351"/>
          </a:xfrm>
        </p:grpSpPr>
        <p:sp>
          <p:nvSpPr>
            <p:cNvPr id="5" name="TextBox 5"/>
            <p:cNvSpPr txBox="1"/>
            <p:nvPr/>
          </p:nvSpPr>
          <p:spPr>
            <a:xfrm>
              <a:off x="376047" y="1132999"/>
              <a:ext cx="1321596" cy="190690"/>
            </a:xfrm>
            <a:prstGeom prst="rect">
              <a:avLst/>
            </a:prstGeom>
            <a:noFill/>
            <a:ln>
              <a:noFill/>
            </a:ln>
          </p:spPr>
          <p:txBody>
            <a:bodyPr wrap="none" lIns="0" tIns="0" rIns="0" bIns="0" anchor="t" anchorCtr="0">
              <a:spAutoFit/>
            </a:bodyPr>
            <a:lstStyle/>
            <a:p>
              <a:pPr algn="l"/>
              <a:r>
                <a:rPr lang="zh-CN" sz="980" b="1" dirty="0">
                  <a:solidFill>
                    <a:srgbClr val="E5624C"/>
                  </a:solidFill>
                  <a:latin typeface="+mn-lt"/>
                  <a:ea typeface="+mn-ea"/>
                  <a:cs typeface="+mn-cs"/>
                </a:rPr>
                <a:t>✓ 人群定义&amp;标识识别</a:t>
              </a:r>
            </a:p>
          </p:txBody>
        </p:sp>
        <p:sp>
          <p:nvSpPr>
            <p:cNvPr id="6" name="Rectangle 6"/>
            <p:cNvSpPr/>
            <p:nvPr/>
          </p:nvSpPr>
          <p:spPr>
            <a:xfrm>
              <a:off x="342900" y="1352550"/>
              <a:ext cx="2209800" cy="609600"/>
            </a:xfrm>
            <a:prstGeom prst="roundRect">
              <a:avLst>
                <a:gd name="adj" fmla="val 6250"/>
              </a:avLst>
            </a:prstGeom>
            <a:solidFill>
              <a:srgbClr val="FFFFFF"/>
            </a:solidFill>
            <a:ln w="9525">
              <a:solidFill>
                <a:srgbClr val="F0C0B8"/>
              </a:solidFill>
            </a:ln>
          </p:spPr>
        </p:sp>
        <p:sp>
          <p:nvSpPr>
            <p:cNvPr id="7" name="TextBox 7"/>
            <p:cNvSpPr txBox="1"/>
            <p:nvPr/>
          </p:nvSpPr>
          <p:spPr>
            <a:xfrm>
              <a:off x="864171" y="1526143"/>
              <a:ext cx="1167257"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生态圈层入群标签体系</a:t>
              </a:r>
            </a:p>
          </p:txBody>
        </p:sp>
        <p:sp>
          <p:nvSpPr>
            <p:cNvPr id="8" name="TextBox 8"/>
            <p:cNvSpPr txBox="1"/>
            <p:nvPr/>
          </p:nvSpPr>
          <p:spPr>
            <a:xfrm>
              <a:off x="858383" y="1716643"/>
              <a:ext cx="117883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(类型、场景、兴趣等)</a:t>
              </a:r>
            </a:p>
          </p:txBody>
        </p:sp>
        <p:sp>
          <p:nvSpPr>
            <p:cNvPr id="9" name="TextBox 9"/>
            <p:cNvSpPr txBox="1"/>
            <p:nvPr/>
          </p:nvSpPr>
          <p:spPr>
            <a:xfrm>
              <a:off x="376047" y="2314099"/>
              <a:ext cx="1057741" cy="190690"/>
            </a:xfrm>
            <a:prstGeom prst="rect">
              <a:avLst/>
            </a:prstGeom>
            <a:noFill/>
            <a:ln>
              <a:noFill/>
            </a:ln>
          </p:spPr>
          <p:txBody>
            <a:bodyPr wrap="none" lIns="0" tIns="0" rIns="0" bIns="0" anchor="t" anchorCtr="0">
              <a:spAutoFit/>
            </a:bodyPr>
            <a:lstStyle/>
            <a:p>
              <a:pPr algn="l"/>
              <a:r>
                <a:rPr lang="zh-CN" sz="980" b="1" dirty="0">
                  <a:solidFill>
                    <a:srgbClr val="E5624C"/>
                  </a:solidFill>
                  <a:latin typeface="+mn-lt"/>
                  <a:ea typeface="+mn-ea"/>
                  <a:cs typeface="+mn-cs"/>
                </a:rPr>
                <a:t>✓ 人群洞察&amp;定位</a:t>
              </a:r>
            </a:p>
          </p:txBody>
        </p:sp>
        <p:sp>
          <p:nvSpPr>
            <p:cNvPr id="10" name="Rectangle 10"/>
            <p:cNvSpPr/>
            <p:nvPr/>
          </p:nvSpPr>
          <p:spPr>
            <a:xfrm>
              <a:off x="342900" y="2533650"/>
              <a:ext cx="2209800" cy="609600"/>
            </a:xfrm>
            <a:prstGeom prst="roundRect">
              <a:avLst>
                <a:gd name="adj" fmla="val 6250"/>
              </a:avLst>
            </a:prstGeom>
            <a:solidFill>
              <a:srgbClr val="FFFFFF"/>
            </a:solidFill>
            <a:ln w="9525">
              <a:solidFill>
                <a:srgbClr val="F0C0B8"/>
              </a:solidFill>
            </a:ln>
          </p:spPr>
        </p:sp>
        <p:sp>
          <p:nvSpPr>
            <p:cNvPr id="11" name="TextBox 11"/>
            <p:cNvSpPr txBox="1"/>
            <p:nvPr/>
          </p:nvSpPr>
          <p:spPr>
            <a:xfrm>
              <a:off x="922058" y="2707243"/>
              <a:ext cx="105148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圈层人群画像洞察、</a:t>
              </a:r>
            </a:p>
          </p:txBody>
        </p:sp>
        <p:sp>
          <p:nvSpPr>
            <p:cNvPr id="12" name="TextBox 12"/>
            <p:cNvSpPr txBox="1"/>
            <p:nvPr/>
          </p:nvSpPr>
          <p:spPr>
            <a:xfrm>
              <a:off x="1211491" y="2897743"/>
              <a:ext cx="472618"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需求挖掘</a:t>
              </a:r>
            </a:p>
          </p:txBody>
        </p:sp>
        <p:sp>
          <p:nvSpPr>
            <p:cNvPr id="13" name="TextBox 13"/>
            <p:cNvSpPr txBox="1"/>
            <p:nvPr/>
          </p:nvSpPr>
          <p:spPr>
            <a:xfrm>
              <a:off x="376047" y="3495199"/>
              <a:ext cx="981553" cy="190690"/>
            </a:xfrm>
            <a:prstGeom prst="rect">
              <a:avLst/>
            </a:prstGeom>
            <a:noFill/>
            <a:ln>
              <a:noFill/>
            </a:ln>
          </p:spPr>
          <p:txBody>
            <a:bodyPr wrap="none" lIns="0" tIns="0" rIns="0" bIns="0" anchor="t" anchorCtr="0">
              <a:spAutoFit/>
            </a:bodyPr>
            <a:lstStyle/>
            <a:p>
              <a:pPr algn="l"/>
              <a:r>
                <a:rPr lang="zh-CN" sz="980" b="1" dirty="0">
                  <a:solidFill>
                    <a:srgbClr val="E5624C"/>
                  </a:solidFill>
                  <a:latin typeface="+mn-lt"/>
                  <a:ea typeface="+mn-ea"/>
                  <a:cs typeface="+mn-cs"/>
                </a:rPr>
                <a:t>✓ 生态链路渗透</a:t>
              </a:r>
            </a:p>
          </p:txBody>
        </p:sp>
        <p:sp>
          <p:nvSpPr>
            <p:cNvPr id="14" name="Rectangle 14"/>
            <p:cNvSpPr/>
            <p:nvPr/>
          </p:nvSpPr>
          <p:spPr>
            <a:xfrm>
              <a:off x="342900" y="3714750"/>
              <a:ext cx="2209800" cy="609600"/>
            </a:xfrm>
            <a:prstGeom prst="roundRect">
              <a:avLst>
                <a:gd name="adj" fmla="val 6250"/>
              </a:avLst>
            </a:prstGeom>
            <a:solidFill>
              <a:srgbClr val="FFFFFF"/>
            </a:solidFill>
            <a:ln w="9525">
              <a:solidFill>
                <a:srgbClr val="F0C0B8"/>
              </a:solidFill>
            </a:ln>
          </p:spPr>
        </p:sp>
        <p:sp>
          <p:nvSpPr>
            <p:cNvPr id="15" name="TextBox 15"/>
            <p:cNvSpPr txBox="1"/>
            <p:nvPr/>
          </p:nvSpPr>
          <p:spPr>
            <a:xfrm>
              <a:off x="832334" y="3888343"/>
              <a:ext cx="1230932"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圈层人群圈选&amp;联动营销</a:t>
              </a:r>
            </a:p>
          </p:txBody>
        </p:sp>
        <p:sp>
          <p:nvSpPr>
            <p:cNvPr id="16" name="TextBox 16"/>
            <p:cNvSpPr txBox="1"/>
            <p:nvPr/>
          </p:nvSpPr>
          <p:spPr>
            <a:xfrm>
              <a:off x="979945" y="4078843"/>
              <a:ext cx="935711"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实现关联品类渗透</a:t>
              </a:r>
            </a:p>
          </p:txBody>
        </p:sp>
      </p:grpSp>
      <p:grpSp>
        <p:nvGrpSpPr>
          <p:cNvPr id="46" name="center-diagram"/>
          <p:cNvGrpSpPr/>
          <p:nvPr/>
        </p:nvGrpSpPr>
        <p:grpSpPr>
          <a:xfrm>
            <a:off x="2933700" y="1333500"/>
            <a:ext cx="5219700" cy="3429000"/>
            <a:chOff x="2933700" y="1333500"/>
            <a:chExt cx="5219700" cy="3429000"/>
          </a:xfrm>
        </p:grpSpPr>
        <p:sp>
          <p:nvSpPr>
            <p:cNvPr id="18" name="TextBox 18"/>
            <p:cNvSpPr txBox="1"/>
            <p:nvPr/>
          </p:nvSpPr>
          <p:spPr>
            <a:xfrm>
              <a:off x="3376600" y="1392079"/>
              <a:ext cx="866800" cy="308039"/>
            </a:xfrm>
            <a:prstGeom prst="rect">
              <a:avLst/>
            </a:prstGeom>
            <a:noFill/>
            <a:ln>
              <a:noFill/>
            </a:ln>
          </p:spPr>
          <p:txBody>
            <a:bodyPr wrap="none" lIns="0" tIns="0" rIns="0" bIns="0" anchor="t" anchorCtr="0">
              <a:spAutoFit/>
            </a:bodyPr>
            <a:lstStyle/>
            <a:p>
              <a:pPr algn="ctr"/>
              <a:r>
                <a:rPr lang="zh-CN" sz="1580" b="1" dirty="0">
                  <a:solidFill>
                    <a:srgbClr val="C1553F"/>
                  </a:solidFill>
                  <a:latin typeface="+mn-lt"/>
                  <a:ea typeface="+mn-ea"/>
                  <a:cs typeface="+mn-cs"/>
                </a:rPr>
                <a:t>圈层全域</a:t>
              </a:r>
            </a:p>
          </p:txBody>
        </p:sp>
        <p:sp>
          <p:nvSpPr>
            <p:cNvPr id="19" name="TextBox 19"/>
            <p:cNvSpPr txBox="1"/>
            <p:nvPr/>
          </p:nvSpPr>
          <p:spPr>
            <a:xfrm>
              <a:off x="3270250" y="1658779"/>
              <a:ext cx="1079500" cy="308039"/>
            </a:xfrm>
            <a:prstGeom prst="rect">
              <a:avLst/>
            </a:prstGeom>
            <a:noFill/>
            <a:ln>
              <a:noFill/>
            </a:ln>
          </p:spPr>
          <p:txBody>
            <a:bodyPr wrap="none" lIns="0" tIns="0" rIns="0" bIns="0" anchor="t" anchorCtr="0">
              <a:spAutoFit/>
            </a:bodyPr>
            <a:lstStyle/>
            <a:p>
              <a:pPr algn="ctr"/>
              <a:r>
                <a:rPr lang="zh-CN" sz="1580" b="1" dirty="0">
                  <a:solidFill>
                    <a:srgbClr val="C1553F"/>
                  </a:solidFill>
                  <a:latin typeface="+mn-lt"/>
                  <a:ea typeface="+mn-ea"/>
                  <a:cs typeface="+mn-cs"/>
                </a:rPr>
                <a:t>全链路营销</a:t>
              </a:r>
            </a:p>
          </p:txBody>
        </p:sp>
        <p:sp>
          <p:nvSpPr>
            <p:cNvPr id="20" name="TextBox 20"/>
            <p:cNvSpPr txBox="1"/>
            <p:nvPr/>
          </p:nvSpPr>
          <p:spPr>
            <a:xfrm>
              <a:off x="7292950" y="1392079"/>
              <a:ext cx="654101" cy="308039"/>
            </a:xfrm>
            <a:prstGeom prst="rect">
              <a:avLst/>
            </a:prstGeom>
            <a:noFill/>
            <a:ln>
              <a:noFill/>
            </a:ln>
          </p:spPr>
          <p:txBody>
            <a:bodyPr wrap="none" lIns="0" tIns="0" rIns="0" bIns="0" anchor="t" anchorCtr="0">
              <a:spAutoFit/>
            </a:bodyPr>
            <a:lstStyle/>
            <a:p>
              <a:pPr algn="ctr"/>
              <a:r>
                <a:rPr lang="zh-CN" sz="1580" b="1" dirty="0">
                  <a:solidFill>
                    <a:srgbClr val="C1553F"/>
                  </a:solidFill>
                  <a:latin typeface="+mn-lt"/>
                  <a:ea typeface="+mn-ea"/>
                  <a:cs typeface="+mn-cs"/>
                </a:rPr>
                <a:t>大事件</a:t>
              </a:r>
            </a:p>
          </p:txBody>
        </p:sp>
        <p:sp>
          <p:nvSpPr>
            <p:cNvPr id="21" name="TextBox 21"/>
            <p:cNvSpPr txBox="1"/>
            <p:nvPr/>
          </p:nvSpPr>
          <p:spPr>
            <a:xfrm>
              <a:off x="7186600" y="1658779"/>
              <a:ext cx="866800" cy="308039"/>
            </a:xfrm>
            <a:prstGeom prst="rect">
              <a:avLst/>
            </a:prstGeom>
            <a:noFill/>
            <a:ln>
              <a:noFill/>
            </a:ln>
          </p:spPr>
          <p:txBody>
            <a:bodyPr wrap="none" lIns="0" tIns="0" rIns="0" bIns="0" anchor="t" anchorCtr="0">
              <a:spAutoFit/>
            </a:bodyPr>
            <a:lstStyle/>
            <a:p>
              <a:pPr algn="ctr"/>
              <a:r>
                <a:rPr lang="zh-CN" sz="1580" b="1" dirty="0">
                  <a:solidFill>
                    <a:srgbClr val="C1553F"/>
                  </a:solidFill>
                  <a:latin typeface="+mn-lt"/>
                  <a:ea typeface="+mn-ea"/>
                  <a:cs typeface="+mn-cs"/>
                </a:rPr>
                <a:t>内容引爆</a:t>
              </a:r>
            </a:p>
          </p:txBody>
        </p:sp>
        <p:sp>
          <p:nvSpPr>
            <p:cNvPr id="22" name="Freeform 22"/>
            <p:cNvSpPr/>
            <p:nvPr/>
          </p:nvSpPr>
          <p:spPr>
            <a:xfrm>
              <a:off x="5048250" y="1333500"/>
              <a:ext cx="1143000" cy="2190750"/>
            </a:xfrm>
            <a:prstGeom prst="upArrow">
              <a:avLst/>
            </a:prstGeom>
            <a:solidFill>
              <a:srgbClr val="CE897B"/>
            </a:solidFill>
            <a:ln>
              <a:noFill/>
            </a:ln>
          </p:spPr>
        </p:sp>
        <p:sp>
          <p:nvSpPr>
            <p:cNvPr id="23" name="Rectangle 23"/>
            <p:cNvSpPr/>
            <p:nvPr/>
          </p:nvSpPr>
          <p:spPr>
            <a:xfrm>
              <a:off x="5067300" y="2286000"/>
              <a:ext cx="1104900" cy="247650"/>
            </a:xfrm>
            <a:prstGeom prst="roundRect">
              <a:avLst>
                <a:gd name="adj" fmla="val 50000"/>
              </a:avLst>
            </a:prstGeom>
            <a:solidFill>
              <a:srgbClr val="C1553F"/>
            </a:solidFill>
            <a:ln>
              <a:noFill/>
            </a:ln>
          </p:spPr>
        </p:sp>
        <p:sp>
          <p:nvSpPr>
            <p:cNvPr id="24" name="TextBox 24"/>
            <p:cNvSpPr txBox="1"/>
            <p:nvPr/>
          </p:nvSpPr>
          <p:spPr>
            <a:xfrm>
              <a:off x="5312092" y="2360295"/>
              <a:ext cx="61531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全链路营销</a:t>
              </a:r>
            </a:p>
          </p:txBody>
        </p:sp>
        <p:sp>
          <p:nvSpPr>
            <p:cNvPr id="25" name="Rectangle 25"/>
            <p:cNvSpPr/>
            <p:nvPr/>
          </p:nvSpPr>
          <p:spPr>
            <a:xfrm>
              <a:off x="3009900" y="2705100"/>
              <a:ext cx="990600" cy="228600"/>
            </a:xfrm>
            <a:prstGeom prst="roundRect">
              <a:avLst>
                <a:gd name="adj" fmla="val 50000"/>
              </a:avLst>
            </a:prstGeom>
            <a:solidFill>
              <a:srgbClr val="FBE9E4"/>
            </a:solidFill>
            <a:ln>
              <a:noFill/>
            </a:ln>
          </p:spPr>
        </p:sp>
        <p:sp>
          <p:nvSpPr>
            <p:cNvPr id="26" name="TextBox 26"/>
            <p:cNvSpPr txBox="1"/>
            <p:nvPr/>
          </p:nvSpPr>
          <p:spPr>
            <a:xfrm>
              <a:off x="3169272" y="276844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圈层人群触达</a:t>
              </a:r>
            </a:p>
          </p:txBody>
        </p:sp>
        <p:sp>
          <p:nvSpPr>
            <p:cNvPr id="27" name="Rectangle 27"/>
            <p:cNvSpPr/>
            <p:nvPr/>
          </p:nvSpPr>
          <p:spPr>
            <a:xfrm>
              <a:off x="4305300" y="2971800"/>
              <a:ext cx="990600" cy="228600"/>
            </a:xfrm>
            <a:prstGeom prst="roundRect">
              <a:avLst>
                <a:gd name="adj" fmla="val 50000"/>
              </a:avLst>
            </a:prstGeom>
            <a:solidFill>
              <a:srgbClr val="FBE9E4"/>
            </a:solidFill>
            <a:ln>
              <a:noFill/>
            </a:ln>
          </p:spPr>
        </p:sp>
        <p:sp>
          <p:nvSpPr>
            <p:cNvPr id="28" name="TextBox 28"/>
            <p:cNvSpPr txBox="1"/>
            <p:nvPr/>
          </p:nvSpPr>
          <p:spPr>
            <a:xfrm>
              <a:off x="4464672" y="303514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品牌联合营销</a:t>
              </a:r>
            </a:p>
          </p:txBody>
        </p:sp>
        <p:sp>
          <p:nvSpPr>
            <p:cNvPr id="29" name="Rectangle 29"/>
            <p:cNvSpPr/>
            <p:nvPr/>
          </p:nvSpPr>
          <p:spPr>
            <a:xfrm>
              <a:off x="5600700" y="2971800"/>
              <a:ext cx="990600" cy="228600"/>
            </a:xfrm>
            <a:prstGeom prst="roundRect">
              <a:avLst>
                <a:gd name="adj" fmla="val 50000"/>
              </a:avLst>
            </a:prstGeom>
            <a:solidFill>
              <a:srgbClr val="FBE9E4"/>
            </a:solidFill>
            <a:ln>
              <a:noFill/>
            </a:ln>
          </p:spPr>
        </p:sp>
        <p:sp>
          <p:nvSpPr>
            <p:cNvPr id="30" name="TextBox 30"/>
            <p:cNvSpPr txBox="1"/>
            <p:nvPr/>
          </p:nvSpPr>
          <p:spPr>
            <a:xfrm>
              <a:off x="5760072" y="303514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站外话题造势</a:t>
              </a:r>
            </a:p>
          </p:txBody>
        </p:sp>
        <p:sp>
          <p:nvSpPr>
            <p:cNvPr id="31" name="Rectangle 31"/>
            <p:cNvSpPr/>
            <p:nvPr/>
          </p:nvSpPr>
          <p:spPr>
            <a:xfrm>
              <a:off x="6915150" y="2705100"/>
              <a:ext cx="990600" cy="228600"/>
            </a:xfrm>
            <a:prstGeom prst="roundRect">
              <a:avLst>
                <a:gd name="adj" fmla="val 50000"/>
              </a:avLst>
            </a:prstGeom>
            <a:solidFill>
              <a:srgbClr val="FBE9E4"/>
            </a:solidFill>
            <a:ln>
              <a:noFill/>
            </a:ln>
          </p:spPr>
        </p:sp>
        <p:sp>
          <p:nvSpPr>
            <p:cNvPr id="32" name="TextBox 32"/>
            <p:cNvSpPr txBox="1"/>
            <p:nvPr/>
          </p:nvSpPr>
          <p:spPr>
            <a:xfrm>
              <a:off x="7074522" y="276844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全域内容种草</a:t>
              </a:r>
            </a:p>
          </p:txBody>
        </p:sp>
        <p:sp>
          <p:nvSpPr>
            <p:cNvPr id="33" name="Ellipse 33"/>
            <p:cNvSpPr/>
            <p:nvPr/>
          </p:nvSpPr>
          <p:spPr>
            <a:xfrm>
              <a:off x="3667125" y="3352800"/>
              <a:ext cx="3905250" cy="800100"/>
            </a:xfrm>
            <a:prstGeom prst="ellipse">
              <a:avLst/>
            </a:prstGeom>
            <a:solidFill>
              <a:srgbClr val="E9EBF8"/>
            </a:solidFill>
            <a:ln>
              <a:noFill/>
            </a:ln>
          </p:spPr>
        </p:sp>
        <p:sp>
          <p:nvSpPr>
            <p:cNvPr id="34" name="Rectangle 34"/>
            <p:cNvSpPr/>
            <p:nvPr/>
          </p:nvSpPr>
          <p:spPr>
            <a:xfrm>
              <a:off x="5067300" y="3619500"/>
              <a:ext cx="1104900" cy="247650"/>
            </a:xfrm>
            <a:prstGeom prst="roundRect">
              <a:avLst>
                <a:gd name="adj" fmla="val 50000"/>
              </a:avLst>
            </a:prstGeom>
            <a:solidFill>
              <a:srgbClr val="C1553F"/>
            </a:solidFill>
            <a:ln>
              <a:noFill/>
            </a:ln>
          </p:spPr>
        </p:sp>
        <p:sp>
          <p:nvSpPr>
            <p:cNvPr id="35" name="TextBox 35"/>
            <p:cNvSpPr txBox="1"/>
            <p:nvPr/>
          </p:nvSpPr>
          <p:spPr>
            <a:xfrm>
              <a:off x="5251514" y="369379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营销内容打造</a:t>
              </a:r>
            </a:p>
          </p:txBody>
        </p:sp>
        <p:sp>
          <p:nvSpPr>
            <p:cNvPr id="36" name="Rectangle 36"/>
            <p:cNvSpPr/>
            <p:nvPr/>
          </p:nvSpPr>
          <p:spPr>
            <a:xfrm>
              <a:off x="2933700" y="4248150"/>
              <a:ext cx="990600" cy="228600"/>
            </a:xfrm>
            <a:prstGeom prst="roundRect">
              <a:avLst>
                <a:gd name="adj" fmla="val 50000"/>
              </a:avLst>
            </a:prstGeom>
            <a:solidFill>
              <a:srgbClr val="FBE9E4"/>
            </a:solidFill>
            <a:ln>
              <a:noFill/>
            </a:ln>
          </p:spPr>
        </p:sp>
        <p:sp>
          <p:nvSpPr>
            <p:cNvPr id="37" name="TextBox 37"/>
            <p:cNvSpPr txBox="1"/>
            <p:nvPr/>
          </p:nvSpPr>
          <p:spPr>
            <a:xfrm>
              <a:off x="3093072" y="431149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搭建消费场景</a:t>
              </a:r>
            </a:p>
          </p:txBody>
        </p:sp>
        <p:sp>
          <p:nvSpPr>
            <p:cNvPr id="38" name="Rectangle 38"/>
            <p:cNvSpPr/>
            <p:nvPr/>
          </p:nvSpPr>
          <p:spPr>
            <a:xfrm>
              <a:off x="4095750" y="4400550"/>
              <a:ext cx="990600" cy="228600"/>
            </a:xfrm>
            <a:prstGeom prst="roundRect">
              <a:avLst>
                <a:gd name="adj" fmla="val 50000"/>
              </a:avLst>
            </a:prstGeom>
            <a:solidFill>
              <a:srgbClr val="FBE9E4"/>
            </a:solidFill>
            <a:ln>
              <a:noFill/>
            </a:ln>
          </p:spPr>
        </p:sp>
        <p:sp>
          <p:nvSpPr>
            <p:cNvPr id="39" name="TextBox 39"/>
            <p:cNvSpPr txBox="1"/>
            <p:nvPr/>
          </p:nvSpPr>
          <p:spPr>
            <a:xfrm>
              <a:off x="4255122" y="446389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圈层内容故事</a:t>
              </a:r>
            </a:p>
          </p:txBody>
        </p:sp>
        <p:sp>
          <p:nvSpPr>
            <p:cNvPr id="40" name="Rectangle 40"/>
            <p:cNvSpPr/>
            <p:nvPr/>
          </p:nvSpPr>
          <p:spPr>
            <a:xfrm>
              <a:off x="5219700" y="4533900"/>
              <a:ext cx="1066800" cy="228600"/>
            </a:xfrm>
            <a:prstGeom prst="roundRect">
              <a:avLst>
                <a:gd name="adj" fmla="val 50000"/>
              </a:avLst>
            </a:prstGeom>
            <a:solidFill>
              <a:srgbClr val="FBE9E4"/>
            </a:solidFill>
            <a:ln>
              <a:noFill/>
            </a:ln>
          </p:spPr>
        </p:sp>
        <p:sp>
          <p:nvSpPr>
            <p:cNvPr id="41" name="TextBox 41"/>
            <p:cNvSpPr txBox="1"/>
            <p:nvPr/>
          </p:nvSpPr>
          <p:spPr>
            <a:xfrm>
              <a:off x="5361978" y="4597241"/>
              <a:ext cx="782244"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建立消费者关联</a:t>
              </a:r>
            </a:p>
          </p:txBody>
        </p:sp>
        <p:sp>
          <p:nvSpPr>
            <p:cNvPr id="42" name="Rectangle 42"/>
            <p:cNvSpPr/>
            <p:nvPr/>
          </p:nvSpPr>
          <p:spPr>
            <a:xfrm>
              <a:off x="6362700" y="4362450"/>
              <a:ext cx="762000" cy="228600"/>
            </a:xfrm>
            <a:prstGeom prst="roundRect">
              <a:avLst>
                <a:gd name="adj" fmla="val 50000"/>
              </a:avLst>
            </a:prstGeom>
            <a:solidFill>
              <a:srgbClr val="FBE9E4"/>
            </a:solidFill>
            <a:ln>
              <a:noFill/>
            </a:ln>
          </p:spPr>
        </p:sp>
        <p:sp>
          <p:nvSpPr>
            <p:cNvPr id="43" name="TextBox 43"/>
            <p:cNvSpPr txBox="1"/>
            <p:nvPr/>
          </p:nvSpPr>
          <p:spPr>
            <a:xfrm>
              <a:off x="6520660" y="4425791"/>
              <a:ext cx="446080"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联动KOC</a:t>
              </a:r>
            </a:p>
          </p:txBody>
        </p:sp>
        <p:sp>
          <p:nvSpPr>
            <p:cNvPr id="44" name="Rectangle 44"/>
            <p:cNvSpPr/>
            <p:nvPr/>
          </p:nvSpPr>
          <p:spPr>
            <a:xfrm>
              <a:off x="6915150" y="4095750"/>
              <a:ext cx="1238250" cy="228600"/>
            </a:xfrm>
            <a:prstGeom prst="roundRect">
              <a:avLst>
                <a:gd name="adj" fmla="val 50000"/>
              </a:avLst>
            </a:prstGeom>
            <a:solidFill>
              <a:srgbClr val="FBE9E4"/>
            </a:solidFill>
            <a:ln>
              <a:noFill/>
            </a:ln>
          </p:spPr>
        </p:sp>
        <p:sp>
          <p:nvSpPr>
            <p:cNvPr id="45" name="TextBox 45"/>
            <p:cNvSpPr txBox="1"/>
            <p:nvPr/>
          </p:nvSpPr>
          <p:spPr>
            <a:xfrm>
              <a:off x="7087959" y="4159091"/>
              <a:ext cx="892632"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联动圈层社群资源</a:t>
              </a:r>
            </a:p>
          </p:txBody>
        </p:sp>
      </p:grpSp>
      <p:grpSp>
        <p:nvGrpSpPr>
          <p:cNvPr id="62" name="right-col"/>
          <p:cNvGrpSpPr/>
          <p:nvPr/>
        </p:nvGrpSpPr>
        <p:grpSpPr>
          <a:xfrm>
            <a:off x="9163050" y="1132999"/>
            <a:ext cx="2724150" cy="3743801"/>
            <a:chOff x="9163050" y="1132999"/>
            <a:chExt cx="2724150" cy="3743801"/>
          </a:xfrm>
        </p:grpSpPr>
        <p:sp>
          <p:nvSpPr>
            <p:cNvPr id="47" name="TextBox 47"/>
            <p:cNvSpPr txBox="1"/>
            <p:nvPr/>
          </p:nvSpPr>
          <p:spPr>
            <a:xfrm>
              <a:off x="9196197" y="1132999"/>
              <a:ext cx="1321596" cy="190690"/>
            </a:xfrm>
            <a:prstGeom prst="rect">
              <a:avLst/>
            </a:prstGeom>
            <a:noFill/>
            <a:ln>
              <a:noFill/>
            </a:ln>
          </p:spPr>
          <p:txBody>
            <a:bodyPr wrap="none" lIns="0" tIns="0" rIns="0" bIns="0" anchor="t" anchorCtr="0">
              <a:spAutoFit/>
            </a:bodyPr>
            <a:lstStyle/>
            <a:p>
              <a:pPr algn="l"/>
              <a:r>
                <a:rPr lang="zh-CN" sz="980" b="1" dirty="0">
                  <a:solidFill>
                    <a:srgbClr val="C1553F"/>
                  </a:solidFill>
                  <a:latin typeface="+mn-lt"/>
                  <a:ea typeface="+mn-ea"/>
                  <a:cs typeface="+mn-cs"/>
                </a:rPr>
                <a:t>✓ 明星单品/经典系列</a:t>
              </a:r>
            </a:p>
          </p:txBody>
        </p:sp>
        <p:sp>
          <p:nvSpPr>
            <p:cNvPr id="48" name="Rectangle 48"/>
            <p:cNvSpPr/>
            <p:nvPr/>
          </p:nvSpPr>
          <p:spPr>
            <a:xfrm>
              <a:off x="9163050" y="1352550"/>
              <a:ext cx="2724150" cy="552450"/>
            </a:xfrm>
            <a:prstGeom prst="roundRect">
              <a:avLst>
                <a:gd name="adj" fmla="val 6897"/>
              </a:avLst>
            </a:prstGeom>
            <a:solidFill>
              <a:srgbClr val="FFFFFF"/>
            </a:solidFill>
            <a:ln w="9525">
              <a:solidFill>
                <a:srgbClr val="C9CFEA"/>
              </a:solidFill>
            </a:ln>
          </p:spPr>
        </p:sp>
        <p:sp>
          <p:nvSpPr>
            <p:cNvPr id="49" name="TextBox 49"/>
            <p:cNvSpPr txBox="1"/>
            <p:nvPr/>
          </p:nvSpPr>
          <p:spPr>
            <a:xfrm>
              <a:off x="9941496" y="1507093"/>
              <a:ext cx="1167257"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拓展圈层人群资产量级</a:t>
              </a:r>
            </a:p>
          </p:txBody>
        </p:sp>
        <p:sp>
          <p:nvSpPr>
            <p:cNvPr id="50" name="TextBox 50"/>
            <p:cNvSpPr txBox="1"/>
            <p:nvPr/>
          </p:nvSpPr>
          <p:spPr>
            <a:xfrm>
              <a:off x="10173043" y="1697593"/>
              <a:ext cx="70416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品牌心智塑造</a:t>
              </a:r>
            </a:p>
          </p:txBody>
        </p:sp>
        <p:sp>
          <p:nvSpPr>
            <p:cNvPr id="51" name="TextBox 51"/>
            <p:cNvSpPr txBox="1"/>
            <p:nvPr/>
          </p:nvSpPr>
          <p:spPr>
            <a:xfrm>
              <a:off x="9196197" y="2123599"/>
              <a:ext cx="981553" cy="190690"/>
            </a:xfrm>
            <a:prstGeom prst="rect">
              <a:avLst/>
            </a:prstGeom>
            <a:noFill/>
            <a:ln>
              <a:noFill/>
            </a:ln>
          </p:spPr>
          <p:txBody>
            <a:bodyPr wrap="none" lIns="0" tIns="0" rIns="0" bIns="0" anchor="t" anchorCtr="0">
              <a:spAutoFit/>
            </a:bodyPr>
            <a:lstStyle/>
            <a:p>
              <a:pPr algn="l"/>
              <a:r>
                <a:rPr lang="zh-CN" sz="980" b="1" dirty="0">
                  <a:solidFill>
                    <a:srgbClr val="C1553F"/>
                  </a:solidFill>
                  <a:latin typeface="+mn-lt"/>
                  <a:ea typeface="+mn-ea"/>
                  <a:cs typeface="+mn-cs"/>
                </a:rPr>
                <a:t>✓ 特色新品开发</a:t>
              </a:r>
            </a:p>
          </p:txBody>
        </p:sp>
        <p:sp>
          <p:nvSpPr>
            <p:cNvPr id="52" name="Rectangle 52"/>
            <p:cNvSpPr/>
            <p:nvPr/>
          </p:nvSpPr>
          <p:spPr>
            <a:xfrm>
              <a:off x="9163050" y="2343150"/>
              <a:ext cx="2724150" cy="552450"/>
            </a:xfrm>
            <a:prstGeom prst="roundRect">
              <a:avLst>
                <a:gd name="adj" fmla="val 6897"/>
              </a:avLst>
            </a:prstGeom>
            <a:solidFill>
              <a:srgbClr val="FFFFFF"/>
            </a:solidFill>
            <a:ln w="9525">
              <a:solidFill>
                <a:srgbClr val="C9CFEA"/>
              </a:solidFill>
            </a:ln>
          </p:spPr>
        </p:sp>
        <p:sp>
          <p:nvSpPr>
            <p:cNvPr id="53" name="TextBox 53"/>
            <p:cNvSpPr txBox="1"/>
            <p:nvPr/>
          </p:nvSpPr>
          <p:spPr>
            <a:xfrm>
              <a:off x="10087414" y="2497693"/>
              <a:ext cx="875421"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外观升级/IP联名</a:t>
              </a:r>
            </a:p>
          </p:txBody>
        </p:sp>
        <p:sp>
          <p:nvSpPr>
            <p:cNvPr id="54" name="TextBox 54"/>
            <p:cNvSpPr txBox="1"/>
            <p:nvPr/>
          </p:nvSpPr>
          <p:spPr>
            <a:xfrm>
              <a:off x="10173043" y="2688193"/>
              <a:ext cx="70416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功能材质创新</a:t>
              </a:r>
            </a:p>
          </p:txBody>
        </p:sp>
        <p:sp>
          <p:nvSpPr>
            <p:cNvPr id="55" name="TextBox 55"/>
            <p:cNvSpPr txBox="1"/>
            <p:nvPr/>
          </p:nvSpPr>
          <p:spPr>
            <a:xfrm>
              <a:off x="9196197" y="3114199"/>
              <a:ext cx="849625" cy="190690"/>
            </a:xfrm>
            <a:prstGeom prst="rect">
              <a:avLst/>
            </a:prstGeom>
            <a:noFill/>
            <a:ln>
              <a:noFill/>
            </a:ln>
          </p:spPr>
          <p:txBody>
            <a:bodyPr wrap="none" lIns="0" tIns="0" rIns="0" bIns="0" anchor="t" anchorCtr="0">
              <a:spAutoFit/>
            </a:bodyPr>
            <a:lstStyle/>
            <a:p>
              <a:pPr algn="l"/>
              <a:r>
                <a:rPr lang="zh-CN" sz="980" b="1" dirty="0">
                  <a:solidFill>
                    <a:srgbClr val="C1553F"/>
                  </a:solidFill>
                  <a:latin typeface="+mn-lt"/>
                  <a:ea typeface="+mn-ea"/>
                  <a:cs typeface="+mn-cs"/>
                </a:rPr>
                <a:t>✓ 新品类拓展</a:t>
              </a:r>
            </a:p>
          </p:txBody>
        </p:sp>
        <p:sp>
          <p:nvSpPr>
            <p:cNvPr id="56" name="Rectangle 56"/>
            <p:cNvSpPr/>
            <p:nvPr/>
          </p:nvSpPr>
          <p:spPr>
            <a:xfrm>
              <a:off x="9163050" y="3333750"/>
              <a:ext cx="2724150" cy="552450"/>
            </a:xfrm>
            <a:prstGeom prst="roundRect">
              <a:avLst>
                <a:gd name="adj" fmla="val 6897"/>
              </a:avLst>
            </a:prstGeom>
            <a:solidFill>
              <a:srgbClr val="FFFFFF"/>
            </a:solidFill>
            <a:ln w="9525">
              <a:solidFill>
                <a:srgbClr val="C9CFEA"/>
              </a:solidFill>
            </a:ln>
          </p:spPr>
        </p:sp>
        <p:sp>
          <p:nvSpPr>
            <p:cNvPr id="57" name="TextBox 57"/>
            <p:cNvSpPr txBox="1"/>
            <p:nvPr/>
          </p:nvSpPr>
          <p:spPr>
            <a:xfrm>
              <a:off x="9999383" y="3564493"/>
              <a:ext cx="105148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拓展新圈层核心品类</a:t>
              </a:r>
            </a:p>
          </p:txBody>
        </p:sp>
        <p:sp>
          <p:nvSpPr>
            <p:cNvPr id="58" name="TextBox 58"/>
            <p:cNvSpPr txBox="1"/>
            <p:nvPr/>
          </p:nvSpPr>
          <p:spPr>
            <a:xfrm>
              <a:off x="9196197" y="4104799"/>
              <a:ext cx="849625" cy="190690"/>
            </a:xfrm>
            <a:prstGeom prst="rect">
              <a:avLst/>
            </a:prstGeom>
            <a:noFill/>
            <a:ln>
              <a:noFill/>
            </a:ln>
          </p:spPr>
          <p:txBody>
            <a:bodyPr wrap="none" lIns="0" tIns="0" rIns="0" bIns="0" anchor="t" anchorCtr="0">
              <a:spAutoFit/>
            </a:bodyPr>
            <a:lstStyle/>
            <a:p>
              <a:pPr algn="l"/>
              <a:r>
                <a:rPr lang="zh-CN" sz="980" b="1" dirty="0">
                  <a:solidFill>
                    <a:srgbClr val="C1553F"/>
                  </a:solidFill>
                  <a:latin typeface="+mn-lt"/>
                  <a:ea typeface="+mn-ea"/>
                  <a:cs typeface="+mn-cs"/>
                </a:rPr>
                <a:t>✓ 新场景洞察</a:t>
              </a:r>
            </a:p>
          </p:txBody>
        </p:sp>
        <p:sp>
          <p:nvSpPr>
            <p:cNvPr id="59" name="Rectangle 59"/>
            <p:cNvSpPr/>
            <p:nvPr/>
          </p:nvSpPr>
          <p:spPr>
            <a:xfrm>
              <a:off x="9163050" y="4324350"/>
              <a:ext cx="2724150" cy="552450"/>
            </a:xfrm>
            <a:prstGeom prst="roundRect">
              <a:avLst>
                <a:gd name="adj" fmla="val 6897"/>
              </a:avLst>
            </a:prstGeom>
            <a:solidFill>
              <a:srgbClr val="FFFFFF"/>
            </a:solidFill>
            <a:ln w="9525">
              <a:solidFill>
                <a:srgbClr val="C9CFEA"/>
              </a:solidFill>
            </a:ln>
          </p:spPr>
        </p:sp>
        <p:sp>
          <p:nvSpPr>
            <p:cNvPr id="60" name="TextBox 60"/>
            <p:cNvSpPr txBox="1"/>
            <p:nvPr/>
          </p:nvSpPr>
          <p:spPr>
            <a:xfrm>
              <a:off x="10057270" y="4478893"/>
              <a:ext cx="935711"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圈层下更细分场景</a:t>
              </a:r>
            </a:p>
          </p:txBody>
        </p:sp>
        <p:sp>
          <p:nvSpPr>
            <p:cNvPr id="61" name="TextBox 61"/>
            <p:cNvSpPr txBox="1"/>
            <p:nvPr/>
          </p:nvSpPr>
          <p:spPr>
            <a:xfrm>
              <a:off x="10288816" y="4669393"/>
              <a:ext cx="472618"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创新场景</a:t>
              </a:r>
            </a:p>
          </p:txBody>
        </p:sp>
      </p:grpSp>
      <p:grpSp>
        <p:nvGrpSpPr>
          <p:cNvPr id="78" name="bottom-flow"/>
          <p:cNvGrpSpPr/>
          <p:nvPr/>
        </p:nvGrpSpPr>
        <p:grpSpPr>
          <a:xfrm>
            <a:off x="876300" y="5200650"/>
            <a:ext cx="10439400" cy="1104900"/>
            <a:chOff x="876300" y="5200650"/>
            <a:chExt cx="10439400" cy="1104900"/>
          </a:xfrm>
        </p:grpSpPr>
        <p:sp>
          <p:nvSpPr>
            <p:cNvPr id="63" name="Ellipse 63"/>
            <p:cNvSpPr/>
            <p:nvPr/>
          </p:nvSpPr>
          <p:spPr>
            <a:xfrm>
              <a:off x="876300" y="5200650"/>
              <a:ext cx="1104900" cy="1104900"/>
            </a:xfrm>
            <a:prstGeom prst="ellipse">
              <a:avLst/>
            </a:prstGeom>
            <a:gradFill>
              <a:gsLst>
                <a:gs pos="0">
                  <a:srgbClr val="ED8776"/>
                </a:gs>
                <a:gs pos="100000">
                  <a:srgbClr val="E5624C"/>
                </a:gs>
              </a:gsLst>
              <a:lin ang="2700000" scaled="1"/>
            </a:gradFill>
            <a:ln>
              <a:noFill/>
            </a:ln>
          </p:spPr>
        </p:sp>
        <p:sp>
          <p:nvSpPr>
            <p:cNvPr id="64" name="TextBox 64"/>
            <p:cNvSpPr txBox="1"/>
            <p:nvPr/>
          </p:nvSpPr>
          <p:spPr>
            <a:xfrm>
              <a:off x="1287590" y="5523548"/>
              <a:ext cx="282321"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人</a:t>
              </a:r>
            </a:p>
          </p:txBody>
        </p:sp>
        <p:sp>
          <p:nvSpPr>
            <p:cNvPr id="65" name="TextBox 65"/>
            <p:cNvSpPr txBox="1"/>
            <p:nvPr/>
          </p:nvSpPr>
          <p:spPr>
            <a:xfrm>
              <a:off x="1181672" y="5865495"/>
              <a:ext cx="494157" cy="176212"/>
            </a:xfrm>
            <a:prstGeom prst="rect">
              <a:avLst/>
            </a:prstGeom>
            <a:noFill/>
            <a:ln>
              <a:noFill/>
            </a:ln>
          </p:spPr>
          <p:txBody>
            <a:bodyPr wrap="none" lIns="0" tIns="0" rIns="0" bIns="0" anchor="t" anchorCtr="0">
              <a:spAutoFit/>
            </a:bodyPr>
            <a:lstStyle/>
            <a:p>
              <a:pPr algn="ctr"/>
              <a:r>
                <a:rPr lang="zh-CN" sz="900" dirty="0">
                  <a:solidFill>
                    <a:srgbClr val="FDEDE8"/>
                  </a:solidFill>
                  <a:latin typeface="+mn-lt"/>
                  <a:ea typeface="+mn-ea"/>
                  <a:cs typeface="+mn-cs"/>
                </a:rPr>
                <a:t>圈层人群</a:t>
              </a:r>
            </a:p>
          </p:txBody>
        </p:sp>
        <p:sp>
          <p:nvSpPr>
            <p:cNvPr id="66" name="Line 66"/>
            <p:cNvSpPr/>
            <p:nvPr/>
          </p:nvSpPr>
          <p:spPr>
            <a:xfrm>
              <a:off x="2057400" y="5753100"/>
              <a:ext cx="3352800" cy="1"/>
            </a:xfrm>
            <a:prstGeom prst="line">
              <a:avLst/>
            </a:prstGeom>
            <a:noFill/>
            <a:ln w="19050">
              <a:solidFill>
                <a:srgbClr val="E0B3AA"/>
              </a:solidFill>
              <a:tailEnd type="triangle" w="lg" len="lg"/>
            </a:ln>
          </p:spPr>
        </p:sp>
        <p:sp>
          <p:nvSpPr>
            <p:cNvPr id="67" name="TextBox 67"/>
            <p:cNvSpPr txBox="1"/>
            <p:nvPr/>
          </p:nvSpPr>
          <p:spPr>
            <a:xfrm>
              <a:off x="3318043" y="5469493"/>
              <a:ext cx="831515" cy="169069"/>
            </a:xfrm>
            <a:prstGeom prst="rect">
              <a:avLst/>
            </a:prstGeom>
            <a:noFill/>
            <a:ln>
              <a:noFill/>
            </a:ln>
          </p:spPr>
          <p:txBody>
            <a:bodyPr wrap="none" lIns="0" tIns="0" rIns="0" bIns="0" anchor="t" anchorCtr="0">
              <a:spAutoFit/>
            </a:bodyPr>
            <a:lstStyle/>
            <a:p>
              <a:pPr algn="ctr"/>
              <a:r>
                <a:rPr lang="zh-CN" sz="860" dirty="0">
                  <a:solidFill>
                    <a:srgbClr val="808699"/>
                  </a:solidFill>
                  <a:latin typeface="+mn-lt"/>
                  <a:ea typeface="+mn-ea"/>
                  <a:cs typeface="+mn-cs"/>
                </a:rPr>
                <a:t>画像/标签/底池</a:t>
              </a:r>
            </a:p>
          </p:txBody>
        </p:sp>
        <p:sp>
          <p:nvSpPr>
            <p:cNvPr id="68" name="TextBox 68"/>
            <p:cNvSpPr txBox="1"/>
            <p:nvPr/>
          </p:nvSpPr>
          <p:spPr>
            <a:xfrm>
              <a:off x="3497491" y="5945743"/>
              <a:ext cx="472618" cy="169069"/>
            </a:xfrm>
            <a:prstGeom prst="rect">
              <a:avLst/>
            </a:prstGeom>
            <a:noFill/>
            <a:ln>
              <a:noFill/>
            </a:ln>
          </p:spPr>
          <p:txBody>
            <a:bodyPr wrap="none" lIns="0" tIns="0" rIns="0" bIns="0" anchor="t" anchorCtr="0">
              <a:spAutoFit/>
            </a:bodyPr>
            <a:lstStyle/>
            <a:p>
              <a:pPr algn="ctr"/>
              <a:r>
                <a:rPr lang="zh-CN" sz="860" dirty="0">
                  <a:solidFill>
                    <a:srgbClr val="808699"/>
                  </a:solidFill>
                  <a:latin typeface="+mn-lt"/>
                  <a:ea typeface="+mn-ea"/>
                  <a:cs typeface="+mn-cs"/>
                </a:rPr>
                <a:t>人群扩充</a:t>
              </a:r>
            </a:p>
          </p:txBody>
        </p:sp>
        <p:sp>
          <p:nvSpPr>
            <p:cNvPr id="69" name="Ellipse 69"/>
            <p:cNvSpPr/>
            <p:nvPr/>
          </p:nvSpPr>
          <p:spPr>
            <a:xfrm>
              <a:off x="5543550" y="5200650"/>
              <a:ext cx="1104900" cy="1104900"/>
            </a:xfrm>
            <a:prstGeom prst="ellipse">
              <a:avLst/>
            </a:prstGeom>
            <a:gradFill>
              <a:gsLst>
                <a:gs pos="0">
                  <a:srgbClr val="CE897B"/>
                </a:gs>
                <a:gs pos="100000">
                  <a:srgbClr val="C1553F"/>
                </a:gs>
              </a:gsLst>
              <a:lin ang="2700000" scaled="1"/>
            </a:gradFill>
            <a:ln>
              <a:noFill/>
            </a:ln>
          </p:spPr>
        </p:sp>
        <p:sp>
          <p:nvSpPr>
            <p:cNvPr id="70" name="TextBox 70"/>
            <p:cNvSpPr txBox="1"/>
            <p:nvPr/>
          </p:nvSpPr>
          <p:spPr>
            <a:xfrm>
              <a:off x="5954840" y="5523548"/>
              <a:ext cx="282321"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货</a:t>
              </a:r>
            </a:p>
          </p:txBody>
        </p:sp>
        <p:sp>
          <p:nvSpPr>
            <p:cNvPr id="71" name="TextBox 71"/>
            <p:cNvSpPr txBox="1"/>
            <p:nvPr/>
          </p:nvSpPr>
          <p:spPr>
            <a:xfrm>
              <a:off x="5848921" y="5865495"/>
              <a:ext cx="494157" cy="176212"/>
            </a:xfrm>
            <a:prstGeom prst="rect">
              <a:avLst/>
            </a:prstGeom>
            <a:noFill/>
            <a:ln>
              <a:noFill/>
            </a:ln>
          </p:spPr>
          <p:txBody>
            <a:bodyPr wrap="none" lIns="0" tIns="0" rIns="0" bIns="0" anchor="t" anchorCtr="0">
              <a:spAutoFit/>
            </a:bodyPr>
            <a:lstStyle/>
            <a:p>
              <a:pPr algn="ctr"/>
              <a:r>
                <a:rPr lang="zh-CN" sz="900" dirty="0">
                  <a:solidFill>
                    <a:srgbClr val="E8EAFB"/>
                  </a:solidFill>
                  <a:latin typeface="+mn-lt"/>
                  <a:ea typeface="+mn-ea"/>
                  <a:cs typeface="+mn-cs"/>
                </a:rPr>
                <a:t>货品打造</a:t>
              </a:r>
            </a:p>
          </p:txBody>
        </p:sp>
        <p:sp>
          <p:nvSpPr>
            <p:cNvPr id="72" name="Line 72"/>
            <p:cNvSpPr/>
            <p:nvPr/>
          </p:nvSpPr>
          <p:spPr>
            <a:xfrm>
              <a:off x="6724650" y="5753100"/>
              <a:ext cx="3352800" cy="1"/>
            </a:xfrm>
            <a:prstGeom prst="line">
              <a:avLst/>
            </a:prstGeom>
            <a:noFill/>
            <a:ln w="19050">
              <a:solidFill>
                <a:srgbClr val="E0B3AA"/>
              </a:solidFill>
              <a:tailEnd type="triangle" w="lg" len="lg"/>
            </a:ln>
          </p:spPr>
        </p:sp>
        <p:sp>
          <p:nvSpPr>
            <p:cNvPr id="73" name="TextBox 73"/>
            <p:cNvSpPr txBox="1"/>
            <p:nvPr/>
          </p:nvSpPr>
          <p:spPr>
            <a:xfrm>
              <a:off x="8164741" y="5469493"/>
              <a:ext cx="472618" cy="169069"/>
            </a:xfrm>
            <a:prstGeom prst="rect">
              <a:avLst/>
            </a:prstGeom>
            <a:noFill/>
            <a:ln>
              <a:noFill/>
            </a:ln>
          </p:spPr>
          <p:txBody>
            <a:bodyPr wrap="none" lIns="0" tIns="0" rIns="0" bIns="0" anchor="t" anchorCtr="0">
              <a:spAutoFit/>
            </a:bodyPr>
            <a:lstStyle/>
            <a:p>
              <a:pPr algn="ctr"/>
              <a:r>
                <a:rPr lang="zh-CN" sz="860" dirty="0">
                  <a:solidFill>
                    <a:srgbClr val="808699"/>
                  </a:solidFill>
                  <a:latin typeface="+mn-lt"/>
                  <a:ea typeface="+mn-ea"/>
                  <a:cs typeface="+mn-cs"/>
                </a:rPr>
                <a:t>合力推动</a:t>
              </a:r>
            </a:p>
          </p:txBody>
        </p:sp>
        <p:sp>
          <p:nvSpPr>
            <p:cNvPr id="74" name="TextBox 74"/>
            <p:cNvSpPr txBox="1"/>
            <p:nvPr/>
          </p:nvSpPr>
          <p:spPr>
            <a:xfrm>
              <a:off x="8164741" y="5945743"/>
              <a:ext cx="472618" cy="169069"/>
            </a:xfrm>
            <a:prstGeom prst="rect">
              <a:avLst/>
            </a:prstGeom>
            <a:noFill/>
            <a:ln>
              <a:noFill/>
            </a:ln>
          </p:spPr>
          <p:txBody>
            <a:bodyPr wrap="none" lIns="0" tIns="0" rIns="0" bIns="0" anchor="t" anchorCtr="0">
              <a:spAutoFit/>
            </a:bodyPr>
            <a:lstStyle/>
            <a:p>
              <a:pPr algn="ctr"/>
              <a:r>
                <a:rPr lang="zh-CN" sz="860" dirty="0">
                  <a:solidFill>
                    <a:srgbClr val="808699"/>
                  </a:solidFill>
                  <a:latin typeface="+mn-lt"/>
                  <a:ea typeface="+mn-ea"/>
                  <a:cs typeface="+mn-cs"/>
                </a:rPr>
                <a:t>丰富货品</a:t>
              </a:r>
            </a:p>
          </p:txBody>
        </p:sp>
        <p:sp>
          <p:nvSpPr>
            <p:cNvPr id="75" name="Ellipse 75"/>
            <p:cNvSpPr/>
            <p:nvPr/>
          </p:nvSpPr>
          <p:spPr>
            <a:xfrm>
              <a:off x="10210800" y="5200650"/>
              <a:ext cx="1104900" cy="1104900"/>
            </a:xfrm>
            <a:prstGeom prst="ellipse">
              <a:avLst/>
            </a:prstGeom>
            <a:gradFill>
              <a:gsLst>
                <a:gs pos="0">
                  <a:srgbClr val="CE897B"/>
                </a:gs>
                <a:gs pos="100000">
                  <a:srgbClr val="C1553F"/>
                </a:gs>
              </a:gsLst>
              <a:lin ang="2700000" scaled="1"/>
            </a:gradFill>
            <a:ln>
              <a:noFill/>
            </a:ln>
          </p:spPr>
        </p:sp>
        <p:sp>
          <p:nvSpPr>
            <p:cNvPr id="76" name="TextBox 76"/>
            <p:cNvSpPr txBox="1"/>
            <p:nvPr/>
          </p:nvSpPr>
          <p:spPr>
            <a:xfrm>
              <a:off x="10622090" y="5523548"/>
              <a:ext cx="282321"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场</a:t>
              </a:r>
            </a:p>
          </p:txBody>
        </p:sp>
        <p:sp>
          <p:nvSpPr>
            <p:cNvPr id="77" name="TextBox 77"/>
            <p:cNvSpPr txBox="1"/>
            <p:nvPr/>
          </p:nvSpPr>
          <p:spPr>
            <a:xfrm>
              <a:off x="10516172" y="5865495"/>
              <a:ext cx="494157" cy="176212"/>
            </a:xfrm>
            <a:prstGeom prst="rect">
              <a:avLst/>
            </a:prstGeom>
            <a:noFill/>
            <a:ln>
              <a:noFill/>
            </a:ln>
          </p:spPr>
          <p:txBody>
            <a:bodyPr wrap="none" lIns="0" tIns="0" rIns="0" bIns="0" anchor="t" anchorCtr="0">
              <a:spAutoFit/>
            </a:bodyPr>
            <a:lstStyle/>
            <a:p>
              <a:pPr algn="ctr"/>
              <a:r>
                <a:rPr lang="zh-CN" sz="900" dirty="0">
                  <a:solidFill>
                    <a:srgbClr val="E8EAFB"/>
                  </a:solidFill>
                  <a:latin typeface="+mn-lt"/>
                  <a:ea typeface="+mn-ea"/>
                  <a:cs typeface="+mn-cs"/>
                </a:rPr>
                <a:t>营销造场</a:t>
              </a:r>
            </a:p>
          </p:txBody>
        </p:sp>
      </p:gr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799085" cy="440055"/>
            <a:chOff x="302895" y="214312"/>
            <a:chExt cx="2799085"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25.​</a:t>
              </a:r>
            </a:p>
          </p:txBody>
        </p:sp>
        <p:sp>
          <p:nvSpPr>
            <p:cNvPr id="3" name="TextBox 3"/>
            <p:cNvSpPr txBox="1"/>
            <p:nvPr/>
          </p:nvSpPr>
          <p:spPr>
            <a:xfrm>
              <a:off x="866394" y="246698"/>
              <a:ext cx="223558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GENZ内容营销方向</a:t>
              </a:r>
            </a:p>
          </p:txBody>
        </p:sp>
      </p:grpSp>
      <p:grpSp>
        <p:nvGrpSpPr>
          <p:cNvPr id="23" name="genz-funnel"/>
          <p:cNvGrpSpPr/>
          <p:nvPr/>
        </p:nvGrpSpPr>
        <p:grpSpPr>
          <a:xfrm>
            <a:off x="285750" y="952500"/>
            <a:ext cx="4381500" cy="4762500"/>
            <a:chOff x="285750" y="952500"/>
            <a:chExt cx="4381500" cy="4762500"/>
          </a:xfrm>
        </p:grpSpPr>
        <p:sp>
          <p:nvSpPr>
            <p:cNvPr id="5" name="Freeform 5"/>
            <p:cNvSpPr/>
            <p:nvPr/>
          </p:nvSpPr>
          <p:spPr>
            <a:xfrm rot="5400000">
              <a:off x="-95250" y="1333500"/>
              <a:ext cx="4762500" cy="4000500"/>
            </a:xfrm>
            <a:prstGeom prst="triangle">
              <a:avLst/>
            </a:prstGeom>
            <a:solidFill>
              <a:srgbClr val="F1F3FB"/>
            </a:solidFill>
            <a:ln>
              <a:noFill/>
            </a:ln>
          </p:spPr>
        </p:sp>
        <p:sp>
          <p:nvSpPr>
            <p:cNvPr id="6" name="Rectangle 6"/>
            <p:cNvSpPr/>
            <p:nvPr/>
          </p:nvSpPr>
          <p:spPr>
            <a:xfrm>
              <a:off x="533400" y="1428750"/>
              <a:ext cx="2571750" cy="1009650"/>
            </a:xfrm>
            <a:prstGeom prst="roundRect">
              <a:avLst>
                <a:gd name="adj" fmla="val 3774"/>
              </a:avLst>
            </a:prstGeom>
            <a:solidFill>
              <a:srgbClr val="FFFFFF"/>
            </a:solidFill>
            <a:ln w="9525">
              <a:solidFill>
                <a:srgbClr val="D5D9F0"/>
              </a:solidFill>
            </a:ln>
          </p:spPr>
        </p:sp>
        <p:sp>
          <p:nvSpPr>
            <p:cNvPr id="7" name="Rectangle 7"/>
            <p:cNvSpPr/>
            <p:nvPr/>
          </p:nvSpPr>
          <p:spPr>
            <a:xfrm>
              <a:off x="685800" y="1562100"/>
              <a:ext cx="838200" cy="247650"/>
            </a:xfrm>
            <a:prstGeom prst="roundRect">
              <a:avLst>
                <a:gd name="adj" fmla="val 50000"/>
              </a:avLst>
            </a:prstGeom>
            <a:solidFill>
              <a:srgbClr val="D47D6B"/>
            </a:solidFill>
            <a:ln>
              <a:noFill/>
            </a:ln>
          </p:spPr>
        </p:sp>
        <p:sp>
          <p:nvSpPr>
            <p:cNvPr id="8" name="TextBox 8"/>
            <p:cNvSpPr txBox="1"/>
            <p:nvPr/>
          </p:nvSpPr>
          <p:spPr>
            <a:xfrm>
              <a:off x="918400" y="1636395"/>
              <a:ext cx="372999"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类型一</a:t>
              </a:r>
            </a:p>
          </p:txBody>
        </p:sp>
        <p:sp>
          <p:nvSpPr>
            <p:cNvPr id="9" name="TextBox 9"/>
            <p:cNvSpPr txBox="1"/>
            <p:nvPr/>
          </p:nvSpPr>
          <p:spPr>
            <a:xfrm>
              <a:off x="1235646" y="1964293"/>
              <a:ext cx="1167257"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他们能够发现自我产生</a:t>
              </a:r>
            </a:p>
          </p:txBody>
        </p:sp>
        <p:sp>
          <p:nvSpPr>
            <p:cNvPr id="10" name="TextBox 10"/>
            <p:cNvSpPr txBox="1"/>
            <p:nvPr/>
          </p:nvSpPr>
          <p:spPr>
            <a:xfrm>
              <a:off x="1525080" y="2154793"/>
              <a:ext cx="588391"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共鸣的内容</a:t>
              </a:r>
            </a:p>
          </p:txBody>
        </p:sp>
        <p:sp>
          <p:nvSpPr>
            <p:cNvPr id="11" name="Rectangle 11"/>
            <p:cNvSpPr/>
            <p:nvPr/>
          </p:nvSpPr>
          <p:spPr>
            <a:xfrm>
              <a:off x="419100" y="2781300"/>
              <a:ext cx="2571750" cy="1009650"/>
            </a:xfrm>
            <a:prstGeom prst="roundRect">
              <a:avLst>
                <a:gd name="adj" fmla="val 3774"/>
              </a:avLst>
            </a:prstGeom>
            <a:solidFill>
              <a:srgbClr val="FFFFFF"/>
            </a:solidFill>
            <a:ln w="9525">
              <a:solidFill>
                <a:srgbClr val="EDD5CD"/>
              </a:solidFill>
            </a:ln>
          </p:spPr>
        </p:sp>
        <p:sp>
          <p:nvSpPr>
            <p:cNvPr id="12" name="Rectangle 12"/>
            <p:cNvSpPr/>
            <p:nvPr/>
          </p:nvSpPr>
          <p:spPr>
            <a:xfrm>
              <a:off x="571500" y="2914650"/>
              <a:ext cx="838200" cy="247650"/>
            </a:xfrm>
            <a:prstGeom prst="roundRect">
              <a:avLst>
                <a:gd name="adj" fmla="val 50000"/>
              </a:avLst>
            </a:prstGeom>
            <a:solidFill>
              <a:srgbClr val="E5624C"/>
            </a:solidFill>
            <a:ln>
              <a:noFill/>
            </a:ln>
          </p:spPr>
        </p:sp>
        <p:sp>
          <p:nvSpPr>
            <p:cNvPr id="13" name="TextBox 13"/>
            <p:cNvSpPr txBox="1"/>
            <p:nvPr/>
          </p:nvSpPr>
          <p:spPr>
            <a:xfrm>
              <a:off x="804100" y="2988945"/>
              <a:ext cx="372999"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类型二</a:t>
              </a:r>
            </a:p>
          </p:txBody>
        </p:sp>
        <p:sp>
          <p:nvSpPr>
            <p:cNvPr id="14" name="TextBox 14"/>
            <p:cNvSpPr txBox="1"/>
            <p:nvPr/>
          </p:nvSpPr>
          <p:spPr>
            <a:xfrm>
              <a:off x="1121346" y="3316843"/>
              <a:ext cx="1167257" cy="169069"/>
            </a:xfrm>
            <a:prstGeom prst="rect">
              <a:avLst/>
            </a:prstGeom>
            <a:noFill/>
            <a:ln>
              <a:noFill/>
            </a:ln>
          </p:spPr>
          <p:txBody>
            <a:bodyPr wrap="none" lIns="0" tIns="0" rIns="0" bIns="0" anchor="t" anchorCtr="0">
              <a:spAutoFit/>
            </a:bodyPr>
            <a:lstStyle/>
            <a:p>
              <a:pPr algn="ctr"/>
              <a:r>
                <a:rPr lang="zh-CN" sz="860" dirty="0">
                  <a:solidFill>
                    <a:srgbClr val="E5624C"/>
                  </a:solidFill>
                  <a:latin typeface="+mn-lt"/>
                  <a:ea typeface="+mn-ea"/>
                  <a:cs typeface="+mn-cs"/>
                </a:rPr>
                <a:t>偏爱刷新甚至颠覆现有</a:t>
              </a:r>
            </a:p>
          </p:txBody>
        </p:sp>
        <p:sp>
          <p:nvSpPr>
            <p:cNvPr id="15" name="TextBox 15"/>
            <p:cNvSpPr txBox="1"/>
            <p:nvPr/>
          </p:nvSpPr>
          <p:spPr>
            <a:xfrm>
              <a:off x="1410780" y="3507343"/>
              <a:ext cx="588391" cy="169069"/>
            </a:xfrm>
            <a:prstGeom prst="rect">
              <a:avLst/>
            </a:prstGeom>
            <a:noFill/>
            <a:ln>
              <a:noFill/>
            </a:ln>
          </p:spPr>
          <p:txBody>
            <a:bodyPr wrap="none" lIns="0" tIns="0" rIns="0" bIns="0" anchor="t" anchorCtr="0">
              <a:spAutoFit/>
            </a:bodyPr>
            <a:lstStyle/>
            <a:p>
              <a:pPr algn="ctr"/>
              <a:r>
                <a:rPr lang="zh-CN" sz="860" dirty="0">
                  <a:solidFill>
                    <a:srgbClr val="E5624C"/>
                  </a:solidFill>
                  <a:latin typeface="+mn-lt"/>
                  <a:ea typeface="+mn-ea"/>
                  <a:cs typeface="+mn-cs"/>
                </a:rPr>
                <a:t>认知的内容</a:t>
              </a:r>
            </a:p>
          </p:txBody>
        </p:sp>
        <p:sp>
          <p:nvSpPr>
            <p:cNvPr id="16" name="Rectangle 16"/>
            <p:cNvSpPr/>
            <p:nvPr/>
          </p:nvSpPr>
          <p:spPr>
            <a:xfrm>
              <a:off x="533400" y="4133850"/>
              <a:ext cx="2571750" cy="1009650"/>
            </a:xfrm>
            <a:prstGeom prst="roundRect">
              <a:avLst>
                <a:gd name="adj" fmla="val 3774"/>
              </a:avLst>
            </a:prstGeom>
            <a:solidFill>
              <a:srgbClr val="FFFFFF"/>
            </a:solidFill>
            <a:ln w="9525">
              <a:solidFill>
                <a:srgbClr val="D5D9F0"/>
              </a:solidFill>
            </a:ln>
          </p:spPr>
        </p:sp>
        <p:sp>
          <p:nvSpPr>
            <p:cNvPr id="17" name="Rectangle 17"/>
            <p:cNvSpPr/>
            <p:nvPr/>
          </p:nvSpPr>
          <p:spPr>
            <a:xfrm>
              <a:off x="685800" y="4267200"/>
              <a:ext cx="838200" cy="247650"/>
            </a:xfrm>
            <a:prstGeom prst="roundRect">
              <a:avLst>
                <a:gd name="adj" fmla="val 50000"/>
              </a:avLst>
            </a:prstGeom>
            <a:solidFill>
              <a:srgbClr val="D47D6B"/>
            </a:solidFill>
            <a:ln>
              <a:noFill/>
            </a:ln>
          </p:spPr>
        </p:sp>
        <p:sp>
          <p:nvSpPr>
            <p:cNvPr id="18" name="TextBox 18"/>
            <p:cNvSpPr txBox="1"/>
            <p:nvPr/>
          </p:nvSpPr>
          <p:spPr>
            <a:xfrm>
              <a:off x="918400" y="4341495"/>
              <a:ext cx="372999"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类型三</a:t>
              </a:r>
            </a:p>
          </p:txBody>
        </p:sp>
        <p:sp>
          <p:nvSpPr>
            <p:cNvPr id="19" name="TextBox 19"/>
            <p:cNvSpPr txBox="1"/>
            <p:nvPr/>
          </p:nvSpPr>
          <p:spPr>
            <a:xfrm>
              <a:off x="1235646" y="4669393"/>
              <a:ext cx="1167257"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偏爱能激发灵感有参与</a:t>
              </a:r>
            </a:p>
          </p:txBody>
        </p:sp>
        <p:sp>
          <p:nvSpPr>
            <p:cNvPr id="20" name="TextBox 20"/>
            <p:cNvSpPr txBox="1"/>
            <p:nvPr/>
          </p:nvSpPr>
          <p:spPr>
            <a:xfrm>
              <a:off x="1525080" y="4859893"/>
              <a:ext cx="588391"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空间的内容</a:t>
              </a:r>
            </a:p>
          </p:txBody>
        </p:sp>
        <p:sp>
          <p:nvSpPr>
            <p:cNvPr id="21" name="TextBox 21"/>
            <p:cNvSpPr txBox="1"/>
            <p:nvPr/>
          </p:nvSpPr>
          <p:spPr>
            <a:xfrm>
              <a:off x="3938588" y="2684145"/>
              <a:ext cx="123825" cy="938212"/>
            </a:xfrm>
            <a:prstGeom prst="rect">
              <a:avLst/>
            </a:prstGeom>
            <a:noFill/>
            <a:ln>
              <a:noFill/>
            </a:ln>
          </p:spPr>
          <p:txBody>
            <a:bodyPr wrap="none" lIns="0" tIns="0" rIns="0" bIns="0" anchor="t" anchorCtr="0">
              <a:spAutoFit/>
            </a:bodyPr>
            <a:lstStyle/>
            <a:p>
              <a:pPr algn="ctr">
                <a:lnSpc>
                  <a:spcPts val="1500"/>
                </a:lnSpc>
              </a:pPr>
              <a:r>
                <a:rPr lang="zh-CN" sz="900" dirty="0">
                  <a:solidFill>
                    <a:srgbClr val="C1553F"/>
                  </a:solidFill>
                  <a:latin typeface="+mn-lt"/>
                  <a:ea typeface="+mn-ea"/>
                  <a:cs typeface="+mn-cs"/>
                </a:rPr>
                <a:t>加</a:t>
              </a:r>
              <a:br/>
              <a:r>
                <a:rPr lang="zh-CN" sz="900" dirty="0">
                  <a:solidFill>
                    <a:srgbClr val="C1553F"/>
                  </a:solidFill>
                  <a:latin typeface="+mn-lt"/>
                  <a:ea typeface="+mn-ea"/>
                  <a:cs typeface="+mn-cs"/>
                </a:rPr>
                <a:t>入</a:t>
              </a:r>
              <a:br/>
              <a:r>
                <a:rPr lang="zh-CN" sz="900" dirty="0">
                  <a:solidFill>
                    <a:srgbClr val="C1553F"/>
                  </a:solidFill>
                  <a:latin typeface="+mn-lt"/>
                  <a:ea typeface="+mn-ea"/>
                  <a:cs typeface="+mn-cs"/>
                </a:rPr>
                <a:t>年</a:t>
              </a:r>
              <a:br/>
              <a:r>
                <a:rPr lang="zh-CN" sz="900" dirty="0">
                  <a:solidFill>
                    <a:srgbClr val="C1553F"/>
                  </a:solidFill>
                  <a:latin typeface="+mn-lt"/>
                  <a:ea typeface="+mn-ea"/>
                  <a:cs typeface="+mn-cs"/>
                </a:rPr>
                <a:t>轻</a:t>
              </a:r>
              <a:br/>
              <a:r>
                <a:rPr lang="zh-CN" sz="900" dirty="0">
                  <a:solidFill>
                    <a:srgbClr val="C1553F"/>
                  </a:solidFill>
                  <a:latin typeface="+mn-lt"/>
                  <a:ea typeface="+mn-ea"/>
                  <a:cs typeface="+mn-cs"/>
                </a:rPr>
                <a:t>人</a:t>
              </a:r>
            </a:p>
          </p:txBody>
        </p:sp>
        <p:sp>
          <p:nvSpPr>
            <p:cNvPr id="22" name="TextBox 22"/>
            <p:cNvSpPr txBox="1"/>
            <p:nvPr/>
          </p:nvSpPr>
          <p:spPr>
            <a:xfrm>
              <a:off x="3729038" y="2874645"/>
              <a:ext cx="123825" cy="938212"/>
            </a:xfrm>
            <a:prstGeom prst="rect">
              <a:avLst/>
            </a:prstGeom>
            <a:noFill/>
            <a:ln>
              <a:noFill/>
            </a:ln>
          </p:spPr>
          <p:txBody>
            <a:bodyPr wrap="none" lIns="0" tIns="0" rIns="0" bIns="0" anchor="t" anchorCtr="0">
              <a:spAutoFit/>
            </a:bodyPr>
            <a:lstStyle/>
            <a:p>
              <a:pPr algn="ctr">
                <a:lnSpc>
                  <a:spcPts val="1500"/>
                </a:lnSpc>
              </a:pPr>
              <a:r>
                <a:rPr lang="zh-CN" sz="900" dirty="0">
                  <a:solidFill>
                    <a:srgbClr val="C1553F"/>
                  </a:solidFill>
                  <a:latin typeface="+mn-lt"/>
                  <a:ea typeface="+mn-ea"/>
                  <a:cs typeface="+mn-cs"/>
                </a:rPr>
                <a:t>的</a:t>
              </a:r>
              <a:br/>
              <a:r>
                <a:rPr lang="zh-CN" sz="900" dirty="0">
                  <a:solidFill>
                    <a:srgbClr val="C1553F"/>
                  </a:solidFill>
                  <a:latin typeface="+mn-lt"/>
                  <a:ea typeface="+mn-ea"/>
                  <a:cs typeface="+mn-cs"/>
                </a:rPr>
                <a:t>话</a:t>
              </a:r>
              <a:br/>
              <a:r>
                <a:rPr lang="zh-CN" sz="900" dirty="0">
                  <a:solidFill>
                    <a:srgbClr val="C1553F"/>
                  </a:solidFill>
                  <a:latin typeface="+mn-lt"/>
                  <a:ea typeface="+mn-ea"/>
                  <a:cs typeface="+mn-cs"/>
                </a:rPr>
                <a:t>语</a:t>
              </a:r>
              <a:br/>
              <a:r>
                <a:rPr lang="zh-CN" sz="900" dirty="0">
                  <a:solidFill>
                    <a:srgbClr val="C1553F"/>
                  </a:solidFill>
                  <a:latin typeface="+mn-lt"/>
                  <a:ea typeface="+mn-ea"/>
                  <a:cs typeface="+mn-cs"/>
                </a:rPr>
                <a:t>体</a:t>
              </a:r>
              <a:br/>
              <a:r>
                <a:rPr lang="zh-CN" sz="900" dirty="0">
                  <a:solidFill>
                    <a:srgbClr val="C1553F"/>
                  </a:solidFill>
                  <a:latin typeface="+mn-lt"/>
                  <a:ea typeface="+mn-ea"/>
                  <a:cs typeface="+mn-cs"/>
                </a:rPr>
                <a:t>系</a:t>
              </a:r>
            </a:p>
          </p:txBody>
        </p:sp>
      </p:grpSp>
      <p:grpSp>
        <p:nvGrpSpPr>
          <p:cNvPr id="48" name="content-matrix"/>
          <p:cNvGrpSpPr/>
          <p:nvPr/>
        </p:nvGrpSpPr>
        <p:grpSpPr>
          <a:xfrm>
            <a:off x="5019675" y="1212056"/>
            <a:ext cx="6591300" cy="4182428"/>
            <a:chOff x="5019675" y="1212056"/>
            <a:chExt cx="6591300" cy="4182428"/>
          </a:xfrm>
        </p:grpSpPr>
        <p:sp>
          <p:nvSpPr>
            <p:cNvPr id="24" name="TextBox 24"/>
            <p:cNvSpPr txBox="1"/>
            <p:nvPr/>
          </p:nvSpPr>
          <p:spPr>
            <a:xfrm>
              <a:off x="5760161" y="1212056"/>
              <a:ext cx="614528"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识别用户</a:t>
              </a:r>
            </a:p>
          </p:txBody>
        </p:sp>
        <p:sp>
          <p:nvSpPr>
            <p:cNvPr id="25" name="TextBox 25"/>
            <p:cNvSpPr txBox="1"/>
            <p:nvPr/>
          </p:nvSpPr>
          <p:spPr>
            <a:xfrm>
              <a:off x="8008061" y="1212056"/>
              <a:ext cx="614528"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关注语境</a:t>
              </a:r>
            </a:p>
          </p:txBody>
        </p:sp>
        <p:sp>
          <p:nvSpPr>
            <p:cNvPr id="26" name="TextBox 26"/>
            <p:cNvSpPr txBox="1"/>
            <p:nvPr/>
          </p:nvSpPr>
          <p:spPr>
            <a:xfrm>
              <a:off x="10255961" y="1212056"/>
              <a:ext cx="614528"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塑造身份</a:t>
              </a:r>
            </a:p>
          </p:txBody>
        </p:sp>
        <p:sp>
          <p:nvSpPr>
            <p:cNvPr id="27" name="Rectangle 27"/>
            <p:cNvSpPr/>
            <p:nvPr/>
          </p:nvSpPr>
          <p:spPr>
            <a:xfrm>
              <a:off x="5019675" y="1447800"/>
              <a:ext cx="2095500" cy="1219200"/>
            </a:xfrm>
            <a:prstGeom prst="roundRect">
              <a:avLst>
                <a:gd name="adj" fmla="val 3125"/>
              </a:avLst>
            </a:prstGeom>
            <a:solidFill>
              <a:srgbClr val="FFFFFF"/>
            </a:solidFill>
            <a:ln w="9525">
              <a:solidFill>
                <a:srgbClr val="D5D9F0"/>
              </a:solidFill>
            </a:ln>
          </p:spPr>
        </p:sp>
        <p:sp>
          <p:nvSpPr>
            <p:cNvPr id="28" name="TextBox 28"/>
            <p:cNvSpPr txBox="1"/>
            <p:nvPr/>
          </p:nvSpPr>
          <p:spPr>
            <a:xfrm>
              <a:off x="5129212" y="1568291"/>
              <a:ext cx="1050925" cy="64770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识别核心用户与圈层，</a:t>
              </a:r>
              <a:br/>
              <a:r>
                <a:rPr lang="zh-CN" sz="820" dirty="0">
                  <a:solidFill>
                    <a:srgbClr val="705F5B"/>
                  </a:solidFill>
                  <a:latin typeface="+mn-lt"/>
                  <a:ea typeface="+mn-ea"/>
                  <a:cs typeface="+mn-cs"/>
                </a:rPr>
                <a:t>找到他们观看节目的</a:t>
              </a:r>
              <a:br/>
              <a:r>
                <a:rPr lang="zh-CN" sz="820" dirty="0">
                  <a:solidFill>
                    <a:srgbClr val="705F5B"/>
                  </a:solidFill>
                  <a:latin typeface="+mn-lt"/>
                  <a:ea typeface="+mn-ea"/>
                  <a:cs typeface="+mn-cs"/>
                </a:rPr>
                <a:t>心理投射和喜好，引发</a:t>
              </a:r>
              <a:br/>
              <a:r>
                <a:rPr lang="zh-CN" sz="820" dirty="0">
                  <a:solidFill>
                    <a:srgbClr val="705F5B"/>
                  </a:solidFill>
                  <a:latin typeface="+mn-lt"/>
                  <a:ea typeface="+mn-ea"/>
                  <a:cs typeface="+mn-cs"/>
                </a:rPr>
                <a:t>认同与偏好</a:t>
              </a:r>
            </a:p>
          </p:txBody>
        </p:sp>
        <p:sp>
          <p:nvSpPr>
            <p:cNvPr id="29" name="Rectangle 29"/>
            <p:cNvSpPr/>
            <p:nvPr/>
          </p:nvSpPr>
          <p:spPr>
            <a:xfrm>
              <a:off x="7267575" y="1447800"/>
              <a:ext cx="2095500" cy="1219200"/>
            </a:xfrm>
            <a:prstGeom prst="roundRect">
              <a:avLst>
                <a:gd name="adj" fmla="val 3125"/>
              </a:avLst>
            </a:prstGeom>
            <a:solidFill>
              <a:srgbClr val="FFFFFF"/>
            </a:solidFill>
            <a:ln w="9525">
              <a:solidFill>
                <a:srgbClr val="D5D9F0"/>
              </a:solidFill>
            </a:ln>
          </p:spPr>
        </p:sp>
        <p:sp>
          <p:nvSpPr>
            <p:cNvPr id="30" name="TextBox 30"/>
            <p:cNvSpPr txBox="1"/>
            <p:nvPr/>
          </p:nvSpPr>
          <p:spPr>
            <a:xfrm>
              <a:off x="7377112" y="1568291"/>
              <a:ext cx="946785" cy="64770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传播话术不能从一而</a:t>
              </a:r>
              <a:br/>
              <a:r>
                <a:rPr lang="zh-CN" sz="820" dirty="0">
                  <a:solidFill>
                    <a:srgbClr val="705F5B"/>
                  </a:solidFill>
                  <a:latin typeface="+mn-lt"/>
                  <a:ea typeface="+mn-ea"/>
                  <a:cs typeface="+mn-cs"/>
                </a:rPr>
                <a:t>终，借势节目语言体</a:t>
              </a:r>
              <a:br/>
              <a:r>
                <a:rPr lang="zh-CN" sz="820" dirty="0">
                  <a:solidFill>
                    <a:srgbClr val="705F5B"/>
                  </a:solidFill>
                  <a:latin typeface="+mn-lt"/>
                  <a:ea typeface="+mn-ea"/>
                  <a:cs typeface="+mn-cs"/>
                </a:rPr>
                <a:t>系:更易触发共鸣，</a:t>
              </a:r>
              <a:br/>
              <a:r>
                <a:rPr lang="zh-CN" sz="820" dirty="0">
                  <a:solidFill>
                    <a:srgbClr val="705F5B"/>
                  </a:solidFill>
                  <a:latin typeface="+mn-lt"/>
                  <a:ea typeface="+mn-ea"/>
                  <a:cs typeface="+mn-cs"/>
                </a:rPr>
                <a:t>形成记忆点</a:t>
              </a:r>
            </a:p>
          </p:txBody>
        </p:sp>
        <p:sp>
          <p:nvSpPr>
            <p:cNvPr id="31" name="Rectangle 31"/>
            <p:cNvSpPr/>
            <p:nvPr/>
          </p:nvSpPr>
          <p:spPr>
            <a:xfrm>
              <a:off x="9515475" y="1447800"/>
              <a:ext cx="2095500" cy="1219200"/>
            </a:xfrm>
            <a:prstGeom prst="roundRect">
              <a:avLst>
                <a:gd name="adj" fmla="val 3125"/>
              </a:avLst>
            </a:prstGeom>
            <a:solidFill>
              <a:srgbClr val="FFFFFF"/>
            </a:solidFill>
            <a:ln w="9525">
              <a:solidFill>
                <a:srgbClr val="D5D9F0"/>
              </a:solidFill>
            </a:ln>
          </p:spPr>
        </p:sp>
        <p:sp>
          <p:nvSpPr>
            <p:cNvPr id="32" name="TextBox 32"/>
            <p:cNvSpPr txBox="1"/>
            <p:nvPr/>
          </p:nvSpPr>
          <p:spPr>
            <a:xfrm>
              <a:off x="9625012" y="1568291"/>
              <a:ext cx="946785" cy="64770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品牌方下场，需塑造</a:t>
              </a:r>
              <a:br/>
              <a:r>
                <a:rPr lang="zh-CN" sz="820" dirty="0">
                  <a:solidFill>
                    <a:srgbClr val="705F5B"/>
                  </a:solidFill>
                  <a:latin typeface="+mn-lt"/>
                  <a:ea typeface="+mn-ea"/>
                  <a:cs typeface="+mn-cs"/>
                </a:rPr>
                <a:t>"身份"与"身份"的</a:t>
              </a:r>
              <a:br/>
              <a:r>
                <a:rPr lang="zh-CN" sz="820" dirty="0">
                  <a:solidFill>
                    <a:srgbClr val="705F5B"/>
                  </a:solidFill>
                  <a:latin typeface="+mn-lt"/>
                  <a:ea typeface="+mn-ea"/>
                  <a:cs typeface="+mn-cs"/>
                </a:rPr>
                <a:t>平视对话，打造与用</a:t>
              </a:r>
              <a:br/>
              <a:r>
                <a:rPr lang="zh-CN" sz="820" dirty="0">
                  <a:solidFill>
                    <a:srgbClr val="705F5B"/>
                  </a:solidFill>
                  <a:latin typeface="+mn-lt"/>
                  <a:ea typeface="+mn-ea"/>
                  <a:cs typeface="+mn-cs"/>
                </a:rPr>
                <a:t>户的阵容感</a:t>
              </a:r>
            </a:p>
          </p:txBody>
        </p:sp>
        <p:sp>
          <p:nvSpPr>
            <p:cNvPr id="33" name="Rectangle 33"/>
            <p:cNvSpPr/>
            <p:nvPr/>
          </p:nvSpPr>
          <p:spPr>
            <a:xfrm>
              <a:off x="5019675" y="2876550"/>
              <a:ext cx="2095500" cy="304800"/>
            </a:xfrm>
            <a:prstGeom prst="roundRect">
              <a:avLst>
                <a:gd name="adj" fmla="val 12500"/>
              </a:avLst>
            </a:prstGeom>
            <a:gradFill>
              <a:gsLst>
                <a:gs pos="0">
                  <a:srgbClr val="E5624C"/>
                </a:gs>
                <a:gs pos="100000">
                  <a:srgbClr val="F0998A"/>
                </a:gs>
              </a:gsLst>
              <a:lin ang="0" scaled="1"/>
            </a:gradFill>
            <a:ln>
              <a:noFill/>
            </a:ln>
          </p:spPr>
        </p:sp>
        <p:sp>
          <p:nvSpPr>
            <p:cNvPr id="34" name="TextBox 34"/>
            <p:cNvSpPr txBox="1"/>
            <p:nvPr/>
          </p:nvSpPr>
          <p:spPr>
            <a:xfrm>
              <a:off x="5666689" y="29713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输出产品新知</a:t>
              </a:r>
            </a:p>
          </p:txBody>
        </p:sp>
        <p:sp>
          <p:nvSpPr>
            <p:cNvPr id="35" name="Rectangle 35"/>
            <p:cNvSpPr/>
            <p:nvPr/>
          </p:nvSpPr>
          <p:spPr>
            <a:xfrm>
              <a:off x="7267575" y="2876550"/>
              <a:ext cx="2095500" cy="304800"/>
            </a:xfrm>
            <a:prstGeom prst="roundRect">
              <a:avLst>
                <a:gd name="adj" fmla="val 12500"/>
              </a:avLst>
            </a:prstGeom>
            <a:gradFill>
              <a:gsLst>
                <a:gs pos="0">
                  <a:srgbClr val="E5624C"/>
                </a:gs>
                <a:gs pos="100000">
                  <a:srgbClr val="F0998A"/>
                </a:gs>
              </a:gsLst>
              <a:lin ang="0" scaled="1"/>
            </a:gradFill>
            <a:ln>
              <a:noFill/>
            </a:ln>
          </p:spPr>
        </p:sp>
        <p:sp>
          <p:nvSpPr>
            <p:cNvPr id="36" name="TextBox 36"/>
            <p:cNvSpPr txBox="1"/>
            <p:nvPr/>
          </p:nvSpPr>
          <p:spPr>
            <a:xfrm>
              <a:off x="7782662" y="2971324"/>
              <a:ext cx="10653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唤醒产品使用情境</a:t>
              </a:r>
            </a:p>
          </p:txBody>
        </p:sp>
        <p:sp>
          <p:nvSpPr>
            <p:cNvPr id="37" name="Rectangle 37"/>
            <p:cNvSpPr/>
            <p:nvPr/>
          </p:nvSpPr>
          <p:spPr>
            <a:xfrm>
              <a:off x="9515475" y="2876550"/>
              <a:ext cx="2095500" cy="304800"/>
            </a:xfrm>
            <a:prstGeom prst="roundRect">
              <a:avLst>
                <a:gd name="adj" fmla="val 12500"/>
              </a:avLst>
            </a:prstGeom>
            <a:gradFill>
              <a:gsLst>
                <a:gs pos="0">
                  <a:srgbClr val="E5624C"/>
                </a:gs>
                <a:gs pos="100000">
                  <a:srgbClr val="F0998A"/>
                </a:gs>
              </a:gsLst>
              <a:lin ang="0" scaled="1"/>
            </a:gradFill>
            <a:ln>
              <a:noFill/>
            </a:ln>
          </p:spPr>
        </p:sp>
        <p:sp>
          <p:nvSpPr>
            <p:cNvPr id="38" name="TextBox 38"/>
            <p:cNvSpPr txBox="1"/>
            <p:nvPr/>
          </p:nvSpPr>
          <p:spPr>
            <a:xfrm>
              <a:off x="10162489" y="29713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激发精神共鸣</a:t>
              </a:r>
            </a:p>
          </p:txBody>
        </p:sp>
        <p:sp>
          <p:nvSpPr>
            <p:cNvPr id="39" name="Rectangle 39"/>
            <p:cNvSpPr/>
            <p:nvPr/>
          </p:nvSpPr>
          <p:spPr>
            <a:xfrm>
              <a:off x="5019675" y="3676650"/>
              <a:ext cx="2095500" cy="1219200"/>
            </a:xfrm>
            <a:prstGeom prst="roundRect">
              <a:avLst>
                <a:gd name="adj" fmla="val 3125"/>
              </a:avLst>
            </a:prstGeom>
            <a:solidFill>
              <a:srgbClr val="FFFFFF"/>
            </a:solidFill>
            <a:ln w="9525">
              <a:solidFill>
                <a:srgbClr val="D5D9F0"/>
              </a:solidFill>
            </a:ln>
          </p:spPr>
        </p:sp>
        <p:sp>
          <p:nvSpPr>
            <p:cNvPr id="40" name="TextBox 40"/>
            <p:cNvSpPr txBox="1"/>
            <p:nvPr/>
          </p:nvSpPr>
          <p:spPr>
            <a:xfrm>
              <a:off x="5129212" y="3835241"/>
              <a:ext cx="105092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内容选择能敏锐地反</a:t>
              </a:r>
              <a:br/>
              <a:r>
                <a:rPr lang="zh-CN" sz="820" dirty="0">
                  <a:solidFill>
                    <a:srgbClr val="705F5B"/>
                  </a:solidFill>
                  <a:latin typeface="+mn-lt"/>
                  <a:ea typeface="+mn-ea"/>
                  <a:cs typeface="+mn-cs"/>
                </a:rPr>
                <a:t>映年轻人的向往与焦</a:t>
              </a:r>
              <a:br/>
              <a:r>
                <a:rPr lang="zh-CN" sz="820" dirty="0">
                  <a:solidFill>
                    <a:srgbClr val="705F5B"/>
                  </a:solidFill>
                  <a:latin typeface="+mn-lt"/>
                  <a:ea typeface="+mn-ea"/>
                  <a:cs typeface="+mn-cs"/>
                </a:rPr>
                <a:t>虑，关键时代命题等。</a:t>
              </a:r>
            </a:p>
          </p:txBody>
        </p:sp>
        <p:sp>
          <p:nvSpPr>
            <p:cNvPr id="41" name="Rectangle 41"/>
            <p:cNvSpPr/>
            <p:nvPr/>
          </p:nvSpPr>
          <p:spPr>
            <a:xfrm>
              <a:off x="7267575" y="3676650"/>
              <a:ext cx="2095500" cy="1219200"/>
            </a:xfrm>
            <a:prstGeom prst="roundRect">
              <a:avLst>
                <a:gd name="adj" fmla="val 3125"/>
              </a:avLst>
            </a:prstGeom>
            <a:solidFill>
              <a:srgbClr val="FFFFFF"/>
            </a:solidFill>
            <a:ln w="9525">
              <a:solidFill>
                <a:srgbClr val="D5D9F0"/>
              </a:solidFill>
            </a:ln>
          </p:spPr>
        </p:sp>
        <p:sp>
          <p:nvSpPr>
            <p:cNvPr id="42" name="TextBox 42"/>
            <p:cNvSpPr txBox="1"/>
            <p:nvPr/>
          </p:nvSpPr>
          <p:spPr>
            <a:xfrm>
              <a:off x="7377112" y="3835241"/>
              <a:ext cx="946785" cy="64770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除了自然的场景植入</a:t>
              </a:r>
              <a:br/>
              <a:r>
                <a:rPr lang="zh-CN" sz="820" dirty="0">
                  <a:solidFill>
                    <a:srgbClr val="705F5B"/>
                  </a:solidFill>
                  <a:latin typeface="+mn-lt"/>
                  <a:ea typeface="+mn-ea"/>
                  <a:cs typeface="+mn-cs"/>
                </a:rPr>
                <a:t>之外，品牌也可以通</a:t>
              </a:r>
              <a:br/>
              <a:r>
                <a:rPr lang="zh-CN" sz="820" dirty="0">
                  <a:solidFill>
                    <a:srgbClr val="705F5B"/>
                  </a:solidFill>
                  <a:latin typeface="+mn-lt"/>
                  <a:ea typeface="+mn-ea"/>
                  <a:cs typeface="+mn-cs"/>
                </a:rPr>
                <a:t>过打造人设的方式融</a:t>
              </a:r>
              <a:br/>
              <a:r>
                <a:rPr lang="zh-CN" sz="820" dirty="0">
                  <a:solidFill>
                    <a:srgbClr val="705F5B"/>
                  </a:solidFill>
                  <a:latin typeface="+mn-lt"/>
                  <a:ea typeface="+mn-ea"/>
                  <a:cs typeface="+mn-cs"/>
                </a:rPr>
                <a:t>入节目逻辑中</a:t>
              </a:r>
            </a:p>
          </p:txBody>
        </p:sp>
        <p:sp>
          <p:nvSpPr>
            <p:cNvPr id="43" name="Rectangle 43"/>
            <p:cNvSpPr/>
            <p:nvPr/>
          </p:nvSpPr>
          <p:spPr>
            <a:xfrm>
              <a:off x="9515475" y="3676650"/>
              <a:ext cx="2095500" cy="1219200"/>
            </a:xfrm>
            <a:prstGeom prst="roundRect">
              <a:avLst>
                <a:gd name="adj" fmla="val 3125"/>
              </a:avLst>
            </a:prstGeom>
            <a:solidFill>
              <a:srgbClr val="FFFFFF"/>
            </a:solidFill>
            <a:ln w="9525">
              <a:solidFill>
                <a:srgbClr val="D5D9F0"/>
              </a:solidFill>
            </a:ln>
          </p:spPr>
        </p:sp>
        <p:sp>
          <p:nvSpPr>
            <p:cNvPr id="44" name="TextBox 44"/>
            <p:cNvSpPr txBox="1"/>
            <p:nvPr/>
          </p:nvSpPr>
          <p:spPr>
            <a:xfrm>
              <a:off x="9625012" y="3835241"/>
              <a:ext cx="946785" cy="647700"/>
            </a:xfrm>
            <a:prstGeom prst="rect">
              <a:avLst/>
            </a:prstGeom>
            <a:noFill/>
            <a:ln>
              <a:noFill/>
            </a:ln>
          </p:spPr>
          <p:txBody>
            <a:bodyPr wrap="none" lIns="0" tIns="0" rIns="0" bIns="0" anchor="t" anchorCtr="0">
              <a:spAutoFit/>
            </a:bodyPr>
            <a:lstStyle/>
            <a:p>
              <a:pPr algn="l">
                <a:lnSpc>
                  <a:spcPts val="1275"/>
                </a:lnSpc>
              </a:pPr>
              <a:r>
                <a:rPr lang="zh-CN" sz="820" dirty="0">
                  <a:solidFill>
                    <a:srgbClr val="705F5B"/>
                  </a:solidFill>
                  <a:latin typeface="+mn-lt"/>
                  <a:ea typeface="+mn-ea"/>
                  <a:cs typeface="+mn-cs"/>
                </a:rPr>
                <a:t>助力粉丝应援Pick喜</a:t>
              </a:r>
              <a:br/>
              <a:r>
                <a:rPr lang="zh-CN" sz="820" dirty="0">
                  <a:solidFill>
                    <a:srgbClr val="705F5B"/>
                  </a:solidFill>
                  <a:latin typeface="+mn-lt"/>
                  <a:ea typeface="+mn-ea"/>
                  <a:cs typeface="+mn-cs"/>
                </a:rPr>
                <a:t>欢的选手出道，选手</a:t>
              </a:r>
              <a:br/>
              <a:r>
                <a:rPr lang="zh-CN" sz="820" dirty="0">
                  <a:solidFill>
                    <a:srgbClr val="705F5B"/>
                  </a:solidFill>
                  <a:latin typeface="+mn-lt"/>
                  <a:ea typeface="+mn-ea"/>
                  <a:cs typeface="+mn-cs"/>
                </a:rPr>
                <a:t>见面会，近距离接触</a:t>
              </a:r>
              <a:br/>
              <a:r>
                <a:rPr lang="zh-CN" sz="820" dirty="0">
                  <a:solidFill>
                    <a:srgbClr val="705F5B"/>
                  </a:solidFill>
                  <a:latin typeface="+mn-lt"/>
                  <a:ea typeface="+mn-ea"/>
                  <a:cs typeface="+mn-cs"/>
                </a:rPr>
                <a:t>爱豆</a:t>
              </a:r>
            </a:p>
          </p:txBody>
        </p:sp>
        <p:sp>
          <p:nvSpPr>
            <p:cNvPr id="45" name="TextBox 45"/>
            <p:cNvSpPr txBox="1"/>
            <p:nvPr/>
          </p:nvSpPr>
          <p:spPr>
            <a:xfrm>
              <a:off x="5760161" y="5174456"/>
              <a:ext cx="614528"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内容选题</a:t>
              </a:r>
            </a:p>
          </p:txBody>
        </p:sp>
        <p:sp>
          <p:nvSpPr>
            <p:cNvPr id="46" name="TextBox 46"/>
            <p:cNvSpPr txBox="1"/>
            <p:nvPr/>
          </p:nvSpPr>
          <p:spPr>
            <a:xfrm>
              <a:off x="8008061" y="5174456"/>
              <a:ext cx="614528"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融入合理</a:t>
              </a:r>
            </a:p>
          </p:txBody>
        </p:sp>
        <p:sp>
          <p:nvSpPr>
            <p:cNvPr id="47" name="TextBox 47"/>
            <p:cNvSpPr txBox="1"/>
            <p:nvPr/>
          </p:nvSpPr>
          <p:spPr>
            <a:xfrm>
              <a:off x="10180574" y="5174456"/>
              <a:ext cx="765302"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互动式营销</a:t>
              </a:r>
            </a:p>
          </p:txBody>
        </p:sp>
      </p:gr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683383" cy="440055"/>
            <a:chOff x="302895" y="214312"/>
            <a:chExt cx="2683383"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26.​</a:t>
              </a:r>
            </a:p>
          </p:txBody>
        </p:sp>
        <p:sp>
          <p:nvSpPr>
            <p:cNvPr id="3" name="TextBox 3"/>
            <p:cNvSpPr txBox="1"/>
            <p:nvPr/>
          </p:nvSpPr>
          <p:spPr>
            <a:xfrm>
              <a:off x="866394" y="246698"/>
              <a:ext cx="2119884"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活动整体推广计划</a:t>
              </a:r>
            </a:p>
          </p:txBody>
        </p:sp>
      </p:grpSp>
      <p:grpSp>
        <p:nvGrpSpPr>
          <p:cNvPr id="27" name="volume-chart"/>
          <p:cNvGrpSpPr/>
          <p:nvPr/>
        </p:nvGrpSpPr>
        <p:grpSpPr>
          <a:xfrm>
            <a:off x="287157" y="914400"/>
            <a:ext cx="11579587" cy="1800226"/>
            <a:chOff x="287157" y="914400"/>
            <a:chExt cx="11579587" cy="1800226"/>
          </a:xfrm>
        </p:grpSpPr>
        <p:sp>
          <p:nvSpPr>
            <p:cNvPr id="5" name="TextBox 5"/>
            <p:cNvSpPr txBox="1"/>
            <p:nvPr/>
          </p:nvSpPr>
          <p:spPr>
            <a:xfrm>
              <a:off x="337947" y="942499"/>
              <a:ext cx="933399" cy="190690"/>
            </a:xfrm>
            <a:prstGeom prst="rect">
              <a:avLst/>
            </a:prstGeom>
            <a:noFill/>
            <a:ln>
              <a:noFill/>
            </a:ln>
          </p:spPr>
          <p:txBody>
            <a:bodyPr wrap="none" lIns="0" tIns="0" rIns="0" bIns="0" anchor="t" anchorCtr="0">
              <a:spAutoFit/>
            </a:bodyPr>
            <a:lstStyle/>
            <a:p>
              <a:pPr algn="l"/>
              <a:r>
                <a:rPr lang="zh-CN" sz="980" b="1" dirty="0">
                  <a:solidFill>
                    <a:srgbClr val="E5624C"/>
                  </a:solidFill>
                  <a:latin typeface="+mn-lt"/>
                  <a:ea typeface="+mn-ea"/>
                  <a:cs typeface="+mn-cs"/>
                </a:rPr>
                <a:t>品牌声量预测图</a:t>
              </a:r>
            </a:p>
          </p:txBody>
        </p:sp>
        <p:sp>
          <p:nvSpPr>
            <p:cNvPr id="6" name="Rectangle 6"/>
            <p:cNvSpPr/>
            <p:nvPr/>
          </p:nvSpPr>
          <p:spPr>
            <a:xfrm>
              <a:off x="2438400" y="914400"/>
              <a:ext cx="952500" cy="1333500"/>
            </a:xfrm>
            <a:prstGeom prst="rect">
              <a:avLst/>
            </a:prstGeom>
            <a:solidFill>
              <a:srgbClr val="FDF0EC"/>
            </a:solidFill>
            <a:ln>
              <a:noFill/>
            </a:ln>
          </p:spPr>
        </p:sp>
        <p:sp>
          <p:nvSpPr>
            <p:cNvPr id="7" name="Rectangle 7"/>
            <p:cNvSpPr/>
            <p:nvPr/>
          </p:nvSpPr>
          <p:spPr>
            <a:xfrm>
              <a:off x="6248400" y="914400"/>
              <a:ext cx="952500" cy="1333500"/>
            </a:xfrm>
            <a:prstGeom prst="rect">
              <a:avLst/>
            </a:prstGeom>
            <a:solidFill>
              <a:srgbClr val="EEF0FB"/>
            </a:solidFill>
            <a:ln>
              <a:noFill/>
            </a:ln>
          </p:spPr>
        </p:sp>
        <p:sp>
          <p:nvSpPr>
            <p:cNvPr id="8" name="Rectangle 8"/>
            <p:cNvSpPr/>
            <p:nvPr/>
          </p:nvSpPr>
          <p:spPr>
            <a:xfrm>
              <a:off x="10058400" y="914400"/>
              <a:ext cx="952500" cy="1333500"/>
            </a:xfrm>
            <a:prstGeom prst="rect">
              <a:avLst/>
            </a:prstGeom>
            <a:solidFill>
              <a:srgbClr val="EEF0FB"/>
            </a:solidFill>
            <a:ln>
              <a:noFill/>
            </a:ln>
          </p:spPr>
        </p:sp>
        <p:sp>
          <p:nvSpPr>
            <p:cNvPr id="9" name="Freeform 9"/>
            <p:cNvSpPr/>
            <p:nvPr/>
          </p:nvSpPr>
          <p:spPr>
            <a:xfrm>
              <a:off x="381000" y="1295400"/>
              <a:ext cx="11277600" cy="742950"/>
            </a:xfrm>
            <a:custGeom>
              <a:avLst/>
              <a:gdLst/>
              <a:ahLst/>
              <a:cxnLst/>
              <a:rect l="l" t="t" r="r" b="b"/>
              <a:pathLst>
                <a:path w="11277600" h="742950">
                  <a:moveTo>
                    <a:pt x="0" y="742950"/>
                  </a:moveTo>
                  <a:cubicBezTo>
                    <a:pt x="952500" y="666750"/>
                    <a:pt x="1714500" y="476250"/>
                    <a:pt x="2476500" y="476250"/>
                  </a:cubicBezTo>
                  <a:cubicBezTo>
                    <a:pt x="3048000" y="476250"/>
                    <a:pt x="3429000" y="666750"/>
                    <a:pt x="4000500" y="685800"/>
                  </a:cubicBezTo>
                  <a:cubicBezTo>
                    <a:pt x="4953000" y="723900"/>
                    <a:pt x="5715000" y="571500"/>
                    <a:pt x="6667500" y="495300"/>
                  </a:cubicBezTo>
                  <a:cubicBezTo>
                    <a:pt x="7620000" y="419100"/>
                    <a:pt x="8382000" y="228600"/>
                    <a:pt x="9239250" y="95250"/>
                  </a:cubicBezTo>
                  <a:cubicBezTo>
                    <a:pt x="9906000" y="0"/>
                    <a:pt x="10572750" y="0"/>
                    <a:pt x="11277600" y="133350"/>
                  </a:cubicBezTo>
                </a:path>
              </a:pathLst>
            </a:custGeom>
            <a:noFill/>
            <a:ln w="28575">
              <a:solidFill>
                <a:srgbClr val="C4624E"/>
              </a:solidFill>
              <a:tailEnd type="triangle" w="lg" len="lg"/>
            </a:ln>
          </p:spPr>
        </p:sp>
        <p:sp>
          <p:nvSpPr>
            <p:cNvPr id="10" name="Line 10"/>
            <p:cNvSpPr/>
            <p:nvPr/>
          </p:nvSpPr>
          <p:spPr>
            <a:xfrm>
              <a:off x="342900" y="2266950"/>
              <a:ext cx="11430000" cy="9525"/>
            </a:xfrm>
            <a:custGeom>
              <a:avLst/>
              <a:gdLst/>
              <a:ahLst/>
              <a:cxnLst/>
              <a:rect l="l" t="t" r="r" b="b"/>
              <a:pathLst>
                <a:path w="11430000" h="9525">
                  <a:moveTo>
                    <a:pt x="0" y="0"/>
                  </a:moveTo>
                  <a:lnTo>
                    <a:pt x="11430000" y="0"/>
                  </a:lnTo>
                </a:path>
              </a:pathLst>
            </a:custGeom>
            <a:noFill/>
            <a:ln w="9525">
              <a:solidFill>
                <a:srgbClr val="C9CFEA"/>
              </a:solidFill>
            </a:ln>
          </p:spPr>
        </p:sp>
        <p:sp>
          <p:nvSpPr>
            <p:cNvPr id="11" name="TextBox 11"/>
            <p:cNvSpPr txBox="1"/>
            <p:nvPr/>
          </p:nvSpPr>
          <p:spPr>
            <a:xfrm>
              <a:off x="287157"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25-01</a:t>
              </a:r>
            </a:p>
          </p:txBody>
        </p:sp>
        <p:sp>
          <p:nvSpPr>
            <p:cNvPr id="12" name="TextBox 12"/>
            <p:cNvSpPr txBox="1"/>
            <p:nvPr/>
          </p:nvSpPr>
          <p:spPr>
            <a:xfrm>
              <a:off x="1230132"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25-02</a:t>
              </a:r>
            </a:p>
          </p:txBody>
        </p:sp>
        <p:sp>
          <p:nvSpPr>
            <p:cNvPr id="13" name="TextBox 13"/>
            <p:cNvSpPr txBox="1"/>
            <p:nvPr/>
          </p:nvSpPr>
          <p:spPr>
            <a:xfrm>
              <a:off x="2173107"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25-03</a:t>
              </a:r>
            </a:p>
          </p:txBody>
        </p:sp>
        <p:sp>
          <p:nvSpPr>
            <p:cNvPr id="14" name="TextBox 14"/>
            <p:cNvSpPr txBox="1"/>
            <p:nvPr/>
          </p:nvSpPr>
          <p:spPr>
            <a:xfrm>
              <a:off x="3116082"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25-04</a:t>
              </a:r>
            </a:p>
          </p:txBody>
        </p:sp>
        <p:sp>
          <p:nvSpPr>
            <p:cNvPr id="15" name="TextBox 15"/>
            <p:cNvSpPr txBox="1"/>
            <p:nvPr/>
          </p:nvSpPr>
          <p:spPr>
            <a:xfrm>
              <a:off x="4059057"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25-05</a:t>
              </a:r>
            </a:p>
          </p:txBody>
        </p:sp>
        <p:sp>
          <p:nvSpPr>
            <p:cNvPr id="16" name="TextBox 16"/>
            <p:cNvSpPr txBox="1"/>
            <p:nvPr/>
          </p:nvSpPr>
          <p:spPr>
            <a:xfrm>
              <a:off x="5002032"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25-06</a:t>
              </a:r>
            </a:p>
          </p:txBody>
        </p:sp>
        <p:sp>
          <p:nvSpPr>
            <p:cNvPr id="17" name="TextBox 17"/>
            <p:cNvSpPr txBox="1"/>
            <p:nvPr/>
          </p:nvSpPr>
          <p:spPr>
            <a:xfrm>
              <a:off x="5945007"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25-07</a:t>
              </a:r>
            </a:p>
          </p:txBody>
        </p:sp>
        <p:sp>
          <p:nvSpPr>
            <p:cNvPr id="18" name="TextBox 18"/>
            <p:cNvSpPr txBox="1"/>
            <p:nvPr/>
          </p:nvSpPr>
          <p:spPr>
            <a:xfrm>
              <a:off x="6887982"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25-08</a:t>
              </a:r>
            </a:p>
          </p:txBody>
        </p:sp>
        <p:sp>
          <p:nvSpPr>
            <p:cNvPr id="19" name="TextBox 19"/>
            <p:cNvSpPr txBox="1"/>
            <p:nvPr/>
          </p:nvSpPr>
          <p:spPr>
            <a:xfrm>
              <a:off x="7830957"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25-09</a:t>
              </a:r>
            </a:p>
          </p:txBody>
        </p:sp>
        <p:sp>
          <p:nvSpPr>
            <p:cNvPr id="20" name="TextBox 20"/>
            <p:cNvSpPr txBox="1"/>
            <p:nvPr/>
          </p:nvSpPr>
          <p:spPr>
            <a:xfrm>
              <a:off x="8773932"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25-10</a:t>
              </a:r>
            </a:p>
          </p:txBody>
        </p:sp>
        <p:sp>
          <p:nvSpPr>
            <p:cNvPr id="21" name="TextBox 21"/>
            <p:cNvSpPr txBox="1"/>
            <p:nvPr/>
          </p:nvSpPr>
          <p:spPr>
            <a:xfrm>
              <a:off x="9716907"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25-11</a:t>
              </a:r>
            </a:p>
          </p:txBody>
        </p:sp>
        <p:sp>
          <p:nvSpPr>
            <p:cNvPr id="22" name="TextBox 22"/>
            <p:cNvSpPr txBox="1"/>
            <p:nvPr/>
          </p:nvSpPr>
          <p:spPr>
            <a:xfrm>
              <a:off x="10659882"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25-12</a:t>
              </a:r>
            </a:p>
          </p:txBody>
        </p:sp>
        <p:sp>
          <p:nvSpPr>
            <p:cNvPr id="23" name="TextBox 23"/>
            <p:cNvSpPr txBox="1"/>
            <p:nvPr/>
          </p:nvSpPr>
          <p:spPr>
            <a:xfrm>
              <a:off x="11564757" y="2372439"/>
              <a:ext cx="301987" cy="154781"/>
            </a:xfrm>
            <a:prstGeom prst="rect">
              <a:avLst/>
            </a:prstGeom>
            <a:noFill/>
            <a:ln>
              <a:noFill/>
            </a:ln>
          </p:spPr>
          <p:txBody>
            <a:bodyPr wrap="none" lIns="0" tIns="0" rIns="0" bIns="0" anchor="t" anchorCtr="0">
              <a:spAutoFit/>
            </a:bodyPr>
            <a:lstStyle/>
            <a:p>
              <a:pPr algn="ctr"/>
              <a:r>
                <a:rPr lang="zh-CN" sz="790" dirty="0">
                  <a:solidFill>
                    <a:srgbClr val="808699"/>
                  </a:solidFill>
                  <a:latin typeface="+mn-lt"/>
                  <a:ea typeface="+mn-ea"/>
                  <a:cs typeface="+mn-cs"/>
                </a:rPr>
                <a:t>26-01</a:t>
              </a:r>
            </a:p>
          </p:txBody>
        </p:sp>
        <p:sp>
          <p:nvSpPr>
            <p:cNvPr id="24" name="TextBox 24"/>
            <p:cNvSpPr txBox="1"/>
            <p:nvPr/>
          </p:nvSpPr>
          <p:spPr>
            <a:xfrm>
              <a:off x="376238" y="2566988"/>
              <a:ext cx="2240852" cy="147638"/>
            </a:xfrm>
            <a:prstGeom prst="rect">
              <a:avLst/>
            </a:prstGeom>
            <a:noFill/>
            <a:ln>
              <a:noFill/>
            </a:ln>
          </p:spPr>
          <p:txBody>
            <a:bodyPr wrap="none" lIns="0" tIns="0" rIns="0" bIns="0" anchor="t" anchorCtr="0">
              <a:spAutoFit/>
            </a:bodyPr>
            <a:lstStyle/>
            <a:p>
              <a:pPr algn="l"/>
              <a:r>
                <a:rPr lang="zh-CN" sz="750" dirty="0">
                  <a:solidFill>
                    <a:srgbClr val="E5624C"/>
                  </a:solidFill>
                  <a:latin typeface="+mn-lt"/>
                  <a:ea typeface="+mn-ea"/>
                  <a:cs typeface="+mn-cs"/>
                </a:rPr>
                <a:t>#背景：</a:t>
              </a:r>
              <a:r>
                <a:rPr lang="zh-CN" sz="750" dirty="0">
                  <a:solidFill>
                    <a:srgbClr val="705F5B"/>
                  </a:solidFill>
                  <a:latin typeface="+mn-lt"/>
                  <a:ea typeface="+mn-ea"/>
                  <a:cs typeface="+mn-cs"/>
                </a:rPr>
                <a:t>4月小组抽签仪式节点，抓住</a:t>
              </a:r>
              <a:r>
                <a:rPr lang="zh-CN" sz="750" dirty="0">
                  <a:solidFill>
                    <a:srgbClr val="C1553F"/>
                  </a:solidFill>
                  <a:latin typeface="+mn-lt"/>
                  <a:ea typeface="+mn-ea"/>
                  <a:cs typeface="+mn-cs"/>
                </a:rPr>
                <a:t>首个流量曝光</a:t>
              </a:r>
            </a:p>
          </p:txBody>
        </p:sp>
        <p:sp>
          <p:nvSpPr>
            <p:cNvPr id="25" name="TextBox 25"/>
            <p:cNvSpPr txBox="1"/>
            <p:nvPr/>
          </p:nvSpPr>
          <p:spPr>
            <a:xfrm>
              <a:off x="3805238" y="2566988"/>
              <a:ext cx="2856738" cy="147638"/>
            </a:xfrm>
            <a:prstGeom prst="rect">
              <a:avLst/>
            </a:prstGeom>
            <a:noFill/>
            <a:ln>
              <a:noFill/>
            </a:ln>
          </p:spPr>
          <p:txBody>
            <a:bodyPr wrap="none" lIns="0" tIns="0" rIns="0" bIns="0" anchor="t" anchorCtr="0">
              <a:spAutoFit/>
            </a:bodyPr>
            <a:lstStyle/>
            <a:p>
              <a:pPr algn="l"/>
              <a:r>
                <a:rPr lang="zh-CN" sz="750" dirty="0">
                  <a:solidFill>
                    <a:srgbClr val="E5624C"/>
                  </a:solidFill>
                  <a:latin typeface="+mn-lt"/>
                  <a:ea typeface="+mn-ea"/>
                  <a:cs typeface="+mn-cs"/>
                </a:rPr>
                <a:t>#背景：</a:t>
              </a:r>
              <a:r>
                <a:rPr lang="zh-CN" sz="750" dirty="0">
                  <a:solidFill>
                    <a:srgbClr val="705F5B"/>
                  </a:solidFill>
                  <a:latin typeface="+mn-lt"/>
                  <a:ea typeface="+mn-ea"/>
                  <a:cs typeface="+mn-cs"/>
                </a:rPr>
                <a:t>赛前3-4个月比赛社媒讨论声量渐涨，借势</a:t>
              </a:r>
              <a:r>
                <a:rPr lang="zh-CN" sz="750" dirty="0">
                  <a:solidFill>
                    <a:srgbClr val="C1553F"/>
                  </a:solidFill>
                  <a:latin typeface="+mn-lt"/>
                  <a:ea typeface="+mn-ea"/>
                  <a:cs typeface="+mn-cs"/>
                </a:rPr>
                <a:t>积累品牌声量</a:t>
              </a:r>
            </a:p>
          </p:txBody>
        </p:sp>
        <p:sp>
          <p:nvSpPr>
            <p:cNvPr id="26" name="TextBox 26"/>
            <p:cNvSpPr txBox="1"/>
            <p:nvPr/>
          </p:nvSpPr>
          <p:spPr>
            <a:xfrm>
              <a:off x="8186738" y="2566988"/>
              <a:ext cx="2392299" cy="147638"/>
            </a:xfrm>
            <a:prstGeom prst="rect">
              <a:avLst/>
            </a:prstGeom>
            <a:noFill/>
            <a:ln>
              <a:noFill/>
            </a:ln>
          </p:spPr>
          <p:txBody>
            <a:bodyPr wrap="none" lIns="0" tIns="0" rIns="0" bIns="0" anchor="t" anchorCtr="0">
              <a:spAutoFit/>
            </a:bodyPr>
            <a:lstStyle/>
            <a:p>
              <a:pPr algn="l"/>
              <a:r>
                <a:rPr lang="zh-CN" sz="750" dirty="0">
                  <a:solidFill>
                    <a:srgbClr val="E5624C"/>
                  </a:solidFill>
                  <a:latin typeface="+mn-lt"/>
                  <a:ea typeface="+mn-ea"/>
                  <a:cs typeface="+mn-cs"/>
                </a:rPr>
                <a:t>#背景：</a:t>
              </a:r>
              <a:r>
                <a:rPr lang="zh-CN" sz="750" dirty="0">
                  <a:solidFill>
                    <a:srgbClr val="705F5B"/>
                  </a:solidFill>
                  <a:latin typeface="+mn-lt"/>
                  <a:ea typeface="+mn-ea"/>
                  <a:cs typeface="+mn-cs"/>
                </a:rPr>
                <a:t>11.21-12.18为正式赛季，</a:t>
              </a:r>
              <a:r>
                <a:rPr lang="zh-CN" sz="750" dirty="0">
                  <a:solidFill>
                    <a:srgbClr val="C1553F"/>
                  </a:solidFill>
                  <a:latin typeface="+mn-lt"/>
                  <a:ea typeface="+mn-ea"/>
                  <a:cs typeface="+mn-cs"/>
                </a:rPr>
                <a:t>全力迎接声量高峰</a:t>
              </a:r>
            </a:p>
          </p:txBody>
        </p:sp>
      </p:grpSp>
      <p:grpSp>
        <p:nvGrpSpPr>
          <p:cNvPr id="40" name="phase-card-1"/>
          <p:cNvGrpSpPr/>
          <p:nvPr/>
        </p:nvGrpSpPr>
        <p:grpSpPr>
          <a:xfrm>
            <a:off x="228600" y="2762250"/>
            <a:ext cx="3810000" cy="3829050"/>
            <a:chOff x="228600" y="2762250"/>
            <a:chExt cx="3810000" cy="3829050"/>
          </a:xfrm>
        </p:grpSpPr>
        <p:sp>
          <p:nvSpPr>
            <p:cNvPr id="28" name="Rectangle 28"/>
            <p:cNvSpPr/>
            <p:nvPr/>
          </p:nvSpPr>
          <p:spPr>
            <a:xfrm>
              <a:off x="228600" y="2762250"/>
              <a:ext cx="3810000" cy="590550"/>
            </a:xfrm>
            <a:prstGeom prst="roundRect">
              <a:avLst>
                <a:gd name="adj" fmla="val 6452"/>
              </a:avLst>
            </a:prstGeom>
            <a:gradFill>
              <a:gsLst>
                <a:gs pos="0">
                  <a:srgbClr val="E5624C"/>
                </a:gs>
                <a:gs pos="100000">
                  <a:srgbClr val="F0998A"/>
                </a:gs>
              </a:gsLst>
              <a:lin ang="0" scaled="1"/>
            </a:gradFill>
            <a:ln>
              <a:noFill/>
            </a:ln>
          </p:spPr>
        </p:sp>
        <p:sp>
          <p:nvSpPr>
            <p:cNvPr id="29" name="TextBox 29"/>
            <p:cNvSpPr txBox="1"/>
            <p:nvPr/>
          </p:nvSpPr>
          <p:spPr>
            <a:xfrm>
              <a:off x="445008" y="2903220"/>
              <a:ext cx="210967"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1</a:t>
              </a:r>
            </a:p>
          </p:txBody>
        </p:sp>
        <p:sp>
          <p:nvSpPr>
            <p:cNvPr id="30" name="TextBox 30"/>
            <p:cNvSpPr txBox="1"/>
            <p:nvPr/>
          </p:nvSpPr>
          <p:spPr>
            <a:xfrm>
              <a:off x="756285" y="2907506"/>
              <a:ext cx="76530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预热造事：</a:t>
              </a:r>
            </a:p>
          </p:txBody>
        </p:sp>
        <p:sp>
          <p:nvSpPr>
            <p:cNvPr id="31" name="TextBox 31"/>
            <p:cNvSpPr txBox="1"/>
            <p:nvPr/>
          </p:nvSpPr>
          <p:spPr>
            <a:xfrm>
              <a:off x="757238" y="3153489"/>
              <a:ext cx="1392072" cy="154781"/>
            </a:xfrm>
            <a:prstGeom prst="rect">
              <a:avLst/>
            </a:prstGeom>
            <a:noFill/>
            <a:ln>
              <a:noFill/>
            </a:ln>
          </p:spPr>
          <p:txBody>
            <a:bodyPr wrap="none" lIns="0" tIns="0" rIns="0" bIns="0" anchor="t" anchorCtr="0">
              <a:spAutoFit/>
            </a:bodyPr>
            <a:lstStyle/>
            <a:p>
              <a:pPr algn="l"/>
              <a:r>
                <a:rPr lang="zh-CN" sz="790" dirty="0">
                  <a:solidFill>
                    <a:srgbClr val="FDEDE8"/>
                  </a:solidFill>
                  <a:latin typeface="+mn-lt"/>
                  <a:ea typeface="+mn-ea"/>
                  <a:cs typeface="+mn-cs"/>
                </a:rPr>
                <a:t>官宣品牌实力，激活兴趣开关</a:t>
              </a:r>
            </a:p>
          </p:txBody>
        </p:sp>
        <p:sp>
          <p:nvSpPr>
            <p:cNvPr id="32" name="Rectangle 32"/>
            <p:cNvSpPr/>
            <p:nvPr/>
          </p:nvSpPr>
          <p:spPr>
            <a:xfrm>
              <a:off x="228600" y="3352800"/>
              <a:ext cx="3810000" cy="3238500"/>
            </a:xfrm>
            <a:prstGeom prst="roundRect">
              <a:avLst>
                <a:gd name="adj" fmla="val 1176"/>
              </a:avLst>
            </a:prstGeom>
            <a:solidFill>
              <a:srgbClr val="FFFFFF"/>
            </a:solidFill>
            <a:ln w="9525">
              <a:solidFill>
                <a:srgbClr val="E4E7F5"/>
              </a:solidFill>
            </a:ln>
          </p:spPr>
        </p:sp>
        <p:sp>
          <p:nvSpPr>
            <p:cNvPr id="33" name="TextBox 33"/>
            <p:cNvSpPr txBox="1"/>
            <p:nvPr/>
          </p:nvSpPr>
          <p:spPr>
            <a:xfrm>
              <a:off x="376047" y="3571399"/>
              <a:ext cx="1030036" cy="190690"/>
            </a:xfrm>
            <a:prstGeom prst="rect">
              <a:avLst/>
            </a:prstGeom>
            <a:noFill/>
            <a:ln>
              <a:noFill/>
            </a:ln>
          </p:spPr>
          <p:txBody>
            <a:bodyPr wrap="none" lIns="0" tIns="0" rIns="0" bIns="0" anchor="t" anchorCtr="0">
              <a:spAutoFit/>
            </a:bodyPr>
            <a:lstStyle/>
            <a:p>
              <a:pPr algn="l"/>
              <a:r>
                <a:rPr lang="zh-CN" sz="980" b="1" dirty="0">
                  <a:solidFill>
                    <a:srgbClr val="523F3B"/>
                  </a:solidFill>
                  <a:latin typeface="+mn-lt"/>
                  <a:ea typeface="+mn-ea"/>
                  <a:cs typeface="+mn-cs"/>
                </a:rPr>
                <a:t>#活动:体育x趣味</a:t>
              </a:r>
            </a:p>
          </p:txBody>
        </p:sp>
        <p:sp>
          <p:nvSpPr>
            <p:cNvPr id="34" name="Rectangle 34"/>
            <p:cNvSpPr/>
            <p:nvPr/>
          </p:nvSpPr>
          <p:spPr>
            <a:xfrm>
              <a:off x="381000" y="3810000"/>
              <a:ext cx="1428750" cy="228600"/>
            </a:xfrm>
            <a:prstGeom prst="roundRect">
              <a:avLst>
                <a:gd name="adj" fmla="val 12500"/>
              </a:avLst>
            </a:prstGeom>
            <a:solidFill>
              <a:srgbClr val="ED8776"/>
            </a:solidFill>
            <a:ln>
              <a:noFill/>
            </a:ln>
          </p:spPr>
        </p:sp>
        <p:sp>
          <p:nvSpPr>
            <p:cNvPr id="35" name="TextBox 35"/>
            <p:cNvSpPr txBox="1"/>
            <p:nvPr/>
          </p:nvSpPr>
          <p:spPr>
            <a:xfrm>
              <a:off x="759447" y="3873341"/>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官宣品牌实力</a:t>
              </a:r>
            </a:p>
          </p:txBody>
        </p:sp>
        <p:sp>
          <p:nvSpPr>
            <p:cNvPr id="36" name="TextBox 36"/>
            <p:cNvSpPr txBox="1"/>
            <p:nvPr/>
          </p:nvSpPr>
          <p:spPr>
            <a:xfrm>
              <a:off x="376238" y="4182189"/>
              <a:ext cx="181546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全渠道官宣：社媒与品牌宣发同步，彰显</a:t>
              </a:r>
              <a:br/>
              <a:r>
                <a:rPr lang="zh-CN" sz="790" dirty="0">
                  <a:solidFill>
                    <a:srgbClr val="705F5B"/>
                  </a:solidFill>
                  <a:latin typeface="+mn-lt"/>
                  <a:ea typeface="+mn-ea"/>
                  <a:cs typeface="+mn-cs"/>
                </a:rPr>
                <a:t>官方合作伙伴身份；线下确定户外及传统</a:t>
              </a:r>
              <a:br/>
              <a:r>
                <a:rPr lang="zh-CN" sz="790" dirty="0">
                  <a:solidFill>
                    <a:srgbClr val="705F5B"/>
                  </a:solidFill>
                  <a:latin typeface="+mn-lt"/>
                  <a:ea typeface="+mn-ea"/>
                  <a:cs typeface="+mn-cs"/>
                </a:rPr>
                <a:t>媒介方案</a:t>
              </a:r>
            </a:p>
          </p:txBody>
        </p:sp>
        <p:sp>
          <p:nvSpPr>
            <p:cNvPr id="37" name="Rectangle 37"/>
            <p:cNvSpPr/>
            <p:nvPr/>
          </p:nvSpPr>
          <p:spPr>
            <a:xfrm>
              <a:off x="381000" y="4876800"/>
              <a:ext cx="1428750" cy="228600"/>
            </a:xfrm>
            <a:prstGeom prst="roundRect">
              <a:avLst>
                <a:gd name="adj" fmla="val 12500"/>
              </a:avLst>
            </a:prstGeom>
            <a:solidFill>
              <a:srgbClr val="ED8776"/>
            </a:solidFill>
            <a:ln>
              <a:noFill/>
            </a:ln>
          </p:spPr>
        </p:sp>
        <p:sp>
          <p:nvSpPr>
            <p:cNvPr id="38" name="TextBox 38"/>
            <p:cNvSpPr txBox="1"/>
            <p:nvPr/>
          </p:nvSpPr>
          <p:spPr>
            <a:xfrm>
              <a:off x="759447" y="4940141"/>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激活兴趣开关</a:t>
              </a:r>
            </a:p>
          </p:txBody>
        </p:sp>
        <p:sp>
          <p:nvSpPr>
            <p:cNvPr id="39" name="TextBox 39"/>
            <p:cNvSpPr txBox="1"/>
            <p:nvPr/>
          </p:nvSpPr>
          <p:spPr>
            <a:xfrm>
              <a:off x="376238" y="5248989"/>
              <a:ext cx="1669986" cy="640556"/>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社媒联动YTB弹珠频道Jelle's</a:t>
              </a:r>
              <a:br/>
              <a:r>
                <a:rPr lang="zh-CN" sz="790" dirty="0">
                  <a:solidFill>
                    <a:srgbClr val="705F5B"/>
                  </a:solidFill>
                  <a:latin typeface="+mn-lt"/>
                  <a:ea typeface="+mn-ea"/>
                  <a:cs typeface="+mn-cs"/>
                </a:rPr>
                <a:t>Marble Runs 发起趣味活动"弹珠世</a:t>
              </a:r>
              <a:br/>
              <a:r>
                <a:rPr lang="zh-CN" sz="790" dirty="0">
                  <a:solidFill>
                    <a:srgbClr val="705F5B"/>
                  </a:solidFill>
                  <a:latin typeface="+mn-lt"/>
                  <a:ea typeface="+mn-ea"/>
                  <a:cs typeface="+mn-cs"/>
                </a:rPr>
                <a:t>界杯"对小组赛结果进行预测，吸引大</a:t>
              </a:r>
              <a:br/>
              <a:r>
                <a:rPr lang="zh-CN" sz="790" dirty="0">
                  <a:solidFill>
                    <a:srgbClr val="705F5B"/>
                  </a:solidFill>
                  <a:latin typeface="+mn-lt"/>
                  <a:ea typeface="+mn-ea"/>
                  <a:cs typeface="+mn-cs"/>
                </a:rPr>
                <a:t>量年轻受众参与，曝光600W+</a:t>
              </a:r>
            </a:p>
          </p:txBody>
        </p:sp>
      </p:grpSp>
      <p:grpSp>
        <p:nvGrpSpPr>
          <p:cNvPr id="53" name="phase-card-2"/>
          <p:cNvGrpSpPr/>
          <p:nvPr/>
        </p:nvGrpSpPr>
        <p:grpSpPr>
          <a:xfrm>
            <a:off x="4076700" y="2762250"/>
            <a:ext cx="3810000" cy="3829050"/>
            <a:chOff x="4076700" y="2762250"/>
            <a:chExt cx="3810000" cy="3829050"/>
          </a:xfrm>
        </p:grpSpPr>
        <p:sp>
          <p:nvSpPr>
            <p:cNvPr id="41" name="Rectangle 41"/>
            <p:cNvSpPr/>
            <p:nvPr/>
          </p:nvSpPr>
          <p:spPr>
            <a:xfrm>
              <a:off x="4076700" y="2762250"/>
              <a:ext cx="3810000" cy="590550"/>
            </a:xfrm>
            <a:prstGeom prst="roundRect">
              <a:avLst>
                <a:gd name="adj" fmla="val 6452"/>
              </a:avLst>
            </a:prstGeom>
            <a:gradFill>
              <a:gsLst>
                <a:gs pos="0">
                  <a:srgbClr val="C1553F"/>
                </a:gs>
                <a:gs pos="100000">
                  <a:srgbClr val="CE897B"/>
                </a:gs>
              </a:gsLst>
              <a:lin ang="0" scaled="1"/>
            </a:gradFill>
            <a:ln>
              <a:noFill/>
            </a:ln>
          </p:spPr>
        </p:sp>
        <p:sp>
          <p:nvSpPr>
            <p:cNvPr id="42" name="TextBox 42"/>
            <p:cNvSpPr txBox="1"/>
            <p:nvPr/>
          </p:nvSpPr>
          <p:spPr>
            <a:xfrm>
              <a:off x="4293108" y="2903220"/>
              <a:ext cx="210967"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2</a:t>
              </a:r>
            </a:p>
          </p:txBody>
        </p:sp>
        <p:sp>
          <p:nvSpPr>
            <p:cNvPr id="43" name="TextBox 43"/>
            <p:cNvSpPr txBox="1"/>
            <p:nvPr/>
          </p:nvSpPr>
          <p:spPr>
            <a:xfrm>
              <a:off x="4604385" y="2907506"/>
              <a:ext cx="76530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赛前造势：</a:t>
              </a:r>
            </a:p>
          </p:txBody>
        </p:sp>
        <p:sp>
          <p:nvSpPr>
            <p:cNvPr id="44" name="TextBox 44"/>
            <p:cNvSpPr txBox="1"/>
            <p:nvPr/>
          </p:nvSpPr>
          <p:spPr>
            <a:xfrm>
              <a:off x="4605338" y="3153489"/>
              <a:ext cx="1392072" cy="154781"/>
            </a:xfrm>
            <a:prstGeom prst="rect">
              <a:avLst/>
            </a:prstGeom>
            <a:noFill/>
            <a:ln>
              <a:noFill/>
            </a:ln>
          </p:spPr>
          <p:txBody>
            <a:bodyPr wrap="none" lIns="0" tIns="0" rIns="0" bIns="0" anchor="t" anchorCtr="0">
              <a:spAutoFit/>
            </a:bodyPr>
            <a:lstStyle/>
            <a:p>
              <a:pPr algn="l"/>
              <a:r>
                <a:rPr lang="zh-CN" sz="790" dirty="0">
                  <a:solidFill>
                    <a:srgbClr val="E8EAFB"/>
                  </a:solidFill>
                  <a:latin typeface="+mn-lt"/>
                  <a:ea typeface="+mn-ea"/>
                  <a:cs typeface="+mn-cs"/>
                </a:rPr>
                <a:t>塑造品牌形象，激发讨论热情</a:t>
              </a:r>
            </a:p>
          </p:txBody>
        </p:sp>
        <p:sp>
          <p:nvSpPr>
            <p:cNvPr id="45" name="Rectangle 45"/>
            <p:cNvSpPr/>
            <p:nvPr/>
          </p:nvSpPr>
          <p:spPr>
            <a:xfrm>
              <a:off x="4076700" y="3352800"/>
              <a:ext cx="3810000" cy="3238500"/>
            </a:xfrm>
            <a:prstGeom prst="roundRect">
              <a:avLst>
                <a:gd name="adj" fmla="val 1176"/>
              </a:avLst>
            </a:prstGeom>
            <a:solidFill>
              <a:srgbClr val="FFFFFF"/>
            </a:solidFill>
            <a:ln w="9525">
              <a:solidFill>
                <a:srgbClr val="E4E7F5"/>
              </a:solidFill>
            </a:ln>
          </p:spPr>
        </p:sp>
        <p:sp>
          <p:nvSpPr>
            <p:cNvPr id="46" name="TextBox 46"/>
            <p:cNvSpPr txBox="1"/>
            <p:nvPr/>
          </p:nvSpPr>
          <p:spPr>
            <a:xfrm>
              <a:off x="4224147" y="3571399"/>
              <a:ext cx="1714435" cy="190690"/>
            </a:xfrm>
            <a:prstGeom prst="rect">
              <a:avLst/>
            </a:prstGeom>
            <a:noFill/>
            <a:ln>
              <a:noFill/>
            </a:ln>
          </p:spPr>
          <p:txBody>
            <a:bodyPr wrap="none" lIns="0" tIns="0" rIns="0" bIns="0" anchor="t" anchorCtr="0">
              <a:spAutoFit/>
            </a:bodyPr>
            <a:lstStyle/>
            <a:p>
              <a:pPr algn="l"/>
              <a:r>
                <a:rPr lang="zh-CN" sz="980" b="1" dirty="0">
                  <a:solidFill>
                    <a:srgbClr val="523F3B"/>
                  </a:solidFill>
                  <a:latin typeface="+mn-lt"/>
                  <a:ea typeface="+mn-ea"/>
                  <a:cs typeface="+mn-cs"/>
                </a:rPr>
                <a:t>#活动:体育X公益/明星/福利</a:t>
              </a:r>
            </a:p>
          </p:txBody>
        </p:sp>
        <p:sp>
          <p:nvSpPr>
            <p:cNvPr id="47" name="Rectangle 47"/>
            <p:cNvSpPr/>
            <p:nvPr/>
          </p:nvSpPr>
          <p:spPr>
            <a:xfrm>
              <a:off x="4229100" y="3810000"/>
              <a:ext cx="1428750" cy="228600"/>
            </a:xfrm>
            <a:prstGeom prst="roundRect">
              <a:avLst>
                <a:gd name="adj" fmla="val 12500"/>
              </a:avLst>
            </a:prstGeom>
            <a:solidFill>
              <a:srgbClr val="D47D6B"/>
            </a:solidFill>
            <a:ln>
              <a:noFill/>
            </a:ln>
          </p:spPr>
        </p:sp>
        <p:sp>
          <p:nvSpPr>
            <p:cNvPr id="48" name="TextBox 48"/>
            <p:cNvSpPr txBox="1"/>
            <p:nvPr/>
          </p:nvSpPr>
          <p:spPr>
            <a:xfrm>
              <a:off x="4607547" y="3873341"/>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塑造品牌形象</a:t>
              </a:r>
            </a:p>
          </p:txBody>
        </p:sp>
        <p:sp>
          <p:nvSpPr>
            <p:cNvPr id="49" name="TextBox 49"/>
            <p:cNvSpPr txBox="1"/>
            <p:nvPr/>
          </p:nvSpPr>
          <p:spPr>
            <a:xfrm>
              <a:off x="4224338" y="4182189"/>
              <a:ext cx="191579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发起公益活动，线下合作国际足联举办教</a:t>
              </a:r>
              <a:br/>
              <a:r>
                <a:rPr lang="zh-CN" sz="790" dirty="0">
                  <a:solidFill>
                    <a:srgbClr val="705F5B"/>
                  </a:solidFill>
                  <a:latin typeface="+mn-lt"/>
                  <a:ea typeface="+mn-ea"/>
                  <a:cs typeface="+mn-cs"/>
                </a:rPr>
                <a:t>育研讨会，儿童环保画创作捐赠教学设备；</a:t>
              </a:r>
              <a:br/>
              <a:r>
                <a:rPr lang="zh-CN" sz="790" dirty="0">
                  <a:solidFill>
                    <a:srgbClr val="705F5B"/>
                  </a:solidFill>
                  <a:latin typeface="+mn-lt"/>
                  <a:ea typeface="+mn-ea"/>
                  <a:cs typeface="+mn-cs"/>
                </a:rPr>
                <a:t>线上社媒发布主题TVC，引发大众讨论</a:t>
              </a:r>
            </a:p>
          </p:txBody>
        </p:sp>
        <p:sp>
          <p:nvSpPr>
            <p:cNvPr id="50" name="Rectangle 50"/>
            <p:cNvSpPr/>
            <p:nvPr/>
          </p:nvSpPr>
          <p:spPr>
            <a:xfrm>
              <a:off x="4229100" y="5010150"/>
              <a:ext cx="1428750" cy="228600"/>
            </a:xfrm>
            <a:prstGeom prst="roundRect">
              <a:avLst>
                <a:gd name="adj" fmla="val 12500"/>
              </a:avLst>
            </a:prstGeom>
            <a:solidFill>
              <a:srgbClr val="D47D6B"/>
            </a:solidFill>
            <a:ln>
              <a:noFill/>
            </a:ln>
          </p:spPr>
        </p:sp>
        <p:sp>
          <p:nvSpPr>
            <p:cNvPr id="51" name="TextBox 51"/>
            <p:cNvSpPr txBox="1"/>
            <p:nvPr/>
          </p:nvSpPr>
          <p:spPr>
            <a:xfrm>
              <a:off x="4607547" y="5073491"/>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激发讨论热情</a:t>
              </a:r>
            </a:p>
          </p:txBody>
        </p:sp>
        <p:sp>
          <p:nvSpPr>
            <p:cNvPr id="52" name="TextBox 52"/>
            <p:cNvSpPr txBox="1"/>
            <p:nvPr/>
          </p:nvSpPr>
          <p:spPr>
            <a:xfrm>
              <a:off x="4224338" y="5382339"/>
              <a:ext cx="1715135" cy="640556"/>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发起福利互动，进行全渠道用户门票抽</a:t>
              </a:r>
              <a:br/>
              <a:r>
                <a:rPr lang="zh-CN" sz="790" dirty="0">
                  <a:solidFill>
                    <a:srgbClr val="705F5B"/>
                  </a:solidFill>
                  <a:latin typeface="+mn-lt"/>
                  <a:ea typeface="+mn-ea"/>
                  <a:cs typeface="+mn-cs"/>
                </a:rPr>
                <a:t>奖；线上邀请球迷参与品牌社媒账号竞</a:t>
              </a:r>
              <a:br/>
              <a:r>
                <a:rPr lang="zh-CN" sz="790" dirty="0">
                  <a:solidFill>
                    <a:srgbClr val="705F5B"/>
                  </a:solidFill>
                  <a:latin typeface="+mn-lt"/>
                  <a:ea typeface="+mn-ea"/>
                  <a:cs typeface="+mn-cs"/>
                </a:rPr>
                <a:t>猜抽奖，增强粉丝互动频率，激发粉丝</a:t>
              </a:r>
              <a:br/>
              <a:r>
                <a:rPr lang="zh-CN" sz="790" dirty="0">
                  <a:solidFill>
                    <a:srgbClr val="705F5B"/>
                  </a:solidFill>
                  <a:latin typeface="+mn-lt"/>
                  <a:ea typeface="+mn-ea"/>
                  <a:cs typeface="+mn-cs"/>
                </a:rPr>
                <a:t>讨论热情</a:t>
              </a:r>
            </a:p>
          </p:txBody>
        </p:sp>
      </p:grpSp>
      <p:grpSp>
        <p:nvGrpSpPr>
          <p:cNvPr id="66" name="phase-card-3"/>
          <p:cNvGrpSpPr/>
          <p:nvPr/>
        </p:nvGrpSpPr>
        <p:grpSpPr>
          <a:xfrm>
            <a:off x="7924800" y="2762250"/>
            <a:ext cx="4038600" cy="3829050"/>
            <a:chOff x="7924800" y="2762250"/>
            <a:chExt cx="4038600" cy="3829050"/>
          </a:xfrm>
        </p:grpSpPr>
        <p:sp>
          <p:nvSpPr>
            <p:cNvPr id="54" name="Rectangle 54"/>
            <p:cNvSpPr/>
            <p:nvPr/>
          </p:nvSpPr>
          <p:spPr>
            <a:xfrm>
              <a:off x="7924800" y="2762250"/>
              <a:ext cx="4038600" cy="590550"/>
            </a:xfrm>
            <a:prstGeom prst="roundRect">
              <a:avLst>
                <a:gd name="adj" fmla="val 6452"/>
              </a:avLst>
            </a:prstGeom>
            <a:gradFill>
              <a:gsLst>
                <a:gs pos="0">
                  <a:srgbClr val="A84834"/>
                </a:gs>
                <a:gs pos="100000">
                  <a:srgbClr val="C96E5B"/>
                </a:gs>
              </a:gsLst>
              <a:lin ang="0" scaled="1"/>
            </a:gradFill>
            <a:ln>
              <a:noFill/>
            </a:ln>
          </p:spPr>
        </p:sp>
        <p:sp>
          <p:nvSpPr>
            <p:cNvPr id="55" name="TextBox 55"/>
            <p:cNvSpPr txBox="1"/>
            <p:nvPr/>
          </p:nvSpPr>
          <p:spPr>
            <a:xfrm>
              <a:off x="8141208" y="2903220"/>
              <a:ext cx="210967"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3</a:t>
              </a:r>
            </a:p>
          </p:txBody>
        </p:sp>
        <p:sp>
          <p:nvSpPr>
            <p:cNvPr id="56" name="TextBox 56"/>
            <p:cNvSpPr txBox="1"/>
            <p:nvPr/>
          </p:nvSpPr>
          <p:spPr>
            <a:xfrm>
              <a:off x="8452485" y="2907506"/>
              <a:ext cx="76530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赛中造市：</a:t>
              </a:r>
            </a:p>
          </p:txBody>
        </p:sp>
        <p:sp>
          <p:nvSpPr>
            <p:cNvPr id="57" name="TextBox 57"/>
            <p:cNvSpPr txBox="1"/>
            <p:nvPr/>
          </p:nvSpPr>
          <p:spPr>
            <a:xfrm>
              <a:off x="8453438" y="3153489"/>
              <a:ext cx="1392072" cy="154781"/>
            </a:xfrm>
            <a:prstGeom prst="rect">
              <a:avLst/>
            </a:prstGeom>
            <a:noFill/>
            <a:ln>
              <a:noFill/>
            </a:ln>
          </p:spPr>
          <p:txBody>
            <a:bodyPr wrap="none" lIns="0" tIns="0" rIns="0" bIns="0" anchor="t" anchorCtr="0">
              <a:spAutoFit/>
            </a:bodyPr>
            <a:lstStyle/>
            <a:p>
              <a:pPr algn="l"/>
              <a:r>
                <a:rPr lang="zh-CN" sz="790" dirty="0">
                  <a:solidFill>
                    <a:srgbClr val="E8EAFB"/>
                  </a:solidFill>
                  <a:latin typeface="+mn-lt"/>
                  <a:ea typeface="+mn-ea"/>
                  <a:cs typeface="+mn-cs"/>
                </a:rPr>
                <a:t>高频品牌露出，承接流量高峰</a:t>
              </a:r>
            </a:p>
          </p:txBody>
        </p:sp>
        <p:sp>
          <p:nvSpPr>
            <p:cNvPr id="58" name="Rectangle 58"/>
            <p:cNvSpPr/>
            <p:nvPr/>
          </p:nvSpPr>
          <p:spPr>
            <a:xfrm>
              <a:off x="7924800" y="3352800"/>
              <a:ext cx="4038600" cy="3238500"/>
            </a:xfrm>
            <a:prstGeom prst="roundRect">
              <a:avLst>
                <a:gd name="adj" fmla="val 1176"/>
              </a:avLst>
            </a:prstGeom>
            <a:solidFill>
              <a:srgbClr val="FFFFFF"/>
            </a:solidFill>
            <a:ln w="9525">
              <a:solidFill>
                <a:srgbClr val="E4E7F5"/>
              </a:solidFill>
            </a:ln>
          </p:spPr>
        </p:sp>
        <p:sp>
          <p:nvSpPr>
            <p:cNvPr id="59" name="TextBox 59"/>
            <p:cNvSpPr txBox="1"/>
            <p:nvPr/>
          </p:nvSpPr>
          <p:spPr>
            <a:xfrm>
              <a:off x="8072247" y="3571399"/>
              <a:ext cx="1710123" cy="190690"/>
            </a:xfrm>
            <a:prstGeom prst="rect">
              <a:avLst/>
            </a:prstGeom>
            <a:noFill/>
            <a:ln>
              <a:noFill/>
            </a:ln>
          </p:spPr>
          <p:txBody>
            <a:bodyPr wrap="none" lIns="0" tIns="0" rIns="0" bIns="0" anchor="t" anchorCtr="0">
              <a:spAutoFit/>
            </a:bodyPr>
            <a:lstStyle/>
            <a:p>
              <a:pPr algn="l"/>
              <a:r>
                <a:rPr lang="zh-CN" sz="980" b="1" dirty="0">
                  <a:solidFill>
                    <a:srgbClr val="523F3B"/>
                  </a:solidFill>
                  <a:latin typeface="+mn-lt"/>
                  <a:ea typeface="+mn-ea"/>
                  <a:cs typeface="+mn-cs"/>
                </a:rPr>
                <a:t>#活动:体育x品牌/明星/福利</a:t>
              </a:r>
            </a:p>
          </p:txBody>
        </p:sp>
        <p:sp>
          <p:nvSpPr>
            <p:cNvPr id="60" name="Rectangle 60"/>
            <p:cNvSpPr/>
            <p:nvPr/>
          </p:nvSpPr>
          <p:spPr>
            <a:xfrm>
              <a:off x="8077200" y="3810000"/>
              <a:ext cx="1428750" cy="228600"/>
            </a:xfrm>
            <a:prstGeom prst="roundRect">
              <a:avLst>
                <a:gd name="adj" fmla="val 12500"/>
              </a:avLst>
            </a:prstGeom>
            <a:solidFill>
              <a:srgbClr val="C4624E"/>
            </a:solidFill>
            <a:ln>
              <a:noFill/>
            </a:ln>
          </p:spPr>
        </p:sp>
        <p:sp>
          <p:nvSpPr>
            <p:cNvPr id="61" name="TextBox 61"/>
            <p:cNvSpPr txBox="1"/>
            <p:nvPr/>
          </p:nvSpPr>
          <p:spPr>
            <a:xfrm>
              <a:off x="8455647" y="3873341"/>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承接流量高峰</a:t>
              </a:r>
            </a:p>
          </p:txBody>
        </p:sp>
        <p:sp>
          <p:nvSpPr>
            <p:cNvPr id="62" name="TextBox 62"/>
            <p:cNvSpPr txBox="1"/>
            <p:nvPr/>
          </p:nvSpPr>
          <p:spPr>
            <a:xfrm>
              <a:off x="8072438" y="4182189"/>
              <a:ext cx="181546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线上社媒实时赛况更新，球星签名礼品抽</a:t>
              </a:r>
              <a:br/>
              <a:r>
                <a:rPr lang="zh-CN" sz="790" dirty="0">
                  <a:solidFill>
                    <a:srgbClr val="705F5B"/>
                  </a:solidFill>
                  <a:latin typeface="+mn-lt"/>
                  <a:ea typeface="+mn-ea"/>
                  <a:cs typeface="+mn-cs"/>
                </a:rPr>
                <a:t>奖，线下举办观赛派对，竭力打造高压狂</a:t>
              </a:r>
              <a:br/>
              <a:r>
                <a:rPr lang="zh-CN" sz="790" dirty="0">
                  <a:solidFill>
                    <a:srgbClr val="705F5B"/>
                  </a:solidFill>
                  <a:latin typeface="+mn-lt"/>
                  <a:ea typeface="+mn-ea"/>
                  <a:cs typeface="+mn-cs"/>
                </a:rPr>
                <a:t>欢氛围</a:t>
              </a:r>
            </a:p>
          </p:txBody>
        </p:sp>
        <p:sp>
          <p:nvSpPr>
            <p:cNvPr id="63" name="Rectangle 63"/>
            <p:cNvSpPr/>
            <p:nvPr/>
          </p:nvSpPr>
          <p:spPr>
            <a:xfrm>
              <a:off x="8077200" y="5010150"/>
              <a:ext cx="1428750" cy="228600"/>
            </a:xfrm>
            <a:prstGeom prst="roundRect">
              <a:avLst>
                <a:gd name="adj" fmla="val 12500"/>
              </a:avLst>
            </a:prstGeom>
            <a:solidFill>
              <a:srgbClr val="C4624E"/>
            </a:solidFill>
            <a:ln>
              <a:noFill/>
            </a:ln>
          </p:spPr>
        </p:sp>
        <p:sp>
          <p:nvSpPr>
            <p:cNvPr id="64" name="TextBox 64"/>
            <p:cNvSpPr txBox="1"/>
            <p:nvPr/>
          </p:nvSpPr>
          <p:spPr>
            <a:xfrm>
              <a:off x="8455647" y="5073491"/>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高频品牌露出</a:t>
              </a:r>
            </a:p>
          </p:txBody>
        </p:sp>
        <p:sp>
          <p:nvSpPr>
            <p:cNvPr id="65" name="TextBox 65"/>
            <p:cNvSpPr txBox="1"/>
            <p:nvPr/>
          </p:nvSpPr>
          <p:spPr>
            <a:xfrm>
              <a:off x="8072438" y="5382339"/>
              <a:ext cx="181546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运用多渠道资源，场内实时广告、球星采</a:t>
              </a:r>
              <a:br/>
              <a:r>
                <a:rPr lang="zh-CN" sz="790" dirty="0">
                  <a:solidFill>
                    <a:srgbClr val="705F5B"/>
                  </a:solidFill>
                  <a:latin typeface="+mn-lt"/>
                  <a:ea typeface="+mn-ea"/>
                  <a:cs typeface="+mn-cs"/>
                </a:rPr>
                <a:t>访露出强调品牌排名并植入产品心智；场</a:t>
              </a:r>
              <a:br/>
              <a:r>
                <a:rPr lang="zh-CN" sz="790" dirty="0">
                  <a:solidFill>
                    <a:srgbClr val="705F5B"/>
                  </a:solidFill>
                  <a:latin typeface="+mn-lt"/>
                  <a:ea typeface="+mn-ea"/>
                  <a:cs typeface="+mn-cs"/>
                </a:rPr>
                <a:t>外设立品牌展区强化品牌印象</a:t>
              </a:r>
            </a:p>
          </p:txBody>
        </p:sp>
      </p:gr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4783455" cy="440055"/>
            <a:chOff x="302895" y="214312"/>
            <a:chExt cx="4783455"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27.​</a:t>
              </a:r>
            </a:p>
          </p:txBody>
        </p:sp>
        <p:sp>
          <p:nvSpPr>
            <p:cNvPr id="3" name="TextBox 3"/>
            <p:cNvSpPr txBox="1"/>
            <p:nvPr/>
          </p:nvSpPr>
          <p:spPr>
            <a:xfrm>
              <a:off x="866394" y="246698"/>
              <a:ext cx="421995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多员工门店矩阵，实现经营链路闭环</a:t>
              </a:r>
            </a:p>
          </p:txBody>
        </p:sp>
      </p:grpSp>
      <p:grpSp>
        <p:nvGrpSpPr>
          <p:cNvPr id="27" name="galaxy-diagram"/>
          <p:cNvGrpSpPr/>
          <p:nvPr/>
        </p:nvGrpSpPr>
        <p:grpSpPr>
          <a:xfrm>
            <a:off x="666750" y="1190625"/>
            <a:ext cx="4981575" cy="2679382"/>
            <a:chOff x="666750" y="1190625"/>
            <a:chExt cx="4981575" cy="2679382"/>
          </a:xfrm>
        </p:grpSpPr>
        <p:sp>
          <p:nvSpPr>
            <p:cNvPr id="5" name="galaxy-dot-1"/>
            <p:cNvSpPr/>
            <p:nvPr/>
          </p:nvSpPr>
          <p:spPr>
            <a:xfrm>
              <a:off x="838200" y="1476375"/>
              <a:ext cx="133350" cy="133350"/>
            </a:xfrm>
            <a:prstGeom prst="ellipse">
              <a:avLst/>
            </a:prstGeom>
            <a:solidFill>
              <a:srgbClr val="D47D6B">
                <a:alpha val="50000"/>
              </a:srgbClr>
            </a:solidFill>
            <a:ln>
              <a:noFill/>
            </a:ln>
          </p:spPr>
        </p:sp>
        <p:sp>
          <p:nvSpPr>
            <p:cNvPr id="6" name="galaxy-dot-2"/>
            <p:cNvSpPr/>
            <p:nvPr/>
          </p:nvSpPr>
          <p:spPr>
            <a:xfrm>
              <a:off x="5314950" y="1190625"/>
              <a:ext cx="133350" cy="133350"/>
            </a:xfrm>
            <a:prstGeom prst="ellipse">
              <a:avLst/>
            </a:prstGeom>
            <a:solidFill>
              <a:srgbClr val="D47D6B">
                <a:alpha val="50000"/>
              </a:srgbClr>
            </a:solidFill>
            <a:ln>
              <a:noFill/>
            </a:ln>
          </p:spPr>
        </p:sp>
        <p:sp>
          <p:nvSpPr>
            <p:cNvPr id="7" name="galaxy-dot-3"/>
            <p:cNvSpPr/>
            <p:nvPr/>
          </p:nvSpPr>
          <p:spPr>
            <a:xfrm>
              <a:off x="5553075" y="3095625"/>
              <a:ext cx="95250" cy="95250"/>
            </a:xfrm>
            <a:prstGeom prst="ellipse">
              <a:avLst/>
            </a:prstGeom>
            <a:solidFill>
              <a:srgbClr val="E0B3AA"/>
            </a:solidFill>
            <a:ln>
              <a:noFill/>
            </a:ln>
          </p:spPr>
        </p:sp>
        <p:sp>
          <p:nvSpPr>
            <p:cNvPr id="8" name="Ellipse 8"/>
            <p:cNvSpPr/>
            <p:nvPr/>
          </p:nvSpPr>
          <p:spPr>
            <a:xfrm>
              <a:off x="666750" y="1743075"/>
              <a:ext cx="4572000" cy="1943100"/>
            </a:xfrm>
            <a:prstGeom prst="ellipse">
              <a:avLst/>
            </a:prstGeom>
            <a:noFill/>
            <a:ln w="247650">
              <a:solidFill>
                <a:srgbClr val="E9EBF8"/>
              </a:solidFill>
            </a:ln>
          </p:spPr>
        </p:sp>
        <p:sp>
          <p:nvSpPr>
            <p:cNvPr id="9" name="Ellipse 9"/>
            <p:cNvSpPr/>
            <p:nvPr/>
          </p:nvSpPr>
          <p:spPr>
            <a:xfrm>
              <a:off x="1524000" y="2124075"/>
              <a:ext cx="2857500" cy="1181100"/>
            </a:xfrm>
            <a:prstGeom prst="ellipse">
              <a:avLst/>
            </a:prstGeom>
            <a:noFill/>
            <a:ln w="133350">
              <a:solidFill>
                <a:srgbClr val="EEF0FB"/>
              </a:solidFill>
            </a:ln>
          </p:spPr>
        </p:sp>
        <p:sp>
          <p:nvSpPr>
            <p:cNvPr id="10" name="Ellipse 10"/>
            <p:cNvSpPr/>
            <p:nvPr/>
          </p:nvSpPr>
          <p:spPr>
            <a:xfrm>
              <a:off x="2419350" y="2133600"/>
              <a:ext cx="1066800" cy="1066800"/>
            </a:xfrm>
            <a:prstGeom prst="ellipse">
              <a:avLst/>
            </a:prstGeom>
            <a:solidFill>
              <a:srgbClr val="C1553F"/>
            </a:solidFill>
            <a:ln>
              <a:noFill/>
            </a:ln>
          </p:spPr>
        </p:sp>
        <p:sp>
          <p:nvSpPr>
            <p:cNvPr id="11" name="TextBox 11"/>
            <p:cNvSpPr txBox="1"/>
            <p:nvPr/>
          </p:nvSpPr>
          <p:spPr>
            <a:xfrm>
              <a:off x="2796261" y="25074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账号</a:t>
              </a:r>
            </a:p>
          </p:txBody>
        </p:sp>
        <p:sp>
          <p:nvSpPr>
            <p:cNvPr id="12" name="TextBox 12"/>
            <p:cNvSpPr txBox="1"/>
            <p:nvPr/>
          </p:nvSpPr>
          <p:spPr>
            <a:xfrm>
              <a:off x="2796261" y="27170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矩阵</a:t>
              </a:r>
            </a:p>
          </p:txBody>
        </p:sp>
        <p:sp>
          <p:nvSpPr>
            <p:cNvPr id="13" name="Ellipse 13"/>
            <p:cNvSpPr/>
            <p:nvPr/>
          </p:nvSpPr>
          <p:spPr>
            <a:xfrm>
              <a:off x="1743075" y="1552575"/>
              <a:ext cx="419100" cy="419100"/>
            </a:xfrm>
            <a:prstGeom prst="ellipse">
              <a:avLst/>
            </a:prstGeom>
            <a:solidFill>
              <a:srgbClr val="E5624C"/>
            </a:solidFill>
            <a:ln>
              <a:noFill/>
            </a:ln>
          </p:spPr>
        </p:sp>
        <p:sp>
          <p:nvSpPr>
            <p:cNvPr id="14" name="TextBox 14"/>
            <p:cNvSpPr txBox="1"/>
            <p:nvPr/>
          </p:nvSpPr>
          <p:spPr>
            <a:xfrm>
              <a:off x="1362875" y="1960245"/>
              <a:ext cx="322250"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商家A</a:t>
              </a:r>
            </a:p>
          </p:txBody>
        </p:sp>
        <p:sp>
          <p:nvSpPr>
            <p:cNvPr id="15" name="Ellipse 15"/>
            <p:cNvSpPr/>
            <p:nvPr/>
          </p:nvSpPr>
          <p:spPr>
            <a:xfrm>
              <a:off x="819150" y="2581275"/>
              <a:ext cx="457200" cy="457200"/>
            </a:xfrm>
            <a:prstGeom prst="ellipse">
              <a:avLst/>
            </a:prstGeom>
            <a:solidFill>
              <a:srgbClr val="DD988A"/>
            </a:solidFill>
            <a:ln>
              <a:noFill/>
            </a:ln>
          </p:spPr>
        </p:sp>
        <p:sp>
          <p:nvSpPr>
            <p:cNvPr id="16" name="Ellipse 16"/>
            <p:cNvSpPr/>
            <p:nvPr/>
          </p:nvSpPr>
          <p:spPr>
            <a:xfrm>
              <a:off x="971550" y="2667000"/>
              <a:ext cx="152400" cy="152400"/>
            </a:xfrm>
            <a:prstGeom prst="ellipse">
              <a:avLst/>
            </a:prstGeom>
            <a:solidFill>
              <a:srgbClr val="FFFFFF"/>
            </a:solidFill>
            <a:ln>
              <a:noFill/>
            </a:ln>
          </p:spPr>
        </p:sp>
        <p:sp>
          <p:nvSpPr>
            <p:cNvPr id="17" name="Freeform 17"/>
            <p:cNvSpPr/>
            <p:nvPr/>
          </p:nvSpPr>
          <p:spPr>
            <a:xfrm>
              <a:off x="914400" y="2838450"/>
              <a:ext cx="266700" cy="95250"/>
            </a:xfrm>
            <a:custGeom>
              <a:avLst/>
              <a:gdLst/>
              <a:ahLst/>
              <a:cxnLst/>
              <a:rect l="l" t="t" r="r" b="b"/>
              <a:pathLst>
                <a:path w="266700" h="95250">
                  <a:moveTo>
                    <a:pt x="0" y="95250"/>
                  </a:moveTo>
                  <a:cubicBezTo>
                    <a:pt x="0" y="0"/>
                    <a:pt x="266700" y="0"/>
                    <a:pt x="266700" y="95250"/>
                  </a:cubicBezTo>
                  <a:close/>
                </a:path>
              </a:pathLst>
            </a:custGeom>
            <a:solidFill>
              <a:srgbClr val="FFFFFF"/>
            </a:solidFill>
            <a:ln>
              <a:noFill/>
            </a:ln>
          </p:spPr>
        </p:sp>
        <p:sp>
          <p:nvSpPr>
            <p:cNvPr id="18" name="TextBox 18"/>
            <p:cNvSpPr txBox="1"/>
            <p:nvPr/>
          </p:nvSpPr>
          <p:spPr>
            <a:xfrm>
              <a:off x="886625" y="3122295"/>
              <a:ext cx="322250"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员工A</a:t>
              </a:r>
            </a:p>
          </p:txBody>
        </p:sp>
        <p:sp>
          <p:nvSpPr>
            <p:cNvPr id="19" name="Ellipse 19"/>
            <p:cNvSpPr/>
            <p:nvPr/>
          </p:nvSpPr>
          <p:spPr>
            <a:xfrm>
              <a:off x="1409700" y="3200400"/>
              <a:ext cx="419100" cy="419100"/>
            </a:xfrm>
            <a:prstGeom prst="ellipse">
              <a:avLst/>
            </a:prstGeom>
            <a:solidFill>
              <a:srgbClr val="E5624C"/>
            </a:solidFill>
            <a:ln>
              <a:noFill/>
            </a:ln>
          </p:spPr>
        </p:sp>
        <p:sp>
          <p:nvSpPr>
            <p:cNvPr id="20" name="TextBox 20"/>
            <p:cNvSpPr txBox="1"/>
            <p:nvPr/>
          </p:nvSpPr>
          <p:spPr>
            <a:xfrm>
              <a:off x="1458125" y="3693795"/>
              <a:ext cx="322250"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商家B</a:t>
              </a:r>
            </a:p>
          </p:txBody>
        </p:sp>
        <p:sp>
          <p:nvSpPr>
            <p:cNvPr id="21" name="Ellipse 21"/>
            <p:cNvSpPr/>
            <p:nvPr/>
          </p:nvSpPr>
          <p:spPr>
            <a:xfrm>
              <a:off x="4124325" y="3200400"/>
              <a:ext cx="419100" cy="419100"/>
            </a:xfrm>
            <a:prstGeom prst="ellipse">
              <a:avLst/>
            </a:prstGeom>
            <a:solidFill>
              <a:srgbClr val="E5624C"/>
            </a:solidFill>
            <a:ln>
              <a:noFill/>
            </a:ln>
          </p:spPr>
        </p:sp>
        <p:sp>
          <p:nvSpPr>
            <p:cNvPr id="22" name="TextBox 22"/>
            <p:cNvSpPr txBox="1"/>
            <p:nvPr/>
          </p:nvSpPr>
          <p:spPr>
            <a:xfrm>
              <a:off x="4172750" y="3693795"/>
              <a:ext cx="322250"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商家C</a:t>
              </a:r>
            </a:p>
          </p:txBody>
        </p:sp>
        <p:sp>
          <p:nvSpPr>
            <p:cNvPr id="23" name="Ellipse 23"/>
            <p:cNvSpPr/>
            <p:nvPr/>
          </p:nvSpPr>
          <p:spPr>
            <a:xfrm>
              <a:off x="4962525" y="1676400"/>
              <a:ext cx="457200" cy="457200"/>
            </a:xfrm>
            <a:prstGeom prst="ellipse">
              <a:avLst/>
            </a:prstGeom>
            <a:solidFill>
              <a:srgbClr val="DD988A"/>
            </a:solidFill>
            <a:ln>
              <a:noFill/>
            </a:ln>
          </p:spPr>
        </p:sp>
        <p:sp>
          <p:nvSpPr>
            <p:cNvPr id="24" name="Ellipse 24"/>
            <p:cNvSpPr/>
            <p:nvPr/>
          </p:nvSpPr>
          <p:spPr>
            <a:xfrm>
              <a:off x="5114925" y="1762125"/>
              <a:ext cx="152400" cy="152400"/>
            </a:xfrm>
            <a:prstGeom prst="ellipse">
              <a:avLst/>
            </a:prstGeom>
            <a:solidFill>
              <a:srgbClr val="FFFFFF"/>
            </a:solidFill>
            <a:ln>
              <a:noFill/>
            </a:ln>
          </p:spPr>
        </p:sp>
        <p:sp>
          <p:nvSpPr>
            <p:cNvPr id="25" name="Freeform 25"/>
            <p:cNvSpPr/>
            <p:nvPr/>
          </p:nvSpPr>
          <p:spPr>
            <a:xfrm>
              <a:off x="5057775" y="1933575"/>
              <a:ext cx="266700" cy="95250"/>
            </a:xfrm>
            <a:custGeom>
              <a:avLst/>
              <a:gdLst/>
              <a:ahLst/>
              <a:cxnLst/>
              <a:rect l="l" t="t" r="r" b="b"/>
              <a:pathLst>
                <a:path w="266700" h="95250">
                  <a:moveTo>
                    <a:pt x="0" y="95250"/>
                  </a:moveTo>
                  <a:cubicBezTo>
                    <a:pt x="0" y="0"/>
                    <a:pt x="266700" y="0"/>
                    <a:pt x="266700" y="95250"/>
                  </a:cubicBezTo>
                  <a:close/>
                </a:path>
              </a:pathLst>
            </a:custGeom>
            <a:solidFill>
              <a:srgbClr val="FFFFFF"/>
            </a:solidFill>
            <a:ln>
              <a:noFill/>
            </a:ln>
          </p:spPr>
        </p:sp>
        <p:sp>
          <p:nvSpPr>
            <p:cNvPr id="26" name="TextBox 26"/>
            <p:cNvSpPr txBox="1"/>
            <p:nvPr/>
          </p:nvSpPr>
          <p:spPr>
            <a:xfrm>
              <a:off x="5030000" y="2217420"/>
              <a:ext cx="322250"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员工B</a:t>
              </a:r>
            </a:p>
          </p:txBody>
        </p:sp>
      </p:grpSp>
      <p:grpSp>
        <p:nvGrpSpPr>
          <p:cNvPr id="41" name="service-steps"/>
          <p:cNvGrpSpPr/>
          <p:nvPr/>
        </p:nvGrpSpPr>
        <p:grpSpPr>
          <a:xfrm>
            <a:off x="6662738" y="1066800"/>
            <a:ext cx="4395787" cy="3079670"/>
            <a:chOff x="6662738" y="1066800"/>
            <a:chExt cx="4395787" cy="3079670"/>
          </a:xfrm>
        </p:grpSpPr>
        <p:sp>
          <p:nvSpPr>
            <p:cNvPr id="28" name="Rectangle 28"/>
            <p:cNvSpPr/>
            <p:nvPr/>
          </p:nvSpPr>
          <p:spPr>
            <a:xfrm>
              <a:off x="7677150" y="1066800"/>
              <a:ext cx="3381375" cy="323850"/>
            </a:xfrm>
            <a:prstGeom prst="roundRect">
              <a:avLst>
                <a:gd name="adj" fmla="val 50000"/>
              </a:avLst>
            </a:prstGeom>
            <a:gradFill>
              <a:gsLst>
                <a:gs pos="0">
                  <a:srgbClr val="E5624C"/>
                </a:gs>
                <a:gs pos="100000">
                  <a:srgbClr val="F0998A"/>
                </a:gs>
              </a:gsLst>
              <a:lin ang="0" scaled="1"/>
            </a:gradFill>
            <a:ln>
              <a:noFill/>
            </a:ln>
          </p:spPr>
        </p:sp>
        <p:sp>
          <p:nvSpPr>
            <p:cNvPr id="29" name="TextBox 29"/>
            <p:cNvSpPr txBox="1"/>
            <p:nvPr/>
          </p:nvSpPr>
          <p:spPr>
            <a:xfrm>
              <a:off x="8368284" y="1172528"/>
              <a:ext cx="198958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线下服务体验反哺线上经营提升</a:t>
              </a:r>
            </a:p>
          </p:txBody>
        </p:sp>
        <p:sp>
          <p:nvSpPr>
            <p:cNvPr id="30" name="TextBox 30"/>
            <p:cNvSpPr txBox="1"/>
            <p:nvPr/>
          </p:nvSpPr>
          <p:spPr>
            <a:xfrm>
              <a:off x="6662738" y="1727597"/>
              <a:ext cx="515696" cy="183356"/>
            </a:xfrm>
            <a:prstGeom prst="rect">
              <a:avLst/>
            </a:prstGeom>
            <a:noFill/>
            <a:ln>
              <a:noFill/>
            </a:ln>
          </p:spPr>
          <p:txBody>
            <a:bodyPr wrap="none" lIns="0" tIns="0" rIns="0" bIns="0" anchor="t" anchorCtr="0">
              <a:spAutoFit/>
            </a:bodyPr>
            <a:lstStyle/>
            <a:p>
              <a:pPr algn="l"/>
              <a:r>
                <a:rPr lang="zh-CN" sz="940" b="1" dirty="0">
                  <a:solidFill>
                    <a:srgbClr val="E5624C"/>
                  </a:solidFill>
                  <a:latin typeface="+mn-lt"/>
                  <a:ea typeface="+mn-ea"/>
                  <a:cs typeface="+mn-cs"/>
                </a:rPr>
                <a:t>引流到店</a:t>
              </a:r>
            </a:p>
          </p:txBody>
        </p:sp>
        <p:sp>
          <p:nvSpPr>
            <p:cNvPr id="31" name="TextBox 31"/>
            <p:cNvSpPr txBox="1"/>
            <p:nvPr/>
          </p:nvSpPr>
          <p:spPr>
            <a:xfrm>
              <a:off x="7424738" y="1724739"/>
              <a:ext cx="201612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通过</a:t>
              </a:r>
              <a:r>
                <a:rPr lang="zh-CN" sz="790" dirty="0">
                  <a:solidFill>
                    <a:srgbClr val="E5624C"/>
                  </a:solidFill>
                  <a:latin typeface="+mn-lt"/>
                  <a:ea typeface="+mn-ea"/>
                  <a:cs typeface="+mn-cs"/>
                </a:rPr>
                <a:t>多员工门店矩阵</a:t>
              </a:r>
              <a:r>
                <a:rPr lang="zh-CN" sz="790" dirty="0">
                  <a:solidFill>
                    <a:srgbClr val="705F5B"/>
                  </a:solidFill>
                  <a:latin typeface="+mn-lt"/>
                  <a:ea typeface="+mn-ea"/>
                  <a:cs typeface="+mn-cs"/>
                </a:rPr>
                <a:t>扩大影响力，吸引更</a:t>
              </a:r>
              <a:br/>
              <a:r>
                <a:rPr lang="zh-CN" sz="790" dirty="0">
                  <a:solidFill>
                    <a:srgbClr val="705F5B"/>
                  </a:solidFill>
                  <a:latin typeface="+mn-lt"/>
                  <a:ea typeface="+mn-ea"/>
                  <a:cs typeface="+mn-cs"/>
                </a:rPr>
                <a:t>多的潜在顾客关注产品或服务，并到店体验。</a:t>
              </a:r>
            </a:p>
          </p:txBody>
        </p:sp>
        <p:sp>
          <p:nvSpPr>
            <p:cNvPr id="32" name="Freeform 32"/>
            <p:cNvSpPr/>
            <p:nvPr/>
          </p:nvSpPr>
          <p:spPr>
            <a:xfrm>
              <a:off x="6667500" y="1924050"/>
              <a:ext cx="9525" cy="190500"/>
            </a:xfrm>
            <a:custGeom>
              <a:avLst/>
              <a:gdLst/>
              <a:ahLst/>
              <a:cxnLst/>
              <a:rect l="l" t="t" r="r" b="b"/>
              <a:pathLst>
                <a:path w="9525" h="190500">
                  <a:moveTo>
                    <a:pt x="0" y="0"/>
                  </a:moveTo>
                  <a:lnTo>
                    <a:pt x="0" y="190500"/>
                  </a:lnTo>
                </a:path>
              </a:pathLst>
            </a:custGeom>
            <a:noFill/>
            <a:ln w="23812">
              <a:solidFill>
                <a:srgbClr val="E5624C"/>
              </a:solidFill>
              <a:tailEnd type="triangle" w="lg" len="lg"/>
            </a:ln>
          </p:spPr>
        </p:sp>
        <p:sp>
          <p:nvSpPr>
            <p:cNvPr id="33" name="TextBox 33"/>
            <p:cNvSpPr txBox="1"/>
            <p:nvPr/>
          </p:nvSpPr>
          <p:spPr>
            <a:xfrm>
              <a:off x="6662738" y="2432447"/>
              <a:ext cx="515696" cy="183356"/>
            </a:xfrm>
            <a:prstGeom prst="rect">
              <a:avLst/>
            </a:prstGeom>
            <a:noFill/>
            <a:ln>
              <a:noFill/>
            </a:ln>
          </p:spPr>
          <p:txBody>
            <a:bodyPr wrap="none" lIns="0" tIns="0" rIns="0" bIns="0" anchor="t" anchorCtr="0">
              <a:spAutoFit/>
            </a:bodyPr>
            <a:lstStyle/>
            <a:p>
              <a:pPr algn="l"/>
              <a:r>
                <a:rPr lang="zh-CN" sz="940" b="1" dirty="0">
                  <a:solidFill>
                    <a:srgbClr val="E5624C"/>
                  </a:solidFill>
                  <a:latin typeface="+mn-lt"/>
                  <a:ea typeface="+mn-ea"/>
                  <a:cs typeface="+mn-cs"/>
                </a:rPr>
                <a:t>到店成交</a:t>
              </a:r>
            </a:p>
          </p:txBody>
        </p:sp>
        <p:sp>
          <p:nvSpPr>
            <p:cNvPr id="34" name="TextBox 34"/>
            <p:cNvSpPr txBox="1"/>
            <p:nvPr/>
          </p:nvSpPr>
          <p:spPr>
            <a:xfrm>
              <a:off x="7424738" y="2429589"/>
              <a:ext cx="191579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通过提供良好的客户服务、推出</a:t>
              </a:r>
              <a:r>
                <a:rPr lang="zh-CN" sz="790" dirty="0">
                  <a:solidFill>
                    <a:srgbClr val="E5624C"/>
                  </a:solidFill>
                  <a:latin typeface="+mn-lt"/>
                  <a:ea typeface="+mn-ea"/>
                  <a:cs typeface="+mn-cs"/>
                </a:rPr>
                <a:t>限时优惠</a:t>
              </a:r>
              <a:r>
                <a:rPr lang="zh-CN" sz="790" dirty="0">
                  <a:solidFill>
                    <a:srgbClr val="705F5B"/>
                  </a:solidFill>
                  <a:latin typeface="+mn-lt"/>
                  <a:ea typeface="+mn-ea"/>
                  <a:cs typeface="+mn-cs"/>
                </a:rPr>
                <a:t>、</a:t>
              </a:r>
              <a:br/>
              <a:r>
                <a:rPr lang="zh-CN" sz="790" dirty="0">
                  <a:solidFill>
                    <a:srgbClr val="705F5B"/>
                  </a:solidFill>
                  <a:latin typeface="+mn-lt"/>
                  <a:ea typeface="+mn-ea"/>
                  <a:cs typeface="+mn-cs"/>
                </a:rPr>
                <a:t>提供</a:t>
              </a:r>
              <a:r>
                <a:rPr lang="zh-CN" sz="790" dirty="0">
                  <a:solidFill>
                    <a:srgbClr val="E5624C"/>
                  </a:solidFill>
                  <a:latin typeface="+mn-lt"/>
                  <a:ea typeface="+mn-ea"/>
                  <a:cs typeface="+mn-cs"/>
                </a:rPr>
                <a:t>个性化建议</a:t>
              </a:r>
              <a:r>
                <a:rPr lang="zh-CN" sz="790" dirty="0">
                  <a:solidFill>
                    <a:srgbClr val="705F5B"/>
                  </a:solidFill>
                  <a:latin typeface="+mn-lt"/>
                  <a:ea typeface="+mn-ea"/>
                  <a:cs typeface="+mn-cs"/>
                </a:rPr>
                <a:t>等方式吸引顾客购买。</a:t>
              </a:r>
            </a:p>
          </p:txBody>
        </p:sp>
        <p:sp>
          <p:nvSpPr>
            <p:cNvPr id="35" name="Freeform 35"/>
            <p:cNvSpPr/>
            <p:nvPr/>
          </p:nvSpPr>
          <p:spPr>
            <a:xfrm>
              <a:off x="6667500" y="2628900"/>
              <a:ext cx="9525" cy="190500"/>
            </a:xfrm>
            <a:custGeom>
              <a:avLst/>
              <a:gdLst/>
              <a:ahLst/>
              <a:cxnLst/>
              <a:rect l="l" t="t" r="r" b="b"/>
              <a:pathLst>
                <a:path w="9525" h="190500">
                  <a:moveTo>
                    <a:pt x="0" y="0"/>
                  </a:moveTo>
                  <a:lnTo>
                    <a:pt x="0" y="190500"/>
                  </a:lnTo>
                </a:path>
              </a:pathLst>
            </a:custGeom>
            <a:noFill/>
            <a:ln w="23812">
              <a:solidFill>
                <a:srgbClr val="E5624C"/>
              </a:solidFill>
              <a:tailEnd type="triangle" w="lg" len="lg"/>
            </a:ln>
          </p:spPr>
        </p:sp>
        <p:sp>
          <p:nvSpPr>
            <p:cNvPr id="36" name="TextBox 36"/>
            <p:cNvSpPr txBox="1"/>
            <p:nvPr/>
          </p:nvSpPr>
          <p:spPr>
            <a:xfrm>
              <a:off x="6662738" y="3137297"/>
              <a:ext cx="515696" cy="183356"/>
            </a:xfrm>
            <a:prstGeom prst="rect">
              <a:avLst/>
            </a:prstGeom>
            <a:noFill/>
            <a:ln>
              <a:noFill/>
            </a:ln>
          </p:spPr>
          <p:txBody>
            <a:bodyPr wrap="none" lIns="0" tIns="0" rIns="0" bIns="0" anchor="t" anchorCtr="0">
              <a:spAutoFit/>
            </a:bodyPr>
            <a:lstStyle/>
            <a:p>
              <a:pPr algn="l"/>
              <a:r>
                <a:rPr lang="zh-CN" sz="940" b="1" dirty="0">
                  <a:solidFill>
                    <a:srgbClr val="E5624C"/>
                  </a:solidFill>
                  <a:latin typeface="+mn-lt"/>
                  <a:ea typeface="+mn-ea"/>
                  <a:cs typeface="+mn-cs"/>
                </a:rPr>
                <a:t>成交复购</a:t>
              </a:r>
            </a:p>
          </p:txBody>
        </p:sp>
        <p:sp>
          <p:nvSpPr>
            <p:cNvPr id="37" name="TextBox 37"/>
            <p:cNvSpPr txBox="1"/>
            <p:nvPr/>
          </p:nvSpPr>
          <p:spPr>
            <a:xfrm>
              <a:off x="7424738" y="3134439"/>
              <a:ext cx="191579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提供优质的产品和服务，建立良好的客户关</a:t>
              </a:r>
              <a:br/>
              <a:r>
                <a:rPr lang="zh-CN" sz="790" dirty="0">
                  <a:solidFill>
                    <a:srgbClr val="705F5B"/>
                  </a:solidFill>
                  <a:latin typeface="+mn-lt"/>
                  <a:ea typeface="+mn-ea"/>
                  <a:cs typeface="+mn-cs"/>
                </a:rPr>
                <a:t>系，并与顾客保持联系，提供促销资讯。</a:t>
              </a:r>
            </a:p>
          </p:txBody>
        </p:sp>
        <p:sp>
          <p:nvSpPr>
            <p:cNvPr id="38" name="Freeform 38"/>
            <p:cNvSpPr/>
            <p:nvPr/>
          </p:nvSpPr>
          <p:spPr>
            <a:xfrm>
              <a:off x="6667500" y="3333750"/>
              <a:ext cx="9525" cy="190500"/>
            </a:xfrm>
            <a:custGeom>
              <a:avLst/>
              <a:gdLst/>
              <a:ahLst/>
              <a:cxnLst/>
              <a:rect l="l" t="t" r="r" b="b"/>
              <a:pathLst>
                <a:path w="9525" h="190500">
                  <a:moveTo>
                    <a:pt x="0" y="0"/>
                  </a:moveTo>
                  <a:lnTo>
                    <a:pt x="0" y="190500"/>
                  </a:lnTo>
                </a:path>
              </a:pathLst>
            </a:custGeom>
            <a:noFill/>
            <a:ln w="23812">
              <a:solidFill>
                <a:srgbClr val="E5624C"/>
              </a:solidFill>
              <a:tailEnd type="triangle" w="lg" len="lg"/>
            </a:ln>
          </p:spPr>
        </p:sp>
        <p:sp>
          <p:nvSpPr>
            <p:cNvPr id="39" name="TextBox 39"/>
            <p:cNvSpPr txBox="1"/>
            <p:nvPr/>
          </p:nvSpPr>
          <p:spPr>
            <a:xfrm>
              <a:off x="6662738" y="3842147"/>
              <a:ext cx="515696" cy="183356"/>
            </a:xfrm>
            <a:prstGeom prst="rect">
              <a:avLst/>
            </a:prstGeom>
            <a:noFill/>
            <a:ln>
              <a:noFill/>
            </a:ln>
          </p:spPr>
          <p:txBody>
            <a:bodyPr wrap="none" lIns="0" tIns="0" rIns="0" bIns="0" anchor="t" anchorCtr="0">
              <a:spAutoFit/>
            </a:bodyPr>
            <a:lstStyle/>
            <a:p>
              <a:pPr algn="l"/>
              <a:r>
                <a:rPr lang="zh-CN" sz="940" b="1" dirty="0">
                  <a:solidFill>
                    <a:srgbClr val="E5624C"/>
                  </a:solidFill>
                  <a:latin typeface="+mn-lt"/>
                  <a:ea typeface="+mn-ea"/>
                  <a:cs typeface="+mn-cs"/>
                </a:rPr>
                <a:t>会员裂变</a:t>
              </a:r>
            </a:p>
          </p:txBody>
        </p:sp>
        <p:sp>
          <p:nvSpPr>
            <p:cNvPr id="40" name="TextBox 40"/>
            <p:cNvSpPr txBox="1"/>
            <p:nvPr/>
          </p:nvSpPr>
          <p:spPr>
            <a:xfrm>
              <a:off x="7424738" y="3839289"/>
              <a:ext cx="191579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通过现有会员的介绍或推荐来</a:t>
              </a:r>
              <a:r>
                <a:rPr lang="zh-CN" sz="790" dirty="0">
                  <a:solidFill>
                    <a:srgbClr val="E5624C"/>
                  </a:solidFill>
                  <a:latin typeface="+mn-lt"/>
                  <a:ea typeface="+mn-ea"/>
                  <a:cs typeface="+mn-cs"/>
                </a:rPr>
                <a:t>吸引新会员</a:t>
              </a:r>
              <a:r>
                <a:rPr lang="zh-CN" sz="790" dirty="0">
                  <a:solidFill>
                    <a:srgbClr val="705F5B"/>
                  </a:solidFill>
                  <a:latin typeface="+mn-lt"/>
                  <a:ea typeface="+mn-ea"/>
                  <a:cs typeface="+mn-cs"/>
                </a:rPr>
                <a:t>的</a:t>
              </a:r>
              <a:br/>
              <a:r>
                <a:rPr lang="zh-CN" sz="790" dirty="0">
                  <a:solidFill>
                    <a:srgbClr val="705F5B"/>
                  </a:solidFill>
                  <a:latin typeface="+mn-lt"/>
                  <a:ea typeface="+mn-ea"/>
                  <a:cs typeface="+mn-cs"/>
                </a:rPr>
                <a:t>增长，扩大会员基础并增加销售额。</a:t>
              </a:r>
            </a:p>
          </p:txBody>
        </p:sp>
      </p:grpSp>
      <p:grpSp>
        <p:nvGrpSpPr>
          <p:cNvPr id="63" name="bottom-band"/>
          <p:cNvGrpSpPr/>
          <p:nvPr/>
        </p:nvGrpSpPr>
        <p:grpSpPr>
          <a:xfrm>
            <a:off x="228600" y="4972050"/>
            <a:ext cx="11734800" cy="1619250"/>
            <a:chOff x="228600" y="4972050"/>
            <a:chExt cx="11734800" cy="1619250"/>
          </a:xfrm>
        </p:grpSpPr>
        <p:sp>
          <p:nvSpPr>
            <p:cNvPr id="42" name="Rectangle 42"/>
            <p:cNvSpPr/>
            <p:nvPr/>
          </p:nvSpPr>
          <p:spPr>
            <a:xfrm>
              <a:off x="228600" y="4972050"/>
              <a:ext cx="11734800" cy="1619250"/>
            </a:xfrm>
            <a:prstGeom prst="roundRect">
              <a:avLst>
                <a:gd name="adj" fmla="val 3529"/>
              </a:avLst>
            </a:prstGeom>
            <a:solidFill>
              <a:srgbClr val="FFFFFF"/>
            </a:solidFill>
            <a:ln w="9525">
              <a:solidFill>
                <a:srgbClr val="C9CFEA"/>
              </a:solidFill>
            </a:ln>
          </p:spPr>
        </p:sp>
        <p:sp>
          <p:nvSpPr>
            <p:cNvPr id="43" name="Rectangle 43"/>
            <p:cNvSpPr/>
            <p:nvPr/>
          </p:nvSpPr>
          <p:spPr>
            <a:xfrm>
              <a:off x="1619250" y="5143500"/>
              <a:ext cx="3619500" cy="323850"/>
            </a:xfrm>
            <a:prstGeom prst="roundRect">
              <a:avLst>
                <a:gd name="adj" fmla="val 11765"/>
              </a:avLst>
            </a:prstGeom>
            <a:gradFill>
              <a:gsLst>
                <a:gs pos="0">
                  <a:srgbClr val="C1553F"/>
                </a:gs>
                <a:gs pos="100000">
                  <a:srgbClr val="CE897B"/>
                </a:gs>
              </a:gsLst>
              <a:lin ang="0" scaled="1"/>
            </a:gradFill>
            <a:ln>
              <a:noFill/>
            </a:ln>
          </p:spPr>
        </p:sp>
        <p:sp>
          <p:nvSpPr>
            <p:cNvPr id="44" name="TextBox 44"/>
            <p:cNvSpPr txBox="1"/>
            <p:nvPr/>
          </p:nvSpPr>
          <p:spPr>
            <a:xfrm>
              <a:off x="2434209" y="5249228"/>
              <a:ext cx="198958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线上矩阵经营促进线下门店交易</a:t>
              </a:r>
            </a:p>
          </p:txBody>
        </p:sp>
        <p:sp>
          <p:nvSpPr>
            <p:cNvPr id="45" name="TextBox 45"/>
            <p:cNvSpPr txBox="1"/>
            <p:nvPr/>
          </p:nvSpPr>
          <p:spPr>
            <a:xfrm>
              <a:off x="566738" y="5683091"/>
              <a:ext cx="3541954"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充分利用连锁门店多门店、多员工的优势，构建天然的宣传矩阵，门店账</a:t>
              </a:r>
            </a:p>
          </p:txBody>
        </p:sp>
        <p:sp>
          <p:nvSpPr>
            <p:cNvPr id="46" name="TextBox 46"/>
            <p:cNvSpPr txBox="1"/>
            <p:nvPr/>
          </p:nvSpPr>
          <p:spPr>
            <a:xfrm>
              <a:off x="566738" y="5873591"/>
              <a:ext cx="453544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号与员工账号关联相对应门店的团购内容；团购设置的性价比很高，在视频中也会进行介绍。</a:t>
              </a:r>
            </a:p>
          </p:txBody>
        </p:sp>
        <p:sp>
          <p:nvSpPr>
            <p:cNvPr id="47" name="Rectangle 47"/>
            <p:cNvSpPr/>
            <p:nvPr/>
          </p:nvSpPr>
          <p:spPr>
            <a:xfrm>
              <a:off x="6572250" y="5143500"/>
              <a:ext cx="1428750" cy="285750"/>
            </a:xfrm>
            <a:prstGeom prst="roundRect">
              <a:avLst>
                <a:gd name="adj" fmla="val 50000"/>
              </a:avLst>
            </a:prstGeom>
            <a:solidFill>
              <a:srgbClr val="FFFFFF"/>
            </a:solidFill>
            <a:ln w="9525">
              <a:solidFill>
                <a:srgbClr val="DD988A"/>
              </a:solidFill>
            </a:ln>
          </p:spPr>
        </p:sp>
        <p:sp>
          <p:nvSpPr>
            <p:cNvPr id="48" name="TextBox 48"/>
            <p:cNvSpPr txBox="1"/>
            <p:nvPr/>
          </p:nvSpPr>
          <p:spPr>
            <a:xfrm>
              <a:off x="6918388" y="5236845"/>
              <a:ext cx="736473"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建立线上阵地</a:t>
              </a:r>
            </a:p>
          </p:txBody>
        </p:sp>
        <p:sp>
          <p:nvSpPr>
            <p:cNvPr id="49" name="Rectangle 49"/>
            <p:cNvSpPr/>
            <p:nvPr/>
          </p:nvSpPr>
          <p:spPr>
            <a:xfrm>
              <a:off x="8191500" y="5143500"/>
              <a:ext cx="1428750" cy="285750"/>
            </a:xfrm>
            <a:prstGeom prst="roundRect">
              <a:avLst>
                <a:gd name="adj" fmla="val 50000"/>
              </a:avLst>
            </a:prstGeom>
            <a:solidFill>
              <a:srgbClr val="FFFFFF"/>
            </a:solidFill>
            <a:ln w="9525">
              <a:solidFill>
                <a:srgbClr val="DD988A"/>
              </a:solidFill>
            </a:ln>
          </p:spPr>
        </p:sp>
        <p:sp>
          <p:nvSpPr>
            <p:cNvPr id="50" name="TextBox 50"/>
            <p:cNvSpPr txBox="1"/>
            <p:nvPr/>
          </p:nvSpPr>
          <p:spPr>
            <a:xfrm>
              <a:off x="8537638" y="5236845"/>
              <a:ext cx="736473"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上架团购商品</a:t>
              </a:r>
            </a:p>
          </p:txBody>
        </p:sp>
        <p:sp>
          <p:nvSpPr>
            <p:cNvPr id="51" name="Rectangle 51"/>
            <p:cNvSpPr/>
            <p:nvPr/>
          </p:nvSpPr>
          <p:spPr>
            <a:xfrm>
              <a:off x="9810750" y="5143500"/>
              <a:ext cx="1619250" cy="285750"/>
            </a:xfrm>
            <a:prstGeom prst="roundRect">
              <a:avLst>
                <a:gd name="adj" fmla="val 50000"/>
              </a:avLst>
            </a:prstGeom>
            <a:solidFill>
              <a:srgbClr val="FFFFFF"/>
            </a:solidFill>
            <a:ln w="9525">
              <a:solidFill>
                <a:srgbClr val="DD988A"/>
              </a:solidFill>
            </a:ln>
          </p:spPr>
        </p:sp>
        <p:sp>
          <p:nvSpPr>
            <p:cNvPr id="52" name="TextBox 52"/>
            <p:cNvSpPr txBox="1"/>
            <p:nvPr/>
          </p:nvSpPr>
          <p:spPr>
            <a:xfrm>
              <a:off x="10185502" y="5236845"/>
              <a:ext cx="869747"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丰富"种草"渠道</a:t>
              </a:r>
            </a:p>
          </p:txBody>
        </p:sp>
        <p:sp>
          <p:nvSpPr>
            <p:cNvPr id="53" name="Rectangle 53"/>
            <p:cNvSpPr/>
            <p:nvPr/>
          </p:nvSpPr>
          <p:spPr>
            <a:xfrm>
              <a:off x="6572250" y="5638800"/>
              <a:ext cx="1428750" cy="762000"/>
            </a:xfrm>
            <a:prstGeom prst="roundRect">
              <a:avLst>
                <a:gd name="adj" fmla="val 5000"/>
              </a:avLst>
            </a:prstGeom>
            <a:solidFill>
              <a:srgbClr val="EEF0FB"/>
            </a:solidFill>
            <a:ln w="9525">
              <a:solidFill>
                <a:srgbClr val="C9CFEA"/>
              </a:solidFill>
            </a:ln>
          </p:spPr>
        </p:sp>
        <p:sp>
          <p:nvSpPr>
            <p:cNvPr id="54" name="Rectangle 54"/>
            <p:cNvSpPr/>
            <p:nvPr/>
          </p:nvSpPr>
          <p:spPr>
            <a:xfrm>
              <a:off x="6667500" y="5734050"/>
              <a:ext cx="476250" cy="66675"/>
            </a:xfrm>
            <a:prstGeom prst="roundRect">
              <a:avLst>
                <a:gd name="adj" fmla="val 28571"/>
              </a:avLst>
            </a:prstGeom>
            <a:solidFill>
              <a:srgbClr val="C9CFEA"/>
            </a:solidFill>
            <a:ln>
              <a:noFill/>
            </a:ln>
          </p:spPr>
        </p:sp>
        <p:sp>
          <p:nvSpPr>
            <p:cNvPr id="55" name="Rectangle 55"/>
            <p:cNvSpPr/>
            <p:nvPr/>
          </p:nvSpPr>
          <p:spPr>
            <a:xfrm>
              <a:off x="6667500" y="5867400"/>
              <a:ext cx="1238250" cy="400050"/>
            </a:xfrm>
            <a:prstGeom prst="roundRect">
              <a:avLst>
                <a:gd name="adj" fmla="val 4762"/>
              </a:avLst>
            </a:prstGeom>
            <a:solidFill>
              <a:srgbClr val="DDE2F5"/>
            </a:solidFill>
            <a:ln>
              <a:noFill/>
            </a:ln>
          </p:spPr>
        </p:sp>
        <p:sp>
          <p:nvSpPr>
            <p:cNvPr id="56" name="Freeform 56"/>
            <p:cNvSpPr/>
            <p:nvPr/>
          </p:nvSpPr>
          <p:spPr>
            <a:xfrm>
              <a:off x="8077200" y="6019800"/>
              <a:ext cx="190500" cy="9525"/>
            </a:xfrm>
            <a:custGeom>
              <a:avLst/>
              <a:gdLst/>
              <a:ahLst/>
              <a:cxnLst/>
              <a:rect l="l" t="t" r="r" b="b"/>
              <a:pathLst>
                <a:path w="190500" h="9525">
                  <a:moveTo>
                    <a:pt x="0" y="0"/>
                  </a:moveTo>
                  <a:lnTo>
                    <a:pt x="190500" y="0"/>
                  </a:lnTo>
                </a:path>
              </a:pathLst>
            </a:custGeom>
            <a:noFill/>
            <a:ln w="28575">
              <a:solidFill>
                <a:srgbClr val="ED8776"/>
              </a:solidFill>
              <a:tailEnd type="triangle" w="lg" len="lg"/>
            </a:ln>
          </p:spPr>
        </p:sp>
        <p:sp>
          <p:nvSpPr>
            <p:cNvPr id="57" name="Rectangle 57"/>
            <p:cNvSpPr/>
            <p:nvPr/>
          </p:nvSpPr>
          <p:spPr>
            <a:xfrm>
              <a:off x="8382000" y="5638800"/>
              <a:ext cx="1428750" cy="762000"/>
            </a:xfrm>
            <a:prstGeom prst="roundRect">
              <a:avLst>
                <a:gd name="adj" fmla="val 5000"/>
              </a:avLst>
            </a:prstGeom>
            <a:solidFill>
              <a:srgbClr val="EEF0FB"/>
            </a:solidFill>
            <a:ln w="9525">
              <a:solidFill>
                <a:srgbClr val="C9CFEA"/>
              </a:solidFill>
            </a:ln>
          </p:spPr>
        </p:sp>
        <p:sp>
          <p:nvSpPr>
            <p:cNvPr id="58" name="Ellipse 58"/>
            <p:cNvSpPr/>
            <p:nvPr/>
          </p:nvSpPr>
          <p:spPr>
            <a:xfrm>
              <a:off x="8905875" y="5829300"/>
              <a:ext cx="381000" cy="381000"/>
            </a:xfrm>
            <a:prstGeom prst="ellipse">
              <a:avLst/>
            </a:prstGeom>
            <a:solidFill>
              <a:srgbClr val="DDE2F5"/>
            </a:solidFill>
            <a:ln>
              <a:noFill/>
            </a:ln>
          </p:spPr>
        </p:sp>
        <p:sp>
          <p:nvSpPr>
            <p:cNvPr id="59" name="Freeform 59"/>
            <p:cNvSpPr/>
            <p:nvPr/>
          </p:nvSpPr>
          <p:spPr>
            <a:xfrm>
              <a:off x="9886950" y="6019800"/>
              <a:ext cx="190500" cy="9525"/>
            </a:xfrm>
            <a:custGeom>
              <a:avLst/>
              <a:gdLst/>
              <a:ahLst/>
              <a:cxnLst/>
              <a:rect l="l" t="t" r="r" b="b"/>
              <a:pathLst>
                <a:path w="190500" h="9525">
                  <a:moveTo>
                    <a:pt x="0" y="0"/>
                  </a:moveTo>
                  <a:lnTo>
                    <a:pt x="190500" y="0"/>
                  </a:lnTo>
                </a:path>
              </a:pathLst>
            </a:custGeom>
            <a:noFill/>
            <a:ln w="28575">
              <a:solidFill>
                <a:srgbClr val="ED8776"/>
              </a:solidFill>
              <a:tailEnd type="triangle" w="lg" len="lg"/>
            </a:ln>
          </p:spPr>
        </p:sp>
        <p:sp>
          <p:nvSpPr>
            <p:cNvPr id="60" name="Rectangle 60"/>
            <p:cNvSpPr/>
            <p:nvPr/>
          </p:nvSpPr>
          <p:spPr>
            <a:xfrm>
              <a:off x="10191750" y="5638800"/>
              <a:ext cx="1428750" cy="762000"/>
            </a:xfrm>
            <a:prstGeom prst="roundRect">
              <a:avLst>
                <a:gd name="adj" fmla="val 5000"/>
              </a:avLst>
            </a:prstGeom>
            <a:solidFill>
              <a:srgbClr val="EEF0FB"/>
            </a:solidFill>
            <a:ln w="9525">
              <a:solidFill>
                <a:srgbClr val="C9CFEA"/>
              </a:solidFill>
            </a:ln>
          </p:spPr>
        </p:sp>
        <p:sp>
          <p:nvSpPr>
            <p:cNvPr id="61" name="Rectangle 61"/>
            <p:cNvSpPr/>
            <p:nvPr/>
          </p:nvSpPr>
          <p:spPr>
            <a:xfrm>
              <a:off x="10287000" y="5734050"/>
              <a:ext cx="476250" cy="66675"/>
            </a:xfrm>
            <a:prstGeom prst="roundRect">
              <a:avLst>
                <a:gd name="adj" fmla="val 28571"/>
              </a:avLst>
            </a:prstGeom>
            <a:solidFill>
              <a:srgbClr val="C9CFEA"/>
            </a:solidFill>
            <a:ln>
              <a:noFill/>
            </a:ln>
          </p:spPr>
        </p:sp>
        <p:sp>
          <p:nvSpPr>
            <p:cNvPr id="62" name="Rectangle 62"/>
            <p:cNvSpPr/>
            <p:nvPr/>
          </p:nvSpPr>
          <p:spPr>
            <a:xfrm>
              <a:off x="10287000" y="5867400"/>
              <a:ext cx="1238250" cy="400050"/>
            </a:xfrm>
            <a:prstGeom prst="roundRect">
              <a:avLst>
                <a:gd name="adj" fmla="val 4762"/>
              </a:avLst>
            </a:prstGeom>
            <a:solidFill>
              <a:srgbClr val="DDE2F5"/>
            </a:solidFill>
            <a:ln>
              <a:noFill/>
            </a:ln>
          </p:spPr>
        </p:sp>
      </p:gr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158365" cy="440055"/>
            <a:chOff x="302895" y="214312"/>
            <a:chExt cx="2158365"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28.​</a:t>
              </a:r>
            </a:p>
          </p:txBody>
        </p:sp>
        <p:sp>
          <p:nvSpPr>
            <p:cNvPr id="3" name="TextBox 3"/>
            <p:cNvSpPr txBox="1"/>
            <p:nvPr/>
          </p:nvSpPr>
          <p:spPr>
            <a:xfrm>
              <a:off x="866394" y="246698"/>
              <a:ext cx="159486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品牌合作复盘</a:t>
              </a:r>
            </a:p>
          </p:txBody>
        </p:sp>
      </p:grpSp>
      <p:grpSp>
        <p:nvGrpSpPr>
          <p:cNvPr id="24" name="review-kol"/>
          <p:cNvGrpSpPr/>
          <p:nvPr/>
        </p:nvGrpSpPr>
        <p:grpSpPr>
          <a:xfrm>
            <a:off x="228600" y="857250"/>
            <a:ext cx="3810000" cy="5638800"/>
            <a:chOff x="228600" y="857250"/>
            <a:chExt cx="3810000" cy="5638800"/>
          </a:xfrm>
        </p:grpSpPr>
        <p:sp>
          <p:nvSpPr>
            <p:cNvPr id="5" name="Rectangle 5"/>
            <p:cNvSpPr/>
            <p:nvPr/>
          </p:nvSpPr>
          <p:spPr>
            <a:xfrm>
              <a:off x="228600" y="857250"/>
              <a:ext cx="3810000" cy="5638800"/>
            </a:xfrm>
            <a:prstGeom prst="roundRect">
              <a:avLst>
                <a:gd name="adj" fmla="val 1500"/>
              </a:avLst>
            </a:prstGeom>
            <a:solidFill>
              <a:srgbClr val="FFFFFF"/>
            </a:solidFill>
            <a:ln w="9525">
              <a:solidFill>
                <a:srgbClr val="E4E7F5"/>
              </a:solidFill>
            </a:ln>
          </p:spPr>
        </p:sp>
        <p:sp>
          <p:nvSpPr>
            <p:cNvPr id="6" name="Rectangle 6"/>
            <p:cNvSpPr/>
            <p:nvPr/>
          </p:nvSpPr>
          <p:spPr>
            <a:xfrm>
              <a:off x="228600" y="1009650"/>
              <a:ext cx="57150" cy="285750"/>
            </a:xfrm>
            <a:prstGeom prst="rect">
              <a:avLst/>
            </a:prstGeom>
            <a:solidFill>
              <a:srgbClr val="C1553F"/>
            </a:solidFill>
            <a:ln>
              <a:noFill/>
            </a:ln>
          </p:spPr>
        </p:sp>
        <p:sp>
          <p:nvSpPr>
            <p:cNvPr id="7" name="Rectangle 7"/>
            <p:cNvSpPr/>
            <p:nvPr/>
          </p:nvSpPr>
          <p:spPr>
            <a:xfrm>
              <a:off x="285750" y="990600"/>
              <a:ext cx="3695700" cy="323850"/>
            </a:xfrm>
            <a:prstGeom prst="rect">
              <a:avLst/>
            </a:prstGeom>
            <a:solidFill>
              <a:srgbClr val="EEF0FB"/>
            </a:solidFill>
            <a:ln>
              <a:noFill/>
            </a:ln>
          </p:spPr>
        </p:sp>
        <p:sp>
          <p:nvSpPr>
            <p:cNvPr id="8" name="TextBox 8"/>
            <p:cNvSpPr txBox="1"/>
            <p:nvPr/>
          </p:nvSpPr>
          <p:spPr>
            <a:xfrm>
              <a:off x="1486680" y="1088231"/>
              <a:ext cx="1293840"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品牌 x KOL x 综艺</a:t>
              </a:r>
            </a:p>
          </p:txBody>
        </p:sp>
        <p:sp>
          <p:nvSpPr>
            <p:cNvPr id="9" name="TextBox 9"/>
            <p:cNvSpPr txBox="1"/>
            <p:nvPr/>
          </p:nvSpPr>
          <p:spPr>
            <a:xfrm>
              <a:off x="414338" y="1522095"/>
              <a:ext cx="2410396" cy="538162"/>
            </a:xfrm>
            <a:prstGeom prst="rect">
              <a:avLst/>
            </a:prstGeom>
            <a:noFill/>
            <a:ln>
              <a:noFill/>
            </a:ln>
          </p:spPr>
          <p:txBody>
            <a:bodyPr wrap="none" lIns="0" tIns="0" rIns="0" bIns="0" anchor="t" anchorCtr="0">
              <a:spAutoFit/>
            </a:bodyPr>
            <a:lstStyle/>
            <a:p>
              <a:pPr algn="l">
                <a:lnSpc>
                  <a:spcPts val="1425"/>
                </a:lnSpc>
              </a:pPr>
              <a:r>
                <a:rPr lang="zh-CN" sz="900" dirty="0">
                  <a:solidFill>
                    <a:srgbClr val="705F5B"/>
                  </a:solidFill>
                  <a:latin typeface="+mn-lt"/>
                  <a:ea typeface="+mn-ea"/>
                  <a:cs typeface="+mn-cs"/>
                </a:rPr>
                <a:t>品牌</a:t>
              </a:r>
              <a:r>
                <a:rPr lang="zh-CN" sz="900" b="1" dirty="0">
                  <a:solidFill>
                    <a:srgbClr val="E5624C"/>
                  </a:solidFill>
                  <a:latin typeface="+mn-lt"/>
                  <a:ea typeface="+mn-ea"/>
                  <a:cs typeface="+mn-cs"/>
                </a:rPr>
                <a:t>**</a:t>
              </a:r>
              <a:r>
                <a:rPr lang="zh-CN" sz="900" dirty="0">
                  <a:solidFill>
                    <a:srgbClr val="705F5B"/>
                  </a:solidFill>
                  <a:latin typeface="+mn-lt"/>
                  <a:ea typeface="+mn-ea"/>
                  <a:cs typeface="+mn-cs"/>
                </a:rPr>
                <a:t>与KOL及综艺类节目制作方合作，共同创</a:t>
              </a:r>
              <a:br/>
              <a:r>
                <a:rPr lang="zh-CN" sz="900" dirty="0">
                  <a:solidFill>
                    <a:srgbClr val="705F5B"/>
                  </a:solidFill>
                  <a:latin typeface="+mn-lt"/>
                  <a:ea typeface="+mn-ea"/>
                  <a:cs typeface="+mn-cs"/>
                </a:rPr>
                <a:t>作与品牌相关的定制化节目，通过KOL自然</a:t>
              </a:r>
              <a:br/>
              <a:r>
                <a:rPr lang="zh-CN" sz="900" dirty="0">
                  <a:solidFill>
                    <a:srgbClr val="705F5B"/>
                  </a:solidFill>
                  <a:latin typeface="+mn-lt"/>
                  <a:ea typeface="+mn-ea"/>
                  <a:cs typeface="+mn-cs"/>
                </a:rPr>
                <a:t>的推荐及展示来推广产品和品牌</a:t>
              </a:r>
            </a:p>
          </p:txBody>
        </p:sp>
        <p:sp>
          <p:nvSpPr>
            <p:cNvPr id="10" name="Rectangle 10"/>
            <p:cNvSpPr/>
            <p:nvPr/>
          </p:nvSpPr>
          <p:spPr>
            <a:xfrm>
              <a:off x="342900" y="2362200"/>
              <a:ext cx="3581400" cy="1905000"/>
            </a:xfrm>
            <a:prstGeom prst="roundRect">
              <a:avLst>
                <a:gd name="adj" fmla="val 3000"/>
              </a:avLst>
            </a:prstGeom>
            <a:solidFill>
              <a:srgbClr val="F7F8FD"/>
            </a:solidFill>
            <a:ln w="9525">
              <a:solidFill>
                <a:srgbClr val="D5D9F0"/>
              </a:solidFill>
            </a:ln>
          </p:spPr>
        </p:sp>
        <p:sp>
          <p:nvSpPr>
            <p:cNvPr id="11" name="Rectangle 11"/>
            <p:cNvSpPr/>
            <p:nvPr/>
          </p:nvSpPr>
          <p:spPr>
            <a:xfrm>
              <a:off x="495300" y="2495550"/>
              <a:ext cx="1428750" cy="266700"/>
            </a:xfrm>
            <a:prstGeom prst="roundRect">
              <a:avLst>
                <a:gd name="adj" fmla="val 50000"/>
              </a:avLst>
            </a:prstGeom>
            <a:solidFill>
              <a:srgbClr val="C1553F"/>
            </a:solidFill>
            <a:ln>
              <a:noFill/>
            </a:ln>
          </p:spPr>
        </p:sp>
        <p:sp>
          <p:nvSpPr>
            <p:cNvPr id="12" name="TextBox 12"/>
            <p:cNvSpPr txBox="1"/>
            <p:nvPr/>
          </p:nvSpPr>
          <p:spPr>
            <a:xfrm>
              <a:off x="754942" y="2579370"/>
              <a:ext cx="909466"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所有**的OFFER</a:t>
              </a:r>
            </a:p>
          </p:txBody>
        </p:sp>
        <p:sp>
          <p:nvSpPr>
            <p:cNvPr id="13" name="TextBox 13"/>
            <p:cNvSpPr txBox="1"/>
            <p:nvPr/>
          </p:nvSpPr>
          <p:spPr>
            <a:xfrm>
              <a:off x="490538" y="2924889"/>
              <a:ext cx="1925828" cy="640556"/>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通过参加</a:t>
              </a:r>
              <a:r>
                <a:rPr lang="zh-CN" sz="790" dirty="0">
                  <a:solidFill>
                    <a:srgbClr val="C1553F"/>
                  </a:solidFill>
                  <a:latin typeface="+mn-lt"/>
                  <a:ea typeface="+mn-ea"/>
                  <a:cs typeface="+mn-cs"/>
                </a:rPr>
                <a:t>**的个人账号为主</a:t>
              </a:r>
              <a:r>
                <a:rPr lang="zh-CN" sz="790" dirty="0">
                  <a:solidFill>
                    <a:srgbClr val="705F5B"/>
                  </a:solidFill>
                  <a:latin typeface="+mn-lt"/>
                  <a:ea typeface="+mn-ea"/>
                  <a:cs typeface="+mn-cs"/>
                </a:rPr>
                <a:t>，的系列综艺节</a:t>
              </a:r>
              <a:br/>
              <a:r>
                <a:rPr lang="zh-CN" sz="790" dirty="0">
                  <a:solidFill>
                    <a:srgbClr val="705F5B"/>
                  </a:solidFill>
                  <a:latin typeface="+mn-lt"/>
                  <a:ea typeface="+mn-ea"/>
                  <a:cs typeface="+mn-cs"/>
                </a:rPr>
                <a:t>目，依靠头部KOL的强力背书，传递品牌理</a:t>
              </a:r>
              <a:br/>
              <a:r>
                <a:rPr lang="zh-CN" sz="790" dirty="0">
                  <a:solidFill>
                    <a:srgbClr val="705F5B"/>
                  </a:solidFill>
                  <a:latin typeface="+mn-lt"/>
                  <a:ea typeface="+mn-ea"/>
                  <a:cs typeface="+mn-cs"/>
                </a:rPr>
                <a:t>念、展示品牌能力、产品成分科普等方式强</a:t>
              </a:r>
              <a:br/>
              <a:r>
                <a:rPr lang="zh-CN" sz="790" dirty="0">
                  <a:solidFill>
                    <a:srgbClr val="705F5B"/>
                  </a:solidFill>
                  <a:latin typeface="+mn-lt"/>
                  <a:ea typeface="+mn-ea"/>
                  <a:cs typeface="+mn-cs"/>
                </a:rPr>
                <a:t>势出圈</a:t>
              </a:r>
            </a:p>
          </p:txBody>
        </p:sp>
        <p:sp>
          <p:nvSpPr>
            <p:cNvPr id="14" name="Rectangle 14"/>
            <p:cNvSpPr/>
            <p:nvPr/>
          </p:nvSpPr>
          <p:spPr>
            <a:xfrm>
              <a:off x="2781300" y="3048000"/>
              <a:ext cx="990600" cy="1028700"/>
            </a:xfrm>
            <a:prstGeom prst="roundRect">
              <a:avLst>
                <a:gd name="adj" fmla="val 3846"/>
              </a:avLst>
            </a:prstGeom>
            <a:solidFill>
              <a:srgbClr val="EEF0FB"/>
            </a:solidFill>
            <a:ln w="9525">
              <a:solidFill>
                <a:srgbClr val="C9CFEA"/>
              </a:solidFill>
            </a:ln>
          </p:spPr>
        </p:sp>
        <p:sp>
          <p:nvSpPr>
            <p:cNvPr id="15" name="Rectangle 15"/>
            <p:cNvSpPr/>
            <p:nvPr/>
          </p:nvSpPr>
          <p:spPr>
            <a:xfrm>
              <a:off x="2876550" y="3143250"/>
              <a:ext cx="419100" cy="66675"/>
            </a:xfrm>
            <a:prstGeom prst="roundRect">
              <a:avLst>
                <a:gd name="adj" fmla="val 28571"/>
              </a:avLst>
            </a:prstGeom>
            <a:solidFill>
              <a:srgbClr val="C9CFEA"/>
            </a:solidFill>
            <a:ln>
              <a:noFill/>
            </a:ln>
          </p:spPr>
        </p:sp>
        <p:sp>
          <p:nvSpPr>
            <p:cNvPr id="16" name="Rectangle 16"/>
            <p:cNvSpPr/>
            <p:nvPr/>
          </p:nvSpPr>
          <p:spPr>
            <a:xfrm>
              <a:off x="2876550" y="3276600"/>
              <a:ext cx="800100" cy="666750"/>
            </a:xfrm>
            <a:prstGeom prst="roundRect">
              <a:avLst>
                <a:gd name="adj" fmla="val 2857"/>
              </a:avLst>
            </a:prstGeom>
            <a:solidFill>
              <a:srgbClr val="DDE2F5"/>
            </a:solidFill>
            <a:ln>
              <a:noFill/>
            </a:ln>
          </p:spPr>
        </p:sp>
        <p:sp>
          <p:nvSpPr>
            <p:cNvPr id="17" name="Rectangle 17"/>
            <p:cNvSpPr/>
            <p:nvPr/>
          </p:nvSpPr>
          <p:spPr>
            <a:xfrm>
              <a:off x="342900" y="4400550"/>
              <a:ext cx="3581400" cy="1905000"/>
            </a:xfrm>
            <a:prstGeom prst="roundRect">
              <a:avLst>
                <a:gd name="adj" fmla="val 3000"/>
              </a:avLst>
            </a:prstGeom>
            <a:solidFill>
              <a:srgbClr val="F7F8FD"/>
            </a:solidFill>
            <a:ln w="9525">
              <a:solidFill>
                <a:srgbClr val="D5D9F0"/>
              </a:solidFill>
            </a:ln>
          </p:spPr>
        </p:sp>
        <p:sp>
          <p:nvSpPr>
            <p:cNvPr id="18" name="Rectangle 18"/>
            <p:cNvSpPr/>
            <p:nvPr/>
          </p:nvSpPr>
          <p:spPr>
            <a:xfrm>
              <a:off x="495300" y="4533900"/>
              <a:ext cx="1524000" cy="266700"/>
            </a:xfrm>
            <a:prstGeom prst="roundRect">
              <a:avLst>
                <a:gd name="adj" fmla="val 50000"/>
              </a:avLst>
            </a:prstGeom>
            <a:solidFill>
              <a:srgbClr val="C1553F"/>
            </a:solidFill>
            <a:ln>
              <a:noFill/>
            </a:ln>
          </p:spPr>
        </p:sp>
        <p:sp>
          <p:nvSpPr>
            <p:cNvPr id="19" name="TextBox 19"/>
            <p:cNvSpPr txBox="1"/>
            <p:nvPr/>
          </p:nvSpPr>
          <p:spPr>
            <a:xfrm>
              <a:off x="819095" y="4617720"/>
              <a:ext cx="87641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**的改编编辑部</a:t>
              </a:r>
            </a:p>
          </p:txBody>
        </p:sp>
        <p:sp>
          <p:nvSpPr>
            <p:cNvPr id="20" name="TextBox 20"/>
            <p:cNvSpPr txBox="1"/>
            <p:nvPr/>
          </p:nvSpPr>
          <p:spPr>
            <a:xfrm>
              <a:off x="490538" y="4963239"/>
              <a:ext cx="1925828"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通过参加以</a:t>
              </a:r>
              <a:r>
                <a:rPr lang="zh-CN" sz="790" dirty="0">
                  <a:solidFill>
                    <a:srgbClr val="C1553F"/>
                  </a:solidFill>
                  <a:latin typeface="+mn-lt"/>
                  <a:ea typeface="+mn-ea"/>
                  <a:cs typeface="+mn-cs"/>
                </a:rPr>
                <a:t>**为中心人物打造</a:t>
              </a:r>
              <a:r>
                <a:rPr lang="zh-CN" sz="790" dirty="0">
                  <a:solidFill>
                    <a:srgbClr val="705F5B"/>
                  </a:solidFill>
                  <a:latin typeface="+mn-lt"/>
                  <a:ea typeface="+mn-ea"/>
                  <a:cs typeface="+mn-cs"/>
                </a:rPr>
                <a:t>的平台类综艺</a:t>
              </a:r>
              <a:br/>
              <a:r>
                <a:rPr lang="zh-CN" sz="790" dirty="0">
                  <a:solidFill>
                    <a:srgbClr val="705F5B"/>
                  </a:solidFill>
                  <a:latin typeface="+mn-lt"/>
                  <a:ea typeface="+mn-ea"/>
                  <a:cs typeface="+mn-cs"/>
                </a:rPr>
                <a:t>节目，以</a:t>
              </a:r>
              <a:r>
                <a:rPr lang="zh-CN" sz="790" dirty="0">
                  <a:solidFill>
                    <a:srgbClr val="C1553F"/>
                  </a:solidFill>
                  <a:latin typeface="+mn-lt"/>
                  <a:ea typeface="+mn-ea"/>
                  <a:cs typeface="+mn-cs"/>
                </a:rPr>
                <a:t>软性营销植入</a:t>
              </a:r>
              <a:r>
                <a:rPr lang="zh-CN" sz="790" dirty="0">
                  <a:solidFill>
                    <a:srgbClr val="705F5B"/>
                  </a:solidFill>
                  <a:latin typeface="+mn-lt"/>
                  <a:ea typeface="+mn-ea"/>
                  <a:cs typeface="+mn-cs"/>
                </a:rPr>
                <a:t>邀请晒品牌价值完成</a:t>
              </a:r>
              <a:br/>
              <a:r>
                <a:rPr lang="zh-CN" sz="790" dirty="0">
                  <a:solidFill>
                    <a:srgbClr val="705F5B"/>
                  </a:solidFill>
                  <a:latin typeface="+mn-lt"/>
                  <a:ea typeface="+mn-ea"/>
                  <a:cs typeface="+mn-cs"/>
                </a:rPr>
                <a:t>品牌的深度种草</a:t>
              </a:r>
            </a:p>
          </p:txBody>
        </p:sp>
        <p:sp>
          <p:nvSpPr>
            <p:cNvPr id="21" name="Rectangle 21"/>
            <p:cNvSpPr/>
            <p:nvPr/>
          </p:nvSpPr>
          <p:spPr>
            <a:xfrm>
              <a:off x="2781300" y="5086350"/>
              <a:ext cx="990600" cy="1028700"/>
            </a:xfrm>
            <a:prstGeom prst="roundRect">
              <a:avLst>
                <a:gd name="adj" fmla="val 3846"/>
              </a:avLst>
            </a:prstGeom>
            <a:solidFill>
              <a:srgbClr val="EEF0FB"/>
            </a:solidFill>
            <a:ln w="9525">
              <a:solidFill>
                <a:srgbClr val="C9CFEA"/>
              </a:solidFill>
            </a:ln>
          </p:spPr>
        </p:sp>
        <p:sp>
          <p:nvSpPr>
            <p:cNvPr id="22" name="Rectangle 22"/>
            <p:cNvSpPr/>
            <p:nvPr/>
          </p:nvSpPr>
          <p:spPr>
            <a:xfrm>
              <a:off x="2876550" y="5181600"/>
              <a:ext cx="419100" cy="66675"/>
            </a:xfrm>
            <a:prstGeom prst="roundRect">
              <a:avLst>
                <a:gd name="adj" fmla="val 28571"/>
              </a:avLst>
            </a:prstGeom>
            <a:solidFill>
              <a:srgbClr val="C9CFEA"/>
            </a:solidFill>
            <a:ln>
              <a:noFill/>
            </a:ln>
          </p:spPr>
        </p:sp>
        <p:sp>
          <p:nvSpPr>
            <p:cNvPr id="23" name="Rectangle 23"/>
            <p:cNvSpPr/>
            <p:nvPr/>
          </p:nvSpPr>
          <p:spPr>
            <a:xfrm>
              <a:off x="2876550" y="5314950"/>
              <a:ext cx="800100" cy="666750"/>
            </a:xfrm>
            <a:prstGeom prst="roundRect">
              <a:avLst>
                <a:gd name="adj" fmla="val 2857"/>
              </a:avLst>
            </a:prstGeom>
            <a:solidFill>
              <a:srgbClr val="DDE2F5"/>
            </a:solidFill>
            <a:ln>
              <a:noFill/>
            </a:ln>
          </p:spPr>
        </p:sp>
      </p:grpSp>
      <p:grpSp>
        <p:nvGrpSpPr>
          <p:cNvPr id="49" name="review-placement"/>
          <p:cNvGrpSpPr/>
          <p:nvPr/>
        </p:nvGrpSpPr>
        <p:grpSpPr>
          <a:xfrm>
            <a:off x="4114800" y="857250"/>
            <a:ext cx="3810000" cy="5638800"/>
            <a:chOff x="4114800" y="857250"/>
            <a:chExt cx="3810000" cy="5638800"/>
          </a:xfrm>
        </p:grpSpPr>
        <p:sp>
          <p:nvSpPr>
            <p:cNvPr id="25" name="Rectangle 25"/>
            <p:cNvSpPr/>
            <p:nvPr/>
          </p:nvSpPr>
          <p:spPr>
            <a:xfrm>
              <a:off x="4114800" y="857250"/>
              <a:ext cx="3810000" cy="5638800"/>
            </a:xfrm>
            <a:prstGeom prst="roundRect">
              <a:avLst>
                <a:gd name="adj" fmla="val 1500"/>
              </a:avLst>
            </a:prstGeom>
            <a:solidFill>
              <a:srgbClr val="FFFFFF"/>
            </a:solidFill>
            <a:ln w="9525">
              <a:solidFill>
                <a:srgbClr val="E4E7F5"/>
              </a:solidFill>
            </a:ln>
          </p:spPr>
        </p:sp>
        <p:sp>
          <p:nvSpPr>
            <p:cNvPr id="26" name="Rectangle 26"/>
            <p:cNvSpPr/>
            <p:nvPr/>
          </p:nvSpPr>
          <p:spPr>
            <a:xfrm>
              <a:off x="4114800" y="1009650"/>
              <a:ext cx="57150" cy="285750"/>
            </a:xfrm>
            <a:prstGeom prst="rect">
              <a:avLst/>
            </a:prstGeom>
            <a:solidFill>
              <a:srgbClr val="E5624C"/>
            </a:solidFill>
            <a:ln>
              <a:noFill/>
            </a:ln>
          </p:spPr>
        </p:sp>
        <p:sp>
          <p:nvSpPr>
            <p:cNvPr id="27" name="Rectangle 27"/>
            <p:cNvSpPr/>
            <p:nvPr/>
          </p:nvSpPr>
          <p:spPr>
            <a:xfrm>
              <a:off x="4171950" y="990600"/>
              <a:ext cx="3695700" cy="323850"/>
            </a:xfrm>
            <a:prstGeom prst="rect">
              <a:avLst/>
            </a:prstGeom>
            <a:solidFill>
              <a:srgbClr val="FBE9E4"/>
            </a:solidFill>
            <a:ln>
              <a:noFill/>
            </a:ln>
          </p:spPr>
        </p:sp>
        <p:sp>
          <p:nvSpPr>
            <p:cNvPr id="28" name="TextBox 28"/>
            <p:cNvSpPr txBox="1"/>
            <p:nvPr/>
          </p:nvSpPr>
          <p:spPr>
            <a:xfrm>
              <a:off x="5561762" y="1088231"/>
              <a:ext cx="916076" cy="220028"/>
            </a:xfrm>
            <a:prstGeom prst="rect">
              <a:avLst/>
            </a:prstGeom>
            <a:noFill/>
            <a:ln>
              <a:noFill/>
            </a:ln>
          </p:spPr>
          <p:txBody>
            <a:bodyPr wrap="none" lIns="0" tIns="0" rIns="0" bIns="0" anchor="t" anchorCtr="0">
              <a:spAutoFit/>
            </a:bodyPr>
            <a:lstStyle/>
            <a:p>
              <a:pPr algn="ctr"/>
              <a:r>
                <a:rPr lang="zh-CN" sz="1120" b="1" dirty="0">
                  <a:solidFill>
                    <a:srgbClr val="E5624C"/>
                  </a:solidFill>
                  <a:latin typeface="+mn-lt"/>
                  <a:ea typeface="+mn-ea"/>
                  <a:cs typeface="+mn-cs"/>
                </a:rPr>
                <a:t>品牌植入形式</a:t>
              </a:r>
            </a:p>
          </p:txBody>
        </p:sp>
        <p:sp>
          <p:nvSpPr>
            <p:cNvPr id="29" name="Rectangle 29"/>
            <p:cNvSpPr/>
            <p:nvPr/>
          </p:nvSpPr>
          <p:spPr>
            <a:xfrm>
              <a:off x="4305300" y="1581150"/>
              <a:ext cx="914400" cy="1009650"/>
            </a:xfrm>
            <a:prstGeom prst="roundRect">
              <a:avLst>
                <a:gd name="adj" fmla="val 4167"/>
              </a:avLst>
            </a:prstGeom>
            <a:solidFill>
              <a:srgbClr val="EEF0FB"/>
            </a:solidFill>
            <a:ln w="9525">
              <a:solidFill>
                <a:srgbClr val="C9CFEA"/>
              </a:solidFill>
            </a:ln>
          </p:spPr>
        </p:sp>
        <p:sp>
          <p:nvSpPr>
            <p:cNvPr id="30" name="Rectangle 30"/>
            <p:cNvSpPr/>
            <p:nvPr/>
          </p:nvSpPr>
          <p:spPr>
            <a:xfrm>
              <a:off x="4400550" y="1676400"/>
              <a:ext cx="438150" cy="66675"/>
            </a:xfrm>
            <a:prstGeom prst="roundRect">
              <a:avLst>
                <a:gd name="adj" fmla="val 28571"/>
              </a:avLst>
            </a:prstGeom>
            <a:solidFill>
              <a:srgbClr val="C9CFEA"/>
            </a:solidFill>
            <a:ln>
              <a:noFill/>
            </a:ln>
          </p:spPr>
        </p:sp>
        <p:sp>
          <p:nvSpPr>
            <p:cNvPr id="31" name="Rectangle 31"/>
            <p:cNvSpPr/>
            <p:nvPr/>
          </p:nvSpPr>
          <p:spPr>
            <a:xfrm>
              <a:off x="4400550" y="1809750"/>
              <a:ext cx="723900" cy="647700"/>
            </a:xfrm>
            <a:prstGeom prst="roundRect">
              <a:avLst>
                <a:gd name="adj" fmla="val 2941"/>
              </a:avLst>
            </a:prstGeom>
            <a:solidFill>
              <a:srgbClr val="DDE2F5"/>
            </a:solidFill>
            <a:ln>
              <a:noFill/>
            </a:ln>
          </p:spPr>
        </p:sp>
        <p:sp>
          <p:nvSpPr>
            <p:cNvPr id="32" name="TextBox 32"/>
            <p:cNvSpPr txBox="1"/>
            <p:nvPr/>
          </p:nvSpPr>
          <p:spPr>
            <a:xfrm>
              <a:off x="5386197" y="1723549"/>
              <a:ext cx="537616" cy="190690"/>
            </a:xfrm>
            <a:prstGeom prst="rect">
              <a:avLst/>
            </a:prstGeom>
            <a:noFill/>
            <a:ln>
              <a:noFill/>
            </a:ln>
          </p:spPr>
          <p:txBody>
            <a:bodyPr wrap="none" lIns="0" tIns="0" rIns="0" bIns="0" anchor="t" anchorCtr="0">
              <a:spAutoFit/>
            </a:bodyPr>
            <a:lstStyle/>
            <a:p>
              <a:pPr algn="l"/>
              <a:r>
                <a:rPr lang="zh-CN" sz="980" b="1" dirty="0">
                  <a:solidFill>
                    <a:srgbClr val="E5624C"/>
                  </a:solidFill>
                  <a:latin typeface="+mn-lt"/>
                  <a:ea typeface="+mn-ea"/>
                  <a:cs typeface="+mn-cs"/>
                </a:rPr>
                <a:t>话题植入</a:t>
              </a:r>
            </a:p>
          </p:txBody>
        </p:sp>
        <p:sp>
          <p:nvSpPr>
            <p:cNvPr id="33" name="TextBox 33"/>
            <p:cNvSpPr txBox="1"/>
            <p:nvPr/>
          </p:nvSpPr>
          <p:spPr>
            <a:xfrm>
              <a:off x="5386388" y="1972389"/>
              <a:ext cx="131381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展示品牌照片，讲述故事，引</a:t>
              </a:r>
              <a:br/>
              <a:r>
                <a:rPr lang="zh-CN" sz="790" dirty="0">
                  <a:solidFill>
                    <a:srgbClr val="705F5B"/>
                  </a:solidFill>
                  <a:latin typeface="+mn-lt"/>
                  <a:ea typeface="+mn-ea"/>
                  <a:cs typeface="+mn-cs"/>
                </a:rPr>
                <a:t>出对美的坚持，升华品牌理念</a:t>
              </a:r>
            </a:p>
          </p:txBody>
        </p:sp>
        <p:sp>
          <p:nvSpPr>
            <p:cNvPr id="34" name="Rectangle 34"/>
            <p:cNvSpPr/>
            <p:nvPr/>
          </p:nvSpPr>
          <p:spPr>
            <a:xfrm>
              <a:off x="4305300" y="2895600"/>
              <a:ext cx="914400" cy="1009650"/>
            </a:xfrm>
            <a:prstGeom prst="roundRect">
              <a:avLst>
                <a:gd name="adj" fmla="val 4167"/>
              </a:avLst>
            </a:prstGeom>
            <a:solidFill>
              <a:srgbClr val="EEF0FB"/>
            </a:solidFill>
            <a:ln w="9525">
              <a:solidFill>
                <a:srgbClr val="C9CFEA"/>
              </a:solidFill>
            </a:ln>
          </p:spPr>
        </p:sp>
        <p:sp>
          <p:nvSpPr>
            <p:cNvPr id="35" name="Rectangle 35"/>
            <p:cNvSpPr/>
            <p:nvPr/>
          </p:nvSpPr>
          <p:spPr>
            <a:xfrm>
              <a:off x="4400550" y="2990850"/>
              <a:ext cx="438150" cy="66675"/>
            </a:xfrm>
            <a:prstGeom prst="roundRect">
              <a:avLst>
                <a:gd name="adj" fmla="val 28571"/>
              </a:avLst>
            </a:prstGeom>
            <a:solidFill>
              <a:srgbClr val="C9CFEA"/>
            </a:solidFill>
            <a:ln>
              <a:noFill/>
            </a:ln>
          </p:spPr>
        </p:sp>
        <p:sp>
          <p:nvSpPr>
            <p:cNvPr id="36" name="Rectangle 36"/>
            <p:cNvSpPr/>
            <p:nvPr/>
          </p:nvSpPr>
          <p:spPr>
            <a:xfrm>
              <a:off x="4400550" y="3124200"/>
              <a:ext cx="723900" cy="647700"/>
            </a:xfrm>
            <a:prstGeom prst="roundRect">
              <a:avLst>
                <a:gd name="adj" fmla="val 2941"/>
              </a:avLst>
            </a:prstGeom>
            <a:solidFill>
              <a:srgbClr val="DDE2F5"/>
            </a:solidFill>
            <a:ln>
              <a:noFill/>
            </a:ln>
          </p:spPr>
        </p:sp>
        <p:sp>
          <p:nvSpPr>
            <p:cNvPr id="37" name="TextBox 37"/>
            <p:cNvSpPr txBox="1"/>
            <p:nvPr/>
          </p:nvSpPr>
          <p:spPr>
            <a:xfrm>
              <a:off x="5386197" y="3037999"/>
              <a:ext cx="537616" cy="190690"/>
            </a:xfrm>
            <a:prstGeom prst="rect">
              <a:avLst/>
            </a:prstGeom>
            <a:noFill/>
            <a:ln>
              <a:noFill/>
            </a:ln>
          </p:spPr>
          <p:txBody>
            <a:bodyPr wrap="none" lIns="0" tIns="0" rIns="0" bIns="0" anchor="t" anchorCtr="0">
              <a:spAutoFit/>
            </a:bodyPr>
            <a:lstStyle/>
            <a:p>
              <a:pPr algn="l"/>
              <a:r>
                <a:rPr lang="zh-CN" sz="980" b="1" dirty="0">
                  <a:solidFill>
                    <a:srgbClr val="E5624C"/>
                  </a:solidFill>
                  <a:latin typeface="+mn-lt"/>
                  <a:ea typeface="+mn-ea"/>
                  <a:cs typeface="+mn-cs"/>
                </a:rPr>
                <a:t>情节植入</a:t>
              </a:r>
            </a:p>
          </p:txBody>
        </p:sp>
        <p:sp>
          <p:nvSpPr>
            <p:cNvPr id="38" name="TextBox 38"/>
            <p:cNvSpPr txBox="1"/>
            <p:nvPr/>
          </p:nvSpPr>
          <p:spPr>
            <a:xfrm>
              <a:off x="5386388" y="3286839"/>
              <a:ext cx="131381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通过嘉宾对品牌故事的理解输</a:t>
              </a:r>
              <a:br/>
              <a:r>
                <a:rPr lang="zh-CN" sz="790" dirty="0">
                  <a:solidFill>
                    <a:srgbClr val="705F5B"/>
                  </a:solidFill>
                  <a:latin typeface="+mn-lt"/>
                  <a:ea typeface="+mn-ea"/>
                  <a:cs typeface="+mn-cs"/>
                </a:rPr>
                <a:t>出个人价值观</a:t>
              </a:r>
            </a:p>
          </p:txBody>
        </p:sp>
        <p:sp>
          <p:nvSpPr>
            <p:cNvPr id="39" name="Rectangle 39"/>
            <p:cNvSpPr/>
            <p:nvPr/>
          </p:nvSpPr>
          <p:spPr>
            <a:xfrm>
              <a:off x="4305300" y="4210050"/>
              <a:ext cx="914400" cy="1009650"/>
            </a:xfrm>
            <a:prstGeom prst="roundRect">
              <a:avLst>
                <a:gd name="adj" fmla="val 4167"/>
              </a:avLst>
            </a:prstGeom>
            <a:solidFill>
              <a:srgbClr val="EEF0FB"/>
            </a:solidFill>
            <a:ln w="9525">
              <a:solidFill>
                <a:srgbClr val="C9CFEA"/>
              </a:solidFill>
            </a:ln>
          </p:spPr>
        </p:sp>
        <p:sp>
          <p:nvSpPr>
            <p:cNvPr id="40" name="Rectangle 40"/>
            <p:cNvSpPr/>
            <p:nvPr/>
          </p:nvSpPr>
          <p:spPr>
            <a:xfrm>
              <a:off x="4400550" y="4305300"/>
              <a:ext cx="438150" cy="66675"/>
            </a:xfrm>
            <a:prstGeom prst="roundRect">
              <a:avLst>
                <a:gd name="adj" fmla="val 28571"/>
              </a:avLst>
            </a:prstGeom>
            <a:solidFill>
              <a:srgbClr val="C9CFEA"/>
            </a:solidFill>
            <a:ln>
              <a:noFill/>
            </a:ln>
          </p:spPr>
        </p:sp>
        <p:sp>
          <p:nvSpPr>
            <p:cNvPr id="41" name="Rectangle 41"/>
            <p:cNvSpPr/>
            <p:nvPr/>
          </p:nvSpPr>
          <p:spPr>
            <a:xfrm>
              <a:off x="4400550" y="4438650"/>
              <a:ext cx="723900" cy="647700"/>
            </a:xfrm>
            <a:prstGeom prst="roundRect">
              <a:avLst>
                <a:gd name="adj" fmla="val 2941"/>
              </a:avLst>
            </a:prstGeom>
            <a:solidFill>
              <a:srgbClr val="DDE2F5"/>
            </a:solidFill>
            <a:ln>
              <a:noFill/>
            </a:ln>
          </p:spPr>
        </p:sp>
        <p:sp>
          <p:nvSpPr>
            <p:cNvPr id="42" name="TextBox 42"/>
            <p:cNvSpPr txBox="1"/>
            <p:nvPr/>
          </p:nvSpPr>
          <p:spPr>
            <a:xfrm>
              <a:off x="5386197" y="4352449"/>
              <a:ext cx="537616" cy="190690"/>
            </a:xfrm>
            <a:prstGeom prst="rect">
              <a:avLst/>
            </a:prstGeom>
            <a:noFill/>
            <a:ln>
              <a:noFill/>
            </a:ln>
          </p:spPr>
          <p:txBody>
            <a:bodyPr wrap="none" lIns="0" tIns="0" rIns="0" bIns="0" anchor="t" anchorCtr="0">
              <a:spAutoFit/>
            </a:bodyPr>
            <a:lstStyle/>
            <a:p>
              <a:pPr algn="l"/>
              <a:r>
                <a:rPr lang="zh-CN" sz="980" b="1" dirty="0">
                  <a:solidFill>
                    <a:srgbClr val="E5624C"/>
                  </a:solidFill>
                  <a:latin typeface="+mn-lt"/>
                  <a:ea typeface="+mn-ea"/>
                  <a:cs typeface="+mn-cs"/>
                </a:rPr>
                <a:t>自然露出</a:t>
              </a:r>
            </a:p>
          </p:txBody>
        </p:sp>
        <p:sp>
          <p:nvSpPr>
            <p:cNvPr id="43" name="TextBox 43"/>
            <p:cNvSpPr txBox="1"/>
            <p:nvPr/>
          </p:nvSpPr>
          <p:spPr>
            <a:xfrm>
              <a:off x="5386388" y="4601289"/>
              <a:ext cx="131381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产品自然露出，展现各个产品</a:t>
              </a:r>
              <a:br/>
              <a:r>
                <a:rPr lang="zh-CN" sz="790" dirty="0">
                  <a:solidFill>
                    <a:srgbClr val="705F5B"/>
                  </a:solidFill>
                  <a:latin typeface="+mn-lt"/>
                  <a:ea typeface="+mn-ea"/>
                  <a:cs typeface="+mn-cs"/>
                </a:rPr>
                <a:t>的特性给观众实力种草</a:t>
              </a:r>
            </a:p>
          </p:txBody>
        </p:sp>
        <p:sp>
          <p:nvSpPr>
            <p:cNvPr id="44" name="Rectangle 44"/>
            <p:cNvSpPr/>
            <p:nvPr/>
          </p:nvSpPr>
          <p:spPr>
            <a:xfrm>
              <a:off x="4305300" y="5524500"/>
              <a:ext cx="914400" cy="819150"/>
            </a:xfrm>
            <a:prstGeom prst="roundRect">
              <a:avLst>
                <a:gd name="adj" fmla="val 4651"/>
              </a:avLst>
            </a:prstGeom>
            <a:solidFill>
              <a:srgbClr val="EEF0FB"/>
            </a:solidFill>
            <a:ln w="9525">
              <a:solidFill>
                <a:srgbClr val="C9CFEA"/>
              </a:solidFill>
            </a:ln>
          </p:spPr>
        </p:sp>
        <p:sp>
          <p:nvSpPr>
            <p:cNvPr id="45" name="Rectangle 45"/>
            <p:cNvSpPr/>
            <p:nvPr/>
          </p:nvSpPr>
          <p:spPr>
            <a:xfrm>
              <a:off x="4400550" y="5619750"/>
              <a:ext cx="438150" cy="66675"/>
            </a:xfrm>
            <a:prstGeom prst="roundRect">
              <a:avLst>
                <a:gd name="adj" fmla="val 28571"/>
              </a:avLst>
            </a:prstGeom>
            <a:solidFill>
              <a:srgbClr val="C9CFEA"/>
            </a:solidFill>
            <a:ln>
              <a:noFill/>
            </a:ln>
          </p:spPr>
        </p:sp>
        <p:sp>
          <p:nvSpPr>
            <p:cNvPr id="46" name="Rectangle 46"/>
            <p:cNvSpPr/>
            <p:nvPr/>
          </p:nvSpPr>
          <p:spPr>
            <a:xfrm>
              <a:off x="4400550" y="5753100"/>
              <a:ext cx="723900" cy="476250"/>
            </a:xfrm>
            <a:prstGeom prst="roundRect">
              <a:avLst>
                <a:gd name="adj" fmla="val 4000"/>
              </a:avLst>
            </a:prstGeom>
            <a:solidFill>
              <a:srgbClr val="DDE2F5"/>
            </a:solidFill>
            <a:ln>
              <a:noFill/>
            </a:ln>
          </p:spPr>
        </p:sp>
        <p:sp>
          <p:nvSpPr>
            <p:cNvPr id="47" name="TextBox 47"/>
            <p:cNvSpPr txBox="1"/>
            <p:nvPr/>
          </p:nvSpPr>
          <p:spPr>
            <a:xfrm>
              <a:off x="5386197" y="5666899"/>
              <a:ext cx="537616" cy="190690"/>
            </a:xfrm>
            <a:prstGeom prst="rect">
              <a:avLst/>
            </a:prstGeom>
            <a:noFill/>
            <a:ln>
              <a:noFill/>
            </a:ln>
          </p:spPr>
          <p:txBody>
            <a:bodyPr wrap="none" lIns="0" tIns="0" rIns="0" bIns="0" anchor="t" anchorCtr="0">
              <a:spAutoFit/>
            </a:bodyPr>
            <a:lstStyle/>
            <a:p>
              <a:pPr algn="l"/>
              <a:r>
                <a:rPr lang="zh-CN" sz="980" b="1" dirty="0">
                  <a:solidFill>
                    <a:srgbClr val="E5624C"/>
                  </a:solidFill>
                  <a:latin typeface="+mn-lt"/>
                  <a:ea typeface="+mn-ea"/>
                  <a:cs typeface="+mn-cs"/>
                </a:rPr>
                <a:t>金句时刻</a:t>
              </a:r>
            </a:p>
          </p:txBody>
        </p:sp>
        <p:sp>
          <p:nvSpPr>
            <p:cNvPr id="48" name="TextBox 48"/>
            <p:cNvSpPr txBox="1"/>
            <p:nvPr/>
          </p:nvSpPr>
          <p:spPr>
            <a:xfrm>
              <a:off x="5386388" y="5915739"/>
              <a:ext cx="121348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每一季结束时输出花字上添</a:t>
              </a:r>
              <a:br/>
              <a:r>
                <a:rPr lang="zh-CN" sz="790" dirty="0">
                  <a:solidFill>
                    <a:srgbClr val="705F5B"/>
                  </a:solidFill>
                  <a:latin typeface="+mn-lt"/>
                  <a:ea typeface="+mn-ea"/>
                  <a:cs typeface="+mn-cs"/>
                </a:rPr>
                <a:t>加品牌LOGO</a:t>
              </a:r>
            </a:p>
          </p:txBody>
        </p:sp>
      </p:grpSp>
      <p:grpSp>
        <p:nvGrpSpPr>
          <p:cNvPr id="92" name="review-stats"/>
          <p:cNvGrpSpPr/>
          <p:nvPr/>
        </p:nvGrpSpPr>
        <p:grpSpPr>
          <a:xfrm>
            <a:off x="8001000" y="857250"/>
            <a:ext cx="3962400" cy="5638800"/>
            <a:chOff x="8001000" y="857250"/>
            <a:chExt cx="3962400" cy="5638800"/>
          </a:xfrm>
        </p:grpSpPr>
        <p:sp>
          <p:nvSpPr>
            <p:cNvPr id="50" name="Rectangle 50"/>
            <p:cNvSpPr/>
            <p:nvPr/>
          </p:nvSpPr>
          <p:spPr>
            <a:xfrm>
              <a:off x="8001000" y="857250"/>
              <a:ext cx="3962400" cy="5638800"/>
            </a:xfrm>
            <a:prstGeom prst="roundRect">
              <a:avLst>
                <a:gd name="adj" fmla="val 1442"/>
              </a:avLst>
            </a:prstGeom>
            <a:solidFill>
              <a:srgbClr val="FFFFFF"/>
            </a:solidFill>
            <a:ln w="9525">
              <a:solidFill>
                <a:srgbClr val="E4E7F5"/>
              </a:solidFill>
            </a:ln>
          </p:spPr>
        </p:sp>
        <p:sp>
          <p:nvSpPr>
            <p:cNvPr id="51" name="TextBox 51"/>
            <p:cNvSpPr txBox="1"/>
            <p:nvPr/>
          </p:nvSpPr>
          <p:spPr>
            <a:xfrm>
              <a:off x="8292084" y="1194435"/>
              <a:ext cx="733480" cy="528066"/>
            </a:xfrm>
            <a:prstGeom prst="rect">
              <a:avLst/>
            </a:prstGeom>
            <a:noFill/>
            <a:ln>
              <a:noFill/>
            </a:ln>
          </p:spPr>
          <p:txBody>
            <a:bodyPr wrap="none" lIns="0" tIns="0" rIns="0" bIns="0" anchor="t" anchorCtr="0">
              <a:spAutoFit/>
            </a:bodyPr>
            <a:lstStyle/>
            <a:p>
              <a:pPr algn="l"/>
              <a:r>
                <a:rPr lang="zh-CN" sz="2700" b="1" dirty="0">
                  <a:solidFill>
                    <a:srgbClr val="C1553F"/>
                  </a:solidFill>
                  <a:latin typeface="+mn-lt"/>
                  <a:ea typeface="+mn-ea"/>
                  <a:cs typeface="+mn-cs"/>
                </a:rPr>
                <a:t>67%</a:t>
              </a:r>
            </a:p>
          </p:txBody>
        </p:sp>
        <p:grpSp>
          <p:nvGrpSpPr>
            <p:cNvPr id="54" name="Group 54"/>
            <p:cNvGrpSpPr/>
            <p:nvPr/>
          </p:nvGrpSpPr>
          <p:grpSpPr>
            <a:xfrm>
              <a:off x="9284494" y="1261269"/>
              <a:ext cx="157163" cy="87313"/>
              <a:chOff x="9284494" y="1261269"/>
              <a:chExt cx="157163" cy="87313"/>
            </a:xfrm>
          </p:grpSpPr>
          <p:sp>
            <p:nvSpPr>
              <p:cNvPr id="52" name="Freeform 52"/>
              <p:cNvSpPr/>
              <p:nvPr/>
            </p:nvSpPr>
            <p:spPr>
              <a:xfrm>
                <a:off x="9284494" y="126126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E5624C"/>
                </a:solidFill>
              </a:ln>
            </p:spPr>
          </p:sp>
          <p:sp>
            <p:nvSpPr>
              <p:cNvPr id="53" name="Freeform 53"/>
              <p:cNvSpPr/>
              <p:nvPr/>
            </p:nvSpPr>
            <p:spPr>
              <a:xfrm>
                <a:off x="9380538" y="1261269"/>
                <a:ext cx="61119" cy="61119"/>
              </a:xfrm>
              <a:custGeom>
                <a:avLst/>
                <a:gdLst/>
                <a:ahLst/>
                <a:cxnLst/>
                <a:rect l="l" t="t" r="r" b="b"/>
                <a:pathLst>
                  <a:path w="61119" h="61119">
                    <a:moveTo>
                      <a:pt x="0" y="0"/>
                    </a:moveTo>
                    <a:lnTo>
                      <a:pt x="61119" y="0"/>
                    </a:lnTo>
                    <a:lnTo>
                      <a:pt x="61119" y="61119"/>
                    </a:lnTo>
                  </a:path>
                </a:pathLst>
              </a:custGeom>
              <a:noFill/>
              <a:ln w="17463">
                <a:solidFill>
                  <a:srgbClr val="E5624C"/>
                </a:solidFill>
              </a:ln>
            </p:spPr>
          </p:sp>
        </p:grpSp>
        <p:sp>
          <p:nvSpPr>
            <p:cNvPr id="55" name="TextBox 55"/>
            <p:cNvSpPr txBox="1"/>
            <p:nvPr/>
          </p:nvSpPr>
          <p:spPr>
            <a:xfrm>
              <a:off x="9539288" y="1278493"/>
              <a:ext cx="1051484"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认知提升度喜爱提升</a:t>
              </a:r>
            </a:p>
          </p:txBody>
        </p:sp>
        <p:sp>
          <p:nvSpPr>
            <p:cNvPr id="56" name="Rectangle 56"/>
            <p:cNvSpPr/>
            <p:nvPr/>
          </p:nvSpPr>
          <p:spPr>
            <a:xfrm>
              <a:off x="8305800" y="1638300"/>
              <a:ext cx="3352800" cy="95250"/>
            </a:xfrm>
            <a:prstGeom prst="roundRect">
              <a:avLst>
                <a:gd name="adj" fmla="val 50000"/>
              </a:avLst>
            </a:prstGeom>
            <a:solidFill>
              <a:srgbClr val="E9EBF8"/>
            </a:solidFill>
            <a:ln>
              <a:noFill/>
            </a:ln>
          </p:spPr>
        </p:sp>
        <p:sp>
          <p:nvSpPr>
            <p:cNvPr id="57" name="Rectangle 57"/>
            <p:cNvSpPr/>
            <p:nvPr/>
          </p:nvSpPr>
          <p:spPr>
            <a:xfrm>
              <a:off x="8305800" y="1638300"/>
              <a:ext cx="2247900" cy="95250"/>
            </a:xfrm>
            <a:prstGeom prst="roundRect">
              <a:avLst>
                <a:gd name="adj" fmla="val 50000"/>
              </a:avLst>
            </a:prstGeom>
            <a:solidFill>
              <a:srgbClr val="C1553F"/>
            </a:solidFill>
            <a:ln>
              <a:noFill/>
            </a:ln>
          </p:spPr>
        </p:sp>
        <p:sp>
          <p:nvSpPr>
            <p:cNvPr id="58" name="TextBox 58"/>
            <p:cNvSpPr txBox="1"/>
            <p:nvPr/>
          </p:nvSpPr>
          <p:spPr>
            <a:xfrm>
              <a:off x="8292084" y="1994535"/>
              <a:ext cx="733480" cy="528066"/>
            </a:xfrm>
            <a:prstGeom prst="rect">
              <a:avLst/>
            </a:prstGeom>
            <a:noFill/>
            <a:ln>
              <a:noFill/>
            </a:ln>
          </p:spPr>
          <p:txBody>
            <a:bodyPr wrap="none" lIns="0" tIns="0" rIns="0" bIns="0" anchor="t" anchorCtr="0">
              <a:spAutoFit/>
            </a:bodyPr>
            <a:lstStyle/>
            <a:p>
              <a:pPr algn="l"/>
              <a:r>
                <a:rPr lang="zh-CN" sz="2700" b="1" dirty="0">
                  <a:solidFill>
                    <a:srgbClr val="E5624C"/>
                  </a:solidFill>
                  <a:latin typeface="+mn-lt"/>
                  <a:ea typeface="+mn-ea"/>
                  <a:cs typeface="+mn-cs"/>
                </a:rPr>
                <a:t>51%</a:t>
              </a:r>
            </a:p>
          </p:txBody>
        </p:sp>
        <p:grpSp>
          <p:nvGrpSpPr>
            <p:cNvPr id="61" name="Group 61"/>
            <p:cNvGrpSpPr/>
            <p:nvPr/>
          </p:nvGrpSpPr>
          <p:grpSpPr>
            <a:xfrm>
              <a:off x="9284494" y="2061369"/>
              <a:ext cx="157163" cy="87313"/>
              <a:chOff x="9284494" y="2061369"/>
              <a:chExt cx="157163" cy="87313"/>
            </a:xfrm>
          </p:grpSpPr>
          <p:sp>
            <p:nvSpPr>
              <p:cNvPr id="59" name="Freeform 59"/>
              <p:cNvSpPr/>
              <p:nvPr/>
            </p:nvSpPr>
            <p:spPr>
              <a:xfrm>
                <a:off x="9284494" y="206136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E5624C"/>
                </a:solidFill>
              </a:ln>
            </p:spPr>
          </p:sp>
          <p:sp>
            <p:nvSpPr>
              <p:cNvPr id="60" name="Freeform 60"/>
              <p:cNvSpPr/>
              <p:nvPr/>
            </p:nvSpPr>
            <p:spPr>
              <a:xfrm>
                <a:off x="9380538" y="2061369"/>
                <a:ext cx="61119" cy="61119"/>
              </a:xfrm>
              <a:custGeom>
                <a:avLst/>
                <a:gdLst/>
                <a:ahLst/>
                <a:cxnLst/>
                <a:rect l="l" t="t" r="r" b="b"/>
                <a:pathLst>
                  <a:path w="61119" h="61119">
                    <a:moveTo>
                      <a:pt x="0" y="0"/>
                    </a:moveTo>
                    <a:lnTo>
                      <a:pt x="61119" y="0"/>
                    </a:lnTo>
                    <a:lnTo>
                      <a:pt x="61119" y="61119"/>
                    </a:lnTo>
                  </a:path>
                </a:pathLst>
              </a:custGeom>
              <a:noFill/>
              <a:ln w="17463">
                <a:solidFill>
                  <a:srgbClr val="E5624C"/>
                </a:solidFill>
              </a:ln>
            </p:spPr>
          </p:sp>
        </p:grpSp>
        <p:sp>
          <p:nvSpPr>
            <p:cNvPr id="62" name="TextBox 62"/>
            <p:cNvSpPr txBox="1"/>
            <p:nvPr/>
          </p:nvSpPr>
          <p:spPr>
            <a:xfrm>
              <a:off x="9539288" y="2078593"/>
              <a:ext cx="935711"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品牌的推荐度提升</a:t>
              </a:r>
            </a:p>
          </p:txBody>
        </p:sp>
        <p:sp>
          <p:nvSpPr>
            <p:cNvPr id="63" name="Rectangle 63"/>
            <p:cNvSpPr/>
            <p:nvPr/>
          </p:nvSpPr>
          <p:spPr>
            <a:xfrm>
              <a:off x="8305800" y="2438400"/>
              <a:ext cx="3352800" cy="95250"/>
            </a:xfrm>
            <a:prstGeom prst="roundRect">
              <a:avLst>
                <a:gd name="adj" fmla="val 50000"/>
              </a:avLst>
            </a:prstGeom>
            <a:solidFill>
              <a:srgbClr val="E9EBF8"/>
            </a:solidFill>
            <a:ln>
              <a:noFill/>
            </a:ln>
          </p:spPr>
        </p:sp>
        <p:sp>
          <p:nvSpPr>
            <p:cNvPr id="64" name="Rectangle 64"/>
            <p:cNvSpPr/>
            <p:nvPr/>
          </p:nvSpPr>
          <p:spPr>
            <a:xfrm>
              <a:off x="8305800" y="2438400"/>
              <a:ext cx="1714500" cy="95250"/>
            </a:xfrm>
            <a:prstGeom prst="roundRect">
              <a:avLst>
                <a:gd name="adj" fmla="val 50000"/>
              </a:avLst>
            </a:prstGeom>
            <a:solidFill>
              <a:srgbClr val="E5624C"/>
            </a:solidFill>
            <a:ln>
              <a:noFill/>
            </a:ln>
          </p:spPr>
        </p:sp>
        <p:sp>
          <p:nvSpPr>
            <p:cNvPr id="65" name="TextBox 65"/>
            <p:cNvSpPr txBox="1"/>
            <p:nvPr/>
          </p:nvSpPr>
          <p:spPr>
            <a:xfrm>
              <a:off x="8292084" y="2794635"/>
              <a:ext cx="733480" cy="528066"/>
            </a:xfrm>
            <a:prstGeom prst="rect">
              <a:avLst/>
            </a:prstGeom>
            <a:noFill/>
            <a:ln>
              <a:noFill/>
            </a:ln>
          </p:spPr>
          <p:txBody>
            <a:bodyPr wrap="none" lIns="0" tIns="0" rIns="0" bIns="0" anchor="t" anchorCtr="0">
              <a:spAutoFit/>
            </a:bodyPr>
            <a:lstStyle/>
            <a:p>
              <a:pPr algn="l"/>
              <a:r>
                <a:rPr lang="zh-CN" sz="2700" b="1" dirty="0">
                  <a:solidFill>
                    <a:srgbClr val="D47D6B"/>
                  </a:solidFill>
                  <a:latin typeface="+mn-lt"/>
                  <a:ea typeface="+mn-ea"/>
                  <a:cs typeface="+mn-cs"/>
                </a:rPr>
                <a:t>13%</a:t>
              </a:r>
            </a:p>
          </p:txBody>
        </p:sp>
        <p:grpSp>
          <p:nvGrpSpPr>
            <p:cNvPr id="68" name="Group 68"/>
            <p:cNvGrpSpPr/>
            <p:nvPr/>
          </p:nvGrpSpPr>
          <p:grpSpPr>
            <a:xfrm>
              <a:off x="9284494" y="2861469"/>
              <a:ext cx="157163" cy="87313"/>
              <a:chOff x="9284494" y="2861469"/>
              <a:chExt cx="157163" cy="87313"/>
            </a:xfrm>
          </p:grpSpPr>
          <p:sp>
            <p:nvSpPr>
              <p:cNvPr id="66" name="Freeform 66"/>
              <p:cNvSpPr/>
              <p:nvPr/>
            </p:nvSpPr>
            <p:spPr>
              <a:xfrm>
                <a:off x="9284494" y="286146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E5624C"/>
                </a:solidFill>
              </a:ln>
            </p:spPr>
          </p:sp>
          <p:sp>
            <p:nvSpPr>
              <p:cNvPr id="67" name="Freeform 67"/>
              <p:cNvSpPr/>
              <p:nvPr/>
            </p:nvSpPr>
            <p:spPr>
              <a:xfrm>
                <a:off x="9380538" y="2861469"/>
                <a:ext cx="61119" cy="61119"/>
              </a:xfrm>
              <a:custGeom>
                <a:avLst/>
                <a:gdLst/>
                <a:ahLst/>
                <a:cxnLst/>
                <a:rect l="l" t="t" r="r" b="b"/>
                <a:pathLst>
                  <a:path w="61119" h="61119">
                    <a:moveTo>
                      <a:pt x="0" y="0"/>
                    </a:moveTo>
                    <a:lnTo>
                      <a:pt x="61119" y="0"/>
                    </a:lnTo>
                    <a:lnTo>
                      <a:pt x="61119" y="61119"/>
                    </a:lnTo>
                  </a:path>
                </a:pathLst>
              </a:custGeom>
              <a:noFill/>
              <a:ln w="17463">
                <a:solidFill>
                  <a:srgbClr val="E5624C"/>
                </a:solidFill>
              </a:ln>
            </p:spPr>
          </p:sp>
        </p:grpSp>
        <p:sp>
          <p:nvSpPr>
            <p:cNvPr id="69" name="TextBox 69"/>
            <p:cNvSpPr txBox="1"/>
            <p:nvPr/>
          </p:nvSpPr>
          <p:spPr>
            <a:xfrm>
              <a:off x="9539288" y="2878693"/>
              <a:ext cx="935711"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品牌的认知度提升</a:t>
              </a:r>
            </a:p>
          </p:txBody>
        </p:sp>
        <p:sp>
          <p:nvSpPr>
            <p:cNvPr id="70" name="Rectangle 70"/>
            <p:cNvSpPr/>
            <p:nvPr/>
          </p:nvSpPr>
          <p:spPr>
            <a:xfrm>
              <a:off x="8305800" y="3238500"/>
              <a:ext cx="3352800" cy="95250"/>
            </a:xfrm>
            <a:prstGeom prst="roundRect">
              <a:avLst>
                <a:gd name="adj" fmla="val 50000"/>
              </a:avLst>
            </a:prstGeom>
            <a:solidFill>
              <a:srgbClr val="E9EBF8"/>
            </a:solidFill>
            <a:ln>
              <a:noFill/>
            </a:ln>
          </p:spPr>
        </p:sp>
        <p:sp>
          <p:nvSpPr>
            <p:cNvPr id="71" name="Rectangle 71"/>
            <p:cNvSpPr/>
            <p:nvPr/>
          </p:nvSpPr>
          <p:spPr>
            <a:xfrm>
              <a:off x="8305800" y="3238500"/>
              <a:ext cx="438150" cy="95250"/>
            </a:xfrm>
            <a:prstGeom prst="roundRect">
              <a:avLst>
                <a:gd name="adj" fmla="val 50000"/>
              </a:avLst>
            </a:prstGeom>
            <a:solidFill>
              <a:srgbClr val="E0B3AA"/>
            </a:solidFill>
            <a:ln>
              <a:noFill/>
            </a:ln>
          </p:spPr>
        </p:sp>
        <p:sp>
          <p:nvSpPr>
            <p:cNvPr id="72" name="Rectangle 72"/>
            <p:cNvSpPr/>
            <p:nvPr/>
          </p:nvSpPr>
          <p:spPr>
            <a:xfrm>
              <a:off x="8724900" y="4476750"/>
              <a:ext cx="381000" cy="857250"/>
            </a:xfrm>
            <a:prstGeom prst="rect">
              <a:avLst/>
            </a:prstGeom>
            <a:solidFill>
              <a:srgbClr val="C9CFEA"/>
            </a:solidFill>
            <a:ln>
              <a:noFill/>
            </a:ln>
          </p:spPr>
        </p:sp>
        <p:sp>
          <p:nvSpPr>
            <p:cNvPr id="73" name="TextBox 73"/>
            <p:cNvSpPr txBox="1"/>
            <p:nvPr/>
          </p:nvSpPr>
          <p:spPr>
            <a:xfrm>
              <a:off x="8743372" y="4323636"/>
              <a:ext cx="344056"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19.90%</a:t>
              </a:r>
            </a:p>
          </p:txBody>
        </p:sp>
        <p:sp>
          <p:nvSpPr>
            <p:cNvPr id="74" name="Rectangle 74"/>
            <p:cNvSpPr/>
            <p:nvPr/>
          </p:nvSpPr>
          <p:spPr>
            <a:xfrm>
              <a:off x="9182100" y="3857625"/>
              <a:ext cx="381000" cy="1476375"/>
            </a:xfrm>
            <a:prstGeom prst="rect">
              <a:avLst/>
            </a:prstGeom>
            <a:solidFill>
              <a:srgbClr val="D47D6B"/>
            </a:solidFill>
            <a:ln>
              <a:noFill/>
            </a:ln>
          </p:spPr>
        </p:sp>
        <p:sp>
          <p:nvSpPr>
            <p:cNvPr id="75" name="TextBox 75"/>
            <p:cNvSpPr txBox="1"/>
            <p:nvPr/>
          </p:nvSpPr>
          <p:spPr>
            <a:xfrm>
              <a:off x="9200572" y="3704511"/>
              <a:ext cx="344056"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47.80%</a:t>
              </a:r>
            </a:p>
          </p:txBody>
        </p:sp>
        <p:sp>
          <p:nvSpPr>
            <p:cNvPr id="76" name="Rectangle 76"/>
            <p:cNvSpPr/>
            <p:nvPr/>
          </p:nvSpPr>
          <p:spPr>
            <a:xfrm>
              <a:off x="10058400" y="4981575"/>
              <a:ext cx="381000" cy="352425"/>
            </a:xfrm>
            <a:prstGeom prst="rect">
              <a:avLst/>
            </a:prstGeom>
            <a:solidFill>
              <a:srgbClr val="C9CFEA"/>
            </a:solidFill>
            <a:ln>
              <a:noFill/>
            </a:ln>
          </p:spPr>
        </p:sp>
        <p:sp>
          <p:nvSpPr>
            <p:cNvPr id="77" name="TextBox 77"/>
            <p:cNvSpPr txBox="1"/>
            <p:nvPr/>
          </p:nvSpPr>
          <p:spPr>
            <a:xfrm>
              <a:off x="10076872" y="4828461"/>
              <a:ext cx="344056"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15.90%</a:t>
              </a:r>
            </a:p>
          </p:txBody>
        </p:sp>
        <p:sp>
          <p:nvSpPr>
            <p:cNvPr id="78" name="Rectangle 78"/>
            <p:cNvSpPr/>
            <p:nvPr/>
          </p:nvSpPr>
          <p:spPr>
            <a:xfrm>
              <a:off x="10515600" y="4524375"/>
              <a:ext cx="381000" cy="809625"/>
            </a:xfrm>
            <a:prstGeom prst="rect">
              <a:avLst/>
            </a:prstGeom>
            <a:solidFill>
              <a:srgbClr val="D47D6B"/>
            </a:solidFill>
            <a:ln>
              <a:noFill/>
            </a:ln>
          </p:spPr>
        </p:sp>
        <p:sp>
          <p:nvSpPr>
            <p:cNvPr id="79" name="TextBox 79"/>
            <p:cNvSpPr txBox="1"/>
            <p:nvPr/>
          </p:nvSpPr>
          <p:spPr>
            <a:xfrm>
              <a:off x="10534072" y="4371261"/>
              <a:ext cx="344056"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36.60%</a:t>
              </a:r>
            </a:p>
          </p:txBody>
        </p:sp>
        <p:sp>
          <p:nvSpPr>
            <p:cNvPr id="80" name="Rectangle 80"/>
            <p:cNvSpPr/>
            <p:nvPr/>
          </p:nvSpPr>
          <p:spPr>
            <a:xfrm>
              <a:off x="11220450" y="5114925"/>
              <a:ext cx="323850" cy="219075"/>
            </a:xfrm>
            <a:prstGeom prst="rect">
              <a:avLst/>
            </a:prstGeom>
            <a:solidFill>
              <a:srgbClr val="C9CFEA"/>
            </a:solidFill>
            <a:ln>
              <a:noFill/>
            </a:ln>
          </p:spPr>
        </p:sp>
        <p:sp>
          <p:nvSpPr>
            <p:cNvPr id="81" name="TextBox 81"/>
            <p:cNvSpPr txBox="1"/>
            <p:nvPr/>
          </p:nvSpPr>
          <p:spPr>
            <a:xfrm>
              <a:off x="11210347" y="4961811"/>
              <a:ext cx="344056"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10.10%</a:t>
              </a:r>
            </a:p>
          </p:txBody>
        </p:sp>
        <p:sp>
          <p:nvSpPr>
            <p:cNvPr id="82" name="Rectangle 82"/>
            <p:cNvSpPr/>
            <p:nvPr/>
          </p:nvSpPr>
          <p:spPr>
            <a:xfrm>
              <a:off x="11601450" y="4295775"/>
              <a:ext cx="323850" cy="1038225"/>
            </a:xfrm>
            <a:prstGeom prst="rect">
              <a:avLst/>
            </a:prstGeom>
            <a:solidFill>
              <a:srgbClr val="D47D6B"/>
            </a:solidFill>
            <a:ln>
              <a:noFill/>
            </a:ln>
          </p:spPr>
        </p:sp>
        <p:sp>
          <p:nvSpPr>
            <p:cNvPr id="83" name="TextBox 83"/>
            <p:cNvSpPr txBox="1"/>
            <p:nvPr/>
          </p:nvSpPr>
          <p:spPr>
            <a:xfrm>
              <a:off x="11591347" y="4142661"/>
              <a:ext cx="344056"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37.20%</a:t>
              </a:r>
            </a:p>
          </p:txBody>
        </p:sp>
        <p:sp>
          <p:nvSpPr>
            <p:cNvPr id="84" name="Line 84"/>
            <p:cNvSpPr/>
            <p:nvPr/>
          </p:nvSpPr>
          <p:spPr>
            <a:xfrm>
              <a:off x="8305800" y="5334000"/>
              <a:ext cx="3657600" cy="9525"/>
            </a:xfrm>
            <a:custGeom>
              <a:avLst/>
              <a:gdLst/>
              <a:ahLst/>
              <a:cxnLst/>
              <a:rect l="l" t="t" r="r" b="b"/>
              <a:pathLst>
                <a:path w="3657600" h="9525">
                  <a:moveTo>
                    <a:pt x="0" y="0"/>
                  </a:moveTo>
                  <a:lnTo>
                    <a:pt x="3657600" y="0"/>
                  </a:lnTo>
                </a:path>
              </a:pathLst>
            </a:custGeom>
            <a:noFill/>
            <a:ln w="9525">
              <a:solidFill>
                <a:srgbClr val="C9CFEA"/>
              </a:solidFill>
            </a:ln>
          </p:spPr>
        </p:sp>
        <p:sp>
          <p:nvSpPr>
            <p:cNvPr id="85" name="TextBox 85"/>
            <p:cNvSpPr txBox="1"/>
            <p:nvPr/>
          </p:nvSpPr>
          <p:spPr>
            <a:xfrm>
              <a:off x="8965578" y="5469493"/>
              <a:ext cx="356845"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认知度</a:t>
              </a:r>
            </a:p>
          </p:txBody>
        </p:sp>
        <p:sp>
          <p:nvSpPr>
            <p:cNvPr id="86" name="TextBox 86"/>
            <p:cNvSpPr txBox="1"/>
            <p:nvPr/>
          </p:nvSpPr>
          <p:spPr>
            <a:xfrm>
              <a:off x="10299078" y="5469493"/>
              <a:ext cx="356845"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喜爱度</a:t>
              </a:r>
            </a:p>
          </p:txBody>
        </p:sp>
        <p:sp>
          <p:nvSpPr>
            <p:cNvPr id="87" name="TextBox 87"/>
            <p:cNvSpPr txBox="1"/>
            <p:nvPr/>
          </p:nvSpPr>
          <p:spPr>
            <a:xfrm>
              <a:off x="11403978" y="5469493"/>
              <a:ext cx="356845"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推荐度</a:t>
              </a:r>
            </a:p>
          </p:txBody>
        </p:sp>
        <p:sp>
          <p:nvSpPr>
            <p:cNvPr id="88" name="Rectangle 88"/>
            <p:cNvSpPr/>
            <p:nvPr/>
          </p:nvSpPr>
          <p:spPr>
            <a:xfrm>
              <a:off x="9829800" y="5772150"/>
              <a:ext cx="95250" cy="95250"/>
            </a:xfrm>
            <a:prstGeom prst="rect">
              <a:avLst/>
            </a:prstGeom>
            <a:solidFill>
              <a:srgbClr val="C9CFEA"/>
            </a:solidFill>
            <a:ln>
              <a:noFill/>
            </a:ln>
          </p:spPr>
        </p:sp>
        <p:sp>
          <p:nvSpPr>
            <p:cNvPr id="89" name="TextBox 89"/>
            <p:cNvSpPr txBox="1"/>
            <p:nvPr/>
          </p:nvSpPr>
          <p:spPr>
            <a:xfrm>
              <a:off x="9977438" y="5772864"/>
              <a:ext cx="6476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未看过节目者</a:t>
              </a:r>
            </a:p>
          </p:txBody>
        </p:sp>
        <p:sp>
          <p:nvSpPr>
            <p:cNvPr id="90" name="Rectangle 90"/>
            <p:cNvSpPr/>
            <p:nvPr/>
          </p:nvSpPr>
          <p:spPr>
            <a:xfrm>
              <a:off x="10782300" y="5772150"/>
              <a:ext cx="95250" cy="95250"/>
            </a:xfrm>
            <a:prstGeom prst="rect">
              <a:avLst/>
            </a:prstGeom>
            <a:solidFill>
              <a:srgbClr val="D47D6B"/>
            </a:solidFill>
            <a:ln>
              <a:noFill/>
            </a:ln>
          </p:spPr>
        </p:sp>
        <p:sp>
          <p:nvSpPr>
            <p:cNvPr id="91" name="TextBox 91"/>
            <p:cNvSpPr txBox="1"/>
            <p:nvPr/>
          </p:nvSpPr>
          <p:spPr>
            <a:xfrm>
              <a:off x="10929938" y="5772864"/>
              <a:ext cx="54127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看过节目者</a:t>
              </a:r>
            </a:p>
          </p:txBody>
        </p:sp>
      </p:gr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683383" cy="440055"/>
            <a:chOff x="302895" y="214312"/>
            <a:chExt cx="2683383"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29.​</a:t>
              </a:r>
            </a:p>
          </p:txBody>
        </p:sp>
        <p:sp>
          <p:nvSpPr>
            <p:cNvPr id="3" name="TextBox 3"/>
            <p:cNvSpPr txBox="1"/>
            <p:nvPr/>
          </p:nvSpPr>
          <p:spPr>
            <a:xfrm>
              <a:off x="866394" y="246698"/>
              <a:ext cx="2119884"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短剧营销投放安排</a:t>
              </a:r>
            </a:p>
          </p:txBody>
        </p:sp>
      </p:grpSp>
      <p:grpSp>
        <p:nvGrpSpPr>
          <p:cNvPr id="25" name="band-forms"/>
          <p:cNvGrpSpPr/>
          <p:nvPr/>
        </p:nvGrpSpPr>
        <p:grpSpPr>
          <a:xfrm>
            <a:off x="228600" y="914400"/>
            <a:ext cx="6019800" cy="990600"/>
            <a:chOff x="228600" y="914400"/>
            <a:chExt cx="6019800" cy="990600"/>
          </a:xfrm>
        </p:grpSpPr>
        <p:sp>
          <p:nvSpPr>
            <p:cNvPr id="5" name="Rectangle 5"/>
            <p:cNvSpPr/>
            <p:nvPr/>
          </p:nvSpPr>
          <p:spPr>
            <a:xfrm>
              <a:off x="228600" y="914400"/>
              <a:ext cx="6019800" cy="990600"/>
            </a:xfrm>
            <a:prstGeom prst="roundRect">
              <a:avLst>
                <a:gd name="adj" fmla="val 13462"/>
              </a:avLst>
            </a:prstGeom>
            <a:gradFill>
              <a:gsLst>
                <a:gs pos="0">
                  <a:srgbClr val="E5624C"/>
                </a:gs>
                <a:gs pos="100000">
                  <a:srgbClr val="F0998A"/>
                </a:gs>
              </a:gsLst>
              <a:lin ang="0" scaled="1"/>
            </a:gradFill>
            <a:ln>
              <a:noFill/>
            </a:ln>
          </p:spPr>
        </p:sp>
        <p:sp>
          <p:nvSpPr>
            <p:cNvPr id="6" name="Ellipse 6"/>
            <p:cNvSpPr/>
            <p:nvPr/>
          </p:nvSpPr>
          <p:spPr>
            <a:xfrm>
              <a:off x="400050" y="1200150"/>
              <a:ext cx="419100" cy="419100"/>
            </a:xfrm>
            <a:prstGeom prst="ellipse">
              <a:avLst/>
            </a:prstGeom>
            <a:solidFill>
              <a:srgbClr val="FFFFFF">
                <a:alpha val="90000"/>
              </a:srgbClr>
            </a:solidFill>
            <a:ln>
              <a:noFill/>
            </a:ln>
          </p:spPr>
        </p:sp>
        <p:sp>
          <p:nvSpPr>
            <p:cNvPr id="7" name="Freeform 7"/>
            <p:cNvSpPr/>
            <p:nvPr/>
          </p:nvSpPr>
          <p:spPr>
            <a:xfrm>
              <a:off x="498208" y="1331238"/>
              <a:ext cx="221851" cy="196658"/>
            </a:xfrm>
            <a:custGeom>
              <a:avLst/>
              <a:gdLst/>
              <a:ahLst/>
              <a:cxnLst/>
              <a:rect l="l" t="t" r="r" b="b"/>
              <a:pathLst>
                <a:path w="221851" h="196658">
                  <a:moveTo>
                    <a:pt x="11379" y="186413"/>
                  </a:moveTo>
                  <a:lnTo>
                    <a:pt x="25826" y="143074"/>
                  </a:lnTo>
                  <a:cubicBezTo>
                    <a:pt x="0" y="104880"/>
                    <a:pt x="9979" y="55596"/>
                    <a:pt x="49162" y="27792"/>
                  </a:cubicBezTo>
                  <a:cubicBezTo>
                    <a:pt x="88345" y="0"/>
                    <a:pt x="144618" y="2278"/>
                    <a:pt x="180790" y="33126"/>
                  </a:cubicBezTo>
                  <a:cubicBezTo>
                    <a:pt x="216961" y="63986"/>
                    <a:pt x="221851" y="113870"/>
                    <a:pt x="192225" y="149819"/>
                  </a:cubicBezTo>
                  <a:cubicBezTo>
                    <a:pt x="162599" y="185768"/>
                    <a:pt x="107603" y="196658"/>
                    <a:pt x="63608" y="175300"/>
                  </a:cubicBezTo>
                  <a:lnTo>
                    <a:pt x="11379" y="186413"/>
                  </a:lnTo>
                </a:path>
              </a:pathLst>
            </a:custGeom>
            <a:noFill/>
            <a:ln w="22225">
              <a:solidFill>
                <a:srgbClr val="E5624C"/>
              </a:solidFill>
            </a:ln>
          </p:spPr>
        </p:sp>
        <p:sp>
          <p:nvSpPr>
            <p:cNvPr id="8" name="TextBox 8"/>
            <p:cNvSpPr txBox="1"/>
            <p:nvPr/>
          </p:nvSpPr>
          <p:spPr>
            <a:xfrm>
              <a:off x="985647" y="1056799"/>
              <a:ext cx="1537298"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「品牌x短剧」营销形式：</a:t>
              </a:r>
            </a:p>
          </p:txBody>
        </p:sp>
        <p:sp>
          <p:nvSpPr>
            <p:cNvPr id="9" name="Rectangle 9"/>
            <p:cNvSpPr/>
            <p:nvPr/>
          </p:nvSpPr>
          <p:spPr>
            <a:xfrm>
              <a:off x="990600" y="1257300"/>
              <a:ext cx="838200" cy="228600"/>
            </a:xfrm>
            <a:prstGeom prst="roundRect">
              <a:avLst>
                <a:gd name="adj" fmla="val 16667"/>
              </a:avLst>
            </a:prstGeom>
            <a:solidFill>
              <a:srgbClr val="FFFFFF"/>
            </a:solidFill>
            <a:ln>
              <a:noFill/>
            </a:ln>
          </p:spPr>
        </p:sp>
        <p:sp>
          <p:nvSpPr>
            <p:cNvPr id="10" name="TextBox 10"/>
            <p:cNvSpPr txBox="1"/>
            <p:nvPr/>
          </p:nvSpPr>
          <p:spPr>
            <a:xfrm>
              <a:off x="1184161" y="1320641"/>
              <a:ext cx="451079"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使用植入</a:t>
              </a:r>
            </a:p>
          </p:txBody>
        </p:sp>
        <p:sp>
          <p:nvSpPr>
            <p:cNvPr id="11" name="Rectangle 11"/>
            <p:cNvSpPr/>
            <p:nvPr/>
          </p:nvSpPr>
          <p:spPr>
            <a:xfrm>
              <a:off x="1905000" y="1257300"/>
              <a:ext cx="838200" cy="228600"/>
            </a:xfrm>
            <a:prstGeom prst="roundRect">
              <a:avLst>
                <a:gd name="adj" fmla="val 16667"/>
              </a:avLst>
            </a:prstGeom>
            <a:solidFill>
              <a:srgbClr val="FFFFFF"/>
            </a:solidFill>
            <a:ln>
              <a:noFill/>
            </a:ln>
          </p:spPr>
        </p:sp>
        <p:sp>
          <p:nvSpPr>
            <p:cNvPr id="12" name="TextBox 12"/>
            <p:cNvSpPr txBox="1"/>
            <p:nvPr/>
          </p:nvSpPr>
          <p:spPr>
            <a:xfrm>
              <a:off x="2098561" y="1320641"/>
              <a:ext cx="451079"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口播植入</a:t>
              </a:r>
            </a:p>
          </p:txBody>
        </p:sp>
        <p:sp>
          <p:nvSpPr>
            <p:cNvPr id="13" name="Rectangle 13"/>
            <p:cNvSpPr/>
            <p:nvPr/>
          </p:nvSpPr>
          <p:spPr>
            <a:xfrm>
              <a:off x="2819400" y="1257300"/>
              <a:ext cx="838200" cy="228600"/>
            </a:xfrm>
            <a:prstGeom prst="roundRect">
              <a:avLst>
                <a:gd name="adj" fmla="val 16667"/>
              </a:avLst>
            </a:prstGeom>
            <a:solidFill>
              <a:srgbClr val="FFFFFF"/>
            </a:solidFill>
            <a:ln>
              <a:noFill/>
            </a:ln>
          </p:spPr>
        </p:sp>
        <p:sp>
          <p:nvSpPr>
            <p:cNvPr id="14" name="TextBox 14"/>
            <p:cNvSpPr txBox="1"/>
            <p:nvPr/>
          </p:nvSpPr>
          <p:spPr>
            <a:xfrm>
              <a:off x="3012961" y="1320641"/>
              <a:ext cx="451079"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定制番外</a:t>
              </a:r>
            </a:p>
          </p:txBody>
        </p:sp>
        <p:sp>
          <p:nvSpPr>
            <p:cNvPr id="15" name="Rectangle 15"/>
            <p:cNvSpPr/>
            <p:nvPr/>
          </p:nvSpPr>
          <p:spPr>
            <a:xfrm>
              <a:off x="3733800" y="1257300"/>
              <a:ext cx="838200" cy="228600"/>
            </a:xfrm>
            <a:prstGeom prst="roundRect">
              <a:avLst>
                <a:gd name="adj" fmla="val 16667"/>
              </a:avLst>
            </a:prstGeom>
            <a:solidFill>
              <a:srgbClr val="FFFFFF"/>
            </a:solidFill>
            <a:ln>
              <a:noFill/>
            </a:ln>
          </p:spPr>
        </p:sp>
        <p:sp>
          <p:nvSpPr>
            <p:cNvPr id="16" name="TextBox 16"/>
            <p:cNvSpPr txBox="1"/>
            <p:nvPr/>
          </p:nvSpPr>
          <p:spPr>
            <a:xfrm>
              <a:off x="3927361" y="1320641"/>
              <a:ext cx="451079"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片尾鸣谢</a:t>
              </a:r>
            </a:p>
          </p:txBody>
        </p:sp>
        <p:sp>
          <p:nvSpPr>
            <p:cNvPr id="17" name="Rectangle 17"/>
            <p:cNvSpPr/>
            <p:nvPr/>
          </p:nvSpPr>
          <p:spPr>
            <a:xfrm>
              <a:off x="4648200" y="1257300"/>
              <a:ext cx="838200" cy="228600"/>
            </a:xfrm>
            <a:prstGeom prst="roundRect">
              <a:avLst>
                <a:gd name="adj" fmla="val 16667"/>
              </a:avLst>
            </a:prstGeom>
            <a:solidFill>
              <a:srgbClr val="FFFFFF"/>
            </a:solidFill>
            <a:ln>
              <a:noFill/>
            </a:ln>
          </p:spPr>
        </p:sp>
        <p:sp>
          <p:nvSpPr>
            <p:cNvPr id="18" name="TextBox 18"/>
            <p:cNvSpPr txBox="1"/>
            <p:nvPr/>
          </p:nvSpPr>
          <p:spPr>
            <a:xfrm>
              <a:off x="4841761" y="1320641"/>
              <a:ext cx="451079"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摆放植入</a:t>
              </a:r>
            </a:p>
          </p:txBody>
        </p:sp>
        <p:sp>
          <p:nvSpPr>
            <p:cNvPr id="19" name="Rectangle 19"/>
            <p:cNvSpPr/>
            <p:nvPr/>
          </p:nvSpPr>
          <p:spPr>
            <a:xfrm>
              <a:off x="990600" y="1562100"/>
              <a:ext cx="838200" cy="228600"/>
            </a:xfrm>
            <a:prstGeom prst="roundRect">
              <a:avLst>
                <a:gd name="adj" fmla="val 16667"/>
              </a:avLst>
            </a:prstGeom>
            <a:solidFill>
              <a:srgbClr val="FFFFFF"/>
            </a:solidFill>
            <a:ln>
              <a:noFill/>
            </a:ln>
          </p:spPr>
        </p:sp>
        <p:sp>
          <p:nvSpPr>
            <p:cNvPr id="20" name="TextBox 20"/>
            <p:cNvSpPr txBox="1"/>
            <p:nvPr/>
          </p:nvSpPr>
          <p:spPr>
            <a:xfrm>
              <a:off x="1184161" y="1625441"/>
              <a:ext cx="451079"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剧情植入</a:t>
              </a:r>
            </a:p>
          </p:txBody>
        </p:sp>
        <p:sp>
          <p:nvSpPr>
            <p:cNvPr id="21" name="Rectangle 21"/>
            <p:cNvSpPr/>
            <p:nvPr/>
          </p:nvSpPr>
          <p:spPr>
            <a:xfrm>
              <a:off x="1905000" y="1562100"/>
              <a:ext cx="838200" cy="228600"/>
            </a:xfrm>
            <a:prstGeom prst="roundRect">
              <a:avLst>
                <a:gd name="adj" fmla="val 16667"/>
              </a:avLst>
            </a:prstGeom>
            <a:solidFill>
              <a:srgbClr val="FFFFFF"/>
            </a:solidFill>
            <a:ln>
              <a:noFill/>
            </a:ln>
          </p:spPr>
        </p:sp>
        <p:sp>
          <p:nvSpPr>
            <p:cNvPr id="22" name="TextBox 22"/>
            <p:cNvSpPr txBox="1"/>
            <p:nvPr/>
          </p:nvSpPr>
          <p:spPr>
            <a:xfrm>
              <a:off x="2098561" y="1625441"/>
              <a:ext cx="451079"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花字引导</a:t>
              </a:r>
            </a:p>
          </p:txBody>
        </p:sp>
        <p:sp>
          <p:nvSpPr>
            <p:cNvPr id="23" name="Rectangle 23"/>
            <p:cNvSpPr/>
            <p:nvPr/>
          </p:nvSpPr>
          <p:spPr>
            <a:xfrm>
              <a:off x="2819400" y="1562100"/>
              <a:ext cx="1143000" cy="228600"/>
            </a:xfrm>
            <a:prstGeom prst="roundRect">
              <a:avLst>
                <a:gd name="adj" fmla="val 16667"/>
              </a:avLst>
            </a:prstGeom>
            <a:solidFill>
              <a:srgbClr val="FFFFFF"/>
            </a:solidFill>
            <a:ln>
              <a:noFill/>
            </a:ln>
          </p:spPr>
        </p:sp>
        <p:sp>
          <p:nvSpPr>
            <p:cNvPr id="24" name="TextBox 24"/>
            <p:cNvSpPr txBox="1"/>
            <p:nvPr/>
          </p:nvSpPr>
          <p:spPr>
            <a:xfrm>
              <a:off x="3054972" y="162544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互动营销矩阵</a:t>
              </a:r>
            </a:p>
          </p:txBody>
        </p:sp>
      </p:grpSp>
      <p:grpSp>
        <p:nvGrpSpPr>
          <p:cNvPr id="36" name="band-advanced"/>
          <p:cNvGrpSpPr/>
          <p:nvPr/>
        </p:nvGrpSpPr>
        <p:grpSpPr>
          <a:xfrm>
            <a:off x="6400800" y="914400"/>
            <a:ext cx="5562600" cy="990600"/>
            <a:chOff x="6400800" y="914400"/>
            <a:chExt cx="5562600" cy="990600"/>
          </a:xfrm>
        </p:grpSpPr>
        <p:sp>
          <p:nvSpPr>
            <p:cNvPr id="26" name="Rectangle 26"/>
            <p:cNvSpPr/>
            <p:nvPr/>
          </p:nvSpPr>
          <p:spPr>
            <a:xfrm>
              <a:off x="6400800" y="914400"/>
              <a:ext cx="5562600" cy="990600"/>
            </a:xfrm>
            <a:prstGeom prst="roundRect">
              <a:avLst>
                <a:gd name="adj" fmla="val 13462"/>
              </a:avLst>
            </a:prstGeom>
            <a:solidFill>
              <a:srgbClr val="C1553F"/>
            </a:solidFill>
            <a:ln>
              <a:noFill/>
            </a:ln>
          </p:spPr>
        </p:sp>
        <p:sp>
          <p:nvSpPr>
            <p:cNvPr id="27" name="Ellipse 27"/>
            <p:cNvSpPr/>
            <p:nvPr/>
          </p:nvSpPr>
          <p:spPr>
            <a:xfrm>
              <a:off x="6572250" y="1200150"/>
              <a:ext cx="419100" cy="419100"/>
            </a:xfrm>
            <a:prstGeom prst="ellipse">
              <a:avLst/>
            </a:prstGeom>
            <a:solidFill>
              <a:srgbClr val="FFFFFF">
                <a:alpha val="90000"/>
              </a:srgbClr>
            </a:solidFill>
            <a:ln>
              <a:noFill/>
            </a:ln>
          </p:spPr>
        </p:sp>
        <p:sp>
          <p:nvSpPr>
            <p:cNvPr id="28" name="Freeform 28"/>
            <p:cNvSpPr/>
            <p:nvPr/>
          </p:nvSpPr>
          <p:spPr>
            <a:xfrm>
              <a:off x="6670408" y="1331238"/>
              <a:ext cx="221851" cy="196658"/>
            </a:xfrm>
            <a:custGeom>
              <a:avLst/>
              <a:gdLst/>
              <a:ahLst/>
              <a:cxnLst/>
              <a:rect l="l" t="t" r="r" b="b"/>
              <a:pathLst>
                <a:path w="221851" h="196658">
                  <a:moveTo>
                    <a:pt x="11379" y="186413"/>
                  </a:moveTo>
                  <a:lnTo>
                    <a:pt x="25826" y="143074"/>
                  </a:lnTo>
                  <a:cubicBezTo>
                    <a:pt x="0" y="104880"/>
                    <a:pt x="9979" y="55596"/>
                    <a:pt x="49162" y="27792"/>
                  </a:cubicBezTo>
                  <a:cubicBezTo>
                    <a:pt x="88345" y="0"/>
                    <a:pt x="144618" y="2278"/>
                    <a:pt x="180790" y="33126"/>
                  </a:cubicBezTo>
                  <a:cubicBezTo>
                    <a:pt x="216961" y="63986"/>
                    <a:pt x="221851" y="113870"/>
                    <a:pt x="192225" y="149819"/>
                  </a:cubicBezTo>
                  <a:cubicBezTo>
                    <a:pt x="162599" y="185768"/>
                    <a:pt x="107603" y="196658"/>
                    <a:pt x="63608" y="175300"/>
                  </a:cubicBezTo>
                  <a:lnTo>
                    <a:pt x="11379" y="186413"/>
                  </a:lnTo>
                </a:path>
              </a:pathLst>
            </a:custGeom>
            <a:noFill/>
            <a:ln w="22225">
              <a:solidFill>
                <a:srgbClr val="C1553F"/>
              </a:solidFill>
            </a:ln>
          </p:spPr>
        </p:sp>
        <p:sp>
          <p:nvSpPr>
            <p:cNvPr id="29" name="TextBox 29"/>
            <p:cNvSpPr txBox="1"/>
            <p:nvPr/>
          </p:nvSpPr>
          <p:spPr>
            <a:xfrm>
              <a:off x="7157847" y="1056799"/>
              <a:ext cx="1537298"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「品牌x短剧」进阶合作：</a:t>
              </a:r>
            </a:p>
          </p:txBody>
        </p:sp>
        <p:sp>
          <p:nvSpPr>
            <p:cNvPr id="30" name="Rectangle 30"/>
            <p:cNvSpPr/>
            <p:nvPr/>
          </p:nvSpPr>
          <p:spPr>
            <a:xfrm>
              <a:off x="7162800" y="1276350"/>
              <a:ext cx="495300" cy="228600"/>
            </a:xfrm>
            <a:prstGeom prst="roundRect">
              <a:avLst>
                <a:gd name="adj" fmla="val 16667"/>
              </a:avLst>
            </a:prstGeom>
            <a:solidFill>
              <a:srgbClr val="EDF0FB"/>
            </a:solidFill>
            <a:ln>
              <a:noFill/>
            </a:ln>
          </p:spPr>
        </p:sp>
        <p:sp>
          <p:nvSpPr>
            <p:cNvPr id="31" name="TextBox 31"/>
            <p:cNvSpPr txBox="1"/>
            <p:nvPr/>
          </p:nvSpPr>
          <p:spPr>
            <a:xfrm>
              <a:off x="7295299" y="1339691"/>
              <a:ext cx="230302" cy="161925"/>
            </a:xfrm>
            <a:prstGeom prst="rect">
              <a:avLst/>
            </a:prstGeom>
            <a:noFill/>
            <a:ln>
              <a:noFill/>
            </a:ln>
          </p:spPr>
          <p:txBody>
            <a:bodyPr wrap="none" lIns="0" tIns="0" rIns="0" bIns="0" anchor="t" anchorCtr="0">
              <a:spAutoFit/>
            </a:bodyPr>
            <a:lstStyle/>
            <a:p>
              <a:pPr algn="ctr"/>
              <a:r>
                <a:rPr lang="zh-CN" sz="820" b="1" dirty="0">
                  <a:solidFill>
                    <a:srgbClr val="C1553F"/>
                  </a:solidFill>
                  <a:latin typeface="+mn-lt"/>
                  <a:ea typeface="+mn-ea"/>
                  <a:cs typeface="+mn-cs"/>
                </a:rPr>
                <a:t>客串</a:t>
              </a:r>
            </a:p>
          </p:txBody>
        </p:sp>
        <p:sp>
          <p:nvSpPr>
            <p:cNvPr id="32" name="TextBox 32"/>
            <p:cNvSpPr txBox="1"/>
            <p:nvPr/>
          </p:nvSpPr>
          <p:spPr>
            <a:xfrm>
              <a:off x="7748588" y="1339691"/>
              <a:ext cx="2101906" cy="161925"/>
            </a:xfrm>
            <a:prstGeom prst="rect">
              <a:avLst/>
            </a:prstGeom>
            <a:noFill/>
            <a:ln>
              <a:noFill/>
            </a:ln>
          </p:spPr>
          <p:txBody>
            <a:bodyPr wrap="none" lIns="0" tIns="0" rIns="0" bIns="0" anchor="t" anchorCtr="0">
              <a:spAutoFit/>
            </a:bodyPr>
            <a:lstStyle/>
            <a:p>
              <a:pPr algn="l"/>
              <a:r>
                <a:rPr lang="zh-CN" sz="820" dirty="0">
                  <a:solidFill>
                    <a:srgbClr val="E8EAFB"/>
                  </a:solidFill>
                  <a:latin typeface="+mn-lt"/>
                  <a:ea typeface="+mn-ea"/>
                  <a:cs typeface="+mn-cs"/>
                </a:rPr>
                <a:t>代言人、KOL等具有品牌代表性的角色客串</a:t>
              </a:r>
            </a:p>
          </p:txBody>
        </p:sp>
        <p:sp>
          <p:nvSpPr>
            <p:cNvPr id="33" name="Rectangle 33"/>
            <p:cNvSpPr/>
            <p:nvPr/>
          </p:nvSpPr>
          <p:spPr>
            <a:xfrm>
              <a:off x="7162800" y="1581150"/>
              <a:ext cx="495300" cy="228600"/>
            </a:xfrm>
            <a:prstGeom prst="roundRect">
              <a:avLst>
                <a:gd name="adj" fmla="val 16667"/>
              </a:avLst>
            </a:prstGeom>
            <a:solidFill>
              <a:srgbClr val="EDF0FB"/>
            </a:solidFill>
            <a:ln>
              <a:noFill/>
            </a:ln>
          </p:spPr>
        </p:sp>
        <p:sp>
          <p:nvSpPr>
            <p:cNvPr id="34" name="TextBox 34"/>
            <p:cNvSpPr txBox="1"/>
            <p:nvPr/>
          </p:nvSpPr>
          <p:spPr>
            <a:xfrm>
              <a:off x="7295299" y="1644491"/>
              <a:ext cx="230302" cy="161925"/>
            </a:xfrm>
            <a:prstGeom prst="rect">
              <a:avLst/>
            </a:prstGeom>
            <a:noFill/>
            <a:ln>
              <a:noFill/>
            </a:ln>
          </p:spPr>
          <p:txBody>
            <a:bodyPr wrap="none" lIns="0" tIns="0" rIns="0" bIns="0" anchor="t" anchorCtr="0">
              <a:spAutoFit/>
            </a:bodyPr>
            <a:lstStyle/>
            <a:p>
              <a:pPr algn="ctr"/>
              <a:r>
                <a:rPr lang="zh-CN" sz="820" b="1" dirty="0">
                  <a:solidFill>
                    <a:srgbClr val="C1553F"/>
                  </a:solidFill>
                  <a:latin typeface="+mn-lt"/>
                  <a:ea typeface="+mn-ea"/>
                  <a:cs typeface="+mn-cs"/>
                </a:rPr>
                <a:t>定制</a:t>
              </a:r>
            </a:p>
          </p:txBody>
        </p:sp>
        <p:sp>
          <p:nvSpPr>
            <p:cNvPr id="35" name="TextBox 35"/>
            <p:cNvSpPr txBox="1"/>
            <p:nvPr/>
          </p:nvSpPr>
          <p:spPr>
            <a:xfrm>
              <a:off x="7748588" y="1644491"/>
              <a:ext cx="1775739" cy="161925"/>
            </a:xfrm>
            <a:prstGeom prst="rect">
              <a:avLst/>
            </a:prstGeom>
            <a:noFill/>
            <a:ln>
              <a:noFill/>
            </a:ln>
          </p:spPr>
          <p:txBody>
            <a:bodyPr wrap="none" lIns="0" tIns="0" rIns="0" bIns="0" anchor="t" anchorCtr="0">
              <a:spAutoFit/>
            </a:bodyPr>
            <a:lstStyle/>
            <a:p>
              <a:pPr algn="l"/>
              <a:r>
                <a:rPr lang="zh-CN" sz="820" dirty="0">
                  <a:solidFill>
                    <a:srgbClr val="E8EAFB"/>
                  </a:solidFill>
                  <a:latin typeface="+mn-lt"/>
                  <a:ea typeface="+mn-ea"/>
                  <a:cs typeface="+mn-cs"/>
                </a:rPr>
                <a:t>品牌参与剧本共创，定制式故事情节</a:t>
              </a:r>
            </a:p>
          </p:txBody>
        </p:sp>
      </p:grpSp>
      <p:grpSp>
        <p:nvGrpSpPr>
          <p:cNvPr id="85" name="flow-panel"/>
          <p:cNvGrpSpPr/>
          <p:nvPr/>
        </p:nvGrpSpPr>
        <p:grpSpPr>
          <a:xfrm>
            <a:off x="228600" y="2019300"/>
            <a:ext cx="11925300" cy="4514850"/>
            <a:chOff x="228600" y="2019300"/>
            <a:chExt cx="11925300" cy="4514850"/>
          </a:xfrm>
        </p:grpSpPr>
        <p:sp>
          <p:nvSpPr>
            <p:cNvPr id="37" name="Rectangle 37"/>
            <p:cNvSpPr/>
            <p:nvPr/>
          </p:nvSpPr>
          <p:spPr>
            <a:xfrm>
              <a:off x="228600" y="2019300"/>
              <a:ext cx="11734800" cy="4514850"/>
            </a:xfrm>
            <a:prstGeom prst="roundRect">
              <a:avLst>
                <a:gd name="adj" fmla="val 1266"/>
              </a:avLst>
            </a:prstGeom>
            <a:solidFill>
              <a:srgbClr val="FFFFFF"/>
            </a:solidFill>
            <a:ln w="9525">
              <a:solidFill>
                <a:srgbClr val="C9CFEA"/>
              </a:solidFill>
            </a:ln>
          </p:spPr>
        </p:sp>
        <p:sp>
          <p:nvSpPr>
            <p:cNvPr id="38" name="Rectangle 38"/>
            <p:cNvSpPr/>
            <p:nvPr/>
          </p:nvSpPr>
          <p:spPr>
            <a:xfrm>
              <a:off x="419100" y="2190750"/>
              <a:ext cx="2476500" cy="304800"/>
            </a:xfrm>
            <a:prstGeom prst="roundRect">
              <a:avLst>
                <a:gd name="adj" fmla="val 50000"/>
              </a:avLst>
            </a:prstGeom>
            <a:solidFill>
              <a:srgbClr val="C4624E"/>
            </a:solidFill>
            <a:ln>
              <a:noFill/>
            </a:ln>
          </p:spPr>
        </p:sp>
        <p:sp>
          <p:nvSpPr>
            <p:cNvPr id="39" name="TextBox 39"/>
            <p:cNvSpPr txBox="1"/>
            <p:nvPr/>
          </p:nvSpPr>
          <p:spPr>
            <a:xfrm>
              <a:off x="888701" y="2285524"/>
              <a:ext cx="1537298"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「品牌x短剧」投放流程：</a:t>
              </a:r>
            </a:p>
          </p:txBody>
        </p:sp>
        <p:sp>
          <p:nvSpPr>
            <p:cNvPr id="40" name="Ellipse 40"/>
            <p:cNvSpPr/>
            <p:nvPr/>
          </p:nvSpPr>
          <p:spPr>
            <a:xfrm>
              <a:off x="666750" y="3429000"/>
              <a:ext cx="762000" cy="762000"/>
            </a:xfrm>
            <a:prstGeom prst="ellipse">
              <a:avLst/>
            </a:prstGeom>
            <a:solidFill>
              <a:srgbClr val="D47D6B"/>
            </a:solidFill>
            <a:ln>
              <a:noFill/>
            </a:ln>
          </p:spPr>
        </p:sp>
        <p:sp>
          <p:nvSpPr>
            <p:cNvPr id="41" name="TextBox 41"/>
            <p:cNvSpPr txBox="1"/>
            <p:nvPr/>
          </p:nvSpPr>
          <p:spPr>
            <a:xfrm>
              <a:off x="830389" y="3744278"/>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筹备期</a:t>
              </a:r>
            </a:p>
          </p:txBody>
        </p:sp>
        <p:sp>
          <p:nvSpPr>
            <p:cNvPr id="42" name="Rectangle 42"/>
            <p:cNvSpPr/>
            <p:nvPr/>
          </p:nvSpPr>
          <p:spPr>
            <a:xfrm>
              <a:off x="1619250" y="2857500"/>
              <a:ext cx="1714500" cy="1104900"/>
            </a:xfrm>
            <a:prstGeom prst="roundRect">
              <a:avLst>
                <a:gd name="adj" fmla="val 5172"/>
              </a:avLst>
            </a:prstGeom>
            <a:solidFill>
              <a:srgbClr val="FDF2EF"/>
            </a:solidFill>
            <a:ln>
              <a:noFill/>
            </a:ln>
          </p:spPr>
        </p:sp>
        <p:sp>
          <p:nvSpPr>
            <p:cNvPr id="43" name="Rectangle 43"/>
            <p:cNvSpPr/>
            <p:nvPr/>
          </p:nvSpPr>
          <p:spPr>
            <a:xfrm>
              <a:off x="1752600" y="2971800"/>
              <a:ext cx="685800" cy="209550"/>
            </a:xfrm>
            <a:prstGeom prst="roundRect">
              <a:avLst>
                <a:gd name="adj" fmla="val 50000"/>
              </a:avLst>
            </a:prstGeom>
            <a:solidFill>
              <a:srgbClr val="E5624C"/>
            </a:solidFill>
            <a:ln>
              <a:noFill/>
            </a:ln>
          </p:spPr>
        </p:sp>
        <p:sp>
          <p:nvSpPr>
            <p:cNvPr id="44" name="TextBox 44"/>
            <p:cNvSpPr txBox="1"/>
            <p:nvPr/>
          </p:nvSpPr>
          <p:spPr>
            <a:xfrm>
              <a:off x="1925155" y="3025616"/>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精选择</a:t>
              </a:r>
            </a:p>
          </p:txBody>
        </p:sp>
        <p:sp>
          <p:nvSpPr>
            <p:cNvPr id="45" name="TextBox 45"/>
            <p:cNvSpPr txBox="1"/>
            <p:nvPr/>
          </p:nvSpPr>
          <p:spPr>
            <a:xfrm>
              <a:off x="2012347" y="3309938"/>
              <a:ext cx="928307"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基于人群洞察/类型/</a:t>
              </a:r>
            </a:p>
          </p:txBody>
        </p:sp>
        <p:sp>
          <p:nvSpPr>
            <p:cNvPr id="46" name="TextBox 46"/>
            <p:cNvSpPr txBox="1"/>
            <p:nvPr/>
          </p:nvSpPr>
          <p:spPr>
            <a:xfrm>
              <a:off x="1939147" y="3462338"/>
              <a:ext cx="1074706"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偏好/达人表现精准选角</a:t>
              </a:r>
            </a:p>
          </p:txBody>
        </p:sp>
        <p:sp>
          <p:nvSpPr>
            <p:cNvPr id="47" name="Rectangle 47"/>
            <p:cNvSpPr/>
            <p:nvPr/>
          </p:nvSpPr>
          <p:spPr>
            <a:xfrm>
              <a:off x="1809750" y="4191000"/>
              <a:ext cx="1714500" cy="914400"/>
            </a:xfrm>
            <a:prstGeom prst="roundRect">
              <a:avLst>
                <a:gd name="adj" fmla="val 6250"/>
              </a:avLst>
            </a:prstGeom>
            <a:solidFill>
              <a:srgbClr val="FDF2EF"/>
            </a:solidFill>
            <a:ln>
              <a:noFill/>
            </a:ln>
          </p:spPr>
        </p:sp>
        <p:sp>
          <p:nvSpPr>
            <p:cNvPr id="48" name="Rectangle 48"/>
            <p:cNvSpPr/>
            <p:nvPr/>
          </p:nvSpPr>
          <p:spPr>
            <a:xfrm>
              <a:off x="1943100" y="4305300"/>
              <a:ext cx="685800" cy="209550"/>
            </a:xfrm>
            <a:prstGeom prst="roundRect">
              <a:avLst>
                <a:gd name="adj" fmla="val 50000"/>
              </a:avLst>
            </a:prstGeom>
            <a:solidFill>
              <a:srgbClr val="E5624C"/>
            </a:solidFill>
            <a:ln>
              <a:noFill/>
            </a:ln>
          </p:spPr>
        </p:sp>
        <p:sp>
          <p:nvSpPr>
            <p:cNvPr id="49" name="TextBox 49"/>
            <p:cNvSpPr txBox="1"/>
            <p:nvPr/>
          </p:nvSpPr>
          <p:spPr>
            <a:xfrm>
              <a:off x="2115655" y="4359116"/>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预造梗</a:t>
              </a:r>
            </a:p>
          </p:txBody>
        </p:sp>
        <p:sp>
          <p:nvSpPr>
            <p:cNvPr id="50" name="TextBox 50"/>
            <p:cNvSpPr txBox="1"/>
            <p:nvPr/>
          </p:nvSpPr>
          <p:spPr>
            <a:xfrm>
              <a:off x="2056448" y="4643438"/>
              <a:ext cx="122110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预埋热梗，为传播度打基础</a:t>
              </a:r>
            </a:p>
          </p:txBody>
        </p:sp>
        <p:sp>
          <p:nvSpPr>
            <p:cNvPr id="51" name="Line 51"/>
            <p:cNvSpPr/>
            <p:nvPr/>
          </p:nvSpPr>
          <p:spPr>
            <a:xfrm>
              <a:off x="3390900" y="3810000"/>
              <a:ext cx="381000" cy="1"/>
            </a:xfrm>
            <a:prstGeom prst="line">
              <a:avLst/>
            </a:prstGeom>
            <a:noFill/>
            <a:ln w="23812">
              <a:solidFill>
                <a:srgbClr val="E0B3AA"/>
              </a:solidFill>
              <a:tailEnd type="triangle" w="lg" len="lg"/>
            </a:ln>
          </p:spPr>
        </p:sp>
        <p:sp>
          <p:nvSpPr>
            <p:cNvPr id="52" name="Ellipse 52"/>
            <p:cNvSpPr/>
            <p:nvPr/>
          </p:nvSpPr>
          <p:spPr>
            <a:xfrm>
              <a:off x="3886200" y="3390900"/>
              <a:ext cx="838200" cy="838200"/>
            </a:xfrm>
            <a:prstGeom prst="ellipse">
              <a:avLst/>
            </a:prstGeom>
            <a:solidFill>
              <a:srgbClr val="E5624C"/>
            </a:solidFill>
            <a:ln>
              <a:noFill/>
            </a:ln>
          </p:spPr>
        </p:sp>
        <p:sp>
          <p:nvSpPr>
            <p:cNvPr id="53" name="TextBox 53"/>
            <p:cNvSpPr txBox="1"/>
            <p:nvPr/>
          </p:nvSpPr>
          <p:spPr>
            <a:xfrm>
              <a:off x="4158615" y="36585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上线</a:t>
              </a:r>
            </a:p>
          </p:txBody>
        </p:sp>
        <p:sp>
          <p:nvSpPr>
            <p:cNvPr id="54" name="TextBox 54"/>
            <p:cNvSpPr txBox="1"/>
            <p:nvPr/>
          </p:nvSpPr>
          <p:spPr>
            <a:xfrm>
              <a:off x="4087940" y="3849052"/>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爆发期</a:t>
              </a:r>
            </a:p>
          </p:txBody>
        </p:sp>
        <p:sp>
          <p:nvSpPr>
            <p:cNvPr id="55" name="Rectangle 55"/>
            <p:cNvSpPr/>
            <p:nvPr/>
          </p:nvSpPr>
          <p:spPr>
            <a:xfrm>
              <a:off x="5048250" y="2762250"/>
              <a:ext cx="2019300" cy="1428750"/>
            </a:xfrm>
            <a:prstGeom prst="roundRect">
              <a:avLst>
                <a:gd name="adj" fmla="val 4000"/>
              </a:avLst>
            </a:prstGeom>
            <a:solidFill>
              <a:srgbClr val="FDF2EF"/>
            </a:solidFill>
            <a:ln>
              <a:noFill/>
            </a:ln>
          </p:spPr>
        </p:sp>
        <p:sp>
          <p:nvSpPr>
            <p:cNvPr id="56" name="Rectangle 56"/>
            <p:cNvSpPr/>
            <p:nvPr/>
          </p:nvSpPr>
          <p:spPr>
            <a:xfrm>
              <a:off x="5181600" y="2876550"/>
              <a:ext cx="685800" cy="209550"/>
            </a:xfrm>
            <a:prstGeom prst="roundRect">
              <a:avLst>
                <a:gd name="adj" fmla="val 50000"/>
              </a:avLst>
            </a:prstGeom>
            <a:solidFill>
              <a:srgbClr val="E5624C"/>
            </a:solidFill>
            <a:ln>
              <a:noFill/>
            </a:ln>
          </p:spPr>
        </p:sp>
        <p:sp>
          <p:nvSpPr>
            <p:cNvPr id="57" name="TextBox 57"/>
            <p:cNvSpPr txBox="1"/>
            <p:nvPr/>
          </p:nvSpPr>
          <p:spPr>
            <a:xfrm>
              <a:off x="5354155" y="2930366"/>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广宣推</a:t>
              </a:r>
            </a:p>
          </p:txBody>
        </p:sp>
        <p:sp>
          <p:nvSpPr>
            <p:cNvPr id="58" name="TextBox 58"/>
            <p:cNvSpPr txBox="1"/>
            <p:nvPr/>
          </p:nvSpPr>
          <p:spPr>
            <a:xfrm>
              <a:off x="5396865" y="3195638"/>
              <a:ext cx="132207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运用热点洞察工具快速承接热</a:t>
              </a:r>
            </a:p>
          </p:txBody>
        </p:sp>
        <p:sp>
          <p:nvSpPr>
            <p:cNvPr id="59" name="TextBox 59"/>
            <p:cNvSpPr txBox="1"/>
            <p:nvPr/>
          </p:nvSpPr>
          <p:spPr>
            <a:xfrm>
              <a:off x="5419582" y="3348038"/>
              <a:ext cx="1276636"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点，配合话题/硬广等持续推</a:t>
              </a:r>
            </a:p>
          </p:txBody>
        </p:sp>
        <p:sp>
          <p:nvSpPr>
            <p:cNvPr id="60" name="TextBox 60"/>
            <p:cNvSpPr txBox="1"/>
            <p:nvPr/>
          </p:nvSpPr>
          <p:spPr>
            <a:xfrm>
              <a:off x="5447348" y="3500438"/>
              <a:ext cx="122110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介，周边达人配合积极传播</a:t>
              </a:r>
            </a:p>
          </p:txBody>
        </p:sp>
        <p:sp>
          <p:nvSpPr>
            <p:cNvPr id="61" name="Rectangle 61"/>
            <p:cNvSpPr/>
            <p:nvPr/>
          </p:nvSpPr>
          <p:spPr>
            <a:xfrm>
              <a:off x="5295900" y="4400550"/>
              <a:ext cx="2019300" cy="1333500"/>
            </a:xfrm>
            <a:prstGeom prst="roundRect">
              <a:avLst>
                <a:gd name="adj" fmla="val 4286"/>
              </a:avLst>
            </a:prstGeom>
            <a:solidFill>
              <a:srgbClr val="FDF2EF"/>
            </a:solidFill>
            <a:ln>
              <a:noFill/>
            </a:ln>
          </p:spPr>
        </p:sp>
        <p:sp>
          <p:nvSpPr>
            <p:cNvPr id="62" name="Rectangle 62"/>
            <p:cNvSpPr/>
            <p:nvPr/>
          </p:nvSpPr>
          <p:spPr>
            <a:xfrm>
              <a:off x="5429250" y="4514850"/>
              <a:ext cx="762000" cy="209550"/>
            </a:xfrm>
            <a:prstGeom prst="roundRect">
              <a:avLst>
                <a:gd name="adj" fmla="val 50000"/>
              </a:avLst>
            </a:prstGeom>
            <a:solidFill>
              <a:srgbClr val="E5624C"/>
            </a:solidFill>
            <a:ln>
              <a:noFill/>
            </a:ln>
          </p:spPr>
        </p:sp>
        <p:sp>
          <p:nvSpPr>
            <p:cNvPr id="63" name="TextBox 63"/>
            <p:cNvSpPr txBox="1"/>
            <p:nvPr/>
          </p:nvSpPr>
          <p:spPr>
            <a:xfrm>
              <a:off x="5584711" y="45686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精准投放</a:t>
              </a:r>
            </a:p>
          </p:txBody>
        </p:sp>
        <p:sp>
          <p:nvSpPr>
            <p:cNvPr id="64" name="TextBox 64"/>
            <p:cNvSpPr txBox="1"/>
            <p:nvPr/>
          </p:nvSpPr>
          <p:spPr>
            <a:xfrm>
              <a:off x="5644515" y="4833938"/>
              <a:ext cx="132207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抓取看剧人群画像，定向人群</a:t>
              </a:r>
            </a:p>
          </p:txBody>
        </p:sp>
        <p:sp>
          <p:nvSpPr>
            <p:cNvPr id="65" name="TextBox 65"/>
            <p:cNvSpPr txBox="1"/>
            <p:nvPr/>
          </p:nvSpPr>
          <p:spPr>
            <a:xfrm>
              <a:off x="5543550" y="4986338"/>
              <a:ext cx="152400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投放、加热、以看带搜、竞价追投</a:t>
              </a:r>
            </a:p>
          </p:txBody>
        </p:sp>
        <p:sp>
          <p:nvSpPr>
            <p:cNvPr id="66" name="Line 66"/>
            <p:cNvSpPr/>
            <p:nvPr/>
          </p:nvSpPr>
          <p:spPr>
            <a:xfrm>
              <a:off x="7334250" y="3810000"/>
              <a:ext cx="381000" cy="1"/>
            </a:xfrm>
            <a:prstGeom prst="line">
              <a:avLst/>
            </a:prstGeom>
            <a:noFill/>
            <a:ln w="23812">
              <a:solidFill>
                <a:srgbClr val="E0B3AA"/>
              </a:solidFill>
              <a:tailEnd type="triangle" w="lg" len="lg"/>
            </a:ln>
          </p:spPr>
        </p:sp>
        <p:sp>
          <p:nvSpPr>
            <p:cNvPr id="67" name="Ellipse 67"/>
            <p:cNvSpPr/>
            <p:nvPr/>
          </p:nvSpPr>
          <p:spPr>
            <a:xfrm>
              <a:off x="7810500" y="3429000"/>
              <a:ext cx="762000" cy="762000"/>
            </a:xfrm>
            <a:prstGeom prst="ellipse">
              <a:avLst/>
            </a:prstGeom>
            <a:solidFill>
              <a:srgbClr val="C4624E"/>
            </a:solidFill>
            <a:ln>
              <a:noFill/>
            </a:ln>
          </p:spPr>
        </p:sp>
        <p:sp>
          <p:nvSpPr>
            <p:cNvPr id="68" name="TextBox 68"/>
            <p:cNvSpPr txBox="1"/>
            <p:nvPr/>
          </p:nvSpPr>
          <p:spPr>
            <a:xfrm>
              <a:off x="8044815" y="36585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长尾</a:t>
              </a:r>
            </a:p>
          </p:txBody>
        </p:sp>
        <p:sp>
          <p:nvSpPr>
            <p:cNvPr id="69" name="TextBox 69"/>
            <p:cNvSpPr txBox="1"/>
            <p:nvPr/>
          </p:nvSpPr>
          <p:spPr>
            <a:xfrm>
              <a:off x="7974140" y="3849052"/>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发酵期</a:t>
              </a:r>
            </a:p>
          </p:txBody>
        </p:sp>
        <p:sp>
          <p:nvSpPr>
            <p:cNvPr id="70" name="Rectangle 70"/>
            <p:cNvSpPr/>
            <p:nvPr/>
          </p:nvSpPr>
          <p:spPr>
            <a:xfrm>
              <a:off x="8858250" y="2533650"/>
              <a:ext cx="2914650" cy="1047750"/>
            </a:xfrm>
            <a:prstGeom prst="roundRect">
              <a:avLst>
                <a:gd name="adj" fmla="val 5455"/>
              </a:avLst>
            </a:prstGeom>
            <a:solidFill>
              <a:srgbClr val="F1F3FB"/>
            </a:solidFill>
            <a:ln>
              <a:noFill/>
            </a:ln>
          </p:spPr>
        </p:sp>
        <p:sp>
          <p:nvSpPr>
            <p:cNvPr id="71" name="Rectangle 71"/>
            <p:cNvSpPr/>
            <p:nvPr/>
          </p:nvSpPr>
          <p:spPr>
            <a:xfrm>
              <a:off x="8991600" y="2647950"/>
              <a:ext cx="857250" cy="209550"/>
            </a:xfrm>
            <a:prstGeom prst="roundRect">
              <a:avLst>
                <a:gd name="adj" fmla="val 50000"/>
              </a:avLst>
            </a:prstGeom>
            <a:solidFill>
              <a:srgbClr val="C4624E"/>
            </a:solidFill>
            <a:ln>
              <a:noFill/>
            </a:ln>
          </p:spPr>
        </p:sp>
        <p:sp>
          <p:nvSpPr>
            <p:cNvPr id="72" name="TextBox 72"/>
            <p:cNvSpPr txBox="1"/>
            <p:nvPr/>
          </p:nvSpPr>
          <p:spPr>
            <a:xfrm>
              <a:off x="9194686" y="27017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番外二创</a:t>
              </a:r>
            </a:p>
          </p:txBody>
        </p:sp>
        <p:sp>
          <p:nvSpPr>
            <p:cNvPr id="73" name="TextBox 73"/>
            <p:cNvSpPr txBox="1"/>
            <p:nvPr/>
          </p:nvSpPr>
          <p:spPr>
            <a:xfrm>
              <a:off x="9636442" y="2947988"/>
              <a:ext cx="162496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番外花絮持续追投，达人二创传播，</a:t>
              </a:r>
            </a:p>
          </p:txBody>
        </p:sp>
        <p:sp>
          <p:nvSpPr>
            <p:cNvPr id="74" name="TextBox 74"/>
            <p:cNvSpPr txBox="1"/>
            <p:nvPr/>
          </p:nvSpPr>
          <p:spPr>
            <a:xfrm>
              <a:off x="10103739" y="3100388"/>
              <a:ext cx="690372"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挑战赛鼓励UGC</a:t>
              </a:r>
            </a:p>
          </p:txBody>
        </p:sp>
        <p:sp>
          <p:nvSpPr>
            <p:cNvPr id="75" name="Rectangle 75"/>
            <p:cNvSpPr/>
            <p:nvPr/>
          </p:nvSpPr>
          <p:spPr>
            <a:xfrm>
              <a:off x="9048750" y="3771900"/>
              <a:ext cx="2914650" cy="1047750"/>
            </a:xfrm>
            <a:prstGeom prst="roundRect">
              <a:avLst>
                <a:gd name="adj" fmla="val 5455"/>
              </a:avLst>
            </a:prstGeom>
            <a:solidFill>
              <a:srgbClr val="F1F3FB"/>
            </a:solidFill>
            <a:ln>
              <a:noFill/>
            </a:ln>
          </p:spPr>
        </p:sp>
        <p:sp>
          <p:nvSpPr>
            <p:cNvPr id="76" name="Rectangle 76"/>
            <p:cNvSpPr/>
            <p:nvPr/>
          </p:nvSpPr>
          <p:spPr>
            <a:xfrm>
              <a:off x="9182100" y="3886200"/>
              <a:ext cx="857250" cy="209550"/>
            </a:xfrm>
            <a:prstGeom prst="roundRect">
              <a:avLst>
                <a:gd name="adj" fmla="val 50000"/>
              </a:avLst>
            </a:prstGeom>
            <a:solidFill>
              <a:srgbClr val="C4624E"/>
            </a:solidFill>
            <a:ln>
              <a:noFill/>
            </a:ln>
          </p:spPr>
        </p:sp>
        <p:sp>
          <p:nvSpPr>
            <p:cNvPr id="77" name="TextBox 77"/>
            <p:cNvSpPr txBox="1"/>
            <p:nvPr/>
          </p:nvSpPr>
          <p:spPr>
            <a:xfrm>
              <a:off x="9385186" y="394001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持续追投</a:t>
              </a:r>
            </a:p>
          </p:txBody>
        </p:sp>
        <p:sp>
          <p:nvSpPr>
            <p:cNvPr id="78" name="TextBox 78"/>
            <p:cNvSpPr txBox="1"/>
            <p:nvPr/>
          </p:nvSpPr>
          <p:spPr>
            <a:xfrm>
              <a:off x="9869233" y="4186238"/>
              <a:ext cx="1540383"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品牌爆款内容片段混剪追投A3人群</a:t>
              </a:r>
            </a:p>
          </p:txBody>
        </p:sp>
        <p:sp>
          <p:nvSpPr>
            <p:cNvPr id="79" name="TextBox 79"/>
            <p:cNvSpPr txBox="1"/>
            <p:nvPr/>
          </p:nvSpPr>
          <p:spPr>
            <a:xfrm>
              <a:off x="10432732" y="4338638"/>
              <a:ext cx="413385"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定向复投</a:t>
              </a:r>
            </a:p>
          </p:txBody>
        </p:sp>
        <p:sp>
          <p:nvSpPr>
            <p:cNvPr id="80" name="Rectangle 80"/>
            <p:cNvSpPr/>
            <p:nvPr/>
          </p:nvSpPr>
          <p:spPr>
            <a:xfrm>
              <a:off x="9239250" y="5010150"/>
              <a:ext cx="2914650" cy="1047750"/>
            </a:xfrm>
            <a:prstGeom prst="roundRect">
              <a:avLst>
                <a:gd name="adj" fmla="val 5455"/>
              </a:avLst>
            </a:prstGeom>
            <a:solidFill>
              <a:srgbClr val="F1F3FB"/>
            </a:solidFill>
            <a:ln>
              <a:noFill/>
            </a:ln>
          </p:spPr>
        </p:sp>
        <p:sp>
          <p:nvSpPr>
            <p:cNvPr id="81" name="Rectangle 81"/>
            <p:cNvSpPr/>
            <p:nvPr/>
          </p:nvSpPr>
          <p:spPr>
            <a:xfrm>
              <a:off x="9372600" y="5124450"/>
              <a:ext cx="952500" cy="209550"/>
            </a:xfrm>
            <a:prstGeom prst="roundRect">
              <a:avLst>
                <a:gd name="adj" fmla="val 50000"/>
              </a:avLst>
            </a:prstGeom>
            <a:solidFill>
              <a:srgbClr val="C4624E"/>
            </a:solidFill>
            <a:ln>
              <a:noFill/>
            </a:ln>
          </p:spPr>
        </p:sp>
        <p:sp>
          <p:nvSpPr>
            <p:cNvPr id="82" name="TextBox 82"/>
            <p:cNvSpPr txBox="1"/>
            <p:nvPr/>
          </p:nvSpPr>
          <p:spPr>
            <a:xfrm>
              <a:off x="9568116" y="5178266"/>
              <a:ext cx="561467"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跨部门炒热</a:t>
              </a:r>
            </a:p>
          </p:txBody>
        </p:sp>
        <p:sp>
          <p:nvSpPr>
            <p:cNvPr id="83" name="TextBox 83"/>
            <p:cNvSpPr txBox="1"/>
            <p:nvPr/>
          </p:nvSpPr>
          <p:spPr>
            <a:xfrm>
              <a:off x="10012394" y="5424488"/>
              <a:ext cx="1635062"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联动产品/电商/社交等各部门运营手</a:t>
              </a:r>
            </a:p>
          </p:txBody>
        </p:sp>
        <p:sp>
          <p:nvSpPr>
            <p:cNvPr id="84" name="TextBox 84"/>
            <p:cNvSpPr txBox="1"/>
            <p:nvPr/>
          </p:nvSpPr>
          <p:spPr>
            <a:xfrm>
              <a:off x="10476928" y="5576888"/>
              <a:ext cx="705993"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段，推高IP热度</a:t>
              </a:r>
            </a:p>
          </p:txBody>
        </p:sp>
      </p:gr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683383" cy="440055"/>
            <a:chOff x="302895" y="214312"/>
            <a:chExt cx="2683383"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30.​</a:t>
              </a:r>
            </a:p>
          </p:txBody>
        </p:sp>
        <p:sp>
          <p:nvSpPr>
            <p:cNvPr id="3" name="TextBox 3"/>
            <p:cNvSpPr txBox="1"/>
            <p:nvPr/>
          </p:nvSpPr>
          <p:spPr>
            <a:xfrm>
              <a:off x="866394" y="246698"/>
              <a:ext cx="2119884"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新品上市营销方案</a:t>
              </a:r>
            </a:p>
          </p:txBody>
        </p:sp>
      </p:grpSp>
      <p:grpSp>
        <p:nvGrpSpPr>
          <p:cNvPr id="48" name="traffic-layer"/>
          <p:cNvGrpSpPr/>
          <p:nvPr/>
        </p:nvGrpSpPr>
        <p:grpSpPr>
          <a:xfrm>
            <a:off x="266700" y="704850"/>
            <a:ext cx="8039100" cy="4838700"/>
            <a:chOff x="266700" y="704850"/>
            <a:chExt cx="8039100" cy="4838700"/>
          </a:xfrm>
        </p:grpSpPr>
        <p:sp>
          <p:nvSpPr>
            <p:cNvPr id="5" name="Rectangle 5"/>
            <p:cNvSpPr/>
            <p:nvPr/>
          </p:nvSpPr>
          <p:spPr>
            <a:xfrm>
              <a:off x="266700" y="838200"/>
              <a:ext cx="8039100" cy="4705350"/>
            </a:xfrm>
            <a:prstGeom prst="roundRect">
              <a:avLst>
                <a:gd name="adj" fmla="val 1215"/>
              </a:avLst>
            </a:prstGeom>
            <a:solidFill>
              <a:srgbClr val="FFFFFF"/>
            </a:solidFill>
            <a:ln w="9525">
              <a:solidFill>
                <a:srgbClr val="DD988A"/>
              </a:solidFill>
              <a:custDash>
                <a:ds d="600000" sp="400000"/>
              </a:custDash>
            </a:ln>
          </p:spPr>
        </p:sp>
        <p:sp>
          <p:nvSpPr>
            <p:cNvPr id="6" name="Rectangle 6"/>
            <p:cNvSpPr/>
            <p:nvPr/>
          </p:nvSpPr>
          <p:spPr>
            <a:xfrm>
              <a:off x="419100" y="704850"/>
              <a:ext cx="952500" cy="266700"/>
            </a:xfrm>
            <a:prstGeom prst="roundRect">
              <a:avLst>
                <a:gd name="adj" fmla="val 50000"/>
              </a:avLst>
            </a:prstGeom>
            <a:solidFill>
              <a:srgbClr val="C1553F"/>
            </a:solidFill>
            <a:ln>
              <a:noFill/>
            </a:ln>
          </p:spPr>
        </p:sp>
        <p:sp>
          <p:nvSpPr>
            <p:cNvPr id="7" name="TextBox 7"/>
            <p:cNvSpPr txBox="1"/>
            <p:nvPr/>
          </p:nvSpPr>
          <p:spPr>
            <a:xfrm>
              <a:off x="692506" y="78057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流量层</a:t>
              </a:r>
            </a:p>
          </p:txBody>
        </p:sp>
        <p:sp>
          <p:nvSpPr>
            <p:cNvPr id="8" name="Rectangle 8"/>
            <p:cNvSpPr/>
            <p:nvPr/>
          </p:nvSpPr>
          <p:spPr>
            <a:xfrm>
              <a:off x="419100" y="1143000"/>
              <a:ext cx="3619500" cy="304800"/>
            </a:xfrm>
            <a:prstGeom prst="rect">
              <a:avLst/>
            </a:prstGeom>
            <a:gradFill>
              <a:gsLst>
                <a:gs pos="0">
                  <a:srgbClr val="C1553F"/>
                </a:gs>
                <a:gs pos="100000">
                  <a:srgbClr val="CE897B"/>
                </a:gs>
              </a:gsLst>
              <a:lin ang="0" scaled="1"/>
            </a:gradFill>
            <a:ln>
              <a:noFill/>
            </a:ln>
          </p:spPr>
        </p:sp>
        <p:sp>
          <p:nvSpPr>
            <p:cNvPr id="9" name="TextBox 9"/>
            <p:cNvSpPr txBox="1"/>
            <p:nvPr/>
          </p:nvSpPr>
          <p:spPr>
            <a:xfrm>
              <a:off x="528066" y="1239202"/>
              <a:ext cx="488968" cy="205359"/>
            </a:xfrm>
            <a:prstGeom prst="rect">
              <a:avLst/>
            </a:prstGeom>
            <a:noFill/>
            <a:ln>
              <a:noFill/>
            </a:ln>
          </p:spPr>
          <p:txBody>
            <a:bodyPr wrap="none" lIns="0" tIns="0" rIns="0" bIns="0" anchor="t" anchorCtr="0">
              <a:spAutoFit/>
            </a:bodyPr>
            <a:lstStyle/>
            <a:p>
              <a:pPr algn="l"/>
              <a:r>
                <a:rPr lang="en-US" sz="1050" b="1" dirty="0">
                  <a:solidFill>
                    <a:srgbClr val="FFFFFF"/>
                  </a:solidFill>
                  <a:latin typeface="+mn-lt"/>
                  <a:ea typeface="+mn-ea"/>
                  <a:cs typeface="+mn-cs"/>
                </a:rPr>
                <a:t>STEP 1</a:t>
              </a:r>
            </a:p>
          </p:txBody>
        </p:sp>
        <p:sp>
          <p:nvSpPr>
            <p:cNvPr id="10" name="TextBox 10"/>
            <p:cNvSpPr txBox="1"/>
            <p:nvPr/>
          </p:nvSpPr>
          <p:spPr>
            <a:xfrm>
              <a:off x="1328166" y="123920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商域流量</a:t>
              </a:r>
            </a:p>
          </p:txBody>
        </p:sp>
        <p:sp>
          <p:nvSpPr>
            <p:cNvPr id="11" name="Rectangle 11"/>
            <p:cNvSpPr/>
            <p:nvPr/>
          </p:nvSpPr>
          <p:spPr>
            <a:xfrm>
              <a:off x="495300" y="1543050"/>
              <a:ext cx="1066800" cy="247650"/>
            </a:xfrm>
            <a:prstGeom prst="roundRect">
              <a:avLst>
                <a:gd name="adj" fmla="val 11538"/>
              </a:avLst>
            </a:prstGeom>
            <a:solidFill>
              <a:srgbClr val="EEF0FB"/>
            </a:solidFill>
            <a:ln>
              <a:noFill/>
            </a:ln>
          </p:spPr>
        </p:sp>
        <p:sp>
          <p:nvSpPr>
            <p:cNvPr id="12" name="TextBox 12"/>
            <p:cNvSpPr txBox="1"/>
            <p:nvPr/>
          </p:nvSpPr>
          <p:spPr>
            <a:xfrm>
              <a:off x="792391" y="1621393"/>
              <a:ext cx="472618" cy="169069"/>
            </a:xfrm>
            <a:prstGeom prst="rect">
              <a:avLst/>
            </a:prstGeom>
            <a:noFill/>
            <a:ln>
              <a:noFill/>
            </a:ln>
          </p:spPr>
          <p:txBody>
            <a:bodyPr wrap="none" lIns="0" tIns="0" rIns="0" bIns="0" anchor="t" anchorCtr="0">
              <a:spAutoFit/>
            </a:bodyPr>
            <a:lstStyle/>
            <a:p>
              <a:pPr algn="ctr"/>
              <a:r>
                <a:rPr lang="zh-CN" sz="860" dirty="0">
                  <a:solidFill>
                    <a:srgbClr val="523F3B"/>
                  </a:solidFill>
                  <a:latin typeface="+mn-lt"/>
                  <a:ea typeface="+mn-ea"/>
                  <a:cs typeface="+mn-cs"/>
                </a:rPr>
                <a:t>开屏广告</a:t>
              </a:r>
            </a:p>
          </p:txBody>
        </p:sp>
        <p:sp>
          <p:nvSpPr>
            <p:cNvPr id="13" name="Rectangle 13"/>
            <p:cNvSpPr/>
            <p:nvPr/>
          </p:nvSpPr>
          <p:spPr>
            <a:xfrm>
              <a:off x="1638300" y="1543050"/>
              <a:ext cx="1066800" cy="247650"/>
            </a:xfrm>
            <a:prstGeom prst="roundRect">
              <a:avLst>
                <a:gd name="adj" fmla="val 11538"/>
              </a:avLst>
            </a:prstGeom>
            <a:solidFill>
              <a:srgbClr val="EEF0FB"/>
            </a:solidFill>
            <a:ln>
              <a:noFill/>
            </a:ln>
          </p:spPr>
        </p:sp>
        <p:sp>
          <p:nvSpPr>
            <p:cNvPr id="14" name="TextBox 14"/>
            <p:cNvSpPr txBox="1"/>
            <p:nvPr/>
          </p:nvSpPr>
          <p:spPr>
            <a:xfrm>
              <a:off x="1877504" y="1621393"/>
              <a:ext cx="588391" cy="169069"/>
            </a:xfrm>
            <a:prstGeom prst="rect">
              <a:avLst/>
            </a:prstGeom>
            <a:noFill/>
            <a:ln>
              <a:noFill/>
            </a:ln>
          </p:spPr>
          <p:txBody>
            <a:bodyPr wrap="none" lIns="0" tIns="0" rIns="0" bIns="0" anchor="t" anchorCtr="0">
              <a:spAutoFit/>
            </a:bodyPr>
            <a:lstStyle/>
            <a:p>
              <a:pPr algn="ctr"/>
              <a:r>
                <a:rPr lang="zh-CN" sz="860" dirty="0">
                  <a:solidFill>
                    <a:srgbClr val="523F3B"/>
                  </a:solidFill>
                  <a:latin typeface="+mn-lt"/>
                  <a:ea typeface="+mn-ea"/>
                  <a:cs typeface="+mn-cs"/>
                </a:rPr>
                <a:t>信息流广告</a:t>
              </a:r>
            </a:p>
          </p:txBody>
        </p:sp>
        <p:sp>
          <p:nvSpPr>
            <p:cNvPr id="15" name="Rectangle 15"/>
            <p:cNvSpPr/>
            <p:nvPr/>
          </p:nvSpPr>
          <p:spPr>
            <a:xfrm>
              <a:off x="2781300" y="1543050"/>
              <a:ext cx="1066800" cy="247650"/>
            </a:xfrm>
            <a:prstGeom prst="roundRect">
              <a:avLst>
                <a:gd name="adj" fmla="val 11538"/>
              </a:avLst>
            </a:prstGeom>
            <a:solidFill>
              <a:srgbClr val="EEF0FB"/>
            </a:solidFill>
            <a:ln>
              <a:noFill/>
            </a:ln>
          </p:spPr>
        </p:sp>
        <p:sp>
          <p:nvSpPr>
            <p:cNvPr id="16" name="TextBox 16"/>
            <p:cNvSpPr txBox="1"/>
            <p:nvPr/>
          </p:nvSpPr>
          <p:spPr>
            <a:xfrm>
              <a:off x="3020504" y="1621393"/>
              <a:ext cx="588391" cy="169069"/>
            </a:xfrm>
            <a:prstGeom prst="rect">
              <a:avLst/>
            </a:prstGeom>
            <a:noFill/>
            <a:ln>
              <a:noFill/>
            </a:ln>
          </p:spPr>
          <p:txBody>
            <a:bodyPr wrap="none" lIns="0" tIns="0" rIns="0" bIns="0" anchor="t" anchorCtr="0">
              <a:spAutoFit/>
            </a:bodyPr>
            <a:lstStyle/>
            <a:p>
              <a:pPr algn="ctr"/>
              <a:r>
                <a:rPr lang="zh-CN" sz="860" dirty="0">
                  <a:solidFill>
                    <a:srgbClr val="523F3B"/>
                  </a:solidFill>
                  <a:latin typeface="+mn-lt"/>
                  <a:ea typeface="+mn-ea"/>
                  <a:cs typeface="+mn-cs"/>
                </a:rPr>
                <a:t>发布会直播</a:t>
              </a:r>
            </a:p>
          </p:txBody>
        </p:sp>
        <p:sp>
          <p:nvSpPr>
            <p:cNvPr id="17" name="Freeform 17"/>
            <p:cNvSpPr/>
            <p:nvPr/>
          </p:nvSpPr>
          <p:spPr>
            <a:xfrm>
              <a:off x="2228850" y="1847850"/>
              <a:ext cx="9525" cy="304800"/>
            </a:xfrm>
            <a:custGeom>
              <a:avLst/>
              <a:gdLst/>
              <a:ahLst/>
              <a:cxnLst/>
              <a:rect l="l" t="t" r="r" b="b"/>
              <a:pathLst>
                <a:path w="9525" h="304800">
                  <a:moveTo>
                    <a:pt x="0" y="0"/>
                  </a:moveTo>
                  <a:lnTo>
                    <a:pt x="0" y="304800"/>
                  </a:lnTo>
                </a:path>
              </a:pathLst>
            </a:custGeom>
            <a:noFill/>
            <a:ln w="19050">
              <a:solidFill>
                <a:srgbClr val="DD988A"/>
              </a:solidFill>
              <a:tailEnd type="triangle" w="lg" len="lg"/>
            </a:ln>
          </p:spPr>
        </p:sp>
        <p:sp>
          <p:nvSpPr>
            <p:cNvPr id="18" name="Rectangle 18"/>
            <p:cNvSpPr/>
            <p:nvPr/>
          </p:nvSpPr>
          <p:spPr>
            <a:xfrm>
              <a:off x="419100" y="2209800"/>
              <a:ext cx="3619500" cy="304800"/>
            </a:xfrm>
            <a:prstGeom prst="rect">
              <a:avLst/>
            </a:prstGeom>
            <a:gradFill>
              <a:gsLst>
                <a:gs pos="0">
                  <a:srgbClr val="C1553F"/>
                </a:gs>
                <a:gs pos="100000">
                  <a:srgbClr val="CE897B"/>
                </a:gs>
              </a:gsLst>
              <a:lin ang="0" scaled="1"/>
            </a:gradFill>
            <a:ln>
              <a:noFill/>
            </a:ln>
          </p:spPr>
        </p:sp>
        <p:sp>
          <p:nvSpPr>
            <p:cNvPr id="19" name="TextBox 19"/>
            <p:cNvSpPr txBox="1"/>
            <p:nvPr/>
          </p:nvSpPr>
          <p:spPr>
            <a:xfrm>
              <a:off x="528066" y="2306002"/>
              <a:ext cx="488968" cy="205359"/>
            </a:xfrm>
            <a:prstGeom prst="rect">
              <a:avLst/>
            </a:prstGeom>
            <a:noFill/>
            <a:ln>
              <a:noFill/>
            </a:ln>
          </p:spPr>
          <p:txBody>
            <a:bodyPr wrap="none" lIns="0" tIns="0" rIns="0" bIns="0" anchor="t" anchorCtr="0">
              <a:spAutoFit/>
            </a:bodyPr>
            <a:lstStyle/>
            <a:p>
              <a:pPr algn="l"/>
              <a:r>
                <a:rPr lang="en-US" sz="1050" b="1" dirty="0">
                  <a:solidFill>
                    <a:srgbClr val="FFFFFF"/>
                  </a:solidFill>
                  <a:latin typeface="+mn-lt"/>
                  <a:ea typeface="+mn-ea"/>
                  <a:cs typeface="+mn-cs"/>
                </a:rPr>
                <a:t>STEP 2</a:t>
              </a:r>
            </a:p>
          </p:txBody>
        </p:sp>
        <p:sp>
          <p:nvSpPr>
            <p:cNvPr id="20" name="TextBox 20"/>
            <p:cNvSpPr txBox="1"/>
            <p:nvPr/>
          </p:nvSpPr>
          <p:spPr>
            <a:xfrm>
              <a:off x="1328166" y="230600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公域流量</a:t>
              </a:r>
            </a:p>
          </p:txBody>
        </p:sp>
        <p:sp>
          <p:nvSpPr>
            <p:cNvPr id="21" name="Rectangle 21"/>
            <p:cNvSpPr/>
            <p:nvPr/>
          </p:nvSpPr>
          <p:spPr>
            <a:xfrm>
              <a:off x="495300" y="2609850"/>
              <a:ext cx="1123950" cy="247650"/>
            </a:xfrm>
            <a:prstGeom prst="roundRect">
              <a:avLst>
                <a:gd name="adj" fmla="val 11538"/>
              </a:avLst>
            </a:prstGeom>
            <a:solidFill>
              <a:srgbClr val="EEF0FB"/>
            </a:solidFill>
            <a:ln>
              <a:noFill/>
            </a:ln>
          </p:spPr>
        </p:sp>
        <p:sp>
          <p:nvSpPr>
            <p:cNvPr id="22" name="TextBox 22"/>
            <p:cNvSpPr txBox="1"/>
            <p:nvPr/>
          </p:nvSpPr>
          <p:spPr>
            <a:xfrm>
              <a:off x="651042" y="2696289"/>
              <a:ext cx="812466" cy="154781"/>
            </a:xfrm>
            <a:prstGeom prst="rect">
              <a:avLst/>
            </a:prstGeom>
            <a:noFill/>
            <a:ln>
              <a:noFill/>
            </a:ln>
          </p:spPr>
          <p:txBody>
            <a:bodyPr wrap="none" lIns="0" tIns="0" rIns="0" bIns="0" anchor="t" anchorCtr="0">
              <a:spAutoFit/>
            </a:bodyPr>
            <a:lstStyle/>
            <a:p>
              <a:pPr algn="ctr"/>
              <a:r>
                <a:rPr lang="zh-CN" sz="790" dirty="0">
                  <a:solidFill>
                    <a:srgbClr val="523F3B"/>
                  </a:solidFill>
                  <a:latin typeface="+mn-lt"/>
                  <a:ea typeface="+mn-ea"/>
                  <a:cs typeface="+mn-cs"/>
                </a:rPr>
                <a:t>明星视频+购物车</a:t>
              </a:r>
            </a:p>
          </p:txBody>
        </p:sp>
        <p:sp>
          <p:nvSpPr>
            <p:cNvPr id="23" name="Rectangle 23"/>
            <p:cNvSpPr/>
            <p:nvPr/>
          </p:nvSpPr>
          <p:spPr>
            <a:xfrm>
              <a:off x="1695450" y="2609850"/>
              <a:ext cx="1123950" cy="247650"/>
            </a:xfrm>
            <a:prstGeom prst="roundRect">
              <a:avLst>
                <a:gd name="adj" fmla="val 11538"/>
              </a:avLst>
            </a:prstGeom>
            <a:solidFill>
              <a:srgbClr val="EEF0FB"/>
            </a:solidFill>
            <a:ln>
              <a:noFill/>
            </a:ln>
          </p:spPr>
        </p:sp>
        <p:sp>
          <p:nvSpPr>
            <p:cNvPr id="24" name="TextBox 24"/>
            <p:cNvSpPr txBox="1"/>
            <p:nvPr/>
          </p:nvSpPr>
          <p:spPr>
            <a:xfrm>
              <a:off x="1813970" y="2696289"/>
              <a:ext cx="886911" cy="154781"/>
            </a:xfrm>
            <a:prstGeom prst="rect">
              <a:avLst/>
            </a:prstGeom>
            <a:noFill/>
            <a:ln>
              <a:noFill/>
            </a:ln>
          </p:spPr>
          <p:txBody>
            <a:bodyPr wrap="none" lIns="0" tIns="0" rIns="0" bIns="0" anchor="t" anchorCtr="0">
              <a:spAutoFit/>
            </a:bodyPr>
            <a:lstStyle/>
            <a:p>
              <a:pPr algn="ctr"/>
              <a:r>
                <a:rPr lang="zh-CN" sz="790" dirty="0">
                  <a:solidFill>
                    <a:srgbClr val="523F3B"/>
                  </a:solidFill>
                  <a:latin typeface="+mn-lt"/>
                  <a:ea typeface="+mn-ea"/>
                  <a:cs typeface="+mn-cs"/>
                </a:rPr>
                <a:t>达人视频+内容link</a:t>
              </a:r>
            </a:p>
          </p:txBody>
        </p:sp>
        <p:sp>
          <p:nvSpPr>
            <p:cNvPr id="25" name="Rectangle 25"/>
            <p:cNvSpPr/>
            <p:nvPr/>
          </p:nvSpPr>
          <p:spPr>
            <a:xfrm>
              <a:off x="2895600" y="2609850"/>
              <a:ext cx="1143000" cy="247650"/>
            </a:xfrm>
            <a:prstGeom prst="roundRect">
              <a:avLst>
                <a:gd name="adj" fmla="val 11538"/>
              </a:avLst>
            </a:prstGeom>
            <a:solidFill>
              <a:srgbClr val="EEF0FB"/>
            </a:solidFill>
            <a:ln>
              <a:noFill/>
            </a:ln>
          </p:spPr>
        </p:sp>
        <p:sp>
          <p:nvSpPr>
            <p:cNvPr id="26" name="TextBox 26"/>
            <p:cNvSpPr txBox="1"/>
            <p:nvPr/>
          </p:nvSpPr>
          <p:spPr>
            <a:xfrm>
              <a:off x="3024146" y="2696289"/>
              <a:ext cx="885908" cy="154781"/>
            </a:xfrm>
            <a:prstGeom prst="rect">
              <a:avLst/>
            </a:prstGeom>
            <a:noFill/>
            <a:ln>
              <a:noFill/>
            </a:ln>
          </p:spPr>
          <p:txBody>
            <a:bodyPr wrap="none" lIns="0" tIns="0" rIns="0" bIns="0" anchor="t" anchorCtr="0">
              <a:spAutoFit/>
            </a:bodyPr>
            <a:lstStyle/>
            <a:p>
              <a:pPr algn="ctr"/>
              <a:r>
                <a:rPr lang="zh-CN" sz="790" dirty="0">
                  <a:solidFill>
                    <a:srgbClr val="523F3B"/>
                  </a:solidFill>
                  <a:latin typeface="+mn-lt"/>
                  <a:ea typeface="+mn-ea"/>
                  <a:cs typeface="+mn-cs"/>
                </a:rPr>
                <a:t>用户视频+门店POI</a:t>
              </a:r>
            </a:p>
          </p:txBody>
        </p:sp>
        <p:sp>
          <p:nvSpPr>
            <p:cNvPr id="27" name="Rectangle 27"/>
            <p:cNvSpPr/>
            <p:nvPr/>
          </p:nvSpPr>
          <p:spPr>
            <a:xfrm>
              <a:off x="495300" y="2952750"/>
              <a:ext cx="3543300" cy="247650"/>
            </a:xfrm>
            <a:prstGeom prst="roundRect">
              <a:avLst>
                <a:gd name="adj" fmla="val 11538"/>
              </a:avLst>
            </a:prstGeom>
            <a:solidFill>
              <a:srgbClr val="FFFFFF"/>
            </a:solidFill>
            <a:ln w="9525">
              <a:solidFill>
                <a:srgbClr val="C9CFEA"/>
              </a:solidFill>
            </a:ln>
          </p:spPr>
        </p:sp>
        <p:sp>
          <p:nvSpPr>
            <p:cNvPr id="28" name="TextBox 28"/>
            <p:cNvSpPr txBox="1"/>
            <p:nvPr/>
          </p:nvSpPr>
          <p:spPr>
            <a:xfrm>
              <a:off x="1553623" y="3031093"/>
              <a:ext cx="1426655"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企业员工发布视频+门店POI</a:t>
              </a:r>
            </a:p>
          </p:txBody>
        </p:sp>
        <p:sp>
          <p:nvSpPr>
            <p:cNvPr id="29" name="Rectangle 29"/>
            <p:cNvSpPr/>
            <p:nvPr/>
          </p:nvSpPr>
          <p:spPr>
            <a:xfrm>
              <a:off x="495300" y="3276600"/>
              <a:ext cx="3543300" cy="247650"/>
            </a:xfrm>
            <a:prstGeom prst="roundRect">
              <a:avLst>
                <a:gd name="adj" fmla="val 11538"/>
              </a:avLst>
            </a:prstGeom>
            <a:solidFill>
              <a:srgbClr val="FFFFFF"/>
            </a:solidFill>
            <a:ln w="9525">
              <a:solidFill>
                <a:srgbClr val="C9CFEA"/>
              </a:solidFill>
            </a:ln>
          </p:spPr>
        </p:sp>
        <p:sp>
          <p:nvSpPr>
            <p:cNvPr id="30" name="TextBox 30"/>
            <p:cNvSpPr txBox="1"/>
            <p:nvPr/>
          </p:nvSpPr>
          <p:spPr>
            <a:xfrm>
              <a:off x="1288437" y="3354943"/>
              <a:ext cx="1957027"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企业账户发布视频+发布会POI+购物车</a:t>
              </a:r>
            </a:p>
          </p:txBody>
        </p:sp>
        <p:sp>
          <p:nvSpPr>
            <p:cNvPr id="31" name="Rectangle 31"/>
            <p:cNvSpPr/>
            <p:nvPr/>
          </p:nvSpPr>
          <p:spPr>
            <a:xfrm>
              <a:off x="495300" y="3600450"/>
              <a:ext cx="3543300" cy="247650"/>
            </a:xfrm>
            <a:prstGeom prst="roundRect">
              <a:avLst>
                <a:gd name="adj" fmla="val 11538"/>
              </a:avLst>
            </a:prstGeom>
            <a:solidFill>
              <a:srgbClr val="FFFFFF"/>
            </a:solidFill>
            <a:ln w="9525">
              <a:solidFill>
                <a:srgbClr val="C9CFEA"/>
              </a:solidFill>
            </a:ln>
          </p:spPr>
        </p:sp>
        <p:sp>
          <p:nvSpPr>
            <p:cNvPr id="32" name="TextBox 32"/>
            <p:cNvSpPr txBox="1"/>
            <p:nvPr/>
          </p:nvSpPr>
          <p:spPr>
            <a:xfrm>
              <a:off x="1972754" y="3678793"/>
              <a:ext cx="588391"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挑战赛互动</a:t>
              </a:r>
            </a:p>
          </p:txBody>
        </p:sp>
        <p:sp>
          <p:nvSpPr>
            <p:cNvPr id="33" name="Freeform 33"/>
            <p:cNvSpPr/>
            <p:nvPr/>
          </p:nvSpPr>
          <p:spPr>
            <a:xfrm>
              <a:off x="4076700" y="2381250"/>
              <a:ext cx="190500" cy="9525"/>
            </a:xfrm>
            <a:custGeom>
              <a:avLst/>
              <a:gdLst/>
              <a:ahLst/>
              <a:cxnLst/>
              <a:rect l="l" t="t" r="r" b="b"/>
              <a:pathLst>
                <a:path w="190500" h="9525">
                  <a:moveTo>
                    <a:pt x="0" y="0"/>
                  </a:moveTo>
                  <a:lnTo>
                    <a:pt x="190500" y="0"/>
                  </a:lnTo>
                </a:path>
              </a:pathLst>
            </a:custGeom>
            <a:noFill/>
            <a:ln w="19050">
              <a:solidFill>
                <a:srgbClr val="DD988A"/>
              </a:solidFill>
              <a:tailEnd type="triangle" w="lg" len="lg"/>
            </a:ln>
          </p:spPr>
        </p:sp>
        <p:sp>
          <p:nvSpPr>
            <p:cNvPr id="34" name="Rectangle 34"/>
            <p:cNvSpPr/>
            <p:nvPr/>
          </p:nvSpPr>
          <p:spPr>
            <a:xfrm>
              <a:off x="4343400" y="1143000"/>
              <a:ext cx="3810000" cy="304800"/>
            </a:xfrm>
            <a:prstGeom prst="rect">
              <a:avLst/>
            </a:prstGeom>
            <a:gradFill>
              <a:gsLst>
                <a:gs pos="0">
                  <a:srgbClr val="C1553F"/>
                </a:gs>
                <a:gs pos="100000">
                  <a:srgbClr val="CE897B"/>
                </a:gs>
              </a:gsLst>
              <a:lin ang="0" scaled="1"/>
            </a:gradFill>
            <a:ln>
              <a:noFill/>
            </a:ln>
          </p:spPr>
        </p:sp>
        <p:sp>
          <p:nvSpPr>
            <p:cNvPr id="35" name="TextBox 35"/>
            <p:cNvSpPr txBox="1"/>
            <p:nvPr/>
          </p:nvSpPr>
          <p:spPr>
            <a:xfrm>
              <a:off x="4452366" y="1239202"/>
              <a:ext cx="488968" cy="205359"/>
            </a:xfrm>
            <a:prstGeom prst="rect">
              <a:avLst/>
            </a:prstGeom>
            <a:noFill/>
            <a:ln>
              <a:noFill/>
            </a:ln>
          </p:spPr>
          <p:txBody>
            <a:bodyPr wrap="none" lIns="0" tIns="0" rIns="0" bIns="0" anchor="t" anchorCtr="0">
              <a:spAutoFit/>
            </a:bodyPr>
            <a:lstStyle/>
            <a:p>
              <a:pPr algn="l"/>
              <a:r>
                <a:rPr lang="en-US" sz="1050" b="1" dirty="0">
                  <a:solidFill>
                    <a:srgbClr val="FFFFFF"/>
                  </a:solidFill>
                  <a:latin typeface="+mn-lt"/>
                  <a:ea typeface="+mn-ea"/>
                  <a:cs typeface="+mn-cs"/>
                </a:rPr>
                <a:t>STEP 3</a:t>
              </a:r>
            </a:p>
          </p:txBody>
        </p:sp>
        <p:sp>
          <p:nvSpPr>
            <p:cNvPr id="36" name="TextBox 36"/>
            <p:cNvSpPr txBox="1"/>
            <p:nvPr/>
          </p:nvSpPr>
          <p:spPr>
            <a:xfrm>
              <a:off x="5252466" y="123920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私域流量</a:t>
              </a:r>
            </a:p>
          </p:txBody>
        </p:sp>
        <p:sp>
          <p:nvSpPr>
            <p:cNvPr id="37" name="TextBox 37"/>
            <p:cNvSpPr txBox="1"/>
            <p:nvPr/>
          </p:nvSpPr>
          <p:spPr>
            <a:xfrm>
              <a:off x="5873378" y="1590199"/>
              <a:ext cx="750045" cy="190690"/>
            </a:xfrm>
            <a:prstGeom prst="rect">
              <a:avLst/>
            </a:prstGeom>
            <a:noFill/>
            <a:ln>
              <a:noFill/>
            </a:ln>
          </p:spPr>
          <p:txBody>
            <a:bodyPr wrap="none" lIns="0" tIns="0" rIns="0" bIns="0" anchor="t" anchorCtr="0">
              <a:spAutoFit/>
            </a:bodyPr>
            <a:lstStyle/>
            <a:p>
              <a:pPr algn="ctr"/>
              <a:r>
                <a:rPr lang="zh-CN" sz="980" b="1" dirty="0">
                  <a:solidFill>
                    <a:srgbClr val="C1553F"/>
                  </a:solidFill>
                  <a:latin typeface="+mn-lt"/>
                  <a:ea typeface="+mn-ea"/>
                  <a:cs typeface="+mn-cs"/>
                </a:rPr>
                <a:t>品牌蓝V主页</a:t>
              </a:r>
            </a:p>
          </p:txBody>
        </p:sp>
        <p:sp>
          <p:nvSpPr>
            <p:cNvPr id="38" name="Rectangle 38"/>
            <p:cNvSpPr/>
            <p:nvPr/>
          </p:nvSpPr>
          <p:spPr>
            <a:xfrm>
              <a:off x="4438650" y="1809750"/>
              <a:ext cx="3619500" cy="266700"/>
            </a:xfrm>
            <a:prstGeom prst="roundRect">
              <a:avLst>
                <a:gd name="adj" fmla="val 10714"/>
              </a:avLst>
            </a:prstGeom>
            <a:solidFill>
              <a:srgbClr val="EEF0FB"/>
            </a:solidFill>
            <a:ln>
              <a:noFill/>
            </a:ln>
          </p:spPr>
        </p:sp>
        <p:sp>
          <p:nvSpPr>
            <p:cNvPr id="39" name="TextBox 39"/>
            <p:cNvSpPr txBox="1"/>
            <p:nvPr/>
          </p:nvSpPr>
          <p:spPr>
            <a:xfrm>
              <a:off x="5780545" y="1897618"/>
              <a:ext cx="935711" cy="169069"/>
            </a:xfrm>
            <a:prstGeom prst="rect">
              <a:avLst/>
            </a:prstGeom>
            <a:noFill/>
            <a:ln>
              <a:noFill/>
            </a:ln>
          </p:spPr>
          <p:txBody>
            <a:bodyPr wrap="none" lIns="0" tIns="0" rIns="0" bIns="0" anchor="t" anchorCtr="0">
              <a:spAutoFit/>
            </a:bodyPr>
            <a:lstStyle/>
            <a:p>
              <a:pPr algn="ctr"/>
              <a:r>
                <a:rPr lang="zh-CN" sz="860" dirty="0">
                  <a:solidFill>
                    <a:srgbClr val="523F3B"/>
                  </a:solidFill>
                  <a:latin typeface="+mn-lt"/>
                  <a:ea typeface="+mn-ea"/>
                  <a:cs typeface="+mn-cs"/>
                </a:rPr>
                <a:t>品牌新品介绍头图</a:t>
              </a:r>
            </a:p>
          </p:txBody>
        </p:sp>
        <p:sp>
          <p:nvSpPr>
            <p:cNvPr id="40" name="Rectangle 40"/>
            <p:cNvSpPr/>
            <p:nvPr/>
          </p:nvSpPr>
          <p:spPr>
            <a:xfrm>
              <a:off x="4438650" y="2133600"/>
              <a:ext cx="3619500" cy="266700"/>
            </a:xfrm>
            <a:prstGeom prst="roundRect">
              <a:avLst>
                <a:gd name="adj" fmla="val 10714"/>
              </a:avLst>
            </a:prstGeom>
            <a:solidFill>
              <a:srgbClr val="EEF0FB"/>
            </a:solidFill>
            <a:ln>
              <a:noFill/>
            </a:ln>
          </p:spPr>
        </p:sp>
        <p:sp>
          <p:nvSpPr>
            <p:cNvPr id="41" name="TextBox 41"/>
            <p:cNvSpPr txBox="1"/>
            <p:nvPr/>
          </p:nvSpPr>
          <p:spPr>
            <a:xfrm>
              <a:off x="5575047" y="2221468"/>
              <a:ext cx="1346705" cy="169069"/>
            </a:xfrm>
            <a:prstGeom prst="rect">
              <a:avLst/>
            </a:prstGeom>
            <a:noFill/>
            <a:ln>
              <a:noFill/>
            </a:ln>
          </p:spPr>
          <p:txBody>
            <a:bodyPr wrap="none" lIns="0" tIns="0" rIns="0" bIns="0" anchor="t" anchorCtr="0">
              <a:spAutoFit/>
            </a:bodyPr>
            <a:lstStyle/>
            <a:p>
              <a:pPr algn="ctr"/>
              <a:r>
                <a:rPr lang="zh-CN" sz="860" dirty="0">
                  <a:solidFill>
                    <a:srgbClr val="523F3B"/>
                  </a:solidFill>
                  <a:latin typeface="+mn-lt"/>
                  <a:ea typeface="+mn-ea"/>
                  <a:cs typeface="+mn-cs"/>
                </a:rPr>
                <a:t>品牌官网链接/挑战赛话题</a:t>
              </a:r>
            </a:p>
          </p:txBody>
        </p:sp>
        <p:sp>
          <p:nvSpPr>
            <p:cNvPr id="42" name="Rectangle 42"/>
            <p:cNvSpPr/>
            <p:nvPr/>
          </p:nvSpPr>
          <p:spPr>
            <a:xfrm>
              <a:off x="4438650" y="2457450"/>
              <a:ext cx="3619500" cy="266700"/>
            </a:xfrm>
            <a:prstGeom prst="roundRect">
              <a:avLst>
                <a:gd name="adj" fmla="val 10714"/>
              </a:avLst>
            </a:prstGeom>
            <a:solidFill>
              <a:srgbClr val="EEF0FB"/>
            </a:solidFill>
            <a:ln>
              <a:noFill/>
            </a:ln>
          </p:spPr>
        </p:sp>
        <p:sp>
          <p:nvSpPr>
            <p:cNvPr id="43" name="TextBox 43"/>
            <p:cNvSpPr txBox="1"/>
            <p:nvPr/>
          </p:nvSpPr>
          <p:spPr>
            <a:xfrm>
              <a:off x="5722658" y="2545318"/>
              <a:ext cx="1051484" cy="169069"/>
            </a:xfrm>
            <a:prstGeom prst="rect">
              <a:avLst/>
            </a:prstGeom>
            <a:noFill/>
            <a:ln>
              <a:noFill/>
            </a:ln>
          </p:spPr>
          <p:txBody>
            <a:bodyPr wrap="none" lIns="0" tIns="0" rIns="0" bIns="0" anchor="t" anchorCtr="0">
              <a:spAutoFit/>
            </a:bodyPr>
            <a:lstStyle/>
            <a:p>
              <a:pPr algn="ctr"/>
              <a:r>
                <a:rPr lang="zh-CN" sz="860" dirty="0">
                  <a:solidFill>
                    <a:srgbClr val="523F3B"/>
                  </a:solidFill>
                  <a:latin typeface="+mn-lt"/>
                  <a:ea typeface="+mn-ea"/>
                  <a:cs typeface="+mn-cs"/>
                </a:rPr>
                <a:t>明星代言人定制视频</a:t>
              </a:r>
            </a:p>
          </p:txBody>
        </p:sp>
        <p:sp>
          <p:nvSpPr>
            <p:cNvPr id="44" name="Rectangle 44"/>
            <p:cNvSpPr/>
            <p:nvPr/>
          </p:nvSpPr>
          <p:spPr>
            <a:xfrm>
              <a:off x="4438650" y="2781300"/>
              <a:ext cx="3619500" cy="266700"/>
            </a:xfrm>
            <a:prstGeom prst="roundRect">
              <a:avLst>
                <a:gd name="adj" fmla="val 10714"/>
              </a:avLst>
            </a:prstGeom>
            <a:solidFill>
              <a:srgbClr val="EEF0FB"/>
            </a:solidFill>
            <a:ln>
              <a:noFill/>
            </a:ln>
          </p:spPr>
        </p:sp>
        <p:sp>
          <p:nvSpPr>
            <p:cNvPr id="45" name="TextBox 45"/>
            <p:cNvSpPr txBox="1"/>
            <p:nvPr/>
          </p:nvSpPr>
          <p:spPr>
            <a:xfrm>
              <a:off x="5780545" y="2869168"/>
              <a:ext cx="935711" cy="169069"/>
            </a:xfrm>
            <a:prstGeom prst="rect">
              <a:avLst/>
            </a:prstGeom>
            <a:noFill/>
            <a:ln>
              <a:noFill/>
            </a:ln>
          </p:spPr>
          <p:txBody>
            <a:bodyPr wrap="none" lIns="0" tIns="0" rIns="0" bIns="0" anchor="t" anchorCtr="0">
              <a:spAutoFit/>
            </a:bodyPr>
            <a:lstStyle/>
            <a:p>
              <a:pPr algn="ctr"/>
              <a:r>
                <a:rPr lang="zh-CN" sz="860" dirty="0">
                  <a:solidFill>
                    <a:srgbClr val="523F3B"/>
                  </a:solidFill>
                  <a:latin typeface="+mn-lt"/>
                  <a:ea typeface="+mn-ea"/>
                  <a:cs typeface="+mn-cs"/>
                </a:rPr>
                <a:t>品牌产品拍照教程</a:t>
              </a:r>
            </a:p>
          </p:txBody>
        </p:sp>
        <p:sp>
          <p:nvSpPr>
            <p:cNvPr id="46" name="Rectangle 46"/>
            <p:cNvSpPr/>
            <p:nvPr/>
          </p:nvSpPr>
          <p:spPr>
            <a:xfrm>
              <a:off x="4438650" y="3105150"/>
              <a:ext cx="3619500" cy="266700"/>
            </a:xfrm>
            <a:prstGeom prst="roundRect">
              <a:avLst>
                <a:gd name="adj" fmla="val 10714"/>
              </a:avLst>
            </a:prstGeom>
            <a:solidFill>
              <a:srgbClr val="EEF0FB"/>
            </a:solidFill>
            <a:ln>
              <a:noFill/>
            </a:ln>
          </p:spPr>
        </p:sp>
        <p:sp>
          <p:nvSpPr>
            <p:cNvPr id="47" name="TextBox 47"/>
            <p:cNvSpPr txBox="1"/>
            <p:nvPr/>
          </p:nvSpPr>
          <p:spPr>
            <a:xfrm>
              <a:off x="5543210" y="3193018"/>
              <a:ext cx="1410381" cy="169069"/>
            </a:xfrm>
            <a:prstGeom prst="rect">
              <a:avLst/>
            </a:prstGeom>
            <a:noFill/>
            <a:ln>
              <a:noFill/>
            </a:ln>
          </p:spPr>
          <p:txBody>
            <a:bodyPr wrap="none" lIns="0" tIns="0" rIns="0" bIns="0" anchor="t" anchorCtr="0">
              <a:spAutoFit/>
            </a:bodyPr>
            <a:lstStyle/>
            <a:p>
              <a:pPr algn="ctr"/>
              <a:r>
                <a:rPr lang="zh-CN" sz="860" dirty="0">
                  <a:solidFill>
                    <a:srgbClr val="523F3B"/>
                  </a:solidFill>
                  <a:latin typeface="+mn-lt"/>
                  <a:ea typeface="+mn-ea"/>
                  <a:cs typeface="+mn-cs"/>
                </a:rPr>
                <a:t>购物车/快闪店/小程序链接</a:t>
              </a:r>
            </a:p>
          </p:txBody>
        </p:sp>
      </p:grpSp>
      <p:grpSp>
        <p:nvGrpSpPr>
          <p:cNvPr id="71" name="app-layer"/>
          <p:cNvGrpSpPr/>
          <p:nvPr/>
        </p:nvGrpSpPr>
        <p:grpSpPr>
          <a:xfrm>
            <a:off x="8115300" y="704850"/>
            <a:ext cx="3810000" cy="4838700"/>
            <a:chOff x="8115300" y="704850"/>
            <a:chExt cx="3810000" cy="4838700"/>
          </a:xfrm>
        </p:grpSpPr>
        <p:sp>
          <p:nvSpPr>
            <p:cNvPr id="49" name="Freeform 49"/>
            <p:cNvSpPr/>
            <p:nvPr/>
          </p:nvSpPr>
          <p:spPr>
            <a:xfrm>
              <a:off x="8115300" y="1809750"/>
              <a:ext cx="266700" cy="9525"/>
            </a:xfrm>
            <a:custGeom>
              <a:avLst/>
              <a:gdLst/>
              <a:ahLst/>
              <a:cxnLst/>
              <a:rect l="l" t="t" r="r" b="b"/>
              <a:pathLst>
                <a:path w="266700" h="9525">
                  <a:moveTo>
                    <a:pt x="0" y="0"/>
                  </a:moveTo>
                  <a:lnTo>
                    <a:pt x="266700" y="0"/>
                  </a:lnTo>
                </a:path>
              </a:pathLst>
            </a:custGeom>
            <a:noFill/>
            <a:ln w="19050">
              <a:solidFill>
                <a:srgbClr val="DD988A"/>
              </a:solidFill>
              <a:tailEnd type="triangle" w="lg" len="lg"/>
            </a:ln>
          </p:spPr>
        </p:sp>
        <p:sp>
          <p:nvSpPr>
            <p:cNvPr id="50" name="Rectangle 50"/>
            <p:cNvSpPr/>
            <p:nvPr/>
          </p:nvSpPr>
          <p:spPr>
            <a:xfrm>
              <a:off x="8458200" y="838200"/>
              <a:ext cx="3467100" cy="4705350"/>
            </a:xfrm>
            <a:prstGeom prst="roundRect">
              <a:avLst>
                <a:gd name="adj" fmla="val 1648"/>
              </a:avLst>
            </a:prstGeom>
            <a:solidFill>
              <a:srgbClr val="FFFFFF"/>
            </a:solidFill>
            <a:ln w="9525">
              <a:solidFill>
                <a:srgbClr val="E5624C"/>
              </a:solidFill>
              <a:custDash>
                <a:ds d="600000" sp="400000"/>
              </a:custDash>
            </a:ln>
          </p:spPr>
        </p:sp>
        <p:sp>
          <p:nvSpPr>
            <p:cNvPr id="51" name="Rectangle 51"/>
            <p:cNvSpPr/>
            <p:nvPr/>
          </p:nvSpPr>
          <p:spPr>
            <a:xfrm>
              <a:off x="8610600" y="704850"/>
              <a:ext cx="952500" cy="266700"/>
            </a:xfrm>
            <a:prstGeom prst="roundRect">
              <a:avLst>
                <a:gd name="adj" fmla="val 50000"/>
              </a:avLst>
            </a:prstGeom>
            <a:solidFill>
              <a:srgbClr val="E5624C"/>
            </a:solidFill>
            <a:ln>
              <a:noFill/>
            </a:ln>
          </p:spPr>
        </p:sp>
        <p:sp>
          <p:nvSpPr>
            <p:cNvPr id="52" name="TextBox 52"/>
            <p:cNvSpPr txBox="1"/>
            <p:nvPr/>
          </p:nvSpPr>
          <p:spPr>
            <a:xfrm>
              <a:off x="8884006" y="78057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应用层</a:t>
              </a:r>
            </a:p>
          </p:txBody>
        </p:sp>
        <p:sp>
          <p:nvSpPr>
            <p:cNvPr id="53" name="Rectangle 53"/>
            <p:cNvSpPr/>
            <p:nvPr/>
          </p:nvSpPr>
          <p:spPr>
            <a:xfrm>
              <a:off x="8610600" y="1143000"/>
              <a:ext cx="3162300" cy="304800"/>
            </a:xfrm>
            <a:prstGeom prst="rect">
              <a:avLst/>
            </a:prstGeom>
            <a:gradFill>
              <a:gsLst>
                <a:gs pos="0">
                  <a:srgbClr val="E5624C"/>
                </a:gs>
                <a:gs pos="100000">
                  <a:srgbClr val="F0998A"/>
                </a:gs>
              </a:gsLst>
              <a:lin ang="0" scaled="1"/>
            </a:gradFill>
            <a:ln>
              <a:noFill/>
            </a:ln>
          </p:spPr>
        </p:sp>
        <p:sp>
          <p:nvSpPr>
            <p:cNvPr id="54" name="TextBox 54"/>
            <p:cNvSpPr txBox="1"/>
            <p:nvPr/>
          </p:nvSpPr>
          <p:spPr>
            <a:xfrm>
              <a:off x="9489065" y="1247299"/>
              <a:ext cx="140537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品牌线上购物车/小程序</a:t>
              </a:r>
            </a:p>
          </p:txBody>
        </p:sp>
        <p:sp>
          <p:nvSpPr>
            <p:cNvPr id="55" name="Rectangle 55"/>
            <p:cNvSpPr/>
            <p:nvPr/>
          </p:nvSpPr>
          <p:spPr>
            <a:xfrm>
              <a:off x="8610600" y="1543050"/>
              <a:ext cx="3162300" cy="266700"/>
            </a:xfrm>
            <a:prstGeom prst="roundRect">
              <a:avLst>
                <a:gd name="adj" fmla="val 10714"/>
              </a:avLst>
            </a:prstGeom>
            <a:solidFill>
              <a:srgbClr val="FDF2EF"/>
            </a:solidFill>
            <a:ln>
              <a:noFill/>
            </a:ln>
          </p:spPr>
        </p:sp>
        <p:sp>
          <p:nvSpPr>
            <p:cNvPr id="56" name="TextBox 56"/>
            <p:cNvSpPr txBox="1"/>
            <p:nvPr/>
          </p:nvSpPr>
          <p:spPr>
            <a:xfrm>
              <a:off x="9839668" y="1630918"/>
              <a:ext cx="70416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产品卖点介绍</a:t>
              </a:r>
            </a:p>
          </p:txBody>
        </p:sp>
        <p:sp>
          <p:nvSpPr>
            <p:cNvPr id="57" name="Rectangle 57"/>
            <p:cNvSpPr/>
            <p:nvPr/>
          </p:nvSpPr>
          <p:spPr>
            <a:xfrm>
              <a:off x="8610600" y="1866900"/>
              <a:ext cx="3162300" cy="266700"/>
            </a:xfrm>
            <a:prstGeom prst="roundRect">
              <a:avLst>
                <a:gd name="adj" fmla="val 10714"/>
              </a:avLst>
            </a:prstGeom>
            <a:solidFill>
              <a:srgbClr val="FDF2EF"/>
            </a:solidFill>
            <a:ln>
              <a:noFill/>
            </a:ln>
          </p:spPr>
        </p:sp>
        <p:sp>
          <p:nvSpPr>
            <p:cNvPr id="58" name="TextBox 58"/>
            <p:cNvSpPr txBox="1"/>
            <p:nvPr/>
          </p:nvSpPr>
          <p:spPr>
            <a:xfrm>
              <a:off x="9839668" y="1954768"/>
              <a:ext cx="70416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产品试玩体验</a:t>
              </a:r>
            </a:p>
          </p:txBody>
        </p:sp>
        <p:sp>
          <p:nvSpPr>
            <p:cNvPr id="59" name="Rectangle 59"/>
            <p:cNvSpPr/>
            <p:nvPr/>
          </p:nvSpPr>
          <p:spPr>
            <a:xfrm>
              <a:off x="8610600" y="2190750"/>
              <a:ext cx="3162300" cy="266700"/>
            </a:xfrm>
            <a:prstGeom prst="roundRect">
              <a:avLst>
                <a:gd name="adj" fmla="val 10714"/>
              </a:avLst>
            </a:prstGeom>
            <a:solidFill>
              <a:srgbClr val="FDF2EF"/>
            </a:solidFill>
            <a:ln>
              <a:noFill/>
            </a:ln>
          </p:spPr>
        </p:sp>
        <p:sp>
          <p:nvSpPr>
            <p:cNvPr id="60" name="TextBox 60"/>
            <p:cNvSpPr txBox="1"/>
            <p:nvPr/>
          </p:nvSpPr>
          <p:spPr>
            <a:xfrm>
              <a:off x="9897554" y="2278618"/>
              <a:ext cx="588391"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代言人展示</a:t>
              </a:r>
            </a:p>
          </p:txBody>
        </p:sp>
        <p:sp>
          <p:nvSpPr>
            <p:cNvPr id="61" name="Rectangle 61"/>
            <p:cNvSpPr/>
            <p:nvPr/>
          </p:nvSpPr>
          <p:spPr>
            <a:xfrm>
              <a:off x="8610600" y="2514600"/>
              <a:ext cx="3162300" cy="266700"/>
            </a:xfrm>
            <a:prstGeom prst="roundRect">
              <a:avLst>
                <a:gd name="adj" fmla="val 10714"/>
              </a:avLst>
            </a:prstGeom>
            <a:solidFill>
              <a:srgbClr val="FDF2EF"/>
            </a:solidFill>
            <a:ln>
              <a:noFill/>
            </a:ln>
          </p:spPr>
        </p:sp>
        <p:sp>
          <p:nvSpPr>
            <p:cNvPr id="62" name="TextBox 62"/>
            <p:cNvSpPr txBox="1"/>
            <p:nvPr/>
          </p:nvSpPr>
          <p:spPr>
            <a:xfrm>
              <a:off x="9955441" y="2602468"/>
              <a:ext cx="472618"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电商跳转</a:t>
              </a:r>
            </a:p>
          </p:txBody>
        </p:sp>
        <p:sp>
          <p:nvSpPr>
            <p:cNvPr id="63" name="Rectangle 63"/>
            <p:cNvSpPr/>
            <p:nvPr/>
          </p:nvSpPr>
          <p:spPr>
            <a:xfrm>
              <a:off x="8610600" y="3009900"/>
              <a:ext cx="3162300" cy="304800"/>
            </a:xfrm>
            <a:prstGeom prst="rect">
              <a:avLst/>
            </a:prstGeom>
            <a:gradFill>
              <a:gsLst>
                <a:gs pos="0">
                  <a:srgbClr val="E5624C"/>
                </a:gs>
                <a:gs pos="100000">
                  <a:srgbClr val="F0998A"/>
                </a:gs>
              </a:gsLst>
              <a:lin ang="0" scaled="1"/>
            </a:gradFill>
            <a:ln>
              <a:noFill/>
            </a:ln>
          </p:spPr>
        </p:sp>
        <p:sp>
          <p:nvSpPr>
            <p:cNvPr id="64" name="TextBox 64"/>
            <p:cNvSpPr txBox="1"/>
            <p:nvPr/>
          </p:nvSpPr>
          <p:spPr>
            <a:xfrm>
              <a:off x="9541995" y="3114199"/>
              <a:ext cx="129951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品牌线下门店POI页面</a:t>
              </a:r>
            </a:p>
          </p:txBody>
        </p:sp>
        <p:sp>
          <p:nvSpPr>
            <p:cNvPr id="65" name="Rectangle 65"/>
            <p:cNvSpPr/>
            <p:nvPr/>
          </p:nvSpPr>
          <p:spPr>
            <a:xfrm>
              <a:off x="8610600" y="3409950"/>
              <a:ext cx="3162300" cy="266700"/>
            </a:xfrm>
            <a:prstGeom prst="roundRect">
              <a:avLst>
                <a:gd name="adj" fmla="val 10714"/>
              </a:avLst>
            </a:prstGeom>
            <a:solidFill>
              <a:srgbClr val="FDF2EF"/>
            </a:solidFill>
            <a:ln>
              <a:noFill/>
            </a:ln>
          </p:spPr>
        </p:sp>
        <p:sp>
          <p:nvSpPr>
            <p:cNvPr id="66" name="TextBox 66"/>
            <p:cNvSpPr txBox="1"/>
            <p:nvPr/>
          </p:nvSpPr>
          <p:spPr>
            <a:xfrm>
              <a:off x="9762613" y="3497818"/>
              <a:ext cx="85827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新品介绍Banner</a:t>
              </a:r>
            </a:p>
          </p:txBody>
        </p:sp>
        <p:sp>
          <p:nvSpPr>
            <p:cNvPr id="67" name="Rectangle 67"/>
            <p:cNvSpPr/>
            <p:nvPr/>
          </p:nvSpPr>
          <p:spPr>
            <a:xfrm>
              <a:off x="8610600" y="3733800"/>
              <a:ext cx="3162300" cy="266700"/>
            </a:xfrm>
            <a:prstGeom prst="roundRect">
              <a:avLst>
                <a:gd name="adj" fmla="val 10714"/>
              </a:avLst>
            </a:prstGeom>
            <a:solidFill>
              <a:srgbClr val="FDF2EF"/>
            </a:solidFill>
            <a:ln>
              <a:noFill/>
            </a:ln>
          </p:spPr>
        </p:sp>
        <p:sp>
          <p:nvSpPr>
            <p:cNvPr id="68" name="TextBox 68"/>
            <p:cNvSpPr txBox="1"/>
            <p:nvPr/>
          </p:nvSpPr>
          <p:spPr>
            <a:xfrm>
              <a:off x="9723895" y="3821668"/>
              <a:ext cx="935711"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购机优惠领取入口</a:t>
              </a:r>
            </a:p>
          </p:txBody>
        </p:sp>
        <p:sp>
          <p:nvSpPr>
            <p:cNvPr id="69" name="Rectangle 69"/>
            <p:cNvSpPr/>
            <p:nvPr/>
          </p:nvSpPr>
          <p:spPr>
            <a:xfrm>
              <a:off x="8610600" y="4057650"/>
              <a:ext cx="3162300" cy="266700"/>
            </a:xfrm>
            <a:prstGeom prst="roundRect">
              <a:avLst>
                <a:gd name="adj" fmla="val 10714"/>
              </a:avLst>
            </a:prstGeom>
            <a:solidFill>
              <a:srgbClr val="FDF2EF"/>
            </a:solidFill>
            <a:ln>
              <a:noFill/>
            </a:ln>
          </p:spPr>
        </p:sp>
        <p:sp>
          <p:nvSpPr>
            <p:cNvPr id="70" name="TextBox 70"/>
            <p:cNvSpPr txBox="1"/>
            <p:nvPr/>
          </p:nvSpPr>
          <p:spPr>
            <a:xfrm>
              <a:off x="9955441" y="4145518"/>
              <a:ext cx="472618"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门店位置</a:t>
              </a:r>
            </a:p>
          </p:txBody>
        </p:sp>
      </p:grpSp>
      <p:grpSp>
        <p:nvGrpSpPr>
          <p:cNvPr id="83" name="convert-bar"/>
          <p:cNvGrpSpPr/>
          <p:nvPr/>
        </p:nvGrpSpPr>
        <p:grpSpPr>
          <a:xfrm>
            <a:off x="266700" y="5676900"/>
            <a:ext cx="11658600" cy="742950"/>
            <a:chOff x="266700" y="5676900"/>
            <a:chExt cx="11658600" cy="742950"/>
          </a:xfrm>
        </p:grpSpPr>
        <p:sp>
          <p:nvSpPr>
            <p:cNvPr id="72" name="Freeform 72"/>
            <p:cNvSpPr/>
            <p:nvPr/>
          </p:nvSpPr>
          <p:spPr>
            <a:xfrm>
              <a:off x="4171950" y="5676900"/>
              <a:ext cx="228600" cy="133350"/>
            </a:xfrm>
            <a:custGeom>
              <a:avLst/>
              <a:gdLst/>
              <a:ahLst/>
              <a:cxnLst/>
              <a:rect l="l" t="t" r="r" b="b"/>
              <a:pathLst>
                <a:path w="228600" h="133350">
                  <a:moveTo>
                    <a:pt x="0" y="133350"/>
                  </a:moveTo>
                  <a:lnTo>
                    <a:pt x="114300" y="0"/>
                  </a:lnTo>
                  <a:lnTo>
                    <a:pt x="228600" y="133350"/>
                  </a:lnTo>
                </a:path>
              </a:pathLst>
            </a:custGeom>
            <a:noFill/>
            <a:ln w="38100">
              <a:solidFill>
                <a:srgbClr val="C4624E"/>
              </a:solidFill>
            </a:ln>
          </p:spPr>
        </p:sp>
        <p:sp>
          <p:nvSpPr>
            <p:cNvPr id="73" name="Freeform 73"/>
            <p:cNvSpPr/>
            <p:nvPr/>
          </p:nvSpPr>
          <p:spPr>
            <a:xfrm>
              <a:off x="4171950" y="5791200"/>
              <a:ext cx="228600" cy="133350"/>
            </a:xfrm>
            <a:custGeom>
              <a:avLst/>
              <a:gdLst/>
              <a:ahLst/>
              <a:cxnLst/>
              <a:rect l="l" t="t" r="r" b="b"/>
              <a:pathLst>
                <a:path w="228600" h="133350">
                  <a:moveTo>
                    <a:pt x="0" y="133350"/>
                  </a:moveTo>
                  <a:lnTo>
                    <a:pt x="114300" y="0"/>
                  </a:lnTo>
                  <a:lnTo>
                    <a:pt x="228600" y="133350"/>
                  </a:lnTo>
                </a:path>
              </a:pathLst>
            </a:custGeom>
            <a:noFill/>
            <a:ln w="38100">
              <a:solidFill>
                <a:srgbClr val="C4624E"/>
              </a:solidFill>
            </a:ln>
          </p:spPr>
        </p:sp>
        <p:sp>
          <p:nvSpPr>
            <p:cNvPr id="74" name="Freeform 74"/>
            <p:cNvSpPr/>
            <p:nvPr/>
          </p:nvSpPr>
          <p:spPr>
            <a:xfrm>
              <a:off x="10039350" y="5676900"/>
              <a:ext cx="228600" cy="133350"/>
            </a:xfrm>
            <a:custGeom>
              <a:avLst/>
              <a:gdLst/>
              <a:ahLst/>
              <a:cxnLst/>
              <a:rect l="l" t="t" r="r" b="b"/>
              <a:pathLst>
                <a:path w="228600" h="133350">
                  <a:moveTo>
                    <a:pt x="0" y="133350"/>
                  </a:moveTo>
                  <a:lnTo>
                    <a:pt x="114300" y="0"/>
                  </a:lnTo>
                  <a:lnTo>
                    <a:pt x="228600" y="133350"/>
                  </a:lnTo>
                </a:path>
              </a:pathLst>
            </a:custGeom>
            <a:noFill/>
            <a:ln w="38100">
              <a:solidFill>
                <a:srgbClr val="E5624C"/>
              </a:solidFill>
            </a:ln>
          </p:spPr>
        </p:sp>
        <p:sp>
          <p:nvSpPr>
            <p:cNvPr id="75" name="Freeform 75"/>
            <p:cNvSpPr/>
            <p:nvPr/>
          </p:nvSpPr>
          <p:spPr>
            <a:xfrm>
              <a:off x="10039350" y="5791200"/>
              <a:ext cx="228600" cy="133350"/>
            </a:xfrm>
            <a:custGeom>
              <a:avLst/>
              <a:gdLst/>
              <a:ahLst/>
              <a:cxnLst/>
              <a:rect l="l" t="t" r="r" b="b"/>
              <a:pathLst>
                <a:path w="228600" h="133350">
                  <a:moveTo>
                    <a:pt x="0" y="133350"/>
                  </a:moveTo>
                  <a:lnTo>
                    <a:pt x="114300" y="0"/>
                  </a:lnTo>
                  <a:lnTo>
                    <a:pt x="228600" y="133350"/>
                  </a:lnTo>
                </a:path>
              </a:pathLst>
            </a:custGeom>
            <a:noFill/>
            <a:ln w="38100">
              <a:solidFill>
                <a:srgbClr val="E5624C"/>
              </a:solidFill>
            </a:ln>
          </p:spPr>
        </p:sp>
        <p:sp>
          <p:nvSpPr>
            <p:cNvPr id="76" name="Rectangle 76"/>
            <p:cNvSpPr/>
            <p:nvPr/>
          </p:nvSpPr>
          <p:spPr>
            <a:xfrm>
              <a:off x="266700" y="6019800"/>
              <a:ext cx="11658600" cy="400050"/>
            </a:xfrm>
            <a:prstGeom prst="roundRect">
              <a:avLst>
                <a:gd name="adj" fmla="val 9524"/>
              </a:avLst>
            </a:prstGeom>
            <a:solidFill>
              <a:srgbClr val="C1553F"/>
            </a:solidFill>
            <a:ln>
              <a:noFill/>
            </a:ln>
          </p:spPr>
        </p:sp>
        <p:grpSp>
          <p:nvGrpSpPr>
            <p:cNvPr id="81" name="Group 81"/>
            <p:cNvGrpSpPr/>
            <p:nvPr/>
          </p:nvGrpSpPr>
          <p:grpSpPr>
            <a:xfrm>
              <a:off x="3181350" y="6134100"/>
              <a:ext cx="152400" cy="171450"/>
              <a:chOff x="3181350" y="6134100"/>
              <a:chExt cx="152400" cy="171450"/>
            </a:xfrm>
          </p:grpSpPr>
          <p:sp>
            <p:nvSpPr>
              <p:cNvPr id="77" name="Freeform 77"/>
              <p:cNvSpPr/>
              <p:nvPr/>
            </p:nvSpPr>
            <p:spPr>
              <a:xfrm>
                <a:off x="3181350" y="62674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78" name="Freeform 78"/>
              <p:cNvSpPr/>
              <p:nvPr/>
            </p:nvSpPr>
            <p:spPr>
              <a:xfrm>
                <a:off x="3286125" y="62674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79" name="Freeform 79"/>
              <p:cNvSpPr/>
              <p:nvPr/>
            </p:nvSpPr>
            <p:spPr>
              <a:xfrm>
                <a:off x="3181350" y="6134100"/>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FFFFFF"/>
                </a:solidFill>
              </a:ln>
            </p:spPr>
          </p:sp>
          <p:sp>
            <p:nvSpPr>
              <p:cNvPr id="80" name="Freeform 80"/>
              <p:cNvSpPr/>
              <p:nvPr/>
            </p:nvSpPr>
            <p:spPr>
              <a:xfrm>
                <a:off x="3200400" y="6153150"/>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FFFFFF"/>
                </a:solidFill>
              </a:ln>
            </p:spPr>
          </p:sp>
        </p:grpSp>
        <p:sp>
          <p:nvSpPr>
            <p:cNvPr id="82" name="TextBox 82"/>
            <p:cNvSpPr txBox="1"/>
            <p:nvPr/>
          </p:nvSpPr>
          <p:spPr>
            <a:xfrm>
              <a:off x="4376545" y="6165056"/>
              <a:ext cx="343890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线上/线下销售转化(线上电商导流、线下门店优惠)</a:t>
              </a:r>
            </a:p>
          </p:txBody>
        </p:sp>
      </p:gr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683383" cy="440055"/>
            <a:chOff x="302895" y="214312"/>
            <a:chExt cx="2683383"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31.​</a:t>
              </a:r>
            </a:p>
          </p:txBody>
        </p:sp>
        <p:sp>
          <p:nvSpPr>
            <p:cNvPr id="3" name="TextBox 3"/>
            <p:cNvSpPr txBox="1"/>
            <p:nvPr/>
          </p:nvSpPr>
          <p:spPr>
            <a:xfrm>
              <a:off x="866394" y="246698"/>
              <a:ext cx="2119884"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跨境品牌海外破圈</a:t>
              </a:r>
            </a:p>
          </p:txBody>
        </p:sp>
      </p:grpSp>
      <p:grpSp>
        <p:nvGrpSpPr>
          <p:cNvPr id="24" name="month-timeline"/>
          <p:cNvGrpSpPr/>
          <p:nvPr/>
        </p:nvGrpSpPr>
        <p:grpSpPr>
          <a:xfrm>
            <a:off x="285750" y="857250"/>
            <a:ext cx="11372850" cy="799862"/>
            <a:chOff x="285750" y="857250"/>
            <a:chExt cx="11372850" cy="799862"/>
          </a:xfrm>
        </p:grpSpPr>
        <p:sp>
          <p:nvSpPr>
            <p:cNvPr id="5" name="Rectangle 5"/>
            <p:cNvSpPr/>
            <p:nvPr/>
          </p:nvSpPr>
          <p:spPr>
            <a:xfrm>
              <a:off x="685800" y="857250"/>
              <a:ext cx="666750" cy="247650"/>
            </a:xfrm>
            <a:prstGeom prst="roundRect">
              <a:avLst>
                <a:gd name="adj" fmla="val 15385"/>
              </a:avLst>
            </a:prstGeom>
            <a:gradFill>
              <a:gsLst>
                <a:gs pos="0">
                  <a:srgbClr val="E5624C"/>
                </a:gs>
                <a:gs pos="100000">
                  <a:srgbClr val="F0998A"/>
                </a:gs>
              </a:gsLst>
              <a:lin ang="0" scaled="1"/>
            </a:gradFill>
            <a:ln>
              <a:noFill/>
            </a:ln>
          </p:spPr>
        </p:sp>
        <p:sp>
          <p:nvSpPr>
            <p:cNvPr id="6" name="TextBox 6"/>
            <p:cNvSpPr txBox="1"/>
            <p:nvPr/>
          </p:nvSpPr>
          <p:spPr>
            <a:xfrm>
              <a:off x="893254" y="9315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一月</a:t>
              </a:r>
            </a:p>
          </p:txBody>
        </p:sp>
        <p:sp>
          <p:nvSpPr>
            <p:cNvPr id="7" name="Rectangle 7"/>
            <p:cNvSpPr/>
            <p:nvPr/>
          </p:nvSpPr>
          <p:spPr>
            <a:xfrm>
              <a:off x="2657475" y="857250"/>
              <a:ext cx="666750" cy="247650"/>
            </a:xfrm>
            <a:prstGeom prst="roundRect">
              <a:avLst>
                <a:gd name="adj" fmla="val 15385"/>
              </a:avLst>
            </a:prstGeom>
            <a:gradFill>
              <a:gsLst>
                <a:gs pos="0">
                  <a:srgbClr val="E5624C"/>
                </a:gs>
                <a:gs pos="100000">
                  <a:srgbClr val="F0998A"/>
                </a:gs>
              </a:gsLst>
              <a:lin ang="0" scaled="1"/>
            </a:gradFill>
            <a:ln>
              <a:noFill/>
            </a:ln>
          </p:spPr>
        </p:sp>
        <p:sp>
          <p:nvSpPr>
            <p:cNvPr id="8" name="TextBox 8"/>
            <p:cNvSpPr txBox="1"/>
            <p:nvPr/>
          </p:nvSpPr>
          <p:spPr>
            <a:xfrm>
              <a:off x="2864929" y="9315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四月</a:t>
              </a:r>
            </a:p>
          </p:txBody>
        </p:sp>
        <p:sp>
          <p:nvSpPr>
            <p:cNvPr id="9" name="Rectangle 9"/>
            <p:cNvSpPr/>
            <p:nvPr/>
          </p:nvSpPr>
          <p:spPr>
            <a:xfrm>
              <a:off x="4686300" y="857250"/>
              <a:ext cx="666750" cy="247650"/>
            </a:xfrm>
            <a:prstGeom prst="roundRect">
              <a:avLst>
                <a:gd name="adj" fmla="val 15385"/>
              </a:avLst>
            </a:prstGeom>
            <a:gradFill>
              <a:gsLst>
                <a:gs pos="0">
                  <a:srgbClr val="E5624C"/>
                </a:gs>
                <a:gs pos="100000">
                  <a:srgbClr val="F0998A"/>
                </a:gs>
              </a:gsLst>
              <a:lin ang="0" scaled="1"/>
            </a:gradFill>
            <a:ln>
              <a:noFill/>
            </a:ln>
          </p:spPr>
        </p:sp>
        <p:sp>
          <p:nvSpPr>
            <p:cNvPr id="10" name="TextBox 10"/>
            <p:cNvSpPr txBox="1"/>
            <p:nvPr/>
          </p:nvSpPr>
          <p:spPr>
            <a:xfrm>
              <a:off x="4893754" y="9315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六月</a:t>
              </a:r>
            </a:p>
          </p:txBody>
        </p:sp>
        <p:sp>
          <p:nvSpPr>
            <p:cNvPr id="11" name="Rectangle 11"/>
            <p:cNvSpPr/>
            <p:nvPr/>
          </p:nvSpPr>
          <p:spPr>
            <a:xfrm>
              <a:off x="6610350" y="857250"/>
              <a:ext cx="666750" cy="247650"/>
            </a:xfrm>
            <a:prstGeom prst="roundRect">
              <a:avLst>
                <a:gd name="adj" fmla="val 15385"/>
              </a:avLst>
            </a:prstGeom>
            <a:gradFill>
              <a:gsLst>
                <a:gs pos="0">
                  <a:srgbClr val="E5624C"/>
                </a:gs>
                <a:gs pos="100000">
                  <a:srgbClr val="F0998A"/>
                </a:gs>
              </a:gsLst>
              <a:lin ang="0" scaled="1"/>
            </a:gradFill>
            <a:ln>
              <a:noFill/>
            </a:ln>
          </p:spPr>
        </p:sp>
        <p:sp>
          <p:nvSpPr>
            <p:cNvPr id="12" name="TextBox 12"/>
            <p:cNvSpPr txBox="1"/>
            <p:nvPr/>
          </p:nvSpPr>
          <p:spPr>
            <a:xfrm>
              <a:off x="6817804" y="9315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八月</a:t>
              </a:r>
            </a:p>
          </p:txBody>
        </p:sp>
        <p:sp>
          <p:nvSpPr>
            <p:cNvPr id="13" name="Rectangle 13"/>
            <p:cNvSpPr/>
            <p:nvPr/>
          </p:nvSpPr>
          <p:spPr>
            <a:xfrm>
              <a:off x="8524875" y="857250"/>
              <a:ext cx="666750" cy="247650"/>
            </a:xfrm>
            <a:prstGeom prst="roundRect">
              <a:avLst>
                <a:gd name="adj" fmla="val 15385"/>
              </a:avLst>
            </a:prstGeom>
            <a:gradFill>
              <a:gsLst>
                <a:gs pos="0">
                  <a:srgbClr val="E5624C"/>
                </a:gs>
                <a:gs pos="100000">
                  <a:srgbClr val="F0998A"/>
                </a:gs>
              </a:gsLst>
              <a:lin ang="0" scaled="1"/>
            </a:gradFill>
            <a:ln>
              <a:noFill/>
            </a:ln>
          </p:spPr>
        </p:sp>
        <p:sp>
          <p:nvSpPr>
            <p:cNvPr id="14" name="TextBox 14"/>
            <p:cNvSpPr txBox="1"/>
            <p:nvPr/>
          </p:nvSpPr>
          <p:spPr>
            <a:xfrm>
              <a:off x="8722940" y="931545"/>
              <a:ext cx="27062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10月</a:t>
              </a:r>
            </a:p>
          </p:txBody>
        </p:sp>
        <p:sp>
          <p:nvSpPr>
            <p:cNvPr id="15" name="Rectangle 15"/>
            <p:cNvSpPr/>
            <p:nvPr/>
          </p:nvSpPr>
          <p:spPr>
            <a:xfrm>
              <a:off x="10391775" y="857250"/>
              <a:ext cx="666750" cy="247650"/>
            </a:xfrm>
            <a:prstGeom prst="roundRect">
              <a:avLst>
                <a:gd name="adj" fmla="val 15385"/>
              </a:avLst>
            </a:prstGeom>
            <a:gradFill>
              <a:gsLst>
                <a:gs pos="0">
                  <a:srgbClr val="E5624C"/>
                </a:gs>
                <a:gs pos="100000">
                  <a:srgbClr val="F0998A"/>
                </a:gs>
              </a:gsLst>
              <a:lin ang="0" scaled="1"/>
            </a:gradFill>
            <a:ln>
              <a:noFill/>
            </a:ln>
          </p:spPr>
        </p:sp>
        <p:sp>
          <p:nvSpPr>
            <p:cNvPr id="16" name="TextBox 16"/>
            <p:cNvSpPr txBox="1"/>
            <p:nvPr/>
          </p:nvSpPr>
          <p:spPr>
            <a:xfrm>
              <a:off x="10589840" y="931545"/>
              <a:ext cx="27062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12月</a:t>
              </a:r>
            </a:p>
          </p:txBody>
        </p:sp>
        <p:sp>
          <p:nvSpPr>
            <p:cNvPr id="17" name="Line 17"/>
            <p:cNvSpPr/>
            <p:nvPr/>
          </p:nvSpPr>
          <p:spPr>
            <a:xfrm>
              <a:off x="285750" y="1352550"/>
              <a:ext cx="11372850" cy="1"/>
            </a:xfrm>
            <a:prstGeom prst="line">
              <a:avLst/>
            </a:prstGeom>
            <a:noFill/>
            <a:ln w="14288">
              <a:solidFill>
                <a:srgbClr val="DD988A"/>
              </a:solidFill>
              <a:tailEnd type="triangle" w="lg" len="lg"/>
            </a:ln>
          </p:spPr>
        </p:sp>
        <p:sp>
          <p:nvSpPr>
            <p:cNvPr id="18" name="TextBox 18"/>
            <p:cNvSpPr txBox="1"/>
            <p:nvPr/>
          </p:nvSpPr>
          <p:spPr>
            <a:xfrm>
              <a:off x="782866" y="1488043"/>
              <a:ext cx="472618"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正式成立</a:t>
              </a:r>
            </a:p>
          </p:txBody>
        </p:sp>
        <p:sp>
          <p:nvSpPr>
            <p:cNvPr id="19" name="TextBox 19"/>
            <p:cNvSpPr txBox="1"/>
            <p:nvPr/>
          </p:nvSpPr>
          <p:spPr>
            <a:xfrm>
              <a:off x="2522995" y="1488043"/>
              <a:ext cx="935711"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入驻国外电商网站</a:t>
              </a:r>
            </a:p>
          </p:txBody>
        </p:sp>
        <p:sp>
          <p:nvSpPr>
            <p:cNvPr id="20" name="TextBox 20"/>
            <p:cNvSpPr txBox="1"/>
            <p:nvPr/>
          </p:nvSpPr>
          <p:spPr>
            <a:xfrm>
              <a:off x="4436046" y="1488043"/>
              <a:ext cx="1167257"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在芬兰德国成立分公司</a:t>
              </a:r>
            </a:p>
          </p:txBody>
        </p:sp>
        <p:sp>
          <p:nvSpPr>
            <p:cNvPr id="21" name="TextBox 21"/>
            <p:cNvSpPr txBox="1"/>
            <p:nvPr/>
          </p:nvSpPr>
          <p:spPr>
            <a:xfrm>
              <a:off x="6533756" y="1488043"/>
              <a:ext cx="819937"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正式入驻亚马逊</a:t>
              </a:r>
            </a:p>
          </p:txBody>
        </p:sp>
        <p:sp>
          <p:nvSpPr>
            <p:cNvPr id="22" name="TextBox 22"/>
            <p:cNvSpPr txBox="1"/>
            <p:nvPr/>
          </p:nvSpPr>
          <p:spPr>
            <a:xfrm>
              <a:off x="8358557" y="1488043"/>
              <a:ext cx="999386"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入驻欧洲5家线下店</a:t>
              </a:r>
            </a:p>
          </p:txBody>
        </p:sp>
        <p:sp>
          <p:nvSpPr>
            <p:cNvPr id="23" name="TextBox 23"/>
            <p:cNvSpPr txBox="1"/>
            <p:nvPr/>
          </p:nvSpPr>
          <p:spPr>
            <a:xfrm>
              <a:off x="10051797" y="1488043"/>
              <a:ext cx="1346705"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国际线销售额实现6倍增长</a:t>
              </a:r>
            </a:p>
          </p:txBody>
        </p:sp>
      </p:grpSp>
      <p:grpSp>
        <p:nvGrpSpPr>
          <p:cNvPr id="29" name="col-gene"/>
          <p:cNvGrpSpPr/>
          <p:nvPr/>
        </p:nvGrpSpPr>
        <p:grpSpPr>
          <a:xfrm>
            <a:off x="285750" y="1885950"/>
            <a:ext cx="3657600" cy="1943100"/>
            <a:chOff x="285750" y="1885950"/>
            <a:chExt cx="3657600" cy="1943100"/>
          </a:xfrm>
        </p:grpSpPr>
        <p:sp>
          <p:nvSpPr>
            <p:cNvPr id="25" name="Rectangle 25"/>
            <p:cNvSpPr/>
            <p:nvPr/>
          </p:nvSpPr>
          <p:spPr>
            <a:xfrm>
              <a:off x="285750" y="1885950"/>
              <a:ext cx="3657600" cy="342900"/>
            </a:xfrm>
            <a:prstGeom prst="rect">
              <a:avLst/>
            </a:prstGeom>
            <a:gradFill>
              <a:gsLst>
                <a:gs pos="0">
                  <a:srgbClr val="E5624C"/>
                </a:gs>
                <a:gs pos="100000">
                  <a:srgbClr val="F0998A"/>
                </a:gs>
              </a:gsLst>
              <a:lin ang="0" scaled="1"/>
            </a:gradFill>
            <a:ln>
              <a:noFill/>
            </a:ln>
          </p:spPr>
        </p:sp>
        <p:sp>
          <p:nvSpPr>
            <p:cNvPr id="26" name="TextBox 26"/>
            <p:cNvSpPr txBox="1"/>
            <p:nvPr/>
          </p:nvSpPr>
          <p:spPr>
            <a:xfrm>
              <a:off x="1261110" y="2001202"/>
              <a:ext cx="170688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定义品牌基因赋予独特内涵</a:t>
              </a:r>
            </a:p>
          </p:txBody>
        </p:sp>
        <p:sp>
          <p:nvSpPr>
            <p:cNvPr id="27" name="Rectangle 27"/>
            <p:cNvSpPr/>
            <p:nvPr/>
          </p:nvSpPr>
          <p:spPr>
            <a:xfrm>
              <a:off x="285750" y="2228850"/>
              <a:ext cx="3657600" cy="1600200"/>
            </a:xfrm>
            <a:prstGeom prst="rect">
              <a:avLst/>
            </a:prstGeom>
            <a:solidFill>
              <a:srgbClr val="FFFFFF"/>
            </a:solidFill>
            <a:ln w="9525">
              <a:solidFill>
                <a:srgbClr val="E4E7F5"/>
              </a:solidFill>
            </a:ln>
          </p:spPr>
        </p:sp>
        <p:sp>
          <p:nvSpPr>
            <p:cNvPr id="28" name="TextBox 28"/>
            <p:cNvSpPr txBox="1"/>
            <p:nvPr/>
          </p:nvSpPr>
          <p:spPr>
            <a:xfrm>
              <a:off x="433388" y="2444591"/>
              <a:ext cx="1660144" cy="752475"/>
            </a:xfrm>
            <a:prstGeom prst="rect">
              <a:avLst/>
            </a:prstGeom>
            <a:noFill/>
            <a:ln>
              <a:noFill/>
            </a:ln>
          </p:spPr>
          <p:txBody>
            <a:bodyPr wrap="none" lIns="0" tIns="0" rIns="0" bIns="0" anchor="t" anchorCtr="0">
              <a:spAutoFit/>
            </a:bodyPr>
            <a:lstStyle/>
            <a:p>
              <a:pPr algn="l" marL="88519" indent="-88519">
                <a:lnSpc>
                  <a:spcPts val="1350"/>
                </a:lnSpc>
                <a:buClr>
                  <a:srgbClr val="E5624C"/>
                </a:buClr>
                <a:buSzTx/>
                <a:buFontTx/>
                <a:buChar char="●"/>
              </a:pPr>
              <a:r>
                <a:rPr lang="zh-CN" sz="820" dirty="0">
                  <a:solidFill>
                    <a:srgbClr val="705F5B"/>
                  </a:solidFill>
                  <a:latin typeface="+mn-lt"/>
                  <a:ea typeface="+mn-ea"/>
                  <a:cs typeface="+mn-cs"/>
                </a:rPr>
                <a:t>定义品牌基因，为女性健康运动而</a:t>
              </a:r>
              <a:br/>
              <a:r>
                <a:rPr lang="zh-CN" sz="820" dirty="0">
                  <a:solidFill>
                    <a:srgbClr val="705F5B"/>
                  </a:solidFill>
                  <a:latin typeface="+mn-lt"/>
                  <a:ea typeface="+mn-ea"/>
                  <a:cs typeface="+mn-cs"/>
                </a:rPr>
                <a:t>生(One And Only， Dare To Be)</a:t>
              </a:r>
            </a:p>
            <a:p>
              <a:pPr algn="l" marL="88519" indent="-88519">
                <a:lnSpc>
                  <a:spcPts val="1350"/>
                </a:lnSpc>
                <a:spcBef>
                  <a:spcPts val="600"/>
                </a:spcBef>
                <a:buClr>
                  <a:srgbClr val="E5624C"/>
                </a:buClr>
                <a:buSzTx/>
                <a:buFontTx/>
                <a:buChar char="●"/>
              </a:pPr>
              <a:r>
                <a:rPr lang="zh-CN" sz="820" dirty="0">
                  <a:solidFill>
                    <a:srgbClr val="705F5B"/>
                  </a:solidFill>
                  <a:latin typeface="+mn-lt"/>
                  <a:ea typeface="+mn-ea"/>
                  <a:cs typeface="+mn-cs"/>
                </a:rPr>
                <a:t>赋予品牌精神内涵，让品牌成为消</a:t>
              </a:r>
              <a:br/>
              <a:r>
                <a:rPr lang="zh-CN" sz="820" dirty="0">
                  <a:solidFill>
                    <a:srgbClr val="705F5B"/>
                  </a:solidFill>
                  <a:latin typeface="+mn-lt"/>
                  <a:ea typeface="+mn-ea"/>
                  <a:cs typeface="+mn-cs"/>
                </a:rPr>
                <a:t>费者的"导师、辅助和朋友"</a:t>
              </a:r>
            </a:p>
          </p:txBody>
        </p:sp>
      </p:grpSp>
      <p:grpSp>
        <p:nvGrpSpPr>
          <p:cNvPr id="43" name="col-amazon"/>
          <p:cNvGrpSpPr/>
          <p:nvPr/>
        </p:nvGrpSpPr>
        <p:grpSpPr>
          <a:xfrm>
            <a:off x="4000500" y="1885950"/>
            <a:ext cx="4229100" cy="1943100"/>
            <a:chOff x="4000500" y="1885950"/>
            <a:chExt cx="4229100" cy="1943100"/>
          </a:xfrm>
        </p:grpSpPr>
        <p:sp>
          <p:nvSpPr>
            <p:cNvPr id="30" name="Rectangle 30"/>
            <p:cNvSpPr/>
            <p:nvPr/>
          </p:nvSpPr>
          <p:spPr>
            <a:xfrm>
              <a:off x="4000500" y="1885950"/>
              <a:ext cx="4229100" cy="342900"/>
            </a:xfrm>
            <a:prstGeom prst="rect">
              <a:avLst/>
            </a:prstGeom>
            <a:gradFill>
              <a:gsLst>
                <a:gs pos="0">
                  <a:srgbClr val="C1553F"/>
                </a:gs>
                <a:gs pos="100000">
                  <a:srgbClr val="CE897B"/>
                </a:gs>
              </a:gsLst>
              <a:lin ang="0" scaled="1"/>
            </a:gradFill>
            <a:ln>
              <a:noFill/>
            </a:ln>
          </p:spPr>
        </p:sp>
        <p:sp>
          <p:nvSpPr>
            <p:cNvPr id="31" name="TextBox 31"/>
            <p:cNvSpPr txBox="1"/>
            <p:nvPr/>
          </p:nvSpPr>
          <p:spPr>
            <a:xfrm>
              <a:off x="5261610" y="2001202"/>
              <a:ext cx="170688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借力亚马逊加速品牌全球化</a:t>
              </a:r>
            </a:p>
          </p:txBody>
        </p:sp>
        <p:sp>
          <p:nvSpPr>
            <p:cNvPr id="32" name="Rectangle 32"/>
            <p:cNvSpPr/>
            <p:nvPr/>
          </p:nvSpPr>
          <p:spPr>
            <a:xfrm>
              <a:off x="4000500" y="2228850"/>
              <a:ext cx="4229100" cy="1600200"/>
            </a:xfrm>
            <a:prstGeom prst="rect">
              <a:avLst/>
            </a:prstGeom>
            <a:solidFill>
              <a:srgbClr val="FFFFFF"/>
            </a:solidFill>
            <a:ln w="9525">
              <a:solidFill>
                <a:srgbClr val="E4E7F5"/>
              </a:solidFill>
            </a:ln>
          </p:spPr>
        </p:sp>
        <p:sp>
          <p:nvSpPr>
            <p:cNvPr id="33" name="TextBox 33"/>
            <p:cNvSpPr txBox="1"/>
            <p:nvPr/>
          </p:nvSpPr>
          <p:spPr>
            <a:xfrm>
              <a:off x="4247198" y="2398395"/>
              <a:ext cx="1221105" cy="176212"/>
            </a:xfrm>
            <a:prstGeom prst="rect">
              <a:avLst/>
            </a:prstGeom>
            <a:noFill/>
            <a:ln>
              <a:noFill/>
            </a:ln>
          </p:spPr>
          <p:txBody>
            <a:bodyPr wrap="none" lIns="0" tIns="0" rIns="0" bIns="0" anchor="t" anchorCtr="0">
              <a:spAutoFit/>
            </a:bodyPr>
            <a:lstStyle/>
            <a:p>
              <a:pPr algn="ctr"/>
              <a:r>
                <a:rPr lang="zh-CN" sz="900" b="1" dirty="0">
                  <a:solidFill>
                    <a:srgbClr val="523F3B"/>
                  </a:solidFill>
                  <a:latin typeface="+mn-lt"/>
                  <a:ea typeface="+mn-ea"/>
                  <a:cs typeface="+mn-cs"/>
                </a:rPr>
                <a:t>满足全天候的运动需求</a:t>
              </a:r>
            </a:p>
          </p:txBody>
        </p:sp>
        <p:sp>
          <p:nvSpPr>
            <p:cNvPr id="34" name="TextBox 34"/>
            <p:cNvSpPr txBox="1"/>
            <p:nvPr/>
          </p:nvSpPr>
          <p:spPr>
            <a:xfrm>
              <a:off x="6586918" y="2398395"/>
              <a:ext cx="1342263" cy="176212"/>
            </a:xfrm>
            <a:prstGeom prst="rect">
              <a:avLst/>
            </a:prstGeom>
            <a:noFill/>
            <a:ln>
              <a:noFill/>
            </a:ln>
          </p:spPr>
          <p:txBody>
            <a:bodyPr wrap="none" lIns="0" tIns="0" rIns="0" bIns="0" anchor="t" anchorCtr="0">
              <a:spAutoFit/>
            </a:bodyPr>
            <a:lstStyle/>
            <a:p>
              <a:pPr algn="ctr"/>
              <a:r>
                <a:rPr lang="zh-CN" sz="900" b="1" dirty="0">
                  <a:solidFill>
                    <a:srgbClr val="523F3B"/>
                  </a:solidFill>
                  <a:latin typeface="+mn-lt"/>
                  <a:ea typeface="+mn-ea"/>
                  <a:cs typeface="+mn-cs"/>
                </a:rPr>
                <a:t>场景营销深度链接消费者</a:t>
              </a:r>
            </a:p>
          </p:txBody>
        </p:sp>
        <p:sp>
          <p:nvSpPr>
            <p:cNvPr id="35" name="Rectangle 35"/>
            <p:cNvSpPr/>
            <p:nvPr/>
          </p:nvSpPr>
          <p:spPr>
            <a:xfrm>
              <a:off x="4191000" y="2609850"/>
              <a:ext cx="952500" cy="857250"/>
            </a:xfrm>
            <a:prstGeom prst="roundRect">
              <a:avLst>
                <a:gd name="adj" fmla="val 4444"/>
              </a:avLst>
            </a:prstGeom>
            <a:solidFill>
              <a:srgbClr val="EEF0FB"/>
            </a:solidFill>
            <a:ln w="9525">
              <a:solidFill>
                <a:srgbClr val="C9CFEA"/>
              </a:solidFill>
            </a:ln>
          </p:spPr>
        </p:sp>
        <p:sp>
          <p:nvSpPr>
            <p:cNvPr id="36" name="TextBox 36"/>
            <p:cNvSpPr txBox="1"/>
            <p:nvPr/>
          </p:nvSpPr>
          <p:spPr>
            <a:xfrm>
              <a:off x="4496905" y="3549491"/>
              <a:ext cx="340690"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高强度</a:t>
              </a:r>
            </a:p>
          </p:txBody>
        </p:sp>
        <p:sp>
          <p:nvSpPr>
            <p:cNvPr id="37" name="Rectangle 37"/>
            <p:cNvSpPr/>
            <p:nvPr/>
          </p:nvSpPr>
          <p:spPr>
            <a:xfrm>
              <a:off x="5219700" y="2609850"/>
              <a:ext cx="952500" cy="857250"/>
            </a:xfrm>
            <a:prstGeom prst="roundRect">
              <a:avLst>
                <a:gd name="adj" fmla="val 4444"/>
              </a:avLst>
            </a:prstGeom>
            <a:solidFill>
              <a:srgbClr val="EEF0FB"/>
            </a:solidFill>
            <a:ln w="9525">
              <a:solidFill>
                <a:srgbClr val="C9CFEA"/>
              </a:solidFill>
            </a:ln>
          </p:spPr>
        </p:sp>
        <p:sp>
          <p:nvSpPr>
            <p:cNvPr id="38" name="TextBox 38"/>
            <p:cNvSpPr txBox="1"/>
            <p:nvPr/>
          </p:nvSpPr>
          <p:spPr>
            <a:xfrm>
              <a:off x="5525605" y="3549491"/>
              <a:ext cx="340690"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中强度</a:t>
              </a:r>
            </a:p>
          </p:txBody>
        </p:sp>
        <p:sp>
          <p:nvSpPr>
            <p:cNvPr id="39" name="Rectangle 39"/>
            <p:cNvSpPr/>
            <p:nvPr/>
          </p:nvSpPr>
          <p:spPr>
            <a:xfrm>
              <a:off x="6248400" y="2609850"/>
              <a:ext cx="952500" cy="857250"/>
            </a:xfrm>
            <a:prstGeom prst="roundRect">
              <a:avLst>
                <a:gd name="adj" fmla="val 4444"/>
              </a:avLst>
            </a:prstGeom>
            <a:solidFill>
              <a:srgbClr val="EEF0FB"/>
            </a:solidFill>
            <a:ln w="9525">
              <a:solidFill>
                <a:srgbClr val="C9CFEA"/>
              </a:solidFill>
            </a:ln>
          </p:spPr>
        </p:sp>
        <p:sp>
          <p:nvSpPr>
            <p:cNvPr id="40" name="TextBox 40"/>
            <p:cNvSpPr txBox="1"/>
            <p:nvPr/>
          </p:nvSpPr>
          <p:spPr>
            <a:xfrm>
              <a:off x="6554305" y="3549491"/>
              <a:ext cx="340690"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低强度</a:t>
              </a:r>
            </a:p>
          </p:txBody>
        </p:sp>
        <p:sp>
          <p:nvSpPr>
            <p:cNvPr id="41" name="Rectangle 41"/>
            <p:cNvSpPr/>
            <p:nvPr/>
          </p:nvSpPr>
          <p:spPr>
            <a:xfrm>
              <a:off x="7277100" y="2609850"/>
              <a:ext cx="952500" cy="857250"/>
            </a:xfrm>
            <a:prstGeom prst="roundRect">
              <a:avLst>
                <a:gd name="adj" fmla="val 4444"/>
              </a:avLst>
            </a:prstGeom>
            <a:solidFill>
              <a:srgbClr val="EEF0FB"/>
            </a:solidFill>
            <a:ln w="9525">
              <a:solidFill>
                <a:srgbClr val="C9CFEA"/>
              </a:solidFill>
            </a:ln>
          </p:spPr>
        </p:sp>
        <p:sp>
          <p:nvSpPr>
            <p:cNvPr id="42" name="TextBox 42"/>
            <p:cNvSpPr txBox="1"/>
            <p:nvPr/>
          </p:nvSpPr>
          <p:spPr>
            <a:xfrm>
              <a:off x="7638199" y="3549491"/>
              <a:ext cx="230302"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休闲</a:t>
              </a:r>
            </a:p>
          </p:txBody>
        </p:sp>
      </p:grpSp>
      <p:grpSp>
        <p:nvGrpSpPr>
          <p:cNvPr id="48" name="col-marketing"/>
          <p:cNvGrpSpPr/>
          <p:nvPr/>
        </p:nvGrpSpPr>
        <p:grpSpPr>
          <a:xfrm>
            <a:off x="8286750" y="1885950"/>
            <a:ext cx="3676650" cy="1943100"/>
            <a:chOff x="8286750" y="1885950"/>
            <a:chExt cx="3676650" cy="1943100"/>
          </a:xfrm>
        </p:grpSpPr>
        <p:sp>
          <p:nvSpPr>
            <p:cNvPr id="44" name="Rectangle 44"/>
            <p:cNvSpPr/>
            <p:nvPr/>
          </p:nvSpPr>
          <p:spPr>
            <a:xfrm>
              <a:off x="8286750" y="1885950"/>
              <a:ext cx="3676650" cy="342900"/>
            </a:xfrm>
            <a:prstGeom prst="rect">
              <a:avLst/>
            </a:prstGeom>
            <a:gradFill>
              <a:gsLst>
                <a:gs pos="0">
                  <a:srgbClr val="C1553F"/>
                </a:gs>
                <a:gs pos="100000">
                  <a:srgbClr val="CE897B"/>
                </a:gs>
              </a:gsLst>
              <a:lin ang="0" scaled="1"/>
            </a:gradFill>
            <a:ln>
              <a:noFill/>
            </a:ln>
          </p:spPr>
        </p:sp>
        <p:sp>
          <p:nvSpPr>
            <p:cNvPr id="45" name="TextBox 45"/>
            <p:cNvSpPr txBox="1"/>
            <p:nvPr/>
          </p:nvSpPr>
          <p:spPr>
            <a:xfrm>
              <a:off x="9412986" y="2001202"/>
              <a:ext cx="142417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营销升级塑造品牌形象</a:t>
              </a:r>
            </a:p>
          </p:txBody>
        </p:sp>
        <p:sp>
          <p:nvSpPr>
            <p:cNvPr id="46" name="Rectangle 46"/>
            <p:cNvSpPr/>
            <p:nvPr/>
          </p:nvSpPr>
          <p:spPr>
            <a:xfrm>
              <a:off x="8286750" y="2228850"/>
              <a:ext cx="3676650" cy="1600200"/>
            </a:xfrm>
            <a:prstGeom prst="rect">
              <a:avLst/>
            </a:prstGeom>
            <a:solidFill>
              <a:srgbClr val="FFFFFF"/>
            </a:solidFill>
            <a:ln w="9525">
              <a:solidFill>
                <a:srgbClr val="E4E7F5"/>
              </a:solidFill>
            </a:ln>
          </p:spPr>
        </p:sp>
        <p:sp>
          <p:nvSpPr>
            <p:cNvPr id="47" name="TextBox 47"/>
            <p:cNvSpPr txBox="1"/>
            <p:nvPr/>
          </p:nvSpPr>
          <p:spPr>
            <a:xfrm>
              <a:off x="8434388" y="2444591"/>
              <a:ext cx="1988185" cy="752475"/>
            </a:xfrm>
            <a:prstGeom prst="rect">
              <a:avLst/>
            </a:prstGeom>
            <a:noFill/>
            <a:ln>
              <a:noFill/>
            </a:ln>
          </p:spPr>
          <p:txBody>
            <a:bodyPr wrap="none" lIns="0" tIns="0" rIns="0" bIns="0" anchor="t" anchorCtr="0">
              <a:spAutoFit/>
            </a:bodyPr>
            <a:lstStyle/>
            <a:p>
              <a:pPr algn="l" marL="88519" indent="-88519">
                <a:lnSpc>
                  <a:spcPts val="1350"/>
                </a:lnSpc>
                <a:buClr>
                  <a:srgbClr val="C1553F"/>
                </a:buClr>
                <a:buSzTx/>
                <a:buFontTx/>
                <a:buChar char="●"/>
              </a:pPr>
              <a:r>
                <a:rPr lang="zh-CN" sz="820" dirty="0">
                  <a:solidFill>
                    <a:srgbClr val="705F5B"/>
                  </a:solidFill>
                  <a:latin typeface="+mn-lt"/>
                  <a:ea typeface="+mn-ea"/>
                  <a:cs typeface="+mn-cs"/>
                </a:rPr>
                <a:t>借助常规的KOC、KOL合作投放赛事</a:t>
              </a:r>
              <a:br/>
              <a:r>
                <a:rPr lang="zh-CN" sz="820" dirty="0">
                  <a:solidFill>
                    <a:srgbClr val="705F5B"/>
                  </a:solidFill>
                  <a:latin typeface="+mn-lt"/>
                  <a:ea typeface="+mn-ea"/>
                  <a:cs typeface="+mn-cs"/>
                </a:rPr>
                <a:t>赞助、跑团或运动团体赞助</a:t>
              </a:r>
            </a:p>
            <a:p>
              <a:pPr algn="l" marL="88519" indent="-88519">
                <a:lnSpc>
                  <a:spcPts val="1350"/>
                </a:lnSpc>
                <a:spcBef>
                  <a:spcPts val="600"/>
                </a:spcBef>
                <a:buClr>
                  <a:srgbClr val="C1553F"/>
                </a:buClr>
                <a:buSzTx/>
                <a:buFontTx/>
                <a:buChar char="●"/>
              </a:pPr>
              <a:r>
                <a:rPr lang="zh-CN" sz="820" dirty="0">
                  <a:solidFill>
                    <a:srgbClr val="705F5B"/>
                  </a:solidFill>
                  <a:latin typeface="+mn-lt"/>
                  <a:ea typeface="+mn-ea"/>
                  <a:cs typeface="+mn-cs"/>
                </a:rPr>
                <a:t>在芬兰开设First Show走秀活动矩阵</a:t>
              </a:r>
              <a:br/>
              <a:r>
                <a:rPr lang="zh-CN" sz="820" dirty="0">
                  <a:solidFill>
                    <a:srgbClr val="705F5B"/>
                  </a:solidFill>
                  <a:latin typeface="+mn-lt"/>
                  <a:ea typeface="+mn-ea"/>
                  <a:cs typeface="+mn-cs"/>
                </a:rPr>
                <a:t>式传播扩大声量，当天粉丝上涨将近一倍多</a:t>
              </a:r>
            </a:p>
          </p:txBody>
        </p:sp>
      </p:grpSp>
      <p:grpSp>
        <p:nvGrpSpPr>
          <p:cNvPr id="74" name="insight-venn"/>
          <p:cNvGrpSpPr/>
          <p:nvPr/>
        </p:nvGrpSpPr>
        <p:grpSpPr>
          <a:xfrm>
            <a:off x="1143000" y="4417695"/>
            <a:ext cx="9906000" cy="2173605"/>
            <a:chOff x="1143000" y="4417695"/>
            <a:chExt cx="9906000" cy="2173605"/>
          </a:xfrm>
        </p:grpSpPr>
        <p:sp>
          <p:nvSpPr>
            <p:cNvPr id="49" name="venn-arc"/>
            <p:cNvSpPr/>
            <p:nvPr/>
          </p:nvSpPr>
          <p:spPr>
            <a:xfrm>
              <a:off x="1143000" y="4737100"/>
              <a:ext cx="9906000" cy="1854200"/>
            </a:xfrm>
            <a:custGeom>
              <a:avLst/>
              <a:gdLst/>
              <a:ahLst/>
              <a:cxnLst/>
              <a:rect l="l" t="t" r="r" b="b"/>
              <a:pathLst>
                <a:path w="9906000" h="1854200">
                  <a:moveTo>
                    <a:pt x="0" y="1854200"/>
                  </a:moveTo>
                  <a:cubicBezTo>
                    <a:pt x="3302000" y="0"/>
                    <a:pt x="6604000" y="0"/>
                    <a:pt x="9906000" y="1854200"/>
                  </a:cubicBezTo>
                </a:path>
              </a:pathLst>
            </a:custGeom>
            <a:noFill/>
            <a:ln w="14288">
              <a:solidFill>
                <a:srgbClr val="C9CFEA"/>
              </a:solidFill>
              <a:prstDash val="dash"/>
            </a:ln>
          </p:spPr>
        </p:sp>
        <p:sp>
          <p:nvSpPr>
            <p:cNvPr id="50" name="TextBox 50"/>
            <p:cNvSpPr txBox="1"/>
            <p:nvPr/>
          </p:nvSpPr>
          <p:spPr>
            <a:xfrm>
              <a:off x="2671585" y="4425791"/>
              <a:ext cx="1886128" cy="161925"/>
            </a:xfrm>
            <a:prstGeom prst="rect">
              <a:avLst/>
            </a:prstGeom>
            <a:noFill/>
            <a:ln>
              <a:noFill/>
            </a:ln>
          </p:spPr>
          <p:txBody>
            <a:bodyPr wrap="none" lIns="0" tIns="0" rIns="0" bIns="0" anchor="t" anchorCtr="0">
              <a:spAutoFit/>
            </a:bodyPr>
            <a:lstStyle/>
            <a:p>
              <a:pPr algn="r"/>
              <a:r>
                <a:rPr lang="zh-CN" sz="820" dirty="0">
                  <a:solidFill>
                    <a:srgbClr val="705F5B"/>
                  </a:solidFill>
                  <a:latin typeface="+mn-lt"/>
                  <a:ea typeface="+mn-ea"/>
                  <a:cs typeface="+mn-cs"/>
                </a:rPr>
                <a:t>为全球女性提供健康、舒适的专业内衣</a:t>
              </a:r>
            </a:p>
          </p:txBody>
        </p:sp>
        <p:sp>
          <p:nvSpPr>
            <p:cNvPr id="51" name="TextBox 51"/>
            <p:cNvSpPr txBox="1"/>
            <p:nvPr/>
          </p:nvSpPr>
          <p:spPr>
            <a:xfrm>
              <a:off x="4643438" y="4417695"/>
              <a:ext cx="251841"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定位</a:t>
              </a:r>
            </a:p>
          </p:txBody>
        </p:sp>
        <p:sp>
          <p:nvSpPr>
            <p:cNvPr id="52" name="TextBox 52"/>
            <p:cNvSpPr txBox="1"/>
            <p:nvPr/>
          </p:nvSpPr>
          <p:spPr>
            <a:xfrm>
              <a:off x="2892361" y="4806791"/>
              <a:ext cx="1665351" cy="161925"/>
            </a:xfrm>
            <a:prstGeom prst="rect">
              <a:avLst/>
            </a:prstGeom>
            <a:noFill/>
            <a:ln>
              <a:noFill/>
            </a:ln>
          </p:spPr>
          <p:txBody>
            <a:bodyPr wrap="none" lIns="0" tIns="0" rIns="0" bIns="0" anchor="t" anchorCtr="0">
              <a:spAutoFit/>
            </a:bodyPr>
            <a:lstStyle/>
            <a:p>
              <a:pPr algn="r"/>
              <a:r>
                <a:rPr lang="zh-CN" sz="820" dirty="0">
                  <a:solidFill>
                    <a:srgbClr val="705F5B"/>
                  </a:solidFill>
                  <a:latin typeface="+mn-lt"/>
                  <a:ea typeface="+mn-ea"/>
                  <a:cs typeface="+mn-cs"/>
                </a:rPr>
                <a:t>人员至少有一人具有本土生活经历</a:t>
              </a:r>
            </a:p>
          </p:txBody>
        </p:sp>
        <p:sp>
          <p:nvSpPr>
            <p:cNvPr id="53" name="TextBox 53"/>
            <p:cNvSpPr txBox="1"/>
            <p:nvPr/>
          </p:nvSpPr>
          <p:spPr>
            <a:xfrm>
              <a:off x="4643438" y="4798695"/>
              <a:ext cx="251841"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本土</a:t>
              </a:r>
            </a:p>
          </p:txBody>
        </p:sp>
        <p:sp>
          <p:nvSpPr>
            <p:cNvPr id="54" name="TextBox 54"/>
            <p:cNvSpPr txBox="1"/>
            <p:nvPr/>
          </p:nvSpPr>
          <p:spPr>
            <a:xfrm>
              <a:off x="3041386" y="5187791"/>
              <a:ext cx="1516327" cy="161925"/>
            </a:xfrm>
            <a:prstGeom prst="rect">
              <a:avLst/>
            </a:prstGeom>
            <a:noFill/>
            <a:ln>
              <a:noFill/>
            </a:ln>
          </p:spPr>
          <p:txBody>
            <a:bodyPr wrap="none" lIns="0" tIns="0" rIns="0" bIns="0" anchor="t" anchorCtr="0">
              <a:spAutoFit/>
            </a:bodyPr>
            <a:lstStyle/>
            <a:p>
              <a:pPr algn="r"/>
              <a:r>
                <a:rPr lang="zh-CN" sz="820" dirty="0">
                  <a:solidFill>
                    <a:srgbClr val="705F5B"/>
                  </a:solidFill>
                  <a:latin typeface="+mn-lt"/>
                  <a:ea typeface="+mn-ea"/>
                  <a:cs typeface="+mn-cs"/>
                </a:rPr>
                <a:t>摒弃无尺码，60+细化尺码选择</a:t>
              </a:r>
            </a:p>
          </p:txBody>
        </p:sp>
        <p:sp>
          <p:nvSpPr>
            <p:cNvPr id="55" name="TextBox 55"/>
            <p:cNvSpPr txBox="1"/>
            <p:nvPr/>
          </p:nvSpPr>
          <p:spPr>
            <a:xfrm>
              <a:off x="4643438" y="5179695"/>
              <a:ext cx="251841"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差异</a:t>
              </a:r>
            </a:p>
          </p:txBody>
        </p:sp>
        <p:sp>
          <p:nvSpPr>
            <p:cNvPr id="56" name="TextBox 56"/>
            <p:cNvSpPr txBox="1"/>
            <p:nvPr/>
          </p:nvSpPr>
          <p:spPr>
            <a:xfrm>
              <a:off x="3223527" y="5568791"/>
              <a:ext cx="1334186" cy="161925"/>
            </a:xfrm>
            <a:prstGeom prst="rect">
              <a:avLst/>
            </a:prstGeom>
            <a:noFill/>
            <a:ln>
              <a:noFill/>
            </a:ln>
          </p:spPr>
          <p:txBody>
            <a:bodyPr wrap="none" lIns="0" tIns="0" rIns="0" bIns="0" anchor="t" anchorCtr="0">
              <a:spAutoFit/>
            </a:bodyPr>
            <a:lstStyle/>
            <a:p>
              <a:pPr algn="r"/>
              <a:r>
                <a:rPr lang="zh-CN" sz="820" dirty="0">
                  <a:solidFill>
                    <a:srgbClr val="705F5B"/>
                  </a:solidFill>
                  <a:latin typeface="+mn-lt"/>
                  <a:ea typeface="+mn-ea"/>
                  <a:cs typeface="+mn-cs"/>
                </a:rPr>
                <a:t>可拆卸、工字背扣功能升级</a:t>
              </a:r>
            </a:p>
          </p:txBody>
        </p:sp>
        <p:sp>
          <p:nvSpPr>
            <p:cNvPr id="57" name="TextBox 57"/>
            <p:cNvSpPr txBox="1"/>
            <p:nvPr/>
          </p:nvSpPr>
          <p:spPr>
            <a:xfrm>
              <a:off x="4643438" y="5560695"/>
              <a:ext cx="251841"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功能</a:t>
              </a:r>
            </a:p>
          </p:txBody>
        </p:sp>
        <p:sp>
          <p:nvSpPr>
            <p:cNvPr id="58" name="TextBox 58"/>
            <p:cNvSpPr txBox="1"/>
            <p:nvPr/>
          </p:nvSpPr>
          <p:spPr>
            <a:xfrm>
              <a:off x="7519988" y="4417695"/>
              <a:ext cx="251841"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态度</a:t>
              </a:r>
            </a:p>
          </p:txBody>
        </p:sp>
        <p:sp>
          <p:nvSpPr>
            <p:cNvPr id="59" name="TextBox 59"/>
            <p:cNvSpPr txBox="1"/>
            <p:nvPr/>
          </p:nvSpPr>
          <p:spPr>
            <a:xfrm>
              <a:off x="7900988" y="4425791"/>
              <a:ext cx="1886128"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表达舒适、运动、环保的健康生活方式</a:t>
              </a:r>
            </a:p>
          </p:txBody>
        </p:sp>
        <p:sp>
          <p:nvSpPr>
            <p:cNvPr id="60" name="TextBox 60"/>
            <p:cNvSpPr txBox="1"/>
            <p:nvPr/>
          </p:nvSpPr>
          <p:spPr>
            <a:xfrm>
              <a:off x="7519988" y="4798695"/>
              <a:ext cx="251841"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场景</a:t>
              </a:r>
            </a:p>
          </p:txBody>
        </p:sp>
        <p:sp>
          <p:nvSpPr>
            <p:cNvPr id="61" name="TextBox 61"/>
            <p:cNvSpPr txBox="1"/>
            <p:nvPr/>
          </p:nvSpPr>
          <p:spPr>
            <a:xfrm>
              <a:off x="7900988" y="4806791"/>
              <a:ext cx="1665351"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全系列产品覆盖中高强度运动场景</a:t>
              </a:r>
            </a:p>
          </p:txBody>
        </p:sp>
        <p:sp>
          <p:nvSpPr>
            <p:cNvPr id="62" name="TextBox 62"/>
            <p:cNvSpPr txBox="1"/>
            <p:nvPr/>
          </p:nvSpPr>
          <p:spPr>
            <a:xfrm>
              <a:off x="7519988" y="5179695"/>
              <a:ext cx="251841"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品类</a:t>
              </a:r>
            </a:p>
          </p:txBody>
        </p:sp>
        <p:sp>
          <p:nvSpPr>
            <p:cNvPr id="63" name="TextBox 63"/>
            <p:cNvSpPr txBox="1"/>
            <p:nvPr/>
          </p:nvSpPr>
          <p:spPr>
            <a:xfrm>
              <a:off x="7900988" y="5187791"/>
              <a:ext cx="1096851"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95%产品线为运动内衣</a:t>
              </a:r>
            </a:p>
          </p:txBody>
        </p:sp>
        <p:sp>
          <p:nvSpPr>
            <p:cNvPr id="64" name="TextBox 64"/>
            <p:cNvSpPr txBox="1"/>
            <p:nvPr/>
          </p:nvSpPr>
          <p:spPr>
            <a:xfrm>
              <a:off x="7519988" y="5560695"/>
              <a:ext cx="251841"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人群</a:t>
              </a:r>
            </a:p>
          </p:txBody>
        </p:sp>
        <p:sp>
          <p:nvSpPr>
            <p:cNvPr id="65" name="TextBox 65"/>
            <p:cNvSpPr txBox="1"/>
            <p:nvPr/>
          </p:nvSpPr>
          <p:spPr>
            <a:xfrm>
              <a:off x="7900988" y="5568791"/>
              <a:ext cx="130658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专注于18-35岁的运动女性</a:t>
              </a:r>
            </a:p>
          </p:txBody>
        </p:sp>
        <p:sp>
          <p:nvSpPr>
            <p:cNvPr id="66" name="TextBox 66"/>
            <p:cNvSpPr txBox="1"/>
            <p:nvPr/>
          </p:nvSpPr>
          <p:spPr>
            <a:xfrm>
              <a:off x="4063556" y="5941695"/>
              <a:ext cx="494157" cy="176212"/>
            </a:xfrm>
            <a:prstGeom prst="rect">
              <a:avLst/>
            </a:prstGeom>
            <a:noFill/>
            <a:ln>
              <a:noFill/>
            </a:ln>
          </p:spPr>
          <p:txBody>
            <a:bodyPr wrap="none" lIns="0" tIns="0" rIns="0" bIns="0" anchor="t" anchorCtr="0">
              <a:spAutoFit/>
            </a:bodyPr>
            <a:lstStyle/>
            <a:p>
              <a:pPr algn="r"/>
              <a:r>
                <a:rPr lang="zh-CN" sz="900" dirty="0">
                  <a:solidFill>
                    <a:srgbClr val="808699"/>
                  </a:solidFill>
                  <a:latin typeface="+mn-lt"/>
                  <a:ea typeface="+mn-ea"/>
                  <a:cs typeface="+mn-cs"/>
                </a:rPr>
                <a:t>隐形需求</a:t>
              </a:r>
            </a:p>
          </p:txBody>
        </p:sp>
        <p:sp>
          <p:nvSpPr>
            <p:cNvPr id="67" name="TextBox 67"/>
            <p:cNvSpPr txBox="1"/>
            <p:nvPr/>
          </p:nvSpPr>
          <p:spPr>
            <a:xfrm>
              <a:off x="7519988" y="5941695"/>
              <a:ext cx="372999" cy="176212"/>
            </a:xfrm>
            <a:prstGeom prst="rect">
              <a:avLst/>
            </a:prstGeom>
            <a:noFill/>
            <a:ln>
              <a:noFill/>
            </a:ln>
          </p:spPr>
          <p:txBody>
            <a:bodyPr wrap="none" lIns="0" tIns="0" rIns="0" bIns="0" anchor="t" anchorCtr="0">
              <a:spAutoFit/>
            </a:bodyPr>
            <a:lstStyle/>
            <a:p>
              <a:pPr algn="l"/>
              <a:r>
                <a:rPr lang="zh-CN" sz="900" b="1" dirty="0">
                  <a:solidFill>
                    <a:srgbClr val="C1553F"/>
                  </a:solidFill>
                  <a:latin typeface="+mn-lt"/>
                  <a:ea typeface="+mn-ea"/>
                  <a:cs typeface="+mn-cs"/>
                </a:rPr>
                <a:t>多元化</a:t>
              </a:r>
            </a:p>
          </p:txBody>
        </p:sp>
        <p:sp>
          <p:nvSpPr>
            <p:cNvPr id="68" name="Ellipse 68"/>
            <p:cNvSpPr/>
            <p:nvPr/>
          </p:nvSpPr>
          <p:spPr>
            <a:xfrm>
              <a:off x="5124450" y="4705350"/>
              <a:ext cx="1181100" cy="1181100"/>
            </a:xfrm>
            <a:prstGeom prst="ellipse">
              <a:avLst/>
            </a:prstGeom>
            <a:solidFill>
              <a:srgbClr val="C1553F">
                <a:alpha val="92000"/>
              </a:srgbClr>
            </a:solidFill>
            <a:ln>
              <a:noFill/>
            </a:ln>
          </p:spPr>
        </p:sp>
        <p:sp>
          <p:nvSpPr>
            <p:cNvPr id="69" name="Ellipse 69"/>
            <p:cNvSpPr/>
            <p:nvPr/>
          </p:nvSpPr>
          <p:spPr>
            <a:xfrm>
              <a:off x="5867400" y="4705350"/>
              <a:ext cx="1181100" cy="1181100"/>
            </a:xfrm>
            <a:prstGeom prst="ellipse">
              <a:avLst/>
            </a:prstGeom>
            <a:solidFill>
              <a:srgbClr val="E5624C">
                <a:alpha val="88000"/>
              </a:srgbClr>
            </a:solidFill>
            <a:ln>
              <a:noFill/>
            </a:ln>
          </p:spPr>
        </p:sp>
        <p:sp>
          <p:nvSpPr>
            <p:cNvPr id="70" name="TextBox 70"/>
            <p:cNvSpPr txBox="1"/>
            <p:nvPr/>
          </p:nvSpPr>
          <p:spPr>
            <a:xfrm>
              <a:off x="5454015" y="51444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深刻</a:t>
              </a:r>
            </a:p>
          </p:txBody>
        </p:sp>
        <p:sp>
          <p:nvSpPr>
            <p:cNvPr id="71" name="TextBox 71"/>
            <p:cNvSpPr txBox="1"/>
            <p:nvPr/>
          </p:nvSpPr>
          <p:spPr>
            <a:xfrm>
              <a:off x="5454015" y="53349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洞察</a:t>
              </a:r>
            </a:p>
          </p:txBody>
        </p:sp>
        <p:sp>
          <p:nvSpPr>
            <p:cNvPr id="72" name="TextBox 72"/>
            <p:cNvSpPr txBox="1"/>
            <p:nvPr/>
          </p:nvSpPr>
          <p:spPr>
            <a:xfrm>
              <a:off x="6444615" y="51444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撬动</a:t>
              </a:r>
            </a:p>
          </p:txBody>
        </p:sp>
        <p:sp>
          <p:nvSpPr>
            <p:cNvPr id="73" name="TextBox 73"/>
            <p:cNvSpPr txBox="1"/>
            <p:nvPr/>
          </p:nvSpPr>
          <p:spPr>
            <a:xfrm>
              <a:off x="6444615" y="53349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细分</a:t>
              </a:r>
            </a:p>
          </p:txBody>
        </p:sp>
      </p:gr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158365" cy="440055"/>
            <a:chOff x="302895" y="214312"/>
            <a:chExt cx="2158365"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83.​</a:t>
              </a:r>
            </a:p>
          </p:txBody>
        </p:sp>
        <p:sp>
          <p:nvSpPr>
            <p:cNvPr id="3" name="TextBox 3"/>
            <p:cNvSpPr txBox="1"/>
            <p:nvPr/>
          </p:nvSpPr>
          <p:spPr>
            <a:xfrm>
              <a:off x="866394" y="246698"/>
              <a:ext cx="159486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运营成果复盘</a:t>
              </a:r>
            </a:p>
          </p:txBody>
        </p:sp>
      </p:grpSp>
      <p:sp>
        <p:nvSpPr>
          <p:cNvPr id="5" name="loop-left"/>
          <p:cNvSpPr/>
          <p:nvPr/>
        </p:nvSpPr>
        <p:spPr>
          <a:xfrm>
            <a:off x="190500" y="3143250"/>
            <a:ext cx="571500" cy="2571750"/>
          </a:xfrm>
          <a:custGeom>
            <a:avLst/>
            <a:gdLst/>
            <a:ahLst/>
            <a:cxnLst/>
            <a:rect l="l" t="t" r="r" b="b"/>
            <a:pathLst>
              <a:path w="571500" h="2571750">
                <a:moveTo>
                  <a:pt x="381000" y="0"/>
                </a:moveTo>
                <a:cubicBezTo>
                  <a:pt x="0" y="857250"/>
                  <a:pt x="95250" y="1809750"/>
                  <a:pt x="571500" y="2571750"/>
                </a:cubicBezTo>
              </a:path>
            </a:pathLst>
          </a:custGeom>
          <a:noFill/>
          <a:ln w="28575">
            <a:solidFill>
              <a:srgbClr val="ED8776"/>
            </a:solidFill>
            <a:tailEnd type="triangle" w="lg" len="lg"/>
          </a:ln>
        </p:spPr>
      </p:sp>
      <p:sp>
        <p:nvSpPr>
          <p:cNvPr id="6" name="loop-right"/>
          <p:cNvSpPr/>
          <p:nvPr/>
        </p:nvSpPr>
        <p:spPr>
          <a:xfrm>
            <a:off x="11430000" y="3143250"/>
            <a:ext cx="571500" cy="2571750"/>
          </a:xfrm>
          <a:custGeom>
            <a:avLst/>
            <a:gdLst/>
            <a:ahLst/>
            <a:cxnLst/>
            <a:rect l="l" t="t" r="r" b="b"/>
            <a:pathLst>
              <a:path w="571500" h="2571750">
                <a:moveTo>
                  <a:pt x="190500" y="0"/>
                </a:moveTo>
                <a:cubicBezTo>
                  <a:pt x="571500" y="857250"/>
                  <a:pt x="476250" y="1809750"/>
                  <a:pt x="0" y="2571750"/>
                </a:cubicBezTo>
              </a:path>
            </a:pathLst>
          </a:custGeom>
          <a:noFill/>
          <a:ln w="28575">
            <a:solidFill>
              <a:srgbClr val="ED8776"/>
            </a:solidFill>
            <a:tailEnd type="triangle" w="lg" len="lg"/>
          </a:ln>
        </p:spPr>
      </p:sp>
      <p:grpSp>
        <p:nvGrpSpPr>
          <p:cNvPr id="16" name="key-work-left"/>
          <p:cNvGrpSpPr/>
          <p:nvPr/>
        </p:nvGrpSpPr>
        <p:grpSpPr>
          <a:xfrm>
            <a:off x="438150" y="952500"/>
            <a:ext cx="4286250" cy="1676400"/>
            <a:chOff x="438150" y="952500"/>
            <a:chExt cx="4286250" cy="1676400"/>
          </a:xfrm>
        </p:grpSpPr>
        <p:sp>
          <p:nvSpPr>
            <p:cNvPr id="7" name="Rectangle 7"/>
            <p:cNvSpPr/>
            <p:nvPr/>
          </p:nvSpPr>
          <p:spPr>
            <a:xfrm>
              <a:off x="438150" y="952500"/>
              <a:ext cx="1905000" cy="1676400"/>
            </a:xfrm>
            <a:prstGeom prst="roundRect">
              <a:avLst>
                <a:gd name="adj" fmla="val 2273"/>
              </a:avLst>
            </a:prstGeom>
            <a:solidFill>
              <a:srgbClr val="FFFFFF"/>
            </a:solidFill>
            <a:ln w="9525">
              <a:solidFill>
                <a:srgbClr val="F0C0B8"/>
              </a:solidFill>
            </a:ln>
          </p:spPr>
        </p:sp>
        <p:sp>
          <p:nvSpPr>
            <p:cNvPr id="8" name="Rectangle 8"/>
            <p:cNvSpPr/>
            <p:nvPr/>
          </p:nvSpPr>
          <p:spPr>
            <a:xfrm>
              <a:off x="552450" y="1047750"/>
              <a:ext cx="1333500" cy="228600"/>
            </a:xfrm>
            <a:prstGeom prst="roundRect">
              <a:avLst>
                <a:gd name="adj" fmla="val 16667"/>
              </a:avLst>
            </a:prstGeom>
            <a:solidFill>
              <a:srgbClr val="FBE9E4"/>
            </a:solidFill>
            <a:ln>
              <a:noFill/>
            </a:ln>
          </p:spPr>
        </p:sp>
        <p:sp>
          <p:nvSpPr>
            <p:cNvPr id="9" name="TextBox 9"/>
            <p:cNvSpPr txBox="1"/>
            <p:nvPr/>
          </p:nvSpPr>
          <p:spPr>
            <a:xfrm>
              <a:off x="902153" y="1112520"/>
              <a:ext cx="634094"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1.广投达人</a:t>
              </a:r>
            </a:p>
          </p:txBody>
        </p:sp>
        <p:sp>
          <p:nvSpPr>
            <p:cNvPr id="10" name="TextBox 10"/>
            <p:cNvSpPr txBox="1"/>
            <p:nvPr/>
          </p:nvSpPr>
          <p:spPr>
            <a:xfrm>
              <a:off x="547688" y="1419939"/>
              <a:ext cx="1213485" cy="640556"/>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广泛挖掘各领域潜力达人，</a:t>
              </a:r>
              <a:br/>
              <a:r>
                <a:rPr lang="zh-CN" sz="790" dirty="0">
                  <a:solidFill>
                    <a:srgbClr val="705F5B"/>
                  </a:solidFill>
                  <a:latin typeface="+mn-lt"/>
                  <a:ea typeface="+mn-ea"/>
                  <a:cs typeface="+mn-cs"/>
                </a:rPr>
                <a:t>定位精准匹配，深度沟通合</a:t>
              </a:r>
              <a:br/>
              <a:r>
                <a:rPr lang="zh-CN" sz="790" dirty="0">
                  <a:solidFill>
                    <a:srgbClr val="705F5B"/>
                  </a:solidFill>
                  <a:latin typeface="+mn-lt"/>
                  <a:ea typeface="+mn-ea"/>
                  <a:cs typeface="+mn-cs"/>
                </a:rPr>
                <a:t>作细节，达人带货视频全平</a:t>
              </a:r>
              <a:br/>
              <a:r>
                <a:rPr lang="zh-CN" sz="790" dirty="0">
                  <a:solidFill>
                    <a:srgbClr val="705F5B"/>
                  </a:solidFill>
                  <a:latin typeface="+mn-lt"/>
                  <a:ea typeface="+mn-ea"/>
                  <a:cs typeface="+mn-cs"/>
                </a:rPr>
                <a:t>台布局</a:t>
              </a:r>
            </a:p>
          </p:txBody>
        </p:sp>
        <p:sp>
          <p:nvSpPr>
            <p:cNvPr id="11" name="TextBox 11"/>
            <p:cNvSpPr txBox="1"/>
            <p:nvPr/>
          </p:nvSpPr>
          <p:spPr>
            <a:xfrm>
              <a:off x="2458945" y="1581150"/>
              <a:ext cx="263709" cy="586740"/>
            </a:xfrm>
            <a:prstGeom prst="rect">
              <a:avLst/>
            </a:prstGeom>
            <a:noFill/>
            <a:ln>
              <a:noFill/>
            </a:ln>
          </p:spPr>
          <p:txBody>
            <a:bodyPr wrap="none" lIns="0" tIns="0" rIns="0" bIns="0" anchor="t" anchorCtr="0">
              <a:spAutoFit/>
            </a:bodyPr>
            <a:lstStyle/>
            <a:p>
              <a:pPr algn="ctr"/>
              <a:r>
                <a:rPr lang="zh-CN" sz="3000" b="1" dirty="0">
                  <a:solidFill>
                    <a:srgbClr val="C4624E"/>
                  </a:solidFill>
                  <a:latin typeface="+mn-lt"/>
                  <a:ea typeface="+mn-ea"/>
                  <a:cs typeface="+mn-cs"/>
                </a:rPr>
                <a:t>+</a:t>
              </a:r>
            </a:p>
          </p:txBody>
        </p:sp>
        <p:sp>
          <p:nvSpPr>
            <p:cNvPr id="12" name="Rectangle 12"/>
            <p:cNvSpPr/>
            <p:nvPr/>
          </p:nvSpPr>
          <p:spPr>
            <a:xfrm>
              <a:off x="2819400" y="952500"/>
              <a:ext cx="1905000" cy="1676400"/>
            </a:xfrm>
            <a:prstGeom prst="roundRect">
              <a:avLst>
                <a:gd name="adj" fmla="val 2273"/>
              </a:avLst>
            </a:prstGeom>
            <a:solidFill>
              <a:srgbClr val="FFFFFF"/>
            </a:solidFill>
            <a:ln w="9525">
              <a:solidFill>
                <a:srgbClr val="F0C0B8"/>
              </a:solidFill>
            </a:ln>
          </p:spPr>
        </p:sp>
        <p:sp>
          <p:nvSpPr>
            <p:cNvPr id="13" name="Rectangle 13"/>
            <p:cNvSpPr/>
            <p:nvPr/>
          </p:nvSpPr>
          <p:spPr>
            <a:xfrm>
              <a:off x="2933700" y="1047750"/>
              <a:ext cx="1333500" cy="228600"/>
            </a:xfrm>
            <a:prstGeom prst="roundRect">
              <a:avLst>
                <a:gd name="adj" fmla="val 16667"/>
              </a:avLst>
            </a:prstGeom>
            <a:solidFill>
              <a:srgbClr val="FBE9E4"/>
            </a:solidFill>
            <a:ln>
              <a:noFill/>
            </a:ln>
          </p:spPr>
        </p:sp>
        <p:sp>
          <p:nvSpPr>
            <p:cNvPr id="14" name="TextBox 14"/>
            <p:cNvSpPr txBox="1"/>
            <p:nvPr/>
          </p:nvSpPr>
          <p:spPr>
            <a:xfrm>
              <a:off x="3283403" y="1112520"/>
              <a:ext cx="634094"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2.爆款内容</a:t>
              </a:r>
            </a:p>
          </p:txBody>
        </p:sp>
        <p:sp>
          <p:nvSpPr>
            <p:cNvPr id="15" name="TextBox 15"/>
            <p:cNvSpPr txBox="1"/>
            <p:nvPr/>
          </p:nvSpPr>
          <p:spPr>
            <a:xfrm>
              <a:off x="2928938" y="1419939"/>
              <a:ext cx="1213485" cy="640556"/>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广泛挖掘各领域潜力达人，</a:t>
              </a:r>
              <a:br/>
              <a:r>
                <a:rPr lang="zh-CN" sz="790" dirty="0">
                  <a:solidFill>
                    <a:srgbClr val="705F5B"/>
                  </a:solidFill>
                  <a:latin typeface="+mn-lt"/>
                  <a:ea typeface="+mn-ea"/>
                  <a:cs typeface="+mn-cs"/>
                </a:rPr>
                <a:t>定位精准匹配，深度沟通合</a:t>
              </a:r>
              <a:br/>
              <a:r>
                <a:rPr lang="zh-CN" sz="790" dirty="0">
                  <a:solidFill>
                    <a:srgbClr val="705F5B"/>
                  </a:solidFill>
                  <a:latin typeface="+mn-lt"/>
                  <a:ea typeface="+mn-ea"/>
                  <a:cs typeface="+mn-cs"/>
                </a:rPr>
                <a:t>作细节，达人带货视频全平</a:t>
              </a:r>
              <a:br/>
              <a:r>
                <a:rPr lang="zh-CN" sz="790" dirty="0">
                  <a:solidFill>
                    <a:srgbClr val="705F5B"/>
                  </a:solidFill>
                  <a:latin typeface="+mn-lt"/>
                  <a:ea typeface="+mn-ea"/>
                  <a:cs typeface="+mn-cs"/>
                </a:rPr>
                <a:t>台布局</a:t>
              </a:r>
            </a:p>
          </p:txBody>
        </p:sp>
      </p:grpSp>
      <p:grpSp>
        <p:nvGrpSpPr>
          <p:cNvPr id="26" name="key-work-right"/>
          <p:cNvGrpSpPr/>
          <p:nvPr/>
        </p:nvGrpSpPr>
        <p:grpSpPr>
          <a:xfrm>
            <a:off x="7524750" y="952500"/>
            <a:ext cx="4286250" cy="1676400"/>
            <a:chOff x="7524750" y="952500"/>
            <a:chExt cx="4286250" cy="1676400"/>
          </a:xfrm>
        </p:grpSpPr>
        <p:sp>
          <p:nvSpPr>
            <p:cNvPr id="17" name="Rectangle 17"/>
            <p:cNvSpPr/>
            <p:nvPr/>
          </p:nvSpPr>
          <p:spPr>
            <a:xfrm>
              <a:off x="7524750" y="952500"/>
              <a:ext cx="1905000" cy="1676400"/>
            </a:xfrm>
            <a:prstGeom prst="roundRect">
              <a:avLst>
                <a:gd name="adj" fmla="val 2273"/>
              </a:avLst>
            </a:prstGeom>
            <a:solidFill>
              <a:srgbClr val="FFFFFF"/>
            </a:solidFill>
            <a:ln w="9525">
              <a:solidFill>
                <a:srgbClr val="F0C0B8"/>
              </a:solidFill>
            </a:ln>
          </p:spPr>
        </p:sp>
        <p:sp>
          <p:nvSpPr>
            <p:cNvPr id="18" name="Rectangle 18"/>
            <p:cNvSpPr/>
            <p:nvPr/>
          </p:nvSpPr>
          <p:spPr>
            <a:xfrm>
              <a:off x="7639050" y="1047750"/>
              <a:ext cx="1333500" cy="228600"/>
            </a:xfrm>
            <a:prstGeom prst="roundRect">
              <a:avLst>
                <a:gd name="adj" fmla="val 16667"/>
              </a:avLst>
            </a:prstGeom>
            <a:solidFill>
              <a:srgbClr val="FBE9E4"/>
            </a:solidFill>
            <a:ln>
              <a:noFill/>
            </a:ln>
          </p:spPr>
        </p:sp>
        <p:sp>
          <p:nvSpPr>
            <p:cNvPr id="19" name="TextBox 19"/>
            <p:cNvSpPr txBox="1"/>
            <p:nvPr/>
          </p:nvSpPr>
          <p:spPr>
            <a:xfrm>
              <a:off x="7988753" y="1112520"/>
              <a:ext cx="634094"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3.团购布局</a:t>
              </a:r>
            </a:p>
          </p:txBody>
        </p:sp>
        <p:sp>
          <p:nvSpPr>
            <p:cNvPr id="20" name="TextBox 20"/>
            <p:cNvSpPr txBox="1"/>
            <p:nvPr/>
          </p:nvSpPr>
          <p:spPr>
            <a:xfrm>
              <a:off x="7634288" y="1419939"/>
              <a:ext cx="131381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设计多样化团购套餐组合，</a:t>
              </a:r>
              <a:br/>
              <a:r>
                <a:rPr lang="zh-CN" sz="790" dirty="0">
                  <a:solidFill>
                    <a:srgbClr val="705F5B"/>
                  </a:solidFill>
                  <a:latin typeface="+mn-lt"/>
                  <a:ea typeface="+mn-ea"/>
                  <a:cs typeface="+mn-cs"/>
                </a:rPr>
                <a:t>以高性价比吸引消费者，团</a:t>
              </a:r>
              <a:br/>
              <a:r>
                <a:rPr lang="zh-CN" sz="790" dirty="0">
                  <a:solidFill>
                    <a:srgbClr val="705F5B"/>
                  </a:solidFill>
                  <a:latin typeface="+mn-lt"/>
                  <a:ea typeface="+mn-ea"/>
                  <a:cs typeface="+mn-cs"/>
                </a:rPr>
                <a:t>购订单量短期内爆发式增长。</a:t>
              </a:r>
            </a:p>
          </p:txBody>
        </p:sp>
        <p:sp>
          <p:nvSpPr>
            <p:cNvPr id="21" name="TextBox 21"/>
            <p:cNvSpPr txBox="1"/>
            <p:nvPr/>
          </p:nvSpPr>
          <p:spPr>
            <a:xfrm>
              <a:off x="9545545" y="1581150"/>
              <a:ext cx="263709" cy="586740"/>
            </a:xfrm>
            <a:prstGeom prst="rect">
              <a:avLst/>
            </a:prstGeom>
            <a:noFill/>
            <a:ln>
              <a:noFill/>
            </a:ln>
          </p:spPr>
          <p:txBody>
            <a:bodyPr wrap="none" lIns="0" tIns="0" rIns="0" bIns="0" anchor="t" anchorCtr="0">
              <a:spAutoFit/>
            </a:bodyPr>
            <a:lstStyle/>
            <a:p>
              <a:pPr algn="ctr"/>
              <a:r>
                <a:rPr lang="zh-CN" sz="3000" b="1" dirty="0">
                  <a:solidFill>
                    <a:srgbClr val="C4624E"/>
                  </a:solidFill>
                  <a:latin typeface="+mn-lt"/>
                  <a:ea typeface="+mn-ea"/>
                  <a:cs typeface="+mn-cs"/>
                </a:rPr>
                <a:t>+</a:t>
              </a:r>
            </a:p>
          </p:txBody>
        </p:sp>
        <p:sp>
          <p:nvSpPr>
            <p:cNvPr id="22" name="Rectangle 22"/>
            <p:cNvSpPr/>
            <p:nvPr/>
          </p:nvSpPr>
          <p:spPr>
            <a:xfrm>
              <a:off x="9906000" y="952500"/>
              <a:ext cx="1905000" cy="1676400"/>
            </a:xfrm>
            <a:prstGeom prst="roundRect">
              <a:avLst>
                <a:gd name="adj" fmla="val 2273"/>
              </a:avLst>
            </a:prstGeom>
            <a:solidFill>
              <a:srgbClr val="FFFFFF"/>
            </a:solidFill>
            <a:ln w="9525">
              <a:solidFill>
                <a:srgbClr val="F0C0B8"/>
              </a:solidFill>
            </a:ln>
          </p:spPr>
        </p:sp>
        <p:sp>
          <p:nvSpPr>
            <p:cNvPr id="23" name="Rectangle 23"/>
            <p:cNvSpPr/>
            <p:nvPr/>
          </p:nvSpPr>
          <p:spPr>
            <a:xfrm>
              <a:off x="10020300" y="1047750"/>
              <a:ext cx="1333500" cy="228600"/>
            </a:xfrm>
            <a:prstGeom prst="roundRect">
              <a:avLst>
                <a:gd name="adj" fmla="val 16667"/>
              </a:avLst>
            </a:prstGeom>
            <a:solidFill>
              <a:srgbClr val="FBE9E4"/>
            </a:solidFill>
            <a:ln>
              <a:noFill/>
            </a:ln>
          </p:spPr>
        </p:sp>
        <p:sp>
          <p:nvSpPr>
            <p:cNvPr id="24" name="TextBox 24"/>
            <p:cNvSpPr txBox="1"/>
            <p:nvPr/>
          </p:nvSpPr>
          <p:spPr>
            <a:xfrm>
              <a:off x="10370003" y="1112520"/>
              <a:ext cx="634094"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4.线下活动</a:t>
              </a:r>
            </a:p>
          </p:txBody>
        </p:sp>
        <p:sp>
          <p:nvSpPr>
            <p:cNvPr id="25" name="TextBox 25"/>
            <p:cNvSpPr txBox="1"/>
            <p:nvPr/>
          </p:nvSpPr>
          <p:spPr>
            <a:xfrm>
              <a:off x="10015538" y="1419939"/>
              <a:ext cx="1213485" cy="640556"/>
            </a:xfrm>
            <a:prstGeom prst="rect">
              <a:avLst/>
            </a:prstGeom>
            <a:noFill/>
            <a:ln>
              <a:noFill/>
            </a:ln>
          </p:spPr>
          <p:txBody>
            <a:bodyPr wrap="none" lIns="0" tIns="0" rIns="0" bIns="0" anchor="t" anchorCtr="0">
              <a:spAutoFit/>
            </a:bodyPr>
            <a:lstStyle/>
            <a:p>
              <a:pPr algn="l">
                <a:lnSpc>
                  <a:spcPts val="1275"/>
                </a:lnSpc>
              </a:pPr>
              <a:r>
                <a:rPr lang="zh-CN" sz="790" dirty="0">
                  <a:solidFill>
                    <a:srgbClr val="705F5B"/>
                  </a:solidFill>
                  <a:latin typeface="+mn-lt"/>
                  <a:ea typeface="+mn-ea"/>
                  <a:cs typeface="+mn-cs"/>
                </a:rPr>
                <a:t>结合节日热点与店铺特色策</a:t>
              </a:r>
              <a:br/>
              <a:r>
                <a:rPr lang="zh-CN" sz="790" dirty="0">
                  <a:solidFill>
                    <a:srgbClr val="705F5B"/>
                  </a:solidFill>
                  <a:latin typeface="+mn-lt"/>
                  <a:ea typeface="+mn-ea"/>
                  <a:cs typeface="+mn-cs"/>
                </a:rPr>
                <a:t>划主题活动，从店铺装饰、</a:t>
              </a:r>
              <a:br/>
              <a:r>
                <a:rPr lang="zh-CN" sz="790" dirty="0">
                  <a:solidFill>
                    <a:srgbClr val="705F5B"/>
                  </a:solidFill>
                  <a:latin typeface="+mn-lt"/>
                  <a:ea typeface="+mn-ea"/>
                  <a:cs typeface="+mn-cs"/>
                </a:rPr>
                <a:t>到员工服务培训全方位精心</a:t>
              </a:r>
              <a:br/>
              <a:r>
                <a:rPr lang="zh-CN" sz="790" dirty="0">
                  <a:solidFill>
                    <a:srgbClr val="705F5B"/>
                  </a:solidFill>
                  <a:latin typeface="+mn-lt"/>
                  <a:ea typeface="+mn-ea"/>
                  <a:cs typeface="+mn-cs"/>
                </a:rPr>
                <a:t>筹备。</a:t>
              </a:r>
            </a:p>
          </p:txBody>
        </p:sp>
      </p:grpSp>
      <p:grpSp>
        <p:nvGrpSpPr>
          <p:cNvPr id="34" name="center-steps"/>
          <p:cNvGrpSpPr/>
          <p:nvPr/>
        </p:nvGrpSpPr>
        <p:grpSpPr>
          <a:xfrm>
            <a:off x="4953000" y="838200"/>
            <a:ext cx="2286000" cy="4495800"/>
            <a:chOff x="4953000" y="838200"/>
            <a:chExt cx="2286000" cy="4495800"/>
          </a:xfrm>
        </p:grpSpPr>
        <p:sp>
          <p:nvSpPr>
            <p:cNvPr id="27" name="Rectangle 27"/>
            <p:cNvSpPr/>
            <p:nvPr/>
          </p:nvSpPr>
          <p:spPr>
            <a:xfrm>
              <a:off x="5715000" y="1428750"/>
              <a:ext cx="762000" cy="3905250"/>
            </a:xfrm>
            <a:prstGeom prst="rect">
              <a:avLst/>
            </a:prstGeom>
            <a:solidFill>
              <a:srgbClr val="EFF1FA"/>
            </a:solidFill>
            <a:ln>
              <a:noFill/>
            </a:ln>
          </p:spPr>
        </p:sp>
        <p:sp>
          <p:nvSpPr>
            <p:cNvPr id="28" name="Freeform 28"/>
            <p:cNvSpPr/>
            <p:nvPr/>
          </p:nvSpPr>
          <p:spPr>
            <a:xfrm>
              <a:off x="4953000" y="838200"/>
              <a:ext cx="2286000" cy="685800"/>
            </a:xfrm>
            <a:prstGeom prst="diamond">
              <a:avLst/>
            </a:prstGeom>
            <a:solidFill>
              <a:srgbClr val="E5624C"/>
            </a:solidFill>
            <a:ln>
              <a:noFill/>
            </a:ln>
          </p:spPr>
        </p:sp>
        <p:sp>
          <p:nvSpPr>
            <p:cNvPr id="29" name="TextBox 29"/>
            <p:cNvSpPr txBox="1"/>
            <p:nvPr/>
          </p:nvSpPr>
          <p:spPr>
            <a:xfrm>
              <a:off x="5788736" y="111680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重点工作</a:t>
              </a:r>
            </a:p>
          </p:txBody>
        </p:sp>
        <p:sp>
          <p:nvSpPr>
            <p:cNvPr id="30" name="Freeform 30"/>
            <p:cNvSpPr/>
            <p:nvPr/>
          </p:nvSpPr>
          <p:spPr>
            <a:xfrm>
              <a:off x="4953000" y="2743200"/>
              <a:ext cx="2286000" cy="685800"/>
            </a:xfrm>
            <a:prstGeom prst="diamond">
              <a:avLst/>
            </a:prstGeom>
            <a:solidFill>
              <a:srgbClr val="C4624E"/>
            </a:solidFill>
            <a:ln>
              <a:noFill/>
            </a:ln>
          </p:spPr>
        </p:sp>
        <p:sp>
          <p:nvSpPr>
            <p:cNvPr id="31" name="TextBox 31"/>
            <p:cNvSpPr txBox="1"/>
            <p:nvPr/>
          </p:nvSpPr>
          <p:spPr>
            <a:xfrm>
              <a:off x="5788736" y="302180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成果复盘</a:t>
              </a:r>
            </a:p>
          </p:txBody>
        </p:sp>
        <p:sp>
          <p:nvSpPr>
            <p:cNvPr id="32" name="Freeform 32"/>
            <p:cNvSpPr/>
            <p:nvPr/>
          </p:nvSpPr>
          <p:spPr>
            <a:xfrm>
              <a:off x="4953000" y="4552950"/>
              <a:ext cx="2286000" cy="685800"/>
            </a:xfrm>
            <a:prstGeom prst="diamond">
              <a:avLst/>
            </a:prstGeom>
            <a:solidFill>
              <a:srgbClr val="C96E5B"/>
            </a:solidFill>
            <a:ln>
              <a:noFill/>
            </a:ln>
          </p:spPr>
        </p:sp>
        <p:sp>
          <p:nvSpPr>
            <p:cNvPr id="33" name="TextBox 33"/>
            <p:cNvSpPr txBox="1"/>
            <p:nvPr/>
          </p:nvSpPr>
          <p:spPr>
            <a:xfrm>
              <a:off x="5788736" y="48315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改进提升</a:t>
              </a:r>
            </a:p>
          </p:txBody>
        </p:sp>
      </p:grpSp>
      <p:grpSp>
        <p:nvGrpSpPr>
          <p:cNvPr id="51" name="result-left"/>
          <p:cNvGrpSpPr/>
          <p:nvPr/>
        </p:nvGrpSpPr>
        <p:grpSpPr>
          <a:xfrm>
            <a:off x="609600" y="2991802"/>
            <a:ext cx="3184212" cy="1471232"/>
            <a:chOff x="609600" y="2991802"/>
            <a:chExt cx="3184212" cy="1471232"/>
          </a:xfrm>
        </p:grpSpPr>
        <p:sp>
          <p:nvSpPr>
            <p:cNvPr id="35" name="TextBox 35"/>
            <p:cNvSpPr txBox="1"/>
            <p:nvPr/>
          </p:nvSpPr>
          <p:spPr>
            <a:xfrm>
              <a:off x="2052638" y="2991802"/>
              <a:ext cx="1000125" cy="205359"/>
            </a:xfrm>
            <a:prstGeom prst="rect">
              <a:avLst/>
            </a:prstGeom>
            <a:noFill/>
            <a:ln>
              <a:noFill/>
            </a:ln>
          </p:spPr>
          <p:txBody>
            <a:bodyPr wrap="none" lIns="0" tIns="0" rIns="0" bIns="0" anchor="t" anchorCtr="0">
              <a:spAutoFit/>
            </a:bodyPr>
            <a:lstStyle/>
            <a:p>
              <a:pPr algn="ctr"/>
              <a:r>
                <a:rPr lang="zh-CN" sz="1050" b="1" dirty="0">
                  <a:solidFill>
                    <a:srgbClr val="C1553F"/>
                  </a:solidFill>
                  <a:latin typeface="+mn-lt"/>
                  <a:ea typeface="+mn-ea"/>
                  <a:cs typeface="+mn-cs"/>
                </a:rPr>
                <a:t>品牌知名度提升</a:t>
              </a:r>
            </a:p>
          </p:txBody>
        </p:sp>
        <p:sp>
          <p:nvSpPr>
            <p:cNvPr id="36" name="TextBox 36"/>
            <p:cNvSpPr txBox="1"/>
            <p:nvPr/>
          </p:nvSpPr>
          <p:spPr>
            <a:xfrm>
              <a:off x="1311587" y="3244691"/>
              <a:ext cx="2482225"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在社交媒体平台上，#某某# 话题阅读量在广告投放</a:t>
              </a:r>
            </a:p>
          </p:txBody>
        </p:sp>
        <p:sp>
          <p:nvSpPr>
            <p:cNvPr id="37" name="TextBox 37"/>
            <p:cNvSpPr txBox="1"/>
            <p:nvPr/>
          </p:nvSpPr>
          <p:spPr>
            <a:xfrm>
              <a:off x="1394379" y="3416141"/>
              <a:ext cx="2316643"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周期内增长了 5000 万 +，互动量超过 100 万次</a:t>
              </a:r>
            </a:p>
          </p:txBody>
        </p:sp>
        <p:sp>
          <p:nvSpPr>
            <p:cNvPr id="38" name="Ellipse 38"/>
            <p:cNvSpPr/>
            <p:nvPr/>
          </p:nvSpPr>
          <p:spPr>
            <a:xfrm>
              <a:off x="609600" y="3848100"/>
              <a:ext cx="495300" cy="495300"/>
            </a:xfrm>
            <a:prstGeom prst="ellipse">
              <a:avLst/>
            </a:prstGeom>
            <a:solidFill>
              <a:srgbClr val="C4624E"/>
            </a:solidFill>
            <a:ln>
              <a:noFill/>
            </a:ln>
          </p:spPr>
        </p:sp>
        <p:grpSp>
          <p:nvGrpSpPr>
            <p:cNvPr id="41" name="Group 41"/>
            <p:cNvGrpSpPr/>
            <p:nvPr/>
          </p:nvGrpSpPr>
          <p:grpSpPr>
            <a:xfrm>
              <a:off x="757238" y="4029075"/>
              <a:ext cx="200026" cy="133350"/>
              <a:chOff x="757238" y="4029075"/>
              <a:chExt cx="200026" cy="133350"/>
            </a:xfrm>
          </p:grpSpPr>
          <p:sp>
            <p:nvSpPr>
              <p:cNvPr id="39" name="Freeform 39"/>
              <p:cNvSpPr/>
              <p:nvPr/>
            </p:nvSpPr>
            <p:spPr>
              <a:xfrm>
                <a:off x="835025" y="40735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FFFFFF"/>
                </a:solidFill>
              </a:ln>
            </p:spPr>
          </p:sp>
          <p:sp>
            <p:nvSpPr>
              <p:cNvPr id="40" name="Freeform 40"/>
              <p:cNvSpPr/>
              <p:nvPr/>
            </p:nvSpPr>
            <p:spPr>
              <a:xfrm>
                <a:off x="757238" y="40290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rgbClr val="FFFFFF"/>
                </a:solidFill>
              </a:ln>
            </p:spPr>
          </p:sp>
        </p:grpSp>
        <p:sp>
          <p:nvSpPr>
            <p:cNvPr id="42" name="TextBox 42"/>
            <p:cNvSpPr txBox="1"/>
            <p:nvPr/>
          </p:nvSpPr>
          <p:spPr>
            <a:xfrm>
              <a:off x="1233488" y="3922395"/>
              <a:ext cx="61531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话题曝光量</a:t>
              </a:r>
            </a:p>
          </p:txBody>
        </p:sp>
        <p:sp>
          <p:nvSpPr>
            <p:cNvPr id="43" name="TextBox 43"/>
            <p:cNvSpPr txBox="1"/>
            <p:nvPr/>
          </p:nvSpPr>
          <p:spPr>
            <a:xfrm>
              <a:off x="1229106" y="4110990"/>
              <a:ext cx="820354" cy="352044"/>
            </a:xfrm>
            <a:prstGeom prst="rect">
              <a:avLst/>
            </a:prstGeom>
            <a:noFill/>
            <a:ln>
              <a:noFill/>
            </a:ln>
          </p:spPr>
          <p:txBody>
            <a:bodyPr wrap="none" lIns="0" tIns="0" rIns="0" bIns="0" anchor="t" anchorCtr="0">
              <a:spAutoFit/>
            </a:bodyPr>
            <a:lstStyle/>
            <a:p>
              <a:pPr algn="l"/>
              <a:r>
                <a:rPr lang="zh-CN" sz="1800" b="1" dirty="0">
                  <a:solidFill>
                    <a:srgbClr val="C1553F"/>
                  </a:solidFill>
                  <a:latin typeface="+mn-lt"/>
                  <a:ea typeface="+mn-ea"/>
                  <a:cs typeface="+mn-cs"/>
                </a:rPr>
                <a:t>8055万</a:t>
              </a:r>
            </a:p>
          </p:txBody>
        </p:sp>
        <p:sp>
          <p:nvSpPr>
            <p:cNvPr id="44" name="Ellipse 44"/>
            <p:cNvSpPr/>
            <p:nvPr/>
          </p:nvSpPr>
          <p:spPr>
            <a:xfrm>
              <a:off x="2609850" y="3848100"/>
              <a:ext cx="495300" cy="495300"/>
            </a:xfrm>
            <a:prstGeom prst="ellipse">
              <a:avLst/>
            </a:prstGeom>
            <a:solidFill>
              <a:srgbClr val="C4624E"/>
            </a:solidFill>
            <a:ln>
              <a:noFill/>
            </a:ln>
          </p:spPr>
        </p:sp>
        <p:grpSp>
          <p:nvGrpSpPr>
            <p:cNvPr id="48" name="Group 48"/>
            <p:cNvGrpSpPr/>
            <p:nvPr/>
          </p:nvGrpSpPr>
          <p:grpSpPr>
            <a:xfrm>
              <a:off x="2779713" y="4006850"/>
              <a:ext cx="155575" cy="177801"/>
              <a:chOff x="2779713" y="4006850"/>
              <a:chExt cx="155575" cy="177801"/>
            </a:xfrm>
          </p:grpSpPr>
          <p:sp>
            <p:nvSpPr>
              <p:cNvPr id="45" name="Freeform 45"/>
              <p:cNvSpPr/>
              <p:nvPr/>
            </p:nvSpPr>
            <p:spPr>
              <a:xfrm>
                <a:off x="2779713" y="4006850"/>
                <a:ext cx="155575" cy="177801"/>
              </a:xfrm>
              <a:custGeom>
                <a:avLst/>
                <a:gdLst/>
                <a:ahLst/>
                <a:cxnLst/>
                <a:rect l="l" t="t" r="r" b="b"/>
                <a:pathLst>
                  <a:path w="155575" h="177801">
                    <a:moveTo>
                      <a:pt x="155575" y="0"/>
                    </a:moveTo>
                    <a:lnTo>
                      <a:pt x="155575" y="177801"/>
                    </a:lnTo>
                    <a:lnTo>
                      <a:pt x="22225" y="177801"/>
                    </a:lnTo>
                    <a:cubicBezTo>
                      <a:pt x="9950" y="177801"/>
                      <a:pt x="0" y="167850"/>
                      <a:pt x="0" y="155575"/>
                    </a:cubicBezTo>
                    <a:lnTo>
                      <a:pt x="0" y="22225"/>
                    </a:lnTo>
                    <a:cubicBezTo>
                      <a:pt x="0" y="9950"/>
                      <a:pt x="9950" y="0"/>
                      <a:pt x="22225" y="0"/>
                    </a:cubicBezTo>
                    <a:lnTo>
                      <a:pt x="155575" y="0"/>
                    </a:lnTo>
                  </a:path>
                </a:pathLst>
              </a:custGeom>
              <a:noFill/>
              <a:ln w="22225">
                <a:solidFill>
                  <a:srgbClr val="FFFFFF"/>
                </a:solidFill>
              </a:ln>
            </p:spPr>
          </p:sp>
          <p:sp>
            <p:nvSpPr>
              <p:cNvPr id="46" name="Freeform 46"/>
              <p:cNvSpPr/>
              <p:nvPr/>
            </p:nvSpPr>
            <p:spPr>
              <a:xfrm>
                <a:off x="2779713" y="4140201"/>
                <a:ext cx="155575" cy="22225"/>
              </a:xfrm>
              <a:custGeom>
                <a:avLst/>
                <a:gdLst/>
                <a:ahLst/>
                <a:cxnLst/>
                <a:rect l="l" t="t" r="r" b="b"/>
                <a:pathLst>
                  <a:path w="155575" h="22225">
                    <a:moveTo>
                      <a:pt x="155575" y="0"/>
                    </a:moveTo>
                    <a:lnTo>
                      <a:pt x="22225" y="0"/>
                    </a:lnTo>
                    <a:cubicBezTo>
                      <a:pt x="9950" y="0"/>
                      <a:pt x="0" y="9950"/>
                      <a:pt x="0" y="22225"/>
                    </a:cubicBezTo>
                  </a:path>
                </a:pathLst>
              </a:custGeom>
              <a:noFill/>
              <a:ln w="22225">
                <a:solidFill>
                  <a:srgbClr val="FFFFFF"/>
                </a:solidFill>
              </a:ln>
            </p:spPr>
          </p:sp>
          <p:sp>
            <p:nvSpPr>
              <p:cNvPr id="47" name="Freeform 47"/>
              <p:cNvSpPr/>
              <p:nvPr/>
            </p:nvSpPr>
            <p:spPr>
              <a:xfrm>
                <a:off x="2824163" y="4051300"/>
                <a:ext cx="66675" cy="9525"/>
              </a:xfrm>
              <a:custGeom>
                <a:avLst/>
                <a:gdLst/>
                <a:ahLst/>
                <a:cxnLst/>
                <a:rect l="l" t="t" r="r" b="b"/>
                <a:pathLst>
                  <a:path w="66675" h="9525">
                    <a:moveTo>
                      <a:pt x="0" y="0"/>
                    </a:moveTo>
                    <a:lnTo>
                      <a:pt x="66675" y="0"/>
                    </a:lnTo>
                  </a:path>
                </a:pathLst>
              </a:custGeom>
              <a:noFill/>
              <a:ln w="22225">
                <a:solidFill>
                  <a:srgbClr val="FFFFFF"/>
                </a:solidFill>
              </a:ln>
            </p:spPr>
          </p:sp>
        </p:grpSp>
        <p:sp>
          <p:nvSpPr>
            <p:cNvPr id="49" name="TextBox 49"/>
            <p:cNvSpPr txBox="1"/>
            <p:nvPr/>
          </p:nvSpPr>
          <p:spPr>
            <a:xfrm>
              <a:off x="3233738" y="3922395"/>
              <a:ext cx="494157"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爆款笔记</a:t>
              </a:r>
            </a:p>
          </p:txBody>
        </p:sp>
        <p:sp>
          <p:nvSpPr>
            <p:cNvPr id="50" name="TextBox 50"/>
            <p:cNvSpPr txBox="1"/>
            <p:nvPr/>
          </p:nvSpPr>
          <p:spPr>
            <a:xfrm>
              <a:off x="3229356" y="4110990"/>
              <a:ext cx="540479" cy="352044"/>
            </a:xfrm>
            <a:prstGeom prst="rect">
              <a:avLst/>
            </a:prstGeom>
            <a:noFill/>
            <a:ln>
              <a:noFill/>
            </a:ln>
          </p:spPr>
          <p:txBody>
            <a:bodyPr wrap="none" lIns="0" tIns="0" rIns="0" bIns="0" anchor="t" anchorCtr="0">
              <a:spAutoFit/>
            </a:bodyPr>
            <a:lstStyle/>
            <a:p>
              <a:pPr algn="l"/>
              <a:r>
                <a:rPr lang="zh-CN" sz="1800" b="1" dirty="0">
                  <a:solidFill>
                    <a:srgbClr val="C1553F"/>
                  </a:solidFill>
                  <a:latin typeface="+mn-lt"/>
                  <a:ea typeface="+mn-ea"/>
                  <a:cs typeface="+mn-cs"/>
                </a:rPr>
                <a:t>40篇</a:t>
              </a:r>
            </a:p>
          </p:txBody>
        </p:sp>
      </p:grpSp>
      <p:grpSp>
        <p:nvGrpSpPr>
          <p:cNvPr id="71" name="result-right"/>
          <p:cNvGrpSpPr/>
          <p:nvPr/>
        </p:nvGrpSpPr>
        <p:grpSpPr>
          <a:xfrm>
            <a:off x="7696200" y="2991802"/>
            <a:ext cx="3327717" cy="1471232"/>
            <a:chOff x="7696200" y="2991802"/>
            <a:chExt cx="3327717" cy="1471232"/>
          </a:xfrm>
        </p:grpSpPr>
        <p:sp>
          <p:nvSpPr>
            <p:cNvPr id="52" name="TextBox 52"/>
            <p:cNvSpPr txBox="1"/>
            <p:nvPr/>
          </p:nvSpPr>
          <p:spPr>
            <a:xfrm>
              <a:off x="9209913" y="2991802"/>
              <a:ext cx="858774" cy="205359"/>
            </a:xfrm>
            <a:prstGeom prst="rect">
              <a:avLst/>
            </a:prstGeom>
            <a:noFill/>
            <a:ln>
              <a:noFill/>
            </a:ln>
          </p:spPr>
          <p:txBody>
            <a:bodyPr wrap="none" lIns="0" tIns="0" rIns="0" bIns="0" anchor="t" anchorCtr="0">
              <a:spAutoFit/>
            </a:bodyPr>
            <a:lstStyle/>
            <a:p>
              <a:pPr algn="ctr"/>
              <a:r>
                <a:rPr lang="zh-CN" sz="1050" b="1" dirty="0">
                  <a:solidFill>
                    <a:srgbClr val="C1553F"/>
                  </a:solidFill>
                  <a:latin typeface="+mn-lt"/>
                  <a:ea typeface="+mn-ea"/>
                  <a:cs typeface="+mn-cs"/>
                </a:rPr>
                <a:t>产品销售促进</a:t>
              </a:r>
            </a:p>
          </p:txBody>
        </p:sp>
        <p:sp>
          <p:nvSpPr>
            <p:cNvPr id="53" name="TextBox 53"/>
            <p:cNvSpPr txBox="1"/>
            <p:nvPr/>
          </p:nvSpPr>
          <p:spPr>
            <a:xfrm>
              <a:off x="8254682" y="3244691"/>
              <a:ext cx="2769235"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部分产品线的销售业绩与广告投放呈现明显正相关。复颜</a:t>
              </a:r>
            </a:p>
          </p:txBody>
        </p:sp>
        <p:sp>
          <p:nvSpPr>
            <p:cNvPr id="54" name="TextBox 54"/>
            <p:cNvSpPr txBox="1"/>
            <p:nvPr/>
          </p:nvSpPr>
          <p:spPr>
            <a:xfrm>
              <a:off x="8271241" y="3416141"/>
              <a:ext cx="2736118"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抗皱系列广告投放后的1个月内，销售额同比增长了 25%</a:t>
              </a:r>
            </a:p>
          </p:txBody>
        </p:sp>
        <p:sp>
          <p:nvSpPr>
            <p:cNvPr id="55" name="Ellipse 55"/>
            <p:cNvSpPr/>
            <p:nvPr/>
          </p:nvSpPr>
          <p:spPr>
            <a:xfrm>
              <a:off x="7696200" y="3848100"/>
              <a:ext cx="495300" cy="495300"/>
            </a:xfrm>
            <a:prstGeom prst="ellipse">
              <a:avLst/>
            </a:prstGeom>
            <a:solidFill>
              <a:srgbClr val="C4624E"/>
            </a:solidFill>
            <a:ln>
              <a:noFill/>
            </a:ln>
          </p:spPr>
        </p:sp>
        <p:grpSp>
          <p:nvGrpSpPr>
            <p:cNvPr id="60" name="Group 60"/>
            <p:cNvGrpSpPr/>
            <p:nvPr/>
          </p:nvGrpSpPr>
          <p:grpSpPr>
            <a:xfrm>
              <a:off x="7843838" y="3995738"/>
              <a:ext cx="200026" cy="200025"/>
              <a:chOff x="7843838" y="3995738"/>
              <a:chExt cx="200026" cy="200025"/>
            </a:xfrm>
          </p:grpSpPr>
          <p:sp>
            <p:nvSpPr>
              <p:cNvPr id="56" name="Freeform 56"/>
              <p:cNvSpPr/>
              <p:nvPr/>
            </p:nvSpPr>
            <p:spPr>
              <a:xfrm>
                <a:off x="7866063" y="39957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57" name="Freeform 57"/>
              <p:cNvSpPr/>
              <p:nvPr/>
            </p:nvSpPr>
            <p:spPr>
              <a:xfrm>
                <a:off x="7843838" y="41290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FFFFFF"/>
                </a:solidFill>
              </a:ln>
            </p:spPr>
          </p:sp>
          <p:sp>
            <p:nvSpPr>
              <p:cNvPr id="58" name="Freeform 58"/>
              <p:cNvSpPr/>
              <p:nvPr/>
            </p:nvSpPr>
            <p:spPr>
              <a:xfrm>
                <a:off x="7988301" y="39971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FFFFFF"/>
                </a:solidFill>
              </a:ln>
            </p:spPr>
          </p:sp>
          <p:sp>
            <p:nvSpPr>
              <p:cNvPr id="59" name="Freeform 59"/>
              <p:cNvSpPr/>
              <p:nvPr/>
            </p:nvSpPr>
            <p:spPr>
              <a:xfrm>
                <a:off x="8010526" y="41307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FFFFFF"/>
                </a:solidFill>
              </a:ln>
            </p:spPr>
          </p:sp>
        </p:grpSp>
        <p:sp>
          <p:nvSpPr>
            <p:cNvPr id="61" name="TextBox 61"/>
            <p:cNvSpPr txBox="1"/>
            <p:nvPr/>
          </p:nvSpPr>
          <p:spPr>
            <a:xfrm>
              <a:off x="8320088" y="3922395"/>
              <a:ext cx="736473"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新增会员注册</a:t>
              </a:r>
            </a:p>
          </p:txBody>
        </p:sp>
        <p:sp>
          <p:nvSpPr>
            <p:cNvPr id="62" name="TextBox 62"/>
            <p:cNvSpPr txBox="1"/>
            <p:nvPr/>
          </p:nvSpPr>
          <p:spPr>
            <a:xfrm>
              <a:off x="8315706" y="4110990"/>
              <a:ext cx="680416" cy="352044"/>
            </a:xfrm>
            <a:prstGeom prst="rect">
              <a:avLst/>
            </a:prstGeom>
            <a:noFill/>
            <a:ln>
              <a:noFill/>
            </a:ln>
          </p:spPr>
          <p:txBody>
            <a:bodyPr wrap="none" lIns="0" tIns="0" rIns="0" bIns="0" anchor="t" anchorCtr="0">
              <a:spAutoFit/>
            </a:bodyPr>
            <a:lstStyle/>
            <a:p>
              <a:pPr algn="l"/>
              <a:r>
                <a:rPr lang="zh-CN" sz="1800" b="1" dirty="0">
                  <a:solidFill>
                    <a:srgbClr val="C1553F"/>
                  </a:solidFill>
                  <a:latin typeface="+mn-lt"/>
                  <a:ea typeface="+mn-ea"/>
                  <a:cs typeface="+mn-cs"/>
                </a:rPr>
                <a:t>205万</a:t>
              </a:r>
            </a:p>
          </p:txBody>
        </p:sp>
        <p:sp>
          <p:nvSpPr>
            <p:cNvPr id="63" name="Ellipse 63"/>
            <p:cNvSpPr/>
            <p:nvPr/>
          </p:nvSpPr>
          <p:spPr>
            <a:xfrm>
              <a:off x="9696450" y="3848100"/>
              <a:ext cx="495300" cy="495300"/>
            </a:xfrm>
            <a:prstGeom prst="ellipse">
              <a:avLst/>
            </a:prstGeom>
            <a:solidFill>
              <a:srgbClr val="C4624E"/>
            </a:solidFill>
            <a:ln>
              <a:noFill/>
            </a:ln>
          </p:spPr>
        </p:sp>
        <p:grpSp>
          <p:nvGrpSpPr>
            <p:cNvPr id="68" name="Group 68"/>
            <p:cNvGrpSpPr/>
            <p:nvPr/>
          </p:nvGrpSpPr>
          <p:grpSpPr>
            <a:xfrm>
              <a:off x="9866313" y="3995738"/>
              <a:ext cx="155575" cy="200026"/>
              <a:chOff x="9866313" y="3995738"/>
              <a:chExt cx="155575" cy="200026"/>
            </a:xfrm>
          </p:grpSpPr>
          <p:sp>
            <p:nvSpPr>
              <p:cNvPr id="64" name="Freeform 64"/>
              <p:cNvSpPr/>
              <p:nvPr/>
            </p:nvSpPr>
            <p:spPr>
              <a:xfrm>
                <a:off x="9866313" y="4017963"/>
                <a:ext cx="155575" cy="177801"/>
              </a:xfrm>
              <a:custGeom>
                <a:avLst/>
                <a:gdLst/>
                <a:ahLst/>
                <a:cxnLst/>
                <a:rect l="l" t="t" r="r" b="b"/>
                <a:pathLst>
                  <a:path w="155575" h="177801">
                    <a:moveTo>
                      <a:pt x="44450" y="0"/>
                    </a:moveTo>
                    <a:lnTo>
                      <a:pt x="22225" y="0"/>
                    </a:lnTo>
                    <a:cubicBezTo>
                      <a:pt x="9950" y="0"/>
                      <a:pt x="0" y="9950"/>
                      <a:pt x="0" y="22225"/>
                    </a:cubicBezTo>
                    <a:lnTo>
                      <a:pt x="0" y="155575"/>
                    </a:lnTo>
                    <a:cubicBezTo>
                      <a:pt x="0" y="167850"/>
                      <a:pt x="9950" y="177801"/>
                      <a:pt x="22225" y="177801"/>
                    </a:cubicBezTo>
                    <a:lnTo>
                      <a:pt x="133350" y="177801"/>
                    </a:lnTo>
                    <a:cubicBezTo>
                      <a:pt x="145625" y="177801"/>
                      <a:pt x="155575" y="167850"/>
                      <a:pt x="155575" y="155575"/>
                    </a:cubicBezTo>
                    <a:lnTo>
                      <a:pt x="155575" y="22225"/>
                    </a:lnTo>
                    <a:cubicBezTo>
                      <a:pt x="155575" y="9950"/>
                      <a:pt x="145625" y="0"/>
                      <a:pt x="133350" y="0"/>
                    </a:cubicBezTo>
                    <a:lnTo>
                      <a:pt x="111125" y="0"/>
                    </a:lnTo>
                  </a:path>
                </a:pathLst>
              </a:custGeom>
              <a:noFill/>
              <a:ln w="22225">
                <a:solidFill>
                  <a:srgbClr val="FFFFFF"/>
                </a:solidFill>
              </a:ln>
            </p:spPr>
          </p:sp>
          <p:sp>
            <p:nvSpPr>
              <p:cNvPr id="65" name="Freeform 65"/>
              <p:cNvSpPr/>
              <p:nvPr/>
            </p:nvSpPr>
            <p:spPr>
              <a:xfrm>
                <a:off x="9910763" y="3995738"/>
                <a:ext cx="66675" cy="44450"/>
              </a:xfrm>
              <a:custGeom>
                <a:avLst/>
                <a:gdLst/>
                <a:ahLst/>
                <a:cxnLst/>
                <a:rect l="l" t="t" r="r" b="b"/>
                <a:pathLst>
                  <a:path w="66675" h="44450">
                    <a:moveTo>
                      <a:pt x="0" y="22225"/>
                    </a:moveTo>
                    <a:cubicBezTo>
                      <a:pt x="0" y="9950"/>
                      <a:pt x="9950" y="0"/>
                      <a:pt x="22225" y="0"/>
                    </a:cubicBezTo>
                    <a:lnTo>
                      <a:pt x="44450" y="0"/>
                    </a:lnTo>
                    <a:cubicBezTo>
                      <a:pt x="56725" y="0"/>
                      <a:pt x="66675" y="9950"/>
                      <a:pt x="66675" y="22225"/>
                    </a:cubicBezTo>
                    <a:cubicBezTo>
                      <a:pt x="66675" y="34500"/>
                      <a:pt x="56725" y="44450"/>
                      <a:pt x="44450" y="44450"/>
                    </a:cubicBezTo>
                    <a:lnTo>
                      <a:pt x="22225" y="44450"/>
                    </a:lnTo>
                    <a:cubicBezTo>
                      <a:pt x="9950" y="44450"/>
                      <a:pt x="0" y="34500"/>
                      <a:pt x="0" y="22225"/>
                    </a:cubicBezTo>
                  </a:path>
                </a:pathLst>
              </a:custGeom>
              <a:noFill/>
              <a:ln w="22225">
                <a:solidFill>
                  <a:srgbClr val="FFFFFF"/>
                </a:solidFill>
              </a:ln>
            </p:spPr>
          </p:sp>
          <p:sp>
            <p:nvSpPr>
              <p:cNvPr id="66" name="Freeform 66"/>
              <p:cNvSpPr/>
              <p:nvPr/>
            </p:nvSpPr>
            <p:spPr>
              <a:xfrm>
                <a:off x="9921875" y="4084638"/>
                <a:ext cx="44450" cy="66675"/>
              </a:xfrm>
              <a:custGeom>
                <a:avLst/>
                <a:gdLst/>
                <a:ahLst/>
                <a:cxnLst/>
                <a:rect l="l" t="t" r="r" b="b"/>
                <a:pathLst>
                  <a:path w="44450" h="66675">
                    <a:moveTo>
                      <a:pt x="44450" y="0"/>
                    </a:moveTo>
                    <a:lnTo>
                      <a:pt x="16669" y="0"/>
                    </a:lnTo>
                    <a:cubicBezTo>
                      <a:pt x="7463" y="0"/>
                      <a:pt x="0" y="7463"/>
                      <a:pt x="0" y="16669"/>
                    </a:cubicBezTo>
                    <a:cubicBezTo>
                      <a:pt x="0" y="25875"/>
                      <a:pt x="7463" y="33338"/>
                      <a:pt x="16669" y="33338"/>
                    </a:cubicBezTo>
                    <a:lnTo>
                      <a:pt x="27781" y="33338"/>
                    </a:lnTo>
                    <a:cubicBezTo>
                      <a:pt x="36987" y="33338"/>
                      <a:pt x="44450" y="40800"/>
                      <a:pt x="44450" y="50006"/>
                    </a:cubicBezTo>
                    <a:cubicBezTo>
                      <a:pt x="44450" y="59212"/>
                      <a:pt x="36987" y="66675"/>
                      <a:pt x="27781" y="66675"/>
                    </a:cubicBezTo>
                    <a:lnTo>
                      <a:pt x="0" y="66675"/>
                    </a:lnTo>
                  </a:path>
                </a:pathLst>
              </a:custGeom>
              <a:noFill/>
              <a:ln w="22225">
                <a:solidFill>
                  <a:srgbClr val="FFFFFF"/>
                </a:solidFill>
              </a:ln>
            </p:spPr>
          </p:sp>
          <p:sp>
            <p:nvSpPr>
              <p:cNvPr id="67" name="Freeform 67"/>
              <p:cNvSpPr/>
              <p:nvPr/>
            </p:nvSpPr>
            <p:spPr>
              <a:xfrm>
                <a:off x="9944100" y="4073525"/>
                <a:ext cx="9525" cy="88900"/>
              </a:xfrm>
              <a:custGeom>
                <a:avLst/>
                <a:gdLst/>
                <a:ahLst/>
                <a:cxnLst/>
                <a:rect l="l" t="t" r="r" b="b"/>
                <a:pathLst>
                  <a:path w="9525" h="88900">
                    <a:moveTo>
                      <a:pt x="0" y="77788"/>
                    </a:moveTo>
                    <a:lnTo>
                      <a:pt x="0" y="88900"/>
                    </a:lnTo>
                    <a:moveTo>
                      <a:pt x="0" y="0"/>
                    </a:moveTo>
                    <a:lnTo>
                      <a:pt x="0" y="11113"/>
                    </a:lnTo>
                  </a:path>
                </a:pathLst>
              </a:custGeom>
              <a:noFill/>
              <a:ln w="22225">
                <a:solidFill>
                  <a:srgbClr val="FFFFFF"/>
                </a:solidFill>
              </a:ln>
            </p:spPr>
          </p:sp>
        </p:grpSp>
        <p:sp>
          <p:nvSpPr>
            <p:cNvPr id="69" name="TextBox 69"/>
            <p:cNvSpPr txBox="1"/>
            <p:nvPr/>
          </p:nvSpPr>
          <p:spPr>
            <a:xfrm>
              <a:off x="10320338" y="3922395"/>
              <a:ext cx="61531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销售额同比</a:t>
              </a:r>
            </a:p>
          </p:txBody>
        </p:sp>
        <p:sp>
          <p:nvSpPr>
            <p:cNvPr id="70" name="TextBox 70"/>
            <p:cNvSpPr txBox="1"/>
            <p:nvPr/>
          </p:nvSpPr>
          <p:spPr>
            <a:xfrm>
              <a:off x="10315956" y="4110990"/>
              <a:ext cx="628924" cy="352044"/>
            </a:xfrm>
            <a:prstGeom prst="rect">
              <a:avLst/>
            </a:prstGeom>
            <a:noFill/>
            <a:ln>
              <a:noFill/>
            </a:ln>
          </p:spPr>
          <p:txBody>
            <a:bodyPr wrap="none" lIns="0" tIns="0" rIns="0" bIns="0" anchor="t" anchorCtr="0">
              <a:spAutoFit/>
            </a:bodyPr>
            <a:lstStyle/>
            <a:p>
              <a:pPr algn="l"/>
              <a:r>
                <a:rPr lang="zh-CN" sz="1800" b="1" dirty="0">
                  <a:solidFill>
                    <a:srgbClr val="C1553F"/>
                  </a:solidFill>
                  <a:latin typeface="+mn-lt"/>
                  <a:ea typeface="+mn-ea"/>
                  <a:cs typeface="+mn-cs"/>
                </a:rPr>
                <a:t>+25%</a:t>
              </a:r>
            </a:p>
          </p:txBody>
        </p:sp>
      </p:grpSp>
      <p:grpSp>
        <p:nvGrpSpPr>
          <p:cNvPr id="74" name="improve-left"/>
          <p:cNvGrpSpPr/>
          <p:nvPr/>
        </p:nvGrpSpPr>
        <p:grpSpPr>
          <a:xfrm>
            <a:off x="947738" y="4839652"/>
            <a:ext cx="2442400" cy="964168"/>
            <a:chOff x="947738" y="4839652"/>
            <a:chExt cx="2442400" cy="964168"/>
          </a:xfrm>
        </p:grpSpPr>
        <p:sp>
          <p:nvSpPr>
            <p:cNvPr id="72" name="TextBox 72"/>
            <p:cNvSpPr txBox="1"/>
            <p:nvPr/>
          </p:nvSpPr>
          <p:spPr>
            <a:xfrm>
              <a:off x="2248662" y="4839652"/>
              <a:ext cx="1141476" cy="205359"/>
            </a:xfrm>
            <a:prstGeom prst="rect">
              <a:avLst/>
            </a:prstGeom>
            <a:noFill/>
            <a:ln>
              <a:noFill/>
            </a:ln>
          </p:spPr>
          <p:txBody>
            <a:bodyPr wrap="none" lIns="0" tIns="0" rIns="0" bIns="0" anchor="t" anchorCtr="0">
              <a:spAutoFit/>
            </a:bodyPr>
            <a:lstStyle/>
            <a:p>
              <a:pPr algn="ctr"/>
              <a:r>
                <a:rPr lang="zh-CN" sz="1050" b="1" dirty="0">
                  <a:solidFill>
                    <a:srgbClr val="C1553F"/>
                  </a:solidFill>
                  <a:latin typeface="+mn-lt"/>
                  <a:ea typeface="+mn-ea"/>
                  <a:cs typeface="+mn-cs"/>
                </a:rPr>
                <a:t>动态调整投放策略</a:t>
              </a:r>
            </a:p>
          </p:txBody>
        </p:sp>
        <p:sp>
          <p:nvSpPr>
            <p:cNvPr id="73" name="TextBox 73"/>
            <p:cNvSpPr txBox="1"/>
            <p:nvPr/>
          </p:nvSpPr>
          <p:spPr>
            <a:xfrm>
              <a:off x="947738" y="5134689"/>
              <a:ext cx="2216785" cy="669131"/>
            </a:xfrm>
            <a:prstGeom prst="rect">
              <a:avLst/>
            </a:prstGeom>
            <a:noFill/>
            <a:ln>
              <a:noFill/>
            </a:ln>
          </p:spPr>
          <p:txBody>
            <a:bodyPr wrap="none" lIns="0" tIns="0" rIns="0" bIns="0" anchor="t" anchorCtr="0">
              <a:spAutoFit/>
            </a:bodyPr>
            <a:lstStyle/>
            <a:p>
              <a:pPr algn="l">
                <a:lnSpc>
                  <a:spcPts val="1350"/>
                </a:lnSpc>
              </a:pPr>
              <a:r>
                <a:rPr lang="zh-CN" sz="790" dirty="0">
                  <a:solidFill>
                    <a:srgbClr val="705F5B"/>
                  </a:solidFill>
                  <a:latin typeface="+mn-lt"/>
                  <a:ea typeface="+mn-ea"/>
                  <a:cs typeface="+mn-cs"/>
                </a:rPr>
                <a:t>于实时广告投放监测数据，建立更灵活、智能的投</a:t>
              </a:r>
              <a:br/>
              <a:r>
                <a:rPr lang="zh-CN" sz="790" dirty="0">
                  <a:solidFill>
                    <a:srgbClr val="705F5B"/>
                  </a:solidFill>
                  <a:latin typeface="+mn-lt"/>
                  <a:ea typeface="+mn-ea"/>
                  <a:cs typeface="+mn-cs"/>
                </a:rPr>
                <a:t>放策略调整机制。根据不同时间段、不同地区、不</a:t>
              </a:r>
              <a:br/>
              <a:r>
                <a:rPr lang="zh-CN" sz="790" dirty="0">
                  <a:solidFill>
                    <a:srgbClr val="705F5B"/>
                  </a:solidFill>
                  <a:latin typeface="+mn-lt"/>
                  <a:ea typeface="+mn-ea"/>
                  <a:cs typeface="+mn-cs"/>
                </a:rPr>
                <a:t>同媒体平台的广告效果数据变化，及时优化广告投</a:t>
              </a:r>
              <a:br/>
              <a:r>
                <a:rPr lang="zh-CN" sz="790" dirty="0">
                  <a:solidFill>
                    <a:srgbClr val="705F5B"/>
                  </a:solidFill>
                  <a:latin typeface="+mn-lt"/>
                  <a:ea typeface="+mn-ea"/>
                  <a:cs typeface="+mn-cs"/>
                </a:rPr>
                <a:t>放预算分配、目标受众定向设置等关键投放参数。</a:t>
              </a:r>
            </a:p>
          </p:txBody>
        </p:sp>
      </p:grpSp>
      <p:grpSp>
        <p:nvGrpSpPr>
          <p:cNvPr id="77" name="improve-right"/>
          <p:cNvGrpSpPr/>
          <p:nvPr/>
        </p:nvGrpSpPr>
        <p:grpSpPr>
          <a:xfrm>
            <a:off x="7615238" y="4839652"/>
            <a:ext cx="2455925" cy="964168"/>
            <a:chOff x="7615238" y="4839652"/>
            <a:chExt cx="2455925" cy="964168"/>
          </a:xfrm>
        </p:grpSpPr>
        <p:sp>
          <p:nvSpPr>
            <p:cNvPr id="75" name="TextBox 75"/>
            <p:cNvSpPr txBox="1"/>
            <p:nvPr/>
          </p:nvSpPr>
          <p:spPr>
            <a:xfrm>
              <a:off x="8788336" y="4839652"/>
              <a:ext cx="1282827" cy="205359"/>
            </a:xfrm>
            <a:prstGeom prst="rect">
              <a:avLst/>
            </a:prstGeom>
            <a:noFill/>
            <a:ln>
              <a:noFill/>
            </a:ln>
          </p:spPr>
          <p:txBody>
            <a:bodyPr wrap="none" lIns="0" tIns="0" rIns="0" bIns="0" anchor="t" anchorCtr="0">
              <a:spAutoFit/>
            </a:bodyPr>
            <a:lstStyle/>
            <a:p>
              <a:pPr algn="ctr"/>
              <a:r>
                <a:rPr lang="zh-CN" sz="1050" b="1" dirty="0">
                  <a:solidFill>
                    <a:srgbClr val="C1553F"/>
                  </a:solidFill>
                  <a:latin typeface="+mn-lt"/>
                  <a:ea typeface="+mn-ea"/>
                  <a:cs typeface="+mn-cs"/>
                </a:rPr>
                <a:t>深化与媒体平台合作</a:t>
              </a:r>
            </a:p>
          </p:txBody>
        </p:sp>
        <p:sp>
          <p:nvSpPr>
            <p:cNvPr id="76" name="TextBox 76"/>
            <p:cNvSpPr txBox="1"/>
            <p:nvPr/>
          </p:nvSpPr>
          <p:spPr>
            <a:xfrm>
              <a:off x="7615238" y="5134689"/>
              <a:ext cx="2116455" cy="669131"/>
            </a:xfrm>
            <a:prstGeom prst="rect">
              <a:avLst/>
            </a:prstGeom>
            <a:noFill/>
            <a:ln>
              <a:noFill/>
            </a:ln>
          </p:spPr>
          <p:txBody>
            <a:bodyPr wrap="none" lIns="0" tIns="0" rIns="0" bIns="0" anchor="t" anchorCtr="0">
              <a:spAutoFit/>
            </a:bodyPr>
            <a:lstStyle/>
            <a:p>
              <a:pPr algn="l">
                <a:lnSpc>
                  <a:spcPts val="1350"/>
                </a:lnSpc>
              </a:pPr>
              <a:r>
                <a:rPr lang="zh-CN" sz="790" dirty="0">
                  <a:solidFill>
                    <a:srgbClr val="705F5B"/>
                  </a:solidFill>
                  <a:latin typeface="+mn-lt"/>
                  <a:ea typeface="+mn-ea"/>
                  <a:cs typeface="+mn-cs"/>
                </a:rPr>
                <a:t>与社交媒体平台共同策划定制化的广告产品与营</a:t>
              </a:r>
              <a:br/>
              <a:r>
                <a:rPr lang="zh-CN" sz="790" dirty="0">
                  <a:solidFill>
                    <a:srgbClr val="705F5B"/>
                  </a:solidFill>
                  <a:latin typeface="+mn-lt"/>
                  <a:ea typeface="+mn-ea"/>
                  <a:cs typeface="+mn-cs"/>
                </a:rPr>
                <a:t>销活动，利用平台的大数据分析能力与创意营销</a:t>
              </a:r>
              <a:br/>
              <a:r>
                <a:rPr lang="zh-CN" sz="790" dirty="0">
                  <a:solidFill>
                    <a:srgbClr val="705F5B"/>
                  </a:solidFill>
                  <a:latin typeface="+mn-lt"/>
                  <a:ea typeface="+mn-ea"/>
                  <a:cs typeface="+mn-cs"/>
                </a:rPr>
                <a:t>工具，实现广告投放的精准定向与个性化推荐；</a:t>
              </a:r>
              <a:br/>
              <a:r>
                <a:rPr lang="zh-CN" sz="790" dirty="0">
                  <a:solidFill>
                    <a:srgbClr val="705F5B"/>
                  </a:solidFill>
                  <a:latin typeface="+mn-lt"/>
                  <a:ea typeface="+mn-ea"/>
                  <a:cs typeface="+mn-cs"/>
                </a:rPr>
                <a:t>与视频平台探索创新广告形式</a:t>
              </a:r>
            </a:p>
          </p:txBody>
        </p:sp>
      </p:gr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420874" cy="440055"/>
            <a:chOff x="302895" y="214312"/>
            <a:chExt cx="2420874"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84.​</a:t>
              </a:r>
            </a:p>
          </p:txBody>
        </p:sp>
        <p:sp>
          <p:nvSpPr>
            <p:cNvPr id="3" name="TextBox 3"/>
            <p:cNvSpPr txBox="1"/>
            <p:nvPr/>
          </p:nvSpPr>
          <p:spPr>
            <a:xfrm>
              <a:off x="866394" y="246698"/>
              <a:ext cx="1857375"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项目进度甘特图</a:t>
              </a:r>
            </a:p>
          </p:txBody>
        </p:sp>
      </p:grpSp>
      <p:grpSp>
        <p:nvGrpSpPr>
          <p:cNvPr id="75" name="gantt-table"/>
          <p:cNvGrpSpPr/>
          <p:nvPr/>
        </p:nvGrpSpPr>
        <p:grpSpPr>
          <a:xfrm>
            <a:off x="342900" y="817245"/>
            <a:ext cx="11506200" cy="3697605"/>
            <a:chOff x="342900" y="817245"/>
            <a:chExt cx="11506200" cy="3697605"/>
          </a:xfrm>
        </p:grpSpPr>
        <p:sp>
          <p:nvSpPr>
            <p:cNvPr id="5" name="Polygon 5"/>
            <p:cNvSpPr/>
            <p:nvPr/>
          </p:nvSpPr>
          <p:spPr>
            <a:xfrm>
              <a:off x="8905875" y="838200"/>
              <a:ext cx="114300" cy="95250"/>
            </a:xfrm>
            <a:custGeom>
              <a:avLst/>
              <a:gdLst/>
              <a:ahLst/>
              <a:cxnLst/>
              <a:rect l="l" t="t" r="r" b="b"/>
              <a:pathLst>
                <a:path w="114300" h="95250">
                  <a:moveTo>
                    <a:pt x="0" y="0"/>
                  </a:moveTo>
                  <a:lnTo>
                    <a:pt x="114300" y="0"/>
                  </a:lnTo>
                  <a:lnTo>
                    <a:pt x="57150" y="95250"/>
                  </a:lnTo>
                  <a:close/>
                </a:path>
              </a:pathLst>
            </a:custGeom>
            <a:solidFill>
              <a:srgbClr val="E5624C"/>
            </a:solidFill>
            <a:ln>
              <a:noFill/>
            </a:ln>
          </p:spPr>
        </p:sp>
        <p:sp>
          <p:nvSpPr>
            <p:cNvPr id="6" name="TextBox 6"/>
            <p:cNvSpPr txBox="1"/>
            <p:nvPr/>
          </p:nvSpPr>
          <p:spPr>
            <a:xfrm>
              <a:off x="9091612" y="817245"/>
              <a:ext cx="827342" cy="176212"/>
            </a:xfrm>
            <a:prstGeom prst="rect">
              <a:avLst/>
            </a:prstGeom>
            <a:noFill/>
            <a:ln>
              <a:noFill/>
            </a:ln>
          </p:spPr>
          <p:txBody>
            <a:bodyPr wrap="none" lIns="0" tIns="0" rIns="0" bIns="0" anchor="t" anchorCtr="0">
              <a:spAutoFit/>
            </a:bodyPr>
            <a:lstStyle/>
            <a:p>
              <a:pPr algn="l"/>
              <a:r>
                <a:rPr lang="zh-CN" sz="900" dirty="0">
                  <a:solidFill>
                    <a:srgbClr val="E5624C"/>
                  </a:solidFill>
                  <a:latin typeface="+mn-lt"/>
                  <a:ea typeface="+mn-ea"/>
                  <a:cs typeface="+mn-cs"/>
                </a:rPr>
                <a:t>当前节点11.29</a:t>
              </a:r>
            </a:p>
          </p:txBody>
        </p:sp>
        <p:sp>
          <p:nvSpPr>
            <p:cNvPr id="7" name="Rectangle 7"/>
            <p:cNvSpPr/>
            <p:nvPr/>
          </p:nvSpPr>
          <p:spPr>
            <a:xfrm>
              <a:off x="342900" y="1076325"/>
              <a:ext cx="11506200" cy="419100"/>
            </a:xfrm>
            <a:prstGeom prst="rect">
              <a:avLst/>
            </a:prstGeom>
            <a:solidFill>
              <a:srgbClr val="C4624E"/>
            </a:solidFill>
            <a:ln>
              <a:noFill/>
            </a:ln>
          </p:spPr>
        </p:sp>
        <p:sp>
          <p:nvSpPr>
            <p:cNvPr id="8" name="TextBox 8"/>
            <p:cNvSpPr txBox="1"/>
            <p:nvPr/>
          </p:nvSpPr>
          <p:spPr>
            <a:xfrm>
              <a:off x="528447" y="1237774"/>
              <a:ext cx="5297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 xml:space="preserve">任务 </a:t>
              </a:r>
              <a:r>
                <a:rPr lang="en-US" sz="680" b="1" dirty="0">
                  <a:solidFill>
                    <a:srgbClr val="D5D9F5"/>
                  </a:solidFill>
                  <a:latin typeface="+mn-lt"/>
                  <a:ea typeface="+mn-ea"/>
                  <a:cs typeface="+mn-cs"/>
                </a:rPr>
                <a:t>Task</a:t>
              </a:r>
            </a:p>
          </p:txBody>
        </p:sp>
        <p:sp>
          <p:nvSpPr>
            <p:cNvPr id="9" name="TextBox 9"/>
            <p:cNvSpPr txBox="1"/>
            <p:nvPr/>
          </p:nvSpPr>
          <p:spPr>
            <a:xfrm>
              <a:off x="3614547" y="1237774"/>
              <a:ext cx="273761"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工时</a:t>
              </a:r>
            </a:p>
          </p:txBody>
        </p:sp>
        <p:sp>
          <p:nvSpPr>
            <p:cNvPr id="10" name="TextBox 10"/>
            <p:cNvSpPr txBox="1"/>
            <p:nvPr/>
          </p:nvSpPr>
          <p:spPr>
            <a:xfrm>
              <a:off x="4472514" y="1237774"/>
              <a:ext cx="21802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6月</a:t>
              </a:r>
            </a:p>
          </p:txBody>
        </p:sp>
        <p:sp>
          <p:nvSpPr>
            <p:cNvPr id="11" name="TextBox 11"/>
            <p:cNvSpPr txBox="1"/>
            <p:nvPr/>
          </p:nvSpPr>
          <p:spPr>
            <a:xfrm>
              <a:off x="5282139" y="1237774"/>
              <a:ext cx="21802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7月</a:t>
              </a:r>
            </a:p>
          </p:txBody>
        </p:sp>
        <p:sp>
          <p:nvSpPr>
            <p:cNvPr id="12" name="TextBox 12"/>
            <p:cNvSpPr txBox="1"/>
            <p:nvPr/>
          </p:nvSpPr>
          <p:spPr>
            <a:xfrm>
              <a:off x="6082239" y="1237774"/>
              <a:ext cx="21802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8月</a:t>
              </a:r>
            </a:p>
          </p:txBody>
        </p:sp>
        <p:sp>
          <p:nvSpPr>
            <p:cNvPr id="13" name="TextBox 13"/>
            <p:cNvSpPr txBox="1"/>
            <p:nvPr/>
          </p:nvSpPr>
          <p:spPr>
            <a:xfrm>
              <a:off x="6891864" y="1237774"/>
              <a:ext cx="21802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9月</a:t>
              </a:r>
            </a:p>
          </p:txBody>
        </p:sp>
        <p:sp>
          <p:nvSpPr>
            <p:cNvPr id="14" name="TextBox 14"/>
            <p:cNvSpPr txBox="1"/>
            <p:nvPr/>
          </p:nvSpPr>
          <p:spPr>
            <a:xfrm>
              <a:off x="7663395" y="1237774"/>
              <a:ext cx="29421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10月</a:t>
              </a:r>
            </a:p>
          </p:txBody>
        </p:sp>
        <p:sp>
          <p:nvSpPr>
            <p:cNvPr id="15" name="TextBox 15"/>
            <p:cNvSpPr txBox="1"/>
            <p:nvPr/>
          </p:nvSpPr>
          <p:spPr>
            <a:xfrm>
              <a:off x="8463495" y="1237774"/>
              <a:ext cx="29421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11月</a:t>
              </a:r>
            </a:p>
          </p:txBody>
        </p:sp>
        <p:sp>
          <p:nvSpPr>
            <p:cNvPr id="16" name="TextBox 16"/>
            <p:cNvSpPr txBox="1"/>
            <p:nvPr/>
          </p:nvSpPr>
          <p:spPr>
            <a:xfrm>
              <a:off x="9263595" y="1237774"/>
              <a:ext cx="29421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12月</a:t>
              </a:r>
            </a:p>
          </p:txBody>
        </p:sp>
        <p:sp>
          <p:nvSpPr>
            <p:cNvPr id="17" name="TextBox 17"/>
            <p:cNvSpPr txBox="1"/>
            <p:nvPr/>
          </p:nvSpPr>
          <p:spPr>
            <a:xfrm>
              <a:off x="10561117" y="12377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达成情况</a:t>
              </a:r>
            </a:p>
          </p:txBody>
        </p:sp>
        <p:sp>
          <p:nvSpPr>
            <p:cNvPr id="18" name="Line 18"/>
            <p:cNvSpPr/>
            <p:nvPr/>
          </p:nvSpPr>
          <p:spPr>
            <a:xfrm>
              <a:off x="4181475" y="1495425"/>
              <a:ext cx="9525" cy="3019425"/>
            </a:xfrm>
            <a:custGeom>
              <a:avLst/>
              <a:gdLst/>
              <a:ahLst/>
              <a:cxnLst/>
              <a:rect l="l" t="t" r="r" b="b"/>
              <a:pathLst>
                <a:path w="9525" h="3019425">
                  <a:moveTo>
                    <a:pt x="0" y="0"/>
                  </a:moveTo>
                  <a:lnTo>
                    <a:pt x="0" y="3019425"/>
                  </a:lnTo>
                </a:path>
              </a:pathLst>
            </a:custGeom>
            <a:noFill/>
            <a:ln w="9525">
              <a:solidFill>
                <a:srgbClr val="EEF0FB"/>
              </a:solidFill>
            </a:ln>
          </p:spPr>
        </p:sp>
        <p:sp>
          <p:nvSpPr>
            <p:cNvPr id="19" name="Line 19"/>
            <p:cNvSpPr/>
            <p:nvPr/>
          </p:nvSpPr>
          <p:spPr>
            <a:xfrm>
              <a:off x="4991100" y="1495425"/>
              <a:ext cx="9525" cy="3019425"/>
            </a:xfrm>
            <a:custGeom>
              <a:avLst/>
              <a:gdLst/>
              <a:ahLst/>
              <a:cxnLst/>
              <a:rect l="l" t="t" r="r" b="b"/>
              <a:pathLst>
                <a:path w="9525" h="3019425">
                  <a:moveTo>
                    <a:pt x="0" y="0"/>
                  </a:moveTo>
                  <a:lnTo>
                    <a:pt x="0" y="3019425"/>
                  </a:lnTo>
                </a:path>
              </a:pathLst>
            </a:custGeom>
            <a:noFill/>
            <a:ln w="9525">
              <a:solidFill>
                <a:srgbClr val="EEF0FB"/>
              </a:solidFill>
            </a:ln>
          </p:spPr>
        </p:sp>
        <p:sp>
          <p:nvSpPr>
            <p:cNvPr id="20" name="Line 20"/>
            <p:cNvSpPr/>
            <p:nvPr/>
          </p:nvSpPr>
          <p:spPr>
            <a:xfrm>
              <a:off x="5791200" y="1495425"/>
              <a:ext cx="9525" cy="3019425"/>
            </a:xfrm>
            <a:custGeom>
              <a:avLst/>
              <a:gdLst/>
              <a:ahLst/>
              <a:cxnLst/>
              <a:rect l="l" t="t" r="r" b="b"/>
              <a:pathLst>
                <a:path w="9525" h="3019425">
                  <a:moveTo>
                    <a:pt x="0" y="0"/>
                  </a:moveTo>
                  <a:lnTo>
                    <a:pt x="0" y="3019425"/>
                  </a:lnTo>
                </a:path>
              </a:pathLst>
            </a:custGeom>
            <a:noFill/>
            <a:ln w="9525">
              <a:solidFill>
                <a:srgbClr val="EEF0FB"/>
              </a:solidFill>
            </a:ln>
          </p:spPr>
        </p:sp>
        <p:sp>
          <p:nvSpPr>
            <p:cNvPr id="21" name="Line 21"/>
            <p:cNvSpPr/>
            <p:nvPr/>
          </p:nvSpPr>
          <p:spPr>
            <a:xfrm>
              <a:off x="6600825" y="1495425"/>
              <a:ext cx="9525" cy="3019425"/>
            </a:xfrm>
            <a:custGeom>
              <a:avLst/>
              <a:gdLst/>
              <a:ahLst/>
              <a:cxnLst/>
              <a:rect l="l" t="t" r="r" b="b"/>
              <a:pathLst>
                <a:path w="9525" h="3019425">
                  <a:moveTo>
                    <a:pt x="0" y="0"/>
                  </a:moveTo>
                  <a:lnTo>
                    <a:pt x="0" y="3019425"/>
                  </a:lnTo>
                </a:path>
              </a:pathLst>
            </a:custGeom>
            <a:noFill/>
            <a:ln w="9525">
              <a:solidFill>
                <a:srgbClr val="EEF0FB"/>
              </a:solidFill>
            </a:ln>
          </p:spPr>
        </p:sp>
        <p:sp>
          <p:nvSpPr>
            <p:cNvPr id="22" name="Line 22"/>
            <p:cNvSpPr/>
            <p:nvPr/>
          </p:nvSpPr>
          <p:spPr>
            <a:xfrm>
              <a:off x="7400925" y="1495425"/>
              <a:ext cx="9525" cy="3019425"/>
            </a:xfrm>
            <a:custGeom>
              <a:avLst/>
              <a:gdLst/>
              <a:ahLst/>
              <a:cxnLst/>
              <a:rect l="l" t="t" r="r" b="b"/>
              <a:pathLst>
                <a:path w="9525" h="3019425">
                  <a:moveTo>
                    <a:pt x="0" y="0"/>
                  </a:moveTo>
                  <a:lnTo>
                    <a:pt x="0" y="3019425"/>
                  </a:lnTo>
                </a:path>
              </a:pathLst>
            </a:custGeom>
            <a:noFill/>
            <a:ln w="9525">
              <a:solidFill>
                <a:srgbClr val="EEF0FB"/>
              </a:solidFill>
            </a:ln>
          </p:spPr>
        </p:sp>
        <p:sp>
          <p:nvSpPr>
            <p:cNvPr id="23" name="Line 23"/>
            <p:cNvSpPr/>
            <p:nvPr/>
          </p:nvSpPr>
          <p:spPr>
            <a:xfrm>
              <a:off x="8210550" y="1495425"/>
              <a:ext cx="9525" cy="3019425"/>
            </a:xfrm>
            <a:custGeom>
              <a:avLst/>
              <a:gdLst/>
              <a:ahLst/>
              <a:cxnLst/>
              <a:rect l="l" t="t" r="r" b="b"/>
              <a:pathLst>
                <a:path w="9525" h="3019425">
                  <a:moveTo>
                    <a:pt x="0" y="0"/>
                  </a:moveTo>
                  <a:lnTo>
                    <a:pt x="0" y="3019425"/>
                  </a:lnTo>
                </a:path>
              </a:pathLst>
            </a:custGeom>
            <a:noFill/>
            <a:ln w="9525">
              <a:solidFill>
                <a:srgbClr val="EEF0FB"/>
              </a:solidFill>
            </a:ln>
          </p:spPr>
        </p:sp>
        <p:sp>
          <p:nvSpPr>
            <p:cNvPr id="24" name="Line 24"/>
            <p:cNvSpPr/>
            <p:nvPr/>
          </p:nvSpPr>
          <p:spPr>
            <a:xfrm>
              <a:off x="9010650" y="1495425"/>
              <a:ext cx="9525" cy="3019425"/>
            </a:xfrm>
            <a:custGeom>
              <a:avLst/>
              <a:gdLst/>
              <a:ahLst/>
              <a:cxnLst/>
              <a:rect l="l" t="t" r="r" b="b"/>
              <a:pathLst>
                <a:path w="9525" h="3019425">
                  <a:moveTo>
                    <a:pt x="0" y="0"/>
                  </a:moveTo>
                  <a:lnTo>
                    <a:pt x="0" y="3019425"/>
                  </a:lnTo>
                </a:path>
              </a:pathLst>
            </a:custGeom>
            <a:noFill/>
            <a:ln w="9525">
              <a:solidFill>
                <a:srgbClr val="EEF0FB"/>
              </a:solidFill>
            </a:ln>
          </p:spPr>
        </p:sp>
        <p:sp>
          <p:nvSpPr>
            <p:cNvPr id="25" name="Line 25"/>
            <p:cNvSpPr/>
            <p:nvPr/>
          </p:nvSpPr>
          <p:spPr>
            <a:xfrm>
              <a:off x="9820275" y="1495425"/>
              <a:ext cx="9525" cy="3019425"/>
            </a:xfrm>
            <a:custGeom>
              <a:avLst/>
              <a:gdLst/>
              <a:ahLst/>
              <a:cxnLst/>
              <a:rect l="l" t="t" r="r" b="b"/>
              <a:pathLst>
                <a:path w="9525" h="3019425">
                  <a:moveTo>
                    <a:pt x="0" y="0"/>
                  </a:moveTo>
                  <a:lnTo>
                    <a:pt x="0" y="3019425"/>
                  </a:lnTo>
                </a:path>
              </a:pathLst>
            </a:custGeom>
            <a:noFill/>
            <a:ln w="9525">
              <a:solidFill>
                <a:srgbClr val="EEF0FB"/>
              </a:solidFill>
            </a:ln>
          </p:spPr>
        </p:sp>
        <p:sp>
          <p:nvSpPr>
            <p:cNvPr id="26" name="Rectangle 26"/>
            <p:cNvSpPr/>
            <p:nvPr/>
          </p:nvSpPr>
          <p:spPr>
            <a:xfrm>
              <a:off x="342900" y="1495425"/>
              <a:ext cx="11506200" cy="285750"/>
            </a:xfrm>
            <a:prstGeom prst="rect">
              <a:avLst/>
            </a:prstGeom>
            <a:solidFill>
              <a:srgbClr val="EEF0FB"/>
            </a:solidFill>
            <a:ln>
              <a:noFill/>
            </a:ln>
          </p:spPr>
        </p:sp>
        <p:sp>
          <p:nvSpPr>
            <p:cNvPr id="27" name="TextBox 27"/>
            <p:cNvSpPr txBox="1"/>
            <p:nvPr/>
          </p:nvSpPr>
          <p:spPr>
            <a:xfrm>
              <a:off x="433388" y="1588770"/>
              <a:ext cx="1843554" cy="176212"/>
            </a:xfrm>
            <a:prstGeom prst="rect">
              <a:avLst/>
            </a:prstGeom>
            <a:noFill/>
            <a:ln>
              <a:noFill/>
            </a:ln>
          </p:spPr>
          <p:txBody>
            <a:bodyPr wrap="none" lIns="0" tIns="0" rIns="0" bIns="0" anchor="t" anchorCtr="0">
              <a:spAutoFit/>
            </a:bodyPr>
            <a:lstStyle/>
            <a:p>
              <a:pPr algn="l"/>
              <a:r>
                <a:rPr lang="zh-CN" sz="900" b="1" dirty="0">
                  <a:solidFill>
                    <a:srgbClr val="C1553F"/>
                  </a:solidFill>
                  <a:latin typeface="+mn-lt"/>
                  <a:ea typeface="+mn-ea"/>
                  <a:cs typeface="+mn-cs"/>
                </a:rPr>
                <a:t xml:space="preserve">阶段1： 需求调研 </a:t>
              </a:r>
              <a:r>
                <a:rPr lang="zh-CN" sz="900" b="1" dirty="0">
                  <a:solidFill>
                    <a:srgbClr val="D47D6B"/>
                  </a:solidFill>
                  <a:latin typeface="+mn-lt"/>
                  <a:ea typeface="+mn-ea"/>
                  <a:cs typeface="+mn-cs"/>
                </a:rPr>
                <a:t>(06.23-7.15)</a:t>
              </a:r>
            </a:p>
          </p:txBody>
        </p:sp>
        <p:sp>
          <p:nvSpPr>
            <p:cNvPr id="28" name="TextBox 28"/>
            <p:cNvSpPr txBox="1"/>
            <p:nvPr/>
          </p:nvSpPr>
          <p:spPr>
            <a:xfrm>
              <a:off x="10582846" y="1588770"/>
              <a:ext cx="494157"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按期完成</a:t>
              </a:r>
            </a:p>
          </p:txBody>
        </p:sp>
        <p:sp>
          <p:nvSpPr>
            <p:cNvPr id="29" name="Rectangle 29"/>
            <p:cNvSpPr/>
            <p:nvPr/>
          </p:nvSpPr>
          <p:spPr>
            <a:xfrm>
              <a:off x="342900" y="1781175"/>
              <a:ext cx="11506200" cy="266700"/>
            </a:xfrm>
            <a:prstGeom prst="rect">
              <a:avLst/>
            </a:prstGeom>
            <a:solidFill>
              <a:srgbClr val="FFFFFF"/>
            </a:solidFill>
            <a:ln w="9525">
              <a:solidFill>
                <a:srgbClr val="F0F2FA"/>
              </a:solidFill>
            </a:ln>
          </p:spPr>
        </p:sp>
        <p:sp>
          <p:nvSpPr>
            <p:cNvPr id="30" name="TextBox 30"/>
            <p:cNvSpPr txBox="1"/>
            <p:nvPr/>
          </p:nvSpPr>
          <p:spPr>
            <a:xfrm>
              <a:off x="433388" y="1869043"/>
              <a:ext cx="704164"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收集需求信息</a:t>
              </a:r>
            </a:p>
          </p:txBody>
        </p:sp>
        <p:sp>
          <p:nvSpPr>
            <p:cNvPr id="31" name="TextBox 31"/>
            <p:cNvSpPr txBox="1"/>
            <p:nvPr/>
          </p:nvSpPr>
          <p:spPr>
            <a:xfrm>
              <a:off x="3870099" y="1869043"/>
              <a:ext cx="211364" cy="169069"/>
            </a:xfrm>
            <a:prstGeom prst="rect">
              <a:avLst/>
            </a:prstGeom>
            <a:noFill/>
            <a:ln>
              <a:noFill/>
            </a:ln>
          </p:spPr>
          <p:txBody>
            <a:bodyPr wrap="none" lIns="0" tIns="0" rIns="0" bIns="0" anchor="t" anchorCtr="0">
              <a:spAutoFit/>
            </a:bodyPr>
            <a:lstStyle/>
            <a:p>
              <a:pPr algn="r"/>
              <a:r>
                <a:rPr lang="en-US" sz="860" dirty="0">
                  <a:solidFill>
                    <a:srgbClr val="C1553F"/>
                  </a:solidFill>
                  <a:latin typeface="+mn-lt"/>
                  <a:ea typeface="+mn-ea"/>
                  <a:cs typeface="+mn-cs"/>
                </a:rPr>
                <a:t>15D</a:t>
              </a:r>
            </a:p>
          </p:txBody>
        </p:sp>
        <p:sp>
          <p:nvSpPr>
            <p:cNvPr id="32" name="Rectangle 32"/>
            <p:cNvSpPr/>
            <p:nvPr/>
          </p:nvSpPr>
          <p:spPr>
            <a:xfrm>
              <a:off x="4772025" y="1866900"/>
              <a:ext cx="409575" cy="95250"/>
            </a:xfrm>
            <a:prstGeom prst="roundRect">
              <a:avLst>
                <a:gd name="adj" fmla="val 50000"/>
              </a:avLst>
            </a:prstGeom>
            <a:solidFill>
              <a:srgbClr val="C4624E"/>
            </a:solidFill>
            <a:ln>
              <a:noFill/>
            </a:ln>
          </p:spPr>
        </p:sp>
        <p:sp>
          <p:nvSpPr>
            <p:cNvPr id="33" name="Rectangle 33"/>
            <p:cNvSpPr/>
            <p:nvPr/>
          </p:nvSpPr>
          <p:spPr>
            <a:xfrm>
              <a:off x="342900" y="2047875"/>
              <a:ext cx="11506200" cy="266700"/>
            </a:xfrm>
            <a:prstGeom prst="rect">
              <a:avLst/>
            </a:prstGeom>
            <a:solidFill>
              <a:srgbClr val="FFFFFF"/>
            </a:solidFill>
            <a:ln w="9525">
              <a:solidFill>
                <a:srgbClr val="F0F2FA"/>
              </a:solidFill>
            </a:ln>
          </p:spPr>
        </p:sp>
        <p:sp>
          <p:nvSpPr>
            <p:cNvPr id="34" name="TextBox 34"/>
            <p:cNvSpPr txBox="1"/>
            <p:nvPr/>
          </p:nvSpPr>
          <p:spPr>
            <a:xfrm>
              <a:off x="433388" y="2135743"/>
              <a:ext cx="1167257"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架构设计系统模块划分</a:t>
              </a:r>
            </a:p>
          </p:txBody>
        </p:sp>
        <p:sp>
          <p:nvSpPr>
            <p:cNvPr id="35" name="TextBox 35"/>
            <p:cNvSpPr txBox="1"/>
            <p:nvPr/>
          </p:nvSpPr>
          <p:spPr>
            <a:xfrm>
              <a:off x="3870099" y="2135743"/>
              <a:ext cx="211364" cy="169069"/>
            </a:xfrm>
            <a:prstGeom prst="rect">
              <a:avLst/>
            </a:prstGeom>
            <a:noFill/>
            <a:ln>
              <a:noFill/>
            </a:ln>
          </p:spPr>
          <p:txBody>
            <a:bodyPr wrap="none" lIns="0" tIns="0" rIns="0" bIns="0" anchor="t" anchorCtr="0">
              <a:spAutoFit/>
            </a:bodyPr>
            <a:lstStyle/>
            <a:p>
              <a:pPr algn="r"/>
              <a:r>
                <a:rPr lang="en-US" sz="860" dirty="0">
                  <a:solidFill>
                    <a:srgbClr val="C1553F"/>
                  </a:solidFill>
                  <a:latin typeface="+mn-lt"/>
                  <a:ea typeface="+mn-ea"/>
                  <a:cs typeface="+mn-cs"/>
                </a:rPr>
                <a:t>22D</a:t>
              </a:r>
            </a:p>
          </p:txBody>
        </p:sp>
        <p:sp>
          <p:nvSpPr>
            <p:cNvPr id="36" name="Rectangle 36"/>
            <p:cNvSpPr/>
            <p:nvPr/>
          </p:nvSpPr>
          <p:spPr>
            <a:xfrm>
              <a:off x="4772025" y="2133600"/>
              <a:ext cx="590550" cy="95250"/>
            </a:xfrm>
            <a:prstGeom prst="roundRect">
              <a:avLst>
                <a:gd name="adj" fmla="val 50000"/>
              </a:avLst>
            </a:prstGeom>
            <a:solidFill>
              <a:srgbClr val="C4624E"/>
            </a:solidFill>
            <a:ln>
              <a:noFill/>
            </a:ln>
          </p:spPr>
        </p:sp>
        <p:sp>
          <p:nvSpPr>
            <p:cNvPr id="37" name="TextBox 37"/>
            <p:cNvSpPr txBox="1"/>
            <p:nvPr/>
          </p:nvSpPr>
          <p:spPr>
            <a:xfrm>
              <a:off x="9891712" y="1972389"/>
              <a:ext cx="121348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需求收集整理和系统框架设</a:t>
              </a:r>
              <a:br/>
              <a:r>
                <a:rPr lang="zh-CN" sz="790" dirty="0">
                  <a:solidFill>
                    <a:srgbClr val="705F5B"/>
                  </a:solidFill>
                  <a:latin typeface="+mn-lt"/>
                  <a:ea typeface="+mn-ea"/>
                  <a:cs typeface="+mn-cs"/>
                </a:rPr>
                <a:t>计这两个里程碑按时达成</a:t>
              </a:r>
            </a:p>
          </p:txBody>
        </p:sp>
        <p:sp>
          <p:nvSpPr>
            <p:cNvPr id="38" name="Rectangle 38"/>
            <p:cNvSpPr/>
            <p:nvPr/>
          </p:nvSpPr>
          <p:spPr>
            <a:xfrm>
              <a:off x="342900" y="2314575"/>
              <a:ext cx="11506200" cy="285750"/>
            </a:xfrm>
            <a:prstGeom prst="rect">
              <a:avLst/>
            </a:prstGeom>
            <a:solidFill>
              <a:srgbClr val="FDF0EC"/>
            </a:solidFill>
            <a:ln>
              <a:noFill/>
            </a:ln>
          </p:spPr>
        </p:sp>
        <p:sp>
          <p:nvSpPr>
            <p:cNvPr id="39" name="TextBox 39"/>
            <p:cNvSpPr txBox="1"/>
            <p:nvPr/>
          </p:nvSpPr>
          <p:spPr>
            <a:xfrm>
              <a:off x="433388" y="2407920"/>
              <a:ext cx="1913523"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 xml:space="preserve">阶段2： 代码开发 </a:t>
              </a:r>
              <a:r>
                <a:rPr lang="zh-CN" sz="900" b="1" dirty="0">
                  <a:solidFill>
                    <a:srgbClr val="ED8776"/>
                  </a:solidFill>
                  <a:latin typeface="+mn-lt"/>
                  <a:ea typeface="+mn-ea"/>
                  <a:cs typeface="+mn-cs"/>
                </a:rPr>
                <a:t>(07.16-10.30)</a:t>
              </a:r>
            </a:p>
          </p:txBody>
        </p:sp>
        <p:sp>
          <p:nvSpPr>
            <p:cNvPr id="40" name="TextBox 40"/>
            <p:cNvSpPr txBox="1"/>
            <p:nvPr/>
          </p:nvSpPr>
          <p:spPr>
            <a:xfrm>
              <a:off x="10598391" y="2407920"/>
              <a:ext cx="463067" cy="176212"/>
            </a:xfrm>
            <a:prstGeom prst="rect">
              <a:avLst/>
            </a:prstGeom>
            <a:noFill/>
            <a:ln>
              <a:noFill/>
            </a:ln>
          </p:spPr>
          <p:txBody>
            <a:bodyPr wrap="none" lIns="0" tIns="0" rIns="0" bIns="0" anchor="t" anchorCtr="0">
              <a:spAutoFit/>
            </a:bodyPr>
            <a:lstStyle/>
            <a:p>
              <a:pPr algn="ctr"/>
              <a:r>
                <a:rPr lang="zh-CN" sz="900" dirty="0">
                  <a:solidFill>
                    <a:srgbClr val="E5624C"/>
                  </a:solidFill>
                  <a:latin typeface="+mn-lt"/>
                  <a:ea typeface="+mn-ea"/>
                  <a:cs typeface="+mn-cs"/>
                </a:rPr>
                <a:t>超期20D</a:t>
              </a:r>
            </a:p>
          </p:txBody>
        </p:sp>
        <p:sp>
          <p:nvSpPr>
            <p:cNvPr id="41" name="Rectangle 41"/>
            <p:cNvSpPr/>
            <p:nvPr/>
          </p:nvSpPr>
          <p:spPr>
            <a:xfrm>
              <a:off x="342900" y="2600325"/>
              <a:ext cx="11506200" cy="266700"/>
            </a:xfrm>
            <a:prstGeom prst="rect">
              <a:avLst/>
            </a:prstGeom>
            <a:solidFill>
              <a:srgbClr val="FFFFFF"/>
            </a:solidFill>
            <a:ln w="9525">
              <a:solidFill>
                <a:srgbClr val="F0F2FA"/>
              </a:solidFill>
            </a:ln>
          </p:spPr>
        </p:sp>
        <p:sp>
          <p:nvSpPr>
            <p:cNvPr id="42" name="TextBox 42"/>
            <p:cNvSpPr txBox="1"/>
            <p:nvPr/>
          </p:nvSpPr>
          <p:spPr>
            <a:xfrm>
              <a:off x="433388" y="2688193"/>
              <a:ext cx="588391"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数据库开发</a:t>
              </a:r>
            </a:p>
          </p:txBody>
        </p:sp>
        <p:sp>
          <p:nvSpPr>
            <p:cNvPr id="43" name="TextBox 43"/>
            <p:cNvSpPr txBox="1"/>
            <p:nvPr/>
          </p:nvSpPr>
          <p:spPr>
            <a:xfrm>
              <a:off x="3870099" y="2688193"/>
              <a:ext cx="211364" cy="169069"/>
            </a:xfrm>
            <a:prstGeom prst="rect">
              <a:avLst/>
            </a:prstGeom>
            <a:noFill/>
            <a:ln>
              <a:noFill/>
            </a:ln>
          </p:spPr>
          <p:txBody>
            <a:bodyPr wrap="none" lIns="0" tIns="0" rIns="0" bIns="0" anchor="t" anchorCtr="0">
              <a:spAutoFit/>
            </a:bodyPr>
            <a:lstStyle/>
            <a:p>
              <a:pPr algn="r"/>
              <a:r>
                <a:rPr lang="en-US" sz="860" dirty="0">
                  <a:solidFill>
                    <a:srgbClr val="E5624C"/>
                  </a:solidFill>
                  <a:latin typeface="+mn-lt"/>
                  <a:ea typeface="+mn-ea"/>
                  <a:cs typeface="+mn-cs"/>
                </a:rPr>
                <a:t>27D</a:t>
              </a:r>
            </a:p>
          </p:txBody>
        </p:sp>
        <p:sp>
          <p:nvSpPr>
            <p:cNvPr id="44" name="Rectangle 44"/>
            <p:cNvSpPr/>
            <p:nvPr/>
          </p:nvSpPr>
          <p:spPr>
            <a:xfrm>
              <a:off x="5391150" y="2686050"/>
              <a:ext cx="752475" cy="95250"/>
            </a:xfrm>
            <a:prstGeom prst="roundRect">
              <a:avLst>
                <a:gd name="adj" fmla="val 50000"/>
              </a:avLst>
            </a:prstGeom>
            <a:solidFill>
              <a:srgbClr val="E5624C"/>
            </a:solidFill>
            <a:ln>
              <a:noFill/>
            </a:ln>
          </p:spPr>
        </p:sp>
        <p:sp>
          <p:nvSpPr>
            <p:cNvPr id="45" name="Rectangle 45"/>
            <p:cNvSpPr/>
            <p:nvPr/>
          </p:nvSpPr>
          <p:spPr>
            <a:xfrm>
              <a:off x="342900" y="2867025"/>
              <a:ext cx="11506200" cy="266700"/>
            </a:xfrm>
            <a:prstGeom prst="rect">
              <a:avLst/>
            </a:prstGeom>
            <a:solidFill>
              <a:srgbClr val="FFFFFF"/>
            </a:solidFill>
            <a:ln w="9525">
              <a:solidFill>
                <a:srgbClr val="F0F2FA"/>
              </a:solidFill>
            </a:ln>
          </p:spPr>
        </p:sp>
        <p:sp>
          <p:nvSpPr>
            <p:cNvPr id="46" name="TextBox 46"/>
            <p:cNvSpPr txBox="1"/>
            <p:nvPr/>
          </p:nvSpPr>
          <p:spPr>
            <a:xfrm>
              <a:off x="433388" y="2954893"/>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后端开发</a:t>
              </a:r>
            </a:p>
          </p:txBody>
        </p:sp>
        <p:sp>
          <p:nvSpPr>
            <p:cNvPr id="47" name="TextBox 47"/>
            <p:cNvSpPr txBox="1"/>
            <p:nvPr/>
          </p:nvSpPr>
          <p:spPr>
            <a:xfrm>
              <a:off x="3870099" y="2954893"/>
              <a:ext cx="211364" cy="169069"/>
            </a:xfrm>
            <a:prstGeom prst="rect">
              <a:avLst/>
            </a:prstGeom>
            <a:noFill/>
            <a:ln>
              <a:noFill/>
            </a:ln>
          </p:spPr>
          <p:txBody>
            <a:bodyPr wrap="none" lIns="0" tIns="0" rIns="0" bIns="0" anchor="t" anchorCtr="0">
              <a:spAutoFit/>
            </a:bodyPr>
            <a:lstStyle/>
            <a:p>
              <a:pPr algn="r"/>
              <a:r>
                <a:rPr lang="en-US" sz="860" dirty="0">
                  <a:solidFill>
                    <a:srgbClr val="E5624C"/>
                  </a:solidFill>
                  <a:latin typeface="+mn-lt"/>
                  <a:ea typeface="+mn-ea"/>
                  <a:cs typeface="+mn-cs"/>
                </a:rPr>
                <a:t>36D</a:t>
              </a:r>
            </a:p>
          </p:txBody>
        </p:sp>
        <p:sp>
          <p:nvSpPr>
            <p:cNvPr id="48" name="Rectangle 48"/>
            <p:cNvSpPr/>
            <p:nvPr/>
          </p:nvSpPr>
          <p:spPr>
            <a:xfrm>
              <a:off x="5724525" y="2952750"/>
              <a:ext cx="1038225" cy="95250"/>
            </a:xfrm>
            <a:prstGeom prst="roundRect">
              <a:avLst>
                <a:gd name="adj" fmla="val 50000"/>
              </a:avLst>
            </a:prstGeom>
            <a:solidFill>
              <a:srgbClr val="E5624C"/>
            </a:solidFill>
            <a:ln>
              <a:noFill/>
            </a:ln>
          </p:spPr>
        </p:sp>
        <p:sp>
          <p:nvSpPr>
            <p:cNvPr id="49" name="Rectangle 49"/>
            <p:cNvSpPr/>
            <p:nvPr/>
          </p:nvSpPr>
          <p:spPr>
            <a:xfrm>
              <a:off x="6762750" y="2952750"/>
              <a:ext cx="857250" cy="95250"/>
            </a:xfrm>
            <a:prstGeom prst="roundRect">
              <a:avLst>
                <a:gd name="adj" fmla="val 50000"/>
              </a:avLst>
            </a:prstGeom>
            <a:solidFill>
              <a:srgbClr val="F8D8CE"/>
            </a:solidFill>
            <a:ln>
              <a:noFill/>
            </a:ln>
          </p:spPr>
        </p:sp>
        <p:sp>
          <p:nvSpPr>
            <p:cNvPr id="50" name="Rectangle 50"/>
            <p:cNvSpPr/>
            <p:nvPr/>
          </p:nvSpPr>
          <p:spPr>
            <a:xfrm>
              <a:off x="342900" y="3133725"/>
              <a:ext cx="11506200" cy="266700"/>
            </a:xfrm>
            <a:prstGeom prst="rect">
              <a:avLst/>
            </a:prstGeom>
            <a:solidFill>
              <a:srgbClr val="FFFFFF"/>
            </a:solidFill>
            <a:ln w="9525">
              <a:solidFill>
                <a:srgbClr val="F0F2FA"/>
              </a:solidFill>
            </a:ln>
          </p:spPr>
        </p:sp>
        <p:sp>
          <p:nvSpPr>
            <p:cNvPr id="51" name="TextBox 51"/>
            <p:cNvSpPr txBox="1"/>
            <p:nvPr/>
          </p:nvSpPr>
          <p:spPr>
            <a:xfrm>
              <a:off x="433388" y="3221593"/>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前端开发</a:t>
              </a:r>
            </a:p>
          </p:txBody>
        </p:sp>
        <p:sp>
          <p:nvSpPr>
            <p:cNvPr id="52" name="TextBox 52"/>
            <p:cNvSpPr txBox="1"/>
            <p:nvPr/>
          </p:nvSpPr>
          <p:spPr>
            <a:xfrm>
              <a:off x="3870099" y="3221593"/>
              <a:ext cx="211364" cy="169069"/>
            </a:xfrm>
            <a:prstGeom prst="rect">
              <a:avLst/>
            </a:prstGeom>
            <a:noFill/>
            <a:ln>
              <a:noFill/>
            </a:ln>
          </p:spPr>
          <p:txBody>
            <a:bodyPr wrap="none" lIns="0" tIns="0" rIns="0" bIns="0" anchor="t" anchorCtr="0">
              <a:spAutoFit/>
            </a:bodyPr>
            <a:lstStyle/>
            <a:p>
              <a:pPr algn="r"/>
              <a:r>
                <a:rPr lang="en-US" sz="860" dirty="0">
                  <a:solidFill>
                    <a:srgbClr val="E5624C"/>
                  </a:solidFill>
                  <a:latin typeface="+mn-lt"/>
                  <a:ea typeface="+mn-ea"/>
                  <a:cs typeface="+mn-cs"/>
                </a:rPr>
                <a:t>34D</a:t>
              </a:r>
            </a:p>
          </p:txBody>
        </p:sp>
        <p:sp>
          <p:nvSpPr>
            <p:cNvPr id="53" name="Rectangle 53"/>
            <p:cNvSpPr/>
            <p:nvPr/>
          </p:nvSpPr>
          <p:spPr>
            <a:xfrm>
              <a:off x="5857875" y="3219450"/>
              <a:ext cx="990600" cy="95250"/>
            </a:xfrm>
            <a:prstGeom prst="roundRect">
              <a:avLst>
                <a:gd name="adj" fmla="val 50000"/>
              </a:avLst>
            </a:prstGeom>
            <a:solidFill>
              <a:srgbClr val="E5624C"/>
            </a:solidFill>
            <a:ln>
              <a:noFill/>
            </a:ln>
          </p:spPr>
        </p:sp>
        <p:sp>
          <p:nvSpPr>
            <p:cNvPr id="54" name="TextBox 54"/>
            <p:cNvSpPr txBox="1"/>
            <p:nvPr/>
          </p:nvSpPr>
          <p:spPr>
            <a:xfrm>
              <a:off x="9891712" y="2848689"/>
              <a:ext cx="1313815"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XXXXXX功能的开发难度超</a:t>
              </a:r>
              <a:br/>
              <a:r>
                <a:rPr lang="zh-CN" sz="790" dirty="0">
                  <a:solidFill>
                    <a:srgbClr val="705F5B"/>
                  </a:solidFill>
                  <a:latin typeface="+mn-lt"/>
                  <a:ea typeface="+mn-ea"/>
                  <a:cs typeface="+mn-cs"/>
                </a:rPr>
                <a:t>出预期，导致开发时间延长。</a:t>
              </a:r>
            </a:p>
          </p:txBody>
        </p:sp>
        <p:sp>
          <p:nvSpPr>
            <p:cNvPr id="55" name="Rectangle 55"/>
            <p:cNvSpPr/>
            <p:nvPr/>
          </p:nvSpPr>
          <p:spPr>
            <a:xfrm>
              <a:off x="342900" y="3400425"/>
              <a:ext cx="11506200" cy="285750"/>
            </a:xfrm>
            <a:prstGeom prst="rect">
              <a:avLst/>
            </a:prstGeom>
            <a:solidFill>
              <a:srgbClr val="EEF0FB"/>
            </a:solidFill>
            <a:ln>
              <a:noFill/>
            </a:ln>
          </p:spPr>
        </p:sp>
        <p:sp>
          <p:nvSpPr>
            <p:cNvPr id="56" name="TextBox 56"/>
            <p:cNvSpPr txBox="1"/>
            <p:nvPr/>
          </p:nvSpPr>
          <p:spPr>
            <a:xfrm>
              <a:off x="433388" y="3493770"/>
              <a:ext cx="1671207" cy="176212"/>
            </a:xfrm>
            <a:prstGeom prst="rect">
              <a:avLst/>
            </a:prstGeom>
            <a:noFill/>
            <a:ln>
              <a:noFill/>
            </a:ln>
          </p:spPr>
          <p:txBody>
            <a:bodyPr wrap="none" lIns="0" tIns="0" rIns="0" bIns="0" anchor="t" anchorCtr="0">
              <a:spAutoFit/>
            </a:bodyPr>
            <a:lstStyle/>
            <a:p>
              <a:pPr algn="l"/>
              <a:r>
                <a:rPr lang="zh-CN" sz="900" b="1" dirty="0">
                  <a:solidFill>
                    <a:srgbClr val="C1553F"/>
                  </a:solidFill>
                  <a:latin typeface="+mn-lt"/>
                  <a:ea typeface="+mn-ea"/>
                  <a:cs typeface="+mn-cs"/>
                </a:rPr>
                <a:t xml:space="preserve">阶段3： 测试 </a:t>
              </a:r>
              <a:r>
                <a:rPr lang="zh-CN" sz="900" b="1" dirty="0">
                  <a:solidFill>
                    <a:srgbClr val="D47D6B"/>
                  </a:solidFill>
                  <a:latin typeface="+mn-lt"/>
                  <a:ea typeface="+mn-ea"/>
                  <a:cs typeface="+mn-cs"/>
                </a:rPr>
                <a:t>(11.01-12.30)</a:t>
              </a:r>
            </a:p>
          </p:txBody>
        </p:sp>
        <p:sp>
          <p:nvSpPr>
            <p:cNvPr id="57" name="TextBox 57"/>
            <p:cNvSpPr txBox="1"/>
            <p:nvPr/>
          </p:nvSpPr>
          <p:spPr>
            <a:xfrm>
              <a:off x="10598391" y="3493770"/>
              <a:ext cx="463067" cy="176212"/>
            </a:xfrm>
            <a:prstGeom prst="rect">
              <a:avLst/>
            </a:prstGeom>
            <a:noFill/>
            <a:ln>
              <a:noFill/>
            </a:ln>
          </p:spPr>
          <p:txBody>
            <a:bodyPr wrap="none" lIns="0" tIns="0" rIns="0" bIns="0" anchor="t" anchorCtr="0">
              <a:spAutoFit/>
            </a:bodyPr>
            <a:lstStyle/>
            <a:p>
              <a:pPr algn="ctr"/>
              <a:r>
                <a:rPr lang="zh-CN" sz="900" dirty="0">
                  <a:solidFill>
                    <a:srgbClr val="E5624C"/>
                  </a:solidFill>
                  <a:latin typeface="+mn-lt"/>
                  <a:ea typeface="+mn-ea"/>
                  <a:cs typeface="+mn-cs"/>
                </a:rPr>
                <a:t>超期13D</a:t>
              </a:r>
            </a:p>
          </p:txBody>
        </p:sp>
        <p:sp>
          <p:nvSpPr>
            <p:cNvPr id="58" name="Rectangle 58"/>
            <p:cNvSpPr/>
            <p:nvPr/>
          </p:nvSpPr>
          <p:spPr>
            <a:xfrm>
              <a:off x="342900" y="3686175"/>
              <a:ext cx="11506200" cy="266700"/>
            </a:xfrm>
            <a:prstGeom prst="rect">
              <a:avLst/>
            </a:prstGeom>
            <a:solidFill>
              <a:srgbClr val="FFFFFF"/>
            </a:solidFill>
            <a:ln w="9525">
              <a:solidFill>
                <a:srgbClr val="F0F2FA"/>
              </a:solidFill>
            </a:ln>
          </p:spPr>
        </p:sp>
        <p:sp>
          <p:nvSpPr>
            <p:cNvPr id="59" name="TextBox 59"/>
            <p:cNvSpPr txBox="1"/>
            <p:nvPr/>
          </p:nvSpPr>
          <p:spPr>
            <a:xfrm>
              <a:off x="433388" y="3774043"/>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单元测试</a:t>
              </a:r>
            </a:p>
          </p:txBody>
        </p:sp>
        <p:sp>
          <p:nvSpPr>
            <p:cNvPr id="60" name="TextBox 60"/>
            <p:cNvSpPr txBox="1"/>
            <p:nvPr/>
          </p:nvSpPr>
          <p:spPr>
            <a:xfrm>
              <a:off x="3870099" y="3774043"/>
              <a:ext cx="211364" cy="169069"/>
            </a:xfrm>
            <a:prstGeom prst="rect">
              <a:avLst/>
            </a:prstGeom>
            <a:noFill/>
            <a:ln>
              <a:noFill/>
            </a:ln>
          </p:spPr>
          <p:txBody>
            <a:bodyPr wrap="none" lIns="0" tIns="0" rIns="0" bIns="0" anchor="t" anchorCtr="0">
              <a:spAutoFit/>
            </a:bodyPr>
            <a:lstStyle/>
            <a:p>
              <a:pPr algn="r"/>
              <a:r>
                <a:rPr lang="en-US" sz="860" dirty="0">
                  <a:solidFill>
                    <a:srgbClr val="C1553F"/>
                  </a:solidFill>
                  <a:latin typeface="+mn-lt"/>
                  <a:ea typeface="+mn-ea"/>
                  <a:cs typeface="+mn-cs"/>
                </a:rPr>
                <a:t>28D</a:t>
              </a:r>
            </a:p>
          </p:txBody>
        </p:sp>
        <p:sp>
          <p:nvSpPr>
            <p:cNvPr id="61" name="Rectangle 61"/>
            <p:cNvSpPr/>
            <p:nvPr/>
          </p:nvSpPr>
          <p:spPr>
            <a:xfrm>
              <a:off x="8210550" y="3771900"/>
              <a:ext cx="752475" cy="95250"/>
            </a:xfrm>
            <a:prstGeom prst="roundRect">
              <a:avLst>
                <a:gd name="adj" fmla="val 50000"/>
              </a:avLst>
            </a:prstGeom>
            <a:solidFill>
              <a:srgbClr val="C4624E"/>
            </a:solidFill>
            <a:ln>
              <a:noFill/>
            </a:ln>
          </p:spPr>
        </p:sp>
        <p:sp>
          <p:nvSpPr>
            <p:cNvPr id="62" name="Rectangle 62"/>
            <p:cNvSpPr/>
            <p:nvPr/>
          </p:nvSpPr>
          <p:spPr>
            <a:xfrm>
              <a:off x="8963025" y="3771900"/>
              <a:ext cx="285750" cy="95250"/>
            </a:xfrm>
            <a:prstGeom prst="roundRect">
              <a:avLst>
                <a:gd name="adj" fmla="val 50000"/>
              </a:avLst>
            </a:prstGeom>
            <a:solidFill>
              <a:srgbClr val="D5D9F0"/>
            </a:solidFill>
            <a:ln>
              <a:noFill/>
            </a:ln>
          </p:spPr>
        </p:sp>
        <p:sp>
          <p:nvSpPr>
            <p:cNvPr id="63" name="Rectangle 63"/>
            <p:cNvSpPr/>
            <p:nvPr/>
          </p:nvSpPr>
          <p:spPr>
            <a:xfrm>
              <a:off x="342900" y="3952875"/>
              <a:ext cx="11506200" cy="266700"/>
            </a:xfrm>
            <a:prstGeom prst="rect">
              <a:avLst/>
            </a:prstGeom>
            <a:solidFill>
              <a:srgbClr val="FFFFFF"/>
            </a:solidFill>
            <a:ln w="9525">
              <a:solidFill>
                <a:srgbClr val="F0F2FA"/>
              </a:solidFill>
            </a:ln>
          </p:spPr>
        </p:sp>
        <p:sp>
          <p:nvSpPr>
            <p:cNvPr id="64" name="TextBox 64"/>
            <p:cNvSpPr txBox="1"/>
            <p:nvPr/>
          </p:nvSpPr>
          <p:spPr>
            <a:xfrm>
              <a:off x="433388" y="4040743"/>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集成测试</a:t>
              </a:r>
            </a:p>
          </p:txBody>
        </p:sp>
        <p:sp>
          <p:nvSpPr>
            <p:cNvPr id="65" name="TextBox 65"/>
            <p:cNvSpPr txBox="1"/>
            <p:nvPr/>
          </p:nvSpPr>
          <p:spPr>
            <a:xfrm>
              <a:off x="3870099" y="4040743"/>
              <a:ext cx="211364" cy="169069"/>
            </a:xfrm>
            <a:prstGeom prst="rect">
              <a:avLst/>
            </a:prstGeom>
            <a:noFill/>
            <a:ln>
              <a:noFill/>
            </a:ln>
          </p:spPr>
          <p:txBody>
            <a:bodyPr wrap="none" lIns="0" tIns="0" rIns="0" bIns="0" anchor="t" anchorCtr="0">
              <a:spAutoFit/>
            </a:bodyPr>
            <a:lstStyle/>
            <a:p>
              <a:pPr algn="r"/>
              <a:r>
                <a:rPr lang="en-US" sz="860" dirty="0">
                  <a:solidFill>
                    <a:srgbClr val="C1553F"/>
                  </a:solidFill>
                  <a:latin typeface="+mn-lt"/>
                  <a:ea typeface="+mn-ea"/>
                  <a:cs typeface="+mn-cs"/>
                </a:rPr>
                <a:t>19D</a:t>
              </a:r>
            </a:p>
          </p:txBody>
        </p:sp>
        <p:sp>
          <p:nvSpPr>
            <p:cNvPr id="66" name="Rectangle 66"/>
            <p:cNvSpPr/>
            <p:nvPr/>
          </p:nvSpPr>
          <p:spPr>
            <a:xfrm>
              <a:off x="8601075" y="4038600"/>
              <a:ext cx="457200" cy="95250"/>
            </a:xfrm>
            <a:prstGeom prst="roundRect">
              <a:avLst>
                <a:gd name="adj" fmla="val 50000"/>
              </a:avLst>
            </a:prstGeom>
            <a:solidFill>
              <a:srgbClr val="C4624E"/>
            </a:solidFill>
            <a:ln>
              <a:noFill/>
            </a:ln>
          </p:spPr>
        </p:sp>
        <p:sp>
          <p:nvSpPr>
            <p:cNvPr id="67" name="Rectangle 67"/>
            <p:cNvSpPr/>
            <p:nvPr/>
          </p:nvSpPr>
          <p:spPr>
            <a:xfrm>
              <a:off x="9058275" y="4038600"/>
              <a:ext cx="323850" cy="95250"/>
            </a:xfrm>
            <a:prstGeom prst="roundRect">
              <a:avLst>
                <a:gd name="adj" fmla="val 50000"/>
              </a:avLst>
            </a:prstGeom>
            <a:solidFill>
              <a:srgbClr val="D5D9F0"/>
            </a:solidFill>
            <a:ln>
              <a:noFill/>
            </a:ln>
          </p:spPr>
        </p:sp>
        <p:sp>
          <p:nvSpPr>
            <p:cNvPr id="68" name="Rectangle 68"/>
            <p:cNvSpPr/>
            <p:nvPr/>
          </p:nvSpPr>
          <p:spPr>
            <a:xfrm>
              <a:off x="342900" y="4219575"/>
              <a:ext cx="11506200" cy="266700"/>
            </a:xfrm>
            <a:prstGeom prst="rect">
              <a:avLst/>
            </a:prstGeom>
            <a:solidFill>
              <a:srgbClr val="FFFFFF"/>
            </a:solidFill>
            <a:ln w="9525">
              <a:solidFill>
                <a:srgbClr val="F0F2FA"/>
              </a:solidFill>
            </a:ln>
          </p:spPr>
        </p:sp>
        <p:sp>
          <p:nvSpPr>
            <p:cNvPr id="69" name="TextBox 69"/>
            <p:cNvSpPr txBox="1"/>
            <p:nvPr/>
          </p:nvSpPr>
          <p:spPr>
            <a:xfrm>
              <a:off x="433388" y="4307443"/>
              <a:ext cx="704164"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用户验收测试</a:t>
              </a:r>
            </a:p>
          </p:txBody>
        </p:sp>
        <p:sp>
          <p:nvSpPr>
            <p:cNvPr id="70" name="TextBox 70"/>
            <p:cNvSpPr txBox="1"/>
            <p:nvPr/>
          </p:nvSpPr>
          <p:spPr>
            <a:xfrm>
              <a:off x="3870099" y="4307443"/>
              <a:ext cx="211364" cy="169069"/>
            </a:xfrm>
            <a:prstGeom prst="rect">
              <a:avLst/>
            </a:prstGeom>
            <a:noFill/>
            <a:ln>
              <a:noFill/>
            </a:ln>
          </p:spPr>
          <p:txBody>
            <a:bodyPr wrap="none" lIns="0" tIns="0" rIns="0" bIns="0" anchor="t" anchorCtr="0">
              <a:spAutoFit/>
            </a:bodyPr>
            <a:lstStyle/>
            <a:p>
              <a:pPr algn="r"/>
              <a:r>
                <a:rPr lang="en-US" sz="860" dirty="0">
                  <a:solidFill>
                    <a:srgbClr val="C1553F"/>
                  </a:solidFill>
                  <a:latin typeface="+mn-lt"/>
                  <a:ea typeface="+mn-ea"/>
                  <a:cs typeface="+mn-cs"/>
                </a:rPr>
                <a:t>14D</a:t>
              </a:r>
            </a:p>
          </p:txBody>
        </p:sp>
        <p:sp>
          <p:nvSpPr>
            <p:cNvPr id="71" name="Rectangle 71"/>
            <p:cNvSpPr/>
            <p:nvPr/>
          </p:nvSpPr>
          <p:spPr>
            <a:xfrm>
              <a:off x="9010650" y="4305300"/>
              <a:ext cx="352425" cy="95250"/>
            </a:xfrm>
            <a:prstGeom prst="roundRect">
              <a:avLst>
                <a:gd name="adj" fmla="val 50000"/>
              </a:avLst>
            </a:prstGeom>
            <a:solidFill>
              <a:srgbClr val="C4624E"/>
            </a:solidFill>
            <a:ln>
              <a:noFill/>
            </a:ln>
          </p:spPr>
        </p:sp>
        <p:sp>
          <p:nvSpPr>
            <p:cNvPr id="72" name="Rectangle 72"/>
            <p:cNvSpPr/>
            <p:nvPr/>
          </p:nvSpPr>
          <p:spPr>
            <a:xfrm>
              <a:off x="9363075" y="4305300"/>
              <a:ext cx="457200" cy="95250"/>
            </a:xfrm>
            <a:prstGeom prst="roundRect">
              <a:avLst>
                <a:gd name="adj" fmla="val 50000"/>
              </a:avLst>
            </a:prstGeom>
            <a:solidFill>
              <a:srgbClr val="D5D9F0"/>
            </a:solidFill>
            <a:ln>
              <a:noFill/>
            </a:ln>
          </p:spPr>
        </p:sp>
        <p:sp>
          <p:nvSpPr>
            <p:cNvPr id="73" name="TextBox 73"/>
            <p:cNvSpPr txBox="1"/>
            <p:nvPr/>
          </p:nvSpPr>
          <p:spPr>
            <a:xfrm>
              <a:off x="9891712" y="3801189"/>
              <a:ext cx="1233551" cy="459581"/>
            </a:xfrm>
            <a:prstGeom prst="rect">
              <a:avLst/>
            </a:prstGeom>
            <a:noFill/>
            <a:ln>
              <a:noFill/>
            </a:ln>
          </p:spPr>
          <p:txBody>
            <a:bodyPr wrap="none" lIns="0" tIns="0" rIns="0" bIns="0" anchor="t" anchorCtr="0">
              <a:spAutoFit/>
            </a:bodyPr>
            <a:lstStyle/>
            <a:p>
              <a:pPr algn="l">
                <a:lnSpc>
                  <a:spcPts val="1200"/>
                </a:lnSpc>
              </a:pPr>
              <a:r>
                <a:rPr lang="zh-CN" sz="790" dirty="0">
                  <a:solidFill>
                    <a:srgbClr val="705F5B"/>
                  </a:solidFill>
                  <a:latin typeface="+mn-lt"/>
                  <a:ea typeface="+mn-ea"/>
                  <a:cs typeface="+mn-cs"/>
                </a:rPr>
                <a:t>测试环节发现了XXXX功能缺</a:t>
              </a:r>
              <a:br/>
              <a:r>
                <a:rPr lang="zh-CN" sz="790" dirty="0">
                  <a:solidFill>
                    <a:srgbClr val="705F5B"/>
                  </a:solidFill>
                  <a:latin typeface="+mn-lt"/>
                  <a:ea typeface="+mn-ea"/>
                  <a:cs typeface="+mn-cs"/>
                </a:rPr>
                <a:t>陷，这部分测试任务无法按</a:t>
              </a:r>
              <a:br/>
              <a:r>
                <a:rPr lang="zh-CN" sz="790" dirty="0">
                  <a:solidFill>
                    <a:srgbClr val="705F5B"/>
                  </a:solidFill>
                  <a:latin typeface="+mn-lt"/>
                  <a:ea typeface="+mn-ea"/>
                  <a:cs typeface="+mn-cs"/>
                </a:rPr>
                <a:t>计划进行。</a:t>
              </a:r>
            </a:p>
          </p:txBody>
        </p:sp>
        <p:sp>
          <p:nvSpPr>
            <p:cNvPr id="74" name="Rectangle 74"/>
            <p:cNvSpPr/>
            <p:nvPr/>
          </p:nvSpPr>
          <p:spPr>
            <a:xfrm>
              <a:off x="342900" y="1076325"/>
              <a:ext cx="11506200" cy="3438525"/>
            </a:xfrm>
            <a:prstGeom prst="rect">
              <a:avLst/>
            </a:prstGeom>
            <a:noFill/>
            <a:ln w="9525">
              <a:solidFill>
                <a:srgbClr val="C9CFEA"/>
              </a:solidFill>
            </a:ln>
          </p:spPr>
        </p:sp>
      </p:grpSp>
      <p:grpSp>
        <p:nvGrpSpPr>
          <p:cNvPr id="82" name="improve-notes"/>
          <p:cNvGrpSpPr/>
          <p:nvPr/>
        </p:nvGrpSpPr>
        <p:grpSpPr>
          <a:xfrm>
            <a:off x="337947" y="4847749"/>
            <a:ext cx="9814014" cy="368617"/>
            <a:chOff x="337947" y="4847749"/>
            <a:chExt cx="9814014" cy="368617"/>
          </a:xfrm>
        </p:grpSpPr>
        <p:sp>
          <p:nvSpPr>
            <p:cNvPr id="76" name="TextBox 76"/>
            <p:cNvSpPr txBox="1"/>
            <p:nvPr/>
          </p:nvSpPr>
          <p:spPr>
            <a:xfrm>
              <a:off x="337947" y="4847749"/>
              <a:ext cx="745732" cy="190690"/>
            </a:xfrm>
            <a:prstGeom prst="rect">
              <a:avLst/>
            </a:prstGeom>
            <a:noFill/>
            <a:ln>
              <a:noFill/>
            </a:ln>
          </p:spPr>
          <p:txBody>
            <a:bodyPr wrap="none" lIns="0" tIns="0" rIns="0" bIns="0" anchor="t" anchorCtr="0">
              <a:spAutoFit/>
            </a:bodyPr>
            <a:lstStyle/>
            <a:p>
              <a:pPr algn="l"/>
              <a:r>
                <a:rPr lang="zh-CN" sz="980" b="1" dirty="0">
                  <a:solidFill>
                    <a:srgbClr val="C1553F"/>
                  </a:solidFill>
                  <a:latin typeface="+mn-lt"/>
                  <a:ea typeface="+mn-ea"/>
                  <a:cs typeface="+mn-cs"/>
                </a:rPr>
                <a:t>改进措施1：</a:t>
              </a:r>
            </a:p>
          </p:txBody>
        </p:sp>
        <p:sp>
          <p:nvSpPr>
            <p:cNvPr id="77" name="TextBox 77"/>
            <p:cNvSpPr txBox="1"/>
            <p:nvPr/>
          </p:nvSpPr>
          <p:spPr>
            <a:xfrm>
              <a:off x="1519238" y="4863941"/>
              <a:ext cx="2879623"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对于代码开发中出现的功能缺陷，组织开发和测试团队一起</a:t>
              </a:r>
            </a:p>
          </p:txBody>
        </p:sp>
        <p:sp>
          <p:nvSpPr>
            <p:cNvPr id="78" name="TextBox 78"/>
            <p:cNvSpPr txBox="1"/>
            <p:nvPr/>
          </p:nvSpPr>
          <p:spPr>
            <a:xfrm>
              <a:off x="1519238" y="5054441"/>
              <a:ext cx="2327681"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进行问题分析，优化开发流程，提高代码质量。</a:t>
              </a:r>
            </a:p>
          </p:txBody>
        </p:sp>
        <p:sp>
          <p:nvSpPr>
            <p:cNvPr id="79" name="TextBox 79"/>
            <p:cNvSpPr txBox="1"/>
            <p:nvPr/>
          </p:nvSpPr>
          <p:spPr>
            <a:xfrm>
              <a:off x="6091047" y="4847749"/>
              <a:ext cx="745732" cy="190690"/>
            </a:xfrm>
            <a:prstGeom prst="rect">
              <a:avLst/>
            </a:prstGeom>
            <a:noFill/>
            <a:ln>
              <a:noFill/>
            </a:ln>
          </p:spPr>
          <p:txBody>
            <a:bodyPr wrap="none" lIns="0" tIns="0" rIns="0" bIns="0" anchor="t" anchorCtr="0">
              <a:spAutoFit/>
            </a:bodyPr>
            <a:lstStyle/>
            <a:p>
              <a:pPr algn="l"/>
              <a:r>
                <a:rPr lang="zh-CN" sz="980" b="1" dirty="0">
                  <a:solidFill>
                    <a:srgbClr val="C1553F"/>
                  </a:solidFill>
                  <a:latin typeface="+mn-lt"/>
                  <a:ea typeface="+mn-ea"/>
                  <a:cs typeface="+mn-cs"/>
                </a:rPr>
                <a:t>改进措施2：</a:t>
              </a:r>
            </a:p>
          </p:txBody>
        </p:sp>
        <p:sp>
          <p:nvSpPr>
            <p:cNvPr id="80" name="TextBox 80"/>
            <p:cNvSpPr txBox="1"/>
            <p:nvPr/>
          </p:nvSpPr>
          <p:spPr>
            <a:xfrm>
              <a:off x="7272338" y="4863941"/>
              <a:ext cx="2879623"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根据测试进度的延迟情况，调整上线发布计划，同时与客户</a:t>
              </a:r>
            </a:p>
          </p:txBody>
        </p:sp>
        <p:sp>
          <p:nvSpPr>
            <p:cNvPr id="81" name="TextBox 81"/>
            <p:cNvSpPr txBox="1"/>
            <p:nvPr/>
          </p:nvSpPr>
          <p:spPr>
            <a:xfrm>
              <a:off x="7272338" y="5054441"/>
              <a:ext cx="2879623"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进行沟通，告知软件升级可能延迟的情况，争取客户理解。</a:t>
              </a:r>
            </a:p>
          </p:txBody>
        </p:sp>
      </p:gr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158365" cy="440055"/>
            <a:chOff x="302895" y="214312"/>
            <a:chExt cx="2158365"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85.​</a:t>
              </a:r>
            </a:p>
          </p:txBody>
        </p:sp>
        <p:sp>
          <p:nvSpPr>
            <p:cNvPr id="3" name="TextBox 3"/>
            <p:cNvSpPr txBox="1"/>
            <p:nvPr/>
          </p:nvSpPr>
          <p:spPr>
            <a:xfrm>
              <a:off x="866394" y="246698"/>
              <a:ext cx="159486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项目工作安排</a:t>
              </a:r>
            </a:p>
          </p:txBody>
        </p:sp>
      </p:grpSp>
      <p:sp>
        <p:nvSpPr>
          <p:cNvPr id="5" name="rise-curve"/>
          <p:cNvSpPr/>
          <p:nvPr/>
        </p:nvSpPr>
        <p:spPr>
          <a:xfrm>
            <a:off x="381000" y="914400"/>
            <a:ext cx="10001250" cy="2876550"/>
          </a:xfrm>
          <a:custGeom>
            <a:avLst/>
            <a:gdLst/>
            <a:ahLst/>
            <a:cxnLst/>
            <a:rect l="l" t="t" r="r" b="b"/>
            <a:pathLst>
              <a:path w="10001250" h="2876550">
                <a:moveTo>
                  <a:pt x="0" y="2876550"/>
                </a:moveTo>
                <a:cubicBezTo>
                  <a:pt x="2476500" y="2743200"/>
                  <a:pt x="4953000" y="1943100"/>
                  <a:pt x="7239000" y="1295400"/>
                </a:cubicBezTo>
                <a:cubicBezTo>
                  <a:pt x="8667750" y="895350"/>
                  <a:pt x="9334500" y="419100"/>
                  <a:pt x="10001250" y="0"/>
                </a:cubicBezTo>
              </a:path>
            </a:pathLst>
          </a:custGeom>
          <a:noFill/>
          <a:ln w="66675">
            <a:solidFill>
              <a:srgbClr val="E0B3AA">
                <a:alpha val="70000"/>
              </a:srgbClr>
            </a:solidFill>
            <a:tailEnd type="triangle" w="lg" len="lg"/>
          </a:ln>
        </p:spPr>
      </p:sp>
      <p:grpSp>
        <p:nvGrpSpPr>
          <p:cNvPr id="14" name="doc-illustration"/>
          <p:cNvGrpSpPr/>
          <p:nvPr/>
        </p:nvGrpSpPr>
        <p:grpSpPr>
          <a:xfrm>
            <a:off x="685800" y="933450"/>
            <a:ext cx="1333500" cy="1619250"/>
            <a:chOff x="685800" y="933450"/>
            <a:chExt cx="1333500" cy="1619250"/>
          </a:xfrm>
        </p:grpSpPr>
        <p:sp>
          <p:nvSpPr>
            <p:cNvPr id="6" name="Rectangle 6"/>
            <p:cNvSpPr/>
            <p:nvPr/>
          </p:nvSpPr>
          <p:spPr>
            <a:xfrm>
              <a:off x="876300" y="1123950"/>
              <a:ext cx="1143000" cy="1428750"/>
            </a:xfrm>
            <a:prstGeom prst="roundRect">
              <a:avLst>
                <a:gd name="adj" fmla="val 5000"/>
              </a:avLst>
            </a:prstGeom>
            <a:solidFill>
              <a:srgbClr val="FFFFFF"/>
            </a:solidFill>
            <a:ln w="9525">
              <a:solidFill>
                <a:srgbClr val="C9CFEA"/>
              </a:solidFill>
            </a:ln>
          </p:spPr>
        </p:sp>
        <p:sp>
          <p:nvSpPr>
            <p:cNvPr id="7" name="Rectangle 7"/>
            <p:cNvSpPr/>
            <p:nvPr/>
          </p:nvSpPr>
          <p:spPr>
            <a:xfrm>
              <a:off x="685800" y="933450"/>
              <a:ext cx="1143000" cy="1428750"/>
            </a:xfrm>
            <a:prstGeom prst="roundRect">
              <a:avLst>
                <a:gd name="adj" fmla="val 5000"/>
              </a:avLst>
            </a:prstGeom>
            <a:solidFill>
              <a:srgbClr val="FFFFFF"/>
            </a:solidFill>
            <a:ln w="9525">
              <a:solidFill>
                <a:srgbClr val="C9CFEA"/>
              </a:solidFill>
            </a:ln>
          </p:spPr>
        </p:sp>
        <p:sp>
          <p:nvSpPr>
            <p:cNvPr id="8" name="Rectangle 8"/>
            <p:cNvSpPr/>
            <p:nvPr/>
          </p:nvSpPr>
          <p:spPr>
            <a:xfrm>
              <a:off x="685800" y="933450"/>
              <a:ext cx="1143000" cy="209550"/>
            </a:xfrm>
            <a:prstGeom prst="roundRect">
              <a:avLst>
                <a:gd name="adj" fmla="val 27273"/>
              </a:avLst>
            </a:prstGeom>
            <a:solidFill>
              <a:srgbClr val="E5624C"/>
            </a:solidFill>
            <a:ln>
              <a:noFill/>
            </a:ln>
          </p:spPr>
        </p:sp>
        <p:sp>
          <p:nvSpPr>
            <p:cNvPr id="9" name="Rectangle 9"/>
            <p:cNvSpPr/>
            <p:nvPr/>
          </p:nvSpPr>
          <p:spPr>
            <a:xfrm>
              <a:off x="800100" y="1257300"/>
              <a:ext cx="914400" cy="57150"/>
            </a:xfrm>
            <a:prstGeom prst="roundRect">
              <a:avLst>
                <a:gd name="adj" fmla="val 50000"/>
              </a:avLst>
            </a:prstGeom>
            <a:solidFill>
              <a:srgbClr val="DDE2F5"/>
            </a:solidFill>
            <a:ln>
              <a:noFill/>
            </a:ln>
          </p:spPr>
        </p:sp>
        <p:sp>
          <p:nvSpPr>
            <p:cNvPr id="10" name="Rectangle 10"/>
            <p:cNvSpPr/>
            <p:nvPr/>
          </p:nvSpPr>
          <p:spPr>
            <a:xfrm>
              <a:off x="800100" y="1390650"/>
              <a:ext cx="762000" cy="57150"/>
            </a:xfrm>
            <a:prstGeom prst="roundRect">
              <a:avLst>
                <a:gd name="adj" fmla="val 50000"/>
              </a:avLst>
            </a:prstGeom>
            <a:solidFill>
              <a:srgbClr val="DDE2F5"/>
            </a:solidFill>
            <a:ln>
              <a:noFill/>
            </a:ln>
          </p:spPr>
        </p:sp>
        <p:sp>
          <p:nvSpPr>
            <p:cNvPr id="11" name="Rectangle 11"/>
            <p:cNvSpPr/>
            <p:nvPr/>
          </p:nvSpPr>
          <p:spPr>
            <a:xfrm>
              <a:off x="800100" y="1524000"/>
              <a:ext cx="914400" cy="57150"/>
            </a:xfrm>
            <a:prstGeom prst="roundRect">
              <a:avLst>
                <a:gd name="adj" fmla="val 50000"/>
              </a:avLst>
            </a:prstGeom>
            <a:solidFill>
              <a:srgbClr val="DDE2F5"/>
            </a:solidFill>
            <a:ln>
              <a:noFill/>
            </a:ln>
          </p:spPr>
        </p:sp>
        <p:sp>
          <p:nvSpPr>
            <p:cNvPr id="12" name="Rectangle 12"/>
            <p:cNvSpPr/>
            <p:nvPr/>
          </p:nvSpPr>
          <p:spPr>
            <a:xfrm>
              <a:off x="800100" y="1657350"/>
              <a:ext cx="571500" cy="57150"/>
            </a:xfrm>
            <a:prstGeom prst="roundRect">
              <a:avLst>
                <a:gd name="adj" fmla="val 50000"/>
              </a:avLst>
            </a:prstGeom>
            <a:solidFill>
              <a:srgbClr val="DDE2F5"/>
            </a:solidFill>
            <a:ln>
              <a:noFill/>
            </a:ln>
          </p:spPr>
        </p:sp>
        <p:sp>
          <p:nvSpPr>
            <p:cNvPr id="13" name="Rectangle 13"/>
            <p:cNvSpPr/>
            <p:nvPr/>
          </p:nvSpPr>
          <p:spPr>
            <a:xfrm>
              <a:off x="800100" y="1866900"/>
              <a:ext cx="914400" cy="285750"/>
            </a:xfrm>
            <a:prstGeom prst="roundRect">
              <a:avLst>
                <a:gd name="adj" fmla="val 10000"/>
              </a:avLst>
            </a:prstGeom>
            <a:solidFill>
              <a:srgbClr val="EEF0FB"/>
            </a:solidFill>
            <a:ln>
              <a:noFill/>
            </a:ln>
          </p:spPr>
        </p:sp>
      </p:grpSp>
      <p:grpSp>
        <p:nvGrpSpPr>
          <p:cNvPr id="18" name="lead-text"/>
          <p:cNvGrpSpPr/>
          <p:nvPr/>
        </p:nvGrpSpPr>
        <p:grpSpPr>
          <a:xfrm>
            <a:off x="2812923" y="1157764"/>
            <a:ext cx="3664077" cy="573214"/>
            <a:chOff x="2812923" y="1157764"/>
            <a:chExt cx="3664077" cy="573214"/>
          </a:xfrm>
        </p:grpSpPr>
        <p:sp>
          <p:nvSpPr>
            <p:cNvPr id="15" name="TextBox 15"/>
            <p:cNvSpPr txBox="1"/>
            <p:nvPr/>
          </p:nvSpPr>
          <p:spPr>
            <a:xfrm>
              <a:off x="2812923" y="1157764"/>
              <a:ext cx="2597658" cy="249364"/>
            </a:xfrm>
            <a:prstGeom prst="rect">
              <a:avLst/>
            </a:prstGeom>
            <a:noFill/>
            <a:ln>
              <a:noFill/>
            </a:ln>
          </p:spPr>
          <p:txBody>
            <a:bodyPr wrap="none" lIns="0" tIns="0" rIns="0" bIns="0" anchor="t" anchorCtr="0">
              <a:spAutoFit/>
            </a:bodyPr>
            <a:lstStyle/>
            <a:p>
              <a:pPr algn="l"/>
              <a:r>
                <a:rPr lang="zh-CN" sz="1280" dirty="0">
                  <a:solidFill>
                    <a:srgbClr val="523F3B"/>
                  </a:solidFill>
                  <a:latin typeface="+mn-lt"/>
                  <a:ea typeface="+mn-ea"/>
                  <a:cs typeface="+mn-cs"/>
                </a:rPr>
                <a:t>下月将驱动团队敏捷开发，并跟踪</a:t>
              </a:r>
            </a:p>
          </p:txBody>
        </p:sp>
        <p:sp>
          <p:nvSpPr>
            <p:cNvPr id="16" name="TextBox 16"/>
            <p:cNvSpPr txBox="1"/>
            <p:nvPr/>
          </p:nvSpPr>
          <p:spPr>
            <a:xfrm>
              <a:off x="2812923" y="1481614"/>
              <a:ext cx="2253031" cy="249364"/>
            </a:xfrm>
            <a:prstGeom prst="rect">
              <a:avLst/>
            </a:prstGeom>
            <a:noFill/>
            <a:ln>
              <a:noFill/>
            </a:ln>
          </p:spPr>
          <p:txBody>
            <a:bodyPr wrap="none" lIns="0" tIns="0" rIns="0" bIns="0" anchor="t" anchorCtr="0">
              <a:spAutoFit/>
            </a:bodyPr>
            <a:lstStyle/>
            <a:p>
              <a:pPr algn="l"/>
              <a:r>
                <a:rPr lang="zh-CN" sz="1280" dirty="0">
                  <a:solidFill>
                    <a:srgbClr val="523F3B"/>
                  </a:solidFill>
                  <a:latin typeface="+mn-lt"/>
                  <a:ea typeface="+mn-ea"/>
                  <a:cs typeface="+mn-cs"/>
                </a:rPr>
                <a:t>团队日常工作，持续复盘改进</a:t>
              </a:r>
            </a:p>
          </p:txBody>
        </p:sp>
        <p:sp>
          <p:nvSpPr>
            <p:cNvPr id="17" name="Rectangle 17"/>
            <p:cNvSpPr/>
            <p:nvPr/>
          </p:nvSpPr>
          <p:spPr>
            <a:xfrm>
              <a:off x="5905500" y="1219200"/>
              <a:ext cx="571500" cy="57150"/>
            </a:xfrm>
            <a:prstGeom prst="roundRect">
              <a:avLst>
                <a:gd name="adj" fmla="val 50000"/>
              </a:avLst>
            </a:prstGeom>
            <a:solidFill>
              <a:srgbClr val="DDE2F5"/>
            </a:solidFill>
            <a:ln>
              <a:noFill/>
            </a:ln>
          </p:spPr>
        </p:sp>
      </p:grpSp>
      <p:grpSp>
        <p:nvGrpSpPr>
          <p:cNvPr id="22" name="stage-1"/>
          <p:cNvGrpSpPr/>
          <p:nvPr/>
        </p:nvGrpSpPr>
        <p:grpSpPr>
          <a:xfrm>
            <a:off x="447675" y="3293745"/>
            <a:ext cx="1333500" cy="459105"/>
            <a:chOff x="447675" y="3293745"/>
            <a:chExt cx="1333500" cy="459105"/>
          </a:xfrm>
        </p:grpSpPr>
        <p:sp>
          <p:nvSpPr>
            <p:cNvPr id="19" name="TextBox 19"/>
            <p:cNvSpPr txBox="1"/>
            <p:nvPr/>
          </p:nvSpPr>
          <p:spPr>
            <a:xfrm>
              <a:off x="490538" y="3293745"/>
              <a:ext cx="432938" cy="176212"/>
            </a:xfrm>
            <a:prstGeom prst="rect">
              <a:avLst/>
            </a:prstGeom>
            <a:noFill/>
            <a:ln>
              <a:noFill/>
            </a:ln>
          </p:spPr>
          <p:txBody>
            <a:bodyPr wrap="none" lIns="0" tIns="0" rIns="0" bIns="0" anchor="t" anchorCtr="0">
              <a:spAutoFit/>
            </a:bodyPr>
            <a:lstStyle/>
            <a:p>
              <a:pPr algn="l"/>
              <a:r>
                <a:rPr lang="en-US" sz="900" b="1" dirty="0">
                  <a:solidFill>
                    <a:srgbClr val="C1553F"/>
                  </a:solidFill>
                  <a:latin typeface="+mn-lt"/>
                  <a:ea typeface="+mn-ea"/>
                  <a:cs typeface="+mn-cs"/>
                </a:rPr>
                <a:t>W1-W2</a:t>
              </a:r>
            </a:p>
          </p:txBody>
        </p:sp>
        <p:sp>
          <p:nvSpPr>
            <p:cNvPr id="20" name="Rectangle 20"/>
            <p:cNvSpPr/>
            <p:nvPr/>
          </p:nvSpPr>
          <p:spPr>
            <a:xfrm>
              <a:off x="447675" y="3486150"/>
              <a:ext cx="1333500" cy="266700"/>
            </a:xfrm>
            <a:prstGeom prst="roundRect">
              <a:avLst>
                <a:gd name="adj" fmla="val 50000"/>
              </a:avLst>
            </a:prstGeom>
            <a:gradFill>
              <a:gsLst>
                <a:gs pos="0">
                  <a:srgbClr val="E5624C"/>
                </a:gs>
                <a:gs pos="100000">
                  <a:srgbClr val="F0998A"/>
                </a:gs>
              </a:gsLst>
              <a:lin ang="0" scaled="1"/>
            </a:gradFill>
            <a:ln>
              <a:noFill/>
            </a:ln>
          </p:spPr>
        </p:sp>
        <p:sp>
          <p:nvSpPr>
            <p:cNvPr id="21" name="TextBox 21"/>
            <p:cNvSpPr txBox="1"/>
            <p:nvPr/>
          </p:nvSpPr>
          <p:spPr>
            <a:xfrm>
              <a:off x="779653" y="3561874"/>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规划和设计</a:t>
              </a:r>
            </a:p>
          </p:txBody>
        </p:sp>
      </p:grpSp>
      <p:grpSp>
        <p:nvGrpSpPr>
          <p:cNvPr id="26" name="stage-2"/>
          <p:cNvGrpSpPr/>
          <p:nvPr/>
        </p:nvGrpSpPr>
        <p:grpSpPr>
          <a:xfrm>
            <a:off x="3267075" y="2303145"/>
            <a:ext cx="1428750" cy="459105"/>
            <a:chOff x="3267075" y="2303145"/>
            <a:chExt cx="1428750" cy="459105"/>
          </a:xfrm>
        </p:grpSpPr>
        <p:sp>
          <p:nvSpPr>
            <p:cNvPr id="23" name="TextBox 23"/>
            <p:cNvSpPr txBox="1"/>
            <p:nvPr/>
          </p:nvSpPr>
          <p:spPr>
            <a:xfrm>
              <a:off x="3309938" y="2303145"/>
              <a:ext cx="432938" cy="176212"/>
            </a:xfrm>
            <a:prstGeom prst="rect">
              <a:avLst/>
            </a:prstGeom>
            <a:noFill/>
            <a:ln>
              <a:noFill/>
            </a:ln>
          </p:spPr>
          <p:txBody>
            <a:bodyPr wrap="none" lIns="0" tIns="0" rIns="0" bIns="0" anchor="t" anchorCtr="0">
              <a:spAutoFit/>
            </a:bodyPr>
            <a:lstStyle/>
            <a:p>
              <a:pPr algn="l"/>
              <a:r>
                <a:rPr lang="en-US" sz="900" b="1" dirty="0">
                  <a:solidFill>
                    <a:srgbClr val="C1553F"/>
                  </a:solidFill>
                  <a:latin typeface="+mn-lt"/>
                  <a:ea typeface="+mn-ea"/>
                  <a:cs typeface="+mn-cs"/>
                </a:rPr>
                <a:t>W3-W4</a:t>
              </a:r>
            </a:p>
          </p:txBody>
        </p:sp>
        <p:sp>
          <p:nvSpPr>
            <p:cNvPr id="24" name="Rectangle 24"/>
            <p:cNvSpPr/>
            <p:nvPr/>
          </p:nvSpPr>
          <p:spPr>
            <a:xfrm>
              <a:off x="3267075" y="2495550"/>
              <a:ext cx="1428750" cy="266700"/>
            </a:xfrm>
            <a:prstGeom prst="roundRect">
              <a:avLst>
                <a:gd name="adj" fmla="val 50000"/>
              </a:avLst>
            </a:prstGeom>
            <a:gradFill>
              <a:gsLst>
                <a:gs pos="0">
                  <a:srgbClr val="E5624C"/>
                </a:gs>
                <a:gs pos="100000">
                  <a:srgbClr val="F0998A"/>
                </a:gs>
              </a:gsLst>
              <a:lin ang="0" scaled="1"/>
            </a:gradFill>
            <a:ln>
              <a:noFill/>
            </a:ln>
          </p:spPr>
        </p:sp>
        <p:sp>
          <p:nvSpPr>
            <p:cNvPr id="25" name="TextBox 25"/>
            <p:cNvSpPr txBox="1"/>
            <p:nvPr/>
          </p:nvSpPr>
          <p:spPr>
            <a:xfrm>
              <a:off x="3646678" y="2571274"/>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计划和跟踪</a:t>
              </a:r>
            </a:p>
          </p:txBody>
        </p:sp>
      </p:grpSp>
      <p:grpSp>
        <p:nvGrpSpPr>
          <p:cNvPr id="30" name="stage-3"/>
          <p:cNvGrpSpPr/>
          <p:nvPr/>
        </p:nvGrpSpPr>
        <p:grpSpPr>
          <a:xfrm>
            <a:off x="6200775" y="1864995"/>
            <a:ext cx="1333500" cy="459105"/>
            <a:chOff x="6200775" y="1864995"/>
            <a:chExt cx="1333500" cy="459105"/>
          </a:xfrm>
        </p:grpSpPr>
        <p:sp>
          <p:nvSpPr>
            <p:cNvPr id="27" name="TextBox 27"/>
            <p:cNvSpPr txBox="1"/>
            <p:nvPr/>
          </p:nvSpPr>
          <p:spPr>
            <a:xfrm>
              <a:off x="6243638" y="1864995"/>
              <a:ext cx="432938" cy="176212"/>
            </a:xfrm>
            <a:prstGeom prst="rect">
              <a:avLst/>
            </a:prstGeom>
            <a:noFill/>
            <a:ln>
              <a:noFill/>
            </a:ln>
          </p:spPr>
          <p:txBody>
            <a:bodyPr wrap="none" lIns="0" tIns="0" rIns="0" bIns="0" anchor="t" anchorCtr="0">
              <a:spAutoFit/>
            </a:bodyPr>
            <a:lstStyle/>
            <a:p>
              <a:pPr algn="l"/>
              <a:r>
                <a:rPr lang="en-US" sz="900" b="1" dirty="0">
                  <a:solidFill>
                    <a:srgbClr val="C1553F"/>
                  </a:solidFill>
                  <a:latin typeface="+mn-lt"/>
                  <a:ea typeface="+mn-ea"/>
                  <a:cs typeface="+mn-cs"/>
                </a:rPr>
                <a:t>W5-W8</a:t>
              </a:r>
            </a:p>
          </p:txBody>
        </p:sp>
        <p:sp>
          <p:nvSpPr>
            <p:cNvPr id="28" name="Rectangle 28"/>
            <p:cNvSpPr/>
            <p:nvPr/>
          </p:nvSpPr>
          <p:spPr>
            <a:xfrm>
              <a:off x="6200775" y="2057400"/>
              <a:ext cx="1333500" cy="266700"/>
            </a:xfrm>
            <a:prstGeom prst="roundRect">
              <a:avLst>
                <a:gd name="adj" fmla="val 50000"/>
              </a:avLst>
            </a:prstGeom>
            <a:gradFill>
              <a:gsLst>
                <a:gs pos="0">
                  <a:srgbClr val="E5624C"/>
                </a:gs>
                <a:gs pos="100000">
                  <a:srgbClr val="F0998A"/>
                </a:gs>
              </a:gsLst>
              <a:lin ang="0" scaled="1"/>
            </a:gradFill>
            <a:ln>
              <a:noFill/>
            </a:ln>
          </p:spPr>
        </p:sp>
        <p:sp>
          <p:nvSpPr>
            <p:cNvPr id="29" name="TextBox 29"/>
            <p:cNvSpPr txBox="1"/>
            <p:nvPr/>
          </p:nvSpPr>
          <p:spPr>
            <a:xfrm>
              <a:off x="6598717" y="21331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迭代开发</a:t>
              </a:r>
            </a:p>
          </p:txBody>
        </p:sp>
      </p:grpSp>
      <p:grpSp>
        <p:nvGrpSpPr>
          <p:cNvPr id="34" name="stage-4"/>
          <p:cNvGrpSpPr/>
          <p:nvPr/>
        </p:nvGrpSpPr>
        <p:grpSpPr>
          <a:xfrm>
            <a:off x="9058275" y="1331595"/>
            <a:ext cx="1428750" cy="459105"/>
            <a:chOff x="9058275" y="1331595"/>
            <a:chExt cx="1428750" cy="459105"/>
          </a:xfrm>
        </p:grpSpPr>
        <p:sp>
          <p:nvSpPr>
            <p:cNvPr id="31" name="TextBox 31"/>
            <p:cNvSpPr txBox="1"/>
            <p:nvPr/>
          </p:nvSpPr>
          <p:spPr>
            <a:xfrm>
              <a:off x="9101138" y="1331595"/>
              <a:ext cx="506867" cy="176212"/>
            </a:xfrm>
            <a:prstGeom prst="rect">
              <a:avLst/>
            </a:prstGeom>
            <a:noFill/>
            <a:ln>
              <a:noFill/>
            </a:ln>
          </p:spPr>
          <p:txBody>
            <a:bodyPr wrap="none" lIns="0" tIns="0" rIns="0" bIns="0" anchor="t" anchorCtr="0">
              <a:spAutoFit/>
            </a:bodyPr>
            <a:lstStyle/>
            <a:p>
              <a:pPr algn="l"/>
              <a:r>
                <a:rPr lang="en-US" sz="900" b="1" dirty="0">
                  <a:solidFill>
                    <a:srgbClr val="C1553F"/>
                  </a:solidFill>
                  <a:latin typeface="+mn-lt"/>
                  <a:ea typeface="+mn-ea"/>
                  <a:cs typeface="+mn-cs"/>
                </a:rPr>
                <a:t>W9-W10</a:t>
              </a:r>
            </a:p>
          </p:txBody>
        </p:sp>
        <p:sp>
          <p:nvSpPr>
            <p:cNvPr id="32" name="Rectangle 32"/>
            <p:cNvSpPr/>
            <p:nvPr/>
          </p:nvSpPr>
          <p:spPr>
            <a:xfrm>
              <a:off x="9058275" y="1524000"/>
              <a:ext cx="1428750" cy="266700"/>
            </a:xfrm>
            <a:prstGeom prst="roundRect">
              <a:avLst>
                <a:gd name="adj" fmla="val 50000"/>
              </a:avLst>
            </a:prstGeom>
            <a:gradFill>
              <a:gsLst>
                <a:gs pos="0">
                  <a:srgbClr val="E5624C"/>
                </a:gs>
                <a:gs pos="100000">
                  <a:srgbClr val="F0998A"/>
                </a:gs>
              </a:gsLst>
              <a:lin ang="0" scaled="1"/>
            </a:gradFill>
            <a:ln>
              <a:noFill/>
            </a:ln>
          </p:spPr>
        </p:sp>
        <p:sp>
          <p:nvSpPr>
            <p:cNvPr id="33" name="TextBox 33"/>
            <p:cNvSpPr txBox="1"/>
            <p:nvPr/>
          </p:nvSpPr>
          <p:spPr>
            <a:xfrm>
              <a:off x="9503842" y="15997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持续交付</a:t>
              </a:r>
            </a:p>
          </p:txBody>
        </p:sp>
      </p:grpSp>
      <p:grpSp>
        <p:nvGrpSpPr>
          <p:cNvPr id="51" name="tasks-col1"/>
          <p:cNvGrpSpPr/>
          <p:nvPr/>
        </p:nvGrpSpPr>
        <p:grpSpPr>
          <a:xfrm>
            <a:off x="819150" y="4114800"/>
            <a:ext cx="2152650" cy="2362200"/>
            <a:chOff x="819150" y="4114800"/>
            <a:chExt cx="2152650" cy="2362200"/>
          </a:xfrm>
        </p:grpSpPr>
        <p:sp>
          <p:nvSpPr>
            <p:cNvPr id="35" name="Rectangle 35"/>
            <p:cNvSpPr/>
            <p:nvPr/>
          </p:nvSpPr>
          <p:spPr>
            <a:xfrm>
              <a:off x="914400" y="4114800"/>
              <a:ext cx="2057400" cy="228600"/>
            </a:xfrm>
            <a:prstGeom prst="roundRect">
              <a:avLst>
                <a:gd name="adj" fmla="val 12500"/>
              </a:avLst>
            </a:prstGeom>
            <a:solidFill>
              <a:srgbClr val="C4624E"/>
            </a:solidFill>
            <a:ln>
              <a:noFill/>
            </a:ln>
          </p:spPr>
        </p:sp>
        <p:sp>
          <p:nvSpPr>
            <p:cNvPr id="36" name="TextBox 36"/>
            <p:cNvSpPr txBox="1"/>
            <p:nvPr/>
          </p:nvSpPr>
          <p:spPr>
            <a:xfrm>
              <a:off x="1706791" y="418361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影响地图</a:t>
              </a:r>
            </a:p>
          </p:txBody>
        </p:sp>
        <p:sp>
          <p:nvSpPr>
            <p:cNvPr id="37" name="Rectangle 37"/>
            <p:cNvSpPr/>
            <p:nvPr/>
          </p:nvSpPr>
          <p:spPr>
            <a:xfrm>
              <a:off x="914400" y="4343400"/>
              <a:ext cx="2057400" cy="723900"/>
            </a:xfrm>
            <a:prstGeom prst="rect">
              <a:avLst/>
            </a:prstGeom>
            <a:solidFill>
              <a:srgbClr val="FFFFFF"/>
            </a:solidFill>
            <a:ln w="9525">
              <a:solidFill>
                <a:srgbClr val="E4E7F5"/>
              </a:solidFill>
            </a:ln>
          </p:spPr>
        </p:sp>
        <p:sp>
          <p:nvSpPr>
            <p:cNvPr id="38" name="TextBox 38"/>
            <p:cNvSpPr txBox="1"/>
            <p:nvPr/>
          </p:nvSpPr>
          <p:spPr>
            <a:xfrm>
              <a:off x="1042988" y="4471988"/>
              <a:ext cx="1100138" cy="147638"/>
            </a:xfrm>
            <a:prstGeom prst="rect">
              <a:avLst/>
            </a:prstGeom>
            <a:noFill/>
            <a:ln>
              <a:noFill/>
            </a:ln>
          </p:spPr>
          <p:txBody>
            <a:bodyPr wrap="none" lIns="0" tIns="0" rIns="0" bIns="0" anchor="t" anchorCtr="0">
              <a:spAutoFit/>
            </a:bodyPr>
            <a:lstStyle/>
            <a:p>
              <a:pPr algn="l" marL="80962" indent="-80962">
                <a:buClr>
                  <a:srgbClr val="705F5B"/>
                </a:buClr>
                <a:buSzTx/>
                <a:buFontTx/>
                <a:buChar char="•"/>
              </a:pPr>
              <a:r>
                <a:rPr lang="zh-CN" sz="750" dirty="0">
                  <a:solidFill>
                    <a:srgbClr val="705F5B"/>
                  </a:solidFill>
                  <a:latin typeface="+mn-lt"/>
                  <a:ea typeface="+mn-ea"/>
                  <a:cs typeface="+mn-cs"/>
                </a:rPr>
                <a:t>使用影响地图进行产品</a:t>
              </a:r>
            </a:p>
          </p:txBody>
        </p:sp>
        <p:sp>
          <p:nvSpPr>
            <p:cNvPr id="39" name="TextBox 39"/>
            <p:cNvSpPr txBox="1"/>
            <p:nvPr/>
          </p:nvSpPr>
          <p:spPr>
            <a:xfrm>
              <a:off x="1119188" y="4614862"/>
              <a:ext cx="973741"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规划，梳理出产品/项</a:t>
              </a:r>
            </a:p>
          </p:txBody>
        </p:sp>
        <p:sp>
          <p:nvSpPr>
            <p:cNvPr id="40" name="TextBox 40"/>
            <p:cNvSpPr txBox="1"/>
            <p:nvPr/>
          </p:nvSpPr>
          <p:spPr>
            <a:xfrm>
              <a:off x="1119188" y="4757738"/>
              <a:ext cx="817245"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目的整体逻辑脉络</a:t>
              </a:r>
            </a:p>
          </p:txBody>
        </p:sp>
        <p:sp>
          <p:nvSpPr>
            <p:cNvPr id="41" name="Ellipse 41"/>
            <p:cNvSpPr/>
            <p:nvPr/>
          </p:nvSpPr>
          <p:spPr>
            <a:xfrm>
              <a:off x="819150" y="4610100"/>
              <a:ext cx="190500" cy="190500"/>
            </a:xfrm>
            <a:prstGeom prst="ellipse">
              <a:avLst/>
            </a:prstGeom>
            <a:solidFill>
              <a:srgbClr val="C4624E"/>
            </a:solidFill>
            <a:ln>
              <a:noFill/>
            </a:ln>
          </p:spPr>
        </p:sp>
        <p:sp>
          <p:nvSpPr>
            <p:cNvPr id="42" name="TextBox 42"/>
            <p:cNvSpPr txBox="1"/>
            <p:nvPr/>
          </p:nvSpPr>
          <p:spPr>
            <a:xfrm>
              <a:off x="880484" y="46624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43" name="Rectangle 43"/>
            <p:cNvSpPr/>
            <p:nvPr/>
          </p:nvSpPr>
          <p:spPr>
            <a:xfrm>
              <a:off x="914400" y="5524500"/>
              <a:ext cx="2057400" cy="228600"/>
            </a:xfrm>
            <a:prstGeom prst="roundRect">
              <a:avLst>
                <a:gd name="adj" fmla="val 12500"/>
              </a:avLst>
            </a:prstGeom>
            <a:solidFill>
              <a:srgbClr val="C4624E"/>
            </a:solidFill>
            <a:ln>
              <a:noFill/>
            </a:ln>
          </p:spPr>
        </p:sp>
        <p:sp>
          <p:nvSpPr>
            <p:cNvPr id="44" name="TextBox 44"/>
            <p:cNvSpPr txBox="1"/>
            <p:nvPr/>
          </p:nvSpPr>
          <p:spPr>
            <a:xfrm>
              <a:off x="1706791" y="559331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故事地图</a:t>
              </a:r>
            </a:p>
          </p:txBody>
        </p:sp>
        <p:sp>
          <p:nvSpPr>
            <p:cNvPr id="45" name="Rectangle 45"/>
            <p:cNvSpPr/>
            <p:nvPr/>
          </p:nvSpPr>
          <p:spPr>
            <a:xfrm>
              <a:off x="914400" y="5753100"/>
              <a:ext cx="2057400" cy="723900"/>
            </a:xfrm>
            <a:prstGeom prst="rect">
              <a:avLst/>
            </a:prstGeom>
            <a:solidFill>
              <a:srgbClr val="FFFFFF"/>
            </a:solidFill>
            <a:ln w="9525">
              <a:solidFill>
                <a:srgbClr val="E4E7F5"/>
              </a:solidFill>
            </a:ln>
          </p:spPr>
        </p:sp>
        <p:sp>
          <p:nvSpPr>
            <p:cNvPr id="46" name="TextBox 46"/>
            <p:cNvSpPr txBox="1"/>
            <p:nvPr/>
          </p:nvSpPr>
          <p:spPr>
            <a:xfrm>
              <a:off x="1042988" y="5881688"/>
              <a:ext cx="1100138" cy="147638"/>
            </a:xfrm>
            <a:prstGeom prst="rect">
              <a:avLst/>
            </a:prstGeom>
            <a:noFill/>
            <a:ln>
              <a:noFill/>
            </a:ln>
          </p:spPr>
          <p:txBody>
            <a:bodyPr wrap="none" lIns="0" tIns="0" rIns="0" bIns="0" anchor="t" anchorCtr="0">
              <a:spAutoFit/>
            </a:bodyPr>
            <a:lstStyle/>
            <a:p>
              <a:pPr algn="l" marL="80962" indent="-80962">
                <a:buClr>
                  <a:srgbClr val="705F5B"/>
                </a:buClr>
                <a:buSzTx/>
                <a:buFontTx/>
                <a:buChar char="•"/>
              </a:pPr>
              <a:r>
                <a:rPr lang="zh-CN" sz="750" dirty="0">
                  <a:solidFill>
                    <a:srgbClr val="705F5B"/>
                  </a:solidFill>
                  <a:latin typeface="+mn-lt"/>
                  <a:ea typeface="+mn-ea"/>
                  <a:cs typeface="+mn-cs"/>
                </a:rPr>
                <a:t>使用用户故事地图完成</a:t>
              </a:r>
            </a:p>
          </p:txBody>
        </p:sp>
        <p:sp>
          <p:nvSpPr>
            <p:cNvPr id="47" name="TextBox 47"/>
            <p:cNvSpPr txBox="1"/>
            <p:nvPr/>
          </p:nvSpPr>
          <p:spPr>
            <a:xfrm>
              <a:off x="1119188" y="6024562"/>
              <a:ext cx="1019175"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产品设计到实施计划的</a:t>
              </a:r>
            </a:p>
          </p:txBody>
        </p:sp>
        <p:sp>
          <p:nvSpPr>
            <p:cNvPr id="48" name="TextBox 48"/>
            <p:cNvSpPr txBox="1"/>
            <p:nvPr/>
          </p:nvSpPr>
          <p:spPr>
            <a:xfrm>
              <a:off x="1119188" y="6167438"/>
              <a:ext cx="211455"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拆分</a:t>
              </a:r>
            </a:p>
          </p:txBody>
        </p:sp>
        <p:sp>
          <p:nvSpPr>
            <p:cNvPr id="49" name="Ellipse 49"/>
            <p:cNvSpPr/>
            <p:nvPr/>
          </p:nvSpPr>
          <p:spPr>
            <a:xfrm>
              <a:off x="819150" y="6019800"/>
              <a:ext cx="190500" cy="190500"/>
            </a:xfrm>
            <a:prstGeom prst="ellipse">
              <a:avLst/>
            </a:prstGeom>
            <a:solidFill>
              <a:srgbClr val="C4624E"/>
            </a:solidFill>
            <a:ln>
              <a:noFill/>
            </a:ln>
          </p:spPr>
        </p:sp>
        <p:sp>
          <p:nvSpPr>
            <p:cNvPr id="50" name="TextBox 50"/>
            <p:cNvSpPr txBox="1"/>
            <p:nvPr/>
          </p:nvSpPr>
          <p:spPr>
            <a:xfrm>
              <a:off x="880484" y="60721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grpSp>
      <p:grpSp>
        <p:nvGrpSpPr>
          <p:cNvPr id="74" name="tasks-col2"/>
          <p:cNvGrpSpPr/>
          <p:nvPr/>
        </p:nvGrpSpPr>
        <p:grpSpPr>
          <a:xfrm>
            <a:off x="3752850" y="3048000"/>
            <a:ext cx="2152650" cy="3429000"/>
            <a:chOff x="3752850" y="3048000"/>
            <a:chExt cx="2152650" cy="3429000"/>
          </a:xfrm>
        </p:grpSpPr>
        <p:sp>
          <p:nvSpPr>
            <p:cNvPr id="52" name="Rectangle 52"/>
            <p:cNvSpPr/>
            <p:nvPr/>
          </p:nvSpPr>
          <p:spPr>
            <a:xfrm>
              <a:off x="3848100" y="3048000"/>
              <a:ext cx="2057400" cy="228600"/>
            </a:xfrm>
            <a:prstGeom prst="roundRect">
              <a:avLst>
                <a:gd name="adj" fmla="val 12500"/>
              </a:avLst>
            </a:prstGeom>
            <a:solidFill>
              <a:srgbClr val="C4624E"/>
            </a:solidFill>
            <a:ln>
              <a:noFill/>
            </a:ln>
          </p:spPr>
        </p:sp>
        <p:sp>
          <p:nvSpPr>
            <p:cNvPr id="53" name="TextBox 53"/>
            <p:cNvSpPr txBox="1"/>
            <p:nvPr/>
          </p:nvSpPr>
          <p:spPr>
            <a:xfrm>
              <a:off x="4524718" y="3116818"/>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产品故事列表</a:t>
              </a:r>
            </a:p>
          </p:txBody>
        </p:sp>
        <p:sp>
          <p:nvSpPr>
            <p:cNvPr id="54" name="Rectangle 54"/>
            <p:cNvSpPr/>
            <p:nvPr/>
          </p:nvSpPr>
          <p:spPr>
            <a:xfrm>
              <a:off x="3848100" y="3276600"/>
              <a:ext cx="2057400" cy="723900"/>
            </a:xfrm>
            <a:prstGeom prst="rect">
              <a:avLst/>
            </a:prstGeom>
            <a:solidFill>
              <a:srgbClr val="FFFFFF"/>
            </a:solidFill>
            <a:ln w="9525">
              <a:solidFill>
                <a:srgbClr val="E4E7F5"/>
              </a:solidFill>
            </a:ln>
          </p:spPr>
        </p:sp>
        <p:sp>
          <p:nvSpPr>
            <p:cNvPr id="55" name="TextBox 55"/>
            <p:cNvSpPr txBox="1"/>
            <p:nvPr/>
          </p:nvSpPr>
          <p:spPr>
            <a:xfrm>
              <a:off x="3976688" y="3405188"/>
              <a:ext cx="1042988" cy="433388"/>
            </a:xfrm>
            <a:prstGeom prst="rect">
              <a:avLst/>
            </a:prstGeom>
            <a:noFill/>
            <a:ln>
              <a:noFill/>
            </a:ln>
          </p:spPr>
          <p:txBody>
            <a:bodyPr wrap="none" lIns="0" tIns="0" rIns="0" bIns="0" anchor="t" anchorCtr="0">
              <a:spAutoFit/>
            </a:bodyPr>
            <a:lstStyle/>
            <a:p>
              <a:pPr algn="l" marL="80962" indent="-80962">
                <a:lnSpc>
                  <a:spcPts val="1125"/>
                </a:lnSpc>
                <a:buClr>
                  <a:srgbClr val="705F5B"/>
                </a:buClr>
                <a:buSzTx/>
                <a:buFontTx/>
                <a:buChar char="•"/>
              </a:pPr>
              <a:r>
                <a:rPr lang="zh-CN" sz="750" dirty="0">
                  <a:solidFill>
                    <a:srgbClr val="705F5B"/>
                  </a:solidFill>
                  <a:latin typeface="+mn-lt"/>
                  <a:ea typeface="+mn-ea"/>
                  <a:cs typeface="+mn-cs"/>
                </a:rPr>
                <a:t>条目化用户故事</a:t>
              </a:r>
            </a:p>
            <a:p>
              <a:pPr algn="l" marL="80962" indent="-80962">
                <a:lnSpc>
                  <a:spcPts val="1125"/>
                </a:lnSpc>
                <a:buClr>
                  <a:srgbClr val="705F5B"/>
                </a:buClr>
                <a:buSzTx/>
                <a:buFontTx/>
                <a:buChar char="•"/>
              </a:pPr>
              <a:r>
                <a:rPr lang="zh-CN" sz="750" dirty="0">
                  <a:solidFill>
                    <a:srgbClr val="705F5B"/>
                  </a:solidFill>
                  <a:latin typeface="+mn-lt"/>
                  <a:ea typeface="+mn-ea"/>
                  <a:cs typeface="+mn-cs"/>
                </a:rPr>
                <a:t>按优先级排序</a:t>
              </a:r>
            </a:p>
            <a:p>
              <a:pPr algn="l" marL="80962" indent="-80962">
                <a:lnSpc>
                  <a:spcPts val="1125"/>
                </a:lnSpc>
                <a:buClr>
                  <a:srgbClr val="705F5B"/>
                </a:buClr>
                <a:buSzTx/>
                <a:buFontTx/>
                <a:buChar char="•"/>
              </a:pPr>
              <a:r>
                <a:rPr lang="zh-CN" sz="750" dirty="0">
                  <a:solidFill>
                    <a:srgbClr val="705F5B"/>
                  </a:solidFill>
                  <a:latin typeface="+mn-lt"/>
                  <a:ea typeface="+mn-ea"/>
                  <a:cs typeface="+mn-cs"/>
                </a:rPr>
                <a:t>按照用户故事进行开发</a:t>
              </a:r>
            </a:p>
          </p:txBody>
        </p:sp>
        <p:sp>
          <p:nvSpPr>
            <p:cNvPr id="56" name="Ellipse 56"/>
            <p:cNvSpPr/>
            <p:nvPr/>
          </p:nvSpPr>
          <p:spPr>
            <a:xfrm>
              <a:off x="3752850" y="3543300"/>
              <a:ext cx="190500" cy="190500"/>
            </a:xfrm>
            <a:prstGeom prst="ellipse">
              <a:avLst/>
            </a:prstGeom>
            <a:solidFill>
              <a:srgbClr val="C4624E"/>
            </a:solidFill>
            <a:ln>
              <a:noFill/>
            </a:ln>
          </p:spPr>
        </p:sp>
        <p:sp>
          <p:nvSpPr>
            <p:cNvPr id="57" name="TextBox 57"/>
            <p:cNvSpPr txBox="1"/>
            <p:nvPr/>
          </p:nvSpPr>
          <p:spPr>
            <a:xfrm>
              <a:off x="3814184" y="35956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58" name="Rectangle 58"/>
            <p:cNvSpPr/>
            <p:nvPr/>
          </p:nvSpPr>
          <p:spPr>
            <a:xfrm>
              <a:off x="3848100" y="4286250"/>
              <a:ext cx="2057400" cy="228600"/>
            </a:xfrm>
            <a:prstGeom prst="roundRect">
              <a:avLst>
                <a:gd name="adj" fmla="val 12500"/>
              </a:avLst>
            </a:prstGeom>
            <a:solidFill>
              <a:srgbClr val="C4624E"/>
            </a:solidFill>
            <a:ln>
              <a:noFill/>
            </a:ln>
          </p:spPr>
        </p:sp>
        <p:sp>
          <p:nvSpPr>
            <p:cNvPr id="59" name="TextBox 59"/>
            <p:cNvSpPr txBox="1"/>
            <p:nvPr/>
          </p:nvSpPr>
          <p:spPr>
            <a:xfrm>
              <a:off x="4524718" y="4355068"/>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迭代故事列表</a:t>
              </a:r>
            </a:p>
          </p:txBody>
        </p:sp>
        <p:sp>
          <p:nvSpPr>
            <p:cNvPr id="60" name="Rectangle 60"/>
            <p:cNvSpPr/>
            <p:nvPr/>
          </p:nvSpPr>
          <p:spPr>
            <a:xfrm>
              <a:off x="3848100" y="4514850"/>
              <a:ext cx="2057400" cy="723900"/>
            </a:xfrm>
            <a:prstGeom prst="rect">
              <a:avLst/>
            </a:prstGeom>
            <a:solidFill>
              <a:srgbClr val="FFFFFF"/>
            </a:solidFill>
            <a:ln w="9525">
              <a:solidFill>
                <a:srgbClr val="E4E7F5"/>
              </a:solidFill>
            </a:ln>
          </p:spPr>
        </p:sp>
        <p:sp>
          <p:nvSpPr>
            <p:cNvPr id="61" name="TextBox 61"/>
            <p:cNvSpPr txBox="1"/>
            <p:nvPr/>
          </p:nvSpPr>
          <p:spPr>
            <a:xfrm>
              <a:off x="3976688" y="4643438"/>
              <a:ext cx="1100138" cy="147638"/>
            </a:xfrm>
            <a:prstGeom prst="rect">
              <a:avLst/>
            </a:prstGeom>
            <a:noFill/>
            <a:ln>
              <a:noFill/>
            </a:ln>
          </p:spPr>
          <p:txBody>
            <a:bodyPr wrap="none" lIns="0" tIns="0" rIns="0" bIns="0" anchor="t" anchorCtr="0">
              <a:spAutoFit/>
            </a:bodyPr>
            <a:lstStyle/>
            <a:p>
              <a:pPr algn="l" marL="80962" indent="-80962">
                <a:buClr>
                  <a:srgbClr val="705F5B"/>
                </a:buClr>
                <a:buSzTx/>
                <a:buFontTx/>
                <a:buChar char="•"/>
              </a:pPr>
              <a:r>
                <a:rPr lang="zh-CN" sz="750" dirty="0">
                  <a:solidFill>
                    <a:srgbClr val="705F5B"/>
                  </a:solidFill>
                  <a:latin typeface="+mn-lt"/>
                  <a:ea typeface="+mn-ea"/>
                  <a:cs typeface="+mn-cs"/>
                </a:rPr>
                <a:t>拆分成可分配和跟踪的</a:t>
              </a:r>
            </a:p>
          </p:txBody>
        </p:sp>
        <p:sp>
          <p:nvSpPr>
            <p:cNvPr id="62" name="TextBox 62"/>
            <p:cNvSpPr txBox="1"/>
            <p:nvPr/>
          </p:nvSpPr>
          <p:spPr>
            <a:xfrm>
              <a:off x="4052888" y="4786312"/>
              <a:ext cx="716280"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任务的故事列表</a:t>
              </a:r>
            </a:p>
          </p:txBody>
        </p:sp>
        <p:sp>
          <p:nvSpPr>
            <p:cNvPr id="63" name="TextBox 63"/>
            <p:cNvSpPr txBox="1"/>
            <p:nvPr/>
          </p:nvSpPr>
          <p:spPr>
            <a:xfrm>
              <a:off x="3976688" y="4929188"/>
              <a:ext cx="1100138" cy="147638"/>
            </a:xfrm>
            <a:prstGeom prst="rect">
              <a:avLst/>
            </a:prstGeom>
            <a:noFill/>
            <a:ln>
              <a:noFill/>
            </a:ln>
          </p:spPr>
          <p:txBody>
            <a:bodyPr wrap="none" lIns="0" tIns="0" rIns="0" bIns="0" anchor="t" anchorCtr="0">
              <a:spAutoFit/>
            </a:bodyPr>
            <a:lstStyle/>
            <a:p>
              <a:pPr algn="l" marL="80962" indent="-80962">
                <a:buClr>
                  <a:srgbClr val="705F5B"/>
                </a:buClr>
                <a:buSzTx/>
                <a:buFontTx/>
                <a:buChar char="•"/>
              </a:pPr>
              <a:r>
                <a:rPr lang="zh-CN" sz="750" dirty="0">
                  <a:solidFill>
                    <a:srgbClr val="705F5B"/>
                  </a:solidFill>
                  <a:latin typeface="+mn-lt"/>
                  <a:ea typeface="+mn-ea"/>
                  <a:cs typeface="+mn-cs"/>
                </a:rPr>
                <a:t>估算工作量并跟踪进展</a:t>
              </a:r>
            </a:p>
          </p:txBody>
        </p:sp>
        <p:sp>
          <p:nvSpPr>
            <p:cNvPr id="64" name="Ellipse 64"/>
            <p:cNvSpPr/>
            <p:nvPr/>
          </p:nvSpPr>
          <p:spPr>
            <a:xfrm>
              <a:off x="3752850" y="4781550"/>
              <a:ext cx="190500" cy="190500"/>
            </a:xfrm>
            <a:prstGeom prst="ellipse">
              <a:avLst/>
            </a:prstGeom>
            <a:solidFill>
              <a:srgbClr val="C4624E"/>
            </a:solidFill>
            <a:ln>
              <a:noFill/>
            </a:ln>
          </p:spPr>
        </p:sp>
        <p:sp>
          <p:nvSpPr>
            <p:cNvPr id="65" name="TextBox 65"/>
            <p:cNvSpPr txBox="1"/>
            <p:nvPr/>
          </p:nvSpPr>
          <p:spPr>
            <a:xfrm>
              <a:off x="3814184" y="48339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66" name="Rectangle 66"/>
            <p:cNvSpPr/>
            <p:nvPr/>
          </p:nvSpPr>
          <p:spPr>
            <a:xfrm>
              <a:off x="3848100" y="5524500"/>
              <a:ext cx="2057400" cy="228600"/>
            </a:xfrm>
            <a:prstGeom prst="roundRect">
              <a:avLst>
                <a:gd name="adj" fmla="val 12500"/>
              </a:avLst>
            </a:prstGeom>
            <a:solidFill>
              <a:srgbClr val="C4624E"/>
            </a:solidFill>
            <a:ln>
              <a:noFill/>
            </a:ln>
          </p:spPr>
        </p:sp>
        <p:sp>
          <p:nvSpPr>
            <p:cNvPr id="67" name="TextBox 67"/>
            <p:cNvSpPr txBox="1"/>
            <p:nvPr/>
          </p:nvSpPr>
          <p:spPr>
            <a:xfrm>
              <a:off x="4524718" y="5593318"/>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迭代计划会议</a:t>
              </a:r>
            </a:p>
          </p:txBody>
        </p:sp>
        <p:sp>
          <p:nvSpPr>
            <p:cNvPr id="68" name="Rectangle 68"/>
            <p:cNvSpPr/>
            <p:nvPr/>
          </p:nvSpPr>
          <p:spPr>
            <a:xfrm>
              <a:off x="3848100" y="5753100"/>
              <a:ext cx="2057400" cy="723900"/>
            </a:xfrm>
            <a:prstGeom prst="rect">
              <a:avLst/>
            </a:prstGeom>
            <a:solidFill>
              <a:srgbClr val="FFFFFF"/>
            </a:solidFill>
            <a:ln w="9525">
              <a:solidFill>
                <a:srgbClr val="E4E7F5"/>
              </a:solidFill>
            </a:ln>
          </p:spPr>
        </p:sp>
        <p:sp>
          <p:nvSpPr>
            <p:cNvPr id="69" name="TextBox 69"/>
            <p:cNvSpPr txBox="1"/>
            <p:nvPr/>
          </p:nvSpPr>
          <p:spPr>
            <a:xfrm>
              <a:off x="3976688" y="5881688"/>
              <a:ext cx="999172" cy="147638"/>
            </a:xfrm>
            <a:prstGeom prst="rect">
              <a:avLst/>
            </a:prstGeom>
            <a:noFill/>
            <a:ln>
              <a:noFill/>
            </a:ln>
          </p:spPr>
          <p:txBody>
            <a:bodyPr wrap="none" lIns="0" tIns="0" rIns="0" bIns="0" anchor="t" anchorCtr="0">
              <a:spAutoFit/>
            </a:bodyPr>
            <a:lstStyle/>
            <a:p>
              <a:pPr algn="l" marL="80962" indent="-80962">
                <a:buClr>
                  <a:srgbClr val="705F5B"/>
                </a:buClr>
                <a:buSzTx/>
                <a:buFontTx/>
                <a:buChar char="•"/>
              </a:pPr>
              <a:r>
                <a:rPr lang="zh-CN" sz="750" dirty="0">
                  <a:solidFill>
                    <a:srgbClr val="705F5B"/>
                  </a:solidFill>
                  <a:latin typeface="+mn-lt"/>
                  <a:ea typeface="+mn-ea"/>
                  <a:cs typeface="+mn-cs"/>
                </a:rPr>
                <a:t>确认资源和交付目标</a:t>
              </a:r>
            </a:p>
          </p:txBody>
        </p:sp>
        <p:sp>
          <p:nvSpPr>
            <p:cNvPr id="70" name="TextBox 70"/>
            <p:cNvSpPr txBox="1"/>
            <p:nvPr/>
          </p:nvSpPr>
          <p:spPr>
            <a:xfrm>
              <a:off x="3976688" y="6024562"/>
              <a:ext cx="1100138" cy="147638"/>
            </a:xfrm>
            <a:prstGeom prst="rect">
              <a:avLst/>
            </a:prstGeom>
            <a:noFill/>
            <a:ln>
              <a:noFill/>
            </a:ln>
          </p:spPr>
          <p:txBody>
            <a:bodyPr wrap="none" lIns="0" tIns="0" rIns="0" bIns="0" anchor="t" anchorCtr="0">
              <a:spAutoFit/>
            </a:bodyPr>
            <a:lstStyle/>
            <a:p>
              <a:pPr algn="l" marL="80962" indent="-80962">
                <a:buClr>
                  <a:srgbClr val="705F5B"/>
                </a:buClr>
                <a:buSzTx/>
                <a:buFontTx/>
                <a:buChar char="•"/>
              </a:pPr>
              <a:r>
                <a:rPr lang="zh-CN" sz="750" dirty="0">
                  <a:solidFill>
                    <a:srgbClr val="705F5B"/>
                  </a:solidFill>
                  <a:latin typeface="+mn-lt"/>
                  <a:ea typeface="+mn-ea"/>
                  <a:cs typeface="+mn-cs"/>
                </a:rPr>
                <a:t>故事估算和拆分确认为</a:t>
              </a:r>
            </a:p>
          </p:txBody>
        </p:sp>
        <p:sp>
          <p:nvSpPr>
            <p:cNvPr id="71" name="TextBox 71"/>
            <p:cNvSpPr txBox="1"/>
            <p:nvPr/>
          </p:nvSpPr>
          <p:spPr>
            <a:xfrm>
              <a:off x="4052888" y="6167438"/>
              <a:ext cx="817245"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下一迭代提供输入</a:t>
              </a:r>
            </a:p>
          </p:txBody>
        </p:sp>
        <p:sp>
          <p:nvSpPr>
            <p:cNvPr id="72" name="Ellipse 72"/>
            <p:cNvSpPr/>
            <p:nvPr/>
          </p:nvSpPr>
          <p:spPr>
            <a:xfrm>
              <a:off x="3752850" y="6019800"/>
              <a:ext cx="190500" cy="190500"/>
            </a:xfrm>
            <a:prstGeom prst="ellipse">
              <a:avLst/>
            </a:prstGeom>
            <a:solidFill>
              <a:srgbClr val="C4624E"/>
            </a:solidFill>
            <a:ln>
              <a:noFill/>
            </a:ln>
          </p:spPr>
        </p:sp>
        <p:sp>
          <p:nvSpPr>
            <p:cNvPr id="73" name="TextBox 73"/>
            <p:cNvSpPr txBox="1"/>
            <p:nvPr/>
          </p:nvSpPr>
          <p:spPr>
            <a:xfrm>
              <a:off x="3814184" y="60721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5</a:t>
              </a:r>
            </a:p>
          </p:txBody>
        </p:sp>
      </p:grpSp>
      <p:grpSp>
        <p:nvGrpSpPr>
          <p:cNvPr id="93" name="tasks-col3"/>
          <p:cNvGrpSpPr/>
          <p:nvPr/>
        </p:nvGrpSpPr>
        <p:grpSpPr>
          <a:xfrm>
            <a:off x="6743700" y="2762250"/>
            <a:ext cx="2152650" cy="3714750"/>
            <a:chOff x="6743700" y="2762250"/>
            <a:chExt cx="2152650" cy="3714750"/>
          </a:xfrm>
        </p:grpSpPr>
        <p:sp>
          <p:nvSpPr>
            <p:cNvPr id="75" name="Rectangle 75"/>
            <p:cNvSpPr/>
            <p:nvPr/>
          </p:nvSpPr>
          <p:spPr>
            <a:xfrm>
              <a:off x="6838950" y="2762250"/>
              <a:ext cx="2057400" cy="228600"/>
            </a:xfrm>
            <a:prstGeom prst="roundRect">
              <a:avLst>
                <a:gd name="adj" fmla="val 12500"/>
              </a:avLst>
            </a:prstGeom>
            <a:solidFill>
              <a:srgbClr val="C4624E"/>
            </a:solidFill>
            <a:ln>
              <a:noFill/>
            </a:ln>
          </p:spPr>
        </p:sp>
        <p:sp>
          <p:nvSpPr>
            <p:cNvPr id="76" name="TextBox 76"/>
            <p:cNvSpPr txBox="1"/>
            <p:nvPr/>
          </p:nvSpPr>
          <p:spPr>
            <a:xfrm>
              <a:off x="7399795" y="2831068"/>
              <a:ext cx="93571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领取任务进行编码</a:t>
              </a:r>
            </a:p>
          </p:txBody>
        </p:sp>
        <p:sp>
          <p:nvSpPr>
            <p:cNvPr id="77" name="Rectangle 77"/>
            <p:cNvSpPr/>
            <p:nvPr/>
          </p:nvSpPr>
          <p:spPr>
            <a:xfrm>
              <a:off x="6838950" y="2990850"/>
              <a:ext cx="2057400" cy="723900"/>
            </a:xfrm>
            <a:prstGeom prst="rect">
              <a:avLst/>
            </a:prstGeom>
            <a:solidFill>
              <a:srgbClr val="FFFFFF"/>
            </a:solidFill>
            <a:ln w="9525">
              <a:solidFill>
                <a:srgbClr val="E4E7F5"/>
              </a:solidFill>
            </a:ln>
          </p:spPr>
        </p:sp>
        <p:sp>
          <p:nvSpPr>
            <p:cNvPr id="78" name="TextBox 78"/>
            <p:cNvSpPr txBox="1"/>
            <p:nvPr/>
          </p:nvSpPr>
          <p:spPr>
            <a:xfrm>
              <a:off x="6967538" y="3119438"/>
              <a:ext cx="1138238" cy="433388"/>
            </a:xfrm>
            <a:prstGeom prst="rect">
              <a:avLst/>
            </a:prstGeom>
            <a:noFill/>
            <a:ln>
              <a:noFill/>
            </a:ln>
          </p:spPr>
          <p:txBody>
            <a:bodyPr wrap="none" lIns="0" tIns="0" rIns="0" bIns="0" anchor="t" anchorCtr="0">
              <a:spAutoFit/>
            </a:bodyPr>
            <a:lstStyle/>
            <a:p>
              <a:pPr algn="l" marL="80962" indent="-80962">
                <a:lnSpc>
                  <a:spcPts val="1125"/>
                </a:lnSpc>
                <a:buClr>
                  <a:srgbClr val="705F5B"/>
                </a:buClr>
                <a:buSzTx/>
                <a:buFontTx/>
                <a:buChar char="•"/>
              </a:pPr>
              <a:r>
                <a:rPr lang="zh-CN" sz="750" dirty="0">
                  <a:solidFill>
                    <a:srgbClr val="705F5B"/>
                  </a:solidFill>
                  <a:latin typeface="+mn-lt"/>
                  <a:ea typeface="+mn-ea"/>
                  <a:cs typeface="+mn-cs"/>
                </a:rPr>
                <a:t>按故事创建代码变更</a:t>
              </a:r>
            </a:p>
            <a:p>
              <a:pPr algn="l" marL="80962" indent="-80962">
                <a:lnSpc>
                  <a:spcPts val="1125"/>
                </a:lnSpc>
                <a:buClr>
                  <a:srgbClr val="705F5B"/>
                </a:buClr>
                <a:buSzTx/>
                <a:buFontTx/>
                <a:buChar char="•"/>
              </a:pPr>
              <a:r>
                <a:rPr lang="zh-CN" sz="750" dirty="0">
                  <a:solidFill>
                    <a:srgbClr val="705F5B"/>
                  </a:solidFill>
                  <a:latin typeface="+mn-lt"/>
                  <a:ea typeface="+mn-ea"/>
                  <a:cs typeface="+mn-cs"/>
                </a:rPr>
                <a:t>提交代码并跟踪代码质量</a:t>
              </a:r>
            </a:p>
            <a:p>
              <a:pPr algn="l" marL="80962" indent="-80962">
                <a:lnSpc>
                  <a:spcPts val="1125"/>
                </a:lnSpc>
                <a:buClr>
                  <a:srgbClr val="705F5B"/>
                </a:buClr>
                <a:buSzTx/>
                <a:buFontTx/>
                <a:buChar char="•"/>
              </a:pPr>
              <a:r>
                <a:rPr lang="zh-CN" sz="750" dirty="0">
                  <a:solidFill>
                    <a:srgbClr val="705F5B"/>
                  </a:solidFill>
                  <a:latin typeface="+mn-lt"/>
                  <a:ea typeface="+mn-ea"/>
                  <a:cs typeface="+mn-cs"/>
                </a:rPr>
                <a:t>提供新版本供测试验证</a:t>
              </a:r>
            </a:p>
          </p:txBody>
        </p:sp>
        <p:sp>
          <p:nvSpPr>
            <p:cNvPr id="79" name="Ellipse 79"/>
            <p:cNvSpPr/>
            <p:nvPr/>
          </p:nvSpPr>
          <p:spPr>
            <a:xfrm>
              <a:off x="6743700" y="3257550"/>
              <a:ext cx="190500" cy="190500"/>
            </a:xfrm>
            <a:prstGeom prst="ellipse">
              <a:avLst/>
            </a:prstGeom>
            <a:solidFill>
              <a:srgbClr val="C4624E"/>
            </a:solidFill>
            <a:ln>
              <a:noFill/>
            </a:ln>
          </p:spPr>
        </p:sp>
        <p:sp>
          <p:nvSpPr>
            <p:cNvPr id="80" name="TextBox 80"/>
            <p:cNvSpPr txBox="1"/>
            <p:nvPr/>
          </p:nvSpPr>
          <p:spPr>
            <a:xfrm>
              <a:off x="6805034" y="33099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6</a:t>
              </a:r>
            </a:p>
          </p:txBody>
        </p:sp>
        <p:sp>
          <p:nvSpPr>
            <p:cNvPr id="81" name="Rectangle 81"/>
            <p:cNvSpPr/>
            <p:nvPr/>
          </p:nvSpPr>
          <p:spPr>
            <a:xfrm>
              <a:off x="6838950" y="4152900"/>
              <a:ext cx="2057400" cy="228600"/>
            </a:xfrm>
            <a:prstGeom prst="roundRect">
              <a:avLst>
                <a:gd name="adj" fmla="val 12500"/>
              </a:avLst>
            </a:prstGeom>
            <a:solidFill>
              <a:srgbClr val="C4624E"/>
            </a:solidFill>
            <a:ln>
              <a:noFill/>
            </a:ln>
          </p:spPr>
        </p:sp>
        <p:sp>
          <p:nvSpPr>
            <p:cNvPr id="82" name="TextBox 82"/>
            <p:cNvSpPr txBox="1"/>
            <p:nvPr/>
          </p:nvSpPr>
          <p:spPr>
            <a:xfrm>
              <a:off x="7515568" y="4221718"/>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迭代评审会议</a:t>
              </a:r>
            </a:p>
          </p:txBody>
        </p:sp>
        <p:sp>
          <p:nvSpPr>
            <p:cNvPr id="83" name="Rectangle 83"/>
            <p:cNvSpPr/>
            <p:nvPr/>
          </p:nvSpPr>
          <p:spPr>
            <a:xfrm>
              <a:off x="6838950" y="4381500"/>
              <a:ext cx="2057400" cy="723900"/>
            </a:xfrm>
            <a:prstGeom prst="rect">
              <a:avLst/>
            </a:prstGeom>
            <a:solidFill>
              <a:srgbClr val="FFFFFF"/>
            </a:solidFill>
            <a:ln w="9525">
              <a:solidFill>
                <a:srgbClr val="E4E7F5"/>
              </a:solidFill>
            </a:ln>
          </p:spPr>
        </p:sp>
        <p:sp>
          <p:nvSpPr>
            <p:cNvPr id="84" name="TextBox 84"/>
            <p:cNvSpPr txBox="1"/>
            <p:nvPr/>
          </p:nvSpPr>
          <p:spPr>
            <a:xfrm>
              <a:off x="6967538" y="4510088"/>
              <a:ext cx="947738" cy="433388"/>
            </a:xfrm>
            <a:prstGeom prst="rect">
              <a:avLst/>
            </a:prstGeom>
            <a:noFill/>
            <a:ln>
              <a:noFill/>
            </a:ln>
          </p:spPr>
          <p:txBody>
            <a:bodyPr wrap="none" lIns="0" tIns="0" rIns="0" bIns="0" anchor="t" anchorCtr="0">
              <a:spAutoFit/>
            </a:bodyPr>
            <a:lstStyle/>
            <a:p>
              <a:pPr algn="l" marL="80962" indent="-80962">
                <a:lnSpc>
                  <a:spcPts val="1125"/>
                </a:lnSpc>
                <a:buClr>
                  <a:srgbClr val="705F5B"/>
                </a:buClr>
                <a:buSzTx/>
                <a:buFontTx/>
                <a:buChar char="•"/>
              </a:pPr>
              <a:r>
                <a:rPr lang="zh-CN" sz="750" dirty="0">
                  <a:solidFill>
                    <a:srgbClr val="705F5B"/>
                  </a:solidFill>
                  <a:latin typeface="+mn-lt"/>
                  <a:ea typeface="+mn-ea"/>
                  <a:cs typeface="+mn-cs"/>
                </a:rPr>
                <a:t>展示迭代开发成果</a:t>
              </a:r>
            </a:p>
            <a:p>
              <a:pPr algn="l" marL="80962" indent="-80962">
                <a:lnSpc>
                  <a:spcPts val="1125"/>
                </a:lnSpc>
                <a:buClr>
                  <a:srgbClr val="705F5B"/>
                </a:buClr>
                <a:buSzTx/>
                <a:buFontTx/>
                <a:buChar char="•"/>
              </a:pPr>
              <a:r>
                <a:rPr lang="zh-CN" sz="750" dirty="0">
                  <a:solidFill>
                    <a:srgbClr val="705F5B"/>
                  </a:solidFill>
                  <a:latin typeface="+mn-lt"/>
                  <a:ea typeface="+mn-ea"/>
                  <a:cs typeface="+mn-cs"/>
                </a:rPr>
                <a:t>确认交付物质量</a:t>
              </a:r>
            </a:p>
            <a:p>
              <a:pPr algn="l" marL="80962" indent="-80962">
                <a:lnSpc>
                  <a:spcPts val="1125"/>
                </a:lnSpc>
                <a:buClr>
                  <a:srgbClr val="705F5B"/>
                </a:buClr>
                <a:buSzTx/>
                <a:buFontTx/>
                <a:buChar char="•"/>
              </a:pPr>
              <a:r>
                <a:rPr lang="zh-CN" sz="750" dirty="0">
                  <a:solidFill>
                    <a:srgbClr val="705F5B"/>
                  </a:solidFill>
                  <a:latin typeface="+mn-lt"/>
                  <a:ea typeface="+mn-ea"/>
                  <a:cs typeface="+mn-cs"/>
                </a:rPr>
                <a:t>梳理和细化产品设计</a:t>
              </a:r>
            </a:p>
          </p:txBody>
        </p:sp>
        <p:sp>
          <p:nvSpPr>
            <p:cNvPr id="85" name="Ellipse 85"/>
            <p:cNvSpPr/>
            <p:nvPr/>
          </p:nvSpPr>
          <p:spPr>
            <a:xfrm>
              <a:off x="6743700" y="4648200"/>
              <a:ext cx="190500" cy="190500"/>
            </a:xfrm>
            <a:prstGeom prst="ellipse">
              <a:avLst/>
            </a:prstGeom>
            <a:solidFill>
              <a:srgbClr val="C4624E"/>
            </a:solidFill>
            <a:ln>
              <a:noFill/>
            </a:ln>
          </p:spPr>
        </p:sp>
        <p:sp>
          <p:nvSpPr>
            <p:cNvPr id="86" name="TextBox 86"/>
            <p:cNvSpPr txBox="1"/>
            <p:nvPr/>
          </p:nvSpPr>
          <p:spPr>
            <a:xfrm>
              <a:off x="6805034" y="47005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7</a:t>
              </a:r>
            </a:p>
          </p:txBody>
        </p:sp>
        <p:sp>
          <p:nvSpPr>
            <p:cNvPr id="87" name="Rectangle 87"/>
            <p:cNvSpPr/>
            <p:nvPr/>
          </p:nvSpPr>
          <p:spPr>
            <a:xfrm>
              <a:off x="6838950" y="5524500"/>
              <a:ext cx="2057400" cy="228600"/>
            </a:xfrm>
            <a:prstGeom prst="roundRect">
              <a:avLst>
                <a:gd name="adj" fmla="val 12500"/>
              </a:avLst>
            </a:prstGeom>
            <a:solidFill>
              <a:srgbClr val="C4624E"/>
            </a:solidFill>
            <a:ln>
              <a:noFill/>
            </a:ln>
          </p:spPr>
        </p:sp>
        <p:sp>
          <p:nvSpPr>
            <p:cNvPr id="88" name="TextBox 88"/>
            <p:cNvSpPr txBox="1"/>
            <p:nvPr/>
          </p:nvSpPr>
          <p:spPr>
            <a:xfrm>
              <a:off x="7631341" y="559331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回顾会议</a:t>
              </a:r>
            </a:p>
          </p:txBody>
        </p:sp>
        <p:sp>
          <p:nvSpPr>
            <p:cNvPr id="89" name="Rectangle 89"/>
            <p:cNvSpPr/>
            <p:nvPr/>
          </p:nvSpPr>
          <p:spPr>
            <a:xfrm>
              <a:off x="6838950" y="5753100"/>
              <a:ext cx="2057400" cy="723900"/>
            </a:xfrm>
            <a:prstGeom prst="rect">
              <a:avLst/>
            </a:prstGeom>
            <a:solidFill>
              <a:srgbClr val="FFFFFF"/>
            </a:solidFill>
            <a:ln w="9525">
              <a:solidFill>
                <a:srgbClr val="E4E7F5"/>
              </a:solidFill>
            </a:ln>
          </p:spPr>
        </p:sp>
        <p:sp>
          <p:nvSpPr>
            <p:cNvPr id="90" name="TextBox 90"/>
            <p:cNvSpPr txBox="1"/>
            <p:nvPr/>
          </p:nvSpPr>
          <p:spPr>
            <a:xfrm>
              <a:off x="6967538" y="5881688"/>
              <a:ext cx="1042988" cy="433388"/>
            </a:xfrm>
            <a:prstGeom prst="rect">
              <a:avLst/>
            </a:prstGeom>
            <a:noFill/>
            <a:ln>
              <a:noFill/>
            </a:ln>
          </p:spPr>
          <p:txBody>
            <a:bodyPr wrap="none" lIns="0" tIns="0" rIns="0" bIns="0" anchor="t" anchorCtr="0">
              <a:spAutoFit/>
            </a:bodyPr>
            <a:lstStyle/>
            <a:p>
              <a:pPr algn="l" marL="80962" indent="-80962">
                <a:lnSpc>
                  <a:spcPts val="1125"/>
                </a:lnSpc>
                <a:buClr>
                  <a:srgbClr val="705F5B"/>
                </a:buClr>
                <a:buSzTx/>
                <a:buFontTx/>
                <a:buChar char="•"/>
              </a:pPr>
              <a:r>
                <a:rPr lang="zh-CN" sz="750" dirty="0">
                  <a:solidFill>
                    <a:srgbClr val="705F5B"/>
                  </a:solidFill>
                  <a:latin typeface="+mn-lt"/>
                  <a:ea typeface="+mn-ea"/>
                  <a:cs typeface="+mn-cs"/>
                </a:rPr>
                <a:t>定期总结问题和经验</a:t>
              </a:r>
            </a:p>
            <a:p>
              <a:pPr algn="l" marL="80962" indent="-80962">
                <a:lnSpc>
                  <a:spcPts val="1125"/>
                </a:lnSpc>
                <a:buClr>
                  <a:srgbClr val="705F5B"/>
                </a:buClr>
                <a:buSzTx/>
                <a:buFontTx/>
                <a:buChar char="•"/>
              </a:pPr>
              <a:r>
                <a:rPr lang="zh-CN" sz="750" dirty="0">
                  <a:solidFill>
                    <a:srgbClr val="705F5B"/>
                  </a:solidFill>
                  <a:latin typeface="+mn-lt"/>
                  <a:ea typeface="+mn-ea"/>
                  <a:cs typeface="+mn-cs"/>
                </a:rPr>
                <a:t>肯定成绩，认识不足</a:t>
              </a:r>
            </a:p>
            <a:p>
              <a:pPr algn="l" marL="80962" indent="-80962">
                <a:lnSpc>
                  <a:spcPts val="1125"/>
                </a:lnSpc>
                <a:buClr>
                  <a:srgbClr val="705F5B"/>
                </a:buClr>
                <a:buSzTx/>
                <a:buFontTx/>
                <a:buChar char="•"/>
              </a:pPr>
              <a:r>
                <a:rPr lang="zh-CN" sz="750" dirty="0">
                  <a:solidFill>
                    <a:srgbClr val="705F5B"/>
                  </a:solidFill>
                  <a:latin typeface="+mn-lt"/>
                  <a:ea typeface="+mn-ea"/>
                  <a:cs typeface="+mn-cs"/>
                </a:rPr>
                <a:t>消除技术债，持续改进</a:t>
              </a:r>
            </a:p>
          </p:txBody>
        </p:sp>
        <p:sp>
          <p:nvSpPr>
            <p:cNvPr id="91" name="Ellipse 91"/>
            <p:cNvSpPr/>
            <p:nvPr/>
          </p:nvSpPr>
          <p:spPr>
            <a:xfrm>
              <a:off x="6743700" y="6019800"/>
              <a:ext cx="190500" cy="190500"/>
            </a:xfrm>
            <a:prstGeom prst="ellipse">
              <a:avLst/>
            </a:prstGeom>
            <a:solidFill>
              <a:srgbClr val="C4624E"/>
            </a:solidFill>
            <a:ln>
              <a:noFill/>
            </a:ln>
          </p:spPr>
        </p:sp>
        <p:sp>
          <p:nvSpPr>
            <p:cNvPr id="92" name="TextBox 92"/>
            <p:cNvSpPr txBox="1"/>
            <p:nvPr/>
          </p:nvSpPr>
          <p:spPr>
            <a:xfrm>
              <a:off x="6805034" y="607218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8</a:t>
              </a:r>
            </a:p>
          </p:txBody>
        </p:sp>
      </p:grpSp>
      <p:grpSp>
        <p:nvGrpSpPr>
          <p:cNvPr id="118" name="tasks-col4"/>
          <p:cNvGrpSpPr/>
          <p:nvPr/>
        </p:nvGrpSpPr>
        <p:grpSpPr>
          <a:xfrm>
            <a:off x="9677400" y="2009775"/>
            <a:ext cx="2152650" cy="4638675"/>
            <a:chOff x="9677400" y="2009775"/>
            <a:chExt cx="2152650" cy="4638675"/>
          </a:xfrm>
        </p:grpSpPr>
        <p:sp>
          <p:nvSpPr>
            <p:cNvPr id="94" name="Rectangle 94"/>
            <p:cNvSpPr/>
            <p:nvPr/>
          </p:nvSpPr>
          <p:spPr>
            <a:xfrm>
              <a:off x="9772650" y="2009775"/>
              <a:ext cx="2057400" cy="228600"/>
            </a:xfrm>
            <a:prstGeom prst="roundRect">
              <a:avLst>
                <a:gd name="adj" fmla="val 12500"/>
              </a:avLst>
            </a:prstGeom>
            <a:solidFill>
              <a:srgbClr val="C4624E"/>
            </a:solidFill>
            <a:ln>
              <a:noFill/>
            </a:ln>
          </p:spPr>
        </p:sp>
        <p:sp>
          <p:nvSpPr>
            <p:cNvPr id="95" name="TextBox 95"/>
            <p:cNvSpPr txBox="1"/>
            <p:nvPr/>
          </p:nvSpPr>
          <p:spPr>
            <a:xfrm>
              <a:off x="10565041" y="20785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代码检查</a:t>
              </a:r>
            </a:p>
          </p:txBody>
        </p:sp>
        <p:sp>
          <p:nvSpPr>
            <p:cNvPr id="96" name="Rectangle 96"/>
            <p:cNvSpPr/>
            <p:nvPr/>
          </p:nvSpPr>
          <p:spPr>
            <a:xfrm>
              <a:off x="9772650" y="2238375"/>
              <a:ext cx="2057400" cy="723900"/>
            </a:xfrm>
            <a:prstGeom prst="rect">
              <a:avLst/>
            </a:prstGeom>
            <a:solidFill>
              <a:srgbClr val="FFFFFF"/>
            </a:solidFill>
            <a:ln w="9525">
              <a:solidFill>
                <a:srgbClr val="E4E7F5"/>
              </a:solidFill>
            </a:ln>
          </p:spPr>
        </p:sp>
        <p:sp>
          <p:nvSpPr>
            <p:cNvPr id="97" name="TextBox 97"/>
            <p:cNvSpPr txBox="1"/>
            <p:nvPr/>
          </p:nvSpPr>
          <p:spPr>
            <a:xfrm>
              <a:off x="9901238" y="2366962"/>
              <a:ext cx="1138238" cy="433388"/>
            </a:xfrm>
            <a:prstGeom prst="rect">
              <a:avLst/>
            </a:prstGeom>
            <a:noFill/>
            <a:ln>
              <a:noFill/>
            </a:ln>
          </p:spPr>
          <p:txBody>
            <a:bodyPr wrap="none" lIns="0" tIns="0" rIns="0" bIns="0" anchor="t" anchorCtr="0">
              <a:spAutoFit/>
            </a:bodyPr>
            <a:lstStyle/>
            <a:p>
              <a:pPr algn="l" marL="80962" indent="-80962">
                <a:lnSpc>
                  <a:spcPts val="1125"/>
                </a:lnSpc>
                <a:buClr>
                  <a:srgbClr val="705F5B"/>
                </a:buClr>
                <a:buSzTx/>
                <a:buFontTx/>
                <a:buChar char="•"/>
              </a:pPr>
              <a:r>
                <a:rPr lang="zh-CN" sz="750" dirty="0">
                  <a:solidFill>
                    <a:srgbClr val="705F5B"/>
                  </a:solidFill>
                  <a:latin typeface="+mn-lt"/>
                  <a:ea typeface="+mn-ea"/>
                  <a:cs typeface="+mn-cs"/>
                </a:rPr>
                <a:t>持续执行代码静态检查</a:t>
              </a:r>
            </a:p>
            <a:p>
              <a:pPr algn="l" marL="80962" indent="-80962">
                <a:lnSpc>
                  <a:spcPts val="1125"/>
                </a:lnSpc>
                <a:buClr>
                  <a:srgbClr val="705F5B"/>
                </a:buClr>
                <a:buSzTx/>
                <a:buFontTx/>
                <a:buChar char="•"/>
              </a:pPr>
              <a:r>
                <a:rPr lang="zh-CN" sz="750" dirty="0">
                  <a:solidFill>
                    <a:srgbClr val="705F5B"/>
                  </a:solidFill>
                  <a:latin typeface="+mn-lt"/>
                  <a:ea typeface="+mn-ea"/>
                  <a:cs typeface="+mn-cs"/>
                </a:rPr>
                <a:t>提供高质量代码基准</a:t>
              </a:r>
            </a:p>
            <a:p>
              <a:pPr algn="l" marL="80962" indent="-80962">
                <a:lnSpc>
                  <a:spcPts val="1125"/>
                </a:lnSpc>
                <a:buClr>
                  <a:srgbClr val="705F5B"/>
                </a:buClr>
                <a:buSzTx/>
                <a:buFontTx/>
                <a:buChar char="•"/>
              </a:pPr>
              <a:r>
                <a:rPr lang="zh-CN" sz="750" dirty="0">
                  <a:solidFill>
                    <a:srgbClr val="705F5B"/>
                  </a:solidFill>
                  <a:latin typeface="+mn-lt"/>
                  <a:ea typeface="+mn-ea"/>
                  <a:cs typeface="+mn-cs"/>
                </a:rPr>
                <a:t>确保业界最佳实践的落实</a:t>
              </a:r>
            </a:p>
          </p:txBody>
        </p:sp>
        <p:sp>
          <p:nvSpPr>
            <p:cNvPr id="98" name="Ellipse 98"/>
            <p:cNvSpPr/>
            <p:nvPr/>
          </p:nvSpPr>
          <p:spPr>
            <a:xfrm>
              <a:off x="9677400" y="2505075"/>
              <a:ext cx="190500" cy="190500"/>
            </a:xfrm>
            <a:prstGeom prst="ellipse">
              <a:avLst/>
            </a:prstGeom>
            <a:solidFill>
              <a:srgbClr val="C4624E"/>
            </a:solidFill>
            <a:ln>
              <a:noFill/>
            </a:ln>
          </p:spPr>
        </p:sp>
        <p:sp>
          <p:nvSpPr>
            <p:cNvPr id="99" name="TextBox 99"/>
            <p:cNvSpPr txBox="1"/>
            <p:nvPr/>
          </p:nvSpPr>
          <p:spPr>
            <a:xfrm>
              <a:off x="9738734" y="2557462"/>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9</a:t>
              </a:r>
            </a:p>
          </p:txBody>
        </p:sp>
        <p:sp>
          <p:nvSpPr>
            <p:cNvPr id="100" name="Rectangle 100"/>
            <p:cNvSpPr/>
            <p:nvPr/>
          </p:nvSpPr>
          <p:spPr>
            <a:xfrm>
              <a:off x="9772650" y="3219450"/>
              <a:ext cx="2057400" cy="228600"/>
            </a:xfrm>
            <a:prstGeom prst="roundRect">
              <a:avLst>
                <a:gd name="adj" fmla="val 12500"/>
              </a:avLst>
            </a:prstGeom>
            <a:solidFill>
              <a:srgbClr val="C4624E"/>
            </a:solidFill>
            <a:ln>
              <a:noFill/>
            </a:ln>
          </p:spPr>
        </p:sp>
        <p:sp>
          <p:nvSpPr>
            <p:cNvPr id="101" name="TextBox 101"/>
            <p:cNvSpPr txBox="1"/>
            <p:nvPr/>
          </p:nvSpPr>
          <p:spPr>
            <a:xfrm>
              <a:off x="10507154" y="3288268"/>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自动化构建</a:t>
              </a:r>
            </a:p>
          </p:txBody>
        </p:sp>
        <p:sp>
          <p:nvSpPr>
            <p:cNvPr id="102" name="Rectangle 102"/>
            <p:cNvSpPr/>
            <p:nvPr/>
          </p:nvSpPr>
          <p:spPr>
            <a:xfrm>
              <a:off x="9772650" y="3448050"/>
              <a:ext cx="2057400" cy="723900"/>
            </a:xfrm>
            <a:prstGeom prst="rect">
              <a:avLst/>
            </a:prstGeom>
            <a:solidFill>
              <a:srgbClr val="FFFFFF"/>
            </a:solidFill>
            <a:ln w="9525">
              <a:solidFill>
                <a:srgbClr val="E4E7F5"/>
              </a:solidFill>
            </a:ln>
          </p:spPr>
        </p:sp>
        <p:sp>
          <p:nvSpPr>
            <p:cNvPr id="103" name="TextBox 103"/>
            <p:cNvSpPr txBox="1"/>
            <p:nvPr/>
          </p:nvSpPr>
          <p:spPr>
            <a:xfrm>
              <a:off x="9901238" y="3576638"/>
              <a:ext cx="1042988" cy="433388"/>
            </a:xfrm>
            <a:prstGeom prst="rect">
              <a:avLst/>
            </a:prstGeom>
            <a:noFill/>
            <a:ln>
              <a:noFill/>
            </a:ln>
          </p:spPr>
          <p:txBody>
            <a:bodyPr wrap="none" lIns="0" tIns="0" rIns="0" bIns="0" anchor="t" anchorCtr="0">
              <a:spAutoFit/>
            </a:bodyPr>
            <a:lstStyle/>
            <a:p>
              <a:pPr algn="l" marL="80962" indent="-80962">
                <a:lnSpc>
                  <a:spcPts val="1125"/>
                </a:lnSpc>
                <a:buClr>
                  <a:srgbClr val="705F5B"/>
                </a:buClr>
                <a:buSzTx/>
                <a:buFontTx/>
                <a:buChar char="•"/>
              </a:pPr>
              <a:r>
                <a:rPr lang="zh-CN" sz="750" dirty="0">
                  <a:solidFill>
                    <a:srgbClr val="705F5B"/>
                  </a:solidFill>
                  <a:latin typeface="+mn-lt"/>
                  <a:ea typeface="+mn-ea"/>
                  <a:cs typeface="+mn-cs"/>
                </a:rPr>
                <a:t>持续提供可测试版本</a:t>
              </a:r>
            </a:p>
            <a:p>
              <a:pPr algn="l" marL="80962" indent="-80962">
                <a:lnSpc>
                  <a:spcPts val="1125"/>
                </a:lnSpc>
                <a:buClr>
                  <a:srgbClr val="705F5B"/>
                </a:buClr>
                <a:buSzTx/>
                <a:buFontTx/>
                <a:buChar char="•"/>
              </a:pPr>
              <a:r>
                <a:rPr lang="zh-CN" sz="750" dirty="0">
                  <a:solidFill>
                    <a:srgbClr val="705F5B"/>
                  </a:solidFill>
                  <a:latin typeface="+mn-lt"/>
                  <a:ea typeface="+mn-ea"/>
                  <a:cs typeface="+mn-cs"/>
                </a:rPr>
                <a:t>驱动自动化测试</a:t>
              </a:r>
            </a:p>
            <a:p>
              <a:pPr algn="l" marL="80962" indent="-80962">
                <a:lnSpc>
                  <a:spcPts val="1125"/>
                </a:lnSpc>
                <a:buClr>
                  <a:srgbClr val="705F5B"/>
                </a:buClr>
                <a:buSzTx/>
                <a:buFontTx/>
                <a:buChar char="•"/>
              </a:pPr>
              <a:r>
                <a:rPr lang="zh-CN" sz="750" dirty="0">
                  <a:solidFill>
                    <a:srgbClr val="705F5B"/>
                  </a:solidFill>
                  <a:latin typeface="+mn-lt"/>
                  <a:ea typeface="+mn-ea"/>
                  <a:cs typeface="+mn-cs"/>
                </a:rPr>
                <a:t>标记并跟踪交付物版本</a:t>
              </a:r>
            </a:p>
          </p:txBody>
        </p:sp>
        <p:sp>
          <p:nvSpPr>
            <p:cNvPr id="104" name="Ellipse 104"/>
            <p:cNvSpPr/>
            <p:nvPr/>
          </p:nvSpPr>
          <p:spPr>
            <a:xfrm>
              <a:off x="9677400" y="3714750"/>
              <a:ext cx="190500" cy="190500"/>
            </a:xfrm>
            <a:prstGeom prst="ellipse">
              <a:avLst/>
            </a:prstGeom>
            <a:solidFill>
              <a:srgbClr val="C4624E"/>
            </a:solidFill>
            <a:ln>
              <a:noFill/>
            </a:ln>
          </p:spPr>
        </p:sp>
        <p:sp>
          <p:nvSpPr>
            <p:cNvPr id="105" name="TextBox 105"/>
            <p:cNvSpPr txBox="1"/>
            <p:nvPr/>
          </p:nvSpPr>
          <p:spPr>
            <a:xfrm>
              <a:off x="9709580" y="37671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10</a:t>
              </a:r>
            </a:p>
          </p:txBody>
        </p:sp>
        <p:sp>
          <p:nvSpPr>
            <p:cNvPr id="106" name="Rectangle 106"/>
            <p:cNvSpPr/>
            <p:nvPr/>
          </p:nvSpPr>
          <p:spPr>
            <a:xfrm>
              <a:off x="9772650" y="4438650"/>
              <a:ext cx="2057400" cy="228600"/>
            </a:xfrm>
            <a:prstGeom prst="roundRect">
              <a:avLst>
                <a:gd name="adj" fmla="val 12500"/>
              </a:avLst>
            </a:prstGeom>
            <a:solidFill>
              <a:srgbClr val="C4624E"/>
            </a:solidFill>
            <a:ln>
              <a:noFill/>
            </a:ln>
          </p:spPr>
        </p:sp>
        <p:sp>
          <p:nvSpPr>
            <p:cNvPr id="107" name="TextBox 107"/>
            <p:cNvSpPr txBox="1"/>
            <p:nvPr/>
          </p:nvSpPr>
          <p:spPr>
            <a:xfrm>
              <a:off x="10300065" y="4507468"/>
              <a:ext cx="1002570"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管理交付件/发布包</a:t>
              </a:r>
            </a:p>
          </p:txBody>
        </p:sp>
        <p:sp>
          <p:nvSpPr>
            <p:cNvPr id="108" name="Rectangle 108"/>
            <p:cNvSpPr/>
            <p:nvPr/>
          </p:nvSpPr>
          <p:spPr>
            <a:xfrm>
              <a:off x="9772650" y="4667250"/>
              <a:ext cx="2057400" cy="723900"/>
            </a:xfrm>
            <a:prstGeom prst="rect">
              <a:avLst/>
            </a:prstGeom>
            <a:solidFill>
              <a:srgbClr val="FFFFFF"/>
            </a:solidFill>
            <a:ln w="9525">
              <a:solidFill>
                <a:srgbClr val="E4E7F5"/>
              </a:solidFill>
            </a:ln>
          </p:spPr>
        </p:sp>
        <p:sp>
          <p:nvSpPr>
            <p:cNvPr id="109" name="TextBox 109"/>
            <p:cNvSpPr txBox="1"/>
            <p:nvPr/>
          </p:nvSpPr>
          <p:spPr>
            <a:xfrm>
              <a:off x="9901238" y="4795838"/>
              <a:ext cx="1138238" cy="433388"/>
            </a:xfrm>
            <a:prstGeom prst="rect">
              <a:avLst/>
            </a:prstGeom>
            <a:noFill/>
            <a:ln>
              <a:noFill/>
            </a:ln>
          </p:spPr>
          <p:txBody>
            <a:bodyPr wrap="none" lIns="0" tIns="0" rIns="0" bIns="0" anchor="t" anchorCtr="0">
              <a:spAutoFit/>
            </a:bodyPr>
            <a:lstStyle/>
            <a:p>
              <a:pPr algn="l" marL="80962" indent="-80962">
                <a:lnSpc>
                  <a:spcPts val="1125"/>
                </a:lnSpc>
                <a:buClr>
                  <a:srgbClr val="705F5B"/>
                </a:buClr>
                <a:buSzTx/>
                <a:buFontTx/>
                <a:buChar char="•"/>
              </a:pPr>
              <a:r>
                <a:rPr lang="zh-CN" sz="750" dirty="0">
                  <a:solidFill>
                    <a:srgbClr val="705F5B"/>
                  </a:solidFill>
                  <a:latin typeface="+mn-lt"/>
                  <a:ea typeface="+mn-ea"/>
                  <a:cs typeface="+mn-cs"/>
                </a:rPr>
                <a:t>集中存储交付件和依赖包</a:t>
              </a:r>
            </a:p>
            <a:p>
              <a:pPr algn="l" marL="80962" indent="-80962">
                <a:lnSpc>
                  <a:spcPts val="1125"/>
                </a:lnSpc>
                <a:buClr>
                  <a:srgbClr val="705F5B"/>
                </a:buClr>
                <a:buSzTx/>
                <a:buFontTx/>
                <a:buChar char="•"/>
              </a:pPr>
              <a:r>
                <a:rPr lang="zh-CN" sz="750" dirty="0">
                  <a:solidFill>
                    <a:srgbClr val="705F5B"/>
                  </a:solidFill>
                  <a:latin typeface="+mn-lt"/>
                  <a:ea typeface="+mn-ea"/>
                  <a:cs typeface="+mn-cs"/>
                </a:rPr>
                <a:t>确保发布包的安全性</a:t>
              </a:r>
            </a:p>
            <a:p>
              <a:pPr algn="l" marL="80962" indent="-80962">
                <a:lnSpc>
                  <a:spcPts val="1125"/>
                </a:lnSpc>
                <a:buClr>
                  <a:srgbClr val="705F5B"/>
                </a:buClr>
                <a:buSzTx/>
                <a:buFontTx/>
                <a:buChar char="•"/>
              </a:pPr>
              <a:r>
                <a:rPr lang="zh-CN" sz="750" dirty="0">
                  <a:solidFill>
                    <a:srgbClr val="705F5B"/>
                  </a:solidFill>
                  <a:latin typeface="+mn-lt"/>
                  <a:ea typeface="+mn-ea"/>
                  <a:cs typeface="+mn-cs"/>
                </a:rPr>
                <a:t>标记并跟踪交付物版本</a:t>
              </a:r>
            </a:p>
          </p:txBody>
        </p:sp>
        <p:sp>
          <p:nvSpPr>
            <p:cNvPr id="110" name="Ellipse 110"/>
            <p:cNvSpPr/>
            <p:nvPr/>
          </p:nvSpPr>
          <p:spPr>
            <a:xfrm>
              <a:off x="9677400" y="4933950"/>
              <a:ext cx="190500" cy="190500"/>
            </a:xfrm>
            <a:prstGeom prst="ellipse">
              <a:avLst/>
            </a:prstGeom>
            <a:solidFill>
              <a:srgbClr val="C4624E"/>
            </a:solidFill>
            <a:ln>
              <a:noFill/>
            </a:ln>
          </p:spPr>
        </p:sp>
        <p:sp>
          <p:nvSpPr>
            <p:cNvPr id="111" name="TextBox 111"/>
            <p:cNvSpPr txBox="1"/>
            <p:nvPr/>
          </p:nvSpPr>
          <p:spPr>
            <a:xfrm>
              <a:off x="9709580" y="49863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11</a:t>
              </a:r>
            </a:p>
          </p:txBody>
        </p:sp>
        <p:sp>
          <p:nvSpPr>
            <p:cNvPr id="112" name="Rectangle 112"/>
            <p:cNvSpPr/>
            <p:nvPr/>
          </p:nvSpPr>
          <p:spPr>
            <a:xfrm>
              <a:off x="9772650" y="5695950"/>
              <a:ext cx="2057400" cy="228600"/>
            </a:xfrm>
            <a:prstGeom prst="roundRect">
              <a:avLst>
                <a:gd name="adj" fmla="val 12500"/>
              </a:avLst>
            </a:prstGeom>
            <a:solidFill>
              <a:srgbClr val="C4624E"/>
            </a:solidFill>
            <a:ln>
              <a:noFill/>
            </a:ln>
          </p:spPr>
        </p:sp>
        <p:sp>
          <p:nvSpPr>
            <p:cNvPr id="113" name="TextBox 113"/>
            <p:cNvSpPr txBox="1"/>
            <p:nvPr/>
          </p:nvSpPr>
          <p:spPr>
            <a:xfrm>
              <a:off x="10275608" y="5764768"/>
              <a:ext cx="105148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执行测试并反馈问题</a:t>
              </a:r>
            </a:p>
          </p:txBody>
        </p:sp>
        <p:sp>
          <p:nvSpPr>
            <p:cNvPr id="114" name="Rectangle 114"/>
            <p:cNvSpPr/>
            <p:nvPr/>
          </p:nvSpPr>
          <p:spPr>
            <a:xfrm>
              <a:off x="9772650" y="5924550"/>
              <a:ext cx="2057400" cy="723900"/>
            </a:xfrm>
            <a:prstGeom prst="rect">
              <a:avLst/>
            </a:prstGeom>
            <a:solidFill>
              <a:srgbClr val="FFFFFF"/>
            </a:solidFill>
            <a:ln w="9525">
              <a:solidFill>
                <a:srgbClr val="E4E7F5"/>
              </a:solidFill>
            </a:ln>
          </p:spPr>
        </p:sp>
        <p:sp>
          <p:nvSpPr>
            <p:cNvPr id="115" name="TextBox 115"/>
            <p:cNvSpPr txBox="1"/>
            <p:nvPr/>
          </p:nvSpPr>
          <p:spPr>
            <a:xfrm>
              <a:off x="9901238" y="6053138"/>
              <a:ext cx="947738" cy="290512"/>
            </a:xfrm>
            <a:prstGeom prst="rect">
              <a:avLst/>
            </a:prstGeom>
            <a:noFill/>
            <a:ln>
              <a:noFill/>
            </a:ln>
          </p:spPr>
          <p:txBody>
            <a:bodyPr wrap="none" lIns="0" tIns="0" rIns="0" bIns="0" anchor="t" anchorCtr="0">
              <a:spAutoFit/>
            </a:bodyPr>
            <a:lstStyle/>
            <a:p>
              <a:pPr algn="l" marL="80962" indent="-80962">
                <a:lnSpc>
                  <a:spcPts val="1125"/>
                </a:lnSpc>
                <a:buClr>
                  <a:srgbClr val="705F5B"/>
                </a:buClr>
                <a:buSzTx/>
                <a:buFontTx/>
                <a:buChar char="•"/>
              </a:pPr>
              <a:r>
                <a:rPr lang="zh-CN" sz="750" dirty="0">
                  <a:solidFill>
                    <a:srgbClr val="705F5B"/>
                  </a:solidFill>
                  <a:latin typeface="+mn-lt"/>
                  <a:ea typeface="+mn-ea"/>
                  <a:cs typeface="+mn-cs"/>
                </a:rPr>
                <a:t>完成测试规划和设计</a:t>
              </a:r>
            </a:p>
            <a:p>
              <a:pPr algn="l" marL="80962" indent="-80962">
                <a:lnSpc>
                  <a:spcPts val="1125"/>
                </a:lnSpc>
                <a:buClr>
                  <a:srgbClr val="705F5B"/>
                </a:buClr>
                <a:buSzTx/>
                <a:buFontTx/>
                <a:buChar char="•"/>
              </a:pPr>
              <a:r>
                <a:rPr lang="zh-CN" sz="750" dirty="0">
                  <a:solidFill>
                    <a:srgbClr val="705F5B"/>
                  </a:solidFill>
                  <a:latin typeface="+mn-lt"/>
                  <a:ea typeface="+mn-ea"/>
                  <a:cs typeface="+mn-cs"/>
                </a:rPr>
                <a:t>跟踪缺陷修复状态</a:t>
              </a:r>
            </a:p>
          </p:txBody>
        </p:sp>
        <p:sp>
          <p:nvSpPr>
            <p:cNvPr id="116" name="Ellipse 116"/>
            <p:cNvSpPr/>
            <p:nvPr/>
          </p:nvSpPr>
          <p:spPr>
            <a:xfrm>
              <a:off x="9677400" y="6191250"/>
              <a:ext cx="190500" cy="190500"/>
            </a:xfrm>
            <a:prstGeom prst="ellipse">
              <a:avLst/>
            </a:prstGeom>
            <a:solidFill>
              <a:srgbClr val="C4624E"/>
            </a:solidFill>
            <a:ln>
              <a:noFill/>
            </a:ln>
          </p:spPr>
        </p:sp>
        <p:sp>
          <p:nvSpPr>
            <p:cNvPr id="117" name="TextBox 117"/>
            <p:cNvSpPr txBox="1"/>
            <p:nvPr/>
          </p:nvSpPr>
          <p:spPr>
            <a:xfrm>
              <a:off x="9709580" y="6243638"/>
              <a:ext cx="12614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12</a:t>
              </a:r>
            </a:p>
          </p:txBody>
        </p:sp>
      </p:gr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latform-base"/>
          <p:cNvSpPr/>
          <p:nvPr/>
        </p:nvSpPr>
        <p:spPr>
          <a:xfrm>
            <a:off x="285750" y="6286500"/>
            <a:ext cx="11620500" cy="247650"/>
          </a:xfrm>
          <a:prstGeom prst="roundRect">
            <a:avLst>
              <a:gd name="adj" fmla="val 15385"/>
            </a:avLst>
          </a:prstGeom>
          <a:gradFill>
            <a:gsLst>
              <a:gs pos="0">
                <a:srgbClr val="C9CFEA"/>
              </a:gs>
              <a:gs pos="100000">
                <a:srgbClr val="EDEFF9"/>
              </a:gs>
            </a:gsLst>
            <a:lin ang="5400000" scaled="1"/>
          </a:gradFill>
          <a:ln>
            <a:noFill/>
          </a:ln>
        </p:spPr>
      </p:sp>
      <p:grpSp>
        <p:nvGrpSpPr>
          <p:cNvPr id="5" name="page-header"/>
          <p:cNvGrpSpPr/>
          <p:nvPr/>
        </p:nvGrpSpPr>
        <p:grpSpPr>
          <a:xfrm>
            <a:off x="302895" y="214312"/>
            <a:ext cx="2158365" cy="440055"/>
            <a:chOff x="302895" y="214312"/>
            <a:chExt cx="2158365" cy="440055"/>
          </a:xfrm>
        </p:grpSpPr>
        <p:sp>
          <p:nvSpPr>
            <p:cNvPr id="3" name="TextBox 3"/>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86.​</a:t>
              </a:r>
            </a:p>
          </p:txBody>
        </p:sp>
        <p:sp>
          <p:nvSpPr>
            <p:cNvPr id="4" name="TextBox 4"/>
            <p:cNvSpPr txBox="1"/>
            <p:nvPr/>
          </p:nvSpPr>
          <p:spPr>
            <a:xfrm>
              <a:off x="866394" y="246698"/>
              <a:ext cx="159486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营销活动复盘</a:t>
              </a:r>
            </a:p>
          </p:txBody>
        </p:sp>
      </p:grpSp>
      <p:grpSp>
        <p:nvGrpSpPr>
          <p:cNvPr id="11" name="phone-mockup"/>
          <p:cNvGrpSpPr/>
          <p:nvPr/>
        </p:nvGrpSpPr>
        <p:grpSpPr>
          <a:xfrm>
            <a:off x="447675" y="1181100"/>
            <a:ext cx="3162300" cy="5143500"/>
            <a:chOff x="447675" y="1181100"/>
            <a:chExt cx="3162300" cy="5143500"/>
          </a:xfrm>
        </p:grpSpPr>
        <p:sp>
          <p:nvSpPr>
            <p:cNvPr id="6" name="Rectangle 6"/>
            <p:cNvSpPr/>
            <p:nvPr/>
          </p:nvSpPr>
          <p:spPr>
            <a:xfrm>
              <a:off x="447675" y="1181100"/>
              <a:ext cx="3162300" cy="5143500"/>
            </a:xfrm>
            <a:prstGeom prst="roundRect">
              <a:avLst>
                <a:gd name="adj" fmla="val 9036"/>
              </a:avLst>
            </a:prstGeom>
            <a:solidFill>
              <a:srgbClr val="FFFFFF"/>
            </a:solidFill>
            <a:ln w="19050">
              <a:solidFill>
                <a:srgbClr val="DDE2F5"/>
              </a:solidFill>
            </a:ln>
          </p:spPr>
        </p:sp>
        <p:sp>
          <p:nvSpPr>
            <p:cNvPr id="7" name="Rectangle 7"/>
            <p:cNvSpPr/>
            <p:nvPr/>
          </p:nvSpPr>
          <p:spPr>
            <a:xfrm>
              <a:off x="590550" y="1333500"/>
              <a:ext cx="2876550" cy="4838700"/>
            </a:xfrm>
            <a:prstGeom prst="roundRect">
              <a:avLst>
                <a:gd name="adj" fmla="val 5960"/>
              </a:avLst>
            </a:prstGeom>
            <a:gradFill>
              <a:gsLst>
                <a:gs pos="0">
                  <a:srgbClr val="F0AC9E"/>
                </a:gs>
                <a:gs pos="55000">
                  <a:srgbClr val="D6E4F8"/>
                </a:gs>
                <a:gs pos="100000">
                  <a:srgbClr val="F4F7FD"/>
                </a:gs>
              </a:gsLst>
              <a:lin ang="5400000" scaled="1"/>
            </a:gradFill>
            <a:ln>
              <a:noFill/>
            </a:ln>
          </p:spPr>
        </p:sp>
        <p:sp>
          <p:nvSpPr>
            <p:cNvPr id="8" name="Freeform 8"/>
            <p:cNvSpPr/>
            <p:nvPr/>
          </p:nvSpPr>
          <p:spPr>
            <a:xfrm>
              <a:off x="590550" y="3619500"/>
              <a:ext cx="2876550" cy="2552700"/>
            </a:xfrm>
            <a:custGeom>
              <a:avLst/>
              <a:gdLst/>
              <a:ahLst/>
              <a:cxnLst/>
              <a:rect l="l" t="t" r="r" b="b"/>
              <a:pathLst>
                <a:path w="2876550" h="2552700">
                  <a:moveTo>
                    <a:pt x="0" y="1333500"/>
                  </a:moveTo>
                  <a:lnTo>
                    <a:pt x="647700" y="190500"/>
                  </a:lnTo>
                  <a:lnTo>
                    <a:pt x="1219200" y="857250"/>
                  </a:lnTo>
                  <a:lnTo>
                    <a:pt x="1790700" y="0"/>
                  </a:lnTo>
                  <a:lnTo>
                    <a:pt x="2362200" y="666750"/>
                  </a:lnTo>
                  <a:lnTo>
                    <a:pt x="2876550" y="190500"/>
                  </a:lnTo>
                  <a:lnTo>
                    <a:pt x="2876550" y="2552700"/>
                  </a:lnTo>
                  <a:lnTo>
                    <a:pt x="0" y="2552700"/>
                  </a:lnTo>
                  <a:close/>
                </a:path>
              </a:pathLst>
            </a:custGeom>
            <a:solidFill>
              <a:srgbClr val="E8EEF8"/>
            </a:solidFill>
            <a:ln>
              <a:noFill/>
            </a:ln>
          </p:spPr>
        </p:sp>
        <p:sp>
          <p:nvSpPr>
            <p:cNvPr id="9" name="Freeform 9"/>
            <p:cNvSpPr/>
            <p:nvPr/>
          </p:nvSpPr>
          <p:spPr>
            <a:xfrm>
              <a:off x="590550" y="4476750"/>
              <a:ext cx="2876550" cy="1695450"/>
            </a:xfrm>
            <a:custGeom>
              <a:avLst/>
              <a:gdLst/>
              <a:ahLst/>
              <a:cxnLst/>
              <a:rect l="l" t="t" r="r" b="b"/>
              <a:pathLst>
                <a:path w="2876550" h="1695450">
                  <a:moveTo>
                    <a:pt x="0" y="857250"/>
                  </a:moveTo>
                  <a:lnTo>
                    <a:pt x="457200" y="95250"/>
                  </a:lnTo>
                  <a:lnTo>
                    <a:pt x="1028700" y="666750"/>
                  </a:lnTo>
                  <a:lnTo>
                    <a:pt x="1600200" y="0"/>
                  </a:lnTo>
                  <a:lnTo>
                    <a:pt x="2171700" y="571500"/>
                  </a:lnTo>
                  <a:lnTo>
                    <a:pt x="2876550" y="95250"/>
                  </a:lnTo>
                  <a:lnTo>
                    <a:pt x="2876550" y="1695450"/>
                  </a:lnTo>
                  <a:lnTo>
                    <a:pt x="0" y="1695450"/>
                  </a:lnTo>
                  <a:close/>
                </a:path>
              </a:pathLst>
            </a:custGeom>
            <a:solidFill>
              <a:srgbClr val="F7F9FD"/>
            </a:solidFill>
            <a:ln>
              <a:noFill/>
            </a:ln>
          </p:spPr>
        </p:sp>
        <p:sp>
          <p:nvSpPr>
            <p:cNvPr id="10" name="Rectangle 10"/>
            <p:cNvSpPr/>
            <p:nvPr/>
          </p:nvSpPr>
          <p:spPr>
            <a:xfrm>
              <a:off x="1619250" y="1428750"/>
              <a:ext cx="819150" cy="76200"/>
            </a:xfrm>
            <a:prstGeom prst="roundRect">
              <a:avLst>
                <a:gd name="adj" fmla="val 50000"/>
              </a:avLst>
            </a:prstGeom>
            <a:solidFill>
              <a:srgbClr val="452F2A"/>
            </a:solidFill>
            <a:ln>
              <a:noFill/>
            </a:ln>
          </p:spPr>
        </p:sp>
      </p:grpSp>
      <p:grpSp>
        <p:nvGrpSpPr>
          <p:cNvPr id="53" name="funnel-stats"/>
          <p:cNvGrpSpPr/>
          <p:nvPr/>
        </p:nvGrpSpPr>
        <p:grpSpPr>
          <a:xfrm>
            <a:off x="3924300" y="1097756"/>
            <a:ext cx="6534150" cy="1981867"/>
            <a:chOff x="3924300" y="1097756"/>
            <a:chExt cx="6534150" cy="1981867"/>
          </a:xfrm>
        </p:grpSpPr>
        <p:sp>
          <p:nvSpPr>
            <p:cNvPr id="12" name="Freeform 12"/>
            <p:cNvSpPr/>
            <p:nvPr/>
          </p:nvSpPr>
          <p:spPr>
            <a:xfrm>
              <a:off x="3924300" y="1200150"/>
              <a:ext cx="1962150" cy="666750"/>
            </a:xfrm>
            <a:custGeom>
              <a:avLst/>
              <a:gdLst/>
              <a:ahLst/>
              <a:cxnLst/>
              <a:rect l="l" t="t" r="r" b="b"/>
              <a:pathLst>
                <a:path w="1962150" h="666750">
                  <a:moveTo>
                    <a:pt x="0" y="666750"/>
                  </a:moveTo>
                  <a:cubicBezTo>
                    <a:pt x="552450" y="0"/>
                    <a:pt x="1409700" y="0"/>
                    <a:pt x="1962150" y="647700"/>
                  </a:cubicBezTo>
                </a:path>
              </a:pathLst>
            </a:custGeom>
            <a:noFill/>
            <a:ln w="114300">
              <a:solidFill>
                <a:srgbClr val="EABDB4"/>
              </a:solidFill>
              <a:tailEnd type="triangle" w="lg" len="lg"/>
            </a:ln>
          </p:spPr>
        </p:sp>
        <p:sp>
          <p:nvSpPr>
            <p:cNvPr id="13" name="Freeform 13"/>
            <p:cNvSpPr/>
            <p:nvPr/>
          </p:nvSpPr>
          <p:spPr>
            <a:xfrm>
              <a:off x="6210300" y="1200150"/>
              <a:ext cx="1962150" cy="666750"/>
            </a:xfrm>
            <a:custGeom>
              <a:avLst/>
              <a:gdLst/>
              <a:ahLst/>
              <a:cxnLst/>
              <a:rect l="l" t="t" r="r" b="b"/>
              <a:pathLst>
                <a:path w="1962150" h="666750">
                  <a:moveTo>
                    <a:pt x="0" y="666750"/>
                  </a:moveTo>
                  <a:cubicBezTo>
                    <a:pt x="552450" y="0"/>
                    <a:pt x="1409700" y="0"/>
                    <a:pt x="1962150" y="647700"/>
                  </a:cubicBezTo>
                </a:path>
              </a:pathLst>
            </a:custGeom>
            <a:noFill/>
            <a:ln w="114300">
              <a:solidFill>
                <a:srgbClr val="EABDB4"/>
              </a:solidFill>
              <a:tailEnd type="triangle" w="lg" len="lg"/>
            </a:ln>
          </p:spPr>
        </p:sp>
        <p:sp>
          <p:nvSpPr>
            <p:cNvPr id="14" name="Freeform 14"/>
            <p:cNvSpPr/>
            <p:nvPr/>
          </p:nvSpPr>
          <p:spPr>
            <a:xfrm>
              <a:off x="8496300" y="1200150"/>
              <a:ext cx="1962150" cy="666750"/>
            </a:xfrm>
            <a:custGeom>
              <a:avLst/>
              <a:gdLst/>
              <a:ahLst/>
              <a:cxnLst/>
              <a:rect l="l" t="t" r="r" b="b"/>
              <a:pathLst>
                <a:path w="1962150" h="666750">
                  <a:moveTo>
                    <a:pt x="0" y="666750"/>
                  </a:moveTo>
                  <a:cubicBezTo>
                    <a:pt x="552450" y="0"/>
                    <a:pt x="1409700" y="0"/>
                    <a:pt x="1962150" y="647700"/>
                  </a:cubicBezTo>
                </a:path>
              </a:pathLst>
            </a:custGeom>
            <a:noFill/>
            <a:ln w="114300">
              <a:solidFill>
                <a:srgbClr val="EABDB4"/>
              </a:solidFill>
              <a:tailEnd type="triangle" w="lg" len="lg"/>
            </a:ln>
          </p:spPr>
        </p:sp>
        <p:sp>
          <p:nvSpPr>
            <p:cNvPr id="15" name="TextBox 15"/>
            <p:cNvSpPr txBox="1"/>
            <p:nvPr/>
          </p:nvSpPr>
          <p:spPr>
            <a:xfrm>
              <a:off x="4598111" y="1097756"/>
              <a:ext cx="614528"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内容种草</a:t>
              </a:r>
            </a:p>
          </p:txBody>
        </p:sp>
        <p:sp>
          <p:nvSpPr>
            <p:cNvPr id="16" name="TextBox 16"/>
            <p:cNvSpPr txBox="1"/>
            <p:nvPr/>
          </p:nvSpPr>
          <p:spPr>
            <a:xfrm>
              <a:off x="6884111" y="1097756"/>
              <a:ext cx="614528"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粉丝转化</a:t>
              </a:r>
            </a:p>
          </p:txBody>
        </p:sp>
        <p:sp>
          <p:nvSpPr>
            <p:cNvPr id="17" name="TextBox 17"/>
            <p:cNvSpPr txBox="1"/>
            <p:nvPr/>
          </p:nvSpPr>
          <p:spPr>
            <a:xfrm>
              <a:off x="9170111" y="1097756"/>
              <a:ext cx="614528"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店铺成绩</a:t>
              </a:r>
            </a:p>
          </p:txBody>
        </p:sp>
        <p:grpSp>
          <p:nvGrpSpPr>
            <p:cNvPr id="21" name="Group 21"/>
            <p:cNvGrpSpPr/>
            <p:nvPr/>
          </p:nvGrpSpPr>
          <p:grpSpPr>
            <a:xfrm>
              <a:off x="4136255" y="1902619"/>
              <a:ext cx="204716" cy="213003"/>
              <a:chOff x="4136255" y="1902619"/>
              <a:chExt cx="204716" cy="213003"/>
            </a:xfrm>
          </p:grpSpPr>
          <p:sp>
            <p:nvSpPr>
              <p:cNvPr id="18" name="Freeform 18"/>
              <p:cNvSpPr/>
              <p:nvPr/>
            </p:nvSpPr>
            <p:spPr>
              <a:xfrm>
                <a:off x="4167188" y="1902619"/>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3812">
                <a:solidFill>
                  <a:srgbClr val="D47D6B"/>
                </a:solidFill>
              </a:ln>
            </p:spPr>
          </p:sp>
          <p:sp>
            <p:nvSpPr>
              <p:cNvPr id="19" name="Freeform 19"/>
              <p:cNvSpPr/>
              <p:nvPr/>
            </p:nvSpPr>
            <p:spPr>
              <a:xfrm>
                <a:off x="4238625" y="2009775"/>
                <a:ext cx="102346" cy="105847"/>
              </a:xfrm>
              <a:custGeom>
                <a:avLst/>
                <a:gdLst/>
                <a:ahLst/>
                <a:cxnLst/>
                <a:rect l="l" t="t" r="r" b="b"/>
                <a:pathLst>
                  <a:path w="102346" h="105847">
                    <a:moveTo>
                      <a:pt x="0" y="35719"/>
                    </a:moveTo>
                    <a:lnTo>
                      <a:pt x="40481" y="105847"/>
                    </a:lnTo>
                    <a:lnTo>
                      <a:pt x="59507" y="67354"/>
                    </a:lnTo>
                    <a:lnTo>
                      <a:pt x="102346" y="70116"/>
                    </a:lnTo>
                    <a:lnTo>
                      <a:pt x="61865" y="0"/>
                    </a:lnTo>
                  </a:path>
                </a:pathLst>
              </a:custGeom>
              <a:noFill/>
              <a:ln w="23812">
                <a:solidFill>
                  <a:srgbClr val="D47D6B"/>
                </a:solidFill>
              </a:ln>
            </p:spPr>
          </p:sp>
          <p:sp>
            <p:nvSpPr>
              <p:cNvPr id="20" name="Freeform 20"/>
              <p:cNvSpPr/>
              <p:nvPr/>
            </p:nvSpPr>
            <p:spPr>
              <a:xfrm>
                <a:off x="4136255" y="2009775"/>
                <a:ext cx="102346" cy="105835"/>
              </a:xfrm>
              <a:custGeom>
                <a:avLst/>
                <a:gdLst/>
                <a:ahLst/>
                <a:cxnLst/>
                <a:rect l="l" t="t" r="r" b="b"/>
                <a:pathLst>
                  <a:path w="102346" h="105835">
                    <a:moveTo>
                      <a:pt x="40481" y="0"/>
                    </a:moveTo>
                    <a:lnTo>
                      <a:pt x="0" y="70128"/>
                    </a:lnTo>
                    <a:lnTo>
                      <a:pt x="42839" y="67354"/>
                    </a:lnTo>
                    <a:lnTo>
                      <a:pt x="61865" y="105835"/>
                    </a:lnTo>
                    <a:lnTo>
                      <a:pt x="102346" y="35719"/>
                    </a:lnTo>
                  </a:path>
                </a:pathLst>
              </a:custGeom>
              <a:noFill/>
              <a:ln w="23812">
                <a:solidFill>
                  <a:srgbClr val="D47D6B"/>
                </a:solidFill>
              </a:ln>
            </p:spPr>
          </p:sp>
        </p:grpSp>
        <p:sp>
          <p:nvSpPr>
            <p:cNvPr id="22" name="TextBox 22"/>
            <p:cNvSpPr txBox="1"/>
            <p:nvPr/>
          </p:nvSpPr>
          <p:spPr>
            <a:xfrm>
              <a:off x="4529138" y="1811893"/>
              <a:ext cx="356845"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点赞量</a:t>
              </a:r>
            </a:p>
          </p:txBody>
        </p:sp>
        <p:sp>
          <p:nvSpPr>
            <p:cNvPr id="23" name="TextBox 23"/>
            <p:cNvSpPr txBox="1"/>
            <p:nvPr/>
          </p:nvSpPr>
          <p:spPr>
            <a:xfrm>
              <a:off x="4523232" y="1983105"/>
              <a:ext cx="999182" cy="410718"/>
            </a:xfrm>
            <a:prstGeom prst="rect">
              <a:avLst/>
            </a:prstGeom>
            <a:noFill/>
            <a:ln>
              <a:noFill/>
            </a:ln>
          </p:spPr>
          <p:txBody>
            <a:bodyPr wrap="none" lIns="0" tIns="0" rIns="0" bIns="0" anchor="t" anchorCtr="0">
              <a:spAutoFit/>
            </a:bodyPr>
            <a:lstStyle/>
            <a:p>
              <a:pPr algn="l"/>
              <a:r>
                <a:rPr lang="zh-CN" sz="2100" b="1" dirty="0">
                  <a:solidFill>
                    <a:srgbClr val="E5624C"/>
                  </a:solidFill>
                  <a:latin typeface="+mn-lt"/>
                  <a:ea typeface="+mn-ea"/>
                  <a:cs typeface="+mn-cs"/>
                </a:rPr>
                <a:t>5,703</a:t>
              </a:r>
              <a:r>
                <a:rPr lang="zh-CN" sz="1200" b="1" dirty="0">
                  <a:solidFill>
                    <a:srgbClr val="E5624C"/>
                  </a:solidFill>
                  <a:latin typeface="+mn-lt"/>
                  <a:ea typeface="+mn-ea"/>
                  <a:cs typeface="+mn-cs"/>
                </a:rPr>
                <a:t>万</a:t>
              </a:r>
            </a:p>
          </p:txBody>
        </p:sp>
        <p:sp>
          <p:nvSpPr>
            <p:cNvPr id="24" name="Freeform 24"/>
            <p:cNvSpPr/>
            <p:nvPr/>
          </p:nvSpPr>
          <p:spPr>
            <a:xfrm>
              <a:off x="4119277" y="2591098"/>
              <a:ext cx="237696" cy="210705"/>
            </a:xfrm>
            <a:custGeom>
              <a:avLst/>
              <a:gdLst/>
              <a:ahLst/>
              <a:cxnLst/>
              <a:rect l="l" t="t" r="r" b="b"/>
              <a:pathLst>
                <a:path w="237696" h="210705">
                  <a:moveTo>
                    <a:pt x="12192" y="199727"/>
                  </a:moveTo>
                  <a:lnTo>
                    <a:pt x="27670" y="153293"/>
                  </a:lnTo>
                  <a:cubicBezTo>
                    <a:pt x="0" y="112371"/>
                    <a:pt x="10692" y="59567"/>
                    <a:pt x="52673" y="29778"/>
                  </a:cubicBezTo>
                  <a:cubicBezTo>
                    <a:pt x="94655" y="0"/>
                    <a:pt x="154948" y="2441"/>
                    <a:pt x="193703" y="35493"/>
                  </a:cubicBezTo>
                  <a:cubicBezTo>
                    <a:pt x="232458" y="68556"/>
                    <a:pt x="237696" y="122003"/>
                    <a:pt x="205954" y="160520"/>
                  </a:cubicBezTo>
                  <a:cubicBezTo>
                    <a:pt x="174212" y="199037"/>
                    <a:pt x="115288" y="210705"/>
                    <a:pt x="68151" y="187821"/>
                  </a:cubicBezTo>
                  <a:lnTo>
                    <a:pt x="12192" y="199727"/>
                  </a:lnTo>
                </a:path>
              </a:pathLst>
            </a:custGeom>
            <a:noFill/>
            <a:ln w="23812">
              <a:solidFill>
                <a:srgbClr val="D47D6B"/>
              </a:solidFill>
            </a:ln>
          </p:spPr>
        </p:sp>
        <p:sp>
          <p:nvSpPr>
            <p:cNvPr id="25" name="TextBox 25"/>
            <p:cNvSpPr txBox="1"/>
            <p:nvPr/>
          </p:nvSpPr>
          <p:spPr>
            <a:xfrm>
              <a:off x="4529138" y="2497693"/>
              <a:ext cx="356845"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评论数</a:t>
              </a:r>
            </a:p>
          </p:txBody>
        </p:sp>
        <p:sp>
          <p:nvSpPr>
            <p:cNvPr id="26" name="TextBox 26"/>
            <p:cNvSpPr txBox="1"/>
            <p:nvPr/>
          </p:nvSpPr>
          <p:spPr>
            <a:xfrm>
              <a:off x="4523232" y="2668905"/>
              <a:ext cx="672661" cy="410718"/>
            </a:xfrm>
            <a:prstGeom prst="rect">
              <a:avLst/>
            </a:prstGeom>
            <a:noFill/>
            <a:ln>
              <a:noFill/>
            </a:ln>
          </p:spPr>
          <p:txBody>
            <a:bodyPr wrap="none" lIns="0" tIns="0" rIns="0" bIns="0" anchor="t" anchorCtr="0">
              <a:spAutoFit/>
            </a:bodyPr>
            <a:lstStyle/>
            <a:p>
              <a:pPr algn="l"/>
              <a:r>
                <a:rPr lang="zh-CN" sz="2100" b="1" dirty="0">
                  <a:solidFill>
                    <a:srgbClr val="E5624C"/>
                  </a:solidFill>
                  <a:latin typeface="+mn-lt"/>
                  <a:ea typeface="+mn-ea"/>
                  <a:cs typeface="+mn-cs"/>
                </a:rPr>
                <a:t>100</a:t>
              </a:r>
              <a:r>
                <a:rPr lang="zh-CN" sz="1200" b="1" dirty="0">
                  <a:solidFill>
                    <a:srgbClr val="E5624C"/>
                  </a:solidFill>
                  <a:latin typeface="+mn-lt"/>
                  <a:ea typeface="+mn-ea"/>
                  <a:cs typeface="+mn-cs"/>
                </a:rPr>
                <a:t>万</a:t>
              </a:r>
            </a:p>
          </p:txBody>
        </p:sp>
        <p:grpSp>
          <p:nvGrpSpPr>
            <p:cNvPr id="30" name="Group 30"/>
            <p:cNvGrpSpPr/>
            <p:nvPr/>
          </p:nvGrpSpPr>
          <p:grpSpPr>
            <a:xfrm>
              <a:off x="6425614" y="1914525"/>
              <a:ext cx="194261" cy="194261"/>
              <a:chOff x="6425614" y="1914525"/>
              <a:chExt cx="194261" cy="194261"/>
            </a:xfrm>
          </p:grpSpPr>
          <p:sp>
            <p:nvSpPr>
              <p:cNvPr id="27" name="Freeform 27"/>
              <p:cNvSpPr/>
              <p:nvPr/>
            </p:nvSpPr>
            <p:spPr>
              <a:xfrm>
                <a:off x="6429375" y="1914525"/>
                <a:ext cx="190500" cy="190500"/>
              </a:xfrm>
              <a:custGeom>
                <a:avLst/>
                <a:gdLst/>
                <a:ahLst/>
                <a:cxnLst/>
                <a:rect l="l" t="t" r="r" b="b"/>
                <a:pathLst>
                  <a:path w="190500" h="190500">
                    <a:moveTo>
                      <a:pt x="0" y="107156"/>
                    </a:moveTo>
                    <a:cubicBezTo>
                      <a:pt x="43698" y="112349"/>
                      <a:pt x="78151" y="146802"/>
                      <a:pt x="83344" y="190500"/>
                    </a:cubicBezTo>
                    <a:cubicBezTo>
                      <a:pt x="104740" y="178165"/>
                      <a:pt x="118247" y="155653"/>
                      <a:pt x="119062" y="130969"/>
                    </a:cubicBezTo>
                    <a:cubicBezTo>
                      <a:pt x="159946" y="116587"/>
                      <a:pt x="188140" y="78994"/>
                      <a:pt x="190500" y="35719"/>
                    </a:cubicBezTo>
                    <a:cubicBezTo>
                      <a:pt x="190500" y="15992"/>
                      <a:pt x="174508" y="0"/>
                      <a:pt x="154781" y="0"/>
                    </a:cubicBezTo>
                    <a:cubicBezTo>
                      <a:pt x="111506" y="2360"/>
                      <a:pt x="73913" y="30554"/>
                      <a:pt x="59531" y="71438"/>
                    </a:cubicBezTo>
                    <a:cubicBezTo>
                      <a:pt x="34847" y="72253"/>
                      <a:pt x="12335" y="85760"/>
                      <a:pt x="0" y="107156"/>
                    </a:cubicBezTo>
                  </a:path>
                </a:pathLst>
              </a:custGeom>
              <a:noFill/>
              <a:ln w="23812">
                <a:solidFill>
                  <a:srgbClr val="D47D6B"/>
                </a:solidFill>
              </a:ln>
            </p:spPr>
          </p:sp>
          <p:sp>
            <p:nvSpPr>
              <p:cNvPr id="28" name="Freeform 28"/>
              <p:cNvSpPr/>
              <p:nvPr/>
            </p:nvSpPr>
            <p:spPr>
              <a:xfrm>
                <a:off x="6425614" y="2033588"/>
                <a:ext cx="75198" cy="75198"/>
              </a:xfrm>
              <a:custGeom>
                <a:avLst/>
                <a:gdLst/>
                <a:ahLst/>
                <a:cxnLst/>
                <a:rect l="l" t="t" r="r" b="b"/>
                <a:pathLst>
                  <a:path w="75198" h="75198">
                    <a:moveTo>
                      <a:pt x="39479" y="0"/>
                    </a:moveTo>
                    <a:cubicBezTo>
                      <a:pt x="14130" y="14311"/>
                      <a:pt x="0" y="42572"/>
                      <a:pt x="3761" y="71438"/>
                    </a:cubicBezTo>
                    <a:cubicBezTo>
                      <a:pt x="32627" y="75198"/>
                      <a:pt x="60887" y="61068"/>
                      <a:pt x="75198" y="35719"/>
                    </a:cubicBezTo>
                  </a:path>
                </a:pathLst>
              </a:custGeom>
              <a:noFill/>
              <a:ln w="23812">
                <a:solidFill>
                  <a:srgbClr val="D47D6B"/>
                </a:solidFill>
              </a:ln>
            </p:spPr>
          </p:sp>
          <p:sp>
            <p:nvSpPr>
              <p:cNvPr id="29" name="Freeform 29"/>
              <p:cNvSpPr/>
              <p:nvPr/>
            </p:nvSpPr>
            <p:spPr>
              <a:xfrm>
                <a:off x="6548438" y="1962150"/>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D47D6B"/>
                </a:solidFill>
              </a:ln>
            </p:spPr>
          </p:sp>
        </p:grpSp>
        <p:sp>
          <p:nvSpPr>
            <p:cNvPr id="31" name="TextBox 31"/>
            <p:cNvSpPr txBox="1"/>
            <p:nvPr/>
          </p:nvSpPr>
          <p:spPr>
            <a:xfrm>
              <a:off x="6815138" y="1811893"/>
              <a:ext cx="819937"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账号粉丝数增加</a:t>
              </a:r>
            </a:p>
          </p:txBody>
        </p:sp>
        <p:sp>
          <p:nvSpPr>
            <p:cNvPr id="32" name="TextBox 32"/>
            <p:cNvSpPr txBox="1"/>
            <p:nvPr/>
          </p:nvSpPr>
          <p:spPr>
            <a:xfrm>
              <a:off x="6809232" y="1983105"/>
              <a:ext cx="509401" cy="410718"/>
            </a:xfrm>
            <a:prstGeom prst="rect">
              <a:avLst/>
            </a:prstGeom>
            <a:noFill/>
            <a:ln>
              <a:noFill/>
            </a:ln>
          </p:spPr>
          <p:txBody>
            <a:bodyPr wrap="none" lIns="0" tIns="0" rIns="0" bIns="0" anchor="t" anchorCtr="0">
              <a:spAutoFit/>
            </a:bodyPr>
            <a:lstStyle/>
            <a:p>
              <a:pPr algn="l"/>
              <a:r>
                <a:rPr lang="zh-CN" sz="2100" b="1" dirty="0">
                  <a:solidFill>
                    <a:srgbClr val="E5624C"/>
                  </a:solidFill>
                  <a:latin typeface="+mn-lt"/>
                  <a:ea typeface="+mn-ea"/>
                  <a:cs typeface="+mn-cs"/>
                </a:rPr>
                <a:t>88</a:t>
              </a:r>
              <a:r>
                <a:rPr lang="zh-CN" sz="1200" b="1" dirty="0">
                  <a:solidFill>
                    <a:srgbClr val="E5624C"/>
                  </a:solidFill>
                  <a:latin typeface="+mn-lt"/>
                  <a:ea typeface="+mn-ea"/>
                  <a:cs typeface="+mn-cs"/>
                </a:rPr>
                <a:t>万</a:t>
              </a:r>
            </a:p>
          </p:txBody>
        </p:sp>
        <p:grpSp>
          <p:nvGrpSpPr>
            <p:cNvPr id="37" name="Group 37"/>
            <p:cNvGrpSpPr/>
            <p:nvPr/>
          </p:nvGrpSpPr>
          <p:grpSpPr>
            <a:xfrm>
              <a:off x="6417469" y="2588419"/>
              <a:ext cx="214312" cy="214313"/>
              <a:chOff x="6417469" y="2588419"/>
              <a:chExt cx="214312" cy="214313"/>
            </a:xfrm>
          </p:grpSpPr>
          <p:sp>
            <p:nvSpPr>
              <p:cNvPr id="33" name="Freeform 33"/>
              <p:cNvSpPr/>
              <p:nvPr/>
            </p:nvSpPr>
            <p:spPr>
              <a:xfrm>
                <a:off x="6441281" y="258841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D47D6B"/>
                </a:solidFill>
              </a:ln>
            </p:spPr>
          </p:sp>
          <p:sp>
            <p:nvSpPr>
              <p:cNvPr id="34" name="Freeform 34"/>
              <p:cNvSpPr/>
              <p:nvPr/>
            </p:nvSpPr>
            <p:spPr>
              <a:xfrm>
                <a:off x="6417469" y="2731294"/>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23812">
                <a:solidFill>
                  <a:srgbClr val="D47D6B"/>
                </a:solidFill>
              </a:ln>
            </p:spPr>
          </p:sp>
          <p:sp>
            <p:nvSpPr>
              <p:cNvPr id="35" name="Freeform 35"/>
              <p:cNvSpPr/>
              <p:nvPr/>
            </p:nvSpPr>
            <p:spPr>
              <a:xfrm>
                <a:off x="6572250" y="2589967"/>
                <a:ext cx="35812" cy="92273"/>
              </a:xfrm>
              <a:custGeom>
                <a:avLst/>
                <a:gdLst/>
                <a:ahLst/>
                <a:cxnLst/>
                <a:rect l="l" t="t" r="r" b="b"/>
                <a:pathLst>
                  <a:path w="35812" h="92273">
                    <a:moveTo>
                      <a:pt x="0" y="0"/>
                    </a:moveTo>
                    <a:cubicBezTo>
                      <a:pt x="21073" y="5396"/>
                      <a:pt x="35812" y="24384"/>
                      <a:pt x="35812" y="46137"/>
                    </a:cubicBezTo>
                    <a:cubicBezTo>
                      <a:pt x="35812" y="67890"/>
                      <a:pt x="21073" y="86878"/>
                      <a:pt x="0" y="92273"/>
                    </a:cubicBezTo>
                  </a:path>
                </a:pathLst>
              </a:custGeom>
              <a:noFill/>
              <a:ln w="23812">
                <a:solidFill>
                  <a:srgbClr val="D47D6B"/>
                </a:solidFill>
              </a:ln>
            </p:spPr>
          </p:sp>
          <p:sp>
            <p:nvSpPr>
              <p:cNvPr id="36" name="Freeform 36"/>
              <p:cNvSpPr/>
              <p:nvPr/>
            </p:nvSpPr>
            <p:spPr>
              <a:xfrm>
                <a:off x="6596062" y="2733080"/>
                <a:ext cx="35719" cy="69652"/>
              </a:xfrm>
              <a:custGeom>
                <a:avLst/>
                <a:gdLst/>
                <a:ahLst/>
                <a:cxnLst/>
                <a:rect l="l" t="t" r="r" b="b"/>
                <a:pathLst>
                  <a:path w="35719" h="69652">
                    <a:moveTo>
                      <a:pt x="35719" y="69652"/>
                    </a:moveTo>
                    <a:lnTo>
                      <a:pt x="35719" y="45839"/>
                    </a:lnTo>
                    <a:cubicBezTo>
                      <a:pt x="35594" y="24224"/>
                      <a:pt x="20929" y="5403"/>
                      <a:pt x="0" y="0"/>
                    </a:cubicBezTo>
                  </a:path>
                </a:pathLst>
              </a:custGeom>
              <a:noFill/>
              <a:ln w="23812">
                <a:solidFill>
                  <a:srgbClr val="D47D6B"/>
                </a:solidFill>
              </a:ln>
            </p:spPr>
          </p:sp>
        </p:grpSp>
        <p:sp>
          <p:nvSpPr>
            <p:cNvPr id="38" name="TextBox 38"/>
            <p:cNvSpPr txBox="1"/>
            <p:nvPr/>
          </p:nvSpPr>
          <p:spPr>
            <a:xfrm>
              <a:off x="6815138" y="2497693"/>
              <a:ext cx="588391"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新会员注册</a:t>
              </a:r>
            </a:p>
          </p:txBody>
        </p:sp>
        <p:sp>
          <p:nvSpPr>
            <p:cNvPr id="39" name="TextBox 39"/>
            <p:cNvSpPr txBox="1"/>
            <p:nvPr/>
          </p:nvSpPr>
          <p:spPr>
            <a:xfrm>
              <a:off x="6809232" y="2668905"/>
              <a:ext cx="509401" cy="410718"/>
            </a:xfrm>
            <a:prstGeom prst="rect">
              <a:avLst/>
            </a:prstGeom>
            <a:noFill/>
            <a:ln>
              <a:noFill/>
            </a:ln>
          </p:spPr>
          <p:txBody>
            <a:bodyPr wrap="none" lIns="0" tIns="0" rIns="0" bIns="0" anchor="t" anchorCtr="0">
              <a:spAutoFit/>
            </a:bodyPr>
            <a:lstStyle/>
            <a:p>
              <a:pPr algn="l"/>
              <a:r>
                <a:rPr lang="zh-CN" sz="2100" b="1" dirty="0">
                  <a:solidFill>
                    <a:srgbClr val="E5624C"/>
                  </a:solidFill>
                  <a:latin typeface="+mn-lt"/>
                  <a:ea typeface="+mn-ea"/>
                  <a:cs typeface="+mn-cs"/>
                </a:rPr>
                <a:t>22</a:t>
              </a:r>
              <a:r>
                <a:rPr lang="zh-CN" sz="1200" b="1" dirty="0">
                  <a:solidFill>
                    <a:srgbClr val="E5624C"/>
                  </a:solidFill>
                  <a:latin typeface="+mn-lt"/>
                  <a:ea typeface="+mn-ea"/>
                  <a:cs typeface="+mn-cs"/>
                </a:rPr>
                <a:t>万</a:t>
              </a:r>
            </a:p>
          </p:txBody>
        </p:sp>
        <p:grpSp>
          <p:nvGrpSpPr>
            <p:cNvPr id="43" name="Group 43"/>
            <p:cNvGrpSpPr/>
            <p:nvPr/>
          </p:nvGrpSpPr>
          <p:grpSpPr>
            <a:xfrm>
              <a:off x="8703469" y="1902619"/>
              <a:ext cx="214312" cy="214312"/>
              <a:chOff x="8703469" y="1902619"/>
              <a:chExt cx="214312" cy="214312"/>
            </a:xfrm>
          </p:grpSpPr>
          <p:sp>
            <p:nvSpPr>
              <p:cNvPr id="40" name="Freeform 40"/>
              <p:cNvSpPr/>
              <p:nvPr/>
            </p:nvSpPr>
            <p:spPr>
              <a:xfrm>
                <a:off x="8703469" y="1902619"/>
                <a:ext cx="214312" cy="107156"/>
              </a:xfrm>
              <a:custGeom>
                <a:avLst/>
                <a:gdLst/>
                <a:ahLst/>
                <a:cxnLst/>
                <a:rect l="l" t="t" r="r" b="b"/>
                <a:pathLst>
                  <a:path w="214312" h="107156">
                    <a:moveTo>
                      <a:pt x="23812" y="107156"/>
                    </a:moveTo>
                    <a:lnTo>
                      <a:pt x="0" y="107156"/>
                    </a:lnTo>
                    <a:lnTo>
                      <a:pt x="107156" y="0"/>
                    </a:lnTo>
                    <a:lnTo>
                      <a:pt x="214312" y="107156"/>
                    </a:lnTo>
                    <a:lnTo>
                      <a:pt x="190500" y="107156"/>
                    </a:lnTo>
                  </a:path>
                </a:pathLst>
              </a:custGeom>
              <a:noFill/>
              <a:ln w="23812">
                <a:solidFill>
                  <a:srgbClr val="D47D6B"/>
                </a:solidFill>
              </a:ln>
            </p:spPr>
          </p:sp>
          <p:sp>
            <p:nvSpPr>
              <p:cNvPr id="41" name="Freeform 41"/>
              <p:cNvSpPr/>
              <p:nvPr/>
            </p:nvSpPr>
            <p:spPr>
              <a:xfrm>
                <a:off x="8727281" y="2009775"/>
                <a:ext cx="166688" cy="107156"/>
              </a:xfrm>
              <a:custGeom>
                <a:avLst/>
                <a:gdLst/>
                <a:ahLst/>
                <a:cxnLst/>
                <a:rect l="l" t="t" r="r" b="b"/>
                <a:pathLst>
                  <a:path w="166688" h="107156">
                    <a:moveTo>
                      <a:pt x="0" y="0"/>
                    </a:moveTo>
                    <a:lnTo>
                      <a:pt x="0" y="83344"/>
                    </a:lnTo>
                    <a:cubicBezTo>
                      <a:pt x="0" y="96495"/>
                      <a:pt x="10661" y="107156"/>
                      <a:pt x="23812" y="107156"/>
                    </a:cubicBezTo>
                    <a:lnTo>
                      <a:pt x="142875" y="107156"/>
                    </a:lnTo>
                    <a:cubicBezTo>
                      <a:pt x="156026" y="107156"/>
                      <a:pt x="166688" y="96495"/>
                      <a:pt x="166688" y="83344"/>
                    </a:cubicBezTo>
                    <a:lnTo>
                      <a:pt x="166688" y="0"/>
                    </a:lnTo>
                  </a:path>
                </a:pathLst>
              </a:custGeom>
              <a:noFill/>
              <a:ln w="23812">
                <a:solidFill>
                  <a:srgbClr val="D47D6B"/>
                </a:solidFill>
              </a:ln>
            </p:spPr>
          </p:sp>
          <p:sp>
            <p:nvSpPr>
              <p:cNvPr id="42" name="Freeform 42"/>
              <p:cNvSpPr/>
              <p:nvPr/>
            </p:nvSpPr>
            <p:spPr>
              <a:xfrm>
                <a:off x="8774906" y="2021681"/>
                <a:ext cx="71438" cy="95250"/>
              </a:xfrm>
              <a:custGeom>
                <a:avLst/>
                <a:gdLst/>
                <a:ahLst/>
                <a:cxnLst/>
                <a:rect l="l" t="t" r="r" b="b"/>
                <a:pathLst>
                  <a:path w="71438" h="95250">
                    <a:moveTo>
                      <a:pt x="0" y="95250"/>
                    </a:moveTo>
                    <a:lnTo>
                      <a:pt x="0" y="23812"/>
                    </a:lnTo>
                    <a:cubicBezTo>
                      <a:pt x="0" y="10661"/>
                      <a:pt x="10661" y="0"/>
                      <a:pt x="23812" y="0"/>
                    </a:cubicBezTo>
                    <a:lnTo>
                      <a:pt x="47625" y="0"/>
                    </a:lnTo>
                    <a:cubicBezTo>
                      <a:pt x="60776" y="0"/>
                      <a:pt x="71438" y="10661"/>
                      <a:pt x="71438" y="23812"/>
                    </a:cubicBezTo>
                    <a:lnTo>
                      <a:pt x="71438" y="95250"/>
                    </a:lnTo>
                  </a:path>
                </a:pathLst>
              </a:custGeom>
              <a:noFill/>
              <a:ln w="23812">
                <a:solidFill>
                  <a:srgbClr val="D47D6B"/>
                </a:solidFill>
              </a:ln>
            </p:spPr>
          </p:sp>
        </p:grpSp>
        <p:sp>
          <p:nvSpPr>
            <p:cNvPr id="44" name="TextBox 44"/>
            <p:cNvSpPr txBox="1"/>
            <p:nvPr/>
          </p:nvSpPr>
          <p:spPr>
            <a:xfrm>
              <a:off x="9101138" y="1811893"/>
              <a:ext cx="534655"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成交GMV​</a:t>
              </a:r>
            </a:p>
          </p:txBody>
        </p:sp>
        <p:sp>
          <p:nvSpPr>
            <p:cNvPr id="45" name="TextBox 45"/>
            <p:cNvSpPr txBox="1"/>
            <p:nvPr/>
          </p:nvSpPr>
          <p:spPr>
            <a:xfrm>
              <a:off x="9095232" y="1983105"/>
              <a:ext cx="672661" cy="410718"/>
            </a:xfrm>
            <a:prstGeom prst="rect">
              <a:avLst/>
            </a:prstGeom>
            <a:noFill/>
            <a:ln>
              <a:noFill/>
            </a:ln>
          </p:spPr>
          <p:txBody>
            <a:bodyPr wrap="none" lIns="0" tIns="0" rIns="0" bIns="0" anchor="t" anchorCtr="0">
              <a:spAutoFit/>
            </a:bodyPr>
            <a:lstStyle/>
            <a:p>
              <a:pPr algn="l"/>
              <a:r>
                <a:rPr lang="zh-CN" sz="2100" b="1" dirty="0">
                  <a:solidFill>
                    <a:srgbClr val="E5624C"/>
                  </a:solidFill>
                  <a:latin typeface="+mn-lt"/>
                  <a:ea typeface="+mn-ea"/>
                  <a:cs typeface="+mn-cs"/>
                </a:rPr>
                <a:t>621</a:t>
              </a:r>
              <a:r>
                <a:rPr lang="zh-CN" sz="1200" b="1" dirty="0">
                  <a:solidFill>
                    <a:srgbClr val="E5624C"/>
                  </a:solidFill>
                  <a:latin typeface="+mn-lt"/>
                  <a:ea typeface="+mn-ea"/>
                  <a:cs typeface="+mn-cs"/>
                </a:rPr>
                <a:t>万</a:t>
              </a:r>
            </a:p>
          </p:txBody>
        </p:sp>
        <p:grpSp>
          <p:nvGrpSpPr>
            <p:cNvPr id="50" name="Group 50"/>
            <p:cNvGrpSpPr/>
            <p:nvPr/>
          </p:nvGrpSpPr>
          <p:grpSpPr>
            <a:xfrm>
              <a:off x="8715375" y="2588419"/>
              <a:ext cx="190501" cy="214312"/>
              <a:chOff x="8715375" y="2588419"/>
              <a:chExt cx="190501" cy="214312"/>
            </a:xfrm>
          </p:grpSpPr>
          <p:sp>
            <p:nvSpPr>
              <p:cNvPr id="46" name="Freeform 46"/>
              <p:cNvSpPr/>
              <p:nvPr/>
            </p:nvSpPr>
            <p:spPr>
              <a:xfrm>
                <a:off x="8715375" y="275510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D47D6B"/>
                </a:solidFill>
              </a:ln>
            </p:spPr>
          </p:sp>
          <p:sp>
            <p:nvSpPr>
              <p:cNvPr id="47" name="Freeform 47"/>
              <p:cNvSpPr/>
              <p:nvPr/>
            </p:nvSpPr>
            <p:spPr>
              <a:xfrm>
                <a:off x="8846344" y="2755106"/>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D47D6B"/>
                </a:solidFill>
              </a:ln>
            </p:spPr>
          </p:sp>
          <p:sp>
            <p:nvSpPr>
              <p:cNvPr id="48" name="Freeform 48"/>
              <p:cNvSpPr/>
              <p:nvPr/>
            </p:nvSpPr>
            <p:spPr>
              <a:xfrm>
                <a:off x="8715375" y="2588419"/>
                <a:ext cx="154781" cy="166688"/>
              </a:xfrm>
              <a:custGeom>
                <a:avLst/>
                <a:gdLst/>
                <a:ahLst/>
                <a:cxnLst/>
                <a:rect l="l" t="t" r="r" b="b"/>
                <a:pathLst>
                  <a:path w="154781" h="166688">
                    <a:moveTo>
                      <a:pt x="154781" y="166688"/>
                    </a:moveTo>
                    <a:lnTo>
                      <a:pt x="23812" y="166688"/>
                    </a:lnTo>
                    <a:lnTo>
                      <a:pt x="23812" y="0"/>
                    </a:lnTo>
                    <a:lnTo>
                      <a:pt x="0" y="0"/>
                    </a:lnTo>
                  </a:path>
                </a:pathLst>
              </a:custGeom>
              <a:noFill/>
              <a:ln w="23812">
                <a:solidFill>
                  <a:srgbClr val="D47D6B"/>
                </a:solidFill>
              </a:ln>
            </p:spPr>
          </p:sp>
          <p:sp>
            <p:nvSpPr>
              <p:cNvPr id="49" name="Freeform 49"/>
              <p:cNvSpPr/>
              <p:nvPr/>
            </p:nvSpPr>
            <p:spPr>
              <a:xfrm>
                <a:off x="8739188" y="2612231"/>
                <a:ext cx="166688" cy="95250"/>
              </a:xfrm>
              <a:custGeom>
                <a:avLst/>
                <a:gdLst/>
                <a:ahLst/>
                <a:cxnLst/>
                <a:rect l="l" t="t" r="r" b="b"/>
                <a:pathLst>
                  <a:path w="166688" h="95250">
                    <a:moveTo>
                      <a:pt x="0" y="0"/>
                    </a:moveTo>
                    <a:lnTo>
                      <a:pt x="166688" y="11906"/>
                    </a:lnTo>
                    <a:lnTo>
                      <a:pt x="154781" y="95250"/>
                    </a:lnTo>
                    <a:lnTo>
                      <a:pt x="0" y="95250"/>
                    </a:lnTo>
                  </a:path>
                </a:pathLst>
              </a:custGeom>
              <a:noFill/>
              <a:ln w="23812">
                <a:solidFill>
                  <a:srgbClr val="D47D6B"/>
                </a:solidFill>
              </a:ln>
            </p:spPr>
          </p:sp>
        </p:grpSp>
        <p:sp>
          <p:nvSpPr>
            <p:cNvPr id="51" name="TextBox 51"/>
            <p:cNvSpPr txBox="1"/>
            <p:nvPr/>
          </p:nvSpPr>
          <p:spPr>
            <a:xfrm>
              <a:off x="9101138" y="2497693"/>
              <a:ext cx="504073"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店铺ROI​</a:t>
              </a:r>
            </a:p>
          </p:txBody>
        </p:sp>
        <p:sp>
          <p:nvSpPr>
            <p:cNvPr id="52" name="TextBox 52"/>
            <p:cNvSpPr txBox="1"/>
            <p:nvPr/>
          </p:nvSpPr>
          <p:spPr>
            <a:xfrm>
              <a:off x="9095232" y="2668905"/>
              <a:ext cx="475073" cy="410718"/>
            </a:xfrm>
            <a:prstGeom prst="rect">
              <a:avLst/>
            </a:prstGeom>
            <a:noFill/>
            <a:ln>
              <a:noFill/>
            </a:ln>
          </p:spPr>
          <p:txBody>
            <a:bodyPr wrap="none" lIns="0" tIns="0" rIns="0" bIns="0" anchor="t" anchorCtr="0">
              <a:spAutoFit/>
            </a:bodyPr>
            <a:lstStyle/>
            <a:p>
              <a:pPr algn="l"/>
              <a:r>
                <a:rPr lang="zh-CN" sz="2100" b="1" dirty="0">
                  <a:solidFill>
                    <a:srgbClr val="E5624C"/>
                  </a:solidFill>
                  <a:latin typeface="+mn-lt"/>
                  <a:ea typeface="+mn-ea"/>
                  <a:cs typeface="+mn-cs"/>
                </a:rPr>
                <a:t>98</a:t>
              </a:r>
              <a:r>
                <a:rPr lang="zh-CN" sz="1200" b="1" dirty="0">
                  <a:solidFill>
                    <a:srgbClr val="E5624C"/>
                  </a:solidFill>
                  <a:latin typeface="+mn-lt"/>
                  <a:ea typeface="+mn-ea"/>
                  <a:cs typeface="+mn-cs"/>
                </a:rPr>
                <a:t>%</a:t>
              </a:r>
            </a:p>
          </p:txBody>
        </p:sp>
      </p:grpSp>
      <p:grpSp>
        <p:nvGrpSpPr>
          <p:cNvPr id="69" name="activity-panel"/>
          <p:cNvGrpSpPr/>
          <p:nvPr/>
        </p:nvGrpSpPr>
        <p:grpSpPr>
          <a:xfrm>
            <a:off x="3781425" y="3238500"/>
            <a:ext cx="4686300" cy="2857500"/>
            <a:chOff x="3781425" y="3238500"/>
            <a:chExt cx="4686300" cy="2857500"/>
          </a:xfrm>
        </p:grpSpPr>
        <p:sp>
          <p:nvSpPr>
            <p:cNvPr id="54" name="Rectangle 54"/>
            <p:cNvSpPr/>
            <p:nvPr/>
          </p:nvSpPr>
          <p:spPr>
            <a:xfrm>
              <a:off x="3781425" y="3238500"/>
              <a:ext cx="4686300" cy="285750"/>
            </a:xfrm>
            <a:prstGeom prst="roundRect">
              <a:avLst>
                <a:gd name="adj" fmla="val 50000"/>
              </a:avLst>
            </a:prstGeom>
            <a:solidFill>
              <a:srgbClr val="C4624E"/>
            </a:solidFill>
            <a:ln>
              <a:noFill/>
            </a:ln>
          </p:spPr>
        </p:sp>
        <p:sp>
          <p:nvSpPr>
            <p:cNvPr id="55" name="TextBox 55"/>
            <p:cNvSpPr txBox="1"/>
            <p:nvPr/>
          </p:nvSpPr>
          <p:spPr>
            <a:xfrm>
              <a:off x="5196129" y="3323749"/>
              <a:ext cx="185689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活动加速了种草人群的快速购买</a:t>
              </a:r>
            </a:p>
          </p:txBody>
        </p:sp>
        <p:sp>
          <p:nvSpPr>
            <p:cNvPr id="56" name="TextBox 56"/>
            <p:cNvSpPr txBox="1"/>
            <p:nvPr/>
          </p:nvSpPr>
          <p:spPr>
            <a:xfrm>
              <a:off x="3867468" y="4216241"/>
              <a:ext cx="113665" cy="1190625"/>
            </a:xfrm>
            <a:prstGeom prst="rect">
              <a:avLst/>
            </a:prstGeom>
            <a:noFill/>
            <a:ln>
              <a:noFill/>
            </a:ln>
          </p:spPr>
          <p:txBody>
            <a:bodyPr wrap="none" lIns="0" tIns="0" rIns="0" bIns="0" anchor="t" anchorCtr="0">
              <a:spAutoFit/>
            </a:bodyPr>
            <a:lstStyle/>
            <a:p>
              <a:pPr algn="ctr">
                <a:lnSpc>
                  <a:spcPts val="1350"/>
                </a:lnSpc>
              </a:pPr>
              <a:r>
                <a:rPr lang="zh-CN" sz="820" dirty="0">
                  <a:solidFill>
                    <a:srgbClr val="808699"/>
                  </a:solidFill>
                  <a:latin typeface="+mn-lt"/>
                  <a:ea typeface="+mn-ea"/>
                  <a:cs typeface="+mn-cs"/>
                </a:rPr>
                <a:t>此</a:t>
              </a:r>
              <a:br/>
              <a:r>
                <a:rPr lang="zh-CN" sz="820" dirty="0">
                  <a:solidFill>
                    <a:srgbClr val="808699"/>
                  </a:solidFill>
                  <a:latin typeface="+mn-lt"/>
                  <a:ea typeface="+mn-ea"/>
                  <a:cs typeface="+mn-cs"/>
                </a:rPr>
                <a:t>处</a:t>
              </a:r>
              <a:br/>
              <a:r>
                <a:rPr lang="zh-CN" sz="820" dirty="0">
                  <a:solidFill>
                    <a:srgbClr val="808699"/>
                  </a:solidFill>
                  <a:latin typeface="+mn-lt"/>
                  <a:ea typeface="+mn-ea"/>
                  <a:cs typeface="+mn-cs"/>
                </a:rPr>
                <a:t>替</a:t>
              </a:r>
              <a:br/>
              <a:r>
                <a:rPr lang="zh-CN" sz="820" dirty="0">
                  <a:solidFill>
                    <a:srgbClr val="808699"/>
                  </a:solidFill>
                  <a:latin typeface="+mn-lt"/>
                  <a:ea typeface="+mn-ea"/>
                  <a:cs typeface="+mn-cs"/>
                </a:rPr>
                <a:t>换</a:t>
              </a:r>
              <a:br/>
              <a:r>
                <a:rPr lang="zh-CN" sz="820" dirty="0">
                  <a:solidFill>
                    <a:srgbClr val="808699"/>
                  </a:solidFill>
                  <a:latin typeface="+mn-lt"/>
                  <a:ea typeface="+mn-ea"/>
                  <a:cs typeface="+mn-cs"/>
                </a:rPr>
                <a:t>活</a:t>
              </a:r>
              <a:br/>
              <a:r>
                <a:rPr lang="zh-CN" sz="820" dirty="0">
                  <a:solidFill>
                    <a:srgbClr val="808699"/>
                  </a:solidFill>
                  <a:latin typeface="+mn-lt"/>
                  <a:ea typeface="+mn-ea"/>
                  <a:cs typeface="+mn-cs"/>
                </a:rPr>
                <a:t>动</a:t>
              </a:r>
              <a:br/>
              <a:r>
                <a:rPr lang="zh-CN" sz="820" dirty="0">
                  <a:solidFill>
                    <a:srgbClr val="808699"/>
                  </a:solidFill>
                  <a:latin typeface="+mn-lt"/>
                  <a:ea typeface="+mn-ea"/>
                  <a:cs typeface="+mn-cs"/>
                </a:rPr>
                <a:t>图</a:t>
              </a:r>
            </a:p>
          </p:txBody>
        </p:sp>
        <p:sp>
          <p:nvSpPr>
            <p:cNvPr id="57" name="TextBox 57"/>
            <p:cNvSpPr txBox="1"/>
            <p:nvPr/>
          </p:nvSpPr>
          <p:spPr>
            <a:xfrm>
              <a:off x="4529176" y="4398645"/>
              <a:ext cx="142799"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01</a:t>
              </a:r>
            </a:p>
          </p:txBody>
        </p:sp>
        <p:sp>
          <p:nvSpPr>
            <p:cNvPr id="58" name="TextBox 58"/>
            <p:cNvSpPr txBox="1"/>
            <p:nvPr/>
          </p:nvSpPr>
          <p:spPr>
            <a:xfrm>
              <a:off x="5519776" y="4398645"/>
              <a:ext cx="142799"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02</a:t>
              </a:r>
            </a:p>
          </p:txBody>
        </p:sp>
        <p:sp>
          <p:nvSpPr>
            <p:cNvPr id="59" name="TextBox 59"/>
            <p:cNvSpPr txBox="1"/>
            <p:nvPr/>
          </p:nvSpPr>
          <p:spPr>
            <a:xfrm>
              <a:off x="6510376" y="4398645"/>
              <a:ext cx="142799"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03</a:t>
              </a:r>
            </a:p>
          </p:txBody>
        </p:sp>
        <p:sp>
          <p:nvSpPr>
            <p:cNvPr id="60" name="TextBox 60"/>
            <p:cNvSpPr txBox="1"/>
            <p:nvPr/>
          </p:nvSpPr>
          <p:spPr>
            <a:xfrm>
              <a:off x="7500976" y="4398645"/>
              <a:ext cx="142799"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04</a:t>
              </a:r>
            </a:p>
          </p:txBody>
        </p:sp>
        <p:sp>
          <p:nvSpPr>
            <p:cNvPr id="61" name="Rectangle 61"/>
            <p:cNvSpPr/>
            <p:nvPr/>
          </p:nvSpPr>
          <p:spPr>
            <a:xfrm>
              <a:off x="4171950" y="4629150"/>
              <a:ext cx="857250" cy="1466850"/>
            </a:xfrm>
            <a:prstGeom prst="roundRect">
              <a:avLst>
                <a:gd name="adj" fmla="val 6667"/>
              </a:avLst>
            </a:prstGeom>
            <a:gradFill>
              <a:gsLst>
                <a:gs pos="0">
                  <a:srgbClr val="F2C0B6"/>
                </a:gs>
                <a:gs pos="100000">
                  <a:srgbClr val="EEF3FB"/>
                </a:gs>
              </a:gsLst>
              <a:lin ang="5400000" scaled="1"/>
            </a:gradFill>
            <a:ln>
              <a:noFill/>
            </a:ln>
          </p:spPr>
        </p:sp>
        <p:sp>
          <p:nvSpPr>
            <p:cNvPr id="62" name="Freeform 62"/>
            <p:cNvSpPr/>
            <p:nvPr/>
          </p:nvSpPr>
          <p:spPr>
            <a:xfrm>
              <a:off x="4171950" y="5238750"/>
              <a:ext cx="857250" cy="857250"/>
            </a:xfrm>
            <a:custGeom>
              <a:avLst/>
              <a:gdLst/>
              <a:ahLst/>
              <a:cxnLst/>
              <a:rect l="l" t="t" r="r" b="b"/>
              <a:pathLst>
                <a:path w="857250" h="857250">
                  <a:moveTo>
                    <a:pt x="0" y="476250"/>
                  </a:moveTo>
                  <a:lnTo>
                    <a:pt x="285750" y="95250"/>
                  </a:lnTo>
                  <a:lnTo>
                    <a:pt x="495300" y="333375"/>
                  </a:lnTo>
                  <a:lnTo>
                    <a:pt x="733425" y="0"/>
                  </a:lnTo>
                  <a:lnTo>
                    <a:pt x="857250" y="190500"/>
                  </a:lnTo>
                  <a:lnTo>
                    <a:pt x="857250" y="857250"/>
                  </a:lnTo>
                  <a:lnTo>
                    <a:pt x="0" y="857250"/>
                  </a:lnTo>
                  <a:close/>
                </a:path>
              </a:pathLst>
            </a:custGeom>
            <a:solidFill>
              <a:srgbClr val="F7F9FD"/>
            </a:solidFill>
            <a:ln>
              <a:noFill/>
            </a:ln>
          </p:spPr>
        </p:sp>
        <p:sp>
          <p:nvSpPr>
            <p:cNvPr id="63" name="Rectangle 63"/>
            <p:cNvSpPr/>
            <p:nvPr/>
          </p:nvSpPr>
          <p:spPr>
            <a:xfrm>
              <a:off x="5162550" y="4629150"/>
              <a:ext cx="857250" cy="1466850"/>
            </a:xfrm>
            <a:prstGeom prst="roundRect">
              <a:avLst>
                <a:gd name="adj" fmla="val 6667"/>
              </a:avLst>
            </a:prstGeom>
            <a:gradFill>
              <a:gsLst>
                <a:gs pos="0">
                  <a:srgbClr val="F2C0B6"/>
                </a:gs>
                <a:gs pos="100000">
                  <a:srgbClr val="EEF3FB"/>
                </a:gs>
              </a:gsLst>
              <a:lin ang="5400000" scaled="1"/>
            </a:gradFill>
            <a:ln>
              <a:noFill/>
            </a:ln>
          </p:spPr>
        </p:sp>
        <p:sp>
          <p:nvSpPr>
            <p:cNvPr id="64" name="Freeform 64"/>
            <p:cNvSpPr/>
            <p:nvPr/>
          </p:nvSpPr>
          <p:spPr>
            <a:xfrm>
              <a:off x="5162550" y="5238750"/>
              <a:ext cx="857250" cy="857250"/>
            </a:xfrm>
            <a:custGeom>
              <a:avLst/>
              <a:gdLst/>
              <a:ahLst/>
              <a:cxnLst/>
              <a:rect l="l" t="t" r="r" b="b"/>
              <a:pathLst>
                <a:path w="857250" h="857250">
                  <a:moveTo>
                    <a:pt x="0" y="476250"/>
                  </a:moveTo>
                  <a:lnTo>
                    <a:pt x="285750" y="95250"/>
                  </a:lnTo>
                  <a:lnTo>
                    <a:pt x="495300" y="333375"/>
                  </a:lnTo>
                  <a:lnTo>
                    <a:pt x="733425" y="0"/>
                  </a:lnTo>
                  <a:lnTo>
                    <a:pt x="857250" y="190500"/>
                  </a:lnTo>
                  <a:lnTo>
                    <a:pt x="857250" y="857250"/>
                  </a:lnTo>
                  <a:lnTo>
                    <a:pt x="0" y="857250"/>
                  </a:lnTo>
                  <a:close/>
                </a:path>
              </a:pathLst>
            </a:custGeom>
            <a:solidFill>
              <a:srgbClr val="F7F9FD"/>
            </a:solidFill>
            <a:ln>
              <a:noFill/>
            </a:ln>
          </p:spPr>
        </p:sp>
        <p:sp>
          <p:nvSpPr>
            <p:cNvPr id="65" name="Rectangle 65"/>
            <p:cNvSpPr/>
            <p:nvPr/>
          </p:nvSpPr>
          <p:spPr>
            <a:xfrm>
              <a:off x="6153150" y="4629150"/>
              <a:ext cx="857250" cy="1466850"/>
            </a:xfrm>
            <a:prstGeom prst="roundRect">
              <a:avLst>
                <a:gd name="adj" fmla="val 6667"/>
              </a:avLst>
            </a:prstGeom>
            <a:gradFill>
              <a:gsLst>
                <a:gs pos="0">
                  <a:srgbClr val="F2C0B6"/>
                </a:gs>
                <a:gs pos="100000">
                  <a:srgbClr val="EEF3FB"/>
                </a:gs>
              </a:gsLst>
              <a:lin ang="5400000" scaled="1"/>
            </a:gradFill>
            <a:ln>
              <a:noFill/>
            </a:ln>
          </p:spPr>
        </p:sp>
        <p:sp>
          <p:nvSpPr>
            <p:cNvPr id="66" name="Freeform 66"/>
            <p:cNvSpPr/>
            <p:nvPr/>
          </p:nvSpPr>
          <p:spPr>
            <a:xfrm>
              <a:off x="6153150" y="5238750"/>
              <a:ext cx="857250" cy="857250"/>
            </a:xfrm>
            <a:custGeom>
              <a:avLst/>
              <a:gdLst/>
              <a:ahLst/>
              <a:cxnLst/>
              <a:rect l="l" t="t" r="r" b="b"/>
              <a:pathLst>
                <a:path w="857250" h="857250">
                  <a:moveTo>
                    <a:pt x="0" y="476250"/>
                  </a:moveTo>
                  <a:lnTo>
                    <a:pt x="285750" y="95250"/>
                  </a:lnTo>
                  <a:lnTo>
                    <a:pt x="495300" y="333375"/>
                  </a:lnTo>
                  <a:lnTo>
                    <a:pt x="733425" y="0"/>
                  </a:lnTo>
                  <a:lnTo>
                    <a:pt x="857250" y="190500"/>
                  </a:lnTo>
                  <a:lnTo>
                    <a:pt x="857250" y="857250"/>
                  </a:lnTo>
                  <a:lnTo>
                    <a:pt x="0" y="857250"/>
                  </a:lnTo>
                  <a:close/>
                </a:path>
              </a:pathLst>
            </a:custGeom>
            <a:solidFill>
              <a:srgbClr val="F7F9FD"/>
            </a:solidFill>
            <a:ln>
              <a:noFill/>
            </a:ln>
          </p:spPr>
        </p:sp>
        <p:sp>
          <p:nvSpPr>
            <p:cNvPr id="67" name="Rectangle 67"/>
            <p:cNvSpPr/>
            <p:nvPr/>
          </p:nvSpPr>
          <p:spPr>
            <a:xfrm>
              <a:off x="7143750" y="4629150"/>
              <a:ext cx="857250" cy="1466850"/>
            </a:xfrm>
            <a:prstGeom prst="roundRect">
              <a:avLst>
                <a:gd name="adj" fmla="val 6667"/>
              </a:avLst>
            </a:prstGeom>
            <a:gradFill>
              <a:gsLst>
                <a:gs pos="0">
                  <a:srgbClr val="F2C0B6"/>
                </a:gs>
                <a:gs pos="100000">
                  <a:srgbClr val="EEF3FB"/>
                </a:gs>
              </a:gsLst>
              <a:lin ang="5400000" scaled="1"/>
            </a:gradFill>
            <a:ln>
              <a:noFill/>
            </a:ln>
          </p:spPr>
        </p:sp>
        <p:sp>
          <p:nvSpPr>
            <p:cNvPr id="68" name="Freeform 68"/>
            <p:cNvSpPr/>
            <p:nvPr/>
          </p:nvSpPr>
          <p:spPr>
            <a:xfrm>
              <a:off x="7143750" y="5238750"/>
              <a:ext cx="857250" cy="857250"/>
            </a:xfrm>
            <a:custGeom>
              <a:avLst/>
              <a:gdLst/>
              <a:ahLst/>
              <a:cxnLst/>
              <a:rect l="l" t="t" r="r" b="b"/>
              <a:pathLst>
                <a:path w="857250" h="857250">
                  <a:moveTo>
                    <a:pt x="0" y="476250"/>
                  </a:moveTo>
                  <a:lnTo>
                    <a:pt x="285750" y="95250"/>
                  </a:lnTo>
                  <a:lnTo>
                    <a:pt x="495300" y="333375"/>
                  </a:lnTo>
                  <a:lnTo>
                    <a:pt x="733425" y="0"/>
                  </a:lnTo>
                  <a:lnTo>
                    <a:pt x="857250" y="190500"/>
                  </a:lnTo>
                  <a:lnTo>
                    <a:pt x="857250" y="857250"/>
                  </a:lnTo>
                  <a:lnTo>
                    <a:pt x="0" y="857250"/>
                  </a:lnTo>
                  <a:close/>
                </a:path>
              </a:pathLst>
            </a:custGeom>
            <a:solidFill>
              <a:srgbClr val="F7F9FD"/>
            </a:solidFill>
            <a:ln>
              <a:noFill/>
            </a:ln>
          </p:spPr>
        </p:sp>
      </p:grpSp>
      <p:grpSp>
        <p:nvGrpSpPr>
          <p:cNvPr id="80" name="result-panel"/>
          <p:cNvGrpSpPr/>
          <p:nvPr/>
        </p:nvGrpSpPr>
        <p:grpSpPr>
          <a:xfrm>
            <a:off x="8915400" y="3238500"/>
            <a:ext cx="2857500" cy="2857500"/>
            <a:chOff x="8915400" y="3238500"/>
            <a:chExt cx="2857500" cy="2857500"/>
          </a:xfrm>
        </p:grpSpPr>
        <p:sp>
          <p:nvSpPr>
            <p:cNvPr id="70" name="Rectangle 70"/>
            <p:cNvSpPr/>
            <p:nvPr/>
          </p:nvSpPr>
          <p:spPr>
            <a:xfrm>
              <a:off x="8915400" y="3238500"/>
              <a:ext cx="2857500" cy="285750"/>
            </a:xfrm>
            <a:prstGeom prst="roundRect">
              <a:avLst>
                <a:gd name="adj" fmla="val 50000"/>
              </a:avLst>
            </a:prstGeom>
            <a:solidFill>
              <a:srgbClr val="C4624E"/>
            </a:solidFill>
            <a:ln>
              <a:noFill/>
            </a:ln>
          </p:spPr>
        </p:sp>
        <p:sp>
          <p:nvSpPr>
            <p:cNvPr id="71" name="TextBox 71"/>
            <p:cNvSpPr txBox="1"/>
            <p:nvPr/>
          </p:nvSpPr>
          <p:spPr>
            <a:xfrm>
              <a:off x="9745523" y="3323749"/>
              <a:ext cx="119725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整体效果超预期完成</a:t>
              </a:r>
            </a:p>
          </p:txBody>
        </p:sp>
        <p:sp>
          <p:nvSpPr>
            <p:cNvPr id="72" name="TextBox 72"/>
            <p:cNvSpPr txBox="1"/>
            <p:nvPr/>
          </p:nvSpPr>
          <p:spPr>
            <a:xfrm>
              <a:off x="8948738" y="4612243"/>
              <a:ext cx="588391" cy="169069"/>
            </a:xfrm>
            <a:prstGeom prst="rect">
              <a:avLst/>
            </a:prstGeom>
            <a:noFill/>
            <a:ln>
              <a:noFill/>
            </a:ln>
          </p:spPr>
          <p:txBody>
            <a:bodyPr wrap="none" lIns="0" tIns="0" rIns="0" bIns="0" anchor="t" anchorCtr="0">
              <a:spAutoFit/>
            </a:bodyPr>
            <a:lstStyle/>
            <a:p>
              <a:pPr algn="l"/>
              <a:r>
                <a:rPr lang="zh-CN" sz="860" dirty="0">
                  <a:solidFill>
                    <a:srgbClr val="808699"/>
                  </a:solidFill>
                  <a:latin typeface="+mn-lt"/>
                  <a:ea typeface="+mn-ea"/>
                  <a:cs typeface="+mn-cs"/>
                </a:rPr>
                <a:t>销售额环比</a:t>
              </a:r>
            </a:p>
          </p:txBody>
        </p:sp>
        <p:sp>
          <p:nvSpPr>
            <p:cNvPr id="73" name="TextBox 73"/>
            <p:cNvSpPr txBox="1"/>
            <p:nvPr/>
          </p:nvSpPr>
          <p:spPr>
            <a:xfrm>
              <a:off x="9535668" y="4565332"/>
              <a:ext cx="811409" cy="322707"/>
            </a:xfrm>
            <a:prstGeom prst="rect">
              <a:avLst/>
            </a:prstGeom>
            <a:noFill/>
            <a:ln>
              <a:noFill/>
            </a:ln>
          </p:spPr>
          <p:txBody>
            <a:bodyPr wrap="none" lIns="0" tIns="0" rIns="0" bIns="0" anchor="t" anchorCtr="0">
              <a:spAutoFit/>
            </a:bodyPr>
            <a:lstStyle/>
            <a:p>
              <a:pPr algn="l"/>
              <a:r>
                <a:rPr lang="zh-CN" sz="1650" b="1" dirty="0">
                  <a:solidFill>
                    <a:srgbClr val="E5624C"/>
                  </a:solidFill>
                  <a:latin typeface="+mn-lt"/>
                  <a:ea typeface="+mn-ea"/>
                  <a:cs typeface="+mn-cs"/>
                </a:rPr>
                <a:t>增长2倍</a:t>
              </a:r>
            </a:p>
          </p:txBody>
        </p:sp>
        <p:grpSp>
          <p:nvGrpSpPr>
            <p:cNvPr id="76" name="Group 76"/>
            <p:cNvGrpSpPr/>
            <p:nvPr/>
          </p:nvGrpSpPr>
          <p:grpSpPr>
            <a:xfrm>
              <a:off x="10994231" y="4437856"/>
              <a:ext cx="242888" cy="134938"/>
              <a:chOff x="10994231" y="4437856"/>
              <a:chExt cx="242888" cy="134938"/>
            </a:xfrm>
          </p:grpSpPr>
          <p:sp>
            <p:nvSpPr>
              <p:cNvPr id="74" name="Freeform 74"/>
              <p:cNvSpPr/>
              <p:nvPr/>
            </p:nvSpPr>
            <p:spPr>
              <a:xfrm>
                <a:off x="10994231" y="4437856"/>
                <a:ext cx="242888" cy="134938"/>
              </a:xfrm>
              <a:custGeom>
                <a:avLst/>
                <a:gdLst/>
                <a:ahLst/>
                <a:cxnLst/>
                <a:rect l="l" t="t" r="r" b="b"/>
                <a:pathLst>
                  <a:path w="242888" h="134938">
                    <a:moveTo>
                      <a:pt x="0" y="134938"/>
                    </a:moveTo>
                    <a:lnTo>
                      <a:pt x="80963" y="53975"/>
                    </a:lnTo>
                    <a:lnTo>
                      <a:pt x="134938" y="107950"/>
                    </a:lnTo>
                    <a:lnTo>
                      <a:pt x="242888" y="0"/>
                    </a:lnTo>
                  </a:path>
                </a:pathLst>
              </a:custGeom>
              <a:noFill/>
              <a:ln w="26988">
                <a:solidFill>
                  <a:srgbClr val="E5624C"/>
                </a:solidFill>
              </a:ln>
            </p:spPr>
          </p:sp>
          <p:sp>
            <p:nvSpPr>
              <p:cNvPr id="75" name="Freeform 75"/>
              <p:cNvSpPr/>
              <p:nvPr/>
            </p:nvSpPr>
            <p:spPr>
              <a:xfrm>
                <a:off x="11142663" y="4437856"/>
                <a:ext cx="94456" cy="94456"/>
              </a:xfrm>
              <a:custGeom>
                <a:avLst/>
                <a:gdLst/>
                <a:ahLst/>
                <a:cxnLst/>
                <a:rect l="l" t="t" r="r" b="b"/>
                <a:pathLst>
                  <a:path w="94456" h="94456">
                    <a:moveTo>
                      <a:pt x="0" y="0"/>
                    </a:moveTo>
                    <a:lnTo>
                      <a:pt x="94456" y="0"/>
                    </a:lnTo>
                    <a:lnTo>
                      <a:pt x="94456" y="94456"/>
                    </a:lnTo>
                  </a:path>
                </a:pathLst>
              </a:custGeom>
              <a:noFill/>
              <a:ln w="26988">
                <a:solidFill>
                  <a:srgbClr val="E5624C"/>
                </a:solidFill>
              </a:ln>
            </p:spPr>
          </p:sp>
        </p:grpSp>
        <p:sp>
          <p:nvSpPr>
            <p:cNvPr id="77" name="Freeform 77"/>
            <p:cNvSpPr/>
            <p:nvPr/>
          </p:nvSpPr>
          <p:spPr>
            <a:xfrm>
              <a:off x="8953500" y="4610100"/>
              <a:ext cx="2571750" cy="1485900"/>
            </a:xfrm>
            <a:custGeom>
              <a:avLst/>
              <a:gdLst/>
              <a:ahLst/>
              <a:cxnLst/>
              <a:rect l="l" t="t" r="r" b="b"/>
              <a:pathLst>
                <a:path w="2571750" h="1485900">
                  <a:moveTo>
                    <a:pt x="0" y="1485900"/>
                  </a:moveTo>
                  <a:lnTo>
                    <a:pt x="0" y="1104900"/>
                  </a:lnTo>
                  <a:lnTo>
                    <a:pt x="428625" y="819150"/>
                  </a:lnTo>
                  <a:lnTo>
                    <a:pt x="857250" y="1028700"/>
                  </a:lnTo>
                  <a:lnTo>
                    <a:pt x="1285875" y="647700"/>
                  </a:lnTo>
                  <a:lnTo>
                    <a:pt x="1714500" y="838200"/>
                  </a:lnTo>
                  <a:lnTo>
                    <a:pt x="2143125" y="381000"/>
                  </a:lnTo>
                  <a:lnTo>
                    <a:pt x="2571750" y="0"/>
                  </a:lnTo>
                  <a:lnTo>
                    <a:pt x="2571750" y="1485900"/>
                  </a:lnTo>
                  <a:close/>
                </a:path>
              </a:pathLst>
            </a:custGeom>
            <a:gradFill>
              <a:gsLst>
                <a:gs pos="0">
                  <a:srgbClr val="E5624C">
                    <a:alpha val="75000"/>
                  </a:srgbClr>
                </a:gs>
                <a:gs pos="100000">
                  <a:srgbClr val="E5624C">
                    <a:alpha val="5000"/>
                  </a:srgbClr>
                </a:gs>
              </a:gsLst>
              <a:lin ang="5400000" scaled="1"/>
            </a:gradFill>
            <a:ln>
              <a:noFill/>
            </a:ln>
          </p:spPr>
        </p:sp>
        <p:sp>
          <p:nvSpPr>
            <p:cNvPr id="78" name="Freeform 78"/>
            <p:cNvSpPr/>
            <p:nvPr/>
          </p:nvSpPr>
          <p:spPr>
            <a:xfrm>
              <a:off x="8953500" y="4610100"/>
              <a:ext cx="2571750" cy="1104900"/>
            </a:xfrm>
            <a:custGeom>
              <a:avLst/>
              <a:gdLst/>
              <a:ahLst/>
              <a:cxnLst/>
              <a:rect l="l" t="t" r="r" b="b"/>
              <a:pathLst>
                <a:path w="2571750" h="1104900">
                  <a:moveTo>
                    <a:pt x="0" y="1104900"/>
                  </a:moveTo>
                  <a:lnTo>
                    <a:pt x="428625" y="819150"/>
                  </a:lnTo>
                  <a:lnTo>
                    <a:pt x="857250" y="1028700"/>
                  </a:lnTo>
                  <a:lnTo>
                    <a:pt x="1285875" y="647700"/>
                  </a:lnTo>
                  <a:lnTo>
                    <a:pt x="1714500" y="838200"/>
                  </a:lnTo>
                  <a:lnTo>
                    <a:pt x="2143125" y="381000"/>
                  </a:lnTo>
                  <a:lnTo>
                    <a:pt x="2571750" y="0"/>
                  </a:lnTo>
                </a:path>
              </a:pathLst>
            </a:custGeom>
            <a:noFill/>
            <a:ln w="23812">
              <a:solidFill>
                <a:srgbClr val="E5624C"/>
              </a:solidFill>
            </a:ln>
          </p:spPr>
        </p:sp>
        <p:sp>
          <p:nvSpPr>
            <p:cNvPr id="79" name="Ellipse 79"/>
            <p:cNvSpPr/>
            <p:nvPr/>
          </p:nvSpPr>
          <p:spPr>
            <a:xfrm>
              <a:off x="11477625" y="4562475"/>
              <a:ext cx="95250" cy="95250"/>
            </a:xfrm>
            <a:prstGeom prst="ellipse">
              <a:avLst/>
            </a:prstGeom>
            <a:solidFill>
              <a:srgbClr val="E5624C"/>
            </a:solidFill>
            <a:ln>
              <a:noFill/>
            </a:ln>
          </p:spPr>
        </p:sp>
      </p:gr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lower-wash"/>
          <p:cNvSpPr/>
          <p:nvPr/>
        </p:nvSpPr>
        <p:spPr>
          <a:xfrm>
            <a:off x="0" y="3886200"/>
            <a:ext cx="12192000" cy="2971800"/>
          </a:xfrm>
          <a:prstGeom prst="rect">
            <a:avLst/>
          </a:prstGeom>
          <a:solidFill>
            <a:srgbClr val="F4F5FB"/>
          </a:solidFill>
          <a:ln>
            <a:noFill/>
          </a:ln>
        </p:spPr>
      </p:sp>
      <p:grpSp>
        <p:nvGrpSpPr>
          <p:cNvPr id="5" name="page-header"/>
          <p:cNvGrpSpPr/>
          <p:nvPr/>
        </p:nvGrpSpPr>
        <p:grpSpPr>
          <a:xfrm>
            <a:off x="302895" y="214312"/>
            <a:ext cx="2158365" cy="440055"/>
            <a:chOff x="302895" y="214312"/>
            <a:chExt cx="2158365" cy="440055"/>
          </a:xfrm>
        </p:grpSpPr>
        <p:sp>
          <p:nvSpPr>
            <p:cNvPr id="3" name="TextBox 3"/>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87.​</a:t>
              </a:r>
            </a:p>
          </p:txBody>
        </p:sp>
        <p:sp>
          <p:nvSpPr>
            <p:cNvPr id="4" name="TextBox 4"/>
            <p:cNvSpPr txBox="1"/>
            <p:nvPr/>
          </p:nvSpPr>
          <p:spPr>
            <a:xfrm>
              <a:off x="866394" y="246698"/>
              <a:ext cx="159486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项目回款情况</a:t>
              </a:r>
            </a:p>
          </p:txBody>
        </p:sp>
      </p:grpSp>
      <p:grpSp>
        <p:nvGrpSpPr>
          <p:cNvPr id="15" name="project-card-1"/>
          <p:cNvGrpSpPr/>
          <p:nvPr/>
        </p:nvGrpSpPr>
        <p:grpSpPr>
          <a:xfrm>
            <a:off x="790575" y="1076325"/>
            <a:ext cx="2800350" cy="2552700"/>
            <a:chOff x="790575" y="1076325"/>
            <a:chExt cx="2800350" cy="2552700"/>
          </a:xfrm>
        </p:grpSpPr>
        <p:sp>
          <p:nvSpPr>
            <p:cNvPr id="6" name="Rectangle 6"/>
            <p:cNvSpPr/>
            <p:nvPr/>
          </p:nvSpPr>
          <p:spPr>
            <a:xfrm>
              <a:off x="790575" y="1076325"/>
              <a:ext cx="2800350" cy="2552700"/>
            </a:xfrm>
            <a:prstGeom prst="roundRect">
              <a:avLst>
                <a:gd name="adj" fmla="val 2985"/>
              </a:avLst>
            </a:prstGeom>
            <a:solidFill>
              <a:srgbClr val="FFFFFF"/>
            </a:solidFill>
            <a:ln w="9525">
              <a:solidFill>
                <a:srgbClr val="E4E7F5"/>
              </a:solidFill>
            </a:ln>
          </p:spPr>
        </p:sp>
        <p:sp>
          <p:nvSpPr>
            <p:cNvPr id="7" name="TextBox 7"/>
            <p:cNvSpPr txBox="1"/>
            <p:nvPr/>
          </p:nvSpPr>
          <p:spPr>
            <a:xfrm>
              <a:off x="938022" y="1256824"/>
              <a:ext cx="669544" cy="190690"/>
            </a:xfrm>
            <a:prstGeom prst="rect">
              <a:avLst/>
            </a:prstGeom>
            <a:noFill/>
            <a:ln>
              <a:noFill/>
            </a:ln>
          </p:spPr>
          <p:txBody>
            <a:bodyPr wrap="none" lIns="0" tIns="0" rIns="0" bIns="0" anchor="t" anchorCtr="0">
              <a:spAutoFit/>
            </a:bodyPr>
            <a:lstStyle/>
            <a:p>
              <a:pPr algn="l"/>
              <a:r>
                <a:rPr lang="zh-CN" sz="980" b="1" dirty="0">
                  <a:solidFill>
                    <a:srgbClr val="C1553F"/>
                  </a:solidFill>
                  <a:latin typeface="+mn-lt"/>
                  <a:ea typeface="+mn-ea"/>
                  <a:cs typeface="+mn-cs"/>
                </a:rPr>
                <a:t>电视剧发行</a:t>
              </a:r>
            </a:p>
          </p:txBody>
        </p:sp>
        <p:sp>
          <p:nvSpPr>
            <p:cNvPr id="8" name="TextBox 8"/>
            <p:cNvSpPr txBox="1"/>
            <p:nvPr/>
          </p:nvSpPr>
          <p:spPr>
            <a:xfrm>
              <a:off x="3254731" y="1242060"/>
              <a:ext cx="189890" cy="234696"/>
            </a:xfrm>
            <a:prstGeom prst="rect">
              <a:avLst/>
            </a:prstGeom>
            <a:noFill/>
            <a:ln>
              <a:noFill/>
            </a:ln>
          </p:spPr>
          <p:txBody>
            <a:bodyPr wrap="none" lIns="0" tIns="0" rIns="0" bIns="0" anchor="t" anchorCtr="0">
              <a:spAutoFit/>
            </a:bodyPr>
            <a:lstStyle/>
            <a:p>
              <a:pPr algn="r"/>
              <a:r>
                <a:rPr lang="zh-CN" sz="1200" dirty="0">
                  <a:solidFill>
                    <a:srgbClr val="C9CFEA"/>
                  </a:solidFill>
                  <a:latin typeface="+mn-lt"/>
                  <a:ea typeface="+mn-ea"/>
                  <a:cs typeface="+mn-cs"/>
                </a:rPr>
                <a:t>01</a:t>
              </a:r>
            </a:p>
          </p:txBody>
        </p:sp>
        <p:sp>
          <p:nvSpPr>
            <p:cNvPr id="9" name="Rectangle 9"/>
            <p:cNvSpPr/>
            <p:nvPr/>
          </p:nvSpPr>
          <p:spPr>
            <a:xfrm>
              <a:off x="942975" y="1504950"/>
              <a:ext cx="2495550" cy="1238250"/>
            </a:xfrm>
            <a:prstGeom prst="roundRect">
              <a:avLst>
                <a:gd name="adj" fmla="val 4615"/>
              </a:avLst>
            </a:prstGeom>
            <a:gradFill>
              <a:gsLst>
                <a:gs pos="0">
                  <a:srgbClr val="F0AC9E"/>
                </a:gs>
                <a:gs pos="100000">
                  <a:srgbClr val="E8EFFA"/>
                </a:gs>
              </a:gsLst>
              <a:lin ang="5400000" scaled="1"/>
            </a:gradFill>
            <a:ln>
              <a:noFill/>
            </a:ln>
          </p:spPr>
        </p:sp>
        <p:sp>
          <p:nvSpPr>
            <p:cNvPr id="10" name="Freeform 10"/>
            <p:cNvSpPr/>
            <p:nvPr/>
          </p:nvSpPr>
          <p:spPr>
            <a:xfrm>
              <a:off x="942975" y="1905000"/>
              <a:ext cx="2495550" cy="838200"/>
            </a:xfrm>
            <a:custGeom>
              <a:avLst/>
              <a:gdLst/>
              <a:ahLst/>
              <a:cxnLst/>
              <a:rect l="l" t="t" r="r" b="b"/>
              <a:pathLst>
                <a:path w="2495550" h="838200">
                  <a:moveTo>
                    <a:pt x="0" y="590550"/>
                  </a:moveTo>
                  <a:lnTo>
                    <a:pt x="485775" y="95250"/>
                  </a:lnTo>
                  <a:lnTo>
                    <a:pt x="866775" y="381000"/>
                  </a:lnTo>
                  <a:lnTo>
                    <a:pt x="1343025" y="0"/>
                  </a:lnTo>
                  <a:lnTo>
                    <a:pt x="1819275" y="342900"/>
                  </a:lnTo>
                  <a:lnTo>
                    <a:pt x="2200275" y="133350"/>
                  </a:lnTo>
                  <a:lnTo>
                    <a:pt x="2495550" y="342900"/>
                  </a:lnTo>
                  <a:lnTo>
                    <a:pt x="2495550" y="838200"/>
                  </a:lnTo>
                  <a:lnTo>
                    <a:pt x="0" y="838200"/>
                  </a:lnTo>
                  <a:close/>
                </a:path>
              </a:pathLst>
            </a:custGeom>
            <a:solidFill>
              <a:srgbClr val="F4F7FD"/>
            </a:solidFill>
            <a:ln>
              <a:noFill/>
            </a:ln>
          </p:spPr>
        </p:sp>
        <p:sp>
          <p:nvSpPr>
            <p:cNvPr id="11" name="TextBox 11"/>
            <p:cNvSpPr txBox="1"/>
            <p:nvPr/>
          </p:nvSpPr>
          <p:spPr>
            <a:xfrm>
              <a:off x="933069" y="3085148"/>
              <a:ext cx="473784" cy="381381"/>
            </a:xfrm>
            <a:prstGeom prst="rect">
              <a:avLst/>
            </a:prstGeom>
            <a:noFill/>
            <a:ln>
              <a:noFill/>
            </a:ln>
          </p:spPr>
          <p:txBody>
            <a:bodyPr wrap="none" lIns="0" tIns="0" rIns="0" bIns="0" anchor="t" anchorCtr="0">
              <a:spAutoFit/>
            </a:bodyPr>
            <a:lstStyle/>
            <a:p>
              <a:pPr algn="l"/>
              <a:r>
                <a:rPr lang="zh-CN" sz="1950" b="1" dirty="0">
                  <a:solidFill>
                    <a:srgbClr val="E5624C"/>
                  </a:solidFill>
                  <a:latin typeface="+mn-lt"/>
                  <a:ea typeface="+mn-ea"/>
                  <a:cs typeface="+mn-cs"/>
                </a:rPr>
                <a:t>60</a:t>
              </a:r>
              <a:r>
                <a:rPr lang="zh-CN" sz="1120" b="1" dirty="0">
                  <a:solidFill>
                    <a:srgbClr val="E5624C"/>
                  </a:solidFill>
                  <a:latin typeface="+mn-lt"/>
                  <a:ea typeface="+mn-ea"/>
                  <a:cs typeface="+mn-cs"/>
                </a:rPr>
                <a:t>万</a:t>
              </a:r>
            </a:p>
          </p:txBody>
        </p:sp>
        <p:sp>
          <p:nvSpPr>
            <p:cNvPr id="12" name="TextBox 12"/>
            <p:cNvSpPr txBox="1"/>
            <p:nvPr/>
          </p:nvSpPr>
          <p:spPr>
            <a:xfrm>
              <a:off x="2787990" y="3054191"/>
              <a:ext cx="655297" cy="161925"/>
            </a:xfrm>
            <a:prstGeom prst="rect">
              <a:avLst/>
            </a:prstGeom>
            <a:noFill/>
            <a:ln>
              <a:noFill/>
            </a:ln>
          </p:spPr>
          <p:txBody>
            <a:bodyPr wrap="none" lIns="0" tIns="0" rIns="0" bIns="0" anchor="t" anchorCtr="0">
              <a:spAutoFit/>
            </a:bodyPr>
            <a:lstStyle/>
            <a:p>
              <a:pPr algn="r"/>
              <a:r>
                <a:rPr lang="zh-CN" sz="820" dirty="0">
                  <a:solidFill>
                    <a:srgbClr val="808699"/>
                  </a:solidFill>
                  <a:latin typeface="+mn-lt"/>
                  <a:ea typeface="+mn-ea"/>
                  <a:cs typeface="+mn-cs"/>
                </a:rPr>
                <a:t>回款比例50%</a:t>
              </a:r>
            </a:p>
          </p:txBody>
        </p:sp>
        <p:sp>
          <p:nvSpPr>
            <p:cNvPr id="13" name="Rectangle 13"/>
            <p:cNvSpPr/>
            <p:nvPr/>
          </p:nvSpPr>
          <p:spPr>
            <a:xfrm>
              <a:off x="1809750" y="3238500"/>
              <a:ext cx="1628775" cy="76200"/>
            </a:xfrm>
            <a:prstGeom prst="roundRect">
              <a:avLst>
                <a:gd name="adj" fmla="val 50000"/>
              </a:avLst>
            </a:prstGeom>
            <a:solidFill>
              <a:srgbClr val="E9EBF8"/>
            </a:solidFill>
            <a:ln>
              <a:noFill/>
            </a:ln>
          </p:spPr>
        </p:sp>
        <p:sp>
          <p:nvSpPr>
            <p:cNvPr id="14" name="Rectangle 14"/>
            <p:cNvSpPr/>
            <p:nvPr/>
          </p:nvSpPr>
          <p:spPr>
            <a:xfrm>
              <a:off x="1809750" y="3238500"/>
              <a:ext cx="819150" cy="76200"/>
            </a:xfrm>
            <a:prstGeom prst="roundRect">
              <a:avLst>
                <a:gd name="adj" fmla="val 50000"/>
              </a:avLst>
            </a:prstGeom>
            <a:solidFill>
              <a:srgbClr val="C4624E"/>
            </a:solidFill>
            <a:ln>
              <a:noFill/>
            </a:ln>
          </p:spPr>
        </p:sp>
      </p:grpSp>
      <p:grpSp>
        <p:nvGrpSpPr>
          <p:cNvPr id="25" name="project-card-2"/>
          <p:cNvGrpSpPr/>
          <p:nvPr/>
        </p:nvGrpSpPr>
        <p:grpSpPr>
          <a:xfrm>
            <a:off x="3895725" y="1076325"/>
            <a:ext cx="2800350" cy="2552700"/>
            <a:chOff x="3895725" y="1076325"/>
            <a:chExt cx="2800350" cy="2552700"/>
          </a:xfrm>
        </p:grpSpPr>
        <p:sp>
          <p:nvSpPr>
            <p:cNvPr id="16" name="Rectangle 16"/>
            <p:cNvSpPr/>
            <p:nvPr/>
          </p:nvSpPr>
          <p:spPr>
            <a:xfrm>
              <a:off x="3895725" y="1076325"/>
              <a:ext cx="2800350" cy="2552700"/>
            </a:xfrm>
            <a:prstGeom prst="roundRect">
              <a:avLst>
                <a:gd name="adj" fmla="val 2985"/>
              </a:avLst>
            </a:prstGeom>
            <a:solidFill>
              <a:srgbClr val="FFFFFF"/>
            </a:solidFill>
            <a:ln w="9525">
              <a:solidFill>
                <a:srgbClr val="E4E7F5"/>
              </a:solidFill>
            </a:ln>
          </p:spPr>
        </p:sp>
        <p:sp>
          <p:nvSpPr>
            <p:cNvPr id="17" name="TextBox 17"/>
            <p:cNvSpPr txBox="1"/>
            <p:nvPr/>
          </p:nvSpPr>
          <p:spPr>
            <a:xfrm>
              <a:off x="4043172" y="1256824"/>
              <a:ext cx="801472" cy="190690"/>
            </a:xfrm>
            <a:prstGeom prst="rect">
              <a:avLst/>
            </a:prstGeom>
            <a:noFill/>
            <a:ln>
              <a:noFill/>
            </a:ln>
          </p:spPr>
          <p:txBody>
            <a:bodyPr wrap="none" lIns="0" tIns="0" rIns="0" bIns="0" anchor="t" anchorCtr="0">
              <a:spAutoFit/>
            </a:bodyPr>
            <a:lstStyle/>
            <a:p>
              <a:pPr algn="l"/>
              <a:r>
                <a:rPr lang="zh-CN" sz="980" b="1" dirty="0">
                  <a:solidFill>
                    <a:srgbClr val="C1553F"/>
                  </a:solidFill>
                  <a:latin typeface="+mn-lt"/>
                  <a:ea typeface="+mn-ea"/>
                  <a:cs typeface="+mn-cs"/>
                </a:rPr>
                <a:t>文艺电影发行</a:t>
              </a:r>
            </a:p>
          </p:txBody>
        </p:sp>
        <p:sp>
          <p:nvSpPr>
            <p:cNvPr id="18" name="TextBox 18"/>
            <p:cNvSpPr txBox="1"/>
            <p:nvPr/>
          </p:nvSpPr>
          <p:spPr>
            <a:xfrm>
              <a:off x="6359881" y="1242060"/>
              <a:ext cx="189890" cy="234696"/>
            </a:xfrm>
            <a:prstGeom prst="rect">
              <a:avLst/>
            </a:prstGeom>
            <a:noFill/>
            <a:ln>
              <a:noFill/>
            </a:ln>
          </p:spPr>
          <p:txBody>
            <a:bodyPr wrap="none" lIns="0" tIns="0" rIns="0" bIns="0" anchor="t" anchorCtr="0">
              <a:spAutoFit/>
            </a:bodyPr>
            <a:lstStyle/>
            <a:p>
              <a:pPr algn="r"/>
              <a:r>
                <a:rPr lang="zh-CN" sz="1200" dirty="0">
                  <a:solidFill>
                    <a:srgbClr val="C9CFEA"/>
                  </a:solidFill>
                  <a:latin typeface="+mn-lt"/>
                  <a:ea typeface="+mn-ea"/>
                  <a:cs typeface="+mn-cs"/>
                </a:rPr>
                <a:t>02</a:t>
              </a:r>
            </a:p>
          </p:txBody>
        </p:sp>
        <p:sp>
          <p:nvSpPr>
            <p:cNvPr id="19" name="Rectangle 19"/>
            <p:cNvSpPr/>
            <p:nvPr/>
          </p:nvSpPr>
          <p:spPr>
            <a:xfrm>
              <a:off x="4048125" y="1504950"/>
              <a:ext cx="2495550" cy="1238250"/>
            </a:xfrm>
            <a:prstGeom prst="roundRect">
              <a:avLst>
                <a:gd name="adj" fmla="val 4615"/>
              </a:avLst>
            </a:prstGeom>
            <a:gradFill>
              <a:gsLst>
                <a:gs pos="0">
                  <a:srgbClr val="F0AC9E"/>
                </a:gs>
                <a:gs pos="100000">
                  <a:srgbClr val="E8EFFA"/>
                </a:gs>
              </a:gsLst>
              <a:lin ang="5400000" scaled="1"/>
            </a:gradFill>
            <a:ln>
              <a:noFill/>
            </a:ln>
          </p:spPr>
        </p:sp>
        <p:sp>
          <p:nvSpPr>
            <p:cNvPr id="20" name="Freeform 20"/>
            <p:cNvSpPr/>
            <p:nvPr/>
          </p:nvSpPr>
          <p:spPr>
            <a:xfrm>
              <a:off x="4048125" y="1905000"/>
              <a:ext cx="2495550" cy="838200"/>
            </a:xfrm>
            <a:custGeom>
              <a:avLst/>
              <a:gdLst/>
              <a:ahLst/>
              <a:cxnLst/>
              <a:rect l="l" t="t" r="r" b="b"/>
              <a:pathLst>
                <a:path w="2495550" h="838200">
                  <a:moveTo>
                    <a:pt x="0" y="590550"/>
                  </a:moveTo>
                  <a:lnTo>
                    <a:pt x="485775" y="95250"/>
                  </a:lnTo>
                  <a:lnTo>
                    <a:pt x="866775" y="381000"/>
                  </a:lnTo>
                  <a:lnTo>
                    <a:pt x="1343025" y="0"/>
                  </a:lnTo>
                  <a:lnTo>
                    <a:pt x="1819275" y="342900"/>
                  </a:lnTo>
                  <a:lnTo>
                    <a:pt x="2200275" y="133350"/>
                  </a:lnTo>
                  <a:lnTo>
                    <a:pt x="2495550" y="342900"/>
                  </a:lnTo>
                  <a:lnTo>
                    <a:pt x="2495550" y="838200"/>
                  </a:lnTo>
                  <a:lnTo>
                    <a:pt x="0" y="838200"/>
                  </a:lnTo>
                  <a:close/>
                </a:path>
              </a:pathLst>
            </a:custGeom>
            <a:solidFill>
              <a:srgbClr val="F4F7FD"/>
            </a:solidFill>
            <a:ln>
              <a:noFill/>
            </a:ln>
          </p:spPr>
        </p:sp>
        <p:sp>
          <p:nvSpPr>
            <p:cNvPr id="21" name="TextBox 21"/>
            <p:cNvSpPr txBox="1"/>
            <p:nvPr/>
          </p:nvSpPr>
          <p:spPr>
            <a:xfrm>
              <a:off x="4038219" y="3085148"/>
              <a:ext cx="473784" cy="381381"/>
            </a:xfrm>
            <a:prstGeom prst="rect">
              <a:avLst/>
            </a:prstGeom>
            <a:noFill/>
            <a:ln>
              <a:noFill/>
            </a:ln>
          </p:spPr>
          <p:txBody>
            <a:bodyPr wrap="none" lIns="0" tIns="0" rIns="0" bIns="0" anchor="t" anchorCtr="0">
              <a:spAutoFit/>
            </a:bodyPr>
            <a:lstStyle/>
            <a:p>
              <a:pPr algn="l"/>
              <a:r>
                <a:rPr lang="zh-CN" sz="1950" b="1" dirty="0">
                  <a:solidFill>
                    <a:srgbClr val="E5624C"/>
                  </a:solidFill>
                  <a:latin typeface="+mn-lt"/>
                  <a:ea typeface="+mn-ea"/>
                  <a:cs typeface="+mn-cs"/>
                </a:rPr>
                <a:t>32</a:t>
              </a:r>
              <a:r>
                <a:rPr lang="zh-CN" sz="1120" b="1" dirty="0">
                  <a:solidFill>
                    <a:srgbClr val="E5624C"/>
                  </a:solidFill>
                  <a:latin typeface="+mn-lt"/>
                  <a:ea typeface="+mn-ea"/>
                  <a:cs typeface="+mn-cs"/>
                </a:rPr>
                <a:t>万</a:t>
              </a:r>
            </a:p>
          </p:txBody>
        </p:sp>
        <p:sp>
          <p:nvSpPr>
            <p:cNvPr id="22" name="TextBox 22"/>
            <p:cNvSpPr txBox="1"/>
            <p:nvPr/>
          </p:nvSpPr>
          <p:spPr>
            <a:xfrm>
              <a:off x="5893140" y="3054191"/>
              <a:ext cx="655297" cy="161925"/>
            </a:xfrm>
            <a:prstGeom prst="rect">
              <a:avLst/>
            </a:prstGeom>
            <a:noFill/>
            <a:ln>
              <a:noFill/>
            </a:ln>
          </p:spPr>
          <p:txBody>
            <a:bodyPr wrap="none" lIns="0" tIns="0" rIns="0" bIns="0" anchor="t" anchorCtr="0">
              <a:spAutoFit/>
            </a:bodyPr>
            <a:lstStyle/>
            <a:p>
              <a:pPr algn="r"/>
              <a:r>
                <a:rPr lang="zh-CN" sz="820" dirty="0">
                  <a:solidFill>
                    <a:srgbClr val="808699"/>
                  </a:solidFill>
                  <a:latin typeface="+mn-lt"/>
                  <a:ea typeface="+mn-ea"/>
                  <a:cs typeface="+mn-cs"/>
                </a:rPr>
                <a:t>回款比例80%</a:t>
              </a:r>
            </a:p>
          </p:txBody>
        </p:sp>
        <p:sp>
          <p:nvSpPr>
            <p:cNvPr id="23" name="Rectangle 23"/>
            <p:cNvSpPr/>
            <p:nvPr/>
          </p:nvSpPr>
          <p:spPr>
            <a:xfrm>
              <a:off x="4914900" y="3238500"/>
              <a:ext cx="1628775" cy="76200"/>
            </a:xfrm>
            <a:prstGeom prst="roundRect">
              <a:avLst>
                <a:gd name="adj" fmla="val 50000"/>
              </a:avLst>
            </a:prstGeom>
            <a:solidFill>
              <a:srgbClr val="E9EBF8"/>
            </a:solidFill>
            <a:ln>
              <a:noFill/>
            </a:ln>
          </p:spPr>
        </p:sp>
        <p:sp>
          <p:nvSpPr>
            <p:cNvPr id="24" name="Rectangle 24"/>
            <p:cNvSpPr/>
            <p:nvPr/>
          </p:nvSpPr>
          <p:spPr>
            <a:xfrm>
              <a:off x="4914900" y="3238500"/>
              <a:ext cx="1304925" cy="76200"/>
            </a:xfrm>
            <a:prstGeom prst="roundRect">
              <a:avLst>
                <a:gd name="adj" fmla="val 50000"/>
              </a:avLst>
            </a:prstGeom>
            <a:solidFill>
              <a:srgbClr val="C4624E"/>
            </a:solidFill>
            <a:ln>
              <a:noFill/>
            </a:ln>
          </p:spPr>
        </p:sp>
      </p:grpSp>
      <p:grpSp>
        <p:nvGrpSpPr>
          <p:cNvPr id="35" name="project-card-3"/>
          <p:cNvGrpSpPr/>
          <p:nvPr/>
        </p:nvGrpSpPr>
        <p:grpSpPr>
          <a:xfrm>
            <a:off x="7000875" y="1076325"/>
            <a:ext cx="2800350" cy="2552700"/>
            <a:chOff x="7000875" y="1076325"/>
            <a:chExt cx="2800350" cy="2552700"/>
          </a:xfrm>
        </p:grpSpPr>
        <p:sp>
          <p:nvSpPr>
            <p:cNvPr id="26" name="Rectangle 26"/>
            <p:cNvSpPr/>
            <p:nvPr/>
          </p:nvSpPr>
          <p:spPr>
            <a:xfrm>
              <a:off x="7000875" y="1076325"/>
              <a:ext cx="2800350" cy="2552700"/>
            </a:xfrm>
            <a:prstGeom prst="roundRect">
              <a:avLst>
                <a:gd name="adj" fmla="val 2985"/>
              </a:avLst>
            </a:prstGeom>
            <a:solidFill>
              <a:srgbClr val="FFFFFF"/>
            </a:solidFill>
            <a:ln w="9525">
              <a:solidFill>
                <a:srgbClr val="E4E7F5"/>
              </a:solidFill>
            </a:ln>
          </p:spPr>
        </p:sp>
        <p:sp>
          <p:nvSpPr>
            <p:cNvPr id="27" name="TextBox 27"/>
            <p:cNvSpPr txBox="1"/>
            <p:nvPr/>
          </p:nvSpPr>
          <p:spPr>
            <a:xfrm>
              <a:off x="7148322" y="1256824"/>
              <a:ext cx="669544" cy="190690"/>
            </a:xfrm>
            <a:prstGeom prst="rect">
              <a:avLst/>
            </a:prstGeom>
            <a:noFill/>
            <a:ln>
              <a:noFill/>
            </a:ln>
          </p:spPr>
          <p:txBody>
            <a:bodyPr wrap="none" lIns="0" tIns="0" rIns="0" bIns="0" anchor="t" anchorCtr="0">
              <a:spAutoFit/>
            </a:bodyPr>
            <a:lstStyle/>
            <a:p>
              <a:pPr algn="l"/>
              <a:r>
                <a:rPr lang="zh-CN" sz="980" b="1" dirty="0">
                  <a:solidFill>
                    <a:srgbClr val="C1553F"/>
                  </a:solidFill>
                  <a:latin typeface="+mn-lt"/>
                  <a:ea typeface="+mn-ea"/>
                  <a:cs typeface="+mn-cs"/>
                </a:rPr>
                <a:t>脱口秀巡演</a:t>
              </a:r>
            </a:p>
          </p:txBody>
        </p:sp>
        <p:sp>
          <p:nvSpPr>
            <p:cNvPr id="28" name="TextBox 28"/>
            <p:cNvSpPr txBox="1"/>
            <p:nvPr/>
          </p:nvSpPr>
          <p:spPr>
            <a:xfrm>
              <a:off x="9465031" y="1242060"/>
              <a:ext cx="189890" cy="234696"/>
            </a:xfrm>
            <a:prstGeom prst="rect">
              <a:avLst/>
            </a:prstGeom>
            <a:noFill/>
            <a:ln>
              <a:noFill/>
            </a:ln>
          </p:spPr>
          <p:txBody>
            <a:bodyPr wrap="none" lIns="0" tIns="0" rIns="0" bIns="0" anchor="t" anchorCtr="0">
              <a:spAutoFit/>
            </a:bodyPr>
            <a:lstStyle/>
            <a:p>
              <a:pPr algn="r"/>
              <a:r>
                <a:rPr lang="zh-CN" sz="1200" dirty="0">
                  <a:solidFill>
                    <a:srgbClr val="C9CFEA"/>
                  </a:solidFill>
                  <a:latin typeface="+mn-lt"/>
                  <a:ea typeface="+mn-ea"/>
                  <a:cs typeface="+mn-cs"/>
                </a:rPr>
                <a:t>03</a:t>
              </a:r>
            </a:p>
          </p:txBody>
        </p:sp>
        <p:sp>
          <p:nvSpPr>
            <p:cNvPr id="29" name="Rectangle 29"/>
            <p:cNvSpPr/>
            <p:nvPr/>
          </p:nvSpPr>
          <p:spPr>
            <a:xfrm>
              <a:off x="7153275" y="1504950"/>
              <a:ext cx="2495550" cy="1238250"/>
            </a:xfrm>
            <a:prstGeom prst="roundRect">
              <a:avLst>
                <a:gd name="adj" fmla="val 4615"/>
              </a:avLst>
            </a:prstGeom>
            <a:gradFill>
              <a:gsLst>
                <a:gs pos="0">
                  <a:srgbClr val="F0AC9E"/>
                </a:gs>
                <a:gs pos="100000">
                  <a:srgbClr val="E8EFFA"/>
                </a:gs>
              </a:gsLst>
              <a:lin ang="5400000" scaled="1"/>
            </a:gradFill>
            <a:ln>
              <a:noFill/>
            </a:ln>
          </p:spPr>
        </p:sp>
        <p:sp>
          <p:nvSpPr>
            <p:cNvPr id="30" name="Freeform 30"/>
            <p:cNvSpPr/>
            <p:nvPr/>
          </p:nvSpPr>
          <p:spPr>
            <a:xfrm>
              <a:off x="7153275" y="1905000"/>
              <a:ext cx="2495550" cy="838200"/>
            </a:xfrm>
            <a:custGeom>
              <a:avLst/>
              <a:gdLst/>
              <a:ahLst/>
              <a:cxnLst/>
              <a:rect l="l" t="t" r="r" b="b"/>
              <a:pathLst>
                <a:path w="2495550" h="838200">
                  <a:moveTo>
                    <a:pt x="0" y="590550"/>
                  </a:moveTo>
                  <a:lnTo>
                    <a:pt x="485775" y="95250"/>
                  </a:lnTo>
                  <a:lnTo>
                    <a:pt x="866775" y="381000"/>
                  </a:lnTo>
                  <a:lnTo>
                    <a:pt x="1343025" y="0"/>
                  </a:lnTo>
                  <a:lnTo>
                    <a:pt x="1819275" y="342900"/>
                  </a:lnTo>
                  <a:lnTo>
                    <a:pt x="2200275" y="133350"/>
                  </a:lnTo>
                  <a:lnTo>
                    <a:pt x="2495550" y="342900"/>
                  </a:lnTo>
                  <a:lnTo>
                    <a:pt x="2495550" y="838200"/>
                  </a:lnTo>
                  <a:lnTo>
                    <a:pt x="0" y="838200"/>
                  </a:lnTo>
                  <a:close/>
                </a:path>
              </a:pathLst>
            </a:custGeom>
            <a:solidFill>
              <a:srgbClr val="F4F7FD"/>
            </a:solidFill>
            <a:ln>
              <a:noFill/>
            </a:ln>
          </p:spPr>
        </p:sp>
        <p:sp>
          <p:nvSpPr>
            <p:cNvPr id="31" name="TextBox 31"/>
            <p:cNvSpPr txBox="1"/>
            <p:nvPr/>
          </p:nvSpPr>
          <p:spPr>
            <a:xfrm>
              <a:off x="7143369" y="3085148"/>
              <a:ext cx="473784" cy="381381"/>
            </a:xfrm>
            <a:prstGeom prst="rect">
              <a:avLst/>
            </a:prstGeom>
            <a:noFill/>
            <a:ln>
              <a:noFill/>
            </a:ln>
          </p:spPr>
          <p:txBody>
            <a:bodyPr wrap="none" lIns="0" tIns="0" rIns="0" bIns="0" anchor="t" anchorCtr="0">
              <a:spAutoFit/>
            </a:bodyPr>
            <a:lstStyle/>
            <a:p>
              <a:pPr algn="l"/>
              <a:r>
                <a:rPr lang="zh-CN" sz="1950" b="1" dirty="0">
                  <a:solidFill>
                    <a:srgbClr val="E5624C"/>
                  </a:solidFill>
                  <a:latin typeface="+mn-lt"/>
                  <a:ea typeface="+mn-ea"/>
                  <a:cs typeface="+mn-cs"/>
                </a:rPr>
                <a:t>42</a:t>
              </a:r>
              <a:r>
                <a:rPr lang="zh-CN" sz="1120" b="1" dirty="0">
                  <a:solidFill>
                    <a:srgbClr val="E5624C"/>
                  </a:solidFill>
                  <a:latin typeface="+mn-lt"/>
                  <a:ea typeface="+mn-ea"/>
                  <a:cs typeface="+mn-cs"/>
                </a:rPr>
                <a:t>万</a:t>
              </a:r>
            </a:p>
          </p:txBody>
        </p:sp>
        <p:sp>
          <p:nvSpPr>
            <p:cNvPr id="32" name="TextBox 32"/>
            <p:cNvSpPr txBox="1"/>
            <p:nvPr/>
          </p:nvSpPr>
          <p:spPr>
            <a:xfrm>
              <a:off x="8998290" y="3054191"/>
              <a:ext cx="655297" cy="161925"/>
            </a:xfrm>
            <a:prstGeom prst="rect">
              <a:avLst/>
            </a:prstGeom>
            <a:noFill/>
            <a:ln>
              <a:noFill/>
            </a:ln>
          </p:spPr>
          <p:txBody>
            <a:bodyPr wrap="none" lIns="0" tIns="0" rIns="0" bIns="0" anchor="t" anchorCtr="0">
              <a:spAutoFit/>
            </a:bodyPr>
            <a:lstStyle/>
            <a:p>
              <a:pPr algn="r"/>
              <a:r>
                <a:rPr lang="zh-CN" sz="820" dirty="0">
                  <a:solidFill>
                    <a:srgbClr val="808699"/>
                  </a:solidFill>
                  <a:latin typeface="+mn-lt"/>
                  <a:ea typeface="+mn-ea"/>
                  <a:cs typeface="+mn-cs"/>
                </a:rPr>
                <a:t>回款比例75%</a:t>
              </a:r>
            </a:p>
          </p:txBody>
        </p:sp>
        <p:sp>
          <p:nvSpPr>
            <p:cNvPr id="33" name="Rectangle 33"/>
            <p:cNvSpPr/>
            <p:nvPr/>
          </p:nvSpPr>
          <p:spPr>
            <a:xfrm>
              <a:off x="8020050" y="3238500"/>
              <a:ext cx="1628775" cy="76200"/>
            </a:xfrm>
            <a:prstGeom prst="roundRect">
              <a:avLst>
                <a:gd name="adj" fmla="val 50000"/>
              </a:avLst>
            </a:prstGeom>
            <a:solidFill>
              <a:srgbClr val="E9EBF8"/>
            </a:solidFill>
            <a:ln>
              <a:noFill/>
            </a:ln>
          </p:spPr>
        </p:sp>
        <p:sp>
          <p:nvSpPr>
            <p:cNvPr id="34" name="Rectangle 34"/>
            <p:cNvSpPr/>
            <p:nvPr/>
          </p:nvSpPr>
          <p:spPr>
            <a:xfrm>
              <a:off x="8020050" y="3238500"/>
              <a:ext cx="1219200" cy="76200"/>
            </a:xfrm>
            <a:prstGeom prst="roundRect">
              <a:avLst>
                <a:gd name="adj" fmla="val 50000"/>
              </a:avLst>
            </a:prstGeom>
            <a:solidFill>
              <a:srgbClr val="C4624E"/>
            </a:solidFill>
            <a:ln>
              <a:noFill/>
            </a:ln>
          </p:spPr>
        </p:sp>
      </p:grpSp>
      <p:grpSp>
        <p:nvGrpSpPr>
          <p:cNvPr id="42" name="total-summary"/>
          <p:cNvGrpSpPr/>
          <p:nvPr/>
        </p:nvGrpSpPr>
        <p:grpSpPr>
          <a:xfrm>
            <a:off x="10256520" y="1724025"/>
            <a:ext cx="1287780" cy="945832"/>
            <a:chOff x="10256520" y="1724025"/>
            <a:chExt cx="1287780" cy="945832"/>
          </a:xfrm>
        </p:grpSpPr>
        <p:sp>
          <p:nvSpPr>
            <p:cNvPr id="36" name="Ellipse 36"/>
            <p:cNvSpPr/>
            <p:nvPr/>
          </p:nvSpPr>
          <p:spPr>
            <a:xfrm>
              <a:off x="11258550" y="1724025"/>
              <a:ext cx="285750" cy="285750"/>
            </a:xfrm>
            <a:prstGeom prst="ellipse">
              <a:avLst/>
            </a:prstGeom>
            <a:solidFill>
              <a:srgbClr val="C4624E"/>
            </a:solidFill>
            <a:ln>
              <a:noFill/>
            </a:ln>
          </p:spPr>
        </p:sp>
        <p:grpSp>
          <p:nvGrpSpPr>
            <p:cNvPr id="39" name="Group 39"/>
            <p:cNvGrpSpPr/>
            <p:nvPr/>
          </p:nvGrpSpPr>
          <p:grpSpPr>
            <a:xfrm>
              <a:off x="11327775" y="1796827"/>
              <a:ext cx="143500" cy="143723"/>
              <a:chOff x="11327775" y="1796827"/>
              <a:chExt cx="143500" cy="143723"/>
            </a:xfrm>
          </p:grpSpPr>
          <p:sp>
            <p:nvSpPr>
              <p:cNvPr id="37" name="Freeform 37"/>
              <p:cNvSpPr/>
              <p:nvPr/>
            </p:nvSpPr>
            <p:spPr>
              <a:xfrm>
                <a:off x="11327775" y="1796827"/>
                <a:ext cx="143500" cy="143723"/>
              </a:xfrm>
              <a:custGeom>
                <a:avLst/>
                <a:gdLst/>
                <a:ahLst/>
                <a:cxnLst/>
                <a:rect l="l" t="t" r="r" b="b"/>
                <a:pathLst>
                  <a:path w="143500" h="143723">
                    <a:moveTo>
                      <a:pt x="57775" y="223"/>
                    </a:moveTo>
                    <a:cubicBezTo>
                      <a:pt x="23406" y="8190"/>
                      <a:pt x="0" y="40055"/>
                      <a:pt x="2676" y="75234"/>
                    </a:cubicBezTo>
                    <a:cubicBezTo>
                      <a:pt x="5353" y="110413"/>
                      <a:pt x="33310" y="138370"/>
                      <a:pt x="68489" y="141046"/>
                    </a:cubicBezTo>
                    <a:cubicBezTo>
                      <a:pt x="103668" y="143723"/>
                      <a:pt x="135532" y="120317"/>
                      <a:pt x="143500" y="85948"/>
                    </a:cubicBezTo>
                    <a:cubicBezTo>
                      <a:pt x="143500" y="81564"/>
                      <a:pt x="139946" y="78010"/>
                      <a:pt x="135562" y="78010"/>
                    </a:cubicBezTo>
                    <a:lnTo>
                      <a:pt x="81587" y="78010"/>
                    </a:lnTo>
                    <a:cubicBezTo>
                      <a:pt x="72820" y="78010"/>
                      <a:pt x="65712" y="70903"/>
                      <a:pt x="65712" y="62135"/>
                    </a:cubicBezTo>
                    <a:lnTo>
                      <a:pt x="65712" y="6573"/>
                    </a:lnTo>
                    <a:cubicBezTo>
                      <a:pt x="65513" y="4673"/>
                      <a:pt x="64562" y="2932"/>
                      <a:pt x="63070" y="1739"/>
                    </a:cubicBezTo>
                    <a:cubicBezTo>
                      <a:pt x="61579" y="546"/>
                      <a:pt x="59672" y="0"/>
                      <a:pt x="57775" y="223"/>
                    </a:cubicBezTo>
                  </a:path>
                </a:pathLst>
              </a:custGeom>
              <a:noFill/>
              <a:ln w="15875">
                <a:solidFill>
                  <a:srgbClr val="FFFFFF"/>
                </a:solidFill>
              </a:ln>
            </p:spPr>
          </p:sp>
          <p:sp>
            <p:nvSpPr>
              <p:cNvPr id="38" name="Freeform 38"/>
              <p:cNvSpPr/>
              <p:nvPr/>
            </p:nvSpPr>
            <p:spPr>
              <a:xfrm>
                <a:off x="11425237" y="1799431"/>
                <a:ext cx="43656" cy="43656"/>
              </a:xfrm>
              <a:custGeom>
                <a:avLst/>
                <a:gdLst/>
                <a:ahLst/>
                <a:cxnLst/>
                <a:rect l="l" t="t" r="r" b="b"/>
                <a:pathLst>
                  <a:path w="43656" h="43656">
                    <a:moveTo>
                      <a:pt x="0" y="0"/>
                    </a:moveTo>
                    <a:cubicBezTo>
                      <a:pt x="20414" y="7188"/>
                      <a:pt x="36468" y="23243"/>
                      <a:pt x="43656" y="43656"/>
                    </a:cubicBezTo>
                    <a:lnTo>
                      <a:pt x="7937" y="43656"/>
                    </a:lnTo>
                    <a:cubicBezTo>
                      <a:pt x="3554" y="43656"/>
                      <a:pt x="0" y="40102"/>
                      <a:pt x="0" y="35719"/>
                    </a:cubicBezTo>
                    <a:lnTo>
                      <a:pt x="0" y="0"/>
                    </a:lnTo>
                  </a:path>
                </a:pathLst>
              </a:custGeom>
              <a:noFill/>
              <a:ln w="15875">
                <a:solidFill>
                  <a:srgbClr val="FFFFFF"/>
                </a:solidFill>
              </a:ln>
            </p:spPr>
          </p:sp>
        </p:grpSp>
        <p:sp>
          <p:nvSpPr>
            <p:cNvPr id="40" name="TextBox 40"/>
            <p:cNvSpPr txBox="1"/>
            <p:nvPr/>
          </p:nvSpPr>
          <p:spPr>
            <a:xfrm>
              <a:off x="10256520" y="2081212"/>
              <a:ext cx="729363" cy="440055"/>
            </a:xfrm>
            <a:prstGeom prst="rect">
              <a:avLst/>
            </a:prstGeom>
            <a:noFill/>
            <a:ln>
              <a:noFill/>
            </a:ln>
          </p:spPr>
          <p:txBody>
            <a:bodyPr wrap="none" lIns="0" tIns="0" rIns="0" bIns="0" anchor="t" anchorCtr="0">
              <a:spAutoFit/>
            </a:bodyPr>
            <a:lstStyle/>
            <a:p>
              <a:pPr algn="l"/>
              <a:r>
                <a:rPr lang="zh-CN" sz="2250" b="1" dirty="0">
                  <a:solidFill>
                    <a:srgbClr val="C1553F"/>
                  </a:solidFill>
                  <a:latin typeface="+mn-lt"/>
                  <a:ea typeface="+mn-ea"/>
                  <a:cs typeface="+mn-cs"/>
                </a:rPr>
                <a:t>181</a:t>
              </a:r>
              <a:r>
                <a:rPr lang="zh-CN" sz="1350" b="1" dirty="0">
                  <a:solidFill>
                    <a:srgbClr val="C1553F"/>
                  </a:solidFill>
                  <a:latin typeface="+mn-lt"/>
                  <a:ea typeface="+mn-ea"/>
                  <a:cs typeface="+mn-cs"/>
                </a:rPr>
                <a:t>万</a:t>
              </a:r>
            </a:p>
          </p:txBody>
        </p:sp>
        <p:sp>
          <p:nvSpPr>
            <p:cNvPr id="41" name="TextBox 41"/>
            <p:cNvSpPr txBox="1"/>
            <p:nvPr/>
          </p:nvSpPr>
          <p:spPr>
            <a:xfrm>
              <a:off x="10263188" y="2493645"/>
              <a:ext cx="869747"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24年已回款金额</a:t>
              </a:r>
            </a:p>
          </p:txBody>
        </p:sp>
      </p:grpSp>
      <p:sp>
        <p:nvSpPr>
          <p:cNvPr id="43" name="summary-bracket"/>
          <p:cNvSpPr/>
          <p:nvPr/>
        </p:nvSpPr>
        <p:spPr>
          <a:xfrm>
            <a:off x="11430000" y="2781300"/>
            <a:ext cx="342900" cy="2743200"/>
          </a:xfrm>
          <a:custGeom>
            <a:avLst/>
            <a:gdLst/>
            <a:ahLst/>
            <a:cxnLst/>
            <a:rect l="l" t="t" r="r" b="b"/>
            <a:pathLst>
              <a:path w="342900" h="2743200">
                <a:moveTo>
                  <a:pt x="342900" y="0"/>
                </a:moveTo>
                <a:lnTo>
                  <a:pt x="342900" y="2743200"/>
                </a:lnTo>
                <a:lnTo>
                  <a:pt x="0" y="2743200"/>
                </a:lnTo>
              </a:path>
            </a:pathLst>
          </a:custGeom>
          <a:noFill/>
          <a:ln w="14288">
            <a:solidFill>
              <a:srgbClr val="DD988A"/>
            </a:solidFill>
            <a:tailEnd type="triangle" w="lg" len="lg"/>
          </a:ln>
        </p:spPr>
      </p:sp>
      <p:grpSp>
        <p:nvGrpSpPr>
          <p:cNvPr id="54" name="unpaid-reason"/>
          <p:cNvGrpSpPr/>
          <p:nvPr/>
        </p:nvGrpSpPr>
        <p:grpSpPr>
          <a:xfrm>
            <a:off x="838581" y="4140041"/>
            <a:ext cx="2488026" cy="1647825"/>
            <a:chOff x="838581" y="4140041"/>
            <a:chExt cx="2488026" cy="1647825"/>
          </a:xfrm>
        </p:grpSpPr>
        <p:sp>
          <p:nvSpPr>
            <p:cNvPr id="44" name="TextBox 44"/>
            <p:cNvSpPr txBox="1"/>
            <p:nvPr/>
          </p:nvSpPr>
          <p:spPr>
            <a:xfrm>
              <a:off x="842962" y="4140041"/>
              <a:ext cx="655297" cy="161925"/>
            </a:xfrm>
            <a:prstGeom prst="rect">
              <a:avLst/>
            </a:prstGeom>
            <a:noFill/>
            <a:ln>
              <a:noFill/>
            </a:ln>
          </p:spPr>
          <p:txBody>
            <a:bodyPr wrap="none" lIns="0" tIns="0" rIns="0" bIns="0" anchor="t" anchorCtr="0">
              <a:spAutoFit/>
            </a:bodyPr>
            <a:lstStyle/>
            <a:p>
              <a:pPr algn="l"/>
              <a:r>
                <a:rPr lang="zh-CN" sz="820" dirty="0">
                  <a:solidFill>
                    <a:srgbClr val="808699"/>
                  </a:solidFill>
                  <a:latin typeface="+mn-lt"/>
                  <a:ea typeface="+mn-ea"/>
                  <a:cs typeface="+mn-cs"/>
                </a:rPr>
                <a:t>金额占比20%</a:t>
              </a:r>
            </a:p>
          </p:txBody>
        </p:sp>
        <p:sp>
          <p:nvSpPr>
            <p:cNvPr id="45" name="TextBox 45"/>
            <p:cNvSpPr txBox="1"/>
            <p:nvPr/>
          </p:nvSpPr>
          <p:spPr>
            <a:xfrm>
              <a:off x="838581" y="4396740"/>
              <a:ext cx="1229868" cy="352044"/>
            </a:xfrm>
            <a:prstGeom prst="rect">
              <a:avLst/>
            </a:prstGeom>
            <a:noFill/>
            <a:ln>
              <a:noFill/>
            </a:ln>
          </p:spPr>
          <p:txBody>
            <a:bodyPr wrap="none" lIns="0" tIns="0" rIns="0" bIns="0" anchor="t" anchorCtr="0">
              <a:spAutoFit/>
            </a:bodyPr>
            <a:lstStyle/>
            <a:p>
              <a:pPr algn="l"/>
              <a:r>
                <a:rPr lang="zh-CN" sz="1800" b="1" dirty="0">
                  <a:solidFill>
                    <a:srgbClr val="C1553F"/>
                  </a:solidFill>
                  <a:latin typeface="+mn-lt"/>
                  <a:ea typeface="+mn-ea"/>
                  <a:cs typeface="+mn-cs"/>
                </a:rPr>
                <a:t>未回款原因</a:t>
              </a:r>
            </a:p>
          </p:txBody>
        </p:sp>
        <p:grpSp>
          <p:nvGrpSpPr>
            <p:cNvPr id="49" name="Group 49"/>
            <p:cNvGrpSpPr/>
            <p:nvPr/>
          </p:nvGrpSpPr>
          <p:grpSpPr>
            <a:xfrm>
              <a:off x="2846759" y="4229116"/>
              <a:ext cx="288171" cy="247577"/>
              <a:chOff x="2846759" y="4229116"/>
              <a:chExt cx="288171" cy="247577"/>
            </a:xfrm>
          </p:grpSpPr>
          <p:sp>
            <p:nvSpPr>
              <p:cNvPr id="46" name="Freeform 46"/>
              <p:cNvSpPr/>
              <p:nvPr/>
            </p:nvSpPr>
            <p:spPr>
              <a:xfrm>
                <a:off x="2990850" y="4319588"/>
                <a:ext cx="9525" cy="57150"/>
              </a:xfrm>
              <a:custGeom>
                <a:avLst/>
                <a:gdLst/>
                <a:ahLst/>
                <a:cxnLst/>
                <a:rect l="l" t="t" r="r" b="b"/>
                <a:pathLst>
                  <a:path w="9525" h="57150">
                    <a:moveTo>
                      <a:pt x="0" y="0"/>
                    </a:moveTo>
                    <a:lnTo>
                      <a:pt x="0" y="57150"/>
                    </a:lnTo>
                  </a:path>
                </a:pathLst>
              </a:custGeom>
              <a:noFill/>
              <a:ln w="28575">
                <a:solidFill>
                  <a:srgbClr val="E5624C"/>
                </a:solidFill>
              </a:ln>
            </p:spPr>
          </p:sp>
          <p:sp>
            <p:nvSpPr>
              <p:cNvPr id="47" name="Freeform 47"/>
              <p:cNvSpPr/>
              <p:nvPr/>
            </p:nvSpPr>
            <p:spPr>
              <a:xfrm>
                <a:off x="2846759" y="4229116"/>
                <a:ext cx="288171" cy="247577"/>
              </a:xfrm>
              <a:custGeom>
                <a:avLst/>
                <a:gdLst/>
                <a:ahLst/>
                <a:cxnLst/>
                <a:rect l="l" t="t" r="r" b="b"/>
                <a:pathLst>
                  <a:path w="288171" h="247577">
                    <a:moveTo>
                      <a:pt x="120702" y="13191"/>
                    </a:moveTo>
                    <a:lnTo>
                      <a:pt x="4888" y="206558"/>
                    </a:lnTo>
                    <a:cubicBezTo>
                      <a:pt x="30" y="214971"/>
                      <a:pt x="0" y="225330"/>
                      <a:pt x="4810" y="233771"/>
                    </a:cubicBezTo>
                    <a:cubicBezTo>
                      <a:pt x="9620" y="242213"/>
                      <a:pt x="18548" y="247468"/>
                      <a:pt x="28262" y="247577"/>
                    </a:cubicBezTo>
                    <a:lnTo>
                      <a:pt x="259920" y="247577"/>
                    </a:lnTo>
                    <a:cubicBezTo>
                      <a:pt x="269630" y="247465"/>
                      <a:pt x="278553" y="242212"/>
                      <a:pt x="283362" y="233775"/>
                    </a:cubicBezTo>
                    <a:cubicBezTo>
                      <a:pt x="288171" y="225339"/>
                      <a:pt x="288145" y="214984"/>
                      <a:pt x="283294" y="206572"/>
                    </a:cubicBezTo>
                    <a:lnTo>
                      <a:pt x="167480" y="13176"/>
                    </a:lnTo>
                    <a:cubicBezTo>
                      <a:pt x="162524" y="4996"/>
                      <a:pt x="153655" y="0"/>
                      <a:pt x="144091" y="0"/>
                    </a:cubicBezTo>
                    <a:cubicBezTo>
                      <a:pt x="134527" y="0"/>
                      <a:pt x="125658" y="4996"/>
                      <a:pt x="120702" y="13176"/>
                    </a:cubicBezTo>
                  </a:path>
                </a:pathLst>
              </a:custGeom>
              <a:noFill/>
              <a:ln w="28575">
                <a:solidFill>
                  <a:srgbClr val="E5624C"/>
                </a:solidFill>
              </a:ln>
            </p:spPr>
          </p:sp>
          <p:sp>
            <p:nvSpPr>
              <p:cNvPr id="48" name="Freeform 48"/>
              <p:cNvSpPr/>
              <p:nvPr/>
            </p:nvSpPr>
            <p:spPr>
              <a:xfrm>
                <a:off x="2990850" y="4419600"/>
                <a:ext cx="9525" cy="9525"/>
              </a:xfrm>
              <a:custGeom>
                <a:avLst/>
                <a:gdLst/>
                <a:ahLst/>
                <a:cxnLst/>
                <a:rect l="l" t="t" r="r" b="b"/>
                <a:pathLst>
                  <a:path w="9525" h="9525">
                    <a:moveTo>
                      <a:pt x="0" y="0"/>
                    </a:moveTo>
                    <a:lnTo>
                      <a:pt x="143" y="0"/>
                    </a:lnTo>
                  </a:path>
                </a:pathLst>
              </a:custGeom>
              <a:noFill/>
              <a:ln w="28575">
                <a:solidFill>
                  <a:srgbClr val="E5624C"/>
                </a:solidFill>
              </a:ln>
            </p:spPr>
          </p:sp>
        </p:grpSp>
        <p:grpSp>
          <p:nvGrpSpPr>
            <p:cNvPr id="52" name="Group 52"/>
            <p:cNvGrpSpPr/>
            <p:nvPr/>
          </p:nvGrpSpPr>
          <p:grpSpPr>
            <a:xfrm>
              <a:off x="3169444" y="4426744"/>
              <a:ext cx="157163" cy="157163"/>
              <a:chOff x="3169444" y="4426744"/>
              <a:chExt cx="157163" cy="157163"/>
            </a:xfrm>
          </p:grpSpPr>
          <p:sp>
            <p:nvSpPr>
              <p:cNvPr id="50" name="Freeform 50"/>
              <p:cNvSpPr/>
              <p:nvPr/>
            </p:nvSpPr>
            <p:spPr>
              <a:xfrm>
                <a:off x="3169444" y="442674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E5624C"/>
                </a:solidFill>
              </a:ln>
            </p:spPr>
          </p:sp>
          <p:sp>
            <p:nvSpPr>
              <p:cNvPr id="51" name="Freeform 51"/>
              <p:cNvSpPr/>
              <p:nvPr/>
            </p:nvSpPr>
            <p:spPr>
              <a:xfrm>
                <a:off x="3274219" y="4531519"/>
                <a:ext cx="52388" cy="52388"/>
              </a:xfrm>
              <a:custGeom>
                <a:avLst/>
                <a:gdLst/>
                <a:ahLst/>
                <a:cxnLst/>
                <a:rect l="l" t="t" r="r" b="b"/>
                <a:pathLst>
                  <a:path w="52388" h="52388">
                    <a:moveTo>
                      <a:pt x="52388" y="52388"/>
                    </a:moveTo>
                    <a:lnTo>
                      <a:pt x="0" y="0"/>
                    </a:lnTo>
                  </a:path>
                </a:pathLst>
              </a:custGeom>
              <a:noFill/>
              <a:ln w="17463">
                <a:solidFill>
                  <a:srgbClr val="E5624C"/>
                </a:solidFill>
              </a:ln>
            </p:spPr>
          </p:sp>
        </p:grpSp>
        <p:sp>
          <p:nvSpPr>
            <p:cNvPr id="53" name="TextBox 53"/>
            <p:cNvSpPr txBox="1"/>
            <p:nvPr/>
          </p:nvSpPr>
          <p:spPr>
            <a:xfrm>
              <a:off x="842962" y="4902041"/>
              <a:ext cx="1884045" cy="885825"/>
            </a:xfrm>
            <a:prstGeom prst="rect">
              <a:avLst/>
            </a:prstGeom>
            <a:noFill/>
            <a:ln>
              <a:noFill/>
            </a:ln>
          </p:spPr>
          <p:txBody>
            <a:bodyPr wrap="none" lIns="0" tIns="0" rIns="0" bIns="0" anchor="t" anchorCtr="0">
              <a:spAutoFit/>
            </a:bodyPr>
            <a:lstStyle/>
            <a:p>
              <a:pPr algn="l">
                <a:lnSpc>
                  <a:spcPts val="1425"/>
                </a:lnSpc>
              </a:pPr>
              <a:r>
                <a:rPr lang="zh-CN" sz="820" dirty="0">
                  <a:solidFill>
                    <a:srgbClr val="705F5B"/>
                  </a:solidFill>
                  <a:latin typeface="+mn-lt"/>
                  <a:ea typeface="+mn-ea"/>
                  <a:cs typeface="+mn-cs"/>
                </a:rPr>
                <a:t>网络平台的播放分成根据播放量和会员观</a:t>
              </a:r>
              <a:br/>
              <a:r>
                <a:rPr lang="zh-CN" sz="820" dirty="0">
                  <a:solidFill>
                    <a:srgbClr val="705F5B"/>
                  </a:solidFill>
                  <a:latin typeface="+mn-lt"/>
                  <a:ea typeface="+mn-ea"/>
                  <a:cs typeface="+mn-cs"/>
                </a:rPr>
                <a:t>看数据持续结算，目前已到账部分约占总</a:t>
              </a:r>
              <a:br/>
              <a:r>
                <a:rPr lang="zh-CN" sz="820" dirty="0">
                  <a:solidFill>
                    <a:srgbClr val="705F5B"/>
                  </a:solidFill>
                  <a:latin typeface="+mn-lt"/>
                  <a:ea typeface="+mn-ea"/>
                  <a:cs typeface="+mn-cs"/>
                </a:rPr>
                <a:t>回款的73%。剩余款项预计在剧集播完后</a:t>
              </a:r>
              <a:br/>
              <a:r>
                <a:rPr lang="zh-CN" sz="820" dirty="0">
                  <a:solidFill>
                    <a:srgbClr val="705F5B"/>
                  </a:solidFill>
                  <a:latin typeface="+mn-lt"/>
                  <a:ea typeface="+mn-ea"/>
                  <a:cs typeface="+mn-cs"/>
                </a:rPr>
                <a:t>的三个月内完成结算，主要涉及平台的最</a:t>
              </a:r>
              <a:br/>
              <a:r>
                <a:rPr lang="zh-CN" sz="820" dirty="0">
                  <a:solidFill>
                    <a:srgbClr val="705F5B"/>
                  </a:solidFill>
                  <a:latin typeface="+mn-lt"/>
                  <a:ea typeface="+mn-ea"/>
                  <a:cs typeface="+mn-cs"/>
                </a:rPr>
                <a:t>终播放量奖励分成。</a:t>
              </a:r>
            </a:p>
          </p:txBody>
        </p:sp>
      </p:grpSp>
      <p:grpSp>
        <p:nvGrpSpPr>
          <p:cNvPr id="62" name="small-card-1"/>
          <p:cNvGrpSpPr/>
          <p:nvPr/>
        </p:nvGrpSpPr>
        <p:grpSpPr>
          <a:xfrm>
            <a:off x="4067175" y="4171950"/>
            <a:ext cx="1581150" cy="1943100"/>
            <a:chOff x="4067175" y="4171950"/>
            <a:chExt cx="1581150" cy="1943100"/>
          </a:xfrm>
        </p:grpSpPr>
        <p:sp>
          <p:nvSpPr>
            <p:cNvPr id="55" name="Rectangle 55"/>
            <p:cNvSpPr/>
            <p:nvPr/>
          </p:nvSpPr>
          <p:spPr>
            <a:xfrm>
              <a:off x="4067175" y="4171950"/>
              <a:ext cx="1581150" cy="1943100"/>
            </a:xfrm>
            <a:prstGeom prst="roundRect">
              <a:avLst>
                <a:gd name="adj" fmla="val 4819"/>
              </a:avLst>
            </a:prstGeom>
            <a:solidFill>
              <a:srgbClr val="FFFFFF"/>
            </a:solidFill>
            <a:ln w="9525">
              <a:solidFill>
                <a:srgbClr val="E4E7F5"/>
              </a:solidFill>
            </a:ln>
          </p:spPr>
        </p:sp>
        <p:sp>
          <p:nvSpPr>
            <p:cNvPr id="56" name="Rectangle 56"/>
            <p:cNvSpPr/>
            <p:nvPr/>
          </p:nvSpPr>
          <p:spPr>
            <a:xfrm>
              <a:off x="4162425" y="4267200"/>
              <a:ext cx="1390650" cy="952500"/>
            </a:xfrm>
            <a:prstGeom prst="roundRect">
              <a:avLst>
                <a:gd name="adj" fmla="val 6000"/>
              </a:avLst>
            </a:prstGeom>
            <a:gradFill>
              <a:gsLst>
                <a:gs pos="0">
                  <a:srgbClr val="F0AC9E"/>
                </a:gs>
                <a:gs pos="100000">
                  <a:srgbClr val="E8EFFA"/>
                </a:gs>
              </a:gsLst>
              <a:lin ang="5400000" scaled="1"/>
            </a:gradFill>
            <a:ln>
              <a:noFill/>
            </a:ln>
          </p:spPr>
        </p:sp>
        <p:sp>
          <p:nvSpPr>
            <p:cNvPr id="57" name="Freeform 57"/>
            <p:cNvSpPr/>
            <p:nvPr/>
          </p:nvSpPr>
          <p:spPr>
            <a:xfrm>
              <a:off x="4162425" y="4572000"/>
              <a:ext cx="1390650" cy="647700"/>
            </a:xfrm>
            <a:custGeom>
              <a:avLst/>
              <a:gdLst/>
              <a:ahLst/>
              <a:cxnLst/>
              <a:rect l="l" t="t" r="r" b="b"/>
              <a:pathLst>
                <a:path w="1390650" h="647700">
                  <a:moveTo>
                    <a:pt x="0" y="476250"/>
                  </a:moveTo>
                  <a:lnTo>
                    <a:pt x="314325" y="95250"/>
                  </a:lnTo>
                  <a:lnTo>
                    <a:pt x="600075" y="333375"/>
                  </a:lnTo>
                  <a:lnTo>
                    <a:pt x="933450" y="0"/>
                  </a:lnTo>
                  <a:lnTo>
                    <a:pt x="1171575" y="266700"/>
                  </a:lnTo>
                  <a:lnTo>
                    <a:pt x="1390650" y="133350"/>
                  </a:lnTo>
                  <a:lnTo>
                    <a:pt x="1390650" y="647700"/>
                  </a:lnTo>
                  <a:lnTo>
                    <a:pt x="0" y="647700"/>
                  </a:lnTo>
                  <a:close/>
                </a:path>
              </a:pathLst>
            </a:custGeom>
            <a:solidFill>
              <a:srgbClr val="F4F7FD"/>
            </a:solidFill>
            <a:ln>
              <a:noFill/>
            </a:ln>
          </p:spPr>
        </p:sp>
        <p:sp>
          <p:nvSpPr>
            <p:cNvPr id="58" name="Ellipse 58"/>
            <p:cNvSpPr/>
            <p:nvPr/>
          </p:nvSpPr>
          <p:spPr>
            <a:xfrm>
              <a:off x="5410200" y="4219575"/>
              <a:ext cx="171450" cy="171450"/>
            </a:xfrm>
            <a:prstGeom prst="ellipse">
              <a:avLst/>
            </a:prstGeom>
            <a:solidFill>
              <a:srgbClr val="E5624C"/>
            </a:solidFill>
            <a:ln>
              <a:noFill/>
            </a:ln>
          </p:spPr>
        </p:sp>
        <p:sp>
          <p:nvSpPr>
            <p:cNvPr id="59" name="TextBox 59"/>
            <p:cNvSpPr txBox="1"/>
            <p:nvPr/>
          </p:nvSpPr>
          <p:spPr>
            <a:xfrm>
              <a:off x="5438156" y="4262438"/>
              <a:ext cx="1155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60" name="TextBox 60"/>
            <p:cNvSpPr txBox="1"/>
            <p:nvPr/>
          </p:nvSpPr>
          <p:spPr>
            <a:xfrm>
              <a:off x="4655128" y="5460682"/>
              <a:ext cx="405244" cy="322707"/>
            </a:xfrm>
            <a:prstGeom prst="rect">
              <a:avLst/>
            </a:prstGeom>
            <a:noFill/>
            <a:ln>
              <a:noFill/>
            </a:ln>
          </p:spPr>
          <p:txBody>
            <a:bodyPr wrap="none" lIns="0" tIns="0" rIns="0" bIns="0" anchor="t" anchorCtr="0">
              <a:spAutoFit/>
            </a:bodyPr>
            <a:lstStyle/>
            <a:p>
              <a:pPr algn="ctr"/>
              <a:r>
                <a:rPr lang="zh-CN" sz="1650" b="1" dirty="0">
                  <a:solidFill>
                    <a:srgbClr val="C1553F"/>
                  </a:solidFill>
                  <a:latin typeface="+mn-lt"/>
                  <a:ea typeface="+mn-ea"/>
                  <a:cs typeface="+mn-cs"/>
                </a:rPr>
                <a:t>88</a:t>
              </a:r>
              <a:r>
                <a:rPr lang="zh-CN" sz="980" b="1" dirty="0">
                  <a:solidFill>
                    <a:srgbClr val="C1553F"/>
                  </a:solidFill>
                  <a:latin typeface="+mn-lt"/>
                  <a:ea typeface="+mn-ea"/>
                  <a:cs typeface="+mn-cs"/>
                </a:rPr>
                <a:t>万</a:t>
              </a:r>
            </a:p>
          </p:txBody>
        </p:sp>
        <p:sp>
          <p:nvSpPr>
            <p:cNvPr id="61" name="TextBox 61"/>
            <p:cNvSpPr txBox="1"/>
            <p:nvPr/>
          </p:nvSpPr>
          <p:spPr>
            <a:xfrm>
              <a:off x="4411434" y="5816441"/>
              <a:ext cx="892632"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大型网络综艺制作</a:t>
              </a:r>
            </a:p>
          </p:txBody>
        </p:sp>
      </p:grpSp>
      <p:grpSp>
        <p:nvGrpSpPr>
          <p:cNvPr id="70" name="small-card-2"/>
          <p:cNvGrpSpPr/>
          <p:nvPr/>
        </p:nvGrpSpPr>
        <p:grpSpPr>
          <a:xfrm>
            <a:off x="5934075" y="4171950"/>
            <a:ext cx="1581150" cy="1943100"/>
            <a:chOff x="5934075" y="4171950"/>
            <a:chExt cx="1581150" cy="1943100"/>
          </a:xfrm>
        </p:grpSpPr>
        <p:sp>
          <p:nvSpPr>
            <p:cNvPr id="63" name="Rectangle 63"/>
            <p:cNvSpPr/>
            <p:nvPr/>
          </p:nvSpPr>
          <p:spPr>
            <a:xfrm>
              <a:off x="5934075" y="4171950"/>
              <a:ext cx="1581150" cy="1943100"/>
            </a:xfrm>
            <a:prstGeom prst="roundRect">
              <a:avLst>
                <a:gd name="adj" fmla="val 4819"/>
              </a:avLst>
            </a:prstGeom>
            <a:solidFill>
              <a:srgbClr val="FFFFFF"/>
            </a:solidFill>
            <a:ln w="9525">
              <a:solidFill>
                <a:srgbClr val="E4E7F5"/>
              </a:solidFill>
            </a:ln>
          </p:spPr>
        </p:sp>
        <p:sp>
          <p:nvSpPr>
            <p:cNvPr id="64" name="Rectangle 64"/>
            <p:cNvSpPr/>
            <p:nvPr/>
          </p:nvSpPr>
          <p:spPr>
            <a:xfrm>
              <a:off x="6029325" y="4267200"/>
              <a:ext cx="1390650" cy="952500"/>
            </a:xfrm>
            <a:prstGeom prst="roundRect">
              <a:avLst>
                <a:gd name="adj" fmla="val 6000"/>
              </a:avLst>
            </a:prstGeom>
            <a:gradFill>
              <a:gsLst>
                <a:gs pos="0">
                  <a:srgbClr val="F0AC9E"/>
                </a:gs>
                <a:gs pos="100000">
                  <a:srgbClr val="E8EFFA"/>
                </a:gs>
              </a:gsLst>
              <a:lin ang="5400000" scaled="1"/>
            </a:gradFill>
            <a:ln>
              <a:noFill/>
            </a:ln>
          </p:spPr>
        </p:sp>
        <p:sp>
          <p:nvSpPr>
            <p:cNvPr id="65" name="Freeform 65"/>
            <p:cNvSpPr/>
            <p:nvPr/>
          </p:nvSpPr>
          <p:spPr>
            <a:xfrm>
              <a:off x="6029325" y="4572000"/>
              <a:ext cx="1390650" cy="647700"/>
            </a:xfrm>
            <a:custGeom>
              <a:avLst/>
              <a:gdLst/>
              <a:ahLst/>
              <a:cxnLst/>
              <a:rect l="l" t="t" r="r" b="b"/>
              <a:pathLst>
                <a:path w="1390650" h="647700">
                  <a:moveTo>
                    <a:pt x="0" y="476250"/>
                  </a:moveTo>
                  <a:lnTo>
                    <a:pt x="314325" y="95250"/>
                  </a:lnTo>
                  <a:lnTo>
                    <a:pt x="600075" y="333375"/>
                  </a:lnTo>
                  <a:lnTo>
                    <a:pt x="933450" y="0"/>
                  </a:lnTo>
                  <a:lnTo>
                    <a:pt x="1171575" y="266700"/>
                  </a:lnTo>
                  <a:lnTo>
                    <a:pt x="1390650" y="133350"/>
                  </a:lnTo>
                  <a:lnTo>
                    <a:pt x="1390650" y="647700"/>
                  </a:lnTo>
                  <a:lnTo>
                    <a:pt x="0" y="647700"/>
                  </a:lnTo>
                  <a:close/>
                </a:path>
              </a:pathLst>
            </a:custGeom>
            <a:solidFill>
              <a:srgbClr val="F4F7FD"/>
            </a:solidFill>
            <a:ln>
              <a:noFill/>
            </a:ln>
          </p:spPr>
        </p:sp>
        <p:sp>
          <p:nvSpPr>
            <p:cNvPr id="66" name="Ellipse 66"/>
            <p:cNvSpPr/>
            <p:nvPr/>
          </p:nvSpPr>
          <p:spPr>
            <a:xfrm>
              <a:off x="7277100" y="4219575"/>
              <a:ext cx="171450" cy="171450"/>
            </a:xfrm>
            <a:prstGeom prst="ellipse">
              <a:avLst/>
            </a:prstGeom>
            <a:solidFill>
              <a:srgbClr val="E5624C"/>
            </a:solidFill>
            <a:ln>
              <a:noFill/>
            </a:ln>
          </p:spPr>
        </p:sp>
        <p:sp>
          <p:nvSpPr>
            <p:cNvPr id="67" name="TextBox 67"/>
            <p:cNvSpPr txBox="1"/>
            <p:nvPr/>
          </p:nvSpPr>
          <p:spPr>
            <a:xfrm>
              <a:off x="7305056" y="4262438"/>
              <a:ext cx="1155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68" name="TextBox 68"/>
            <p:cNvSpPr txBox="1"/>
            <p:nvPr/>
          </p:nvSpPr>
          <p:spPr>
            <a:xfrm>
              <a:off x="6522028" y="5460682"/>
              <a:ext cx="405244" cy="322707"/>
            </a:xfrm>
            <a:prstGeom prst="rect">
              <a:avLst/>
            </a:prstGeom>
            <a:noFill/>
            <a:ln>
              <a:noFill/>
            </a:ln>
          </p:spPr>
          <p:txBody>
            <a:bodyPr wrap="none" lIns="0" tIns="0" rIns="0" bIns="0" anchor="t" anchorCtr="0">
              <a:spAutoFit/>
            </a:bodyPr>
            <a:lstStyle/>
            <a:p>
              <a:pPr algn="ctr"/>
              <a:r>
                <a:rPr lang="zh-CN" sz="1650" b="1" dirty="0">
                  <a:solidFill>
                    <a:srgbClr val="C1553F"/>
                  </a:solidFill>
                  <a:latin typeface="+mn-lt"/>
                  <a:ea typeface="+mn-ea"/>
                  <a:cs typeface="+mn-cs"/>
                </a:rPr>
                <a:t>53</a:t>
              </a:r>
              <a:r>
                <a:rPr lang="zh-CN" sz="980" b="1" dirty="0">
                  <a:solidFill>
                    <a:srgbClr val="C1553F"/>
                  </a:solidFill>
                  <a:latin typeface="+mn-lt"/>
                  <a:ea typeface="+mn-ea"/>
                  <a:cs typeface="+mn-cs"/>
                </a:rPr>
                <a:t>万</a:t>
              </a:r>
            </a:p>
          </p:txBody>
        </p:sp>
        <p:sp>
          <p:nvSpPr>
            <p:cNvPr id="69" name="TextBox 69"/>
            <p:cNvSpPr txBox="1"/>
            <p:nvPr/>
          </p:nvSpPr>
          <p:spPr>
            <a:xfrm>
              <a:off x="6223140" y="5816441"/>
              <a:ext cx="100302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音乐专辑制作与发行</a:t>
              </a:r>
            </a:p>
          </p:txBody>
        </p:sp>
      </p:grpSp>
      <p:grpSp>
        <p:nvGrpSpPr>
          <p:cNvPr id="78" name="small-card-3"/>
          <p:cNvGrpSpPr/>
          <p:nvPr/>
        </p:nvGrpSpPr>
        <p:grpSpPr>
          <a:xfrm>
            <a:off x="7800975" y="4171950"/>
            <a:ext cx="1581150" cy="1943100"/>
            <a:chOff x="7800975" y="4171950"/>
            <a:chExt cx="1581150" cy="1943100"/>
          </a:xfrm>
        </p:grpSpPr>
        <p:sp>
          <p:nvSpPr>
            <p:cNvPr id="71" name="Rectangle 71"/>
            <p:cNvSpPr/>
            <p:nvPr/>
          </p:nvSpPr>
          <p:spPr>
            <a:xfrm>
              <a:off x="7800975" y="4171950"/>
              <a:ext cx="1581150" cy="1943100"/>
            </a:xfrm>
            <a:prstGeom prst="roundRect">
              <a:avLst>
                <a:gd name="adj" fmla="val 4819"/>
              </a:avLst>
            </a:prstGeom>
            <a:solidFill>
              <a:srgbClr val="FFFFFF"/>
            </a:solidFill>
            <a:ln w="9525">
              <a:solidFill>
                <a:srgbClr val="E4E7F5"/>
              </a:solidFill>
            </a:ln>
          </p:spPr>
        </p:sp>
        <p:sp>
          <p:nvSpPr>
            <p:cNvPr id="72" name="Rectangle 72"/>
            <p:cNvSpPr/>
            <p:nvPr/>
          </p:nvSpPr>
          <p:spPr>
            <a:xfrm>
              <a:off x="7896225" y="4267200"/>
              <a:ext cx="1390650" cy="952500"/>
            </a:xfrm>
            <a:prstGeom prst="roundRect">
              <a:avLst>
                <a:gd name="adj" fmla="val 6000"/>
              </a:avLst>
            </a:prstGeom>
            <a:gradFill>
              <a:gsLst>
                <a:gs pos="0">
                  <a:srgbClr val="F0AC9E"/>
                </a:gs>
                <a:gs pos="100000">
                  <a:srgbClr val="E8EFFA"/>
                </a:gs>
              </a:gsLst>
              <a:lin ang="5400000" scaled="1"/>
            </a:gradFill>
            <a:ln>
              <a:noFill/>
            </a:ln>
          </p:spPr>
        </p:sp>
        <p:sp>
          <p:nvSpPr>
            <p:cNvPr id="73" name="Freeform 73"/>
            <p:cNvSpPr/>
            <p:nvPr/>
          </p:nvSpPr>
          <p:spPr>
            <a:xfrm>
              <a:off x="7896225" y="4572000"/>
              <a:ext cx="1390650" cy="647700"/>
            </a:xfrm>
            <a:custGeom>
              <a:avLst/>
              <a:gdLst/>
              <a:ahLst/>
              <a:cxnLst/>
              <a:rect l="l" t="t" r="r" b="b"/>
              <a:pathLst>
                <a:path w="1390650" h="647700">
                  <a:moveTo>
                    <a:pt x="0" y="476250"/>
                  </a:moveTo>
                  <a:lnTo>
                    <a:pt x="314325" y="95250"/>
                  </a:lnTo>
                  <a:lnTo>
                    <a:pt x="600075" y="333375"/>
                  </a:lnTo>
                  <a:lnTo>
                    <a:pt x="933450" y="0"/>
                  </a:lnTo>
                  <a:lnTo>
                    <a:pt x="1171575" y="266700"/>
                  </a:lnTo>
                  <a:lnTo>
                    <a:pt x="1390650" y="133350"/>
                  </a:lnTo>
                  <a:lnTo>
                    <a:pt x="1390650" y="647700"/>
                  </a:lnTo>
                  <a:lnTo>
                    <a:pt x="0" y="647700"/>
                  </a:lnTo>
                  <a:close/>
                </a:path>
              </a:pathLst>
            </a:custGeom>
            <a:solidFill>
              <a:srgbClr val="F4F7FD"/>
            </a:solidFill>
            <a:ln>
              <a:noFill/>
            </a:ln>
          </p:spPr>
        </p:sp>
        <p:sp>
          <p:nvSpPr>
            <p:cNvPr id="74" name="Ellipse 74"/>
            <p:cNvSpPr/>
            <p:nvPr/>
          </p:nvSpPr>
          <p:spPr>
            <a:xfrm>
              <a:off x="9144000" y="4219575"/>
              <a:ext cx="171450" cy="171450"/>
            </a:xfrm>
            <a:prstGeom prst="ellipse">
              <a:avLst/>
            </a:prstGeom>
            <a:solidFill>
              <a:srgbClr val="E5624C"/>
            </a:solidFill>
            <a:ln>
              <a:noFill/>
            </a:ln>
          </p:spPr>
        </p:sp>
        <p:sp>
          <p:nvSpPr>
            <p:cNvPr id="75" name="TextBox 75"/>
            <p:cNvSpPr txBox="1"/>
            <p:nvPr/>
          </p:nvSpPr>
          <p:spPr>
            <a:xfrm>
              <a:off x="9171956" y="4262438"/>
              <a:ext cx="1155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76" name="TextBox 76"/>
            <p:cNvSpPr txBox="1"/>
            <p:nvPr/>
          </p:nvSpPr>
          <p:spPr>
            <a:xfrm>
              <a:off x="8388928" y="5460682"/>
              <a:ext cx="405244" cy="322707"/>
            </a:xfrm>
            <a:prstGeom prst="rect">
              <a:avLst/>
            </a:prstGeom>
            <a:noFill/>
            <a:ln>
              <a:noFill/>
            </a:ln>
          </p:spPr>
          <p:txBody>
            <a:bodyPr wrap="none" lIns="0" tIns="0" rIns="0" bIns="0" anchor="t" anchorCtr="0">
              <a:spAutoFit/>
            </a:bodyPr>
            <a:lstStyle/>
            <a:p>
              <a:pPr algn="ctr"/>
              <a:r>
                <a:rPr lang="zh-CN" sz="1650" b="1" dirty="0">
                  <a:solidFill>
                    <a:srgbClr val="C1553F"/>
                  </a:solidFill>
                  <a:latin typeface="+mn-lt"/>
                  <a:ea typeface="+mn-ea"/>
                  <a:cs typeface="+mn-cs"/>
                </a:rPr>
                <a:t>23</a:t>
              </a:r>
              <a:r>
                <a:rPr lang="zh-CN" sz="980" b="1" dirty="0">
                  <a:solidFill>
                    <a:srgbClr val="C1553F"/>
                  </a:solidFill>
                  <a:latin typeface="+mn-lt"/>
                  <a:ea typeface="+mn-ea"/>
                  <a:cs typeface="+mn-cs"/>
                </a:rPr>
                <a:t>万</a:t>
              </a:r>
            </a:p>
          </p:txBody>
        </p:sp>
        <p:sp>
          <p:nvSpPr>
            <p:cNvPr id="77" name="TextBox 77"/>
            <p:cNvSpPr txBox="1"/>
            <p:nvPr/>
          </p:nvSpPr>
          <p:spPr>
            <a:xfrm>
              <a:off x="8366011" y="5816441"/>
              <a:ext cx="45107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短剧系列</a:t>
              </a:r>
            </a:p>
          </p:txBody>
        </p:sp>
      </p:grpSp>
      <p:grpSp>
        <p:nvGrpSpPr>
          <p:cNvPr id="86" name="small-card-4"/>
          <p:cNvGrpSpPr/>
          <p:nvPr/>
        </p:nvGrpSpPr>
        <p:grpSpPr>
          <a:xfrm>
            <a:off x="9667875" y="4171950"/>
            <a:ext cx="1581150" cy="1943100"/>
            <a:chOff x="9667875" y="4171950"/>
            <a:chExt cx="1581150" cy="1943100"/>
          </a:xfrm>
        </p:grpSpPr>
        <p:sp>
          <p:nvSpPr>
            <p:cNvPr id="79" name="Rectangle 79"/>
            <p:cNvSpPr/>
            <p:nvPr/>
          </p:nvSpPr>
          <p:spPr>
            <a:xfrm>
              <a:off x="9667875" y="4171950"/>
              <a:ext cx="1581150" cy="1943100"/>
            </a:xfrm>
            <a:prstGeom prst="roundRect">
              <a:avLst>
                <a:gd name="adj" fmla="val 4819"/>
              </a:avLst>
            </a:prstGeom>
            <a:solidFill>
              <a:srgbClr val="FFFFFF"/>
            </a:solidFill>
            <a:ln w="9525">
              <a:solidFill>
                <a:srgbClr val="E4E7F5"/>
              </a:solidFill>
            </a:ln>
          </p:spPr>
        </p:sp>
        <p:sp>
          <p:nvSpPr>
            <p:cNvPr id="80" name="Rectangle 80"/>
            <p:cNvSpPr/>
            <p:nvPr/>
          </p:nvSpPr>
          <p:spPr>
            <a:xfrm>
              <a:off x="9763125" y="4267200"/>
              <a:ext cx="1390650" cy="952500"/>
            </a:xfrm>
            <a:prstGeom prst="roundRect">
              <a:avLst>
                <a:gd name="adj" fmla="val 6000"/>
              </a:avLst>
            </a:prstGeom>
            <a:gradFill>
              <a:gsLst>
                <a:gs pos="0">
                  <a:srgbClr val="F0AC9E"/>
                </a:gs>
                <a:gs pos="100000">
                  <a:srgbClr val="E8EFFA"/>
                </a:gs>
              </a:gsLst>
              <a:lin ang="5400000" scaled="1"/>
            </a:gradFill>
            <a:ln>
              <a:noFill/>
            </a:ln>
          </p:spPr>
        </p:sp>
        <p:sp>
          <p:nvSpPr>
            <p:cNvPr id="81" name="Freeform 81"/>
            <p:cNvSpPr/>
            <p:nvPr/>
          </p:nvSpPr>
          <p:spPr>
            <a:xfrm>
              <a:off x="9763125" y="4572000"/>
              <a:ext cx="1390650" cy="647700"/>
            </a:xfrm>
            <a:custGeom>
              <a:avLst/>
              <a:gdLst/>
              <a:ahLst/>
              <a:cxnLst/>
              <a:rect l="l" t="t" r="r" b="b"/>
              <a:pathLst>
                <a:path w="1390650" h="647700">
                  <a:moveTo>
                    <a:pt x="0" y="476250"/>
                  </a:moveTo>
                  <a:lnTo>
                    <a:pt x="314325" y="95250"/>
                  </a:lnTo>
                  <a:lnTo>
                    <a:pt x="600075" y="333375"/>
                  </a:lnTo>
                  <a:lnTo>
                    <a:pt x="933450" y="0"/>
                  </a:lnTo>
                  <a:lnTo>
                    <a:pt x="1171575" y="266700"/>
                  </a:lnTo>
                  <a:lnTo>
                    <a:pt x="1390650" y="133350"/>
                  </a:lnTo>
                  <a:lnTo>
                    <a:pt x="1390650" y="647700"/>
                  </a:lnTo>
                  <a:lnTo>
                    <a:pt x="0" y="647700"/>
                  </a:lnTo>
                  <a:close/>
                </a:path>
              </a:pathLst>
            </a:custGeom>
            <a:solidFill>
              <a:srgbClr val="F4F7FD"/>
            </a:solidFill>
            <a:ln>
              <a:noFill/>
            </a:ln>
          </p:spPr>
        </p:sp>
        <p:sp>
          <p:nvSpPr>
            <p:cNvPr id="82" name="Ellipse 82"/>
            <p:cNvSpPr/>
            <p:nvPr/>
          </p:nvSpPr>
          <p:spPr>
            <a:xfrm>
              <a:off x="11010900" y="4219575"/>
              <a:ext cx="171450" cy="171450"/>
            </a:xfrm>
            <a:prstGeom prst="ellipse">
              <a:avLst/>
            </a:prstGeom>
            <a:solidFill>
              <a:srgbClr val="E5624C"/>
            </a:solidFill>
            <a:ln>
              <a:noFill/>
            </a:ln>
          </p:spPr>
        </p:sp>
        <p:sp>
          <p:nvSpPr>
            <p:cNvPr id="83" name="TextBox 83"/>
            <p:cNvSpPr txBox="1"/>
            <p:nvPr/>
          </p:nvSpPr>
          <p:spPr>
            <a:xfrm>
              <a:off x="11038856" y="4262438"/>
              <a:ext cx="115538"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a:t>
              </a:r>
            </a:p>
          </p:txBody>
        </p:sp>
        <p:sp>
          <p:nvSpPr>
            <p:cNvPr id="84" name="TextBox 84"/>
            <p:cNvSpPr txBox="1"/>
            <p:nvPr/>
          </p:nvSpPr>
          <p:spPr>
            <a:xfrm>
              <a:off x="10255828" y="5460682"/>
              <a:ext cx="405244" cy="322707"/>
            </a:xfrm>
            <a:prstGeom prst="rect">
              <a:avLst/>
            </a:prstGeom>
            <a:noFill/>
            <a:ln>
              <a:noFill/>
            </a:ln>
          </p:spPr>
          <p:txBody>
            <a:bodyPr wrap="none" lIns="0" tIns="0" rIns="0" bIns="0" anchor="t" anchorCtr="0">
              <a:spAutoFit/>
            </a:bodyPr>
            <a:lstStyle/>
            <a:p>
              <a:pPr algn="ctr"/>
              <a:r>
                <a:rPr lang="zh-CN" sz="1650" b="1" dirty="0">
                  <a:solidFill>
                    <a:srgbClr val="C1553F"/>
                  </a:solidFill>
                  <a:latin typeface="+mn-lt"/>
                  <a:ea typeface="+mn-ea"/>
                  <a:cs typeface="+mn-cs"/>
                </a:rPr>
                <a:t>17</a:t>
              </a:r>
              <a:r>
                <a:rPr lang="zh-CN" sz="980" b="1" dirty="0">
                  <a:solidFill>
                    <a:srgbClr val="C1553F"/>
                  </a:solidFill>
                  <a:latin typeface="+mn-lt"/>
                  <a:ea typeface="+mn-ea"/>
                  <a:cs typeface="+mn-cs"/>
                </a:rPr>
                <a:t>万</a:t>
              </a:r>
            </a:p>
          </p:txBody>
        </p:sp>
        <p:sp>
          <p:nvSpPr>
            <p:cNvPr id="85" name="TextBox 85"/>
            <p:cNvSpPr txBox="1"/>
            <p:nvPr/>
          </p:nvSpPr>
          <p:spPr>
            <a:xfrm>
              <a:off x="9956940" y="5816441"/>
              <a:ext cx="100302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线下艺人粉丝见面会</a:t>
              </a:r>
            </a:p>
          </p:txBody>
        </p:sp>
      </p:gr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683383" cy="440055"/>
            <a:chOff x="302895" y="214312"/>
            <a:chExt cx="2683383"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88.​</a:t>
              </a:r>
            </a:p>
          </p:txBody>
        </p:sp>
        <p:sp>
          <p:nvSpPr>
            <p:cNvPr id="3" name="TextBox 3"/>
            <p:cNvSpPr txBox="1"/>
            <p:nvPr/>
          </p:nvSpPr>
          <p:spPr>
            <a:xfrm>
              <a:off x="866394" y="246698"/>
              <a:ext cx="2119884"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人才画像冰山模型</a:t>
              </a:r>
            </a:p>
          </p:txBody>
        </p:sp>
      </p:grpSp>
      <p:grpSp>
        <p:nvGrpSpPr>
          <p:cNvPr id="26" name="iceberg-panel"/>
          <p:cNvGrpSpPr/>
          <p:nvPr/>
        </p:nvGrpSpPr>
        <p:grpSpPr>
          <a:xfrm>
            <a:off x="266700" y="857250"/>
            <a:ext cx="6248400" cy="5638800"/>
            <a:chOff x="266700" y="857250"/>
            <a:chExt cx="6248400" cy="5638800"/>
          </a:xfrm>
        </p:grpSpPr>
        <p:sp>
          <p:nvSpPr>
            <p:cNvPr id="5" name="Rectangle 5"/>
            <p:cNvSpPr/>
            <p:nvPr/>
          </p:nvSpPr>
          <p:spPr>
            <a:xfrm>
              <a:off x="266700" y="857250"/>
              <a:ext cx="6248400" cy="342900"/>
            </a:xfrm>
            <a:prstGeom prst="rect">
              <a:avLst/>
            </a:prstGeom>
            <a:gradFill>
              <a:gsLst>
                <a:gs pos="0">
                  <a:srgbClr val="C1553F"/>
                </a:gs>
                <a:gs pos="100000">
                  <a:srgbClr val="CE897B"/>
                </a:gs>
              </a:gsLst>
              <a:lin ang="0" scaled="1"/>
            </a:gradFill>
            <a:ln>
              <a:noFill/>
            </a:ln>
          </p:spPr>
        </p:sp>
        <p:sp>
          <p:nvSpPr>
            <p:cNvPr id="6" name="TextBox 6"/>
            <p:cNvSpPr txBox="1"/>
            <p:nvPr/>
          </p:nvSpPr>
          <p:spPr>
            <a:xfrm>
              <a:off x="2820162" y="972502"/>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人才画像冰山模型</a:t>
              </a:r>
            </a:p>
          </p:txBody>
        </p:sp>
        <p:sp>
          <p:nvSpPr>
            <p:cNvPr id="7" name="Rectangle 7"/>
            <p:cNvSpPr/>
            <p:nvPr/>
          </p:nvSpPr>
          <p:spPr>
            <a:xfrm>
              <a:off x="266700" y="1200150"/>
              <a:ext cx="6248400" cy="5295900"/>
            </a:xfrm>
            <a:prstGeom prst="rect">
              <a:avLst/>
            </a:prstGeom>
            <a:solidFill>
              <a:srgbClr val="F4F5FB"/>
            </a:solidFill>
            <a:ln>
              <a:noFill/>
            </a:ln>
          </p:spPr>
        </p:sp>
        <p:sp>
          <p:nvSpPr>
            <p:cNvPr id="8" name="Freeform 8"/>
            <p:cNvSpPr/>
            <p:nvPr/>
          </p:nvSpPr>
          <p:spPr>
            <a:xfrm>
              <a:off x="1238250" y="1952625"/>
              <a:ext cx="2571750" cy="1428750"/>
            </a:xfrm>
            <a:custGeom>
              <a:avLst/>
              <a:gdLst/>
              <a:ahLst/>
              <a:cxnLst/>
              <a:rect l="l" t="t" r="r" b="b"/>
              <a:pathLst>
                <a:path w="2571750" h="1428750">
                  <a:moveTo>
                    <a:pt x="0" y="1428750"/>
                  </a:moveTo>
                  <a:lnTo>
                    <a:pt x="333375" y="428625"/>
                  </a:lnTo>
                  <a:lnTo>
                    <a:pt x="666750" y="95250"/>
                  </a:lnTo>
                  <a:lnTo>
                    <a:pt x="1000125" y="381000"/>
                  </a:lnTo>
                  <a:lnTo>
                    <a:pt x="1381125" y="0"/>
                  </a:lnTo>
                  <a:lnTo>
                    <a:pt x="1809750" y="428625"/>
                  </a:lnTo>
                  <a:lnTo>
                    <a:pt x="2095500" y="257175"/>
                  </a:lnTo>
                  <a:lnTo>
                    <a:pt x="2571750" y="1428750"/>
                  </a:lnTo>
                  <a:close/>
                </a:path>
              </a:pathLst>
            </a:custGeom>
            <a:solidFill>
              <a:srgbClr val="DDE5F5"/>
            </a:solidFill>
            <a:ln>
              <a:noFill/>
            </a:ln>
          </p:spPr>
        </p:sp>
        <p:sp>
          <p:nvSpPr>
            <p:cNvPr id="9" name="Freeform 9"/>
            <p:cNvSpPr/>
            <p:nvPr/>
          </p:nvSpPr>
          <p:spPr>
            <a:xfrm>
              <a:off x="1571625" y="1952625"/>
              <a:ext cx="1476375" cy="1095375"/>
            </a:xfrm>
            <a:custGeom>
              <a:avLst/>
              <a:gdLst/>
              <a:ahLst/>
              <a:cxnLst/>
              <a:rect l="l" t="t" r="r" b="b"/>
              <a:pathLst>
                <a:path w="1476375" h="1095375">
                  <a:moveTo>
                    <a:pt x="0" y="428625"/>
                  </a:moveTo>
                  <a:lnTo>
                    <a:pt x="333375" y="95250"/>
                  </a:lnTo>
                  <a:lnTo>
                    <a:pt x="666750" y="381000"/>
                  </a:lnTo>
                  <a:lnTo>
                    <a:pt x="1047750" y="0"/>
                  </a:lnTo>
                  <a:lnTo>
                    <a:pt x="1476375" y="428625"/>
                  </a:lnTo>
                  <a:lnTo>
                    <a:pt x="1285875" y="904875"/>
                  </a:lnTo>
                  <a:lnTo>
                    <a:pt x="714375" y="714375"/>
                  </a:lnTo>
                  <a:lnTo>
                    <a:pt x="333375" y="1095375"/>
                  </a:lnTo>
                  <a:close/>
                </a:path>
              </a:pathLst>
            </a:custGeom>
            <a:solidFill>
              <a:srgbClr val="EEF3FB"/>
            </a:solidFill>
            <a:ln>
              <a:noFill/>
            </a:ln>
          </p:spPr>
        </p:sp>
        <p:sp>
          <p:nvSpPr>
            <p:cNvPr id="10" name="Freeform 10"/>
            <p:cNvSpPr/>
            <p:nvPr/>
          </p:nvSpPr>
          <p:spPr>
            <a:xfrm>
              <a:off x="1238250" y="3381375"/>
              <a:ext cx="2571750" cy="2714625"/>
            </a:xfrm>
            <a:custGeom>
              <a:avLst/>
              <a:gdLst/>
              <a:ahLst/>
              <a:cxnLst/>
              <a:rect l="l" t="t" r="r" b="b"/>
              <a:pathLst>
                <a:path w="2571750" h="2714625">
                  <a:moveTo>
                    <a:pt x="0" y="0"/>
                  </a:moveTo>
                  <a:lnTo>
                    <a:pt x="2571750" y="0"/>
                  </a:lnTo>
                  <a:lnTo>
                    <a:pt x="2381250" y="1000125"/>
                  </a:lnTo>
                  <a:lnTo>
                    <a:pt x="1905000" y="1952625"/>
                  </a:lnTo>
                  <a:lnTo>
                    <a:pt x="1238250" y="2714625"/>
                  </a:lnTo>
                  <a:lnTo>
                    <a:pt x="666750" y="2238375"/>
                  </a:lnTo>
                  <a:lnTo>
                    <a:pt x="190500" y="1095375"/>
                  </a:lnTo>
                  <a:close/>
                </a:path>
              </a:pathLst>
            </a:custGeom>
            <a:gradFill>
              <a:gsLst>
                <a:gs pos="0">
                  <a:srgbClr val="DD988A"/>
                </a:gs>
                <a:gs pos="100000">
                  <a:srgbClr val="C9CFEA"/>
                </a:gs>
              </a:gsLst>
              <a:lin ang="5400000" scaled="1"/>
            </a:gradFill>
            <a:ln>
              <a:noFill/>
            </a:ln>
          </p:spPr>
        </p:sp>
        <p:sp>
          <p:nvSpPr>
            <p:cNvPr id="11" name="Freeform 11"/>
            <p:cNvSpPr/>
            <p:nvPr/>
          </p:nvSpPr>
          <p:spPr>
            <a:xfrm>
              <a:off x="1524000" y="3381375"/>
              <a:ext cx="2095500" cy="1571625"/>
            </a:xfrm>
            <a:custGeom>
              <a:avLst/>
              <a:gdLst/>
              <a:ahLst/>
              <a:cxnLst/>
              <a:rect l="l" t="t" r="r" b="b"/>
              <a:pathLst>
                <a:path w="2095500" h="1571625">
                  <a:moveTo>
                    <a:pt x="0" y="0"/>
                  </a:moveTo>
                  <a:lnTo>
                    <a:pt x="2095500" y="0"/>
                  </a:lnTo>
                  <a:lnTo>
                    <a:pt x="1809750" y="809625"/>
                  </a:lnTo>
                  <a:lnTo>
                    <a:pt x="1238250" y="1571625"/>
                  </a:lnTo>
                  <a:lnTo>
                    <a:pt x="762000" y="1381125"/>
                  </a:lnTo>
                  <a:lnTo>
                    <a:pt x="285750" y="714375"/>
                  </a:lnTo>
                  <a:close/>
                </a:path>
              </a:pathLst>
            </a:custGeom>
            <a:solidFill>
              <a:srgbClr val="E0B3AA">
                <a:alpha val="60000"/>
              </a:srgbClr>
            </a:solidFill>
            <a:ln>
              <a:noFill/>
            </a:ln>
          </p:spPr>
        </p:sp>
        <p:sp>
          <p:nvSpPr>
            <p:cNvPr id="12" name="Line 12"/>
            <p:cNvSpPr/>
            <p:nvPr/>
          </p:nvSpPr>
          <p:spPr>
            <a:xfrm>
              <a:off x="381000" y="3381375"/>
              <a:ext cx="6019800" cy="9525"/>
            </a:xfrm>
            <a:custGeom>
              <a:avLst/>
              <a:gdLst/>
              <a:ahLst/>
              <a:cxnLst/>
              <a:rect l="l" t="t" r="r" b="b"/>
              <a:pathLst>
                <a:path w="6019800" h="9525">
                  <a:moveTo>
                    <a:pt x="0" y="0"/>
                  </a:moveTo>
                  <a:lnTo>
                    <a:pt x="6019800" y="0"/>
                  </a:lnTo>
                </a:path>
              </a:pathLst>
            </a:custGeom>
            <a:noFill/>
            <a:ln w="14288">
              <a:solidFill>
                <a:srgbClr val="DD988A"/>
              </a:solidFill>
              <a:custDash>
                <a:ds d="400000" sp="266667"/>
              </a:custDash>
            </a:ln>
          </p:spPr>
        </p:sp>
        <p:sp>
          <p:nvSpPr>
            <p:cNvPr id="13" name="TextBox 13"/>
            <p:cNvSpPr txBox="1"/>
            <p:nvPr/>
          </p:nvSpPr>
          <p:spPr>
            <a:xfrm>
              <a:off x="1843761" y="1631156"/>
              <a:ext cx="312979" cy="220028"/>
            </a:xfrm>
            <a:prstGeom prst="rect">
              <a:avLst/>
            </a:prstGeom>
            <a:noFill/>
            <a:ln>
              <a:noFill/>
            </a:ln>
          </p:spPr>
          <p:txBody>
            <a:bodyPr wrap="none" lIns="0" tIns="0" rIns="0" bIns="0" anchor="t" anchorCtr="0">
              <a:spAutoFit/>
            </a:bodyPr>
            <a:lstStyle/>
            <a:p>
              <a:pPr algn="ctr"/>
              <a:r>
                <a:rPr lang="zh-CN" sz="1120" b="1" dirty="0">
                  <a:solidFill>
                    <a:srgbClr val="33221F"/>
                  </a:solidFill>
                  <a:latin typeface="+mn-lt"/>
                  <a:ea typeface="+mn-ea"/>
                  <a:cs typeface="+mn-cs"/>
                </a:rPr>
                <a:t>结果</a:t>
              </a:r>
            </a:p>
          </p:txBody>
        </p:sp>
        <p:sp>
          <p:nvSpPr>
            <p:cNvPr id="14" name="TextBox 14"/>
            <p:cNvSpPr txBox="1"/>
            <p:nvPr/>
          </p:nvSpPr>
          <p:spPr>
            <a:xfrm>
              <a:off x="4303014" y="1829752"/>
              <a:ext cx="576072" cy="205359"/>
            </a:xfrm>
            <a:prstGeom prst="rect">
              <a:avLst/>
            </a:prstGeom>
            <a:noFill/>
            <a:ln>
              <a:noFill/>
            </a:ln>
          </p:spPr>
          <p:txBody>
            <a:bodyPr wrap="none" lIns="0" tIns="0" rIns="0" bIns="0" anchor="t" anchorCtr="0">
              <a:spAutoFit/>
            </a:bodyPr>
            <a:lstStyle/>
            <a:p>
              <a:pPr algn="ctr"/>
              <a:r>
                <a:rPr lang="zh-CN" sz="1050" b="1" dirty="0">
                  <a:solidFill>
                    <a:srgbClr val="33221F"/>
                  </a:solidFill>
                  <a:latin typeface="+mn-lt"/>
                  <a:ea typeface="+mn-ea"/>
                  <a:cs typeface="+mn-cs"/>
                </a:rPr>
                <a:t>显性画像</a:t>
              </a:r>
            </a:p>
          </p:txBody>
        </p:sp>
        <p:sp>
          <p:nvSpPr>
            <p:cNvPr id="15" name="Rectangle 15"/>
            <p:cNvSpPr/>
            <p:nvPr/>
          </p:nvSpPr>
          <p:spPr>
            <a:xfrm>
              <a:off x="4019550" y="2114550"/>
              <a:ext cx="1143000" cy="266700"/>
            </a:xfrm>
            <a:prstGeom prst="rect">
              <a:avLst/>
            </a:prstGeom>
            <a:solidFill>
              <a:srgbClr val="FFFFFF"/>
            </a:solidFill>
            <a:ln w="9525">
              <a:solidFill>
                <a:srgbClr val="C1553F"/>
              </a:solidFill>
            </a:ln>
          </p:spPr>
        </p:sp>
        <p:sp>
          <p:nvSpPr>
            <p:cNvPr id="16" name="TextBox 16"/>
            <p:cNvSpPr txBox="1"/>
            <p:nvPr/>
          </p:nvSpPr>
          <p:spPr>
            <a:xfrm>
              <a:off x="4465130" y="2198370"/>
              <a:ext cx="251841"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知识</a:t>
              </a:r>
            </a:p>
          </p:txBody>
        </p:sp>
        <p:sp>
          <p:nvSpPr>
            <p:cNvPr id="17" name="Rectangle 17"/>
            <p:cNvSpPr/>
            <p:nvPr/>
          </p:nvSpPr>
          <p:spPr>
            <a:xfrm>
              <a:off x="4019550" y="2457450"/>
              <a:ext cx="1143000" cy="266700"/>
            </a:xfrm>
            <a:prstGeom prst="rect">
              <a:avLst/>
            </a:prstGeom>
            <a:solidFill>
              <a:srgbClr val="FFFFFF"/>
            </a:solidFill>
            <a:ln w="9525">
              <a:solidFill>
                <a:srgbClr val="C1553F"/>
              </a:solidFill>
            </a:ln>
          </p:spPr>
        </p:sp>
        <p:sp>
          <p:nvSpPr>
            <p:cNvPr id="18" name="TextBox 18"/>
            <p:cNvSpPr txBox="1"/>
            <p:nvPr/>
          </p:nvSpPr>
          <p:spPr>
            <a:xfrm>
              <a:off x="4465130" y="2541270"/>
              <a:ext cx="251841"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行为</a:t>
              </a:r>
            </a:p>
          </p:txBody>
        </p:sp>
        <p:sp>
          <p:nvSpPr>
            <p:cNvPr id="19" name="Rectangle 19"/>
            <p:cNvSpPr/>
            <p:nvPr/>
          </p:nvSpPr>
          <p:spPr>
            <a:xfrm>
              <a:off x="4019550" y="2800350"/>
              <a:ext cx="1143000" cy="266700"/>
            </a:xfrm>
            <a:prstGeom prst="rect">
              <a:avLst/>
            </a:prstGeom>
            <a:solidFill>
              <a:srgbClr val="FFFFFF"/>
            </a:solidFill>
            <a:ln w="9525">
              <a:solidFill>
                <a:srgbClr val="C1553F"/>
              </a:solidFill>
            </a:ln>
          </p:spPr>
        </p:sp>
        <p:sp>
          <p:nvSpPr>
            <p:cNvPr id="20" name="TextBox 20"/>
            <p:cNvSpPr txBox="1"/>
            <p:nvPr/>
          </p:nvSpPr>
          <p:spPr>
            <a:xfrm>
              <a:off x="4465130" y="2884170"/>
              <a:ext cx="251841"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技能</a:t>
              </a:r>
            </a:p>
          </p:txBody>
        </p:sp>
        <p:sp>
          <p:nvSpPr>
            <p:cNvPr id="21" name="TextBox 21"/>
            <p:cNvSpPr txBox="1"/>
            <p:nvPr/>
          </p:nvSpPr>
          <p:spPr>
            <a:xfrm>
              <a:off x="4303014" y="3963352"/>
              <a:ext cx="576072" cy="205359"/>
            </a:xfrm>
            <a:prstGeom prst="rect">
              <a:avLst/>
            </a:prstGeom>
            <a:noFill/>
            <a:ln>
              <a:noFill/>
            </a:ln>
          </p:spPr>
          <p:txBody>
            <a:bodyPr wrap="none" lIns="0" tIns="0" rIns="0" bIns="0" anchor="t" anchorCtr="0">
              <a:spAutoFit/>
            </a:bodyPr>
            <a:lstStyle/>
            <a:p>
              <a:pPr algn="ctr"/>
              <a:r>
                <a:rPr lang="zh-CN" sz="1050" b="1" dirty="0">
                  <a:solidFill>
                    <a:srgbClr val="33221F"/>
                  </a:solidFill>
                  <a:latin typeface="+mn-lt"/>
                  <a:ea typeface="+mn-ea"/>
                  <a:cs typeface="+mn-cs"/>
                </a:rPr>
                <a:t>隐性画像</a:t>
              </a:r>
            </a:p>
          </p:txBody>
        </p:sp>
        <p:sp>
          <p:nvSpPr>
            <p:cNvPr id="22" name="Rectangle 22"/>
            <p:cNvSpPr/>
            <p:nvPr/>
          </p:nvSpPr>
          <p:spPr>
            <a:xfrm>
              <a:off x="4019550" y="4248150"/>
              <a:ext cx="1143000" cy="266700"/>
            </a:xfrm>
            <a:prstGeom prst="rect">
              <a:avLst/>
            </a:prstGeom>
            <a:solidFill>
              <a:srgbClr val="FFFFFF"/>
            </a:solidFill>
            <a:ln w="9525">
              <a:solidFill>
                <a:srgbClr val="C1553F"/>
              </a:solidFill>
            </a:ln>
          </p:spPr>
        </p:sp>
        <p:sp>
          <p:nvSpPr>
            <p:cNvPr id="23" name="TextBox 23"/>
            <p:cNvSpPr txBox="1"/>
            <p:nvPr/>
          </p:nvSpPr>
          <p:spPr>
            <a:xfrm>
              <a:off x="4250074" y="4331970"/>
              <a:ext cx="681952"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感觉/洞察力</a:t>
              </a:r>
            </a:p>
          </p:txBody>
        </p:sp>
        <p:sp>
          <p:nvSpPr>
            <p:cNvPr id="24" name="Rectangle 24"/>
            <p:cNvSpPr/>
            <p:nvPr/>
          </p:nvSpPr>
          <p:spPr>
            <a:xfrm>
              <a:off x="4019550" y="4591050"/>
              <a:ext cx="1143000" cy="266700"/>
            </a:xfrm>
            <a:prstGeom prst="rect">
              <a:avLst/>
            </a:prstGeom>
            <a:solidFill>
              <a:srgbClr val="FFFFFF"/>
            </a:solidFill>
            <a:ln w="9525">
              <a:solidFill>
                <a:srgbClr val="C1553F"/>
              </a:solidFill>
            </a:ln>
          </p:spPr>
        </p:sp>
        <p:sp>
          <p:nvSpPr>
            <p:cNvPr id="25" name="TextBox 25"/>
            <p:cNvSpPr txBox="1"/>
            <p:nvPr/>
          </p:nvSpPr>
          <p:spPr>
            <a:xfrm>
              <a:off x="4343972" y="4674870"/>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思维习惯</a:t>
              </a:r>
            </a:p>
          </p:txBody>
        </p:sp>
      </p:grpSp>
      <p:grpSp>
        <p:nvGrpSpPr>
          <p:cNvPr id="78" name="supply-chain-panel"/>
          <p:cNvGrpSpPr/>
          <p:nvPr/>
        </p:nvGrpSpPr>
        <p:grpSpPr>
          <a:xfrm>
            <a:off x="6629400" y="857250"/>
            <a:ext cx="5295900" cy="5638800"/>
            <a:chOff x="6629400" y="857250"/>
            <a:chExt cx="5295900" cy="5638800"/>
          </a:xfrm>
        </p:grpSpPr>
        <p:sp>
          <p:nvSpPr>
            <p:cNvPr id="27" name="Rectangle 27"/>
            <p:cNvSpPr/>
            <p:nvPr/>
          </p:nvSpPr>
          <p:spPr>
            <a:xfrm>
              <a:off x="6629400" y="857250"/>
              <a:ext cx="5295900" cy="342900"/>
            </a:xfrm>
            <a:prstGeom prst="rect">
              <a:avLst/>
            </a:prstGeom>
            <a:gradFill>
              <a:gsLst>
                <a:gs pos="0">
                  <a:srgbClr val="E5624C"/>
                </a:gs>
                <a:gs pos="100000">
                  <a:srgbClr val="F0998A"/>
                </a:gs>
              </a:gsLst>
              <a:lin ang="0" scaled="1"/>
            </a:gradFill>
            <a:ln>
              <a:noFill/>
            </a:ln>
          </p:spPr>
        </p:sp>
        <p:sp>
          <p:nvSpPr>
            <p:cNvPr id="28" name="TextBox 28"/>
            <p:cNvSpPr txBox="1"/>
            <p:nvPr/>
          </p:nvSpPr>
          <p:spPr>
            <a:xfrm>
              <a:off x="8423910" y="972502"/>
              <a:ext cx="170688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打造支撑业务的人才供应链</a:t>
              </a:r>
            </a:p>
          </p:txBody>
        </p:sp>
        <p:sp>
          <p:nvSpPr>
            <p:cNvPr id="29" name="Rectangle 29"/>
            <p:cNvSpPr/>
            <p:nvPr/>
          </p:nvSpPr>
          <p:spPr>
            <a:xfrm>
              <a:off x="6629400" y="1200150"/>
              <a:ext cx="5295900" cy="5295900"/>
            </a:xfrm>
            <a:prstGeom prst="rect">
              <a:avLst/>
            </a:prstGeom>
            <a:solidFill>
              <a:srgbClr val="FFFFFF"/>
            </a:solidFill>
            <a:ln w="9525">
              <a:solidFill>
                <a:srgbClr val="E4E7F5"/>
              </a:solidFill>
            </a:ln>
          </p:spPr>
        </p:sp>
        <p:sp>
          <p:nvSpPr>
            <p:cNvPr id="30" name="Ellipse 30"/>
            <p:cNvSpPr/>
            <p:nvPr/>
          </p:nvSpPr>
          <p:spPr>
            <a:xfrm>
              <a:off x="6858000" y="1447800"/>
              <a:ext cx="1143000" cy="457200"/>
            </a:xfrm>
            <a:prstGeom prst="ellipse">
              <a:avLst/>
            </a:prstGeom>
            <a:solidFill>
              <a:srgbClr val="E5624C"/>
            </a:solidFill>
            <a:ln>
              <a:noFill/>
            </a:ln>
          </p:spPr>
        </p:sp>
        <p:sp>
          <p:nvSpPr>
            <p:cNvPr id="31" name="TextBox 31"/>
            <p:cNvSpPr txBox="1"/>
            <p:nvPr/>
          </p:nvSpPr>
          <p:spPr>
            <a:xfrm>
              <a:off x="7182421" y="16268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业务战略</a:t>
              </a:r>
            </a:p>
          </p:txBody>
        </p:sp>
        <p:sp>
          <p:nvSpPr>
            <p:cNvPr id="32" name="Freeform 32"/>
            <p:cNvSpPr/>
            <p:nvPr/>
          </p:nvSpPr>
          <p:spPr>
            <a:xfrm>
              <a:off x="7429500" y="1924050"/>
              <a:ext cx="9525" cy="228600"/>
            </a:xfrm>
            <a:custGeom>
              <a:avLst/>
              <a:gdLst/>
              <a:ahLst/>
              <a:cxnLst/>
              <a:rect l="l" t="t" r="r" b="b"/>
              <a:pathLst>
                <a:path w="9525" h="228600">
                  <a:moveTo>
                    <a:pt x="0" y="0"/>
                  </a:moveTo>
                  <a:lnTo>
                    <a:pt x="0" y="228600"/>
                  </a:lnTo>
                </a:path>
              </a:pathLst>
            </a:custGeom>
            <a:noFill/>
            <a:ln w="19050">
              <a:solidFill>
                <a:srgbClr val="ED8776"/>
              </a:solidFill>
              <a:tailEnd type="triangle" w="lg" len="lg"/>
            </a:ln>
          </p:spPr>
        </p:sp>
        <p:sp>
          <p:nvSpPr>
            <p:cNvPr id="33" name="Rectangle 33"/>
            <p:cNvSpPr/>
            <p:nvPr/>
          </p:nvSpPr>
          <p:spPr>
            <a:xfrm>
              <a:off x="6858000" y="2209800"/>
              <a:ext cx="1143000" cy="457200"/>
            </a:xfrm>
            <a:prstGeom prst="rect">
              <a:avLst/>
            </a:prstGeom>
            <a:solidFill>
              <a:srgbClr val="FFFFFF"/>
            </a:solidFill>
            <a:ln w="9525">
              <a:solidFill>
                <a:srgbClr val="F0B4AA"/>
              </a:solidFill>
              <a:custDash>
                <a:ds d="400000" sp="300000"/>
              </a:custDash>
            </a:ln>
          </p:spPr>
        </p:sp>
        <p:sp>
          <p:nvSpPr>
            <p:cNvPr id="34" name="TextBox 34"/>
            <p:cNvSpPr txBox="1"/>
            <p:nvPr/>
          </p:nvSpPr>
          <p:spPr>
            <a:xfrm>
              <a:off x="7061264" y="2388870"/>
              <a:ext cx="736473"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识别关键岗位</a:t>
              </a:r>
            </a:p>
          </p:txBody>
        </p:sp>
        <p:sp>
          <p:nvSpPr>
            <p:cNvPr id="35" name="Freeform 35"/>
            <p:cNvSpPr/>
            <p:nvPr/>
          </p:nvSpPr>
          <p:spPr>
            <a:xfrm>
              <a:off x="7429500" y="2686050"/>
              <a:ext cx="9525" cy="209550"/>
            </a:xfrm>
            <a:custGeom>
              <a:avLst/>
              <a:gdLst/>
              <a:ahLst/>
              <a:cxnLst/>
              <a:rect l="l" t="t" r="r" b="b"/>
              <a:pathLst>
                <a:path w="9525" h="209550">
                  <a:moveTo>
                    <a:pt x="0" y="0"/>
                  </a:moveTo>
                  <a:lnTo>
                    <a:pt x="0" y="209550"/>
                  </a:lnTo>
                </a:path>
              </a:pathLst>
            </a:custGeom>
            <a:noFill/>
            <a:ln w="19050">
              <a:solidFill>
                <a:srgbClr val="ED8776"/>
              </a:solidFill>
              <a:tailEnd type="triangle" w="lg" len="lg"/>
            </a:ln>
          </p:spPr>
        </p:sp>
        <p:sp>
          <p:nvSpPr>
            <p:cNvPr id="36" name="Rectangle 36"/>
            <p:cNvSpPr/>
            <p:nvPr/>
          </p:nvSpPr>
          <p:spPr>
            <a:xfrm>
              <a:off x="6858000" y="2952750"/>
              <a:ext cx="1143000" cy="533400"/>
            </a:xfrm>
            <a:prstGeom prst="rect">
              <a:avLst/>
            </a:prstGeom>
            <a:solidFill>
              <a:srgbClr val="FFFFFF"/>
            </a:solidFill>
            <a:ln w="9525">
              <a:solidFill>
                <a:srgbClr val="F0B4AA"/>
              </a:solidFill>
              <a:custDash>
                <a:ds d="400000" sp="300000"/>
              </a:custDash>
            </a:ln>
          </p:spPr>
        </p:sp>
        <p:sp>
          <p:nvSpPr>
            <p:cNvPr id="37" name="TextBox 37"/>
            <p:cNvSpPr txBox="1"/>
            <p:nvPr/>
          </p:nvSpPr>
          <p:spPr>
            <a:xfrm>
              <a:off x="7000684" y="3074670"/>
              <a:ext cx="857631"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建立岗位标准即</a:t>
              </a:r>
            </a:p>
          </p:txBody>
        </p:sp>
        <p:sp>
          <p:nvSpPr>
            <p:cNvPr id="38" name="TextBox 38"/>
            <p:cNvSpPr txBox="1"/>
            <p:nvPr/>
          </p:nvSpPr>
          <p:spPr>
            <a:xfrm>
              <a:off x="7121842" y="3246120"/>
              <a:ext cx="615315"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胜任力模型</a:t>
              </a:r>
            </a:p>
          </p:txBody>
        </p:sp>
        <p:sp>
          <p:nvSpPr>
            <p:cNvPr id="39" name="Freeform 39"/>
            <p:cNvSpPr/>
            <p:nvPr/>
          </p:nvSpPr>
          <p:spPr>
            <a:xfrm>
              <a:off x="7429500" y="3505200"/>
              <a:ext cx="9525" cy="209550"/>
            </a:xfrm>
            <a:custGeom>
              <a:avLst/>
              <a:gdLst/>
              <a:ahLst/>
              <a:cxnLst/>
              <a:rect l="l" t="t" r="r" b="b"/>
              <a:pathLst>
                <a:path w="9525" h="209550">
                  <a:moveTo>
                    <a:pt x="0" y="0"/>
                  </a:moveTo>
                  <a:lnTo>
                    <a:pt x="0" y="209550"/>
                  </a:lnTo>
                </a:path>
              </a:pathLst>
            </a:custGeom>
            <a:noFill/>
            <a:ln w="19050">
              <a:solidFill>
                <a:srgbClr val="ED8776"/>
              </a:solidFill>
              <a:tailEnd type="triangle" w="lg" len="lg"/>
            </a:ln>
          </p:spPr>
        </p:sp>
        <p:sp>
          <p:nvSpPr>
            <p:cNvPr id="40" name="Rectangle 40"/>
            <p:cNvSpPr/>
            <p:nvPr/>
          </p:nvSpPr>
          <p:spPr>
            <a:xfrm>
              <a:off x="6858000" y="3771900"/>
              <a:ext cx="1143000" cy="457200"/>
            </a:xfrm>
            <a:prstGeom prst="rect">
              <a:avLst/>
            </a:prstGeom>
            <a:solidFill>
              <a:srgbClr val="FFFFFF"/>
            </a:solidFill>
            <a:ln w="9525">
              <a:solidFill>
                <a:srgbClr val="F0B4AA"/>
              </a:solidFill>
              <a:custDash>
                <a:ds d="400000" sp="300000"/>
              </a:custDash>
            </a:ln>
          </p:spPr>
        </p:sp>
        <p:sp>
          <p:nvSpPr>
            <p:cNvPr id="41" name="TextBox 41"/>
            <p:cNvSpPr txBox="1"/>
            <p:nvPr/>
          </p:nvSpPr>
          <p:spPr>
            <a:xfrm>
              <a:off x="7182421" y="3950970"/>
              <a:ext cx="494157" cy="176212"/>
            </a:xfrm>
            <a:prstGeom prst="rect">
              <a:avLst/>
            </a:prstGeom>
            <a:noFill/>
            <a:ln>
              <a:noFill/>
            </a:ln>
          </p:spPr>
          <p:txBody>
            <a:bodyPr wrap="none" lIns="0" tIns="0" rIns="0" bIns="0" anchor="t" anchorCtr="0">
              <a:spAutoFit/>
            </a:bodyPr>
            <a:lstStyle/>
            <a:p>
              <a:pPr algn="ctr"/>
              <a:r>
                <a:rPr lang="zh-CN" sz="900" dirty="0">
                  <a:solidFill>
                    <a:srgbClr val="705F5B"/>
                  </a:solidFill>
                  <a:latin typeface="+mn-lt"/>
                  <a:ea typeface="+mn-ea"/>
                  <a:cs typeface="+mn-cs"/>
                </a:rPr>
                <a:t>人才测评</a:t>
              </a:r>
            </a:p>
          </p:txBody>
        </p:sp>
        <p:sp>
          <p:nvSpPr>
            <p:cNvPr id="42" name="Freeform 42"/>
            <p:cNvSpPr/>
            <p:nvPr/>
          </p:nvSpPr>
          <p:spPr>
            <a:xfrm>
              <a:off x="7429500" y="4248150"/>
              <a:ext cx="9525" cy="209550"/>
            </a:xfrm>
            <a:custGeom>
              <a:avLst/>
              <a:gdLst/>
              <a:ahLst/>
              <a:cxnLst/>
              <a:rect l="l" t="t" r="r" b="b"/>
              <a:pathLst>
                <a:path w="9525" h="209550">
                  <a:moveTo>
                    <a:pt x="0" y="0"/>
                  </a:moveTo>
                  <a:lnTo>
                    <a:pt x="0" y="209550"/>
                  </a:lnTo>
                </a:path>
              </a:pathLst>
            </a:custGeom>
            <a:noFill/>
            <a:ln w="19050">
              <a:solidFill>
                <a:srgbClr val="ED8776"/>
              </a:solidFill>
              <a:tailEnd type="triangle" w="lg" len="lg"/>
            </a:ln>
          </p:spPr>
        </p:sp>
        <p:sp>
          <p:nvSpPr>
            <p:cNvPr id="43" name="Rectangle 43"/>
            <p:cNvSpPr/>
            <p:nvPr/>
          </p:nvSpPr>
          <p:spPr>
            <a:xfrm>
              <a:off x="6858000" y="4514850"/>
              <a:ext cx="1143000" cy="457200"/>
            </a:xfrm>
            <a:prstGeom prst="rect">
              <a:avLst/>
            </a:prstGeom>
            <a:solidFill>
              <a:srgbClr val="E5624C"/>
            </a:solidFill>
            <a:ln>
              <a:noFill/>
            </a:ln>
          </p:spPr>
        </p:sp>
        <p:sp>
          <p:nvSpPr>
            <p:cNvPr id="44" name="TextBox 44"/>
            <p:cNvSpPr txBox="1"/>
            <p:nvPr/>
          </p:nvSpPr>
          <p:spPr>
            <a:xfrm>
              <a:off x="7182421" y="46939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人才盘点</a:t>
              </a:r>
            </a:p>
          </p:txBody>
        </p:sp>
        <p:sp>
          <p:nvSpPr>
            <p:cNvPr id="45" name="Freeform 45"/>
            <p:cNvSpPr/>
            <p:nvPr/>
          </p:nvSpPr>
          <p:spPr>
            <a:xfrm>
              <a:off x="8001000" y="2295525"/>
              <a:ext cx="514350" cy="2447925"/>
            </a:xfrm>
            <a:custGeom>
              <a:avLst/>
              <a:gdLst/>
              <a:ahLst/>
              <a:cxnLst/>
              <a:rect l="l" t="t" r="r" b="b"/>
              <a:pathLst>
                <a:path w="514350" h="2447925">
                  <a:moveTo>
                    <a:pt x="0" y="2447925"/>
                  </a:moveTo>
                  <a:lnTo>
                    <a:pt x="285750" y="2447925"/>
                  </a:lnTo>
                  <a:lnTo>
                    <a:pt x="285750" y="0"/>
                  </a:lnTo>
                  <a:lnTo>
                    <a:pt x="514350" y="0"/>
                  </a:lnTo>
                </a:path>
              </a:pathLst>
            </a:custGeom>
            <a:noFill/>
            <a:ln w="14288">
              <a:solidFill>
                <a:srgbClr val="ED8776"/>
              </a:solidFill>
            </a:ln>
          </p:spPr>
        </p:sp>
        <p:sp>
          <p:nvSpPr>
            <p:cNvPr id="46" name="Freeform 46"/>
            <p:cNvSpPr/>
            <p:nvPr/>
          </p:nvSpPr>
          <p:spPr>
            <a:xfrm>
              <a:off x="8286750" y="3476625"/>
              <a:ext cx="228600" cy="9525"/>
            </a:xfrm>
            <a:custGeom>
              <a:avLst/>
              <a:gdLst/>
              <a:ahLst/>
              <a:cxnLst/>
              <a:rect l="l" t="t" r="r" b="b"/>
              <a:pathLst>
                <a:path w="228600" h="9525">
                  <a:moveTo>
                    <a:pt x="0" y="0"/>
                  </a:moveTo>
                  <a:lnTo>
                    <a:pt x="228600" y="0"/>
                  </a:lnTo>
                </a:path>
              </a:pathLst>
            </a:custGeom>
            <a:noFill/>
            <a:ln w="14288">
              <a:solidFill>
                <a:srgbClr val="ED8776"/>
              </a:solidFill>
            </a:ln>
          </p:spPr>
        </p:sp>
        <p:sp>
          <p:nvSpPr>
            <p:cNvPr id="47" name="Freeform 47"/>
            <p:cNvSpPr/>
            <p:nvPr/>
          </p:nvSpPr>
          <p:spPr>
            <a:xfrm>
              <a:off x="8286750" y="4657725"/>
              <a:ext cx="228600" cy="9525"/>
            </a:xfrm>
            <a:custGeom>
              <a:avLst/>
              <a:gdLst/>
              <a:ahLst/>
              <a:cxnLst/>
              <a:rect l="l" t="t" r="r" b="b"/>
              <a:pathLst>
                <a:path w="228600" h="9525">
                  <a:moveTo>
                    <a:pt x="0" y="0"/>
                  </a:moveTo>
                  <a:lnTo>
                    <a:pt x="228600" y="0"/>
                  </a:lnTo>
                </a:path>
              </a:pathLst>
            </a:custGeom>
            <a:noFill/>
            <a:ln w="14288">
              <a:solidFill>
                <a:srgbClr val="ED8776"/>
              </a:solidFill>
            </a:ln>
          </p:spPr>
        </p:sp>
        <p:sp>
          <p:nvSpPr>
            <p:cNvPr id="48" name="TextBox 48"/>
            <p:cNvSpPr txBox="1"/>
            <p:nvPr/>
          </p:nvSpPr>
          <p:spPr>
            <a:xfrm>
              <a:off x="8827567" y="1609249"/>
              <a:ext cx="537616" cy="190690"/>
            </a:xfrm>
            <a:prstGeom prst="rect">
              <a:avLst/>
            </a:prstGeom>
            <a:noFill/>
            <a:ln>
              <a:noFill/>
            </a:ln>
          </p:spPr>
          <p:txBody>
            <a:bodyPr wrap="none" lIns="0" tIns="0" rIns="0" bIns="0" anchor="t" anchorCtr="0">
              <a:spAutoFit/>
            </a:bodyPr>
            <a:lstStyle/>
            <a:p>
              <a:pPr algn="ctr"/>
              <a:r>
                <a:rPr lang="zh-CN" sz="980" b="1" dirty="0">
                  <a:solidFill>
                    <a:srgbClr val="33221F"/>
                  </a:solidFill>
                  <a:latin typeface="+mn-lt"/>
                  <a:ea typeface="+mn-ea"/>
                  <a:cs typeface="+mn-cs"/>
                </a:rPr>
                <a:t>人才策略</a:t>
              </a:r>
            </a:p>
          </p:txBody>
        </p:sp>
        <p:sp>
          <p:nvSpPr>
            <p:cNvPr id="49" name="Rectangle 49"/>
            <p:cNvSpPr/>
            <p:nvPr/>
          </p:nvSpPr>
          <p:spPr>
            <a:xfrm>
              <a:off x="8572500" y="1866900"/>
              <a:ext cx="1047750" cy="857250"/>
            </a:xfrm>
            <a:prstGeom prst="rect">
              <a:avLst/>
            </a:prstGeom>
            <a:solidFill>
              <a:srgbClr val="FFF8F6"/>
            </a:solidFill>
            <a:ln w="9525">
              <a:solidFill>
                <a:srgbClr val="F0B4AA"/>
              </a:solidFill>
            </a:ln>
          </p:spPr>
        </p:sp>
        <p:sp>
          <p:nvSpPr>
            <p:cNvPr id="50" name="TextBox 50"/>
            <p:cNvSpPr txBox="1"/>
            <p:nvPr/>
          </p:nvSpPr>
          <p:spPr>
            <a:xfrm>
              <a:off x="8955214" y="2037398"/>
              <a:ext cx="282321" cy="381381"/>
            </a:xfrm>
            <a:prstGeom prst="rect">
              <a:avLst/>
            </a:prstGeom>
            <a:noFill/>
            <a:ln>
              <a:noFill/>
            </a:ln>
          </p:spPr>
          <p:txBody>
            <a:bodyPr wrap="none" lIns="0" tIns="0" rIns="0" bIns="0" anchor="t" anchorCtr="0">
              <a:spAutoFit/>
            </a:bodyPr>
            <a:lstStyle/>
            <a:p>
              <a:pPr algn="ctr"/>
              <a:r>
                <a:rPr lang="zh-CN" sz="1950" b="1" dirty="0">
                  <a:solidFill>
                    <a:srgbClr val="E5624C"/>
                  </a:solidFill>
                  <a:latin typeface="+mn-lt"/>
                  <a:ea typeface="+mn-ea"/>
                  <a:cs typeface="+mn-cs"/>
                </a:rPr>
                <a:t>选</a:t>
              </a:r>
            </a:p>
          </p:txBody>
        </p:sp>
        <p:sp>
          <p:nvSpPr>
            <p:cNvPr id="51" name="TextBox 51"/>
            <p:cNvSpPr txBox="1"/>
            <p:nvPr/>
          </p:nvSpPr>
          <p:spPr>
            <a:xfrm>
              <a:off x="8849296" y="243649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招聘策略</a:t>
              </a:r>
            </a:p>
          </p:txBody>
        </p:sp>
        <p:sp>
          <p:nvSpPr>
            <p:cNvPr id="52" name="Rectangle 52"/>
            <p:cNvSpPr/>
            <p:nvPr/>
          </p:nvSpPr>
          <p:spPr>
            <a:xfrm>
              <a:off x="8572500" y="3048000"/>
              <a:ext cx="1047750" cy="857250"/>
            </a:xfrm>
            <a:prstGeom prst="rect">
              <a:avLst/>
            </a:prstGeom>
            <a:solidFill>
              <a:srgbClr val="FFF8F6"/>
            </a:solidFill>
            <a:ln w="9525">
              <a:solidFill>
                <a:srgbClr val="F0B4AA"/>
              </a:solidFill>
            </a:ln>
          </p:spPr>
        </p:sp>
        <p:sp>
          <p:nvSpPr>
            <p:cNvPr id="53" name="TextBox 53"/>
            <p:cNvSpPr txBox="1"/>
            <p:nvPr/>
          </p:nvSpPr>
          <p:spPr>
            <a:xfrm>
              <a:off x="8955214" y="3218498"/>
              <a:ext cx="282321" cy="381381"/>
            </a:xfrm>
            <a:prstGeom prst="rect">
              <a:avLst/>
            </a:prstGeom>
            <a:noFill/>
            <a:ln>
              <a:noFill/>
            </a:ln>
          </p:spPr>
          <p:txBody>
            <a:bodyPr wrap="none" lIns="0" tIns="0" rIns="0" bIns="0" anchor="t" anchorCtr="0">
              <a:spAutoFit/>
            </a:bodyPr>
            <a:lstStyle/>
            <a:p>
              <a:pPr algn="ctr"/>
              <a:r>
                <a:rPr lang="zh-CN" sz="1950" b="1" dirty="0">
                  <a:solidFill>
                    <a:srgbClr val="E5624C"/>
                  </a:solidFill>
                  <a:latin typeface="+mn-lt"/>
                  <a:ea typeface="+mn-ea"/>
                  <a:cs typeface="+mn-cs"/>
                </a:rPr>
                <a:t>育</a:t>
              </a:r>
            </a:p>
          </p:txBody>
        </p:sp>
        <p:sp>
          <p:nvSpPr>
            <p:cNvPr id="54" name="TextBox 54"/>
            <p:cNvSpPr txBox="1"/>
            <p:nvPr/>
          </p:nvSpPr>
          <p:spPr>
            <a:xfrm>
              <a:off x="8849296" y="361759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培养策略</a:t>
              </a:r>
            </a:p>
          </p:txBody>
        </p:sp>
        <p:sp>
          <p:nvSpPr>
            <p:cNvPr id="55" name="Rectangle 55"/>
            <p:cNvSpPr/>
            <p:nvPr/>
          </p:nvSpPr>
          <p:spPr>
            <a:xfrm>
              <a:off x="8572500" y="4229100"/>
              <a:ext cx="1047750" cy="857250"/>
            </a:xfrm>
            <a:prstGeom prst="rect">
              <a:avLst/>
            </a:prstGeom>
            <a:solidFill>
              <a:srgbClr val="FFF8F6"/>
            </a:solidFill>
            <a:ln w="9525">
              <a:solidFill>
                <a:srgbClr val="F0B4AA"/>
              </a:solidFill>
            </a:ln>
          </p:spPr>
        </p:sp>
        <p:sp>
          <p:nvSpPr>
            <p:cNvPr id="56" name="TextBox 56"/>
            <p:cNvSpPr txBox="1"/>
            <p:nvPr/>
          </p:nvSpPr>
          <p:spPr>
            <a:xfrm>
              <a:off x="8955214" y="4399598"/>
              <a:ext cx="282321" cy="381381"/>
            </a:xfrm>
            <a:prstGeom prst="rect">
              <a:avLst/>
            </a:prstGeom>
            <a:noFill/>
            <a:ln>
              <a:noFill/>
            </a:ln>
          </p:spPr>
          <p:txBody>
            <a:bodyPr wrap="none" lIns="0" tIns="0" rIns="0" bIns="0" anchor="t" anchorCtr="0">
              <a:spAutoFit/>
            </a:bodyPr>
            <a:lstStyle/>
            <a:p>
              <a:pPr algn="ctr"/>
              <a:r>
                <a:rPr lang="zh-CN" sz="1950" b="1" dirty="0">
                  <a:solidFill>
                    <a:srgbClr val="E5624C"/>
                  </a:solidFill>
                  <a:latin typeface="+mn-lt"/>
                  <a:ea typeface="+mn-ea"/>
                  <a:cs typeface="+mn-cs"/>
                </a:rPr>
                <a:t>留</a:t>
              </a:r>
            </a:p>
          </p:txBody>
        </p:sp>
        <p:sp>
          <p:nvSpPr>
            <p:cNvPr id="57" name="TextBox 57"/>
            <p:cNvSpPr txBox="1"/>
            <p:nvPr/>
          </p:nvSpPr>
          <p:spPr>
            <a:xfrm>
              <a:off x="8849296" y="479869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激励策略</a:t>
              </a:r>
            </a:p>
          </p:txBody>
        </p:sp>
        <p:sp>
          <p:nvSpPr>
            <p:cNvPr id="58" name="Freeform 58"/>
            <p:cNvSpPr/>
            <p:nvPr/>
          </p:nvSpPr>
          <p:spPr>
            <a:xfrm>
              <a:off x="9620250" y="1685925"/>
              <a:ext cx="342900" cy="609600"/>
            </a:xfrm>
            <a:custGeom>
              <a:avLst/>
              <a:gdLst/>
              <a:ahLst/>
              <a:cxnLst/>
              <a:rect l="l" t="t" r="r" b="b"/>
              <a:pathLst>
                <a:path w="342900" h="609600">
                  <a:moveTo>
                    <a:pt x="0" y="609600"/>
                  </a:moveTo>
                  <a:lnTo>
                    <a:pt x="190500" y="609600"/>
                  </a:lnTo>
                  <a:lnTo>
                    <a:pt x="190500" y="0"/>
                  </a:lnTo>
                  <a:lnTo>
                    <a:pt x="342900" y="0"/>
                  </a:lnTo>
                  <a:moveTo>
                    <a:pt x="190500" y="400050"/>
                  </a:moveTo>
                  <a:lnTo>
                    <a:pt x="342900" y="400050"/>
                  </a:lnTo>
                </a:path>
              </a:pathLst>
            </a:custGeom>
            <a:noFill/>
            <a:ln w="14288">
              <a:solidFill>
                <a:srgbClr val="ED8776"/>
              </a:solidFill>
            </a:ln>
          </p:spPr>
        </p:sp>
        <p:sp>
          <p:nvSpPr>
            <p:cNvPr id="59" name="Freeform 59"/>
            <p:cNvSpPr/>
            <p:nvPr/>
          </p:nvSpPr>
          <p:spPr>
            <a:xfrm>
              <a:off x="9620250" y="2543175"/>
              <a:ext cx="342900" cy="1257300"/>
            </a:xfrm>
            <a:custGeom>
              <a:avLst/>
              <a:gdLst/>
              <a:ahLst/>
              <a:cxnLst/>
              <a:rect l="l" t="t" r="r" b="b"/>
              <a:pathLst>
                <a:path w="342900" h="1257300">
                  <a:moveTo>
                    <a:pt x="0" y="933450"/>
                  </a:moveTo>
                  <a:lnTo>
                    <a:pt x="190500" y="933450"/>
                  </a:lnTo>
                  <a:lnTo>
                    <a:pt x="190500" y="0"/>
                  </a:lnTo>
                  <a:lnTo>
                    <a:pt x="342900" y="0"/>
                  </a:lnTo>
                  <a:moveTo>
                    <a:pt x="190500" y="457200"/>
                  </a:moveTo>
                  <a:lnTo>
                    <a:pt x="342900" y="457200"/>
                  </a:lnTo>
                  <a:moveTo>
                    <a:pt x="190500" y="857250"/>
                  </a:moveTo>
                  <a:lnTo>
                    <a:pt x="342900" y="857250"/>
                  </a:lnTo>
                  <a:moveTo>
                    <a:pt x="190500" y="1257300"/>
                  </a:moveTo>
                  <a:lnTo>
                    <a:pt x="342900" y="1257300"/>
                  </a:lnTo>
                  <a:lnTo>
                    <a:pt x="190500" y="1257300"/>
                  </a:lnTo>
                </a:path>
              </a:pathLst>
            </a:custGeom>
            <a:noFill/>
            <a:ln w="14288">
              <a:solidFill>
                <a:srgbClr val="ED8776"/>
              </a:solidFill>
            </a:ln>
          </p:spPr>
        </p:sp>
        <p:sp>
          <p:nvSpPr>
            <p:cNvPr id="60" name="Freeform 60"/>
            <p:cNvSpPr/>
            <p:nvPr/>
          </p:nvSpPr>
          <p:spPr>
            <a:xfrm>
              <a:off x="9620250" y="4200525"/>
              <a:ext cx="342900" cy="457200"/>
            </a:xfrm>
            <a:custGeom>
              <a:avLst/>
              <a:gdLst/>
              <a:ahLst/>
              <a:cxnLst/>
              <a:rect l="l" t="t" r="r" b="b"/>
              <a:pathLst>
                <a:path w="342900" h="457200">
                  <a:moveTo>
                    <a:pt x="0" y="457200"/>
                  </a:moveTo>
                  <a:lnTo>
                    <a:pt x="190500" y="457200"/>
                  </a:lnTo>
                  <a:lnTo>
                    <a:pt x="190500" y="0"/>
                  </a:lnTo>
                  <a:lnTo>
                    <a:pt x="342900" y="0"/>
                  </a:lnTo>
                  <a:moveTo>
                    <a:pt x="190500" y="400050"/>
                  </a:moveTo>
                  <a:lnTo>
                    <a:pt x="342900" y="400050"/>
                  </a:lnTo>
                </a:path>
              </a:pathLst>
            </a:custGeom>
            <a:noFill/>
            <a:ln w="14288">
              <a:solidFill>
                <a:srgbClr val="ED8776"/>
              </a:solidFill>
            </a:ln>
          </p:spPr>
        </p:sp>
        <p:sp>
          <p:nvSpPr>
            <p:cNvPr id="61" name="Rectangle 61"/>
            <p:cNvSpPr/>
            <p:nvPr/>
          </p:nvSpPr>
          <p:spPr>
            <a:xfrm>
              <a:off x="10001250" y="1524000"/>
              <a:ext cx="1809750" cy="323850"/>
            </a:xfrm>
            <a:prstGeom prst="rect">
              <a:avLst/>
            </a:prstGeom>
            <a:solidFill>
              <a:srgbClr val="FFFFFF"/>
            </a:solidFill>
            <a:ln w="9525">
              <a:solidFill>
                <a:srgbClr val="C9CFEA"/>
              </a:solidFill>
            </a:ln>
          </p:spPr>
        </p:sp>
        <p:sp>
          <p:nvSpPr>
            <p:cNvPr id="62" name="TextBox 62"/>
            <p:cNvSpPr txBox="1"/>
            <p:nvPr/>
          </p:nvSpPr>
          <p:spPr>
            <a:xfrm>
              <a:off x="10659046" y="163639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人才招聘</a:t>
              </a:r>
            </a:p>
          </p:txBody>
        </p:sp>
        <p:sp>
          <p:nvSpPr>
            <p:cNvPr id="63" name="Rectangle 63"/>
            <p:cNvSpPr/>
            <p:nvPr/>
          </p:nvSpPr>
          <p:spPr>
            <a:xfrm>
              <a:off x="10001250" y="1924050"/>
              <a:ext cx="1809750" cy="323850"/>
            </a:xfrm>
            <a:prstGeom prst="rect">
              <a:avLst/>
            </a:prstGeom>
            <a:solidFill>
              <a:srgbClr val="FFFFFF"/>
            </a:solidFill>
            <a:ln w="9525">
              <a:solidFill>
                <a:srgbClr val="C9CFEA"/>
              </a:solidFill>
            </a:ln>
          </p:spPr>
        </p:sp>
        <p:sp>
          <p:nvSpPr>
            <p:cNvPr id="64" name="TextBox 64"/>
            <p:cNvSpPr txBox="1"/>
            <p:nvPr/>
          </p:nvSpPr>
          <p:spPr>
            <a:xfrm>
              <a:off x="10659046" y="203644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人才入库</a:t>
              </a:r>
            </a:p>
          </p:txBody>
        </p:sp>
        <p:sp>
          <p:nvSpPr>
            <p:cNvPr id="65" name="Rectangle 65"/>
            <p:cNvSpPr/>
            <p:nvPr/>
          </p:nvSpPr>
          <p:spPr>
            <a:xfrm>
              <a:off x="10001250" y="2324100"/>
              <a:ext cx="1809750" cy="438150"/>
            </a:xfrm>
            <a:prstGeom prst="rect">
              <a:avLst/>
            </a:prstGeom>
            <a:solidFill>
              <a:srgbClr val="FFFFFF"/>
            </a:solidFill>
            <a:ln w="9525">
              <a:solidFill>
                <a:srgbClr val="C9CFEA"/>
              </a:solidFill>
            </a:ln>
          </p:spPr>
        </p:sp>
        <p:sp>
          <p:nvSpPr>
            <p:cNvPr id="66" name="TextBox 66"/>
            <p:cNvSpPr txBox="1"/>
            <p:nvPr/>
          </p:nvSpPr>
          <p:spPr>
            <a:xfrm>
              <a:off x="10504570" y="2407920"/>
              <a:ext cx="803110"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标准/定制化发</a:t>
              </a:r>
            </a:p>
          </p:txBody>
        </p:sp>
        <p:sp>
          <p:nvSpPr>
            <p:cNvPr id="67" name="TextBox 67"/>
            <p:cNvSpPr txBox="1"/>
            <p:nvPr/>
          </p:nvSpPr>
          <p:spPr>
            <a:xfrm>
              <a:off x="10719626" y="2569845"/>
              <a:ext cx="372999"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展项目</a:t>
              </a:r>
            </a:p>
          </p:txBody>
        </p:sp>
        <p:sp>
          <p:nvSpPr>
            <p:cNvPr id="68" name="Rectangle 68"/>
            <p:cNvSpPr/>
            <p:nvPr/>
          </p:nvSpPr>
          <p:spPr>
            <a:xfrm>
              <a:off x="10001250" y="2838450"/>
              <a:ext cx="1809750" cy="323850"/>
            </a:xfrm>
            <a:prstGeom prst="rect">
              <a:avLst/>
            </a:prstGeom>
            <a:solidFill>
              <a:srgbClr val="FFFFFF"/>
            </a:solidFill>
            <a:ln w="9525">
              <a:solidFill>
                <a:srgbClr val="C9CFEA"/>
              </a:solidFill>
            </a:ln>
          </p:spPr>
        </p:sp>
        <p:sp>
          <p:nvSpPr>
            <p:cNvPr id="69" name="TextBox 69"/>
            <p:cNvSpPr txBox="1"/>
            <p:nvPr/>
          </p:nvSpPr>
          <p:spPr>
            <a:xfrm>
              <a:off x="10625728" y="2950845"/>
              <a:ext cx="560794"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轮岗/调配</a:t>
              </a:r>
            </a:p>
          </p:txBody>
        </p:sp>
        <p:sp>
          <p:nvSpPr>
            <p:cNvPr id="70" name="Rectangle 70"/>
            <p:cNvSpPr/>
            <p:nvPr/>
          </p:nvSpPr>
          <p:spPr>
            <a:xfrm>
              <a:off x="10001250" y="3238500"/>
              <a:ext cx="1809750" cy="323850"/>
            </a:xfrm>
            <a:prstGeom prst="rect">
              <a:avLst/>
            </a:prstGeom>
            <a:solidFill>
              <a:srgbClr val="FFFFFF"/>
            </a:solidFill>
            <a:ln w="9525">
              <a:solidFill>
                <a:srgbClr val="C9CFEA"/>
              </a:solidFill>
            </a:ln>
          </p:spPr>
        </p:sp>
        <p:sp>
          <p:nvSpPr>
            <p:cNvPr id="71" name="TextBox 71"/>
            <p:cNvSpPr txBox="1"/>
            <p:nvPr/>
          </p:nvSpPr>
          <p:spPr>
            <a:xfrm>
              <a:off x="10659046" y="335089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继任计划</a:t>
              </a:r>
            </a:p>
          </p:txBody>
        </p:sp>
        <p:sp>
          <p:nvSpPr>
            <p:cNvPr id="72" name="Rectangle 72"/>
            <p:cNvSpPr/>
            <p:nvPr/>
          </p:nvSpPr>
          <p:spPr>
            <a:xfrm>
              <a:off x="10001250" y="3638550"/>
              <a:ext cx="1809750" cy="323850"/>
            </a:xfrm>
            <a:prstGeom prst="rect">
              <a:avLst/>
            </a:prstGeom>
            <a:solidFill>
              <a:srgbClr val="FFFFFF"/>
            </a:solidFill>
            <a:ln w="9525">
              <a:solidFill>
                <a:srgbClr val="C9CFEA"/>
              </a:solidFill>
            </a:ln>
          </p:spPr>
        </p:sp>
        <p:sp>
          <p:nvSpPr>
            <p:cNvPr id="73" name="TextBox 73"/>
            <p:cNvSpPr txBox="1"/>
            <p:nvPr/>
          </p:nvSpPr>
          <p:spPr>
            <a:xfrm>
              <a:off x="10659046" y="375094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绩效辅导</a:t>
              </a:r>
            </a:p>
          </p:txBody>
        </p:sp>
        <p:sp>
          <p:nvSpPr>
            <p:cNvPr id="74" name="Rectangle 74"/>
            <p:cNvSpPr/>
            <p:nvPr/>
          </p:nvSpPr>
          <p:spPr>
            <a:xfrm>
              <a:off x="10001250" y="4038600"/>
              <a:ext cx="1809750" cy="323850"/>
            </a:xfrm>
            <a:prstGeom prst="rect">
              <a:avLst/>
            </a:prstGeom>
            <a:solidFill>
              <a:srgbClr val="FFFFFF"/>
            </a:solidFill>
            <a:ln w="9525">
              <a:solidFill>
                <a:srgbClr val="C9CFEA"/>
              </a:solidFill>
            </a:ln>
          </p:spPr>
        </p:sp>
        <p:sp>
          <p:nvSpPr>
            <p:cNvPr id="75" name="TextBox 75"/>
            <p:cNvSpPr txBox="1"/>
            <p:nvPr/>
          </p:nvSpPr>
          <p:spPr>
            <a:xfrm>
              <a:off x="10659046" y="415099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人才激励</a:t>
              </a:r>
            </a:p>
          </p:txBody>
        </p:sp>
        <p:sp>
          <p:nvSpPr>
            <p:cNvPr id="76" name="Rectangle 76"/>
            <p:cNvSpPr/>
            <p:nvPr/>
          </p:nvSpPr>
          <p:spPr>
            <a:xfrm>
              <a:off x="10001250" y="4438650"/>
              <a:ext cx="1809750" cy="323850"/>
            </a:xfrm>
            <a:prstGeom prst="rect">
              <a:avLst/>
            </a:prstGeom>
            <a:solidFill>
              <a:srgbClr val="FFFFFF"/>
            </a:solidFill>
            <a:ln w="9525">
              <a:solidFill>
                <a:srgbClr val="C9CFEA"/>
              </a:solidFill>
            </a:ln>
          </p:spPr>
        </p:sp>
        <p:sp>
          <p:nvSpPr>
            <p:cNvPr id="77" name="TextBox 77"/>
            <p:cNvSpPr txBox="1"/>
            <p:nvPr/>
          </p:nvSpPr>
          <p:spPr>
            <a:xfrm>
              <a:off x="10659046" y="455104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人才退出</a:t>
              </a:r>
            </a:p>
          </p:txBody>
        </p:sp>
      </p:gr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4490634" cy="440055"/>
            <a:chOff x="302895" y="214312"/>
            <a:chExt cx="4490634"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89.​</a:t>
              </a:r>
            </a:p>
          </p:txBody>
        </p:sp>
        <p:sp>
          <p:nvSpPr>
            <p:cNvPr id="3" name="TextBox 3"/>
            <p:cNvSpPr txBox="1"/>
            <p:nvPr/>
          </p:nvSpPr>
          <p:spPr>
            <a:xfrm>
              <a:off x="866394" y="246698"/>
              <a:ext cx="3927135"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OGSM模型制定策略「人事为例」</a:t>
              </a:r>
            </a:p>
          </p:txBody>
        </p:sp>
      </p:grpSp>
      <p:sp>
        <p:nvSpPr>
          <p:cNvPr id="5" name="ogsm-loop-left"/>
          <p:cNvSpPr/>
          <p:nvPr/>
        </p:nvSpPr>
        <p:spPr>
          <a:xfrm>
            <a:off x="1524000" y="2552700"/>
            <a:ext cx="685800" cy="2914650"/>
          </a:xfrm>
          <a:custGeom>
            <a:avLst/>
            <a:gdLst/>
            <a:ahLst/>
            <a:cxnLst/>
            <a:rect l="l" t="t" r="r" b="b"/>
            <a:pathLst>
              <a:path w="685800" h="2914650">
                <a:moveTo>
                  <a:pt x="685800" y="0"/>
                </a:moveTo>
                <a:cubicBezTo>
                  <a:pt x="0" y="1066800"/>
                  <a:pt x="0" y="1924050"/>
                  <a:pt x="628650" y="2914650"/>
                </a:cubicBezTo>
              </a:path>
            </a:pathLst>
          </a:custGeom>
          <a:noFill/>
          <a:ln w="28575">
            <a:solidFill>
              <a:srgbClr val="ED8776"/>
            </a:solidFill>
            <a:tailEnd type="triangle" w="lg" len="lg"/>
          </a:ln>
        </p:spPr>
      </p:sp>
      <p:sp>
        <p:nvSpPr>
          <p:cNvPr id="6" name="ogsm-loop-right"/>
          <p:cNvSpPr/>
          <p:nvPr/>
        </p:nvSpPr>
        <p:spPr>
          <a:xfrm>
            <a:off x="10858500" y="2552700"/>
            <a:ext cx="685800" cy="2914650"/>
          </a:xfrm>
          <a:custGeom>
            <a:avLst/>
            <a:gdLst/>
            <a:ahLst/>
            <a:cxnLst/>
            <a:rect l="l" t="t" r="r" b="b"/>
            <a:pathLst>
              <a:path w="685800" h="2914650">
                <a:moveTo>
                  <a:pt x="0" y="2914650"/>
                </a:moveTo>
                <a:cubicBezTo>
                  <a:pt x="685800" y="1924050"/>
                  <a:pt x="685800" y="1066800"/>
                  <a:pt x="57150" y="0"/>
                </a:cubicBezTo>
              </a:path>
            </a:pathLst>
          </a:custGeom>
          <a:noFill/>
          <a:ln w="28575">
            <a:solidFill>
              <a:srgbClr val="ED8776"/>
            </a:solidFill>
            <a:tailEnd type="triangle" w="lg" len="lg"/>
          </a:ln>
        </p:spPr>
      </p:sp>
      <p:grpSp>
        <p:nvGrpSpPr>
          <p:cNvPr id="18" name="layer-objective"/>
          <p:cNvGrpSpPr/>
          <p:nvPr/>
        </p:nvGrpSpPr>
        <p:grpSpPr>
          <a:xfrm>
            <a:off x="266700" y="1257300"/>
            <a:ext cx="11658600" cy="1047750"/>
            <a:chOff x="266700" y="1257300"/>
            <a:chExt cx="11658600" cy="1047750"/>
          </a:xfrm>
        </p:grpSpPr>
        <p:sp>
          <p:nvSpPr>
            <p:cNvPr id="7" name="Rectangle 7"/>
            <p:cNvSpPr/>
            <p:nvPr/>
          </p:nvSpPr>
          <p:spPr>
            <a:xfrm>
              <a:off x="266700" y="1257300"/>
              <a:ext cx="11658600" cy="1047750"/>
            </a:xfrm>
            <a:prstGeom prst="roundRect">
              <a:avLst>
                <a:gd name="adj" fmla="val 7273"/>
              </a:avLst>
            </a:prstGeom>
            <a:solidFill>
              <a:srgbClr val="F4F5FB"/>
            </a:solidFill>
            <a:ln>
              <a:noFill/>
            </a:ln>
          </p:spPr>
        </p:sp>
        <p:sp>
          <p:nvSpPr>
            <p:cNvPr id="8" name="Rectangle 8"/>
            <p:cNvSpPr/>
            <p:nvPr/>
          </p:nvSpPr>
          <p:spPr>
            <a:xfrm>
              <a:off x="342900" y="1428750"/>
              <a:ext cx="38100" cy="419100"/>
            </a:xfrm>
            <a:prstGeom prst="rect">
              <a:avLst/>
            </a:prstGeom>
            <a:solidFill>
              <a:srgbClr val="C1553F"/>
            </a:solidFill>
            <a:ln>
              <a:noFill/>
            </a:ln>
          </p:spPr>
        </p:sp>
        <p:sp>
          <p:nvSpPr>
            <p:cNvPr id="9" name="TextBox 9"/>
            <p:cNvSpPr txBox="1"/>
            <p:nvPr/>
          </p:nvSpPr>
          <p:spPr>
            <a:xfrm>
              <a:off x="469392" y="1492568"/>
              <a:ext cx="377190" cy="264033"/>
            </a:xfrm>
            <a:prstGeom prst="rect">
              <a:avLst/>
            </a:prstGeom>
            <a:noFill/>
            <a:ln>
              <a:noFill/>
            </a:ln>
          </p:spPr>
          <p:txBody>
            <a:bodyPr wrap="none" lIns="0" tIns="0" rIns="0" bIns="0" anchor="t" anchorCtr="0">
              <a:spAutoFit/>
            </a:bodyPr>
            <a:lstStyle/>
            <a:p>
              <a:pPr algn="l"/>
              <a:r>
                <a:rPr lang="zh-CN" sz="1350" b="1" dirty="0">
                  <a:solidFill>
                    <a:srgbClr val="C1553F"/>
                  </a:solidFill>
                  <a:latin typeface="+mn-lt"/>
                  <a:ea typeface="+mn-ea"/>
                  <a:cs typeface="+mn-cs"/>
                </a:rPr>
                <a:t>目的</a:t>
              </a:r>
            </a:p>
          </p:txBody>
        </p:sp>
        <p:sp>
          <p:nvSpPr>
            <p:cNvPr id="10" name="TextBox 10"/>
            <p:cNvSpPr txBox="1"/>
            <p:nvPr/>
          </p:nvSpPr>
          <p:spPr>
            <a:xfrm>
              <a:off x="471488" y="1728788"/>
              <a:ext cx="481965" cy="147638"/>
            </a:xfrm>
            <a:prstGeom prst="rect">
              <a:avLst/>
            </a:prstGeom>
            <a:noFill/>
            <a:ln>
              <a:noFill/>
            </a:ln>
          </p:spPr>
          <p:txBody>
            <a:bodyPr wrap="none" lIns="0" tIns="0" rIns="0" bIns="0" anchor="t" anchorCtr="0">
              <a:spAutoFit/>
            </a:bodyPr>
            <a:lstStyle/>
            <a:p>
              <a:pPr algn="l"/>
              <a:r>
                <a:rPr lang="en-US" sz="750" dirty="0">
                  <a:solidFill>
                    <a:srgbClr val="9AA0B5"/>
                  </a:solidFill>
                  <a:latin typeface="+mn-lt"/>
                  <a:ea typeface="+mn-ea"/>
                  <a:cs typeface="+mn-cs"/>
                </a:rPr>
                <a:t>Objective</a:t>
              </a:r>
            </a:p>
          </p:txBody>
        </p:sp>
        <p:sp>
          <p:nvSpPr>
            <p:cNvPr id="11" name="Freeform 11"/>
            <p:cNvSpPr/>
            <p:nvPr/>
          </p:nvSpPr>
          <p:spPr>
            <a:xfrm>
              <a:off x="4953000" y="1358900"/>
              <a:ext cx="3429000" cy="241300"/>
            </a:xfrm>
            <a:custGeom>
              <a:avLst/>
              <a:gdLst/>
              <a:ahLst/>
              <a:cxnLst/>
              <a:rect l="l" t="t" r="r" b="b"/>
              <a:pathLst>
                <a:path w="3429000" h="241300">
                  <a:moveTo>
                    <a:pt x="0" y="241300"/>
                  </a:moveTo>
                  <a:cubicBezTo>
                    <a:pt x="1143000" y="0"/>
                    <a:pt x="2286000" y="0"/>
                    <a:pt x="3429000" y="241300"/>
                  </a:cubicBezTo>
                </a:path>
              </a:pathLst>
            </a:custGeom>
            <a:noFill/>
            <a:ln w="14288">
              <a:solidFill>
                <a:srgbClr val="E0B3AA"/>
              </a:solidFill>
            </a:ln>
          </p:spPr>
        </p:sp>
        <p:sp>
          <p:nvSpPr>
            <p:cNvPr id="12" name="TextBox 12"/>
            <p:cNvSpPr txBox="1"/>
            <p:nvPr/>
          </p:nvSpPr>
          <p:spPr>
            <a:xfrm>
              <a:off x="5900374" y="1421606"/>
              <a:ext cx="1534251" cy="220028"/>
            </a:xfrm>
            <a:prstGeom prst="rect">
              <a:avLst/>
            </a:prstGeom>
            <a:noFill/>
            <a:ln>
              <a:noFill/>
            </a:ln>
          </p:spPr>
          <p:txBody>
            <a:bodyPr wrap="none" lIns="0" tIns="0" rIns="0" bIns="0" anchor="t" anchorCtr="0">
              <a:spAutoFit/>
            </a:bodyPr>
            <a:lstStyle/>
            <a:p>
              <a:pPr algn="ctr"/>
              <a:r>
                <a:rPr lang="zh-CN" sz="1120" dirty="0">
                  <a:solidFill>
                    <a:srgbClr val="C1553F"/>
                  </a:solidFill>
                  <a:latin typeface="+mn-lt"/>
                  <a:ea typeface="+mn-ea"/>
                  <a:cs typeface="+mn-cs"/>
                </a:rPr>
                <a:t>贴合集团"两最"总目标</a:t>
              </a:r>
            </a:p>
          </p:txBody>
        </p:sp>
        <p:sp>
          <p:nvSpPr>
            <p:cNvPr id="13" name="Rectangle 13"/>
            <p:cNvSpPr/>
            <p:nvPr/>
          </p:nvSpPr>
          <p:spPr>
            <a:xfrm>
              <a:off x="4171950" y="1752600"/>
              <a:ext cx="2152650" cy="342900"/>
            </a:xfrm>
            <a:prstGeom prst="roundRect">
              <a:avLst>
                <a:gd name="adj" fmla="val 50000"/>
              </a:avLst>
            </a:prstGeom>
            <a:gradFill>
              <a:gsLst>
                <a:gs pos="0">
                  <a:srgbClr val="E5624C"/>
                </a:gs>
                <a:gs pos="100000">
                  <a:srgbClr val="F0998A"/>
                </a:gs>
              </a:gsLst>
              <a:lin ang="0" scaled="1"/>
            </a:gradFill>
            <a:ln>
              <a:noFill/>
            </a:ln>
          </p:spPr>
        </p:sp>
        <p:sp>
          <p:nvSpPr>
            <p:cNvPr id="14" name="TextBox 14"/>
            <p:cNvSpPr txBox="1"/>
            <p:nvPr/>
          </p:nvSpPr>
          <p:spPr>
            <a:xfrm>
              <a:off x="4677537" y="1867852"/>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薪酬激励体系设计</a:t>
              </a:r>
            </a:p>
          </p:txBody>
        </p:sp>
        <p:sp>
          <p:nvSpPr>
            <p:cNvPr id="15" name="TextBox 15"/>
            <p:cNvSpPr txBox="1"/>
            <p:nvPr/>
          </p:nvSpPr>
          <p:spPr>
            <a:xfrm>
              <a:off x="6603049" y="1763078"/>
              <a:ext cx="224153" cy="498729"/>
            </a:xfrm>
            <a:prstGeom prst="rect">
              <a:avLst/>
            </a:prstGeom>
            <a:noFill/>
            <a:ln>
              <a:noFill/>
            </a:ln>
          </p:spPr>
          <p:txBody>
            <a:bodyPr wrap="none" lIns="0" tIns="0" rIns="0" bIns="0" anchor="t" anchorCtr="0">
              <a:spAutoFit/>
            </a:bodyPr>
            <a:lstStyle/>
            <a:p>
              <a:pPr algn="ctr"/>
              <a:r>
                <a:rPr lang="zh-CN" sz="2550" b="1" dirty="0">
                  <a:solidFill>
                    <a:srgbClr val="C1553F"/>
                  </a:solidFill>
                  <a:latin typeface="+mn-lt"/>
                  <a:ea typeface="+mn-ea"/>
                  <a:cs typeface="+mn-cs"/>
                </a:rPr>
                <a:t>+</a:t>
              </a:r>
            </a:p>
          </p:txBody>
        </p:sp>
        <p:sp>
          <p:nvSpPr>
            <p:cNvPr id="16" name="Rectangle 16"/>
            <p:cNvSpPr/>
            <p:nvPr/>
          </p:nvSpPr>
          <p:spPr>
            <a:xfrm>
              <a:off x="7105650" y="1752600"/>
              <a:ext cx="2038350" cy="342900"/>
            </a:xfrm>
            <a:prstGeom prst="roundRect">
              <a:avLst>
                <a:gd name="adj" fmla="val 50000"/>
              </a:avLst>
            </a:prstGeom>
            <a:gradFill>
              <a:gsLst>
                <a:gs pos="0">
                  <a:srgbClr val="E5624C"/>
                </a:gs>
                <a:gs pos="100000">
                  <a:srgbClr val="F0998A"/>
                </a:gs>
              </a:gsLst>
              <a:lin ang="0" scaled="1"/>
            </a:gradFill>
            <a:ln>
              <a:noFill/>
            </a:ln>
          </p:spPr>
        </p:sp>
        <p:sp>
          <p:nvSpPr>
            <p:cNvPr id="17" name="TextBox 17"/>
            <p:cNvSpPr txBox="1"/>
            <p:nvPr/>
          </p:nvSpPr>
          <p:spPr>
            <a:xfrm>
              <a:off x="7695438" y="186785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人才梯队建设</a:t>
              </a:r>
            </a:p>
          </p:txBody>
        </p:sp>
      </p:grpSp>
      <p:grpSp>
        <p:nvGrpSpPr>
          <p:cNvPr id="35" name="layer-goals"/>
          <p:cNvGrpSpPr/>
          <p:nvPr/>
        </p:nvGrpSpPr>
        <p:grpSpPr>
          <a:xfrm>
            <a:off x="266700" y="2457450"/>
            <a:ext cx="11658600" cy="1276350"/>
            <a:chOff x="266700" y="2457450"/>
            <a:chExt cx="11658600" cy="1276350"/>
          </a:xfrm>
        </p:grpSpPr>
        <p:sp>
          <p:nvSpPr>
            <p:cNvPr id="19" name="Rectangle 19"/>
            <p:cNvSpPr/>
            <p:nvPr/>
          </p:nvSpPr>
          <p:spPr>
            <a:xfrm>
              <a:off x="266700" y="2457450"/>
              <a:ext cx="11658600" cy="1276350"/>
            </a:xfrm>
            <a:prstGeom prst="roundRect">
              <a:avLst>
                <a:gd name="adj" fmla="val 5970"/>
              </a:avLst>
            </a:prstGeom>
            <a:solidFill>
              <a:srgbClr val="F4F5FB"/>
            </a:solidFill>
            <a:ln>
              <a:noFill/>
            </a:ln>
          </p:spPr>
        </p:sp>
        <p:sp>
          <p:nvSpPr>
            <p:cNvPr id="20" name="Rectangle 20"/>
            <p:cNvSpPr/>
            <p:nvPr/>
          </p:nvSpPr>
          <p:spPr>
            <a:xfrm>
              <a:off x="342900" y="2762250"/>
              <a:ext cx="38100" cy="419100"/>
            </a:xfrm>
            <a:prstGeom prst="rect">
              <a:avLst/>
            </a:prstGeom>
            <a:solidFill>
              <a:srgbClr val="C1553F"/>
            </a:solidFill>
            <a:ln>
              <a:noFill/>
            </a:ln>
          </p:spPr>
        </p:sp>
        <p:sp>
          <p:nvSpPr>
            <p:cNvPr id="21" name="TextBox 21"/>
            <p:cNvSpPr txBox="1"/>
            <p:nvPr/>
          </p:nvSpPr>
          <p:spPr>
            <a:xfrm>
              <a:off x="469392" y="2826068"/>
              <a:ext cx="377190" cy="264033"/>
            </a:xfrm>
            <a:prstGeom prst="rect">
              <a:avLst/>
            </a:prstGeom>
            <a:noFill/>
            <a:ln>
              <a:noFill/>
            </a:ln>
          </p:spPr>
          <p:txBody>
            <a:bodyPr wrap="none" lIns="0" tIns="0" rIns="0" bIns="0" anchor="t" anchorCtr="0">
              <a:spAutoFit/>
            </a:bodyPr>
            <a:lstStyle/>
            <a:p>
              <a:pPr algn="l"/>
              <a:r>
                <a:rPr lang="zh-CN" sz="1350" b="1" dirty="0">
                  <a:solidFill>
                    <a:srgbClr val="C1553F"/>
                  </a:solidFill>
                  <a:latin typeface="+mn-lt"/>
                  <a:ea typeface="+mn-ea"/>
                  <a:cs typeface="+mn-cs"/>
                </a:rPr>
                <a:t>目标</a:t>
              </a:r>
            </a:p>
          </p:txBody>
        </p:sp>
        <p:sp>
          <p:nvSpPr>
            <p:cNvPr id="22" name="TextBox 22"/>
            <p:cNvSpPr txBox="1"/>
            <p:nvPr/>
          </p:nvSpPr>
          <p:spPr>
            <a:xfrm>
              <a:off x="471488" y="3062288"/>
              <a:ext cx="264795" cy="147638"/>
            </a:xfrm>
            <a:prstGeom prst="rect">
              <a:avLst/>
            </a:prstGeom>
            <a:noFill/>
            <a:ln>
              <a:noFill/>
            </a:ln>
          </p:spPr>
          <p:txBody>
            <a:bodyPr wrap="none" lIns="0" tIns="0" rIns="0" bIns="0" anchor="t" anchorCtr="0">
              <a:spAutoFit/>
            </a:bodyPr>
            <a:lstStyle/>
            <a:p>
              <a:pPr algn="l"/>
              <a:r>
                <a:rPr lang="en-US" sz="750" dirty="0">
                  <a:solidFill>
                    <a:srgbClr val="9AA0B5"/>
                  </a:solidFill>
                  <a:latin typeface="+mn-lt"/>
                  <a:ea typeface="+mn-ea"/>
                  <a:cs typeface="+mn-cs"/>
                </a:rPr>
                <a:t>Goals</a:t>
              </a:r>
            </a:p>
          </p:txBody>
        </p:sp>
        <p:sp>
          <p:nvSpPr>
            <p:cNvPr id="23" name="Rectangle 23"/>
            <p:cNvSpPr/>
            <p:nvPr/>
          </p:nvSpPr>
          <p:spPr>
            <a:xfrm>
              <a:off x="2600325" y="2609850"/>
              <a:ext cx="2257425" cy="990600"/>
            </a:xfrm>
            <a:prstGeom prst="roundRect">
              <a:avLst>
                <a:gd name="adj" fmla="val 9615"/>
              </a:avLst>
            </a:prstGeom>
            <a:gradFill>
              <a:gsLst>
                <a:gs pos="0">
                  <a:srgbClr val="C96E5B"/>
                </a:gs>
                <a:gs pos="100000">
                  <a:srgbClr val="C1553F"/>
                </a:gs>
              </a:gsLst>
              <a:lin ang="5400000" scaled="1"/>
            </a:gradFill>
            <a:ln>
              <a:noFill/>
            </a:ln>
          </p:spPr>
        </p:sp>
        <p:sp>
          <p:nvSpPr>
            <p:cNvPr id="24" name="TextBox 24"/>
            <p:cNvSpPr txBox="1"/>
            <p:nvPr/>
          </p:nvSpPr>
          <p:spPr>
            <a:xfrm>
              <a:off x="3153537" y="2858452"/>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校园招聘引进人才</a:t>
              </a:r>
            </a:p>
          </p:txBody>
        </p:sp>
        <p:sp>
          <p:nvSpPr>
            <p:cNvPr id="25" name="TextBox 25"/>
            <p:cNvSpPr txBox="1"/>
            <p:nvPr/>
          </p:nvSpPr>
          <p:spPr>
            <a:xfrm>
              <a:off x="3167570" y="3149441"/>
              <a:ext cx="1113409" cy="161925"/>
            </a:xfrm>
            <a:prstGeom prst="rect">
              <a:avLst/>
            </a:prstGeom>
            <a:noFill/>
            <a:ln>
              <a:noFill/>
            </a:ln>
          </p:spPr>
          <p:txBody>
            <a:bodyPr wrap="none" lIns="0" tIns="0" rIns="0" bIns="0" anchor="t" anchorCtr="0">
              <a:spAutoFit/>
            </a:bodyPr>
            <a:lstStyle/>
            <a:p>
              <a:pPr algn="ctr"/>
              <a:r>
                <a:rPr lang="zh-CN" sz="820" dirty="0">
                  <a:solidFill>
                    <a:srgbClr val="E8EAFB"/>
                  </a:solidFill>
                  <a:latin typeface="+mn-lt"/>
                  <a:ea typeface="+mn-ea"/>
                  <a:cs typeface="+mn-cs"/>
                </a:rPr>
                <a:t>充实银行各业务条线的</a:t>
              </a:r>
            </a:p>
          </p:txBody>
        </p:sp>
        <p:sp>
          <p:nvSpPr>
            <p:cNvPr id="26" name="TextBox 26"/>
            <p:cNvSpPr txBox="1"/>
            <p:nvPr/>
          </p:nvSpPr>
          <p:spPr>
            <a:xfrm>
              <a:off x="3498736" y="3301841"/>
              <a:ext cx="451079" cy="161925"/>
            </a:xfrm>
            <a:prstGeom prst="rect">
              <a:avLst/>
            </a:prstGeom>
            <a:noFill/>
            <a:ln>
              <a:noFill/>
            </a:ln>
          </p:spPr>
          <p:txBody>
            <a:bodyPr wrap="none" lIns="0" tIns="0" rIns="0" bIns="0" anchor="t" anchorCtr="0">
              <a:spAutoFit/>
            </a:bodyPr>
            <a:lstStyle/>
            <a:p>
              <a:pPr algn="ctr"/>
              <a:r>
                <a:rPr lang="zh-CN" sz="820" dirty="0">
                  <a:solidFill>
                    <a:srgbClr val="E8EAFB"/>
                  </a:solidFill>
                  <a:latin typeface="+mn-lt"/>
                  <a:ea typeface="+mn-ea"/>
                  <a:cs typeface="+mn-cs"/>
                </a:rPr>
                <a:t>基础岗位</a:t>
              </a:r>
            </a:p>
          </p:txBody>
        </p:sp>
        <p:sp>
          <p:nvSpPr>
            <p:cNvPr id="27" name="Rectangle 27"/>
            <p:cNvSpPr/>
            <p:nvPr/>
          </p:nvSpPr>
          <p:spPr>
            <a:xfrm>
              <a:off x="5419725" y="2609850"/>
              <a:ext cx="2371725" cy="990600"/>
            </a:xfrm>
            <a:prstGeom prst="roundRect">
              <a:avLst>
                <a:gd name="adj" fmla="val 9615"/>
              </a:avLst>
            </a:prstGeom>
            <a:gradFill>
              <a:gsLst>
                <a:gs pos="0">
                  <a:srgbClr val="C96E5B"/>
                </a:gs>
                <a:gs pos="100000">
                  <a:srgbClr val="C1553F"/>
                </a:gs>
              </a:gsLst>
              <a:lin ang="5400000" scaled="1"/>
            </a:gradFill>
            <a:ln>
              <a:noFill/>
            </a:ln>
          </p:spPr>
        </p:sp>
        <p:sp>
          <p:nvSpPr>
            <p:cNvPr id="28" name="TextBox 28"/>
            <p:cNvSpPr txBox="1"/>
            <p:nvPr/>
          </p:nvSpPr>
          <p:spPr>
            <a:xfrm>
              <a:off x="5888736" y="2858452"/>
              <a:ext cx="142417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绩效指标体系全面优化</a:t>
              </a:r>
            </a:p>
          </p:txBody>
        </p:sp>
        <p:sp>
          <p:nvSpPr>
            <p:cNvPr id="29" name="TextBox 29"/>
            <p:cNvSpPr txBox="1"/>
            <p:nvPr/>
          </p:nvSpPr>
          <p:spPr>
            <a:xfrm>
              <a:off x="6044120" y="3149441"/>
              <a:ext cx="1113409" cy="161925"/>
            </a:xfrm>
            <a:prstGeom prst="rect">
              <a:avLst/>
            </a:prstGeom>
            <a:noFill/>
            <a:ln>
              <a:noFill/>
            </a:ln>
          </p:spPr>
          <p:txBody>
            <a:bodyPr wrap="none" lIns="0" tIns="0" rIns="0" bIns="0" anchor="t" anchorCtr="0">
              <a:spAutoFit/>
            </a:bodyPr>
            <a:lstStyle/>
            <a:p>
              <a:pPr algn="ctr"/>
              <a:r>
                <a:rPr lang="zh-CN" sz="820" dirty="0">
                  <a:solidFill>
                    <a:srgbClr val="E8EAFB"/>
                  </a:solidFill>
                  <a:latin typeface="+mn-lt"/>
                  <a:ea typeface="+mn-ea"/>
                  <a:cs typeface="+mn-cs"/>
                </a:rPr>
                <a:t>绩效指标明确性与可衡</a:t>
              </a:r>
            </a:p>
          </p:txBody>
        </p:sp>
        <p:sp>
          <p:nvSpPr>
            <p:cNvPr id="30" name="TextBox 30"/>
            <p:cNvSpPr txBox="1"/>
            <p:nvPr/>
          </p:nvSpPr>
          <p:spPr>
            <a:xfrm>
              <a:off x="6256618" y="3301841"/>
              <a:ext cx="688414" cy="161925"/>
            </a:xfrm>
            <a:prstGeom prst="rect">
              <a:avLst/>
            </a:prstGeom>
            <a:noFill/>
            <a:ln>
              <a:noFill/>
            </a:ln>
          </p:spPr>
          <p:txBody>
            <a:bodyPr wrap="none" lIns="0" tIns="0" rIns="0" bIns="0" anchor="t" anchorCtr="0">
              <a:spAutoFit/>
            </a:bodyPr>
            <a:lstStyle/>
            <a:p>
              <a:pPr algn="ctr"/>
              <a:r>
                <a:rPr lang="zh-CN" sz="820" dirty="0">
                  <a:solidFill>
                    <a:srgbClr val="E8EAFB"/>
                  </a:solidFill>
                  <a:latin typeface="+mn-lt"/>
                  <a:ea typeface="+mn-ea"/>
                  <a:cs typeface="+mn-cs"/>
                </a:rPr>
                <a:t>量性达到 98%</a:t>
              </a:r>
            </a:p>
          </p:txBody>
        </p:sp>
        <p:sp>
          <p:nvSpPr>
            <p:cNvPr id="31" name="Rectangle 31"/>
            <p:cNvSpPr/>
            <p:nvPr/>
          </p:nvSpPr>
          <p:spPr>
            <a:xfrm>
              <a:off x="8296275" y="2609850"/>
              <a:ext cx="2257425" cy="990600"/>
            </a:xfrm>
            <a:prstGeom prst="roundRect">
              <a:avLst>
                <a:gd name="adj" fmla="val 9615"/>
              </a:avLst>
            </a:prstGeom>
            <a:gradFill>
              <a:gsLst>
                <a:gs pos="0">
                  <a:srgbClr val="C96E5B"/>
                </a:gs>
                <a:gs pos="100000">
                  <a:srgbClr val="C1553F"/>
                </a:gs>
              </a:gsLst>
              <a:lin ang="5400000" scaled="1"/>
            </a:gradFill>
            <a:ln>
              <a:noFill/>
            </a:ln>
          </p:spPr>
        </p:sp>
        <p:sp>
          <p:nvSpPr>
            <p:cNvPr id="32" name="TextBox 32"/>
            <p:cNvSpPr txBox="1"/>
            <p:nvPr/>
          </p:nvSpPr>
          <p:spPr>
            <a:xfrm>
              <a:off x="8778812" y="2858452"/>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青年人才选拔与培养</a:t>
              </a:r>
            </a:p>
          </p:txBody>
        </p:sp>
        <p:sp>
          <p:nvSpPr>
            <p:cNvPr id="33" name="TextBox 33"/>
            <p:cNvSpPr txBox="1"/>
            <p:nvPr/>
          </p:nvSpPr>
          <p:spPr>
            <a:xfrm>
              <a:off x="9084297" y="3149441"/>
              <a:ext cx="671855" cy="161925"/>
            </a:xfrm>
            <a:prstGeom prst="rect">
              <a:avLst/>
            </a:prstGeom>
            <a:noFill/>
            <a:ln>
              <a:noFill/>
            </a:ln>
          </p:spPr>
          <p:txBody>
            <a:bodyPr wrap="none" lIns="0" tIns="0" rIns="0" bIns="0" anchor="t" anchorCtr="0">
              <a:spAutoFit/>
            </a:bodyPr>
            <a:lstStyle/>
            <a:p>
              <a:pPr algn="ctr"/>
              <a:r>
                <a:rPr lang="zh-CN" sz="820" dirty="0">
                  <a:solidFill>
                    <a:srgbClr val="E8EAFB"/>
                  </a:solidFill>
                  <a:latin typeface="+mn-lt"/>
                  <a:ea typeface="+mn-ea"/>
                  <a:cs typeface="+mn-cs"/>
                </a:rPr>
                <a:t>青年中层干部</a:t>
              </a:r>
            </a:p>
          </p:txBody>
        </p:sp>
        <p:sp>
          <p:nvSpPr>
            <p:cNvPr id="34" name="TextBox 34"/>
            <p:cNvSpPr txBox="1"/>
            <p:nvPr/>
          </p:nvSpPr>
          <p:spPr>
            <a:xfrm>
              <a:off x="9092576" y="3301841"/>
              <a:ext cx="655297" cy="161925"/>
            </a:xfrm>
            <a:prstGeom prst="rect">
              <a:avLst/>
            </a:prstGeom>
            <a:noFill/>
            <a:ln>
              <a:noFill/>
            </a:ln>
          </p:spPr>
          <p:txBody>
            <a:bodyPr wrap="none" lIns="0" tIns="0" rIns="0" bIns="0" anchor="t" anchorCtr="0">
              <a:spAutoFit/>
            </a:bodyPr>
            <a:lstStyle/>
            <a:p>
              <a:pPr algn="ctr"/>
              <a:r>
                <a:rPr lang="zh-CN" sz="820" dirty="0">
                  <a:solidFill>
                    <a:srgbClr val="E8EAFB"/>
                  </a:solidFill>
                  <a:latin typeface="+mn-lt"/>
                  <a:ea typeface="+mn-ea"/>
                  <a:cs typeface="+mn-cs"/>
                </a:rPr>
                <a:t>占比达到20%</a:t>
              </a:r>
            </a:p>
          </p:txBody>
        </p:sp>
      </p:grpSp>
      <p:grpSp>
        <p:nvGrpSpPr>
          <p:cNvPr id="48" name="layer-strategies"/>
          <p:cNvGrpSpPr/>
          <p:nvPr/>
        </p:nvGrpSpPr>
        <p:grpSpPr>
          <a:xfrm>
            <a:off x="266700" y="3886200"/>
            <a:ext cx="11658600" cy="1390650"/>
            <a:chOff x="266700" y="3886200"/>
            <a:chExt cx="11658600" cy="1390650"/>
          </a:xfrm>
        </p:grpSpPr>
        <p:sp>
          <p:nvSpPr>
            <p:cNvPr id="36" name="Rectangle 36"/>
            <p:cNvSpPr/>
            <p:nvPr/>
          </p:nvSpPr>
          <p:spPr>
            <a:xfrm>
              <a:off x="266700" y="3886200"/>
              <a:ext cx="11658600" cy="1390650"/>
            </a:xfrm>
            <a:prstGeom prst="roundRect">
              <a:avLst>
                <a:gd name="adj" fmla="val 5479"/>
              </a:avLst>
            </a:prstGeom>
            <a:solidFill>
              <a:srgbClr val="F4F5FB"/>
            </a:solidFill>
            <a:ln>
              <a:noFill/>
            </a:ln>
          </p:spPr>
        </p:sp>
        <p:sp>
          <p:nvSpPr>
            <p:cNvPr id="37" name="Rectangle 37"/>
            <p:cNvSpPr/>
            <p:nvPr/>
          </p:nvSpPr>
          <p:spPr>
            <a:xfrm>
              <a:off x="342900" y="4248150"/>
              <a:ext cx="38100" cy="419100"/>
            </a:xfrm>
            <a:prstGeom prst="rect">
              <a:avLst/>
            </a:prstGeom>
            <a:solidFill>
              <a:srgbClr val="C1553F"/>
            </a:solidFill>
            <a:ln>
              <a:noFill/>
            </a:ln>
          </p:spPr>
        </p:sp>
        <p:sp>
          <p:nvSpPr>
            <p:cNvPr id="38" name="TextBox 38"/>
            <p:cNvSpPr txBox="1"/>
            <p:nvPr/>
          </p:nvSpPr>
          <p:spPr>
            <a:xfrm>
              <a:off x="469392" y="4311968"/>
              <a:ext cx="377190" cy="264033"/>
            </a:xfrm>
            <a:prstGeom prst="rect">
              <a:avLst/>
            </a:prstGeom>
            <a:noFill/>
            <a:ln>
              <a:noFill/>
            </a:ln>
          </p:spPr>
          <p:txBody>
            <a:bodyPr wrap="none" lIns="0" tIns="0" rIns="0" bIns="0" anchor="t" anchorCtr="0">
              <a:spAutoFit/>
            </a:bodyPr>
            <a:lstStyle/>
            <a:p>
              <a:pPr algn="l"/>
              <a:r>
                <a:rPr lang="zh-CN" sz="1350" b="1" dirty="0">
                  <a:solidFill>
                    <a:srgbClr val="C1553F"/>
                  </a:solidFill>
                  <a:latin typeface="+mn-lt"/>
                  <a:ea typeface="+mn-ea"/>
                  <a:cs typeface="+mn-cs"/>
                </a:rPr>
                <a:t>策略</a:t>
              </a:r>
            </a:p>
          </p:txBody>
        </p:sp>
        <p:sp>
          <p:nvSpPr>
            <p:cNvPr id="39" name="TextBox 39"/>
            <p:cNvSpPr txBox="1"/>
            <p:nvPr/>
          </p:nvSpPr>
          <p:spPr>
            <a:xfrm>
              <a:off x="471488" y="4548188"/>
              <a:ext cx="542592" cy="147638"/>
            </a:xfrm>
            <a:prstGeom prst="rect">
              <a:avLst/>
            </a:prstGeom>
            <a:noFill/>
            <a:ln>
              <a:noFill/>
            </a:ln>
          </p:spPr>
          <p:txBody>
            <a:bodyPr wrap="none" lIns="0" tIns="0" rIns="0" bIns="0" anchor="t" anchorCtr="0">
              <a:spAutoFit/>
            </a:bodyPr>
            <a:lstStyle/>
            <a:p>
              <a:pPr algn="l"/>
              <a:r>
                <a:rPr lang="en-US" sz="750" dirty="0">
                  <a:solidFill>
                    <a:srgbClr val="9AA0B5"/>
                  </a:solidFill>
                  <a:latin typeface="+mn-lt"/>
                  <a:ea typeface="+mn-ea"/>
                  <a:cs typeface="+mn-cs"/>
                </a:rPr>
                <a:t>Strategies</a:t>
              </a:r>
            </a:p>
          </p:txBody>
        </p:sp>
        <p:sp>
          <p:nvSpPr>
            <p:cNvPr id="40" name="TextBox 40"/>
            <p:cNvSpPr txBox="1"/>
            <p:nvPr/>
          </p:nvSpPr>
          <p:spPr>
            <a:xfrm>
              <a:off x="3620262" y="4115752"/>
              <a:ext cx="1141476" cy="205359"/>
            </a:xfrm>
            <a:prstGeom prst="rect">
              <a:avLst/>
            </a:prstGeom>
            <a:noFill/>
            <a:ln>
              <a:noFill/>
            </a:ln>
          </p:spPr>
          <p:txBody>
            <a:bodyPr wrap="none" lIns="0" tIns="0" rIns="0" bIns="0" anchor="t" anchorCtr="0">
              <a:spAutoFit/>
            </a:bodyPr>
            <a:lstStyle/>
            <a:p>
              <a:pPr algn="ctr"/>
              <a:r>
                <a:rPr lang="zh-CN" sz="1050" b="1" dirty="0">
                  <a:solidFill>
                    <a:srgbClr val="C1553F"/>
                  </a:solidFill>
                  <a:latin typeface="+mn-lt"/>
                  <a:ea typeface="+mn-ea"/>
                  <a:cs typeface="+mn-cs"/>
                </a:rPr>
                <a:t>多元指标精准锚定</a:t>
              </a:r>
            </a:p>
          </p:txBody>
        </p:sp>
        <p:sp>
          <p:nvSpPr>
            <p:cNvPr id="41" name="TextBox 41"/>
            <p:cNvSpPr txBox="1"/>
            <p:nvPr/>
          </p:nvSpPr>
          <p:spPr>
            <a:xfrm>
              <a:off x="3175914" y="4391739"/>
              <a:ext cx="2030171"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推动绩效评估流程的规范化与透明化，每季</a:t>
              </a:r>
            </a:p>
          </p:txBody>
        </p:sp>
        <p:sp>
          <p:nvSpPr>
            <p:cNvPr id="42" name="TextBox 42"/>
            <p:cNvSpPr txBox="1"/>
            <p:nvPr/>
          </p:nvSpPr>
          <p:spPr>
            <a:xfrm>
              <a:off x="3175914" y="4563189"/>
              <a:ext cx="2030171"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度进行一次全面的绩效评估，及时反馈评估</a:t>
              </a:r>
            </a:p>
          </p:txBody>
        </p:sp>
        <p:sp>
          <p:nvSpPr>
            <p:cNvPr id="43" name="TextBox 43"/>
            <p:cNvSpPr txBox="1"/>
            <p:nvPr/>
          </p:nvSpPr>
          <p:spPr>
            <a:xfrm>
              <a:off x="3282264" y="4734639"/>
              <a:ext cx="1817472"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结果并与员工共同制定绩效改进计划。</a:t>
              </a:r>
            </a:p>
          </p:txBody>
        </p:sp>
        <p:sp>
          <p:nvSpPr>
            <p:cNvPr id="44" name="TextBox 44"/>
            <p:cNvSpPr txBox="1"/>
            <p:nvPr/>
          </p:nvSpPr>
          <p:spPr>
            <a:xfrm>
              <a:off x="7716012" y="4115752"/>
              <a:ext cx="1141476" cy="205359"/>
            </a:xfrm>
            <a:prstGeom prst="rect">
              <a:avLst/>
            </a:prstGeom>
            <a:noFill/>
            <a:ln>
              <a:noFill/>
            </a:ln>
          </p:spPr>
          <p:txBody>
            <a:bodyPr wrap="none" lIns="0" tIns="0" rIns="0" bIns="0" anchor="t" anchorCtr="0">
              <a:spAutoFit/>
            </a:bodyPr>
            <a:lstStyle/>
            <a:p>
              <a:pPr algn="ctr"/>
              <a:r>
                <a:rPr lang="zh-CN" sz="1050" b="1" dirty="0">
                  <a:solidFill>
                    <a:srgbClr val="C1553F"/>
                  </a:solidFill>
                  <a:latin typeface="+mn-lt"/>
                  <a:ea typeface="+mn-ea"/>
                  <a:cs typeface="+mn-cs"/>
                </a:rPr>
                <a:t>青才培育体系赋能</a:t>
              </a:r>
            </a:p>
          </p:txBody>
        </p:sp>
        <p:sp>
          <p:nvSpPr>
            <p:cNvPr id="45" name="TextBox 45"/>
            <p:cNvSpPr txBox="1"/>
            <p:nvPr/>
          </p:nvSpPr>
          <p:spPr>
            <a:xfrm>
              <a:off x="7165315" y="4391739"/>
              <a:ext cx="2242871"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推动内部晋升机制的完善与落地，确保每年有不</a:t>
              </a:r>
            </a:p>
          </p:txBody>
        </p:sp>
        <p:sp>
          <p:nvSpPr>
            <p:cNvPr id="46" name="TextBox 46"/>
            <p:cNvSpPr txBox="1"/>
            <p:nvPr/>
          </p:nvSpPr>
          <p:spPr>
            <a:xfrm>
              <a:off x="7194561" y="4563189"/>
              <a:ext cx="2184378"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少于 20% 的管理岗位和关键技术岗位通过内部</a:t>
              </a:r>
            </a:p>
          </p:txBody>
        </p:sp>
        <p:sp>
          <p:nvSpPr>
            <p:cNvPr id="47" name="TextBox 47"/>
            <p:cNvSpPr txBox="1"/>
            <p:nvPr/>
          </p:nvSpPr>
          <p:spPr>
            <a:xfrm>
              <a:off x="7250394" y="4734639"/>
              <a:ext cx="2072711"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晋升填补，内部晋升人员的胜任率达到85%.</a:t>
              </a:r>
            </a:p>
          </p:txBody>
        </p:sp>
      </p:grpSp>
      <p:grpSp>
        <p:nvGrpSpPr>
          <p:cNvPr id="64" name="layer-measures"/>
          <p:cNvGrpSpPr/>
          <p:nvPr/>
        </p:nvGrpSpPr>
        <p:grpSpPr>
          <a:xfrm>
            <a:off x="266700" y="5429250"/>
            <a:ext cx="11658600" cy="1104900"/>
            <a:chOff x="266700" y="5429250"/>
            <a:chExt cx="11658600" cy="1104900"/>
          </a:xfrm>
        </p:grpSpPr>
        <p:sp>
          <p:nvSpPr>
            <p:cNvPr id="49" name="Rectangle 49"/>
            <p:cNvSpPr/>
            <p:nvPr/>
          </p:nvSpPr>
          <p:spPr>
            <a:xfrm>
              <a:off x="266700" y="5429250"/>
              <a:ext cx="11658600" cy="1104900"/>
            </a:xfrm>
            <a:prstGeom prst="roundRect">
              <a:avLst>
                <a:gd name="adj" fmla="val 6897"/>
              </a:avLst>
            </a:prstGeom>
            <a:solidFill>
              <a:srgbClr val="F4F5FB"/>
            </a:solidFill>
            <a:ln>
              <a:noFill/>
            </a:ln>
          </p:spPr>
        </p:sp>
        <p:sp>
          <p:nvSpPr>
            <p:cNvPr id="50" name="Rectangle 50"/>
            <p:cNvSpPr/>
            <p:nvPr/>
          </p:nvSpPr>
          <p:spPr>
            <a:xfrm>
              <a:off x="342900" y="5772150"/>
              <a:ext cx="38100" cy="419100"/>
            </a:xfrm>
            <a:prstGeom prst="rect">
              <a:avLst/>
            </a:prstGeom>
            <a:solidFill>
              <a:srgbClr val="C1553F"/>
            </a:solidFill>
            <a:ln>
              <a:noFill/>
            </a:ln>
          </p:spPr>
        </p:sp>
        <p:sp>
          <p:nvSpPr>
            <p:cNvPr id="51" name="TextBox 51"/>
            <p:cNvSpPr txBox="1"/>
            <p:nvPr/>
          </p:nvSpPr>
          <p:spPr>
            <a:xfrm>
              <a:off x="470154" y="5852160"/>
              <a:ext cx="819912" cy="234696"/>
            </a:xfrm>
            <a:prstGeom prst="rect">
              <a:avLst/>
            </a:prstGeom>
            <a:noFill/>
            <a:ln>
              <a:noFill/>
            </a:ln>
          </p:spPr>
          <p:txBody>
            <a:bodyPr wrap="none" lIns="0" tIns="0" rIns="0" bIns="0" anchor="t" anchorCtr="0">
              <a:spAutoFit/>
            </a:bodyPr>
            <a:lstStyle/>
            <a:p>
              <a:pPr algn="l"/>
              <a:r>
                <a:rPr lang="zh-CN" sz="1200" b="1" dirty="0">
                  <a:solidFill>
                    <a:srgbClr val="C1553F"/>
                  </a:solidFill>
                  <a:latin typeface="+mn-lt"/>
                  <a:ea typeface="+mn-ea"/>
                  <a:cs typeface="+mn-cs"/>
                </a:rPr>
                <a:t>可衡量指标</a:t>
              </a:r>
            </a:p>
          </p:txBody>
        </p:sp>
        <p:sp>
          <p:nvSpPr>
            <p:cNvPr id="52" name="TextBox 52"/>
            <p:cNvSpPr txBox="1"/>
            <p:nvPr/>
          </p:nvSpPr>
          <p:spPr>
            <a:xfrm>
              <a:off x="471488" y="6072188"/>
              <a:ext cx="477250" cy="147638"/>
            </a:xfrm>
            <a:prstGeom prst="rect">
              <a:avLst/>
            </a:prstGeom>
            <a:noFill/>
            <a:ln>
              <a:noFill/>
            </a:ln>
          </p:spPr>
          <p:txBody>
            <a:bodyPr wrap="none" lIns="0" tIns="0" rIns="0" bIns="0" anchor="t" anchorCtr="0">
              <a:spAutoFit/>
            </a:bodyPr>
            <a:lstStyle/>
            <a:p>
              <a:pPr algn="l"/>
              <a:r>
                <a:rPr lang="en-US" sz="750" dirty="0">
                  <a:solidFill>
                    <a:srgbClr val="9AA0B5"/>
                  </a:solidFill>
                  <a:latin typeface="+mn-lt"/>
                  <a:ea typeface="+mn-ea"/>
                  <a:cs typeface="+mn-cs"/>
                </a:rPr>
                <a:t>Measures</a:t>
              </a:r>
            </a:p>
          </p:txBody>
        </p:sp>
        <p:sp>
          <p:nvSpPr>
            <p:cNvPr id="53" name="TextBox 53"/>
            <p:cNvSpPr txBox="1"/>
            <p:nvPr/>
          </p:nvSpPr>
          <p:spPr>
            <a:xfrm>
              <a:off x="5832526" y="5650706"/>
              <a:ext cx="1669948" cy="220028"/>
            </a:xfrm>
            <a:prstGeom prst="rect">
              <a:avLst/>
            </a:prstGeom>
            <a:noFill/>
            <a:ln>
              <a:noFill/>
            </a:ln>
          </p:spPr>
          <p:txBody>
            <a:bodyPr wrap="none" lIns="0" tIns="0" rIns="0" bIns="0" anchor="t" anchorCtr="0">
              <a:spAutoFit/>
            </a:bodyPr>
            <a:lstStyle/>
            <a:p>
              <a:pPr algn="ctr"/>
              <a:r>
                <a:rPr lang="zh-CN" sz="1120" dirty="0">
                  <a:solidFill>
                    <a:srgbClr val="C1553F"/>
                  </a:solidFill>
                  <a:latin typeface="+mn-lt"/>
                  <a:ea typeface="+mn-ea"/>
                  <a:cs typeface="+mn-cs"/>
                </a:rPr>
                <a:t>根据指标持续评估与调整</a:t>
              </a:r>
            </a:p>
          </p:txBody>
        </p:sp>
        <p:sp>
          <p:nvSpPr>
            <p:cNvPr id="54" name="Rectangle 54"/>
            <p:cNvSpPr/>
            <p:nvPr/>
          </p:nvSpPr>
          <p:spPr>
            <a:xfrm>
              <a:off x="2667000" y="5924550"/>
              <a:ext cx="1333500" cy="266700"/>
            </a:xfrm>
            <a:prstGeom prst="roundRect">
              <a:avLst>
                <a:gd name="adj" fmla="val 50000"/>
              </a:avLst>
            </a:prstGeom>
            <a:solidFill>
              <a:srgbClr val="FFFFFF"/>
            </a:solidFill>
            <a:ln w="9525">
              <a:solidFill>
                <a:srgbClr val="E6B8AE"/>
              </a:solidFill>
            </a:ln>
          </p:spPr>
        </p:sp>
        <p:sp>
          <p:nvSpPr>
            <p:cNvPr id="55" name="TextBox 55"/>
            <p:cNvSpPr txBox="1"/>
            <p:nvPr/>
          </p:nvSpPr>
          <p:spPr>
            <a:xfrm>
              <a:off x="2923781" y="6012418"/>
              <a:ext cx="819937"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招聘计划达成率</a:t>
              </a:r>
            </a:p>
          </p:txBody>
        </p:sp>
        <p:sp>
          <p:nvSpPr>
            <p:cNvPr id="56" name="Rectangle 56"/>
            <p:cNvSpPr/>
            <p:nvPr/>
          </p:nvSpPr>
          <p:spPr>
            <a:xfrm>
              <a:off x="4286250" y="6153150"/>
              <a:ext cx="1238250" cy="266700"/>
            </a:xfrm>
            <a:prstGeom prst="roundRect">
              <a:avLst>
                <a:gd name="adj" fmla="val 50000"/>
              </a:avLst>
            </a:prstGeom>
            <a:solidFill>
              <a:srgbClr val="FFFFFF"/>
            </a:solidFill>
            <a:ln w="9525">
              <a:solidFill>
                <a:srgbClr val="E6B8AE"/>
              </a:solidFill>
            </a:ln>
          </p:spPr>
        </p:sp>
        <p:sp>
          <p:nvSpPr>
            <p:cNvPr id="57" name="TextBox 57"/>
            <p:cNvSpPr txBox="1"/>
            <p:nvPr/>
          </p:nvSpPr>
          <p:spPr>
            <a:xfrm>
              <a:off x="4553293" y="6241018"/>
              <a:ext cx="704164"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绩效管理制度</a:t>
              </a:r>
            </a:p>
          </p:txBody>
        </p:sp>
        <p:sp>
          <p:nvSpPr>
            <p:cNvPr id="58" name="Rectangle 58"/>
            <p:cNvSpPr/>
            <p:nvPr/>
          </p:nvSpPr>
          <p:spPr>
            <a:xfrm>
              <a:off x="6000750" y="6191250"/>
              <a:ext cx="1238250" cy="266700"/>
            </a:xfrm>
            <a:prstGeom prst="roundRect">
              <a:avLst>
                <a:gd name="adj" fmla="val 50000"/>
              </a:avLst>
            </a:prstGeom>
            <a:solidFill>
              <a:srgbClr val="FFFFFF"/>
            </a:solidFill>
            <a:ln w="9525">
              <a:solidFill>
                <a:srgbClr val="E6B8AE"/>
              </a:solidFill>
            </a:ln>
          </p:spPr>
        </p:sp>
        <p:sp>
          <p:nvSpPr>
            <p:cNvPr id="59" name="TextBox 59"/>
            <p:cNvSpPr txBox="1"/>
            <p:nvPr/>
          </p:nvSpPr>
          <p:spPr>
            <a:xfrm>
              <a:off x="6267793" y="6279118"/>
              <a:ext cx="704164"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绩效年度考评</a:t>
              </a:r>
            </a:p>
          </p:txBody>
        </p:sp>
        <p:sp>
          <p:nvSpPr>
            <p:cNvPr id="60" name="Rectangle 60"/>
            <p:cNvSpPr/>
            <p:nvPr/>
          </p:nvSpPr>
          <p:spPr>
            <a:xfrm>
              <a:off x="7524750" y="6115050"/>
              <a:ext cx="1428750" cy="266700"/>
            </a:xfrm>
            <a:prstGeom prst="roundRect">
              <a:avLst>
                <a:gd name="adj" fmla="val 50000"/>
              </a:avLst>
            </a:prstGeom>
            <a:solidFill>
              <a:srgbClr val="FFFFFF"/>
            </a:solidFill>
            <a:ln w="9525">
              <a:solidFill>
                <a:srgbClr val="E6B8AE"/>
              </a:solidFill>
            </a:ln>
          </p:spPr>
        </p:sp>
        <p:sp>
          <p:nvSpPr>
            <p:cNvPr id="61" name="TextBox 61"/>
            <p:cNvSpPr txBox="1"/>
            <p:nvPr/>
          </p:nvSpPr>
          <p:spPr>
            <a:xfrm>
              <a:off x="7771270" y="6202918"/>
              <a:ext cx="935711"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青年人才培养方案</a:t>
              </a:r>
            </a:p>
          </p:txBody>
        </p:sp>
        <p:sp>
          <p:nvSpPr>
            <p:cNvPr id="62" name="Rectangle 62"/>
            <p:cNvSpPr/>
            <p:nvPr/>
          </p:nvSpPr>
          <p:spPr>
            <a:xfrm>
              <a:off x="9334500" y="5886450"/>
              <a:ext cx="1428750" cy="266700"/>
            </a:xfrm>
            <a:prstGeom prst="roundRect">
              <a:avLst>
                <a:gd name="adj" fmla="val 50000"/>
              </a:avLst>
            </a:prstGeom>
            <a:solidFill>
              <a:srgbClr val="FFFFFF"/>
            </a:solidFill>
            <a:ln w="9525">
              <a:solidFill>
                <a:srgbClr val="E6B8AE"/>
              </a:solidFill>
            </a:ln>
          </p:spPr>
        </p:sp>
        <p:sp>
          <p:nvSpPr>
            <p:cNvPr id="63" name="TextBox 63"/>
            <p:cNvSpPr txBox="1"/>
            <p:nvPr/>
          </p:nvSpPr>
          <p:spPr>
            <a:xfrm>
              <a:off x="9581020" y="5974318"/>
              <a:ext cx="935711"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青年人才激励机制</a:t>
              </a:r>
            </a:p>
          </p:txBody>
        </p:sp>
      </p:gr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pt-rise-line"/>
          <p:cNvSpPr/>
          <p:nvPr/>
        </p:nvSpPr>
        <p:spPr>
          <a:xfrm>
            <a:off x="857250" y="1428750"/>
            <a:ext cx="10668000" cy="4857750"/>
          </a:xfrm>
          <a:custGeom>
            <a:avLst/>
            <a:gdLst/>
            <a:ahLst/>
            <a:cxnLst/>
            <a:rect l="l" t="t" r="r" b="b"/>
            <a:pathLst>
              <a:path w="10668000" h="4857750">
                <a:moveTo>
                  <a:pt x="0" y="4857750"/>
                </a:moveTo>
                <a:lnTo>
                  <a:pt x="10668000" y="0"/>
                </a:lnTo>
              </a:path>
            </a:pathLst>
          </a:custGeom>
          <a:noFill/>
          <a:ln w="23812">
            <a:solidFill>
              <a:srgbClr val="F0B4AA"/>
            </a:solidFill>
          </a:ln>
        </p:spPr>
      </p:sp>
      <p:grpSp>
        <p:nvGrpSpPr>
          <p:cNvPr id="5" name="page-header"/>
          <p:cNvGrpSpPr/>
          <p:nvPr/>
        </p:nvGrpSpPr>
        <p:grpSpPr>
          <a:xfrm>
            <a:off x="302895" y="214312"/>
            <a:ext cx="2790504" cy="440055"/>
            <a:chOff x="302895" y="214312"/>
            <a:chExt cx="2790504" cy="440055"/>
          </a:xfrm>
        </p:grpSpPr>
        <p:sp>
          <p:nvSpPr>
            <p:cNvPr id="3" name="TextBox 3"/>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90.​</a:t>
              </a:r>
            </a:p>
          </p:txBody>
        </p:sp>
        <p:sp>
          <p:nvSpPr>
            <p:cNvPr id="4" name="TextBox 4"/>
            <p:cNvSpPr txBox="1"/>
            <p:nvPr/>
          </p:nvSpPr>
          <p:spPr>
            <a:xfrm>
              <a:off x="866394" y="246698"/>
              <a:ext cx="2227005"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KPT模型-复盘工作</a:t>
              </a:r>
            </a:p>
          </p:txBody>
        </p:sp>
      </p:grpSp>
      <p:grpSp>
        <p:nvGrpSpPr>
          <p:cNvPr id="28" name="kpt-col-k"/>
          <p:cNvGrpSpPr/>
          <p:nvPr/>
        </p:nvGrpSpPr>
        <p:grpSpPr>
          <a:xfrm>
            <a:off x="571500" y="1238250"/>
            <a:ext cx="3005252" cy="4721066"/>
            <a:chOff x="571500" y="1238250"/>
            <a:chExt cx="3005252" cy="4721066"/>
          </a:xfrm>
        </p:grpSpPr>
        <p:sp>
          <p:nvSpPr>
            <p:cNvPr id="6" name="Ellipse 6"/>
            <p:cNvSpPr/>
            <p:nvPr/>
          </p:nvSpPr>
          <p:spPr>
            <a:xfrm>
              <a:off x="1219200" y="1752600"/>
              <a:ext cx="1638300" cy="304800"/>
            </a:xfrm>
            <a:prstGeom prst="ellipse">
              <a:avLst/>
            </a:prstGeom>
            <a:noFill/>
            <a:ln w="19050">
              <a:solidFill>
                <a:srgbClr val="C9CFEA"/>
              </a:solidFill>
            </a:ln>
          </p:spPr>
        </p:sp>
        <p:sp>
          <p:nvSpPr>
            <p:cNvPr id="7" name="Ellipse 7"/>
            <p:cNvSpPr/>
            <p:nvPr/>
          </p:nvSpPr>
          <p:spPr>
            <a:xfrm>
              <a:off x="1581150" y="1238250"/>
              <a:ext cx="914400" cy="914400"/>
            </a:xfrm>
            <a:prstGeom prst="ellipse">
              <a:avLst/>
            </a:prstGeom>
            <a:solidFill>
              <a:srgbClr val="C4624E"/>
            </a:solidFill>
            <a:ln>
              <a:noFill/>
            </a:ln>
          </p:spPr>
        </p:sp>
        <p:sp>
          <p:nvSpPr>
            <p:cNvPr id="8" name="TextBox 8"/>
            <p:cNvSpPr txBox="1"/>
            <p:nvPr/>
          </p:nvSpPr>
          <p:spPr>
            <a:xfrm>
              <a:off x="1886049" y="1491615"/>
              <a:ext cx="304602" cy="645414"/>
            </a:xfrm>
            <a:prstGeom prst="rect">
              <a:avLst/>
            </a:prstGeom>
            <a:noFill/>
            <a:ln>
              <a:noFill/>
            </a:ln>
          </p:spPr>
          <p:txBody>
            <a:bodyPr wrap="none" lIns="0" tIns="0" rIns="0" bIns="0" anchor="t" anchorCtr="0">
              <a:spAutoFit/>
            </a:bodyPr>
            <a:lstStyle/>
            <a:p>
              <a:pPr algn="ctr"/>
              <a:r>
                <a:rPr lang="en-US" sz="3300" b="1" dirty="0">
                  <a:solidFill>
                    <a:srgbClr val="FFFFFF"/>
                  </a:solidFill>
                  <a:latin typeface="+mn-lt"/>
                  <a:ea typeface="+mn-ea"/>
                  <a:cs typeface="+mn-cs"/>
                </a:rPr>
                <a:t>K</a:t>
              </a:r>
            </a:p>
          </p:txBody>
        </p:sp>
        <p:sp>
          <p:nvSpPr>
            <p:cNvPr id="9" name="Rectangle 9"/>
            <p:cNvSpPr/>
            <p:nvPr/>
          </p:nvSpPr>
          <p:spPr>
            <a:xfrm>
              <a:off x="1085850" y="2476500"/>
              <a:ext cx="1905000" cy="285750"/>
            </a:xfrm>
            <a:prstGeom prst="roundRect">
              <a:avLst>
                <a:gd name="adj" fmla="val 20000"/>
              </a:avLst>
            </a:prstGeom>
            <a:solidFill>
              <a:srgbClr val="EEF0FB"/>
            </a:solidFill>
            <a:ln>
              <a:noFill/>
            </a:ln>
          </p:spPr>
        </p:sp>
        <p:sp>
          <p:nvSpPr>
            <p:cNvPr id="10" name="TextBox 10"/>
            <p:cNvSpPr txBox="1"/>
            <p:nvPr/>
          </p:nvSpPr>
          <p:spPr>
            <a:xfrm>
              <a:off x="1403703" y="2545556"/>
              <a:ext cx="1269294" cy="220028"/>
            </a:xfrm>
            <a:prstGeom prst="rect">
              <a:avLst/>
            </a:prstGeom>
            <a:noFill/>
            <a:ln>
              <a:noFill/>
            </a:ln>
          </p:spPr>
          <p:txBody>
            <a:bodyPr wrap="none" lIns="0" tIns="0" rIns="0" bIns="0" anchor="t" anchorCtr="0">
              <a:spAutoFit/>
            </a:bodyPr>
            <a:lstStyle/>
            <a:p>
              <a:pPr algn="ctr"/>
              <a:r>
                <a:rPr lang="zh-CN" sz="1120" b="1" dirty="0">
                  <a:solidFill>
                    <a:srgbClr val="33221F"/>
                  </a:solidFill>
                  <a:latin typeface="+mn-lt"/>
                  <a:ea typeface="+mn-ea"/>
                  <a:cs typeface="+mn-cs"/>
                </a:rPr>
                <a:t>持续坚持（Keep）</a:t>
              </a:r>
            </a:p>
          </p:txBody>
        </p:sp>
        <p:sp>
          <p:nvSpPr>
            <p:cNvPr id="11" name="Polygon 11"/>
            <p:cNvSpPr/>
            <p:nvPr/>
          </p:nvSpPr>
          <p:spPr>
            <a:xfrm>
              <a:off x="1962150" y="2838450"/>
              <a:ext cx="152400" cy="95250"/>
            </a:xfrm>
            <a:custGeom>
              <a:avLst/>
              <a:gdLst/>
              <a:ahLst/>
              <a:cxnLst/>
              <a:rect l="l" t="t" r="r" b="b"/>
              <a:pathLst>
                <a:path w="152400" h="95250">
                  <a:moveTo>
                    <a:pt x="0" y="0"/>
                  </a:moveTo>
                  <a:lnTo>
                    <a:pt x="152400" y="0"/>
                  </a:lnTo>
                  <a:lnTo>
                    <a:pt x="76200" y="95250"/>
                  </a:lnTo>
                  <a:close/>
                </a:path>
              </a:pathLst>
            </a:custGeom>
            <a:solidFill>
              <a:srgbClr val="C4624E"/>
            </a:solidFill>
            <a:ln>
              <a:noFill/>
            </a:ln>
          </p:spPr>
        </p:sp>
        <p:sp>
          <p:nvSpPr>
            <p:cNvPr id="12" name="TextBox 12"/>
            <p:cNvSpPr txBox="1"/>
            <p:nvPr/>
          </p:nvSpPr>
          <p:spPr>
            <a:xfrm>
              <a:off x="1396936" y="3182302"/>
              <a:ext cx="1282827" cy="205359"/>
            </a:xfrm>
            <a:prstGeom prst="rect">
              <a:avLst/>
            </a:prstGeom>
            <a:noFill/>
            <a:ln>
              <a:noFill/>
            </a:ln>
          </p:spPr>
          <p:txBody>
            <a:bodyPr wrap="none" lIns="0" tIns="0" rIns="0" bIns="0" anchor="t" anchorCtr="0">
              <a:spAutoFit/>
            </a:bodyPr>
            <a:lstStyle/>
            <a:p>
              <a:pPr algn="ctr"/>
              <a:r>
                <a:rPr lang="zh-CN" sz="1050" b="1" dirty="0">
                  <a:solidFill>
                    <a:srgbClr val="C1553F"/>
                  </a:solidFill>
                  <a:latin typeface="+mn-lt"/>
                  <a:ea typeface="+mn-ea"/>
                  <a:cs typeface="+mn-cs"/>
                </a:rPr>
                <a:t>（一）采购成本控制</a:t>
              </a:r>
            </a:p>
          </p:txBody>
        </p:sp>
        <p:sp>
          <p:nvSpPr>
            <p:cNvPr id="13" name="TextBox 13"/>
            <p:cNvSpPr txBox="1"/>
            <p:nvPr/>
          </p:nvSpPr>
          <p:spPr>
            <a:xfrm>
              <a:off x="1040092" y="3454241"/>
              <a:ext cx="1996516"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建立采购成本核算体系，精细化各项成本</a:t>
              </a:r>
            </a:p>
          </p:txBody>
        </p:sp>
        <p:sp>
          <p:nvSpPr>
            <p:cNvPr id="14" name="TextBox 14"/>
            <p:cNvSpPr txBox="1"/>
            <p:nvPr/>
          </p:nvSpPr>
          <p:spPr>
            <a:xfrm>
              <a:off x="880948" y="3914775"/>
              <a:ext cx="524104" cy="293370"/>
            </a:xfrm>
            <a:prstGeom prst="rect">
              <a:avLst/>
            </a:prstGeom>
            <a:noFill/>
            <a:ln>
              <a:noFill/>
            </a:ln>
          </p:spPr>
          <p:txBody>
            <a:bodyPr wrap="none" lIns="0" tIns="0" rIns="0" bIns="0" anchor="t" anchorCtr="0">
              <a:spAutoFit/>
            </a:bodyPr>
            <a:lstStyle/>
            <a:p>
              <a:pPr algn="ctr"/>
              <a:r>
                <a:rPr lang="en-US" sz="1500" b="1" dirty="0">
                  <a:solidFill>
                    <a:srgbClr val="C1553F"/>
                  </a:solidFill>
                  <a:latin typeface="+mn-lt"/>
                  <a:ea typeface="+mn-ea"/>
                  <a:cs typeface="+mn-cs"/>
                </a:rPr>
                <a:t>600w</a:t>
              </a:r>
            </a:p>
          </p:txBody>
        </p:sp>
        <p:sp>
          <p:nvSpPr>
            <p:cNvPr id="15" name="TextBox 15"/>
            <p:cNvSpPr txBox="1"/>
            <p:nvPr/>
          </p:nvSpPr>
          <p:spPr>
            <a:xfrm>
              <a:off x="1651349" y="3914775"/>
              <a:ext cx="126302" cy="293370"/>
            </a:xfrm>
            <a:prstGeom prst="rect">
              <a:avLst/>
            </a:prstGeom>
            <a:noFill/>
            <a:ln>
              <a:noFill/>
            </a:ln>
          </p:spPr>
          <p:txBody>
            <a:bodyPr wrap="none" lIns="0" tIns="0" rIns="0" bIns="0" anchor="t" anchorCtr="0">
              <a:spAutoFit/>
            </a:bodyPr>
            <a:lstStyle/>
            <a:p>
              <a:pPr algn="ctr"/>
              <a:r>
                <a:rPr lang="zh-CN" sz="1500" dirty="0">
                  <a:solidFill>
                    <a:srgbClr val="523F3B"/>
                  </a:solidFill>
                  <a:latin typeface="+mn-lt"/>
                  <a:ea typeface="+mn-ea"/>
                  <a:cs typeface="+mn-cs"/>
                </a:rPr>
                <a:t>—</a:t>
              </a:r>
            </a:p>
          </p:txBody>
        </p:sp>
        <p:sp>
          <p:nvSpPr>
            <p:cNvPr id="16" name="TextBox 16"/>
            <p:cNvSpPr txBox="1"/>
            <p:nvPr/>
          </p:nvSpPr>
          <p:spPr>
            <a:xfrm>
              <a:off x="2004898" y="3914775"/>
              <a:ext cx="524104" cy="293370"/>
            </a:xfrm>
            <a:prstGeom prst="rect">
              <a:avLst/>
            </a:prstGeom>
            <a:noFill/>
            <a:ln>
              <a:noFill/>
            </a:ln>
          </p:spPr>
          <p:txBody>
            <a:bodyPr wrap="none" lIns="0" tIns="0" rIns="0" bIns="0" anchor="t" anchorCtr="0">
              <a:spAutoFit/>
            </a:bodyPr>
            <a:lstStyle/>
            <a:p>
              <a:pPr algn="ctr"/>
              <a:r>
                <a:rPr lang="en-US" sz="1500" b="1" dirty="0">
                  <a:solidFill>
                    <a:srgbClr val="C1553F"/>
                  </a:solidFill>
                  <a:latin typeface="+mn-lt"/>
                  <a:ea typeface="+mn-ea"/>
                  <a:cs typeface="+mn-cs"/>
                </a:rPr>
                <a:t>500w</a:t>
              </a:r>
            </a:p>
          </p:txBody>
        </p:sp>
        <p:sp>
          <p:nvSpPr>
            <p:cNvPr id="17" name="TextBox 17"/>
            <p:cNvSpPr txBox="1"/>
            <p:nvPr/>
          </p:nvSpPr>
          <p:spPr>
            <a:xfrm>
              <a:off x="2699099" y="3914775"/>
              <a:ext cx="126302" cy="293370"/>
            </a:xfrm>
            <a:prstGeom prst="rect">
              <a:avLst/>
            </a:prstGeom>
            <a:noFill/>
            <a:ln>
              <a:noFill/>
            </a:ln>
          </p:spPr>
          <p:txBody>
            <a:bodyPr wrap="none" lIns="0" tIns="0" rIns="0" bIns="0" anchor="t" anchorCtr="0">
              <a:spAutoFit/>
            </a:bodyPr>
            <a:lstStyle/>
            <a:p>
              <a:pPr algn="ctr"/>
              <a:r>
                <a:rPr lang="zh-CN" sz="1500" dirty="0">
                  <a:solidFill>
                    <a:srgbClr val="523F3B"/>
                  </a:solidFill>
                  <a:latin typeface="+mn-lt"/>
                  <a:ea typeface="+mn-ea"/>
                  <a:cs typeface="+mn-cs"/>
                </a:rPr>
                <a:t>=</a:t>
              </a:r>
            </a:p>
          </p:txBody>
        </p:sp>
        <p:sp>
          <p:nvSpPr>
            <p:cNvPr id="18" name="TextBox 18"/>
            <p:cNvSpPr txBox="1"/>
            <p:nvPr/>
          </p:nvSpPr>
          <p:spPr>
            <a:xfrm>
              <a:off x="3052648" y="3914775"/>
              <a:ext cx="524104" cy="293370"/>
            </a:xfrm>
            <a:prstGeom prst="rect">
              <a:avLst/>
            </a:prstGeom>
            <a:noFill/>
            <a:ln>
              <a:noFill/>
            </a:ln>
          </p:spPr>
          <p:txBody>
            <a:bodyPr wrap="none" lIns="0" tIns="0" rIns="0" bIns="0" anchor="t" anchorCtr="0">
              <a:spAutoFit/>
            </a:bodyPr>
            <a:lstStyle/>
            <a:p>
              <a:pPr algn="ctr"/>
              <a:r>
                <a:rPr lang="en-US" sz="1500" b="1" dirty="0">
                  <a:solidFill>
                    <a:srgbClr val="E5624C"/>
                  </a:solidFill>
                  <a:latin typeface="+mn-lt"/>
                  <a:ea typeface="+mn-ea"/>
                  <a:cs typeface="+mn-cs"/>
                </a:rPr>
                <a:t>100w</a:t>
              </a:r>
            </a:p>
          </p:txBody>
        </p:sp>
        <p:sp>
          <p:nvSpPr>
            <p:cNvPr id="19" name="TextBox 19"/>
            <p:cNvSpPr txBox="1"/>
            <p:nvPr/>
          </p:nvSpPr>
          <p:spPr>
            <a:xfrm>
              <a:off x="851497" y="4228386"/>
              <a:ext cx="583006" cy="140494"/>
            </a:xfrm>
            <a:prstGeom prst="rect">
              <a:avLst/>
            </a:prstGeom>
            <a:noFill/>
            <a:ln>
              <a:noFill/>
            </a:ln>
          </p:spPr>
          <p:txBody>
            <a:bodyPr wrap="none" lIns="0" tIns="0" rIns="0" bIns="0" anchor="t" anchorCtr="0">
              <a:spAutoFit/>
            </a:bodyPr>
            <a:lstStyle/>
            <a:p>
              <a:pPr algn="ctr"/>
              <a:r>
                <a:rPr lang="zh-CN" sz="710" dirty="0">
                  <a:solidFill>
                    <a:srgbClr val="9AA0B5"/>
                  </a:solidFill>
                  <a:latin typeface="+mn-lt"/>
                  <a:ea typeface="+mn-ea"/>
                  <a:cs typeface="+mn-cs"/>
                </a:rPr>
                <a:t>上年采购总额</a:t>
              </a:r>
            </a:p>
          </p:txBody>
        </p:sp>
        <p:sp>
          <p:nvSpPr>
            <p:cNvPr id="20" name="TextBox 20"/>
            <p:cNvSpPr txBox="1"/>
            <p:nvPr/>
          </p:nvSpPr>
          <p:spPr>
            <a:xfrm>
              <a:off x="1975447" y="4228386"/>
              <a:ext cx="583006" cy="140494"/>
            </a:xfrm>
            <a:prstGeom prst="rect">
              <a:avLst/>
            </a:prstGeom>
            <a:noFill/>
            <a:ln>
              <a:noFill/>
            </a:ln>
          </p:spPr>
          <p:txBody>
            <a:bodyPr wrap="none" lIns="0" tIns="0" rIns="0" bIns="0" anchor="t" anchorCtr="0">
              <a:spAutoFit/>
            </a:bodyPr>
            <a:lstStyle/>
            <a:p>
              <a:pPr algn="ctr"/>
              <a:r>
                <a:rPr lang="zh-CN" sz="710" dirty="0">
                  <a:solidFill>
                    <a:srgbClr val="9AA0B5"/>
                  </a:solidFill>
                  <a:latin typeface="+mn-lt"/>
                  <a:ea typeface="+mn-ea"/>
                  <a:cs typeface="+mn-cs"/>
                </a:rPr>
                <a:t>今年采购总额</a:t>
              </a:r>
            </a:p>
          </p:txBody>
        </p:sp>
        <p:sp>
          <p:nvSpPr>
            <p:cNvPr id="21" name="TextBox 21"/>
            <p:cNvSpPr txBox="1"/>
            <p:nvPr/>
          </p:nvSpPr>
          <p:spPr>
            <a:xfrm>
              <a:off x="3166567" y="4228386"/>
              <a:ext cx="296266" cy="140494"/>
            </a:xfrm>
            <a:prstGeom prst="rect">
              <a:avLst/>
            </a:prstGeom>
            <a:noFill/>
            <a:ln>
              <a:noFill/>
            </a:ln>
          </p:spPr>
          <p:txBody>
            <a:bodyPr wrap="none" lIns="0" tIns="0" rIns="0" bIns="0" anchor="t" anchorCtr="0">
              <a:spAutoFit/>
            </a:bodyPr>
            <a:lstStyle/>
            <a:p>
              <a:pPr algn="ctr"/>
              <a:r>
                <a:rPr lang="zh-CN" sz="710" dirty="0">
                  <a:solidFill>
                    <a:srgbClr val="9AA0B5"/>
                  </a:solidFill>
                  <a:latin typeface="+mn-lt"/>
                  <a:ea typeface="+mn-ea"/>
                  <a:cs typeface="+mn-cs"/>
                </a:rPr>
                <a:t>共节省</a:t>
              </a:r>
            </a:p>
          </p:txBody>
        </p:sp>
        <p:sp>
          <p:nvSpPr>
            <p:cNvPr id="22" name="Line 22"/>
            <p:cNvSpPr/>
            <p:nvPr/>
          </p:nvSpPr>
          <p:spPr>
            <a:xfrm>
              <a:off x="571500" y="4610100"/>
              <a:ext cx="2933700" cy="9525"/>
            </a:xfrm>
            <a:custGeom>
              <a:avLst/>
              <a:gdLst/>
              <a:ahLst/>
              <a:cxnLst/>
              <a:rect l="l" t="t" r="r" b="b"/>
              <a:pathLst>
                <a:path w="2933700" h="9525">
                  <a:moveTo>
                    <a:pt x="0" y="0"/>
                  </a:moveTo>
                  <a:lnTo>
                    <a:pt x="2933700" y="0"/>
                  </a:lnTo>
                </a:path>
              </a:pathLst>
            </a:custGeom>
            <a:noFill/>
            <a:ln w="19050">
              <a:solidFill>
                <a:srgbClr val="EEF0FB"/>
              </a:solidFill>
            </a:ln>
          </p:spPr>
        </p:sp>
        <p:sp>
          <p:nvSpPr>
            <p:cNvPr id="23" name="TextBox 23"/>
            <p:cNvSpPr txBox="1"/>
            <p:nvPr/>
          </p:nvSpPr>
          <p:spPr>
            <a:xfrm>
              <a:off x="1467612" y="4877752"/>
              <a:ext cx="1141476" cy="205359"/>
            </a:xfrm>
            <a:prstGeom prst="rect">
              <a:avLst/>
            </a:prstGeom>
            <a:noFill/>
            <a:ln>
              <a:noFill/>
            </a:ln>
          </p:spPr>
          <p:txBody>
            <a:bodyPr wrap="none" lIns="0" tIns="0" rIns="0" bIns="0" anchor="t" anchorCtr="0">
              <a:spAutoFit/>
            </a:bodyPr>
            <a:lstStyle/>
            <a:p>
              <a:pPr algn="ctr"/>
              <a:r>
                <a:rPr lang="zh-CN" sz="1050" b="1" dirty="0">
                  <a:solidFill>
                    <a:srgbClr val="C1553F"/>
                  </a:solidFill>
                  <a:latin typeface="+mn-lt"/>
                  <a:ea typeface="+mn-ea"/>
                  <a:cs typeface="+mn-cs"/>
                </a:rPr>
                <a:t>（二）供应商管理</a:t>
              </a:r>
            </a:p>
          </p:txBody>
        </p:sp>
        <p:sp>
          <p:nvSpPr>
            <p:cNvPr id="24" name="TextBox 24"/>
            <p:cNvSpPr txBox="1"/>
            <p:nvPr/>
          </p:nvSpPr>
          <p:spPr>
            <a:xfrm>
              <a:off x="1141107" y="5160645"/>
              <a:ext cx="1794485"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淘汰供应商：</a:t>
              </a:r>
              <a:r>
                <a:rPr lang="zh-CN" sz="900" b="1" dirty="0">
                  <a:solidFill>
                    <a:srgbClr val="E5624C"/>
                  </a:solidFill>
                  <a:latin typeface="+mn-lt"/>
                  <a:ea typeface="+mn-ea"/>
                  <a:cs typeface="+mn-cs"/>
                </a:rPr>
                <a:t>7家</a:t>
              </a:r>
              <a:r>
                <a:rPr lang="zh-CN" sz="900" dirty="0">
                  <a:solidFill>
                    <a:srgbClr val="523F3B"/>
                  </a:solidFill>
                  <a:latin typeface="+mn-lt"/>
                  <a:ea typeface="+mn-ea"/>
                  <a:cs typeface="+mn-cs"/>
                </a:rPr>
                <a:t xml:space="preserve">　新引入：</a:t>
              </a:r>
              <a:r>
                <a:rPr lang="zh-CN" sz="900" b="1" dirty="0">
                  <a:solidFill>
                    <a:srgbClr val="E5624C"/>
                  </a:solidFill>
                  <a:latin typeface="+mn-lt"/>
                  <a:ea typeface="+mn-ea"/>
                  <a:cs typeface="+mn-cs"/>
                </a:rPr>
                <a:t>10家</a:t>
              </a:r>
            </a:p>
          </p:txBody>
        </p:sp>
        <p:sp>
          <p:nvSpPr>
            <p:cNvPr id="25" name="TextBox 25"/>
            <p:cNvSpPr txBox="1"/>
            <p:nvPr/>
          </p:nvSpPr>
          <p:spPr>
            <a:xfrm>
              <a:off x="1150480" y="5454491"/>
              <a:ext cx="177573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通过设立激励机制，鼓励供应商提高</a:t>
              </a:r>
            </a:p>
          </p:txBody>
        </p:sp>
        <p:sp>
          <p:nvSpPr>
            <p:cNvPr id="26" name="TextBox 26"/>
            <p:cNvSpPr txBox="1"/>
            <p:nvPr/>
          </p:nvSpPr>
          <p:spPr>
            <a:xfrm>
              <a:off x="1150480" y="5625941"/>
              <a:ext cx="177573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产品质量和服务水平，降低成本，共</a:t>
              </a:r>
            </a:p>
          </p:txBody>
        </p:sp>
        <p:sp>
          <p:nvSpPr>
            <p:cNvPr id="27" name="TextBox 27"/>
            <p:cNvSpPr txBox="1"/>
            <p:nvPr/>
          </p:nvSpPr>
          <p:spPr>
            <a:xfrm>
              <a:off x="1592034" y="5797391"/>
              <a:ext cx="892632"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同应对市场挑战。</a:t>
              </a:r>
            </a:p>
          </p:txBody>
        </p:sp>
      </p:grpSp>
      <p:grpSp>
        <p:nvGrpSpPr>
          <p:cNvPr id="45" name="kpt-col-p"/>
          <p:cNvGrpSpPr/>
          <p:nvPr/>
        </p:nvGrpSpPr>
        <p:grpSpPr>
          <a:xfrm>
            <a:off x="4552950" y="1238250"/>
            <a:ext cx="2933700" cy="4625816"/>
            <a:chOff x="4552950" y="1238250"/>
            <a:chExt cx="2933700" cy="4625816"/>
          </a:xfrm>
        </p:grpSpPr>
        <p:sp>
          <p:nvSpPr>
            <p:cNvPr id="29" name="Ellipse 29"/>
            <p:cNvSpPr/>
            <p:nvPr/>
          </p:nvSpPr>
          <p:spPr>
            <a:xfrm>
              <a:off x="5200650" y="1752600"/>
              <a:ext cx="1638300" cy="304800"/>
            </a:xfrm>
            <a:prstGeom prst="ellipse">
              <a:avLst/>
            </a:prstGeom>
            <a:noFill/>
            <a:ln w="19050">
              <a:solidFill>
                <a:srgbClr val="F0C0B8"/>
              </a:solidFill>
            </a:ln>
          </p:spPr>
        </p:sp>
        <p:sp>
          <p:nvSpPr>
            <p:cNvPr id="30" name="Ellipse 30"/>
            <p:cNvSpPr/>
            <p:nvPr/>
          </p:nvSpPr>
          <p:spPr>
            <a:xfrm>
              <a:off x="5562600" y="1238250"/>
              <a:ext cx="914400" cy="914400"/>
            </a:xfrm>
            <a:prstGeom prst="ellipse">
              <a:avLst/>
            </a:prstGeom>
            <a:solidFill>
              <a:srgbClr val="E5624C"/>
            </a:solidFill>
            <a:ln>
              <a:noFill/>
            </a:ln>
          </p:spPr>
        </p:sp>
        <p:sp>
          <p:nvSpPr>
            <p:cNvPr id="31" name="TextBox 31"/>
            <p:cNvSpPr txBox="1"/>
            <p:nvPr/>
          </p:nvSpPr>
          <p:spPr>
            <a:xfrm>
              <a:off x="5867499" y="1491615"/>
              <a:ext cx="304602" cy="645414"/>
            </a:xfrm>
            <a:prstGeom prst="rect">
              <a:avLst/>
            </a:prstGeom>
            <a:noFill/>
            <a:ln>
              <a:noFill/>
            </a:ln>
          </p:spPr>
          <p:txBody>
            <a:bodyPr wrap="none" lIns="0" tIns="0" rIns="0" bIns="0" anchor="t" anchorCtr="0">
              <a:spAutoFit/>
            </a:bodyPr>
            <a:lstStyle/>
            <a:p>
              <a:pPr algn="ctr"/>
              <a:r>
                <a:rPr lang="en-US" sz="3300" b="1" dirty="0">
                  <a:solidFill>
                    <a:srgbClr val="FFFFFF"/>
                  </a:solidFill>
                  <a:latin typeface="+mn-lt"/>
                  <a:ea typeface="+mn-ea"/>
                  <a:cs typeface="+mn-cs"/>
                </a:rPr>
                <a:t>P</a:t>
              </a:r>
            </a:p>
          </p:txBody>
        </p:sp>
        <p:sp>
          <p:nvSpPr>
            <p:cNvPr id="32" name="Rectangle 32"/>
            <p:cNvSpPr/>
            <p:nvPr/>
          </p:nvSpPr>
          <p:spPr>
            <a:xfrm>
              <a:off x="4972050" y="2476500"/>
              <a:ext cx="2095500" cy="285750"/>
            </a:xfrm>
            <a:prstGeom prst="roundRect">
              <a:avLst>
                <a:gd name="adj" fmla="val 20000"/>
              </a:avLst>
            </a:prstGeom>
            <a:solidFill>
              <a:srgbClr val="FBE9E4"/>
            </a:solidFill>
            <a:ln>
              <a:noFill/>
            </a:ln>
          </p:spPr>
        </p:sp>
        <p:sp>
          <p:nvSpPr>
            <p:cNvPr id="33" name="TextBox 33"/>
            <p:cNvSpPr txBox="1"/>
            <p:nvPr/>
          </p:nvSpPr>
          <p:spPr>
            <a:xfrm>
              <a:off x="5139607" y="2545556"/>
              <a:ext cx="1760385" cy="220028"/>
            </a:xfrm>
            <a:prstGeom prst="rect">
              <a:avLst/>
            </a:prstGeom>
            <a:noFill/>
            <a:ln>
              <a:noFill/>
            </a:ln>
          </p:spPr>
          <p:txBody>
            <a:bodyPr wrap="none" lIns="0" tIns="0" rIns="0" bIns="0" anchor="t" anchorCtr="0">
              <a:spAutoFit/>
            </a:bodyPr>
            <a:lstStyle/>
            <a:p>
              <a:pPr algn="ctr"/>
              <a:r>
                <a:rPr lang="zh-CN" sz="1120" b="1" dirty="0">
                  <a:solidFill>
                    <a:srgbClr val="33221F"/>
                  </a:solidFill>
                  <a:latin typeface="+mn-lt"/>
                  <a:ea typeface="+mn-ea"/>
                  <a:cs typeface="+mn-cs"/>
                </a:rPr>
                <a:t>问题和挑战（Problems）</a:t>
              </a:r>
            </a:p>
          </p:txBody>
        </p:sp>
        <p:sp>
          <p:nvSpPr>
            <p:cNvPr id="34" name="Polygon 34"/>
            <p:cNvSpPr/>
            <p:nvPr/>
          </p:nvSpPr>
          <p:spPr>
            <a:xfrm>
              <a:off x="5943600" y="2838450"/>
              <a:ext cx="152400" cy="95250"/>
            </a:xfrm>
            <a:custGeom>
              <a:avLst/>
              <a:gdLst/>
              <a:ahLst/>
              <a:cxnLst/>
              <a:rect l="l" t="t" r="r" b="b"/>
              <a:pathLst>
                <a:path w="152400" h="95250">
                  <a:moveTo>
                    <a:pt x="0" y="0"/>
                  </a:moveTo>
                  <a:lnTo>
                    <a:pt x="152400" y="0"/>
                  </a:lnTo>
                  <a:lnTo>
                    <a:pt x="76200" y="95250"/>
                  </a:lnTo>
                  <a:close/>
                </a:path>
              </a:pathLst>
            </a:custGeom>
            <a:solidFill>
              <a:srgbClr val="E5624C"/>
            </a:solidFill>
            <a:ln>
              <a:noFill/>
            </a:ln>
          </p:spPr>
        </p:sp>
        <p:sp>
          <p:nvSpPr>
            <p:cNvPr id="35" name="TextBox 35"/>
            <p:cNvSpPr txBox="1"/>
            <p:nvPr/>
          </p:nvSpPr>
          <p:spPr>
            <a:xfrm>
              <a:off x="5095684" y="3182302"/>
              <a:ext cx="1848231" cy="205359"/>
            </a:xfrm>
            <a:prstGeom prst="rect">
              <a:avLst/>
            </a:prstGeom>
            <a:noFill/>
            <a:ln>
              <a:noFill/>
            </a:ln>
          </p:spPr>
          <p:txBody>
            <a:bodyPr wrap="none" lIns="0" tIns="0" rIns="0" bIns="0" anchor="t" anchorCtr="0">
              <a:spAutoFit/>
            </a:bodyPr>
            <a:lstStyle/>
            <a:p>
              <a:pPr algn="ctr"/>
              <a:r>
                <a:rPr lang="zh-CN" sz="1050" b="1" dirty="0">
                  <a:solidFill>
                    <a:srgbClr val="E5624C"/>
                  </a:solidFill>
                  <a:latin typeface="+mn-lt"/>
                  <a:ea typeface="+mn-ea"/>
                  <a:cs typeface="+mn-cs"/>
                </a:rPr>
                <a:t>（一）市场波动影响采购成本</a:t>
              </a:r>
            </a:p>
          </p:txBody>
        </p:sp>
        <p:sp>
          <p:nvSpPr>
            <p:cNvPr id="36" name="TextBox 36"/>
            <p:cNvSpPr txBox="1"/>
            <p:nvPr/>
          </p:nvSpPr>
          <p:spPr>
            <a:xfrm>
              <a:off x="5187124" y="3473291"/>
              <a:ext cx="166535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由于市场供求关系的变化和国际原</a:t>
              </a:r>
            </a:p>
          </p:txBody>
        </p:sp>
        <p:sp>
          <p:nvSpPr>
            <p:cNvPr id="37" name="TextBox 37"/>
            <p:cNvSpPr txBox="1"/>
            <p:nvPr/>
          </p:nvSpPr>
          <p:spPr>
            <a:xfrm>
              <a:off x="5131930" y="3644741"/>
              <a:ext cx="177573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材料市场的波动，仍对采购成本造成</a:t>
              </a:r>
            </a:p>
          </p:txBody>
        </p:sp>
        <p:sp>
          <p:nvSpPr>
            <p:cNvPr id="38" name="TextBox 38"/>
            <p:cNvSpPr txBox="1"/>
            <p:nvPr/>
          </p:nvSpPr>
          <p:spPr>
            <a:xfrm>
              <a:off x="5628678" y="3816191"/>
              <a:ext cx="782244"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了一定的压力。</a:t>
              </a:r>
            </a:p>
          </p:txBody>
        </p:sp>
        <p:sp>
          <p:nvSpPr>
            <p:cNvPr id="39" name="Line 39"/>
            <p:cNvSpPr/>
            <p:nvPr/>
          </p:nvSpPr>
          <p:spPr>
            <a:xfrm>
              <a:off x="4552950" y="4610100"/>
              <a:ext cx="2933700" cy="9525"/>
            </a:xfrm>
            <a:custGeom>
              <a:avLst/>
              <a:gdLst/>
              <a:ahLst/>
              <a:cxnLst/>
              <a:rect l="l" t="t" r="r" b="b"/>
              <a:pathLst>
                <a:path w="2933700" h="9525">
                  <a:moveTo>
                    <a:pt x="0" y="0"/>
                  </a:moveTo>
                  <a:lnTo>
                    <a:pt x="2933700" y="0"/>
                  </a:lnTo>
                </a:path>
              </a:pathLst>
            </a:custGeom>
            <a:noFill/>
            <a:ln w="19050">
              <a:solidFill>
                <a:srgbClr val="FBE9E4"/>
              </a:solidFill>
            </a:ln>
          </p:spPr>
        </p:sp>
        <p:sp>
          <p:nvSpPr>
            <p:cNvPr id="40" name="TextBox 40"/>
            <p:cNvSpPr txBox="1"/>
            <p:nvPr/>
          </p:nvSpPr>
          <p:spPr>
            <a:xfrm>
              <a:off x="5237036" y="4877752"/>
              <a:ext cx="1565529" cy="205359"/>
            </a:xfrm>
            <a:prstGeom prst="rect">
              <a:avLst/>
            </a:prstGeom>
            <a:noFill/>
            <a:ln>
              <a:noFill/>
            </a:ln>
          </p:spPr>
          <p:txBody>
            <a:bodyPr wrap="none" lIns="0" tIns="0" rIns="0" bIns="0" anchor="t" anchorCtr="0">
              <a:spAutoFit/>
            </a:bodyPr>
            <a:lstStyle/>
            <a:p>
              <a:pPr algn="ctr"/>
              <a:r>
                <a:rPr lang="zh-CN" sz="1050" b="1" dirty="0">
                  <a:solidFill>
                    <a:srgbClr val="E5624C"/>
                  </a:solidFill>
                  <a:latin typeface="+mn-lt"/>
                  <a:ea typeface="+mn-ea"/>
                  <a:cs typeface="+mn-cs"/>
                </a:rPr>
                <a:t>（二）内部沟通协调不畅</a:t>
              </a:r>
            </a:p>
          </p:txBody>
        </p:sp>
        <p:sp>
          <p:nvSpPr>
            <p:cNvPr id="41" name="TextBox 41"/>
            <p:cNvSpPr txBox="1"/>
            <p:nvPr/>
          </p:nvSpPr>
          <p:spPr>
            <a:xfrm>
              <a:off x="5131930" y="5187791"/>
              <a:ext cx="177573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在新设备采购项目中，技术部门和使</a:t>
              </a:r>
            </a:p>
          </p:txBody>
        </p:sp>
        <p:sp>
          <p:nvSpPr>
            <p:cNvPr id="42" name="TextBox 42"/>
            <p:cNvSpPr txBox="1"/>
            <p:nvPr/>
          </p:nvSpPr>
          <p:spPr>
            <a:xfrm>
              <a:off x="5131930" y="5359241"/>
              <a:ext cx="177573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用部门之间在设备规格等方面存在分</a:t>
              </a:r>
            </a:p>
          </p:txBody>
        </p:sp>
        <p:sp>
          <p:nvSpPr>
            <p:cNvPr id="43" name="TextBox 43"/>
            <p:cNvSpPr txBox="1"/>
            <p:nvPr/>
          </p:nvSpPr>
          <p:spPr>
            <a:xfrm>
              <a:off x="5131930" y="5530691"/>
              <a:ext cx="177573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歧，未能及时达成一致意见，影响了</a:t>
              </a:r>
            </a:p>
          </p:txBody>
        </p:sp>
        <p:sp>
          <p:nvSpPr>
            <p:cNvPr id="44" name="TextBox 44"/>
            <p:cNvSpPr txBox="1"/>
            <p:nvPr/>
          </p:nvSpPr>
          <p:spPr>
            <a:xfrm>
              <a:off x="5518290" y="5702141"/>
              <a:ext cx="100302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项目的进度和质量。</a:t>
              </a:r>
            </a:p>
          </p:txBody>
        </p:sp>
      </p:grpSp>
      <p:grpSp>
        <p:nvGrpSpPr>
          <p:cNvPr id="63" name="kpt-col-t"/>
          <p:cNvGrpSpPr/>
          <p:nvPr/>
        </p:nvGrpSpPr>
        <p:grpSpPr>
          <a:xfrm>
            <a:off x="8515350" y="1238250"/>
            <a:ext cx="2933700" cy="4625816"/>
            <a:chOff x="8515350" y="1238250"/>
            <a:chExt cx="2933700" cy="4625816"/>
          </a:xfrm>
        </p:grpSpPr>
        <p:sp>
          <p:nvSpPr>
            <p:cNvPr id="46" name="Ellipse 46"/>
            <p:cNvSpPr/>
            <p:nvPr/>
          </p:nvSpPr>
          <p:spPr>
            <a:xfrm>
              <a:off x="9163050" y="1752600"/>
              <a:ext cx="1638300" cy="304800"/>
            </a:xfrm>
            <a:prstGeom prst="ellipse">
              <a:avLst/>
            </a:prstGeom>
            <a:noFill/>
            <a:ln w="19050">
              <a:solidFill>
                <a:srgbClr val="C9CFEA"/>
              </a:solidFill>
            </a:ln>
          </p:spPr>
        </p:sp>
        <p:sp>
          <p:nvSpPr>
            <p:cNvPr id="47" name="Ellipse 47"/>
            <p:cNvSpPr/>
            <p:nvPr/>
          </p:nvSpPr>
          <p:spPr>
            <a:xfrm>
              <a:off x="9525000" y="1238250"/>
              <a:ext cx="914400" cy="914400"/>
            </a:xfrm>
            <a:prstGeom prst="ellipse">
              <a:avLst/>
            </a:prstGeom>
            <a:solidFill>
              <a:srgbClr val="C96E5B"/>
            </a:solidFill>
            <a:ln>
              <a:noFill/>
            </a:ln>
          </p:spPr>
        </p:sp>
        <p:sp>
          <p:nvSpPr>
            <p:cNvPr id="48" name="TextBox 48"/>
            <p:cNvSpPr txBox="1"/>
            <p:nvPr/>
          </p:nvSpPr>
          <p:spPr>
            <a:xfrm>
              <a:off x="9829899" y="1491615"/>
              <a:ext cx="304602" cy="645414"/>
            </a:xfrm>
            <a:prstGeom prst="rect">
              <a:avLst/>
            </a:prstGeom>
            <a:noFill/>
            <a:ln>
              <a:noFill/>
            </a:ln>
          </p:spPr>
          <p:txBody>
            <a:bodyPr wrap="none" lIns="0" tIns="0" rIns="0" bIns="0" anchor="t" anchorCtr="0">
              <a:spAutoFit/>
            </a:bodyPr>
            <a:lstStyle/>
            <a:p>
              <a:pPr algn="ctr"/>
              <a:r>
                <a:rPr lang="en-US" sz="3300" b="1" dirty="0">
                  <a:solidFill>
                    <a:srgbClr val="FFFFFF"/>
                  </a:solidFill>
                  <a:latin typeface="+mn-lt"/>
                  <a:ea typeface="+mn-ea"/>
                  <a:cs typeface="+mn-cs"/>
                </a:rPr>
                <a:t>T</a:t>
              </a:r>
            </a:p>
          </p:txBody>
        </p:sp>
        <p:sp>
          <p:nvSpPr>
            <p:cNvPr id="49" name="Rectangle 49"/>
            <p:cNvSpPr/>
            <p:nvPr/>
          </p:nvSpPr>
          <p:spPr>
            <a:xfrm>
              <a:off x="8934450" y="2476500"/>
              <a:ext cx="2095500" cy="285750"/>
            </a:xfrm>
            <a:prstGeom prst="roundRect">
              <a:avLst>
                <a:gd name="adj" fmla="val 20000"/>
              </a:avLst>
            </a:prstGeom>
            <a:solidFill>
              <a:srgbClr val="EEF0FB"/>
            </a:solidFill>
            <a:ln>
              <a:noFill/>
            </a:ln>
          </p:spPr>
        </p:sp>
        <p:sp>
          <p:nvSpPr>
            <p:cNvPr id="50" name="TextBox 50"/>
            <p:cNvSpPr txBox="1"/>
            <p:nvPr/>
          </p:nvSpPr>
          <p:spPr>
            <a:xfrm>
              <a:off x="9240315" y="2545556"/>
              <a:ext cx="1483770" cy="220028"/>
            </a:xfrm>
            <a:prstGeom prst="rect">
              <a:avLst/>
            </a:prstGeom>
            <a:noFill/>
            <a:ln>
              <a:noFill/>
            </a:ln>
          </p:spPr>
          <p:txBody>
            <a:bodyPr wrap="none" lIns="0" tIns="0" rIns="0" bIns="0" anchor="t" anchorCtr="0">
              <a:spAutoFit/>
            </a:bodyPr>
            <a:lstStyle/>
            <a:p>
              <a:pPr algn="ctr"/>
              <a:r>
                <a:rPr lang="zh-CN" sz="1120" b="1" dirty="0">
                  <a:solidFill>
                    <a:srgbClr val="33221F"/>
                  </a:solidFill>
                  <a:latin typeface="+mn-lt"/>
                  <a:ea typeface="+mn-ea"/>
                  <a:cs typeface="+mn-cs"/>
                </a:rPr>
                <a:t>未来努力方向（Try）</a:t>
              </a:r>
            </a:p>
          </p:txBody>
        </p:sp>
        <p:sp>
          <p:nvSpPr>
            <p:cNvPr id="51" name="Polygon 51"/>
            <p:cNvSpPr/>
            <p:nvPr/>
          </p:nvSpPr>
          <p:spPr>
            <a:xfrm>
              <a:off x="9906000" y="2838450"/>
              <a:ext cx="152400" cy="95250"/>
            </a:xfrm>
            <a:custGeom>
              <a:avLst/>
              <a:gdLst/>
              <a:ahLst/>
              <a:cxnLst/>
              <a:rect l="l" t="t" r="r" b="b"/>
              <a:pathLst>
                <a:path w="152400" h="95250">
                  <a:moveTo>
                    <a:pt x="0" y="0"/>
                  </a:moveTo>
                  <a:lnTo>
                    <a:pt x="152400" y="0"/>
                  </a:lnTo>
                  <a:lnTo>
                    <a:pt x="76200" y="95250"/>
                  </a:lnTo>
                  <a:close/>
                </a:path>
              </a:pathLst>
            </a:custGeom>
            <a:solidFill>
              <a:srgbClr val="C96E5B"/>
            </a:solidFill>
            <a:ln>
              <a:noFill/>
            </a:ln>
          </p:spPr>
        </p:sp>
        <p:sp>
          <p:nvSpPr>
            <p:cNvPr id="52" name="TextBox 52"/>
            <p:cNvSpPr txBox="1"/>
            <p:nvPr/>
          </p:nvSpPr>
          <p:spPr>
            <a:xfrm>
              <a:off x="9270111" y="3182302"/>
              <a:ext cx="1424178" cy="205359"/>
            </a:xfrm>
            <a:prstGeom prst="rect">
              <a:avLst/>
            </a:prstGeom>
            <a:noFill/>
            <a:ln>
              <a:noFill/>
            </a:ln>
          </p:spPr>
          <p:txBody>
            <a:bodyPr wrap="none" lIns="0" tIns="0" rIns="0" bIns="0" anchor="t" anchorCtr="0">
              <a:spAutoFit/>
            </a:bodyPr>
            <a:lstStyle/>
            <a:p>
              <a:pPr algn="ctr"/>
              <a:r>
                <a:rPr lang="zh-CN" sz="1050" b="1" dirty="0">
                  <a:solidFill>
                    <a:srgbClr val="C96E5B"/>
                  </a:solidFill>
                  <a:latin typeface="+mn-lt"/>
                  <a:ea typeface="+mn-ea"/>
                  <a:cs typeface="+mn-cs"/>
                </a:rPr>
                <a:t>（一）多元化采购渠道</a:t>
              </a:r>
            </a:p>
          </p:txBody>
        </p:sp>
        <p:sp>
          <p:nvSpPr>
            <p:cNvPr id="53" name="TextBox 53"/>
            <p:cNvSpPr txBox="1"/>
            <p:nvPr/>
          </p:nvSpPr>
          <p:spPr>
            <a:xfrm>
              <a:off x="9149524" y="3473291"/>
              <a:ext cx="1665351" cy="161925"/>
            </a:xfrm>
            <a:prstGeom prst="rect">
              <a:avLst/>
            </a:prstGeom>
            <a:noFill/>
            <a:ln>
              <a:noFill/>
            </a:ln>
          </p:spPr>
          <p:txBody>
            <a:bodyPr wrap="none" lIns="0" tIns="0" rIns="0" bIns="0" anchor="t" anchorCtr="0">
              <a:spAutoFit/>
            </a:bodyPr>
            <a:lstStyle/>
            <a:p>
              <a:pPr algn="ctr"/>
              <a:r>
                <a:rPr lang="zh-CN" sz="820" dirty="0">
                  <a:solidFill>
                    <a:srgbClr val="E0B3AA"/>
                  </a:solidFill>
                  <a:latin typeface="+mn-lt"/>
                  <a:ea typeface="+mn-ea"/>
                  <a:cs typeface="+mn-cs"/>
                </a:rPr>
                <a:t>积极拓展采购渠道</a:t>
              </a:r>
              <a:r>
                <a:rPr lang="zh-CN" sz="820" dirty="0">
                  <a:solidFill>
                    <a:srgbClr val="705F5B"/>
                  </a:solidFill>
                  <a:latin typeface="+mn-lt"/>
                  <a:ea typeface="+mn-ea"/>
                  <a:cs typeface="+mn-cs"/>
                </a:rPr>
                <a:t>，降低对单一供</a:t>
              </a:r>
            </a:p>
          </p:txBody>
        </p:sp>
        <p:sp>
          <p:nvSpPr>
            <p:cNvPr id="54" name="TextBox 54"/>
            <p:cNvSpPr txBox="1"/>
            <p:nvPr/>
          </p:nvSpPr>
          <p:spPr>
            <a:xfrm>
              <a:off x="9149524" y="3644741"/>
              <a:ext cx="166535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应商或地区的依赖程度。寻找国内</a:t>
              </a:r>
            </a:p>
          </p:txBody>
        </p:sp>
        <p:sp>
          <p:nvSpPr>
            <p:cNvPr id="55" name="TextBox 55"/>
            <p:cNvSpPr txBox="1"/>
            <p:nvPr/>
          </p:nvSpPr>
          <p:spPr>
            <a:xfrm>
              <a:off x="9149524" y="3816191"/>
              <a:ext cx="166535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外更多优质的供应商，建立供应商</a:t>
              </a:r>
            </a:p>
          </p:txBody>
        </p:sp>
        <p:sp>
          <p:nvSpPr>
            <p:cNvPr id="56" name="TextBox 56"/>
            <p:cNvSpPr txBox="1"/>
            <p:nvPr/>
          </p:nvSpPr>
          <p:spPr>
            <a:xfrm>
              <a:off x="9811855" y="3987641"/>
              <a:ext cx="340690"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储备库</a:t>
              </a:r>
            </a:p>
          </p:txBody>
        </p:sp>
        <p:sp>
          <p:nvSpPr>
            <p:cNvPr id="57" name="Line 57"/>
            <p:cNvSpPr/>
            <p:nvPr/>
          </p:nvSpPr>
          <p:spPr>
            <a:xfrm>
              <a:off x="8515350" y="4610100"/>
              <a:ext cx="2933700" cy="9525"/>
            </a:xfrm>
            <a:custGeom>
              <a:avLst/>
              <a:gdLst/>
              <a:ahLst/>
              <a:cxnLst/>
              <a:rect l="l" t="t" r="r" b="b"/>
              <a:pathLst>
                <a:path w="2933700" h="9525">
                  <a:moveTo>
                    <a:pt x="0" y="0"/>
                  </a:moveTo>
                  <a:lnTo>
                    <a:pt x="2933700" y="0"/>
                  </a:lnTo>
                </a:path>
              </a:pathLst>
            </a:custGeom>
            <a:noFill/>
            <a:ln w="19050">
              <a:solidFill>
                <a:srgbClr val="EEF0FB"/>
              </a:solidFill>
            </a:ln>
          </p:spPr>
        </p:sp>
        <p:sp>
          <p:nvSpPr>
            <p:cNvPr id="58" name="TextBox 58"/>
            <p:cNvSpPr txBox="1"/>
            <p:nvPr/>
          </p:nvSpPr>
          <p:spPr>
            <a:xfrm>
              <a:off x="9128760" y="4877752"/>
              <a:ext cx="1706880" cy="205359"/>
            </a:xfrm>
            <a:prstGeom prst="rect">
              <a:avLst/>
            </a:prstGeom>
            <a:noFill/>
            <a:ln>
              <a:noFill/>
            </a:ln>
          </p:spPr>
          <p:txBody>
            <a:bodyPr wrap="none" lIns="0" tIns="0" rIns="0" bIns="0" anchor="t" anchorCtr="0">
              <a:spAutoFit/>
            </a:bodyPr>
            <a:lstStyle/>
            <a:p>
              <a:pPr algn="ctr"/>
              <a:r>
                <a:rPr lang="zh-CN" sz="1050" b="1" dirty="0">
                  <a:solidFill>
                    <a:srgbClr val="C96E5B"/>
                  </a:solidFill>
                  <a:latin typeface="+mn-lt"/>
                  <a:ea typeface="+mn-ea"/>
                  <a:cs typeface="+mn-cs"/>
                </a:rPr>
                <a:t>（二）建立有效的沟通机制</a:t>
              </a:r>
            </a:p>
          </p:txBody>
        </p:sp>
        <p:sp>
          <p:nvSpPr>
            <p:cNvPr id="59" name="TextBox 59"/>
            <p:cNvSpPr txBox="1"/>
            <p:nvPr/>
          </p:nvSpPr>
          <p:spPr>
            <a:xfrm>
              <a:off x="9149524" y="5187791"/>
              <a:ext cx="1665351" cy="161925"/>
            </a:xfrm>
            <a:prstGeom prst="rect">
              <a:avLst/>
            </a:prstGeom>
            <a:noFill/>
            <a:ln>
              <a:noFill/>
            </a:ln>
          </p:spPr>
          <p:txBody>
            <a:bodyPr wrap="none" lIns="0" tIns="0" rIns="0" bIns="0" anchor="t" anchorCtr="0">
              <a:spAutoFit/>
            </a:bodyPr>
            <a:lstStyle/>
            <a:p>
              <a:pPr algn="ctr"/>
              <a:r>
                <a:rPr lang="zh-CN" sz="820" dirty="0">
                  <a:solidFill>
                    <a:srgbClr val="E0B3AA"/>
                  </a:solidFill>
                  <a:latin typeface="+mn-lt"/>
                  <a:ea typeface="+mn-ea"/>
                  <a:cs typeface="+mn-cs"/>
                </a:rPr>
                <a:t>定期召开采购协调会议</a:t>
              </a:r>
              <a:r>
                <a:rPr lang="zh-CN" sz="820" dirty="0">
                  <a:solidFill>
                    <a:srgbClr val="705F5B"/>
                  </a:solidFill>
                  <a:latin typeface="+mn-lt"/>
                  <a:ea typeface="+mn-ea"/>
                  <a:cs typeface="+mn-cs"/>
                </a:rPr>
                <a:t>，就采购需</a:t>
              </a:r>
            </a:p>
          </p:txBody>
        </p:sp>
        <p:sp>
          <p:nvSpPr>
            <p:cNvPr id="60" name="TextBox 60"/>
            <p:cNvSpPr txBox="1"/>
            <p:nvPr/>
          </p:nvSpPr>
          <p:spPr>
            <a:xfrm>
              <a:off x="9094330" y="5359241"/>
              <a:ext cx="177573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求、计划变更、项目进展等情况进行</a:t>
              </a:r>
            </a:p>
          </p:txBody>
        </p:sp>
        <p:sp>
          <p:nvSpPr>
            <p:cNvPr id="61" name="TextBox 61"/>
            <p:cNvSpPr txBox="1"/>
            <p:nvPr/>
          </p:nvSpPr>
          <p:spPr>
            <a:xfrm>
              <a:off x="9094330" y="5530691"/>
              <a:ext cx="177573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沟通交流，及时解决问题，避免信息</a:t>
              </a:r>
            </a:p>
          </p:txBody>
        </p:sp>
        <p:sp>
          <p:nvSpPr>
            <p:cNvPr id="62" name="TextBox 62"/>
            <p:cNvSpPr txBox="1"/>
            <p:nvPr/>
          </p:nvSpPr>
          <p:spPr>
            <a:xfrm>
              <a:off x="9370301" y="5702141"/>
              <a:ext cx="1223797"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不对称导致的工作失误。</a:t>
              </a:r>
            </a:p>
          </p:txBody>
        </p:sp>
      </p:gr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ash-left"/>
          <p:cNvSpPr/>
          <p:nvPr/>
        </p:nvSpPr>
        <p:spPr>
          <a:xfrm>
            <a:off x="0" y="1047750"/>
            <a:ext cx="4095750" cy="5143500"/>
          </a:xfrm>
          <a:custGeom>
            <a:avLst/>
            <a:gdLst/>
            <a:ahLst/>
            <a:cxnLst/>
            <a:rect l="l" t="t" r="r" b="b"/>
            <a:pathLst>
              <a:path w="4095750" h="5143500">
                <a:moveTo>
                  <a:pt x="0" y="0"/>
                </a:moveTo>
                <a:lnTo>
                  <a:pt x="4095750" y="2571750"/>
                </a:lnTo>
                <a:lnTo>
                  <a:pt x="0" y="5143500"/>
                </a:lnTo>
                <a:close/>
              </a:path>
            </a:pathLst>
          </a:custGeom>
          <a:solidFill>
            <a:srgbClr val="FDF2EF"/>
          </a:solidFill>
          <a:ln>
            <a:noFill/>
          </a:ln>
        </p:spPr>
      </p:sp>
      <p:sp>
        <p:nvSpPr>
          <p:cNvPr id="3" name="wash-right"/>
          <p:cNvSpPr/>
          <p:nvPr/>
        </p:nvSpPr>
        <p:spPr>
          <a:xfrm>
            <a:off x="8096250" y="1047750"/>
            <a:ext cx="4095750" cy="5143500"/>
          </a:xfrm>
          <a:custGeom>
            <a:avLst/>
            <a:gdLst/>
            <a:ahLst/>
            <a:cxnLst/>
            <a:rect l="l" t="t" r="r" b="b"/>
            <a:pathLst>
              <a:path w="4095750" h="5143500">
                <a:moveTo>
                  <a:pt x="4095750" y="0"/>
                </a:moveTo>
                <a:lnTo>
                  <a:pt x="0" y="2571750"/>
                </a:lnTo>
                <a:lnTo>
                  <a:pt x="4095750" y="5143500"/>
                </a:lnTo>
                <a:close/>
              </a:path>
            </a:pathLst>
          </a:custGeom>
          <a:solidFill>
            <a:srgbClr val="EEF0FB"/>
          </a:solidFill>
          <a:ln>
            <a:noFill/>
          </a:ln>
        </p:spPr>
      </p:sp>
      <p:sp>
        <p:nvSpPr>
          <p:cNvPr id="4" name="wash-center"/>
          <p:cNvSpPr/>
          <p:nvPr/>
        </p:nvSpPr>
        <p:spPr>
          <a:xfrm>
            <a:off x="4191000" y="1809750"/>
            <a:ext cx="3810000" cy="3714750"/>
          </a:xfrm>
          <a:custGeom>
            <a:avLst/>
            <a:gdLst/>
            <a:ahLst/>
            <a:cxnLst/>
            <a:rect l="l" t="t" r="r" b="b"/>
            <a:pathLst>
              <a:path w="3810000" h="3714750">
                <a:moveTo>
                  <a:pt x="0" y="0"/>
                </a:moveTo>
                <a:lnTo>
                  <a:pt x="3810000" y="0"/>
                </a:lnTo>
                <a:lnTo>
                  <a:pt x="3429000" y="3714750"/>
                </a:lnTo>
                <a:lnTo>
                  <a:pt x="381000" y="3714750"/>
                </a:lnTo>
                <a:close/>
              </a:path>
            </a:pathLst>
          </a:custGeom>
          <a:solidFill>
            <a:srgbClr val="F6F7FC"/>
          </a:solidFill>
          <a:ln>
            <a:noFill/>
          </a:ln>
        </p:spPr>
      </p:sp>
      <p:grpSp>
        <p:nvGrpSpPr>
          <p:cNvPr id="7" name="page-header"/>
          <p:cNvGrpSpPr/>
          <p:nvPr/>
        </p:nvGrpSpPr>
        <p:grpSpPr>
          <a:xfrm>
            <a:off x="302895" y="214312"/>
            <a:ext cx="1633347" cy="440055"/>
            <a:chOff x="302895" y="214312"/>
            <a:chExt cx="1633347" cy="440055"/>
          </a:xfrm>
        </p:grpSpPr>
        <p:sp>
          <p:nvSpPr>
            <p:cNvPr id="5" name="TextBox 5"/>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32.​</a:t>
              </a:r>
            </a:p>
          </p:txBody>
        </p:sp>
        <p:sp>
          <p:nvSpPr>
            <p:cNvPr id="6" name="TextBox 6"/>
            <p:cNvSpPr txBox="1"/>
            <p:nvPr/>
          </p:nvSpPr>
          <p:spPr>
            <a:xfrm>
              <a:off x="866394" y="246698"/>
              <a:ext cx="1069848"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营销方案</a:t>
              </a:r>
            </a:p>
          </p:txBody>
        </p:sp>
      </p:grpSp>
      <p:grpSp>
        <p:nvGrpSpPr>
          <p:cNvPr id="19" name="center-engines"/>
          <p:cNvGrpSpPr/>
          <p:nvPr/>
        </p:nvGrpSpPr>
        <p:grpSpPr>
          <a:xfrm>
            <a:off x="4514850" y="2042160"/>
            <a:ext cx="3162300" cy="3339846"/>
            <a:chOff x="4514850" y="2042160"/>
            <a:chExt cx="3162300" cy="3339846"/>
          </a:xfrm>
        </p:grpSpPr>
        <p:sp>
          <p:nvSpPr>
            <p:cNvPr id="8" name="TextBox 8"/>
            <p:cNvSpPr txBox="1"/>
            <p:nvPr/>
          </p:nvSpPr>
          <p:spPr>
            <a:xfrm>
              <a:off x="5439491" y="2042160"/>
              <a:ext cx="1313017" cy="234696"/>
            </a:xfrm>
            <a:prstGeom prst="rect">
              <a:avLst/>
            </a:prstGeom>
            <a:noFill/>
            <a:ln>
              <a:noFill/>
            </a:ln>
          </p:spPr>
          <p:txBody>
            <a:bodyPr wrap="none" lIns="0" tIns="0" rIns="0" bIns="0" anchor="t" anchorCtr="0">
              <a:spAutoFit/>
            </a:bodyPr>
            <a:lstStyle/>
            <a:p>
              <a:pPr algn="ctr"/>
              <a:r>
                <a:rPr lang="zh-CN" sz="1200" b="1" dirty="0">
                  <a:solidFill>
                    <a:srgbClr val="C1553F"/>
                  </a:solidFill>
                  <a:latin typeface="+mn-lt"/>
                  <a:ea typeface="+mn-ea"/>
                  <a:cs typeface="+mn-cs"/>
                </a:rPr>
                <a:t>KOL联合加速信息</a:t>
              </a:r>
            </a:p>
          </p:txBody>
        </p:sp>
        <p:sp>
          <p:nvSpPr>
            <p:cNvPr id="9" name="TextBox 9"/>
            <p:cNvSpPr txBox="1"/>
            <p:nvPr/>
          </p:nvSpPr>
          <p:spPr>
            <a:xfrm>
              <a:off x="5282184" y="2289810"/>
              <a:ext cx="1627632" cy="234696"/>
            </a:xfrm>
            <a:prstGeom prst="rect">
              <a:avLst/>
            </a:prstGeom>
            <a:noFill/>
            <a:ln>
              <a:noFill/>
            </a:ln>
          </p:spPr>
          <p:txBody>
            <a:bodyPr wrap="none" lIns="0" tIns="0" rIns="0" bIns="0" anchor="t" anchorCtr="0">
              <a:spAutoFit/>
            </a:bodyPr>
            <a:lstStyle/>
            <a:p>
              <a:pPr algn="ctr"/>
              <a:r>
                <a:rPr lang="zh-CN" sz="1200" b="1" dirty="0">
                  <a:solidFill>
                    <a:srgbClr val="C1553F"/>
                  </a:solidFill>
                  <a:latin typeface="+mn-lt"/>
                  <a:ea typeface="+mn-ea"/>
                  <a:cs typeface="+mn-cs"/>
                </a:rPr>
                <a:t>传播助力内容出圈破圈</a:t>
              </a:r>
            </a:p>
          </p:txBody>
        </p:sp>
        <p:sp>
          <p:nvSpPr>
            <p:cNvPr id="10" name="Ellipse 10"/>
            <p:cNvSpPr/>
            <p:nvPr/>
          </p:nvSpPr>
          <p:spPr>
            <a:xfrm>
              <a:off x="4514850" y="2838450"/>
              <a:ext cx="1562100" cy="1562100"/>
            </a:xfrm>
            <a:prstGeom prst="ellipse">
              <a:avLst/>
            </a:prstGeom>
            <a:gradFill>
              <a:gsLst>
                <a:gs pos="0">
                  <a:srgbClr val="F0998A"/>
                </a:gs>
                <a:gs pos="100000">
                  <a:srgbClr val="E5624C"/>
                </a:gs>
              </a:gsLst>
              <a:lin ang="2700000" scaled="1"/>
            </a:gradFill>
            <a:ln>
              <a:noFill/>
            </a:ln>
          </p:spPr>
        </p:sp>
        <p:sp>
          <p:nvSpPr>
            <p:cNvPr id="11" name="TextBox 11"/>
            <p:cNvSpPr txBox="1"/>
            <p:nvPr/>
          </p:nvSpPr>
          <p:spPr>
            <a:xfrm>
              <a:off x="5117109" y="3443764"/>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品牌</a:t>
              </a:r>
            </a:p>
          </p:txBody>
        </p:sp>
        <p:sp>
          <p:nvSpPr>
            <p:cNvPr id="12" name="TextBox 12"/>
            <p:cNvSpPr txBox="1"/>
            <p:nvPr/>
          </p:nvSpPr>
          <p:spPr>
            <a:xfrm>
              <a:off x="4944796" y="3672364"/>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资源管理</a:t>
              </a:r>
            </a:p>
          </p:txBody>
        </p:sp>
        <p:sp>
          <p:nvSpPr>
            <p:cNvPr id="13" name="TextBox 13"/>
            <p:cNvSpPr txBox="1"/>
            <p:nvPr/>
          </p:nvSpPr>
          <p:spPr>
            <a:xfrm>
              <a:off x="5950960" y="3396615"/>
              <a:ext cx="290080" cy="645414"/>
            </a:xfrm>
            <a:prstGeom prst="rect">
              <a:avLst/>
            </a:prstGeom>
            <a:noFill/>
            <a:ln>
              <a:noFill/>
            </a:ln>
          </p:spPr>
          <p:txBody>
            <a:bodyPr wrap="none" lIns="0" tIns="0" rIns="0" bIns="0" anchor="t" anchorCtr="0">
              <a:spAutoFit/>
            </a:bodyPr>
            <a:lstStyle/>
            <a:p>
              <a:pPr algn="ctr"/>
              <a:r>
                <a:rPr lang="zh-CN" sz="3300" b="1" dirty="0">
                  <a:solidFill>
                    <a:srgbClr val="D47D6B"/>
                  </a:solidFill>
                  <a:latin typeface="+mn-lt"/>
                  <a:ea typeface="+mn-ea"/>
                  <a:cs typeface="+mn-cs"/>
                </a:rPr>
                <a:t>+</a:t>
              </a:r>
            </a:p>
          </p:txBody>
        </p:sp>
        <p:sp>
          <p:nvSpPr>
            <p:cNvPr id="14" name="Ellipse 14"/>
            <p:cNvSpPr/>
            <p:nvPr/>
          </p:nvSpPr>
          <p:spPr>
            <a:xfrm>
              <a:off x="6115050" y="2838450"/>
              <a:ext cx="1562100" cy="1562100"/>
            </a:xfrm>
            <a:prstGeom prst="ellipse">
              <a:avLst/>
            </a:prstGeom>
            <a:gradFill>
              <a:gsLst>
                <a:gs pos="0">
                  <a:srgbClr val="CE897B"/>
                </a:gs>
                <a:gs pos="100000">
                  <a:srgbClr val="C1553F"/>
                </a:gs>
              </a:gsLst>
              <a:lin ang="2700000" scaled="1"/>
            </a:gradFill>
            <a:ln>
              <a:noFill/>
            </a:ln>
          </p:spPr>
        </p:sp>
        <p:sp>
          <p:nvSpPr>
            <p:cNvPr id="15" name="TextBox 15"/>
            <p:cNvSpPr txBox="1"/>
            <p:nvPr/>
          </p:nvSpPr>
          <p:spPr>
            <a:xfrm>
              <a:off x="6717309" y="3443764"/>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爆款</a:t>
              </a:r>
            </a:p>
          </p:txBody>
        </p:sp>
        <p:sp>
          <p:nvSpPr>
            <p:cNvPr id="16" name="TextBox 16"/>
            <p:cNvSpPr txBox="1"/>
            <p:nvPr/>
          </p:nvSpPr>
          <p:spPr>
            <a:xfrm>
              <a:off x="6544996" y="3672364"/>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话题制作</a:t>
              </a:r>
            </a:p>
          </p:txBody>
        </p:sp>
        <p:sp>
          <p:nvSpPr>
            <p:cNvPr id="17" name="TextBox 17"/>
            <p:cNvSpPr txBox="1"/>
            <p:nvPr/>
          </p:nvSpPr>
          <p:spPr>
            <a:xfrm>
              <a:off x="5605272" y="4899660"/>
              <a:ext cx="981456" cy="234696"/>
            </a:xfrm>
            <a:prstGeom prst="rect">
              <a:avLst/>
            </a:prstGeom>
            <a:noFill/>
            <a:ln>
              <a:noFill/>
            </a:ln>
          </p:spPr>
          <p:txBody>
            <a:bodyPr wrap="none" lIns="0" tIns="0" rIns="0" bIns="0" anchor="t" anchorCtr="0">
              <a:spAutoFit/>
            </a:bodyPr>
            <a:lstStyle/>
            <a:p>
              <a:pPr algn="ctr"/>
              <a:r>
                <a:rPr lang="zh-CN" sz="1200" b="1" dirty="0">
                  <a:solidFill>
                    <a:srgbClr val="E5624C"/>
                  </a:solidFill>
                  <a:latin typeface="+mn-lt"/>
                  <a:ea typeface="+mn-ea"/>
                  <a:cs typeface="+mn-cs"/>
                </a:rPr>
                <a:t>抢占内容蓝海</a:t>
              </a:r>
            </a:p>
          </p:txBody>
        </p:sp>
        <p:sp>
          <p:nvSpPr>
            <p:cNvPr id="18" name="TextBox 18"/>
            <p:cNvSpPr txBox="1"/>
            <p:nvPr/>
          </p:nvSpPr>
          <p:spPr>
            <a:xfrm>
              <a:off x="5282184" y="5147310"/>
              <a:ext cx="1627632" cy="234696"/>
            </a:xfrm>
            <a:prstGeom prst="rect">
              <a:avLst/>
            </a:prstGeom>
            <a:noFill/>
            <a:ln>
              <a:noFill/>
            </a:ln>
          </p:spPr>
          <p:txBody>
            <a:bodyPr wrap="none" lIns="0" tIns="0" rIns="0" bIns="0" anchor="t" anchorCtr="0">
              <a:spAutoFit/>
            </a:bodyPr>
            <a:lstStyle/>
            <a:p>
              <a:pPr algn="ctr"/>
              <a:r>
                <a:rPr lang="zh-CN" sz="1200" b="1" dirty="0">
                  <a:solidFill>
                    <a:srgbClr val="E5624C"/>
                  </a:solidFill>
                  <a:latin typeface="+mn-lt"/>
                  <a:ea typeface="+mn-ea"/>
                  <a:cs typeface="+mn-cs"/>
                </a:rPr>
                <a:t>承接日常流量铺垫种草</a:t>
              </a:r>
            </a:p>
          </p:txBody>
        </p:sp>
      </p:grpSp>
      <p:grpSp>
        <p:nvGrpSpPr>
          <p:cNvPr id="41" name="left-flow"/>
          <p:cNvGrpSpPr/>
          <p:nvPr/>
        </p:nvGrpSpPr>
        <p:grpSpPr>
          <a:xfrm>
            <a:off x="285750" y="2000250"/>
            <a:ext cx="3524250" cy="3248025"/>
            <a:chOff x="285750" y="2000250"/>
            <a:chExt cx="3524250" cy="3248025"/>
          </a:xfrm>
        </p:grpSpPr>
        <p:sp>
          <p:nvSpPr>
            <p:cNvPr id="20" name="Rectangle 20"/>
            <p:cNvSpPr/>
            <p:nvPr/>
          </p:nvSpPr>
          <p:spPr>
            <a:xfrm>
              <a:off x="762000" y="2000250"/>
              <a:ext cx="1905000" cy="285750"/>
            </a:xfrm>
            <a:prstGeom prst="rect">
              <a:avLst/>
            </a:prstGeom>
            <a:solidFill>
              <a:srgbClr val="FFFFFF"/>
            </a:solidFill>
            <a:ln w="9525">
              <a:solidFill>
                <a:srgbClr val="C9CFEA"/>
              </a:solidFill>
            </a:ln>
          </p:spPr>
        </p:sp>
        <p:sp>
          <p:nvSpPr>
            <p:cNvPr id="21" name="TextBox 21"/>
            <p:cNvSpPr txBox="1"/>
            <p:nvPr/>
          </p:nvSpPr>
          <p:spPr>
            <a:xfrm>
              <a:off x="1467422" y="2093595"/>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品牌故事</a:t>
              </a:r>
            </a:p>
          </p:txBody>
        </p:sp>
        <p:sp>
          <p:nvSpPr>
            <p:cNvPr id="22" name="Rectangle 22"/>
            <p:cNvSpPr/>
            <p:nvPr/>
          </p:nvSpPr>
          <p:spPr>
            <a:xfrm>
              <a:off x="762000" y="2590800"/>
              <a:ext cx="1905000" cy="285750"/>
            </a:xfrm>
            <a:prstGeom prst="rect">
              <a:avLst/>
            </a:prstGeom>
            <a:solidFill>
              <a:srgbClr val="FFFFFF"/>
            </a:solidFill>
            <a:ln w="9525">
              <a:solidFill>
                <a:srgbClr val="C9CFEA"/>
              </a:solidFill>
            </a:ln>
          </p:spPr>
        </p:sp>
        <p:sp>
          <p:nvSpPr>
            <p:cNvPr id="23" name="TextBox 23"/>
            <p:cNvSpPr txBox="1"/>
            <p:nvPr/>
          </p:nvSpPr>
          <p:spPr>
            <a:xfrm>
              <a:off x="1346264" y="2684145"/>
              <a:ext cx="736473"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核心亮点确认</a:t>
              </a:r>
            </a:p>
          </p:txBody>
        </p:sp>
        <p:sp>
          <p:nvSpPr>
            <p:cNvPr id="24" name="Rectangle 24"/>
            <p:cNvSpPr/>
            <p:nvPr/>
          </p:nvSpPr>
          <p:spPr>
            <a:xfrm>
              <a:off x="285750" y="3209925"/>
              <a:ext cx="1905000" cy="285750"/>
            </a:xfrm>
            <a:prstGeom prst="rect">
              <a:avLst/>
            </a:prstGeom>
            <a:solidFill>
              <a:srgbClr val="FFFFFF"/>
            </a:solidFill>
            <a:ln w="9525">
              <a:solidFill>
                <a:srgbClr val="C9CFEA"/>
              </a:solidFill>
            </a:ln>
          </p:spPr>
        </p:sp>
        <p:sp>
          <p:nvSpPr>
            <p:cNvPr id="25" name="TextBox 25"/>
            <p:cNvSpPr txBox="1"/>
            <p:nvPr/>
          </p:nvSpPr>
          <p:spPr>
            <a:xfrm>
              <a:off x="748856" y="3303270"/>
              <a:ext cx="978789"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专家媒体合力发声</a:t>
              </a:r>
            </a:p>
          </p:txBody>
        </p:sp>
        <p:sp>
          <p:nvSpPr>
            <p:cNvPr id="26" name="Rectangle 26"/>
            <p:cNvSpPr/>
            <p:nvPr/>
          </p:nvSpPr>
          <p:spPr>
            <a:xfrm>
              <a:off x="285750" y="3781425"/>
              <a:ext cx="1905000" cy="285750"/>
            </a:xfrm>
            <a:prstGeom prst="rect">
              <a:avLst/>
            </a:prstGeom>
            <a:solidFill>
              <a:srgbClr val="FFFFFF"/>
            </a:solidFill>
            <a:ln w="9525">
              <a:solidFill>
                <a:srgbClr val="C9CFEA"/>
              </a:solidFill>
            </a:ln>
          </p:spPr>
        </p:sp>
        <p:sp>
          <p:nvSpPr>
            <p:cNvPr id="27" name="TextBox 27"/>
            <p:cNvSpPr txBox="1"/>
            <p:nvPr/>
          </p:nvSpPr>
          <p:spPr>
            <a:xfrm>
              <a:off x="991172" y="3874770"/>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共情用户</a:t>
              </a:r>
            </a:p>
          </p:txBody>
        </p:sp>
        <p:sp>
          <p:nvSpPr>
            <p:cNvPr id="28" name="Rectangle 28"/>
            <p:cNvSpPr/>
            <p:nvPr/>
          </p:nvSpPr>
          <p:spPr>
            <a:xfrm>
              <a:off x="762000" y="4371975"/>
              <a:ext cx="1905000" cy="285750"/>
            </a:xfrm>
            <a:prstGeom prst="rect">
              <a:avLst/>
            </a:prstGeom>
            <a:solidFill>
              <a:srgbClr val="FFFFFF"/>
            </a:solidFill>
            <a:ln w="9525">
              <a:solidFill>
                <a:srgbClr val="C9CFEA"/>
              </a:solidFill>
            </a:ln>
          </p:spPr>
        </p:sp>
        <p:sp>
          <p:nvSpPr>
            <p:cNvPr id="29" name="TextBox 29"/>
            <p:cNvSpPr txBox="1"/>
            <p:nvPr/>
          </p:nvSpPr>
          <p:spPr>
            <a:xfrm>
              <a:off x="1346264" y="4465320"/>
              <a:ext cx="736473"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经营品牌口碑</a:t>
              </a:r>
            </a:p>
          </p:txBody>
        </p:sp>
        <p:sp>
          <p:nvSpPr>
            <p:cNvPr id="30" name="Rectangle 30"/>
            <p:cNvSpPr/>
            <p:nvPr/>
          </p:nvSpPr>
          <p:spPr>
            <a:xfrm>
              <a:off x="762000" y="4962525"/>
              <a:ext cx="1905000" cy="285750"/>
            </a:xfrm>
            <a:prstGeom prst="rect">
              <a:avLst/>
            </a:prstGeom>
            <a:solidFill>
              <a:srgbClr val="FFFFFF"/>
            </a:solidFill>
            <a:ln w="9525">
              <a:solidFill>
                <a:srgbClr val="C9CFEA"/>
              </a:solidFill>
            </a:ln>
          </p:spPr>
        </p:sp>
        <p:sp>
          <p:nvSpPr>
            <p:cNvPr id="31" name="TextBox 31"/>
            <p:cNvSpPr txBox="1"/>
            <p:nvPr/>
          </p:nvSpPr>
          <p:spPr>
            <a:xfrm>
              <a:off x="1225106" y="5055870"/>
              <a:ext cx="978789"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积极回应舆论话题</a:t>
              </a:r>
            </a:p>
          </p:txBody>
        </p:sp>
        <p:sp>
          <p:nvSpPr>
            <p:cNvPr id="32" name="Freeform 32"/>
            <p:cNvSpPr/>
            <p:nvPr/>
          </p:nvSpPr>
          <p:spPr>
            <a:xfrm>
              <a:off x="2667000" y="2143125"/>
              <a:ext cx="190500" cy="590550"/>
            </a:xfrm>
            <a:custGeom>
              <a:avLst/>
              <a:gdLst/>
              <a:ahLst/>
              <a:cxnLst/>
              <a:rect l="l" t="t" r="r" b="b"/>
              <a:pathLst>
                <a:path w="190500" h="590550">
                  <a:moveTo>
                    <a:pt x="0" y="0"/>
                  </a:moveTo>
                  <a:lnTo>
                    <a:pt x="190500" y="314325"/>
                  </a:lnTo>
                  <a:moveTo>
                    <a:pt x="0" y="590550"/>
                  </a:moveTo>
                  <a:lnTo>
                    <a:pt x="190500" y="314325"/>
                  </a:lnTo>
                </a:path>
              </a:pathLst>
            </a:custGeom>
            <a:noFill/>
            <a:ln w="14288">
              <a:solidFill>
                <a:srgbClr val="ED8776"/>
              </a:solidFill>
              <a:custDash>
                <a:ds d="200000" sp="200000"/>
              </a:custDash>
            </a:ln>
          </p:spPr>
        </p:sp>
        <p:sp>
          <p:nvSpPr>
            <p:cNvPr id="33" name="Freeform 33"/>
            <p:cNvSpPr/>
            <p:nvPr/>
          </p:nvSpPr>
          <p:spPr>
            <a:xfrm>
              <a:off x="2190750" y="3352800"/>
              <a:ext cx="247650" cy="571500"/>
            </a:xfrm>
            <a:custGeom>
              <a:avLst/>
              <a:gdLst/>
              <a:ahLst/>
              <a:cxnLst/>
              <a:rect l="l" t="t" r="r" b="b"/>
              <a:pathLst>
                <a:path w="247650" h="571500">
                  <a:moveTo>
                    <a:pt x="0" y="0"/>
                  </a:moveTo>
                  <a:lnTo>
                    <a:pt x="247650" y="295275"/>
                  </a:lnTo>
                  <a:moveTo>
                    <a:pt x="0" y="571500"/>
                  </a:moveTo>
                  <a:lnTo>
                    <a:pt x="247650" y="295275"/>
                  </a:lnTo>
                </a:path>
              </a:pathLst>
            </a:custGeom>
            <a:noFill/>
            <a:ln w="14288">
              <a:solidFill>
                <a:srgbClr val="ED8776"/>
              </a:solidFill>
              <a:custDash>
                <a:ds d="200000" sp="200000"/>
              </a:custDash>
            </a:ln>
          </p:spPr>
        </p:sp>
        <p:sp>
          <p:nvSpPr>
            <p:cNvPr id="34" name="Freeform 34"/>
            <p:cNvSpPr/>
            <p:nvPr/>
          </p:nvSpPr>
          <p:spPr>
            <a:xfrm>
              <a:off x="2667000" y="4514850"/>
              <a:ext cx="190500" cy="590550"/>
            </a:xfrm>
            <a:custGeom>
              <a:avLst/>
              <a:gdLst/>
              <a:ahLst/>
              <a:cxnLst/>
              <a:rect l="l" t="t" r="r" b="b"/>
              <a:pathLst>
                <a:path w="190500" h="590550">
                  <a:moveTo>
                    <a:pt x="0" y="0"/>
                  </a:moveTo>
                  <a:lnTo>
                    <a:pt x="190500" y="314325"/>
                  </a:lnTo>
                  <a:moveTo>
                    <a:pt x="0" y="590550"/>
                  </a:moveTo>
                  <a:lnTo>
                    <a:pt x="190500" y="314325"/>
                  </a:lnTo>
                </a:path>
              </a:pathLst>
            </a:custGeom>
            <a:noFill/>
            <a:ln w="14288">
              <a:solidFill>
                <a:srgbClr val="ED8776"/>
              </a:solidFill>
              <a:custDash>
                <a:ds d="200000" sp="200000"/>
              </a:custDash>
            </a:ln>
          </p:spPr>
        </p:sp>
        <p:sp>
          <p:nvSpPr>
            <p:cNvPr id="35" name="Rectangle 35"/>
            <p:cNvSpPr/>
            <p:nvPr/>
          </p:nvSpPr>
          <p:spPr>
            <a:xfrm>
              <a:off x="2857500" y="2333625"/>
              <a:ext cx="952500" cy="247650"/>
            </a:xfrm>
            <a:prstGeom prst="roundRect">
              <a:avLst>
                <a:gd name="adj" fmla="val 50000"/>
              </a:avLst>
            </a:prstGeom>
            <a:solidFill>
              <a:srgbClr val="E5624C"/>
            </a:solidFill>
            <a:ln>
              <a:noFill/>
            </a:ln>
          </p:spPr>
        </p:sp>
        <p:sp>
          <p:nvSpPr>
            <p:cNvPr id="36" name="TextBox 36"/>
            <p:cNvSpPr txBox="1"/>
            <p:nvPr/>
          </p:nvSpPr>
          <p:spPr>
            <a:xfrm>
              <a:off x="3086672" y="24079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内容建设</a:t>
              </a:r>
            </a:p>
          </p:txBody>
        </p:sp>
        <p:sp>
          <p:nvSpPr>
            <p:cNvPr id="37" name="Rectangle 37"/>
            <p:cNvSpPr/>
            <p:nvPr/>
          </p:nvSpPr>
          <p:spPr>
            <a:xfrm>
              <a:off x="2438400" y="3524250"/>
              <a:ext cx="952500" cy="247650"/>
            </a:xfrm>
            <a:prstGeom prst="roundRect">
              <a:avLst>
                <a:gd name="adj" fmla="val 50000"/>
              </a:avLst>
            </a:prstGeom>
            <a:solidFill>
              <a:srgbClr val="E5624C"/>
            </a:solidFill>
            <a:ln>
              <a:noFill/>
            </a:ln>
          </p:spPr>
        </p:sp>
        <p:sp>
          <p:nvSpPr>
            <p:cNvPr id="38" name="TextBox 38"/>
            <p:cNvSpPr txBox="1"/>
            <p:nvPr/>
          </p:nvSpPr>
          <p:spPr>
            <a:xfrm>
              <a:off x="2667572" y="35985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心智强化</a:t>
              </a:r>
            </a:p>
          </p:txBody>
        </p:sp>
        <p:sp>
          <p:nvSpPr>
            <p:cNvPr id="39" name="Rectangle 39"/>
            <p:cNvSpPr/>
            <p:nvPr/>
          </p:nvSpPr>
          <p:spPr>
            <a:xfrm>
              <a:off x="2857500" y="4705350"/>
              <a:ext cx="952500" cy="247650"/>
            </a:xfrm>
            <a:prstGeom prst="roundRect">
              <a:avLst>
                <a:gd name="adj" fmla="val 50000"/>
              </a:avLst>
            </a:prstGeom>
            <a:solidFill>
              <a:srgbClr val="E5624C"/>
            </a:solidFill>
            <a:ln>
              <a:noFill/>
            </a:ln>
          </p:spPr>
        </p:sp>
        <p:sp>
          <p:nvSpPr>
            <p:cNvPr id="40" name="TextBox 40"/>
            <p:cNvSpPr txBox="1"/>
            <p:nvPr/>
          </p:nvSpPr>
          <p:spPr>
            <a:xfrm>
              <a:off x="3086672" y="47796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社交经营</a:t>
              </a:r>
            </a:p>
          </p:txBody>
        </p:sp>
      </p:grpSp>
      <p:grpSp>
        <p:nvGrpSpPr>
          <p:cNvPr id="63" name="right-flow"/>
          <p:cNvGrpSpPr/>
          <p:nvPr/>
        </p:nvGrpSpPr>
        <p:grpSpPr>
          <a:xfrm>
            <a:off x="8382000" y="2000250"/>
            <a:ext cx="3524250" cy="3248025"/>
            <a:chOff x="8382000" y="2000250"/>
            <a:chExt cx="3524250" cy="3248025"/>
          </a:xfrm>
        </p:grpSpPr>
        <p:sp>
          <p:nvSpPr>
            <p:cNvPr id="42" name="Rectangle 42"/>
            <p:cNvSpPr/>
            <p:nvPr/>
          </p:nvSpPr>
          <p:spPr>
            <a:xfrm>
              <a:off x="8382000" y="2333625"/>
              <a:ext cx="952500" cy="247650"/>
            </a:xfrm>
            <a:prstGeom prst="roundRect">
              <a:avLst>
                <a:gd name="adj" fmla="val 50000"/>
              </a:avLst>
            </a:prstGeom>
            <a:solidFill>
              <a:srgbClr val="C1553F"/>
            </a:solidFill>
            <a:ln>
              <a:noFill/>
            </a:ln>
          </p:spPr>
        </p:sp>
        <p:sp>
          <p:nvSpPr>
            <p:cNvPr id="43" name="TextBox 43"/>
            <p:cNvSpPr txBox="1"/>
            <p:nvPr/>
          </p:nvSpPr>
          <p:spPr>
            <a:xfrm>
              <a:off x="8611172" y="24079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热搜造势</a:t>
              </a:r>
            </a:p>
          </p:txBody>
        </p:sp>
        <p:sp>
          <p:nvSpPr>
            <p:cNvPr id="44" name="Rectangle 44"/>
            <p:cNvSpPr/>
            <p:nvPr/>
          </p:nvSpPr>
          <p:spPr>
            <a:xfrm>
              <a:off x="8801100" y="3524250"/>
              <a:ext cx="952500" cy="247650"/>
            </a:xfrm>
            <a:prstGeom prst="roundRect">
              <a:avLst>
                <a:gd name="adj" fmla="val 50000"/>
              </a:avLst>
            </a:prstGeom>
            <a:solidFill>
              <a:srgbClr val="C1553F"/>
            </a:solidFill>
            <a:ln>
              <a:noFill/>
            </a:ln>
          </p:spPr>
        </p:sp>
        <p:sp>
          <p:nvSpPr>
            <p:cNvPr id="45" name="TextBox 45"/>
            <p:cNvSpPr txBox="1"/>
            <p:nvPr/>
          </p:nvSpPr>
          <p:spPr>
            <a:xfrm>
              <a:off x="9030272" y="35985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达人曝光</a:t>
              </a:r>
            </a:p>
          </p:txBody>
        </p:sp>
        <p:sp>
          <p:nvSpPr>
            <p:cNvPr id="46" name="Rectangle 46"/>
            <p:cNvSpPr/>
            <p:nvPr/>
          </p:nvSpPr>
          <p:spPr>
            <a:xfrm>
              <a:off x="8382000" y="4705350"/>
              <a:ext cx="952500" cy="247650"/>
            </a:xfrm>
            <a:prstGeom prst="roundRect">
              <a:avLst>
                <a:gd name="adj" fmla="val 50000"/>
              </a:avLst>
            </a:prstGeom>
            <a:solidFill>
              <a:srgbClr val="C1553F"/>
            </a:solidFill>
            <a:ln>
              <a:noFill/>
            </a:ln>
          </p:spPr>
        </p:sp>
        <p:sp>
          <p:nvSpPr>
            <p:cNvPr id="47" name="TextBox 47"/>
            <p:cNvSpPr txBox="1"/>
            <p:nvPr/>
          </p:nvSpPr>
          <p:spPr>
            <a:xfrm>
              <a:off x="8611172" y="47796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社交裂变</a:t>
              </a:r>
            </a:p>
          </p:txBody>
        </p:sp>
        <p:sp>
          <p:nvSpPr>
            <p:cNvPr id="48" name="Freeform 48"/>
            <p:cNvSpPr/>
            <p:nvPr/>
          </p:nvSpPr>
          <p:spPr>
            <a:xfrm>
              <a:off x="9334500" y="2143125"/>
              <a:ext cx="190500" cy="590550"/>
            </a:xfrm>
            <a:custGeom>
              <a:avLst/>
              <a:gdLst/>
              <a:ahLst/>
              <a:cxnLst/>
              <a:rect l="l" t="t" r="r" b="b"/>
              <a:pathLst>
                <a:path w="190500" h="590550">
                  <a:moveTo>
                    <a:pt x="0" y="314325"/>
                  </a:moveTo>
                  <a:lnTo>
                    <a:pt x="190500" y="0"/>
                  </a:lnTo>
                  <a:moveTo>
                    <a:pt x="0" y="314325"/>
                  </a:moveTo>
                  <a:lnTo>
                    <a:pt x="190500" y="590550"/>
                  </a:lnTo>
                </a:path>
              </a:pathLst>
            </a:custGeom>
            <a:noFill/>
            <a:ln w="14288">
              <a:solidFill>
                <a:srgbClr val="DD988A"/>
              </a:solidFill>
              <a:custDash>
                <a:ds d="200000" sp="200000"/>
              </a:custDash>
            </a:ln>
          </p:spPr>
        </p:sp>
        <p:sp>
          <p:nvSpPr>
            <p:cNvPr id="49" name="Freeform 49"/>
            <p:cNvSpPr/>
            <p:nvPr/>
          </p:nvSpPr>
          <p:spPr>
            <a:xfrm>
              <a:off x="9753600" y="3352800"/>
              <a:ext cx="247650" cy="571500"/>
            </a:xfrm>
            <a:custGeom>
              <a:avLst/>
              <a:gdLst/>
              <a:ahLst/>
              <a:cxnLst/>
              <a:rect l="l" t="t" r="r" b="b"/>
              <a:pathLst>
                <a:path w="247650" h="571500">
                  <a:moveTo>
                    <a:pt x="0" y="295275"/>
                  </a:moveTo>
                  <a:lnTo>
                    <a:pt x="247650" y="0"/>
                  </a:lnTo>
                  <a:moveTo>
                    <a:pt x="0" y="295275"/>
                  </a:moveTo>
                  <a:lnTo>
                    <a:pt x="247650" y="571500"/>
                  </a:lnTo>
                </a:path>
              </a:pathLst>
            </a:custGeom>
            <a:noFill/>
            <a:ln w="14288">
              <a:solidFill>
                <a:srgbClr val="DD988A"/>
              </a:solidFill>
              <a:custDash>
                <a:ds d="200000" sp="200000"/>
              </a:custDash>
            </a:ln>
          </p:spPr>
        </p:sp>
        <p:sp>
          <p:nvSpPr>
            <p:cNvPr id="50" name="Freeform 50"/>
            <p:cNvSpPr/>
            <p:nvPr/>
          </p:nvSpPr>
          <p:spPr>
            <a:xfrm>
              <a:off x="9334500" y="4514850"/>
              <a:ext cx="190500" cy="590550"/>
            </a:xfrm>
            <a:custGeom>
              <a:avLst/>
              <a:gdLst/>
              <a:ahLst/>
              <a:cxnLst/>
              <a:rect l="l" t="t" r="r" b="b"/>
              <a:pathLst>
                <a:path w="190500" h="590550">
                  <a:moveTo>
                    <a:pt x="0" y="314325"/>
                  </a:moveTo>
                  <a:lnTo>
                    <a:pt x="190500" y="0"/>
                  </a:lnTo>
                  <a:moveTo>
                    <a:pt x="0" y="314325"/>
                  </a:moveTo>
                  <a:lnTo>
                    <a:pt x="190500" y="590550"/>
                  </a:lnTo>
                </a:path>
              </a:pathLst>
            </a:custGeom>
            <a:noFill/>
            <a:ln w="14288">
              <a:solidFill>
                <a:srgbClr val="DD988A"/>
              </a:solidFill>
              <a:custDash>
                <a:ds d="200000" sp="200000"/>
              </a:custDash>
            </a:ln>
          </p:spPr>
        </p:sp>
        <p:sp>
          <p:nvSpPr>
            <p:cNvPr id="51" name="Rectangle 51"/>
            <p:cNvSpPr/>
            <p:nvPr/>
          </p:nvSpPr>
          <p:spPr>
            <a:xfrm>
              <a:off x="9525000" y="2000250"/>
              <a:ext cx="1905000" cy="285750"/>
            </a:xfrm>
            <a:prstGeom prst="rect">
              <a:avLst/>
            </a:prstGeom>
            <a:solidFill>
              <a:srgbClr val="FFFFFF"/>
            </a:solidFill>
            <a:ln w="9525">
              <a:solidFill>
                <a:srgbClr val="C9CFEA"/>
              </a:solidFill>
            </a:ln>
          </p:spPr>
        </p:sp>
        <p:sp>
          <p:nvSpPr>
            <p:cNvPr id="52" name="TextBox 52"/>
            <p:cNvSpPr txBox="1"/>
            <p:nvPr/>
          </p:nvSpPr>
          <p:spPr>
            <a:xfrm>
              <a:off x="10009308" y="2093595"/>
              <a:ext cx="936384"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天猫/京东/抖/红</a:t>
              </a:r>
            </a:p>
          </p:txBody>
        </p:sp>
        <p:sp>
          <p:nvSpPr>
            <p:cNvPr id="53" name="Rectangle 53"/>
            <p:cNvSpPr/>
            <p:nvPr/>
          </p:nvSpPr>
          <p:spPr>
            <a:xfrm>
              <a:off x="9525000" y="2590800"/>
              <a:ext cx="1905000" cy="285750"/>
            </a:xfrm>
            <a:prstGeom prst="rect">
              <a:avLst/>
            </a:prstGeom>
            <a:solidFill>
              <a:srgbClr val="FFFFFF"/>
            </a:solidFill>
            <a:ln w="9525">
              <a:solidFill>
                <a:srgbClr val="C9CFEA"/>
              </a:solidFill>
            </a:ln>
          </p:spPr>
        </p:sp>
        <p:sp>
          <p:nvSpPr>
            <p:cNvPr id="54" name="TextBox 54"/>
            <p:cNvSpPr txBox="1"/>
            <p:nvPr/>
          </p:nvSpPr>
          <p:spPr>
            <a:xfrm>
              <a:off x="10109264" y="2684145"/>
              <a:ext cx="736473"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蓄水核心用户</a:t>
              </a:r>
            </a:p>
          </p:txBody>
        </p:sp>
        <p:sp>
          <p:nvSpPr>
            <p:cNvPr id="55" name="Rectangle 55"/>
            <p:cNvSpPr/>
            <p:nvPr/>
          </p:nvSpPr>
          <p:spPr>
            <a:xfrm>
              <a:off x="10001250" y="3209925"/>
              <a:ext cx="1905000" cy="285750"/>
            </a:xfrm>
            <a:prstGeom prst="rect">
              <a:avLst/>
            </a:prstGeom>
            <a:solidFill>
              <a:srgbClr val="FFFFFF"/>
            </a:solidFill>
            <a:ln w="9525">
              <a:solidFill>
                <a:srgbClr val="C9CFEA"/>
              </a:solidFill>
            </a:ln>
          </p:spPr>
        </p:sp>
        <p:sp>
          <p:nvSpPr>
            <p:cNvPr id="56" name="TextBox 56"/>
            <p:cNvSpPr txBox="1"/>
            <p:nvPr/>
          </p:nvSpPr>
          <p:spPr>
            <a:xfrm>
              <a:off x="10706672" y="3303270"/>
              <a:ext cx="494157"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矩阵传播</a:t>
              </a:r>
            </a:p>
          </p:txBody>
        </p:sp>
        <p:sp>
          <p:nvSpPr>
            <p:cNvPr id="57" name="Rectangle 57"/>
            <p:cNvSpPr/>
            <p:nvPr/>
          </p:nvSpPr>
          <p:spPr>
            <a:xfrm>
              <a:off x="10001250" y="3781425"/>
              <a:ext cx="1905000" cy="285750"/>
            </a:xfrm>
            <a:prstGeom prst="rect">
              <a:avLst/>
            </a:prstGeom>
            <a:solidFill>
              <a:srgbClr val="FFFFFF"/>
            </a:solidFill>
            <a:ln w="9525">
              <a:solidFill>
                <a:srgbClr val="C9CFEA"/>
              </a:solidFill>
            </a:ln>
          </p:spPr>
        </p:sp>
        <p:sp>
          <p:nvSpPr>
            <p:cNvPr id="58" name="TextBox 58"/>
            <p:cNvSpPr txBox="1"/>
            <p:nvPr/>
          </p:nvSpPr>
          <p:spPr>
            <a:xfrm>
              <a:off x="10585514" y="3874770"/>
              <a:ext cx="736473"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挖掘潜在用户</a:t>
              </a:r>
            </a:p>
          </p:txBody>
        </p:sp>
        <p:sp>
          <p:nvSpPr>
            <p:cNvPr id="59" name="Rectangle 59"/>
            <p:cNvSpPr/>
            <p:nvPr/>
          </p:nvSpPr>
          <p:spPr>
            <a:xfrm>
              <a:off x="9525000" y="4371975"/>
              <a:ext cx="1905000" cy="285750"/>
            </a:xfrm>
            <a:prstGeom prst="rect">
              <a:avLst/>
            </a:prstGeom>
            <a:solidFill>
              <a:srgbClr val="FFFFFF"/>
            </a:solidFill>
            <a:ln w="9525">
              <a:solidFill>
                <a:srgbClr val="C9CFEA"/>
              </a:solidFill>
            </a:ln>
          </p:spPr>
        </p:sp>
        <p:sp>
          <p:nvSpPr>
            <p:cNvPr id="60" name="TextBox 60"/>
            <p:cNvSpPr txBox="1"/>
            <p:nvPr/>
          </p:nvSpPr>
          <p:spPr>
            <a:xfrm>
              <a:off x="9988105" y="4465320"/>
              <a:ext cx="978789"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调动用户情绪价值</a:t>
              </a:r>
            </a:p>
          </p:txBody>
        </p:sp>
        <p:sp>
          <p:nvSpPr>
            <p:cNvPr id="61" name="Rectangle 61"/>
            <p:cNvSpPr/>
            <p:nvPr/>
          </p:nvSpPr>
          <p:spPr>
            <a:xfrm>
              <a:off x="9525000" y="4962525"/>
              <a:ext cx="1905000" cy="285750"/>
            </a:xfrm>
            <a:prstGeom prst="rect">
              <a:avLst/>
            </a:prstGeom>
            <a:solidFill>
              <a:srgbClr val="FFFFFF"/>
            </a:solidFill>
            <a:ln w="9525">
              <a:solidFill>
                <a:srgbClr val="C9CFEA"/>
              </a:solidFill>
            </a:ln>
          </p:spPr>
        </p:sp>
        <p:sp>
          <p:nvSpPr>
            <p:cNvPr id="62" name="TextBox 62"/>
            <p:cNvSpPr txBox="1"/>
            <p:nvPr/>
          </p:nvSpPr>
          <p:spPr>
            <a:xfrm>
              <a:off x="10048684" y="5055870"/>
              <a:ext cx="857631" cy="176212"/>
            </a:xfrm>
            <a:prstGeom prst="rect">
              <a:avLst/>
            </a:prstGeom>
            <a:noFill/>
            <a:ln>
              <a:noFill/>
            </a:ln>
          </p:spPr>
          <p:txBody>
            <a:bodyPr wrap="none" lIns="0" tIns="0" rIns="0" bIns="0" anchor="t" anchorCtr="0">
              <a:spAutoFit/>
            </a:bodyPr>
            <a:lstStyle/>
            <a:p>
              <a:pPr algn="ctr"/>
              <a:r>
                <a:rPr lang="zh-CN" sz="900" dirty="0">
                  <a:solidFill>
                    <a:srgbClr val="523F3B"/>
                  </a:solidFill>
                  <a:latin typeface="+mn-lt"/>
                  <a:ea typeface="+mn-ea"/>
                  <a:cs typeface="+mn-cs"/>
                </a:rPr>
                <a:t>沉淀高粘性人群</a:t>
              </a:r>
            </a:p>
          </p:txBody>
        </p:sp>
      </p:gr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405916" cy="440055"/>
            <a:chOff x="302895" y="214312"/>
            <a:chExt cx="2405916"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33.​</a:t>
              </a:r>
            </a:p>
          </p:txBody>
        </p:sp>
        <p:sp>
          <p:nvSpPr>
            <p:cNvPr id="3" name="TextBox 3"/>
            <p:cNvSpPr txBox="1"/>
            <p:nvPr/>
          </p:nvSpPr>
          <p:spPr>
            <a:xfrm>
              <a:off x="866394" y="246698"/>
              <a:ext cx="1842417"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AI算法推荐逻辑</a:t>
              </a:r>
            </a:p>
          </p:txBody>
        </p:sp>
      </p:grpSp>
      <p:grpSp>
        <p:nvGrpSpPr>
          <p:cNvPr id="24" name="ai-step-1"/>
          <p:cNvGrpSpPr/>
          <p:nvPr/>
        </p:nvGrpSpPr>
        <p:grpSpPr>
          <a:xfrm>
            <a:off x="342900" y="952500"/>
            <a:ext cx="2762250" cy="4895850"/>
            <a:chOff x="342900" y="952500"/>
            <a:chExt cx="2762250" cy="4895850"/>
          </a:xfrm>
        </p:grpSpPr>
        <p:sp>
          <p:nvSpPr>
            <p:cNvPr id="5" name="Rectangle 5"/>
            <p:cNvSpPr/>
            <p:nvPr/>
          </p:nvSpPr>
          <p:spPr>
            <a:xfrm>
              <a:off x="342900" y="952500"/>
              <a:ext cx="2762250" cy="4895850"/>
            </a:xfrm>
            <a:prstGeom prst="roundRect">
              <a:avLst>
                <a:gd name="adj" fmla="val 2759"/>
              </a:avLst>
            </a:prstGeom>
            <a:solidFill>
              <a:srgbClr val="FFFFFF"/>
            </a:solidFill>
            <a:ln w="9525">
              <a:solidFill>
                <a:srgbClr val="E4E7F5"/>
              </a:solidFill>
            </a:ln>
          </p:spPr>
        </p:sp>
        <p:sp>
          <p:nvSpPr>
            <p:cNvPr id="6" name="TextBox 6"/>
            <p:cNvSpPr txBox="1"/>
            <p:nvPr/>
          </p:nvSpPr>
          <p:spPr>
            <a:xfrm>
              <a:off x="1512826" y="1248728"/>
              <a:ext cx="422398" cy="498729"/>
            </a:xfrm>
            <a:prstGeom prst="rect">
              <a:avLst/>
            </a:prstGeom>
            <a:noFill/>
            <a:ln>
              <a:noFill/>
            </a:ln>
          </p:spPr>
          <p:txBody>
            <a:bodyPr wrap="none" lIns="0" tIns="0" rIns="0" bIns="0" anchor="t" anchorCtr="0">
              <a:spAutoFit/>
            </a:bodyPr>
            <a:lstStyle/>
            <a:p>
              <a:pPr algn="ctr"/>
              <a:r>
                <a:rPr lang="zh-CN" sz="2550" b="1" dirty="0">
                  <a:solidFill>
                    <a:srgbClr val="C1553F"/>
                  </a:solidFill>
                  <a:latin typeface="+mn-lt"/>
                  <a:ea typeface="+mn-ea"/>
                  <a:cs typeface="+mn-cs"/>
                </a:rPr>
                <a:t>1.</a:t>
              </a:r>
            </a:p>
          </p:txBody>
        </p:sp>
        <p:sp>
          <p:nvSpPr>
            <p:cNvPr id="7" name="Rectangle 7"/>
            <p:cNvSpPr/>
            <p:nvPr/>
          </p:nvSpPr>
          <p:spPr>
            <a:xfrm>
              <a:off x="723900" y="1714500"/>
              <a:ext cx="2000250" cy="285750"/>
            </a:xfrm>
            <a:prstGeom prst="roundRect">
              <a:avLst>
                <a:gd name="adj" fmla="val 50000"/>
              </a:avLst>
            </a:prstGeom>
            <a:gradFill>
              <a:gsLst>
                <a:gs pos="0">
                  <a:srgbClr val="C1553F"/>
                </a:gs>
                <a:gs pos="100000">
                  <a:srgbClr val="CE897B"/>
                </a:gs>
              </a:gsLst>
              <a:lin ang="0" scaled="1"/>
            </a:gradFill>
            <a:ln>
              <a:noFill/>
            </a:ln>
          </p:spPr>
        </p:sp>
        <p:sp>
          <p:nvSpPr>
            <p:cNvPr id="8" name="TextBox 8"/>
            <p:cNvSpPr txBox="1"/>
            <p:nvPr/>
          </p:nvSpPr>
          <p:spPr>
            <a:xfrm>
              <a:off x="1435989" y="17916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数据采集</a:t>
              </a:r>
            </a:p>
          </p:txBody>
        </p:sp>
        <p:sp>
          <p:nvSpPr>
            <p:cNvPr id="9" name="Ellipse 9"/>
            <p:cNvSpPr/>
            <p:nvPr/>
          </p:nvSpPr>
          <p:spPr>
            <a:xfrm>
              <a:off x="809625" y="5486400"/>
              <a:ext cx="1828800" cy="228600"/>
            </a:xfrm>
            <a:prstGeom prst="ellipse">
              <a:avLst/>
            </a:prstGeom>
            <a:solidFill>
              <a:srgbClr val="E9EBF8"/>
            </a:solidFill>
            <a:ln>
              <a:noFill/>
            </a:ln>
          </p:spPr>
        </p:sp>
        <p:sp>
          <p:nvSpPr>
            <p:cNvPr id="10" name="Ellipse 10"/>
            <p:cNvSpPr/>
            <p:nvPr/>
          </p:nvSpPr>
          <p:spPr>
            <a:xfrm>
              <a:off x="1390650" y="2419350"/>
              <a:ext cx="457200" cy="457200"/>
            </a:xfrm>
            <a:prstGeom prst="ellipse">
              <a:avLst/>
            </a:prstGeom>
            <a:solidFill>
              <a:srgbClr val="D47D6B"/>
            </a:solidFill>
            <a:ln>
              <a:noFill/>
            </a:ln>
          </p:spPr>
        </p:sp>
        <p:sp>
          <p:nvSpPr>
            <p:cNvPr id="11" name="TextBox 11"/>
            <p:cNvSpPr txBox="1"/>
            <p:nvPr/>
          </p:nvSpPr>
          <p:spPr>
            <a:xfrm>
              <a:off x="1479232" y="2542461"/>
              <a:ext cx="28003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第三方</a:t>
              </a:r>
              <a:br/>
              <a:r>
                <a:rPr lang="zh-CN" sz="710" dirty="0">
                  <a:solidFill>
                    <a:srgbClr val="FFFFFF"/>
                  </a:solidFill>
                  <a:latin typeface="+mn-lt"/>
                  <a:ea typeface="+mn-ea"/>
                  <a:cs typeface="+mn-cs"/>
                </a:rPr>
                <a:t>数据</a:t>
              </a:r>
            </a:p>
          </p:txBody>
        </p:sp>
        <p:sp>
          <p:nvSpPr>
            <p:cNvPr id="12" name="Ellipse 12"/>
            <p:cNvSpPr/>
            <p:nvPr/>
          </p:nvSpPr>
          <p:spPr>
            <a:xfrm>
              <a:off x="2209800" y="2609850"/>
              <a:ext cx="495300" cy="495300"/>
            </a:xfrm>
            <a:prstGeom prst="ellipse">
              <a:avLst/>
            </a:prstGeom>
            <a:solidFill>
              <a:srgbClr val="D47D6B"/>
            </a:solidFill>
            <a:ln>
              <a:noFill/>
            </a:ln>
          </p:spPr>
        </p:sp>
        <p:sp>
          <p:nvSpPr>
            <p:cNvPr id="13" name="TextBox 13"/>
            <p:cNvSpPr txBox="1"/>
            <p:nvPr/>
          </p:nvSpPr>
          <p:spPr>
            <a:xfrm>
              <a:off x="2317432" y="2752011"/>
              <a:ext cx="28003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移动端</a:t>
              </a:r>
              <a:br/>
              <a:r>
                <a:rPr lang="zh-CN" sz="710" dirty="0">
                  <a:solidFill>
                    <a:srgbClr val="FFFFFF"/>
                  </a:solidFill>
                  <a:latin typeface="+mn-lt"/>
                  <a:ea typeface="+mn-ea"/>
                  <a:cs typeface="+mn-cs"/>
                </a:rPr>
                <a:t>数据</a:t>
              </a:r>
            </a:p>
          </p:txBody>
        </p:sp>
        <p:sp>
          <p:nvSpPr>
            <p:cNvPr id="14" name="Ellipse 14"/>
            <p:cNvSpPr/>
            <p:nvPr/>
          </p:nvSpPr>
          <p:spPr>
            <a:xfrm>
              <a:off x="819150" y="2857500"/>
              <a:ext cx="419100" cy="419100"/>
            </a:xfrm>
            <a:prstGeom prst="ellipse">
              <a:avLst/>
            </a:prstGeom>
            <a:solidFill>
              <a:srgbClr val="D47D6B"/>
            </a:solidFill>
            <a:ln>
              <a:noFill/>
            </a:ln>
          </p:spPr>
        </p:sp>
        <p:sp>
          <p:nvSpPr>
            <p:cNvPr id="15" name="TextBox 15"/>
            <p:cNvSpPr txBox="1"/>
            <p:nvPr/>
          </p:nvSpPr>
          <p:spPr>
            <a:xfrm>
              <a:off x="933768" y="2961561"/>
              <a:ext cx="18986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网站</a:t>
              </a:r>
              <a:br/>
              <a:r>
                <a:rPr lang="zh-CN" sz="710" dirty="0">
                  <a:solidFill>
                    <a:srgbClr val="FFFFFF"/>
                  </a:solidFill>
                  <a:latin typeface="+mn-lt"/>
                  <a:ea typeface="+mn-ea"/>
                  <a:cs typeface="+mn-cs"/>
                </a:rPr>
                <a:t>数据</a:t>
              </a:r>
            </a:p>
          </p:txBody>
        </p:sp>
        <p:sp>
          <p:nvSpPr>
            <p:cNvPr id="16" name="Ellipse 16"/>
            <p:cNvSpPr/>
            <p:nvPr/>
          </p:nvSpPr>
          <p:spPr>
            <a:xfrm>
              <a:off x="1438275" y="3124200"/>
              <a:ext cx="647700" cy="647700"/>
            </a:xfrm>
            <a:prstGeom prst="ellipse">
              <a:avLst/>
            </a:prstGeom>
            <a:solidFill>
              <a:srgbClr val="E5624C"/>
            </a:solidFill>
            <a:ln>
              <a:noFill/>
            </a:ln>
          </p:spPr>
        </p:sp>
        <p:sp>
          <p:nvSpPr>
            <p:cNvPr id="17" name="TextBox 17"/>
            <p:cNvSpPr txBox="1"/>
            <p:nvPr/>
          </p:nvSpPr>
          <p:spPr>
            <a:xfrm>
              <a:off x="1653222" y="3330416"/>
              <a:ext cx="217805" cy="285750"/>
            </a:xfrm>
            <a:prstGeom prst="rect">
              <a:avLst/>
            </a:prstGeom>
            <a:noFill/>
            <a:ln>
              <a:noFill/>
            </a:ln>
          </p:spPr>
          <p:txBody>
            <a:bodyPr wrap="none" lIns="0" tIns="0" rIns="0" bIns="0" anchor="t" anchorCtr="0">
              <a:spAutoFit/>
            </a:bodyPr>
            <a:lstStyle/>
            <a:p>
              <a:pPr algn="ctr">
                <a:lnSpc>
                  <a:spcPts val="975"/>
                </a:lnSpc>
              </a:pPr>
              <a:r>
                <a:rPr lang="zh-CN" sz="820" b="1" dirty="0">
                  <a:solidFill>
                    <a:srgbClr val="FFFFFF"/>
                  </a:solidFill>
                  <a:latin typeface="+mn-lt"/>
                  <a:ea typeface="+mn-ea"/>
                  <a:cs typeface="+mn-cs"/>
                </a:rPr>
                <a:t>社媒</a:t>
              </a:r>
              <a:br/>
              <a:r>
                <a:rPr lang="zh-CN" sz="820" b="1" dirty="0">
                  <a:solidFill>
                    <a:srgbClr val="FFFFFF"/>
                  </a:solidFill>
                  <a:latin typeface="+mn-lt"/>
                  <a:ea typeface="+mn-ea"/>
                  <a:cs typeface="+mn-cs"/>
                </a:rPr>
                <a:t>数据</a:t>
              </a:r>
            </a:p>
          </p:txBody>
        </p:sp>
        <p:sp>
          <p:nvSpPr>
            <p:cNvPr id="18" name="Ellipse 18"/>
            <p:cNvSpPr/>
            <p:nvPr/>
          </p:nvSpPr>
          <p:spPr>
            <a:xfrm>
              <a:off x="857250" y="3714750"/>
              <a:ext cx="419100" cy="419100"/>
            </a:xfrm>
            <a:prstGeom prst="ellipse">
              <a:avLst/>
            </a:prstGeom>
            <a:solidFill>
              <a:srgbClr val="D47D6B"/>
            </a:solidFill>
            <a:ln>
              <a:noFill/>
            </a:ln>
          </p:spPr>
        </p:sp>
        <p:sp>
          <p:nvSpPr>
            <p:cNvPr id="19" name="TextBox 19"/>
            <p:cNvSpPr txBox="1"/>
            <p:nvPr/>
          </p:nvSpPr>
          <p:spPr>
            <a:xfrm>
              <a:off x="971868" y="3818811"/>
              <a:ext cx="189865" cy="245269"/>
            </a:xfrm>
            <a:prstGeom prst="rect">
              <a:avLst/>
            </a:prstGeom>
            <a:noFill/>
            <a:ln>
              <a:noFill/>
            </a:ln>
          </p:spPr>
          <p:txBody>
            <a:bodyPr wrap="none" lIns="0" tIns="0" rIns="0" bIns="0" anchor="t" anchorCtr="0">
              <a:spAutoFit/>
            </a:bodyPr>
            <a:lstStyle/>
            <a:p>
              <a:pPr algn="ctr">
                <a:lnSpc>
                  <a:spcPts val="825"/>
                </a:lnSpc>
              </a:pPr>
              <a:r>
                <a:rPr lang="en-US" sz="710" dirty="0">
                  <a:solidFill>
                    <a:srgbClr val="FFFFFF"/>
                  </a:solidFill>
                  <a:latin typeface="+mn-lt"/>
                  <a:ea typeface="+mn-ea"/>
                  <a:cs typeface="+mn-cs"/>
                </a:rPr>
                <a:t>OTT</a:t>
              </a:r>
              <a:br/>
              <a:r>
                <a:rPr lang="zh-CN" sz="710" dirty="0">
                  <a:solidFill>
                    <a:srgbClr val="FFFFFF"/>
                  </a:solidFill>
                  <a:latin typeface="+mn-lt"/>
                  <a:ea typeface="+mn-ea"/>
                  <a:cs typeface="+mn-cs"/>
                </a:rPr>
                <a:t>数据</a:t>
              </a:r>
            </a:p>
          </p:txBody>
        </p:sp>
        <p:sp>
          <p:nvSpPr>
            <p:cNvPr id="20" name="Ellipse 20"/>
            <p:cNvSpPr/>
            <p:nvPr/>
          </p:nvSpPr>
          <p:spPr>
            <a:xfrm>
              <a:off x="1962150" y="3962400"/>
              <a:ext cx="495300" cy="495300"/>
            </a:xfrm>
            <a:prstGeom prst="ellipse">
              <a:avLst/>
            </a:prstGeom>
            <a:solidFill>
              <a:srgbClr val="D47D6B"/>
            </a:solidFill>
            <a:ln>
              <a:noFill/>
            </a:ln>
          </p:spPr>
        </p:sp>
        <p:sp>
          <p:nvSpPr>
            <p:cNvPr id="21" name="TextBox 21"/>
            <p:cNvSpPr txBox="1"/>
            <p:nvPr/>
          </p:nvSpPr>
          <p:spPr>
            <a:xfrm>
              <a:off x="2114868" y="4104561"/>
              <a:ext cx="18986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电商</a:t>
              </a:r>
              <a:br/>
              <a:r>
                <a:rPr lang="zh-CN" sz="710" dirty="0">
                  <a:solidFill>
                    <a:srgbClr val="FFFFFF"/>
                  </a:solidFill>
                  <a:latin typeface="+mn-lt"/>
                  <a:ea typeface="+mn-ea"/>
                  <a:cs typeface="+mn-cs"/>
                </a:rPr>
                <a:t>数据</a:t>
              </a:r>
            </a:p>
          </p:txBody>
        </p:sp>
        <p:sp>
          <p:nvSpPr>
            <p:cNvPr id="22" name="Ellipse 22"/>
            <p:cNvSpPr/>
            <p:nvPr/>
          </p:nvSpPr>
          <p:spPr>
            <a:xfrm>
              <a:off x="1485900" y="4648200"/>
              <a:ext cx="457200" cy="457200"/>
            </a:xfrm>
            <a:prstGeom prst="ellipse">
              <a:avLst/>
            </a:prstGeom>
            <a:solidFill>
              <a:srgbClr val="D47D6B"/>
            </a:solidFill>
            <a:ln>
              <a:noFill/>
            </a:ln>
          </p:spPr>
        </p:sp>
        <p:sp>
          <p:nvSpPr>
            <p:cNvPr id="23" name="TextBox 23"/>
            <p:cNvSpPr txBox="1"/>
            <p:nvPr/>
          </p:nvSpPr>
          <p:spPr>
            <a:xfrm>
              <a:off x="1619568" y="4771311"/>
              <a:ext cx="18986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线下</a:t>
              </a:r>
              <a:br/>
              <a:r>
                <a:rPr lang="zh-CN" sz="710" dirty="0">
                  <a:solidFill>
                    <a:srgbClr val="FFFFFF"/>
                  </a:solidFill>
                  <a:latin typeface="+mn-lt"/>
                  <a:ea typeface="+mn-ea"/>
                  <a:cs typeface="+mn-cs"/>
                </a:rPr>
                <a:t>数据</a:t>
              </a:r>
            </a:p>
          </p:txBody>
        </p:sp>
      </p:grpSp>
      <p:grpSp>
        <p:nvGrpSpPr>
          <p:cNvPr id="44" name="ai-step-2"/>
          <p:cNvGrpSpPr/>
          <p:nvPr/>
        </p:nvGrpSpPr>
        <p:grpSpPr>
          <a:xfrm>
            <a:off x="3238500" y="952500"/>
            <a:ext cx="2762250" cy="4895850"/>
            <a:chOff x="3238500" y="952500"/>
            <a:chExt cx="2762250" cy="4895850"/>
          </a:xfrm>
        </p:grpSpPr>
        <p:sp>
          <p:nvSpPr>
            <p:cNvPr id="25" name="Rectangle 25"/>
            <p:cNvSpPr/>
            <p:nvPr/>
          </p:nvSpPr>
          <p:spPr>
            <a:xfrm>
              <a:off x="3238500" y="952500"/>
              <a:ext cx="2762250" cy="4895850"/>
            </a:xfrm>
            <a:prstGeom prst="roundRect">
              <a:avLst>
                <a:gd name="adj" fmla="val 2759"/>
              </a:avLst>
            </a:prstGeom>
            <a:solidFill>
              <a:srgbClr val="FFF8F6"/>
            </a:solidFill>
            <a:ln w="9525">
              <a:solidFill>
                <a:srgbClr val="F0C0B8"/>
              </a:solidFill>
            </a:ln>
          </p:spPr>
        </p:sp>
        <p:sp>
          <p:nvSpPr>
            <p:cNvPr id="26" name="TextBox 26"/>
            <p:cNvSpPr txBox="1"/>
            <p:nvPr/>
          </p:nvSpPr>
          <p:spPr>
            <a:xfrm>
              <a:off x="4408426" y="1248728"/>
              <a:ext cx="422398" cy="498729"/>
            </a:xfrm>
            <a:prstGeom prst="rect">
              <a:avLst/>
            </a:prstGeom>
            <a:noFill/>
            <a:ln>
              <a:noFill/>
            </a:ln>
          </p:spPr>
          <p:txBody>
            <a:bodyPr wrap="none" lIns="0" tIns="0" rIns="0" bIns="0" anchor="t" anchorCtr="0">
              <a:spAutoFit/>
            </a:bodyPr>
            <a:lstStyle/>
            <a:p>
              <a:pPr algn="ctr"/>
              <a:r>
                <a:rPr lang="zh-CN" sz="2550" b="1" dirty="0">
                  <a:solidFill>
                    <a:srgbClr val="E5624C"/>
                  </a:solidFill>
                  <a:latin typeface="+mn-lt"/>
                  <a:ea typeface="+mn-ea"/>
                  <a:cs typeface="+mn-cs"/>
                </a:rPr>
                <a:t>2.</a:t>
              </a:r>
            </a:p>
          </p:txBody>
        </p:sp>
        <p:sp>
          <p:nvSpPr>
            <p:cNvPr id="27" name="Rectangle 27"/>
            <p:cNvSpPr/>
            <p:nvPr/>
          </p:nvSpPr>
          <p:spPr>
            <a:xfrm>
              <a:off x="3619500" y="1714500"/>
              <a:ext cx="2000250" cy="285750"/>
            </a:xfrm>
            <a:prstGeom prst="roundRect">
              <a:avLst>
                <a:gd name="adj" fmla="val 50000"/>
              </a:avLst>
            </a:prstGeom>
            <a:gradFill>
              <a:gsLst>
                <a:gs pos="0">
                  <a:srgbClr val="E5624C"/>
                </a:gs>
                <a:gs pos="100000">
                  <a:srgbClr val="F0998A"/>
                </a:gs>
              </a:gsLst>
              <a:lin ang="0" scaled="1"/>
            </a:gradFill>
            <a:ln>
              <a:noFill/>
            </a:ln>
          </p:spPr>
        </p:sp>
        <p:sp>
          <p:nvSpPr>
            <p:cNvPr id="28" name="TextBox 28"/>
            <p:cNvSpPr txBox="1"/>
            <p:nvPr/>
          </p:nvSpPr>
          <p:spPr>
            <a:xfrm>
              <a:off x="4331589" y="17916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用户洞察</a:t>
              </a:r>
            </a:p>
          </p:txBody>
        </p:sp>
        <p:sp>
          <p:nvSpPr>
            <p:cNvPr id="29" name="Freeform 29"/>
            <p:cNvSpPr/>
            <p:nvPr/>
          </p:nvSpPr>
          <p:spPr>
            <a:xfrm>
              <a:off x="3648075" y="2838450"/>
              <a:ext cx="971550" cy="971550"/>
            </a:xfrm>
            <a:custGeom>
              <a:avLst/>
              <a:gdLst/>
              <a:ahLst/>
              <a:cxnLst/>
              <a:rect l="l" t="t" r="r" b="b"/>
              <a:pathLst>
                <a:path w="971550" h="971550">
                  <a:moveTo>
                    <a:pt x="971550" y="971550"/>
                  </a:moveTo>
                  <a:lnTo>
                    <a:pt x="971550" y="0"/>
                  </a:lnTo>
                  <a:cubicBezTo>
                    <a:pt x="434978" y="0"/>
                    <a:pt x="0" y="434978"/>
                    <a:pt x="0" y="971550"/>
                  </a:cubicBezTo>
                  <a:close/>
                </a:path>
              </a:pathLst>
            </a:custGeom>
            <a:solidFill>
              <a:srgbClr val="E5624C"/>
            </a:solidFill>
            <a:ln>
              <a:noFill/>
            </a:ln>
          </p:spPr>
        </p:sp>
        <p:sp>
          <p:nvSpPr>
            <p:cNvPr id="30" name="Freeform 30"/>
            <p:cNvSpPr/>
            <p:nvPr/>
          </p:nvSpPr>
          <p:spPr>
            <a:xfrm>
              <a:off x="4619625" y="2838450"/>
              <a:ext cx="971550" cy="971550"/>
            </a:xfrm>
            <a:custGeom>
              <a:avLst/>
              <a:gdLst/>
              <a:ahLst/>
              <a:cxnLst/>
              <a:rect l="l" t="t" r="r" b="b"/>
              <a:pathLst>
                <a:path w="971550" h="971550">
                  <a:moveTo>
                    <a:pt x="0" y="971550"/>
                  </a:moveTo>
                  <a:lnTo>
                    <a:pt x="0" y="0"/>
                  </a:lnTo>
                  <a:cubicBezTo>
                    <a:pt x="536572" y="0"/>
                    <a:pt x="971550" y="434978"/>
                    <a:pt x="971550" y="971550"/>
                  </a:cubicBezTo>
                  <a:close/>
                </a:path>
              </a:pathLst>
            </a:custGeom>
            <a:solidFill>
              <a:srgbClr val="F0998A"/>
            </a:solidFill>
            <a:ln>
              <a:noFill/>
            </a:ln>
          </p:spPr>
        </p:sp>
        <p:sp>
          <p:nvSpPr>
            <p:cNvPr id="31" name="Freeform 31"/>
            <p:cNvSpPr/>
            <p:nvPr/>
          </p:nvSpPr>
          <p:spPr>
            <a:xfrm>
              <a:off x="4619625" y="3810000"/>
              <a:ext cx="971550" cy="971550"/>
            </a:xfrm>
            <a:custGeom>
              <a:avLst/>
              <a:gdLst/>
              <a:ahLst/>
              <a:cxnLst/>
              <a:rect l="l" t="t" r="r" b="b"/>
              <a:pathLst>
                <a:path w="971550" h="971550">
                  <a:moveTo>
                    <a:pt x="0" y="0"/>
                  </a:moveTo>
                  <a:lnTo>
                    <a:pt x="971550" y="0"/>
                  </a:lnTo>
                  <a:cubicBezTo>
                    <a:pt x="971550" y="536572"/>
                    <a:pt x="536572" y="971550"/>
                    <a:pt x="0" y="971550"/>
                  </a:cubicBezTo>
                  <a:close/>
                </a:path>
              </a:pathLst>
            </a:custGeom>
            <a:solidFill>
              <a:srgbClr val="E5624C"/>
            </a:solidFill>
            <a:ln>
              <a:noFill/>
            </a:ln>
          </p:spPr>
        </p:sp>
        <p:sp>
          <p:nvSpPr>
            <p:cNvPr id="32" name="Freeform 32"/>
            <p:cNvSpPr/>
            <p:nvPr/>
          </p:nvSpPr>
          <p:spPr>
            <a:xfrm>
              <a:off x="3648075" y="3810000"/>
              <a:ext cx="971550" cy="971550"/>
            </a:xfrm>
            <a:custGeom>
              <a:avLst/>
              <a:gdLst/>
              <a:ahLst/>
              <a:cxnLst/>
              <a:rect l="l" t="t" r="r" b="b"/>
              <a:pathLst>
                <a:path w="971550" h="971550">
                  <a:moveTo>
                    <a:pt x="971550" y="0"/>
                  </a:moveTo>
                  <a:lnTo>
                    <a:pt x="971550" y="971550"/>
                  </a:lnTo>
                  <a:cubicBezTo>
                    <a:pt x="434978" y="971550"/>
                    <a:pt x="0" y="536572"/>
                    <a:pt x="0" y="0"/>
                  </a:cubicBezTo>
                  <a:close/>
                </a:path>
              </a:pathLst>
            </a:custGeom>
            <a:solidFill>
              <a:srgbClr val="F0998A"/>
            </a:solidFill>
            <a:ln>
              <a:noFill/>
            </a:ln>
          </p:spPr>
        </p:sp>
        <p:sp>
          <p:nvSpPr>
            <p:cNvPr id="33" name="TextBox 33"/>
            <p:cNvSpPr txBox="1"/>
            <p:nvPr/>
          </p:nvSpPr>
          <p:spPr>
            <a:xfrm>
              <a:off x="4019907" y="3214688"/>
              <a:ext cx="285036" cy="261938"/>
            </a:xfrm>
            <a:prstGeom prst="rect">
              <a:avLst/>
            </a:prstGeom>
            <a:noFill/>
            <a:ln>
              <a:noFill/>
            </a:ln>
          </p:spPr>
          <p:txBody>
            <a:bodyPr wrap="none" lIns="0" tIns="0" rIns="0" bIns="0" anchor="t" anchorCtr="0">
              <a:spAutoFit/>
            </a:bodyPr>
            <a:lstStyle/>
            <a:p>
              <a:pPr algn="ctr">
                <a:lnSpc>
                  <a:spcPts val="900"/>
                </a:lnSpc>
              </a:pPr>
              <a:r>
                <a:rPr lang="zh-CN" sz="750" b="1" dirty="0">
                  <a:solidFill>
                    <a:srgbClr val="FFFFFF"/>
                  </a:solidFill>
                  <a:latin typeface="+mn-lt"/>
                  <a:ea typeface="+mn-ea"/>
                  <a:cs typeface="+mn-cs"/>
                </a:rPr>
                <a:t>用户</a:t>
              </a:r>
              <a:br/>
              <a:r>
                <a:rPr lang="zh-CN" sz="750" b="1" dirty="0">
                  <a:solidFill>
                    <a:srgbClr val="FFFFFF"/>
                  </a:solidFill>
                  <a:latin typeface="+mn-lt"/>
                  <a:ea typeface="+mn-ea"/>
                  <a:cs typeface="+mn-cs"/>
                </a:rPr>
                <a:t>AI标签</a:t>
              </a:r>
            </a:p>
          </p:txBody>
        </p:sp>
        <p:sp>
          <p:nvSpPr>
            <p:cNvPr id="34" name="TextBox 34"/>
            <p:cNvSpPr txBox="1"/>
            <p:nvPr/>
          </p:nvSpPr>
          <p:spPr>
            <a:xfrm>
              <a:off x="4939665" y="3271838"/>
              <a:ext cx="31242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人群包</a:t>
              </a:r>
            </a:p>
          </p:txBody>
        </p:sp>
        <p:sp>
          <p:nvSpPr>
            <p:cNvPr id="35" name="TextBox 35"/>
            <p:cNvSpPr txBox="1"/>
            <p:nvPr/>
          </p:nvSpPr>
          <p:spPr>
            <a:xfrm>
              <a:off x="3967162" y="4205288"/>
              <a:ext cx="390525" cy="261938"/>
            </a:xfrm>
            <a:prstGeom prst="rect">
              <a:avLst/>
            </a:prstGeom>
            <a:noFill/>
            <a:ln>
              <a:noFill/>
            </a:ln>
          </p:spPr>
          <p:txBody>
            <a:bodyPr wrap="none" lIns="0" tIns="0" rIns="0" bIns="0" anchor="t" anchorCtr="0">
              <a:spAutoFit/>
            </a:bodyPr>
            <a:lstStyle/>
            <a:p>
              <a:pPr algn="ctr">
                <a:lnSpc>
                  <a:spcPts val="900"/>
                </a:lnSpc>
              </a:pPr>
              <a:r>
                <a:rPr lang="zh-CN" sz="750" b="1" dirty="0">
                  <a:solidFill>
                    <a:srgbClr val="FFFFFF"/>
                  </a:solidFill>
                  <a:latin typeface="+mn-lt"/>
                  <a:ea typeface="+mn-ea"/>
                  <a:cs typeface="+mn-cs"/>
                </a:rPr>
                <a:t>消费者</a:t>
              </a:r>
              <a:br/>
              <a:r>
                <a:rPr lang="zh-CN" sz="750" b="1" dirty="0">
                  <a:solidFill>
                    <a:srgbClr val="FFFFFF"/>
                  </a:solidFill>
                  <a:latin typeface="+mn-lt"/>
                  <a:ea typeface="+mn-ea"/>
                  <a:cs typeface="+mn-cs"/>
                </a:rPr>
                <a:t>行为分析</a:t>
              </a:r>
            </a:p>
          </p:txBody>
        </p:sp>
        <p:sp>
          <p:nvSpPr>
            <p:cNvPr id="36" name="TextBox 36"/>
            <p:cNvSpPr txBox="1"/>
            <p:nvPr/>
          </p:nvSpPr>
          <p:spPr>
            <a:xfrm>
              <a:off x="4889182" y="42624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用户画像</a:t>
              </a:r>
            </a:p>
          </p:txBody>
        </p:sp>
        <p:sp>
          <p:nvSpPr>
            <p:cNvPr id="37" name="Ellipse 37"/>
            <p:cNvSpPr/>
            <p:nvPr/>
          </p:nvSpPr>
          <p:spPr>
            <a:xfrm>
              <a:off x="4257675" y="3448050"/>
              <a:ext cx="723900" cy="723900"/>
            </a:xfrm>
            <a:prstGeom prst="ellipse">
              <a:avLst/>
            </a:prstGeom>
            <a:solidFill>
              <a:srgbClr val="FFFFFF"/>
            </a:solidFill>
            <a:ln>
              <a:noFill/>
            </a:ln>
          </p:spPr>
        </p:sp>
        <p:sp>
          <p:nvSpPr>
            <p:cNvPr id="38" name="Ellipse 38"/>
            <p:cNvSpPr/>
            <p:nvPr/>
          </p:nvSpPr>
          <p:spPr>
            <a:xfrm>
              <a:off x="4352925" y="3543300"/>
              <a:ext cx="533400" cy="533400"/>
            </a:xfrm>
            <a:prstGeom prst="ellipse">
              <a:avLst/>
            </a:prstGeom>
            <a:solidFill>
              <a:srgbClr val="E5624C"/>
            </a:solidFill>
            <a:ln>
              <a:noFill/>
            </a:ln>
          </p:spPr>
        </p:sp>
        <p:grpSp>
          <p:nvGrpSpPr>
            <p:cNvPr id="43" name="Group 43"/>
            <p:cNvGrpSpPr/>
            <p:nvPr/>
          </p:nvGrpSpPr>
          <p:grpSpPr>
            <a:xfrm>
              <a:off x="4519613" y="3709988"/>
              <a:ext cx="200026" cy="200025"/>
              <a:chOff x="4519613" y="3709988"/>
              <a:chExt cx="200026" cy="200025"/>
            </a:xfrm>
          </p:grpSpPr>
          <p:sp>
            <p:nvSpPr>
              <p:cNvPr id="39" name="Freeform 39"/>
              <p:cNvSpPr/>
              <p:nvPr/>
            </p:nvSpPr>
            <p:spPr>
              <a:xfrm>
                <a:off x="4541838" y="37099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40" name="Freeform 40"/>
              <p:cNvSpPr/>
              <p:nvPr/>
            </p:nvSpPr>
            <p:spPr>
              <a:xfrm>
                <a:off x="4519613" y="38433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FFFFFF"/>
                </a:solidFill>
              </a:ln>
            </p:spPr>
          </p:sp>
          <p:sp>
            <p:nvSpPr>
              <p:cNvPr id="41" name="Freeform 41"/>
              <p:cNvSpPr/>
              <p:nvPr/>
            </p:nvSpPr>
            <p:spPr>
              <a:xfrm>
                <a:off x="4664076" y="371143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FFFFFF"/>
                </a:solidFill>
              </a:ln>
            </p:spPr>
          </p:sp>
          <p:sp>
            <p:nvSpPr>
              <p:cNvPr id="42" name="Freeform 42"/>
              <p:cNvSpPr/>
              <p:nvPr/>
            </p:nvSpPr>
            <p:spPr>
              <a:xfrm>
                <a:off x="4686301" y="384500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FFFFFF"/>
                </a:solidFill>
              </a:ln>
            </p:spPr>
          </p:sp>
        </p:grpSp>
      </p:grpSp>
      <p:grpSp>
        <p:nvGrpSpPr>
          <p:cNvPr id="72" name="ai-step-3"/>
          <p:cNvGrpSpPr/>
          <p:nvPr/>
        </p:nvGrpSpPr>
        <p:grpSpPr>
          <a:xfrm>
            <a:off x="6134100" y="952500"/>
            <a:ext cx="2762250" cy="4895850"/>
            <a:chOff x="6134100" y="952500"/>
            <a:chExt cx="2762250" cy="4895850"/>
          </a:xfrm>
        </p:grpSpPr>
        <p:sp>
          <p:nvSpPr>
            <p:cNvPr id="45" name="Rectangle 45"/>
            <p:cNvSpPr/>
            <p:nvPr/>
          </p:nvSpPr>
          <p:spPr>
            <a:xfrm>
              <a:off x="6134100" y="952500"/>
              <a:ext cx="2762250" cy="4895850"/>
            </a:xfrm>
            <a:prstGeom prst="roundRect">
              <a:avLst>
                <a:gd name="adj" fmla="val 2759"/>
              </a:avLst>
            </a:prstGeom>
            <a:solidFill>
              <a:srgbClr val="FFFFFF"/>
            </a:solidFill>
            <a:ln w="9525">
              <a:solidFill>
                <a:srgbClr val="E4E7F5"/>
              </a:solidFill>
            </a:ln>
          </p:spPr>
        </p:sp>
        <p:sp>
          <p:nvSpPr>
            <p:cNvPr id="46" name="TextBox 46"/>
            <p:cNvSpPr txBox="1"/>
            <p:nvPr/>
          </p:nvSpPr>
          <p:spPr>
            <a:xfrm>
              <a:off x="7304026" y="1248728"/>
              <a:ext cx="422398" cy="498729"/>
            </a:xfrm>
            <a:prstGeom prst="rect">
              <a:avLst/>
            </a:prstGeom>
            <a:noFill/>
            <a:ln>
              <a:noFill/>
            </a:ln>
          </p:spPr>
          <p:txBody>
            <a:bodyPr wrap="none" lIns="0" tIns="0" rIns="0" bIns="0" anchor="t" anchorCtr="0">
              <a:spAutoFit/>
            </a:bodyPr>
            <a:lstStyle/>
            <a:p>
              <a:pPr algn="ctr"/>
              <a:r>
                <a:rPr lang="zh-CN" sz="2550" b="1" dirty="0">
                  <a:solidFill>
                    <a:srgbClr val="C1553F"/>
                  </a:solidFill>
                  <a:latin typeface="+mn-lt"/>
                  <a:ea typeface="+mn-ea"/>
                  <a:cs typeface="+mn-cs"/>
                </a:rPr>
                <a:t>3.</a:t>
              </a:r>
            </a:p>
          </p:txBody>
        </p:sp>
        <p:sp>
          <p:nvSpPr>
            <p:cNvPr id="47" name="Rectangle 47"/>
            <p:cNvSpPr/>
            <p:nvPr/>
          </p:nvSpPr>
          <p:spPr>
            <a:xfrm>
              <a:off x="6515100" y="1714500"/>
              <a:ext cx="2000250" cy="285750"/>
            </a:xfrm>
            <a:prstGeom prst="roundRect">
              <a:avLst>
                <a:gd name="adj" fmla="val 50000"/>
              </a:avLst>
            </a:prstGeom>
            <a:gradFill>
              <a:gsLst>
                <a:gs pos="0">
                  <a:srgbClr val="C1553F"/>
                </a:gs>
                <a:gs pos="100000">
                  <a:srgbClr val="CE897B"/>
                </a:gs>
              </a:gsLst>
              <a:lin ang="0" scaled="1"/>
            </a:gradFill>
            <a:ln>
              <a:noFill/>
            </a:ln>
          </p:spPr>
        </p:sp>
        <p:sp>
          <p:nvSpPr>
            <p:cNvPr id="48" name="TextBox 48"/>
            <p:cNvSpPr txBox="1"/>
            <p:nvPr/>
          </p:nvSpPr>
          <p:spPr>
            <a:xfrm>
              <a:off x="7301892" y="1791652"/>
              <a:ext cx="42666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AI分析</a:t>
              </a:r>
            </a:p>
          </p:txBody>
        </p:sp>
        <p:sp>
          <p:nvSpPr>
            <p:cNvPr id="49" name="Ellipse 49"/>
            <p:cNvSpPr/>
            <p:nvPr/>
          </p:nvSpPr>
          <p:spPr>
            <a:xfrm>
              <a:off x="6419850" y="2609850"/>
              <a:ext cx="495300" cy="495300"/>
            </a:xfrm>
            <a:prstGeom prst="ellipse">
              <a:avLst/>
            </a:prstGeom>
            <a:solidFill>
              <a:srgbClr val="D47D6B"/>
            </a:solidFill>
            <a:ln>
              <a:noFill/>
            </a:ln>
          </p:spPr>
        </p:sp>
        <p:sp>
          <p:nvSpPr>
            <p:cNvPr id="50" name="TextBox 50"/>
            <p:cNvSpPr txBox="1"/>
            <p:nvPr/>
          </p:nvSpPr>
          <p:spPr>
            <a:xfrm>
              <a:off x="6572568" y="2752011"/>
              <a:ext cx="18986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关联</a:t>
              </a:r>
              <a:br/>
              <a:r>
                <a:rPr lang="zh-CN" sz="710" dirty="0">
                  <a:solidFill>
                    <a:srgbClr val="FFFFFF"/>
                  </a:solidFill>
                  <a:latin typeface="+mn-lt"/>
                  <a:ea typeface="+mn-ea"/>
                  <a:cs typeface="+mn-cs"/>
                </a:rPr>
                <a:t>算法</a:t>
              </a:r>
            </a:p>
          </p:txBody>
        </p:sp>
        <p:sp>
          <p:nvSpPr>
            <p:cNvPr id="51" name="Ellipse 51"/>
            <p:cNvSpPr/>
            <p:nvPr/>
          </p:nvSpPr>
          <p:spPr>
            <a:xfrm>
              <a:off x="7010400" y="2324100"/>
              <a:ext cx="495300" cy="495300"/>
            </a:xfrm>
            <a:prstGeom prst="ellipse">
              <a:avLst/>
            </a:prstGeom>
            <a:solidFill>
              <a:srgbClr val="D47D6B"/>
            </a:solidFill>
            <a:ln>
              <a:noFill/>
            </a:ln>
          </p:spPr>
        </p:sp>
        <p:sp>
          <p:nvSpPr>
            <p:cNvPr id="52" name="TextBox 52"/>
            <p:cNvSpPr txBox="1"/>
            <p:nvPr/>
          </p:nvSpPr>
          <p:spPr>
            <a:xfrm>
              <a:off x="7163118" y="2466261"/>
              <a:ext cx="18986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机器</a:t>
              </a:r>
              <a:br/>
              <a:r>
                <a:rPr lang="zh-CN" sz="710" dirty="0">
                  <a:solidFill>
                    <a:srgbClr val="FFFFFF"/>
                  </a:solidFill>
                  <a:latin typeface="+mn-lt"/>
                  <a:ea typeface="+mn-ea"/>
                  <a:cs typeface="+mn-cs"/>
                </a:rPr>
                <a:t>学习</a:t>
              </a:r>
            </a:p>
          </p:txBody>
        </p:sp>
        <p:sp>
          <p:nvSpPr>
            <p:cNvPr id="53" name="Ellipse 53"/>
            <p:cNvSpPr/>
            <p:nvPr/>
          </p:nvSpPr>
          <p:spPr>
            <a:xfrm>
              <a:off x="7620000" y="2514600"/>
              <a:ext cx="495300" cy="495300"/>
            </a:xfrm>
            <a:prstGeom prst="ellipse">
              <a:avLst/>
            </a:prstGeom>
            <a:solidFill>
              <a:srgbClr val="D47D6B"/>
            </a:solidFill>
            <a:ln>
              <a:noFill/>
            </a:ln>
          </p:spPr>
        </p:sp>
        <p:sp>
          <p:nvSpPr>
            <p:cNvPr id="54" name="TextBox 54"/>
            <p:cNvSpPr txBox="1"/>
            <p:nvPr/>
          </p:nvSpPr>
          <p:spPr>
            <a:xfrm>
              <a:off x="7772718" y="2656761"/>
              <a:ext cx="18986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智能</a:t>
              </a:r>
              <a:br/>
              <a:r>
                <a:rPr lang="zh-CN" sz="710" dirty="0">
                  <a:solidFill>
                    <a:srgbClr val="FFFFFF"/>
                  </a:solidFill>
                  <a:latin typeface="+mn-lt"/>
                  <a:ea typeface="+mn-ea"/>
                  <a:cs typeface="+mn-cs"/>
                </a:rPr>
                <a:t>推荐</a:t>
              </a:r>
            </a:p>
          </p:txBody>
        </p:sp>
        <p:sp>
          <p:nvSpPr>
            <p:cNvPr id="55" name="Ellipse 55"/>
            <p:cNvSpPr/>
            <p:nvPr/>
          </p:nvSpPr>
          <p:spPr>
            <a:xfrm>
              <a:off x="8172450" y="2819400"/>
              <a:ext cx="495300" cy="495300"/>
            </a:xfrm>
            <a:prstGeom prst="ellipse">
              <a:avLst/>
            </a:prstGeom>
            <a:solidFill>
              <a:srgbClr val="D47D6B"/>
            </a:solidFill>
            <a:ln>
              <a:noFill/>
            </a:ln>
          </p:spPr>
        </p:sp>
        <p:sp>
          <p:nvSpPr>
            <p:cNvPr id="56" name="TextBox 56"/>
            <p:cNvSpPr txBox="1"/>
            <p:nvPr/>
          </p:nvSpPr>
          <p:spPr>
            <a:xfrm>
              <a:off x="8325168" y="2961561"/>
              <a:ext cx="18986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语义</a:t>
              </a:r>
              <a:br/>
              <a:r>
                <a:rPr lang="zh-CN" sz="710" dirty="0">
                  <a:solidFill>
                    <a:srgbClr val="FFFFFF"/>
                  </a:solidFill>
                  <a:latin typeface="+mn-lt"/>
                  <a:ea typeface="+mn-ea"/>
                  <a:cs typeface="+mn-cs"/>
                </a:rPr>
                <a:t>理解</a:t>
              </a:r>
            </a:p>
          </p:txBody>
        </p:sp>
        <p:sp>
          <p:nvSpPr>
            <p:cNvPr id="57" name="Ellipse 57"/>
            <p:cNvSpPr/>
            <p:nvPr/>
          </p:nvSpPr>
          <p:spPr>
            <a:xfrm>
              <a:off x="6724650" y="3105150"/>
              <a:ext cx="495300" cy="495300"/>
            </a:xfrm>
            <a:prstGeom prst="ellipse">
              <a:avLst/>
            </a:prstGeom>
            <a:solidFill>
              <a:srgbClr val="D47D6B"/>
            </a:solidFill>
            <a:ln>
              <a:noFill/>
            </a:ln>
          </p:spPr>
        </p:sp>
        <p:sp>
          <p:nvSpPr>
            <p:cNvPr id="58" name="TextBox 58"/>
            <p:cNvSpPr txBox="1"/>
            <p:nvPr/>
          </p:nvSpPr>
          <p:spPr>
            <a:xfrm>
              <a:off x="6877368" y="3247311"/>
              <a:ext cx="18986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智能</a:t>
              </a:r>
              <a:br/>
              <a:r>
                <a:rPr lang="zh-CN" sz="710" dirty="0">
                  <a:solidFill>
                    <a:srgbClr val="FFFFFF"/>
                  </a:solidFill>
                  <a:latin typeface="+mn-lt"/>
                  <a:ea typeface="+mn-ea"/>
                  <a:cs typeface="+mn-cs"/>
                </a:rPr>
                <a:t>搜索</a:t>
              </a:r>
            </a:p>
          </p:txBody>
        </p:sp>
        <p:sp>
          <p:nvSpPr>
            <p:cNvPr id="59" name="Ellipse 59"/>
            <p:cNvSpPr/>
            <p:nvPr/>
          </p:nvSpPr>
          <p:spPr>
            <a:xfrm>
              <a:off x="7639050" y="3162300"/>
              <a:ext cx="495300" cy="495300"/>
            </a:xfrm>
            <a:prstGeom prst="ellipse">
              <a:avLst/>
            </a:prstGeom>
            <a:solidFill>
              <a:srgbClr val="D47D6B"/>
            </a:solidFill>
            <a:ln>
              <a:noFill/>
            </a:ln>
          </p:spPr>
        </p:sp>
        <p:sp>
          <p:nvSpPr>
            <p:cNvPr id="60" name="TextBox 60"/>
            <p:cNvSpPr txBox="1"/>
            <p:nvPr/>
          </p:nvSpPr>
          <p:spPr>
            <a:xfrm>
              <a:off x="7791768" y="3304461"/>
              <a:ext cx="18986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FFFFFF"/>
                  </a:solidFill>
                  <a:latin typeface="+mn-lt"/>
                  <a:ea typeface="+mn-ea"/>
                  <a:cs typeface="+mn-cs"/>
                </a:rPr>
                <a:t>知识</a:t>
              </a:r>
              <a:br/>
              <a:r>
                <a:rPr lang="zh-CN" sz="710" dirty="0">
                  <a:solidFill>
                    <a:srgbClr val="FFFFFF"/>
                  </a:solidFill>
                  <a:latin typeface="+mn-lt"/>
                  <a:ea typeface="+mn-ea"/>
                  <a:cs typeface="+mn-cs"/>
                </a:rPr>
                <a:t>图谱</a:t>
              </a:r>
            </a:p>
          </p:txBody>
        </p:sp>
        <p:sp>
          <p:nvSpPr>
            <p:cNvPr id="61" name="Ellipse 61"/>
            <p:cNvSpPr/>
            <p:nvPr/>
          </p:nvSpPr>
          <p:spPr>
            <a:xfrm>
              <a:off x="6600825" y="5486400"/>
              <a:ext cx="1828800" cy="228600"/>
            </a:xfrm>
            <a:prstGeom prst="ellipse">
              <a:avLst/>
            </a:prstGeom>
            <a:solidFill>
              <a:srgbClr val="E9EBF8"/>
            </a:solidFill>
            <a:ln>
              <a:noFill/>
            </a:ln>
          </p:spPr>
        </p:sp>
        <p:sp>
          <p:nvSpPr>
            <p:cNvPr id="62" name="Rectangle 62"/>
            <p:cNvSpPr/>
            <p:nvPr/>
          </p:nvSpPr>
          <p:spPr>
            <a:xfrm>
              <a:off x="7105650" y="5181600"/>
              <a:ext cx="190500" cy="190500"/>
            </a:xfrm>
            <a:prstGeom prst="roundRect">
              <a:avLst>
                <a:gd name="adj" fmla="val 10000"/>
              </a:avLst>
            </a:prstGeom>
            <a:solidFill>
              <a:srgbClr val="D47D6B"/>
            </a:solidFill>
            <a:ln>
              <a:noFill/>
            </a:ln>
          </p:spPr>
        </p:sp>
        <p:sp>
          <p:nvSpPr>
            <p:cNvPr id="63" name="Rectangle 63"/>
            <p:cNvSpPr/>
            <p:nvPr/>
          </p:nvSpPr>
          <p:spPr>
            <a:xfrm>
              <a:off x="7334250" y="5181600"/>
              <a:ext cx="190500" cy="190500"/>
            </a:xfrm>
            <a:prstGeom prst="roundRect">
              <a:avLst>
                <a:gd name="adj" fmla="val 10000"/>
              </a:avLst>
            </a:prstGeom>
            <a:solidFill>
              <a:srgbClr val="DD988A"/>
            </a:solidFill>
            <a:ln>
              <a:noFill/>
            </a:ln>
          </p:spPr>
        </p:sp>
        <p:sp>
          <p:nvSpPr>
            <p:cNvPr id="64" name="Rectangle 64"/>
            <p:cNvSpPr/>
            <p:nvPr/>
          </p:nvSpPr>
          <p:spPr>
            <a:xfrm>
              <a:off x="7562850" y="5181600"/>
              <a:ext cx="190500" cy="190500"/>
            </a:xfrm>
            <a:prstGeom prst="roundRect">
              <a:avLst>
                <a:gd name="adj" fmla="val 10000"/>
              </a:avLst>
            </a:prstGeom>
            <a:solidFill>
              <a:srgbClr val="D47D6B"/>
            </a:solidFill>
            <a:ln>
              <a:noFill/>
            </a:ln>
          </p:spPr>
        </p:sp>
        <p:sp>
          <p:nvSpPr>
            <p:cNvPr id="65" name="Rectangle 65"/>
            <p:cNvSpPr/>
            <p:nvPr/>
          </p:nvSpPr>
          <p:spPr>
            <a:xfrm>
              <a:off x="7791450" y="5181600"/>
              <a:ext cx="190500" cy="190500"/>
            </a:xfrm>
            <a:prstGeom prst="roundRect">
              <a:avLst>
                <a:gd name="adj" fmla="val 10000"/>
              </a:avLst>
            </a:prstGeom>
            <a:solidFill>
              <a:srgbClr val="DD988A"/>
            </a:solidFill>
            <a:ln>
              <a:noFill/>
            </a:ln>
          </p:spPr>
        </p:sp>
        <p:sp>
          <p:nvSpPr>
            <p:cNvPr id="66" name="Rectangle 66"/>
            <p:cNvSpPr/>
            <p:nvPr/>
          </p:nvSpPr>
          <p:spPr>
            <a:xfrm>
              <a:off x="7219950" y="4953000"/>
              <a:ext cx="190500" cy="190500"/>
            </a:xfrm>
            <a:prstGeom prst="roundRect">
              <a:avLst>
                <a:gd name="adj" fmla="val 10000"/>
              </a:avLst>
            </a:prstGeom>
            <a:solidFill>
              <a:srgbClr val="DD988A"/>
            </a:solidFill>
            <a:ln>
              <a:noFill/>
            </a:ln>
          </p:spPr>
        </p:sp>
        <p:sp>
          <p:nvSpPr>
            <p:cNvPr id="67" name="Rectangle 67"/>
            <p:cNvSpPr/>
            <p:nvPr/>
          </p:nvSpPr>
          <p:spPr>
            <a:xfrm>
              <a:off x="7448550" y="4953000"/>
              <a:ext cx="190500" cy="190500"/>
            </a:xfrm>
            <a:prstGeom prst="roundRect">
              <a:avLst>
                <a:gd name="adj" fmla="val 10000"/>
              </a:avLst>
            </a:prstGeom>
            <a:solidFill>
              <a:srgbClr val="E5624C"/>
            </a:solidFill>
            <a:ln>
              <a:noFill/>
            </a:ln>
          </p:spPr>
        </p:sp>
        <p:sp>
          <p:nvSpPr>
            <p:cNvPr id="68" name="Rectangle 68"/>
            <p:cNvSpPr/>
            <p:nvPr/>
          </p:nvSpPr>
          <p:spPr>
            <a:xfrm>
              <a:off x="7677150" y="4953000"/>
              <a:ext cx="190500" cy="190500"/>
            </a:xfrm>
            <a:prstGeom prst="roundRect">
              <a:avLst>
                <a:gd name="adj" fmla="val 10000"/>
              </a:avLst>
            </a:prstGeom>
            <a:solidFill>
              <a:srgbClr val="DD988A"/>
            </a:solidFill>
            <a:ln>
              <a:noFill/>
            </a:ln>
          </p:spPr>
        </p:sp>
        <p:sp>
          <p:nvSpPr>
            <p:cNvPr id="69" name="Rectangle 69"/>
            <p:cNvSpPr/>
            <p:nvPr/>
          </p:nvSpPr>
          <p:spPr>
            <a:xfrm>
              <a:off x="7334250" y="4724400"/>
              <a:ext cx="190500" cy="190500"/>
            </a:xfrm>
            <a:prstGeom prst="roundRect">
              <a:avLst>
                <a:gd name="adj" fmla="val 10000"/>
              </a:avLst>
            </a:prstGeom>
            <a:solidFill>
              <a:srgbClr val="D47D6B"/>
            </a:solidFill>
            <a:ln>
              <a:noFill/>
            </a:ln>
          </p:spPr>
        </p:sp>
        <p:sp>
          <p:nvSpPr>
            <p:cNvPr id="70" name="Rectangle 70"/>
            <p:cNvSpPr/>
            <p:nvPr/>
          </p:nvSpPr>
          <p:spPr>
            <a:xfrm>
              <a:off x="7562850" y="4724400"/>
              <a:ext cx="190500" cy="190500"/>
            </a:xfrm>
            <a:prstGeom prst="roundRect">
              <a:avLst>
                <a:gd name="adj" fmla="val 10000"/>
              </a:avLst>
            </a:prstGeom>
            <a:solidFill>
              <a:srgbClr val="D47D6B"/>
            </a:solidFill>
            <a:ln>
              <a:noFill/>
            </a:ln>
          </p:spPr>
        </p:sp>
        <p:sp>
          <p:nvSpPr>
            <p:cNvPr id="71" name="Rectangle 71"/>
            <p:cNvSpPr/>
            <p:nvPr/>
          </p:nvSpPr>
          <p:spPr>
            <a:xfrm>
              <a:off x="7448550" y="4495800"/>
              <a:ext cx="190500" cy="190500"/>
            </a:xfrm>
            <a:prstGeom prst="roundRect">
              <a:avLst>
                <a:gd name="adj" fmla="val 10000"/>
              </a:avLst>
            </a:prstGeom>
            <a:solidFill>
              <a:srgbClr val="C1553F"/>
            </a:solidFill>
            <a:ln>
              <a:noFill/>
            </a:ln>
          </p:spPr>
        </p:sp>
      </p:grpSp>
      <p:grpSp>
        <p:nvGrpSpPr>
          <p:cNvPr id="124" name="ai-step-4"/>
          <p:cNvGrpSpPr/>
          <p:nvPr/>
        </p:nvGrpSpPr>
        <p:grpSpPr>
          <a:xfrm>
            <a:off x="9029700" y="952500"/>
            <a:ext cx="2819400" cy="4895850"/>
            <a:chOff x="9029700" y="952500"/>
            <a:chExt cx="2819400" cy="4895850"/>
          </a:xfrm>
        </p:grpSpPr>
        <p:sp>
          <p:nvSpPr>
            <p:cNvPr id="73" name="Rectangle 73"/>
            <p:cNvSpPr/>
            <p:nvPr/>
          </p:nvSpPr>
          <p:spPr>
            <a:xfrm>
              <a:off x="9029700" y="952500"/>
              <a:ext cx="2819400" cy="4895850"/>
            </a:xfrm>
            <a:prstGeom prst="roundRect">
              <a:avLst>
                <a:gd name="adj" fmla="val 2703"/>
              </a:avLst>
            </a:prstGeom>
            <a:solidFill>
              <a:srgbClr val="FFFFFF"/>
            </a:solidFill>
            <a:ln w="9525">
              <a:solidFill>
                <a:srgbClr val="E4E7F5"/>
              </a:solidFill>
            </a:ln>
          </p:spPr>
        </p:sp>
        <p:sp>
          <p:nvSpPr>
            <p:cNvPr id="74" name="TextBox 74"/>
            <p:cNvSpPr txBox="1"/>
            <p:nvPr/>
          </p:nvSpPr>
          <p:spPr>
            <a:xfrm>
              <a:off x="10228201" y="1248728"/>
              <a:ext cx="422398" cy="498729"/>
            </a:xfrm>
            <a:prstGeom prst="rect">
              <a:avLst/>
            </a:prstGeom>
            <a:noFill/>
            <a:ln>
              <a:noFill/>
            </a:ln>
          </p:spPr>
          <p:txBody>
            <a:bodyPr wrap="none" lIns="0" tIns="0" rIns="0" bIns="0" anchor="t" anchorCtr="0">
              <a:spAutoFit/>
            </a:bodyPr>
            <a:lstStyle/>
            <a:p>
              <a:pPr algn="ctr"/>
              <a:r>
                <a:rPr lang="zh-CN" sz="2550" b="1" dirty="0">
                  <a:solidFill>
                    <a:srgbClr val="C1553F"/>
                  </a:solidFill>
                  <a:latin typeface="+mn-lt"/>
                  <a:ea typeface="+mn-ea"/>
                  <a:cs typeface="+mn-cs"/>
                </a:rPr>
                <a:t>4.</a:t>
              </a:r>
            </a:p>
          </p:txBody>
        </p:sp>
        <p:sp>
          <p:nvSpPr>
            <p:cNvPr id="75" name="Rectangle 75"/>
            <p:cNvSpPr/>
            <p:nvPr/>
          </p:nvSpPr>
          <p:spPr>
            <a:xfrm>
              <a:off x="9439275" y="1714500"/>
              <a:ext cx="2000250" cy="285750"/>
            </a:xfrm>
            <a:prstGeom prst="roundRect">
              <a:avLst>
                <a:gd name="adj" fmla="val 50000"/>
              </a:avLst>
            </a:prstGeom>
            <a:gradFill>
              <a:gsLst>
                <a:gs pos="0">
                  <a:srgbClr val="C1553F"/>
                </a:gs>
                <a:gs pos="100000">
                  <a:srgbClr val="CE897B"/>
                </a:gs>
              </a:gsLst>
              <a:lin ang="0" scaled="1"/>
            </a:gradFill>
            <a:ln>
              <a:noFill/>
            </a:ln>
          </p:spPr>
        </p:sp>
        <p:sp>
          <p:nvSpPr>
            <p:cNvPr id="76" name="TextBox 76"/>
            <p:cNvSpPr txBox="1"/>
            <p:nvPr/>
          </p:nvSpPr>
          <p:spPr>
            <a:xfrm>
              <a:off x="10151364" y="17916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策略制定</a:t>
              </a:r>
            </a:p>
          </p:txBody>
        </p:sp>
        <p:sp>
          <p:nvSpPr>
            <p:cNvPr id="77" name="Rectangle 77"/>
            <p:cNvSpPr/>
            <p:nvPr/>
          </p:nvSpPr>
          <p:spPr>
            <a:xfrm>
              <a:off x="9429750" y="2438400"/>
              <a:ext cx="266700" cy="990600"/>
            </a:xfrm>
            <a:prstGeom prst="roundRect">
              <a:avLst>
                <a:gd name="adj" fmla="val 50000"/>
              </a:avLst>
            </a:prstGeom>
            <a:solidFill>
              <a:srgbClr val="C1553F"/>
            </a:solidFill>
            <a:ln>
              <a:noFill/>
            </a:ln>
          </p:spPr>
        </p:sp>
        <p:sp>
          <p:nvSpPr>
            <p:cNvPr id="78" name="TextBox 78"/>
            <p:cNvSpPr txBox="1"/>
            <p:nvPr/>
          </p:nvSpPr>
          <p:spPr>
            <a:xfrm>
              <a:off x="9508172" y="2601039"/>
              <a:ext cx="109855" cy="726281"/>
            </a:xfrm>
            <a:prstGeom prst="rect">
              <a:avLst/>
            </a:prstGeom>
            <a:noFill/>
            <a:ln>
              <a:noFill/>
            </a:ln>
          </p:spPr>
          <p:txBody>
            <a:bodyPr wrap="none" lIns="0" tIns="0" rIns="0" bIns="0" anchor="t" anchorCtr="0">
              <a:spAutoFit/>
            </a:bodyPr>
            <a:lstStyle/>
            <a:p>
              <a:pPr algn="ctr">
                <a:lnSpc>
                  <a:spcPts val="1500"/>
                </a:lnSpc>
              </a:pPr>
              <a:r>
                <a:rPr lang="zh-CN" sz="790" dirty="0">
                  <a:solidFill>
                    <a:srgbClr val="FFFFFF"/>
                  </a:solidFill>
                  <a:latin typeface="+mn-lt"/>
                  <a:ea typeface="+mn-ea"/>
                  <a:cs typeface="+mn-cs"/>
                </a:rPr>
                <a:t>定</a:t>
              </a:r>
              <a:br/>
              <a:r>
                <a:rPr lang="zh-CN" sz="790" dirty="0">
                  <a:solidFill>
                    <a:srgbClr val="FFFFFF"/>
                  </a:solidFill>
                  <a:latin typeface="+mn-lt"/>
                  <a:ea typeface="+mn-ea"/>
                  <a:cs typeface="+mn-cs"/>
                </a:rPr>
                <a:t>向</a:t>
              </a:r>
              <a:br/>
              <a:r>
                <a:rPr lang="zh-CN" sz="790" dirty="0">
                  <a:solidFill>
                    <a:srgbClr val="FFFFFF"/>
                  </a:solidFill>
                  <a:latin typeface="+mn-lt"/>
                  <a:ea typeface="+mn-ea"/>
                  <a:cs typeface="+mn-cs"/>
                </a:rPr>
                <a:t>营</a:t>
              </a:r>
              <a:br/>
              <a:r>
                <a:rPr lang="zh-CN" sz="790" dirty="0">
                  <a:solidFill>
                    <a:srgbClr val="FFFFFF"/>
                  </a:solidFill>
                  <a:latin typeface="+mn-lt"/>
                  <a:ea typeface="+mn-ea"/>
                  <a:cs typeface="+mn-cs"/>
                </a:rPr>
                <a:t>销</a:t>
              </a:r>
            </a:p>
          </p:txBody>
        </p:sp>
        <p:sp>
          <p:nvSpPr>
            <p:cNvPr id="79" name="Freeform 79"/>
            <p:cNvSpPr/>
            <p:nvPr/>
          </p:nvSpPr>
          <p:spPr>
            <a:xfrm>
              <a:off x="9696450" y="2619375"/>
              <a:ext cx="228600" cy="685800"/>
            </a:xfrm>
            <a:custGeom>
              <a:avLst/>
              <a:gdLst/>
              <a:ahLst/>
              <a:cxnLst/>
              <a:rect l="l" t="t" r="r" b="b"/>
              <a:pathLst>
                <a:path w="228600" h="685800">
                  <a:moveTo>
                    <a:pt x="0" y="0"/>
                  </a:moveTo>
                  <a:lnTo>
                    <a:pt x="228600" y="0"/>
                  </a:lnTo>
                  <a:moveTo>
                    <a:pt x="0" y="342900"/>
                  </a:moveTo>
                  <a:lnTo>
                    <a:pt x="228600" y="342900"/>
                  </a:lnTo>
                  <a:moveTo>
                    <a:pt x="0" y="685800"/>
                  </a:moveTo>
                  <a:lnTo>
                    <a:pt x="228600" y="685800"/>
                  </a:lnTo>
                </a:path>
              </a:pathLst>
            </a:custGeom>
            <a:noFill/>
            <a:ln w="14288">
              <a:solidFill>
                <a:srgbClr val="E6B8AE"/>
              </a:solidFill>
              <a:custDash>
                <a:ds d="200000" sp="200000"/>
              </a:custDash>
            </a:ln>
          </p:spPr>
        </p:sp>
        <p:sp>
          <p:nvSpPr>
            <p:cNvPr id="80" name="Rectangle 80"/>
            <p:cNvSpPr/>
            <p:nvPr/>
          </p:nvSpPr>
          <p:spPr>
            <a:xfrm>
              <a:off x="9944100" y="2495550"/>
              <a:ext cx="1771650" cy="247650"/>
            </a:xfrm>
            <a:prstGeom prst="roundRect">
              <a:avLst>
                <a:gd name="adj" fmla="val 50000"/>
              </a:avLst>
            </a:prstGeom>
            <a:solidFill>
              <a:srgbClr val="FFFFFF"/>
            </a:solidFill>
            <a:ln w="9525">
              <a:solidFill>
                <a:srgbClr val="E6B8AE"/>
              </a:solidFill>
            </a:ln>
          </p:spPr>
        </p:sp>
        <p:sp>
          <p:nvSpPr>
            <p:cNvPr id="81" name="Freeform 81"/>
            <p:cNvSpPr/>
            <p:nvPr/>
          </p:nvSpPr>
          <p:spPr>
            <a:xfrm>
              <a:off x="10069379" y="257061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E5624C"/>
              </a:solidFill>
            </a:ln>
          </p:spPr>
        </p:sp>
        <p:sp>
          <p:nvSpPr>
            <p:cNvPr id="82" name="TextBox 82"/>
            <p:cNvSpPr txBox="1"/>
            <p:nvPr/>
          </p:nvSpPr>
          <p:spPr>
            <a:xfrm>
              <a:off x="10263188" y="2577941"/>
              <a:ext cx="451079" cy="161925"/>
            </a:xfrm>
            <a:prstGeom prst="rect">
              <a:avLst/>
            </a:prstGeom>
            <a:noFill/>
            <a:ln>
              <a:noFill/>
            </a:ln>
          </p:spPr>
          <p:txBody>
            <a:bodyPr wrap="none" lIns="0" tIns="0" rIns="0" bIns="0" anchor="t" anchorCtr="0">
              <a:spAutoFit/>
            </a:bodyPr>
            <a:lstStyle/>
            <a:p>
              <a:pPr algn="l"/>
              <a:r>
                <a:rPr lang="zh-CN" sz="820" dirty="0">
                  <a:solidFill>
                    <a:srgbClr val="523F3B"/>
                  </a:solidFill>
                  <a:latin typeface="+mn-lt"/>
                  <a:ea typeface="+mn-ea"/>
                  <a:cs typeface="+mn-cs"/>
                </a:rPr>
                <a:t>社交媒体</a:t>
              </a:r>
            </a:p>
          </p:txBody>
        </p:sp>
        <p:sp>
          <p:nvSpPr>
            <p:cNvPr id="83" name="Rectangle 83"/>
            <p:cNvSpPr/>
            <p:nvPr/>
          </p:nvSpPr>
          <p:spPr>
            <a:xfrm>
              <a:off x="9944100" y="2838450"/>
              <a:ext cx="1771650" cy="247650"/>
            </a:xfrm>
            <a:prstGeom prst="roundRect">
              <a:avLst>
                <a:gd name="adj" fmla="val 50000"/>
              </a:avLst>
            </a:prstGeom>
            <a:solidFill>
              <a:srgbClr val="FFFFFF"/>
            </a:solidFill>
            <a:ln w="9525">
              <a:solidFill>
                <a:srgbClr val="E6B8AE"/>
              </a:solidFill>
            </a:ln>
          </p:spPr>
        </p:sp>
        <p:grpSp>
          <p:nvGrpSpPr>
            <p:cNvPr id="89" name="Group 89"/>
            <p:cNvGrpSpPr/>
            <p:nvPr/>
          </p:nvGrpSpPr>
          <p:grpSpPr>
            <a:xfrm>
              <a:off x="10086181" y="2912269"/>
              <a:ext cx="77787" cy="100012"/>
              <a:chOff x="10086181" y="2912269"/>
              <a:chExt cx="77787" cy="100012"/>
            </a:xfrm>
          </p:grpSpPr>
          <p:sp>
            <p:nvSpPr>
              <p:cNvPr id="84" name="Freeform 84"/>
              <p:cNvSpPr/>
              <p:nvPr/>
            </p:nvSpPr>
            <p:spPr>
              <a:xfrm>
                <a:off x="10136187" y="29122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E5624C"/>
                </a:solidFill>
              </a:ln>
            </p:spPr>
          </p:sp>
          <p:sp>
            <p:nvSpPr>
              <p:cNvPr id="85" name="Freeform 85"/>
              <p:cNvSpPr/>
              <p:nvPr/>
            </p:nvSpPr>
            <p:spPr>
              <a:xfrm>
                <a:off x="10086181" y="29122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E5624C"/>
                </a:solidFill>
              </a:ln>
            </p:spPr>
          </p:sp>
          <p:sp>
            <p:nvSpPr>
              <p:cNvPr id="86" name="Freeform 86"/>
              <p:cNvSpPr/>
              <p:nvPr/>
            </p:nvSpPr>
            <p:spPr>
              <a:xfrm>
                <a:off x="10108406" y="2945606"/>
                <a:ext cx="9525" cy="9525"/>
              </a:xfrm>
              <a:custGeom>
                <a:avLst/>
                <a:gdLst/>
                <a:ahLst/>
                <a:cxnLst/>
                <a:rect l="l" t="t" r="r" b="b"/>
                <a:pathLst>
                  <a:path w="9525" h="9525">
                    <a:moveTo>
                      <a:pt x="0" y="0"/>
                    </a:moveTo>
                    <a:lnTo>
                      <a:pt x="5556" y="0"/>
                    </a:lnTo>
                  </a:path>
                </a:pathLst>
              </a:custGeom>
              <a:noFill/>
              <a:ln w="11112">
                <a:solidFill>
                  <a:srgbClr val="E5624C"/>
                </a:solidFill>
              </a:ln>
            </p:spPr>
          </p:sp>
          <p:sp>
            <p:nvSpPr>
              <p:cNvPr id="87" name="Freeform 87"/>
              <p:cNvSpPr/>
              <p:nvPr/>
            </p:nvSpPr>
            <p:spPr>
              <a:xfrm>
                <a:off x="10108406" y="2967831"/>
                <a:ext cx="33337" cy="9525"/>
              </a:xfrm>
              <a:custGeom>
                <a:avLst/>
                <a:gdLst/>
                <a:ahLst/>
                <a:cxnLst/>
                <a:rect l="l" t="t" r="r" b="b"/>
                <a:pathLst>
                  <a:path w="33337" h="9525">
                    <a:moveTo>
                      <a:pt x="0" y="0"/>
                    </a:moveTo>
                    <a:lnTo>
                      <a:pt x="33337" y="0"/>
                    </a:lnTo>
                  </a:path>
                </a:pathLst>
              </a:custGeom>
              <a:noFill/>
              <a:ln w="11112">
                <a:solidFill>
                  <a:srgbClr val="E5624C"/>
                </a:solidFill>
              </a:ln>
            </p:spPr>
          </p:sp>
          <p:sp>
            <p:nvSpPr>
              <p:cNvPr id="88" name="Freeform 88"/>
              <p:cNvSpPr/>
              <p:nvPr/>
            </p:nvSpPr>
            <p:spPr>
              <a:xfrm>
                <a:off x="10108406" y="2990056"/>
                <a:ext cx="33337" cy="9525"/>
              </a:xfrm>
              <a:custGeom>
                <a:avLst/>
                <a:gdLst/>
                <a:ahLst/>
                <a:cxnLst/>
                <a:rect l="l" t="t" r="r" b="b"/>
                <a:pathLst>
                  <a:path w="33337" h="9525">
                    <a:moveTo>
                      <a:pt x="0" y="0"/>
                    </a:moveTo>
                    <a:lnTo>
                      <a:pt x="33337" y="0"/>
                    </a:lnTo>
                  </a:path>
                </a:pathLst>
              </a:custGeom>
              <a:noFill/>
              <a:ln w="11112">
                <a:solidFill>
                  <a:srgbClr val="E5624C"/>
                </a:solidFill>
              </a:ln>
            </p:spPr>
          </p:sp>
        </p:grpSp>
        <p:sp>
          <p:nvSpPr>
            <p:cNvPr id="90" name="TextBox 90"/>
            <p:cNvSpPr txBox="1"/>
            <p:nvPr/>
          </p:nvSpPr>
          <p:spPr>
            <a:xfrm>
              <a:off x="10263188" y="2920841"/>
              <a:ext cx="451079" cy="161925"/>
            </a:xfrm>
            <a:prstGeom prst="rect">
              <a:avLst/>
            </a:prstGeom>
            <a:noFill/>
            <a:ln>
              <a:noFill/>
            </a:ln>
          </p:spPr>
          <p:txBody>
            <a:bodyPr wrap="none" lIns="0" tIns="0" rIns="0" bIns="0" anchor="t" anchorCtr="0">
              <a:spAutoFit/>
            </a:bodyPr>
            <a:lstStyle/>
            <a:p>
              <a:pPr algn="l"/>
              <a:r>
                <a:rPr lang="zh-CN" sz="820" dirty="0">
                  <a:solidFill>
                    <a:srgbClr val="523F3B"/>
                  </a:solidFill>
                  <a:latin typeface="+mn-lt"/>
                  <a:ea typeface="+mn-ea"/>
                  <a:cs typeface="+mn-cs"/>
                </a:rPr>
                <a:t>内容平台</a:t>
              </a:r>
            </a:p>
          </p:txBody>
        </p:sp>
        <p:sp>
          <p:nvSpPr>
            <p:cNvPr id="91" name="Rectangle 91"/>
            <p:cNvSpPr/>
            <p:nvPr/>
          </p:nvSpPr>
          <p:spPr>
            <a:xfrm>
              <a:off x="9944100" y="3181350"/>
              <a:ext cx="1771650" cy="247650"/>
            </a:xfrm>
            <a:prstGeom prst="roundRect">
              <a:avLst>
                <a:gd name="adj" fmla="val 50000"/>
              </a:avLst>
            </a:prstGeom>
            <a:solidFill>
              <a:srgbClr val="FFFFFF"/>
            </a:solidFill>
            <a:ln w="9525">
              <a:solidFill>
                <a:srgbClr val="E6B8AE"/>
              </a:solidFill>
            </a:ln>
          </p:spPr>
        </p:sp>
        <p:grpSp>
          <p:nvGrpSpPr>
            <p:cNvPr id="96" name="Group 96"/>
            <p:cNvGrpSpPr/>
            <p:nvPr/>
          </p:nvGrpSpPr>
          <p:grpSpPr>
            <a:xfrm>
              <a:off x="10080625" y="3255169"/>
              <a:ext cx="88899" cy="100012"/>
              <a:chOff x="10080625" y="3255169"/>
              <a:chExt cx="88899" cy="100012"/>
            </a:xfrm>
          </p:grpSpPr>
          <p:sp>
            <p:nvSpPr>
              <p:cNvPr id="92" name="Freeform 92"/>
              <p:cNvSpPr/>
              <p:nvPr/>
            </p:nvSpPr>
            <p:spPr>
              <a:xfrm>
                <a:off x="10080625" y="3332956"/>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5624C"/>
                </a:solidFill>
              </a:ln>
            </p:spPr>
          </p:sp>
          <p:sp>
            <p:nvSpPr>
              <p:cNvPr id="93" name="Freeform 93"/>
              <p:cNvSpPr/>
              <p:nvPr/>
            </p:nvSpPr>
            <p:spPr>
              <a:xfrm>
                <a:off x="10141744" y="3332956"/>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E5624C"/>
                </a:solidFill>
              </a:ln>
            </p:spPr>
          </p:sp>
          <p:sp>
            <p:nvSpPr>
              <p:cNvPr id="94" name="Freeform 94"/>
              <p:cNvSpPr/>
              <p:nvPr/>
            </p:nvSpPr>
            <p:spPr>
              <a:xfrm>
                <a:off x="10080625" y="3255169"/>
                <a:ext cx="72231" cy="77787"/>
              </a:xfrm>
              <a:custGeom>
                <a:avLst/>
                <a:gdLst/>
                <a:ahLst/>
                <a:cxnLst/>
                <a:rect l="l" t="t" r="r" b="b"/>
                <a:pathLst>
                  <a:path w="72231" h="77787">
                    <a:moveTo>
                      <a:pt x="72231" y="77787"/>
                    </a:moveTo>
                    <a:lnTo>
                      <a:pt x="11112" y="77787"/>
                    </a:lnTo>
                    <a:lnTo>
                      <a:pt x="11112" y="0"/>
                    </a:lnTo>
                    <a:lnTo>
                      <a:pt x="0" y="0"/>
                    </a:lnTo>
                  </a:path>
                </a:pathLst>
              </a:custGeom>
              <a:noFill/>
              <a:ln w="11112">
                <a:solidFill>
                  <a:srgbClr val="E5624C"/>
                </a:solidFill>
              </a:ln>
            </p:spPr>
          </p:sp>
          <p:sp>
            <p:nvSpPr>
              <p:cNvPr id="95" name="Freeform 95"/>
              <p:cNvSpPr/>
              <p:nvPr/>
            </p:nvSpPr>
            <p:spPr>
              <a:xfrm>
                <a:off x="10091737" y="3266281"/>
                <a:ext cx="77787" cy="44450"/>
              </a:xfrm>
              <a:custGeom>
                <a:avLst/>
                <a:gdLst/>
                <a:ahLst/>
                <a:cxnLst/>
                <a:rect l="l" t="t" r="r" b="b"/>
                <a:pathLst>
                  <a:path w="77787" h="44450">
                    <a:moveTo>
                      <a:pt x="0" y="0"/>
                    </a:moveTo>
                    <a:lnTo>
                      <a:pt x="77787" y="5556"/>
                    </a:lnTo>
                    <a:lnTo>
                      <a:pt x="72231" y="44450"/>
                    </a:lnTo>
                    <a:lnTo>
                      <a:pt x="0" y="44450"/>
                    </a:lnTo>
                  </a:path>
                </a:pathLst>
              </a:custGeom>
              <a:noFill/>
              <a:ln w="11112">
                <a:solidFill>
                  <a:srgbClr val="E5624C"/>
                </a:solidFill>
              </a:ln>
            </p:spPr>
          </p:sp>
        </p:grpSp>
        <p:sp>
          <p:nvSpPr>
            <p:cNvPr id="97" name="TextBox 97"/>
            <p:cNvSpPr txBox="1"/>
            <p:nvPr/>
          </p:nvSpPr>
          <p:spPr>
            <a:xfrm>
              <a:off x="10263188" y="3263741"/>
              <a:ext cx="451079" cy="161925"/>
            </a:xfrm>
            <a:prstGeom prst="rect">
              <a:avLst/>
            </a:prstGeom>
            <a:noFill/>
            <a:ln>
              <a:noFill/>
            </a:ln>
          </p:spPr>
          <p:txBody>
            <a:bodyPr wrap="none" lIns="0" tIns="0" rIns="0" bIns="0" anchor="t" anchorCtr="0">
              <a:spAutoFit/>
            </a:bodyPr>
            <a:lstStyle/>
            <a:p>
              <a:pPr algn="l"/>
              <a:r>
                <a:rPr lang="zh-CN" sz="820" dirty="0">
                  <a:solidFill>
                    <a:srgbClr val="523F3B"/>
                  </a:solidFill>
                  <a:latin typeface="+mn-lt"/>
                  <a:ea typeface="+mn-ea"/>
                  <a:cs typeface="+mn-cs"/>
                </a:rPr>
                <a:t>电商平台</a:t>
              </a:r>
            </a:p>
          </p:txBody>
        </p:sp>
        <p:sp>
          <p:nvSpPr>
            <p:cNvPr id="98" name="Rectangle 98"/>
            <p:cNvSpPr/>
            <p:nvPr/>
          </p:nvSpPr>
          <p:spPr>
            <a:xfrm>
              <a:off x="9429750" y="3771900"/>
              <a:ext cx="266700" cy="1333500"/>
            </a:xfrm>
            <a:prstGeom prst="roundRect">
              <a:avLst>
                <a:gd name="adj" fmla="val 50000"/>
              </a:avLst>
            </a:prstGeom>
            <a:solidFill>
              <a:srgbClr val="C1553F"/>
            </a:solidFill>
            <a:ln>
              <a:noFill/>
            </a:ln>
          </p:spPr>
        </p:sp>
        <p:sp>
          <p:nvSpPr>
            <p:cNvPr id="99" name="TextBox 99"/>
            <p:cNvSpPr txBox="1"/>
            <p:nvPr/>
          </p:nvSpPr>
          <p:spPr>
            <a:xfrm>
              <a:off x="9508172" y="3953589"/>
              <a:ext cx="109855" cy="916781"/>
            </a:xfrm>
            <a:prstGeom prst="rect">
              <a:avLst/>
            </a:prstGeom>
            <a:noFill/>
            <a:ln>
              <a:noFill/>
            </a:ln>
          </p:spPr>
          <p:txBody>
            <a:bodyPr wrap="none" lIns="0" tIns="0" rIns="0" bIns="0" anchor="t" anchorCtr="0">
              <a:spAutoFit/>
            </a:bodyPr>
            <a:lstStyle/>
            <a:p>
              <a:pPr algn="ctr">
                <a:lnSpc>
                  <a:spcPts val="1500"/>
                </a:lnSpc>
              </a:pPr>
              <a:r>
                <a:rPr lang="zh-CN" sz="790" dirty="0">
                  <a:solidFill>
                    <a:srgbClr val="FFFFFF"/>
                  </a:solidFill>
                  <a:latin typeface="+mn-lt"/>
                  <a:ea typeface="+mn-ea"/>
                  <a:cs typeface="+mn-cs"/>
                </a:rPr>
                <a:t>个</a:t>
              </a:r>
              <a:br/>
              <a:r>
                <a:rPr lang="zh-CN" sz="790" dirty="0">
                  <a:solidFill>
                    <a:srgbClr val="FFFFFF"/>
                  </a:solidFill>
                  <a:latin typeface="+mn-lt"/>
                  <a:ea typeface="+mn-ea"/>
                  <a:cs typeface="+mn-cs"/>
                </a:rPr>
                <a:t>性</a:t>
              </a:r>
              <a:br/>
              <a:r>
                <a:rPr lang="zh-CN" sz="790" dirty="0">
                  <a:solidFill>
                    <a:srgbClr val="FFFFFF"/>
                  </a:solidFill>
                  <a:latin typeface="+mn-lt"/>
                  <a:ea typeface="+mn-ea"/>
                  <a:cs typeface="+mn-cs"/>
                </a:rPr>
                <a:t>化</a:t>
              </a:r>
              <a:br/>
              <a:r>
                <a:rPr lang="zh-CN" sz="790" dirty="0">
                  <a:solidFill>
                    <a:srgbClr val="FFFFFF"/>
                  </a:solidFill>
                  <a:latin typeface="+mn-lt"/>
                  <a:ea typeface="+mn-ea"/>
                  <a:cs typeface="+mn-cs"/>
                </a:rPr>
                <a:t>推</a:t>
              </a:r>
              <a:br/>
              <a:r>
                <a:rPr lang="zh-CN" sz="790" dirty="0">
                  <a:solidFill>
                    <a:srgbClr val="FFFFFF"/>
                  </a:solidFill>
                  <a:latin typeface="+mn-lt"/>
                  <a:ea typeface="+mn-ea"/>
                  <a:cs typeface="+mn-cs"/>
                </a:rPr>
                <a:t>荐</a:t>
              </a:r>
            </a:p>
          </p:txBody>
        </p:sp>
        <p:sp>
          <p:nvSpPr>
            <p:cNvPr id="100" name="Freeform 100"/>
            <p:cNvSpPr/>
            <p:nvPr/>
          </p:nvSpPr>
          <p:spPr>
            <a:xfrm>
              <a:off x="9696450" y="3933825"/>
              <a:ext cx="228600" cy="1028700"/>
            </a:xfrm>
            <a:custGeom>
              <a:avLst/>
              <a:gdLst/>
              <a:ahLst/>
              <a:cxnLst/>
              <a:rect l="l" t="t" r="r" b="b"/>
              <a:pathLst>
                <a:path w="228600" h="1028700">
                  <a:moveTo>
                    <a:pt x="0" y="0"/>
                  </a:moveTo>
                  <a:lnTo>
                    <a:pt x="228600" y="0"/>
                  </a:lnTo>
                  <a:moveTo>
                    <a:pt x="0" y="342900"/>
                  </a:moveTo>
                  <a:lnTo>
                    <a:pt x="228600" y="342900"/>
                  </a:lnTo>
                  <a:moveTo>
                    <a:pt x="0" y="685800"/>
                  </a:moveTo>
                  <a:lnTo>
                    <a:pt x="228600" y="685800"/>
                  </a:lnTo>
                  <a:moveTo>
                    <a:pt x="0" y="1028700"/>
                  </a:moveTo>
                  <a:lnTo>
                    <a:pt x="228600" y="1028700"/>
                  </a:lnTo>
                </a:path>
              </a:pathLst>
            </a:custGeom>
            <a:noFill/>
            <a:ln w="14288">
              <a:solidFill>
                <a:srgbClr val="E6B8AE"/>
              </a:solidFill>
              <a:custDash>
                <a:ds d="200000" sp="200000"/>
              </a:custDash>
            </a:ln>
          </p:spPr>
        </p:sp>
        <p:sp>
          <p:nvSpPr>
            <p:cNvPr id="101" name="Rectangle 101"/>
            <p:cNvSpPr/>
            <p:nvPr/>
          </p:nvSpPr>
          <p:spPr>
            <a:xfrm>
              <a:off x="9944100" y="3810000"/>
              <a:ext cx="1771650" cy="247650"/>
            </a:xfrm>
            <a:prstGeom prst="roundRect">
              <a:avLst>
                <a:gd name="adj" fmla="val 50000"/>
              </a:avLst>
            </a:prstGeom>
            <a:solidFill>
              <a:srgbClr val="FFFFFF"/>
            </a:solidFill>
            <a:ln w="9525">
              <a:solidFill>
                <a:srgbClr val="E6B8AE"/>
              </a:solidFill>
            </a:ln>
          </p:spPr>
        </p:sp>
        <p:grpSp>
          <p:nvGrpSpPr>
            <p:cNvPr id="107" name="Group 107"/>
            <p:cNvGrpSpPr/>
            <p:nvPr/>
          </p:nvGrpSpPr>
          <p:grpSpPr>
            <a:xfrm>
              <a:off x="10086181" y="3883819"/>
              <a:ext cx="77787" cy="100012"/>
              <a:chOff x="10086181" y="3883819"/>
              <a:chExt cx="77787" cy="100012"/>
            </a:xfrm>
          </p:grpSpPr>
          <p:sp>
            <p:nvSpPr>
              <p:cNvPr id="102" name="Freeform 102"/>
              <p:cNvSpPr/>
              <p:nvPr/>
            </p:nvSpPr>
            <p:spPr>
              <a:xfrm>
                <a:off x="10136187" y="388381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E5624C"/>
                </a:solidFill>
              </a:ln>
            </p:spPr>
          </p:sp>
          <p:sp>
            <p:nvSpPr>
              <p:cNvPr id="103" name="Freeform 103"/>
              <p:cNvSpPr/>
              <p:nvPr/>
            </p:nvSpPr>
            <p:spPr>
              <a:xfrm>
                <a:off x="10086181" y="388381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E5624C"/>
                </a:solidFill>
              </a:ln>
            </p:spPr>
          </p:sp>
          <p:sp>
            <p:nvSpPr>
              <p:cNvPr id="104" name="Freeform 104"/>
              <p:cNvSpPr/>
              <p:nvPr/>
            </p:nvSpPr>
            <p:spPr>
              <a:xfrm>
                <a:off x="10108406" y="3917156"/>
                <a:ext cx="9525" cy="9525"/>
              </a:xfrm>
              <a:custGeom>
                <a:avLst/>
                <a:gdLst/>
                <a:ahLst/>
                <a:cxnLst/>
                <a:rect l="l" t="t" r="r" b="b"/>
                <a:pathLst>
                  <a:path w="9525" h="9525">
                    <a:moveTo>
                      <a:pt x="0" y="0"/>
                    </a:moveTo>
                    <a:lnTo>
                      <a:pt x="5556" y="0"/>
                    </a:lnTo>
                  </a:path>
                </a:pathLst>
              </a:custGeom>
              <a:noFill/>
              <a:ln w="11112">
                <a:solidFill>
                  <a:srgbClr val="E5624C"/>
                </a:solidFill>
              </a:ln>
            </p:spPr>
          </p:sp>
          <p:sp>
            <p:nvSpPr>
              <p:cNvPr id="105" name="Freeform 105"/>
              <p:cNvSpPr/>
              <p:nvPr/>
            </p:nvSpPr>
            <p:spPr>
              <a:xfrm>
                <a:off x="10108406" y="3939381"/>
                <a:ext cx="33337" cy="9525"/>
              </a:xfrm>
              <a:custGeom>
                <a:avLst/>
                <a:gdLst/>
                <a:ahLst/>
                <a:cxnLst/>
                <a:rect l="l" t="t" r="r" b="b"/>
                <a:pathLst>
                  <a:path w="33337" h="9525">
                    <a:moveTo>
                      <a:pt x="0" y="0"/>
                    </a:moveTo>
                    <a:lnTo>
                      <a:pt x="33337" y="0"/>
                    </a:lnTo>
                  </a:path>
                </a:pathLst>
              </a:custGeom>
              <a:noFill/>
              <a:ln w="11112">
                <a:solidFill>
                  <a:srgbClr val="E5624C"/>
                </a:solidFill>
              </a:ln>
            </p:spPr>
          </p:sp>
          <p:sp>
            <p:nvSpPr>
              <p:cNvPr id="106" name="Freeform 106"/>
              <p:cNvSpPr/>
              <p:nvPr/>
            </p:nvSpPr>
            <p:spPr>
              <a:xfrm>
                <a:off x="10108406" y="3961606"/>
                <a:ext cx="33337" cy="9525"/>
              </a:xfrm>
              <a:custGeom>
                <a:avLst/>
                <a:gdLst/>
                <a:ahLst/>
                <a:cxnLst/>
                <a:rect l="l" t="t" r="r" b="b"/>
                <a:pathLst>
                  <a:path w="33337" h="9525">
                    <a:moveTo>
                      <a:pt x="0" y="0"/>
                    </a:moveTo>
                    <a:lnTo>
                      <a:pt x="33337" y="0"/>
                    </a:lnTo>
                  </a:path>
                </a:pathLst>
              </a:custGeom>
              <a:noFill/>
              <a:ln w="11112">
                <a:solidFill>
                  <a:srgbClr val="E5624C"/>
                </a:solidFill>
              </a:ln>
            </p:spPr>
          </p:sp>
        </p:grpSp>
        <p:sp>
          <p:nvSpPr>
            <p:cNvPr id="108" name="TextBox 108"/>
            <p:cNvSpPr txBox="1"/>
            <p:nvPr/>
          </p:nvSpPr>
          <p:spPr>
            <a:xfrm>
              <a:off x="10263188" y="3892391"/>
              <a:ext cx="230302" cy="161925"/>
            </a:xfrm>
            <a:prstGeom prst="rect">
              <a:avLst/>
            </a:prstGeom>
            <a:noFill/>
            <a:ln>
              <a:noFill/>
            </a:ln>
          </p:spPr>
          <p:txBody>
            <a:bodyPr wrap="none" lIns="0" tIns="0" rIns="0" bIns="0" anchor="t" anchorCtr="0">
              <a:spAutoFit/>
            </a:bodyPr>
            <a:lstStyle/>
            <a:p>
              <a:pPr algn="l"/>
              <a:r>
                <a:rPr lang="zh-CN" sz="820" dirty="0">
                  <a:solidFill>
                    <a:srgbClr val="523F3B"/>
                  </a:solidFill>
                  <a:latin typeface="+mn-lt"/>
                  <a:ea typeface="+mn-ea"/>
                  <a:cs typeface="+mn-cs"/>
                </a:rPr>
                <a:t>邮件</a:t>
              </a:r>
            </a:p>
          </p:txBody>
        </p:sp>
        <p:sp>
          <p:nvSpPr>
            <p:cNvPr id="109" name="Rectangle 109"/>
            <p:cNvSpPr/>
            <p:nvPr/>
          </p:nvSpPr>
          <p:spPr>
            <a:xfrm>
              <a:off x="9944100" y="4152900"/>
              <a:ext cx="1771650" cy="247650"/>
            </a:xfrm>
            <a:prstGeom prst="roundRect">
              <a:avLst>
                <a:gd name="adj" fmla="val 50000"/>
              </a:avLst>
            </a:prstGeom>
            <a:solidFill>
              <a:srgbClr val="FFFFFF"/>
            </a:solidFill>
            <a:ln w="9525">
              <a:solidFill>
                <a:srgbClr val="E6B8AE"/>
              </a:solidFill>
            </a:ln>
          </p:spPr>
        </p:sp>
        <p:grpSp>
          <p:nvGrpSpPr>
            <p:cNvPr id="113" name="Group 113"/>
            <p:cNvGrpSpPr/>
            <p:nvPr/>
          </p:nvGrpSpPr>
          <p:grpSpPr>
            <a:xfrm>
              <a:off x="10091737" y="4226719"/>
              <a:ext cx="66675" cy="100012"/>
              <a:chOff x="10091737" y="4226719"/>
              <a:chExt cx="66675" cy="100012"/>
            </a:xfrm>
          </p:grpSpPr>
          <p:sp>
            <p:nvSpPr>
              <p:cNvPr id="110" name="Freeform 110"/>
              <p:cNvSpPr/>
              <p:nvPr/>
            </p:nvSpPr>
            <p:spPr>
              <a:xfrm>
                <a:off x="10091737" y="422671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E5624C"/>
                </a:solidFill>
              </a:ln>
            </p:spPr>
          </p:sp>
          <p:sp>
            <p:nvSpPr>
              <p:cNvPr id="111" name="Freeform 111"/>
              <p:cNvSpPr/>
              <p:nvPr/>
            </p:nvSpPr>
            <p:spPr>
              <a:xfrm>
                <a:off x="10119519" y="4232275"/>
                <a:ext cx="11112" cy="9525"/>
              </a:xfrm>
              <a:custGeom>
                <a:avLst/>
                <a:gdLst/>
                <a:ahLst/>
                <a:cxnLst/>
                <a:rect l="l" t="t" r="r" b="b"/>
                <a:pathLst>
                  <a:path w="11112" h="9525">
                    <a:moveTo>
                      <a:pt x="0" y="0"/>
                    </a:moveTo>
                    <a:lnTo>
                      <a:pt x="11112" y="0"/>
                    </a:lnTo>
                  </a:path>
                </a:pathLst>
              </a:custGeom>
              <a:noFill/>
              <a:ln w="11112">
                <a:solidFill>
                  <a:srgbClr val="E5624C"/>
                </a:solidFill>
              </a:ln>
            </p:spPr>
          </p:sp>
          <p:sp>
            <p:nvSpPr>
              <p:cNvPr id="112" name="Freeform 112"/>
              <p:cNvSpPr/>
              <p:nvPr/>
            </p:nvSpPr>
            <p:spPr>
              <a:xfrm>
                <a:off x="10125075" y="4304506"/>
                <a:ext cx="9525" cy="9525"/>
              </a:xfrm>
              <a:custGeom>
                <a:avLst/>
                <a:gdLst/>
                <a:ahLst/>
                <a:cxnLst/>
                <a:rect l="l" t="t" r="r" b="b"/>
                <a:pathLst>
                  <a:path w="9525" h="9525">
                    <a:moveTo>
                      <a:pt x="0" y="0"/>
                    </a:moveTo>
                    <a:lnTo>
                      <a:pt x="0" y="56"/>
                    </a:lnTo>
                  </a:path>
                </a:pathLst>
              </a:custGeom>
              <a:noFill/>
              <a:ln w="11112">
                <a:solidFill>
                  <a:srgbClr val="E5624C"/>
                </a:solidFill>
              </a:ln>
            </p:spPr>
          </p:sp>
        </p:grpSp>
        <p:sp>
          <p:nvSpPr>
            <p:cNvPr id="114" name="TextBox 114"/>
            <p:cNvSpPr txBox="1"/>
            <p:nvPr/>
          </p:nvSpPr>
          <p:spPr>
            <a:xfrm>
              <a:off x="10263188" y="4235291"/>
              <a:ext cx="230302" cy="161925"/>
            </a:xfrm>
            <a:prstGeom prst="rect">
              <a:avLst/>
            </a:prstGeom>
            <a:noFill/>
            <a:ln>
              <a:noFill/>
            </a:ln>
          </p:spPr>
          <p:txBody>
            <a:bodyPr wrap="none" lIns="0" tIns="0" rIns="0" bIns="0" anchor="t" anchorCtr="0">
              <a:spAutoFit/>
            </a:bodyPr>
            <a:lstStyle/>
            <a:p>
              <a:pPr algn="l"/>
              <a:r>
                <a:rPr lang="zh-CN" sz="820" dirty="0">
                  <a:solidFill>
                    <a:srgbClr val="523F3B"/>
                  </a:solidFill>
                  <a:latin typeface="+mn-lt"/>
                  <a:ea typeface="+mn-ea"/>
                  <a:cs typeface="+mn-cs"/>
                </a:rPr>
                <a:t>短信</a:t>
              </a:r>
            </a:p>
          </p:txBody>
        </p:sp>
        <p:sp>
          <p:nvSpPr>
            <p:cNvPr id="115" name="Rectangle 115"/>
            <p:cNvSpPr/>
            <p:nvPr/>
          </p:nvSpPr>
          <p:spPr>
            <a:xfrm>
              <a:off x="9944100" y="4495800"/>
              <a:ext cx="1771650" cy="247650"/>
            </a:xfrm>
            <a:prstGeom prst="roundRect">
              <a:avLst>
                <a:gd name="adj" fmla="val 50000"/>
              </a:avLst>
            </a:prstGeom>
            <a:solidFill>
              <a:srgbClr val="FFFFFF"/>
            </a:solidFill>
            <a:ln w="9525">
              <a:solidFill>
                <a:srgbClr val="E6B8AE"/>
              </a:solidFill>
            </a:ln>
          </p:spPr>
        </p:sp>
        <p:sp>
          <p:nvSpPr>
            <p:cNvPr id="116" name="Freeform 116"/>
            <p:cNvSpPr/>
            <p:nvPr/>
          </p:nvSpPr>
          <p:spPr>
            <a:xfrm>
              <a:off x="10069379" y="4570869"/>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E5624C"/>
              </a:solidFill>
            </a:ln>
          </p:spPr>
        </p:sp>
        <p:sp>
          <p:nvSpPr>
            <p:cNvPr id="117" name="TextBox 117"/>
            <p:cNvSpPr txBox="1"/>
            <p:nvPr/>
          </p:nvSpPr>
          <p:spPr>
            <a:xfrm>
              <a:off x="10263188" y="4578191"/>
              <a:ext cx="230302" cy="161925"/>
            </a:xfrm>
            <a:prstGeom prst="rect">
              <a:avLst/>
            </a:prstGeom>
            <a:noFill/>
            <a:ln>
              <a:noFill/>
            </a:ln>
          </p:spPr>
          <p:txBody>
            <a:bodyPr wrap="none" lIns="0" tIns="0" rIns="0" bIns="0" anchor="t" anchorCtr="0">
              <a:spAutoFit/>
            </a:bodyPr>
            <a:lstStyle/>
            <a:p>
              <a:pPr algn="l"/>
              <a:r>
                <a:rPr lang="zh-CN" sz="820" dirty="0">
                  <a:solidFill>
                    <a:srgbClr val="523F3B"/>
                  </a:solidFill>
                  <a:latin typeface="+mn-lt"/>
                  <a:ea typeface="+mn-ea"/>
                  <a:cs typeface="+mn-cs"/>
                </a:rPr>
                <a:t>微信</a:t>
              </a:r>
            </a:p>
          </p:txBody>
        </p:sp>
        <p:sp>
          <p:nvSpPr>
            <p:cNvPr id="118" name="Rectangle 118"/>
            <p:cNvSpPr/>
            <p:nvPr/>
          </p:nvSpPr>
          <p:spPr>
            <a:xfrm>
              <a:off x="9944100" y="4838700"/>
              <a:ext cx="1771650" cy="247650"/>
            </a:xfrm>
            <a:prstGeom prst="roundRect">
              <a:avLst>
                <a:gd name="adj" fmla="val 50000"/>
              </a:avLst>
            </a:prstGeom>
            <a:solidFill>
              <a:srgbClr val="FFFFFF"/>
            </a:solidFill>
            <a:ln w="9525">
              <a:solidFill>
                <a:srgbClr val="E6B8AE"/>
              </a:solidFill>
            </a:ln>
          </p:spPr>
        </p:sp>
        <p:grpSp>
          <p:nvGrpSpPr>
            <p:cNvPr id="122" name="Group 122"/>
            <p:cNvGrpSpPr/>
            <p:nvPr/>
          </p:nvGrpSpPr>
          <p:grpSpPr>
            <a:xfrm>
              <a:off x="10091737" y="4912519"/>
              <a:ext cx="66675" cy="100012"/>
              <a:chOff x="10091737" y="4912519"/>
              <a:chExt cx="66675" cy="100012"/>
            </a:xfrm>
          </p:grpSpPr>
          <p:sp>
            <p:nvSpPr>
              <p:cNvPr id="119" name="Freeform 119"/>
              <p:cNvSpPr/>
              <p:nvPr/>
            </p:nvSpPr>
            <p:spPr>
              <a:xfrm>
                <a:off x="10091737" y="4912519"/>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E5624C"/>
                </a:solidFill>
              </a:ln>
            </p:spPr>
          </p:sp>
          <p:sp>
            <p:nvSpPr>
              <p:cNvPr id="120" name="Freeform 120"/>
              <p:cNvSpPr/>
              <p:nvPr/>
            </p:nvSpPr>
            <p:spPr>
              <a:xfrm>
                <a:off x="10119519" y="4918075"/>
                <a:ext cx="11112" cy="9525"/>
              </a:xfrm>
              <a:custGeom>
                <a:avLst/>
                <a:gdLst/>
                <a:ahLst/>
                <a:cxnLst/>
                <a:rect l="l" t="t" r="r" b="b"/>
                <a:pathLst>
                  <a:path w="11112" h="9525">
                    <a:moveTo>
                      <a:pt x="0" y="0"/>
                    </a:moveTo>
                    <a:lnTo>
                      <a:pt x="11112" y="0"/>
                    </a:lnTo>
                  </a:path>
                </a:pathLst>
              </a:custGeom>
              <a:noFill/>
              <a:ln w="11112">
                <a:solidFill>
                  <a:srgbClr val="E5624C"/>
                </a:solidFill>
              </a:ln>
            </p:spPr>
          </p:sp>
          <p:sp>
            <p:nvSpPr>
              <p:cNvPr id="121" name="Freeform 121"/>
              <p:cNvSpPr/>
              <p:nvPr/>
            </p:nvSpPr>
            <p:spPr>
              <a:xfrm>
                <a:off x="10125075" y="4990306"/>
                <a:ext cx="9525" cy="9525"/>
              </a:xfrm>
              <a:custGeom>
                <a:avLst/>
                <a:gdLst/>
                <a:ahLst/>
                <a:cxnLst/>
                <a:rect l="l" t="t" r="r" b="b"/>
                <a:pathLst>
                  <a:path w="9525" h="9525">
                    <a:moveTo>
                      <a:pt x="0" y="0"/>
                    </a:moveTo>
                    <a:lnTo>
                      <a:pt x="0" y="56"/>
                    </a:lnTo>
                  </a:path>
                </a:pathLst>
              </a:custGeom>
              <a:noFill/>
              <a:ln w="11112">
                <a:solidFill>
                  <a:srgbClr val="E5624C"/>
                </a:solidFill>
              </a:ln>
            </p:spPr>
          </p:sp>
        </p:grpSp>
        <p:sp>
          <p:nvSpPr>
            <p:cNvPr id="123" name="TextBox 123"/>
            <p:cNvSpPr txBox="1"/>
            <p:nvPr/>
          </p:nvSpPr>
          <p:spPr>
            <a:xfrm>
              <a:off x="10263188" y="4921091"/>
              <a:ext cx="230302" cy="161925"/>
            </a:xfrm>
            <a:prstGeom prst="rect">
              <a:avLst/>
            </a:prstGeom>
            <a:noFill/>
            <a:ln>
              <a:noFill/>
            </a:ln>
          </p:spPr>
          <p:txBody>
            <a:bodyPr wrap="none" lIns="0" tIns="0" rIns="0" bIns="0" anchor="t" anchorCtr="0">
              <a:spAutoFit/>
            </a:bodyPr>
            <a:lstStyle/>
            <a:p>
              <a:pPr algn="l"/>
              <a:r>
                <a:rPr lang="zh-CN" sz="820" dirty="0">
                  <a:solidFill>
                    <a:srgbClr val="523F3B"/>
                  </a:solidFill>
                  <a:latin typeface="+mn-lt"/>
                  <a:ea typeface="+mn-ea"/>
                  <a:cs typeface="+mn-cs"/>
                </a:rPr>
                <a:t>电话</a:t>
              </a:r>
            </a:p>
          </p:txBody>
        </p:sp>
      </p:grpSp>
      <p:grpSp>
        <p:nvGrpSpPr>
          <p:cNvPr id="127" name="ai-summary-bar"/>
          <p:cNvGrpSpPr/>
          <p:nvPr/>
        </p:nvGrpSpPr>
        <p:grpSpPr>
          <a:xfrm>
            <a:off x="266700" y="6000750"/>
            <a:ext cx="11658600" cy="438150"/>
            <a:chOff x="266700" y="6000750"/>
            <a:chExt cx="11658600" cy="438150"/>
          </a:xfrm>
        </p:grpSpPr>
        <p:sp>
          <p:nvSpPr>
            <p:cNvPr id="125" name="Rectangle 125"/>
            <p:cNvSpPr/>
            <p:nvPr/>
          </p:nvSpPr>
          <p:spPr>
            <a:xfrm>
              <a:off x="266700" y="6000750"/>
              <a:ext cx="11658600" cy="438150"/>
            </a:xfrm>
            <a:prstGeom prst="roundRect">
              <a:avLst>
                <a:gd name="adj" fmla="val 8696"/>
              </a:avLst>
            </a:prstGeom>
            <a:solidFill>
              <a:srgbClr val="C1553F"/>
            </a:solidFill>
            <a:ln>
              <a:noFill/>
            </a:ln>
          </p:spPr>
        </p:sp>
        <p:sp>
          <p:nvSpPr>
            <p:cNvPr id="126" name="TextBox 126"/>
            <p:cNvSpPr txBox="1"/>
            <p:nvPr/>
          </p:nvSpPr>
          <p:spPr>
            <a:xfrm>
              <a:off x="3267673" y="6173152"/>
              <a:ext cx="565665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通过生成式AI技术实时交互，根据用户的即时需求，动态生成个性化的商业交互和内容引导</a:t>
              </a:r>
            </a:p>
          </p:txBody>
        </p:sp>
      </p:gr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auto-dome"/>
          <p:cNvSpPr/>
          <p:nvPr/>
        </p:nvSpPr>
        <p:spPr>
          <a:xfrm>
            <a:off x="3048000" y="4983709"/>
            <a:ext cx="6096000" cy="1264691"/>
          </a:xfrm>
          <a:custGeom>
            <a:avLst/>
            <a:gdLst/>
            <a:ahLst/>
            <a:cxnLst/>
            <a:rect l="l" t="t" r="r" b="b"/>
            <a:pathLst>
              <a:path w="6096000" h="1264691">
                <a:moveTo>
                  <a:pt x="0" y="1264691"/>
                </a:moveTo>
                <a:cubicBezTo>
                  <a:pt x="807699" y="455029"/>
                  <a:pt x="1904352" y="0"/>
                  <a:pt x="3048000" y="0"/>
                </a:cubicBezTo>
                <a:cubicBezTo>
                  <a:pt x="4191648" y="0"/>
                  <a:pt x="5288301" y="455029"/>
                  <a:pt x="6096000" y="1264691"/>
                </a:cubicBezTo>
                <a:close/>
              </a:path>
            </a:pathLst>
          </a:custGeom>
          <a:solidFill>
            <a:srgbClr val="F1F3FB"/>
          </a:solidFill>
          <a:ln>
            <a:noFill/>
          </a:ln>
        </p:spPr>
      </p:sp>
      <p:sp>
        <p:nvSpPr>
          <p:cNvPr id="3" name="auto-tray-outer"/>
          <p:cNvSpPr/>
          <p:nvPr/>
        </p:nvSpPr>
        <p:spPr>
          <a:xfrm>
            <a:off x="1333500" y="5143500"/>
            <a:ext cx="9525000" cy="1143000"/>
          </a:xfrm>
          <a:prstGeom prst="ellipse">
            <a:avLst/>
          </a:prstGeom>
          <a:solidFill>
            <a:srgbClr val="E9EBF8">
              <a:alpha val="85000"/>
            </a:srgbClr>
          </a:solidFill>
          <a:ln>
            <a:noFill/>
          </a:ln>
        </p:spPr>
      </p:sp>
      <p:sp>
        <p:nvSpPr>
          <p:cNvPr id="4" name="auto-tray-inner"/>
          <p:cNvSpPr/>
          <p:nvPr/>
        </p:nvSpPr>
        <p:spPr>
          <a:xfrm>
            <a:off x="2000250" y="5334000"/>
            <a:ext cx="8191500" cy="876300"/>
          </a:xfrm>
          <a:prstGeom prst="ellipse">
            <a:avLst/>
          </a:prstGeom>
          <a:solidFill>
            <a:srgbClr val="F6F7FC"/>
          </a:solidFill>
          <a:ln>
            <a:noFill/>
          </a:ln>
        </p:spPr>
      </p:sp>
      <p:grpSp>
        <p:nvGrpSpPr>
          <p:cNvPr id="7" name="page-header"/>
          <p:cNvGrpSpPr/>
          <p:nvPr/>
        </p:nvGrpSpPr>
        <p:grpSpPr>
          <a:xfrm>
            <a:off x="302895" y="214312"/>
            <a:ext cx="1690497" cy="440055"/>
            <a:chOff x="302895" y="214312"/>
            <a:chExt cx="1690497" cy="440055"/>
          </a:xfrm>
        </p:grpSpPr>
        <p:sp>
          <p:nvSpPr>
            <p:cNvPr id="5" name="TextBox 5"/>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34.​</a:t>
              </a:r>
            </a:p>
          </p:txBody>
        </p:sp>
        <p:sp>
          <p:nvSpPr>
            <p:cNvPr id="6" name="TextBox 6"/>
            <p:cNvSpPr txBox="1"/>
            <p:nvPr/>
          </p:nvSpPr>
          <p:spPr>
            <a:xfrm>
              <a:off x="923544" y="246698"/>
              <a:ext cx="1069848"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车企营销</a:t>
              </a:r>
            </a:p>
          </p:txBody>
        </p:sp>
      </p:grpSp>
      <p:grpSp>
        <p:nvGrpSpPr>
          <p:cNvPr id="12" name="note-liuzi"/>
          <p:cNvGrpSpPr/>
          <p:nvPr/>
        </p:nvGrpSpPr>
        <p:grpSpPr>
          <a:xfrm>
            <a:off x="171450" y="1314450"/>
            <a:ext cx="1855661" cy="1314450"/>
            <a:chOff x="171450" y="1314450"/>
            <a:chExt cx="1855661" cy="1314450"/>
          </a:xfrm>
        </p:grpSpPr>
        <p:sp>
          <p:nvSpPr>
            <p:cNvPr id="8" name="Polygon 8"/>
            <p:cNvSpPr/>
            <p:nvPr/>
          </p:nvSpPr>
          <p:spPr>
            <a:xfrm>
              <a:off x="171450" y="1314450"/>
              <a:ext cx="1828800" cy="209550"/>
            </a:xfrm>
            <a:custGeom>
              <a:avLst/>
              <a:gdLst/>
              <a:ahLst/>
              <a:cxnLst/>
              <a:rect l="l" t="t" r="r" b="b"/>
              <a:pathLst>
                <a:path w="1828800" h="209550">
                  <a:moveTo>
                    <a:pt x="76200" y="0"/>
                  </a:moveTo>
                  <a:lnTo>
                    <a:pt x="1828800" y="0"/>
                  </a:lnTo>
                  <a:lnTo>
                    <a:pt x="1752600" y="209550"/>
                  </a:lnTo>
                  <a:lnTo>
                    <a:pt x="0" y="209550"/>
                  </a:lnTo>
                  <a:close/>
                </a:path>
              </a:pathLst>
            </a:custGeom>
            <a:solidFill>
              <a:srgbClr val="EEF0FB"/>
            </a:solidFill>
            <a:ln>
              <a:noFill/>
            </a:ln>
          </p:spPr>
        </p:sp>
        <p:sp>
          <p:nvSpPr>
            <p:cNvPr id="9" name="TextBox 9"/>
            <p:cNvSpPr txBox="1"/>
            <p:nvPr/>
          </p:nvSpPr>
          <p:spPr>
            <a:xfrm>
              <a:off x="280988" y="1383268"/>
              <a:ext cx="1746123"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品牌性事件、国民节点、实时热点</a:t>
              </a:r>
            </a:p>
          </p:txBody>
        </p:sp>
        <p:sp>
          <p:nvSpPr>
            <p:cNvPr id="10" name="Rectangle 10"/>
            <p:cNvSpPr/>
            <p:nvPr/>
          </p:nvSpPr>
          <p:spPr>
            <a:xfrm>
              <a:off x="381000" y="1752600"/>
              <a:ext cx="1428750" cy="876300"/>
            </a:xfrm>
            <a:prstGeom prst="roundRect">
              <a:avLst>
                <a:gd name="adj" fmla="val 4348"/>
              </a:avLst>
            </a:prstGeom>
            <a:solidFill>
              <a:srgbClr val="E9EBF8"/>
            </a:solidFill>
            <a:ln w="9525">
              <a:solidFill>
                <a:srgbClr val="C9CFEA"/>
              </a:solidFill>
            </a:ln>
          </p:spPr>
        </p:sp>
        <p:sp>
          <p:nvSpPr>
            <p:cNvPr id="11" name="TextBox 11"/>
            <p:cNvSpPr txBox="1"/>
            <p:nvPr/>
          </p:nvSpPr>
          <p:spPr>
            <a:xfrm>
              <a:off x="986790" y="2105025"/>
              <a:ext cx="217170" cy="293370"/>
            </a:xfrm>
            <a:prstGeom prst="rect">
              <a:avLst/>
            </a:prstGeom>
            <a:noFill/>
            <a:ln>
              <a:noFill/>
            </a:ln>
          </p:spPr>
          <p:txBody>
            <a:bodyPr wrap="none" lIns="0" tIns="0" rIns="0" bIns="0" anchor="t" anchorCtr="0">
              <a:spAutoFit/>
            </a:bodyPr>
            <a:lstStyle/>
            <a:p>
              <a:pPr algn="ctr"/>
              <a:r>
                <a:rPr lang="zh-CN" sz="1500" dirty="0">
                  <a:solidFill>
                    <a:srgbClr val="B9C0DC"/>
                  </a:solidFill>
                  <a:latin typeface="+mn-lt"/>
                  <a:ea typeface="+mn-ea"/>
                  <a:cs typeface="+mn-cs"/>
                </a:rPr>
                <a:t>图</a:t>
              </a:r>
            </a:p>
          </p:txBody>
        </p:sp>
      </p:grpSp>
      <p:grpSp>
        <p:nvGrpSpPr>
          <p:cNvPr id="17" name="note-baoguang"/>
          <p:cNvGrpSpPr/>
          <p:nvPr/>
        </p:nvGrpSpPr>
        <p:grpSpPr>
          <a:xfrm>
            <a:off x="10191750" y="1314450"/>
            <a:ext cx="1828800" cy="1314450"/>
            <a:chOff x="10191750" y="1314450"/>
            <a:chExt cx="1828800" cy="1314450"/>
          </a:xfrm>
        </p:grpSpPr>
        <p:sp>
          <p:nvSpPr>
            <p:cNvPr id="13" name="Polygon 13"/>
            <p:cNvSpPr/>
            <p:nvPr/>
          </p:nvSpPr>
          <p:spPr>
            <a:xfrm>
              <a:off x="10191750" y="1314450"/>
              <a:ext cx="1828800" cy="209550"/>
            </a:xfrm>
            <a:custGeom>
              <a:avLst/>
              <a:gdLst/>
              <a:ahLst/>
              <a:cxnLst/>
              <a:rect l="l" t="t" r="r" b="b"/>
              <a:pathLst>
                <a:path w="1828800" h="209550">
                  <a:moveTo>
                    <a:pt x="0" y="0"/>
                  </a:moveTo>
                  <a:lnTo>
                    <a:pt x="1752600" y="0"/>
                  </a:lnTo>
                  <a:lnTo>
                    <a:pt x="1828800" y="209550"/>
                  </a:lnTo>
                  <a:lnTo>
                    <a:pt x="76200" y="209550"/>
                  </a:lnTo>
                  <a:close/>
                </a:path>
              </a:pathLst>
            </a:custGeom>
            <a:solidFill>
              <a:srgbClr val="EEF0FB"/>
            </a:solidFill>
            <a:ln>
              <a:noFill/>
            </a:ln>
          </p:spPr>
        </p:sp>
        <p:sp>
          <p:nvSpPr>
            <p:cNvPr id="14" name="TextBox 14"/>
            <p:cNvSpPr txBox="1"/>
            <p:nvPr/>
          </p:nvSpPr>
          <p:spPr>
            <a:xfrm>
              <a:off x="10684993" y="1379220"/>
              <a:ext cx="1226020" cy="176212"/>
            </a:xfrm>
            <a:prstGeom prst="rect">
              <a:avLst/>
            </a:prstGeom>
            <a:noFill/>
            <a:ln>
              <a:noFill/>
            </a:ln>
          </p:spPr>
          <p:txBody>
            <a:bodyPr wrap="none" lIns="0" tIns="0" rIns="0" bIns="0" anchor="t" anchorCtr="0">
              <a:spAutoFit/>
            </a:bodyPr>
            <a:lstStyle/>
            <a:p>
              <a:pPr algn="r"/>
              <a:r>
                <a:rPr lang="zh-CN" sz="900" dirty="0">
                  <a:solidFill>
                    <a:srgbClr val="705F5B"/>
                  </a:solidFill>
                  <a:latin typeface="+mn-lt"/>
                  <a:ea typeface="+mn-ea"/>
                  <a:cs typeface="+mn-cs"/>
                </a:rPr>
                <a:t>KOC/KOL短视频种草​</a:t>
              </a:r>
            </a:p>
          </p:txBody>
        </p:sp>
        <p:sp>
          <p:nvSpPr>
            <p:cNvPr id="15" name="Rectangle 15"/>
            <p:cNvSpPr/>
            <p:nvPr/>
          </p:nvSpPr>
          <p:spPr>
            <a:xfrm>
              <a:off x="10382250" y="1752600"/>
              <a:ext cx="1428750" cy="876300"/>
            </a:xfrm>
            <a:prstGeom prst="roundRect">
              <a:avLst>
                <a:gd name="adj" fmla="val 4348"/>
              </a:avLst>
            </a:prstGeom>
            <a:solidFill>
              <a:srgbClr val="E9EBF8"/>
            </a:solidFill>
            <a:ln w="9525">
              <a:solidFill>
                <a:srgbClr val="C9CFEA"/>
              </a:solidFill>
            </a:ln>
          </p:spPr>
        </p:sp>
        <p:sp>
          <p:nvSpPr>
            <p:cNvPr id="16" name="TextBox 16"/>
            <p:cNvSpPr txBox="1"/>
            <p:nvPr/>
          </p:nvSpPr>
          <p:spPr>
            <a:xfrm>
              <a:off x="10988040" y="2105025"/>
              <a:ext cx="217170" cy="293370"/>
            </a:xfrm>
            <a:prstGeom prst="rect">
              <a:avLst/>
            </a:prstGeom>
            <a:noFill/>
            <a:ln>
              <a:noFill/>
            </a:ln>
          </p:spPr>
          <p:txBody>
            <a:bodyPr wrap="none" lIns="0" tIns="0" rIns="0" bIns="0" anchor="t" anchorCtr="0">
              <a:spAutoFit/>
            </a:bodyPr>
            <a:lstStyle/>
            <a:p>
              <a:pPr algn="ctr"/>
              <a:r>
                <a:rPr lang="zh-CN" sz="1500" dirty="0">
                  <a:solidFill>
                    <a:srgbClr val="B9C0DC"/>
                  </a:solidFill>
                  <a:latin typeface="+mn-lt"/>
                  <a:ea typeface="+mn-ea"/>
                  <a:cs typeface="+mn-cs"/>
                </a:rPr>
                <a:t>图</a:t>
              </a:r>
            </a:p>
          </p:txBody>
        </p:sp>
      </p:grpSp>
      <p:grpSp>
        <p:nvGrpSpPr>
          <p:cNvPr id="22" name="note-huoke"/>
          <p:cNvGrpSpPr/>
          <p:nvPr/>
        </p:nvGrpSpPr>
        <p:grpSpPr>
          <a:xfrm>
            <a:off x="171450" y="3295650"/>
            <a:ext cx="1638300" cy="1314450"/>
            <a:chOff x="171450" y="3295650"/>
            <a:chExt cx="1638300" cy="1314450"/>
          </a:xfrm>
        </p:grpSpPr>
        <p:sp>
          <p:nvSpPr>
            <p:cNvPr id="18" name="Polygon 18"/>
            <p:cNvSpPr/>
            <p:nvPr/>
          </p:nvSpPr>
          <p:spPr>
            <a:xfrm>
              <a:off x="171450" y="3295650"/>
              <a:ext cx="1447800" cy="209550"/>
            </a:xfrm>
            <a:custGeom>
              <a:avLst/>
              <a:gdLst/>
              <a:ahLst/>
              <a:cxnLst/>
              <a:rect l="l" t="t" r="r" b="b"/>
              <a:pathLst>
                <a:path w="1447800" h="209550">
                  <a:moveTo>
                    <a:pt x="76200" y="0"/>
                  </a:moveTo>
                  <a:lnTo>
                    <a:pt x="1447800" y="0"/>
                  </a:lnTo>
                  <a:lnTo>
                    <a:pt x="1371600" y="209550"/>
                  </a:lnTo>
                  <a:lnTo>
                    <a:pt x="0" y="209550"/>
                  </a:lnTo>
                  <a:close/>
                </a:path>
              </a:pathLst>
            </a:custGeom>
            <a:solidFill>
              <a:srgbClr val="EEF0FB"/>
            </a:solidFill>
            <a:ln>
              <a:noFill/>
            </a:ln>
          </p:spPr>
        </p:sp>
        <p:sp>
          <p:nvSpPr>
            <p:cNvPr id="19" name="TextBox 19"/>
            <p:cNvSpPr txBox="1"/>
            <p:nvPr/>
          </p:nvSpPr>
          <p:spPr>
            <a:xfrm>
              <a:off x="280988" y="3360420"/>
              <a:ext cx="978789"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矩阵直播留资获客</a:t>
              </a:r>
            </a:p>
          </p:txBody>
        </p:sp>
        <p:sp>
          <p:nvSpPr>
            <p:cNvPr id="20" name="Rectangle 20"/>
            <p:cNvSpPr/>
            <p:nvPr/>
          </p:nvSpPr>
          <p:spPr>
            <a:xfrm>
              <a:off x="381000" y="3733800"/>
              <a:ext cx="1428750" cy="876300"/>
            </a:xfrm>
            <a:prstGeom prst="roundRect">
              <a:avLst>
                <a:gd name="adj" fmla="val 4348"/>
              </a:avLst>
            </a:prstGeom>
            <a:solidFill>
              <a:srgbClr val="E9EBF8"/>
            </a:solidFill>
            <a:ln w="9525">
              <a:solidFill>
                <a:srgbClr val="C9CFEA"/>
              </a:solidFill>
            </a:ln>
          </p:spPr>
        </p:sp>
        <p:sp>
          <p:nvSpPr>
            <p:cNvPr id="21" name="TextBox 21"/>
            <p:cNvSpPr txBox="1"/>
            <p:nvPr/>
          </p:nvSpPr>
          <p:spPr>
            <a:xfrm>
              <a:off x="986790" y="4086225"/>
              <a:ext cx="217170" cy="293370"/>
            </a:xfrm>
            <a:prstGeom prst="rect">
              <a:avLst/>
            </a:prstGeom>
            <a:noFill/>
            <a:ln>
              <a:noFill/>
            </a:ln>
          </p:spPr>
          <p:txBody>
            <a:bodyPr wrap="none" lIns="0" tIns="0" rIns="0" bIns="0" anchor="t" anchorCtr="0">
              <a:spAutoFit/>
            </a:bodyPr>
            <a:lstStyle/>
            <a:p>
              <a:pPr algn="ctr"/>
              <a:r>
                <a:rPr lang="zh-CN" sz="1500" dirty="0">
                  <a:solidFill>
                    <a:srgbClr val="B9C0DC"/>
                  </a:solidFill>
                  <a:latin typeface="+mn-lt"/>
                  <a:ea typeface="+mn-ea"/>
                  <a:cs typeface="+mn-cs"/>
                </a:rPr>
                <a:t>图</a:t>
              </a:r>
            </a:p>
          </p:txBody>
        </p:sp>
      </p:grpSp>
      <p:grpSp>
        <p:nvGrpSpPr>
          <p:cNvPr id="27" name="note-zhuanhua"/>
          <p:cNvGrpSpPr/>
          <p:nvPr/>
        </p:nvGrpSpPr>
        <p:grpSpPr>
          <a:xfrm>
            <a:off x="10382250" y="3295650"/>
            <a:ext cx="1638300" cy="1314450"/>
            <a:chOff x="10382250" y="3295650"/>
            <a:chExt cx="1638300" cy="1314450"/>
          </a:xfrm>
        </p:grpSpPr>
        <p:sp>
          <p:nvSpPr>
            <p:cNvPr id="23" name="Polygon 23"/>
            <p:cNvSpPr/>
            <p:nvPr/>
          </p:nvSpPr>
          <p:spPr>
            <a:xfrm>
              <a:off x="10572750" y="3295650"/>
              <a:ext cx="1447800" cy="209550"/>
            </a:xfrm>
            <a:custGeom>
              <a:avLst/>
              <a:gdLst/>
              <a:ahLst/>
              <a:cxnLst/>
              <a:rect l="l" t="t" r="r" b="b"/>
              <a:pathLst>
                <a:path w="1447800" h="209550">
                  <a:moveTo>
                    <a:pt x="0" y="0"/>
                  </a:moveTo>
                  <a:lnTo>
                    <a:pt x="1371600" y="0"/>
                  </a:lnTo>
                  <a:lnTo>
                    <a:pt x="1447800" y="209550"/>
                  </a:lnTo>
                  <a:lnTo>
                    <a:pt x="76200" y="209550"/>
                  </a:lnTo>
                  <a:close/>
                </a:path>
              </a:pathLst>
            </a:custGeom>
            <a:solidFill>
              <a:srgbClr val="EEF0FB"/>
            </a:solidFill>
            <a:ln>
              <a:noFill/>
            </a:ln>
          </p:spPr>
        </p:sp>
        <p:sp>
          <p:nvSpPr>
            <p:cNvPr id="24" name="TextBox 24"/>
            <p:cNvSpPr txBox="1"/>
            <p:nvPr/>
          </p:nvSpPr>
          <p:spPr>
            <a:xfrm>
              <a:off x="10627982" y="3364468"/>
              <a:ext cx="1283030" cy="169069"/>
            </a:xfrm>
            <a:prstGeom prst="rect">
              <a:avLst/>
            </a:prstGeom>
            <a:noFill/>
            <a:ln>
              <a:noFill/>
            </a:ln>
          </p:spPr>
          <p:txBody>
            <a:bodyPr wrap="none" lIns="0" tIns="0" rIns="0" bIns="0" anchor="t" anchorCtr="0">
              <a:spAutoFit/>
            </a:bodyPr>
            <a:lstStyle/>
            <a:p>
              <a:pPr algn="r"/>
              <a:r>
                <a:rPr lang="zh-CN" sz="860" dirty="0">
                  <a:solidFill>
                    <a:srgbClr val="705F5B"/>
                  </a:solidFill>
                  <a:latin typeface="+mn-lt"/>
                  <a:ea typeface="+mn-ea"/>
                  <a:cs typeface="+mn-cs"/>
                </a:rPr>
                <a:t>基于社交关系的转化扩散</a:t>
              </a:r>
            </a:p>
          </p:txBody>
        </p:sp>
        <p:sp>
          <p:nvSpPr>
            <p:cNvPr id="25" name="Rectangle 25"/>
            <p:cNvSpPr/>
            <p:nvPr/>
          </p:nvSpPr>
          <p:spPr>
            <a:xfrm>
              <a:off x="10382250" y="3733800"/>
              <a:ext cx="1428750" cy="876300"/>
            </a:xfrm>
            <a:prstGeom prst="roundRect">
              <a:avLst>
                <a:gd name="adj" fmla="val 4348"/>
              </a:avLst>
            </a:prstGeom>
            <a:solidFill>
              <a:srgbClr val="E9EBF8"/>
            </a:solidFill>
            <a:ln w="9525">
              <a:solidFill>
                <a:srgbClr val="C9CFEA"/>
              </a:solidFill>
            </a:ln>
          </p:spPr>
        </p:sp>
        <p:sp>
          <p:nvSpPr>
            <p:cNvPr id="26" name="TextBox 26"/>
            <p:cNvSpPr txBox="1"/>
            <p:nvPr/>
          </p:nvSpPr>
          <p:spPr>
            <a:xfrm>
              <a:off x="10988040" y="4086225"/>
              <a:ext cx="217170" cy="293370"/>
            </a:xfrm>
            <a:prstGeom prst="rect">
              <a:avLst/>
            </a:prstGeom>
            <a:noFill/>
            <a:ln>
              <a:noFill/>
            </a:ln>
          </p:spPr>
          <p:txBody>
            <a:bodyPr wrap="none" lIns="0" tIns="0" rIns="0" bIns="0" anchor="t" anchorCtr="0">
              <a:spAutoFit/>
            </a:bodyPr>
            <a:lstStyle/>
            <a:p>
              <a:pPr algn="ctr"/>
              <a:r>
                <a:rPr lang="zh-CN" sz="1500" dirty="0">
                  <a:solidFill>
                    <a:srgbClr val="B9C0DC"/>
                  </a:solidFill>
                  <a:latin typeface="+mn-lt"/>
                  <a:ea typeface="+mn-ea"/>
                  <a:cs typeface="+mn-cs"/>
                </a:rPr>
                <a:t>图</a:t>
              </a:r>
            </a:p>
          </p:txBody>
        </p:sp>
      </p:grpSp>
      <p:grpSp>
        <p:nvGrpSpPr>
          <p:cNvPr id="97" name="journey-flow"/>
          <p:cNvGrpSpPr/>
          <p:nvPr/>
        </p:nvGrpSpPr>
        <p:grpSpPr>
          <a:xfrm>
            <a:off x="2152650" y="971550"/>
            <a:ext cx="8020050" cy="4743450"/>
            <a:chOff x="2152650" y="971550"/>
            <a:chExt cx="8020050" cy="4743450"/>
          </a:xfrm>
        </p:grpSpPr>
        <p:sp>
          <p:nvSpPr>
            <p:cNvPr id="28" name="Freeform 28"/>
            <p:cNvSpPr/>
            <p:nvPr/>
          </p:nvSpPr>
          <p:spPr>
            <a:xfrm>
              <a:off x="3486150" y="1219200"/>
              <a:ext cx="1809750" cy="1009650"/>
            </a:xfrm>
            <a:custGeom>
              <a:avLst/>
              <a:gdLst/>
              <a:ahLst/>
              <a:cxnLst/>
              <a:rect l="l" t="t" r="r" b="b"/>
              <a:pathLst>
                <a:path w="1809750" h="1009650">
                  <a:moveTo>
                    <a:pt x="0" y="1009650"/>
                  </a:moveTo>
                  <a:cubicBezTo>
                    <a:pt x="660400" y="527050"/>
                    <a:pt x="1263650" y="190500"/>
                    <a:pt x="1809750" y="0"/>
                  </a:cubicBezTo>
                </a:path>
              </a:pathLst>
            </a:custGeom>
            <a:noFill/>
            <a:ln w="19050">
              <a:solidFill>
                <a:srgbClr val="DD988A"/>
              </a:solidFill>
              <a:tailEnd type="triangle" w="lg" len="lg"/>
            </a:ln>
          </p:spPr>
        </p:sp>
        <p:sp>
          <p:nvSpPr>
            <p:cNvPr id="29" name="Freeform 29"/>
            <p:cNvSpPr/>
            <p:nvPr/>
          </p:nvSpPr>
          <p:spPr>
            <a:xfrm>
              <a:off x="6915150" y="1219200"/>
              <a:ext cx="1619250" cy="1028700"/>
            </a:xfrm>
            <a:custGeom>
              <a:avLst/>
              <a:gdLst/>
              <a:ahLst/>
              <a:cxnLst/>
              <a:rect l="l" t="t" r="r" b="b"/>
              <a:pathLst>
                <a:path w="1619250" h="1028700">
                  <a:moveTo>
                    <a:pt x="0" y="0"/>
                  </a:moveTo>
                  <a:cubicBezTo>
                    <a:pt x="546100" y="190500"/>
                    <a:pt x="1085850" y="533400"/>
                    <a:pt x="1619250" y="1028700"/>
                  </a:cubicBezTo>
                </a:path>
              </a:pathLst>
            </a:custGeom>
            <a:noFill/>
            <a:ln w="19050">
              <a:solidFill>
                <a:srgbClr val="DD988A"/>
              </a:solidFill>
              <a:tailEnd type="triangle" w="lg" len="lg"/>
            </a:ln>
          </p:spPr>
        </p:sp>
        <p:sp>
          <p:nvSpPr>
            <p:cNvPr id="30" name="Freeform 30"/>
            <p:cNvSpPr/>
            <p:nvPr/>
          </p:nvSpPr>
          <p:spPr>
            <a:xfrm>
              <a:off x="2324100" y="2667000"/>
              <a:ext cx="495300" cy="1504950"/>
            </a:xfrm>
            <a:custGeom>
              <a:avLst/>
              <a:gdLst/>
              <a:ahLst/>
              <a:cxnLst/>
              <a:rect l="l" t="t" r="r" b="b"/>
              <a:pathLst>
                <a:path w="495300" h="1504950">
                  <a:moveTo>
                    <a:pt x="190500" y="1504950"/>
                  </a:moveTo>
                  <a:cubicBezTo>
                    <a:pt x="0" y="946150"/>
                    <a:pt x="101600" y="444500"/>
                    <a:pt x="495300" y="0"/>
                  </a:cubicBezTo>
                </a:path>
              </a:pathLst>
            </a:custGeom>
            <a:noFill/>
            <a:ln w="19050">
              <a:solidFill>
                <a:srgbClr val="DD988A"/>
              </a:solidFill>
              <a:tailEnd type="triangle" w="lg" len="lg"/>
            </a:ln>
          </p:spPr>
        </p:sp>
        <p:sp>
          <p:nvSpPr>
            <p:cNvPr id="31" name="Freeform 31"/>
            <p:cNvSpPr/>
            <p:nvPr/>
          </p:nvSpPr>
          <p:spPr>
            <a:xfrm>
              <a:off x="9677400" y="2667000"/>
              <a:ext cx="495300" cy="1504950"/>
            </a:xfrm>
            <a:custGeom>
              <a:avLst/>
              <a:gdLst/>
              <a:ahLst/>
              <a:cxnLst/>
              <a:rect l="l" t="t" r="r" b="b"/>
              <a:pathLst>
                <a:path w="495300" h="1504950">
                  <a:moveTo>
                    <a:pt x="0" y="0"/>
                  </a:moveTo>
                  <a:cubicBezTo>
                    <a:pt x="393700" y="444500"/>
                    <a:pt x="495300" y="946150"/>
                    <a:pt x="304800" y="1504950"/>
                  </a:cubicBezTo>
                </a:path>
              </a:pathLst>
            </a:custGeom>
            <a:noFill/>
            <a:ln w="19050">
              <a:solidFill>
                <a:srgbClr val="DD988A"/>
              </a:solidFill>
              <a:tailEnd type="triangle" w="lg" len="lg"/>
            </a:ln>
          </p:spPr>
        </p:sp>
        <p:sp>
          <p:nvSpPr>
            <p:cNvPr id="32" name="Rectangle 32"/>
            <p:cNvSpPr/>
            <p:nvPr/>
          </p:nvSpPr>
          <p:spPr>
            <a:xfrm>
              <a:off x="5676900" y="971550"/>
              <a:ext cx="838200" cy="304800"/>
            </a:xfrm>
            <a:prstGeom prst="roundRect">
              <a:avLst>
                <a:gd name="adj" fmla="val 50000"/>
              </a:avLst>
            </a:prstGeom>
            <a:solidFill>
              <a:srgbClr val="C1553F"/>
            </a:solidFill>
            <a:ln>
              <a:noFill/>
            </a:ln>
          </p:spPr>
        </p:sp>
        <p:sp>
          <p:nvSpPr>
            <p:cNvPr id="33" name="TextBox 33"/>
            <p:cNvSpPr txBox="1"/>
            <p:nvPr/>
          </p:nvSpPr>
          <p:spPr>
            <a:xfrm>
              <a:off x="5939511" y="10596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种草</a:t>
              </a:r>
            </a:p>
          </p:txBody>
        </p:sp>
        <p:sp>
          <p:nvSpPr>
            <p:cNvPr id="34" name="Rectangle 34"/>
            <p:cNvSpPr/>
            <p:nvPr/>
          </p:nvSpPr>
          <p:spPr>
            <a:xfrm>
              <a:off x="2886075" y="2276475"/>
              <a:ext cx="685800" cy="304800"/>
            </a:xfrm>
            <a:prstGeom prst="roundRect">
              <a:avLst>
                <a:gd name="adj" fmla="val 50000"/>
              </a:avLst>
            </a:prstGeom>
            <a:solidFill>
              <a:srgbClr val="C1553F"/>
            </a:solidFill>
            <a:ln>
              <a:noFill/>
            </a:ln>
          </p:spPr>
        </p:sp>
        <p:sp>
          <p:nvSpPr>
            <p:cNvPr id="35" name="TextBox 35"/>
            <p:cNvSpPr txBox="1"/>
            <p:nvPr/>
          </p:nvSpPr>
          <p:spPr>
            <a:xfrm>
              <a:off x="3082290" y="237267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留资</a:t>
              </a:r>
            </a:p>
          </p:txBody>
        </p:sp>
        <p:sp>
          <p:nvSpPr>
            <p:cNvPr id="36" name="Rectangle 36"/>
            <p:cNvSpPr/>
            <p:nvPr/>
          </p:nvSpPr>
          <p:spPr>
            <a:xfrm>
              <a:off x="8629650" y="2276475"/>
              <a:ext cx="685800" cy="304800"/>
            </a:xfrm>
            <a:prstGeom prst="roundRect">
              <a:avLst>
                <a:gd name="adj" fmla="val 50000"/>
              </a:avLst>
            </a:prstGeom>
            <a:solidFill>
              <a:srgbClr val="C1553F"/>
            </a:solidFill>
            <a:ln>
              <a:noFill/>
            </a:ln>
          </p:spPr>
        </p:sp>
        <p:sp>
          <p:nvSpPr>
            <p:cNvPr id="37" name="TextBox 37"/>
            <p:cNvSpPr txBox="1"/>
            <p:nvPr/>
          </p:nvSpPr>
          <p:spPr>
            <a:xfrm>
              <a:off x="8825865" y="237267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曝光</a:t>
              </a:r>
            </a:p>
          </p:txBody>
        </p:sp>
        <p:sp>
          <p:nvSpPr>
            <p:cNvPr id="38" name="Rectangle 38"/>
            <p:cNvSpPr/>
            <p:nvPr/>
          </p:nvSpPr>
          <p:spPr>
            <a:xfrm>
              <a:off x="2152650" y="4248150"/>
              <a:ext cx="685800" cy="304800"/>
            </a:xfrm>
            <a:prstGeom prst="roundRect">
              <a:avLst>
                <a:gd name="adj" fmla="val 50000"/>
              </a:avLst>
            </a:prstGeom>
            <a:solidFill>
              <a:srgbClr val="C1553F"/>
            </a:solidFill>
            <a:ln>
              <a:noFill/>
            </a:ln>
          </p:spPr>
        </p:sp>
        <p:sp>
          <p:nvSpPr>
            <p:cNvPr id="39" name="TextBox 39"/>
            <p:cNvSpPr txBox="1"/>
            <p:nvPr/>
          </p:nvSpPr>
          <p:spPr>
            <a:xfrm>
              <a:off x="2348865" y="43443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获客</a:t>
              </a:r>
            </a:p>
          </p:txBody>
        </p:sp>
        <p:sp>
          <p:nvSpPr>
            <p:cNvPr id="40" name="Rectangle 40"/>
            <p:cNvSpPr/>
            <p:nvPr/>
          </p:nvSpPr>
          <p:spPr>
            <a:xfrm>
              <a:off x="9353550" y="4248150"/>
              <a:ext cx="685800" cy="304800"/>
            </a:xfrm>
            <a:prstGeom prst="roundRect">
              <a:avLst>
                <a:gd name="adj" fmla="val 50000"/>
              </a:avLst>
            </a:prstGeom>
            <a:solidFill>
              <a:srgbClr val="C1553F"/>
            </a:solidFill>
            <a:ln>
              <a:noFill/>
            </a:ln>
          </p:spPr>
        </p:sp>
        <p:sp>
          <p:nvSpPr>
            <p:cNvPr id="41" name="TextBox 41"/>
            <p:cNvSpPr txBox="1"/>
            <p:nvPr/>
          </p:nvSpPr>
          <p:spPr>
            <a:xfrm>
              <a:off x="9549765" y="43443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转化</a:t>
              </a:r>
            </a:p>
          </p:txBody>
        </p:sp>
        <p:sp>
          <p:nvSpPr>
            <p:cNvPr id="42" name="Polygon 42"/>
            <p:cNvSpPr/>
            <p:nvPr/>
          </p:nvSpPr>
          <p:spPr>
            <a:xfrm>
              <a:off x="4953000" y="4305300"/>
              <a:ext cx="2286000" cy="1409700"/>
            </a:xfrm>
            <a:custGeom>
              <a:avLst/>
              <a:gdLst/>
              <a:ahLst/>
              <a:cxnLst/>
              <a:rect l="l" t="t" r="r" b="b"/>
              <a:pathLst>
                <a:path w="2286000" h="1409700">
                  <a:moveTo>
                    <a:pt x="0" y="0"/>
                  </a:moveTo>
                  <a:lnTo>
                    <a:pt x="2286000" y="0"/>
                  </a:lnTo>
                  <a:lnTo>
                    <a:pt x="1143000" y="1409700"/>
                  </a:lnTo>
                  <a:close/>
                </a:path>
              </a:pathLst>
            </a:custGeom>
            <a:gradFill>
              <a:gsLst>
                <a:gs pos="0">
                  <a:srgbClr val="D47D6B"/>
                </a:gs>
                <a:gs pos="100000">
                  <a:srgbClr val="A84834"/>
                </a:gs>
              </a:gsLst>
              <a:lin ang="5400000" scaled="1"/>
            </a:gradFill>
            <a:ln>
              <a:noFill/>
            </a:ln>
          </p:spPr>
        </p:sp>
        <p:sp>
          <p:nvSpPr>
            <p:cNvPr id="43" name="Polygon 43"/>
            <p:cNvSpPr/>
            <p:nvPr/>
          </p:nvSpPr>
          <p:spPr>
            <a:xfrm>
              <a:off x="5391150" y="4514850"/>
              <a:ext cx="1409700" cy="781050"/>
            </a:xfrm>
            <a:custGeom>
              <a:avLst/>
              <a:gdLst/>
              <a:ahLst/>
              <a:cxnLst/>
              <a:rect l="l" t="t" r="r" b="b"/>
              <a:pathLst>
                <a:path w="1409700" h="781050">
                  <a:moveTo>
                    <a:pt x="0" y="0"/>
                  </a:moveTo>
                  <a:lnTo>
                    <a:pt x="1409700" y="0"/>
                  </a:lnTo>
                  <a:lnTo>
                    <a:pt x="704850" y="781050"/>
                  </a:lnTo>
                  <a:close/>
                </a:path>
              </a:pathLst>
            </a:custGeom>
            <a:solidFill>
              <a:srgbClr val="C45F4A">
                <a:alpha val="55000"/>
              </a:srgbClr>
            </a:solidFill>
            <a:ln>
              <a:noFill/>
            </a:ln>
          </p:spPr>
        </p:sp>
        <p:sp>
          <p:nvSpPr>
            <p:cNvPr id="44" name="Ellipse 44"/>
            <p:cNvSpPr/>
            <p:nvPr/>
          </p:nvSpPr>
          <p:spPr>
            <a:xfrm>
              <a:off x="4838700" y="4114800"/>
              <a:ext cx="2514600" cy="304800"/>
            </a:xfrm>
            <a:prstGeom prst="ellipse">
              <a:avLst/>
            </a:prstGeom>
            <a:solidFill>
              <a:srgbClr val="E9EBF8"/>
            </a:solidFill>
            <a:ln>
              <a:noFill/>
            </a:ln>
          </p:spPr>
        </p:sp>
        <p:sp>
          <p:nvSpPr>
            <p:cNvPr id="45" name="Ellipse 45"/>
            <p:cNvSpPr/>
            <p:nvPr/>
          </p:nvSpPr>
          <p:spPr>
            <a:xfrm>
              <a:off x="5181600" y="4143375"/>
              <a:ext cx="1828800" cy="209550"/>
            </a:xfrm>
            <a:prstGeom prst="ellipse">
              <a:avLst/>
            </a:prstGeom>
            <a:solidFill>
              <a:srgbClr val="D47D6B">
                <a:alpha val="35000"/>
              </a:srgbClr>
            </a:solidFill>
            <a:ln>
              <a:noFill/>
            </a:ln>
          </p:spPr>
        </p:sp>
        <p:sp>
          <p:nvSpPr>
            <p:cNvPr id="46" name="Rectangle 46"/>
            <p:cNvSpPr/>
            <p:nvPr/>
          </p:nvSpPr>
          <p:spPr>
            <a:xfrm>
              <a:off x="5295900" y="3848100"/>
              <a:ext cx="1600200" cy="247650"/>
            </a:xfrm>
            <a:prstGeom prst="roundRect">
              <a:avLst>
                <a:gd name="adj" fmla="val 50000"/>
              </a:avLst>
            </a:prstGeom>
            <a:solidFill>
              <a:srgbClr val="C1553F"/>
            </a:solidFill>
            <a:ln>
              <a:noFill/>
            </a:ln>
          </p:spPr>
        </p:sp>
        <p:sp>
          <p:nvSpPr>
            <p:cNvPr id="47" name="Freeform 47"/>
            <p:cNvSpPr/>
            <p:nvPr/>
          </p:nvSpPr>
          <p:spPr>
            <a:xfrm>
              <a:off x="5676900" y="3676650"/>
              <a:ext cx="933450" cy="190500"/>
            </a:xfrm>
            <a:custGeom>
              <a:avLst/>
              <a:gdLst/>
              <a:ahLst/>
              <a:cxnLst/>
              <a:rect l="l" t="t" r="r" b="b"/>
              <a:pathLst>
                <a:path w="933450" h="190500">
                  <a:moveTo>
                    <a:pt x="0" y="190500"/>
                  </a:moveTo>
                  <a:cubicBezTo>
                    <a:pt x="38100" y="76200"/>
                    <a:pt x="127000" y="12700"/>
                    <a:pt x="266700" y="0"/>
                  </a:cubicBezTo>
                  <a:lnTo>
                    <a:pt x="647700" y="0"/>
                  </a:lnTo>
                  <a:cubicBezTo>
                    <a:pt x="800100" y="12700"/>
                    <a:pt x="895350" y="76200"/>
                    <a:pt x="933450" y="190500"/>
                  </a:cubicBezTo>
                  <a:close/>
                </a:path>
              </a:pathLst>
            </a:custGeom>
            <a:solidFill>
              <a:srgbClr val="C45F4A"/>
            </a:solidFill>
            <a:ln>
              <a:noFill/>
            </a:ln>
          </p:spPr>
        </p:sp>
        <p:sp>
          <p:nvSpPr>
            <p:cNvPr id="48" name="Rectangle 48"/>
            <p:cNvSpPr/>
            <p:nvPr/>
          </p:nvSpPr>
          <p:spPr>
            <a:xfrm>
              <a:off x="5810250" y="3714750"/>
              <a:ext cx="342900" cy="123825"/>
            </a:xfrm>
            <a:prstGeom prst="roundRect">
              <a:avLst>
                <a:gd name="adj" fmla="val 23077"/>
              </a:avLst>
            </a:prstGeom>
            <a:solidFill>
              <a:srgbClr val="C9CFEA"/>
            </a:solidFill>
            <a:ln>
              <a:noFill/>
            </a:ln>
          </p:spPr>
        </p:sp>
        <p:sp>
          <p:nvSpPr>
            <p:cNvPr id="49" name="Rectangle 49"/>
            <p:cNvSpPr/>
            <p:nvPr/>
          </p:nvSpPr>
          <p:spPr>
            <a:xfrm>
              <a:off x="6210300" y="3714750"/>
              <a:ext cx="323850" cy="123825"/>
            </a:xfrm>
            <a:prstGeom prst="roundRect">
              <a:avLst>
                <a:gd name="adj" fmla="val 23077"/>
              </a:avLst>
            </a:prstGeom>
            <a:solidFill>
              <a:srgbClr val="C9CFEA"/>
            </a:solidFill>
            <a:ln>
              <a:noFill/>
            </a:ln>
          </p:spPr>
        </p:sp>
        <p:sp>
          <p:nvSpPr>
            <p:cNvPr id="50" name="Ellipse 50"/>
            <p:cNvSpPr/>
            <p:nvPr/>
          </p:nvSpPr>
          <p:spPr>
            <a:xfrm>
              <a:off x="5495925" y="3990975"/>
              <a:ext cx="209550" cy="209550"/>
            </a:xfrm>
            <a:prstGeom prst="ellipse">
              <a:avLst/>
            </a:prstGeom>
            <a:solidFill>
              <a:srgbClr val="55312A"/>
            </a:solidFill>
            <a:ln>
              <a:noFill/>
            </a:ln>
          </p:spPr>
        </p:sp>
        <p:sp>
          <p:nvSpPr>
            <p:cNvPr id="51" name="Ellipse 51"/>
            <p:cNvSpPr/>
            <p:nvPr/>
          </p:nvSpPr>
          <p:spPr>
            <a:xfrm>
              <a:off x="5553075" y="4048125"/>
              <a:ext cx="95250" cy="95250"/>
            </a:xfrm>
            <a:prstGeom prst="ellipse">
              <a:avLst/>
            </a:prstGeom>
            <a:solidFill>
              <a:srgbClr val="C9CFEA"/>
            </a:solidFill>
            <a:ln>
              <a:noFill/>
            </a:ln>
          </p:spPr>
        </p:sp>
        <p:sp>
          <p:nvSpPr>
            <p:cNvPr id="52" name="Ellipse 52"/>
            <p:cNvSpPr/>
            <p:nvPr/>
          </p:nvSpPr>
          <p:spPr>
            <a:xfrm>
              <a:off x="6486525" y="3990975"/>
              <a:ext cx="209550" cy="209550"/>
            </a:xfrm>
            <a:prstGeom prst="ellipse">
              <a:avLst/>
            </a:prstGeom>
            <a:solidFill>
              <a:srgbClr val="55312A"/>
            </a:solidFill>
            <a:ln>
              <a:noFill/>
            </a:ln>
          </p:spPr>
        </p:sp>
        <p:sp>
          <p:nvSpPr>
            <p:cNvPr id="53" name="Ellipse 53"/>
            <p:cNvSpPr/>
            <p:nvPr/>
          </p:nvSpPr>
          <p:spPr>
            <a:xfrm>
              <a:off x="6543675" y="4048125"/>
              <a:ext cx="95250" cy="95250"/>
            </a:xfrm>
            <a:prstGeom prst="ellipse">
              <a:avLst/>
            </a:prstGeom>
            <a:solidFill>
              <a:srgbClr val="C9CFEA"/>
            </a:solidFill>
            <a:ln>
              <a:noFill/>
            </a:ln>
          </p:spPr>
        </p:sp>
        <p:sp>
          <p:nvSpPr>
            <p:cNvPr id="54" name="Ellipse 54"/>
            <p:cNvSpPr/>
            <p:nvPr/>
          </p:nvSpPr>
          <p:spPr>
            <a:xfrm>
              <a:off x="5486400" y="2133600"/>
              <a:ext cx="1219200" cy="1219200"/>
            </a:xfrm>
            <a:prstGeom prst="ellipse">
              <a:avLst/>
            </a:prstGeom>
            <a:noFill/>
            <a:ln w="14288">
              <a:solidFill>
                <a:srgbClr val="ED8776"/>
              </a:solidFill>
              <a:prstDash val="dash"/>
            </a:ln>
          </p:spPr>
        </p:sp>
        <p:sp>
          <p:nvSpPr>
            <p:cNvPr id="55" name="Ellipse 55"/>
            <p:cNvSpPr/>
            <p:nvPr/>
          </p:nvSpPr>
          <p:spPr>
            <a:xfrm>
              <a:off x="5572125" y="2219325"/>
              <a:ext cx="1047750" cy="1047750"/>
            </a:xfrm>
            <a:prstGeom prst="ellipse">
              <a:avLst/>
            </a:prstGeom>
            <a:gradFill>
              <a:gsLst>
                <a:gs pos="0">
                  <a:srgbClr val="F0998A"/>
                </a:gs>
                <a:gs pos="100000">
                  <a:srgbClr val="E5624C"/>
                </a:gs>
              </a:gsLst>
              <a:lin ang="2700000" scaled="1"/>
            </a:gradFill>
            <a:ln>
              <a:noFill/>
            </a:ln>
          </p:spPr>
        </p:sp>
        <p:grpSp>
          <p:nvGrpSpPr>
            <p:cNvPr id="61" name="Group 61"/>
            <p:cNvGrpSpPr/>
            <p:nvPr/>
          </p:nvGrpSpPr>
          <p:grpSpPr>
            <a:xfrm>
              <a:off x="6023769" y="2469356"/>
              <a:ext cx="144462" cy="185737"/>
              <a:chOff x="6023769" y="2469356"/>
              <a:chExt cx="144462" cy="185737"/>
            </a:xfrm>
          </p:grpSpPr>
          <p:sp>
            <p:nvSpPr>
              <p:cNvPr id="56" name="Freeform 56"/>
              <p:cNvSpPr/>
              <p:nvPr/>
            </p:nvSpPr>
            <p:spPr>
              <a:xfrm>
                <a:off x="6116637" y="2469356"/>
                <a:ext cx="51594" cy="51594"/>
              </a:xfrm>
              <a:custGeom>
                <a:avLst/>
                <a:gdLst/>
                <a:ahLst/>
                <a:cxnLst/>
                <a:rect l="l" t="t" r="r" b="b"/>
                <a:pathLst>
                  <a:path w="51594" h="51594">
                    <a:moveTo>
                      <a:pt x="0" y="0"/>
                    </a:moveTo>
                    <a:lnTo>
                      <a:pt x="0" y="41275"/>
                    </a:lnTo>
                    <a:cubicBezTo>
                      <a:pt x="0" y="46974"/>
                      <a:pt x="4620" y="51594"/>
                      <a:pt x="10319" y="51594"/>
                    </a:cubicBezTo>
                    <a:lnTo>
                      <a:pt x="51594" y="51594"/>
                    </a:lnTo>
                  </a:path>
                </a:pathLst>
              </a:custGeom>
              <a:noFill/>
              <a:ln w="20637">
                <a:solidFill>
                  <a:srgbClr val="FFFFFF"/>
                </a:solidFill>
              </a:ln>
            </p:spPr>
          </p:sp>
          <p:sp>
            <p:nvSpPr>
              <p:cNvPr id="57" name="Freeform 57"/>
              <p:cNvSpPr/>
              <p:nvPr/>
            </p:nvSpPr>
            <p:spPr>
              <a:xfrm>
                <a:off x="6023769" y="2469356"/>
                <a:ext cx="144462" cy="185737"/>
              </a:xfrm>
              <a:custGeom>
                <a:avLst/>
                <a:gdLst/>
                <a:ahLst/>
                <a:cxnLst/>
                <a:rect l="l" t="t" r="r" b="b"/>
                <a:pathLst>
                  <a:path w="144462" h="185737">
                    <a:moveTo>
                      <a:pt x="123825" y="185737"/>
                    </a:moveTo>
                    <a:lnTo>
                      <a:pt x="20637" y="185737"/>
                    </a:lnTo>
                    <a:cubicBezTo>
                      <a:pt x="9240" y="185737"/>
                      <a:pt x="0" y="176497"/>
                      <a:pt x="0" y="165099"/>
                    </a:cubicBezTo>
                    <a:lnTo>
                      <a:pt x="0" y="20637"/>
                    </a:lnTo>
                    <a:cubicBezTo>
                      <a:pt x="0" y="9240"/>
                      <a:pt x="9240" y="0"/>
                      <a:pt x="20637" y="0"/>
                    </a:cubicBezTo>
                    <a:lnTo>
                      <a:pt x="92868" y="0"/>
                    </a:lnTo>
                    <a:lnTo>
                      <a:pt x="144462" y="51594"/>
                    </a:lnTo>
                    <a:lnTo>
                      <a:pt x="144462" y="165099"/>
                    </a:lnTo>
                    <a:cubicBezTo>
                      <a:pt x="144462" y="176497"/>
                      <a:pt x="135222" y="185737"/>
                      <a:pt x="123825" y="185737"/>
                    </a:cubicBezTo>
                  </a:path>
                </a:pathLst>
              </a:custGeom>
              <a:noFill/>
              <a:ln w="20637">
                <a:solidFill>
                  <a:srgbClr val="FFFFFF"/>
                </a:solidFill>
              </a:ln>
            </p:spPr>
          </p:sp>
          <p:sp>
            <p:nvSpPr>
              <p:cNvPr id="58" name="Freeform 58"/>
              <p:cNvSpPr/>
              <p:nvPr/>
            </p:nvSpPr>
            <p:spPr>
              <a:xfrm>
                <a:off x="6065043" y="2531268"/>
                <a:ext cx="10319" cy="9525"/>
              </a:xfrm>
              <a:custGeom>
                <a:avLst/>
                <a:gdLst/>
                <a:ahLst/>
                <a:cxnLst/>
                <a:rect l="l" t="t" r="r" b="b"/>
                <a:pathLst>
                  <a:path w="10319" h="9525">
                    <a:moveTo>
                      <a:pt x="0" y="0"/>
                    </a:moveTo>
                    <a:lnTo>
                      <a:pt x="10319" y="0"/>
                    </a:lnTo>
                  </a:path>
                </a:pathLst>
              </a:custGeom>
              <a:noFill/>
              <a:ln w="20637">
                <a:solidFill>
                  <a:srgbClr val="FFFFFF"/>
                </a:solidFill>
              </a:ln>
            </p:spPr>
          </p:sp>
          <p:sp>
            <p:nvSpPr>
              <p:cNvPr id="59" name="Freeform 59"/>
              <p:cNvSpPr/>
              <p:nvPr/>
            </p:nvSpPr>
            <p:spPr>
              <a:xfrm>
                <a:off x="6065043" y="2572543"/>
                <a:ext cx="61912" cy="9525"/>
              </a:xfrm>
              <a:custGeom>
                <a:avLst/>
                <a:gdLst/>
                <a:ahLst/>
                <a:cxnLst/>
                <a:rect l="l" t="t" r="r" b="b"/>
                <a:pathLst>
                  <a:path w="61912" h="9525">
                    <a:moveTo>
                      <a:pt x="0" y="0"/>
                    </a:moveTo>
                    <a:lnTo>
                      <a:pt x="61912" y="0"/>
                    </a:lnTo>
                  </a:path>
                </a:pathLst>
              </a:custGeom>
              <a:noFill/>
              <a:ln w="20637">
                <a:solidFill>
                  <a:srgbClr val="FFFFFF"/>
                </a:solidFill>
              </a:ln>
            </p:spPr>
          </p:sp>
          <p:sp>
            <p:nvSpPr>
              <p:cNvPr id="60" name="Freeform 60"/>
              <p:cNvSpPr/>
              <p:nvPr/>
            </p:nvSpPr>
            <p:spPr>
              <a:xfrm>
                <a:off x="6065043" y="2613818"/>
                <a:ext cx="61912" cy="9525"/>
              </a:xfrm>
              <a:custGeom>
                <a:avLst/>
                <a:gdLst/>
                <a:ahLst/>
                <a:cxnLst/>
                <a:rect l="l" t="t" r="r" b="b"/>
                <a:pathLst>
                  <a:path w="61912" h="9525">
                    <a:moveTo>
                      <a:pt x="0" y="0"/>
                    </a:moveTo>
                    <a:lnTo>
                      <a:pt x="61912" y="0"/>
                    </a:lnTo>
                  </a:path>
                </a:pathLst>
              </a:custGeom>
              <a:noFill/>
              <a:ln w="20637">
                <a:solidFill>
                  <a:srgbClr val="FFFFFF"/>
                </a:solidFill>
              </a:ln>
            </p:spPr>
          </p:sp>
        </p:grpSp>
        <p:sp>
          <p:nvSpPr>
            <p:cNvPr id="62" name="TextBox 62"/>
            <p:cNvSpPr txBox="1"/>
            <p:nvPr/>
          </p:nvSpPr>
          <p:spPr>
            <a:xfrm>
              <a:off x="5838152" y="283249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内容获取</a:t>
              </a:r>
            </a:p>
          </p:txBody>
        </p:sp>
        <p:sp>
          <p:nvSpPr>
            <p:cNvPr id="63" name="TextBox 63"/>
            <p:cNvSpPr txBox="1"/>
            <p:nvPr/>
          </p:nvSpPr>
          <p:spPr>
            <a:xfrm>
              <a:off x="4575593" y="2428399"/>
              <a:ext cx="877660" cy="190690"/>
            </a:xfrm>
            <a:prstGeom prst="rect">
              <a:avLst/>
            </a:prstGeom>
            <a:noFill/>
            <a:ln>
              <a:noFill/>
            </a:ln>
          </p:spPr>
          <p:txBody>
            <a:bodyPr wrap="none" lIns="0" tIns="0" rIns="0" bIns="0" anchor="t" anchorCtr="0">
              <a:spAutoFit/>
            </a:bodyPr>
            <a:lstStyle/>
            <a:p>
              <a:pPr algn="r"/>
              <a:r>
                <a:rPr lang="zh-CN" sz="980" b="1" dirty="0">
                  <a:solidFill>
                    <a:srgbClr val="E5624C"/>
                  </a:solidFill>
                  <a:latin typeface="+mn-lt"/>
                  <a:ea typeface="+mn-ea"/>
                  <a:cs typeface="+mn-cs"/>
                </a:rPr>
                <a:t>主机厂/经销商</a:t>
              </a:r>
            </a:p>
          </p:txBody>
        </p:sp>
        <p:sp>
          <p:nvSpPr>
            <p:cNvPr id="64" name="TextBox 64"/>
            <p:cNvSpPr txBox="1"/>
            <p:nvPr/>
          </p:nvSpPr>
          <p:spPr>
            <a:xfrm>
              <a:off x="4478368" y="2673191"/>
              <a:ext cx="974695" cy="161925"/>
            </a:xfrm>
            <a:prstGeom prst="rect">
              <a:avLst/>
            </a:prstGeom>
            <a:noFill/>
            <a:ln>
              <a:noFill/>
            </a:ln>
          </p:spPr>
          <p:txBody>
            <a:bodyPr wrap="none" lIns="0" tIns="0" rIns="0" bIns="0" anchor="t" anchorCtr="0">
              <a:spAutoFit/>
            </a:bodyPr>
            <a:lstStyle/>
            <a:p>
              <a:pPr algn="r"/>
              <a:r>
                <a:rPr lang="zh-CN" sz="820" dirty="0">
                  <a:solidFill>
                    <a:srgbClr val="705F5B"/>
                  </a:solidFill>
                  <a:latin typeface="+mn-lt"/>
                  <a:ea typeface="+mn-ea"/>
                  <a:cs typeface="+mn-cs"/>
                </a:rPr>
                <a:t>TVC广告、社交平台</a:t>
              </a:r>
            </a:p>
          </p:txBody>
        </p:sp>
        <p:sp>
          <p:nvSpPr>
            <p:cNvPr id="65" name="TextBox 65"/>
            <p:cNvSpPr txBox="1"/>
            <p:nvPr/>
          </p:nvSpPr>
          <p:spPr>
            <a:xfrm>
              <a:off x="6738747" y="2428399"/>
              <a:ext cx="756965" cy="190690"/>
            </a:xfrm>
            <a:prstGeom prst="rect">
              <a:avLst/>
            </a:prstGeom>
            <a:noFill/>
            <a:ln>
              <a:noFill/>
            </a:ln>
          </p:spPr>
          <p:txBody>
            <a:bodyPr wrap="none" lIns="0" tIns="0" rIns="0" bIns="0" anchor="t" anchorCtr="0">
              <a:spAutoFit/>
            </a:bodyPr>
            <a:lstStyle/>
            <a:p>
              <a:pPr algn="l"/>
              <a:r>
                <a:rPr lang="zh-CN" sz="980" b="1" dirty="0">
                  <a:solidFill>
                    <a:srgbClr val="E5624C"/>
                  </a:solidFill>
                  <a:latin typeface="+mn-lt"/>
                  <a:ea typeface="+mn-ea"/>
                  <a:cs typeface="+mn-cs"/>
                </a:rPr>
                <a:t>发布会/KOL</a:t>
              </a:r>
            </a:p>
          </p:txBody>
        </p:sp>
        <p:sp>
          <p:nvSpPr>
            <p:cNvPr id="66" name="TextBox 66"/>
            <p:cNvSpPr txBox="1"/>
            <p:nvPr/>
          </p:nvSpPr>
          <p:spPr>
            <a:xfrm>
              <a:off x="6738938" y="2673191"/>
              <a:ext cx="1284511"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朋友圈、公众号、视频号​</a:t>
              </a:r>
            </a:p>
          </p:txBody>
        </p:sp>
        <p:sp>
          <p:nvSpPr>
            <p:cNvPr id="67" name="Ellipse 67"/>
            <p:cNvSpPr/>
            <p:nvPr/>
          </p:nvSpPr>
          <p:spPr>
            <a:xfrm>
              <a:off x="3790950" y="3686175"/>
              <a:ext cx="1219200" cy="1219200"/>
            </a:xfrm>
            <a:prstGeom prst="ellipse">
              <a:avLst/>
            </a:prstGeom>
            <a:noFill/>
            <a:ln w="14288">
              <a:solidFill>
                <a:srgbClr val="ED8776"/>
              </a:solidFill>
              <a:prstDash val="dash"/>
            </a:ln>
          </p:spPr>
        </p:sp>
        <p:sp>
          <p:nvSpPr>
            <p:cNvPr id="68" name="Ellipse 68"/>
            <p:cNvSpPr/>
            <p:nvPr/>
          </p:nvSpPr>
          <p:spPr>
            <a:xfrm>
              <a:off x="3876675" y="3771900"/>
              <a:ext cx="1047750" cy="1047750"/>
            </a:xfrm>
            <a:prstGeom prst="ellipse">
              <a:avLst/>
            </a:prstGeom>
            <a:gradFill>
              <a:gsLst>
                <a:gs pos="0">
                  <a:srgbClr val="F0998A"/>
                </a:gs>
                <a:gs pos="100000">
                  <a:srgbClr val="E5624C"/>
                </a:gs>
              </a:gsLst>
              <a:lin ang="2700000" scaled="1"/>
            </a:gradFill>
            <a:ln>
              <a:noFill/>
            </a:ln>
          </p:spPr>
        </p:sp>
        <p:grpSp>
          <p:nvGrpSpPr>
            <p:cNvPr id="73" name="Group 73"/>
            <p:cNvGrpSpPr/>
            <p:nvPr/>
          </p:nvGrpSpPr>
          <p:grpSpPr>
            <a:xfrm>
              <a:off x="4307681" y="4031456"/>
              <a:ext cx="185737" cy="185738"/>
              <a:chOff x="4307681" y="4031456"/>
              <a:chExt cx="185737" cy="185738"/>
            </a:xfrm>
          </p:grpSpPr>
          <p:sp>
            <p:nvSpPr>
              <p:cNvPr id="69" name="Freeform 69"/>
              <p:cNvSpPr/>
              <p:nvPr/>
            </p:nvSpPr>
            <p:spPr>
              <a:xfrm>
                <a:off x="4328319" y="40314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70" name="Freeform 70"/>
              <p:cNvSpPr/>
              <p:nvPr/>
            </p:nvSpPr>
            <p:spPr>
              <a:xfrm>
                <a:off x="4307681" y="41552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71" name="Freeform 71"/>
              <p:cNvSpPr/>
              <p:nvPr/>
            </p:nvSpPr>
            <p:spPr>
              <a:xfrm>
                <a:off x="4441824" y="40327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72" name="Freeform 72"/>
              <p:cNvSpPr/>
              <p:nvPr/>
            </p:nvSpPr>
            <p:spPr>
              <a:xfrm>
                <a:off x="4462462" y="41568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74" name="TextBox 74"/>
            <p:cNvSpPr txBox="1"/>
            <p:nvPr/>
          </p:nvSpPr>
          <p:spPr>
            <a:xfrm>
              <a:off x="4142702" y="43850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销售沟通</a:t>
              </a:r>
            </a:p>
          </p:txBody>
        </p:sp>
        <p:sp>
          <p:nvSpPr>
            <p:cNvPr id="75" name="Ellipse 75"/>
            <p:cNvSpPr/>
            <p:nvPr/>
          </p:nvSpPr>
          <p:spPr>
            <a:xfrm>
              <a:off x="3814762" y="3843338"/>
              <a:ext cx="66675" cy="66675"/>
            </a:xfrm>
            <a:prstGeom prst="ellipse">
              <a:avLst/>
            </a:prstGeom>
            <a:solidFill>
              <a:srgbClr val="E5624C"/>
            </a:solidFill>
            <a:ln>
              <a:noFill/>
            </a:ln>
          </p:spPr>
        </p:sp>
        <p:sp>
          <p:nvSpPr>
            <p:cNvPr id="76" name="Ellipse 76"/>
            <p:cNvSpPr/>
            <p:nvPr/>
          </p:nvSpPr>
          <p:spPr>
            <a:xfrm>
              <a:off x="3814762" y="4167188"/>
              <a:ext cx="66675" cy="66675"/>
            </a:xfrm>
            <a:prstGeom prst="ellipse">
              <a:avLst/>
            </a:prstGeom>
            <a:solidFill>
              <a:srgbClr val="E5624C"/>
            </a:solidFill>
            <a:ln>
              <a:noFill/>
            </a:ln>
          </p:spPr>
        </p:sp>
        <p:sp>
          <p:nvSpPr>
            <p:cNvPr id="77" name="Ellipse 77"/>
            <p:cNvSpPr/>
            <p:nvPr/>
          </p:nvSpPr>
          <p:spPr>
            <a:xfrm>
              <a:off x="3814762" y="4491038"/>
              <a:ext cx="66675" cy="66675"/>
            </a:xfrm>
            <a:prstGeom prst="ellipse">
              <a:avLst/>
            </a:prstGeom>
            <a:solidFill>
              <a:srgbClr val="E5624C"/>
            </a:solidFill>
            <a:ln>
              <a:noFill/>
            </a:ln>
          </p:spPr>
        </p:sp>
        <p:sp>
          <p:nvSpPr>
            <p:cNvPr id="78" name="Ellipse 78"/>
            <p:cNvSpPr/>
            <p:nvPr/>
          </p:nvSpPr>
          <p:spPr>
            <a:xfrm>
              <a:off x="3814762" y="4814888"/>
              <a:ext cx="66675" cy="66675"/>
            </a:xfrm>
            <a:prstGeom prst="ellipse">
              <a:avLst/>
            </a:prstGeom>
            <a:solidFill>
              <a:srgbClr val="E5624C"/>
            </a:solidFill>
            <a:ln>
              <a:noFill/>
            </a:ln>
          </p:spPr>
        </p:sp>
        <p:sp>
          <p:nvSpPr>
            <p:cNvPr id="79" name="TextBox 79"/>
            <p:cNvSpPr txBox="1"/>
            <p:nvPr/>
          </p:nvSpPr>
          <p:spPr>
            <a:xfrm>
              <a:off x="3304045" y="3821668"/>
              <a:ext cx="472618" cy="169069"/>
            </a:xfrm>
            <a:prstGeom prst="rect">
              <a:avLst/>
            </a:prstGeom>
            <a:noFill/>
            <a:ln>
              <a:noFill/>
            </a:ln>
          </p:spPr>
          <p:txBody>
            <a:bodyPr wrap="none" lIns="0" tIns="0" rIns="0" bIns="0" anchor="t" anchorCtr="0">
              <a:spAutoFit/>
            </a:bodyPr>
            <a:lstStyle/>
            <a:p>
              <a:pPr algn="r"/>
              <a:r>
                <a:rPr lang="zh-CN" sz="860" dirty="0">
                  <a:solidFill>
                    <a:srgbClr val="705F5B"/>
                  </a:solidFill>
                  <a:latin typeface="+mn-lt"/>
                  <a:ea typeface="+mn-ea"/>
                  <a:cs typeface="+mn-cs"/>
                </a:rPr>
                <a:t>车型展厅</a:t>
              </a:r>
            </a:p>
          </p:txBody>
        </p:sp>
        <p:sp>
          <p:nvSpPr>
            <p:cNvPr id="80" name="TextBox 80"/>
            <p:cNvSpPr txBox="1"/>
            <p:nvPr/>
          </p:nvSpPr>
          <p:spPr>
            <a:xfrm>
              <a:off x="3304045" y="4145518"/>
              <a:ext cx="472618" cy="169069"/>
            </a:xfrm>
            <a:prstGeom prst="rect">
              <a:avLst/>
            </a:prstGeom>
            <a:noFill/>
            <a:ln>
              <a:noFill/>
            </a:ln>
          </p:spPr>
          <p:txBody>
            <a:bodyPr wrap="none" lIns="0" tIns="0" rIns="0" bIns="0" anchor="t" anchorCtr="0">
              <a:spAutoFit/>
            </a:bodyPr>
            <a:lstStyle/>
            <a:p>
              <a:pPr algn="r"/>
              <a:r>
                <a:rPr lang="zh-CN" sz="860" dirty="0">
                  <a:solidFill>
                    <a:srgbClr val="705F5B"/>
                  </a:solidFill>
                  <a:latin typeface="+mn-lt"/>
                  <a:ea typeface="+mn-ea"/>
                  <a:cs typeface="+mn-cs"/>
                </a:rPr>
                <a:t>售前咨询</a:t>
              </a:r>
            </a:p>
          </p:txBody>
        </p:sp>
        <p:sp>
          <p:nvSpPr>
            <p:cNvPr id="81" name="TextBox 81"/>
            <p:cNvSpPr txBox="1"/>
            <p:nvPr/>
          </p:nvSpPr>
          <p:spPr>
            <a:xfrm>
              <a:off x="3304045" y="4469368"/>
              <a:ext cx="472618" cy="169069"/>
            </a:xfrm>
            <a:prstGeom prst="rect">
              <a:avLst/>
            </a:prstGeom>
            <a:noFill/>
            <a:ln>
              <a:noFill/>
            </a:ln>
          </p:spPr>
          <p:txBody>
            <a:bodyPr wrap="none" lIns="0" tIns="0" rIns="0" bIns="0" anchor="t" anchorCtr="0">
              <a:spAutoFit/>
            </a:bodyPr>
            <a:lstStyle/>
            <a:p>
              <a:pPr algn="r"/>
              <a:r>
                <a:rPr lang="zh-CN" sz="860" dirty="0">
                  <a:solidFill>
                    <a:srgbClr val="705F5B"/>
                  </a:solidFill>
                  <a:latin typeface="+mn-lt"/>
                  <a:ea typeface="+mn-ea"/>
                  <a:cs typeface="+mn-cs"/>
                </a:rPr>
                <a:t>卡券支付</a:t>
              </a:r>
            </a:p>
          </p:txBody>
        </p:sp>
        <p:sp>
          <p:nvSpPr>
            <p:cNvPr id="82" name="TextBox 82"/>
            <p:cNvSpPr txBox="1"/>
            <p:nvPr/>
          </p:nvSpPr>
          <p:spPr>
            <a:xfrm>
              <a:off x="3304045" y="4793218"/>
              <a:ext cx="472618" cy="169069"/>
            </a:xfrm>
            <a:prstGeom prst="rect">
              <a:avLst/>
            </a:prstGeom>
            <a:noFill/>
            <a:ln>
              <a:noFill/>
            </a:ln>
          </p:spPr>
          <p:txBody>
            <a:bodyPr wrap="none" lIns="0" tIns="0" rIns="0" bIns="0" anchor="t" anchorCtr="0">
              <a:spAutoFit/>
            </a:bodyPr>
            <a:lstStyle/>
            <a:p>
              <a:pPr algn="r"/>
              <a:r>
                <a:rPr lang="zh-CN" sz="860" dirty="0">
                  <a:solidFill>
                    <a:srgbClr val="705F5B"/>
                  </a:solidFill>
                  <a:latin typeface="+mn-lt"/>
                  <a:ea typeface="+mn-ea"/>
                  <a:cs typeface="+mn-cs"/>
                </a:rPr>
                <a:t>预约试驾</a:t>
              </a:r>
            </a:p>
          </p:txBody>
        </p:sp>
        <p:sp>
          <p:nvSpPr>
            <p:cNvPr id="83" name="Ellipse 83"/>
            <p:cNvSpPr/>
            <p:nvPr/>
          </p:nvSpPr>
          <p:spPr>
            <a:xfrm>
              <a:off x="7181850" y="3686175"/>
              <a:ext cx="1219200" cy="1219200"/>
            </a:xfrm>
            <a:prstGeom prst="ellipse">
              <a:avLst/>
            </a:prstGeom>
            <a:noFill/>
            <a:ln w="14288">
              <a:solidFill>
                <a:srgbClr val="ED8776"/>
              </a:solidFill>
              <a:prstDash val="dash"/>
            </a:ln>
          </p:spPr>
        </p:sp>
        <p:sp>
          <p:nvSpPr>
            <p:cNvPr id="84" name="Ellipse 84"/>
            <p:cNvSpPr/>
            <p:nvPr/>
          </p:nvSpPr>
          <p:spPr>
            <a:xfrm>
              <a:off x="7267575" y="3771900"/>
              <a:ext cx="1047750" cy="1047750"/>
            </a:xfrm>
            <a:prstGeom prst="ellipse">
              <a:avLst/>
            </a:prstGeom>
            <a:gradFill>
              <a:gsLst>
                <a:gs pos="0">
                  <a:srgbClr val="F0998A"/>
                </a:gs>
                <a:gs pos="100000">
                  <a:srgbClr val="E5624C"/>
                </a:gs>
              </a:gsLst>
              <a:lin ang="2700000" scaled="1"/>
            </a:gradFill>
            <a:ln>
              <a:noFill/>
            </a:ln>
          </p:spPr>
        </p:sp>
        <p:grpSp>
          <p:nvGrpSpPr>
            <p:cNvPr id="87" name="Group 87"/>
            <p:cNvGrpSpPr/>
            <p:nvPr/>
          </p:nvGrpSpPr>
          <p:grpSpPr>
            <a:xfrm>
              <a:off x="7708900" y="4031456"/>
              <a:ext cx="165099" cy="185737"/>
              <a:chOff x="7708900" y="4031456"/>
              <a:chExt cx="165099" cy="185737"/>
            </a:xfrm>
          </p:grpSpPr>
          <p:sp>
            <p:nvSpPr>
              <p:cNvPr id="85" name="Freeform 85"/>
              <p:cNvSpPr/>
              <p:nvPr/>
            </p:nvSpPr>
            <p:spPr>
              <a:xfrm>
                <a:off x="7708900" y="4031456"/>
                <a:ext cx="165099" cy="92868"/>
              </a:xfrm>
              <a:custGeom>
                <a:avLst/>
                <a:gdLst/>
                <a:ahLst/>
                <a:cxnLst/>
                <a:rect l="l" t="t" r="r" b="b"/>
                <a:pathLst>
                  <a:path w="165099" h="92868">
                    <a:moveTo>
                      <a:pt x="0" y="92868"/>
                    </a:moveTo>
                    <a:lnTo>
                      <a:pt x="0" y="61912"/>
                    </a:lnTo>
                    <a:cubicBezTo>
                      <a:pt x="0" y="44816"/>
                      <a:pt x="13860" y="30956"/>
                      <a:pt x="30956" y="30956"/>
                    </a:cubicBezTo>
                    <a:lnTo>
                      <a:pt x="165099" y="30956"/>
                    </a:lnTo>
                    <a:moveTo>
                      <a:pt x="134143" y="0"/>
                    </a:moveTo>
                    <a:lnTo>
                      <a:pt x="165099" y="30956"/>
                    </a:lnTo>
                    <a:lnTo>
                      <a:pt x="134143" y="61912"/>
                    </a:lnTo>
                  </a:path>
                </a:pathLst>
              </a:custGeom>
              <a:noFill/>
              <a:ln w="20637">
                <a:solidFill>
                  <a:srgbClr val="FFFFFF"/>
                </a:solidFill>
              </a:ln>
            </p:spPr>
          </p:sp>
          <p:sp>
            <p:nvSpPr>
              <p:cNvPr id="86" name="Freeform 86"/>
              <p:cNvSpPr/>
              <p:nvPr/>
            </p:nvSpPr>
            <p:spPr>
              <a:xfrm>
                <a:off x="7708900" y="4124325"/>
                <a:ext cx="165099" cy="92868"/>
              </a:xfrm>
              <a:custGeom>
                <a:avLst/>
                <a:gdLst/>
                <a:ahLst/>
                <a:cxnLst/>
                <a:rect l="l" t="t" r="r" b="b"/>
                <a:pathLst>
                  <a:path w="165099" h="92868">
                    <a:moveTo>
                      <a:pt x="165099" y="0"/>
                    </a:moveTo>
                    <a:lnTo>
                      <a:pt x="165099" y="30956"/>
                    </a:lnTo>
                    <a:cubicBezTo>
                      <a:pt x="165099" y="48053"/>
                      <a:pt x="151240" y="61912"/>
                      <a:pt x="134143" y="61912"/>
                    </a:cubicBezTo>
                    <a:lnTo>
                      <a:pt x="0" y="61912"/>
                    </a:lnTo>
                    <a:moveTo>
                      <a:pt x="30956" y="92868"/>
                    </a:moveTo>
                    <a:lnTo>
                      <a:pt x="0" y="61912"/>
                    </a:lnTo>
                    <a:lnTo>
                      <a:pt x="30956" y="30956"/>
                    </a:lnTo>
                  </a:path>
                </a:pathLst>
              </a:custGeom>
              <a:noFill/>
              <a:ln w="20637">
                <a:solidFill>
                  <a:srgbClr val="FFFFFF"/>
                </a:solidFill>
              </a:ln>
            </p:spPr>
          </p:sp>
        </p:grpSp>
        <p:sp>
          <p:nvSpPr>
            <p:cNvPr id="88" name="TextBox 88"/>
            <p:cNvSpPr txBox="1"/>
            <p:nvPr/>
          </p:nvSpPr>
          <p:spPr>
            <a:xfrm>
              <a:off x="7533602" y="43850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服务体验</a:t>
              </a:r>
            </a:p>
          </p:txBody>
        </p:sp>
        <p:sp>
          <p:nvSpPr>
            <p:cNvPr id="89" name="Ellipse 89"/>
            <p:cNvSpPr/>
            <p:nvPr/>
          </p:nvSpPr>
          <p:spPr>
            <a:xfrm>
              <a:off x="8310562" y="3843338"/>
              <a:ext cx="66675" cy="66675"/>
            </a:xfrm>
            <a:prstGeom prst="ellipse">
              <a:avLst/>
            </a:prstGeom>
            <a:solidFill>
              <a:srgbClr val="E5624C"/>
            </a:solidFill>
            <a:ln>
              <a:noFill/>
            </a:ln>
          </p:spPr>
        </p:sp>
        <p:sp>
          <p:nvSpPr>
            <p:cNvPr id="90" name="Ellipse 90"/>
            <p:cNvSpPr/>
            <p:nvPr/>
          </p:nvSpPr>
          <p:spPr>
            <a:xfrm>
              <a:off x="8310562" y="4167188"/>
              <a:ext cx="66675" cy="66675"/>
            </a:xfrm>
            <a:prstGeom prst="ellipse">
              <a:avLst/>
            </a:prstGeom>
            <a:solidFill>
              <a:srgbClr val="E5624C"/>
            </a:solidFill>
            <a:ln>
              <a:noFill/>
            </a:ln>
          </p:spPr>
        </p:sp>
        <p:sp>
          <p:nvSpPr>
            <p:cNvPr id="91" name="Ellipse 91"/>
            <p:cNvSpPr/>
            <p:nvPr/>
          </p:nvSpPr>
          <p:spPr>
            <a:xfrm>
              <a:off x="8310562" y="4491038"/>
              <a:ext cx="66675" cy="66675"/>
            </a:xfrm>
            <a:prstGeom prst="ellipse">
              <a:avLst/>
            </a:prstGeom>
            <a:solidFill>
              <a:srgbClr val="E5624C"/>
            </a:solidFill>
            <a:ln>
              <a:noFill/>
            </a:ln>
          </p:spPr>
        </p:sp>
        <p:sp>
          <p:nvSpPr>
            <p:cNvPr id="92" name="Ellipse 92"/>
            <p:cNvSpPr/>
            <p:nvPr/>
          </p:nvSpPr>
          <p:spPr>
            <a:xfrm>
              <a:off x="8310562" y="4814888"/>
              <a:ext cx="66675" cy="66675"/>
            </a:xfrm>
            <a:prstGeom prst="ellipse">
              <a:avLst/>
            </a:prstGeom>
            <a:solidFill>
              <a:srgbClr val="E5624C"/>
            </a:solidFill>
            <a:ln>
              <a:noFill/>
            </a:ln>
          </p:spPr>
        </p:sp>
        <p:sp>
          <p:nvSpPr>
            <p:cNvPr id="93" name="TextBox 93"/>
            <p:cNvSpPr txBox="1"/>
            <p:nvPr/>
          </p:nvSpPr>
          <p:spPr>
            <a:xfrm>
              <a:off x="8434388" y="3821668"/>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品牌活动</a:t>
              </a:r>
            </a:p>
          </p:txBody>
        </p:sp>
        <p:sp>
          <p:nvSpPr>
            <p:cNvPr id="94" name="TextBox 94"/>
            <p:cNvSpPr txBox="1"/>
            <p:nvPr/>
          </p:nvSpPr>
          <p:spPr>
            <a:xfrm>
              <a:off x="8434388" y="4145518"/>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车主社区</a:t>
              </a:r>
            </a:p>
          </p:txBody>
        </p:sp>
        <p:sp>
          <p:nvSpPr>
            <p:cNvPr id="95" name="TextBox 95"/>
            <p:cNvSpPr txBox="1"/>
            <p:nvPr/>
          </p:nvSpPr>
          <p:spPr>
            <a:xfrm>
              <a:off x="8434388" y="4469368"/>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保养维修</a:t>
              </a:r>
            </a:p>
          </p:txBody>
        </p:sp>
        <p:sp>
          <p:nvSpPr>
            <p:cNvPr id="96" name="TextBox 96"/>
            <p:cNvSpPr txBox="1"/>
            <p:nvPr/>
          </p:nvSpPr>
          <p:spPr>
            <a:xfrm>
              <a:off x="8434388" y="4793218"/>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分享传播</a:t>
              </a:r>
            </a:p>
          </p:txBody>
        </p:sp>
      </p:gr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4315587" cy="440055"/>
            <a:chOff x="302895" y="214312"/>
            <a:chExt cx="4315587"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35.​</a:t>
              </a:r>
            </a:p>
          </p:txBody>
        </p:sp>
        <p:sp>
          <p:nvSpPr>
            <p:cNvPr id="3" name="TextBox 3"/>
            <p:cNvSpPr txBox="1"/>
            <p:nvPr/>
          </p:nvSpPr>
          <p:spPr>
            <a:xfrm>
              <a:off x="923544" y="246698"/>
              <a:ext cx="3694938"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各大主流社交平台营销生态对比</a:t>
              </a:r>
            </a:p>
          </p:txBody>
        </p:sp>
      </p:grpSp>
      <p:grpSp>
        <p:nvGrpSpPr>
          <p:cNvPr id="11" name="table-headers"/>
          <p:cNvGrpSpPr/>
          <p:nvPr/>
        </p:nvGrpSpPr>
        <p:grpSpPr>
          <a:xfrm>
            <a:off x="847725" y="990600"/>
            <a:ext cx="11001375" cy="298609"/>
            <a:chOff x="847725" y="990600"/>
            <a:chExt cx="11001375" cy="298609"/>
          </a:xfrm>
        </p:grpSpPr>
        <p:sp>
          <p:nvSpPr>
            <p:cNvPr id="5" name="Rectangle 5"/>
            <p:cNvSpPr/>
            <p:nvPr/>
          </p:nvSpPr>
          <p:spPr>
            <a:xfrm>
              <a:off x="847725" y="990600"/>
              <a:ext cx="6810375" cy="285750"/>
            </a:xfrm>
            <a:prstGeom prst="rect">
              <a:avLst/>
            </a:prstGeom>
            <a:gradFill>
              <a:gsLst>
                <a:gs pos="0">
                  <a:srgbClr val="E5624C"/>
                </a:gs>
                <a:gs pos="100000">
                  <a:srgbClr val="F0998A"/>
                </a:gs>
              </a:gsLst>
              <a:lin ang="0" scaled="1"/>
            </a:gradFill>
            <a:ln>
              <a:noFill/>
            </a:ln>
          </p:spPr>
        </p:sp>
        <p:sp>
          <p:nvSpPr>
            <p:cNvPr id="6" name="TextBox 6"/>
            <p:cNvSpPr txBox="1"/>
            <p:nvPr/>
          </p:nvSpPr>
          <p:spPr>
            <a:xfrm>
              <a:off x="3790112" y="106918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综合经营模型</a:t>
              </a:r>
            </a:p>
          </p:txBody>
        </p:sp>
        <p:sp>
          <p:nvSpPr>
            <p:cNvPr id="7" name="Rectangle 7"/>
            <p:cNvSpPr/>
            <p:nvPr/>
          </p:nvSpPr>
          <p:spPr>
            <a:xfrm>
              <a:off x="7743825" y="990600"/>
              <a:ext cx="2466975" cy="285750"/>
            </a:xfrm>
            <a:prstGeom prst="rect">
              <a:avLst/>
            </a:prstGeom>
            <a:gradFill>
              <a:gsLst>
                <a:gs pos="0">
                  <a:srgbClr val="C1553F"/>
                </a:gs>
                <a:gs pos="100000">
                  <a:srgbClr val="CE897B"/>
                </a:gs>
              </a:gsLst>
              <a:lin ang="0" scaled="1"/>
            </a:gradFill>
            <a:ln>
              <a:noFill/>
            </a:ln>
          </p:spPr>
        </p:sp>
        <p:sp>
          <p:nvSpPr>
            <p:cNvPr id="8" name="TextBox 8"/>
            <p:cNvSpPr txBox="1"/>
            <p:nvPr/>
          </p:nvSpPr>
          <p:spPr>
            <a:xfrm>
              <a:off x="8514512" y="106918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内容营销模型</a:t>
              </a:r>
            </a:p>
          </p:txBody>
        </p:sp>
        <p:sp>
          <p:nvSpPr>
            <p:cNvPr id="9" name="Rectangle 9"/>
            <p:cNvSpPr/>
            <p:nvPr/>
          </p:nvSpPr>
          <p:spPr>
            <a:xfrm>
              <a:off x="10258425" y="990600"/>
              <a:ext cx="1590675" cy="285750"/>
            </a:xfrm>
            <a:prstGeom prst="rect">
              <a:avLst/>
            </a:prstGeom>
            <a:solidFill>
              <a:srgbClr val="C1553F"/>
            </a:solidFill>
            <a:ln>
              <a:noFill/>
            </a:ln>
          </p:spPr>
        </p:sp>
        <p:sp>
          <p:nvSpPr>
            <p:cNvPr id="10" name="TextBox 10"/>
            <p:cNvSpPr txBox="1"/>
            <p:nvPr/>
          </p:nvSpPr>
          <p:spPr>
            <a:xfrm>
              <a:off x="10741736" y="106918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工具运用</a:t>
              </a:r>
            </a:p>
          </p:txBody>
        </p:sp>
      </p:grpSp>
      <p:grpSp>
        <p:nvGrpSpPr>
          <p:cNvPr id="14" name="icon-douyin"/>
          <p:cNvGrpSpPr/>
          <p:nvPr/>
        </p:nvGrpSpPr>
        <p:grpSpPr>
          <a:xfrm>
            <a:off x="285750" y="2000250"/>
            <a:ext cx="381000" cy="381000"/>
            <a:chOff x="285750" y="2000250"/>
            <a:chExt cx="381000" cy="381000"/>
          </a:xfrm>
        </p:grpSpPr>
        <p:sp>
          <p:nvSpPr>
            <p:cNvPr id="12" name="Rectangle 12"/>
            <p:cNvSpPr/>
            <p:nvPr/>
          </p:nvSpPr>
          <p:spPr>
            <a:xfrm>
              <a:off x="285750" y="2000250"/>
              <a:ext cx="381000" cy="381000"/>
            </a:xfrm>
            <a:prstGeom prst="roundRect">
              <a:avLst>
                <a:gd name="adj" fmla="val 20000"/>
              </a:avLst>
            </a:prstGeom>
            <a:solidFill>
              <a:srgbClr val="271D1B"/>
            </a:solidFill>
            <a:ln>
              <a:noFill/>
            </a:ln>
          </p:spPr>
        </p:sp>
        <p:sp>
          <p:nvSpPr>
            <p:cNvPr id="13" name="Freeform 13"/>
            <p:cNvSpPr/>
            <p:nvPr/>
          </p:nvSpPr>
          <p:spPr>
            <a:xfrm>
              <a:off x="385139" y="2085975"/>
              <a:ext cx="182134" cy="210161"/>
            </a:xfrm>
            <a:custGeom>
              <a:avLst/>
              <a:gdLst/>
              <a:ahLst/>
              <a:cxnLst/>
              <a:rect l="l" t="t" r="r" b="b"/>
              <a:pathLst>
                <a:path w="182134" h="210161">
                  <a:moveTo>
                    <a:pt x="95695" y="175"/>
                  </a:moveTo>
                  <a:cubicBezTo>
                    <a:pt x="107132" y="0"/>
                    <a:pt x="118483" y="87"/>
                    <a:pt x="129834" y="0"/>
                  </a:cubicBezTo>
                  <a:cubicBezTo>
                    <a:pt x="130532" y="13359"/>
                    <a:pt x="135334" y="26980"/>
                    <a:pt x="145113" y="36409"/>
                  </a:cubicBezTo>
                  <a:cubicBezTo>
                    <a:pt x="154892" y="46101"/>
                    <a:pt x="168688" y="50554"/>
                    <a:pt x="182134" y="52038"/>
                  </a:cubicBezTo>
                  <a:lnTo>
                    <a:pt x="182134" y="87225"/>
                  </a:lnTo>
                  <a:cubicBezTo>
                    <a:pt x="169561" y="86789"/>
                    <a:pt x="156901" y="84169"/>
                    <a:pt x="145463" y="78756"/>
                  </a:cubicBezTo>
                  <a:cubicBezTo>
                    <a:pt x="140486" y="76486"/>
                    <a:pt x="135858" y="73604"/>
                    <a:pt x="131318" y="70636"/>
                  </a:cubicBezTo>
                  <a:cubicBezTo>
                    <a:pt x="131231" y="96131"/>
                    <a:pt x="131405" y="121626"/>
                    <a:pt x="131143" y="147034"/>
                  </a:cubicBezTo>
                  <a:cubicBezTo>
                    <a:pt x="130445" y="159258"/>
                    <a:pt x="126429" y="171394"/>
                    <a:pt x="119356" y="181435"/>
                  </a:cubicBezTo>
                  <a:cubicBezTo>
                    <a:pt x="107918" y="198199"/>
                    <a:pt x="88098" y="209114"/>
                    <a:pt x="67755" y="209463"/>
                  </a:cubicBezTo>
                  <a:cubicBezTo>
                    <a:pt x="55269" y="210161"/>
                    <a:pt x="42783" y="206756"/>
                    <a:pt x="32131" y="200470"/>
                  </a:cubicBezTo>
                  <a:cubicBezTo>
                    <a:pt x="14494" y="190079"/>
                    <a:pt x="2096" y="171045"/>
                    <a:pt x="262" y="150614"/>
                  </a:cubicBezTo>
                  <a:cubicBezTo>
                    <a:pt x="87" y="146248"/>
                    <a:pt x="0" y="141883"/>
                    <a:pt x="175" y="137605"/>
                  </a:cubicBezTo>
                  <a:cubicBezTo>
                    <a:pt x="1746" y="121015"/>
                    <a:pt x="9954" y="105124"/>
                    <a:pt x="22701" y="94298"/>
                  </a:cubicBezTo>
                  <a:cubicBezTo>
                    <a:pt x="37195" y="81725"/>
                    <a:pt x="57452" y="75700"/>
                    <a:pt x="76398" y="79280"/>
                  </a:cubicBezTo>
                  <a:cubicBezTo>
                    <a:pt x="76573" y="92202"/>
                    <a:pt x="76049" y="105124"/>
                    <a:pt x="76049" y="118047"/>
                  </a:cubicBezTo>
                  <a:cubicBezTo>
                    <a:pt x="67405" y="115253"/>
                    <a:pt x="57277" y="116038"/>
                    <a:pt x="49681" y="121277"/>
                  </a:cubicBezTo>
                  <a:cubicBezTo>
                    <a:pt x="44180" y="124857"/>
                    <a:pt x="39989" y="130358"/>
                    <a:pt x="37806" y="136557"/>
                  </a:cubicBezTo>
                  <a:cubicBezTo>
                    <a:pt x="35973" y="141010"/>
                    <a:pt x="36497" y="145899"/>
                    <a:pt x="36584" y="150614"/>
                  </a:cubicBezTo>
                  <a:cubicBezTo>
                    <a:pt x="38679" y="164933"/>
                    <a:pt x="52475" y="176983"/>
                    <a:pt x="67143" y="175673"/>
                  </a:cubicBezTo>
                  <a:cubicBezTo>
                    <a:pt x="76922" y="175586"/>
                    <a:pt x="86265" y="169910"/>
                    <a:pt x="91329" y="161615"/>
                  </a:cubicBezTo>
                  <a:cubicBezTo>
                    <a:pt x="92988" y="158734"/>
                    <a:pt x="94821" y="155766"/>
                    <a:pt x="94909" y="152360"/>
                  </a:cubicBezTo>
                  <a:cubicBezTo>
                    <a:pt x="95782" y="136731"/>
                    <a:pt x="95433" y="121190"/>
                    <a:pt x="95520" y="105561"/>
                  </a:cubicBezTo>
                  <a:cubicBezTo>
                    <a:pt x="95607" y="70374"/>
                    <a:pt x="95433" y="35274"/>
                    <a:pt x="95695" y="175"/>
                  </a:cubicBezTo>
                  <a:close/>
                </a:path>
              </a:pathLst>
            </a:custGeom>
            <a:solidFill>
              <a:srgbClr val="FFFFFF"/>
            </a:solidFill>
            <a:ln>
              <a:noFill/>
            </a:ln>
          </p:spPr>
        </p:sp>
      </p:grpSp>
      <p:grpSp>
        <p:nvGrpSpPr>
          <p:cNvPr id="17" name="icon-xhs"/>
          <p:cNvGrpSpPr/>
          <p:nvPr/>
        </p:nvGrpSpPr>
        <p:grpSpPr>
          <a:xfrm>
            <a:off x="285750" y="3752850"/>
            <a:ext cx="381000" cy="381000"/>
            <a:chOff x="285750" y="3752850"/>
            <a:chExt cx="381000" cy="381000"/>
          </a:xfrm>
        </p:grpSpPr>
        <p:sp>
          <p:nvSpPr>
            <p:cNvPr id="15" name="Rectangle 15"/>
            <p:cNvSpPr/>
            <p:nvPr/>
          </p:nvSpPr>
          <p:spPr>
            <a:xfrm>
              <a:off x="285750" y="3752850"/>
              <a:ext cx="381000" cy="381000"/>
            </a:xfrm>
            <a:prstGeom prst="roundRect">
              <a:avLst>
                <a:gd name="adj" fmla="val 20000"/>
              </a:avLst>
            </a:prstGeom>
            <a:solidFill>
              <a:srgbClr val="E5624C"/>
            </a:solidFill>
            <a:ln>
              <a:noFill/>
            </a:ln>
          </p:spPr>
        </p:sp>
        <p:sp>
          <p:nvSpPr>
            <p:cNvPr id="16" name="Freeform 16"/>
            <p:cNvSpPr/>
            <p:nvPr/>
          </p:nvSpPr>
          <p:spPr>
            <a:xfrm>
              <a:off x="371379" y="3905928"/>
              <a:ext cx="209937" cy="74914"/>
            </a:xfrm>
            <a:custGeom>
              <a:avLst/>
              <a:gdLst/>
              <a:ahLst/>
              <a:cxnLst/>
              <a:rect l="l" t="t" r="r" b="b"/>
              <a:pathLst>
                <a:path w="209937" h="74914">
                  <a:moveTo>
                    <a:pt x="195720" y="18903"/>
                  </a:moveTo>
                  <a:cubicBezTo>
                    <a:pt x="195737" y="19043"/>
                    <a:pt x="195807" y="19078"/>
                    <a:pt x="196331" y="19069"/>
                  </a:cubicBezTo>
                  <a:lnTo>
                    <a:pt x="202661" y="19069"/>
                  </a:lnTo>
                  <a:cubicBezTo>
                    <a:pt x="204779" y="19076"/>
                    <a:pt x="206784" y="18118"/>
                    <a:pt x="208110" y="16466"/>
                  </a:cubicBezTo>
                  <a:cubicBezTo>
                    <a:pt x="209435" y="14814"/>
                    <a:pt x="209937" y="12649"/>
                    <a:pt x="209471" y="10583"/>
                  </a:cubicBezTo>
                  <a:cubicBezTo>
                    <a:pt x="208703" y="7044"/>
                    <a:pt x="205340" y="4694"/>
                    <a:pt x="201753" y="5187"/>
                  </a:cubicBezTo>
                  <a:cubicBezTo>
                    <a:pt x="198278" y="5641"/>
                    <a:pt x="195686" y="8614"/>
                    <a:pt x="195711" y="12119"/>
                  </a:cubicBezTo>
                  <a:cubicBezTo>
                    <a:pt x="195711" y="13001"/>
                    <a:pt x="195694" y="17934"/>
                    <a:pt x="195720" y="18903"/>
                  </a:cubicBezTo>
                  <a:close/>
                  <a:moveTo>
                    <a:pt x="95232" y="60883"/>
                  </a:moveTo>
                  <a:cubicBezTo>
                    <a:pt x="93459" y="60892"/>
                    <a:pt x="83418" y="60918"/>
                    <a:pt x="80520" y="60909"/>
                  </a:cubicBezTo>
                  <a:cubicBezTo>
                    <a:pt x="78247" y="60889"/>
                    <a:pt x="75991" y="60518"/>
                    <a:pt x="73831" y="59809"/>
                  </a:cubicBezTo>
                  <a:cubicBezTo>
                    <a:pt x="73726" y="59778"/>
                    <a:pt x="73614" y="59831"/>
                    <a:pt x="73570" y="59932"/>
                  </a:cubicBezTo>
                  <a:lnTo>
                    <a:pt x="67327" y="73456"/>
                  </a:lnTo>
                  <a:cubicBezTo>
                    <a:pt x="67280" y="73558"/>
                    <a:pt x="67318" y="73679"/>
                    <a:pt x="67414" y="73736"/>
                  </a:cubicBezTo>
                  <a:cubicBezTo>
                    <a:pt x="68383" y="74260"/>
                    <a:pt x="70348" y="74818"/>
                    <a:pt x="71736" y="74818"/>
                  </a:cubicBezTo>
                  <a:cubicBezTo>
                    <a:pt x="77499" y="74906"/>
                    <a:pt x="83261" y="74836"/>
                    <a:pt x="89033" y="74818"/>
                  </a:cubicBezTo>
                  <a:cubicBezTo>
                    <a:pt x="89120" y="74818"/>
                    <a:pt x="89207" y="74766"/>
                    <a:pt x="89233" y="74687"/>
                  </a:cubicBezTo>
                  <a:lnTo>
                    <a:pt x="95450" y="61198"/>
                  </a:lnTo>
                  <a:cubicBezTo>
                    <a:pt x="95484" y="61128"/>
                    <a:pt x="95479" y="61045"/>
                    <a:pt x="95436" y="60980"/>
                  </a:cubicBezTo>
                  <a:cubicBezTo>
                    <a:pt x="95393" y="60915"/>
                    <a:pt x="95318" y="60878"/>
                    <a:pt x="95241" y="60883"/>
                  </a:cubicBezTo>
                  <a:close/>
                  <a:moveTo>
                    <a:pt x="4261" y="19174"/>
                  </a:moveTo>
                  <a:cubicBezTo>
                    <a:pt x="3641" y="19174"/>
                    <a:pt x="3597" y="19192"/>
                    <a:pt x="3597" y="19261"/>
                  </a:cubicBezTo>
                  <a:cubicBezTo>
                    <a:pt x="3557" y="19493"/>
                    <a:pt x="3528" y="19726"/>
                    <a:pt x="3510" y="19960"/>
                  </a:cubicBezTo>
                  <a:cubicBezTo>
                    <a:pt x="3274" y="23426"/>
                    <a:pt x="3178" y="24282"/>
                    <a:pt x="1467" y="46678"/>
                  </a:cubicBezTo>
                  <a:cubicBezTo>
                    <a:pt x="1362" y="48773"/>
                    <a:pt x="1170" y="50074"/>
                    <a:pt x="288" y="51977"/>
                  </a:cubicBezTo>
                  <a:cubicBezTo>
                    <a:pt x="61" y="52475"/>
                    <a:pt x="0" y="52344"/>
                    <a:pt x="314" y="52955"/>
                  </a:cubicBezTo>
                  <a:cubicBezTo>
                    <a:pt x="716" y="53759"/>
                    <a:pt x="6260" y="66253"/>
                    <a:pt x="7186" y="68148"/>
                  </a:cubicBezTo>
                  <a:cubicBezTo>
                    <a:pt x="7256" y="68279"/>
                    <a:pt x="7282" y="68322"/>
                    <a:pt x="7334" y="68322"/>
                  </a:cubicBezTo>
                  <a:cubicBezTo>
                    <a:pt x="7404" y="68322"/>
                    <a:pt x="7622" y="68095"/>
                    <a:pt x="7745" y="67938"/>
                  </a:cubicBezTo>
                  <a:cubicBezTo>
                    <a:pt x="9028" y="66305"/>
                    <a:pt x="10085" y="64524"/>
                    <a:pt x="10984" y="62647"/>
                  </a:cubicBezTo>
                  <a:cubicBezTo>
                    <a:pt x="13656" y="57103"/>
                    <a:pt x="14826" y="51078"/>
                    <a:pt x="15227" y="47751"/>
                  </a:cubicBezTo>
                  <a:cubicBezTo>
                    <a:pt x="15350" y="46791"/>
                    <a:pt x="15411" y="45831"/>
                    <a:pt x="15489" y="44870"/>
                  </a:cubicBezTo>
                  <a:lnTo>
                    <a:pt x="17270" y="22029"/>
                  </a:lnTo>
                  <a:lnTo>
                    <a:pt x="17463" y="19471"/>
                  </a:lnTo>
                  <a:cubicBezTo>
                    <a:pt x="17489" y="19218"/>
                    <a:pt x="17463" y="19183"/>
                    <a:pt x="17201" y="19174"/>
                  </a:cubicBezTo>
                  <a:close/>
                  <a:moveTo>
                    <a:pt x="67152" y="51977"/>
                  </a:moveTo>
                  <a:cubicBezTo>
                    <a:pt x="66374" y="50319"/>
                    <a:pt x="65972" y="48509"/>
                    <a:pt x="65973" y="46678"/>
                  </a:cubicBezTo>
                  <a:cubicBezTo>
                    <a:pt x="65938" y="45944"/>
                    <a:pt x="65703" y="43272"/>
                    <a:pt x="63922" y="19960"/>
                  </a:cubicBezTo>
                  <a:cubicBezTo>
                    <a:pt x="63915" y="19719"/>
                    <a:pt x="63886" y="19479"/>
                    <a:pt x="63834" y="19244"/>
                  </a:cubicBezTo>
                  <a:cubicBezTo>
                    <a:pt x="63799" y="19148"/>
                    <a:pt x="63380" y="19174"/>
                    <a:pt x="63171" y="19174"/>
                  </a:cubicBezTo>
                  <a:lnTo>
                    <a:pt x="50248" y="19174"/>
                  </a:lnTo>
                  <a:cubicBezTo>
                    <a:pt x="49986" y="19183"/>
                    <a:pt x="49951" y="19218"/>
                    <a:pt x="49986" y="19471"/>
                  </a:cubicBezTo>
                  <a:lnTo>
                    <a:pt x="50170" y="22029"/>
                  </a:lnTo>
                  <a:cubicBezTo>
                    <a:pt x="50833" y="30603"/>
                    <a:pt x="51506" y="39177"/>
                    <a:pt x="52204" y="47751"/>
                  </a:cubicBezTo>
                  <a:cubicBezTo>
                    <a:pt x="52641" y="51244"/>
                    <a:pt x="53828" y="57225"/>
                    <a:pt x="56456" y="62647"/>
                  </a:cubicBezTo>
                  <a:cubicBezTo>
                    <a:pt x="57356" y="64524"/>
                    <a:pt x="58403" y="66305"/>
                    <a:pt x="59687" y="67938"/>
                  </a:cubicBezTo>
                  <a:cubicBezTo>
                    <a:pt x="59818" y="68095"/>
                    <a:pt x="60010" y="68383"/>
                    <a:pt x="60106" y="68366"/>
                  </a:cubicBezTo>
                  <a:cubicBezTo>
                    <a:pt x="60281" y="68340"/>
                    <a:pt x="66585" y="54029"/>
                    <a:pt x="67126" y="52955"/>
                  </a:cubicBezTo>
                  <a:cubicBezTo>
                    <a:pt x="67440" y="52344"/>
                    <a:pt x="67388" y="52475"/>
                    <a:pt x="67152" y="51977"/>
                  </a:cubicBezTo>
                  <a:close/>
                  <a:moveTo>
                    <a:pt x="100863" y="44006"/>
                  </a:moveTo>
                  <a:lnTo>
                    <a:pt x="93250" y="44006"/>
                  </a:lnTo>
                  <a:cubicBezTo>
                    <a:pt x="92874" y="44009"/>
                    <a:pt x="92522" y="43821"/>
                    <a:pt x="92317" y="43506"/>
                  </a:cubicBezTo>
                  <a:cubicBezTo>
                    <a:pt x="92112" y="43192"/>
                    <a:pt x="92082" y="42794"/>
                    <a:pt x="92237" y="42452"/>
                  </a:cubicBezTo>
                  <a:lnTo>
                    <a:pt x="102522" y="19532"/>
                  </a:lnTo>
                  <a:cubicBezTo>
                    <a:pt x="102552" y="19464"/>
                    <a:pt x="102545" y="19387"/>
                    <a:pt x="102505" y="19325"/>
                  </a:cubicBezTo>
                  <a:cubicBezTo>
                    <a:pt x="102464" y="19263"/>
                    <a:pt x="102395" y="19226"/>
                    <a:pt x="102322" y="19226"/>
                  </a:cubicBezTo>
                  <a:lnTo>
                    <a:pt x="90814" y="19200"/>
                  </a:lnTo>
                  <a:cubicBezTo>
                    <a:pt x="90372" y="19202"/>
                    <a:pt x="89960" y="18978"/>
                    <a:pt x="89721" y="18607"/>
                  </a:cubicBezTo>
                  <a:cubicBezTo>
                    <a:pt x="89483" y="18235"/>
                    <a:pt x="89450" y="17768"/>
                    <a:pt x="89635" y="17367"/>
                  </a:cubicBezTo>
                  <a:lnTo>
                    <a:pt x="97284" y="306"/>
                  </a:lnTo>
                  <a:cubicBezTo>
                    <a:pt x="97313" y="238"/>
                    <a:pt x="97306" y="160"/>
                    <a:pt x="97266" y="99"/>
                  </a:cubicBezTo>
                  <a:cubicBezTo>
                    <a:pt x="97225" y="37"/>
                    <a:pt x="97157" y="0"/>
                    <a:pt x="97083" y="0"/>
                  </a:cubicBezTo>
                  <a:lnTo>
                    <a:pt x="83462" y="0"/>
                  </a:lnTo>
                  <a:cubicBezTo>
                    <a:pt x="83375" y="0"/>
                    <a:pt x="83287" y="53"/>
                    <a:pt x="83252" y="131"/>
                  </a:cubicBezTo>
                  <a:lnTo>
                    <a:pt x="75167" y="18187"/>
                  </a:lnTo>
                  <a:cubicBezTo>
                    <a:pt x="74425" y="19663"/>
                    <a:pt x="72426" y="23723"/>
                    <a:pt x="71684" y="26377"/>
                  </a:cubicBezTo>
                  <a:cubicBezTo>
                    <a:pt x="71525" y="26918"/>
                    <a:pt x="71466" y="27483"/>
                    <a:pt x="71509" y="28045"/>
                  </a:cubicBezTo>
                  <a:cubicBezTo>
                    <a:pt x="71571" y="29416"/>
                    <a:pt x="72328" y="30661"/>
                    <a:pt x="73517" y="31345"/>
                  </a:cubicBezTo>
                  <a:cubicBezTo>
                    <a:pt x="74751" y="32016"/>
                    <a:pt x="76130" y="32372"/>
                    <a:pt x="77534" y="32384"/>
                  </a:cubicBezTo>
                  <a:lnTo>
                    <a:pt x="82685" y="32384"/>
                  </a:lnTo>
                  <a:cubicBezTo>
                    <a:pt x="83043" y="32384"/>
                    <a:pt x="76678" y="45324"/>
                    <a:pt x="75403" y="49603"/>
                  </a:cubicBezTo>
                  <a:cubicBezTo>
                    <a:pt x="75254" y="50089"/>
                    <a:pt x="75186" y="50596"/>
                    <a:pt x="75202" y="51104"/>
                  </a:cubicBezTo>
                  <a:cubicBezTo>
                    <a:pt x="75212" y="52536"/>
                    <a:pt x="75975" y="53856"/>
                    <a:pt x="77210" y="54579"/>
                  </a:cubicBezTo>
                  <a:cubicBezTo>
                    <a:pt x="78520" y="55383"/>
                    <a:pt x="80197" y="55627"/>
                    <a:pt x="81358" y="55627"/>
                  </a:cubicBezTo>
                  <a:lnTo>
                    <a:pt x="95852" y="55618"/>
                  </a:lnTo>
                  <a:cubicBezTo>
                    <a:pt x="95939" y="55618"/>
                    <a:pt x="96026" y="55566"/>
                    <a:pt x="96053" y="55487"/>
                  </a:cubicBezTo>
                  <a:lnTo>
                    <a:pt x="101073" y="44311"/>
                  </a:lnTo>
                  <a:cubicBezTo>
                    <a:pt x="101103" y="44242"/>
                    <a:pt x="101096" y="44163"/>
                    <a:pt x="101053" y="44100"/>
                  </a:cubicBezTo>
                  <a:cubicBezTo>
                    <a:pt x="101010" y="44038"/>
                    <a:pt x="100939" y="44002"/>
                    <a:pt x="100863" y="44006"/>
                  </a:cubicBezTo>
                  <a:close/>
                  <a:moveTo>
                    <a:pt x="40356" y="900"/>
                  </a:moveTo>
                  <a:lnTo>
                    <a:pt x="27163" y="900"/>
                  </a:lnTo>
                  <a:cubicBezTo>
                    <a:pt x="27084" y="895"/>
                    <a:pt x="27007" y="923"/>
                    <a:pt x="26951" y="978"/>
                  </a:cubicBezTo>
                  <a:cubicBezTo>
                    <a:pt x="26894" y="1033"/>
                    <a:pt x="26863" y="1109"/>
                    <a:pt x="26866" y="1188"/>
                  </a:cubicBezTo>
                  <a:cubicBezTo>
                    <a:pt x="26866" y="10338"/>
                    <a:pt x="26779" y="25592"/>
                    <a:pt x="26779" y="60813"/>
                  </a:cubicBezTo>
                  <a:cubicBezTo>
                    <a:pt x="26779" y="63328"/>
                    <a:pt x="24430" y="63101"/>
                    <a:pt x="24334" y="63101"/>
                  </a:cubicBezTo>
                  <a:lnTo>
                    <a:pt x="17873" y="63101"/>
                  </a:lnTo>
                  <a:cubicBezTo>
                    <a:pt x="17524" y="63110"/>
                    <a:pt x="17489" y="63136"/>
                    <a:pt x="17524" y="63511"/>
                  </a:cubicBezTo>
                  <a:cubicBezTo>
                    <a:pt x="17532" y="63834"/>
                    <a:pt x="21584" y="72801"/>
                    <a:pt x="22369" y="74539"/>
                  </a:cubicBezTo>
                  <a:cubicBezTo>
                    <a:pt x="22457" y="74714"/>
                    <a:pt x="22631" y="74827"/>
                    <a:pt x="22815" y="74827"/>
                  </a:cubicBezTo>
                  <a:cubicBezTo>
                    <a:pt x="24186" y="74853"/>
                    <a:pt x="29512" y="74906"/>
                    <a:pt x="31005" y="74705"/>
                  </a:cubicBezTo>
                  <a:cubicBezTo>
                    <a:pt x="32341" y="74530"/>
                    <a:pt x="33624" y="74181"/>
                    <a:pt x="34829" y="73552"/>
                  </a:cubicBezTo>
                  <a:cubicBezTo>
                    <a:pt x="37448" y="72190"/>
                    <a:pt x="39107" y="69894"/>
                    <a:pt x="40024" y="66873"/>
                  </a:cubicBezTo>
                  <a:cubicBezTo>
                    <a:pt x="40478" y="65371"/>
                    <a:pt x="40679" y="63791"/>
                    <a:pt x="40679" y="62219"/>
                  </a:cubicBezTo>
                  <a:cubicBezTo>
                    <a:pt x="40696" y="41875"/>
                    <a:pt x="40679" y="21532"/>
                    <a:pt x="40618" y="1179"/>
                  </a:cubicBezTo>
                  <a:cubicBezTo>
                    <a:pt x="40618" y="1105"/>
                    <a:pt x="40588" y="1034"/>
                    <a:pt x="40536" y="981"/>
                  </a:cubicBezTo>
                  <a:cubicBezTo>
                    <a:pt x="40484" y="929"/>
                    <a:pt x="40412" y="900"/>
                    <a:pt x="40338" y="900"/>
                  </a:cubicBezTo>
                  <a:close/>
                  <a:moveTo>
                    <a:pt x="143245" y="61110"/>
                  </a:moveTo>
                  <a:cubicBezTo>
                    <a:pt x="143245" y="60988"/>
                    <a:pt x="143158" y="60927"/>
                    <a:pt x="143035" y="60918"/>
                  </a:cubicBezTo>
                  <a:lnTo>
                    <a:pt x="130244" y="60918"/>
                  </a:lnTo>
                  <a:cubicBezTo>
                    <a:pt x="129825" y="60909"/>
                    <a:pt x="129816" y="60901"/>
                    <a:pt x="129808" y="60490"/>
                  </a:cubicBezTo>
                  <a:lnTo>
                    <a:pt x="129808" y="19803"/>
                  </a:lnTo>
                  <a:cubicBezTo>
                    <a:pt x="129808" y="19174"/>
                    <a:pt x="129764" y="19192"/>
                    <a:pt x="130419" y="19192"/>
                  </a:cubicBezTo>
                  <a:lnTo>
                    <a:pt x="137954" y="19192"/>
                  </a:lnTo>
                  <a:cubicBezTo>
                    <a:pt x="138652" y="19192"/>
                    <a:pt x="138609" y="19226"/>
                    <a:pt x="138609" y="18545"/>
                  </a:cubicBezTo>
                  <a:lnTo>
                    <a:pt x="138609" y="5929"/>
                  </a:lnTo>
                  <a:cubicBezTo>
                    <a:pt x="138609" y="5213"/>
                    <a:pt x="138661" y="5265"/>
                    <a:pt x="137910" y="5265"/>
                  </a:cubicBezTo>
                  <a:lnTo>
                    <a:pt x="107351" y="5265"/>
                  </a:lnTo>
                  <a:cubicBezTo>
                    <a:pt x="106792" y="5265"/>
                    <a:pt x="106696" y="5213"/>
                    <a:pt x="106696" y="5903"/>
                  </a:cubicBezTo>
                  <a:lnTo>
                    <a:pt x="106696" y="18519"/>
                  </a:lnTo>
                  <a:cubicBezTo>
                    <a:pt x="106696" y="19244"/>
                    <a:pt x="106644" y="19192"/>
                    <a:pt x="107394" y="19192"/>
                  </a:cubicBezTo>
                  <a:lnTo>
                    <a:pt x="114851" y="19192"/>
                  </a:lnTo>
                  <a:cubicBezTo>
                    <a:pt x="115506" y="19192"/>
                    <a:pt x="115462" y="19157"/>
                    <a:pt x="115462" y="19803"/>
                  </a:cubicBezTo>
                  <a:lnTo>
                    <a:pt x="115462" y="60176"/>
                  </a:lnTo>
                  <a:cubicBezTo>
                    <a:pt x="115462" y="61006"/>
                    <a:pt x="115532" y="60909"/>
                    <a:pt x="114720" y="60909"/>
                  </a:cubicBezTo>
                  <a:cubicBezTo>
                    <a:pt x="111489" y="60909"/>
                    <a:pt x="105028" y="60892"/>
                    <a:pt x="103334" y="60909"/>
                  </a:cubicBezTo>
                  <a:cubicBezTo>
                    <a:pt x="102915" y="60918"/>
                    <a:pt x="102811" y="61171"/>
                    <a:pt x="102811" y="61171"/>
                  </a:cubicBezTo>
                  <a:lnTo>
                    <a:pt x="96725" y="74434"/>
                  </a:lnTo>
                  <a:cubicBezTo>
                    <a:pt x="96725" y="74434"/>
                    <a:pt x="96603" y="74652"/>
                    <a:pt x="96655" y="74749"/>
                  </a:cubicBezTo>
                  <a:cubicBezTo>
                    <a:pt x="96707" y="74836"/>
                    <a:pt x="96768" y="74818"/>
                    <a:pt x="97161" y="74818"/>
                  </a:cubicBezTo>
                  <a:cubicBezTo>
                    <a:pt x="112424" y="74845"/>
                    <a:pt x="127677" y="74836"/>
                    <a:pt x="142939" y="74836"/>
                  </a:cubicBezTo>
                  <a:cubicBezTo>
                    <a:pt x="143201" y="74827"/>
                    <a:pt x="143236" y="74783"/>
                    <a:pt x="143245" y="74548"/>
                  </a:cubicBezTo>
                  <a:lnTo>
                    <a:pt x="143245" y="61110"/>
                  </a:lnTo>
                  <a:close/>
                  <a:moveTo>
                    <a:pt x="179715" y="31162"/>
                  </a:moveTo>
                  <a:cubicBezTo>
                    <a:pt x="179715" y="31276"/>
                    <a:pt x="179654" y="31363"/>
                    <a:pt x="179541" y="31372"/>
                  </a:cubicBezTo>
                  <a:cubicBezTo>
                    <a:pt x="176520" y="31424"/>
                    <a:pt x="173499" y="31407"/>
                    <a:pt x="170486" y="31407"/>
                  </a:cubicBezTo>
                  <a:cubicBezTo>
                    <a:pt x="170364" y="31389"/>
                    <a:pt x="170294" y="31319"/>
                    <a:pt x="170294" y="31197"/>
                  </a:cubicBezTo>
                  <a:cubicBezTo>
                    <a:pt x="170251" y="27408"/>
                    <a:pt x="170233" y="23610"/>
                    <a:pt x="170207" y="19820"/>
                  </a:cubicBezTo>
                  <a:cubicBezTo>
                    <a:pt x="170207" y="19192"/>
                    <a:pt x="170155" y="19200"/>
                    <a:pt x="170818" y="19209"/>
                  </a:cubicBezTo>
                  <a:lnTo>
                    <a:pt x="177218" y="19183"/>
                  </a:lnTo>
                  <a:cubicBezTo>
                    <a:pt x="177576" y="19183"/>
                    <a:pt x="177925" y="19200"/>
                    <a:pt x="178266" y="19314"/>
                  </a:cubicBezTo>
                  <a:cubicBezTo>
                    <a:pt x="179078" y="19532"/>
                    <a:pt x="179663" y="20248"/>
                    <a:pt x="179707" y="21095"/>
                  </a:cubicBezTo>
                  <a:cubicBezTo>
                    <a:pt x="179759" y="24858"/>
                    <a:pt x="179724" y="31162"/>
                    <a:pt x="179715" y="31162"/>
                  </a:cubicBezTo>
                  <a:close/>
                  <a:moveTo>
                    <a:pt x="203028" y="33293"/>
                  </a:moveTo>
                  <a:cubicBezTo>
                    <a:pt x="200647" y="32048"/>
                    <a:pt x="198005" y="31384"/>
                    <a:pt x="195318" y="31354"/>
                  </a:cubicBezTo>
                  <a:lnTo>
                    <a:pt x="193747" y="31354"/>
                  </a:lnTo>
                  <a:cubicBezTo>
                    <a:pt x="193397" y="31345"/>
                    <a:pt x="193397" y="31328"/>
                    <a:pt x="193380" y="31005"/>
                  </a:cubicBezTo>
                  <a:lnTo>
                    <a:pt x="193380" y="21793"/>
                  </a:lnTo>
                  <a:cubicBezTo>
                    <a:pt x="193380" y="20641"/>
                    <a:pt x="193319" y="19497"/>
                    <a:pt x="193162" y="18353"/>
                  </a:cubicBezTo>
                  <a:cubicBezTo>
                    <a:pt x="192954" y="16752"/>
                    <a:pt x="192503" y="15192"/>
                    <a:pt x="191826" y="13726"/>
                  </a:cubicBezTo>
                  <a:cubicBezTo>
                    <a:pt x="190588" y="11068"/>
                    <a:pt x="188511" y="8890"/>
                    <a:pt x="185915" y="7527"/>
                  </a:cubicBezTo>
                  <a:cubicBezTo>
                    <a:pt x="183228" y="6083"/>
                    <a:pt x="180233" y="5310"/>
                    <a:pt x="177183" y="5274"/>
                  </a:cubicBezTo>
                  <a:cubicBezTo>
                    <a:pt x="175847" y="5248"/>
                    <a:pt x="172233" y="5274"/>
                    <a:pt x="170897" y="5274"/>
                  </a:cubicBezTo>
                  <a:cubicBezTo>
                    <a:pt x="170286" y="5274"/>
                    <a:pt x="170303" y="5309"/>
                    <a:pt x="170303" y="4706"/>
                  </a:cubicBezTo>
                  <a:lnTo>
                    <a:pt x="170303" y="402"/>
                  </a:lnTo>
                  <a:cubicBezTo>
                    <a:pt x="170303" y="131"/>
                    <a:pt x="170216" y="44"/>
                    <a:pt x="169901" y="61"/>
                  </a:cubicBezTo>
                  <a:lnTo>
                    <a:pt x="156647" y="61"/>
                  </a:lnTo>
                  <a:cubicBezTo>
                    <a:pt x="156647" y="61"/>
                    <a:pt x="156508" y="61"/>
                    <a:pt x="156447" y="122"/>
                  </a:cubicBezTo>
                  <a:cubicBezTo>
                    <a:pt x="156394" y="175"/>
                    <a:pt x="156377" y="227"/>
                    <a:pt x="156377" y="323"/>
                  </a:cubicBezTo>
                  <a:lnTo>
                    <a:pt x="156377" y="5091"/>
                  </a:lnTo>
                  <a:cubicBezTo>
                    <a:pt x="156307" y="5405"/>
                    <a:pt x="155879" y="5222"/>
                    <a:pt x="155661" y="5283"/>
                  </a:cubicBezTo>
                  <a:lnTo>
                    <a:pt x="147366" y="5283"/>
                  </a:lnTo>
                  <a:cubicBezTo>
                    <a:pt x="147174" y="5300"/>
                    <a:pt x="147122" y="5353"/>
                    <a:pt x="147104" y="5562"/>
                  </a:cubicBezTo>
                  <a:lnTo>
                    <a:pt x="147104" y="18493"/>
                  </a:lnTo>
                  <a:cubicBezTo>
                    <a:pt x="147104" y="19279"/>
                    <a:pt x="147069" y="19209"/>
                    <a:pt x="147820" y="19209"/>
                  </a:cubicBezTo>
                  <a:lnTo>
                    <a:pt x="155792" y="19209"/>
                  </a:lnTo>
                  <a:cubicBezTo>
                    <a:pt x="156508" y="19209"/>
                    <a:pt x="156420" y="20327"/>
                    <a:pt x="156420" y="20327"/>
                  </a:cubicBezTo>
                  <a:lnTo>
                    <a:pt x="156420" y="30350"/>
                  </a:lnTo>
                  <a:cubicBezTo>
                    <a:pt x="156420" y="30350"/>
                    <a:pt x="156447" y="31372"/>
                    <a:pt x="155897" y="31372"/>
                  </a:cubicBezTo>
                  <a:lnTo>
                    <a:pt x="142957" y="31372"/>
                  </a:lnTo>
                  <a:cubicBezTo>
                    <a:pt x="142363" y="31372"/>
                    <a:pt x="142433" y="32088"/>
                    <a:pt x="142433" y="32088"/>
                  </a:cubicBezTo>
                  <a:lnTo>
                    <a:pt x="142433" y="44704"/>
                  </a:lnTo>
                  <a:cubicBezTo>
                    <a:pt x="142433" y="44704"/>
                    <a:pt x="142346" y="45298"/>
                    <a:pt x="142992" y="45298"/>
                  </a:cubicBezTo>
                  <a:lnTo>
                    <a:pt x="155713" y="45298"/>
                  </a:lnTo>
                  <a:cubicBezTo>
                    <a:pt x="156429" y="45298"/>
                    <a:pt x="156377" y="45246"/>
                    <a:pt x="156377" y="45988"/>
                  </a:cubicBezTo>
                  <a:lnTo>
                    <a:pt x="156377" y="74146"/>
                  </a:lnTo>
                  <a:cubicBezTo>
                    <a:pt x="156377" y="74914"/>
                    <a:pt x="156316" y="74853"/>
                    <a:pt x="157093" y="74853"/>
                  </a:cubicBezTo>
                  <a:lnTo>
                    <a:pt x="169578" y="74853"/>
                  </a:lnTo>
                  <a:cubicBezTo>
                    <a:pt x="170364" y="74853"/>
                    <a:pt x="170294" y="74914"/>
                    <a:pt x="170294" y="74155"/>
                  </a:cubicBezTo>
                  <a:lnTo>
                    <a:pt x="170294" y="45604"/>
                  </a:lnTo>
                  <a:cubicBezTo>
                    <a:pt x="170294" y="45350"/>
                    <a:pt x="170347" y="45298"/>
                    <a:pt x="170582" y="45298"/>
                  </a:cubicBezTo>
                  <a:lnTo>
                    <a:pt x="190865" y="45272"/>
                  </a:lnTo>
                  <a:cubicBezTo>
                    <a:pt x="191721" y="45272"/>
                    <a:pt x="192533" y="45446"/>
                    <a:pt x="193310" y="45804"/>
                  </a:cubicBezTo>
                  <a:cubicBezTo>
                    <a:pt x="194725" y="46429"/>
                    <a:pt x="195656" y="47812"/>
                    <a:pt x="195702" y="49358"/>
                  </a:cubicBezTo>
                  <a:cubicBezTo>
                    <a:pt x="195772" y="52807"/>
                    <a:pt x="195729" y="56256"/>
                    <a:pt x="195729" y="59705"/>
                  </a:cubicBezTo>
                  <a:cubicBezTo>
                    <a:pt x="195729" y="61966"/>
                    <a:pt x="194794" y="62909"/>
                    <a:pt x="192847" y="62909"/>
                  </a:cubicBezTo>
                  <a:lnTo>
                    <a:pt x="182213" y="62909"/>
                  </a:lnTo>
                  <a:cubicBezTo>
                    <a:pt x="182012" y="62926"/>
                    <a:pt x="181959" y="62979"/>
                    <a:pt x="181968" y="63197"/>
                  </a:cubicBezTo>
                  <a:cubicBezTo>
                    <a:pt x="183575" y="67013"/>
                    <a:pt x="185234" y="70802"/>
                    <a:pt x="186945" y="74574"/>
                  </a:cubicBezTo>
                  <a:cubicBezTo>
                    <a:pt x="187008" y="74710"/>
                    <a:pt x="187144" y="74798"/>
                    <a:pt x="187294" y="74801"/>
                  </a:cubicBezTo>
                  <a:cubicBezTo>
                    <a:pt x="188778" y="74845"/>
                    <a:pt x="190263" y="74818"/>
                    <a:pt x="191747" y="74827"/>
                  </a:cubicBezTo>
                  <a:cubicBezTo>
                    <a:pt x="193057" y="74810"/>
                    <a:pt x="196261" y="74862"/>
                    <a:pt x="197562" y="74740"/>
                  </a:cubicBezTo>
                  <a:cubicBezTo>
                    <a:pt x="198769" y="74644"/>
                    <a:pt x="199962" y="74424"/>
                    <a:pt x="201124" y="74085"/>
                  </a:cubicBezTo>
                  <a:cubicBezTo>
                    <a:pt x="206276" y="72513"/>
                    <a:pt x="209637" y="67991"/>
                    <a:pt x="209646" y="62621"/>
                  </a:cubicBezTo>
                  <a:lnTo>
                    <a:pt x="209646" y="45324"/>
                  </a:lnTo>
                  <a:cubicBezTo>
                    <a:pt x="209646" y="44207"/>
                    <a:pt x="209559" y="43106"/>
                    <a:pt x="209349" y="42006"/>
                  </a:cubicBezTo>
                  <a:cubicBezTo>
                    <a:pt x="209349" y="42687"/>
                    <a:pt x="209096" y="36410"/>
                    <a:pt x="203028" y="33293"/>
                  </a:cubicBezTo>
                  <a:close/>
                </a:path>
              </a:pathLst>
            </a:custGeom>
            <a:solidFill>
              <a:srgbClr val="FFFFFF"/>
            </a:solidFill>
            <a:ln>
              <a:noFill/>
            </a:ln>
          </p:spPr>
        </p:sp>
      </p:grpSp>
      <p:grpSp>
        <p:nvGrpSpPr>
          <p:cNvPr id="20" name="icon-ks"/>
          <p:cNvGrpSpPr/>
          <p:nvPr/>
        </p:nvGrpSpPr>
        <p:grpSpPr>
          <a:xfrm>
            <a:off x="285750" y="5619750"/>
            <a:ext cx="381000" cy="381000"/>
            <a:chOff x="285750" y="5619750"/>
            <a:chExt cx="381000" cy="381000"/>
          </a:xfrm>
        </p:grpSpPr>
        <p:sp>
          <p:nvSpPr>
            <p:cNvPr id="18" name="Rectangle 18"/>
            <p:cNvSpPr/>
            <p:nvPr/>
          </p:nvSpPr>
          <p:spPr>
            <a:xfrm>
              <a:off x="285750" y="5619750"/>
              <a:ext cx="381000" cy="381000"/>
            </a:xfrm>
            <a:prstGeom prst="roundRect">
              <a:avLst>
                <a:gd name="adj" fmla="val 20000"/>
              </a:avLst>
            </a:prstGeom>
            <a:solidFill>
              <a:srgbClr val="ED8776"/>
            </a:solidFill>
            <a:ln>
              <a:noFill/>
            </a:ln>
          </p:spPr>
        </p:sp>
        <p:sp>
          <p:nvSpPr>
            <p:cNvPr id="19" name="Freeform 19"/>
            <p:cNvSpPr/>
            <p:nvPr/>
          </p:nvSpPr>
          <p:spPr>
            <a:xfrm>
              <a:off x="384284" y="5705475"/>
              <a:ext cx="183933" cy="209565"/>
            </a:xfrm>
            <a:custGeom>
              <a:avLst/>
              <a:gdLst/>
              <a:ahLst/>
              <a:cxnLst/>
              <a:rect l="l" t="t" r="r" b="b"/>
              <a:pathLst>
                <a:path w="183933" h="209565">
                  <a:moveTo>
                    <a:pt x="147104" y="107080"/>
                  </a:moveTo>
                  <a:cubicBezTo>
                    <a:pt x="167448" y="107080"/>
                    <a:pt x="183933" y="123495"/>
                    <a:pt x="183933" y="143751"/>
                  </a:cubicBezTo>
                  <a:lnTo>
                    <a:pt x="183933" y="172879"/>
                  </a:lnTo>
                  <a:cubicBezTo>
                    <a:pt x="183933" y="193135"/>
                    <a:pt x="167448" y="209550"/>
                    <a:pt x="147104" y="209550"/>
                  </a:cubicBezTo>
                  <a:lnTo>
                    <a:pt x="92953" y="209550"/>
                  </a:lnTo>
                  <a:cubicBezTo>
                    <a:pt x="76906" y="209565"/>
                    <a:pt x="62697" y="199188"/>
                    <a:pt x="57827" y="183898"/>
                  </a:cubicBezTo>
                  <a:lnTo>
                    <a:pt x="25731" y="199902"/>
                  </a:lnTo>
                  <a:cubicBezTo>
                    <a:pt x="16967" y="204278"/>
                    <a:pt x="6314" y="200756"/>
                    <a:pt x="1886" y="192018"/>
                  </a:cubicBezTo>
                  <a:cubicBezTo>
                    <a:pt x="647" y="189562"/>
                    <a:pt x="1" y="186849"/>
                    <a:pt x="0" y="184098"/>
                  </a:cubicBezTo>
                  <a:lnTo>
                    <a:pt x="0" y="132235"/>
                  </a:lnTo>
                  <a:cubicBezTo>
                    <a:pt x="29" y="122449"/>
                    <a:pt x="7983" y="114539"/>
                    <a:pt x="17768" y="114563"/>
                  </a:cubicBezTo>
                  <a:cubicBezTo>
                    <a:pt x="20555" y="114562"/>
                    <a:pt x="23303" y="115214"/>
                    <a:pt x="25792" y="116466"/>
                  </a:cubicBezTo>
                  <a:lnTo>
                    <a:pt x="57862" y="132619"/>
                  </a:lnTo>
                  <a:cubicBezTo>
                    <a:pt x="62769" y="117383"/>
                    <a:pt x="76955" y="107061"/>
                    <a:pt x="92962" y="107080"/>
                  </a:cubicBezTo>
                  <a:close/>
                  <a:moveTo>
                    <a:pt x="146563" y="125957"/>
                  </a:moveTo>
                  <a:lnTo>
                    <a:pt x="93494" y="125957"/>
                  </a:lnTo>
                  <a:cubicBezTo>
                    <a:pt x="83427" y="125957"/>
                    <a:pt x="75246" y="133999"/>
                    <a:pt x="75089" y="143987"/>
                  </a:cubicBezTo>
                  <a:lnTo>
                    <a:pt x="75089" y="172337"/>
                  </a:lnTo>
                  <a:cubicBezTo>
                    <a:pt x="75089" y="182361"/>
                    <a:pt x="83165" y="190507"/>
                    <a:pt x="93189" y="190673"/>
                  </a:cubicBezTo>
                  <a:lnTo>
                    <a:pt x="146563" y="190673"/>
                  </a:lnTo>
                  <a:cubicBezTo>
                    <a:pt x="156630" y="190673"/>
                    <a:pt x="164811" y="182623"/>
                    <a:pt x="164977" y="172643"/>
                  </a:cubicBezTo>
                  <a:lnTo>
                    <a:pt x="164977" y="144293"/>
                  </a:lnTo>
                  <a:cubicBezTo>
                    <a:pt x="164959" y="134262"/>
                    <a:pt x="156898" y="126100"/>
                    <a:pt x="146868" y="125957"/>
                  </a:cubicBezTo>
                  <a:close/>
                  <a:moveTo>
                    <a:pt x="23688" y="137255"/>
                  </a:moveTo>
                  <a:cubicBezTo>
                    <a:pt x="21053" y="137250"/>
                    <a:pt x="18899" y="139354"/>
                    <a:pt x="18842" y="141988"/>
                  </a:cubicBezTo>
                  <a:lnTo>
                    <a:pt x="18842" y="174590"/>
                  </a:lnTo>
                  <a:cubicBezTo>
                    <a:pt x="18856" y="176254"/>
                    <a:pt x="19721" y="177795"/>
                    <a:pt x="21134" y="178673"/>
                  </a:cubicBezTo>
                  <a:cubicBezTo>
                    <a:pt x="22547" y="179552"/>
                    <a:pt x="24312" y="179645"/>
                    <a:pt x="25810" y="178921"/>
                  </a:cubicBezTo>
                  <a:lnTo>
                    <a:pt x="25897" y="178886"/>
                  </a:lnTo>
                  <a:lnTo>
                    <a:pt x="56133" y="163554"/>
                  </a:lnTo>
                  <a:lnTo>
                    <a:pt x="56133" y="152884"/>
                  </a:lnTo>
                  <a:lnTo>
                    <a:pt x="25862" y="137779"/>
                  </a:lnTo>
                  <a:cubicBezTo>
                    <a:pt x="25188" y="137438"/>
                    <a:pt x="24443" y="137259"/>
                    <a:pt x="23688" y="137255"/>
                  </a:cubicBezTo>
                  <a:close/>
                  <a:moveTo>
                    <a:pt x="68217" y="0"/>
                  </a:moveTo>
                  <a:cubicBezTo>
                    <a:pt x="86361" y="4"/>
                    <a:pt x="103048" y="9939"/>
                    <a:pt x="111699" y="25888"/>
                  </a:cubicBezTo>
                  <a:cubicBezTo>
                    <a:pt x="119669" y="18478"/>
                    <a:pt x="130154" y="14369"/>
                    <a:pt x="141036" y="14389"/>
                  </a:cubicBezTo>
                  <a:cubicBezTo>
                    <a:pt x="164733" y="14389"/>
                    <a:pt x="183933" y="33397"/>
                    <a:pt x="183933" y="56849"/>
                  </a:cubicBezTo>
                  <a:cubicBezTo>
                    <a:pt x="183933" y="80301"/>
                    <a:pt x="164724" y="99309"/>
                    <a:pt x="141045" y="99309"/>
                  </a:cubicBezTo>
                  <a:cubicBezTo>
                    <a:pt x="127237" y="99340"/>
                    <a:pt x="114255" y="92732"/>
                    <a:pt x="106155" y="81550"/>
                  </a:cubicBezTo>
                  <a:cubicBezTo>
                    <a:pt x="96774" y="92810"/>
                    <a:pt x="82873" y="99318"/>
                    <a:pt x="68217" y="99309"/>
                  </a:cubicBezTo>
                  <a:cubicBezTo>
                    <a:pt x="40880" y="99309"/>
                    <a:pt x="18711" y="77080"/>
                    <a:pt x="18711" y="49655"/>
                  </a:cubicBezTo>
                  <a:cubicBezTo>
                    <a:pt x="18711" y="22230"/>
                    <a:pt x="40880" y="0"/>
                    <a:pt x="68217" y="0"/>
                  </a:cubicBezTo>
                  <a:close/>
                  <a:moveTo>
                    <a:pt x="141036" y="34279"/>
                  </a:moveTo>
                  <a:cubicBezTo>
                    <a:pt x="128454" y="34279"/>
                    <a:pt x="118247" y="44381"/>
                    <a:pt x="118247" y="56849"/>
                  </a:cubicBezTo>
                  <a:cubicBezTo>
                    <a:pt x="118247" y="69317"/>
                    <a:pt x="128454" y="79419"/>
                    <a:pt x="141036" y="79419"/>
                  </a:cubicBezTo>
                  <a:cubicBezTo>
                    <a:pt x="153635" y="79419"/>
                    <a:pt x="163842" y="69317"/>
                    <a:pt x="163842" y="56849"/>
                  </a:cubicBezTo>
                  <a:cubicBezTo>
                    <a:pt x="163842" y="44381"/>
                    <a:pt x="153635" y="34279"/>
                    <a:pt x="141045" y="34279"/>
                  </a:cubicBezTo>
                  <a:close/>
                  <a:moveTo>
                    <a:pt x="68217" y="19968"/>
                  </a:moveTo>
                  <a:cubicBezTo>
                    <a:pt x="60356" y="19980"/>
                    <a:pt x="52820" y="23114"/>
                    <a:pt x="47270" y="28681"/>
                  </a:cubicBezTo>
                  <a:cubicBezTo>
                    <a:pt x="41719" y="34249"/>
                    <a:pt x="38607" y="41793"/>
                    <a:pt x="38618" y="49655"/>
                  </a:cubicBezTo>
                  <a:cubicBezTo>
                    <a:pt x="38618" y="66043"/>
                    <a:pt x="51872" y="79341"/>
                    <a:pt x="68217" y="79341"/>
                  </a:cubicBezTo>
                  <a:cubicBezTo>
                    <a:pt x="76079" y="79329"/>
                    <a:pt x="83614" y="76195"/>
                    <a:pt x="89165" y="70628"/>
                  </a:cubicBezTo>
                  <a:cubicBezTo>
                    <a:pt x="94716" y="65061"/>
                    <a:pt x="97828" y="57516"/>
                    <a:pt x="97816" y="49655"/>
                  </a:cubicBezTo>
                  <a:cubicBezTo>
                    <a:pt x="97816" y="33257"/>
                    <a:pt x="84562" y="19968"/>
                    <a:pt x="68217" y="19968"/>
                  </a:cubicBezTo>
                  <a:close/>
                </a:path>
              </a:pathLst>
            </a:custGeom>
            <a:solidFill>
              <a:srgbClr val="FFFFFF"/>
            </a:solidFill>
            <a:ln>
              <a:noFill/>
            </a:ln>
          </p:spPr>
        </p:sp>
      </p:grpSp>
      <p:grpSp>
        <p:nvGrpSpPr>
          <p:cNvPr id="49" name="cell-facts"/>
          <p:cNvGrpSpPr/>
          <p:nvPr/>
        </p:nvGrpSpPr>
        <p:grpSpPr>
          <a:xfrm>
            <a:off x="876300" y="1333500"/>
            <a:ext cx="6781800" cy="1733550"/>
            <a:chOff x="876300" y="1333500"/>
            <a:chExt cx="6781800" cy="1733550"/>
          </a:xfrm>
        </p:grpSpPr>
        <p:sp>
          <p:nvSpPr>
            <p:cNvPr id="21" name="Rectangle 21"/>
            <p:cNvSpPr/>
            <p:nvPr/>
          </p:nvSpPr>
          <p:spPr>
            <a:xfrm>
              <a:off x="876300" y="1333500"/>
              <a:ext cx="6781800" cy="1733550"/>
            </a:xfrm>
            <a:prstGeom prst="rect">
              <a:avLst/>
            </a:prstGeom>
            <a:solidFill>
              <a:srgbClr val="FFFFFF"/>
            </a:solidFill>
            <a:ln w="9525">
              <a:solidFill>
                <a:srgbClr val="E4E7F5"/>
              </a:solidFill>
            </a:ln>
          </p:spPr>
        </p:sp>
        <p:sp>
          <p:nvSpPr>
            <p:cNvPr id="22" name="TextBox 22"/>
            <p:cNvSpPr txBox="1"/>
            <p:nvPr/>
          </p:nvSpPr>
          <p:spPr>
            <a:xfrm>
              <a:off x="1137285" y="1554956"/>
              <a:ext cx="563435" cy="220028"/>
            </a:xfrm>
            <a:prstGeom prst="rect">
              <a:avLst/>
            </a:prstGeom>
            <a:noFill/>
            <a:ln>
              <a:noFill/>
            </a:ln>
          </p:spPr>
          <p:txBody>
            <a:bodyPr wrap="none" lIns="0" tIns="0" rIns="0" bIns="0" anchor="t" anchorCtr="0">
              <a:spAutoFit/>
            </a:bodyPr>
            <a:lstStyle/>
            <a:p>
              <a:pPr algn="l"/>
              <a:r>
                <a:rPr lang="en-US" sz="1120" b="1" dirty="0">
                  <a:solidFill>
                    <a:srgbClr val="E5624C"/>
                  </a:solidFill>
                  <a:latin typeface="+mn-lt"/>
                  <a:ea typeface="+mn-ea"/>
                  <a:cs typeface="+mn-cs"/>
                </a:rPr>
                <a:t>FACT+S</a:t>
              </a:r>
            </a:p>
          </p:txBody>
        </p:sp>
        <p:sp>
          <p:nvSpPr>
            <p:cNvPr id="23" name="TextBox 23"/>
            <p:cNvSpPr txBox="1"/>
            <p:nvPr/>
          </p:nvSpPr>
          <p:spPr>
            <a:xfrm>
              <a:off x="1138238" y="1849993"/>
              <a:ext cx="1061204"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F(Field)-商家直播​</a:t>
              </a:r>
            </a:p>
          </p:txBody>
        </p:sp>
        <p:sp>
          <p:nvSpPr>
            <p:cNvPr id="24" name="TextBox 24"/>
            <p:cNvSpPr txBox="1"/>
            <p:nvPr/>
          </p:nvSpPr>
          <p:spPr>
            <a:xfrm>
              <a:off x="1138238" y="2050018"/>
              <a:ext cx="133299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A(Alliance)-KOL的矩阵​</a:t>
              </a:r>
            </a:p>
          </p:txBody>
        </p:sp>
        <p:sp>
          <p:nvSpPr>
            <p:cNvPr id="25" name="TextBox 25"/>
            <p:cNvSpPr txBox="1"/>
            <p:nvPr/>
          </p:nvSpPr>
          <p:spPr>
            <a:xfrm>
              <a:off x="1138238" y="2250043"/>
              <a:ext cx="1304146"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C(Campaign)-营销活动​</a:t>
              </a:r>
            </a:p>
          </p:txBody>
        </p:sp>
        <p:sp>
          <p:nvSpPr>
            <p:cNvPr id="26" name="TextBox 26"/>
            <p:cNvSpPr txBox="1"/>
            <p:nvPr/>
          </p:nvSpPr>
          <p:spPr>
            <a:xfrm>
              <a:off x="1138238" y="2450068"/>
              <a:ext cx="1177992"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T(Top-KOL)头部大V​</a:t>
              </a:r>
            </a:p>
          </p:txBody>
        </p:sp>
        <p:sp>
          <p:nvSpPr>
            <p:cNvPr id="27" name="TextBox 27"/>
            <p:cNvSpPr txBox="1"/>
            <p:nvPr/>
          </p:nvSpPr>
          <p:spPr>
            <a:xfrm>
              <a:off x="1138238" y="2650093"/>
              <a:ext cx="2310666"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S(Search)搜索、Shop(ShoppingCenter、​</a:t>
              </a:r>
            </a:p>
          </p:txBody>
        </p:sp>
        <p:sp>
          <p:nvSpPr>
            <p:cNvPr id="28" name="TextBox 28"/>
            <p:cNvSpPr txBox="1"/>
            <p:nvPr/>
          </p:nvSpPr>
          <p:spPr>
            <a:xfrm>
              <a:off x="1138238" y="2831068"/>
              <a:ext cx="563953"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商城)Shop</a:t>
              </a:r>
            </a:p>
          </p:txBody>
        </p:sp>
        <p:sp>
          <p:nvSpPr>
            <p:cNvPr id="29" name="Ellipse 29"/>
            <p:cNvSpPr/>
            <p:nvPr/>
          </p:nvSpPr>
          <p:spPr>
            <a:xfrm>
              <a:off x="4648200" y="1638300"/>
              <a:ext cx="533400" cy="533400"/>
            </a:xfrm>
            <a:prstGeom prst="ellipse">
              <a:avLst/>
            </a:prstGeom>
            <a:solidFill>
              <a:srgbClr val="D47D6B"/>
            </a:solidFill>
            <a:ln>
              <a:noFill/>
            </a:ln>
          </p:spPr>
        </p:sp>
        <p:sp>
          <p:nvSpPr>
            <p:cNvPr id="30" name="TextBox 30"/>
            <p:cNvSpPr txBox="1"/>
            <p:nvPr/>
          </p:nvSpPr>
          <p:spPr>
            <a:xfrm>
              <a:off x="4814557" y="1809036"/>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达人</a:t>
              </a:r>
            </a:p>
          </p:txBody>
        </p:sp>
        <p:sp>
          <p:nvSpPr>
            <p:cNvPr id="31" name="TextBox 31"/>
            <p:cNvSpPr txBox="1"/>
            <p:nvPr/>
          </p:nvSpPr>
          <p:spPr>
            <a:xfrm>
              <a:off x="4814557" y="1923336"/>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矩阵</a:t>
              </a:r>
            </a:p>
          </p:txBody>
        </p:sp>
        <p:sp>
          <p:nvSpPr>
            <p:cNvPr id="32" name="Ellipse 32"/>
            <p:cNvSpPr/>
            <p:nvPr/>
          </p:nvSpPr>
          <p:spPr>
            <a:xfrm>
              <a:off x="5219700" y="1466850"/>
              <a:ext cx="571500" cy="571500"/>
            </a:xfrm>
            <a:prstGeom prst="ellipse">
              <a:avLst/>
            </a:prstGeom>
            <a:solidFill>
              <a:srgbClr val="C1553F"/>
            </a:solidFill>
            <a:ln>
              <a:noFill/>
            </a:ln>
          </p:spPr>
        </p:sp>
        <p:sp>
          <p:nvSpPr>
            <p:cNvPr id="33" name="TextBox 33"/>
            <p:cNvSpPr txBox="1"/>
            <p:nvPr/>
          </p:nvSpPr>
          <p:spPr>
            <a:xfrm>
              <a:off x="5399722" y="1633538"/>
              <a:ext cx="21145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内容</a:t>
              </a:r>
            </a:p>
          </p:txBody>
        </p:sp>
        <p:sp>
          <p:nvSpPr>
            <p:cNvPr id="34" name="TextBox 34"/>
            <p:cNvSpPr txBox="1"/>
            <p:nvPr/>
          </p:nvSpPr>
          <p:spPr>
            <a:xfrm>
              <a:off x="5212331" y="1777603"/>
              <a:ext cx="586237" cy="111919"/>
            </a:xfrm>
            <a:prstGeom prst="rect">
              <a:avLst/>
            </a:prstGeom>
            <a:noFill/>
            <a:ln>
              <a:noFill/>
            </a:ln>
          </p:spPr>
          <p:txBody>
            <a:bodyPr wrap="none" lIns="0" tIns="0" rIns="0" bIns="0" anchor="t" anchorCtr="0">
              <a:spAutoFit/>
            </a:bodyPr>
            <a:lstStyle/>
            <a:p>
              <a:pPr algn="ctr"/>
              <a:r>
                <a:rPr lang="zh-CN" sz="560" dirty="0">
                  <a:solidFill>
                    <a:srgbClr val="DCE0F5"/>
                  </a:solidFill>
                  <a:latin typeface="+mn-lt"/>
                  <a:ea typeface="+mn-ea"/>
                  <a:cs typeface="+mn-cs"/>
                </a:rPr>
                <a:t>营销/热点/互动​</a:t>
              </a:r>
            </a:p>
          </p:txBody>
        </p:sp>
        <p:sp>
          <p:nvSpPr>
            <p:cNvPr id="35" name="Ellipse 35"/>
            <p:cNvSpPr/>
            <p:nvPr/>
          </p:nvSpPr>
          <p:spPr>
            <a:xfrm>
              <a:off x="5848350" y="1657350"/>
              <a:ext cx="495300" cy="495300"/>
            </a:xfrm>
            <a:prstGeom prst="ellipse">
              <a:avLst/>
            </a:prstGeom>
            <a:solidFill>
              <a:srgbClr val="D47D6B"/>
            </a:solidFill>
            <a:ln>
              <a:noFill/>
            </a:ln>
          </p:spPr>
        </p:sp>
        <p:sp>
          <p:nvSpPr>
            <p:cNvPr id="36" name="TextBox 36"/>
            <p:cNvSpPr txBox="1"/>
            <p:nvPr/>
          </p:nvSpPr>
          <p:spPr>
            <a:xfrm>
              <a:off x="5900077" y="1866186"/>
              <a:ext cx="39184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主题活动</a:t>
              </a:r>
            </a:p>
          </p:txBody>
        </p:sp>
        <p:sp>
          <p:nvSpPr>
            <p:cNvPr id="37" name="TextBox 37"/>
            <p:cNvSpPr txBox="1"/>
            <p:nvPr/>
          </p:nvSpPr>
          <p:spPr>
            <a:xfrm>
              <a:off x="6385430" y="2107882"/>
              <a:ext cx="145040" cy="322707"/>
            </a:xfrm>
            <a:prstGeom prst="rect">
              <a:avLst/>
            </a:prstGeom>
            <a:noFill/>
            <a:ln>
              <a:noFill/>
            </a:ln>
          </p:spPr>
          <p:txBody>
            <a:bodyPr wrap="none" lIns="0" tIns="0" rIns="0" bIns="0" anchor="t" anchorCtr="0">
              <a:spAutoFit/>
            </a:bodyPr>
            <a:lstStyle/>
            <a:p>
              <a:pPr algn="ctr"/>
              <a:r>
                <a:rPr lang="zh-CN" sz="1650" b="1" dirty="0">
                  <a:solidFill>
                    <a:srgbClr val="D47D6B"/>
                  </a:solidFill>
                  <a:latin typeface="+mn-lt"/>
                  <a:ea typeface="+mn-ea"/>
                  <a:cs typeface="+mn-cs"/>
                </a:rPr>
                <a:t>+</a:t>
              </a:r>
            </a:p>
          </p:txBody>
        </p:sp>
        <p:sp>
          <p:nvSpPr>
            <p:cNvPr id="38" name="Ellipse 38"/>
            <p:cNvSpPr/>
            <p:nvPr/>
          </p:nvSpPr>
          <p:spPr>
            <a:xfrm>
              <a:off x="6610350" y="1638300"/>
              <a:ext cx="457200" cy="457200"/>
            </a:xfrm>
            <a:prstGeom prst="ellipse">
              <a:avLst/>
            </a:prstGeom>
            <a:solidFill>
              <a:srgbClr val="E5624C"/>
            </a:solidFill>
            <a:ln>
              <a:noFill/>
            </a:ln>
          </p:spPr>
        </p:sp>
        <p:sp>
          <p:nvSpPr>
            <p:cNvPr id="39" name="TextBox 39"/>
            <p:cNvSpPr txBox="1"/>
            <p:nvPr/>
          </p:nvSpPr>
          <p:spPr>
            <a:xfrm>
              <a:off x="6643027" y="1828086"/>
              <a:ext cx="39184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搜索运营</a:t>
              </a:r>
            </a:p>
          </p:txBody>
        </p:sp>
        <p:sp>
          <p:nvSpPr>
            <p:cNvPr id="40" name="Ellipse 40"/>
            <p:cNvSpPr/>
            <p:nvPr/>
          </p:nvSpPr>
          <p:spPr>
            <a:xfrm>
              <a:off x="7096125" y="2066925"/>
              <a:ext cx="400050" cy="400050"/>
            </a:xfrm>
            <a:prstGeom prst="ellipse">
              <a:avLst/>
            </a:prstGeom>
            <a:solidFill>
              <a:srgbClr val="E5624C"/>
            </a:solidFill>
            <a:ln>
              <a:noFill/>
            </a:ln>
          </p:spPr>
        </p:sp>
        <p:sp>
          <p:nvSpPr>
            <p:cNvPr id="41" name="TextBox 41"/>
            <p:cNvSpPr txBox="1"/>
            <p:nvPr/>
          </p:nvSpPr>
          <p:spPr>
            <a:xfrm>
              <a:off x="7195807" y="2170986"/>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商品</a:t>
              </a:r>
            </a:p>
          </p:txBody>
        </p:sp>
        <p:sp>
          <p:nvSpPr>
            <p:cNvPr id="42" name="TextBox 42"/>
            <p:cNvSpPr txBox="1"/>
            <p:nvPr/>
          </p:nvSpPr>
          <p:spPr>
            <a:xfrm>
              <a:off x="7178307" y="2291953"/>
              <a:ext cx="235687" cy="111919"/>
            </a:xfrm>
            <a:prstGeom prst="rect">
              <a:avLst/>
            </a:prstGeom>
            <a:noFill/>
            <a:ln>
              <a:noFill/>
            </a:ln>
          </p:spPr>
          <p:txBody>
            <a:bodyPr wrap="none" lIns="0" tIns="0" rIns="0" bIns="0" anchor="t" anchorCtr="0">
              <a:spAutoFit/>
            </a:bodyPr>
            <a:lstStyle/>
            <a:p>
              <a:pPr algn="ctr"/>
              <a:r>
                <a:rPr lang="zh-CN" sz="560" dirty="0">
                  <a:solidFill>
                    <a:srgbClr val="FBE3DC"/>
                  </a:solidFill>
                  <a:latin typeface="+mn-lt"/>
                  <a:ea typeface="+mn-ea"/>
                  <a:cs typeface="+mn-cs"/>
                </a:rPr>
                <a:t>商品卡</a:t>
              </a:r>
            </a:p>
          </p:txBody>
        </p:sp>
        <p:sp>
          <p:nvSpPr>
            <p:cNvPr id="43" name="Ellipse 43"/>
            <p:cNvSpPr/>
            <p:nvPr/>
          </p:nvSpPr>
          <p:spPr>
            <a:xfrm>
              <a:off x="6772275" y="2428875"/>
              <a:ext cx="438150" cy="438150"/>
            </a:xfrm>
            <a:prstGeom prst="ellipse">
              <a:avLst/>
            </a:prstGeom>
            <a:solidFill>
              <a:srgbClr val="ED8776"/>
            </a:solidFill>
            <a:ln>
              <a:noFill/>
            </a:ln>
          </p:spPr>
        </p:sp>
        <p:sp>
          <p:nvSpPr>
            <p:cNvPr id="44" name="TextBox 44"/>
            <p:cNvSpPr txBox="1"/>
            <p:nvPr/>
          </p:nvSpPr>
          <p:spPr>
            <a:xfrm>
              <a:off x="6795427" y="2609136"/>
              <a:ext cx="39184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商城推荐</a:t>
              </a:r>
            </a:p>
          </p:txBody>
        </p:sp>
        <p:sp>
          <p:nvSpPr>
            <p:cNvPr id="45" name="Ellipse 45"/>
            <p:cNvSpPr/>
            <p:nvPr/>
          </p:nvSpPr>
          <p:spPr>
            <a:xfrm>
              <a:off x="6257925" y="2657475"/>
              <a:ext cx="361950" cy="361950"/>
            </a:xfrm>
            <a:prstGeom prst="ellipse">
              <a:avLst/>
            </a:prstGeom>
            <a:solidFill>
              <a:srgbClr val="ED8776"/>
            </a:solidFill>
            <a:ln>
              <a:noFill/>
            </a:ln>
          </p:spPr>
        </p:sp>
        <p:sp>
          <p:nvSpPr>
            <p:cNvPr id="46" name="TextBox 46"/>
            <p:cNvSpPr txBox="1"/>
            <p:nvPr/>
          </p:nvSpPr>
          <p:spPr>
            <a:xfrm>
              <a:off x="6261824" y="280773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店铺装修</a:t>
              </a:r>
            </a:p>
          </p:txBody>
        </p:sp>
        <p:sp>
          <p:nvSpPr>
            <p:cNvPr id="47" name="Rectangle 47"/>
            <p:cNvSpPr/>
            <p:nvPr/>
          </p:nvSpPr>
          <p:spPr>
            <a:xfrm>
              <a:off x="5353050" y="2495550"/>
              <a:ext cx="723900" cy="228600"/>
            </a:xfrm>
            <a:prstGeom prst="roundRect">
              <a:avLst>
                <a:gd name="adj" fmla="val 50000"/>
              </a:avLst>
            </a:prstGeom>
            <a:solidFill>
              <a:srgbClr val="FFFFFF"/>
            </a:solidFill>
            <a:ln w="9525">
              <a:solidFill>
                <a:srgbClr val="C9CFEA"/>
              </a:solidFill>
            </a:ln>
          </p:spPr>
        </p:sp>
        <p:sp>
          <p:nvSpPr>
            <p:cNvPr id="48" name="TextBox 48"/>
            <p:cNvSpPr txBox="1"/>
            <p:nvPr/>
          </p:nvSpPr>
          <p:spPr>
            <a:xfrm>
              <a:off x="5544655" y="2568416"/>
              <a:ext cx="340690"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营销场</a:t>
              </a:r>
            </a:p>
          </p:txBody>
        </p:sp>
      </p:grpSp>
      <p:grpSp>
        <p:nvGrpSpPr>
          <p:cNvPr id="62" name="cell-star"/>
          <p:cNvGrpSpPr/>
          <p:nvPr/>
        </p:nvGrpSpPr>
        <p:grpSpPr>
          <a:xfrm>
            <a:off x="7743825" y="1333500"/>
            <a:ext cx="2466975" cy="1733550"/>
            <a:chOff x="7743825" y="1333500"/>
            <a:chExt cx="2466975" cy="1733550"/>
          </a:xfrm>
        </p:grpSpPr>
        <p:sp>
          <p:nvSpPr>
            <p:cNvPr id="50" name="Rectangle 50"/>
            <p:cNvSpPr/>
            <p:nvPr/>
          </p:nvSpPr>
          <p:spPr>
            <a:xfrm>
              <a:off x="7743825" y="1333500"/>
              <a:ext cx="2466975" cy="1733550"/>
            </a:xfrm>
            <a:prstGeom prst="rect">
              <a:avLst/>
            </a:prstGeom>
            <a:solidFill>
              <a:srgbClr val="FFFFFF"/>
            </a:solidFill>
            <a:ln w="9525">
              <a:solidFill>
                <a:srgbClr val="E4E7F5"/>
              </a:solidFill>
            </a:ln>
          </p:spPr>
        </p:sp>
        <p:sp>
          <p:nvSpPr>
            <p:cNvPr id="51" name="TextBox 51"/>
            <p:cNvSpPr txBox="1"/>
            <p:nvPr/>
          </p:nvSpPr>
          <p:spPr>
            <a:xfrm>
              <a:off x="8423542" y="1529001"/>
              <a:ext cx="1098017" cy="198025"/>
            </a:xfrm>
            <a:prstGeom prst="rect">
              <a:avLst/>
            </a:prstGeom>
            <a:noFill/>
            <a:ln>
              <a:noFill/>
            </a:ln>
          </p:spPr>
          <p:txBody>
            <a:bodyPr wrap="none" lIns="0" tIns="0" rIns="0" bIns="0" anchor="t" anchorCtr="0">
              <a:spAutoFit/>
            </a:bodyPr>
            <a:lstStyle/>
            <a:p>
              <a:pPr algn="ctr"/>
              <a:r>
                <a:rPr lang="zh-CN" sz="1010" b="1" dirty="0">
                  <a:solidFill>
                    <a:srgbClr val="E5624C"/>
                  </a:solidFill>
                  <a:latin typeface="+mn-lt"/>
                  <a:ea typeface="+mn-ea"/>
                  <a:cs typeface="+mn-cs"/>
                </a:rPr>
                <a:t>重内容和流量协同</a:t>
              </a:r>
            </a:p>
          </p:txBody>
        </p:sp>
        <p:sp>
          <p:nvSpPr>
            <p:cNvPr id="52" name="Ellipse 52"/>
            <p:cNvSpPr/>
            <p:nvPr/>
          </p:nvSpPr>
          <p:spPr>
            <a:xfrm>
              <a:off x="8286750" y="1847850"/>
              <a:ext cx="304800" cy="304800"/>
            </a:xfrm>
            <a:prstGeom prst="ellipse">
              <a:avLst/>
            </a:prstGeom>
            <a:solidFill>
              <a:srgbClr val="D47D6B"/>
            </a:solidFill>
            <a:ln>
              <a:noFill/>
            </a:ln>
          </p:spPr>
        </p:sp>
        <p:sp>
          <p:nvSpPr>
            <p:cNvPr id="53" name="Ellipse 53"/>
            <p:cNvSpPr/>
            <p:nvPr/>
          </p:nvSpPr>
          <p:spPr>
            <a:xfrm>
              <a:off x="8648700" y="1847850"/>
              <a:ext cx="304800" cy="304800"/>
            </a:xfrm>
            <a:prstGeom prst="ellipse">
              <a:avLst/>
            </a:prstGeom>
            <a:solidFill>
              <a:srgbClr val="D47D6B"/>
            </a:solidFill>
            <a:ln>
              <a:noFill/>
            </a:ln>
          </p:spPr>
        </p:sp>
        <p:sp>
          <p:nvSpPr>
            <p:cNvPr id="54" name="Ellipse 54"/>
            <p:cNvSpPr/>
            <p:nvPr/>
          </p:nvSpPr>
          <p:spPr>
            <a:xfrm>
              <a:off x="9010650" y="1847850"/>
              <a:ext cx="304800" cy="304800"/>
            </a:xfrm>
            <a:prstGeom prst="ellipse">
              <a:avLst/>
            </a:prstGeom>
            <a:solidFill>
              <a:srgbClr val="D47D6B"/>
            </a:solidFill>
            <a:ln>
              <a:noFill/>
            </a:ln>
          </p:spPr>
        </p:sp>
        <p:sp>
          <p:nvSpPr>
            <p:cNvPr id="55" name="Ellipse 55"/>
            <p:cNvSpPr/>
            <p:nvPr/>
          </p:nvSpPr>
          <p:spPr>
            <a:xfrm>
              <a:off x="9372600" y="1847850"/>
              <a:ext cx="304800" cy="304800"/>
            </a:xfrm>
            <a:prstGeom prst="ellipse">
              <a:avLst/>
            </a:prstGeom>
            <a:solidFill>
              <a:srgbClr val="D47D6B"/>
            </a:solidFill>
            <a:ln>
              <a:noFill/>
            </a:ln>
          </p:spPr>
        </p:sp>
        <p:sp>
          <p:nvSpPr>
            <p:cNvPr id="56" name="TextBox 56"/>
            <p:cNvSpPr txBox="1"/>
            <p:nvPr/>
          </p:nvSpPr>
          <p:spPr>
            <a:xfrm>
              <a:off x="8387435" y="19359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S</a:t>
              </a:r>
            </a:p>
          </p:txBody>
        </p:sp>
        <p:sp>
          <p:nvSpPr>
            <p:cNvPr id="57" name="TextBox 57"/>
            <p:cNvSpPr txBox="1"/>
            <p:nvPr/>
          </p:nvSpPr>
          <p:spPr>
            <a:xfrm>
              <a:off x="8749385" y="19359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T</a:t>
              </a:r>
            </a:p>
          </p:txBody>
        </p:sp>
        <p:sp>
          <p:nvSpPr>
            <p:cNvPr id="58" name="TextBox 58"/>
            <p:cNvSpPr txBox="1"/>
            <p:nvPr/>
          </p:nvSpPr>
          <p:spPr>
            <a:xfrm>
              <a:off x="9111335" y="19359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A</a:t>
              </a:r>
            </a:p>
          </p:txBody>
        </p:sp>
        <p:sp>
          <p:nvSpPr>
            <p:cNvPr id="59" name="TextBox 59"/>
            <p:cNvSpPr txBox="1"/>
            <p:nvPr/>
          </p:nvSpPr>
          <p:spPr>
            <a:xfrm>
              <a:off x="9473285" y="19359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R</a:t>
              </a:r>
            </a:p>
          </p:txBody>
        </p:sp>
        <p:sp>
          <p:nvSpPr>
            <p:cNvPr id="60" name="TextBox 60"/>
            <p:cNvSpPr txBox="1"/>
            <p:nvPr/>
          </p:nvSpPr>
          <p:spPr>
            <a:xfrm>
              <a:off x="8018014" y="2315289"/>
              <a:ext cx="190907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Strategy营销策略　Talents KOL选组​</a:t>
              </a:r>
            </a:p>
          </p:txBody>
        </p:sp>
        <p:sp>
          <p:nvSpPr>
            <p:cNvPr id="61" name="TextBox 61"/>
            <p:cNvSpPr txBox="1"/>
            <p:nvPr/>
          </p:nvSpPr>
          <p:spPr>
            <a:xfrm>
              <a:off x="8148392" y="2524839"/>
              <a:ext cx="1648315"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Assets内容创意　Raise整合提效​</a:t>
              </a:r>
            </a:p>
          </p:txBody>
        </p:sp>
      </p:grpSp>
      <p:grpSp>
        <p:nvGrpSpPr>
          <p:cNvPr id="69" name="cell-tools-dy"/>
          <p:cNvGrpSpPr/>
          <p:nvPr/>
        </p:nvGrpSpPr>
        <p:grpSpPr>
          <a:xfrm>
            <a:off x="10258425" y="1333500"/>
            <a:ext cx="1590675" cy="1733550"/>
            <a:chOff x="10258425" y="1333500"/>
            <a:chExt cx="1590675" cy="1733550"/>
          </a:xfrm>
        </p:grpSpPr>
        <p:sp>
          <p:nvSpPr>
            <p:cNvPr id="63" name="Rectangle 63"/>
            <p:cNvSpPr/>
            <p:nvPr/>
          </p:nvSpPr>
          <p:spPr>
            <a:xfrm>
              <a:off x="10258425" y="1333500"/>
              <a:ext cx="1590675" cy="1733550"/>
            </a:xfrm>
            <a:prstGeom prst="rect">
              <a:avLst/>
            </a:prstGeom>
            <a:solidFill>
              <a:srgbClr val="FFFFFF"/>
            </a:solidFill>
            <a:ln w="9525">
              <a:solidFill>
                <a:srgbClr val="E4E7F5"/>
              </a:solidFill>
            </a:ln>
          </p:spPr>
        </p:sp>
        <p:sp>
          <p:nvSpPr>
            <p:cNvPr id="64" name="TextBox 64"/>
            <p:cNvSpPr txBox="1"/>
            <p:nvPr/>
          </p:nvSpPr>
          <p:spPr>
            <a:xfrm>
              <a:off x="10377488" y="1568291"/>
              <a:ext cx="101405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巨量云图—人群资产​</a:t>
              </a:r>
            </a:p>
          </p:txBody>
        </p:sp>
        <p:sp>
          <p:nvSpPr>
            <p:cNvPr id="65" name="TextBox 65"/>
            <p:cNvSpPr txBox="1"/>
            <p:nvPr/>
          </p:nvSpPr>
          <p:spPr>
            <a:xfrm>
              <a:off x="10377488" y="1873091"/>
              <a:ext cx="1012497"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巨量星图—KOL投放​</a:t>
              </a:r>
            </a:p>
          </p:txBody>
        </p:sp>
        <p:sp>
          <p:nvSpPr>
            <p:cNvPr id="66" name="TextBox 66"/>
            <p:cNvSpPr txBox="1"/>
            <p:nvPr/>
          </p:nvSpPr>
          <p:spPr>
            <a:xfrm>
              <a:off x="10377488" y="2177891"/>
              <a:ext cx="101405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巨量算数—数据洞察​</a:t>
              </a:r>
            </a:p>
          </p:txBody>
        </p:sp>
        <p:sp>
          <p:nvSpPr>
            <p:cNvPr id="67" name="TextBox 67"/>
            <p:cNvSpPr txBox="1"/>
            <p:nvPr/>
          </p:nvSpPr>
          <p:spPr>
            <a:xfrm>
              <a:off x="10377488" y="2482691"/>
              <a:ext cx="101405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巨量千川—电商经营​</a:t>
              </a:r>
            </a:p>
          </p:txBody>
        </p:sp>
        <p:sp>
          <p:nvSpPr>
            <p:cNvPr id="68" name="TextBox 68"/>
            <p:cNvSpPr txBox="1"/>
            <p:nvPr/>
          </p:nvSpPr>
          <p:spPr>
            <a:xfrm>
              <a:off x="10377488" y="2787491"/>
              <a:ext cx="101405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品牌广告—流量投放​</a:t>
              </a:r>
            </a:p>
          </p:txBody>
        </p:sp>
      </p:grpSp>
      <p:grpSp>
        <p:nvGrpSpPr>
          <p:cNvPr id="85" name="cell-lifecycle"/>
          <p:cNvGrpSpPr/>
          <p:nvPr/>
        </p:nvGrpSpPr>
        <p:grpSpPr>
          <a:xfrm>
            <a:off x="876300" y="3124200"/>
            <a:ext cx="6781800" cy="1724026"/>
            <a:chOff x="876300" y="3124200"/>
            <a:chExt cx="6781800" cy="1724026"/>
          </a:xfrm>
        </p:grpSpPr>
        <p:sp>
          <p:nvSpPr>
            <p:cNvPr id="70" name="Rectangle 70"/>
            <p:cNvSpPr/>
            <p:nvPr/>
          </p:nvSpPr>
          <p:spPr>
            <a:xfrm>
              <a:off x="876300" y="3124200"/>
              <a:ext cx="6781800" cy="1714500"/>
            </a:xfrm>
            <a:prstGeom prst="rect">
              <a:avLst/>
            </a:prstGeom>
            <a:solidFill>
              <a:srgbClr val="FFFFFF"/>
            </a:solidFill>
            <a:ln w="9525">
              <a:solidFill>
                <a:srgbClr val="E4E7F5"/>
              </a:solidFill>
            </a:ln>
          </p:spPr>
        </p:sp>
        <p:sp>
          <p:nvSpPr>
            <p:cNvPr id="71" name="TextBox 71"/>
            <p:cNvSpPr txBox="1"/>
            <p:nvPr/>
          </p:nvSpPr>
          <p:spPr>
            <a:xfrm>
              <a:off x="1137285" y="3364706"/>
              <a:ext cx="1217625" cy="220028"/>
            </a:xfrm>
            <a:prstGeom prst="rect">
              <a:avLst/>
            </a:prstGeom>
            <a:noFill/>
            <a:ln>
              <a:noFill/>
            </a:ln>
          </p:spPr>
          <p:txBody>
            <a:bodyPr wrap="none" lIns="0" tIns="0" rIns="0" bIns="0" anchor="t" anchorCtr="0">
              <a:spAutoFit/>
            </a:bodyPr>
            <a:lstStyle/>
            <a:p>
              <a:pPr algn="l"/>
              <a:r>
                <a:rPr lang="zh-CN" sz="1120" b="1" dirty="0">
                  <a:solidFill>
                    <a:srgbClr val="E5624C"/>
                  </a:solidFill>
                  <a:latin typeface="+mn-lt"/>
                  <a:ea typeface="+mn-ea"/>
                  <a:cs typeface="+mn-cs"/>
                </a:rPr>
                <a:t>产品生命周期策略</a:t>
              </a:r>
            </a:p>
          </p:txBody>
        </p:sp>
        <p:sp>
          <p:nvSpPr>
            <p:cNvPr id="72" name="TextBox 72"/>
            <p:cNvSpPr txBox="1"/>
            <p:nvPr/>
          </p:nvSpPr>
          <p:spPr>
            <a:xfrm>
              <a:off x="1138238" y="3693795"/>
              <a:ext cx="857631"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产品引入期：对</a:t>
              </a:r>
            </a:p>
          </p:txBody>
        </p:sp>
        <p:sp>
          <p:nvSpPr>
            <p:cNvPr id="73" name="TextBox 73"/>
            <p:cNvSpPr txBox="1"/>
            <p:nvPr/>
          </p:nvSpPr>
          <p:spPr>
            <a:xfrm>
              <a:off x="1138238" y="3922395"/>
              <a:ext cx="857631"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产品成长期：快</a:t>
              </a:r>
            </a:p>
          </p:txBody>
        </p:sp>
        <p:sp>
          <p:nvSpPr>
            <p:cNvPr id="74" name="TextBox 74"/>
            <p:cNvSpPr txBox="1"/>
            <p:nvPr/>
          </p:nvSpPr>
          <p:spPr>
            <a:xfrm>
              <a:off x="1138238" y="4150995"/>
              <a:ext cx="857631"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产品成熟期：拓</a:t>
              </a:r>
            </a:p>
          </p:txBody>
        </p:sp>
        <p:sp>
          <p:nvSpPr>
            <p:cNvPr id="75" name="TextBox 75"/>
            <p:cNvSpPr txBox="1"/>
            <p:nvPr/>
          </p:nvSpPr>
          <p:spPr>
            <a:xfrm>
              <a:off x="1138238" y="4379595"/>
              <a:ext cx="857631"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产品衰退期：新</a:t>
              </a:r>
            </a:p>
          </p:txBody>
        </p:sp>
        <p:sp>
          <p:nvSpPr>
            <p:cNvPr id="76" name="Freeform 76"/>
            <p:cNvSpPr/>
            <p:nvPr/>
          </p:nvSpPr>
          <p:spPr>
            <a:xfrm>
              <a:off x="3429000" y="3314700"/>
              <a:ext cx="4114800" cy="1314450"/>
            </a:xfrm>
            <a:custGeom>
              <a:avLst/>
              <a:gdLst/>
              <a:ahLst/>
              <a:cxnLst/>
              <a:rect l="l" t="t" r="r" b="b"/>
              <a:pathLst>
                <a:path w="4114800" h="1314450">
                  <a:moveTo>
                    <a:pt x="0" y="0"/>
                  </a:moveTo>
                  <a:lnTo>
                    <a:pt x="0" y="1314450"/>
                  </a:lnTo>
                  <a:lnTo>
                    <a:pt x="4114800" y="1314450"/>
                  </a:lnTo>
                </a:path>
              </a:pathLst>
            </a:custGeom>
            <a:noFill/>
            <a:ln w="14288">
              <a:solidFill>
                <a:srgbClr val="C9CFEA"/>
              </a:solidFill>
            </a:ln>
          </p:spPr>
        </p:sp>
        <p:sp>
          <p:nvSpPr>
            <p:cNvPr id="77" name="Freeform 77"/>
            <p:cNvSpPr/>
            <p:nvPr/>
          </p:nvSpPr>
          <p:spPr>
            <a:xfrm>
              <a:off x="3600450" y="3657600"/>
              <a:ext cx="3524250" cy="781050"/>
            </a:xfrm>
            <a:custGeom>
              <a:avLst/>
              <a:gdLst/>
              <a:ahLst/>
              <a:cxnLst/>
              <a:rect l="l" t="t" r="r" b="b"/>
              <a:pathLst>
                <a:path w="3524250" h="781050">
                  <a:moveTo>
                    <a:pt x="0" y="781050"/>
                  </a:moveTo>
                  <a:cubicBezTo>
                    <a:pt x="685800" y="704850"/>
                    <a:pt x="1162050" y="0"/>
                    <a:pt x="2019300" y="0"/>
                  </a:cubicBezTo>
                  <a:cubicBezTo>
                    <a:pt x="2590800" y="0"/>
                    <a:pt x="2971800" y="342900"/>
                    <a:pt x="3524250" y="190500"/>
                  </a:cubicBezTo>
                </a:path>
              </a:pathLst>
            </a:custGeom>
            <a:noFill/>
            <a:ln w="23812">
              <a:solidFill>
                <a:srgbClr val="E5624C"/>
              </a:solidFill>
            </a:ln>
          </p:spPr>
        </p:sp>
        <p:sp>
          <p:nvSpPr>
            <p:cNvPr id="78" name="Freeform 78"/>
            <p:cNvSpPr/>
            <p:nvPr/>
          </p:nvSpPr>
          <p:spPr>
            <a:xfrm>
              <a:off x="6667500" y="3924300"/>
              <a:ext cx="819150" cy="152400"/>
            </a:xfrm>
            <a:custGeom>
              <a:avLst/>
              <a:gdLst/>
              <a:ahLst/>
              <a:cxnLst/>
              <a:rect l="l" t="t" r="r" b="b"/>
              <a:pathLst>
                <a:path w="819150" h="152400">
                  <a:moveTo>
                    <a:pt x="0" y="19050"/>
                  </a:moveTo>
                  <a:cubicBezTo>
                    <a:pt x="285750" y="152400"/>
                    <a:pt x="590550" y="114300"/>
                    <a:pt x="819150" y="0"/>
                  </a:cubicBezTo>
                </a:path>
              </a:pathLst>
            </a:custGeom>
            <a:noFill/>
            <a:ln w="19050">
              <a:solidFill>
                <a:srgbClr val="E5624C"/>
              </a:solidFill>
              <a:prstDash val="dash"/>
            </a:ln>
          </p:spPr>
        </p:sp>
        <p:sp>
          <p:nvSpPr>
            <p:cNvPr id="79" name="TextBox 79"/>
            <p:cNvSpPr txBox="1"/>
            <p:nvPr/>
          </p:nvSpPr>
          <p:spPr>
            <a:xfrm>
              <a:off x="5294662" y="3424238"/>
              <a:ext cx="1377601" cy="147638"/>
            </a:xfrm>
            <a:prstGeom prst="rect">
              <a:avLst/>
            </a:prstGeom>
            <a:noFill/>
            <a:ln>
              <a:noFill/>
            </a:ln>
          </p:spPr>
          <p:txBody>
            <a:bodyPr wrap="none" lIns="0" tIns="0" rIns="0" bIns="0" anchor="t" anchorCtr="0">
              <a:spAutoFit/>
            </a:bodyPr>
            <a:lstStyle/>
            <a:p>
              <a:pPr algn="r"/>
              <a:r>
                <a:rPr lang="zh-CN" sz="750" dirty="0">
                  <a:solidFill>
                    <a:srgbClr val="705F5B"/>
                  </a:solidFill>
                  <a:latin typeface="+mn-lt"/>
                  <a:ea typeface="+mn-ea"/>
                  <a:cs typeface="+mn-cs"/>
                </a:rPr>
                <a:t>投放新增值（类目人群递次）​</a:t>
              </a:r>
            </a:p>
          </p:txBody>
        </p:sp>
        <p:sp>
          <p:nvSpPr>
            <p:cNvPr id="80" name="TextBox 80"/>
            <p:cNvSpPr txBox="1"/>
            <p:nvPr/>
          </p:nvSpPr>
          <p:spPr>
            <a:xfrm>
              <a:off x="6837998" y="3652838"/>
              <a:ext cx="615315" cy="147638"/>
            </a:xfrm>
            <a:prstGeom prst="rect">
              <a:avLst/>
            </a:prstGeom>
            <a:noFill/>
            <a:ln>
              <a:noFill/>
            </a:ln>
          </p:spPr>
          <p:txBody>
            <a:bodyPr wrap="none" lIns="0" tIns="0" rIns="0" bIns="0" anchor="t" anchorCtr="0">
              <a:spAutoFit/>
            </a:bodyPr>
            <a:lstStyle/>
            <a:p>
              <a:pPr algn="r"/>
              <a:r>
                <a:rPr lang="zh-CN" sz="750" dirty="0">
                  <a:solidFill>
                    <a:srgbClr val="E5624C"/>
                  </a:solidFill>
                  <a:latin typeface="+mn-lt"/>
                  <a:ea typeface="+mn-ea"/>
                  <a:cs typeface="+mn-cs"/>
                </a:rPr>
                <a:t>找到第二曲线</a:t>
              </a:r>
            </a:p>
          </p:txBody>
        </p:sp>
        <p:sp>
          <p:nvSpPr>
            <p:cNvPr id="81" name="TextBox 81"/>
            <p:cNvSpPr txBox="1"/>
            <p:nvPr/>
          </p:nvSpPr>
          <p:spPr>
            <a:xfrm>
              <a:off x="3648075" y="4700588"/>
              <a:ext cx="51435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产品引入期</a:t>
              </a:r>
            </a:p>
          </p:txBody>
        </p:sp>
        <p:sp>
          <p:nvSpPr>
            <p:cNvPr id="82" name="TextBox 82"/>
            <p:cNvSpPr txBox="1"/>
            <p:nvPr/>
          </p:nvSpPr>
          <p:spPr>
            <a:xfrm>
              <a:off x="4791075" y="4700588"/>
              <a:ext cx="51435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产品成长期</a:t>
              </a:r>
            </a:p>
          </p:txBody>
        </p:sp>
        <p:sp>
          <p:nvSpPr>
            <p:cNvPr id="83" name="TextBox 83"/>
            <p:cNvSpPr txBox="1"/>
            <p:nvPr/>
          </p:nvSpPr>
          <p:spPr>
            <a:xfrm>
              <a:off x="5934075" y="4700588"/>
              <a:ext cx="51435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产品成熟期</a:t>
              </a:r>
            </a:p>
          </p:txBody>
        </p:sp>
        <p:sp>
          <p:nvSpPr>
            <p:cNvPr id="84" name="TextBox 84"/>
            <p:cNvSpPr txBox="1"/>
            <p:nvPr/>
          </p:nvSpPr>
          <p:spPr>
            <a:xfrm>
              <a:off x="7000875" y="4700588"/>
              <a:ext cx="514350"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产品衰退期</a:t>
              </a:r>
            </a:p>
          </p:txBody>
        </p:sp>
      </p:grpSp>
      <p:grpSp>
        <p:nvGrpSpPr>
          <p:cNvPr id="96" name="cell-kfs"/>
          <p:cNvGrpSpPr/>
          <p:nvPr/>
        </p:nvGrpSpPr>
        <p:grpSpPr>
          <a:xfrm>
            <a:off x="7743825" y="3124200"/>
            <a:ext cx="2466975" cy="1714500"/>
            <a:chOff x="7743825" y="3124200"/>
            <a:chExt cx="2466975" cy="1714500"/>
          </a:xfrm>
        </p:grpSpPr>
        <p:sp>
          <p:nvSpPr>
            <p:cNvPr id="86" name="Rectangle 86"/>
            <p:cNvSpPr/>
            <p:nvPr/>
          </p:nvSpPr>
          <p:spPr>
            <a:xfrm>
              <a:off x="7743825" y="3124200"/>
              <a:ext cx="2466975" cy="1714500"/>
            </a:xfrm>
            <a:prstGeom prst="rect">
              <a:avLst/>
            </a:prstGeom>
            <a:solidFill>
              <a:srgbClr val="FFFFFF"/>
            </a:solidFill>
            <a:ln w="9525">
              <a:solidFill>
                <a:srgbClr val="E4E7F5"/>
              </a:solidFill>
            </a:ln>
          </p:spPr>
        </p:sp>
        <p:sp>
          <p:nvSpPr>
            <p:cNvPr id="87" name="TextBox 87"/>
            <p:cNvSpPr txBox="1"/>
            <p:nvPr/>
          </p:nvSpPr>
          <p:spPr>
            <a:xfrm>
              <a:off x="8695474" y="3319701"/>
              <a:ext cx="554152" cy="198025"/>
            </a:xfrm>
            <a:prstGeom prst="rect">
              <a:avLst/>
            </a:prstGeom>
            <a:noFill/>
            <a:ln>
              <a:noFill/>
            </a:ln>
          </p:spPr>
          <p:txBody>
            <a:bodyPr wrap="none" lIns="0" tIns="0" rIns="0" bIns="0" anchor="t" anchorCtr="0">
              <a:spAutoFit/>
            </a:bodyPr>
            <a:lstStyle/>
            <a:p>
              <a:pPr algn="ctr"/>
              <a:r>
                <a:rPr lang="zh-CN" sz="1010" b="1" dirty="0">
                  <a:solidFill>
                    <a:srgbClr val="E5624C"/>
                  </a:solidFill>
                  <a:latin typeface="+mn-lt"/>
                  <a:ea typeface="+mn-ea"/>
                  <a:cs typeface="+mn-cs"/>
                </a:rPr>
                <a:t>强调搜索</a:t>
              </a:r>
            </a:p>
          </p:txBody>
        </p:sp>
        <p:sp>
          <p:nvSpPr>
            <p:cNvPr id="88" name="Ellipse 88"/>
            <p:cNvSpPr/>
            <p:nvPr/>
          </p:nvSpPr>
          <p:spPr>
            <a:xfrm>
              <a:off x="8382000" y="3638550"/>
              <a:ext cx="304800" cy="304800"/>
            </a:xfrm>
            <a:prstGeom prst="ellipse">
              <a:avLst/>
            </a:prstGeom>
            <a:solidFill>
              <a:srgbClr val="E5624C"/>
            </a:solidFill>
            <a:ln>
              <a:noFill/>
            </a:ln>
          </p:spPr>
        </p:sp>
        <p:sp>
          <p:nvSpPr>
            <p:cNvPr id="89" name="Ellipse 89"/>
            <p:cNvSpPr/>
            <p:nvPr/>
          </p:nvSpPr>
          <p:spPr>
            <a:xfrm>
              <a:off x="8820150" y="3638550"/>
              <a:ext cx="304800" cy="304800"/>
            </a:xfrm>
            <a:prstGeom prst="ellipse">
              <a:avLst/>
            </a:prstGeom>
            <a:solidFill>
              <a:srgbClr val="ED8776"/>
            </a:solidFill>
            <a:ln>
              <a:noFill/>
            </a:ln>
          </p:spPr>
        </p:sp>
        <p:sp>
          <p:nvSpPr>
            <p:cNvPr id="90" name="Ellipse 90"/>
            <p:cNvSpPr/>
            <p:nvPr/>
          </p:nvSpPr>
          <p:spPr>
            <a:xfrm>
              <a:off x="9258300" y="3638550"/>
              <a:ext cx="304800" cy="304800"/>
            </a:xfrm>
            <a:prstGeom prst="ellipse">
              <a:avLst/>
            </a:prstGeom>
            <a:solidFill>
              <a:srgbClr val="D47D6B"/>
            </a:solidFill>
            <a:ln>
              <a:noFill/>
            </a:ln>
          </p:spPr>
        </p:sp>
        <p:sp>
          <p:nvSpPr>
            <p:cNvPr id="91" name="TextBox 91"/>
            <p:cNvSpPr txBox="1"/>
            <p:nvPr/>
          </p:nvSpPr>
          <p:spPr>
            <a:xfrm>
              <a:off x="8482685" y="37266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K</a:t>
              </a:r>
            </a:p>
          </p:txBody>
        </p:sp>
        <p:sp>
          <p:nvSpPr>
            <p:cNvPr id="92" name="TextBox 92"/>
            <p:cNvSpPr txBox="1"/>
            <p:nvPr/>
          </p:nvSpPr>
          <p:spPr>
            <a:xfrm>
              <a:off x="8920835" y="37266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F</a:t>
              </a:r>
            </a:p>
          </p:txBody>
        </p:sp>
        <p:sp>
          <p:nvSpPr>
            <p:cNvPr id="93" name="TextBox 93"/>
            <p:cNvSpPr txBox="1"/>
            <p:nvPr/>
          </p:nvSpPr>
          <p:spPr>
            <a:xfrm>
              <a:off x="9358985" y="37266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S</a:t>
              </a:r>
            </a:p>
          </p:txBody>
        </p:sp>
        <p:sp>
          <p:nvSpPr>
            <p:cNvPr id="94" name="TextBox 94"/>
            <p:cNvSpPr txBox="1"/>
            <p:nvPr/>
          </p:nvSpPr>
          <p:spPr>
            <a:xfrm>
              <a:off x="8609390" y="4101941"/>
              <a:ext cx="72632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Kol-KOL内容​</a:t>
              </a:r>
            </a:p>
          </p:txBody>
        </p:sp>
        <p:sp>
          <p:nvSpPr>
            <p:cNvPr id="95" name="TextBox 95"/>
            <p:cNvSpPr txBox="1"/>
            <p:nvPr/>
          </p:nvSpPr>
          <p:spPr>
            <a:xfrm>
              <a:off x="8217369" y="4353639"/>
              <a:ext cx="1510361"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Feed信息流　Search搜索占位​</a:t>
              </a:r>
            </a:p>
          </p:txBody>
        </p:sp>
      </p:grpSp>
      <p:grpSp>
        <p:nvGrpSpPr>
          <p:cNvPr id="101" name="cell-tools-xhs"/>
          <p:cNvGrpSpPr/>
          <p:nvPr/>
        </p:nvGrpSpPr>
        <p:grpSpPr>
          <a:xfrm>
            <a:off x="10258425" y="3124200"/>
            <a:ext cx="1590675" cy="1714500"/>
            <a:chOff x="10258425" y="3124200"/>
            <a:chExt cx="1590675" cy="1714500"/>
          </a:xfrm>
        </p:grpSpPr>
        <p:sp>
          <p:nvSpPr>
            <p:cNvPr id="97" name="Rectangle 97"/>
            <p:cNvSpPr/>
            <p:nvPr/>
          </p:nvSpPr>
          <p:spPr>
            <a:xfrm>
              <a:off x="10258425" y="3124200"/>
              <a:ext cx="1590675" cy="1714500"/>
            </a:xfrm>
            <a:prstGeom prst="rect">
              <a:avLst/>
            </a:prstGeom>
            <a:solidFill>
              <a:srgbClr val="FFFFFF"/>
            </a:solidFill>
            <a:ln w="9525">
              <a:solidFill>
                <a:srgbClr val="E4E7F5"/>
              </a:solidFill>
            </a:ln>
          </p:spPr>
        </p:sp>
        <p:sp>
          <p:nvSpPr>
            <p:cNvPr id="98" name="TextBox 98"/>
            <p:cNvSpPr txBox="1"/>
            <p:nvPr/>
          </p:nvSpPr>
          <p:spPr>
            <a:xfrm>
              <a:off x="10377488" y="3511391"/>
              <a:ext cx="793283"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灵犀—数据洞察​</a:t>
              </a:r>
            </a:p>
          </p:txBody>
        </p:sp>
        <p:sp>
          <p:nvSpPr>
            <p:cNvPr id="99" name="TextBox 99"/>
            <p:cNvSpPr txBox="1"/>
            <p:nvPr/>
          </p:nvSpPr>
          <p:spPr>
            <a:xfrm>
              <a:off x="10377488" y="3968591"/>
              <a:ext cx="90210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蒲公英—KOL投放​</a:t>
              </a:r>
            </a:p>
          </p:txBody>
        </p:sp>
        <p:sp>
          <p:nvSpPr>
            <p:cNvPr id="100" name="TextBox 100"/>
            <p:cNvSpPr txBox="1"/>
            <p:nvPr/>
          </p:nvSpPr>
          <p:spPr>
            <a:xfrm>
              <a:off x="10377488" y="4425791"/>
              <a:ext cx="793283"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聚光—流量投放​</a:t>
              </a:r>
            </a:p>
          </p:txBody>
        </p:sp>
      </p:grpSp>
      <p:grpSp>
        <p:nvGrpSpPr>
          <p:cNvPr id="126" name="cell-5s"/>
          <p:cNvGrpSpPr/>
          <p:nvPr/>
        </p:nvGrpSpPr>
        <p:grpSpPr>
          <a:xfrm>
            <a:off x="876300" y="4914900"/>
            <a:ext cx="6781800" cy="1619250"/>
            <a:chOff x="876300" y="4914900"/>
            <a:chExt cx="6781800" cy="1619250"/>
          </a:xfrm>
        </p:grpSpPr>
        <p:sp>
          <p:nvSpPr>
            <p:cNvPr id="102" name="Rectangle 102"/>
            <p:cNvSpPr/>
            <p:nvPr/>
          </p:nvSpPr>
          <p:spPr>
            <a:xfrm>
              <a:off x="876300" y="4914900"/>
              <a:ext cx="6781800" cy="1619250"/>
            </a:xfrm>
            <a:prstGeom prst="rect">
              <a:avLst/>
            </a:prstGeom>
            <a:solidFill>
              <a:srgbClr val="FFFFFF"/>
            </a:solidFill>
            <a:ln w="9525">
              <a:solidFill>
                <a:srgbClr val="E4E7F5"/>
              </a:solidFill>
            </a:ln>
          </p:spPr>
        </p:sp>
        <p:sp>
          <p:nvSpPr>
            <p:cNvPr id="103" name="TextBox 103"/>
            <p:cNvSpPr txBox="1"/>
            <p:nvPr/>
          </p:nvSpPr>
          <p:spPr>
            <a:xfrm>
              <a:off x="1137285" y="5136356"/>
              <a:ext cx="195432" cy="220028"/>
            </a:xfrm>
            <a:prstGeom prst="rect">
              <a:avLst/>
            </a:prstGeom>
            <a:noFill/>
            <a:ln>
              <a:noFill/>
            </a:ln>
          </p:spPr>
          <p:txBody>
            <a:bodyPr wrap="none" lIns="0" tIns="0" rIns="0" bIns="0" anchor="t" anchorCtr="0">
              <a:spAutoFit/>
            </a:bodyPr>
            <a:lstStyle/>
            <a:p>
              <a:pPr algn="l"/>
              <a:r>
                <a:rPr lang="en-US" sz="1120" b="1" dirty="0">
                  <a:solidFill>
                    <a:srgbClr val="E5624C"/>
                  </a:solidFill>
                  <a:latin typeface="+mn-lt"/>
                  <a:ea typeface="+mn-ea"/>
                  <a:cs typeface="+mn-cs"/>
                </a:rPr>
                <a:t>5S</a:t>
              </a:r>
            </a:p>
          </p:txBody>
        </p:sp>
        <p:sp>
          <p:nvSpPr>
            <p:cNvPr id="104" name="TextBox 104"/>
            <p:cNvSpPr txBox="1"/>
            <p:nvPr/>
          </p:nvSpPr>
          <p:spPr>
            <a:xfrm>
              <a:off x="1138238" y="5431393"/>
              <a:ext cx="166277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Sufficient distribution-分销​</a:t>
              </a:r>
            </a:p>
          </p:txBody>
        </p:sp>
        <p:sp>
          <p:nvSpPr>
            <p:cNvPr id="105" name="TextBox 105"/>
            <p:cNvSpPr txBox="1"/>
            <p:nvPr/>
          </p:nvSpPr>
          <p:spPr>
            <a:xfrm>
              <a:off x="1138238" y="5640943"/>
              <a:ext cx="1176826"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Self operation-直播​</a:t>
              </a:r>
            </a:p>
          </p:txBody>
        </p:sp>
        <p:sp>
          <p:nvSpPr>
            <p:cNvPr id="106" name="TextBox 106"/>
            <p:cNvSpPr txBox="1"/>
            <p:nvPr/>
          </p:nvSpPr>
          <p:spPr>
            <a:xfrm>
              <a:off x="1138238" y="5850493"/>
              <a:ext cx="806897"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Store-泛货架​</a:t>
              </a:r>
            </a:p>
          </p:txBody>
        </p:sp>
        <p:sp>
          <p:nvSpPr>
            <p:cNvPr id="107" name="TextBox 107"/>
            <p:cNvSpPr txBox="1"/>
            <p:nvPr/>
          </p:nvSpPr>
          <p:spPr>
            <a:xfrm>
              <a:off x="1138238" y="6060043"/>
              <a:ext cx="1564752"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Superior content-优质内容​</a:t>
              </a:r>
            </a:p>
          </p:txBody>
        </p:sp>
        <p:sp>
          <p:nvSpPr>
            <p:cNvPr id="108" name="TextBox 108"/>
            <p:cNvSpPr txBox="1"/>
            <p:nvPr/>
          </p:nvSpPr>
          <p:spPr>
            <a:xfrm>
              <a:off x="1138238" y="6269593"/>
              <a:ext cx="957009"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Supply-低价好物​</a:t>
              </a:r>
            </a:p>
          </p:txBody>
        </p:sp>
        <p:sp>
          <p:nvSpPr>
            <p:cNvPr id="109" name="Rectangle 109"/>
            <p:cNvSpPr/>
            <p:nvPr/>
          </p:nvSpPr>
          <p:spPr>
            <a:xfrm>
              <a:off x="3810000" y="5143500"/>
              <a:ext cx="3429000" cy="228600"/>
            </a:xfrm>
            <a:prstGeom prst="roundRect">
              <a:avLst>
                <a:gd name="adj" fmla="val 50000"/>
              </a:avLst>
            </a:prstGeom>
            <a:gradFill>
              <a:gsLst>
                <a:gs pos="0">
                  <a:srgbClr val="C1553F"/>
                </a:gs>
                <a:gs pos="100000">
                  <a:srgbClr val="CE897B"/>
                </a:gs>
              </a:gsLst>
              <a:lin ang="0" scaled="1"/>
            </a:gradFill>
            <a:ln>
              <a:noFill/>
            </a:ln>
          </p:spPr>
        </p:sp>
        <p:sp>
          <p:nvSpPr>
            <p:cNvPr id="110" name="TextBox 110"/>
            <p:cNvSpPr txBox="1"/>
            <p:nvPr/>
          </p:nvSpPr>
          <p:spPr>
            <a:xfrm>
              <a:off x="5078184" y="5216366"/>
              <a:ext cx="89263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消费者美好的生活</a:t>
              </a:r>
            </a:p>
          </p:txBody>
        </p:sp>
        <p:sp>
          <p:nvSpPr>
            <p:cNvPr id="111" name="Ellipse 111"/>
            <p:cNvSpPr/>
            <p:nvPr/>
          </p:nvSpPr>
          <p:spPr>
            <a:xfrm>
              <a:off x="4019550" y="5638800"/>
              <a:ext cx="457200" cy="457200"/>
            </a:xfrm>
            <a:prstGeom prst="ellipse">
              <a:avLst/>
            </a:prstGeom>
            <a:solidFill>
              <a:srgbClr val="D47D6B"/>
            </a:solidFill>
            <a:ln>
              <a:noFill/>
            </a:ln>
          </p:spPr>
        </p:sp>
        <p:sp>
          <p:nvSpPr>
            <p:cNvPr id="112" name="TextBox 112"/>
            <p:cNvSpPr txBox="1"/>
            <p:nvPr/>
          </p:nvSpPr>
          <p:spPr>
            <a:xfrm>
              <a:off x="4100017" y="5761911"/>
              <a:ext cx="29626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内容场</a:t>
              </a:r>
            </a:p>
          </p:txBody>
        </p:sp>
        <p:sp>
          <p:nvSpPr>
            <p:cNvPr id="113" name="TextBox 113"/>
            <p:cNvSpPr txBox="1"/>
            <p:nvPr/>
          </p:nvSpPr>
          <p:spPr>
            <a:xfrm>
              <a:off x="4034188" y="5901928"/>
              <a:ext cx="427924" cy="111919"/>
            </a:xfrm>
            <a:prstGeom prst="rect">
              <a:avLst/>
            </a:prstGeom>
            <a:noFill/>
            <a:ln>
              <a:noFill/>
            </a:ln>
          </p:spPr>
          <p:txBody>
            <a:bodyPr wrap="none" lIns="0" tIns="0" rIns="0" bIns="0" anchor="t" anchorCtr="0">
              <a:spAutoFit/>
            </a:bodyPr>
            <a:lstStyle/>
            <a:p>
              <a:pPr algn="ctr"/>
              <a:r>
                <a:rPr lang="zh-CN" sz="560" dirty="0">
                  <a:solidFill>
                    <a:srgbClr val="DCE0F5"/>
                  </a:solidFill>
                  <a:latin typeface="+mn-lt"/>
                  <a:ea typeface="+mn-ea"/>
                  <a:cs typeface="+mn-cs"/>
                </a:rPr>
                <a:t>短视频/直播</a:t>
              </a:r>
            </a:p>
          </p:txBody>
        </p:sp>
        <p:sp>
          <p:nvSpPr>
            <p:cNvPr id="114" name="Rectangle 114"/>
            <p:cNvSpPr/>
            <p:nvPr/>
          </p:nvSpPr>
          <p:spPr>
            <a:xfrm>
              <a:off x="4552950" y="5791200"/>
              <a:ext cx="419100" cy="171450"/>
            </a:xfrm>
            <a:prstGeom prst="roundRect">
              <a:avLst>
                <a:gd name="adj" fmla="val 50000"/>
              </a:avLst>
            </a:prstGeom>
            <a:solidFill>
              <a:srgbClr val="E5624C"/>
            </a:solidFill>
            <a:ln>
              <a:noFill/>
            </a:ln>
          </p:spPr>
        </p:sp>
        <p:sp>
          <p:nvSpPr>
            <p:cNvPr id="115" name="TextBox 115"/>
            <p:cNvSpPr txBox="1"/>
            <p:nvPr/>
          </p:nvSpPr>
          <p:spPr>
            <a:xfrm>
              <a:off x="4662157" y="5838111"/>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分销</a:t>
              </a:r>
            </a:p>
          </p:txBody>
        </p:sp>
        <p:sp>
          <p:nvSpPr>
            <p:cNvPr id="116" name="Ellipse 116"/>
            <p:cNvSpPr/>
            <p:nvPr/>
          </p:nvSpPr>
          <p:spPr>
            <a:xfrm>
              <a:off x="5238750" y="5581650"/>
              <a:ext cx="571500" cy="571500"/>
            </a:xfrm>
            <a:prstGeom prst="ellipse">
              <a:avLst/>
            </a:prstGeom>
            <a:solidFill>
              <a:srgbClr val="C1553F"/>
            </a:solidFill>
            <a:ln>
              <a:noFill/>
            </a:ln>
          </p:spPr>
        </p:sp>
        <p:sp>
          <p:nvSpPr>
            <p:cNvPr id="117" name="TextBox 117"/>
            <p:cNvSpPr txBox="1"/>
            <p:nvPr/>
          </p:nvSpPr>
          <p:spPr>
            <a:xfrm>
              <a:off x="5393195" y="581382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店铺</a:t>
              </a:r>
            </a:p>
          </p:txBody>
        </p:sp>
        <p:sp>
          <p:nvSpPr>
            <p:cNvPr id="118" name="Ellipse 118"/>
            <p:cNvSpPr/>
            <p:nvPr/>
          </p:nvSpPr>
          <p:spPr>
            <a:xfrm>
              <a:off x="6305550" y="5638800"/>
              <a:ext cx="381000" cy="381000"/>
            </a:xfrm>
            <a:prstGeom prst="ellipse">
              <a:avLst/>
            </a:prstGeom>
            <a:solidFill>
              <a:srgbClr val="E5624C"/>
            </a:solidFill>
            <a:ln>
              <a:noFill/>
            </a:ln>
          </p:spPr>
        </p:sp>
        <p:sp>
          <p:nvSpPr>
            <p:cNvPr id="119" name="TextBox 119"/>
            <p:cNvSpPr txBox="1"/>
            <p:nvPr/>
          </p:nvSpPr>
          <p:spPr>
            <a:xfrm>
              <a:off x="6395707" y="5790486"/>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商城</a:t>
              </a:r>
            </a:p>
          </p:txBody>
        </p:sp>
        <p:sp>
          <p:nvSpPr>
            <p:cNvPr id="120" name="Ellipse 120"/>
            <p:cNvSpPr/>
            <p:nvPr/>
          </p:nvSpPr>
          <p:spPr>
            <a:xfrm>
              <a:off x="6743700" y="5638800"/>
              <a:ext cx="457200" cy="457200"/>
            </a:xfrm>
            <a:prstGeom prst="ellipse">
              <a:avLst/>
            </a:prstGeom>
            <a:solidFill>
              <a:srgbClr val="ED8776"/>
            </a:solidFill>
            <a:ln>
              <a:noFill/>
            </a:ln>
          </p:spPr>
        </p:sp>
        <p:sp>
          <p:nvSpPr>
            <p:cNvPr id="121" name="TextBox 121"/>
            <p:cNvSpPr txBox="1"/>
            <p:nvPr/>
          </p:nvSpPr>
          <p:spPr>
            <a:xfrm>
              <a:off x="6824167" y="5761911"/>
              <a:ext cx="29626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货架场</a:t>
              </a:r>
            </a:p>
          </p:txBody>
        </p:sp>
        <p:sp>
          <p:nvSpPr>
            <p:cNvPr id="122" name="TextBox 122"/>
            <p:cNvSpPr txBox="1"/>
            <p:nvPr/>
          </p:nvSpPr>
          <p:spPr>
            <a:xfrm>
              <a:off x="6720644" y="5901928"/>
              <a:ext cx="503311" cy="111919"/>
            </a:xfrm>
            <a:prstGeom prst="rect">
              <a:avLst/>
            </a:prstGeom>
            <a:noFill/>
            <a:ln>
              <a:noFill/>
            </a:ln>
          </p:spPr>
          <p:txBody>
            <a:bodyPr wrap="none" lIns="0" tIns="0" rIns="0" bIns="0" anchor="t" anchorCtr="0">
              <a:spAutoFit/>
            </a:bodyPr>
            <a:lstStyle/>
            <a:p>
              <a:pPr algn="ctr"/>
              <a:r>
                <a:rPr lang="zh-CN" sz="560" dirty="0">
                  <a:solidFill>
                    <a:srgbClr val="FBE3DC"/>
                  </a:solidFill>
                  <a:latin typeface="+mn-lt"/>
                  <a:ea typeface="+mn-ea"/>
                  <a:cs typeface="+mn-cs"/>
                </a:rPr>
                <a:t>搜索/货架流量</a:t>
              </a:r>
            </a:p>
          </p:txBody>
        </p:sp>
        <p:sp>
          <p:nvSpPr>
            <p:cNvPr id="123" name="TextBox 123"/>
            <p:cNvSpPr txBox="1"/>
            <p:nvPr/>
          </p:nvSpPr>
          <p:spPr>
            <a:xfrm>
              <a:off x="3995738" y="5417582"/>
              <a:ext cx="526466" cy="126206"/>
            </a:xfrm>
            <a:prstGeom prst="rect">
              <a:avLst/>
            </a:prstGeom>
            <a:noFill/>
            <a:ln>
              <a:noFill/>
            </a:ln>
          </p:spPr>
          <p:txBody>
            <a:bodyPr wrap="none" lIns="0" tIns="0" rIns="0" bIns="0" anchor="t" anchorCtr="0">
              <a:spAutoFit/>
            </a:bodyPr>
            <a:lstStyle/>
            <a:p>
              <a:pPr algn="l"/>
              <a:r>
                <a:rPr lang="zh-CN" sz="640" dirty="0">
                  <a:solidFill>
                    <a:srgbClr val="8A90A5"/>
                  </a:solidFill>
                  <a:latin typeface="+mn-lt"/>
                  <a:ea typeface="+mn-ea"/>
                  <a:cs typeface="+mn-cs"/>
                </a:rPr>
                <a:t>推荐流量曝光</a:t>
              </a:r>
            </a:p>
          </p:txBody>
        </p:sp>
        <p:sp>
          <p:nvSpPr>
            <p:cNvPr id="124" name="Rectangle 124"/>
            <p:cNvSpPr/>
            <p:nvPr/>
          </p:nvSpPr>
          <p:spPr>
            <a:xfrm>
              <a:off x="4000500" y="6229350"/>
              <a:ext cx="3238500" cy="209550"/>
            </a:xfrm>
            <a:prstGeom prst="roundRect">
              <a:avLst>
                <a:gd name="adj" fmla="val 50000"/>
              </a:avLst>
            </a:prstGeom>
            <a:solidFill>
              <a:srgbClr val="FDF0EC"/>
            </a:solidFill>
            <a:ln w="9525">
              <a:solidFill>
                <a:srgbClr val="ED8776"/>
              </a:solidFill>
            </a:ln>
          </p:spPr>
        </p:sp>
        <p:sp>
          <p:nvSpPr>
            <p:cNvPr id="125" name="TextBox 125"/>
            <p:cNvSpPr txBox="1"/>
            <p:nvPr/>
          </p:nvSpPr>
          <p:spPr>
            <a:xfrm>
              <a:off x="5000817" y="6287214"/>
              <a:ext cx="1237865" cy="154781"/>
            </a:xfrm>
            <a:prstGeom prst="rect">
              <a:avLst/>
            </a:prstGeom>
            <a:noFill/>
            <a:ln>
              <a:noFill/>
            </a:ln>
          </p:spPr>
          <p:txBody>
            <a:bodyPr wrap="none" lIns="0" tIns="0" rIns="0" bIns="0" anchor="t" anchorCtr="0">
              <a:spAutoFit/>
            </a:bodyPr>
            <a:lstStyle/>
            <a:p>
              <a:pPr algn="ctr"/>
              <a:r>
                <a:rPr lang="zh-CN" sz="790" dirty="0">
                  <a:solidFill>
                    <a:srgbClr val="E5624C"/>
                  </a:solidFill>
                  <a:latin typeface="+mn-lt"/>
                  <a:ea typeface="+mn-ea"/>
                  <a:cs typeface="+mn-cs"/>
                </a:rPr>
                <a:t>商家-低价好物、优质内容</a:t>
              </a:r>
            </a:p>
          </p:txBody>
        </p:sp>
      </p:grpSp>
      <p:grpSp>
        <p:nvGrpSpPr>
          <p:cNvPr id="139" name="cell-nice"/>
          <p:cNvGrpSpPr/>
          <p:nvPr/>
        </p:nvGrpSpPr>
        <p:grpSpPr>
          <a:xfrm>
            <a:off x="7743825" y="4914900"/>
            <a:ext cx="2466975" cy="1619250"/>
            <a:chOff x="7743825" y="4914900"/>
            <a:chExt cx="2466975" cy="1619250"/>
          </a:xfrm>
        </p:grpSpPr>
        <p:sp>
          <p:nvSpPr>
            <p:cNvPr id="127" name="Rectangle 127"/>
            <p:cNvSpPr/>
            <p:nvPr/>
          </p:nvSpPr>
          <p:spPr>
            <a:xfrm>
              <a:off x="7743825" y="4914900"/>
              <a:ext cx="2466975" cy="1619250"/>
            </a:xfrm>
            <a:prstGeom prst="rect">
              <a:avLst/>
            </a:prstGeom>
            <a:solidFill>
              <a:srgbClr val="FFFFFF"/>
            </a:solidFill>
            <a:ln w="9525">
              <a:solidFill>
                <a:srgbClr val="E4E7F5"/>
              </a:solidFill>
            </a:ln>
          </p:spPr>
        </p:sp>
        <p:sp>
          <p:nvSpPr>
            <p:cNvPr id="128" name="TextBox 128"/>
            <p:cNvSpPr txBox="1"/>
            <p:nvPr/>
          </p:nvSpPr>
          <p:spPr>
            <a:xfrm>
              <a:off x="8627491" y="5110401"/>
              <a:ext cx="690118" cy="198025"/>
            </a:xfrm>
            <a:prstGeom prst="rect">
              <a:avLst/>
            </a:prstGeom>
            <a:noFill/>
            <a:ln>
              <a:noFill/>
            </a:ln>
          </p:spPr>
          <p:txBody>
            <a:bodyPr wrap="none" lIns="0" tIns="0" rIns="0" bIns="0" anchor="t" anchorCtr="0">
              <a:spAutoFit/>
            </a:bodyPr>
            <a:lstStyle/>
            <a:p>
              <a:pPr algn="ctr"/>
              <a:r>
                <a:rPr lang="zh-CN" sz="1010" b="1" dirty="0">
                  <a:solidFill>
                    <a:srgbClr val="E5624C"/>
                  </a:solidFill>
                  <a:latin typeface="+mn-lt"/>
                  <a:ea typeface="+mn-ea"/>
                  <a:cs typeface="+mn-cs"/>
                </a:rPr>
                <a:t>重链路闭环</a:t>
              </a:r>
            </a:p>
          </p:txBody>
        </p:sp>
        <p:sp>
          <p:nvSpPr>
            <p:cNvPr id="129" name="Ellipse 129"/>
            <p:cNvSpPr/>
            <p:nvPr/>
          </p:nvSpPr>
          <p:spPr>
            <a:xfrm>
              <a:off x="8286750" y="5429250"/>
              <a:ext cx="304800" cy="304800"/>
            </a:xfrm>
            <a:prstGeom prst="ellipse">
              <a:avLst/>
            </a:prstGeom>
            <a:solidFill>
              <a:srgbClr val="D47D6B"/>
            </a:solidFill>
            <a:ln>
              <a:noFill/>
            </a:ln>
          </p:spPr>
        </p:sp>
        <p:sp>
          <p:nvSpPr>
            <p:cNvPr id="130" name="Ellipse 130"/>
            <p:cNvSpPr/>
            <p:nvPr/>
          </p:nvSpPr>
          <p:spPr>
            <a:xfrm>
              <a:off x="8648700" y="5429250"/>
              <a:ext cx="304800" cy="304800"/>
            </a:xfrm>
            <a:prstGeom prst="ellipse">
              <a:avLst/>
            </a:prstGeom>
            <a:solidFill>
              <a:srgbClr val="D47D6B"/>
            </a:solidFill>
            <a:ln>
              <a:noFill/>
            </a:ln>
          </p:spPr>
        </p:sp>
        <p:sp>
          <p:nvSpPr>
            <p:cNvPr id="131" name="Ellipse 131"/>
            <p:cNvSpPr/>
            <p:nvPr/>
          </p:nvSpPr>
          <p:spPr>
            <a:xfrm>
              <a:off x="9010650" y="5429250"/>
              <a:ext cx="304800" cy="304800"/>
            </a:xfrm>
            <a:prstGeom prst="ellipse">
              <a:avLst/>
            </a:prstGeom>
            <a:solidFill>
              <a:srgbClr val="D47D6B"/>
            </a:solidFill>
            <a:ln>
              <a:noFill/>
            </a:ln>
          </p:spPr>
        </p:sp>
        <p:sp>
          <p:nvSpPr>
            <p:cNvPr id="132" name="Ellipse 132"/>
            <p:cNvSpPr/>
            <p:nvPr/>
          </p:nvSpPr>
          <p:spPr>
            <a:xfrm>
              <a:off x="9372600" y="5429250"/>
              <a:ext cx="304800" cy="304800"/>
            </a:xfrm>
            <a:prstGeom prst="ellipse">
              <a:avLst/>
            </a:prstGeom>
            <a:solidFill>
              <a:srgbClr val="D47D6B"/>
            </a:solidFill>
            <a:ln>
              <a:noFill/>
            </a:ln>
          </p:spPr>
        </p:sp>
        <p:sp>
          <p:nvSpPr>
            <p:cNvPr id="133" name="TextBox 133"/>
            <p:cNvSpPr txBox="1"/>
            <p:nvPr/>
          </p:nvSpPr>
          <p:spPr>
            <a:xfrm>
              <a:off x="8387435" y="55173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N</a:t>
              </a:r>
            </a:p>
          </p:txBody>
        </p:sp>
        <p:sp>
          <p:nvSpPr>
            <p:cNvPr id="134" name="TextBox 134"/>
            <p:cNvSpPr txBox="1"/>
            <p:nvPr/>
          </p:nvSpPr>
          <p:spPr>
            <a:xfrm>
              <a:off x="8770294" y="5517356"/>
              <a:ext cx="61612"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I</a:t>
              </a:r>
            </a:p>
          </p:txBody>
        </p:sp>
        <p:sp>
          <p:nvSpPr>
            <p:cNvPr id="135" name="TextBox 135"/>
            <p:cNvSpPr txBox="1"/>
            <p:nvPr/>
          </p:nvSpPr>
          <p:spPr>
            <a:xfrm>
              <a:off x="9111335" y="55173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C</a:t>
              </a:r>
            </a:p>
          </p:txBody>
        </p:sp>
        <p:sp>
          <p:nvSpPr>
            <p:cNvPr id="136" name="TextBox 136"/>
            <p:cNvSpPr txBox="1"/>
            <p:nvPr/>
          </p:nvSpPr>
          <p:spPr>
            <a:xfrm>
              <a:off x="9473285" y="5517356"/>
              <a:ext cx="103431"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E</a:t>
              </a:r>
            </a:p>
          </p:txBody>
        </p:sp>
        <p:sp>
          <p:nvSpPr>
            <p:cNvPr id="137" name="TextBox 137"/>
            <p:cNvSpPr txBox="1"/>
            <p:nvPr/>
          </p:nvSpPr>
          <p:spPr>
            <a:xfrm>
              <a:off x="8082049" y="5896689"/>
              <a:ext cx="1781002"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Native原生内容　Influencer影响者​</a:t>
              </a:r>
            </a:p>
          </p:txBody>
        </p:sp>
        <p:sp>
          <p:nvSpPr>
            <p:cNvPr id="138" name="TextBox 138"/>
            <p:cNvSpPr txBox="1"/>
            <p:nvPr/>
          </p:nvSpPr>
          <p:spPr>
            <a:xfrm>
              <a:off x="8164495" y="6125289"/>
              <a:ext cx="1616109"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Cycle闭环营销　Evaluation数评​</a:t>
              </a:r>
            </a:p>
          </p:txBody>
        </p:sp>
      </p:grpSp>
      <p:grpSp>
        <p:nvGrpSpPr>
          <p:cNvPr id="146" name="cell-tools-ks"/>
          <p:cNvGrpSpPr/>
          <p:nvPr/>
        </p:nvGrpSpPr>
        <p:grpSpPr>
          <a:xfrm>
            <a:off x="10258425" y="4914900"/>
            <a:ext cx="1590675" cy="1619250"/>
            <a:chOff x="10258425" y="4914900"/>
            <a:chExt cx="1590675" cy="1619250"/>
          </a:xfrm>
        </p:grpSpPr>
        <p:sp>
          <p:nvSpPr>
            <p:cNvPr id="140" name="Rectangle 140"/>
            <p:cNvSpPr/>
            <p:nvPr/>
          </p:nvSpPr>
          <p:spPr>
            <a:xfrm>
              <a:off x="10258425" y="4914900"/>
              <a:ext cx="1590675" cy="1619250"/>
            </a:xfrm>
            <a:prstGeom prst="rect">
              <a:avLst/>
            </a:prstGeom>
            <a:solidFill>
              <a:srgbClr val="FFFFFF"/>
            </a:solidFill>
            <a:ln w="9525">
              <a:solidFill>
                <a:srgbClr val="E4E7F5"/>
              </a:solidFill>
            </a:ln>
          </p:spPr>
        </p:sp>
        <p:sp>
          <p:nvSpPr>
            <p:cNvPr id="141" name="TextBox 141"/>
            <p:cNvSpPr txBox="1"/>
            <p:nvPr/>
          </p:nvSpPr>
          <p:spPr>
            <a:xfrm>
              <a:off x="10377488" y="5157788"/>
              <a:ext cx="928307"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磁力万相—数据洞察​</a:t>
              </a:r>
            </a:p>
          </p:txBody>
        </p:sp>
        <p:sp>
          <p:nvSpPr>
            <p:cNvPr id="142" name="TextBox 142"/>
            <p:cNvSpPr txBox="1"/>
            <p:nvPr/>
          </p:nvSpPr>
          <p:spPr>
            <a:xfrm>
              <a:off x="10377488" y="5424488"/>
              <a:ext cx="926878"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磁力聚星—KOL投放​</a:t>
              </a:r>
            </a:p>
          </p:txBody>
        </p:sp>
        <p:sp>
          <p:nvSpPr>
            <p:cNvPr id="143" name="TextBox 143"/>
            <p:cNvSpPr txBox="1"/>
            <p:nvPr/>
          </p:nvSpPr>
          <p:spPr>
            <a:xfrm>
              <a:off x="10377488" y="5691188"/>
              <a:ext cx="928307"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磁力方舟—人群资产​</a:t>
              </a:r>
            </a:p>
          </p:txBody>
        </p:sp>
        <p:sp>
          <p:nvSpPr>
            <p:cNvPr id="144" name="TextBox 144"/>
            <p:cNvSpPr txBox="1"/>
            <p:nvPr/>
          </p:nvSpPr>
          <p:spPr>
            <a:xfrm>
              <a:off x="10377488" y="5957888"/>
              <a:ext cx="928307"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磁力智投—流量投放​</a:t>
              </a:r>
            </a:p>
          </p:txBody>
        </p:sp>
        <p:sp>
          <p:nvSpPr>
            <p:cNvPr id="145" name="TextBox 145"/>
            <p:cNvSpPr txBox="1"/>
            <p:nvPr/>
          </p:nvSpPr>
          <p:spPr>
            <a:xfrm>
              <a:off x="10377488" y="6224588"/>
              <a:ext cx="928307"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磁力金牛—电商经营​</a:t>
              </a:r>
            </a:p>
          </p:txBody>
        </p:sp>
      </p:gr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rama-beam"/>
          <p:cNvSpPr/>
          <p:nvPr/>
        </p:nvSpPr>
        <p:spPr>
          <a:xfrm>
            <a:off x="2428875" y="1238250"/>
            <a:ext cx="5476875" cy="5143500"/>
          </a:xfrm>
          <a:custGeom>
            <a:avLst/>
            <a:gdLst/>
            <a:ahLst/>
            <a:cxnLst/>
            <a:rect l="l" t="t" r="r" b="b"/>
            <a:pathLst>
              <a:path w="5476875" h="5143500">
                <a:moveTo>
                  <a:pt x="0" y="2857500"/>
                </a:moveTo>
                <a:lnTo>
                  <a:pt x="5476875" y="0"/>
                </a:lnTo>
                <a:lnTo>
                  <a:pt x="5476875" y="5143500"/>
                </a:lnTo>
                <a:close/>
              </a:path>
            </a:pathLst>
          </a:custGeom>
          <a:solidFill>
            <a:srgbClr val="EEF0FB"/>
          </a:solidFill>
          <a:ln>
            <a:noFill/>
          </a:ln>
        </p:spPr>
      </p:sp>
      <p:sp>
        <p:nvSpPr>
          <p:cNvPr id="3" name="drama-arc1"/>
          <p:cNvSpPr/>
          <p:nvPr/>
        </p:nvSpPr>
        <p:spPr>
          <a:xfrm>
            <a:off x="8210550" y="1809750"/>
            <a:ext cx="381000" cy="4000500"/>
          </a:xfrm>
          <a:custGeom>
            <a:avLst/>
            <a:gdLst/>
            <a:ahLst/>
            <a:cxnLst/>
            <a:rect l="l" t="t" r="r" b="b"/>
            <a:pathLst>
              <a:path w="381000" h="4000500">
                <a:moveTo>
                  <a:pt x="0" y="0"/>
                </a:moveTo>
                <a:cubicBezTo>
                  <a:pt x="381000" y="1333500"/>
                  <a:pt x="381000" y="2667000"/>
                  <a:pt x="0" y="4000500"/>
                </a:cubicBezTo>
              </a:path>
            </a:pathLst>
          </a:custGeom>
          <a:noFill/>
          <a:ln w="14288">
            <a:solidFill>
              <a:srgbClr val="B9C0DC"/>
            </a:solidFill>
            <a:custDash>
              <a:ds d="266667" sp="333333"/>
            </a:custDash>
          </a:ln>
        </p:spPr>
      </p:sp>
      <p:sp>
        <p:nvSpPr>
          <p:cNvPr id="4" name="drama-arc2"/>
          <p:cNvSpPr/>
          <p:nvPr/>
        </p:nvSpPr>
        <p:spPr>
          <a:xfrm>
            <a:off x="8591550" y="2190750"/>
            <a:ext cx="381000" cy="3238500"/>
          </a:xfrm>
          <a:custGeom>
            <a:avLst/>
            <a:gdLst/>
            <a:ahLst/>
            <a:cxnLst/>
            <a:rect l="l" t="t" r="r" b="b"/>
            <a:pathLst>
              <a:path w="381000" h="3238500">
                <a:moveTo>
                  <a:pt x="0" y="0"/>
                </a:moveTo>
                <a:cubicBezTo>
                  <a:pt x="381000" y="1079500"/>
                  <a:pt x="381000" y="2159000"/>
                  <a:pt x="0" y="3238500"/>
                </a:cubicBezTo>
              </a:path>
            </a:pathLst>
          </a:custGeom>
          <a:noFill/>
          <a:ln w="14288">
            <a:solidFill>
              <a:srgbClr val="C9CFEA"/>
            </a:solidFill>
            <a:custDash>
              <a:ds d="266667" sp="333333"/>
            </a:custDash>
          </a:ln>
        </p:spPr>
      </p:sp>
      <p:grpSp>
        <p:nvGrpSpPr>
          <p:cNvPr id="7" name="page-header"/>
          <p:cNvGrpSpPr/>
          <p:nvPr/>
        </p:nvGrpSpPr>
        <p:grpSpPr>
          <a:xfrm>
            <a:off x="302895" y="214312"/>
            <a:ext cx="2740533" cy="440055"/>
            <a:chOff x="302895" y="214312"/>
            <a:chExt cx="2740533" cy="440055"/>
          </a:xfrm>
        </p:grpSpPr>
        <p:sp>
          <p:nvSpPr>
            <p:cNvPr id="5" name="TextBox 5"/>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36.​</a:t>
              </a:r>
            </a:p>
          </p:txBody>
        </p:sp>
        <p:sp>
          <p:nvSpPr>
            <p:cNvPr id="6" name="TextBox 6"/>
            <p:cNvSpPr txBox="1"/>
            <p:nvPr/>
          </p:nvSpPr>
          <p:spPr>
            <a:xfrm>
              <a:off x="923544" y="246698"/>
              <a:ext cx="2119884"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品牌短剧传播路径</a:t>
              </a:r>
            </a:p>
          </p:txBody>
        </p:sp>
      </p:grpSp>
      <p:grpSp>
        <p:nvGrpSpPr>
          <p:cNvPr id="29" name="left-column"/>
          <p:cNvGrpSpPr/>
          <p:nvPr/>
        </p:nvGrpSpPr>
        <p:grpSpPr>
          <a:xfrm>
            <a:off x="666750" y="1696164"/>
            <a:ext cx="3752850" cy="4479131"/>
            <a:chOff x="666750" y="1696164"/>
            <a:chExt cx="3752850" cy="4479131"/>
          </a:xfrm>
        </p:grpSpPr>
        <p:sp>
          <p:nvSpPr>
            <p:cNvPr id="8" name="Rectangle 8"/>
            <p:cNvSpPr/>
            <p:nvPr/>
          </p:nvSpPr>
          <p:spPr>
            <a:xfrm>
              <a:off x="809625" y="1752600"/>
              <a:ext cx="1581150" cy="285750"/>
            </a:xfrm>
            <a:prstGeom prst="roundRect">
              <a:avLst>
                <a:gd name="adj" fmla="val 50000"/>
              </a:avLst>
            </a:prstGeom>
            <a:solidFill>
              <a:srgbClr val="C1553F"/>
            </a:solidFill>
            <a:ln>
              <a:noFill/>
            </a:ln>
          </p:spPr>
        </p:sp>
        <p:sp>
          <p:nvSpPr>
            <p:cNvPr id="9" name="TextBox 9"/>
            <p:cNvSpPr txBox="1"/>
            <p:nvPr/>
          </p:nvSpPr>
          <p:spPr>
            <a:xfrm>
              <a:off x="1265428" y="1847374"/>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边看边互动</a:t>
              </a:r>
            </a:p>
          </p:txBody>
        </p:sp>
        <p:sp>
          <p:nvSpPr>
            <p:cNvPr id="10" name="TextBox 10"/>
            <p:cNvSpPr txBox="1"/>
            <p:nvPr/>
          </p:nvSpPr>
          <p:spPr>
            <a:xfrm>
              <a:off x="1010514" y="2220039"/>
              <a:ext cx="117937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评论置顶，视屏文案互动</a:t>
              </a:r>
            </a:p>
          </p:txBody>
        </p:sp>
        <p:sp>
          <p:nvSpPr>
            <p:cNvPr id="11" name="Line 11"/>
            <p:cNvSpPr/>
            <p:nvPr/>
          </p:nvSpPr>
          <p:spPr>
            <a:xfrm>
              <a:off x="1600200" y="2419350"/>
              <a:ext cx="1" cy="609600"/>
            </a:xfrm>
            <a:prstGeom prst="line">
              <a:avLst/>
            </a:prstGeom>
            <a:noFill/>
            <a:ln w="17145">
              <a:solidFill>
                <a:srgbClr val="DD988A"/>
              </a:solidFill>
              <a:headEnd type="triangle" w="lg" len="lg"/>
              <a:tailEnd type="triangle" w="lg" len="lg"/>
            </a:ln>
          </p:spPr>
        </p:sp>
        <p:sp>
          <p:nvSpPr>
            <p:cNvPr id="12" name="Rectangle 12"/>
            <p:cNvSpPr/>
            <p:nvPr/>
          </p:nvSpPr>
          <p:spPr>
            <a:xfrm>
              <a:off x="2819400" y="3590925"/>
              <a:ext cx="1524000" cy="285750"/>
            </a:xfrm>
            <a:prstGeom prst="roundRect">
              <a:avLst>
                <a:gd name="adj" fmla="val 50000"/>
              </a:avLst>
            </a:prstGeom>
            <a:solidFill>
              <a:srgbClr val="C1553F"/>
            </a:solidFill>
            <a:ln>
              <a:noFill/>
            </a:ln>
          </p:spPr>
        </p:sp>
        <p:sp>
          <p:nvSpPr>
            <p:cNvPr id="13" name="TextBox 13"/>
            <p:cNvSpPr txBox="1"/>
            <p:nvPr/>
          </p:nvSpPr>
          <p:spPr>
            <a:xfrm>
              <a:off x="3312592" y="36856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边看边搜</a:t>
              </a:r>
            </a:p>
          </p:txBody>
        </p:sp>
        <p:sp>
          <p:nvSpPr>
            <p:cNvPr id="14" name="TextBox 14"/>
            <p:cNvSpPr txBox="1"/>
            <p:nvPr/>
          </p:nvSpPr>
          <p:spPr>
            <a:xfrm>
              <a:off x="3188461" y="4058364"/>
              <a:ext cx="785879"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热梗词 悬念引导</a:t>
              </a:r>
            </a:p>
          </p:txBody>
        </p:sp>
        <p:sp>
          <p:nvSpPr>
            <p:cNvPr id="15" name="Line 15"/>
            <p:cNvSpPr/>
            <p:nvPr/>
          </p:nvSpPr>
          <p:spPr>
            <a:xfrm>
              <a:off x="4095750" y="4029075"/>
              <a:ext cx="323850" cy="9525"/>
            </a:xfrm>
            <a:custGeom>
              <a:avLst/>
              <a:gdLst/>
              <a:ahLst/>
              <a:cxnLst/>
              <a:rect l="l" t="t" r="r" b="b"/>
              <a:pathLst>
                <a:path w="323850" h="9525">
                  <a:moveTo>
                    <a:pt x="0" y="0"/>
                  </a:moveTo>
                  <a:lnTo>
                    <a:pt x="323850" y="0"/>
                  </a:lnTo>
                </a:path>
              </a:pathLst>
            </a:custGeom>
            <a:noFill/>
            <a:ln w="17145">
              <a:solidFill>
                <a:srgbClr val="DD988A"/>
              </a:solidFill>
            </a:ln>
          </p:spPr>
        </p:sp>
        <p:sp>
          <p:nvSpPr>
            <p:cNvPr id="16" name="Rectangle 16"/>
            <p:cNvSpPr/>
            <p:nvPr/>
          </p:nvSpPr>
          <p:spPr>
            <a:xfrm>
              <a:off x="809625" y="5553075"/>
              <a:ext cx="1581150" cy="285750"/>
            </a:xfrm>
            <a:prstGeom prst="roundRect">
              <a:avLst>
                <a:gd name="adj" fmla="val 50000"/>
              </a:avLst>
            </a:prstGeom>
            <a:solidFill>
              <a:srgbClr val="C1553F"/>
            </a:solidFill>
            <a:ln>
              <a:noFill/>
            </a:ln>
          </p:spPr>
        </p:sp>
        <p:sp>
          <p:nvSpPr>
            <p:cNvPr id="17" name="TextBox 17"/>
            <p:cNvSpPr txBox="1"/>
            <p:nvPr/>
          </p:nvSpPr>
          <p:spPr>
            <a:xfrm>
              <a:off x="1331392" y="56478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边看边买</a:t>
              </a:r>
            </a:p>
          </p:txBody>
        </p:sp>
        <p:sp>
          <p:nvSpPr>
            <p:cNvPr id="18" name="TextBox 18"/>
            <p:cNvSpPr txBox="1"/>
            <p:nvPr/>
          </p:nvSpPr>
          <p:spPr>
            <a:xfrm>
              <a:off x="1276388" y="6020514"/>
              <a:ext cx="647624"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短剧转化组件</a:t>
              </a:r>
            </a:p>
          </p:txBody>
        </p:sp>
        <p:sp>
          <p:nvSpPr>
            <p:cNvPr id="19" name="Line 19"/>
            <p:cNvSpPr/>
            <p:nvPr/>
          </p:nvSpPr>
          <p:spPr>
            <a:xfrm flipV="1">
              <a:off x="1600200" y="5105400"/>
              <a:ext cx="1" cy="381000"/>
            </a:xfrm>
            <a:prstGeom prst="line">
              <a:avLst/>
            </a:prstGeom>
            <a:noFill/>
            <a:ln w="17145">
              <a:solidFill>
                <a:srgbClr val="DD988A"/>
              </a:solidFill>
              <a:tailEnd type="triangle" w="lg" len="lg"/>
            </a:ln>
          </p:spPr>
        </p:sp>
        <p:sp>
          <p:nvSpPr>
            <p:cNvPr id="20" name="Line 20"/>
            <p:cNvSpPr/>
            <p:nvPr/>
          </p:nvSpPr>
          <p:spPr>
            <a:xfrm>
              <a:off x="2495550" y="1885950"/>
              <a:ext cx="1866900" cy="1"/>
            </a:xfrm>
            <a:prstGeom prst="line">
              <a:avLst/>
            </a:prstGeom>
            <a:noFill/>
            <a:ln w="17145">
              <a:solidFill>
                <a:srgbClr val="DD988A"/>
              </a:solidFill>
              <a:tailEnd type="triangle" w="lg" len="lg"/>
            </a:ln>
          </p:spPr>
        </p:sp>
        <p:sp>
          <p:nvSpPr>
            <p:cNvPr id="21" name="TextBox 21"/>
            <p:cNvSpPr txBox="1"/>
            <p:nvPr/>
          </p:nvSpPr>
          <p:spPr>
            <a:xfrm>
              <a:off x="3114713" y="1696164"/>
              <a:ext cx="647624"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内容运营引导</a:t>
              </a:r>
            </a:p>
          </p:txBody>
        </p:sp>
        <p:sp>
          <p:nvSpPr>
            <p:cNvPr id="22" name="Ellipse 22"/>
            <p:cNvSpPr/>
            <p:nvPr/>
          </p:nvSpPr>
          <p:spPr>
            <a:xfrm>
              <a:off x="666750" y="3095625"/>
              <a:ext cx="1943100" cy="1943100"/>
            </a:xfrm>
            <a:prstGeom prst="ellipse">
              <a:avLst/>
            </a:prstGeom>
            <a:solidFill>
              <a:srgbClr val="C1553F"/>
            </a:solidFill>
            <a:ln>
              <a:noFill/>
            </a:ln>
          </p:spPr>
        </p:sp>
        <p:grpSp>
          <p:nvGrpSpPr>
            <p:cNvPr id="26" name="Group 26"/>
            <p:cNvGrpSpPr/>
            <p:nvPr/>
          </p:nvGrpSpPr>
          <p:grpSpPr>
            <a:xfrm>
              <a:off x="1543844" y="3469481"/>
              <a:ext cx="188913" cy="242888"/>
              <a:chOff x="1543844" y="3469481"/>
              <a:chExt cx="188913" cy="242888"/>
            </a:xfrm>
          </p:grpSpPr>
          <p:sp>
            <p:nvSpPr>
              <p:cNvPr id="23" name="Freeform 23"/>
              <p:cNvSpPr/>
              <p:nvPr/>
            </p:nvSpPr>
            <p:spPr>
              <a:xfrm>
                <a:off x="1543844" y="3550444"/>
                <a:ext cx="188913" cy="161925"/>
              </a:xfrm>
              <a:custGeom>
                <a:avLst/>
                <a:gdLst/>
                <a:ahLst/>
                <a:cxnLst/>
                <a:rect l="l" t="t" r="r" b="b"/>
                <a:pathLst>
                  <a:path w="188913" h="161925">
                    <a:moveTo>
                      <a:pt x="40481" y="0"/>
                    </a:moveTo>
                    <a:lnTo>
                      <a:pt x="26988" y="0"/>
                    </a:lnTo>
                    <a:cubicBezTo>
                      <a:pt x="12083" y="0"/>
                      <a:pt x="0" y="12083"/>
                      <a:pt x="0" y="26988"/>
                    </a:cubicBezTo>
                    <a:lnTo>
                      <a:pt x="0" y="134938"/>
                    </a:lnTo>
                    <a:cubicBezTo>
                      <a:pt x="0" y="149843"/>
                      <a:pt x="12083" y="161925"/>
                      <a:pt x="26988" y="161925"/>
                    </a:cubicBezTo>
                    <a:lnTo>
                      <a:pt x="161925" y="161925"/>
                    </a:lnTo>
                    <a:cubicBezTo>
                      <a:pt x="176830" y="161925"/>
                      <a:pt x="188913" y="149843"/>
                      <a:pt x="188913" y="134938"/>
                    </a:cubicBezTo>
                    <a:lnTo>
                      <a:pt x="188913" y="26988"/>
                    </a:lnTo>
                    <a:cubicBezTo>
                      <a:pt x="188913" y="12083"/>
                      <a:pt x="176830" y="0"/>
                      <a:pt x="161925" y="0"/>
                    </a:cubicBezTo>
                    <a:lnTo>
                      <a:pt x="148432" y="0"/>
                    </a:lnTo>
                  </a:path>
                </a:pathLst>
              </a:custGeom>
              <a:noFill/>
              <a:ln w="26988">
                <a:solidFill>
                  <a:srgbClr val="FFFFFF"/>
                </a:solidFill>
              </a:ln>
            </p:spPr>
          </p:sp>
          <p:sp>
            <p:nvSpPr>
              <p:cNvPr id="24" name="Freeform 24"/>
              <p:cNvSpPr/>
              <p:nvPr/>
            </p:nvSpPr>
            <p:spPr>
              <a:xfrm>
                <a:off x="1638300" y="3469481"/>
                <a:ext cx="9525" cy="148432"/>
              </a:xfrm>
              <a:custGeom>
                <a:avLst/>
                <a:gdLst/>
                <a:ahLst/>
                <a:cxnLst/>
                <a:rect l="l" t="t" r="r" b="b"/>
                <a:pathLst>
                  <a:path w="9525" h="148432">
                    <a:moveTo>
                      <a:pt x="0" y="148432"/>
                    </a:moveTo>
                    <a:lnTo>
                      <a:pt x="0" y="0"/>
                    </a:lnTo>
                  </a:path>
                </a:pathLst>
              </a:custGeom>
              <a:noFill/>
              <a:ln w="26988">
                <a:solidFill>
                  <a:srgbClr val="FFFFFF"/>
                </a:solidFill>
              </a:ln>
            </p:spPr>
          </p:sp>
          <p:sp>
            <p:nvSpPr>
              <p:cNvPr id="25" name="Freeform 25"/>
              <p:cNvSpPr/>
              <p:nvPr/>
            </p:nvSpPr>
            <p:spPr>
              <a:xfrm>
                <a:off x="1597819" y="3469481"/>
                <a:ext cx="80963" cy="40481"/>
              </a:xfrm>
              <a:custGeom>
                <a:avLst/>
                <a:gdLst/>
                <a:ahLst/>
                <a:cxnLst/>
                <a:rect l="l" t="t" r="r" b="b"/>
                <a:pathLst>
                  <a:path w="80963" h="40481">
                    <a:moveTo>
                      <a:pt x="0" y="40481"/>
                    </a:moveTo>
                    <a:lnTo>
                      <a:pt x="40481" y="0"/>
                    </a:lnTo>
                    <a:lnTo>
                      <a:pt x="80963" y="40481"/>
                    </a:lnTo>
                  </a:path>
                </a:pathLst>
              </a:custGeom>
              <a:noFill/>
              <a:ln w="26988">
                <a:solidFill>
                  <a:srgbClr val="FFFFFF"/>
                </a:solidFill>
              </a:ln>
            </p:spPr>
          </p:sp>
        </p:grpSp>
        <p:sp>
          <p:nvSpPr>
            <p:cNvPr id="27" name="TextBox 27"/>
            <p:cNvSpPr txBox="1"/>
            <p:nvPr/>
          </p:nvSpPr>
          <p:spPr>
            <a:xfrm>
              <a:off x="1267968" y="4045268"/>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短剧内容</a:t>
              </a:r>
            </a:p>
          </p:txBody>
        </p:sp>
        <p:sp>
          <p:nvSpPr>
            <p:cNvPr id="28" name="TextBox 28"/>
            <p:cNvSpPr txBox="1"/>
            <p:nvPr/>
          </p:nvSpPr>
          <p:spPr>
            <a:xfrm>
              <a:off x="1449705" y="4311968"/>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触点</a:t>
              </a:r>
            </a:p>
          </p:txBody>
        </p:sp>
      </p:grpSp>
      <p:grpSp>
        <p:nvGrpSpPr>
          <p:cNvPr id="50" name="middle-cards"/>
          <p:cNvGrpSpPr/>
          <p:nvPr/>
        </p:nvGrpSpPr>
        <p:grpSpPr>
          <a:xfrm>
            <a:off x="4457700" y="1476375"/>
            <a:ext cx="2324100" cy="3648075"/>
            <a:chOff x="4457700" y="1476375"/>
            <a:chExt cx="2324100" cy="3648075"/>
          </a:xfrm>
        </p:grpSpPr>
        <p:sp>
          <p:nvSpPr>
            <p:cNvPr id="30" name="Rectangle 30"/>
            <p:cNvSpPr/>
            <p:nvPr/>
          </p:nvSpPr>
          <p:spPr>
            <a:xfrm>
              <a:off x="4810125" y="1476375"/>
              <a:ext cx="1047750" cy="1285875"/>
            </a:xfrm>
            <a:prstGeom prst="roundRect">
              <a:avLst>
                <a:gd name="adj" fmla="val 5455"/>
              </a:avLst>
            </a:prstGeom>
            <a:solidFill>
              <a:srgbClr val="FFFFFF"/>
            </a:solidFill>
            <a:ln w="9525">
              <a:solidFill>
                <a:srgbClr val="C9CFEA"/>
              </a:solidFill>
            </a:ln>
          </p:spPr>
        </p:sp>
        <p:sp>
          <p:nvSpPr>
            <p:cNvPr id="31" name="Ellipse 31"/>
            <p:cNvSpPr/>
            <p:nvPr/>
          </p:nvSpPr>
          <p:spPr>
            <a:xfrm>
              <a:off x="4933950" y="1600200"/>
              <a:ext cx="800100" cy="800100"/>
            </a:xfrm>
            <a:prstGeom prst="ellipse">
              <a:avLst/>
            </a:prstGeom>
            <a:solidFill>
              <a:srgbClr val="E9EBF8"/>
            </a:solidFill>
            <a:ln w="9525">
              <a:solidFill>
                <a:srgbClr val="C9CFEA"/>
              </a:solidFill>
            </a:ln>
          </p:spPr>
        </p:sp>
        <p:sp>
          <p:nvSpPr>
            <p:cNvPr id="32" name="Ellipse 32"/>
            <p:cNvSpPr/>
            <p:nvPr/>
          </p:nvSpPr>
          <p:spPr>
            <a:xfrm>
              <a:off x="5048250" y="1714500"/>
              <a:ext cx="571500" cy="571500"/>
            </a:xfrm>
            <a:prstGeom prst="ellipse">
              <a:avLst/>
            </a:prstGeom>
            <a:solidFill>
              <a:srgbClr val="DDE2F2"/>
            </a:solidFill>
            <a:ln>
              <a:noFill/>
            </a:ln>
          </p:spPr>
        </p:sp>
        <p:sp>
          <p:nvSpPr>
            <p:cNvPr id="33" name="TextBox 33"/>
            <p:cNvSpPr txBox="1"/>
            <p:nvPr/>
          </p:nvSpPr>
          <p:spPr>
            <a:xfrm>
              <a:off x="4981918" y="2535793"/>
              <a:ext cx="704164"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短剧衍生活动</a:t>
              </a:r>
            </a:p>
          </p:txBody>
        </p:sp>
        <p:sp>
          <p:nvSpPr>
            <p:cNvPr id="34" name="Line 34"/>
            <p:cNvSpPr/>
            <p:nvPr/>
          </p:nvSpPr>
          <p:spPr>
            <a:xfrm flipV="1">
              <a:off x="5295900" y="2838450"/>
              <a:ext cx="1" cy="342900"/>
            </a:xfrm>
            <a:prstGeom prst="line">
              <a:avLst/>
            </a:prstGeom>
            <a:noFill/>
            <a:ln w="17145">
              <a:solidFill>
                <a:srgbClr val="DD988A"/>
              </a:solidFill>
              <a:tailEnd type="triangle" w="lg" len="lg"/>
            </a:ln>
          </p:spPr>
        </p:sp>
        <p:sp>
          <p:nvSpPr>
            <p:cNvPr id="35" name="Rectangle 35"/>
            <p:cNvSpPr/>
            <p:nvPr/>
          </p:nvSpPr>
          <p:spPr>
            <a:xfrm>
              <a:off x="4781550" y="3219450"/>
              <a:ext cx="1019175" cy="1381125"/>
            </a:xfrm>
            <a:prstGeom prst="roundRect">
              <a:avLst>
                <a:gd name="adj" fmla="val 5607"/>
              </a:avLst>
            </a:prstGeom>
            <a:solidFill>
              <a:srgbClr val="FFFFFF"/>
            </a:solidFill>
            <a:ln w="9525">
              <a:solidFill>
                <a:srgbClr val="C9CFEA"/>
              </a:solidFill>
            </a:ln>
          </p:spPr>
        </p:sp>
        <p:sp>
          <p:nvSpPr>
            <p:cNvPr id="36" name="Rectangle 36"/>
            <p:cNvSpPr/>
            <p:nvPr/>
          </p:nvSpPr>
          <p:spPr>
            <a:xfrm>
              <a:off x="4876800" y="3314700"/>
              <a:ext cx="828675" cy="781050"/>
            </a:xfrm>
            <a:prstGeom prst="rect">
              <a:avLst/>
            </a:prstGeom>
            <a:solidFill>
              <a:srgbClr val="F1F3FB"/>
            </a:solidFill>
            <a:ln>
              <a:noFill/>
            </a:ln>
          </p:spPr>
        </p:sp>
        <p:sp>
          <p:nvSpPr>
            <p:cNvPr id="37" name="Rectangle 37"/>
            <p:cNvSpPr/>
            <p:nvPr/>
          </p:nvSpPr>
          <p:spPr>
            <a:xfrm>
              <a:off x="4953000" y="3390900"/>
              <a:ext cx="438150" cy="66675"/>
            </a:xfrm>
            <a:prstGeom prst="roundRect">
              <a:avLst>
                <a:gd name="adj" fmla="val 50000"/>
              </a:avLst>
            </a:prstGeom>
            <a:solidFill>
              <a:srgbClr val="C9CFEA"/>
            </a:solidFill>
            <a:ln>
              <a:noFill/>
            </a:ln>
          </p:spPr>
        </p:sp>
        <p:sp>
          <p:nvSpPr>
            <p:cNvPr id="38" name="Rectangle 38"/>
            <p:cNvSpPr/>
            <p:nvPr/>
          </p:nvSpPr>
          <p:spPr>
            <a:xfrm>
              <a:off x="4953000" y="3524250"/>
              <a:ext cx="666750" cy="66675"/>
            </a:xfrm>
            <a:prstGeom prst="roundRect">
              <a:avLst>
                <a:gd name="adj" fmla="val 50000"/>
              </a:avLst>
            </a:prstGeom>
            <a:solidFill>
              <a:srgbClr val="DDE2F2"/>
            </a:solidFill>
            <a:ln>
              <a:noFill/>
            </a:ln>
          </p:spPr>
        </p:sp>
        <p:sp>
          <p:nvSpPr>
            <p:cNvPr id="39" name="Rectangle 39"/>
            <p:cNvSpPr/>
            <p:nvPr/>
          </p:nvSpPr>
          <p:spPr>
            <a:xfrm>
              <a:off x="4953000" y="3657600"/>
              <a:ext cx="552450" cy="66675"/>
            </a:xfrm>
            <a:prstGeom prst="roundRect">
              <a:avLst>
                <a:gd name="adj" fmla="val 50000"/>
              </a:avLst>
            </a:prstGeom>
            <a:solidFill>
              <a:srgbClr val="DDE2F2"/>
            </a:solidFill>
            <a:ln>
              <a:noFill/>
            </a:ln>
          </p:spPr>
        </p:sp>
        <p:sp>
          <p:nvSpPr>
            <p:cNvPr id="40" name="Rectangle 40"/>
            <p:cNvSpPr/>
            <p:nvPr/>
          </p:nvSpPr>
          <p:spPr>
            <a:xfrm>
              <a:off x="4953000" y="3790950"/>
              <a:ext cx="628650" cy="66675"/>
            </a:xfrm>
            <a:prstGeom prst="roundRect">
              <a:avLst>
                <a:gd name="adj" fmla="val 50000"/>
              </a:avLst>
            </a:prstGeom>
            <a:solidFill>
              <a:srgbClr val="DDE2F2"/>
            </a:solidFill>
            <a:ln>
              <a:noFill/>
            </a:ln>
          </p:spPr>
        </p:sp>
        <p:sp>
          <p:nvSpPr>
            <p:cNvPr id="41" name="TextBox 41"/>
            <p:cNvSpPr txBox="1"/>
            <p:nvPr/>
          </p:nvSpPr>
          <p:spPr>
            <a:xfrm>
              <a:off x="5050066" y="4240768"/>
              <a:ext cx="472618"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定制搜索</a:t>
              </a:r>
            </a:p>
          </p:txBody>
        </p:sp>
        <p:sp>
          <p:nvSpPr>
            <p:cNvPr id="42" name="TextBox 42"/>
            <p:cNvSpPr txBox="1"/>
            <p:nvPr/>
          </p:nvSpPr>
          <p:spPr>
            <a:xfrm>
              <a:off x="5107953" y="4412218"/>
              <a:ext cx="356845"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落地页</a:t>
              </a:r>
            </a:p>
          </p:txBody>
        </p:sp>
        <p:sp>
          <p:nvSpPr>
            <p:cNvPr id="43" name="Line 43"/>
            <p:cNvSpPr/>
            <p:nvPr/>
          </p:nvSpPr>
          <p:spPr>
            <a:xfrm>
              <a:off x="4457700" y="4029075"/>
              <a:ext cx="323850" cy="1"/>
            </a:xfrm>
            <a:prstGeom prst="line">
              <a:avLst/>
            </a:prstGeom>
            <a:noFill/>
            <a:ln w="17145">
              <a:solidFill>
                <a:srgbClr val="DD988A"/>
              </a:solidFill>
              <a:tailEnd type="triangle" w="lg" len="lg"/>
            </a:ln>
          </p:spPr>
        </p:sp>
        <p:sp>
          <p:nvSpPr>
            <p:cNvPr id="44" name="Line 44"/>
            <p:cNvSpPr/>
            <p:nvPr/>
          </p:nvSpPr>
          <p:spPr>
            <a:xfrm flipV="1">
              <a:off x="5924550" y="2571750"/>
              <a:ext cx="857250" cy="571500"/>
            </a:xfrm>
            <a:prstGeom prst="line">
              <a:avLst/>
            </a:prstGeom>
            <a:noFill/>
            <a:ln w="17145">
              <a:solidFill>
                <a:srgbClr val="DD988A"/>
              </a:solidFill>
              <a:tailEnd type="triangle" w="lg" len="lg"/>
            </a:ln>
          </p:spPr>
        </p:sp>
        <p:sp>
          <p:nvSpPr>
            <p:cNvPr id="45" name="TextBox 45"/>
            <p:cNvSpPr txBox="1"/>
            <p:nvPr/>
          </p:nvSpPr>
          <p:spPr>
            <a:xfrm>
              <a:off x="6281738" y="282963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引流</a:t>
              </a:r>
            </a:p>
          </p:txBody>
        </p:sp>
        <p:sp>
          <p:nvSpPr>
            <p:cNvPr id="46" name="Line 46"/>
            <p:cNvSpPr/>
            <p:nvPr/>
          </p:nvSpPr>
          <p:spPr>
            <a:xfrm flipV="1">
              <a:off x="5905500" y="3848100"/>
              <a:ext cx="876300" cy="57150"/>
            </a:xfrm>
            <a:prstGeom prst="line">
              <a:avLst/>
            </a:prstGeom>
            <a:noFill/>
            <a:ln w="17145">
              <a:solidFill>
                <a:srgbClr val="DD988A"/>
              </a:solidFill>
              <a:tailEnd type="triangle" w="lg" len="lg"/>
            </a:ln>
          </p:spPr>
        </p:sp>
        <p:sp>
          <p:nvSpPr>
            <p:cNvPr id="47" name="TextBox 47"/>
            <p:cNvSpPr txBox="1"/>
            <p:nvPr/>
          </p:nvSpPr>
          <p:spPr>
            <a:xfrm>
              <a:off x="6167438" y="3667839"/>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用户关注</a:t>
              </a:r>
            </a:p>
          </p:txBody>
        </p:sp>
        <p:sp>
          <p:nvSpPr>
            <p:cNvPr id="48" name="Line 48"/>
            <p:cNvSpPr/>
            <p:nvPr/>
          </p:nvSpPr>
          <p:spPr>
            <a:xfrm>
              <a:off x="5924550" y="4476750"/>
              <a:ext cx="857250" cy="647700"/>
            </a:xfrm>
            <a:prstGeom prst="line">
              <a:avLst/>
            </a:prstGeom>
            <a:noFill/>
            <a:ln w="17145">
              <a:solidFill>
                <a:srgbClr val="DD988A"/>
              </a:solidFill>
              <a:tailEnd type="triangle" w="lg" len="lg"/>
            </a:ln>
          </p:spPr>
        </p:sp>
        <p:sp>
          <p:nvSpPr>
            <p:cNvPr id="49" name="TextBox 49"/>
            <p:cNvSpPr txBox="1"/>
            <p:nvPr/>
          </p:nvSpPr>
          <p:spPr>
            <a:xfrm>
              <a:off x="6186488" y="460128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引流</a:t>
              </a:r>
            </a:p>
          </p:txBody>
        </p:sp>
      </p:grpSp>
      <p:grpSp>
        <p:nvGrpSpPr>
          <p:cNvPr id="69" name="right-cards"/>
          <p:cNvGrpSpPr/>
          <p:nvPr/>
        </p:nvGrpSpPr>
        <p:grpSpPr>
          <a:xfrm>
            <a:off x="6877050" y="1276350"/>
            <a:ext cx="1562100" cy="5114925"/>
            <a:chOff x="6877050" y="1276350"/>
            <a:chExt cx="1562100" cy="5114925"/>
          </a:xfrm>
        </p:grpSpPr>
        <p:sp>
          <p:nvSpPr>
            <p:cNvPr id="51" name="Rectangle 51"/>
            <p:cNvSpPr/>
            <p:nvPr/>
          </p:nvSpPr>
          <p:spPr>
            <a:xfrm>
              <a:off x="6877050" y="1276350"/>
              <a:ext cx="990600" cy="1428750"/>
            </a:xfrm>
            <a:prstGeom prst="roundRect">
              <a:avLst>
                <a:gd name="adj" fmla="val 5769"/>
              </a:avLst>
            </a:prstGeom>
            <a:solidFill>
              <a:srgbClr val="FFFFFF"/>
            </a:solidFill>
            <a:ln w="9525">
              <a:solidFill>
                <a:srgbClr val="C9CFEA"/>
              </a:solidFill>
            </a:ln>
          </p:spPr>
        </p:sp>
        <p:sp>
          <p:nvSpPr>
            <p:cNvPr id="52" name="Rectangle 52"/>
            <p:cNvSpPr/>
            <p:nvPr/>
          </p:nvSpPr>
          <p:spPr>
            <a:xfrm>
              <a:off x="6972300" y="1371600"/>
              <a:ext cx="800100" cy="933450"/>
            </a:xfrm>
            <a:prstGeom prst="rect">
              <a:avLst/>
            </a:prstGeom>
            <a:solidFill>
              <a:srgbClr val="F1F3FB"/>
            </a:solidFill>
            <a:ln w="9525">
              <a:solidFill>
                <a:srgbClr val="C9CFEA"/>
              </a:solidFill>
            </a:ln>
          </p:spPr>
        </p:sp>
        <p:sp>
          <p:nvSpPr>
            <p:cNvPr id="53" name="Rectangle 53"/>
            <p:cNvSpPr/>
            <p:nvPr/>
          </p:nvSpPr>
          <p:spPr>
            <a:xfrm>
              <a:off x="7086600" y="1485900"/>
              <a:ext cx="571500" cy="381000"/>
            </a:xfrm>
            <a:prstGeom prst="roundRect">
              <a:avLst>
                <a:gd name="adj" fmla="val 7500"/>
              </a:avLst>
            </a:prstGeom>
            <a:solidFill>
              <a:srgbClr val="DDE2F2"/>
            </a:solidFill>
            <a:ln>
              <a:noFill/>
            </a:ln>
          </p:spPr>
        </p:sp>
        <p:sp>
          <p:nvSpPr>
            <p:cNvPr id="54" name="Rectangle 54"/>
            <p:cNvSpPr/>
            <p:nvPr/>
          </p:nvSpPr>
          <p:spPr>
            <a:xfrm>
              <a:off x="7086600" y="1943100"/>
              <a:ext cx="571500" cy="76200"/>
            </a:xfrm>
            <a:prstGeom prst="roundRect">
              <a:avLst>
                <a:gd name="adj" fmla="val 50000"/>
              </a:avLst>
            </a:prstGeom>
            <a:solidFill>
              <a:srgbClr val="C9CFEA"/>
            </a:solidFill>
            <a:ln>
              <a:noFill/>
            </a:ln>
          </p:spPr>
        </p:sp>
        <p:sp>
          <p:nvSpPr>
            <p:cNvPr id="55" name="Rectangle 55"/>
            <p:cNvSpPr/>
            <p:nvPr/>
          </p:nvSpPr>
          <p:spPr>
            <a:xfrm>
              <a:off x="7086600" y="2095500"/>
              <a:ext cx="419100" cy="76200"/>
            </a:xfrm>
            <a:prstGeom prst="roundRect">
              <a:avLst>
                <a:gd name="adj" fmla="val 50000"/>
              </a:avLst>
            </a:prstGeom>
            <a:solidFill>
              <a:srgbClr val="DDE2F2"/>
            </a:solidFill>
            <a:ln>
              <a:noFill/>
            </a:ln>
          </p:spPr>
        </p:sp>
        <p:sp>
          <p:nvSpPr>
            <p:cNvPr id="56" name="TextBox 56"/>
            <p:cNvSpPr txBox="1"/>
            <p:nvPr/>
          </p:nvSpPr>
          <p:spPr>
            <a:xfrm>
              <a:off x="7078154" y="2421493"/>
              <a:ext cx="588391"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品牌直播间</a:t>
              </a:r>
            </a:p>
          </p:txBody>
        </p:sp>
        <p:sp>
          <p:nvSpPr>
            <p:cNvPr id="57" name="Rectangle 57"/>
            <p:cNvSpPr/>
            <p:nvPr/>
          </p:nvSpPr>
          <p:spPr>
            <a:xfrm>
              <a:off x="7448550" y="3105150"/>
              <a:ext cx="990600" cy="1428750"/>
            </a:xfrm>
            <a:prstGeom prst="roundRect">
              <a:avLst>
                <a:gd name="adj" fmla="val 5769"/>
              </a:avLst>
            </a:prstGeom>
            <a:solidFill>
              <a:srgbClr val="FFFFFF"/>
            </a:solidFill>
            <a:ln w="9525">
              <a:solidFill>
                <a:srgbClr val="C9CFEA"/>
              </a:solidFill>
            </a:ln>
          </p:spPr>
        </p:sp>
        <p:sp>
          <p:nvSpPr>
            <p:cNvPr id="58" name="Rectangle 58"/>
            <p:cNvSpPr/>
            <p:nvPr/>
          </p:nvSpPr>
          <p:spPr>
            <a:xfrm>
              <a:off x="7543800" y="3200400"/>
              <a:ext cx="800100" cy="933450"/>
            </a:xfrm>
            <a:prstGeom prst="rect">
              <a:avLst/>
            </a:prstGeom>
            <a:solidFill>
              <a:srgbClr val="F1F3FB"/>
            </a:solidFill>
            <a:ln w="9525">
              <a:solidFill>
                <a:srgbClr val="C9CFEA"/>
              </a:solidFill>
            </a:ln>
          </p:spPr>
        </p:sp>
        <p:sp>
          <p:nvSpPr>
            <p:cNvPr id="59" name="Rectangle 59"/>
            <p:cNvSpPr/>
            <p:nvPr/>
          </p:nvSpPr>
          <p:spPr>
            <a:xfrm>
              <a:off x="7658100" y="3314700"/>
              <a:ext cx="571500" cy="381000"/>
            </a:xfrm>
            <a:prstGeom prst="roundRect">
              <a:avLst>
                <a:gd name="adj" fmla="val 7500"/>
              </a:avLst>
            </a:prstGeom>
            <a:solidFill>
              <a:srgbClr val="DDE2F2"/>
            </a:solidFill>
            <a:ln>
              <a:noFill/>
            </a:ln>
          </p:spPr>
        </p:sp>
        <p:sp>
          <p:nvSpPr>
            <p:cNvPr id="60" name="Rectangle 60"/>
            <p:cNvSpPr/>
            <p:nvPr/>
          </p:nvSpPr>
          <p:spPr>
            <a:xfrm>
              <a:off x="7658100" y="3771900"/>
              <a:ext cx="571500" cy="76200"/>
            </a:xfrm>
            <a:prstGeom prst="roundRect">
              <a:avLst>
                <a:gd name="adj" fmla="val 50000"/>
              </a:avLst>
            </a:prstGeom>
            <a:solidFill>
              <a:srgbClr val="C9CFEA"/>
            </a:solidFill>
            <a:ln>
              <a:noFill/>
            </a:ln>
          </p:spPr>
        </p:sp>
        <p:sp>
          <p:nvSpPr>
            <p:cNvPr id="61" name="Rectangle 61"/>
            <p:cNvSpPr/>
            <p:nvPr/>
          </p:nvSpPr>
          <p:spPr>
            <a:xfrm>
              <a:off x="7658100" y="3924300"/>
              <a:ext cx="419100" cy="76200"/>
            </a:xfrm>
            <a:prstGeom prst="roundRect">
              <a:avLst>
                <a:gd name="adj" fmla="val 50000"/>
              </a:avLst>
            </a:prstGeom>
            <a:solidFill>
              <a:srgbClr val="DDE2F2"/>
            </a:solidFill>
            <a:ln>
              <a:noFill/>
            </a:ln>
          </p:spPr>
        </p:sp>
        <p:sp>
          <p:nvSpPr>
            <p:cNvPr id="62" name="TextBox 62"/>
            <p:cNvSpPr txBox="1"/>
            <p:nvPr/>
          </p:nvSpPr>
          <p:spPr>
            <a:xfrm>
              <a:off x="7765428" y="4250293"/>
              <a:ext cx="356845"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品牌号</a:t>
              </a:r>
            </a:p>
          </p:txBody>
        </p:sp>
        <p:sp>
          <p:nvSpPr>
            <p:cNvPr id="63" name="Rectangle 63"/>
            <p:cNvSpPr/>
            <p:nvPr/>
          </p:nvSpPr>
          <p:spPr>
            <a:xfrm>
              <a:off x="6877050" y="4962525"/>
              <a:ext cx="990600" cy="1428750"/>
            </a:xfrm>
            <a:prstGeom prst="roundRect">
              <a:avLst>
                <a:gd name="adj" fmla="val 5769"/>
              </a:avLst>
            </a:prstGeom>
            <a:solidFill>
              <a:srgbClr val="FFFFFF"/>
            </a:solidFill>
            <a:ln w="9525">
              <a:solidFill>
                <a:srgbClr val="C9CFEA"/>
              </a:solidFill>
            </a:ln>
          </p:spPr>
        </p:sp>
        <p:sp>
          <p:nvSpPr>
            <p:cNvPr id="64" name="Rectangle 64"/>
            <p:cNvSpPr/>
            <p:nvPr/>
          </p:nvSpPr>
          <p:spPr>
            <a:xfrm>
              <a:off x="6972300" y="5057775"/>
              <a:ext cx="800100" cy="933450"/>
            </a:xfrm>
            <a:prstGeom prst="rect">
              <a:avLst/>
            </a:prstGeom>
            <a:solidFill>
              <a:srgbClr val="F1F3FB"/>
            </a:solidFill>
            <a:ln w="9525">
              <a:solidFill>
                <a:srgbClr val="C9CFEA"/>
              </a:solidFill>
            </a:ln>
          </p:spPr>
        </p:sp>
        <p:sp>
          <p:nvSpPr>
            <p:cNvPr id="65" name="Rectangle 65"/>
            <p:cNvSpPr/>
            <p:nvPr/>
          </p:nvSpPr>
          <p:spPr>
            <a:xfrm>
              <a:off x="7086600" y="5172075"/>
              <a:ext cx="571500" cy="381000"/>
            </a:xfrm>
            <a:prstGeom prst="roundRect">
              <a:avLst>
                <a:gd name="adj" fmla="val 7500"/>
              </a:avLst>
            </a:prstGeom>
            <a:solidFill>
              <a:srgbClr val="DDE2F2"/>
            </a:solidFill>
            <a:ln>
              <a:noFill/>
            </a:ln>
          </p:spPr>
        </p:sp>
        <p:sp>
          <p:nvSpPr>
            <p:cNvPr id="66" name="Rectangle 66"/>
            <p:cNvSpPr/>
            <p:nvPr/>
          </p:nvSpPr>
          <p:spPr>
            <a:xfrm>
              <a:off x="7086600" y="5629275"/>
              <a:ext cx="571500" cy="76200"/>
            </a:xfrm>
            <a:prstGeom prst="roundRect">
              <a:avLst>
                <a:gd name="adj" fmla="val 50000"/>
              </a:avLst>
            </a:prstGeom>
            <a:solidFill>
              <a:srgbClr val="C9CFEA"/>
            </a:solidFill>
            <a:ln>
              <a:noFill/>
            </a:ln>
          </p:spPr>
        </p:sp>
        <p:sp>
          <p:nvSpPr>
            <p:cNvPr id="67" name="Rectangle 67"/>
            <p:cNvSpPr/>
            <p:nvPr/>
          </p:nvSpPr>
          <p:spPr>
            <a:xfrm>
              <a:off x="7086600" y="5781675"/>
              <a:ext cx="419100" cy="76200"/>
            </a:xfrm>
            <a:prstGeom prst="roundRect">
              <a:avLst>
                <a:gd name="adj" fmla="val 50000"/>
              </a:avLst>
            </a:prstGeom>
            <a:solidFill>
              <a:srgbClr val="DDE2F2"/>
            </a:solidFill>
            <a:ln>
              <a:noFill/>
            </a:ln>
          </p:spPr>
        </p:sp>
        <p:sp>
          <p:nvSpPr>
            <p:cNvPr id="68" name="TextBox 68"/>
            <p:cNvSpPr txBox="1"/>
            <p:nvPr/>
          </p:nvSpPr>
          <p:spPr>
            <a:xfrm>
              <a:off x="7136041" y="6107668"/>
              <a:ext cx="472618"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品牌小店</a:t>
              </a:r>
            </a:p>
          </p:txBody>
        </p:sp>
      </p:grpSp>
      <p:grpSp>
        <p:nvGrpSpPr>
          <p:cNvPr id="94" name="offsite-hub"/>
          <p:cNvGrpSpPr/>
          <p:nvPr/>
        </p:nvGrpSpPr>
        <p:grpSpPr>
          <a:xfrm>
            <a:off x="9534525" y="1543050"/>
            <a:ext cx="1952625" cy="4419600"/>
            <a:chOff x="9534525" y="1543050"/>
            <a:chExt cx="1952625" cy="4419600"/>
          </a:xfrm>
        </p:grpSpPr>
        <p:sp>
          <p:nvSpPr>
            <p:cNvPr id="70" name="Ellipse 70"/>
            <p:cNvSpPr/>
            <p:nvPr/>
          </p:nvSpPr>
          <p:spPr>
            <a:xfrm>
              <a:off x="10572750" y="1543050"/>
              <a:ext cx="419100" cy="419100"/>
            </a:xfrm>
            <a:prstGeom prst="ellipse">
              <a:avLst/>
            </a:prstGeom>
            <a:solidFill>
              <a:srgbClr val="E63D16"/>
            </a:solidFill>
            <a:ln>
              <a:noFill/>
            </a:ln>
          </p:spPr>
        </p:sp>
        <p:sp>
          <p:nvSpPr>
            <p:cNvPr id="71" name="Ellipse 71"/>
            <p:cNvSpPr/>
            <p:nvPr/>
          </p:nvSpPr>
          <p:spPr>
            <a:xfrm>
              <a:off x="10710862" y="1700212"/>
              <a:ext cx="142875" cy="142875"/>
            </a:xfrm>
            <a:prstGeom prst="ellipse">
              <a:avLst/>
            </a:prstGeom>
            <a:solidFill>
              <a:srgbClr val="FFFFFF"/>
            </a:solidFill>
            <a:ln>
              <a:noFill/>
            </a:ln>
          </p:spPr>
        </p:sp>
        <p:sp>
          <p:nvSpPr>
            <p:cNvPr id="72" name="Ellipse 72"/>
            <p:cNvSpPr/>
            <p:nvPr/>
          </p:nvSpPr>
          <p:spPr>
            <a:xfrm>
              <a:off x="10748962" y="1738312"/>
              <a:ext cx="66675" cy="66675"/>
            </a:xfrm>
            <a:prstGeom prst="ellipse">
              <a:avLst/>
            </a:prstGeom>
            <a:solidFill>
              <a:srgbClr val="E63D16"/>
            </a:solidFill>
            <a:ln>
              <a:noFill/>
            </a:ln>
          </p:spPr>
        </p:sp>
        <p:sp>
          <p:nvSpPr>
            <p:cNvPr id="73" name="Ellipse 73"/>
            <p:cNvSpPr/>
            <p:nvPr/>
          </p:nvSpPr>
          <p:spPr>
            <a:xfrm>
              <a:off x="9782175" y="2219325"/>
              <a:ext cx="419100" cy="419100"/>
            </a:xfrm>
            <a:prstGeom prst="ellipse">
              <a:avLst/>
            </a:prstGeom>
            <a:solidFill>
              <a:srgbClr val="271D1B"/>
            </a:solidFill>
            <a:ln>
              <a:noFill/>
            </a:ln>
          </p:spPr>
        </p:sp>
        <p:sp>
          <p:nvSpPr>
            <p:cNvPr id="74" name="Ellipse 74"/>
            <p:cNvSpPr/>
            <p:nvPr/>
          </p:nvSpPr>
          <p:spPr>
            <a:xfrm>
              <a:off x="9925050" y="2466975"/>
              <a:ext cx="76200" cy="76200"/>
            </a:xfrm>
            <a:prstGeom prst="ellipse">
              <a:avLst/>
            </a:prstGeom>
            <a:solidFill>
              <a:srgbClr val="FFFFFF"/>
            </a:solidFill>
            <a:ln>
              <a:noFill/>
            </a:ln>
          </p:spPr>
        </p:sp>
        <p:sp>
          <p:nvSpPr>
            <p:cNvPr id="75" name="Rectangle 75"/>
            <p:cNvSpPr/>
            <p:nvPr/>
          </p:nvSpPr>
          <p:spPr>
            <a:xfrm>
              <a:off x="9986962" y="2333625"/>
              <a:ext cx="23812" cy="171450"/>
            </a:xfrm>
            <a:prstGeom prst="rect">
              <a:avLst/>
            </a:prstGeom>
            <a:solidFill>
              <a:srgbClr val="FFFFFF"/>
            </a:solidFill>
            <a:ln>
              <a:noFill/>
            </a:ln>
          </p:spPr>
        </p:sp>
        <p:sp>
          <p:nvSpPr>
            <p:cNvPr id="76" name="Freeform 76"/>
            <p:cNvSpPr/>
            <p:nvPr/>
          </p:nvSpPr>
          <p:spPr>
            <a:xfrm>
              <a:off x="10010775" y="2333625"/>
              <a:ext cx="76200" cy="76200"/>
            </a:xfrm>
            <a:custGeom>
              <a:avLst/>
              <a:gdLst/>
              <a:ahLst/>
              <a:cxnLst/>
              <a:rect l="l" t="t" r="r" b="b"/>
              <a:pathLst>
                <a:path w="76200" h="76200">
                  <a:moveTo>
                    <a:pt x="0" y="0"/>
                  </a:moveTo>
                  <a:cubicBezTo>
                    <a:pt x="50800" y="12700"/>
                    <a:pt x="76200" y="38100"/>
                    <a:pt x="76200" y="76200"/>
                  </a:cubicBezTo>
                </a:path>
              </a:pathLst>
            </a:custGeom>
            <a:noFill/>
            <a:ln w="20955">
              <a:solidFill>
                <a:srgbClr val="FFFFFF"/>
              </a:solidFill>
            </a:ln>
          </p:spPr>
        </p:sp>
        <p:sp>
          <p:nvSpPr>
            <p:cNvPr id="77" name="Ellipse 77"/>
            <p:cNvSpPr/>
            <p:nvPr/>
          </p:nvSpPr>
          <p:spPr>
            <a:xfrm>
              <a:off x="10925175" y="2352675"/>
              <a:ext cx="381000" cy="381000"/>
            </a:xfrm>
            <a:prstGeom prst="ellipse">
              <a:avLst/>
            </a:prstGeom>
            <a:solidFill>
              <a:srgbClr val="FFFFFF"/>
            </a:solidFill>
            <a:ln w="9525">
              <a:solidFill>
                <a:srgbClr val="C9CFEA"/>
              </a:solidFill>
            </a:ln>
          </p:spPr>
        </p:sp>
        <p:sp>
          <p:nvSpPr>
            <p:cNvPr id="78" name="Polygon 78"/>
            <p:cNvSpPr/>
            <p:nvPr/>
          </p:nvSpPr>
          <p:spPr>
            <a:xfrm>
              <a:off x="11058525" y="2457450"/>
              <a:ext cx="142875" cy="171450"/>
            </a:xfrm>
            <a:custGeom>
              <a:avLst/>
              <a:gdLst/>
              <a:ahLst/>
              <a:cxnLst/>
              <a:rect l="l" t="t" r="r" b="b"/>
              <a:pathLst>
                <a:path w="142875" h="171450">
                  <a:moveTo>
                    <a:pt x="0" y="0"/>
                  </a:moveTo>
                  <a:lnTo>
                    <a:pt x="142875" y="85725"/>
                  </a:lnTo>
                  <a:lnTo>
                    <a:pt x="0" y="171450"/>
                  </a:lnTo>
                  <a:close/>
                </a:path>
              </a:pathLst>
            </a:custGeom>
            <a:solidFill>
              <a:srgbClr val="C34932"/>
            </a:solidFill>
            <a:ln>
              <a:noFill/>
            </a:ln>
          </p:spPr>
        </p:sp>
        <p:sp>
          <p:nvSpPr>
            <p:cNvPr id="79" name="Ellipse 79"/>
            <p:cNvSpPr/>
            <p:nvPr/>
          </p:nvSpPr>
          <p:spPr>
            <a:xfrm>
              <a:off x="9734550" y="2905125"/>
              <a:ext cx="1752600" cy="1752600"/>
            </a:xfrm>
            <a:prstGeom prst="ellipse">
              <a:avLst/>
            </a:prstGeom>
            <a:gradFill>
              <a:gsLst>
                <a:gs pos="0">
                  <a:srgbClr val="F0998A"/>
                </a:gs>
                <a:gs pos="100000">
                  <a:srgbClr val="E5624C"/>
                </a:gs>
              </a:gsLst>
              <a:lin ang="2700000" scaled="1"/>
            </a:gradFill>
            <a:ln>
              <a:noFill/>
            </a:ln>
          </p:spPr>
        </p:sp>
        <p:grpSp>
          <p:nvGrpSpPr>
            <p:cNvPr id="83" name="Group 83"/>
            <p:cNvGrpSpPr/>
            <p:nvPr/>
          </p:nvGrpSpPr>
          <p:grpSpPr>
            <a:xfrm>
              <a:off x="10510838" y="3186112"/>
              <a:ext cx="200025" cy="257176"/>
              <a:chOff x="10510838" y="3186112"/>
              <a:chExt cx="200025" cy="257176"/>
            </a:xfrm>
          </p:grpSpPr>
          <p:sp>
            <p:nvSpPr>
              <p:cNvPr id="80" name="Freeform 80"/>
              <p:cNvSpPr/>
              <p:nvPr/>
            </p:nvSpPr>
            <p:spPr>
              <a:xfrm>
                <a:off x="10510838" y="3271838"/>
                <a:ext cx="200025" cy="171450"/>
              </a:xfrm>
              <a:custGeom>
                <a:avLst/>
                <a:gdLst/>
                <a:ahLst/>
                <a:cxnLst/>
                <a:rect l="l" t="t" r="r" b="b"/>
                <a:pathLst>
                  <a:path w="200025" h="171450">
                    <a:moveTo>
                      <a:pt x="42862" y="0"/>
                    </a:moveTo>
                    <a:lnTo>
                      <a:pt x="28575" y="0"/>
                    </a:lnTo>
                    <a:cubicBezTo>
                      <a:pt x="12793" y="0"/>
                      <a:pt x="0" y="12793"/>
                      <a:pt x="0" y="28575"/>
                    </a:cubicBezTo>
                    <a:lnTo>
                      <a:pt x="0" y="142875"/>
                    </a:lnTo>
                    <a:cubicBezTo>
                      <a:pt x="0" y="158657"/>
                      <a:pt x="12793" y="171450"/>
                      <a:pt x="28575" y="171450"/>
                    </a:cubicBezTo>
                    <a:lnTo>
                      <a:pt x="171450" y="171450"/>
                    </a:lnTo>
                    <a:cubicBezTo>
                      <a:pt x="187232" y="171450"/>
                      <a:pt x="200025" y="158657"/>
                      <a:pt x="200025" y="142875"/>
                    </a:cubicBezTo>
                    <a:lnTo>
                      <a:pt x="200025" y="28575"/>
                    </a:lnTo>
                    <a:cubicBezTo>
                      <a:pt x="200025" y="12793"/>
                      <a:pt x="187232" y="0"/>
                      <a:pt x="171450" y="0"/>
                    </a:cubicBezTo>
                    <a:lnTo>
                      <a:pt x="157162" y="0"/>
                    </a:lnTo>
                  </a:path>
                </a:pathLst>
              </a:custGeom>
              <a:noFill/>
              <a:ln w="28575">
                <a:solidFill>
                  <a:srgbClr val="FFFFFF"/>
                </a:solidFill>
              </a:ln>
            </p:spPr>
          </p:sp>
          <p:sp>
            <p:nvSpPr>
              <p:cNvPr id="81" name="Freeform 81"/>
              <p:cNvSpPr/>
              <p:nvPr/>
            </p:nvSpPr>
            <p:spPr>
              <a:xfrm>
                <a:off x="10610850" y="3186112"/>
                <a:ext cx="9525" cy="157162"/>
              </a:xfrm>
              <a:custGeom>
                <a:avLst/>
                <a:gdLst/>
                <a:ahLst/>
                <a:cxnLst/>
                <a:rect l="l" t="t" r="r" b="b"/>
                <a:pathLst>
                  <a:path w="9525" h="157162">
                    <a:moveTo>
                      <a:pt x="0" y="157162"/>
                    </a:moveTo>
                    <a:lnTo>
                      <a:pt x="0" y="0"/>
                    </a:lnTo>
                  </a:path>
                </a:pathLst>
              </a:custGeom>
              <a:noFill/>
              <a:ln w="28575">
                <a:solidFill>
                  <a:srgbClr val="FFFFFF"/>
                </a:solidFill>
              </a:ln>
            </p:spPr>
          </p:sp>
          <p:sp>
            <p:nvSpPr>
              <p:cNvPr id="82" name="Freeform 82"/>
              <p:cNvSpPr/>
              <p:nvPr/>
            </p:nvSpPr>
            <p:spPr>
              <a:xfrm>
                <a:off x="10567988" y="3186112"/>
                <a:ext cx="85725" cy="42862"/>
              </a:xfrm>
              <a:custGeom>
                <a:avLst/>
                <a:gdLst/>
                <a:ahLst/>
                <a:cxnLst/>
                <a:rect l="l" t="t" r="r" b="b"/>
                <a:pathLst>
                  <a:path w="85725" h="42862">
                    <a:moveTo>
                      <a:pt x="0" y="42862"/>
                    </a:moveTo>
                    <a:lnTo>
                      <a:pt x="42862" y="0"/>
                    </a:lnTo>
                    <a:lnTo>
                      <a:pt x="85725" y="42862"/>
                    </a:lnTo>
                  </a:path>
                </a:pathLst>
              </a:custGeom>
              <a:noFill/>
              <a:ln w="28575">
                <a:solidFill>
                  <a:srgbClr val="FFFFFF"/>
                </a:solidFill>
              </a:ln>
            </p:spPr>
          </p:sp>
        </p:grpSp>
        <p:sp>
          <p:nvSpPr>
            <p:cNvPr id="84" name="TextBox 84"/>
            <p:cNvSpPr txBox="1"/>
            <p:nvPr/>
          </p:nvSpPr>
          <p:spPr>
            <a:xfrm>
              <a:off x="10152812" y="3764756"/>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站外宣发资源</a:t>
              </a:r>
            </a:p>
          </p:txBody>
        </p:sp>
        <p:sp>
          <p:nvSpPr>
            <p:cNvPr id="85" name="TextBox 85"/>
            <p:cNvSpPr txBox="1"/>
            <p:nvPr/>
          </p:nvSpPr>
          <p:spPr>
            <a:xfrm>
              <a:off x="10191871" y="4025741"/>
              <a:ext cx="837959" cy="161925"/>
            </a:xfrm>
            <a:prstGeom prst="rect">
              <a:avLst/>
            </a:prstGeom>
            <a:noFill/>
            <a:ln>
              <a:noFill/>
            </a:ln>
          </p:spPr>
          <p:txBody>
            <a:bodyPr wrap="none" lIns="0" tIns="0" rIns="0" bIns="0" anchor="t" anchorCtr="0">
              <a:spAutoFit/>
            </a:bodyPr>
            <a:lstStyle/>
            <a:p>
              <a:pPr algn="ctr"/>
              <a:r>
                <a:rPr lang="zh-CN" sz="820" dirty="0">
                  <a:solidFill>
                    <a:srgbClr val="FDF0EC"/>
                  </a:solidFill>
                  <a:latin typeface="+mn-lt"/>
                  <a:ea typeface="+mn-ea"/>
                  <a:cs typeface="+mn-cs"/>
                </a:rPr>
                <a:t>社媒KOL、户外​</a:t>
              </a:r>
            </a:p>
          </p:txBody>
        </p:sp>
        <p:sp>
          <p:nvSpPr>
            <p:cNvPr id="86" name="TextBox 86"/>
            <p:cNvSpPr txBox="1"/>
            <p:nvPr/>
          </p:nvSpPr>
          <p:spPr>
            <a:xfrm>
              <a:off x="10495699" y="4235291"/>
              <a:ext cx="230302" cy="161925"/>
            </a:xfrm>
            <a:prstGeom prst="rect">
              <a:avLst/>
            </a:prstGeom>
            <a:noFill/>
            <a:ln>
              <a:noFill/>
            </a:ln>
          </p:spPr>
          <p:txBody>
            <a:bodyPr wrap="none" lIns="0" tIns="0" rIns="0" bIns="0" anchor="t" anchorCtr="0">
              <a:spAutoFit/>
            </a:bodyPr>
            <a:lstStyle/>
            <a:p>
              <a:pPr algn="ctr"/>
              <a:r>
                <a:rPr lang="zh-CN" sz="820" dirty="0">
                  <a:solidFill>
                    <a:srgbClr val="FDF0EC"/>
                  </a:solidFill>
                  <a:latin typeface="+mn-lt"/>
                  <a:ea typeface="+mn-ea"/>
                  <a:cs typeface="+mn-cs"/>
                </a:rPr>
                <a:t>广告</a:t>
              </a:r>
            </a:p>
          </p:txBody>
        </p:sp>
        <p:sp>
          <p:nvSpPr>
            <p:cNvPr id="87" name="Ellipse 87"/>
            <p:cNvSpPr/>
            <p:nvPr/>
          </p:nvSpPr>
          <p:spPr>
            <a:xfrm>
              <a:off x="9534525" y="4695825"/>
              <a:ext cx="457200" cy="457200"/>
            </a:xfrm>
            <a:prstGeom prst="ellipse">
              <a:avLst/>
            </a:prstGeom>
            <a:solidFill>
              <a:srgbClr val="C34932"/>
            </a:solidFill>
            <a:ln>
              <a:noFill/>
            </a:ln>
          </p:spPr>
        </p:sp>
        <p:sp>
          <p:nvSpPr>
            <p:cNvPr id="88" name="Ellipse 88"/>
            <p:cNvSpPr/>
            <p:nvPr/>
          </p:nvSpPr>
          <p:spPr>
            <a:xfrm>
              <a:off x="9629775" y="4824412"/>
              <a:ext cx="133350" cy="104775"/>
            </a:xfrm>
            <a:prstGeom prst="ellipse">
              <a:avLst/>
            </a:prstGeom>
            <a:solidFill>
              <a:srgbClr val="FFFFFF"/>
            </a:solidFill>
            <a:ln>
              <a:noFill/>
            </a:ln>
          </p:spPr>
        </p:sp>
        <p:sp>
          <p:nvSpPr>
            <p:cNvPr id="89" name="Ellipse 89"/>
            <p:cNvSpPr/>
            <p:nvPr/>
          </p:nvSpPr>
          <p:spPr>
            <a:xfrm>
              <a:off x="9782175" y="4924425"/>
              <a:ext cx="114300" cy="95250"/>
            </a:xfrm>
            <a:prstGeom prst="ellipse">
              <a:avLst/>
            </a:prstGeom>
            <a:solidFill>
              <a:srgbClr val="FFFFFF"/>
            </a:solidFill>
            <a:ln>
              <a:noFill/>
            </a:ln>
          </p:spPr>
        </p:sp>
        <p:sp>
          <p:nvSpPr>
            <p:cNvPr id="90" name="Ellipse 90"/>
            <p:cNvSpPr/>
            <p:nvPr/>
          </p:nvSpPr>
          <p:spPr>
            <a:xfrm>
              <a:off x="10791825" y="4752975"/>
              <a:ext cx="419100" cy="419100"/>
            </a:xfrm>
            <a:prstGeom prst="ellipse">
              <a:avLst/>
            </a:prstGeom>
            <a:solidFill>
              <a:srgbClr val="E5624C"/>
            </a:solidFill>
            <a:ln>
              <a:noFill/>
            </a:ln>
          </p:spPr>
        </p:sp>
        <p:sp>
          <p:nvSpPr>
            <p:cNvPr id="91" name="TextBox 91"/>
            <p:cNvSpPr txBox="1"/>
            <p:nvPr/>
          </p:nvSpPr>
          <p:spPr>
            <a:xfrm>
              <a:off x="10920273" y="4898231"/>
              <a:ext cx="16220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红</a:t>
              </a:r>
            </a:p>
          </p:txBody>
        </p:sp>
        <p:sp>
          <p:nvSpPr>
            <p:cNvPr id="92" name="Ellipse 92"/>
            <p:cNvSpPr/>
            <p:nvPr/>
          </p:nvSpPr>
          <p:spPr>
            <a:xfrm>
              <a:off x="10172700" y="5543550"/>
              <a:ext cx="419100" cy="419100"/>
            </a:xfrm>
            <a:prstGeom prst="ellipse">
              <a:avLst/>
            </a:prstGeom>
            <a:solidFill>
              <a:srgbClr val="FB8B72"/>
            </a:solidFill>
            <a:ln>
              <a:noFill/>
            </a:ln>
          </p:spPr>
        </p:sp>
        <p:sp>
          <p:nvSpPr>
            <p:cNvPr id="93" name="TextBox 93"/>
            <p:cNvSpPr txBox="1"/>
            <p:nvPr/>
          </p:nvSpPr>
          <p:spPr>
            <a:xfrm>
              <a:off x="10326017" y="5682139"/>
              <a:ext cx="112465" cy="249364"/>
            </a:xfrm>
            <a:prstGeom prst="rect">
              <a:avLst/>
            </a:prstGeom>
            <a:noFill/>
            <a:ln>
              <a:noFill/>
            </a:ln>
          </p:spPr>
          <p:txBody>
            <a:bodyPr wrap="none" lIns="0" tIns="0" rIns="0" bIns="0" anchor="t" anchorCtr="0">
              <a:spAutoFit/>
            </a:bodyPr>
            <a:lstStyle/>
            <a:p>
              <a:pPr algn="ctr"/>
              <a:r>
                <a:rPr lang="en-US" sz="1280" b="1" dirty="0">
                  <a:solidFill>
                    <a:srgbClr val="FFFFFF"/>
                  </a:solidFill>
                  <a:latin typeface="+mn-lt"/>
                  <a:ea typeface="+mn-ea"/>
                  <a:cs typeface="+mn-cs"/>
                </a:rPr>
                <a:t>b</a:t>
              </a:r>
            </a:p>
          </p:txBody>
        </p:sp>
      </p:gr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t4"/>
          <p:cNvSpPr/>
          <p:nvPr/>
        </p:nvSpPr>
        <p:spPr>
          <a:xfrm>
            <a:off x="809625" y="952500"/>
            <a:ext cx="11049000" cy="1000125"/>
          </a:xfrm>
          <a:prstGeom prst="rect">
            <a:avLst/>
          </a:prstGeom>
          <a:solidFill>
            <a:srgbClr val="FAEFEA"/>
          </a:solidFill>
          <a:ln>
            <a:noFill/>
          </a:ln>
        </p:spPr>
      </p:sp>
      <p:sp>
        <p:nvSpPr>
          <p:cNvPr id="3" name="band-t3"/>
          <p:cNvSpPr/>
          <p:nvPr/>
        </p:nvSpPr>
        <p:spPr>
          <a:xfrm>
            <a:off x="809625" y="1952625"/>
            <a:ext cx="11049000" cy="1209675"/>
          </a:xfrm>
          <a:prstGeom prst="rect">
            <a:avLst/>
          </a:prstGeom>
          <a:solidFill>
            <a:srgbClr val="F2EFF9"/>
          </a:solidFill>
          <a:ln>
            <a:noFill/>
          </a:ln>
        </p:spPr>
      </p:sp>
      <p:sp>
        <p:nvSpPr>
          <p:cNvPr id="4" name="band-t2"/>
          <p:cNvSpPr/>
          <p:nvPr/>
        </p:nvSpPr>
        <p:spPr>
          <a:xfrm>
            <a:off x="809625" y="3162300"/>
            <a:ext cx="11049000" cy="1104900"/>
          </a:xfrm>
          <a:prstGeom prst="rect">
            <a:avLst/>
          </a:prstGeom>
          <a:solidFill>
            <a:srgbClr val="FAEFEA"/>
          </a:solidFill>
          <a:ln>
            <a:noFill/>
          </a:ln>
        </p:spPr>
      </p:sp>
      <p:sp>
        <p:nvSpPr>
          <p:cNvPr id="5" name="band-t1"/>
          <p:cNvSpPr/>
          <p:nvPr/>
        </p:nvSpPr>
        <p:spPr>
          <a:xfrm>
            <a:off x="809625" y="4267200"/>
            <a:ext cx="11049000" cy="1828800"/>
          </a:xfrm>
          <a:prstGeom prst="rect">
            <a:avLst/>
          </a:prstGeom>
          <a:solidFill>
            <a:srgbClr val="F2EFF9"/>
          </a:solidFill>
          <a:ln>
            <a:noFill/>
          </a:ln>
        </p:spPr>
      </p:sp>
      <p:sp>
        <p:nvSpPr>
          <p:cNvPr id="6" name="Line 6"/>
          <p:cNvSpPr/>
          <p:nvPr/>
        </p:nvSpPr>
        <p:spPr>
          <a:xfrm flipV="1">
            <a:off x="676275" y="990600"/>
            <a:ext cx="1" cy="5295900"/>
          </a:xfrm>
          <a:prstGeom prst="line">
            <a:avLst/>
          </a:prstGeom>
          <a:noFill/>
          <a:ln w="47625">
            <a:solidFill>
              <a:srgbClr val="ED8776"/>
            </a:solidFill>
            <a:tailEnd type="triangle" w="lg" len="lg"/>
          </a:ln>
        </p:spPr>
      </p:sp>
      <p:sp>
        <p:nvSpPr>
          <p:cNvPr id="7" name="Line 7"/>
          <p:cNvSpPr/>
          <p:nvPr/>
        </p:nvSpPr>
        <p:spPr>
          <a:xfrm>
            <a:off x="571500" y="6324600"/>
            <a:ext cx="11239500" cy="1"/>
          </a:xfrm>
          <a:prstGeom prst="line">
            <a:avLst/>
          </a:prstGeom>
          <a:noFill/>
          <a:ln w="47625">
            <a:solidFill>
              <a:srgbClr val="ED8776"/>
            </a:solidFill>
            <a:tailEnd type="triangle" w="lg" len="lg"/>
          </a:ln>
        </p:spPr>
      </p:sp>
      <p:grpSp>
        <p:nvGrpSpPr>
          <p:cNvPr id="10" name="page-header"/>
          <p:cNvGrpSpPr/>
          <p:nvPr/>
        </p:nvGrpSpPr>
        <p:grpSpPr>
          <a:xfrm>
            <a:off x="302895" y="214312"/>
            <a:ext cx="1728597" cy="440055"/>
            <a:chOff x="302895" y="214312"/>
            <a:chExt cx="1728597" cy="440055"/>
          </a:xfrm>
        </p:grpSpPr>
        <p:sp>
          <p:nvSpPr>
            <p:cNvPr id="8" name="TextBox 8"/>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37.​</a:t>
              </a:r>
            </a:p>
          </p:txBody>
        </p:sp>
        <p:sp>
          <p:nvSpPr>
            <p:cNvPr id="9" name="TextBox 9"/>
            <p:cNvSpPr txBox="1"/>
            <p:nvPr/>
          </p:nvSpPr>
          <p:spPr>
            <a:xfrm>
              <a:off x="961644" y="246698"/>
              <a:ext cx="1069848"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营销战略</a:t>
              </a:r>
            </a:p>
          </p:txBody>
        </p:sp>
      </p:grpSp>
      <p:grpSp>
        <p:nvGrpSpPr>
          <p:cNvPr id="22" name="tier1-data"/>
          <p:cNvGrpSpPr/>
          <p:nvPr/>
        </p:nvGrpSpPr>
        <p:grpSpPr>
          <a:xfrm>
            <a:off x="1060323" y="4305300"/>
            <a:ext cx="3721227" cy="1371362"/>
            <a:chOff x="1060323" y="4305300"/>
            <a:chExt cx="3721227" cy="1371362"/>
          </a:xfrm>
        </p:grpSpPr>
        <p:sp>
          <p:nvSpPr>
            <p:cNvPr id="11" name="TextBox 11"/>
            <p:cNvSpPr txBox="1"/>
            <p:nvPr/>
          </p:nvSpPr>
          <p:spPr>
            <a:xfrm>
              <a:off x="1060323" y="4910614"/>
              <a:ext cx="357581" cy="249364"/>
            </a:xfrm>
            <a:prstGeom prst="rect">
              <a:avLst/>
            </a:prstGeom>
            <a:noFill/>
            <a:ln>
              <a:noFill/>
            </a:ln>
          </p:spPr>
          <p:txBody>
            <a:bodyPr wrap="none" lIns="0" tIns="0" rIns="0" bIns="0" anchor="t" anchorCtr="0">
              <a:spAutoFit/>
            </a:bodyPr>
            <a:lstStyle/>
            <a:p>
              <a:pPr algn="l"/>
              <a:r>
                <a:rPr lang="zh-CN" sz="1280" b="1" dirty="0">
                  <a:solidFill>
                    <a:srgbClr val="E5624C"/>
                  </a:solidFill>
                  <a:latin typeface="+mn-lt"/>
                  <a:ea typeface="+mn-ea"/>
                  <a:cs typeface="+mn-cs"/>
                </a:rPr>
                <a:t>用户</a:t>
              </a:r>
            </a:p>
          </p:txBody>
        </p:sp>
        <p:sp>
          <p:nvSpPr>
            <p:cNvPr id="12" name="TextBox 12"/>
            <p:cNvSpPr txBox="1"/>
            <p:nvPr/>
          </p:nvSpPr>
          <p:spPr>
            <a:xfrm>
              <a:off x="1060323" y="5177314"/>
              <a:ext cx="357581" cy="249364"/>
            </a:xfrm>
            <a:prstGeom prst="rect">
              <a:avLst/>
            </a:prstGeom>
            <a:noFill/>
            <a:ln>
              <a:noFill/>
            </a:ln>
          </p:spPr>
          <p:txBody>
            <a:bodyPr wrap="none" lIns="0" tIns="0" rIns="0" bIns="0" anchor="t" anchorCtr="0">
              <a:spAutoFit/>
            </a:bodyPr>
            <a:lstStyle/>
            <a:p>
              <a:pPr algn="l"/>
              <a:r>
                <a:rPr lang="zh-CN" sz="1280" b="1" dirty="0">
                  <a:solidFill>
                    <a:srgbClr val="E5624C"/>
                  </a:solidFill>
                  <a:latin typeface="+mn-lt"/>
                  <a:ea typeface="+mn-ea"/>
                  <a:cs typeface="+mn-cs"/>
                </a:rPr>
                <a:t>数据</a:t>
              </a:r>
            </a:p>
          </p:txBody>
        </p:sp>
        <p:sp>
          <p:nvSpPr>
            <p:cNvPr id="13" name="Line 13"/>
            <p:cNvSpPr/>
            <p:nvPr/>
          </p:nvSpPr>
          <p:spPr>
            <a:xfrm flipH="1">
              <a:off x="2038350" y="5133975"/>
              <a:ext cx="438150" cy="1"/>
            </a:xfrm>
            <a:prstGeom prst="line">
              <a:avLst/>
            </a:prstGeom>
            <a:noFill/>
            <a:ln w="19050">
              <a:solidFill>
                <a:srgbClr val="DD988A"/>
              </a:solidFill>
              <a:tailEnd type="triangle" w="lg" len="lg"/>
            </a:ln>
          </p:spPr>
        </p:sp>
        <p:sp>
          <p:nvSpPr>
            <p:cNvPr id="14" name="Ellipse 14"/>
            <p:cNvSpPr/>
            <p:nvPr/>
          </p:nvSpPr>
          <p:spPr>
            <a:xfrm>
              <a:off x="4133850" y="4305300"/>
              <a:ext cx="647700" cy="647700"/>
            </a:xfrm>
            <a:prstGeom prst="ellipse">
              <a:avLst/>
            </a:prstGeom>
            <a:solidFill>
              <a:srgbClr val="FFFFFF">
                <a:alpha val="85000"/>
              </a:srgbClr>
            </a:solidFill>
            <a:ln>
              <a:noFill/>
            </a:ln>
          </p:spPr>
        </p:sp>
        <p:sp>
          <p:nvSpPr>
            <p:cNvPr id="15" name="Ellipse 15"/>
            <p:cNvSpPr/>
            <p:nvPr/>
          </p:nvSpPr>
          <p:spPr>
            <a:xfrm>
              <a:off x="4238625" y="4410075"/>
              <a:ext cx="438150" cy="438150"/>
            </a:xfrm>
            <a:prstGeom prst="ellipse">
              <a:avLst/>
            </a:prstGeom>
            <a:gradFill>
              <a:gsLst>
                <a:gs pos="0">
                  <a:srgbClr val="F0998A"/>
                </a:gs>
                <a:gs pos="100000">
                  <a:srgbClr val="E5624C"/>
                </a:gs>
              </a:gsLst>
              <a:lin ang="2700000" scaled="1"/>
            </a:gradFill>
            <a:ln>
              <a:noFill/>
            </a:ln>
          </p:spPr>
        </p:sp>
        <p:sp>
          <p:nvSpPr>
            <p:cNvPr id="16" name="TextBox 16"/>
            <p:cNvSpPr txBox="1"/>
            <p:nvPr/>
          </p:nvSpPr>
          <p:spPr>
            <a:xfrm>
              <a:off x="4391773" y="4543425"/>
              <a:ext cx="131855"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1</a:t>
              </a:r>
            </a:p>
          </p:txBody>
        </p:sp>
        <p:sp>
          <p:nvSpPr>
            <p:cNvPr id="17" name="Rectangle 17"/>
            <p:cNvSpPr/>
            <p:nvPr/>
          </p:nvSpPr>
          <p:spPr>
            <a:xfrm>
              <a:off x="2247900" y="4810125"/>
              <a:ext cx="1905000" cy="266700"/>
            </a:xfrm>
            <a:prstGeom prst="rect">
              <a:avLst/>
            </a:prstGeom>
            <a:solidFill>
              <a:srgbClr val="FFFFFF">
                <a:alpha val="95000"/>
              </a:srgbClr>
            </a:solidFill>
            <a:ln>
              <a:noFill/>
            </a:ln>
          </p:spPr>
        </p:sp>
        <p:sp>
          <p:nvSpPr>
            <p:cNvPr id="18" name="TextBox 18"/>
            <p:cNvSpPr txBox="1"/>
            <p:nvPr/>
          </p:nvSpPr>
          <p:spPr>
            <a:xfrm>
              <a:off x="2337626" y="4883229"/>
              <a:ext cx="1038200" cy="212693"/>
            </a:xfrm>
            <a:prstGeom prst="rect">
              <a:avLst/>
            </a:prstGeom>
            <a:noFill/>
            <a:ln>
              <a:noFill/>
            </a:ln>
          </p:spPr>
          <p:txBody>
            <a:bodyPr wrap="none" lIns="0" tIns="0" rIns="0" bIns="0" anchor="t" anchorCtr="0">
              <a:spAutoFit/>
            </a:bodyPr>
            <a:lstStyle/>
            <a:p>
              <a:pPr algn="l"/>
              <a:r>
                <a:rPr lang="zh-CN" sz="1090" b="1" dirty="0">
                  <a:solidFill>
                    <a:srgbClr val="C1553F"/>
                  </a:solidFill>
                  <a:latin typeface="+mn-lt"/>
                  <a:ea typeface="+mn-ea"/>
                  <a:cs typeface="+mn-cs"/>
                </a:rPr>
                <a:t>用户与数据管理</a:t>
              </a:r>
            </a:p>
          </p:txBody>
        </p:sp>
        <p:sp>
          <p:nvSpPr>
            <p:cNvPr id="19" name="TextBox 19"/>
            <p:cNvSpPr txBox="1"/>
            <p:nvPr/>
          </p:nvSpPr>
          <p:spPr>
            <a:xfrm>
              <a:off x="2252662" y="5164693"/>
              <a:ext cx="1514577"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最大化利用自有平台及第三方</a:t>
              </a:r>
            </a:p>
          </p:txBody>
        </p:sp>
        <p:sp>
          <p:nvSpPr>
            <p:cNvPr id="20" name="TextBox 20"/>
            <p:cNvSpPr txBox="1"/>
            <p:nvPr/>
          </p:nvSpPr>
          <p:spPr>
            <a:xfrm>
              <a:off x="2252662" y="5336143"/>
              <a:ext cx="1514577"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数据资源，整合管理用户数据</a:t>
              </a:r>
            </a:p>
          </p:txBody>
        </p:sp>
        <p:sp>
          <p:nvSpPr>
            <p:cNvPr id="21" name="TextBox 21"/>
            <p:cNvSpPr txBox="1"/>
            <p:nvPr/>
          </p:nvSpPr>
          <p:spPr>
            <a:xfrm>
              <a:off x="2252662" y="5507593"/>
              <a:ext cx="1167257"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。精准识别高潜人群。</a:t>
              </a:r>
            </a:p>
          </p:txBody>
        </p:sp>
      </p:grpSp>
      <p:grpSp>
        <p:nvGrpSpPr>
          <p:cNvPr id="31" name="tier2-connect"/>
          <p:cNvGrpSpPr/>
          <p:nvPr/>
        </p:nvGrpSpPr>
        <p:grpSpPr>
          <a:xfrm>
            <a:off x="1060323" y="3314700"/>
            <a:ext cx="5864352" cy="683228"/>
            <a:chOff x="1060323" y="3314700"/>
            <a:chExt cx="5864352" cy="683228"/>
          </a:xfrm>
        </p:grpSpPr>
        <p:sp>
          <p:nvSpPr>
            <p:cNvPr id="23" name="TextBox 23"/>
            <p:cNvSpPr txBox="1"/>
            <p:nvPr/>
          </p:nvSpPr>
          <p:spPr>
            <a:xfrm>
              <a:off x="1060323" y="3519964"/>
              <a:ext cx="357581" cy="249364"/>
            </a:xfrm>
            <a:prstGeom prst="rect">
              <a:avLst/>
            </a:prstGeom>
            <a:noFill/>
            <a:ln>
              <a:noFill/>
            </a:ln>
          </p:spPr>
          <p:txBody>
            <a:bodyPr wrap="none" lIns="0" tIns="0" rIns="0" bIns="0" anchor="t" anchorCtr="0">
              <a:spAutoFit/>
            </a:bodyPr>
            <a:lstStyle/>
            <a:p>
              <a:pPr algn="l"/>
              <a:r>
                <a:rPr lang="zh-CN" sz="1280" b="1" dirty="0">
                  <a:solidFill>
                    <a:srgbClr val="E5624C"/>
                  </a:solidFill>
                  <a:latin typeface="+mn-lt"/>
                  <a:ea typeface="+mn-ea"/>
                  <a:cs typeface="+mn-cs"/>
                </a:rPr>
                <a:t>用户</a:t>
              </a:r>
            </a:p>
          </p:txBody>
        </p:sp>
        <p:sp>
          <p:nvSpPr>
            <p:cNvPr id="24" name="TextBox 24"/>
            <p:cNvSpPr txBox="1"/>
            <p:nvPr/>
          </p:nvSpPr>
          <p:spPr>
            <a:xfrm>
              <a:off x="1060323" y="3748564"/>
              <a:ext cx="357581" cy="249364"/>
            </a:xfrm>
            <a:prstGeom prst="rect">
              <a:avLst/>
            </a:prstGeom>
            <a:noFill/>
            <a:ln>
              <a:noFill/>
            </a:ln>
          </p:spPr>
          <p:txBody>
            <a:bodyPr wrap="none" lIns="0" tIns="0" rIns="0" bIns="0" anchor="t" anchorCtr="0">
              <a:spAutoFit/>
            </a:bodyPr>
            <a:lstStyle/>
            <a:p>
              <a:pPr algn="l"/>
              <a:r>
                <a:rPr lang="zh-CN" sz="1280" b="1" dirty="0">
                  <a:solidFill>
                    <a:srgbClr val="E5624C"/>
                  </a:solidFill>
                  <a:latin typeface="+mn-lt"/>
                  <a:ea typeface="+mn-ea"/>
                  <a:cs typeface="+mn-cs"/>
                </a:rPr>
                <a:t>连接</a:t>
              </a:r>
            </a:p>
          </p:txBody>
        </p:sp>
        <p:sp>
          <p:nvSpPr>
            <p:cNvPr id="25" name="Line 25"/>
            <p:cNvSpPr/>
            <p:nvPr/>
          </p:nvSpPr>
          <p:spPr>
            <a:xfrm flipH="1">
              <a:off x="2038350" y="3838575"/>
              <a:ext cx="723900" cy="1"/>
            </a:xfrm>
            <a:prstGeom prst="line">
              <a:avLst/>
            </a:prstGeom>
            <a:noFill/>
            <a:ln w="19050">
              <a:solidFill>
                <a:srgbClr val="DD988A"/>
              </a:solidFill>
              <a:tailEnd type="triangle" w="lg" len="lg"/>
            </a:ln>
          </p:spPr>
        </p:sp>
        <p:sp>
          <p:nvSpPr>
            <p:cNvPr id="26" name="Rectangle 26"/>
            <p:cNvSpPr/>
            <p:nvPr/>
          </p:nvSpPr>
          <p:spPr>
            <a:xfrm>
              <a:off x="2819400" y="3714750"/>
              <a:ext cx="1428750" cy="247650"/>
            </a:xfrm>
            <a:prstGeom prst="roundRect">
              <a:avLst>
                <a:gd name="adj" fmla="val 50000"/>
              </a:avLst>
            </a:prstGeom>
            <a:solidFill>
              <a:srgbClr val="FFFFFF"/>
            </a:solidFill>
            <a:ln w="9525">
              <a:solidFill>
                <a:srgbClr val="ED8776"/>
              </a:solidFill>
            </a:ln>
          </p:spPr>
        </p:sp>
        <p:sp>
          <p:nvSpPr>
            <p:cNvPr id="27" name="TextBox 27"/>
            <p:cNvSpPr txBox="1"/>
            <p:nvPr/>
          </p:nvSpPr>
          <p:spPr>
            <a:xfrm>
              <a:off x="3065920" y="3793093"/>
              <a:ext cx="935711" cy="169069"/>
            </a:xfrm>
            <a:prstGeom prst="rect">
              <a:avLst/>
            </a:prstGeom>
            <a:noFill/>
            <a:ln>
              <a:noFill/>
            </a:ln>
          </p:spPr>
          <p:txBody>
            <a:bodyPr wrap="none" lIns="0" tIns="0" rIns="0" bIns="0" anchor="t" anchorCtr="0">
              <a:spAutoFit/>
            </a:bodyPr>
            <a:lstStyle/>
            <a:p>
              <a:pPr algn="ctr"/>
              <a:r>
                <a:rPr lang="zh-CN" sz="860" dirty="0">
                  <a:solidFill>
                    <a:srgbClr val="E5624C"/>
                  </a:solidFill>
                  <a:latin typeface="+mn-lt"/>
                  <a:ea typeface="+mn-ea"/>
                  <a:cs typeface="+mn-cs"/>
                </a:rPr>
                <a:t>敏捷、稳定、聚合</a:t>
              </a:r>
            </a:p>
          </p:txBody>
        </p:sp>
        <p:sp>
          <p:nvSpPr>
            <p:cNvPr id="28" name="Ellipse 28"/>
            <p:cNvSpPr/>
            <p:nvPr/>
          </p:nvSpPr>
          <p:spPr>
            <a:xfrm>
              <a:off x="6276975" y="3314700"/>
              <a:ext cx="647700" cy="647700"/>
            </a:xfrm>
            <a:prstGeom prst="ellipse">
              <a:avLst/>
            </a:prstGeom>
            <a:solidFill>
              <a:srgbClr val="FFFFFF">
                <a:alpha val="85000"/>
              </a:srgbClr>
            </a:solidFill>
            <a:ln>
              <a:noFill/>
            </a:ln>
          </p:spPr>
        </p:sp>
        <p:sp>
          <p:nvSpPr>
            <p:cNvPr id="29" name="Ellipse 29"/>
            <p:cNvSpPr/>
            <p:nvPr/>
          </p:nvSpPr>
          <p:spPr>
            <a:xfrm>
              <a:off x="6381750" y="3419475"/>
              <a:ext cx="438150" cy="438150"/>
            </a:xfrm>
            <a:prstGeom prst="ellipse">
              <a:avLst/>
            </a:prstGeom>
            <a:gradFill>
              <a:gsLst>
                <a:gs pos="0">
                  <a:srgbClr val="F0998A"/>
                </a:gs>
                <a:gs pos="100000">
                  <a:srgbClr val="E5624C"/>
                </a:gs>
              </a:gsLst>
              <a:lin ang="2700000" scaled="1"/>
            </a:gradFill>
            <a:ln>
              <a:noFill/>
            </a:ln>
          </p:spPr>
        </p:sp>
        <p:sp>
          <p:nvSpPr>
            <p:cNvPr id="30" name="TextBox 30"/>
            <p:cNvSpPr txBox="1"/>
            <p:nvPr/>
          </p:nvSpPr>
          <p:spPr>
            <a:xfrm>
              <a:off x="6534898" y="3552825"/>
              <a:ext cx="131855"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2</a:t>
              </a:r>
            </a:p>
          </p:txBody>
        </p:sp>
      </p:grpSp>
      <p:grpSp>
        <p:nvGrpSpPr>
          <p:cNvPr id="39" name="tier2-body"/>
          <p:cNvGrpSpPr/>
          <p:nvPr/>
        </p:nvGrpSpPr>
        <p:grpSpPr>
          <a:xfrm>
            <a:off x="5095875" y="4076700"/>
            <a:ext cx="1809750" cy="1180862"/>
            <a:chOff x="5095875" y="4076700"/>
            <a:chExt cx="1809750" cy="1180862"/>
          </a:xfrm>
        </p:grpSpPr>
        <p:sp>
          <p:nvSpPr>
            <p:cNvPr id="32" name="Rectangle 32"/>
            <p:cNvSpPr/>
            <p:nvPr/>
          </p:nvSpPr>
          <p:spPr>
            <a:xfrm>
              <a:off x="5095875" y="4076700"/>
              <a:ext cx="1809750" cy="266700"/>
            </a:xfrm>
            <a:prstGeom prst="rect">
              <a:avLst/>
            </a:prstGeom>
            <a:solidFill>
              <a:srgbClr val="FFFFFF">
                <a:alpha val="95000"/>
              </a:srgbClr>
            </a:solidFill>
            <a:ln>
              <a:noFill/>
            </a:ln>
          </p:spPr>
        </p:sp>
        <p:sp>
          <p:nvSpPr>
            <p:cNvPr id="33" name="TextBox 33"/>
            <p:cNvSpPr txBox="1"/>
            <p:nvPr/>
          </p:nvSpPr>
          <p:spPr>
            <a:xfrm>
              <a:off x="5185600" y="4149804"/>
              <a:ext cx="1184935" cy="212693"/>
            </a:xfrm>
            <a:prstGeom prst="rect">
              <a:avLst/>
            </a:prstGeom>
            <a:noFill/>
            <a:ln>
              <a:noFill/>
            </a:ln>
          </p:spPr>
          <p:txBody>
            <a:bodyPr wrap="none" lIns="0" tIns="0" rIns="0" bIns="0" anchor="t" anchorCtr="0">
              <a:spAutoFit/>
            </a:bodyPr>
            <a:lstStyle/>
            <a:p>
              <a:pPr algn="l"/>
              <a:r>
                <a:rPr lang="zh-CN" sz="1090" b="1" dirty="0">
                  <a:solidFill>
                    <a:srgbClr val="C1553F"/>
                  </a:solidFill>
                  <a:latin typeface="+mn-lt"/>
                  <a:ea typeface="+mn-ea"/>
                  <a:cs typeface="+mn-cs"/>
                </a:rPr>
                <a:t>高聚合战略性连接</a:t>
              </a:r>
            </a:p>
          </p:txBody>
        </p:sp>
        <p:sp>
          <p:nvSpPr>
            <p:cNvPr id="34" name="TextBox 34"/>
            <p:cNvSpPr txBox="1"/>
            <p:nvPr/>
          </p:nvSpPr>
          <p:spPr>
            <a:xfrm>
              <a:off x="5129212" y="4402693"/>
              <a:ext cx="1398803"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基于品牌第一方自有平台及</a:t>
              </a:r>
            </a:p>
          </p:txBody>
        </p:sp>
        <p:sp>
          <p:nvSpPr>
            <p:cNvPr id="35" name="TextBox 35"/>
            <p:cNvSpPr txBox="1"/>
            <p:nvPr/>
          </p:nvSpPr>
          <p:spPr>
            <a:xfrm>
              <a:off x="5129212" y="4574143"/>
              <a:ext cx="1398803"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第三方高价值高聚合的社交</a:t>
              </a:r>
            </a:p>
          </p:txBody>
        </p:sp>
        <p:sp>
          <p:nvSpPr>
            <p:cNvPr id="36" name="TextBox 36"/>
            <p:cNvSpPr txBox="1"/>
            <p:nvPr/>
          </p:nvSpPr>
          <p:spPr>
            <a:xfrm>
              <a:off x="5129212" y="4745593"/>
              <a:ext cx="1398803"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、内容平台、电商平台等为</a:t>
              </a:r>
            </a:p>
          </p:txBody>
        </p:sp>
        <p:sp>
          <p:nvSpPr>
            <p:cNvPr id="37" name="TextBox 37"/>
            <p:cNvSpPr txBox="1"/>
            <p:nvPr/>
          </p:nvSpPr>
          <p:spPr>
            <a:xfrm>
              <a:off x="5129212" y="4917043"/>
              <a:ext cx="1398803"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主干，构建用户全渠道数字</a:t>
              </a:r>
            </a:p>
          </p:txBody>
        </p:sp>
        <p:sp>
          <p:nvSpPr>
            <p:cNvPr id="38" name="TextBox 38"/>
            <p:cNvSpPr txBox="1"/>
            <p:nvPr/>
          </p:nvSpPr>
          <p:spPr>
            <a:xfrm>
              <a:off x="5129212" y="5088493"/>
              <a:ext cx="1051484"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化的战略性连接矩阵</a:t>
              </a:r>
            </a:p>
          </p:txBody>
        </p:sp>
      </p:grpSp>
      <p:grpSp>
        <p:nvGrpSpPr>
          <p:cNvPr id="48" name="tier3-operate"/>
          <p:cNvGrpSpPr/>
          <p:nvPr/>
        </p:nvGrpSpPr>
        <p:grpSpPr>
          <a:xfrm>
            <a:off x="1060323" y="2219325"/>
            <a:ext cx="8074152" cy="654653"/>
            <a:chOff x="1060323" y="2219325"/>
            <a:chExt cx="8074152" cy="654653"/>
          </a:xfrm>
        </p:grpSpPr>
        <p:sp>
          <p:nvSpPr>
            <p:cNvPr id="40" name="TextBox 40"/>
            <p:cNvSpPr txBox="1"/>
            <p:nvPr/>
          </p:nvSpPr>
          <p:spPr>
            <a:xfrm>
              <a:off x="1060323" y="2357914"/>
              <a:ext cx="357581" cy="249364"/>
            </a:xfrm>
            <a:prstGeom prst="rect">
              <a:avLst/>
            </a:prstGeom>
            <a:noFill/>
            <a:ln>
              <a:noFill/>
            </a:ln>
          </p:spPr>
          <p:txBody>
            <a:bodyPr wrap="none" lIns="0" tIns="0" rIns="0" bIns="0" anchor="t" anchorCtr="0">
              <a:spAutoFit/>
            </a:bodyPr>
            <a:lstStyle/>
            <a:p>
              <a:pPr algn="l"/>
              <a:r>
                <a:rPr lang="zh-CN" sz="1280" b="1" dirty="0">
                  <a:solidFill>
                    <a:srgbClr val="E5624C"/>
                  </a:solidFill>
                  <a:latin typeface="+mn-lt"/>
                  <a:ea typeface="+mn-ea"/>
                  <a:cs typeface="+mn-cs"/>
                </a:rPr>
                <a:t>用户</a:t>
              </a:r>
            </a:p>
          </p:txBody>
        </p:sp>
        <p:sp>
          <p:nvSpPr>
            <p:cNvPr id="41" name="TextBox 41"/>
            <p:cNvSpPr txBox="1"/>
            <p:nvPr/>
          </p:nvSpPr>
          <p:spPr>
            <a:xfrm>
              <a:off x="1060323" y="2624614"/>
              <a:ext cx="357581" cy="249364"/>
            </a:xfrm>
            <a:prstGeom prst="rect">
              <a:avLst/>
            </a:prstGeom>
            <a:noFill/>
            <a:ln>
              <a:noFill/>
            </a:ln>
          </p:spPr>
          <p:txBody>
            <a:bodyPr wrap="none" lIns="0" tIns="0" rIns="0" bIns="0" anchor="t" anchorCtr="0">
              <a:spAutoFit/>
            </a:bodyPr>
            <a:lstStyle/>
            <a:p>
              <a:pPr algn="l"/>
              <a:r>
                <a:rPr lang="zh-CN" sz="1280" b="1" dirty="0">
                  <a:solidFill>
                    <a:srgbClr val="E5624C"/>
                  </a:solidFill>
                  <a:latin typeface="+mn-lt"/>
                  <a:ea typeface="+mn-ea"/>
                  <a:cs typeface="+mn-cs"/>
                </a:rPr>
                <a:t>运营</a:t>
              </a:r>
            </a:p>
          </p:txBody>
        </p:sp>
        <p:sp>
          <p:nvSpPr>
            <p:cNvPr id="42" name="Line 42"/>
            <p:cNvSpPr/>
            <p:nvPr/>
          </p:nvSpPr>
          <p:spPr>
            <a:xfrm flipH="1">
              <a:off x="2038350" y="2705100"/>
              <a:ext cx="2057400" cy="1"/>
            </a:xfrm>
            <a:prstGeom prst="line">
              <a:avLst/>
            </a:prstGeom>
            <a:noFill/>
            <a:ln w="19050">
              <a:solidFill>
                <a:srgbClr val="DD988A"/>
              </a:solidFill>
              <a:tailEnd type="triangle" w="lg" len="lg"/>
            </a:ln>
          </p:spPr>
        </p:sp>
        <p:sp>
          <p:nvSpPr>
            <p:cNvPr id="43" name="Rectangle 43"/>
            <p:cNvSpPr/>
            <p:nvPr/>
          </p:nvSpPr>
          <p:spPr>
            <a:xfrm>
              <a:off x="4171950" y="2590800"/>
              <a:ext cx="1333500" cy="247650"/>
            </a:xfrm>
            <a:prstGeom prst="roundRect">
              <a:avLst>
                <a:gd name="adj" fmla="val 50000"/>
              </a:avLst>
            </a:prstGeom>
            <a:solidFill>
              <a:srgbClr val="FFFFFF"/>
            </a:solidFill>
            <a:ln w="9525">
              <a:solidFill>
                <a:srgbClr val="ED8776"/>
              </a:solidFill>
            </a:ln>
          </p:spPr>
        </p:sp>
        <p:sp>
          <p:nvSpPr>
            <p:cNvPr id="44" name="TextBox 44"/>
            <p:cNvSpPr txBox="1"/>
            <p:nvPr/>
          </p:nvSpPr>
          <p:spPr>
            <a:xfrm>
              <a:off x="4428731" y="2669143"/>
              <a:ext cx="819937" cy="169069"/>
            </a:xfrm>
            <a:prstGeom prst="rect">
              <a:avLst/>
            </a:prstGeom>
            <a:noFill/>
            <a:ln>
              <a:noFill/>
            </a:ln>
          </p:spPr>
          <p:txBody>
            <a:bodyPr wrap="none" lIns="0" tIns="0" rIns="0" bIns="0" anchor="t" anchorCtr="0">
              <a:spAutoFit/>
            </a:bodyPr>
            <a:lstStyle/>
            <a:p>
              <a:pPr algn="ctr"/>
              <a:r>
                <a:rPr lang="zh-CN" sz="860" dirty="0">
                  <a:solidFill>
                    <a:srgbClr val="E5624C"/>
                  </a:solidFill>
                  <a:latin typeface="+mn-lt"/>
                  <a:ea typeface="+mn-ea"/>
                  <a:cs typeface="+mn-cs"/>
                </a:rPr>
                <a:t>全生命周期运营</a:t>
              </a:r>
            </a:p>
          </p:txBody>
        </p:sp>
        <p:sp>
          <p:nvSpPr>
            <p:cNvPr id="45" name="Ellipse 45"/>
            <p:cNvSpPr/>
            <p:nvPr/>
          </p:nvSpPr>
          <p:spPr>
            <a:xfrm>
              <a:off x="8486775" y="2219325"/>
              <a:ext cx="647700" cy="647700"/>
            </a:xfrm>
            <a:prstGeom prst="ellipse">
              <a:avLst/>
            </a:prstGeom>
            <a:solidFill>
              <a:srgbClr val="FFFFFF">
                <a:alpha val="85000"/>
              </a:srgbClr>
            </a:solidFill>
            <a:ln>
              <a:noFill/>
            </a:ln>
          </p:spPr>
        </p:sp>
        <p:sp>
          <p:nvSpPr>
            <p:cNvPr id="46" name="Ellipse 46"/>
            <p:cNvSpPr/>
            <p:nvPr/>
          </p:nvSpPr>
          <p:spPr>
            <a:xfrm>
              <a:off x="8591550" y="2324100"/>
              <a:ext cx="438150" cy="438150"/>
            </a:xfrm>
            <a:prstGeom prst="ellipse">
              <a:avLst/>
            </a:prstGeom>
            <a:gradFill>
              <a:gsLst>
                <a:gs pos="0">
                  <a:srgbClr val="F0998A"/>
                </a:gs>
                <a:gs pos="100000">
                  <a:srgbClr val="E5624C"/>
                </a:gs>
              </a:gsLst>
              <a:lin ang="2700000" scaled="1"/>
            </a:gradFill>
            <a:ln>
              <a:noFill/>
            </a:ln>
          </p:spPr>
        </p:sp>
        <p:sp>
          <p:nvSpPr>
            <p:cNvPr id="47" name="TextBox 47"/>
            <p:cNvSpPr txBox="1"/>
            <p:nvPr/>
          </p:nvSpPr>
          <p:spPr>
            <a:xfrm>
              <a:off x="8744698" y="2457450"/>
              <a:ext cx="131855"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3</a:t>
              </a:r>
            </a:p>
          </p:txBody>
        </p:sp>
      </p:grpSp>
      <p:grpSp>
        <p:nvGrpSpPr>
          <p:cNvPr id="62" name="tier3-body"/>
          <p:cNvGrpSpPr/>
          <p:nvPr/>
        </p:nvGrpSpPr>
        <p:grpSpPr>
          <a:xfrm>
            <a:off x="7334250" y="3295650"/>
            <a:ext cx="1905000" cy="1809512"/>
            <a:chOff x="7334250" y="3295650"/>
            <a:chExt cx="1905000" cy="1809512"/>
          </a:xfrm>
        </p:grpSpPr>
        <p:sp>
          <p:nvSpPr>
            <p:cNvPr id="49" name="Rectangle 49"/>
            <p:cNvSpPr/>
            <p:nvPr/>
          </p:nvSpPr>
          <p:spPr>
            <a:xfrm>
              <a:off x="7334250" y="3295650"/>
              <a:ext cx="1905000" cy="266700"/>
            </a:xfrm>
            <a:prstGeom prst="rect">
              <a:avLst/>
            </a:prstGeom>
            <a:solidFill>
              <a:srgbClr val="FFFFFF">
                <a:alpha val="95000"/>
              </a:srgbClr>
            </a:solidFill>
            <a:ln>
              <a:noFill/>
            </a:ln>
          </p:spPr>
        </p:sp>
        <p:sp>
          <p:nvSpPr>
            <p:cNvPr id="50" name="TextBox 50"/>
            <p:cNvSpPr txBox="1"/>
            <p:nvPr/>
          </p:nvSpPr>
          <p:spPr>
            <a:xfrm>
              <a:off x="7423976" y="3368754"/>
              <a:ext cx="1038200" cy="212693"/>
            </a:xfrm>
            <a:prstGeom prst="rect">
              <a:avLst/>
            </a:prstGeom>
            <a:noFill/>
            <a:ln>
              <a:noFill/>
            </a:ln>
          </p:spPr>
          <p:txBody>
            <a:bodyPr wrap="none" lIns="0" tIns="0" rIns="0" bIns="0" anchor="t" anchorCtr="0">
              <a:spAutoFit/>
            </a:bodyPr>
            <a:lstStyle/>
            <a:p>
              <a:pPr algn="l"/>
              <a:r>
                <a:rPr lang="zh-CN" sz="1090" b="1" dirty="0">
                  <a:solidFill>
                    <a:srgbClr val="C1553F"/>
                  </a:solidFill>
                  <a:latin typeface="+mn-lt"/>
                  <a:ea typeface="+mn-ea"/>
                  <a:cs typeface="+mn-cs"/>
                </a:rPr>
                <a:t>可持续运营策略</a:t>
              </a:r>
            </a:p>
          </p:txBody>
        </p:sp>
        <p:sp>
          <p:nvSpPr>
            <p:cNvPr id="51" name="TextBox 51"/>
            <p:cNvSpPr txBox="1"/>
            <p:nvPr/>
          </p:nvSpPr>
          <p:spPr>
            <a:xfrm>
              <a:off x="7386638" y="3621643"/>
              <a:ext cx="1283030"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基于用户全生命周期及数</a:t>
              </a:r>
            </a:p>
          </p:txBody>
        </p:sp>
        <p:sp>
          <p:nvSpPr>
            <p:cNvPr id="52" name="TextBox 52"/>
            <p:cNvSpPr txBox="1"/>
            <p:nvPr/>
          </p:nvSpPr>
          <p:spPr>
            <a:xfrm>
              <a:off x="7386638" y="3793093"/>
              <a:ext cx="1230932"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字化-关键旅程，进行可</a:t>
              </a:r>
            </a:p>
          </p:txBody>
        </p:sp>
        <p:sp>
          <p:nvSpPr>
            <p:cNvPr id="53" name="TextBox 53"/>
            <p:cNvSpPr txBox="1"/>
            <p:nvPr/>
          </p:nvSpPr>
          <p:spPr>
            <a:xfrm>
              <a:off x="7386638" y="3964543"/>
              <a:ext cx="1051484"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持续、精细化运营：</a:t>
              </a:r>
            </a:p>
          </p:txBody>
        </p:sp>
        <p:sp>
          <p:nvSpPr>
            <p:cNvPr id="54" name="Rectangle 54"/>
            <p:cNvSpPr/>
            <p:nvPr/>
          </p:nvSpPr>
          <p:spPr>
            <a:xfrm>
              <a:off x="7391400" y="4219575"/>
              <a:ext cx="47625" cy="47625"/>
            </a:xfrm>
            <a:prstGeom prst="rect">
              <a:avLst/>
            </a:prstGeom>
            <a:solidFill>
              <a:srgbClr val="E5624C"/>
            </a:solidFill>
            <a:ln>
              <a:noFill/>
            </a:ln>
          </p:spPr>
        </p:sp>
        <p:sp>
          <p:nvSpPr>
            <p:cNvPr id="55" name="TextBox 55"/>
            <p:cNvSpPr txBox="1"/>
            <p:nvPr/>
          </p:nvSpPr>
          <p:spPr>
            <a:xfrm>
              <a:off x="7500938" y="4193143"/>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内容运营</a:t>
              </a:r>
            </a:p>
          </p:txBody>
        </p:sp>
        <p:sp>
          <p:nvSpPr>
            <p:cNvPr id="56" name="Rectangle 56"/>
            <p:cNvSpPr/>
            <p:nvPr/>
          </p:nvSpPr>
          <p:spPr>
            <a:xfrm>
              <a:off x="7391400" y="4467225"/>
              <a:ext cx="47625" cy="47625"/>
            </a:xfrm>
            <a:prstGeom prst="rect">
              <a:avLst/>
            </a:prstGeom>
            <a:solidFill>
              <a:srgbClr val="E5624C"/>
            </a:solidFill>
            <a:ln>
              <a:noFill/>
            </a:ln>
          </p:spPr>
        </p:sp>
        <p:sp>
          <p:nvSpPr>
            <p:cNvPr id="57" name="TextBox 57"/>
            <p:cNvSpPr txBox="1"/>
            <p:nvPr/>
          </p:nvSpPr>
          <p:spPr>
            <a:xfrm>
              <a:off x="7500938" y="4440793"/>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服务运营</a:t>
              </a:r>
            </a:p>
          </p:txBody>
        </p:sp>
        <p:sp>
          <p:nvSpPr>
            <p:cNvPr id="58" name="Rectangle 58"/>
            <p:cNvSpPr/>
            <p:nvPr/>
          </p:nvSpPr>
          <p:spPr>
            <a:xfrm>
              <a:off x="7391400" y="4714875"/>
              <a:ext cx="47625" cy="47625"/>
            </a:xfrm>
            <a:prstGeom prst="rect">
              <a:avLst/>
            </a:prstGeom>
            <a:solidFill>
              <a:srgbClr val="E5624C"/>
            </a:solidFill>
            <a:ln>
              <a:noFill/>
            </a:ln>
          </p:spPr>
        </p:sp>
        <p:sp>
          <p:nvSpPr>
            <p:cNvPr id="59" name="TextBox 59"/>
            <p:cNvSpPr txBox="1"/>
            <p:nvPr/>
          </p:nvSpPr>
          <p:spPr>
            <a:xfrm>
              <a:off x="7500938" y="4688443"/>
              <a:ext cx="472618"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社群运营</a:t>
              </a:r>
            </a:p>
          </p:txBody>
        </p:sp>
        <p:sp>
          <p:nvSpPr>
            <p:cNvPr id="60" name="Rectangle 60"/>
            <p:cNvSpPr/>
            <p:nvPr/>
          </p:nvSpPr>
          <p:spPr>
            <a:xfrm>
              <a:off x="7391400" y="4962525"/>
              <a:ext cx="47625" cy="47625"/>
            </a:xfrm>
            <a:prstGeom prst="rect">
              <a:avLst/>
            </a:prstGeom>
            <a:solidFill>
              <a:srgbClr val="E5624C"/>
            </a:solidFill>
            <a:ln>
              <a:noFill/>
            </a:ln>
          </p:spPr>
        </p:sp>
        <p:sp>
          <p:nvSpPr>
            <p:cNvPr id="61" name="TextBox 61"/>
            <p:cNvSpPr txBox="1"/>
            <p:nvPr/>
          </p:nvSpPr>
          <p:spPr>
            <a:xfrm>
              <a:off x="7500938" y="4936093"/>
              <a:ext cx="1167257"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可持续关系与交易运营</a:t>
              </a:r>
            </a:p>
          </p:txBody>
        </p:sp>
      </p:grpSp>
      <p:grpSp>
        <p:nvGrpSpPr>
          <p:cNvPr id="71" name="tier4-growth"/>
          <p:cNvGrpSpPr/>
          <p:nvPr/>
        </p:nvGrpSpPr>
        <p:grpSpPr>
          <a:xfrm>
            <a:off x="1060323" y="990600"/>
            <a:ext cx="10303002" cy="923925"/>
            <a:chOff x="1060323" y="990600"/>
            <a:chExt cx="10303002" cy="923925"/>
          </a:xfrm>
        </p:grpSpPr>
        <p:sp>
          <p:nvSpPr>
            <p:cNvPr id="63" name="TextBox 63"/>
            <p:cNvSpPr txBox="1"/>
            <p:nvPr/>
          </p:nvSpPr>
          <p:spPr>
            <a:xfrm>
              <a:off x="1060323" y="1291114"/>
              <a:ext cx="357581" cy="249364"/>
            </a:xfrm>
            <a:prstGeom prst="rect">
              <a:avLst/>
            </a:prstGeom>
            <a:noFill/>
            <a:ln>
              <a:noFill/>
            </a:ln>
          </p:spPr>
          <p:txBody>
            <a:bodyPr wrap="none" lIns="0" tIns="0" rIns="0" bIns="0" anchor="t" anchorCtr="0">
              <a:spAutoFit/>
            </a:bodyPr>
            <a:lstStyle/>
            <a:p>
              <a:pPr algn="l"/>
              <a:r>
                <a:rPr lang="zh-CN" sz="1280" b="1" dirty="0">
                  <a:solidFill>
                    <a:srgbClr val="E5624C"/>
                  </a:solidFill>
                  <a:latin typeface="+mn-lt"/>
                  <a:ea typeface="+mn-ea"/>
                  <a:cs typeface="+mn-cs"/>
                </a:rPr>
                <a:t>营销</a:t>
              </a:r>
            </a:p>
          </p:txBody>
        </p:sp>
        <p:sp>
          <p:nvSpPr>
            <p:cNvPr id="64" name="TextBox 64"/>
            <p:cNvSpPr txBox="1"/>
            <p:nvPr/>
          </p:nvSpPr>
          <p:spPr>
            <a:xfrm>
              <a:off x="1060323" y="1557814"/>
              <a:ext cx="357581" cy="249364"/>
            </a:xfrm>
            <a:prstGeom prst="rect">
              <a:avLst/>
            </a:prstGeom>
            <a:noFill/>
            <a:ln>
              <a:noFill/>
            </a:ln>
          </p:spPr>
          <p:txBody>
            <a:bodyPr wrap="none" lIns="0" tIns="0" rIns="0" bIns="0" anchor="t" anchorCtr="0">
              <a:spAutoFit/>
            </a:bodyPr>
            <a:lstStyle/>
            <a:p>
              <a:pPr algn="l"/>
              <a:r>
                <a:rPr lang="zh-CN" sz="1280" b="1" dirty="0">
                  <a:solidFill>
                    <a:srgbClr val="E5624C"/>
                  </a:solidFill>
                  <a:latin typeface="+mn-lt"/>
                  <a:ea typeface="+mn-ea"/>
                  <a:cs typeface="+mn-cs"/>
                </a:rPr>
                <a:t>增长</a:t>
              </a:r>
            </a:p>
          </p:txBody>
        </p:sp>
        <p:sp>
          <p:nvSpPr>
            <p:cNvPr id="65" name="Line 65"/>
            <p:cNvSpPr/>
            <p:nvPr/>
          </p:nvSpPr>
          <p:spPr>
            <a:xfrm flipH="1">
              <a:off x="2038350" y="1790700"/>
              <a:ext cx="2400300" cy="1"/>
            </a:xfrm>
            <a:prstGeom prst="line">
              <a:avLst/>
            </a:prstGeom>
            <a:noFill/>
            <a:ln w="19050">
              <a:solidFill>
                <a:srgbClr val="DD988A"/>
              </a:solidFill>
              <a:tailEnd type="triangle" w="lg" len="lg"/>
            </a:ln>
          </p:spPr>
        </p:sp>
        <p:sp>
          <p:nvSpPr>
            <p:cNvPr id="66" name="Rectangle 66"/>
            <p:cNvSpPr/>
            <p:nvPr/>
          </p:nvSpPr>
          <p:spPr>
            <a:xfrm>
              <a:off x="4514850" y="1666875"/>
              <a:ext cx="2381250" cy="247650"/>
            </a:xfrm>
            <a:prstGeom prst="roundRect">
              <a:avLst>
                <a:gd name="adj" fmla="val 50000"/>
              </a:avLst>
            </a:prstGeom>
            <a:solidFill>
              <a:srgbClr val="FFFFFF"/>
            </a:solidFill>
            <a:ln w="9525">
              <a:solidFill>
                <a:srgbClr val="ED8776"/>
              </a:solidFill>
            </a:ln>
          </p:spPr>
        </p:sp>
        <p:sp>
          <p:nvSpPr>
            <p:cNvPr id="67" name="TextBox 67"/>
            <p:cNvSpPr txBox="1"/>
            <p:nvPr/>
          </p:nvSpPr>
          <p:spPr>
            <a:xfrm>
              <a:off x="5179733" y="1745218"/>
              <a:ext cx="1051484" cy="169069"/>
            </a:xfrm>
            <a:prstGeom prst="rect">
              <a:avLst/>
            </a:prstGeom>
            <a:noFill/>
            <a:ln>
              <a:noFill/>
            </a:ln>
          </p:spPr>
          <p:txBody>
            <a:bodyPr wrap="none" lIns="0" tIns="0" rIns="0" bIns="0" anchor="t" anchorCtr="0">
              <a:spAutoFit/>
            </a:bodyPr>
            <a:lstStyle/>
            <a:p>
              <a:pPr algn="ctr"/>
              <a:r>
                <a:rPr lang="zh-CN" sz="860" dirty="0">
                  <a:solidFill>
                    <a:srgbClr val="E5624C"/>
                  </a:solidFill>
                  <a:latin typeface="+mn-lt"/>
                  <a:ea typeface="+mn-ea"/>
                  <a:cs typeface="+mn-cs"/>
                </a:rPr>
                <a:t>长期作用，持续增强</a:t>
              </a:r>
            </a:p>
          </p:txBody>
        </p:sp>
        <p:sp>
          <p:nvSpPr>
            <p:cNvPr id="68" name="Ellipse 68"/>
            <p:cNvSpPr/>
            <p:nvPr/>
          </p:nvSpPr>
          <p:spPr>
            <a:xfrm>
              <a:off x="10639425" y="990600"/>
              <a:ext cx="723900" cy="723900"/>
            </a:xfrm>
            <a:prstGeom prst="ellipse">
              <a:avLst/>
            </a:prstGeom>
            <a:solidFill>
              <a:srgbClr val="FFFFFF">
                <a:alpha val="85000"/>
              </a:srgbClr>
            </a:solidFill>
            <a:ln>
              <a:noFill/>
            </a:ln>
          </p:spPr>
        </p:sp>
        <p:sp>
          <p:nvSpPr>
            <p:cNvPr id="69" name="Ellipse 69"/>
            <p:cNvSpPr/>
            <p:nvPr/>
          </p:nvSpPr>
          <p:spPr>
            <a:xfrm>
              <a:off x="10744200" y="1095375"/>
              <a:ext cx="514350" cy="514350"/>
            </a:xfrm>
            <a:prstGeom prst="ellipse">
              <a:avLst/>
            </a:prstGeom>
            <a:gradFill>
              <a:gsLst>
                <a:gs pos="0">
                  <a:srgbClr val="F0998A"/>
                </a:gs>
                <a:gs pos="100000">
                  <a:srgbClr val="E5624C"/>
                </a:gs>
              </a:gsLst>
              <a:lin ang="2700000" scaled="1"/>
            </a:gradFill>
            <a:ln>
              <a:noFill/>
            </a:ln>
          </p:spPr>
        </p:sp>
        <p:sp>
          <p:nvSpPr>
            <p:cNvPr id="70" name="TextBox 70"/>
            <p:cNvSpPr txBox="1"/>
            <p:nvPr/>
          </p:nvSpPr>
          <p:spPr>
            <a:xfrm>
              <a:off x="10925753" y="1252061"/>
              <a:ext cx="151244" cy="337376"/>
            </a:xfrm>
            <a:prstGeom prst="rect">
              <a:avLst/>
            </a:prstGeom>
            <a:noFill/>
            <a:ln>
              <a:noFill/>
            </a:ln>
          </p:spPr>
          <p:txBody>
            <a:bodyPr wrap="none" lIns="0" tIns="0" rIns="0" bIns="0" anchor="t" anchorCtr="0">
              <a:spAutoFit/>
            </a:bodyPr>
            <a:lstStyle/>
            <a:p>
              <a:pPr algn="ctr"/>
              <a:r>
                <a:rPr lang="zh-CN" sz="1720" b="1" dirty="0">
                  <a:solidFill>
                    <a:srgbClr val="FFFFFF"/>
                  </a:solidFill>
                  <a:latin typeface="+mn-lt"/>
                  <a:ea typeface="+mn-ea"/>
                  <a:cs typeface="+mn-cs"/>
                </a:rPr>
                <a:t>4</a:t>
              </a:r>
            </a:p>
          </p:txBody>
        </p:sp>
      </p:grpSp>
      <p:grpSp>
        <p:nvGrpSpPr>
          <p:cNvPr id="80" name="tier4-body"/>
          <p:cNvGrpSpPr/>
          <p:nvPr/>
        </p:nvGrpSpPr>
        <p:grpSpPr>
          <a:xfrm>
            <a:off x="9534525" y="2686050"/>
            <a:ext cx="2000250" cy="1485662"/>
            <a:chOff x="9534525" y="2686050"/>
            <a:chExt cx="2000250" cy="1485662"/>
          </a:xfrm>
        </p:grpSpPr>
        <p:sp>
          <p:nvSpPr>
            <p:cNvPr id="72" name="Rectangle 72"/>
            <p:cNvSpPr/>
            <p:nvPr/>
          </p:nvSpPr>
          <p:spPr>
            <a:xfrm>
              <a:off x="9534525" y="2686050"/>
              <a:ext cx="2000250" cy="266700"/>
            </a:xfrm>
            <a:prstGeom prst="rect">
              <a:avLst/>
            </a:prstGeom>
            <a:solidFill>
              <a:srgbClr val="FFFFFF">
                <a:alpha val="95000"/>
              </a:srgbClr>
            </a:solidFill>
            <a:ln>
              <a:noFill/>
            </a:ln>
          </p:spPr>
        </p:sp>
        <p:sp>
          <p:nvSpPr>
            <p:cNvPr id="73" name="TextBox 73"/>
            <p:cNvSpPr txBox="1"/>
            <p:nvPr/>
          </p:nvSpPr>
          <p:spPr>
            <a:xfrm>
              <a:off x="9624250" y="2759154"/>
              <a:ext cx="1184935" cy="212693"/>
            </a:xfrm>
            <a:prstGeom prst="rect">
              <a:avLst/>
            </a:prstGeom>
            <a:noFill/>
            <a:ln>
              <a:noFill/>
            </a:ln>
          </p:spPr>
          <p:txBody>
            <a:bodyPr wrap="none" lIns="0" tIns="0" rIns="0" bIns="0" anchor="t" anchorCtr="0">
              <a:spAutoFit/>
            </a:bodyPr>
            <a:lstStyle/>
            <a:p>
              <a:pPr algn="l"/>
              <a:r>
                <a:rPr lang="zh-CN" sz="1090" b="1" dirty="0">
                  <a:solidFill>
                    <a:srgbClr val="C1553F"/>
                  </a:solidFill>
                  <a:latin typeface="+mn-lt"/>
                  <a:ea typeface="+mn-ea"/>
                  <a:cs typeface="+mn-cs"/>
                </a:rPr>
                <a:t>创新营销评估维度</a:t>
              </a:r>
            </a:p>
          </p:txBody>
        </p:sp>
        <p:sp>
          <p:nvSpPr>
            <p:cNvPr id="74" name="TextBox 74"/>
            <p:cNvSpPr txBox="1"/>
            <p:nvPr/>
          </p:nvSpPr>
          <p:spPr>
            <a:xfrm>
              <a:off x="9586912" y="3050143"/>
              <a:ext cx="1283030"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从品牌资产及交易转化视</a:t>
              </a:r>
            </a:p>
          </p:txBody>
        </p:sp>
        <p:sp>
          <p:nvSpPr>
            <p:cNvPr id="75" name="TextBox 75"/>
            <p:cNvSpPr txBox="1"/>
            <p:nvPr/>
          </p:nvSpPr>
          <p:spPr>
            <a:xfrm>
              <a:off x="9586912" y="3221593"/>
              <a:ext cx="1283030"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角转向用户资产及终身体</a:t>
              </a:r>
            </a:p>
          </p:txBody>
        </p:sp>
        <p:sp>
          <p:nvSpPr>
            <p:cNvPr id="76" name="TextBox 76"/>
            <p:cNvSpPr txBox="1"/>
            <p:nvPr/>
          </p:nvSpPr>
          <p:spPr>
            <a:xfrm>
              <a:off x="9586912" y="3393043"/>
              <a:ext cx="588391"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值变现视角</a:t>
              </a:r>
            </a:p>
          </p:txBody>
        </p:sp>
        <p:sp>
          <p:nvSpPr>
            <p:cNvPr id="77" name="TextBox 77"/>
            <p:cNvSpPr txBox="1"/>
            <p:nvPr/>
          </p:nvSpPr>
          <p:spPr>
            <a:xfrm>
              <a:off x="9586912" y="3659743"/>
              <a:ext cx="1283030"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即通过客户终身数字化营</a:t>
              </a:r>
            </a:p>
          </p:txBody>
        </p:sp>
        <p:sp>
          <p:nvSpPr>
            <p:cNvPr id="78" name="TextBox 78"/>
            <p:cNvSpPr txBox="1"/>
            <p:nvPr/>
          </p:nvSpPr>
          <p:spPr>
            <a:xfrm>
              <a:off x="9586912" y="3831193"/>
              <a:ext cx="1283030"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销价值最大化，来实现可</a:t>
              </a:r>
            </a:p>
          </p:txBody>
        </p:sp>
        <p:sp>
          <p:nvSpPr>
            <p:cNvPr id="79" name="TextBox 79"/>
            <p:cNvSpPr txBox="1"/>
            <p:nvPr/>
          </p:nvSpPr>
          <p:spPr>
            <a:xfrm>
              <a:off x="9586912" y="4002643"/>
              <a:ext cx="819937" cy="169069"/>
            </a:xfrm>
            <a:prstGeom prst="rect">
              <a:avLst/>
            </a:prstGeom>
            <a:noFill/>
            <a:ln>
              <a:noFill/>
            </a:ln>
          </p:spPr>
          <p:txBody>
            <a:bodyPr wrap="none" lIns="0" tIns="0" rIns="0" bIns="0" anchor="t" anchorCtr="0">
              <a:spAutoFit/>
            </a:bodyPr>
            <a:lstStyle/>
            <a:p>
              <a:pPr algn="l"/>
              <a:r>
                <a:rPr lang="zh-CN" sz="860" dirty="0">
                  <a:solidFill>
                    <a:srgbClr val="705F5B"/>
                  </a:solidFill>
                  <a:latin typeface="+mn-lt"/>
                  <a:ea typeface="+mn-ea"/>
                  <a:cs typeface="+mn-cs"/>
                </a:rPr>
                <a:t>持续的营销增长</a:t>
              </a:r>
            </a:p>
          </p:txBody>
        </p:sp>
      </p:gr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mc-frame"/>
          <p:cNvSpPr/>
          <p:nvPr/>
        </p:nvSpPr>
        <p:spPr>
          <a:xfrm>
            <a:off x="285750" y="1295400"/>
            <a:ext cx="11620500" cy="5305425"/>
          </a:xfrm>
          <a:prstGeom prst="roundRect">
            <a:avLst>
              <a:gd name="adj" fmla="val 3591"/>
            </a:avLst>
          </a:prstGeom>
          <a:noFill/>
          <a:ln w="14288">
            <a:solidFill>
              <a:srgbClr val="C9CFEA"/>
            </a:solidFill>
            <a:custDash>
              <a:ds d="400000" sp="333333"/>
            </a:custDash>
          </a:ln>
        </p:spPr>
      </p:sp>
      <p:grpSp>
        <p:nvGrpSpPr>
          <p:cNvPr id="5" name="page-header"/>
          <p:cNvGrpSpPr/>
          <p:nvPr/>
        </p:nvGrpSpPr>
        <p:grpSpPr>
          <a:xfrm>
            <a:off x="302895" y="214312"/>
            <a:ext cx="2253615" cy="440055"/>
            <a:chOff x="302895" y="214312"/>
            <a:chExt cx="2253615" cy="440055"/>
          </a:xfrm>
        </p:grpSpPr>
        <p:sp>
          <p:nvSpPr>
            <p:cNvPr id="3" name="TextBox 3"/>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38.​</a:t>
              </a:r>
            </a:p>
          </p:txBody>
        </p:sp>
        <p:sp>
          <p:nvSpPr>
            <p:cNvPr id="4" name="TextBox 4"/>
            <p:cNvSpPr txBox="1"/>
            <p:nvPr/>
          </p:nvSpPr>
          <p:spPr>
            <a:xfrm>
              <a:off x="961644" y="246698"/>
              <a:ext cx="159486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营销拓圈方案</a:t>
              </a:r>
            </a:p>
          </p:txBody>
        </p:sp>
      </p:grpSp>
      <p:grpSp>
        <p:nvGrpSpPr>
          <p:cNvPr id="7" name="theme-line"/>
          <p:cNvGrpSpPr/>
          <p:nvPr/>
        </p:nvGrpSpPr>
        <p:grpSpPr>
          <a:xfrm>
            <a:off x="4684662" y="979408"/>
            <a:ext cx="2822677" cy="227362"/>
            <a:chOff x="4684662" y="979408"/>
            <a:chExt cx="2822677" cy="227362"/>
          </a:xfrm>
        </p:grpSpPr>
        <p:sp>
          <p:nvSpPr>
            <p:cNvPr id="6" name="TextBox 6"/>
            <p:cNvSpPr txBox="1"/>
            <p:nvPr/>
          </p:nvSpPr>
          <p:spPr>
            <a:xfrm>
              <a:off x="4684662" y="979408"/>
              <a:ext cx="2822677" cy="227362"/>
            </a:xfrm>
            <a:prstGeom prst="rect">
              <a:avLst/>
            </a:prstGeom>
            <a:noFill/>
            <a:ln>
              <a:noFill/>
            </a:ln>
          </p:spPr>
          <p:txBody>
            <a:bodyPr wrap="none" lIns="0" tIns="0" rIns="0" bIns="0" anchor="t" anchorCtr="0">
              <a:spAutoFit/>
            </a:bodyPr>
            <a:lstStyle/>
            <a:p>
              <a:pPr algn="ctr"/>
              <a:r>
                <a:rPr lang="zh-CN" sz="1160" b="1" dirty="0">
                  <a:solidFill>
                    <a:srgbClr val="C1553F"/>
                  </a:solidFill>
                  <a:latin typeface="+mn-lt"/>
                  <a:ea typeface="+mn-ea"/>
                  <a:cs typeface="+mn-cs"/>
                </a:rPr>
                <a:t>主题：以花养妆，演绎东方美学传奇之旅</a:t>
              </a:r>
            </a:p>
          </p:txBody>
        </p:sp>
      </p:grpSp>
      <p:grpSp>
        <p:nvGrpSpPr>
          <p:cNvPr id="21" name="timeline"/>
          <p:cNvGrpSpPr/>
          <p:nvPr/>
        </p:nvGrpSpPr>
        <p:grpSpPr>
          <a:xfrm>
            <a:off x="442912" y="1494949"/>
            <a:ext cx="11101388" cy="686276"/>
            <a:chOff x="442912" y="1494949"/>
            <a:chExt cx="11101388" cy="686276"/>
          </a:xfrm>
        </p:grpSpPr>
        <p:sp>
          <p:nvSpPr>
            <p:cNvPr id="8" name="TextBox 8"/>
            <p:cNvSpPr txBox="1"/>
            <p:nvPr/>
          </p:nvSpPr>
          <p:spPr>
            <a:xfrm>
              <a:off x="1614374" y="1494949"/>
              <a:ext cx="1000352" cy="190690"/>
            </a:xfrm>
            <a:prstGeom prst="rect">
              <a:avLst/>
            </a:prstGeom>
            <a:noFill/>
            <a:ln>
              <a:noFill/>
            </a:ln>
          </p:spPr>
          <p:txBody>
            <a:bodyPr wrap="none" lIns="0" tIns="0" rIns="0" bIns="0" anchor="t" anchorCtr="0">
              <a:spAutoFit/>
            </a:bodyPr>
            <a:lstStyle/>
            <a:p>
              <a:pPr algn="ctr"/>
              <a:r>
                <a:rPr lang="zh-CN" sz="980" b="1" dirty="0">
                  <a:solidFill>
                    <a:srgbClr val="523F3B"/>
                  </a:solidFill>
                  <a:latin typeface="+mn-lt"/>
                  <a:ea typeface="+mn-ea"/>
                  <a:cs typeface="+mn-cs"/>
                </a:rPr>
                <a:t>(10.1-10.31)​</a:t>
              </a:r>
            </a:p>
          </p:txBody>
        </p:sp>
        <p:sp>
          <p:nvSpPr>
            <p:cNvPr id="9" name="TextBox 9"/>
            <p:cNvSpPr txBox="1"/>
            <p:nvPr/>
          </p:nvSpPr>
          <p:spPr>
            <a:xfrm>
              <a:off x="5519630" y="1494949"/>
              <a:ext cx="1076541" cy="190690"/>
            </a:xfrm>
            <a:prstGeom prst="rect">
              <a:avLst/>
            </a:prstGeom>
            <a:noFill/>
            <a:ln>
              <a:noFill/>
            </a:ln>
          </p:spPr>
          <p:txBody>
            <a:bodyPr wrap="none" lIns="0" tIns="0" rIns="0" bIns="0" anchor="t" anchorCtr="0">
              <a:spAutoFit/>
            </a:bodyPr>
            <a:lstStyle/>
            <a:p>
              <a:pPr algn="ctr"/>
              <a:r>
                <a:rPr lang="zh-CN" sz="980" b="1" dirty="0">
                  <a:solidFill>
                    <a:srgbClr val="523F3B"/>
                  </a:solidFill>
                  <a:latin typeface="+mn-lt"/>
                  <a:ea typeface="+mn-ea"/>
                  <a:cs typeface="+mn-cs"/>
                </a:rPr>
                <a:t>(11.01-11.31)​</a:t>
              </a:r>
            </a:p>
          </p:txBody>
        </p:sp>
        <p:sp>
          <p:nvSpPr>
            <p:cNvPr id="10" name="TextBox 10"/>
            <p:cNvSpPr txBox="1"/>
            <p:nvPr/>
          </p:nvSpPr>
          <p:spPr>
            <a:xfrm>
              <a:off x="9415355" y="1494949"/>
              <a:ext cx="1076541" cy="190690"/>
            </a:xfrm>
            <a:prstGeom prst="rect">
              <a:avLst/>
            </a:prstGeom>
            <a:noFill/>
            <a:ln>
              <a:noFill/>
            </a:ln>
          </p:spPr>
          <p:txBody>
            <a:bodyPr wrap="none" lIns="0" tIns="0" rIns="0" bIns="0" anchor="t" anchorCtr="0">
              <a:spAutoFit/>
            </a:bodyPr>
            <a:lstStyle/>
            <a:p>
              <a:pPr algn="ctr"/>
              <a:r>
                <a:rPr lang="zh-CN" sz="980" b="1" dirty="0">
                  <a:solidFill>
                    <a:srgbClr val="523F3B"/>
                  </a:solidFill>
                  <a:latin typeface="+mn-lt"/>
                  <a:ea typeface="+mn-ea"/>
                  <a:cs typeface="+mn-cs"/>
                </a:rPr>
                <a:t>(12.01-12.31)​</a:t>
              </a:r>
            </a:p>
          </p:txBody>
        </p:sp>
        <p:sp>
          <p:nvSpPr>
            <p:cNvPr id="11" name="TextBox 11"/>
            <p:cNvSpPr txBox="1"/>
            <p:nvPr/>
          </p:nvSpPr>
          <p:spPr>
            <a:xfrm>
              <a:off x="442912" y="1979295"/>
              <a:ext cx="251841" cy="176212"/>
            </a:xfrm>
            <a:prstGeom prst="rect">
              <a:avLst/>
            </a:prstGeom>
            <a:noFill/>
            <a:ln>
              <a:noFill/>
            </a:ln>
          </p:spPr>
          <p:txBody>
            <a:bodyPr wrap="none" lIns="0" tIns="0" rIns="0" bIns="0" anchor="t" anchorCtr="0">
              <a:spAutoFit/>
            </a:bodyPr>
            <a:lstStyle/>
            <a:p>
              <a:pPr algn="l"/>
              <a:r>
                <a:rPr lang="zh-CN" sz="900" dirty="0">
                  <a:solidFill>
                    <a:srgbClr val="8A90A5"/>
                  </a:solidFill>
                  <a:latin typeface="+mn-lt"/>
                  <a:ea typeface="+mn-ea"/>
                  <a:cs typeface="+mn-cs"/>
                </a:rPr>
                <a:t>阶段</a:t>
              </a:r>
            </a:p>
          </p:txBody>
        </p:sp>
        <p:sp>
          <p:nvSpPr>
            <p:cNvPr id="12" name="Line 12"/>
            <p:cNvSpPr/>
            <p:nvPr/>
          </p:nvSpPr>
          <p:spPr>
            <a:xfrm>
              <a:off x="1143000" y="2028825"/>
              <a:ext cx="10401300" cy="1"/>
            </a:xfrm>
            <a:prstGeom prst="line">
              <a:avLst/>
            </a:prstGeom>
            <a:noFill/>
            <a:ln w="28575">
              <a:solidFill>
                <a:srgbClr val="C1553F"/>
              </a:solidFill>
              <a:tailEnd type="triangle" w="lg" len="lg"/>
            </a:ln>
          </p:spPr>
        </p:sp>
        <p:sp>
          <p:nvSpPr>
            <p:cNvPr id="13" name="Rectangle 13"/>
            <p:cNvSpPr/>
            <p:nvPr/>
          </p:nvSpPr>
          <p:spPr>
            <a:xfrm>
              <a:off x="1238250" y="1885950"/>
              <a:ext cx="1752600" cy="295275"/>
            </a:xfrm>
            <a:prstGeom prst="roundRect">
              <a:avLst>
                <a:gd name="adj" fmla="val 48387"/>
              </a:avLst>
            </a:prstGeom>
            <a:solidFill>
              <a:srgbClr val="C1553F"/>
            </a:solidFill>
            <a:ln>
              <a:noFill/>
            </a:ln>
          </p:spPr>
        </p:sp>
        <p:sp>
          <p:nvSpPr>
            <p:cNvPr id="14" name="TextBox 14"/>
            <p:cNvSpPr txBox="1"/>
            <p:nvPr/>
          </p:nvSpPr>
          <p:spPr>
            <a:xfrm>
              <a:off x="1826514" y="19726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内容建设</a:t>
              </a:r>
            </a:p>
          </p:txBody>
        </p:sp>
        <p:sp>
          <p:nvSpPr>
            <p:cNvPr id="15" name="Rectangle 15"/>
            <p:cNvSpPr/>
            <p:nvPr/>
          </p:nvSpPr>
          <p:spPr>
            <a:xfrm>
              <a:off x="5181600" y="1885950"/>
              <a:ext cx="1752600" cy="295275"/>
            </a:xfrm>
            <a:prstGeom prst="roundRect">
              <a:avLst>
                <a:gd name="adj" fmla="val 48387"/>
              </a:avLst>
            </a:prstGeom>
            <a:solidFill>
              <a:srgbClr val="E5624C"/>
            </a:solidFill>
            <a:ln>
              <a:noFill/>
            </a:ln>
          </p:spPr>
        </p:sp>
        <p:sp>
          <p:nvSpPr>
            <p:cNvPr id="16" name="TextBox 16"/>
            <p:cNvSpPr txBox="1"/>
            <p:nvPr/>
          </p:nvSpPr>
          <p:spPr>
            <a:xfrm>
              <a:off x="5769864" y="19726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心智种草</a:t>
              </a:r>
            </a:p>
          </p:txBody>
        </p:sp>
        <p:sp>
          <p:nvSpPr>
            <p:cNvPr id="17" name="Rectangle 17"/>
            <p:cNvSpPr/>
            <p:nvPr/>
          </p:nvSpPr>
          <p:spPr>
            <a:xfrm>
              <a:off x="9077325" y="1885950"/>
              <a:ext cx="1752600" cy="295275"/>
            </a:xfrm>
            <a:prstGeom prst="roundRect">
              <a:avLst>
                <a:gd name="adj" fmla="val 48387"/>
              </a:avLst>
            </a:prstGeom>
            <a:solidFill>
              <a:srgbClr val="C1553F"/>
            </a:solidFill>
            <a:ln>
              <a:noFill/>
            </a:ln>
          </p:spPr>
        </p:sp>
        <p:sp>
          <p:nvSpPr>
            <p:cNvPr id="18" name="TextBox 18"/>
            <p:cNvSpPr txBox="1"/>
            <p:nvPr/>
          </p:nvSpPr>
          <p:spPr>
            <a:xfrm>
              <a:off x="9665589" y="19726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持续拓圈</a:t>
              </a:r>
            </a:p>
          </p:txBody>
        </p:sp>
        <p:sp>
          <p:nvSpPr>
            <p:cNvPr id="19" name="Ellipse 19"/>
            <p:cNvSpPr/>
            <p:nvPr/>
          </p:nvSpPr>
          <p:spPr>
            <a:xfrm>
              <a:off x="3705225" y="1952625"/>
              <a:ext cx="152400" cy="152400"/>
            </a:xfrm>
            <a:prstGeom prst="ellipse">
              <a:avLst/>
            </a:prstGeom>
            <a:solidFill>
              <a:srgbClr val="E5624C"/>
            </a:solidFill>
            <a:ln w="19050">
              <a:solidFill>
                <a:srgbClr val="FFFFFF"/>
              </a:solidFill>
            </a:ln>
          </p:spPr>
        </p:sp>
        <p:sp>
          <p:nvSpPr>
            <p:cNvPr id="20" name="Ellipse 20"/>
            <p:cNvSpPr/>
            <p:nvPr/>
          </p:nvSpPr>
          <p:spPr>
            <a:xfrm>
              <a:off x="7934325" y="1952625"/>
              <a:ext cx="152400" cy="152400"/>
            </a:xfrm>
            <a:prstGeom prst="ellipse">
              <a:avLst/>
            </a:prstGeom>
            <a:solidFill>
              <a:srgbClr val="E5624C"/>
            </a:solidFill>
            <a:ln w="19050">
              <a:solidFill>
                <a:srgbClr val="FFFFFF"/>
              </a:solidFill>
            </a:ln>
          </p:spPr>
        </p:sp>
      </p:grpSp>
      <p:grpSp>
        <p:nvGrpSpPr>
          <p:cNvPr id="35" name="col1-content"/>
          <p:cNvGrpSpPr/>
          <p:nvPr/>
        </p:nvGrpSpPr>
        <p:grpSpPr>
          <a:xfrm>
            <a:off x="676275" y="2424351"/>
            <a:ext cx="3305175" cy="3230165"/>
            <a:chOff x="676275" y="2424351"/>
            <a:chExt cx="3305175" cy="3230165"/>
          </a:xfrm>
        </p:grpSpPr>
        <p:sp>
          <p:nvSpPr>
            <p:cNvPr id="22" name="TextBox 22"/>
            <p:cNvSpPr txBox="1"/>
            <p:nvPr/>
          </p:nvSpPr>
          <p:spPr>
            <a:xfrm>
              <a:off x="1701508" y="2424351"/>
              <a:ext cx="826084" cy="198025"/>
            </a:xfrm>
            <a:prstGeom prst="rect">
              <a:avLst/>
            </a:prstGeom>
            <a:noFill/>
            <a:ln>
              <a:noFill/>
            </a:ln>
          </p:spPr>
          <p:txBody>
            <a:bodyPr wrap="none" lIns="0" tIns="0" rIns="0" bIns="0" anchor="t" anchorCtr="0">
              <a:spAutoFit/>
            </a:bodyPr>
            <a:lstStyle/>
            <a:p>
              <a:pPr algn="ctr"/>
              <a:r>
                <a:rPr lang="zh-CN" sz="1010" b="1" dirty="0">
                  <a:solidFill>
                    <a:srgbClr val="C1553F"/>
                  </a:solidFill>
                  <a:latin typeface="+mn-lt"/>
                  <a:ea typeface="+mn-ea"/>
                  <a:cs typeface="+mn-cs"/>
                </a:rPr>
                <a:t>公域人群蓄盖</a:t>
              </a:r>
            </a:p>
          </p:txBody>
        </p:sp>
        <p:sp>
          <p:nvSpPr>
            <p:cNvPr id="23" name="TextBox 23"/>
            <p:cNvSpPr txBox="1"/>
            <p:nvPr/>
          </p:nvSpPr>
          <p:spPr>
            <a:xfrm>
              <a:off x="1116292" y="2673191"/>
              <a:ext cx="1996516"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微博明星对新产品发文背书，建立微博话</a:t>
              </a:r>
            </a:p>
          </p:txBody>
        </p:sp>
        <p:sp>
          <p:nvSpPr>
            <p:cNvPr id="24" name="TextBox 24"/>
            <p:cNvSpPr txBox="1"/>
            <p:nvPr/>
          </p:nvSpPr>
          <p:spPr>
            <a:xfrm>
              <a:off x="1171486" y="2844641"/>
              <a:ext cx="1886128"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题，联合头部达人为话题持续发酵助力</a:t>
              </a:r>
            </a:p>
          </p:txBody>
        </p:sp>
        <p:sp>
          <p:nvSpPr>
            <p:cNvPr id="25" name="Rectangle 25"/>
            <p:cNvSpPr/>
            <p:nvPr/>
          </p:nvSpPr>
          <p:spPr>
            <a:xfrm>
              <a:off x="1238250" y="3143250"/>
              <a:ext cx="1752600" cy="247650"/>
            </a:xfrm>
            <a:prstGeom prst="roundRect">
              <a:avLst>
                <a:gd name="adj" fmla="val 50000"/>
              </a:avLst>
            </a:prstGeom>
            <a:solidFill>
              <a:srgbClr val="DDE2F2"/>
            </a:solidFill>
            <a:ln>
              <a:noFill/>
            </a:ln>
          </p:spPr>
        </p:sp>
        <p:sp>
          <p:nvSpPr>
            <p:cNvPr id="26" name="TextBox 26"/>
            <p:cNvSpPr txBox="1"/>
            <p:nvPr/>
          </p:nvSpPr>
          <p:spPr>
            <a:xfrm>
              <a:off x="1814071" y="3217545"/>
              <a:ext cx="600959" cy="176212"/>
            </a:xfrm>
            <a:prstGeom prst="rect">
              <a:avLst/>
            </a:prstGeom>
            <a:noFill/>
            <a:ln>
              <a:noFill/>
            </a:ln>
          </p:spPr>
          <p:txBody>
            <a:bodyPr wrap="none" lIns="0" tIns="0" rIns="0" bIns="0" anchor="t" anchorCtr="0">
              <a:spAutoFit/>
            </a:bodyPr>
            <a:lstStyle/>
            <a:p>
              <a:pPr algn="ctr"/>
              <a:r>
                <a:rPr lang="en-US" sz="900" b="1" dirty="0">
                  <a:solidFill>
                    <a:srgbClr val="C1553F"/>
                  </a:solidFill>
                  <a:latin typeface="+mn-lt"/>
                  <a:ea typeface="+mn-ea"/>
                  <a:cs typeface="+mn-cs"/>
                </a:rPr>
                <a:t>0→A1,A2​</a:t>
              </a:r>
            </a:p>
          </p:txBody>
        </p:sp>
        <p:sp>
          <p:nvSpPr>
            <p:cNvPr id="27" name="Ellipse 27"/>
            <p:cNvSpPr/>
            <p:nvPr/>
          </p:nvSpPr>
          <p:spPr>
            <a:xfrm>
              <a:off x="1190625" y="4095750"/>
              <a:ext cx="2133600" cy="495300"/>
            </a:xfrm>
            <a:prstGeom prst="ellipse">
              <a:avLst/>
            </a:prstGeom>
            <a:solidFill>
              <a:srgbClr val="DDE2F2"/>
            </a:solidFill>
            <a:ln>
              <a:noFill/>
            </a:ln>
          </p:spPr>
        </p:sp>
        <p:sp>
          <p:nvSpPr>
            <p:cNvPr id="28" name="TextBox 28"/>
            <p:cNvSpPr txBox="1"/>
            <p:nvPr/>
          </p:nvSpPr>
          <p:spPr>
            <a:xfrm>
              <a:off x="1963230" y="4297918"/>
              <a:ext cx="588391"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公域泛人群</a:t>
              </a:r>
            </a:p>
          </p:txBody>
        </p:sp>
        <p:sp>
          <p:nvSpPr>
            <p:cNvPr id="29" name="Rectangle 29"/>
            <p:cNvSpPr/>
            <p:nvPr/>
          </p:nvSpPr>
          <p:spPr>
            <a:xfrm>
              <a:off x="1695450" y="4629150"/>
              <a:ext cx="1123950" cy="209550"/>
            </a:xfrm>
            <a:prstGeom prst="roundRect">
              <a:avLst>
                <a:gd name="adj" fmla="val 50000"/>
              </a:avLst>
            </a:prstGeom>
            <a:solidFill>
              <a:srgbClr val="C1553F"/>
            </a:solidFill>
            <a:ln>
              <a:noFill/>
            </a:ln>
          </p:spPr>
        </p:sp>
        <p:sp>
          <p:nvSpPr>
            <p:cNvPr id="30" name="TextBox 30"/>
            <p:cNvSpPr txBox="1"/>
            <p:nvPr/>
          </p:nvSpPr>
          <p:spPr>
            <a:xfrm>
              <a:off x="1976692" y="4692491"/>
              <a:ext cx="56146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公域泛人群</a:t>
              </a:r>
            </a:p>
          </p:txBody>
        </p:sp>
        <p:sp>
          <p:nvSpPr>
            <p:cNvPr id="31" name="Line 31"/>
            <p:cNvSpPr/>
            <p:nvPr/>
          </p:nvSpPr>
          <p:spPr>
            <a:xfrm flipV="1">
              <a:off x="2257425" y="4895850"/>
              <a:ext cx="1" cy="457200"/>
            </a:xfrm>
            <a:prstGeom prst="line">
              <a:avLst/>
            </a:prstGeom>
            <a:noFill/>
            <a:ln w="19050">
              <a:solidFill>
                <a:srgbClr val="DD988A"/>
              </a:solidFill>
              <a:tailEnd type="triangle" w="lg" len="lg"/>
            </a:ln>
          </p:spPr>
        </p:sp>
        <p:sp>
          <p:nvSpPr>
            <p:cNvPr id="32" name="Rectangle 32"/>
            <p:cNvSpPr/>
            <p:nvPr/>
          </p:nvSpPr>
          <p:spPr>
            <a:xfrm>
              <a:off x="676275" y="5419725"/>
              <a:ext cx="2876550" cy="228600"/>
            </a:xfrm>
            <a:prstGeom prst="roundRect">
              <a:avLst>
                <a:gd name="adj" fmla="val 50000"/>
              </a:avLst>
            </a:prstGeom>
            <a:solidFill>
              <a:srgbClr val="FFFFFF"/>
            </a:solidFill>
            <a:ln w="9525">
              <a:solidFill>
                <a:srgbClr val="C9CFEA"/>
              </a:solidFill>
            </a:ln>
          </p:spPr>
        </p:sp>
        <p:sp>
          <p:nvSpPr>
            <p:cNvPr id="33" name="TextBox 33"/>
            <p:cNvSpPr txBox="1"/>
            <p:nvPr/>
          </p:nvSpPr>
          <p:spPr>
            <a:xfrm>
              <a:off x="1351336" y="5492591"/>
              <a:ext cx="1526428"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内容共创： TVC+话题+挑战赛​</a:t>
              </a:r>
            </a:p>
          </p:txBody>
        </p:sp>
        <p:sp>
          <p:nvSpPr>
            <p:cNvPr id="34" name="Line 34"/>
            <p:cNvSpPr/>
            <p:nvPr/>
          </p:nvSpPr>
          <p:spPr>
            <a:xfrm>
              <a:off x="3667125" y="4686300"/>
              <a:ext cx="314325" cy="1"/>
            </a:xfrm>
            <a:prstGeom prst="line">
              <a:avLst/>
            </a:prstGeom>
            <a:noFill/>
            <a:ln w="47625">
              <a:solidFill>
                <a:srgbClr val="ED8776"/>
              </a:solidFill>
              <a:tailEnd type="triangle" w="lg" len="lg"/>
            </a:ln>
          </p:spPr>
        </p:sp>
      </p:grpSp>
      <p:grpSp>
        <p:nvGrpSpPr>
          <p:cNvPr id="71" name="col2-seeding"/>
          <p:cNvGrpSpPr/>
          <p:nvPr/>
        </p:nvGrpSpPr>
        <p:grpSpPr>
          <a:xfrm>
            <a:off x="4124325" y="2424351"/>
            <a:ext cx="3876675" cy="4141469"/>
            <a:chOff x="4124325" y="2424351"/>
            <a:chExt cx="3876675" cy="4141469"/>
          </a:xfrm>
        </p:grpSpPr>
        <p:sp>
          <p:nvSpPr>
            <p:cNvPr id="36" name="TextBox 36"/>
            <p:cNvSpPr txBox="1"/>
            <p:nvPr/>
          </p:nvSpPr>
          <p:spPr>
            <a:xfrm>
              <a:off x="5712841" y="2424351"/>
              <a:ext cx="690118" cy="198025"/>
            </a:xfrm>
            <a:prstGeom prst="rect">
              <a:avLst/>
            </a:prstGeom>
            <a:noFill/>
            <a:ln>
              <a:noFill/>
            </a:ln>
          </p:spPr>
          <p:txBody>
            <a:bodyPr wrap="none" lIns="0" tIns="0" rIns="0" bIns="0" anchor="t" anchorCtr="0">
              <a:spAutoFit/>
            </a:bodyPr>
            <a:lstStyle/>
            <a:p>
              <a:pPr algn="ctr"/>
              <a:r>
                <a:rPr lang="zh-CN" sz="1010" b="1" dirty="0">
                  <a:solidFill>
                    <a:srgbClr val="E5624C"/>
                  </a:solidFill>
                  <a:latin typeface="+mn-lt"/>
                  <a:ea typeface="+mn-ea"/>
                  <a:cs typeface="+mn-cs"/>
                </a:rPr>
                <a:t>跨场景触达</a:t>
              </a:r>
            </a:p>
          </p:txBody>
        </p:sp>
        <p:sp>
          <p:nvSpPr>
            <p:cNvPr id="37" name="TextBox 37"/>
            <p:cNvSpPr txBox="1"/>
            <p:nvPr/>
          </p:nvSpPr>
          <p:spPr>
            <a:xfrm>
              <a:off x="5059642" y="2673191"/>
              <a:ext cx="1996516"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小红书平台深度种草，选择受女性用户喜</a:t>
              </a:r>
            </a:p>
          </p:txBody>
        </p:sp>
        <p:sp>
          <p:nvSpPr>
            <p:cNvPr id="38" name="TextBox 38"/>
            <p:cNvSpPr txBox="1"/>
            <p:nvPr/>
          </p:nvSpPr>
          <p:spPr>
            <a:xfrm>
              <a:off x="5252561" y="2844641"/>
              <a:ext cx="1610678"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爱的美妆、时尚类KOL同步发力​</a:t>
              </a:r>
            </a:p>
          </p:txBody>
        </p:sp>
        <p:sp>
          <p:nvSpPr>
            <p:cNvPr id="39" name="Rectangle 39"/>
            <p:cNvSpPr/>
            <p:nvPr/>
          </p:nvSpPr>
          <p:spPr>
            <a:xfrm>
              <a:off x="5181600" y="3143250"/>
              <a:ext cx="1752600" cy="247650"/>
            </a:xfrm>
            <a:prstGeom prst="roundRect">
              <a:avLst>
                <a:gd name="adj" fmla="val 50000"/>
              </a:avLst>
            </a:prstGeom>
            <a:solidFill>
              <a:srgbClr val="FDF0EC"/>
            </a:solidFill>
            <a:ln w="9525">
              <a:solidFill>
                <a:srgbClr val="F0C0B8"/>
              </a:solidFill>
            </a:ln>
          </p:spPr>
        </p:sp>
        <p:sp>
          <p:nvSpPr>
            <p:cNvPr id="40" name="TextBox 40"/>
            <p:cNvSpPr txBox="1"/>
            <p:nvPr/>
          </p:nvSpPr>
          <p:spPr>
            <a:xfrm>
              <a:off x="5979208" y="3217545"/>
              <a:ext cx="157383" cy="176212"/>
            </a:xfrm>
            <a:prstGeom prst="rect">
              <a:avLst/>
            </a:prstGeom>
            <a:noFill/>
            <a:ln>
              <a:noFill/>
            </a:ln>
          </p:spPr>
          <p:txBody>
            <a:bodyPr wrap="none" lIns="0" tIns="0" rIns="0" bIns="0" anchor="t" anchorCtr="0">
              <a:spAutoFit/>
            </a:bodyPr>
            <a:lstStyle/>
            <a:p>
              <a:pPr algn="ctr"/>
              <a:r>
                <a:rPr lang="en-US" sz="900" b="1" dirty="0">
                  <a:solidFill>
                    <a:srgbClr val="E5624C"/>
                  </a:solidFill>
                  <a:latin typeface="+mn-lt"/>
                  <a:ea typeface="+mn-ea"/>
                  <a:cs typeface="+mn-cs"/>
                </a:rPr>
                <a:t>A3</a:t>
              </a:r>
            </a:p>
          </p:txBody>
        </p:sp>
        <p:sp>
          <p:nvSpPr>
            <p:cNvPr id="41" name="Ellipse 41"/>
            <p:cNvSpPr/>
            <p:nvPr/>
          </p:nvSpPr>
          <p:spPr>
            <a:xfrm>
              <a:off x="4933950" y="3438525"/>
              <a:ext cx="2247900" cy="457200"/>
            </a:xfrm>
            <a:prstGeom prst="ellipse">
              <a:avLst/>
            </a:prstGeom>
            <a:solidFill>
              <a:srgbClr val="FBDCD3"/>
            </a:solidFill>
            <a:ln>
              <a:noFill/>
            </a:ln>
          </p:spPr>
        </p:sp>
        <p:sp>
          <p:nvSpPr>
            <p:cNvPr id="42" name="TextBox 42"/>
            <p:cNvSpPr txBox="1"/>
            <p:nvPr/>
          </p:nvSpPr>
          <p:spPr>
            <a:xfrm>
              <a:off x="5556390" y="3625691"/>
              <a:ext cx="100302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一阶段内容兴趣用户</a:t>
              </a:r>
            </a:p>
          </p:txBody>
        </p:sp>
        <p:sp>
          <p:nvSpPr>
            <p:cNvPr id="43" name="Rectangle 43"/>
            <p:cNvSpPr/>
            <p:nvPr/>
          </p:nvSpPr>
          <p:spPr>
            <a:xfrm>
              <a:off x="5591175" y="3867150"/>
              <a:ext cx="952500" cy="190500"/>
            </a:xfrm>
            <a:prstGeom prst="roundRect">
              <a:avLst>
                <a:gd name="adj" fmla="val 50000"/>
              </a:avLst>
            </a:prstGeom>
            <a:solidFill>
              <a:srgbClr val="E5624C"/>
            </a:solidFill>
            <a:ln>
              <a:noFill/>
            </a:ln>
          </p:spPr>
        </p:sp>
        <p:sp>
          <p:nvSpPr>
            <p:cNvPr id="44" name="TextBox 44"/>
            <p:cNvSpPr txBox="1"/>
            <p:nvPr/>
          </p:nvSpPr>
          <p:spPr>
            <a:xfrm>
              <a:off x="5849963" y="39250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行为锁定</a:t>
              </a:r>
            </a:p>
          </p:txBody>
        </p:sp>
        <p:sp>
          <p:nvSpPr>
            <p:cNvPr id="45" name="Line 45"/>
            <p:cNvSpPr/>
            <p:nvPr/>
          </p:nvSpPr>
          <p:spPr>
            <a:xfrm>
              <a:off x="4457700" y="4305300"/>
              <a:ext cx="1" cy="266700"/>
            </a:xfrm>
            <a:prstGeom prst="line">
              <a:avLst/>
            </a:prstGeom>
            <a:noFill/>
            <a:ln w="17145">
              <a:solidFill>
                <a:srgbClr val="DD988A"/>
              </a:solidFill>
              <a:headEnd type="triangle" w="lg" len="lg"/>
              <a:tailEnd type="triangle" w="lg" len="lg"/>
            </a:ln>
          </p:spPr>
        </p:sp>
        <p:sp>
          <p:nvSpPr>
            <p:cNvPr id="46" name="Rectangle 46"/>
            <p:cNvSpPr/>
            <p:nvPr/>
          </p:nvSpPr>
          <p:spPr>
            <a:xfrm>
              <a:off x="4124325" y="4629150"/>
              <a:ext cx="1009650" cy="904875"/>
            </a:xfrm>
            <a:prstGeom prst="roundRect">
              <a:avLst>
                <a:gd name="adj" fmla="val 6316"/>
              </a:avLst>
            </a:prstGeom>
            <a:solidFill>
              <a:srgbClr val="FDF0EC"/>
            </a:solidFill>
            <a:ln w="9525">
              <a:solidFill>
                <a:srgbClr val="F0C0B8"/>
              </a:solidFill>
            </a:ln>
          </p:spPr>
        </p:sp>
        <p:sp>
          <p:nvSpPr>
            <p:cNvPr id="47" name="TextBox 47"/>
            <p:cNvSpPr txBox="1"/>
            <p:nvPr/>
          </p:nvSpPr>
          <p:spPr>
            <a:xfrm>
              <a:off x="4305338" y="4753689"/>
              <a:ext cx="647624"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广告曝光场景</a:t>
              </a:r>
            </a:p>
          </p:txBody>
        </p:sp>
        <p:sp>
          <p:nvSpPr>
            <p:cNvPr id="48" name="TextBox 48"/>
            <p:cNvSpPr txBox="1"/>
            <p:nvPr/>
          </p:nvSpPr>
          <p:spPr>
            <a:xfrm>
              <a:off x="4538231" y="4960382"/>
              <a:ext cx="181839" cy="126206"/>
            </a:xfrm>
            <a:prstGeom prst="rect">
              <a:avLst/>
            </a:prstGeom>
            <a:noFill/>
            <a:ln>
              <a:noFill/>
            </a:ln>
          </p:spPr>
          <p:txBody>
            <a:bodyPr wrap="none" lIns="0" tIns="0" rIns="0" bIns="0" anchor="t" anchorCtr="0">
              <a:spAutoFit/>
            </a:bodyPr>
            <a:lstStyle/>
            <a:p>
              <a:pPr algn="ctr"/>
              <a:r>
                <a:rPr lang="zh-CN" sz="640" dirty="0">
                  <a:solidFill>
                    <a:srgbClr val="8A90A5"/>
                  </a:solidFill>
                  <a:latin typeface="+mn-lt"/>
                  <a:ea typeface="+mn-ea"/>
                  <a:cs typeface="+mn-cs"/>
                </a:rPr>
                <a:t>开屏</a:t>
              </a:r>
            </a:p>
          </p:txBody>
        </p:sp>
        <p:sp>
          <p:nvSpPr>
            <p:cNvPr id="49" name="TextBox 49"/>
            <p:cNvSpPr txBox="1"/>
            <p:nvPr/>
          </p:nvSpPr>
          <p:spPr>
            <a:xfrm>
              <a:off x="4408996" y="5103257"/>
              <a:ext cx="440309" cy="126206"/>
            </a:xfrm>
            <a:prstGeom prst="rect">
              <a:avLst/>
            </a:prstGeom>
            <a:noFill/>
            <a:ln>
              <a:noFill/>
            </a:ln>
          </p:spPr>
          <p:txBody>
            <a:bodyPr wrap="none" lIns="0" tIns="0" rIns="0" bIns="0" anchor="t" anchorCtr="0">
              <a:spAutoFit/>
            </a:bodyPr>
            <a:lstStyle/>
            <a:p>
              <a:pPr algn="ctr"/>
              <a:r>
                <a:rPr lang="zh-CN" sz="640" dirty="0">
                  <a:solidFill>
                    <a:srgbClr val="8A90A5"/>
                  </a:solidFill>
                  <a:latin typeface="+mn-lt"/>
                  <a:ea typeface="+mn-ea"/>
                  <a:cs typeface="+mn-cs"/>
                </a:rPr>
                <a:t>双列信息流</a:t>
              </a:r>
            </a:p>
          </p:txBody>
        </p:sp>
        <p:sp>
          <p:nvSpPr>
            <p:cNvPr id="50" name="TextBox 50"/>
            <p:cNvSpPr txBox="1"/>
            <p:nvPr/>
          </p:nvSpPr>
          <p:spPr>
            <a:xfrm>
              <a:off x="4279760" y="5246132"/>
              <a:ext cx="698779" cy="126206"/>
            </a:xfrm>
            <a:prstGeom prst="rect">
              <a:avLst/>
            </a:prstGeom>
            <a:noFill/>
            <a:ln>
              <a:noFill/>
            </a:ln>
          </p:spPr>
          <p:txBody>
            <a:bodyPr wrap="none" lIns="0" tIns="0" rIns="0" bIns="0" anchor="t" anchorCtr="0">
              <a:spAutoFit/>
            </a:bodyPr>
            <a:lstStyle/>
            <a:p>
              <a:pPr algn="ctr"/>
              <a:r>
                <a:rPr lang="zh-CN" sz="640" dirty="0">
                  <a:solidFill>
                    <a:srgbClr val="8A90A5"/>
                  </a:solidFill>
                  <a:latin typeface="+mn-lt"/>
                  <a:ea typeface="+mn-ea"/>
                  <a:cs typeface="+mn-cs"/>
                </a:rPr>
                <a:t>品牌博主流量三维</a:t>
              </a:r>
            </a:p>
          </p:txBody>
        </p:sp>
        <p:sp>
          <p:nvSpPr>
            <p:cNvPr id="51" name="Line 51"/>
            <p:cNvSpPr/>
            <p:nvPr/>
          </p:nvSpPr>
          <p:spPr>
            <a:xfrm>
              <a:off x="5172075" y="4667250"/>
              <a:ext cx="485775" cy="1"/>
            </a:xfrm>
            <a:prstGeom prst="line">
              <a:avLst/>
            </a:prstGeom>
            <a:noFill/>
            <a:ln w="17145">
              <a:solidFill>
                <a:srgbClr val="DD988A"/>
              </a:solidFill>
              <a:tailEnd type="triangle" w="lg" len="lg"/>
            </a:ln>
          </p:spPr>
        </p:sp>
        <p:sp>
          <p:nvSpPr>
            <p:cNvPr id="52" name="Line 52"/>
            <p:cNvSpPr/>
            <p:nvPr/>
          </p:nvSpPr>
          <p:spPr>
            <a:xfrm>
              <a:off x="5172075" y="5181600"/>
              <a:ext cx="485775" cy="1"/>
            </a:xfrm>
            <a:prstGeom prst="line">
              <a:avLst/>
            </a:prstGeom>
            <a:noFill/>
            <a:ln w="17145">
              <a:solidFill>
                <a:srgbClr val="DD988A"/>
              </a:solidFill>
              <a:tailEnd type="triangle" w="lg" len="lg"/>
            </a:ln>
          </p:spPr>
        </p:sp>
        <p:sp>
          <p:nvSpPr>
            <p:cNvPr id="53" name="Line 53"/>
            <p:cNvSpPr/>
            <p:nvPr/>
          </p:nvSpPr>
          <p:spPr>
            <a:xfrm>
              <a:off x="5172075" y="5695950"/>
              <a:ext cx="485775" cy="1"/>
            </a:xfrm>
            <a:prstGeom prst="line">
              <a:avLst/>
            </a:prstGeom>
            <a:noFill/>
            <a:ln w="17145">
              <a:solidFill>
                <a:srgbClr val="DD988A"/>
              </a:solidFill>
              <a:tailEnd type="triangle" w="lg" len="lg"/>
            </a:ln>
          </p:spPr>
        </p:sp>
        <p:sp>
          <p:nvSpPr>
            <p:cNvPr id="54" name="Rectangle 54"/>
            <p:cNvSpPr/>
            <p:nvPr/>
          </p:nvSpPr>
          <p:spPr>
            <a:xfrm>
              <a:off x="5695950" y="4457700"/>
              <a:ext cx="1362075" cy="419100"/>
            </a:xfrm>
            <a:prstGeom prst="roundRect">
              <a:avLst>
                <a:gd name="adj" fmla="val 13636"/>
              </a:avLst>
            </a:prstGeom>
            <a:solidFill>
              <a:srgbClr val="FDF0EC"/>
            </a:solidFill>
            <a:ln w="9525">
              <a:solidFill>
                <a:srgbClr val="F0C0B8"/>
              </a:solidFill>
            </a:ln>
          </p:spPr>
        </p:sp>
        <p:sp>
          <p:nvSpPr>
            <p:cNvPr id="55" name="TextBox 55"/>
            <p:cNvSpPr txBox="1"/>
            <p:nvPr/>
          </p:nvSpPr>
          <p:spPr>
            <a:xfrm>
              <a:off x="6048413" y="4544139"/>
              <a:ext cx="647624"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明星互动场景</a:t>
              </a:r>
            </a:p>
          </p:txBody>
        </p:sp>
        <p:sp>
          <p:nvSpPr>
            <p:cNvPr id="56" name="TextBox 56"/>
            <p:cNvSpPr txBox="1"/>
            <p:nvPr/>
          </p:nvSpPr>
          <p:spPr>
            <a:xfrm>
              <a:off x="5822521" y="4722257"/>
              <a:ext cx="1099409" cy="126206"/>
            </a:xfrm>
            <a:prstGeom prst="rect">
              <a:avLst/>
            </a:prstGeom>
            <a:noFill/>
            <a:ln>
              <a:noFill/>
            </a:ln>
          </p:spPr>
          <p:txBody>
            <a:bodyPr wrap="none" lIns="0" tIns="0" rIns="0" bIns="0" anchor="t" anchorCtr="0">
              <a:spAutoFit/>
            </a:bodyPr>
            <a:lstStyle/>
            <a:p>
              <a:pPr algn="ctr"/>
              <a:r>
                <a:rPr lang="zh-CN" sz="640" dirty="0">
                  <a:solidFill>
                    <a:srgbClr val="8A90A5"/>
                  </a:solidFill>
                  <a:latin typeface="+mn-lt"/>
                  <a:ea typeface="+mn-ea"/>
                  <a:cs typeface="+mn-cs"/>
                </a:rPr>
                <a:t>直播·明星主页·评论区预测​</a:t>
              </a:r>
            </a:p>
          </p:txBody>
        </p:sp>
        <p:sp>
          <p:nvSpPr>
            <p:cNvPr id="57" name="Rectangle 57"/>
            <p:cNvSpPr/>
            <p:nvPr/>
          </p:nvSpPr>
          <p:spPr>
            <a:xfrm>
              <a:off x="5695950" y="4972050"/>
              <a:ext cx="1362075" cy="419100"/>
            </a:xfrm>
            <a:prstGeom prst="roundRect">
              <a:avLst>
                <a:gd name="adj" fmla="val 13636"/>
              </a:avLst>
            </a:prstGeom>
            <a:solidFill>
              <a:srgbClr val="FDF0EC"/>
            </a:solidFill>
            <a:ln w="9525">
              <a:solidFill>
                <a:srgbClr val="F0C0B8"/>
              </a:solidFill>
            </a:ln>
          </p:spPr>
        </p:sp>
        <p:sp>
          <p:nvSpPr>
            <p:cNvPr id="58" name="TextBox 58"/>
            <p:cNvSpPr txBox="1"/>
            <p:nvPr/>
          </p:nvSpPr>
          <p:spPr>
            <a:xfrm>
              <a:off x="6048413" y="5058489"/>
              <a:ext cx="647624"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兴趣搜索场景</a:t>
              </a:r>
            </a:p>
          </p:txBody>
        </p:sp>
        <p:sp>
          <p:nvSpPr>
            <p:cNvPr id="59" name="TextBox 59"/>
            <p:cNvSpPr txBox="1"/>
            <p:nvPr/>
          </p:nvSpPr>
          <p:spPr>
            <a:xfrm>
              <a:off x="6042221" y="5236607"/>
              <a:ext cx="660009" cy="126206"/>
            </a:xfrm>
            <a:prstGeom prst="rect">
              <a:avLst/>
            </a:prstGeom>
            <a:noFill/>
            <a:ln>
              <a:noFill/>
            </a:ln>
          </p:spPr>
          <p:txBody>
            <a:bodyPr wrap="none" lIns="0" tIns="0" rIns="0" bIns="0" anchor="t" anchorCtr="0">
              <a:spAutoFit/>
            </a:bodyPr>
            <a:lstStyle/>
            <a:p>
              <a:pPr algn="ctr"/>
              <a:r>
                <a:rPr lang="zh-CN" sz="640" dirty="0">
                  <a:solidFill>
                    <a:srgbClr val="8A90A5"/>
                  </a:solidFill>
                  <a:latin typeface="+mn-lt"/>
                  <a:ea typeface="+mn-ea"/>
                  <a:cs typeface="+mn-cs"/>
                </a:rPr>
                <a:t>搜索热词·长尾词</a:t>
              </a:r>
            </a:p>
          </p:txBody>
        </p:sp>
        <p:sp>
          <p:nvSpPr>
            <p:cNvPr id="60" name="Rectangle 60"/>
            <p:cNvSpPr/>
            <p:nvPr/>
          </p:nvSpPr>
          <p:spPr>
            <a:xfrm>
              <a:off x="5695950" y="5486400"/>
              <a:ext cx="1362075" cy="419100"/>
            </a:xfrm>
            <a:prstGeom prst="roundRect">
              <a:avLst>
                <a:gd name="adj" fmla="val 13636"/>
              </a:avLst>
            </a:prstGeom>
            <a:solidFill>
              <a:srgbClr val="FDF0EC"/>
            </a:solidFill>
            <a:ln w="9525">
              <a:solidFill>
                <a:srgbClr val="F0C0B8"/>
              </a:solidFill>
            </a:ln>
          </p:spPr>
        </p:sp>
        <p:sp>
          <p:nvSpPr>
            <p:cNvPr id="61" name="TextBox 61"/>
            <p:cNvSpPr txBox="1"/>
            <p:nvPr/>
          </p:nvSpPr>
          <p:spPr>
            <a:xfrm>
              <a:off x="6014915" y="5572839"/>
              <a:ext cx="714619"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KOL互动场景​</a:t>
              </a:r>
            </a:p>
          </p:txBody>
        </p:sp>
        <p:sp>
          <p:nvSpPr>
            <p:cNvPr id="62" name="TextBox 62"/>
            <p:cNvSpPr txBox="1"/>
            <p:nvPr/>
          </p:nvSpPr>
          <p:spPr>
            <a:xfrm>
              <a:off x="6195149" y="5750957"/>
              <a:ext cx="354152" cy="126206"/>
            </a:xfrm>
            <a:prstGeom prst="rect">
              <a:avLst/>
            </a:prstGeom>
            <a:noFill/>
            <a:ln>
              <a:noFill/>
            </a:ln>
          </p:spPr>
          <p:txBody>
            <a:bodyPr wrap="none" lIns="0" tIns="0" rIns="0" bIns="0" anchor="t" anchorCtr="0">
              <a:spAutoFit/>
            </a:bodyPr>
            <a:lstStyle/>
            <a:p>
              <a:pPr algn="ctr"/>
              <a:r>
                <a:rPr lang="zh-CN" sz="640" dirty="0">
                  <a:solidFill>
                    <a:srgbClr val="8A90A5"/>
                  </a:solidFill>
                  <a:latin typeface="+mn-lt"/>
                  <a:ea typeface="+mn-ea"/>
                  <a:cs typeface="+mn-cs"/>
                </a:rPr>
                <a:t>好物安利</a:t>
              </a:r>
            </a:p>
          </p:txBody>
        </p:sp>
        <p:sp>
          <p:nvSpPr>
            <p:cNvPr id="63" name="Line 63"/>
            <p:cNvSpPr/>
            <p:nvPr/>
          </p:nvSpPr>
          <p:spPr>
            <a:xfrm>
              <a:off x="7096125" y="5181600"/>
              <a:ext cx="200025" cy="1"/>
            </a:xfrm>
            <a:prstGeom prst="line">
              <a:avLst/>
            </a:prstGeom>
            <a:noFill/>
            <a:ln w="17145">
              <a:solidFill>
                <a:srgbClr val="DD988A"/>
              </a:solidFill>
              <a:tailEnd type="triangle" w="lg" len="lg"/>
            </a:ln>
          </p:spPr>
        </p:sp>
        <p:sp>
          <p:nvSpPr>
            <p:cNvPr id="64" name="Rectangle 64"/>
            <p:cNvSpPr/>
            <p:nvPr/>
          </p:nvSpPr>
          <p:spPr>
            <a:xfrm>
              <a:off x="7334250" y="4457700"/>
              <a:ext cx="457200" cy="1447800"/>
            </a:xfrm>
            <a:prstGeom prst="roundRect">
              <a:avLst>
                <a:gd name="adj" fmla="val 12500"/>
              </a:avLst>
            </a:prstGeom>
            <a:solidFill>
              <a:srgbClr val="FDF0EC"/>
            </a:solidFill>
            <a:ln w="9525">
              <a:solidFill>
                <a:srgbClr val="F0C0B8"/>
              </a:solidFill>
            </a:ln>
          </p:spPr>
        </p:sp>
        <p:sp>
          <p:nvSpPr>
            <p:cNvPr id="65" name="TextBox 65"/>
            <p:cNvSpPr txBox="1"/>
            <p:nvPr/>
          </p:nvSpPr>
          <p:spPr>
            <a:xfrm>
              <a:off x="7507922" y="4563189"/>
              <a:ext cx="109855" cy="1288256"/>
            </a:xfrm>
            <a:prstGeom prst="rect">
              <a:avLst/>
            </a:prstGeom>
            <a:noFill/>
            <a:ln>
              <a:noFill/>
            </a:ln>
          </p:spPr>
          <p:txBody>
            <a:bodyPr wrap="none" lIns="0" tIns="0" rIns="0" bIns="0" anchor="t" anchorCtr="0">
              <a:spAutoFit/>
            </a:bodyPr>
            <a:lstStyle/>
            <a:p>
              <a:pPr algn="ctr">
                <a:lnSpc>
                  <a:spcPts val="1275"/>
                </a:lnSpc>
              </a:pPr>
              <a:r>
                <a:rPr lang="zh-CN" sz="790" dirty="0">
                  <a:solidFill>
                    <a:srgbClr val="E5624C"/>
                  </a:solidFill>
                  <a:latin typeface="+mn-lt"/>
                  <a:ea typeface="+mn-ea"/>
                  <a:cs typeface="+mn-cs"/>
                </a:rPr>
                <a:t>品</a:t>
              </a:r>
              <a:br/>
              <a:r>
                <a:rPr lang="zh-CN" sz="790" dirty="0">
                  <a:solidFill>
                    <a:srgbClr val="E5624C"/>
                  </a:solidFill>
                  <a:latin typeface="+mn-lt"/>
                  <a:ea typeface="+mn-ea"/>
                  <a:cs typeface="+mn-cs"/>
                </a:rPr>
                <a:t>牌</a:t>
              </a:r>
              <a:br/>
              <a:r>
                <a:rPr lang="zh-CN" sz="790" dirty="0">
                  <a:solidFill>
                    <a:srgbClr val="E5624C"/>
                  </a:solidFill>
                  <a:latin typeface="+mn-lt"/>
                  <a:ea typeface="+mn-ea"/>
                  <a:cs typeface="+mn-cs"/>
                </a:rPr>
                <a:t>会</a:t>
              </a:r>
              <a:br/>
              <a:r>
                <a:rPr lang="zh-CN" sz="790" dirty="0">
                  <a:solidFill>
                    <a:srgbClr val="E5624C"/>
                  </a:solidFill>
                  <a:latin typeface="+mn-lt"/>
                  <a:ea typeface="+mn-ea"/>
                  <a:cs typeface="+mn-cs"/>
                </a:rPr>
                <a:t>员</a:t>
              </a:r>
              <a:br/>
              <a:r>
                <a:rPr lang="zh-CN" sz="790" dirty="0">
                  <a:solidFill>
                    <a:srgbClr val="E5624C"/>
                  </a:solidFill>
                  <a:latin typeface="+mn-lt"/>
                  <a:ea typeface="+mn-ea"/>
                  <a:cs typeface="+mn-cs"/>
                </a:rPr>
                <a:t>矩</a:t>
              </a:r>
              <a:br/>
              <a:r>
                <a:rPr lang="zh-CN" sz="790" dirty="0">
                  <a:solidFill>
                    <a:srgbClr val="E5624C"/>
                  </a:solidFill>
                  <a:latin typeface="+mn-lt"/>
                  <a:ea typeface="+mn-ea"/>
                  <a:cs typeface="+mn-cs"/>
                </a:rPr>
                <a:t>阵</a:t>
              </a:r>
              <a:br/>
              <a:r>
                <a:rPr lang="zh-CN" sz="790" dirty="0">
                  <a:solidFill>
                    <a:srgbClr val="E5624C"/>
                  </a:solidFill>
                  <a:latin typeface="+mn-lt"/>
                  <a:ea typeface="+mn-ea"/>
                  <a:cs typeface="+mn-cs"/>
                </a:rPr>
                <a:t>小</a:t>
              </a:r>
              <a:br/>
              <a:r>
                <a:rPr lang="zh-CN" sz="790" dirty="0">
                  <a:solidFill>
                    <a:srgbClr val="E5624C"/>
                  </a:solidFill>
                  <a:latin typeface="+mn-lt"/>
                  <a:ea typeface="+mn-ea"/>
                  <a:cs typeface="+mn-cs"/>
                </a:rPr>
                <a:t>店</a:t>
              </a:r>
            </a:p>
          </p:txBody>
        </p:sp>
        <p:sp>
          <p:nvSpPr>
            <p:cNvPr id="66" name="Ellipse 66"/>
            <p:cNvSpPr/>
            <p:nvPr/>
          </p:nvSpPr>
          <p:spPr>
            <a:xfrm>
              <a:off x="4933950" y="5924550"/>
              <a:ext cx="2247900" cy="457200"/>
            </a:xfrm>
            <a:prstGeom prst="ellipse">
              <a:avLst/>
            </a:prstGeom>
            <a:solidFill>
              <a:srgbClr val="FBDCD3"/>
            </a:solidFill>
            <a:ln>
              <a:noFill/>
            </a:ln>
          </p:spPr>
        </p:sp>
        <p:sp>
          <p:nvSpPr>
            <p:cNvPr id="67" name="TextBox 67"/>
            <p:cNvSpPr txBox="1"/>
            <p:nvPr/>
          </p:nvSpPr>
          <p:spPr>
            <a:xfrm>
              <a:off x="5721972" y="6111716"/>
              <a:ext cx="671855"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品牌目标人群</a:t>
              </a:r>
            </a:p>
          </p:txBody>
        </p:sp>
        <p:sp>
          <p:nvSpPr>
            <p:cNvPr id="68" name="Rectangle 68"/>
            <p:cNvSpPr/>
            <p:nvPr/>
          </p:nvSpPr>
          <p:spPr>
            <a:xfrm>
              <a:off x="5591175" y="6353175"/>
              <a:ext cx="952500" cy="190500"/>
            </a:xfrm>
            <a:prstGeom prst="roundRect">
              <a:avLst>
                <a:gd name="adj" fmla="val 50000"/>
              </a:avLst>
            </a:prstGeom>
            <a:solidFill>
              <a:srgbClr val="E5624C"/>
            </a:solidFill>
            <a:ln>
              <a:noFill/>
            </a:ln>
          </p:spPr>
        </p:sp>
        <p:sp>
          <p:nvSpPr>
            <p:cNvPr id="69" name="TextBox 69"/>
            <p:cNvSpPr txBox="1"/>
            <p:nvPr/>
          </p:nvSpPr>
          <p:spPr>
            <a:xfrm>
              <a:off x="5849963" y="641103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人群定向</a:t>
              </a:r>
            </a:p>
          </p:txBody>
        </p:sp>
        <p:sp>
          <p:nvSpPr>
            <p:cNvPr id="70" name="Line 70"/>
            <p:cNvSpPr/>
            <p:nvPr/>
          </p:nvSpPr>
          <p:spPr>
            <a:xfrm>
              <a:off x="7620000" y="4800600"/>
              <a:ext cx="381000" cy="1"/>
            </a:xfrm>
            <a:prstGeom prst="line">
              <a:avLst/>
            </a:prstGeom>
            <a:noFill/>
            <a:ln w="47625">
              <a:solidFill>
                <a:srgbClr val="ED8776"/>
              </a:solidFill>
              <a:tailEnd type="triangle" w="lg" len="lg"/>
            </a:ln>
          </p:spPr>
        </p:sp>
      </p:grpSp>
      <p:grpSp>
        <p:nvGrpSpPr>
          <p:cNvPr id="97" name="col3-expand"/>
          <p:cNvGrpSpPr/>
          <p:nvPr/>
        </p:nvGrpSpPr>
        <p:grpSpPr>
          <a:xfrm>
            <a:off x="8924925" y="2424351"/>
            <a:ext cx="2752725" cy="3957399"/>
            <a:chOff x="8924925" y="2424351"/>
            <a:chExt cx="2752725" cy="3957399"/>
          </a:xfrm>
        </p:grpSpPr>
        <p:sp>
          <p:nvSpPr>
            <p:cNvPr id="72" name="TextBox 72"/>
            <p:cNvSpPr txBox="1"/>
            <p:nvPr/>
          </p:nvSpPr>
          <p:spPr>
            <a:xfrm>
              <a:off x="9676549" y="2424351"/>
              <a:ext cx="554152" cy="198025"/>
            </a:xfrm>
            <a:prstGeom prst="rect">
              <a:avLst/>
            </a:prstGeom>
            <a:noFill/>
            <a:ln>
              <a:noFill/>
            </a:ln>
          </p:spPr>
          <p:txBody>
            <a:bodyPr wrap="none" lIns="0" tIns="0" rIns="0" bIns="0" anchor="t" anchorCtr="0">
              <a:spAutoFit/>
            </a:bodyPr>
            <a:lstStyle/>
            <a:p>
              <a:pPr algn="ctr"/>
              <a:r>
                <a:rPr lang="zh-CN" sz="1010" b="1" dirty="0">
                  <a:solidFill>
                    <a:srgbClr val="C1553F"/>
                  </a:solidFill>
                  <a:latin typeface="+mn-lt"/>
                  <a:ea typeface="+mn-ea"/>
                  <a:cs typeface="+mn-cs"/>
                </a:rPr>
                <a:t>循环引爆</a:t>
              </a:r>
            </a:p>
          </p:txBody>
        </p:sp>
        <p:sp>
          <p:nvSpPr>
            <p:cNvPr id="73" name="TextBox 73"/>
            <p:cNvSpPr txBox="1"/>
            <p:nvPr/>
          </p:nvSpPr>
          <p:spPr>
            <a:xfrm>
              <a:off x="9010561" y="2673191"/>
              <a:ext cx="1886128"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各平台围绕新品测评、使用教程等内容</a:t>
              </a:r>
            </a:p>
          </p:txBody>
        </p:sp>
        <p:sp>
          <p:nvSpPr>
            <p:cNvPr id="74" name="TextBox 74"/>
            <p:cNvSpPr txBox="1"/>
            <p:nvPr/>
          </p:nvSpPr>
          <p:spPr>
            <a:xfrm>
              <a:off x="8955367" y="2844641"/>
              <a:ext cx="1996516"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持续发力，深耕新品心智，提高新品声量</a:t>
              </a:r>
            </a:p>
          </p:txBody>
        </p:sp>
        <p:sp>
          <p:nvSpPr>
            <p:cNvPr id="75" name="Rectangle 75"/>
            <p:cNvSpPr/>
            <p:nvPr/>
          </p:nvSpPr>
          <p:spPr>
            <a:xfrm>
              <a:off x="9077325" y="3143250"/>
              <a:ext cx="1752600" cy="247650"/>
            </a:xfrm>
            <a:prstGeom prst="roundRect">
              <a:avLst>
                <a:gd name="adj" fmla="val 50000"/>
              </a:avLst>
            </a:prstGeom>
            <a:solidFill>
              <a:srgbClr val="DDE2F2"/>
            </a:solidFill>
            <a:ln>
              <a:noFill/>
            </a:ln>
          </p:spPr>
        </p:sp>
        <p:sp>
          <p:nvSpPr>
            <p:cNvPr id="76" name="TextBox 76"/>
            <p:cNvSpPr txBox="1"/>
            <p:nvPr/>
          </p:nvSpPr>
          <p:spPr>
            <a:xfrm>
              <a:off x="9616181" y="3217545"/>
              <a:ext cx="674888" cy="176212"/>
            </a:xfrm>
            <a:prstGeom prst="rect">
              <a:avLst/>
            </a:prstGeom>
            <a:noFill/>
            <a:ln>
              <a:noFill/>
            </a:ln>
          </p:spPr>
          <p:txBody>
            <a:bodyPr wrap="none" lIns="0" tIns="0" rIns="0" bIns="0" anchor="t" anchorCtr="0">
              <a:spAutoFit/>
            </a:bodyPr>
            <a:lstStyle/>
            <a:p>
              <a:pPr algn="ctr"/>
              <a:r>
                <a:rPr lang="en-US" sz="900" b="1" dirty="0">
                  <a:solidFill>
                    <a:srgbClr val="C1553F"/>
                  </a:solidFill>
                  <a:latin typeface="+mn-lt"/>
                  <a:ea typeface="+mn-ea"/>
                  <a:cs typeface="+mn-cs"/>
                </a:rPr>
                <a:t>A3→A4,A5​</a:t>
              </a:r>
            </a:p>
          </p:txBody>
        </p:sp>
        <p:sp>
          <p:nvSpPr>
            <p:cNvPr id="77" name="Ellipse 77"/>
            <p:cNvSpPr/>
            <p:nvPr/>
          </p:nvSpPr>
          <p:spPr>
            <a:xfrm>
              <a:off x="8924925" y="3467100"/>
              <a:ext cx="2057400" cy="400050"/>
            </a:xfrm>
            <a:prstGeom prst="ellipse">
              <a:avLst/>
            </a:prstGeom>
            <a:solidFill>
              <a:srgbClr val="DDE2F2"/>
            </a:solidFill>
            <a:ln>
              <a:noFill/>
            </a:ln>
          </p:spPr>
        </p:sp>
        <p:sp>
          <p:nvSpPr>
            <p:cNvPr id="78" name="TextBox 78"/>
            <p:cNvSpPr txBox="1"/>
            <p:nvPr/>
          </p:nvSpPr>
          <p:spPr>
            <a:xfrm>
              <a:off x="9452115" y="3625691"/>
              <a:ext cx="1003021"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一阶段内容兴趣用户</a:t>
              </a:r>
            </a:p>
          </p:txBody>
        </p:sp>
        <p:sp>
          <p:nvSpPr>
            <p:cNvPr id="79" name="Rectangle 79"/>
            <p:cNvSpPr/>
            <p:nvPr/>
          </p:nvSpPr>
          <p:spPr>
            <a:xfrm>
              <a:off x="9591675" y="3924300"/>
              <a:ext cx="742950" cy="180975"/>
            </a:xfrm>
            <a:prstGeom prst="roundRect">
              <a:avLst>
                <a:gd name="adj" fmla="val 47368"/>
              </a:avLst>
            </a:prstGeom>
            <a:solidFill>
              <a:srgbClr val="C1553F"/>
            </a:solidFill>
            <a:ln>
              <a:noFill/>
            </a:ln>
          </p:spPr>
        </p:sp>
        <p:sp>
          <p:nvSpPr>
            <p:cNvPr id="80" name="TextBox 80"/>
            <p:cNvSpPr txBox="1"/>
            <p:nvPr/>
          </p:nvSpPr>
          <p:spPr>
            <a:xfrm>
              <a:off x="9756458" y="397668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公域拉新</a:t>
              </a:r>
            </a:p>
          </p:txBody>
        </p:sp>
        <p:sp>
          <p:nvSpPr>
            <p:cNvPr id="81" name="Line 81"/>
            <p:cNvSpPr/>
            <p:nvPr/>
          </p:nvSpPr>
          <p:spPr>
            <a:xfrm>
              <a:off x="9953625" y="4152900"/>
              <a:ext cx="1" cy="209550"/>
            </a:xfrm>
            <a:prstGeom prst="line">
              <a:avLst/>
            </a:prstGeom>
            <a:noFill/>
            <a:ln w="17145">
              <a:solidFill>
                <a:srgbClr val="DD988A"/>
              </a:solidFill>
              <a:tailEnd type="triangle" w="lg" len="lg"/>
            </a:ln>
          </p:spPr>
        </p:sp>
        <p:sp>
          <p:nvSpPr>
            <p:cNvPr id="82" name="Ellipse 82"/>
            <p:cNvSpPr/>
            <p:nvPr/>
          </p:nvSpPr>
          <p:spPr>
            <a:xfrm>
              <a:off x="8963025" y="4400550"/>
              <a:ext cx="1981200" cy="457200"/>
            </a:xfrm>
            <a:prstGeom prst="ellipse">
              <a:avLst/>
            </a:prstGeom>
            <a:solidFill>
              <a:srgbClr val="DDE2F2"/>
            </a:solidFill>
            <a:ln>
              <a:noFill/>
            </a:ln>
          </p:spPr>
        </p:sp>
        <p:sp>
          <p:nvSpPr>
            <p:cNvPr id="83" name="TextBox 83"/>
            <p:cNvSpPr txBox="1"/>
            <p:nvPr/>
          </p:nvSpPr>
          <p:spPr>
            <a:xfrm>
              <a:off x="9728086" y="4492466"/>
              <a:ext cx="45107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品牌粉丝</a:t>
              </a:r>
            </a:p>
          </p:txBody>
        </p:sp>
        <p:sp>
          <p:nvSpPr>
            <p:cNvPr id="84" name="TextBox 84"/>
            <p:cNvSpPr txBox="1"/>
            <p:nvPr/>
          </p:nvSpPr>
          <p:spPr>
            <a:xfrm>
              <a:off x="9672892" y="4635341"/>
              <a:ext cx="561467"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未转化用户</a:t>
              </a:r>
            </a:p>
          </p:txBody>
        </p:sp>
        <p:sp>
          <p:nvSpPr>
            <p:cNvPr id="85" name="Rectangle 85"/>
            <p:cNvSpPr/>
            <p:nvPr/>
          </p:nvSpPr>
          <p:spPr>
            <a:xfrm>
              <a:off x="9591675" y="4886325"/>
              <a:ext cx="742950" cy="180975"/>
            </a:xfrm>
            <a:prstGeom prst="roundRect">
              <a:avLst>
                <a:gd name="adj" fmla="val 47368"/>
              </a:avLst>
            </a:prstGeom>
            <a:solidFill>
              <a:srgbClr val="C1553F"/>
            </a:solidFill>
            <a:ln>
              <a:noFill/>
            </a:ln>
          </p:spPr>
        </p:sp>
        <p:sp>
          <p:nvSpPr>
            <p:cNvPr id="86" name="TextBox 86"/>
            <p:cNvSpPr txBox="1"/>
            <p:nvPr/>
          </p:nvSpPr>
          <p:spPr>
            <a:xfrm>
              <a:off x="9756458" y="49387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转化促进</a:t>
              </a:r>
            </a:p>
          </p:txBody>
        </p:sp>
        <p:sp>
          <p:nvSpPr>
            <p:cNvPr id="87" name="Rectangle 87"/>
            <p:cNvSpPr/>
            <p:nvPr/>
          </p:nvSpPr>
          <p:spPr>
            <a:xfrm>
              <a:off x="9258300" y="5391150"/>
              <a:ext cx="1409700" cy="209550"/>
            </a:xfrm>
            <a:prstGeom prst="roundRect">
              <a:avLst>
                <a:gd name="adj" fmla="val 50000"/>
              </a:avLst>
            </a:prstGeom>
            <a:solidFill>
              <a:srgbClr val="FFFFFF"/>
            </a:solidFill>
            <a:ln w="9525">
              <a:solidFill>
                <a:srgbClr val="C9CFEA"/>
              </a:solidFill>
            </a:ln>
          </p:spPr>
        </p:sp>
        <p:sp>
          <p:nvSpPr>
            <p:cNvPr id="88" name="TextBox 88"/>
            <p:cNvSpPr txBox="1"/>
            <p:nvPr/>
          </p:nvSpPr>
          <p:spPr>
            <a:xfrm>
              <a:off x="9439932" y="5458539"/>
              <a:ext cx="1046436"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双11，双12，年货节​</a:t>
              </a:r>
            </a:p>
          </p:txBody>
        </p:sp>
        <p:sp>
          <p:nvSpPr>
            <p:cNvPr id="89" name="Line 89"/>
            <p:cNvSpPr/>
            <p:nvPr/>
          </p:nvSpPr>
          <p:spPr>
            <a:xfrm>
              <a:off x="9953625" y="5638800"/>
              <a:ext cx="1" cy="76200"/>
            </a:xfrm>
            <a:prstGeom prst="line">
              <a:avLst/>
            </a:prstGeom>
            <a:noFill/>
            <a:ln w="17145">
              <a:solidFill>
                <a:srgbClr val="DD988A"/>
              </a:solidFill>
              <a:tailEnd type="triangle" w="lg" len="lg"/>
            </a:ln>
          </p:spPr>
        </p:sp>
        <p:sp>
          <p:nvSpPr>
            <p:cNvPr id="90" name="Ellipse 90"/>
            <p:cNvSpPr/>
            <p:nvPr/>
          </p:nvSpPr>
          <p:spPr>
            <a:xfrm>
              <a:off x="8934450" y="5724525"/>
              <a:ext cx="2038350" cy="400050"/>
            </a:xfrm>
            <a:prstGeom prst="ellipse">
              <a:avLst/>
            </a:prstGeom>
            <a:solidFill>
              <a:srgbClr val="DDE2F2"/>
            </a:solidFill>
            <a:ln>
              <a:noFill/>
            </a:ln>
          </p:spPr>
        </p:sp>
        <p:sp>
          <p:nvSpPr>
            <p:cNvPr id="91" name="TextBox 91"/>
            <p:cNvSpPr txBox="1"/>
            <p:nvPr/>
          </p:nvSpPr>
          <p:spPr>
            <a:xfrm>
              <a:off x="9587340" y="5883116"/>
              <a:ext cx="732569" cy="161925"/>
            </a:xfrm>
            <a:prstGeom prst="rect">
              <a:avLst/>
            </a:prstGeom>
            <a:noFill/>
            <a:ln>
              <a:noFill/>
            </a:ln>
          </p:spPr>
          <p:txBody>
            <a:bodyPr wrap="none" lIns="0" tIns="0" rIns="0" bIns="0" anchor="t" anchorCtr="0">
              <a:spAutoFit/>
            </a:bodyPr>
            <a:lstStyle/>
            <a:p>
              <a:pPr algn="ctr"/>
              <a:r>
                <a:rPr lang="zh-CN" sz="820" dirty="0">
                  <a:solidFill>
                    <a:srgbClr val="705F5B"/>
                  </a:solidFill>
                  <a:latin typeface="+mn-lt"/>
                  <a:ea typeface="+mn-ea"/>
                  <a:cs typeface="+mn-cs"/>
                </a:rPr>
                <a:t>购买/复购用户</a:t>
              </a:r>
            </a:p>
          </p:txBody>
        </p:sp>
        <p:sp>
          <p:nvSpPr>
            <p:cNvPr id="92" name="Rectangle 92"/>
            <p:cNvSpPr/>
            <p:nvPr/>
          </p:nvSpPr>
          <p:spPr>
            <a:xfrm>
              <a:off x="9591675" y="6181725"/>
              <a:ext cx="742950" cy="180975"/>
            </a:xfrm>
            <a:prstGeom prst="roundRect">
              <a:avLst>
                <a:gd name="adj" fmla="val 47368"/>
              </a:avLst>
            </a:prstGeom>
            <a:solidFill>
              <a:srgbClr val="E5624C"/>
            </a:solidFill>
            <a:ln>
              <a:noFill/>
            </a:ln>
          </p:spPr>
        </p:sp>
        <p:sp>
          <p:nvSpPr>
            <p:cNvPr id="93" name="TextBox 93"/>
            <p:cNvSpPr txBox="1"/>
            <p:nvPr/>
          </p:nvSpPr>
          <p:spPr>
            <a:xfrm>
              <a:off x="9756458" y="62341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建模拓圈</a:t>
              </a:r>
            </a:p>
          </p:txBody>
        </p:sp>
        <p:sp>
          <p:nvSpPr>
            <p:cNvPr id="94" name="TextBox 94"/>
            <p:cNvSpPr txBox="1"/>
            <p:nvPr/>
          </p:nvSpPr>
          <p:spPr>
            <a:xfrm>
              <a:off x="11044238" y="4410789"/>
              <a:ext cx="434924" cy="154781"/>
            </a:xfrm>
            <a:prstGeom prst="rect">
              <a:avLst/>
            </a:prstGeom>
            <a:noFill/>
            <a:ln>
              <a:noFill/>
            </a:ln>
          </p:spPr>
          <p:txBody>
            <a:bodyPr wrap="none" lIns="0" tIns="0" rIns="0" bIns="0" anchor="t" anchorCtr="0">
              <a:spAutoFit/>
            </a:bodyPr>
            <a:lstStyle/>
            <a:p>
              <a:pPr algn="l"/>
              <a:r>
                <a:rPr lang="zh-CN" sz="790" dirty="0">
                  <a:solidFill>
                    <a:srgbClr val="8A90A5"/>
                  </a:solidFill>
                  <a:latin typeface="+mn-lt"/>
                  <a:ea typeface="+mn-ea"/>
                  <a:cs typeface="+mn-cs"/>
                </a:rPr>
                <a:t>数据反馈</a:t>
              </a:r>
            </a:p>
          </p:txBody>
        </p:sp>
        <p:sp>
          <p:nvSpPr>
            <p:cNvPr id="95" name="TextBox 95"/>
            <p:cNvSpPr txBox="1"/>
            <p:nvPr/>
          </p:nvSpPr>
          <p:spPr>
            <a:xfrm>
              <a:off x="11044238" y="4601289"/>
              <a:ext cx="541274" cy="154781"/>
            </a:xfrm>
            <a:prstGeom prst="rect">
              <a:avLst/>
            </a:prstGeom>
            <a:noFill/>
            <a:ln>
              <a:noFill/>
            </a:ln>
          </p:spPr>
          <p:txBody>
            <a:bodyPr wrap="none" lIns="0" tIns="0" rIns="0" bIns="0" anchor="t" anchorCtr="0">
              <a:spAutoFit/>
            </a:bodyPr>
            <a:lstStyle/>
            <a:p>
              <a:pPr algn="l"/>
              <a:r>
                <a:rPr lang="zh-CN" sz="790" dirty="0">
                  <a:solidFill>
                    <a:srgbClr val="8A90A5"/>
                  </a:solidFill>
                  <a:latin typeface="+mn-lt"/>
                  <a:ea typeface="+mn-ea"/>
                  <a:cs typeface="+mn-cs"/>
                </a:rPr>
                <a:t>人群再营销</a:t>
              </a:r>
            </a:p>
          </p:txBody>
        </p:sp>
        <p:sp>
          <p:nvSpPr>
            <p:cNvPr id="96" name="Freeform 96"/>
            <p:cNvSpPr/>
            <p:nvPr/>
          </p:nvSpPr>
          <p:spPr>
            <a:xfrm>
              <a:off x="10991850" y="3667125"/>
              <a:ext cx="685800" cy="2257425"/>
            </a:xfrm>
            <a:custGeom>
              <a:avLst/>
              <a:gdLst/>
              <a:ahLst/>
              <a:cxnLst/>
              <a:rect l="l" t="t" r="r" b="b"/>
              <a:pathLst>
                <a:path w="685800" h="2257425">
                  <a:moveTo>
                    <a:pt x="0" y="2257425"/>
                  </a:moveTo>
                  <a:lnTo>
                    <a:pt x="685800" y="2257425"/>
                  </a:lnTo>
                  <a:lnTo>
                    <a:pt x="685800" y="0"/>
                  </a:lnTo>
                  <a:lnTo>
                    <a:pt x="28575" y="0"/>
                  </a:lnTo>
                </a:path>
              </a:pathLst>
            </a:custGeom>
            <a:noFill/>
            <a:ln w="14288">
              <a:solidFill>
                <a:srgbClr val="DD988A"/>
              </a:solidFill>
              <a:prstDash val="dash"/>
              <a:tailEnd type="triangle" w="lg" len="lg"/>
            </a:ln>
          </p:spPr>
        </p:sp>
      </p:gr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638204" cy="440055"/>
            <a:chOff x="302895" y="214312"/>
            <a:chExt cx="2638204"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39.​</a:t>
              </a:r>
            </a:p>
          </p:txBody>
        </p:sp>
        <p:sp>
          <p:nvSpPr>
            <p:cNvPr id="3" name="TextBox 3"/>
            <p:cNvSpPr txBox="1"/>
            <p:nvPr/>
          </p:nvSpPr>
          <p:spPr>
            <a:xfrm>
              <a:off x="923544" y="246698"/>
              <a:ext cx="2017555"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B端产品体验旅程</a:t>
              </a:r>
            </a:p>
          </p:txBody>
        </p:sp>
      </p:grpSp>
      <p:grpSp>
        <p:nvGrpSpPr>
          <p:cNvPr id="17" name="journey-header"/>
          <p:cNvGrpSpPr/>
          <p:nvPr/>
        </p:nvGrpSpPr>
        <p:grpSpPr>
          <a:xfrm>
            <a:off x="447675" y="962025"/>
            <a:ext cx="11344275" cy="266700"/>
            <a:chOff x="447675" y="962025"/>
            <a:chExt cx="11344275" cy="266700"/>
          </a:xfrm>
        </p:grpSpPr>
        <p:sp>
          <p:nvSpPr>
            <p:cNvPr id="5" name="Rectangle 5"/>
            <p:cNvSpPr/>
            <p:nvPr/>
          </p:nvSpPr>
          <p:spPr>
            <a:xfrm>
              <a:off x="447675" y="962025"/>
              <a:ext cx="1190625" cy="257175"/>
            </a:xfrm>
            <a:prstGeom prst="roundRect">
              <a:avLst>
                <a:gd name="adj" fmla="val 14815"/>
              </a:avLst>
            </a:prstGeom>
            <a:gradFill>
              <a:gsLst>
                <a:gs pos="0">
                  <a:srgbClr val="D47D6B"/>
                </a:gs>
                <a:gs pos="100000">
                  <a:srgbClr val="C45F4A"/>
                </a:gs>
              </a:gsLst>
              <a:lin ang="0" scaled="1"/>
            </a:gradFill>
            <a:ln>
              <a:noFill/>
            </a:ln>
          </p:spPr>
        </p:sp>
        <p:sp>
          <p:nvSpPr>
            <p:cNvPr id="6" name="TextBox 6"/>
            <p:cNvSpPr txBox="1"/>
            <p:nvPr/>
          </p:nvSpPr>
          <p:spPr>
            <a:xfrm>
              <a:off x="901344" y="10377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阶段</a:t>
              </a:r>
            </a:p>
          </p:txBody>
        </p:sp>
        <p:sp>
          <p:nvSpPr>
            <p:cNvPr id="7" name="Freeform 7"/>
            <p:cNvSpPr/>
            <p:nvPr/>
          </p:nvSpPr>
          <p:spPr>
            <a:xfrm>
              <a:off x="1895475" y="962025"/>
              <a:ext cx="1828800" cy="266700"/>
            </a:xfrm>
            <a:prstGeom prst="chevron">
              <a:avLst>
                <a:gd name="adj" fmla="val 32000"/>
              </a:avLst>
            </a:prstGeom>
            <a:solidFill>
              <a:srgbClr val="C45F4A"/>
            </a:solidFill>
            <a:ln>
              <a:noFill/>
            </a:ln>
          </p:spPr>
        </p:sp>
        <p:sp>
          <p:nvSpPr>
            <p:cNvPr id="8" name="TextBox 8"/>
            <p:cNvSpPr txBox="1"/>
            <p:nvPr/>
          </p:nvSpPr>
          <p:spPr>
            <a:xfrm>
              <a:off x="2672994" y="10377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发现</a:t>
              </a:r>
            </a:p>
          </p:txBody>
        </p:sp>
        <p:sp>
          <p:nvSpPr>
            <p:cNvPr id="9" name="Freeform 9"/>
            <p:cNvSpPr/>
            <p:nvPr/>
          </p:nvSpPr>
          <p:spPr>
            <a:xfrm>
              <a:off x="3800475" y="962025"/>
              <a:ext cx="1895475" cy="266700"/>
            </a:xfrm>
            <a:prstGeom prst="chevron">
              <a:avLst>
                <a:gd name="adj" fmla="val 32000"/>
              </a:avLst>
            </a:prstGeom>
            <a:solidFill>
              <a:srgbClr val="C45F4A"/>
            </a:solidFill>
            <a:ln>
              <a:noFill/>
            </a:ln>
          </p:spPr>
        </p:sp>
        <p:sp>
          <p:nvSpPr>
            <p:cNvPr id="10" name="TextBox 10"/>
            <p:cNvSpPr txBox="1"/>
            <p:nvPr/>
          </p:nvSpPr>
          <p:spPr>
            <a:xfrm>
              <a:off x="4606569" y="10377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考虑</a:t>
              </a:r>
            </a:p>
          </p:txBody>
        </p:sp>
        <p:sp>
          <p:nvSpPr>
            <p:cNvPr id="11" name="Freeform 11"/>
            <p:cNvSpPr/>
            <p:nvPr/>
          </p:nvSpPr>
          <p:spPr>
            <a:xfrm>
              <a:off x="5781675" y="962025"/>
              <a:ext cx="1914525" cy="266700"/>
            </a:xfrm>
            <a:prstGeom prst="chevron">
              <a:avLst>
                <a:gd name="adj" fmla="val 32000"/>
              </a:avLst>
            </a:prstGeom>
            <a:solidFill>
              <a:srgbClr val="C45F4A"/>
            </a:solidFill>
            <a:ln>
              <a:noFill/>
            </a:ln>
          </p:spPr>
        </p:sp>
        <p:sp>
          <p:nvSpPr>
            <p:cNvPr id="12" name="TextBox 12"/>
            <p:cNvSpPr txBox="1"/>
            <p:nvPr/>
          </p:nvSpPr>
          <p:spPr>
            <a:xfrm>
              <a:off x="6597294" y="10377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评估</a:t>
              </a:r>
            </a:p>
          </p:txBody>
        </p:sp>
        <p:sp>
          <p:nvSpPr>
            <p:cNvPr id="13" name="Freeform 13"/>
            <p:cNvSpPr/>
            <p:nvPr/>
          </p:nvSpPr>
          <p:spPr>
            <a:xfrm>
              <a:off x="7791450" y="962025"/>
              <a:ext cx="1933575" cy="266700"/>
            </a:xfrm>
            <a:prstGeom prst="chevron">
              <a:avLst>
                <a:gd name="adj" fmla="val 32000"/>
              </a:avLst>
            </a:prstGeom>
            <a:solidFill>
              <a:srgbClr val="C45F4A"/>
            </a:solidFill>
            <a:ln>
              <a:noFill/>
            </a:ln>
          </p:spPr>
        </p:sp>
        <p:sp>
          <p:nvSpPr>
            <p:cNvPr id="14" name="TextBox 14"/>
            <p:cNvSpPr txBox="1"/>
            <p:nvPr/>
          </p:nvSpPr>
          <p:spPr>
            <a:xfrm>
              <a:off x="8418703" y="103774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购买及部署</a:t>
              </a:r>
            </a:p>
          </p:txBody>
        </p:sp>
        <p:sp>
          <p:nvSpPr>
            <p:cNvPr id="15" name="Freeform 15"/>
            <p:cNvSpPr/>
            <p:nvPr/>
          </p:nvSpPr>
          <p:spPr>
            <a:xfrm>
              <a:off x="9820275" y="962025"/>
              <a:ext cx="1971675" cy="266700"/>
            </a:xfrm>
            <a:prstGeom prst="chevron">
              <a:avLst>
                <a:gd name="adj" fmla="val 32000"/>
              </a:avLst>
            </a:prstGeom>
            <a:solidFill>
              <a:srgbClr val="C45F4A"/>
            </a:solidFill>
            <a:ln>
              <a:noFill/>
            </a:ln>
          </p:spPr>
        </p:sp>
        <p:sp>
          <p:nvSpPr>
            <p:cNvPr id="16" name="TextBox 16"/>
            <p:cNvSpPr txBox="1"/>
            <p:nvPr/>
          </p:nvSpPr>
          <p:spPr>
            <a:xfrm>
              <a:off x="10664469" y="10377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售后</a:t>
              </a:r>
            </a:p>
          </p:txBody>
        </p:sp>
      </p:grpSp>
      <p:grpSp>
        <p:nvGrpSpPr>
          <p:cNvPr id="30" name="journey-scene"/>
          <p:cNvGrpSpPr/>
          <p:nvPr/>
        </p:nvGrpSpPr>
        <p:grpSpPr>
          <a:xfrm>
            <a:off x="447675" y="1266825"/>
            <a:ext cx="11344275" cy="381000"/>
            <a:chOff x="447675" y="1266825"/>
            <a:chExt cx="11344275" cy="381000"/>
          </a:xfrm>
        </p:grpSpPr>
        <p:sp>
          <p:nvSpPr>
            <p:cNvPr id="18" name="Rectangle 18"/>
            <p:cNvSpPr/>
            <p:nvPr/>
          </p:nvSpPr>
          <p:spPr>
            <a:xfrm>
              <a:off x="447675" y="1266825"/>
              <a:ext cx="1190625" cy="381000"/>
            </a:xfrm>
            <a:prstGeom prst="roundRect">
              <a:avLst>
                <a:gd name="adj" fmla="val 10000"/>
              </a:avLst>
            </a:prstGeom>
            <a:solidFill>
              <a:srgbClr val="C45F4A"/>
            </a:solidFill>
            <a:ln>
              <a:noFill/>
            </a:ln>
          </p:spPr>
        </p:sp>
        <p:sp>
          <p:nvSpPr>
            <p:cNvPr id="19" name="TextBox 19"/>
            <p:cNvSpPr txBox="1"/>
            <p:nvPr/>
          </p:nvSpPr>
          <p:spPr>
            <a:xfrm>
              <a:off x="901344" y="13996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场景</a:t>
              </a:r>
            </a:p>
          </p:txBody>
        </p:sp>
        <p:sp>
          <p:nvSpPr>
            <p:cNvPr id="20" name="Rectangle 20"/>
            <p:cNvSpPr/>
            <p:nvPr/>
          </p:nvSpPr>
          <p:spPr>
            <a:xfrm>
              <a:off x="1809750" y="1295400"/>
              <a:ext cx="1914525" cy="314325"/>
            </a:xfrm>
            <a:prstGeom prst="roundRect">
              <a:avLst>
                <a:gd name="adj" fmla="val 12121"/>
              </a:avLst>
            </a:prstGeom>
            <a:solidFill>
              <a:srgbClr val="EEF0FB"/>
            </a:solidFill>
            <a:ln w="9525">
              <a:solidFill>
                <a:srgbClr val="C9CFEA"/>
              </a:solidFill>
            </a:ln>
          </p:spPr>
        </p:sp>
        <p:sp>
          <p:nvSpPr>
            <p:cNvPr id="21" name="TextBox 21"/>
            <p:cNvSpPr txBox="1"/>
            <p:nvPr/>
          </p:nvSpPr>
          <p:spPr>
            <a:xfrm>
              <a:off x="2212276" y="1407795"/>
              <a:ext cx="1099947"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日常工作中出现需求</a:t>
              </a:r>
            </a:p>
          </p:txBody>
        </p:sp>
        <p:sp>
          <p:nvSpPr>
            <p:cNvPr id="22" name="Rectangle 22"/>
            <p:cNvSpPr/>
            <p:nvPr/>
          </p:nvSpPr>
          <p:spPr>
            <a:xfrm>
              <a:off x="3800475" y="1295400"/>
              <a:ext cx="1895475" cy="314325"/>
            </a:xfrm>
            <a:prstGeom prst="roundRect">
              <a:avLst>
                <a:gd name="adj" fmla="val 12121"/>
              </a:avLst>
            </a:prstGeom>
            <a:solidFill>
              <a:srgbClr val="EEF0FB"/>
            </a:solidFill>
            <a:ln w="9525">
              <a:solidFill>
                <a:srgbClr val="C9CFEA"/>
              </a:solidFill>
            </a:ln>
          </p:spPr>
        </p:sp>
        <p:sp>
          <p:nvSpPr>
            <p:cNvPr id="23" name="TextBox 23"/>
            <p:cNvSpPr txBox="1"/>
            <p:nvPr/>
          </p:nvSpPr>
          <p:spPr>
            <a:xfrm>
              <a:off x="4375214" y="1407795"/>
              <a:ext cx="736473"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找到相关产品</a:t>
              </a:r>
            </a:p>
          </p:txBody>
        </p:sp>
        <p:sp>
          <p:nvSpPr>
            <p:cNvPr id="24" name="Rectangle 24"/>
            <p:cNvSpPr/>
            <p:nvPr/>
          </p:nvSpPr>
          <p:spPr>
            <a:xfrm>
              <a:off x="5781675" y="1295400"/>
              <a:ext cx="1914525" cy="314325"/>
            </a:xfrm>
            <a:prstGeom prst="roundRect">
              <a:avLst>
                <a:gd name="adj" fmla="val 12121"/>
              </a:avLst>
            </a:prstGeom>
            <a:solidFill>
              <a:srgbClr val="EEF0FB"/>
            </a:solidFill>
            <a:ln w="9525">
              <a:solidFill>
                <a:srgbClr val="C9CFEA"/>
              </a:solidFill>
            </a:ln>
          </p:spPr>
        </p:sp>
        <p:sp>
          <p:nvSpPr>
            <p:cNvPr id="25" name="TextBox 25"/>
            <p:cNvSpPr txBox="1"/>
            <p:nvPr/>
          </p:nvSpPr>
          <p:spPr>
            <a:xfrm>
              <a:off x="6487096" y="1407795"/>
              <a:ext cx="494157"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试用产品</a:t>
              </a:r>
            </a:p>
          </p:txBody>
        </p:sp>
        <p:sp>
          <p:nvSpPr>
            <p:cNvPr id="26" name="Rectangle 26"/>
            <p:cNvSpPr/>
            <p:nvPr/>
          </p:nvSpPr>
          <p:spPr>
            <a:xfrm>
              <a:off x="7791450" y="1295400"/>
              <a:ext cx="1933575" cy="314325"/>
            </a:xfrm>
            <a:prstGeom prst="roundRect">
              <a:avLst>
                <a:gd name="adj" fmla="val 12121"/>
              </a:avLst>
            </a:prstGeom>
            <a:solidFill>
              <a:srgbClr val="EEF0FB"/>
            </a:solidFill>
            <a:ln w="9525">
              <a:solidFill>
                <a:srgbClr val="C9CFEA"/>
              </a:solidFill>
            </a:ln>
          </p:spPr>
        </p:sp>
        <p:sp>
          <p:nvSpPr>
            <p:cNvPr id="27" name="TextBox 27"/>
            <p:cNvSpPr txBox="1"/>
            <p:nvPr/>
          </p:nvSpPr>
          <p:spPr>
            <a:xfrm>
              <a:off x="8324660" y="1407795"/>
              <a:ext cx="857631"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购买产品并部署</a:t>
              </a:r>
            </a:p>
          </p:txBody>
        </p:sp>
        <p:sp>
          <p:nvSpPr>
            <p:cNvPr id="28" name="Rectangle 28"/>
            <p:cNvSpPr/>
            <p:nvPr/>
          </p:nvSpPr>
          <p:spPr>
            <a:xfrm>
              <a:off x="9820275" y="1295400"/>
              <a:ext cx="1971675" cy="314325"/>
            </a:xfrm>
            <a:prstGeom prst="roundRect">
              <a:avLst>
                <a:gd name="adj" fmla="val 12121"/>
              </a:avLst>
            </a:prstGeom>
            <a:solidFill>
              <a:srgbClr val="EEF0FB"/>
            </a:solidFill>
            <a:ln w="9525">
              <a:solidFill>
                <a:srgbClr val="C9CFEA"/>
              </a:solidFill>
            </a:ln>
          </p:spPr>
        </p:sp>
        <p:sp>
          <p:nvSpPr>
            <p:cNvPr id="29" name="TextBox 29"/>
            <p:cNvSpPr txBox="1"/>
            <p:nvPr/>
          </p:nvSpPr>
          <p:spPr>
            <a:xfrm>
              <a:off x="10251376" y="1407795"/>
              <a:ext cx="1099947"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使用过程中遇到问题</a:t>
              </a:r>
            </a:p>
          </p:txBody>
        </p:sp>
      </p:grpSp>
      <p:grpSp>
        <p:nvGrpSpPr>
          <p:cNvPr id="57" name="journey-expect"/>
          <p:cNvGrpSpPr/>
          <p:nvPr/>
        </p:nvGrpSpPr>
        <p:grpSpPr>
          <a:xfrm>
            <a:off x="447675" y="1704975"/>
            <a:ext cx="11344275" cy="800100"/>
            <a:chOff x="447675" y="1704975"/>
            <a:chExt cx="11344275" cy="800100"/>
          </a:xfrm>
        </p:grpSpPr>
        <p:sp>
          <p:nvSpPr>
            <p:cNvPr id="31" name="Rectangle 31"/>
            <p:cNvSpPr/>
            <p:nvPr/>
          </p:nvSpPr>
          <p:spPr>
            <a:xfrm>
              <a:off x="447675" y="1704975"/>
              <a:ext cx="1190625" cy="800100"/>
            </a:xfrm>
            <a:prstGeom prst="roundRect">
              <a:avLst>
                <a:gd name="adj" fmla="val 4762"/>
              </a:avLst>
            </a:prstGeom>
            <a:solidFill>
              <a:srgbClr val="C45F4A"/>
            </a:solidFill>
            <a:ln>
              <a:noFill/>
            </a:ln>
          </p:spPr>
        </p:sp>
        <p:sp>
          <p:nvSpPr>
            <p:cNvPr id="32" name="TextBox 32"/>
            <p:cNvSpPr txBox="1"/>
            <p:nvPr/>
          </p:nvSpPr>
          <p:spPr>
            <a:xfrm>
              <a:off x="769417" y="20473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客户期望</a:t>
              </a:r>
            </a:p>
          </p:txBody>
        </p:sp>
        <p:sp>
          <p:nvSpPr>
            <p:cNvPr id="33" name="Rectangle 33"/>
            <p:cNvSpPr/>
            <p:nvPr/>
          </p:nvSpPr>
          <p:spPr>
            <a:xfrm>
              <a:off x="1809750" y="1704975"/>
              <a:ext cx="1914525" cy="800100"/>
            </a:xfrm>
            <a:prstGeom prst="roundRect">
              <a:avLst>
                <a:gd name="adj" fmla="val 4762"/>
              </a:avLst>
            </a:prstGeom>
            <a:solidFill>
              <a:srgbClr val="F6F7FC"/>
            </a:solidFill>
            <a:ln w="9525">
              <a:solidFill>
                <a:srgbClr val="E4E7F5"/>
              </a:solidFill>
            </a:ln>
          </p:spPr>
        </p:sp>
        <p:sp>
          <p:nvSpPr>
            <p:cNvPr id="34" name="Ellipse 34"/>
            <p:cNvSpPr/>
            <p:nvPr/>
          </p:nvSpPr>
          <p:spPr>
            <a:xfrm>
              <a:off x="1925955" y="1849755"/>
              <a:ext cx="34290" cy="34290"/>
            </a:xfrm>
            <a:prstGeom prst="ellipse">
              <a:avLst/>
            </a:prstGeom>
            <a:solidFill>
              <a:srgbClr val="8A90A5"/>
            </a:solidFill>
            <a:ln>
              <a:noFill/>
            </a:ln>
          </p:spPr>
        </p:sp>
        <p:sp>
          <p:nvSpPr>
            <p:cNvPr id="35" name="TextBox 35"/>
            <p:cNvSpPr txBox="1"/>
            <p:nvPr/>
          </p:nvSpPr>
          <p:spPr>
            <a:xfrm>
              <a:off x="1995488" y="1819989"/>
              <a:ext cx="117937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找到提高客户满意度和客</a:t>
              </a:r>
            </a:p>
          </p:txBody>
        </p:sp>
        <p:sp>
          <p:nvSpPr>
            <p:cNvPr id="36" name="TextBox 36"/>
            <p:cNvSpPr txBox="1"/>
            <p:nvPr/>
          </p:nvSpPr>
          <p:spPr>
            <a:xfrm>
              <a:off x="1995488" y="1972389"/>
              <a:ext cx="75397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户忠诚度的产品</a:t>
              </a:r>
            </a:p>
          </p:txBody>
        </p:sp>
        <p:sp>
          <p:nvSpPr>
            <p:cNvPr id="37" name="Ellipse 37"/>
            <p:cNvSpPr/>
            <p:nvPr/>
          </p:nvSpPr>
          <p:spPr>
            <a:xfrm>
              <a:off x="1925955" y="2192655"/>
              <a:ext cx="34290" cy="34290"/>
            </a:xfrm>
            <a:prstGeom prst="ellipse">
              <a:avLst/>
            </a:prstGeom>
            <a:solidFill>
              <a:srgbClr val="8A90A5"/>
            </a:solidFill>
            <a:ln>
              <a:noFill/>
            </a:ln>
          </p:spPr>
        </p:sp>
        <p:sp>
          <p:nvSpPr>
            <p:cNvPr id="38" name="TextBox 38"/>
            <p:cNvSpPr txBox="1"/>
            <p:nvPr/>
          </p:nvSpPr>
          <p:spPr>
            <a:xfrm>
              <a:off x="1995488" y="2162889"/>
              <a:ext cx="96667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希望搜索顺利、轻松</a:t>
              </a:r>
            </a:p>
          </p:txBody>
        </p:sp>
        <p:sp>
          <p:nvSpPr>
            <p:cNvPr id="39" name="Rectangle 39"/>
            <p:cNvSpPr/>
            <p:nvPr/>
          </p:nvSpPr>
          <p:spPr>
            <a:xfrm>
              <a:off x="3800475" y="1704975"/>
              <a:ext cx="1895475" cy="800100"/>
            </a:xfrm>
            <a:prstGeom prst="roundRect">
              <a:avLst>
                <a:gd name="adj" fmla="val 4762"/>
              </a:avLst>
            </a:prstGeom>
            <a:solidFill>
              <a:srgbClr val="F6F7FC"/>
            </a:solidFill>
            <a:ln w="9525">
              <a:solidFill>
                <a:srgbClr val="E4E7F5"/>
              </a:solidFill>
            </a:ln>
          </p:spPr>
        </p:sp>
        <p:sp>
          <p:nvSpPr>
            <p:cNvPr id="40" name="Ellipse 40"/>
            <p:cNvSpPr/>
            <p:nvPr/>
          </p:nvSpPr>
          <p:spPr>
            <a:xfrm>
              <a:off x="3916680" y="1916430"/>
              <a:ext cx="34290" cy="34290"/>
            </a:xfrm>
            <a:prstGeom prst="ellipse">
              <a:avLst/>
            </a:prstGeom>
            <a:solidFill>
              <a:srgbClr val="8A90A5"/>
            </a:solidFill>
            <a:ln>
              <a:noFill/>
            </a:ln>
          </p:spPr>
        </p:sp>
        <p:sp>
          <p:nvSpPr>
            <p:cNvPr id="41" name="TextBox 41"/>
            <p:cNvSpPr txBox="1"/>
            <p:nvPr/>
          </p:nvSpPr>
          <p:spPr>
            <a:xfrm>
              <a:off x="3986212" y="1886664"/>
              <a:ext cx="107302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快速了解该产品是否能</a:t>
              </a:r>
            </a:p>
          </p:txBody>
        </p:sp>
        <p:sp>
          <p:nvSpPr>
            <p:cNvPr id="42" name="TextBox 42"/>
            <p:cNvSpPr txBox="1"/>
            <p:nvPr/>
          </p:nvSpPr>
          <p:spPr>
            <a:xfrm>
              <a:off x="3986212" y="2039064"/>
              <a:ext cx="75397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够满足工作需求</a:t>
              </a:r>
            </a:p>
          </p:txBody>
        </p:sp>
        <p:sp>
          <p:nvSpPr>
            <p:cNvPr id="43" name="Rectangle 43"/>
            <p:cNvSpPr/>
            <p:nvPr/>
          </p:nvSpPr>
          <p:spPr>
            <a:xfrm>
              <a:off x="5781675" y="1704975"/>
              <a:ext cx="1914525" cy="800100"/>
            </a:xfrm>
            <a:prstGeom prst="roundRect">
              <a:avLst>
                <a:gd name="adj" fmla="val 4762"/>
              </a:avLst>
            </a:prstGeom>
            <a:solidFill>
              <a:srgbClr val="F6F7FC"/>
            </a:solidFill>
            <a:ln w="9525">
              <a:solidFill>
                <a:srgbClr val="E4E7F5"/>
              </a:solidFill>
            </a:ln>
          </p:spPr>
        </p:sp>
        <p:sp>
          <p:nvSpPr>
            <p:cNvPr id="44" name="Ellipse 44"/>
            <p:cNvSpPr/>
            <p:nvPr/>
          </p:nvSpPr>
          <p:spPr>
            <a:xfrm>
              <a:off x="5897880" y="1916430"/>
              <a:ext cx="34290" cy="34290"/>
            </a:xfrm>
            <a:prstGeom prst="ellipse">
              <a:avLst/>
            </a:prstGeom>
            <a:solidFill>
              <a:srgbClr val="8A90A5"/>
            </a:solidFill>
            <a:ln>
              <a:noFill/>
            </a:ln>
          </p:spPr>
        </p:sp>
        <p:sp>
          <p:nvSpPr>
            <p:cNvPr id="45" name="TextBox 45"/>
            <p:cNvSpPr txBox="1"/>
            <p:nvPr/>
          </p:nvSpPr>
          <p:spPr>
            <a:xfrm>
              <a:off x="5967412" y="1886664"/>
              <a:ext cx="117937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希望试用产品过程顺利，</a:t>
              </a:r>
            </a:p>
          </p:txBody>
        </p:sp>
        <p:sp>
          <p:nvSpPr>
            <p:cNvPr id="46" name="TextBox 46"/>
            <p:cNvSpPr txBox="1"/>
            <p:nvPr/>
          </p:nvSpPr>
          <p:spPr>
            <a:xfrm>
              <a:off x="5967412" y="2039064"/>
              <a:ext cx="107302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产品能够满足我的需求</a:t>
              </a:r>
            </a:p>
          </p:txBody>
        </p:sp>
        <p:sp>
          <p:nvSpPr>
            <p:cNvPr id="47" name="Rectangle 47"/>
            <p:cNvSpPr/>
            <p:nvPr/>
          </p:nvSpPr>
          <p:spPr>
            <a:xfrm>
              <a:off x="7791450" y="1704975"/>
              <a:ext cx="1933575" cy="800100"/>
            </a:xfrm>
            <a:prstGeom prst="roundRect">
              <a:avLst>
                <a:gd name="adj" fmla="val 4762"/>
              </a:avLst>
            </a:prstGeom>
            <a:solidFill>
              <a:srgbClr val="F6F7FC"/>
            </a:solidFill>
            <a:ln w="9525">
              <a:solidFill>
                <a:srgbClr val="E4E7F5"/>
              </a:solidFill>
            </a:ln>
          </p:spPr>
        </p:sp>
        <p:sp>
          <p:nvSpPr>
            <p:cNvPr id="48" name="Ellipse 48"/>
            <p:cNvSpPr/>
            <p:nvPr/>
          </p:nvSpPr>
          <p:spPr>
            <a:xfrm>
              <a:off x="7907655" y="1849755"/>
              <a:ext cx="34290" cy="34290"/>
            </a:xfrm>
            <a:prstGeom prst="ellipse">
              <a:avLst/>
            </a:prstGeom>
            <a:solidFill>
              <a:srgbClr val="8A90A5"/>
            </a:solidFill>
            <a:ln>
              <a:noFill/>
            </a:ln>
          </p:spPr>
        </p:sp>
        <p:sp>
          <p:nvSpPr>
            <p:cNvPr id="49" name="TextBox 49"/>
            <p:cNvSpPr txBox="1"/>
            <p:nvPr/>
          </p:nvSpPr>
          <p:spPr>
            <a:xfrm>
              <a:off x="7977188" y="1819989"/>
              <a:ext cx="107302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希望购买过程便捷顺利</a:t>
              </a:r>
            </a:p>
          </p:txBody>
        </p:sp>
        <p:sp>
          <p:nvSpPr>
            <p:cNvPr id="50" name="Ellipse 50"/>
            <p:cNvSpPr/>
            <p:nvPr/>
          </p:nvSpPr>
          <p:spPr>
            <a:xfrm>
              <a:off x="7907655" y="2040255"/>
              <a:ext cx="34290" cy="34290"/>
            </a:xfrm>
            <a:prstGeom prst="ellipse">
              <a:avLst/>
            </a:prstGeom>
            <a:solidFill>
              <a:srgbClr val="8A90A5"/>
            </a:solidFill>
            <a:ln>
              <a:noFill/>
            </a:ln>
          </p:spPr>
        </p:sp>
        <p:sp>
          <p:nvSpPr>
            <p:cNvPr id="51" name="TextBox 51"/>
            <p:cNvSpPr txBox="1"/>
            <p:nvPr/>
          </p:nvSpPr>
          <p:spPr>
            <a:xfrm>
              <a:off x="7977188" y="2010489"/>
              <a:ext cx="117937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能得到高质量的技术支持</a:t>
              </a:r>
            </a:p>
          </p:txBody>
        </p:sp>
        <p:sp>
          <p:nvSpPr>
            <p:cNvPr id="52" name="TextBox 52"/>
            <p:cNvSpPr txBox="1"/>
            <p:nvPr/>
          </p:nvSpPr>
          <p:spPr>
            <a:xfrm>
              <a:off x="7977188" y="2162889"/>
              <a:ext cx="32857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和培训</a:t>
              </a:r>
            </a:p>
          </p:txBody>
        </p:sp>
        <p:sp>
          <p:nvSpPr>
            <p:cNvPr id="53" name="Rectangle 53"/>
            <p:cNvSpPr/>
            <p:nvPr/>
          </p:nvSpPr>
          <p:spPr>
            <a:xfrm>
              <a:off x="9820275" y="1704975"/>
              <a:ext cx="1971675" cy="800100"/>
            </a:xfrm>
            <a:prstGeom prst="roundRect">
              <a:avLst>
                <a:gd name="adj" fmla="val 4762"/>
              </a:avLst>
            </a:prstGeom>
            <a:solidFill>
              <a:srgbClr val="F6F7FC"/>
            </a:solidFill>
            <a:ln w="9525">
              <a:solidFill>
                <a:srgbClr val="E4E7F5"/>
              </a:solidFill>
            </a:ln>
          </p:spPr>
        </p:sp>
        <p:sp>
          <p:nvSpPr>
            <p:cNvPr id="54" name="Ellipse 54"/>
            <p:cNvSpPr/>
            <p:nvPr/>
          </p:nvSpPr>
          <p:spPr>
            <a:xfrm>
              <a:off x="9936480" y="1916430"/>
              <a:ext cx="34290" cy="34290"/>
            </a:xfrm>
            <a:prstGeom prst="ellipse">
              <a:avLst/>
            </a:prstGeom>
            <a:solidFill>
              <a:srgbClr val="8A90A5"/>
            </a:solidFill>
            <a:ln>
              <a:noFill/>
            </a:ln>
          </p:spPr>
        </p:sp>
        <p:sp>
          <p:nvSpPr>
            <p:cNvPr id="55" name="TextBox 55"/>
            <p:cNvSpPr txBox="1"/>
            <p:nvPr/>
          </p:nvSpPr>
          <p:spPr>
            <a:xfrm>
              <a:off x="10006012" y="1886664"/>
              <a:ext cx="117937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希望解答得到及时且高效</a:t>
              </a:r>
            </a:p>
          </p:txBody>
        </p:sp>
        <p:sp>
          <p:nvSpPr>
            <p:cNvPr id="56" name="TextBox 56"/>
            <p:cNvSpPr txBox="1"/>
            <p:nvPr/>
          </p:nvSpPr>
          <p:spPr>
            <a:xfrm>
              <a:off x="10006012" y="2039064"/>
              <a:ext cx="54127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的客户服务</a:t>
              </a:r>
            </a:p>
          </p:txBody>
        </p:sp>
      </p:grpSp>
      <p:grpSp>
        <p:nvGrpSpPr>
          <p:cNvPr id="91" name="journey-touch"/>
          <p:cNvGrpSpPr/>
          <p:nvPr/>
        </p:nvGrpSpPr>
        <p:grpSpPr>
          <a:xfrm>
            <a:off x="447675" y="2543175"/>
            <a:ext cx="11344275" cy="666750"/>
            <a:chOff x="447675" y="2543175"/>
            <a:chExt cx="11344275" cy="666750"/>
          </a:xfrm>
        </p:grpSpPr>
        <p:sp>
          <p:nvSpPr>
            <p:cNvPr id="58" name="Rectangle 58"/>
            <p:cNvSpPr/>
            <p:nvPr/>
          </p:nvSpPr>
          <p:spPr>
            <a:xfrm>
              <a:off x="447675" y="2543175"/>
              <a:ext cx="1190625" cy="666750"/>
            </a:xfrm>
            <a:prstGeom prst="roundRect">
              <a:avLst>
                <a:gd name="adj" fmla="val 5714"/>
              </a:avLst>
            </a:prstGeom>
            <a:solidFill>
              <a:srgbClr val="C45F4A"/>
            </a:solidFill>
            <a:ln>
              <a:noFill/>
            </a:ln>
          </p:spPr>
        </p:sp>
        <p:sp>
          <p:nvSpPr>
            <p:cNvPr id="59" name="TextBox 59"/>
            <p:cNvSpPr txBox="1"/>
            <p:nvPr/>
          </p:nvSpPr>
          <p:spPr>
            <a:xfrm>
              <a:off x="901344" y="28189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触点</a:t>
              </a:r>
            </a:p>
          </p:txBody>
        </p:sp>
        <p:sp>
          <p:nvSpPr>
            <p:cNvPr id="60" name="Rectangle 60"/>
            <p:cNvSpPr/>
            <p:nvPr/>
          </p:nvSpPr>
          <p:spPr>
            <a:xfrm>
              <a:off x="1809750" y="2543175"/>
              <a:ext cx="1914525" cy="666750"/>
            </a:xfrm>
            <a:prstGeom prst="roundRect">
              <a:avLst>
                <a:gd name="adj" fmla="val 5714"/>
              </a:avLst>
            </a:prstGeom>
            <a:solidFill>
              <a:srgbClr val="FFFFFF"/>
            </a:solidFill>
            <a:ln w="9525">
              <a:solidFill>
                <a:srgbClr val="E4E7F5"/>
              </a:solidFill>
            </a:ln>
          </p:spPr>
        </p:sp>
        <p:sp>
          <p:nvSpPr>
            <p:cNvPr id="61" name="Ellipse 61"/>
            <p:cNvSpPr/>
            <p:nvPr/>
          </p:nvSpPr>
          <p:spPr>
            <a:xfrm>
              <a:off x="1925955" y="2687955"/>
              <a:ext cx="34290" cy="34290"/>
            </a:xfrm>
            <a:prstGeom prst="ellipse">
              <a:avLst/>
            </a:prstGeom>
            <a:solidFill>
              <a:srgbClr val="8A90A5"/>
            </a:solidFill>
            <a:ln>
              <a:noFill/>
            </a:ln>
          </p:spPr>
        </p:sp>
        <p:sp>
          <p:nvSpPr>
            <p:cNvPr id="62" name="TextBox 62"/>
            <p:cNvSpPr txBox="1"/>
            <p:nvPr/>
          </p:nvSpPr>
          <p:spPr>
            <a:xfrm>
              <a:off x="1995488" y="2658189"/>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搜索引擎</a:t>
              </a:r>
            </a:p>
          </p:txBody>
        </p:sp>
        <p:sp>
          <p:nvSpPr>
            <p:cNvPr id="63" name="Ellipse 63"/>
            <p:cNvSpPr/>
            <p:nvPr/>
          </p:nvSpPr>
          <p:spPr>
            <a:xfrm>
              <a:off x="1925955" y="2868930"/>
              <a:ext cx="34290" cy="34290"/>
            </a:xfrm>
            <a:prstGeom prst="ellipse">
              <a:avLst/>
            </a:prstGeom>
            <a:solidFill>
              <a:srgbClr val="8A90A5"/>
            </a:solidFill>
            <a:ln>
              <a:noFill/>
            </a:ln>
          </p:spPr>
        </p:sp>
        <p:sp>
          <p:nvSpPr>
            <p:cNvPr id="64" name="TextBox 64"/>
            <p:cNvSpPr txBox="1"/>
            <p:nvPr/>
          </p:nvSpPr>
          <p:spPr>
            <a:xfrm>
              <a:off x="1995488" y="2839164"/>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社交媒体</a:t>
              </a:r>
            </a:p>
          </p:txBody>
        </p:sp>
        <p:sp>
          <p:nvSpPr>
            <p:cNvPr id="65" name="Ellipse 65"/>
            <p:cNvSpPr/>
            <p:nvPr/>
          </p:nvSpPr>
          <p:spPr>
            <a:xfrm>
              <a:off x="1925955" y="3049905"/>
              <a:ext cx="34290" cy="34290"/>
            </a:xfrm>
            <a:prstGeom prst="ellipse">
              <a:avLst/>
            </a:prstGeom>
            <a:solidFill>
              <a:srgbClr val="8A90A5"/>
            </a:solidFill>
            <a:ln>
              <a:noFill/>
            </a:ln>
          </p:spPr>
        </p:sp>
        <p:sp>
          <p:nvSpPr>
            <p:cNvPr id="66" name="TextBox 66"/>
            <p:cNvSpPr txBox="1"/>
            <p:nvPr/>
          </p:nvSpPr>
          <p:spPr>
            <a:xfrm>
              <a:off x="1995488" y="3020139"/>
              <a:ext cx="6476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朋友同事推荐</a:t>
              </a:r>
            </a:p>
          </p:txBody>
        </p:sp>
        <p:sp>
          <p:nvSpPr>
            <p:cNvPr id="67" name="Rectangle 67"/>
            <p:cNvSpPr/>
            <p:nvPr/>
          </p:nvSpPr>
          <p:spPr>
            <a:xfrm>
              <a:off x="3800475" y="2543175"/>
              <a:ext cx="1895475" cy="666750"/>
            </a:xfrm>
            <a:prstGeom prst="roundRect">
              <a:avLst>
                <a:gd name="adj" fmla="val 5714"/>
              </a:avLst>
            </a:prstGeom>
            <a:solidFill>
              <a:srgbClr val="FFFFFF"/>
            </a:solidFill>
            <a:ln w="9525">
              <a:solidFill>
                <a:srgbClr val="E4E7F5"/>
              </a:solidFill>
            </a:ln>
          </p:spPr>
        </p:sp>
        <p:sp>
          <p:nvSpPr>
            <p:cNvPr id="68" name="Ellipse 68"/>
            <p:cNvSpPr/>
            <p:nvPr/>
          </p:nvSpPr>
          <p:spPr>
            <a:xfrm>
              <a:off x="3916680" y="2754630"/>
              <a:ext cx="34290" cy="34290"/>
            </a:xfrm>
            <a:prstGeom prst="ellipse">
              <a:avLst/>
            </a:prstGeom>
            <a:solidFill>
              <a:srgbClr val="8A90A5"/>
            </a:solidFill>
            <a:ln>
              <a:noFill/>
            </a:ln>
          </p:spPr>
        </p:sp>
        <p:sp>
          <p:nvSpPr>
            <p:cNvPr id="69" name="TextBox 69"/>
            <p:cNvSpPr txBox="1"/>
            <p:nvPr/>
          </p:nvSpPr>
          <p:spPr>
            <a:xfrm>
              <a:off x="3986212" y="2724864"/>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广告</a:t>
              </a:r>
            </a:p>
          </p:txBody>
        </p:sp>
        <p:sp>
          <p:nvSpPr>
            <p:cNvPr id="70" name="Ellipse 70"/>
            <p:cNvSpPr/>
            <p:nvPr/>
          </p:nvSpPr>
          <p:spPr>
            <a:xfrm>
              <a:off x="3916680" y="2935605"/>
              <a:ext cx="34290" cy="34290"/>
            </a:xfrm>
            <a:prstGeom prst="ellipse">
              <a:avLst/>
            </a:prstGeom>
            <a:solidFill>
              <a:srgbClr val="8A90A5"/>
            </a:solidFill>
            <a:ln>
              <a:noFill/>
            </a:ln>
          </p:spPr>
        </p:sp>
        <p:sp>
          <p:nvSpPr>
            <p:cNvPr id="71" name="TextBox 71"/>
            <p:cNvSpPr txBox="1"/>
            <p:nvPr/>
          </p:nvSpPr>
          <p:spPr>
            <a:xfrm>
              <a:off x="3986212" y="2905839"/>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产品官网</a:t>
              </a:r>
            </a:p>
          </p:txBody>
        </p:sp>
        <p:sp>
          <p:nvSpPr>
            <p:cNvPr id="72" name="Rectangle 72"/>
            <p:cNvSpPr/>
            <p:nvPr/>
          </p:nvSpPr>
          <p:spPr>
            <a:xfrm>
              <a:off x="5781675" y="2543175"/>
              <a:ext cx="1914525" cy="666750"/>
            </a:xfrm>
            <a:prstGeom prst="roundRect">
              <a:avLst>
                <a:gd name="adj" fmla="val 5714"/>
              </a:avLst>
            </a:prstGeom>
            <a:solidFill>
              <a:srgbClr val="FFFFFF"/>
            </a:solidFill>
            <a:ln w="9525">
              <a:solidFill>
                <a:srgbClr val="E4E7F5"/>
              </a:solidFill>
            </a:ln>
          </p:spPr>
        </p:sp>
        <p:sp>
          <p:nvSpPr>
            <p:cNvPr id="73" name="Ellipse 73"/>
            <p:cNvSpPr/>
            <p:nvPr/>
          </p:nvSpPr>
          <p:spPr>
            <a:xfrm>
              <a:off x="5897880" y="2754630"/>
              <a:ext cx="34290" cy="34290"/>
            </a:xfrm>
            <a:prstGeom prst="ellipse">
              <a:avLst/>
            </a:prstGeom>
            <a:solidFill>
              <a:srgbClr val="8A90A5"/>
            </a:solidFill>
            <a:ln>
              <a:noFill/>
            </a:ln>
          </p:spPr>
        </p:sp>
        <p:sp>
          <p:nvSpPr>
            <p:cNvPr id="74" name="TextBox 74"/>
            <p:cNvSpPr txBox="1"/>
            <p:nvPr/>
          </p:nvSpPr>
          <p:spPr>
            <a:xfrm>
              <a:off x="5967412" y="2724864"/>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产品官网</a:t>
              </a:r>
            </a:p>
          </p:txBody>
        </p:sp>
        <p:sp>
          <p:nvSpPr>
            <p:cNvPr id="75" name="Ellipse 75"/>
            <p:cNvSpPr/>
            <p:nvPr/>
          </p:nvSpPr>
          <p:spPr>
            <a:xfrm>
              <a:off x="5897880" y="2935605"/>
              <a:ext cx="34290" cy="34290"/>
            </a:xfrm>
            <a:prstGeom prst="ellipse">
              <a:avLst/>
            </a:prstGeom>
            <a:solidFill>
              <a:srgbClr val="8A90A5"/>
            </a:solidFill>
            <a:ln>
              <a:noFill/>
            </a:ln>
          </p:spPr>
        </p:sp>
        <p:sp>
          <p:nvSpPr>
            <p:cNvPr id="76" name="TextBox 76"/>
            <p:cNvSpPr txBox="1"/>
            <p:nvPr/>
          </p:nvSpPr>
          <p:spPr>
            <a:xfrm>
              <a:off x="5967412" y="290583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产品</a:t>
              </a:r>
            </a:p>
          </p:txBody>
        </p:sp>
        <p:sp>
          <p:nvSpPr>
            <p:cNvPr id="77" name="Rectangle 77"/>
            <p:cNvSpPr/>
            <p:nvPr/>
          </p:nvSpPr>
          <p:spPr>
            <a:xfrm>
              <a:off x="7791450" y="2543175"/>
              <a:ext cx="1933575" cy="666750"/>
            </a:xfrm>
            <a:prstGeom prst="roundRect">
              <a:avLst>
                <a:gd name="adj" fmla="val 5714"/>
              </a:avLst>
            </a:prstGeom>
            <a:solidFill>
              <a:srgbClr val="FFFFFF"/>
            </a:solidFill>
            <a:ln w="9525">
              <a:solidFill>
                <a:srgbClr val="E4E7F5"/>
              </a:solidFill>
            </a:ln>
          </p:spPr>
        </p:sp>
        <p:sp>
          <p:nvSpPr>
            <p:cNvPr id="78" name="Ellipse 78"/>
            <p:cNvSpPr/>
            <p:nvPr/>
          </p:nvSpPr>
          <p:spPr>
            <a:xfrm>
              <a:off x="7907655" y="2687955"/>
              <a:ext cx="34290" cy="34290"/>
            </a:xfrm>
            <a:prstGeom prst="ellipse">
              <a:avLst/>
            </a:prstGeom>
            <a:solidFill>
              <a:srgbClr val="8A90A5"/>
            </a:solidFill>
            <a:ln>
              <a:noFill/>
            </a:ln>
          </p:spPr>
        </p:sp>
        <p:sp>
          <p:nvSpPr>
            <p:cNvPr id="79" name="TextBox 79"/>
            <p:cNvSpPr txBox="1"/>
            <p:nvPr/>
          </p:nvSpPr>
          <p:spPr>
            <a:xfrm>
              <a:off x="7977188" y="2658189"/>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支付页面</a:t>
              </a:r>
            </a:p>
          </p:txBody>
        </p:sp>
        <p:sp>
          <p:nvSpPr>
            <p:cNvPr id="80" name="Ellipse 80"/>
            <p:cNvSpPr/>
            <p:nvPr/>
          </p:nvSpPr>
          <p:spPr>
            <a:xfrm>
              <a:off x="7907655" y="2868930"/>
              <a:ext cx="34290" cy="34290"/>
            </a:xfrm>
            <a:prstGeom prst="ellipse">
              <a:avLst/>
            </a:prstGeom>
            <a:solidFill>
              <a:srgbClr val="8A90A5"/>
            </a:solidFill>
            <a:ln>
              <a:noFill/>
            </a:ln>
          </p:spPr>
        </p:sp>
        <p:sp>
          <p:nvSpPr>
            <p:cNvPr id="81" name="TextBox 81"/>
            <p:cNvSpPr txBox="1"/>
            <p:nvPr/>
          </p:nvSpPr>
          <p:spPr>
            <a:xfrm>
              <a:off x="7977188" y="2839164"/>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客户支持</a:t>
              </a:r>
            </a:p>
          </p:txBody>
        </p:sp>
        <p:sp>
          <p:nvSpPr>
            <p:cNvPr id="82" name="Ellipse 82"/>
            <p:cNvSpPr/>
            <p:nvPr/>
          </p:nvSpPr>
          <p:spPr>
            <a:xfrm>
              <a:off x="7907655" y="3049905"/>
              <a:ext cx="34290" cy="34290"/>
            </a:xfrm>
            <a:prstGeom prst="ellipse">
              <a:avLst/>
            </a:prstGeom>
            <a:solidFill>
              <a:srgbClr val="8A90A5"/>
            </a:solidFill>
            <a:ln>
              <a:noFill/>
            </a:ln>
          </p:spPr>
        </p:sp>
        <p:sp>
          <p:nvSpPr>
            <p:cNvPr id="83" name="TextBox 83"/>
            <p:cNvSpPr txBox="1"/>
            <p:nvPr/>
          </p:nvSpPr>
          <p:spPr>
            <a:xfrm>
              <a:off x="7977188" y="302013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产品</a:t>
              </a:r>
            </a:p>
          </p:txBody>
        </p:sp>
        <p:sp>
          <p:nvSpPr>
            <p:cNvPr id="84" name="Rectangle 84"/>
            <p:cNvSpPr/>
            <p:nvPr/>
          </p:nvSpPr>
          <p:spPr>
            <a:xfrm>
              <a:off x="9820275" y="2543175"/>
              <a:ext cx="1971675" cy="666750"/>
            </a:xfrm>
            <a:prstGeom prst="roundRect">
              <a:avLst>
                <a:gd name="adj" fmla="val 5714"/>
              </a:avLst>
            </a:prstGeom>
            <a:solidFill>
              <a:srgbClr val="FFFFFF"/>
            </a:solidFill>
            <a:ln w="9525">
              <a:solidFill>
                <a:srgbClr val="E4E7F5"/>
              </a:solidFill>
            </a:ln>
          </p:spPr>
        </p:sp>
        <p:sp>
          <p:nvSpPr>
            <p:cNvPr id="85" name="Ellipse 85"/>
            <p:cNvSpPr/>
            <p:nvPr/>
          </p:nvSpPr>
          <p:spPr>
            <a:xfrm>
              <a:off x="9936480" y="2687955"/>
              <a:ext cx="34290" cy="34290"/>
            </a:xfrm>
            <a:prstGeom prst="ellipse">
              <a:avLst/>
            </a:prstGeom>
            <a:solidFill>
              <a:srgbClr val="8A90A5"/>
            </a:solidFill>
            <a:ln>
              <a:noFill/>
            </a:ln>
          </p:spPr>
        </p:sp>
        <p:sp>
          <p:nvSpPr>
            <p:cNvPr id="86" name="TextBox 86"/>
            <p:cNvSpPr txBox="1"/>
            <p:nvPr/>
          </p:nvSpPr>
          <p:spPr>
            <a:xfrm>
              <a:off x="10006012" y="265818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产品</a:t>
              </a:r>
            </a:p>
          </p:txBody>
        </p:sp>
        <p:sp>
          <p:nvSpPr>
            <p:cNvPr id="87" name="Ellipse 87"/>
            <p:cNvSpPr/>
            <p:nvPr/>
          </p:nvSpPr>
          <p:spPr>
            <a:xfrm>
              <a:off x="9936480" y="2868930"/>
              <a:ext cx="34290" cy="34290"/>
            </a:xfrm>
            <a:prstGeom prst="ellipse">
              <a:avLst/>
            </a:prstGeom>
            <a:solidFill>
              <a:srgbClr val="8A90A5"/>
            </a:solidFill>
            <a:ln>
              <a:noFill/>
            </a:ln>
          </p:spPr>
        </p:sp>
        <p:sp>
          <p:nvSpPr>
            <p:cNvPr id="88" name="TextBox 88"/>
            <p:cNvSpPr txBox="1"/>
            <p:nvPr/>
          </p:nvSpPr>
          <p:spPr>
            <a:xfrm>
              <a:off x="10006012" y="2839164"/>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客户支持</a:t>
              </a:r>
            </a:p>
          </p:txBody>
        </p:sp>
        <p:sp>
          <p:nvSpPr>
            <p:cNvPr id="89" name="Ellipse 89"/>
            <p:cNvSpPr/>
            <p:nvPr/>
          </p:nvSpPr>
          <p:spPr>
            <a:xfrm>
              <a:off x="9936480" y="3049905"/>
              <a:ext cx="34290" cy="34290"/>
            </a:xfrm>
            <a:prstGeom prst="ellipse">
              <a:avLst/>
            </a:prstGeom>
            <a:solidFill>
              <a:srgbClr val="8A90A5"/>
            </a:solidFill>
            <a:ln>
              <a:noFill/>
            </a:ln>
          </p:spPr>
        </p:sp>
        <p:sp>
          <p:nvSpPr>
            <p:cNvPr id="90" name="TextBox 90"/>
            <p:cNvSpPr txBox="1"/>
            <p:nvPr/>
          </p:nvSpPr>
          <p:spPr>
            <a:xfrm>
              <a:off x="10006012" y="3020139"/>
              <a:ext cx="22222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电商</a:t>
              </a:r>
            </a:p>
          </p:txBody>
        </p:sp>
      </p:grpSp>
      <p:grpSp>
        <p:nvGrpSpPr>
          <p:cNvPr id="112" name="journey-pain"/>
          <p:cNvGrpSpPr/>
          <p:nvPr/>
        </p:nvGrpSpPr>
        <p:grpSpPr>
          <a:xfrm>
            <a:off x="447675" y="3248025"/>
            <a:ext cx="11344275" cy="809625"/>
            <a:chOff x="447675" y="3248025"/>
            <a:chExt cx="11344275" cy="809625"/>
          </a:xfrm>
        </p:grpSpPr>
        <p:sp>
          <p:nvSpPr>
            <p:cNvPr id="92" name="Rectangle 92"/>
            <p:cNvSpPr/>
            <p:nvPr/>
          </p:nvSpPr>
          <p:spPr>
            <a:xfrm>
              <a:off x="447675" y="3248025"/>
              <a:ext cx="1190625" cy="809625"/>
            </a:xfrm>
            <a:prstGeom prst="roundRect">
              <a:avLst>
                <a:gd name="adj" fmla="val 4706"/>
              </a:avLst>
            </a:prstGeom>
            <a:gradFill>
              <a:gsLst>
                <a:gs pos="0">
                  <a:srgbClr val="F0998A"/>
                </a:gs>
                <a:gs pos="100000">
                  <a:srgbClr val="E5624C"/>
                </a:gs>
              </a:gsLst>
              <a:lin ang="0" scaled="1"/>
            </a:gradFill>
            <a:ln>
              <a:noFill/>
            </a:ln>
          </p:spPr>
        </p:sp>
        <p:sp>
          <p:nvSpPr>
            <p:cNvPr id="93" name="TextBox 93"/>
            <p:cNvSpPr txBox="1"/>
            <p:nvPr/>
          </p:nvSpPr>
          <p:spPr>
            <a:xfrm>
              <a:off x="901344" y="359997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痛点</a:t>
              </a:r>
            </a:p>
          </p:txBody>
        </p:sp>
        <p:sp>
          <p:nvSpPr>
            <p:cNvPr id="94" name="Rectangle 94"/>
            <p:cNvSpPr/>
            <p:nvPr/>
          </p:nvSpPr>
          <p:spPr>
            <a:xfrm>
              <a:off x="1809750" y="3248025"/>
              <a:ext cx="1914525" cy="809625"/>
            </a:xfrm>
            <a:prstGeom prst="roundRect">
              <a:avLst>
                <a:gd name="adj" fmla="val 4706"/>
              </a:avLst>
            </a:prstGeom>
            <a:solidFill>
              <a:srgbClr val="E5624C"/>
            </a:solidFill>
            <a:ln>
              <a:noFill/>
            </a:ln>
          </p:spPr>
        </p:sp>
        <p:sp>
          <p:nvSpPr>
            <p:cNvPr id="95" name="TextBox 95"/>
            <p:cNvSpPr txBox="1"/>
            <p:nvPr/>
          </p:nvSpPr>
          <p:spPr>
            <a:xfrm>
              <a:off x="1919288" y="3372564"/>
              <a:ext cx="11793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对市场上的不同产品缺乏</a:t>
              </a:r>
            </a:p>
          </p:txBody>
        </p:sp>
        <p:sp>
          <p:nvSpPr>
            <p:cNvPr id="96" name="TextBox 96"/>
            <p:cNvSpPr txBox="1"/>
            <p:nvPr/>
          </p:nvSpPr>
          <p:spPr>
            <a:xfrm>
              <a:off x="1919288" y="3544014"/>
              <a:ext cx="11793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了解，不清楚哪种产品最</a:t>
              </a:r>
            </a:p>
          </p:txBody>
        </p:sp>
        <p:sp>
          <p:nvSpPr>
            <p:cNvPr id="97" name="TextBox 97"/>
            <p:cNvSpPr txBox="1"/>
            <p:nvPr/>
          </p:nvSpPr>
          <p:spPr>
            <a:xfrm>
              <a:off x="1919288" y="3715464"/>
              <a:ext cx="107302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适合自己的业务需求。</a:t>
              </a:r>
            </a:p>
          </p:txBody>
        </p:sp>
        <p:sp>
          <p:nvSpPr>
            <p:cNvPr id="98" name="Rectangle 98"/>
            <p:cNvSpPr/>
            <p:nvPr/>
          </p:nvSpPr>
          <p:spPr>
            <a:xfrm>
              <a:off x="3800475" y="3248025"/>
              <a:ext cx="1895475" cy="809625"/>
            </a:xfrm>
            <a:prstGeom prst="roundRect">
              <a:avLst>
                <a:gd name="adj" fmla="val 4706"/>
              </a:avLst>
            </a:prstGeom>
            <a:solidFill>
              <a:srgbClr val="E5624C"/>
            </a:solidFill>
            <a:ln>
              <a:noFill/>
            </a:ln>
          </p:spPr>
        </p:sp>
        <p:sp>
          <p:nvSpPr>
            <p:cNvPr id="99" name="TextBox 99"/>
            <p:cNvSpPr txBox="1"/>
            <p:nvPr/>
          </p:nvSpPr>
          <p:spPr>
            <a:xfrm>
              <a:off x="3910012" y="3372564"/>
              <a:ext cx="11793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缺乏深入的产品了解，不</a:t>
              </a:r>
            </a:p>
          </p:txBody>
        </p:sp>
        <p:sp>
          <p:nvSpPr>
            <p:cNvPr id="100" name="TextBox 100"/>
            <p:cNvSpPr txBox="1"/>
            <p:nvPr/>
          </p:nvSpPr>
          <p:spPr>
            <a:xfrm>
              <a:off x="3910012" y="3544014"/>
              <a:ext cx="11793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确定该产品是否能精准解</a:t>
              </a:r>
            </a:p>
          </p:txBody>
        </p:sp>
        <p:sp>
          <p:nvSpPr>
            <p:cNvPr id="101" name="TextBox 101"/>
            <p:cNvSpPr txBox="1"/>
            <p:nvPr/>
          </p:nvSpPr>
          <p:spPr>
            <a:xfrm>
              <a:off x="3910012" y="3715464"/>
              <a:ext cx="541274"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决掉痛点。</a:t>
              </a:r>
            </a:p>
          </p:txBody>
        </p:sp>
        <p:sp>
          <p:nvSpPr>
            <p:cNvPr id="102" name="Rectangle 102"/>
            <p:cNvSpPr/>
            <p:nvPr/>
          </p:nvSpPr>
          <p:spPr>
            <a:xfrm>
              <a:off x="5781675" y="3248025"/>
              <a:ext cx="1914525" cy="809625"/>
            </a:xfrm>
            <a:prstGeom prst="roundRect">
              <a:avLst>
                <a:gd name="adj" fmla="val 4706"/>
              </a:avLst>
            </a:prstGeom>
            <a:solidFill>
              <a:srgbClr val="E5624C"/>
            </a:solidFill>
            <a:ln>
              <a:noFill/>
            </a:ln>
          </p:spPr>
        </p:sp>
        <p:sp>
          <p:nvSpPr>
            <p:cNvPr id="103" name="TextBox 103"/>
            <p:cNvSpPr txBox="1"/>
            <p:nvPr/>
          </p:nvSpPr>
          <p:spPr>
            <a:xfrm>
              <a:off x="5891212" y="3372564"/>
              <a:ext cx="11793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产品试用流程有点繁琐，</a:t>
              </a:r>
            </a:p>
          </p:txBody>
        </p:sp>
        <p:sp>
          <p:nvSpPr>
            <p:cNvPr id="104" name="TextBox 104"/>
            <p:cNvSpPr txBox="1"/>
            <p:nvPr/>
          </p:nvSpPr>
          <p:spPr>
            <a:xfrm>
              <a:off x="5891212" y="3544014"/>
              <a:ext cx="128572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提交了许多不必要的信息。</a:t>
              </a:r>
            </a:p>
          </p:txBody>
        </p:sp>
        <p:sp>
          <p:nvSpPr>
            <p:cNvPr id="105" name="Rectangle 105"/>
            <p:cNvSpPr/>
            <p:nvPr/>
          </p:nvSpPr>
          <p:spPr>
            <a:xfrm>
              <a:off x="7791450" y="3248025"/>
              <a:ext cx="1933575" cy="809625"/>
            </a:xfrm>
            <a:prstGeom prst="roundRect">
              <a:avLst>
                <a:gd name="adj" fmla="val 4706"/>
              </a:avLst>
            </a:prstGeom>
            <a:solidFill>
              <a:srgbClr val="E5624C"/>
            </a:solidFill>
            <a:ln>
              <a:noFill/>
            </a:ln>
          </p:spPr>
        </p:sp>
        <p:sp>
          <p:nvSpPr>
            <p:cNvPr id="106" name="TextBox 106"/>
            <p:cNvSpPr txBox="1"/>
            <p:nvPr/>
          </p:nvSpPr>
          <p:spPr>
            <a:xfrm>
              <a:off x="7900988" y="3372564"/>
              <a:ext cx="11793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部署过程有点麻烦，但整</a:t>
              </a:r>
            </a:p>
          </p:txBody>
        </p:sp>
        <p:sp>
          <p:nvSpPr>
            <p:cNvPr id="107" name="TextBox 107"/>
            <p:cNvSpPr txBox="1"/>
            <p:nvPr/>
          </p:nvSpPr>
          <p:spPr>
            <a:xfrm>
              <a:off x="7900988" y="3544014"/>
              <a:ext cx="647624"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体较为顺畅。</a:t>
              </a:r>
            </a:p>
          </p:txBody>
        </p:sp>
        <p:sp>
          <p:nvSpPr>
            <p:cNvPr id="108" name="Rectangle 108"/>
            <p:cNvSpPr/>
            <p:nvPr/>
          </p:nvSpPr>
          <p:spPr>
            <a:xfrm>
              <a:off x="9820275" y="3248025"/>
              <a:ext cx="1971675" cy="809625"/>
            </a:xfrm>
            <a:prstGeom prst="roundRect">
              <a:avLst>
                <a:gd name="adj" fmla="val 4706"/>
              </a:avLst>
            </a:prstGeom>
            <a:solidFill>
              <a:srgbClr val="E5624C"/>
            </a:solidFill>
            <a:ln>
              <a:noFill/>
            </a:ln>
          </p:spPr>
        </p:sp>
        <p:sp>
          <p:nvSpPr>
            <p:cNvPr id="109" name="TextBox 109"/>
            <p:cNvSpPr txBox="1"/>
            <p:nvPr/>
          </p:nvSpPr>
          <p:spPr>
            <a:xfrm>
              <a:off x="9929812" y="3372564"/>
              <a:ext cx="11793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部分对接不能及时得到支</a:t>
              </a:r>
            </a:p>
          </p:txBody>
        </p:sp>
        <p:sp>
          <p:nvSpPr>
            <p:cNvPr id="110" name="TextBox 110"/>
            <p:cNvSpPr txBox="1"/>
            <p:nvPr/>
          </p:nvSpPr>
          <p:spPr>
            <a:xfrm>
              <a:off x="9929812" y="3544014"/>
              <a:ext cx="11793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持，导致工作无法及时完</a:t>
              </a:r>
            </a:p>
          </p:txBody>
        </p:sp>
        <p:sp>
          <p:nvSpPr>
            <p:cNvPr id="111" name="TextBox 111"/>
            <p:cNvSpPr txBox="1"/>
            <p:nvPr/>
          </p:nvSpPr>
          <p:spPr>
            <a:xfrm>
              <a:off x="9929812" y="3715464"/>
              <a:ext cx="222225"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成。</a:t>
              </a:r>
            </a:p>
          </p:txBody>
        </p:sp>
      </p:grpSp>
      <p:grpSp>
        <p:nvGrpSpPr>
          <p:cNvPr id="145" name="journey-mood"/>
          <p:cNvGrpSpPr/>
          <p:nvPr/>
        </p:nvGrpSpPr>
        <p:grpSpPr>
          <a:xfrm>
            <a:off x="447675" y="4105275"/>
            <a:ext cx="11344275" cy="1428750"/>
            <a:chOff x="447675" y="4105275"/>
            <a:chExt cx="11344275" cy="1428750"/>
          </a:xfrm>
        </p:grpSpPr>
        <p:sp>
          <p:nvSpPr>
            <p:cNvPr id="113" name="Rectangle 113"/>
            <p:cNvSpPr/>
            <p:nvPr/>
          </p:nvSpPr>
          <p:spPr>
            <a:xfrm>
              <a:off x="447675" y="4105275"/>
              <a:ext cx="1190625" cy="1428750"/>
            </a:xfrm>
            <a:prstGeom prst="roundRect">
              <a:avLst>
                <a:gd name="adj" fmla="val 3200"/>
              </a:avLst>
            </a:prstGeom>
            <a:solidFill>
              <a:srgbClr val="C45F4A"/>
            </a:solidFill>
            <a:ln>
              <a:noFill/>
            </a:ln>
          </p:spPr>
        </p:sp>
        <p:sp>
          <p:nvSpPr>
            <p:cNvPr id="114" name="TextBox 114"/>
            <p:cNvSpPr txBox="1"/>
            <p:nvPr/>
          </p:nvSpPr>
          <p:spPr>
            <a:xfrm>
              <a:off x="901344" y="46096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情绪</a:t>
              </a:r>
            </a:p>
          </p:txBody>
        </p:sp>
        <p:sp>
          <p:nvSpPr>
            <p:cNvPr id="115" name="TextBox 115"/>
            <p:cNvSpPr txBox="1"/>
            <p:nvPr/>
          </p:nvSpPr>
          <p:spPr>
            <a:xfrm>
              <a:off x="901344" y="48001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曲线</a:t>
              </a:r>
            </a:p>
          </p:txBody>
        </p:sp>
        <p:sp>
          <p:nvSpPr>
            <p:cNvPr id="116" name="Rectangle 116"/>
            <p:cNvSpPr/>
            <p:nvPr/>
          </p:nvSpPr>
          <p:spPr>
            <a:xfrm>
              <a:off x="1809750" y="4105275"/>
              <a:ext cx="9982200" cy="1428750"/>
            </a:xfrm>
            <a:prstGeom prst="roundRect">
              <a:avLst>
                <a:gd name="adj" fmla="val 2667"/>
              </a:avLst>
            </a:prstGeom>
            <a:solidFill>
              <a:srgbClr val="EEF0FB"/>
            </a:solidFill>
            <a:ln>
              <a:noFill/>
            </a:ln>
          </p:spPr>
        </p:sp>
        <p:sp>
          <p:nvSpPr>
            <p:cNvPr id="117" name="TextBox 117"/>
            <p:cNvSpPr txBox="1"/>
            <p:nvPr/>
          </p:nvSpPr>
          <p:spPr>
            <a:xfrm>
              <a:off x="1762989" y="4391739"/>
              <a:ext cx="117937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那种产品适合公司团队？</a:t>
              </a:r>
            </a:p>
          </p:txBody>
        </p:sp>
        <p:sp>
          <p:nvSpPr>
            <p:cNvPr id="118" name="TextBox 118"/>
            <p:cNvSpPr txBox="1"/>
            <p:nvPr/>
          </p:nvSpPr>
          <p:spPr>
            <a:xfrm>
              <a:off x="4187063" y="4906089"/>
              <a:ext cx="541274"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多产品对比</a:t>
              </a:r>
            </a:p>
          </p:txBody>
        </p:sp>
        <p:sp>
          <p:nvSpPr>
            <p:cNvPr id="119" name="TextBox 119"/>
            <p:cNvSpPr txBox="1"/>
            <p:nvPr/>
          </p:nvSpPr>
          <p:spPr>
            <a:xfrm>
              <a:off x="6250838" y="4467939"/>
              <a:ext cx="96667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使用满意与销售违约</a:t>
              </a:r>
            </a:p>
          </p:txBody>
        </p:sp>
        <p:sp>
          <p:nvSpPr>
            <p:cNvPr id="120" name="TextBox 120"/>
            <p:cNvSpPr txBox="1"/>
            <p:nvPr/>
          </p:nvSpPr>
          <p:spPr>
            <a:xfrm>
              <a:off x="8167764" y="4353639"/>
              <a:ext cx="1285723"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想使用产品，落地越快越好</a:t>
              </a:r>
            </a:p>
          </p:txBody>
        </p:sp>
        <p:sp>
          <p:nvSpPr>
            <p:cNvPr id="121" name="TextBox 121"/>
            <p:cNvSpPr txBox="1"/>
            <p:nvPr/>
          </p:nvSpPr>
          <p:spPr>
            <a:xfrm>
              <a:off x="10576763" y="4201239"/>
              <a:ext cx="753974" cy="154781"/>
            </a:xfrm>
            <a:prstGeom prst="rect">
              <a:avLst/>
            </a:prstGeom>
            <a:noFill/>
            <a:ln>
              <a:noFill/>
            </a:ln>
          </p:spPr>
          <p:txBody>
            <a:bodyPr wrap="none" lIns="0" tIns="0" rIns="0" bIns="0" anchor="t" anchorCtr="0">
              <a:spAutoFit/>
            </a:bodyPr>
            <a:lstStyle/>
            <a:p>
              <a:pPr algn="ctr"/>
              <a:r>
                <a:rPr lang="zh-CN" sz="790" dirty="0">
                  <a:solidFill>
                    <a:srgbClr val="705F5B"/>
                  </a:solidFill>
                  <a:latin typeface="+mn-lt"/>
                  <a:ea typeface="+mn-ea"/>
                  <a:cs typeface="+mn-cs"/>
                </a:rPr>
                <a:t>技术响应度好评</a:t>
              </a:r>
            </a:p>
          </p:txBody>
        </p:sp>
        <p:sp>
          <p:nvSpPr>
            <p:cNvPr id="122" name="Freeform 122"/>
            <p:cNvSpPr/>
            <p:nvPr/>
          </p:nvSpPr>
          <p:spPr>
            <a:xfrm>
              <a:off x="1952625" y="4552950"/>
              <a:ext cx="9048750" cy="647700"/>
            </a:xfrm>
            <a:custGeom>
              <a:avLst/>
              <a:gdLst/>
              <a:ahLst/>
              <a:cxnLst/>
              <a:rect l="l" t="t" r="r" b="b"/>
              <a:pathLst>
                <a:path w="9048750" h="647700">
                  <a:moveTo>
                    <a:pt x="0" y="285750"/>
                  </a:moveTo>
                  <a:cubicBezTo>
                    <a:pt x="809625" y="342900"/>
                    <a:pt x="1762125" y="647700"/>
                    <a:pt x="2505075" y="638175"/>
                  </a:cubicBezTo>
                  <a:cubicBezTo>
                    <a:pt x="3381375" y="628650"/>
                    <a:pt x="3952875" y="266700"/>
                    <a:pt x="4781550" y="247650"/>
                  </a:cubicBezTo>
                  <a:cubicBezTo>
                    <a:pt x="5572125" y="228600"/>
                    <a:pt x="6096000" y="152400"/>
                    <a:pt x="6858000" y="152400"/>
                  </a:cubicBezTo>
                  <a:cubicBezTo>
                    <a:pt x="7667625" y="152400"/>
                    <a:pt x="8382000" y="19050"/>
                    <a:pt x="9048750" y="0"/>
                  </a:cubicBezTo>
                </a:path>
              </a:pathLst>
            </a:custGeom>
            <a:noFill/>
            <a:ln w="19050">
              <a:solidFill>
                <a:srgbClr val="B9C0DC"/>
              </a:solidFill>
            </a:ln>
          </p:spPr>
        </p:sp>
        <p:sp>
          <p:nvSpPr>
            <p:cNvPr id="123" name="Ellipse 123"/>
            <p:cNvSpPr/>
            <p:nvPr/>
          </p:nvSpPr>
          <p:spPr>
            <a:xfrm>
              <a:off x="2219325" y="4705350"/>
              <a:ext cx="266700" cy="266700"/>
            </a:xfrm>
            <a:prstGeom prst="ellipse">
              <a:avLst/>
            </a:prstGeom>
            <a:solidFill>
              <a:srgbClr val="FF654A"/>
            </a:solidFill>
            <a:ln>
              <a:noFill/>
            </a:ln>
          </p:spPr>
        </p:sp>
        <p:sp>
          <p:nvSpPr>
            <p:cNvPr id="124" name="Ellipse 124"/>
            <p:cNvSpPr/>
            <p:nvPr/>
          </p:nvSpPr>
          <p:spPr>
            <a:xfrm>
              <a:off x="2287905" y="4783455"/>
              <a:ext cx="34290" cy="34290"/>
            </a:xfrm>
            <a:prstGeom prst="ellipse">
              <a:avLst/>
            </a:prstGeom>
            <a:solidFill>
              <a:srgbClr val="5B281F"/>
            </a:solidFill>
            <a:ln>
              <a:noFill/>
            </a:ln>
          </p:spPr>
        </p:sp>
        <p:sp>
          <p:nvSpPr>
            <p:cNvPr id="125" name="Ellipse 125"/>
            <p:cNvSpPr/>
            <p:nvPr/>
          </p:nvSpPr>
          <p:spPr>
            <a:xfrm>
              <a:off x="2383155" y="4783455"/>
              <a:ext cx="34290" cy="34290"/>
            </a:xfrm>
            <a:prstGeom prst="ellipse">
              <a:avLst/>
            </a:prstGeom>
            <a:solidFill>
              <a:srgbClr val="5B281F"/>
            </a:solidFill>
            <a:ln>
              <a:noFill/>
            </a:ln>
          </p:spPr>
        </p:sp>
        <p:sp>
          <p:nvSpPr>
            <p:cNvPr id="126" name="Freeform 126"/>
            <p:cNvSpPr/>
            <p:nvPr/>
          </p:nvSpPr>
          <p:spPr>
            <a:xfrm>
              <a:off x="2295525" y="4870450"/>
              <a:ext cx="114300" cy="25400"/>
            </a:xfrm>
            <a:custGeom>
              <a:avLst/>
              <a:gdLst/>
              <a:ahLst/>
              <a:cxnLst/>
              <a:rect l="l" t="t" r="r" b="b"/>
              <a:pathLst>
                <a:path w="114300" h="25400">
                  <a:moveTo>
                    <a:pt x="0" y="25400"/>
                  </a:moveTo>
                  <a:cubicBezTo>
                    <a:pt x="38100" y="0"/>
                    <a:pt x="76200" y="0"/>
                    <a:pt x="114300" y="25400"/>
                  </a:cubicBezTo>
                </a:path>
              </a:pathLst>
            </a:custGeom>
            <a:noFill/>
            <a:ln w="14288">
              <a:solidFill>
                <a:srgbClr val="5B281F"/>
              </a:solidFill>
            </a:ln>
          </p:spPr>
        </p:sp>
        <p:sp>
          <p:nvSpPr>
            <p:cNvPr id="127" name="Ellipse 127"/>
            <p:cNvSpPr/>
            <p:nvPr/>
          </p:nvSpPr>
          <p:spPr>
            <a:xfrm>
              <a:off x="4324350" y="5057775"/>
              <a:ext cx="266700" cy="266700"/>
            </a:xfrm>
            <a:prstGeom prst="ellipse">
              <a:avLst/>
            </a:prstGeom>
            <a:solidFill>
              <a:srgbClr val="FF654A"/>
            </a:solidFill>
            <a:ln>
              <a:noFill/>
            </a:ln>
          </p:spPr>
        </p:sp>
        <p:sp>
          <p:nvSpPr>
            <p:cNvPr id="128" name="Ellipse 128"/>
            <p:cNvSpPr/>
            <p:nvPr/>
          </p:nvSpPr>
          <p:spPr>
            <a:xfrm>
              <a:off x="4392930" y="5135880"/>
              <a:ext cx="34290" cy="34290"/>
            </a:xfrm>
            <a:prstGeom prst="ellipse">
              <a:avLst/>
            </a:prstGeom>
            <a:solidFill>
              <a:srgbClr val="5B281F"/>
            </a:solidFill>
            <a:ln>
              <a:noFill/>
            </a:ln>
          </p:spPr>
        </p:sp>
        <p:sp>
          <p:nvSpPr>
            <p:cNvPr id="129" name="Ellipse 129"/>
            <p:cNvSpPr/>
            <p:nvPr/>
          </p:nvSpPr>
          <p:spPr>
            <a:xfrm>
              <a:off x="4488180" y="5135880"/>
              <a:ext cx="34290" cy="34290"/>
            </a:xfrm>
            <a:prstGeom prst="ellipse">
              <a:avLst/>
            </a:prstGeom>
            <a:solidFill>
              <a:srgbClr val="5B281F"/>
            </a:solidFill>
            <a:ln>
              <a:noFill/>
            </a:ln>
          </p:spPr>
        </p:sp>
        <p:sp>
          <p:nvSpPr>
            <p:cNvPr id="130" name="Freeform 130"/>
            <p:cNvSpPr/>
            <p:nvPr/>
          </p:nvSpPr>
          <p:spPr>
            <a:xfrm>
              <a:off x="4400550" y="5226050"/>
              <a:ext cx="114300" cy="31750"/>
            </a:xfrm>
            <a:custGeom>
              <a:avLst/>
              <a:gdLst/>
              <a:ahLst/>
              <a:cxnLst/>
              <a:rect l="l" t="t" r="r" b="b"/>
              <a:pathLst>
                <a:path w="114300" h="31750">
                  <a:moveTo>
                    <a:pt x="0" y="31750"/>
                  </a:moveTo>
                  <a:cubicBezTo>
                    <a:pt x="38100" y="0"/>
                    <a:pt x="76200" y="0"/>
                    <a:pt x="114300" y="31750"/>
                  </a:cubicBezTo>
                </a:path>
              </a:pathLst>
            </a:custGeom>
            <a:noFill/>
            <a:ln w="14288">
              <a:solidFill>
                <a:srgbClr val="5B281F"/>
              </a:solidFill>
            </a:ln>
          </p:spPr>
        </p:sp>
        <p:sp>
          <p:nvSpPr>
            <p:cNvPr id="131" name="Ellipse 131"/>
            <p:cNvSpPr/>
            <p:nvPr/>
          </p:nvSpPr>
          <p:spPr>
            <a:xfrm>
              <a:off x="6600825" y="4667250"/>
              <a:ext cx="266700" cy="266700"/>
            </a:xfrm>
            <a:prstGeom prst="ellipse">
              <a:avLst/>
            </a:prstGeom>
            <a:solidFill>
              <a:srgbClr val="FF654A"/>
            </a:solidFill>
            <a:ln>
              <a:noFill/>
            </a:ln>
          </p:spPr>
        </p:sp>
        <p:sp>
          <p:nvSpPr>
            <p:cNvPr id="132" name="Ellipse 132"/>
            <p:cNvSpPr/>
            <p:nvPr/>
          </p:nvSpPr>
          <p:spPr>
            <a:xfrm>
              <a:off x="6669405" y="4745355"/>
              <a:ext cx="34290" cy="34290"/>
            </a:xfrm>
            <a:prstGeom prst="ellipse">
              <a:avLst/>
            </a:prstGeom>
            <a:solidFill>
              <a:srgbClr val="5B281F"/>
            </a:solidFill>
            <a:ln>
              <a:noFill/>
            </a:ln>
          </p:spPr>
        </p:sp>
        <p:sp>
          <p:nvSpPr>
            <p:cNvPr id="133" name="Ellipse 133"/>
            <p:cNvSpPr/>
            <p:nvPr/>
          </p:nvSpPr>
          <p:spPr>
            <a:xfrm>
              <a:off x="6764655" y="4745355"/>
              <a:ext cx="34290" cy="34290"/>
            </a:xfrm>
            <a:prstGeom prst="ellipse">
              <a:avLst/>
            </a:prstGeom>
            <a:solidFill>
              <a:srgbClr val="5B281F"/>
            </a:solidFill>
            <a:ln>
              <a:noFill/>
            </a:ln>
          </p:spPr>
        </p:sp>
        <p:sp>
          <p:nvSpPr>
            <p:cNvPr id="134" name="Freeform 134"/>
            <p:cNvSpPr/>
            <p:nvPr/>
          </p:nvSpPr>
          <p:spPr>
            <a:xfrm>
              <a:off x="6667500" y="4838700"/>
              <a:ext cx="133350" cy="38100"/>
            </a:xfrm>
            <a:custGeom>
              <a:avLst/>
              <a:gdLst/>
              <a:ahLst/>
              <a:cxnLst/>
              <a:rect l="l" t="t" r="r" b="b"/>
              <a:pathLst>
                <a:path w="133350" h="38100">
                  <a:moveTo>
                    <a:pt x="0" y="0"/>
                  </a:moveTo>
                  <a:cubicBezTo>
                    <a:pt x="44450" y="38100"/>
                    <a:pt x="88900" y="38100"/>
                    <a:pt x="133350" y="0"/>
                  </a:cubicBezTo>
                </a:path>
              </a:pathLst>
            </a:custGeom>
            <a:noFill/>
            <a:ln w="14288">
              <a:solidFill>
                <a:srgbClr val="5B281F"/>
              </a:solidFill>
            </a:ln>
          </p:spPr>
        </p:sp>
        <p:sp>
          <p:nvSpPr>
            <p:cNvPr id="135" name="Ellipse 135"/>
            <p:cNvSpPr/>
            <p:nvPr/>
          </p:nvSpPr>
          <p:spPr>
            <a:xfrm>
              <a:off x="8677275" y="4572000"/>
              <a:ext cx="266700" cy="266700"/>
            </a:xfrm>
            <a:prstGeom prst="ellipse">
              <a:avLst/>
            </a:prstGeom>
            <a:solidFill>
              <a:srgbClr val="FF654A"/>
            </a:solidFill>
            <a:ln>
              <a:noFill/>
            </a:ln>
          </p:spPr>
        </p:sp>
        <p:sp>
          <p:nvSpPr>
            <p:cNvPr id="136" name="Ellipse 136"/>
            <p:cNvSpPr/>
            <p:nvPr/>
          </p:nvSpPr>
          <p:spPr>
            <a:xfrm>
              <a:off x="8745855" y="4650105"/>
              <a:ext cx="34290" cy="34290"/>
            </a:xfrm>
            <a:prstGeom prst="ellipse">
              <a:avLst/>
            </a:prstGeom>
            <a:solidFill>
              <a:srgbClr val="5B281F"/>
            </a:solidFill>
            <a:ln>
              <a:noFill/>
            </a:ln>
          </p:spPr>
        </p:sp>
        <p:sp>
          <p:nvSpPr>
            <p:cNvPr id="137" name="Ellipse 137"/>
            <p:cNvSpPr/>
            <p:nvPr/>
          </p:nvSpPr>
          <p:spPr>
            <a:xfrm>
              <a:off x="8841105" y="4650105"/>
              <a:ext cx="34290" cy="34290"/>
            </a:xfrm>
            <a:prstGeom prst="ellipse">
              <a:avLst/>
            </a:prstGeom>
            <a:solidFill>
              <a:srgbClr val="5B281F"/>
            </a:solidFill>
            <a:ln>
              <a:noFill/>
            </a:ln>
          </p:spPr>
        </p:sp>
        <p:sp>
          <p:nvSpPr>
            <p:cNvPr id="138" name="Freeform 138"/>
            <p:cNvSpPr/>
            <p:nvPr/>
          </p:nvSpPr>
          <p:spPr>
            <a:xfrm>
              <a:off x="8743950" y="4743450"/>
              <a:ext cx="133350" cy="38100"/>
            </a:xfrm>
            <a:custGeom>
              <a:avLst/>
              <a:gdLst/>
              <a:ahLst/>
              <a:cxnLst/>
              <a:rect l="l" t="t" r="r" b="b"/>
              <a:pathLst>
                <a:path w="133350" h="38100">
                  <a:moveTo>
                    <a:pt x="0" y="0"/>
                  </a:moveTo>
                  <a:cubicBezTo>
                    <a:pt x="44450" y="38100"/>
                    <a:pt x="88900" y="38100"/>
                    <a:pt x="133350" y="0"/>
                  </a:cubicBezTo>
                </a:path>
              </a:pathLst>
            </a:custGeom>
            <a:noFill/>
            <a:ln w="14288">
              <a:solidFill>
                <a:srgbClr val="5B281F"/>
              </a:solidFill>
            </a:ln>
          </p:spPr>
        </p:sp>
        <p:sp>
          <p:nvSpPr>
            <p:cNvPr id="139" name="Ellipse 139"/>
            <p:cNvSpPr/>
            <p:nvPr/>
          </p:nvSpPr>
          <p:spPr>
            <a:xfrm>
              <a:off x="8662988" y="4729162"/>
              <a:ext cx="47625" cy="47625"/>
            </a:xfrm>
            <a:prstGeom prst="ellipse">
              <a:avLst/>
            </a:prstGeom>
            <a:solidFill>
              <a:srgbClr val="F0998A"/>
            </a:solidFill>
            <a:ln>
              <a:noFill/>
            </a:ln>
          </p:spPr>
        </p:sp>
        <p:sp>
          <p:nvSpPr>
            <p:cNvPr id="140" name="Ellipse 140"/>
            <p:cNvSpPr/>
            <p:nvPr/>
          </p:nvSpPr>
          <p:spPr>
            <a:xfrm>
              <a:off x="8910638" y="4729162"/>
              <a:ext cx="47625" cy="47625"/>
            </a:xfrm>
            <a:prstGeom prst="ellipse">
              <a:avLst/>
            </a:prstGeom>
            <a:solidFill>
              <a:srgbClr val="F0998A"/>
            </a:solidFill>
            <a:ln>
              <a:noFill/>
            </a:ln>
          </p:spPr>
        </p:sp>
        <p:sp>
          <p:nvSpPr>
            <p:cNvPr id="141" name="Ellipse 141"/>
            <p:cNvSpPr/>
            <p:nvPr/>
          </p:nvSpPr>
          <p:spPr>
            <a:xfrm>
              <a:off x="10820400" y="4419600"/>
              <a:ext cx="266700" cy="266700"/>
            </a:xfrm>
            <a:prstGeom prst="ellipse">
              <a:avLst/>
            </a:prstGeom>
            <a:solidFill>
              <a:srgbClr val="FF654A"/>
            </a:solidFill>
            <a:ln>
              <a:noFill/>
            </a:ln>
          </p:spPr>
        </p:sp>
        <p:sp>
          <p:nvSpPr>
            <p:cNvPr id="142" name="Ellipse 142"/>
            <p:cNvSpPr/>
            <p:nvPr/>
          </p:nvSpPr>
          <p:spPr>
            <a:xfrm>
              <a:off x="10888980" y="4497705"/>
              <a:ext cx="34290" cy="34290"/>
            </a:xfrm>
            <a:prstGeom prst="ellipse">
              <a:avLst/>
            </a:prstGeom>
            <a:solidFill>
              <a:srgbClr val="5B281F"/>
            </a:solidFill>
            <a:ln>
              <a:noFill/>
            </a:ln>
          </p:spPr>
        </p:sp>
        <p:sp>
          <p:nvSpPr>
            <p:cNvPr id="143" name="Ellipse 143"/>
            <p:cNvSpPr/>
            <p:nvPr/>
          </p:nvSpPr>
          <p:spPr>
            <a:xfrm>
              <a:off x="10984230" y="4497705"/>
              <a:ext cx="34290" cy="34290"/>
            </a:xfrm>
            <a:prstGeom prst="ellipse">
              <a:avLst/>
            </a:prstGeom>
            <a:solidFill>
              <a:srgbClr val="5B281F"/>
            </a:solidFill>
            <a:ln>
              <a:noFill/>
            </a:ln>
          </p:spPr>
        </p:sp>
        <p:sp>
          <p:nvSpPr>
            <p:cNvPr id="144" name="Freeform 144"/>
            <p:cNvSpPr/>
            <p:nvPr/>
          </p:nvSpPr>
          <p:spPr>
            <a:xfrm>
              <a:off x="10887075" y="4591050"/>
              <a:ext cx="133350" cy="38100"/>
            </a:xfrm>
            <a:custGeom>
              <a:avLst/>
              <a:gdLst/>
              <a:ahLst/>
              <a:cxnLst/>
              <a:rect l="l" t="t" r="r" b="b"/>
              <a:pathLst>
                <a:path w="133350" h="38100">
                  <a:moveTo>
                    <a:pt x="0" y="0"/>
                  </a:moveTo>
                  <a:cubicBezTo>
                    <a:pt x="44450" y="38100"/>
                    <a:pt x="88900" y="38100"/>
                    <a:pt x="133350" y="0"/>
                  </a:cubicBezTo>
                </a:path>
              </a:pathLst>
            </a:custGeom>
            <a:noFill/>
            <a:ln w="14288">
              <a:solidFill>
                <a:srgbClr val="5B281F"/>
              </a:solidFill>
            </a:ln>
          </p:spPr>
        </p:sp>
      </p:grpSp>
      <p:grpSp>
        <p:nvGrpSpPr>
          <p:cNvPr id="182" name="journey-action"/>
          <p:cNvGrpSpPr/>
          <p:nvPr/>
        </p:nvGrpSpPr>
        <p:grpSpPr>
          <a:xfrm>
            <a:off x="447675" y="5562600"/>
            <a:ext cx="11344275" cy="962025"/>
            <a:chOff x="447675" y="5562600"/>
            <a:chExt cx="11344275" cy="962025"/>
          </a:xfrm>
        </p:grpSpPr>
        <p:sp>
          <p:nvSpPr>
            <p:cNvPr id="146" name="Rectangle 146"/>
            <p:cNvSpPr/>
            <p:nvPr/>
          </p:nvSpPr>
          <p:spPr>
            <a:xfrm>
              <a:off x="447675" y="5562600"/>
              <a:ext cx="1190625" cy="962025"/>
            </a:xfrm>
            <a:prstGeom prst="roundRect">
              <a:avLst>
                <a:gd name="adj" fmla="val 3960"/>
              </a:avLst>
            </a:prstGeom>
            <a:solidFill>
              <a:srgbClr val="C45F4A"/>
            </a:solidFill>
            <a:ln>
              <a:noFill/>
            </a:ln>
          </p:spPr>
        </p:sp>
        <p:sp>
          <p:nvSpPr>
            <p:cNvPr id="147" name="TextBox 147"/>
            <p:cNvSpPr txBox="1"/>
            <p:nvPr/>
          </p:nvSpPr>
          <p:spPr>
            <a:xfrm>
              <a:off x="901344" y="58764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服务</a:t>
              </a:r>
            </a:p>
          </p:txBody>
        </p:sp>
        <p:sp>
          <p:nvSpPr>
            <p:cNvPr id="148" name="TextBox 148"/>
            <p:cNvSpPr txBox="1"/>
            <p:nvPr/>
          </p:nvSpPr>
          <p:spPr>
            <a:xfrm>
              <a:off x="901344" y="60669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行为</a:t>
              </a:r>
            </a:p>
          </p:txBody>
        </p:sp>
        <p:sp>
          <p:nvSpPr>
            <p:cNvPr id="149" name="Rectangle 149"/>
            <p:cNvSpPr/>
            <p:nvPr/>
          </p:nvSpPr>
          <p:spPr>
            <a:xfrm>
              <a:off x="1809750" y="5562600"/>
              <a:ext cx="1914525" cy="962025"/>
            </a:xfrm>
            <a:prstGeom prst="roundRect">
              <a:avLst>
                <a:gd name="adj" fmla="val 3960"/>
              </a:avLst>
            </a:prstGeom>
            <a:solidFill>
              <a:srgbClr val="F6F7FC"/>
            </a:solidFill>
            <a:ln w="9525">
              <a:solidFill>
                <a:srgbClr val="E4E7F5"/>
              </a:solidFill>
            </a:ln>
          </p:spPr>
        </p:sp>
        <p:sp>
          <p:nvSpPr>
            <p:cNvPr id="150" name="Ellipse 150"/>
            <p:cNvSpPr/>
            <p:nvPr/>
          </p:nvSpPr>
          <p:spPr>
            <a:xfrm>
              <a:off x="1925955" y="5716905"/>
              <a:ext cx="34290" cy="34290"/>
            </a:xfrm>
            <a:prstGeom prst="ellipse">
              <a:avLst/>
            </a:prstGeom>
            <a:solidFill>
              <a:srgbClr val="8A90A5"/>
            </a:solidFill>
            <a:ln>
              <a:noFill/>
            </a:ln>
          </p:spPr>
        </p:sp>
        <p:sp>
          <p:nvSpPr>
            <p:cNvPr id="151" name="TextBox 151"/>
            <p:cNvSpPr txBox="1"/>
            <p:nvPr/>
          </p:nvSpPr>
          <p:spPr>
            <a:xfrm>
              <a:off x="1995488" y="5687139"/>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客户画像</a:t>
              </a:r>
            </a:p>
          </p:txBody>
        </p:sp>
        <p:sp>
          <p:nvSpPr>
            <p:cNvPr id="152" name="Ellipse 152"/>
            <p:cNvSpPr/>
            <p:nvPr/>
          </p:nvSpPr>
          <p:spPr>
            <a:xfrm>
              <a:off x="1925955" y="5897880"/>
              <a:ext cx="34290" cy="34290"/>
            </a:xfrm>
            <a:prstGeom prst="ellipse">
              <a:avLst/>
            </a:prstGeom>
            <a:solidFill>
              <a:srgbClr val="8A90A5"/>
            </a:solidFill>
            <a:ln>
              <a:noFill/>
            </a:ln>
          </p:spPr>
        </p:sp>
        <p:sp>
          <p:nvSpPr>
            <p:cNvPr id="153" name="TextBox 153"/>
            <p:cNvSpPr txBox="1"/>
            <p:nvPr/>
          </p:nvSpPr>
          <p:spPr>
            <a:xfrm>
              <a:off x="1995488" y="5868114"/>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线上营销</a:t>
              </a:r>
            </a:p>
          </p:txBody>
        </p:sp>
        <p:sp>
          <p:nvSpPr>
            <p:cNvPr id="154" name="Ellipse 154"/>
            <p:cNvSpPr/>
            <p:nvPr/>
          </p:nvSpPr>
          <p:spPr>
            <a:xfrm>
              <a:off x="1925955" y="6078855"/>
              <a:ext cx="34290" cy="34290"/>
            </a:xfrm>
            <a:prstGeom prst="ellipse">
              <a:avLst/>
            </a:prstGeom>
            <a:solidFill>
              <a:srgbClr val="8A90A5"/>
            </a:solidFill>
            <a:ln>
              <a:noFill/>
            </a:ln>
          </p:spPr>
        </p:sp>
        <p:sp>
          <p:nvSpPr>
            <p:cNvPr id="155" name="TextBox 155"/>
            <p:cNvSpPr txBox="1"/>
            <p:nvPr/>
          </p:nvSpPr>
          <p:spPr>
            <a:xfrm>
              <a:off x="1995488" y="6049089"/>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内容营销</a:t>
              </a:r>
            </a:p>
          </p:txBody>
        </p:sp>
        <p:sp>
          <p:nvSpPr>
            <p:cNvPr id="156" name="Ellipse 156"/>
            <p:cNvSpPr/>
            <p:nvPr/>
          </p:nvSpPr>
          <p:spPr>
            <a:xfrm>
              <a:off x="1925955" y="6259830"/>
              <a:ext cx="34290" cy="34290"/>
            </a:xfrm>
            <a:prstGeom prst="ellipse">
              <a:avLst/>
            </a:prstGeom>
            <a:solidFill>
              <a:srgbClr val="8A90A5"/>
            </a:solidFill>
            <a:ln>
              <a:noFill/>
            </a:ln>
          </p:spPr>
        </p:sp>
        <p:sp>
          <p:nvSpPr>
            <p:cNvPr id="157" name="TextBox 157"/>
            <p:cNvSpPr txBox="1"/>
            <p:nvPr/>
          </p:nvSpPr>
          <p:spPr>
            <a:xfrm>
              <a:off x="1995488" y="6230064"/>
              <a:ext cx="54127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落地页优化</a:t>
              </a:r>
            </a:p>
          </p:txBody>
        </p:sp>
        <p:sp>
          <p:nvSpPr>
            <p:cNvPr id="158" name="Rectangle 158"/>
            <p:cNvSpPr/>
            <p:nvPr/>
          </p:nvSpPr>
          <p:spPr>
            <a:xfrm>
              <a:off x="3800475" y="5562600"/>
              <a:ext cx="1895475" cy="962025"/>
            </a:xfrm>
            <a:prstGeom prst="roundRect">
              <a:avLst>
                <a:gd name="adj" fmla="val 3960"/>
              </a:avLst>
            </a:prstGeom>
            <a:solidFill>
              <a:srgbClr val="F6F7FC"/>
            </a:solidFill>
            <a:ln w="9525">
              <a:solidFill>
                <a:srgbClr val="E4E7F5"/>
              </a:solidFill>
            </a:ln>
          </p:spPr>
        </p:sp>
        <p:sp>
          <p:nvSpPr>
            <p:cNvPr id="159" name="Ellipse 159"/>
            <p:cNvSpPr/>
            <p:nvPr/>
          </p:nvSpPr>
          <p:spPr>
            <a:xfrm>
              <a:off x="3916680" y="5716905"/>
              <a:ext cx="34290" cy="34290"/>
            </a:xfrm>
            <a:prstGeom prst="ellipse">
              <a:avLst/>
            </a:prstGeom>
            <a:solidFill>
              <a:srgbClr val="8A90A5"/>
            </a:solidFill>
            <a:ln>
              <a:noFill/>
            </a:ln>
          </p:spPr>
        </p:sp>
        <p:sp>
          <p:nvSpPr>
            <p:cNvPr id="160" name="TextBox 160"/>
            <p:cNvSpPr txBox="1"/>
            <p:nvPr/>
          </p:nvSpPr>
          <p:spPr>
            <a:xfrm>
              <a:off x="3986212" y="5687139"/>
              <a:ext cx="75397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线索评估与分层</a:t>
              </a:r>
            </a:p>
          </p:txBody>
        </p:sp>
        <p:sp>
          <p:nvSpPr>
            <p:cNvPr id="161" name="Ellipse 161"/>
            <p:cNvSpPr/>
            <p:nvPr/>
          </p:nvSpPr>
          <p:spPr>
            <a:xfrm>
              <a:off x="3916680" y="5897880"/>
              <a:ext cx="34290" cy="34290"/>
            </a:xfrm>
            <a:prstGeom prst="ellipse">
              <a:avLst/>
            </a:prstGeom>
            <a:solidFill>
              <a:srgbClr val="8A90A5"/>
            </a:solidFill>
            <a:ln>
              <a:noFill/>
            </a:ln>
          </p:spPr>
        </p:sp>
        <p:sp>
          <p:nvSpPr>
            <p:cNvPr id="162" name="TextBox 162"/>
            <p:cNvSpPr txBox="1"/>
            <p:nvPr/>
          </p:nvSpPr>
          <p:spPr>
            <a:xfrm>
              <a:off x="3986212" y="5868114"/>
              <a:ext cx="96667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市场和销售部门协同</a:t>
              </a:r>
            </a:p>
          </p:txBody>
        </p:sp>
        <p:sp>
          <p:nvSpPr>
            <p:cNvPr id="163" name="Ellipse 163"/>
            <p:cNvSpPr/>
            <p:nvPr/>
          </p:nvSpPr>
          <p:spPr>
            <a:xfrm>
              <a:off x="3916680" y="6078855"/>
              <a:ext cx="34290" cy="34290"/>
            </a:xfrm>
            <a:prstGeom prst="ellipse">
              <a:avLst/>
            </a:prstGeom>
            <a:solidFill>
              <a:srgbClr val="8A90A5"/>
            </a:solidFill>
            <a:ln>
              <a:noFill/>
            </a:ln>
          </p:spPr>
        </p:sp>
        <p:sp>
          <p:nvSpPr>
            <p:cNvPr id="164" name="TextBox 164"/>
            <p:cNvSpPr txBox="1"/>
            <p:nvPr/>
          </p:nvSpPr>
          <p:spPr>
            <a:xfrm>
              <a:off x="3986212" y="6049089"/>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私域营销</a:t>
              </a:r>
            </a:p>
          </p:txBody>
        </p:sp>
        <p:sp>
          <p:nvSpPr>
            <p:cNvPr id="165" name="Rectangle 165"/>
            <p:cNvSpPr/>
            <p:nvPr/>
          </p:nvSpPr>
          <p:spPr>
            <a:xfrm>
              <a:off x="5781675" y="5562600"/>
              <a:ext cx="1914525" cy="962025"/>
            </a:xfrm>
            <a:prstGeom prst="roundRect">
              <a:avLst>
                <a:gd name="adj" fmla="val 3960"/>
              </a:avLst>
            </a:prstGeom>
            <a:solidFill>
              <a:srgbClr val="F6F7FC"/>
            </a:solidFill>
            <a:ln w="9525">
              <a:solidFill>
                <a:srgbClr val="E4E7F5"/>
              </a:solidFill>
            </a:ln>
          </p:spPr>
        </p:sp>
        <p:sp>
          <p:nvSpPr>
            <p:cNvPr id="166" name="Ellipse 166"/>
            <p:cNvSpPr/>
            <p:nvPr/>
          </p:nvSpPr>
          <p:spPr>
            <a:xfrm>
              <a:off x="5897880" y="5716905"/>
              <a:ext cx="34290" cy="34290"/>
            </a:xfrm>
            <a:prstGeom prst="ellipse">
              <a:avLst/>
            </a:prstGeom>
            <a:solidFill>
              <a:srgbClr val="8A90A5"/>
            </a:solidFill>
            <a:ln>
              <a:noFill/>
            </a:ln>
          </p:spPr>
        </p:sp>
        <p:sp>
          <p:nvSpPr>
            <p:cNvPr id="167" name="TextBox 167"/>
            <p:cNvSpPr txBox="1"/>
            <p:nvPr/>
          </p:nvSpPr>
          <p:spPr>
            <a:xfrm>
              <a:off x="5967412" y="5687139"/>
              <a:ext cx="6476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销售人员拜访</a:t>
              </a:r>
            </a:p>
          </p:txBody>
        </p:sp>
        <p:sp>
          <p:nvSpPr>
            <p:cNvPr id="168" name="Ellipse 168"/>
            <p:cNvSpPr/>
            <p:nvPr/>
          </p:nvSpPr>
          <p:spPr>
            <a:xfrm>
              <a:off x="5897880" y="5897880"/>
              <a:ext cx="34290" cy="34290"/>
            </a:xfrm>
            <a:prstGeom prst="ellipse">
              <a:avLst/>
            </a:prstGeom>
            <a:solidFill>
              <a:srgbClr val="8A90A5"/>
            </a:solidFill>
            <a:ln>
              <a:noFill/>
            </a:ln>
          </p:spPr>
        </p:sp>
        <p:sp>
          <p:nvSpPr>
            <p:cNvPr id="169" name="TextBox 169"/>
            <p:cNvSpPr txBox="1"/>
            <p:nvPr/>
          </p:nvSpPr>
          <p:spPr>
            <a:xfrm>
              <a:off x="5967412" y="5868114"/>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方案沟通</a:t>
              </a:r>
            </a:p>
          </p:txBody>
        </p:sp>
        <p:sp>
          <p:nvSpPr>
            <p:cNvPr id="170" name="Ellipse 170"/>
            <p:cNvSpPr/>
            <p:nvPr/>
          </p:nvSpPr>
          <p:spPr>
            <a:xfrm>
              <a:off x="5897880" y="6078855"/>
              <a:ext cx="34290" cy="34290"/>
            </a:xfrm>
            <a:prstGeom prst="ellipse">
              <a:avLst/>
            </a:prstGeom>
            <a:solidFill>
              <a:srgbClr val="8A90A5"/>
            </a:solidFill>
            <a:ln>
              <a:noFill/>
            </a:ln>
          </p:spPr>
        </p:sp>
        <p:sp>
          <p:nvSpPr>
            <p:cNvPr id="171" name="TextBox 171"/>
            <p:cNvSpPr txBox="1"/>
            <p:nvPr/>
          </p:nvSpPr>
          <p:spPr>
            <a:xfrm>
              <a:off x="5967412" y="6049089"/>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价格谈判</a:t>
              </a:r>
            </a:p>
          </p:txBody>
        </p:sp>
        <p:sp>
          <p:nvSpPr>
            <p:cNvPr id="172" name="Rectangle 172"/>
            <p:cNvSpPr/>
            <p:nvPr/>
          </p:nvSpPr>
          <p:spPr>
            <a:xfrm>
              <a:off x="7791450" y="5562600"/>
              <a:ext cx="1933575" cy="962025"/>
            </a:xfrm>
            <a:prstGeom prst="roundRect">
              <a:avLst>
                <a:gd name="adj" fmla="val 3960"/>
              </a:avLst>
            </a:prstGeom>
            <a:solidFill>
              <a:srgbClr val="F6F7FC"/>
            </a:solidFill>
            <a:ln w="9525">
              <a:solidFill>
                <a:srgbClr val="E4E7F5"/>
              </a:solidFill>
            </a:ln>
          </p:spPr>
        </p:sp>
        <p:sp>
          <p:nvSpPr>
            <p:cNvPr id="173" name="Ellipse 173"/>
            <p:cNvSpPr/>
            <p:nvPr/>
          </p:nvSpPr>
          <p:spPr>
            <a:xfrm>
              <a:off x="7907655" y="5716905"/>
              <a:ext cx="34290" cy="34290"/>
            </a:xfrm>
            <a:prstGeom prst="ellipse">
              <a:avLst/>
            </a:prstGeom>
            <a:solidFill>
              <a:srgbClr val="8A90A5"/>
            </a:solidFill>
            <a:ln>
              <a:noFill/>
            </a:ln>
          </p:spPr>
        </p:sp>
        <p:sp>
          <p:nvSpPr>
            <p:cNvPr id="174" name="TextBox 174"/>
            <p:cNvSpPr txBox="1"/>
            <p:nvPr/>
          </p:nvSpPr>
          <p:spPr>
            <a:xfrm>
              <a:off x="7977188" y="5687139"/>
              <a:ext cx="966673"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销售和技术部门协同</a:t>
              </a:r>
            </a:p>
          </p:txBody>
        </p:sp>
        <p:sp>
          <p:nvSpPr>
            <p:cNvPr id="175" name="Ellipse 175"/>
            <p:cNvSpPr/>
            <p:nvPr/>
          </p:nvSpPr>
          <p:spPr>
            <a:xfrm>
              <a:off x="7907655" y="5897880"/>
              <a:ext cx="34290" cy="34290"/>
            </a:xfrm>
            <a:prstGeom prst="ellipse">
              <a:avLst/>
            </a:prstGeom>
            <a:solidFill>
              <a:srgbClr val="8A90A5"/>
            </a:solidFill>
            <a:ln>
              <a:noFill/>
            </a:ln>
          </p:spPr>
        </p:sp>
        <p:sp>
          <p:nvSpPr>
            <p:cNvPr id="176" name="TextBox 176"/>
            <p:cNvSpPr txBox="1"/>
            <p:nvPr/>
          </p:nvSpPr>
          <p:spPr>
            <a:xfrm>
              <a:off x="7977188" y="5868114"/>
              <a:ext cx="75397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产品交付和实施</a:t>
              </a:r>
            </a:p>
          </p:txBody>
        </p:sp>
        <p:sp>
          <p:nvSpPr>
            <p:cNvPr id="177" name="Rectangle 177"/>
            <p:cNvSpPr/>
            <p:nvPr/>
          </p:nvSpPr>
          <p:spPr>
            <a:xfrm>
              <a:off x="9820275" y="5562600"/>
              <a:ext cx="1971675" cy="962025"/>
            </a:xfrm>
            <a:prstGeom prst="roundRect">
              <a:avLst>
                <a:gd name="adj" fmla="val 3960"/>
              </a:avLst>
            </a:prstGeom>
            <a:solidFill>
              <a:srgbClr val="F6F7FC"/>
            </a:solidFill>
            <a:ln w="9525">
              <a:solidFill>
                <a:srgbClr val="E4E7F5"/>
              </a:solidFill>
            </a:ln>
          </p:spPr>
        </p:sp>
        <p:sp>
          <p:nvSpPr>
            <p:cNvPr id="178" name="Ellipse 178"/>
            <p:cNvSpPr/>
            <p:nvPr/>
          </p:nvSpPr>
          <p:spPr>
            <a:xfrm>
              <a:off x="9936480" y="5716905"/>
              <a:ext cx="34290" cy="34290"/>
            </a:xfrm>
            <a:prstGeom prst="ellipse">
              <a:avLst/>
            </a:prstGeom>
            <a:solidFill>
              <a:srgbClr val="8A90A5"/>
            </a:solidFill>
            <a:ln>
              <a:noFill/>
            </a:ln>
          </p:spPr>
        </p:sp>
        <p:sp>
          <p:nvSpPr>
            <p:cNvPr id="179" name="TextBox 179"/>
            <p:cNvSpPr txBox="1"/>
            <p:nvPr/>
          </p:nvSpPr>
          <p:spPr>
            <a:xfrm>
              <a:off x="10006012" y="5687139"/>
              <a:ext cx="75397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客户问题与反应</a:t>
              </a:r>
            </a:p>
          </p:txBody>
        </p:sp>
        <p:sp>
          <p:nvSpPr>
            <p:cNvPr id="180" name="Ellipse 180"/>
            <p:cNvSpPr/>
            <p:nvPr/>
          </p:nvSpPr>
          <p:spPr>
            <a:xfrm>
              <a:off x="9936480" y="5897880"/>
              <a:ext cx="34290" cy="34290"/>
            </a:xfrm>
            <a:prstGeom prst="ellipse">
              <a:avLst/>
            </a:prstGeom>
            <a:solidFill>
              <a:srgbClr val="8A90A5"/>
            </a:solidFill>
            <a:ln>
              <a:noFill/>
            </a:ln>
          </p:spPr>
        </p:sp>
        <p:sp>
          <p:nvSpPr>
            <p:cNvPr id="181" name="TextBox 181"/>
            <p:cNvSpPr txBox="1"/>
            <p:nvPr/>
          </p:nvSpPr>
          <p:spPr>
            <a:xfrm>
              <a:off x="10006012" y="5868114"/>
              <a:ext cx="434924"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技术支持</a:t>
              </a:r>
            </a:p>
          </p:txBody>
        </p:sp>
      </p:gr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3041142" cy="440055"/>
            <a:chOff x="302895" y="214312"/>
            <a:chExt cx="3041142"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40.​</a:t>
              </a:r>
            </a:p>
          </p:txBody>
        </p:sp>
        <p:sp>
          <p:nvSpPr>
            <p:cNvPr id="3" name="TextBox 3"/>
            <p:cNvSpPr txBox="1"/>
            <p:nvPr/>
          </p:nvSpPr>
          <p:spPr>
            <a:xfrm>
              <a:off x="961644" y="246698"/>
              <a:ext cx="2382393"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运营策略与落地执行</a:t>
              </a:r>
            </a:p>
          </p:txBody>
        </p:sp>
      </p:grpSp>
      <p:grpSp>
        <p:nvGrpSpPr>
          <p:cNvPr id="45" name="col-content"/>
          <p:cNvGrpSpPr/>
          <p:nvPr/>
        </p:nvGrpSpPr>
        <p:grpSpPr>
          <a:xfrm>
            <a:off x="342900" y="1076325"/>
            <a:ext cx="3724275" cy="5467350"/>
            <a:chOff x="342900" y="1076325"/>
            <a:chExt cx="3724275" cy="5467350"/>
          </a:xfrm>
        </p:grpSpPr>
        <p:sp>
          <p:nvSpPr>
            <p:cNvPr id="5" name="Rectangle 5"/>
            <p:cNvSpPr/>
            <p:nvPr/>
          </p:nvSpPr>
          <p:spPr>
            <a:xfrm>
              <a:off x="342900" y="1076325"/>
              <a:ext cx="3724275" cy="5467350"/>
            </a:xfrm>
            <a:prstGeom prst="roundRect">
              <a:avLst>
                <a:gd name="adj" fmla="val 2558"/>
              </a:avLst>
            </a:prstGeom>
            <a:solidFill>
              <a:srgbClr val="FDF8F6"/>
            </a:solidFill>
            <a:ln w="9525">
              <a:solidFill>
                <a:srgbClr val="F3E3DE"/>
              </a:solidFill>
            </a:ln>
          </p:spPr>
        </p:sp>
        <p:sp>
          <p:nvSpPr>
            <p:cNvPr id="6" name="Rectangle 6"/>
            <p:cNvSpPr/>
            <p:nvPr/>
          </p:nvSpPr>
          <p:spPr>
            <a:xfrm>
              <a:off x="342900" y="1076325"/>
              <a:ext cx="3724275" cy="342900"/>
            </a:xfrm>
            <a:prstGeom prst="roundRect">
              <a:avLst>
                <a:gd name="adj" fmla="val 50000"/>
              </a:avLst>
            </a:prstGeom>
            <a:gradFill>
              <a:gsLst>
                <a:gs pos="0">
                  <a:srgbClr val="E5624C"/>
                </a:gs>
                <a:gs pos="100000">
                  <a:srgbClr val="F0998A"/>
                </a:gs>
              </a:gsLst>
              <a:lin ang="0" scaled="1"/>
            </a:gradFill>
            <a:ln>
              <a:noFill/>
            </a:ln>
          </p:spPr>
        </p:sp>
        <p:sp>
          <p:nvSpPr>
            <p:cNvPr id="7" name="TextBox 7"/>
            <p:cNvSpPr txBox="1"/>
            <p:nvPr/>
          </p:nvSpPr>
          <p:spPr>
            <a:xfrm>
              <a:off x="1628775" y="1184910"/>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内容种草建心智</a:t>
              </a:r>
            </a:p>
          </p:txBody>
        </p:sp>
        <p:sp>
          <p:nvSpPr>
            <p:cNvPr id="8" name="TextBox 8"/>
            <p:cNvSpPr txBox="1"/>
            <p:nvPr/>
          </p:nvSpPr>
          <p:spPr>
            <a:xfrm>
              <a:off x="614362" y="1701641"/>
              <a:ext cx="2217293"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通过线上线下多触点组合，向目标人群渗透优</a:t>
              </a:r>
            </a:p>
          </p:txBody>
        </p:sp>
        <p:sp>
          <p:nvSpPr>
            <p:cNvPr id="9" name="TextBox 9"/>
            <p:cNvSpPr txBox="1"/>
            <p:nvPr/>
          </p:nvSpPr>
          <p:spPr>
            <a:xfrm>
              <a:off x="614362" y="1873091"/>
              <a:ext cx="2250410"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质内容；再结合导购企微与公众 号，将公域流</a:t>
              </a:r>
            </a:p>
          </p:txBody>
        </p:sp>
        <p:sp>
          <p:nvSpPr>
            <p:cNvPr id="10" name="TextBox 10"/>
            <p:cNvSpPr txBox="1"/>
            <p:nvPr/>
          </p:nvSpPr>
          <p:spPr>
            <a:xfrm>
              <a:off x="614362" y="2044541"/>
              <a:ext cx="892632"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量沉淀到品牌私域</a:t>
              </a:r>
            </a:p>
          </p:txBody>
        </p:sp>
        <p:sp>
          <p:nvSpPr>
            <p:cNvPr id="11" name="Rectangle 11"/>
            <p:cNvSpPr/>
            <p:nvPr/>
          </p:nvSpPr>
          <p:spPr>
            <a:xfrm>
              <a:off x="619125" y="2543175"/>
              <a:ext cx="3219450" cy="266700"/>
            </a:xfrm>
            <a:prstGeom prst="rect">
              <a:avLst/>
            </a:prstGeom>
            <a:solidFill>
              <a:srgbClr val="E5624C"/>
            </a:solidFill>
            <a:ln>
              <a:noFill/>
            </a:ln>
          </p:spPr>
        </p:sp>
        <p:sp>
          <p:nvSpPr>
            <p:cNvPr id="12" name="TextBox 12"/>
            <p:cNvSpPr txBox="1"/>
            <p:nvPr/>
          </p:nvSpPr>
          <p:spPr>
            <a:xfrm>
              <a:off x="1630223" y="2618899"/>
              <a:ext cx="119725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线上线下多触点引流</a:t>
              </a:r>
            </a:p>
          </p:txBody>
        </p:sp>
        <p:sp>
          <p:nvSpPr>
            <p:cNvPr id="13" name="Freeform 13"/>
            <p:cNvSpPr/>
            <p:nvPr/>
          </p:nvSpPr>
          <p:spPr>
            <a:xfrm>
              <a:off x="1123950" y="3352800"/>
              <a:ext cx="2009775" cy="733425"/>
            </a:xfrm>
            <a:custGeom>
              <a:avLst/>
              <a:gdLst/>
              <a:ahLst/>
              <a:cxnLst/>
              <a:rect l="l" t="t" r="r" b="b"/>
              <a:pathLst>
                <a:path w="2009775" h="733425">
                  <a:moveTo>
                    <a:pt x="1133475" y="485775"/>
                  </a:moveTo>
                  <a:lnTo>
                    <a:pt x="419100" y="0"/>
                  </a:lnTo>
                  <a:moveTo>
                    <a:pt x="1133475" y="485775"/>
                  </a:moveTo>
                  <a:lnTo>
                    <a:pt x="1790700" y="0"/>
                  </a:lnTo>
                  <a:moveTo>
                    <a:pt x="1133475" y="485775"/>
                  </a:moveTo>
                  <a:lnTo>
                    <a:pt x="0" y="619125"/>
                  </a:lnTo>
                  <a:moveTo>
                    <a:pt x="1133475" y="485775"/>
                  </a:moveTo>
                  <a:lnTo>
                    <a:pt x="2009775" y="733425"/>
                  </a:lnTo>
                </a:path>
              </a:pathLst>
            </a:custGeom>
            <a:noFill/>
            <a:ln w="14288">
              <a:solidFill>
                <a:srgbClr val="ED8776"/>
              </a:solidFill>
              <a:custDash>
                <a:ds d="200000" sp="200000"/>
              </a:custDash>
            </a:ln>
          </p:spPr>
        </p:sp>
        <p:sp>
          <p:nvSpPr>
            <p:cNvPr id="14" name="Ellipse 14"/>
            <p:cNvSpPr/>
            <p:nvPr/>
          </p:nvSpPr>
          <p:spPr>
            <a:xfrm>
              <a:off x="1866900" y="3562350"/>
              <a:ext cx="76200" cy="76200"/>
            </a:xfrm>
            <a:prstGeom prst="ellipse">
              <a:avLst/>
            </a:prstGeom>
            <a:solidFill>
              <a:srgbClr val="E5624C"/>
            </a:solidFill>
            <a:ln>
              <a:noFill/>
            </a:ln>
          </p:spPr>
        </p:sp>
        <p:sp>
          <p:nvSpPr>
            <p:cNvPr id="15" name="Ellipse 15"/>
            <p:cNvSpPr/>
            <p:nvPr/>
          </p:nvSpPr>
          <p:spPr>
            <a:xfrm>
              <a:off x="2552700" y="3562350"/>
              <a:ext cx="76200" cy="76200"/>
            </a:xfrm>
            <a:prstGeom prst="ellipse">
              <a:avLst/>
            </a:prstGeom>
            <a:solidFill>
              <a:srgbClr val="E5624C"/>
            </a:solidFill>
            <a:ln>
              <a:noFill/>
            </a:ln>
          </p:spPr>
        </p:sp>
        <p:sp>
          <p:nvSpPr>
            <p:cNvPr id="16" name="Ellipse 16"/>
            <p:cNvSpPr/>
            <p:nvPr/>
          </p:nvSpPr>
          <p:spPr>
            <a:xfrm>
              <a:off x="1657350" y="3867150"/>
              <a:ext cx="76200" cy="76200"/>
            </a:xfrm>
            <a:prstGeom prst="ellipse">
              <a:avLst/>
            </a:prstGeom>
            <a:solidFill>
              <a:srgbClr val="E5624C"/>
            </a:solidFill>
            <a:ln>
              <a:noFill/>
            </a:ln>
          </p:spPr>
        </p:sp>
        <p:sp>
          <p:nvSpPr>
            <p:cNvPr id="17" name="Ellipse 17"/>
            <p:cNvSpPr/>
            <p:nvPr/>
          </p:nvSpPr>
          <p:spPr>
            <a:xfrm>
              <a:off x="2657475" y="3924300"/>
              <a:ext cx="76200" cy="76200"/>
            </a:xfrm>
            <a:prstGeom prst="ellipse">
              <a:avLst/>
            </a:prstGeom>
            <a:solidFill>
              <a:srgbClr val="E5624C"/>
            </a:solidFill>
            <a:ln>
              <a:noFill/>
            </a:ln>
          </p:spPr>
        </p:sp>
        <p:sp>
          <p:nvSpPr>
            <p:cNvPr id="18" name="Ellipse 18"/>
            <p:cNvSpPr/>
            <p:nvPr/>
          </p:nvSpPr>
          <p:spPr>
            <a:xfrm>
              <a:off x="2181225" y="3295650"/>
              <a:ext cx="76200" cy="76200"/>
            </a:xfrm>
            <a:prstGeom prst="ellipse">
              <a:avLst/>
            </a:prstGeom>
            <a:solidFill>
              <a:srgbClr val="E5624C"/>
            </a:solidFill>
            <a:ln>
              <a:noFill/>
            </a:ln>
          </p:spPr>
        </p:sp>
        <p:sp>
          <p:nvSpPr>
            <p:cNvPr id="19" name="Ellipse 19"/>
            <p:cNvSpPr/>
            <p:nvPr/>
          </p:nvSpPr>
          <p:spPr>
            <a:xfrm>
              <a:off x="1895475" y="3476625"/>
              <a:ext cx="723900" cy="723900"/>
            </a:xfrm>
            <a:prstGeom prst="ellipse">
              <a:avLst/>
            </a:prstGeom>
            <a:solidFill>
              <a:srgbClr val="FDF0EC"/>
            </a:solidFill>
            <a:ln w="14288">
              <a:solidFill>
                <a:srgbClr val="ED8776"/>
              </a:solidFill>
            </a:ln>
          </p:spPr>
        </p:sp>
        <p:sp>
          <p:nvSpPr>
            <p:cNvPr id="20" name="TextBox 20"/>
            <p:cNvSpPr txBox="1"/>
            <p:nvPr/>
          </p:nvSpPr>
          <p:spPr>
            <a:xfrm>
              <a:off x="2131504" y="3722370"/>
              <a:ext cx="251841"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专柜</a:t>
              </a:r>
            </a:p>
          </p:txBody>
        </p:sp>
        <p:sp>
          <p:nvSpPr>
            <p:cNvPr id="21" name="TextBox 21"/>
            <p:cNvSpPr txBox="1"/>
            <p:nvPr/>
          </p:nvSpPr>
          <p:spPr>
            <a:xfrm>
              <a:off x="2131504" y="3874770"/>
              <a:ext cx="251841"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导购</a:t>
              </a:r>
            </a:p>
          </p:txBody>
        </p:sp>
        <p:sp>
          <p:nvSpPr>
            <p:cNvPr id="22" name="Ellipse 22"/>
            <p:cNvSpPr/>
            <p:nvPr/>
          </p:nvSpPr>
          <p:spPr>
            <a:xfrm>
              <a:off x="1276350" y="3086100"/>
              <a:ext cx="533400" cy="533400"/>
            </a:xfrm>
            <a:prstGeom prst="ellipse">
              <a:avLst/>
            </a:prstGeom>
            <a:solidFill>
              <a:srgbClr val="FFFFFF"/>
            </a:solidFill>
            <a:ln w="14288">
              <a:solidFill>
                <a:srgbClr val="ED8776"/>
              </a:solidFill>
            </a:ln>
          </p:spPr>
        </p:sp>
        <p:sp>
          <p:nvSpPr>
            <p:cNvPr id="23" name="TextBox 23"/>
            <p:cNvSpPr txBox="1"/>
            <p:nvPr/>
          </p:nvSpPr>
          <p:spPr>
            <a:xfrm>
              <a:off x="1372542" y="3248739"/>
              <a:ext cx="341015" cy="154781"/>
            </a:xfrm>
            <a:prstGeom prst="rect">
              <a:avLst/>
            </a:prstGeom>
            <a:noFill/>
            <a:ln>
              <a:noFill/>
            </a:ln>
          </p:spPr>
          <p:txBody>
            <a:bodyPr wrap="none" lIns="0" tIns="0" rIns="0" bIns="0" anchor="t" anchorCtr="0">
              <a:spAutoFit/>
            </a:bodyPr>
            <a:lstStyle/>
            <a:p>
              <a:pPr algn="ctr"/>
              <a:r>
                <a:rPr lang="en-US" sz="790" dirty="0">
                  <a:solidFill>
                    <a:srgbClr val="523F3B"/>
                  </a:solidFill>
                  <a:latin typeface="+mn-lt"/>
                  <a:ea typeface="+mn-ea"/>
                  <a:cs typeface="+mn-cs"/>
                </a:rPr>
                <a:t>KOL/​</a:t>
              </a:r>
            </a:p>
          </p:txBody>
        </p:sp>
        <p:sp>
          <p:nvSpPr>
            <p:cNvPr id="24" name="TextBox 24"/>
            <p:cNvSpPr txBox="1"/>
            <p:nvPr/>
          </p:nvSpPr>
          <p:spPr>
            <a:xfrm>
              <a:off x="1423309" y="3382089"/>
              <a:ext cx="239481" cy="154781"/>
            </a:xfrm>
            <a:prstGeom prst="rect">
              <a:avLst/>
            </a:prstGeom>
            <a:noFill/>
            <a:ln>
              <a:noFill/>
            </a:ln>
          </p:spPr>
          <p:txBody>
            <a:bodyPr wrap="none" lIns="0" tIns="0" rIns="0" bIns="0" anchor="t" anchorCtr="0">
              <a:spAutoFit/>
            </a:bodyPr>
            <a:lstStyle/>
            <a:p>
              <a:pPr algn="ctr"/>
              <a:r>
                <a:rPr lang="zh-CN" sz="790" dirty="0">
                  <a:solidFill>
                    <a:srgbClr val="523F3B"/>
                  </a:solidFill>
                  <a:latin typeface="+mn-lt"/>
                  <a:ea typeface="+mn-ea"/>
                  <a:cs typeface="+mn-cs"/>
                </a:rPr>
                <a:t>大V​</a:t>
              </a:r>
            </a:p>
          </p:txBody>
        </p:sp>
        <p:sp>
          <p:nvSpPr>
            <p:cNvPr id="25" name="Ellipse 25"/>
            <p:cNvSpPr/>
            <p:nvPr/>
          </p:nvSpPr>
          <p:spPr>
            <a:xfrm>
              <a:off x="2647950" y="3086100"/>
              <a:ext cx="533400" cy="533400"/>
            </a:xfrm>
            <a:prstGeom prst="ellipse">
              <a:avLst/>
            </a:prstGeom>
            <a:solidFill>
              <a:srgbClr val="FFFFFF"/>
            </a:solidFill>
            <a:ln w="14288">
              <a:solidFill>
                <a:srgbClr val="ED8776"/>
              </a:solidFill>
            </a:ln>
          </p:spPr>
        </p:sp>
        <p:sp>
          <p:nvSpPr>
            <p:cNvPr id="26" name="TextBox 26"/>
            <p:cNvSpPr txBox="1"/>
            <p:nvPr/>
          </p:nvSpPr>
          <p:spPr>
            <a:xfrm>
              <a:off x="2750363" y="3315414"/>
              <a:ext cx="328574" cy="154781"/>
            </a:xfrm>
            <a:prstGeom prst="rect">
              <a:avLst/>
            </a:prstGeom>
            <a:noFill/>
            <a:ln>
              <a:noFill/>
            </a:ln>
          </p:spPr>
          <p:txBody>
            <a:bodyPr wrap="none" lIns="0" tIns="0" rIns="0" bIns="0" anchor="t" anchorCtr="0">
              <a:spAutoFit/>
            </a:bodyPr>
            <a:lstStyle/>
            <a:p>
              <a:pPr algn="ctr"/>
              <a:r>
                <a:rPr lang="zh-CN" sz="790" dirty="0">
                  <a:solidFill>
                    <a:srgbClr val="523F3B"/>
                  </a:solidFill>
                  <a:latin typeface="+mn-lt"/>
                  <a:ea typeface="+mn-ea"/>
                  <a:cs typeface="+mn-cs"/>
                </a:rPr>
                <a:t>视频号</a:t>
              </a:r>
            </a:p>
          </p:txBody>
        </p:sp>
        <p:sp>
          <p:nvSpPr>
            <p:cNvPr id="27" name="Ellipse 27"/>
            <p:cNvSpPr/>
            <p:nvPr/>
          </p:nvSpPr>
          <p:spPr>
            <a:xfrm>
              <a:off x="857250" y="3705225"/>
              <a:ext cx="533400" cy="533400"/>
            </a:xfrm>
            <a:prstGeom prst="ellipse">
              <a:avLst/>
            </a:prstGeom>
            <a:solidFill>
              <a:srgbClr val="FFFFFF"/>
            </a:solidFill>
            <a:ln w="14288">
              <a:solidFill>
                <a:srgbClr val="ED8776"/>
              </a:solidFill>
            </a:ln>
          </p:spPr>
        </p:sp>
        <p:sp>
          <p:nvSpPr>
            <p:cNvPr id="28" name="TextBox 28"/>
            <p:cNvSpPr txBox="1"/>
            <p:nvPr/>
          </p:nvSpPr>
          <p:spPr>
            <a:xfrm>
              <a:off x="1012838" y="3858339"/>
              <a:ext cx="222225" cy="154781"/>
            </a:xfrm>
            <a:prstGeom prst="rect">
              <a:avLst/>
            </a:prstGeom>
            <a:noFill/>
            <a:ln>
              <a:noFill/>
            </a:ln>
          </p:spPr>
          <p:txBody>
            <a:bodyPr wrap="none" lIns="0" tIns="0" rIns="0" bIns="0" anchor="t" anchorCtr="0">
              <a:spAutoFit/>
            </a:bodyPr>
            <a:lstStyle/>
            <a:p>
              <a:pPr algn="ctr"/>
              <a:r>
                <a:rPr lang="zh-CN" sz="790" dirty="0">
                  <a:solidFill>
                    <a:srgbClr val="523F3B"/>
                  </a:solidFill>
                  <a:latin typeface="+mn-lt"/>
                  <a:ea typeface="+mn-ea"/>
                  <a:cs typeface="+mn-cs"/>
                </a:rPr>
                <a:t>线下</a:t>
              </a:r>
            </a:p>
          </p:txBody>
        </p:sp>
        <p:sp>
          <p:nvSpPr>
            <p:cNvPr id="29" name="TextBox 29"/>
            <p:cNvSpPr txBox="1"/>
            <p:nvPr/>
          </p:nvSpPr>
          <p:spPr>
            <a:xfrm>
              <a:off x="959663" y="3991689"/>
              <a:ext cx="328574" cy="154781"/>
            </a:xfrm>
            <a:prstGeom prst="rect">
              <a:avLst/>
            </a:prstGeom>
            <a:noFill/>
            <a:ln>
              <a:noFill/>
            </a:ln>
          </p:spPr>
          <p:txBody>
            <a:bodyPr wrap="none" lIns="0" tIns="0" rIns="0" bIns="0" anchor="t" anchorCtr="0">
              <a:spAutoFit/>
            </a:bodyPr>
            <a:lstStyle/>
            <a:p>
              <a:pPr algn="ctr"/>
              <a:r>
                <a:rPr lang="zh-CN" sz="790" dirty="0">
                  <a:solidFill>
                    <a:srgbClr val="523F3B"/>
                  </a:solidFill>
                  <a:latin typeface="+mn-lt"/>
                  <a:ea typeface="+mn-ea"/>
                  <a:cs typeface="+mn-cs"/>
                </a:rPr>
                <a:t>派样品</a:t>
              </a:r>
            </a:p>
          </p:txBody>
        </p:sp>
        <p:sp>
          <p:nvSpPr>
            <p:cNvPr id="30" name="Ellipse 30"/>
            <p:cNvSpPr/>
            <p:nvPr/>
          </p:nvSpPr>
          <p:spPr>
            <a:xfrm>
              <a:off x="2867025" y="3819525"/>
              <a:ext cx="533400" cy="533400"/>
            </a:xfrm>
            <a:prstGeom prst="ellipse">
              <a:avLst/>
            </a:prstGeom>
            <a:solidFill>
              <a:srgbClr val="FFFFFF"/>
            </a:solidFill>
            <a:ln w="14288">
              <a:solidFill>
                <a:srgbClr val="ED8776"/>
              </a:solidFill>
            </a:ln>
          </p:spPr>
        </p:sp>
        <p:sp>
          <p:nvSpPr>
            <p:cNvPr id="31" name="TextBox 31"/>
            <p:cNvSpPr txBox="1"/>
            <p:nvPr/>
          </p:nvSpPr>
          <p:spPr>
            <a:xfrm>
              <a:off x="3022613" y="3972639"/>
              <a:ext cx="222225" cy="154781"/>
            </a:xfrm>
            <a:prstGeom prst="rect">
              <a:avLst/>
            </a:prstGeom>
            <a:noFill/>
            <a:ln>
              <a:noFill/>
            </a:ln>
          </p:spPr>
          <p:txBody>
            <a:bodyPr wrap="none" lIns="0" tIns="0" rIns="0" bIns="0" anchor="t" anchorCtr="0">
              <a:spAutoFit/>
            </a:bodyPr>
            <a:lstStyle/>
            <a:p>
              <a:pPr algn="ctr"/>
              <a:r>
                <a:rPr lang="zh-CN" sz="790" dirty="0">
                  <a:solidFill>
                    <a:srgbClr val="523F3B"/>
                  </a:solidFill>
                  <a:latin typeface="+mn-lt"/>
                  <a:ea typeface="+mn-ea"/>
                  <a:cs typeface="+mn-cs"/>
                </a:rPr>
                <a:t>线下</a:t>
              </a:r>
            </a:p>
          </p:txBody>
        </p:sp>
        <p:sp>
          <p:nvSpPr>
            <p:cNvPr id="32" name="TextBox 32"/>
            <p:cNvSpPr txBox="1"/>
            <p:nvPr/>
          </p:nvSpPr>
          <p:spPr>
            <a:xfrm>
              <a:off x="3022613" y="4105989"/>
              <a:ext cx="222225" cy="154781"/>
            </a:xfrm>
            <a:prstGeom prst="rect">
              <a:avLst/>
            </a:prstGeom>
            <a:noFill/>
            <a:ln>
              <a:noFill/>
            </a:ln>
          </p:spPr>
          <p:txBody>
            <a:bodyPr wrap="none" lIns="0" tIns="0" rIns="0" bIns="0" anchor="t" anchorCtr="0">
              <a:spAutoFit/>
            </a:bodyPr>
            <a:lstStyle/>
            <a:p>
              <a:pPr algn="ctr"/>
              <a:r>
                <a:rPr lang="zh-CN" sz="790" dirty="0">
                  <a:solidFill>
                    <a:srgbClr val="523F3B"/>
                  </a:solidFill>
                  <a:latin typeface="+mn-lt"/>
                  <a:ea typeface="+mn-ea"/>
                  <a:cs typeface="+mn-cs"/>
                </a:rPr>
                <a:t>活动</a:t>
              </a:r>
            </a:p>
          </p:txBody>
        </p:sp>
        <p:sp>
          <p:nvSpPr>
            <p:cNvPr id="33" name="Rectangle 33"/>
            <p:cNvSpPr/>
            <p:nvPr/>
          </p:nvSpPr>
          <p:spPr>
            <a:xfrm>
              <a:off x="619125" y="4829175"/>
              <a:ext cx="3219450" cy="266700"/>
            </a:xfrm>
            <a:prstGeom prst="rect">
              <a:avLst/>
            </a:prstGeom>
            <a:solidFill>
              <a:srgbClr val="E5624C"/>
            </a:solidFill>
            <a:ln>
              <a:noFill/>
            </a:ln>
          </p:spPr>
        </p:sp>
        <p:sp>
          <p:nvSpPr>
            <p:cNvPr id="34" name="TextBox 34"/>
            <p:cNvSpPr txBox="1"/>
            <p:nvPr/>
          </p:nvSpPr>
          <p:spPr>
            <a:xfrm>
              <a:off x="1828114" y="490489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进入品牌私域</a:t>
              </a:r>
            </a:p>
          </p:txBody>
        </p:sp>
        <p:sp>
          <p:nvSpPr>
            <p:cNvPr id="35" name="Rectangle 35"/>
            <p:cNvSpPr/>
            <p:nvPr/>
          </p:nvSpPr>
          <p:spPr>
            <a:xfrm>
              <a:off x="619125" y="5191125"/>
              <a:ext cx="1524000" cy="1133475"/>
            </a:xfrm>
            <a:prstGeom prst="rect">
              <a:avLst/>
            </a:prstGeom>
            <a:solidFill>
              <a:srgbClr val="FFFFFF"/>
            </a:solidFill>
            <a:ln w="9525">
              <a:solidFill>
                <a:srgbClr val="F0C0B8"/>
              </a:solidFill>
            </a:ln>
          </p:spPr>
        </p:sp>
        <p:sp>
          <p:nvSpPr>
            <p:cNvPr id="36" name="Freeform 36"/>
            <p:cNvSpPr/>
            <p:nvPr/>
          </p:nvSpPr>
          <p:spPr>
            <a:xfrm>
              <a:off x="1221994" y="5404247"/>
              <a:ext cx="316929" cy="280940"/>
            </a:xfrm>
            <a:custGeom>
              <a:avLst/>
              <a:gdLst/>
              <a:ahLst/>
              <a:cxnLst/>
              <a:rect l="l" t="t" r="r" b="b"/>
              <a:pathLst>
                <a:path w="316929" h="280940">
                  <a:moveTo>
                    <a:pt x="16256" y="266304"/>
                  </a:moveTo>
                  <a:lnTo>
                    <a:pt x="36894" y="204391"/>
                  </a:lnTo>
                  <a:cubicBezTo>
                    <a:pt x="0" y="149829"/>
                    <a:pt x="14256" y="79423"/>
                    <a:pt x="70231" y="39703"/>
                  </a:cubicBezTo>
                  <a:cubicBezTo>
                    <a:pt x="126207" y="0"/>
                    <a:pt x="206598" y="3254"/>
                    <a:pt x="258271" y="47323"/>
                  </a:cubicBezTo>
                  <a:cubicBezTo>
                    <a:pt x="309944" y="91408"/>
                    <a:pt x="316929" y="162671"/>
                    <a:pt x="274606" y="214027"/>
                  </a:cubicBezTo>
                  <a:cubicBezTo>
                    <a:pt x="232283" y="265383"/>
                    <a:pt x="153718" y="280940"/>
                    <a:pt x="90869" y="250429"/>
                  </a:cubicBezTo>
                  <a:lnTo>
                    <a:pt x="16256" y="266304"/>
                  </a:lnTo>
                </a:path>
              </a:pathLst>
            </a:custGeom>
            <a:noFill/>
            <a:ln w="31750">
              <a:solidFill>
                <a:srgbClr val="ED8776"/>
              </a:solidFill>
            </a:ln>
          </p:spPr>
        </p:sp>
        <p:sp>
          <p:nvSpPr>
            <p:cNvPr id="37" name="TextBox 37"/>
            <p:cNvSpPr txBox="1"/>
            <p:nvPr/>
          </p:nvSpPr>
          <p:spPr>
            <a:xfrm>
              <a:off x="996734" y="6042422"/>
              <a:ext cx="768782" cy="183356"/>
            </a:xfrm>
            <a:prstGeom prst="rect">
              <a:avLst/>
            </a:prstGeom>
            <a:noFill/>
            <a:ln>
              <a:noFill/>
            </a:ln>
          </p:spPr>
          <p:txBody>
            <a:bodyPr wrap="none" lIns="0" tIns="0" rIns="0" bIns="0" anchor="t" anchorCtr="0">
              <a:spAutoFit/>
            </a:bodyPr>
            <a:lstStyle/>
            <a:p>
              <a:pPr algn="ctr"/>
              <a:r>
                <a:rPr lang="zh-CN" sz="940" dirty="0">
                  <a:solidFill>
                    <a:srgbClr val="523F3B"/>
                  </a:solidFill>
                  <a:latin typeface="+mn-lt"/>
                  <a:ea typeface="+mn-ea"/>
                  <a:cs typeface="+mn-cs"/>
                </a:rPr>
                <a:t>添加导购企微</a:t>
              </a:r>
            </a:p>
          </p:txBody>
        </p:sp>
        <p:sp>
          <p:nvSpPr>
            <p:cNvPr id="38" name="Rectangle 38"/>
            <p:cNvSpPr/>
            <p:nvPr/>
          </p:nvSpPr>
          <p:spPr>
            <a:xfrm>
              <a:off x="2314575" y="5191125"/>
              <a:ext cx="1524000" cy="1133475"/>
            </a:xfrm>
            <a:prstGeom prst="rect">
              <a:avLst/>
            </a:prstGeom>
            <a:solidFill>
              <a:srgbClr val="FFFFFF"/>
            </a:solidFill>
            <a:ln w="9525">
              <a:solidFill>
                <a:srgbClr val="F0C0B8"/>
              </a:solidFill>
            </a:ln>
          </p:spPr>
        </p:sp>
        <p:grpSp>
          <p:nvGrpSpPr>
            <p:cNvPr id="43" name="Group 43"/>
            <p:cNvGrpSpPr/>
            <p:nvPr/>
          </p:nvGrpSpPr>
          <p:grpSpPr>
            <a:xfrm>
              <a:off x="2933700" y="5400675"/>
              <a:ext cx="285751" cy="285751"/>
              <a:chOff x="2933700" y="5400675"/>
              <a:chExt cx="285751" cy="285751"/>
            </a:xfrm>
          </p:grpSpPr>
          <p:sp>
            <p:nvSpPr>
              <p:cNvPr id="39" name="Freeform 39"/>
              <p:cNvSpPr/>
              <p:nvPr/>
            </p:nvSpPr>
            <p:spPr>
              <a:xfrm>
                <a:off x="2965450" y="54006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31750">
                <a:solidFill>
                  <a:srgbClr val="ED8776"/>
                </a:solidFill>
              </a:ln>
            </p:spPr>
          </p:sp>
          <p:sp>
            <p:nvSpPr>
              <p:cNvPr id="40" name="Freeform 40"/>
              <p:cNvSpPr/>
              <p:nvPr/>
            </p:nvSpPr>
            <p:spPr>
              <a:xfrm>
                <a:off x="2933700" y="5591175"/>
                <a:ext cx="190500" cy="95250"/>
              </a:xfrm>
              <a:custGeom>
                <a:avLst/>
                <a:gdLst/>
                <a:ahLst/>
                <a:cxnLst/>
                <a:rect l="l" t="t" r="r" b="b"/>
                <a:pathLst>
                  <a:path w="190500" h="95250">
                    <a:moveTo>
                      <a:pt x="0" y="95250"/>
                    </a:moveTo>
                    <a:lnTo>
                      <a:pt x="0" y="63500"/>
                    </a:lnTo>
                    <a:cubicBezTo>
                      <a:pt x="0" y="28430"/>
                      <a:pt x="28430" y="0"/>
                      <a:pt x="63500" y="0"/>
                    </a:cubicBezTo>
                    <a:lnTo>
                      <a:pt x="127000" y="0"/>
                    </a:lnTo>
                    <a:cubicBezTo>
                      <a:pt x="162070" y="0"/>
                      <a:pt x="190500" y="28430"/>
                      <a:pt x="190500" y="63500"/>
                    </a:cubicBezTo>
                    <a:lnTo>
                      <a:pt x="190500" y="95250"/>
                    </a:lnTo>
                  </a:path>
                </a:pathLst>
              </a:custGeom>
              <a:noFill/>
              <a:ln w="31750">
                <a:solidFill>
                  <a:srgbClr val="ED8776"/>
                </a:solidFill>
              </a:ln>
            </p:spPr>
          </p:sp>
          <p:sp>
            <p:nvSpPr>
              <p:cNvPr id="41" name="Freeform 41"/>
              <p:cNvSpPr/>
              <p:nvPr/>
            </p:nvSpPr>
            <p:spPr>
              <a:xfrm>
                <a:off x="3140076" y="5402739"/>
                <a:ext cx="47750" cy="123031"/>
              </a:xfrm>
              <a:custGeom>
                <a:avLst/>
                <a:gdLst/>
                <a:ahLst/>
                <a:cxnLst/>
                <a:rect l="l" t="t" r="r" b="b"/>
                <a:pathLst>
                  <a:path w="47750" h="123031">
                    <a:moveTo>
                      <a:pt x="0" y="0"/>
                    </a:moveTo>
                    <a:cubicBezTo>
                      <a:pt x="28097" y="7194"/>
                      <a:pt x="47750" y="32512"/>
                      <a:pt x="47750" y="61516"/>
                    </a:cubicBezTo>
                    <a:cubicBezTo>
                      <a:pt x="47750" y="90520"/>
                      <a:pt x="28097" y="115837"/>
                      <a:pt x="0" y="123031"/>
                    </a:cubicBezTo>
                  </a:path>
                </a:pathLst>
              </a:custGeom>
              <a:noFill/>
              <a:ln w="31750">
                <a:solidFill>
                  <a:srgbClr val="ED8776"/>
                </a:solidFill>
              </a:ln>
            </p:spPr>
          </p:sp>
          <p:sp>
            <p:nvSpPr>
              <p:cNvPr id="42" name="Freeform 42"/>
              <p:cNvSpPr/>
              <p:nvPr/>
            </p:nvSpPr>
            <p:spPr>
              <a:xfrm>
                <a:off x="3171826" y="5593557"/>
                <a:ext cx="47625" cy="92869"/>
              </a:xfrm>
              <a:custGeom>
                <a:avLst/>
                <a:gdLst/>
                <a:ahLst/>
                <a:cxnLst/>
                <a:rect l="l" t="t" r="r" b="b"/>
                <a:pathLst>
                  <a:path w="47625" h="92869">
                    <a:moveTo>
                      <a:pt x="47625" y="92869"/>
                    </a:moveTo>
                    <a:lnTo>
                      <a:pt x="47625" y="61119"/>
                    </a:lnTo>
                    <a:cubicBezTo>
                      <a:pt x="47459" y="32299"/>
                      <a:pt x="27905" y="7205"/>
                      <a:pt x="0" y="0"/>
                    </a:cubicBezTo>
                  </a:path>
                </a:pathLst>
              </a:custGeom>
              <a:noFill/>
              <a:ln w="31750">
                <a:solidFill>
                  <a:srgbClr val="ED8776"/>
                </a:solidFill>
              </a:ln>
            </p:spPr>
          </p:sp>
        </p:grpSp>
        <p:sp>
          <p:nvSpPr>
            <p:cNvPr id="44" name="TextBox 44"/>
            <p:cNvSpPr txBox="1"/>
            <p:nvPr/>
          </p:nvSpPr>
          <p:spPr>
            <a:xfrm>
              <a:off x="2628913" y="6042422"/>
              <a:ext cx="895325" cy="183356"/>
            </a:xfrm>
            <a:prstGeom prst="rect">
              <a:avLst/>
            </a:prstGeom>
            <a:noFill/>
            <a:ln>
              <a:noFill/>
            </a:ln>
          </p:spPr>
          <p:txBody>
            <a:bodyPr wrap="none" lIns="0" tIns="0" rIns="0" bIns="0" anchor="t" anchorCtr="0">
              <a:spAutoFit/>
            </a:bodyPr>
            <a:lstStyle/>
            <a:p>
              <a:pPr algn="ctr"/>
              <a:r>
                <a:rPr lang="zh-CN" sz="940" dirty="0">
                  <a:solidFill>
                    <a:srgbClr val="523F3B"/>
                  </a:solidFill>
                  <a:latin typeface="+mn-lt"/>
                  <a:ea typeface="+mn-ea"/>
                  <a:cs typeface="+mn-cs"/>
                </a:rPr>
                <a:t>关注品牌公众号</a:t>
              </a:r>
            </a:p>
          </p:txBody>
        </p:sp>
      </p:grpSp>
      <p:grpSp>
        <p:nvGrpSpPr>
          <p:cNvPr id="83" name="col-sample"/>
          <p:cNvGrpSpPr/>
          <p:nvPr/>
        </p:nvGrpSpPr>
        <p:grpSpPr>
          <a:xfrm>
            <a:off x="4229100" y="1076325"/>
            <a:ext cx="3781425" cy="5467350"/>
            <a:chOff x="4229100" y="1076325"/>
            <a:chExt cx="3781425" cy="5467350"/>
          </a:xfrm>
        </p:grpSpPr>
        <p:sp>
          <p:nvSpPr>
            <p:cNvPr id="46" name="Rectangle 46"/>
            <p:cNvSpPr/>
            <p:nvPr/>
          </p:nvSpPr>
          <p:spPr>
            <a:xfrm>
              <a:off x="4229100" y="1076325"/>
              <a:ext cx="3781425" cy="5467350"/>
            </a:xfrm>
            <a:prstGeom prst="roundRect">
              <a:avLst>
                <a:gd name="adj" fmla="val 2519"/>
              </a:avLst>
            </a:prstGeom>
            <a:solidFill>
              <a:srgbClr val="F6F7FC"/>
            </a:solidFill>
            <a:ln w="9525">
              <a:solidFill>
                <a:srgbClr val="E4E7F5"/>
              </a:solidFill>
            </a:ln>
          </p:spPr>
        </p:sp>
        <p:sp>
          <p:nvSpPr>
            <p:cNvPr id="47" name="Rectangle 47"/>
            <p:cNvSpPr/>
            <p:nvPr/>
          </p:nvSpPr>
          <p:spPr>
            <a:xfrm>
              <a:off x="4229100" y="1076325"/>
              <a:ext cx="3781425" cy="342900"/>
            </a:xfrm>
            <a:prstGeom prst="roundRect">
              <a:avLst>
                <a:gd name="adj" fmla="val 50000"/>
              </a:avLst>
            </a:prstGeom>
            <a:gradFill>
              <a:gsLst>
                <a:gs pos="0">
                  <a:srgbClr val="C1553F"/>
                </a:gs>
                <a:gs pos="100000">
                  <a:srgbClr val="CE897B"/>
                </a:gs>
              </a:gsLst>
              <a:lin ang="0" scaled="1"/>
            </a:gradFill>
            <a:ln>
              <a:noFill/>
            </a:ln>
          </p:spPr>
        </p:sp>
        <p:sp>
          <p:nvSpPr>
            <p:cNvPr id="48" name="TextBox 48"/>
            <p:cNvSpPr txBox="1"/>
            <p:nvPr/>
          </p:nvSpPr>
          <p:spPr>
            <a:xfrm>
              <a:off x="5543550" y="1184910"/>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小样经济获潜客</a:t>
              </a:r>
            </a:p>
          </p:txBody>
        </p:sp>
        <p:sp>
          <p:nvSpPr>
            <p:cNvPr id="49" name="TextBox 49"/>
            <p:cNvSpPr txBox="1"/>
            <p:nvPr/>
          </p:nvSpPr>
          <p:spPr>
            <a:xfrm>
              <a:off x="4510088" y="1701641"/>
              <a:ext cx="2217293"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于小程序中推出试用中心模块，统筹管理各个</a:t>
              </a:r>
            </a:p>
          </p:txBody>
        </p:sp>
        <p:sp>
          <p:nvSpPr>
            <p:cNvPr id="50" name="TextBox 50"/>
            <p:cNvSpPr txBox="1"/>
            <p:nvPr/>
          </p:nvSpPr>
          <p:spPr>
            <a:xfrm>
              <a:off x="4510088" y="1873091"/>
              <a:ext cx="2250410"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关联商品下的小样，并培养用户 群体对高端线</a:t>
              </a:r>
            </a:p>
          </p:txBody>
        </p:sp>
        <p:sp>
          <p:nvSpPr>
            <p:cNvPr id="51" name="TextBox 51"/>
            <p:cNvSpPr txBox="1"/>
            <p:nvPr/>
          </p:nvSpPr>
          <p:spPr>
            <a:xfrm>
              <a:off x="4510088" y="2044541"/>
              <a:ext cx="45107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产品认知</a:t>
              </a:r>
            </a:p>
          </p:txBody>
        </p:sp>
        <p:sp>
          <p:nvSpPr>
            <p:cNvPr id="52" name="Ellipse 52"/>
            <p:cNvSpPr/>
            <p:nvPr/>
          </p:nvSpPr>
          <p:spPr>
            <a:xfrm>
              <a:off x="5105400" y="2476500"/>
              <a:ext cx="685800" cy="685800"/>
            </a:xfrm>
            <a:prstGeom prst="ellipse">
              <a:avLst/>
            </a:prstGeom>
            <a:solidFill>
              <a:srgbClr val="E5624C"/>
            </a:solidFill>
            <a:ln>
              <a:noFill/>
            </a:ln>
          </p:spPr>
        </p:sp>
        <p:sp>
          <p:nvSpPr>
            <p:cNvPr id="53" name="Rectangle 53"/>
            <p:cNvSpPr/>
            <p:nvPr/>
          </p:nvSpPr>
          <p:spPr>
            <a:xfrm>
              <a:off x="5381625" y="2724150"/>
              <a:ext cx="133350" cy="228600"/>
            </a:xfrm>
            <a:prstGeom prst="roundRect">
              <a:avLst>
                <a:gd name="adj" fmla="val 21429"/>
              </a:avLst>
            </a:prstGeom>
            <a:solidFill>
              <a:srgbClr val="FFFFFF"/>
            </a:solidFill>
            <a:ln>
              <a:noFill/>
            </a:ln>
          </p:spPr>
        </p:sp>
        <p:sp>
          <p:nvSpPr>
            <p:cNvPr id="54" name="Rectangle 54"/>
            <p:cNvSpPr/>
            <p:nvPr/>
          </p:nvSpPr>
          <p:spPr>
            <a:xfrm>
              <a:off x="5410200" y="2657475"/>
              <a:ext cx="76200" cy="76200"/>
            </a:xfrm>
            <a:prstGeom prst="roundRect">
              <a:avLst>
                <a:gd name="adj" fmla="val 18750"/>
              </a:avLst>
            </a:prstGeom>
            <a:solidFill>
              <a:srgbClr val="FFFFFF"/>
            </a:solidFill>
            <a:ln>
              <a:noFill/>
            </a:ln>
          </p:spPr>
        </p:sp>
        <p:sp>
          <p:nvSpPr>
            <p:cNvPr id="55" name="TextBox 55"/>
            <p:cNvSpPr txBox="1"/>
            <p:nvPr/>
          </p:nvSpPr>
          <p:spPr>
            <a:xfrm>
              <a:off x="5140642" y="3312795"/>
              <a:ext cx="615315" cy="176212"/>
            </a:xfrm>
            <a:prstGeom prst="rect">
              <a:avLst/>
            </a:prstGeom>
            <a:noFill/>
            <a:ln>
              <a:noFill/>
            </a:ln>
          </p:spPr>
          <p:txBody>
            <a:bodyPr wrap="none" lIns="0" tIns="0" rIns="0" bIns="0" anchor="t" anchorCtr="0">
              <a:spAutoFit/>
            </a:bodyPr>
            <a:lstStyle/>
            <a:p>
              <a:pPr algn="ctr"/>
              <a:r>
                <a:rPr lang="zh-CN" sz="900" b="1" dirty="0">
                  <a:solidFill>
                    <a:srgbClr val="E5624C"/>
                  </a:solidFill>
                  <a:latin typeface="+mn-lt"/>
                  <a:ea typeface="+mn-ea"/>
                  <a:cs typeface="+mn-cs"/>
                </a:rPr>
                <a:t>护肤类小样</a:t>
              </a:r>
            </a:p>
          </p:txBody>
        </p:sp>
        <p:sp>
          <p:nvSpPr>
            <p:cNvPr id="56" name="Ellipse 56"/>
            <p:cNvSpPr/>
            <p:nvPr/>
          </p:nvSpPr>
          <p:spPr>
            <a:xfrm>
              <a:off x="6429375" y="2476500"/>
              <a:ext cx="685800" cy="685800"/>
            </a:xfrm>
            <a:prstGeom prst="ellipse">
              <a:avLst/>
            </a:prstGeom>
            <a:solidFill>
              <a:srgbClr val="C1553F"/>
            </a:solidFill>
            <a:ln>
              <a:noFill/>
            </a:ln>
          </p:spPr>
        </p:sp>
        <p:sp>
          <p:nvSpPr>
            <p:cNvPr id="57" name="Rectangle 57"/>
            <p:cNvSpPr/>
            <p:nvPr/>
          </p:nvSpPr>
          <p:spPr>
            <a:xfrm>
              <a:off x="6696075" y="2762250"/>
              <a:ext cx="152400" cy="190500"/>
            </a:xfrm>
            <a:prstGeom prst="roundRect">
              <a:avLst>
                <a:gd name="adj" fmla="val 12500"/>
              </a:avLst>
            </a:prstGeom>
            <a:solidFill>
              <a:srgbClr val="FFFFFF"/>
            </a:solidFill>
            <a:ln>
              <a:noFill/>
            </a:ln>
          </p:spPr>
        </p:sp>
        <p:sp>
          <p:nvSpPr>
            <p:cNvPr id="58" name="Rectangle 58"/>
            <p:cNvSpPr/>
            <p:nvPr/>
          </p:nvSpPr>
          <p:spPr>
            <a:xfrm>
              <a:off x="6734175" y="2667000"/>
              <a:ext cx="76200" cy="114300"/>
            </a:xfrm>
            <a:prstGeom prst="roundRect">
              <a:avLst>
                <a:gd name="adj" fmla="val 25000"/>
              </a:avLst>
            </a:prstGeom>
            <a:solidFill>
              <a:srgbClr val="FFFFFF"/>
            </a:solidFill>
            <a:ln>
              <a:noFill/>
            </a:ln>
          </p:spPr>
        </p:sp>
        <p:sp>
          <p:nvSpPr>
            <p:cNvPr id="59" name="TextBox 59"/>
            <p:cNvSpPr txBox="1"/>
            <p:nvPr/>
          </p:nvSpPr>
          <p:spPr>
            <a:xfrm>
              <a:off x="6464618" y="3312795"/>
              <a:ext cx="615315" cy="176212"/>
            </a:xfrm>
            <a:prstGeom prst="rect">
              <a:avLst/>
            </a:prstGeom>
            <a:noFill/>
            <a:ln>
              <a:noFill/>
            </a:ln>
          </p:spPr>
          <p:txBody>
            <a:bodyPr wrap="none" lIns="0" tIns="0" rIns="0" bIns="0" anchor="t" anchorCtr="0">
              <a:spAutoFit/>
            </a:bodyPr>
            <a:lstStyle/>
            <a:p>
              <a:pPr algn="ctr"/>
              <a:r>
                <a:rPr lang="zh-CN" sz="900" b="1" dirty="0">
                  <a:solidFill>
                    <a:srgbClr val="C1553F"/>
                  </a:solidFill>
                  <a:latin typeface="+mn-lt"/>
                  <a:ea typeface="+mn-ea"/>
                  <a:cs typeface="+mn-cs"/>
                </a:rPr>
                <a:t>彩妆类小样</a:t>
              </a:r>
            </a:p>
          </p:txBody>
        </p:sp>
        <p:sp>
          <p:nvSpPr>
            <p:cNvPr id="60" name="Polygon 60"/>
            <p:cNvSpPr/>
            <p:nvPr/>
          </p:nvSpPr>
          <p:spPr>
            <a:xfrm>
              <a:off x="6038850" y="3543300"/>
              <a:ext cx="114300" cy="95250"/>
            </a:xfrm>
            <a:custGeom>
              <a:avLst/>
              <a:gdLst/>
              <a:ahLst/>
              <a:cxnLst/>
              <a:rect l="l" t="t" r="r" b="b"/>
              <a:pathLst>
                <a:path w="114300" h="95250">
                  <a:moveTo>
                    <a:pt x="0" y="0"/>
                  </a:moveTo>
                  <a:lnTo>
                    <a:pt x="114300" y="0"/>
                  </a:lnTo>
                  <a:lnTo>
                    <a:pt x="57150" y="95250"/>
                  </a:lnTo>
                  <a:close/>
                </a:path>
              </a:pathLst>
            </a:custGeom>
            <a:solidFill>
              <a:srgbClr val="D47D6B"/>
            </a:solidFill>
            <a:ln>
              <a:noFill/>
            </a:ln>
          </p:spPr>
        </p:sp>
        <p:sp>
          <p:nvSpPr>
            <p:cNvPr id="61" name="Polygon 61"/>
            <p:cNvSpPr/>
            <p:nvPr/>
          </p:nvSpPr>
          <p:spPr>
            <a:xfrm>
              <a:off x="4667250" y="3695700"/>
              <a:ext cx="2905125" cy="2781300"/>
            </a:xfrm>
            <a:custGeom>
              <a:avLst/>
              <a:gdLst/>
              <a:ahLst/>
              <a:cxnLst/>
              <a:rect l="l" t="t" r="r" b="b"/>
              <a:pathLst>
                <a:path w="2905125" h="2781300">
                  <a:moveTo>
                    <a:pt x="0" y="0"/>
                  </a:moveTo>
                  <a:lnTo>
                    <a:pt x="2905125" y="0"/>
                  </a:lnTo>
                  <a:lnTo>
                    <a:pt x="1447800" y="2781300"/>
                  </a:lnTo>
                  <a:close/>
                </a:path>
              </a:pathLst>
            </a:custGeom>
            <a:solidFill>
              <a:srgbClr val="DDE2F2">
                <a:alpha val="60000"/>
              </a:srgbClr>
            </a:solidFill>
            <a:ln>
              <a:noFill/>
            </a:ln>
          </p:spPr>
        </p:sp>
        <p:sp>
          <p:nvSpPr>
            <p:cNvPr id="62" name="Rectangle 62"/>
            <p:cNvSpPr/>
            <p:nvPr/>
          </p:nvSpPr>
          <p:spPr>
            <a:xfrm>
              <a:off x="4514850" y="3781425"/>
              <a:ext cx="3162300" cy="685800"/>
            </a:xfrm>
            <a:prstGeom prst="rect">
              <a:avLst/>
            </a:prstGeom>
            <a:solidFill>
              <a:srgbClr val="FFFFFF"/>
            </a:solidFill>
            <a:ln w="9525">
              <a:solidFill>
                <a:srgbClr val="C9CFEA"/>
              </a:solidFill>
            </a:ln>
          </p:spPr>
        </p:sp>
        <p:sp>
          <p:nvSpPr>
            <p:cNvPr id="63" name="Rectangle 63"/>
            <p:cNvSpPr/>
            <p:nvPr/>
          </p:nvSpPr>
          <p:spPr>
            <a:xfrm>
              <a:off x="4514850" y="3781425"/>
              <a:ext cx="3162300" cy="57150"/>
            </a:xfrm>
            <a:prstGeom prst="rect">
              <a:avLst/>
            </a:prstGeom>
            <a:solidFill>
              <a:srgbClr val="C1553F"/>
            </a:solidFill>
            <a:ln>
              <a:noFill/>
            </a:ln>
          </p:spPr>
        </p:sp>
        <p:sp>
          <p:nvSpPr>
            <p:cNvPr id="64" name="Ellipse 64"/>
            <p:cNvSpPr/>
            <p:nvPr/>
          </p:nvSpPr>
          <p:spPr>
            <a:xfrm>
              <a:off x="5981700" y="3667125"/>
              <a:ext cx="228600" cy="228600"/>
            </a:xfrm>
            <a:prstGeom prst="ellipse">
              <a:avLst/>
            </a:prstGeom>
            <a:solidFill>
              <a:srgbClr val="E5624C"/>
            </a:solidFill>
            <a:ln>
              <a:noFill/>
            </a:ln>
          </p:spPr>
        </p:sp>
        <p:sp>
          <p:nvSpPr>
            <p:cNvPr id="65" name="TextBox 65"/>
            <p:cNvSpPr txBox="1"/>
            <p:nvPr/>
          </p:nvSpPr>
          <p:spPr>
            <a:xfrm>
              <a:off x="6056253" y="37223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a:t>
              </a:r>
            </a:p>
          </p:txBody>
        </p:sp>
        <p:sp>
          <p:nvSpPr>
            <p:cNvPr id="66" name="TextBox 66"/>
            <p:cNvSpPr txBox="1"/>
            <p:nvPr/>
          </p:nvSpPr>
          <p:spPr>
            <a:xfrm>
              <a:off x="4624388" y="3998595"/>
              <a:ext cx="1948053"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派样途径：</a:t>
              </a:r>
              <a:r>
                <a:rPr lang="zh-CN" sz="900" dirty="0">
                  <a:solidFill>
                    <a:srgbClr val="705F5B"/>
                  </a:solidFill>
                  <a:latin typeface="+mn-lt"/>
                  <a:ea typeface="+mn-ea"/>
                  <a:cs typeface="+mn-cs"/>
                </a:rPr>
                <a:t>线下派小样、试用中心小</a:t>
              </a:r>
            </a:p>
          </p:txBody>
        </p:sp>
        <p:sp>
          <p:nvSpPr>
            <p:cNvPr id="67" name="TextBox 67"/>
            <p:cNvSpPr txBox="1"/>
            <p:nvPr/>
          </p:nvSpPr>
          <p:spPr>
            <a:xfrm>
              <a:off x="4624388" y="4189095"/>
              <a:ext cx="61531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程序、门店</a:t>
              </a:r>
            </a:p>
          </p:txBody>
        </p:sp>
        <p:sp>
          <p:nvSpPr>
            <p:cNvPr id="68" name="Polygon 68"/>
            <p:cNvSpPr/>
            <p:nvPr/>
          </p:nvSpPr>
          <p:spPr>
            <a:xfrm>
              <a:off x="6038850" y="4514850"/>
              <a:ext cx="114300" cy="95250"/>
            </a:xfrm>
            <a:custGeom>
              <a:avLst/>
              <a:gdLst/>
              <a:ahLst/>
              <a:cxnLst/>
              <a:rect l="l" t="t" r="r" b="b"/>
              <a:pathLst>
                <a:path w="114300" h="95250">
                  <a:moveTo>
                    <a:pt x="0" y="0"/>
                  </a:moveTo>
                  <a:lnTo>
                    <a:pt x="114300" y="0"/>
                  </a:lnTo>
                  <a:lnTo>
                    <a:pt x="57150" y="95250"/>
                  </a:lnTo>
                  <a:close/>
                </a:path>
              </a:pathLst>
            </a:custGeom>
            <a:solidFill>
              <a:srgbClr val="D47D6B"/>
            </a:solidFill>
            <a:ln>
              <a:noFill/>
            </a:ln>
          </p:spPr>
        </p:sp>
        <p:sp>
          <p:nvSpPr>
            <p:cNvPr id="69" name="Rectangle 69"/>
            <p:cNvSpPr/>
            <p:nvPr/>
          </p:nvSpPr>
          <p:spPr>
            <a:xfrm>
              <a:off x="4514850" y="4686300"/>
              <a:ext cx="3162300" cy="685800"/>
            </a:xfrm>
            <a:prstGeom prst="rect">
              <a:avLst/>
            </a:prstGeom>
            <a:solidFill>
              <a:srgbClr val="FFFFFF"/>
            </a:solidFill>
            <a:ln w="9525">
              <a:solidFill>
                <a:srgbClr val="C9CFEA"/>
              </a:solidFill>
            </a:ln>
          </p:spPr>
        </p:sp>
        <p:sp>
          <p:nvSpPr>
            <p:cNvPr id="70" name="Rectangle 70"/>
            <p:cNvSpPr/>
            <p:nvPr/>
          </p:nvSpPr>
          <p:spPr>
            <a:xfrm>
              <a:off x="4514850" y="4686300"/>
              <a:ext cx="3162300" cy="57150"/>
            </a:xfrm>
            <a:prstGeom prst="rect">
              <a:avLst/>
            </a:prstGeom>
            <a:solidFill>
              <a:srgbClr val="C1553F"/>
            </a:solidFill>
            <a:ln>
              <a:noFill/>
            </a:ln>
          </p:spPr>
        </p:sp>
        <p:sp>
          <p:nvSpPr>
            <p:cNvPr id="71" name="Ellipse 71"/>
            <p:cNvSpPr/>
            <p:nvPr/>
          </p:nvSpPr>
          <p:spPr>
            <a:xfrm>
              <a:off x="5981700" y="4572000"/>
              <a:ext cx="228600" cy="228600"/>
            </a:xfrm>
            <a:prstGeom prst="ellipse">
              <a:avLst/>
            </a:prstGeom>
            <a:solidFill>
              <a:srgbClr val="E5624C"/>
            </a:solidFill>
            <a:ln>
              <a:noFill/>
            </a:ln>
          </p:spPr>
        </p:sp>
        <p:sp>
          <p:nvSpPr>
            <p:cNvPr id="72" name="TextBox 72"/>
            <p:cNvSpPr txBox="1"/>
            <p:nvPr/>
          </p:nvSpPr>
          <p:spPr>
            <a:xfrm>
              <a:off x="6056253" y="4627245"/>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a:t>
              </a:r>
            </a:p>
          </p:txBody>
        </p:sp>
        <p:sp>
          <p:nvSpPr>
            <p:cNvPr id="73" name="TextBox 73"/>
            <p:cNvSpPr txBox="1"/>
            <p:nvPr/>
          </p:nvSpPr>
          <p:spPr>
            <a:xfrm>
              <a:off x="4624388" y="4903470"/>
              <a:ext cx="2020748"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试用中心：</a:t>
              </a:r>
              <a:r>
                <a:rPr lang="zh-CN" sz="900" dirty="0">
                  <a:solidFill>
                    <a:srgbClr val="705F5B"/>
                  </a:solidFill>
                  <a:latin typeface="+mn-lt"/>
                  <a:ea typeface="+mn-ea"/>
                  <a:cs typeface="+mn-cs"/>
                </a:rPr>
                <a:t>统筹 管理 各关联商品，更</a:t>
              </a:r>
            </a:p>
          </p:txBody>
        </p:sp>
        <p:sp>
          <p:nvSpPr>
            <p:cNvPr id="74" name="TextBox 74"/>
            <p:cNvSpPr txBox="1"/>
            <p:nvPr/>
          </p:nvSpPr>
          <p:spPr>
            <a:xfrm>
              <a:off x="4624388" y="5093970"/>
              <a:ext cx="1463421"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系统化、精细化地推荐小样</a:t>
              </a:r>
            </a:p>
          </p:txBody>
        </p:sp>
        <p:sp>
          <p:nvSpPr>
            <p:cNvPr id="75" name="Polygon 75"/>
            <p:cNvSpPr/>
            <p:nvPr/>
          </p:nvSpPr>
          <p:spPr>
            <a:xfrm>
              <a:off x="6038850" y="5419725"/>
              <a:ext cx="114300" cy="95250"/>
            </a:xfrm>
            <a:custGeom>
              <a:avLst/>
              <a:gdLst/>
              <a:ahLst/>
              <a:cxnLst/>
              <a:rect l="l" t="t" r="r" b="b"/>
              <a:pathLst>
                <a:path w="114300" h="95250">
                  <a:moveTo>
                    <a:pt x="0" y="0"/>
                  </a:moveTo>
                  <a:lnTo>
                    <a:pt x="114300" y="0"/>
                  </a:lnTo>
                  <a:lnTo>
                    <a:pt x="57150" y="95250"/>
                  </a:lnTo>
                  <a:close/>
                </a:path>
              </a:pathLst>
            </a:custGeom>
            <a:solidFill>
              <a:srgbClr val="D47D6B"/>
            </a:solidFill>
            <a:ln>
              <a:noFill/>
            </a:ln>
          </p:spPr>
        </p:sp>
        <p:sp>
          <p:nvSpPr>
            <p:cNvPr id="76" name="Rectangle 76"/>
            <p:cNvSpPr/>
            <p:nvPr/>
          </p:nvSpPr>
          <p:spPr>
            <a:xfrm>
              <a:off x="4514850" y="5591175"/>
              <a:ext cx="3162300" cy="685800"/>
            </a:xfrm>
            <a:prstGeom prst="rect">
              <a:avLst/>
            </a:prstGeom>
            <a:solidFill>
              <a:srgbClr val="FFFFFF"/>
            </a:solidFill>
            <a:ln w="9525">
              <a:solidFill>
                <a:srgbClr val="C9CFEA"/>
              </a:solidFill>
            </a:ln>
          </p:spPr>
        </p:sp>
        <p:sp>
          <p:nvSpPr>
            <p:cNvPr id="77" name="Rectangle 77"/>
            <p:cNvSpPr/>
            <p:nvPr/>
          </p:nvSpPr>
          <p:spPr>
            <a:xfrm>
              <a:off x="4514850" y="5591175"/>
              <a:ext cx="3162300" cy="57150"/>
            </a:xfrm>
            <a:prstGeom prst="rect">
              <a:avLst/>
            </a:prstGeom>
            <a:solidFill>
              <a:srgbClr val="C1553F"/>
            </a:solidFill>
            <a:ln>
              <a:noFill/>
            </a:ln>
          </p:spPr>
        </p:sp>
        <p:sp>
          <p:nvSpPr>
            <p:cNvPr id="78" name="Ellipse 78"/>
            <p:cNvSpPr/>
            <p:nvPr/>
          </p:nvSpPr>
          <p:spPr>
            <a:xfrm>
              <a:off x="5981700" y="5476875"/>
              <a:ext cx="228600" cy="228600"/>
            </a:xfrm>
            <a:prstGeom prst="ellipse">
              <a:avLst/>
            </a:prstGeom>
            <a:solidFill>
              <a:srgbClr val="E5624C"/>
            </a:solidFill>
            <a:ln>
              <a:noFill/>
            </a:ln>
          </p:spPr>
        </p:sp>
        <p:sp>
          <p:nvSpPr>
            <p:cNvPr id="79" name="TextBox 79"/>
            <p:cNvSpPr txBox="1"/>
            <p:nvPr/>
          </p:nvSpPr>
          <p:spPr>
            <a:xfrm>
              <a:off x="6056253" y="553212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a:t>
              </a:r>
            </a:p>
          </p:txBody>
        </p:sp>
        <p:sp>
          <p:nvSpPr>
            <p:cNvPr id="80" name="TextBox 80"/>
            <p:cNvSpPr txBox="1"/>
            <p:nvPr/>
          </p:nvSpPr>
          <p:spPr>
            <a:xfrm>
              <a:off x="4624388" y="5808345"/>
              <a:ext cx="1948053" cy="176212"/>
            </a:xfrm>
            <a:prstGeom prst="rect">
              <a:avLst/>
            </a:prstGeom>
            <a:noFill/>
            <a:ln>
              <a:noFill/>
            </a:ln>
          </p:spPr>
          <p:txBody>
            <a:bodyPr wrap="none" lIns="0" tIns="0" rIns="0" bIns="0" anchor="t" anchorCtr="0">
              <a:spAutoFit/>
            </a:bodyPr>
            <a:lstStyle/>
            <a:p>
              <a:pPr algn="l"/>
              <a:r>
                <a:rPr lang="zh-CN" sz="900" b="1" dirty="0">
                  <a:solidFill>
                    <a:srgbClr val="E5624C"/>
                  </a:solidFill>
                  <a:latin typeface="+mn-lt"/>
                  <a:ea typeface="+mn-ea"/>
                  <a:cs typeface="+mn-cs"/>
                </a:rPr>
                <a:t>高效派样：</a:t>
              </a:r>
              <a:r>
                <a:rPr lang="zh-CN" sz="900" dirty="0">
                  <a:solidFill>
                    <a:srgbClr val="705F5B"/>
                  </a:solidFill>
                  <a:latin typeface="+mn-lt"/>
                  <a:ea typeface="+mn-ea"/>
                  <a:cs typeface="+mn-cs"/>
                </a:rPr>
                <a:t>通过人群洞察，智能推送</a:t>
              </a:r>
            </a:p>
          </p:txBody>
        </p:sp>
        <p:sp>
          <p:nvSpPr>
            <p:cNvPr id="81" name="TextBox 81"/>
            <p:cNvSpPr txBox="1"/>
            <p:nvPr/>
          </p:nvSpPr>
          <p:spPr>
            <a:xfrm>
              <a:off x="4624388" y="5998845"/>
              <a:ext cx="122110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同级别或向上层级产品</a:t>
              </a:r>
            </a:p>
          </p:txBody>
        </p:sp>
        <p:sp>
          <p:nvSpPr>
            <p:cNvPr id="82" name="Polygon 82"/>
            <p:cNvSpPr/>
            <p:nvPr/>
          </p:nvSpPr>
          <p:spPr>
            <a:xfrm>
              <a:off x="6038850" y="6324600"/>
              <a:ext cx="114300" cy="95250"/>
            </a:xfrm>
            <a:custGeom>
              <a:avLst/>
              <a:gdLst/>
              <a:ahLst/>
              <a:cxnLst/>
              <a:rect l="l" t="t" r="r" b="b"/>
              <a:pathLst>
                <a:path w="114300" h="95250">
                  <a:moveTo>
                    <a:pt x="0" y="0"/>
                  </a:moveTo>
                  <a:lnTo>
                    <a:pt x="114300" y="0"/>
                  </a:lnTo>
                  <a:lnTo>
                    <a:pt x="57150" y="95250"/>
                  </a:lnTo>
                  <a:close/>
                </a:path>
              </a:pathLst>
            </a:custGeom>
            <a:solidFill>
              <a:srgbClr val="D47D6B"/>
            </a:solidFill>
            <a:ln>
              <a:noFill/>
            </a:ln>
          </p:spPr>
        </p:sp>
      </p:grpSp>
      <p:grpSp>
        <p:nvGrpSpPr>
          <p:cNvPr id="138" name="col-community"/>
          <p:cNvGrpSpPr/>
          <p:nvPr/>
        </p:nvGrpSpPr>
        <p:grpSpPr>
          <a:xfrm>
            <a:off x="8181975" y="1076325"/>
            <a:ext cx="3667125" cy="5467350"/>
            <a:chOff x="8181975" y="1076325"/>
            <a:chExt cx="3667125" cy="5467350"/>
          </a:xfrm>
        </p:grpSpPr>
        <p:sp>
          <p:nvSpPr>
            <p:cNvPr id="84" name="Rectangle 84"/>
            <p:cNvSpPr/>
            <p:nvPr/>
          </p:nvSpPr>
          <p:spPr>
            <a:xfrm>
              <a:off x="8181975" y="1076325"/>
              <a:ext cx="3667125" cy="5467350"/>
            </a:xfrm>
            <a:prstGeom prst="roundRect">
              <a:avLst>
                <a:gd name="adj" fmla="val 2597"/>
              </a:avLst>
            </a:prstGeom>
            <a:solidFill>
              <a:srgbClr val="F6F7FC"/>
            </a:solidFill>
            <a:ln w="9525">
              <a:solidFill>
                <a:srgbClr val="E4E7F5"/>
              </a:solidFill>
            </a:ln>
          </p:spPr>
        </p:sp>
        <p:sp>
          <p:nvSpPr>
            <p:cNvPr id="85" name="Rectangle 85"/>
            <p:cNvSpPr/>
            <p:nvPr/>
          </p:nvSpPr>
          <p:spPr>
            <a:xfrm>
              <a:off x="8181975" y="1076325"/>
              <a:ext cx="3667125" cy="342900"/>
            </a:xfrm>
            <a:prstGeom prst="roundRect">
              <a:avLst>
                <a:gd name="adj" fmla="val 50000"/>
              </a:avLst>
            </a:prstGeom>
            <a:gradFill>
              <a:gsLst>
                <a:gs pos="0">
                  <a:srgbClr val="C1553F"/>
                </a:gs>
                <a:gs pos="100000">
                  <a:srgbClr val="CE897B"/>
                </a:gs>
              </a:gsLst>
              <a:lin ang="0" scaled="1"/>
            </a:gradFill>
            <a:ln>
              <a:noFill/>
            </a:ln>
          </p:spPr>
        </p:sp>
        <p:sp>
          <p:nvSpPr>
            <p:cNvPr id="86" name="TextBox 86"/>
            <p:cNvSpPr txBox="1"/>
            <p:nvPr/>
          </p:nvSpPr>
          <p:spPr>
            <a:xfrm>
              <a:off x="9520047" y="1184910"/>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社群运营转化</a:t>
              </a:r>
            </a:p>
          </p:txBody>
        </p:sp>
        <p:sp>
          <p:nvSpPr>
            <p:cNvPr id="87" name="TextBox 87"/>
            <p:cNvSpPr txBox="1"/>
            <p:nvPr/>
          </p:nvSpPr>
          <p:spPr>
            <a:xfrm>
              <a:off x="8405812" y="1701641"/>
              <a:ext cx="2217293"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建立导购积分体系，以任务形式引导导购完成</a:t>
              </a:r>
            </a:p>
          </p:txBody>
        </p:sp>
        <p:sp>
          <p:nvSpPr>
            <p:cNvPr id="88" name="TextBox 88"/>
            <p:cNvSpPr txBox="1"/>
            <p:nvPr/>
          </p:nvSpPr>
          <p:spPr>
            <a:xfrm>
              <a:off x="8405812" y="1873091"/>
              <a:ext cx="2327681"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拉新、运营等行为，积分可兑换话费、商品等，</a:t>
              </a:r>
            </a:p>
          </p:txBody>
        </p:sp>
        <p:sp>
          <p:nvSpPr>
            <p:cNvPr id="89" name="TextBox 89"/>
            <p:cNvSpPr txBox="1"/>
            <p:nvPr/>
          </p:nvSpPr>
          <p:spPr>
            <a:xfrm>
              <a:off x="8405812" y="2044541"/>
              <a:ext cx="782244"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提升导购积极性</a:t>
              </a:r>
            </a:p>
          </p:txBody>
        </p:sp>
        <p:sp>
          <p:nvSpPr>
            <p:cNvPr id="90" name="Rectangle 90"/>
            <p:cNvSpPr/>
            <p:nvPr/>
          </p:nvSpPr>
          <p:spPr>
            <a:xfrm>
              <a:off x="8410575" y="2543175"/>
              <a:ext cx="3267075" cy="266700"/>
            </a:xfrm>
            <a:prstGeom prst="rect">
              <a:avLst/>
            </a:prstGeom>
            <a:gradFill>
              <a:gsLst>
                <a:gs pos="0">
                  <a:srgbClr val="C1553F"/>
                </a:gs>
                <a:gs pos="100000">
                  <a:srgbClr val="CE897B"/>
                </a:gs>
              </a:gsLst>
              <a:lin ang="0" scaled="1"/>
            </a:gradFill>
            <a:ln>
              <a:noFill/>
            </a:ln>
          </p:spPr>
        </p:sp>
        <p:sp>
          <p:nvSpPr>
            <p:cNvPr id="91" name="TextBox 91"/>
            <p:cNvSpPr txBox="1"/>
            <p:nvPr/>
          </p:nvSpPr>
          <p:spPr>
            <a:xfrm>
              <a:off x="9638614" y="261889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导购每日任务</a:t>
              </a:r>
            </a:p>
          </p:txBody>
        </p:sp>
        <p:sp>
          <p:nvSpPr>
            <p:cNvPr id="92" name="Rectangle 92"/>
            <p:cNvSpPr/>
            <p:nvPr/>
          </p:nvSpPr>
          <p:spPr>
            <a:xfrm>
              <a:off x="8410575" y="2809875"/>
              <a:ext cx="3267075" cy="838200"/>
            </a:xfrm>
            <a:prstGeom prst="rect">
              <a:avLst/>
            </a:prstGeom>
            <a:solidFill>
              <a:srgbClr val="FFFFFF"/>
            </a:solidFill>
            <a:ln w="9525">
              <a:solidFill>
                <a:srgbClr val="C9CFEA"/>
              </a:solidFill>
            </a:ln>
          </p:spPr>
        </p:sp>
        <p:sp>
          <p:nvSpPr>
            <p:cNvPr id="93" name="Freeform 93"/>
            <p:cNvSpPr/>
            <p:nvPr/>
          </p:nvSpPr>
          <p:spPr>
            <a:xfrm>
              <a:off x="8585048" y="301132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C1553F"/>
              </a:solidFill>
            </a:ln>
          </p:spPr>
        </p:sp>
        <p:sp>
          <p:nvSpPr>
            <p:cNvPr id="94" name="TextBox 94"/>
            <p:cNvSpPr txBox="1"/>
            <p:nvPr/>
          </p:nvSpPr>
          <p:spPr>
            <a:xfrm>
              <a:off x="8777288" y="3017520"/>
              <a:ext cx="494157" cy="176212"/>
            </a:xfrm>
            <a:prstGeom prst="rect">
              <a:avLst/>
            </a:prstGeom>
            <a:noFill/>
            <a:ln>
              <a:noFill/>
            </a:ln>
          </p:spPr>
          <p:txBody>
            <a:bodyPr wrap="none" lIns="0" tIns="0" rIns="0" bIns="0" anchor="t" anchorCtr="0">
              <a:spAutoFit/>
            </a:bodyPr>
            <a:lstStyle/>
            <a:p>
              <a:pPr algn="l"/>
              <a:r>
                <a:rPr lang="zh-CN" sz="900" dirty="0">
                  <a:solidFill>
                    <a:srgbClr val="523F3B"/>
                  </a:solidFill>
                  <a:latin typeface="+mn-lt"/>
                  <a:ea typeface="+mn-ea"/>
                  <a:cs typeface="+mn-cs"/>
                </a:rPr>
                <a:t>社群问好</a:t>
              </a:r>
            </a:p>
          </p:txBody>
        </p:sp>
        <p:grpSp>
          <p:nvGrpSpPr>
            <p:cNvPr id="100" name="Group 100"/>
            <p:cNvGrpSpPr/>
            <p:nvPr/>
          </p:nvGrpSpPr>
          <p:grpSpPr>
            <a:xfrm>
              <a:off x="10134600" y="3009049"/>
              <a:ext cx="114300" cy="115151"/>
              <a:chOff x="10134600" y="3009049"/>
              <a:chExt cx="114300" cy="115151"/>
            </a:xfrm>
          </p:grpSpPr>
          <p:sp>
            <p:nvSpPr>
              <p:cNvPr id="95" name="Freeform 95"/>
              <p:cNvSpPr/>
              <p:nvPr/>
            </p:nvSpPr>
            <p:spPr>
              <a:xfrm>
                <a:off x="10172700" y="30607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C1553F"/>
                </a:solidFill>
              </a:ln>
            </p:spPr>
          </p:sp>
          <p:sp>
            <p:nvSpPr>
              <p:cNvPr id="96" name="Freeform 96"/>
              <p:cNvSpPr/>
              <p:nvPr/>
            </p:nvSpPr>
            <p:spPr>
              <a:xfrm>
                <a:off x="10172700" y="30797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C1553F"/>
                </a:solidFill>
              </a:ln>
            </p:spPr>
          </p:sp>
          <p:sp>
            <p:nvSpPr>
              <p:cNvPr id="97" name="Freeform 97"/>
              <p:cNvSpPr/>
              <p:nvPr/>
            </p:nvSpPr>
            <p:spPr>
              <a:xfrm>
                <a:off x="10134600" y="30090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C1553F"/>
                </a:solidFill>
              </a:ln>
            </p:spPr>
          </p:sp>
          <p:sp>
            <p:nvSpPr>
              <p:cNvPr id="98" name="Freeform 98"/>
              <p:cNvSpPr/>
              <p:nvPr/>
            </p:nvSpPr>
            <p:spPr>
              <a:xfrm>
                <a:off x="10134600" y="30289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C1553F"/>
                </a:solidFill>
              </a:ln>
            </p:spPr>
          </p:sp>
          <p:sp>
            <p:nvSpPr>
              <p:cNvPr id="99" name="Freeform 99"/>
              <p:cNvSpPr/>
              <p:nvPr/>
            </p:nvSpPr>
            <p:spPr>
              <a:xfrm>
                <a:off x="10134600" y="30607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C1553F"/>
                </a:solidFill>
              </a:ln>
            </p:spPr>
          </p:sp>
        </p:grpSp>
        <p:sp>
          <p:nvSpPr>
            <p:cNvPr id="101" name="TextBox 101"/>
            <p:cNvSpPr txBox="1"/>
            <p:nvPr/>
          </p:nvSpPr>
          <p:spPr>
            <a:xfrm>
              <a:off x="10320338" y="3017520"/>
              <a:ext cx="568109" cy="176212"/>
            </a:xfrm>
            <a:prstGeom prst="rect">
              <a:avLst/>
            </a:prstGeom>
            <a:noFill/>
            <a:ln>
              <a:noFill/>
            </a:ln>
          </p:spPr>
          <p:txBody>
            <a:bodyPr wrap="none" lIns="0" tIns="0" rIns="0" bIns="0" anchor="t" anchorCtr="0">
              <a:spAutoFit/>
            </a:bodyPr>
            <a:lstStyle/>
            <a:p>
              <a:pPr algn="l"/>
              <a:r>
                <a:rPr lang="zh-CN" sz="900" dirty="0">
                  <a:solidFill>
                    <a:srgbClr val="523F3B"/>
                  </a:solidFill>
                  <a:latin typeface="+mn-lt"/>
                  <a:ea typeface="+mn-ea"/>
                  <a:cs typeface="+mn-cs"/>
                </a:rPr>
                <a:t>1V1 发券​</a:t>
              </a:r>
            </a:p>
          </p:txBody>
        </p:sp>
        <p:grpSp>
          <p:nvGrpSpPr>
            <p:cNvPr id="105" name="Group 105"/>
            <p:cNvGrpSpPr/>
            <p:nvPr/>
          </p:nvGrpSpPr>
          <p:grpSpPr>
            <a:xfrm>
              <a:off x="8594103" y="3343275"/>
              <a:ext cx="109182" cy="113602"/>
              <a:chOff x="8594103" y="3343275"/>
              <a:chExt cx="109182" cy="113602"/>
            </a:xfrm>
          </p:grpSpPr>
          <p:sp>
            <p:nvSpPr>
              <p:cNvPr id="102" name="Freeform 102"/>
              <p:cNvSpPr/>
              <p:nvPr/>
            </p:nvSpPr>
            <p:spPr>
              <a:xfrm>
                <a:off x="8610600" y="33432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C1553F"/>
                </a:solidFill>
              </a:ln>
            </p:spPr>
          </p:sp>
          <p:sp>
            <p:nvSpPr>
              <p:cNvPr id="103" name="Freeform 103"/>
              <p:cNvSpPr/>
              <p:nvPr/>
            </p:nvSpPr>
            <p:spPr>
              <a:xfrm>
                <a:off x="8648700" y="3400425"/>
                <a:ext cx="54585" cy="56452"/>
              </a:xfrm>
              <a:custGeom>
                <a:avLst/>
                <a:gdLst/>
                <a:ahLst/>
                <a:cxnLst/>
                <a:rect l="l" t="t" r="r" b="b"/>
                <a:pathLst>
                  <a:path w="54585" h="56452">
                    <a:moveTo>
                      <a:pt x="0" y="19050"/>
                    </a:moveTo>
                    <a:lnTo>
                      <a:pt x="21590" y="56452"/>
                    </a:lnTo>
                    <a:lnTo>
                      <a:pt x="31737" y="35922"/>
                    </a:lnTo>
                    <a:lnTo>
                      <a:pt x="54585" y="37395"/>
                    </a:lnTo>
                    <a:lnTo>
                      <a:pt x="32995" y="0"/>
                    </a:lnTo>
                  </a:path>
                </a:pathLst>
              </a:custGeom>
              <a:noFill/>
              <a:ln w="12700">
                <a:solidFill>
                  <a:srgbClr val="C1553F"/>
                </a:solidFill>
              </a:ln>
            </p:spPr>
          </p:sp>
          <p:sp>
            <p:nvSpPr>
              <p:cNvPr id="104" name="Freeform 104"/>
              <p:cNvSpPr/>
              <p:nvPr/>
            </p:nvSpPr>
            <p:spPr>
              <a:xfrm>
                <a:off x="8594103" y="3400425"/>
                <a:ext cx="54585" cy="56445"/>
              </a:xfrm>
              <a:custGeom>
                <a:avLst/>
                <a:gdLst/>
                <a:ahLst/>
                <a:cxnLst/>
                <a:rect l="l" t="t" r="r" b="b"/>
                <a:pathLst>
                  <a:path w="54585" h="56445">
                    <a:moveTo>
                      <a:pt x="21590" y="0"/>
                    </a:moveTo>
                    <a:lnTo>
                      <a:pt x="0" y="37402"/>
                    </a:lnTo>
                    <a:lnTo>
                      <a:pt x="22847" y="35922"/>
                    </a:lnTo>
                    <a:lnTo>
                      <a:pt x="32995" y="56445"/>
                    </a:lnTo>
                    <a:lnTo>
                      <a:pt x="54585" y="19050"/>
                    </a:lnTo>
                  </a:path>
                </a:pathLst>
              </a:custGeom>
              <a:noFill/>
              <a:ln w="12700">
                <a:solidFill>
                  <a:srgbClr val="C1553F"/>
                </a:solidFill>
              </a:ln>
            </p:spPr>
          </p:sp>
        </p:grpSp>
        <p:sp>
          <p:nvSpPr>
            <p:cNvPr id="106" name="TextBox 106"/>
            <p:cNvSpPr txBox="1"/>
            <p:nvPr/>
          </p:nvSpPr>
          <p:spPr>
            <a:xfrm>
              <a:off x="8777288" y="3350895"/>
              <a:ext cx="736473" cy="176212"/>
            </a:xfrm>
            <a:prstGeom prst="rect">
              <a:avLst/>
            </a:prstGeom>
            <a:noFill/>
            <a:ln>
              <a:noFill/>
            </a:ln>
          </p:spPr>
          <p:txBody>
            <a:bodyPr wrap="none" lIns="0" tIns="0" rIns="0" bIns="0" anchor="t" anchorCtr="0">
              <a:spAutoFit/>
            </a:bodyPr>
            <a:lstStyle/>
            <a:p>
              <a:pPr algn="l"/>
              <a:r>
                <a:rPr lang="zh-CN" sz="900" dirty="0">
                  <a:solidFill>
                    <a:srgbClr val="523F3B"/>
                  </a:solidFill>
                  <a:latin typeface="+mn-lt"/>
                  <a:ea typeface="+mn-ea"/>
                  <a:cs typeface="+mn-cs"/>
                </a:rPr>
                <a:t>社群福利发放</a:t>
              </a:r>
            </a:p>
          </p:txBody>
        </p:sp>
        <p:grpSp>
          <p:nvGrpSpPr>
            <p:cNvPr id="111" name="Group 111"/>
            <p:cNvGrpSpPr/>
            <p:nvPr/>
          </p:nvGrpSpPr>
          <p:grpSpPr>
            <a:xfrm>
              <a:off x="10140950" y="3343275"/>
              <a:ext cx="101600" cy="114300"/>
              <a:chOff x="10140950" y="3343275"/>
              <a:chExt cx="101600" cy="114300"/>
            </a:xfrm>
          </p:grpSpPr>
          <p:sp>
            <p:nvSpPr>
              <p:cNvPr id="107" name="Freeform 107"/>
              <p:cNvSpPr/>
              <p:nvPr/>
            </p:nvSpPr>
            <p:spPr>
              <a:xfrm>
                <a:off x="10140950" y="34321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1553F"/>
                </a:solidFill>
              </a:ln>
            </p:spPr>
          </p:sp>
          <p:sp>
            <p:nvSpPr>
              <p:cNvPr id="108" name="Freeform 108"/>
              <p:cNvSpPr/>
              <p:nvPr/>
            </p:nvSpPr>
            <p:spPr>
              <a:xfrm>
                <a:off x="10210800" y="34321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C1553F"/>
                </a:solidFill>
              </a:ln>
            </p:spPr>
          </p:sp>
          <p:sp>
            <p:nvSpPr>
              <p:cNvPr id="109" name="Freeform 109"/>
              <p:cNvSpPr/>
              <p:nvPr/>
            </p:nvSpPr>
            <p:spPr>
              <a:xfrm>
                <a:off x="10140950" y="3343275"/>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C1553F"/>
                </a:solidFill>
              </a:ln>
            </p:spPr>
          </p:sp>
          <p:sp>
            <p:nvSpPr>
              <p:cNvPr id="110" name="Freeform 110"/>
              <p:cNvSpPr/>
              <p:nvPr/>
            </p:nvSpPr>
            <p:spPr>
              <a:xfrm>
                <a:off x="10153650" y="3355975"/>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C1553F"/>
                </a:solidFill>
              </a:ln>
            </p:spPr>
          </p:sp>
        </p:grpSp>
        <p:sp>
          <p:nvSpPr>
            <p:cNvPr id="112" name="TextBox 112"/>
            <p:cNvSpPr txBox="1"/>
            <p:nvPr/>
          </p:nvSpPr>
          <p:spPr>
            <a:xfrm>
              <a:off x="10320338" y="3350895"/>
              <a:ext cx="494157" cy="176212"/>
            </a:xfrm>
            <a:prstGeom prst="rect">
              <a:avLst/>
            </a:prstGeom>
            <a:noFill/>
            <a:ln>
              <a:noFill/>
            </a:ln>
          </p:spPr>
          <p:txBody>
            <a:bodyPr wrap="none" lIns="0" tIns="0" rIns="0" bIns="0" anchor="t" anchorCtr="0">
              <a:spAutoFit/>
            </a:bodyPr>
            <a:lstStyle/>
            <a:p>
              <a:pPr algn="l"/>
              <a:r>
                <a:rPr lang="zh-CN" sz="900" dirty="0">
                  <a:solidFill>
                    <a:srgbClr val="523F3B"/>
                  </a:solidFill>
                  <a:latin typeface="+mn-lt"/>
                  <a:ea typeface="+mn-ea"/>
                  <a:cs typeface="+mn-cs"/>
                </a:rPr>
                <a:t>产品推荐</a:t>
              </a:r>
            </a:p>
          </p:txBody>
        </p:sp>
        <p:sp>
          <p:nvSpPr>
            <p:cNvPr id="113" name="Polygon 113"/>
            <p:cNvSpPr/>
            <p:nvPr/>
          </p:nvSpPr>
          <p:spPr>
            <a:xfrm>
              <a:off x="9810750" y="3733800"/>
              <a:ext cx="457200" cy="228600"/>
            </a:xfrm>
            <a:custGeom>
              <a:avLst/>
              <a:gdLst/>
              <a:ahLst/>
              <a:cxnLst/>
              <a:rect l="l" t="t" r="r" b="b"/>
              <a:pathLst>
                <a:path w="457200" h="228600">
                  <a:moveTo>
                    <a:pt x="0" y="0"/>
                  </a:moveTo>
                  <a:lnTo>
                    <a:pt x="457200" y="0"/>
                  </a:lnTo>
                  <a:lnTo>
                    <a:pt x="228600" y="228600"/>
                  </a:lnTo>
                  <a:close/>
                </a:path>
              </a:pathLst>
            </a:custGeom>
            <a:solidFill>
              <a:srgbClr val="B9C0DC"/>
            </a:solidFill>
            <a:ln>
              <a:noFill/>
            </a:ln>
          </p:spPr>
        </p:sp>
        <p:sp>
          <p:nvSpPr>
            <p:cNvPr id="114" name="TextBox 114"/>
            <p:cNvSpPr txBox="1"/>
            <p:nvPr/>
          </p:nvSpPr>
          <p:spPr>
            <a:xfrm>
              <a:off x="8356759" y="4414838"/>
              <a:ext cx="564832"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+1 积分/次​</a:t>
              </a:r>
            </a:p>
          </p:txBody>
        </p:sp>
        <p:sp>
          <p:nvSpPr>
            <p:cNvPr id="115" name="TextBox 115"/>
            <p:cNvSpPr txBox="1"/>
            <p:nvPr/>
          </p:nvSpPr>
          <p:spPr>
            <a:xfrm>
              <a:off x="9375934" y="4414838"/>
              <a:ext cx="564832"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+5 积分/次​</a:t>
              </a:r>
            </a:p>
          </p:txBody>
        </p:sp>
        <p:sp>
          <p:nvSpPr>
            <p:cNvPr id="116" name="TextBox 116"/>
            <p:cNvSpPr txBox="1"/>
            <p:nvPr/>
          </p:nvSpPr>
          <p:spPr>
            <a:xfrm>
              <a:off x="10537984" y="4414838"/>
              <a:ext cx="564832" cy="147638"/>
            </a:xfrm>
            <a:prstGeom prst="rect">
              <a:avLst/>
            </a:prstGeom>
            <a:noFill/>
            <a:ln>
              <a:noFill/>
            </a:ln>
          </p:spPr>
          <p:txBody>
            <a:bodyPr wrap="none" lIns="0" tIns="0" rIns="0" bIns="0" anchor="t" anchorCtr="0">
              <a:spAutoFit/>
            </a:bodyPr>
            <a:lstStyle/>
            <a:p>
              <a:pPr algn="ctr"/>
              <a:r>
                <a:rPr lang="zh-CN" sz="750" dirty="0">
                  <a:solidFill>
                    <a:srgbClr val="705F5B"/>
                  </a:solidFill>
                  <a:latin typeface="+mn-lt"/>
                  <a:ea typeface="+mn-ea"/>
                  <a:cs typeface="+mn-cs"/>
                </a:rPr>
                <a:t>10 积分/次​</a:t>
              </a:r>
            </a:p>
          </p:txBody>
        </p:sp>
        <p:sp>
          <p:nvSpPr>
            <p:cNvPr id="117" name="Rectangle 117"/>
            <p:cNvSpPr/>
            <p:nvPr/>
          </p:nvSpPr>
          <p:spPr>
            <a:xfrm>
              <a:off x="8239125" y="4629150"/>
              <a:ext cx="800100" cy="228600"/>
            </a:xfrm>
            <a:prstGeom prst="roundRect">
              <a:avLst>
                <a:gd name="adj" fmla="val 50000"/>
              </a:avLst>
            </a:prstGeom>
            <a:solidFill>
              <a:srgbClr val="FFFFFF"/>
            </a:solidFill>
            <a:ln w="9525">
              <a:solidFill>
                <a:srgbClr val="D47D6B"/>
              </a:solidFill>
            </a:ln>
          </p:spPr>
        </p:sp>
        <p:sp>
          <p:nvSpPr>
            <p:cNvPr id="118" name="TextBox 118"/>
            <p:cNvSpPr txBox="1"/>
            <p:nvPr/>
          </p:nvSpPr>
          <p:spPr>
            <a:xfrm>
              <a:off x="8413636" y="4702016"/>
              <a:ext cx="451079"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活动分享</a:t>
              </a:r>
            </a:p>
          </p:txBody>
        </p:sp>
        <p:sp>
          <p:nvSpPr>
            <p:cNvPr id="119" name="Rectangle 119"/>
            <p:cNvSpPr/>
            <p:nvPr/>
          </p:nvSpPr>
          <p:spPr>
            <a:xfrm>
              <a:off x="9144000" y="4629150"/>
              <a:ext cx="1028700" cy="228600"/>
            </a:xfrm>
            <a:prstGeom prst="roundRect">
              <a:avLst>
                <a:gd name="adj" fmla="val 50000"/>
              </a:avLst>
            </a:prstGeom>
            <a:solidFill>
              <a:srgbClr val="FFFFFF"/>
            </a:solidFill>
            <a:ln w="9525">
              <a:solidFill>
                <a:srgbClr val="D47D6B"/>
              </a:solidFill>
            </a:ln>
          </p:spPr>
        </p:sp>
        <p:sp>
          <p:nvSpPr>
            <p:cNvPr id="120" name="TextBox 120"/>
            <p:cNvSpPr txBox="1"/>
            <p:nvPr/>
          </p:nvSpPr>
          <p:spPr>
            <a:xfrm>
              <a:off x="9377616" y="4702016"/>
              <a:ext cx="561467"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新用户关注</a:t>
              </a:r>
            </a:p>
          </p:txBody>
        </p:sp>
        <p:sp>
          <p:nvSpPr>
            <p:cNvPr id="121" name="Rectangle 121"/>
            <p:cNvSpPr/>
            <p:nvPr/>
          </p:nvSpPr>
          <p:spPr>
            <a:xfrm>
              <a:off x="10325100" y="4629150"/>
              <a:ext cx="990600" cy="228600"/>
            </a:xfrm>
            <a:prstGeom prst="roundRect">
              <a:avLst>
                <a:gd name="adj" fmla="val 50000"/>
              </a:avLst>
            </a:prstGeom>
            <a:solidFill>
              <a:srgbClr val="FFFFFF"/>
            </a:solidFill>
            <a:ln w="9525">
              <a:solidFill>
                <a:srgbClr val="D47D6B"/>
              </a:solidFill>
            </a:ln>
          </p:spPr>
        </p:sp>
        <p:sp>
          <p:nvSpPr>
            <p:cNvPr id="122" name="TextBox 122"/>
            <p:cNvSpPr txBox="1"/>
            <p:nvPr/>
          </p:nvSpPr>
          <p:spPr>
            <a:xfrm>
              <a:off x="10539666" y="4702016"/>
              <a:ext cx="561467"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新用户入群</a:t>
              </a:r>
            </a:p>
          </p:txBody>
        </p:sp>
        <p:sp>
          <p:nvSpPr>
            <p:cNvPr id="123" name="Rectangle 123"/>
            <p:cNvSpPr/>
            <p:nvPr/>
          </p:nvSpPr>
          <p:spPr>
            <a:xfrm>
              <a:off x="11430000" y="4629150"/>
              <a:ext cx="361950" cy="228600"/>
            </a:xfrm>
            <a:prstGeom prst="roundRect">
              <a:avLst>
                <a:gd name="adj" fmla="val 50000"/>
              </a:avLst>
            </a:prstGeom>
            <a:solidFill>
              <a:srgbClr val="FFFFFF"/>
            </a:solidFill>
            <a:ln w="9525">
              <a:solidFill>
                <a:srgbClr val="D47D6B"/>
              </a:solidFill>
            </a:ln>
          </p:spPr>
        </p:sp>
        <p:sp>
          <p:nvSpPr>
            <p:cNvPr id="124" name="TextBox 124"/>
            <p:cNvSpPr txBox="1"/>
            <p:nvPr/>
          </p:nvSpPr>
          <p:spPr>
            <a:xfrm>
              <a:off x="11515142" y="4692491"/>
              <a:ext cx="191666"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a:t>
              </a:r>
            </a:p>
          </p:txBody>
        </p:sp>
        <p:sp>
          <p:nvSpPr>
            <p:cNvPr id="125" name="Freeform 125"/>
            <p:cNvSpPr/>
            <p:nvPr/>
          </p:nvSpPr>
          <p:spPr>
            <a:xfrm>
              <a:off x="8639175" y="4857750"/>
              <a:ext cx="2971800" cy="361950"/>
            </a:xfrm>
            <a:custGeom>
              <a:avLst/>
              <a:gdLst/>
              <a:ahLst/>
              <a:cxnLst/>
              <a:rect l="l" t="t" r="r" b="b"/>
              <a:pathLst>
                <a:path w="2971800" h="361950">
                  <a:moveTo>
                    <a:pt x="0" y="0"/>
                  </a:moveTo>
                  <a:lnTo>
                    <a:pt x="0" y="171450"/>
                  </a:lnTo>
                  <a:lnTo>
                    <a:pt x="2971800" y="171450"/>
                  </a:lnTo>
                  <a:lnTo>
                    <a:pt x="2971800" y="0"/>
                  </a:lnTo>
                  <a:moveTo>
                    <a:pt x="1019175" y="0"/>
                  </a:moveTo>
                  <a:lnTo>
                    <a:pt x="1019175" y="171450"/>
                  </a:lnTo>
                  <a:moveTo>
                    <a:pt x="2181225" y="0"/>
                  </a:moveTo>
                  <a:lnTo>
                    <a:pt x="2181225" y="171450"/>
                  </a:lnTo>
                  <a:moveTo>
                    <a:pt x="1409700" y="171450"/>
                  </a:moveTo>
                  <a:lnTo>
                    <a:pt x="1409700" y="361950"/>
                  </a:lnTo>
                </a:path>
              </a:pathLst>
            </a:custGeom>
            <a:noFill/>
            <a:ln w="14288">
              <a:solidFill>
                <a:srgbClr val="DD988A"/>
              </a:solidFill>
            </a:ln>
          </p:spPr>
        </p:sp>
        <p:sp>
          <p:nvSpPr>
            <p:cNvPr id="126" name="Rectangle 126"/>
            <p:cNvSpPr/>
            <p:nvPr/>
          </p:nvSpPr>
          <p:spPr>
            <a:xfrm>
              <a:off x="9315450" y="5219700"/>
              <a:ext cx="1466850" cy="257175"/>
            </a:xfrm>
            <a:prstGeom prst="roundRect">
              <a:avLst>
                <a:gd name="adj" fmla="val 48148"/>
              </a:avLst>
            </a:prstGeom>
            <a:solidFill>
              <a:srgbClr val="D47D6B"/>
            </a:solidFill>
            <a:ln>
              <a:noFill/>
            </a:ln>
          </p:spPr>
        </p:sp>
        <p:sp>
          <p:nvSpPr>
            <p:cNvPr id="127" name="TextBox 127"/>
            <p:cNvSpPr txBox="1"/>
            <p:nvPr/>
          </p:nvSpPr>
          <p:spPr>
            <a:xfrm>
              <a:off x="9559480" y="5293995"/>
              <a:ext cx="97878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导购积分激励体系</a:t>
              </a:r>
            </a:p>
          </p:txBody>
        </p:sp>
        <p:sp>
          <p:nvSpPr>
            <p:cNvPr id="128" name="Line 128"/>
            <p:cNvSpPr/>
            <p:nvPr/>
          </p:nvSpPr>
          <p:spPr>
            <a:xfrm>
              <a:off x="10048875" y="5476875"/>
              <a:ext cx="9525" cy="171450"/>
            </a:xfrm>
            <a:custGeom>
              <a:avLst/>
              <a:gdLst/>
              <a:ahLst/>
              <a:cxnLst/>
              <a:rect l="l" t="t" r="r" b="b"/>
              <a:pathLst>
                <a:path w="9525" h="171450">
                  <a:moveTo>
                    <a:pt x="0" y="0"/>
                  </a:moveTo>
                  <a:lnTo>
                    <a:pt x="0" y="171450"/>
                  </a:lnTo>
                </a:path>
              </a:pathLst>
            </a:custGeom>
            <a:noFill/>
            <a:ln w="14288">
              <a:solidFill>
                <a:srgbClr val="DD988A"/>
              </a:solidFill>
            </a:ln>
          </p:spPr>
        </p:sp>
        <p:sp>
          <p:nvSpPr>
            <p:cNvPr id="129" name="Rectangle 129"/>
            <p:cNvSpPr/>
            <p:nvPr/>
          </p:nvSpPr>
          <p:spPr>
            <a:xfrm>
              <a:off x="9477375" y="5648325"/>
              <a:ext cx="1143000" cy="247650"/>
            </a:xfrm>
            <a:prstGeom prst="roundRect">
              <a:avLst>
                <a:gd name="adj" fmla="val 50000"/>
              </a:avLst>
            </a:prstGeom>
            <a:solidFill>
              <a:srgbClr val="FFFFFF"/>
            </a:solidFill>
            <a:ln w="9525">
              <a:solidFill>
                <a:srgbClr val="D47D6B"/>
              </a:solidFill>
            </a:ln>
          </p:spPr>
        </p:sp>
        <p:sp>
          <p:nvSpPr>
            <p:cNvPr id="130" name="TextBox 130"/>
            <p:cNvSpPr txBox="1"/>
            <p:nvPr/>
          </p:nvSpPr>
          <p:spPr>
            <a:xfrm>
              <a:off x="9801796" y="5722620"/>
              <a:ext cx="494157" cy="176212"/>
            </a:xfrm>
            <a:prstGeom prst="rect">
              <a:avLst/>
            </a:prstGeom>
            <a:noFill/>
            <a:ln>
              <a:noFill/>
            </a:ln>
          </p:spPr>
          <p:txBody>
            <a:bodyPr wrap="none" lIns="0" tIns="0" rIns="0" bIns="0" anchor="t" anchorCtr="0">
              <a:spAutoFit/>
            </a:bodyPr>
            <a:lstStyle/>
            <a:p>
              <a:pPr algn="ctr"/>
              <a:r>
                <a:rPr lang="zh-CN" sz="900" dirty="0">
                  <a:solidFill>
                    <a:srgbClr val="C1553F"/>
                  </a:solidFill>
                  <a:latin typeface="+mn-lt"/>
                  <a:ea typeface="+mn-ea"/>
                  <a:cs typeface="+mn-cs"/>
                </a:rPr>
                <a:t>积分兑换</a:t>
              </a:r>
            </a:p>
          </p:txBody>
        </p:sp>
        <p:sp>
          <p:nvSpPr>
            <p:cNvPr id="131" name="Freeform 131"/>
            <p:cNvSpPr/>
            <p:nvPr/>
          </p:nvSpPr>
          <p:spPr>
            <a:xfrm>
              <a:off x="9201150" y="5895975"/>
              <a:ext cx="1638300" cy="257175"/>
            </a:xfrm>
            <a:custGeom>
              <a:avLst/>
              <a:gdLst/>
              <a:ahLst/>
              <a:cxnLst/>
              <a:rect l="l" t="t" r="r" b="b"/>
              <a:pathLst>
                <a:path w="1638300" h="257175">
                  <a:moveTo>
                    <a:pt x="847725" y="0"/>
                  </a:moveTo>
                  <a:lnTo>
                    <a:pt x="847725" y="142875"/>
                  </a:lnTo>
                  <a:moveTo>
                    <a:pt x="0" y="142875"/>
                  </a:moveTo>
                  <a:lnTo>
                    <a:pt x="1638300" y="142875"/>
                  </a:lnTo>
                  <a:moveTo>
                    <a:pt x="0" y="142875"/>
                  </a:moveTo>
                  <a:lnTo>
                    <a:pt x="0" y="257175"/>
                  </a:lnTo>
                  <a:moveTo>
                    <a:pt x="790575" y="142875"/>
                  </a:moveTo>
                  <a:lnTo>
                    <a:pt x="790575" y="257175"/>
                  </a:lnTo>
                  <a:moveTo>
                    <a:pt x="1638300" y="142875"/>
                  </a:moveTo>
                  <a:lnTo>
                    <a:pt x="1638300" y="257175"/>
                  </a:lnTo>
                </a:path>
              </a:pathLst>
            </a:custGeom>
            <a:noFill/>
            <a:ln w="14288">
              <a:solidFill>
                <a:srgbClr val="DD988A"/>
              </a:solidFill>
            </a:ln>
          </p:spPr>
        </p:sp>
        <p:sp>
          <p:nvSpPr>
            <p:cNvPr id="132" name="Rectangle 132"/>
            <p:cNvSpPr/>
            <p:nvPr/>
          </p:nvSpPr>
          <p:spPr>
            <a:xfrm>
              <a:off x="8915400" y="6153150"/>
              <a:ext cx="571500" cy="247650"/>
            </a:xfrm>
            <a:prstGeom prst="roundRect">
              <a:avLst>
                <a:gd name="adj" fmla="val 50000"/>
              </a:avLst>
            </a:prstGeom>
            <a:solidFill>
              <a:srgbClr val="FFFFFF"/>
            </a:solidFill>
            <a:ln w="9525">
              <a:solidFill>
                <a:srgbClr val="D47D6B"/>
              </a:solidFill>
            </a:ln>
          </p:spPr>
        </p:sp>
        <p:sp>
          <p:nvSpPr>
            <p:cNvPr id="133" name="TextBox 133"/>
            <p:cNvSpPr txBox="1"/>
            <p:nvPr/>
          </p:nvSpPr>
          <p:spPr>
            <a:xfrm>
              <a:off x="9080614" y="6231493"/>
              <a:ext cx="241071"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小样</a:t>
              </a:r>
            </a:p>
          </p:txBody>
        </p:sp>
        <p:sp>
          <p:nvSpPr>
            <p:cNvPr id="134" name="Rectangle 134"/>
            <p:cNvSpPr/>
            <p:nvPr/>
          </p:nvSpPr>
          <p:spPr>
            <a:xfrm>
              <a:off x="9705975" y="6153150"/>
              <a:ext cx="571500" cy="247650"/>
            </a:xfrm>
            <a:prstGeom prst="roundRect">
              <a:avLst>
                <a:gd name="adj" fmla="val 50000"/>
              </a:avLst>
            </a:prstGeom>
            <a:solidFill>
              <a:srgbClr val="FFFFFF"/>
            </a:solidFill>
            <a:ln w="9525">
              <a:solidFill>
                <a:srgbClr val="D47D6B"/>
              </a:solidFill>
            </a:ln>
          </p:spPr>
        </p:sp>
        <p:sp>
          <p:nvSpPr>
            <p:cNvPr id="135" name="TextBox 135"/>
            <p:cNvSpPr txBox="1"/>
            <p:nvPr/>
          </p:nvSpPr>
          <p:spPr>
            <a:xfrm>
              <a:off x="9871189" y="6231493"/>
              <a:ext cx="241071"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商品</a:t>
              </a:r>
            </a:p>
          </p:txBody>
        </p:sp>
        <p:sp>
          <p:nvSpPr>
            <p:cNvPr id="136" name="Rectangle 136"/>
            <p:cNvSpPr/>
            <p:nvPr/>
          </p:nvSpPr>
          <p:spPr>
            <a:xfrm>
              <a:off x="10610850" y="6153150"/>
              <a:ext cx="457200" cy="247650"/>
            </a:xfrm>
            <a:prstGeom prst="roundRect">
              <a:avLst>
                <a:gd name="adj" fmla="val 50000"/>
              </a:avLst>
            </a:prstGeom>
            <a:solidFill>
              <a:srgbClr val="FFFFFF"/>
            </a:solidFill>
            <a:ln w="9525">
              <a:solidFill>
                <a:srgbClr val="D47D6B"/>
              </a:solidFill>
            </a:ln>
          </p:spPr>
        </p:sp>
        <p:sp>
          <p:nvSpPr>
            <p:cNvPr id="137" name="TextBox 137"/>
            <p:cNvSpPr txBox="1"/>
            <p:nvPr/>
          </p:nvSpPr>
          <p:spPr>
            <a:xfrm>
              <a:off x="10739175" y="6221968"/>
              <a:ext cx="200551" cy="169069"/>
            </a:xfrm>
            <a:prstGeom prst="rect">
              <a:avLst/>
            </a:prstGeom>
            <a:noFill/>
            <a:ln>
              <a:noFill/>
            </a:ln>
          </p:spPr>
          <p:txBody>
            <a:bodyPr wrap="none" lIns="0" tIns="0" rIns="0" bIns="0" anchor="t" anchorCtr="0">
              <a:spAutoFit/>
            </a:bodyPr>
            <a:lstStyle/>
            <a:p>
              <a:pPr algn="ctr"/>
              <a:r>
                <a:rPr lang="zh-CN" sz="860" dirty="0">
                  <a:solidFill>
                    <a:srgbClr val="C1553F"/>
                  </a:solidFill>
                  <a:latin typeface="+mn-lt"/>
                  <a:ea typeface="+mn-ea"/>
                  <a:cs typeface="+mn-cs"/>
                </a:rPr>
                <a:t>...</a:t>
              </a:r>
            </a:p>
          </p:txBody>
        </p:sp>
      </p:gr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253615" cy="440055"/>
            <a:chOff x="302895" y="214312"/>
            <a:chExt cx="2253615"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41.​</a:t>
              </a:r>
            </a:p>
          </p:txBody>
        </p:sp>
        <p:sp>
          <p:nvSpPr>
            <p:cNvPr id="3" name="TextBox 3"/>
            <p:cNvSpPr txBox="1"/>
            <p:nvPr/>
          </p:nvSpPr>
          <p:spPr>
            <a:xfrm>
              <a:off x="961644" y="246698"/>
              <a:ext cx="159486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达人投放策略</a:t>
              </a:r>
            </a:p>
          </p:txBody>
        </p:sp>
      </p:grpSp>
      <p:grpSp>
        <p:nvGrpSpPr>
          <p:cNvPr id="37" name="social-left"/>
          <p:cNvGrpSpPr/>
          <p:nvPr/>
        </p:nvGrpSpPr>
        <p:grpSpPr>
          <a:xfrm>
            <a:off x="314325" y="1212056"/>
            <a:ext cx="4143375" cy="5331619"/>
            <a:chOff x="314325" y="1212056"/>
            <a:chExt cx="4143375" cy="5331619"/>
          </a:xfrm>
        </p:grpSpPr>
        <p:sp>
          <p:nvSpPr>
            <p:cNvPr id="5" name="TextBox 5"/>
            <p:cNvSpPr txBox="1"/>
            <p:nvPr/>
          </p:nvSpPr>
          <p:spPr>
            <a:xfrm>
              <a:off x="1742237" y="1212056"/>
              <a:ext cx="916076" cy="220028"/>
            </a:xfrm>
            <a:prstGeom prst="rect">
              <a:avLst/>
            </a:prstGeom>
            <a:noFill/>
            <a:ln>
              <a:noFill/>
            </a:ln>
          </p:spPr>
          <p:txBody>
            <a:bodyPr wrap="none" lIns="0" tIns="0" rIns="0" bIns="0" anchor="t" anchorCtr="0">
              <a:spAutoFit/>
            </a:bodyPr>
            <a:lstStyle/>
            <a:p>
              <a:pPr algn="ctr"/>
              <a:r>
                <a:rPr lang="zh-CN" sz="1120" b="1" dirty="0">
                  <a:solidFill>
                    <a:srgbClr val="C1553F"/>
                  </a:solidFill>
                  <a:latin typeface="+mn-lt"/>
                  <a:ea typeface="+mn-ea"/>
                  <a:cs typeface="+mn-cs"/>
                </a:rPr>
                <a:t>社媒布局策略</a:t>
              </a:r>
            </a:p>
          </p:txBody>
        </p:sp>
        <p:sp>
          <p:nvSpPr>
            <p:cNvPr id="6" name="Rectangle 6"/>
            <p:cNvSpPr/>
            <p:nvPr/>
          </p:nvSpPr>
          <p:spPr>
            <a:xfrm>
              <a:off x="314325" y="1504950"/>
              <a:ext cx="3838575" cy="285750"/>
            </a:xfrm>
            <a:prstGeom prst="roundRect">
              <a:avLst>
                <a:gd name="adj" fmla="val 13333"/>
              </a:avLst>
            </a:prstGeom>
            <a:gradFill>
              <a:gsLst>
                <a:gs pos="0">
                  <a:srgbClr val="D47D6B"/>
                </a:gs>
                <a:gs pos="100000">
                  <a:srgbClr val="C1553F"/>
                </a:gs>
              </a:gsLst>
              <a:lin ang="0" scaled="1"/>
            </a:gradFill>
            <a:ln>
              <a:noFill/>
            </a:ln>
          </p:spPr>
        </p:sp>
        <p:sp>
          <p:nvSpPr>
            <p:cNvPr id="7" name="TextBox 7"/>
            <p:cNvSpPr txBox="1"/>
            <p:nvPr/>
          </p:nvSpPr>
          <p:spPr>
            <a:xfrm>
              <a:off x="1405270" y="1591628"/>
              <a:ext cx="16471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多平台&amp;多账号差异化运营</a:t>
              </a:r>
            </a:p>
          </p:txBody>
        </p:sp>
        <p:sp>
          <p:nvSpPr>
            <p:cNvPr id="8" name="Rectangle 8"/>
            <p:cNvSpPr/>
            <p:nvPr/>
          </p:nvSpPr>
          <p:spPr>
            <a:xfrm>
              <a:off x="590550" y="1943100"/>
              <a:ext cx="1581150" cy="228600"/>
            </a:xfrm>
            <a:prstGeom prst="roundRect">
              <a:avLst>
                <a:gd name="adj" fmla="val 50000"/>
              </a:avLst>
            </a:prstGeom>
            <a:solidFill>
              <a:srgbClr val="EEF0FB"/>
            </a:solidFill>
            <a:ln>
              <a:noFill/>
            </a:ln>
          </p:spPr>
        </p:sp>
        <p:sp>
          <p:nvSpPr>
            <p:cNvPr id="9" name="TextBox 9"/>
            <p:cNvSpPr txBox="1"/>
            <p:nvPr/>
          </p:nvSpPr>
          <p:spPr>
            <a:xfrm>
              <a:off x="907481" y="2011918"/>
              <a:ext cx="947288"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泛曝光+补量渠道​</a:t>
              </a:r>
            </a:p>
          </p:txBody>
        </p:sp>
        <p:sp>
          <p:nvSpPr>
            <p:cNvPr id="10" name="Rectangle 10"/>
            <p:cNvSpPr/>
            <p:nvPr/>
          </p:nvSpPr>
          <p:spPr>
            <a:xfrm>
              <a:off x="2733675" y="1943100"/>
              <a:ext cx="1552575" cy="228600"/>
            </a:xfrm>
            <a:prstGeom prst="roundRect">
              <a:avLst>
                <a:gd name="adj" fmla="val 50000"/>
              </a:avLst>
            </a:prstGeom>
            <a:solidFill>
              <a:srgbClr val="EEF0FB"/>
            </a:solidFill>
            <a:ln>
              <a:noFill/>
            </a:ln>
          </p:spPr>
        </p:sp>
        <p:sp>
          <p:nvSpPr>
            <p:cNvPr id="11" name="TextBox 11"/>
            <p:cNvSpPr txBox="1"/>
            <p:nvPr/>
          </p:nvSpPr>
          <p:spPr>
            <a:xfrm>
              <a:off x="3031556" y="2011918"/>
              <a:ext cx="947288" cy="169069"/>
            </a:xfrm>
            <a:prstGeom prst="rect">
              <a:avLst/>
            </a:prstGeom>
            <a:noFill/>
            <a:ln>
              <a:noFill/>
            </a:ln>
          </p:spPr>
          <p:txBody>
            <a:bodyPr wrap="none" lIns="0" tIns="0" rIns="0" bIns="0" anchor="t" anchorCtr="0">
              <a:spAutoFit/>
            </a:bodyPr>
            <a:lstStyle/>
            <a:p>
              <a:pPr algn="ctr"/>
              <a:r>
                <a:rPr lang="zh-CN" sz="860" dirty="0">
                  <a:solidFill>
                    <a:srgbClr val="705F5B"/>
                  </a:solidFill>
                  <a:latin typeface="+mn-lt"/>
                  <a:ea typeface="+mn-ea"/>
                  <a:cs typeface="+mn-cs"/>
                </a:rPr>
                <a:t>品宣+种收主阵地​</a:t>
              </a:r>
            </a:p>
          </p:txBody>
        </p:sp>
        <p:sp>
          <p:nvSpPr>
            <p:cNvPr id="12" name="Rectangle 12"/>
            <p:cNvSpPr/>
            <p:nvPr/>
          </p:nvSpPr>
          <p:spPr>
            <a:xfrm>
              <a:off x="314325" y="2247900"/>
              <a:ext cx="4143375" cy="4295775"/>
            </a:xfrm>
            <a:prstGeom prst="roundRect">
              <a:avLst>
                <a:gd name="adj" fmla="val 1839"/>
              </a:avLst>
            </a:prstGeom>
            <a:solidFill>
              <a:srgbClr val="F6F7FC"/>
            </a:solidFill>
            <a:ln>
              <a:noFill/>
            </a:ln>
          </p:spPr>
        </p:sp>
        <p:sp>
          <p:nvSpPr>
            <p:cNvPr id="13" name="Line 13"/>
            <p:cNvSpPr/>
            <p:nvPr/>
          </p:nvSpPr>
          <p:spPr>
            <a:xfrm>
              <a:off x="2381250" y="2362200"/>
              <a:ext cx="9525" cy="4067175"/>
            </a:xfrm>
            <a:custGeom>
              <a:avLst/>
              <a:gdLst/>
              <a:ahLst/>
              <a:cxnLst/>
              <a:rect l="l" t="t" r="r" b="b"/>
              <a:pathLst>
                <a:path w="9525" h="4067175">
                  <a:moveTo>
                    <a:pt x="0" y="0"/>
                  </a:moveTo>
                  <a:lnTo>
                    <a:pt x="0" y="4067175"/>
                  </a:lnTo>
                </a:path>
              </a:pathLst>
            </a:custGeom>
            <a:noFill/>
            <a:ln w="14288">
              <a:solidFill>
                <a:srgbClr val="C9CFEA"/>
              </a:solidFill>
            </a:ln>
          </p:spPr>
        </p:sp>
        <p:sp>
          <p:nvSpPr>
            <p:cNvPr id="14" name="Line 14"/>
            <p:cNvSpPr/>
            <p:nvPr/>
          </p:nvSpPr>
          <p:spPr>
            <a:xfrm>
              <a:off x="428625" y="4391025"/>
              <a:ext cx="3914775" cy="9525"/>
            </a:xfrm>
            <a:custGeom>
              <a:avLst/>
              <a:gdLst/>
              <a:ahLst/>
              <a:cxnLst/>
              <a:rect l="l" t="t" r="r" b="b"/>
              <a:pathLst>
                <a:path w="3914775" h="9525">
                  <a:moveTo>
                    <a:pt x="0" y="0"/>
                  </a:moveTo>
                  <a:lnTo>
                    <a:pt x="3914775" y="0"/>
                  </a:lnTo>
                </a:path>
              </a:pathLst>
            </a:custGeom>
            <a:noFill/>
            <a:ln w="14288">
              <a:solidFill>
                <a:srgbClr val="C9CFEA"/>
              </a:solidFill>
            </a:ln>
          </p:spPr>
        </p:sp>
        <p:sp>
          <p:nvSpPr>
            <p:cNvPr id="15" name="TextBox 15"/>
            <p:cNvSpPr txBox="1"/>
            <p:nvPr/>
          </p:nvSpPr>
          <p:spPr>
            <a:xfrm>
              <a:off x="2233612" y="2471738"/>
              <a:ext cx="104775" cy="547688"/>
            </a:xfrm>
            <a:prstGeom prst="rect">
              <a:avLst/>
            </a:prstGeom>
            <a:noFill/>
            <a:ln>
              <a:noFill/>
            </a:ln>
          </p:spPr>
          <p:txBody>
            <a:bodyPr wrap="none" lIns="0" tIns="0" rIns="0" bIns="0" anchor="t" anchorCtr="0">
              <a:spAutoFit/>
            </a:bodyPr>
            <a:lstStyle/>
            <a:p>
              <a:pPr algn="ctr">
                <a:lnSpc>
                  <a:spcPts val="1050"/>
                </a:lnSpc>
              </a:pPr>
              <a:r>
                <a:rPr lang="zh-CN" sz="750" dirty="0">
                  <a:solidFill>
                    <a:srgbClr val="8A90A5"/>
                  </a:solidFill>
                  <a:latin typeface="+mn-lt"/>
                  <a:ea typeface="+mn-ea"/>
                  <a:cs typeface="+mn-cs"/>
                </a:rPr>
                <a:t>高</a:t>
              </a:r>
              <a:br/>
              <a:r>
                <a:rPr lang="zh-CN" sz="750" dirty="0">
                  <a:solidFill>
                    <a:srgbClr val="8A90A5"/>
                  </a:solidFill>
                  <a:latin typeface="+mn-lt"/>
                  <a:ea typeface="+mn-ea"/>
                  <a:cs typeface="+mn-cs"/>
                </a:rPr>
                <a:t>频</a:t>
              </a:r>
              <a:br/>
              <a:r>
                <a:rPr lang="zh-CN" sz="750" dirty="0">
                  <a:solidFill>
                    <a:srgbClr val="8A90A5"/>
                  </a:solidFill>
                  <a:latin typeface="+mn-lt"/>
                  <a:ea typeface="+mn-ea"/>
                  <a:cs typeface="+mn-cs"/>
                </a:rPr>
                <a:t>发</a:t>
              </a:r>
              <a:br/>
              <a:r>
                <a:rPr lang="zh-CN" sz="750" dirty="0">
                  <a:solidFill>
                    <a:srgbClr val="8A90A5"/>
                  </a:solidFill>
                  <a:latin typeface="+mn-lt"/>
                  <a:ea typeface="+mn-ea"/>
                  <a:cs typeface="+mn-cs"/>
                </a:rPr>
                <a:t>散</a:t>
              </a:r>
            </a:p>
          </p:txBody>
        </p:sp>
        <p:sp>
          <p:nvSpPr>
            <p:cNvPr id="16" name="TextBox 16"/>
            <p:cNvSpPr txBox="1"/>
            <p:nvPr/>
          </p:nvSpPr>
          <p:spPr>
            <a:xfrm>
              <a:off x="452438" y="4348162"/>
              <a:ext cx="312420" cy="147638"/>
            </a:xfrm>
            <a:prstGeom prst="rect">
              <a:avLst/>
            </a:prstGeom>
            <a:noFill/>
            <a:ln>
              <a:noFill/>
            </a:ln>
          </p:spPr>
          <p:txBody>
            <a:bodyPr wrap="none" lIns="0" tIns="0" rIns="0" bIns="0" anchor="t" anchorCtr="0">
              <a:spAutoFit/>
            </a:bodyPr>
            <a:lstStyle/>
            <a:p>
              <a:pPr algn="l"/>
              <a:r>
                <a:rPr lang="zh-CN" sz="750" dirty="0">
                  <a:solidFill>
                    <a:srgbClr val="8A90A5"/>
                  </a:solidFill>
                  <a:latin typeface="+mn-lt"/>
                  <a:ea typeface="+mn-ea"/>
                  <a:cs typeface="+mn-cs"/>
                </a:rPr>
                <a:t>单账号</a:t>
              </a:r>
            </a:p>
          </p:txBody>
        </p:sp>
        <p:sp>
          <p:nvSpPr>
            <p:cNvPr id="17" name="TextBox 17"/>
            <p:cNvSpPr txBox="1"/>
            <p:nvPr/>
          </p:nvSpPr>
          <p:spPr>
            <a:xfrm>
              <a:off x="3997642" y="4348162"/>
              <a:ext cx="312420" cy="147638"/>
            </a:xfrm>
            <a:prstGeom prst="rect">
              <a:avLst/>
            </a:prstGeom>
            <a:noFill/>
            <a:ln>
              <a:noFill/>
            </a:ln>
          </p:spPr>
          <p:txBody>
            <a:bodyPr wrap="none" lIns="0" tIns="0" rIns="0" bIns="0" anchor="t" anchorCtr="0">
              <a:spAutoFit/>
            </a:bodyPr>
            <a:lstStyle/>
            <a:p>
              <a:pPr algn="r"/>
              <a:r>
                <a:rPr lang="zh-CN" sz="750" dirty="0">
                  <a:solidFill>
                    <a:srgbClr val="8A90A5"/>
                  </a:solidFill>
                  <a:latin typeface="+mn-lt"/>
                  <a:ea typeface="+mn-ea"/>
                  <a:cs typeface="+mn-cs"/>
                </a:rPr>
                <a:t>多账号</a:t>
              </a:r>
            </a:p>
          </p:txBody>
        </p:sp>
        <p:sp>
          <p:nvSpPr>
            <p:cNvPr id="18" name="TextBox 18"/>
            <p:cNvSpPr txBox="1"/>
            <p:nvPr/>
          </p:nvSpPr>
          <p:spPr>
            <a:xfrm>
              <a:off x="2233612" y="5691188"/>
              <a:ext cx="104775" cy="547688"/>
            </a:xfrm>
            <a:prstGeom prst="rect">
              <a:avLst/>
            </a:prstGeom>
            <a:noFill/>
            <a:ln>
              <a:noFill/>
            </a:ln>
          </p:spPr>
          <p:txBody>
            <a:bodyPr wrap="none" lIns="0" tIns="0" rIns="0" bIns="0" anchor="t" anchorCtr="0">
              <a:spAutoFit/>
            </a:bodyPr>
            <a:lstStyle/>
            <a:p>
              <a:pPr algn="ctr">
                <a:lnSpc>
                  <a:spcPts val="1050"/>
                </a:lnSpc>
              </a:pPr>
              <a:r>
                <a:rPr lang="zh-CN" sz="750" dirty="0">
                  <a:solidFill>
                    <a:srgbClr val="8A90A5"/>
                  </a:solidFill>
                  <a:latin typeface="+mn-lt"/>
                  <a:ea typeface="+mn-ea"/>
                  <a:cs typeface="+mn-cs"/>
                </a:rPr>
                <a:t>低</a:t>
              </a:r>
              <a:br/>
              <a:r>
                <a:rPr lang="zh-CN" sz="750" dirty="0">
                  <a:solidFill>
                    <a:srgbClr val="8A90A5"/>
                  </a:solidFill>
                  <a:latin typeface="+mn-lt"/>
                  <a:ea typeface="+mn-ea"/>
                  <a:cs typeface="+mn-cs"/>
                </a:rPr>
                <a:t>频</a:t>
              </a:r>
              <a:br/>
              <a:r>
                <a:rPr lang="zh-CN" sz="750" dirty="0">
                  <a:solidFill>
                    <a:srgbClr val="8A90A5"/>
                  </a:solidFill>
                  <a:latin typeface="+mn-lt"/>
                  <a:ea typeface="+mn-ea"/>
                  <a:cs typeface="+mn-cs"/>
                </a:rPr>
                <a:t>发</a:t>
              </a:r>
              <a:br/>
              <a:r>
                <a:rPr lang="zh-CN" sz="750" dirty="0">
                  <a:solidFill>
                    <a:srgbClr val="8A90A5"/>
                  </a:solidFill>
                  <a:latin typeface="+mn-lt"/>
                  <a:ea typeface="+mn-ea"/>
                  <a:cs typeface="+mn-cs"/>
                </a:rPr>
                <a:t>散</a:t>
              </a:r>
            </a:p>
          </p:txBody>
        </p:sp>
        <p:sp>
          <p:nvSpPr>
            <p:cNvPr id="19" name="Ellipse 19"/>
            <p:cNvSpPr/>
            <p:nvPr/>
          </p:nvSpPr>
          <p:spPr>
            <a:xfrm>
              <a:off x="1247775" y="2943225"/>
              <a:ext cx="2362200" cy="2362200"/>
            </a:xfrm>
            <a:prstGeom prst="ellipse">
              <a:avLst/>
            </a:prstGeom>
            <a:solidFill>
              <a:srgbClr val="FBDCD3">
                <a:alpha val="75000"/>
              </a:srgbClr>
            </a:solidFill>
            <a:ln>
              <a:noFill/>
            </a:ln>
          </p:spPr>
        </p:sp>
        <p:sp>
          <p:nvSpPr>
            <p:cNvPr id="20" name="Ellipse 20"/>
            <p:cNvSpPr/>
            <p:nvPr/>
          </p:nvSpPr>
          <p:spPr>
            <a:xfrm>
              <a:off x="2667000" y="3905250"/>
              <a:ext cx="495300" cy="495300"/>
            </a:xfrm>
            <a:prstGeom prst="ellipse">
              <a:avLst/>
            </a:prstGeom>
            <a:solidFill>
              <a:srgbClr val="E5624C"/>
            </a:solidFill>
            <a:ln>
              <a:noFill/>
            </a:ln>
          </p:spPr>
        </p:sp>
        <p:sp>
          <p:nvSpPr>
            <p:cNvPr id="21" name="TextBox 21"/>
            <p:cNvSpPr txBox="1"/>
            <p:nvPr/>
          </p:nvSpPr>
          <p:spPr>
            <a:xfrm>
              <a:off x="2744305" y="4111466"/>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小红书</a:t>
              </a:r>
            </a:p>
          </p:txBody>
        </p:sp>
        <p:sp>
          <p:nvSpPr>
            <p:cNvPr id="22" name="Ellipse 22"/>
            <p:cNvSpPr/>
            <p:nvPr/>
          </p:nvSpPr>
          <p:spPr>
            <a:xfrm>
              <a:off x="1790700" y="3533775"/>
              <a:ext cx="266700" cy="266700"/>
            </a:xfrm>
            <a:prstGeom prst="ellipse">
              <a:avLst/>
            </a:prstGeom>
            <a:solidFill>
              <a:srgbClr val="E63D16"/>
            </a:solidFill>
            <a:ln>
              <a:noFill/>
            </a:ln>
          </p:spPr>
        </p:sp>
        <p:sp>
          <p:nvSpPr>
            <p:cNvPr id="23" name="Ellipse 23"/>
            <p:cNvSpPr/>
            <p:nvPr/>
          </p:nvSpPr>
          <p:spPr>
            <a:xfrm>
              <a:off x="1876425" y="3629025"/>
              <a:ext cx="95250" cy="95250"/>
            </a:xfrm>
            <a:prstGeom prst="ellipse">
              <a:avLst/>
            </a:prstGeom>
            <a:solidFill>
              <a:srgbClr val="FFFFFF"/>
            </a:solidFill>
            <a:ln>
              <a:noFill/>
            </a:ln>
          </p:spPr>
        </p:sp>
        <p:sp>
          <p:nvSpPr>
            <p:cNvPr id="24" name="Ellipse 24"/>
            <p:cNvSpPr/>
            <p:nvPr/>
          </p:nvSpPr>
          <p:spPr>
            <a:xfrm>
              <a:off x="1901190" y="3653790"/>
              <a:ext cx="45720" cy="45720"/>
            </a:xfrm>
            <a:prstGeom prst="ellipse">
              <a:avLst/>
            </a:prstGeom>
            <a:solidFill>
              <a:srgbClr val="E63D16"/>
            </a:solidFill>
            <a:ln>
              <a:noFill/>
            </a:ln>
          </p:spPr>
        </p:sp>
        <p:sp>
          <p:nvSpPr>
            <p:cNvPr id="25" name="Ellipse 25"/>
            <p:cNvSpPr/>
            <p:nvPr/>
          </p:nvSpPr>
          <p:spPr>
            <a:xfrm>
              <a:off x="1819275" y="3867150"/>
              <a:ext cx="247650" cy="247650"/>
            </a:xfrm>
            <a:prstGeom prst="ellipse">
              <a:avLst/>
            </a:prstGeom>
            <a:solidFill>
              <a:srgbClr val="271D1B"/>
            </a:solidFill>
            <a:ln>
              <a:noFill/>
            </a:ln>
          </p:spPr>
        </p:sp>
        <p:sp>
          <p:nvSpPr>
            <p:cNvPr id="26" name="Ellipse 26"/>
            <p:cNvSpPr/>
            <p:nvPr/>
          </p:nvSpPr>
          <p:spPr>
            <a:xfrm>
              <a:off x="1899285" y="4013835"/>
              <a:ext cx="49530" cy="49530"/>
            </a:xfrm>
            <a:prstGeom prst="ellipse">
              <a:avLst/>
            </a:prstGeom>
            <a:solidFill>
              <a:srgbClr val="FFFFFF"/>
            </a:solidFill>
            <a:ln>
              <a:noFill/>
            </a:ln>
          </p:spPr>
        </p:sp>
        <p:sp>
          <p:nvSpPr>
            <p:cNvPr id="27" name="Rectangle 27"/>
            <p:cNvSpPr/>
            <p:nvPr/>
          </p:nvSpPr>
          <p:spPr>
            <a:xfrm>
              <a:off x="1933575" y="3933825"/>
              <a:ext cx="15240" cy="104775"/>
            </a:xfrm>
            <a:prstGeom prst="rect">
              <a:avLst/>
            </a:prstGeom>
            <a:solidFill>
              <a:srgbClr val="FFFFFF"/>
            </a:solidFill>
            <a:ln>
              <a:noFill/>
            </a:ln>
          </p:spPr>
        </p:sp>
        <p:sp>
          <p:nvSpPr>
            <p:cNvPr id="28" name="Ellipse 28"/>
            <p:cNvSpPr/>
            <p:nvPr/>
          </p:nvSpPr>
          <p:spPr>
            <a:xfrm>
              <a:off x="1819275" y="4191000"/>
              <a:ext cx="247650" cy="247650"/>
            </a:xfrm>
            <a:prstGeom prst="ellipse">
              <a:avLst/>
            </a:prstGeom>
            <a:solidFill>
              <a:srgbClr val="F5674A"/>
            </a:solidFill>
            <a:ln>
              <a:noFill/>
            </a:ln>
          </p:spPr>
        </p:sp>
        <p:sp>
          <p:nvSpPr>
            <p:cNvPr id="29" name="TextBox 29"/>
            <p:cNvSpPr txBox="1"/>
            <p:nvPr/>
          </p:nvSpPr>
          <p:spPr>
            <a:xfrm>
              <a:off x="1883143" y="427339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知</a:t>
              </a:r>
            </a:p>
          </p:txBody>
        </p:sp>
        <p:sp>
          <p:nvSpPr>
            <p:cNvPr id="30" name="Ellipse 30"/>
            <p:cNvSpPr/>
            <p:nvPr/>
          </p:nvSpPr>
          <p:spPr>
            <a:xfrm>
              <a:off x="1819275" y="4514850"/>
              <a:ext cx="247650" cy="247650"/>
            </a:xfrm>
            <a:prstGeom prst="ellipse">
              <a:avLst/>
            </a:prstGeom>
            <a:solidFill>
              <a:srgbClr val="E5624C"/>
            </a:solidFill>
            <a:ln>
              <a:noFill/>
            </a:ln>
          </p:spPr>
        </p:sp>
        <p:sp>
          <p:nvSpPr>
            <p:cNvPr id="31" name="TextBox 31"/>
            <p:cNvSpPr txBox="1"/>
            <p:nvPr/>
          </p:nvSpPr>
          <p:spPr>
            <a:xfrm>
              <a:off x="1883143" y="4597241"/>
              <a:ext cx="11991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红</a:t>
              </a:r>
            </a:p>
          </p:txBody>
        </p:sp>
        <p:sp>
          <p:nvSpPr>
            <p:cNvPr id="32" name="Rectangle 32"/>
            <p:cNvSpPr/>
            <p:nvPr/>
          </p:nvSpPr>
          <p:spPr>
            <a:xfrm>
              <a:off x="3143250" y="3543300"/>
              <a:ext cx="266700" cy="247650"/>
            </a:xfrm>
            <a:prstGeom prst="roundRect">
              <a:avLst>
                <a:gd name="adj" fmla="val 19231"/>
              </a:avLst>
            </a:prstGeom>
            <a:solidFill>
              <a:srgbClr val="FFFFFF"/>
            </a:solidFill>
            <a:ln w="9525">
              <a:solidFill>
                <a:srgbClr val="C9CFEA"/>
              </a:solidFill>
            </a:ln>
          </p:spPr>
        </p:sp>
        <p:sp>
          <p:nvSpPr>
            <p:cNvPr id="33" name="Ellipse 33"/>
            <p:cNvSpPr/>
            <p:nvPr/>
          </p:nvSpPr>
          <p:spPr>
            <a:xfrm>
              <a:off x="3200400" y="3590925"/>
              <a:ext cx="152400" cy="152400"/>
            </a:xfrm>
            <a:prstGeom prst="ellipse">
              <a:avLst/>
            </a:prstGeom>
            <a:solidFill>
              <a:srgbClr val="C34932"/>
            </a:solidFill>
            <a:ln>
              <a:noFill/>
            </a:ln>
          </p:spPr>
        </p:sp>
        <p:sp>
          <p:nvSpPr>
            <p:cNvPr id="34" name="Polygon 34"/>
            <p:cNvSpPr/>
            <p:nvPr/>
          </p:nvSpPr>
          <p:spPr>
            <a:xfrm>
              <a:off x="3248025" y="3629025"/>
              <a:ext cx="76200" cy="76200"/>
            </a:xfrm>
            <a:custGeom>
              <a:avLst/>
              <a:gdLst/>
              <a:ahLst/>
              <a:cxnLst/>
              <a:rect l="l" t="t" r="r" b="b"/>
              <a:pathLst>
                <a:path w="76200" h="76200">
                  <a:moveTo>
                    <a:pt x="0" y="0"/>
                  </a:moveTo>
                  <a:lnTo>
                    <a:pt x="76200" y="38100"/>
                  </a:lnTo>
                  <a:lnTo>
                    <a:pt x="0" y="76200"/>
                  </a:lnTo>
                  <a:close/>
                </a:path>
              </a:pathLst>
            </a:custGeom>
            <a:solidFill>
              <a:srgbClr val="FFFFFF"/>
            </a:solidFill>
            <a:ln>
              <a:noFill/>
            </a:ln>
          </p:spPr>
        </p:sp>
        <p:sp>
          <p:nvSpPr>
            <p:cNvPr id="35" name="Ellipse 35"/>
            <p:cNvSpPr/>
            <p:nvPr/>
          </p:nvSpPr>
          <p:spPr>
            <a:xfrm>
              <a:off x="3209925" y="4495800"/>
              <a:ext cx="285750" cy="285750"/>
            </a:xfrm>
            <a:prstGeom prst="ellipse">
              <a:avLst/>
            </a:prstGeom>
            <a:solidFill>
              <a:srgbClr val="FB8B72"/>
            </a:solidFill>
            <a:ln>
              <a:noFill/>
            </a:ln>
          </p:spPr>
        </p:sp>
        <p:sp>
          <p:nvSpPr>
            <p:cNvPr id="36" name="TextBox 36"/>
            <p:cNvSpPr txBox="1"/>
            <p:nvPr/>
          </p:nvSpPr>
          <p:spPr>
            <a:xfrm>
              <a:off x="3309753" y="459057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b</a:t>
              </a:r>
            </a:p>
          </p:txBody>
        </p:sp>
      </p:grpSp>
      <p:grpSp>
        <p:nvGrpSpPr>
          <p:cNvPr id="134" name="kol-right"/>
          <p:cNvGrpSpPr/>
          <p:nvPr/>
        </p:nvGrpSpPr>
        <p:grpSpPr>
          <a:xfrm>
            <a:off x="4565966" y="1212056"/>
            <a:ext cx="7226517" cy="5017294"/>
            <a:chOff x="4565966" y="1212056"/>
            <a:chExt cx="7226517" cy="5017294"/>
          </a:xfrm>
        </p:grpSpPr>
        <p:sp>
          <p:nvSpPr>
            <p:cNvPr id="38" name="TextBox 38"/>
            <p:cNvSpPr txBox="1"/>
            <p:nvPr/>
          </p:nvSpPr>
          <p:spPr>
            <a:xfrm>
              <a:off x="7516012" y="1212056"/>
              <a:ext cx="1217625" cy="220028"/>
            </a:xfrm>
            <a:prstGeom prst="rect">
              <a:avLst/>
            </a:prstGeom>
            <a:noFill/>
            <a:ln>
              <a:noFill/>
            </a:ln>
          </p:spPr>
          <p:txBody>
            <a:bodyPr wrap="none" lIns="0" tIns="0" rIns="0" bIns="0" anchor="t" anchorCtr="0">
              <a:spAutoFit/>
            </a:bodyPr>
            <a:lstStyle/>
            <a:p>
              <a:pPr algn="ctr"/>
              <a:r>
                <a:rPr lang="zh-CN" sz="1120" b="1" dirty="0">
                  <a:solidFill>
                    <a:srgbClr val="E5624C"/>
                  </a:solidFill>
                  <a:latin typeface="+mn-lt"/>
                  <a:ea typeface="+mn-ea"/>
                  <a:cs typeface="+mn-cs"/>
                </a:rPr>
                <a:t>社媒营销内容策略</a:t>
              </a:r>
            </a:p>
          </p:txBody>
        </p:sp>
        <p:sp>
          <p:nvSpPr>
            <p:cNvPr id="39" name="Rectangle 39"/>
            <p:cNvSpPr/>
            <p:nvPr/>
          </p:nvSpPr>
          <p:spPr>
            <a:xfrm>
              <a:off x="4743450" y="1504950"/>
              <a:ext cx="7048500" cy="285750"/>
            </a:xfrm>
            <a:prstGeom prst="roundRect">
              <a:avLst>
                <a:gd name="adj" fmla="val 13333"/>
              </a:avLst>
            </a:prstGeom>
            <a:gradFill>
              <a:gsLst>
                <a:gs pos="0">
                  <a:srgbClr val="F0998A"/>
                </a:gs>
                <a:gs pos="100000">
                  <a:srgbClr val="E5624C"/>
                </a:gs>
              </a:gsLst>
              <a:lin ang="0" scaled="1"/>
            </a:gradFill>
            <a:ln>
              <a:noFill/>
            </a:ln>
          </p:spPr>
        </p:sp>
        <p:sp>
          <p:nvSpPr>
            <p:cNvPr id="40" name="TextBox 40"/>
            <p:cNvSpPr txBox="1"/>
            <p:nvPr/>
          </p:nvSpPr>
          <p:spPr>
            <a:xfrm>
              <a:off x="6505274" y="1595676"/>
              <a:ext cx="3524853"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打造多元红人矩阵，以UGC+PGC内容共创筑专业品牌形象​</a:t>
              </a:r>
            </a:p>
          </p:txBody>
        </p:sp>
        <p:sp>
          <p:nvSpPr>
            <p:cNvPr id="41" name="Polygon 41"/>
            <p:cNvSpPr/>
            <p:nvPr/>
          </p:nvSpPr>
          <p:spPr>
            <a:xfrm>
              <a:off x="4610100" y="1952625"/>
              <a:ext cx="723900" cy="1285875"/>
            </a:xfrm>
            <a:custGeom>
              <a:avLst/>
              <a:gdLst/>
              <a:ahLst/>
              <a:cxnLst/>
              <a:rect l="l" t="t" r="r" b="b"/>
              <a:pathLst>
                <a:path w="723900" h="1285875">
                  <a:moveTo>
                    <a:pt x="0" y="0"/>
                  </a:moveTo>
                  <a:lnTo>
                    <a:pt x="723900" y="0"/>
                  </a:lnTo>
                  <a:lnTo>
                    <a:pt x="571500" y="1285875"/>
                  </a:lnTo>
                  <a:lnTo>
                    <a:pt x="0" y="1285875"/>
                  </a:lnTo>
                  <a:close/>
                </a:path>
              </a:pathLst>
            </a:custGeom>
            <a:gradFill>
              <a:gsLst>
                <a:gs pos="0">
                  <a:srgbClr val="F0998A"/>
                </a:gs>
                <a:gs pos="100000">
                  <a:srgbClr val="E5624C"/>
                </a:gs>
              </a:gsLst>
              <a:lin ang="0" scaled="1"/>
            </a:gradFill>
            <a:ln>
              <a:noFill/>
            </a:ln>
          </p:spPr>
        </p:sp>
        <p:sp>
          <p:nvSpPr>
            <p:cNvPr id="42" name="TextBox 42"/>
            <p:cNvSpPr txBox="1"/>
            <p:nvPr/>
          </p:nvSpPr>
          <p:spPr>
            <a:xfrm>
              <a:off x="4726344" y="2222182"/>
              <a:ext cx="319962"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5%</a:t>
              </a:r>
            </a:p>
          </p:txBody>
        </p:sp>
        <p:sp>
          <p:nvSpPr>
            <p:cNvPr id="43" name="TextBox 43"/>
            <p:cNvSpPr txBox="1"/>
            <p:nvPr/>
          </p:nvSpPr>
          <p:spPr>
            <a:xfrm>
              <a:off x="4617517" y="25807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头部达人</a:t>
              </a:r>
            </a:p>
          </p:txBody>
        </p:sp>
        <p:sp>
          <p:nvSpPr>
            <p:cNvPr id="44" name="TextBox 44"/>
            <p:cNvSpPr txBox="1"/>
            <p:nvPr/>
          </p:nvSpPr>
          <p:spPr>
            <a:xfrm>
              <a:off x="4619863" y="2833688"/>
              <a:ext cx="590074"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粉丝≥100万​</a:t>
              </a:r>
            </a:p>
          </p:txBody>
        </p:sp>
        <p:sp>
          <p:nvSpPr>
            <p:cNvPr id="45" name="TextBox 45"/>
            <p:cNvSpPr txBox="1"/>
            <p:nvPr/>
          </p:nvSpPr>
          <p:spPr>
            <a:xfrm>
              <a:off x="10758488" y="2184797"/>
              <a:ext cx="515696" cy="183356"/>
            </a:xfrm>
            <a:prstGeom prst="rect">
              <a:avLst/>
            </a:prstGeom>
            <a:noFill/>
            <a:ln>
              <a:noFill/>
            </a:ln>
          </p:spPr>
          <p:txBody>
            <a:bodyPr wrap="none" lIns="0" tIns="0" rIns="0" bIns="0" anchor="t" anchorCtr="0">
              <a:spAutoFit/>
            </a:bodyPr>
            <a:lstStyle/>
            <a:p>
              <a:pPr algn="l"/>
              <a:r>
                <a:rPr lang="zh-CN" sz="940" dirty="0">
                  <a:solidFill>
                    <a:srgbClr val="E5624C"/>
                  </a:solidFill>
                  <a:latin typeface="+mn-lt"/>
                  <a:ea typeface="+mn-ea"/>
                  <a:cs typeface="+mn-cs"/>
                </a:rPr>
                <a:t>内容曝光</a:t>
              </a:r>
            </a:p>
          </p:txBody>
        </p:sp>
        <p:sp>
          <p:nvSpPr>
            <p:cNvPr id="46" name="TextBox 46"/>
            <p:cNvSpPr txBox="1"/>
            <p:nvPr/>
          </p:nvSpPr>
          <p:spPr>
            <a:xfrm>
              <a:off x="10753344" y="2418398"/>
              <a:ext cx="1039139" cy="381381"/>
            </a:xfrm>
            <a:prstGeom prst="rect">
              <a:avLst/>
            </a:prstGeom>
            <a:noFill/>
            <a:ln>
              <a:noFill/>
            </a:ln>
          </p:spPr>
          <p:txBody>
            <a:bodyPr wrap="none" lIns="0" tIns="0" rIns="0" bIns="0" anchor="t" anchorCtr="0">
              <a:spAutoFit/>
            </a:bodyPr>
            <a:lstStyle/>
            <a:p>
              <a:pPr algn="l"/>
              <a:r>
                <a:rPr lang="en-US" sz="1950" b="1" dirty="0">
                  <a:solidFill>
                    <a:srgbClr val="E5624C"/>
                  </a:solidFill>
                  <a:latin typeface="+mn-lt"/>
                  <a:ea typeface="+mn-ea"/>
                  <a:cs typeface="+mn-cs"/>
                </a:rPr>
                <a:t>1.2M+​</a:t>
              </a:r>
            </a:p>
          </p:txBody>
        </p:sp>
        <p:sp>
          <p:nvSpPr>
            <p:cNvPr id="47" name="Freeform 47"/>
            <p:cNvSpPr/>
            <p:nvPr/>
          </p:nvSpPr>
          <p:spPr>
            <a:xfrm>
              <a:off x="10858500" y="2724150"/>
              <a:ext cx="304800" cy="323850"/>
            </a:xfrm>
            <a:custGeom>
              <a:avLst/>
              <a:gdLst/>
              <a:ahLst/>
              <a:cxnLst/>
              <a:rect l="l" t="t" r="r" b="b"/>
              <a:pathLst>
                <a:path w="304800" h="323850">
                  <a:moveTo>
                    <a:pt x="0" y="323850"/>
                  </a:moveTo>
                  <a:cubicBezTo>
                    <a:pt x="127000" y="196850"/>
                    <a:pt x="228600" y="88900"/>
                    <a:pt x="304800" y="0"/>
                  </a:cubicBezTo>
                </a:path>
              </a:pathLst>
            </a:custGeom>
            <a:noFill/>
            <a:ln w="23812">
              <a:solidFill>
                <a:srgbClr val="DD988A"/>
              </a:solidFill>
              <a:tailEnd type="triangle" w="lg" len="lg"/>
            </a:ln>
          </p:spPr>
        </p:sp>
        <p:sp>
          <p:nvSpPr>
            <p:cNvPr id="48" name="Rectangle 48"/>
            <p:cNvSpPr/>
            <p:nvPr/>
          </p:nvSpPr>
          <p:spPr>
            <a:xfrm>
              <a:off x="6276975" y="1952625"/>
              <a:ext cx="723900" cy="800100"/>
            </a:xfrm>
            <a:prstGeom prst="roundRect">
              <a:avLst>
                <a:gd name="adj" fmla="val 7895"/>
              </a:avLst>
            </a:prstGeom>
            <a:solidFill>
              <a:srgbClr val="E9EBF8"/>
            </a:solidFill>
            <a:ln w="9525">
              <a:solidFill>
                <a:srgbClr val="C9CFEA"/>
              </a:solidFill>
            </a:ln>
          </p:spPr>
        </p:sp>
        <p:sp>
          <p:nvSpPr>
            <p:cNvPr id="49" name="Ellipse 49"/>
            <p:cNvSpPr/>
            <p:nvPr/>
          </p:nvSpPr>
          <p:spPr>
            <a:xfrm>
              <a:off x="6486525" y="2105025"/>
              <a:ext cx="304800" cy="304800"/>
            </a:xfrm>
            <a:prstGeom prst="ellipse">
              <a:avLst/>
            </a:prstGeom>
            <a:solidFill>
              <a:srgbClr val="B9C0DC"/>
            </a:solidFill>
            <a:ln>
              <a:noFill/>
            </a:ln>
          </p:spPr>
        </p:sp>
        <p:sp>
          <p:nvSpPr>
            <p:cNvPr id="50" name="Ellipse 50"/>
            <p:cNvSpPr/>
            <p:nvPr/>
          </p:nvSpPr>
          <p:spPr>
            <a:xfrm>
              <a:off x="6391275" y="2571750"/>
              <a:ext cx="495300" cy="304800"/>
            </a:xfrm>
            <a:prstGeom prst="ellipse">
              <a:avLst/>
            </a:prstGeom>
            <a:solidFill>
              <a:srgbClr val="B9C0DC"/>
            </a:solidFill>
            <a:ln>
              <a:noFill/>
            </a:ln>
          </p:spPr>
        </p:sp>
        <p:sp>
          <p:nvSpPr>
            <p:cNvPr id="51" name="Rectangle 51"/>
            <p:cNvSpPr/>
            <p:nvPr/>
          </p:nvSpPr>
          <p:spPr>
            <a:xfrm>
              <a:off x="6276975" y="2790825"/>
              <a:ext cx="723900" cy="209550"/>
            </a:xfrm>
            <a:prstGeom prst="roundRect">
              <a:avLst>
                <a:gd name="adj" fmla="val 13636"/>
              </a:avLst>
            </a:prstGeom>
            <a:solidFill>
              <a:srgbClr val="E5624C"/>
            </a:solidFill>
            <a:ln>
              <a:noFill/>
            </a:ln>
          </p:spPr>
        </p:sp>
        <p:sp>
          <p:nvSpPr>
            <p:cNvPr id="52" name="TextBox 52"/>
            <p:cNvSpPr txBox="1"/>
            <p:nvPr/>
          </p:nvSpPr>
          <p:spPr>
            <a:xfrm>
              <a:off x="6339697" y="2852738"/>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53" name="TextBox 53"/>
            <p:cNvSpPr txBox="1"/>
            <p:nvPr/>
          </p:nvSpPr>
          <p:spPr>
            <a:xfrm>
              <a:off x="6449367" y="2848689"/>
              <a:ext cx="493417"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母婴/生活</a:t>
              </a:r>
            </a:p>
          </p:txBody>
        </p:sp>
        <p:sp>
          <p:nvSpPr>
            <p:cNvPr id="54" name="Rectangle 54"/>
            <p:cNvSpPr/>
            <p:nvPr/>
          </p:nvSpPr>
          <p:spPr>
            <a:xfrm>
              <a:off x="7353300" y="1952625"/>
              <a:ext cx="723900" cy="800100"/>
            </a:xfrm>
            <a:prstGeom prst="roundRect">
              <a:avLst>
                <a:gd name="adj" fmla="val 7895"/>
              </a:avLst>
            </a:prstGeom>
            <a:solidFill>
              <a:srgbClr val="E9EBF8"/>
            </a:solidFill>
            <a:ln w="9525">
              <a:solidFill>
                <a:srgbClr val="C9CFEA"/>
              </a:solidFill>
            </a:ln>
          </p:spPr>
        </p:sp>
        <p:sp>
          <p:nvSpPr>
            <p:cNvPr id="55" name="Ellipse 55"/>
            <p:cNvSpPr/>
            <p:nvPr/>
          </p:nvSpPr>
          <p:spPr>
            <a:xfrm>
              <a:off x="7562850" y="2105025"/>
              <a:ext cx="304800" cy="304800"/>
            </a:xfrm>
            <a:prstGeom prst="ellipse">
              <a:avLst/>
            </a:prstGeom>
            <a:solidFill>
              <a:srgbClr val="B9C0DC"/>
            </a:solidFill>
            <a:ln>
              <a:noFill/>
            </a:ln>
          </p:spPr>
        </p:sp>
        <p:sp>
          <p:nvSpPr>
            <p:cNvPr id="56" name="Ellipse 56"/>
            <p:cNvSpPr/>
            <p:nvPr/>
          </p:nvSpPr>
          <p:spPr>
            <a:xfrm>
              <a:off x="7467600" y="2571750"/>
              <a:ext cx="495300" cy="304800"/>
            </a:xfrm>
            <a:prstGeom prst="ellipse">
              <a:avLst/>
            </a:prstGeom>
            <a:solidFill>
              <a:srgbClr val="B9C0DC"/>
            </a:solidFill>
            <a:ln>
              <a:noFill/>
            </a:ln>
          </p:spPr>
        </p:sp>
        <p:sp>
          <p:nvSpPr>
            <p:cNvPr id="57" name="Rectangle 57"/>
            <p:cNvSpPr/>
            <p:nvPr/>
          </p:nvSpPr>
          <p:spPr>
            <a:xfrm>
              <a:off x="7353300" y="2790825"/>
              <a:ext cx="723900" cy="209550"/>
            </a:xfrm>
            <a:prstGeom prst="roundRect">
              <a:avLst>
                <a:gd name="adj" fmla="val 13636"/>
              </a:avLst>
            </a:prstGeom>
            <a:solidFill>
              <a:srgbClr val="E5624C"/>
            </a:solidFill>
            <a:ln>
              <a:noFill/>
            </a:ln>
          </p:spPr>
        </p:sp>
        <p:sp>
          <p:nvSpPr>
            <p:cNvPr id="58" name="TextBox 58"/>
            <p:cNvSpPr txBox="1"/>
            <p:nvPr/>
          </p:nvSpPr>
          <p:spPr>
            <a:xfrm>
              <a:off x="7416022" y="2852738"/>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59" name="TextBox 59"/>
            <p:cNvSpPr txBox="1"/>
            <p:nvPr/>
          </p:nvSpPr>
          <p:spPr>
            <a:xfrm>
              <a:off x="7525692" y="2848689"/>
              <a:ext cx="493417"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美容/健身</a:t>
              </a:r>
            </a:p>
          </p:txBody>
        </p:sp>
        <p:sp>
          <p:nvSpPr>
            <p:cNvPr id="60" name="Rectangle 60"/>
            <p:cNvSpPr/>
            <p:nvPr/>
          </p:nvSpPr>
          <p:spPr>
            <a:xfrm>
              <a:off x="8420100" y="1952625"/>
              <a:ext cx="723900" cy="800100"/>
            </a:xfrm>
            <a:prstGeom prst="roundRect">
              <a:avLst>
                <a:gd name="adj" fmla="val 7895"/>
              </a:avLst>
            </a:prstGeom>
            <a:solidFill>
              <a:srgbClr val="E9EBF8"/>
            </a:solidFill>
            <a:ln w="9525">
              <a:solidFill>
                <a:srgbClr val="C9CFEA"/>
              </a:solidFill>
            </a:ln>
          </p:spPr>
        </p:sp>
        <p:sp>
          <p:nvSpPr>
            <p:cNvPr id="61" name="Ellipse 61"/>
            <p:cNvSpPr/>
            <p:nvPr/>
          </p:nvSpPr>
          <p:spPr>
            <a:xfrm>
              <a:off x="8629650" y="2105025"/>
              <a:ext cx="304800" cy="304800"/>
            </a:xfrm>
            <a:prstGeom prst="ellipse">
              <a:avLst/>
            </a:prstGeom>
            <a:solidFill>
              <a:srgbClr val="B9C0DC"/>
            </a:solidFill>
            <a:ln>
              <a:noFill/>
            </a:ln>
          </p:spPr>
        </p:sp>
        <p:sp>
          <p:nvSpPr>
            <p:cNvPr id="62" name="Ellipse 62"/>
            <p:cNvSpPr/>
            <p:nvPr/>
          </p:nvSpPr>
          <p:spPr>
            <a:xfrm>
              <a:off x="8534400" y="2571750"/>
              <a:ext cx="495300" cy="304800"/>
            </a:xfrm>
            <a:prstGeom prst="ellipse">
              <a:avLst/>
            </a:prstGeom>
            <a:solidFill>
              <a:srgbClr val="B9C0DC"/>
            </a:solidFill>
            <a:ln>
              <a:noFill/>
            </a:ln>
          </p:spPr>
        </p:sp>
        <p:sp>
          <p:nvSpPr>
            <p:cNvPr id="63" name="Rectangle 63"/>
            <p:cNvSpPr/>
            <p:nvPr/>
          </p:nvSpPr>
          <p:spPr>
            <a:xfrm>
              <a:off x="8420100" y="2790825"/>
              <a:ext cx="723900" cy="209550"/>
            </a:xfrm>
            <a:prstGeom prst="roundRect">
              <a:avLst>
                <a:gd name="adj" fmla="val 13636"/>
              </a:avLst>
            </a:prstGeom>
            <a:solidFill>
              <a:srgbClr val="E5624C"/>
            </a:solidFill>
            <a:ln>
              <a:noFill/>
            </a:ln>
          </p:spPr>
        </p:sp>
        <p:sp>
          <p:nvSpPr>
            <p:cNvPr id="64" name="TextBox 64"/>
            <p:cNvSpPr txBox="1"/>
            <p:nvPr/>
          </p:nvSpPr>
          <p:spPr>
            <a:xfrm>
              <a:off x="8482822" y="2852738"/>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65" name="TextBox 65"/>
            <p:cNvSpPr txBox="1"/>
            <p:nvPr/>
          </p:nvSpPr>
          <p:spPr>
            <a:xfrm>
              <a:off x="8592492" y="2848689"/>
              <a:ext cx="493417"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时尚/母婴</a:t>
              </a:r>
            </a:p>
          </p:txBody>
        </p:sp>
        <p:sp>
          <p:nvSpPr>
            <p:cNvPr id="66" name="Rectangle 66"/>
            <p:cNvSpPr/>
            <p:nvPr/>
          </p:nvSpPr>
          <p:spPr>
            <a:xfrm>
              <a:off x="9486900" y="1952625"/>
              <a:ext cx="723900" cy="800100"/>
            </a:xfrm>
            <a:prstGeom prst="roundRect">
              <a:avLst>
                <a:gd name="adj" fmla="val 7895"/>
              </a:avLst>
            </a:prstGeom>
            <a:solidFill>
              <a:srgbClr val="E9EBF8"/>
            </a:solidFill>
            <a:ln w="9525">
              <a:solidFill>
                <a:srgbClr val="C9CFEA"/>
              </a:solidFill>
            </a:ln>
          </p:spPr>
        </p:sp>
        <p:sp>
          <p:nvSpPr>
            <p:cNvPr id="67" name="Ellipse 67"/>
            <p:cNvSpPr/>
            <p:nvPr/>
          </p:nvSpPr>
          <p:spPr>
            <a:xfrm>
              <a:off x="9696450" y="2105025"/>
              <a:ext cx="304800" cy="304800"/>
            </a:xfrm>
            <a:prstGeom prst="ellipse">
              <a:avLst/>
            </a:prstGeom>
            <a:solidFill>
              <a:srgbClr val="B9C0DC"/>
            </a:solidFill>
            <a:ln>
              <a:noFill/>
            </a:ln>
          </p:spPr>
        </p:sp>
        <p:sp>
          <p:nvSpPr>
            <p:cNvPr id="68" name="Ellipse 68"/>
            <p:cNvSpPr/>
            <p:nvPr/>
          </p:nvSpPr>
          <p:spPr>
            <a:xfrm>
              <a:off x="9601200" y="2571750"/>
              <a:ext cx="495300" cy="304800"/>
            </a:xfrm>
            <a:prstGeom prst="ellipse">
              <a:avLst/>
            </a:prstGeom>
            <a:solidFill>
              <a:srgbClr val="B9C0DC"/>
            </a:solidFill>
            <a:ln>
              <a:noFill/>
            </a:ln>
          </p:spPr>
        </p:sp>
        <p:sp>
          <p:nvSpPr>
            <p:cNvPr id="69" name="Rectangle 69"/>
            <p:cNvSpPr/>
            <p:nvPr/>
          </p:nvSpPr>
          <p:spPr>
            <a:xfrm>
              <a:off x="9486900" y="2790825"/>
              <a:ext cx="723900" cy="209550"/>
            </a:xfrm>
            <a:prstGeom prst="roundRect">
              <a:avLst>
                <a:gd name="adj" fmla="val 13636"/>
              </a:avLst>
            </a:prstGeom>
            <a:solidFill>
              <a:srgbClr val="E5624C"/>
            </a:solidFill>
            <a:ln>
              <a:noFill/>
            </a:ln>
          </p:spPr>
        </p:sp>
        <p:sp>
          <p:nvSpPr>
            <p:cNvPr id="70" name="TextBox 70"/>
            <p:cNvSpPr txBox="1"/>
            <p:nvPr/>
          </p:nvSpPr>
          <p:spPr>
            <a:xfrm>
              <a:off x="9549622" y="2852738"/>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71" name="TextBox 71"/>
            <p:cNvSpPr txBox="1"/>
            <p:nvPr/>
          </p:nvSpPr>
          <p:spPr>
            <a:xfrm>
              <a:off x="9659292" y="2848689"/>
              <a:ext cx="493417"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母婴/生活</a:t>
              </a:r>
            </a:p>
          </p:txBody>
        </p:sp>
        <p:sp>
          <p:nvSpPr>
            <p:cNvPr id="72" name="Polygon 72"/>
            <p:cNvSpPr/>
            <p:nvPr/>
          </p:nvSpPr>
          <p:spPr>
            <a:xfrm>
              <a:off x="4610100" y="3448050"/>
              <a:ext cx="723900" cy="1285875"/>
            </a:xfrm>
            <a:custGeom>
              <a:avLst/>
              <a:gdLst/>
              <a:ahLst/>
              <a:cxnLst/>
              <a:rect l="l" t="t" r="r" b="b"/>
              <a:pathLst>
                <a:path w="723900" h="1285875">
                  <a:moveTo>
                    <a:pt x="0" y="0"/>
                  </a:moveTo>
                  <a:lnTo>
                    <a:pt x="723900" y="0"/>
                  </a:lnTo>
                  <a:lnTo>
                    <a:pt x="571500" y="1285875"/>
                  </a:lnTo>
                  <a:lnTo>
                    <a:pt x="0" y="1285875"/>
                  </a:lnTo>
                  <a:close/>
                </a:path>
              </a:pathLst>
            </a:custGeom>
            <a:gradFill>
              <a:gsLst>
                <a:gs pos="0">
                  <a:srgbClr val="F0998A"/>
                </a:gs>
                <a:gs pos="100000">
                  <a:srgbClr val="E5624C"/>
                </a:gs>
              </a:gsLst>
              <a:lin ang="0" scaled="1"/>
            </a:gradFill>
            <a:ln>
              <a:noFill/>
            </a:ln>
          </p:spPr>
        </p:sp>
        <p:sp>
          <p:nvSpPr>
            <p:cNvPr id="73" name="TextBox 73"/>
            <p:cNvSpPr txBox="1"/>
            <p:nvPr/>
          </p:nvSpPr>
          <p:spPr>
            <a:xfrm>
              <a:off x="4565966" y="3724275"/>
              <a:ext cx="640718"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22%≥​</a:t>
              </a:r>
            </a:p>
          </p:txBody>
        </p:sp>
        <p:sp>
          <p:nvSpPr>
            <p:cNvPr id="74" name="TextBox 74"/>
            <p:cNvSpPr txBox="1"/>
            <p:nvPr/>
          </p:nvSpPr>
          <p:spPr>
            <a:xfrm>
              <a:off x="4617517" y="40666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腰部达人</a:t>
              </a:r>
            </a:p>
          </p:txBody>
        </p:sp>
        <p:sp>
          <p:nvSpPr>
            <p:cNvPr id="75" name="TextBox 75"/>
            <p:cNvSpPr txBox="1"/>
            <p:nvPr/>
          </p:nvSpPr>
          <p:spPr>
            <a:xfrm>
              <a:off x="4601623" y="4319588"/>
              <a:ext cx="64560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粉丝10-90万​</a:t>
              </a:r>
            </a:p>
          </p:txBody>
        </p:sp>
        <p:sp>
          <p:nvSpPr>
            <p:cNvPr id="76" name="TextBox 76"/>
            <p:cNvSpPr txBox="1"/>
            <p:nvPr/>
          </p:nvSpPr>
          <p:spPr>
            <a:xfrm>
              <a:off x="10758488" y="3708797"/>
              <a:ext cx="642239" cy="183356"/>
            </a:xfrm>
            <a:prstGeom prst="rect">
              <a:avLst/>
            </a:prstGeom>
            <a:noFill/>
            <a:ln>
              <a:noFill/>
            </a:ln>
          </p:spPr>
          <p:txBody>
            <a:bodyPr wrap="none" lIns="0" tIns="0" rIns="0" bIns="0" anchor="t" anchorCtr="0">
              <a:spAutoFit/>
            </a:bodyPr>
            <a:lstStyle/>
            <a:p>
              <a:pPr algn="l"/>
              <a:r>
                <a:rPr lang="zh-CN" sz="940" dirty="0">
                  <a:solidFill>
                    <a:srgbClr val="E5624C"/>
                  </a:solidFill>
                  <a:latin typeface="+mn-lt"/>
                  <a:ea typeface="+mn-ea"/>
                  <a:cs typeface="+mn-cs"/>
                </a:rPr>
                <a:t>均片阅读量</a:t>
              </a:r>
            </a:p>
          </p:txBody>
        </p:sp>
        <p:sp>
          <p:nvSpPr>
            <p:cNvPr id="77" name="TextBox 77"/>
            <p:cNvSpPr txBox="1"/>
            <p:nvPr/>
          </p:nvSpPr>
          <p:spPr>
            <a:xfrm>
              <a:off x="10753344" y="3942398"/>
              <a:ext cx="878959" cy="381381"/>
            </a:xfrm>
            <a:prstGeom prst="rect">
              <a:avLst/>
            </a:prstGeom>
            <a:noFill/>
            <a:ln>
              <a:noFill/>
            </a:ln>
          </p:spPr>
          <p:txBody>
            <a:bodyPr wrap="none" lIns="0" tIns="0" rIns="0" bIns="0" anchor="t" anchorCtr="0">
              <a:spAutoFit/>
            </a:bodyPr>
            <a:lstStyle/>
            <a:p>
              <a:pPr algn="l"/>
              <a:r>
                <a:rPr lang="en-US" sz="1950" b="1" dirty="0">
                  <a:solidFill>
                    <a:srgbClr val="E5624C"/>
                  </a:solidFill>
                  <a:latin typeface="+mn-lt"/>
                  <a:ea typeface="+mn-ea"/>
                  <a:cs typeface="+mn-cs"/>
                </a:rPr>
                <a:t>50W+​</a:t>
              </a:r>
            </a:p>
          </p:txBody>
        </p:sp>
        <p:sp>
          <p:nvSpPr>
            <p:cNvPr id="78" name="Freeform 78"/>
            <p:cNvSpPr/>
            <p:nvPr/>
          </p:nvSpPr>
          <p:spPr>
            <a:xfrm>
              <a:off x="10858500" y="4248150"/>
              <a:ext cx="304800" cy="323850"/>
            </a:xfrm>
            <a:custGeom>
              <a:avLst/>
              <a:gdLst/>
              <a:ahLst/>
              <a:cxnLst/>
              <a:rect l="l" t="t" r="r" b="b"/>
              <a:pathLst>
                <a:path w="304800" h="323850">
                  <a:moveTo>
                    <a:pt x="0" y="323850"/>
                  </a:moveTo>
                  <a:cubicBezTo>
                    <a:pt x="127000" y="196850"/>
                    <a:pt x="228600" y="88900"/>
                    <a:pt x="304800" y="0"/>
                  </a:cubicBezTo>
                </a:path>
              </a:pathLst>
            </a:custGeom>
            <a:noFill/>
            <a:ln w="23812">
              <a:solidFill>
                <a:srgbClr val="DD988A"/>
              </a:solidFill>
              <a:tailEnd type="triangle" w="lg" len="lg"/>
            </a:ln>
          </p:spPr>
        </p:sp>
        <p:sp>
          <p:nvSpPr>
            <p:cNvPr id="79" name="Rectangle 79"/>
            <p:cNvSpPr/>
            <p:nvPr/>
          </p:nvSpPr>
          <p:spPr>
            <a:xfrm>
              <a:off x="6276975" y="3448050"/>
              <a:ext cx="723900" cy="800100"/>
            </a:xfrm>
            <a:prstGeom prst="roundRect">
              <a:avLst>
                <a:gd name="adj" fmla="val 7895"/>
              </a:avLst>
            </a:prstGeom>
            <a:solidFill>
              <a:srgbClr val="E9EBF8"/>
            </a:solidFill>
            <a:ln w="9525">
              <a:solidFill>
                <a:srgbClr val="C9CFEA"/>
              </a:solidFill>
            </a:ln>
          </p:spPr>
        </p:sp>
        <p:sp>
          <p:nvSpPr>
            <p:cNvPr id="80" name="Ellipse 80"/>
            <p:cNvSpPr/>
            <p:nvPr/>
          </p:nvSpPr>
          <p:spPr>
            <a:xfrm>
              <a:off x="6486525" y="3600450"/>
              <a:ext cx="304800" cy="304800"/>
            </a:xfrm>
            <a:prstGeom prst="ellipse">
              <a:avLst/>
            </a:prstGeom>
            <a:solidFill>
              <a:srgbClr val="B9C0DC"/>
            </a:solidFill>
            <a:ln>
              <a:noFill/>
            </a:ln>
          </p:spPr>
        </p:sp>
        <p:sp>
          <p:nvSpPr>
            <p:cNvPr id="81" name="Ellipse 81"/>
            <p:cNvSpPr/>
            <p:nvPr/>
          </p:nvSpPr>
          <p:spPr>
            <a:xfrm>
              <a:off x="6391275" y="4067175"/>
              <a:ext cx="495300" cy="304800"/>
            </a:xfrm>
            <a:prstGeom prst="ellipse">
              <a:avLst/>
            </a:prstGeom>
            <a:solidFill>
              <a:srgbClr val="B9C0DC"/>
            </a:solidFill>
            <a:ln>
              <a:noFill/>
            </a:ln>
          </p:spPr>
        </p:sp>
        <p:sp>
          <p:nvSpPr>
            <p:cNvPr id="82" name="Rectangle 82"/>
            <p:cNvSpPr/>
            <p:nvPr/>
          </p:nvSpPr>
          <p:spPr>
            <a:xfrm>
              <a:off x="6276975" y="4286250"/>
              <a:ext cx="723900" cy="209550"/>
            </a:xfrm>
            <a:prstGeom prst="roundRect">
              <a:avLst>
                <a:gd name="adj" fmla="val 13636"/>
              </a:avLst>
            </a:prstGeom>
            <a:solidFill>
              <a:srgbClr val="E5624C"/>
            </a:solidFill>
            <a:ln>
              <a:noFill/>
            </a:ln>
          </p:spPr>
        </p:sp>
        <p:sp>
          <p:nvSpPr>
            <p:cNvPr id="83" name="TextBox 83"/>
            <p:cNvSpPr txBox="1"/>
            <p:nvPr/>
          </p:nvSpPr>
          <p:spPr>
            <a:xfrm>
              <a:off x="6339697" y="4348162"/>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84" name="TextBox 84"/>
            <p:cNvSpPr txBox="1"/>
            <p:nvPr/>
          </p:nvSpPr>
          <p:spPr>
            <a:xfrm>
              <a:off x="6478613" y="4344114"/>
              <a:ext cx="4349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专家科普</a:t>
              </a:r>
            </a:p>
          </p:txBody>
        </p:sp>
        <p:sp>
          <p:nvSpPr>
            <p:cNvPr id="85" name="Rectangle 85"/>
            <p:cNvSpPr/>
            <p:nvPr/>
          </p:nvSpPr>
          <p:spPr>
            <a:xfrm>
              <a:off x="7353300" y="3448050"/>
              <a:ext cx="723900" cy="800100"/>
            </a:xfrm>
            <a:prstGeom prst="roundRect">
              <a:avLst>
                <a:gd name="adj" fmla="val 7895"/>
              </a:avLst>
            </a:prstGeom>
            <a:solidFill>
              <a:srgbClr val="E9EBF8"/>
            </a:solidFill>
            <a:ln w="9525">
              <a:solidFill>
                <a:srgbClr val="C9CFEA"/>
              </a:solidFill>
            </a:ln>
          </p:spPr>
        </p:sp>
        <p:sp>
          <p:nvSpPr>
            <p:cNvPr id="86" name="Ellipse 86"/>
            <p:cNvSpPr/>
            <p:nvPr/>
          </p:nvSpPr>
          <p:spPr>
            <a:xfrm>
              <a:off x="7562850" y="3600450"/>
              <a:ext cx="304800" cy="304800"/>
            </a:xfrm>
            <a:prstGeom prst="ellipse">
              <a:avLst/>
            </a:prstGeom>
            <a:solidFill>
              <a:srgbClr val="B9C0DC"/>
            </a:solidFill>
            <a:ln>
              <a:noFill/>
            </a:ln>
          </p:spPr>
        </p:sp>
        <p:sp>
          <p:nvSpPr>
            <p:cNvPr id="87" name="Ellipse 87"/>
            <p:cNvSpPr/>
            <p:nvPr/>
          </p:nvSpPr>
          <p:spPr>
            <a:xfrm>
              <a:off x="7467600" y="4067175"/>
              <a:ext cx="495300" cy="304800"/>
            </a:xfrm>
            <a:prstGeom prst="ellipse">
              <a:avLst/>
            </a:prstGeom>
            <a:solidFill>
              <a:srgbClr val="B9C0DC"/>
            </a:solidFill>
            <a:ln>
              <a:noFill/>
            </a:ln>
          </p:spPr>
        </p:sp>
        <p:sp>
          <p:nvSpPr>
            <p:cNvPr id="88" name="Rectangle 88"/>
            <p:cNvSpPr/>
            <p:nvPr/>
          </p:nvSpPr>
          <p:spPr>
            <a:xfrm>
              <a:off x="7353300" y="4286250"/>
              <a:ext cx="723900" cy="209550"/>
            </a:xfrm>
            <a:prstGeom prst="roundRect">
              <a:avLst>
                <a:gd name="adj" fmla="val 13636"/>
              </a:avLst>
            </a:prstGeom>
            <a:solidFill>
              <a:srgbClr val="E5624C"/>
            </a:solidFill>
            <a:ln>
              <a:noFill/>
            </a:ln>
          </p:spPr>
        </p:sp>
        <p:sp>
          <p:nvSpPr>
            <p:cNvPr id="89" name="TextBox 89"/>
            <p:cNvSpPr txBox="1"/>
            <p:nvPr/>
          </p:nvSpPr>
          <p:spPr>
            <a:xfrm>
              <a:off x="7416022" y="4348162"/>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90" name="TextBox 90"/>
            <p:cNvSpPr txBox="1"/>
            <p:nvPr/>
          </p:nvSpPr>
          <p:spPr>
            <a:xfrm>
              <a:off x="7554938" y="4344114"/>
              <a:ext cx="4349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专业贴士</a:t>
              </a:r>
            </a:p>
          </p:txBody>
        </p:sp>
        <p:sp>
          <p:nvSpPr>
            <p:cNvPr id="91" name="Rectangle 91"/>
            <p:cNvSpPr/>
            <p:nvPr/>
          </p:nvSpPr>
          <p:spPr>
            <a:xfrm>
              <a:off x="8420100" y="3448050"/>
              <a:ext cx="723900" cy="800100"/>
            </a:xfrm>
            <a:prstGeom prst="roundRect">
              <a:avLst>
                <a:gd name="adj" fmla="val 7895"/>
              </a:avLst>
            </a:prstGeom>
            <a:solidFill>
              <a:srgbClr val="E9EBF8"/>
            </a:solidFill>
            <a:ln w="9525">
              <a:solidFill>
                <a:srgbClr val="C9CFEA"/>
              </a:solidFill>
            </a:ln>
          </p:spPr>
        </p:sp>
        <p:sp>
          <p:nvSpPr>
            <p:cNvPr id="92" name="Ellipse 92"/>
            <p:cNvSpPr/>
            <p:nvPr/>
          </p:nvSpPr>
          <p:spPr>
            <a:xfrm>
              <a:off x="8629650" y="3600450"/>
              <a:ext cx="304800" cy="304800"/>
            </a:xfrm>
            <a:prstGeom prst="ellipse">
              <a:avLst/>
            </a:prstGeom>
            <a:solidFill>
              <a:srgbClr val="B9C0DC"/>
            </a:solidFill>
            <a:ln>
              <a:noFill/>
            </a:ln>
          </p:spPr>
        </p:sp>
        <p:sp>
          <p:nvSpPr>
            <p:cNvPr id="93" name="Ellipse 93"/>
            <p:cNvSpPr/>
            <p:nvPr/>
          </p:nvSpPr>
          <p:spPr>
            <a:xfrm>
              <a:off x="8534400" y="4067175"/>
              <a:ext cx="495300" cy="304800"/>
            </a:xfrm>
            <a:prstGeom prst="ellipse">
              <a:avLst/>
            </a:prstGeom>
            <a:solidFill>
              <a:srgbClr val="B9C0DC"/>
            </a:solidFill>
            <a:ln>
              <a:noFill/>
            </a:ln>
          </p:spPr>
        </p:sp>
        <p:sp>
          <p:nvSpPr>
            <p:cNvPr id="94" name="Rectangle 94"/>
            <p:cNvSpPr/>
            <p:nvPr/>
          </p:nvSpPr>
          <p:spPr>
            <a:xfrm>
              <a:off x="8420100" y="4286250"/>
              <a:ext cx="723900" cy="209550"/>
            </a:xfrm>
            <a:prstGeom prst="roundRect">
              <a:avLst>
                <a:gd name="adj" fmla="val 13636"/>
              </a:avLst>
            </a:prstGeom>
            <a:solidFill>
              <a:srgbClr val="E5624C"/>
            </a:solidFill>
            <a:ln>
              <a:noFill/>
            </a:ln>
          </p:spPr>
        </p:sp>
        <p:sp>
          <p:nvSpPr>
            <p:cNvPr id="95" name="TextBox 95"/>
            <p:cNvSpPr txBox="1"/>
            <p:nvPr/>
          </p:nvSpPr>
          <p:spPr>
            <a:xfrm>
              <a:off x="8482822" y="4348162"/>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96" name="TextBox 96"/>
            <p:cNvSpPr txBox="1"/>
            <p:nvPr/>
          </p:nvSpPr>
          <p:spPr>
            <a:xfrm>
              <a:off x="8621738" y="4344114"/>
              <a:ext cx="4349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育儿知识</a:t>
              </a:r>
            </a:p>
          </p:txBody>
        </p:sp>
        <p:sp>
          <p:nvSpPr>
            <p:cNvPr id="97" name="Rectangle 97"/>
            <p:cNvSpPr/>
            <p:nvPr/>
          </p:nvSpPr>
          <p:spPr>
            <a:xfrm>
              <a:off x="9486900" y="3448050"/>
              <a:ext cx="723900" cy="800100"/>
            </a:xfrm>
            <a:prstGeom prst="roundRect">
              <a:avLst>
                <a:gd name="adj" fmla="val 7895"/>
              </a:avLst>
            </a:prstGeom>
            <a:solidFill>
              <a:srgbClr val="E9EBF8"/>
            </a:solidFill>
            <a:ln w="9525">
              <a:solidFill>
                <a:srgbClr val="C9CFEA"/>
              </a:solidFill>
            </a:ln>
          </p:spPr>
        </p:sp>
        <p:sp>
          <p:nvSpPr>
            <p:cNvPr id="98" name="Ellipse 98"/>
            <p:cNvSpPr/>
            <p:nvPr/>
          </p:nvSpPr>
          <p:spPr>
            <a:xfrm>
              <a:off x="9696450" y="3600450"/>
              <a:ext cx="304800" cy="304800"/>
            </a:xfrm>
            <a:prstGeom prst="ellipse">
              <a:avLst/>
            </a:prstGeom>
            <a:solidFill>
              <a:srgbClr val="B9C0DC"/>
            </a:solidFill>
            <a:ln>
              <a:noFill/>
            </a:ln>
          </p:spPr>
        </p:sp>
        <p:sp>
          <p:nvSpPr>
            <p:cNvPr id="99" name="Ellipse 99"/>
            <p:cNvSpPr/>
            <p:nvPr/>
          </p:nvSpPr>
          <p:spPr>
            <a:xfrm>
              <a:off x="9601200" y="4067175"/>
              <a:ext cx="495300" cy="304800"/>
            </a:xfrm>
            <a:prstGeom prst="ellipse">
              <a:avLst/>
            </a:prstGeom>
            <a:solidFill>
              <a:srgbClr val="B9C0DC"/>
            </a:solidFill>
            <a:ln>
              <a:noFill/>
            </a:ln>
          </p:spPr>
        </p:sp>
        <p:sp>
          <p:nvSpPr>
            <p:cNvPr id="100" name="Rectangle 100"/>
            <p:cNvSpPr/>
            <p:nvPr/>
          </p:nvSpPr>
          <p:spPr>
            <a:xfrm>
              <a:off x="9486900" y="4286250"/>
              <a:ext cx="723900" cy="209550"/>
            </a:xfrm>
            <a:prstGeom prst="roundRect">
              <a:avLst>
                <a:gd name="adj" fmla="val 13636"/>
              </a:avLst>
            </a:prstGeom>
            <a:solidFill>
              <a:srgbClr val="E5624C"/>
            </a:solidFill>
            <a:ln>
              <a:noFill/>
            </a:ln>
          </p:spPr>
        </p:sp>
        <p:sp>
          <p:nvSpPr>
            <p:cNvPr id="101" name="TextBox 101"/>
            <p:cNvSpPr txBox="1"/>
            <p:nvPr/>
          </p:nvSpPr>
          <p:spPr>
            <a:xfrm>
              <a:off x="9549622" y="4348162"/>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102" name="TextBox 102"/>
            <p:cNvSpPr txBox="1"/>
            <p:nvPr/>
          </p:nvSpPr>
          <p:spPr>
            <a:xfrm>
              <a:off x="9688538" y="4344114"/>
              <a:ext cx="4349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专家问答</a:t>
              </a:r>
            </a:p>
          </p:txBody>
        </p:sp>
        <p:sp>
          <p:nvSpPr>
            <p:cNvPr id="103" name="Polygon 103"/>
            <p:cNvSpPr/>
            <p:nvPr/>
          </p:nvSpPr>
          <p:spPr>
            <a:xfrm>
              <a:off x="4610100" y="4943475"/>
              <a:ext cx="723900" cy="1285875"/>
            </a:xfrm>
            <a:custGeom>
              <a:avLst/>
              <a:gdLst/>
              <a:ahLst/>
              <a:cxnLst/>
              <a:rect l="l" t="t" r="r" b="b"/>
              <a:pathLst>
                <a:path w="723900" h="1285875">
                  <a:moveTo>
                    <a:pt x="0" y="0"/>
                  </a:moveTo>
                  <a:lnTo>
                    <a:pt x="723900" y="0"/>
                  </a:lnTo>
                  <a:lnTo>
                    <a:pt x="571500" y="1285875"/>
                  </a:lnTo>
                  <a:lnTo>
                    <a:pt x="0" y="1285875"/>
                  </a:lnTo>
                  <a:close/>
                </a:path>
              </a:pathLst>
            </a:custGeom>
            <a:gradFill>
              <a:gsLst>
                <a:gs pos="0">
                  <a:srgbClr val="F0998A"/>
                </a:gs>
                <a:gs pos="100000">
                  <a:srgbClr val="E5624C"/>
                </a:gs>
              </a:gsLst>
              <a:lin ang="0" scaled="1"/>
            </a:gradFill>
            <a:ln>
              <a:noFill/>
            </a:ln>
          </p:spPr>
        </p:sp>
        <p:sp>
          <p:nvSpPr>
            <p:cNvPr id="104" name="TextBox 104"/>
            <p:cNvSpPr txBox="1"/>
            <p:nvPr/>
          </p:nvSpPr>
          <p:spPr>
            <a:xfrm>
              <a:off x="4565966" y="5219700"/>
              <a:ext cx="640718"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73%≥​</a:t>
              </a:r>
            </a:p>
          </p:txBody>
        </p:sp>
        <p:sp>
          <p:nvSpPr>
            <p:cNvPr id="105" name="TextBox 105"/>
            <p:cNvSpPr txBox="1"/>
            <p:nvPr/>
          </p:nvSpPr>
          <p:spPr>
            <a:xfrm>
              <a:off x="4617517" y="55621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尾部达人</a:t>
              </a:r>
            </a:p>
          </p:txBody>
        </p:sp>
        <p:sp>
          <p:nvSpPr>
            <p:cNvPr id="106" name="TextBox 106"/>
            <p:cNvSpPr txBox="1"/>
            <p:nvPr/>
          </p:nvSpPr>
          <p:spPr>
            <a:xfrm>
              <a:off x="4624911" y="5815012"/>
              <a:ext cx="579977"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粉丝＜10万​</a:t>
              </a:r>
            </a:p>
          </p:txBody>
        </p:sp>
        <p:sp>
          <p:nvSpPr>
            <p:cNvPr id="107" name="TextBox 107"/>
            <p:cNvSpPr txBox="1"/>
            <p:nvPr/>
          </p:nvSpPr>
          <p:spPr>
            <a:xfrm>
              <a:off x="10758488" y="5204222"/>
              <a:ext cx="672681" cy="183356"/>
            </a:xfrm>
            <a:prstGeom prst="rect">
              <a:avLst/>
            </a:prstGeom>
            <a:noFill/>
            <a:ln>
              <a:noFill/>
            </a:ln>
          </p:spPr>
          <p:txBody>
            <a:bodyPr wrap="none" lIns="0" tIns="0" rIns="0" bIns="0" anchor="t" anchorCtr="0">
              <a:spAutoFit/>
            </a:bodyPr>
            <a:lstStyle/>
            <a:p>
              <a:pPr algn="l"/>
              <a:r>
                <a:rPr lang="zh-CN" sz="940" dirty="0">
                  <a:solidFill>
                    <a:srgbClr val="E5624C"/>
                  </a:solidFill>
                  <a:latin typeface="+mn-lt"/>
                  <a:ea typeface="+mn-ea"/>
                  <a:cs typeface="+mn-cs"/>
                </a:rPr>
                <a:t>ROI超预期​</a:t>
              </a:r>
            </a:p>
          </p:txBody>
        </p:sp>
        <p:sp>
          <p:nvSpPr>
            <p:cNvPr id="108" name="TextBox 108"/>
            <p:cNvSpPr txBox="1"/>
            <p:nvPr/>
          </p:nvSpPr>
          <p:spPr>
            <a:xfrm>
              <a:off x="10753344" y="5428298"/>
              <a:ext cx="681335" cy="381381"/>
            </a:xfrm>
            <a:prstGeom prst="rect">
              <a:avLst/>
            </a:prstGeom>
            <a:noFill/>
            <a:ln>
              <a:noFill/>
            </a:ln>
          </p:spPr>
          <p:txBody>
            <a:bodyPr wrap="none" lIns="0" tIns="0" rIns="0" bIns="0" anchor="t" anchorCtr="0">
              <a:spAutoFit/>
            </a:bodyPr>
            <a:lstStyle/>
            <a:p>
              <a:pPr algn="l"/>
              <a:r>
                <a:rPr lang="zh-CN" sz="1950" b="1" dirty="0">
                  <a:solidFill>
                    <a:srgbClr val="E5624C"/>
                  </a:solidFill>
                  <a:latin typeface="+mn-lt"/>
                  <a:ea typeface="+mn-ea"/>
                  <a:cs typeface="+mn-cs"/>
                </a:rPr>
                <a:t>93%​</a:t>
              </a:r>
            </a:p>
          </p:txBody>
        </p:sp>
        <p:sp>
          <p:nvSpPr>
            <p:cNvPr id="109" name="Freeform 109"/>
            <p:cNvSpPr/>
            <p:nvPr/>
          </p:nvSpPr>
          <p:spPr>
            <a:xfrm>
              <a:off x="10858500" y="5743575"/>
              <a:ext cx="304800" cy="323850"/>
            </a:xfrm>
            <a:custGeom>
              <a:avLst/>
              <a:gdLst/>
              <a:ahLst/>
              <a:cxnLst/>
              <a:rect l="l" t="t" r="r" b="b"/>
              <a:pathLst>
                <a:path w="304800" h="323850">
                  <a:moveTo>
                    <a:pt x="0" y="323850"/>
                  </a:moveTo>
                  <a:cubicBezTo>
                    <a:pt x="127000" y="196850"/>
                    <a:pt x="228600" y="88900"/>
                    <a:pt x="304800" y="0"/>
                  </a:cubicBezTo>
                </a:path>
              </a:pathLst>
            </a:custGeom>
            <a:noFill/>
            <a:ln w="23812">
              <a:solidFill>
                <a:srgbClr val="DD988A"/>
              </a:solidFill>
              <a:tailEnd type="triangle" w="lg" len="lg"/>
            </a:ln>
          </p:spPr>
        </p:sp>
        <p:sp>
          <p:nvSpPr>
            <p:cNvPr id="110" name="Rectangle 110"/>
            <p:cNvSpPr/>
            <p:nvPr/>
          </p:nvSpPr>
          <p:spPr>
            <a:xfrm>
              <a:off x="6276975" y="4943475"/>
              <a:ext cx="723900" cy="800100"/>
            </a:xfrm>
            <a:prstGeom prst="roundRect">
              <a:avLst>
                <a:gd name="adj" fmla="val 7895"/>
              </a:avLst>
            </a:prstGeom>
            <a:solidFill>
              <a:srgbClr val="E9EBF8"/>
            </a:solidFill>
            <a:ln w="9525">
              <a:solidFill>
                <a:srgbClr val="C9CFEA"/>
              </a:solidFill>
            </a:ln>
          </p:spPr>
        </p:sp>
        <p:sp>
          <p:nvSpPr>
            <p:cNvPr id="111" name="Ellipse 111"/>
            <p:cNvSpPr/>
            <p:nvPr/>
          </p:nvSpPr>
          <p:spPr>
            <a:xfrm>
              <a:off x="6486525" y="5095875"/>
              <a:ext cx="304800" cy="304800"/>
            </a:xfrm>
            <a:prstGeom prst="ellipse">
              <a:avLst/>
            </a:prstGeom>
            <a:solidFill>
              <a:srgbClr val="B9C0DC"/>
            </a:solidFill>
            <a:ln>
              <a:noFill/>
            </a:ln>
          </p:spPr>
        </p:sp>
        <p:sp>
          <p:nvSpPr>
            <p:cNvPr id="112" name="Ellipse 112"/>
            <p:cNvSpPr/>
            <p:nvPr/>
          </p:nvSpPr>
          <p:spPr>
            <a:xfrm>
              <a:off x="6391275" y="5562600"/>
              <a:ext cx="495300" cy="304800"/>
            </a:xfrm>
            <a:prstGeom prst="ellipse">
              <a:avLst/>
            </a:prstGeom>
            <a:solidFill>
              <a:srgbClr val="B9C0DC"/>
            </a:solidFill>
            <a:ln>
              <a:noFill/>
            </a:ln>
          </p:spPr>
        </p:sp>
        <p:sp>
          <p:nvSpPr>
            <p:cNvPr id="113" name="Rectangle 113"/>
            <p:cNvSpPr/>
            <p:nvPr/>
          </p:nvSpPr>
          <p:spPr>
            <a:xfrm>
              <a:off x="6276975" y="5781675"/>
              <a:ext cx="723900" cy="209550"/>
            </a:xfrm>
            <a:prstGeom prst="roundRect">
              <a:avLst>
                <a:gd name="adj" fmla="val 13636"/>
              </a:avLst>
            </a:prstGeom>
            <a:solidFill>
              <a:srgbClr val="E5624C"/>
            </a:solidFill>
            <a:ln>
              <a:noFill/>
            </a:ln>
          </p:spPr>
        </p:sp>
        <p:sp>
          <p:nvSpPr>
            <p:cNvPr id="114" name="TextBox 114"/>
            <p:cNvSpPr txBox="1"/>
            <p:nvPr/>
          </p:nvSpPr>
          <p:spPr>
            <a:xfrm>
              <a:off x="6339697" y="5843588"/>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115" name="TextBox 115"/>
            <p:cNvSpPr txBox="1"/>
            <p:nvPr/>
          </p:nvSpPr>
          <p:spPr>
            <a:xfrm>
              <a:off x="6584963" y="5839539"/>
              <a:ext cx="222225"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亲子</a:t>
              </a:r>
            </a:p>
          </p:txBody>
        </p:sp>
        <p:sp>
          <p:nvSpPr>
            <p:cNvPr id="116" name="Rectangle 116"/>
            <p:cNvSpPr/>
            <p:nvPr/>
          </p:nvSpPr>
          <p:spPr>
            <a:xfrm>
              <a:off x="7353300" y="4943475"/>
              <a:ext cx="723900" cy="800100"/>
            </a:xfrm>
            <a:prstGeom prst="roundRect">
              <a:avLst>
                <a:gd name="adj" fmla="val 7895"/>
              </a:avLst>
            </a:prstGeom>
            <a:solidFill>
              <a:srgbClr val="E9EBF8"/>
            </a:solidFill>
            <a:ln w="9525">
              <a:solidFill>
                <a:srgbClr val="C9CFEA"/>
              </a:solidFill>
            </a:ln>
          </p:spPr>
        </p:sp>
        <p:sp>
          <p:nvSpPr>
            <p:cNvPr id="117" name="Ellipse 117"/>
            <p:cNvSpPr/>
            <p:nvPr/>
          </p:nvSpPr>
          <p:spPr>
            <a:xfrm>
              <a:off x="7562850" y="5095875"/>
              <a:ext cx="304800" cy="304800"/>
            </a:xfrm>
            <a:prstGeom prst="ellipse">
              <a:avLst/>
            </a:prstGeom>
            <a:solidFill>
              <a:srgbClr val="B9C0DC"/>
            </a:solidFill>
            <a:ln>
              <a:noFill/>
            </a:ln>
          </p:spPr>
        </p:sp>
        <p:sp>
          <p:nvSpPr>
            <p:cNvPr id="118" name="Ellipse 118"/>
            <p:cNvSpPr/>
            <p:nvPr/>
          </p:nvSpPr>
          <p:spPr>
            <a:xfrm>
              <a:off x="7467600" y="5562600"/>
              <a:ext cx="495300" cy="304800"/>
            </a:xfrm>
            <a:prstGeom prst="ellipse">
              <a:avLst/>
            </a:prstGeom>
            <a:solidFill>
              <a:srgbClr val="B9C0DC"/>
            </a:solidFill>
            <a:ln>
              <a:noFill/>
            </a:ln>
          </p:spPr>
        </p:sp>
        <p:sp>
          <p:nvSpPr>
            <p:cNvPr id="119" name="Rectangle 119"/>
            <p:cNvSpPr/>
            <p:nvPr/>
          </p:nvSpPr>
          <p:spPr>
            <a:xfrm>
              <a:off x="7353300" y="5781675"/>
              <a:ext cx="723900" cy="209550"/>
            </a:xfrm>
            <a:prstGeom prst="roundRect">
              <a:avLst>
                <a:gd name="adj" fmla="val 13636"/>
              </a:avLst>
            </a:prstGeom>
            <a:solidFill>
              <a:srgbClr val="E5624C"/>
            </a:solidFill>
            <a:ln>
              <a:noFill/>
            </a:ln>
          </p:spPr>
        </p:sp>
        <p:sp>
          <p:nvSpPr>
            <p:cNvPr id="120" name="TextBox 120"/>
            <p:cNvSpPr txBox="1"/>
            <p:nvPr/>
          </p:nvSpPr>
          <p:spPr>
            <a:xfrm>
              <a:off x="7416022" y="5843588"/>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121" name="TextBox 121"/>
            <p:cNvSpPr txBox="1"/>
            <p:nvPr/>
          </p:nvSpPr>
          <p:spPr>
            <a:xfrm>
              <a:off x="7661288" y="5839539"/>
              <a:ext cx="222225"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家居</a:t>
              </a:r>
            </a:p>
          </p:txBody>
        </p:sp>
        <p:sp>
          <p:nvSpPr>
            <p:cNvPr id="122" name="Rectangle 122"/>
            <p:cNvSpPr/>
            <p:nvPr/>
          </p:nvSpPr>
          <p:spPr>
            <a:xfrm>
              <a:off x="8420100" y="4943475"/>
              <a:ext cx="723900" cy="800100"/>
            </a:xfrm>
            <a:prstGeom prst="roundRect">
              <a:avLst>
                <a:gd name="adj" fmla="val 7895"/>
              </a:avLst>
            </a:prstGeom>
            <a:solidFill>
              <a:srgbClr val="E9EBF8"/>
            </a:solidFill>
            <a:ln w="9525">
              <a:solidFill>
                <a:srgbClr val="C9CFEA"/>
              </a:solidFill>
            </a:ln>
          </p:spPr>
        </p:sp>
        <p:sp>
          <p:nvSpPr>
            <p:cNvPr id="123" name="Ellipse 123"/>
            <p:cNvSpPr/>
            <p:nvPr/>
          </p:nvSpPr>
          <p:spPr>
            <a:xfrm>
              <a:off x="8629650" y="5095875"/>
              <a:ext cx="304800" cy="304800"/>
            </a:xfrm>
            <a:prstGeom prst="ellipse">
              <a:avLst/>
            </a:prstGeom>
            <a:solidFill>
              <a:srgbClr val="B9C0DC"/>
            </a:solidFill>
            <a:ln>
              <a:noFill/>
            </a:ln>
          </p:spPr>
        </p:sp>
        <p:sp>
          <p:nvSpPr>
            <p:cNvPr id="124" name="Ellipse 124"/>
            <p:cNvSpPr/>
            <p:nvPr/>
          </p:nvSpPr>
          <p:spPr>
            <a:xfrm>
              <a:off x="8534400" y="5562600"/>
              <a:ext cx="495300" cy="304800"/>
            </a:xfrm>
            <a:prstGeom prst="ellipse">
              <a:avLst/>
            </a:prstGeom>
            <a:solidFill>
              <a:srgbClr val="B9C0DC"/>
            </a:solidFill>
            <a:ln>
              <a:noFill/>
            </a:ln>
          </p:spPr>
        </p:sp>
        <p:sp>
          <p:nvSpPr>
            <p:cNvPr id="125" name="Rectangle 125"/>
            <p:cNvSpPr/>
            <p:nvPr/>
          </p:nvSpPr>
          <p:spPr>
            <a:xfrm>
              <a:off x="8420100" y="5781675"/>
              <a:ext cx="723900" cy="209550"/>
            </a:xfrm>
            <a:prstGeom prst="roundRect">
              <a:avLst>
                <a:gd name="adj" fmla="val 13636"/>
              </a:avLst>
            </a:prstGeom>
            <a:solidFill>
              <a:srgbClr val="E5624C"/>
            </a:solidFill>
            <a:ln>
              <a:noFill/>
            </a:ln>
          </p:spPr>
        </p:sp>
        <p:sp>
          <p:nvSpPr>
            <p:cNvPr id="126" name="TextBox 126"/>
            <p:cNvSpPr txBox="1"/>
            <p:nvPr/>
          </p:nvSpPr>
          <p:spPr>
            <a:xfrm>
              <a:off x="8482822" y="5843588"/>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127" name="TextBox 127"/>
            <p:cNvSpPr txBox="1"/>
            <p:nvPr/>
          </p:nvSpPr>
          <p:spPr>
            <a:xfrm>
              <a:off x="8728088" y="5839539"/>
              <a:ext cx="222225"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外出</a:t>
              </a:r>
            </a:p>
          </p:txBody>
        </p:sp>
        <p:sp>
          <p:nvSpPr>
            <p:cNvPr id="128" name="Rectangle 128"/>
            <p:cNvSpPr/>
            <p:nvPr/>
          </p:nvSpPr>
          <p:spPr>
            <a:xfrm>
              <a:off x="9486900" y="4943475"/>
              <a:ext cx="723900" cy="800100"/>
            </a:xfrm>
            <a:prstGeom prst="roundRect">
              <a:avLst>
                <a:gd name="adj" fmla="val 7895"/>
              </a:avLst>
            </a:prstGeom>
            <a:solidFill>
              <a:srgbClr val="E9EBF8"/>
            </a:solidFill>
            <a:ln w="9525">
              <a:solidFill>
                <a:srgbClr val="C9CFEA"/>
              </a:solidFill>
            </a:ln>
          </p:spPr>
        </p:sp>
        <p:sp>
          <p:nvSpPr>
            <p:cNvPr id="129" name="Ellipse 129"/>
            <p:cNvSpPr/>
            <p:nvPr/>
          </p:nvSpPr>
          <p:spPr>
            <a:xfrm>
              <a:off x="9696450" y="5095875"/>
              <a:ext cx="304800" cy="304800"/>
            </a:xfrm>
            <a:prstGeom prst="ellipse">
              <a:avLst/>
            </a:prstGeom>
            <a:solidFill>
              <a:srgbClr val="B9C0DC"/>
            </a:solidFill>
            <a:ln>
              <a:noFill/>
            </a:ln>
          </p:spPr>
        </p:sp>
        <p:sp>
          <p:nvSpPr>
            <p:cNvPr id="130" name="Ellipse 130"/>
            <p:cNvSpPr/>
            <p:nvPr/>
          </p:nvSpPr>
          <p:spPr>
            <a:xfrm>
              <a:off x="9601200" y="5562600"/>
              <a:ext cx="495300" cy="304800"/>
            </a:xfrm>
            <a:prstGeom prst="ellipse">
              <a:avLst/>
            </a:prstGeom>
            <a:solidFill>
              <a:srgbClr val="B9C0DC"/>
            </a:solidFill>
            <a:ln>
              <a:noFill/>
            </a:ln>
          </p:spPr>
        </p:sp>
        <p:sp>
          <p:nvSpPr>
            <p:cNvPr id="131" name="Rectangle 131"/>
            <p:cNvSpPr/>
            <p:nvPr/>
          </p:nvSpPr>
          <p:spPr>
            <a:xfrm>
              <a:off x="9486900" y="5781675"/>
              <a:ext cx="723900" cy="209550"/>
            </a:xfrm>
            <a:prstGeom prst="roundRect">
              <a:avLst>
                <a:gd name="adj" fmla="val 13636"/>
              </a:avLst>
            </a:prstGeom>
            <a:solidFill>
              <a:srgbClr val="E5624C"/>
            </a:solidFill>
            <a:ln>
              <a:noFill/>
            </a:ln>
          </p:spPr>
        </p:sp>
        <p:sp>
          <p:nvSpPr>
            <p:cNvPr id="132" name="TextBox 132"/>
            <p:cNvSpPr txBox="1"/>
            <p:nvPr/>
          </p:nvSpPr>
          <p:spPr>
            <a:xfrm>
              <a:off x="9549622" y="5843588"/>
              <a:ext cx="65056"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①</a:t>
              </a:r>
            </a:p>
          </p:txBody>
        </p:sp>
        <p:sp>
          <p:nvSpPr>
            <p:cNvPr id="133" name="TextBox 133"/>
            <p:cNvSpPr txBox="1"/>
            <p:nvPr/>
          </p:nvSpPr>
          <p:spPr>
            <a:xfrm>
              <a:off x="9794888" y="5839539"/>
              <a:ext cx="222225"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职场</a:t>
              </a:r>
            </a:p>
          </p:txBody>
        </p:sp>
      </p:gr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02895" y="214312"/>
            <a:ext cx="2253615" cy="440055"/>
            <a:chOff x="302895" y="214312"/>
            <a:chExt cx="2253615" cy="440055"/>
          </a:xfrm>
        </p:grpSpPr>
        <p:sp>
          <p:nvSpPr>
            <p:cNvPr id="2" name="TextBox 2"/>
            <p:cNvSpPr txBox="1"/>
            <p:nvPr/>
          </p:nvSpPr>
          <p:spPr>
            <a:xfrm>
              <a:off x="302895" y="214312"/>
              <a:ext cx="722547" cy="440055"/>
            </a:xfrm>
            <a:prstGeom prst="rect">
              <a:avLst/>
            </a:prstGeom>
            <a:noFill/>
            <a:ln>
              <a:noFill/>
            </a:ln>
          </p:spPr>
          <p:txBody>
            <a:bodyPr wrap="none" lIns="0" tIns="0" rIns="0" bIns="0" anchor="t" anchorCtr="0">
              <a:spAutoFit/>
            </a:bodyPr>
            <a:lstStyle/>
            <a:p>
              <a:pPr algn="l"/>
              <a:r>
                <a:rPr lang="zh-CN" sz="2250" b="1" dirty="0">
                  <a:solidFill>
                    <a:srgbClr val="D47D6B"/>
                  </a:solidFill>
                  <a:latin typeface="+mn-lt"/>
                  <a:ea typeface="+mn-ea"/>
                  <a:cs typeface="+mn-cs"/>
                </a:rPr>
                <a:t>42.​</a:t>
              </a:r>
            </a:p>
          </p:txBody>
        </p:sp>
        <p:sp>
          <p:nvSpPr>
            <p:cNvPr id="3" name="TextBox 3"/>
            <p:cNvSpPr txBox="1"/>
            <p:nvPr/>
          </p:nvSpPr>
          <p:spPr>
            <a:xfrm>
              <a:off x="961644" y="246698"/>
              <a:ext cx="1594866" cy="381381"/>
            </a:xfrm>
            <a:prstGeom prst="rect">
              <a:avLst/>
            </a:prstGeom>
            <a:noFill/>
            <a:ln>
              <a:noFill/>
            </a:ln>
          </p:spPr>
          <p:txBody>
            <a:bodyPr wrap="none" lIns="0" tIns="0" rIns="0" bIns="0" anchor="t" anchorCtr="0">
              <a:spAutoFit/>
            </a:bodyPr>
            <a:lstStyle/>
            <a:p>
              <a:pPr algn="l"/>
              <a:r>
                <a:rPr lang="zh-CN" sz="1950" b="1" dirty="0">
                  <a:solidFill>
                    <a:srgbClr val="C1553F"/>
                  </a:solidFill>
                  <a:latin typeface="+mn-lt"/>
                  <a:ea typeface="+mn-ea"/>
                  <a:cs typeface="+mn-cs"/>
                </a:rPr>
                <a:t>会员积分体系</a:t>
              </a:r>
            </a:p>
          </p:txBody>
        </p:sp>
      </p:grpSp>
      <p:grpSp>
        <p:nvGrpSpPr>
          <p:cNvPr id="8" name="axis-label"/>
          <p:cNvGrpSpPr/>
          <p:nvPr/>
        </p:nvGrpSpPr>
        <p:grpSpPr>
          <a:xfrm>
            <a:off x="428625" y="1600200"/>
            <a:ext cx="752475" cy="4410075"/>
            <a:chOff x="428625" y="1600200"/>
            <a:chExt cx="752475" cy="4410075"/>
          </a:xfrm>
        </p:grpSpPr>
        <p:sp>
          <p:nvSpPr>
            <p:cNvPr id="5" name="Freeform 5"/>
            <p:cNvSpPr/>
            <p:nvPr/>
          </p:nvSpPr>
          <p:spPr>
            <a:xfrm>
              <a:off x="876300" y="1600200"/>
              <a:ext cx="304800" cy="4410075"/>
            </a:xfrm>
            <a:custGeom>
              <a:avLst/>
              <a:gdLst/>
              <a:ahLst/>
              <a:cxnLst/>
              <a:rect l="l" t="t" r="r" b="b"/>
              <a:pathLst>
                <a:path w="304800" h="4410075">
                  <a:moveTo>
                    <a:pt x="0" y="2124075"/>
                  </a:moveTo>
                  <a:lnTo>
                    <a:pt x="171450" y="2124075"/>
                  </a:lnTo>
                  <a:moveTo>
                    <a:pt x="171450" y="0"/>
                  </a:moveTo>
                  <a:lnTo>
                    <a:pt x="171450" y="4410075"/>
                  </a:lnTo>
                  <a:moveTo>
                    <a:pt x="171450" y="0"/>
                  </a:moveTo>
                  <a:lnTo>
                    <a:pt x="304800" y="0"/>
                  </a:lnTo>
                  <a:moveTo>
                    <a:pt x="171450" y="1076325"/>
                  </a:moveTo>
                  <a:lnTo>
                    <a:pt x="304800" y="1076325"/>
                  </a:lnTo>
                  <a:moveTo>
                    <a:pt x="171450" y="2209800"/>
                  </a:moveTo>
                  <a:lnTo>
                    <a:pt x="304800" y="2209800"/>
                  </a:lnTo>
                  <a:moveTo>
                    <a:pt x="171450" y="3305175"/>
                  </a:moveTo>
                  <a:lnTo>
                    <a:pt x="304800" y="3305175"/>
                  </a:lnTo>
                  <a:moveTo>
                    <a:pt x="171450" y="4410075"/>
                  </a:moveTo>
                  <a:lnTo>
                    <a:pt x="304800" y="4410075"/>
                  </a:lnTo>
                </a:path>
              </a:pathLst>
            </a:custGeom>
            <a:noFill/>
            <a:ln w="14288">
              <a:solidFill>
                <a:srgbClr val="C9CFEA"/>
              </a:solidFill>
            </a:ln>
          </p:spPr>
        </p:sp>
        <p:sp>
          <p:nvSpPr>
            <p:cNvPr id="6" name="Rectangle 6"/>
            <p:cNvSpPr/>
            <p:nvPr/>
          </p:nvSpPr>
          <p:spPr>
            <a:xfrm>
              <a:off x="428625" y="3105150"/>
              <a:ext cx="447675" cy="1238250"/>
            </a:xfrm>
            <a:prstGeom prst="roundRect">
              <a:avLst>
                <a:gd name="adj" fmla="val 17021"/>
              </a:avLst>
            </a:prstGeom>
            <a:solidFill>
              <a:srgbClr val="C1553F"/>
            </a:solidFill>
            <a:ln>
              <a:noFill/>
            </a:ln>
          </p:spPr>
        </p:sp>
        <p:sp>
          <p:nvSpPr>
            <p:cNvPr id="7" name="TextBox 7"/>
            <p:cNvSpPr txBox="1"/>
            <p:nvPr/>
          </p:nvSpPr>
          <p:spPr>
            <a:xfrm>
              <a:off x="570166" y="3280410"/>
              <a:ext cx="164592" cy="920496"/>
            </a:xfrm>
            <a:prstGeom prst="rect">
              <a:avLst/>
            </a:prstGeom>
            <a:noFill/>
            <a:ln>
              <a:noFill/>
            </a:ln>
          </p:spPr>
          <p:txBody>
            <a:bodyPr wrap="none" lIns="0" tIns="0" rIns="0" bIns="0" anchor="t" anchorCtr="0">
              <a:spAutoFit/>
            </a:bodyPr>
            <a:lstStyle/>
            <a:p>
              <a:pPr algn="ctr">
                <a:lnSpc>
                  <a:spcPts val="1800"/>
                </a:lnSpc>
              </a:pPr>
              <a:r>
                <a:rPr lang="zh-CN" sz="1200" b="1" dirty="0">
                  <a:solidFill>
                    <a:srgbClr val="FFFFFF"/>
                  </a:solidFill>
                  <a:latin typeface="+mn-lt"/>
                  <a:ea typeface="+mn-ea"/>
                  <a:cs typeface="+mn-cs"/>
                </a:rPr>
                <a:t>积</a:t>
              </a:r>
              <a:br/>
              <a:r>
                <a:rPr lang="zh-CN" sz="1200" b="1" dirty="0">
                  <a:solidFill>
                    <a:srgbClr val="FFFFFF"/>
                  </a:solidFill>
                  <a:latin typeface="+mn-lt"/>
                  <a:ea typeface="+mn-ea"/>
                  <a:cs typeface="+mn-cs"/>
                </a:rPr>
                <a:t>分</a:t>
              </a:r>
              <a:br/>
              <a:r>
                <a:rPr lang="zh-CN" sz="1200" b="1" dirty="0">
                  <a:solidFill>
                    <a:srgbClr val="FFFFFF"/>
                  </a:solidFill>
                  <a:latin typeface="+mn-lt"/>
                  <a:ea typeface="+mn-ea"/>
                  <a:cs typeface="+mn-cs"/>
                </a:rPr>
                <a:t>体</a:t>
              </a:r>
              <a:br/>
              <a:r>
                <a:rPr lang="zh-CN" sz="1200" b="1" dirty="0">
                  <a:solidFill>
                    <a:srgbClr val="FFFFFF"/>
                  </a:solidFill>
                  <a:latin typeface="+mn-lt"/>
                  <a:ea typeface="+mn-ea"/>
                  <a:cs typeface="+mn-cs"/>
                </a:rPr>
                <a:t>系</a:t>
              </a:r>
            </a:p>
          </p:txBody>
        </p:sp>
      </p:grpSp>
      <p:grpSp>
        <p:nvGrpSpPr>
          <p:cNvPr id="29" name="row-social"/>
          <p:cNvGrpSpPr/>
          <p:nvPr/>
        </p:nvGrpSpPr>
        <p:grpSpPr>
          <a:xfrm>
            <a:off x="1266825" y="1123950"/>
            <a:ext cx="6238875" cy="962025"/>
            <a:chOff x="1266825" y="1123950"/>
            <a:chExt cx="6238875" cy="962025"/>
          </a:xfrm>
        </p:grpSpPr>
        <p:sp>
          <p:nvSpPr>
            <p:cNvPr id="9" name="Rectangle 9"/>
            <p:cNvSpPr/>
            <p:nvPr/>
          </p:nvSpPr>
          <p:spPr>
            <a:xfrm>
              <a:off x="1266825" y="1123950"/>
              <a:ext cx="6238875" cy="962025"/>
            </a:xfrm>
            <a:prstGeom prst="roundRect">
              <a:avLst>
                <a:gd name="adj" fmla="val 7921"/>
              </a:avLst>
            </a:prstGeom>
            <a:solidFill>
              <a:srgbClr val="FFFFFF"/>
            </a:solidFill>
            <a:ln w="9525">
              <a:solidFill>
                <a:srgbClr val="E4E7F5"/>
              </a:solidFill>
            </a:ln>
          </p:spPr>
        </p:sp>
        <p:sp>
          <p:nvSpPr>
            <p:cNvPr id="10" name="Rectangle 10"/>
            <p:cNvSpPr/>
            <p:nvPr/>
          </p:nvSpPr>
          <p:spPr>
            <a:xfrm>
              <a:off x="1381125" y="1181100"/>
              <a:ext cx="828675" cy="847725"/>
            </a:xfrm>
            <a:prstGeom prst="roundRect">
              <a:avLst>
                <a:gd name="adj" fmla="val 9195"/>
              </a:avLst>
            </a:prstGeom>
            <a:gradFill>
              <a:gsLst>
                <a:gs pos="0">
                  <a:srgbClr val="F0998A"/>
                </a:gs>
                <a:gs pos="100000">
                  <a:srgbClr val="E5624C"/>
                </a:gs>
              </a:gsLst>
              <a:lin ang="5400000" scaled="1"/>
            </a:gradFill>
            <a:ln>
              <a:noFill/>
            </a:ln>
          </p:spPr>
        </p:sp>
        <p:sp>
          <p:nvSpPr>
            <p:cNvPr id="11" name="Freeform 11"/>
            <p:cNvSpPr/>
            <p:nvPr/>
          </p:nvSpPr>
          <p:spPr>
            <a:xfrm>
              <a:off x="1696790" y="1309628"/>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FFFFFF"/>
              </a:solidFill>
            </a:ln>
          </p:spPr>
        </p:sp>
        <p:sp>
          <p:nvSpPr>
            <p:cNvPr id="12" name="TextBox 12"/>
            <p:cNvSpPr txBox="1"/>
            <p:nvPr/>
          </p:nvSpPr>
          <p:spPr>
            <a:xfrm>
              <a:off x="1532852" y="180379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社交积分</a:t>
              </a:r>
            </a:p>
          </p:txBody>
        </p:sp>
        <p:sp>
          <p:nvSpPr>
            <p:cNvPr id="13" name="TextBox 13"/>
            <p:cNvSpPr txBox="1"/>
            <p:nvPr/>
          </p:nvSpPr>
          <p:spPr>
            <a:xfrm>
              <a:off x="2432685" y="1421606"/>
              <a:ext cx="185574" cy="220028"/>
            </a:xfrm>
            <a:prstGeom prst="rect">
              <a:avLst/>
            </a:prstGeom>
            <a:noFill/>
            <a:ln>
              <a:noFill/>
            </a:ln>
          </p:spPr>
          <p:txBody>
            <a:bodyPr wrap="none" lIns="0" tIns="0" rIns="0" bIns="0" anchor="t" anchorCtr="0">
              <a:spAutoFit/>
            </a:bodyPr>
            <a:lstStyle/>
            <a:p>
              <a:pPr algn="l"/>
              <a:r>
                <a:rPr lang="zh-CN" sz="1120" b="1" dirty="0">
                  <a:solidFill>
                    <a:srgbClr val="ED8776"/>
                  </a:solidFill>
                  <a:latin typeface="+mn-lt"/>
                  <a:ea typeface="+mn-ea"/>
                  <a:cs typeface="+mn-cs"/>
                </a:rPr>
                <a:t>01</a:t>
              </a:r>
            </a:p>
          </p:txBody>
        </p:sp>
        <p:sp>
          <p:nvSpPr>
            <p:cNvPr id="14" name="TextBox 14"/>
            <p:cNvSpPr txBox="1"/>
            <p:nvPr/>
          </p:nvSpPr>
          <p:spPr>
            <a:xfrm>
              <a:off x="2852738" y="1366838"/>
              <a:ext cx="514350"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官网公众号</a:t>
              </a:r>
            </a:p>
          </p:txBody>
        </p:sp>
        <p:sp>
          <p:nvSpPr>
            <p:cNvPr id="15" name="TextBox 15"/>
            <p:cNvSpPr txBox="1"/>
            <p:nvPr/>
          </p:nvSpPr>
          <p:spPr>
            <a:xfrm>
              <a:off x="2852738" y="1500188"/>
              <a:ext cx="413385"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注册活动</a:t>
              </a:r>
            </a:p>
          </p:txBody>
        </p:sp>
        <p:sp>
          <p:nvSpPr>
            <p:cNvPr id="16" name="Rectangle 16"/>
            <p:cNvSpPr/>
            <p:nvPr/>
          </p:nvSpPr>
          <p:spPr>
            <a:xfrm>
              <a:off x="2438400" y="1714500"/>
              <a:ext cx="1181100" cy="247650"/>
            </a:xfrm>
            <a:prstGeom prst="roundRect">
              <a:avLst>
                <a:gd name="adj" fmla="val 15385"/>
              </a:avLst>
            </a:prstGeom>
            <a:solidFill>
              <a:srgbClr val="E5624C"/>
            </a:solidFill>
            <a:ln>
              <a:noFill/>
            </a:ln>
          </p:spPr>
        </p:sp>
        <p:sp>
          <p:nvSpPr>
            <p:cNvPr id="17" name="TextBox 17"/>
            <p:cNvSpPr txBox="1"/>
            <p:nvPr/>
          </p:nvSpPr>
          <p:spPr>
            <a:xfrm>
              <a:off x="2792641" y="17928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关注注册</a:t>
              </a:r>
            </a:p>
          </p:txBody>
        </p:sp>
        <p:sp>
          <p:nvSpPr>
            <p:cNvPr id="18" name="Rectangle 18"/>
            <p:cNvSpPr/>
            <p:nvPr/>
          </p:nvSpPr>
          <p:spPr>
            <a:xfrm>
              <a:off x="4010025" y="1181100"/>
              <a:ext cx="2819400" cy="847725"/>
            </a:xfrm>
            <a:prstGeom prst="roundRect">
              <a:avLst>
                <a:gd name="adj" fmla="val 6742"/>
              </a:avLst>
            </a:prstGeom>
            <a:noFill/>
            <a:ln w="11430">
              <a:solidFill>
                <a:srgbClr val="ED8776"/>
              </a:solidFill>
              <a:custDash>
                <a:ds d="333333" sp="250000"/>
              </a:custDash>
            </a:ln>
          </p:spPr>
        </p:sp>
        <p:sp>
          <p:nvSpPr>
            <p:cNvPr id="19" name="TextBox 19"/>
            <p:cNvSpPr txBox="1"/>
            <p:nvPr/>
          </p:nvSpPr>
          <p:spPr>
            <a:xfrm>
              <a:off x="4147185" y="1421606"/>
              <a:ext cx="185574" cy="220028"/>
            </a:xfrm>
            <a:prstGeom prst="rect">
              <a:avLst/>
            </a:prstGeom>
            <a:noFill/>
            <a:ln>
              <a:noFill/>
            </a:ln>
          </p:spPr>
          <p:txBody>
            <a:bodyPr wrap="none" lIns="0" tIns="0" rIns="0" bIns="0" anchor="t" anchorCtr="0">
              <a:spAutoFit/>
            </a:bodyPr>
            <a:lstStyle/>
            <a:p>
              <a:pPr algn="l"/>
              <a:r>
                <a:rPr lang="zh-CN" sz="1120" b="1" dirty="0">
                  <a:solidFill>
                    <a:srgbClr val="ED8776"/>
                  </a:solidFill>
                  <a:latin typeface="+mn-lt"/>
                  <a:ea typeface="+mn-ea"/>
                  <a:cs typeface="+mn-cs"/>
                </a:rPr>
                <a:t>02</a:t>
              </a:r>
            </a:p>
          </p:txBody>
        </p:sp>
        <p:sp>
          <p:nvSpPr>
            <p:cNvPr id="20" name="TextBox 20"/>
            <p:cNvSpPr txBox="1"/>
            <p:nvPr/>
          </p:nvSpPr>
          <p:spPr>
            <a:xfrm>
              <a:off x="4567238" y="1366838"/>
              <a:ext cx="514350"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天猫、京东</a:t>
              </a:r>
            </a:p>
          </p:txBody>
        </p:sp>
        <p:sp>
          <p:nvSpPr>
            <p:cNvPr id="21" name="TextBox 21"/>
            <p:cNvSpPr txBox="1"/>
            <p:nvPr/>
          </p:nvSpPr>
          <p:spPr>
            <a:xfrm>
              <a:off x="4567238" y="1500188"/>
              <a:ext cx="413385"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店铺订阅</a:t>
              </a:r>
            </a:p>
          </p:txBody>
        </p:sp>
        <p:sp>
          <p:nvSpPr>
            <p:cNvPr id="22" name="Rectangle 22"/>
            <p:cNvSpPr/>
            <p:nvPr/>
          </p:nvSpPr>
          <p:spPr>
            <a:xfrm>
              <a:off x="4152900" y="1714500"/>
              <a:ext cx="1143000" cy="247650"/>
            </a:xfrm>
            <a:prstGeom prst="roundRect">
              <a:avLst>
                <a:gd name="adj" fmla="val 15385"/>
              </a:avLst>
            </a:prstGeom>
            <a:solidFill>
              <a:srgbClr val="E5624C"/>
            </a:solidFill>
            <a:ln>
              <a:noFill/>
            </a:ln>
          </p:spPr>
        </p:sp>
        <p:sp>
          <p:nvSpPr>
            <p:cNvPr id="23" name="TextBox 23"/>
            <p:cNvSpPr txBox="1"/>
            <p:nvPr/>
          </p:nvSpPr>
          <p:spPr>
            <a:xfrm>
              <a:off x="4488091" y="17928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电商合作</a:t>
              </a:r>
            </a:p>
          </p:txBody>
        </p:sp>
        <p:sp>
          <p:nvSpPr>
            <p:cNvPr id="24" name="TextBox 24"/>
            <p:cNvSpPr txBox="1"/>
            <p:nvPr/>
          </p:nvSpPr>
          <p:spPr>
            <a:xfrm>
              <a:off x="5537835" y="1421606"/>
              <a:ext cx="185574" cy="220028"/>
            </a:xfrm>
            <a:prstGeom prst="rect">
              <a:avLst/>
            </a:prstGeom>
            <a:noFill/>
            <a:ln>
              <a:noFill/>
            </a:ln>
          </p:spPr>
          <p:txBody>
            <a:bodyPr wrap="none" lIns="0" tIns="0" rIns="0" bIns="0" anchor="t" anchorCtr="0">
              <a:spAutoFit/>
            </a:bodyPr>
            <a:lstStyle/>
            <a:p>
              <a:pPr algn="l"/>
              <a:r>
                <a:rPr lang="zh-CN" sz="1120" b="1" dirty="0">
                  <a:solidFill>
                    <a:srgbClr val="ED8776"/>
                  </a:solidFill>
                  <a:latin typeface="+mn-lt"/>
                  <a:ea typeface="+mn-ea"/>
                  <a:cs typeface="+mn-cs"/>
                </a:rPr>
                <a:t>03</a:t>
              </a:r>
            </a:p>
          </p:txBody>
        </p:sp>
        <p:sp>
          <p:nvSpPr>
            <p:cNvPr id="25" name="TextBox 25"/>
            <p:cNvSpPr txBox="1"/>
            <p:nvPr/>
          </p:nvSpPr>
          <p:spPr>
            <a:xfrm>
              <a:off x="5957888" y="1366838"/>
              <a:ext cx="716280"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抖音、小红书、</a:t>
              </a:r>
            </a:p>
          </p:txBody>
        </p:sp>
        <p:sp>
          <p:nvSpPr>
            <p:cNvPr id="26" name="TextBox 26"/>
            <p:cNvSpPr txBox="1"/>
            <p:nvPr/>
          </p:nvSpPr>
          <p:spPr>
            <a:xfrm>
              <a:off x="5957888" y="1500188"/>
              <a:ext cx="312420" cy="147638"/>
            </a:xfrm>
            <a:prstGeom prst="rect">
              <a:avLst/>
            </a:prstGeom>
            <a:noFill/>
            <a:ln>
              <a:noFill/>
            </a:ln>
          </p:spPr>
          <p:txBody>
            <a:bodyPr wrap="none" lIns="0" tIns="0" rIns="0" bIns="0" anchor="t" anchorCtr="0">
              <a:spAutoFit/>
            </a:bodyPr>
            <a:lstStyle/>
            <a:p>
              <a:pPr algn="l"/>
              <a:r>
                <a:rPr lang="zh-CN" sz="750" dirty="0">
                  <a:solidFill>
                    <a:srgbClr val="705F5B"/>
                  </a:solidFill>
                  <a:latin typeface="+mn-lt"/>
                  <a:ea typeface="+mn-ea"/>
                  <a:cs typeface="+mn-cs"/>
                </a:rPr>
                <a:t>公众号</a:t>
              </a:r>
            </a:p>
          </p:txBody>
        </p:sp>
        <p:sp>
          <p:nvSpPr>
            <p:cNvPr id="27" name="Rectangle 27"/>
            <p:cNvSpPr/>
            <p:nvPr/>
          </p:nvSpPr>
          <p:spPr>
            <a:xfrm>
              <a:off x="5543550" y="1714500"/>
              <a:ext cx="1143000" cy="247650"/>
            </a:xfrm>
            <a:prstGeom prst="roundRect">
              <a:avLst>
                <a:gd name="adj" fmla="val 15385"/>
              </a:avLst>
            </a:prstGeom>
            <a:solidFill>
              <a:srgbClr val="E5624C"/>
            </a:solidFill>
            <a:ln>
              <a:noFill/>
            </a:ln>
          </p:spPr>
        </p:sp>
        <p:sp>
          <p:nvSpPr>
            <p:cNvPr id="28" name="TextBox 28"/>
            <p:cNvSpPr txBox="1"/>
            <p:nvPr/>
          </p:nvSpPr>
          <p:spPr>
            <a:xfrm>
              <a:off x="5878741" y="17928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社媒合作</a:t>
              </a:r>
            </a:p>
          </p:txBody>
        </p:sp>
      </p:grpSp>
      <p:grpSp>
        <p:nvGrpSpPr>
          <p:cNvPr id="67" name="row-consume"/>
          <p:cNvGrpSpPr/>
          <p:nvPr/>
        </p:nvGrpSpPr>
        <p:grpSpPr>
          <a:xfrm>
            <a:off x="1266825" y="2200275"/>
            <a:ext cx="6238875" cy="962025"/>
            <a:chOff x="1266825" y="2200275"/>
            <a:chExt cx="6238875" cy="962025"/>
          </a:xfrm>
        </p:grpSpPr>
        <p:sp>
          <p:nvSpPr>
            <p:cNvPr id="30" name="Rectangle 30"/>
            <p:cNvSpPr/>
            <p:nvPr/>
          </p:nvSpPr>
          <p:spPr>
            <a:xfrm>
              <a:off x="1266825" y="2200275"/>
              <a:ext cx="6238875" cy="962025"/>
            </a:xfrm>
            <a:prstGeom prst="roundRect">
              <a:avLst>
                <a:gd name="adj" fmla="val 7921"/>
              </a:avLst>
            </a:prstGeom>
            <a:solidFill>
              <a:srgbClr val="FFFFFF"/>
            </a:solidFill>
            <a:ln w="9525">
              <a:solidFill>
                <a:srgbClr val="E4E7F5"/>
              </a:solidFill>
            </a:ln>
          </p:spPr>
        </p:sp>
        <p:sp>
          <p:nvSpPr>
            <p:cNvPr id="31" name="Rectangle 31"/>
            <p:cNvSpPr/>
            <p:nvPr/>
          </p:nvSpPr>
          <p:spPr>
            <a:xfrm>
              <a:off x="1381125" y="2257425"/>
              <a:ext cx="828675" cy="847725"/>
            </a:xfrm>
            <a:prstGeom prst="roundRect">
              <a:avLst>
                <a:gd name="adj" fmla="val 9195"/>
              </a:avLst>
            </a:prstGeom>
            <a:gradFill>
              <a:gsLst>
                <a:gs pos="0">
                  <a:srgbClr val="F0998A"/>
                </a:gs>
                <a:gs pos="100000">
                  <a:srgbClr val="E5624C"/>
                </a:gs>
              </a:gsLst>
              <a:lin ang="5400000" scaled="1"/>
            </a:gradFill>
            <a:ln>
              <a:noFill/>
            </a:ln>
          </p:spPr>
        </p:sp>
        <p:grpSp>
          <p:nvGrpSpPr>
            <p:cNvPr id="36" name="Group 36"/>
            <p:cNvGrpSpPr/>
            <p:nvPr/>
          </p:nvGrpSpPr>
          <p:grpSpPr>
            <a:xfrm>
              <a:off x="1717675" y="2383631"/>
              <a:ext cx="165099" cy="185737"/>
              <a:chOff x="1717675" y="2383631"/>
              <a:chExt cx="165099" cy="185737"/>
            </a:xfrm>
          </p:grpSpPr>
          <p:sp>
            <p:nvSpPr>
              <p:cNvPr id="32" name="Freeform 32"/>
              <p:cNvSpPr/>
              <p:nvPr/>
            </p:nvSpPr>
            <p:spPr>
              <a:xfrm>
                <a:off x="1717675" y="252809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33" name="Freeform 33"/>
              <p:cNvSpPr/>
              <p:nvPr/>
            </p:nvSpPr>
            <p:spPr>
              <a:xfrm>
                <a:off x="1831181" y="252809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34" name="Freeform 34"/>
              <p:cNvSpPr/>
              <p:nvPr/>
            </p:nvSpPr>
            <p:spPr>
              <a:xfrm>
                <a:off x="1717675" y="2383631"/>
                <a:ext cx="134143" cy="144462"/>
              </a:xfrm>
              <a:custGeom>
                <a:avLst/>
                <a:gdLst/>
                <a:ahLst/>
                <a:cxnLst/>
                <a:rect l="l" t="t" r="r" b="b"/>
                <a:pathLst>
                  <a:path w="134143" h="144462">
                    <a:moveTo>
                      <a:pt x="134143" y="144462"/>
                    </a:moveTo>
                    <a:lnTo>
                      <a:pt x="20637" y="144462"/>
                    </a:lnTo>
                    <a:lnTo>
                      <a:pt x="20637" y="0"/>
                    </a:lnTo>
                    <a:lnTo>
                      <a:pt x="0" y="0"/>
                    </a:lnTo>
                  </a:path>
                </a:pathLst>
              </a:custGeom>
              <a:noFill/>
              <a:ln w="20637">
                <a:solidFill>
                  <a:srgbClr val="FFFFFF"/>
                </a:solidFill>
              </a:ln>
            </p:spPr>
          </p:sp>
          <p:sp>
            <p:nvSpPr>
              <p:cNvPr id="35" name="Freeform 35"/>
              <p:cNvSpPr/>
              <p:nvPr/>
            </p:nvSpPr>
            <p:spPr>
              <a:xfrm>
                <a:off x="1738312" y="2404269"/>
                <a:ext cx="144462" cy="82550"/>
              </a:xfrm>
              <a:custGeom>
                <a:avLst/>
                <a:gdLst/>
                <a:ahLst/>
                <a:cxnLst/>
                <a:rect l="l" t="t" r="r" b="b"/>
                <a:pathLst>
                  <a:path w="144462" h="82550">
                    <a:moveTo>
                      <a:pt x="0" y="0"/>
                    </a:moveTo>
                    <a:lnTo>
                      <a:pt x="144462" y="10319"/>
                    </a:lnTo>
                    <a:lnTo>
                      <a:pt x="134143" y="82550"/>
                    </a:lnTo>
                    <a:lnTo>
                      <a:pt x="0" y="82550"/>
                    </a:lnTo>
                  </a:path>
                </a:pathLst>
              </a:custGeom>
              <a:noFill/>
              <a:ln w="20637">
                <a:solidFill>
                  <a:srgbClr val="FFFFFF"/>
                </a:solidFill>
              </a:ln>
            </p:spPr>
          </p:sp>
        </p:grpSp>
        <p:sp>
          <p:nvSpPr>
            <p:cNvPr id="37" name="TextBox 37"/>
            <p:cNvSpPr txBox="1"/>
            <p:nvPr/>
          </p:nvSpPr>
          <p:spPr>
            <a:xfrm>
              <a:off x="1532852" y="28801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消费积分</a:t>
              </a:r>
            </a:p>
          </p:txBody>
        </p:sp>
        <p:grpSp>
          <p:nvGrpSpPr>
            <p:cNvPr id="41" name="Group 41"/>
            <p:cNvGrpSpPr/>
            <p:nvPr/>
          </p:nvGrpSpPr>
          <p:grpSpPr>
            <a:xfrm>
              <a:off x="2447925" y="2581275"/>
              <a:ext cx="171450" cy="171450"/>
              <a:chOff x="2447925" y="2581275"/>
              <a:chExt cx="171450" cy="171450"/>
            </a:xfrm>
          </p:grpSpPr>
          <p:sp>
            <p:nvSpPr>
              <p:cNvPr id="38" name="Freeform 38"/>
              <p:cNvSpPr/>
              <p:nvPr/>
            </p:nvSpPr>
            <p:spPr>
              <a:xfrm>
                <a:off x="2447925" y="258127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E5624C"/>
                </a:solidFill>
              </a:ln>
            </p:spPr>
          </p:sp>
          <p:sp>
            <p:nvSpPr>
              <p:cNvPr id="39" name="Freeform 39"/>
              <p:cNvSpPr/>
              <p:nvPr/>
            </p:nvSpPr>
            <p:spPr>
              <a:xfrm>
                <a:off x="2466975" y="266700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E5624C"/>
                </a:solidFill>
              </a:ln>
            </p:spPr>
          </p:sp>
          <p:sp>
            <p:nvSpPr>
              <p:cNvPr id="40" name="Freeform 40"/>
              <p:cNvSpPr/>
              <p:nvPr/>
            </p:nvSpPr>
            <p:spPr>
              <a:xfrm>
                <a:off x="2505075" y="267652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E5624C"/>
                </a:solidFill>
              </a:ln>
            </p:spPr>
          </p:sp>
        </p:grpSp>
        <p:grpSp>
          <p:nvGrpSpPr>
            <p:cNvPr id="47" name="Group 47"/>
            <p:cNvGrpSpPr/>
            <p:nvPr/>
          </p:nvGrpSpPr>
          <p:grpSpPr>
            <a:xfrm>
              <a:off x="3476625" y="2579999"/>
              <a:ext cx="171450" cy="172726"/>
              <a:chOff x="3476625" y="2579999"/>
              <a:chExt cx="171450" cy="172726"/>
            </a:xfrm>
          </p:grpSpPr>
          <p:sp>
            <p:nvSpPr>
              <p:cNvPr id="42" name="Freeform 42"/>
              <p:cNvSpPr/>
              <p:nvPr/>
            </p:nvSpPr>
            <p:spPr>
              <a:xfrm>
                <a:off x="3533775" y="265747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E5624C"/>
                </a:solidFill>
              </a:ln>
            </p:spPr>
          </p:sp>
          <p:sp>
            <p:nvSpPr>
              <p:cNvPr id="43" name="Freeform 43"/>
              <p:cNvSpPr/>
              <p:nvPr/>
            </p:nvSpPr>
            <p:spPr>
              <a:xfrm>
                <a:off x="3533775" y="268605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E5624C"/>
                </a:solidFill>
              </a:ln>
            </p:spPr>
          </p:sp>
          <p:sp>
            <p:nvSpPr>
              <p:cNvPr id="44" name="Freeform 44"/>
              <p:cNvSpPr/>
              <p:nvPr/>
            </p:nvSpPr>
            <p:spPr>
              <a:xfrm>
                <a:off x="3476625" y="257999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E5624C"/>
                </a:solidFill>
              </a:ln>
            </p:spPr>
          </p:sp>
          <p:sp>
            <p:nvSpPr>
              <p:cNvPr id="45" name="Freeform 45"/>
              <p:cNvSpPr/>
              <p:nvPr/>
            </p:nvSpPr>
            <p:spPr>
              <a:xfrm>
                <a:off x="3476625" y="260985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E5624C"/>
                </a:solidFill>
              </a:ln>
            </p:spPr>
          </p:sp>
          <p:sp>
            <p:nvSpPr>
              <p:cNvPr id="46" name="Freeform 46"/>
              <p:cNvSpPr/>
              <p:nvPr/>
            </p:nvSpPr>
            <p:spPr>
              <a:xfrm>
                <a:off x="3476625" y="265747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E5624C"/>
                </a:solidFill>
              </a:ln>
            </p:spPr>
          </p:sp>
        </p:grpSp>
        <p:sp>
          <p:nvSpPr>
            <p:cNvPr id="48" name="TextBox 48"/>
            <p:cNvSpPr txBox="1"/>
            <p:nvPr/>
          </p:nvSpPr>
          <p:spPr>
            <a:xfrm>
              <a:off x="2852077" y="2418636"/>
              <a:ext cx="391846"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消费积分</a:t>
              </a:r>
            </a:p>
          </p:txBody>
        </p:sp>
        <p:sp>
          <p:nvSpPr>
            <p:cNvPr id="49" name="Line 49"/>
            <p:cNvSpPr/>
            <p:nvPr/>
          </p:nvSpPr>
          <p:spPr>
            <a:xfrm>
              <a:off x="2724150" y="2590800"/>
              <a:ext cx="647700" cy="1"/>
            </a:xfrm>
            <a:prstGeom prst="line">
              <a:avLst/>
            </a:prstGeom>
            <a:noFill/>
            <a:ln w="14288">
              <a:solidFill>
                <a:srgbClr val="DD988A"/>
              </a:solidFill>
              <a:tailEnd type="triangle" w="lg" len="lg"/>
            </a:ln>
          </p:spPr>
        </p:sp>
        <p:sp>
          <p:nvSpPr>
            <p:cNvPr id="50" name="Line 50"/>
            <p:cNvSpPr/>
            <p:nvPr/>
          </p:nvSpPr>
          <p:spPr>
            <a:xfrm flipH="1">
              <a:off x="2724150" y="2762250"/>
              <a:ext cx="647700" cy="1"/>
            </a:xfrm>
            <a:prstGeom prst="line">
              <a:avLst/>
            </a:prstGeom>
            <a:noFill/>
            <a:ln w="14288">
              <a:solidFill>
                <a:srgbClr val="DD988A"/>
              </a:solidFill>
              <a:tailEnd type="triangle" w="lg" len="lg"/>
            </a:ln>
          </p:spPr>
        </p:sp>
        <p:sp>
          <p:nvSpPr>
            <p:cNvPr id="51" name="TextBox 51"/>
            <p:cNvSpPr txBox="1"/>
            <p:nvPr/>
          </p:nvSpPr>
          <p:spPr>
            <a:xfrm>
              <a:off x="2852077" y="2856786"/>
              <a:ext cx="391846"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积分福利</a:t>
              </a:r>
            </a:p>
          </p:txBody>
        </p:sp>
        <p:sp>
          <p:nvSpPr>
            <p:cNvPr id="52" name="Rectangle 52"/>
            <p:cNvSpPr/>
            <p:nvPr/>
          </p:nvSpPr>
          <p:spPr>
            <a:xfrm>
              <a:off x="3800475" y="2324100"/>
              <a:ext cx="1143000" cy="342900"/>
            </a:xfrm>
            <a:prstGeom prst="roundRect">
              <a:avLst>
                <a:gd name="adj" fmla="val 16667"/>
              </a:avLst>
            </a:prstGeom>
            <a:solidFill>
              <a:srgbClr val="FDF0EC"/>
            </a:solidFill>
            <a:ln w="9525">
              <a:solidFill>
                <a:srgbClr val="F0C0B8"/>
              </a:solidFill>
            </a:ln>
          </p:spPr>
        </p:sp>
        <p:sp>
          <p:nvSpPr>
            <p:cNvPr id="53" name="TextBox 53"/>
            <p:cNvSpPr txBox="1"/>
            <p:nvPr/>
          </p:nvSpPr>
          <p:spPr>
            <a:xfrm>
              <a:off x="4146436" y="2377916"/>
              <a:ext cx="451079"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购买获得</a:t>
              </a:r>
            </a:p>
          </p:txBody>
        </p:sp>
        <p:sp>
          <p:nvSpPr>
            <p:cNvPr id="54" name="TextBox 54"/>
            <p:cNvSpPr txBox="1"/>
            <p:nvPr/>
          </p:nvSpPr>
          <p:spPr>
            <a:xfrm>
              <a:off x="4256824" y="2520791"/>
              <a:ext cx="230302"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积分</a:t>
              </a:r>
            </a:p>
          </p:txBody>
        </p:sp>
        <p:sp>
          <p:nvSpPr>
            <p:cNvPr id="55" name="Rectangle 55"/>
            <p:cNvSpPr/>
            <p:nvPr/>
          </p:nvSpPr>
          <p:spPr>
            <a:xfrm>
              <a:off x="5029200" y="2324100"/>
              <a:ext cx="1143000" cy="342900"/>
            </a:xfrm>
            <a:prstGeom prst="roundRect">
              <a:avLst>
                <a:gd name="adj" fmla="val 16667"/>
              </a:avLst>
            </a:prstGeom>
            <a:solidFill>
              <a:srgbClr val="FDF0EC"/>
            </a:solidFill>
            <a:ln w="9525">
              <a:solidFill>
                <a:srgbClr val="F0C0B8"/>
              </a:solidFill>
            </a:ln>
          </p:spPr>
        </p:sp>
        <p:sp>
          <p:nvSpPr>
            <p:cNvPr id="56" name="TextBox 56"/>
            <p:cNvSpPr txBox="1"/>
            <p:nvPr/>
          </p:nvSpPr>
          <p:spPr>
            <a:xfrm>
              <a:off x="5319966" y="2377916"/>
              <a:ext cx="561467"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用积分抵消</a:t>
              </a:r>
            </a:p>
          </p:txBody>
        </p:sp>
        <p:sp>
          <p:nvSpPr>
            <p:cNvPr id="57" name="TextBox 57"/>
            <p:cNvSpPr txBox="1"/>
            <p:nvPr/>
          </p:nvSpPr>
          <p:spPr>
            <a:xfrm>
              <a:off x="5485549" y="2520791"/>
              <a:ext cx="230302"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价格</a:t>
              </a:r>
            </a:p>
          </p:txBody>
        </p:sp>
        <p:sp>
          <p:nvSpPr>
            <p:cNvPr id="58" name="Rectangle 58"/>
            <p:cNvSpPr/>
            <p:nvPr/>
          </p:nvSpPr>
          <p:spPr>
            <a:xfrm>
              <a:off x="6257925" y="2324100"/>
              <a:ext cx="1143000" cy="342900"/>
            </a:xfrm>
            <a:prstGeom prst="roundRect">
              <a:avLst>
                <a:gd name="adj" fmla="val 16667"/>
              </a:avLst>
            </a:prstGeom>
            <a:solidFill>
              <a:srgbClr val="FDF0EC"/>
            </a:solidFill>
            <a:ln w="9525">
              <a:solidFill>
                <a:srgbClr val="F0C0B8"/>
              </a:solidFill>
            </a:ln>
          </p:spPr>
        </p:sp>
        <p:sp>
          <p:nvSpPr>
            <p:cNvPr id="59" name="TextBox 59"/>
            <p:cNvSpPr txBox="1"/>
            <p:nvPr/>
          </p:nvSpPr>
          <p:spPr>
            <a:xfrm>
              <a:off x="6548692" y="2377916"/>
              <a:ext cx="561467"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用积分获得</a:t>
              </a:r>
            </a:p>
          </p:txBody>
        </p:sp>
        <p:sp>
          <p:nvSpPr>
            <p:cNvPr id="60" name="TextBox 60"/>
            <p:cNvSpPr txBox="1"/>
            <p:nvPr/>
          </p:nvSpPr>
          <p:spPr>
            <a:xfrm>
              <a:off x="6714274" y="2520791"/>
              <a:ext cx="230302"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折扣</a:t>
              </a:r>
            </a:p>
          </p:txBody>
        </p:sp>
        <p:sp>
          <p:nvSpPr>
            <p:cNvPr id="61" name="Rectangle 61"/>
            <p:cNvSpPr/>
            <p:nvPr/>
          </p:nvSpPr>
          <p:spPr>
            <a:xfrm>
              <a:off x="3800475" y="2781300"/>
              <a:ext cx="1143000" cy="285750"/>
            </a:xfrm>
            <a:prstGeom prst="roundRect">
              <a:avLst>
                <a:gd name="adj" fmla="val 20000"/>
              </a:avLst>
            </a:prstGeom>
            <a:solidFill>
              <a:srgbClr val="FDF0EC"/>
            </a:solidFill>
            <a:ln w="9525">
              <a:solidFill>
                <a:srgbClr val="F0C0B8"/>
              </a:solidFill>
            </a:ln>
          </p:spPr>
        </p:sp>
        <p:sp>
          <p:nvSpPr>
            <p:cNvPr id="62" name="TextBox 62"/>
            <p:cNvSpPr txBox="1"/>
            <p:nvPr/>
          </p:nvSpPr>
          <p:spPr>
            <a:xfrm>
              <a:off x="4036047" y="288274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积分兑换商品</a:t>
              </a:r>
            </a:p>
          </p:txBody>
        </p:sp>
        <p:sp>
          <p:nvSpPr>
            <p:cNvPr id="63" name="Rectangle 63"/>
            <p:cNvSpPr/>
            <p:nvPr/>
          </p:nvSpPr>
          <p:spPr>
            <a:xfrm>
              <a:off x="5029200" y="2781300"/>
              <a:ext cx="1143000" cy="285750"/>
            </a:xfrm>
            <a:prstGeom prst="roundRect">
              <a:avLst>
                <a:gd name="adj" fmla="val 20000"/>
              </a:avLst>
            </a:prstGeom>
            <a:solidFill>
              <a:srgbClr val="FDF0EC"/>
            </a:solidFill>
            <a:ln w="9525">
              <a:solidFill>
                <a:srgbClr val="F0C0B8"/>
              </a:solidFill>
            </a:ln>
          </p:spPr>
        </p:sp>
        <p:sp>
          <p:nvSpPr>
            <p:cNvPr id="64" name="TextBox 64"/>
            <p:cNvSpPr txBox="1"/>
            <p:nvPr/>
          </p:nvSpPr>
          <p:spPr>
            <a:xfrm>
              <a:off x="5264772" y="288274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积分获取服务</a:t>
              </a:r>
            </a:p>
          </p:txBody>
        </p:sp>
        <p:sp>
          <p:nvSpPr>
            <p:cNvPr id="65" name="Rectangle 65"/>
            <p:cNvSpPr/>
            <p:nvPr/>
          </p:nvSpPr>
          <p:spPr>
            <a:xfrm>
              <a:off x="6257925" y="2781300"/>
              <a:ext cx="1143000" cy="285750"/>
            </a:xfrm>
            <a:prstGeom prst="roundRect">
              <a:avLst>
                <a:gd name="adj" fmla="val 20000"/>
              </a:avLst>
            </a:prstGeom>
            <a:solidFill>
              <a:srgbClr val="FDF0EC"/>
            </a:solidFill>
            <a:ln w="9525">
              <a:solidFill>
                <a:srgbClr val="F0C0B8"/>
              </a:solidFill>
            </a:ln>
          </p:spPr>
        </p:sp>
        <p:sp>
          <p:nvSpPr>
            <p:cNvPr id="66" name="TextBox 66"/>
            <p:cNvSpPr txBox="1"/>
            <p:nvPr/>
          </p:nvSpPr>
          <p:spPr>
            <a:xfrm>
              <a:off x="6493497" y="2882741"/>
              <a:ext cx="671855" cy="161925"/>
            </a:xfrm>
            <a:prstGeom prst="rect">
              <a:avLst/>
            </a:prstGeom>
            <a:noFill/>
            <a:ln>
              <a:noFill/>
            </a:ln>
          </p:spPr>
          <p:txBody>
            <a:bodyPr wrap="none" lIns="0" tIns="0" rIns="0" bIns="0" anchor="t" anchorCtr="0">
              <a:spAutoFit/>
            </a:bodyPr>
            <a:lstStyle/>
            <a:p>
              <a:pPr algn="ctr"/>
              <a:r>
                <a:rPr lang="zh-CN" sz="820" dirty="0">
                  <a:solidFill>
                    <a:srgbClr val="E5624C"/>
                  </a:solidFill>
                  <a:latin typeface="+mn-lt"/>
                  <a:ea typeface="+mn-ea"/>
                  <a:cs typeface="+mn-cs"/>
                </a:rPr>
                <a:t>积分获取赠品</a:t>
              </a:r>
            </a:p>
          </p:txBody>
        </p:sp>
      </p:grpSp>
      <p:grpSp>
        <p:nvGrpSpPr>
          <p:cNvPr id="92" name="row-behavior"/>
          <p:cNvGrpSpPr/>
          <p:nvPr/>
        </p:nvGrpSpPr>
        <p:grpSpPr>
          <a:xfrm>
            <a:off x="1266825" y="3267075"/>
            <a:ext cx="6248400" cy="1066800"/>
            <a:chOff x="1266825" y="3267075"/>
            <a:chExt cx="6248400" cy="1066800"/>
          </a:xfrm>
        </p:grpSpPr>
        <p:sp>
          <p:nvSpPr>
            <p:cNvPr id="68" name="Rectangle 68"/>
            <p:cNvSpPr/>
            <p:nvPr/>
          </p:nvSpPr>
          <p:spPr>
            <a:xfrm>
              <a:off x="1266825" y="3267075"/>
              <a:ext cx="6238875" cy="1066800"/>
            </a:xfrm>
            <a:prstGeom prst="roundRect">
              <a:avLst>
                <a:gd name="adj" fmla="val 7143"/>
              </a:avLst>
            </a:prstGeom>
            <a:solidFill>
              <a:srgbClr val="FFFFFF"/>
            </a:solidFill>
            <a:ln w="9525">
              <a:solidFill>
                <a:srgbClr val="E4E7F5"/>
              </a:solidFill>
            </a:ln>
          </p:spPr>
        </p:sp>
        <p:sp>
          <p:nvSpPr>
            <p:cNvPr id="69" name="Rectangle 69"/>
            <p:cNvSpPr/>
            <p:nvPr/>
          </p:nvSpPr>
          <p:spPr>
            <a:xfrm>
              <a:off x="1381125" y="3324225"/>
              <a:ext cx="828675" cy="952500"/>
            </a:xfrm>
            <a:prstGeom prst="roundRect">
              <a:avLst>
                <a:gd name="adj" fmla="val 9195"/>
              </a:avLst>
            </a:prstGeom>
            <a:gradFill>
              <a:gsLst>
                <a:gs pos="0">
                  <a:srgbClr val="D47D6B"/>
                </a:gs>
                <a:gs pos="100000">
                  <a:srgbClr val="C1553F"/>
                </a:gs>
              </a:gsLst>
              <a:lin ang="5400000" scaled="1"/>
            </a:gradFill>
            <a:ln>
              <a:noFill/>
            </a:ln>
          </p:spPr>
        </p:sp>
        <p:grpSp>
          <p:nvGrpSpPr>
            <p:cNvPr id="72" name="Group 72"/>
            <p:cNvGrpSpPr/>
            <p:nvPr/>
          </p:nvGrpSpPr>
          <p:grpSpPr>
            <a:xfrm>
              <a:off x="1707356" y="3520281"/>
              <a:ext cx="185737" cy="103187"/>
              <a:chOff x="1707356" y="3520281"/>
              <a:chExt cx="185737" cy="103187"/>
            </a:xfrm>
          </p:grpSpPr>
          <p:sp>
            <p:nvSpPr>
              <p:cNvPr id="70" name="Freeform 70"/>
              <p:cNvSpPr/>
              <p:nvPr/>
            </p:nvSpPr>
            <p:spPr>
              <a:xfrm>
                <a:off x="1707356" y="3520281"/>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FFFFFF"/>
                </a:solidFill>
              </a:ln>
            </p:spPr>
          </p:sp>
          <p:sp>
            <p:nvSpPr>
              <p:cNvPr id="71" name="Freeform 71"/>
              <p:cNvSpPr/>
              <p:nvPr/>
            </p:nvSpPr>
            <p:spPr>
              <a:xfrm>
                <a:off x="1820862" y="3520281"/>
                <a:ext cx="72231" cy="72231"/>
              </a:xfrm>
              <a:custGeom>
                <a:avLst/>
                <a:gdLst/>
                <a:ahLst/>
                <a:cxnLst/>
                <a:rect l="l" t="t" r="r" b="b"/>
                <a:pathLst>
                  <a:path w="72231" h="72231">
                    <a:moveTo>
                      <a:pt x="0" y="0"/>
                    </a:moveTo>
                    <a:lnTo>
                      <a:pt x="72231" y="0"/>
                    </a:lnTo>
                    <a:lnTo>
                      <a:pt x="72231" y="72231"/>
                    </a:lnTo>
                  </a:path>
                </a:pathLst>
              </a:custGeom>
              <a:noFill/>
              <a:ln w="20637">
                <a:solidFill>
                  <a:srgbClr val="FFFFFF"/>
                </a:solidFill>
              </a:ln>
            </p:spPr>
          </p:sp>
        </p:grpSp>
        <p:sp>
          <p:nvSpPr>
            <p:cNvPr id="73" name="TextBox 73"/>
            <p:cNvSpPr txBox="1"/>
            <p:nvPr/>
          </p:nvSpPr>
          <p:spPr>
            <a:xfrm>
              <a:off x="1532852" y="40612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行为积分</a:t>
              </a:r>
            </a:p>
          </p:txBody>
        </p:sp>
        <p:sp>
          <p:nvSpPr>
            <p:cNvPr id="74" name="Freeform 74"/>
            <p:cNvSpPr/>
            <p:nvPr/>
          </p:nvSpPr>
          <p:spPr>
            <a:xfrm>
              <a:off x="2438400" y="3657600"/>
              <a:ext cx="342900" cy="342900"/>
            </a:xfrm>
            <a:custGeom>
              <a:avLst/>
              <a:gdLst/>
              <a:ahLst/>
              <a:cxnLst/>
              <a:rect l="l" t="t" r="r" b="b"/>
              <a:pathLst>
                <a:path w="342900" h="342900">
                  <a:moveTo>
                    <a:pt x="0" y="342900"/>
                  </a:moveTo>
                  <a:lnTo>
                    <a:pt x="114300" y="342900"/>
                  </a:lnTo>
                  <a:lnTo>
                    <a:pt x="114300" y="228600"/>
                  </a:lnTo>
                  <a:lnTo>
                    <a:pt x="228600" y="228600"/>
                  </a:lnTo>
                  <a:lnTo>
                    <a:pt x="228600" y="114300"/>
                  </a:lnTo>
                  <a:lnTo>
                    <a:pt x="342900" y="114300"/>
                  </a:lnTo>
                  <a:lnTo>
                    <a:pt x="342900" y="0"/>
                  </a:lnTo>
                </a:path>
              </a:pathLst>
            </a:custGeom>
            <a:noFill/>
            <a:ln w="28575">
              <a:solidFill>
                <a:srgbClr val="DD988A"/>
              </a:solidFill>
              <a:tailEnd type="triangle" w="lg" len="lg"/>
            </a:ln>
          </p:spPr>
        </p:sp>
        <p:sp>
          <p:nvSpPr>
            <p:cNvPr id="75" name="Rectangle 75"/>
            <p:cNvSpPr/>
            <p:nvPr/>
          </p:nvSpPr>
          <p:spPr>
            <a:xfrm>
              <a:off x="2933700" y="3581400"/>
              <a:ext cx="571500" cy="495300"/>
            </a:xfrm>
            <a:prstGeom prst="roundRect">
              <a:avLst>
                <a:gd name="adj" fmla="val 11538"/>
              </a:avLst>
            </a:prstGeom>
            <a:solidFill>
              <a:srgbClr val="C1553F"/>
            </a:solidFill>
            <a:ln>
              <a:noFill/>
            </a:ln>
          </p:spPr>
        </p:sp>
        <p:sp>
          <p:nvSpPr>
            <p:cNvPr id="76" name="TextBox 76"/>
            <p:cNvSpPr txBox="1"/>
            <p:nvPr/>
          </p:nvSpPr>
          <p:spPr>
            <a:xfrm>
              <a:off x="3093529" y="3703320"/>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通关</a:t>
              </a:r>
            </a:p>
          </p:txBody>
        </p:sp>
        <p:sp>
          <p:nvSpPr>
            <p:cNvPr id="77" name="TextBox 77"/>
            <p:cNvSpPr txBox="1"/>
            <p:nvPr/>
          </p:nvSpPr>
          <p:spPr>
            <a:xfrm>
              <a:off x="3093529" y="3874770"/>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升级</a:t>
              </a:r>
            </a:p>
          </p:txBody>
        </p:sp>
        <p:sp>
          <p:nvSpPr>
            <p:cNvPr id="78" name="Freeform 78"/>
            <p:cNvSpPr/>
            <p:nvPr/>
          </p:nvSpPr>
          <p:spPr>
            <a:xfrm>
              <a:off x="3727450" y="3619500"/>
              <a:ext cx="63500" cy="438150"/>
            </a:xfrm>
            <a:custGeom>
              <a:avLst/>
              <a:gdLst/>
              <a:ahLst/>
              <a:cxnLst/>
              <a:rect l="l" t="t" r="r" b="b"/>
              <a:pathLst>
                <a:path w="63500" h="438150">
                  <a:moveTo>
                    <a:pt x="63500" y="0"/>
                  </a:moveTo>
                  <a:cubicBezTo>
                    <a:pt x="0" y="139700"/>
                    <a:pt x="0" y="285750"/>
                    <a:pt x="63500" y="438150"/>
                  </a:cubicBezTo>
                </a:path>
              </a:pathLst>
            </a:custGeom>
            <a:noFill/>
            <a:ln w="14288">
              <a:solidFill>
                <a:srgbClr val="DD988A"/>
              </a:solidFill>
            </a:ln>
          </p:spPr>
        </p:sp>
        <p:sp>
          <p:nvSpPr>
            <p:cNvPr id="79" name="TextBox 79"/>
            <p:cNvSpPr txBox="1"/>
            <p:nvPr/>
          </p:nvSpPr>
          <p:spPr>
            <a:xfrm>
              <a:off x="3900488" y="3606641"/>
              <a:ext cx="340690"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积极性</a:t>
              </a:r>
            </a:p>
          </p:txBody>
        </p:sp>
        <p:sp>
          <p:nvSpPr>
            <p:cNvPr id="80" name="TextBox 80"/>
            <p:cNvSpPr txBox="1"/>
            <p:nvPr/>
          </p:nvSpPr>
          <p:spPr>
            <a:xfrm>
              <a:off x="3900488" y="3778091"/>
              <a:ext cx="340690"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活跃度</a:t>
              </a:r>
            </a:p>
          </p:txBody>
        </p:sp>
        <p:sp>
          <p:nvSpPr>
            <p:cNvPr id="81" name="TextBox 81"/>
            <p:cNvSpPr txBox="1"/>
            <p:nvPr/>
          </p:nvSpPr>
          <p:spPr>
            <a:xfrm>
              <a:off x="3900488" y="3949541"/>
              <a:ext cx="340690"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驱动力</a:t>
              </a:r>
            </a:p>
          </p:txBody>
        </p:sp>
        <p:sp>
          <p:nvSpPr>
            <p:cNvPr id="82" name="Rectangle 82"/>
            <p:cNvSpPr/>
            <p:nvPr/>
          </p:nvSpPr>
          <p:spPr>
            <a:xfrm>
              <a:off x="4514850" y="3609975"/>
              <a:ext cx="857250" cy="457200"/>
            </a:xfrm>
            <a:prstGeom prst="roundRect">
              <a:avLst>
                <a:gd name="adj" fmla="val 12500"/>
              </a:avLst>
            </a:prstGeom>
            <a:solidFill>
              <a:srgbClr val="EEF0FB"/>
            </a:solidFill>
            <a:ln w="9525">
              <a:solidFill>
                <a:srgbClr val="C9CFEA"/>
              </a:solidFill>
            </a:ln>
          </p:spPr>
        </p:sp>
        <p:sp>
          <p:nvSpPr>
            <p:cNvPr id="83" name="TextBox 83"/>
            <p:cNvSpPr txBox="1"/>
            <p:nvPr/>
          </p:nvSpPr>
          <p:spPr>
            <a:xfrm>
              <a:off x="4717936" y="3711416"/>
              <a:ext cx="451079"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每日签到</a:t>
              </a:r>
            </a:p>
          </p:txBody>
        </p:sp>
        <p:sp>
          <p:nvSpPr>
            <p:cNvPr id="84" name="TextBox 84"/>
            <p:cNvSpPr txBox="1"/>
            <p:nvPr/>
          </p:nvSpPr>
          <p:spPr>
            <a:xfrm>
              <a:off x="4828324" y="3863816"/>
              <a:ext cx="230302"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积分</a:t>
              </a:r>
            </a:p>
          </p:txBody>
        </p:sp>
        <p:sp>
          <p:nvSpPr>
            <p:cNvPr id="85" name="Rectangle 85"/>
            <p:cNvSpPr/>
            <p:nvPr/>
          </p:nvSpPr>
          <p:spPr>
            <a:xfrm>
              <a:off x="5534025" y="3533775"/>
              <a:ext cx="1981200" cy="590550"/>
            </a:xfrm>
            <a:prstGeom prst="roundRect">
              <a:avLst>
                <a:gd name="adj" fmla="val 9677"/>
              </a:avLst>
            </a:prstGeom>
            <a:noFill/>
            <a:ln w="11430">
              <a:solidFill>
                <a:srgbClr val="DD988A"/>
              </a:solidFill>
              <a:custDash>
                <a:ds d="333333" sp="250000"/>
              </a:custDash>
            </a:ln>
          </p:spPr>
        </p:sp>
        <p:sp>
          <p:nvSpPr>
            <p:cNvPr id="86" name="Rectangle 86"/>
            <p:cNvSpPr/>
            <p:nvPr/>
          </p:nvSpPr>
          <p:spPr>
            <a:xfrm>
              <a:off x="5619750" y="3609975"/>
              <a:ext cx="857250" cy="457200"/>
            </a:xfrm>
            <a:prstGeom prst="roundRect">
              <a:avLst>
                <a:gd name="adj" fmla="val 12500"/>
              </a:avLst>
            </a:prstGeom>
            <a:solidFill>
              <a:srgbClr val="EEF0FB"/>
            </a:solidFill>
            <a:ln w="9525">
              <a:solidFill>
                <a:srgbClr val="C9CFEA"/>
              </a:solidFill>
            </a:ln>
          </p:spPr>
        </p:sp>
        <p:sp>
          <p:nvSpPr>
            <p:cNvPr id="87" name="TextBox 87"/>
            <p:cNvSpPr txBox="1"/>
            <p:nvPr/>
          </p:nvSpPr>
          <p:spPr>
            <a:xfrm>
              <a:off x="5822836" y="3711416"/>
              <a:ext cx="451079"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成为会员</a:t>
              </a:r>
            </a:p>
          </p:txBody>
        </p:sp>
        <p:sp>
          <p:nvSpPr>
            <p:cNvPr id="88" name="TextBox 88"/>
            <p:cNvSpPr txBox="1"/>
            <p:nvPr/>
          </p:nvSpPr>
          <p:spPr>
            <a:xfrm>
              <a:off x="5933224" y="3863816"/>
              <a:ext cx="230302"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积分</a:t>
              </a:r>
            </a:p>
          </p:txBody>
        </p:sp>
        <p:sp>
          <p:nvSpPr>
            <p:cNvPr id="89" name="Rectangle 89"/>
            <p:cNvSpPr/>
            <p:nvPr/>
          </p:nvSpPr>
          <p:spPr>
            <a:xfrm>
              <a:off x="6591300" y="3609975"/>
              <a:ext cx="857250" cy="457200"/>
            </a:xfrm>
            <a:prstGeom prst="roundRect">
              <a:avLst>
                <a:gd name="adj" fmla="val 12500"/>
              </a:avLst>
            </a:prstGeom>
            <a:solidFill>
              <a:srgbClr val="EEF0FB"/>
            </a:solidFill>
            <a:ln w="9525">
              <a:solidFill>
                <a:srgbClr val="C9CFEA"/>
              </a:solidFill>
            </a:ln>
          </p:spPr>
        </p:sp>
        <p:sp>
          <p:nvSpPr>
            <p:cNvPr id="90" name="TextBox 90"/>
            <p:cNvSpPr txBox="1"/>
            <p:nvPr/>
          </p:nvSpPr>
          <p:spPr>
            <a:xfrm>
              <a:off x="6794386" y="3711416"/>
              <a:ext cx="451079"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完善信息</a:t>
              </a:r>
            </a:p>
          </p:txBody>
        </p:sp>
        <p:sp>
          <p:nvSpPr>
            <p:cNvPr id="91" name="TextBox 91"/>
            <p:cNvSpPr txBox="1"/>
            <p:nvPr/>
          </p:nvSpPr>
          <p:spPr>
            <a:xfrm>
              <a:off x="6904774" y="3863816"/>
              <a:ext cx="230302" cy="161925"/>
            </a:xfrm>
            <a:prstGeom prst="rect">
              <a:avLst/>
            </a:prstGeom>
            <a:noFill/>
            <a:ln>
              <a:noFill/>
            </a:ln>
          </p:spPr>
          <p:txBody>
            <a:bodyPr wrap="none" lIns="0" tIns="0" rIns="0" bIns="0" anchor="t" anchorCtr="0">
              <a:spAutoFit/>
            </a:bodyPr>
            <a:lstStyle/>
            <a:p>
              <a:pPr algn="ctr"/>
              <a:r>
                <a:rPr lang="zh-CN" sz="820" dirty="0">
                  <a:solidFill>
                    <a:srgbClr val="C1553F"/>
                  </a:solidFill>
                  <a:latin typeface="+mn-lt"/>
                  <a:ea typeface="+mn-ea"/>
                  <a:cs typeface="+mn-cs"/>
                </a:rPr>
                <a:t>积分</a:t>
              </a:r>
            </a:p>
          </p:txBody>
        </p:sp>
      </p:grpSp>
      <p:grpSp>
        <p:nvGrpSpPr>
          <p:cNvPr id="130" name="row-alliance"/>
          <p:cNvGrpSpPr/>
          <p:nvPr/>
        </p:nvGrpSpPr>
        <p:grpSpPr>
          <a:xfrm>
            <a:off x="1266825" y="4448175"/>
            <a:ext cx="6248400" cy="1009650"/>
            <a:chOff x="1266825" y="4448175"/>
            <a:chExt cx="6248400" cy="1009650"/>
          </a:xfrm>
        </p:grpSpPr>
        <p:sp>
          <p:nvSpPr>
            <p:cNvPr id="93" name="Rectangle 93"/>
            <p:cNvSpPr/>
            <p:nvPr/>
          </p:nvSpPr>
          <p:spPr>
            <a:xfrm>
              <a:off x="1266825" y="4448175"/>
              <a:ext cx="6238875" cy="1009650"/>
            </a:xfrm>
            <a:prstGeom prst="roundRect">
              <a:avLst>
                <a:gd name="adj" fmla="val 7547"/>
              </a:avLst>
            </a:prstGeom>
            <a:solidFill>
              <a:srgbClr val="FFFFFF"/>
            </a:solidFill>
            <a:ln w="9525">
              <a:solidFill>
                <a:srgbClr val="E4E7F5"/>
              </a:solidFill>
            </a:ln>
          </p:spPr>
        </p:sp>
        <p:sp>
          <p:nvSpPr>
            <p:cNvPr id="94" name="Rectangle 94"/>
            <p:cNvSpPr/>
            <p:nvPr/>
          </p:nvSpPr>
          <p:spPr>
            <a:xfrm>
              <a:off x="1381125" y="4505325"/>
              <a:ext cx="828675" cy="895350"/>
            </a:xfrm>
            <a:prstGeom prst="roundRect">
              <a:avLst>
                <a:gd name="adj" fmla="val 9195"/>
              </a:avLst>
            </a:prstGeom>
            <a:gradFill>
              <a:gsLst>
                <a:gs pos="0">
                  <a:srgbClr val="D47D6B"/>
                </a:gs>
                <a:gs pos="100000">
                  <a:srgbClr val="C1553F"/>
                </a:gs>
              </a:gsLst>
              <a:lin ang="5400000" scaled="1"/>
            </a:gradFill>
            <a:ln>
              <a:noFill/>
            </a:ln>
          </p:spPr>
        </p:sp>
        <p:grpSp>
          <p:nvGrpSpPr>
            <p:cNvPr id="99" name="Group 99"/>
            <p:cNvGrpSpPr/>
            <p:nvPr/>
          </p:nvGrpSpPr>
          <p:grpSpPr>
            <a:xfrm>
              <a:off x="1707356" y="4631531"/>
              <a:ext cx="185737" cy="175418"/>
              <a:chOff x="1707356" y="4631531"/>
              <a:chExt cx="185737" cy="175418"/>
            </a:xfrm>
          </p:grpSpPr>
          <p:sp>
            <p:nvSpPr>
              <p:cNvPr id="95" name="Freeform 95"/>
              <p:cNvSpPr/>
              <p:nvPr/>
            </p:nvSpPr>
            <p:spPr>
              <a:xfrm>
                <a:off x="1707356" y="4672806"/>
                <a:ext cx="185737" cy="134143"/>
              </a:xfrm>
              <a:custGeom>
                <a:avLst/>
                <a:gdLst/>
                <a:ahLst/>
                <a:cxnLst/>
                <a:rect l="l" t="t" r="r" b="b"/>
                <a:pathLst>
                  <a:path w="185737" h="134143">
                    <a:moveTo>
                      <a:pt x="0" y="20637"/>
                    </a:moveTo>
                    <a:cubicBezTo>
                      <a:pt x="0" y="9240"/>
                      <a:pt x="9240" y="0"/>
                      <a:pt x="20637" y="0"/>
                    </a:cubicBezTo>
                    <a:lnTo>
                      <a:pt x="165099" y="0"/>
                    </a:lnTo>
                    <a:cubicBezTo>
                      <a:pt x="176497" y="0"/>
                      <a:pt x="185737" y="9240"/>
                      <a:pt x="185737" y="20637"/>
                    </a:cubicBezTo>
                    <a:lnTo>
                      <a:pt x="185737" y="113506"/>
                    </a:lnTo>
                    <a:cubicBezTo>
                      <a:pt x="185737" y="124904"/>
                      <a:pt x="176497" y="134143"/>
                      <a:pt x="165099" y="134143"/>
                    </a:cubicBezTo>
                    <a:lnTo>
                      <a:pt x="20637" y="134143"/>
                    </a:lnTo>
                    <a:cubicBezTo>
                      <a:pt x="9240" y="134143"/>
                      <a:pt x="0" y="124904"/>
                      <a:pt x="0" y="113506"/>
                    </a:cubicBezTo>
                    <a:lnTo>
                      <a:pt x="0" y="20637"/>
                    </a:lnTo>
                  </a:path>
                </a:pathLst>
              </a:custGeom>
              <a:noFill/>
              <a:ln w="20637">
                <a:solidFill>
                  <a:srgbClr val="FFFFFF"/>
                </a:solidFill>
              </a:ln>
            </p:spPr>
          </p:sp>
          <p:sp>
            <p:nvSpPr>
              <p:cNvPr id="96" name="Freeform 96"/>
              <p:cNvSpPr/>
              <p:nvPr/>
            </p:nvSpPr>
            <p:spPr>
              <a:xfrm>
                <a:off x="1758950" y="4631531"/>
                <a:ext cx="82550" cy="41275"/>
              </a:xfrm>
              <a:custGeom>
                <a:avLst/>
                <a:gdLst/>
                <a:ahLst/>
                <a:cxnLst/>
                <a:rect l="l" t="t" r="r" b="b"/>
                <a:pathLst>
                  <a:path w="82550" h="41275">
                    <a:moveTo>
                      <a:pt x="0" y="41275"/>
                    </a:moveTo>
                    <a:lnTo>
                      <a:pt x="0" y="20637"/>
                    </a:lnTo>
                    <a:cubicBezTo>
                      <a:pt x="0" y="9240"/>
                      <a:pt x="9240" y="0"/>
                      <a:pt x="20637" y="0"/>
                    </a:cubicBezTo>
                    <a:lnTo>
                      <a:pt x="61912" y="0"/>
                    </a:lnTo>
                    <a:cubicBezTo>
                      <a:pt x="73310" y="0"/>
                      <a:pt x="82550" y="9240"/>
                      <a:pt x="82550" y="20637"/>
                    </a:cubicBezTo>
                    <a:lnTo>
                      <a:pt x="82550" y="41275"/>
                    </a:lnTo>
                  </a:path>
                </a:pathLst>
              </a:custGeom>
              <a:noFill/>
              <a:ln w="20637">
                <a:solidFill>
                  <a:srgbClr val="FFFFFF"/>
                </a:solidFill>
              </a:ln>
            </p:spPr>
          </p:sp>
          <p:sp>
            <p:nvSpPr>
              <p:cNvPr id="97" name="Freeform 97"/>
              <p:cNvSpPr/>
              <p:nvPr/>
            </p:nvSpPr>
            <p:spPr>
              <a:xfrm>
                <a:off x="1800225" y="4724400"/>
                <a:ext cx="9525" cy="9525"/>
              </a:xfrm>
              <a:custGeom>
                <a:avLst/>
                <a:gdLst/>
                <a:ahLst/>
                <a:cxnLst/>
                <a:rect l="l" t="t" r="r" b="b"/>
                <a:pathLst>
                  <a:path w="9525" h="9525">
                    <a:moveTo>
                      <a:pt x="0" y="0"/>
                    </a:moveTo>
                    <a:lnTo>
                      <a:pt x="0" y="103"/>
                    </a:lnTo>
                  </a:path>
                </a:pathLst>
              </a:custGeom>
              <a:noFill/>
              <a:ln w="20637">
                <a:solidFill>
                  <a:srgbClr val="FFFFFF"/>
                </a:solidFill>
              </a:ln>
            </p:spPr>
          </p:sp>
          <p:sp>
            <p:nvSpPr>
              <p:cNvPr id="98" name="Freeform 98"/>
              <p:cNvSpPr/>
              <p:nvPr/>
            </p:nvSpPr>
            <p:spPr>
              <a:xfrm>
                <a:off x="1707356" y="4734718"/>
                <a:ext cx="185737" cy="29435"/>
              </a:xfrm>
              <a:custGeom>
                <a:avLst/>
                <a:gdLst/>
                <a:ahLst/>
                <a:cxnLst/>
                <a:rect l="l" t="t" r="r" b="b"/>
                <a:pathLst>
                  <a:path w="185737" h="29435">
                    <a:moveTo>
                      <a:pt x="0" y="0"/>
                    </a:moveTo>
                    <a:cubicBezTo>
                      <a:pt x="58414" y="29435"/>
                      <a:pt x="127323" y="29435"/>
                      <a:pt x="185737" y="0"/>
                    </a:cubicBezTo>
                  </a:path>
                </a:pathLst>
              </a:custGeom>
              <a:noFill/>
              <a:ln w="20637">
                <a:solidFill>
                  <a:srgbClr val="FFFFFF"/>
                </a:solidFill>
              </a:ln>
            </p:spPr>
          </p:sp>
        </p:grpSp>
        <p:sp>
          <p:nvSpPr>
            <p:cNvPr id="100" name="TextBox 100"/>
            <p:cNvSpPr txBox="1"/>
            <p:nvPr/>
          </p:nvSpPr>
          <p:spPr>
            <a:xfrm>
              <a:off x="1554391" y="505991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异业联盟</a:t>
              </a:r>
            </a:p>
          </p:txBody>
        </p:sp>
        <p:sp>
          <p:nvSpPr>
            <p:cNvPr id="101" name="TextBox 101"/>
            <p:cNvSpPr txBox="1"/>
            <p:nvPr/>
          </p:nvSpPr>
          <p:spPr>
            <a:xfrm>
              <a:off x="1670164" y="521231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积分</a:t>
              </a:r>
            </a:p>
          </p:txBody>
        </p:sp>
        <p:sp>
          <p:nvSpPr>
            <p:cNvPr id="102" name="Ellipse 102"/>
            <p:cNvSpPr/>
            <p:nvPr/>
          </p:nvSpPr>
          <p:spPr>
            <a:xfrm>
              <a:off x="2457450" y="4705350"/>
              <a:ext cx="495300" cy="495300"/>
            </a:xfrm>
            <a:prstGeom prst="ellipse">
              <a:avLst/>
            </a:prstGeom>
            <a:solidFill>
              <a:srgbClr val="FBDCD3"/>
            </a:solidFill>
            <a:ln>
              <a:noFill/>
            </a:ln>
          </p:spPr>
        </p:sp>
        <p:sp>
          <p:nvSpPr>
            <p:cNvPr id="103" name="TextBox 103"/>
            <p:cNvSpPr txBox="1"/>
            <p:nvPr/>
          </p:nvSpPr>
          <p:spPr>
            <a:xfrm>
              <a:off x="2593988" y="4848939"/>
              <a:ext cx="222225"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品牌</a:t>
              </a:r>
            </a:p>
          </p:txBody>
        </p:sp>
        <p:sp>
          <p:nvSpPr>
            <p:cNvPr id="104" name="TextBox 104"/>
            <p:cNvSpPr txBox="1"/>
            <p:nvPr/>
          </p:nvSpPr>
          <p:spPr>
            <a:xfrm>
              <a:off x="2593988" y="4972764"/>
              <a:ext cx="222225"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积分</a:t>
              </a:r>
            </a:p>
          </p:txBody>
        </p:sp>
        <p:sp>
          <p:nvSpPr>
            <p:cNvPr id="105" name="Ellipse 105"/>
            <p:cNvSpPr/>
            <p:nvPr/>
          </p:nvSpPr>
          <p:spPr>
            <a:xfrm>
              <a:off x="3305175" y="4705350"/>
              <a:ext cx="495300" cy="495300"/>
            </a:xfrm>
            <a:prstGeom prst="ellipse">
              <a:avLst/>
            </a:prstGeom>
            <a:solidFill>
              <a:srgbClr val="DDE2F2"/>
            </a:solidFill>
            <a:ln>
              <a:noFill/>
            </a:ln>
          </p:spPr>
        </p:sp>
        <p:sp>
          <p:nvSpPr>
            <p:cNvPr id="106" name="TextBox 106"/>
            <p:cNvSpPr txBox="1"/>
            <p:nvPr/>
          </p:nvSpPr>
          <p:spPr>
            <a:xfrm>
              <a:off x="3441713" y="4848939"/>
              <a:ext cx="222225" cy="154781"/>
            </a:xfrm>
            <a:prstGeom prst="rect">
              <a:avLst/>
            </a:prstGeom>
            <a:noFill/>
            <a:ln>
              <a:noFill/>
            </a:ln>
          </p:spPr>
          <p:txBody>
            <a:bodyPr wrap="none" lIns="0" tIns="0" rIns="0" bIns="0" anchor="t" anchorCtr="0">
              <a:spAutoFit/>
            </a:bodyPr>
            <a:lstStyle/>
            <a:p>
              <a:pPr algn="ctr"/>
              <a:r>
                <a:rPr lang="zh-CN" sz="790" b="1" dirty="0">
                  <a:solidFill>
                    <a:srgbClr val="C1553F"/>
                  </a:solidFill>
                  <a:latin typeface="+mn-lt"/>
                  <a:ea typeface="+mn-ea"/>
                  <a:cs typeface="+mn-cs"/>
                </a:rPr>
                <a:t>经销</a:t>
              </a:r>
            </a:p>
          </p:txBody>
        </p:sp>
        <p:sp>
          <p:nvSpPr>
            <p:cNvPr id="107" name="TextBox 107"/>
            <p:cNvSpPr txBox="1"/>
            <p:nvPr/>
          </p:nvSpPr>
          <p:spPr>
            <a:xfrm>
              <a:off x="3494888" y="4972764"/>
              <a:ext cx="115875" cy="154781"/>
            </a:xfrm>
            <a:prstGeom prst="rect">
              <a:avLst/>
            </a:prstGeom>
            <a:noFill/>
            <a:ln>
              <a:noFill/>
            </a:ln>
          </p:spPr>
          <p:txBody>
            <a:bodyPr wrap="none" lIns="0" tIns="0" rIns="0" bIns="0" anchor="t" anchorCtr="0">
              <a:spAutoFit/>
            </a:bodyPr>
            <a:lstStyle/>
            <a:p>
              <a:pPr algn="ctr"/>
              <a:r>
                <a:rPr lang="zh-CN" sz="790" b="1" dirty="0">
                  <a:solidFill>
                    <a:srgbClr val="C1553F"/>
                  </a:solidFill>
                  <a:latin typeface="+mn-lt"/>
                  <a:ea typeface="+mn-ea"/>
                  <a:cs typeface="+mn-cs"/>
                </a:rPr>
                <a:t>商</a:t>
              </a:r>
            </a:p>
          </p:txBody>
        </p:sp>
        <p:sp>
          <p:nvSpPr>
            <p:cNvPr id="108" name="TextBox 108"/>
            <p:cNvSpPr txBox="1"/>
            <p:nvPr/>
          </p:nvSpPr>
          <p:spPr>
            <a:xfrm>
              <a:off x="3023857" y="4695111"/>
              <a:ext cx="200685"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兑换</a:t>
              </a:r>
            </a:p>
          </p:txBody>
        </p:sp>
        <p:sp>
          <p:nvSpPr>
            <p:cNvPr id="109" name="Line 109"/>
            <p:cNvSpPr/>
            <p:nvPr/>
          </p:nvSpPr>
          <p:spPr>
            <a:xfrm>
              <a:off x="2971800" y="4857750"/>
              <a:ext cx="314325" cy="1"/>
            </a:xfrm>
            <a:prstGeom prst="line">
              <a:avLst/>
            </a:prstGeom>
            <a:noFill/>
            <a:ln w="14288">
              <a:solidFill>
                <a:srgbClr val="DD988A"/>
              </a:solidFill>
              <a:tailEnd type="triangle" w="lg" len="lg"/>
            </a:ln>
          </p:spPr>
        </p:sp>
        <p:sp>
          <p:nvSpPr>
            <p:cNvPr id="110" name="Line 110"/>
            <p:cNvSpPr/>
            <p:nvPr/>
          </p:nvSpPr>
          <p:spPr>
            <a:xfrm flipH="1">
              <a:off x="2971800" y="5048250"/>
              <a:ext cx="314325" cy="1"/>
            </a:xfrm>
            <a:prstGeom prst="line">
              <a:avLst/>
            </a:prstGeom>
            <a:noFill/>
            <a:ln w="14288">
              <a:solidFill>
                <a:srgbClr val="DD988A"/>
              </a:solidFill>
              <a:tailEnd type="triangle" w="lg" len="lg"/>
            </a:ln>
          </p:spPr>
        </p:sp>
        <p:sp>
          <p:nvSpPr>
            <p:cNvPr id="111" name="TextBox 111"/>
            <p:cNvSpPr txBox="1"/>
            <p:nvPr/>
          </p:nvSpPr>
          <p:spPr>
            <a:xfrm>
              <a:off x="3023857" y="5152311"/>
              <a:ext cx="200685" cy="140494"/>
            </a:xfrm>
            <a:prstGeom prst="rect">
              <a:avLst/>
            </a:prstGeom>
            <a:noFill/>
            <a:ln>
              <a:noFill/>
            </a:ln>
          </p:spPr>
          <p:txBody>
            <a:bodyPr wrap="none" lIns="0" tIns="0" rIns="0" bIns="0" anchor="t" anchorCtr="0">
              <a:spAutoFit/>
            </a:bodyPr>
            <a:lstStyle/>
            <a:p>
              <a:pPr algn="ctr"/>
              <a:r>
                <a:rPr lang="zh-CN" sz="710" dirty="0">
                  <a:solidFill>
                    <a:srgbClr val="705F5B"/>
                  </a:solidFill>
                  <a:latin typeface="+mn-lt"/>
                  <a:ea typeface="+mn-ea"/>
                  <a:cs typeface="+mn-cs"/>
                </a:rPr>
                <a:t>消费</a:t>
              </a:r>
            </a:p>
          </p:txBody>
        </p:sp>
        <p:sp>
          <p:nvSpPr>
            <p:cNvPr id="112" name="Rectangle 112"/>
            <p:cNvSpPr/>
            <p:nvPr/>
          </p:nvSpPr>
          <p:spPr>
            <a:xfrm>
              <a:off x="4048125" y="4610100"/>
              <a:ext cx="1123950" cy="247650"/>
            </a:xfrm>
            <a:prstGeom prst="roundRect">
              <a:avLst>
                <a:gd name="adj" fmla="val 50000"/>
              </a:avLst>
            </a:prstGeom>
            <a:solidFill>
              <a:srgbClr val="EEF0FB"/>
            </a:solidFill>
            <a:ln>
              <a:noFill/>
            </a:ln>
          </p:spPr>
        </p:sp>
        <p:sp>
          <p:nvSpPr>
            <p:cNvPr id="113" name="TextBox 113"/>
            <p:cNvSpPr txBox="1"/>
            <p:nvPr/>
          </p:nvSpPr>
          <p:spPr>
            <a:xfrm>
              <a:off x="4157662" y="4684395"/>
              <a:ext cx="149462" cy="176212"/>
            </a:xfrm>
            <a:prstGeom prst="rect">
              <a:avLst/>
            </a:prstGeom>
            <a:noFill/>
            <a:ln>
              <a:noFill/>
            </a:ln>
          </p:spPr>
          <p:txBody>
            <a:bodyPr wrap="none" lIns="0" tIns="0" rIns="0" bIns="0" anchor="t" anchorCtr="0">
              <a:spAutoFit/>
            </a:bodyPr>
            <a:lstStyle/>
            <a:p>
              <a:pPr algn="l"/>
              <a:r>
                <a:rPr lang="zh-CN" sz="900" b="1" dirty="0">
                  <a:solidFill>
                    <a:srgbClr val="ED8776"/>
                  </a:solidFill>
                  <a:latin typeface="+mn-lt"/>
                  <a:ea typeface="+mn-ea"/>
                  <a:cs typeface="+mn-cs"/>
                </a:rPr>
                <a:t>01</a:t>
              </a:r>
            </a:p>
          </p:txBody>
        </p:sp>
        <p:sp>
          <p:nvSpPr>
            <p:cNvPr id="114" name="TextBox 114"/>
            <p:cNvSpPr txBox="1"/>
            <p:nvPr/>
          </p:nvSpPr>
          <p:spPr>
            <a:xfrm>
              <a:off x="4367212" y="4692491"/>
              <a:ext cx="561467"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优惠券置换</a:t>
              </a:r>
            </a:p>
          </p:txBody>
        </p:sp>
        <p:sp>
          <p:nvSpPr>
            <p:cNvPr id="115" name="Rectangle 115"/>
            <p:cNvSpPr/>
            <p:nvPr/>
          </p:nvSpPr>
          <p:spPr>
            <a:xfrm>
              <a:off x="5219700" y="4610100"/>
              <a:ext cx="1123950" cy="247650"/>
            </a:xfrm>
            <a:prstGeom prst="roundRect">
              <a:avLst>
                <a:gd name="adj" fmla="val 50000"/>
              </a:avLst>
            </a:prstGeom>
            <a:solidFill>
              <a:srgbClr val="EEF0FB"/>
            </a:solidFill>
            <a:ln>
              <a:noFill/>
            </a:ln>
          </p:spPr>
        </p:sp>
        <p:sp>
          <p:nvSpPr>
            <p:cNvPr id="116" name="TextBox 116"/>
            <p:cNvSpPr txBox="1"/>
            <p:nvPr/>
          </p:nvSpPr>
          <p:spPr>
            <a:xfrm>
              <a:off x="5329238" y="4684395"/>
              <a:ext cx="149462" cy="176212"/>
            </a:xfrm>
            <a:prstGeom prst="rect">
              <a:avLst/>
            </a:prstGeom>
            <a:noFill/>
            <a:ln>
              <a:noFill/>
            </a:ln>
          </p:spPr>
          <p:txBody>
            <a:bodyPr wrap="none" lIns="0" tIns="0" rIns="0" bIns="0" anchor="t" anchorCtr="0">
              <a:spAutoFit/>
            </a:bodyPr>
            <a:lstStyle/>
            <a:p>
              <a:pPr algn="l"/>
              <a:r>
                <a:rPr lang="zh-CN" sz="900" b="1" dirty="0">
                  <a:solidFill>
                    <a:srgbClr val="ED8776"/>
                  </a:solidFill>
                  <a:latin typeface="+mn-lt"/>
                  <a:ea typeface="+mn-ea"/>
                  <a:cs typeface="+mn-cs"/>
                </a:rPr>
                <a:t>02</a:t>
              </a:r>
            </a:p>
          </p:txBody>
        </p:sp>
        <p:sp>
          <p:nvSpPr>
            <p:cNvPr id="117" name="TextBox 117"/>
            <p:cNvSpPr txBox="1"/>
            <p:nvPr/>
          </p:nvSpPr>
          <p:spPr>
            <a:xfrm>
              <a:off x="5538788" y="4692491"/>
              <a:ext cx="45107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礼品置换</a:t>
              </a:r>
            </a:p>
          </p:txBody>
        </p:sp>
        <p:sp>
          <p:nvSpPr>
            <p:cNvPr id="118" name="Rectangle 118"/>
            <p:cNvSpPr/>
            <p:nvPr/>
          </p:nvSpPr>
          <p:spPr>
            <a:xfrm>
              <a:off x="6391275" y="4610100"/>
              <a:ext cx="1123950" cy="247650"/>
            </a:xfrm>
            <a:prstGeom prst="roundRect">
              <a:avLst>
                <a:gd name="adj" fmla="val 50000"/>
              </a:avLst>
            </a:prstGeom>
            <a:solidFill>
              <a:srgbClr val="EEF0FB"/>
            </a:solidFill>
            <a:ln>
              <a:noFill/>
            </a:ln>
          </p:spPr>
        </p:sp>
        <p:sp>
          <p:nvSpPr>
            <p:cNvPr id="119" name="TextBox 119"/>
            <p:cNvSpPr txBox="1"/>
            <p:nvPr/>
          </p:nvSpPr>
          <p:spPr>
            <a:xfrm>
              <a:off x="6500812" y="4684395"/>
              <a:ext cx="149462" cy="176212"/>
            </a:xfrm>
            <a:prstGeom prst="rect">
              <a:avLst/>
            </a:prstGeom>
            <a:noFill/>
            <a:ln>
              <a:noFill/>
            </a:ln>
          </p:spPr>
          <p:txBody>
            <a:bodyPr wrap="none" lIns="0" tIns="0" rIns="0" bIns="0" anchor="t" anchorCtr="0">
              <a:spAutoFit/>
            </a:bodyPr>
            <a:lstStyle/>
            <a:p>
              <a:pPr algn="l"/>
              <a:r>
                <a:rPr lang="zh-CN" sz="900" b="1" dirty="0">
                  <a:solidFill>
                    <a:srgbClr val="ED8776"/>
                  </a:solidFill>
                  <a:latin typeface="+mn-lt"/>
                  <a:ea typeface="+mn-ea"/>
                  <a:cs typeface="+mn-cs"/>
                </a:rPr>
                <a:t>03</a:t>
              </a:r>
            </a:p>
          </p:txBody>
        </p:sp>
        <p:sp>
          <p:nvSpPr>
            <p:cNvPr id="120" name="TextBox 120"/>
            <p:cNvSpPr txBox="1"/>
            <p:nvPr/>
          </p:nvSpPr>
          <p:spPr>
            <a:xfrm>
              <a:off x="6710362" y="4692491"/>
              <a:ext cx="45107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联合推广</a:t>
              </a:r>
            </a:p>
          </p:txBody>
        </p:sp>
        <p:sp>
          <p:nvSpPr>
            <p:cNvPr id="121" name="Rectangle 121"/>
            <p:cNvSpPr/>
            <p:nvPr/>
          </p:nvSpPr>
          <p:spPr>
            <a:xfrm>
              <a:off x="4048125" y="4972050"/>
              <a:ext cx="1123950" cy="247650"/>
            </a:xfrm>
            <a:prstGeom prst="roundRect">
              <a:avLst>
                <a:gd name="adj" fmla="val 50000"/>
              </a:avLst>
            </a:prstGeom>
            <a:solidFill>
              <a:srgbClr val="EEF0FB"/>
            </a:solidFill>
            <a:ln>
              <a:noFill/>
            </a:ln>
          </p:spPr>
        </p:sp>
        <p:sp>
          <p:nvSpPr>
            <p:cNvPr id="122" name="TextBox 122"/>
            <p:cNvSpPr txBox="1"/>
            <p:nvPr/>
          </p:nvSpPr>
          <p:spPr>
            <a:xfrm>
              <a:off x="4157662" y="5046345"/>
              <a:ext cx="149462" cy="176212"/>
            </a:xfrm>
            <a:prstGeom prst="rect">
              <a:avLst/>
            </a:prstGeom>
            <a:noFill/>
            <a:ln>
              <a:noFill/>
            </a:ln>
          </p:spPr>
          <p:txBody>
            <a:bodyPr wrap="none" lIns="0" tIns="0" rIns="0" bIns="0" anchor="t" anchorCtr="0">
              <a:spAutoFit/>
            </a:bodyPr>
            <a:lstStyle/>
            <a:p>
              <a:pPr algn="l"/>
              <a:r>
                <a:rPr lang="zh-CN" sz="900" b="1" dirty="0">
                  <a:solidFill>
                    <a:srgbClr val="ED8776"/>
                  </a:solidFill>
                  <a:latin typeface="+mn-lt"/>
                  <a:ea typeface="+mn-ea"/>
                  <a:cs typeface="+mn-cs"/>
                </a:rPr>
                <a:t>04</a:t>
              </a:r>
            </a:p>
          </p:txBody>
        </p:sp>
        <p:sp>
          <p:nvSpPr>
            <p:cNvPr id="123" name="TextBox 123"/>
            <p:cNvSpPr txBox="1"/>
            <p:nvPr/>
          </p:nvSpPr>
          <p:spPr>
            <a:xfrm>
              <a:off x="4367212" y="5054441"/>
              <a:ext cx="671855"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推广资源置换</a:t>
              </a:r>
            </a:p>
          </p:txBody>
        </p:sp>
        <p:sp>
          <p:nvSpPr>
            <p:cNvPr id="124" name="Rectangle 124"/>
            <p:cNvSpPr/>
            <p:nvPr/>
          </p:nvSpPr>
          <p:spPr>
            <a:xfrm>
              <a:off x="5219700" y="4972050"/>
              <a:ext cx="1123950" cy="247650"/>
            </a:xfrm>
            <a:prstGeom prst="roundRect">
              <a:avLst>
                <a:gd name="adj" fmla="val 50000"/>
              </a:avLst>
            </a:prstGeom>
            <a:solidFill>
              <a:srgbClr val="EEF0FB"/>
            </a:solidFill>
            <a:ln>
              <a:noFill/>
            </a:ln>
          </p:spPr>
        </p:sp>
        <p:sp>
          <p:nvSpPr>
            <p:cNvPr id="125" name="TextBox 125"/>
            <p:cNvSpPr txBox="1"/>
            <p:nvPr/>
          </p:nvSpPr>
          <p:spPr>
            <a:xfrm>
              <a:off x="5329238" y="5046345"/>
              <a:ext cx="149462" cy="176212"/>
            </a:xfrm>
            <a:prstGeom prst="rect">
              <a:avLst/>
            </a:prstGeom>
            <a:noFill/>
            <a:ln>
              <a:noFill/>
            </a:ln>
          </p:spPr>
          <p:txBody>
            <a:bodyPr wrap="none" lIns="0" tIns="0" rIns="0" bIns="0" anchor="t" anchorCtr="0">
              <a:spAutoFit/>
            </a:bodyPr>
            <a:lstStyle/>
            <a:p>
              <a:pPr algn="l"/>
              <a:r>
                <a:rPr lang="zh-CN" sz="900" b="1" dirty="0">
                  <a:solidFill>
                    <a:srgbClr val="ED8776"/>
                  </a:solidFill>
                  <a:latin typeface="+mn-lt"/>
                  <a:ea typeface="+mn-ea"/>
                  <a:cs typeface="+mn-cs"/>
                </a:rPr>
                <a:t>05</a:t>
              </a:r>
            </a:p>
          </p:txBody>
        </p:sp>
        <p:sp>
          <p:nvSpPr>
            <p:cNvPr id="126" name="TextBox 126"/>
            <p:cNvSpPr txBox="1"/>
            <p:nvPr/>
          </p:nvSpPr>
          <p:spPr>
            <a:xfrm>
              <a:off x="5538788" y="5054441"/>
              <a:ext cx="45107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数据置换</a:t>
              </a:r>
            </a:p>
          </p:txBody>
        </p:sp>
        <p:sp>
          <p:nvSpPr>
            <p:cNvPr id="127" name="Rectangle 127"/>
            <p:cNvSpPr/>
            <p:nvPr/>
          </p:nvSpPr>
          <p:spPr>
            <a:xfrm>
              <a:off x="6391275" y="4972050"/>
              <a:ext cx="1123950" cy="247650"/>
            </a:xfrm>
            <a:prstGeom prst="roundRect">
              <a:avLst>
                <a:gd name="adj" fmla="val 50000"/>
              </a:avLst>
            </a:prstGeom>
            <a:solidFill>
              <a:srgbClr val="EEF0FB"/>
            </a:solidFill>
            <a:ln>
              <a:noFill/>
            </a:ln>
          </p:spPr>
        </p:sp>
        <p:sp>
          <p:nvSpPr>
            <p:cNvPr id="128" name="TextBox 128"/>
            <p:cNvSpPr txBox="1"/>
            <p:nvPr/>
          </p:nvSpPr>
          <p:spPr>
            <a:xfrm>
              <a:off x="6500812" y="5046345"/>
              <a:ext cx="149462" cy="176212"/>
            </a:xfrm>
            <a:prstGeom prst="rect">
              <a:avLst/>
            </a:prstGeom>
            <a:noFill/>
            <a:ln>
              <a:noFill/>
            </a:ln>
          </p:spPr>
          <p:txBody>
            <a:bodyPr wrap="none" lIns="0" tIns="0" rIns="0" bIns="0" anchor="t" anchorCtr="0">
              <a:spAutoFit/>
            </a:bodyPr>
            <a:lstStyle/>
            <a:p>
              <a:pPr algn="l"/>
              <a:r>
                <a:rPr lang="zh-CN" sz="900" b="1" dirty="0">
                  <a:solidFill>
                    <a:srgbClr val="ED8776"/>
                  </a:solidFill>
                  <a:latin typeface="+mn-lt"/>
                  <a:ea typeface="+mn-ea"/>
                  <a:cs typeface="+mn-cs"/>
                </a:rPr>
                <a:t>06</a:t>
              </a:r>
            </a:p>
          </p:txBody>
        </p:sp>
        <p:sp>
          <p:nvSpPr>
            <p:cNvPr id="129" name="TextBox 129"/>
            <p:cNvSpPr txBox="1"/>
            <p:nvPr/>
          </p:nvSpPr>
          <p:spPr>
            <a:xfrm>
              <a:off x="6710362" y="5054441"/>
              <a:ext cx="451079" cy="161925"/>
            </a:xfrm>
            <a:prstGeom prst="rect">
              <a:avLst/>
            </a:prstGeom>
            <a:noFill/>
            <a:ln>
              <a:noFill/>
            </a:ln>
          </p:spPr>
          <p:txBody>
            <a:bodyPr wrap="none" lIns="0" tIns="0" rIns="0" bIns="0" anchor="t" anchorCtr="0">
              <a:spAutoFit/>
            </a:bodyPr>
            <a:lstStyle/>
            <a:p>
              <a:pPr algn="l"/>
              <a:r>
                <a:rPr lang="zh-CN" sz="820" dirty="0">
                  <a:solidFill>
                    <a:srgbClr val="705F5B"/>
                  </a:solidFill>
                  <a:latin typeface="+mn-lt"/>
                  <a:ea typeface="+mn-ea"/>
                  <a:cs typeface="+mn-cs"/>
                </a:rPr>
                <a:t>活动合作</a:t>
              </a:r>
            </a:p>
          </p:txBody>
        </p:sp>
      </p:grpSp>
      <p:grpSp>
        <p:nvGrpSpPr>
          <p:cNvPr id="162" name="row-fission"/>
          <p:cNvGrpSpPr/>
          <p:nvPr/>
        </p:nvGrpSpPr>
        <p:grpSpPr>
          <a:xfrm>
            <a:off x="1266825" y="5572125"/>
            <a:ext cx="6238875" cy="933450"/>
            <a:chOff x="1266825" y="5572125"/>
            <a:chExt cx="6238875" cy="933450"/>
          </a:xfrm>
        </p:grpSpPr>
        <p:sp>
          <p:nvSpPr>
            <p:cNvPr id="131" name="Rectangle 131"/>
            <p:cNvSpPr/>
            <p:nvPr/>
          </p:nvSpPr>
          <p:spPr>
            <a:xfrm>
              <a:off x="1266825" y="5572125"/>
              <a:ext cx="6238875" cy="933450"/>
            </a:xfrm>
            <a:prstGeom prst="roundRect">
              <a:avLst>
                <a:gd name="adj" fmla="val 8163"/>
              </a:avLst>
            </a:prstGeom>
            <a:solidFill>
              <a:srgbClr val="FFFFFF"/>
            </a:solidFill>
            <a:ln w="9525">
              <a:solidFill>
                <a:srgbClr val="E4E7F5"/>
              </a:solidFill>
            </a:ln>
          </p:spPr>
        </p:sp>
        <p:sp>
          <p:nvSpPr>
            <p:cNvPr id="132" name="Rectangle 132"/>
            <p:cNvSpPr/>
            <p:nvPr/>
          </p:nvSpPr>
          <p:spPr>
            <a:xfrm>
              <a:off x="1381125" y="5629275"/>
              <a:ext cx="828675" cy="819150"/>
            </a:xfrm>
            <a:prstGeom prst="roundRect">
              <a:avLst>
                <a:gd name="adj" fmla="val 9302"/>
              </a:avLst>
            </a:prstGeom>
            <a:gradFill>
              <a:gsLst>
                <a:gs pos="0">
                  <a:srgbClr val="D47D6B"/>
                </a:gs>
                <a:gs pos="100000">
                  <a:srgbClr val="C1553F"/>
                </a:gs>
              </a:gsLst>
              <a:lin ang="5400000" scaled="1"/>
            </a:gradFill>
            <a:ln>
              <a:noFill/>
            </a:ln>
          </p:spPr>
        </p:sp>
        <p:grpSp>
          <p:nvGrpSpPr>
            <p:cNvPr id="136" name="Group 136"/>
            <p:cNvGrpSpPr/>
            <p:nvPr/>
          </p:nvGrpSpPr>
          <p:grpSpPr>
            <a:xfrm>
              <a:off x="1707356" y="5755481"/>
              <a:ext cx="185737" cy="185737"/>
              <a:chOff x="1707356" y="5755481"/>
              <a:chExt cx="185737" cy="185737"/>
            </a:xfrm>
          </p:grpSpPr>
          <p:sp>
            <p:nvSpPr>
              <p:cNvPr id="133" name="Freeform 133"/>
              <p:cNvSpPr/>
              <p:nvPr/>
            </p:nvSpPr>
            <p:spPr>
              <a:xfrm>
                <a:off x="1707356" y="5755481"/>
                <a:ext cx="185737" cy="92868"/>
              </a:xfrm>
              <a:custGeom>
                <a:avLst/>
                <a:gdLst/>
                <a:ahLst/>
                <a:cxnLst/>
                <a:rect l="l" t="t" r="r" b="b"/>
                <a:pathLst>
                  <a:path w="185737" h="92868">
                    <a:moveTo>
                      <a:pt x="0" y="92868"/>
                    </a:moveTo>
                    <a:lnTo>
                      <a:pt x="10319" y="92868"/>
                    </a:lnTo>
                    <a:moveTo>
                      <a:pt x="92868" y="0"/>
                    </a:moveTo>
                    <a:lnTo>
                      <a:pt x="92868" y="10319"/>
                    </a:lnTo>
                    <a:moveTo>
                      <a:pt x="175418" y="92868"/>
                    </a:moveTo>
                    <a:lnTo>
                      <a:pt x="185737" y="92868"/>
                    </a:lnTo>
                    <a:moveTo>
                      <a:pt x="26829" y="26829"/>
                    </a:moveTo>
                    <a:lnTo>
                      <a:pt x="34052" y="34052"/>
                    </a:lnTo>
                    <a:moveTo>
                      <a:pt x="158908" y="26829"/>
                    </a:moveTo>
                    <a:lnTo>
                      <a:pt x="151685" y="34052"/>
                    </a:lnTo>
                  </a:path>
                </a:pathLst>
              </a:custGeom>
              <a:noFill/>
              <a:ln w="20637">
                <a:solidFill>
                  <a:srgbClr val="FFFFFF"/>
                </a:solidFill>
              </a:ln>
            </p:spPr>
          </p:sp>
          <p:sp>
            <p:nvSpPr>
              <p:cNvPr id="134" name="Freeform 134"/>
              <p:cNvSpPr/>
              <p:nvPr/>
            </p:nvSpPr>
            <p:spPr>
              <a:xfrm>
                <a:off x="1744256" y="5796756"/>
                <a:ext cx="111937" cy="144462"/>
              </a:xfrm>
              <a:custGeom>
                <a:avLst/>
                <a:gdLst/>
                <a:ahLst/>
                <a:cxnLst/>
                <a:rect l="l" t="t" r="r" b="b"/>
                <a:pathLst>
                  <a:path w="111937" h="144462">
                    <a:moveTo>
                      <a:pt x="25012" y="92868"/>
                    </a:moveTo>
                    <a:cubicBezTo>
                      <a:pt x="7246" y="79544"/>
                      <a:pt x="0" y="56346"/>
                      <a:pt x="7023" y="35278"/>
                    </a:cubicBezTo>
                    <a:cubicBezTo>
                      <a:pt x="14045" y="14210"/>
                      <a:pt x="33761" y="0"/>
                      <a:pt x="55969" y="0"/>
                    </a:cubicBezTo>
                    <a:cubicBezTo>
                      <a:pt x="78176" y="0"/>
                      <a:pt x="97892" y="14210"/>
                      <a:pt x="104915" y="35278"/>
                    </a:cubicBezTo>
                    <a:cubicBezTo>
                      <a:pt x="111937" y="56346"/>
                      <a:pt x="104691" y="79544"/>
                      <a:pt x="86925" y="92868"/>
                    </a:cubicBezTo>
                    <a:cubicBezTo>
                      <a:pt x="78754" y="100957"/>
                      <a:pt x="74922" y="112452"/>
                      <a:pt x="76606" y="123825"/>
                    </a:cubicBezTo>
                    <a:cubicBezTo>
                      <a:pt x="76606" y="135222"/>
                      <a:pt x="67366" y="144462"/>
                      <a:pt x="55969" y="144462"/>
                    </a:cubicBezTo>
                    <a:cubicBezTo>
                      <a:pt x="44571" y="144462"/>
                      <a:pt x="35331" y="135222"/>
                      <a:pt x="35331" y="123825"/>
                    </a:cubicBezTo>
                    <a:cubicBezTo>
                      <a:pt x="37015" y="112452"/>
                      <a:pt x="33183" y="100957"/>
                      <a:pt x="25012" y="92868"/>
                    </a:cubicBezTo>
                  </a:path>
                </a:pathLst>
              </a:custGeom>
              <a:noFill/>
              <a:ln w="20637">
                <a:solidFill>
                  <a:srgbClr val="FFFFFF"/>
                </a:solidFill>
              </a:ln>
            </p:spPr>
          </p:sp>
          <p:sp>
            <p:nvSpPr>
              <p:cNvPr id="135" name="Freeform 135"/>
              <p:cNvSpPr/>
              <p:nvPr/>
            </p:nvSpPr>
            <p:spPr>
              <a:xfrm>
                <a:off x="1776492" y="5899943"/>
                <a:ext cx="47466" cy="9525"/>
              </a:xfrm>
              <a:custGeom>
                <a:avLst/>
                <a:gdLst/>
                <a:ahLst/>
                <a:cxnLst/>
                <a:rect l="l" t="t" r="r" b="b"/>
                <a:pathLst>
                  <a:path w="47466" h="9525">
                    <a:moveTo>
                      <a:pt x="0" y="0"/>
                    </a:moveTo>
                    <a:lnTo>
                      <a:pt x="47466" y="0"/>
                    </a:lnTo>
                  </a:path>
                </a:pathLst>
              </a:custGeom>
              <a:noFill/>
              <a:ln w="20637">
                <a:solidFill>
                  <a:srgbClr val="FFFFFF"/>
                </a:solidFill>
              </a:ln>
            </p:spPr>
          </p:sp>
        </p:grpSp>
        <p:sp>
          <p:nvSpPr>
            <p:cNvPr id="137" name="TextBox 137"/>
            <p:cNvSpPr txBox="1"/>
            <p:nvPr/>
          </p:nvSpPr>
          <p:spPr>
            <a:xfrm>
              <a:off x="1532852" y="62424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裂变积分</a:t>
              </a:r>
            </a:p>
          </p:txBody>
        </p:sp>
        <p:sp>
          <p:nvSpPr>
            <p:cNvPr id="138" name="Rectangle 138"/>
            <p:cNvSpPr/>
            <p:nvPr/>
          </p:nvSpPr>
          <p:spPr>
            <a:xfrm>
              <a:off x="2324100" y="5648325"/>
              <a:ext cx="2857500" cy="781050"/>
            </a:xfrm>
            <a:prstGeom prst="roundRect">
              <a:avLst>
                <a:gd name="adj" fmla="val 7317"/>
              </a:avLst>
            </a:prstGeom>
            <a:noFill/>
            <a:ln w="11430">
              <a:solidFill>
                <a:srgbClr val="ED8776"/>
              </a:solidFill>
              <a:custDash>
                <a:ds d="333333" sp="250000"/>
              </a:custDash>
            </a:ln>
          </p:spPr>
        </p:sp>
        <p:sp>
          <p:nvSpPr>
            <p:cNvPr id="139" name="Ellipse 139"/>
            <p:cNvSpPr/>
            <p:nvPr/>
          </p:nvSpPr>
          <p:spPr>
            <a:xfrm>
              <a:off x="2457450" y="5810250"/>
              <a:ext cx="457200" cy="457200"/>
            </a:xfrm>
            <a:prstGeom prst="ellipse">
              <a:avLst/>
            </a:prstGeom>
            <a:solidFill>
              <a:srgbClr val="FBDCD3"/>
            </a:solidFill>
            <a:ln>
              <a:noFill/>
            </a:ln>
          </p:spPr>
        </p:sp>
        <p:sp>
          <p:nvSpPr>
            <p:cNvPr id="140" name="TextBox 140"/>
            <p:cNvSpPr txBox="1"/>
            <p:nvPr/>
          </p:nvSpPr>
          <p:spPr>
            <a:xfrm>
              <a:off x="2574938" y="5934789"/>
              <a:ext cx="222225"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分享</a:t>
              </a:r>
            </a:p>
          </p:txBody>
        </p:sp>
        <p:sp>
          <p:nvSpPr>
            <p:cNvPr id="141" name="TextBox 141"/>
            <p:cNvSpPr txBox="1"/>
            <p:nvPr/>
          </p:nvSpPr>
          <p:spPr>
            <a:xfrm>
              <a:off x="2574938" y="6058614"/>
              <a:ext cx="222225"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积分</a:t>
              </a:r>
            </a:p>
          </p:txBody>
        </p:sp>
        <p:sp>
          <p:nvSpPr>
            <p:cNvPr id="142" name="TextBox 142"/>
            <p:cNvSpPr txBox="1"/>
            <p:nvPr/>
          </p:nvSpPr>
          <p:spPr>
            <a:xfrm>
              <a:off x="3122015" y="5959792"/>
              <a:ext cx="118669" cy="264033"/>
            </a:xfrm>
            <a:prstGeom prst="rect">
              <a:avLst/>
            </a:prstGeom>
            <a:noFill/>
            <a:ln>
              <a:noFill/>
            </a:ln>
          </p:spPr>
          <p:txBody>
            <a:bodyPr wrap="none" lIns="0" tIns="0" rIns="0" bIns="0" anchor="t" anchorCtr="0">
              <a:spAutoFit/>
            </a:bodyPr>
            <a:lstStyle/>
            <a:p>
              <a:pPr algn="ctr"/>
              <a:r>
                <a:rPr lang="zh-CN" sz="1350" b="1" dirty="0">
                  <a:solidFill>
                    <a:srgbClr val="D47D6B"/>
                  </a:solidFill>
                  <a:latin typeface="+mn-lt"/>
                  <a:ea typeface="+mn-ea"/>
                  <a:cs typeface="+mn-cs"/>
                </a:rPr>
                <a:t>+</a:t>
              </a:r>
            </a:p>
          </p:txBody>
        </p:sp>
        <p:sp>
          <p:nvSpPr>
            <p:cNvPr id="143" name="Ellipse 143"/>
            <p:cNvSpPr/>
            <p:nvPr/>
          </p:nvSpPr>
          <p:spPr>
            <a:xfrm>
              <a:off x="3486150" y="5810250"/>
              <a:ext cx="457200" cy="457200"/>
            </a:xfrm>
            <a:prstGeom prst="ellipse">
              <a:avLst/>
            </a:prstGeom>
            <a:solidFill>
              <a:srgbClr val="DDE2F2"/>
            </a:solidFill>
            <a:ln>
              <a:noFill/>
            </a:ln>
          </p:spPr>
        </p:sp>
        <p:sp>
          <p:nvSpPr>
            <p:cNvPr id="144" name="TextBox 144"/>
            <p:cNvSpPr txBox="1"/>
            <p:nvPr/>
          </p:nvSpPr>
          <p:spPr>
            <a:xfrm>
              <a:off x="3603638" y="5934789"/>
              <a:ext cx="222225" cy="154781"/>
            </a:xfrm>
            <a:prstGeom prst="rect">
              <a:avLst/>
            </a:prstGeom>
            <a:noFill/>
            <a:ln>
              <a:noFill/>
            </a:ln>
          </p:spPr>
          <p:txBody>
            <a:bodyPr wrap="none" lIns="0" tIns="0" rIns="0" bIns="0" anchor="t" anchorCtr="0">
              <a:spAutoFit/>
            </a:bodyPr>
            <a:lstStyle/>
            <a:p>
              <a:pPr algn="ctr"/>
              <a:r>
                <a:rPr lang="zh-CN" sz="790" b="1" dirty="0">
                  <a:solidFill>
                    <a:srgbClr val="C1553F"/>
                  </a:solidFill>
                  <a:latin typeface="+mn-lt"/>
                  <a:ea typeface="+mn-ea"/>
                  <a:cs typeface="+mn-cs"/>
                </a:rPr>
                <a:t>关注</a:t>
              </a:r>
            </a:p>
          </p:txBody>
        </p:sp>
        <p:sp>
          <p:nvSpPr>
            <p:cNvPr id="145" name="TextBox 145"/>
            <p:cNvSpPr txBox="1"/>
            <p:nvPr/>
          </p:nvSpPr>
          <p:spPr>
            <a:xfrm>
              <a:off x="3603638" y="6058614"/>
              <a:ext cx="222225" cy="154781"/>
            </a:xfrm>
            <a:prstGeom prst="rect">
              <a:avLst/>
            </a:prstGeom>
            <a:noFill/>
            <a:ln>
              <a:noFill/>
            </a:ln>
          </p:spPr>
          <p:txBody>
            <a:bodyPr wrap="none" lIns="0" tIns="0" rIns="0" bIns="0" anchor="t" anchorCtr="0">
              <a:spAutoFit/>
            </a:bodyPr>
            <a:lstStyle/>
            <a:p>
              <a:pPr algn="ctr"/>
              <a:r>
                <a:rPr lang="zh-CN" sz="790" b="1" dirty="0">
                  <a:solidFill>
                    <a:srgbClr val="C1553F"/>
                  </a:solidFill>
                  <a:latin typeface="+mn-lt"/>
                  <a:ea typeface="+mn-ea"/>
                  <a:cs typeface="+mn-cs"/>
                </a:rPr>
                <a:t>积分</a:t>
              </a:r>
            </a:p>
          </p:txBody>
        </p:sp>
        <p:sp>
          <p:nvSpPr>
            <p:cNvPr id="146" name="TextBox 146"/>
            <p:cNvSpPr txBox="1"/>
            <p:nvPr/>
          </p:nvSpPr>
          <p:spPr>
            <a:xfrm>
              <a:off x="4150715" y="5959792"/>
              <a:ext cx="118669" cy="264033"/>
            </a:xfrm>
            <a:prstGeom prst="rect">
              <a:avLst/>
            </a:prstGeom>
            <a:noFill/>
            <a:ln>
              <a:noFill/>
            </a:ln>
          </p:spPr>
          <p:txBody>
            <a:bodyPr wrap="none" lIns="0" tIns="0" rIns="0" bIns="0" anchor="t" anchorCtr="0">
              <a:spAutoFit/>
            </a:bodyPr>
            <a:lstStyle/>
            <a:p>
              <a:pPr algn="ctr"/>
              <a:r>
                <a:rPr lang="zh-CN" sz="1350" b="1" dirty="0">
                  <a:solidFill>
                    <a:srgbClr val="D47D6B"/>
                  </a:solidFill>
                  <a:latin typeface="+mn-lt"/>
                  <a:ea typeface="+mn-ea"/>
                  <a:cs typeface="+mn-cs"/>
                </a:rPr>
                <a:t>+</a:t>
              </a:r>
            </a:p>
          </p:txBody>
        </p:sp>
        <p:sp>
          <p:nvSpPr>
            <p:cNvPr id="147" name="Ellipse 147"/>
            <p:cNvSpPr/>
            <p:nvPr/>
          </p:nvSpPr>
          <p:spPr>
            <a:xfrm>
              <a:off x="4495800" y="5810250"/>
              <a:ext cx="457200" cy="457200"/>
            </a:xfrm>
            <a:prstGeom prst="ellipse">
              <a:avLst/>
            </a:prstGeom>
            <a:solidFill>
              <a:srgbClr val="FBDCD3"/>
            </a:solidFill>
            <a:ln>
              <a:noFill/>
            </a:ln>
          </p:spPr>
        </p:sp>
        <p:sp>
          <p:nvSpPr>
            <p:cNvPr id="148" name="TextBox 148"/>
            <p:cNvSpPr txBox="1"/>
            <p:nvPr/>
          </p:nvSpPr>
          <p:spPr>
            <a:xfrm>
              <a:off x="4613288" y="5934789"/>
              <a:ext cx="222225"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转化</a:t>
              </a:r>
            </a:p>
          </p:txBody>
        </p:sp>
        <p:sp>
          <p:nvSpPr>
            <p:cNvPr id="149" name="TextBox 149"/>
            <p:cNvSpPr txBox="1"/>
            <p:nvPr/>
          </p:nvSpPr>
          <p:spPr>
            <a:xfrm>
              <a:off x="4613288" y="6058614"/>
              <a:ext cx="222225" cy="154781"/>
            </a:xfrm>
            <a:prstGeom prst="rect">
              <a:avLst/>
            </a:prstGeom>
            <a:noFill/>
            <a:ln>
              <a:noFill/>
            </a:ln>
          </p:spPr>
          <p:txBody>
            <a:bodyPr wrap="none" lIns="0" tIns="0" rIns="0" bIns="0" anchor="t" anchorCtr="0">
              <a:spAutoFit/>
            </a:bodyPr>
            <a:lstStyle/>
            <a:p>
              <a:pPr algn="ctr"/>
              <a:r>
                <a:rPr lang="zh-CN" sz="790" b="1" dirty="0">
                  <a:solidFill>
                    <a:srgbClr val="E5624C"/>
                  </a:solidFill>
                  <a:latin typeface="+mn-lt"/>
                  <a:ea typeface="+mn-ea"/>
                  <a:cs typeface="+mn-cs"/>
                </a:rPr>
                <a:t>积分</a:t>
              </a:r>
            </a:p>
          </p:txBody>
        </p:sp>
        <p:sp>
          <p:nvSpPr>
            <p:cNvPr id="150" name="Rectangle 150"/>
            <p:cNvSpPr/>
            <p:nvPr/>
          </p:nvSpPr>
          <p:spPr>
            <a:xfrm>
              <a:off x="5295900" y="5638800"/>
              <a:ext cx="2209800" cy="228600"/>
            </a:xfrm>
            <a:prstGeom prst="roundRect">
              <a:avLst>
                <a:gd name="adj" fmla="val 50000"/>
              </a:avLst>
            </a:prstGeom>
            <a:solidFill>
              <a:srgbClr val="F6F7FC"/>
            </a:solidFill>
            <a:ln w="9525">
              <a:solidFill>
                <a:srgbClr val="E4E7F5"/>
              </a:solidFill>
            </a:ln>
          </p:spPr>
        </p:sp>
        <p:sp>
          <p:nvSpPr>
            <p:cNvPr id="151" name="Rectangle 151"/>
            <p:cNvSpPr/>
            <p:nvPr/>
          </p:nvSpPr>
          <p:spPr>
            <a:xfrm>
              <a:off x="5295900" y="5638800"/>
              <a:ext cx="476250" cy="228600"/>
            </a:xfrm>
            <a:prstGeom prst="roundRect">
              <a:avLst>
                <a:gd name="adj" fmla="val 50000"/>
              </a:avLst>
            </a:prstGeom>
            <a:solidFill>
              <a:srgbClr val="D47D6B"/>
            </a:solidFill>
            <a:ln>
              <a:noFill/>
            </a:ln>
          </p:spPr>
        </p:sp>
        <p:sp>
          <p:nvSpPr>
            <p:cNvPr id="152" name="TextBox 152"/>
            <p:cNvSpPr txBox="1"/>
            <p:nvPr/>
          </p:nvSpPr>
          <p:spPr>
            <a:xfrm>
              <a:off x="5418874" y="5711666"/>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分享</a:t>
              </a:r>
            </a:p>
          </p:txBody>
        </p:sp>
        <p:sp>
          <p:nvSpPr>
            <p:cNvPr id="153" name="TextBox 153"/>
            <p:cNvSpPr txBox="1"/>
            <p:nvPr/>
          </p:nvSpPr>
          <p:spPr>
            <a:xfrm>
              <a:off x="5862638" y="5715714"/>
              <a:ext cx="1450565"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分享至微信群/朋友圈获得积分</a:t>
              </a:r>
            </a:p>
          </p:txBody>
        </p:sp>
        <p:sp>
          <p:nvSpPr>
            <p:cNvPr id="154" name="Rectangle 154"/>
            <p:cNvSpPr/>
            <p:nvPr/>
          </p:nvSpPr>
          <p:spPr>
            <a:xfrm>
              <a:off x="5295900" y="5924550"/>
              <a:ext cx="2209800" cy="228600"/>
            </a:xfrm>
            <a:prstGeom prst="roundRect">
              <a:avLst>
                <a:gd name="adj" fmla="val 50000"/>
              </a:avLst>
            </a:prstGeom>
            <a:solidFill>
              <a:srgbClr val="F6F7FC"/>
            </a:solidFill>
            <a:ln w="9525">
              <a:solidFill>
                <a:srgbClr val="E4E7F5"/>
              </a:solidFill>
            </a:ln>
          </p:spPr>
        </p:sp>
        <p:sp>
          <p:nvSpPr>
            <p:cNvPr id="155" name="Rectangle 155"/>
            <p:cNvSpPr/>
            <p:nvPr/>
          </p:nvSpPr>
          <p:spPr>
            <a:xfrm>
              <a:off x="5295900" y="5924550"/>
              <a:ext cx="476250" cy="228600"/>
            </a:xfrm>
            <a:prstGeom prst="roundRect">
              <a:avLst>
                <a:gd name="adj" fmla="val 50000"/>
              </a:avLst>
            </a:prstGeom>
            <a:solidFill>
              <a:srgbClr val="D47D6B"/>
            </a:solidFill>
            <a:ln>
              <a:noFill/>
            </a:ln>
          </p:spPr>
        </p:sp>
        <p:sp>
          <p:nvSpPr>
            <p:cNvPr id="156" name="TextBox 156"/>
            <p:cNvSpPr txBox="1"/>
            <p:nvPr/>
          </p:nvSpPr>
          <p:spPr>
            <a:xfrm>
              <a:off x="5418874" y="5997416"/>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关注</a:t>
              </a:r>
            </a:p>
          </p:txBody>
        </p:sp>
        <p:sp>
          <p:nvSpPr>
            <p:cNvPr id="157" name="TextBox 157"/>
            <p:cNvSpPr txBox="1"/>
            <p:nvPr/>
          </p:nvSpPr>
          <p:spPr>
            <a:xfrm>
              <a:off x="5862638" y="6001464"/>
              <a:ext cx="1392072"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对方关注品牌公众号获取积分</a:t>
              </a:r>
            </a:p>
          </p:txBody>
        </p:sp>
        <p:sp>
          <p:nvSpPr>
            <p:cNvPr id="158" name="Rectangle 158"/>
            <p:cNvSpPr/>
            <p:nvPr/>
          </p:nvSpPr>
          <p:spPr>
            <a:xfrm>
              <a:off x="5295900" y="6210300"/>
              <a:ext cx="2209800" cy="228600"/>
            </a:xfrm>
            <a:prstGeom prst="roundRect">
              <a:avLst>
                <a:gd name="adj" fmla="val 50000"/>
              </a:avLst>
            </a:prstGeom>
            <a:solidFill>
              <a:srgbClr val="F6F7FC"/>
            </a:solidFill>
            <a:ln w="9525">
              <a:solidFill>
                <a:srgbClr val="E4E7F5"/>
              </a:solidFill>
            </a:ln>
          </p:spPr>
        </p:sp>
        <p:sp>
          <p:nvSpPr>
            <p:cNvPr id="159" name="Rectangle 159"/>
            <p:cNvSpPr/>
            <p:nvPr/>
          </p:nvSpPr>
          <p:spPr>
            <a:xfrm>
              <a:off x="5295900" y="6210300"/>
              <a:ext cx="476250" cy="228600"/>
            </a:xfrm>
            <a:prstGeom prst="roundRect">
              <a:avLst>
                <a:gd name="adj" fmla="val 50000"/>
              </a:avLst>
            </a:prstGeom>
            <a:solidFill>
              <a:srgbClr val="D47D6B"/>
            </a:solidFill>
            <a:ln>
              <a:noFill/>
            </a:ln>
          </p:spPr>
        </p:sp>
        <p:sp>
          <p:nvSpPr>
            <p:cNvPr id="160" name="TextBox 160"/>
            <p:cNvSpPr txBox="1"/>
            <p:nvPr/>
          </p:nvSpPr>
          <p:spPr>
            <a:xfrm>
              <a:off x="5418874" y="6283166"/>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转化</a:t>
              </a:r>
            </a:p>
          </p:txBody>
        </p:sp>
        <p:sp>
          <p:nvSpPr>
            <p:cNvPr id="161" name="TextBox 161"/>
            <p:cNvSpPr txBox="1"/>
            <p:nvPr/>
          </p:nvSpPr>
          <p:spPr>
            <a:xfrm>
              <a:off x="5862638" y="6287214"/>
              <a:ext cx="1498422" cy="154781"/>
            </a:xfrm>
            <a:prstGeom prst="rect">
              <a:avLst/>
            </a:prstGeom>
            <a:noFill/>
            <a:ln>
              <a:noFill/>
            </a:ln>
          </p:spPr>
          <p:txBody>
            <a:bodyPr wrap="none" lIns="0" tIns="0" rIns="0" bIns="0" anchor="t" anchorCtr="0">
              <a:spAutoFit/>
            </a:bodyPr>
            <a:lstStyle/>
            <a:p>
              <a:pPr algn="l"/>
              <a:r>
                <a:rPr lang="zh-CN" sz="790" dirty="0">
                  <a:solidFill>
                    <a:srgbClr val="705F5B"/>
                  </a:solidFill>
                  <a:latin typeface="+mn-lt"/>
                  <a:ea typeface="+mn-ea"/>
                  <a:cs typeface="+mn-cs"/>
                </a:rPr>
                <a:t>推荐的朋友第一次购买获取积分</a:t>
              </a:r>
            </a:p>
          </p:txBody>
        </p:sp>
      </p:grpSp>
      <p:grpSp>
        <p:nvGrpSpPr>
          <p:cNvPr id="181" name="funnel"/>
          <p:cNvGrpSpPr/>
          <p:nvPr/>
        </p:nvGrpSpPr>
        <p:grpSpPr>
          <a:xfrm>
            <a:off x="7620000" y="1295400"/>
            <a:ext cx="2362200" cy="5133975"/>
            <a:chOff x="7620000" y="1295400"/>
            <a:chExt cx="2362200" cy="5133975"/>
          </a:xfrm>
        </p:grpSpPr>
        <p:sp>
          <p:nvSpPr>
            <p:cNvPr id="163" name="Polygon 163"/>
            <p:cNvSpPr/>
            <p:nvPr/>
          </p:nvSpPr>
          <p:spPr>
            <a:xfrm>
              <a:off x="7620000" y="1581150"/>
              <a:ext cx="2362200" cy="1800225"/>
            </a:xfrm>
            <a:custGeom>
              <a:avLst/>
              <a:gdLst/>
              <a:ahLst/>
              <a:cxnLst/>
              <a:rect l="l" t="t" r="r" b="b"/>
              <a:pathLst>
                <a:path w="2362200" h="1800225">
                  <a:moveTo>
                    <a:pt x="0" y="0"/>
                  </a:moveTo>
                  <a:lnTo>
                    <a:pt x="2362200" y="0"/>
                  </a:lnTo>
                  <a:lnTo>
                    <a:pt x="1924050" y="1800225"/>
                  </a:lnTo>
                  <a:lnTo>
                    <a:pt x="438150" y="1800225"/>
                  </a:lnTo>
                  <a:close/>
                </a:path>
              </a:pathLst>
            </a:custGeom>
            <a:solidFill>
              <a:srgbClr val="E5624C"/>
            </a:solidFill>
            <a:ln>
              <a:noFill/>
            </a:ln>
          </p:spPr>
        </p:sp>
        <p:sp>
          <p:nvSpPr>
            <p:cNvPr id="164" name="Polygon 164"/>
            <p:cNvSpPr/>
            <p:nvPr/>
          </p:nvSpPr>
          <p:spPr>
            <a:xfrm>
              <a:off x="8058150" y="3381375"/>
              <a:ext cx="1485900" cy="1695450"/>
            </a:xfrm>
            <a:custGeom>
              <a:avLst/>
              <a:gdLst/>
              <a:ahLst/>
              <a:cxnLst/>
              <a:rect l="l" t="t" r="r" b="b"/>
              <a:pathLst>
                <a:path w="1485900" h="1695450">
                  <a:moveTo>
                    <a:pt x="0" y="0"/>
                  </a:moveTo>
                  <a:lnTo>
                    <a:pt x="1485900" y="0"/>
                  </a:lnTo>
                  <a:lnTo>
                    <a:pt x="1076325" y="1695450"/>
                  </a:lnTo>
                  <a:lnTo>
                    <a:pt x="409575" y="1695450"/>
                  </a:lnTo>
                  <a:close/>
                </a:path>
              </a:pathLst>
            </a:custGeom>
            <a:solidFill>
              <a:srgbClr val="C1553F"/>
            </a:solidFill>
            <a:ln>
              <a:noFill/>
            </a:ln>
          </p:spPr>
        </p:sp>
        <p:sp>
          <p:nvSpPr>
            <p:cNvPr id="165" name="Polygon 165"/>
            <p:cNvSpPr/>
            <p:nvPr/>
          </p:nvSpPr>
          <p:spPr>
            <a:xfrm>
              <a:off x="8467725" y="5076825"/>
              <a:ext cx="666750" cy="1352550"/>
            </a:xfrm>
            <a:custGeom>
              <a:avLst/>
              <a:gdLst/>
              <a:ahLst/>
              <a:cxnLst/>
              <a:rect l="l" t="t" r="r" b="b"/>
              <a:pathLst>
                <a:path w="666750" h="1352550">
                  <a:moveTo>
                    <a:pt x="0" y="0"/>
                  </a:moveTo>
                  <a:lnTo>
                    <a:pt x="666750" y="0"/>
                  </a:lnTo>
                  <a:lnTo>
                    <a:pt x="333375" y="1352550"/>
                  </a:lnTo>
                  <a:close/>
                </a:path>
              </a:pathLst>
            </a:custGeom>
            <a:solidFill>
              <a:srgbClr val="D47D6B"/>
            </a:solidFill>
            <a:ln>
              <a:noFill/>
            </a:ln>
          </p:spPr>
        </p:sp>
        <p:sp>
          <p:nvSpPr>
            <p:cNvPr id="166" name="Polygon 166"/>
            <p:cNvSpPr/>
            <p:nvPr/>
          </p:nvSpPr>
          <p:spPr>
            <a:xfrm>
              <a:off x="8686800" y="6115050"/>
              <a:ext cx="228600" cy="314325"/>
            </a:xfrm>
            <a:custGeom>
              <a:avLst/>
              <a:gdLst/>
              <a:ahLst/>
              <a:cxnLst/>
              <a:rect l="l" t="t" r="r" b="b"/>
              <a:pathLst>
                <a:path w="228600" h="314325">
                  <a:moveTo>
                    <a:pt x="0" y="0"/>
                  </a:moveTo>
                  <a:lnTo>
                    <a:pt x="228600" y="0"/>
                  </a:lnTo>
                  <a:lnTo>
                    <a:pt x="114300" y="314325"/>
                  </a:lnTo>
                  <a:close/>
                </a:path>
              </a:pathLst>
            </a:custGeom>
            <a:solidFill>
              <a:srgbClr val="E5624C"/>
            </a:solidFill>
            <a:ln>
              <a:noFill/>
            </a:ln>
          </p:spPr>
        </p:sp>
        <p:sp>
          <p:nvSpPr>
            <p:cNvPr id="167" name="Ellipse 167"/>
            <p:cNvSpPr/>
            <p:nvPr/>
          </p:nvSpPr>
          <p:spPr>
            <a:xfrm>
              <a:off x="8058150" y="3267075"/>
              <a:ext cx="1485900" cy="228600"/>
            </a:xfrm>
            <a:prstGeom prst="ellipse">
              <a:avLst/>
            </a:prstGeom>
            <a:solidFill>
              <a:srgbClr val="D47D6B">
                <a:alpha val="60000"/>
              </a:srgbClr>
            </a:solidFill>
            <a:ln>
              <a:noFill/>
            </a:ln>
          </p:spPr>
        </p:sp>
        <p:sp>
          <p:nvSpPr>
            <p:cNvPr id="168" name="Ellipse 168"/>
            <p:cNvSpPr/>
            <p:nvPr/>
          </p:nvSpPr>
          <p:spPr>
            <a:xfrm>
              <a:off x="8467725" y="5019675"/>
              <a:ext cx="666750" cy="114300"/>
            </a:xfrm>
            <a:prstGeom prst="ellipse">
              <a:avLst/>
            </a:prstGeom>
            <a:solidFill>
              <a:srgbClr val="DD988A">
                <a:alpha val="70000"/>
              </a:srgbClr>
            </a:solidFill>
            <a:ln>
              <a:noFill/>
            </a:ln>
          </p:spPr>
        </p:sp>
        <p:sp>
          <p:nvSpPr>
            <p:cNvPr id="169" name="Ellipse 169"/>
            <p:cNvSpPr/>
            <p:nvPr/>
          </p:nvSpPr>
          <p:spPr>
            <a:xfrm>
              <a:off x="7620000" y="1295400"/>
              <a:ext cx="2362200" cy="571500"/>
            </a:xfrm>
            <a:prstGeom prst="ellipse">
              <a:avLst/>
            </a:prstGeom>
            <a:solidFill>
              <a:srgbClr val="F0998A"/>
            </a:solidFill>
            <a:ln>
              <a:noFill/>
            </a:ln>
          </p:spPr>
        </p:sp>
        <p:sp>
          <p:nvSpPr>
            <p:cNvPr id="170" name="Ellipse 170"/>
            <p:cNvSpPr/>
            <p:nvPr/>
          </p:nvSpPr>
          <p:spPr>
            <a:xfrm>
              <a:off x="8210550" y="1438275"/>
              <a:ext cx="1181100" cy="285750"/>
            </a:xfrm>
            <a:prstGeom prst="ellipse">
              <a:avLst/>
            </a:prstGeom>
            <a:solidFill>
              <a:srgbClr val="F7BFB5"/>
            </a:solidFill>
            <a:ln>
              <a:noFill/>
            </a:ln>
          </p:spPr>
        </p:sp>
        <p:grpSp>
          <p:nvGrpSpPr>
            <p:cNvPr id="177" name="Group 177"/>
            <p:cNvGrpSpPr/>
            <p:nvPr/>
          </p:nvGrpSpPr>
          <p:grpSpPr>
            <a:xfrm>
              <a:off x="8686800" y="1466850"/>
              <a:ext cx="228599" cy="228599"/>
              <a:chOff x="8686800" y="1466850"/>
              <a:chExt cx="228599" cy="228599"/>
            </a:xfrm>
          </p:grpSpPr>
          <p:sp>
            <p:nvSpPr>
              <p:cNvPr id="171" name="Freeform 171"/>
              <p:cNvSpPr/>
              <p:nvPr/>
            </p:nvSpPr>
            <p:spPr>
              <a:xfrm>
                <a:off x="8775700" y="15684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E5624C"/>
                </a:solidFill>
              </a:ln>
            </p:spPr>
          </p:sp>
          <p:sp>
            <p:nvSpPr>
              <p:cNvPr id="172" name="Freeform 172"/>
              <p:cNvSpPr/>
              <p:nvPr/>
            </p:nvSpPr>
            <p:spPr>
              <a:xfrm>
                <a:off x="8750300" y="1657349"/>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E5624C"/>
                </a:solidFill>
              </a:ln>
            </p:spPr>
          </p:sp>
          <p:sp>
            <p:nvSpPr>
              <p:cNvPr id="173" name="Freeform 173"/>
              <p:cNvSpPr/>
              <p:nvPr/>
            </p:nvSpPr>
            <p:spPr>
              <a:xfrm>
                <a:off x="8839200" y="14668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E5624C"/>
                </a:solidFill>
              </a:ln>
            </p:spPr>
          </p:sp>
          <p:sp>
            <p:nvSpPr>
              <p:cNvPr id="174" name="Freeform 174"/>
              <p:cNvSpPr/>
              <p:nvPr/>
            </p:nvSpPr>
            <p:spPr>
              <a:xfrm>
                <a:off x="8864599" y="1555750"/>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E5624C"/>
                </a:solidFill>
              </a:ln>
            </p:spPr>
          </p:sp>
          <p:sp>
            <p:nvSpPr>
              <p:cNvPr id="175" name="Freeform 175"/>
              <p:cNvSpPr/>
              <p:nvPr/>
            </p:nvSpPr>
            <p:spPr>
              <a:xfrm>
                <a:off x="8712200" y="14668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E5624C"/>
                </a:solidFill>
              </a:ln>
            </p:spPr>
          </p:sp>
          <p:sp>
            <p:nvSpPr>
              <p:cNvPr id="176" name="Freeform 176"/>
              <p:cNvSpPr/>
              <p:nvPr/>
            </p:nvSpPr>
            <p:spPr>
              <a:xfrm>
                <a:off x="8686800" y="15557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E5624C"/>
                </a:solidFill>
              </a:ln>
            </p:spPr>
          </p:sp>
        </p:grpSp>
        <p:sp>
          <p:nvSpPr>
            <p:cNvPr id="178" name="TextBox 178"/>
            <p:cNvSpPr txBox="1"/>
            <p:nvPr/>
          </p:nvSpPr>
          <p:spPr>
            <a:xfrm>
              <a:off x="8644611" y="22026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潜客</a:t>
              </a:r>
            </a:p>
          </p:txBody>
        </p:sp>
        <p:sp>
          <p:nvSpPr>
            <p:cNvPr id="179" name="TextBox 179"/>
            <p:cNvSpPr txBox="1"/>
            <p:nvPr/>
          </p:nvSpPr>
          <p:spPr>
            <a:xfrm>
              <a:off x="8644611" y="38981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新客</a:t>
              </a:r>
            </a:p>
          </p:txBody>
        </p:sp>
        <p:sp>
          <p:nvSpPr>
            <p:cNvPr id="180" name="TextBox 180"/>
            <p:cNvSpPr txBox="1"/>
            <p:nvPr/>
          </p:nvSpPr>
          <p:spPr>
            <a:xfrm>
              <a:off x="8654415" y="546830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老客</a:t>
              </a:r>
            </a:p>
          </p:txBody>
        </p:sp>
      </p:grpSp>
      <p:grpSp>
        <p:nvGrpSpPr>
          <p:cNvPr id="198" name="ops-notes"/>
          <p:cNvGrpSpPr/>
          <p:nvPr/>
        </p:nvGrpSpPr>
        <p:grpSpPr>
          <a:xfrm>
            <a:off x="10029825" y="1334452"/>
            <a:ext cx="1819275" cy="4551998"/>
            <a:chOff x="10029825" y="1334452"/>
            <a:chExt cx="1819275" cy="4551998"/>
          </a:xfrm>
        </p:grpSpPr>
        <p:sp>
          <p:nvSpPr>
            <p:cNvPr id="182" name="TextBox 182"/>
            <p:cNvSpPr txBox="1"/>
            <p:nvPr/>
          </p:nvSpPr>
          <p:spPr>
            <a:xfrm>
              <a:off x="10684764" y="1334452"/>
              <a:ext cx="576072" cy="205359"/>
            </a:xfrm>
            <a:prstGeom prst="rect">
              <a:avLst/>
            </a:prstGeom>
            <a:noFill/>
            <a:ln>
              <a:noFill/>
            </a:ln>
          </p:spPr>
          <p:txBody>
            <a:bodyPr wrap="none" lIns="0" tIns="0" rIns="0" bIns="0" anchor="t" anchorCtr="0">
              <a:spAutoFit/>
            </a:bodyPr>
            <a:lstStyle/>
            <a:p>
              <a:pPr algn="ctr"/>
              <a:r>
                <a:rPr lang="zh-CN" sz="1050" b="1" dirty="0">
                  <a:solidFill>
                    <a:srgbClr val="C1553F"/>
                  </a:solidFill>
                  <a:latin typeface="+mn-lt"/>
                  <a:ea typeface="+mn-ea"/>
                  <a:cs typeface="+mn-cs"/>
                </a:rPr>
                <a:t>运营策略</a:t>
              </a:r>
            </a:p>
          </p:txBody>
        </p:sp>
        <p:sp>
          <p:nvSpPr>
            <p:cNvPr id="183" name="Polygon 183"/>
            <p:cNvSpPr/>
            <p:nvPr/>
          </p:nvSpPr>
          <p:spPr>
            <a:xfrm>
              <a:off x="10029825" y="2286000"/>
              <a:ext cx="76200" cy="133350"/>
            </a:xfrm>
            <a:custGeom>
              <a:avLst/>
              <a:gdLst/>
              <a:ahLst/>
              <a:cxnLst/>
              <a:rect l="l" t="t" r="r" b="b"/>
              <a:pathLst>
                <a:path w="76200" h="133350">
                  <a:moveTo>
                    <a:pt x="76200" y="0"/>
                  </a:moveTo>
                  <a:lnTo>
                    <a:pt x="0" y="66675"/>
                  </a:lnTo>
                  <a:lnTo>
                    <a:pt x="76200" y="133350"/>
                  </a:lnTo>
                  <a:close/>
                </a:path>
              </a:pathLst>
            </a:custGeom>
            <a:solidFill>
              <a:srgbClr val="FFFFFF"/>
            </a:solidFill>
            <a:ln w="9525">
              <a:solidFill>
                <a:srgbClr val="E4E7F5"/>
              </a:solidFill>
            </a:ln>
          </p:spPr>
        </p:sp>
        <p:sp>
          <p:nvSpPr>
            <p:cNvPr id="184" name="Rectangle 184"/>
            <p:cNvSpPr/>
            <p:nvPr/>
          </p:nvSpPr>
          <p:spPr>
            <a:xfrm>
              <a:off x="10106025" y="1866900"/>
              <a:ext cx="1743075" cy="971550"/>
            </a:xfrm>
            <a:prstGeom prst="roundRect">
              <a:avLst>
                <a:gd name="adj" fmla="val 7843"/>
              </a:avLst>
            </a:prstGeom>
            <a:solidFill>
              <a:srgbClr val="FFFFFF"/>
            </a:solidFill>
            <a:ln w="9525">
              <a:solidFill>
                <a:srgbClr val="E4E7F5"/>
              </a:solidFill>
            </a:ln>
          </p:spPr>
        </p:sp>
        <p:sp>
          <p:nvSpPr>
            <p:cNvPr id="185" name="TextBox 185"/>
            <p:cNvSpPr txBox="1"/>
            <p:nvPr/>
          </p:nvSpPr>
          <p:spPr>
            <a:xfrm>
              <a:off x="10234612" y="2074545"/>
              <a:ext cx="122110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精准定位潜客，建立信</a:t>
              </a:r>
            </a:p>
          </p:txBody>
        </p:sp>
        <p:sp>
          <p:nvSpPr>
            <p:cNvPr id="186" name="TextBox 186"/>
            <p:cNvSpPr txBox="1"/>
            <p:nvPr/>
          </p:nvSpPr>
          <p:spPr>
            <a:xfrm>
              <a:off x="10234612" y="2265045"/>
              <a:ext cx="122110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任并互动，引导其转化</a:t>
              </a:r>
            </a:p>
          </p:txBody>
        </p:sp>
        <p:sp>
          <p:nvSpPr>
            <p:cNvPr id="187" name="TextBox 187"/>
            <p:cNvSpPr txBox="1"/>
            <p:nvPr/>
          </p:nvSpPr>
          <p:spPr>
            <a:xfrm>
              <a:off x="10234612" y="2455545"/>
              <a:ext cx="494157"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为新客。</a:t>
              </a:r>
            </a:p>
          </p:txBody>
        </p:sp>
        <p:sp>
          <p:nvSpPr>
            <p:cNvPr id="188" name="Polygon 188"/>
            <p:cNvSpPr/>
            <p:nvPr/>
          </p:nvSpPr>
          <p:spPr>
            <a:xfrm>
              <a:off x="10029825" y="3810000"/>
              <a:ext cx="76200" cy="133350"/>
            </a:xfrm>
            <a:custGeom>
              <a:avLst/>
              <a:gdLst/>
              <a:ahLst/>
              <a:cxnLst/>
              <a:rect l="l" t="t" r="r" b="b"/>
              <a:pathLst>
                <a:path w="76200" h="133350">
                  <a:moveTo>
                    <a:pt x="76200" y="0"/>
                  </a:moveTo>
                  <a:lnTo>
                    <a:pt x="0" y="66675"/>
                  </a:lnTo>
                  <a:lnTo>
                    <a:pt x="76200" y="133350"/>
                  </a:lnTo>
                  <a:close/>
                </a:path>
              </a:pathLst>
            </a:custGeom>
            <a:solidFill>
              <a:srgbClr val="FFFFFF"/>
            </a:solidFill>
            <a:ln w="9525">
              <a:solidFill>
                <a:srgbClr val="E4E7F5"/>
              </a:solidFill>
            </a:ln>
          </p:spPr>
        </p:sp>
        <p:sp>
          <p:nvSpPr>
            <p:cNvPr id="189" name="Rectangle 189"/>
            <p:cNvSpPr/>
            <p:nvPr/>
          </p:nvSpPr>
          <p:spPr>
            <a:xfrm>
              <a:off x="10106025" y="3390900"/>
              <a:ext cx="1743075" cy="971550"/>
            </a:xfrm>
            <a:prstGeom prst="roundRect">
              <a:avLst>
                <a:gd name="adj" fmla="val 7843"/>
              </a:avLst>
            </a:prstGeom>
            <a:solidFill>
              <a:srgbClr val="FFFFFF"/>
            </a:solidFill>
            <a:ln w="9525">
              <a:solidFill>
                <a:srgbClr val="E4E7F5"/>
              </a:solidFill>
            </a:ln>
          </p:spPr>
        </p:sp>
        <p:sp>
          <p:nvSpPr>
            <p:cNvPr id="190" name="TextBox 190"/>
            <p:cNvSpPr txBox="1"/>
            <p:nvPr/>
          </p:nvSpPr>
          <p:spPr>
            <a:xfrm>
              <a:off x="10234612" y="3598545"/>
              <a:ext cx="122110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欢迎新客，提供个性化</a:t>
              </a:r>
            </a:p>
          </p:txBody>
        </p:sp>
        <p:sp>
          <p:nvSpPr>
            <p:cNvPr id="191" name="TextBox 191"/>
            <p:cNvSpPr txBox="1"/>
            <p:nvPr/>
          </p:nvSpPr>
          <p:spPr>
            <a:xfrm>
              <a:off x="10234612" y="3789045"/>
              <a:ext cx="122110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体验，激励消费，持续</a:t>
              </a:r>
            </a:p>
          </p:txBody>
        </p:sp>
        <p:sp>
          <p:nvSpPr>
            <p:cNvPr id="192" name="TextBox 192"/>
            <p:cNvSpPr txBox="1"/>
            <p:nvPr/>
          </p:nvSpPr>
          <p:spPr>
            <a:xfrm>
              <a:off x="10234612" y="3979545"/>
              <a:ext cx="978789"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沟通提升满意度。</a:t>
              </a:r>
            </a:p>
          </p:txBody>
        </p:sp>
        <p:sp>
          <p:nvSpPr>
            <p:cNvPr id="193" name="Polygon 193"/>
            <p:cNvSpPr/>
            <p:nvPr/>
          </p:nvSpPr>
          <p:spPr>
            <a:xfrm>
              <a:off x="10029825" y="5334000"/>
              <a:ext cx="76200" cy="133350"/>
            </a:xfrm>
            <a:custGeom>
              <a:avLst/>
              <a:gdLst/>
              <a:ahLst/>
              <a:cxnLst/>
              <a:rect l="l" t="t" r="r" b="b"/>
              <a:pathLst>
                <a:path w="76200" h="133350">
                  <a:moveTo>
                    <a:pt x="76200" y="0"/>
                  </a:moveTo>
                  <a:lnTo>
                    <a:pt x="0" y="66675"/>
                  </a:lnTo>
                  <a:lnTo>
                    <a:pt x="76200" y="133350"/>
                  </a:lnTo>
                  <a:close/>
                </a:path>
              </a:pathLst>
            </a:custGeom>
            <a:solidFill>
              <a:srgbClr val="FFFFFF"/>
            </a:solidFill>
            <a:ln w="9525">
              <a:solidFill>
                <a:srgbClr val="E4E7F5"/>
              </a:solidFill>
            </a:ln>
          </p:spPr>
        </p:sp>
        <p:sp>
          <p:nvSpPr>
            <p:cNvPr id="194" name="Rectangle 194"/>
            <p:cNvSpPr/>
            <p:nvPr/>
          </p:nvSpPr>
          <p:spPr>
            <a:xfrm>
              <a:off x="10106025" y="4914900"/>
              <a:ext cx="1743075" cy="971550"/>
            </a:xfrm>
            <a:prstGeom prst="roundRect">
              <a:avLst>
                <a:gd name="adj" fmla="val 7843"/>
              </a:avLst>
            </a:prstGeom>
            <a:solidFill>
              <a:srgbClr val="FFFFFF"/>
            </a:solidFill>
            <a:ln w="9525">
              <a:solidFill>
                <a:srgbClr val="E4E7F5"/>
              </a:solidFill>
            </a:ln>
          </p:spPr>
        </p:sp>
        <p:sp>
          <p:nvSpPr>
            <p:cNvPr id="195" name="TextBox 195"/>
            <p:cNvSpPr txBox="1"/>
            <p:nvPr/>
          </p:nvSpPr>
          <p:spPr>
            <a:xfrm>
              <a:off x="10234612" y="5122545"/>
              <a:ext cx="122110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培养老客忠诚度，进行</a:t>
              </a:r>
            </a:p>
          </p:txBody>
        </p:sp>
        <p:sp>
          <p:nvSpPr>
            <p:cNvPr id="196" name="TextBox 196"/>
            <p:cNvSpPr txBox="1"/>
            <p:nvPr/>
          </p:nvSpPr>
          <p:spPr>
            <a:xfrm>
              <a:off x="10234612" y="5313045"/>
              <a:ext cx="1221105"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交叉销售，重视反馈，</a:t>
              </a:r>
            </a:p>
          </p:txBody>
        </p:sp>
        <p:sp>
          <p:nvSpPr>
            <p:cNvPr id="197" name="TextBox 197"/>
            <p:cNvSpPr txBox="1"/>
            <p:nvPr/>
          </p:nvSpPr>
          <p:spPr>
            <a:xfrm>
              <a:off x="10234612" y="5503545"/>
              <a:ext cx="857631" cy="176212"/>
            </a:xfrm>
            <a:prstGeom prst="rect">
              <a:avLst/>
            </a:prstGeom>
            <a:noFill/>
            <a:ln>
              <a:noFill/>
            </a:ln>
          </p:spPr>
          <p:txBody>
            <a:bodyPr wrap="none" lIns="0" tIns="0" rIns="0" bIns="0" anchor="t" anchorCtr="0">
              <a:spAutoFit/>
            </a:bodyPr>
            <a:lstStyle/>
            <a:p>
              <a:pPr algn="l"/>
              <a:r>
                <a:rPr lang="zh-CN" sz="900" dirty="0">
                  <a:solidFill>
                    <a:srgbClr val="705F5B"/>
                  </a:solidFill>
                  <a:latin typeface="+mn-lt"/>
                  <a:ea typeface="+mn-ea"/>
                  <a:cs typeface="+mn-cs"/>
                </a:rPr>
                <a:t>建立情感连接。</a:t>
              </a:r>
            </a:p>
          </p:txBody>
        </p:sp>
      </p:gr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ring-1"/>
          <p:cNvSpPr/>
          <p:nvPr/>
        </p:nvSpPr>
        <p:spPr>
          <a:xfrm>
            <a:off x="-266700" y="733425"/>
            <a:ext cx="12725400" cy="12725400"/>
          </a:xfrm>
          <a:prstGeom prst="ellipse">
            <a:avLst/>
          </a:prstGeom>
          <a:noFill/>
          <a:ln w="14288">
            <a:solidFill>
              <a:srgbClr val="E4E8F7"/>
            </a:solidFill>
            <a:custDash>
              <a:ds d="200000" sp="333333"/>
            </a:custDash>
          </a:ln>
        </p:spPr>
      </p:sp>
      <p:sp>
        <p:nvSpPr>
          <p:cNvPr id="3" name="deco-ring-2"/>
          <p:cNvSpPr/>
          <p:nvPr/>
        </p:nvSpPr>
        <p:spPr>
          <a:xfrm>
            <a:off x="3371850" y="4371975"/>
            <a:ext cx="5448300" cy="5448300"/>
          </a:xfrm>
          <a:prstGeom prst="ellipse">
            <a:avLst/>
          </a:prstGeom>
          <a:noFill/>
          <a:ln w="14288">
            <a:solidFill>
              <a:srgbClr val="E4E8F7"/>
            </a:solidFill>
            <a:custDash>
              <a:ds d="200000" sp="333333"/>
            </a:custDash>
          </a:ln>
        </p:spPr>
      </p:sp>
      <p:grpSp>
        <p:nvGrpSpPr>
          <p:cNvPr id="8" name="page-header"/>
          <p:cNvGrpSpPr/>
          <p:nvPr/>
        </p:nvGrpSpPr>
        <p:grpSpPr>
          <a:xfrm>
            <a:off x="0" y="0"/>
            <a:ext cx="5905500" cy="542925"/>
            <a:chOff x="0" y="0"/>
            <a:chExt cx="5905500" cy="542925"/>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5" name="TextBox 5"/>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43</a:t>
              </a:r>
            </a:p>
          </p:txBody>
        </p:sp>
        <p:sp>
          <p:nvSpPr>
            <p:cNvPr id="6" name="TextBox 6"/>
            <p:cNvSpPr txBox="1"/>
            <p:nvPr/>
          </p:nvSpPr>
          <p:spPr>
            <a:xfrm>
              <a:off x="942594" y="151448"/>
              <a:ext cx="156683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权益罗盘图​</a:t>
              </a:r>
            </a:p>
          </p:txBody>
        </p:sp>
        <p:sp>
          <p:nvSpPr>
            <p:cNvPr id="7" name="Line 7"/>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50" name="compass"/>
          <p:cNvGrpSpPr/>
          <p:nvPr/>
        </p:nvGrpSpPr>
        <p:grpSpPr>
          <a:xfrm>
            <a:off x="289560" y="619125"/>
            <a:ext cx="11702415" cy="8715375"/>
            <a:chOff x="289560" y="619125"/>
            <a:chExt cx="11702415" cy="8715375"/>
          </a:xfrm>
        </p:grpSpPr>
        <p:sp>
          <p:nvSpPr>
            <p:cNvPr id="9" name="TextBox 9"/>
            <p:cNvSpPr txBox="1"/>
            <p:nvPr/>
          </p:nvSpPr>
          <p:spPr>
            <a:xfrm>
              <a:off x="5400269" y="929164"/>
              <a:ext cx="1391463" cy="249364"/>
            </a:xfrm>
            <a:prstGeom prst="rect">
              <a:avLst/>
            </a:prstGeom>
            <a:noFill/>
            <a:ln>
              <a:noFill/>
            </a:ln>
          </p:spPr>
          <p:txBody>
            <a:bodyPr wrap="none" lIns="0" tIns="0" rIns="0" bIns="0" anchor="t" anchorCtr="0">
              <a:spAutoFit/>
            </a:bodyPr>
            <a:lstStyle/>
            <a:p>
              <a:pPr algn="ctr"/>
              <a:r>
                <a:rPr lang="zh-CN" sz="1280" b="1" dirty="0">
                  <a:solidFill>
                    <a:srgbClr val="A84F3D"/>
                  </a:solidFill>
                  <a:latin typeface="+mn-lt"/>
                  <a:ea typeface="+mn-ea"/>
                  <a:cs typeface="+mn-cs"/>
                </a:rPr>
                <a:t>外部生态不断打通</a:t>
              </a:r>
            </a:p>
          </p:txBody>
        </p:sp>
        <p:sp>
          <p:nvSpPr>
            <p:cNvPr id="10" name="TextBox 10"/>
            <p:cNvSpPr txBox="1"/>
            <p:nvPr/>
          </p:nvSpPr>
          <p:spPr>
            <a:xfrm>
              <a:off x="5443728" y="2289810"/>
              <a:ext cx="1304544" cy="234696"/>
            </a:xfrm>
            <a:prstGeom prst="rect">
              <a:avLst/>
            </a:prstGeom>
            <a:noFill/>
            <a:ln>
              <a:noFill/>
            </a:ln>
          </p:spPr>
          <p:txBody>
            <a:bodyPr wrap="none" lIns="0" tIns="0" rIns="0" bIns="0" anchor="t" anchorCtr="0">
              <a:spAutoFit/>
            </a:bodyPr>
            <a:lstStyle/>
            <a:p>
              <a:pPr algn="ctr"/>
              <a:r>
                <a:rPr lang="zh-CN" sz="1200" b="1" dirty="0">
                  <a:solidFill>
                    <a:srgbClr val="A84F3D"/>
                  </a:solidFill>
                  <a:latin typeface="+mn-lt"/>
                  <a:ea typeface="+mn-ea"/>
                  <a:cs typeface="+mn-cs"/>
                </a:rPr>
                <a:t>内部权益持续扩充</a:t>
              </a:r>
            </a:p>
          </p:txBody>
        </p:sp>
        <p:grpSp>
          <p:nvGrpSpPr>
            <p:cNvPr id="58" name="ring-outer"/>
            <p:cNvGrpSpPr/>
            <p:nvPr/>
          </p:nvGrpSpPr>
          <p:grpSpPr>
            <a:xfrm>
              <a:off x="289560" y="1266982"/>
              <a:ext cx="11612880" cy="5663408"/>
              <a:chOff x="289560" y="1266982"/>
              <a:chExt cx="11612880" cy="5663408"/>
            </a:xfrm>
          </p:grpSpPr>
          <p:sp>
            <p:nvSpPr>
              <p:cNvPr id="11" name="Freeform 11"/>
              <p:cNvSpPr/>
              <p:nvPr/>
            </p:nvSpPr>
            <p:spPr>
              <a:xfrm>
                <a:off x="289560" y="5397818"/>
                <a:ext cx="1251585" cy="1532572"/>
              </a:xfrm>
              <a:custGeom>
                <a:avLst/>
                <a:gdLst/>
                <a:ahLst/>
                <a:cxnLst/>
                <a:rect l="l" t="t" r="r" b="b"/>
                <a:pathLst>
                  <a:path w="1251585" h="1532572">
                    <a:moveTo>
                      <a:pt x="0" y="1495425"/>
                    </a:moveTo>
                    <a:cubicBezTo>
                      <a:pt x="17823" y="988148"/>
                      <a:pt x="102042" y="485393"/>
                      <a:pt x="250507" y="0"/>
                    </a:cubicBezTo>
                    <a:lnTo>
                      <a:pt x="1251585" y="305752"/>
                    </a:lnTo>
                    <a:cubicBezTo>
                      <a:pt x="1129986" y="703982"/>
                      <a:pt x="1061137" y="1116439"/>
                      <a:pt x="1046798" y="1532572"/>
                    </a:cubicBezTo>
                    <a:close/>
                  </a:path>
                </a:pathLst>
              </a:custGeom>
              <a:gradFill>
                <a:gsLst>
                  <a:gs pos="0">
                    <a:srgbClr val="E89C8C"/>
                  </a:gs>
                  <a:gs pos="50000">
                    <a:srgbClr val="E08C7B"/>
                  </a:gs>
                  <a:gs pos="100000">
                    <a:srgbClr val="E89C8C"/>
                  </a:gs>
                </a:gsLst>
                <a:lin ang="0" scaled="1"/>
              </a:gradFill>
              <a:ln>
                <a:noFill/>
              </a:ln>
            </p:spPr>
          </p:sp>
          <p:sp>
            <p:nvSpPr>
              <p:cNvPr id="12" name="Freeform 12"/>
              <p:cNvSpPr/>
              <p:nvPr/>
            </p:nvSpPr>
            <p:spPr>
              <a:xfrm>
                <a:off x="540068" y="3847148"/>
                <a:ext cx="1607820" cy="1856422"/>
              </a:xfrm>
              <a:custGeom>
                <a:avLst/>
                <a:gdLst/>
                <a:ahLst/>
                <a:cxnLst/>
                <a:rect l="l" t="t" r="r" b="b"/>
                <a:pathLst>
                  <a:path w="1607820" h="1856422">
                    <a:moveTo>
                      <a:pt x="0" y="1550670"/>
                    </a:moveTo>
                    <a:cubicBezTo>
                      <a:pt x="168187" y="1000012"/>
                      <a:pt x="417289" y="477412"/>
                      <a:pt x="739140" y="0"/>
                    </a:cubicBezTo>
                    <a:lnTo>
                      <a:pt x="1607820" y="585787"/>
                    </a:lnTo>
                    <a:cubicBezTo>
                      <a:pt x="1343732" y="976930"/>
                      <a:pt x="1139250" y="1405154"/>
                      <a:pt x="1001077" y="1856422"/>
                    </a:cubicBezTo>
                    <a:close/>
                  </a:path>
                </a:pathLst>
              </a:custGeom>
              <a:gradFill>
                <a:gsLst>
                  <a:gs pos="0">
                    <a:srgbClr val="E89C8C"/>
                  </a:gs>
                  <a:gs pos="50000">
                    <a:srgbClr val="E08C7B"/>
                  </a:gs>
                  <a:gs pos="100000">
                    <a:srgbClr val="E89C8C"/>
                  </a:gs>
                </a:gsLst>
                <a:lin ang="0" scaled="1"/>
              </a:gradFill>
              <a:ln>
                <a:noFill/>
              </a:ln>
            </p:spPr>
          </p:sp>
          <p:sp>
            <p:nvSpPr>
              <p:cNvPr id="13" name="Freeform 13"/>
              <p:cNvSpPr/>
              <p:nvPr/>
            </p:nvSpPr>
            <p:spPr>
              <a:xfrm>
                <a:off x="1279208" y="2517457"/>
                <a:ext cx="1884997" cy="1915478"/>
              </a:xfrm>
              <a:custGeom>
                <a:avLst/>
                <a:gdLst/>
                <a:ahLst/>
                <a:cxnLst/>
                <a:rect l="l" t="t" r="r" b="b"/>
                <a:pathLst>
                  <a:path w="1884997" h="1915478">
                    <a:moveTo>
                      <a:pt x="0" y="1329690"/>
                    </a:moveTo>
                    <a:cubicBezTo>
                      <a:pt x="340753" y="824195"/>
                      <a:pt x="758936" y="375476"/>
                      <a:pt x="1239203" y="0"/>
                    </a:cubicBezTo>
                    <a:lnTo>
                      <a:pt x="1884997" y="825818"/>
                    </a:lnTo>
                    <a:cubicBezTo>
                      <a:pt x="1491151" y="1133463"/>
                      <a:pt x="1148181" y="1501183"/>
                      <a:pt x="868680" y="1915478"/>
                    </a:cubicBezTo>
                    <a:close/>
                  </a:path>
                </a:pathLst>
              </a:custGeom>
              <a:gradFill>
                <a:gsLst>
                  <a:gs pos="0">
                    <a:srgbClr val="E89C8C"/>
                  </a:gs>
                  <a:gs pos="50000">
                    <a:srgbClr val="E08C7B"/>
                  </a:gs>
                  <a:gs pos="100000">
                    <a:srgbClr val="E89C8C"/>
                  </a:gs>
                </a:gsLst>
                <a:lin ang="0" scaled="1"/>
              </a:gradFill>
              <a:ln>
                <a:noFill/>
              </a:ln>
            </p:spPr>
          </p:sp>
          <p:sp>
            <p:nvSpPr>
              <p:cNvPr id="14" name="Freeform 14"/>
              <p:cNvSpPr/>
              <p:nvPr/>
            </p:nvSpPr>
            <p:spPr>
              <a:xfrm>
                <a:off x="2518410" y="1570672"/>
                <a:ext cx="2105978" cy="1772603"/>
              </a:xfrm>
              <a:custGeom>
                <a:avLst/>
                <a:gdLst/>
                <a:ahLst/>
                <a:cxnLst/>
                <a:rect l="l" t="t" r="r" b="b"/>
                <a:pathLst>
                  <a:path w="2105978" h="1772603">
                    <a:moveTo>
                      <a:pt x="0" y="946785"/>
                    </a:moveTo>
                    <a:cubicBezTo>
                      <a:pt x="534269" y="529655"/>
                      <a:pt x="1137407" y="209228"/>
                      <a:pt x="1782127" y="0"/>
                    </a:cubicBezTo>
                    <a:lnTo>
                      <a:pt x="2105978" y="996315"/>
                    </a:lnTo>
                    <a:cubicBezTo>
                      <a:pt x="1577705" y="1167946"/>
                      <a:pt x="1083529" y="1430669"/>
                      <a:pt x="645795" y="1772603"/>
                    </a:cubicBezTo>
                    <a:close/>
                  </a:path>
                </a:pathLst>
              </a:custGeom>
              <a:gradFill>
                <a:gsLst>
                  <a:gs pos="0">
                    <a:srgbClr val="E89C8C"/>
                  </a:gs>
                  <a:gs pos="50000">
                    <a:srgbClr val="E08C7B"/>
                  </a:gs>
                  <a:gs pos="100000">
                    <a:srgbClr val="E89C8C"/>
                  </a:gs>
                </a:gsLst>
                <a:lin ang="0" scaled="1"/>
              </a:gradFill>
              <a:ln>
                <a:noFill/>
              </a:ln>
            </p:spPr>
          </p:sp>
          <p:sp>
            <p:nvSpPr>
              <p:cNvPr id="15" name="Freeform 15"/>
              <p:cNvSpPr/>
              <p:nvPr/>
            </p:nvSpPr>
            <p:spPr>
              <a:xfrm>
                <a:off x="4300538" y="1293495"/>
                <a:ext cx="1545907" cy="1273493"/>
              </a:xfrm>
              <a:custGeom>
                <a:avLst/>
                <a:gdLst/>
                <a:ahLst/>
                <a:cxnLst/>
                <a:rect l="l" t="t" r="r" b="b"/>
                <a:pathLst>
                  <a:path w="1545907" h="1273493">
                    <a:moveTo>
                      <a:pt x="0" y="277178"/>
                    </a:moveTo>
                    <a:cubicBezTo>
                      <a:pt x="482954" y="119989"/>
                      <a:pt x="984433" y="26802"/>
                      <a:pt x="1491615" y="0"/>
                    </a:cubicBezTo>
                    <a:lnTo>
                      <a:pt x="1545907" y="1046798"/>
                    </a:lnTo>
                    <a:cubicBezTo>
                      <a:pt x="1130401" y="1068655"/>
                      <a:pt x="719551" y="1144869"/>
                      <a:pt x="323850" y="1273493"/>
                    </a:cubicBezTo>
                    <a:close/>
                  </a:path>
                </a:pathLst>
              </a:custGeom>
              <a:gradFill>
                <a:gsLst>
                  <a:gs pos="0">
                    <a:srgbClr val="E89C8C"/>
                  </a:gs>
                  <a:gs pos="50000">
                    <a:srgbClr val="E08C7B"/>
                  </a:gs>
                  <a:gs pos="100000">
                    <a:srgbClr val="E89C8C"/>
                  </a:gs>
                </a:gsLst>
                <a:lin ang="0" scaled="1"/>
              </a:gradFill>
              <a:ln>
                <a:noFill/>
              </a:ln>
            </p:spPr>
          </p:sp>
          <p:sp>
            <p:nvSpPr>
              <p:cNvPr id="16" name="Freeform 16"/>
              <p:cNvSpPr/>
              <p:nvPr/>
            </p:nvSpPr>
            <p:spPr>
              <a:xfrm>
                <a:off x="5792152" y="1266982"/>
                <a:ext cx="1511618" cy="1170465"/>
              </a:xfrm>
              <a:custGeom>
                <a:avLst/>
                <a:gdLst/>
                <a:ahLst/>
                <a:cxnLst/>
                <a:rect l="l" t="t" r="r" b="b"/>
                <a:pathLst>
                  <a:path w="1511618" h="1170465">
                    <a:moveTo>
                      <a:pt x="0" y="26513"/>
                    </a:moveTo>
                    <a:cubicBezTo>
                      <a:pt x="506910" y="0"/>
                      <a:pt x="1015109" y="40028"/>
                      <a:pt x="1511618" y="145575"/>
                    </a:cubicBezTo>
                    <a:lnTo>
                      <a:pt x="1294447" y="1170465"/>
                    </a:lnTo>
                    <a:cubicBezTo>
                      <a:pt x="887088" y="1084000"/>
                      <a:pt x="470147" y="1051336"/>
                      <a:pt x="54293" y="1073310"/>
                    </a:cubicBezTo>
                    <a:close/>
                  </a:path>
                </a:pathLst>
              </a:custGeom>
              <a:gradFill>
                <a:gsLst>
                  <a:gs pos="0">
                    <a:srgbClr val="E89C8C"/>
                  </a:gs>
                  <a:gs pos="50000">
                    <a:srgbClr val="E08C7B"/>
                  </a:gs>
                  <a:gs pos="100000">
                    <a:srgbClr val="E89C8C"/>
                  </a:gs>
                </a:gsLst>
                <a:lin ang="0" scaled="1"/>
              </a:gradFill>
              <a:ln>
                <a:noFill/>
              </a:ln>
            </p:spPr>
          </p:sp>
          <p:sp>
            <p:nvSpPr>
              <p:cNvPr id="17" name="Freeform 17"/>
              <p:cNvSpPr/>
              <p:nvPr/>
            </p:nvSpPr>
            <p:spPr>
              <a:xfrm>
                <a:off x="7086600" y="1412558"/>
                <a:ext cx="1646872" cy="1440180"/>
              </a:xfrm>
              <a:custGeom>
                <a:avLst/>
                <a:gdLst/>
                <a:ahLst/>
                <a:cxnLst/>
                <a:rect l="l" t="t" r="r" b="b"/>
                <a:pathLst>
                  <a:path w="1646872" h="1440180">
                    <a:moveTo>
                      <a:pt x="217170" y="0"/>
                    </a:moveTo>
                    <a:cubicBezTo>
                      <a:pt x="713833" y="105710"/>
                      <a:pt x="1194495" y="276071"/>
                      <a:pt x="1646872" y="506730"/>
                    </a:cubicBezTo>
                    <a:lnTo>
                      <a:pt x="1171575" y="1440180"/>
                    </a:lnTo>
                    <a:cubicBezTo>
                      <a:pt x="800870" y="1251163"/>
                      <a:pt x="406991" y="1111544"/>
                      <a:pt x="0" y="1024890"/>
                    </a:cubicBezTo>
                    <a:close/>
                  </a:path>
                </a:pathLst>
              </a:custGeom>
              <a:gradFill>
                <a:gsLst>
                  <a:gs pos="0">
                    <a:srgbClr val="E89C8C"/>
                  </a:gs>
                  <a:gs pos="50000">
                    <a:srgbClr val="E08C7B"/>
                  </a:gs>
                  <a:gs pos="100000">
                    <a:srgbClr val="E89C8C"/>
                  </a:gs>
                </a:gsLst>
                <a:lin ang="0" scaled="1"/>
              </a:gradFill>
              <a:ln>
                <a:noFill/>
              </a:ln>
            </p:spPr>
          </p:sp>
          <p:sp>
            <p:nvSpPr>
              <p:cNvPr id="18" name="Freeform 18"/>
              <p:cNvSpPr/>
              <p:nvPr/>
            </p:nvSpPr>
            <p:spPr>
              <a:xfrm>
                <a:off x="8258175" y="1919288"/>
                <a:ext cx="1873567" cy="1750695"/>
              </a:xfrm>
              <a:custGeom>
                <a:avLst/>
                <a:gdLst/>
                <a:ahLst/>
                <a:cxnLst/>
                <a:rect l="l" t="t" r="r" b="b"/>
                <a:pathLst>
                  <a:path w="1873567" h="1750695">
                    <a:moveTo>
                      <a:pt x="475297" y="0"/>
                    </a:moveTo>
                    <a:cubicBezTo>
                      <a:pt x="988216" y="261320"/>
                      <a:pt x="1459453" y="597414"/>
                      <a:pt x="1873567" y="997268"/>
                    </a:cubicBezTo>
                    <a:lnTo>
                      <a:pt x="1145857" y="1750695"/>
                    </a:lnTo>
                    <a:cubicBezTo>
                      <a:pt x="806488" y="1423034"/>
                      <a:pt x="420319" y="1147612"/>
                      <a:pt x="0" y="933450"/>
                    </a:cubicBezTo>
                    <a:close/>
                  </a:path>
                </a:pathLst>
              </a:custGeom>
              <a:gradFill>
                <a:gsLst>
                  <a:gs pos="0">
                    <a:srgbClr val="E89C8C"/>
                  </a:gs>
                  <a:gs pos="50000">
                    <a:srgbClr val="E08C7B"/>
                  </a:gs>
                  <a:gs pos="100000">
                    <a:srgbClr val="E89C8C"/>
                  </a:gs>
                </a:gsLst>
                <a:lin ang="0" scaled="1"/>
              </a:gradFill>
              <a:ln>
                <a:noFill/>
              </a:ln>
            </p:spPr>
          </p:sp>
          <p:sp>
            <p:nvSpPr>
              <p:cNvPr id="19" name="Freeform 19"/>
              <p:cNvSpPr/>
              <p:nvPr/>
            </p:nvSpPr>
            <p:spPr>
              <a:xfrm>
                <a:off x="9404032" y="2916555"/>
                <a:ext cx="1619250" cy="1655445"/>
              </a:xfrm>
              <a:custGeom>
                <a:avLst/>
                <a:gdLst/>
                <a:ahLst/>
                <a:cxnLst/>
                <a:rect l="l" t="t" r="r" b="b"/>
                <a:pathLst>
                  <a:path w="1619250" h="1655445">
                    <a:moveTo>
                      <a:pt x="727710" y="0"/>
                    </a:moveTo>
                    <a:cubicBezTo>
                      <a:pt x="1068632" y="328992"/>
                      <a:pt x="1368035" y="698448"/>
                      <a:pt x="1619250" y="1100138"/>
                    </a:cubicBezTo>
                    <a:lnTo>
                      <a:pt x="730568" y="1655445"/>
                    </a:lnTo>
                    <a:cubicBezTo>
                      <a:pt x="524734" y="1326109"/>
                      <a:pt x="279390" y="1023188"/>
                      <a:pt x="0" y="753427"/>
                    </a:cubicBezTo>
                    <a:close/>
                  </a:path>
                </a:pathLst>
              </a:custGeom>
              <a:gradFill>
                <a:gsLst>
                  <a:gs pos="0">
                    <a:srgbClr val="E89C8C"/>
                  </a:gs>
                  <a:gs pos="50000">
                    <a:srgbClr val="E08C7B"/>
                  </a:gs>
                  <a:gs pos="100000">
                    <a:srgbClr val="E89C8C"/>
                  </a:gs>
                </a:gsLst>
                <a:lin ang="0" scaled="1"/>
              </a:gradFill>
              <a:ln>
                <a:noFill/>
              </a:ln>
            </p:spPr>
          </p:sp>
          <p:sp>
            <p:nvSpPr>
              <p:cNvPr id="20" name="Freeform 20"/>
              <p:cNvSpPr/>
              <p:nvPr/>
            </p:nvSpPr>
            <p:spPr>
              <a:xfrm>
                <a:off x="10134600" y="4016692"/>
                <a:ext cx="1517333" cy="1686877"/>
              </a:xfrm>
              <a:custGeom>
                <a:avLst/>
                <a:gdLst/>
                <a:ahLst/>
                <a:cxnLst/>
                <a:rect l="l" t="t" r="r" b="b"/>
                <a:pathLst>
                  <a:path w="1517333" h="1686877">
                    <a:moveTo>
                      <a:pt x="888683" y="0"/>
                    </a:moveTo>
                    <a:cubicBezTo>
                      <a:pt x="1157708" y="430914"/>
                      <a:pt x="1369060" y="895248"/>
                      <a:pt x="1517333" y="1381125"/>
                    </a:cubicBezTo>
                    <a:lnTo>
                      <a:pt x="516255" y="1686877"/>
                    </a:lnTo>
                    <a:cubicBezTo>
                      <a:pt x="394375" y="1288742"/>
                      <a:pt x="220810" y="908308"/>
                      <a:pt x="0" y="555308"/>
                    </a:cubicBezTo>
                    <a:close/>
                  </a:path>
                </a:pathLst>
              </a:custGeom>
              <a:gradFill>
                <a:gsLst>
                  <a:gs pos="0">
                    <a:srgbClr val="E89C8C"/>
                  </a:gs>
                  <a:gs pos="50000">
                    <a:srgbClr val="E08C7B"/>
                  </a:gs>
                  <a:gs pos="100000">
                    <a:srgbClr val="E89C8C"/>
                  </a:gs>
                </a:gsLst>
                <a:lin ang="0" scaled="1"/>
              </a:gradFill>
              <a:ln>
                <a:noFill/>
              </a:ln>
            </p:spPr>
          </p:sp>
          <p:sp>
            <p:nvSpPr>
              <p:cNvPr id="21" name="Freeform 21"/>
              <p:cNvSpPr/>
              <p:nvPr/>
            </p:nvSpPr>
            <p:spPr>
              <a:xfrm>
                <a:off x="10650855" y="5397818"/>
                <a:ext cx="1251585" cy="1532572"/>
              </a:xfrm>
              <a:custGeom>
                <a:avLst/>
                <a:gdLst/>
                <a:ahLst/>
                <a:cxnLst/>
                <a:rect l="l" t="t" r="r" b="b"/>
                <a:pathLst>
                  <a:path w="1251585" h="1532572">
                    <a:moveTo>
                      <a:pt x="1001077" y="0"/>
                    </a:moveTo>
                    <a:cubicBezTo>
                      <a:pt x="1149543" y="485393"/>
                      <a:pt x="1233762" y="988148"/>
                      <a:pt x="1251585" y="1495425"/>
                    </a:cubicBezTo>
                    <a:lnTo>
                      <a:pt x="204788" y="1532572"/>
                    </a:lnTo>
                    <a:cubicBezTo>
                      <a:pt x="190448" y="1116439"/>
                      <a:pt x="121599" y="703982"/>
                      <a:pt x="0" y="305752"/>
                    </a:cubicBezTo>
                    <a:close/>
                  </a:path>
                </a:pathLst>
              </a:custGeom>
              <a:gradFill>
                <a:gsLst>
                  <a:gs pos="0">
                    <a:srgbClr val="E89C8C"/>
                  </a:gs>
                  <a:gs pos="50000">
                    <a:srgbClr val="E08C7B"/>
                  </a:gs>
                  <a:gs pos="100000">
                    <a:srgbClr val="E89C8C"/>
                  </a:gs>
                </a:gsLst>
                <a:lin ang="0" scaled="1"/>
              </a:gradFill>
              <a:ln>
                <a:noFill/>
              </a:ln>
            </p:spPr>
          </p:sp>
          <p:grpSp>
            <p:nvGrpSpPr>
              <p:cNvPr id="34" name="Group 34"/>
              <p:cNvGrpSpPr/>
              <p:nvPr/>
            </p:nvGrpSpPr>
            <p:grpSpPr>
              <a:xfrm>
                <a:off x="289560" y="1293495"/>
                <a:ext cx="11612879" cy="5636894"/>
                <a:chOff x="289560" y="1293495"/>
                <a:chExt cx="11612879" cy="5636894"/>
              </a:xfrm>
            </p:grpSpPr>
            <p:sp>
              <p:nvSpPr>
                <p:cNvPr id="22" name="Line 22"/>
                <p:cNvSpPr/>
                <p:nvPr/>
              </p:nvSpPr>
              <p:spPr>
                <a:xfrm>
                  <a:off x="289560" y="6893242"/>
                  <a:ext cx="1046798" cy="37147"/>
                </a:xfrm>
                <a:custGeom>
                  <a:avLst/>
                  <a:gdLst/>
                  <a:ahLst/>
                  <a:cxnLst/>
                  <a:rect l="l" t="t" r="r" b="b"/>
                  <a:pathLst>
                    <a:path w="1046798" h="37147">
                      <a:moveTo>
                        <a:pt x="1046798" y="37147"/>
                      </a:moveTo>
                      <a:lnTo>
                        <a:pt x="0" y="0"/>
                      </a:lnTo>
                    </a:path>
                  </a:pathLst>
                </a:custGeom>
                <a:noFill/>
                <a:ln w="19050">
                  <a:solidFill>
                    <a:srgbClr val="FFFFFF"/>
                  </a:solidFill>
                </a:ln>
              </p:spPr>
            </p:sp>
            <p:sp>
              <p:nvSpPr>
                <p:cNvPr id="23" name="Line 23"/>
                <p:cNvSpPr/>
                <p:nvPr/>
              </p:nvSpPr>
              <p:spPr>
                <a:xfrm>
                  <a:off x="540068" y="5397818"/>
                  <a:ext cx="1001078" cy="305752"/>
                </a:xfrm>
                <a:custGeom>
                  <a:avLst/>
                  <a:gdLst/>
                  <a:ahLst/>
                  <a:cxnLst/>
                  <a:rect l="l" t="t" r="r" b="b"/>
                  <a:pathLst>
                    <a:path w="1001078" h="305752">
                      <a:moveTo>
                        <a:pt x="1001078" y="305752"/>
                      </a:moveTo>
                      <a:lnTo>
                        <a:pt x="0" y="0"/>
                      </a:lnTo>
                    </a:path>
                  </a:pathLst>
                </a:custGeom>
                <a:noFill/>
                <a:ln w="19050">
                  <a:solidFill>
                    <a:srgbClr val="FFFFFF"/>
                  </a:solidFill>
                </a:ln>
              </p:spPr>
            </p:sp>
            <p:sp>
              <p:nvSpPr>
                <p:cNvPr id="24" name="Line 24"/>
                <p:cNvSpPr/>
                <p:nvPr/>
              </p:nvSpPr>
              <p:spPr>
                <a:xfrm>
                  <a:off x="1279208" y="3847148"/>
                  <a:ext cx="868680" cy="585788"/>
                </a:xfrm>
                <a:custGeom>
                  <a:avLst/>
                  <a:gdLst/>
                  <a:ahLst/>
                  <a:cxnLst/>
                  <a:rect l="l" t="t" r="r" b="b"/>
                  <a:pathLst>
                    <a:path w="868680" h="585788">
                      <a:moveTo>
                        <a:pt x="868680" y="585788"/>
                      </a:moveTo>
                      <a:lnTo>
                        <a:pt x="0" y="0"/>
                      </a:lnTo>
                    </a:path>
                  </a:pathLst>
                </a:custGeom>
                <a:noFill/>
                <a:ln w="19050">
                  <a:solidFill>
                    <a:srgbClr val="FFFFFF"/>
                  </a:solidFill>
                </a:ln>
              </p:spPr>
            </p:sp>
            <p:sp>
              <p:nvSpPr>
                <p:cNvPr id="25" name="Line 25"/>
                <p:cNvSpPr/>
                <p:nvPr/>
              </p:nvSpPr>
              <p:spPr>
                <a:xfrm>
                  <a:off x="2518410" y="2517458"/>
                  <a:ext cx="645795" cy="825817"/>
                </a:xfrm>
                <a:custGeom>
                  <a:avLst/>
                  <a:gdLst/>
                  <a:ahLst/>
                  <a:cxnLst/>
                  <a:rect l="l" t="t" r="r" b="b"/>
                  <a:pathLst>
                    <a:path w="645795" h="825817">
                      <a:moveTo>
                        <a:pt x="645795" y="825817"/>
                      </a:moveTo>
                      <a:lnTo>
                        <a:pt x="0" y="0"/>
                      </a:lnTo>
                    </a:path>
                  </a:pathLst>
                </a:custGeom>
                <a:noFill/>
                <a:ln w="19050">
                  <a:solidFill>
                    <a:srgbClr val="FFFFFF"/>
                  </a:solidFill>
                </a:ln>
              </p:spPr>
            </p:sp>
            <p:sp>
              <p:nvSpPr>
                <p:cNvPr id="26" name="Line 26"/>
                <p:cNvSpPr/>
                <p:nvPr/>
              </p:nvSpPr>
              <p:spPr>
                <a:xfrm>
                  <a:off x="4300538" y="1570672"/>
                  <a:ext cx="323850" cy="996315"/>
                </a:xfrm>
                <a:custGeom>
                  <a:avLst/>
                  <a:gdLst/>
                  <a:ahLst/>
                  <a:cxnLst/>
                  <a:rect l="l" t="t" r="r" b="b"/>
                  <a:pathLst>
                    <a:path w="323850" h="996315">
                      <a:moveTo>
                        <a:pt x="323850" y="996315"/>
                      </a:moveTo>
                      <a:lnTo>
                        <a:pt x="0" y="0"/>
                      </a:lnTo>
                    </a:path>
                  </a:pathLst>
                </a:custGeom>
                <a:noFill/>
                <a:ln w="19050">
                  <a:solidFill>
                    <a:srgbClr val="FFFFFF"/>
                  </a:solidFill>
                </a:ln>
              </p:spPr>
            </p:sp>
            <p:sp>
              <p:nvSpPr>
                <p:cNvPr id="27" name="Line 27"/>
                <p:cNvSpPr/>
                <p:nvPr/>
              </p:nvSpPr>
              <p:spPr>
                <a:xfrm>
                  <a:off x="5792152" y="1293495"/>
                  <a:ext cx="54292" cy="1046797"/>
                </a:xfrm>
                <a:custGeom>
                  <a:avLst/>
                  <a:gdLst/>
                  <a:ahLst/>
                  <a:cxnLst/>
                  <a:rect l="l" t="t" r="r" b="b"/>
                  <a:pathLst>
                    <a:path w="54292" h="1046797">
                      <a:moveTo>
                        <a:pt x="54292" y="1046797"/>
                      </a:moveTo>
                      <a:lnTo>
                        <a:pt x="0" y="0"/>
                      </a:lnTo>
                    </a:path>
                  </a:pathLst>
                </a:custGeom>
                <a:noFill/>
                <a:ln w="19050">
                  <a:solidFill>
                    <a:srgbClr val="FFFFFF"/>
                  </a:solidFill>
                </a:ln>
              </p:spPr>
            </p:sp>
            <p:sp>
              <p:nvSpPr>
                <p:cNvPr id="28" name="Line 28"/>
                <p:cNvSpPr/>
                <p:nvPr/>
              </p:nvSpPr>
              <p:spPr>
                <a:xfrm>
                  <a:off x="7086600" y="1412558"/>
                  <a:ext cx="217170" cy="1024890"/>
                </a:xfrm>
                <a:custGeom>
                  <a:avLst/>
                  <a:gdLst/>
                  <a:ahLst/>
                  <a:cxnLst/>
                  <a:rect l="l" t="t" r="r" b="b"/>
                  <a:pathLst>
                    <a:path w="217170" h="1024890">
                      <a:moveTo>
                        <a:pt x="0" y="1024890"/>
                      </a:moveTo>
                      <a:lnTo>
                        <a:pt x="217170" y="0"/>
                      </a:lnTo>
                    </a:path>
                  </a:pathLst>
                </a:custGeom>
                <a:noFill/>
                <a:ln w="19050">
                  <a:solidFill>
                    <a:srgbClr val="FFFFFF"/>
                  </a:solidFill>
                </a:ln>
              </p:spPr>
            </p:sp>
            <p:sp>
              <p:nvSpPr>
                <p:cNvPr id="29" name="Line 29"/>
                <p:cNvSpPr/>
                <p:nvPr/>
              </p:nvSpPr>
              <p:spPr>
                <a:xfrm>
                  <a:off x="8258175" y="1919288"/>
                  <a:ext cx="475297" cy="933450"/>
                </a:xfrm>
                <a:custGeom>
                  <a:avLst/>
                  <a:gdLst/>
                  <a:ahLst/>
                  <a:cxnLst/>
                  <a:rect l="l" t="t" r="r" b="b"/>
                  <a:pathLst>
                    <a:path w="475297" h="933450">
                      <a:moveTo>
                        <a:pt x="0" y="933450"/>
                      </a:moveTo>
                      <a:lnTo>
                        <a:pt x="475297" y="0"/>
                      </a:lnTo>
                    </a:path>
                  </a:pathLst>
                </a:custGeom>
                <a:noFill/>
                <a:ln w="19050">
                  <a:solidFill>
                    <a:srgbClr val="FFFFFF"/>
                  </a:solidFill>
                </a:ln>
              </p:spPr>
            </p:sp>
            <p:sp>
              <p:nvSpPr>
                <p:cNvPr id="30" name="Line 30"/>
                <p:cNvSpPr/>
                <p:nvPr/>
              </p:nvSpPr>
              <p:spPr>
                <a:xfrm>
                  <a:off x="9404032" y="2916555"/>
                  <a:ext cx="727710" cy="753428"/>
                </a:xfrm>
                <a:custGeom>
                  <a:avLst/>
                  <a:gdLst/>
                  <a:ahLst/>
                  <a:cxnLst/>
                  <a:rect l="l" t="t" r="r" b="b"/>
                  <a:pathLst>
                    <a:path w="727710" h="753428">
                      <a:moveTo>
                        <a:pt x="0" y="753428"/>
                      </a:moveTo>
                      <a:lnTo>
                        <a:pt x="727710" y="0"/>
                      </a:lnTo>
                    </a:path>
                  </a:pathLst>
                </a:custGeom>
                <a:noFill/>
                <a:ln w="19050">
                  <a:solidFill>
                    <a:srgbClr val="FFFFFF"/>
                  </a:solidFill>
                </a:ln>
              </p:spPr>
            </p:sp>
            <p:sp>
              <p:nvSpPr>
                <p:cNvPr id="31" name="Line 31"/>
                <p:cNvSpPr/>
                <p:nvPr/>
              </p:nvSpPr>
              <p:spPr>
                <a:xfrm>
                  <a:off x="10134600" y="4016692"/>
                  <a:ext cx="888682" cy="555308"/>
                </a:xfrm>
                <a:custGeom>
                  <a:avLst/>
                  <a:gdLst/>
                  <a:ahLst/>
                  <a:cxnLst/>
                  <a:rect l="l" t="t" r="r" b="b"/>
                  <a:pathLst>
                    <a:path w="888682" h="555308">
                      <a:moveTo>
                        <a:pt x="0" y="555308"/>
                      </a:moveTo>
                      <a:lnTo>
                        <a:pt x="888682" y="0"/>
                      </a:lnTo>
                    </a:path>
                  </a:pathLst>
                </a:custGeom>
                <a:noFill/>
                <a:ln w="19050">
                  <a:solidFill>
                    <a:srgbClr val="FFFFFF"/>
                  </a:solidFill>
                </a:ln>
              </p:spPr>
            </p:sp>
            <p:sp>
              <p:nvSpPr>
                <p:cNvPr id="32" name="Line 32"/>
                <p:cNvSpPr/>
                <p:nvPr/>
              </p:nvSpPr>
              <p:spPr>
                <a:xfrm>
                  <a:off x="10650855" y="5397818"/>
                  <a:ext cx="1001077" cy="305752"/>
                </a:xfrm>
                <a:custGeom>
                  <a:avLst/>
                  <a:gdLst/>
                  <a:ahLst/>
                  <a:cxnLst/>
                  <a:rect l="l" t="t" r="r" b="b"/>
                  <a:pathLst>
                    <a:path w="1001077" h="305752">
                      <a:moveTo>
                        <a:pt x="0" y="305752"/>
                      </a:moveTo>
                      <a:lnTo>
                        <a:pt x="1001077" y="0"/>
                      </a:lnTo>
                    </a:path>
                  </a:pathLst>
                </a:custGeom>
                <a:noFill/>
                <a:ln w="19050">
                  <a:solidFill>
                    <a:srgbClr val="FFFFFF"/>
                  </a:solidFill>
                </a:ln>
              </p:spPr>
            </p:sp>
            <p:sp>
              <p:nvSpPr>
                <p:cNvPr id="33" name="Line 33"/>
                <p:cNvSpPr/>
                <p:nvPr/>
              </p:nvSpPr>
              <p:spPr>
                <a:xfrm>
                  <a:off x="10855642" y="6893242"/>
                  <a:ext cx="1046797" cy="37147"/>
                </a:xfrm>
                <a:custGeom>
                  <a:avLst/>
                  <a:gdLst/>
                  <a:ahLst/>
                  <a:cxnLst/>
                  <a:rect l="l" t="t" r="r" b="b"/>
                  <a:pathLst>
                    <a:path w="1046797" h="37147">
                      <a:moveTo>
                        <a:pt x="0" y="37147"/>
                      </a:moveTo>
                      <a:lnTo>
                        <a:pt x="1046797" y="0"/>
                      </a:lnTo>
                    </a:path>
                  </a:pathLst>
                </a:custGeom>
                <a:noFill/>
                <a:ln w="19050">
                  <a:solidFill>
                    <a:srgbClr val="FFFFFF"/>
                  </a:solidFill>
                </a:ln>
              </p:spPr>
            </p:sp>
          </p:grpSp>
          <p:grpSp>
            <p:nvGrpSpPr>
              <p:cNvPr id="57" name="Group 57"/>
              <p:cNvGrpSpPr/>
              <p:nvPr/>
            </p:nvGrpSpPr>
            <p:grpSpPr>
              <a:xfrm>
                <a:off x="497624" y="1728788"/>
                <a:ext cx="11260024" cy="4577000"/>
                <a:chOff x="497624" y="1728788"/>
                <a:chExt cx="11260024" cy="4577000"/>
              </a:xfrm>
            </p:grpSpPr>
            <p:grpSp>
              <p:nvGrpSpPr>
                <p:cNvPr id="36" name="Group 36"/>
                <p:cNvGrpSpPr/>
                <p:nvPr/>
              </p:nvGrpSpPr>
              <p:grpSpPr>
                <a:xfrm rot="-4830000">
                  <a:off x="488230" y="6130385"/>
                  <a:ext cx="768782" cy="183356"/>
                  <a:chOff x="497624" y="6122432"/>
                  <a:chExt cx="768782" cy="183356"/>
                </a:xfrm>
              </p:grpSpPr>
              <p:sp>
                <p:nvSpPr>
                  <p:cNvPr id="35" name="TextBox 35"/>
                  <p:cNvSpPr txBox="1"/>
                  <p:nvPr/>
                </p:nvSpPr>
                <p:spPr>
                  <a:xfrm>
                    <a:off x="497624" y="6122432"/>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会员线上商城</a:t>
                    </a:r>
                  </a:p>
                </p:txBody>
              </p:sp>
            </p:grpSp>
            <p:grpSp>
              <p:nvGrpSpPr>
                <p:cNvPr id="38" name="Group 38"/>
                <p:cNvGrpSpPr/>
                <p:nvPr/>
              </p:nvGrpSpPr>
              <p:grpSpPr>
                <a:xfrm rot="-3870000">
                  <a:off x="868667" y="4724824"/>
                  <a:ext cx="895325" cy="183356"/>
                  <a:chOff x="877265" y="4719399"/>
                  <a:chExt cx="895325" cy="183356"/>
                </a:xfrm>
              </p:grpSpPr>
              <p:sp>
                <p:nvSpPr>
                  <p:cNvPr id="37" name="TextBox 37"/>
                  <p:cNvSpPr txBox="1"/>
                  <p:nvPr/>
                </p:nvSpPr>
                <p:spPr>
                  <a:xfrm>
                    <a:off x="877265" y="4719399"/>
                    <a:ext cx="895325"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百万会员价商品</a:t>
                    </a:r>
                  </a:p>
                </p:txBody>
              </p:sp>
            </p:grpSp>
            <p:grpSp>
              <p:nvGrpSpPr>
                <p:cNvPr id="40" name="Group 40"/>
                <p:cNvGrpSpPr/>
                <p:nvPr/>
              </p:nvGrpSpPr>
              <p:grpSpPr>
                <a:xfrm rot="-2820000">
                  <a:off x="1991720" y="3392738"/>
                  <a:ext cx="462232" cy="183356"/>
                  <a:chOff x="1998687" y="3389709"/>
                  <a:chExt cx="462232" cy="183356"/>
                </a:xfrm>
              </p:grpSpPr>
              <p:sp>
                <p:nvSpPr>
                  <p:cNvPr id="39" name="TextBox 39"/>
                  <p:cNvSpPr txBox="1"/>
                  <p:nvPr/>
                </p:nvSpPr>
                <p:spPr>
                  <a:xfrm>
                    <a:off x="1998687" y="3389709"/>
                    <a:ext cx="46223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品牌9折</a:t>
                    </a:r>
                  </a:p>
                </p:txBody>
              </p:sp>
            </p:grpSp>
            <p:grpSp>
              <p:nvGrpSpPr>
                <p:cNvPr id="42" name="Group 42"/>
                <p:cNvGrpSpPr/>
                <p:nvPr/>
              </p:nvGrpSpPr>
              <p:grpSpPr>
                <a:xfrm rot="-1680000">
                  <a:off x="3125111" y="2328787"/>
                  <a:ext cx="968403" cy="183356"/>
                  <a:chOff x="3129583" y="2327672"/>
                  <a:chExt cx="968403" cy="183356"/>
                </a:xfrm>
              </p:grpSpPr>
              <p:sp>
                <p:nvSpPr>
                  <p:cNvPr id="41" name="TextBox 41"/>
                  <p:cNvSpPr txBox="1"/>
                  <p:nvPr/>
                </p:nvSpPr>
                <p:spPr>
                  <a:xfrm>
                    <a:off x="3129583" y="2327672"/>
                    <a:ext cx="96840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会员&amp;品牌联名卡</a:t>
                    </a:r>
                  </a:p>
                </p:txBody>
              </p:sp>
            </p:grpSp>
            <p:grpSp>
              <p:nvGrpSpPr>
                <p:cNvPr id="44" name="Group 44"/>
                <p:cNvGrpSpPr/>
                <p:nvPr/>
              </p:nvGrpSpPr>
              <p:grpSpPr>
                <a:xfrm rot="-630000">
                  <a:off x="4833962" y="1800213"/>
                  <a:ext cx="619125" cy="309562"/>
                  <a:chOff x="4823460" y="1801178"/>
                  <a:chExt cx="619125" cy="309562"/>
                </a:xfrm>
              </p:grpSpPr>
              <p:sp>
                <p:nvSpPr>
                  <p:cNvPr id="43" name="TextBox 43"/>
                  <p:cNvSpPr txBox="1"/>
                  <p:nvPr/>
                </p:nvSpPr>
                <p:spPr>
                  <a:xfrm>
                    <a:off x="4823460" y="1801178"/>
                    <a:ext cx="619125" cy="309562"/>
                  </a:xfrm>
                  <a:prstGeom prst="rect">
                    <a:avLst/>
                  </a:prstGeom>
                  <a:noFill/>
                  <a:ln>
                    <a:noFill/>
                  </a:ln>
                </p:spPr>
                <p:txBody>
                  <a:bodyPr wrap="none" lIns="0" tIns="0" rIns="0" bIns="0" anchor="t" anchorCtr="0">
                    <a:spAutoFit/>
                  </a:bodyPr>
                  <a:lstStyle/>
                  <a:p>
                    <a:pPr algn="ctr">
                      <a:lnSpc>
                        <a:spcPts val="1050"/>
                      </a:lnSpc>
                    </a:pPr>
                    <a:r>
                      <a:rPr lang="zh-CN" sz="900" b="1" dirty="0">
                        <a:solidFill>
                          <a:srgbClr val="FFFFFF"/>
                        </a:solidFill>
                        <a:latin typeface="+mn-lt"/>
                        <a:ea typeface="+mn-ea"/>
                        <a:cs typeface="+mn-cs"/>
                      </a:rPr>
                      <a:t>视频</a:t>
                    </a:r>
                  </a:p>
                  <a:p>
                    <a:pPr algn="ctr">
                      <a:lnSpc>
                        <a:spcPts val="1050"/>
                      </a:lnSpc>
                    </a:pPr>
                    <a:r>
                      <a:rPr lang="zh-CN" sz="750" dirty="0">
                        <a:solidFill>
                          <a:srgbClr val="FFFFFF"/>
                        </a:solidFill>
                        <a:latin typeface="+mn-lt"/>
                        <a:ea typeface="+mn-ea"/>
                        <a:cs typeface="+mn-cs"/>
                      </a:rPr>
                      <a:t>爱奇艺 芒果TV</a:t>
                    </a:r>
                  </a:p>
                </p:txBody>
              </p:sp>
            </p:grpSp>
            <p:grpSp>
              <p:nvGrpSpPr>
                <p:cNvPr id="46" name="Group 46"/>
                <p:cNvGrpSpPr/>
                <p:nvPr/>
              </p:nvGrpSpPr>
              <p:grpSpPr>
                <a:xfrm rot="270000">
                  <a:off x="6296267" y="1728610"/>
                  <a:ext cx="419100" cy="309562"/>
                  <a:chOff x="6300788" y="1728788"/>
                  <a:chExt cx="419100" cy="309562"/>
                </a:xfrm>
              </p:grpSpPr>
              <p:sp>
                <p:nvSpPr>
                  <p:cNvPr id="45" name="TextBox 45"/>
                  <p:cNvSpPr txBox="1"/>
                  <p:nvPr/>
                </p:nvSpPr>
                <p:spPr>
                  <a:xfrm>
                    <a:off x="6300788" y="1728788"/>
                    <a:ext cx="419100" cy="309562"/>
                  </a:xfrm>
                  <a:prstGeom prst="rect">
                    <a:avLst/>
                  </a:prstGeom>
                  <a:noFill/>
                  <a:ln>
                    <a:noFill/>
                  </a:ln>
                </p:spPr>
                <p:txBody>
                  <a:bodyPr wrap="none" lIns="0" tIns="0" rIns="0" bIns="0" anchor="t" anchorCtr="0">
                    <a:spAutoFit/>
                  </a:bodyPr>
                  <a:lstStyle/>
                  <a:p>
                    <a:pPr algn="ctr">
                      <a:lnSpc>
                        <a:spcPts val="1050"/>
                      </a:lnSpc>
                    </a:pPr>
                    <a:r>
                      <a:rPr lang="zh-CN" sz="900" b="1" dirty="0">
                        <a:solidFill>
                          <a:srgbClr val="FFFFFF"/>
                        </a:solidFill>
                        <a:latin typeface="+mn-lt"/>
                        <a:ea typeface="+mn-ea"/>
                        <a:cs typeface="+mn-cs"/>
                      </a:rPr>
                      <a:t>出行</a:t>
                    </a:r>
                  </a:p>
                  <a:p>
                    <a:pPr algn="ctr">
                      <a:lnSpc>
                        <a:spcPts val="1050"/>
                      </a:lnSpc>
                    </a:pPr>
                    <a:r>
                      <a:rPr lang="zh-CN" sz="750" dirty="0">
                        <a:solidFill>
                          <a:srgbClr val="FFFFFF"/>
                        </a:solidFill>
                        <a:latin typeface="+mn-lt"/>
                        <a:ea typeface="+mn-ea"/>
                        <a:cs typeface="+mn-cs"/>
                      </a:rPr>
                      <a:t>携程 滴滴</a:t>
                    </a:r>
                  </a:p>
                </p:txBody>
              </p:sp>
            </p:grpSp>
            <p:grpSp>
              <p:nvGrpSpPr>
                <p:cNvPr id="48" name="Group 48"/>
                <p:cNvGrpSpPr/>
                <p:nvPr/>
              </p:nvGrpSpPr>
              <p:grpSpPr>
                <a:xfrm rot="1170000">
                  <a:off x="7536946" y="2012184"/>
                  <a:ext cx="609600" cy="309562"/>
                  <a:chOff x="7556182" y="2015490"/>
                  <a:chExt cx="609600" cy="309562"/>
                </a:xfrm>
              </p:grpSpPr>
              <p:sp>
                <p:nvSpPr>
                  <p:cNvPr id="47" name="TextBox 47"/>
                  <p:cNvSpPr txBox="1"/>
                  <p:nvPr/>
                </p:nvSpPr>
                <p:spPr>
                  <a:xfrm>
                    <a:off x="7556182" y="2015490"/>
                    <a:ext cx="609600" cy="309562"/>
                  </a:xfrm>
                  <a:prstGeom prst="rect">
                    <a:avLst/>
                  </a:prstGeom>
                  <a:noFill/>
                  <a:ln>
                    <a:noFill/>
                  </a:ln>
                </p:spPr>
                <p:txBody>
                  <a:bodyPr wrap="none" lIns="0" tIns="0" rIns="0" bIns="0" anchor="t" anchorCtr="0">
                    <a:spAutoFit/>
                  </a:bodyPr>
                  <a:lstStyle/>
                  <a:p>
                    <a:pPr algn="ctr">
                      <a:lnSpc>
                        <a:spcPts val="1050"/>
                      </a:lnSpc>
                    </a:pPr>
                    <a:r>
                      <a:rPr lang="zh-CN" sz="900" b="1" dirty="0">
                        <a:solidFill>
                          <a:srgbClr val="FFFFFF"/>
                        </a:solidFill>
                        <a:latin typeface="+mn-lt"/>
                        <a:ea typeface="+mn-ea"/>
                        <a:cs typeface="+mn-cs"/>
                      </a:rPr>
                      <a:t>餐饮</a:t>
                    </a:r>
                  </a:p>
                  <a:p>
                    <a:pPr algn="ctr">
                      <a:lnSpc>
                        <a:spcPts val="1050"/>
                      </a:lnSpc>
                    </a:pPr>
                    <a:r>
                      <a:rPr lang="zh-CN" sz="750" dirty="0">
                        <a:solidFill>
                          <a:srgbClr val="FFFFFF"/>
                        </a:solidFill>
                        <a:latin typeface="+mn-lt"/>
                        <a:ea typeface="+mn-ea"/>
                        <a:cs typeface="+mn-cs"/>
                      </a:rPr>
                      <a:t>星巴克 好利来</a:t>
                    </a:r>
                  </a:p>
                </p:txBody>
              </p:sp>
            </p:grpSp>
            <p:grpSp>
              <p:nvGrpSpPr>
                <p:cNvPr id="50" name="Group 50"/>
                <p:cNvGrpSpPr/>
                <p:nvPr/>
              </p:nvGrpSpPr>
              <p:grpSpPr>
                <a:xfrm rot="2130000">
                  <a:off x="8732394" y="2684864"/>
                  <a:ext cx="800100" cy="309562"/>
                  <a:chOff x="8765858" y="2695575"/>
                  <a:chExt cx="800100" cy="309562"/>
                </a:xfrm>
              </p:grpSpPr>
              <p:sp>
                <p:nvSpPr>
                  <p:cNvPr id="49" name="TextBox 49"/>
                  <p:cNvSpPr txBox="1"/>
                  <p:nvPr/>
                </p:nvSpPr>
                <p:spPr>
                  <a:xfrm>
                    <a:off x="8765858" y="2695575"/>
                    <a:ext cx="800100" cy="309562"/>
                  </a:xfrm>
                  <a:prstGeom prst="rect">
                    <a:avLst/>
                  </a:prstGeom>
                  <a:noFill/>
                  <a:ln>
                    <a:noFill/>
                  </a:ln>
                </p:spPr>
                <p:txBody>
                  <a:bodyPr wrap="none" lIns="0" tIns="0" rIns="0" bIns="0" anchor="t" anchorCtr="0">
                    <a:spAutoFit/>
                  </a:bodyPr>
                  <a:lstStyle/>
                  <a:p>
                    <a:pPr algn="ctr">
                      <a:lnSpc>
                        <a:spcPts val="1050"/>
                      </a:lnSpc>
                    </a:pPr>
                    <a:r>
                      <a:rPr lang="zh-CN" sz="900" b="1" dirty="0">
                        <a:solidFill>
                          <a:srgbClr val="FFFFFF"/>
                        </a:solidFill>
                        <a:latin typeface="+mn-lt"/>
                        <a:ea typeface="+mn-ea"/>
                        <a:cs typeface="+mn-cs"/>
                      </a:rPr>
                      <a:t>视听学习</a:t>
                    </a:r>
                  </a:p>
                  <a:p>
                    <a:pPr algn="ctr">
                      <a:lnSpc>
                        <a:spcPts val="1050"/>
                      </a:lnSpc>
                    </a:pPr>
                    <a:r>
                      <a:rPr lang="zh-CN" sz="750" dirty="0">
                        <a:solidFill>
                          <a:srgbClr val="FFFFFF"/>
                        </a:solidFill>
                        <a:latin typeface="+mn-lt"/>
                        <a:ea typeface="+mn-ea"/>
                        <a:cs typeface="+mn-cs"/>
                      </a:rPr>
                      <a:t>喜马拉雅 百度文库</a:t>
                    </a:r>
                  </a:p>
                </p:txBody>
              </p:sp>
            </p:grpSp>
            <p:grpSp>
              <p:nvGrpSpPr>
                <p:cNvPr id="52" name="Group 52"/>
                <p:cNvGrpSpPr/>
                <p:nvPr/>
              </p:nvGrpSpPr>
              <p:grpSpPr>
                <a:xfrm rot="3060000">
                  <a:off x="9937892" y="3650527"/>
                  <a:ext cx="442912" cy="309562"/>
                  <a:chOff x="9982676" y="3671888"/>
                  <a:chExt cx="442912" cy="309562"/>
                </a:xfrm>
              </p:grpSpPr>
              <p:sp>
                <p:nvSpPr>
                  <p:cNvPr id="51" name="TextBox 51"/>
                  <p:cNvSpPr txBox="1"/>
                  <p:nvPr/>
                </p:nvSpPr>
                <p:spPr>
                  <a:xfrm>
                    <a:off x="9982676" y="3671888"/>
                    <a:ext cx="442912" cy="309562"/>
                  </a:xfrm>
                  <a:prstGeom prst="rect">
                    <a:avLst/>
                  </a:prstGeom>
                  <a:noFill/>
                  <a:ln>
                    <a:noFill/>
                  </a:ln>
                </p:spPr>
                <p:txBody>
                  <a:bodyPr wrap="none" lIns="0" tIns="0" rIns="0" bIns="0" anchor="t" anchorCtr="0">
                    <a:spAutoFit/>
                  </a:bodyPr>
                  <a:lstStyle/>
                  <a:p>
                    <a:pPr algn="ctr">
                      <a:lnSpc>
                        <a:spcPts val="1050"/>
                      </a:lnSpc>
                    </a:pPr>
                    <a:r>
                      <a:rPr lang="zh-CN" sz="900" b="1" dirty="0">
                        <a:solidFill>
                          <a:srgbClr val="FFFFFF"/>
                        </a:solidFill>
                        <a:latin typeface="+mn-lt"/>
                        <a:ea typeface="+mn-ea"/>
                        <a:cs typeface="+mn-cs"/>
                      </a:rPr>
                      <a:t>购物</a:t>
                    </a:r>
                  </a:p>
                  <a:p>
                    <a:pPr algn="ctr">
                      <a:lnSpc>
                        <a:spcPts val="1050"/>
                      </a:lnSpc>
                    </a:pPr>
                    <a:r>
                      <a:rPr lang="zh-CN" sz="750" dirty="0">
                        <a:solidFill>
                          <a:srgbClr val="FFFFFF"/>
                        </a:solidFill>
                        <a:latin typeface="+mn-lt"/>
                        <a:ea typeface="+mn-ea"/>
                        <a:cs typeface="+mn-cs"/>
                      </a:rPr>
                      <a:t>1号会员店</a:t>
                    </a:r>
                  </a:p>
                </p:txBody>
              </p:sp>
            </p:grpSp>
            <p:grpSp>
              <p:nvGrpSpPr>
                <p:cNvPr id="54" name="Group 54"/>
                <p:cNvGrpSpPr/>
                <p:nvPr/>
              </p:nvGrpSpPr>
              <p:grpSpPr>
                <a:xfrm rot="3930000">
                  <a:off x="10615563" y="4772586"/>
                  <a:ext cx="476250" cy="309562"/>
                  <a:chOff x="10668000" y="4806315"/>
                  <a:chExt cx="476250" cy="309562"/>
                </a:xfrm>
              </p:grpSpPr>
              <p:sp>
                <p:nvSpPr>
                  <p:cNvPr id="53" name="TextBox 53"/>
                  <p:cNvSpPr txBox="1"/>
                  <p:nvPr/>
                </p:nvSpPr>
                <p:spPr>
                  <a:xfrm>
                    <a:off x="10668000" y="4806315"/>
                    <a:ext cx="476250" cy="309562"/>
                  </a:xfrm>
                  <a:prstGeom prst="rect">
                    <a:avLst/>
                  </a:prstGeom>
                  <a:noFill/>
                  <a:ln>
                    <a:noFill/>
                  </a:ln>
                </p:spPr>
                <p:txBody>
                  <a:bodyPr wrap="none" lIns="0" tIns="0" rIns="0" bIns="0" anchor="t" anchorCtr="0">
                    <a:spAutoFit/>
                  </a:bodyPr>
                  <a:lstStyle/>
                  <a:p>
                    <a:pPr algn="ctr">
                      <a:lnSpc>
                        <a:spcPts val="1050"/>
                      </a:lnSpc>
                    </a:pPr>
                    <a:r>
                      <a:rPr lang="zh-CN" sz="900" b="1" dirty="0">
                        <a:solidFill>
                          <a:srgbClr val="FFFFFF"/>
                        </a:solidFill>
                        <a:latin typeface="+mn-lt"/>
                        <a:ea typeface="+mn-ea"/>
                        <a:cs typeface="+mn-cs"/>
                      </a:rPr>
                      <a:t>游戏</a:t>
                    </a:r>
                  </a:p>
                  <a:p>
                    <a:pPr algn="ctr">
                      <a:lnSpc>
                        <a:spcPts val="1050"/>
                      </a:lnSpc>
                    </a:pPr>
                    <a:r>
                      <a:rPr lang="en-US" sz="750" dirty="0">
                        <a:solidFill>
                          <a:srgbClr val="FFFFFF"/>
                        </a:solidFill>
                        <a:latin typeface="+mn-lt"/>
                        <a:ea typeface="+mn-ea"/>
                        <a:cs typeface="+mn-cs"/>
                      </a:rPr>
                      <a:t>Steam PSN</a:t>
                    </a:r>
                  </a:p>
                </p:txBody>
              </p:sp>
            </p:grpSp>
            <p:grpSp>
              <p:nvGrpSpPr>
                <p:cNvPr id="56" name="Group 56"/>
                <p:cNvGrpSpPr/>
                <p:nvPr/>
              </p:nvGrpSpPr>
              <p:grpSpPr>
                <a:xfrm rot="4830000">
                  <a:off x="10871717" y="6130385"/>
                  <a:ext cx="895325" cy="183356"/>
                  <a:chOff x="10862323" y="6122432"/>
                  <a:chExt cx="895325" cy="183356"/>
                </a:xfrm>
              </p:grpSpPr>
              <p:sp>
                <p:nvSpPr>
                  <p:cNvPr id="55" name="TextBox 55"/>
                  <p:cNvSpPr txBox="1"/>
                  <p:nvPr/>
                </p:nvSpPr>
                <p:spPr>
                  <a:xfrm>
                    <a:off x="10862323" y="6122432"/>
                    <a:ext cx="895325"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娱乐／生活特权</a:t>
                    </a:r>
                  </a:p>
                </p:txBody>
              </p:sp>
            </p:grpSp>
          </p:grpSp>
        </p:grpSp>
        <p:grpSp>
          <p:nvGrpSpPr>
            <p:cNvPr id="82" name="ring-mid"/>
            <p:cNvGrpSpPr/>
            <p:nvPr/>
          </p:nvGrpSpPr>
          <p:grpSpPr>
            <a:xfrm>
              <a:off x="1593532" y="2487150"/>
              <a:ext cx="8462011" cy="3964133"/>
              <a:chOff x="1593532" y="2487150"/>
              <a:chExt cx="8462011" cy="3964133"/>
            </a:xfrm>
          </p:grpSpPr>
          <p:sp>
            <p:nvSpPr>
              <p:cNvPr id="59" name="Freeform 59"/>
              <p:cNvSpPr/>
              <p:nvPr/>
            </p:nvSpPr>
            <p:spPr>
              <a:xfrm>
                <a:off x="1593532" y="4157663"/>
                <a:ext cx="1656397" cy="2293620"/>
              </a:xfrm>
              <a:custGeom>
                <a:avLst/>
                <a:gdLst/>
                <a:ahLst/>
                <a:cxnLst/>
                <a:rect l="l" t="t" r="r" b="b"/>
                <a:pathLst>
                  <a:path w="1656397" h="2293620">
                    <a:moveTo>
                      <a:pt x="0" y="2144077"/>
                    </a:moveTo>
                    <a:cubicBezTo>
                      <a:pt x="139483" y="1354014"/>
                      <a:pt x="484406" y="614564"/>
                      <a:pt x="1000125" y="0"/>
                    </a:cubicBezTo>
                    <a:lnTo>
                      <a:pt x="1656397" y="550545"/>
                    </a:lnTo>
                    <a:cubicBezTo>
                      <a:pt x="1237259" y="1050178"/>
                      <a:pt x="957041" y="1651349"/>
                      <a:pt x="843915" y="2293620"/>
                    </a:cubicBezTo>
                    <a:close/>
                  </a:path>
                </a:pathLst>
              </a:custGeom>
              <a:solidFill>
                <a:srgbClr val="EFB5A9"/>
              </a:solidFill>
              <a:ln>
                <a:noFill/>
              </a:ln>
            </p:spPr>
          </p:sp>
          <p:sp>
            <p:nvSpPr>
              <p:cNvPr id="60" name="Freeform 60"/>
              <p:cNvSpPr/>
              <p:nvPr/>
            </p:nvSpPr>
            <p:spPr>
              <a:xfrm>
                <a:off x="2593658" y="2857500"/>
                <a:ext cx="2110740" cy="1850707"/>
              </a:xfrm>
              <a:custGeom>
                <a:avLst/>
                <a:gdLst/>
                <a:ahLst/>
                <a:cxnLst/>
                <a:rect l="l" t="t" r="r" b="b"/>
                <a:pathLst>
                  <a:path w="2110740" h="1850707">
                    <a:moveTo>
                      <a:pt x="0" y="1300162"/>
                    </a:moveTo>
                    <a:cubicBezTo>
                      <a:pt x="481161" y="726805"/>
                      <a:pt x="1095732" y="280350"/>
                      <a:pt x="1789748" y="0"/>
                    </a:cubicBezTo>
                    <a:lnTo>
                      <a:pt x="2110740" y="794385"/>
                    </a:lnTo>
                    <a:cubicBezTo>
                      <a:pt x="1546751" y="1022110"/>
                      <a:pt x="1047306" y="1384837"/>
                      <a:pt x="656273" y="1850707"/>
                    </a:cubicBezTo>
                    <a:close/>
                  </a:path>
                </a:pathLst>
              </a:custGeom>
              <a:solidFill>
                <a:srgbClr val="EFB5A9"/>
              </a:solidFill>
              <a:ln>
                <a:noFill/>
              </a:ln>
            </p:spPr>
          </p:sp>
          <p:sp>
            <p:nvSpPr>
              <p:cNvPr id="61" name="Freeform 61"/>
              <p:cNvSpPr/>
              <p:nvPr/>
            </p:nvSpPr>
            <p:spPr>
              <a:xfrm>
                <a:off x="4383405" y="2487150"/>
                <a:ext cx="2031682" cy="1164735"/>
              </a:xfrm>
              <a:custGeom>
                <a:avLst/>
                <a:gdLst/>
                <a:ahLst/>
                <a:cxnLst/>
                <a:rect l="l" t="t" r="r" b="b"/>
                <a:pathLst>
                  <a:path w="2031682" h="1164735">
                    <a:moveTo>
                      <a:pt x="0" y="370350"/>
                    </a:moveTo>
                    <a:cubicBezTo>
                      <a:pt x="643981" y="110101"/>
                      <a:pt x="1338792" y="0"/>
                      <a:pt x="2031682" y="48405"/>
                    </a:cubicBezTo>
                    <a:lnTo>
                      <a:pt x="1971675" y="903750"/>
                    </a:lnTo>
                    <a:cubicBezTo>
                      <a:pt x="1408767" y="864242"/>
                      <a:pt x="844255" y="953495"/>
                      <a:pt x="320992" y="1164735"/>
                    </a:cubicBezTo>
                    <a:close/>
                  </a:path>
                </a:pathLst>
              </a:custGeom>
              <a:solidFill>
                <a:srgbClr val="EFB5A9"/>
              </a:solidFill>
              <a:ln>
                <a:noFill/>
              </a:ln>
            </p:spPr>
          </p:sp>
          <p:sp>
            <p:nvSpPr>
              <p:cNvPr id="62" name="Freeform 62"/>
              <p:cNvSpPr/>
              <p:nvPr/>
            </p:nvSpPr>
            <p:spPr>
              <a:xfrm>
                <a:off x="6355080" y="2535555"/>
                <a:ext cx="2164080" cy="1410653"/>
              </a:xfrm>
              <a:custGeom>
                <a:avLst/>
                <a:gdLst/>
                <a:ahLst/>
                <a:cxnLst/>
                <a:rect l="l" t="t" r="r" b="b"/>
                <a:pathLst>
                  <a:path w="2164080" h="1410653">
                    <a:moveTo>
                      <a:pt x="60007" y="0"/>
                    </a:moveTo>
                    <a:cubicBezTo>
                      <a:pt x="806694" y="51984"/>
                      <a:pt x="1529199" y="286495"/>
                      <a:pt x="2164080" y="682942"/>
                    </a:cubicBezTo>
                    <a:lnTo>
                      <a:pt x="1709737" y="1410653"/>
                    </a:lnTo>
                    <a:cubicBezTo>
                      <a:pt x="1193883" y="1088365"/>
                      <a:pt x="606781" y="897679"/>
                      <a:pt x="0" y="855345"/>
                    </a:cubicBezTo>
                    <a:close/>
                  </a:path>
                </a:pathLst>
              </a:custGeom>
              <a:solidFill>
                <a:srgbClr val="EFB5A9"/>
              </a:solidFill>
              <a:ln>
                <a:noFill/>
              </a:ln>
            </p:spPr>
          </p:sp>
          <p:sp>
            <p:nvSpPr>
              <p:cNvPr id="63" name="Freeform 63"/>
              <p:cNvSpPr/>
              <p:nvPr/>
            </p:nvSpPr>
            <p:spPr>
              <a:xfrm>
                <a:off x="8064818" y="3218498"/>
                <a:ext cx="1990725" cy="2020253"/>
              </a:xfrm>
              <a:custGeom>
                <a:avLst/>
                <a:gdLst/>
                <a:ahLst/>
                <a:cxnLst/>
                <a:rect l="l" t="t" r="r" b="b"/>
                <a:pathLst>
                  <a:path w="1990725" h="2020253">
                    <a:moveTo>
                      <a:pt x="454342" y="0"/>
                    </a:moveTo>
                    <a:cubicBezTo>
                      <a:pt x="1089037" y="396778"/>
                      <a:pt x="1616606" y="943318"/>
                      <a:pt x="1990725" y="1591628"/>
                    </a:cubicBezTo>
                    <a:lnTo>
                      <a:pt x="1247775" y="2020253"/>
                    </a:lnTo>
                    <a:cubicBezTo>
                      <a:pt x="943869" y="1493803"/>
                      <a:pt x="515414" y="1049977"/>
                      <a:pt x="0" y="727710"/>
                    </a:cubicBezTo>
                    <a:close/>
                  </a:path>
                </a:pathLst>
              </a:custGeom>
              <a:solidFill>
                <a:srgbClr val="EFB5A9"/>
              </a:solidFill>
              <a:ln>
                <a:noFill/>
              </a:ln>
            </p:spPr>
          </p:sp>
          <p:grpSp>
            <p:nvGrpSpPr>
              <p:cNvPr id="70" name="Group 70"/>
              <p:cNvGrpSpPr/>
              <p:nvPr/>
            </p:nvGrpSpPr>
            <p:grpSpPr>
              <a:xfrm>
                <a:off x="1593532" y="2535555"/>
                <a:ext cx="8462010" cy="3915727"/>
                <a:chOff x="1593532" y="2535555"/>
                <a:chExt cx="8462010" cy="3915727"/>
              </a:xfrm>
            </p:grpSpPr>
            <p:sp>
              <p:nvSpPr>
                <p:cNvPr id="64" name="Line 64"/>
                <p:cNvSpPr/>
                <p:nvPr/>
              </p:nvSpPr>
              <p:spPr>
                <a:xfrm>
                  <a:off x="1593532" y="6301740"/>
                  <a:ext cx="843915" cy="149542"/>
                </a:xfrm>
                <a:custGeom>
                  <a:avLst/>
                  <a:gdLst/>
                  <a:ahLst/>
                  <a:cxnLst/>
                  <a:rect l="l" t="t" r="r" b="b"/>
                  <a:pathLst>
                    <a:path w="843915" h="149542">
                      <a:moveTo>
                        <a:pt x="843915" y="149542"/>
                      </a:moveTo>
                      <a:lnTo>
                        <a:pt x="0" y="0"/>
                      </a:lnTo>
                    </a:path>
                  </a:pathLst>
                </a:custGeom>
                <a:noFill/>
                <a:ln w="19050">
                  <a:solidFill>
                    <a:srgbClr val="FFFFFF"/>
                  </a:solidFill>
                </a:ln>
              </p:spPr>
            </p:sp>
            <p:sp>
              <p:nvSpPr>
                <p:cNvPr id="65" name="Line 65"/>
                <p:cNvSpPr/>
                <p:nvPr/>
              </p:nvSpPr>
              <p:spPr>
                <a:xfrm>
                  <a:off x="2593658" y="4157662"/>
                  <a:ext cx="656272" cy="550545"/>
                </a:xfrm>
                <a:custGeom>
                  <a:avLst/>
                  <a:gdLst/>
                  <a:ahLst/>
                  <a:cxnLst/>
                  <a:rect l="l" t="t" r="r" b="b"/>
                  <a:pathLst>
                    <a:path w="656272" h="550545">
                      <a:moveTo>
                        <a:pt x="656272" y="550545"/>
                      </a:moveTo>
                      <a:lnTo>
                        <a:pt x="0" y="0"/>
                      </a:lnTo>
                    </a:path>
                  </a:pathLst>
                </a:custGeom>
                <a:noFill/>
                <a:ln w="19050">
                  <a:solidFill>
                    <a:srgbClr val="FFFFFF"/>
                  </a:solidFill>
                </a:ln>
              </p:spPr>
            </p:sp>
            <p:sp>
              <p:nvSpPr>
                <p:cNvPr id="66" name="Line 66"/>
                <p:cNvSpPr/>
                <p:nvPr/>
              </p:nvSpPr>
              <p:spPr>
                <a:xfrm>
                  <a:off x="4383405" y="2857500"/>
                  <a:ext cx="320992" cy="794385"/>
                </a:xfrm>
                <a:custGeom>
                  <a:avLst/>
                  <a:gdLst/>
                  <a:ahLst/>
                  <a:cxnLst/>
                  <a:rect l="l" t="t" r="r" b="b"/>
                  <a:pathLst>
                    <a:path w="320992" h="794385">
                      <a:moveTo>
                        <a:pt x="320992" y="794385"/>
                      </a:moveTo>
                      <a:lnTo>
                        <a:pt x="0" y="0"/>
                      </a:lnTo>
                    </a:path>
                  </a:pathLst>
                </a:custGeom>
                <a:noFill/>
                <a:ln w="19050">
                  <a:solidFill>
                    <a:srgbClr val="FFFFFF"/>
                  </a:solidFill>
                </a:ln>
              </p:spPr>
            </p:sp>
            <p:sp>
              <p:nvSpPr>
                <p:cNvPr id="67" name="Line 67"/>
                <p:cNvSpPr/>
                <p:nvPr/>
              </p:nvSpPr>
              <p:spPr>
                <a:xfrm>
                  <a:off x="6355080" y="2535555"/>
                  <a:ext cx="60007" cy="855345"/>
                </a:xfrm>
                <a:custGeom>
                  <a:avLst/>
                  <a:gdLst/>
                  <a:ahLst/>
                  <a:cxnLst/>
                  <a:rect l="l" t="t" r="r" b="b"/>
                  <a:pathLst>
                    <a:path w="60007" h="855345">
                      <a:moveTo>
                        <a:pt x="0" y="855345"/>
                      </a:moveTo>
                      <a:lnTo>
                        <a:pt x="60007" y="0"/>
                      </a:lnTo>
                    </a:path>
                  </a:pathLst>
                </a:custGeom>
                <a:noFill/>
                <a:ln w="19050">
                  <a:solidFill>
                    <a:srgbClr val="FFFFFF"/>
                  </a:solidFill>
                </a:ln>
              </p:spPr>
            </p:sp>
            <p:sp>
              <p:nvSpPr>
                <p:cNvPr id="68" name="Line 68"/>
                <p:cNvSpPr/>
                <p:nvPr/>
              </p:nvSpPr>
              <p:spPr>
                <a:xfrm>
                  <a:off x="8064818" y="3218498"/>
                  <a:ext cx="454342" cy="727710"/>
                </a:xfrm>
                <a:custGeom>
                  <a:avLst/>
                  <a:gdLst/>
                  <a:ahLst/>
                  <a:cxnLst/>
                  <a:rect l="l" t="t" r="r" b="b"/>
                  <a:pathLst>
                    <a:path w="454342" h="727710">
                      <a:moveTo>
                        <a:pt x="0" y="727710"/>
                      </a:moveTo>
                      <a:lnTo>
                        <a:pt x="454342" y="0"/>
                      </a:lnTo>
                    </a:path>
                  </a:pathLst>
                </a:custGeom>
                <a:noFill/>
                <a:ln w="19050">
                  <a:solidFill>
                    <a:srgbClr val="FFFFFF"/>
                  </a:solidFill>
                </a:ln>
              </p:spPr>
            </p:sp>
            <p:sp>
              <p:nvSpPr>
                <p:cNvPr id="69" name="Line 69"/>
                <p:cNvSpPr/>
                <p:nvPr/>
              </p:nvSpPr>
              <p:spPr>
                <a:xfrm>
                  <a:off x="9312592" y="4810125"/>
                  <a:ext cx="742950" cy="428625"/>
                </a:xfrm>
                <a:custGeom>
                  <a:avLst/>
                  <a:gdLst/>
                  <a:ahLst/>
                  <a:cxnLst/>
                  <a:rect l="l" t="t" r="r" b="b"/>
                  <a:pathLst>
                    <a:path w="742950" h="428625">
                      <a:moveTo>
                        <a:pt x="0" y="428625"/>
                      </a:moveTo>
                      <a:lnTo>
                        <a:pt x="742950" y="0"/>
                      </a:lnTo>
                    </a:path>
                  </a:pathLst>
                </a:custGeom>
                <a:noFill/>
                <a:ln w="19050">
                  <a:solidFill>
                    <a:srgbClr val="FFFFFF"/>
                  </a:solidFill>
                </a:ln>
              </p:spPr>
            </p:sp>
          </p:grpSp>
          <p:grpSp>
            <p:nvGrpSpPr>
              <p:cNvPr id="77" name="Group 77"/>
              <p:cNvGrpSpPr/>
              <p:nvPr/>
            </p:nvGrpSpPr>
            <p:grpSpPr>
              <a:xfrm>
                <a:off x="2083397" y="3643074"/>
                <a:ext cx="7250823" cy="1784509"/>
                <a:chOff x="2083397" y="3643074"/>
                <a:chExt cx="7250823" cy="1784509"/>
              </a:xfrm>
            </p:grpSpPr>
            <p:grpSp>
              <p:nvGrpSpPr>
                <p:cNvPr id="72" name="Group 72"/>
                <p:cNvGrpSpPr/>
                <p:nvPr/>
              </p:nvGrpSpPr>
              <p:grpSpPr>
                <a:xfrm rot="-3900000">
                  <a:off x="2074764" y="5249727"/>
                  <a:ext cx="515696" cy="183356"/>
                  <a:chOff x="2083397" y="5244227"/>
                  <a:chExt cx="515696" cy="183356"/>
                </a:xfrm>
              </p:grpSpPr>
              <p:sp>
                <p:nvSpPr>
                  <p:cNvPr id="71" name="TextBox 71"/>
                  <p:cNvSpPr txBox="1"/>
                  <p:nvPr/>
                </p:nvSpPr>
                <p:spPr>
                  <a:xfrm>
                    <a:off x="2083397" y="524422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健康特权</a:t>
                    </a:r>
                  </a:p>
                </p:txBody>
              </p:sp>
            </p:grpSp>
            <p:grpSp>
              <p:nvGrpSpPr>
                <p:cNvPr id="74" name="Group 74"/>
                <p:cNvGrpSpPr/>
                <p:nvPr/>
              </p:nvGrpSpPr>
              <p:grpSpPr>
                <a:xfrm rot="-2160000">
                  <a:off x="3397010" y="3644894"/>
                  <a:ext cx="515696" cy="183356"/>
                  <a:chOff x="3402609" y="3643074"/>
                  <a:chExt cx="515696" cy="183356"/>
                </a:xfrm>
              </p:grpSpPr>
              <p:sp>
                <p:nvSpPr>
                  <p:cNvPr id="73" name="TextBox 73"/>
                  <p:cNvSpPr txBox="1"/>
                  <p:nvPr/>
                </p:nvSpPr>
                <p:spPr>
                  <a:xfrm>
                    <a:off x="3402609" y="3643074"/>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生日特权</a:t>
                    </a:r>
                  </a:p>
                </p:txBody>
              </p:sp>
            </p:grpSp>
            <p:grpSp>
              <p:nvGrpSpPr>
                <p:cNvPr id="76" name="Group 76"/>
                <p:cNvGrpSpPr/>
                <p:nvPr/>
              </p:nvGrpSpPr>
              <p:grpSpPr>
                <a:xfrm rot="2760000">
                  <a:off x="8825376" y="4119375"/>
                  <a:ext cx="515696" cy="183356"/>
                  <a:chOff x="8818524" y="4116467"/>
                  <a:chExt cx="515696" cy="183356"/>
                </a:xfrm>
              </p:grpSpPr>
              <p:sp>
                <p:nvSpPr>
                  <p:cNvPr id="75" name="TextBox 75"/>
                  <p:cNvSpPr txBox="1"/>
                  <p:nvPr/>
                </p:nvSpPr>
                <p:spPr>
                  <a:xfrm>
                    <a:off x="8818524" y="411646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生活特权</a:t>
                    </a:r>
                  </a:p>
                </p:txBody>
              </p:sp>
            </p:grpSp>
          </p:grpSp>
          <p:sp>
            <p:nvSpPr>
              <p:cNvPr id="78" name="Rectangle 78"/>
              <p:cNvSpPr/>
              <p:nvPr/>
            </p:nvSpPr>
            <p:spPr>
              <a:xfrm>
                <a:off x="4733925" y="2847975"/>
                <a:ext cx="1428750" cy="304800"/>
              </a:xfrm>
              <a:prstGeom prst="roundRect">
                <a:avLst>
                  <a:gd name="adj" fmla="val 50000"/>
                </a:avLst>
              </a:prstGeom>
              <a:solidFill>
                <a:srgbClr val="FFFFFF"/>
              </a:solidFill>
              <a:ln>
                <a:noFill/>
              </a:ln>
            </p:spPr>
          </p:sp>
          <p:sp>
            <p:nvSpPr>
              <p:cNvPr id="79" name="TextBox 79"/>
              <p:cNvSpPr txBox="1"/>
              <p:nvPr/>
            </p:nvSpPr>
            <p:spPr>
              <a:xfrm>
                <a:off x="5089588" y="2944178"/>
                <a:ext cx="717423"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品类特权卡</a:t>
                </a:r>
              </a:p>
            </p:txBody>
          </p:sp>
          <p:grpSp>
            <p:nvGrpSpPr>
              <p:cNvPr id="81" name="Group 81"/>
              <p:cNvGrpSpPr/>
              <p:nvPr/>
            </p:nvGrpSpPr>
            <p:grpSpPr>
              <a:xfrm rot="1080000">
                <a:off x="6994713" y="3054895"/>
                <a:ext cx="768782" cy="183356"/>
                <a:chOff x="6991769" y="3054429"/>
                <a:chExt cx="768782" cy="183356"/>
              </a:xfrm>
            </p:grpSpPr>
            <p:sp>
              <p:nvSpPr>
                <p:cNvPr id="80" name="TextBox 80"/>
                <p:cNvSpPr txBox="1"/>
                <p:nvPr/>
              </p:nvSpPr>
              <p:spPr>
                <a:xfrm>
                  <a:off x="6991769" y="3054429"/>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生活服务特权</a:t>
                  </a:r>
                </a:p>
              </p:txBody>
            </p:sp>
          </p:grpSp>
        </p:grpSp>
        <p:grpSp>
          <p:nvGrpSpPr>
            <p:cNvPr id="86" name="ring-inner"/>
            <p:cNvGrpSpPr/>
            <p:nvPr/>
          </p:nvGrpSpPr>
          <p:grpSpPr>
            <a:xfrm>
              <a:off x="2497455" y="3487052"/>
              <a:ext cx="7197090" cy="3509060"/>
              <a:chOff x="2497455" y="3487052"/>
              <a:chExt cx="7197090" cy="3509060"/>
            </a:xfrm>
          </p:grpSpPr>
          <p:sp>
            <p:nvSpPr>
              <p:cNvPr id="83" name="Freeform 83"/>
              <p:cNvSpPr/>
              <p:nvPr/>
            </p:nvSpPr>
            <p:spPr>
              <a:xfrm>
                <a:off x="2497455" y="3487052"/>
                <a:ext cx="7197090" cy="3509060"/>
              </a:xfrm>
              <a:custGeom>
                <a:avLst/>
                <a:gdLst/>
                <a:ahLst/>
                <a:cxnLst/>
                <a:rect l="l" t="t" r="r" b="b"/>
                <a:pathLst>
                  <a:path w="7197090" h="3509060">
                    <a:moveTo>
                      <a:pt x="0" y="3483343"/>
                    </a:moveTo>
                    <a:cubicBezTo>
                      <a:pt x="63194" y="1541486"/>
                      <a:pt x="1655660" y="0"/>
                      <a:pt x="3598545" y="0"/>
                    </a:cubicBezTo>
                    <a:cubicBezTo>
                      <a:pt x="5541430" y="0"/>
                      <a:pt x="7133896" y="1541486"/>
                      <a:pt x="7197090" y="3483343"/>
                    </a:cubicBezTo>
                    <a:lnTo>
                      <a:pt x="6454140" y="3509060"/>
                    </a:lnTo>
                    <a:cubicBezTo>
                      <a:pt x="6398006" y="1972529"/>
                      <a:pt x="5136101" y="755884"/>
                      <a:pt x="3598545" y="755884"/>
                    </a:cubicBezTo>
                    <a:cubicBezTo>
                      <a:pt x="2060989" y="755884"/>
                      <a:pt x="799084" y="1972529"/>
                      <a:pt x="742950" y="3509060"/>
                    </a:cubicBezTo>
                    <a:close/>
                  </a:path>
                </a:pathLst>
              </a:custGeom>
              <a:solidFill>
                <a:srgbClr val="C45F4A"/>
              </a:solidFill>
              <a:ln>
                <a:noFill/>
              </a:ln>
            </p:spPr>
          </p:sp>
          <p:sp>
            <p:nvSpPr>
              <p:cNvPr id="84" name="TextBox 84"/>
              <p:cNvSpPr txBox="1"/>
              <p:nvPr/>
            </p:nvSpPr>
            <p:spPr>
              <a:xfrm>
                <a:off x="5107165" y="3697843"/>
                <a:ext cx="1977669"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覆盖母婴、奢侈品、宠物、医药、汽车</a:t>
                </a:r>
              </a:p>
            </p:txBody>
          </p:sp>
          <p:sp>
            <p:nvSpPr>
              <p:cNvPr id="85" name="TextBox 85"/>
              <p:cNvSpPr txBox="1"/>
              <p:nvPr/>
            </p:nvSpPr>
            <p:spPr>
              <a:xfrm>
                <a:off x="5049279" y="3907393"/>
                <a:ext cx="2093443"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让用户在商城购买特定品类享受更多优惠</a:t>
                </a:r>
              </a:p>
            </p:txBody>
          </p:sp>
        </p:grpSp>
        <p:grpSp>
          <p:nvGrpSpPr>
            <p:cNvPr id="107" name="ring-core"/>
            <p:cNvGrpSpPr/>
            <p:nvPr/>
          </p:nvGrpSpPr>
          <p:grpSpPr>
            <a:xfrm>
              <a:off x="3857625" y="4724400"/>
              <a:ext cx="4476750" cy="4610100"/>
              <a:chOff x="3857625" y="4724400"/>
              <a:chExt cx="4476750" cy="4610100"/>
            </a:xfrm>
          </p:grpSpPr>
          <p:sp>
            <p:nvSpPr>
              <p:cNvPr id="87" name="Ellipse 87"/>
              <p:cNvSpPr/>
              <p:nvPr/>
            </p:nvSpPr>
            <p:spPr>
              <a:xfrm>
                <a:off x="3857625" y="4857750"/>
                <a:ext cx="4476750" cy="4476750"/>
              </a:xfrm>
              <a:prstGeom prst="ellipse">
                <a:avLst/>
              </a:prstGeom>
              <a:gradFill>
                <a:gsLst>
                  <a:gs pos="0">
                    <a:srgbClr val="EF7C68"/>
                  </a:gs>
                  <a:gs pos="100000">
                    <a:srgbClr val="DD5740"/>
                  </a:gs>
                </a:gsLst>
                <a:path path="circle">
                  <a:fillToRect l="50000" t="35000" r="50000" b="65000"/>
                </a:path>
              </a:gradFill>
              <a:ln>
                <a:noFill/>
              </a:ln>
            </p:spPr>
          </p:sp>
          <p:sp>
            <p:nvSpPr>
              <p:cNvPr id="88" name="Rectangle 88"/>
              <p:cNvSpPr/>
              <p:nvPr/>
            </p:nvSpPr>
            <p:spPr>
              <a:xfrm>
                <a:off x="5553075" y="4724400"/>
                <a:ext cx="1085850" cy="276225"/>
              </a:xfrm>
              <a:prstGeom prst="roundRect">
                <a:avLst>
                  <a:gd name="adj" fmla="val 50000"/>
                </a:avLst>
              </a:prstGeom>
              <a:noFill/>
              <a:ln w="14288">
                <a:solidFill>
                  <a:srgbClr val="FFFFFF"/>
                </a:solidFill>
              </a:ln>
            </p:spPr>
          </p:sp>
          <p:sp>
            <p:nvSpPr>
              <p:cNvPr id="89" name="TextBox 89"/>
              <p:cNvSpPr txBox="1"/>
              <p:nvPr/>
            </p:nvSpPr>
            <p:spPr>
              <a:xfrm>
                <a:off x="5807964" y="48015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基础特权</a:t>
                </a:r>
              </a:p>
            </p:txBody>
          </p:sp>
          <p:sp>
            <p:nvSpPr>
              <p:cNvPr id="90" name="Ellipse 90"/>
              <p:cNvSpPr/>
              <p:nvPr/>
            </p:nvSpPr>
            <p:spPr>
              <a:xfrm>
                <a:off x="5505450" y="5648325"/>
                <a:ext cx="1181100" cy="1181100"/>
              </a:xfrm>
              <a:prstGeom prst="ellipse">
                <a:avLst/>
              </a:prstGeom>
              <a:solidFill>
                <a:srgbClr val="FFFFFF"/>
              </a:solidFill>
              <a:ln>
                <a:noFill/>
              </a:ln>
            </p:spPr>
          </p:sp>
          <p:grpSp>
            <p:nvGrpSpPr>
              <p:cNvPr id="95" name="Group 95"/>
              <p:cNvGrpSpPr/>
              <p:nvPr/>
            </p:nvGrpSpPr>
            <p:grpSpPr>
              <a:xfrm>
                <a:off x="5867400" y="5981700"/>
                <a:ext cx="457201" cy="457200"/>
                <a:chOff x="5867400" y="5981700"/>
                <a:chExt cx="457201" cy="457200"/>
              </a:xfrm>
            </p:grpSpPr>
            <p:sp>
              <p:nvSpPr>
                <p:cNvPr id="91" name="Freeform 91"/>
                <p:cNvSpPr/>
                <p:nvPr/>
              </p:nvSpPr>
              <p:spPr>
                <a:xfrm>
                  <a:off x="5918200" y="5981700"/>
                  <a:ext cx="203200" cy="203200"/>
                </a:xfrm>
                <a:custGeom>
                  <a:avLst/>
                  <a:gdLst/>
                  <a:ahLst/>
                  <a:cxnLst/>
                  <a:rect l="l" t="t" r="r" b="b"/>
                  <a:pathLst>
                    <a:path w="203200" h="203200">
                      <a:moveTo>
                        <a:pt x="0" y="101600"/>
                      </a:moveTo>
                      <a:cubicBezTo>
                        <a:pt x="0" y="157712"/>
                        <a:pt x="45488" y="203200"/>
                        <a:pt x="101600" y="203200"/>
                      </a:cubicBezTo>
                      <a:cubicBezTo>
                        <a:pt x="157712" y="203200"/>
                        <a:pt x="203200" y="157712"/>
                        <a:pt x="203200" y="101600"/>
                      </a:cubicBezTo>
                      <a:cubicBezTo>
                        <a:pt x="203200" y="45488"/>
                        <a:pt x="157712" y="0"/>
                        <a:pt x="101600" y="0"/>
                      </a:cubicBezTo>
                      <a:cubicBezTo>
                        <a:pt x="45488" y="0"/>
                        <a:pt x="0" y="45488"/>
                        <a:pt x="0" y="101600"/>
                      </a:cubicBezTo>
                    </a:path>
                  </a:pathLst>
                </a:custGeom>
                <a:noFill/>
                <a:ln w="50800">
                  <a:solidFill>
                    <a:srgbClr val="E2624C"/>
                  </a:solidFill>
                </a:ln>
              </p:spPr>
            </p:sp>
            <p:sp>
              <p:nvSpPr>
                <p:cNvPr id="92" name="Freeform 92"/>
                <p:cNvSpPr/>
                <p:nvPr/>
              </p:nvSpPr>
              <p:spPr>
                <a:xfrm>
                  <a:off x="5867400" y="6286500"/>
                  <a:ext cx="304800" cy="152400"/>
                </a:xfrm>
                <a:custGeom>
                  <a:avLst/>
                  <a:gdLst/>
                  <a:ahLst/>
                  <a:cxnLst/>
                  <a:rect l="l" t="t" r="r" b="b"/>
                  <a:pathLst>
                    <a:path w="304800" h="152400">
                      <a:moveTo>
                        <a:pt x="0" y="152400"/>
                      </a:moveTo>
                      <a:lnTo>
                        <a:pt x="0" y="101600"/>
                      </a:lnTo>
                      <a:cubicBezTo>
                        <a:pt x="0" y="45488"/>
                        <a:pt x="45488" y="0"/>
                        <a:pt x="101600" y="0"/>
                      </a:cubicBezTo>
                      <a:lnTo>
                        <a:pt x="203200" y="0"/>
                      </a:lnTo>
                      <a:cubicBezTo>
                        <a:pt x="259312" y="0"/>
                        <a:pt x="304800" y="45488"/>
                        <a:pt x="304800" y="101600"/>
                      </a:cubicBezTo>
                      <a:lnTo>
                        <a:pt x="304800" y="152400"/>
                      </a:lnTo>
                    </a:path>
                  </a:pathLst>
                </a:custGeom>
                <a:noFill/>
                <a:ln w="50800">
                  <a:solidFill>
                    <a:srgbClr val="E2624C"/>
                  </a:solidFill>
                </a:ln>
              </p:spPr>
            </p:sp>
            <p:sp>
              <p:nvSpPr>
                <p:cNvPr id="93" name="Freeform 93"/>
                <p:cNvSpPr/>
                <p:nvPr/>
              </p:nvSpPr>
              <p:spPr>
                <a:xfrm>
                  <a:off x="6197601" y="5985002"/>
                  <a:ext cx="76399" cy="196850"/>
                </a:xfrm>
                <a:custGeom>
                  <a:avLst/>
                  <a:gdLst/>
                  <a:ahLst/>
                  <a:cxnLst/>
                  <a:rect l="l" t="t" r="r" b="b"/>
                  <a:pathLst>
                    <a:path w="76399" h="196850">
                      <a:moveTo>
                        <a:pt x="0" y="0"/>
                      </a:moveTo>
                      <a:cubicBezTo>
                        <a:pt x="44956" y="11511"/>
                        <a:pt x="76399" y="52019"/>
                        <a:pt x="76399" y="98425"/>
                      </a:cubicBezTo>
                      <a:cubicBezTo>
                        <a:pt x="76399" y="144831"/>
                        <a:pt x="44956" y="185340"/>
                        <a:pt x="0" y="196850"/>
                      </a:cubicBezTo>
                    </a:path>
                  </a:pathLst>
                </a:custGeom>
                <a:noFill/>
                <a:ln w="50800">
                  <a:solidFill>
                    <a:srgbClr val="E2624C"/>
                  </a:solidFill>
                </a:ln>
              </p:spPr>
            </p:sp>
            <p:sp>
              <p:nvSpPr>
                <p:cNvPr id="94" name="Freeform 94"/>
                <p:cNvSpPr/>
                <p:nvPr/>
              </p:nvSpPr>
              <p:spPr>
                <a:xfrm>
                  <a:off x="6248401" y="6290310"/>
                  <a:ext cx="76200" cy="148590"/>
                </a:xfrm>
                <a:custGeom>
                  <a:avLst/>
                  <a:gdLst/>
                  <a:ahLst/>
                  <a:cxnLst/>
                  <a:rect l="l" t="t" r="r" b="b"/>
                  <a:pathLst>
                    <a:path w="76200" h="148590">
                      <a:moveTo>
                        <a:pt x="76200" y="148590"/>
                      </a:moveTo>
                      <a:lnTo>
                        <a:pt x="76200" y="97790"/>
                      </a:lnTo>
                      <a:cubicBezTo>
                        <a:pt x="75935" y="51678"/>
                        <a:pt x="44649" y="11527"/>
                        <a:pt x="0" y="0"/>
                      </a:cubicBezTo>
                    </a:path>
                  </a:pathLst>
                </a:custGeom>
                <a:noFill/>
                <a:ln w="50800">
                  <a:solidFill>
                    <a:srgbClr val="E2624C"/>
                  </a:solidFill>
                </a:ln>
              </p:spPr>
            </p:sp>
          </p:grpSp>
          <p:sp>
            <p:nvSpPr>
              <p:cNvPr id="96" name="Ellipse 96"/>
              <p:cNvSpPr/>
              <p:nvPr/>
            </p:nvSpPr>
            <p:spPr>
              <a:xfrm>
                <a:off x="6448425" y="6505575"/>
                <a:ext cx="209550" cy="209550"/>
              </a:xfrm>
              <a:prstGeom prst="ellipse">
                <a:avLst/>
              </a:prstGeom>
              <a:solidFill>
                <a:srgbClr val="FFFFFF"/>
              </a:solidFill>
              <a:ln w="14288">
                <a:solidFill>
                  <a:srgbClr val="E2624C"/>
                </a:solidFill>
              </a:ln>
            </p:spPr>
          </p:sp>
          <p:grpSp>
            <p:nvGrpSpPr>
              <p:cNvPr id="99" name="Group 99"/>
              <p:cNvGrpSpPr/>
              <p:nvPr/>
            </p:nvGrpSpPr>
            <p:grpSpPr>
              <a:xfrm>
                <a:off x="6496050" y="6553200"/>
                <a:ext cx="114300" cy="114300"/>
                <a:chOff x="6496050" y="6553200"/>
                <a:chExt cx="114300" cy="114300"/>
              </a:xfrm>
            </p:grpSpPr>
            <p:sp>
              <p:nvSpPr>
                <p:cNvPr id="97" name="Freeform 97"/>
                <p:cNvSpPr/>
                <p:nvPr/>
              </p:nvSpPr>
              <p:spPr>
                <a:xfrm>
                  <a:off x="6496050" y="65532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E2624C"/>
                  </a:solidFill>
                </a:ln>
              </p:spPr>
            </p:sp>
            <p:sp>
              <p:nvSpPr>
                <p:cNvPr id="98" name="Freeform 98"/>
                <p:cNvSpPr/>
                <p:nvPr/>
              </p:nvSpPr>
              <p:spPr>
                <a:xfrm>
                  <a:off x="6534150" y="6597650"/>
                  <a:ext cx="38100" cy="25400"/>
                </a:xfrm>
                <a:custGeom>
                  <a:avLst/>
                  <a:gdLst/>
                  <a:ahLst/>
                  <a:cxnLst/>
                  <a:rect l="l" t="t" r="r" b="b"/>
                  <a:pathLst>
                    <a:path w="38100" h="25400">
                      <a:moveTo>
                        <a:pt x="0" y="12700"/>
                      </a:moveTo>
                      <a:lnTo>
                        <a:pt x="12700" y="25400"/>
                      </a:lnTo>
                      <a:lnTo>
                        <a:pt x="38100" y="0"/>
                      </a:lnTo>
                    </a:path>
                  </a:pathLst>
                </a:custGeom>
                <a:noFill/>
                <a:ln w="12700">
                  <a:solidFill>
                    <a:srgbClr val="E2624C"/>
                  </a:solidFill>
                </a:ln>
              </p:spPr>
            </p:sp>
          </p:grpSp>
          <p:grpSp>
            <p:nvGrpSpPr>
              <p:cNvPr id="106" name="Group 106"/>
              <p:cNvGrpSpPr/>
              <p:nvPr/>
            </p:nvGrpSpPr>
            <p:grpSpPr>
              <a:xfrm>
                <a:off x="4334561" y="5427345"/>
                <a:ext cx="3482226" cy="1319212"/>
                <a:chOff x="4334561" y="5427345"/>
                <a:chExt cx="3482226" cy="1319212"/>
              </a:xfrm>
            </p:grpSpPr>
            <p:sp>
              <p:nvSpPr>
                <p:cNvPr id="100" name="TextBox 100"/>
                <p:cNvSpPr txBox="1"/>
                <p:nvPr/>
              </p:nvSpPr>
              <p:spPr>
                <a:xfrm>
                  <a:off x="4883468" y="5427345"/>
                  <a:ext cx="615315"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品牌会员日</a:t>
                  </a:r>
                </a:p>
              </p:txBody>
            </p:sp>
            <p:sp>
              <p:nvSpPr>
                <p:cNvPr id="101" name="TextBox 101"/>
                <p:cNvSpPr txBox="1"/>
                <p:nvPr/>
              </p:nvSpPr>
              <p:spPr>
                <a:xfrm>
                  <a:off x="6661214" y="5427345"/>
                  <a:ext cx="73647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全年免费退换</a:t>
                  </a:r>
                </a:p>
              </p:txBody>
            </p:sp>
            <p:sp>
              <p:nvSpPr>
                <p:cNvPr id="102" name="TextBox 102"/>
                <p:cNvSpPr txBox="1"/>
                <p:nvPr/>
              </p:nvSpPr>
              <p:spPr>
                <a:xfrm>
                  <a:off x="4334561" y="5979795"/>
                  <a:ext cx="893978"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1200全品类券​​</a:t>
                  </a:r>
                </a:p>
              </p:txBody>
            </p:sp>
            <p:sp>
              <p:nvSpPr>
                <p:cNvPr id="103" name="TextBox 103"/>
                <p:cNvSpPr txBox="1"/>
                <p:nvPr/>
              </p:nvSpPr>
              <p:spPr>
                <a:xfrm>
                  <a:off x="7080314" y="5979795"/>
                  <a:ext cx="73647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尊享专属客服</a:t>
                  </a:r>
                </a:p>
              </p:txBody>
            </p:sp>
            <p:sp>
              <p:nvSpPr>
                <p:cNvPr id="104" name="TextBox 104"/>
                <p:cNvSpPr txBox="1"/>
                <p:nvPr/>
              </p:nvSpPr>
              <p:spPr>
                <a:xfrm>
                  <a:off x="4618958" y="6570345"/>
                  <a:ext cx="706184"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10+购物券​​</a:t>
                  </a:r>
                </a:p>
              </p:txBody>
            </p:sp>
            <p:sp>
              <p:nvSpPr>
                <p:cNvPr id="105" name="TextBox 105"/>
                <p:cNvSpPr txBox="1"/>
                <p:nvPr/>
              </p:nvSpPr>
              <p:spPr>
                <a:xfrm>
                  <a:off x="6889814" y="6570345"/>
                  <a:ext cx="73647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电器维修服务</a:t>
                  </a:r>
                </a:p>
              </p:txBody>
            </p:sp>
          </p:grpSp>
        </p:grpSp>
        <p:grpSp>
          <p:nvGrpSpPr>
            <p:cNvPr id="149" name="compass-icons"/>
            <p:cNvGrpSpPr/>
            <p:nvPr/>
          </p:nvGrpSpPr>
          <p:grpSpPr>
            <a:xfrm>
              <a:off x="571500" y="619125"/>
              <a:ext cx="11420475" cy="4314825"/>
              <a:chOff x="571500" y="619125"/>
              <a:chExt cx="11420475" cy="4314825"/>
            </a:xfrm>
          </p:grpSpPr>
          <p:sp>
            <p:nvSpPr>
              <p:cNvPr id="108" name="Ellipse 108"/>
              <p:cNvSpPr/>
              <p:nvPr/>
            </p:nvSpPr>
            <p:spPr>
              <a:xfrm>
                <a:off x="571500" y="3838575"/>
                <a:ext cx="323850" cy="323850"/>
              </a:xfrm>
              <a:prstGeom prst="ellipse">
                <a:avLst/>
              </a:prstGeom>
              <a:solidFill>
                <a:srgbClr val="FFFFFF"/>
              </a:solidFill>
              <a:ln>
                <a:noFill/>
              </a:ln>
            </p:spPr>
          </p:sp>
          <p:grpSp>
            <p:nvGrpSpPr>
              <p:cNvPr id="114" name="Group 114"/>
              <p:cNvGrpSpPr/>
              <p:nvPr/>
            </p:nvGrpSpPr>
            <p:grpSpPr>
              <a:xfrm>
                <a:off x="647700" y="3913499"/>
                <a:ext cx="171450" cy="172726"/>
                <a:chOff x="647700" y="3913499"/>
                <a:chExt cx="171450" cy="172726"/>
              </a:xfrm>
            </p:grpSpPr>
            <p:sp>
              <p:nvSpPr>
                <p:cNvPr id="109" name="Freeform 109"/>
                <p:cNvSpPr/>
                <p:nvPr/>
              </p:nvSpPr>
              <p:spPr>
                <a:xfrm>
                  <a:off x="704850" y="399097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E08C7B"/>
                  </a:solidFill>
                </a:ln>
              </p:spPr>
            </p:sp>
            <p:sp>
              <p:nvSpPr>
                <p:cNvPr id="110" name="Freeform 110"/>
                <p:cNvSpPr/>
                <p:nvPr/>
              </p:nvSpPr>
              <p:spPr>
                <a:xfrm>
                  <a:off x="704850" y="401955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E08C7B"/>
                  </a:solidFill>
                </a:ln>
              </p:spPr>
            </p:sp>
            <p:sp>
              <p:nvSpPr>
                <p:cNvPr id="111" name="Freeform 111"/>
                <p:cNvSpPr/>
                <p:nvPr/>
              </p:nvSpPr>
              <p:spPr>
                <a:xfrm>
                  <a:off x="647700" y="391349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E08C7B"/>
                  </a:solidFill>
                </a:ln>
              </p:spPr>
            </p:sp>
            <p:sp>
              <p:nvSpPr>
                <p:cNvPr id="112" name="Freeform 112"/>
                <p:cNvSpPr/>
                <p:nvPr/>
              </p:nvSpPr>
              <p:spPr>
                <a:xfrm>
                  <a:off x="647700" y="394335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E08C7B"/>
                  </a:solidFill>
                </a:ln>
              </p:spPr>
            </p:sp>
            <p:sp>
              <p:nvSpPr>
                <p:cNvPr id="113" name="Freeform 113"/>
                <p:cNvSpPr/>
                <p:nvPr/>
              </p:nvSpPr>
              <p:spPr>
                <a:xfrm>
                  <a:off x="647700" y="399097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E08C7B"/>
                  </a:solidFill>
                </a:ln>
              </p:spPr>
            </p:sp>
          </p:grpSp>
          <p:sp>
            <p:nvSpPr>
              <p:cNvPr id="115" name="Ellipse 115"/>
              <p:cNvSpPr/>
              <p:nvPr/>
            </p:nvSpPr>
            <p:spPr>
              <a:xfrm>
                <a:off x="2381250" y="1857375"/>
                <a:ext cx="323850" cy="323850"/>
              </a:xfrm>
              <a:prstGeom prst="ellipse">
                <a:avLst/>
              </a:prstGeom>
              <a:solidFill>
                <a:srgbClr val="FFFFFF"/>
              </a:solidFill>
              <a:ln>
                <a:noFill/>
              </a:ln>
            </p:spPr>
          </p:sp>
          <p:grpSp>
            <p:nvGrpSpPr>
              <p:cNvPr id="120" name="Group 120"/>
              <p:cNvGrpSpPr/>
              <p:nvPr/>
            </p:nvGrpSpPr>
            <p:grpSpPr>
              <a:xfrm>
                <a:off x="2466975" y="1933575"/>
                <a:ext cx="152400" cy="171450"/>
                <a:chOff x="2466975" y="1933575"/>
                <a:chExt cx="152400" cy="171450"/>
              </a:xfrm>
            </p:grpSpPr>
            <p:sp>
              <p:nvSpPr>
                <p:cNvPr id="116" name="Freeform 116"/>
                <p:cNvSpPr/>
                <p:nvPr/>
              </p:nvSpPr>
              <p:spPr>
                <a:xfrm>
                  <a:off x="2466975" y="20669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E08C7B"/>
                  </a:solidFill>
                </a:ln>
              </p:spPr>
            </p:sp>
            <p:sp>
              <p:nvSpPr>
                <p:cNvPr id="117" name="Freeform 117"/>
                <p:cNvSpPr/>
                <p:nvPr/>
              </p:nvSpPr>
              <p:spPr>
                <a:xfrm>
                  <a:off x="2571750" y="20669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E08C7B"/>
                  </a:solidFill>
                </a:ln>
              </p:spPr>
            </p:sp>
            <p:sp>
              <p:nvSpPr>
                <p:cNvPr id="118" name="Freeform 118"/>
                <p:cNvSpPr/>
                <p:nvPr/>
              </p:nvSpPr>
              <p:spPr>
                <a:xfrm>
                  <a:off x="2466975" y="1933575"/>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E08C7B"/>
                  </a:solidFill>
                </a:ln>
              </p:spPr>
            </p:sp>
            <p:sp>
              <p:nvSpPr>
                <p:cNvPr id="119" name="Freeform 119"/>
                <p:cNvSpPr/>
                <p:nvPr/>
              </p:nvSpPr>
              <p:spPr>
                <a:xfrm>
                  <a:off x="2486025" y="1952625"/>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E08C7B"/>
                  </a:solidFill>
                </a:ln>
              </p:spPr>
            </p:sp>
          </p:grpSp>
          <p:sp>
            <p:nvSpPr>
              <p:cNvPr id="121" name="Ellipse 121"/>
              <p:cNvSpPr/>
              <p:nvPr/>
            </p:nvSpPr>
            <p:spPr>
              <a:xfrm>
                <a:off x="4333875" y="952500"/>
                <a:ext cx="323850" cy="323850"/>
              </a:xfrm>
              <a:prstGeom prst="ellipse">
                <a:avLst/>
              </a:prstGeom>
              <a:solidFill>
                <a:srgbClr val="FFFFFF"/>
              </a:solidFill>
              <a:ln>
                <a:noFill/>
              </a:ln>
            </p:spPr>
          </p:sp>
          <p:grpSp>
            <p:nvGrpSpPr>
              <p:cNvPr id="124" name="Group 124"/>
              <p:cNvGrpSpPr/>
              <p:nvPr/>
            </p:nvGrpSpPr>
            <p:grpSpPr>
              <a:xfrm>
                <a:off x="4419600" y="1038225"/>
                <a:ext cx="152400" cy="152400"/>
                <a:chOff x="4419600" y="1038225"/>
                <a:chExt cx="152400" cy="152400"/>
              </a:xfrm>
            </p:grpSpPr>
            <p:sp>
              <p:nvSpPr>
                <p:cNvPr id="122" name="Freeform 122"/>
                <p:cNvSpPr/>
                <p:nvPr/>
              </p:nvSpPr>
              <p:spPr>
                <a:xfrm>
                  <a:off x="4419600" y="1038225"/>
                  <a:ext cx="142875" cy="152400"/>
                </a:xfrm>
                <a:custGeom>
                  <a:avLst/>
                  <a:gdLst/>
                  <a:ahLst/>
                  <a:cxnLst/>
                  <a:rect l="l" t="t" r="r" b="b"/>
                  <a:pathLst>
                    <a:path w="142875" h="152400">
                      <a:moveTo>
                        <a:pt x="123825" y="38100"/>
                      </a:moveTo>
                      <a:lnTo>
                        <a:pt x="123825" y="9525"/>
                      </a:lnTo>
                      <a:cubicBezTo>
                        <a:pt x="123825" y="4264"/>
                        <a:pt x="119561" y="0"/>
                        <a:pt x="114300" y="0"/>
                      </a:cubicBezTo>
                      <a:lnTo>
                        <a:pt x="19050" y="0"/>
                      </a:lnTo>
                      <a:cubicBezTo>
                        <a:pt x="8529" y="0"/>
                        <a:pt x="0" y="8529"/>
                        <a:pt x="0" y="19050"/>
                      </a:cubicBezTo>
                      <a:cubicBezTo>
                        <a:pt x="0" y="29571"/>
                        <a:pt x="8529" y="38100"/>
                        <a:pt x="19050" y="38100"/>
                      </a:cubicBezTo>
                      <a:lnTo>
                        <a:pt x="133350" y="38100"/>
                      </a:lnTo>
                      <a:cubicBezTo>
                        <a:pt x="138611" y="38100"/>
                        <a:pt x="142875" y="42364"/>
                        <a:pt x="142875" y="47625"/>
                      </a:cubicBezTo>
                      <a:lnTo>
                        <a:pt x="142875" y="76200"/>
                      </a:lnTo>
                      <a:moveTo>
                        <a:pt x="142875" y="114300"/>
                      </a:moveTo>
                      <a:lnTo>
                        <a:pt x="142875" y="142875"/>
                      </a:lnTo>
                      <a:cubicBezTo>
                        <a:pt x="142875" y="148136"/>
                        <a:pt x="138611" y="152400"/>
                        <a:pt x="133350" y="152400"/>
                      </a:cubicBezTo>
                      <a:lnTo>
                        <a:pt x="19050" y="152400"/>
                      </a:lnTo>
                      <a:cubicBezTo>
                        <a:pt x="8529" y="152400"/>
                        <a:pt x="0" y="143871"/>
                        <a:pt x="0" y="133350"/>
                      </a:cubicBezTo>
                      <a:lnTo>
                        <a:pt x="0" y="19050"/>
                      </a:lnTo>
                    </a:path>
                  </a:pathLst>
                </a:custGeom>
                <a:noFill/>
                <a:ln w="19050">
                  <a:solidFill>
                    <a:srgbClr val="E08C7B"/>
                  </a:solidFill>
                </a:ln>
              </p:spPr>
            </p:sp>
            <p:sp>
              <p:nvSpPr>
                <p:cNvPr id="123" name="Freeform 123"/>
                <p:cNvSpPr/>
                <p:nvPr/>
              </p:nvSpPr>
              <p:spPr>
                <a:xfrm>
                  <a:off x="4514850" y="1114425"/>
                  <a:ext cx="57150" cy="38100"/>
                </a:xfrm>
                <a:custGeom>
                  <a:avLst/>
                  <a:gdLst/>
                  <a:ahLst/>
                  <a:cxnLst/>
                  <a:rect l="l" t="t" r="r" b="b"/>
                  <a:pathLst>
                    <a:path w="57150" h="38100">
                      <a:moveTo>
                        <a:pt x="57150" y="0"/>
                      </a:moveTo>
                      <a:lnTo>
                        <a:pt x="57150" y="38100"/>
                      </a:lnTo>
                      <a:lnTo>
                        <a:pt x="19050" y="38100"/>
                      </a:lnTo>
                      <a:cubicBezTo>
                        <a:pt x="8529" y="38100"/>
                        <a:pt x="0" y="29571"/>
                        <a:pt x="0" y="19050"/>
                      </a:cubicBezTo>
                      <a:cubicBezTo>
                        <a:pt x="0" y="8529"/>
                        <a:pt x="8529" y="0"/>
                        <a:pt x="19050" y="0"/>
                      </a:cubicBezTo>
                      <a:lnTo>
                        <a:pt x="57150" y="0"/>
                      </a:lnTo>
                    </a:path>
                  </a:pathLst>
                </a:custGeom>
                <a:noFill/>
                <a:ln w="19050">
                  <a:solidFill>
                    <a:srgbClr val="E08C7B"/>
                  </a:solidFill>
                </a:ln>
              </p:spPr>
            </p:sp>
          </p:grpSp>
          <p:sp>
            <p:nvSpPr>
              <p:cNvPr id="125" name="Ellipse 125"/>
              <p:cNvSpPr/>
              <p:nvPr/>
            </p:nvSpPr>
            <p:spPr>
              <a:xfrm>
                <a:off x="5943600" y="619125"/>
                <a:ext cx="304800" cy="304800"/>
              </a:xfrm>
              <a:prstGeom prst="ellipse">
                <a:avLst/>
              </a:prstGeom>
              <a:solidFill>
                <a:srgbClr val="FFFFFF"/>
              </a:solidFill>
              <a:ln>
                <a:noFill/>
              </a:ln>
            </p:spPr>
          </p:sp>
          <p:grpSp>
            <p:nvGrpSpPr>
              <p:cNvPr id="130" name="Group 130"/>
              <p:cNvGrpSpPr/>
              <p:nvPr/>
            </p:nvGrpSpPr>
            <p:grpSpPr>
              <a:xfrm>
                <a:off x="6017419" y="719931"/>
                <a:ext cx="157163" cy="122238"/>
                <a:chOff x="6017419" y="719931"/>
                <a:chExt cx="157163" cy="122238"/>
              </a:xfrm>
            </p:grpSpPr>
            <p:sp>
              <p:nvSpPr>
                <p:cNvPr id="126" name="Freeform 126"/>
                <p:cNvSpPr/>
                <p:nvPr/>
              </p:nvSpPr>
              <p:spPr>
                <a:xfrm>
                  <a:off x="6017419" y="719931"/>
                  <a:ext cx="157163" cy="122238"/>
                </a:xfrm>
                <a:custGeom>
                  <a:avLst/>
                  <a:gdLst/>
                  <a:ahLst/>
                  <a:cxnLst/>
                  <a:rect l="l" t="t" r="r" b="b"/>
                  <a:pathLst>
                    <a:path w="157163" h="122238">
                      <a:moveTo>
                        <a:pt x="0" y="26194"/>
                      </a:move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26194" y="122238"/>
                      </a:lnTo>
                      <a:cubicBezTo>
                        <a:pt x="11727" y="122238"/>
                        <a:pt x="0" y="110510"/>
                        <a:pt x="0" y="96044"/>
                      </a:cubicBezTo>
                      <a:lnTo>
                        <a:pt x="0" y="26194"/>
                      </a:lnTo>
                    </a:path>
                  </a:pathLst>
                </a:custGeom>
                <a:noFill/>
                <a:ln w="17463">
                  <a:solidFill>
                    <a:srgbClr val="E8634C"/>
                  </a:solidFill>
                </a:ln>
              </p:spPr>
            </p:sp>
            <p:sp>
              <p:nvSpPr>
                <p:cNvPr id="127" name="Freeform 127"/>
                <p:cNvSpPr/>
                <p:nvPr/>
              </p:nvSpPr>
              <p:spPr>
                <a:xfrm>
                  <a:off x="6017419" y="763588"/>
                  <a:ext cx="157163" cy="9525"/>
                </a:xfrm>
                <a:custGeom>
                  <a:avLst/>
                  <a:gdLst/>
                  <a:ahLst/>
                  <a:cxnLst/>
                  <a:rect l="l" t="t" r="r" b="b"/>
                  <a:pathLst>
                    <a:path w="157163" h="9525">
                      <a:moveTo>
                        <a:pt x="0" y="0"/>
                      </a:moveTo>
                      <a:lnTo>
                        <a:pt x="157163" y="0"/>
                      </a:lnTo>
                    </a:path>
                  </a:pathLst>
                </a:custGeom>
                <a:noFill/>
                <a:ln w="17463">
                  <a:solidFill>
                    <a:srgbClr val="E8634C"/>
                  </a:solidFill>
                </a:ln>
              </p:spPr>
            </p:sp>
            <p:sp>
              <p:nvSpPr>
                <p:cNvPr id="128" name="Freeform 128"/>
                <p:cNvSpPr/>
                <p:nvPr/>
              </p:nvSpPr>
              <p:spPr>
                <a:xfrm>
                  <a:off x="6052344" y="807244"/>
                  <a:ext cx="9525" cy="9525"/>
                </a:xfrm>
                <a:custGeom>
                  <a:avLst/>
                  <a:gdLst/>
                  <a:ahLst/>
                  <a:cxnLst/>
                  <a:rect l="l" t="t" r="r" b="b"/>
                  <a:pathLst>
                    <a:path w="9525" h="9525">
                      <a:moveTo>
                        <a:pt x="0" y="0"/>
                      </a:moveTo>
                      <a:lnTo>
                        <a:pt x="87" y="0"/>
                      </a:lnTo>
                    </a:path>
                  </a:pathLst>
                </a:custGeom>
                <a:noFill/>
                <a:ln w="17463">
                  <a:solidFill>
                    <a:srgbClr val="E8634C"/>
                  </a:solidFill>
                </a:ln>
              </p:spPr>
            </p:sp>
            <p:sp>
              <p:nvSpPr>
                <p:cNvPr id="129" name="Freeform 129"/>
                <p:cNvSpPr/>
                <p:nvPr/>
              </p:nvSpPr>
              <p:spPr>
                <a:xfrm>
                  <a:off x="6087269" y="807244"/>
                  <a:ext cx="17463" cy="9525"/>
                </a:xfrm>
                <a:custGeom>
                  <a:avLst/>
                  <a:gdLst/>
                  <a:ahLst/>
                  <a:cxnLst/>
                  <a:rect l="l" t="t" r="r" b="b"/>
                  <a:pathLst>
                    <a:path w="17463" h="9525">
                      <a:moveTo>
                        <a:pt x="0" y="0"/>
                      </a:moveTo>
                      <a:lnTo>
                        <a:pt x="17463" y="0"/>
                      </a:lnTo>
                    </a:path>
                  </a:pathLst>
                </a:custGeom>
                <a:noFill/>
                <a:ln w="17463">
                  <a:solidFill>
                    <a:srgbClr val="E8634C"/>
                  </a:solidFill>
                </a:ln>
              </p:spPr>
            </p:sp>
          </p:grpSp>
          <p:sp>
            <p:nvSpPr>
              <p:cNvPr id="131" name="Ellipse 131"/>
              <p:cNvSpPr/>
              <p:nvPr/>
            </p:nvSpPr>
            <p:spPr>
              <a:xfrm>
                <a:off x="7534275" y="952500"/>
                <a:ext cx="323850" cy="323850"/>
              </a:xfrm>
              <a:prstGeom prst="ellipse">
                <a:avLst/>
              </a:prstGeom>
              <a:solidFill>
                <a:srgbClr val="FFFFFF"/>
              </a:solidFill>
              <a:ln>
                <a:noFill/>
              </a:ln>
            </p:spPr>
          </p:sp>
          <p:grpSp>
            <p:nvGrpSpPr>
              <p:cNvPr id="134" name="Group 134"/>
              <p:cNvGrpSpPr/>
              <p:nvPr/>
            </p:nvGrpSpPr>
            <p:grpSpPr>
              <a:xfrm>
                <a:off x="7610475" y="1057275"/>
                <a:ext cx="171450" cy="114300"/>
                <a:chOff x="7610475" y="1057275"/>
                <a:chExt cx="171450" cy="114300"/>
              </a:xfrm>
            </p:grpSpPr>
            <p:sp>
              <p:nvSpPr>
                <p:cNvPr id="132" name="Freeform 132"/>
                <p:cNvSpPr/>
                <p:nvPr/>
              </p:nvSpPr>
              <p:spPr>
                <a:xfrm>
                  <a:off x="7724775" y="1072221"/>
                  <a:ext cx="57150" cy="84408"/>
                </a:xfrm>
                <a:custGeom>
                  <a:avLst/>
                  <a:gdLst/>
                  <a:ahLst/>
                  <a:cxnLst/>
                  <a:rect l="l" t="t" r="r" b="b"/>
                  <a:pathLst>
                    <a:path w="57150" h="84408">
                      <a:moveTo>
                        <a:pt x="0" y="23154"/>
                      </a:moveTo>
                      <a:lnTo>
                        <a:pt x="43367" y="1475"/>
                      </a:lnTo>
                      <a:cubicBezTo>
                        <a:pt x="46319" y="0"/>
                        <a:pt x="49824" y="158"/>
                        <a:pt x="52631" y="1892"/>
                      </a:cubicBezTo>
                      <a:cubicBezTo>
                        <a:pt x="55439" y="3627"/>
                        <a:pt x="57148" y="6691"/>
                        <a:pt x="57150" y="9990"/>
                      </a:cubicBezTo>
                      <a:lnTo>
                        <a:pt x="57150" y="74417"/>
                      </a:lnTo>
                      <a:cubicBezTo>
                        <a:pt x="57148" y="77717"/>
                        <a:pt x="55439" y="80781"/>
                        <a:pt x="52631" y="82516"/>
                      </a:cubicBezTo>
                      <a:cubicBezTo>
                        <a:pt x="49824" y="84250"/>
                        <a:pt x="46319" y="84408"/>
                        <a:pt x="43367" y="82933"/>
                      </a:cubicBezTo>
                      <a:lnTo>
                        <a:pt x="0" y="61254"/>
                      </a:lnTo>
                      <a:lnTo>
                        <a:pt x="0" y="23154"/>
                      </a:lnTo>
                    </a:path>
                  </a:pathLst>
                </a:custGeom>
                <a:noFill/>
                <a:ln w="19050">
                  <a:solidFill>
                    <a:srgbClr val="E08C7B"/>
                  </a:solidFill>
                </a:ln>
              </p:spPr>
            </p:sp>
            <p:sp>
              <p:nvSpPr>
                <p:cNvPr id="133" name="Freeform 133"/>
                <p:cNvSpPr/>
                <p:nvPr/>
              </p:nvSpPr>
              <p:spPr>
                <a:xfrm>
                  <a:off x="7610475" y="1057275"/>
                  <a:ext cx="114300" cy="114300"/>
                </a:xfrm>
                <a:custGeom>
                  <a:avLst/>
                  <a:gdLst/>
                  <a:ahLst/>
                  <a:cxnLst/>
                  <a:rect l="l" t="t" r="r" b="b"/>
                  <a:pathLst>
                    <a:path w="114300" h="114300">
                      <a:moveTo>
                        <a:pt x="0" y="19050"/>
                      </a:moveTo>
                      <a:cubicBezTo>
                        <a:pt x="0" y="8529"/>
                        <a:pt x="8529" y="0"/>
                        <a:pt x="19050" y="0"/>
                      </a:cubicBezTo>
                      <a:lnTo>
                        <a:pt x="95250" y="0"/>
                      </a:lnTo>
                      <a:cubicBezTo>
                        <a:pt x="105771" y="0"/>
                        <a:pt x="114300" y="8529"/>
                        <a:pt x="114300" y="19050"/>
                      </a:cubicBezTo>
                      <a:lnTo>
                        <a:pt x="114300" y="95250"/>
                      </a:lnTo>
                      <a:cubicBezTo>
                        <a:pt x="114300" y="105771"/>
                        <a:pt x="105771" y="114300"/>
                        <a:pt x="95250" y="114300"/>
                      </a:cubicBezTo>
                      <a:lnTo>
                        <a:pt x="19050" y="114300"/>
                      </a:lnTo>
                      <a:cubicBezTo>
                        <a:pt x="8529" y="114300"/>
                        <a:pt x="0" y="105771"/>
                        <a:pt x="0" y="95250"/>
                      </a:cubicBezTo>
                      <a:lnTo>
                        <a:pt x="0" y="19050"/>
                      </a:lnTo>
                    </a:path>
                  </a:pathLst>
                </a:custGeom>
                <a:noFill/>
                <a:ln w="19050">
                  <a:solidFill>
                    <a:srgbClr val="E08C7B"/>
                  </a:solidFill>
                </a:ln>
              </p:spPr>
            </p:sp>
          </p:grpSp>
          <p:sp>
            <p:nvSpPr>
              <p:cNvPr id="135" name="Ellipse 135"/>
              <p:cNvSpPr/>
              <p:nvPr/>
            </p:nvSpPr>
            <p:spPr>
              <a:xfrm>
                <a:off x="9486900" y="1866900"/>
                <a:ext cx="323850" cy="323850"/>
              </a:xfrm>
              <a:prstGeom prst="ellipse">
                <a:avLst/>
              </a:prstGeom>
              <a:solidFill>
                <a:srgbClr val="FFFFFF"/>
              </a:solidFill>
              <a:ln>
                <a:noFill/>
              </a:ln>
            </p:spPr>
          </p:sp>
          <p:grpSp>
            <p:nvGrpSpPr>
              <p:cNvPr id="139" name="Group 139"/>
              <p:cNvGrpSpPr/>
              <p:nvPr/>
            </p:nvGrpSpPr>
            <p:grpSpPr>
              <a:xfrm>
                <a:off x="9591675" y="1943100"/>
                <a:ext cx="114300" cy="171450"/>
                <a:chOff x="9591675" y="1943100"/>
                <a:chExt cx="114300" cy="171450"/>
              </a:xfrm>
            </p:grpSpPr>
            <p:sp>
              <p:nvSpPr>
                <p:cNvPr id="136" name="Freeform 136"/>
                <p:cNvSpPr/>
                <p:nvPr/>
              </p:nvSpPr>
              <p:spPr>
                <a:xfrm>
                  <a:off x="9591675" y="1943100"/>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E08C7B"/>
                  </a:solidFill>
                </a:ln>
              </p:spPr>
            </p:sp>
            <p:sp>
              <p:nvSpPr>
                <p:cNvPr id="137" name="Freeform 137"/>
                <p:cNvSpPr/>
                <p:nvPr/>
              </p:nvSpPr>
              <p:spPr>
                <a:xfrm>
                  <a:off x="9639300" y="1952625"/>
                  <a:ext cx="19050" cy="9525"/>
                </a:xfrm>
                <a:custGeom>
                  <a:avLst/>
                  <a:gdLst/>
                  <a:ahLst/>
                  <a:cxnLst/>
                  <a:rect l="l" t="t" r="r" b="b"/>
                  <a:pathLst>
                    <a:path w="19050" h="9525">
                      <a:moveTo>
                        <a:pt x="0" y="0"/>
                      </a:moveTo>
                      <a:lnTo>
                        <a:pt x="19050" y="0"/>
                      </a:lnTo>
                    </a:path>
                  </a:pathLst>
                </a:custGeom>
                <a:noFill/>
                <a:ln w="19050">
                  <a:solidFill>
                    <a:srgbClr val="E08C7B"/>
                  </a:solidFill>
                </a:ln>
              </p:spPr>
            </p:sp>
            <p:sp>
              <p:nvSpPr>
                <p:cNvPr id="138" name="Freeform 138"/>
                <p:cNvSpPr/>
                <p:nvPr/>
              </p:nvSpPr>
              <p:spPr>
                <a:xfrm>
                  <a:off x="9648825" y="2076450"/>
                  <a:ext cx="9525" cy="9525"/>
                </a:xfrm>
                <a:custGeom>
                  <a:avLst/>
                  <a:gdLst/>
                  <a:ahLst/>
                  <a:cxnLst/>
                  <a:rect l="l" t="t" r="r" b="b"/>
                  <a:pathLst>
                    <a:path w="9525" h="9525">
                      <a:moveTo>
                        <a:pt x="0" y="0"/>
                      </a:moveTo>
                      <a:lnTo>
                        <a:pt x="0" y="95"/>
                      </a:lnTo>
                    </a:path>
                  </a:pathLst>
                </a:custGeom>
                <a:noFill/>
                <a:ln w="19050">
                  <a:solidFill>
                    <a:srgbClr val="E08C7B"/>
                  </a:solidFill>
                </a:ln>
              </p:spPr>
            </p:sp>
          </p:grpSp>
          <p:sp>
            <p:nvSpPr>
              <p:cNvPr id="140" name="Ellipse 140"/>
              <p:cNvSpPr/>
              <p:nvPr/>
            </p:nvSpPr>
            <p:spPr>
              <a:xfrm>
                <a:off x="11001375" y="3381375"/>
                <a:ext cx="323850" cy="323850"/>
              </a:xfrm>
              <a:prstGeom prst="ellipse">
                <a:avLst/>
              </a:prstGeom>
              <a:solidFill>
                <a:srgbClr val="FFFFFF"/>
              </a:solidFill>
              <a:ln>
                <a:noFill/>
              </a:ln>
            </p:spPr>
          </p:sp>
          <p:grpSp>
            <p:nvGrpSpPr>
              <p:cNvPr id="144" name="Group 144"/>
              <p:cNvGrpSpPr/>
              <p:nvPr/>
            </p:nvGrpSpPr>
            <p:grpSpPr>
              <a:xfrm>
                <a:off x="11096625" y="3467100"/>
                <a:ext cx="133350" cy="152400"/>
                <a:chOff x="11096625" y="3467100"/>
                <a:chExt cx="133350" cy="152400"/>
              </a:xfrm>
            </p:grpSpPr>
            <p:sp>
              <p:nvSpPr>
                <p:cNvPr id="141" name="Freeform 141"/>
                <p:cNvSpPr/>
                <p:nvPr/>
              </p:nvSpPr>
              <p:spPr>
                <a:xfrm>
                  <a:off x="11096625" y="34671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rgbClr val="E08C7B"/>
                  </a:solidFill>
                </a:ln>
              </p:spPr>
            </p:sp>
            <p:sp>
              <p:nvSpPr>
                <p:cNvPr id="142" name="Freeform 142"/>
                <p:cNvSpPr/>
                <p:nvPr/>
              </p:nvSpPr>
              <p:spPr>
                <a:xfrm>
                  <a:off x="11096625" y="35814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rgbClr val="E08C7B"/>
                  </a:solidFill>
                </a:ln>
              </p:spPr>
            </p:sp>
            <p:sp>
              <p:nvSpPr>
                <p:cNvPr id="143" name="Freeform 143"/>
                <p:cNvSpPr/>
                <p:nvPr/>
              </p:nvSpPr>
              <p:spPr>
                <a:xfrm>
                  <a:off x="11134725" y="3505200"/>
                  <a:ext cx="57150" cy="9525"/>
                </a:xfrm>
                <a:custGeom>
                  <a:avLst/>
                  <a:gdLst/>
                  <a:ahLst/>
                  <a:cxnLst/>
                  <a:rect l="l" t="t" r="r" b="b"/>
                  <a:pathLst>
                    <a:path w="57150" h="9525">
                      <a:moveTo>
                        <a:pt x="0" y="0"/>
                      </a:moveTo>
                      <a:lnTo>
                        <a:pt x="57150" y="0"/>
                      </a:lnTo>
                    </a:path>
                  </a:pathLst>
                </a:custGeom>
                <a:noFill/>
                <a:ln w="19050">
                  <a:solidFill>
                    <a:srgbClr val="E08C7B"/>
                  </a:solidFill>
                </a:ln>
              </p:spPr>
            </p:sp>
          </p:grpSp>
          <p:sp>
            <p:nvSpPr>
              <p:cNvPr id="145" name="Ellipse 145"/>
              <p:cNvSpPr/>
              <p:nvPr/>
            </p:nvSpPr>
            <p:spPr>
              <a:xfrm>
                <a:off x="11668125" y="4610100"/>
                <a:ext cx="323850" cy="323850"/>
              </a:xfrm>
              <a:prstGeom prst="ellipse">
                <a:avLst/>
              </a:prstGeom>
              <a:solidFill>
                <a:srgbClr val="FFFFFF"/>
              </a:solidFill>
              <a:ln>
                <a:noFill/>
              </a:ln>
            </p:spPr>
          </p:sp>
          <p:grpSp>
            <p:nvGrpSpPr>
              <p:cNvPr id="148" name="Group 148"/>
              <p:cNvGrpSpPr/>
              <p:nvPr/>
            </p:nvGrpSpPr>
            <p:grpSpPr>
              <a:xfrm>
                <a:off x="11740144" y="4682119"/>
                <a:ext cx="179813" cy="179813"/>
                <a:chOff x="11740144" y="4682119"/>
                <a:chExt cx="179813" cy="179813"/>
              </a:xfrm>
            </p:grpSpPr>
            <p:sp>
              <p:nvSpPr>
                <p:cNvPr id="146" name="Freeform 146"/>
                <p:cNvSpPr/>
                <p:nvPr/>
              </p:nvSpPr>
              <p:spPr>
                <a:xfrm>
                  <a:off x="11740144" y="4682119"/>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E08C7B"/>
                  </a:solidFill>
                </a:ln>
              </p:spPr>
            </p:sp>
            <p:sp>
              <p:nvSpPr>
                <p:cNvPr id="147" name="Freeform 147"/>
                <p:cNvSpPr/>
                <p:nvPr/>
              </p:nvSpPr>
              <p:spPr>
                <a:xfrm>
                  <a:off x="11801475" y="4743450"/>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E08C7B"/>
                  </a:solidFill>
                </a:ln>
              </p:spPr>
            </p:sp>
          </p:grpSp>
        </p:grpSp>
      </p:gr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44</a:t>
              </a:r>
            </a:p>
          </p:txBody>
        </p:sp>
        <p:sp>
          <p:nvSpPr>
            <p:cNvPr id="4" name="TextBox 4"/>
            <p:cNvSpPr txBox="1"/>
            <p:nvPr/>
          </p:nvSpPr>
          <p:spPr>
            <a:xfrm>
              <a:off x="942594" y="151448"/>
              <a:ext cx="323104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企业新媒体矩阵搭建策略​</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sp>
        <p:nvSpPr>
          <p:cNvPr id="7" name="conn-1"/>
          <p:cNvSpPr/>
          <p:nvPr/>
        </p:nvSpPr>
        <p:spPr>
          <a:xfrm>
            <a:off x="1066800" y="1657350"/>
            <a:ext cx="552450" cy="9525"/>
          </a:xfrm>
          <a:custGeom>
            <a:avLst/>
            <a:gdLst/>
            <a:ahLst/>
            <a:cxnLst/>
            <a:rect l="l" t="t" r="r" b="b"/>
            <a:pathLst>
              <a:path w="552450" h="9525">
                <a:moveTo>
                  <a:pt x="0" y="0"/>
                </a:moveTo>
                <a:lnTo>
                  <a:pt x="552450" y="0"/>
                </a:lnTo>
              </a:path>
            </a:pathLst>
          </a:custGeom>
          <a:noFill/>
          <a:ln w="19050">
            <a:solidFill>
              <a:srgbClr val="ECC1B8"/>
            </a:solidFill>
          </a:ln>
        </p:spPr>
      </p:sp>
      <p:sp>
        <p:nvSpPr>
          <p:cNvPr id="8" name="conn-2"/>
          <p:cNvSpPr/>
          <p:nvPr/>
        </p:nvSpPr>
        <p:spPr>
          <a:xfrm>
            <a:off x="10191750" y="1657350"/>
            <a:ext cx="1190625" cy="1866900"/>
          </a:xfrm>
          <a:custGeom>
            <a:avLst/>
            <a:gdLst/>
            <a:ahLst/>
            <a:cxnLst/>
            <a:rect l="l" t="t" r="r" b="b"/>
            <a:pathLst>
              <a:path w="1190625" h="1866900">
                <a:moveTo>
                  <a:pt x="0" y="0"/>
                </a:moveTo>
                <a:lnTo>
                  <a:pt x="714375" y="0"/>
                </a:lnTo>
                <a:cubicBezTo>
                  <a:pt x="977401" y="0"/>
                  <a:pt x="1190625" y="213224"/>
                  <a:pt x="1190625" y="476250"/>
                </a:cubicBezTo>
                <a:moveTo>
                  <a:pt x="1190625" y="1066800"/>
                </a:moveTo>
                <a:lnTo>
                  <a:pt x="1190625" y="1390650"/>
                </a:lnTo>
                <a:cubicBezTo>
                  <a:pt x="1190625" y="1653676"/>
                  <a:pt x="977401" y="1866900"/>
                  <a:pt x="714375" y="1866900"/>
                </a:cubicBezTo>
                <a:lnTo>
                  <a:pt x="0" y="1866900"/>
                </a:lnTo>
              </a:path>
            </a:pathLst>
          </a:custGeom>
          <a:noFill/>
          <a:ln w="19050">
            <a:solidFill>
              <a:srgbClr val="F3BAB0"/>
            </a:solidFill>
          </a:ln>
        </p:spPr>
      </p:sp>
      <p:sp>
        <p:nvSpPr>
          <p:cNvPr id="9" name="conn-3"/>
          <p:cNvSpPr/>
          <p:nvPr/>
        </p:nvSpPr>
        <p:spPr>
          <a:xfrm>
            <a:off x="733425" y="3524250"/>
            <a:ext cx="885825" cy="1857375"/>
          </a:xfrm>
          <a:custGeom>
            <a:avLst/>
            <a:gdLst/>
            <a:ahLst/>
            <a:cxnLst/>
            <a:rect l="l" t="t" r="r" b="b"/>
            <a:pathLst>
              <a:path w="885825" h="1857375">
                <a:moveTo>
                  <a:pt x="885825" y="0"/>
                </a:moveTo>
                <a:lnTo>
                  <a:pt x="476250" y="0"/>
                </a:lnTo>
                <a:cubicBezTo>
                  <a:pt x="265830" y="0"/>
                  <a:pt x="95250" y="170580"/>
                  <a:pt x="95250" y="381000"/>
                </a:cubicBezTo>
                <a:moveTo>
                  <a:pt x="0" y="990600"/>
                </a:moveTo>
                <a:lnTo>
                  <a:pt x="0" y="1428750"/>
                </a:lnTo>
                <a:cubicBezTo>
                  <a:pt x="0" y="1665473"/>
                  <a:pt x="191902" y="1857375"/>
                  <a:pt x="428625" y="1857375"/>
                </a:cubicBezTo>
                <a:lnTo>
                  <a:pt x="885825" y="1857375"/>
                </a:lnTo>
              </a:path>
            </a:pathLst>
          </a:custGeom>
          <a:noFill/>
          <a:ln w="19050">
            <a:solidFill>
              <a:srgbClr val="ECC1B8"/>
            </a:solidFill>
          </a:ln>
        </p:spPr>
      </p:sp>
      <p:sp>
        <p:nvSpPr>
          <p:cNvPr id="10" name="conn-4"/>
          <p:cNvSpPr/>
          <p:nvPr/>
        </p:nvSpPr>
        <p:spPr>
          <a:xfrm>
            <a:off x="8858250" y="6096000"/>
            <a:ext cx="9525" cy="628650"/>
          </a:xfrm>
          <a:custGeom>
            <a:avLst/>
            <a:gdLst/>
            <a:ahLst/>
            <a:cxnLst/>
            <a:rect l="l" t="t" r="r" b="b"/>
            <a:pathLst>
              <a:path w="9525" h="628650">
                <a:moveTo>
                  <a:pt x="0" y="0"/>
                </a:moveTo>
                <a:lnTo>
                  <a:pt x="0" y="628650"/>
                </a:lnTo>
              </a:path>
            </a:pathLst>
          </a:custGeom>
          <a:noFill/>
          <a:ln w="19050">
            <a:solidFill>
              <a:srgbClr val="ECC1B8"/>
            </a:solidFill>
          </a:ln>
        </p:spPr>
      </p:sp>
      <p:grpSp>
        <p:nvGrpSpPr>
          <p:cNvPr id="13" name="bubble-pre"/>
          <p:cNvGrpSpPr/>
          <p:nvPr/>
        </p:nvGrpSpPr>
        <p:grpSpPr>
          <a:xfrm>
            <a:off x="400050" y="1409700"/>
            <a:ext cx="666750" cy="495300"/>
            <a:chOff x="400050" y="1409700"/>
            <a:chExt cx="666750" cy="495300"/>
          </a:xfrm>
        </p:grpSpPr>
        <p:sp>
          <p:nvSpPr>
            <p:cNvPr id="11" name="Freeform 11"/>
            <p:cNvSpPr/>
            <p:nvPr/>
          </p:nvSpPr>
          <p:spPr>
            <a:xfrm>
              <a:off x="400050" y="1409700"/>
              <a:ext cx="666750" cy="495300"/>
            </a:xfrm>
            <a:prstGeom prst="wedgeRoundRectCallout">
              <a:avLst>
                <a:gd name="adj1" fmla="val 0"/>
                <a:gd name="adj2" fmla="val 72000"/>
                <a:gd name="adj3" fmla="val 20000"/>
              </a:avLst>
            </a:prstGeom>
            <a:solidFill>
              <a:srgbClr val="C46D5B"/>
            </a:solidFill>
            <a:ln>
              <a:noFill/>
            </a:ln>
          </p:spPr>
        </p:sp>
        <p:sp>
          <p:nvSpPr>
            <p:cNvPr id="12" name="TextBox 12"/>
            <p:cNvSpPr txBox="1"/>
            <p:nvPr/>
          </p:nvSpPr>
          <p:spPr>
            <a:xfrm>
              <a:off x="604012" y="1513999"/>
              <a:ext cx="25882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FFFFFF"/>
                  </a:solidFill>
                  <a:latin typeface="+mn-lt"/>
                  <a:ea typeface="+mn-ea"/>
                  <a:cs typeface="+mn-cs"/>
                </a:rPr>
                <a:t>前期</a:t>
              </a:r>
              <a:br/>
              <a:r>
                <a:rPr lang="zh-CN" sz="980" b="1" dirty="0">
                  <a:solidFill>
                    <a:srgbClr val="FFFFFF"/>
                  </a:solidFill>
                  <a:latin typeface="+mn-lt"/>
                  <a:ea typeface="+mn-ea"/>
                  <a:cs typeface="+mn-cs"/>
                </a:rPr>
                <a:t>准备</a:t>
              </a:r>
            </a:p>
          </p:txBody>
        </p:sp>
      </p:grpSp>
      <p:grpSp>
        <p:nvGrpSpPr>
          <p:cNvPr id="16" name="bubble-mid"/>
          <p:cNvGrpSpPr/>
          <p:nvPr/>
        </p:nvGrpSpPr>
        <p:grpSpPr>
          <a:xfrm>
            <a:off x="11049000" y="2114550"/>
            <a:ext cx="666750" cy="495300"/>
            <a:chOff x="11049000" y="2114550"/>
            <a:chExt cx="666750" cy="495300"/>
          </a:xfrm>
        </p:grpSpPr>
        <p:sp>
          <p:nvSpPr>
            <p:cNvPr id="14" name="Freeform 14"/>
            <p:cNvSpPr/>
            <p:nvPr/>
          </p:nvSpPr>
          <p:spPr>
            <a:xfrm>
              <a:off x="11049000" y="2114550"/>
              <a:ext cx="666750" cy="495300"/>
            </a:xfrm>
            <a:prstGeom prst="wedgeRoundRectCallout">
              <a:avLst>
                <a:gd name="adj1" fmla="val 0"/>
                <a:gd name="adj2" fmla="val 72000"/>
                <a:gd name="adj3" fmla="val 20000"/>
              </a:avLst>
            </a:prstGeom>
            <a:solidFill>
              <a:srgbClr val="E8705C"/>
            </a:solidFill>
            <a:ln>
              <a:noFill/>
            </a:ln>
          </p:spPr>
        </p:sp>
        <p:sp>
          <p:nvSpPr>
            <p:cNvPr id="15" name="TextBox 15"/>
            <p:cNvSpPr txBox="1"/>
            <p:nvPr/>
          </p:nvSpPr>
          <p:spPr>
            <a:xfrm>
              <a:off x="11252962" y="2218849"/>
              <a:ext cx="25882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FFFFFF"/>
                  </a:solidFill>
                  <a:latin typeface="+mn-lt"/>
                  <a:ea typeface="+mn-ea"/>
                  <a:cs typeface="+mn-cs"/>
                </a:rPr>
                <a:t>中期</a:t>
              </a:r>
              <a:br/>
              <a:r>
                <a:rPr lang="zh-CN" sz="980" b="1" dirty="0">
                  <a:solidFill>
                    <a:srgbClr val="FFFFFF"/>
                  </a:solidFill>
                  <a:latin typeface="+mn-lt"/>
                  <a:ea typeface="+mn-ea"/>
                  <a:cs typeface="+mn-cs"/>
                </a:rPr>
                <a:t>运营</a:t>
              </a:r>
            </a:p>
          </p:txBody>
        </p:sp>
      </p:grpSp>
      <p:grpSp>
        <p:nvGrpSpPr>
          <p:cNvPr id="19" name="bubble-post"/>
          <p:cNvGrpSpPr/>
          <p:nvPr/>
        </p:nvGrpSpPr>
        <p:grpSpPr>
          <a:xfrm>
            <a:off x="400050" y="3905250"/>
            <a:ext cx="666750" cy="495300"/>
            <a:chOff x="400050" y="3905250"/>
            <a:chExt cx="666750" cy="495300"/>
          </a:xfrm>
        </p:grpSpPr>
        <p:sp>
          <p:nvSpPr>
            <p:cNvPr id="17" name="Freeform 17"/>
            <p:cNvSpPr/>
            <p:nvPr/>
          </p:nvSpPr>
          <p:spPr>
            <a:xfrm>
              <a:off x="400050" y="3905250"/>
              <a:ext cx="666750" cy="495300"/>
            </a:xfrm>
            <a:prstGeom prst="wedgeRoundRectCallout">
              <a:avLst>
                <a:gd name="adj1" fmla="val 0"/>
                <a:gd name="adj2" fmla="val 72000"/>
                <a:gd name="adj3" fmla="val 20000"/>
              </a:avLst>
            </a:prstGeom>
            <a:solidFill>
              <a:srgbClr val="C46D5B"/>
            </a:solidFill>
            <a:ln>
              <a:noFill/>
            </a:ln>
          </p:spPr>
        </p:sp>
        <p:sp>
          <p:nvSpPr>
            <p:cNvPr id="18" name="TextBox 18"/>
            <p:cNvSpPr txBox="1"/>
            <p:nvPr/>
          </p:nvSpPr>
          <p:spPr>
            <a:xfrm>
              <a:off x="604012" y="4009549"/>
              <a:ext cx="25882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FFFFFF"/>
                  </a:solidFill>
                  <a:latin typeface="+mn-lt"/>
                  <a:ea typeface="+mn-ea"/>
                  <a:cs typeface="+mn-cs"/>
                </a:rPr>
                <a:t>后期</a:t>
              </a:r>
              <a:br/>
              <a:r>
                <a:rPr lang="zh-CN" sz="980" b="1" dirty="0">
                  <a:solidFill>
                    <a:srgbClr val="FFFFFF"/>
                  </a:solidFill>
                  <a:latin typeface="+mn-lt"/>
                  <a:ea typeface="+mn-ea"/>
                  <a:cs typeface="+mn-cs"/>
                </a:rPr>
                <a:t>优化</a:t>
              </a:r>
            </a:p>
          </p:txBody>
        </p:sp>
      </p:grpSp>
      <p:grpSp>
        <p:nvGrpSpPr>
          <p:cNvPr id="25" name="card-step1"/>
          <p:cNvGrpSpPr/>
          <p:nvPr/>
        </p:nvGrpSpPr>
        <p:grpSpPr>
          <a:xfrm>
            <a:off x="1619250" y="952500"/>
            <a:ext cx="2667000" cy="1428750"/>
            <a:chOff x="1619250" y="952500"/>
            <a:chExt cx="2667000" cy="1428750"/>
          </a:xfrm>
        </p:grpSpPr>
        <p:sp>
          <p:nvSpPr>
            <p:cNvPr id="20" name="Rectangle 20"/>
            <p:cNvSpPr/>
            <p:nvPr/>
          </p:nvSpPr>
          <p:spPr>
            <a:xfrm>
              <a:off x="1619250" y="952500"/>
              <a:ext cx="2667000" cy="1428750"/>
            </a:xfrm>
            <a:prstGeom prst="roundRect">
              <a:avLst>
                <a:gd name="adj" fmla="val 5333"/>
              </a:avLst>
            </a:prstGeom>
            <a:solidFill>
              <a:srgbClr val="FFFFFF"/>
            </a:solidFill>
            <a:ln w="9525">
              <a:solidFill>
                <a:srgbClr val="D8DEF2"/>
              </a:solidFill>
            </a:ln>
            <a:effectLst>
              <a:outerShdw blurRad="152400" dist="57150" dir="5400000" algn="ctr" rotWithShape="0">
                <a:srgbClr val="C45F4A">
                  <a:alpha val="7500"/>
                </a:srgbClr>
              </a:outerShdw>
            </a:effectLst>
          </p:spPr>
        </p:sp>
        <p:sp>
          <p:nvSpPr>
            <p:cNvPr id="21" name="Freeform 21"/>
            <p:cNvSpPr/>
            <p:nvPr/>
          </p:nvSpPr>
          <p:spPr>
            <a:xfrm>
              <a:off x="1695450" y="1009650"/>
              <a:ext cx="609600" cy="228600"/>
            </a:xfrm>
            <a:prstGeom prst="parallelogram">
              <a:avLst>
                <a:gd name="adj" fmla="val 30000"/>
              </a:avLst>
            </a:prstGeom>
            <a:solidFill>
              <a:srgbClr val="C46D5B"/>
            </a:solidFill>
            <a:ln>
              <a:noFill/>
            </a:ln>
          </p:spPr>
        </p:sp>
        <p:sp>
          <p:nvSpPr>
            <p:cNvPr id="22" name="TextBox 22"/>
            <p:cNvSpPr txBox="1"/>
            <p:nvPr/>
          </p:nvSpPr>
          <p:spPr>
            <a:xfrm>
              <a:off x="1764291" y="1078468"/>
              <a:ext cx="471919" cy="169069"/>
            </a:xfrm>
            <a:prstGeom prst="rect">
              <a:avLst/>
            </a:prstGeom>
            <a:noFill/>
            <a:ln>
              <a:noFill/>
            </a:ln>
          </p:spPr>
          <p:txBody>
            <a:bodyPr wrap="none" lIns="0" tIns="0" rIns="0" bIns="0" anchor="t" anchorCtr="0">
              <a:spAutoFit/>
            </a:bodyPr>
            <a:lstStyle/>
            <a:p>
              <a:pPr algn="ctr"/>
              <a:r>
                <a:rPr lang="en-US" sz="860" b="1" i="1" dirty="0">
                  <a:solidFill>
                    <a:srgbClr val="FFFFFF"/>
                  </a:solidFill>
                  <a:latin typeface="+mn-lt"/>
                  <a:ea typeface="+mn-ea"/>
                  <a:cs typeface="+mn-cs"/>
                </a:rPr>
                <a:t>STEP 1​</a:t>
              </a:r>
            </a:p>
          </p:txBody>
        </p:sp>
        <p:sp>
          <p:nvSpPr>
            <p:cNvPr id="23" name="TextBox 23"/>
            <p:cNvSpPr txBox="1"/>
            <p:nvPr/>
          </p:nvSpPr>
          <p:spPr>
            <a:xfrm>
              <a:off x="2762707" y="1138714"/>
              <a:ext cx="1046836" cy="249364"/>
            </a:xfrm>
            <a:prstGeom prst="rect">
              <a:avLst/>
            </a:prstGeom>
            <a:noFill/>
            <a:ln>
              <a:noFill/>
            </a:ln>
          </p:spPr>
          <p:txBody>
            <a:bodyPr wrap="none" lIns="0" tIns="0" rIns="0" bIns="0" anchor="t" anchorCtr="0">
              <a:spAutoFit/>
            </a:bodyPr>
            <a:lstStyle/>
            <a:p>
              <a:pPr algn="ctr"/>
              <a:r>
                <a:rPr lang="zh-CN" sz="1280" b="1" dirty="0">
                  <a:solidFill>
                    <a:srgbClr val="C45F4A"/>
                  </a:solidFill>
                  <a:latin typeface="+mn-lt"/>
                  <a:ea typeface="+mn-ea"/>
                  <a:cs typeface="+mn-cs"/>
                </a:rPr>
                <a:t>确定目标受众</a:t>
              </a:r>
            </a:p>
          </p:txBody>
        </p:sp>
        <p:sp>
          <p:nvSpPr>
            <p:cNvPr id="24" name="TextBox 24"/>
            <p:cNvSpPr txBox="1"/>
            <p:nvPr/>
          </p:nvSpPr>
          <p:spPr>
            <a:xfrm>
              <a:off x="1785938" y="1503045"/>
              <a:ext cx="19526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644E4A"/>
                  </a:solidFill>
                  <a:latin typeface="+mn-lt"/>
                  <a:ea typeface="+mn-ea"/>
                  <a:cs typeface="+mn-cs"/>
                </a:rPr>
                <a:t>详细了解目标受众的特征和喜好，以便</a:t>
              </a:r>
              <a:br/>
              <a:r>
                <a:rPr lang="zh-CN" sz="900" dirty="0">
                  <a:solidFill>
                    <a:srgbClr val="644E4A"/>
                  </a:solidFill>
                  <a:latin typeface="+mn-lt"/>
                  <a:ea typeface="+mn-ea"/>
                  <a:cs typeface="+mn-cs"/>
                </a:rPr>
                <a:t>针对其需求进行内容定制和传播。</a:t>
              </a:r>
            </a:p>
          </p:txBody>
        </p:sp>
      </p:grpSp>
      <p:grpSp>
        <p:nvGrpSpPr>
          <p:cNvPr id="31" name="card-step2"/>
          <p:cNvGrpSpPr/>
          <p:nvPr/>
        </p:nvGrpSpPr>
        <p:grpSpPr>
          <a:xfrm>
            <a:off x="4572000" y="952500"/>
            <a:ext cx="2667000" cy="1428750"/>
            <a:chOff x="4572000" y="952500"/>
            <a:chExt cx="2667000" cy="1428750"/>
          </a:xfrm>
        </p:grpSpPr>
        <p:sp>
          <p:nvSpPr>
            <p:cNvPr id="26" name="Rectangle 26"/>
            <p:cNvSpPr/>
            <p:nvPr/>
          </p:nvSpPr>
          <p:spPr>
            <a:xfrm>
              <a:off x="4572000" y="952500"/>
              <a:ext cx="2667000" cy="1428750"/>
            </a:xfrm>
            <a:prstGeom prst="roundRect">
              <a:avLst>
                <a:gd name="adj" fmla="val 5333"/>
              </a:avLst>
            </a:prstGeom>
            <a:solidFill>
              <a:srgbClr val="FFFFFF"/>
            </a:solidFill>
            <a:ln w="9525">
              <a:solidFill>
                <a:srgbClr val="D8DEF2"/>
              </a:solidFill>
            </a:ln>
            <a:effectLst>
              <a:outerShdw blurRad="152400" dist="57150" dir="5400000" algn="ctr" rotWithShape="0">
                <a:srgbClr val="C45F4A">
                  <a:alpha val="7500"/>
                </a:srgbClr>
              </a:outerShdw>
            </a:effectLst>
          </p:spPr>
        </p:sp>
        <p:sp>
          <p:nvSpPr>
            <p:cNvPr id="27" name="Freeform 27"/>
            <p:cNvSpPr/>
            <p:nvPr/>
          </p:nvSpPr>
          <p:spPr>
            <a:xfrm>
              <a:off x="4648200" y="1009650"/>
              <a:ext cx="609600" cy="228600"/>
            </a:xfrm>
            <a:prstGeom prst="parallelogram">
              <a:avLst>
                <a:gd name="adj" fmla="val 30000"/>
              </a:avLst>
            </a:prstGeom>
            <a:solidFill>
              <a:srgbClr val="C46D5B"/>
            </a:solidFill>
            <a:ln>
              <a:noFill/>
            </a:ln>
          </p:spPr>
        </p:sp>
        <p:sp>
          <p:nvSpPr>
            <p:cNvPr id="28" name="TextBox 28"/>
            <p:cNvSpPr txBox="1"/>
            <p:nvPr/>
          </p:nvSpPr>
          <p:spPr>
            <a:xfrm>
              <a:off x="4717041" y="1078468"/>
              <a:ext cx="471919" cy="169069"/>
            </a:xfrm>
            <a:prstGeom prst="rect">
              <a:avLst/>
            </a:prstGeom>
            <a:noFill/>
            <a:ln>
              <a:noFill/>
            </a:ln>
          </p:spPr>
          <p:txBody>
            <a:bodyPr wrap="none" lIns="0" tIns="0" rIns="0" bIns="0" anchor="t" anchorCtr="0">
              <a:spAutoFit/>
            </a:bodyPr>
            <a:lstStyle/>
            <a:p>
              <a:pPr algn="ctr"/>
              <a:r>
                <a:rPr lang="en-US" sz="860" b="1" i="1" dirty="0">
                  <a:solidFill>
                    <a:srgbClr val="FFFFFF"/>
                  </a:solidFill>
                  <a:latin typeface="+mn-lt"/>
                  <a:ea typeface="+mn-ea"/>
                  <a:cs typeface="+mn-cs"/>
                </a:rPr>
                <a:t>STEP 2​</a:t>
              </a:r>
            </a:p>
          </p:txBody>
        </p:sp>
        <p:sp>
          <p:nvSpPr>
            <p:cNvPr id="29" name="TextBox 29"/>
            <p:cNvSpPr txBox="1"/>
            <p:nvPr/>
          </p:nvSpPr>
          <p:spPr>
            <a:xfrm>
              <a:off x="5629300" y="1138714"/>
              <a:ext cx="1219149" cy="249364"/>
            </a:xfrm>
            <a:prstGeom prst="rect">
              <a:avLst/>
            </a:prstGeom>
            <a:noFill/>
            <a:ln>
              <a:noFill/>
            </a:ln>
          </p:spPr>
          <p:txBody>
            <a:bodyPr wrap="none" lIns="0" tIns="0" rIns="0" bIns="0" anchor="t" anchorCtr="0">
              <a:spAutoFit/>
            </a:bodyPr>
            <a:lstStyle/>
            <a:p>
              <a:pPr algn="ctr"/>
              <a:r>
                <a:rPr lang="zh-CN" sz="1280" b="1" dirty="0">
                  <a:solidFill>
                    <a:srgbClr val="C45F4A"/>
                  </a:solidFill>
                  <a:latin typeface="+mn-lt"/>
                  <a:ea typeface="+mn-ea"/>
                  <a:cs typeface="+mn-cs"/>
                </a:rPr>
                <a:t>选择适合的平台</a:t>
              </a:r>
            </a:p>
          </p:txBody>
        </p:sp>
        <p:sp>
          <p:nvSpPr>
            <p:cNvPr id="30" name="TextBox 30"/>
            <p:cNvSpPr txBox="1"/>
            <p:nvPr/>
          </p:nvSpPr>
          <p:spPr>
            <a:xfrm>
              <a:off x="4738688" y="1503045"/>
              <a:ext cx="19526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644E4A"/>
                  </a:solidFill>
                  <a:latin typeface="+mn-lt"/>
                  <a:ea typeface="+mn-ea"/>
                  <a:cs typeface="+mn-cs"/>
                </a:rPr>
                <a:t>根据目标受众的特点和平台特点，选择</a:t>
              </a:r>
              <a:br/>
              <a:r>
                <a:rPr lang="zh-CN" sz="900" dirty="0">
                  <a:solidFill>
                    <a:srgbClr val="644E4A"/>
                  </a:solidFill>
                  <a:latin typeface="+mn-lt"/>
                  <a:ea typeface="+mn-ea"/>
                  <a:cs typeface="+mn-cs"/>
                </a:rPr>
                <a:t>合适的新媒体平台进行账号搭建。</a:t>
              </a:r>
            </a:p>
          </p:txBody>
        </p:sp>
      </p:grpSp>
      <p:grpSp>
        <p:nvGrpSpPr>
          <p:cNvPr id="37" name="card-step3"/>
          <p:cNvGrpSpPr/>
          <p:nvPr/>
        </p:nvGrpSpPr>
        <p:grpSpPr>
          <a:xfrm>
            <a:off x="7524750" y="952500"/>
            <a:ext cx="2667000" cy="1428750"/>
            <a:chOff x="7524750" y="952500"/>
            <a:chExt cx="2667000" cy="1428750"/>
          </a:xfrm>
        </p:grpSpPr>
        <p:sp>
          <p:nvSpPr>
            <p:cNvPr id="32" name="Rectangle 32"/>
            <p:cNvSpPr/>
            <p:nvPr/>
          </p:nvSpPr>
          <p:spPr>
            <a:xfrm>
              <a:off x="7524750" y="952500"/>
              <a:ext cx="2667000" cy="1428750"/>
            </a:xfrm>
            <a:prstGeom prst="roundRect">
              <a:avLst>
                <a:gd name="adj" fmla="val 5333"/>
              </a:avLst>
            </a:prstGeom>
            <a:solidFill>
              <a:srgbClr val="FFFFFF"/>
            </a:solidFill>
            <a:ln w="9525">
              <a:solidFill>
                <a:srgbClr val="D8DEF2"/>
              </a:solidFill>
            </a:ln>
            <a:effectLst>
              <a:outerShdw blurRad="152400" dist="57150" dir="5400000" algn="ctr" rotWithShape="0">
                <a:srgbClr val="C45F4A">
                  <a:alpha val="7500"/>
                </a:srgbClr>
              </a:outerShdw>
            </a:effectLst>
          </p:spPr>
        </p:sp>
        <p:sp>
          <p:nvSpPr>
            <p:cNvPr id="33" name="Freeform 33"/>
            <p:cNvSpPr/>
            <p:nvPr/>
          </p:nvSpPr>
          <p:spPr>
            <a:xfrm>
              <a:off x="7600950" y="1009650"/>
              <a:ext cx="609600" cy="228600"/>
            </a:xfrm>
            <a:prstGeom prst="parallelogram">
              <a:avLst>
                <a:gd name="adj" fmla="val 30000"/>
              </a:avLst>
            </a:prstGeom>
            <a:solidFill>
              <a:srgbClr val="C46D5B"/>
            </a:solidFill>
            <a:ln>
              <a:noFill/>
            </a:ln>
          </p:spPr>
        </p:sp>
        <p:sp>
          <p:nvSpPr>
            <p:cNvPr id="34" name="TextBox 34"/>
            <p:cNvSpPr txBox="1"/>
            <p:nvPr/>
          </p:nvSpPr>
          <p:spPr>
            <a:xfrm>
              <a:off x="7669791" y="1078468"/>
              <a:ext cx="471919" cy="169069"/>
            </a:xfrm>
            <a:prstGeom prst="rect">
              <a:avLst/>
            </a:prstGeom>
            <a:noFill/>
            <a:ln>
              <a:noFill/>
            </a:ln>
          </p:spPr>
          <p:txBody>
            <a:bodyPr wrap="none" lIns="0" tIns="0" rIns="0" bIns="0" anchor="t" anchorCtr="0">
              <a:spAutoFit/>
            </a:bodyPr>
            <a:lstStyle/>
            <a:p>
              <a:pPr algn="ctr"/>
              <a:r>
                <a:rPr lang="en-US" sz="860" b="1" i="1" dirty="0">
                  <a:solidFill>
                    <a:srgbClr val="FFFFFF"/>
                  </a:solidFill>
                  <a:latin typeface="+mn-lt"/>
                  <a:ea typeface="+mn-ea"/>
                  <a:cs typeface="+mn-cs"/>
                </a:rPr>
                <a:t>STEP 3​</a:t>
              </a:r>
            </a:p>
          </p:txBody>
        </p:sp>
        <p:sp>
          <p:nvSpPr>
            <p:cNvPr id="35" name="TextBox 35"/>
            <p:cNvSpPr txBox="1"/>
            <p:nvPr/>
          </p:nvSpPr>
          <p:spPr>
            <a:xfrm>
              <a:off x="8668207" y="1138714"/>
              <a:ext cx="1046836" cy="249364"/>
            </a:xfrm>
            <a:prstGeom prst="rect">
              <a:avLst/>
            </a:prstGeom>
            <a:noFill/>
            <a:ln>
              <a:noFill/>
            </a:ln>
          </p:spPr>
          <p:txBody>
            <a:bodyPr wrap="none" lIns="0" tIns="0" rIns="0" bIns="0" anchor="t" anchorCtr="0">
              <a:spAutoFit/>
            </a:bodyPr>
            <a:lstStyle/>
            <a:p>
              <a:pPr algn="ctr"/>
              <a:r>
                <a:rPr lang="zh-CN" sz="1280" b="1" dirty="0">
                  <a:solidFill>
                    <a:srgbClr val="C45F4A"/>
                  </a:solidFill>
                  <a:latin typeface="+mn-lt"/>
                  <a:ea typeface="+mn-ea"/>
                  <a:cs typeface="+mn-cs"/>
                </a:rPr>
                <a:t>确定账号类型</a:t>
              </a:r>
            </a:p>
          </p:txBody>
        </p:sp>
        <p:sp>
          <p:nvSpPr>
            <p:cNvPr id="36" name="TextBox 36"/>
            <p:cNvSpPr txBox="1"/>
            <p:nvPr/>
          </p:nvSpPr>
          <p:spPr>
            <a:xfrm>
              <a:off x="7691438" y="1503045"/>
              <a:ext cx="1952625" cy="557212"/>
            </a:xfrm>
            <a:prstGeom prst="rect">
              <a:avLst/>
            </a:prstGeom>
            <a:noFill/>
            <a:ln>
              <a:noFill/>
            </a:ln>
          </p:spPr>
          <p:txBody>
            <a:bodyPr wrap="none" lIns="0" tIns="0" rIns="0" bIns="0" anchor="t" anchorCtr="0">
              <a:spAutoFit/>
            </a:bodyPr>
            <a:lstStyle/>
            <a:p>
              <a:pPr algn="l">
                <a:lnSpc>
                  <a:spcPts val="1500"/>
                </a:lnSpc>
              </a:pPr>
              <a:r>
                <a:rPr lang="zh-CN" sz="900" dirty="0">
                  <a:solidFill>
                    <a:srgbClr val="644E4A"/>
                  </a:solidFill>
                  <a:latin typeface="+mn-lt"/>
                  <a:ea typeface="+mn-ea"/>
                  <a:cs typeface="+mn-cs"/>
                </a:rPr>
                <a:t>根据企业的品牌形象和目标受众的偏</a:t>
              </a:r>
              <a:br/>
              <a:r>
                <a:rPr lang="zh-CN" sz="900" dirty="0">
                  <a:solidFill>
                    <a:srgbClr val="644E4A"/>
                  </a:solidFill>
                  <a:latin typeface="+mn-lt"/>
                  <a:ea typeface="+mn-ea"/>
                  <a:cs typeface="+mn-cs"/>
                </a:rPr>
                <a:t>好，选择适合的账号类型，以提高受众</a:t>
              </a:r>
              <a:br/>
              <a:r>
                <a:rPr lang="zh-CN" sz="900" dirty="0">
                  <a:solidFill>
                    <a:srgbClr val="644E4A"/>
                  </a:solidFill>
                  <a:latin typeface="+mn-lt"/>
                  <a:ea typeface="+mn-ea"/>
                  <a:cs typeface="+mn-cs"/>
                </a:rPr>
                <a:t>的认同感。</a:t>
              </a:r>
            </a:p>
          </p:txBody>
        </p:sp>
      </p:grpSp>
      <p:grpSp>
        <p:nvGrpSpPr>
          <p:cNvPr id="43" name="card-step6"/>
          <p:cNvGrpSpPr/>
          <p:nvPr/>
        </p:nvGrpSpPr>
        <p:grpSpPr>
          <a:xfrm>
            <a:off x="1619250" y="2809875"/>
            <a:ext cx="2667000" cy="1428750"/>
            <a:chOff x="1619250" y="2809875"/>
            <a:chExt cx="2667000" cy="1428750"/>
          </a:xfrm>
        </p:grpSpPr>
        <p:sp>
          <p:nvSpPr>
            <p:cNvPr id="38" name="Rectangle 38"/>
            <p:cNvSpPr/>
            <p:nvPr/>
          </p:nvSpPr>
          <p:spPr>
            <a:xfrm>
              <a:off x="1619250" y="2809875"/>
              <a:ext cx="2667000" cy="1428750"/>
            </a:xfrm>
            <a:prstGeom prst="roundRect">
              <a:avLst>
                <a:gd name="adj" fmla="val 5333"/>
              </a:avLst>
            </a:prstGeom>
            <a:solidFill>
              <a:srgbClr val="FFFFFF"/>
            </a:solidFill>
            <a:ln w="9525">
              <a:solidFill>
                <a:srgbClr val="F3BAB0"/>
              </a:solidFill>
            </a:ln>
            <a:effectLst>
              <a:outerShdw blurRad="152400" dist="57150" dir="5400000" algn="ctr" rotWithShape="0">
                <a:srgbClr val="C45F4A">
                  <a:alpha val="7500"/>
                </a:srgbClr>
              </a:outerShdw>
            </a:effectLst>
          </p:spPr>
        </p:sp>
        <p:sp>
          <p:nvSpPr>
            <p:cNvPr id="39" name="Freeform 39"/>
            <p:cNvSpPr/>
            <p:nvPr/>
          </p:nvSpPr>
          <p:spPr>
            <a:xfrm>
              <a:off x="1695450" y="2867025"/>
              <a:ext cx="609600" cy="228600"/>
            </a:xfrm>
            <a:prstGeom prst="parallelogram">
              <a:avLst>
                <a:gd name="adj" fmla="val 30000"/>
              </a:avLst>
            </a:prstGeom>
            <a:solidFill>
              <a:srgbClr val="E8705C"/>
            </a:solidFill>
            <a:ln>
              <a:noFill/>
            </a:ln>
          </p:spPr>
        </p:sp>
        <p:sp>
          <p:nvSpPr>
            <p:cNvPr id="40" name="TextBox 40"/>
            <p:cNvSpPr txBox="1"/>
            <p:nvPr/>
          </p:nvSpPr>
          <p:spPr>
            <a:xfrm>
              <a:off x="1764291" y="2935843"/>
              <a:ext cx="471919" cy="169069"/>
            </a:xfrm>
            <a:prstGeom prst="rect">
              <a:avLst/>
            </a:prstGeom>
            <a:noFill/>
            <a:ln>
              <a:noFill/>
            </a:ln>
          </p:spPr>
          <p:txBody>
            <a:bodyPr wrap="none" lIns="0" tIns="0" rIns="0" bIns="0" anchor="t" anchorCtr="0">
              <a:spAutoFit/>
            </a:bodyPr>
            <a:lstStyle/>
            <a:p>
              <a:pPr algn="ctr"/>
              <a:r>
                <a:rPr lang="en-US" sz="860" b="1" i="1" dirty="0">
                  <a:solidFill>
                    <a:srgbClr val="FFFFFF"/>
                  </a:solidFill>
                  <a:latin typeface="+mn-lt"/>
                  <a:ea typeface="+mn-ea"/>
                  <a:cs typeface="+mn-cs"/>
                </a:rPr>
                <a:t>STEP 6​</a:t>
              </a:r>
            </a:p>
          </p:txBody>
        </p:sp>
        <p:sp>
          <p:nvSpPr>
            <p:cNvPr id="41" name="TextBox 41"/>
            <p:cNvSpPr txBox="1"/>
            <p:nvPr/>
          </p:nvSpPr>
          <p:spPr>
            <a:xfrm>
              <a:off x="2762707" y="2996089"/>
              <a:ext cx="1046836" cy="249364"/>
            </a:xfrm>
            <a:prstGeom prst="rect">
              <a:avLst/>
            </a:prstGeom>
            <a:noFill/>
            <a:ln>
              <a:noFill/>
            </a:ln>
          </p:spPr>
          <p:txBody>
            <a:bodyPr wrap="none" lIns="0" tIns="0" rIns="0" bIns="0" anchor="t" anchorCtr="0">
              <a:spAutoFit/>
            </a:bodyPr>
            <a:lstStyle/>
            <a:p>
              <a:pPr algn="ctr"/>
              <a:r>
                <a:rPr lang="zh-CN" sz="1280" b="1" dirty="0">
                  <a:solidFill>
                    <a:srgbClr val="E2624C"/>
                  </a:solidFill>
                  <a:latin typeface="+mn-lt"/>
                  <a:ea typeface="+mn-ea"/>
                  <a:cs typeface="+mn-cs"/>
                </a:rPr>
                <a:t>制定内容策略</a:t>
              </a:r>
            </a:p>
          </p:txBody>
        </p:sp>
        <p:sp>
          <p:nvSpPr>
            <p:cNvPr id="42" name="TextBox 42"/>
            <p:cNvSpPr txBox="1"/>
            <p:nvPr/>
          </p:nvSpPr>
          <p:spPr>
            <a:xfrm>
              <a:off x="1785938" y="3360420"/>
              <a:ext cx="1952625" cy="557212"/>
            </a:xfrm>
            <a:prstGeom prst="rect">
              <a:avLst/>
            </a:prstGeom>
            <a:noFill/>
            <a:ln>
              <a:noFill/>
            </a:ln>
          </p:spPr>
          <p:txBody>
            <a:bodyPr wrap="none" lIns="0" tIns="0" rIns="0" bIns="0" anchor="t" anchorCtr="0">
              <a:spAutoFit/>
            </a:bodyPr>
            <a:lstStyle/>
            <a:p>
              <a:pPr algn="l">
                <a:lnSpc>
                  <a:spcPts val="1500"/>
                </a:lnSpc>
              </a:pPr>
              <a:r>
                <a:rPr lang="zh-CN" sz="900" dirty="0">
                  <a:solidFill>
                    <a:srgbClr val="644E4A"/>
                  </a:solidFill>
                  <a:latin typeface="+mn-lt"/>
                  <a:ea typeface="+mn-ea"/>
                  <a:cs typeface="+mn-cs"/>
                </a:rPr>
                <a:t>根据目标受众的需求和平台特点，制定</a:t>
              </a:r>
              <a:br/>
              <a:r>
                <a:rPr lang="zh-CN" sz="900" dirty="0">
                  <a:solidFill>
                    <a:srgbClr val="644E4A"/>
                  </a:solidFill>
                  <a:latin typeface="+mn-lt"/>
                  <a:ea typeface="+mn-ea"/>
                  <a:cs typeface="+mn-cs"/>
                </a:rPr>
                <a:t>有吸引力和与受众相关的内容策略，以</a:t>
              </a:r>
              <a:br/>
              <a:r>
                <a:rPr lang="zh-CN" sz="900" dirty="0">
                  <a:solidFill>
                    <a:srgbClr val="644E4A"/>
                  </a:solidFill>
                  <a:latin typeface="+mn-lt"/>
                  <a:ea typeface="+mn-ea"/>
                  <a:cs typeface="+mn-cs"/>
                </a:rPr>
                <a:t>吸引用户。</a:t>
              </a:r>
            </a:p>
          </p:txBody>
        </p:sp>
      </p:grpSp>
      <p:grpSp>
        <p:nvGrpSpPr>
          <p:cNvPr id="49" name="card-step5"/>
          <p:cNvGrpSpPr/>
          <p:nvPr/>
        </p:nvGrpSpPr>
        <p:grpSpPr>
          <a:xfrm>
            <a:off x="4572000" y="2809875"/>
            <a:ext cx="2667000" cy="1428750"/>
            <a:chOff x="4572000" y="2809875"/>
            <a:chExt cx="2667000" cy="1428750"/>
          </a:xfrm>
        </p:grpSpPr>
        <p:sp>
          <p:nvSpPr>
            <p:cNvPr id="44" name="Rectangle 44"/>
            <p:cNvSpPr/>
            <p:nvPr/>
          </p:nvSpPr>
          <p:spPr>
            <a:xfrm>
              <a:off x="4572000" y="2809875"/>
              <a:ext cx="2667000" cy="1428750"/>
            </a:xfrm>
            <a:prstGeom prst="roundRect">
              <a:avLst>
                <a:gd name="adj" fmla="val 5333"/>
              </a:avLst>
            </a:prstGeom>
            <a:solidFill>
              <a:srgbClr val="FFFFFF"/>
            </a:solidFill>
            <a:ln w="9525">
              <a:solidFill>
                <a:srgbClr val="F3BAB0"/>
              </a:solidFill>
            </a:ln>
            <a:effectLst>
              <a:outerShdw blurRad="152400" dist="57150" dir="5400000" algn="ctr" rotWithShape="0">
                <a:srgbClr val="C45F4A">
                  <a:alpha val="7500"/>
                </a:srgbClr>
              </a:outerShdw>
            </a:effectLst>
          </p:spPr>
        </p:sp>
        <p:sp>
          <p:nvSpPr>
            <p:cNvPr id="45" name="Freeform 45"/>
            <p:cNvSpPr/>
            <p:nvPr/>
          </p:nvSpPr>
          <p:spPr>
            <a:xfrm>
              <a:off x="4648200" y="2867025"/>
              <a:ext cx="609600" cy="228600"/>
            </a:xfrm>
            <a:prstGeom prst="parallelogram">
              <a:avLst>
                <a:gd name="adj" fmla="val 30000"/>
              </a:avLst>
            </a:prstGeom>
            <a:solidFill>
              <a:srgbClr val="E8705C"/>
            </a:solidFill>
            <a:ln>
              <a:noFill/>
            </a:ln>
          </p:spPr>
        </p:sp>
        <p:sp>
          <p:nvSpPr>
            <p:cNvPr id="46" name="TextBox 46"/>
            <p:cNvSpPr txBox="1"/>
            <p:nvPr/>
          </p:nvSpPr>
          <p:spPr>
            <a:xfrm>
              <a:off x="4717041" y="2935843"/>
              <a:ext cx="471919" cy="169069"/>
            </a:xfrm>
            <a:prstGeom prst="rect">
              <a:avLst/>
            </a:prstGeom>
            <a:noFill/>
            <a:ln>
              <a:noFill/>
            </a:ln>
          </p:spPr>
          <p:txBody>
            <a:bodyPr wrap="none" lIns="0" tIns="0" rIns="0" bIns="0" anchor="t" anchorCtr="0">
              <a:spAutoFit/>
            </a:bodyPr>
            <a:lstStyle/>
            <a:p>
              <a:pPr algn="ctr"/>
              <a:r>
                <a:rPr lang="en-US" sz="860" b="1" i="1" dirty="0">
                  <a:solidFill>
                    <a:srgbClr val="FFFFFF"/>
                  </a:solidFill>
                  <a:latin typeface="+mn-lt"/>
                  <a:ea typeface="+mn-ea"/>
                  <a:cs typeface="+mn-cs"/>
                </a:rPr>
                <a:t>STEP 5​</a:t>
              </a:r>
            </a:p>
          </p:txBody>
        </p:sp>
        <p:sp>
          <p:nvSpPr>
            <p:cNvPr id="47" name="TextBox 47"/>
            <p:cNvSpPr txBox="1"/>
            <p:nvPr/>
          </p:nvSpPr>
          <p:spPr>
            <a:xfrm>
              <a:off x="5715457" y="2996089"/>
              <a:ext cx="1046836" cy="249364"/>
            </a:xfrm>
            <a:prstGeom prst="rect">
              <a:avLst/>
            </a:prstGeom>
            <a:noFill/>
            <a:ln>
              <a:noFill/>
            </a:ln>
          </p:spPr>
          <p:txBody>
            <a:bodyPr wrap="none" lIns="0" tIns="0" rIns="0" bIns="0" anchor="t" anchorCtr="0">
              <a:spAutoFit/>
            </a:bodyPr>
            <a:lstStyle/>
            <a:p>
              <a:pPr algn="ctr"/>
              <a:r>
                <a:rPr lang="zh-CN" sz="1280" b="1" dirty="0">
                  <a:solidFill>
                    <a:srgbClr val="E2624C"/>
                  </a:solidFill>
                  <a:latin typeface="+mn-lt"/>
                  <a:ea typeface="+mn-ea"/>
                  <a:cs typeface="+mn-cs"/>
                </a:rPr>
                <a:t>建立互动机制</a:t>
              </a:r>
            </a:p>
          </p:txBody>
        </p:sp>
        <p:sp>
          <p:nvSpPr>
            <p:cNvPr id="48" name="TextBox 48"/>
            <p:cNvSpPr txBox="1"/>
            <p:nvPr/>
          </p:nvSpPr>
          <p:spPr>
            <a:xfrm>
              <a:off x="4738688" y="3360420"/>
              <a:ext cx="1952625" cy="557212"/>
            </a:xfrm>
            <a:prstGeom prst="rect">
              <a:avLst/>
            </a:prstGeom>
            <a:noFill/>
            <a:ln>
              <a:noFill/>
            </a:ln>
          </p:spPr>
          <p:txBody>
            <a:bodyPr wrap="none" lIns="0" tIns="0" rIns="0" bIns="0" anchor="t" anchorCtr="0">
              <a:spAutoFit/>
            </a:bodyPr>
            <a:lstStyle/>
            <a:p>
              <a:pPr algn="l">
                <a:lnSpc>
                  <a:spcPts val="1500"/>
                </a:lnSpc>
              </a:pPr>
              <a:r>
                <a:rPr lang="zh-CN" sz="900" dirty="0">
                  <a:solidFill>
                    <a:srgbClr val="644E4A"/>
                  </a:solidFill>
                  <a:latin typeface="+mn-lt"/>
                  <a:ea typeface="+mn-ea"/>
                  <a:cs typeface="+mn-cs"/>
                </a:rPr>
                <a:t>通过有效的互动机制与受众进行交流和</a:t>
              </a:r>
              <a:br/>
              <a:r>
                <a:rPr lang="zh-CN" sz="900" dirty="0">
                  <a:solidFill>
                    <a:srgbClr val="644E4A"/>
                  </a:solidFill>
                  <a:latin typeface="+mn-lt"/>
                  <a:ea typeface="+mn-ea"/>
                  <a:cs typeface="+mn-cs"/>
                </a:rPr>
                <a:t>互动，回复评论以增加用户参与度和互</a:t>
              </a:r>
              <a:br/>
              <a:r>
                <a:rPr lang="zh-CN" sz="900" dirty="0">
                  <a:solidFill>
                    <a:srgbClr val="644E4A"/>
                  </a:solidFill>
                  <a:latin typeface="+mn-lt"/>
                  <a:ea typeface="+mn-ea"/>
                  <a:cs typeface="+mn-cs"/>
                </a:rPr>
                <a:t>动频率。</a:t>
              </a:r>
            </a:p>
          </p:txBody>
        </p:sp>
      </p:grpSp>
      <p:grpSp>
        <p:nvGrpSpPr>
          <p:cNvPr id="55" name="card-step4"/>
          <p:cNvGrpSpPr/>
          <p:nvPr/>
        </p:nvGrpSpPr>
        <p:grpSpPr>
          <a:xfrm>
            <a:off x="7524750" y="2809875"/>
            <a:ext cx="2667000" cy="1428750"/>
            <a:chOff x="7524750" y="2809875"/>
            <a:chExt cx="2667000" cy="1428750"/>
          </a:xfrm>
        </p:grpSpPr>
        <p:sp>
          <p:nvSpPr>
            <p:cNvPr id="50" name="Rectangle 50"/>
            <p:cNvSpPr/>
            <p:nvPr/>
          </p:nvSpPr>
          <p:spPr>
            <a:xfrm>
              <a:off x="7524750" y="2809875"/>
              <a:ext cx="2667000" cy="1428750"/>
            </a:xfrm>
            <a:prstGeom prst="roundRect">
              <a:avLst>
                <a:gd name="adj" fmla="val 5333"/>
              </a:avLst>
            </a:prstGeom>
            <a:solidFill>
              <a:srgbClr val="FFFFFF"/>
            </a:solidFill>
            <a:ln w="9525">
              <a:solidFill>
                <a:srgbClr val="F3BAB0"/>
              </a:solidFill>
            </a:ln>
            <a:effectLst>
              <a:outerShdw blurRad="152400" dist="57150" dir="5400000" algn="ctr" rotWithShape="0">
                <a:srgbClr val="C45F4A">
                  <a:alpha val="7500"/>
                </a:srgbClr>
              </a:outerShdw>
            </a:effectLst>
          </p:spPr>
        </p:sp>
        <p:sp>
          <p:nvSpPr>
            <p:cNvPr id="51" name="Freeform 51"/>
            <p:cNvSpPr/>
            <p:nvPr/>
          </p:nvSpPr>
          <p:spPr>
            <a:xfrm>
              <a:off x="7600950" y="2867025"/>
              <a:ext cx="609600" cy="228600"/>
            </a:xfrm>
            <a:prstGeom prst="parallelogram">
              <a:avLst>
                <a:gd name="adj" fmla="val 30000"/>
              </a:avLst>
            </a:prstGeom>
            <a:solidFill>
              <a:srgbClr val="E8705C"/>
            </a:solidFill>
            <a:ln>
              <a:noFill/>
            </a:ln>
          </p:spPr>
        </p:sp>
        <p:sp>
          <p:nvSpPr>
            <p:cNvPr id="52" name="TextBox 52"/>
            <p:cNvSpPr txBox="1"/>
            <p:nvPr/>
          </p:nvSpPr>
          <p:spPr>
            <a:xfrm>
              <a:off x="7669791" y="2935843"/>
              <a:ext cx="471919" cy="169069"/>
            </a:xfrm>
            <a:prstGeom prst="rect">
              <a:avLst/>
            </a:prstGeom>
            <a:noFill/>
            <a:ln>
              <a:noFill/>
            </a:ln>
          </p:spPr>
          <p:txBody>
            <a:bodyPr wrap="none" lIns="0" tIns="0" rIns="0" bIns="0" anchor="t" anchorCtr="0">
              <a:spAutoFit/>
            </a:bodyPr>
            <a:lstStyle/>
            <a:p>
              <a:pPr algn="ctr"/>
              <a:r>
                <a:rPr lang="en-US" sz="860" b="1" i="1" dirty="0">
                  <a:solidFill>
                    <a:srgbClr val="FFFFFF"/>
                  </a:solidFill>
                  <a:latin typeface="+mn-lt"/>
                  <a:ea typeface="+mn-ea"/>
                  <a:cs typeface="+mn-cs"/>
                </a:rPr>
                <a:t>STEP 4​</a:t>
              </a:r>
            </a:p>
          </p:txBody>
        </p:sp>
        <p:sp>
          <p:nvSpPr>
            <p:cNvPr id="53" name="TextBox 53"/>
            <p:cNvSpPr txBox="1"/>
            <p:nvPr/>
          </p:nvSpPr>
          <p:spPr>
            <a:xfrm>
              <a:off x="8668207" y="2996089"/>
              <a:ext cx="1046836" cy="249364"/>
            </a:xfrm>
            <a:prstGeom prst="rect">
              <a:avLst/>
            </a:prstGeom>
            <a:noFill/>
            <a:ln>
              <a:noFill/>
            </a:ln>
          </p:spPr>
          <p:txBody>
            <a:bodyPr wrap="none" lIns="0" tIns="0" rIns="0" bIns="0" anchor="t" anchorCtr="0">
              <a:spAutoFit/>
            </a:bodyPr>
            <a:lstStyle/>
            <a:p>
              <a:pPr algn="ctr"/>
              <a:r>
                <a:rPr lang="zh-CN" sz="1280" b="1" dirty="0">
                  <a:solidFill>
                    <a:srgbClr val="E2624C"/>
                  </a:solidFill>
                  <a:latin typeface="+mn-lt"/>
                  <a:ea typeface="+mn-ea"/>
                  <a:cs typeface="+mn-cs"/>
                </a:rPr>
                <a:t>确定关键指标</a:t>
              </a:r>
            </a:p>
          </p:txBody>
        </p:sp>
        <p:sp>
          <p:nvSpPr>
            <p:cNvPr id="54" name="TextBox 54"/>
            <p:cNvSpPr txBox="1"/>
            <p:nvPr/>
          </p:nvSpPr>
          <p:spPr>
            <a:xfrm>
              <a:off x="7691438" y="3360420"/>
              <a:ext cx="1952625" cy="557212"/>
            </a:xfrm>
            <a:prstGeom prst="rect">
              <a:avLst/>
            </a:prstGeom>
            <a:noFill/>
            <a:ln>
              <a:noFill/>
            </a:ln>
          </p:spPr>
          <p:txBody>
            <a:bodyPr wrap="none" lIns="0" tIns="0" rIns="0" bIns="0" anchor="t" anchorCtr="0">
              <a:spAutoFit/>
            </a:bodyPr>
            <a:lstStyle/>
            <a:p>
              <a:pPr algn="l">
                <a:lnSpc>
                  <a:spcPts val="1500"/>
                </a:lnSpc>
              </a:pPr>
              <a:r>
                <a:rPr lang="zh-CN" sz="900" dirty="0">
                  <a:solidFill>
                    <a:srgbClr val="644E4A"/>
                  </a:solidFill>
                  <a:latin typeface="+mn-lt"/>
                  <a:ea typeface="+mn-ea"/>
                  <a:cs typeface="+mn-cs"/>
                </a:rPr>
                <a:t>选择与业务目标相关的关键指标，以粉</a:t>
              </a:r>
              <a:br/>
              <a:r>
                <a:rPr lang="zh-CN" sz="900" dirty="0">
                  <a:solidFill>
                    <a:srgbClr val="644E4A"/>
                  </a:solidFill>
                  <a:latin typeface="+mn-lt"/>
                  <a:ea typeface="+mn-ea"/>
                  <a:cs typeface="+mn-cs"/>
                </a:rPr>
                <a:t>丝增长率、互动率、转化率复盘账号运</a:t>
              </a:r>
              <a:br/>
              <a:r>
                <a:rPr lang="zh-CN" sz="900" dirty="0">
                  <a:solidFill>
                    <a:srgbClr val="644E4A"/>
                  </a:solidFill>
                  <a:latin typeface="+mn-lt"/>
                  <a:ea typeface="+mn-ea"/>
                  <a:cs typeface="+mn-cs"/>
                </a:rPr>
                <a:t>营情况。</a:t>
              </a:r>
            </a:p>
          </p:txBody>
        </p:sp>
      </p:grpSp>
      <p:grpSp>
        <p:nvGrpSpPr>
          <p:cNvPr id="61" name="card-step7"/>
          <p:cNvGrpSpPr/>
          <p:nvPr/>
        </p:nvGrpSpPr>
        <p:grpSpPr>
          <a:xfrm>
            <a:off x="1619250" y="4667250"/>
            <a:ext cx="2667000" cy="1428750"/>
            <a:chOff x="1619250" y="4667250"/>
            <a:chExt cx="2667000" cy="1428750"/>
          </a:xfrm>
        </p:grpSpPr>
        <p:sp>
          <p:nvSpPr>
            <p:cNvPr id="56" name="Rectangle 56"/>
            <p:cNvSpPr/>
            <p:nvPr/>
          </p:nvSpPr>
          <p:spPr>
            <a:xfrm>
              <a:off x="1619250" y="4667250"/>
              <a:ext cx="2667000" cy="1428750"/>
            </a:xfrm>
            <a:prstGeom prst="roundRect">
              <a:avLst>
                <a:gd name="adj" fmla="val 5333"/>
              </a:avLst>
            </a:prstGeom>
            <a:solidFill>
              <a:srgbClr val="FFFFFF"/>
            </a:solidFill>
            <a:ln w="9525">
              <a:solidFill>
                <a:srgbClr val="D8DEF2"/>
              </a:solidFill>
            </a:ln>
            <a:effectLst>
              <a:outerShdw blurRad="152400" dist="57150" dir="5400000" algn="ctr" rotWithShape="0">
                <a:srgbClr val="C45F4A">
                  <a:alpha val="7500"/>
                </a:srgbClr>
              </a:outerShdw>
            </a:effectLst>
          </p:spPr>
        </p:sp>
        <p:sp>
          <p:nvSpPr>
            <p:cNvPr id="57" name="Freeform 57"/>
            <p:cNvSpPr/>
            <p:nvPr/>
          </p:nvSpPr>
          <p:spPr>
            <a:xfrm>
              <a:off x="1695450" y="4724400"/>
              <a:ext cx="609600" cy="228600"/>
            </a:xfrm>
            <a:prstGeom prst="parallelogram">
              <a:avLst>
                <a:gd name="adj" fmla="val 30000"/>
              </a:avLst>
            </a:prstGeom>
            <a:solidFill>
              <a:srgbClr val="C46D5B"/>
            </a:solidFill>
            <a:ln>
              <a:noFill/>
            </a:ln>
          </p:spPr>
        </p:sp>
        <p:sp>
          <p:nvSpPr>
            <p:cNvPr id="58" name="TextBox 58"/>
            <p:cNvSpPr txBox="1"/>
            <p:nvPr/>
          </p:nvSpPr>
          <p:spPr>
            <a:xfrm>
              <a:off x="1764291" y="4793218"/>
              <a:ext cx="471919" cy="169069"/>
            </a:xfrm>
            <a:prstGeom prst="rect">
              <a:avLst/>
            </a:prstGeom>
            <a:noFill/>
            <a:ln>
              <a:noFill/>
            </a:ln>
          </p:spPr>
          <p:txBody>
            <a:bodyPr wrap="none" lIns="0" tIns="0" rIns="0" bIns="0" anchor="t" anchorCtr="0">
              <a:spAutoFit/>
            </a:bodyPr>
            <a:lstStyle/>
            <a:p>
              <a:pPr algn="ctr"/>
              <a:r>
                <a:rPr lang="en-US" sz="860" b="1" i="1" dirty="0">
                  <a:solidFill>
                    <a:srgbClr val="FFFFFF"/>
                  </a:solidFill>
                  <a:latin typeface="+mn-lt"/>
                  <a:ea typeface="+mn-ea"/>
                  <a:cs typeface="+mn-cs"/>
                </a:rPr>
                <a:t>STEP 7​</a:t>
              </a:r>
            </a:p>
          </p:txBody>
        </p:sp>
        <p:sp>
          <p:nvSpPr>
            <p:cNvPr id="59" name="TextBox 59"/>
            <p:cNvSpPr txBox="1"/>
            <p:nvPr/>
          </p:nvSpPr>
          <p:spPr>
            <a:xfrm>
              <a:off x="2762707" y="4853464"/>
              <a:ext cx="1046836" cy="249364"/>
            </a:xfrm>
            <a:prstGeom prst="rect">
              <a:avLst/>
            </a:prstGeom>
            <a:noFill/>
            <a:ln>
              <a:noFill/>
            </a:ln>
          </p:spPr>
          <p:txBody>
            <a:bodyPr wrap="none" lIns="0" tIns="0" rIns="0" bIns="0" anchor="t" anchorCtr="0">
              <a:spAutoFit/>
            </a:bodyPr>
            <a:lstStyle/>
            <a:p>
              <a:pPr algn="ctr"/>
              <a:r>
                <a:rPr lang="zh-CN" sz="1280" b="1" dirty="0">
                  <a:solidFill>
                    <a:srgbClr val="C45F4A"/>
                  </a:solidFill>
                  <a:latin typeface="+mn-lt"/>
                  <a:ea typeface="+mn-ea"/>
                  <a:cs typeface="+mn-cs"/>
                </a:rPr>
                <a:t>整合运营资源</a:t>
              </a:r>
            </a:p>
          </p:txBody>
        </p:sp>
        <p:sp>
          <p:nvSpPr>
            <p:cNvPr id="60" name="TextBox 60"/>
            <p:cNvSpPr txBox="1"/>
            <p:nvPr/>
          </p:nvSpPr>
          <p:spPr>
            <a:xfrm>
              <a:off x="1785938" y="5217795"/>
              <a:ext cx="20669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644E4A"/>
                  </a:solidFill>
                  <a:latin typeface="+mn-lt"/>
                  <a:ea typeface="+mn-ea"/>
                  <a:cs typeface="+mn-cs"/>
                </a:rPr>
                <a:t>在新媒体矩阵中进行资源整合和协同运</a:t>
              </a:r>
              <a:br/>
              <a:r>
                <a:rPr lang="zh-CN" sz="900" dirty="0">
                  <a:solidFill>
                    <a:srgbClr val="644E4A"/>
                  </a:solidFill>
                  <a:latin typeface="+mn-lt"/>
                  <a:ea typeface="+mn-ea"/>
                  <a:cs typeface="+mn-cs"/>
                </a:rPr>
                <a:t>营，以提升整体营销效应和品牌影响力。</a:t>
              </a:r>
            </a:p>
          </p:txBody>
        </p:sp>
      </p:grpSp>
      <p:grpSp>
        <p:nvGrpSpPr>
          <p:cNvPr id="67" name="card-step8"/>
          <p:cNvGrpSpPr/>
          <p:nvPr/>
        </p:nvGrpSpPr>
        <p:grpSpPr>
          <a:xfrm>
            <a:off x="4572000" y="4667250"/>
            <a:ext cx="2667000" cy="1428750"/>
            <a:chOff x="4572000" y="4667250"/>
            <a:chExt cx="2667000" cy="1428750"/>
          </a:xfrm>
        </p:grpSpPr>
        <p:sp>
          <p:nvSpPr>
            <p:cNvPr id="62" name="Rectangle 62"/>
            <p:cNvSpPr/>
            <p:nvPr/>
          </p:nvSpPr>
          <p:spPr>
            <a:xfrm>
              <a:off x="4572000" y="4667250"/>
              <a:ext cx="2667000" cy="1428750"/>
            </a:xfrm>
            <a:prstGeom prst="roundRect">
              <a:avLst>
                <a:gd name="adj" fmla="val 5333"/>
              </a:avLst>
            </a:prstGeom>
            <a:solidFill>
              <a:srgbClr val="FFFFFF"/>
            </a:solidFill>
            <a:ln w="9525">
              <a:solidFill>
                <a:srgbClr val="D8DEF2"/>
              </a:solidFill>
            </a:ln>
            <a:effectLst>
              <a:outerShdw blurRad="152400" dist="57150" dir="5400000" algn="ctr" rotWithShape="0">
                <a:srgbClr val="C45F4A">
                  <a:alpha val="7500"/>
                </a:srgbClr>
              </a:outerShdw>
            </a:effectLst>
          </p:spPr>
        </p:sp>
        <p:sp>
          <p:nvSpPr>
            <p:cNvPr id="63" name="Freeform 63"/>
            <p:cNvSpPr/>
            <p:nvPr/>
          </p:nvSpPr>
          <p:spPr>
            <a:xfrm>
              <a:off x="4648200" y="4724400"/>
              <a:ext cx="609600" cy="228600"/>
            </a:xfrm>
            <a:prstGeom prst="parallelogram">
              <a:avLst>
                <a:gd name="adj" fmla="val 30000"/>
              </a:avLst>
            </a:prstGeom>
            <a:solidFill>
              <a:srgbClr val="C46D5B"/>
            </a:solidFill>
            <a:ln>
              <a:noFill/>
            </a:ln>
          </p:spPr>
        </p:sp>
        <p:sp>
          <p:nvSpPr>
            <p:cNvPr id="64" name="TextBox 64"/>
            <p:cNvSpPr txBox="1"/>
            <p:nvPr/>
          </p:nvSpPr>
          <p:spPr>
            <a:xfrm>
              <a:off x="4717041" y="4793218"/>
              <a:ext cx="471919" cy="169069"/>
            </a:xfrm>
            <a:prstGeom prst="rect">
              <a:avLst/>
            </a:prstGeom>
            <a:noFill/>
            <a:ln>
              <a:noFill/>
            </a:ln>
          </p:spPr>
          <p:txBody>
            <a:bodyPr wrap="none" lIns="0" tIns="0" rIns="0" bIns="0" anchor="t" anchorCtr="0">
              <a:spAutoFit/>
            </a:bodyPr>
            <a:lstStyle/>
            <a:p>
              <a:pPr algn="ctr"/>
              <a:r>
                <a:rPr lang="en-US" sz="860" b="1" i="1" dirty="0">
                  <a:solidFill>
                    <a:srgbClr val="FFFFFF"/>
                  </a:solidFill>
                  <a:latin typeface="+mn-lt"/>
                  <a:ea typeface="+mn-ea"/>
                  <a:cs typeface="+mn-cs"/>
                </a:rPr>
                <a:t>STEP 8​</a:t>
              </a:r>
            </a:p>
          </p:txBody>
        </p:sp>
        <p:sp>
          <p:nvSpPr>
            <p:cNvPr id="65" name="TextBox 65"/>
            <p:cNvSpPr txBox="1"/>
            <p:nvPr/>
          </p:nvSpPr>
          <p:spPr>
            <a:xfrm>
              <a:off x="5715457" y="4853464"/>
              <a:ext cx="1046836" cy="249364"/>
            </a:xfrm>
            <a:prstGeom prst="rect">
              <a:avLst/>
            </a:prstGeom>
            <a:noFill/>
            <a:ln>
              <a:noFill/>
            </a:ln>
          </p:spPr>
          <p:txBody>
            <a:bodyPr wrap="none" lIns="0" tIns="0" rIns="0" bIns="0" anchor="t" anchorCtr="0">
              <a:spAutoFit/>
            </a:bodyPr>
            <a:lstStyle/>
            <a:p>
              <a:pPr algn="ctr"/>
              <a:r>
                <a:rPr lang="zh-CN" sz="1280" b="1" dirty="0">
                  <a:solidFill>
                    <a:srgbClr val="C45F4A"/>
                  </a:solidFill>
                  <a:latin typeface="+mn-lt"/>
                  <a:ea typeface="+mn-ea"/>
                  <a:cs typeface="+mn-cs"/>
                </a:rPr>
                <a:t>运营数据分析</a:t>
              </a:r>
            </a:p>
          </p:txBody>
        </p:sp>
        <p:sp>
          <p:nvSpPr>
            <p:cNvPr id="66" name="TextBox 66"/>
            <p:cNvSpPr txBox="1"/>
            <p:nvPr/>
          </p:nvSpPr>
          <p:spPr>
            <a:xfrm>
              <a:off x="4738688" y="5217795"/>
              <a:ext cx="1952625" cy="557212"/>
            </a:xfrm>
            <a:prstGeom prst="rect">
              <a:avLst/>
            </a:prstGeom>
            <a:noFill/>
            <a:ln>
              <a:noFill/>
            </a:ln>
          </p:spPr>
          <p:txBody>
            <a:bodyPr wrap="none" lIns="0" tIns="0" rIns="0" bIns="0" anchor="t" anchorCtr="0">
              <a:spAutoFit/>
            </a:bodyPr>
            <a:lstStyle/>
            <a:p>
              <a:pPr algn="l">
                <a:lnSpc>
                  <a:spcPts val="1500"/>
                </a:lnSpc>
              </a:pPr>
              <a:r>
                <a:rPr lang="zh-CN" sz="900" dirty="0">
                  <a:solidFill>
                    <a:srgbClr val="644E4A"/>
                  </a:solidFill>
                  <a:latin typeface="+mn-lt"/>
                  <a:ea typeface="+mn-ea"/>
                  <a:cs typeface="+mn-cs"/>
                </a:rPr>
                <a:t>利用数据分析工具深入分析用户喜好、</a:t>
              </a:r>
              <a:br/>
              <a:r>
                <a:rPr lang="zh-CN" sz="900" dirty="0">
                  <a:solidFill>
                    <a:srgbClr val="644E4A"/>
                  </a:solidFill>
                  <a:latin typeface="+mn-lt"/>
                  <a:ea typeface="+mn-ea"/>
                  <a:cs typeface="+mn-cs"/>
                </a:rPr>
                <a:t>内容互动效果、受众行为等，找出有用</a:t>
              </a:r>
              <a:br/>
              <a:r>
                <a:rPr lang="zh-CN" sz="900" dirty="0">
                  <a:solidFill>
                    <a:srgbClr val="644E4A"/>
                  </a:solidFill>
                  <a:latin typeface="+mn-lt"/>
                  <a:ea typeface="+mn-ea"/>
                  <a:cs typeface="+mn-cs"/>
                </a:rPr>
                <a:t>的信息。</a:t>
              </a:r>
            </a:p>
          </p:txBody>
        </p:sp>
      </p:grpSp>
      <p:grpSp>
        <p:nvGrpSpPr>
          <p:cNvPr id="73" name="card-step9"/>
          <p:cNvGrpSpPr/>
          <p:nvPr/>
        </p:nvGrpSpPr>
        <p:grpSpPr>
          <a:xfrm>
            <a:off x="7524750" y="4667250"/>
            <a:ext cx="2667000" cy="1428750"/>
            <a:chOff x="7524750" y="4667250"/>
            <a:chExt cx="2667000" cy="1428750"/>
          </a:xfrm>
        </p:grpSpPr>
        <p:sp>
          <p:nvSpPr>
            <p:cNvPr id="68" name="Rectangle 68"/>
            <p:cNvSpPr/>
            <p:nvPr/>
          </p:nvSpPr>
          <p:spPr>
            <a:xfrm>
              <a:off x="7524750" y="4667250"/>
              <a:ext cx="2667000" cy="1428750"/>
            </a:xfrm>
            <a:prstGeom prst="roundRect">
              <a:avLst>
                <a:gd name="adj" fmla="val 5333"/>
              </a:avLst>
            </a:prstGeom>
            <a:solidFill>
              <a:srgbClr val="FFFFFF"/>
            </a:solidFill>
            <a:ln w="9525">
              <a:solidFill>
                <a:srgbClr val="D8DEF2"/>
              </a:solidFill>
            </a:ln>
            <a:effectLst>
              <a:outerShdw blurRad="152400" dist="57150" dir="5400000" algn="ctr" rotWithShape="0">
                <a:srgbClr val="C45F4A">
                  <a:alpha val="7500"/>
                </a:srgbClr>
              </a:outerShdw>
            </a:effectLst>
          </p:spPr>
        </p:sp>
        <p:sp>
          <p:nvSpPr>
            <p:cNvPr id="69" name="Freeform 69"/>
            <p:cNvSpPr/>
            <p:nvPr/>
          </p:nvSpPr>
          <p:spPr>
            <a:xfrm>
              <a:off x="7600950" y="4724400"/>
              <a:ext cx="609600" cy="228600"/>
            </a:xfrm>
            <a:prstGeom prst="parallelogram">
              <a:avLst>
                <a:gd name="adj" fmla="val 30000"/>
              </a:avLst>
            </a:prstGeom>
            <a:solidFill>
              <a:srgbClr val="C46D5B"/>
            </a:solidFill>
            <a:ln>
              <a:noFill/>
            </a:ln>
          </p:spPr>
        </p:sp>
        <p:sp>
          <p:nvSpPr>
            <p:cNvPr id="70" name="TextBox 70"/>
            <p:cNvSpPr txBox="1"/>
            <p:nvPr/>
          </p:nvSpPr>
          <p:spPr>
            <a:xfrm>
              <a:off x="7669791" y="4793218"/>
              <a:ext cx="471919" cy="169069"/>
            </a:xfrm>
            <a:prstGeom prst="rect">
              <a:avLst/>
            </a:prstGeom>
            <a:noFill/>
            <a:ln>
              <a:noFill/>
            </a:ln>
          </p:spPr>
          <p:txBody>
            <a:bodyPr wrap="none" lIns="0" tIns="0" rIns="0" bIns="0" anchor="t" anchorCtr="0">
              <a:spAutoFit/>
            </a:bodyPr>
            <a:lstStyle/>
            <a:p>
              <a:pPr algn="ctr"/>
              <a:r>
                <a:rPr lang="en-US" sz="860" b="1" i="1" dirty="0">
                  <a:solidFill>
                    <a:srgbClr val="FFFFFF"/>
                  </a:solidFill>
                  <a:latin typeface="+mn-lt"/>
                  <a:ea typeface="+mn-ea"/>
                  <a:cs typeface="+mn-cs"/>
                </a:rPr>
                <a:t>STEP 9​</a:t>
              </a:r>
            </a:p>
          </p:txBody>
        </p:sp>
        <p:sp>
          <p:nvSpPr>
            <p:cNvPr id="71" name="TextBox 71"/>
            <p:cNvSpPr txBox="1"/>
            <p:nvPr/>
          </p:nvSpPr>
          <p:spPr>
            <a:xfrm>
              <a:off x="8668207" y="4853464"/>
              <a:ext cx="1046836" cy="249364"/>
            </a:xfrm>
            <a:prstGeom prst="rect">
              <a:avLst/>
            </a:prstGeom>
            <a:noFill/>
            <a:ln>
              <a:noFill/>
            </a:ln>
          </p:spPr>
          <p:txBody>
            <a:bodyPr wrap="none" lIns="0" tIns="0" rIns="0" bIns="0" anchor="t" anchorCtr="0">
              <a:spAutoFit/>
            </a:bodyPr>
            <a:lstStyle/>
            <a:p>
              <a:pPr algn="ctr"/>
              <a:r>
                <a:rPr lang="zh-CN" sz="1280" b="1" dirty="0">
                  <a:solidFill>
                    <a:srgbClr val="C45F4A"/>
                  </a:solidFill>
                  <a:latin typeface="+mn-lt"/>
                  <a:ea typeface="+mn-ea"/>
                  <a:cs typeface="+mn-cs"/>
                </a:rPr>
                <a:t>执行数据优化</a:t>
              </a:r>
            </a:p>
          </p:txBody>
        </p:sp>
        <p:sp>
          <p:nvSpPr>
            <p:cNvPr id="72" name="TextBox 72"/>
            <p:cNvSpPr txBox="1"/>
            <p:nvPr/>
          </p:nvSpPr>
          <p:spPr>
            <a:xfrm>
              <a:off x="7691438" y="5217795"/>
              <a:ext cx="1952625" cy="557212"/>
            </a:xfrm>
            <a:prstGeom prst="rect">
              <a:avLst/>
            </a:prstGeom>
            <a:noFill/>
            <a:ln>
              <a:noFill/>
            </a:ln>
          </p:spPr>
          <p:txBody>
            <a:bodyPr wrap="none" lIns="0" tIns="0" rIns="0" bIns="0" anchor="t" anchorCtr="0">
              <a:spAutoFit/>
            </a:bodyPr>
            <a:lstStyle/>
            <a:p>
              <a:pPr algn="l">
                <a:lnSpc>
                  <a:spcPts val="1500"/>
                </a:lnSpc>
              </a:pPr>
              <a:r>
                <a:rPr lang="zh-CN" sz="900" dirty="0">
                  <a:solidFill>
                    <a:srgbClr val="644E4A"/>
                  </a:solidFill>
                  <a:latin typeface="+mn-lt"/>
                  <a:ea typeface="+mn-ea"/>
                  <a:cs typeface="+mn-cs"/>
                </a:rPr>
                <a:t>根据数据分析结果，制定优化策略，如</a:t>
              </a:r>
              <a:br/>
              <a:r>
                <a:rPr lang="zh-CN" sz="900" dirty="0">
                  <a:solidFill>
                    <a:srgbClr val="644E4A"/>
                  </a:solidFill>
                  <a:latin typeface="+mn-lt"/>
                  <a:ea typeface="+mn-ea"/>
                  <a:cs typeface="+mn-cs"/>
                </a:rPr>
                <a:t>增加受众喜欢的内容发布频率、调整发</a:t>
              </a:r>
              <a:br/>
              <a:r>
                <a:rPr lang="zh-CN" sz="900" dirty="0">
                  <a:solidFill>
                    <a:srgbClr val="644E4A"/>
                  </a:solidFill>
                  <a:latin typeface="+mn-lt"/>
                  <a:ea typeface="+mn-ea"/>
                  <a:cs typeface="+mn-cs"/>
                </a:rPr>
                <a:t>布时间等。</a:t>
              </a:r>
            </a:p>
          </p:txBody>
        </p:sp>
      </p:grpSp>
      <p:sp>
        <p:nvSpPr>
          <p:cNvPr id="74" name="Freeform 74"/>
          <p:cNvSpPr/>
          <p:nvPr/>
        </p:nvSpPr>
        <p:spPr>
          <a:xfrm>
            <a:off x="4305300" y="1552575"/>
            <a:ext cx="247650" cy="209550"/>
          </a:xfrm>
          <a:prstGeom prst="rightArrow">
            <a:avLst/>
          </a:prstGeom>
          <a:solidFill>
            <a:srgbClr val="E08C7B"/>
          </a:solidFill>
          <a:ln>
            <a:noFill/>
          </a:ln>
        </p:spPr>
      </p:sp>
      <p:sp>
        <p:nvSpPr>
          <p:cNvPr id="75" name="Freeform 75"/>
          <p:cNvSpPr/>
          <p:nvPr/>
        </p:nvSpPr>
        <p:spPr>
          <a:xfrm>
            <a:off x="7258050" y="1552575"/>
            <a:ext cx="247650" cy="209550"/>
          </a:xfrm>
          <a:prstGeom prst="rightArrow">
            <a:avLst/>
          </a:prstGeom>
          <a:solidFill>
            <a:srgbClr val="E08C7B"/>
          </a:solidFill>
          <a:ln>
            <a:noFill/>
          </a:ln>
        </p:spPr>
      </p:sp>
      <p:sp>
        <p:nvSpPr>
          <p:cNvPr id="76" name="Freeform 76"/>
          <p:cNvSpPr/>
          <p:nvPr/>
        </p:nvSpPr>
        <p:spPr>
          <a:xfrm>
            <a:off x="7258050" y="3409950"/>
            <a:ext cx="247650" cy="209550"/>
          </a:xfrm>
          <a:prstGeom prst="leftArrow">
            <a:avLst/>
          </a:prstGeom>
          <a:solidFill>
            <a:srgbClr val="F07E6A"/>
          </a:solidFill>
          <a:ln>
            <a:noFill/>
          </a:ln>
        </p:spPr>
      </p:sp>
      <p:sp>
        <p:nvSpPr>
          <p:cNvPr id="77" name="Freeform 77"/>
          <p:cNvSpPr/>
          <p:nvPr/>
        </p:nvSpPr>
        <p:spPr>
          <a:xfrm>
            <a:off x="4305300" y="3409950"/>
            <a:ext cx="247650" cy="209550"/>
          </a:xfrm>
          <a:prstGeom prst="leftArrow">
            <a:avLst/>
          </a:prstGeom>
          <a:solidFill>
            <a:srgbClr val="F07E6A"/>
          </a:solidFill>
          <a:ln>
            <a:noFill/>
          </a:ln>
        </p:spPr>
      </p:sp>
      <p:sp>
        <p:nvSpPr>
          <p:cNvPr id="78" name="Freeform 78"/>
          <p:cNvSpPr/>
          <p:nvPr/>
        </p:nvSpPr>
        <p:spPr>
          <a:xfrm>
            <a:off x="4305300" y="5267325"/>
            <a:ext cx="247650" cy="209550"/>
          </a:xfrm>
          <a:prstGeom prst="rightArrow">
            <a:avLst/>
          </a:prstGeom>
          <a:solidFill>
            <a:srgbClr val="E08C7B"/>
          </a:solidFill>
          <a:ln>
            <a:noFill/>
          </a:ln>
        </p:spPr>
      </p:sp>
      <p:sp>
        <p:nvSpPr>
          <p:cNvPr id="79" name="Freeform 79"/>
          <p:cNvSpPr/>
          <p:nvPr/>
        </p:nvSpPr>
        <p:spPr>
          <a:xfrm>
            <a:off x="7258050" y="5267325"/>
            <a:ext cx="247650" cy="209550"/>
          </a:xfrm>
          <a:prstGeom prst="rightArrow">
            <a:avLst/>
          </a:prstGeom>
          <a:solidFill>
            <a:srgbClr val="E08C7B"/>
          </a:solidFill>
          <a:ln>
            <a:noFill/>
          </a:ln>
        </p:spPr>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se-plate"/>
          <p:cNvSpPr/>
          <p:nvPr/>
        </p:nvSpPr>
        <p:spPr>
          <a:xfrm>
            <a:off x="381000" y="5867400"/>
            <a:ext cx="11430000" cy="457200"/>
          </a:xfrm>
          <a:prstGeom prst="ellipse">
            <a:avLst/>
          </a:prstGeom>
          <a:solidFill>
            <a:srgbClr val="E8EBF8"/>
          </a:solidFill>
          <a:ln>
            <a:noFill/>
          </a:ln>
        </p:spPr>
      </p:sp>
      <p:grpSp>
        <p:nvGrpSpPr>
          <p:cNvPr id="7" name="page-header"/>
          <p:cNvGrpSpPr/>
          <p:nvPr/>
        </p:nvGrpSpPr>
        <p:grpSpPr>
          <a:xfrm>
            <a:off x="0" y="0"/>
            <a:ext cx="5905500" cy="542925"/>
            <a:chOff x="0" y="0"/>
            <a:chExt cx="5905500" cy="542925"/>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4" name="TextBox 4"/>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45</a:t>
              </a:r>
            </a:p>
          </p:txBody>
        </p:sp>
        <p:sp>
          <p:nvSpPr>
            <p:cNvPr id="5" name="TextBox 5"/>
            <p:cNvSpPr txBox="1"/>
            <p:nvPr/>
          </p:nvSpPr>
          <p:spPr>
            <a:xfrm>
              <a:off x="942594" y="151448"/>
              <a:ext cx="360791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车企社媒账号KOX运营战略​</a:t>
              </a:r>
            </a:p>
          </p:txBody>
        </p:sp>
        <p:sp>
          <p:nvSpPr>
            <p:cNvPr id="6" name="Line 6"/>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22" name="goal-row"/>
          <p:cNvGrpSpPr/>
          <p:nvPr/>
        </p:nvGrpSpPr>
        <p:grpSpPr>
          <a:xfrm>
            <a:off x="757238" y="857250"/>
            <a:ext cx="10286999" cy="571500"/>
            <a:chOff x="757238" y="857250"/>
            <a:chExt cx="10286999" cy="571500"/>
          </a:xfrm>
        </p:grpSpPr>
        <p:sp>
          <p:nvSpPr>
            <p:cNvPr id="8" name="TextBox 8"/>
            <p:cNvSpPr txBox="1"/>
            <p:nvPr/>
          </p:nvSpPr>
          <p:spPr>
            <a:xfrm>
              <a:off x="757238" y="969645"/>
              <a:ext cx="1724025"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644E4A"/>
                  </a:solidFill>
                  <a:latin typeface="+mn-lt"/>
                  <a:ea typeface="+mn-ea"/>
                  <a:cs typeface="+mn-cs"/>
                </a:rPr>
                <a:t>打通地域、时间、渠道限制，加强</a:t>
              </a:r>
              <a:br/>
              <a:r>
                <a:rPr lang="zh-CN" sz="900" dirty="0">
                  <a:solidFill>
                    <a:srgbClr val="644E4A"/>
                  </a:solidFill>
                  <a:latin typeface="+mn-lt"/>
                  <a:ea typeface="+mn-ea"/>
                  <a:cs typeface="+mn-cs"/>
                </a:rPr>
                <a:t>线索留存精确性，提高销售转化</a:t>
              </a:r>
            </a:p>
          </p:txBody>
        </p:sp>
        <p:sp>
          <p:nvSpPr>
            <p:cNvPr id="9" name="Rectangle 9"/>
            <p:cNvSpPr/>
            <p:nvPr/>
          </p:nvSpPr>
          <p:spPr>
            <a:xfrm>
              <a:off x="3238500" y="952500"/>
              <a:ext cx="1333500" cy="381000"/>
            </a:xfrm>
            <a:prstGeom prst="roundRect">
              <a:avLst>
                <a:gd name="adj" fmla="val 50000"/>
              </a:avLst>
            </a:prstGeom>
            <a:gradFill>
              <a:gsLst>
                <a:gs pos="0">
                  <a:srgbClr val="E8634C"/>
                </a:gs>
                <a:gs pos="100000">
                  <a:srgbClr val="F07E6A"/>
                </a:gs>
              </a:gsLst>
              <a:lin ang="0" scaled="1"/>
            </a:gradFill>
            <a:ln>
              <a:noFill/>
            </a:ln>
          </p:spPr>
        </p:sp>
        <p:sp>
          <p:nvSpPr>
            <p:cNvPr id="10" name="TextBox 10"/>
            <p:cNvSpPr txBox="1"/>
            <p:nvPr/>
          </p:nvSpPr>
          <p:spPr>
            <a:xfrm>
              <a:off x="3522599" y="1078706"/>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促销售转化</a:t>
              </a:r>
            </a:p>
          </p:txBody>
        </p:sp>
        <p:sp>
          <p:nvSpPr>
            <p:cNvPr id="11" name="Line 11"/>
            <p:cNvSpPr/>
            <p:nvPr/>
          </p:nvSpPr>
          <p:spPr>
            <a:xfrm flipH="1">
              <a:off x="4705350" y="1143000"/>
              <a:ext cx="1047750" cy="1"/>
            </a:xfrm>
            <a:prstGeom prst="line">
              <a:avLst/>
            </a:prstGeom>
            <a:noFill/>
            <a:ln w="14288">
              <a:solidFill>
                <a:srgbClr val="E8A79A"/>
              </a:solidFill>
              <a:tailEnd type="triangle" w="lg" len="lg"/>
            </a:ln>
          </p:spPr>
        </p:sp>
        <p:sp>
          <p:nvSpPr>
            <p:cNvPr id="12" name="Ellipse 12"/>
            <p:cNvSpPr/>
            <p:nvPr/>
          </p:nvSpPr>
          <p:spPr>
            <a:xfrm>
              <a:off x="5810250" y="857250"/>
              <a:ext cx="571500" cy="571500"/>
            </a:xfrm>
            <a:prstGeom prst="ellipse">
              <a:avLst/>
            </a:prstGeom>
            <a:solidFill>
              <a:srgbClr val="E8EBF8"/>
            </a:solidFill>
            <a:ln>
              <a:noFill/>
            </a:ln>
          </p:spPr>
        </p:sp>
        <p:grpSp>
          <p:nvGrpSpPr>
            <p:cNvPr id="17" name="Group 17"/>
            <p:cNvGrpSpPr/>
            <p:nvPr/>
          </p:nvGrpSpPr>
          <p:grpSpPr>
            <a:xfrm>
              <a:off x="5967412" y="1014412"/>
              <a:ext cx="257175" cy="257176"/>
              <a:chOff x="5967412" y="1014412"/>
              <a:chExt cx="257175" cy="257176"/>
            </a:xfrm>
          </p:grpSpPr>
          <p:sp>
            <p:nvSpPr>
              <p:cNvPr id="13" name="Freeform 13"/>
              <p:cNvSpPr/>
              <p:nvPr/>
            </p:nvSpPr>
            <p:spPr>
              <a:xfrm>
                <a:off x="5995988" y="101441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C45F4A"/>
                </a:solidFill>
              </a:ln>
            </p:spPr>
          </p:sp>
          <p:sp>
            <p:nvSpPr>
              <p:cNvPr id="14" name="Freeform 14"/>
              <p:cNvSpPr/>
              <p:nvPr/>
            </p:nvSpPr>
            <p:spPr>
              <a:xfrm>
                <a:off x="5967412" y="118586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C45F4A"/>
                </a:solidFill>
              </a:ln>
            </p:spPr>
          </p:sp>
          <p:sp>
            <p:nvSpPr>
              <p:cNvPr id="15" name="Freeform 15"/>
              <p:cNvSpPr/>
              <p:nvPr/>
            </p:nvSpPr>
            <p:spPr>
              <a:xfrm>
                <a:off x="6153150" y="101627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C45F4A"/>
                </a:solidFill>
              </a:ln>
            </p:spPr>
          </p:sp>
          <p:sp>
            <p:nvSpPr>
              <p:cNvPr id="16" name="Freeform 16"/>
              <p:cNvSpPr/>
              <p:nvPr/>
            </p:nvSpPr>
            <p:spPr>
              <a:xfrm>
                <a:off x="6181725" y="118800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C45F4A"/>
                </a:solidFill>
              </a:ln>
            </p:spPr>
          </p:sp>
        </p:grpSp>
        <p:sp>
          <p:nvSpPr>
            <p:cNvPr id="18" name="Line 18"/>
            <p:cNvSpPr/>
            <p:nvPr/>
          </p:nvSpPr>
          <p:spPr>
            <a:xfrm>
              <a:off x="6438900" y="1143000"/>
              <a:ext cx="1047750" cy="1"/>
            </a:xfrm>
            <a:prstGeom prst="line">
              <a:avLst/>
            </a:prstGeom>
            <a:noFill/>
            <a:ln w="14288">
              <a:solidFill>
                <a:srgbClr val="E8A79A"/>
              </a:solidFill>
              <a:tailEnd type="triangle" w="lg" len="lg"/>
            </a:ln>
          </p:spPr>
        </p:sp>
        <p:sp>
          <p:nvSpPr>
            <p:cNvPr id="19" name="Rectangle 19"/>
            <p:cNvSpPr/>
            <p:nvPr/>
          </p:nvSpPr>
          <p:spPr>
            <a:xfrm>
              <a:off x="7620000" y="952500"/>
              <a:ext cx="1333500" cy="381000"/>
            </a:xfrm>
            <a:prstGeom prst="roundRect">
              <a:avLst>
                <a:gd name="adj" fmla="val 50000"/>
              </a:avLst>
            </a:prstGeom>
            <a:gradFill>
              <a:gsLst>
                <a:gs pos="0">
                  <a:srgbClr val="E8634C"/>
                </a:gs>
                <a:gs pos="100000">
                  <a:srgbClr val="F07E6A"/>
                </a:gs>
              </a:gsLst>
              <a:lin ang="0" scaled="1"/>
            </a:gradFill>
            <a:ln>
              <a:noFill/>
            </a:ln>
          </p:spPr>
        </p:sp>
        <p:sp>
          <p:nvSpPr>
            <p:cNvPr id="20" name="TextBox 20"/>
            <p:cNvSpPr txBox="1"/>
            <p:nvPr/>
          </p:nvSpPr>
          <p:spPr>
            <a:xfrm>
              <a:off x="7904099" y="1078706"/>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利线索收集</a:t>
              </a:r>
            </a:p>
          </p:txBody>
        </p:sp>
        <p:sp>
          <p:nvSpPr>
            <p:cNvPr id="21" name="TextBox 21"/>
            <p:cNvSpPr txBox="1"/>
            <p:nvPr/>
          </p:nvSpPr>
          <p:spPr>
            <a:xfrm>
              <a:off x="9091612" y="969645"/>
              <a:ext cx="1952625"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644E4A"/>
                  </a:solidFill>
                  <a:latin typeface="+mn-lt"/>
                  <a:ea typeface="+mn-ea"/>
                  <a:cs typeface="+mn-cs"/>
                </a:rPr>
                <a:t>满足车企用户多变的需求，触达用户购</a:t>
              </a:r>
              <a:br/>
              <a:r>
                <a:rPr lang="zh-CN" sz="900" dirty="0">
                  <a:solidFill>
                    <a:srgbClr val="644E4A"/>
                  </a:solidFill>
                  <a:latin typeface="+mn-lt"/>
                  <a:ea typeface="+mn-ea"/>
                  <a:cs typeface="+mn-cs"/>
                </a:rPr>
                <a:t>车心智，提高用户忠诚度和用户黏性</a:t>
              </a:r>
            </a:p>
          </p:txBody>
        </p:sp>
      </p:grpSp>
      <p:grpSp>
        <p:nvGrpSpPr>
          <p:cNvPr id="47" name="card-brand"/>
          <p:cNvGrpSpPr/>
          <p:nvPr/>
        </p:nvGrpSpPr>
        <p:grpSpPr>
          <a:xfrm>
            <a:off x="571500" y="1571625"/>
            <a:ext cx="2333625" cy="4333875"/>
            <a:chOff x="571500" y="1571625"/>
            <a:chExt cx="2333625" cy="4333875"/>
          </a:xfrm>
        </p:grpSpPr>
        <p:sp>
          <p:nvSpPr>
            <p:cNvPr id="23" name="Rectangle 23"/>
            <p:cNvSpPr/>
            <p:nvPr/>
          </p:nvSpPr>
          <p:spPr>
            <a:xfrm>
              <a:off x="571500" y="1571625"/>
              <a:ext cx="2333625" cy="4333875"/>
            </a:xfrm>
            <a:prstGeom prst="roundRect">
              <a:avLst>
                <a:gd name="adj" fmla="val 7347"/>
              </a:avLst>
            </a:prstGeom>
            <a:gradFill>
              <a:gsLst>
                <a:gs pos="0">
                  <a:srgbClr val="EEF1FB"/>
                </a:gs>
                <a:gs pos="100000">
                  <a:srgbClr val="FFFFFF"/>
                </a:gs>
              </a:gsLst>
              <a:lin ang="5400000" scaled="1"/>
            </a:gradFill>
            <a:ln w="14288">
              <a:solidFill>
                <a:srgbClr val="C9D1F0"/>
              </a:solidFill>
            </a:ln>
          </p:spPr>
        </p:sp>
        <p:sp>
          <p:nvSpPr>
            <p:cNvPr id="24" name="TextBox 24"/>
            <p:cNvSpPr txBox="1"/>
            <p:nvPr/>
          </p:nvSpPr>
          <p:spPr>
            <a:xfrm>
              <a:off x="1581917" y="1961198"/>
              <a:ext cx="303266" cy="674751"/>
            </a:xfrm>
            <a:prstGeom prst="rect">
              <a:avLst/>
            </a:prstGeom>
            <a:noFill/>
            <a:ln>
              <a:noFill/>
            </a:ln>
          </p:spPr>
          <p:txBody>
            <a:bodyPr wrap="none" lIns="0" tIns="0" rIns="0" bIns="0" anchor="t" anchorCtr="0">
              <a:spAutoFit/>
            </a:bodyPr>
            <a:lstStyle/>
            <a:p>
              <a:pPr algn="ctr"/>
              <a:r>
                <a:rPr lang="zh-CN" sz="3450" b="1" dirty="0">
                  <a:solidFill>
                    <a:srgbClr val="E8634C"/>
                  </a:solidFill>
                  <a:latin typeface="+mn-lt"/>
                  <a:ea typeface="+mn-ea"/>
                  <a:cs typeface="+mn-cs"/>
                </a:rPr>
                <a:t>1</a:t>
              </a:r>
            </a:p>
          </p:txBody>
        </p:sp>
        <p:sp>
          <p:nvSpPr>
            <p:cNvPr id="25" name="TextBox 25"/>
            <p:cNvSpPr txBox="1"/>
            <p:nvPr/>
          </p:nvSpPr>
          <p:spPr>
            <a:xfrm>
              <a:off x="1221105" y="2524125"/>
              <a:ext cx="1024890" cy="293370"/>
            </a:xfrm>
            <a:prstGeom prst="rect">
              <a:avLst/>
            </a:prstGeom>
            <a:noFill/>
            <a:ln>
              <a:noFill/>
            </a:ln>
          </p:spPr>
          <p:txBody>
            <a:bodyPr wrap="none" lIns="0" tIns="0" rIns="0" bIns="0" anchor="t" anchorCtr="0">
              <a:spAutoFit/>
            </a:bodyPr>
            <a:lstStyle/>
            <a:p>
              <a:pPr algn="ctr"/>
              <a:r>
                <a:rPr lang="zh-CN" sz="1500" b="1" dirty="0">
                  <a:solidFill>
                    <a:srgbClr val="C45F4A"/>
                  </a:solidFill>
                  <a:latin typeface="+mn-lt"/>
                  <a:ea typeface="+mn-ea"/>
                  <a:cs typeface="+mn-cs"/>
                </a:rPr>
                <a:t>品牌型账号</a:t>
              </a:r>
            </a:p>
          </p:txBody>
        </p:sp>
        <p:sp>
          <p:nvSpPr>
            <p:cNvPr id="26" name="TextBox 26"/>
            <p:cNvSpPr txBox="1"/>
            <p:nvPr/>
          </p:nvSpPr>
          <p:spPr>
            <a:xfrm>
              <a:off x="1365314" y="2798445"/>
              <a:ext cx="736473" cy="176212"/>
            </a:xfrm>
            <a:prstGeom prst="rect">
              <a:avLst/>
            </a:prstGeom>
            <a:noFill/>
            <a:ln>
              <a:noFill/>
            </a:ln>
          </p:spPr>
          <p:txBody>
            <a:bodyPr wrap="none" lIns="0" tIns="0" rIns="0" bIns="0" anchor="t" anchorCtr="0">
              <a:spAutoFit/>
            </a:bodyPr>
            <a:lstStyle/>
            <a:p>
              <a:pPr algn="ctr"/>
              <a:r>
                <a:rPr lang="zh-CN" sz="900" dirty="0">
                  <a:solidFill>
                    <a:srgbClr val="88706B"/>
                  </a:solidFill>
                  <a:latin typeface="+mn-lt"/>
                  <a:ea typeface="+mn-ea"/>
                  <a:cs typeface="+mn-cs"/>
                </a:rPr>
                <a:t>客户沉淀关键</a:t>
              </a:r>
            </a:p>
          </p:txBody>
        </p:sp>
        <p:sp>
          <p:nvSpPr>
            <p:cNvPr id="27" name="Ellipse 27"/>
            <p:cNvSpPr/>
            <p:nvPr/>
          </p:nvSpPr>
          <p:spPr>
            <a:xfrm>
              <a:off x="1352550" y="3257550"/>
              <a:ext cx="762000" cy="762000"/>
            </a:xfrm>
            <a:prstGeom prst="ellipse">
              <a:avLst/>
            </a:prstGeom>
            <a:solidFill>
              <a:srgbClr val="FFFFFF"/>
            </a:solidFill>
            <a:ln w="9525">
              <a:solidFill>
                <a:srgbClr val="D8DEF2"/>
              </a:solidFill>
            </a:ln>
          </p:spPr>
        </p:sp>
        <p:sp>
          <p:nvSpPr>
            <p:cNvPr id="28" name="Freeform 28"/>
            <p:cNvSpPr/>
            <p:nvPr/>
          </p:nvSpPr>
          <p:spPr>
            <a:xfrm>
              <a:off x="1622158" y="3388638"/>
              <a:ext cx="221851" cy="196658"/>
            </a:xfrm>
            <a:custGeom>
              <a:avLst/>
              <a:gdLst/>
              <a:ahLst/>
              <a:cxnLst/>
              <a:rect l="l" t="t" r="r" b="b"/>
              <a:pathLst>
                <a:path w="221851" h="196658">
                  <a:moveTo>
                    <a:pt x="11379" y="186413"/>
                  </a:moveTo>
                  <a:lnTo>
                    <a:pt x="25826" y="143074"/>
                  </a:lnTo>
                  <a:cubicBezTo>
                    <a:pt x="0" y="104880"/>
                    <a:pt x="9979" y="55596"/>
                    <a:pt x="49162" y="27792"/>
                  </a:cubicBezTo>
                  <a:cubicBezTo>
                    <a:pt x="88345" y="0"/>
                    <a:pt x="144618" y="2278"/>
                    <a:pt x="180790" y="33126"/>
                  </a:cubicBezTo>
                  <a:cubicBezTo>
                    <a:pt x="216961" y="63986"/>
                    <a:pt x="221851" y="113870"/>
                    <a:pt x="192225" y="149819"/>
                  </a:cubicBezTo>
                  <a:cubicBezTo>
                    <a:pt x="162599" y="185768"/>
                    <a:pt x="107603" y="196658"/>
                    <a:pt x="63608" y="175300"/>
                  </a:cubicBezTo>
                  <a:lnTo>
                    <a:pt x="11379" y="186413"/>
                  </a:lnTo>
                </a:path>
              </a:pathLst>
            </a:custGeom>
            <a:noFill/>
            <a:ln w="22225">
              <a:solidFill>
                <a:srgbClr val="C12507"/>
              </a:solidFill>
            </a:ln>
          </p:spPr>
        </p:sp>
        <p:sp>
          <p:nvSpPr>
            <p:cNvPr id="29" name="TextBox 29"/>
            <p:cNvSpPr txBox="1"/>
            <p:nvPr/>
          </p:nvSpPr>
          <p:spPr>
            <a:xfrm>
              <a:off x="1563205" y="3739991"/>
              <a:ext cx="340690" cy="161925"/>
            </a:xfrm>
            <a:prstGeom prst="rect">
              <a:avLst/>
            </a:prstGeom>
            <a:noFill/>
            <a:ln>
              <a:noFill/>
            </a:ln>
          </p:spPr>
          <p:txBody>
            <a:bodyPr wrap="none" lIns="0" tIns="0" rIns="0" bIns="0" anchor="t" anchorCtr="0">
              <a:spAutoFit/>
            </a:bodyPr>
            <a:lstStyle/>
            <a:p>
              <a:pPr algn="ctr"/>
              <a:r>
                <a:rPr lang="zh-CN" sz="820" dirty="0">
                  <a:solidFill>
                    <a:srgbClr val="543E3A"/>
                  </a:solidFill>
                  <a:latin typeface="+mn-lt"/>
                  <a:ea typeface="+mn-ea"/>
                  <a:cs typeface="+mn-cs"/>
                </a:rPr>
                <a:t>公众号</a:t>
              </a:r>
            </a:p>
          </p:txBody>
        </p:sp>
        <p:sp>
          <p:nvSpPr>
            <p:cNvPr id="30" name="Ellipse 30"/>
            <p:cNvSpPr/>
            <p:nvPr/>
          </p:nvSpPr>
          <p:spPr>
            <a:xfrm>
              <a:off x="819150" y="3810000"/>
              <a:ext cx="762000" cy="762000"/>
            </a:xfrm>
            <a:prstGeom prst="ellipse">
              <a:avLst/>
            </a:prstGeom>
            <a:solidFill>
              <a:srgbClr val="FFFFFF"/>
            </a:solidFill>
            <a:ln w="9525">
              <a:solidFill>
                <a:srgbClr val="D8DEF2"/>
              </a:solidFill>
            </a:ln>
          </p:spPr>
        </p:sp>
        <p:grpSp>
          <p:nvGrpSpPr>
            <p:cNvPr id="34" name="Group 34"/>
            <p:cNvGrpSpPr/>
            <p:nvPr/>
          </p:nvGrpSpPr>
          <p:grpSpPr>
            <a:xfrm>
              <a:off x="1122363" y="3949700"/>
              <a:ext cx="155575" cy="177801"/>
              <a:chOff x="1122363" y="3949700"/>
              <a:chExt cx="155575" cy="177801"/>
            </a:xfrm>
          </p:grpSpPr>
          <p:sp>
            <p:nvSpPr>
              <p:cNvPr id="31" name="Freeform 31"/>
              <p:cNvSpPr/>
              <p:nvPr/>
            </p:nvSpPr>
            <p:spPr>
              <a:xfrm>
                <a:off x="1122363" y="3949700"/>
                <a:ext cx="155575" cy="177801"/>
              </a:xfrm>
              <a:custGeom>
                <a:avLst/>
                <a:gdLst/>
                <a:ahLst/>
                <a:cxnLst/>
                <a:rect l="l" t="t" r="r" b="b"/>
                <a:pathLst>
                  <a:path w="155575" h="177801">
                    <a:moveTo>
                      <a:pt x="155575" y="0"/>
                    </a:moveTo>
                    <a:lnTo>
                      <a:pt x="155575" y="177801"/>
                    </a:lnTo>
                    <a:lnTo>
                      <a:pt x="22225" y="177801"/>
                    </a:lnTo>
                    <a:cubicBezTo>
                      <a:pt x="9950" y="177801"/>
                      <a:pt x="0" y="167850"/>
                      <a:pt x="0" y="155575"/>
                    </a:cubicBezTo>
                    <a:lnTo>
                      <a:pt x="0" y="22225"/>
                    </a:lnTo>
                    <a:cubicBezTo>
                      <a:pt x="0" y="9950"/>
                      <a:pt x="9950" y="0"/>
                      <a:pt x="22225" y="0"/>
                    </a:cubicBezTo>
                    <a:lnTo>
                      <a:pt x="155575" y="0"/>
                    </a:lnTo>
                  </a:path>
                </a:pathLst>
              </a:custGeom>
              <a:noFill/>
              <a:ln w="22225">
                <a:solidFill>
                  <a:srgbClr val="E2533B"/>
                </a:solidFill>
              </a:ln>
            </p:spPr>
          </p:sp>
          <p:sp>
            <p:nvSpPr>
              <p:cNvPr id="32" name="Freeform 32"/>
              <p:cNvSpPr/>
              <p:nvPr/>
            </p:nvSpPr>
            <p:spPr>
              <a:xfrm>
                <a:off x="1122363" y="4083051"/>
                <a:ext cx="155575" cy="22225"/>
              </a:xfrm>
              <a:custGeom>
                <a:avLst/>
                <a:gdLst/>
                <a:ahLst/>
                <a:cxnLst/>
                <a:rect l="l" t="t" r="r" b="b"/>
                <a:pathLst>
                  <a:path w="155575" h="22225">
                    <a:moveTo>
                      <a:pt x="155575" y="0"/>
                    </a:moveTo>
                    <a:lnTo>
                      <a:pt x="22225" y="0"/>
                    </a:lnTo>
                    <a:cubicBezTo>
                      <a:pt x="9950" y="0"/>
                      <a:pt x="0" y="9950"/>
                      <a:pt x="0" y="22225"/>
                    </a:cubicBezTo>
                  </a:path>
                </a:pathLst>
              </a:custGeom>
              <a:noFill/>
              <a:ln w="22225">
                <a:solidFill>
                  <a:srgbClr val="E2533B"/>
                </a:solidFill>
              </a:ln>
            </p:spPr>
          </p:sp>
          <p:sp>
            <p:nvSpPr>
              <p:cNvPr id="33" name="Freeform 33"/>
              <p:cNvSpPr/>
              <p:nvPr/>
            </p:nvSpPr>
            <p:spPr>
              <a:xfrm>
                <a:off x="1166813" y="3994150"/>
                <a:ext cx="66675" cy="9525"/>
              </a:xfrm>
              <a:custGeom>
                <a:avLst/>
                <a:gdLst/>
                <a:ahLst/>
                <a:cxnLst/>
                <a:rect l="l" t="t" r="r" b="b"/>
                <a:pathLst>
                  <a:path w="66675" h="9525">
                    <a:moveTo>
                      <a:pt x="0" y="0"/>
                    </a:moveTo>
                    <a:lnTo>
                      <a:pt x="66675" y="0"/>
                    </a:lnTo>
                  </a:path>
                </a:pathLst>
              </a:custGeom>
              <a:noFill/>
              <a:ln w="22225">
                <a:solidFill>
                  <a:srgbClr val="E2533B"/>
                </a:solidFill>
              </a:ln>
            </p:spPr>
          </p:sp>
        </p:grpSp>
        <p:sp>
          <p:nvSpPr>
            <p:cNvPr id="35" name="TextBox 35"/>
            <p:cNvSpPr txBox="1"/>
            <p:nvPr/>
          </p:nvSpPr>
          <p:spPr>
            <a:xfrm>
              <a:off x="1029805" y="4292441"/>
              <a:ext cx="340690" cy="161925"/>
            </a:xfrm>
            <a:prstGeom prst="rect">
              <a:avLst/>
            </a:prstGeom>
            <a:noFill/>
            <a:ln>
              <a:noFill/>
            </a:ln>
          </p:spPr>
          <p:txBody>
            <a:bodyPr wrap="none" lIns="0" tIns="0" rIns="0" bIns="0" anchor="t" anchorCtr="0">
              <a:spAutoFit/>
            </a:bodyPr>
            <a:lstStyle/>
            <a:p>
              <a:pPr algn="ctr"/>
              <a:r>
                <a:rPr lang="zh-CN" sz="820" dirty="0">
                  <a:solidFill>
                    <a:srgbClr val="543E3A"/>
                  </a:solidFill>
                  <a:latin typeface="+mn-lt"/>
                  <a:ea typeface="+mn-ea"/>
                  <a:cs typeface="+mn-cs"/>
                </a:rPr>
                <a:t>小红书</a:t>
              </a:r>
            </a:p>
          </p:txBody>
        </p:sp>
        <p:sp>
          <p:nvSpPr>
            <p:cNvPr id="36" name="Ellipse 36"/>
            <p:cNvSpPr/>
            <p:nvPr/>
          </p:nvSpPr>
          <p:spPr>
            <a:xfrm>
              <a:off x="1885950" y="3810000"/>
              <a:ext cx="762000" cy="762000"/>
            </a:xfrm>
            <a:prstGeom prst="ellipse">
              <a:avLst/>
            </a:prstGeom>
            <a:solidFill>
              <a:srgbClr val="FFFFFF"/>
            </a:solidFill>
            <a:ln w="9525">
              <a:solidFill>
                <a:srgbClr val="D8DEF2"/>
              </a:solidFill>
            </a:ln>
          </p:spPr>
        </p:sp>
        <p:grpSp>
          <p:nvGrpSpPr>
            <p:cNvPr id="39" name="Group 39"/>
            <p:cNvGrpSpPr/>
            <p:nvPr/>
          </p:nvGrpSpPr>
          <p:grpSpPr>
            <a:xfrm>
              <a:off x="2166938" y="3971925"/>
              <a:ext cx="200025" cy="133350"/>
              <a:chOff x="2166938" y="3971925"/>
              <a:chExt cx="200025" cy="133350"/>
            </a:xfrm>
          </p:grpSpPr>
          <p:sp>
            <p:nvSpPr>
              <p:cNvPr id="37" name="Freeform 37"/>
              <p:cNvSpPr/>
              <p:nvPr/>
            </p:nvSpPr>
            <p:spPr>
              <a:xfrm>
                <a:off x="2300288" y="3989362"/>
                <a:ext cx="66675" cy="98476"/>
              </a:xfrm>
              <a:custGeom>
                <a:avLst/>
                <a:gdLst/>
                <a:ahLst/>
                <a:cxnLst/>
                <a:rect l="l" t="t" r="r" b="b"/>
                <a:pathLst>
                  <a:path w="66675" h="98476">
                    <a:moveTo>
                      <a:pt x="0" y="27013"/>
                    </a:moveTo>
                    <a:lnTo>
                      <a:pt x="50595" y="1721"/>
                    </a:lnTo>
                    <a:cubicBezTo>
                      <a:pt x="54039" y="0"/>
                      <a:pt x="58128" y="184"/>
                      <a:pt x="61403" y="2208"/>
                    </a:cubicBezTo>
                    <a:cubicBezTo>
                      <a:pt x="64679" y="4231"/>
                      <a:pt x="66673" y="7806"/>
                      <a:pt x="66675" y="11655"/>
                    </a:cubicBezTo>
                    <a:lnTo>
                      <a:pt x="66675" y="86821"/>
                    </a:lnTo>
                    <a:cubicBezTo>
                      <a:pt x="66673" y="90670"/>
                      <a:pt x="64679" y="94245"/>
                      <a:pt x="61403" y="96268"/>
                    </a:cubicBezTo>
                    <a:cubicBezTo>
                      <a:pt x="58128" y="98292"/>
                      <a:pt x="54039" y="98476"/>
                      <a:pt x="50595" y="96755"/>
                    </a:cubicBezTo>
                    <a:lnTo>
                      <a:pt x="0" y="71463"/>
                    </a:lnTo>
                    <a:lnTo>
                      <a:pt x="0" y="27013"/>
                    </a:lnTo>
                  </a:path>
                </a:pathLst>
              </a:custGeom>
              <a:noFill/>
              <a:ln w="22225">
                <a:solidFill>
                  <a:srgbClr val="F74E31"/>
                </a:solidFill>
              </a:ln>
            </p:spPr>
          </p:sp>
          <p:sp>
            <p:nvSpPr>
              <p:cNvPr id="38" name="Freeform 38"/>
              <p:cNvSpPr/>
              <p:nvPr/>
            </p:nvSpPr>
            <p:spPr>
              <a:xfrm>
                <a:off x="2166938" y="3971925"/>
                <a:ext cx="133350" cy="133350"/>
              </a:xfrm>
              <a:custGeom>
                <a:avLst/>
                <a:gdLst/>
                <a:ahLst/>
                <a:cxnLst/>
                <a:rect l="l" t="t" r="r" b="b"/>
                <a:pathLst>
                  <a:path w="133350" h="133350">
                    <a:moveTo>
                      <a:pt x="0" y="22225"/>
                    </a:moveTo>
                    <a:cubicBezTo>
                      <a:pt x="0" y="9950"/>
                      <a:pt x="9950" y="0"/>
                      <a:pt x="22225" y="0"/>
                    </a:cubicBezTo>
                    <a:lnTo>
                      <a:pt x="111125" y="0"/>
                    </a:lnTo>
                    <a:cubicBezTo>
                      <a:pt x="123400" y="0"/>
                      <a:pt x="133350" y="9950"/>
                      <a:pt x="133350" y="22225"/>
                    </a:cubicBezTo>
                    <a:lnTo>
                      <a:pt x="133350" y="111125"/>
                    </a:lnTo>
                    <a:cubicBezTo>
                      <a:pt x="133350" y="123400"/>
                      <a:pt x="123400" y="133350"/>
                      <a:pt x="111125" y="133350"/>
                    </a:cubicBezTo>
                    <a:lnTo>
                      <a:pt x="22225" y="133350"/>
                    </a:lnTo>
                    <a:cubicBezTo>
                      <a:pt x="9950" y="133350"/>
                      <a:pt x="0" y="123400"/>
                      <a:pt x="0" y="111125"/>
                    </a:cubicBezTo>
                    <a:lnTo>
                      <a:pt x="0" y="22225"/>
                    </a:lnTo>
                  </a:path>
                </a:pathLst>
              </a:custGeom>
              <a:noFill/>
              <a:ln w="22225">
                <a:solidFill>
                  <a:srgbClr val="F74E31"/>
                </a:solidFill>
              </a:ln>
            </p:spPr>
          </p:sp>
        </p:grpSp>
        <p:sp>
          <p:nvSpPr>
            <p:cNvPr id="40" name="TextBox 40"/>
            <p:cNvSpPr txBox="1"/>
            <p:nvPr/>
          </p:nvSpPr>
          <p:spPr>
            <a:xfrm>
              <a:off x="2096605" y="4292441"/>
              <a:ext cx="340690" cy="161925"/>
            </a:xfrm>
            <a:prstGeom prst="rect">
              <a:avLst/>
            </a:prstGeom>
            <a:noFill/>
            <a:ln>
              <a:noFill/>
            </a:ln>
          </p:spPr>
          <p:txBody>
            <a:bodyPr wrap="none" lIns="0" tIns="0" rIns="0" bIns="0" anchor="t" anchorCtr="0">
              <a:spAutoFit/>
            </a:bodyPr>
            <a:lstStyle/>
            <a:p>
              <a:pPr algn="ctr"/>
              <a:r>
                <a:rPr lang="zh-CN" sz="820" dirty="0">
                  <a:solidFill>
                    <a:srgbClr val="543E3A"/>
                  </a:solidFill>
                  <a:latin typeface="+mn-lt"/>
                  <a:ea typeface="+mn-ea"/>
                  <a:cs typeface="+mn-cs"/>
                </a:rPr>
                <a:t>视频号</a:t>
              </a:r>
            </a:p>
          </p:txBody>
        </p:sp>
        <p:sp>
          <p:nvSpPr>
            <p:cNvPr id="41" name="Ellipse 41"/>
            <p:cNvSpPr/>
            <p:nvPr/>
          </p:nvSpPr>
          <p:spPr>
            <a:xfrm>
              <a:off x="1352550" y="4362450"/>
              <a:ext cx="762000" cy="762000"/>
            </a:xfrm>
            <a:prstGeom prst="ellipse">
              <a:avLst/>
            </a:prstGeom>
            <a:solidFill>
              <a:srgbClr val="FFFFFF"/>
            </a:solidFill>
            <a:ln w="9525">
              <a:solidFill>
                <a:srgbClr val="D8DEF2"/>
              </a:solidFill>
            </a:ln>
          </p:spPr>
        </p:sp>
        <p:grpSp>
          <p:nvGrpSpPr>
            <p:cNvPr id="45" name="Group 45"/>
            <p:cNvGrpSpPr/>
            <p:nvPr/>
          </p:nvGrpSpPr>
          <p:grpSpPr>
            <a:xfrm>
              <a:off x="1666875" y="4491038"/>
              <a:ext cx="133350" cy="200026"/>
              <a:chOff x="1666875" y="4491038"/>
              <a:chExt cx="133350" cy="200026"/>
            </a:xfrm>
          </p:grpSpPr>
          <p:sp>
            <p:nvSpPr>
              <p:cNvPr id="42" name="Freeform 42"/>
              <p:cNvSpPr/>
              <p:nvPr/>
            </p:nvSpPr>
            <p:spPr>
              <a:xfrm>
                <a:off x="1666875" y="4491038"/>
                <a:ext cx="133350" cy="200026"/>
              </a:xfrm>
              <a:custGeom>
                <a:avLst/>
                <a:gdLst/>
                <a:ahLst/>
                <a:cxnLst/>
                <a:rect l="l" t="t" r="r" b="b"/>
                <a:pathLst>
                  <a:path w="133350" h="200026">
                    <a:moveTo>
                      <a:pt x="0" y="22225"/>
                    </a:moveTo>
                    <a:cubicBezTo>
                      <a:pt x="0" y="9950"/>
                      <a:pt x="9950" y="0"/>
                      <a:pt x="22225" y="0"/>
                    </a:cubicBezTo>
                    <a:lnTo>
                      <a:pt x="111125" y="0"/>
                    </a:lnTo>
                    <a:cubicBezTo>
                      <a:pt x="123400" y="0"/>
                      <a:pt x="133350" y="9950"/>
                      <a:pt x="133350" y="22225"/>
                    </a:cubicBezTo>
                    <a:lnTo>
                      <a:pt x="133350" y="177801"/>
                    </a:lnTo>
                    <a:cubicBezTo>
                      <a:pt x="133350" y="190075"/>
                      <a:pt x="123400" y="200026"/>
                      <a:pt x="111125" y="200026"/>
                    </a:cubicBezTo>
                    <a:lnTo>
                      <a:pt x="22225" y="200026"/>
                    </a:lnTo>
                    <a:cubicBezTo>
                      <a:pt x="9950" y="200026"/>
                      <a:pt x="0" y="190075"/>
                      <a:pt x="0" y="177801"/>
                    </a:cubicBezTo>
                    <a:lnTo>
                      <a:pt x="0" y="22225"/>
                    </a:lnTo>
                  </a:path>
                </a:pathLst>
              </a:custGeom>
              <a:noFill/>
              <a:ln w="22225">
                <a:solidFill>
                  <a:srgbClr val="1A1A1A"/>
                </a:solidFill>
              </a:ln>
            </p:spPr>
          </p:sp>
          <p:sp>
            <p:nvSpPr>
              <p:cNvPr id="43" name="Freeform 43"/>
              <p:cNvSpPr/>
              <p:nvPr/>
            </p:nvSpPr>
            <p:spPr>
              <a:xfrm>
                <a:off x="1722438" y="4502150"/>
                <a:ext cx="22225" cy="9525"/>
              </a:xfrm>
              <a:custGeom>
                <a:avLst/>
                <a:gdLst/>
                <a:ahLst/>
                <a:cxnLst/>
                <a:rect l="l" t="t" r="r" b="b"/>
                <a:pathLst>
                  <a:path w="22225" h="9525">
                    <a:moveTo>
                      <a:pt x="0" y="0"/>
                    </a:moveTo>
                    <a:lnTo>
                      <a:pt x="22225" y="0"/>
                    </a:lnTo>
                  </a:path>
                </a:pathLst>
              </a:custGeom>
              <a:noFill/>
              <a:ln w="22225">
                <a:solidFill>
                  <a:srgbClr val="1A1A1A"/>
                </a:solidFill>
              </a:ln>
            </p:spPr>
          </p:sp>
          <p:sp>
            <p:nvSpPr>
              <p:cNvPr id="44" name="Freeform 44"/>
              <p:cNvSpPr/>
              <p:nvPr/>
            </p:nvSpPr>
            <p:spPr>
              <a:xfrm>
                <a:off x="1733550" y="4646613"/>
                <a:ext cx="9525" cy="9525"/>
              </a:xfrm>
              <a:custGeom>
                <a:avLst/>
                <a:gdLst/>
                <a:ahLst/>
                <a:cxnLst/>
                <a:rect l="l" t="t" r="r" b="b"/>
                <a:pathLst>
                  <a:path w="9525" h="9525">
                    <a:moveTo>
                      <a:pt x="0" y="0"/>
                    </a:moveTo>
                    <a:lnTo>
                      <a:pt x="0" y="111"/>
                    </a:lnTo>
                  </a:path>
                </a:pathLst>
              </a:custGeom>
              <a:noFill/>
              <a:ln w="22225">
                <a:solidFill>
                  <a:srgbClr val="1A1A1A"/>
                </a:solidFill>
              </a:ln>
            </p:spPr>
          </p:sp>
        </p:grpSp>
        <p:sp>
          <p:nvSpPr>
            <p:cNvPr id="46" name="TextBox 46"/>
            <p:cNvSpPr txBox="1"/>
            <p:nvPr/>
          </p:nvSpPr>
          <p:spPr>
            <a:xfrm>
              <a:off x="1618399" y="4844891"/>
              <a:ext cx="230302" cy="161925"/>
            </a:xfrm>
            <a:prstGeom prst="rect">
              <a:avLst/>
            </a:prstGeom>
            <a:noFill/>
            <a:ln>
              <a:noFill/>
            </a:ln>
          </p:spPr>
          <p:txBody>
            <a:bodyPr wrap="none" lIns="0" tIns="0" rIns="0" bIns="0" anchor="t" anchorCtr="0">
              <a:spAutoFit/>
            </a:bodyPr>
            <a:lstStyle/>
            <a:p>
              <a:pPr algn="ctr"/>
              <a:r>
                <a:rPr lang="zh-CN" sz="820" dirty="0">
                  <a:solidFill>
                    <a:srgbClr val="543E3A"/>
                  </a:solidFill>
                  <a:latin typeface="+mn-lt"/>
                  <a:ea typeface="+mn-ea"/>
                  <a:cs typeface="+mn-cs"/>
                </a:rPr>
                <a:t>抖音</a:t>
              </a:r>
            </a:p>
          </p:txBody>
        </p:sp>
      </p:grpSp>
      <p:grpSp>
        <p:nvGrpSpPr>
          <p:cNvPr id="64" name="card-persona"/>
          <p:cNvGrpSpPr/>
          <p:nvPr/>
        </p:nvGrpSpPr>
        <p:grpSpPr>
          <a:xfrm>
            <a:off x="3381375" y="1571625"/>
            <a:ext cx="2333625" cy="4333875"/>
            <a:chOff x="3381375" y="1571625"/>
            <a:chExt cx="2333625" cy="4333875"/>
          </a:xfrm>
        </p:grpSpPr>
        <p:sp>
          <p:nvSpPr>
            <p:cNvPr id="48" name="Rectangle 48"/>
            <p:cNvSpPr/>
            <p:nvPr/>
          </p:nvSpPr>
          <p:spPr>
            <a:xfrm>
              <a:off x="3381375" y="1571625"/>
              <a:ext cx="2333625" cy="4333875"/>
            </a:xfrm>
            <a:prstGeom prst="roundRect">
              <a:avLst>
                <a:gd name="adj" fmla="val 7347"/>
              </a:avLst>
            </a:prstGeom>
            <a:gradFill>
              <a:gsLst>
                <a:gs pos="0">
                  <a:srgbClr val="EEF1FB"/>
                </a:gs>
                <a:gs pos="100000">
                  <a:srgbClr val="FFFFFF"/>
                </a:gs>
              </a:gsLst>
              <a:lin ang="5400000" scaled="1"/>
            </a:gradFill>
            <a:ln w="14288">
              <a:solidFill>
                <a:srgbClr val="C9D1F0"/>
              </a:solidFill>
            </a:ln>
          </p:spPr>
        </p:sp>
        <p:sp>
          <p:nvSpPr>
            <p:cNvPr id="49" name="TextBox 49"/>
            <p:cNvSpPr txBox="1"/>
            <p:nvPr/>
          </p:nvSpPr>
          <p:spPr>
            <a:xfrm>
              <a:off x="4384201" y="1961198"/>
              <a:ext cx="318447" cy="674751"/>
            </a:xfrm>
            <a:prstGeom prst="rect">
              <a:avLst/>
            </a:prstGeom>
            <a:noFill/>
            <a:ln>
              <a:noFill/>
            </a:ln>
          </p:spPr>
          <p:txBody>
            <a:bodyPr wrap="none" lIns="0" tIns="0" rIns="0" bIns="0" anchor="t" anchorCtr="0">
              <a:spAutoFit/>
            </a:bodyPr>
            <a:lstStyle/>
            <a:p>
              <a:pPr algn="ctr"/>
              <a:r>
                <a:rPr lang="en-US" sz="3450" b="1" dirty="0">
                  <a:solidFill>
                    <a:srgbClr val="E8634C"/>
                  </a:solidFill>
                  <a:latin typeface="+mn-lt"/>
                  <a:ea typeface="+mn-ea"/>
                  <a:cs typeface="+mn-cs"/>
                </a:rPr>
                <a:t>X</a:t>
              </a:r>
            </a:p>
          </p:txBody>
        </p:sp>
        <p:sp>
          <p:nvSpPr>
            <p:cNvPr id="50" name="TextBox 50"/>
            <p:cNvSpPr txBox="1"/>
            <p:nvPr/>
          </p:nvSpPr>
          <p:spPr>
            <a:xfrm>
              <a:off x="3930015" y="2524125"/>
              <a:ext cx="1226820" cy="293370"/>
            </a:xfrm>
            <a:prstGeom prst="rect">
              <a:avLst/>
            </a:prstGeom>
            <a:noFill/>
            <a:ln>
              <a:noFill/>
            </a:ln>
          </p:spPr>
          <p:txBody>
            <a:bodyPr wrap="none" lIns="0" tIns="0" rIns="0" bIns="0" anchor="t" anchorCtr="0">
              <a:spAutoFit/>
            </a:bodyPr>
            <a:lstStyle/>
            <a:p>
              <a:pPr algn="ctr"/>
              <a:r>
                <a:rPr lang="zh-CN" sz="1500" b="1" dirty="0">
                  <a:solidFill>
                    <a:srgbClr val="C45F4A"/>
                  </a:solidFill>
                  <a:latin typeface="+mn-lt"/>
                  <a:ea typeface="+mn-ea"/>
                  <a:cs typeface="+mn-cs"/>
                </a:rPr>
                <a:t>品牌人设账号</a:t>
              </a:r>
            </a:p>
          </p:txBody>
        </p:sp>
        <p:sp>
          <p:nvSpPr>
            <p:cNvPr id="51" name="TextBox 51"/>
            <p:cNvSpPr txBox="1"/>
            <p:nvPr/>
          </p:nvSpPr>
          <p:spPr>
            <a:xfrm>
              <a:off x="4054030" y="2798445"/>
              <a:ext cx="978789" cy="176212"/>
            </a:xfrm>
            <a:prstGeom prst="rect">
              <a:avLst/>
            </a:prstGeom>
            <a:noFill/>
            <a:ln>
              <a:noFill/>
            </a:ln>
          </p:spPr>
          <p:txBody>
            <a:bodyPr wrap="none" lIns="0" tIns="0" rIns="0" bIns="0" anchor="t" anchorCtr="0">
              <a:spAutoFit/>
            </a:bodyPr>
            <a:lstStyle/>
            <a:p>
              <a:pPr algn="ctr"/>
              <a:r>
                <a:rPr lang="zh-CN" sz="900" dirty="0">
                  <a:solidFill>
                    <a:srgbClr val="88706B"/>
                  </a:solidFill>
                  <a:latin typeface="+mn-lt"/>
                  <a:ea typeface="+mn-ea"/>
                  <a:cs typeface="+mn-cs"/>
                </a:rPr>
                <a:t>品牌运营互动枢纽</a:t>
              </a:r>
            </a:p>
          </p:txBody>
        </p:sp>
        <p:sp>
          <p:nvSpPr>
            <p:cNvPr id="52" name="Rectangle 52"/>
            <p:cNvSpPr/>
            <p:nvPr/>
          </p:nvSpPr>
          <p:spPr>
            <a:xfrm>
              <a:off x="3543300" y="3143250"/>
              <a:ext cx="2009775" cy="723900"/>
            </a:xfrm>
            <a:prstGeom prst="roundRect">
              <a:avLst>
                <a:gd name="adj" fmla="val 10526"/>
              </a:avLst>
            </a:prstGeom>
            <a:solidFill>
              <a:srgbClr val="FFFFFF"/>
            </a:solidFill>
            <a:ln w="9525">
              <a:solidFill>
                <a:srgbClr val="D8DEF2"/>
              </a:solidFill>
            </a:ln>
          </p:spPr>
        </p:sp>
        <p:sp>
          <p:nvSpPr>
            <p:cNvPr id="53" name="TextBox 53"/>
            <p:cNvSpPr txBox="1"/>
            <p:nvPr/>
          </p:nvSpPr>
          <p:spPr>
            <a:xfrm>
              <a:off x="3694557" y="3361849"/>
              <a:ext cx="38328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C45F4A"/>
                  </a:solidFill>
                  <a:latin typeface="+mn-lt"/>
                  <a:ea typeface="+mn-ea"/>
                  <a:cs typeface="+mn-cs"/>
                </a:rPr>
                <a:t>用户</a:t>
              </a:r>
              <a:br/>
              <a:r>
                <a:rPr lang="zh-CN" sz="980" b="1" dirty="0">
                  <a:solidFill>
                    <a:srgbClr val="C45F4A"/>
                  </a:solidFill>
                  <a:latin typeface="+mn-lt"/>
                  <a:ea typeface="+mn-ea"/>
                  <a:cs typeface="+mn-cs"/>
                </a:rPr>
                <a:t>体验官</a:t>
              </a:r>
            </a:p>
          </p:txBody>
        </p:sp>
        <p:sp>
          <p:nvSpPr>
            <p:cNvPr id="54" name="Line 54"/>
            <p:cNvSpPr/>
            <p:nvPr/>
          </p:nvSpPr>
          <p:spPr>
            <a:xfrm>
              <a:off x="4248150" y="3238500"/>
              <a:ext cx="9525" cy="533400"/>
            </a:xfrm>
            <a:custGeom>
              <a:avLst/>
              <a:gdLst/>
              <a:ahLst/>
              <a:cxnLst/>
              <a:rect l="l" t="t" r="r" b="b"/>
              <a:pathLst>
                <a:path w="9525" h="533400">
                  <a:moveTo>
                    <a:pt x="0" y="0"/>
                  </a:moveTo>
                  <a:lnTo>
                    <a:pt x="0" y="533400"/>
                  </a:lnTo>
                </a:path>
              </a:pathLst>
            </a:custGeom>
            <a:noFill/>
            <a:ln w="9525">
              <a:solidFill>
                <a:srgbClr val="E4E8F7"/>
              </a:solidFill>
            </a:ln>
          </p:spPr>
        </p:sp>
        <p:sp>
          <p:nvSpPr>
            <p:cNvPr id="55" name="TextBox 55"/>
            <p:cNvSpPr txBox="1"/>
            <p:nvPr/>
          </p:nvSpPr>
          <p:spPr>
            <a:xfrm>
              <a:off x="4357688" y="3267789"/>
              <a:ext cx="696786" cy="478631"/>
            </a:xfrm>
            <a:prstGeom prst="rect">
              <a:avLst/>
            </a:prstGeom>
            <a:noFill/>
            <a:ln>
              <a:noFill/>
            </a:ln>
          </p:spPr>
          <p:txBody>
            <a:bodyPr wrap="none" lIns="0" tIns="0" rIns="0" bIns="0" anchor="t" anchorCtr="0">
              <a:spAutoFit/>
            </a:bodyPr>
            <a:lstStyle/>
            <a:p>
              <a:pPr algn="l" marL="85280" indent="-85280">
                <a:lnSpc>
                  <a:spcPts val="1275"/>
                </a:lnSpc>
                <a:buClr>
                  <a:srgbClr val="644E4A"/>
                </a:buClr>
                <a:buSzTx/>
                <a:buFontTx/>
                <a:buChar char="•"/>
              </a:pPr>
              <a:r>
                <a:rPr lang="zh-CN" sz="790" dirty="0">
                  <a:solidFill>
                    <a:srgbClr val="644E4A"/>
                  </a:solidFill>
                  <a:latin typeface="+mn-lt"/>
                  <a:ea typeface="+mn-ea"/>
                  <a:cs typeface="+mn-cs"/>
                </a:rPr>
                <a:t>客户好评宣推</a:t>
              </a:r>
            </a:p>
            <a:p>
              <a:pPr algn="l" marL="85280" indent="-85280">
                <a:lnSpc>
                  <a:spcPts val="1275"/>
                </a:lnSpc>
                <a:buClr>
                  <a:srgbClr val="644E4A"/>
                </a:buClr>
                <a:buSzTx/>
                <a:buFontTx/>
                <a:buChar char="•"/>
              </a:pPr>
              <a:r>
                <a:rPr lang="zh-CN" sz="790" dirty="0">
                  <a:solidFill>
                    <a:srgbClr val="644E4A"/>
                  </a:solidFill>
                  <a:latin typeface="+mn-lt"/>
                  <a:ea typeface="+mn-ea"/>
                  <a:cs typeface="+mn-cs"/>
                </a:rPr>
                <a:t>新品体验</a:t>
              </a:r>
            </a:p>
            <a:p>
              <a:pPr algn="l" marL="85280" indent="-85280">
                <a:lnSpc>
                  <a:spcPts val="1275"/>
                </a:lnSpc>
                <a:buClr>
                  <a:srgbClr val="644E4A"/>
                </a:buClr>
                <a:buSzTx/>
                <a:buFontTx/>
                <a:buChar char="•"/>
              </a:pPr>
              <a:r>
                <a:rPr lang="zh-CN" sz="790" dirty="0">
                  <a:solidFill>
                    <a:srgbClr val="644E4A"/>
                  </a:solidFill>
                  <a:latin typeface="+mn-lt"/>
                  <a:ea typeface="+mn-ea"/>
                  <a:cs typeface="+mn-cs"/>
                </a:rPr>
                <a:t>客服售情维护</a:t>
              </a:r>
            </a:p>
          </p:txBody>
        </p:sp>
        <p:sp>
          <p:nvSpPr>
            <p:cNvPr id="56" name="Rectangle 56"/>
            <p:cNvSpPr/>
            <p:nvPr/>
          </p:nvSpPr>
          <p:spPr>
            <a:xfrm>
              <a:off x="3543300" y="3962400"/>
              <a:ext cx="2009775" cy="723900"/>
            </a:xfrm>
            <a:prstGeom prst="roundRect">
              <a:avLst>
                <a:gd name="adj" fmla="val 10526"/>
              </a:avLst>
            </a:prstGeom>
            <a:solidFill>
              <a:srgbClr val="FFFFFF"/>
            </a:solidFill>
            <a:ln w="9525">
              <a:solidFill>
                <a:srgbClr val="D8DEF2"/>
              </a:solidFill>
            </a:ln>
          </p:spPr>
        </p:sp>
        <p:sp>
          <p:nvSpPr>
            <p:cNvPr id="57" name="TextBox 57"/>
            <p:cNvSpPr txBox="1"/>
            <p:nvPr/>
          </p:nvSpPr>
          <p:spPr>
            <a:xfrm>
              <a:off x="3694557" y="4180999"/>
              <a:ext cx="38328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C45F4A"/>
                  </a:solidFill>
                  <a:latin typeface="+mn-lt"/>
                  <a:ea typeface="+mn-ea"/>
                  <a:cs typeface="+mn-cs"/>
                </a:rPr>
                <a:t>社群</a:t>
              </a:r>
              <a:br/>
              <a:r>
                <a:rPr lang="zh-CN" sz="980" b="1" dirty="0">
                  <a:solidFill>
                    <a:srgbClr val="C45F4A"/>
                  </a:solidFill>
                  <a:latin typeface="+mn-lt"/>
                  <a:ea typeface="+mn-ea"/>
                  <a:cs typeface="+mn-cs"/>
                </a:rPr>
                <a:t>福利官</a:t>
              </a:r>
            </a:p>
          </p:txBody>
        </p:sp>
        <p:sp>
          <p:nvSpPr>
            <p:cNvPr id="58" name="Line 58"/>
            <p:cNvSpPr/>
            <p:nvPr/>
          </p:nvSpPr>
          <p:spPr>
            <a:xfrm>
              <a:off x="4248150" y="4057650"/>
              <a:ext cx="9525" cy="533400"/>
            </a:xfrm>
            <a:custGeom>
              <a:avLst/>
              <a:gdLst/>
              <a:ahLst/>
              <a:cxnLst/>
              <a:rect l="l" t="t" r="r" b="b"/>
              <a:pathLst>
                <a:path w="9525" h="533400">
                  <a:moveTo>
                    <a:pt x="0" y="0"/>
                  </a:moveTo>
                  <a:lnTo>
                    <a:pt x="0" y="533400"/>
                  </a:lnTo>
                </a:path>
              </a:pathLst>
            </a:custGeom>
            <a:noFill/>
            <a:ln w="9525">
              <a:solidFill>
                <a:srgbClr val="E4E8F7"/>
              </a:solidFill>
            </a:ln>
          </p:spPr>
        </p:sp>
        <p:sp>
          <p:nvSpPr>
            <p:cNvPr id="59" name="TextBox 59"/>
            <p:cNvSpPr txBox="1"/>
            <p:nvPr/>
          </p:nvSpPr>
          <p:spPr>
            <a:xfrm>
              <a:off x="4357688" y="4086939"/>
              <a:ext cx="797116" cy="478631"/>
            </a:xfrm>
            <a:prstGeom prst="rect">
              <a:avLst/>
            </a:prstGeom>
            <a:noFill/>
            <a:ln>
              <a:noFill/>
            </a:ln>
          </p:spPr>
          <p:txBody>
            <a:bodyPr wrap="none" lIns="0" tIns="0" rIns="0" bIns="0" anchor="t" anchorCtr="0">
              <a:spAutoFit/>
            </a:bodyPr>
            <a:lstStyle/>
            <a:p>
              <a:pPr algn="l" marL="85280" indent="-85280">
                <a:lnSpc>
                  <a:spcPts val="1275"/>
                </a:lnSpc>
                <a:buClr>
                  <a:srgbClr val="644E4A"/>
                </a:buClr>
                <a:buSzTx/>
                <a:buFontTx/>
                <a:buChar char="•"/>
              </a:pPr>
              <a:r>
                <a:rPr lang="zh-CN" sz="790" dirty="0">
                  <a:solidFill>
                    <a:srgbClr val="644E4A"/>
                  </a:solidFill>
                  <a:latin typeface="+mn-lt"/>
                  <a:ea typeface="+mn-ea"/>
                  <a:cs typeface="+mn-cs"/>
                </a:rPr>
                <a:t>泛流量用户承接</a:t>
              </a:r>
            </a:p>
            <a:p>
              <a:pPr algn="l" marL="85280" indent="-85280">
                <a:lnSpc>
                  <a:spcPts val="1275"/>
                </a:lnSpc>
                <a:buClr>
                  <a:srgbClr val="644E4A"/>
                </a:buClr>
                <a:buSzTx/>
                <a:buFontTx/>
                <a:buChar char="•"/>
              </a:pPr>
              <a:r>
                <a:rPr lang="zh-CN" sz="790" dirty="0">
                  <a:solidFill>
                    <a:srgbClr val="644E4A"/>
                  </a:solidFill>
                  <a:latin typeface="+mn-lt"/>
                  <a:ea typeface="+mn-ea"/>
                  <a:cs typeface="+mn-cs"/>
                </a:rPr>
                <a:t>社群活动服务</a:t>
              </a:r>
            </a:p>
            <a:p>
              <a:pPr algn="l" marL="85280" indent="-85280">
                <a:lnSpc>
                  <a:spcPts val="1275"/>
                </a:lnSpc>
                <a:buClr>
                  <a:srgbClr val="644E4A"/>
                </a:buClr>
                <a:buSzTx/>
                <a:buFontTx/>
                <a:buChar char="•"/>
              </a:pPr>
              <a:r>
                <a:rPr lang="zh-CN" sz="790" dirty="0">
                  <a:solidFill>
                    <a:srgbClr val="644E4A"/>
                  </a:solidFill>
                  <a:latin typeface="+mn-lt"/>
                  <a:ea typeface="+mn-ea"/>
                  <a:cs typeface="+mn-cs"/>
                </a:rPr>
                <a:t>新品大促活动</a:t>
              </a:r>
            </a:p>
          </p:txBody>
        </p:sp>
        <p:sp>
          <p:nvSpPr>
            <p:cNvPr id="60" name="Rectangle 60"/>
            <p:cNvSpPr/>
            <p:nvPr/>
          </p:nvSpPr>
          <p:spPr>
            <a:xfrm>
              <a:off x="3543300" y="4781550"/>
              <a:ext cx="2009775" cy="723900"/>
            </a:xfrm>
            <a:prstGeom prst="roundRect">
              <a:avLst>
                <a:gd name="adj" fmla="val 10526"/>
              </a:avLst>
            </a:prstGeom>
            <a:solidFill>
              <a:srgbClr val="FFFFFF"/>
            </a:solidFill>
            <a:ln w="9525">
              <a:solidFill>
                <a:srgbClr val="D8DEF2"/>
              </a:solidFill>
            </a:ln>
          </p:spPr>
        </p:sp>
        <p:sp>
          <p:nvSpPr>
            <p:cNvPr id="61" name="TextBox 61"/>
            <p:cNvSpPr txBox="1"/>
            <p:nvPr/>
          </p:nvSpPr>
          <p:spPr>
            <a:xfrm>
              <a:off x="3694557" y="5000149"/>
              <a:ext cx="38328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C45F4A"/>
                  </a:solidFill>
                  <a:latin typeface="+mn-lt"/>
                  <a:ea typeface="+mn-ea"/>
                  <a:cs typeface="+mn-cs"/>
                </a:rPr>
                <a:t>会员</a:t>
              </a:r>
              <a:br/>
              <a:r>
                <a:rPr lang="zh-CN" sz="980" b="1" dirty="0">
                  <a:solidFill>
                    <a:srgbClr val="C45F4A"/>
                  </a:solidFill>
                  <a:latin typeface="+mn-lt"/>
                  <a:ea typeface="+mn-ea"/>
                  <a:cs typeface="+mn-cs"/>
                </a:rPr>
                <a:t>服务官</a:t>
              </a:r>
            </a:p>
          </p:txBody>
        </p:sp>
        <p:sp>
          <p:nvSpPr>
            <p:cNvPr id="62" name="Line 62"/>
            <p:cNvSpPr/>
            <p:nvPr/>
          </p:nvSpPr>
          <p:spPr>
            <a:xfrm>
              <a:off x="4248150" y="4876800"/>
              <a:ext cx="9525" cy="533400"/>
            </a:xfrm>
            <a:custGeom>
              <a:avLst/>
              <a:gdLst/>
              <a:ahLst/>
              <a:cxnLst/>
              <a:rect l="l" t="t" r="r" b="b"/>
              <a:pathLst>
                <a:path w="9525" h="533400">
                  <a:moveTo>
                    <a:pt x="0" y="0"/>
                  </a:moveTo>
                  <a:lnTo>
                    <a:pt x="0" y="533400"/>
                  </a:lnTo>
                </a:path>
              </a:pathLst>
            </a:custGeom>
            <a:noFill/>
            <a:ln w="9525">
              <a:solidFill>
                <a:srgbClr val="E4E8F7"/>
              </a:solidFill>
            </a:ln>
          </p:spPr>
        </p:sp>
        <p:sp>
          <p:nvSpPr>
            <p:cNvPr id="63" name="TextBox 63"/>
            <p:cNvSpPr txBox="1"/>
            <p:nvPr/>
          </p:nvSpPr>
          <p:spPr>
            <a:xfrm>
              <a:off x="4357688" y="4906089"/>
              <a:ext cx="696786" cy="478631"/>
            </a:xfrm>
            <a:prstGeom prst="rect">
              <a:avLst/>
            </a:prstGeom>
            <a:noFill/>
            <a:ln>
              <a:noFill/>
            </a:ln>
          </p:spPr>
          <p:txBody>
            <a:bodyPr wrap="none" lIns="0" tIns="0" rIns="0" bIns="0" anchor="t" anchorCtr="0">
              <a:spAutoFit/>
            </a:bodyPr>
            <a:lstStyle/>
            <a:p>
              <a:pPr algn="l" marL="85280" indent="-85280">
                <a:lnSpc>
                  <a:spcPts val="1275"/>
                </a:lnSpc>
                <a:buClr>
                  <a:srgbClr val="644E4A"/>
                </a:buClr>
                <a:buSzTx/>
                <a:buFontTx/>
                <a:buChar char="•"/>
              </a:pPr>
              <a:r>
                <a:rPr lang="zh-CN" sz="790" dirty="0">
                  <a:solidFill>
                    <a:srgbClr val="644E4A"/>
                  </a:solidFill>
                  <a:latin typeface="+mn-lt"/>
                  <a:ea typeface="+mn-ea"/>
                  <a:cs typeface="+mn-cs"/>
                </a:rPr>
                <a:t>付费会员服务</a:t>
              </a:r>
            </a:p>
            <a:p>
              <a:pPr algn="l" marL="85280" indent="-85280">
                <a:lnSpc>
                  <a:spcPts val="1275"/>
                </a:lnSpc>
                <a:buClr>
                  <a:srgbClr val="644E4A"/>
                </a:buClr>
                <a:buSzTx/>
                <a:buFontTx/>
                <a:buChar char="•"/>
              </a:pPr>
              <a:r>
                <a:rPr lang="zh-CN" sz="790" dirty="0">
                  <a:solidFill>
                    <a:srgbClr val="644E4A"/>
                  </a:solidFill>
                  <a:latin typeface="+mn-lt"/>
                  <a:ea typeface="+mn-ea"/>
                  <a:cs typeface="+mn-cs"/>
                </a:rPr>
                <a:t>VIP权益维护</a:t>
              </a:r>
            </a:p>
            <a:p>
              <a:pPr algn="l" marL="85280" indent="-85280">
                <a:lnSpc>
                  <a:spcPts val="1275"/>
                </a:lnSpc>
                <a:buClr>
                  <a:srgbClr val="644E4A"/>
                </a:buClr>
                <a:buSzTx/>
                <a:buFontTx/>
                <a:buChar char="•"/>
              </a:pPr>
              <a:r>
                <a:rPr lang="zh-CN" sz="790" dirty="0">
                  <a:solidFill>
                    <a:srgbClr val="644E4A"/>
                  </a:solidFill>
                  <a:latin typeface="+mn-lt"/>
                  <a:ea typeface="+mn-ea"/>
                  <a:cs typeface="+mn-cs"/>
                </a:rPr>
                <a:t>用户续费运营</a:t>
              </a:r>
            </a:p>
          </p:txBody>
        </p:sp>
      </p:grpSp>
      <p:grpSp>
        <p:nvGrpSpPr>
          <p:cNvPr id="97" name="card-kos"/>
          <p:cNvGrpSpPr/>
          <p:nvPr/>
        </p:nvGrpSpPr>
        <p:grpSpPr>
          <a:xfrm>
            <a:off x="6191250" y="1571625"/>
            <a:ext cx="2333625" cy="4333875"/>
            <a:chOff x="6191250" y="1571625"/>
            <a:chExt cx="2333625" cy="4333875"/>
          </a:xfrm>
        </p:grpSpPr>
        <p:sp>
          <p:nvSpPr>
            <p:cNvPr id="65" name="Rectangle 65"/>
            <p:cNvSpPr/>
            <p:nvPr/>
          </p:nvSpPr>
          <p:spPr>
            <a:xfrm>
              <a:off x="6191250" y="1571625"/>
              <a:ext cx="2333625" cy="4333875"/>
            </a:xfrm>
            <a:prstGeom prst="roundRect">
              <a:avLst>
                <a:gd name="adj" fmla="val 7347"/>
              </a:avLst>
            </a:prstGeom>
            <a:gradFill>
              <a:gsLst>
                <a:gs pos="0">
                  <a:srgbClr val="EEF1FB"/>
                </a:gs>
                <a:gs pos="100000">
                  <a:srgbClr val="FFFFFF"/>
                </a:gs>
              </a:gsLst>
              <a:lin ang="5400000" scaled="1"/>
            </a:gradFill>
            <a:ln w="14288">
              <a:solidFill>
                <a:srgbClr val="C9D1F0"/>
              </a:solidFill>
            </a:ln>
          </p:spPr>
        </p:sp>
        <p:sp>
          <p:nvSpPr>
            <p:cNvPr id="66" name="TextBox 66"/>
            <p:cNvSpPr txBox="1"/>
            <p:nvPr/>
          </p:nvSpPr>
          <p:spPr>
            <a:xfrm>
              <a:off x="7194076" y="1961198"/>
              <a:ext cx="318447" cy="674751"/>
            </a:xfrm>
            <a:prstGeom prst="rect">
              <a:avLst/>
            </a:prstGeom>
            <a:noFill/>
            <a:ln>
              <a:noFill/>
            </a:ln>
          </p:spPr>
          <p:txBody>
            <a:bodyPr wrap="none" lIns="0" tIns="0" rIns="0" bIns="0" anchor="t" anchorCtr="0">
              <a:spAutoFit/>
            </a:bodyPr>
            <a:lstStyle/>
            <a:p>
              <a:pPr algn="ctr"/>
              <a:r>
                <a:rPr lang="en-US" sz="3450" b="1" dirty="0">
                  <a:solidFill>
                    <a:srgbClr val="E8634C"/>
                  </a:solidFill>
                  <a:latin typeface="+mn-lt"/>
                  <a:ea typeface="+mn-ea"/>
                  <a:cs typeface="+mn-cs"/>
                </a:rPr>
                <a:t>N</a:t>
              </a:r>
            </a:p>
          </p:txBody>
        </p:sp>
        <p:sp>
          <p:nvSpPr>
            <p:cNvPr id="67" name="TextBox 67"/>
            <p:cNvSpPr txBox="1"/>
            <p:nvPr/>
          </p:nvSpPr>
          <p:spPr>
            <a:xfrm>
              <a:off x="6878217" y="2524125"/>
              <a:ext cx="950166" cy="293370"/>
            </a:xfrm>
            <a:prstGeom prst="rect">
              <a:avLst/>
            </a:prstGeom>
            <a:noFill/>
            <a:ln>
              <a:noFill/>
            </a:ln>
          </p:spPr>
          <p:txBody>
            <a:bodyPr wrap="none" lIns="0" tIns="0" rIns="0" bIns="0" anchor="t" anchorCtr="0">
              <a:spAutoFit/>
            </a:bodyPr>
            <a:lstStyle/>
            <a:p>
              <a:pPr algn="ctr"/>
              <a:r>
                <a:rPr lang="zh-CN" sz="1500" b="1" dirty="0">
                  <a:solidFill>
                    <a:srgbClr val="C45F4A"/>
                  </a:solidFill>
                  <a:latin typeface="+mn-lt"/>
                  <a:ea typeface="+mn-ea"/>
                  <a:cs typeface="+mn-cs"/>
                </a:rPr>
                <a:t>KOS账号​</a:t>
              </a:r>
            </a:p>
          </p:txBody>
        </p:sp>
        <p:sp>
          <p:nvSpPr>
            <p:cNvPr id="68" name="TextBox 68"/>
            <p:cNvSpPr txBox="1"/>
            <p:nvPr/>
          </p:nvSpPr>
          <p:spPr>
            <a:xfrm>
              <a:off x="6803326" y="2798445"/>
              <a:ext cx="1099947" cy="176212"/>
            </a:xfrm>
            <a:prstGeom prst="rect">
              <a:avLst/>
            </a:prstGeom>
            <a:noFill/>
            <a:ln>
              <a:noFill/>
            </a:ln>
          </p:spPr>
          <p:txBody>
            <a:bodyPr wrap="none" lIns="0" tIns="0" rIns="0" bIns="0" anchor="t" anchorCtr="0">
              <a:spAutoFit/>
            </a:bodyPr>
            <a:lstStyle/>
            <a:p>
              <a:pPr algn="ctr"/>
              <a:r>
                <a:rPr lang="zh-CN" sz="900" dirty="0">
                  <a:solidFill>
                    <a:srgbClr val="88706B"/>
                  </a:solidFill>
                  <a:latin typeface="+mn-lt"/>
                  <a:ea typeface="+mn-ea"/>
                  <a:cs typeface="+mn-cs"/>
                </a:rPr>
                <a:t>深入用户的运营前线</a:t>
              </a:r>
            </a:p>
          </p:txBody>
        </p:sp>
        <p:sp>
          <p:nvSpPr>
            <p:cNvPr id="69" name="Rectangle 69"/>
            <p:cNvSpPr/>
            <p:nvPr/>
          </p:nvSpPr>
          <p:spPr>
            <a:xfrm>
              <a:off x="6686550" y="3143250"/>
              <a:ext cx="1333500" cy="228600"/>
            </a:xfrm>
            <a:prstGeom prst="roundRect">
              <a:avLst>
                <a:gd name="adj" fmla="val 16667"/>
              </a:avLst>
            </a:prstGeom>
            <a:solidFill>
              <a:srgbClr val="C46D5B"/>
            </a:solidFill>
            <a:ln>
              <a:noFill/>
            </a:ln>
          </p:spPr>
        </p:sp>
        <p:sp>
          <p:nvSpPr>
            <p:cNvPr id="70" name="TextBox 70"/>
            <p:cNvSpPr txBox="1"/>
            <p:nvPr/>
          </p:nvSpPr>
          <p:spPr>
            <a:xfrm>
              <a:off x="7018528" y="3199924"/>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门店矩阵号</a:t>
              </a:r>
            </a:p>
          </p:txBody>
        </p:sp>
        <p:sp>
          <p:nvSpPr>
            <p:cNvPr id="71" name="Line 71"/>
            <p:cNvSpPr/>
            <p:nvPr/>
          </p:nvSpPr>
          <p:spPr>
            <a:xfrm>
              <a:off x="7353300" y="3371850"/>
              <a:ext cx="9525" cy="95250"/>
            </a:xfrm>
            <a:custGeom>
              <a:avLst/>
              <a:gdLst/>
              <a:ahLst/>
              <a:cxnLst/>
              <a:rect l="l" t="t" r="r" b="b"/>
              <a:pathLst>
                <a:path w="9525" h="95250">
                  <a:moveTo>
                    <a:pt x="0" y="0"/>
                  </a:moveTo>
                  <a:lnTo>
                    <a:pt x="0" y="95250"/>
                  </a:lnTo>
                </a:path>
              </a:pathLst>
            </a:custGeom>
            <a:noFill/>
            <a:ln w="9525">
              <a:solidFill>
                <a:srgbClr val="ECC1B8"/>
              </a:solidFill>
            </a:ln>
          </p:spPr>
        </p:sp>
        <p:sp>
          <p:nvSpPr>
            <p:cNvPr id="72" name="Line 72"/>
            <p:cNvSpPr/>
            <p:nvPr/>
          </p:nvSpPr>
          <p:spPr>
            <a:xfrm>
              <a:off x="6705600" y="3467100"/>
              <a:ext cx="1295400" cy="9525"/>
            </a:xfrm>
            <a:custGeom>
              <a:avLst/>
              <a:gdLst/>
              <a:ahLst/>
              <a:cxnLst/>
              <a:rect l="l" t="t" r="r" b="b"/>
              <a:pathLst>
                <a:path w="1295400" h="9525">
                  <a:moveTo>
                    <a:pt x="0" y="0"/>
                  </a:moveTo>
                  <a:lnTo>
                    <a:pt x="1295400" y="0"/>
                  </a:lnTo>
                </a:path>
              </a:pathLst>
            </a:custGeom>
            <a:noFill/>
            <a:ln w="9525">
              <a:solidFill>
                <a:srgbClr val="ECC1B8"/>
              </a:solidFill>
            </a:ln>
          </p:spPr>
        </p:sp>
        <p:sp>
          <p:nvSpPr>
            <p:cNvPr id="73" name="Line 73"/>
            <p:cNvSpPr/>
            <p:nvPr/>
          </p:nvSpPr>
          <p:spPr>
            <a:xfrm>
              <a:off x="6705600" y="346710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74" name="Line 74"/>
            <p:cNvSpPr/>
            <p:nvPr/>
          </p:nvSpPr>
          <p:spPr>
            <a:xfrm>
              <a:off x="7353300" y="346710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75" name="Line 75"/>
            <p:cNvSpPr/>
            <p:nvPr/>
          </p:nvSpPr>
          <p:spPr>
            <a:xfrm>
              <a:off x="8001000" y="346710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76" name="Rectangle 76"/>
            <p:cNvSpPr/>
            <p:nvPr/>
          </p:nvSpPr>
          <p:spPr>
            <a:xfrm>
              <a:off x="6477000" y="3543300"/>
              <a:ext cx="457200" cy="190500"/>
            </a:xfrm>
            <a:prstGeom prst="roundRect">
              <a:avLst>
                <a:gd name="adj" fmla="val 15000"/>
              </a:avLst>
            </a:prstGeom>
            <a:solidFill>
              <a:srgbClr val="FFFFFF"/>
            </a:solidFill>
            <a:ln w="9525">
              <a:solidFill>
                <a:srgbClr val="E8634C"/>
              </a:solidFill>
            </a:ln>
          </p:spPr>
        </p:sp>
        <p:sp>
          <p:nvSpPr>
            <p:cNvPr id="77" name="TextBox 77"/>
            <p:cNvSpPr txBox="1"/>
            <p:nvPr/>
          </p:nvSpPr>
          <p:spPr>
            <a:xfrm>
              <a:off x="6528017" y="3587591"/>
              <a:ext cx="355166" cy="161925"/>
            </a:xfrm>
            <a:prstGeom prst="rect">
              <a:avLst/>
            </a:prstGeom>
            <a:noFill/>
            <a:ln>
              <a:noFill/>
            </a:ln>
          </p:spPr>
          <p:txBody>
            <a:bodyPr wrap="none" lIns="0" tIns="0" rIns="0" bIns="0" anchor="t" anchorCtr="0">
              <a:spAutoFit/>
            </a:bodyPr>
            <a:lstStyle/>
            <a:p>
              <a:pPr algn="ctr"/>
              <a:r>
                <a:rPr lang="zh-CN" sz="820" dirty="0">
                  <a:solidFill>
                    <a:srgbClr val="E8634C"/>
                  </a:solidFill>
                  <a:latin typeface="+mn-lt"/>
                  <a:ea typeface="+mn-ea"/>
                  <a:cs typeface="+mn-cs"/>
                </a:rPr>
                <a:t>A门店​</a:t>
              </a:r>
            </a:p>
          </p:txBody>
        </p:sp>
        <p:sp>
          <p:nvSpPr>
            <p:cNvPr id="78" name="Rectangle 78"/>
            <p:cNvSpPr/>
            <p:nvPr/>
          </p:nvSpPr>
          <p:spPr>
            <a:xfrm>
              <a:off x="7124700" y="3543300"/>
              <a:ext cx="457200" cy="190500"/>
            </a:xfrm>
            <a:prstGeom prst="roundRect">
              <a:avLst>
                <a:gd name="adj" fmla="val 15000"/>
              </a:avLst>
            </a:prstGeom>
            <a:solidFill>
              <a:srgbClr val="FFFFFF"/>
            </a:solidFill>
            <a:ln w="9525">
              <a:solidFill>
                <a:srgbClr val="E8634C"/>
              </a:solidFill>
            </a:ln>
          </p:spPr>
        </p:sp>
        <p:sp>
          <p:nvSpPr>
            <p:cNvPr id="79" name="TextBox 79"/>
            <p:cNvSpPr txBox="1"/>
            <p:nvPr/>
          </p:nvSpPr>
          <p:spPr>
            <a:xfrm>
              <a:off x="7175717" y="3587591"/>
              <a:ext cx="355166" cy="161925"/>
            </a:xfrm>
            <a:prstGeom prst="rect">
              <a:avLst/>
            </a:prstGeom>
            <a:noFill/>
            <a:ln>
              <a:noFill/>
            </a:ln>
          </p:spPr>
          <p:txBody>
            <a:bodyPr wrap="none" lIns="0" tIns="0" rIns="0" bIns="0" anchor="t" anchorCtr="0">
              <a:spAutoFit/>
            </a:bodyPr>
            <a:lstStyle/>
            <a:p>
              <a:pPr algn="ctr"/>
              <a:r>
                <a:rPr lang="zh-CN" sz="820" dirty="0">
                  <a:solidFill>
                    <a:srgbClr val="E8634C"/>
                  </a:solidFill>
                  <a:latin typeface="+mn-lt"/>
                  <a:ea typeface="+mn-ea"/>
                  <a:cs typeface="+mn-cs"/>
                </a:rPr>
                <a:t>B门店​</a:t>
              </a:r>
            </a:p>
          </p:txBody>
        </p:sp>
        <p:sp>
          <p:nvSpPr>
            <p:cNvPr id="80" name="Rectangle 80"/>
            <p:cNvSpPr/>
            <p:nvPr/>
          </p:nvSpPr>
          <p:spPr>
            <a:xfrm>
              <a:off x="7772400" y="3543300"/>
              <a:ext cx="457200" cy="190500"/>
            </a:xfrm>
            <a:prstGeom prst="roundRect">
              <a:avLst>
                <a:gd name="adj" fmla="val 15000"/>
              </a:avLst>
            </a:prstGeom>
            <a:solidFill>
              <a:srgbClr val="FFFFFF"/>
            </a:solidFill>
            <a:ln w="9525">
              <a:solidFill>
                <a:srgbClr val="E8634C"/>
              </a:solidFill>
            </a:ln>
          </p:spPr>
        </p:sp>
        <p:sp>
          <p:nvSpPr>
            <p:cNvPr id="81" name="TextBox 81"/>
            <p:cNvSpPr txBox="1"/>
            <p:nvPr/>
          </p:nvSpPr>
          <p:spPr>
            <a:xfrm>
              <a:off x="7823417" y="3587591"/>
              <a:ext cx="355166" cy="161925"/>
            </a:xfrm>
            <a:prstGeom prst="rect">
              <a:avLst/>
            </a:prstGeom>
            <a:noFill/>
            <a:ln>
              <a:noFill/>
            </a:ln>
          </p:spPr>
          <p:txBody>
            <a:bodyPr wrap="none" lIns="0" tIns="0" rIns="0" bIns="0" anchor="t" anchorCtr="0">
              <a:spAutoFit/>
            </a:bodyPr>
            <a:lstStyle/>
            <a:p>
              <a:pPr algn="ctr"/>
              <a:r>
                <a:rPr lang="zh-CN" sz="820" dirty="0">
                  <a:solidFill>
                    <a:srgbClr val="E8634C"/>
                  </a:solidFill>
                  <a:latin typeface="+mn-lt"/>
                  <a:ea typeface="+mn-ea"/>
                  <a:cs typeface="+mn-cs"/>
                </a:rPr>
                <a:t>C门店​</a:t>
              </a:r>
            </a:p>
          </p:txBody>
        </p:sp>
        <p:sp>
          <p:nvSpPr>
            <p:cNvPr id="82" name="TextBox 82"/>
            <p:cNvSpPr txBox="1"/>
            <p:nvPr/>
          </p:nvSpPr>
          <p:spPr>
            <a:xfrm>
              <a:off x="6645215" y="3888343"/>
              <a:ext cx="1416169" cy="169069"/>
            </a:xfrm>
            <a:prstGeom prst="rect">
              <a:avLst/>
            </a:prstGeom>
            <a:noFill/>
            <a:ln>
              <a:noFill/>
            </a:ln>
          </p:spPr>
          <p:txBody>
            <a:bodyPr wrap="none" lIns="0" tIns="0" rIns="0" bIns="0" anchor="t" anchorCtr="0">
              <a:spAutoFit/>
            </a:bodyPr>
            <a:lstStyle/>
            <a:p>
              <a:pPr algn="ctr"/>
              <a:r>
                <a:rPr lang="zh-CN" sz="860" dirty="0">
                  <a:solidFill>
                    <a:srgbClr val="644E4A"/>
                  </a:solidFill>
                  <a:latin typeface="+mn-lt"/>
                  <a:ea typeface="+mn-ea"/>
                  <a:cs typeface="+mn-cs"/>
                </a:rPr>
                <a:t>核心客户维护 / 门店级活动</a:t>
              </a:r>
            </a:p>
          </p:txBody>
        </p:sp>
        <p:sp>
          <p:nvSpPr>
            <p:cNvPr id="83" name="Rectangle 83"/>
            <p:cNvSpPr/>
            <p:nvPr/>
          </p:nvSpPr>
          <p:spPr>
            <a:xfrm>
              <a:off x="6686550" y="4191000"/>
              <a:ext cx="1333500" cy="228600"/>
            </a:xfrm>
            <a:prstGeom prst="roundRect">
              <a:avLst>
                <a:gd name="adj" fmla="val 16667"/>
              </a:avLst>
            </a:prstGeom>
            <a:solidFill>
              <a:srgbClr val="C46D5B"/>
            </a:solidFill>
            <a:ln>
              <a:noFill/>
            </a:ln>
          </p:spPr>
        </p:sp>
        <p:sp>
          <p:nvSpPr>
            <p:cNvPr id="84" name="TextBox 84"/>
            <p:cNvSpPr txBox="1"/>
            <p:nvPr/>
          </p:nvSpPr>
          <p:spPr>
            <a:xfrm>
              <a:off x="7018528" y="4247674"/>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员工矩阵号</a:t>
              </a:r>
            </a:p>
          </p:txBody>
        </p:sp>
        <p:sp>
          <p:nvSpPr>
            <p:cNvPr id="85" name="Line 85"/>
            <p:cNvSpPr/>
            <p:nvPr/>
          </p:nvSpPr>
          <p:spPr>
            <a:xfrm>
              <a:off x="7353300" y="4419600"/>
              <a:ext cx="9525" cy="95250"/>
            </a:xfrm>
            <a:custGeom>
              <a:avLst/>
              <a:gdLst/>
              <a:ahLst/>
              <a:cxnLst/>
              <a:rect l="l" t="t" r="r" b="b"/>
              <a:pathLst>
                <a:path w="9525" h="95250">
                  <a:moveTo>
                    <a:pt x="0" y="0"/>
                  </a:moveTo>
                  <a:lnTo>
                    <a:pt x="0" y="95250"/>
                  </a:lnTo>
                </a:path>
              </a:pathLst>
            </a:custGeom>
            <a:noFill/>
            <a:ln w="9525">
              <a:solidFill>
                <a:srgbClr val="ECC1B8"/>
              </a:solidFill>
            </a:ln>
          </p:spPr>
        </p:sp>
        <p:sp>
          <p:nvSpPr>
            <p:cNvPr id="86" name="Line 86"/>
            <p:cNvSpPr/>
            <p:nvPr/>
          </p:nvSpPr>
          <p:spPr>
            <a:xfrm>
              <a:off x="6705600" y="4514850"/>
              <a:ext cx="1295400" cy="9525"/>
            </a:xfrm>
            <a:custGeom>
              <a:avLst/>
              <a:gdLst/>
              <a:ahLst/>
              <a:cxnLst/>
              <a:rect l="l" t="t" r="r" b="b"/>
              <a:pathLst>
                <a:path w="1295400" h="9525">
                  <a:moveTo>
                    <a:pt x="0" y="0"/>
                  </a:moveTo>
                  <a:lnTo>
                    <a:pt x="1295400" y="0"/>
                  </a:lnTo>
                </a:path>
              </a:pathLst>
            </a:custGeom>
            <a:noFill/>
            <a:ln w="9525">
              <a:solidFill>
                <a:srgbClr val="ECC1B8"/>
              </a:solidFill>
            </a:ln>
          </p:spPr>
        </p:sp>
        <p:sp>
          <p:nvSpPr>
            <p:cNvPr id="87" name="Line 87"/>
            <p:cNvSpPr/>
            <p:nvPr/>
          </p:nvSpPr>
          <p:spPr>
            <a:xfrm>
              <a:off x="6705600" y="451485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88" name="Line 88"/>
            <p:cNvSpPr/>
            <p:nvPr/>
          </p:nvSpPr>
          <p:spPr>
            <a:xfrm>
              <a:off x="7353300" y="451485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89" name="Line 89"/>
            <p:cNvSpPr/>
            <p:nvPr/>
          </p:nvSpPr>
          <p:spPr>
            <a:xfrm>
              <a:off x="8001000" y="451485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90" name="Rectangle 90"/>
            <p:cNvSpPr/>
            <p:nvPr/>
          </p:nvSpPr>
          <p:spPr>
            <a:xfrm>
              <a:off x="6477000" y="4591050"/>
              <a:ext cx="457200" cy="190500"/>
            </a:xfrm>
            <a:prstGeom prst="roundRect">
              <a:avLst>
                <a:gd name="adj" fmla="val 15000"/>
              </a:avLst>
            </a:prstGeom>
            <a:solidFill>
              <a:srgbClr val="FFFFFF"/>
            </a:solidFill>
            <a:ln w="9525">
              <a:solidFill>
                <a:srgbClr val="E8634C"/>
              </a:solidFill>
            </a:ln>
          </p:spPr>
        </p:sp>
        <p:sp>
          <p:nvSpPr>
            <p:cNvPr id="91" name="TextBox 91"/>
            <p:cNvSpPr txBox="1"/>
            <p:nvPr/>
          </p:nvSpPr>
          <p:spPr>
            <a:xfrm>
              <a:off x="6528017" y="4635341"/>
              <a:ext cx="355166" cy="161925"/>
            </a:xfrm>
            <a:prstGeom prst="rect">
              <a:avLst/>
            </a:prstGeom>
            <a:noFill/>
            <a:ln>
              <a:noFill/>
            </a:ln>
          </p:spPr>
          <p:txBody>
            <a:bodyPr wrap="none" lIns="0" tIns="0" rIns="0" bIns="0" anchor="t" anchorCtr="0">
              <a:spAutoFit/>
            </a:bodyPr>
            <a:lstStyle/>
            <a:p>
              <a:pPr algn="ctr"/>
              <a:r>
                <a:rPr lang="zh-CN" sz="820" dirty="0">
                  <a:solidFill>
                    <a:srgbClr val="E8634C"/>
                  </a:solidFill>
                  <a:latin typeface="+mn-lt"/>
                  <a:ea typeface="+mn-ea"/>
                  <a:cs typeface="+mn-cs"/>
                </a:rPr>
                <a:t>A员工​</a:t>
              </a:r>
            </a:p>
          </p:txBody>
        </p:sp>
        <p:sp>
          <p:nvSpPr>
            <p:cNvPr id="92" name="Rectangle 92"/>
            <p:cNvSpPr/>
            <p:nvPr/>
          </p:nvSpPr>
          <p:spPr>
            <a:xfrm>
              <a:off x="7124700" y="4591050"/>
              <a:ext cx="457200" cy="190500"/>
            </a:xfrm>
            <a:prstGeom prst="roundRect">
              <a:avLst>
                <a:gd name="adj" fmla="val 15000"/>
              </a:avLst>
            </a:prstGeom>
            <a:solidFill>
              <a:srgbClr val="FFFFFF"/>
            </a:solidFill>
            <a:ln w="9525">
              <a:solidFill>
                <a:srgbClr val="E8634C"/>
              </a:solidFill>
            </a:ln>
          </p:spPr>
        </p:sp>
        <p:sp>
          <p:nvSpPr>
            <p:cNvPr id="93" name="TextBox 93"/>
            <p:cNvSpPr txBox="1"/>
            <p:nvPr/>
          </p:nvSpPr>
          <p:spPr>
            <a:xfrm>
              <a:off x="7175717" y="4635341"/>
              <a:ext cx="355166" cy="161925"/>
            </a:xfrm>
            <a:prstGeom prst="rect">
              <a:avLst/>
            </a:prstGeom>
            <a:noFill/>
            <a:ln>
              <a:noFill/>
            </a:ln>
          </p:spPr>
          <p:txBody>
            <a:bodyPr wrap="none" lIns="0" tIns="0" rIns="0" bIns="0" anchor="t" anchorCtr="0">
              <a:spAutoFit/>
            </a:bodyPr>
            <a:lstStyle/>
            <a:p>
              <a:pPr algn="ctr"/>
              <a:r>
                <a:rPr lang="zh-CN" sz="820" dirty="0">
                  <a:solidFill>
                    <a:srgbClr val="E8634C"/>
                  </a:solidFill>
                  <a:latin typeface="+mn-lt"/>
                  <a:ea typeface="+mn-ea"/>
                  <a:cs typeface="+mn-cs"/>
                </a:rPr>
                <a:t>B员工​</a:t>
              </a:r>
            </a:p>
          </p:txBody>
        </p:sp>
        <p:sp>
          <p:nvSpPr>
            <p:cNvPr id="94" name="Rectangle 94"/>
            <p:cNvSpPr/>
            <p:nvPr/>
          </p:nvSpPr>
          <p:spPr>
            <a:xfrm>
              <a:off x="7772400" y="4591050"/>
              <a:ext cx="457200" cy="190500"/>
            </a:xfrm>
            <a:prstGeom prst="roundRect">
              <a:avLst>
                <a:gd name="adj" fmla="val 15000"/>
              </a:avLst>
            </a:prstGeom>
            <a:solidFill>
              <a:srgbClr val="FFFFFF"/>
            </a:solidFill>
            <a:ln w="9525">
              <a:solidFill>
                <a:srgbClr val="E8634C"/>
              </a:solidFill>
            </a:ln>
          </p:spPr>
        </p:sp>
        <p:sp>
          <p:nvSpPr>
            <p:cNvPr id="95" name="TextBox 95"/>
            <p:cNvSpPr txBox="1"/>
            <p:nvPr/>
          </p:nvSpPr>
          <p:spPr>
            <a:xfrm>
              <a:off x="7823417" y="4635341"/>
              <a:ext cx="355166" cy="161925"/>
            </a:xfrm>
            <a:prstGeom prst="rect">
              <a:avLst/>
            </a:prstGeom>
            <a:noFill/>
            <a:ln>
              <a:noFill/>
            </a:ln>
          </p:spPr>
          <p:txBody>
            <a:bodyPr wrap="none" lIns="0" tIns="0" rIns="0" bIns="0" anchor="t" anchorCtr="0">
              <a:spAutoFit/>
            </a:bodyPr>
            <a:lstStyle/>
            <a:p>
              <a:pPr algn="ctr"/>
              <a:r>
                <a:rPr lang="zh-CN" sz="820" dirty="0">
                  <a:solidFill>
                    <a:srgbClr val="E8634C"/>
                  </a:solidFill>
                  <a:latin typeface="+mn-lt"/>
                  <a:ea typeface="+mn-ea"/>
                  <a:cs typeface="+mn-cs"/>
                </a:rPr>
                <a:t>C员工​</a:t>
              </a:r>
            </a:p>
          </p:txBody>
        </p:sp>
        <p:sp>
          <p:nvSpPr>
            <p:cNvPr id="96" name="TextBox 96"/>
            <p:cNvSpPr txBox="1"/>
            <p:nvPr/>
          </p:nvSpPr>
          <p:spPr>
            <a:xfrm>
              <a:off x="6520759" y="4936093"/>
              <a:ext cx="1665082" cy="169069"/>
            </a:xfrm>
            <a:prstGeom prst="rect">
              <a:avLst/>
            </a:prstGeom>
            <a:noFill/>
            <a:ln>
              <a:noFill/>
            </a:ln>
          </p:spPr>
          <p:txBody>
            <a:bodyPr wrap="none" lIns="0" tIns="0" rIns="0" bIns="0" anchor="t" anchorCtr="0">
              <a:spAutoFit/>
            </a:bodyPr>
            <a:lstStyle/>
            <a:p>
              <a:pPr algn="ctr"/>
              <a:r>
                <a:rPr lang="zh-CN" sz="860" dirty="0">
                  <a:solidFill>
                    <a:srgbClr val="644E4A"/>
                  </a:solidFill>
                  <a:latin typeface="+mn-lt"/>
                  <a:ea typeface="+mn-ea"/>
                  <a:cs typeface="+mn-cs"/>
                </a:rPr>
                <a:t>引流成交 / 门店体验 / 售前售后</a:t>
              </a:r>
            </a:p>
          </p:txBody>
        </p:sp>
      </p:grpSp>
      <p:grpSp>
        <p:nvGrpSpPr>
          <p:cNvPr id="118" name="card-koc"/>
          <p:cNvGrpSpPr/>
          <p:nvPr/>
        </p:nvGrpSpPr>
        <p:grpSpPr>
          <a:xfrm>
            <a:off x="9001125" y="1571625"/>
            <a:ext cx="2333625" cy="4333875"/>
            <a:chOff x="9001125" y="1571625"/>
            <a:chExt cx="2333625" cy="4333875"/>
          </a:xfrm>
        </p:grpSpPr>
        <p:sp>
          <p:nvSpPr>
            <p:cNvPr id="98" name="Rectangle 98"/>
            <p:cNvSpPr/>
            <p:nvPr/>
          </p:nvSpPr>
          <p:spPr>
            <a:xfrm>
              <a:off x="9001125" y="1571625"/>
              <a:ext cx="2333625" cy="4333875"/>
            </a:xfrm>
            <a:prstGeom prst="roundRect">
              <a:avLst>
                <a:gd name="adj" fmla="val 7347"/>
              </a:avLst>
            </a:prstGeom>
            <a:gradFill>
              <a:gsLst>
                <a:gs pos="0">
                  <a:srgbClr val="EEF1FB"/>
                </a:gs>
                <a:gs pos="100000">
                  <a:srgbClr val="FFFFFF"/>
                </a:gs>
              </a:gsLst>
              <a:lin ang="5400000" scaled="1"/>
            </a:gradFill>
            <a:ln w="14288">
              <a:solidFill>
                <a:srgbClr val="C9D1F0"/>
              </a:solidFill>
            </a:ln>
          </p:spPr>
        </p:sp>
        <p:sp>
          <p:nvSpPr>
            <p:cNvPr id="99" name="TextBox 99"/>
            <p:cNvSpPr txBox="1"/>
            <p:nvPr/>
          </p:nvSpPr>
          <p:spPr>
            <a:xfrm>
              <a:off x="10003951" y="1961198"/>
              <a:ext cx="318447" cy="674751"/>
            </a:xfrm>
            <a:prstGeom prst="rect">
              <a:avLst/>
            </a:prstGeom>
            <a:noFill/>
            <a:ln>
              <a:noFill/>
            </a:ln>
          </p:spPr>
          <p:txBody>
            <a:bodyPr wrap="none" lIns="0" tIns="0" rIns="0" bIns="0" anchor="t" anchorCtr="0">
              <a:spAutoFit/>
            </a:bodyPr>
            <a:lstStyle/>
            <a:p>
              <a:pPr algn="ctr"/>
              <a:r>
                <a:rPr lang="en-US" sz="3450" b="1" dirty="0">
                  <a:solidFill>
                    <a:srgbClr val="E8634C"/>
                  </a:solidFill>
                  <a:latin typeface="+mn-lt"/>
                  <a:ea typeface="+mn-ea"/>
                  <a:cs typeface="+mn-cs"/>
                </a:rPr>
                <a:t>N</a:t>
              </a:r>
            </a:p>
          </p:txBody>
        </p:sp>
        <p:sp>
          <p:nvSpPr>
            <p:cNvPr id="100" name="TextBox 100"/>
            <p:cNvSpPr txBox="1"/>
            <p:nvPr/>
          </p:nvSpPr>
          <p:spPr>
            <a:xfrm>
              <a:off x="9688092" y="2524125"/>
              <a:ext cx="950166" cy="293370"/>
            </a:xfrm>
            <a:prstGeom prst="rect">
              <a:avLst/>
            </a:prstGeom>
            <a:noFill/>
            <a:ln>
              <a:noFill/>
            </a:ln>
          </p:spPr>
          <p:txBody>
            <a:bodyPr wrap="none" lIns="0" tIns="0" rIns="0" bIns="0" anchor="t" anchorCtr="0">
              <a:spAutoFit/>
            </a:bodyPr>
            <a:lstStyle/>
            <a:p>
              <a:pPr algn="ctr"/>
              <a:r>
                <a:rPr lang="zh-CN" sz="1500" b="1" dirty="0">
                  <a:solidFill>
                    <a:srgbClr val="C45F4A"/>
                  </a:solidFill>
                  <a:latin typeface="+mn-lt"/>
                  <a:ea typeface="+mn-ea"/>
                  <a:cs typeface="+mn-cs"/>
                </a:rPr>
                <a:t>KOC账号​</a:t>
              </a:r>
            </a:p>
          </p:txBody>
        </p:sp>
        <p:sp>
          <p:nvSpPr>
            <p:cNvPr id="101" name="TextBox 101"/>
            <p:cNvSpPr txBox="1"/>
            <p:nvPr/>
          </p:nvSpPr>
          <p:spPr>
            <a:xfrm>
              <a:off x="9794938" y="2798445"/>
              <a:ext cx="736473" cy="176212"/>
            </a:xfrm>
            <a:prstGeom prst="rect">
              <a:avLst/>
            </a:prstGeom>
            <a:noFill/>
            <a:ln>
              <a:noFill/>
            </a:ln>
          </p:spPr>
          <p:txBody>
            <a:bodyPr wrap="none" lIns="0" tIns="0" rIns="0" bIns="0" anchor="t" anchorCtr="0">
              <a:spAutoFit/>
            </a:bodyPr>
            <a:lstStyle/>
            <a:p>
              <a:pPr algn="ctr"/>
              <a:r>
                <a:rPr lang="zh-CN" sz="900" dirty="0">
                  <a:solidFill>
                    <a:srgbClr val="88706B"/>
                  </a:solidFill>
                  <a:latin typeface="+mn-lt"/>
                  <a:ea typeface="+mn-ea"/>
                  <a:cs typeface="+mn-cs"/>
                </a:rPr>
                <a:t>用户影响用户</a:t>
              </a:r>
            </a:p>
          </p:txBody>
        </p:sp>
        <p:sp>
          <p:nvSpPr>
            <p:cNvPr id="102" name="Ellipse 102"/>
            <p:cNvSpPr/>
            <p:nvPr/>
          </p:nvSpPr>
          <p:spPr>
            <a:xfrm>
              <a:off x="9591675" y="3619500"/>
              <a:ext cx="1143000" cy="1143000"/>
            </a:xfrm>
            <a:prstGeom prst="ellipse">
              <a:avLst/>
            </a:prstGeom>
            <a:noFill/>
            <a:ln w="57150">
              <a:solidFill>
                <a:srgbClr val="D8DEF2"/>
              </a:solidFill>
            </a:ln>
          </p:spPr>
        </p:sp>
        <p:sp>
          <p:nvSpPr>
            <p:cNvPr id="103" name="Ellipse 103"/>
            <p:cNvSpPr/>
            <p:nvPr/>
          </p:nvSpPr>
          <p:spPr>
            <a:xfrm>
              <a:off x="10096500" y="4124325"/>
              <a:ext cx="133350" cy="133350"/>
            </a:xfrm>
            <a:prstGeom prst="ellipse">
              <a:avLst/>
            </a:prstGeom>
            <a:solidFill>
              <a:srgbClr val="C45F4A"/>
            </a:solidFill>
            <a:ln>
              <a:noFill/>
            </a:ln>
          </p:spPr>
        </p:sp>
        <p:sp>
          <p:nvSpPr>
            <p:cNvPr id="104" name="Ellipse 104"/>
            <p:cNvSpPr/>
            <p:nvPr/>
          </p:nvSpPr>
          <p:spPr>
            <a:xfrm>
              <a:off x="9353550" y="3400425"/>
              <a:ext cx="685800" cy="685800"/>
            </a:xfrm>
            <a:prstGeom prst="ellipse">
              <a:avLst/>
            </a:prstGeom>
            <a:solidFill>
              <a:srgbClr val="FFFFFF"/>
            </a:solidFill>
            <a:ln w="14288">
              <a:solidFill>
                <a:srgbClr val="C9D1F0"/>
              </a:solidFill>
            </a:ln>
          </p:spPr>
        </p:sp>
        <p:sp>
          <p:nvSpPr>
            <p:cNvPr id="105" name="TextBox 105"/>
            <p:cNvSpPr txBox="1"/>
            <p:nvPr/>
          </p:nvSpPr>
          <p:spPr>
            <a:xfrm>
              <a:off x="9549765" y="3610928"/>
              <a:ext cx="293370" cy="205359"/>
            </a:xfrm>
            <a:prstGeom prst="rect">
              <a:avLst/>
            </a:prstGeom>
            <a:noFill/>
            <a:ln>
              <a:noFill/>
            </a:ln>
          </p:spPr>
          <p:txBody>
            <a:bodyPr wrap="none" lIns="0" tIns="0" rIns="0" bIns="0" anchor="t" anchorCtr="0">
              <a:spAutoFit/>
            </a:bodyPr>
            <a:lstStyle/>
            <a:p>
              <a:pPr algn="ctr"/>
              <a:r>
                <a:rPr lang="zh-CN" sz="1050" b="1" dirty="0">
                  <a:solidFill>
                    <a:srgbClr val="E8634C"/>
                  </a:solidFill>
                  <a:latin typeface="+mn-lt"/>
                  <a:ea typeface="+mn-ea"/>
                  <a:cs typeface="+mn-cs"/>
                </a:rPr>
                <a:t>口碑</a:t>
              </a:r>
            </a:p>
          </p:txBody>
        </p:sp>
        <p:sp>
          <p:nvSpPr>
            <p:cNvPr id="106" name="TextBox 106"/>
            <p:cNvSpPr txBox="1"/>
            <p:nvPr/>
          </p:nvSpPr>
          <p:spPr>
            <a:xfrm>
              <a:off x="9593008" y="3795712"/>
              <a:ext cx="206883" cy="147638"/>
            </a:xfrm>
            <a:prstGeom prst="rect">
              <a:avLst/>
            </a:prstGeom>
            <a:noFill/>
            <a:ln>
              <a:noFill/>
            </a:ln>
          </p:spPr>
          <p:txBody>
            <a:bodyPr wrap="none" lIns="0" tIns="0" rIns="0" bIns="0" anchor="t" anchorCtr="0">
              <a:spAutoFit/>
            </a:bodyPr>
            <a:lstStyle/>
            <a:p>
              <a:pPr algn="ctr"/>
              <a:r>
                <a:rPr lang="en-US" sz="750" dirty="0">
                  <a:solidFill>
                    <a:srgbClr val="88706B"/>
                  </a:solidFill>
                  <a:latin typeface="+mn-lt"/>
                  <a:ea typeface="+mn-ea"/>
                  <a:cs typeface="+mn-cs"/>
                </a:rPr>
                <a:t>KOC</a:t>
              </a:r>
            </a:p>
          </p:txBody>
        </p:sp>
        <p:sp>
          <p:nvSpPr>
            <p:cNvPr id="107" name="Ellipse 107"/>
            <p:cNvSpPr/>
            <p:nvPr/>
          </p:nvSpPr>
          <p:spPr>
            <a:xfrm>
              <a:off x="10287000" y="3400425"/>
              <a:ext cx="685800" cy="685800"/>
            </a:xfrm>
            <a:prstGeom prst="ellipse">
              <a:avLst/>
            </a:prstGeom>
            <a:solidFill>
              <a:srgbClr val="FFFFFF"/>
            </a:solidFill>
            <a:ln w="14288">
              <a:solidFill>
                <a:srgbClr val="C9D1F0"/>
              </a:solidFill>
            </a:ln>
          </p:spPr>
        </p:sp>
        <p:sp>
          <p:nvSpPr>
            <p:cNvPr id="108" name="TextBox 108"/>
            <p:cNvSpPr txBox="1"/>
            <p:nvPr/>
          </p:nvSpPr>
          <p:spPr>
            <a:xfrm>
              <a:off x="10483215" y="3610928"/>
              <a:ext cx="29337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采购</a:t>
              </a:r>
            </a:p>
          </p:txBody>
        </p:sp>
        <p:sp>
          <p:nvSpPr>
            <p:cNvPr id="109" name="TextBox 109"/>
            <p:cNvSpPr txBox="1"/>
            <p:nvPr/>
          </p:nvSpPr>
          <p:spPr>
            <a:xfrm>
              <a:off x="10526459" y="3795712"/>
              <a:ext cx="206883" cy="147638"/>
            </a:xfrm>
            <a:prstGeom prst="rect">
              <a:avLst/>
            </a:prstGeom>
            <a:noFill/>
            <a:ln>
              <a:noFill/>
            </a:ln>
          </p:spPr>
          <p:txBody>
            <a:bodyPr wrap="none" lIns="0" tIns="0" rIns="0" bIns="0" anchor="t" anchorCtr="0">
              <a:spAutoFit/>
            </a:bodyPr>
            <a:lstStyle/>
            <a:p>
              <a:pPr algn="ctr"/>
              <a:r>
                <a:rPr lang="en-US" sz="750" dirty="0">
                  <a:solidFill>
                    <a:srgbClr val="88706B"/>
                  </a:solidFill>
                  <a:latin typeface="+mn-lt"/>
                  <a:ea typeface="+mn-ea"/>
                  <a:cs typeface="+mn-cs"/>
                </a:rPr>
                <a:t>KOC</a:t>
              </a:r>
            </a:p>
          </p:txBody>
        </p:sp>
        <p:sp>
          <p:nvSpPr>
            <p:cNvPr id="110" name="Ellipse 110"/>
            <p:cNvSpPr/>
            <p:nvPr/>
          </p:nvSpPr>
          <p:spPr>
            <a:xfrm>
              <a:off x="9353550" y="4295775"/>
              <a:ext cx="685800" cy="685800"/>
            </a:xfrm>
            <a:prstGeom prst="ellipse">
              <a:avLst/>
            </a:prstGeom>
            <a:solidFill>
              <a:srgbClr val="FFFFFF"/>
            </a:solidFill>
            <a:ln w="14288">
              <a:solidFill>
                <a:srgbClr val="C9D1F0"/>
              </a:solidFill>
            </a:ln>
          </p:spPr>
        </p:sp>
        <p:sp>
          <p:nvSpPr>
            <p:cNvPr id="111" name="TextBox 111"/>
            <p:cNvSpPr txBox="1"/>
            <p:nvPr/>
          </p:nvSpPr>
          <p:spPr>
            <a:xfrm>
              <a:off x="9549765" y="4506278"/>
              <a:ext cx="29337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孵化</a:t>
              </a:r>
            </a:p>
          </p:txBody>
        </p:sp>
        <p:sp>
          <p:nvSpPr>
            <p:cNvPr id="112" name="TextBox 112"/>
            <p:cNvSpPr txBox="1"/>
            <p:nvPr/>
          </p:nvSpPr>
          <p:spPr>
            <a:xfrm>
              <a:off x="9593008" y="4691062"/>
              <a:ext cx="206883" cy="147638"/>
            </a:xfrm>
            <a:prstGeom prst="rect">
              <a:avLst/>
            </a:prstGeom>
            <a:noFill/>
            <a:ln>
              <a:noFill/>
            </a:ln>
          </p:spPr>
          <p:txBody>
            <a:bodyPr wrap="none" lIns="0" tIns="0" rIns="0" bIns="0" anchor="t" anchorCtr="0">
              <a:spAutoFit/>
            </a:bodyPr>
            <a:lstStyle/>
            <a:p>
              <a:pPr algn="ctr"/>
              <a:r>
                <a:rPr lang="en-US" sz="750" dirty="0">
                  <a:solidFill>
                    <a:srgbClr val="88706B"/>
                  </a:solidFill>
                  <a:latin typeface="+mn-lt"/>
                  <a:ea typeface="+mn-ea"/>
                  <a:cs typeface="+mn-cs"/>
                </a:rPr>
                <a:t>KOC</a:t>
              </a:r>
            </a:p>
          </p:txBody>
        </p:sp>
        <p:sp>
          <p:nvSpPr>
            <p:cNvPr id="113" name="Ellipse 113"/>
            <p:cNvSpPr/>
            <p:nvPr/>
          </p:nvSpPr>
          <p:spPr>
            <a:xfrm>
              <a:off x="10287000" y="4295775"/>
              <a:ext cx="685800" cy="685800"/>
            </a:xfrm>
            <a:prstGeom prst="ellipse">
              <a:avLst/>
            </a:prstGeom>
            <a:solidFill>
              <a:srgbClr val="FFFFFF"/>
            </a:solidFill>
            <a:ln w="14288">
              <a:solidFill>
                <a:srgbClr val="C9D1F0"/>
              </a:solidFill>
            </a:ln>
          </p:spPr>
        </p:sp>
        <p:sp>
          <p:nvSpPr>
            <p:cNvPr id="114" name="TextBox 114"/>
            <p:cNvSpPr txBox="1"/>
            <p:nvPr/>
          </p:nvSpPr>
          <p:spPr>
            <a:xfrm>
              <a:off x="10483215" y="4506278"/>
              <a:ext cx="293370" cy="205359"/>
            </a:xfrm>
            <a:prstGeom prst="rect">
              <a:avLst/>
            </a:prstGeom>
            <a:noFill/>
            <a:ln>
              <a:noFill/>
            </a:ln>
          </p:spPr>
          <p:txBody>
            <a:bodyPr wrap="none" lIns="0" tIns="0" rIns="0" bIns="0" anchor="t" anchorCtr="0">
              <a:spAutoFit/>
            </a:bodyPr>
            <a:lstStyle/>
            <a:p>
              <a:pPr algn="ctr"/>
              <a:r>
                <a:rPr lang="zh-CN" sz="1050" b="1" dirty="0">
                  <a:solidFill>
                    <a:srgbClr val="E8634C"/>
                  </a:solidFill>
                  <a:latin typeface="+mn-lt"/>
                  <a:ea typeface="+mn-ea"/>
                  <a:cs typeface="+mn-cs"/>
                </a:rPr>
                <a:t>矩阵</a:t>
              </a:r>
            </a:p>
          </p:txBody>
        </p:sp>
        <p:sp>
          <p:nvSpPr>
            <p:cNvPr id="115" name="TextBox 115"/>
            <p:cNvSpPr txBox="1"/>
            <p:nvPr/>
          </p:nvSpPr>
          <p:spPr>
            <a:xfrm>
              <a:off x="10526459" y="4691062"/>
              <a:ext cx="206883" cy="147638"/>
            </a:xfrm>
            <a:prstGeom prst="rect">
              <a:avLst/>
            </a:prstGeom>
            <a:noFill/>
            <a:ln>
              <a:noFill/>
            </a:ln>
          </p:spPr>
          <p:txBody>
            <a:bodyPr wrap="none" lIns="0" tIns="0" rIns="0" bIns="0" anchor="t" anchorCtr="0">
              <a:spAutoFit/>
            </a:bodyPr>
            <a:lstStyle/>
            <a:p>
              <a:pPr algn="ctr"/>
              <a:r>
                <a:rPr lang="en-US" sz="750" dirty="0">
                  <a:solidFill>
                    <a:srgbClr val="88706B"/>
                  </a:solidFill>
                  <a:latin typeface="+mn-lt"/>
                  <a:ea typeface="+mn-ea"/>
                  <a:cs typeface="+mn-cs"/>
                </a:rPr>
                <a:t>KOC</a:t>
              </a:r>
            </a:p>
          </p:txBody>
        </p:sp>
        <p:sp>
          <p:nvSpPr>
            <p:cNvPr id="116" name="TextBox 116"/>
            <p:cNvSpPr txBox="1"/>
            <p:nvPr/>
          </p:nvSpPr>
          <p:spPr>
            <a:xfrm>
              <a:off x="10009221" y="5223510"/>
              <a:ext cx="307909" cy="234696"/>
            </a:xfrm>
            <a:prstGeom prst="rect">
              <a:avLst/>
            </a:prstGeom>
            <a:noFill/>
            <a:ln>
              <a:noFill/>
            </a:ln>
          </p:spPr>
          <p:txBody>
            <a:bodyPr wrap="none" lIns="0" tIns="0" rIns="0" bIns="0" anchor="t" anchorCtr="0">
              <a:spAutoFit/>
            </a:bodyPr>
            <a:lstStyle/>
            <a:p>
              <a:pPr algn="ctr"/>
              <a:r>
                <a:rPr lang="en-US" sz="1200" b="1" dirty="0">
                  <a:solidFill>
                    <a:srgbClr val="C45F4A"/>
                  </a:solidFill>
                  <a:latin typeface="+mn-lt"/>
                  <a:ea typeface="+mn-ea"/>
                  <a:cs typeface="+mn-cs"/>
                </a:rPr>
                <a:t>C2C</a:t>
              </a:r>
            </a:p>
          </p:txBody>
        </p:sp>
        <p:sp>
          <p:nvSpPr>
            <p:cNvPr id="117" name="Line 117"/>
            <p:cNvSpPr/>
            <p:nvPr/>
          </p:nvSpPr>
          <p:spPr>
            <a:xfrm>
              <a:off x="10163175" y="5448300"/>
              <a:ext cx="1" cy="190500"/>
            </a:xfrm>
            <a:prstGeom prst="line">
              <a:avLst/>
            </a:prstGeom>
            <a:noFill/>
            <a:ln w="14288">
              <a:solidFill>
                <a:srgbClr val="E8A79A"/>
              </a:solidFill>
              <a:tailEnd type="triangle" w="lg" len="lg"/>
            </a:ln>
          </p:spPr>
        </p:sp>
      </p:grpSp>
      <p:sp>
        <p:nvSpPr>
          <p:cNvPr id="119" name="Freeform 119"/>
          <p:cNvSpPr/>
          <p:nvPr/>
        </p:nvSpPr>
        <p:spPr>
          <a:xfrm>
            <a:off x="2962275" y="3543300"/>
            <a:ext cx="361950" cy="361950"/>
          </a:xfrm>
          <a:prstGeom prst="mathPlus">
            <a:avLst/>
          </a:prstGeom>
          <a:solidFill>
            <a:srgbClr val="D87E6B"/>
          </a:solidFill>
          <a:ln>
            <a:noFill/>
          </a:ln>
        </p:spPr>
      </p:sp>
      <p:sp>
        <p:nvSpPr>
          <p:cNvPr id="120" name="Freeform 120"/>
          <p:cNvSpPr/>
          <p:nvPr/>
        </p:nvSpPr>
        <p:spPr>
          <a:xfrm>
            <a:off x="5772150" y="3543300"/>
            <a:ext cx="361950" cy="361950"/>
          </a:xfrm>
          <a:prstGeom prst="mathPlus">
            <a:avLst/>
          </a:prstGeom>
          <a:solidFill>
            <a:srgbClr val="D87E6B"/>
          </a:solidFill>
          <a:ln>
            <a:noFill/>
          </a:ln>
        </p:spPr>
      </p:sp>
      <p:sp>
        <p:nvSpPr>
          <p:cNvPr id="121" name="Freeform 121"/>
          <p:cNvSpPr/>
          <p:nvPr/>
        </p:nvSpPr>
        <p:spPr>
          <a:xfrm>
            <a:off x="8582025" y="3543300"/>
            <a:ext cx="361950" cy="361950"/>
          </a:xfrm>
          <a:prstGeom prst="mathPlus">
            <a:avLst/>
          </a:prstGeom>
          <a:solidFill>
            <a:srgbClr val="D87E6B"/>
          </a:solidFill>
          <a:ln>
            <a:noFill/>
          </a:ln>
        </p:spPr>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46</a:t>
              </a:r>
            </a:p>
          </p:txBody>
        </p:sp>
        <p:sp>
          <p:nvSpPr>
            <p:cNvPr id="4" name="TextBox 4"/>
            <p:cNvSpPr txBox="1"/>
            <p:nvPr/>
          </p:nvSpPr>
          <p:spPr>
            <a:xfrm>
              <a:off x="942594" y="151448"/>
              <a:ext cx="184420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直播运营安排​</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9" name="row-labels"/>
          <p:cNvGrpSpPr/>
          <p:nvPr/>
        </p:nvGrpSpPr>
        <p:grpSpPr>
          <a:xfrm>
            <a:off x="381000" y="857250"/>
            <a:ext cx="762000" cy="5619750"/>
            <a:chOff x="381000" y="857250"/>
            <a:chExt cx="762000" cy="5619750"/>
          </a:xfrm>
        </p:grpSpPr>
        <p:sp>
          <p:nvSpPr>
            <p:cNvPr id="7" name="Rectangle 7"/>
            <p:cNvSpPr/>
            <p:nvPr/>
          </p:nvSpPr>
          <p:spPr>
            <a:xfrm>
              <a:off x="381000" y="857250"/>
              <a:ext cx="762000" cy="647700"/>
            </a:xfrm>
            <a:prstGeom prst="roundRect">
              <a:avLst>
                <a:gd name="adj" fmla="val 5882"/>
              </a:avLst>
            </a:prstGeom>
            <a:solidFill>
              <a:srgbClr val="C45F4A"/>
            </a:solidFill>
            <a:ln>
              <a:noFill/>
            </a:ln>
          </p:spPr>
        </p:sp>
        <p:sp>
          <p:nvSpPr>
            <p:cNvPr id="8" name="TextBox 8"/>
            <p:cNvSpPr txBox="1"/>
            <p:nvPr/>
          </p:nvSpPr>
          <p:spPr>
            <a:xfrm>
              <a:off x="614045" y="1012031"/>
              <a:ext cx="295910" cy="401002"/>
            </a:xfrm>
            <a:prstGeom prst="rect">
              <a:avLst/>
            </a:prstGeom>
            <a:noFill/>
            <a:ln>
              <a:noFill/>
            </a:ln>
          </p:spPr>
          <p:txBody>
            <a:bodyPr wrap="none" lIns="0" tIns="0" rIns="0" bIns="0" anchor="t" anchorCtr="0">
              <a:spAutoFit/>
            </a:bodyPr>
            <a:lstStyle/>
            <a:p>
              <a:pPr algn="ctr">
                <a:lnSpc>
                  <a:spcPts val="1425"/>
                </a:lnSpc>
              </a:pPr>
              <a:r>
                <a:rPr lang="zh-CN" sz="1120" b="1" dirty="0">
                  <a:solidFill>
                    <a:srgbClr val="FFFFFF"/>
                  </a:solidFill>
                  <a:latin typeface="+mn-lt"/>
                  <a:ea typeface="+mn-ea"/>
                  <a:cs typeface="+mn-cs"/>
                </a:rPr>
                <a:t>执行</a:t>
              </a:r>
              <a:br/>
              <a:r>
                <a:rPr lang="zh-CN" sz="1120" b="1" dirty="0">
                  <a:solidFill>
                    <a:srgbClr val="FFFFFF"/>
                  </a:solidFill>
                  <a:latin typeface="+mn-lt"/>
                  <a:ea typeface="+mn-ea"/>
                  <a:cs typeface="+mn-cs"/>
                </a:rPr>
                <a:t>阶段</a:t>
              </a:r>
            </a:p>
          </p:txBody>
        </p:sp>
        <p:sp>
          <p:nvSpPr>
            <p:cNvPr id="9" name="Rectangle 9"/>
            <p:cNvSpPr/>
            <p:nvPr/>
          </p:nvSpPr>
          <p:spPr>
            <a:xfrm>
              <a:off x="381000" y="1638300"/>
              <a:ext cx="762000" cy="2933700"/>
            </a:xfrm>
            <a:prstGeom prst="roundRect">
              <a:avLst>
                <a:gd name="adj" fmla="val 5000"/>
              </a:avLst>
            </a:prstGeom>
            <a:solidFill>
              <a:srgbClr val="C45F4A"/>
            </a:solidFill>
            <a:ln>
              <a:noFill/>
            </a:ln>
          </p:spPr>
        </p:sp>
        <p:grpSp>
          <p:nvGrpSpPr>
            <p:cNvPr id="13" name="Group 13"/>
            <p:cNvGrpSpPr/>
            <p:nvPr/>
          </p:nvGrpSpPr>
          <p:grpSpPr>
            <a:xfrm>
              <a:off x="676275" y="2614612"/>
              <a:ext cx="171450" cy="257175"/>
              <a:chOff x="676275" y="2614612"/>
              <a:chExt cx="171450" cy="257175"/>
            </a:xfrm>
          </p:grpSpPr>
          <p:sp>
            <p:nvSpPr>
              <p:cNvPr id="10" name="Freeform 10"/>
              <p:cNvSpPr/>
              <p:nvPr/>
            </p:nvSpPr>
            <p:spPr>
              <a:xfrm>
                <a:off x="676275" y="2614612"/>
                <a:ext cx="171450" cy="257175"/>
              </a:xfrm>
              <a:custGeom>
                <a:avLst/>
                <a:gdLst/>
                <a:ahLst/>
                <a:cxnLst/>
                <a:rect l="l" t="t" r="r" b="b"/>
                <a:pathLst>
                  <a:path w="171450" h="257175">
                    <a:moveTo>
                      <a:pt x="0" y="28575"/>
                    </a:moveTo>
                    <a:cubicBezTo>
                      <a:pt x="0" y="12793"/>
                      <a:pt x="12793" y="0"/>
                      <a:pt x="28575" y="0"/>
                    </a:cubicBezTo>
                    <a:lnTo>
                      <a:pt x="142875" y="0"/>
                    </a:lnTo>
                    <a:cubicBezTo>
                      <a:pt x="158657" y="0"/>
                      <a:pt x="171450" y="12793"/>
                      <a:pt x="171450" y="28575"/>
                    </a:cubicBezTo>
                    <a:lnTo>
                      <a:pt x="171450" y="228600"/>
                    </a:lnTo>
                    <a:cubicBezTo>
                      <a:pt x="171450" y="244382"/>
                      <a:pt x="158657" y="257175"/>
                      <a:pt x="142875" y="257175"/>
                    </a:cubicBezTo>
                    <a:lnTo>
                      <a:pt x="28575" y="257175"/>
                    </a:lnTo>
                    <a:cubicBezTo>
                      <a:pt x="12793" y="257175"/>
                      <a:pt x="0" y="244382"/>
                      <a:pt x="0" y="228600"/>
                    </a:cubicBezTo>
                    <a:lnTo>
                      <a:pt x="0" y="28575"/>
                    </a:lnTo>
                  </a:path>
                </a:pathLst>
              </a:custGeom>
              <a:noFill/>
              <a:ln w="28575">
                <a:solidFill>
                  <a:srgbClr val="FFFFFF"/>
                </a:solidFill>
              </a:ln>
            </p:spPr>
          </p:sp>
          <p:sp>
            <p:nvSpPr>
              <p:cNvPr id="11" name="Freeform 11"/>
              <p:cNvSpPr/>
              <p:nvPr/>
            </p:nvSpPr>
            <p:spPr>
              <a:xfrm>
                <a:off x="747712" y="2628900"/>
                <a:ext cx="28575" cy="9525"/>
              </a:xfrm>
              <a:custGeom>
                <a:avLst/>
                <a:gdLst/>
                <a:ahLst/>
                <a:cxnLst/>
                <a:rect l="l" t="t" r="r" b="b"/>
                <a:pathLst>
                  <a:path w="28575" h="9525">
                    <a:moveTo>
                      <a:pt x="0" y="0"/>
                    </a:moveTo>
                    <a:lnTo>
                      <a:pt x="28575" y="0"/>
                    </a:lnTo>
                  </a:path>
                </a:pathLst>
              </a:custGeom>
              <a:noFill/>
              <a:ln w="28575">
                <a:solidFill>
                  <a:srgbClr val="FFFFFF"/>
                </a:solidFill>
              </a:ln>
            </p:spPr>
          </p:sp>
          <p:sp>
            <p:nvSpPr>
              <p:cNvPr id="12" name="Freeform 12"/>
              <p:cNvSpPr/>
              <p:nvPr/>
            </p:nvSpPr>
            <p:spPr>
              <a:xfrm>
                <a:off x="762000" y="2814638"/>
                <a:ext cx="9525" cy="9525"/>
              </a:xfrm>
              <a:custGeom>
                <a:avLst/>
                <a:gdLst/>
                <a:ahLst/>
                <a:cxnLst/>
                <a:rect l="l" t="t" r="r" b="b"/>
                <a:pathLst>
                  <a:path w="9525" h="9525">
                    <a:moveTo>
                      <a:pt x="0" y="0"/>
                    </a:moveTo>
                    <a:lnTo>
                      <a:pt x="0" y="143"/>
                    </a:lnTo>
                  </a:path>
                </a:pathLst>
              </a:custGeom>
              <a:noFill/>
              <a:ln w="28575">
                <a:solidFill>
                  <a:srgbClr val="FFFFFF"/>
                </a:solidFill>
              </a:ln>
            </p:spPr>
          </p:sp>
        </p:grpSp>
        <p:sp>
          <p:nvSpPr>
            <p:cNvPr id="14" name="TextBox 14"/>
            <p:cNvSpPr txBox="1"/>
            <p:nvPr/>
          </p:nvSpPr>
          <p:spPr>
            <a:xfrm>
              <a:off x="614045" y="3050381"/>
              <a:ext cx="295910" cy="401002"/>
            </a:xfrm>
            <a:prstGeom prst="rect">
              <a:avLst/>
            </a:prstGeom>
            <a:noFill/>
            <a:ln>
              <a:noFill/>
            </a:ln>
          </p:spPr>
          <p:txBody>
            <a:bodyPr wrap="none" lIns="0" tIns="0" rIns="0" bIns="0" anchor="t" anchorCtr="0">
              <a:spAutoFit/>
            </a:bodyPr>
            <a:lstStyle/>
            <a:p>
              <a:pPr algn="ctr">
                <a:lnSpc>
                  <a:spcPts val="1425"/>
                </a:lnSpc>
              </a:pPr>
              <a:r>
                <a:rPr lang="zh-CN" sz="1120" b="1" dirty="0">
                  <a:solidFill>
                    <a:srgbClr val="FFFFFF"/>
                  </a:solidFill>
                  <a:latin typeface="+mn-lt"/>
                  <a:ea typeface="+mn-ea"/>
                  <a:cs typeface="+mn-cs"/>
                </a:rPr>
                <a:t>线上</a:t>
              </a:r>
              <a:br/>
              <a:r>
                <a:rPr lang="zh-CN" sz="1120" b="1" dirty="0">
                  <a:solidFill>
                    <a:srgbClr val="FFFFFF"/>
                  </a:solidFill>
                  <a:latin typeface="+mn-lt"/>
                  <a:ea typeface="+mn-ea"/>
                  <a:cs typeface="+mn-cs"/>
                </a:rPr>
                <a:t>运营</a:t>
              </a:r>
            </a:p>
          </p:txBody>
        </p:sp>
        <p:sp>
          <p:nvSpPr>
            <p:cNvPr id="15" name="Rectangle 15"/>
            <p:cNvSpPr/>
            <p:nvPr/>
          </p:nvSpPr>
          <p:spPr>
            <a:xfrm>
              <a:off x="381000" y="4705350"/>
              <a:ext cx="762000" cy="819150"/>
            </a:xfrm>
            <a:prstGeom prst="roundRect">
              <a:avLst>
                <a:gd name="adj" fmla="val 5000"/>
              </a:avLst>
            </a:prstGeom>
            <a:solidFill>
              <a:srgbClr val="C45F4A"/>
            </a:solidFill>
            <a:ln>
              <a:noFill/>
            </a:ln>
          </p:spPr>
        </p:sp>
        <p:sp>
          <p:nvSpPr>
            <p:cNvPr id="16" name="TextBox 16"/>
            <p:cNvSpPr txBox="1"/>
            <p:nvPr/>
          </p:nvSpPr>
          <p:spPr>
            <a:xfrm>
              <a:off x="614045" y="4955381"/>
              <a:ext cx="295910" cy="401002"/>
            </a:xfrm>
            <a:prstGeom prst="rect">
              <a:avLst/>
            </a:prstGeom>
            <a:noFill/>
            <a:ln>
              <a:noFill/>
            </a:ln>
          </p:spPr>
          <p:txBody>
            <a:bodyPr wrap="none" lIns="0" tIns="0" rIns="0" bIns="0" anchor="t" anchorCtr="0">
              <a:spAutoFit/>
            </a:bodyPr>
            <a:lstStyle/>
            <a:p>
              <a:pPr algn="ctr">
                <a:lnSpc>
                  <a:spcPts val="1425"/>
                </a:lnSpc>
              </a:pPr>
              <a:r>
                <a:rPr lang="zh-CN" sz="1120" b="1" dirty="0">
                  <a:solidFill>
                    <a:srgbClr val="FFFFFF"/>
                  </a:solidFill>
                  <a:latin typeface="+mn-lt"/>
                  <a:ea typeface="+mn-ea"/>
                  <a:cs typeface="+mn-cs"/>
                </a:rPr>
                <a:t>操作</a:t>
              </a:r>
              <a:br/>
              <a:r>
                <a:rPr lang="zh-CN" sz="1120" b="1" dirty="0">
                  <a:solidFill>
                    <a:srgbClr val="FFFFFF"/>
                  </a:solidFill>
                  <a:latin typeface="+mn-lt"/>
                  <a:ea typeface="+mn-ea"/>
                  <a:cs typeface="+mn-cs"/>
                </a:rPr>
                <a:t>指南</a:t>
              </a:r>
            </a:p>
          </p:txBody>
        </p:sp>
        <p:sp>
          <p:nvSpPr>
            <p:cNvPr id="17" name="Rectangle 17"/>
            <p:cNvSpPr/>
            <p:nvPr/>
          </p:nvSpPr>
          <p:spPr>
            <a:xfrm>
              <a:off x="381000" y="5657850"/>
              <a:ext cx="762000" cy="819150"/>
            </a:xfrm>
            <a:prstGeom prst="roundRect">
              <a:avLst>
                <a:gd name="adj" fmla="val 5000"/>
              </a:avLst>
            </a:prstGeom>
            <a:solidFill>
              <a:srgbClr val="C45F4A"/>
            </a:solidFill>
            <a:ln>
              <a:noFill/>
            </a:ln>
          </p:spPr>
        </p:sp>
        <p:sp>
          <p:nvSpPr>
            <p:cNvPr id="18" name="TextBox 18"/>
            <p:cNvSpPr txBox="1"/>
            <p:nvPr/>
          </p:nvSpPr>
          <p:spPr>
            <a:xfrm>
              <a:off x="614045" y="5907881"/>
              <a:ext cx="295910" cy="401002"/>
            </a:xfrm>
            <a:prstGeom prst="rect">
              <a:avLst/>
            </a:prstGeom>
            <a:noFill/>
            <a:ln>
              <a:noFill/>
            </a:ln>
          </p:spPr>
          <p:txBody>
            <a:bodyPr wrap="none" lIns="0" tIns="0" rIns="0" bIns="0" anchor="t" anchorCtr="0">
              <a:spAutoFit/>
            </a:bodyPr>
            <a:lstStyle/>
            <a:p>
              <a:pPr algn="ctr">
                <a:lnSpc>
                  <a:spcPts val="1425"/>
                </a:lnSpc>
              </a:pPr>
              <a:r>
                <a:rPr lang="zh-CN" sz="1120" b="1" dirty="0">
                  <a:solidFill>
                    <a:srgbClr val="FFFFFF"/>
                  </a:solidFill>
                  <a:latin typeface="+mn-lt"/>
                  <a:ea typeface="+mn-ea"/>
                  <a:cs typeface="+mn-cs"/>
                </a:rPr>
                <a:t>融合</a:t>
              </a:r>
              <a:br/>
              <a:r>
                <a:rPr lang="zh-CN" sz="1120" b="1" dirty="0">
                  <a:solidFill>
                    <a:srgbClr val="FFFFFF"/>
                  </a:solidFill>
                  <a:latin typeface="+mn-lt"/>
                  <a:ea typeface="+mn-ea"/>
                  <a:cs typeface="+mn-cs"/>
                </a:rPr>
                <a:t>应用</a:t>
              </a:r>
            </a:p>
          </p:txBody>
        </p:sp>
      </p:grpSp>
      <p:grpSp>
        <p:nvGrpSpPr>
          <p:cNvPr id="25" name="col-head-pre"/>
          <p:cNvGrpSpPr/>
          <p:nvPr/>
        </p:nvGrpSpPr>
        <p:grpSpPr>
          <a:xfrm>
            <a:off x="1285875" y="978218"/>
            <a:ext cx="3000375" cy="510539"/>
            <a:chOff x="1285875" y="978218"/>
            <a:chExt cx="3000375" cy="510539"/>
          </a:xfrm>
        </p:grpSpPr>
        <p:sp>
          <p:nvSpPr>
            <p:cNvPr id="20" name="Line 20"/>
            <p:cNvSpPr/>
            <p:nvPr/>
          </p:nvSpPr>
          <p:spPr>
            <a:xfrm>
              <a:off x="1285875" y="1066800"/>
              <a:ext cx="1095375" cy="9525"/>
            </a:xfrm>
            <a:custGeom>
              <a:avLst/>
              <a:gdLst/>
              <a:ahLst/>
              <a:cxnLst/>
              <a:rect l="l" t="t" r="r" b="b"/>
              <a:pathLst>
                <a:path w="1095375" h="9525">
                  <a:moveTo>
                    <a:pt x="0" y="0"/>
                  </a:moveTo>
                  <a:lnTo>
                    <a:pt x="1095375" y="0"/>
                  </a:lnTo>
                </a:path>
              </a:pathLst>
            </a:custGeom>
            <a:noFill/>
            <a:ln w="14288">
              <a:solidFill>
                <a:srgbClr val="ECC1B8"/>
              </a:solidFill>
              <a:prstDash val="dash"/>
            </a:ln>
          </p:spPr>
        </p:sp>
        <p:sp>
          <p:nvSpPr>
            <p:cNvPr id="21" name="TextBox 21"/>
            <p:cNvSpPr txBox="1"/>
            <p:nvPr/>
          </p:nvSpPr>
          <p:spPr>
            <a:xfrm>
              <a:off x="2501836" y="978218"/>
              <a:ext cx="558927" cy="264033"/>
            </a:xfrm>
            <a:prstGeom prst="rect">
              <a:avLst/>
            </a:prstGeom>
            <a:noFill/>
            <a:ln>
              <a:noFill/>
            </a:ln>
          </p:spPr>
          <p:txBody>
            <a:bodyPr wrap="none" lIns="0" tIns="0" rIns="0" bIns="0" anchor="t" anchorCtr="0">
              <a:spAutoFit/>
            </a:bodyPr>
            <a:lstStyle/>
            <a:p>
              <a:pPr algn="ctr"/>
              <a:r>
                <a:rPr lang="zh-CN" sz="1350" b="1" dirty="0">
                  <a:solidFill>
                    <a:srgbClr val="C45F4A"/>
                  </a:solidFill>
                  <a:latin typeface="+mn-lt"/>
                  <a:ea typeface="+mn-ea"/>
                  <a:cs typeface="+mn-cs"/>
                </a:rPr>
                <a:t>直播前</a:t>
              </a:r>
            </a:p>
          </p:txBody>
        </p:sp>
        <p:sp>
          <p:nvSpPr>
            <p:cNvPr id="22" name="Line 22"/>
            <p:cNvSpPr/>
            <p:nvPr/>
          </p:nvSpPr>
          <p:spPr>
            <a:xfrm>
              <a:off x="3190875" y="1066800"/>
              <a:ext cx="1095375" cy="9525"/>
            </a:xfrm>
            <a:custGeom>
              <a:avLst/>
              <a:gdLst/>
              <a:ahLst/>
              <a:cxnLst/>
              <a:rect l="l" t="t" r="r" b="b"/>
              <a:pathLst>
                <a:path w="1095375" h="9525">
                  <a:moveTo>
                    <a:pt x="0" y="0"/>
                  </a:moveTo>
                  <a:lnTo>
                    <a:pt x="1095375" y="0"/>
                  </a:lnTo>
                </a:path>
              </a:pathLst>
            </a:custGeom>
            <a:noFill/>
            <a:ln w="14288">
              <a:solidFill>
                <a:srgbClr val="ECC1B8"/>
              </a:solidFill>
              <a:prstDash val="dash"/>
            </a:ln>
          </p:spPr>
        </p:sp>
        <p:sp>
          <p:nvSpPr>
            <p:cNvPr id="23" name="Rectangle 23"/>
            <p:cNvSpPr/>
            <p:nvPr/>
          </p:nvSpPr>
          <p:spPr>
            <a:xfrm>
              <a:off x="1285875" y="1238250"/>
              <a:ext cx="3000375" cy="247650"/>
            </a:xfrm>
            <a:prstGeom prst="roundRect">
              <a:avLst>
                <a:gd name="adj" fmla="val 15385"/>
              </a:avLst>
            </a:prstGeom>
            <a:solidFill>
              <a:srgbClr val="E8EBF8"/>
            </a:solidFill>
            <a:ln>
              <a:noFill/>
            </a:ln>
          </p:spPr>
        </p:sp>
        <p:sp>
          <p:nvSpPr>
            <p:cNvPr id="24" name="TextBox 24"/>
            <p:cNvSpPr txBox="1"/>
            <p:nvPr/>
          </p:nvSpPr>
          <p:spPr>
            <a:xfrm>
              <a:off x="1989010" y="1312545"/>
              <a:ext cx="1584579"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筹备期：活动策划、人员准备</a:t>
              </a:r>
            </a:p>
          </p:txBody>
        </p:sp>
      </p:grpSp>
      <p:grpSp>
        <p:nvGrpSpPr>
          <p:cNvPr id="31" name="col-head-mid"/>
          <p:cNvGrpSpPr/>
          <p:nvPr/>
        </p:nvGrpSpPr>
        <p:grpSpPr>
          <a:xfrm>
            <a:off x="4429125" y="978218"/>
            <a:ext cx="4524375" cy="510539"/>
            <a:chOff x="4429125" y="978218"/>
            <a:chExt cx="4524375" cy="510539"/>
          </a:xfrm>
        </p:grpSpPr>
        <p:sp>
          <p:nvSpPr>
            <p:cNvPr id="26" name="Line 26"/>
            <p:cNvSpPr/>
            <p:nvPr/>
          </p:nvSpPr>
          <p:spPr>
            <a:xfrm>
              <a:off x="4429125" y="1066800"/>
              <a:ext cx="1809750" cy="9525"/>
            </a:xfrm>
            <a:custGeom>
              <a:avLst/>
              <a:gdLst/>
              <a:ahLst/>
              <a:cxnLst/>
              <a:rect l="l" t="t" r="r" b="b"/>
              <a:pathLst>
                <a:path w="1809750" h="9525">
                  <a:moveTo>
                    <a:pt x="0" y="0"/>
                  </a:moveTo>
                  <a:lnTo>
                    <a:pt x="1809750" y="0"/>
                  </a:lnTo>
                </a:path>
              </a:pathLst>
            </a:custGeom>
            <a:noFill/>
            <a:ln w="14288">
              <a:solidFill>
                <a:srgbClr val="F3BAB0"/>
              </a:solidFill>
              <a:prstDash val="dash"/>
            </a:ln>
          </p:spPr>
        </p:sp>
        <p:sp>
          <p:nvSpPr>
            <p:cNvPr id="27" name="TextBox 27"/>
            <p:cNvSpPr txBox="1"/>
            <p:nvPr/>
          </p:nvSpPr>
          <p:spPr>
            <a:xfrm>
              <a:off x="6407086" y="978218"/>
              <a:ext cx="558927" cy="264033"/>
            </a:xfrm>
            <a:prstGeom prst="rect">
              <a:avLst/>
            </a:prstGeom>
            <a:noFill/>
            <a:ln>
              <a:noFill/>
            </a:ln>
          </p:spPr>
          <p:txBody>
            <a:bodyPr wrap="none" lIns="0" tIns="0" rIns="0" bIns="0" anchor="t" anchorCtr="0">
              <a:spAutoFit/>
            </a:bodyPr>
            <a:lstStyle/>
            <a:p>
              <a:pPr algn="ctr"/>
              <a:r>
                <a:rPr lang="zh-CN" sz="1350" b="1" dirty="0">
                  <a:solidFill>
                    <a:srgbClr val="E8634C"/>
                  </a:solidFill>
                  <a:latin typeface="+mn-lt"/>
                  <a:ea typeface="+mn-ea"/>
                  <a:cs typeface="+mn-cs"/>
                </a:rPr>
                <a:t>直播中</a:t>
              </a:r>
            </a:p>
          </p:txBody>
        </p:sp>
        <p:sp>
          <p:nvSpPr>
            <p:cNvPr id="28" name="Line 28"/>
            <p:cNvSpPr/>
            <p:nvPr/>
          </p:nvSpPr>
          <p:spPr>
            <a:xfrm>
              <a:off x="7143750" y="1066800"/>
              <a:ext cx="1809750" cy="9525"/>
            </a:xfrm>
            <a:custGeom>
              <a:avLst/>
              <a:gdLst/>
              <a:ahLst/>
              <a:cxnLst/>
              <a:rect l="l" t="t" r="r" b="b"/>
              <a:pathLst>
                <a:path w="1809750" h="9525">
                  <a:moveTo>
                    <a:pt x="0" y="0"/>
                  </a:moveTo>
                  <a:lnTo>
                    <a:pt x="1809750" y="0"/>
                  </a:lnTo>
                </a:path>
              </a:pathLst>
            </a:custGeom>
            <a:noFill/>
            <a:ln w="14288">
              <a:solidFill>
                <a:srgbClr val="F3BAB0"/>
              </a:solidFill>
              <a:prstDash val="dash"/>
            </a:ln>
          </p:spPr>
        </p:sp>
        <p:sp>
          <p:nvSpPr>
            <p:cNvPr id="29" name="Rectangle 29"/>
            <p:cNvSpPr/>
            <p:nvPr/>
          </p:nvSpPr>
          <p:spPr>
            <a:xfrm>
              <a:off x="4429125" y="1238250"/>
              <a:ext cx="4524375" cy="247650"/>
            </a:xfrm>
            <a:prstGeom prst="roundRect">
              <a:avLst>
                <a:gd name="adj" fmla="val 15385"/>
              </a:avLst>
            </a:prstGeom>
            <a:solidFill>
              <a:srgbClr val="FDEDE8"/>
            </a:solidFill>
            <a:ln>
              <a:noFill/>
            </a:ln>
          </p:spPr>
        </p:sp>
        <p:sp>
          <p:nvSpPr>
            <p:cNvPr id="30" name="TextBox 30"/>
            <p:cNvSpPr txBox="1"/>
            <p:nvPr/>
          </p:nvSpPr>
          <p:spPr>
            <a:xfrm>
              <a:off x="5046154" y="1312545"/>
              <a:ext cx="328079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预热期：活动种草、引导促活；转化期：直播营销、收割转化</a:t>
              </a:r>
            </a:p>
          </p:txBody>
        </p:sp>
      </p:grpSp>
      <p:grpSp>
        <p:nvGrpSpPr>
          <p:cNvPr id="37" name="col-head-post"/>
          <p:cNvGrpSpPr/>
          <p:nvPr/>
        </p:nvGrpSpPr>
        <p:grpSpPr>
          <a:xfrm>
            <a:off x="9096375" y="978218"/>
            <a:ext cx="2714625" cy="510539"/>
            <a:chOff x="9096375" y="978218"/>
            <a:chExt cx="2714625" cy="510539"/>
          </a:xfrm>
        </p:grpSpPr>
        <p:sp>
          <p:nvSpPr>
            <p:cNvPr id="32" name="Line 32"/>
            <p:cNvSpPr/>
            <p:nvPr/>
          </p:nvSpPr>
          <p:spPr>
            <a:xfrm>
              <a:off x="9096375" y="1066800"/>
              <a:ext cx="952500" cy="9525"/>
            </a:xfrm>
            <a:custGeom>
              <a:avLst/>
              <a:gdLst/>
              <a:ahLst/>
              <a:cxnLst/>
              <a:rect l="l" t="t" r="r" b="b"/>
              <a:pathLst>
                <a:path w="952500" h="9525">
                  <a:moveTo>
                    <a:pt x="0" y="0"/>
                  </a:moveTo>
                  <a:lnTo>
                    <a:pt x="952500" y="0"/>
                  </a:lnTo>
                </a:path>
              </a:pathLst>
            </a:custGeom>
            <a:noFill/>
            <a:ln w="14288">
              <a:solidFill>
                <a:srgbClr val="ECC1B8"/>
              </a:solidFill>
              <a:prstDash val="dash"/>
            </a:ln>
          </p:spPr>
        </p:sp>
        <p:sp>
          <p:nvSpPr>
            <p:cNvPr id="33" name="TextBox 33"/>
            <p:cNvSpPr txBox="1"/>
            <p:nvPr/>
          </p:nvSpPr>
          <p:spPr>
            <a:xfrm>
              <a:off x="10169462" y="978218"/>
              <a:ext cx="558927" cy="264033"/>
            </a:xfrm>
            <a:prstGeom prst="rect">
              <a:avLst/>
            </a:prstGeom>
            <a:noFill/>
            <a:ln>
              <a:noFill/>
            </a:ln>
          </p:spPr>
          <p:txBody>
            <a:bodyPr wrap="none" lIns="0" tIns="0" rIns="0" bIns="0" anchor="t" anchorCtr="0">
              <a:spAutoFit/>
            </a:bodyPr>
            <a:lstStyle/>
            <a:p>
              <a:pPr algn="ctr"/>
              <a:r>
                <a:rPr lang="zh-CN" sz="1350" b="1" dirty="0">
                  <a:solidFill>
                    <a:srgbClr val="C45F4A"/>
                  </a:solidFill>
                  <a:latin typeface="+mn-lt"/>
                  <a:ea typeface="+mn-ea"/>
                  <a:cs typeface="+mn-cs"/>
                </a:rPr>
                <a:t>直播后</a:t>
              </a:r>
            </a:p>
          </p:txBody>
        </p:sp>
        <p:sp>
          <p:nvSpPr>
            <p:cNvPr id="34" name="Line 34"/>
            <p:cNvSpPr/>
            <p:nvPr/>
          </p:nvSpPr>
          <p:spPr>
            <a:xfrm>
              <a:off x="10858500" y="1066800"/>
              <a:ext cx="952500" cy="9525"/>
            </a:xfrm>
            <a:custGeom>
              <a:avLst/>
              <a:gdLst/>
              <a:ahLst/>
              <a:cxnLst/>
              <a:rect l="l" t="t" r="r" b="b"/>
              <a:pathLst>
                <a:path w="952500" h="9525">
                  <a:moveTo>
                    <a:pt x="0" y="0"/>
                  </a:moveTo>
                  <a:lnTo>
                    <a:pt x="952500" y="0"/>
                  </a:lnTo>
                </a:path>
              </a:pathLst>
            </a:custGeom>
            <a:noFill/>
            <a:ln w="14288">
              <a:solidFill>
                <a:srgbClr val="ECC1B8"/>
              </a:solidFill>
              <a:prstDash val="dash"/>
            </a:ln>
          </p:spPr>
        </p:sp>
        <p:sp>
          <p:nvSpPr>
            <p:cNvPr id="35" name="Rectangle 35"/>
            <p:cNvSpPr/>
            <p:nvPr/>
          </p:nvSpPr>
          <p:spPr>
            <a:xfrm>
              <a:off x="9096375" y="1238250"/>
              <a:ext cx="2714625" cy="247650"/>
            </a:xfrm>
            <a:prstGeom prst="roundRect">
              <a:avLst>
                <a:gd name="adj" fmla="val 15385"/>
              </a:avLst>
            </a:prstGeom>
            <a:solidFill>
              <a:srgbClr val="E8EBF8"/>
            </a:solidFill>
            <a:ln>
              <a:noFill/>
            </a:ln>
          </p:spPr>
        </p:sp>
        <p:sp>
          <p:nvSpPr>
            <p:cNvPr id="36" name="TextBox 36"/>
            <p:cNvSpPr txBox="1"/>
            <p:nvPr/>
          </p:nvSpPr>
          <p:spPr>
            <a:xfrm>
              <a:off x="9656636" y="1312545"/>
              <a:ext cx="1584579"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复盘期：活动复盘、沉淀积累</a:t>
              </a:r>
            </a:p>
          </p:txBody>
        </p:sp>
      </p:grpSp>
      <p:grpSp>
        <p:nvGrpSpPr>
          <p:cNvPr id="61" name="cell-ops-pre"/>
          <p:cNvGrpSpPr/>
          <p:nvPr/>
        </p:nvGrpSpPr>
        <p:grpSpPr>
          <a:xfrm>
            <a:off x="1285875" y="1638300"/>
            <a:ext cx="3000375" cy="2933700"/>
            <a:chOff x="1285875" y="1638300"/>
            <a:chExt cx="3000375" cy="2933700"/>
          </a:xfrm>
        </p:grpSpPr>
        <p:sp>
          <p:nvSpPr>
            <p:cNvPr id="38" name="Rectangle 38"/>
            <p:cNvSpPr/>
            <p:nvPr/>
          </p:nvSpPr>
          <p:spPr>
            <a:xfrm>
              <a:off x="1285875" y="1638300"/>
              <a:ext cx="3000375" cy="2933700"/>
            </a:xfrm>
            <a:prstGeom prst="roundRect">
              <a:avLst>
                <a:gd name="adj" fmla="val 1948"/>
              </a:avLst>
            </a:prstGeom>
            <a:solidFill>
              <a:srgbClr val="F7F8FD"/>
            </a:solidFill>
            <a:ln w="11430">
              <a:solidFill>
                <a:srgbClr val="E08C7B"/>
              </a:solidFill>
              <a:custDash>
                <a:ds d="416667" sp="250000"/>
              </a:custDash>
            </a:ln>
          </p:spPr>
        </p:sp>
        <p:sp>
          <p:nvSpPr>
            <p:cNvPr id="39" name="Rectangle 39"/>
            <p:cNvSpPr/>
            <p:nvPr/>
          </p:nvSpPr>
          <p:spPr>
            <a:xfrm>
              <a:off x="1428750" y="1752600"/>
              <a:ext cx="2714625" cy="209550"/>
            </a:xfrm>
            <a:prstGeom prst="roundRect">
              <a:avLst>
                <a:gd name="adj" fmla="val 13636"/>
              </a:avLst>
            </a:prstGeom>
            <a:solidFill>
              <a:srgbClr val="C45F4A"/>
            </a:solidFill>
            <a:ln>
              <a:noFill/>
            </a:ln>
          </p:spPr>
        </p:sp>
        <p:sp>
          <p:nvSpPr>
            <p:cNvPr id="40" name="TextBox 40"/>
            <p:cNvSpPr txBox="1"/>
            <p:nvPr/>
          </p:nvSpPr>
          <p:spPr>
            <a:xfrm>
              <a:off x="2512492" y="17997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目标制定</a:t>
              </a:r>
            </a:p>
          </p:txBody>
        </p:sp>
        <p:sp>
          <p:nvSpPr>
            <p:cNvPr id="41" name="TextBox 41"/>
            <p:cNvSpPr txBox="1"/>
            <p:nvPr/>
          </p:nvSpPr>
          <p:spPr>
            <a:xfrm>
              <a:off x="1672654" y="2063591"/>
              <a:ext cx="2217293" cy="161925"/>
            </a:xfrm>
            <a:prstGeom prst="rect">
              <a:avLst/>
            </a:prstGeom>
            <a:noFill/>
            <a:ln>
              <a:noFill/>
            </a:ln>
          </p:spPr>
          <p:txBody>
            <a:bodyPr wrap="none" lIns="0" tIns="0" rIns="0" bIns="0" anchor="t" anchorCtr="0">
              <a:spAutoFit/>
            </a:bodyPr>
            <a:lstStyle/>
            <a:p>
              <a:pPr algn="ctr"/>
              <a:r>
                <a:rPr lang="zh-CN" sz="820" dirty="0">
                  <a:solidFill>
                    <a:srgbClr val="543E3A"/>
                  </a:solidFill>
                  <a:latin typeface="+mn-lt"/>
                  <a:ea typeface="+mn-ea"/>
                  <a:cs typeface="+mn-cs"/>
                </a:rPr>
                <a:t>人群画像、转化、成果目标、直播、推广预算</a:t>
              </a:r>
            </a:p>
          </p:txBody>
        </p:sp>
        <p:sp>
          <p:nvSpPr>
            <p:cNvPr id="42" name="Rectangle 42"/>
            <p:cNvSpPr/>
            <p:nvPr/>
          </p:nvSpPr>
          <p:spPr>
            <a:xfrm>
              <a:off x="1428750" y="2286000"/>
              <a:ext cx="2714625" cy="209550"/>
            </a:xfrm>
            <a:prstGeom prst="roundRect">
              <a:avLst>
                <a:gd name="adj" fmla="val 13636"/>
              </a:avLst>
            </a:prstGeom>
            <a:solidFill>
              <a:srgbClr val="C45F4A"/>
            </a:solidFill>
            <a:ln>
              <a:noFill/>
            </a:ln>
          </p:spPr>
        </p:sp>
        <p:sp>
          <p:nvSpPr>
            <p:cNvPr id="43" name="TextBox 43"/>
            <p:cNvSpPr txBox="1"/>
            <p:nvPr/>
          </p:nvSpPr>
          <p:spPr>
            <a:xfrm>
              <a:off x="2512492" y="23331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团队组建</a:t>
              </a:r>
            </a:p>
          </p:txBody>
        </p:sp>
        <p:sp>
          <p:nvSpPr>
            <p:cNvPr id="44" name="Rectangle 44"/>
            <p:cNvSpPr/>
            <p:nvPr/>
          </p:nvSpPr>
          <p:spPr>
            <a:xfrm>
              <a:off x="1428750" y="2590800"/>
              <a:ext cx="419100" cy="400050"/>
            </a:xfrm>
            <a:prstGeom prst="roundRect">
              <a:avLst>
                <a:gd name="adj" fmla="val 7143"/>
              </a:avLst>
            </a:prstGeom>
            <a:solidFill>
              <a:srgbClr val="E08C7B"/>
            </a:solidFill>
            <a:ln>
              <a:noFill/>
            </a:ln>
          </p:spPr>
        </p:sp>
        <p:sp>
          <p:nvSpPr>
            <p:cNvPr id="45" name="TextBox 45"/>
            <p:cNvSpPr txBox="1"/>
            <p:nvPr/>
          </p:nvSpPr>
          <p:spPr>
            <a:xfrm>
              <a:off x="1533208" y="2667714"/>
              <a:ext cx="21018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FFFFFF"/>
                  </a:solidFill>
                  <a:latin typeface="+mn-lt"/>
                  <a:ea typeface="+mn-ea"/>
                  <a:cs typeface="+mn-cs"/>
                </a:rPr>
                <a:t>主播</a:t>
              </a:r>
              <a:br/>
              <a:r>
                <a:rPr lang="zh-CN" sz="790" b="1" dirty="0">
                  <a:solidFill>
                    <a:srgbClr val="FFFFFF"/>
                  </a:solidFill>
                  <a:latin typeface="+mn-lt"/>
                  <a:ea typeface="+mn-ea"/>
                  <a:cs typeface="+mn-cs"/>
                </a:rPr>
                <a:t>确定</a:t>
              </a:r>
            </a:p>
          </p:txBody>
        </p:sp>
        <p:sp>
          <p:nvSpPr>
            <p:cNvPr id="46" name="TextBox 46"/>
            <p:cNvSpPr txBox="1"/>
            <p:nvPr/>
          </p:nvSpPr>
          <p:spPr>
            <a:xfrm>
              <a:off x="1900238" y="2667714"/>
              <a:ext cx="666686"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主播/嘉宾筛选</a:t>
              </a:r>
              <a:br/>
              <a:r>
                <a:rPr lang="zh-CN" sz="790" dirty="0">
                  <a:solidFill>
                    <a:srgbClr val="543E3A"/>
                  </a:solidFill>
                  <a:latin typeface="+mn-lt"/>
                  <a:ea typeface="+mn-ea"/>
                  <a:cs typeface="+mn-cs"/>
                </a:rPr>
                <a:t>自主主播储备</a:t>
              </a:r>
            </a:p>
          </p:txBody>
        </p:sp>
        <p:sp>
          <p:nvSpPr>
            <p:cNvPr id="47" name="Rectangle 47"/>
            <p:cNvSpPr/>
            <p:nvPr/>
          </p:nvSpPr>
          <p:spPr>
            <a:xfrm>
              <a:off x="2819400" y="2590800"/>
              <a:ext cx="419100" cy="400050"/>
            </a:xfrm>
            <a:prstGeom prst="roundRect">
              <a:avLst>
                <a:gd name="adj" fmla="val 7143"/>
              </a:avLst>
            </a:prstGeom>
            <a:solidFill>
              <a:srgbClr val="E8705C"/>
            </a:solidFill>
            <a:ln>
              <a:noFill/>
            </a:ln>
          </p:spPr>
        </p:sp>
        <p:sp>
          <p:nvSpPr>
            <p:cNvPr id="48" name="TextBox 48"/>
            <p:cNvSpPr txBox="1"/>
            <p:nvPr/>
          </p:nvSpPr>
          <p:spPr>
            <a:xfrm>
              <a:off x="2923857" y="2667714"/>
              <a:ext cx="21018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FFFFFF"/>
                  </a:solidFill>
                  <a:latin typeface="+mn-lt"/>
                  <a:ea typeface="+mn-ea"/>
                  <a:cs typeface="+mn-cs"/>
                </a:rPr>
                <a:t>其他</a:t>
              </a:r>
              <a:br/>
              <a:r>
                <a:rPr lang="zh-CN" sz="790" b="1" dirty="0">
                  <a:solidFill>
                    <a:srgbClr val="FFFFFF"/>
                  </a:solidFill>
                  <a:latin typeface="+mn-lt"/>
                  <a:ea typeface="+mn-ea"/>
                  <a:cs typeface="+mn-cs"/>
                </a:rPr>
                <a:t>分工</a:t>
              </a:r>
            </a:p>
          </p:txBody>
        </p:sp>
        <p:sp>
          <p:nvSpPr>
            <p:cNvPr id="49" name="TextBox 49"/>
            <p:cNvSpPr txBox="1"/>
            <p:nvPr/>
          </p:nvSpPr>
          <p:spPr>
            <a:xfrm>
              <a:off x="3290888" y="2667714"/>
              <a:ext cx="666686"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运营人员/助理</a:t>
              </a:r>
              <a:br/>
              <a:r>
                <a:rPr lang="zh-CN" sz="790" dirty="0">
                  <a:solidFill>
                    <a:srgbClr val="543E3A"/>
                  </a:solidFill>
                  <a:latin typeface="+mn-lt"/>
                  <a:ea typeface="+mn-ea"/>
                  <a:cs typeface="+mn-cs"/>
                </a:rPr>
                <a:t>客服/售后</a:t>
              </a:r>
            </a:p>
          </p:txBody>
        </p:sp>
        <p:sp>
          <p:nvSpPr>
            <p:cNvPr id="50" name="Rectangle 50"/>
            <p:cNvSpPr/>
            <p:nvPr/>
          </p:nvSpPr>
          <p:spPr>
            <a:xfrm>
              <a:off x="1428750" y="3105150"/>
              <a:ext cx="2714625" cy="209550"/>
            </a:xfrm>
            <a:prstGeom prst="roundRect">
              <a:avLst>
                <a:gd name="adj" fmla="val 13636"/>
              </a:avLst>
            </a:prstGeom>
            <a:solidFill>
              <a:srgbClr val="C45F4A"/>
            </a:solidFill>
            <a:ln>
              <a:noFill/>
            </a:ln>
          </p:spPr>
        </p:sp>
        <p:sp>
          <p:nvSpPr>
            <p:cNvPr id="51" name="TextBox 51"/>
            <p:cNvSpPr txBox="1"/>
            <p:nvPr/>
          </p:nvSpPr>
          <p:spPr>
            <a:xfrm>
              <a:off x="2512492" y="31522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准备工序</a:t>
              </a:r>
            </a:p>
          </p:txBody>
        </p:sp>
        <p:sp>
          <p:nvSpPr>
            <p:cNvPr id="52" name="Rectangle 52"/>
            <p:cNvSpPr/>
            <p:nvPr/>
          </p:nvSpPr>
          <p:spPr>
            <a:xfrm>
              <a:off x="1428750" y="3429000"/>
              <a:ext cx="476250" cy="180975"/>
            </a:xfrm>
            <a:prstGeom prst="roundRect">
              <a:avLst>
                <a:gd name="adj" fmla="val 15789"/>
              </a:avLst>
            </a:prstGeom>
            <a:solidFill>
              <a:srgbClr val="E08C7B"/>
            </a:solidFill>
            <a:ln>
              <a:noFill/>
            </a:ln>
          </p:spPr>
        </p:sp>
        <p:sp>
          <p:nvSpPr>
            <p:cNvPr id="53" name="TextBox 53"/>
            <p:cNvSpPr txBox="1"/>
            <p:nvPr/>
          </p:nvSpPr>
          <p:spPr>
            <a:xfrm>
              <a:off x="1497270" y="3477339"/>
              <a:ext cx="339209"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流程1​</a:t>
              </a:r>
            </a:p>
          </p:txBody>
        </p:sp>
        <p:sp>
          <p:nvSpPr>
            <p:cNvPr id="54" name="TextBox 54"/>
            <p:cNvSpPr txBox="1"/>
            <p:nvPr/>
          </p:nvSpPr>
          <p:spPr>
            <a:xfrm>
              <a:off x="2014538" y="3473291"/>
              <a:ext cx="1223797" cy="161925"/>
            </a:xfrm>
            <a:prstGeom prst="rect">
              <a:avLst/>
            </a:prstGeom>
            <a:noFill/>
            <a:ln>
              <a:noFill/>
            </a:ln>
          </p:spPr>
          <p:txBody>
            <a:bodyPr wrap="none" lIns="0" tIns="0" rIns="0" bIns="0" anchor="t" anchorCtr="0">
              <a:spAutoFit/>
            </a:bodyPr>
            <a:lstStyle/>
            <a:p>
              <a:pPr algn="l"/>
              <a:r>
                <a:rPr lang="zh-CN" sz="820" dirty="0">
                  <a:solidFill>
                    <a:srgbClr val="543E3A"/>
                  </a:solidFill>
                  <a:latin typeface="+mn-lt"/>
                  <a:ea typeface="+mn-ea"/>
                  <a:cs typeface="+mn-cs"/>
                </a:rPr>
                <a:t>直播、互动、福利、促单</a:t>
              </a:r>
            </a:p>
          </p:txBody>
        </p:sp>
        <p:sp>
          <p:nvSpPr>
            <p:cNvPr id="55" name="Rectangle 55"/>
            <p:cNvSpPr/>
            <p:nvPr/>
          </p:nvSpPr>
          <p:spPr>
            <a:xfrm>
              <a:off x="1428750" y="3714750"/>
              <a:ext cx="476250" cy="180975"/>
            </a:xfrm>
            <a:prstGeom prst="roundRect">
              <a:avLst>
                <a:gd name="adj" fmla="val 15789"/>
              </a:avLst>
            </a:prstGeom>
            <a:solidFill>
              <a:srgbClr val="E08C7B"/>
            </a:solidFill>
            <a:ln>
              <a:noFill/>
            </a:ln>
          </p:spPr>
        </p:sp>
        <p:sp>
          <p:nvSpPr>
            <p:cNvPr id="56" name="TextBox 56"/>
            <p:cNvSpPr txBox="1"/>
            <p:nvPr/>
          </p:nvSpPr>
          <p:spPr>
            <a:xfrm>
              <a:off x="1497270" y="3763089"/>
              <a:ext cx="339209"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流程2​</a:t>
              </a:r>
            </a:p>
          </p:txBody>
        </p:sp>
        <p:sp>
          <p:nvSpPr>
            <p:cNvPr id="57" name="TextBox 57"/>
            <p:cNvSpPr txBox="1"/>
            <p:nvPr/>
          </p:nvSpPr>
          <p:spPr>
            <a:xfrm>
              <a:off x="2014538" y="3759041"/>
              <a:ext cx="1554963" cy="161925"/>
            </a:xfrm>
            <a:prstGeom prst="rect">
              <a:avLst/>
            </a:prstGeom>
            <a:noFill/>
            <a:ln>
              <a:noFill/>
            </a:ln>
          </p:spPr>
          <p:txBody>
            <a:bodyPr wrap="none" lIns="0" tIns="0" rIns="0" bIns="0" anchor="t" anchorCtr="0">
              <a:spAutoFit/>
            </a:bodyPr>
            <a:lstStyle/>
            <a:p>
              <a:pPr algn="l"/>
              <a:r>
                <a:rPr lang="zh-CN" sz="820" dirty="0">
                  <a:solidFill>
                    <a:srgbClr val="543E3A"/>
                  </a:solidFill>
                  <a:latin typeface="+mn-lt"/>
                  <a:ea typeface="+mn-ea"/>
                  <a:cs typeface="+mn-cs"/>
                </a:rPr>
                <a:t>场地、演播厅、服务商、软硬件</a:t>
              </a:r>
            </a:p>
          </p:txBody>
        </p:sp>
        <p:sp>
          <p:nvSpPr>
            <p:cNvPr id="58" name="Rectangle 58"/>
            <p:cNvSpPr/>
            <p:nvPr/>
          </p:nvSpPr>
          <p:spPr>
            <a:xfrm>
              <a:off x="1428750" y="4000500"/>
              <a:ext cx="476250" cy="180975"/>
            </a:xfrm>
            <a:prstGeom prst="roundRect">
              <a:avLst>
                <a:gd name="adj" fmla="val 15789"/>
              </a:avLst>
            </a:prstGeom>
            <a:solidFill>
              <a:srgbClr val="E08C7B"/>
            </a:solidFill>
            <a:ln>
              <a:noFill/>
            </a:ln>
          </p:spPr>
        </p:sp>
        <p:sp>
          <p:nvSpPr>
            <p:cNvPr id="59" name="TextBox 59"/>
            <p:cNvSpPr txBox="1"/>
            <p:nvPr/>
          </p:nvSpPr>
          <p:spPr>
            <a:xfrm>
              <a:off x="1497270" y="4048839"/>
              <a:ext cx="339209"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流程3​</a:t>
              </a:r>
            </a:p>
          </p:txBody>
        </p:sp>
        <p:sp>
          <p:nvSpPr>
            <p:cNvPr id="60" name="TextBox 60"/>
            <p:cNvSpPr txBox="1"/>
            <p:nvPr/>
          </p:nvSpPr>
          <p:spPr>
            <a:xfrm>
              <a:off x="2014538" y="4044791"/>
              <a:ext cx="1665351" cy="161925"/>
            </a:xfrm>
            <a:prstGeom prst="rect">
              <a:avLst/>
            </a:prstGeom>
            <a:noFill/>
            <a:ln>
              <a:noFill/>
            </a:ln>
          </p:spPr>
          <p:txBody>
            <a:bodyPr wrap="none" lIns="0" tIns="0" rIns="0" bIns="0" anchor="t" anchorCtr="0">
              <a:spAutoFit/>
            </a:bodyPr>
            <a:lstStyle/>
            <a:p>
              <a:pPr algn="l"/>
              <a:r>
                <a:rPr lang="zh-CN" sz="820" dirty="0">
                  <a:solidFill>
                    <a:srgbClr val="543E3A"/>
                  </a:solidFill>
                  <a:latin typeface="+mn-lt"/>
                  <a:ea typeface="+mn-ea"/>
                  <a:cs typeface="+mn-cs"/>
                </a:rPr>
                <a:t>彩排、网络、设备测试、流程预演</a:t>
              </a:r>
            </a:p>
          </p:txBody>
        </p:sp>
      </p:grpSp>
      <p:grpSp>
        <p:nvGrpSpPr>
          <p:cNvPr id="91" name="cell-ops-mid"/>
          <p:cNvGrpSpPr/>
          <p:nvPr/>
        </p:nvGrpSpPr>
        <p:grpSpPr>
          <a:xfrm>
            <a:off x="4429125" y="1638300"/>
            <a:ext cx="4524375" cy="2933700"/>
            <a:chOff x="4429125" y="1638300"/>
            <a:chExt cx="4524375" cy="2933700"/>
          </a:xfrm>
        </p:grpSpPr>
        <p:sp>
          <p:nvSpPr>
            <p:cNvPr id="62" name="Rectangle 62"/>
            <p:cNvSpPr/>
            <p:nvPr/>
          </p:nvSpPr>
          <p:spPr>
            <a:xfrm>
              <a:off x="4429125" y="1638300"/>
              <a:ext cx="4524375" cy="2933700"/>
            </a:xfrm>
            <a:prstGeom prst="roundRect">
              <a:avLst>
                <a:gd name="adj" fmla="val 1948"/>
              </a:avLst>
            </a:prstGeom>
            <a:solidFill>
              <a:srgbClr val="FFF8F5"/>
            </a:solidFill>
            <a:ln w="11430">
              <a:solidFill>
                <a:srgbClr val="F07E6A"/>
              </a:solidFill>
              <a:custDash>
                <a:ds d="416667" sp="250000"/>
              </a:custDash>
            </a:ln>
          </p:spPr>
        </p:sp>
        <p:sp>
          <p:nvSpPr>
            <p:cNvPr id="63" name="Rectangle 63"/>
            <p:cNvSpPr/>
            <p:nvPr/>
          </p:nvSpPr>
          <p:spPr>
            <a:xfrm>
              <a:off x="5029200" y="1733550"/>
              <a:ext cx="571500" cy="571500"/>
            </a:xfrm>
            <a:prstGeom prst="roundRect">
              <a:avLst>
                <a:gd name="adj" fmla="val 10000"/>
              </a:avLst>
            </a:prstGeom>
            <a:solidFill>
              <a:srgbClr val="FFFFFF"/>
            </a:solidFill>
            <a:ln w="9525">
              <a:solidFill>
                <a:srgbClr val="D8DEF2"/>
              </a:solidFill>
            </a:ln>
          </p:spPr>
        </p:sp>
        <p:grpSp>
          <p:nvGrpSpPr>
            <p:cNvPr id="68" name="Group 68"/>
            <p:cNvGrpSpPr/>
            <p:nvPr/>
          </p:nvGrpSpPr>
          <p:grpSpPr>
            <a:xfrm>
              <a:off x="5192712" y="1879600"/>
              <a:ext cx="261938" cy="296862"/>
              <a:chOff x="5192712" y="1879600"/>
              <a:chExt cx="261938" cy="296862"/>
            </a:xfrm>
          </p:grpSpPr>
          <p:sp>
            <p:nvSpPr>
              <p:cNvPr id="64" name="Freeform 64"/>
              <p:cNvSpPr/>
              <p:nvPr/>
            </p:nvSpPr>
            <p:spPr>
              <a:xfrm>
                <a:off x="5192712" y="1879600"/>
                <a:ext cx="209550" cy="279399"/>
              </a:xfrm>
              <a:custGeom>
                <a:avLst/>
                <a:gdLst/>
                <a:ahLst/>
                <a:cxnLst/>
                <a:rect l="l" t="t" r="r" b="b"/>
                <a:pathLst>
                  <a:path w="209550" h="279399">
                    <a:moveTo>
                      <a:pt x="80589" y="279399"/>
                    </a:moveTo>
                    <a:lnTo>
                      <a:pt x="34925" y="279399"/>
                    </a:lnTo>
                    <a:cubicBezTo>
                      <a:pt x="15636" y="279399"/>
                      <a:pt x="0" y="263763"/>
                      <a:pt x="0" y="244475"/>
                    </a:cubicBezTo>
                    <a:lnTo>
                      <a:pt x="0" y="34925"/>
                    </a:lnTo>
                    <a:cubicBezTo>
                      <a:pt x="0" y="15636"/>
                      <a:pt x="15636" y="0"/>
                      <a:pt x="34925" y="0"/>
                    </a:cubicBezTo>
                    <a:lnTo>
                      <a:pt x="174625" y="0"/>
                    </a:lnTo>
                    <a:cubicBezTo>
                      <a:pt x="193913" y="0"/>
                      <a:pt x="209550" y="15636"/>
                      <a:pt x="209550" y="34925"/>
                    </a:cubicBezTo>
                    <a:lnTo>
                      <a:pt x="209550" y="174625"/>
                    </a:lnTo>
                  </a:path>
                </a:pathLst>
              </a:custGeom>
              <a:noFill/>
              <a:ln w="34925">
                <a:solidFill>
                  <a:srgbClr val="C46D5B"/>
                </a:solidFill>
              </a:ln>
            </p:spPr>
          </p:sp>
          <p:sp>
            <p:nvSpPr>
              <p:cNvPr id="65" name="Freeform 65"/>
              <p:cNvSpPr/>
              <p:nvPr/>
            </p:nvSpPr>
            <p:spPr>
              <a:xfrm>
                <a:off x="5349875" y="2106612"/>
                <a:ext cx="104775" cy="69850"/>
              </a:xfrm>
              <a:custGeom>
                <a:avLst/>
                <a:gdLst/>
                <a:ahLst/>
                <a:cxnLst/>
                <a:rect l="l" t="t" r="r" b="b"/>
                <a:pathLst>
                  <a:path w="104775" h="69850">
                    <a:moveTo>
                      <a:pt x="0" y="34925"/>
                    </a:moveTo>
                    <a:lnTo>
                      <a:pt x="34925" y="69850"/>
                    </a:lnTo>
                    <a:lnTo>
                      <a:pt x="104775" y="0"/>
                    </a:lnTo>
                  </a:path>
                </a:pathLst>
              </a:custGeom>
              <a:noFill/>
              <a:ln w="34925">
                <a:solidFill>
                  <a:srgbClr val="C46D5B"/>
                </a:solidFill>
              </a:ln>
            </p:spPr>
          </p:sp>
          <p:sp>
            <p:nvSpPr>
              <p:cNvPr id="66" name="Freeform 66"/>
              <p:cNvSpPr/>
              <p:nvPr/>
            </p:nvSpPr>
            <p:spPr>
              <a:xfrm>
                <a:off x="5262562" y="1949450"/>
                <a:ext cx="69850" cy="9525"/>
              </a:xfrm>
              <a:custGeom>
                <a:avLst/>
                <a:gdLst/>
                <a:ahLst/>
                <a:cxnLst/>
                <a:rect l="l" t="t" r="r" b="b"/>
                <a:pathLst>
                  <a:path w="69850" h="9525">
                    <a:moveTo>
                      <a:pt x="0" y="0"/>
                    </a:moveTo>
                    <a:lnTo>
                      <a:pt x="69850" y="0"/>
                    </a:lnTo>
                  </a:path>
                </a:pathLst>
              </a:custGeom>
              <a:noFill/>
              <a:ln w="34925">
                <a:solidFill>
                  <a:srgbClr val="C46D5B"/>
                </a:solidFill>
              </a:ln>
            </p:spPr>
          </p:sp>
          <p:sp>
            <p:nvSpPr>
              <p:cNvPr id="67" name="Freeform 67"/>
              <p:cNvSpPr/>
              <p:nvPr/>
            </p:nvSpPr>
            <p:spPr>
              <a:xfrm>
                <a:off x="5262562" y="2019300"/>
                <a:ext cx="34925" cy="9525"/>
              </a:xfrm>
              <a:custGeom>
                <a:avLst/>
                <a:gdLst/>
                <a:ahLst/>
                <a:cxnLst/>
                <a:rect l="l" t="t" r="r" b="b"/>
                <a:pathLst>
                  <a:path w="34925" h="9525">
                    <a:moveTo>
                      <a:pt x="0" y="0"/>
                    </a:moveTo>
                    <a:lnTo>
                      <a:pt x="34925" y="0"/>
                    </a:lnTo>
                  </a:path>
                </a:pathLst>
              </a:custGeom>
              <a:noFill/>
              <a:ln w="34925">
                <a:solidFill>
                  <a:srgbClr val="C46D5B"/>
                </a:solidFill>
              </a:ln>
            </p:spPr>
          </p:sp>
        </p:grpSp>
        <p:sp>
          <p:nvSpPr>
            <p:cNvPr id="69" name="Rectangle 69"/>
            <p:cNvSpPr/>
            <p:nvPr/>
          </p:nvSpPr>
          <p:spPr>
            <a:xfrm>
              <a:off x="4552950" y="2400300"/>
              <a:ext cx="1524000" cy="209550"/>
            </a:xfrm>
            <a:prstGeom prst="roundRect">
              <a:avLst>
                <a:gd name="adj" fmla="val 13636"/>
              </a:avLst>
            </a:prstGeom>
            <a:solidFill>
              <a:srgbClr val="E8634C"/>
            </a:solidFill>
            <a:ln>
              <a:noFill/>
            </a:ln>
          </p:spPr>
        </p:sp>
        <p:sp>
          <p:nvSpPr>
            <p:cNvPr id="70" name="TextBox 70"/>
            <p:cNvSpPr txBox="1"/>
            <p:nvPr/>
          </p:nvSpPr>
          <p:spPr>
            <a:xfrm>
              <a:off x="5046142" y="24474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营销推广</a:t>
              </a:r>
            </a:p>
          </p:txBody>
        </p:sp>
        <p:sp>
          <p:nvSpPr>
            <p:cNvPr id="71" name="Rectangle 71"/>
            <p:cNvSpPr/>
            <p:nvPr/>
          </p:nvSpPr>
          <p:spPr>
            <a:xfrm>
              <a:off x="4552950" y="2705100"/>
              <a:ext cx="1524000" cy="571500"/>
            </a:xfrm>
            <a:prstGeom prst="roundRect">
              <a:avLst>
                <a:gd name="adj" fmla="val 6667"/>
              </a:avLst>
            </a:prstGeom>
            <a:solidFill>
              <a:srgbClr val="FFFFFF"/>
            </a:solidFill>
            <a:ln w="9525">
              <a:solidFill>
                <a:srgbClr val="F3BAB0"/>
              </a:solidFill>
            </a:ln>
          </p:spPr>
        </p:sp>
        <p:sp>
          <p:nvSpPr>
            <p:cNvPr id="72" name="TextBox 72"/>
            <p:cNvSpPr txBox="1"/>
            <p:nvPr/>
          </p:nvSpPr>
          <p:spPr>
            <a:xfrm>
              <a:off x="5007292" y="2788920"/>
              <a:ext cx="615315"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企业流量池</a:t>
              </a:r>
            </a:p>
          </p:txBody>
        </p:sp>
        <p:sp>
          <p:nvSpPr>
            <p:cNvPr id="73" name="TextBox 73"/>
            <p:cNvSpPr txBox="1"/>
            <p:nvPr/>
          </p:nvSpPr>
          <p:spPr>
            <a:xfrm>
              <a:off x="4908868" y="2962989"/>
              <a:ext cx="812165"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543E3A"/>
                  </a:solidFill>
                  <a:latin typeface="+mn-lt"/>
                  <a:ea typeface="+mn-ea"/>
                  <a:cs typeface="+mn-cs"/>
                </a:rPr>
                <a:t>短信、邮件、官网</a:t>
              </a:r>
              <a:br/>
              <a:r>
                <a:rPr lang="zh-CN" sz="790" dirty="0">
                  <a:solidFill>
                    <a:srgbClr val="543E3A"/>
                  </a:solidFill>
                  <a:latin typeface="+mn-lt"/>
                  <a:ea typeface="+mn-ea"/>
                  <a:cs typeface="+mn-cs"/>
                </a:rPr>
                <a:t>广告、公众号</a:t>
              </a:r>
            </a:p>
          </p:txBody>
        </p:sp>
        <p:sp>
          <p:nvSpPr>
            <p:cNvPr id="74" name="Rectangle 74"/>
            <p:cNvSpPr/>
            <p:nvPr/>
          </p:nvSpPr>
          <p:spPr>
            <a:xfrm>
              <a:off x="4552950" y="3371850"/>
              <a:ext cx="1524000" cy="476250"/>
            </a:xfrm>
            <a:prstGeom prst="roundRect">
              <a:avLst>
                <a:gd name="adj" fmla="val 8000"/>
              </a:avLst>
            </a:prstGeom>
            <a:solidFill>
              <a:srgbClr val="FFFFFF"/>
            </a:solidFill>
            <a:ln w="9525">
              <a:solidFill>
                <a:srgbClr val="F3BAB0"/>
              </a:solidFill>
            </a:ln>
          </p:spPr>
        </p:sp>
        <p:sp>
          <p:nvSpPr>
            <p:cNvPr id="75" name="TextBox 75"/>
            <p:cNvSpPr txBox="1"/>
            <p:nvPr/>
          </p:nvSpPr>
          <p:spPr>
            <a:xfrm>
              <a:off x="5007292" y="3455670"/>
              <a:ext cx="615315"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异业换流量</a:t>
              </a:r>
            </a:p>
          </p:txBody>
        </p:sp>
        <p:sp>
          <p:nvSpPr>
            <p:cNvPr id="76" name="TextBox 76"/>
            <p:cNvSpPr txBox="1"/>
            <p:nvPr/>
          </p:nvSpPr>
          <p:spPr>
            <a:xfrm>
              <a:off x="4991138" y="3648789"/>
              <a:ext cx="6476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资源互换导流</a:t>
              </a:r>
            </a:p>
          </p:txBody>
        </p:sp>
        <p:sp>
          <p:nvSpPr>
            <p:cNvPr id="77" name="Line 77"/>
            <p:cNvSpPr/>
            <p:nvPr/>
          </p:nvSpPr>
          <p:spPr>
            <a:xfrm flipV="1">
              <a:off x="6210300" y="1809750"/>
              <a:ext cx="1" cy="1238250"/>
            </a:xfrm>
            <a:prstGeom prst="line">
              <a:avLst/>
            </a:prstGeom>
            <a:noFill/>
            <a:ln w="14288">
              <a:solidFill>
                <a:srgbClr val="E08C7B"/>
              </a:solidFill>
              <a:tailEnd type="triangle" w="lg" len="lg"/>
            </a:ln>
          </p:spPr>
        </p:sp>
        <p:sp>
          <p:nvSpPr>
            <p:cNvPr id="78" name="Line 78"/>
            <p:cNvSpPr/>
            <p:nvPr/>
          </p:nvSpPr>
          <p:spPr>
            <a:xfrm>
              <a:off x="6210300" y="3048000"/>
              <a:ext cx="1" cy="1390650"/>
            </a:xfrm>
            <a:prstGeom prst="line">
              <a:avLst/>
            </a:prstGeom>
            <a:noFill/>
            <a:ln w="14288">
              <a:solidFill>
                <a:srgbClr val="E08C7B"/>
              </a:solidFill>
              <a:tailEnd type="triangle" w="lg" len="lg"/>
            </a:ln>
          </p:spPr>
        </p:sp>
        <p:sp>
          <p:nvSpPr>
            <p:cNvPr id="79" name="Rectangle 79"/>
            <p:cNvSpPr/>
            <p:nvPr/>
          </p:nvSpPr>
          <p:spPr>
            <a:xfrm>
              <a:off x="6334125" y="1714500"/>
              <a:ext cx="2505075" cy="495300"/>
            </a:xfrm>
            <a:prstGeom prst="roundRect">
              <a:avLst>
                <a:gd name="adj" fmla="val 7692"/>
              </a:avLst>
            </a:prstGeom>
            <a:solidFill>
              <a:srgbClr val="FFFFFF"/>
            </a:solidFill>
            <a:ln w="9525">
              <a:solidFill>
                <a:srgbClr val="F3BAB0"/>
              </a:solidFill>
            </a:ln>
          </p:spPr>
        </p:sp>
        <p:sp>
          <p:nvSpPr>
            <p:cNvPr id="80" name="TextBox 80"/>
            <p:cNvSpPr txBox="1"/>
            <p:nvPr/>
          </p:nvSpPr>
          <p:spPr>
            <a:xfrm>
              <a:off x="7334821" y="1798320"/>
              <a:ext cx="494157"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暖场环节</a:t>
              </a:r>
            </a:p>
          </p:txBody>
        </p:sp>
        <p:sp>
          <p:nvSpPr>
            <p:cNvPr id="81" name="TextBox 81"/>
            <p:cNvSpPr txBox="1"/>
            <p:nvPr/>
          </p:nvSpPr>
          <p:spPr>
            <a:xfrm>
              <a:off x="6726339" y="2010489"/>
              <a:ext cx="1711122"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互动游戏、限时福利、助手引导抢券</a:t>
              </a:r>
            </a:p>
          </p:txBody>
        </p:sp>
        <p:sp>
          <p:nvSpPr>
            <p:cNvPr id="82" name="Rectangle 82"/>
            <p:cNvSpPr/>
            <p:nvPr/>
          </p:nvSpPr>
          <p:spPr>
            <a:xfrm>
              <a:off x="6334125" y="2286000"/>
              <a:ext cx="2505075" cy="723900"/>
            </a:xfrm>
            <a:prstGeom prst="roundRect">
              <a:avLst>
                <a:gd name="adj" fmla="val 5263"/>
              </a:avLst>
            </a:prstGeom>
            <a:solidFill>
              <a:srgbClr val="FFFFFF"/>
            </a:solidFill>
            <a:ln w="9525">
              <a:solidFill>
                <a:srgbClr val="F3BAB0"/>
              </a:solidFill>
            </a:ln>
          </p:spPr>
        </p:sp>
        <p:sp>
          <p:nvSpPr>
            <p:cNvPr id="83" name="TextBox 83"/>
            <p:cNvSpPr txBox="1"/>
            <p:nvPr/>
          </p:nvSpPr>
          <p:spPr>
            <a:xfrm>
              <a:off x="7334821" y="2369820"/>
              <a:ext cx="494157"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播前预热</a:t>
              </a:r>
            </a:p>
          </p:txBody>
        </p:sp>
        <p:sp>
          <p:nvSpPr>
            <p:cNvPr id="84" name="TextBox 84"/>
            <p:cNvSpPr txBox="1"/>
            <p:nvPr/>
          </p:nvSpPr>
          <p:spPr>
            <a:xfrm>
              <a:off x="6573838" y="2562939"/>
              <a:ext cx="2016125" cy="421481"/>
            </a:xfrm>
            <a:prstGeom prst="rect">
              <a:avLst/>
            </a:prstGeom>
            <a:noFill/>
            <a:ln>
              <a:noFill/>
            </a:ln>
          </p:spPr>
          <p:txBody>
            <a:bodyPr wrap="none" lIns="0" tIns="0" rIns="0" bIns="0" anchor="t" anchorCtr="0">
              <a:spAutoFit/>
            </a:bodyPr>
            <a:lstStyle/>
            <a:p>
              <a:pPr algn="ctr">
                <a:lnSpc>
                  <a:spcPts val="1050"/>
                </a:lnSpc>
              </a:pPr>
              <a:r>
                <a:rPr lang="zh-CN" sz="790" dirty="0">
                  <a:solidFill>
                    <a:srgbClr val="543E3A"/>
                  </a:solidFill>
                  <a:latin typeface="+mn-lt"/>
                  <a:ea typeface="+mn-ea"/>
                  <a:cs typeface="+mn-cs"/>
                </a:rPr>
                <a:t>短视频、活动长图、云发布会、品牌直播日、</a:t>
              </a:r>
              <a:br/>
              <a:r>
                <a:rPr lang="zh-CN" sz="790" dirty="0">
                  <a:solidFill>
                    <a:srgbClr val="543E3A"/>
                  </a:solidFill>
                  <a:latin typeface="+mn-lt"/>
                  <a:ea typeface="+mn-ea"/>
                  <a:cs typeface="+mn-cs"/>
                </a:rPr>
                <a:t>爆款link、内容营销、商品展示、主播试播、</a:t>
              </a:r>
              <a:br/>
              <a:r>
                <a:rPr lang="zh-CN" sz="790" dirty="0">
                  <a:solidFill>
                    <a:srgbClr val="543E3A"/>
                  </a:solidFill>
                  <a:latin typeface="+mn-lt"/>
                  <a:ea typeface="+mn-ea"/>
                  <a:cs typeface="+mn-cs"/>
                </a:rPr>
                <a:t>产品试用报名</a:t>
              </a:r>
            </a:p>
          </p:txBody>
        </p:sp>
        <p:sp>
          <p:nvSpPr>
            <p:cNvPr id="85" name="Rectangle 85"/>
            <p:cNvSpPr/>
            <p:nvPr/>
          </p:nvSpPr>
          <p:spPr>
            <a:xfrm>
              <a:off x="6334125" y="3086100"/>
              <a:ext cx="2505075" cy="495300"/>
            </a:xfrm>
            <a:prstGeom prst="roundRect">
              <a:avLst>
                <a:gd name="adj" fmla="val 7692"/>
              </a:avLst>
            </a:prstGeom>
            <a:solidFill>
              <a:srgbClr val="FFFFFF"/>
            </a:solidFill>
            <a:ln w="9525">
              <a:solidFill>
                <a:srgbClr val="F3BAB0"/>
              </a:solidFill>
            </a:ln>
          </p:spPr>
        </p:sp>
        <p:sp>
          <p:nvSpPr>
            <p:cNvPr id="86" name="TextBox 86"/>
            <p:cNvSpPr txBox="1"/>
            <p:nvPr/>
          </p:nvSpPr>
          <p:spPr>
            <a:xfrm>
              <a:off x="7153084" y="3169920"/>
              <a:ext cx="857631"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线上社群造流量</a:t>
              </a:r>
            </a:p>
          </p:txBody>
        </p:sp>
        <p:sp>
          <p:nvSpPr>
            <p:cNvPr id="87" name="TextBox 87"/>
            <p:cNvSpPr txBox="1"/>
            <p:nvPr/>
          </p:nvSpPr>
          <p:spPr>
            <a:xfrm>
              <a:off x="7098563" y="3382089"/>
              <a:ext cx="966673"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自有社群、外部社群</a:t>
              </a:r>
            </a:p>
          </p:txBody>
        </p:sp>
        <p:sp>
          <p:nvSpPr>
            <p:cNvPr id="88" name="Rectangle 88"/>
            <p:cNvSpPr/>
            <p:nvPr/>
          </p:nvSpPr>
          <p:spPr>
            <a:xfrm>
              <a:off x="6334125" y="3657600"/>
              <a:ext cx="2505075" cy="495300"/>
            </a:xfrm>
            <a:prstGeom prst="roundRect">
              <a:avLst>
                <a:gd name="adj" fmla="val 7692"/>
              </a:avLst>
            </a:prstGeom>
            <a:solidFill>
              <a:srgbClr val="FFFFFF"/>
            </a:solidFill>
            <a:ln w="9525">
              <a:solidFill>
                <a:srgbClr val="F3BAB0"/>
              </a:solidFill>
            </a:ln>
          </p:spPr>
        </p:sp>
        <p:sp>
          <p:nvSpPr>
            <p:cNvPr id="89" name="TextBox 89"/>
            <p:cNvSpPr txBox="1"/>
            <p:nvPr/>
          </p:nvSpPr>
          <p:spPr>
            <a:xfrm>
              <a:off x="7274242" y="3741420"/>
              <a:ext cx="615315"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渠道买流量</a:t>
              </a:r>
            </a:p>
          </p:txBody>
        </p:sp>
        <p:sp>
          <p:nvSpPr>
            <p:cNvPr id="90" name="TextBox 90"/>
            <p:cNvSpPr txBox="1"/>
            <p:nvPr/>
          </p:nvSpPr>
          <p:spPr>
            <a:xfrm>
              <a:off x="6755084" y="3953589"/>
              <a:ext cx="1653633"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站外投放、信息流、KOL、SEO等​</a:t>
              </a:r>
            </a:p>
          </p:txBody>
        </p:sp>
      </p:grpSp>
      <p:grpSp>
        <p:nvGrpSpPr>
          <p:cNvPr id="105" name="cell-ops-post"/>
          <p:cNvGrpSpPr/>
          <p:nvPr/>
        </p:nvGrpSpPr>
        <p:grpSpPr>
          <a:xfrm>
            <a:off x="9096375" y="1638300"/>
            <a:ext cx="2714625" cy="2933700"/>
            <a:chOff x="9096375" y="1638300"/>
            <a:chExt cx="2714625" cy="2933700"/>
          </a:xfrm>
        </p:grpSpPr>
        <p:sp>
          <p:nvSpPr>
            <p:cNvPr id="92" name="Rectangle 92"/>
            <p:cNvSpPr/>
            <p:nvPr/>
          </p:nvSpPr>
          <p:spPr>
            <a:xfrm>
              <a:off x="9096375" y="1638300"/>
              <a:ext cx="2714625" cy="2933700"/>
            </a:xfrm>
            <a:prstGeom prst="roundRect">
              <a:avLst>
                <a:gd name="adj" fmla="val 2105"/>
              </a:avLst>
            </a:prstGeom>
            <a:solidFill>
              <a:srgbClr val="F7F8FD"/>
            </a:solidFill>
            <a:ln w="11430">
              <a:solidFill>
                <a:srgbClr val="E08C7B"/>
              </a:solidFill>
              <a:custDash>
                <a:ds d="416667" sp="250000"/>
              </a:custDash>
            </a:ln>
          </p:spPr>
        </p:sp>
        <p:sp>
          <p:nvSpPr>
            <p:cNvPr id="93" name="Rectangle 93"/>
            <p:cNvSpPr/>
            <p:nvPr/>
          </p:nvSpPr>
          <p:spPr>
            <a:xfrm>
              <a:off x="9220200" y="1733550"/>
              <a:ext cx="2476500" cy="685800"/>
            </a:xfrm>
            <a:prstGeom prst="roundRect">
              <a:avLst>
                <a:gd name="adj" fmla="val 8333"/>
              </a:avLst>
            </a:prstGeom>
            <a:solidFill>
              <a:srgbClr val="FFFFFF"/>
            </a:solidFill>
            <a:ln w="9525">
              <a:solidFill>
                <a:srgbClr val="D8DEF2"/>
              </a:solidFill>
            </a:ln>
          </p:spPr>
        </p:sp>
        <p:sp>
          <p:nvSpPr>
            <p:cNvPr id="94" name="TextBox 94"/>
            <p:cNvSpPr txBox="1"/>
            <p:nvPr/>
          </p:nvSpPr>
          <p:spPr>
            <a:xfrm>
              <a:off x="10200602" y="1822847"/>
              <a:ext cx="515696" cy="183356"/>
            </a:xfrm>
            <a:prstGeom prst="rect">
              <a:avLst/>
            </a:prstGeom>
            <a:noFill/>
            <a:ln>
              <a:noFill/>
            </a:ln>
          </p:spPr>
          <p:txBody>
            <a:bodyPr wrap="none" lIns="0" tIns="0" rIns="0" bIns="0" anchor="t" anchorCtr="0">
              <a:spAutoFit/>
            </a:bodyPr>
            <a:lstStyle/>
            <a:p>
              <a:pPr algn="ctr"/>
              <a:r>
                <a:rPr lang="zh-CN" sz="940" b="1" dirty="0">
                  <a:solidFill>
                    <a:srgbClr val="C45F4A"/>
                  </a:solidFill>
                  <a:latin typeface="+mn-lt"/>
                  <a:ea typeface="+mn-ea"/>
                  <a:cs typeface="+mn-cs"/>
                </a:rPr>
                <a:t>直播效果</a:t>
              </a:r>
            </a:p>
          </p:txBody>
        </p:sp>
        <p:sp>
          <p:nvSpPr>
            <p:cNvPr id="95" name="TextBox 95"/>
            <p:cNvSpPr txBox="1"/>
            <p:nvPr/>
          </p:nvSpPr>
          <p:spPr>
            <a:xfrm>
              <a:off x="9415272" y="2029539"/>
              <a:ext cx="2086356" cy="297656"/>
            </a:xfrm>
            <a:prstGeom prst="rect">
              <a:avLst/>
            </a:prstGeom>
            <a:noFill/>
            <a:ln>
              <a:noFill/>
            </a:ln>
          </p:spPr>
          <p:txBody>
            <a:bodyPr wrap="none" lIns="0" tIns="0" rIns="0" bIns="0" anchor="t" anchorCtr="0">
              <a:spAutoFit/>
            </a:bodyPr>
            <a:lstStyle/>
            <a:p>
              <a:pPr algn="ctr">
                <a:lnSpc>
                  <a:spcPts val="1125"/>
                </a:lnSpc>
              </a:pPr>
              <a:r>
                <a:rPr lang="zh-CN" sz="790" dirty="0">
                  <a:solidFill>
                    <a:srgbClr val="543E3A"/>
                  </a:solidFill>
                  <a:latin typeface="+mn-lt"/>
                  <a:ea typeface="+mn-ea"/>
                  <a:cs typeface="+mn-cs"/>
                </a:rPr>
                <a:t>PV/UV/IP、观看时长、总人数、人均时长并发​</a:t>
              </a:r>
              <a:br/>
              <a:r>
                <a:rPr lang="zh-CN" sz="790" dirty="0">
                  <a:solidFill>
                    <a:srgbClr val="543E3A"/>
                  </a:solidFill>
                  <a:latin typeface="+mn-lt"/>
                  <a:ea typeface="+mn-ea"/>
                  <a:cs typeface="+mn-cs"/>
                </a:rPr>
                <a:t>互动访问来源、分享数据</a:t>
              </a:r>
            </a:p>
          </p:txBody>
        </p:sp>
        <p:sp>
          <p:nvSpPr>
            <p:cNvPr id="96" name="Rectangle 96"/>
            <p:cNvSpPr/>
            <p:nvPr/>
          </p:nvSpPr>
          <p:spPr>
            <a:xfrm>
              <a:off x="9220200" y="2514600"/>
              <a:ext cx="1524000" cy="781050"/>
            </a:xfrm>
            <a:prstGeom prst="roundRect">
              <a:avLst>
                <a:gd name="adj" fmla="val 7317"/>
              </a:avLst>
            </a:prstGeom>
            <a:solidFill>
              <a:srgbClr val="FFFFFF"/>
            </a:solidFill>
            <a:ln w="9525">
              <a:solidFill>
                <a:srgbClr val="D8DEF2"/>
              </a:solidFill>
            </a:ln>
          </p:spPr>
        </p:sp>
        <p:sp>
          <p:nvSpPr>
            <p:cNvPr id="97" name="TextBox 97"/>
            <p:cNvSpPr txBox="1"/>
            <p:nvPr/>
          </p:nvSpPr>
          <p:spPr>
            <a:xfrm>
              <a:off x="9724352" y="2613422"/>
              <a:ext cx="515696" cy="183356"/>
            </a:xfrm>
            <a:prstGeom prst="rect">
              <a:avLst/>
            </a:prstGeom>
            <a:noFill/>
            <a:ln>
              <a:noFill/>
            </a:ln>
          </p:spPr>
          <p:txBody>
            <a:bodyPr wrap="none" lIns="0" tIns="0" rIns="0" bIns="0" anchor="t" anchorCtr="0">
              <a:spAutoFit/>
            </a:bodyPr>
            <a:lstStyle/>
            <a:p>
              <a:pPr algn="ctr"/>
              <a:r>
                <a:rPr lang="zh-CN" sz="940" b="1" dirty="0">
                  <a:solidFill>
                    <a:srgbClr val="C45F4A"/>
                  </a:solidFill>
                  <a:latin typeface="+mn-lt"/>
                  <a:ea typeface="+mn-ea"/>
                  <a:cs typeface="+mn-cs"/>
                </a:rPr>
                <a:t>电商数据</a:t>
              </a:r>
            </a:p>
          </p:txBody>
        </p:sp>
        <p:sp>
          <p:nvSpPr>
            <p:cNvPr id="98" name="TextBox 98"/>
            <p:cNvSpPr txBox="1"/>
            <p:nvPr/>
          </p:nvSpPr>
          <p:spPr>
            <a:xfrm>
              <a:off x="9325292" y="2829639"/>
              <a:ext cx="1313815" cy="297656"/>
            </a:xfrm>
            <a:prstGeom prst="rect">
              <a:avLst/>
            </a:prstGeom>
            <a:noFill/>
            <a:ln>
              <a:noFill/>
            </a:ln>
          </p:spPr>
          <p:txBody>
            <a:bodyPr wrap="none" lIns="0" tIns="0" rIns="0" bIns="0" anchor="t" anchorCtr="0">
              <a:spAutoFit/>
            </a:bodyPr>
            <a:lstStyle/>
            <a:p>
              <a:pPr algn="ctr">
                <a:lnSpc>
                  <a:spcPts val="1125"/>
                </a:lnSpc>
              </a:pPr>
              <a:r>
                <a:rPr lang="zh-CN" sz="790" dirty="0">
                  <a:solidFill>
                    <a:srgbClr val="543E3A"/>
                  </a:solidFill>
                  <a:latin typeface="+mn-lt"/>
                  <a:ea typeface="+mn-ea"/>
                  <a:cs typeface="+mn-cs"/>
                </a:rPr>
                <a:t>总销售额、热卖款、利润数们</a:t>
              </a:r>
              <a:br/>
              <a:r>
                <a:rPr lang="zh-CN" sz="790" dirty="0">
                  <a:solidFill>
                    <a:srgbClr val="543E3A"/>
                  </a:solidFill>
                  <a:latin typeface="+mn-lt"/>
                  <a:ea typeface="+mn-ea"/>
                  <a:cs typeface="+mn-cs"/>
                </a:rPr>
                <a:t>流量转化率、客单价</a:t>
              </a:r>
            </a:p>
          </p:txBody>
        </p:sp>
        <p:sp>
          <p:nvSpPr>
            <p:cNvPr id="99" name="Rectangle 99"/>
            <p:cNvSpPr/>
            <p:nvPr/>
          </p:nvSpPr>
          <p:spPr>
            <a:xfrm>
              <a:off x="10839450" y="2514600"/>
              <a:ext cx="857250" cy="781050"/>
            </a:xfrm>
            <a:prstGeom prst="roundRect">
              <a:avLst>
                <a:gd name="adj" fmla="val 7317"/>
              </a:avLst>
            </a:prstGeom>
            <a:solidFill>
              <a:srgbClr val="FFFFFF"/>
            </a:solidFill>
            <a:ln w="9525">
              <a:solidFill>
                <a:srgbClr val="D8DEF2"/>
              </a:solidFill>
            </a:ln>
          </p:spPr>
        </p:sp>
        <p:sp>
          <p:nvSpPr>
            <p:cNvPr id="100" name="TextBox 100"/>
            <p:cNvSpPr txBox="1"/>
            <p:nvPr/>
          </p:nvSpPr>
          <p:spPr>
            <a:xfrm>
              <a:off x="11010227" y="2613422"/>
              <a:ext cx="515696" cy="183356"/>
            </a:xfrm>
            <a:prstGeom prst="rect">
              <a:avLst/>
            </a:prstGeom>
            <a:noFill/>
            <a:ln>
              <a:noFill/>
            </a:ln>
          </p:spPr>
          <p:txBody>
            <a:bodyPr wrap="none" lIns="0" tIns="0" rIns="0" bIns="0" anchor="t" anchorCtr="0">
              <a:spAutoFit/>
            </a:bodyPr>
            <a:lstStyle/>
            <a:p>
              <a:pPr algn="ctr"/>
              <a:r>
                <a:rPr lang="zh-CN" sz="940" b="1" dirty="0">
                  <a:solidFill>
                    <a:srgbClr val="E8634C"/>
                  </a:solidFill>
                  <a:latin typeface="+mn-lt"/>
                  <a:ea typeface="+mn-ea"/>
                  <a:cs typeface="+mn-cs"/>
                </a:rPr>
                <a:t>二次营销</a:t>
              </a:r>
            </a:p>
          </p:txBody>
        </p:sp>
        <p:sp>
          <p:nvSpPr>
            <p:cNvPr id="101" name="TextBox 101"/>
            <p:cNvSpPr txBox="1"/>
            <p:nvPr/>
          </p:nvSpPr>
          <p:spPr>
            <a:xfrm>
              <a:off x="11062652" y="2829639"/>
              <a:ext cx="410845" cy="297656"/>
            </a:xfrm>
            <a:prstGeom prst="rect">
              <a:avLst/>
            </a:prstGeom>
            <a:noFill/>
            <a:ln>
              <a:noFill/>
            </a:ln>
          </p:spPr>
          <p:txBody>
            <a:bodyPr wrap="none" lIns="0" tIns="0" rIns="0" bIns="0" anchor="t" anchorCtr="0">
              <a:spAutoFit/>
            </a:bodyPr>
            <a:lstStyle/>
            <a:p>
              <a:pPr algn="ctr">
                <a:lnSpc>
                  <a:spcPts val="1125"/>
                </a:lnSpc>
              </a:pPr>
              <a:r>
                <a:rPr lang="zh-CN" sz="790" dirty="0">
                  <a:solidFill>
                    <a:srgbClr val="543E3A"/>
                  </a:solidFill>
                  <a:latin typeface="+mn-lt"/>
                  <a:ea typeface="+mn-ea"/>
                  <a:cs typeface="+mn-cs"/>
                </a:rPr>
                <a:t>剪辑回放</a:t>
              </a:r>
              <a:br/>
              <a:r>
                <a:rPr lang="zh-CN" sz="790" dirty="0">
                  <a:solidFill>
                    <a:srgbClr val="543E3A"/>
                  </a:solidFill>
                  <a:latin typeface="+mn-lt"/>
                  <a:ea typeface="+mn-ea"/>
                  <a:cs typeface="+mn-cs"/>
                </a:rPr>
                <a:t>二次分发</a:t>
              </a:r>
            </a:p>
          </p:txBody>
        </p:sp>
        <p:sp>
          <p:nvSpPr>
            <p:cNvPr id="102" name="Rectangle 102"/>
            <p:cNvSpPr/>
            <p:nvPr/>
          </p:nvSpPr>
          <p:spPr>
            <a:xfrm>
              <a:off x="9220200" y="3390900"/>
              <a:ext cx="2476500" cy="723900"/>
            </a:xfrm>
            <a:prstGeom prst="roundRect">
              <a:avLst>
                <a:gd name="adj" fmla="val 7895"/>
              </a:avLst>
            </a:prstGeom>
            <a:solidFill>
              <a:srgbClr val="FFFFFF"/>
            </a:solidFill>
            <a:ln w="9525">
              <a:solidFill>
                <a:srgbClr val="D8DEF2"/>
              </a:solidFill>
            </a:ln>
          </p:spPr>
        </p:sp>
        <p:sp>
          <p:nvSpPr>
            <p:cNvPr id="103" name="TextBox 103"/>
            <p:cNvSpPr txBox="1"/>
            <p:nvPr/>
          </p:nvSpPr>
          <p:spPr>
            <a:xfrm>
              <a:off x="10200602" y="3489722"/>
              <a:ext cx="515696" cy="183356"/>
            </a:xfrm>
            <a:prstGeom prst="rect">
              <a:avLst/>
            </a:prstGeom>
            <a:noFill/>
            <a:ln>
              <a:noFill/>
            </a:ln>
          </p:spPr>
          <p:txBody>
            <a:bodyPr wrap="none" lIns="0" tIns="0" rIns="0" bIns="0" anchor="t" anchorCtr="0">
              <a:spAutoFit/>
            </a:bodyPr>
            <a:lstStyle/>
            <a:p>
              <a:pPr algn="ctr"/>
              <a:r>
                <a:rPr lang="zh-CN" sz="940" b="1" dirty="0">
                  <a:solidFill>
                    <a:srgbClr val="C45F4A"/>
                  </a:solidFill>
                  <a:latin typeface="+mn-lt"/>
                  <a:ea typeface="+mn-ea"/>
                  <a:cs typeface="+mn-cs"/>
                </a:rPr>
                <a:t>推广效果</a:t>
              </a:r>
            </a:p>
          </p:txBody>
        </p:sp>
        <p:sp>
          <p:nvSpPr>
            <p:cNvPr id="104" name="TextBox 104"/>
            <p:cNvSpPr txBox="1"/>
            <p:nvPr/>
          </p:nvSpPr>
          <p:spPr>
            <a:xfrm>
              <a:off x="9450388" y="3705939"/>
              <a:ext cx="2016125" cy="297656"/>
            </a:xfrm>
            <a:prstGeom prst="rect">
              <a:avLst/>
            </a:prstGeom>
            <a:noFill/>
            <a:ln>
              <a:noFill/>
            </a:ln>
          </p:spPr>
          <p:txBody>
            <a:bodyPr wrap="none" lIns="0" tIns="0" rIns="0" bIns="0" anchor="t" anchorCtr="0">
              <a:spAutoFit/>
            </a:bodyPr>
            <a:lstStyle/>
            <a:p>
              <a:pPr algn="ctr">
                <a:lnSpc>
                  <a:spcPts val="1125"/>
                </a:lnSpc>
              </a:pPr>
              <a:r>
                <a:rPr lang="zh-CN" sz="790" dirty="0">
                  <a:solidFill>
                    <a:srgbClr val="543E3A"/>
                  </a:solidFill>
                  <a:latin typeface="+mn-lt"/>
                  <a:ea typeface="+mn-ea"/>
                  <a:cs typeface="+mn-cs"/>
                </a:rPr>
                <a:t>来源统计、渠道数据、邮件数、微信推广短信</a:t>
              </a:r>
              <a:br/>
              <a:r>
                <a:rPr lang="zh-CN" sz="790" dirty="0">
                  <a:solidFill>
                    <a:srgbClr val="543E3A"/>
                  </a:solidFill>
                  <a:latin typeface="+mn-lt"/>
                  <a:ea typeface="+mn-ea"/>
                  <a:cs typeface="+mn-cs"/>
                </a:rPr>
                <a:t>数据、SEM数据、第三方数据​</a:t>
              </a:r>
            </a:p>
          </p:txBody>
        </p:sp>
      </p:grpSp>
      <p:grpSp>
        <p:nvGrpSpPr>
          <p:cNvPr id="113" name="cell-guide-pre"/>
          <p:cNvGrpSpPr/>
          <p:nvPr/>
        </p:nvGrpSpPr>
        <p:grpSpPr>
          <a:xfrm>
            <a:off x="1285875" y="4705350"/>
            <a:ext cx="3000375" cy="819150"/>
            <a:chOff x="1285875" y="4705350"/>
            <a:chExt cx="3000375" cy="819150"/>
          </a:xfrm>
        </p:grpSpPr>
        <p:sp>
          <p:nvSpPr>
            <p:cNvPr id="106" name="Rectangle 106"/>
            <p:cNvSpPr/>
            <p:nvPr/>
          </p:nvSpPr>
          <p:spPr>
            <a:xfrm>
              <a:off x="1285875" y="4705350"/>
              <a:ext cx="3000375" cy="819150"/>
            </a:xfrm>
            <a:prstGeom prst="roundRect">
              <a:avLst>
                <a:gd name="adj" fmla="val 6977"/>
              </a:avLst>
            </a:prstGeom>
            <a:solidFill>
              <a:srgbClr val="F7F8FD"/>
            </a:solidFill>
            <a:ln w="9525">
              <a:solidFill>
                <a:srgbClr val="D8DEF2"/>
              </a:solidFill>
            </a:ln>
          </p:spPr>
        </p:sp>
        <p:sp>
          <p:nvSpPr>
            <p:cNvPr id="107" name="Rectangle 107"/>
            <p:cNvSpPr/>
            <p:nvPr/>
          </p:nvSpPr>
          <p:spPr>
            <a:xfrm>
              <a:off x="1409700" y="4800600"/>
              <a:ext cx="666750" cy="628650"/>
            </a:xfrm>
            <a:prstGeom prst="roundRect">
              <a:avLst>
                <a:gd name="adj" fmla="val 6061"/>
              </a:avLst>
            </a:prstGeom>
            <a:solidFill>
              <a:srgbClr val="C45F4A"/>
            </a:solidFill>
            <a:ln>
              <a:noFill/>
            </a:ln>
          </p:spPr>
        </p:sp>
        <p:grpSp>
          <p:nvGrpSpPr>
            <p:cNvPr id="110" name="Group 110"/>
            <p:cNvGrpSpPr/>
            <p:nvPr/>
          </p:nvGrpSpPr>
          <p:grpSpPr>
            <a:xfrm>
              <a:off x="1653169" y="4882144"/>
              <a:ext cx="179813" cy="179813"/>
              <a:chOff x="1653169" y="4882144"/>
              <a:chExt cx="179813" cy="179813"/>
            </a:xfrm>
          </p:grpSpPr>
          <p:sp>
            <p:nvSpPr>
              <p:cNvPr id="108" name="Freeform 108"/>
              <p:cNvSpPr/>
              <p:nvPr/>
            </p:nvSpPr>
            <p:spPr>
              <a:xfrm>
                <a:off x="1653169" y="488214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FFFFFF"/>
                </a:solidFill>
              </a:ln>
            </p:spPr>
          </p:sp>
          <p:sp>
            <p:nvSpPr>
              <p:cNvPr id="109" name="Freeform 109"/>
              <p:cNvSpPr/>
              <p:nvPr/>
            </p:nvSpPr>
            <p:spPr>
              <a:xfrm>
                <a:off x="1714500" y="494347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FFFFFF"/>
                </a:solidFill>
              </a:ln>
            </p:spPr>
          </p:sp>
        </p:grpSp>
        <p:sp>
          <p:nvSpPr>
            <p:cNvPr id="111" name="TextBox 111"/>
            <p:cNvSpPr txBox="1"/>
            <p:nvPr/>
          </p:nvSpPr>
          <p:spPr>
            <a:xfrm>
              <a:off x="1435418" y="5214938"/>
              <a:ext cx="61531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直播频道装修</a:t>
              </a:r>
            </a:p>
          </p:txBody>
        </p:sp>
        <p:sp>
          <p:nvSpPr>
            <p:cNvPr id="112" name="TextBox 112"/>
            <p:cNvSpPr txBox="1"/>
            <p:nvPr/>
          </p:nvSpPr>
          <p:spPr>
            <a:xfrm>
              <a:off x="2185988" y="4887039"/>
              <a:ext cx="1624838" cy="459581"/>
            </a:xfrm>
            <a:prstGeom prst="rect">
              <a:avLst/>
            </a:prstGeom>
            <a:noFill/>
            <a:ln>
              <a:noFill/>
            </a:ln>
          </p:spPr>
          <p:txBody>
            <a:bodyPr wrap="none" lIns="0" tIns="0" rIns="0" bIns="0" anchor="t" anchorCtr="0">
              <a:spAutoFit/>
            </a:bodyPr>
            <a:lstStyle/>
            <a:p>
              <a:pPr algn="l">
                <a:lnSpc>
                  <a:spcPts val="1200"/>
                </a:lnSpc>
              </a:pPr>
              <a:r>
                <a:rPr lang="zh-CN" sz="790" dirty="0">
                  <a:solidFill>
                    <a:srgbClr val="543E3A"/>
                  </a:solidFill>
                  <a:latin typeface="+mn-lt"/>
                  <a:ea typeface="+mn-ea"/>
                  <a:cs typeface="+mn-cs"/>
                </a:rPr>
                <a:t>直播间设置/频道名称/图标、观看主</a:t>
              </a:r>
              <a:br/>
              <a:r>
                <a:rPr lang="zh-CN" sz="790" dirty="0">
                  <a:solidFill>
                    <a:srgbClr val="543E3A"/>
                  </a:solidFill>
                  <a:latin typeface="+mn-lt"/>
                  <a:ea typeface="+mn-ea"/>
                  <a:cs typeface="+mn-cs"/>
                </a:rPr>
                <a:t>题页、直播引导图、播放器背景、</a:t>
              </a:r>
              <a:br/>
              <a:r>
                <a:rPr lang="zh-CN" sz="790" dirty="0">
                  <a:solidFill>
                    <a:srgbClr val="543E3A"/>
                  </a:solidFill>
                  <a:latin typeface="+mn-lt"/>
                  <a:ea typeface="+mn-ea"/>
                  <a:cs typeface="+mn-cs"/>
                </a:rPr>
                <a:t>直播窗口背景、自定义菜单</a:t>
              </a:r>
            </a:p>
          </p:txBody>
        </p:sp>
      </p:grpSp>
      <p:grpSp>
        <p:nvGrpSpPr>
          <p:cNvPr id="128" name="cell-guide-mid"/>
          <p:cNvGrpSpPr/>
          <p:nvPr/>
        </p:nvGrpSpPr>
        <p:grpSpPr>
          <a:xfrm>
            <a:off x="4429125" y="4705350"/>
            <a:ext cx="4524375" cy="819150"/>
            <a:chOff x="4429125" y="4705350"/>
            <a:chExt cx="4524375" cy="819150"/>
          </a:xfrm>
        </p:grpSpPr>
        <p:sp>
          <p:nvSpPr>
            <p:cNvPr id="114" name="Rectangle 114"/>
            <p:cNvSpPr/>
            <p:nvPr/>
          </p:nvSpPr>
          <p:spPr>
            <a:xfrm>
              <a:off x="4429125" y="4705350"/>
              <a:ext cx="4524375" cy="819150"/>
            </a:xfrm>
            <a:prstGeom prst="roundRect">
              <a:avLst>
                <a:gd name="adj" fmla="val 6977"/>
              </a:avLst>
            </a:prstGeom>
            <a:solidFill>
              <a:srgbClr val="FFF8F5"/>
            </a:solidFill>
            <a:ln w="9525">
              <a:solidFill>
                <a:srgbClr val="F3BAB0"/>
              </a:solidFill>
            </a:ln>
          </p:spPr>
        </p:sp>
        <p:sp>
          <p:nvSpPr>
            <p:cNvPr id="115" name="Rectangle 115"/>
            <p:cNvSpPr/>
            <p:nvPr/>
          </p:nvSpPr>
          <p:spPr>
            <a:xfrm>
              <a:off x="4552950" y="4800600"/>
              <a:ext cx="666750" cy="628650"/>
            </a:xfrm>
            <a:prstGeom prst="roundRect">
              <a:avLst>
                <a:gd name="adj" fmla="val 6061"/>
              </a:avLst>
            </a:prstGeom>
            <a:solidFill>
              <a:srgbClr val="E8634C"/>
            </a:solidFill>
            <a:ln>
              <a:noFill/>
            </a:ln>
          </p:spPr>
        </p:sp>
        <p:grpSp>
          <p:nvGrpSpPr>
            <p:cNvPr id="119" name="Group 119"/>
            <p:cNvGrpSpPr/>
            <p:nvPr/>
          </p:nvGrpSpPr>
          <p:grpSpPr>
            <a:xfrm>
              <a:off x="4819650" y="4886325"/>
              <a:ext cx="133350" cy="171450"/>
              <a:chOff x="4819650" y="4886325"/>
              <a:chExt cx="133350" cy="171450"/>
            </a:xfrm>
          </p:grpSpPr>
          <p:sp>
            <p:nvSpPr>
              <p:cNvPr id="116" name="Freeform 116"/>
              <p:cNvSpPr/>
              <p:nvPr/>
            </p:nvSpPr>
            <p:spPr>
              <a:xfrm>
                <a:off x="4819650" y="494347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FFFFFF"/>
                </a:solidFill>
              </a:ln>
            </p:spPr>
          </p:sp>
          <p:sp>
            <p:nvSpPr>
              <p:cNvPr id="117" name="Freeform 117"/>
              <p:cNvSpPr/>
              <p:nvPr/>
            </p:nvSpPr>
            <p:spPr>
              <a:xfrm>
                <a:off x="4886325" y="4886325"/>
                <a:ext cx="9525" cy="104775"/>
              </a:xfrm>
              <a:custGeom>
                <a:avLst/>
                <a:gdLst/>
                <a:ahLst/>
                <a:cxnLst/>
                <a:rect l="l" t="t" r="r" b="b"/>
                <a:pathLst>
                  <a:path w="9525" h="104775">
                    <a:moveTo>
                      <a:pt x="0" y="104775"/>
                    </a:moveTo>
                    <a:lnTo>
                      <a:pt x="0" y="0"/>
                    </a:lnTo>
                  </a:path>
                </a:pathLst>
              </a:custGeom>
              <a:noFill/>
              <a:ln w="19050">
                <a:solidFill>
                  <a:srgbClr val="FFFFFF"/>
                </a:solidFill>
              </a:ln>
            </p:spPr>
          </p:sp>
          <p:sp>
            <p:nvSpPr>
              <p:cNvPr id="118" name="Freeform 118"/>
              <p:cNvSpPr/>
              <p:nvPr/>
            </p:nvSpPr>
            <p:spPr>
              <a:xfrm>
                <a:off x="4857750" y="4886325"/>
                <a:ext cx="57150" cy="28575"/>
              </a:xfrm>
              <a:custGeom>
                <a:avLst/>
                <a:gdLst/>
                <a:ahLst/>
                <a:cxnLst/>
                <a:rect l="l" t="t" r="r" b="b"/>
                <a:pathLst>
                  <a:path w="57150" h="28575">
                    <a:moveTo>
                      <a:pt x="0" y="28575"/>
                    </a:moveTo>
                    <a:lnTo>
                      <a:pt x="28575" y="0"/>
                    </a:lnTo>
                    <a:lnTo>
                      <a:pt x="57150" y="28575"/>
                    </a:lnTo>
                  </a:path>
                </a:pathLst>
              </a:custGeom>
              <a:noFill/>
              <a:ln w="19050">
                <a:solidFill>
                  <a:srgbClr val="FFFFFF"/>
                </a:solidFill>
              </a:ln>
            </p:spPr>
          </p:sp>
        </p:grpSp>
        <p:sp>
          <p:nvSpPr>
            <p:cNvPr id="120" name="TextBox 120"/>
            <p:cNvSpPr txBox="1"/>
            <p:nvPr/>
          </p:nvSpPr>
          <p:spPr>
            <a:xfrm>
              <a:off x="4679632" y="5214938"/>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引流邀约</a:t>
              </a:r>
            </a:p>
          </p:txBody>
        </p:sp>
        <p:sp>
          <p:nvSpPr>
            <p:cNvPr id="121" name="TextBox 121"/>
            <p:cNvSpPr txBox="1"/>
            <p:nvPr/>
          </p:nvSpPr>
          <p:spPr>
            <a:xfrm>
              <a:off x="5329238" y="4887039"/>
              <a:ext cx="1012825" cy="459581"/>
            </a:xfrm>
            <a:prstGeom prst="rect">
              <a:avLst/>
            </a:prstGeom>
            <a:noFill/>
            <a:ln>
              <a:noFill/>
            </a:ln>
          </p:spPr>
          <p:txBody>
            <a:bodyPr wrap="none" lIns="0" tIns="0" rIns="0" bIns="0" anchor="t" anchorCtr="0">
              <a:spAutoFit/>
            </a:bodyPr>
            <a:lstStyle/>
            <a:p>
              <a:pPr algn="l">
                <a:lnSpc>
                  <a:spcPts val="1200"/>
                </a:lnSpc>
              </a:pPr>
              <a:r>
                <a:rPr lang="zh-CN" sz="790" dirty="0">
                  <a:solidFill>
                    <a:srgbClr val="543E3A"/>
                  </a:solidFill>
                  <a:latin typeface="+mn-lt"/>
                  <a:ea typeface="+mn-ea"/>
                  <a:cs typeface="+mn-cs"/>
                </a:rPr>
                <a:t>微信分享、海报、邮件</a:t>
              </a:r>
              <a:br/>
              <a:r>
                <a:rPr lang="zh-CN" sz="790" dirty="0">
                  <a:solidFill>
                    <a:srgbClr val="543E3A"/>
                  </a:solidFill>
                  <a:latin typeface="+mn-lt"/>
                  <a:ea typeface="+mn-ea"/>
                  <a:cs typeface="+mn-cs"/>
                </a:rPr>
                <a:t>短信、外部报名表单</a:t>
              </a:r>
              <a:br/>
              <a:r>
                <a:rPr lang="zh-CN" sz="790" dirty="0">
                  <a:solidFill>
                    <a:srgbClr val="543E3A"/>
                  </a:solidFill>
                  <a:latin typeface="+mn-lt"/>
                  <a:ea typeface="+mn-ea"/>
                  <a:cs typeface="+mn-cs"/>
                </a:rPr>
                <a:t>外部引流工具</a:t>
              </a:r>
            </a:p>
          </p:txBody>
        </p:sp>
        <p:sp>
          <p:nvSpPr>
            <p:cNvPr id="122" name="Rectangle 122"/>
            <p:cNvSpPr/>
            <p:nvPr/>
          </p:nvSpPr>
          <p:spPr>
            <a:xfrm>
              <a:off x="6667500" y="4800600"/>
              <a:ext cx="666750" cy="628650"/>
            </a:xfrm>
            <a:prstGeom prst="roundRect">
              <a:avLst>
                <a:gd name="adj" fmla="val 6061"/>
              </a:avLst>
            </a:prstGeom>
            <a:solidFill>
              <a:srgbClr val="E8634C"/>
            </a:solidFill>
            <a:ln>
              <a:noFill/>
            </a:ln>
          </p:spPr>
        </p:sp>
        <p:grpSp>
          <p:nvGrpSpPr>
            <p:cNvPr id="125" name="Group 125"/>
            <p:cNvGrpSpPr/>
            <p:nvPr/>
          </p:nvGrpSpPr>
          <p:grpSpPr>
            <a:xfrm>
              <a:off x="6915150" y="4914900"/>
              <a:ext cx="171450" cy="114300"/>
              <a:chOff x="6915150" y="4914900"/>
              <a:chExt cx="171450" cy="114300"/>
            </a:xfrm>
          </p:grpSpPr>
          <p:sp>
            <p:nvSpPr>
              <p:cNvPr id="123" name="Freeform 123"/>
              <p:cNvSpPr/>
              <p:nvPr/>
            </p:nvSpPr>
            <p:spPr>
              <a:xfrm>
                <a:off x="6981825" y="49530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24" name="Freeform 124"/>
              <p:cNvSpPr/>
              <p:nvPr/>
            </p:nvSpPr>
            <p:spPr>
              <a:xfrm>
                <a:off x="6915150" y="4914900"/>
                <a:ext cx="171450" cy="114300"/>
              </a:xfrm>
              <a:custGeom>
                <a:avLst/>
                <a:gdLst/>
                <a:ahLst/>
                <a:cxnLst/>
                <a:rect l="l" t="t" r="r" b="b"/>
                <a:pathLst>
                  <a:path w="171450" h="114300">
                    <a:moveTo>
                      <a:pt x="171450" y="57150"/>
                    </a:moveTo>
                    <a:cubicBezTo>
                      <a:pt x="148590" y="95250"/>
                      <a:pt x="120015" y="114300"/>
                      <a:pt x="85725" y="114300"/>
                    </a:cubicBezTo>
                    <a:cubicBezTo>
                      <a:pt x="51435" y="114300"/>
                      <a:pt x="22860" y="95250"/>
                      <a:pt x="0" y="57150"/>
                    </a:cubicBezTo>
                    <a:cubicBezTo>
                      <a:pt x="22860" y="19050"/>
                      <a:pt x="51435" y="0"/>
                      <a:pt x="85725" y="0"/>
                    </a:cubicBezTo>
                    <a:cubicBezTo>
                      <a:pt x="120015" y="0"/>
                      <a:pt x="148590" y="19050"/>
                      <a:pt x="171450" y="57150"/>
                    </a:cubicBezTo>
                  </a:path>
                </a:pathLst>
              </a:custGeom>
              <a:noFill/>
              <a:ln w="19050">
                <a:solidFill>
                  <a:srgbClr val="FFFFFF"/>
                </a:solidFill>
              </a:ln>
            </p:spPr>
          </p:sp>
        </p:grpSp>
        <p:sp>
          <p:nvSpPr>
            <p:cNvPr id="126" name="TextBox 126"/>
            <p:cNvSpPr txBox="1"/>
            <p:nvPr/>
          </p:nvSpPr>
          <p:spPr>
            <a:xfrm>
              <a:off x="6743700" y="5214938"/>
              <a:ext cx="514350"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直播间管理</a:t>
              </a:r>
            </a:p>
          </p:txBody>
        </p:sp>
        <p:sp>
          <p:nvSpPr>
            <p:cNvPr id="127" name="TextBox 127"/>
            <p:cNvSpPr txBox="1"/>
            <p:nvPr/>
          </p:nvSpPr>
          <p:spPr>
            <a:xfrm>
              <a:off x="7443788" y="4887039"/>
              <a:ext cx="1012825" cy="459581"/>
            </a:xfrm>
            <a:prstGeom prst="rect">
              <a:avLst/>
            </a:prstGeom>
            <a:noFill/>
            <a:ln>
              <a:noFill/>
            </a:ln>
          </p:spPr>
          <p:txBody>
            <a:bodyPr wrap="none" lIns="0" tIns="0" rIns="0" bIns="0" anchor="t" anchorCtr="0">
              <a:spAutoFit/>
            </a:bodyPr>
            <a:lstStyle/>
            <a:p>
              <a:pPr algn="l">
                <a:lnSpc>
                  <a:spcPts val="1200"/>
                </a:lnSpc>
              </a:pPr>
              <a:r>
                <a:rPr lang="zh-CN" sz="790" dirty="0">
                  <a:solidFill>
                    <a:srgbClr val="543E3A"/>
                  </a:solidFill>
                  <a:latin typeface="+mn-lt"/>
                  <a:ea typeface="+mn-ea"/>
                  <a:cs typeface="+mn-cs"/>
                </a:rPr>
                <a:t>内容审核、客户答疑、</a:t>
              </a:r>
              <a:br/>
              <a:r>
                <a:rPr lang="zh-CN" sz="790" dirty="0">
                  <a:solidFill>
                    <a:srgbClr val="543E3A"/>
                  </a:solidFill>
                  <a:latin typeface="+mn-lt"/>
                  <a:ea typeface="+mn-ea"/>
                  <a:cs typeface="+mn-cs"/>
                </a:rPr>
                <a:t>实时数据监控、禁言、</a:t>
              </a:r>
              <a:br/>
              <a:r>
                <a:rPr lang="zh-CN" sz="790" dirty="0">
                  <a:solidFill>
                    <a:srgbClr val="543E3A"/>
                  </a:solidFill>
                  <a:latin typeface="+mn-lt"/>
                  <a:ea typeface="+mn-ea"/>
                  <a:cs typeface="+mn-cs"/>
                </a:rPr>
                <a:t>敬畅词、福利公告</a:t>
              </a:r>
            </a:p>
          </p:txBody>
        </p:sp>
      </p:grpSp>
      <p:grpSp>
        <p:nvGrpSpPr>
          <p:cNvPr id="145" name="cell-illus"/>
          <p:cNvGrpSpPr/>
          <p:nvPr/>
        </p:nvGrpSpPr>
        <p:grpSpPr>
          <a:xfrm>
            <a:off x="9096375" y="4705350"/>
            <a:ext cx="2714625" cy="1771650"/>
            <a:chOff x="9096375" y="4705350"/>
            <a:chExt cx="2714625" cy="1771650"/>
          </a:xfrm>
        </p:grpSpPr>
        <p:sp>
          <p:nvSpPr>
            <p:cNvPr id="129" name="Rectangle 129"/>
            <p:cNvSpPr/>
            <p:nvPr/>
          </p:nvSpPr>
          <p:spPr>
            <a:xfrm>
              <a:off x="9096375" y="4705350"/>
              <a:ext cx="2714625" cy="1771650"/>
            </a:xfrm>
            <a:prstGeom prst="roundRect">
              <a:avLst>
                <a:gd name="adj" fmla="val 3226"/>
              </a:avLst>
            </a:prstGeom>
            <a:solidFill>
              <a:srgbClr val="F7F8FD"/>
            </a:solidFill>
            <a:ln w="9525">
              <a:solidFill>
                <a:srgbClr val="D8DEF2"/>
              </a:solidFill>
            </a:ln>
          </p:spPr>
        </p:sp>
        <p:sp>
          <p:nvSpPr>
            <p:cNvPr id="130" name="Rectangle 130"/>
            <p:cNvSpPr/>
            <p:nvPr/>
          </p:nvSpPr>
          <p:spPr>
            <a:xfrm>
              <a:off x="9525000" y="4914900"/>
              <a:ext cx="1866900" cy="1123950"/>
            </a:xfrm>
            <a:prstGeom prst="roundRect">
              <a:avLst>
                <a:gd name="adj" fmla="val 6780"/>
              </a:avLst>
            </a:prstGeom>
            <a:solidFill>
              <a:srgbClr val="FFFFFF"/>
            </a:solidFill>
            <a:ln w="14288">
              <a:solidFill>
                <a:srgbClr val="C9D1F0"/>
              </a:solidFill>
            </a:ln>
          </p:spPr>
        </p:sp>
        <p:sp>
          <p:nvSpPr>
            <p:cNvPr id="131" name="Rectangle 131"/>
            <p:cNvSpPr/>
            <p:nvPr/>
          </p:nvSpPr>
          <p:spPr>
            <a:xfrm>
              <a:off x="9525000" y="4914900"/>
              <a:ext cx="1866900" cy="171450"/>
            </a:xfrm>
            <a:prstGeom prst="roundRect">
              <a:avLst>
                <a:gd name="adj" fmla="val 44444"/>
              </a:avLst>
            </a:prstGeom>
            <a:solidFill>
              <a:srgbClr val="E8EBF8"/>
            </a:solidFill>
            <a:ln>
              <a:noFill/>
            </a:ln>
          </p:spPr>
        </p:sp>
        <p:sp>
          <p:nvSpPr>
            <p:cNvPr id="132" name="Ellipse 132"/>
            <p:cNvSpPr/>
            <p:nvPr/>
          </p:nvSpPr>
          <p:spPr>
            <a:xfrm>
              <a:off x="9610725" y="4972050"/>
              <a:ext cx="57150" cy="57150"/>
            </a:xfrm>
            <a:prstGeom prst="ellipse">
              <a:avLst/>
            </a:prstGeom>
            <a:solidFill>
              <a:srgbClr val="E8634C"/>
            </a:solidFill>
            <a:ln>
              <a:noFill/>
            </a:ln>
          </p:spPr>
        </p:sp>
        <p:sp>
          <p:nvSpPr>
            <p:cNvPr id="133" name="Ellipse 133"/>
            <p:cNvSpPr/>
            <p:nvPr/>
          </p:nvSpPr>
          <p:spPr>
            <a:xfrm>
              <a:off x="9705975" y="4972050"/>
              <a:ext cx="57150" cy="57150"/>
            </a:xfrm>
            <a:prstGeom prst="ellipse">
              <a:avLst/>
            </a:prstGeom>
            <a:solidFill>
              <a:srgbClr val="F07E6A"/>
            </a:solidFill>
            <a:ln>
              <a:noFill/>
            </a:ln>
          </p:spPr>
        </p:sp>
        <p:sp>
          <p:nvSpPr>
            <p:cNvPr id="134" name="Ellipse 134"/>
            <p:cNvSpPr/>
            <p:nvPr/>
          </p:nvSpPr>
          <p:spPr>
            <a:xfrm>
              <a:off x="9801225" y="4972050"/>
              <a:ext cx="57150" cy="57150"/>
            </a:xfrm>
            <a:prstGeom prst="ellipse">
              <a:avLst/>
            </a:prstGeom>
            <a:solidFill>
              <a:srgbClr val="E08C7B"/>
            </a:solidFill>
            <a:ln>
              <a:noFill/>
            </a:ln>
          </p:spPr>
        </p:sp>
        <p:grpSp>
          <p:nvGrpSpPr>
            <p:cNvPr id="137" name="Group 137"/>
            <p:cNvGrpSpPr/>
            <p:nvPr/>
          </p:nvGrpSpPr>
          <p:grpSpPr>
            <a:xfrm>
              <a:off x="10267950" y="5400675"/>
              <a:ext cx="381000" cy="319088"/>
              <a:chOff x="10267950" y="5400675"/>
              <a:chExt cx="381000" cy="319088"/>
            </a:xfrm>
          </p:grpSpPr>
          <p:sp>
            <p:nvSpPr>
              <p:cNvPr id="135" name="Freeform 135"/>
              <p:cNvSpPr/>
              <p:nvPr/>
            </p:nvSpPr>
            <p:spPr>
              <a:xfrm>
                <a:off x="10267950" y="5710238"/>
                <a:ext cx="381000" cy="9525"/>
              </a:xfrm>
              <a:custGeom>
                <a:avLst/>
                <a:gdLst/>
                <a:ahLst/>
                <a:cxnLst/>
                <a:rect l="l" t="t" r="r" b="b"/>
                <a:pathLst>
                  <a:path w="381000" h="9525">
                    <a:moveTo>
                      <a:pt x="0" y="0"/>
                    </a:moveTo>
                    <a:lnTo>
                      <a:pt x="381000" y="0"/>
                    </a:lnTo>
                  </a:path>
                </a:pathLst>
              </a:custGeom>
              <a:noFill/>
              <a:ln w="47625">
                <a:solidFill>
                  <a:srgbClr val="C46D5B"/>
                </a:solidFill>
              </a:ln>
            </p:spPr>
          </p:sp>
          <p:sp>
            <p:nvSpPr>
              <p:cNvPr id="136" name="Freeform 136"/>
              <p:cNvSpPr/>
              <p:nvPr/>
            </p:nvSpPr>
            <p:spPr>
              <a:xfrm>
                <a:off x="10267950" y="5400675"/>
                <a:ext cx="381000" cy="214312"/>
              </a:xfrm>
              <a:custGeom>
                <a:avLst/>
                <a:gdLst/>
                <a:ahLst/>
                <a:cxnLst/>
                <a:rect l="l" t="t" r="r" b="b"/>
                <a:pathLst>
                  <a:path w="381000" h="214312">
                    <a:moveTo>
                      <a:pt x="0" y="214312"/>
                    </a:moveTo>
                    <a:lnTo>
                      <a:pt x="95250" y="71438"/>
                    </a:lnTo>
                    <a:lnTo>
                      <a:pt x="190500" y="119062"/>
                    </a:lnTo>
                    <a:lnTo>
                      <a:pt x="285750" y="0"/>
                    </a:lnTo>
                    <a:lnTo>
                      <a:pt x="381000" y="95250"/>
                    </a:lnTo>
                  </a:path>
                </a:pathLst>
              </a:custGeom>
              <a:noFill/>
              <a:ln w="47625">
                <a:solidFill>
                  <a:srgbClr val="C46D5B"/>
                </a:solidFill>
              </a:ln>
            </p:spPr>
          </p:sp>
        </p:grpSp>
        <p:sp>
          <p:nvSpPr>
            <p:cNvPr id="138" name="Ellipse 138"/>
            <p:cNvSpPr/>
            <p:nvPr/>
          </p:nvSpPr>
          <p:spPr>
            <a:xfrm>
              <a:off x="11010900" y="5581650"/>
              <a:ext cx="266700" cy="266700"/>
            </a:xfrm>
            <a:prstGeom prst="ellipse">
              <a:avLst/>
            </a:prstGeom>
            <a:solidFill>
              <a:srgbClr val="E8634C"/>
            </a:solidFill>
            <a:ln>
              <a:noFill/>
            </a:ln>
          </p:spPr>
        </p:sp>
        <p:grpSp>
          <p:nvGrpSpPr>
            <p:cNvPr id="143" name="Group 143"/>
            <p:cNvGrpSpPr/>
            <p:nvPr/>
          </p:nvGrpSpPr>
          <p:grpSpPr>
            <a:xfrm>
              <a:off x="11072812" y="5643562"/>
              <a:ext cx="142875" cy="142875"/>
              <a:chOff x="11072812" y="5643562"/>
              <a:chExt cx="142875" cy="142875"/>
            </a:xfrm>
          </p:grpSpPr>
          <p:sp>
            <p:nvSpPr>
              <p:cNvPr id="139" name="Freeform 139"/>
              <p:cNvSpPr/>
              <p:nvPr/>
            </p:nvSpPr>
            <p:spPr>
              <a:xfrm>
                <a:off x="11088687" y="56435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140" name="Freeform 140"/>
              <p:cNvSpPr/>
              <p:nvPr/>
            </p:nvSpPr>
            <p:spPr>
              <a:xfrm>
                <a:off x="11072812" y="57388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141" name="Freeform 141"/>
              <p:cNvSpPr/>
              <p:nvPr/>
            </p:nvSpPr>
            <p:spPr>
              <a:xfrm>
                <a:off x="11176000" y="56445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142" name="Freeform 142"/>
              <p:cNvSpPr/>
              <p:nvPr/>
            </p:nvSpPr>
            <p:spPr>
              <a:xfrm>
                <a:off x="11191875" y="57400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144" name="Line 144"/>
            <p:cNvSpPr/>
            <p:nvPr/>
          </p:nvSpPr>
          <p:spPr>
            <a:xfrm>
              <a:off x="9906000" y="6286500"/>
              <a:ext cx="1104900" cy="9525"/>
            </a:xfrm>
            <a:custGeom>
              <a:avLst/>
              <a:gdLst/>
              <a:ahLst/>
              <a:cxnLst/>
              <a:rect l="l" t="t" r="r" b="b"/>
              <a:pathLst>
                <a:path w="1104900" h="9525">
                  <a:moveTo>
                    <a:pt x="0" y="0"/>
                  </a:moveTo>
                  <a:lnTo>
                    <a:pt x="1104900" y="0"/>
                  </a:lnTo>
                </a:path>
              </a:pathLst>
            </a:custGeom>
            <a:noFill/>
            <a:ln w="28575">
              <a:solidFill>
                <a:srgbClr val="C9D1F0"/>
              </a:solidFill>
            </a:ln>
          </p:spPr>
        </p:sp>
      </p:grpSp>
      <p:grpSp>
        <p:nvGrpSpPr>
          <p:cNvPr id="154" name="cell-fuse-pre"/>
          <p:cNvGrpSpPr/>
          <p:nvPr/>
        </p:nvGrpSpPr>
        <p:grpSpPr>
          <a:xfrm>
            <a:off x="1285875" y="5657850"/>
            <a:ext cx="3000375" cy="819150"/>
            <a:chOff x="1285875" y="5657850"/>
            <a:chExt cx="3000375" cy="819150"/>
          </a:xfrm>
        </p:grpSpPr>
        <p:sp>
          <p:nvSpPr>
            <p:cNvPr id="146" name="Rectangle 146"/>
            <p:cNvSpPr/>
            <p:nvPr/>
          </p:nvSpPr>
          <p:spPr>
            <a:xfrm>
              <a:off x="1285875" y="5657850"/>
              <a:ext cx="3000375" cy="819150"/>
            </a:xfrm>
            <a:prstGeom prst="roundRect">
              <a:avLst>
                <a:gd name="adj" fmla="val 6977"/>
              </a:avLst>
            </a:prstGeom>
            <a:solidFill>
              <a:srgbClr val="F7F8FD"/>
            </a:solidFill>
            <a:ln w="9525">
              <a:solidFill>
                <a:srgbClr val="D8DEF2"/>
              </a:solidFill>
            </a:ln>
          </p:spPr>
        </p:sp>
        <p:sp>
          <p:nvSpPr>
            <p:cNvPr id="147" name="Rectangle 147"/>
            <p:cNvSpPr/>
            <p:nvPr/>
          </p:nvSpPr>
          <p:spPr>
            <a:xfrm>
              <a:off x="1409700" y="5753100"/>
              <a:ext cx="666750" cy="628650"/>
            </a:xfrm>
            <a:prstGeom prst="roundRect">
              <a:avLst>
                <a:gd name="adj" fmla="val 6061"/>
              </a:avLst>
            </a:prstGeom>
            <a:solidFill>
              <a:srgbClr val="C45F4A"/>
            </a:solidFill>
            <a:ln>
              <a:noFill/>
            </a:ln>
          </p:spPr>
        </p:sp>
        <p:grpSp>
          <p:nvGrpSpPr>
            <p:cNvPr id="151" name="Group 151"/>
            <p:cNvGrpSpPr/>
            <p:nvPr/>
          </p:nvGrpSpPr>
          <p:grpSpPr>
            <a:xfrm>
              <a:off x="1666874" y="5843696"/>
              <a:ext cx="157041" cy="161688"/>
              <a:chOff x="1666874" y="5843696"/>
              <a:chExt cx="157041" cy="161688"/>
            </a:xfrm>
          </p:grpSpPr>
          <p:sp>
            <p:nvSpPr>
              <p:cNvPr id="148" name="Freeform 148"/>
              <p:cNvSpPr/>
              <p:nvPr/>
            </p:nvSpPr>
            <p:spPr>
              <a:xfrm>
                <a:off x="1714500" y="5895975"/>
                <a:ext cx="57150" cy="57150"/>
              </a:xfrm>
              <a:custGeom>
                <a:avLst/>
                <a:gdLst/>
                <a:ahLst/>
                <a:cxnLst/>
                <a:rect l="l" t="t" r="r" b="b"/>
                <a:pathLst>
                  <a:path w="57150" h="57150">
                    <a:moveTo>
                      <a:pt x="0" y="57150"/>
                    </a:moveTo>
                    <a:lnTo>
                      <a:pt x="57150" y="0"/>
                    </a:lnTo>
                  </a:path>
                </a:pathLst>
              </a:custGeom>
              <a:noFill/>
              <a:ln w="19050">
                <a:solidFill>
                  <a:srgbClr val="FFFFFF"/>
                </a:solidFill>
              </a:ln>
            </p:spPr>
          </p:sp>
          <p:sp>
            <p:nvSpPr>
              <p:cNvPr id="149" name="Freeform 149"/>
              <p:cNvSpPr/>
              <p:nvPr/>
            </p:nvSpPr>
            <p:spPr>
              <a:xfrm>
                <a:off x="1733550" y="5843696"/>
                <a:ext cx="90365" cy="90379"/>
              </a:xfrm>
              <a:custGeom>
                <a:avLst/>
                <a:gdLst/>
                <a:ahLst/>
                <a:cxnLst/>
                <a:rect l="l" t="t" r="r" b="b"/>
                <a:pathLst>
                  <a:path w="90365" h="90379">
                    <a:moveTo>
                      <a:pt x="0" y="23704"/>
                    </a:moveTo>
                    <a:lnTo>
                      <a:pt x="4410" y="18599"/>
                    </a:lnTo>
                    <a:cubicBezTo>
                      <a:pt x="23011" y="0"/>
                      <a:pt x="53168" y="2"/>
                      <a:pt x="71766" y="18603"/>
                    </a:cubicBezTo>
                    <a:cubicBezTo>
                      <a:pt x="90365" y="37204"/>
                      <a:pt x="90363" y="67361"/>
                      <a:pt x="71761" y="85959"/>
                    </a:cubicBezTo>
                    <a:lnTo>
                      <a:pt x="66675" y="90379"/>
                    </a:lnTo>
                  </a:path>
                </a:pathLst>
              </a:custGeom>
              <a:noFill/>
              <a:ln w="19050">
                <a:solidFill>
                  <a:srgbClr val="FFFFFF"/>
                </a:solidFill>
              </a:ln>
            </p:spPr>
          </p:sp>
          <p:sp>
            <p:nvSpPr>
              <p:cNvPr id="150" name="Freeform 150"/>
              <p:cNvSpPr/>
              <p:nvPr/>
            </p:nvSpPr>
            <p:spPr>
              <a:xfrm>
                <a:off x="1666874" y="5915025"/>
                <a:ext cx="85726" cy="90359"/>
              </a:xfrm>
              <a:custGeom>
                <a:avLst/>
                <a:gdLst/>
                <a:ahLst/>
                <a:cxnLst/>
                <a:rect l="l" t="t" r="r" b="b"/>
                <a:pathLst>
                  <a:path w="85726" h="90359">
                    <a:moveTo>
                      <a:pt x="85726" y="66675"/>
                    </a:moveTo>
                    <a:lnTo>
                      <a:pt x="81945" y="71761"/>
                    </a:lnTo>
                    <a:cubicBezTo>
                      <a:pt x="63138" y="90359"/>
                      <a:pt x="32867" y="90359"/>
                      <a:pt x="14060" y="71761"/>
                    </a:cubicBezTo>
                    <a:cubicBezTo>
                      <a:pt x="5063" y="62865"/>
                      <a:pt x="0" y="50738"/>
                      <a:pt x="0" y="38086"/>
                    </a:cubicBezTo>
                    <a:cubicBezTo>
                      <a:pt x="0" y="25433"/>
                      <a:pt x="5063" y="13306"/>
                      <a:pt x="14060" y="4410"/>
                    </a:cubicBezTo>
                    <a:lnTo>
                      <a:pt x="19051" y="0"/>
                    </a:lnTo>
                  </a:path>
                </a:pathLst>
              </a:custGeom>
              <a:noFill/>
              <a:ln w="19050">
                <a:solidFill>
                  <a:srgbClr val="FFFFFF"/>
                </a:solidFill>
              </a:ln>
            </p:spPr>
          </p:sp>
        </p:grpSp>
        <p:sp>
          <p:nvSpPr>
            <p:cNvPr id="152" name="TextBox 152"/>
            <p:cNvSpPr txBox="1"/>
            <p:nvPr/>
          </p:nvSpPr>
          <p:spPr>
            <a:xfrm>
              <a:off x="1536382" y="6167438"/>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接入平台</a:t>
              </a:r>
            </a:p>
          </p:txBody>
        </p:sp>
        <p:sp>
          <p:nvSpPr>
            <p:cNvPr id="153" name="TextBox 153"/>
            <p:cNvSpPr txBox="1"/>
            <p:nvPr/>
          </p:nvSpPr>
          <p:spPr>
            <a:xfrm>
              <a:off x="2185988" y="5782389"/>
              <a:ext cx="1815465" cy="58340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直播间链接嵌入、公众号、官网、</a:t>
              </a:r>
              <a:br/>
              <a:r>
                <a:rPr lang="zh-CN" sz="790" dirty="0">
                  <a:solidFill>
                    <a:srgbClr val="543E3A"/>
                  </a:solidFill>
                  <a:latin typeface="+mn-lt"/>
                  <a:ea typeface="+mn-ea"/>
                  <a:cs typeface="+mn-cs"/>
                </a:rPr>
                <a:t>小程序、H5、APP​</a:t>
              </a:r>
              <a:br/>
              <a:r>
                <a:rPr lang="zh-CN" sz="790" dirty="0">
                  <a:solidFill>
                    <a:srgbClr val="543E3A"/>
                  </a:solidFill>
                  <a:latin typeface="+mn-lt"/>
                  <a:ea typeface="+mn-ea"/>
                  <a:cs typeface="+mn-cs"/>
                </a:rPr>
                <a:t>直播间商品推荐、商品外链、企业商城、</a:t>
              </a:r>
              <a:br/>
              <a:r>
                <a:rPr lang="zh-CN" sz="790" dirty="0">
                  <a:solidFill>
                    <a:srgbClr val="543E3A"/>
                  </a:solidFill>
                  <a:latin typeface="+mn-lt"/>
                  <a:ea typeface="+mn-ea"/>
                  <a:cs typeface="+mn-cs"/>
                </a:rPr>
                <a:t>第三方商城平台</a:t>
              </a:r>
            </a:p>
          </p:txBody>
        </p:sp>
      </p:grpSp>
      <p:grpSp>
        <p:nvGrpSpPr>
          <p:cNvPr id="160" name="cell-fuse-mid"/>
          <p:cNvGrpSpPr/>
          <p:nvPr/>
        </p:nvGrpSpPr>
        <p:grpSpPr>
          <a:xfrm>
            <a:off x="4429125" y="5657850"/>
            <a:ext cx="4524375" cy="819150"/>
            <a:chOff x="4429125" y="5657850"/>
            <a:chExt cx="4524375" cy="819150"/>
          </a:xfrm>
        </p:grpSpPr>
        <p:sp>
          <p:nvSpPr>
            <p:cNvPr id="155" name="Rectangle 155"/>
            <p:cNvSpPr/>
            <p:nvPr/>
          </p:nvSpPr>
          <p:spPr>
            <a:xfrm>
              <a:off x="4429125" y="5657850"/>
              <a:ext cx="4524375" cy="819150"/>
            </a:xfrm>
            <a:prstGeom prst="roundRect">
              <a:avLst>
                <a:gd name="adj" fmla="val 6977"/>
              </a:avLst>
            </a:prstGeom>
            <a:solidFill>
              <a:srgbClr val="FFF8F5"/>
            </a:solidFill>
            <a:ln w="9525">
              <a:solidFill>
                <a:srgbClr val="F3BAB0"/>
              </a:solidFill>
            </a:ln>
          </p:spPr>
        </p:sp>
        <p:sp>
          <p:nvSpPr>
            <p:cNvPr id="156" name="Rectangle 156"/>
            <p:cNvSpPr/>
            <p:nvPr/>
          </p:nvSpPr>
          <p:spPr>
            <a:xfrm>
              <a:off x="4552950" y="5753100"/>
              <a:ext cx="666750" cy="628650"/>
            </a:xfrm>
            <a:prstGeom prst="roundRect">
              <a:avLst>
                <a:gd name="adj" fmla="val 6061"/>
              </a:avLst>
            </a:prstGeom>
            <a:solidFill>
              <a:srgbClr val="E8634C"/>
            </a:solidFill>
            <a:ln>
              <a:noFill/>
            </a:ln>
          </p:spPr>
        </p:sp>
        <p:sp>
          <p:nvSpPr>
            <p:cNvPr id="157" name="Freeform 157"/>
            <p:cNvSpPr/>
            <p:nvPr/>
          </p:nvSpPr>
          <p:spPr>
            <a:xfrm>
              <a:off x="4800600" y="5838825"/>
              <a:ext cx="171450" cy="171450"/>
            </a:xfrm>
            <a:custGeom>
              <a:avLst/>
              <a:gdLst/>
              <a:ahLst/>
              <a:cxnLst/>
              <a:rect l="l" t="t" r="r" b="b"/>
              <a:pathLst>
                <a:path w="171450" h="171450">
                  <a:moveTo>
                    <a:pt x="9525" y="38100"/>
                  </a:moveTo>
                  <a:lnTo>
                    <a:pt x="38100" y="38100"/>
                  </a:lnTo>
                  <a:cubicBezTo>
                    <a:pt x="43361" y="38100"/>
                    <a:pt x="47625" y="33836"/>
                    <a:pt x="47625" y="28575"/>
                  </a:cubicBezTo>
                  <a:lnTo>
                    <a:pt x="47625" y="19050"/>
                  </a:lnTo>
                  <a:cubicBezTo>
                    <a:pt x="47625" y="8529"/>
                    <a:pt x="56154" y="0"/>
                    <a:pt x="66675" y="0"/>
                  </a:cubicBezTo>
                  <a:cubicBezTo>
                    <a:pt x="77196" y="0"/>
                    <a:pt x="85725" y="8529"/>
                    <a:pt x="85725" y="19050"/>
                  </a:cubicBezTo>
                  <a:lnTo>
                    <a:pt x="85725" y="28575"/>
                  </a:lnTo>
                  <a:cubicBezTo>
                    <a:pt x="85725" y="33836"/>
                    <a:pt x="89989" y="38100"/>
                    <a:pt x="95250" y="38100"/>
                  </a:cubicBezTo>
                  <a:lnTo>
                    <a:pt x="123825" y="38100"/>
                  </a:lnTo>
                  <a:cubicBezTo>
                    <a:pt x="129086" y="38100"/>
                    <a:pt x="133350" y="42364"/>
                    <a:pt x="133350" y="47625"/>
                  </a:cubicBezTo>
                  <a:lnTo>
                    <a:pt x="133350" y="76200"/>
                  </a:lnTo>
                  <a:cubicBezTo>
                    <a:pt x="133350" y="81461"/>
                    <a:pt x="137614" y="85725"/>
                    <a:pt x="142875" y="85725"/>
                  </a:cubicBezTo>
                  <a:lnTo>
                    <a:pt x="152400" y="85725"/>
                  </a:lnTo>
                  <a:cubicBezTo>
                    <a:pt x="162921" y="85725"/>
                    <a:pt x="171450" y="94254"/>
                    <a:pt x="171450" y="104775"/>
                  </a:cubicBezTo>
                  <a:cubicBezTo>
                    <a:pt x="171450" y="115296"/>
                    <a:pt x="162921" y="123825"/>
                    <a:pt x="152400" y="123825"/>
                  </a:cubicBezTo>
                  <a:lnTo>
                    <a:pt x="142875" y="123825"/>
                  </a:lnTo>
                  <a:cubicBezTo>
                    <a:pt x="137614" y="123825"/>
                    <a:pt x="133350" y="128089"/>
                    <a:pt x="133350" y="133350"/>
                  </a:cubicBezTo>
                  <a:lnTo>
                    <a:pt x="133350" y="161925"/>
                  </a:lnTo>
                  <a:cubicBezTo>
                    <a:pt x="133350" y="167186"/>
                    <a:pt x="129086" y="171450"/>
                    <a:pt x="123825" y="171450"/>
                  </a:cubicBezTo>
                  <a:lnTo>
                    <a:pt x="95250" y="171450"/>
                  </a:lnTo>
                  <a:cubicBezTo>
                    <a:pt x="89989" y="171450"/>
                    <a:pt x="85725" y="167186"/>
                    <a:pt x="85725" y="161925"/>
                  </a:cubicBezTo>
                  <a:lnTo>
                    <a:pt x="85725" y="152400"/>
                  </a:lnTo>
                  <a:cubicBezTo>
                    <a:pt x="85725" y="141879"/>
                    <a:pt x="77196" y="133350"/>
                    <a:pt x="66675" y="133350"/>
                  </a:cubicBezTo>
                  <a:cubicBezTo>
                    <a:pt x="56154" y="133350"/>
                    <a:pt x="47625" y="141879"/>
                    <a:pt x="47625" y="152400"/>
                  </a:cubicBezTo>
                  <a:lnTo>
                    <a:pt x="47625" y="161925"/>
                  </a:lnTo>
                  <a:cubicBezTo>
                    <a:pt x="47625" y="167186"/>
                    <a:pt x="43361" y="171450"/>
                    <a:pt x="38100" y="171450"/>
                  </a:cubicBezTo>
                  <a:lnTo>
                    <a:pt x="9525" y="171450"/>
                  </a:lnTo>
                  <a:cubicBezTo>
                    <a:pt x="4264" y="171450"/>
                    <a:pt x="0" y="167186"/>
                    <a:pt x="0" y="161925"/>
                  </a:cubicBezTo>
                  <a:lnTo>
                    <a:pt x="0" y="133350"/>
                  </a:lnTo>
                  <a:cubicBezTo>
                    <a:pt x="0" y="128089"/>
                    <a:pt x="4264" y="123825"/>
                    <a:pt x="9525" y="123825"/>
                  </a:cubicBezTo>
                  <a:lnTo>
                    <a:pt x="19050" y="123825"/>
                  </a:lnTo>
                  <a:cubicBezTo>
                    <a:pt x="29571" y="123825"/>
                    <a:pt x="38100" y="115296"/>
                    <a:pt x="38100" y="104775"/>
                  </a:cubicBezTo>
                  <a:cubicBezTo>
                    <a:pt x="38100" y="94254"/>
                    <a:pt x="29571" y="85725"/>
                    <a:pt x="19050" y="85725"/>
                  </a:cubicBezTo>
                  <a:lnTo>
                    <a:pt x="9525" y="85725"/>
                  </a:lnTo>
                  <a:cubicBezTo>
                    <a:pt x="4264" y="85725"/>
                    <a:pt x="0" y="81461"/>
                    <a:pt x="0" y="76200"/>
                  </a:cubicBezTo>
                  <a:lnTo>
                    <a:pt x="0" y="47625"/>
                  </a:lnTo>
                  <a:cubicBezTo>
                    <a:pt x="0" y="42364"/>
                    <a:pt x="4264" y="38100"/>
                    <a:pt x="9525" y="38100"/>
                  </a:cubicBezTo>
                </a:path>
              </a:pathLst>
            </a:custGeom>
            <a:noFill/>
            <a:ln w="19050">
              <a:solidFill>
                <a:srgbClr val="FFFFFF"/>
              </a:solidFill>
            </a:ln>
          </p:spPr>
        </p:sp>
        <p:sp>
          <p:nvSpPr>
            <p:cNvPr id="158" name="TextBox 158"/>
            <p:cNvSpPr txBox="1"/>
            <p:nvPr/>
          </p:nvSpPr>
          <p:spPr>
            <a:xfrm>
              <a:off x="4679632" y="6167438"/>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营销工具</a:t>
              </a:r>
            </a:p>
          </p:txBody>
        </p:sp>
        <p:sp>
          <p:nvSpPr>
            <p:cNvPr id="159" name="TextBox 159"/>
            <p:cNvSpPr txBox="1"/>
            <p:nvPr/>
          </p:nvSpPr>
          <p:spPr>
            <a:xfrm>
              <a:off x="5329238" y="5911691"/>
              <a:ext cx="1982978" cy="352425"/>
            </a:xfrm>
            <a:prstGeom prst="rect">
              <a:avLst/>
            </a:prstGeom>
            <a:noFill/>
            <a:ln>
              <a:noFill/>
            </a:ln>
          </p:spPr>
          <p:txBody>
            <a:bodyPr wrap="none" lIns="0" tIns="0" rIns="0" bIns="0" anchor="t" anchorCtr="0">
              <a:spAutoFit/>
            </a:bodyPr>
            <a:lstStyle/>
            <a:p>
              <a:pPr algn="l">
                <a:lnSpc>
                  <a:spcPts val="1500"/>
                </a:lnSpc>
              </a:pPr>
              <a:r>
                <a:rPr lang="zh-CN" sz="820" dirty="0">
                  <a:solidFill>
                    <a:srgbClr val="543E3A"/>
                  </a:solidFill>
                  <a:latin typeface="+mn-lt"/>
                  <a:ea typeface="+mn-ea"/>
                  <a:cs typeface="+mn-cs"/>
                </a:rPr>
                <a:t>企业微信 第三方营销自动化工具 CDP ABM​</a:t>
              </a:r>
              <a:br/>
              <a:r>
                <a:rPr lang="zh-CN" sz="820" dirty="0">
                  <a:solidFill>
                    <a:srgbClr val="543E3A"/>
                  </a:solidFill>
                  <a:latin typeface="+mn-lt"/>
                  <a:ea typeface="+mn-ea"/>
                  <a:cs typeface="+mn-cs"/>
                </a:rPr>
                <a:t>社群营销 会员管理 微信群助手 分享管理</a:t>
              </a:r>
            </a:p>
          </p:txBody>
        </p:sp>
      </p:gr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47</a:t>
              </a:r>
            </a:p>
          </p:txBody>
        </p:sp>
        <p:sp>
          <p:nvSpPr>
            <p:cNvPr id="4" name="TextBox 4"/>
            <p:cNvSpPr txBox="1"/>
            <p:nvPr/>
          </p:nvSpPr>
          <p:spPr>
            <a:xfrm>
              <a:off x="942594" y="151448"/>
              <a:ext cx="212156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会员获客全路径​</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5" name="stage-bars"/>
          <p:cNvGrpSpPr/>
          <p:nvPr/>
        </p:nvGrpSpPr>
        <p:grpSpPr>
          <a:xfrm>
            <a:off x="504825" y="838200"/>
            <a:ext cx="11182350" cy="298609"/>
            <a:chOff x="504825" y="838200"/>
            <a:chExt cx="11182350" cy="298609"/>
          </a:xfrm>
        </p:grpSpPr>
        <p:sp>
          <p:nvSpPr>
            <p:cNvPr id="7" name="Rectangle 7"/>
            <p:cNvSpPr/>
            <p:nvPr/>
          </p:nvSpPr>
          <p:spPr>
            <a:xfrm>
              <a:off x="504825" y="838200"/>
              <a:ext cx="2771775" cy="285750"/>
            </a:xfrm>
            <a:prstGeom prst="roundRect">
              <a:avLst>
                <a:gd name="adj" fmla="val 10000"/>
              </a:avLst>
            </a:prstGeom>
            <a:gradFill>
              <a:gsLst>
                <a:gs pos="0">
                  <a:srgbClr val="E8634C"/>
                </a:gs>
                <a:gs pos="100000">
                  <a:srgbClr val="F0725C"/>
                </a:gs>
              </a:gsLst>
              <a:lin ang="0" scaled="1"/>
            </a:gradFill>
            <a:ln>
              <a:noFill/>
            </a:ln>
          </p:spPr>
        </p:sp>
        <p:sp>
          <p:nvSpPr>
            <p:cNvPr id="8" name="TextBox 8"/>
            <p:cNvSpPr txBox="1"/>
            <p:nvPr/>
          </p:nvSpPr>
          <p:spPr>
            <a:xfrm>
              <a:off x="1427912" y="91678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导流盘活流量</a:t>
              </a:r>
            </a:p>
          </p:txBody>
        </p:sp>
        <p:sp>
          <p:nvSpPr>
            <p:cNvPr id="9" name="Rectangle 9"/>
            <p:cNvSpPr/>
            <p:nvPr/>
          </p:nvSpPr>
          <p:spPr>
            <a:xfrm>
              <a:off x="3381375" y="838200"/>
              <a:ext cx="2714625" cy="285750"/>
            </a:xfrm>
            <a:prstGeom prst="roundRect">
              <a:avLst>
                <a:gd name="adj" fmla="val 10000"/>
              </a:avLst>
            </a:prstGeom>
            <a:gradFill>
              <a:gsLst>
                <a:gs pos="0">
                  <a:srgbClr val="E8634C"/>
                </a:gs>
                <a:gs pos="100000">
                  <a:srgbClr val="F0725C"/>
                </a:gs>
              </a:gsLst>
              <a:lin ang="0" scaled="1"/>
            </a:gradFill>
            <a:ln>
              <a:noFill/>
            </a:ln>
          </p:spPr>
        </p:sp>
        <p:sp>
          <p:nvSpPr>
            <p:cNvPr id="10" name="TextBox 10"/>
            <p:cNvSpPr txBox="1"/>
            <p:nvPr/>
          </p:nvSpPr>
          <p:spPr>
            <a:xfrm>
              <a:off x="4577436" y="91678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微店</a:t>
              </a:r>
            </a:p>
          </p:txBody>
        </p:sp>
        <p:sp>
          <p:nvSpPr>
            <p:cNvPr id="11" name="Rectangle 11"/>
            <p:cNvSpPr/>
            <p:nvPr/>
          </p:nvSpPr>
          <p:spPr>
            <a:xfrm>
              <a:off x="6210300" y="838200"/>
              <a:ext cx="3438525" cy="285750"/>
            </a:xfrm>
            <a:prstGeom prst="roundRect">
              <a:avLst>
                <a:gd name="adj" fmla="val 10000"/>
              </a:avLst>
            </a:prstGeom>
            <a:gradFill>
              <a:gsLst>
                <a:gs pos="0">
                  <a:srgbClr val="E8634C"/>
                </a:gs>
                <a:gs pos="100000">
                  <a:srgbClr val="F0725C"/>
                </a:gs>
              </a:gsLst>
              <a:lin ang="0" scaled="1"/>
            </a:gradFill>
            <a:ln>
              <a:noFill/>
            </a:ln>
          </p:spPr>
        </p:sp>
        <p:sp>
          <p:nvSpPr>
            <p:cNvPr id="12" name="TextBox 12"/>
            <p:cNvSpPr txBox="1"/>
            <p:nvPr/>
          </p:nvSpPr>
          <p:spPr>
            <a:xfrm>
              <a:off x="7530464" y="916781"/>
              <a:ext cx="78867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转化&amp;履约​</a:t>
              </a:r>
            </a:p>
          </p:txBody>
        </p:sp>
        <p:sp>
          <p:nvSpPr>
            <p:cNvPr id="13" name="Rectangle 13"/>
            <p:cNvSpPr/>
            <p:nvPr/>
          </p:nvSpPr>
          <p:spPr>
            <a:xfrm>
              <a:off x="9763125" y="838200"/>
              <a:ext cx="1924050" cy="285750"/>
            </a:xfrm>
            <a:prstGeom prst="roundRect">
              <a:avLst>
                <a:gd name="adj" fmla="val 10000"/>
              </a:avLst>
            </a:prstGeom>
            <a:gradFill>
              <a:gsLst>
                <a:gs pos="0">
                  <a:srgbClr val="E8634C"/>
                </a:gs>
                <a:gs pos="100000">
                  <a:srgbClr val="F0725C"/>
                </a:gs>
              </a:gsLst>
              <a:lin ang="0" scaled="1"/>
            </a:gradFill>
            <a:ln>
              <a:noFill/>
            </a:ln>
          </p:spPr>
        </p:sp>
        <p:sp>
          <p:nvSpPr>
            <p:cNvPr id="14" name="TextBox 14"/>
            <p:cNvSpPr txBox="1"/>
            <p:nvPr/>
          </p:nvSpPr>
          <p:spPr>
            <a:xfrm>
              <a:off x="10568661" y="91678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留存</a:t>
              </a:r>
            </a:p>
          </p:txBody>
        </p:sp>
      </p:grpSp>
      <p:grpSp>
        <p:nvGrpSpPr>
          <p:cNvPr id="31" name="left-online"/>
          <p:cNvGrpSpPr/>
          <p:nvPr/>
        </p:nvGrpSpPr>
        <p:grpSpPr>
          <a:xfrm>
            <a:off x="280302" y="1257300"/>
            <a:ext cx="3967848" cy="2571750"/>
            <a:chOff x="280302" y="1257300"/>
            <a:chExt cx="3967848" cy="2571750"/>
          </a:xfrm>
        </p:grpSpPr>
        <p:sp>
          <p:nvSpPr>
            <p:cNvPr id="16" name="Rectangle 16"/>
            <p:cNvSpPr/>
            <p:nvPr/>
          </p:nvSpPr>
          <p:spPr>
            <a:xfrm>
              <a:off x="523875" y="1257300"/>
              <a:ext cx="314325" cy="2571750"/>
            </a:xfrm>
            <a:prstGeom prst="roundRect">
              <a:avLst>
                <a:gd name="adj" fmla="val 9091"/>
              </a:avLst>
            </a:prstGeom>
            <a:solidFill>
              <a:srgbClr val="C45F4A"/>
            </a:solidFill>
            <a:ln>
              <a:noFill/>
            </a:ln>
          </p:spPr>
        </p:sp>
        <p:grpSp>
          <p:nvGrpSpPr>
            <p:cNvPr id="18" name="Group 18"/>
            <p:cNvGrpSpPr/>
            <p:nvPr/>
          </p:nvGrpSpPr>
          <p:grpSpPr>
            <a:xfrm rot="-5400000">
              <a:off x="318020" y="2447830"/>
              <a:ext cx="801472" cy="190690"/>
              <a:chOff x="280302" y="2485549"/>
              <a:chExt cx="801472" cy="190690"/>
            </a:xfrm>
          </p:grpSpPr>
          <p:sp>
            <p:nvSpPr>
              <p:cNvPr id="17" name="TextBox 17"/>
              <p:cNvSpPr txBox="1"/>
              <p:nvPr/>
            </p:nvSpPr>
            <p:spPr>
              <a:xfrm>
                <a:off x="280302" y="248554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线上流量导流</a:t>
                </a:r>
              </a:p>
            </p:txBody>
          </p:sp>
        </p:grpSp>
        <p:sp>
          <p:nvSpPr>
            <p:cNvPr id="19" name="Rectangle 19"/>
            <p:cNvSpPr/>
            <p:nvPr/>
          </p:nvSpPr>
          <p:spPr>
            <a:xfrm>
              <a:off x="914400" y="1257300"/>
              <a:ext cx="2324100" cy="2571750"/>
            </a:xfrm>
            <a:prstGeom prst="roundRect">
              <a:avLst>
                <a:gd name="adj" fmla="val 2459"/>
              </a:avLst>
            </a:prstGeom>
            <a:solidFill>
              <a:srgbClr val="F7F8FD"/>
            </a:solidFill>
            <a:ln w="11430">
              <a:solidFill>
                <a:srgbClr val="C46D5B"/>
              </a:solidFill>
              <a:custDash>
                <a:ds d="416667" sp="250000"/>
              </a:custDash>
            </a:ln>
          </p:spPr>
        </p:sp>
        <p:sp>
          <p:nvSpPr>
            <p:cNvPr id="20" name="TextBox 20"/>
            <p:cNvSpPr txBox="1"/>
            <p:nvPr/>
          </p:nvSpPr>
          <p:spPr>
            <a:xfrm>
              <a:off x="1042988" y="1369695"/>
              <a:ext cx="752309" cy="176212"/>
            </a:xfrm>
            <a:prstGeom prst="rect">
              <a:avLst/>
            </a:prstGeom>
            <a:noFill/>
            <a:ln>
              <a:noFill/>
            </a:ln>
          </p:spPr>
          <p:txBody>
            <a:bodyPr wrap="none" lIns="0" tIns="0" rIns="0" bIns="0" anchor="t" anchorCtr="0">
              <a:spAutoFit/>
            </a:bodyPr>
            <a:lstStyle/>
            <a:p>
              <a:pPr algn="l"/>
              <a:r>
                <a:rPr lang="zh-CN" sz="900" b="1" dirty="0">
                  <a:solidFill>
                    <a:srgbClr val="C45F4A"/>
                  </a:solidFill>
                  <a:latin typeface="+mn-lt"/>
                  <a:ea typeface="+mn-ea"/>
                  <a:cs typeface="+mn-cs"/>
                </a:rPr>
                <a:t>A. 线上场景​</a:t>
              </a:r>
            </a:p>
          </p:txBody>
        </p:sp>
        <p:sp>
          <p:nvSpPr>
            <p:cNvPr id="21" name="TextBox 21"/>
            <p:cNvSpPr txBox="1"/>
            <p:nvPr/>
          </p:nvSpPr>
          <p:spPr>
            <a:xfrm>
              <a:off x="1176338" y="1549241"/>
              <a:ext cx="988441" cy="323850"/>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朋友圈/公众号文章</a:t>
              </a:r>
            </a:p>
            <a:p>
              <a:pPr algn="l" marL="88519" indent="-88519">
                <a:lnSpc>
                  <a:spcPts val="1275"/>
                </a:lnSpc>
                <a:buClr>
                  <a:srgbClr val="543E3A"/>
                </a:buClr>
                <a:buSzTx/>
                <a:buFontTx/>
                <a:buChar char="•"/>
              </a:pPr>
              <a:r>
                <a:rPr lang="zh-CN" sz="820" dirty="0">
                  <a:solidFill>
                    <a:srgbClr val="543E3A"/>
                  </a:solidFill>
                  <a:latin typeface="+mn-lt"/>
                  <a:ea typeface="+mn-ea"/>
                  <a:cs typeface="+mn-cs"/>
                </a:rPr>
                <a:t>小程序/线上社群</a:t>
              </a:r>
            </a:p>
          </p:txBody>
        </p:sp>
        <p:sp>
          <p:nvSpPr>
            <p:cNvPr id="22" name="TextBox 22"/>
            <p:cNvSpPr txBox="1"/>
            <p:nvPr/>
          </p:nvSpPr>
          <p:spPr>
            <a:xfrm>
              <a:off x="1042988" y="1988820"/>
              <a:ext cx="752309" cy="176212"/>
            </a:xfrm>
            <a:prstGeom prst="rect">
              <a:avLst/>
            </a:prstGeom>
            <a:noFill/>
            <a:ln>
              <a:noFill/>
            </a:ln>
          </p:spPr>
          <p:txBody>
            <a:bodyPr wrap="none" lIns="0" tIns="0" rIns="0" bIns="0" anchor="t" anchorCtr="0">
              <a:spAutoFit/>
            </a:bodyPr>
            <a:lstStyle/>
            <a:p>
              <a:pPr algn="l"/>
              <a:r>
                <a:rPr lang="zh-CN" sz="900" b="1" dirty="0">
                  <a:solidFill>
                    <a:srgbClr val="C45F4A"/>
                  </a:solidFill>
                  <a:latin typeface="+mn-lt"/>
                  <a:ea typeface="+mn-ea"/>
                  <a:cs typeface="+mn-cs"/>
                </a:rPr>
                <a:t>B. 社交场景​</a:t>
              </a:r>
            </a:p>
          </p:txBody>
        </p:sp>
        <p:sp>
          <p:nvSpPr>
            <p:cNvPr id="23" name="TextBox 23"/>
            <p:cNvSpPr txBox="1"/>
            <p:nvPr/>
          </p:nvSpPr>
          <p:spPr>
            <a:xfrm>
              <a:off x="1176338" y="2168366"/>
              <a:ext cx="535432" cy="323850"/>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好友邀请</a:t>
              </a:r>
            </a:p>
            <a:p>
              <a:pPr algn="l" marL="88519" indent="-88519">
                <a:lnSpc>
                  <a:spcPts val="1275"/>
                </a:lnSpc>
                <a:buClr>
                  <a:srgbClr val="543E3A"/>
                </a:buClr>
                <a:buSzTx/>
                <a:buFontTx/>
                <a:buChar char="•"/>
              </a:pPr>
              <a:r>
                <a:rPr lang="zh-CN" sz="820" dirty="0">
                  <a:solidFill>
                    <a:srgbClr val="543E3A"/>
                  </a:solidFill>
                  <a:latin typeface="+mn-lt"/>
                  <a:ea typeface="+mn-ea"/>
                  <a:cs typeface="+mn-cs"/>
                </a:rPr>
                <a:t>CPS分销​</a:t>
              </a:r>
            </a:p>
          </p:txBody>
        </p:sp>
        <p:sp>
          <p:nvSpPr>
            <p:cNvPr id="24" name="TextBox 24"/>
            <p:cNvSpPr txBox="1"/>
            <p:nvPr/>
          </p:nvSpPr>
          <p:spPr>
            <a:xfrm>
              <a:off x="1042988" y="2607945"/>
              <a:ext cx="752309" cy="176212"/>
            </a:xfrm>
            <a:prstGeom prst="rect">
              <a:avLst/>
            </a:prstGeom>
            <a:noFill/>
            <a:ln>
              <a:noFill/>
            </a:ln>
          </p:spPr>
          <p:txBody>
            <a:bodyPr wrap="none" lIns="0" tIns="0" rIns="0" bIns="0" anchor="t" anchorCtr="0">
              <a:spAutoFit/>
            </a:bodyPr>
            <a:lstStyle/>
            <a:p>
              <a:pPr algn="l"/>
              <a:r>
                <a:rPr lang="zh-CN" sz="900" b="1" dirty="0">
                  <a:solidFill>
                    <a:srgbClr val="C45F4A"/>
                  </a:solidFill>
                  <a:latin typeface="+mn-lt"/>
                  <a:ea typeface="+mn-ea"/>
                  <a:cs typeface="+mn-cs"/>
                </a:rPr>
                <a:t>C. 社交广告​</a:t>
              </a:r>
            </a:p>
          </p:txBody>
        </p:sp>
        <p:sp>
          <p:nvSpPr>
            <p:cNvPr id="25" name="TextBox 25"/>
            <p:cNvSpPr txBox="1"/>
            <p:nvPr/>
          </p:nvSpPr>
          <p:spPr>
            <a:xfrm>
              <a:off x="1176338" y="2787491"/>
              <a:ext cx="535432" cy="323850"/>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好友邀请</a:t>
              </a:r>
            </a:p>
            <a:p>
              <a:pPr algn="l" marL="88519" indent="-88519">
                <a:lnSpc>
                  <a:spcPts val="1275"/>
                </a:lnSpc>
                <a:buClr>
                  <a:srgbClr val="543E3A"/>
                </a:buClr>
                <a:buSzTx/>
                <a:buFontTx/>
                <a:buChar char="•"/>
              </a:pPr>
              <a:r>
                <a:rPr lang="zh-CN" sz="820" dirty="0">
                  <a:solidFill>
                    <a:srgbClr val="543E3A"/>
                  </a:solidFill>
                  <a:latin typeface="+mn-lt"/>
                  <a:ea typeface="+mn-ea"/>
                  <a:cs typeface="+mn-cs"/>
                </a:rPr>
                <a:t>CPS分销​</a:t>
              </a:r>
            </a:p>
          </p:txBody>
        </p:sp>
        <p:sp>
          <p:nvSpPr>
            <p:cNvPr id="26" name="TextBox 26"/>
            <p:cNvSpPr txBox="1"/>
            <p:nvPr/>
          </p:nvSpPr>
          <p:spPr>
            <a:xfrm>
              <a:off x="1042988" y="3227070"/>
              <a:ext cx="752309" cy="176212"/>
            </a:xfrm>
            <a:prstGeom prst="rect">
              <a:avLst/>
            </a:prstGeom>
            <a:noFill/>
            <a:ln>
              <a:noFill/>
            </a:ln>
          </p:spPr>
          <p:txBody>
            <a:bodyPr wrap="none" lIns="0" tIns="0" rIns="0" bIns="0" anchor="t" anchorCtr="0">
              <a:spAutoFit/>
            </a:bodyPr>
            <a:lstStyle/>
            <a:p>
              <a:pPr algn="l"/>
              <a:r>
                <a:rPr lang="zh-CN" sz="900" b="1" dirty="0">
                  <a:solidFill>
                    <a:srgbClr val="C45F4A"/>
                  </a:solidFill>
                  <a:latin typeface="+mn-lt"/>
                  <a:ea typeface="+mn-ea"/>
                  <a:cs typeface="+mn-cs"/>
                </a:rPr>
                <a:t>D. 线下入口​</a:t>
              </a:r>
            </a:p>
          </p:txBody>
        </p:sp>
        <p:sp>
          <p:nvSpPr>
            <p:cNvPr id="27" name="TextBox 27"/>
            <p:cNvSpPr txBox="1"/>
            <p:nvPr/>
          </p:nvSpPr>
          <p:spPr>
            <a:xfrm>
              <a:off x="1176338" y="3406616"/>
              <a:ext cx="870763" cy="161925"/>
            </a:xfrm>
            <a:prstGeom prst="rect">
              <a:avLst/>
            </a:prstGeom>
            <a:noFill/>
            <a:ln>
              <a:noFill/>
            </a:ln>
          </p:spPr>
          <p:txBody>
            <a:bodyPr wrap="none" lIns="0" tIns="0" rIns="0" bIns="0" anchor="t" anchorCtr="0">
              <a:spAutoFit/>
            </a:bodyPr>
            <a:lstStyle/>
            <a:p>
              <a:pPr algn="l" marL="88519" indent="-88519">
                <a:buClr>
                  <a:srgbClr val="543E3A"/>
                </a:buClr>
                <a:buSzTx/>
                <a:buFontTx/>
                <a:buChar char="•"/>
              </a:pPr>
              <a:r>
                <a:rPr lang="zh-CN" sz="820" dirty="0">
                  <a:solidFill>
                    <a:srgbClr val="543E3A"/>
                  </a:solidFill>
                  <a:latin typeface="+mn-lt"/>
                  <a:ea typeface="+mn-ea"/>
                  <a:cs typeface="+mn-cs"/>
                </a:rPr>
                <a:t>品牌线下活动码</a:t>
              </a:r>
            </a:p>
          </p:txBody>
        </p:sp>
        <p:sp>
          <p:nvSpPr>
            <p:cNvPr id="28" name="Rectangle 28"/>
            <p:cNvSpPr/>
            <p:nvPr/>
          </p:nvSpPr>
          <p:spPr>
            <a:xfrm>
              <a:off x="2857500" y="2495550"/>
              <a:ext cx="838200" cy="381000"/>
            </a:xfrm>
            <a:prstGeom prst="roundRect">
              <a:avLst>
                <a:gd name="adj" fmla="val 10000"/>
              </a:avLst>
            </a:prstGeom>
            <a:solidFill>
              <a:srgbClr val="C46D5B"/>
            </a:solidFill>
            <a:ln>
              <a:noFill/>
            </a:ln>
          </p:spPr>
        </p:sp>
        <p:sp>
          <p:nvSpPr>
            <p:cNvPr id="29" name="TextBox 29"/>
            <p:cNvSpPr txBox="1"/>
            <p:nvPr/>
          </p:nvSpPr>
          <p:spPr>
            <a:xfrm>
              <a:off x="3043587" y="2572464"/>
              <a:ext cx="466026"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FFFFFF"/>
                  </a:solidFill>
                  <a:latin typeface="+mn-lt"/>
                  <a:ea typeface="+mn-ea"/>
                  <a:cs typeface="+mn-cs"/>
                </a:rPr>
                <a:t>点击/扫码</a:t>
              </a:r>
              <a:br/>
              <a:r>
                <a:rPr lang="zh-CN" sz="790" dirty="0">
                  <a:solidFill>
                    <a:srgbClr val="FFFFFF"/>
                  </a:solidFill>
                  <a:latin typeface="+mn-lt"/>
                  <a:ea typeface="+mn-ea"/>
                  <a:cs typeface="+mn-cs"/>
                </a:rPr>
                <a:t>长按进入</a:t>
              </a:r>
            </a:p>
          </p:txBody>
        </p:sp>
        <p:sp>
          <p:nvSpPr>
            <p:cNvPr id="30" name="Line 30"/>
            <p:cNvSpPr/>
            <p:nvPr/>
          </p:nvSpPr>
          <p:spPr>
            <a:xfrm>
              <a:off x="3695700" y="2686050"/>
              <a:ext cx="552450" cy="1"/>
            </a:xfrm>
            <a:prstGeom prst="line">
              <a:avLst/>
            </a:prstGeom>
            <a:noFill/>
            <a:ln w="14288">
              <a:solidFill>
                <a:srgbClr val="C46D5B"/>
              </a:solidFill>
              <a:tailEnd type="triangle" w="lg" len="lg"/>
            </a:ln>
          </p:spPr>
        </p:sp>
      </p:grpSp>
      <p:grpSp>
        <p:nvGrpSpPr>
          <p:cNvPr id="53" name="left-offline"/>
          <p:cNvGrpSpPr/>
          <p:nvPr/>
        </p:nvGrpSpPr>
        <p:grpSpPr>
          <a:xfrm>
            <a:off x="280302" y="3962400"/>
            <a:ext cx="3967848" cy="2609850"/>
            <a:chOff x="280302" y="3962400"/>
            <a:chExt cx="3967848" cy="2609850"/>
          </a:xfrm>
        </p:grpSpPr>
        <p:sp>
          <p:nvSpPr>
            <p:cNvPr id="32" name="Rectangle 32"/>
            <p:cNvSpPr/>
            <p:nvPr/>
          </p:nvSpPr>
          <p:spPr>
            <a:xfrm>
              <a:off x="523875" y="3962400"/>
              <a:ext cx="314325" cy="2609850"/>
            </a:xfrm>
            <a:prstGeom prst="roundRect">
              <a:avLst>
                <a:gd name="adj" fmla="val 9091"/>
              </a:avLst>
            </a:prstGeom>
            <a:solidFill>
              <a:srgbClr val="C45F4A"/>
            </a:solidFill>
            <a:ln>
              <a:noFill/>
            </a:ln>
          </p:spPr>
        </p:sp>
        <p:grpSp>
          <p:nvGrpSpPr>
            <p:cNvPr id="34" name="Group 34"/>
            <p:cNvGrpSpPr/>
            <p:nvPr/>
          </p:nvGrpSpPr>
          <p:grpSpPr>
            <a:xfrm rot="-5400000">
              <a:off x="318020" y="5171980"/>
              <a:ext cx="801472" cy="190690"/>
              <a:chOff x="280302" y="5209699"/>
              <a:chExt cx="801472" cy="190690"/>
            </a:xfrm>
          </p:grpSpPr>
          <p:sp>
            <p:nvSpPr>
              <p:cNvPr id="33" name="TextBox 33"/>
              <p:cNvSpPr txBox="1"/>
              <p:nvPr/>
            </p:nvSpPr>
            <p:spPr>
              <a:xfrm>
                <a:off x="280302" y="520969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线下流量导流</a:t>
                </a:r>
              </a:p>
            </p:txBody>
          </p:sp>
        </p:grpSp>
        <p:sp>
          <p:nvSpPr>
            <p:cNvPr id="35" name="Rectangle 35"/>
            <p:cNvSpPr/>
            <p:nvPr/>
          </p:nvSpPr>
          <p:spPr>
            <a:xfrm>
              <a:off x="914400" y="3962400"/>
              <a:ext cx="2324100" cy="2609850"/>
            </a:xfrm>
            <a:prstGeom prst="roundRect">
              <a:avLst>
                <a:gd name="adj" fmla="val 2459"/>
              </a:avLst>
            </a:prstGeom>
            <a:solidFill>
              <a:srgbClr val="F7F8FD"/>
            </a:solidFill>
            <a:ln w="11430">
              <a:solidFill>
                <a:srgbClr val="C46D5B"/>
              </a:solidFill>
              <a:custDash>
                <a:ds d="416667" sp="250000"/>
              </a:custDash>
            </a:ln>
          </p:spPr>
        </p:sp>
        <p:sp>
          <p:nvSpPr>
            <p:cNvPr id="36" name="TextBox 36"/>
            <p:cNvSpPr txBox="1"/>
            <p:nvPr/>
          </p:nvSpPr>
          <p:spPr>
            <a:xfrm>
              <a:off x="1042988" y="4074795"/>
              <a:ext cx="994625" cy="176212"/>
            </a:xfrm>
            <a:prstGeom prst="rect">
              <a:avLst/>
            </a:prstGeom>
            <a:noFill/>
            <a:ln>
              <a:noFill/>
            </a:ln>
          </p:spPr>
          <p:txBody>
            <a:bodyPr wrap="none" lIns="0" tIns="0" rIns="0" bIns="0" anchor="t" anchorCtr="0">
              <a:spAutoFit/>
            </a:bodyPr>
            <a:lstStyle/>
            <a:p>
              <a:pPr algn="l"/>
              <a:r>
                <a:rPr lang="zh-CN" sz="900" b="1" dirty="0">
                  <a:solidFill>
                    <a:srgbClr val="C45F4A"/>
                  </a:solidFill>
                  <a:latin typeface="+mn-lt"/>
                  <a:ea typeface="+mn-ea"/>
                  <a:cs typeface="+mn-cs"/>
                </a:rPr>
                <a:t>A. 线上引流场景​</a:t>
              </a:r>
            </a:p>
          </p:txBody>
        </p:sp>
        <p:sp>
          <p:nvSpPr>
            <p:cNvPr id="37" name="TextBox 37"/>
            <p:cNvSpPr txBox="1"/>
            <p:nvPr/>
          </p:nvSpPr>
          <p:spPr>
            <a:xfrm>
              <a:off x="1176338" y="4254341"/>
              <a:ext cx="1009269" cy="323850"/>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门店附近x公里LBS​</a:t>
              </a:r>
            </a:p>
            <a:p>
              <a:pPr algn="l" marL="88519" indent="-88519">
                <a:lnSpc>
                  <a:spcPts val="1275"/>
                </a:lnSpc>
                <a:buClr>
                  <a:srgbClr val="543E3A"/>
                </a:buClr>
                <a:buSzTx/>
                <a:buFontTx/>
                <a:buChar char="•"/>
              </a:pPr>
              <a:r>
                <a:rPr lang="zh-CN" sz="820" dirty="0">
                  <a:solidFill>
                    <a:srgbClr val="543E3A"/>
                  </a:solidFill>
                  <a:latin typeface="+mn-lt"/>
                  <a:ea typeface="+mn-ea"/>
                  <a:cs typeface="+mn-cs"/>
                </a:rPr>
                <a:t>门店社群</a:t>
              </a:r>
            </a:p>
          </p:txBody>
        </p:sp>
        <p:sp>
          <p:nvSpPr>
            <p:cNvPr id="38" name="TextBox 38"/>
            <p:cNvSpPr txBox="1"/>
            <p:nvPr/>
          </p:nvSpPr>
          <p:spPr>
            <a:xfrm>
              <a:off x="1042988" y="4693920"/>
              <a:ext cx="509993" cy="176212"/>
            </a:xfrm>
            <a:prstGeom prst="rect">
              <a:avLst/>
            </a:prstGeom>
            <a:noFill/>
            <a:ln>
              <a:noFill/>
            </a:ln>
          </p:spPr>
          <p:txBody>
            <a:bodyPr wrap="none" lIns="0" tIns="0" rIns="0" bIns="0" anchor="t" anchorCtr="0">
              <a:spAutoFit/>
            </a:bodyPr>
            <a:lstStyle/>
            <a:p>
              <a:pPr algn="l"/>
              <a:r>
                <a:rPr lang="zh-CN" sz="900" b="1" dirty="0">
                  <a:solidFill>
                    <a:srgbClr val="C45F4A"/>
                  </a:solidFill>
                  <a:latin typeface="+mn-lt"/>
                  <a:ea typeface="+mn-ea"/>
                  <a:cs typeface="+mn-cs"/>
                </a:rPr>
                <a:t>B. 店长​</a:t>
              </a:r>
            </a:p>
          </p:txBody>
        </p:sp>
        <p:sp>
          <p:nvSpPr>
            <p:cNvPr id="39" name="TextBox 39"/>
            <p:cNvSpPr txBox="1"/>
            <p:nvPr/>
          </p:nvSpPr>
          <p:spPr>
            <a:xfrm>
              <a:off x="1176338" y="4873466"/>
              <a:ext cx="722884" cy="323850"/>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店长二维码</a:t>
              </a:r>
            </a:p>
            <a:p>
              <a:pPr algn="l" marL="88519" indent="-88519">
                <a:lnSpc>
                  <a:spcPts val="1275"/>
                </a:lnSpc>
                <a:buClr>
                  <a:srgbClr val="543E3A"/>
                </a:buClr>
                <a:buSzTx/>
                <a:buFontTx/>
                <a:buChar char="•"/>
              </a:pPr>
              <a:r>
                <a:rPr lang="zh-CN" sz="820" dirty="0">
                  <a:solidFill>
                    <a:srgbClr val="543E3A"/>
                  </a:solidFill>
                  <a:latin typeface="+mn-lt"/>
                  <a:ea typeface="+mn-ea"/>
                  <a:cs typeface="+mn-cs"/>
                </a:rPr>
                <a:t>店长推送卡片</a:t>
              </a:r>
            </a:p>
          </p:txBody>
        </p:sp>
        <p:sp>
          <p:nvSpPr>
            <p:cNvPr id="40" name="TextBox 40"/>
            <p:cNvSpPr txBox="1"/>
            <p:nvPr/>
          </p:nvSpPr>
          <p:spPr>
            <a:xfrm>
              <a:off x="1042988" y="5313045"/>
              <a:ext cx="994625" cy="176212"/>
            </a:xfrm>
            <a:prstGeom prst="rect">
              <a:avLst/>
            </a:prstGeom>
            <a:noFill/>
            <a:ln>
              <a:noFill/>
            </a:ln>
          </p:spPr>
          <p:txBody>
            <a:bodyPr wrap="none" lIns="0" tIns="0" rIns="0" bIns="0" anchor="t" anchorCtr="0">
              <a:spAutoFit/>
            </a:bodyPr>
            <a:lstStyle/>
            <a:p>
              <a:pPr algn="l"/>
              <a:r>
                <a:rPr lang="zh-CN" sz="900" b="1" dirty="0">
                  <a:solidFill>
                    <a:srgbClr val="C45F4A"/>
                  </a:solidFill>
                  <a:latin typeface="+mn-lt"/>
                  <a:ea typeface="+mn-ea"/>
                  <a:cs typeface="+mn-cs"/>
                </a:rPr>
                <a:t>C. 支付线下场景​</a:t>
              </a:r>
            </a:p>
          </p:txBody>
        </p:sp>
        <p:sp>
          <p:nvSpPr>
            <p:cNvPr id="41" name="TextBox 41"/>
            <p:cNvSpPr txBox="1"/>
            <p:nvPr/>
          </p:nvSpPr>
          <p:spPr>
            <a:xfrm>
              <a:off x="1176338" y="5492591"/>
              <a:ext cx="722884" cy="323850"/>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支付线下场景</a:t>
              </a:r>
            </a:p>
            <a:p>
              <a:pPr algn="l" marL="88519" indent="-88519">
                <a:lnSpc>
                  <a:spcPts val="1275"/>
                </a:lnSpc>
                <a:buClr>
                  <a:srgbClr val="543E3A"/>
                </a:buClr>
                <a:buSzTx/>
                <a:buFontTx/>
                <a:buChar char="•"/>
              </a:pPr>
              <a:r>
                <a:rPr lang="zh-CN" sz="820" dirty="0">
                  <a:solidFill>
                    <a:srgbClr val="543E3A"/>
                  </a:solidFill>
                  <a:latin typeface="+mn-lt"/>
                  <a:ea typeface="+mn-ea"/>
                  <a:cs typeface="+mn-cs"/>
                </a:rPr>
                <a:t>收银台</a:t>
              </a:r>
            </a:p>
          </p:txBody>
        </p:sp>
        <p:sp>
          <p:nvSpPr>
            <p:cNvPr id="42" name="TextBox 42"/>
            <p:cNvSpPr txBox="1"/>
            <p:nvPr/>
          </p:nvSpPr>
          <p:spPr>
            <a:xfrm>
              <a:off x="1042988" y="5932170"/>
              <a:ext cx="752309" cy="176212"/>
            </a:xfrm>
            <a:prstGeom prst="rect">
              <a:avLst/>
            </a:prstGeom>
            <a:noFill/>
            <a:ln>
              <a:noFill/>
            </a:ln>
          </p:spPr>
          <p:txBody>
            <a:bodyPr wrap="none" lIns="0" tIns="0" rIns="0" bIns="0" anchor="t" anchorCtr="0">
              <a:spAutoFit/>
            </a:bodyPr>
            <a:lstStyle/>
            <a:p>
              <a:pPr algn="l"/>
              <a:r>
                <a:rPr lang="zh-CN" sz="900" b="1" dirty="0">
                  <a:solidFill>
                    <a:srgbClr val="C45F4A"/>
                  </a:solidFill>
                  <a:latin typeface="+mn-lt"/>
                  <a:ea typeface="+mn-ea"/>
                  <a:cs typeface="+mn-cs"/>
                </a:rPr>
                <a:t>D. 社交广告​</a:t>
              </a:r>
            </a:p>
          </p:txBody>
        </p:sp>
        <p:sp>
          <p:nvSpPr>
            <p:cNvPr id="43" name="TextBox 43"/>
            <p:cNvSpPr txBox="1"/>
            <p:nvPr/>
          </p:nvSpPr>
          <p:spPr>
            <a:xfrm>
              <a:off x="1176338" y="6111716"/>
              <a:ext cx="870763" cy="161925"/>
            </a:xfrm>
            <a:prstGeom prst="rect">
              <a:avLst/>
            </a:prstGeom>
            <a:noFill/>
            <a:ln>
              <a:noFill/>
            </a:ln>
          </p:spPr>
          <p:txBody>
            <a:bodyPr wrap="none" lIns="0" tIns="0" rIns="0" bIns="0" anchor="t" anchorCtr="0">
              <a:spAutoFit/>
            </a:bodyPr>
            <a:lstStyle/>
            <a:p>
              <a:pPr algn="l" marL="88519" indent="-88519">
                <a:buClr>
                  <a:srgbClr val="543E3A"/>
                </a:buClr>
                <a:buSzTx/>
                <a:buFontTx/>
                <a:buChar char="•"/>
              </a:pPr>
              <a:r>
                <a:rPr lang="zh-CN" sz="820" dirty="0">
                  <a:solidFill>
                    <a:srgbClr val="543E3A"/>
                  </a:solidFill>
                  <a:latin typeface="+mn-lt"/>
                  <a:ea typeface="+mn-ea"/>
                  <a:cs typeface="+mn-cs"/>
                </a:rPr>
                <a:t>品牌线下活动码</a:t>
              </a:r>
            </a:p>
          </p:txBody>
        </p:sp>
        <p:sp>
          <p:nvSpPr>
            <p:cNvPr id="44" name="Rectangle 44"/>
            <p:cNvSpPr/>
            <p:nvPr/>
          </p:nvSpPr>
          <p:spPr>
            <a:xfrm>
              <a:off x="2857500" y="4191000"/>
              <a:ext cx="838200" cy="381000"/>
            </a:xfrm>
            <a:prstGeom prst="roundRect">
              <a:avLst>
                <a:gd name="adj" fmla="val 10000"/>
              </a:avLst>
            </a:prstGeom>
            <a:solidFill>
              <a:srgbClr val="C46D5B"/>
            </a:solidFill>
            <a:ln>
              <a:noFill/>
            </a:ln>
          </p:spPr>
        </p:sp>
        <p:sp>
          <p:nvSpPr>
            <p:cNvPr id="45" name="TextBox 45"/>
            <p:cNvSpPr txBox="1"/>
            <p:nvPr/>
          </p:nvSpPr>
          <p:spPr>
            <a:xfrm>
              <a:off x="3043587" y="4267914"/>
              <a:ext cx="466026"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FFFFFF"/>
                  </a:solidFill>
                  <a:latin typeface="+mn-lt"/>
                  <a:ea typeface="+mn-ea"/>
                  <a:cs typeface="+mn-cs"/>
                </a:rPr>
                <a:t>点击/扫码</a:t>
              </a:r>
              <a:br/>
              <a:r>
                <a:rPr lang="zh-CN" sz="790" dirty="0">
                  <a:solidFill>
                    <a:srgbClr val="FFFFFF"/>
                  </a:solidFill>
                  <a:latin typeface="+mn-lt"/>
                  <a:ea typeface="+mn-ea"/>
                  <a:cs typeface="+mn-cs"/>
                </a:rPr>
                <a:t>长按进入</a:t>
              </a:r>
            </a:p>
          </p:txBody>
        </p:sp>
        <p:sp>
          <p:nvSpPr>
            <p:cNvPr id="46" name="Line 46"/>
            <p:cNvSpPr/>
            <p:nvPr/>
          </p:nvSpPr>
          <p:spPr>
            <a:xfrm>
              <a:off x="3695700" y="4381500"/>
              <a:ext cx="552450" cy="1"/>
            </a:xfrm>
            <a:prstGeom prst="line">
              <a:avLst/>
            </a:prstGeom>
            <a:noFill/>
            <a:ln w="14288">
              <a:solidFill>
                <a:srgbClr val="C46D5B"/>
              </a:solidFill>
              <a:tailEnd type="triangle" w="lg" len="lg"/>
            </a:ln>
          </p:spPr>
        </p:sp>
        <p:sp>
          <p:nvSpPr>
            <p:cNvPr id="47" name="Freeform 47"/>
            <p:cNvSpPr/>
            <p:nvPr/>
          </p:nvSpPr>
          <p:spPr>
            <a:xfrm>
              <a:off x="3163640" y="5005328"/>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C46D5B"/>
              </a:solidFill>
            </a:ln>
          </p:spPr>
        </p:sp>
        <p:sp>
          <p:nvSpPr>
            <p:cNvPr id="48" name="TextBox 48"/>
            <p:cNvSpPr txBox="1"/>
            <p:nvPr/>
          </p:nvSpPr>
          <p:spPr>
            <a:xfrm>
              <a:off x="3096730" y="5302091"/>
              <a:ext cx="340690" cy="161925"/>
            </a:xfrm>
            <a:prstGeom prst="rect">
              <a:avLst/>
            </a:prstGeom>
            <a:noFill/>
            <a:ln>
              <a:noFill/>
            </a:ln>
          </p:spPr>
          <p:txBody>
            <a:bodyPr wrap="none" lIns="0" tIns="0" rIns="0" bIns="0" anchor="t" anchorCtr="0">
              <a:spAutoFit/>
            </a:bodyPr>
            <a:lstStyle/>
            <a:p>
              <a:pPr algn="ctr"/>
              <a:r>
                <a:rPr lang="zh-CN" sz="820" dirty="0">
                  <a:solidFill>
                    <a:srgbClr val="543E3A"/>
                  </a:solidFill>
                  <a:latin typeface="+mn-lt"/>
                  <a:ea typeface="+mn-ea"/>
                  <a:cs typeface="+mn-cs"/>
                </a:rPr>
                <a:t>加企微</a:t>
              </a:r>
            </a:p>
          </p:txBody>
        </p:sp>
        <p:sp>
          <p:nvSpPr>
            <p:cNvPr id="49" name="Line 49"/>
            <p:cNvSpPr/>
            <p:nvPr/>
          </p:nvSpPr>
          <p:spPr>
            <a:xfrm>
              <a:off x="3695700" y="5143500"/>
              <a:ext cx="552450" cy="1"/>
            </a:xfrm>
            <a:prstGeom prst="line">
              <a:avLst/>
            </a:prstGeom>
            <a:noFill/>
            <a:ln w="14288">
              <a:solidFill>
                <a:srgbClr val="C46D5B"/>
              </a:solidFill>
              <a:tailEnd type="triangle" w="lg" len="lg"/>
            </a:ln>
          </p:spPr>
        </p:sp>
        <p:sp>
          <p:nvSpPr>
            <p:cNvPr id="50" name="Rectangle 50"/>
            <p:cNvSpPr/>
            <p:nvPr/>
          </p:nvSpPr>
          <p:spPr>
            <a:xfrm>
              <a:off x="2857500" y="5676900"/>
              <a:ext cx="838200" cy="381000"/>
            </a:xfrm>
            <a:prstGeom prst="roundRect">
              <a:avLst>
                <a:gd name="adj" fmla="val 10000"/>
              </a:avLst>
            </a:prstGeom>
            <a:solidFill>
              <a:srgbClr val="C46D5B"/>
            </a:solidFill>
            <a:ln>
              <a:noFill/>
            </a:ln>
          </p:spPr>
        </p:sp>
        <p:sp>
          <p:nvSpPr>
            <p:cNvPr id="51" name="TextBox 51"/>
            <p:cNvSpPr txBox="1"/>
            <p:nvPr/>
          </p:nvSpPr>
          <p:spPr>
            <a:xfrm>
              <a:off x="3071178" y="5753814"/>
              <a:ext cx="410845"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FFFFFF"/>
                  </a:solidFill>
                  <a:latin typeface="+mn-lt"/>
                  <a:ea typeface="+mn-ea"/>
                  <a:cs typeface="+mn-cs"/>
                </a:rPr>
                <a:t>添加店长</a:t>
              </a:r>
              <a:br/>
              <a:r>
                <a:rPr lang="zh-CN" sz="790" dirty="0">
                  <a:solidFill>
                    <a:srgbClr val="FFFFFF"/>
                  </a:solidFill>
                  <a:latin typeface="+mn-lt"/>
                  <a:ea typeface="+mn-ea"/>
                  <a:cs typeface="+mn-cs"/>
                </a:rPr>
                <a:t>后进入</a:t>
              </a:r>
            </a:p>
          </p:txBody>
        </p:sp>
        <p:sp>
          <p:nvSpPr>
            <p:cNvPr id="52" name="Line 52"/>
            <p:cNvSpPr/>
            <p:nvPr/>
          </p:nvSpPr>
          <p:spPr>
            <a:xfrm>
              <a:off x="3695700" y="5867400"/>
              <a:ext cx="552450" cy="1"/>
            </a:xfrm>
            <a:prstGeom prst="line">
              <a:avLst/>
            </a:prstGeom>
            <a:noFill/>
            <a:ln w="14288">
              <a:solidFill>
                <a:srgbClr val="C46D5B"/>
              </a:solidFill>
              <a:tailEnd type="triangle" w="lg" len="lg"/>
            </a:ln>
          </p:spPr>
        </p:sp>
      </p:grpSp>
      <p:grpSp>
        <p:nvGrpSpPr>
          <p:cNvPr id="83" name="shop-col"/>
          <p:cNvGrpSpPr/>
          <p:nvPr/>
        </p:nvGrpSpPr>
        <p:grpSpPr>
          <a:xfrm>
            <a:off x="4333875" y="1228725"/>
            <a:ext cx="1733550" cy="5343525"/>
            <a:chOff x="4333875" y="1228725"/>
            <a:chExt cx="1733550" cy="5343525"/>
          </a:xfrm>
        </p:grpSpPr>
        <p:sp>
          <p:nvSpPr>
            <p:cNvPr id="54" name="Ellipse 54"/>
            <p:cNvSpPr/>
            <p:nvPr/>
          </p:nvSpPr>
          <p:spPr>
            <a:xfrm>
              <a:off x="4381500" y="1228725"/>
              <a:ext cx="190500" cy="190500"/>
            </a:xfrm>
            <a:prstGeom prst="ellipse">
              <a:avLst/>
            </a:prstGeom>
            <a:solidFill>
              <a:srgbClr val="C46D5B"/>
            </a:solidFill>
            <a:ln>
              <a:noFill/>
            </a:ln>
          </p:spPr>
        </p:sp>
        <p:grpSp>
          <p:nvGrpSpPr>
            <p:cNvPr id="58" name="Group 58"/>
            <p:cNvGrpSpPr/>
            <p:nvPr/>
          </p:nvGrpSpPr>
          <p:grpSpPr>
            <a:xfrm>
              <a:off x="4432299" y="1276810"/>
              <a:ext cx="91608" cy="94318"/>
              <a:chOff x="4432299" y="1276810"/>
              <a:chExt cx="91608" cy="94318"/>
            </a:xfrm>
          </p:grpSpPr>
          <p:sp>
            <p:nvSpPr>
              <p:cNvPr id="55" name="Freeform 55"/>
              <p:cNvSpPr/>
              <p:nvPr/>
            </p:nvSpPr>
            <p:spPr>
              <a:xfrm>
                <a:off x="4460081" y="1307306"/>
                <a:ext cx="33337" cy="33337"/>
              </a:xfrm>
              <a:custGeom>
                <a:avLst/>
                <a:gdLst/>
                <a:ahLst/>
                <a:cxnLst/>
                <a:rect l="l" t="t" r="r" b="b"/>
                <a:pathLst>
                  <a:path w="33337" h="33337">
                    <a:moveTo>
                      <a:pt x="0" y="33337"/>
                    </a:moveTo>
                    <a:lnTo>
                      <a:pt x="33337" y="0"/>
                    </a:lnTo>
                  </a:path>
                </a:pathLst>
              </a:custGeom>
              <a:noFill/>
              <a:ln w="11112">
                <a:solidFill>
                  <a:srgbClr val="FFFFFF"/>
                </a:solidFill>
              </a:ln>
            </p:spPr>
          </p:sp>
          <p:sp>
            <p:nvSpPr>
              <p:cNvPr id="56" name="Freeform 56"/>
              <p:cNvSpPr/>
              <p:nvPr/>
            </p:nvSpPr>
            <p:spPr>
              <a:xfrm>
                <a:off x="4471194" y="1276810"/>
                <a:ext cx="52713" cy="52721"/>
              </a:xfrm>
              <a:custGeom>
                <a:avLst/>
                <a:gdLst/>
                <a:ahLst/>
                <a:cxnLst/>
                <a:rect l="l" t="t" r="r" b="b"/>
                <a:pathLst>
                  <a:path w="52713" h="52721">
                    <a:moveTo>
                      <a:pt x="0" y="13827"/>
                    </a:moveTo>
                    <a:lnTo>
                      <a:pt x="2573" y="10849"/>
                    </a:lnTo>
                    <a:cubicBezTo>
                      <a:pt x="13423" y="0"/>
                      <a:pt x="31014" y="1"/>
                      <a:pt x="41864" y="10852"/>
                    </a:cubicBezTo>
                    <a:cubicBezTo>
                      <a:pt x="52713" y="21703"/>
                      <a:pt x="52711" y="39294"/>
                      <a:pt x="41861" y="50143"/>
                    </a:cubicBezTo>
                    <a:lnTo>
                      <a:pt x="38894" y="52721"/>
                    </a:lnTo>
                  </a:path>
                </a:pathLst>
              </a:custGeom>
              <a:noFill/>
              <a:ln w="11112">
                <a:solidFill>
                  <a:srgbClr val="FFFFFF"/>
                </a:solidFill>
              </a:ln>
            </p:spPr>
          </p:sp>
          <p:sp>
            <p:nvSpPr>
              <p:cNvPr id="57" name="Freeform 57"/>
              <p:cNvSpPr/>
              <p:nvPr/>
            </p:nvSpPr>
            <p:spPr>
              <a:xfrm>
                <a:off x="4432299" y="1318419"/>
                <a:ext cx="50007" cy="52709"/>
              </a:xfrm>
              <a:custGeom>
                <a:avLst/>
                <a:gdLst/>
                <a:ahLst/>
                <a:cxnLst/>
                <a:rect l="l" t="t" r="r" b="b"/>
                <a:pathLst>
                  <a:path w="50007" h="52709">
                    <a:moveTo>
                      <a:pt x="50007" y="38894"/>
                    </a:moveTo>
                    <a:lnTo>
                      <a:pt x="47801" y="41861"/>
                    </a:lnTo>
                    <a:cubicBezTo>
                      <a:pt x="36830" y="52709"/>
                      <a:pt x="19173" y="52709"/>
                      <a:pt x="8202" y="41861"/>
                    </a:cubicBezTo>
                    <a:cubicBezTo>
                      <a:pt x="2953" y="36671"/>
                      <a:pt x="0" y="29597"/>
                      <a:pt x="0" y="22217"/>
                    </a:cubicBezTo>
                    <a:cubicBezTo>
                      <a:pt x="0" y="14836"/>
                      <a:pt x="2953" y="7762"/>
                      <a:pt x="8202" y="2573"/>
                    </a:cubicBezTo>
                    <a:lnTo>
                      <a:pt x="11113" y="0"/>
                    </a:lnTo>
                  </a:path>
                </a:pathLst>
              </a:custGeom>
              <a:noFill/>
              <a:ln w="11112">
                <a:solidFill>
                  <a:srgbClr val="FFFFFF"/>
                </a:solidFill>
              </a:ln>
            </p:spPr>
          </p:sp>
        </p:grpSp>
        <p:sp>
          <p:nvSpPr>
            <p:cNvPr id="59" name="TextBox 59"/>
            <p:cNvSpPr txBox="1"/>
            <p:nvPr/>
          </p:nvSpPr>
          <p:spPr>
            <a:xfrm>
              <a:off x="4643438" y="1274445"/>
              <a:ext cx="615315" cy="176212"/>
            </a:xfrm>
            <a:prstGeom prst="rect">
              <a:avLst/>
            </a:prstGeom>
            <a:noFill/>
            <a:ln>
              <a:noFill/>
            </a:ln>
          </p:spPr>
          <p:txBody>
            <a:bodyPr wrap="none" lIns="0" tIns="0" rIns="0" bIns="0" anchor="t" anchorCtr="0">
              <a:spAutoFit/>
            </a:bodyPr>
            <a:lstStyle/>
            <a:p>
              <a:pPr algn="l"/>
              <a:r>
                <a:rPr lang="zh-CN" sz="900" b="1" dirty="0">
                  <a:solidFill>
                    <a:srgbClr val="543E3A"/>
                  </a:solidFill>
                  <a:latin typeface="+mn-lt"/>
                  <a:ea typeface="+mn-ea"/>
                  <a:cs typeface="+mn-cs"/>
                </a:rPr>
                <a:t>品牌小程序</a:t>
              </a:r>
            </a:p>
          </p:txBody>
        </p:sp>
        <p:sp>
          <p:nvSpPr>
            <p:cNvPr id="60" name="Rectangle 60"/>
            <p:cNvSpPr/>
            <p:nvPr/>
          </p:nvSpPr>
          <p:spPr>
            <a:xfrm>
              <a:off x="4333875" y="1485900"/>
              <a:ext cx="1733550" cy="5086350"/>
            </a:xfrm>
            <a:prstGeom prst="roundRect">
              <a:avLst>
                <a:gd name="adj" fmla="val 4396"/>
              </a:avLst>
            </a:prstGeom>
            <a:solidFill>
              <a:srgbClr val="F7F8FD"/>
            </a:solidFill>
            <a:ln w="11430">
              <a:solidFill>
                <a:srgbClr val="E08C7B"/>
              </a:solidFill>
              <a:custDash>
                <a:ds d="416667" sp="250000"/>
              </a:custDash>
            </a:ln>
          </p:spPr>
        </p:sp>
        <p:grpSp>
          <p:nvGrpSpPr>
            <p:cNvPr id="65" name="Group 65"/>
            <p:cNvGrpSpPr/>
            <p:nvPr/>
          </p:nvGrpSpPr>
          <p:grpSpPr>
            <a:xfrm>
              <a:off x="5060950" y="1862137"/>
              <a:ext cx="279400" cy="314325"/>
              <a:chOff x="5060950" y="1862137"/>
              <a:chExt cx="279400" cy="314325"/>
            </a:xfrm>
          </p:grpSpPr>
          <p:sp>
            <p:nvSpPr>
              <p:cNvPr id="61" name="Freeform 61"/>
              <p:cNvSpPr/>
              <p:nvPr/>
            </p:nvSpPr>
            <p:spPr>
              <a:xfrm>
                <a:off x="5060950" y="2106612"/>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8634C"/>
                </a:solidFill>
              </a:ln>
            </p:spPr>
          </p:sp>
          <p:sp>
            <p:nvSpPr>
              <p:cNvPr id="62" name="Freeform 62"/>
              <p:cNvSpPr/>
              <p:nvPr/>
            </p:nvSpPr>
            <p:spPr>
              <a:xfrm>
                <a:off x="5253037" y="2106612"/>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8634C"/>
                </a:solidFill>
              </a:ln>
            </p:spPr>
          </p:sp>
          <p:sp>
            <p:nvSpPr>
              <p:cNvPr id="63" name="Freeform 63"/>
              <p:cNvSpPr/>
              <p:nvPr/>
            </p:nvSpPr>
            <p:spPr>
              <a:xfrm>
                <a:off x="5060950" y="1862137"/>
                <a:ext cx="227012" cy="244475"/>
              </a:xfrm>
              <a:custGeom>
                <a:avLst/>
                <a:gdLst/>
                <a:ahLst/>
                <a:cxnLst/>
                <a:rect l="l" t="t" r="r" b="b"/>
                <a:pathLst>
                  <a:path w="227012" h="244475">
                    <a:moveTo>
                      <a:pt x="227012" y="244475"/>
                    </a:moveTo>
                    <a:lnTo>
                      <a:pt x="34925" y="244475"/>
                    </a:lnTo>
                    <a:lnTo>
                      <a:pt x="34925" y="0"/>
                    </a:lnTo>
                    <a:lnTo>
                      <a:pt x="0" y="0"/>
                    </a:lnTo>
                  </a:path>
                </a:pathLst>
              </a:custGeom>
              <a:noFill/>
              <a:ln w="34925">
                <a:solidFill>
                  <a:srgbClr val="E8634C"/>
                </a:solidFill>
              </a:ln>
            </p:spPr>
          </p:sp>
          <p:sp>
            <p:nvSpPr>
              <p:cNvPr id="64" name="Freeform 64"/>
              <p:cNvSpPr/>
              <p:nvPr/>
            </p:nvSpPr>
            <p:spPr>
              <a:xfrm>
                <a:off x="5095875" y="1897062"/>
                <a:ext cx="244475" cy="139700"/>
              </a:xfrm>
              <a:custGeom>
                <a:avLst/>
                <a:gdLst/>
                <a:ahLst/>
                <a:cxnLst/>
                <a:rect l="l" t="t" r="r" b="b"/>
                <a:pathLst>
                  <a:path w="244475" h="139700">
                    <a:moveTo>
                      <a:pt x="0" y="0"/>
                    </a:moveTo>
                    <a:lnTo>
                      <a:pt x="244475" y="17462"/>
                    </a:lnTo>
                    <a:lnTo>
                      <a:pt x="227012" y="139700"/>
                    </a:lnTo>
                    <a:lnTo>
                      <a:pt x="0" y="139700"/>
                    </a:lnTo>
                  </a:path>
                </a:pathLst>
              </a:custGeom>
              <a:noFill/>
              <a:ln w="34925">
                <a:solidFill>
                  <a:srgbClr val="E8634C"/>
                </a:solidFill>
              </a:ln>
            </p:spPr>
          </p:sp>
        </p:grpSp>
        <p:sp>
          <p:nvSpPr>
            <p:cNvPr id="66" name="TextBox 66"/>
            <p:cNvSpPr txBox="1"/>
            <p:nvPr/>
          </p:nvSpPr>
          <p:spPr>
            <a:xfrm>
              <a:off x="4832414" y="2398395"/>
              <a:ext cx="7364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门店库存购物</a:t>
              </a:r>
            </a:p>
          </p:txBody>
        </p:sp>
        <p:grpSp>
          <p:nvGrpSpPr>
            <p:cNvPr id="69" name="Group 69"/>
            <p:cNvGrpSpPr/>
            <p:nvPr/>
          </p:nvGrpSpPr>
          <p:grpSpPr>
            <a:xfrm>
              <a:off x="5078412" y="3063934"/>
              <a:ext cx="244475" cy="312678"/>
              <a:chOff x="5078412" y="3063934"/>
              <a:chExt cx="244475" cy="312678"/>
            </a:xfrm>
          </p:grpSpPr>
          <p:sp>
            <p:nvSpPr>
              <p:cNvPr id="67" name="Freeform 67"/>
              <p:cNvSpPr/>
              <p:nvPr/>
            </p:nvSpPr>
            <p:spPr>
              <a:xfrm>
                <a:off x="5078412" y="3063934"/>
                <a:ext cx="244475" cy="223719"/>
              </a:xfrm>
              <a:custGeom>
                <a:avLst/>
                <a:gdLst/>
                <a:ahLst/>
                <a:cxnLst/>
                <a:rect l="l" t="t" r="r" b="b"/>
                <a:pathLst>
                  <a:path w="244475" h="223719">
                    <a:moveTo>
                      <a:pt x="0" y="33278"/>
                    </a:moveTo>
                    <a:cubicBezTo>
                      <a:pt x="33951" y="0"/>
                      <a:pt x="88286" y="0"/>
                      <a:pt x="122237" y="33278"/>
                    </a:cubicBezTo>
                    <a:cubicBezTo>
                      <a:pt x="156188" y="66557"/>
                      <a:pt x="210524" y="66557"/>
                      <a:pt x="244475" y="33278"/>
                    </a:cubicBezTo>
                    <a:lnTo>
                      <a:pt x="244475" y="190441"/>
                    </a:lnTo>
                    <a:cubicBezTo>
                      <a:pt x="210524" y="223719"/>
                      <a:pt x="156188" y="223719"/>
                      <a:pt x="122237" y="190441"/>
                    </a:cubicBezTo>
                    <a:cubicBezTo>
                      <a:pt x="88286" y="157162"/>
                      <a:pt x="33951" y="157162"/>
                      <a:pt x="0" y="190441"/>
                    </a:cubicBezTo>
                    <a:lnTo>
                      <a:pt x="0" y="33278"/>
                    </a:lnTo>
                  </a:path>
                </a:pathLst>
              </a:custGeom>
              <a:noFill/>
              <a:ln w="34925">
                <a:solidFill>
                  <a:srgbClr val="E8634C"/>
                </a:solidFill>
              </a:ln>
            </p:spPr>
          </p:sp>
          <p:sp>
            <p:nvSpPr>
              <p:cNvPr id="68" name="Freeform 68"/>
              <p:cNvSpPr/>
              <p:nvPr/>
            </p:nvSpPr>
            <p:spPr>
              <a:xfrm>
                <a:off x="5078412" y="3254375"/>
                <a:ext cx="9525" cy="122237"/>
              </a:xfrm>
              <a:custGeom>
                <a:avLst/>
                <a:gdLst/>
                <a:ahLst/>
                <a:cxnLst/>
                <a:rect l="l" t="t" r="r" b="b"/>
                <a:pathLst>
                  <a:path w="9525" h="122237">
                    <a:moveTo>
                      <a:pt x="0" y="122237"/>
                    </a:moveTo>
                    <a:lnTo>
                      <a:pt x="0" y="0"/>
                    </a:lnTo>
                  </a:path>
                </a:pathLst>
              </a:custGeom>
              <a:noFill/>
              <a:ln w="34925">
                <a:solidFill>
                  <a:srgbClr val="E8634C"/>
                </a:solidFill>
              </a:ln>
            </p:spPr>
          </p:sp>
        </p:grpSp>
        <p:sp>
          <p:nvSpPr>
            <p:cNvPr id="70" name="TextBox 70"/>
            <p:cNvSpPr txBox="1"/>
            <p:nvPr/>
          </p:nvSpPr>
          <p:spPr>
            <a:xfrm>
              <a:off x="4771834" y="3598545"/>
              <a:ext cx="85763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营销活动及裂变</a:t>
              </a:r>
            </a:p>
          </p:txBody>
        </p:sp>
        <p:grpSp>
          <p:nvGrpSpPr>
            <p:cNvPr id="76" name="Group 76"/>
            <p:cNvGrpSpPr/>
            <p:nvPr/>
          </p:nvGrpSpPr>
          <p:grpSpPr>
            <a:xfrm>
              <a:off x="5078412" y="4262437"/>
              <a:ext cx="244475" cy="314324"/>
              <a:chOff x="5078412" y="4262437"/>
              <a:chExt cx="244475" cy="314324"/>
            </a:xfrm>
          </p:grpSpPr>
          <p:sp>
            <p:nvSpPr>
              <p:cNvPr id="71" name="Freeform 71"/>
              <p:cNvSpPr/>
              <p:nvPr/>
            </p:nvSpPr>
            <p:spPr>
              <a:xfrm>
                <a:off x="5235575" y="4262437"/>
                <a:ext cx="87312" cy="87312"/>
              </a:xfrm>
              <a:custGeom>
                <a:avLst/>
                <a:gdLst/>
                <a:ahLst/>
                <a:cxnLst/>
                <a:rect l="l" t="t" r="r" b="b"/>
                <a:pathLst>
                  <a:path w="87312" h="87312">
                    <a:moveTo>
                      <a:pt x="0" y="0"/>
                    </a:moveTo>
                    <a:lnTo>
                      <a:pt x="0" y="69850"/>
                    </a:lnTo>
                    <a:cubicBezTo>
                      <a:pt x="0" y="79494"/>
                      <a:pt x="7818" y="87312"/>
                      <a:pt x="17462" y="87312"/>
                    </a:cubicBezTo>
                    <a:lnTo>
                      <a:pt x="87312" y="87312"/>
                    </a:lnTo>
                  </a:path>
                </a:pathLst>
              </a:custGeom>
              <a:noFill/>
              <a:ln w="34925">
                <a:solidFill>
                  <a:srgbClr val="E8634C"/>
                </a:solidFill>
              </a:ln>
            </p:spPr>
          </p:sp>
          <p:sp>
            <p:nvSpPr>
              <p:cNvPr id="72" name="Freeform 72"/>
              <p:cNvSpPr/>
              <p:nvPr/>
            </p:nvSpPr>
            <p:spPr>
              <a:xfrm>
                <a:off x="5078412" y="4262437"/>
                <a:ext cx="244475" cy="314324"/>
              </a:xfrm>
              <a:custGeom>
                <a:avLst/>
                <a:gdLst/>
                <a:ahLst/>
                <a:cxnLst/>
                <a:rect l="l" t="t" r="r" b="b"/>
                <a:pathLst>
                  <a:path w="244475" h="314324">
                    <a:moveTo>
                      <a:pt x="209550" y="314324"/>
                    </a:moveTo>
                    <a:lnTo>
                      <a:pt x="34925" y="314324"/>
                    </a:lnTo>
                    <a:cubicBezTo>
                      <a:pt x="15636" y="314324"/>
                      <a:pt x="0" y="298688"/>
                      <a:pt x="0" y="279399"/>
                    </a:cubicBezTo>
                    <a:lnTo>
                      <a:pt x="0" y="34925"/>
                    </a:lnTo>
                    <a:cubicBezTo>
                      <a:pt x="0" y="15636"/>
                      <a:pt x="15636" y="0"/>
                      <a:pt x="34925" y="0"/>
                    </a:cubicBezTo>
                    <a:lnTo>
                      <a:pt x="157162" y="0"/>
                    </a:lnTo>
                    <a:lnTo>
                      <a:pt x="244475" y="87312"/>
                    </a:lnTo>
                    <a:lnTo>
                      <a:pt x="244475" y="279399"/>
                    </a:lnTo>
                    <a:cubicBezTo>
                      <a:pt x="244475" y="298688"/>
                      <a:pt x="228838" y="314324"/>
                      <a:pt x="209550" y="314324"/>
                    </a:cubicBezTo>
                  </a:path>
                </a:pathLst>
              </a:custGeom>
              <a:noFill/>
              <a:ln w="34925">
                <a:solidFill>
                  <a:srgbClr val="E8634C"/>
                </a:solidFill>
              </a:ln>
            </p:spPr>
          </p:sp>
          <p:sp>
            <p:nvSpPr>
              <p:cNvPr id="73" name="Freeform 73"/>
              <p:cNvSpPr/>
              <p:nvPr/>
            </p:nvSpPr>
            <p:spPr>
              <a:xfrm>
                <a:off x="5148262" y="4367212"/>
                <a:ext cx="17462" cy="9525"/>
              </a:xfrm>
              <a:custGeom>
                <a:avLst/>
                <a:gdLst/>
                <a:ahLst/>
                <a:cxnLst/>
                <a:rect l="l" t="t" r="r" b="b"/>
                <a:pathLst>
                  <a:path w="17462" h="9525">
                    <a:moveTo>
                      <a:pt x="0" y="0"/>
                    </a:moveTo>
                    <a:lnTo>
                      <a:pt x="17462" y="0"/>
                    </a:lnTo>
                  </a:path>
                </a:pathLst>
              </a:custGeom>
              <a:noFill/>
              <a:ln w="34925">
                <a:solidFill>
                  <a:srgbClr val="E8634C"/>
                </a:solidFill>
              </a:ln>
            </p:spPr>
          </p:sp>
          <p:sp>
            <p:nvSpPr>
              <p:cNvPr id="74" name="Freeform 74"/>
              <p:cNvSpPr/>
              <p:nvPr/>
            </p:nvSpPr>
            <p:spPr>
              <a:xfrm>
                <a:off x="5148262" y="4437062"/>
                <a:ext cx="104775" cy="9525"/>
              </a:xfrm>
              <a:custGeom>
                <a:avLst/>
                <a:gdLst/>
                <a:ahLst/>
                <a:cxnLst/>
                <a:rect l="l" t="t" r="r" b="b"/>
                <a:pathLst>
                  <a:path w="104775" h="9525">
                    <a:moveTo>
                      <a:pt x="0" y="0"/>
                    </a:moveTo>
                    <a:lnTo>
                      <a:pt x="104775" y="0"/>
                    </a:lnTo>
                  </a:path>
                </a:pathLst>
              </a:custGeom>
              <a:noFill/>
              <a:ln w="34925">
                <a:solidFill>
                  <a:srgbClr val="E8634C"/>
                </a:solidFill>
              </a:ln>
            </p:spPr>
          </p:sp>
          <p:sp>
            <p:nvSpPr>
              <p:cNvPr id="75" name="Freeform 75"/>
              <p:cNvSpPr/>
              <p:nvPr/>
            </p:nvSpPr>
            <p:spPr>
              <a:xfrm>
                <a:off x="5148262" y="4506912"/>
                <a:ext cx="104775" cy="9525"/>
              </a:xfrm>
              <a:custGeom>
                <a:avLst/>
                <a:gdLst/>
                <a:ahLst/>
                <a:cxnLst/>
                <a:rect l="l" t="t" r="r" b="b"/>
                <a:pathLst>
                  <a:path w="104775" h="9525">
                    <a:moveTo>
                      <a:pt x="0" y="0"/>
                    </a:moveTo>
                    <a:lnTo>
                      <a:pt x="104775" y="0"/>
                    </a:lnTo>
                  </a:path>
                </a:pathLst>
              </a:custGeom>
              <a:noFill/>
              <a:ln w="34925">
                <a:solidFill>
                  <a:srgbClr val="E8634C"/>
                </a:solidFill>
              </a:ln>
            </p:spPr>
          </p:sp>
        </p:grpSp>
        <p:sp>
          <p:nvSpPr>
            <p:cNvPr id="77" name="TextBox 77"/>
            <p:cNvSpPr txBox="1"/>
            <p:nvPr/>
          </p:nvSpPr>
          <p:spPr>
            <a:xfrm>
              <a:off x="4832414" y="4798695"/>
              <a:ext cx="7364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专属服务板块</a:t>
              </a:r>
            </a:p>
          </p:txBody>
        </p:sp>
        <p:grpSp>
          <p:nvGrpSpPr>
            <p:cNvPr id="81" name="Group 81"/>
            <p:cNvGrpSpPr/>
            <p:nvPr/>
          </p:nvGrpSpPr>
          <p:grpSpPr>
            <a:xfrm>
              <a:off x="5095875" y="5462587"/>
              <a:ext cx="261937" cy="314325"/>
              <a:chOff x="5095875" y="5462587"/>
              <a:chExt cx="261937" cy="314325"/>
            </a:xfrm>
          </p:grpSpPr>
          <p:sp>
            <p:nvSpPr>
              <p:cNvPr id="78" name="Freeform 78"/>
              <p:cNvSpPr/>
              <p:nvPr/>
            </p:nvSpPr>
            <p:spPr>
              <a:xfrm>
                <a:off x="5130800" y="546258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34925">
                <a:solidFill>
                  <a:srgbClr val="E8634C"/>
                </a:solidFill>
              </a:ln>
            </p:spPr>
          </p:sp>
          <p:sp>
            <p:nvSpPr>
              <p:cNvPr id="79" name="Freeform 79"/>
              <p:cNvSpPr/>
              <p:nvPr/>
            </p:nvSpPr>
            <p:spPr>
              <a:xfrm>
                <a:off x="5095875" y="5672137"/>
                <a:ext cx="139700" cy="104775"/>
              </a:xfrm>
              <a:custGeom>
                <a:avLst/>
                <a:gdLst/>
                <a:ahLst/>
                <a:cxnLst/>
                <a:rect l="l" t="t" r="r" b="b"/>
                <a:pathLst>
                  <a:path w="139700" h="104775">
                    <a:moveTo>
                      <a:pt x="0" y="104775"/>
                    </a:moveTo>
                    <a:lnTo>
                      <a:pt x="0" y="69850"/>
                    </a:lnTo>
                    <a:cubicBezTo>
                      <a:pt x="0" y="31273"/>
                      <a:pt x="31273" y="0"/>
                      <a:pt x="69850" y="0"/>
                    </a:cubicBezTo>
                    <a:lnTo>
                      <a:pt x="139700" y="0"/>
                    </a:lnTo>
                  </a:path>
                </a:pathLst>
              </a:custGeom>
              <a:noFill/>
              <a:ln w="34925">
                <a:solidFill>
                  <a:srgbClr val="E8634C"/>
                </a:solidFill>
              </a:ln>
            </p:spPr>
          </p:sp>
          <p:sp>
            <p:nvSpPr>
              <p:cNvPr id="80" name="Freeform 80"/>
              <p:cNvSpPr/>
              <p:nvPr/>
            </p:nvSpPr>
            <p:spPr>
              <a:xfrm>
                <a:off x="5253037" y="5707062"/>
                <a:ext cx="104775" cy="69850"/>
              </a:xfrm>
              <a:custGeom>
                <a:avLst/>
                <a:gdLst/>
                <a:ahLst/>
                <a:cxnLst/>
                <a:rect l="l" t="t" r="r" b="b"/>
                <a:pathLst>
                  <a:path w="104775" h="69850">
                    <a:moveTo>
                      <a:pt x="0" y="34925"/>
                    </a:moveTo>
                    <a:lnTo>
                      <a:pt x="34925" y="69850"/>
                    </a:lnTo>
                    <a:lnTo>
                      <a:pt x="104775" y="0"/>
                    </a:lnTo>
                  </a:path>
                </a:pathLst>
              </a:custGeom>
              <a:noFill/>
              <a:ln w="34925">
                <a:solidFill>
                  <a:srgbClr val="E8634C"/>
                </a:solidFill>
              </a:ln>
            </p:spPr>
          </p:sp>
        </p:grpSp>
        <p:sp>
          <p:nvSpPr>
            <p:cNvPr id="82" name="TextBox 82"/>
            <p:cNvSpPr txBox="1"/>
            <p:nvPr/>
          </p:nvSpPr>
          <p:spPr>
            <a:xfrm>
              <a:off x="4832414" y="5998845"/>
              <a:ext cx="7364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品牌会员中心</a:t>
              </a:r>
            </a:p>
          </p:txBody>
        </p:sp>
      </p:grpSp>
      <p:grpSp>
        <p:nvGrpSpPr>
          <p:cNvPr id="141" name="convert-col"/>
          <p:cNvGrpSpPr/>
          <p:nvPr/>
        </p:nvGrpSpPr>
        <p:grpSpPr>
          <a:xfrm>
            <a:off x="6248400" y="1943100"/>
            <a:ext cx="3486150" cy="3870245"/>
            <a:chOff x="6248400" y="1943100"/>
            <a:chExt cx="3486150" cy="3870245"/>
          </a:xfrm>
        </p:grpSpPr>
        <p:sp>
          <p:nvSpPr>
            <p:cNvPr id="84" name="Rectangle 84"/>
            <p:cNvSpPr/>
            <p:nvPr/>
          </p:nvSpPr>
          <p:spPr>
            <a:xfrm>
              <a:off x="6248400" y="3505200"/>
              <a:ext cx="552450" cy="400050"/>
            </a:xfrm>
            <a:prstGeom prst="roundRect">
              <a:avLst>
                <a:gd name="adj" fmla="val 9524"/>
              </a:avLst>
            </a:prstGeom>
            <a:solidFill>
              <a:srgbClr val="C46D5B"/>
            </a:solidFill>
            <a:ln>
              <a:noFill/>
            </a:ln>
          </p:spPr>
        </p:sp>
        <p:sp>
          <p:nvSpPr>
            <p:cNvPr id="85" name="TextBox 85"/>
            <p:cNvSpPr txBox="1"/>
            <p:nvPr/>
          </p:nvSpPr>
          <p:spPr>
            <a:xfrm>
              <a:off x="6419532" y="3582114"/>
              <a:ext cx="210185"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FFFFFF"/>
                  </a:solidFill>
                  <a:latin typeface="+mn-lt"/>
                  <a:ea typeface="+mn-ea"/>
                  <a:cs typeface="+mn-cs"/>
                </a:rPr>
                <a:t>会员</a:t>
              </a:r>
              <a:br/>
              <a:r>
                <a:rPr lang="zh-CN" sz="790" dirty="0">
                  <a:solidFill>
                    <a:srgbClr val="FFFFFF"/>
                  </a:solidFill>
                  <a:latin typeface="+mn-lt"/>
                  <a:ea typeface="+mn-ea"/>
                  <a:cs typeface="+mn-cs"/>
                </a:rPr>
                <a:t>注册</a:t>
              </a:r>
            </a:p>
          </p:txBody>
        </p:sp>
        <p:sp>
          <p:nvSpPr>
            <p:cNvPr id="86" name="Line 86"/>
            <p:cNvSpPr/>
            <p:nvPr/>
          </p:nvSpPr>
          <p:spPr>
            <a:xfrm>
              <a:off x="6800850" y="3705225"/>
              <a:ext cx="190500" cy="1"/>
            </a:xfrm>
            <a:prstGeom prst="line">
              <a:avLst/>
            </a:prstGeom>
            <a:noFill/>
            <a:ln w="14288">
              <a:solidFill>
                <a:srgbClr val="C46D5B"/>
              </a:solidFill>
              <a:tailEnd type="triangle" w="lg" len="lg"/>
            </a:ln>
          </p:spPr>
        </p:sp>
        <p:sp>
          <p:nvSpPr>
            <p:cNvPr id="87" name="TextBox 87"/>
            <p:cNvSpPr txBox="1"/>
            <p:nvPr/>
          </p:nvSpPr>
          <p:spPr>
            <a:xfrm>
              <a:off x="7047649" y="3378041"/>
              <a:ext cx="230302" cy="161925"/>
            </a:xfrm>
            <a:prstGeom prst="rect">
              <a:avLst/>
            </a:prstGeom>
            <a:noFill/>
            <a:ln>
              <a:noFill/>
            </a:ln>
          </p:spPr>
          <p:txBody>
            <a:bodyPr wrap="none" lIns="0" tIns="0" rIns="0" bIns="0" anchor="t" anchorCtr="0">
              <a:spAutoFit/>
            </a:bodyPr>
            <a:lstStyle/>
            <a:p>
              <a:pPr algn="ctr"/>
              <a:r>
                <a:rPr lang="zh-CN" sz="820" dirty="0">
                  <a:solidFill>
                    <a:srgbClr val="543E3A"/>
                  </a:solidFill>
                  <a:latin typeface="+mn-lt"/>
                  <a:ea typeface="+mn-ea"/>
                  <a:cs typeface="+mn-cs"/>
                </a:rPr>
                <a:t>支付</a:t>
              </a:r>
            </a:p>
          </p:txBody>
        </p:sp>
        <p:sp>
          <p:nvSpPr>
            <p:cNvPr id="88" name="Ellipse 88"/>
            <p:cNvSpPr/>
            <p:nvPr/>
          </p:nvSpPr>
          <p:spPr>
            <a:xfrm>
              <a:off x="7010400" y="3552825"/>
              <a:ext cx="304800" cy="304800"/>
            </a:xfrm>
            <a:prstGeom prst="ellipse">
              <a:avLst/>
            </a:prstGeom>
            <a:solidFill>
              <a:srgbClr val="C46D5B"/>
            </a:solidFill>
            <a:ln>
              <a:noFill/>
            </a:ln>
          </p:spPr>
        </p:sp>
        <p:sp>
          <p:nvSpPr>
            <p:cNvPr id="89" name="Freeform 89"/>
            <p:cNvSpPr/>
            <p:nvPr/>
          </p:nvSpPr>
          <p:spPr>
            <a:xfrm>
              <a:off x="7083234" y="3635573"/>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FFFFFF"/>
              </a:solidFill>
            </a:ln>
          </p:spPr>
        </p:sp>
        <p:sp>
          <p:nvSpPr>
            <p:cNvPr id="90" name="Line 90"/>
            <p:cNvSpPr/>
            <p:nvPr/>
          </p:nvSpPr>
          <p:spPr>
            <a:xfrm>
              <a:off x="7315200" y="3705225"/>
              <a:ext cx="161925" cy="9525"/>
            </a:xfrm>
            <a:custGeom>
              <a:avLst/>
              <a:gdLst/>
              <a:ahLst/>
              <a:cxnLst/>
              <a:rect l="l" t="t" r="r" b="b"/>
              <a:pathLst>
                <a:path w="161925" h="9525">
                  <a:moveTo>
                    <a:pt x="0" y="0"/>
                  </a:moveTo>
                  <a:lnTo>
                    <a:pt x="161925" y="0"/>
                  </a:lnTo>
                </a:path>
              </a:pathLst>
            </a:custGeom>
            <a:noFill/>
            <a:ln w="14288">
              <a:solidFill>
                <a:srgbClr val="C46D5B"/>
              </a:solidFill>
            </a:ln>
          </p:spPr>
        </p:sp>
        <p:sp>
          <p:nvSpPr>
            <p:cNvPr id="91" name="Line 91"/>
            <p:cNvSpPr/>
            <p:nvPr/>
          </p:nvSpPr>
          <p:spPr>
            <a:xfrm>
              <a:off x="7477125" y="2143125"/>
              <a:ext cx="9525" cy="3124200"/>
            </a:xfrm>
            <a:custGeom>
              <a:avLst/>
              <a:gdLst/>
              <a:ahLst/>
              <a:cxnLst/>
              <a:rect l="l" t="t" r="r" b="b"/>
              <a:pathLst>
                <a:path w="9525" h="3124200">
                  <a:moveTo>
                    <a:pt x="0" y="0"/>
                  </a:moveTo>
                  <a:lnTo>
                    <a:pt x="0" y="3124200"/>
                  </a:lnTo>
                </a:path>
              </a:pathLst>
            </a:custGeom>
            <a:noFill/>
            <a:ln w="14288">
              <a:solidFill>
                <a:srgbClr val="C46D5B"/>
              </a:solidFill>
            </a:ln>
          </p:spPr>
        </p:sp>
        <p:sp>
          <p:nvSpPr>
            <p:cNvPr id="92" name="Line 92"/>
            <p:cNvSpPr/>
            <p:nvPr/>
          </p:nvSpPr>
          <p:spPr>
            <a:xfrm>
              <a:off x="7477125" y="2143125"/>
              <a:ext cx="47625" cy="1"/>
            </a:xfrm>
            <a:prstGeom prst="line">
              <a:avLst/>
            </a:prstGeom>
            <a:noFill/>
            <a:ln w="14288">
              <a:solidFill>
                <a:srgbClr val="C46D5B"/>
              </a:solidFill>
              <a:tailEnd type="triangle" w="lg" len="lg"/>
            </a:ln>
          </p:spPr>
        </p:sp>
        <p:sp>
          <p:nvSpPr>
            <p:cNvPr id="93" name="Line 93"/>
            <p:cNvSpPr/>
            <p:nvPr/>
          </p:nvSpPr>
          <p:spPr>
            <a:xfrm>
              <a:off x="7477125" y="3705225"/>
              <a:ext cx="47625" cy="1"/>
            </a:xfrm>
            <a:prstGeom prst="line">
              <a:avLst/>
            </a:prstGeom>
            <a:noFill/>
            <a:ln w="14288">
              <a:solidFill>
                <a:srgbClr val="C46D5B"/>
              </a:solidFill>
              <a:tailEnd type="triangle" w="lg" len="lg"/>
            </a:ln>
          </p:spPr>
        </p:sp>
        <p:sp>
          <p:nvSpPr>
            <p:cNvPr id="94" name="Line 94"/>
            <p:cNvSpPr/>
            <p:nvPr/>
          </p:nvSpPr>
          <p:spPr>
            <a:xfrm>
              <a:off x="7477125" y="5267325"/>
              <a:ext cx="47625" cy="1"/>
            </a:xfrm>
            <a:prstGeom prst="line">
              <a:avLst/>
            </a:prstGeom>
            <a:noFill/>
            <a:ln w="14288">
              <a:solidFill>
                <a:srgbClr val="C46D5B"/>
              </a:solidFill>
              <a:tailEnd type="triangle" w="lg" len="lg"/>
            </a:ln>
          </p:spPr>
        </p:sp>
        <p:sp>
          <p:nvSpPr>
            <p:cNvPr id="95" name="Rectangle 95"/>
            <p:cNvSpPr/>
            <p:nvPr/>
          </p:nvSpPr>
          <p:spPr>
            <a:xfrm>
              <a:off x="7543800" y="1943100"/>
              <a:ext cx="552450" cy="400050"/>
            </a:xfrm>
            <a:prstGeom prst="roundRect">
              <a:avLst>
                <a:gd name="adj" fmla="val 9524"/>
              </a:avLst>
            </a:prstGeom>
            <a:solidFill>
              <a:srgbClr val="C46D5B"/>
            </a:solidFill>
            <a:ln>
              <a:noFill/>
            </a:ln>
          </p:spPr>
        </p:sp>
        <p:sp>
          <p:nvSpPr>
            <p:cNvPr id="96" name="TextBox 96"/>
            <p:cNvSpPr txBox="1"/>
            <p:nvPr/>
          </p:nvSpPr>
          <p:spPr>
            <a:xfrm>
              <a:off x="7714932" y="2020014"/>
              <a:ext cx="210185"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FFFFFF"/>
                  </a:solidFill>
                  <a:latin typeface="+mn-lt"/>
                  <a:ea typeface="+mn-ea"/>
                  <a:cs typeface="+mn-cs"/>
                </a:rPr>
                <a:t>商家</a:t>
              </a:r>
              <a:br/>
              <a:r>
                <a:rPr lang="zh-CN" sz="790" dirty="0">
                  <a:solidFill>
                    <a:srgbClr val="FFFFFF"/>
                  </a:solidFill>
                  <a:latin typeface="+mn-lt"/>
                  <a:ea typeface="+mn-ea"/>
                  <a:cs typeface="+mn-cs"/>
                </a:rPr>
                <a:t>库存</a:t>
              </a:r>
            </a:p>
          </p:txBody>
        </p:sp>
        <p:sp>
          <p:nvSpPr>
            <p:cNvPr id="97" name="Line 97"/>
            <p:cNvSpPr/>
            <p:nvPr/>
          </p:nvSpPr>
          <p:spPr>
            <a:xfrm>
              <a:off x="8096250" y="2143125"/>
              <a:ext cx="152400" cy="1"/>
            </a:xfrm>
            <a:prstGeom prst="line">
              <a:avLst/>
            </a:prstGeom>
            <a:noFill/>
            <a:ln w="14288">
              <a:solidFill>
                <a:srgbClr val="C46D5B"/>
              </a:solidFill>
              <a:tailEnd type="triangle" w="lg" len="lg"/>
            </a:ln>
          </p:spPr>
        </p:sp>
        <p:grpSp>
          <p:nvGrpSpPr>
            <p:cNvPr id="102" name="Group 102"/>
            <p:cNvGrpSpPr/>
            <p:nvPr/>
          </p:nvGrpSpPr>
          <p:grpSpPr>
            <a:xfrm>
              <a:off x="8334375" y="2000250"/>
              <a:ext cx="285751" cy="269875"/>
              <a:chOff x="8334375" y="2000250"/>
              <a:chExt cx="285751" cy="269875"/>
            </a:xfrm>
          </p:grpSpPr>
          <p:sp>
            <p:nvSpPr>
              <p:cNvPr id="98" name="Freeform 98"/>
              <p:cNvSpPr/>
              <p:nvPr/>
            </p:nvSpPr>
            <p:spPr>
              <a:xfrm>
                <a:off x="8334375" y="2063750"/>
                <a:ext cx="285751" cy="206375"/>
              </a:xfrm>
              <a:custGeom>
                <a:avLst/>
                <a:gdLst/>
                <a:ahLst/>
                <a:cxnLst/>
                <a:rect l="l" t="t" r="r" b="b"/>
                <a:pathLst>
                  <a:path w="285751" h="206375">
                    <a:moveTo>
                      <a:pt x="0" y="31750"/>
                    </a:moveTo>
                    <a:cubicBezTo>
                      <a:pt x="0" y="14215"/>
                      <a:pt x="14215" y="0"/>
                      <a:pt x="31750" y="0"/>
                    </a:cubicBezTo>
                    <a:lnTo>
                      <a:pt x="254001" y="0"/>
                    </a:lnTo>
                    <a:cubicBezTo>
                      <a:pt x="271536" y="0"/>
                      <a:pt x="285751" y="14215"/>
                      <a:pt x="285751" y="31750"/>
                    </a:cubicBezTo>
                    <a:lnTo>
                      <a:pt x="285751" y="174625"/>
                    </a:lnTo>
                    <a:cubicBezTo>
                      <a:pt x="285751" y="192160"/>
                      <a:pt x="271536" y="206375"/>
                      <a:pt x="254001" y="206375"/>
                    </a:cubicBezTo>
                    <a:lnTo>
                      <a:pt x="31750" y="206375"/>
                    </a:lnTo>
                    <a:cubicBezTo>
                      <a:pt x="14215" y="206375"/>
                      <a:pt x="0" y="192160"/>
                      <a:pt x="0" y="174625"/>
                    </a:cubicBezTo>
                    <a:lnTo>
                      <a:pt x="0" y="31750"/>
                    </a:lnTo>
                  </a:path>
                </a:pathLst>
              </a:custGeom>
              <a:noFill/>
              <a:ln w="31750">
                <a:solidFill>
                  <a:srgbClr val="E8634C"/>
                </a:solidFill>
              </a:ln>
            </p:spPr>
          </p:sp>
          <p:sp>
            <p:nvSpPr>
              <p:cNvPr id="99" name="Freeform 99"/>
              <p:cNvSpPr/>
              <p:nvPr/>
            </p:nvSpPr>
            <p:spPr>
              <a:xfrm>
                <a:off x="8413750" y="2000250"/>
                <a:ext cx="127000" cy="63500"/>
              </a:xfrm>
              <a:custGeom>
                <a:avLst/>
                <a:gdLst/>
                <a:ahLst/>
                <a:cxnLst/>
                <a:rect l="l" t="t" r="r" b="b"/>
                <a:pathLst>
                  <a:path w="127000" h="63500">
                    <a:moveTo>
                      <a:pt x="0" y="63500"/>
                    </a:moveTo>
                    <a:lnTo>
                      <a:pt x="0" y="31750"/>
                    </a:lnTo>
                    <a:cubicBezTo>
                      <a:pt x="0" y="14215"/>
                      <a:pt x="14215" y="0"/>
                      <a:pt x="31750" y="0"/>
                    </a:cubicBezTo>
                    <a:lnTo>
                      <a:pt x="95250" y="0"/>
                    </a:lnTo>
                    <a:cubicBezTo>
                      <a:pt x="112785" y="0"/>
                      <a:pt x="127000" y="14215"/>
                      <a:pt x="127000" y="31750"/>
                    </a:cubicBezTo>
                    <a:lnTo>
                      <a:pt x="127000" y="63500"/>
                    </a:lnTo>
                  </a:path>
                </a:pathLst>
              </a:custGeom>
              <a:noFill/>
              <a:ln w="31750">
                <a:solidFill>
                  <a:srgbClr val="E8634C"/>
                </a:solidFill>
              </a:ln>
            </p:spPr>
          </p:sp>
          <p:sp>
            <p:nvSpPr>
              <p:cNvPr id="100" name="Freeform 100"/>
              <p:cNvSpPr/>
              <p:nvPr/>
            </p:nvSpPr>
            <p:spPr>
              <a:xfrm>
                <a:off x="8477250" y="2143125"/>
                <a:ext cx="9525" cy="9525"/>
              </a:xfrm>
              <a:custGeom>
                <a:avLst/>
                <a:gdLst/>
                <a:ahLst/>
                <a:cxnLst/>
                <a:rect l="l" t="t" r="r" b="b"/>
                <a:pathLst>
                  <a:path w="9525" h="9525">
                    <a:moveTo>
                      <a:pt x="0" y="0"/>
                    </a:moveTo>
                    <a:lnTo>
                      <a:pt x="0" y="159"/>
                    </a:lnTo>
                  </a:path>
                </a:pathLst>
              </a:custGeom>
              <a:noFill/>
              <a:ln w="31750">
                <a:solidFill>
                  <a:srgbClr val="E8634C"/>
                </a:solidFill>
              </a:ln>
            </p:spPr>
          </p:sp>
          <p:sp>
            <p:nvSpPr>
              <p:cNvPr id="101" name="Freeform 101"/>
              <p:cNvSpPr/>
              <p:nvPr/>
            </p:nvSpPr>
            <p:spPr>
              <a:xfrm>
                <a:off x="8334375" y="2159000"/>
                <a:ext cx="285751" cy="45285"/>
              </a:xfrm>
              <a:custGeom>
                <a:avLst/>
                <a:gdLst/>
                <a:ahLst/>
                <a:cxnLst/>
                <a:rect l="l" t="t" r="r" b="b"/>
                <a:pathLst>
                  <a:path w="285751" h="45285">
                    <a:moveTo>
                      <a:pt x="0" y="0"/>
                    </a:moveTo>
                    <a:cubicBezTo>
                      <a:pt x="89868" y="45285"/>
                      <a:pt x="195883" y="45285"/>
                      <a:pt x="285751" y="0"/>
                    </a:cubicBezTo>
                  </a:path>
                </a:pathLst>
              </a:custGeom>
              <a:noFill/>
              <a:ln w="31750">
                <a:solidFill>
                  <a:srgbClr val="E8634C"/>
                </a:solidFill>
              </a:ln>
            </p:spPr>
          </p:sp>
        </p:grpSp>
        <p:sp>
          <p:nvSpPr>
            <p:cNvPr id="103" name="TextBox 103"/>
            <p:cNvSpPr txBox="1"/>
            <p:nvPr/>
          </p:nvSpPr>
          <p:spPr>
            <a:xfrm>
              <a:off x="8271827" y="2410539"/>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543E3A"/>
                  </a:solidFill>
                  <a:latin typeface="+mn-lt"/>
                  <a:ea typeface="+mn-ea"/>
                  <a:cs typeface="+mn-cs"/>
                </a:rPr>
                <a:t>商家一件</a:t>
              </a:r>
              <a:br/>
              <a:r>
                <a:rPr lang="zh-CN" sz="790" dirty="0">
                  <a:solidFill>
                    <a:srgbClr val="543E3A"/>
                  </a:solidFill>
                  <a:latin typeface="+mn-lt"/>
                  <a:ea typeface="+mn-ea"/>
                  <a:cs typeface="+mn-cs"/>
                </a:rPr>
                <a:t>代发</a:t>
              </a:r>
            </a:p>
          </p:txBody>
        </p:sp>
        <p:sp>
          <p:nvSpPr>
            <p:cNvPr id="104" name="Line 104"/>
            <p:cNvSpPr/>
            <p:nvPr/>
          </p:nvSpPr>
          <p:spPr>
            <a:xfrm>
              <a:off x="8705850" y="2143125"/>
              <a:ext cx="266700" cy="1"/>
            </a:xfrm>
            <a:prstGeom prst="line">
              <a:avLst/>
            </a:prstGeom>
            <a:noFill/>
            <a:ln w="14288">
              <a:solidFill>
                <a:srgbClr val="C46D5B"/>
              </a:solidFill>
              <a:custDash>
                <a:ds d="200000" sp="200000"/>
              </a:custDash>
              <a:tailEnd type="triangle" w="lg" len="lg"/>
            </a:ln>
          </p:spPr>
        </p:sp>
        <p:grpSp>
          <p:nvGrpSpPr>
            <p:cNvPr id="108" name="Group 108"/>
            <p:cNvGrpSpPr/>
            <p:nvPr/>
          </p:nvGrpSpPr>
          <p:grpSpPr>
            <a:xfrm>
              <a:off x="9124950" y="2000250"/>
              <a:ext cx="238125" cy="285751"/>
              <a:chOff x="9124950" y="2000250"/>
              <a:chExt cx="238125" cy="285751"/>
            </a:xfrm>
          </p:grpSpPr>
          <p:sp>
            <p:nvSpPr>
              <p:cNvPr id="105" name="Freeform 105"/>
              <p:cNvSpPr/>
              <p:nvPr/>
            </p:nvSpPr>
            <p:spPr>
              <a:xfrm>
                <a:off x="9156700" y="200025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31750">
                <a:solidFill>
                  <a:srgbClr val="E8634C"/>
                </a:solidFill>
              </a:ln>
            </p:spPr>
          </p:sp>
          <p:sp>
            <p:nvSpPr>
              <p:cNvPr id="106" name="Freeform 106"/>
              <p:cNvSpPr/>
              <p:nvPr/>
            </p:nvSpPr>
            <p:spPr>
              <a:xfrm>
                <a:off x="9124950" y="2190750"/>
                <a:ext cx="127000" cy="95250"/>
              </a:xfrm>
              <a:custGeom>
                <a:avLst/>
                <a:gdLst/>
                <a:ahLst/>
                <a:cxnLst/>
                <a:rect l="l" t="t" r="r" b="b"/>
                <a:pathLst>
                  <a:path w="127000" h="95250">
                    <a:moveTo>
                      <a:pt x="0" y="95250"/>
                    </a:moveTo>
                    <a:lnTo>
                      <a:pt x="0" y="63500"/>
                    </a:lnTo>
                    <a:cubicBezTo>
                      <a:pt x="0" y="28430"/>
                      <a:pt x="28430" y="0"/>
                      <a:pt x="63500" y="0"/>
                    </a:cubicBezTo>
                    <a:lnTo>
                      <a:pt x="127000" y="0"/>
                    </a:lnTo>
                  </a:path>
                </a:pathLst>
              </a:custGeom>
              <a:noFill/>
              <a:ln w="31750">
                <a:solidFill>
                  <a:srgbClr val="E8634C"/>
                </a:solidFill>
              </a:ln>
            </p:spPr>
          </p:sp>
          <p:sp>
            <p:nvSpPr>
              <p:cNvPr id="107" name="Freeform 107"/>
              <p:cNvSpPr/>
              <p:nvPr/>
            </p:nvSpPr>
            <p:spPr>
              <a:xfrm>
                <a:off x="9267825" y="2222501"/>
                <a:ext cx="95250" cy="63500"/>
              </a:xfrm>
              <a:custGeom>
                <a:avLst/>
                <a:gdLst/>
                <a:ahLst/>
                <a:cxnLst/>
                <a:rect l="l" t="t" r="r" b="b"/>
                <a:pathLst>
                  <a:path w="95250" h="63500">
                    <a:moveTo>
                      <a:pt x="0" y="31750"/>
                    </a:moveTo>
                    <a:lnTo>
                      <a:pt x="31750" y="63500"/>
                    </a:lnTo>
                    <a:lnTo>
                      <a:pt x="95250" y="0"/>
                    </a:lnTo>
                  </a:path>
                </a:pathLst>
              </a:custGeom>
              <a:noFill/>
              <a:ln w="31750">
                <a:solidFill>
                  <a:srgbClr val="E8634C"/>
                </a:solidFill>
              </a:ln>
            </p:spPr>
          </p:sp>
        </p:grpSp>
        <p:sp>
          <p:nvSpPr>
            <p:cNvPr id="109" name="TextBox 109"/>
            <p:cNvSpPr txBox="1"/>
            <p:nvPr/>
          </p:nvSpPr>
          <p:spPr>
            <a:xfrm>
              <a:off x="9109088" y="2410539"/>
              <a:ext cx="222225"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送达</a:t>
              </a:r>
            </a:p>
          </p:txBody>
        </p:sp>
        <p:sp>
          <p:nvSpPr>
            <p:cNvPr id="110" name="Line 110"/>
            <p:cNvSpPr/>
            <p:nvPr/>
          </p:nvSpPr>
          <p:spPr>
            <a:xfrm>
              <a:off x="9429750" y="2143125"/>
              <a:ext cx="304800" cy="9525"/>
            </a:xfrm>
            <a:custGeom>
              <a:avLst/>
              <a:gdLst/>
              <a:ahLst/>
              <a:cxnLst/>
              <a:rect l="l" t="t" r="r" b="b"/>
              <a:pathLst>
                <a:path w="304800" h="9525">
                  <a:moveTo>
                    <a:pt x="0" y="0"/>
                  </a:moveTo>
                  <a:lnTo>
                    <a:pt x="304800" y="0"/>
                  </a:lnTo>
                </a:path>
              </a:pathLst>
            </a:custGeom>
            <a:noFill/>
            <a:ln w="14288">
              <a:solidFill>
                <a:srgbClr val="ECC1B8"/>
              </a:solidFill>
              <a:custDash>
                <a:ds d="200000" sp="200000"/>
              </a:custDash>
            </a:ln>
          </p:spPr>
        </p:sp>
        <p:sp>
          <p:nvSpPr>
            <p:cNvPr id="111" name="Rectangle 111"/>
            <p:cNvSpPr/>
            <p:nvPr/>
          </p:nvSpPr>
          <p:spPr>
            <a:xfrm>
              <a:off x="7543800" y="3505200"/>
              <a:ext cx="552450" cy="400050"/>
            </a:xfrm>
            <a:prstGeom prst="roundRect">
              <a:avLst>
                <a:gd name="adj" fmla="val 9524"/>
              </a:avLst>
            </a:prstGeom>
            <a:solidFill>
              <a:srgbClr val="C46D5B"/>
            </a:solidFill>
            <a:ln>
              <a:noFill/>
            </a:ln>
          </p:spPr>
        </p:sp>
        <p:sp>
          <p:nvSpPr>
            <p:cNvPr id="112" name="TextBox 112"/>
            <p:cNvSpPr txBox="1"/>
            <p:nvPr/>
          </p:nvSpPr>
          <p:spPr>
            <a:xfrm>
              <a:off x="7714932" y="3582114"/>
              <a:ext cx="210185"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FFFFFF"/>
                  </a:solidFill>
                  <a:latin typeface="+mn-lt"/>
                  <a:ea typeface="+mn-ea"/>
                  <a:cs typeface="+mn-cs"/>
                </a:rPr>
                <a:t>电商</a:t>
              </a:r>
              <a:br/>
              <a:r>
                <a:rPr lang="zh-CN" sz="790" dirty="0">
                  <a:solidFill>
                    <a:srgbClr val="FFFFFF"/>
                  </a:solidFill>
                  <a:latin typeface="+mn-lt"/>
                  <a:ea typeface="+mn-ea"/>
                  <a:cs typeface="+mn-cs"/>
                </a:rPr>
                <a:t>库存</a:t>
              </a:r>
            </a:p>
          </p:txBody>
        </p:sp>
        <p:sp>
          <p:nvSpPr>
            <p:cNvPr id="113" name="Line 113"/>
            <p:cNvSpPr/>
            <p:nvPr/>
          </p:nvSpPr>
          <p:spPr>
            <a:xfrm>
              <a:off x="8096250" y="3705225"/>
              <a:ext cx="152400" cy="1"/>
            </a:xfrm>
            <a:prstGeom prst="line">
              <a:avLst/>
            </a:prstGeom>
            <a:noFill/>
            <a:ln w="14288">
              <a:solidFill>
                <a:srgbClr val="C46D5B"/>
              </a:solidFill>
              <a:tailEnd type="triangle" w="lg" len="lg"/>
            </a:ln>
          </p:spPr>
        </p:sp>
        <p:grpSp>
          <p:nvGrpSpPr>
            <p:cNvPr id="117" name="Group 117"/>
            <p:cNvGrpSpPr/>
            <p:nvPr/>
          </p:nvGrpSpPr>
          <p:grpSpPr>
            <a:xfrm>
              <a:off x="8350250" y="3562350"/>
              <a:ext cx="254001" cy="285750"/>
              <a:chOff x="8350250" y="3562350"/>
              <a:chExt cx="254001" cy="285750"/>
            </a:xfrm>
          </p:grpSpPr>
          <p:sp>
            <p:nvSpPr>
              <p:cNvPr id="114" name="Freeform 114"/>
              <p:cNvSpPr/>
              <p:nvPr/>
            </p:nvSpPr>
            <p:spPr>
              <a:xfrm>
                <a:off x="8350250" y="3562350"/>
                <a:ext cx="254001" cy="95250"/>
              </a:xfrm>
              <a:custGeom>
                <a:avLst/>
                <a:gdLst/>
                <a:ahLst/>
                <a:cxnLst/>
                <a:rect l="l" t="t" r="r" b="b"/>
                <a:pathLst>
                  <a:path w="254001" h="95250">
                    <a:moveTo>
                      <a:pt x="0" y="47625"/>
                    </a:moveTo>
                    <a:cubicBezTo>
                      <a:pt x="0" y="73928"/>
                      <a:pt x="56860" y="95250"/>
                      <a:pt x="127000" y="95250"/>
                    </a:cubicBezTo>
                    <a:cubicBezTo>
                      <a:pt x="197141" y="95250"/>
                      <a:pt x="254001" y="73928"/>
                      <a:pt x="254001" y="47625"/>
                    </a:cubicBezTo>
                    <a:cubicBezTo>
                      <a:pt x="254001" y="21322"/>
                      <a:pt x="197141" y="0"/>
                      <a:pt x="127000" y="0"/>
                    </a:cubicBezTo>
                    <a:cubicBezTo>
                      <a:pt x="56860" y="0"/>
                      <a:pt x="0" y="21322"/>
                      <a:pt x="0" y="47625"/>
                    </a:cubicBezTo>
                  </a:path>
                </a:pathLst>
              </a:custGeom>
              <a:noFill/>
              <a:ln w="31750">
                <a:solidFill>
                  <a:srgbClr val="E8634C"/>
                </a:solidFill>
              </a:ln>
            </p:spPr>
          </p:sp>
          <p:sp>
            <p:nvSpPr>
              <p:cNvPr id="115" name="Freeform 115"/>
              <p:cNvSpPr/>
              <p:nvPr/>
            </p:nvSpPr>
            <p:spPr>
              <a:xfrm>
                <a:off x="8350250" y="3609975"/>
                <a:ext cx="254001" cy="142875"/>
              </a:xfrm>
              <a:custGeom>
                <a:avLst/>
                <a:gdLst/>
                <a:ahLst/>
                <a:cxnLst/>
                <a:rect l="l" t="t" r="r" b="b"/>
                <a:pathLst>
                  <a:path w="254001" h="142875">
                    <a:moveTo>
                      <a:pt x="0" y="0"/>
                    </a:moveTo>
                    <a:lnTo>
                      <a:pt x="0" y="95250"/>
                    </a:lnTo>
                    <a:cubicBezTo>
                      <a:pt x="0" y="121553"/>
                      <a:pt x="56860" y="142875"/>
                      <a:pt x="127000" y="142875"/>
                    </a:cubicBezTo>
                    <a:cubicBezTo>
                      <a:pt x="197141" y="142875"/>
                      <a:pt x="254001" y="121553"/>
                      <a:pt x="254001" y="95250"/>
                    </a:cubicBezTo>
                    <a:lnTo>
                      <a:pt x="254001" y="0"/>
                    </a:lnTo>
                  </a:path>
                </a:pathLst>
              </a:custGeom>
              <a:noFill/>
              <a:ln w="31750">
                <a:solidFill>
                  <a:srgbClr val="E8634C"/>
                </a:solidFill>
              </a:ln>
            </p:spPr>
          </p:sp>
          <p:sp>
            <p:nvSpPr>
              <p:cNvPr id="116" name="Freeform 116"/>
              <p:cNvSpPr/>
              <p:nvPr/>
            </p:nvSpPr>
            <p:spPr>
              <a:xfrm>
                <a:off x="8350250" y="3705225"/>
                <a:ext cx="254001" cy="142875"/>
              </a:xfrm>
              <a:custGeom>
                <a:avLst/>
                <a:gdLst/>
                <a:ahLst/>
                <a:cxnLst/>
                <a:rect l="l" t="t" r="r" b="b"/>
                <a:pathLst>
                  <a:path w="254001" h="142875">
                    <a:moveTo>
                      <a:pt x="0" y="0"/>
                    </a:moveTo>
                    <a:lnTo>
                      <a:pt x="0" y="95250"/>
                    </a:lnTo>
                    <a:cubicBezTo>
                      <a:pt x="0" y="121553"/>
                      <a:pt x="56860" y="142875"/>
                      <a:pt x="127000" y="142875"/>
                    </a:cubicBezTo>
                    <a:cubicBezTo>
                      <a:pt x="197141" y="142875"/>
                      <a:pt x="254001" y="121553"/>
                      <a:pt x="254001" y="95250"/>
                    </a:cubicBezTo>
                    <a:lnTo>
                      <a:pt x="254001" y="0"/>
                    </a:lnTo>
                  </a:path>
                </a:pathLst>
              </a:custGeom>
              <a:noFill/>
              <a:ln w="31750">
                <a:solidFill>
                  <a:srgbClr val="E8634C"/>
                </a:solidFill>
              </a:ln>
            </p:spPr>
          </p:sp>
        </p:grpSp>
        <p:sp>
          <p:nvSpPr>
            <p:cNvPr id="118" name="TextBox 118"/>
            <p:cNvSpPr txBox="1"/>
            <p:nvPr/>
          </p:nvSpPr>
          <p:spPr>
            <a:xfrm>
              <a:off x="8221662" y="3972639"/>
              <a:ext cx="51117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543E3A"/>
                  </a:solidFill>
                  <a:latin typeface="+mn-lt"/>
                  <a:ea typeface="+mn-ea"/>
                  <a:cs typeface="+mn-cs"/>
                </a:rPr>
                <a:t>电商仓就近</a:t>
              </a:r>
              <a:br/>
              <a:r>
                <a:rPr lang="zh-CN" sz="790" dirty="0">
                  <a:solidFill>
                    <a:srgbClr val="543E3A"/>
                  </a:solidFill>
                  <a:latin typeface="+mn-lt"/>
                  <a:ea typeface="+mn-ea"/>
                  <a:cs typeface="+mn-cs"/>
                </a:rPr>
                <a:t>发货</a:t>
              </a:r>
            </a:p>
          </p:txBody>
        </p:sp>
        <p:sp>
          <p:nvSpPr>
            <p:cNvPr id="119" name="Line 119"/>
            <p:cNvSpPr/>
            <p:nvPr/>
          </p:nvSpPr>
          <p:spPr>
            <a:xfrm>
              <a:off x="8705850" y="3705225"/>
              <a:ext cx="266700" cy="1"/>
            </a:xfrm>
            <a:prstGeom prst="line">
              <a:avLst/>
            </a:prstGeom>
            <a:noFill/>
            <a:ln w="14288">
              <a:solidFill>
                <a:srgbClr val="C46D5B"/>
              </a:solidFill>
              <a:custDash>
                <a:ds d="200000" sp="200000"/>
              </a:custDash>
              <a:tailEnd type="triangle" w="lg" len="lg"/>
            </a:ln>
          </p:spPr>
        </p:sp>
        <p:grpSp>
          <p:nvGrpSpPr>
            <p:cNvPr id="123" name="Group 123"/>
            <p:cNvGrpSpPr/>
            <p:nvPr/>
          </p:nvGrpSpPr>
          <p:grpSpPr>
            <a:xfrm>
              <a:off x="9124950" y="3562350"/>
              <a:ext cx="238125" cy="285751"/>
              <a:chOff x="9124950" y="3562350"/>
              <a:chExt cx="238125" cy="285751"/>
            </a:xfrm>
          </p:grpSpPr>
          <p:sp>
            <p:nvSpPr>
              <p:cNvPr id="120" name="Freeform 120"/>
              <p:cNvSpPr/>
              <p:nvPr/>
            </p:nvSpPr>
            <p:spPr>
              <a:xfrm>
                <a:off x="9156700" y="356235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31750">
                <a:solidFill>
                  <a:srgbClr val="E8634C"/>
                </a:solidFill>
              </a:ln>
            </p:spPr>
          </p:sp>
          <p:sp>
            <p:nvSpPr>
              <p:cNvPr id="121" name="Freeform 121"/>
              <p:cNvSpPr/>
              <p:nvPr/>
            </p:nvSpPr>
            <p:spPr>
              <a:xfrm>
                <a:off x="9124950" y="3752850"/>
                <a:ext cx="127000" cy="95250"/>
              </a:xfrm>
              <a:custGeom>
                <a:avLst/>
                <a:gdLst/>
                <a:ahLst/>
                <a:cxnLst/>
                <a:rect l="l" t="t" r="r" b="b"/>
                <a:pathLst>
                  <a:path w="127000" h="95250">
                    <a:moveTo>
                      <a:pt x="0" y="95250"/>
                    </a:moveTo>
                    <a:lnTo>
                      <a:pt x="0" y="63500"/>
                    </a:lnTo>
                    <a:cubicBezTo>
                      <a:pt x="0" y="28430"/>
                      <a:pt x="28430" y="0"/>
                      <a:pt x="63500" y="0"/>
                    </a:cubicBezTo>
                    <a:lnTo>
                      <a:pt x="127000" y="0"/>
                    </a:lnTo>
                  </a:path>
                </a:pathLst>
              </a:custGeom>
              <a:noFill/>
              <a:ln w="31750">
                <a:solidFill>
                  <a:srgbClr val="E8634C"/>
                </a:solidFill>
              </a:ln>
            </p:spPr>
          </p:sp>
          <p:sp>
            <p:nvSpPr>
              <p:cNvPr id="122" name="Freeform 122"/>
              <p:cNvSpPr/>
              <p:nvPr/>
            </p:nvSpPr>
            <p:spPr>
              <a:xfrm>
                <a:off x="9267825" y="3784601"/>
                <a:ext cx="95250" cy="63500"/>
              </a:xfrm>
              <a:custGeom>
                <a:avLst/>
                <a:gdLst/>
                <a:ahLst/>
                <a:cxnLst/>
                <a:rect l="l" t="t" r="r" b="b"/>
                <a:pathLst>
                  <a:path w="95250" h="63500">
                    <a:moveTo>
                      <a:pt x="0" y="31750"/>
                    </a:moveTo>
                    <a:lnTo>
                      <a:pt x="31750" y="63500"/>
                    </a:lnTo>
                    <a:lnTo>
                      <a:pt x="95250" y="0"/>
                    </a:lnTo>
                  </a:path>
                </a:pathLst>
              </a:custGeom>
              <a:noFill/>
              <a:ln w="31750">
                <a:solidFill>
                  <a:srgbClr val="E8634C"/>
                </a:solidFill>
              </a:ln>
            </p:spPr>
          </p:sp>
        </p:grpSp>
        <p:sp>
          <p:nvSpPr>
            <p:cNvPr id="124" name="TextBox 124"/>
            <p:cNvSpPr txBox="1"/>
            <p:nvPr/>
          </p:nvSpPr>
          <p:spPr>
            <a:xfrm>
              <a:off x="9109088" y="3972639"/>
              <a:ext cx="222225"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送达</a:t>
              </a:r>
            </a:p>
          </p:txBody>
        </p:sp>
        <p:sp>
          <p:nvSpPr>
            <p:cNvPr id="125" name="Line 125"/>
            <p:cNvSpPr/>
            <p:nvPr/>
          </p:nvSpPr>
          <p:spPr>
            <a:xfrm>
              <a:off x="9429750" y="3705225"/>
              <a:ext cx="304800" cy="9525"/>
            </a:xfrm>
            <a:custGeom>
              <a:avLst/>
              <a:gdLst/>
              <a:ahLst/>
              <a:cxnLst/>
              <a:rect l="l" t="t" r="r" b="b"/>
              <a:pathLst>
                <a:path w="304800" h="9525">
                  <a:moveTo>
                    <a:pt x="0" y="0"/>
                  </a:moveTo>
                  <a:lnTo>
                    <a:pt x="304800" y="0"/>
                  </a:lnTo>
                </a:path>
              </a:pathLst>
            </a:custGeom>
            <a:noFill/>
            <a:ln w="14288">
              <a:solidFill>
                <a:srgbClr val="ECC1B8"/>
              </a:solidFill>
              <a:custDash>
                <a:ds d="200000" sp="200000"/>
              </a:custDash>
            </a:ln>
          </p:spPr>
        </p:sp>
        <p:sp>
          <p:nvSpPr>
            <p:cNvPr id="126" name="Rectangle 126"/>
            <p:cNvSpPr/>
            <p:nvPr/>
          </p:nvSpPr>
          <p:spPr>
            <a:xfrm>
              <a:off x="7543800" y="5067300"/>
              <a:ext cx="552450" cy="400050"/>
            </a:xfrm>
            <a:prstGeom prst="roundRect">
              <a:avLst>
                <a:gd name="adj" fmla="val 9524"/>
              </a:avLst>
            </a:prstGeom>
            <a:solidFill>
              <a:srgbClr val="C46D5B"/>
            </a:solidFill>
            <a:ln>
              <a:noFill/>
            </a:ln>
          </p:spPr>
        </p:sp>
        <p:sp>
          <p:nvSpPr>
            <p:cNvPr id="127" name="TextBox 127"/>
            <p:cNvSpPr txBox="1"/>
            <p:nvPr/>
          </p:nvSpPr>
          <p:spPr>
            <a:xfrm>
              <a:off x="7714932" y="5144214"/>
              <a:ext cx="210185"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FFFFFF"/>
                  </a:solidFill>
                  <a:latin typeface="+mn-lt"/>
                  <a:ea typeface="+mn-ea"/>
                  <a:cs typeface="+mn-cs"/>
                </a:rPr>
                <a:t>仓库</a:t>
              </a:r>
              <a:br/>
              <a:r>
                <a:rPr lang="zh-CN" sz="790" dirty="0">
                  <a:solidFill>
                    <a:srgbClr val="FFFFFF"/>
                  </a:solidFill>
                  <a:latin typeface="+mn-lt"/>
                  <a:ea typeface="+mn-ea"/>
                  <a:cs typeface="+mn-cs"/>
                </a:rPr>
                <a:t>库存</a:t>
              </a:r>
            </a:p>
          </p:txBody>
        </p:sp>
        <p:sp>
          <p:nvSpPr>
            <p:cNvPr id="128" name="Line 128"/>
            <p:cNvSpPr/>
            <p:nvPr/>
          </p:nvSpPr>
          <p:spPr>
            <a:xfrm>
              <a:off x="8096250" y="5267325"/>
              <a:ext cx="152400" cy="1"/>
            </a:xfrm>
            <a:prstGeom prst="line">
              <a:avLst/>
            </a:prstGeom>
            <a:noFill/>
            <a:ln w="14288">
              <a:solidFill>
                <a:srgbClr val="C46D5B"/>
              </a:solidFill>
              <a:tailEnd type="triangle" w="lg" len="lg"/>
            </a:ln>
          </p:spPr>
        </p:sp>
        <p:grpSp>
          <p:nvGrpSpPr>
            <p:cNvPr id="132" name="Group 132"/>
            <p:cNvGrpSpPr/>
            <p:nvPr/>
          </p:nvGrpSpPr>
          <p:grpSpPr>
            <a:xfrm>
              <a:off x="8334375" y="5124450"/>
              <a:ext cx="285751" cy="285750"/>
              <a:chOff x="8334375" y="5124450"/>
              <a:chExt cx="285751" cy="285750"/>
            </a:xfrm>
          </p:grpSpPr>
          <p:sp>
            <p:nvSpPr>
              <p:cNvPr id="129" name="Freeform 129"/>
              <p:cNvSpPr/>
              <p:nvPr/>
            </p:nvSpPr>
            <p:spPr>
              <a:xfrm>
                <a:off x="8334375" y="5124450"/>
                <a:ext cx="285751" cy="142875"/>
              </a:xfrm>
              <a:custGeom>
                <a:avLst/>
                <a:gdLst/>
                <a:ahLst/>
                <a:cxnLst/>
                <a:rect l="l" t="t" r="r" b="b"/>
                <a:pathLst>
                  <a:path w="285751" h="142875">
                    <a:moveTo>
                      <a:pt x="31750" y="142875"/>
                    </a:moveTo>
                    <a:lnTo>
                      <a:pt x="0" y="142875"/>
                    </a:lnTo>
                    <a:lnTo>
                      <a:pt x="142875" y="0"/>
                    </a:lnTo>
                    <a:lnTo>
                      <a:pt x="285751" y="142875"/>
                    </a:lnTo>
                    <a:lnTo>
                      <a:pt x="254001" y="142875"/>
                    </a:lnTo>
                  </a:path>
                </a:pathLst>
              </a:custGeom>
              <a:noFill/>
              <a:ln w="31750">
                <a:solidFill>
                  <a:srgbClr val="E8634C"/>
                </a:solidFill>
              </a:ln>
            </p:spPr>
          </p:sp>
          <p:sp>
            <p:nvSpPr>
              <p:cNvPr id="130" name="Freeform 130"/>
              <p:cNvSpPr/>
              <p:nvPr/>
            </p:nvSpPr>
            <p:spPr>
              <a:xfrm>
                <a:off x="8366125" y="5267325"/>
                <a:ext cx="222250" cy="142875"/>
              </a:xfrm>
              <a:custGeom>
                <a:avLst/>
                <a:gdLst/>
                <a:ahLst/>
                <a:cxnLst/>
                <a:rect l="l" t="t" r="r" b="b"/>
                <a:pathLst>
                  <a:path w="222250" h="142875">
                    <a:moveTo>
                      <a:pt x="0" y="0"/>
                    </a:moveTo>
                    <a:lnTo>
                      <a:pt x="0" y="111125"/>
                    </a:lnTo>
                    <a:cubicBezTo>
                      <a:pt x="0" y="128660"/>
                      <a:pt x="14215" y="142875"/>
                      <a:pt x="31750" y="142875"/>
                    </a:cubicBezTo>
                    <a:lnTo>
                      <a:pt x="190500" y="142875"/>
                    </a:lnTo>
                    <a:cubicBezTo>
                      <a:pt x="208035" y="142875"/>
                      <a:pt x="222250" y="128660"/>
                      <a:pt x="222250" y="111125"/>
                    </a:cubicBezTo>
                    <a:lnTo>
                      <a:pt x="222250" y="0"/>
                    </a:lnTo>
                  </a:path>
                </a:pathLst>
              </a:custGeom>
              <a:noFill/>
              <a:ln w="31750">
                <a:solidFill>
                  <a:srgbClr val="E8634C"/>
                </a:solidFill>
              </a:ln>
            </p:spPr>
          </p:sp>
          <p:sp>
            <p:nvSpPr>
              <p:cNvPr id="131" name="Freeform 131"/>
              <p:cNvSpPr/>
              <p:nvPr/>
            </p:nvSpPr>
            <p:spPr>
              <a:xfrm>
                <a:off x="8429625" y="5283200"/>
                <a:ext cx="95250" cy="127000"/>
              </a:xfrm>
              <a:custGeom>
                <a:avLst/>
                <a:gdLst/>
                <a:ahLst/>
                <a:cxnLst/>
                <a:rect l="l" t="t" r="r" b="b"/>
                <a:pathLst>
                  <a:path w="95250" h="127000">
                    <a:moveTo>
                      <a:pt x="0" y="127000"/>
                    </a:moveTo>
                    <a:lnTo>
                      <a:pt x="0" y="31750"/>
                    </a:lnTo>
                    <a:cubicBezTo>
                      <a:pt x="0" y="14215"/>
                      <a:pt x="14215" y="0"/>
                      <a:pt x="31750" y="0"/>
                    </a:cubicBezTo>
                    <a:lnTo>
                      <a:pt x="63500" y="0"/>
                    </a:lnTo>
                    <a:cubicBezTo>
                      <a:pt x="81035" y="0"/>
                      <a:pt x="95250" y="14215"/>
                      <a:pt x="95250" y="31750"/>
                    </a:cubicBezTo>
                    <a:lnTo>
                      <a:pt x="95250" y="127000"/>
                    </a:lnTo>
                  </a:path>
                </a:pathLst>
              </a:custGeom>
              <a:noFill/>
              <a:ln w="31750">
                <a:solidFill>
                  <a:srgbClr val="E8634C"/>
                </a:solidFill>
              </a:ln>
            </p:spPr>
          </p:sp>
        </p:grpSp>
        <p:sp>
          <p:nvSpPr>
            <p:cNvPr id="133" name="TextBox 133"/>
            <p:cNvSpPr txBox="1"/>
            <p:nvPr/>
          </p:nvSpPr>
          <p:spPr>
            <a:xfrm>
              <a:off x="8221662" y="5534739"/>
              <a:ext cx="51117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543E3A"/>
                  </a:solidFill>
                  <a:latin typeface="+mn-lt"/>
                  <a:ea typeface="+mn-ea"/>
                  <a:cs typeface="+mn-cs"/>
                </a:rPr>
                <a:t>门店一公里</a:t>
              </a:r>
              <a:br/>
              <a:r>
                <a:rPr lang="zh-CN" sz="790" dirty="0">
                  <a:solidFill>
                    <a:srgbClr val="543E3A"/>
                  </a:solidFill>
                  <a:latin typeface="+mn-lt"/>
                  <a:ea typeface="+mn-ea"/>
                  <a:cs typeface="+mn-cs"/>
                </a:rPr>
                <a:t>发货</a:t>
              </a:r>
            </a:p>
          </p:txBody>
        </p:sp>
        <p:sp>
          <p:nvSpPr>
            <p:cNvPr id="134" name="Line 134"/>
            <p:cNvSpPr/>
            <p:nvPr/>
          </p:nvSpPr>
          <p:spPr>
            <a:xfrm>
              <a:off x="8705850" y="5267325"/>
              <a:ext cx="266700" cy="1"/>
            </a:xfrm>
            <a:prstGeom prst="line">
              <a:avLst/>
            </a:prstGeom>
            <a:noFill/>
            <a:ln w="14288">
              <a:solidFill>
                <a:srgbClr val="C46D5B"/>
              </a:solidFill>
              <a:custDash>
                <a:ds d="200000" sp="200000"/>
              </a:custDash>
              <a:tailEnd type="triangle" w="lg" len="lg"/>
            </a:ln>
          </p:spPr>
        </p:sp>
        <p:grpSp>
          <p:nvGrpSpPr>
            <p:cNvPr id="138" name="Group 138"/>
            <p:cNvGrpSpPr/>
            <p:nvPr/>
          </p:nvGrpSpPr>
          <p:grpSpPr>
            <a:xfrm>
              <a:off x="9124950" y="5124450"/>
              <a:ext cx="238125" cy="285751"/>
              <a:chOff x="9124950" y="5124450"/>
              <a:chExt cx="238125" cy="285751"/>
            </a:xfrm>
          </p:grpSpPr>
          <p:sp>
            <p:nvSpPr>
              <p:cNvPr id="135" name="Freeform 135"/>
              <p:cNvSpPr/>
              <p:nvPr/>
            </p:nvSpPr>
            <p:spPr>
              <a:xfrm>
                <a:off x="9156700" y="512445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31750">
                <a:solidFill>
                  <a:srgbClr val="E8634C"/>
                </a:solidFill>
              </a:ln>
            </p:spPr>
          </p:sp>
          <p:sp>
            <p:nvSpPr>
              <p:cNvPr id="136" name="Freeform 136"/>
              <p:cNvSpPr/>
              <p:nvPr/>
            </p:nvSpPr>
            <p:spPr>
              <a:xfrm>
                <a:off x="9124950" y="5314950"/>
                <a:ext cx="127000" cy="95250"/>
              </a:xfrm>
              <a:custGeom>
                <a:avLst/>
                <a:gdLst/>
                <a:ahLst/>
                <a:cxnLst/>
                <a:rect l="l" t="t" r="r" b="b"/>
                <a:pathLst>
                  <a:path w="127000" h="95250">
                    <a:moveTo>
                      <a:pt x="0" y="95250"/>
                    </a:moveTo>
                    <a:lnTo>
                      <a:pt x="0" y="63500"/>
                    </a:lnTo>
                    <a:cubicBezTo>
                      <a:pt x="0" y="28430"/>
                      <a:pt x="28430" y="0"/>
                      <a:pt x="63500" y="0"/>
                    </a:cubicBezTo>
                    <a:lnTo>
                      <a:pt x="127000" y="0"/>
                    </a:lnTo>
                  </a:path>
                </a:pathLst>
              </a:custGeom>
              <a:noFill/>
              <a:ln w="31750">
                <a:solidFill>
                  <a:srgbClr val="E8634C"/>
                </a:solidFill>
              </a:ln>
            </p:spPr>
          </p:sp>
          <p:sp>
            <p:nvSpPr>
              <p:cNvPr id="137" name="Freeform 137"/>
              <p:cNvSpPr/>
              <p:nvPr/>
            </p:nvSpPr>
            <p:spPr>
              <a:xfrm>
                <a:off x="9267825" y="5346701"/>
                <a:ext cx="95250" cy="63500"/>
              </a:xfrm>
              <a:custGeom>
                <a:avLst/>
                <a:gdLst/>
                <a:ahLst/>
                <a:cxnLst/>
                <a:rect l="l" t="t" r="r" b="b"/>
                <a:pathLst>
                  <a:path w="95250" h="63500">
                    <a:moveTo>
                      <a:pt x="0" y="31750"/>
                    </a:moveTo>
                    <a:lnTo>
                      <a:pt x="31750" y="63500"/>
                    </a:lnTo>
                    <a:lnTo>
                      <a:pt x="95250" y="0"/>
                    </a:lnTo>
                  </a:path>
                </a:pathLst>
              </a:custGeom>
              <a:noFill/>
              <a:ln w="31750">
                <a:solidFill>
                  <a:srgbClr val="E8634C"/>
                </a:solidFill>
              </a:ln>
            </p:spPr>
          </p:sp>
        </p:grpSp>
        <p:sp>
          <p:nvSpPr>
            <p:cNvPr id="139" name="TextBox 139"/>
            <p:cNvSpPr txBox="1"/>
            <p:nvPr/>
          </p:nvSpPr>
          <p:spPr>
            <a:xfrm>
              <a:off x="9109088" y="5534739"/>
              <a:ext cx="222225"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送达</a:t>
              </a:r>
            </a:p>
          </p:txBody>
        </p:sp>
        <p:sp>
          <p:nvSpPr>
            <p:cNvPr id="140" name="Line 140"/>
            <p:cNvSpPr/>
            <p:nvPr/>
          </p:nvSpPr>
          <p:spPr>
            <a:xfrm>
              <a:off x="9429750" y="5267325"/>
              <a:ext cx="304800" cy="9525"/>
            </a:xfrm>
            <a:custGeom>
              <a:avLst/>
              <a:gdLst/>
              <a:ahLst/>
              <a:cxnLst/>
              <a:rect l="l" t="t" r="r" b="b"/>
              <a:pathLst>
                <a:path w="304800" h="9525">
                  <a:moveTo>
                    <a:pt x="0" y="0"/>
                  </a:moveTo>
                  <a:lnTo>
                    <a:pt x="304800" y="0"/>
                  </a:lnTo>
                </a:path>
              </a:pathLst>
            </a:custGeom>
            <a:noFill/>
            <a:ln w="14288">
              <a:solidFill>
                <a:srgbClr val="ECC1B8"/>
              </a:solidFill>
              <a:custDash>
                <a:ds d="200000" sp="200000"/>
              </a:custDash>
            </a:ln>
          </p:spPr>
        </p:sp>
      </p:grpSp>
      <p:grpSp>
        <p:nvGrpSpPr>
          <p:cNvPr id="166" name="retain-col"/>
          <p:cNvGrpSpPr/>
          <p:nvPr/>
        </p:nvGrpSpPr>
        <p:grpSpPr>
          <a:xfrm>
            <a:off x="9858375" y="1485900"/>
            <a:ext cx="1762125" cy="5086350"/>
            <a:chOff x="9858375" y="1485900"/>
            <a:chExt cx="1762125" cy="5086350"/>
          </a:xfrm>
        </p:grpSpPr>
        <p:sp>
          <p:nvSpPr>
            <p:cNvPr id="142" name="Rectangle 142"/>
            <p:cNvSpPr/>
            <p:nvPr/>
          </p:nvSpPr>
          <p:spPr>
            <a:xfrm>
              <a:off x="9858375" y="1485900"/>
              <a:ext cx="1762125" cy="5086350"/>
            </a:xfrm>
            <a:prstGeom prst="roundRect">
              <a:avLst>
                <a:gd name="adj" fmla="val 4324"/>
              </a:avLst>
            </a:prstGeom>
            <a:solidFill>
              <a:srgbClr val="F7F8FD"/>
            </a:solidFill>
            <a:ln w="11430">
              <a:solidFill>
                <a:srgbClr val="E08C7B"/>
              </a:solidFill>
              <a:custDash>
                <a:ds d="416667" sp="250000"/>
              </a:custDash>
            </a:ln>
          </p:spPr>
        </p:sp>
        <p:grpSp>
          <p:nvGrpSpPr>
            <p:cNvPr id="147" name="Group 147"/>
            <p:cNvGrpSpPr/>
            <p:nvPr/>
          </p:nvGrpSpPr>
          <p:grpSpPr>
            <a:xfrm>
              <a:off x="10577512" y="1862137"/>
              <a:ext cx="314324" cy="314325"/>
              <a:chOff x="10577512" y="1862137"/>
              <a:chExt cx="314324" cy="314325"/>
            </a:xfrm>
          </p:grpSpPr>
          <p:sp>
            <p:nvSpPr>
              <p:cNvPr id="143" name="Freeform 143"/>
              <p:cNvSpPr/>
              <p:nvPr/>
            </p:nvSpPr>
            <p:spPr>
              <a:xfrm>
                <a:off x="10612437" y="186213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34925">
                <a:solidFill>
                  <a:srgbClr val="E8634C"/>
                </a:solidFill>
              </a:ln>
            </p:spPr>
          </p:sp>
          <p:sp>
            <p:nvSpPr>
              <p:cNvPr id="144" name="Freeform 144"/>
              <p:cNvSpPr/>
              <p:nvPr/>
            </p:nvSpPr>
            <p:spPr>
              <a:xfrm>
                <a:off x="10577512" y="2071687"/>
                <a:ext cx="209550" cy="104775"/>
              </a:xfrm>
              <a:custGeom>
                <a:avLst/>
                <a:gdLst/>
                <a:ahLst/>
                <a:cxnLst/>
                <a:rect l="l" t="t" r="r" b="b"/>
                <a:pathLst>
                  <a:path w="209550" h="104775">
                    <a:moveTo>
                      <a:pt x="0" y="104775"/>
                    </a:moveTo>
                    <a:lnTo>
                      <a:pt x="0" y="69850"/>
                    </a:lnTo>
                    <a:cubicBezTo>
                      <a:pt x="0" y="31273"/>
                      <a:pt x="31273" y="0"/>
                      <a:pt x="69850" y="0"/>
                    </a:cubicBezTo>
                    <a:lnTo>
                      <a:pt x="139700" y="0"/>
                    </a:lnTo>
                    <a:cubicBezTo>
                      <a:pt x="178277" y="0"/>
                      <a:pt x="209550" y="31273"/>
                      <a:pt x="209550" y="69850"/>
                    </a:cubicBezTo>
                    <a:lnTo>
                      <a:pt x="209550" y="104775"/>
                    </a:lnTo>
                  </a:path>
                </a:pathLst>
              </a:custGeom>
              <a:noFill/>
              <a:ln w="34925">
                <a:solidFill>
                  <a:srgbClr val="E8634C"/>
                </a:solidFill>
              </a:ln>
            </p:spPr>
          </p:sp>
          <p:sp>
            <p:nvSpPr>
              <p:cNvPr id="145" name="Freeform 145"/>
              <p:cNvSpPr/>
              <p:nvPr/>
            </p:nvSpPr>
            <p:spPr>
              <a:xfrm>
                <a:off x="10804524" y="1864408"/>
                <a:ext cx="52524" cy="135334"/>
              </a:xfrm>
              <a:custGeom>
                <a:avLst/>
                <a:gdLst/>
                <a:ahLst/>
                <a:cxnLst/>
                <a:rect l="l" t="t" r="r" b="b"/>
                <a:pathLst>
                  <a:path w="52524" h="135334">
                    <a:moveTo>
                      <a:pt x="0" y="0"/>
                    </a:moveTo>
                    <a:cubicBezTo>
                      <a:pt x="30907" y="7913"/>
                      <a:pt x="52524" y="35763"/>
                      <a:pt x="52524" y="67667"/>
                    </a:cubicBezTo>
                    <a:cubicBezTo>
                      <a:pt x="52524" y="99571"/>
                      <a:pt x="30907" y="127421"/>
                      <a:pt x="0" y="135334"/>
                    </a:cubicBezTo>
                  </a:path>
                </a:pathLst>
              </a:custGeom>
              <a:noFill/>
              <a:ln w="34925">
                <a:solidFill>
                  <a:srgbClr val="E8634C"/>
                </a:solidFill>
              </a:ln>
            </p:spPr>
          </p:sp>
          <p:sp>
            <p:nvSpPr>
              <p:cNvPr id="146" name="Freeform 146"/>
              <p:cNvSpPr/>
              <p:nvPr/>
            </p:nvSpPr>
            <p:spPr>
              <a:xfrm>
                <a:off x="10839449" y="2074306"/>
                <a:ext cx="52387" cy="102155"/>
              </a:xfrm>
              <a:custGeom>
                <a:avLst/>
                <a:gdLst/>
                <a:ahLst/>
                <a:cxnLst/>
                <a:rect l="l" t="t" r="r" b="b"/>
                <a:pathLst>
                  <a:path w="52387" h="102155">
                    <a:moveTo>
                      <a:pt x="52387" y="102155"/>
                    </a:moveTo>
                    <a:lnTo>
                      <a:pt x="52387" y="67231"/>
                    </a:lnTo>
                    <a:cubicBezTo>
                      <a:pt x="52205" y="35529"/>
                      <a:pt x="30696" y="7925"/>
                      <a:pt x="0" y="0"/>
                    </a:cubicBezTo>
                  </a:path>
                </a:pathLst>
              </a:custGeom>
              <a:noFill/>
              <a:ln w="34925">
                <a:solidFill>
                  <a:srgbClr val="E8634C"/>
                </a:solidFill>
              </a:ln>
            </p:spPr>
          </p:sp>
        </p:grpSp>
        <p:sp>
          <p:nvSpPr>
            <p:cNvPr id="148" name="TextBox 148"/>
            <p:cNvSpPr txBox="1"/>
            <p:nvPr/>
          </p:nvSpPr>
          <p:spPr>
            <a:xfrm>
              <a:off x="10487596" y="2398395"/>
              <a:ext cx="49415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社区社群</a:t>
              </a:r>
            </a:p>
          </p:txBody>
        </p:sp>
        <p:grpSp>
          <p:nvGrpSpPr>
            <p:cNvPr id="155" name="Group 155"/>
            <p:cNvGrpSpPr/>
            <p:nvPr/>
          </p:nvGrpSpPr>
          <p:grpSpPr>
            <a:xfrm>
              <a:off x="10577512" y="3062287"/>
              <a:ext cx="314325" cy="314324"/>
              <a:chOff x="10577512" y="3062287"/>
              <a:chExt cx="314325" cy="314324"/>
            </a:xfrm>
          </p:grpSpPr>
          <p:sp>
            <p:nvSpPr>
              <p:cNvPr id="149" name="Freeform 149"/>
              <p:cNvSpPr/>
              <p:nvPr/>
            </p:nvSpPr>
            <p:spPr>
              <a:xfrm>
                <a:off x="10699750" y="32019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8634C"/>
                </a:solidFill>
              </a:ln>
            </p:spPr>
          </p:sp>
          <p:sp>
            <p:nvSpPr>
              <p:cNvPr id="150" name="Freeform 150"/>
              <p:cNvSpPr/>
              <p:nvPr/>
            </p:nvSpPr>
            <p:spPr>
              <a:xfrm>
                <a:off x="10664825" y="3324224"/>
                <a:ext cx="139700" cy="52387"/>
              </a:xfrm>
              <a:custGeom>
                <a:avLst/>
                <a:gdLst/>
                <a:ahLst/>
                <a:cxnLst/>
                <a:rect l="l" t="t" r="r" b="b"/>
                <a:pathLst>
                  <a:path w="139700" h="52387">
                    <a:moveTo>
                      <a:pt x="0" y="52387"/>
                    </a:moveTo>
                    <a:lnTo>
                      <a:pt x="0" y="34925"/>
                    </a:lnTo>
                    <a:cubicBezTo>
                      <a:pt x="0" y="15636"/>
                      <a:pt x="15636" y="0"/>
                      <a:pt x="34925" y="0"/>
                    </a:cubicBezTo>
                    <a:lnTo>
                      <a:pt x="104775" y="0"/>
                    </a:lnTo>
                    <a:cubicBezTo>
                      <a:pt x="124063" y="0"/>
                      <a:pt x="139700" y="15636"/>
                      <a:pt x="139700" y="34925"/>
                    </a:cubicBezTo>
                    <a:lnTo>
                      <a:pt x="139700" y="52387"/>
                    </a:lnTo>
                  </a:path>
                </a:pathLst>
              </a:custGeom>
              <a:noFill/>
              <a:ln w="34925">
                <a:solidFill>
                  <a:srgbClr val="E8634C"/>
                </a:solidFill>
              </a:ln>
            </p:spPr>
          </p:sp>
          <p:sp>
            <p:nvSpPr>
              <p:cNvPr id="151" name="Freeform 151"/>
              <p:cNvSpPr/>
              <p:nvPr/>
            </p:nvSpPr>
            <p:spPr>
              <a:xfrm>
                <a:off x="10787062" y="30622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8634C"/>
                </a:solidFill>
              </a:ln>
            </p:spPr>
          </p:sp>
          <p:sp>
            <p:nvSpPr>
              <p:cNvPr id="152" name="Freeform 152"/>
              <p:cNvSpPr/>
              <p:nvPr/>
            </p:nvSpPr>
            <p:spPr>
              <a:xfrm>
                <a:off x="10821987" y="3184525"/>
                <a:ext cx="69850" cy="52387"/>
              </a:xfrm>
              <a:custGeom>
                <a:avLst/>
                <a:gdLst/>
                <a:ahLst/>
                <a:cxnLst/>
                <a:rect l="l" t="t" r="r" b="b"/>
                <a:pathLst>
                  <a:path w="69850" h="52387">
                    <a:moveTo>
                      <a:pt x="0" y="0"/>
                    </a:moveTo>
                    <a:lnTo>
                      <a:pt x="34925" y="0"/>
                    </a:lnTo>
                    <a:cubicBezTo>
                      <a:pt x="54213" y="0"/>
                      <a:pt x="69850" y="15636"/>
                      <a:pt x="69850" y="34925"/>
                    </a:cubicBezTo>
                    <a:lnTo>
                      <a:pt x="69850" y="52387"/>
                    </a:lnTo>
                  </a:path>
                </a:pathLst>
              </a:custGeom>
              <a:noFill/>
              <a:ln w="34925">
                <a:solidFill>
                  <a:srgbClr val="E8634C"/>
                </a:solidFill>
              </a:ln>
            </p:spPr>
          </p:sp>
          <p:sp>
            <p:nvSpPr>
              <p:cNvPr id="153" name="Freeform 153"/>
              <p:cNvSpPr/>
              <p:nvPr/>
            </p:nvSpPr>
            <p:spPr>
              <a:xfrm>
                <a:off x="10612437" y="30622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8634C"/>
                </a:solidFill>
              </a:ln>
            </p:spPr>
          </p:sp>
          <p:sp>
            <p:nvSpPr>
              <p:cNvPr id="154" name="Freeform 154"/>
              <p:cNvSpPr/>
              <p:nvPr/>
            </p:nvSpPr>
            <p:spPr>
              <a:xfrm>
                <a:off x="10577512" y="3184525"/>
                <a:ext cx="69850" cy="52387"/>
              </a:xfrm>
              <a:custGeom>
                <a:avLst/>
                <a:gdLst/>
                <a:ahLst/>
                <a:cxnLst/>
                <a:rect l="l" t="t" r="r" b="b"/>
                <a:pathLst>
                  <a:path w="69850" h="52387">
                    <a:moveTo>
                      <a:pt x="0" y="52387"/>
                    </a:moveTo>
                    <a:lnTo>
                      <a:pt x="0" y="34925"/>
                    </a:lnTo>
                    <a:cubicBezTo>
                      <a:pt x="0" y="15636"/>
                      <a:pt x="15636" y="0"/>
                      <a:pt x="34925" y="0"/>
                    </a:cubicBezTo>
                    <a:lnTo>
                      <a:pt x="69850" y="0"/>
                    </a:lnTo>
                  </a:path>
                </a:pathLst>
              </a:custGeom>
              <a:noFill/>
              <a:ln w="34925">
                <a:solidFill>
                  <a:srgbClr val="E8634C"/>
                </a:solidFill>
              </a:ln>
            </p:spPr>
          </p:sp>
        </p:grpSp>
        <p:sp>
          <p:nvSpPr>
            <p:cNvPr id="156" name="TextBox 156"/>
            <p:cNvSpPr txBox="1"/>
            <p:nvPr/>
          </p:nvSpPr>
          <p:spPr>
            <a:xfrm>
              <a:off x="10366438" y="3598545"/>
              <a:ext cx="7364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虚拟门店店长</a:t>
              </a:r>
            </a:p>
          </p:txBody>
        </p:sp>
        <p:sp>
          <p:nvSpPr>
            <p:cNvPr id="157" name="Freeform 157"/>
            <p:cNvSpPr/>
            <p:nvPr/>
          </p:nvSpPr>
          <p:spPr>
            <a:xfrm>
              <a:off x="10577512" y="4314825"/>
              <a:ext cx="314324" cy="209550"/>
            </a:xfrm>
            <a:custGeom>
              <a:avLst/>
              <a:gdLst/>
              <a:ahLst/>
              <a:cxnLst/>
              <a:rect l="l" t="t" r="r" b="b"/>
              <a:pathLst>
                <a:path w="314324" h="209550">
                  <a:moveTo>
                    <a:pt x="157162" y="0"/>
                  </a:moveTo>
                  <a:lnTo>
                    <a:pt x="227012" y="104775"/>
                  </a:lnTo>
                  <a:lnTo>
                    <a:pt x="314324" y="34925"/>
                  </a:lnTo>
                  <a:lnTo>
                    <a:pt x="279399" y="209550"/>
                  </a:lnTo>
                  <a:lnTo>
                    <a:pt x="34925" y="209550"/>
                  </a:lnTo>
                  <a:lnTo>
                    <a:pt x="0" y="34925"/>
                  </a:lnTo>
                  <a:lnTo>
                    <a:pt x="87312" y="104775"/>
                  </a:lnTo>
                  <a:lnTo>
                    <a:pt x="157162" y="0"/>
                  </a:lnTo>
                </a:path>
              </a:pathLst>
            </a:custGeom>
            <a:noFill/>
            <a:ln w="34925">
              <a:solidFill>
                <a:srgbClr val="E8634C"/>
              </a:solidFill>
            </a:ln>
          </p:spPr>
        </p:sp>
        <p:sp>
          <p:nvSpPr>
            <p:cNvPr id="158" name="TextBox 158"/>
            <p:cNvSpPr txBox="1"/>
            <p:nvPr/>
          </p:nvSpPr>
          <p:spPr>
            <a:xfrm>
              <a:off x="10611498" y="4798695"/>
              <a:ext cx="246355" cy="176212"/>
            </a:xfrm>
            <a:prstGeom prst="rect">
              <a:avLst/>
            </a:prstGeom>
            <a:noFill/>
            <a:ln>
              <a:noFill/>
            </a:ln>
          </p:spPr>
          <p:txBody>
            <a:bodyPr wrap="none" lIns="0" tIns="0" rIns="0" bIns="0" anchor="t" anchorCtr="0">
              <a:spAutoFit/>
            </a:bodyPr>
            <a:lstStyle/>
            <a:p>
              <a:pPr algn="ctr"/>
              <a:r>
                <a:rPr lang="en-US" sz="900" dirty="0">
                  <a:solidFill>
                    <a:srgbClr val="543E3A"/>
                  </a:solidFill>
                  <a:latin typeface="+mn-lt"/>
                  <a:ea typeface="+mn-ea"/>
                  <a:cs typeface="+mn-cs"/>
                </a:rPr>
                <a:t>CRM</a:t>
              </a:r>
            </a:p>
          </p:txBody>
        </p:sp>
        <p:grpSp>
          <p:nvGrpSpPr>
            <p:cNvPr id="164" name="Group 164"/>
            <p:cNvGrpSpPr/>
            <p:nvPr/>
          </p:nvGrpSpPr>
          <p:grpSpPr>
            <a:xfrm>
              <a:off x="10612437" y="5462587"/>
              <a:ext cx="244475" cy="314324"/>
              <a:chOff x="10612437" y="5462587"/>
              <a:chExt cx="244475" cy="314324"/>
            </a:xfrm>
          </p:grpSpPr>
          <p:sp>
            <p:nvSpPr>
              <p:cNvPr id="159" name="Freeform 159"/>
              <p:cNvSpPr/>
              <p:nvPr/>
            </p:nvSpPr>
            <p:spPr>
              <a:xfrm>
                <a:off x="10769600" y="5462587"/>
                <a:ext cx="87312" cy="87312"/>
              </a:xfrm>
              <a:custGeom>
                <a:avLst/>
                <a:gdLst/>
                <a:ahLst/>
                <a:cxnLst/>
                <a:rect l="l" t="t" r="r" b="b"/>
                <a:pathLst>
                  <a:path w="87312" h="87312">
                    <a:moveTo>
                      <a:pt x="0" y="0"/>
                    </a:moveTo>
                    <a:lnTo>
                      <a:pt x="0" y="69850"/>
                    </a:lnTo>
                    <a:cubicBezTo>
                      <a:pt x="0" y="79494"/>
                      <a:pt x="7818" y="87312"/>
                      <a:pt x="17462" y="87312"/>
                    </a:cubicBezTo>
                    <a:lnTo>
                      <a:pt x="87312" y="87312"/>
                    </a:lnTo>
                  </a:path>
                </a:pathLst>
              </a:custGeom>
              <a:noFill/>
              <a:ln w="34925">
                <a:solidFill>
                  <a:srgbClr val="E8634C"/>
                </a:solidFill>
              </a:ln>
            </p:spPr>
          </p:sp>
          <p:sp>
            <p:nvSpPr>
              <p:cNvPr id="160" name="Freeform 160"/>
              <p:cNvSpPr/>
              <p:nvPr/>
            </p:nvSpPr>
            <p:spPr>
              <a:xfrm>
                <a:off x="10612437" y="5462587"/>
                <a:ext cx="244475" cy="314324"/>
              </a:xfrm>
              <a:custGeom>
                <a:avLst/>
                <a:gdLst/>
                <a:ahLst/>
                <a:cxnLst/>
                <a:rect l="l" t="t" r="r" b="b"/>
                <a:pathLst>
                  <a:path w="244475" h="314324">
                    <a:moveTo>
                      <a:pt x="209550" y="314324"/>
                    </a:moveTo>
                    <a:lnTo>
                      <a:pt x="34925" y="314324"/>
                    </a:lnTo>
                    <a:cubicBezTo>
                      <a:pt x="15636" y="314324"/>
                      <a:pt x="0" y="298688"/>
                      <a:pt x="0" y="279399"/>
                    </a:cubicBezTo>
                    <a:lnTo>
                      <a:pt x="0" y="34925"/>
                    </a:lnTo>
                    <a:cubicBezTo>
                      <a:pt x="0" y="15636"/>
                      <a:pt x="15636" y="0"/>
                      <a:pt x="34925" y="0"/>
                    </a:cubicBezTo>
                    <a:lnTo>
                      <a:pt x="157162" y="0"/>
                    </a:lnTo>
                    <a:lnTo>
                      <a:pt x="244475" y="87312"/>
                    </a:lnTo>
                    <a:lnTo>
                      <a:pt x="244475" y="279399"/>
                    </a:lnTo>
                    <a:cubicBezTo>
                      <a:pt x="244475" y="298688"/>
                      <a:pt x="228838" y="314324"/>
                      <a:pt x="209550" y="314324"/>
                    </a:cubicBezTo>
                  </a:path>
                </a:pathLst>
              </a:custGeom>
              <a:noFill/>
              <a:ln w="34925">
                <a:solidFill>
                  <a:srgbClr val="E8634C"/>
                </a:solidFill>
              </a:ln>
            </p:spPr>
          </p:sp>
          <p:sp>
            <p:nvSpPr>
              <p:cNvPr id="161" name="Freeform 161"/>
              <p:cNvSpPr/>
              <p:nvPr/>
            </p:nvSpPr>
            <p:spPr>
              <a:xfrm>
                <a:off x="10682287" y="5567362"/>
                <a:ext cx="17462" cy="9525"/>
              </a:xfrm>
              <a:custGeom>
                <a:avLst/>
                <a:gdLst/>
                <a:ahLst/>
                <a:cxnLst/>
                <a:rect l="l" t="t" r="r" b="b"/>
                <a:pathLst>
                  <a:path w="17462" h="9525">
                    <a:moveTo>
                      <a:pt x="0" y="0"/>
                    </a:moveTo>
                    <a:lnTo>
                      <a:pt x="17462" y="0"/>
                    </a:lnTo>
                  </a:path>
                </a:pathLst>
              </a:custGeom>
              <a:noFill/>
              <a:ln w="34925">
                <a:solidFill>
                  <a:srgbClr val="E8634C"/>
                </a:solidFill>
              </a:ln>
            </p:spPr>
          </p:sp>
          <p:sp>
            <p:nvSpPr>
              <p:cNvPr id="162" name="Freeform 162"/>
              <p:cNvSpPr/>
              <p:nvPr/>
            </p:nvSpPr>
            <p:spPr>
              <a:xfrm>
                <a:off x="10682287" y="5637212"/>
                <a:ext cx="104775" cy="9525"/>
              </a:xfrm>
              <a:custGeom>
                <a:avLst/>
                <a:gdLst/>
                <a:ahLst/>
                <a:cxnLst/>
                <a:rect l="l" t="t" r="r" b="b"/>
                <a:pathLst>
                  <a:path w="104775" h="9525">
                    <a:moveTo>
                      <a:pt x="0" y="0"/>
                    </a:moveTo>
                    <a:lnTo>
                      <a:pt x="104775" y="0"/>
                    </a:lnTo>
                  </a:path>
                </a:pathLst>
              </a:custGeom>
              <a:noFill/>
              <a:ln w="34925">
                <a:solidFill>
                  <a:srgbClr val="E8634C"/>
                </a:solidFill>
              </a:ln>
            </p:spPr>
          </p:sp>
          <p:sp>
            <p:nvSpPr>
              <p:cNvPr id="163" name="Freeform 163"/>
              <p:cNvSpPr/>
              <p:nvPr/>
            </p:nvSpPr>
            <p:spPr>
              <a:xfrm>
                <a:off x="10682287" y="5707062"/>
                <a:ext cx="104775" cy="9525"/>
              </a:xfrm>
              <a:custGeom>
                <a:avLst/>
                <a:gdLst/>
                <a:ahLst/>
                <a:cxnLst/>
                <a:rect l="l" t="t" r="r" b="b"/>
                <a:pathLst>
                  <a:path w="104775" h="9525">
                    <a:moveTo>
                      <a:pt x="0" y="0"/>
                    </a:moveTo>
                    <a:lnTo>
                      <a:pt x="104775" y="0"/>
                    </a:lnTo>
                  </a:path>
                </a:pathLst>
              </a:custGeom>
              <a:noFill/>
              <a:ln w="34925">
                <a:solidFill>
                  <a:srgbClr val="E8634C"/>
                </a:solidFill>
              </a:ln>
            </p:spPr>
          </p:sp>
        </p:grpSp>
        <p:sp>
          <p:nvSpPr>
            <p:cNvPr id="165" name="TextBox 165"/>
            <p:cNvSpPr txBox="1"/>
            <p:nvPr/>
          </p:nvSpPr>
          <p:spPr>
            <a:xfrm>
              <a:off x="10548176" y="5998845"/>
              <a:ext cx="372999"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公众号</a:t>
              </a:r>
            </a:p>
          </p:txBody>
        </p:sp>
      </p:gr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48</a:t>
              </a:r>
            </a:p>
          </p:txBody>
        </p:sp>
        <p:sp>
          <p:nvSpPr>
            <p:cNvPr id="4" name="TextBox 4"/>
            <p:cNvSpPr txBox="1"/>
            <p:nvPr/>
          </p:nvSpPr>
          <p:spPr>
            <a:xfrm>
              <a:off x="942594" y="151448"/>
              <a:ext cx="267630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银行数字化运营策略​</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26" name="lifecycle-band"/>
          <p:cNvGrpSpPr/>
          <p:nvPr/>
        </p:nvGrpSpPr>
        <p:grpSpPr>
          <a:xfrm>
            <a:off x="762000" y="1123950"/>
            <a:ext cx="10572750" cy="571500"/>
            <a:chOff x="762000" y="1123950"/>
            <a:chExt cx="10572750" cy="571500"/>
          </a:xfrm>
        </p:grpSpPr>
        <p:sp>
          <p:nvSpPr>
            <p:cNvPr id="7" name="Rectangle 7"/>
            <p:cNvSpPr/>
            <p:nvPr/>
          </p:nvSpPr>
          <p:spPr>
            <a:xfrm>
              <a:off x="762000" y="1123950"/>
              <a:ext cx="10191750" cy="571500"/>
            </a:xfrm>
            <a:prstGeom prst="rect">
              <a:avLst/>
            </a:prstGeom>
            <a:gradFill>
              <a:gsLst>
                <a:gs pos="0">
                  <a:srgbClr val="F6D4CC"/>
                </a:gs>
                <a:gs pos="55000">
                  <a:srgbClr val="EDD7DF"/>
                </a:gs>
                <a:gs pos="100000">
                  <a:srgbClr val="C9CFF0"/>
                </a:gs>
              </a:gsLst>
              <a:lin ang="0" scaled="1"/>
            </a:gradFill>
            <a:ln>
              <a:noFill/>
            </a:ln>
          </p:spPr>
        </p:sp>
        <p:sp>
          <p:nvSpPr>
            <p:cNvPr id="8" name="Freeform 8"/>
            <p:cNvSpPr/>
            <p:nvPr/>
          </p:nvSpPr>
          <p:spPr>
            <a:xfrm>
              <a:off x="10953750" y="1123950"/>
              <a:ext cx="381000" cy="571500"/>
            </a:xfrm>
            <a:prstGeom prst="homePlate">
              <a:avLst>
                <a:gd name="adj" fmla="val 100000"/>
              </a:avLst>
            </a:prstGeom>
            <a:solidFill>
              <a:srgbClr val="C9CFF0"/>
            </a:solidFill>
            <a:ln>
              <a:noFill/>
            </a:ln>
          </p:spPr>
        </p:sp>
        <p:sp>
          <p:nvSpPr>
            <p:cNvPr id="9" name="Rectangle 9"/>
            <p:cNvSpPr/>
            <p:nvPr/>
          </p:nvSpPr>
          <p:spPr>
            <a:xfrm>
              <a:off x="2114550" y="1266825"/>
              <a:ext cx="1047750" cy="285750"/>
            </a:xfrm>
            <a:prstGeom prst="roundRect">
              <a:avLst>
                <a:gd name="adj" fmla="val 13333"/>
              </a:avLst>
            </a:prstGeom>
            <a:solidFill>
              <a:srgbClr val="E8634C"/>
            </a:solidFill>
            <a:ln>
              <a:noFill/>
            </a:ln>
          </p:spPr>
        </p:sp>
        <p:sp>
          <p:nvSpPr>
            <p:cNvPr id="10" name="TextBox 10"/>
            <p:cNvSpPr txBox="1"/>
            <p:nvPr/>
          </p:nvSpPr>
          <p:spPr>
            <a:xfrm>
              <a:off x="2350389" y="13439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新获用户</a:t>
              </a:r>
            </a:p>
          </p:txBody>
        </p:sp>
        <p:sp>
          <p:nvSpPr>
            <p:cNvPr id="11" name="Freeform 11"/>
            <p:cNvSpPr/>
            <p:nvPr/>
          </p:nvSpPr>
          <p:spPr>
            <a:xfrm>
              <a:off x="3238500" y="1276350"/>
              <a:ext cx="133350" cy="266700"/>
            </a:xfrm>
            <a:prstGeom prst="chevron">
              <a:avLst/>
            </a:prstGeom>
            <a:solidFill>
              <a:srgbClr val="FFFFFF"/>
            </a:solidFill>
            <a:ln>
              <a:noFill/>
            </a:ln>
          </p:spPr>
        </p:sp>
        <p:sp>
          <p:nvSpPr>
            <p:cNvPr id="12" name="Rectangle 12"/>
            <p:cNvSpPr/>
            <p:nvPr/>
          </p:nvSpPr>
          <p:spPr>
            <a:xfrm>
              <a:off x="3457575" y="1266825"/>
              <a:ext cx="1047750" cy="285750"/>
            </a:xfrm>
            <a:prstGeom prst="roundRect">
              <a:avLst>
                <a:gd name="adj" fmla="val 13333"/>
              </a:avLst>
            </a:prstGeom>
            <a:solidFill>
              <a:srgbClr val="C45F4A"/>
            </a:solidFill>
            <a:ln>
              <a:noFill/>
            </a:ln>
          </p:spPr>
        </p:sp>
        <p:sp>
          <p:nvSpPr>
            <p:cNvPr id="13" name="TextBox 13"/>
            <p:cNvSpPr txBox="1"/>
            <p:nvPr/>
          </p:nvSpPr>
          <p:spPr>
            <a:xfrm>
              <a:off x="3693414" y="13439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新客培育</a:t>
              </a:r>
            </a:p>
          </p:txBody>
        </p:sp>
        <p:sp>
          <p:nvSpPr>
            <p:cNvPr id="14" name="Freeform 14"/>
            <p:cNvSpPr/>
            <p:nvPr/>
          </p:nvSpPr>
          <p:spPr>
            <a:xfrm>
              <a:off x="4638675" y="1276350"/>
              <a:ext cx="133350" cy="266700"/>
            </a:xfrm>
            <a:prstGeom prst="chevron">
              <a:avLst/>
            </a:prstGeom>
            <a:solidFill>
              <a:srgbClr val="FFFFFF"/>
            </a:solidFill>
            <a:ln>
              <a:noFill/>
            </a:ln>
          </p:spPr>
        </p:sp>
        <p:sp>
          <p:nvSpPr>
            <p:cNvPr id="15" name="Rectangle 15"/>
            <p:cNvSpPr/>
            <p:nvPr/>
          </p:nvSpPr>
          <p:spPr>
            <a:xfrm>
              <a:off x="4914900" y="1266825"/>
              <a:ext cx="1047750" cy="285750"/>
            </a:xfrm>
            <a:prstGeom prst="roundRect">
              <a:avLst>
                <a:gd name="adj" fmla="val 13333"/>
              </a:avLst>
            </a:prstGeom>
            <a:solidFill>
              <a:srgbClr val="E8634C"/>
            </a:solidFill>
            <a:ln>
              <a:noFill/>
            </a:ln>
          </p:spPr>
        </p:sp>
        <p:sp>
          <p:nvSpPr>
            <p:cNvPr id="16" name="TextBox 16"/>
            <p:cNvSpPr txBox="1"/>
            <p:nvPr/>
          </p:nvSpPr>
          <p:spPr>
            <a:xfrm>
              <a:off x="5150739" y="13439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存量提升</a:t>
              </a:r>
            </a:p>
          </p:txBody>
        </p:sp>
        <p:sp>
          <p:nvSpPr>
            <p:cNvPr id="17" name="Freeform 17"/>
            <p:cNvSpPr/>
            <p:nvPr/>
          </p:nvSpPr>
          <p:spPr>
            <a:xfrm>
              <a:off x="6267450" y="1276350"/>
              <a:ext cx="133350" cy="266700"/>
            </a:xfrm>
            <a:prstGeom prst="chevron">
              <a:avLst/>
            </a:prstGeom>
            <a:solidFill>
              <a:srgbClr val="FFFFFF"/>
            </a:solidFill>
            <a:ln>
              <a:noFill/>
            </a:ln>
          </p:spPr>
        </p:sp>
        <p:sp>
          <p:nvSpPr>
            <p:cNvPr id="18" name="Rectangle 18"/>
            <p:cNvSpPr/>
            <p:nvPr/>
          </p:nvSpPr>
          <p:spPr>
            <a:xfrm>
              <a:off x="6715125" y="1266825"/>
              <a:ext cx="1047750" cy="285750"/>
            </a:xfrm>
            <a:prstGeom prst="roundRect">
              <a:avLst>
                <a:gd name="adj" fmla="val 13333"/>
              </a:avLst>
            </a:prstGeom>
            <a:solidFill>
              <a:srgbClr val="C45F4A"/>
            </a:solidFill>
            <a:ln>
              <a:noFill/>
            </a:ln>
          </p:spPr>
        </p:sp>
        <p:sp>
          <p:nvSpPr>
            <p:cNvPr id="19" name="TextBox 19"/>
            <p:cNvSpPr txBox="1"/>
            <p:nvPr/>
          </p:nvSpPr>
          <p:spPr>
            <a:xfrm>
              <a:off x="6950964" y="13439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转介推荐</a:t>
              </a:r>
            </a:p>
          </p:txBody>
        </p:sp>
        <p:sp>
          <p:nvSpPr>
            <p:cNvPr id="20" name="Freeform 20"/>
            <p:cNvSpPr/>
            <p:nvPr/>
          </p:nvSpPr>
          <p:spPr>
            <a:xfrm>
              <a:off x="7934325" y="1276350"/>
              <a:ext cx="133350" cy="266700"/>
            </a:xfrm>
            <a:prstGeom prst="chevron">
              <a:avLst/>
            </a:prstGeom>
            <a:solidFill>
              <a:srgbClr val="FFFFFF"/>
            </a:solidFill>
            <a:ln>
              <a:noFill/>
            </a:ln>
          </p:spPr>
        </p:sp>
        <p:sp>
          <p:nvSpPr>
            <p:cNvPr id="21" name="Rectangle 21"/>
            <p:cNvSpPr/>
            <p:nvPr/>
          </p:nvSpPr>
          <p:spPr>
            <a:xfrm>
              <a:off x="8239125" y="1266825"/>
              <a:ext cx="1047750" cy="285750"/>
            </a:xfrm>
            <a:prstGeom prst="roundRect">
              <a:avLst>
                <a:gd name="adj" fmla="val 13333"/>
              </a:avLst>
            </a:prstGeom>
            <a:solidFill>
              <a:srgbClr val="E8634C"/>
            </a:solidFill>
            <a:ln>
              <a:noFill/>
            </a:ln>
          </p:spPr>
        </p:sp>
        <p:sp>
          <p:nvSpPr>
            <p:cNvPr id="22" name="TextBox 22"/>
            <p:cNvSpPr txBox="1"/>
            <p:nvPr/>
          </p:nvSpPr>
          <p:spPr>
            <a:xfrm>
              <a:off x="8474964" y="13439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防止流失</a:t>
              </a:r>
            </a:p>
          </p:txBody>
        </p:sp>
        <p:sp>
          <p:nvSpPr>
            <p:cNvPr id="23" name="Freeform 23"/>
            <p:cNvSpPr/>
            <p:nvPr/>
          </p:nvSpPr>
          <p:spPr>
            <a:xfrm>
              <a:off x="9458325" y="1276350"/>
              <a:ext cx="133350" cy="266700"/>
            </a:xfrm>
            <a:prstGeom prst="chevron">
              <a:avLst/>
            </a:prstGeom>
            <a:solidFill>
              <a:srgbClr val="FFFFFF"/>
            </a:solidFill>
            <a:ln>
              <a:noFill/>
            </a:ln>
          </p:spPr>
        </p:sp>
        <p:sp>
          <p:nvSpPr>
            <p:cNvPr id="24" name="Rectangle 24"/>
            <p:cNvSpPr/>
            <p:nvPr/>
          </p:nvSpPr>
          <p:spPr>
            <a:xfrm>
              <a:off x="9763125" y="1266825"/>
              <a:ext cx="1047750" cy="285750"/>
            </a:xfrm>
            <a:prstGeom prst="roundRect">
              <a:avLst>
                <a:gd name="adj" fmla="val 13333"/>
              </a:avLst>
            </a:prstGeom>
            <a:solidFill>
              <a:srgbClr val="C45F4A"/>
            </a:solidFill>
            <a:ln>
              <a:noFill/>
            </a:ln>
          </p:spPr>
        </p:sp>
        <p:sp>
          <p:nvSpPr>
            <p:cNvPr id="25" name="TextBox 25"/>
            <p:cNvSpPr txBox="1"/>
            <p:nvPr/>
          </p:nvSpPr>
          <p:spPr>
            <a:xfrm>
              <a:off x="9998964" y="13439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客户挽回</a:t>
              </a:r>
            </a:p>
          </p:txBody>
        </p:sp>
      </p:grpSp>
      <p:grpSp>
        <p:nvGrpSpPr>
          <p:cNvPr id="39" name="left-axis"/>
          <p:cNvGrpSpPr/>
          <p:nvPr/>
        </p:nvGrpSpPr>
        <p:grpSpPr>
          <a:xfrm>
            <a:off x="342900" y="1857375"/>
            <a:ext cx="1409700" cy="3781425"/>
            <a:chOff x="342900" y="1857375"/>
            <a:chExt cx="1409700" cy="3781425"/>
          </a:xfrm>
        </p:grpSpPr>
        <p:sp>
          <p:nvSpPr>
            <p:cNvPr id="27" name="Line 27"/>
            <p:cNvSpPr/>
            <p:nvPr/>
          </p:nvSpPr>
          <p:spPr>
            <a:xfrm>
              <a:off x="523875" y="2190750"/>
              <a:ext cx="9525" cy="3143250"/>
            </a:xfrm>
            <a:custGeom>
              <a:avLst/>
              <a:gdLst/>
              <a:ahLst/>
              <a:cxnLst/>
              <a:rect l="l" t="t" r="r" b="b"/>
              <a:pathLst>
                <a:path w="9525" h="3143250">
                  <a:moveTo>
                    <a:pt x="0" y="0"/>
                  </a:moveTo>
                  <a:lnTo>
                    <a:pt x="0" y="3143250"/>
                  </a:lnTo>
                </a:path>
              </a:pathLst>
            </a:custGeom>
            <a:noFill/>
            <a:ln w="11430">
              <a:solidFill>
                <a:srgbClr val="ECC1B8"/>
              </a:solidFill>
            </a:ln>
          </p:spPr>
        </p:sp>
        <p:sp>
          <p:nvSpPr>
            <p:cNvPr id="28" name="Line 28"/>
            <p:cNvSpPr/>
            <p:nvPr/>
          </p:nvSpPr>
          <p:spPr>
            <a:xfrm>
              <a:off x="523875" y="2190750"/>
              <a:ext cx="66675" cy="9525"/>
            </a:xfrm>
            <a:custGeom>
              <a:avLst/>
              <a:gdLst/>
              <a:ahLst/>
              <a:cxnLst/>
              <a:rect l="l" t="t" r="r" b="b"/>
              <a:pathLst>
                <a:path w="66675" h="9525">
                  <a:moveTo>
                    <a:pt x="0" y="0"/>
                  </a:moveTo>
                  <a:lnTo>
                    <a:pt x="66675" y="0"/>
                  </a:lnTo>
                </a:path>
              </a:pathLst>
            </a:custGeom>
            <a:noFill/>
            <a:ln w="11430">
              <a:solidFill>
                <a:srgbClr val="ECC1B8"/>
              </a:solidFill>
            </a:ln>
          </p:spPr>
        </p:sp>
        <p:sp>
          <p:nvSpPr>
            <p:cNvPr id="29" name="Line 29"/>
            <p:cNvSpPr/>
            <p:nvPr/>
          </p:nvSpPr>
          <p:spPr>
            <a:xfrm>
              <a:off x="523875" y="5334000"/>
              <a:ext cx="66675" cy="9525"/>
            </a:xfrm>
            <a:custGeom>
              <a:avLst/>
              <a:gdLst/>
              <a:ahLst/>
              <a:cxnLst/>
              <a:rect l="l" t="t" r="r" b="b"/>
              <a:pathLst>
                <a:path w="66675" h="9525">
                  <a:moveTo>
                    <a:pt x="0" y="0"/>
                  </a:moveTo>
                  <a:lnTo>
                    <a:pt x="66675" y="0"/>
                  </a:lnTo>
                </a:path>
              </a:pathLst>
            </a:custGeom>
            <a:noFill/>
            <a:ln w="11430">
              <a:solidFill>
                <a:srgbClr val="ECC1B8"/>
              </a:solidFill>
            </a:ln>
          </p:spPr>
        </p:sp>
        <p:sp>
          <p:nvSpPr>
            <p:cNvPr id="30" name="Rectangle 30"/>
            <p:cNvSpPr/>
            <p:nvPr/>
          </p:nvSpPr>
          <p:spPr>
            <a:xfrm>
              <a:off x="342900" y="3333750"/>
              <a:ext cx="361950" cy="857250"/>
            </a:xfrm>
            <a:prstGeom prst="rect">
              <a:avLst/>
            </a:prstGeom>
            <a:solidFill>
              <a:srgbClr val="FFFFFF"/>
            </a:solidFill>
            <a:ln>
              <a:noFill/>
            </a:ln>
          </p:spPr>
        </p:sp>
        <p:sp>
          <p:nvSpPr>
            <p:cNvPr id="31" name="TextBox 31"/>
            <p:cNvSpPr txBox="1"/>
            <p:nvPr/>
          </p:nvSpPr>
          <p:spPr>
            <a:xfrm>
              <a:off x="456692" y="3371374"/>
              <a:ext cx="134366" cy="705040"/>
            </a:xfrm>
            <a:prstGeom prst="rect">
              <a:avLst/>
            </a:prstGeom>
            <a:noFill/>
            <a:ln>
              <a:noFill/>
            </a:ln>
          </p:spPr>
          <p:txBody>
            <a:bodyPr wrap="none" lIns="0" tIns="0" rIns="0" bIns="0" anchor="t" anchorCtr="0">
              <a:spAutoFit/>
            </a:bodyPr>
            <a:lstStyle/>
            <a:p>
              <a:pPr algn="ctr">
                <a:lnSpc>
                  <a:spcPts val="1350"/>
                </a:lnSpc>
              </a:pPr>
              <a:r>
                <a:rPr lang="zh-CN" sz="980" b="1" dirty="0">
                  <a:solidFill>
                    <a:srgbClr val="543E3A"/>
                  </a:solidFill>
                  <a:latin typeface="+mn-lt"/>
                  <a:ea typeface="+mn-ea"/>
                  <a:cs typeface="+mn-cs"/>
                </a:rPr>
                <a:t>运</a:t>
              </a:r>
              <a:br/>
              <a:r>
                <a:rPr lang="zh-CN" sz="980" b="1" dirty="0">
                  <a:solidFill>
                    <a:srgbClr val="543E3A"/>
                  </a:solidFill>
                  <a:latin typeface="+mn-lt"/>
                  <a:ea typeface="+mn-ea"/>
                  <a:cs typeface="+mn-cs"/>
                </a:rPr>
                <a:t>营</a:t>
              </a:r>
              <a:br/>
              <a:r>
                <a:rPr lang="zh-CN" sz="980" b="1" dirty="0">
                  <a:solidFill>
                    <a:srgbClr val="543E3A"/>
                  </a:solidFill>
                  <a:latin typeface="+mn-lt"/>
                  <a:ea typeface="+mn-ea"/>
                  <a:cs typeface="+mn-cs"/>
                </a:rPr>
                <a:t>动</a:t>
              </a:r>
              <a:br/>
              <a:r>
                <a:rPr lang="zh-CN" sz="980" b="1" dirty="0">
                  <a:solidFill>
                    <a:srgbClr val="543E3A"/>
                  </a:solidFill>
                  <a:latin typeface="+mn-lt"/>
                  <a:ea typeface="+mn-ea"/>
                  <a:cs typeface="+mn-cs"/>
                </a:rPr>
                <a:t>作</a:t>
              </a:r>
            </a:p>
          </p:txBody>
        </p:sp>
        <p:sp>
          <p:nvSpPr>
            <p:cNvPr id="32" name="Rectangle 32"/>
            <p:cNvSpPr/>
            <p:nvPr/>
          </p:nvSpPr>
          <p:spPr>
            <a:xfrm>
              <a:off x="847725" y="1857375"/>
              <a:ext cx="904875" cy="3781425"/>
            </a:xfrm>
            <a:prstGeom prst="roundRect">
              <a:avLst>
                <a:gd name="adj" fmla="val 6316"/>
              </a:avLst>
            </a:prstGeom>
            <a:solidFill>
              <a:srgbClr val="E4E8F7"/>
            </a:solidFill>
            <a:ln>
              <a:noFill/>
            </a:ln>
          </p:spPr>
        </p:sp>
        <p:sp>
          <p:nvSpPr>
            <p:cNvPr id="33" name="Rectangle 33"/>
            <p:cNvSpPr/>
            <p:nvPr/>
          </p:nvSpPr>
          <p:spPr>
            <a:xfrm>
              <a:off x="990600" y="2314575"/>
              <a:ext cx="619125" cy="285750"/>
            </a:xfrm>
            <a:prstGeom prst="roundRect">
              <a:avLst>
                <a:gd name="adj" fmla="val 20000"/>
              </a:avLst>
            </a:prstGeom>
            <a:solidFill>
              <a:srgbClr val="FFFFFF"/>
            </a:solidFill>
            <a:ln>
              <a:noFill/>
            </a:ln>
          </p:spPr>
        </p:sp>
        <p:sp>
          <p:nvSpPr>
            <p:cNvPr id="34" name="TextBox 34"/>
            <p:cNvSpPr txBox="1"/>
            <p:nvPr/>
          </p:nvSpPr>
          <p:spPr>
            <a:xfrm>
              <a:off x="1155059" y="2399824"/>
              <a:ext cx="280681" cy="190690"/>
            </a:xfrm>
            <a:prstGeom prst="rect">
              <a:avLst/>
            </a:prstGeom>
            <a:noFill/>
            <a:ln>
              <a:noFill/>
            </a:ln>
          </p:spPr>
          <p:txBody>
            <a:bodyPr wrap="none" lIns="0" tIns="0" rIns="0" bIns="0" anchor="t" anchorCtr="0">
              <a:spAutoFit/>
            </a:bodyPr>
            <a:lstStyle/>
            <a:p>
              <a:pPr algn="ctr"/>
              <a:r>
                <a:rPr lang="en-US" sz="980" b="1" dirty="0">
                  <a:solidFill>
                    <a:srgbClr val="C45F4A"/>
                  </a:solidFill>
                  <a:latin typeface="+mn-lt"/>
                  <a:ea typeface="+mn-ea"/>
                  <a:cs typeface="+mn-cs"/>
                </a:rPr>
                <a:t>MAU</a:t>
              </a:r>
            </a:p>
          </p:txBody>
        </p:sp>
        <p:sp>
          <p:nvSpPr>
            <p:cNvPr id="35" name="Rectangle 35"/>
            <p:cNvSpPr/>
            <p:nvPr/>
          </p:nvSpPr>
          <p:spPr>
            <a:xfrm>
              <a:off x="990600" y="3609975"/>
              <a:ext cx="619125" cy="285750"/>
            </a:xfrm>
            <a:prstGeom prst="roundRect">
              <a:avLst>
                <a:gd name="adj" fmla="val 20000"/>
              </a:avLst>
            </a:prstGeom>
            <a:solidFill>
              <a:srgbClr val="FFFFFF"/>
            </a:solidFill>
            <a:ln>
              <a:noFill/>
            </a:ln>
          </p:spPr>
        </p:sp>
        <p:sp>
          <p:nvSpPr>
            <p:cNvPr id="36" name="TextBox 36"/>
            <p:cNvSpPr txBox="1"/>
            <p:nvPr/>
          </p:nvSpPr>
          <p:spPr>
            <a:xfrm>
              <a:off x="1155059" y="3695224"/>
              <a:ext cx="280681" cy="190690"/>
            </a:xfrm>
            <a:prstGeom prst="rect">
              <a:avLst/>
            </a:prstGeom>
            <a:noFill/>
            <a:ln>
              <a:noFill/>
            </a:ln>
          </p:spPr>
          <p:txBody>
            <a:bodyPr wrap="none" lIns="0" tIns="0" rIns="0" bIns="0" anchor="t" anchorCtr="0">
              <a:spAutoFit/>
            </a:bodyPr>
            <a:lstStyle/>
            <a:p>
              <a:pPr algn="ctr"/>
              <a:r>
                <a:rPr lang="en-US" sz="980" b="1" dirty="0">
                  <a:solidFill>
                    <a:srgbClr val="C45F4A"/>
                  </a:solidFill>
                  <a:latin typeface="+mn-lt"/>
                  <a:ea typeface="+mn-ea"/>
                  <a:cs typeface="+mn-cs"/>
                </a:rPr>
                <a:t>AUM</a:t>
              </a:r>
            </a:p>
          </p:txBody>
        </p:sp>
        <p:sp>
          <p:nvSpPr>
            <p:cNvPr id="37" name="Rectangle 37"/>
            <p:cNvSpPr/>
            <p:nvPr/>
          </p:nvSpPr>
          <p:spPr>
            <a:xfrm>
              <a:off x="990600" y="4905375"/>
              <a:ext cx="619125" cy="285750"/>
            </a:xfrm>
            <a:prstGeom prst="roundRect">
              <a:avLst>
                <a:gd name="adj" fmla="val 20000"/>
              </a:avLst>
            </a:prstGeom>
            <a:solidFill>
              <a:srgbClr val="FFFFFF"/>
            </a:solidFill>
            <a:ln>
              <a:noFill/>
            </a:ln>
          </p:spPr>
        </p:sp>
        <p:sp>
          <p:nvSpPr>
            <p:cNvPr id="38" name="TextBox 38"/>
            <p:cNvSpPr txBox="1"/>
            <p:nvPr/>
          </p:nvSpPr>
          <p:spPr>
            <a:xfrm>
              <a:off x="1155059" y="4990624"/>
              <a:ext cx="280681" cy="190690"/>
            </a:xfrm>
            <a:prstGeom prst="rect">
              <a:avLst/>
            </a:prstGeom>
            <a:noFill/>
            <a:ln>
              <a:noFill/>
            </a:ln>
          </p:spPr>
          <p:txBody>
            <a:bodyPr wrap="none" lIns="0" tIns="0" rIns="0" bIns="0" anchor="t" anchorCtr="0">
              <a:spAutoFit/>
            </a:bodyPr>
            <a:lstStyle/>
            <a:p>
              <a:pPr algn="ctr"/>
              <a:r>
                <a:rPr lang="en-US" sz="980" b="1" dirty="0">
                  <a:solidFill>
                    <a:srgbClr val="C45F4A"/>
                  </a:solidFill>
                  <a:latin typeface="+mn-lt"/>
                  <a:ea typeface="+mn-ea"/>
                  <a:cs typeface="+mn-cs"/>
                </a:rPr>
                <a:t>LUM</a:t>
              </a:r>
            </a:p>
          </p:txBody>
        </p:sp>
      </p:grpSp>
      <p:grpSp>
        <p:nvGrpSpPr>
          <p:cNvPr id="85" name="ops-grid"/>
          <p:cNvGrpSpPr/>
          <p:nvPr/>
        </p:nvGrpSpPr>
        <p:grpSpPr>
          <a:xfrm>
            <a:off x="1857375" y="1857375"/>
            <a:ext cx="9363075" cy="3803570"/>
            <a:chOff x="1857375" y="1857375"/>
            <a:chExt cx="9363075" cy="3803570"/>
          </a:xfrm>
        </p:grpSpPr>
        <p:sp>
          <p:nvSpPr>
            <p:cNvPr id="40" name="Rectangle 40"/>
            <p:cNvSpPr/>
            <p:nvPr/>
          </p:nvSpPr>
          <p:spPr>
            <a:xfrm>
              <a:off x="1857375" y="1857375"/>
              <a:ext cx="1571625" cy="1190625"/>
            </a:xfrm>
            <a:prstGeom prst="rect">
              <a:avLst/>
            </a:prstGeom>
            <a:solidFill>
              <a:srgbClr val="FDE3DC"/>
            </a:solidFill>
            <a:ln>
              <a:noFill/>
            </a:ln>
          </p:spPr>
        </p:sp>
        <p:sp>
          <p:nvSpPr>
            <p:cNvPr id="41" name="TextBox 41"/>
            <p:cNvSpPr txBox="1"/>
            <p:nvPr/>
          </p:nvSpPr>
          <p:spPr>
            <a:xfrm>
              <a:off x="2142172" y="2316718"/>
              <a:ext cx="992505" cy="321469"/>
            </a:xfrm>
            <a:prstGeom prst="rect">
              <a:avLst/>
            </a:prstGeom>
            <a:noFill/>
            <a:ln>
              <a:noFill/>
            </a:ln>
          </p:spPr>
          <p:txBody>
            <a:bodyPr wrap="none" lIns="0" tIns="0" rIns="0" bIns="0" anchor="t" anchorCtr="0">
              <a:spAutoFit/>
            </a:bodyPr>
            <a:lstStyle/>
            <a:p>
              <a:pPr algn="ctr">
                <a:lnSpc>
                  <a:spcPts val="1200"/>
                </a:lnSpc>
              </a:pPr>
              <a:r>
                <a:rPr lang="zh-CN" sz="860" dirty="0">
                  <a:solidFill>
                    <a:srgbClr val="E2624C"/>
                  </a:solidFill>
                  <a:latin typeface="+mn-lt"/>
                  <a:ea typeface="+mn-ea"/>
                  <a:cs typeface="+mn-cs"/>
                </a:rPr>
                <a:t>导流获客</a:t>
              </a:r>
              <a:br/>
              <a:r>
                <a:rPr lang="zh-CN" sz="860" dirty="0">
                  <a:solidFill>
                    <a:srgbClr val="E2624C"/>
                  </a:solidFill>
                  <a:latin typeface="+mn-lt"/>
                  <a:ea typeface="+mn-ea"/>
                  <a:cs typeface="+mn-cs"/>
                </a:rPr>
                <a:t>（场景、异业合作）</a:t>
              </a:r>
            </a:p>
          </p:txBody>
        </p:sp>
        <p:sp>
          <p:nvSpPr>
            <p:cNvPr id="42" name="Rectangle 42"/>
            <p:cNvSpPr/>
            <p:nvPr/>
          </p:nvSpPr>
          <p:spPr>
            <a:xfrm>
              <a:off x="3609975" y="1857375"/>
              <a:ext cx="733425" cy="1190625"/>
            </a:xfrm>
            <a:prstGeom prst="rect">
              <a:avLst/>
            </a:prstGeom>
            <a:solidFill>
              <a:srgbClr val="E4E8F7"/>
            </a:solidFill>
            <a:ln>
              <a:noFill/>
            </a:ln>
          </p:spPr>
        </p:sp>
        <p:sp>
          <p:nvSpPr>
            <p:cNvPr id="43" name="TextBox 43"/>
            <p:cNvSpPr txBox="1"/>
            <p:nvPr/>
          </p:nvSpPr>
          <p:spPr>
            <a:xfrm>
              <a:off x="3857943" y="2316718"/>
              <a:ext cx="227965" cy="321469"/>
            </a:xfrm>
            <a:prstGeom prst="rect">
              <a:avLst/>
            </a:prstGeom>
            <a:noFill/>
            <a:ln>
              <a:noFill/>
            </a:ln>
          </p:spPr>
          <p:txBody>
            <a:bodyPr wrap="none" lIns="0" tIns="0" rIns="0" bIns="0" anchor="t" anchorCtr="0">
              <a:spAutoFit/>
            </a:bodyPr>
            <a:lstStyle/>
            <a:p>
              <a:pPr algn="ctr">
                <a:lnSpc>
                  <a:spcPts val="1200"/>
                </a:lnSpc>
              </a:pPr>
              <a:r>
                <a:rPr lang="zh-CN" sz="860" dirty="0">
                  <a:solidFill>
                    <a:srgbClr val="C45F4A"/>
                  </a:solidFill>
                  <a:latin typeface="+mn-lt"/>
                  <a:ea typeface="+mn-ea"/>
                  <a:cs typeface="+mn-cs"/>
                </a:rPr>
                <a:t>新客</a:t>
              </a:r>
              <a:br/>
              <a:r>
                <a:rPr lang="zh-CN" sz="860" dirty="0">
                  <a:solidFill>
                    <a:srgbClr val="C45F4A"/>
                  </a:solidFill>
                  <a:latin typeface="+mn-lt"/>
                  <a:ea typeface="+mn-ea"/>
                  <a:cs typeface="+mn-cs"/>
                </a:rPr>
                <a:t>促活</a:t>
              </a:r>
            </a:p>
          </p:txBody>
        </p:sp>
        <p:sp>
          <p:nvSpPr>
            <p:cNvPr id="44" name="Rectangle 44"/>
            <p:cNvSpPr/>
            <p:nvPr/>
          </p:nvSpPr>
          <p:spPr>
            <a:xfrm>
              <a:off x="4400550" y="1857375"/>
              <a:ext cx="2076450" cy="1190625"/>
            </a:xfrm>
            <a:prstGeom prst="rect">
              <a:avLst/>
            </a:prstGeom>
            <a:solidFill>
              <a:srgbClr val="FDE3DC"/>
            </a:solidFill>
            <a:ln>
              <a:noFill/>
            </a:ln>
          </p:spPr>
        </p:sp>
        <p:sp>
          <p:nvSpPr>
            <p:cNvPr id="45" name="TextBox 45"/>
            <p:cNvSpPr txBox="1"/>
            <p:nvPr/>
          </p:nvSpPr>
          <p:spPr>
            <a:xfrm>
              <a:off x="5086693" y="2402443"/>
              <a:ext cx="704164" cy="169069"/>
            </a:xfrm>
            <a:prstGeom prst="rect">
              <a:avLst/>
            </a:prstGeom>
            <a:noFill/>
            <a:ln>
              <a:noFill/>
            </a:ln>
          </p:spPr>
          <p:txBody>
            <a:bodyPr wrap="none" lIns="0" tIns="0" rIns="0" bIns="0" anchor="t" anchorCtr="0">
              <a:spAutoFit/>
            </a:bodyPr>
            <a:lstStyle/>
            <a:p>
              <a:pPr algn="ctr"/>
              <a:r>
                <a:rPr lang="zh-CN" sz="860" dirty="0">
                  <a:solidFill>
                    <a:srgbClr val="E2624C"/>
                  </a:solidFill>
                  <a:latin typeface="+mn-lt"/>
                  <a:ea typeface="+mn-ea"/>
                  <a:cs typeface="+mn-cs"/>
                </a:rPr>
                <a:t>存量客户促活</a:t>
              </a:r>
            </a:p>
          </p:txBody>
        </p:sp>
        <p:sp>
          <p:nvSpPr>
            <p:cNvPr id="46" name="Rectangle 46"/>
            <p:cNvSpPr/>
            <p:nvPr/>
          </p:nvSpPr>
          <p:spPr>
            <a:xfrm>
              <a:off x="6572250" y="1857375"/>
              <a:ext cx="1333500" cy="1190625"/>
            </a:xfrm>
            <a:prstGeom prst="rect">
              <a:avLst/>
            </a:prstGeom>
            <a:solidFill>
              <a:srgbClr val="E4E8F7"/>
            </a:solidFill>
            <a:ln>
              <a:noFill/>
            </a:ln>
          </p:spPr>
        </p:sp>
        <p:sp>
          <p:nvSpPr>
            <p:cNvPr id="47" name="TextBox 47"/>
            <p:cNvSpPr txBox="1"/>
            <p:nvPr/>
          </p:nvSpPr>
          <p:spPr>
            <a:xfrm>
              <a:off x="6851968" y="2316718"/>
              <a:ext cx="774065" cy="321469"/>
            </a:xfrm>
            <a:prstGeom prst="rect">
              <a:avLst/>
            </a:prstGeom>
            <a:noFill/>
            <a:ln>
              <a:noFill/>
            </a:ln>
          </p:spPr>
          <p:txBody>
            <a:bodyPr wrap="none" lIns="0" tIns="0" rIns="0" bIns="0" anchor="t" anchorCtr="0">
              <a:spAutoFit/>
            </a:bodyPr>
            <a:lstStyle/>
            <a:p>
              <a:pPr algn="ctr">
                <a:lnSpc>
                  <a:spcPts val="1200"/>
                </a:lnSpc>
              </a:pPr>
              <a:r>
                <a:rPr lang="zh-CN" sz="860" dirty="0">
                  <a:solidFill>
                    <a:srgbClr val="C45F4A"/>
                  </a:solidFill>
                  <a:latin typeface="+mn-lt"/>
                  <a:ea typeface="+mn-ea"/>
                  <a:cs typeface="+mn-cs"/>
                </a:rPr>
                <a:t>MGM活动​</a:t>
              </a:r>
              <a:br/>
              <a:r>
                <a:rPr lang="zh-CN" sz="860" dirty="0">
                  <a:solidFill>
                    <a:srgbClr val="C45F4A"/>
                  </a:solidFill>
                  <a:latin typeface="+mn-lt"/>
                  <a:ea typeface="+mn-ea"/>
                  <a:cs typeface="+mn-cs"/>
                </a:rPr>
                <a:t>（拼团、转介）</a:t>
              </a:r>
            </a:p>
          </p:txBody>
        </p:sp>
        <p:sp>
          <p:nvSpPr>
            <p:cNvPr id="48" name="Rectangle 48"/>
            <p:cNvSpPr/>
            <p:nvPr/>
          </p:nvSpPr>
          <p:spPr>
            <a:xfrm>
              <a:off x="8001000" y="1857375"/>
              <a:ext cx="1524000" cy="1190625"/>
            </a:xfrm>
            <a:prstGeom prst="rect">
              <a:avLst/>
            </a:prstGeom>
            <a:solidFill>
              <a:srgbClr val="FDE3DC"/>
            </a:solidFill>
            <a:ln>
              <a:noFill/>
            </a:ln>
          </p:spPr>
        </p:sp>
        <p:sp>
          <p:nvSpPr>
            <p:cNvPr id="49" name="TextBox 49"/>
            <p:cNvSpPr txBox="1"/>
            <p:nvPr/>
          </p:nvSpPr>
          <p:spPr>
            <a:xfrm>
              <a:off x="8353031" y="2402443"/>
              <a:ext cx="819937" cy="169069"/>
            </a:xfrm>
            <a:prstGeom prst="rect">
              <a:avLst/>
            </a:prstGeom>
            <a:noFill/>
            <a:ln>
              <a:noFill/>
            </a:ln>
          </p:spPr>
          <p:txBody>
            <a:bodyPr wrap="none" lIns="0" tIns="0" rIns="0" bIns="0" anchor="t" anchorCtr="0">
              <a:spAutoFit/>
            </a:bodyPr>
            <a:lstStyle/>
            <a:p>
              <a:pPr algn="ctr"/>
              <a:r>
                <a:rPr lang="zh-CN" sz="860" dirty="0">
                  <a:solidFill>
                    <a:srgbClr val="E2624C"/>
                  </a:solidFill>
                  <a:latin typeface="+mn-lt"/>
                  <a:ea typeface="+mn-ea"/>
                  <a:cs typeface="+mn-cs"/>
                </a:rPr>
                <a:t>活跃率下降监测</a:t>
              </a:r>
            </a:p>
          </p:txBody>
        </p:sp>
        <p:sp>
          <p:nvSpPr>
            <p:cNvPr id="50" name="Rectangle 50"/>
            <p:cNvSpPr/>
            <p:nvPr/>
          </p:nvSpPr>
          <p:spPr>
            <a:xfrm>
              <a:off x="9620250" y="1857375"/>
              <a:ext cx="1333500" cy="1190625"/>
            </a:xfrm>
            <a:prstGeom prst="rect">
              <a:avLst/>
            </a:prstGeom>
            <a:solidFill>
              <a:srgbClr val="E4E8F7"/>
            </a:solidFill>
            <a:ln>
              <a:noFill/>
            </a:ln>
          </p:spPr>
        </p:sp>
        <p:sp>
          <p:nvSpPr>
            <p:cNvPr id="51" name="TextBox 51"/>
            <p:cNvSpPr txBox="1"/>
            <p:nvPr/>
          </p:nvSpPr>
          <p:spPr>
            <a:xfrm>
              <a:off x="9954578" y="2316718"/>
              <a:ext cx="664845" cy="321469"/>
            </a:xfrm>
            <a:prstGeom prst="rect">
              <a:avLst/>
            </a:prstGeom>
            <a:noFill/>
            <a:ln>
              <a:noFill/>
            </a:ln>
          </p:spPr>
          <p:txBody>
            <a:bodyPr wrap="none" lIns="0" tIns="0" rIns="0" bIns="0" anchor="t" anchorCtr="0">
              <a:spAutoFit/>
            </a:bodyPr>
            <a:lstStyle/>
            <a:p>
              <a:pPr algn="ctr">
                <a:lnSpc>
                  <a:spcPts val="1200"/>
                </a:lnSpc>
              </a:pPr>
              <a:r>
                <a:rPr lang="zh-CN" sz="860" dirty="0">
                  <a:solidFill>
                    <a:srgbClr val="C45F4A"/>
                  </a:solidFill>
                  <a:latin typeface="+mn-lt"/>
                  <a:ea typeface="+mn-ea"/>
                  <a:cs typeface="+mn-cs"/>
                </a:rPr>
                <a:t>睡眠客户激活</a:t>
              </a:r>
              <a:br/>
              <a:r>
                <a:rPr lang="zh-CN" sz="860" dirty="0">
                  <a:solidFill>
                    <a:srgbClr val="C45F4A"/>
                  </a:solidFill>
                  <a:latin typeface="+mn-lt"/>
                  <a:ea typeface="+mn-ea"/>
                  <a:cs typeface="+mn-cs"/>
                </a:rPr>
                <a:t>人工推荐</a:t>
              </a:r>
            </a:p>
          </p:txBody>
        </p:sp>
        <p:sp>
          <p:nvSpPr>
            <p:cNvPr id="52" name="Rectangle 52"/>
            <p:cNvSpPr/>
            <p:nvPr/>
          </p:nvSpPr>
          <p:spPr>
            <a:xfrm>
              <a:off x="3609975" y="3162300"/>
              <a:ext cx="733425" cy="1181100"/>
            </a:xfrm>
            <a:prstGeom prst="rect">
              <a:avLst/>
            </a:prstGeom>
            <a:solidFill>
              <a:srgbClr val="E4E8F7"/>
            </a:solidFill>
            <a:ln>
              <a:noFill/>
            </a:ln>
          </p:spPr>
        </p:sp>
        <p:sp>
          <p:nvSpPr>
            <p:cNvPr id="53" name="TextBox 53"/>
            <p:cNvSpPr txBox="1"/>
            <p:nvPr/>
          </p:nvSpPr>
          <p:spPr>
            <a:xfrm>
              <a:off x="3711321" y="3439239"/>
              <a:ext cx="521208" cy="554831"/>
            </a:xfrm>
            <a:prstGeom prst="rect">
              <a:avLst/>
            </a:prstGeom>
            <a:noFill/>
            <a:ln>
              <a:noFill/>
            </a:ln>
          </p:spPr>
          <p:txBody>
            <a:bodyPr wrap="none" lIns="0" tIns="0" rIns="0" bIns="0" anchor="t" anchorCtr="0">
              <a:spAutoFit/>
            </a:bodyPr>
            <a:lstStyle/>
            <a:p>
              <a:pPr algn="ctr">
                <a:lnSpc>
                  <a:spcPts val="1050"/>
                </a:lnSpc>
              </a:pPr>
              <a:r>
                <a:rPr lang="zh-CN" sz="790" dirty="0">
                  <a:solidFill>
                    <a:srgbClr val="C45F4A"/>
                  </a:solidFill>
                  <a:latin typeface="+mn-lt"/>
                  <a:ea typeface="+mn-ea"/>
                  <a:cs typeface="+mn-cs"/>
                </a:rPr>
                <a:t>理财/</a:t>
              </a:r>
              <a:br/>
              <a:r>
                <a:rPr lang="zh-CN" sz="790" dirty="0">
                  <a:solidFill>
                    <a:srgbClr val="C45F4A"/>
                  </a:solidFill>
                  <a:latin typeface="+mn-lt"/>
                  <a:ea typeface="+mn-ea"/>
                  <a:cs typeface="+mn-cs"/>
                </a:rPr>
                <a:t>基金/保险/</a:t>
              </a:r>
              <a:br/>
              <a:r>
                <a:rPr lang="zh-CN" sz="790" dirty="0">
                  <a:solidFill>
                    <a:srgbClr val="C45F4A"/>
                  </a:solidFill>
                  <a:latin typeface="+mn-lt"/>
                  <a:ea typeface="+mn-ea"/>
                  <a:cs typeface="+mn-cs"/>
                </a:rPr>
                <a:t>贵金属</a:t>
              </a:r>
              <a:br/>
              <a:r>
                <a:rPr lang="zh-CN" sz="790" dirty="0">
                  <a:solidFill>
                    <a:srgbClr val="C45F4A"/>
                  </a:solidFill>
                  <a:latin typeface="+mn-lt"/>
                  <a:ea typeface="+mn-ea"/>
                  <a:cs typeface="+mn-cs"/>
                </a:rPr>
                <a:t>促首购</a:t>
              </a:r>
            </a:p>
          </p:txBody>
        </p:sp>
        <p:sp>
          <p:nvSpPr>
            <p:cNvPr id="54" name="Rectangle 54"/>
            <p:cNvSpPr/>
            <p:nvPr/>
          </p:nvSpPr>
          <p:spPr>
            <a:xfrm>
              <a:off x="4400550" y="3162300"/>
              <a:ext cx="495300" cy="2476500"/>
            </a:xfrm>
            <a:prstGeom prst="rect">
              <a:avLst/>
            </a:prstGeom>
            <a:solidFill>
              <a:srgbClr val="FDE3DC"/>
            </a:solidFill>
            <a:ln>
              <a:noFill/>
            </a:ln>
          </p:spPr>
        </p:sp>
        <p:sp>
          <p:nvSpPr>
            <p:cNvPr id="55" name="TextBox 55"/>
            <p:cNvSpPr txBox="1"/>
            <p:nvPr/>
          </p:nvSpPr>
          <p:spPr>
            <a:xfrm>
              <a:off x="4539298" y="4254341"/>
              <a:ext cx="21780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E2624C"/>
                  </a:solidFill>
                  <a:latin typeface="+mn-lt"/>
                  <a:ea typeface="+mn-ea"/>
                  <a:cs typeface="+mn-cs"/>
                </a:rPr>
                <a:t>交叉</a:t>
              </a:r>
              <a:br/>
              <a:r>
                <a:rPr lang="zh-CN" sz="820" dirty="0">
                  <a:solidFill>
                    <a:srgbClr val="E2624C"/>
                  </a:solidFill>
                  <a:latin typeface="+mn-lt"/>
                  <a:ea typeface="+mn-ea"/>
                  <a:cs typeface="+mn-cs"/>
                </a:rPr>
                <a:t>销售</a:t>
              </a:r>
            </a:p>
          </p:txBody>
        </p:sp>
        <p:sp>
          <p:nvSpPr>
            <p:cNvPr id="56" name="Rectangle 56"/>
            <p:cNvSpPr/>
            <p:nvPr/>
          </p:nvSpPr>
          <p:spPr>
            <a:xfrm>
              <a:off x="4933950" y="3162300"/>
              <a:ext cx="495300" cy="2476500"/>
            </a:xfrm>
            <a:prstGeom prst="rect">
              <a:avLst/>
            </a:prstGeom>
            <a:solidFill>
              <a:srgbClr val="FDE3DC"/>
            </a:solidFill>
            <a:ln>
              <a:noFill/>
            </a:ln>
          </p:spPr>
        </p:sp>
        <p:sp>
          <p:nvSpPr>
            <p:cNvPr id="57" name="TextBox 57"/>
            <p:cNvSpPr txBox="1"/>
            <p:nvPr/>
          </p:nvSpPr>
          <p:spPr>
            <a:xfrm>
              <a:off x="5072698" y="4254341"/>
              <a:ext cx="21780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E2624C"/>
                  </a:solidFill>
                  <a:latin typeface="+mn-lt"/>
                  <a:ea typeface="+mn-ea"/>
                  <a:cs typeface="+mn-cs"/>
                </a:rPr>
                <a:t>向上</a:t>
              </a:r>
              <a:br/>
              <a:r>
                <a:rPr lang="zh-CN" sz="820" dirty="0">
                  <a:solidFill>
                    <a:srgbClr val="E2624C"/>
                  </a:solidFill>
                  <a:latin typeface="+mn-lt"/>
                  <a:ea typeface="+mn-ea"/>
                  <a:cs typeface="+mn-cs"/>
                </a:rPr>
                <a:t>销售</a:t>
              </a:r>
            </a:p>
          </p:txBody>
        </p:sp>
        <p:sp>
          <p:nvSpPr>
            <p:cNvPr id="58" name="Rectangle 58"/>
            <p:cNvSpPr/>
            <p:nvPr/>
          </p:nvSpPr>
          <p:spPr>
            <a:xfrm>
              <a:off x="5486400" y="3162300"/>
              <a:ext cx="990600" cy="1181100"/>
            </a:xfrm>
            <a:prstGeom prst="rect">
              <a:avLst/>
            </a:prstGeom>
            <a:solidFill>
              <a:srgbClr val="FDE3DC"/>
            </a:solidFill>
            <a:ln>
              <a:noFill/>
            </a:ln>
          </p:spPr>
        </p:sp>
        <p:sp>
          <p:nvSpPr>
            <p:cNvPr id="59" name="TextBox 59"/>
            <p:cNvSpPr txBox="1"/>
            <p:nvPr/>
          </p:nvSpPr>
          <p:spPr>
            <a:xfrm>
              <a:off x="5768658" y="3625691"/>
              <a:ext cx="42608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E2624C"/>
                  </a:solidFill>
                  <a:latin typeface="+mn-lt"/>
                  <a:ea typeface="+mn-ea"/>
                  <a:cs typeface="+mn-cs"/>
                </a:rPr>
                <a:t>临界客户</a:t>
              </a:r>
              <a:br/>
              <a:r>
                <a:rPr lang="zh-CN" sz="820" dirty="0">
                  <a:solidFill>
                    <a:srgbClr val="E2624C"/>
                  </a:solidFill>
                  <a:latin typeface="+mn-lt"/>
                  <a:ea typeface="+mn-ea"/>
                  <a:cs typeface="+mn-cs"/>
                </a:rPr>
                <a:t>升级</a:t>
              </a:r>
            </a:p>
          </p:txBody>
        </p:sp>
        <p:sp>
          <p:nvSpPr>
            <p:cNvPr id="60" name="Rectangle 60"/>
            <p:cNvSpPr/>
            <p:nvPr/>
          </p:nvSpPr>
          <p:spPr>
            <a:xfrm>
              <a:off x="6572250" y="3162300"/>
              <a:ext cx="1333500" cy="1181100"/>
            </a:xfrm>
            <a:prstGeom prst="rect">
              <a:avLst/>
            </a:prstGeom>
            <a:solidFill>
              <a:srgbClr val="E4E8F7"/>
            </a:solidFill>
            <a:ln>
              <a:noFill/>
            </a:ln>
          </p:spPr>
        </p:sp>
        <p:sp>
          <p:nvSpPr>
            <p:cNvPr id="61" name="TextBox 61"/>
            <p:cNvSpPr txBox="1"/>
            <p:nvPr/>
          </p:nvSpPr>
          <p:spPr>
            <a:xfrm>
              <a:off x="7015798" y="3621643"/>
              <a:ext cx="446405" cy="321469"/>
            </a:xfrm>
            <a:prstGeom prst="rect">
              <a:avLst/>
            </a:prstGeom>
            <a:noFill/>
            <a:ln>
              <a:noFill/>
            </a:ln>
          </p:spPr>
          <p:txBody>
            <a:bodyPr wrap="none" lIns="0" tIns="0" rIns="0" bIns="0" anchor="t" anchorCtr="0">
              <a:spAutoFit/>
            </a:bodyPr>
            <a:lstStyle/>
            <a:p>
              <a:pPr algn="ctr">
                <a:lnSpc>
                  <a:spcPts val="1200"/>
                </a:lnSpc>
              </a:pPr>
              <a:r>
                <a:rPr lang="en-US" sz="860" dirty="0">
                  <a:solidFill>
                    <a:srgbClr val="C45F4A"/>
                  </a:solidFill>
                  <a:latin typeface="+mn-lt"/>
                  <a:ea typeface="+mn-ea"/>
                  <a:cs typeface="+mn-cs"/>
                </a:rPr>
                <a:t>MGM​</a:t>
              </a:r>
              <a:br/>
              <a:r>
                <a:rPr lang="zh-CN" sz="860" dirty="0">
                  <a:solidFill>
                    <a:srgbClr val="C45F4A"/>
                  </a:solidFill>
                  <a:latin typeface="+mn-lt"/>
                  <a:ea typeface="+mn-ea"/>
                  <a:cs typeface="+mn-cs"/>
                </a:rPr>
                <a:t>理财加息</a:t>
              </a:r>
            </a:p>
          </p:txBody>
        </p:sp>
        <p:sp>
          <p:nvSpPr>
            <p:cNvPr id="62" name="Rectangle 62"/>
            <p:cNvSpPr/>
            <p:nvPr/>
          </p:nvSpPr>
          <p:spPr>
            <a:xfrm>
              <a:off x="8001000" y="3162300"/>
              <a:ext cx="723900" cy="1181100"/>
            </a:xfrm>
            <a:prstGeom prst="rect">
              <a:avLst/>
            </a:prstGeom>
            <a:solidFill>
              <a:srgbClr val="FDE3DC"/>
            </a:solidFill>
            <a:ln>
              <a:noFill/>
            </a:ln>
          </p:spPr>
        </p:sp>
        <p:sp>
          <p:nvSpPr>
            <p:cNvPr id="63" name="TextBox 63"/>
            <p:cNvSpPr txBox="1"/>
            <p:nvPr/>
          </p:nvSpPr>
          <p:spPr>
            <a:xfrm>
              <a:off x="8254048" y="3625691"/>
              <a:ext cx="21780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E2624C"/>
                  </a:solidFill>
                  <a:latin typeface="+mn-lt"/>
                  <a:ea typeface="+mn-ea"/>
                  <a:cs typeface="+mn-cs"/>
                </a:rPr>
                <a:t>理财</a:t>
              </a:r>
              <a:br/>
              <a:r>
                <a:rPr lang="zh-CN" sz="820" dirty="0">
                  <a:solidFill>
                    <a:srgbClr val="E2624C"/>
                  </a:solidFill>
                  <a:latin typeface="+mn-lt"/>
                  <a:ea typeface="+mn-ea"/>
                  <a:cs typeface="+mn-cs"/>
                </a:rPr>
                <a:t>续期</a:t>
              </a:r>
            </a:p>
          </p:txBody>
        </p:sp>
        <p:sp>
          <p:nvSpPr>
            <p:cNvPr id="64" name="Rectangle 64"/>
            <p:cNvSpPr/>
            <p:nvPr/>
          </p:nvSpPr>
          <p:spPr>
            <a:xfrm>
              <a:off x="8782050" y="3162300"/>
              <a:ext cx="742950" cy="1181100"/>
            </a:xfrm>
            <a:prstGeom prst="rect">
              <a:avLst/>
            </a:prstGeom>
            <a:solidFill>
              <a:srgbClr val="FDE3DC"/>
            </a:solidFill>
            <a:ln>
              <a:noFill/>
            </a:ln>
          </p:spPr>
        </p:sp>
        <p:sp>
          <p:nvSpPr>
            <p:cNvPr id="65" name="TextBox 65"/>
            <p:cNvSpPr txBox="1"/>
            <p:nvPr/>
          </p:nvSpPr>
          <p:spPr>
            <a:xfrm>
              <a:off x="8940482" y="3625691"/>
              <a:ext cx="426085" cy="304800"/>
            </a:xfrm>
            <a:prstGeom prst="rect">
              <a:avLst/>
            </a:prstGeom>
            <a:noFill/>
            <a:ln>
              <a:noFill/>
            </a:ln>
          </p:spPr>
          <p:txBody>
            <a:bodyPr wrap="none" lIns="0" tIns="0" rIns="0" bIns="0" anchor="t" anchorCtr="0">
              <a:spAutoFit/>
            </a:bodyPr>
            <a:lstStyle/>
            <a:p>
              <a:pPr algn="ctr">
                <a:lnSpc>
                  <a:spcPts val="1125"/>
                </a:lnSpc>
              </a:pPr>
              <a:r>
                <a:rPr lang="en-US" sz="820" dirty="0">
                  <a:solidFill>
                    <a:srgbClr val="E2624C"/>
                  </a:solidFill>
                  <a:latin typeface="+mn-lt"/>
                  <a:ea typeface="+mn-ea"/>
                  <a:cs typeface="+mn-cs"/>
                </a:rPr>
                <a:t>AUM​</a:t>
              </a:r>
              <a:br/>
              <a:r>
                <a:rPr lang="zh-CN" sz="820" dirty="0">
                  <a:solidFill>
                    <a:srgbClr val="E2624C"/>
                  </a:solidFill>
                  <a:latin typeface="+mn-lt"/>
                  <a:ea typeface="+mn-ea"/>
                  <a:cs typeface="+mn-cs"/>
                </a:rPr>
                <a:t>下降管理</a:t>
              </a:r>
            </a:p>
          </p:txBody>
        </p:sp>
        <p:sp>
          <p:nvSpPr>
            <p:cNvPr id="66" name="Rectangle 66"/>
            <p:cNvSpPr/>
            <p:nvPr/>
          </p:nvSpPr>
          <p:spPr>
            <a:xfrm>
              <a:off x="9620250" y="3162300"/>
              <a:ext cx="1333500" cy="1181100"/>
            </a:xfrm>
            <a:prstGeom prst="rect">
              <a:avLst/>
            </a:prstGeom>
            <a:solidFill>
              <a:srgbClr val="E4E8F7"/>
            </a:solidFill>
            <a:ln>
              <a:noFill/>
            </a:ln>
          </p:spPr>
        </p:sp>
        <p:sp>
          <p:nvSpPr>
            <p:cNvPr id="67" name="TextBox 67"/>
            <p:cNvSpPr txBox="1"/>
            <p:nvPr/>
          </p:nvSpPr>
          <p:spPr>
            <a:xfrm>
              <a:off x="10045319" y="3549491"/>
              <a:ext cx="483362" cy="447675"/>
            </a:xfrm>
            <a:prstGeom prst="rect">
              <a:avLst/>
            </a:prstGeom>
            <a:noFill/>
            <a:ln>
              <a:noFill/>
            </a:ln>
          </p:spPr>
          <p:txBody>
            <a:bodyPr wrap="none" lIns="0" tIns="0" rIns="0" bIns="0" anchor="t" anchorCtr="0">
              <a:spAutoFit/>
            </a:bodyPr>
            <a:lstStyle/>
            <a:p>
              <a:pPr algn="ctr">
                <a:lnSpc>
                  <a:spcPts val="1125"/>
                </a:lnSpc>
              </a:pPr>
              <a:r>
                <a:rPr lang="zh-CN" sz="820" dirty="0">
                  <a:solidFill>
                    <a:srgbClr val="C45F4A"/>
                  </a:solidFill>
                  <a:latin typeface="+mn-lt"/>
                  <a:ea typeface="+mn-ea"/>
                  <a:cs typeface="+mn-cs"/>
                </a:rPr>
                <a:t>存款/理财</a:t>
              </a:r>
              <a:br/>
              <a:r>
                <a:rPr lang="zh-CN" sz="820" dirty="0">
                  <a:solidFill>
                    <a:srgbClr val="C45F4A"/>
                  </a:solidFill>
                  <a:latin typeface="+mn-lt"/>
                  <a:ea typeface="+mn-ea"/>
                  <a:cs typeface="+mn-cs"/>
                </a:rPr>
                <a:t>流失挽回</a:t>
              </a:r>
              <a:br/>
              <a:r>
                <a:rPr lang="zh-CN" sz="820" dirty="0">
                  <a:solidFill>
                    <a:srgbClr val="C45F4A"/>
                  </a:solidFill>
                  <a:latin typeface="+mn-lt"/>
                  <a:ea typeface="+mn-ea"/>
                  <a:cs typeface="+mn-cs"/>
                </a:rPr>
                <a:t>定向营销</a:t>
              </a:r>
            </a:p>
          </p:txBody>
        </p:sp>
        <p:sp>
          <p:nvSpPr>
            <p:cNvPr id="68" name="Rectangle 68"/>
            <p:cNvSpPr/>
            <p:nvPr/>
          </p:nvSpPr>
          <p:spPr>
            <a:xfrm>
              <a:off x="3609975" y="4457700"/>
              <a:ext cx="733425" cy="1181100"/>
            </a:xfrm>
            <a:prstGeom prst="rect">
              <a:avLst/>
            </a:prstGeom>
            <a:solidFill>
              <a:srgbClr val="E4E8F7"/>
            </a:solidFill>
            <a:ln>
              <a:noFill/>
            </a:ln>
          </p:spPr>
        </p:sp>
        <p:sp>
          <p:nvSpPr>
            <p:cNvPr id="69" name="TextBox 69"/>
            <p:cNvSpPr txBox="1"/>
            <p:nvPr/>
          </p:nvSpPr>
          <p:spPr>
            <a:xfrm>
              <a:off x="3688747" y="4925139"/>
              <a:ext cx="566356"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C45F4A"/>
                  </a:solidFill>
                  <a:latin typeface="+mn-lt"/>
                  <a:ea typeface="+mn-ea"/>
                  <a:cs typeface="+mn-cs"/>
                </a:rPr>
                <a:t>信用卡/贷款</a:t>
              </a:r>
              <a:br/>
              <a:r>
                <a:rPr lang="zh-CN" sz="790" dirty="0">
                  <a:solidFill>
                    <a:srgbClr val="C45F4A"/>
                  </a:solidFill>
                  <a:latin typeface="+mn-lt"/>
                  <a:ea typeface="+mn-ea"/>
                  <a:cs typeface="+mn-cs"/>
                </a:rPr>
                <a:t>促申请</a:t>
              </a:r>
            </a:p>
          </p:txBody>
        </p:sp>
        <p:sp>
          <p:nvSpPr>
            <p:cNvPr id="70" name="Rectangle 70"/>
            <p:cNvSpPr/>
            <p:nvPr/>
          </p:nvSpPr>
          <p:spPr>
            <a:xfrm>
              <a:off x="5486400" y="4457700"/>
              <a:ext cx="476250" cy="1181100"/>
            </a:xfrm>
            <a:prstGeom prst="rect">
              <a:avLst/>
            </a:prstGeom>
            <a:solidFill>
              <a:srgbClr val="FDE3DC"/>
            </a:solidFill>
            <a:ln>
              <a:noFill/>
            </a:ln>
          </p:spPr>
        </p:sp>
        <p:sp>
          <p:nvSpPr>
            <p:cNvPr id="71" name="TextBox 71"/>
            <p:cNvSpPr txBox="1"/>
            <p:nvPr/>
          </p:nvSpPr>
          <p:spPr>
            <a:xfrm>
              <a:off x="5569268" y="4925139"/>
              <a:ext cx="310515"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E2624C"/>
                  </a:solidFill>
                  <a:latin typeface="+mn-lt"/>
                  <a:ea typeface="+mn-ea"/>
                  <a:cs typeface="+mn-cs"/>
                </a:rPr>
                <a:t>提升</a:t>
              </a:r>
              <a:br/>
              <a:r>
                <a:rPr lang="zh-CN" sz="790" dirty="0">
                  <a:solidFill>
                    <a:srgbClr val="E2624C"/>
                  </a:solidFill>
                  <a:latin typeface="+mn-lt"/>
                  <a:ea typeface="+mn-ea"/>
                  <a:cs typeface="+mn-cs"/>
                </a:rPr>
                <a:t>用信率</a:t>
              </a:r>
            </a:p>
          </p:txBody>
        </p:sp>
        <p:sp>
          <p:nvSpPr>
            <p:cNvPr id="72" name="Rectangle 72"/>
            <p:cNvSpPr/>
            <p:nvPr/>
          </p:nvSpPr>
          <p:spPr>
            <a:xfrm>
              <a:off x="6000750" y="4457700"/>
              <a:ext cx="476250" cy="1181100"/>
            </a:xfrm>
            <a:prstGeom prst="rect">
              <a:avLst/>
            </a:prstGeom>
            <a:solidFill>
              <a:srgbClr val="FDE3DC"/>
            </a:solidFill>
            <a:ln>
              <a:noFill/>
            </a:ln>
          </p:spPr>
        </p:sp>
        <p:sp>
          <p:nvSpPr>
            <p:cNvPr id="73" name="TextBox 73"/>
            <p:cNvSpPr txBox="1"/>
            <p:nvPr/>
          </p:nvSpPr>
          <p:spPr>
            <a:xfrm>
              <a:off x="6043612" y="4862512"/>
              <a:ext cx="390525" cy="395288"/>
            </a:xfrm>
            <a:prstGeom prst="rect">
              <a:avLst/>
            </a:prstGeom>
            <a:noFill/>
            <a:ln>
              <a:noFill/>
            </a:ln>
          </p:spPr>
          <p:txBody>
            <a:bodyPr wrap="none" lIns="0" tIns="0" rIns="0" bIns="0" anchor="t" anchorCtr="0">
              <a:spAutoFit/>
            </a:bodyPr>
            <a:lstStyle/>
            <a:p>
              <a:pPr algn="ctr">
                <a:lnSpc>
                  <a:spcPts val="975"/>
                </a:lnSpc>
              </a:pPr>
              <a:r>
                <a:rPr lang="zh-CN" sz="750" dirty="0">
                  <a:solidFill>
                    <a:srgbClr val="E2624C"/>
                  </a:solidFill>
                  <a:latin typeface="+mn-lt"/>
                  <a:ea typeface="+mn-ea"/>
                  <a:cs typeface="+mn-cs"/>
                </a:rPr>
                <a:t>调整</a:t>
              </a:r>
              <a:br/>
              <a:r>
                <a:rPr lang="zh-CN" sz="750" dirty="0">
                  <a:solidFill>
                    <a:srgbClr val="E2624C"/>
                  </a:solidFill>
                  <a:latin typeface="+mn-lt"/>
                  <a:ea typeface="+mn-ea"/>
                  <a:cs typeface="+mn-cs"/>
                </a:rPr>
                <a:t>额度、</a:t>
              </a:r>
              <a:br/>
              <a:r>
                <a:rPr lang="zh-CN" sz="750" dirty="0">
                  <a:solidFill>
                    <a:srgbClr val="E2624C"/>
                  </a:solidFill>
                  <a:latin typeface="+mn-lt"/>
                  <a:ea typeface="+mn-ea"/>
                  <a:cs typeface="+mn-cs"/>
                </a:rPr>
                <a:t>定价规则</a:t>
              </a:r>
            </a:p>
          </p:txBody>
        </p:sp>
        <p:sp>
          <p:nvSpPr>
            <p:cNvPr id="74" name="Rectangle 74"/>
            <p:cNvSpPr/>
            <p:nvPr/>
          </p:nvSpPr>
          <p:spPr>
            <a:xfrm>
              <a:off x="6572250" y="4457700"/>
              <a:ext cx="1333500" cy="1181100"/>
            </a:xfrm>
            <a:prstGeom prst="rect">
              <a:avLst/>
            </a:prstGeom>
            <a:solidFill>
              <a:srgbClr val="E4E8F7"/>
            </a:solidFill>
            <a:ln>
              <a:noFill/>
            </a:ln>
          </p:spPr>
        </p:sp>
        <p:sp>
          <p:nvSpPr>
            <p:cNvPr id="75" name="TextBox 75"/>
            <p:cNvSpPr txBox="1"/>
            <p:nvPr/>
          </p:nvSpPr>
          <p:spPr>
            <a:xfrm>
              <a:off x="7015798" y="4917043"/>
              <a:ext cx="446405" cy="321469"/>
            </a:xfrm>
            <a:prstGeom prst="rect">
              <a:avLst/>
            </a:prstGeom>
            <a:noFill/>
            <a:ln>
              <a:noFill/>
            </a:ln>
          </p:spPr>
          <p:txBody>
            <a:bodyPr wrap="none" lIns="0" tIns="0" rIns="0" bIns="0" anchor="t" anchorCtr="0">
              <a:spAutoFit/>
            </a:bodyPr>
            <a:lstStyle/>
            <a:p>
              <a:pPr algn="ctr">
                <a:lnSpc>
                  <a:spcPts val="1200"/>
                </a:lnSpc>
              </a:pPr>
              <a:r>
                <a:rPr lang="en-US" sz="860" dirty="0">
                  <a:solidFill>
                    <a:srgbClr val="C45F4A"/>
                  </a:solidFill>
                  <a:latin typeface="+mn-lt"/>
                  <a:ea typeface="+mn-ea"/>
                  <a:cs typeface="+mn-cs"/>
                </a:rPr>
                <a:t>MGM​</a:t>
              </a:r>
              <a:br/>
              <a:r>
                <a:rPr lang="zh-CN" sz="860" dirty="0">
                  <a:solidFill>
                    <a:srgbClr val="C45F4A"/>
                  </a:solidFill>
                  <a:latin typeface="+mn-lt"/>
                  <a:ea typeface="+mn-ea"/>
                  <a:cs typeface="+mn-cs"/>
                </a:rPr>
                <a:t>贷款减息</a:t>
              </a:r>
            </a:p>
          </p:txBody>
        </p:sp>
        <p:sp>
          <p:nvSpPr>
            <p:cNvPr id="76" name="Rectangle 76"/>
            <p:cNvSpPr/>
            <p:nvPr/>
          </p:nvSpPr>
          <p:spPr>
            <a:xfrm>
              <a:off x="8001000" y="4457700"/>
              <a:ext cx="723900" cy="1181100"/>
            </a:xfrm>
            <a:prstGeom prst="rect">
              <a:avLst/>
            </a:prstGeom>
            <a:solidFill>
              <a:srgbClr val="FDE3DC"/>
            </a:solidFill>
            <a:ln>
              <a:noFill/>
            </a:ln>
          </p:spPr>
        </p:sp>
        <p:sp>
          <p:nvSpPr>
            <p:cNvPr id="77" name="TextBox 77"/>
            <p:cNvSpPr txBox="1"/>
            <p:nvPr/>
          </p:nvSpPr>
          <p:spPr>
            <a:xfrm>
              <a:off x="8254048" y="4921091"/>
              <a:ext cx="21780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E2624C"/>
                  </a:solidFill>
                  <a:latin typeface="+mn-lt"/>
                  <a:ea typeface="+mn-ea"/>
                  <a:cs typeface="+mn-cs"/>
                </a:rPr>
                <a:t>贷款</a:t>
              </a:r>
              <a:br/>
              <a:r>
                <a:rPr lang="zh-CN" sz="820" dirty="0">
                  <a:solidFill>
                    <a:srgbClr val="E2624C"/>
                  </a:solidFill>
                  <a:latin typeface="+mn-lt"/>
                  <a:ea typeface="+mn-ea"/>
                  <a:cs typeface="+mn-cs"/>
                </a:rPr>
                <a:t>续贷</a:t>
              </a:r>
            </a:p>
          </p:txBody>
        </p:sp>
        <p:sp>
          <p:nvSpPr>
            <p:cNvPr id="78" name="Rectangle 78"/>
            <p:cNvSpPr/>
            <p:nvPr/>
          </p:nvSpPr>
          <p:spPr>
            <a:xfrm>
              <a:off x="8782050" y="4457700"/>
              <a:ext cx="742950" cy="1181100"/>
            </a:xfrm>
            <a:prstGeom prst="rect">
              <a:avLst/>
            </a:prstGeom>
            <a:solidFill>
              <a:srgbClr val="FDE3DC"/>
            </a:solidFill>
            <a:ln>
              <a:noFill/>
            </a:ln>
          </p:spPr>
        </p:sp>
        <p:sp>
          <p:nvSpPr>
            <p:cNvPr id="79" name="TextBox 79"/>
            <p:cNvSpPr txBox="1"/>
            <p:nvPr/>
          </p:nvSpPr>
          <p:spPr>
            <a:xfrm>
              <a:off x="8940482" y="4921091"/>
              <a:ext cx="42608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E2624C"/>
                  </a:solidFill>
                  <a:latin typeface="+mn-lt"/>
                  <a:ea typeface="+mn-ea"/>
                  <a:cs typeface="+mn-cs"/>
                </a:rPr>
                <a:t>提前</a:t>
              </a:r>
              <a:br/>
              <a:r>
                <a:rPr lang="zh-CN" sz="820" dirty="0">
                  <a:solidFill>
                    <a:srgbClr val="E2624C"/>
                  </a:solidFill>
                  <a:latin typeface="+mn-lt"/>
                  <a:ea typeface="+mn-ea"/>
                  <a:cs typeface="+mn-cs"/>
                </a:rPr>
                <a:t>还款管理</a:t>
              </a:r>
            </a:p>
          </p:txBody>
        </p:sp>
        <p:sp>
          <p:nvSpPr>
            <p:cNvPr id="80" name="Rectangle 80"/>
            <p:cNvSpPr/>
            <p:nvPr/>
          </p:nvSpPr>
          <p:spPr>
            <a:xfrm>
              <a:off x="9620250" y="4457700"/>
              <a:ext cx="1333500" cy="1181100"/>
            </a:xfrm>
            <a:prstGeom prst="rect">
              <a:avLst/>
            </a:prstGeom>
            <a:solidFill>
              <a:srgbClr val="E4E8F7"/>
            </a:solidFill>
            <a:ln>
              <a:noFill/>
            </a:ln>
          </p:spPr>
        </p:sp>
        <p:sp>
          <p:nvSpPr>
            <p:cNvPr id="81" name="TextBox 81"/>
            <p:cNvSpPr txBox="1"/>
            <p:nvPr/>
          </p:nvSpPr>
          <p:spPr>
            <a:xfrm>
              <a:off x="10073958" y="4854416"/>
              <a:ext cx="426085" cy="447675"/>
            </a:xfrm>
            <a:prstGeom prst="rect">
              <a:avLst/>
            </a:prstGeom>
            <a:noFill/>
            <a:ln>
              <a:noFill/>
            </a:ln>
          </p:spPr>
          <p:txBody>
            <a:bodyPr wrap="none" lIns="0" tIns="0" rIns="0" bIns="0" anchor="t" anchorCtr="0">
              <a:spAutoFit/>
            </a:bodyPr>
            <a:lstStyle/>
            <a:p>
              <a:pPr algn="ctr">
                <a:lnSpc>
                  <a:spcPts val="1125"/>
                </a:lnSpc>
              </a:pPr>
              <a:r>
                <a:rPr lang="zh-CN" sz="820" dirty="0">
                  <a:solidFill>
                    <a:srgbClr val="C45F4A"/>
                  </a:solidFill>
                  <a:latin typeface="+mn-lt"/>
                  <a:ea typeface="+mn-ea"/>
                  <a:cs typeface="+mn-cs"/>
                </a:rPr>
                <a:t>贷款/</a:t>
              </a:r>
              <a:br/>
              <a:r>
                <a:rPr lang="zh-CN" sz="820" dirty="0">
                  <a:solidFill>
                    <a:srgbClr val="C45F4A"/>
                  </a:solidFill>
                  <a:latin typeface="+mn-lt"/>
                  <a:ea typeface="+mn-ea"/>
                  <a:cs typeface="+mn-cs"/>
                </a:rPr>
                <a:t>信用卡</a:t>
              </a:r>
              <a:br/>
              <a:r>
                <a:rPr lang="zh-CN" sz="820" dirty="0">
                  <a:solidFill>
                    <a:srgbClr val="C45F4A"/>
                  </a:solidFill>
                  <a:latin typeface="+mn-lt"/>
                  <a:ea typeface="+mn-ea"/>
                  <a:cs typeface="+mn-cs"/>
                </a:rPr>
                <a:t>流失挽回</a:t>
              </a:r>
            </a:p>
          </p:txBody>
        </p:sp>
        <p:sp>
          <p:nvSpPr>
            <p:cNvPr id="82" name="Freeform 82"/>
            <p:cNvSpPr/>
            <p:nvPr/>
          </p:nvSpPr>
          <p:spPr>
            <a:xfrm>
              <a:off x="2266950" y="1857375"/>
              <a:ext cx="8953500" cy="3686175"/>
            </a:xfrm>
            <a:custGeom>
              <a:avLst/>
              <a:gdLst/>
              <a:ahLst/>
              <a:cxnLst/>
              <a:rect l="l" t="t" r="r" b="b"/>
              <a:pathLst>
                <a:path w="8953500" h="3686175">
                  <a:moveTo>
                    <a:pt x="0" y="3686175"/>
                  </a:moveTo>
                  <a:cubicBezTo>
                    <a:pt x="1352550" y="3686175"/>
                    <a:pt x="1828800" y="2238375"/>
                    <a:pt x="2686050" y="1285875"/>
                  </a:cubicBezTo>
                  <a:cubicBezTo>
                    <a:pt x="3543300" y="333375"/>
                    <a:pt x="4019550" y="95250"/>
                    <a:pt x="5257800" y="47625"/>
                  </a:cubicBezTo>
                  <a:cubicBezTo>
                    <a:pt x="6496050" y="0"/>
                    <a:pt x="7162800" y="352425"/>
                    <a:pt x="8953500" y="962025"/>
                  </a:cubicBezTo>
                </a:path>
              </a:pathLst>
            </a:custGeom>
            <a:noFill/>
            <a:ln w="20955">
              <a:solidFill>
                <a:srgbClr val="C45F4A"/>
              </a:solidFill>
              <a:tailEnd type="triangle" w="lg" len="lg"/>
            </a:ln>
          </p:spPr>
        </p:sp>
        <p:sp>
          <p:nvSpPr>
            <p:cNvPr id="83" name="Rectangle 83"/>
            <p:cNvSpPr/>
            <p:nvPr/>
          </p:nvSpPr>
          <p:spPr>
            <a:xfrm>
              <a:off x="2171700" y="5448300"/>
              <a:ext cx="914400" cy="209550"/>
            </a:xfrm>
            <a:prstGeom prst="roundRect">
              <a:avLst>
                <a:gd name="adj" fmla="val 50000"/>
              </a:avLst>
            </a:prstGeom>
            <a:solidFill>
              <a:srgbClr val="FFFFFF"/>
            </a:solidFill>
            <a:ln w="9525">
              <a:solidFill>
                <a:srgbClr val="E08C7B"/>
              </a:solidFill>
            </a:ln>
          </p:spPr>
        </p:sp>
        <p:sp>
          <p:nvSpPr>
            <p:cNvPr id="84" name="TextBox 84"/>
            <p:cNvSpPr txBox="1"/>
            <p:nvPr/>
          </p:nvSpPr>
          <p:spPr>
            <a:xfrm>
              <a:off x="2249756" y="5506164"/>
              <a:ext cx="758288"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AUM/LUM曲线​</a:t>
              </a:r>
            </a:p>
          </p:txBody>
        </p:sp>
      </p:grpSp>
      <p:grpSp>
        <p:nvGrpSpPr>
          <p:cNvPr id="87" name="conclusion"/>
          <p:cNvGrpSpPr/>
          <p:nvPr/>
        </p:nvGrpSpPr>
        <p:grpSpPr>
          <a:xfrm>
            <a:off x="2848635" y="6146006"/>
            <a:ext cx="6494729" cy="220028"/>
            <a:chOff x="2848635" y="6146006"/>
            <a:chExt cx="6494729" cy="220028"/>
          </a:xfrm>
        </p:grpSpPr>
        <p:sp>
          <p:nvSpPr>
            <p:cNvPr id="86" name="TextBox 86"/>
            <p:cNvSpPr txBox="1"/>
            <p:nvPr/>
          </p:nvSpPr>
          <p:spPr>
            <a:xfrm>
              <a:off x="2848635" y="6146006"/>
              <a:ext cx="6494729"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按照客户全生命周期中关键节点进行场景细分，构建用户注册、激活、消费活跃、挽回等运营闭环</a:t>
              </a:r>
            </a:p>
          </p:txBody>
        </p:sp>
      </p:gr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49</a:t>
              </a:r>
            </a:p>
          </p:txBody>
        </p:sp>
        <p:sp>
          <p:nvSpPr>
            <p:cNvPr id="4" name="TextBox 4"/>
            <p:cNvSpPr txBox="1"/>
            <p:nvPr/>
          </p:nvSpPr>
          <p:spPr>
            <a:xfrm>
              <a:off x="942594" y="151448"/>
              <a:ext cx="184420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直播工作规划​</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27" name="col-pre"/>
          <p:cNvGrpSpPr/>
          <p:nvPr/>
        </p:nvGrpSpPr>
        <p:grpSpPr>
          <a:xfrm>
            <a:off x="428625" y="838200"/>
            <a:ext cx="3571875" cy="5715000"/>
            <a:chOff x="428625" y="838200"/>
            <a:chExt cx="3571875" cy="5715000"/>
          </a:xfrm>
        </p:grpSpPr>
        <p:sp>
          <p:nvSpPr>
            <p:cNvPr id="7" name="Rectangle 7"/>
            <p:cNvSpPr/>
            <p:nvPr/>
          </p:nvSpPr>
          <p:spPr>
            <a:xfrm>
              <a:off x="428625" y="838200"/>
              <a:ext cx="3571875" cy="5715000"/>
            </a:xfrm>
            <a:prstGeom prst="roundRect">
              <a:avLst>
                <a:gd name="adj" fmla="val 2133"/>
              </a:avLst>
            </a:prstGeom>
            <a:solidFill>
              <a:srgbClr val="F5F6FC"/>
            </a:solidFill>
            <a:ln>
              <a:noFill/>
            </a:ln>
          </p:spPr>
        </p:sp>
        <p:sp>
          <p:nvSpPr>
            <p:cNvPr id="8" name="Rectangle 8"/>
            <p:cNvSpPr/>
            <p:nvPr/>
          </p:nvSpPr>
          <p:spPr>
            <a:xfrm>
              <a:off x="428625" y="838200"/>
              <a:ext cx="3571875" cy="342900"/>
            </a:xfrm>
            <a:prstGeom prst="roundRect">
              <a:avLst>
                <a:gd name="adj" fmla="val 11111"/>
              </a:avLst>
            </a:prstGeom>
            <a:solidFill>
              <a:srgbClr val="E8EBF8"/>
            </a:solidFill>
            <a:ln>
              <a:noFill/>
            </a:ln>
          </p:spPr>
        </p:sp>
        <p:sp>
          <p:nvSpPr>
            <p:cNvPr id="9" name="Rectangle 9"/>
            <p:cNvSpPr/>
            <p:nvPr/>
          </p:nvSpPr>
          <p:spPr>
            <a:xfrm>
              <a:off x="428625" y="838200"/>
              <a:ext cx="152400" cy="342900"/>
            </a:xfrm>
            <a:prstGeom prst="roundRect">
              <a:avLst>
                <a:gd name="adj" fmla="val 25000"/>
              </a:avLst>
            </a:prstGeom>
            <a:solidFill>
              <a:srgbClr val="ECC1B8"/>
            </a:solidFill>
            <a:ln>
              <a:noFill/>
            </a:ln>
          </p:spPr>
        </p:sp>
        <p:sp>
          <p:nvSpPr>
            <p:cNvPr id="10" name="Rectangle 10"/>
            <p:cNvSpPr/>
            <p:nvPr/>
          </p:nvSpPr>
          <p:spPr>
            <a:xfrm>
              <a:off x="3848100" y="838200"/>
              <a:ext cx="152400" cy="342900"/>
            </a:xfrm>
            <a:prstGeom prst="roundRect">
              <a:avLst>
                <a:gd name="adj" fmla="val 25000"/>
              </a:avLst>
            </a:prstGeom>
            <a:solidFill>
              <a:srgbClr val="ECC1B8"/>
            </a:solidFill>
            <a:ln>
              <a:noFill/>
            </a:ln>
          </p:spPr>
        </p:sp>
        <p:sp>
          <p:nvSpPr>
            <p:cNvPr id="11" name="TextBox 11"/>
            <p:cNvSpPr txBox="1"/>
            <p:nvPr/>
          </p:nvSpPr>
          <p:spPr>
            <a:xfrm>
              <a:off x="679323" y="938689"/>
              <a:ext cx="1046836" cy="249364"/>
            </a:xfrm>
            <a:prstGeom prst="rect">
              <a:avLst/>
            </a:prstGeom>
            <a:noFill/>
            <a:ln>
              <a:noFill/>
            </a:ln>
          </p:spPr>
          <p:txBody>
            <a:bodyPr wrap="none" lIns="0" tIns="0" rIns="0" bIns="0" anchor="t" anchorCtr="0">
              <a:spAutoFit/>
            </a:bodyPr>
            <a:lstStyle/>
            <a:p>
              <a:pPr algn="l"/>
              <a:r>
                <a:rPr lang="zh-CN" sz="1280" b="1" dirty="0">
                  <a:solidFill>
                    <a:srgbClr val="C45F4A"/>
                  </a:solidFill>
                  <a:latin typeface="+mn-lt"/>
                  <a:ea typeface="+mn-ea"/>
                  <a:cs typeface="+mn-cs"/>
                </a:rPr>
                <a:t>一、直播前：</a:t>
              </a:r>
            </a:p>
          </p:txBody>
        </p:sp>
        <p:sp>
          <p:nvSpPr>
            <p:cNvPr id="12" name="Rectangle 12"/>
            <p:cNvSpPr/>
            <p:nvPr/>
          </p:nvSpPr>
          <p:spPr>
            <a:xfrm>
              <a:off x="552450" y="1257300"/>
              <a:ext cx="3333750" cy="247650"/>
            </a:xfrm>
            <a:prstGeom prst="roundRect">
              <a:avLst>
                <a:gd name="adj" fmla="val 11538"/>
              </a:avLst>
            </a:prstGeom>
            <a:solidFill>
              <a:srgbClr val="C45F4A"/>
            </a:solidFill>
            <a:ln>
              <a:noFill/>
            </a:ln>
          </p:spPr>
        </p:sp>
        <p:sp>
          <p:nvSpPr>
            <p:cNvPr id="13" name="TextBox 13"/>
            <p:cNvSpPr txBox="1"/>
            <p:nvPr/>
          </p:nvSpPr>
          <p:spPr>
            <a:xfrm>
              <a:off x="1092987" y="1323499"/>
              <a:ext cx="225267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初步规划直播内容和预热推广吸引流量</a:t>
              </a:r>
            </a:p>
          </p:txBody>
        </p:sp>
        <p:sp>
          <p:nvSpPr>
            <p:cNvPr id="14" name="TextBox 14"/>
            <p:cNvSpPr txBox="1"/>
            <p:nvPr/>
          </p:nvSpPr>
          <p:spPr>
            <a:xfrm>
              <a:off x="566738" y="1606391"/>
              <a:ext cx="2404745" cy="466725"/>
            </a:xfrm>
            <a:prstGeom prst="rect">
              <a:avLst/>
            </a:prstGeom>
            <a:noFill/>
            <a:ln>
              <a:noFill/>
            </a:ln>
          </p:spPr>
          <p:txBody>
            <a:bodyPr wrap="none" lIns="0" tIns="0" rIns="0" bIns="0" anchor="t" anchorCtr="0">
              <a:spAutoFit/>
            </a:bodyPr>
            <a:lstStyle/>
            <a:p>
              <a:pPr algn="l">
                <a:lnSpc>
                  <a:spcPts val="1200"/>
                </a:lnSpc>
              </a:pPr>
              <a:r>
                <a:rPr lang="zh-CN" sz="820" dirty="0">
                  <a:solidFill>
                    <a:srgbClr val="644E4A"/>
                  </a:solidFill>
                  <a:latin typeface="+mn-lt"/>
                  <a:ea typeface="+mn-ea"/>
                  <a:cs typeface="+mn-cs"/>
                </a:rPr>
                <a:t>目标：合理安排直播内容、增大爆光、引爆热度根据</a:t>
              </a:r>
              <a:br/>
              <a:r>
                <a:rPr lang="zh-CN" sz="820" dirty="0">
                  <a:solidFill>
                    <a:srgbClr val="644E4A"/>
                  </a:solidFill>
                  <a:latin typeface="+mn-lt"/>
                  <a:ea typeface="+mn-ea"/>
                  <a:cs typeface="+mn-cs"/>
                </a:rPr>
                <a:t>产品卖点，平台节点，用户痛点规划直播内容通过前</a:t>
              </a:r>
              <a:br/>
              <a:r>
                <a:rPr lang="zh-CN" sz="820" dirty="0">
                  <a:solidFill>
                    <a:srgbClr val="644E4A"/>
                  </a:solidFill>
                  <a:latin typeface="+mn-lt"/>
                  <a:ea typeface="+mn-ea"/>
                  <a:cs typeface="+mn-cs"/>
                </a:rPr>
                <a:t>期预热为直播间吸引流量</a:t>
              </a:r>
            </a:p>
          </p:txBody>
        </p:sp>
        <p:sp>
          <p:nvSpPr>
            <p:cNvPr id="15" name="Rectangle 15"/>
            <p:cNvSpPr/>
            <p:nvPr/>
          </p:nvSpPr>
          <p:spPr>
            <a:xfrm>
              <a:off x="552450" y="2152650"/>
              <a:ext cx="3333750" cy="228600"/>
            </a:xfrm>
            <a:prstGeom prst="roundRect">
              <a:avLst>
                <a:gd name="adj" fmla="val 16667"/>
              </a:avLst>
            </a:prstGeom>
            <a:solidFill>
              <a:srgbClr val="E4E8F7"/>
            </a:solidFill>
            <a:ln>
              <a:noFill/>
            </a:ln>
          </p:spPr>
        </p:sp>
        <p:sp>
          <p:nvSpPr>
            <p:cNvPr id="16" name="TextBox 16"/>
            <p:cNvSpPr txBox="1"/>
            <p:nvPr/>
          </p:nvSpPr>
          <p:spPr>
            <a:xfrm>
              <a:off x="661988" y="2213372"/>
              <a:ext cx="841860"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1、视频预热：</a:t>
              </a:r>
            </a:p>
          </p:txBody>
        </p:sp>
        <p:sp>
          <p:nvSpPr>
            <p:cNvPr id="17" name="TextBox 17"/>
            <p:cNvSpPr txBox="1"/>
            <p:nvPr/>
          </p:nvSpPr>
          <p:spPr>
            <a:xfrm>
              <a:off x="585788" y="2467689"/>
              <a:ext cx="2221802" cy="726281"/>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日常直播：直播当天发预告短视频，在视频流量</a:t>
              </a:r>
              <a:br/>
              <a:r>
                <a:rPr lang="zh-CN" sz="790" dirty="0">
                  <a:solidFill>
                    <a:srgbClr val="543E3A"/>
                  </a:solidFill>
                  <a:latin typeface="+mn-lt"/>
                  <a:ea typeface="+mn-ea"/>
                  <a:cs typeface="+mn-cs"/>
                </a:rPr>
                <a:t>增加的过程中开启直播，导流到直播间</a:t>
              </a:r>
            </a:p>
            <a:p>
              <a:pPr algn="l" marL="85280" indent="-85280">
                <a:lnSpc>
                  <a:spcPts val="1125"/>
                </a:lnSpc>
                <a:buClr>
                  <a:srgbClr val="543E3A"/>
                </a:buClr>
                <a:buSzTx/>
                <a:buFontTx/>
                <a:buChar char="•"/>
              </a:pPr>
              <a:r>
                <a:rPr lang="zh-CN" sz="790" dirty="0">
                  <a:solidFill>
                    <a:srgbClr val="543E3A"/>
                  </a:solidFill>
                  <a:latin typeface="+mn-lt"/>
                  <a:ea typeface="+mn-ea"/>
                  <a:cs typeface="+mn-cs"/>
                </a:rPr>
                <a:t>大促/新品直播：提前2-3天发预告短视频，在短</a:t>
              </a:r>
              <a:br/>
              <a:r>
                <a:rPr lang="zh-CN" sz="790" dirty="0">
                  <a:solidFill>
                    <a:srgbClr val="543E3A"/>
                  </a:solidFill>
                  <a:latin typeface="+mn-lt"/>
                  <a:ea typeface="+mn-ea"/>
                  <a:cs typeface="+mn-cs"/>
                </a:rPr>
                <a:t>视频内容、文案、评论中加入直播日期、优惠、</a:t>
              </a:r>
              <a:br/>
              <a:r>
                <a:rPr lang="zh-CN" sz="790" dirty="0">
                  <a:solidFill>
                    <a:srgbClr val="543E3A"/>
                  </a:solidFill>
                  <a:latin typeface="+mn-lt"/>
                  <a:ea typeface="+mn-ea"/>
                  <a:cs typeface="+mn-cs"/>
                </a:rPr>
                <a:t>主题等信息;</a:t>
              </a:r>
            </a:p>
          </p:txBody>
        </p:sp>
        <p:sp>
          <p:nvSpPr>
            <p:cNvPr id="18" name="Rectangle 18"/>
            <p:cNvSpPr/>
            <p:nvPr/>
          </p:nvSpPr>
          <p:spPr>
            <a:xfrm>
              <a:off x="552450" y="3276600"/>
              <a:ext cx="3333750" cy="228600"/>
            </a:xfrm>
            <a:prstGeom prst="roundRect">
              <a:avLst>
                <a:gd name="adj" fmla="val 16667"/>
              </a:avLst>
            </a:prstGeom>
            <a:solidFill>
              <a:srgbClr val="E4E8F7"/>
            </a:solidFill>
            <a:ln>
              <a:noFill/>
            </a:ln>
          </p:spPr>
        </p:sp>
        <p:sp>
          <p:nvSpPr>
            <p:cNvPr id="19" name="TextBox 19"/>
            <p:cNvSpPr txBox="1"/>
            <p:nvPr/>
          </p:nvSpPr>
          <p:spPr>
            <a:xfrm>
              <a:off x="661988" y="3337322"/>
              <a:ext cx="841860"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2、直播预热：</a:t>
              </a:r>
            </a:p>
          </p:txBody>
        </p:sp>
        <p:sp>
          <p:nvSpPr>
            <p:cNvPr id="20" name="TextBox 20"/>
            <p:cNvSpPr txBox="1"/>
            <p:nvPr/>
          </p:nvSpPr>
          <p:spPr>
            <a:xfrm>
              <a:off x="585788" y="3591639"/>
              <a:ext cx="2221802" cy="297656"/>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大促/新品直播：提前2-3天每天在直播间预热，</a:t>
              </a:r>
              <a:br/>
              <a:r>
                <a:rPr lang="zh-CN" sz="790" dirty="0">
                  <a:solidFill>
                    <a:srgbClr val="543E3A"/>
                  </a:solidFill>
                  <a:latin typeface="+mn-lt"/>
                  <a:ea typeface="+mn-ea"/>
                  <a:cs typeface="+mn-cs"/>
                </a:rPr>
                <a:t>告知用户直播活动时间、信息等;</a:t>
              </a:r>
            </a:p>
          </p:txBody>
        </p:sp>
        <p:sp>
          <p:nvSpPr>
            <p:cNvPr id="21" name="Rectangle 21"/>
            <p:cNvSpPr/>
            <p:nvPr/>
          </p:nvSpPr>
          <p:spPr>
            <a:xfrm>
              <a:off x="552450" y="3981450"/>
              <a:ext cx="3333750" cy="228600"/>
            </a:xfrm>
            <a:prstGeom prst="roundRect">
              <a:avLst>
                <a:gd name="adj" fmla="val 16667"/>
              </a:avLst>
            </a:prstGeom>
            <a:solidFill>
              <a:srgbClr val="E4E8F7"/>
            </a:solidFill>
            <a:ln>
              <a:noFill/>
            </a:ln>
          </p:spPr>
        </p:sp>
        <p:sp>
          <p:nvSpPr>
            <p:cNvPr id="22" name="TextBox 22"/>
            <p:cNvSpPr txBox="1"/>
            <p:nvPr/>
          </p:nvSpPr>
          <p:spPr>
            <a:xfrm>
              <a:off x="661988" y="4042172"/>
              <a:ext cx="1094946"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3、个人主页预告：</a:t>
              </a:r>
            </a:p>
          </p:txBody>
        </p:sp>
        <p:sp>
          <p:nvSpPr>
            <p:cNvPr id="23" name="TextBox 23"/>
            <p:cNvSpPr txBox="1"/>
            <p:nvPr/>
          </p:nvSpPr>
          <p:spPr>
            <a:xfrm>
              <a:off x="585788" y="4296489"/>
              <a:ext cx="1323146" cy="154781"/>
            </a:xfrm>
            <a:prstGeom prst="rect">
              <a:avLst/>
            </a:prstGeom>
            <a:noFill/>
            <a:ln>
              <a:noFill/>
            </a:ln>
          </p:spPr>
          <p:txBody>
            <a:bodyPr wrap="none" lIns="0" tIns="0" rIns="0" bIns="0" anchor="t" anchorCtr="0">
              <a:spAutoFit/>
            </a:bodyPr>
            <a:lstStyle/>
            <a:p>
              <a:pPr algn="l" marL="85280" indent="-85280">
                <a:buClr>
                  <a:srgbClr val="543E3A"/>
                </a:buClr>
                <a:buSzTx/>
                <a:buFontTx/>
                <a:buChar char="•"/>
              </a:pPr>
              <a:r>
                <a:rPr lang="zh-CN" sz="790" dirty="0">
                  <a:solidFill>
                    <a:srgbClr val="543E3A"/>
                  </a:solidFill>
                  <a:latin typeface="+mn-lt"/>
                  <a:ea typeface="+mn-ea"/>
                  <a:cs typeface="+mn-cs"/>
                </a:rPr>
                <a:t>个人简介处添加直播预告;</a:t>
              </a:r>
            </a:p>
          </p:txBody>
        </p:sp>
        <p:sp>
          <p:nvSpPr>
            <p:cNvPr id="24" name="Rectangle 24"/>
            <p:cNvSpPr/>
            <p:nvPr/>
          </p:nvSpPr>
          <p:spPr>
            <a:xfrm>
              <a:off x="552450" y="4552950"/>
              <a:ext cx="3333750" cy="228600"/>
            </a:xfrm>
            <a:prstGeom prst="roundRect">
              <a:avLst>
                <a:gd name="adj" fmla="val 16667"/>
              </a:avLst>
            </a:prstGeom>
            <a:solidFill>
              <a:srgbClr val="E4E8F7"/>
            </a:solidFill>
            <a:ln>
              <a:noFill/>
            </a:ln>
          </p:spPr>
        </p:sp>
        <p:sp>
          <p:nvSpPr>
            <p:cNvPr id="25" name="TextBox 25"/>
            <p:cNvSpPr txBox="1"/>
            <p:nvPr/>
          </p:nvSpPr>
          <p:spPr>
            <a:xfrm>
              <a:off x="661988" y="4613672"/>
              <a:ext cx="1601117"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4、优化直播间标题、封面：</a:t>
              </a:r>
            </a:p>
          </p:txBody>
        </p:sp>
        <p:sp>
          <p:nvSpPr>
            <p:cNvPr id="26" name="TextBox 26"/>
            <p:cNvSpPr txBox="1"/>
            <p:nvPr/>
          </p:nvSpPr>
          <p:spPr>
            <a:xfrm>
              <a:off x="585788" y="4867989"/>
              <a:ext cx="2156587" cy="297656"/>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标题：吸引粉丝点击，不如粉丝专享总裁撒币;</a:t>
              </a:r>
            </a:p>
            <a:p>
              <a:pPr algn="l" marL="85280" indent="-85280">
                <a:lnSpc>
                  <a:spcPts val="1125"/>
                </a:lnSpc>
                <a:buClr>
                  <a:srgbClr val="543E3A"/>
                </a:buClr>
                <a:buSzTx/>
                <a:buFontTx/>
                <a:buChar char="•"/>
              </a:pPr>
              <a:r>
                <a:rPr lang="zh-CN" sz="790" dirty="0">
                  <a:solidFill>
                    <a:srgbClr val="543E3A"/>
                  </a:solidFill>
                  <a:latin typeface="+mn-lt"/>
                  <a:ea typeface="+mn-ea"/>
                  <a:cs typeface="+mn-cs"/>
                </a:rPr>
                <a:t>封面：采用高清、利益点突出的图片吸引用户;</a:t>
              </a:r>
            </a:p>
          </p:txBody>
        </p:sp>
      </p:grpSp>
      <p:grpSp>
        <p:nvGrpSpPr>
          <p:cNvPr id="48" name="col-mid"/>
          <p:cNvGrpSpPr/>
          <p:nvPr/>
        </p:nvGrpSpPr>
        <p:grpSpPr>
          <a:xfrm>
            <a:off x="4238625" y="838200"/>
            <a:ext cx="3571875" cy="5715000"/>
            <a:chOff x="4238625" y="838200"/>
            <a:chExt cx="3571875" cy="5715000"/>
          </a:xfrm>
        </p:grpSpPr>
        <p:sp>
          <p:nvSpPr>
            <p:cNvPr id="28" name="Rectangle 28"/>
            <p:cNvSpPr/>
            <p:nvPr/>
          </p:nvSpPr>
          <p:spPr>
            <a:xfrm>
              <a:off x="4238625" y="838200"/>
              <a:ext cx="3571875" cy="5715000"/>
            </a:xfrm>
            <a:prstGeom prst="roundRect">
              <a:avLst>
                <a:gd name="adj" fmla="val 2133"/>
              </a:avLst>
            </a:prstGeom>
            <a:solidFill>
              <a:srgbClr val="FFF6F3"/>
            </a:solidFill>
            <a:ln>
              <a:noFill/>
            </a:ln>
          </p:spPr>
        </p:sp>
        <p:sp>
          <p:nvSpPr>
            <p:cNvPr id="29" name="Rectangle 29"/>
            <p:cNvSpPr/>
            <p:nvPr/>
          </p:nvSpPr>
          <p:spPr>
            <a:xfrm>
              <a:off x="4238625" y="838200"/>
              <a:ext cx="3571875" cy="342900"/>
            </a:xfrm>
            <a:prstGeom prst="roundRect">
              <a:avLst>
                <a:gd name="adj" fmla="val 11111"/>
              </a:avLst>
            </a:prstGeom>
            <a:solidFill>
              <a:srgbClr val="FDE3DC"/>
            </a:solidFill>
            <a:ln>
              <a:noFill/>
            </a:ln>
          </p:spPr>
        </p:sp>
        <p:sp>
          <p:nvSpPr>
            <p:cNvPr id="30" name="Rectangle 30"/>
            <p:cNvSpPr/>
            <p:nvPr/>
          </p:nvSpPr>
          <p:spPr>
            <a:xfrm>
              <a:off x="4238625" y="838200"/>
              <a:ext cx="152400" cy="342900"/>
            </a:xfrm>
            <a:prstGeom prst="roundRect">
              <a:avLst>
                <a:gd name="adj" fmla="val 25000"/>
              </a:avLst>
            </a:prstGeom>
            <a:solidFill>
              <a:srgbClr val="F3B0A4"/>
            </a:solidFill>
            <a:ln>
              <a:noFill/>
            </a:ln>
          </p:spPr>
        </p:sp>
        <p:sp>
          <p:nvSpPr>
            <p:cNvPr id="31" name="Rectangle 31"/>
            <p:cNvSpPr/>
            <p:nvPr/>
          </p:nvSpPr>
          <p:spPr>
            <a:xfrm>
              <a:off x="7658100" y="838200"/>
              <a:ext cx="152400" cy="342900"/>
            </a:xfrm>
            <a:prstGeom prst="roundRect">
              <a:avLst>
                <a:gd name="adj" fmla="val 25000"/>
              </a:avLst>
            </a:prstGeom>
            <a:solidFill>
              <a:srgbClr val="F3B0A4"/>
            </a:solidFill>
            <a:ln>
              <a:noFill/>
            </a:ln>
          </p:spPr>
        </p:sp>
        <p:sp>
          <p:nvSpPr>
            <p:cNvPr id="32" name="TextBox 32"/>
            <p:cNvSpPr txBox="1"/>
            <p:nvPr/>
          </p:nvSpPr>
          <p:spPr>
            <a:xfrm>
              <a:off x="4489323" y="938689"/>
              <a:ext cx="1046836" cy="249364"/>
            </a:xfrm>
            <a:prstGeom prst="rect">
              <a:avLst/>
            </a:prstGeom>
            <a:noFill/>
            <a:ln>
              <a:noFill/>
            </a:ln>
          </p:spPr>
          <p:txBody>
            <a:bodyPr wrap="none" lIns="0" tIns="0" rIns="0" bIns="0" anchor="t" anchorCtr="0">
              <a:spAutoFit/>
            </a:bodyPr>
            <a:lstStyle/>
            <a:p>
              <a:pPr algn="l"/>
              <a:r>
                <a:rPr lang="zh-CN" sz="1280" b="1" dirty="0">
                  <a:solidFill>
                    <a:srgbClr val="E2624C"/>
                  </a:solidFill>
                  <a:latin typeface="+mn-lt"/>
                  <a:ea typeface="+mn-ea"/>
                  <a:cs typeface="+mn-cs"/>
                </a:rPr>
                <a:t>二、直播中：</a:t>
              </a:r>
            </a:p>
          </p:txBody>
        </p:sp>
        <p:sp>
          <p:nvSpPr>
            <p:cNvPr id="33" name="Rectangle 33"/>
            <p:cNvSpPr/>
            <p:nvPr/>
          </p:nvSpPr>
          <p:spPr>
            <a:xfrm>
              <a:off x="4362450" y="1257300"/>
              <a:ext cx="3333750" cy="247650"/>
            </a:xfrm>
            <a:prstGeom prst="roundRect">
              <a:avLst>
                <a:gd name="adj" fmla="val 11538"/>
              </a:avLst>
            </a:prstGeom>
            <a:solidFill>
              <a:srgbClr val="E8634C"/>
            </a:solidFill>
            <a:ln>
              <a:noFill/>
            </a:ln>
          </p:spPr>
        </p:sp>
        <p:sp>
          <p:nvSpPr>
            <p:cNvPr id="34" name="TextBox 34"/>
            <p:cNvSpPr txBox="1"/>
            <p:nvPr/>
          </p:nvSpPr>
          <p:spPr>
            <a:xfrm>
              <a:off x="5166843" y="1323499"/>
              <a:ext cx="172496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产品卖点和互动优惠多维输出</a:t>
              </a:r>
            </a:p>
          </p:txBody>
        </p:sp>
        <p:sp>
          <p:nvSpPr>
            <p:cNvPr id="35" name="TextBox 35"/>
            <p:cNvSpPr txBox="1"/>
            <p:nvPr/>
          </p:nvSpPr>
          <p:spPr>
            <a:xfrm>
              <a:off x="4376738" y="1606391"/>
              <a:ext cx="2508885" cy="466725"/>
            </a:xfrm>
            <a:prstGeom prst="rect">
              <a:avLst/>
            </a:prstGeom>
            <a:noFill/>
            <a:ln>
              <a:noFill/>
            </a:ln>
          </p:spPr>
          <p:txBody>
            <a:bodyPr wrap="none" lIns="0" tIns="0" rIns="0" bIns="0" anchor="t" anchorCtr="0">
              <a:spAutoFit/>
            </a:bodyPr>
            <a:lstStyle/>
            <a:p>
              <a:pPr algn="l">
                <a:lnSpc>
                  <a:spcPts val="1200"/>
                </a:lnSpc>
              </a:pPr>
              <a:r>
                <a:rPr lang="zh-CN" sz="820" dirty="0">
                  <a:solidFill>
                    <a:srgbClr val="644E4A"/>
                  </a:solidFill>
                  <a:latin typeface="+mn-lt"/>
                  <a:ea typeface="+mn-ea"/>
                  <a:cs typeface="+mn-cs"/>
                </a:rPr>
                <a:t>目标：触达人群需要、产品卖点解读，优惠福利引导，</a:t>
              </a:r>
              <a:br/>
              <a:r>
                <a:rPr lang="zh-CN" sz="820" dirty="0">
                  <a:solidFill>
                    <a:srgbClr val="644E4A"/>
                  </a:solidFill>
                  <a:latin typeface="+mn-lt"/>
                  <a:ea typeface="+mn-ea"/>
                  <a:cs typeface="+mn-cs"/>
                </a:rPr>
                <a:t>沉淀品类相关的意向人群直播中注意加强与观众互动，</a:t>
              </a:r>
              <a:br/>
              <a:r>
                <a:rPr lang="zh-CN" sz="820" dirty="0">
                  <a:solidFill>
                    <a:srgbClr val="644E4A"/>
                  </a:solidFill>
                  <a:latin typeface="+mn-lt"/>
                  <a:ea typeface="+mn-ea"/>
                  <a:cs typeface="+mn-cs"/>
                </a:rPr>
                <a:t>炒热直播间氛围</a:t>
              </a:r>
            </a:p>
          </p:txBody>
        </p:sp>
        <p:sp>
          <p:nvSpPr>
            <p:cNvPr id="36" name="Rectangle 36"/>
            <p:cNvSpPr/>
            <p:nvPr/>
          </p:nvSpPr>
          <p:spPr>
            <a:xfrm>
              <a:off x="4362450" y="2152650"/>
              <a:ext cx="3333750" cy="228600"/>
            </a:xfrm>
            <a:prstGeom prst="roundRect">
              <a:avLst>
                <a:gd name="adj" fmla="val 16667"/>
              </a:avLst>
            </a:prstGeom>
            <a:solidFill>
              <a:srgbClr val="FDE3DC"/>
            </a:solidFill>
            <a:ln>
              <a:noFill/>
            </a:ln>
          </p:spPr>
        </p:sp>
        <p:sp>
          <p:nvSpPr>
            <p:cNvPr id="37" name="TextBox 37"/>
            <p:cNvSpPr txBox="1"/>
            <p:nvPr/>
          </p:nvSpPr>
          <p:spPr>
            <a:xfrm>
              <a:off x="4471988" y="2213372"/>
              <a:ext cx="1294567" cy="183356"/>
            </a:xfrm>
            <a:prstGeom prst="rect">
              <a:avLst/>
            </a:prstGeom>
            <a:noFill/>
            <a:ln>
              <a:noFill/>
            </a:ln>
          </p:spPr>
          <p:txBody>
            <a:bodyPr wrap="none" lIns="0" tIns="0" rIns="0" bIns="0" anchor="t" anchorCtr="0">
              <a:spAutoFit/>
            </a:bodyPr>
            <a:lstStyle/>
            <a:p>
              <a:pPr algn="l"/>
              <a:r>
                <a:rPr lang="zh-CN" sz="940" b="1" dirty="0">
                  <a:solidFill>
                    <a:srgbClr val="E2624C"/>
                  </a:solidFill>
                  <a:latin typeface="+mn-lt"/>
                  <a:ea typeface="+mn-ea"/>
                  <a:cs typeface="+mn-cs"/>
                </a:rPr>
                <a:t>1、直播/短视频投放：</a:t>
              </a:r>
            </a:p>
          </p:txBody>
        </p:sp>
        <p:sp>
          <p:nvSpPr>
            <p:cNvPr id="38" name="TextBox 38"/>
            <p:cNvSpPr txBox="1"/>
            <p:nvPr/>
          </p:nvSpPr>
          <p:spPr>
            <a:xfrm>
              <a:off x="4395788" y="2467689"/>
              <a:ext cx="2201735" cy="440531"/>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投放播放量高的短视频，提升直播间流量;</a:t>
              </a:r>
            </a:p>
            <a:p>
              <a:pPr algn="l" marL="85280" indent="-85280">
                <a:lnSpc>
                  <a:spcPts val="1125"/>
                </a:lnSpc>
                <a:buClr>
                  <a:srgbClr val="543E3A"/>
                </a:buClr>
                <a:buSzTx/>
                <a:buFontTx/>
                <a:buChar char="•"/>
              </a:pPr>
              <a:r>
                <a:rPr lang="zh-CN" sz="790" dirty="0">
                  <a:solidFill>
                    <a:srgbClr val="543E3A"/>
                  </a:solidFill>
                  <a:latin typeface="+mn-lt"/>
                  <a:ea typeface="+mn-ea"/>
                  <a:cs typeface="+mn-cs"/>
                </a:rPr>
                <a:t>当直播间流量下降时，进行信息流投放，进一步</a:t>
              </a:r>
              <a:br/>
              <a:r>
                <a:rPr lang="zh-CN" sz="790" dirty="0">
                  <a:solidFill>
                    <a:srgbClr val="543E3A"/>
                  </a:solidFill>
                  <a:latin typeface="+mn-lt"/>
                  <a:ea typeface="+mn-ea"/>
                  <a:cs typeface="+mn-cs"/>
                </a:rPr>
                <a:t>增长直播间流量;</a:t>
              </a:r>
            </a:p>
          </p:txBody>
        </p:sp>
        <p:sp>
          <p:nvSpPr>
            <p:cNvPr id="39" name="Rectangle 39"/>
            <p:cNvSpPr/>
            <p:nvPr/>
          </p:nvSpPr>
          <p:spPr>
            <a:xfrm>
              <a:off x="4362450" y="3009900"/>
              <a:ext cx="3333750" cy="228600"/>
            </a:xfrm>
            <a:prstGeom prst="roundRect">
              <a:avLst>
                <a:gd name="adj" fmla="val 16667"/>
              </a:avLst>
            </a:prstGeom>
            <a:solidFill>
              <a:srgbClr val="FDE3DC"/>
            </a:solidFill>
            <a:ln>
              <a:noFill/>
            </a:ln>
          </p:spPr>
        </p:sp>
        <p:sp>
          <p:nvSpPr>
            <p:cNvPr id="40" name="TextBox 40"/>
            <p:cNvSpPr txBox="1"/>
            <p:nvPr/>
          </p:nvSpPr>
          <p:spPr>
            <a:xfrm>
              <a:off x="4471988" y="3070622"/>
              <a:ext cx="841860" cy="183356"/>
            </a:xfrm>
            <a:prstGeom prst="rect">
              <a:avLst/>
            </a:prstGeom>
            <a:noFill/>
            <a:ln>
              <a:noFill/>
            </a:ln>
          </p:spPr>
          <p:txBody>
            <a:bodyPr wrap="none" lIns="0" tIns="0" rIns="0" bIns="0" anchor="t" anchorCtr="0">
              <a:spAutoFit/>
            </a:bodyPr>
            <a:lstStyle/>
            <a:p>
              <a:pPr algn="l"/>
              <a:r>
                <a:rPr lang="zh-CN" sz="940" b="1" dirty="0">
                  <a:solidFill>
                    <a:srgbClr val="E2624C"/>
                  </a:solidFill>
                  <a:latin typeface="+mn-lt"/>
                  <a:ea typeface="+mn-ea"/>
                  <a:cs typeface="+mn-cs"/>
                </a:rPr>
                <a:t>2、视频花絮：</a:t>
              </a:r>
            </a:p>
          </p:txBody>
        </p:sp>
        <p:sp>
          <p:nvSpPr>
            <p:cNvPr id="41" name="TextBox 41"/>
            <p:cNvSpPr txBox="1"/>
            <p:nvPr/>
          </p:nvSpPr>
          <p:spPr>
            <a:xfrm>
              <a:off x="4395788" y="3324939"/>
              <a:ext cx="2201735" cy="297656"/>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直播过程中上传第三视角拍摄的花絮短视频，导</a:t>
              </a:r>
              <a:br/>
              <a:r>
                <a:rPr lang="zh-CN" sz="790" dirty="0">
                  <a:solidFill>
                    <a:srgbClr val="543E3A"/>
                  </a:solidFill>
                  <a:latin typeface="+mn-lt"/>
                  <a:ea typeface="+mn-ea"/>
                  <a:cs typeface="+mn-cs"/>
                </a:rPr>
                <a:t>流进直播间;</a:t>
              </a:r>
            </a:p>
          </p:txBody>
        </p:sp>
        <p:sp>
          <p:nvSpPr>
            <p:cNvPr id="42" name="Rectangle 42"/>
            <p:cNvSpPr/>
            <p:nvPr/>
          </p:nvSpPr>
          <p:spPr>
            <a:xfrm>
              <a:off x="4362450" y="3733800"/>
              <a:ext cx="3333750" cy="228600"/>
            </a:xfrm>
            <a:prstGeom prst="roundRect">
              <a:avLst>
                <a:gd name="adj" fmla="val 16667"/>
              </a:avLst>
            </a:prstGeom>
            <a:solidFill>
              <a:srgbClr val="FDE3DC"/>
            </a:solidFill>
            <a:ln>
              <a:noFill/>
            </a:ln>
          </p:spPr>
        </p:sp>
        <p:sp>
          <p:nvSpPr>
            <p:cNvPr id="43" name="TextBox 43"/>
            <p:cNvSpPr txBox="1"/>
            <p:nvPr/>
          </p:nvSpPr>
          <p:spPr>
            <a:xfrm>
              <a:off x="4471988" y="3794522"/>
              <a:ext cx="1348031" cy="183356"/>
            </a:xfrm>
            <a:prstGeom prst="rect">
              <a:avLst/>
            </a:prstGeom>
            <a:noFill/>
            <a:ln>
              <a:noFill/>
            </a:ln>
          </p:spPr>
          <p:txBody>
            <a:bodyPr wrap="none" lIns="0" tIns="0" rIns="0" bIns="0" anchor="t" anchorCtr="0">
              <a:spAutoFit/>
            </a:bodyPr>
            <a:lstStyle/>
            <a:p>
              <a:pPr algn="l"/>
              <a:r>
                <a:rPr lang="zh-CN" sz="940" b="1" dirty="0">
                  <a:solidFill>
                    <a:srgbClr val="E2624C"/>
                  </a:solidFill>
                  <a:latin typeface="+mn-lt"/>
                  <a:ea typeface="+mn-ea"/>
                  <a:cs typeface="+mn-cs"/>
                </a:rPr>
                <a:t>3、加强直播互动玩法：</a:t>
              </a:r>
            </a:p>
          </p:txBody>
        </p:sp>
        <p:sp>
          <p:nvSpPr>
            <p:cNvPr id="44" name="TextBox 44"/>
            <p:cNvSpPr txBox="1"/>
            <p:nvPr/>
          </p:nvSpPr>
          <p:spPr>
            <a:xfrm>
              <a:off x="4395788" y="4048839"/>
              <a:ext cx="2201735" cy="440531"/>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通过直播间内一系列的互动玩法，如抽奖、红包</a:t>
              </a:r>
              <a:br/>
              <a:r>
                <a:rPr lang="zh-CN" sz="790" dirty="0">
                  <a:solidFill>
                    <a:srgbClr val="543E3A"/>
                  </a:solidFill>
                  <a:latin typeface="+mn-lt"/>
                  <a:ea typeface="+mn-ea"/>
                  <a:cs typeface="+mn-cs"/>
                </a:rPr>
                <a:t>等，增加直播间的互动氛围，增加直播推荐流展</a:t>
              </a:r>
              <a:br/>
              <a:r>
                <a:rPr lang="zh-CN" sz="790" dirty="0">
                  <a:solidFill>
                    <a:srgbClr val="543E3A"/>
                  </a:solidFill>
                  <a:latin typeface="+mn-lt"/>
                  <a:ea typeface="+mn-ea"/>
                  <a:cs typeface="+mn-cs"/>
                </a:rPr>
                <a:t>现;</a:t>
              </a:r>
            </a:p>
          </p:txBody>
        </p:sp>
        <p:sp>
          <p:nvSpPr>
            <p:cNvPr id="45" name="Rectangle 45"/>
            <p:cNvSpPr/>
            <p:nvPr/>
          </p:nvSpPr>
          <p:spPr>
            <a:xfrm>
              <a:off x="4362450" y="4591050"/>
              <a:ext cx="3333750" cy="228600"/>
            </a:xfrm>
            <a:prstGeom prst="roundRect">
              <a:avLst>
                <a:gd name="adj" fmla="val 16667"/>
              </a:avLst>
            </a:prstGeom>
            <a:solidFill>
              <a:srgbClr val="FDE3DC"/>
            </a:solidFill>
            <a:ln>
              <a:noFill/>
            </a:ln>
          </p:spPr>
        </p:sp>
        <p:sp>
          <p:nvSpPr>
            <p:cNvPr id="46" name="TextBox 46"/>
            <p:cNvSpPr txBox="1"/>
            <p:nvPr/>
          </p:nvSpPr>
          <p:spPr>
            <a:xfrm>
              <a:off x="4471988" y="4651772"/>
              <a:ext cx="841860" cy="183356"/>
            </a:xfrm>
            <a:prstGeom prst="rect">
              <a:avLst/>
            </a:prstGeom>
            <a:noFill/>
            <a:ln>
              <a:noFill/>
            </a:ln>
          </p:spPr>
          <p:txBody>
            <a:bodyPr wrap="none" lIns="0" tIns="0" rIns="0" bIns="0" anchor="t" anchorCtr="0">
              <a:spAutoFit/>
            </a:bodyPr>
            <a:lstStyle/>
            <a:p>
              <a:pPr algn="l"/>
              <a:r>
                <a:rPr lang="zh-CN" sz="940" b="1" dirty="0">
                  <a:solidFill>
                    <a:srgbClr val="E2624C"/>
                  </a:solidFill>
                  <a:latin typeface="+mn-lt"/>
                  <a:ea typeface="+mn-ea"/>
                  <a:cs typeface="+mn-cs"/>
                </a:rPr>
                <a:t>4、平台活动：</a:t>
              </a:r>
            </a:p>
          </p:txBody>
        </p:sp>
        <p:sp>
          <p:nvSpPr>
            <p:cNvPr id="47" name="TextBox 47"/>
            <p:cNvSpPr txBox="1"/>
            <p:nvPr/>
          </p:nvSpPr>
          <p:spPr>
            <a:xfrm>
              <a:off x="4395788" y="4906089"/>
              <a:ext cx="2201735" cy="297656"/>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参加平台官方合适的直播活动、话题，获取活动</a:t>
              </a:r>
              <a:br/>
              <a:r>
                <a:rPr lang="zh-CN" sz="790" dirty="0">
                  <a:solidFill>
                    <a:srgbClr val="543E3A"/>
                  </a:solidFill>
                  <a:latin typeface="+mn-lt"/>
                  <a:ea typeface="+mn-ea"/>
                  <a:cs typeface="+mn-cs"/>
                </a:rPr>
                <a:t>资源位;</a:t>
              </a:r>
            </a:p>
          </p:txBody>
        </p:sp>
      </p:grpSp>
      <p:grpSp>
        <p:nvGrpSpPr>
          <p:cNvPr id="86" name="col-post"/>
          <p:cNvGrpSpPr/>
          <p:nvPr/>
        </p:nvGrpSpPr>
        <p:grpSpPr>
          <a:xfrm>
            <a:off x="8048625" y="838200"/>
            <a:ext cx="3762375" cy="5715000"/>
            <a:chOff x="8048625" y="838200"/>
            <a:chExt cx="3762375" cy="5715000"/>
          </a:xfrm>
        </p:grpSpPr>
        <p:sp>
          <p:nvSpPr>
            <p:cNvPr id="49" name="Rectangle 49"/>
            <p:cNvSpPr/>
            <p:nvPr/>
          </p:nvSpPr>
          <p:spPr>
            <a:xfrm>
              <a:off x="8048625" y="838200"/>
              <a:ext cx="3762375" cy="5715000"/>
            </a:xfrm>
            <a:prstGeom prst="roundRect">
              <a:avLst>
                <a:gd name="adj" fmla="val 2025"/>
              </a:avLst>
            </a:prstGeom>
            <a:solidFill>
              <a:srgbClr val="F5F6FC"/>
            </a:solidFill>
            <a:ln>
              <a:noFill/>
            </a:ln>
          </p:spPr>
        </p:sp>
        <p:sp>
          <p:nvSpPr>
            <p:cNvPr id="50" name="Rectangle 50"/>
            <p:cNvSpPr/>
            <p:nvPr/>
          </p:nvSpPr>
          <p:spPr>
            <a:xfrm>
              <a:off x="8048625" y="838200"/>
              <a:ext cx="3762375" cy="342900"/>
            </a:xfrm>
            <a:prstGeom prst="roundRect">
              <a:avLst>
                <a:gd name="adj" fmla="val 11111"/>
              </a:avLst>
            </a:prstGeom>
            <a:solidFill>
              <a:srgbClr val="E8EBF8"/>
            </a:solidFill>
            <a:ln>
              <a:noFill/>
            </a:ln>
          </p:spPr>
        </p:sp>
        <p:sp>
          <p:nvSpPr>
            <p:cNvPr id="51" name="Rectangle 51"/>
            <p:cNvSpPr/>
            <p:nvPr/>
          </p:nvSpPr>
          <p:spPr>
            <a:xfrm>
              <a:off x="8048625" y="838200"/>
              <a:ext cx="152400" cy="342900"/>
            </a:xfrm>
            <a:prstGeom prst="roundRect">
              <a:avLst>
                <a:gd name="adj" fmla="val 25000"/>
              </a:avLst>
            </a:prstGeom>
            <a:solidFill>
              <a:srgbClr val="ECC1B8"/>
            </a:solidFill>
            <a:ln>
              <a:noFill/>
            </a:ln>
          </p:spPr>
        </p:sp>
        <p:sp>
          <p:nvSpPr>
            <p:cNvPr id="52" name="Rectangle 52"/>
            <p:cNvSpPr/>
            <p:nvPr/>
          </p:nvSpPr>
          <p:spPr>
            <a:xfrm>
              <a:off x="11658600" y="838200"/>
              <a:ext cx="152400" cy="342900"/>
            </a:xfrm>
            <a:prstGeom prst="roundRect">
              <a:avLst>
                <a:gd name="adj" fmla="val 25000"/>
              </a:avLst>
            </a:prstGeom>
            <a:solidFill>
              <a:srgbClr val="ECC1B8"/>
            </a:solidFill>
            <a:ln>
              <a:noFill/>
            </a:ln>
          </p:spPr>
        </p:sp>
        <p:sp>
          <p:nvSpPr>
            <p:cNvPr id="53" name="TextBox 53"/>
            <p:cNvSpPr txBox="1"/>
            <p:nvPr/>
          </p:nvSpPr>
          <p:spPr>
            <a:xfrm>
              <a:off x="8299323" y="938689"/>
              <a:ext cx="1046836" cy="249364"/>
            </a:xfrm>
            <a:prstGeom prst="rect">
              <a:avLst/>
            </a:prstGeom>
            <a:noFill/>
            <a:ln>
              <a:noFill/>
            </a:ln>
          </p:spPr>
          <p:txBody>
            <a:bodyPr wrap="none" lIns="0" tIns="0" rIns="0" bIns="0" anchor="t" anchorCtr="0">
              <a:spAutoFit/>
            </a:bodyPr>
            <a:lstStyle/>
            <a:p>
              <a:pPr algn="l"/>
              <a:r>
                <a:rPr lang="zh-CN" sz="1280" b="1" dirty="0">
                  <a:solidFill>
                    <a:srgbClr val="C45F4A"/>
                  </a:solidFill>
                  <a:latin typeface="+mn-lt"/>
                  <a:ea typeface="+mn-ea"/>
                  <a:cs typeface="+mn-cs"/>
                </a:rPr>
                <a:t>三、直播后：</a:t>
              </a:r>
            </a:p>
          </p:txBody>
        </p:sp>
        <p:sp>
          <p:nvSpPr>
            <p:cNvPr id="54" name="Rectangle 54"/>
            <p:cNvSpPr/>
            <p:nvPr/>
          </p:nvSpPr>
          <p:spPr>
            <a:xfrm>
              <a:off x="8172450" y="1257300"/>
              <a:ext cx="3524250" cy="247650"/>
            </a:xfrm>
            <a:prstGeom prst="roundRect">
              <a:avLst>
                <a:gd name="adj" fmla="val 11538"/>
              </a:avLst>
            </a:prstGeom>
            <a:solidFill>
              <a:srgbClr val="C45F4A"/>
            </a:solidFill>
            <a:ln>
              <a:noFill/>
            </a:ln>
          </p:spPr>
        </p:sp>
        <p:sp>
          <p:nvSpPr>
            <p:cNvPr id="55" name="TextBox 55"/>
            <p:cNvSpPr txBox="1"/>
            <p:nvPr/>
          </p:nvSpPr>
          <p:spPr>
            <a:xfrm>
              <a:off x="9006129" y="1323499"/>
              <a:ext cx="185689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数据复盘以及后期直播策略调整</a:t>
              </a:r>
            </a:p>
          </p:txBody>
        </p:sp>
        <p:sp>
          <p:nvSpPr>
            <p:cNvPr id="56" name="TextBox 56"/>
            <p:cNvSpPr txBox="1"/>
            <p:nvPr/>
          </p:nvSpPr>
          <p:spPr>
            <a:xfrm>
              <a:off x="8186738" y="1606391"/>
              <a:ext cx="240474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644E4A"/>
                  </a:solidFill>
                  <a:latin typeface="+mn-lt"/>
                  <a:ea typeface="+mn-ea"/>
                  <a:cs typeface="+mn-cs"/>
                </a:rPr>
                <a:t>目标：直播后根据观看量、进店数、增长粉丝、加购</a:t>
              </a:r>
              <a:br/>
              <a:r>
                <a:rPr lang="zh-CN" sz="820" dirty="0">
                  <a:solidFill>
                    <a:srgbClr val="644E4A"/>
                  </a:solidFill>
                  <a:latin typeface="+mn-lt"/>
                  <a:ea typeface="+mn-ea"/>
                  <a:cs typeface="+mn-cs"/>
                </a:rPr>
                <a:t>数等进行数据复盘，实时调整直播策略</a:t>
              </a:r>
            </a:p>
          </p:txBody>
        </p:sp>
        <p:sp>
          <p:nvSpPr>
            <p:cNvPr id="57" name="Line 57"/>
            <p:cNvSpPr/>
            <p:nvPr/>
          </p:nvSpPr>
          <p:spPr>
            <a:xfrm>
              <a:off x="8305800" y="2286000"/>
              <a:ext cx="1" cy="3390900"/>
            </a:xfrm>
            <a:prstGeom prst="line">
              <a:avLst/>
            </a:prstGeom>
            <a:noFill/>
            <a:ln w="19050">
              <a:solidFill>
                <a:srgbClr val="ECC1B8"/>
              </a:solidFill>
              <a:custDash>
                <a:ds d="300000" sp="200000"/>
              </a:custDash>
              <a:tailEnd type="triangle" w="lg" len="lg"/>
            </a:ln>
          </p:spPr>
        </p:sp>
        <p:sp>
          <p:nvSpPr>
            <p:cNvPr id="58" name="Rectangle 58"/>
            <p:cNvSpPr/>
            <p:nvPr/>
          </p:nvSpPr>
          <p:spPr>
            <a:xfrm>
              <a:off x="8382000" y="2019300"/>
              <a:ext cx="3333750" cy="1428750"/>
            </a:xfrm>
            <a:prstGeom prst="roundRect">
              <a:avLst>
                <a:gd name="adj" fmla="val 4000"/>
              </a:avLst>
            </a:prstGeom>
            <a:solidFill>
              <a:srgbClr val="FFFFFF"/>
            </a:solidFill>
            <a:ln w="9525">
              <a:solidFill>
                <a:srgbClr val="D8DEF2"/>
              </a:solidFill>
            </a:ln>
          </p:spPr>
        </p:sp>
        <p:sp>
          <p:nvSpPr>
            <p:cNvPr id="59" name="Freeform 59"/>
            <p:cNvSpPr/>
            <p:nvPr/>
          </p:nvSpPr>
          <p:spPr>
            <a:xfrm>
              <a:off x="8210550" y="2019300"/>
              <a:ext cx="609600" cy="228600"/>
            </a:xfrm>
            <a:prstGeom prst="parallelogram">
              <a:avLst>
                <a:gd name="adj" fmla="val 30000"/>
              </a:avLst>
            </a:prstGeom>
            <a:solidFill>
              <a:srgbClr val="C45F4A"/>
            </a:solidFill>
            <a:ln>
              <a:noFill/>
            </a:ln>
          </p:spPr>
        </p:sp>
        <p:sp>
          <p:nvSpPr>
            <p:cNvPr id="60" name="TextBox 60"/>
            <p:cNvSpPr txBox="1"/>
            <p:nvPr/>
          </p:nvSpPr>
          <p:spPr>
            <a:xfrm>
              <a:off x="8274835" y="2092166"/>
              <a:ext cx="481029"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STEP.1​</a:t>
              </a:r>
            </a:p>
          </p:txBody>
        </p:sp>
        <p:sp>
          <p:nvSpPr>
            <p:cNvPr id="61" name="TextBox 61"/>
            <p:cNvSpPr txBox="1"/>
            <p:nvPr/>
          </p:nvSpPr>
          <p:spPr>
            <a:xfrm>
              <a:off x="8947785" y="2164556"/>
              <a:ext cx="614528" cy="220028"/>
            </a:xfrm>
            <a:prstGeom prst="rect">
              <a:avLst/>
            </a:prstGeom>
            <a:noFill/>
            <a:ln>
              <a:noFill/>
            </a:ln>
          </p:spPr>
          <p:txBody>
            <a:bodyPr wrap="none" lIns="0" tIns="0" rIns="0" bIns="0" anchor="t" anchorCtr="0">
              <a:spAutoFit/>
            </a:bodyPr>
            <a:lstStyle/>
            <a:p>
              <a:pPr algn="l"/>
              <a:r>
                <a:rPr lang="zh-CN" sz="1120" b="1" dirty="0">
                  <a:solidFill>
                    <a:srgbClr val="C45F4A"/>
                  </a:solidFill>
                  <a:latin typeface="+mn-lt"/>
                  <a:ea typeface="+mn-ea"/>
                  <a:cs typeface="+mn-cs"/>
                </a:rPr>
                <a:t>数据统计</a:t>
              </a:r>
            </a:p>
          </p:txBody>
        </p:sp>
        <p:grpSp>
          <p:nvGrpSpPr>
            <p:cNvPr id="65" name="Group 65"/>
            <p:cNvGrpSpPr/>
            <p:nvPr/>
          </p:nvGrpSpPr>
          <p:grpSpPr>
            <a:xfrm>
              <a:off x="11370519" y="2118793"/>
              <a:ext cx="176105" cy="151297"/>
              <a:chOff x="11370519" y="2118793"/>
              <a:chExt cx="176105" cy="151297"/>
            </a:xfrm>
          </p:grpSpPr>
          <p:sp>
            <p:nvSpPr>
              <p:cNvPr id="62" name="Freeform 62"/>
              <p:cNvSpPr/>
              <p:nvPr/>
            </p:nvSpPr>
            <p:spPr>
              <a:xfrm>
                <a:off x="11458575" y="2174081"/>
                <a:ext cx="9525" cy="34925"/>
              </a:xfrm>
              <a:custGeom>
                <a:avLst/>
                <a:gdLst/>
                <a:ahLst/>
                <a:cxnLst/>
                <a:rect l="l" t="t" r="r" b="b"/>
                <a:pathLst>
                  <a:path w="9525" h="34925">
                    <a:moveTo>
                      <a:pt x="0" y="0"/>
                    </a:moveTo>
                    <a:lnTo>
                      <a:pt x="0" y="34925"/>
                    </a:lnTo>
                  </a:path>
                </a:pathLst>
              </a:custGeom>
              <a:noFill/>
              <a:ln w="17463">
                <a:solidFill>
                  <a:srgbClr val="E8634C"/>
                </a:solidFill>
              </a:ln>
            </p:spPr>
          </p:sp>
          <p:sp>
            <p:nvSpPr>
              <p:cNvPr id="63" name="Freeform 63"/>
              <p:cNvSpPr/>
              <p:nvPr/>
            </p:nvSpPr>
            <p:spPr>
              <a:xfrm>
                <a:off x="11370519" y="21187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E8634C"/>
                </a:solidFill>
              </a:ln>
            </p:spPr>
          </p:sp>
          <p:sp>
            <p:nvSpPr>
              <p:cNvPr id="64" name="Freeform 64"/>
              <p:cNvSpPr/>
              <p:nvPr/>
            </p:nvSpPr>
            <p:spPr>
              <a:xfrm>
                <a:off x="11458575" y="2235200"/>
                <a:ext cx="9525" cy="9525"/>
              </a:xfrm>
              <a:custGeom>
                <a:avLst/>
                <a:gdLst/>
                <a:ahLst/>
                <a:cxnLst/>
                <a:rect l="l" t="t" r="r" b="b"/>
                <a:pathLst>
                  <a:path w="9525" h="9525">
                    <a:moveTo>
                      <a:pt x="0" y="0"/>
                    </a:moveTo>
                    <a:lnTo>
                      <a:pt x="87" y="0"/>
                    </a:lnTo>
                  </a:path>
                </a:pathLst>
              </a:custGeom>
              <a:noFill/>
              <a:ln w="17463">
                <a:solidFill>
                  <a:srgbClr val="E8634C"/>
                </a:solidFill>
              </a:ln>
            </p:spPr>
          </p:sp>
        </p:grpSp>
        <p:sp>
          <p:nvSpPr>
            <p:cNvPr id="66" name="TextBox 66"/>
            <p:cNvSpPr txBox="1"/>
            <p:nvPr/>
          </p:nvSpPr>
          <p:spPr>
            <a:xfrm>
              <a:off x="8948738" y="2429589"/>
              <a:ext cx="1419162" cy="869156"/>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观看总人数UV/人均看播时长​</a:t>
              </a:r>
            </a:p>
            <a:p>
              <a:pPr algn="l" marL="85280" indent="-85280">
                <a:lnSpc>
                  <a:spcPts val="1125"/>
                </a:lnSpc>
                <a:buClr>
                  <a:srgbClr val="543E3A"/>
                </a:buClr>
                <a:buSzTx/>
                <a:buFontTx/>
                <a:buChar char="•"/>
              </a:pPr>
              <a:r>
                <a:rPr lang="zh-CN" sz="790" dirty="0">
                  <a:solidFill>
                    <a:srgbClr val="543E3A"/>
                  </a:solidFill>
                  <a:latin typeface="+mn-lt"/>
                  <a:ea typeface="+mn-ea"/>
                  <a:cs typeface="+mn-cs"/>
                </a:rPr>
                <a:t>新增粉丝数/互动数/评论内容</a:t>
              </a:r>
            </a:p>
            <a:p>
              <a:pPr algn="l" marL="85280" indent="-85280">
                <a:lnSpc>
                  <a:spcPts val="1125"/>
                </a:lnSpc>
                <a:buClr>
                  <a:srgbClr val="543E3A"/>
                </a:buClr>
                <a:buSzTx/>
                <a:buFontTx/>
                <a:buChar char="•"/>
              </a:pPr>
              <a:r>
                <a:rPr lang="zh-CN" sz="790" dirty="0">
                  <a:solidFill>
                    <a:srgbClr val="543E3A"/>
                  </a:solidFill>
                  <a:latin typeface="+mn-lt"/>
                  <a:ea typeface="+mn-ea"/>
                  <a:cs typeface="+mn-cs"/>
                </a:rPr>
                <a:t>直播奖励消耗情况</a:t>
              </a:r>
            </a:p>
            <a:p>
              <a:pPr algn="l" marL="85280" indent="-85280">
                <a:lnSpc>
                  <a:spcPts val="1125"/>
                </a:lnSpc>
                <a:buClr>
                  <a:srgbClr val="543E3A"/>
                </a:buClr>
                <a:buSzTx/>
                <a:buFontTx/>
                <a:buChar char="•"/>
              </a:pPr>
              <a:r>
                <a:rPr lang="zh-CN" sz="790" dirty="0">
                  <a:solidFill>
                    <a:srgbClr val="543E3A"/>
                  </a:solidFill>
                  <a:latin typeface="+mn-lt"/>
                  <a:ea typeface="+mn-ea"/>
                  <a:cs typeface="+mn-cs"/>
                </a:rPr>
                <a:t>成交项目排行</a:t>
              </a:r>
            </a:p>
            <a:p>
              <a:pPr algn="l" marL="85280" indent="-85280">
                <a:lnSpc>
                  <a:spcPts val="1125"/>
                </a:lnSpc>
                <a:buClr>
                  <a:srgbClr val="543E3A"/>
                </a:buClr>
                <a:buSzTx/>
                <a:buFontTx/>
                <a:buChar char="•"/>
              </a:pPr>
              <a:r>
                <a:rPr lang="zh-CN" sz="790" dirty="0">
                  <a:solidFill>
                    <a:srgbClr val="543E3A"/>
                  </a:solidFill>
                  <a:latin typeface="+mn-lt"/>
                  <a:ea typeface="+mn-ea"/>
                  <a:cs typeface="+mn-cs"/>
                </a:rPr>
                <a:t>成交单数</a:t>
              </a:r>
            </a:p>
            <a:p>
              <a:pPr algn="l" marL="85280" indent="-85280">
                <a:lnSpc>
                  <a:spcPts val="1125"/>
                </a:lnSpc>
                <a:buClr>
                  <a:srgbClr val="543E3A"/>
                </a:buClr>
                <a:buSzTx/>
                <a:buFontTx/>
                <a:buChar char="•"/>
              </a:pPr>
              <a:r>
                <a:rPr lang="zh-CN" sz="790" dirty="0">
                  <a:solidFill>
                    <a:srgbClr val="543E3A"/>
                  </a:solidFill>
                  <a:latin typeface="+mn-lt"/>
                  <a:ea typeface="+mn-ea"/>
                  <a:cs typeface="+mn-cs"/>
                </a:rPr>
                <a:t>周期内退单率</a:t>
              </a:r>
            </a:p>
          </p:txBody>
        </p:sp>
        <p:sp>
          <p:nvSpPr>
            <p:cNvPr id="67" name="Rectangle 67"/>
            <p:cNvSpPr/>
            <p:nvPr/>
          </p:nvSpPr>
          <p:spPr>
            <a:xfrm>
              <a:off x="8382000" y="3600450"/>
              <a:ext cx="3333750" cy="1143000"/>
            </a:xfrm>
            <a:prstGeom prst="roundRect">
              <a:avLst>
                <a:gd name="adj" fmla="val 5000"/>
              </a:avLst>
            </a:prstGeom>
            <a:solidFill>
              <a:srgbClr val="FFFFFF"/>
            </a:solidFill>
            <a:ln w="9525">
              <a:solidFill>
                <a:srgbClr val="D8DEF2"/>
              </a:solidFill>
            </a:ln>
          </p:spPr>
        </p:sp>
        <p:sp>
          <p:nvSpPr>
            <p:cNvPr id="68" name="Freeform 68"/>
            <p:cNvSpPr/>
            <p:nvPr/>
          </p:nvSpPr>
          <p:spPr>
            <a:xfrm>
              <a:off x="8210550" y="3600450"/>
              <a:ext cx="609600" cy="228600"/>
            </a:xfrm>
            <a:prstGeom prst="parallelogram">
              <a:avLst>
                <a:gd name="adj" fmla="val 30000"/>
              </a:avLst>
            </a:prstGeom>
            <a:solidFill>
              <a:srgbClr val="C45F4A"/>
            </a:solidFill>
            <a:ln>
              <a:noFill/>
            </a:ln>
          </p:spPr>
        </p:sp>
        <p:sp>
          <p:nvSpPr>
            <p:cNvPr id="69" name="TextBox 69"/>
            <p:cNvSpPr txBox="1"/>
            <p:nvPr/>
          </p:nvSpPr>
          <p:spPr>
            <a:xfrm>
              <a:off x="8274835" y="3673316"/>
              <a:ext cx="481029"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STEP.2​</a:t>
              </a:r>
            </a:p>
          </p:txBody>
        </p:sp>
        <p:sp>
          <p:nvSpPr>
            <p:cNvPr id="70" name="TextBox 70"/>
            <p:cNvSpPr txBox="1"/>
            <p:nvPr/>
          </p:nvSpPr>
          <p:spPr>
            <a:xfrm>
              <a:off x="8947785" y="3745706"/>
              <a:ext cx="614528" cy="220028"/>
            </a:xfrm>
            <a:prstGeom prst="rect">
              <a:avLst/>
            </a:prstGeom>
            <a:noFill/>
            <a:ln>
              <a:noFill/>
            </a:ln>
          </p:spPr>
          <p:txBody>
            <a:bodyPr wrap="none" lIns="0" tIns="0" rIns="0" bIns="0" anchor="t" anchorCtr="0">
              <a:spAutoFit/>
            </a:bodyPr>
            <a:lstStyle/>
            <a:p>
              <a:pPr algn="l"/>
              <a:r>
                <a:rPr lang="zh-CN" sz="1120" b="1" dirty="0">
                  <a:solidFill>
                    <a:srgbClr val="C45F4A"/>
                  </a:solidFill>
                  <a:latin typeface="+mn-lt"/>
                  <a:ea typeface="+mn-ea"/>
                  <a:cs typeface="+mn-cs"/>
                </a:rPr>
                <a:t>直播复盘</a:t>
              </a:r>
            </a:p>
          </p:txBody>
        </p:sp>
        <p:grpSp>
          <p:nvGrpSpPr>
            <p:cNvPr id="74" name="Group 74"/>
            <p:cNvGrpSpPr/>
            <p:nvPr/>
          </p:nvGrpSpPr>
          <p:grpSpPr>
            <a:xfrm>
              <a:off x="11385967" y="3711575"/>
              <a:ext cx="142458" cy="142458"/>
              <a:chOff x="11385967" y="3711575"/>
              <a:chExt cx="142458" cy="142458"/>
            </a:xfrm>
          </p:grpSpPr>
          <p:sp>
            <p:nvSpPr>
              <p:cNvPr id="71" name="Freeform 71"/>
              <p:cNvSpPr/>
              <p:nvPr/>
            </p:nvSpPr>
            <p:spPr>
              <a:xfrm>
                <a:off x="11388725" y="3711575"/>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E8634C"/>
                </a:solidFill>
              </a:ln>
            </p:spPr>
          </p:sp>
          <p:sp>
            <p:nvSpPr>
              <p:cNvPr id="72" name="Freeform 72"/>
              <p:cNvSpPr/>
              <p:nvPr/>
            </p:nvSpPr>
            <p:spPr>
              <a:xfrm>
                <a:off x="11385967" y="3798888"/>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E8634C"/>
                </a:solidFill>
              </a:ln>
            </p:spPr>
          </p:sp>
          <p:sp>
            <p:nvSpPr>
              <p:cNvPr id="73" name="Freeform 73"/>
              <p:cNvSpPr/>
              <p:nvPr/>
            </p:nvSpPr>
            <p:spPr>
              <a:xfrm>
                <a:off x="11476038" y="3746500"/>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E8634C"/>
                </a:solidFill>
              </a:ln>
            </p:spPr>
          </p:sp>
        </p:grpSp>
        <p:sp>
          <p:nvSpPr>
            <p:cNvPr id="75" name="TextBox 75"/>
            <p:cNvSpPr txBox="1"/>
            <p:nvPr/>
          </p:nvSpPr>
          <p:spPr>
            <a:xfrm>
              <a:off x="8948738" y="4010739"/>
              <a:ext cx="1499426" cy="583406"/>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数据维度总结直播间表现</a:t>
              </a:r>
            </a:p>
            <a:p>
              <a:pPr algn="l" marL="85280" indent="-85280">
                <a:lnSpc>
                  <a:spcPts val="1125"/>
                </a:lnSpc>
                <a:buClr>
                  <a:srgbClr val="543E3A"/>
                </a:buClr>
                <a:buSzTx/>
                <a:buFontTx/>
                <a:buChar char="•"/>
              </a:pPr>
              <a:r>
                <a:rPr lang="zh-CN" sz="790" dirty="0">
                  <a:solidFill>
                    <a:srgbClr val="543E3A"/>
                  </a:solidFill>
                  <a:latin typeface="+mn-lt"/>
                  <a:ea typeface="+mn-ea"/>
                  <a:cs typeface="+mn-cs"/>
                </a:rPr>
                <a:t>总结直播成功与不足及优化空间</a:t>
              </a:r>
            </a:p>
            <a:p>
              <a:pPr algn="l" marL="85280" indent="-85280">
                <a:lnSpc>
                  <a:spcPts val="1125"/>
                </a:lnSpc>
                <a:buClr>
                  <a:srgbClr val="543E3A"/>
                </a:buClr>
                <a:buSzTx/>
                <a:buFontTx/>
                <a:buChar char="•"/>
              </a:pPr>
              <a:r>
                <a:rPr lang="zh-CN" sz="790" dirty="0">
                  <a:solidFill>
                    <a:srgbClr val="543E3A"/>
                  </a:solidFill>
                  <a:latin typeface="+mn-lt"/>
                  <a:ea typeface="+mn-ea"/>
                  <a:cs typeface="+mn-cs"/>
                </a:rPr>
                <a:t>对比同期同业直播情况</a:t>
              </a:r>
            </a:p>
            <a:p>
              <a:pPr algn="l" marL="85280" indent="-85280">
                <a:lnSpc>
                  <a:spcPts val="1125"/>
                </a:lnSpc>
                <a:buClr>
                  <a:srgbClr val="543E3A"/>
                </a:buClr>
                <a:buSzTx/>
                <a:buFontTx/>
                <a:buChar char="•"/>
              </a:pPr>
              <a:r>
                <a:rPr lang="zh-CN" sz="790" dirty="0">
                  <a:solidFill>
                    <a:srgbClr val="543E3A"/>
                  </a:solidFill>
                  <a:latin typeface="+mn-lt"/>
                  <a:ea typeface="+mn-ea"/>
                  <a:cs typeface="+mn-cs"/>
                </a:rPr>
                <a:t>出局直播复盘报告，总结经验</a:t>
              </a:r>
            </a:p>
          </p:txBody>
        </p:sp>
        <p:sp>
          <p:nvSpPr>
            <p:cNvPr id="76" name="Rectangle 76"/>
            <p:cNvSpPr/>
            <p:nvPr/>
          </p:nvSpPr>
          <p:spPr>
            <a:xfrm>
              <a:off x="8382000" y="4895850"/>
              <a:ext cx="3333750" cy="762000"/>
            </a:xfrm>
            <a:prstGeom prst="roundRect">
              <a:avLst>
                <a:gd name="adj" fmla="val 7500"/>
              </a:avLst>
            </a:prstGeom>
            <a:solidFill>
              <a:srgbClr val="FFFFFF"/>
            </a:solidFill>
            <a:ln w="9525">
              <a:solidFill>
                <a:srgbClr val="D8DEF2"/>
              </a:solidFill>
            </a:ln>
          </p:spPr>
        </p:sp>
        <p:sp>
          <p:nvSpPr>
            <p:cNvPr id="77" name="Freeform 77"/>
            <p:cNvSpPr/>
            <p:nvPr/>
          </p:nvSpPr>
          <p:spPr>
            <a:xfrm>
              <a:off x="8210550" y="4895850"/>
              <a:ext cx="609600" cy="228600"/>
            </a:xfrm>
            <a:prstGeom prst="parallelogram">
              <a:avLst>
                <a:gd name="adj" fmla="val 30000"/>
              </a:avLst>
            </a:prstGeom>
            <a:solidFill>
              <a:srgbClr val="C45F4A"/>
            </a:solidFill>
            <a:ln>
              <a:noFill/>
            </a:ln>
          </p:spPr>
        </p:sp>
        <p:sp>
          <p:nvSpPr>
            <p:cNvPr id="78" name="TextBox 78"/>
            <p:cNvSpPr txBox="1"/>
            <p:nvPr/>
          </p:nvSpPr>
          <p:spPr>
            <a:xfrm>
              <a:off x="8274835" y="4968716"/>
              <a:ext cx="481029"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STEP.3​</a:t>
              </a:r>
            </a:p>
          </p:txBody>
        </p:sp>
        <p:sp>
          <p:nvSpPr>
            <p:cNvPr id="79" name="TextBox 79"/>
            <p:cNvSpPr txBox="1"/>
            <p:nvPr/>
          </p:nvSpPr>
          <p:spPr>
            <a:xfrm>
              <a:off x="8947785" y="5041106"/>
              <a:ext cx="614528" cy="220028"/>
            </a:xfrm>
            <a:prstGeom prst="rect">
              <a:avLst/>
            </a:prstGeom>
            <a:noFill/>
            <a:ln>
              <a:noFill/>
            </a:ln>
          </p:spPr>
          <p:txBody>
            <a:bodyPr wrap="none" lIns="0" tIns="0" rIns="0" bIns="0" anchor="t" anchorCtr="0">
              <a:spAutoFit/>
            </a:bodyPr>
            <a:lstStyle/>
            <a:p>
              <a:pPr algn="l"/>
              <a:r>
                <a:rPr lang="zh-CN" sz="1120" b="1" dirty="0">
                  <a:solidFill>
                    <a:srgbClr val="C45F4A"/>
                  </a:solidFill>
                  <a:latin typeface="+mn-lt"/>
                  <a:ea typeface="+mn-ea"/>
                  <a:cs typeface="+mn-cs"/>
                </a:rPr>
                <a:t>追踪核销</a:t>
              </a:r>
            </a:p>
          </p:txBody>
        </p:sp>
        <p:grpSp>
          <p:nvGrpSpPr>
            <p:cNvPr id="84" name="Group 84"/>
            <p:cNvGrpSpPr/>
            <p:nvPr/>
          </p:nvGrpSpPr>
          <p:grpSpPr>
            <a:xfrm>
              <a:off x="11397456" y="5006975"/>
              <a:ext cx="130970" cy="148431"/>
              <a:chOff x="11397456" y="5006975"/>
              <a:chExt cx="130970" cy="148431"/>
            </a:xfrm>
          </p:grpSpPr>
          <p:sp>
            <p:nvSpPr>
              <p:cNvPr id="80" name="Freeform 80"/>
              <p:cNvSpPr/>
              <p:nvPr/>
            </p:nvSpPr>
            <p:spPr>
              <a:xfrm>
                <a:off x="11397456" y="5006975"/>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E8634C"/>
                </a:solidFill>
              </a:ln>
            </p:spPr>
          </p:sp>
          <p:sp>
            <p:nvSpPr>
              <p:cNvPr id="81" name="Freeform 81"/>
              <p:cNvSpPr/>
              <p:nvPr/>
            </p:nvSpPr>
            <p:spPr>
              <a:xfrm>
                <a:off x="11476038" y="5120481"/>
                <a:ext cx="52388" cy="34925"/>
              </a:xfrm>
              <a:custGeom>
                <a:avLst/>
                <a:gdLst/>
                <a:ahLst/>
                <a:cxnLst/>
                <a:rect l="l" t="t" r="r" b="b"/>
                <a:pathLst>
                  <a:path w="52388" h="34925">
                    <a:moveTo>
                      <a:pt x="0" y="17463"/>
                    </a:moveTo>
                    <a:lnTo>
                      <a:pt x="17463" y="34925"/>
                    </a:lnTo>
                    <a:lnTo>
                      <a:pt x="52388" y="0"/>
                    </a:lnTo>
                  </a:path>
                </a:pathLst>
              </a:custGeom>
              <a:noFill/>
              <a:ln w="17463">
                <a:solidFill>
                  <a:srgbClr val="E8634C"/>
                </a:solidFill>
              </a:ln>
            </p:spPr>
          </p:sp>
          <p:sp>
            <p:nvSpPr>
              <p:cNvPr id="82" name="Freeform 82"/>
              <p:cNvSpPr/>
              <p:nvPr/>
            </p:nvSpPr>
            <p:spPr>
              <a:xfrm>
                <a:off x="11432381" y="5041900"/>
                <a:ext cx="34925" cy="9525"/>
              </a:xfrm>
              <a:custGeom>
                <a:avLst/>
                <a:gdLst/>
                <a:ahLst/>
                <a:cxnLst/>
                <a:rect l="l" t="t" r="r" b="b"/>
                <a:pathLst>
                  <a:path w="34925" h="9525">
                    <a:moveTo>
                      <a:pt x="0" y="0"/>
                    </a:moveTo>
                    <a:lnTo>
                      <a:pt x="34925" y="0"/>
                    </a:lnTo>
                  </a:path>
                </a:pathLst>
              </a:custGeom>
              <a:noFill/>
              <a:ln w="17463">
                <a:solidFill>
                  <a:srgbClr val="E8634C"/>
                </a:solidFill>
              </a:ln>
            </p:spPr>
          </p:sp>
          <p:sp>
            <p:nvSpPr>
              <p:cNvPr id="83" name="Freeform 83"/>
              <p:cNvSpPr/>
              <p:nvPr/>
            </p:nvSpPr>
            <p:spPr>
              <a:xfrm>
                <a:off x="11432381" y="5076825"/>
                <a:ext cx="17463" cy="9525"/>
              </a:xfrm>
              <a:custGeom>
                <a:avLst/>
                <a:gdLst/>
                <a:ahLst/>
                <a:cxnLst/>
                <a:rect l="l" t="t" r="r" b="b"/>
                <a:pathLst>
                  <a:path w="17463" h="9525">
                    <a:moveTo>
                      <a:pt x="0" y="0"/>
                    </a:moveTo>
                    <a:lnTo>
                      <a:pt x="17463" y="0"/>
                    </a:lnTo>
                  </a:path>
                </a:pathLst>
              </a:custGeom>
              <a:noFill/>
              <a:ln w="17463">
                <a:solidFill>
                  <a:srgbClr val="E8634C"/>
                </a:solidFill>
              </a:ln>
            </p:spPr>
          </p:sp>
        </p:grpSp>
        <p:sp>
          <p:nvSpPr>
            <p:cNvPr id="85" name="TextBox 85"/>
            <p:cNvSpPr txBox="1"/>
            <p:nvPr/>
          </p:nvSpPr>
          <p:spPr>
            <a:xfrm>
              <a:off x="8948738" y="5306139"/>
              <a:ext cx="1499426" cy="297656"/>
            </a:xfrm>
            <a:prstGeom prst="rect">
              <a:avLst/>
            </a:prstGeom>
            <a:noFill/>
            <a:ln>
              <a:noFill/>
            </a:ln>
          </p:spPr>
          <p:txBody>
            <a:bodyPr wrap="none" lIns="0" tIns="0" rIns="0" bIns="0" anchor="t" anchorCtr="0">
              <a:spAutoFit/>
            </a:bodyPr>
            <a:lstStyle/>
            <a:p>
              <a:pPr algn="l" marL="85280" indent="-85280">
                <a:lnSpc>
                  <a:spcPts val="1125"/>
                </a:lnSpc>
                <a:buClr>
                  <a:srgbClr val="543E3A"/>
                </a:buClr>
                <a:buSzTx/>
                <a:buFontTx/>
                <a:buChar char="•"/>
              </a:pPr>
              <a:r>
                <a:rPr lang="zh-CN" sz="790" dirty="0">
                  <a:solidFill>
                    <a:srgbClr val="543E3A"/>
                  </a:solidFill>
                  <a:latin typeface="+mn-lt"/>
                  <a:ea typeface="+mn-ea"/>
                  <a:cs typeface="+mn-cs"/>
                </a:rPr>
                <a:t>周期内追踪线下核销情况，最终</a:t>
              </a:r>
              <a:br/>
              <a:r>
                <a:rPr lang="zh-CN" sz="790" dirty="0">
                  <a:solidFill>
                    <a:srgbClr val="543E3A"/>
                  </a:solidFill>
                  <a:latin typeface="+mn-lt"/>
                  <a:ea typeface="+mn-ea"/>
                  <a:cs typeface="+mn-cs"/>
                </a:rPr>
                <a:t>形成直播闭环数据</a:t>
              </a:r>
            </a:p>
          </p:txBody>
        </p:sp>
      </p:gr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ring-1"/>
          <p:cNvSpPr/>
          <p:nvPr/>
        </p:nvSpPr>
        <p:spPr>
          <a:xfrm>
            <a:off x="4857750" y="2381250"/>
            <a:ext cx="2476500" cy="2476500"/>
          </a:xfrm>
          <a:prstGeom prst="ellipse">
            <a:avLst/>
          </a:prstGeom>
          <a:noFill/>
          <a:ln w="133350">
            <a:solidFill>
              <a:srgbClr val="E8EBF8"/>
            </a:solidFill>
          </a:ln>
        </p:spPr>
      </p:sp>
      <p:sp>
        <p:nvSpPr>
          <p:cNvPr id="3" name="deco-ring-2"/>
          <p:cNvSpPr/>
          <p:nvPr/>
        </p:nvSpPr>
        <p:spPr>
          <a:xfrm>
            <a:off x="4048125" y="1571625"/>
            <a:ext cx="4095750" cy="4095750"/>
          </a:xfrm>
          <a:prstGeom prst="ellipse">
            <a:avLst/>
          </a:prstGeom>
          <a:noFill/>
          <a:ln w="95250">
            <a:solidFill>
              <a:srgbClr val="EEF1FB"/>
            </a:solidFill>
          </a:ln>
        </p:spPr>
      </p:sp>
      <p:sp>
        <p:nvSpPr>
          <p:cNvPr id="4" name="deco-ring-3"/>
          <p:cNvSpPr/>
          <p:nvPr/>
        </p:nvSpPr>
        <p:spPr>
          <a:xfrm>
            <a:off x="3238500" y="762000"/>
            <a:ext cx="5715000" cy="5715000"/>
          </a:xfrm>
          <a:prstGeom prst="ellipse">
            <a:avLst/>
          </a:prstGeom>
          <a:noFill/>
          <a:ln w="76200">
            <a:solidFill>
              <a:srgbClr val="F3F5FC"/>
            </a:solidFill>
          </a:ln>
        </p:spPr>
      </p:sp>
      <p:grpSp>
        <p:nvGrpSpPr>
          <p:cNvPr id="9" name="page-header"/>
          <p:cNvGrpSpPr/>
          <p:nvPr/>
        </p:nvGrpSpPr>
        <p:grpSpPr>
          <a:xfrm>
            <a:off x="0" y="0"/>
            <a:ext cx="5905500" cy="542925"/>
            <a:chOff x="0" y="0"/>
            <a:chExt cx="5905500" cy="542925"/>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6" name="TextBox 6"/>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50</a:t>
              </a:r>
            </a:p>
          </p:txBody>
        </p:sp>
        <p:sp>
          <p:nvSpPr>
            <p:cNvPr id="7" name="TextBox 7"/>
            <p:cNvSpPr txBox="1"/>
            <p:nvPr/>
          </p:nvSpPr>
          <p:spPr>
            <a:xfrm>
              <a:off x="942594" y="151448"/>
              <a:ext cx="212156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企业号矩阵模式​</a:t>
              </a:r>
            </a:p>
          </p:txBody>
        </p:sp>
        <p:sp>
          <p:nvSpPr>
            <p:cNvPr id="8" name="Line 8"/>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2" name="center-mode"/>
          <p:cNvGrpSpPr/>
          <p:nvPr/>
        </p:nvGrpSpPr>
        <p:grpSpPr>
          <a:xfrm>
            <a:off x="5505450" y="3028950"/>
            <a:ext cx="1181100" cy="1181100"/>
            <a:chOff x="5505450" y="3028950"/>
            <a:chExt cx="1181100" cy="1181100"/>
          </a:xfrm>
        </p:grpSpPr>
        <p:sp>
          <p:nvSpPr>
            <p:cNvPr id="10" name="Ellipse 10"/>
            <p:cNvSpPr/>
            <p:nvPr/>
          </p:nvSpPr>
          <p:spPr>
            <a:xfrm>
              <a:off x="5505450" y="3028950"/>
              <a:ext cx="1181100" cy="1181100"/>
            </a:xfrm>
            <a:prstGeom prst="ellipse">
              <a:avLst/>
            </a:prstGeom>
            <a:solidFill>
              <a:srgbClr val="C45F4A"/>
            </a:solidFill>
            <a:ln>
              <a:noFill/>
            </a:ln>
          </p:spPr>
        </p:sp>
        <p:sp>
          <p:nvSpPr>
            <p:cNvPr id="11" name="TextBox 11"/>
            <p:cNvSpPr txBox="1"/>
            <p:nvPr/>
          </p:nvSpPr>
          <p:spPr>
            <a:xfrm>
              <a:off x="5878068" y="3384232"/>
              <a:ext cx="435864" cy="589407"/>
            </a:xfrm>
            <a:prstGeom prst="rect">
              <a:avLst/>
            </a:prstGeom>
            <a:noFill/>
            <a:ln>
              <a:noFill/>
            </a:ln>
          </p:spPr>
          <p:txBody>
            <a:bodyPr wrap="none" lIns="0" tIns="0" rIns="0" bIns="0" anchor="t" anchorCtr="0">
              <a:spAutoFit/>
            </a:bodyPr>
            <a:lstStyle/>
            <a:p>
              <a:pPr algn="ctr">
                <a:lnSpc>
                  <a:spcPts val="2100"/>
                </a:lnSpc>
              </a:pPr>
              <a:r>
                <a:rPr lang="zh-CN" sz="1650" b="1" dirty="0">
                  <a:solidFill>
                    <a:srgbClr val="FFFFFF"/>
                  </a:solidFill>
                  <a:latin typeface="+mn-lt"/>
                  <a:ea typeface="+mn-ea"/>
                  <a:cs typeface="+mn-cs"/>
                </a:rPr>
                <a:t>矩阵</a:t>
              </a:r>
              <a:br/>
              <a:r>
                <a:rPr lang="zh-CN" sz="1650" b="1" dirty="0">
                  <a:solidFill>
                    <a:srgbClr val="FFFFFF"/>
                  </a:solidFill>
                  <a:latin typeface="+mn-lt"/>
                  <a:ea typeface="+mn-ea"/>
                  <a:cs typeface="+mn-cs"/>
                </a:rPr>
                <a:t>模式</a:t>
              </a:r>
            </a:p>
          </p:txBody>
        </p:sp>
      </p:grpSp>
      <p:grpSp>
        <p:nvGrpSpPr>
          <p:cNvPr id="59" name="card-type1"/>
          <p:cNvGrpSpPr/>
          <p:nvPr/>
        </p:nvGrpSpPr>
        <p:grpSpPr>
          <a:xfrm>
            <a:off x="381000" y="1000125"/>
            <a:ext cx="4953000" cy="2047875"/>
            <a:chOff x="381000" y="1000125"/>
            <a:chExt cx="4953000" cy="2047875"/>
          </a:xfrm>
        </p:grpSpPr>
        <p:sp>
          <p:nvSpPr>
            <p:cNvPr id="13" name="Rectangle 13"/>
            <p:cNvSpPr/>
            <p:nvPr/>
          </p:nvSpPr>
          <p:spPr>
            <a:xfrm>
              <a:off x="381000" y="1000125"/>
              <a:ext cx="4953000" cy="2047875"/>
            </a:xfrm>
            <a:prstGeom prst="roundRect">
              <a:avLst>
                <a:gd name="adj" fmla="val 3721"/>
              </a:avLst>
            </a:prstGeom>
            <a:solidFill>
              <a:srgbClr val="FFFFFF"/>
            </a:solidFill>
            <a:ln>
              <a:noFill/>
            </a:ln>
            <a:effectLst>
              <a:outerShdw blurRad="152400" dist="57150" dir="5400000" algn="ctr" rotWithShape="0">
                <a:srgbClr val="C45F4A">
                  <a:alpha val="7500"/>
                </a:srgbClr>
              </a:outerShdw>
            </a:effectLst>
          </p:spPr>
        </p:sp>
        <p:sp>
          <p:nvSpPr>
            <p:cNvPr id="14" name="Rectangle 14"/>
            <p:cNvSpPr/>
            <p:nvPr/>
          </p:nvSpPr>
          <p:spPr>
            <a:xfrm>
              <a:off x="381000" y="1000125"/>
              <a:ext cx="4953000" cy="323850"/>
            </a:xfrm>
            <a:prstGeom prst="roundRect">
              <a:avLst>
                <a:gd name="adj" fmla="val 23529"/>
              </a:avLst>
            </a:prstGeom>
            <a:solidFill>
              <a:srgbClr val="C45F4A"/>
            </a:solidFill>
            <a:ln>
              <a:noFill/>
            </a:ln>
          </p:spPr>
        </p:sp>
        <p:sp>
          <p:nvSpPr>
            <p:cNvPr id="15" name="Rectangle 15"/>
            <p:cNvSpPr/>
            <p:nvPr/>
          </p:nvSpPr>
          <p:spPr>
            <a:xfrm>
              <a:off x="381000" y="1190625"/>
              <a:ext cx="4953000" cy="133350"/>
            </a:xfrm>
            <a:prstGeom prst="rect">
              <a:avLst/>
            </a:prstGeom>
            <a:solidFill>
              <a:srgbClr val="C45F4A"/>
            </a:solidFill>
            <a:ln>
              <a:noFill/>
            </a:ln>
          </p:spPr>
        </p:sp>
        <p:sp>
          <p:nvSpPr>
            <p:cNvPr id="16" name="TextBox 16"/>
            <p:cNvSpPr txBox="1"/>
            <p:nvPr/>
          </p:nvSpPr>
          <p:spPr>
            <a:xfrm>
              <a:off x="527685" y="1107281"/>
              <a:ext cx="76530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融合式矩阵</a:t>
              </a:r>
            </a:p>
          </p:txBody>
        </p:sp>
        <p:sp>
          <p:nvSpPr>
            <p:cNvPr id="17" name="TextBox 17"/>
            <p:cNvSpPr txBox="1"/>
            <p:nvPr/>
          </p:nvSpPr>
          <p:spPr>
            <a:xfrm>
              <a:off x="4556455" y="1115378"/>
              <a:ext cx="630479" cy="205359"/>
            </a:xfrm>
            <a:prstGeom prst="rect">
              <a:avLst/>
            </a:prstGeom>
            <a:noFill/>
            <a:ln>
              <a:noFill/>
            </a:ln>
          </p:spPr>
          <p:txBody>
            <a:bodyPr wrap="none" lIns="0" tIns="0" rIns="0" bIns="0" anchor="t" anchorCtr="0">
              <a:spAutoFit/>
            </a:bodyPr>
            <a:lstStyle/>
            <a:p>
              <a:pPr algn="r"/>
              <a:r>
                <a:rPr lang="en-US" sz="1050" dirty="0">
                  <a:solidFill>
                    <a:srgbClr val="FFFFFF"/>
                  </a:solidFill>
                  <a:latin typeface="+mn-lt"/>
                  <a:ea typeface="+mn-ea"/>
                  <a:cs typeface="+mn-cs"/>
                </a:rPr>
                <a:t>TYPE 1.​</a:t>
              </a:r>
            </a:p>
          </p:txBody>
        </p:sp>
        <p:sp>
          <p:nvSpPr>
            <p:cNvPr id="18" name="Rectangle 18"/>
            <p:cNvSpPr/>
            <p:nvPr/>
          </p:nvSpPr>
          <p:spPr>
            <a:xfrm>
              <a:off x="495300" y="1447800"/>
              <a:ext cx="28575" cy="133350"/>
            </a:xfrm>
            <a:prstGeom prst="rect">
              <a:avLst/>
            </a:prstGeom>
            <a:solidFill>
              <a:srgbClr val="C45F4A"/>
            </a:solidFill>
            <a:ln>
              <a:noFill/>
            </a:ln>
          </p:spPr>
        </p:sp>
        <p:sp>
          <p:nvSpPr>
            <p:cNvPr id="19" name="TextBox 19"/>
            <p:cNvSpPr txBox="1"/>
            <p:nvPr/>
          </p:nvSpPr>
          <p:spPr>
            <a:xfrm>
              <a:off x="585788" y="1468993"/>
              <a:ext cx="1866265" cy="492919"/>
            </a:xfrm>
            <a:prstGeom prst="rect">
              <a:avLst/>
            </a:prstGeom>
            <a:noFill/>
            <a:ln>
              <a:noFill/>
            </a:ln>
          </p:spPr>
          <p:txBody>
            <a:bodyPr wrap="none" lIns="0" tIns="0" rIns="0" bIns="0" anchor="t" anchorCtr="0">
              <a:spAutoFit/>
            </a:bodyPr>
            <a:lstStyle/>
            <a:p>
              <a:pPr algn="l">
                <a:lnSpc>
                  <a:spcPts val="1275"/>
                </a:lnSpc>
              </a:pPr>
              <a:r>
                <a:rPr lang="zh-CN" sz="860" b="1" dirty="0">
                  <a:solidFill>
                    <a:srgbClr val="C45F4A"/>
                  </a:solidFill>
                  <a:latin typeface="+mn-lt"/>
                  <a:ea typeface="+mn-ea"/>
                  <a:cs typeface="+mn-cs"/>
                </a:rPr>
                <a:t>特征：</a:t>
              </a:r>
              <a:r>
                <a:rPr lang="zh-CN" sz="860" dirty="0">
                  <a:solidFill>
                    <a:srgbClr val="543E3A"/>
                  </a:solidFill>
                  <a:latin typeface="+mn-lt"/>
                  <a:ea typeface="+mn-ea"/>
                  <a:cs typeface="+mn-cs"/>
                </a:rPr>
                <a:t>“母强子弱”;母账号带起多个</a:t>
              </a:r>
              <a:br/>
              <a:r>
                <a:rPr lang="zh-CN" sz="860" dirty="0">
                  <a:solidFill>
                    <a:srgbClr val="543E3A"/>
                  </a:solidFill>
                  <a:latin typeface="+mn-lt"/>
                  <a:ea typeface="+mn-ea"/>
                  <a:cs typeface="+mn-cs"/>
                </a:rPr>
                <a:t>子账号，每个都在账号在品牌背书下开</a:t>
              </a:r>
              <a:br/>
              <a:r>
                <a:rPr lang="zh-CN" sz="860" dirty="0">
                  <a:solidFill>
                    <a:srgbClr val="543E3A"/>
                  </a:solidFill>
                  <a:latin typeface="+mn-lt"/>
                  <a:ea typeface="+mn-ea"/>
                  <a:cs typeface="+mn-cs"/>
                </a:rPr>
                <a:t>展运营。</a:t>
              </a:r>
            </a:p>
          </p:txBody>
        </p:sp>
        <p:sp>
          <p:nvSpPr>
            <p:cNvPr id="20" name="Rectangle 20"/>
            <p:cNvSpPr/>
            <p:nvPr/>
          </p:nvSpPr>
          <p:spPr>
            <a:xfrm>
              <a:off x="495300" y="2114550"/>
              <a:ext cx="28575" cy="133350"/>
            </a:xfrm>
            <a:prstGeom prst="rect">
              <a:avLst/>
            </a:prstGeom>
            <a:solidFill>
              <a:srgbClr val="C45F4A"/>
            </a:solidFill>
            <a:ln>
              <a:noFill/>
            </a:ln>
          </p:spPr>
        </p:sp>
        <p:sp>
          <p:nvSpPr>
            <p:cNvPr id="21" name="TextBox 21"/>
            <p:cNvSpPr txBox="1"/>
            <p:nvPr/>
          </p:nvSpPr>
          <p:spPr>
            <a:xfrm>
              <a:off x="585788" y="2135743"/>
              <a:ext cx="1866265" cy="492919"/>
            </a:xfrm>
            <a:prstGeom prst="rect">
              <a:avLst/>
            </a:prstGeom>
            <a:noFill/>
            <a:ln>
              <a:noFill/>
            </a:ln>
          </p:spPr>
          <p:txBody>
            <a:bodyPr wrap="none" lIns="0" tIns="0" rIns="0" bIns="0" anchor="t" anchorCtr="0">
              <a:spAutoFit/>
            </a:bodyPr>
            <a:lstStyle/>
            <a:p>
              <a:pPr algn="l">
                <a:lnSpc>
                  <a:spcPts val="1275"/>
                </a:lnSpc>
              </a:pPr>
              <a:r>
                <a:rPr lang="zh-CN" sz="860" b="1" dirty="0">
                  <a:solidFill>
                    <a:srgbClr val="C45F4A"/>
                  </a:solidFill>
                  <a:latin typeface="+mn-lt"/>
                  <a:ea typeface="+mn-ea"/>
                  <a:cs typeface="+mn-cs"/>
                </a:rPr>
                <a:t>优势与适用：</a:t>
              </a:r>
              <a:r>
                <a:rPr lang="zh-CN" sz="860" dirty="0">
                  <a:solidFill>
                    <a:srgbClr val="543E3A"/>
                  </a:solidFill>
                  <a:latin typeface="+mn-lt"/>
                  <a:ea typeface="+mn-ea"/>
                  <a:cs typeface="+mn-cs"/>
                </a:rPr>
                <a:t>利用品牌背书迅速带起子</a:t>
              </a:r>
              <a:br/>
              <a:r>
                <a:rPr lang="zh-CN" sz="860" dirty="0">
                  <a:solidFill>
                    <a:srgbClr val="543E3A"/>
                  </a:solidFill>
                  <a:latin typeface="+mn-lt"/>
                  <a:ea typeface="+mn-ea"/>
                  <a:cs typeface="+mn-cs"/>
                </a:rPr>
                <a:t>账号流量，适用于认知度高的品牌，品</a:t>
              </a:r>
              <a:br/>
              <a:r>
                <a:rPr lang="zh-CN" sz="860" dirty="0">
                  <a:solidFill>
                    <a:srgbClr val="543E3A"/>
                  </a:solidFill>
                  <a:latin typeface="+mn-lt"/>
                  <a:ea typeface="+mn-ea"/>
                  <a:cs typeface="+mn-cs"/>
                </a:rPr>
                <a:t>牌拥有多条产品线服务。</a:t>
              </a:r>
            </a:p>
          </p:txBody>
        </p:sp>
        <p:sp>
          <p:nvSpPr>
            <p:cNvPr id="22" name="Ellipse 22"/>
            <p:cNvSpPr/>
            <p:nvPr/>
          </p:nvSpPr>
          <p:spPr>
            <a:xfrm>
              <a:off x="3648075" y="1485900"/>
              <a:ext cx="419100" cy="419100"/>
            </a:xfrm>
            <a:prstGeom prst="ellipse">
              <a:avLst/>
            </a:prstGeom>
            <a:solidFill>
              <a:srgbClr val="E8EBF8"/>
            </a:solidFill>
            <a:ln w="9525">
              <a:solidFill>
                <a:srgbClr val="E08C7B"/>
              </a:solidFill>
            </a:ln>
          </p:spPr>
        </p:sp>
        <p:grpSp>
          <p:nvGrpSpPr>
            <p:cNvPr id="27" name="Group 27"/>
            <p:cNvGrpSpPr/>
            <p:nvPr/>
          </p:nvGrpSpPr>
          <p:grpSpPr>
            <a:xfrm>
              <a:off x="3764756" y="1602581"/>
              <a:ext cx="185737" cy="185738"/>
              <a:chOff x="3764756" y="1602581"/>
              <a:chExt cx="185737" cy="185738"/>
            </a:xfrm>
          </p:grpSpPr>
          <p:sp>
            <p:nvSpPr>
              <p:cNvPr id="23" name="Freeform 23"/>
              <p:cNvSpPr/>
              <p:nvPr/>
            </p:nvSpPr>
            <p:spPr>
              <a:xfrm>
                <a:off x="3785394" y="16025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45F4A"/>
                </a:solidFill>
              </a:ln>
            </p:spPr>
          </p:sp>
          <p:sp>
            <p:nvSpPr>
              <p:cNvPr id="24" name="Freeform 24"/>
              <p:cNvSpPr/>
              <p:nvPr/>
            </p:nvSpPr>
            <p:spPr>
              <a:xfrm>
                <a:off x="3764756" y="17264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45F4A"/>
                </a:solidFill>
              </a:ln>
            </p:spPr>
          </p:sp>
          <p:sp>
            <p:nvSpPr>
              <p:cNvPr id="25" name="Freeform 25"/>
              <p:cNvSpPr/>
              <p:nvPr/>
            </p:nvSpPr>
            <p:spPr>
              <a:xfrm>
                <a:off x="3898899" y="16039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45F4A"/>
                </a:solidFill>
              </a:ln>
            </p:spPr>
          </p:sp>
          <p:sp>
            <p:nvSpPr>
              <p:cNvPr id="26" name="Freeform 26"/>
              <p:cNvSpPr/>
              <p:nvPr/>
            </p:nvSpPr>
            <p:spPr>
              <a:xfrm>
                <a:off x="3919537" y="17279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45F4A"/>
                </a:solidFill>
              </a:ln>
            </p:spPr>
          </p:sp>
        </p:grpSp>
        <p:sp>
          <p:nvSpPr>
            <p:cNvPr id="28" name="TextBox 28"/>
            <p:cNvSpPr txBox="1"/>
            <p:nvPr/>
          </p:nvSpPr>
          <p:spPr>
            <a:xfrm>
              <a:off x="3693224" y="1976438"/>
              <a:ext cx="328803"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高管A​</a:t>
              </a:r>
            </a:p>
          </p:txBody>
        </p:sp>
        <p:sp>
          <p:nvSpPr>
            <p:cNvPr id="29" name="Ellipse 29"/>
            <p:cNvSpPr/>
            <p:nvPr/>
          </p:nvSpPr>
          <p:spPr>
            <a:xfrm>
              <a:off x="4410075" y="1485900"/>
              <a:ext cx="419100" cy="419100"/>
            </a:xfrm>
            <a:prstGeom prst="ellipse">
              <a:avLst/>
            </a:prstGeom>
            <a:solidFill>
              <a:srgbClr val="E8EBF8"/>
            </a:solidFill>
            <a:ln w="9525">
              <a:solidFill>
                <a:srgbClr val="E08C7B"/>
              </a:solidFill>
            </a:ln>
          </p:spPr>
        </p:sp>
        <p:grpSp>
          <p:nvGrpSpPr>
            <p:cNvPr id="34" name="Group 34"/>
            <p:cNvGrpSpPr/>
            <p:nvPr/>
          </p:nvGrpSpPr>
          <p:grpSpPr>
            <a:xfrm>
              <a:off x="4526756" y="1602581"/>
              <a:ext cx="185737" cy="185738"/>
              <a:chOff x="4526756" y="1602581"/>
              <a:chExt cx="185737" cy="185738"/>
            </a:xfrm>
          </p:grpSpPr>
          <p:sp>
            <p:nvSpPr>
              <p:cNvPr id="30" name="Freeform 30"/>
              <p:cNvSpPr/>
              <p:nvPr/>
            </p:nvSpPr>
            <p:spPr>
              <a:xfrm>
                <a:off x="4547394" y="16025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45F4A"/>
                </a:solidFill>
              </a:ln>
            </p:spPr>
          </p:sp>
          <p:sp>
            <p:nvSpPr>
              <p:cNvPr id="31" name="Freeform 31"/>
              <p:cNvSpPr/>
              <p:nvPr/>
            </p:nvSpPr>
            <p:spPr>
              <a:xfrm>
                <a:off x="4526756" y="17264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45F4A"/>
                </a:solidFill>
              </a:ln>
            </p:spPr>
          </p:sp>
          <p:sp>
            <p:nvSpPr>
              <p:cNvPr id="32" name="Freeform 32"/>
              <p:cNvSpPr/>
              <p:nvPr/>
            </p:nvSpPr>
            <p:spPr>
              <a:xfrm>
                <a:off x="4660899" y="16039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45F4A"/>
                </a:solidFill>
              </a:ln>
            </p:spPr>
          </p:sp>
          <p:sp>
            <p:nvSpPr>
              <p:cNvPr id="33" name="Freeform 33"/>
              <p:cNvSpPr/>
              <p:nvPr/>
            </p:nvSpPr>
            <p:spPr>
              <a:xfrm>
                <a:off x="4681537" y="17279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45F4A"/>
                </a:solidFill>
              </a:ln>
            </p:spPr>
          </p:sp>
        </p:grpSp>
        <p:sp>
          <p:nvSpPr>
            <p:cNvPr id="35" name="TextBox 35"/>
            <p:cNvSpPr txBox="1"/>
            <p:nvPr/>
          </p:nvSpPr>
          <p:spPr>
            <a:xfrm>
              <a:off x="4455224" y="1976438"/>
              <a:ext cx="328803"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高管B​</a:t>
              </a:r>
            </a:p>
          </p:txBody>
        </p:sp>
        <p:sp>
          <p:nvSpPr>
            <p:cNvPr id="36" name="Line 36"/>
            <p:cNvSpPr/>
            <p:nvPr/>
          </p:nvSpPr>
          <p:spPr>
            <a:xfrm>
              <a:off x="3543300" y="2152650"/>
              <a:ext cx="1409700" cy="9525"/>
            </a:xfrm>
            <a:custGeom>
              <a:avLst/>
              <a:gdLst/>
              <a:ahLst/>
              <a:cxnLst/>
              <a:rect l="l" t="t" r="r" b="b"/>
              <a:pathLst>
                <a:path w="1409700" h="9525">
                  <a:moveTo>
                    <a:pt x="0" y="0"/>
                  </a:moveTo>
                  <a:lnTo>
                    <a:pt x="1409700" y="0"/>
                  </a:lnTo>
                </a:path>
              </a:pathLst>
            </a:custGeom>
            <a:noFill/>
            <a:ln w="9525">
              <a:solidFill>
                <a:srgbClr val="ECC1B8"/>
              </a:solidFill>
              <a:custDash>
                <a:ds d="300000" sp="300000"/>
              </a:custDash>
            </a:ln>
          </p:spPr>
        </p:sp>
        <p:sp>
          <p:nvSpPr>
            <p:cNvPr id="37" name="Ellipse 37"/>
            <p:cNvSpPr/>
            <p:nvPr/>
          </p:nvSpPr>
          <p:spPr>
            <a:xfrm>
              <a:off x="3648075" y="2228850"/>
              <a:ext cx="419100" cy="419100"/>
            </a:xfrm>
            <a:prstGeom prst="ellipse">
              <a:avLst/>
            </a:prstGeom>
            <a:solidFill>
              <a:srgbClr val="E8EBF8"/>
            </a:solidFill>
            <a:ln w="9525">
              <a:solidFill>
                <a:srgbClr val="E08C7B"/>
              </a:solidFill>
            </a:ln>
          </p:spPr>
        </p:sp>
        <p:grpSp>
          <p:nvGrpSpPr>
            <p:cNvPr id="46" name="Group 46"/>
            <p:cNvGrpSpPr/>
            <p:nvPr/>
          </p:nvGrpSpPr>
          <p:grpSpPr>
            <a:xfrm>
              <a:off x="3764756" y="2345531"/>
              <a:ext cx="185737" cy="195262"/>
              <a:chOff x="3764756" y="2345531"/>
              <a:chExt cx="185737" cy="195262"/>
            </a:xfrm>
          </p:grpSpPr>
          <p:sp>
            <p:nvSpPr>
              <p:cNvPr id="38" name="Freeform 38"/>
              <p:cNvSpPr/>
              <p:nvPr/>
            </p:nvSpPr>
            <p:spPr>
              <a:xfrm>
                <a:off x="3764756" y="2531268"/>
                <a:ext cx="185737" cy="9525"/>
              </a:xfrm>
              <a:custGeom>
                <a:avLst/>
                <a:gdLst/>
                <a:ahLst/>
                <a:cxnLst/>
                <a:rect l="l" t="t" r="r" b="b"/>
                <a:pathLst>
                  <a:path w="185737" h="9525">
                    <a:moveTo>
                      <a:pt x="0" y="0"/>
                    </a:moveTo>
                    <a:lnTo>
                      <a:pt x="185737" y="0"/>
                    </a:lnTo>
                  </a:path>
                </a:pathLst>
              </a:custGeom>
              <a:noFill/>
              <a:ln w="20637">
                <a:solidFill>
                  <a:srgbClr val="C45F4A"/>
                </a:solidFill>
              </a:ln>
            </p:spPr>
          </p:sp>
          <p:sp>
            <p:nvSpPr>
              <p:cNvPr id="39" name="Freeform 39"/>
              <p:cNvSpPr/>
              <p:nvPr/>
            </p:nvSpPr>
            <p:spPr>
              <a:xfrm>
                <a:off x="3764756" y="2417762"/>
                <a:ext cx="185737" cy="9525"/>
              </a:xfrm>
              <a:custGeom>
                <a:avLst/>
                <a:gdLst/>
                <a:ahLst/>
                <a:cxnLst/>
                <a:rect l="l" t="t" r="r" b="b"/>
                <a:pathLst>
                  <a:path w="185737" h="9525">
                    <a:moveTo>
                      <a:pt x="0" y="0"/>
                    </a:moveTo>
                    <a:lnTo>
                      <a:pt x="185737" y="0"/>
                    </a:lnTo>
                  </a:path>
                </a:pathLst>
              </a:custGeom>
              <a:noFill/>
              <a:ln w="20637">
                <a:solidFill>
                  <a:srgbClr val="C45F4A"/>
                </a:solidFill>
              </a:ln>
            </p:spPr>
          </p:sp>
          <p:sp>
            <p:nvSpPr>
              <p:cNvPr id="40" name="Freeform 40"/>
              <p:cNvSpPr/>
              <p:nvPr/>
            </p:nvSpPr>
            <p:spPr>
              <a:xfrm>
                <a:off x="3785394" y="2345531"/>
                <a:ext cx="144462" cy="30956"/>
              </a:xfrm>
              <a:custGeom>
                <a:avLst/>
                <a:gdLst/>
                <a:ahLst/>
                <a:cxnLst/>
                <a:rect l="l" t="t" r="r" b="b"/>
                <a:pathLst>
                  <a:path w="144462" h="30956">
                    <a:moveTo>
                      <a:pt x="0" y="30956"/>
                    </a:moveTo>
                    <a:lnTo>
                      <a:pt x="72231" y="0"/>
                    </a:lnTo>
                    <a:lnTo>
                      <a:pt x="144462" y="30956"/>
                    </a:lnTo>
                  </a:path>
                </a:pathLst>
              </a:custGeom>
              <a:noFill/>
              <a:ln w="20637">
                <a:solidFill>
                  <a:srgbClr val="C45F4A"/>
                </a:solidFill>
              </a:ln>
            </p:spPr>
          </p:sp>
          <p:sp>
            <p:nvSpPr>
              <p:cNvPr id="41" name="Freeform 41"/>
              <p:cNvSpPr/>
              <p:nvPr/>
            </p:nvSpPr>
            <p:spPr>
              <a:xfrm>
                <a:off x="3775075" y="2417762"/>
                <a:ext cx="9525" cy="113506"/>
              </a:xfrm>
              <a:custGeom>
                <a:avLst/>
                <a:gdLst/>
                <a:ahLst/>
                <a:cxnLst/>
                <a:rect l="l" t="t" r="r" b="b"/>
                <a:pathLst>
                  <a:path w="9525" h="113506">
                    <a:moveTo>
                      <a:pt x="0" y="0"/>
                    </a:moveTo>
                    <a:lnTo>
                      <a:pt x="0" y="113506"/>
                    </a:lnTo>
                  </a:path>
                </a:pathLst>
              </a:custGeom>
              <a:noFill/>
              <a:ln w="20637">
                <a:solidFill>
                  <a:srgbClr val="C45F4A"/>
                </a:solidFill>
              </a:ln>
            </p:spPr>
          </p:sp>
          <p:sp>
            <p:nvSpPr>
              <p:cNvPr id="42" name="Freeform 42"/>
              <p:cNvSpPr/>
              <p:nvPr/>
            </p:nvSpPr>
            <p:spPr>
              <a:xfrm>
                <a:off x="3940174" y="2417762"/>
                <a:ext cx="9525" cy="113506"/>
              </a:xfrm>
              <a:custGeom>
                <a:avLst/>
                <a:gdLst/>
                <a:ahLst/>
                <a:cxnLst/>
                <a:rect l="l" t="t" r="r" b="b"/>
                <a:pathLst>
                  <a:path w="9525" h="113506">
                    <a:moveTo>
                      <a:pt x="0" y="0"/>
                    </a:moveTo>
                    <a:lnTo>
                      <a:pt x="0" y="113506"/>
                    </a:lnTo>
                  </a:path>
                </a:pathLst>
              </a:custGeom>
              <a:noFill/>
              <a:ln w="20637">
                <a:solidFill>
                  <a:srgbClr val="C45F4A"/>
                </a:solidFill>
              </a:ln>
            </p:spPr>
          </p:sp>
          <p:sp>
            <p:nvSpPr>
              <p:cNvPr id="43" name="Freeform 43"/>
              <p:cNvSpPr/>
              <p:nvPr/>
            </p:nvSpPr>
            <p:spPr>
              <a:xfrm>
                <a:off x="3816350" y="2459037"/>
                <a:ext cx="9525" cy="30956"/>
              </a:xfrm>
              <a:custGeom>
                <a:avLst/>
                <a:gdLst/>
                <a:ahLst/>
                <a:cxnLst/>
                <a:rect l="l" t="t" r="r" b="b"/>
                <a:pathLst>
                  <a:path w="9525" h="30956">
                    <a:moveTo>
                      <a:pt x="0" y="0"/>
                    </a:moveTo>
                    <a:lnTo>
                      <a:pt x="0" y="30956"/>
                    </a:lnTo>
                  </a:path>
                </a:pathLst>
              </a:custGeom>
              <a:noFill/>
              <a:ln w="20637">
                <a:solidFill>
                  <a:srgbClr val="C45F4A"/>
                </a:solidFill>
              </a:ln>
            </p:spPr>
          </p:sp>
          <p:sp>
            <p:nvSpPr>
              <p:cNvPr id="44" name="Freeform 44"/>
              <p:cNvSpPr/>
              <p:nvPr/>
            </p:nvSpPr>
            <p:spPr>
              <a:xfrm>
                <a:off x="3857625" y="2459037"/>
                <a:ext cx="9525" cy="30956"/>
              </a:xfrm>
              <a:custGeom>
                <a:avLst/>
                <a:gdLst/>
                <a:ahLst/>
                <a:cxnLst/>
                <a:rect l="l" t="t" r="r" b="b"/>
                <a:pathLst>
                  <a:path w="9525" h="30956">
                    <a:moveTo>
                      <a:pt x="0" y="0"/>
                    </a:moveTo>
                    <a:lnTo>
                      <a:pt x="0" y="30956"/>
                    </a:lnTo>
                  </a:path>
                </a:pathLst>
              </a:custGeom>
              <a:noFill/>
              <a:ln w="20637">
                <a:solidFill>
                  <a:srgbClr val="C45F4A"/>
                </a:solidFill>
              </a:ln>
            </p:spPr>
          </p:sp>
          <p:sp>
            <p:nvSpPr>
              <p:cNvPr id="45" name="Freeform 45"/>
              <p:cNvSpPr/>
              <p:nvPr/>
            </p:nvSpPr>
            <p:spPr>
              <a:xfrm>
                <a:off x="3898899" y="2459037"/>
                <a:ext cx="9525" cy="30956"/>
              </a:xfrm>
              <a:custGeom>
                <a:avLst/>
                <a:gdLst/>
                <a:ahLst/>
                <a:cxnLst/>
                <a:rect l="l" t="t" r="r" b="b"/>
                <a:pathLst>
                  <a:path w="9525" h="30956">
                    <a:moveTo>
                      <a:pt x="0" y="0"/>
                    </a:moveTo>
                    <a:lnTo>
                      <a:pt x="0" y="30956"/>
                    </a:lnTo>
                  </a:path>
                </a:pathLst>
              </a:custGeom>
              <a:noFill/>
              <a:ln w="20637">
                <a:solidFill>
                  <a:srgbClr val="C45F4A"/>
                </a:solidFill>
              </a:ln>
            </p:spPr>
          </p:sp>
        </p:grpSp>
        <p:sp>
          <p:nvSpPr>
            <p:cNvPr id="47" name="TextBox 47"/>
            <p:cNvSpPr txBox="1"/>
            <p:nvPr/>
          </p:nvSpPr>
          <p:spPr>
            <a:xfrm>
              <a:off x="3693224" y="2719388"/>
              <a:ext cx="328803"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企业A​</a:t>
              </a:r>
            </a:p>
          </p:txBody>
        </p:sp>
        <p:sp>
          <p:nvSpPr>
            <p:cNvPr id="48" name="Ellipse 48"/>
            <p:cNvSpPr/>
            <p:nvPr/>
          </p:nvSpPr>
          <p:spPr>
            <a:xfrm>
              <a:off x="4410075" y="2228850"/>
              <a:ext cx="419100" cy="419100"/>
            </a:xfrm>
            <a:prstGeom prst="ellipse">
              <a:avLst/>
            </a:prstGeom>
            <a:solidFill>
              <a:srgbClr val="E8EBF8"/>
            </a:solidFill>
            <a:ln w="9525">
              <a:solidFill>
                <a:srgbClr val="E08C7B"/>
              </a:solidFill>
            </a:ln>
          </p:spPr>
        </p:sp>
        <p:grpSp>
          <p:nvGrpSpPr>
            <p:cNvPr id="57" name="Group 57"/>
            <p:cNvGrpSpPr/>
            <p:nvPr/>
          </p:nvGrpSpPr>
          <p:grpSpPr>
            <a:xfrm>
              <a:off x="4526756" y="2345531"/>
              <a:ext cx="185737" cy="195262"/>
              <a:chOff x="4526756" y="2345531"/>
              <a:chExt cx="185737" cy="195262"/>
            </a:xfrm>
          </p:grpSpPr>
          <p:sp>
            <p:nvSpPr>
              <p:cNvPr id="49" name="Freeform 49"/>
              <p:cNvSpPr/>
              <p:nvPr/>
            </p:nvSpPr>
            <p:spPr>
              <a:xfrm>
                <a:off x="4526756" y="2531268"/>
                <a:ext cx="185737" cy="9525"/>
              </a:xfrm>
              <a:custGeom>
                <a:avLst/>
                <a:gdLst/>
                <a:ahLst/>
                <a:cxnLst/>
                <a:rect l="l" t="t" r="r" b="b"/>
                <a:pathLst>
                  <a:path w="185737" h="9525">
                    <a:moveTo>
                      <a:pt x="0" y="0"/>
                    </a:moveTo>
                    <a:lnTo>
                      <a:pt x="185737" y="0"/>
                    </a:lnTo>
                  </a:path>
                </a:pathLst>
              </a:custGeom>
              <a:noFill/>
              <a:ln w="20637">
                <a:solidFill>
                  <a:srgbClr val="C45F4A"/>
                </a:solidFill>
              </a:ln>
            </p:spPr>
          </p:sp>
          <p:sp>
            <p:nvSpPr>
              <p:cNvPr id="50" name="Freeform 50"/>
              <p:cNvSpPr/>
              <p:nvPr/>
            </p:nvSpPr>
            <p:spPr>
              <a:xfrm>
                <a:off x="4526756" y="2417762"/>
                <a:ext cx="185737" cy="9525"/>
              </a:xfrm>
              <a:custGeom>
                <a:avLst/>
                <a:gdLst/>
                <a:ahLst/>
                <a:cxnLst/>
                <a:rect l="l" t="t" r="r" b="b"/>
                <a:pathLst>
                  <a:path w="185737" h="9525">
                    <a:moveTo>
                      <a:pt x="0" y="0"/>
                    </a:moveTo>
                    <a:lnTo>
                      <a:pt x="185737" y="0"/>
                    </a:lnTo>
                  </a:path>
                </a:pathLst>
              </a:custGeom>
              <a:noFill/>
              <a:ln w="20637">
                <a:solidFill>
                  <a:srgbClr val="C45F4A"/>
                </a:solidFill>
              </a:ln>
            </p:spPr>
          </p:sp>
          <p:sp>
            <p:nvSpPr>
              <p:cNvPr id="51" name="Freeform 51"/>
              <p:cNvSpPr/>
              <p:nvPr/>
            </p:nvSpPr>
            <p:spPr>
              <a:xfrm>
                <a:off x="4547394" y="2345531"/>
                <a:ext cx="144462" cy="30956"/>
              </a:xfrm>
              <a:custGeom>
                <a:avLst/>
                <a:gdLst/>
                <a:ahLst/>
                <a:cxnLst/>
                <a:rect l="l" t="t" r="r" b="b"/>
                <a:pathLst>
                  <a:path w="144462" h="30956">
                    <a:moveTo>
                      <a:pt x="0" y="30956"/>
                    </a:moveTo>
                    <a:lnTo>
                      <a:pt x="72231" y="0"/>
                    </a:lnTo>
                    <a:lnTo>
                      <a:pt x="144462" y="30956"/>
                    </a:lnTo>
                  </a:path>
                </a:pathLst>
              </a:custGeom>
              <a:noFill/>
              <a:ln w="20637">
                <a:solidFill>
                  <a:srgbClr val="C45F4A"/>
                </a:solidFill>
              </a:ln>
            </p:spPr>
          </p:sp>
          <p:sp>
            <p:nvSpPr>
              <p:cNvPr id="52" name="Freeform 52"/>
              <p:cNvSpPr/>
              <p:nvPr/>
            </p:nvSpPr>
            <p:spPr>
              <a:xfrm>
                <a:off x="4537075" y="2417762"/>
                <a:ext cx="9525" cy="113506"/>
              </a:xfrm>
              <a:custGeom>
                <a:avLst/>
                <a:gdLst/>
                <a:ahLst/>
                <a:cxnLst/>
                <a:rect l="l" t="t" r="r" b="b"/>
                <a:pathLst>
                  <a:path w="9525" h="113506">
                    <a:moveTo>
                      <a:pt x="0" y="0"/>
                    </a:moveTo>
                    <a:lnTo>
                      <a:pt x="0" y="113506"/>
                    </a:lnTo>
                  </a:path>
                </a:pathLst>
              </a:custGeom>
              <a:noFill/>
              <a:ln w="20637">
                <a:solidFill>
                  <a:srgbClr val="C45F4A"/>
                </a:solidFill>
              </a:ln>
            </p:spPr>
          </p:sp>
          <p:sp>
            <p:nvSpPr>
              <p:cNvPr id="53" name="Freeform 53"/>
              <p:cNvSpPr/>
              <p:nvPr/>
            </p:nvSpPr>
            <p:spPr>
              <a:xfrm>
                <a:off x="4702174" y="2417762"/>
                <a:ext cx="9525" cy="113506"/>
              </a:xfrm>
              <a:custGeom>
                <a:avLst/>
                <a:gdLst/>
                <a:ahLst/>
                <a:cxnLst/>
                <a:rect l="l" t="t" r="r" b="b"/>
                <a:pathLst>
                  <a:path w="9525" h="113506">
                    <a:moveTo>
                      <a:pt x="0" y="0"/>
                    </a:moveTo>
                    <a:lnTo>
                      <a:pt x="0" y="113506"/>
                    </a:lnTo>
                  </a:path>
                </a:pathLst>
              </a:custGeom>
              <a:noFill/>
              <a:ln w="20637">
                <a:solidFill>
                  <a:srgbClr val="C45F4A"/>
                </a:solidFill>
              </a:ln>
            </p:spPr>
          </p:sp>
          <p:sp>
            <p:nvSpPr>
              <p:cNvPr id="54" name="Freeform 54"/>
              <p:cNvSpPr/>
              <p:nvPr/>
            </p:nvSpPr>
            <p:spPr>
              <a:xfrm>
                <a:off x="4578350" y="2459037"/>
                <a:ext cx="9525" cy="30956"/>
              </a:xfrm>
              <a:custGeom>
                <a:avLst/>
                <a:gdLst/>
                <a:ahLst/>
                <a:cxnLst/>
                <a:rect l="l" t="t" r="r" b="b"/>
                <a:pathLst>
                  <a:path w="9525" h="30956">
                    <a:moveTo>
                      <a:pt x="0" y="0"/>
                    </a:moveTo>
                    <a:lnTo>
                      <a:pt x="0" y="30956"/>
                    </a:lnTo>
                  </a:path>
                </a:pathLst>
              </a:custGeom>
              <a:noFill/>
              <a:ln w="20637">
                <a:solidFill>
                  <a:srgbClr val="C45F4A"/>
                </a:solidFill>
              </a:ln>
            </p:spPr>
          </p:sp>
          <p:sp>
            <p:nvSpPr>
              <p:cNvPr id="55" name="Freeform 55"/>
              <p:cNvSpPr/>
              <p:nvPr/>
            </p:nvSpPr>
            <p:spPr>
              <a:xfrm>
                <a:off x="4619625" y="2459037"/>
                <a:ext cx="9525" cy="30956"/>
              </a:xfrm>
              <a:custGeom>
                <a:avLst/>
                <a:gdLst/>
                <a:ahLst/>
                <a:cxnLst/>
                <a:rect l="l" t="t" r="r" b="b"/>
                <a:pathLst>
                  <a:path w="9525" h="30956">
                    <a:moveTo>
                      <a:pt x="0" y="0"/>
                    </a:moveTo>
                    <a:lnTo>
                      <a:pt x="0" y="30956"/>
                    </a:lnTo>
                  </a:path>
                </a:pathLst>
              </a:custGeom>
              <a:noFill/>
              <a:ln w="20637">
                <a:solidFill>
                  <a:srgbClr val="C45F4A"/>
                </a:solidFill>
              </a:ln>
            </p:spPr>
          </p:sp>
          <p:sp>
            <p:nvSpPr>
              <p:cNvPr id="56" name="Freeform 56"/>
              <p:cNvSpPr/>
              <p:nvPr/>
            </p:nvSpPr>
            <p:spPr>
              <a:xfrm>
                <a:off x="4660899" y="2459037"/>
                <a:ext cx="9525" cy="30956"/>
              </a:xfrm>
              <a:custGeom>
                <a:avLst/>
                <a:gdLst/>
                <a:ahLst/>
                <a:cxnLst/>
                <a:rect l="l" t="t" r="r" b="b"/>
                <a:pathLst>
                  <a:path w="9525" h="30956">
                    <a:moveTo>
                      <a:pt x="0" y="0"/>
                    </a:moveTo>
                    <a:lnTo>
                      <a:pt x="0" y="30956"/>
                    </a:lnTo>
                  </a:path>
                </a:pathLst>
              </a:custGeom>
              <a:noFill/>
              <a:ln w="20637">
                <a:solidFill>
                  <a:srgbClr val="C45F4A"/>
                </a:solidFill>
              </a:ln>
            </p:spPr>
          </p:sp>
        </p:grpSp>
        <p:sp>
          <p:nvSpPr>
            <p:cNvPr id="58" name="TextBox 58"/>
            <p:cNvSpPr txBox="1"/>
            <p:nvPr/>
          </p:nvSpPr>
          <p:spPr>
            <a:xfrm>
              <a:off x="4455224" y="2719388"/>
              <a:ext cx="328803"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企业B​</a:t>
              </a:r>
            </a:p>
          </p:txBody>
        </p:sp>
      </p:grpSp>
      <p:grpSp>
        <p:nvGrpSpPr>
          <p:cNvPr id="106" name="card-type2"/>
          <p:cNvGrpSpPr/>
          <p:nvPr/>
        </p:nvGrpSpPr>
        <p:grpSpPr>
          <a:xfrm>
            <a:off x="6762750" y="1190625"/>
            <a:ext cx="4953000" cy="2047875"/>
            <a:chOff x="6762750" y="1190625"/>
            <a:chExt cx="4953000" cy="2047875"/>
          </a:xfrm>
        </p:grpSpPr>
        <p:sp>
          <p:nvSpPr>
            <p:cNvPr id="60" name="Rectangle 60"/>
            <p:cNvSpPr/>
            <p:nvPr/>
          </p:nvSpPr>
          <p:spPr>
            <a:xfrm>
              <a:off x="6762750" y="1190625"/>
              <a:ext cx="4953000" cy="2047875"/>
            </a:xfrm>
            <a:prstGeom prst="roundRect">
              <a:avLst>
                <a:gd name="adj" fmla="val 3721"/>
              </a:avLst>
            </a:prstGeom>
            <a:solidFill>
              <a:srgbClr val="FFFFFF"/>
            </a:solidFill>
            <a:ln>
              <a:noFill/>
            </a:ln>
            <a:effectLst>
              <a:outerShdw blurRad="152400" dist="57150" dir="5400000" algn="ctr" rotWithShape="0">
                <a:srgbClr val="C45F4A">
                  <a:alpha val="7500"/>
                </a:srgbClr>
              </a:outerShdw>
            </a:effectLst>
          </p:spPr>
        </p:sp>
        <p:sp>
          <p:nvSpPr>
            <p:cNvPr id="61" name="Rectangle 61"/>
            <p:cNvSpPr/>
            <p:nvPr/>
          </p:nvSpPr>
          <p:spPr>
            <a:xfrm>
              <a:off x="6762750" y="1190625"/>
              <a:ext cx="4953000" cy="323850"/>
            </a:xfrm>
            <a:prstGeom prst="roundRect">
              <a:avLst>
                <a:gd name="adj" fmla="val 23529"/>
              </a:avLst>
            </a:prstGeom>
            <a:solidFill>
              <a:srgbClr val="E8634C"/>
            </a:solidFill>
            <a:ln>
              <a:noFill/>
            </a:ln>
          </p:spPr>
        </p:sp>
        <p:sp>
          <p:nvSpPr>
            <p:cNvPr id="62" name="Rectangle 62"/>
            <p:cNvSpPr/>
            <p:nvPr/>
          </p:nvSpPr>
          <p:spPr>
            <a:xfrm>
              <a:off x="6762750" y="1381125"/>
              <a:ext cx="4953000" cy="133350"/>
            </a:xfrm>
            <a:prstGeom prst="rect">
              <a:avLst/>
            </a:prstGeom>
            <a:solidFill>
              <a:srgbClr val="E8634C"/>
            </a:solidFill>
            <a:ln>
              <a:noFill/>
            </a:ln>
          </p:spPr>
        </p:sp>
        <p:sp>
          <p:nvSpPr>
            <p:cNvPr id="63" name="TextBox 63"/>
            <p:cNvSpPr txBox="1"/>
            <p:nvPr/>
          </p:nvSpPr>
          <p:spPr>
            <a:xfrm>
              <a:off x="6909435" y="12977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放射矩阵</a:t>
              </a:r>
            </a:p>
          </p:txBody>
        </p:sp>
        <p:sp>
          <p:nvSpPr>
            <p:cNvPr id="64" name="TextBox 64"/>
            <p:cNvSpPr txBox="1"/>
            <p:nvPr/>
          </p:nvSpPr>
          <p:spPr>
            <a:xfrm>
              <a:off x="10938205" y="1305878"/>
              <a:ext cx="630479" cy="205359"/>
            </a:xfrm>
            <a:prstGeom prst="rect">
              <a:avLst/>
            </a:prstGeom>
            <a:noFill/>
            <a:ln>
              <a:noFill/>
            </a:ln>
          </p:spPr>
          <p:txBody>
            <a:bodyPr wrap="none" lIns="0" tIns="0" rIns="0" bIns="0" anchor="t" anchorCtr="0">
              <a:spAutoFit/>
            </a:bodyPr>
            <a:lstStyle/>
            <a:p>
              <a:pPr algn="r"/>
              <a:r>
                <a:rPr lang="en-US" sz="1050" dirty="0">
                  <a:solidFill>
                    <a:srgbClr val="FFFFFF"/>
                  </a:solidFill>
                  <a:latin typeface="+mn-lt"/>
                  <a:ea typeface="+mn-ea"/>
                  <a:cs typeface="+mn-cs"/>
                </a:rPr>
                <a:t>TYPE 2.​</a:t>
              </a:r>
            </a:p>
          </p:txBody>
        </p:sp>
        <p:sp>
          <p:nvSpPr>
            <p:cNvPr id="65" name="Rectangle 65"/>
            <p:cNvSpPr/>
            <p:nvPr/>
          </p:nvSpPr>
          <p:spPr>
            <a:xfrm>
              <a:off x="6877050" y="1638300"/>
              <a:ext cx="28575" cy="133350"/>
            </a:xfrm>
            <a:prstGeom prst="rect">
              <a:avLst/>
            </a:prstGeom>
            <a:solidFill>
              <a:srgbClr val="E8634C"/>
            </a:solidFill>
            <a:ln>
              <a:noFill/>
            </a:ln>
          </p:spPr>
        </p:sp>
        <p:sp>
          <p:nvSpPr>
            <p:cNvPr id="66" name="TextBox 66"/>
            <p:cNvSpPr txBox="1"/>
            <p:nvPr/>
          </p:nvSpPr>
          <p:spPr>
            <a:xfrm>
              <a:off x="6967538" y="1659493"/>
              <a:ext cx="1691513" cy="492919"/>
            </a:xfrm>
            <a:prstGeom prst="rect">
              <a:avLst/>
            </a:prstGeom>
            <a:noFill/>
            <a:ln>
              <a:noFill/>
            </a:ln>
          </p:spPr>
          <p:txBody>
            <a:bodyPr wrap="none" lIns="0" tIns="0" rIns="0" bIns="0" anchor="t" anchorCtr="0">
              <a:spAutoFit/>
            </a:bodyPr>
            <a:lstStyle/>
            <a:p>
              <a:pPr algn="l">
                <a:lnSpc>
                  <a:spcPts val="1275"/>
                </a:lnSpc>
              </a:pPr>
              <a:r>
                <a:rPr lang="zh-CN" sz="860" b="1" dirty="0">
                  <a:solidFill>
                    <a:srgbClr val="E2624C"/>
                  </a:solidFill>
                  <a:latin typeface="+mn-lt"/>
                  <a:ea typeface="+mn-ea"/>
                  <a:cs typeface="+mn-cs"/>
                </a:rPr>
                <a:t>特征：</a:t>
              </a:r>
              <a:r>
                <a:rPr lang="zh-CN" sz="860" dirty="0">
                  <a:solidFill>
                    <a:srgbClr val="543E3A"/>
                  </a:solidFill>
                  <a:latin typeface="+mn-lt"/>
                  <a:ea typeface="+mn-ea"/>
                  <a:cs typeface="+mn-cs"/>
                </a:rPr>
                <a:t>“双面搭配; 开设两类账号，</a:t>
              </a:r>
              <a:br/>
              <a:r>
                <a:rPr lang="zh-CN" sz="860" dirty="0">
                  <a:solidFill>
                    <a:srgbClr val="543E3A"/>
                  </a:solidFill>
                  <a:latin typeface="+mn-lt"/>
                  <a:ea typeface="+mn-ea"/>
                  <a:cs typeface="+mn-cs"/>
                </a:rPr>
                <a:t>一类进行企业文化输出，另一类介</a:t>
              </a:r>
              <a:br/>
              <a:r>
                <a:rPr lang="zh-CN" sz="860" dirty="0">
                  <a:solidFill>
                    <a:srgbClr val="543E3A"/>
                  </a:solidFill>
                  <a:latin typeface="+mn-lt"/>
                  <a:ea typeface="+mn-ea"/>
                  <a:cs typeface="+mn-cs"/>
                </a:rPr>
                <a:t>绍商品促成转化。</a:t>
              </a:r>
            </a:p>
          </p:txBody>
        </p:sp>
        <p:sp>
          <p:nvSpPr>
            <p:cNvPr id="67" name="Rectangle 67"/>
            <p:cNvSpPr/>
            <p:nvPr/>
          </p:nvSpPr>
          <p:spPr>
            <a:xfrm>
              <a:off x="6877050" y="2305050"/>
              <a:ext cx="28575" cy="133350"/>
            </a:xfrm>
            <a:prstGeom prst="rect">
              <a:avLst/>
            </a:prstGeom>
            <a:solidFill>
              <a:srgbClr val="E8634C"/>
            </a:solidFill>
            <a:ln>
              <a:noFill/>
            </a:ln>
          </p:spPr>
        </p:sp>
        <p:sp>
          <p:nvSpPr>
            <p:cNvPr id="68" name="TextBox 68"/>
            <p:cNvSpPr txBox="1"/>
            <p:nvPr/>
          </p:nvSpPr>
          <p:spPr>
            <a:xfrm>
              <a:off x="6967538" y="2326243"/>
              <a:ext cx="1757045" cy="492919"/>
            </a:xfrm>
            <a:prstGeom prst="rect">
              <a:avLst/>
            </a:prstGeom>
            <a:noFill/>
            <a:ln>
              <a:noFill/>
            </a:ln>
          </p:spPr>
          <p:txBody>
            <a:bodyPr wrap="none" lIns="0" tIns="0" rIns="0" bIns="0" anchor="t" anchorCtr="0">
              <a:spAutoFit/>
            </a:bodyPr>
            <a:lstStyle/>
            <a:p>
              <a:pPr algn="l">
                <a:lnSpc>
                  <a:spcPts val="1275"/>
                </a:lnSpc>
              </a:pPr>
              <a:r>
                <a:rPr lang="zh-CN" sz="860" b="1" dirty="0">
                  <a:solidFill>
                    <a:srgbClr val="E2624C"/>
                  </a:solidFill>
                  <a:latin typeface="+mn-lt"/>
                  <a:ea typeface="+mn-ea"/>
                  <a:cs typeface="+mn-cs"/>
                </a:rPr>
                <a:t>优势与适用：</a:t>
              </a:r>
              <a:r>
                <a:rPr lang="zh-CN" sz="860" dirty="0">
                  <a:solidFill>
                    <a:srgbClr val="543E3A"/>
                  </a:solidFill>
                  <a:latin typeface="+mn-lt"/>
                  <a:ea typeface="+mn-ea"/>
                  <a:cs typeface="+mn-cs"/>
                </a:rPr>
                <a:t>形象转化两手抓，增大</a:t>
              </a:r>
              <a:br/>
              <a:r>
                <a:rPr lang="zh-CN" sz="860" dirty="0">
                  <a:solidFill>
                    <a:srgbClr val="543E3A"/>
                  </a:solidFill>
                  <a:latin typeface="+mn-lt"/>
                  <a:ea typeface="+mn-ea"/>
                  <a:cs typeface="+mn-cs"/>
                </a:rPr>
                <a:t>企业号带来的积极影响。适用于需要</a:t>
              </a:r>
              <a:br/>
              <a:r>
                <a:rPr lang="zh-CN" sz="860" dirty="0">
                  <a:solidFill>
                    <a:srgbClr val="543E3A"/>
                  </a:solidFill>
                  <a:latin typeface="+mn-lt"/>
                  <a:ea typeface="+mn-ea"/>
                  <a:cs typeface="+mn-cs"/>
                </a:rPr>
                <a:t>蓝康企业形象建设。</a:t>
              </a:r>
            </a:p>
          </p:txBody>
        </p:sp>
        <p:sp>
          <p:nvSpPr>
            <p:cNvPr id="69" name="Ellipse 69"/>
            <p:cNvSpPr/>
            <p:nvPr/>
          </p:nvSpPr>
          <p:spPr>
            <a:xfrm>
              <a:off x="10315575" y="1581150"/>
              <a:ext cx="419100" cy="419100"/>
            </a:xfrm>
            <a:prstGeom prst="ellipse">
              <a:avLst/>
            </a:prstGeom>
            <a:solidFill>
              <a:srgbClr val="E8EBF8"/>
            </a:solidFill>
            <a:ln w="9525">
              <a:solidFill>
                <a:srgbClr val="E08C7B"/>
              </a:solidFill>
            </a:ln>
          </p:spPr>
        </p:sp>
        <p:grpSp>
          <p:nvGrpSpPr>
            <p:cNvPr id="78" name="Group 78"/>
            <p:cNvGrpSpPr/>
            <p:nvPr/>
          </p:nvGrpSpPr>
          <p:grpSpPr>
            <a:xfrm>
              <a:off x="10432256" y="1697831"/>
              <a:ext cx="185737" cy="195262"/>
              <a:chOff x="10432256" y="1697831"/>
              <a:chExt cx="185737" cy="195262"/>
            </a:xfrm>
          </p:grpSpPr>
          <p:sp>
            <p:nvSpPr>
              <p:cNvPr id="70" name="Freeform 70"/>
              <p:cNvSpPr/>
              <p:nvPr/>
            </p:nvSpPr>
            <p:spPr>
              <a:xfrm>
                <a:off x="10432256" y="1883568"/>
                <a:ext cx="185737" cy="9525"/>
              </a:xfrm>
              <a:custGeom>
                <a:avLst/>
                <a:gdLst/>
                <a:ahLst/>
                <a:cxnLst/>
                <a:rect l="l" t="t" r="r" b="b"/>
                <a:pathLst>
                  <a:path w="185737" h="9525">
                    <a:moveTo>
                      <a:pt x="0" y="0"/>
                    </a:moveTo>
                    <a:lnTo>
                      <a:pt x="185737" y="0"/>
                    </a:lnTo>
                  </a:path>
                </a:pathLst>
              </a:custGeom>
              <a:noFill/>
              <a:ln w="20637">
                <a:solidFill>
                  <a:srgbClr val="C45F4A"/>
                </a:solidFill>
              </a:ln>
            </p:spPr>
          </p:sp>
          <p:sp>
            <p:nvSpPr>
              <p:cNvPr id="71" name="Freeform 71"/>
              <p:cNvSpPr/>
              <p:nvPr/>
            </p:nvSpPr>
            <p:spPr>
              <a:xfrm>
                <a:off x="10432256" y="1770062"/>
                <a:ext cx="185737" cy="9525"/>
              </a:xfrm>
              <a:custGeom>
                <a:avLst/>
                <a:gdLst/>
                <a:ahLst/>
                <a:cxnLst/>
                <a:rect l="l" t="t" r="r" b="b"/>
                <a:pathLst>
                  <a:path w="185737" h="9525">
                    <a:moveTo>
                      <a:pt x="0" y="0"/>
                    </a:moveTo>
                    <a:lnTo>
                      <a:pt x="185737" y="0"/>
                    </a:lnTo>
                  </a:path>
                </a:pathLst>
              </a:custGeom>
              <a:noFill/>
              <a:ln w="20637">
                <a:solidFill>
                  <a:srgbClr val="C45F4A"/>
                </a:solidFill>
              </a:ln>
            </p:spPr>
          </p:sp>
          <p:sp>
            <p:nvSpPr>
              <p:cNvPr id="72" name="Freeform 72"/>
              <p:cNvSpPr/>
              <p:nvPr/>
            </p:nvSpPr>
            <p:spPr>
              <a:xfrm>
                <a:off x="10452894" y="1697831"/>
                <a:ext cx="144462" cy="30956"/>
              </a:xfrm>
              <a:custGeom>
                <a:avLst/>
                <a:gdLst/>
                <a:ahLst/>
                <a:cxnLst/>
                <a:rect l="l" t="t" r="r" b="b"/>
                <a:pathLst>
                  <a:path w="144462" h="30956">
                    <a:moveTo>
                      <a:pt x="0" y="30956"/>
                    </a:moveTo>
                    <a:lnTo>
                      <a:pt x="72231" y="0"/>
                    </a:lnTo>
                    <a:lnTo>
                      <a:pt x="144462" y="30956"/>
                    </a:lnTo>
                  </a:path>
                </a:pathLst>
              </a:custGeom>
              <a:noFill/>
              <a:ln w="20637">
                <a:solidFill>
                  <a:srgbClr val="C45F4A"/>
                </a:solidFill>
              </a:ln>
            </p:spPr>
          </p:sp>
          <p:sp>
            <p:nvSpPr>
              <p:cNvPr id="73" name="Freeform 73"/>
              <p:cNvSpPr/>
              <p:nvPr/>
            </p:nvSpPr>
            <p:spPr>
              <a:xfrm>
                <a:off x="10442575" y="1770062"/>
                <a:ext cx="9525" cy="113506"/>
              </a:xfrm>
              <a:custGeom>
                <a:avLst/>
                <a:gdLst/>
                <a:ahLst/>
                <a:cxnLst/>
                <a:rect l="l" t="t" r="r" b="b"/>
                <a:pathLst>
                  <a:path w="9525" h="113506">
                    <a:moveTo>
                      <a:pt x="0" y="0"/>
                    </a:moveTo>
                    <a:lnTo>
                      <a:pt x="0" y="113506"/>
                    </a:lnTo>
                  </a:path>
                </a:pathLst>
              </a:custGeom>
              <a:noFill/>
              <a:ln w="20637">
                <a:solidFill>
                  <a:srgbClr val="C45F4A"/>
                </a:solidFill>
              </a:ln>
            </p:spPr>
          </p:sp>
          <p:sp>
            <p:nvSpPr>
              <p:cNvPr id="74" name="Freeform 74"/>
              <p:cNvSpPr/>
              <p:nvPr/>
            </p:nvSpPr>
            <p:spPr>
              <a:xfrm>
                <a:off x="10607674" y="1770062"/>
                <a:ext cx="9525" cy="113506"/>
              </a:xfrm>
              <a:custGeom>
                <a:avLst/>
                <a:gdLst/>
                <a:ahLst/>
                <a:cxnLst/>
                <a:rect l="l" t="t" r="r" b="b"/>
                <a:pathLst>
                  <a:path w="9525" h="113506">
                    <a:moveTo>
                      <a:pt x="0" y="0"/>
                    </a:moveTo>
                    <a:lnTo>
                      <a:pt x="0" y="113506"/>
                    </a:lnTo>
                  </a:path>
                </a:pathLst>
              </a:custGeom>
              <a:noFill/>
              <a:ln w="20637">
                <a:solidFill>
                  <a:srgbClr val="C45F4A"/>
                </a:solidFill>
              </a:ln>
            </p:spPr>
          </p:sp>
          <p:sp>
            <p:nvSpPr>
              <p:cNvPr id="75" name="Freeform 75"/>
              <p:cNvSpPr/>
              <p:nvPr/>
            </p:nvSpPr>
            <p:spPr>
              <a:xfrm>
                <a:off x="10483850" y="1811337"/>
                <a:ext cx="9525" cy="30956"/>
              </a:xfrm>
              <a:custGeom>
                <a:avLst/>
                <a:gdLst/>
                <a:ahLst/>
                <a:cxnLst/>
                <a:rect l="l" t="t" r="r" b="b"/>
                <a:pathLst>
                  <a:path w="9525" h="30956">
                    <a:moveTo>
                      <a:pt x="0" y="0"/>
                    </a:moveTo>
                    <a:lnTo>
                      <a:pt x="0" y="30956"/>
                    </a:lnTo>
                  </a:path>
                </a:pathLst>
              </a:custGeom>
              <a:noFill/>
              <a:ln w="20637">
                <a:solidFill>
                  <a:srgbClr val="C45F4A"/>
                </a:solidFill>
              </a:ln>
            </p:spPr>
          </p:sp>
          <p:sp>
            <p:nvSpPr>
              <p:cNvPr id="76" name="Freeform 76"/>
              <p:cNvSpPr/>
              <p:nvPr/>
            </p:nvSpPr>
            <p:spPr>
              <a:xfrm>
                <a:off x="10525125" y="1811337"/>
                <a:ext cx="9525" cy="30956"/>
              </a:xfrm>
              <a:custGeom>
                <a:avLst/>
                <a:gdLst/>
                <a:ahLst/>
                <a:cxnLst/>
                <a:rect l="l" t="t" r="r" b="b"/>
                <a:pathLst>
                  <a:path w="9525" h="30956">
                    <a:moveTo>
                      <a:pt x="0" y="0"/>
                    </a:moveTo>
                    <a:lnTo>
                      <a:pt x="0" y="30956"/>
                    </a:lnTo>
                  </a:path>
                </a:pathLst>
              </a:custGeom>
              <a:noFill/>
              <a:ln w="20637">
                <a:solidFill>
                  <a:srgbClr val="C45F4A"/>
                </a:solidFill>
              </a:ln>
            </p:spPr>
          </p:sp>
          <p:sp>
            <p:nvSpPr>
              <p:cNvPr id="77" name="Freeform 77"/>
              <p:cNvSpPr/>
              <p:nvPr/>
            </p:nvSpPr>
            <p:spPr>
              <a:xfrm>
                <a:off x="10566399" y="1811337"/>
                <a:ext cx="9525" cy="30956"/>
              </a:xfrm>
              <a:custGeom>
                <a:avLst/>
                <a:gdLst/>
                <a:ahLst/>
                <a:cxnLst/>
                <a:rect l="l" t="t" r="r" b="b"/>
                <a:pathLst>
                  <a:path w="9525" h="30956">
                    <a:moveTo>
                      <a:pt x="0" y="0"/>
                    </a:moveTo>
                    <a:lnTo>
                      <a:pt x="0" y="30956"/>
                    </a:lnTo>
                  </a:path>
                </a:pathLst>
              </a:custGeom>
              <a:noFill/>
              <a:ln w="20637">
                <a:solidFill>
                  <a:srgbClr val="C45F4A"/>
                </a:solidFill>
              </a:ln>
            </p:spPr>
          </p:sp>
        </p:grpSp>
        <p:sp>
          <p:nvSpPr>
            <p:cNvPr id="79" name="TextBox 79"/>
            <p:cNvSpPr txBox="1"/>
            <p:nvPr/>
          </p:nvSpPr>
          <p:spPr>
            <a:xfrm>
              <a:off x="10318432" y="2071688"/>
              <a:ext cx="413385"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企业官方</a:t>
              </a:r>
            </a:p>
          </p:txBody>
        </p:sp>
        <p:sp>
          <p:nvSpPr>
            <p:cNvPr id="80" name="Line 80"/>
            <p:cNvSpPr/>
            <p:nvPr/>
          </p:nvSpPr>
          <p:spPr>
            <a:xfrm>
              <a:off x="10525125" y="2209800"/>
              <a:ext cx="9525" cy="95250"/>
            </a:xfrm>
            <a:custGeom>
              <a:avLst/>
              <a:gdLst/>
              <a:ahLst/>
              <a:cxnLst/>
              <a:rect l="l" t="t" r="r" b="b"/>
              <a:pathLst>
                <a:path w="9525" h="95250">
                  <a:moveTo>
                    <a:pt x="0" y="0"/>
                  </a:moveTo>
                  <a:lnTo>
                    <a:pt x="0" y="95250"/>
                  </a:lnTo>
                </a:path>
              </a:pathLst>
            </a:custGeom>
            <a:noFill/>
            <a:ln w="9525">
              <a:solidFill>
                <a:srgbClr val="ECC1B8"/>
              </a:solidFill>
            </a:ln>
          </p:spPr>
        </p:sp>
        <p:sp>
          <p:nvSpPr>
            <p:cNvPr id="81" name="Line 81"/>
            <p:cNvSpPr/>
            <p:nvPr/>
          </p:nvSpPr>
          <p:spPr>
            <a:xfrm>
              <a:off x="9858375" y="2305050"/>
              <a:ext cx="1333500" cy="9525"/>
            </a:xfrm>
            <a:custGeom>
              <a:avLst/>
              <a:gdLst/>
              <a:ahLst/>
              <a:cxnLst/>
              <a:rect l="l" t="t" r="r" b="b"/>
              <a:pathLst>
                <a:path w="1333500" h="9525">
                  <a:moveTo>
                    <a:pt x="0" y="0"/>
                  </a:moveTo>
                  <a:lnTo>
                    <a:pt x="1333500" y="0"/>
                  </a:lnTo>
                </a:path>
              </a:pathLst>
            </a:custGeom>
            <a:noFill/>
            <a:ln w="9525">
              <a:solidFill>
                <a:srgbClr val="ECC1B8"/>
              </a:solidFill>
            </a:ln>
          </p:spPr>
        </p:sp>
        <p:sp>
          <p:nvSpPr>
            <p:cNvPr id="82" name="Line 82"/>
            <p:cNvSpPr/>
            <p:nvPr/>
          </p:nvSpPr>
          <p:spPr>
            <a:xfrm>
              <a:off x="9858375" y="230505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83" name="Line 83"/>
            <p:cNvSpPr/>
            <p:nvPr/>
          </p:nvSpPr>
          <p:spPr>
            <a:xfrm>
              <a:off x="10525125" y="230505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84" name="Line 84"/>
            <p:cNvSpPr/>
            <p:nvPr/>
          </p:nvSpPr>
          <p:spPr>
            <a:xfrm>
              <a:off x="11191875" y="230505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85" name="Ellipse 85"/>
            <p:cNvSpPr/>
            <p:nvPr/>
          </p:nvSpPr>
          <p:spPr>
            <a:xfrm>
              <a:off x="9667875" y="2400300"/>
              <a:ext cx="381000" cy="381000"/>
            </a:xfrm>
            <a:prstGeom prst="ellipse">
              <a:avLst/>
            </a:prstGeom>
            <a:solidFill>
              <a:srgbClr val="E8EBF8"/>
            </a:solidFill>
            <a:ln w="9525">
              <a:solidFill>
                <a:srgbClr val="E08C7B"/>
              </a:solidFill>
            </a:ln>
          </p:spPr>
        </p:sp>
        <p:grpSp>
          <p:nvGrpSpPr>
            <p:cNvPr id="90" name="Group 90"/>
            <p:cNvGrpSpPr/>
            <p:nvPr/>
          </p:nvGrpSpPr>
          <p:grpSpPr>
            <a:xfrm>
              <a:off x="9772650" y="2505075"/>
              <a:ext cx="171450" cy="171450"/>
              <a:chOff x="9772650" y="2505075"/>
              <a:chExt cx="171450" cy="171450"/>
            </a:xfrm>
          </p:grpSpPr>
          <p:sp>
            <p:nvSpPr>
              <p:cNvPr id="86" name="Freeform 86"/>
              <p:cNvSpPr/>
              <p:nvPr/>
            </p:nvSpPr>
            <p:spPr>
              <a:xfrm>
                <a:off x="9791700" y="25050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45F4A"/>
                </a:solidFill>
              </a:ln>
            </p:spPr>
          </p:sp>
          <p:sp>
            <p:nvSpPr>
              <p:cNvPr id="87" name="Freeform 87"/>
              <p:cNvSpPr/>
              <p:nvPr/>
            </p:nvSpPr>
            <p:spPr>
              <a:xfrm>
                <a:off x="9772650" y="26193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45F4A"/>
                </a:solidFill>
              </a:ln>
            </p:spPr>
          </p:sp>
          <p:sp>
            <p:nvSpPr>
              <p:cNvPr id="88" name="Freeform 88"/>
              <p:cNvSpPr/>
              <p:nvPr/>
            </p:nvSpPr>
            <p:spPr>
              <a:xfrm>
                <a:off x="9896475" y="25063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45F4A"/>
                </a:solidFill>
              </a:ln>
            </p:spPr>
          </p:sp>
          <p:sp>
            <p:nvSpPr>
              <p:cNvPr id="89" name="Freeform 89"/>
              <p:cNvSpPr/>
              <p:nvPr/>
            </p:nvSpPr>
            <p:spPr>
              <a:xfrm>
                <a:off x="9915525" y="26208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45F4A"/>
                </a:solidFill>
              </a:ln>
            </p:spPr>
          </p:sp>
        </p:grpSp>
        <p:sp>
          <p:nvSpPr>
            <p:cNvPr id="91" name="TextBox 91"/>
            <p:cNvSpPr txBox="1"/>
            <p:nvPr/>
          </p:nvSpPr>
          <p:spPr>
            <a:xfrm>
              <a:off x="9693974" y="2852738"/>
              <a:ext cx="328803"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企业A​</a:t>
              </a:r>
            </a:p>
          </p:txBody>
        </p:sp>
        <p:sp>
          <p:nvSpPr>
            <p:cNvPr id="92" name="Ellipse 92"/>
            <p:cNvSpPr/>
            <p:nvPr/>
          </p:nvSpPr>
          <p:spPr>
            <a:xfrm>
              <a:off x="10334625" y="2400300"/>
              <a:ext cx="381000" cy="381000"/>
            </a:xfrm>
            <a:prstGeom prst="ellipse">
              <a:avLst/>
            </a:prstGeom>
            <a:solidFill>
              <a:srgbClr val="E8EBF8"/>
            </a:solidFill>
            <a:ln w="9525">
              <a:solidFill>
                <a:srgbClr val="E08C7B"/>
              </a:solidFill>
            </a:ln>
          </p:spPr>
        </p:sp>
        <p:grpSp>
          <p:nvGrpSpPr>
            <p:cNvPr id="97" name="Group 97"/>
            <p:cNvGrpSpPr/>
            <p:nvPr/>
          </p:nvGrpSpPr>
          <p:grpSpPr>
            <a:xfrm>
              <a:off x="10439400" y="2505075"/>
              <a:ext cx="171450" cy="171450"/>
              <a:chOff x="10439400" y="2505075"/>
              <a:chExt cx="171450" cy="171450"/>
            </a:xfrm>
          </p:grpSpPr>
          <p:sp>
            <p:nvSpPr>
              <p:cNvPr id="93" name="Freeform 93"/>
              <p:cNvSpPr/>
              <p:nvPr/>
            </p:nvSpPr>
            <p:spPr>
              <a:xfrm>
                <a:off x="10458450" y="25050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45F4A"/>
                </a:solidFill>
              </a:ln>
            </p:spPr>
          </p:sp>
          <p:sp>
            <p:nvSpPr>
              <p:cNvPr id="94" name="Freeform 94"/>
              <p:cNvSpPr/>
              <p:nvPr/>
            </p:nvSpPr>
            <p:spPr>
              <a:xfrm>
                <a:off x="10439400" y="26193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45F4A"/>
                </a:solidFill>
              </a:ln>
            </p:spPr>
          </p:sp>
          <p:sp>
            <p:nvSpPr>
              <p:cNvPr id="95" name="Freeform 95"/>
              <p:cNvSpPr/>
              <p:nvPr/>
            </p:nvSpPr>
            <p:spPr>
              <a:xfrm>
                <a:off x="10563225" y="25063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45F4A"/>
                </a:solidFill>
              </a:ln>
            </p:spPr>
          </p:sp>
          <p:sp>
            <p:nvSpPr>
              <p:cNvPr id="96" name="Freeform 96"/>
              <p:cNvSpPr/>
              <p:nvPr/>
            </p:nvSpPr>
            <p:spPr>
              <a:xfrm>
                <a:off x="10582275" y="26208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45F4A"/>
                </a:solidFill>
              </a:ln>
            </p:spPr>
          </p:sp>
        </p:grpSp>
        <p:sp>
          <p:nvSpPr>
            <p:cNvPr id="98" name="TextBox 98"/>
            <p:cNvSpPr txBox="1"/>
            <p:nvPr/>
          </p:nvSpPr>
          <p:spPr>
            <a:xfrm>
              <a:off x="10360724" y="2852738"/>
              <a:ext cx="328803"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企业B​</a:t>
              </a:r>
            </a:p>
          </p:txBody>
        </p:sp>
        <p:sp>
          <p:nvSpPr>
            <p:cNvPr id="99" name="Ellipse 99"/>
            <p:cNvSpPr/>
            <p:nvPr/>
          </p:nvSpPr>
          <p:spPr>
            <a:xfrm>
              <a:off x="11001375" y="2400300"/>
              <a:ext cx="381000" cy="381000"/>
            </a:xfrm>
            <a:prstGeom prst="ellipse">
              <a:avLst/>
            </a:prstGeom>
            <a:solidFill>
              <a:srgbClr val="E8EBF8"/>
            </a:solidFill>
            <a:ln w="9525">
              <a:solidFill>
                <a:srgbClr val="E08C7B"/>
              </a:solidFill>
            </a:ln>
          </p:spPr>
        </p:sp>
        <p:grpSp>
          <p:nvGrpSpPr>
            <p:cNvPr id="104" name="Group 104"/>
            <p:cNvGrpSpPr/>
            <p:nvPr/>
          </p:nvGrpSpPr>
          <p:grpSpPr>
            <a:xfrm>
              <a:off x="11106150" y="2505075"/>
              <a:ext cx="171450" cy="171450"/>
              <a:chOff x="11106150" y="2505075"/>
              <a:chExt cx="171450" cy="171450"/>
            </a:xfrm>
          </p:grpSpPr>
          <p:sp>
            <p:nvSpPr>
              <p:cNvPr id="100" name="Freeform 100"/>
              <p:cNvSpPr/>
              <p:nvPr/>
            </p:nvSpPr>
            <p:spPr>
              <a:xfrm>
                <a:off x="11125200" y="25050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45F4A"/>
                </a:solidFill>
              </a:ln>
            </p:spPr>
          </p:sp>
          <p:sp>
            <p:nvSpPr>
              <p:cNvPr id="101" name="Freeform 101"/>
              <p:cNvSpPr/>
              <p:nvPr/>
            </p:nvSpPr>
            <p:spPr>
              <a:xfrm>
                <a:off x="11106150" y="26193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45F4A"/>
                </a:solidFill>
              </a:ln>
            </p:spPr>
          </p:sp>
          <p:sp>
            <p:nvSpPr>
              <p:cNvPr id="102" name="Freeform 102"/>
              <p:cNvSpPr/>
              <p:nvPr/>
            </p:nvSpPr>
            <p:spPr>
              <a:xfrm>
                <a:off x="11229975" y="25063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45F4A"/>
                </a:solidFill>
              </a:ln>
            </p:spPr>
          </p:sp>
          <p:sp>
            <p:nvSpPr>
              <p:cNvPr id="103" name="Freeform 103"/>
              <p:cNvSpPr/>
              <p:nvPr/>
            </p:nvSpPr>
            <p:spPr>
              <a:xfrm>
                <a:off x="11249025" y="26208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45F4A"/>
                </a:solidFill>
              </a:ln>
            </p:spPr>
          </p:sp>
        </p:grpSp>
        <p:sp>
          <p:nvSpPr>
            <p:cNvPr id="105" name="TextBox 105"/>
            <p:cNvSpPr txBox="1"/>
            <p:nvPr/>
          </p:nvSpPr>
          <p:spPr>
            <a:xfrm>
              <a:off x="11027474" y="2852738"/>
              <a:ext cx="328803"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企业C​</a:t>
              </a:r>
            </a:p>
          </p:txBody>
        </p:sp>
      </p:grpSp>
      <p:grpSp>
        <p:nvGrpSpPr>
          <p:cNvPr id="135" name="card-type3"/>
          <p:cNvGrpSpPr/>
          <p:nvPr/>
        </p:nvGrpSpPr>
        <p:grpSpPr>
          <a:xfrm>
            <a:off x="381000" y="3952875"/>
            <a:ext cx="4953000" cy="2047875"/>
            <a:chOff x="381000" y="3952875"/>
            <a:chExt cx="4953000" cy="2047875"/>
          </a:xfrm>
        </p:grpSpPr>
        <p:sp>
          <p:nvSpPr>
            <p:cNvPr id="107" name="Rectangle 107"/>
            <p:cNvSpPr/>
            <p:nvPr/>
          </p:nvSpPr>
          <p:spPr>
            <a:xfrm>
              <a:off x="381000" y="3952875"/>
              <a:ext cx="4953000" cy="2047875"/>
            </a:xfrm>
            <a:prstGeom prst="roundRect">
              <a:avLst>
                <a:gd name="adj" fmla="val 3721"/>
              </a:avLst>
            </a:prstGeom>
            <a:solidFill>
              <a:srgbClr val="FFFFFF"/>
            </a:solidFill>
            <a:ln>
              <a:noFill/>
            </a:ln>
            <a:effectLst>
              <a:outerShdw blurRad="152400" dist="57150" dir="5400000" algn="ctr" rotWithShape="0">
                <a:srgbClr val="C45F4A">
                  <a:alpha val="7500"/>
                </a:srgbClr>
              </a:outerShdw>
            </a:effectLst>
          </p:spPr>
        </p:sp>
        <p:sp>
          <p:nvSpPr>
            <p:cNvPr id="108" name="Rectangle 108"/>
            <p:cNvSpPr/>
            <p:nvPr/>
          </p:nvSpPr>
          <p:spPr>
            <a:xfrm>
              <a:off x="381000" y="3952875"/>
              <a:ext cx="4953000" cy="323850"/>
            </a:xfrm>
            <a:prstGeom prst="roundRect">
              <a:avLst>
                <a:gd name="adj" fmla="val 23529"/>
              </a:avLst>
            </a:prstGeom>
            <a:solidFill>
              <a:srgbClr val="C45F4A"/>
            </a:solidFill>
            <a:ln>
              <a:noFill/>
            </a:ln>
          </p:spPr>
        </p:sp>
        <p:sp>
          <p:nvSpPr>
            <p:cNvPr id="109" name="Rectangle 109"/>
            <p:cNvSpPr/>
            <p:nvPr/>
          </p:nvSpPr>
          <p:spPr>
            <a:xfrm>
              <a:off x="381000" y="4143375"/>
              <a:ext cx="4953000" cy="133350"/>
            </a:xfrm>
            <a:prstGeom prst="rect">
              <a:avLst/>
            </a:prstGeom>
            <a:solidFill>
              <a:srgbClr val="C45F4A"/>
            </a:solidFill>
            <a:ln>
              <a:noFill/>
            </a:ln>
          </p:spPr>
        </p:sp>
        <p:sp>
          <p:nvSpPr>
            <p:cNvPr id="110" name="TextBox 110"/>
            <p:cNvSpPr txBox="1"/>
            <p:nvPr/>
          </p:nvSpPr>
          <p:spPr>
            <a:xfrm>
              <a:off x="527685" y="4060031"/>
              <a:ext cx="76530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并列式矩阵</a:t>
              </a:r>
            </a:p>
          </p:txBody>
        </p:sp>
        <p:sp>
          <p:nvSpPr>
            <p:cNvPr id="111" name="TextBox 111"/>
            <p:cNvSpPr txBox="1"/>
            <p:nvPr/>
          </p:nvSpPr>
          <p:spPr>
            <a:xfrm>
              <a:off x="4556455" y="4068128"/>
              <a:ext cx="630479" cy="205359"/>
            </a:xfrm>
            <a:prstGeom prst="rect">
              <a:avLst/>
            </a:prstGeom>
            <a:noFill/>
            <a:ln>
              <a:noFill/>
            </a:ln>
          </p:spPr>
          <p:txBody>
            <a:bodyPr wrap="none" lIns="0" tIns="0" rIns="0" bIns="0" anchor="t" anchorCtr="0">
              <a:spAutoFit/>
            </a:bodyPr>
            <a:lstStyle/>
            <a:p>
              <a:pPr algn="r"/>
              <a:r>
                <a:rPr lang="en-US" sz="1050" dirty="0">
                  <a:solidFill>
                    <a:srgbClr val="FFFFFF"/>
                  </a:solidFill>
                  <a:latin typeface="+mn-lt"/>
                  <a:ea typeface="+mn-ea"/>
                  <a:cs typeface="+mn-cs"/>
                </a:rPr>
                <a:t>TYPE 3.​</a:t>
              </a:r>
            </a:p>
          </p:txBody>
        </p:sp>
        <p:sp>
          <p:nvSpPr>
            <p:cNvPr id="112" name="Rectangle 112"/>
            <p:cNvSpPr/>
            <p:nvPr/>
          </p:nvSpPr>
          <p:spPr>
            <a:xfrm>
              <a:off x="495300" y="4400550"/>
              <a:ext cx="28575" cy="133350"/>
            </a:xfrm>
            <a:prstGeom prst="rect">
              <a:avLst/>
            </a:prstGeom>
            <a:solidFill>
              <a:srgbClr val="C45F4A"/>
            </a:solidFill>
            <a:ln>
              <a:noFill/>
            </a:ln>
          </p:spPr>
        </p:sp>
        <p:sp>
          <p:nvSpPr>
            <p:cNvPr id="113" name="TextBox 113"/>
            <p:cNvSpPr txBox="1"/>
            <p:nvPr/>
          </p:nvSpPr>
          <p:spPr>
            <a:xfrm>
              <a:off x="585788" y="4421743"/>
              <a:ext cx="1669669" cy="492919"/>
            </a:xfrm>
            <a:prstGeom prst="rect">
              <a:avLst/>
            </a:prstGeom>
            <a:noFill/>
            <a:ln>
              <a:noFill/>
            </a:ln>
          </p:spPr>
          <p:txBody>
            <a:bodyPr wrap="none" lIns="0" tIns="0" rIns="0" bIns="0" anchor="t" anchorCtr="0">
              <a:spAutoFit/>
            </a:bodyPr>
            <a:lstStyle/>
            <a:p>
              <a:pPr algn="l">
                <a:lnSpc>
                  <a:spcPts val="1275"/>
                </a:lnSpc>
              </a:pPr>
              <a:r>
                <a:rPr lang="zh-CN" sz="860" b="1" dirty="0">
                  <a:solidFill>
                    <a:srgbClr val="C45F4A"/>
                  </a:solidFill>
                  <a:latin typeface="+mn-lt"/>
                  <a:ea typeface="+mn-ea"/>
                  <a:cs typeface="+mn-cs"/>
                </a:rPr>
                <a:t>特征：</a:t>
              </a:r>
              <a:r>
                <a:rPr lang="zh-CN" sz="860" dirty="0">
                  <a:solidFill>
                    <a:srgbClr val="543E3A"/>
                  </a:solidFill>
                  <a:latin typeface="+mn-lt"/>
                  <a:ea typeface="+mn-ea"/>
                  <a:cs typeface="+mn-cs"/>
                </a:rPr>
                <a:t>“主暗臣明”;每个账号产品/</a:t>
              </a:r>
              <a:br/>
              <a:r>
                <a:rPr lang="zh-CN" sz="860" dirty="0">
                  <a:solidFill>
                    <a:srgbClr val="543E3A"/>
                  </a:solidFill>
                  <a:latin typeface="+mn-lt"/>
                  <a:ea typeface="+mn-ea"/>
                  <a:cs typeface="+mn-cs"/>
                </a:rPr>
                <a:t>服务特征拜朝，且有完整的内容系</a:t>
              </a:r>
              <a:br/>
              <a:r>
                <a:rPr lang="zh-CN" sz="860" dirty="0">
                  <a:solidFill>
                    <a:srgbClr val="543E3A"/>
                  </a:solidFill>
                  <a:latin typeface="+mn-lt"/>
                  <a:ea typeface="+mn-ea"/>
                  <a:cs typeface="+mn-cs"/>
                </a:rPr>
                <a:t>列呈现，但都指向品牌。</a:t>
              </a:r>
            </a:p>
          </p:txBody>
        </p:sp>
        <p:sp>
          <p:nvSpPr>
            <p:cNvPr id="114" name="Rectangle 114"/>
            <p:cNvSpPr/>
            <p:nvPr/>
          </p:nvSpPr>
          <p:spPr>
            <a:xfrm>
              <a:off x="495300" y="5067300"/>
              <a:ext cx="28575" cy="133350"/>
            </a:xfrm>
            <a:prstGeom prst="rect">
              <a:avLst/>
            </a:prstGeom>
            <a:solidFill>
              <a:srgbClr val="C45F4A"/>
            </a:solidFill>
            <a:ln>
              <a:noFill/>
            </a:ln>
          </p:spPr>
        </p:sp>
        <p:sp>
          <p:nvSpPr>
            <p:cNvPr id="115" name="TextBox 115"/>
            <p:cNvSpPr txBox="1"/>
            <p:nvPr/>
          </p:nvSpPr>
          <p:spPr>
            <a:xfrm>
              <a:off x="585788" y="5088493"/>
              <a:ext cx="1757045" cy="492919"/>
            </a:xfrm>
            <a:prstGeom prst="rect">
              <a:avLst/>
            </a:prstGeom>
            <a:noFill/>
            <a:ln>
              <a:noFill/>
            </a:ln>
          </p:spPr>
          <p:txBody>
            <a:bodyPr wrap="none" lIns="0" tIns="0" rIns="0" bIns="0" anchor="t" anchorCtr="0">
              <a:spAutoFit/>
            </a:bodyPr>
            <a:lstStyle/>
            <a:p>
              <a:pPr algn="l">
                <a:lnSpc>
                  <a:spcPts val="1275"/>
                </a:lnSpc>
              </a:pPr>
              <a:r>
                <a:rPr lang="zh-CN" sz="860" b="1" dirty="0">
                  <a:solidFill>
                    <a:srgbClr val="C45F4A"/>
                  </a:solidFill>
                  <a:latin typeface="+mn-lt"/>
                  <a:ea typeface="+mn-ea"/>
                  <a:cs typeface="+mn-cs"/>
                </a:rPr>
                <a:t>优势与适用：</a:t>
              </a:r>
              <a:r>
                <a:rPr lang="zh-CN" sz="860" dirty="0">
                  <a:solidFill>
                    <a:srgbClr val="543E3A"/>
                  </a:solidFill>
                  <a:latin typeface="+mn-lt"/>
                  <a:ea typeface="+mn-ea"/>
                  <a:cs typeface="+mn-cs"/>
                </a:rPr>
                <a:t>通过多个账号，针对不</a:t>
              </a:r>
              <a:br/>
              <a:r>
                <a:rPr lang="zh-CN" sz="860" dirty="0">
                  <a:solidFill>
                    <a:srgbClr val="543E3A"/>
                  </a:solidFill>
                  <a:latin typeface="+mn-lt"/>
                  <a:ea typeface="+mn-ea"/>
                  <a:cs typeface="+mn-cs"/>
                </a:rPr>
                <a:t>同面向，同时向品牌导流，增强品牌</a:t>
              </a:r>
              <a:br/>
              <a:r>
                <a:rPr lang="zh-CN" sz="860" dirty="0">
                  <a:solidFill>
                    <a:srgbClr val="543E3A"/>
                  </a:solidFill>
                  <a:latin typeface="+mn-lt"/>
                  <a:ea typeface="+mn-ea"/>
                  <a:cs typeface="+mn-cs"/>
                </a:rPr>
                <a:t>力，适用于有垂类销售转化需求。</a:t>
              </a:r>
            </a:p>
          </p:txBody>
        </p:sp>
        <p:sp>
          <p:nvSpPr>
            <p:cNvPr id="116" name="Ellipse 116"/>
            <p:cNvSpPr/>
            <p:nvPr/>
          </p:nvSpPr>
          <p:spPr>
            <a:xfrm>
              <a:off x="3600450" y="4762500"/>
              <a:ext cx="419100" cy="419100"/>
            </a:xfrm>
            <a:prstGeom prst="ellipse">
              <a:avLst/>
            </a:prstGeom>
            <a:solidFill>
              <a:srgbClr val="E8EBF8"/>
            </a:solidFill>
            <a:ln w="9525">
              <a:solidFill>
                <a:srgbClr val="E08C7B"/>
              </a:solidFill>
            </a:ln>
          </p:spPr>
        </p:sp>
        <p:grpSp>
          <p:nvGrpSpPr>
            <p:cNvPr id="125" name="Group 125"/>
            <p:cNvGrpSpPr/>
            <p:nvPr/>
          </p:nvGrpSpPr>
          <p:grpSpPr>
            <a:xfrm>
              <a:off x="3717131" y="4879181"/>
              <a:ext cx="185737" cy="195262"/>
              <a:chOff x="3717131" y="4879181"/>
              <a:chExt cx="185737" cy="195262"/>
            </a:xfrm>
          </p:grpSpPr>
          <p:sp>
            <p:nvSpPr>
              <p:cNvPr id="117" name="Freeform 117"/>
              <p:cNvSpPr/>
              <p:nvPr/>
            </p:nvSpPr>
            <p:spPr>
              <a:xfrm>
                <a:off x="3717131" y="5064918"/>
                <a:ext cx="185737" cy="9525"/>
              </a:xfrm>
              <a:custGeom>
                <a:avLst/>
                <a:gdLst/>
                <a:ahLst/>
                <a:cxnLst/>
                <a:rect l="l" t="t" r="r" b="b"/>
                <a:pathLst>
                  <a:path w="185737" h="9525">
                    <a:moveTo>
                      <a:pt x="0" y="0"/>
                    </a:moveTo>
                    <a:lnTo>
                      <a:pt x="185737" y="0"/>
                    </a:lnTo>
                  </a:path>
                </a:pathLst>
              </a:custGeom>
              <a:noFill/>
              <a:ln w="20637">
                <a:solidFill>
                  <a:srgbClr val="C45F4A"/>
                </a:solidFill>
              </a:ln>
            </p:spPr>
          </p:sp>
          <p:sp>
            <p:nvSpPr>
              <p:cNvPr id="118" name="Freeform 118"/>
              <p:cNvSpPr/>
              <p:nvPr/>
            </p:nvSpPr>
            <p:spPr>
              <a:xfrm>
                <a:off x="3717131" y="4951412"/>
                <a:ext cx="185737" cy="9525"/>
              </a:xfrm>
              <a:custGeom>
                <a:avLst/>
                <a:gdLst/>
                <a:ahLst/>
                <a:cxnLst/>
                <a:rect l="l" t="t" r="r" b="b"/>
                <a:pathLst>
                  <a:path w="185737" h="9525">
                    <a:moveTo>
                      <a:pt x="0" y="0"/>
                    </a:moveTo>
                    <a:lnTo>
                      <a:pt x="185737" y="0"/>
                    </a:lnTo>
                  </a:path>
                </a:pathLst>
              </a:custGeom>
              <a:noFill/>
              <a:ln w="20637">
                <a:solidFill>
                  <a:srgbClr val="C45F4A"/>
                </a:solidFill>
              </a:ln>
            </p:spPr>
          </p:sp>
          <p:sp>
            <p:nvSpPr>
              <p:cNvPr id="119" name="Freeform 119"/>
              <p:cNvSpPr/>
              <p:nvPr/>
            </p:nvSpPr>
            <p:spPr>
              <a:xfrm>
                <a:off x="3737769" y="4879181"/>
                <a:ext cx="144462" cy="30956"/>
              </a:xfrm>
              <a:custGeom>
                <a:avLst/>
                <a:gdLst/>
                <a:ahLst/>
                <a:cxnLst/>
                <a:rect l="l" t="t" r="r" b="b"/>
                <a:pathLst>
                  <a:path w="144462" h="30956">
                    <a:moveTo>
                      <a:pt x="0" y="30956"/>
                    </a:moveTo>
                    <a:lnTo>
                      <a:pt x="72231" y="0"/>
                    </a:lnTo>
                    <a:lnTo>
                      <a:pt x="144462" y="30956"/>
                    </a:lnTo>
                  </a:path>
                </a:pathLst>
              </a:custGeom>
              <a:noFill/>
              <a:ln w="20637">
                <a:solidFill>
                  <a:srgbClr val="C45F4A"/>
                </a:solidFill>
              </a:ln>
            </p:spPr>
          </p:sp>
          <p:sp>
            <p:nvSpPr>
              <p:cNvPr id="120" name="Freeform 120"/>
              <p:cNvSpPr/>
              <p:nvPr/>
            </p:nvSpPr>
            <p:spPr>
              <a:xfrm>
                <a:off x="3727450" y="4951412"/>
                <a:ext cx="9525" cy="113506"/>
              </a:xfrm>
              <a:custGeom>
                <a:avLst/>
                <a:gdLst/>
                <a:ahLst/>
                <a:cxnLst/>
                <a:rect l="l" t="t" r="r" b="b"/>
                <a:pathLst>
                  <a:path w="9525" h="113506">
                    <a:moveTo>
                      <a:pt x="0" y="0"/>
                    </a:moveTo>
                    <a:lnTo>
                      <a:pt x="0" y="113506"/>
                    </a:lnTo>
                  </a:path>
                </a:pathLst>
              </a:custGeom>
              <a:noFill/>
              <a:ln w="20637">
                <a:solidFill>
                  <a:srgbClr val="C45F4A"/>
                </a:solidFill>
              </a:ln>
            </p:spPr>
          </p:sp>
          <p:sp>
            <p:nvSpPr>
              <p:cNvPr id="121" name="Freeform 121"/>
              <p:cNvSpPr/>
              <p:nvPr/>
            </p:nvSpPr>
            <p:spPr>
              <a:xfrm>
                <a:off x="3892549" y="4951412"/>
                <a:ext cx="9525" cy="113506"/>
              </a:xfrm>
              <a:custGeom>
                <a:avLst/>
                <a:gdLst/>
                <a:ahLst/>
                <a:cxnLst/>
                <a:rect l="l" t="t" r="r" b="b"/>
                <a:pathLst>
                  <a:path w="9525" h="113506">
                    <a:moveTo>
                      <a:pt x="0" y="0"/>
                    </a:moveTo>
                    <a:lnTo>
                      <a:pt x="0" y="113506"/>
                    </a:lnTo>
                  </a:path>
                </a:pathLst>
              </a:custGeom>
              <a:noFill/>
              <a:ln w="20637">
                <a:solidFill>
                  <a:srgbClr val="C45F4A"/>
                </a:solidFill>
              </a:ln>
            </p:spPr>
          </p:sp>
          <p:sp>
            <p:nvSpPr>
              <p:cNvPr id="122" name="Freeform 122"/>
              <p:cNvSpPr/>
              <p:nvPr/>
            </p:nvSpPr>
            <p:spPr>
              <a:xfrm>
                <a:off x="3768725" y="4992687"/>
                <a:ext cx="9525" cy="30956"/>
              </a:xfrm>
              <a:custGeom>
                <a:avLst/>
                <a:gdLst/>
                <a:ahLst/>
                <a:cxnLst/>
                <a:rect l="l" t="t" r="r" b="b"/>
                <a:pathLst>
                  <a:path w="9525" h="30956">
                    <a:moveTo>
                      <a:pt x="0" y="0"/>
                    </a:moveTo>
                    <a:lnTo>
                      <a:pt x="0" y="30956"/>
                    </a:lnTo>
                  </a:path>
                </a:pathLst>
              </a:custGeom>
              <a:noFill/>
              <a:ln w="20637">
                <a:solidFill>
                  <a:srgbClr val="C45F4A"/>
                </a:solidFill>
              </a:ln>
            </p:spPr>
          </p:sp>
          <p:sp>
            <p:nvSpPr>
              <p:cNvPr id="123" name="Freeform 123"/>
              <p:cNvSpPr/>
              <p:nvPr/>
            </p:nvSpPr>
            <p:spPr>
              <a:xfrm>
                <a:off x="3810000" y="4992687"/>
                <a:ext cx="9525" cy="30956"/>
              </a:xfrm>
              <a:custGeom>
                <a:avLst/>
                <a:gdLst/>
                <a:ahLst/>
                <a:cxnLst/>
                <a:rect l="l" t="t" r="r" b="b"/>
                <a:pathLst>
                  <a:path w="9525" h="30956">
                    <a:moveTo>
                      <a:pt x="0" y="0"/>
                    </a:moveTo>
                    <a:lnTo>
                      <a:pt x="0" y="30956"/>
                    </a:lnTo>
                  </a:path>
                </a:pathLst>
              </a:custGeom>
              <a:noFill/>
              <a:ln w="20637">
                <a:solidFill>
                  <a:srgbClr val="C45F4A"/>
                </a:solidFill>
              </a:ln>
            </p:spPr>
          </p:sp>
          <p:sp>
            <p:nvSpPr>
              <p:cNvPr id="124" name="Freeform 124"/>
              <p:cNvSpPr/>
              <p:nvPr/>
            </p:nvSpPr>
            <p:spPr>
              <a:xfrm>
                <a:off x="3851274" y="4992687"/>
                <a:ext cx="9525" cy="30956"/>
              </a:xfrm>
              <a:custGeom>
                <a:avLst/>
                <a:gdLst/>
                <a:ahLst/>
                <a:cxnLst/>
                <a:rect l="l" t="t" r="r" b="b"/>
                <a:pathLst>
                  <a:path w="9525" h="30956">
                    <a:moveTo>
                      <a:pt x="0" y="0"/>
                    </a:moveTo>
                    <a:lnTo>
                      <a:pt x="0" y="30956"/>
                    </a:lnTo>
                  </a:path>
                </a:pathLst>
              </a:custGeom>
              <a:noFill/>
              <a:ln w="20637">
                <a:solidFill>
                  <a:srgbClr val="C45F4A"/>
                </a:solidFill>
              </a:ln>
            </p:spPr>
          </p:sp>
        </p:grpSp>
        <p:sp>
          <p:nvSpPr>
            <p:cNvPr id="126" name="TextBox 126"/>
            <p:cNvSpPr txBox="1"/>
            <p:nvPr/>
          </p:nvSpPr>
          <p:spPr>
            <a:xfrm>
              <a:off x="3645598" y="5253038"/>
              <a:ext cx="328803"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企业A​</a:t>
              </a:r>
            </a:p>
          </p:txBody>
        </p:sp>
        <p:sp>
          <p:nvSpPr>
            <p:cNvPr id="127" name="Line 127"/>
            <p:cNvSpPr/>
            <p:nvPr/>
          </p:nvSpPr>
          <p:spPr>
            <a:xfrm>
              <a:off x="4238625" y="4648200"/>
              <a:ext cx="9525" cy="923925"/>
            </a:xfrm>
            <a:custGeom>
              <a:avLst/>
              <a:gdLst/>
              <a:ahLst/>
              <a:cxnLst/>
              <a:rect l="l" t="t" r="r" b="b"/>
              <a:pathLst>
                <a:path w="9525" h="923925">
                  <a:moveTo>
                    <a:pt x="0" y="0"/>
                  </a:moveTo>
                  <a:lnTo>
                    <a:pt x="0" y="923925"/>
                  </a:lnTo>
                </a:path>
              </a:pathLst>
            </a:custGeom>
            <a:noFill/>
            <a:ln w="9525">
              <a:solidFill>
                <a:srgbClr val="ECC1B8"/>
              </a:solidFill>
              <a:custDash>
                <a:ds d="300000" sp="300000"/>
              </a:custDash>
            </a:ln>
          </p:spPr>
        </p:sp>
        <p:sp>
          <p:nvSpPr>
            <p:cNvPr id="128" name="Ellipse 128"/>
            <p:cNvSpPr/>
            <p:nvPr/>
          </p:nvSpPr>
          <p:spPr>
            <a:xfrm>
              <a:off x="4476750" y="4762500"/>
              <a:ext cx="419100" cy="419100"/>
            </a:xfrm>
            <a:prstGeom prst="ellipse">
              <a:avLst/>
            </a:prstGeom>
            <a:solidFill>
              <a:srgbClr val="E8EBF8"/>
            </a:solidFill>
            <a:ln w="9525">
              <a:solidFill>
                <a:srgbClr val="E08C7B"/>
              </a:solidFill>
            </a:ln>
          </p:spPr>
        </p:sp>
        <p:grpSp>
          <p:nvGrpSpPr>
            <p:cNvPr id="133" name="Group 133"/>
            <p:cNvGrpSpPr/>
            <p:nvPr/>
          </p:nvGrpSpPr>
          <p:grpSpPr>
            <a:xfrm>
              <a:off x="4593431" y="4879181"/>
              <a:ext cx="185737" cy="185738"/>
              <a:chOff x="4593431" y="4879181"/>
              <a:chExt cx="185737" cy="185738"/>
            </a:xfrm>
          </p:grpSpPr>
          <p:sp>
            <p:nvSpPr>
              <p:cNvPr id="129" name="Freeform 129"/>
              <p:cNvSpPr/>
              <p:nvPr/>
            </p:nvSpPr>
            <p:spPr>
              <a:xfrm>
                <a:off x="4614069" y="48791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45F4A"/>
                </a:solidFill>
              </a:ln>
            </p:spPr>
          </p:sp>
          <p:sp>
            <p:nvSpPr>
              <p:cNvPr id="130" name="Freeform 130"/>
              <p:cNvSpPr/>
              <p:nvPr/>
            </p:nvSpPr>
            <p:spPr>
              <a:xfrm>
                <a:off x="4593431" y="50030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45F4A"/>
                </a:solidFill>
              </a:ln>
            </p:spPr>
          </p:sp>
          <p:sp>
            <p:nvSpPr>
              <p:cNvPr id="131" name="Freeform 131"/>
              <p:cNvSpPr/>
              <p:nvPr/>
            </p:nvSpPr>
            <p:spPr>
              <a:xfrm>
                <a:off x="4727574" y="48805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45F4A"/>
                </a:solidFill>
              </a:ln>
            </p:spPr>
          </p:sp>
          <p:sp>
            <p:nvSpPr>
              <p:cNvPr id="132" name="Freeform 132"/>
              <p:cNvSpPr/>
              <p:nvPr/>
            </p:nvSpPr>
            <p:spPr>
              <a:xfrm>
                <a:off x="4748212" y="50045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45F4A"/>
                </a:solidFill>
              </a:ln>
            </p:spPr>
          </p:sp>
        </p:grpSp>
        <p:sp>
          <p:nvSpPr>
            <p:cNvPr id="134" name="TextBox 134"/>
            <p:cNvSpPr txBox="1"/>
            <p:nvPr/>
          </p:nvSpPr>
          <p:spPr>
            <a:xfrm>
              <a:off x="4471416" y="5253038"/>
              <a:ext cx="429768"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专营号B​</a:t>
              </a:r>
            </a:p>
          </p:txBody>
        </p:sp>
      </p:grpSp>
      <p:grpSp>
        <p:nvGrpSpPr>
          <p:cNvPr id="182" name="card-type4"/>
          <p:cNvGrpSpPr/>
          <p:nvPr/>
        </p:nvGrpSpPr>
        <p:grpSpPr>
          <a:xfrm>
            <a:off x="6762750" y="4171950"/>
            <a:ext cx="4953000" cy="2047875"/>
            <a:chOff x="6762750" y="4171950"/>
            <a:chExt cx="4953000" cy="2047875"/>
          </a:xfrm>
        </p:grpSpPr>
        <p:sp>
          <p:nvSpPr>
            <p:cNvPr id="136" name="Rectangle 136"/>
            <p:cNvSpPr/>
            <p:nvPr/>
          </p:nvSpPr>
          <p:spPr>
            <a:xfrm>
              <a:off x="6762750" y="4171950"/>
              <a:ext cx="4953000" cy="2047875"/>
            </a:xfrm>
            <a:prstGeom prst="roundRect">
              <a:avLst>
                <a:gd name="adj" fmla="val 3721"/>
              </a:avLst>
            </a:prstGeom>
            <a:solidFill>
              <a:srgbClr val="FFFFFF"/>
            </a:solidFill>
            <a:ln>
              <a:noFill/>
            </a:ln>
            <a:effectLst>
              <a:outerShdw blurRad="152400" dist="57150" dir="5400000" algn="ctr" rotWithShape="0">
                <a:srgbClr val="C45F4A">
                  <a:alpha val="7500"/>
                </a:srgbClr>
              </a:outerShdw>
            </a:effectLst>
          </p:spPr>
        </p:sp>
        <p:sp>
          <p:nvSpPr>
            <p:cNvPr id="137" name="Rectangle 137"/>
            <p:cNvSpPr/>
            <p:nvPr/>
          </p:nvSpPr>
          <p:spPr>
            <a:xfrm>
              <a:off x="6762750" y="4171950"/>
              <a:ext cx="4953000" cy="323850"/>
            </a:xfrm>
            <a:prstGeom prst="roundRect">
              <a:avLst>
                <a:gd name="adj" fmla="val 23529"/>
              </a:avLst>
            </a:prstGeom>
            <a:solidFill>
              <a:srgbClr val="C45F4A"/>
            </a:solidFill>
            <a:ln>
              <a:noFill/>
            </a:ln>
          </p:spPr>
        </p:sp>
        <p:sp>
          <p:nvSpPr>
            <p:cNvPr id="138" name="Rectangle 138"/>
            <p:cNvSpPr/>
            <p:nvPr/>
          </p:nvSpPr>
          <p:spPr>
            <a:xfrm>
              <a:off x="6762750" y="4362450"/>
              <a:ext cx="4953000" cy="133350"/>
            </a:xfrm>
            <a:prstGeom prst="rect">
              <a:avLst/>
            </a:prstGeom>
            <a:solidFill>
              <a:srgbClr val="C45F4A"/>
            </a:solidFill>
            <a:ln>
              <a:noFill/>
            </a:ln>
          </p:spPr>
        </p:sp>
        <p:sp>
          <p:nvSpPr>
            <p:cNvPr id="139" name="TextBox 139"/>
            <p:cNvSpPr txBox="1"/>
            <p:nvPr/>
          </p:nvSpPr>
          <p:spPr>
            <a:xfrm>
              <a:off x="6909435" y="4279106"/>
              <a:ext cx="76530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漏斗式矩阵</a:t>
              </a:r>
            </a:p>
          </p:txBody>
        </p:sp>
        <p:sp>
          <p:nvSpPr>
            <p:cNvPr id="140" name="TextBox 140"/>
            <p:cNvSpPr txBox="1"/>
            <p:nvPr/>
          </p:nvSpPr>
          <p:spPr>
            <a:xfrm>
              <a:off x="10938205" y="4287202"/>
              <a:ext cx="630479" cy="205359"/>
            </a:xfrm>
            <a:prstGeom prst="rect">
              <a:avLst/>
            </a:prstGeom>
            <a:noFill/>
            <a:ln>
              <a:noFill/>
            </a:ln>
          </p:spPr>
          <p:txBody>
            <a:bodyPr wrap="none" lIns="0" tIns="0" rIns="0" bIns="0" anchor="t" anchorCtr="0">
              <a:spAutoFit/>
            </a:bodyPr>
            <a:lstStyle/>
            <a:p>
              <a:pPr algn="r"/>
              <a:r>
                <a:rPr lang="en-US" sz="1050" dirty="0">
                  <a:solidFill>
                    <a:srgbClr val="FFFFFF"/>
                  </a:solidFill>
                  <a:latin typeface="+mn-lt"/>
                  <a:ea typeface="+mn-ea"/>
                  <a:cs typeface="+mn-cs"/>
                </a:rPr>
                <a:t>TYPE 4.​</a:t>
              </a:r>
            </a:p>
          </p:txBody>
        </p:sp>
        <p:sp>
          <p:nvSpPr>
            <p:cNvPr id="141" name="Rectangle 141"/>
            <p:cNvSpPr/>
            <p:nvPr/>
          </p:nvSpPr>
          <p:spPr>
            <a:xfrm>
              <a:off x="6877050" y="4619625"/>
              <a:ext cx="28575" cy="133350"/>
            </a:xfrm>
            <a:prstGeom prst="rect">
              <a:avLst/>
            </a:prstGeom>
            <a:solidFill>
              <a:srgbClr val="C45F4A"/>
            </a:solidFill>
            <a:ln>
              <a:noFill/>
            </a:ln>
          </p:spPr>
        </p:sp>
        <p:sp>
          <p:nvSpPr>
            <p:cNvPr id="142" name="TextBox 142"/>
            <p:cNvSpPr txBox="1"/>
            <p:nvPr/>
          </p:nvSpPr>
          <p:spPr>
            <a:xfrm>
              <a:off x="6967538" y="4640818"/>
              <a:ext cx="1757045" cy="492919"/>
            </a:xfrm>
            <a:prstGeom prst="rect">
              <a:avLst/>
            </a:prstGeom>
            <a:noFill/>
            <a:ln>
              <a:noFill/>
            </a:ln>
          </p:spPr>
          <p:txBody>
            <a:bodyPr wrap="none" lIns="0" tIns="0" rIns="0" bIns="0" anchor="t" anchorCtr="0">
              <a:spAutoFit/>
            </a:bodyPr>
            <a:lstStyle/>
            <a:p>
              <a:pPr algn="l">
                <a:lnSpc>
                  <a:spcPts val="1275"/>
                </a:lnSpc>
              </a:pPr>
              <a:r>
                <a:rPr lang="zh-CN" sz="860" b="1" dirty="0">
                  <a:solidFill>
                    <a:srgbClr val="C45F4A"/>
                  </a:solidFill>
                  <a:latin typeface="+mn-lt"/>
                  <a:ea typeface="+mn-ea"/>
                  <a:cs typeface="+mn-cs"/>
                </a:rPr>
                <a:t>特征：</a:t>
              </a:r>
              <a:r>
                <a:rPr lang="zh-CN" sz="860" dirty="0">
                  <a:solidFill>
                    <a:srgbClr val="543E3A"/>
                  </a:solidFill>
                  <a:latin typeface="+mn-lt"/>
                  <a:ea typeface="+mn-ea"/>
                  <a:cs typeface="+mn-cs"/>
                </a:rPr>
                <a:t>“蓝V+个人”;可以由平铺式</a:t>
              </a:r>
              <a:br/>
              <a:r>
                <a:rPr lang="zh-CN" sz="860" dirty="0">
                  <a:solidFill>
                    <a:srgbClr val="543E3A"/>
                  </a:solidFill>
                  <a:latin typeface="+mn-lt"/>
                  <a:ea typeface="+mn-ea"/>
                  <a:cs typeface="+mn-cs"/>
                </a:rPr>
                <a:t>品牌号与个入号共同组成，相互之间</a:t>
              </a:r>
              <a:br/>
              <a:r>
                <a:rPr lang="zh-CN" sz="860" dirty="0">
                  <a:solidFill>
                    <a:srgbClr val="543E3A"/>
                  </a:solidFill>
                  <a:latin typeface="+mn-lt"/>
                  <a:ea typeface="+mn-ea"/>
                  <a:cs typeface="+mn-cs"/>
                </a:rPr>
                <a:t>不打通。</a:t>
              </a:r>
            </a:p>
          </p:txBody>
        </p:sp>
        <p:sp>
          <p:nvSpPr>
            <p:cNvPr id="143" name="Rectangle 143"/>
            <p:cNvSpPr/>
            <p:nvPr/>
          </p:nvSpPr>
          <p:spPr>
            <a:xfrm>
              <a:off x="6877050" y="5286375"/>
              <a:ext cx="28575" cy="133350"/>
            </a:xfrm>
            <a:prstGeom prst="rect">
              <a:avLst/>
            </a:prstGeom>
            <a:solidFill>
              <a:srgbClr val="C45F4A"/>
            </a:solidFill>
            <a:ln>
              <a:noFill/>
            </a:ln>
          </p:spPr>
        </p:sp>
        <p:sp>
          <p:nvSpPr>
            <p:cNvPr id="144" name="TextBox 144"/>
            <p:cNvSpPr txBox="1"/>
            <p:nvPr/>
          </p:nvSpPr>
          <p:spPr>
            <a:xfrm>
              <a:off x="6967538" y="5307568"/>
              <a:ext cx="1757045" cy="492919"/>
            </a:xfrm>
            <a:prstGeom prst="rect">
              <a:avLst/>
            </a:prstGeom>
            <a:noFill/>
            <a:ln>
              <a:noFill/>
            </a:ln>
          </p:spPr>
          <p:txBody>
            <a:bodyPr wrap="none" lIns="0" tIns="0" rIns="0" bIns="0" anchor="t" anchorCtr="0">
              <a:spAutoFit/>
            </a:bodyPr>
            <a:lstStyle/>
            <a:p>
              <a:pPr algn="l">
                <a:lnSpc>
                  <a:spcPts val="1275"/>
                </a:lnSpc>
              </a:pPr>
              <a:r>
                <a:rPr lang="zh-CN" sz="860" b="1" dirty="0">
                  <a:solidFill>
                    <a:srgbClr val="C45F4A"/>
                  </a:solidFill>
                  <a:latin typeface="+mn-lt"/>
                  <a:ea typeface="+mn-ea"/>
                  <a:cs typeface="+mn-cs"/>
                </a:rPr>
                <a:t>优势与适用：</a:t>
              </a:r>
              <a:r>
                <a:rPr lang="zh-CN" sz="860" dirty="0">
                  <a:solidFill>
                    <a:srgbClr val="543E3A"/>
                  </a:solidFill>
                  <a:latin typeface="+mn-lt"/>
                  <a:ea typeface="+mn-ea"/>
                  <a:cs typeface="+mn-cs"/>
                </a:rPr>
                <a:t>账号组成元素多样，主</a:t>
              </a:r>
              <a:br/>
              <a:r>
                <a:rPr lang="zh-CN" sz="860" dirty="0">
                  <a:solidFill>
                    <a:srgbClr val="543E3A"/>
                  </a:solidFill>
                  <a:latin typeface="+mn-lt"/>
                  <a:ea typeface="+mn-ea"/>
                  <a:cs typeface="+mn-cs"/>
                </a:rPr>
                <a:t>要特点是相互之间不打通，并且可独</a:t>
              </a:r>
              <a:br/>
              <a:r>
                <a:rPr lang="zh-CN" sz="860" dirty="0">
                  <a:solidFill>
                    <a:srgbClr val="543E3A"/>
                  </a:solidFill>
                  <a:latin typeface="+mn-lt"/>
                  <a:ea typeface="+mn-ea"/>
                  <a:cs typeface="+mn-cs"/>
                </a:rPr>
                <a:t>立运营，适合针对某一类人群。</a:t>
              </a:r>
            </a:p>
          </p:txBody>
        </p:sp>
        <p:sp>
          <p:nvSpPr>
            <p:cNvPr id="145" name="Ellipse 145"/>
            <p:cNvSpPr/>
            <p:nvPr/>
          </p:nvSpPr>
          <p:spPr>
            <a:xfrm>
              <a:off x="9667875" y="4600575"/>
              <a:ext cx="381000" cy="381000"/>
            </a:xfrm>
            <a:prstGeom prst="ellipse">
              <a:avLst/>
            </a:prstGeom>
            <a:solidFill>
              <a:srgbClr val="E8EBF8"/>
            </a:solidFill>
            <a:ln w="9525">
              <a:solidFill>
                <a:srgbClr val="E08C7B"/>
              </a:solidFill>
            </a:ln>
          </p:spPr>
        </p:sp>
        <p:grpSp>
          <p:nvGrpSpPr>
            <p:cNvPr id="150" name="Group 150"/>
            <p:cNvGrpSpPr/>
            <p:nvPr/>
          </p:nvGrpSpPr>
          <p:grpSpPr>
            <a:xfrm>
              <a:off x="9772650" y="4705350"/>
              <a:ext cx="171450" cy="171450"/>
              <a:chOff x="9772650" y="4705350"/>
              <a:chExt cx="171450" cy="171450"/>
            </a:xfrm>
          </p:grpSpPr>
          <p:sp>
            <p:nvSpPr>
              <p:cNvPr id="146" name="Freeform 146"/>
              <p:cNvSpPr/>
              <p:nvPr/>
            </p:nvSpPr>
            <p:spPr>
              <a:xfrm>
                <a:off x="9791700" y="47053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45F4A"/>
                </a:solidFill>
              </a:ln>
            </p:spPr>
          </p:sp>
          <p:sp>
            <p:nvSpPr>
              <p:cNvPr id="147" name="Freeform 147"/>
              <p:cNvSpPr/>
              <p:nvPr/>
            </p:nvSpPr>
            <p:spPr>
              <a:xfrm>
                <a:off x="9772650" y="48196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45F4A"/>
                </a:solidFill>
              </a:ln>
            </p:spPr>
          </p:sp>
          <p:sp>
            <p:nvSpPr>
              <p:cNvPr id="148" name="Freeform 148"/>
              <p:cNvSpPr/>
              <p:nvPr/>
            </p:nvSpPr>
            <p:spPr>
              <a:xfrm>
                <a:off x="9896475" y="47065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45F4A"/>
                </a:solidFill>
              </a:ln>
            </p:spPr>
          </p:sp>
          <p:sp>
            <p:nvSpPr>
              <p:cNvPr id="149" name="Freeform 149"/>
              <p:cNvSpPr/>
              <p:nvPr/>
            </p:nvSpPr>
            <p:spPr>
              <a:xfrm>
                <a:off x="9915525" y="48210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45F4A"/>
                </a:solidFill>
              </a:ln>
            </p:spPr>
          </p:sp>
        </p:grpSp>
        <p:sp>
          <p:nvSpPr>
            <p:cNvPr id="151" name="TextBox 151"/>
            <p:cNvSpPr txBox="1"/>
            <p:nvPr/>
          </p:nvSpPr>
          <p:spPr>
            <a:xfrm>
              <a:off x="9643491" y="5043488"/>
              <a:ext cx="429768"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事业部A​</a:t>
              </a:r>
            </a:p>
          </p:txBody>
        </p:sp>
        <p:sp>
          <p:nvSpPr>
            <p:cNvPr id="152" name="Ellipse 152"/>
            <p:cNvSpPr/>
            <p:nvPr/>
          </p:nvSpPr>
          <p:spPr>
            <a:xfrm>
              <a:off x="10334625" y="4600575"/>
              <a:ext cx="381000" cy="381000"/>
            </a:xfrm>
            <a:prstGeom prst="ellipse">
              <a:avLst/>
            </a:prstGeom>
            <a:solidFill>
              <a:srgbClr val="E8EBF8"/>
            </a:solidFill>
            <a:ln w="9525">
              <a:solidFill>
                <a:srgbClr val="E08C7B"/>
              </a:solidFill>
            </a:ln>
          </p:spPr>
        </p:sp>
        <p:grpSp>
          <p:nvGrpSpPr>
            <p:cNvPr id="157" name="Group 157"/>
            <p:cNvGrpSpPr/>
            <p:nvPr/>
          </p:nvGrpSpPr>
          <p:grpSpPr>
            <a:xfrm>
              <a:off x="10439400" y="4705350"/>
              <a:ext cx="171450" cy="171450"/>
              <a:chOff x="10439400" y="4705350"/>
              <a:chExt cx="171450" cy="171450"/>
            </a:xfrm>
          </p:grpSpPr>
          <p:sp>
            <p:nvSpPr>
              <p:cNvPr id="153" name="Freeform 153"/>
              <p:cNvSpPr/>
              <p:nvPr/>
            </p:nvSpPr>
            <p:spPr>
              <a:xfrm>
                <a:off x="10458450" y="47053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45F4A"/>
                </a:solidFill>
              </a:ln>
            </p:spPr>
          </p:sp>
          <p:sp>
            <p:nvSpPr>
              <p:cNvPr id="154" name="Freeform 154"/>
              <p:cNvSpPr/>
              <p:nvPr/>
            </p:nvSpPr>
            <p:spPr>
              <a:xfrm>
                <a:off x="10439400" y="48196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45F4A"/>
                </a:solidFill>
              </a:ln>
            </p:spPr>
          </p:sp>
          <p:sp>
            <p:nvSpPr>
              <p:cNvPr id="155" name="Freeform 155"/>
              <p:cNvSpPr/>
              <p:nvPr/>
            </p:nvSpPr>
            <p:spPr>
              <a:xfrm>
                <a:off x="10563225" y="47065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45F4A"/>
                </a:solidFill>
              </a:ln>
            </p:spPr>
          </p:sp>
          <p:sp>
            <p:nvSpPr>
              <p:cNvPr id="156" name="Freeform 156"/>
              <p:cNvSpPr/>
              <p:nvPr/>
            </p:nvSpPr>
            <p:spPr>
              <a:xfrm>
                <a:off x="10582275" y="48210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45F4A"/>
                </a:solidFill>
              </a:ln>
            </p:spPr>
          </p:sp>
        </p:grpSp>
        <p:sp>
          <p:nvSpPr>
            <p:cNvPr id="158" name="TextBox 158"/>
            <p:cNvSpPr txBox="1"/>
            <p:nvPr/>
          </p:nvSpPr>
          <p:spPr>
            <a:xfrm>
              <a:off x="10310241" y="5043488"/>
              <a:ext cx="429768"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事业部B​</a:t>
              </a:r>
            </a:p>
          </p:txBody>
        </p:sp>
        <p:sp>
          <p:nvSpPr>
            <p:cNvPr id="159" name="Ellipse 159"/>
            <p:cNvSpPr/>
            <p:nvPr/>
          </p:nvSpPr>
          <p:spPr>
            <a:xfrm>
              <a:off x="11001375" y="4600575"/>
              <a:ext cx="381000" cy="381000"/>
            </a:xfrm>
            <a:prstGeom prst="ellipse">
              <a:avLst/>
            </a:prstGeom>
            <a:solidFill>
              <a:srgbClr val="E8EBF8"/>
            </a:solidFill>
            <a:ln w="9525">
              <a:solidFill>
                <a:srgbClr val="E08C7B"/>
              </a:solidFill>
            </a:ln>
          </p:spPr>
        </p:sp>
        <p:grpSp>
          <p:nvGrpSpPr>
            <p:cNvPr id="164" name="Group 164"/>
            <p:cNvGrpSpPr/>
            <p:nvPr/>
          </p:nvGrpSpPr>
          <p:grpSpPr>
            <a:xfrm>
              <a:off x="11106150" y="4705350"/>
              <a:ext cx="171450" cy="171450"/>
              <a:chOff x="11106150" y="4705350"/>
              <a:chExt cx="171450" cy="171450"/>
            </a:xfrm>
          </p:grpSpPr>
          <p:sp>
            <p:nvSpPr>
              <p:cNvPr id="160" name="Freeform 160"/>
              <p:cNvSpPr/>
              <p:nvPr/>
            </p:nvSpPr>
            <p:spPr>
              <a:xfrm>
                <a:off x="11125200" y="47053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45F4A"/>
                </a:solidFill>
              </a:ln>
            </p:spPr>
          </p:sp>
          <p:sp>
            <p:nvSpPr>
              <p:cNvPr id="161" name="Freeform 161"/>
              <p:cNvSpPr/>
              <p:nvPr/>
            </p:nvSpPr>
            <p:spPr>
              <a:xfrm>
                <a:off x="11106150" y="48196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45F4A"/>
                </a:solidFill>
              </a:ln>
            </p:spPr>
          </p:sp>
          <p:sp>
            <p:nvSpPr>
              <p:cNvPr id="162" name="Freeform 162"/>
              <p:cNvSpPr/>
              <p:nvPr/>
            </p:nvSpPr>
            <p:spPr>
              <a:xfrm>
                <a:off x="11229975" y="47065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45F4A"/>
                </a:solidFill>
              </a:ln>
            </p:spPr>
          </p:sp>
          <p:sp>
            <p:nvSpPr>
              <p:cNvPr id="163" name="Freeform 163"/>
              <p:cNvSpPr/>
              <p:nvPr/>
            </p:nvSpPr>
            <p:spPr>
              <a:xfrm>
                <a:off x="11249025" y="48210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45F4A"/>
                </a:solidFill>
              </a:ln>
            </p:spPr>
          </p:sp>
        </p:grpSp>
        <p:sp>
          <p:nvSpPr>
            <p:cNvPr id="165" name="TextBox 165"/>
            <p:cNvSpPr txBox="1"/>
            <p:nvPr/>
          </p:nvSpPr>
          <p:spPr>
            <a:xfrm>
              <a:off x="10976991" y="5043488"/>
              <a:ext cx="429768"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事业部C​</a:t>
              </a:r>
            </a:p>
          </p:txBody>
        </p:sp>
        <p:sp>
          <p:nvSpPr>
            <p:cNvPr id="166" name="Line 166"/>
            <p:cNvSpPr/>
            <p:nvPr/>
          </p:nvSpPr>
          <p:spPr>
            <a:xfrm>
              <a:off x="9858375" y="518160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167" name="Line 167"/>
            <p:cNvSpPr/>
            <p:nvPr/>
          </p:nvSpPr>
          <p:spPr>
            <a:xfrm>
              <a:off x="10525125" y="518160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168" name="Line 168"/>
            <p:cNvSpPr/>
            <p:nvPr/>
          </p:nvSpPr>
          <p:spPr>
            <a:xfrm>
              <a:off x="11191875" y="5181600"/>
              <a:ext cx="9525" cy="76200"/>
            </a:xfrm>
            <a:custGeom>
              <a:avLst/>
              <a:gdLst/>
              <a:ahLst/>
              <a:cxnLst/>
              <a:rect l="l" t="t" r="r" b="b"/>
              <a:pathLst>
                <a:path w="9525" h="76200">
                  <a:moveTo>
                    <a:pt x="0" y="0"/>
                  </a:moveTo>
                  <a:lnTo>
                    <a:pt x="0" y="76200"/>
                  </a:lnTo>
                </a:path>
              </a:pathLst>
            </a:custGeom>
            <a:noFill/>
            <a:ln w="9525">
              <a:solidFill>
                <a:srgbClr val="ECC1B8"/>
              </a:solidFill>
            </a:ln>
          </p:spPr>
        </p:sp>
        <p:sp>
          <p:nvSpPr>
            <p:cNvPr id="169" name="Line 169"/>
            <p:cNvSpPr/>
            <p:nvPr/>
          </p:nvSpPr>
          <p:spPr>
            <a:xfrm>
              <a:off x="9858375" y="5257800"/>
              <a:ext cx="1333500" cy="9525"/>
            </a:xfrm>
            <a:custGeom>
              <a:avLst/>
              <a:gdLst/>
              <a:ahLst/>
              <a:cxnLst/>
              <a:rect l="l" t="t" r="r" b="b"/>
              <a:pathLst>
                <a:path w="1333500" h="9525">
                  <a:moveTo>
                    <a:pt x="0" y="0"/>
                  </a:moveTo>
                  <a:lnTo>
                    <a:pt x="1333500" y="0"/>
                  </a:lnTo>
                </a:path>
              </a:pathLst>
            </a:custGeom>
            <a:noFill/>
            <a:ln w="9525">
              <a:solidFill>
                <a:srgbClr val="ECC1B8"/>
              </a:solidFill>
            </a:ln>
          </p:spPr>
        </p:sp>
        <p:sp>
          <p:nvSpPr>
            <p:cNvPr id="170" name="Line 170"/>
            <p:cNvSpPr/>
            <p:nvPr/>
          </p:nvSpPr>
          <p:spPr>
            <a:xfrm>
              <a:off x="10525125" y="5257800"/>
              <a:ext cx="9525" cy="133350"/>
            </a:xfrm>
            <a:custGeom>
              <a:avLst/>
              <a:gdLst/>
              <a:ahLst/>
              <a:cxnLst/>
              <a:rect l="l" t="t" r="r" b="b"/>
              <a:pathLst>
                <a:path w="9525" h="133350">
                  <a:moveTo>
                    <a:pt x="0" y="0"/>
                  </a:moveTo>
                  <a:lnTo>
                    <a:pt x="0" y="133350"/>
                  </a:lnTo>
                </a:path>
              </a:pathLst>
            </a:custGeom>
            <a:noFill/>
            <a:ln w="9525">
              <a:solidFill>
                <a:srgbClr val="ECC1B8"/>
              </a:solidFill>
            </a:ln>
          </p:spPr>
        </p:sp>
        <p:sp>
          <p:nvSpPr>
            <p:cNvPr id="171" name="Ellipse 171"/>
            <p:cNvSpPr/>
            <p:nvPr/>
          </p:nvSpPr>
          <p:spPr>
            <a:xfrm>
              <a:off x="10334625" y="5410200"/>
              <a:ext cx="381000" cy="381000"/>
            </a:xfrm>
            <a:prstGeom prst="ellipse">
              <a:avLst/>
            </a:prstGeom>
            <a:solidFill>
              <a:srgbClr val="E8EBF8"/>
            </a:solidFill>
            <a:ln w="9525">
              <a:solidFill>
                <a:srgbClr val="E08C7B"/>
              </a:solidFill>
            </a:ln>
          </p:spPr>
        </p:sp>
        <p:grpSp>
          <p:nvGrpSpPr>
            <p:cNvPr id="180" name="Group 180"/>
            <p:cNvGrpSpPr/>
            <p:nvPr/>
          </p:nvGrpSpPr>
          <p:grpSpPr>
            <a:xfrm>
              <a:off x="10439400" y="5514975"/>
              <a:ext cx="171450" cy="180975"/>
              <a:chOff x="10439400" y="5514975"/>
              <a:chExt cx="171450" cy="180975"/>
            </a:xfrm>
          </p:grpSpPr>
          <p:sp>
            <p:nvSpPr>
              <p:cNvPr id="172" name="Freeform 172"/>
              <p:cNvSpPr/>
              <p:nvPr/>
            </p:nvSpPr>
            <p:spPr>
              <a:xfrm>
                <a:off x="10439400" y="5686425"/>
                <a:ext cx="171450" cy="9525"/>
              </a:xfrm>
              <a:custGeom>
                <a:avLst/>
                <a:gdLst/>
                <a:ahLst/>
                <a:cxnLst/>
                <a:rect l="l" t="t" r="r" b="b"/>
                <a:pathLst>
                  <a:path w="171450" h="9525">
                    <a:moveTo>
                      <a:pt x="0" y="0"/>
                    </a:moveTo>
                    <a:lnTo>
                      <a:pt x="171450" y="0"/>
                    </a:lnTo>
                  </a:path>
                </a:pathLst>
              </a:custGeom>
              <a:noFill/>
              <a:ln w="19050">
                <a:solidFill>
                  <a:srgbClr val="C45F4A"/>
                </a:solidFill>
              </a:ln>
            </p:spPr>
          </p:sp>
          <p:sp>
            <p:nvSpPr>
              <p:cNvPr id="173" name="Freeform 173"/>
              <p:cNvSpPr/>
              <p:nvPr/>
            </p:nvSpPr>
            <p:spPr>
              <a:xfrm>
                <a:off x="10439400" y="5581650"/>
                <a:ext cx="171450" cy="9525"/>
              </a:xfrm>
              <a:custGeom>
                <a:avLst/>
                <a:gdLst/>
                <a:ahLst/>
                <a:cxnLst/>
                <a:rect l="l" t="t" r="r" b="b"/>
                <a:pathLst>
                  <a:path w="171450" h="9525">
                    <a:moveTo>
                      <a:pt x="0" y="0"/>
                    </a:moveTo>
                    <a:lnTo>
                      <a:pt x="171450" y="0"/>
                    </a:lnTo>
                  </a:path>
                </a:pathLst>
              </a:custGeom>
              <a:noFill/>
              <a:ln w="19050">
                <a:solidFill>
                  <a:srgbClr val="C45F4A"/>
                </a:solidFill>
              </a:ln>
            </p:spPr>
          </p:sp>
          <p:sp>
            <p:nvSpPr>
              <p:cNvPr id="174" name="Freeform 174"/>
              <p:cNvSpPr/>
              <p:nvPr/>
            </p:nvSpPr>
            <p:spPr>
              <a:xfrm>
                <a:off x="10458450" y="5514975"/>
                <a:ext cx="133350" cy="28575"/>
              </a:xfrm>
              <a:custGeom>
                <a:avLst/>
                <a:gdLst/>
                <a:ahLst/>
                <a:cxnLst/>
                <a:rect l="l" t="t" r="r" b="b"/>
                <a:pathLst>
                  <a:path w="133350" h="28575">
                    <a:moveTo>
                      <a:pt x="0" y="28575"/>
                    </a:moveTo>
                    <a:lnTo>
                      <a:pt x="66675" y="0"/>
                    </a:lnTo>
                    <a:lnTo>
                      <a:pt x="133350" y="28575"/>
                    </a:lnTo>
                  </a:path>
                </a:pathLst>
              </a:custGeom>
              <a:noFill/>
              <a:ln w="19050">
                <a:solidFill>
                  <a:srgbClr val="C45F4A"/>
                </a:solidFill>
              </a:ln>
            </p:spPr>
          </p:sp>
          <p:sp>
            <p:nvSpPr>
              <p:cNvPr id="175" name="Freeform 175"/>
              <p:cNvSpPr/>
              <p:nvPr/>
            </p:nvSpPr>
            <p:spPr>
              <a:xfrm>
                <a:off x="10448925" y="5581650"/>
                <a:ext cx="9525" cy="104775"/>
              </a:xfrm>
              <a:custGeom>
                <a:avLst/>
                <a:gdLst/>
                <a:ahLst/>
                <a:cxnLst/>
                <a:rect l="l" t="t" r="r" b="b"/>
                <a:pathLst>
                  <a:path w="9525" h="104775">
                    <a:moveTo>
                      <a:pt x="0" y="0"/>
                    </a:moveTo>
                    <a:lnTo>
                      <a:pt x="0" y="104775"/>
                    </a:lnTo>
                  </a:path>
                </a:pathLst>
              </a:custGeom>
              <a:noFill/>
              <a:ln w="19050">
                <a:solidFill>
                  <a:srgbClr val="C45F4A"/>
                </a:solidFill>
              </a:ln>
            </p:spPr>
          </p:sp>
          <p:sp>
            <p:nvSpPr>
              <p:cNvPr id="176" name="Freeform 176"/>
              <p:cNvSpPr/>
              <p:nvPr/>
            </p:nvSpPr>
            <p:spPr>
              <a:xfrm>
                <a:off x="10601325" y="5581650"/>
                <a:ext cx="9525" cy="104775"/>
              </a:xfrm>
              <a:custGeom>
                <a:avLst/>
                <a:gdLst/>
                <a:ahLst/>
                <a:cxnLst/>
                <a:rect l="l" t="t" r="r" b="b"/>
                <a:pathLst>
                  <a:path w="9525" h="104775">
                    <a:moveTo>
                      <a:pt x="0" y="0"/>
                    </a:moveTo>
                    <a:lnTo>
                      <a:pt x="0" y="104775"/>
                    </a:lnTo>
                  </a:path>
                </a:pathLst>
              </a:custGeom>
              <a:noFill/>
              <a:ln w="19050">
                <a:solidFill>
                  <a:srgbClr val="C45F4A"/>
                </a:solidFill>
              </a:ln>
            </p:spPr>
          </p:sp>
          <p:sp>
            <p:nvSpPr>
              <p:cNvPr id="177" name="Freeform 177"/>
              <p:cNvSpPr/>
              <p:nvPr/>
            </p:nvSpPr>
            <p:spPr>
              <a:xfrm>
                <a:off x="10487025" y="5619750"/>
                <a:ext cx="9525" cy="28575"/>
              </a:xfrm>
              <a:custGeom>
                <a:avLst/>
                <a:gdLst/>
                <a:ahLst/>
                <a:cxnLst/>
                <a:rect l="l" t="t" r="r" b="b"/>
                <a:pathLst>
                  <a:path w="9525" h="28575">
                    <a:moveTo>
                      <a:pt x="0" y="0"/>
                    </a:moveTo>
                    <a:lnTo>
                      <a:pt x="0" y="28575"/>
                    </a:lnTo>
                  </a:path>
                </a:pathLst>
              </a:custGeom>
              <a:noFill/>
              <a:ln w="19050">
                <a:solidFill>
                  <a:srgbClr val="C45F4A"/>
                </a:solidFill>
              </a:ln>
            </p:spPr>
          </p:sp>
          <p:sp>
            <p:nvSpPr>
              <p:cNvPr id="178" name="Freeform 178"/>
              <p:cNvSpPr/>
              <p:nvPr/>
            </p:nvSpPr>
            <p:spPr>
              <a:xfrm>
                <a:off x="10525125" y="5619750"/>
                <a:ext cx="9525" cy="28575"/>
              </a:xfrm>
              <a:custGeom>
                <a:avLst/>
                <a:gdLst/>
                <a:ahLst/>
                <a:cxnLst/>
                <a:rect l="l" t="t" r="r" b="b"/>
                <a:pathLst>
                  <a:path w="9525" h="28575">
                    <a:moveTo>
                      <a:pt x="0" y="0"/>
                    </a:moveTo>
                    <a:lnTo>
                      <a:pt x="0" y="28575"/>
                    </a:lnTo>
                  </a:path>
                </a:pathLst>
              </a:custGeom>
              <a:noFill/>
              <a:ln w="19050">
                <a:solidFill>
                  <a:srgbClr val="C45F4A"/>
                </a:solidFill>
              </a:ln>
            </p:spPr>
          </p:sp>
          <p:sp>
            <p:nvSpPr>
              <p:cNvPr id="179" name="Freeform 179"/>
              <p:cNvSpPr/>
              <p:nvPr/>
            </p:nvSpPr>
            <p:spPr>
              <a:xfrm>
                <a:off x="10563225" y="5619750"/>
                <a:ext cx="9525" cy="28575"/>
              </a:xfrm>
              <a:custGeom>
                <a:avLst/>
                <a:gdLst/>
                <a:ahLst/>
                <a:cxnLst/>
                <a:rect l="l" t="t" r="r" b="b"/>
                <a:pathLst>
                  <a:path w="9525" h="28575">
                    <a:moveTo>
                      <a:pt x="0" y="0"/>
                    </a:moveTo>
                    <a:lnTo>
                      <a:pt x="0" y="28575"/>
                    </a:lnTo>
                  </a:path>
                </a:pathLst>
              </a:custGeom>
              <a:noFill/>
              <a:ln w="19050">
                <a:solidFill>
                  <a:srgbClr val="C45F4A"/>
                </a:solidFill>
              </a:ln>
            </p:spPr>
          </p:sp>
        </p:grpSp>
        <p:sp>
          <p:nvSpPr>
            <p:cNvPr id="181" name="TextBox 181"/>
            <p:cNvSpPr txBox="1"/>
            <p:nvPr/>
          </p:nvSpPr>
          <p:spPr>
            <a:xfrm>
              <a:off x="10318432" y="5862638"/>
              <a:ext cx="413385"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企业官方</a:t>
              </a:r>
            </a:p>
          </p:txBody>
        </p:sp>
      </p:gr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51</a:t>
              </a:r>
            </a:p>
          </p:txBody>
        </p:sp>
        <p:sp>
          <p:nvSpPr>
            <p:cNvPr id="4" name="TextBox 4"/>
            <p:cNvSpPr txBox="1"/>
            <p:nvPr/>
          </p:nvSpPr>
          <p:spPr>
            <a:xfrm>
              <a:off x="942594" y="151448"/>
              <a:ext cx="249844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RFM用户分层策略​</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41" name="cube-diagram"/>
          <p:cNvGrpSpPr/>
          <p:nvPr/>
        </p:nvGrpSpPr>
        <p:grpSpPr>
          <a:xfrm>
            <a:off x="566738" y="1459468"/>
            <a:ext cx="5476741" cy="4502944"/>
            <a:chOff x="566738" y="1459468"/>
            <a:chExt cx="5476741" cy="4502944"/>
          </a:xfrm>
        </p:grpSpPr>
        <p:sp>
          <p:nvSpPr>
            <p:cNvPr id="7" name="Freeform 7"/>
            <p:cNvSpPr/>
            <p:nvPr/>
          </p:nvSpPr>
          <p:spPr>
            <a:xfrm>
              <a:off x="2667000" y="2857500"/>
              <a:ext cx="1333500" cy="1333500"/>
            </a:xfrm>
            <a:prstGeom prst="cube">
              <a:avLst>
                <a:gd name="adj" fmla="val 28571"/>
              </a:avLst>
            </a:prstGeom>
            <a:solidFill>
              <a:srgbClr val="E08C7B">
                <a:alpha val="45000"/>
              </a:srgbClr>
            </a:solidFill>
            <a:ln w="9525">
              <a:solidFill>
                <a:srgbClr val="FFFFFF"/>
              </a:solidFill>
            </a:ln>
          </p:spPr>
        </p:sp>
        <p:sp>
          <p:nvSpPr>
            <p:cNvPr id="8" name="Freeform 8"/>
            <p:cNvSpPr/>
            <p:nvPr/>
          </p:nvSpPr>
          <p:spPr>
            <a:xfrm>
              <a:off x="3619500" y="2857500"/>
              <a:ext cx="1333500" cy="1333500"/>
            </a:xfrm>
            <a:prstGeom prst="cube">
              <a:avLst>
                <a:gd name="adj" fmla="val 28571"/>
              </a:avLst>
            </a:prstGeom>
            <a:solidFill>
              <a:srgbClr val="E08C7B">
                <a:alpha val="45000"/>
              </a:srgbClr>
            </a:solidFill>
            <a:ln w="9525">
              <a:solidFill>
                <a:srgbClr val="FFFFFF"/>
              </a:solidFill>
            </a:ln>
          </p:spPr>
        </p:sp>
        <p:sp>
          <p:nvSpPr>
            <p:cNvPr id="9" name="Freeform 9"/>
            <p:cNvSpPr/>
            <p:nvPr/>
          </p:nvSpPr>
          <p:spPr>
            <a:xfrm>
              <a:off x="2667000" y="1905000"/>
              <a:ext cx="1333500" cy="1333500"/>
            </a:xfrm>
            <a:prstGeom prst="cube">
              <a:avLst>
                <a:gd name="adj" fmla="val 28571"/>
              </a:avLst>
            </a:prstGeom>
            <a:solidFill>
              <a:srgbClr val="E08C7B">
                <a:alpha val="45000"/>
              </a:srgbClr>
            </a:solidFill>
            <a:ln w="9525">
              <a:solidFill>
                <a:srgbClr val="FFFFFF"/>
              </a:solidFill>
            </a:ln>
          </p:spPr>
        </p:sp>
        <p:sp>
          <p:nvSpPr>
            <p:cNvPr id="10" name="Freeform 10"/>
            <p:cNvSpPr/>
            <p:nvPr/>
          </p:nvSpPr>
          <p:spPr>
            <a:xfrm>
              <a:off x="3619500" y="1905000"/>
              <a:ext cx="1333500" cy="1333500"/>
            </a:xfrm>
            <a:prstGeom prst="cube">
              <a:avLst>
                <a:gd name="adj" fmla="val 28571"/>
              </a:avLst>
            </a:prstGeom>
            <a:solidFill>
              <a:srgbClr val="F07E6A">
                <a:alpha val="50000"/>
              </a:srgbClr>
            </a:solidFill>
            <a:ln w="9525">
              <a:solidFill>
                <a:srgbClr val="FFFFFF"/>
              </a:solidFill>
            </a:ln>
          </p:spPr>
        </p:sp>
        <p:sp>
          <p:nvSpPr>
            <p:cNvPr id="11" name="Freeform 11"/>
            <p:cNvSpPr/>
            <p:nvPr/>
          </p:nvSpPr>
          <p:spPr>
            <a:xfrm>
              <a:off x="2286000" y="3238500"/>
              <a:ext cx="1333500" cy="1333500"/>
            </a:xfrm>
            <a:prstGeom prst="cube">
              <a:avLst>
                <a:gd name="adj" fmla="val 28571"/>
              </a:avLst>
            </a:prstGeom>
            <a:solidFill>
              <a:srgbClr val="C46D5B">
                <a:alpha val="60000"/>
              </a:srgbClr>
            </a:solidFill>
            <a:ln w="9525">
              <a:solidFill>
                <a:srgbClr val="FFFFFF"/>
              </a:solidFill>
            </a:ln>
          </p:spPr>
        </p:sp>
        <p:sp>
          <p:nvSpPr>
            <p:cNvPr id="12" name="Freeform 12"/>
            <p:cNvSpPr/>
            <p:nvPr/>
          </p:nvSpPr>
          <p:spPr>
            <a:xfrm>
              <a:off x="3238500" y="3238500"/>
              <a:ext cx="1333500" cy="1333500"/>
            </a:xfrm>
            <a:prstGeom prst="cube">
              <a:avLst>
                <a:gd name="adj" fmla="val 28571"/>
              </a:avLst>
            </a:prstGeom>
            <a:solidFill>
              <a:srgbClr val="E8A79A">
                <a:alpha val="55000"/>
              </a:srgbClr>
            </a:solidFill>
            <a:ln w="9525">
              <a:solidFill>
                <a:srgbClr val="FFFFFF"/>
              </a:solidFill>
            </a:ln>
          </p:spPr>
        </p:sp>
        <p:sp>
          <p:nvSpPr>
            <p:cNvPr id="13" name="Freeform 13"/>
            <p:cNvSpPr/>
            <p:nvPr/>
          </p:nvSpPr>
          <p:spPr>
            <a:xfrm>
              <a:off x="2286000" y="2286000"/>
              <a:ext cx="1333500" cy="1333500"/>
            </a:xfrm>
            <a:prstGeom prst="cube">
              <a:avLst>
                <a:gd name="adj" fmla="val 28571"/>
              </a:avLst>
            </a:prstGeom>
            <a:solidFill>
              <a:srgbClr val="C45F4A">
                <a:alpha val="60000"/>
              </a:srgbClr>
            </a:solidFill>
            <a:ln w="9525">
              <a:solidFill>
                <a:srgbClr val="FFFFFF"/>
              </a:solidFill>
            </a:ln>
          </p:spPr>
        </p:sp>
        <p:sp>
          <p:nvSpPr>
            <p:cNvPr id="14" name="Freeform 14"/>
            <p:cNvSpPr/>
            <p:nvPr/>
          </p:nvSpPr>
          <p:spPr>
            <a:xfrm>
              <a:off x="3238500" y="2286000"/>
              <a:ext cx="1333500" cy="1333500"/>
            </a:xfrm>
            <a:prstGeom prst="cube">
              <a:avLst>
                <a:gd name="adj" fmla="val 28571"/>
              </a:avLst>
            </a:prstGeom>
            <a:solidFill>
              <a:srgbClr val="E8634C">
                <a:alpha val="85000"/>
              </a:srgbClr>
            </a:solidFill>
            <a:ln w="9525">
              <a:solidFill>
                <a:srgbClr val="FFFFFF"/>
              </a:solidFill>
            </a:ln>
          </p:spPr>
        </p:sp>
        <p:sp>
          <p:nvSpPr>
            <p:cNvPr id="15" name="Line 15"/>
            <p:cNvSpPr/>
            <p:nvPr/>
          </p:nvSpPr>
          <p:spPr>
            <a:xfrm flipV="1">
              <a:off x="3143250" y="1571625"/>
              <a:ext cx="1" cy="3476625"/>
            </a:xfrm>
            <a:prstGeom prst="line">
              <a:avLst/>
            </a:prstGeom>
            <a:noFill/>
            <a:ln w="14288">
              <a:solidFill>
                <a:srgbClr val="C45F4A"/>
              </a:solidFill>
              <a:tailEnd type="triangle" w="lg" len="lg"/>
            </a:ln>
          </p:spPr>
        </p:sp>
        <p:sp>
          <p:nvSpPr>
            <p:cNvPr id="16" name="Line 16"/>
            <p:cNvSpPr/>
            <p:nvPr/>
          </p:nvSpPr>
          <p:spPr>
            <a:xfrm>
              <a:off x="1428750" y="3905250"/>
              <a:ext cx="4210050" cy="1"/>
            </a:xfrm>
            <a:prstGeom prst="line">
              <a:avLst/>
            </a:prstGeom>
            <a:noFill/>
            <a:ln w="14288">
              <a:solidFill>
                <a:srgbClr val="C45F4A"/>
              </a:solidFill>
              <a:tailEnd type="triangle" w="lg" len="lg"/>
            </a:ln>
          </p:spPr>
        </p:sp>
        <p:sp>
          <p:nvSpPr>
            <p:cNvPr id="17" name="Line 17"/>
            <p:cNvSpPr/>
            <p:nvPr/>
          </p:nvSpPr>
          <p:spPr>
            <a:xfrm flipH="1">
              <a:off x="1981200" y="1952625"/>
              <a:ext cx="3209925" cy="2981325"/>
            </a:xfrm>
            <a:prstGeom prst="line">
              <a:avLst/>
            </a:prstGeom>
            <a:noFill/>
            <a:ln w="14288">
              <a:solidFill>
                <a:srgbClr val="C45F4A"/>
              </a:solidFill>
              <a:tailEnd type="triangle" w="lg" len="lg"/>
            </a:ln>
          </p:spPr>
        </p:sp>
        <p:sp>
          <p:nvSpPr>
            <p:cNvPr id="18" name="TextBox 18"/>
            <p:cNvSpPr txBox="1"/>
            <p:nvPr/>
          </p:nvSpPr>
          <p:spPr>
            <a:xfrm>
              <a:off x="2486063" y="1610439"/>
              <a:ext cx="328574" cy="154781"/>
            </a:xfrm>
            <a:prstGeom prst="rect">
              <a:avLst/>
            </a:prstGeom>
            <a:noFill/>
            <a:ln>
              <a:noFill/>
            </a:ln>
          </p:spPr>
          <p:txBody>
            <a:bodyPr wrap="none" lIns="0" tIns="0" rIns="0" bIns="0" anchor="t" anchorCtr="0">
              <a:spAutoFit/>
            </a:bodyPr>
            <a:lstStyle/>
            <a:p>
              <a:pPr algn="r"/>
              <a:r>
                <a:rPr lang="zh-CN" sz="790" dirty="0">
                  <a:solidFill>
                    <a:srgbClr val="88706B"/>
                  </a:solidFill>
                  <a:latin typeface="+mn-lt"/>
                  <a:ea typeface="+mn-ea"/>
                  <a:cs typeface="+mn-cs"/>
                </a:rPr>
                <a:t>价值高</a:t>
              </a:r>
            </a:p>
          </p:txBody>
        </p:sp>
        <p:sp>
          <p:nvSpPr>
            <p:cNvPr id="19" name="TextBox 19"/>
            <p:cNvSpPr txBox="1"/>
            <p:nvPr/>
          </p:nvSpPr>
          <p:spPr>
            <a:xfrm>
              <a:off x="3348038" y="1610439"/>
              <a:ext cx="217409" cy="154781"/>
            </a:xfrm>
            <a:prstGeom prst="rect">
              <a:avLst/>
            </a:prstGeom>
            <a:noFill/>
            <a:ln>
              <a:noFill/>
            </a:ln>
          </p:spPr>
          <p:txBody>
            <a:bodyPr wrap="none" lIns="0" tIns="0" rIns="0" bIns="0" anchor="t" anchorCtr="0">
              <a:spAutoFit/>
            </a:bodyPr>
            <a:lstStyle/>
            <a:p>
              <a:pPr algn="l"/>
              <a:r>
                <a:rPr lang="en-US" sz="790" dirty="0">
                  <a:solidFill>
                    <a:srgbClr val="88706B"/>
                  </a:solidFill>
                  <a:latin typeface="+mn-lt"/>
                  <a:ea typeface="+mn-ea"/>
                  <a:cs typeface="+mn-cs"/>
                </a:rPr>
                <a:t>(M)</a:t>
              </a:r>
            </a:p>
          </p:txBody>
        </p:sp>
        <p:sp>
          <p:nvSpPr>
            <p:cNvPr id="20" name="TextBox 20"/>
            <p:cNvSpPr txBox="1"/>
            <p:nvPr/>
          </p:nvSpPr>
          <p:spPr>
            <a:xfrm>
              <a:off x="2486063" y="5268039"/>
              <a:ext cx="328574" cy="154781"/>
            </a:xfrm>
            <a:prstGeom prst="rect">
              <a:avLst/>
            </a:prstGeom>
            <a:noFill/>
            <a:ln>
              <a:noFill/>
            </a:ln>
          </p:spPr>
          <p:txBody>
            <a:bodyPr wrap="none" lIns="0" tIns="0" rIns="0" bIns="0" anchor="t" anchorCtr="0">
              <a:spAutoFit/>
            </a:bodyPr>
            <a:lstStyle/>
            <a:p>
              <a:pPr algn="r"/>
              <a:r>
                <a:rPr lang="zh-CN" sz="790" dirty="0">
                  <a:solidFill>
                    <a:srgbClr val="88706B"/>
                  </a:solidFill>
                  <a:latin typeface="+mn-lt"/>
                  <a:ea typeface="+mn-ea"/>
                  <a:cs typeface="+mn-cs"/>
                </a:rPr>
                <a:t>价值低</a:t>
              </a:r>
            </a:p>
          </p:txBody>
        </p:sp>
        <p:sp>
          <p:nvSpPr>
            <p:cNvPr id="21" name="TextBox 21"/>
            <p:cNvSpPr txBox="1"/>
            <p:nvPr/>
          </p:nvSpPr>
          <p:spPr>
            <a:xfrm>
              <a:off x="3348038" y="5268039"/>
              <a:ext cx="217409" cy="154781"/>
            </a:xfrm>
            <a:prstGeom prst="rect">
              <a:avLst/>
            </a:prstGeom>
            <a:noFill/>
            <a:ln>
              <a:noFill/>
            </a:ln>
          </p:spPr>
          <p:txBody>
            <a:bodyPr wrap="none" lIns="0" tIns="0" rIns="0" bIns="0" anchor="t" anchorCtr="0">
              <a:spAutoFit/>
            </a:bodyPr>
            <a:lstStyle/>
            <a:p>
              <a:pPr algn="l"/>
              <a:r>
                <a:rPr lang="en-US" sz="790" dirty="0">
                  <a:solidFill>
                    <a:srgbClr val="88706B"/>
                  </a:solidFill>
                  <a:latin typeface="+mn-lt"/>
                  <a:ea typeface="+mn-ea"/>
                  <a:cs typeface="+mn-cs"/>
                </a:rPr>
                <a:t>(M)</a:t>
              </a:r>
            </a:p>
          </p:txBody>
        </p:sp>
        <p:sp>
          <p:nvSpPr>
            <p:cNvPr id="22" name="TextBox 22"/>
            <p:cNvSpPr txBox="1"/>
            <p:nvPr/>
          </p:nvSpPr>
          <p:spPr>
            <a:xfrm>
              <a:off x="757238" y="3772614"/>
              <a:ext cx="682137" cy="154781"/>
            </a:xfrm>
            <a:prstGeom prst="rect">
              <a:avLst/>
            </a:prstGeom>
            <a:noFill/>
            <a:ln>
              <a:noFill/>
            </a:ln>
          </p:spPr>
          <p:txBody>
            <a:bodyPr wrap="none" lIns="0" tIns="0" rIns="0" bIns="0" anchor="t" anchorCtr="0">
              <a:spAutoFit/>
            </a:bodyPr>
            <a:lstStyle/>
            <a:p>
              <a:pPr algn="l"/>
              <a:r>
                <a:rPr lang="zh-CN" sz="790" dirty="0">
                  <a:solidFill>
                    <a:srgbClr val="88706B"/>
                  </a:solidFill>
                  <a:latin typeface="+mn-lt"/>
                  <a:ea typeface="+mn-ea"/>
                  <a:cs typeface="+mn-cs"/>
                </a:rPr>
                <a:t>价值低　(R)​</a:t>
              </a:r>
            </a:p>
          </p:txBody>
        </p:sp>
        <p:sp>
          <p:nvSpPr>
            <p:cNvPr id="23" name="TextBox 23"/>
            <p:cNvSpPr txBox="1"/>
            <p:nvPr/>
          </p:nvSpPr>
          <p:spPr>
            <a:xfrm>
              <a:off x="5253038" y="3705939"/>
              <a:ext cx="61150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88706B"/>
                  </a:solidFill>
                  <a:latin typeface="+mn-lt"/>
                  <a:ea typeface="+mn-ea"/>
                  <a:cs typeface="+mn-cs"/>
                </a:rPr>
                <a:t>价值高 (R)​</a:t>
              </a:r>
              <a:br/>
              <a:r>
                <a:rPr lang="zh-CN" sz="790" dirty="0">
                  <a:solidFill>
                    <a:srgbClr val="88706B"/>
                  </a:solidFill>
                  <a:latin typeface="+mn-lt"/>
                  <a:ea typeface="+mn-ea"/>
                  <a:cs typeface="+mn-cs"/>
                </a:rPr>
                <a:t>最近一次消费</a:t>
              </a:r>
            </a:p>
          </p:txBody>
        </p:sp>
        <p:sp>
          <p:nvSpPr>
            <p:cNvPr id="24" name="TextBox 24"/>
            <p:cNvSpPr txBox="1"/>
            <p:nvPr/>
          </p:nvSpPr>
          <p:spPr>
            <a:xfrm>
              <a:off x="2043112" y="4677489"/>
              <a:ext cx="561340"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88706B"/>
                  </a:solidFill>
                  <a:latin typeface="+mn-lt"/>
                  <a:ea typeface="+mn-ea"/>
                  <a:cs typeface="+mn-cs"/>
                </a:rPr>
                <a:t>价值高 (F)​</a:t>
              </a:r>
              <a:br/>
              <a:r>
                <a:rPr lang="zh-CN" sz="790" dirty="0">
                  <a:solidFill>
                    <a:srgbClr val="88706B"/>
                  </a:solidFill>
                  <a:latin typeface="+mn-lt"/>
                  <a:ea typeface="+mn-ea"/>
                  <a:cs typeface="+mn-cs"/>
                </a:rPr>
                <a:t>消费频次</a:t>
              </a:r>
            </a:p>
          </p:txBody>
        </p:sp>
        <p:sp>
          <p:nvSpPr>
            <p:cNvPr id="25" name="Line 25"/>
            <p:cNvSpPr/>
            <p:nvPr/>
          </p:nvSpPr>
          <p:spPr>
            <a:xfrm>
              <a:off x="2047875" y="1524000"/>
              <a:ext cx="790575" cy="685800"/>
            </a:xfrm>
            <a:custGeom>
              <a:avLst/>
              <a:gdLst/>
              <a:ahLst/>
              <a:cxnLst/>
              <a:rect l="l" t="t" r="r" b="b"/>
              <a:pathLst>
                <a:path w="790575" h="685800">
                  <a:moveTo>
                    <a:pt x="0" y="0"/>
                  </a:moveTo>
                  <a:lnTo>
                    <a:pt x="790575" y="685800"/>
                  </a:lnTo>
                </a:path>
              </a:pathLst>
            </a:custGeom>
            <a:noFill/>
            <a:ln w="9525">
              <a:solidFill>
                <a:srgbClr val="ECC1B8"/>
              </a:solidFill>
            </a:ln>
          </p:spPr>
        </p:sp>
        <p:sp>
          <p:nvSpPr>
            <p:cNvPr id="26" name="TextBox 26"/>
            <p:cNvSpPr txBox="1"/>
            <p:nvPr/>
          </p:nvSpPr>
          <p:spPr>
            <a:xfrm>
              <a:off x="947738" y="1459468"/>
              <a:ext cx="895190" cy="169069"/>
            </a:xfrm>
            <a:prstGeom prst="rect">
              <a:avLst/>
            </a:prstGeom>
            <a:noFill/>
            <a:ln>
              <a:noFill/>
            </a:ln>
          </p:spPr>
          <p:txBody>
            <a:bodyPr wrap="none" lIns="0" tIns="0" rIns="0" bIns="0" anchor="t" anchorCtr="0">
              <a:spAutoFit/>
            </a:bodyPr>
            <a:lstStyle/>
            <a:p>
              <a:pPr algn="l"/>
              <a:r>
                <a:rPr lang="zh-CN" sz="860" dirty="0">
                  <a:solidFill>
                    <a:srgbClr val="C45F4A"/>
                  </a:solidFill>
                  <a:latin typeface="+mn-lt"/>
                  <a:ea typeface="+mn-ea"/>
                  <a:cs typeface="+mn-cs"/>
                </a:rPr>
                <a:t>4.重要挽留用户​</a:t>
              </a:r>
            </a:p>
          </p:txBody>
        </p:sp>
        <p:sp>
          <p:nvSpPr>
            <p:cNvPr id="27" name="Line 27"/>
            <p:cNvSpPr/>
            <p:nvPr/>
          </p:nvSpPr>
          <p:spPr>
            <a:xfrm>
              <a:off x="4476750" y="1828800"/>
              <a:ext cx="619125" cy="571500"/>
            </a:xfrm>
            <a:custGeom>
              <a:avLst/>
              <a:gdLst/>
              <a:ahLst/>
              <a:cxnLst/>
              <a:rect l="l" t="t" r="r" b="b"/>
              <a:pathLst>
                <a:path w="619125" h="571500">
                  <a:moveTo>
                    <a:pt x="619125" y="0"/>
                  </a:moveTo>
                  <a:lnTo>
                    <a:pt x="0" y="571500"/>
                  </a:lnTo>
                </a:path>
              </a:pathLst>
            </a:custGeom>
            <a:noFill/>
            <a:ln w="9525">
              <a:solidFill>
                <a:srgbClr val="ECC1B8"/>
              </a:solidFill>
            </a:ln>
          </p:spPr>
        </p:sp>
        <p:sp>
          <p:nvSpPr>
            <p:cNvPr id="28" name="TextBox 28"/>
            <p:cNvSpPr txBox="1"/>
            <p:nvPr/>
          </p:nvSpPr>
          <p:spPr>
            <a:xfrm>
              <a:off x="5138738" y="1773793"/>
              <a:ext cx="895190" cy="169069"/>
            </a:xfrm>
            <a:prstGeom prst="rect">
              <a:avLst/>
            </a:prstGeom>
            <a:noFill/>
            <a:ln>
              <a:noFill/>
            </a:ln>
          </p:spPr>
          <p:txBody>
            <a:bodyPr wrap="none" lIns="0" tIns="0" rIns="0" bIns="0" anchor="t" anchorCtr="0">
              <a:spAutoFit/>
            </a:bodyPr>
            <a:lstStyle/>
            <a:p>
              <a:pPr algn="l"/>
              <a:r>
                <a:rPr lang="zh-CN" sz="860" dirty="0">
                  <a:solidFill>
                    <a:srgbClr val="C45F4A"/>
                  </a:solidFill>
                  <a:latin typeface="+mn-lt"/>
                  <a:ea typeface="+mn-ea"/>
                  <a:cs typeface="+mn-cs"/>
                </a:rPr>
                <a:t>2.重要发展用户​</a:t>
              </a:r>
            </a:p>
          </p:txBody>
        </p:sp>
        <p:sp>
          <p:nvSpPr>
            <p:cNvPr id="29" name="Line 29"/>
            <p:cNvSpPr/>
            <p:nvPr/>
          </p:nvSpPr>
          <p:spPr>
            <a:xfrm>
              <a:off x="1714500" y="3067050"/>
              <a:ext cx="838200" cy="76200"/>
            </a:xfrm>
            <a:custGeom>
              <a:avLst/>
              <a:gdLst/>
              <a:ahLst/>
              <a:cxnLst/>
              <a:rect l="l" t="t" r="r" b="b"/>
              <a:pathLst>
                <a:path w="838200" h="76200">
                  <a:moveTo>
                    <a:pt x="0" y="0"/>
                  </a:moveTo>
                  <a:lnTo>
                    <a:pt x="838200" y="76200"/>
                  </a:lnTo>
                </a:path>
              </a:pathLst>
            </a:custGeom>
            <a:noFill/>
            <a:ln w="9525">
              <a:solidFill>
                <a:srgbClr val="ECC1B8"/>
              </a:solidFill>
            </a:ln>
          </p:spPr>
        </p:sp>
        <p:sp>
          <p:nvSpPr>
            <p:cNvPr id="30" name="TextBox 30"/>
            <p:cNvSpPr txBox="1"/>
            <p:nvPr/>
          </p:nvSpPr>
          <p:spPr>
            <a:xfrm>
              <a:off x="566738" y="3012043"/>
              <a:ext cx="895190" cy="169069"/>
            </a:xfrm>
            <a:prstGeom prst="rect">
              <a:avLst/>
            </a:prstGeom>
            <a:noFill/>
            <a:ln>
              <a:noFill/>
            </a:ln>
          </p:spPr>
          <p:txBody>
            <a:bodyPr wrap="none" lIns="0" tIns="0" rIns="0" bIns="0" anchor="t" anchorCtr="0">
              <a:spAutoFit/>
            </a:bodyPr>
            <a:lstStyle/>
            <a:p>
              <a:pPr algn="l"/>
              <a:r>
                <a:rPr lang="zh-CN" sz="860" dirty="0">
                  <a:solidFill>
                    <a:srgbClr val="C45F4A"/>
                  </a:solidFill>
                  <a:latin typeface="+mn-lt"/>
                  <a:ea typeface="+mn-ea"/>
                  <a:cs typeface="+mn-cs"/>
                </a:rPr>
                <a:t>3.重要保持用户​</a:t>
              </a:r>
            </a:p>
          </p:txBody>
        </p:sp>
        <p:sp>
          <p:nvSpPr>
            <p:cNvPr id="31" name="Line 31"/>
            <p:cNvSpPr/>
            <p:nvPr/>
          </p:nvSpPr>
          <p:spPr>
            <a:xfrm>
              <a:off x="4210050" y="3143250"/>
              <a:ext cx="885825" cy="19050"/>
            </a:xfrm>
            <a:custGeom>
              <a:avLst/>
              <a:gdLst/>
              <a:ahLst/>
              <a:cxnLst/>
              <a:rect l="l" t="t" r="r" b="b"/>
              <a:pathLst>
                <a:path w="885825" h="19050">
                  <a:moveTo>
                    <a:pt x="885825" y="19050"/>
                  </a:moveTo>
                  <a:lnTo>
                    <a:pt x="0" y="0"/>
                  </a:lnTo>
                </a:path>
              </a:pathLst>
            </a:custGeom>
            <a:noFill/>
            <a:ln w="9525">
              <a:solidFill>
                <a:srgbClr val="F3BAB0"/>
              </a:solidFill>
            </a:ln>
          </p:spPr>
        </p:sp>
        <p:sp>
          <p:nvSpPr>
            <p:cNvPr id="32" name="TextBox 32"/>
            <p:cNvSpPr txBox="1"/>
            <p:nvPr/>
          </p:nvSpPr>
          <p:spPr>
            <a:xfrm>
              <a:off x="5138738" y="3107293"/>
              <a:ext cx="904741" cy="169069"/>
            </a:xfrm>
            <a:prstGeom prst="rect">
              <a:avLst/>
            </a:prstGeom>
            <a:noFill/>
            <a:ln>
              <a:noFill/>
            </a:ln>
          </p:spPr>
          <p:txBody>
            <a:bodyPr wrap="none" lIns="0" tIns="0" rIns="0" bIns="0" anchor="t" anchorCtr="0">
              <a:spAutoFit/>
            </a:bodyPr>
            <a:lstStyle/>
            <a:p>
              <a:pPr algn="l"/>
              <a:r>
                <a:rPr lang="zh-CN" sz="860" b="1" dirty="0">
                  <a:solidFill>
                    <a:srgbClr val="E2624C"/>
                  </a:solidFill>
                  <a:latin typeface="+mn-lt"/>
                  <a:ea typeface="+mn-ea"/>
                  <a:cs typeface="+mn-cs"/>
                </a:rPr>
                <a:t>1.重要价值用户​</a:t>
              </a:r>
            </a:p>
          </p:txBody>
        </p:sp>
        <p:sp>
          <p:nvSpPr>
            <p:cNvPr id="33" name="Line 33"/>
            <p:cNvSpPr/>
            <p:nvPr/>
          </p:nvSpPr>
          <p:spPr>
            <a:xfrm>
              <a:off x="1714500" y="4238625"/>
              <a:ext cx="1028700" cy="523875"/>
            </a:xfrm>
            <a:custGeom>
              <a:avLst/>
              <a:gdLst/>
              <a:ahLst/>
              <a:cxnLst/>
              <a:rect l="l" t="t" r="r" b="b"/>
              <a:pathLst>
                <a:path w="1028700" h="523875">
                  <a:moveTo>
                    <a:pt x="0" y="523875"/>
                  </a:moveTo>
                  <a:lnTo>
                    <a:pt x="1028700" y="0"/>
                  </a:lnTo>
                </a:path>
              </a:pathLst>
            </a:custGeom>
            <a:noFill/>
            <a:ln w="9525">
              <a:solidFill>
                <a:srgbClr val="ECC1B8"/>
              </a:solidFill>
            </a:ln>
          </p:spPr>
        </p:sp>
        <p:sp>
          <p:nvSpPr>
            <p:cNvPr id="34" name="TextBox 34"/>
            <p:cNvSpPr txBox="1"/>
            <p:nvPr/>
          </p:nvSpPr>
          <p:spPr>
            <a:xfrm>
              <a:off x="566738" y="4707493"/>
              <a:ext cx="895190" cy="169069"/>
            </a:xfrm>
            <a:prstGeom prst="rect">
              <a:avLst/>
            </a:prstGeom>
            <a:noFill/>
            <a:ln>
              <a:noFill/>
            </a:ln>
          </p:spPr>
          <p:txBody>
            <a:bodyPr wrap="none" lIns="0" tIns="0" rIns="0" bIns="0" anchor="t" anchorCtr="0">
              <a:spAutoFit/>
            </a:bodyPr>
            <a:lstStyle/>
            <a:p>
              <a:pPr algn="l"/>
              <a:r>
                <a:rPr lang="zh-CN" sz="860" dirty="0">
                  <a:solidFill>
                    <a:srgbClr val="C45F4A"/>
                  </a:solidFill>
                  <a:latin typeface="+mn-lt"/>
                  <a:ea typeface="+mn-ea"/>
                  <a:cs typeface="+mn-cs"/>
                </a:rPr>
                <a:t>8.一般挽留用户​</a:t>
              </a:r>
            </a:p>
          </p:txBody>
        </p:sp>
        <p:sp>
          <p:nvSpPr>
            <p:cNvPr id="35" name="Line 35"/>
            <p:cNvSpPr/>
            <p:nvPr/>
          </p:nvSpPr>
          <p:spPr>
            <a:xfrm>
              <a:off x="4591050" y="4048125"/>
              <a:ext cx="504825" cy="904875"/>
            </a:xfrm>
            <a:custGeom>
              <a:avLst/>
              <a:gdLst/>
              <a:ahLst/>
              <a:cxnLst/>
              <a:rect l="l" t="t" r="r" b="b"/>
              <a:pathLst>
                <a:path w="504825" h="904875">
                  <a:moveTo>
                    <a:pt x="504825" y="904875"/>
                  </a:moveTo>
                  <a:lnTo>
                    <a:pt x="0" y="0"/>
                  </a:lnTo>
                </a:path>
              </a:pathLst>
            </a:custGeom>
            <a:noFill/>
            <a:ln w="9525">
              <a:solidFill>
                <a:srgbClr val="ECC1B8"/>
              </a:solidFill>
            </a:ln>
          </p:spPr>
        </p:sp>
        <p:sp>
          <p:nvSpPr>
            <p:cNvPr id="36" name="TextBox 36"/>
            <p:cNvSpPr txBox="1"/>
            <p:nvPr/>
          </p:nvSpPr>
          <p:spPr>
            <a:xfrm>
              <a:off x="5138738" y="4897993"/>
              <a:ext cx="895190" cy="169069"/>
            </a:xfrm>
            <a:prstGeom prst="rect">
              <a:avLst/>
            </a:prstGeom>
            <a:noFill/>
            <a:ln>
              <a:noFill/>
            </a:ln>
          </p:spPr>
          <p:txBody>
            <a:bodyPr wrap="none" lIns="0" tIns="0" rIns="0" bIns="0" anchor="t" anchorCtr="0">
              <a:spAutoFit/>
            </a:bodyPr>
            <a:lstStyle/>
            <a:p>
              <a:pPr algn="l"/>
              <a:r>
                <a:rPr lang="zh-CN" sz="860" dirty="0">
                  <a:solidFill>
                    <a:srgbClr val="C45F4A"/>
                  </a:solidFill>
                  <a:latin typeface="+mn-lt"/>
                  <a:ea typeface="+mn-ea"/>
                  <a:cs typeface="+mn-cs"/>
                </a:rPr>
                <a:t>6.一般发展用户​</a:t>
              </a:r>
            </a:p>
          </p:txBody>
        </p:sp>
        <p:sp>
          <p:nvSpPr>
            <p:cNvPr id="37" name="Line 37"/>
            <p:cNvSpPr/>
            <p:nvPr/>
          </p:nvSpPr>
          <p:spPr>
            <a:xfrm>
              <a:off x="2047875" y="4524375"/>
              <a:ext cx="809625" cy="1152525"/>
            </a:xfrm>
            <a:custGeom>
              <a:avLst/>
              <a:gdLst/>
              <a:ahLst/>
              <a:cxnLst/>
              <a:rect l="l" t="t" r="r" b="b"/>
              <a:pathLst>
                <a:path w="809625" h="1152525">
                  <a:moveTo>
                    <a:pt x="0" y="1152525"/>
                  </a:moveTo>
                  <a:lnTo>
                    <a:pt x="809625" y="0"/>
                  </a:lnTo>
                </a:path>
              </a:pathLst>
            </a:custGeom>
            <a:noFill/>
            <a:ln w="9525">
              <a:solidFill>
                <a:srgbClr val="ECC1B8"/>
              </a:solidFill>
            </a:ln>
          </p:spPr>
        </p:sp>
        <p:sp>
          <p:nvSpPr>
            <p:cNvPr id="38" name="TextBox 38"/>
            <p:cNvSpPr txBox="1"/>
            <p:nvPr/>
          </p:nvSpPr>
          <p:spPr>
            <a:xfrm>
              <a:off x="947738" y="5621893"/>
              <a:ext cx="895190" cy="169069"/>
            </a:xfrm>
            <a:prstGeom prst="rect">
              <a:avLst/>
            </a:prstGeom>
            <a:noFill/>
            <a:ln>
              <a:noFill/>
            </a:ln>
          </p:spPr>
          <p:txBody>
            <a:bodyPr wrap="none" lIns="0" tIns="0" rIns="0" bIns="0" anchor="t" anchorCtr="0">
              <a:spAutoFit/>
            </a:bodyPr>
            <a:lstStyle/>
            <a:p>
              <a:pPr algn="l"/>
              <a:r>
                <a:rPr lang="zh-CN" sz="860" dirty="0">
                  <a:solidFill>
                    <a:srgbClr val="C45F4A"/>
                  </a:solidFill>
                  <a:latin typeface="+mn-lt"/>
                  <a:ea typeface="+mn-ea"/>
                  <a:cs typeface="+mn-cs"/>
                </a:rPr>
                <a:t>7.一般保持用户​</a:t>
              </a:r>
            </a:p>
          </p:txBody>
        </p:sp>
        <p:sp>
          <p:nvSpPr>
            <p:cNvPr id="39" name="Line 39"/>
            <p:cNvSpPr/>
            <p:nvPr/>
          </p:nvSpPr>
          <p:spPr>
            <a:xfrm>
              <a:off x="3857625" y="4495800"/>
              <a:ext cx="904875" cy="1276350"/>
            </a:xfrm>
            <a:custGeom>
              <a:avLst/>
              <a:gdLst/>
              <a:ahLst/>
              <a:cxnLst/>
              <a:rect l="l" t="t" r="r" b="b"/>
              <a:pathLst>
                <a:path w="904875" h="1276350">
                  <a:moveTo>
                    <a:pt x="904875" y="1276350"/>
                  </a:moveTo>
                  <a:lnTo>
                    <a:pt x="0" y="0"/>
                  </a:lnTo>
                </a:path>
              </a:pathLst>
            </a:custGeom>
            <a:noFill/>
            <a:ln w="9525">
              <a:solidFill>
                <a:srgbClr val="ECC1B8"/>
              </a:solidFill>
            </a:ln>
          </p:spPr>
        </p:sp>
        <p:sp>
          <p:nvSpPr>
            <p:cNvPr id="40" name="TextBox 40"/>
            <p:cNvSpPr txBox="1"/>
            <p:nvPr/>
          </p:nvSpPr>
          <p:spPr>
            <a:xfrm>
              <a:off x="4471988" y="5793343"/>
              <a:ext cx="895190" cy="169069"/>
            </a:xfrm>
            <a:prstGeom prst="rect">
              <a:avLst/>
            </a:prstGeom>
            <a:noFill/>
            <a:ln>
              <a:noFill/>
            </a:ln>
          </p:spPr>
          <p:txBody>
            <a:bodyPr wrap="none" lIns="0" tIns="0" rIns="0" bIns="0" anchor="t" anchorCtr="0">
              <a:spAutoFit/>
            </a:bodyPr>
            <a:lstStyle/>
            <a:p>
              <a:pPr algn="l"/>
              <a:r>
                <a:rPr lang="zh-CN" sz="860" dirty="0">
                  <a:solidFill>
                    <a:srgbClr val="C45F4A"/>
                  </a:solidFill>
                  <a:latin typeface="+mn-lt"/>
                  <a:ea typeface="+mn-ea"/>
                  <a:cs typeface="+mn-cs"/>
                </a:rPr>
                <a:t>5.一般价值用户​</a:t>
              </a:r>
            </a:p>
          </p:txBody>
        </p:sp>
      </p:grpSp>
      <p:grpSp>
        <p:nvGrpSpPr>
          <p:cNvPr id="49" name="rfm-legend"/>
          <p:cNvGrpSpPr/>
          <p:nvPr/>
        </p:nvGrpSpPr>
        <p:grpSpPr>
          <a:xfrm>
            <a:off x="6096000" y="1238250"/>
            <a:ext cx="5619750" cy="1066800"/>
            <a:chOff x="6096000" y="1238250"/>
            <a:chExt cx="5619750" cy="1066800"/>
          </a:xfrm>
        </p:grpSpPr>
        <p:sp>
          <p:nvSpPr>
            <p:cNvPr id="42" name="Rectangle 42"/>
            <p:cNvSpPr/>
            <p:nvPr/>
          </p:nvSpPr>
          <p:spPr>
            <a:xfrm>
              <a:off x="6096000" y="1238250"/>
              <a:ext cx="5619750" cy="1066800"/>
            </a:xfrm>
            <a:prstGeom prst="roundRect">
              <a:avLst>
                <a:gd name="adj" fmla="val 7143"/>
              </a:avLst>
            </a:prstGeom>
            <a:solidFill>
              <a:srgbClr val="F5F6FC"/>
            </a:solidFill>
            <a:ln>
              <a:noFill/>
            </a:ln>
          </p:spPr>
        </p:sp>
        <p:sp>
          <p:nvSpPr>
            <p:cNvPr id="43" name="Ellipse 43"/>
            <p:cNvSpPr/>
            <p:nvPr/>
          </p:nvSpPr>
          <p:spPr>
            <a:xfrm>
              <a:off x="6257925" y="1524000"/>
              <a:ext cx="57150" cy="57150"/>
            </a:xfrm>
            <a:prstGeom prst="ellipse">
              <a:avLst/>
            </a:prstGeom>
            <a:solidFill>
              <a:srgbClr val="C45F4A"/>
            </a:solidFill>
            <a:ln>
              <a:noFill/>
            </a:ln>
          </p:spPr>
        </p:sp>
        <p:sp>
          <p:nvSpPr>
            <p:cNvPr id="44" name="TextBox 44"/>
            <p:cNvSpPr txBox="1"/>
            <p:nvPr/>
          </p:nvSpPr>
          <p:spPr>
            <a:xfrm>
              <a:off x="6395847" y="1494949"/>
              <a:ext cx="3406234" cy="190690"/>
            </a:xfrm>
            <a:prstGeom prst="rect">
              <a:avLst/>
            </a:prstGeom>
            <a:noFill/>
            <a:ln>
              <a:noFill/>
            </a:ln>
          </p:spPr>
          <p:txBody>
            <a:bodyPr wrap="none" lIns="0" tIns="0" rIns="0" bIns="0" anchor="t" anchorCtr="0">
              <a:spAutoFit/>
            </a:bodyPr>
            <a:lstStyle/>
            <a:p>
              <a:pPr algn="l"/>
              <a:r>
                <a:rPr lang="en-US" sz="1280" b="1" dirty="0">
                  <a:solidFill>
                    <a:srgbClr val="C45F4A"/>
                  </a:solidFill>
                  <a:latin typeface="+mn-lt"/>
                  <a:ea typeface="+mn-ea"/>
                  <a:cs typeface="+mn-cs"/>
                </a:rPr>
                <a:t>R</a:t>
              </a:r>
              <a:r>
                <a:rPr lang="zh-CN" sz="980" dirty="0">
                  <a:solidFill>
                    <a:srgbClr val="543E3A"/>
                  </a:solidFill>
                  <a:latin typeface="+mn-lt"/>
                  <a:ea typeface="+mn-ea"/>
                  <a:cs typeface="+mn-cs"/>
                </a:rPr>
                <a:t xml:space="preserve"> ((Recency)最近一次消费:反应客户对产品及品牌印象​</a:t>
              </a:r>
            </a:p>
          </p:txBody>
        </p:sp>
        <p:sp>
          <p:nvSpPr>
            <p:cNvPr id="45" name="Ellipse 45"/>
            <p:cNvSpPr/>
            <p:nvPr/>
          </p:nvSpPr>
          <p:spPr>
            <a:xfrm>
              <a:off x="6257925" y="1828800"/>
              <a:ext cx="57150" cy="57150"/>
            </a:xfrm>
            <a:prstGeom prst="ellipse">
              <a:avLst/>
            </a:prstGeom>
            <a:solidFill>
              <a:srgbClr val="E8634C"/>
            </a:solidFill>
            <a:ln>
              <a:noFill/>
            </a:ln>
          </p:spPr>
        </p:sp>
        <p:sp>
          <p:nvSpPr>
            <p:cNvPr id="46" name="TextBox 46"/>
            <p:cNvSpPr txBox="1"/>
            <p:nvPr/>
          </p:nvSpPr>
          <p:spPr>
            <a:xfrm>
              <a:off x="6395847" y="1799749"/>
              <a:ext cx="2812969" cy="190690"/>
            </a:xfrm>
            <a:prstGeom prst="rect">
              <a:avLst/>
            </a:prstGeom>
            <a:noFill/>
            <a:ln>
              <a:noFill/>
            </a:ln>
          </p:spPr>
          <p:txBody>
            <a:bodyPr wrap="none" lIns="0" tIns="0" rIns="0" bIns="0" anchor="t" anchorCtr="0">
              <a:spAutoFit/>
            </a:bodyPr>
            <a:lstStyle/>
            <a:p>
              <a:pPr algn="l"/>
              <a:r>
                <a:rPr lang="en-US" sz="1280" b="1" dirty="0">
                  <a:solidFill>
                    <a:srgbClr val="E2624C"/>
                  </a:solidFill>
                  <a:latin typeface="+mn-lt"/>
                  <a:ea typeface="+mn-ea"/>
                  <a:cs typeface="+mn-cs"/>
                </a:rPr>
                <a:t>F</a:t>
              </a:r>
              <a:r>
                <a:rPr lang="zh-CN" sz="980" dirty="0">
                  <a:solidFill>
                    <a:srgbClr val="543E3A"/>
                  </a:solidFill>
                  <a:latin typeface="+mn-lt"/>
                  <a:ea typeface="+mn-ea"/>
                  <a:cs typeface="+mn-cs"/>
                </a:rPr>
                <a:t xml:space="preserve"> (frequency)消费频率:反映客户互动活跃度​</a:t>
              </a:r>
            </a:p>
          </p:txBody>
        </p:sp>
        <p:sp>
          <p:nvSpPr>
            <p:cNvPr id="47" name="Ellipse 47"/>
            <p:cNvSpPr/>
            <p:nvPr/>
          </p:nvSpPr>
          <p:spPr>
            <a:xfrm>
              <a:off x="6257925" y="2133600"/>
              <a:ext cx="57150" cy="57150"/>
            </a:xfrm>
            <a:prstGeom prst="ellipse">
              <a:avLst/>
            </a:prstGeom>
            <a:solidFill>
              <a:srgbClr val="C45F4A"/>
            </a:solidFill>
            <a:ln>
              <a:noFill/>
            </a:ln>
          </p:spPr>
        </p:sp>
        <p:sp>
          <p:nvSpPr>
            <p:cNvPr id="48" name="TextBox 48"/>
            <p:cNvSpPr txBox="1"/>
            <p:nvPr/>
          </p:nvSpPr>
          <p:spPr>
            <a:xfrm>
              <a:off x="6395847" y="2104549"/>
              <a:ext cx="2653312" cy="190690"/>
            </a:xfrm>
            <a:prstGeom prst="rect">
              <a:avLst/>
            </a:prstGeom>
            <a:noFill/>
            <a:ln>
              <a:noFill/>
            </a:ln>
          </p:spPr>
          <p:txBody>
            <a:bodyPr wrap="none" lIns="0" tIns="0" rIns="0" bIns="0" anchor="t" anchorCtr="0">
              <a:spAutoFit/>
            </a:bodyPr>
            <a:lstStyle/>
            <a:p>
              <a:pPr algn="l"/>
              <a:r>
                <a:rPr lang="en-US" sz="1280" b="1" dirty="0">
                  <a:solidFill>
                    <a:srgbClr val="C45F4A"/>
                  </a:solidFill>
                  <a:latin typeface="+mn-lt"/>
                  <a:ea typeface="+mn-ea"/>
                  <a:cs typeface="+mn-cs"/>
                </a:rPr>
                <a:t>M</a:t>
              </a:r>
              <a:r>
                <a:rPr lang="zh-CN" sz="980" dirty="0">
                  <a:solidFill>
                    <a:srgbClr val="543E3A"/>
                  </a:solidFill>
                  <a:latin typeface="+mn-lt"/>
                  <a:ea typeface="+mn-ea"/>
                  <a:cs typeface="+mn-cs"/>
                </a:rPr>
                <a:t xml:space="preserve"> (influence)消费金额:反映客户营销价值​</a:t>
              </a:r>
            </a:p>
          </p:txBody>
        </p:sp>
      </p:grpSp>
      <p:grpSp>
        <p:nvGrpSpPr>
          <p:cNvPr id="80" name="strategy-table"/>
          <p:cNvGrpSpPr/>
          <p:nvPr/>
        </p:nvGrpSpPr>
        <p:grpSpPr>
          <a:xfrm>
            <a:off x="6096000" y="2524125"/>
            <a:ext cx="5619750" cy="3076575"/>
            <a:chOff x="6096000" y="2524125"/>
            <a:chExt cx="5619750" cy="3076575"/>
          </a:xfrm>
        </p:grpSpPr>
        <p:sp>
          <p:nvSpPr>
            <p:cNvPr id="50" name="Rectangle 50"/>
            <p:cNvSpPr/>
            <p:nvPr/>
          </p:nvSpPr>
          <p:spPr>
            <a:xfrm>
              <a:off x="6096000" y="2524125"/>
              <a:ext cx="2286000" cy="304800"/>
            </a:xfrm>
            <a:prstGeom prst="roundRect">
              <a:avLst>
                <a:gd name="adj" fmla="val 18750"/>
              </a:avLst>
            </a:prstGeom>
            <a:solidFill>
              <a:srgbClr val="E8634C"/>
            </a:solidFill>
            <a:ln>
              <a:noFill/>
            </a:ln>
          </p:spPr>
        </p:sp>
        <p:sp>
          <p:nvSpPr>
            <p:cNvPr id="51" name="TextBox 51"/>
            <p:cNvSpPr txBox="1"/>
            <p:nvPr/>
          </p:nvSpPr>
          <p:spPr>
            <a:xfrm>
              <a:off x="6931736" y="261223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用户分层</a:t>
              </a:r>
            </a:p>
          </p:txBody>
        </p:sp>
        <p:sp>
          <p:nvSpPr>
            <p:cNvPr id="52" name="Rectangle 52"/>
            <p:cNvSpPr/>
            <p:nvPr/>
          </p:nvSpPr>
          <p:spPr>
            <a:xfrm>
              <a:off x="8429625" y="2524125"/>
              <a:ext cx="3286125" cy="304800"/>
            </a:xfrm>
            <a:prstGeom prst="roundRect">
              <a:avLst>
                <a:gd name="adj" fmla="val 18750"/>
              </a:avLst>
            </a:prstGeom>
            <a:solidFill>
              <a:srgbClr val="C45F4A"/>
            </a:solidFill>
            <a:ln>
              <a:noFill/>
            </a:ln>
          </p:spPr>
        </p:sp>
        <p:sp>
          <p:nvSpPr>
            <p:cNvPr id="53" name="TextBox 53"/>
            <p:cNvSpPr txBox="1"/>
            <p:nvPr/>
          </p:nvSpPr>
          <p:spPr>
            <a:xfrm>
              <a:off x="9760661" y="261223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行销策略</a:t>
              </a:r>
            </a:p>
          </p:txBody>
        </p:sp>
        <p:sp>
          <p:nvSpPr>
            <p:cNvPr id="54" name="Rectangle 54"/>
            <p:cNvSpPr/>
            <p:nvPr/>
          </p:nvSpPr>
          <p:spPr>
            <a:xfrm>
              <a:off x="6096000" y="2857500"/>
              <a:ext cx="5619750" cy="342900"/>
            </a:xfrm>
            <a:prstGeom prst="rect">
              <a:avLst/>
            </a:prstGeom>
            <a:solidFill>
              <a:srgbClr val="F5F6FC"/>
            </a:solidFill>
            <a:ln>
              <a:noFill/>
            </a:ln>
          </p:spPr>
        </p:sp>
        <p:sp>
          <p:nvSpPr>
            <p:cNvPr id="55" name="Rectangle 55"/>
            <p:cNvSpPr/>
            <p:nvPr/>
          </p:nvSpPr>
          <p:spPr>
            <a:xfrm>
              <a:off x="6096000" y="3200400"/>
              <a:ext cx="5619750" cy="342900"/>
            </a:xfrm>
            <a:prstGeom prst="rect">
              <a:avLst/>
            </a:prstGeom>
            <a:solidFill>
              <a:srgbClr val="FDF3F0"/>
            </a:solidFill>
            <a:ln>
              <a:noFill/>
            </a:ln>
          </p:spPr>
        </p:sp>
        <p:sp>
          <p:nvSpPr>
            <p:cNvPr id="56" name="Rectangle 56"/>
            <p:cNvSpPr/>
            <p:nvPr/>
          </p:nvSpPr>
          <p:spPr>
            <a:xfrm>
              <a:off x="6096000" y="3543300"/>
              <a:ext cx="5619750" cy="342900"/>
            </a:xfrm>
            <a:prstGeom prst="rect">
              <a:avLst/>
            </a:prstGeom>
            <a:solidFill>
              <a:srgbClr val="F5F6FC"/>
            </a:solidFill>
            <a:ln>
              <a:noFill/>
            </a:ln>
          </p:spPr>
        </p:sp>
        <p:sp>
          <p:nvSpPr>
            <p:cNvPr id="57" name="Rectangle 57"/>
            <p:cNvSpPr/>
            <p:nvPr/>
          </p:nvSpPr>
          <p:spPr>
            <a:xfrm>
              <a:off x="6096000" y="3886200"/>
              <a:ext cx="5619750" cy="342900"/>
            </a:xfrm>
            <a:prstGeom prst="rect">
              <a:avLst/>
            </a:prstGeom>
            <a:solidFill>
              <a:srgbClr val="FDF3F0"/>
            </a:solidFill>
            <a:ln>
              <a:noFill/>
            </a:ln>
          </p:spPr>
        </p:sp>
        <p:sp>
          <p:nvSpPr>
            <p:cNvPr id="58" name="Rectangle 58"/>
            <p:cNvSpPr/>
            <p:nvPr/>
          </p:nvSpPr>
          <p:spPr>
            <a:xfrm>
              <a:off x="6096000" y="4229100"/>
              <a:ext cx="5619750" cy="342900"/>
            </a:xfrm>
            <a:prstGeom prst="rect">
              <a:avLst/>
            </a:prstGeom>
            <a:solidFill>
              <a:srgbClr val="F5F6FC"/>
            </a:solidFill>
            <a:ln>
              <a:noFill/>
            </a:ln>
          </p:spPr>
        </p:sp>
        <p:sp>
          <p:nvSpPr>
            <p:cNvPr id="59" name="Rectangle 59"/>
            <p:cNvSpPr/>
            <p:nvPr/>
          </p:nvSpPr>
          <p:spPr>
            <a:xfrm>
              <a:off x="6096000" y="4572000"/>
              <a:ext cx="5619750" cy="342900"/>
            </a:xfrm>
            <a:prstGeom prst="rect">
              <a:avLst/>
            </a:prstGeom>
            <a:solidFill>
              <a:srgbClr val="FDF3F0"/>
            </a:solidFill>
            <a:ln>
              <a:noFill/>
            </a:ln>
          </p:spPr>
        </p:sp>
        <p:sp>
          <p:nvSpPr>
            <p:cNvPr id="60" name="Rectangle 60"/>
            <p:cNvSpPr/>
            <p:nvPr/>
          </p:nvSpPr>
          <p:spPr>
            <a:xfrm>
              <a:off x="6096000" y="4914900"/>
              <a:ext cx="5619750" cy="342900"/>
            </a:xfrm>
            <a:prstGeom prst="rect">
              <a:avLst/>
            </a:prstGeom>
            <a:solidFill>
              <a:srgbClr val="F5F6FC"/>
            </a:solidFill>
            <a:ln>
              <a:noFill/>
            </a:ln>
          </p:spPr>
        </p:sp>
        <p:sp>
          <p:nvSpPr>
            <p:cNvPr id="61" name="Rectangle 61"/>
            <p:cNvSpPr/>
            <p:nvPr/>
          </p:nvSpPr>
          <p:spPr>
            <a:xfrm>
              <a:off x="6096000" y="5257800"/>
              <a:ext cx="5619750" cy="342900"/>
            </a:xfrm>
            <a:prstGeom prst="roundRect">
              <a:avLst>
                <a:gd name="adj" fmla="val 16667"/>
              </a:avLst>
            </a:prstGeom>
            <a:solidFill>
              <a:srgbClr val="FDF3F0"/>
            </a:solidFill>
            <a:ln>
              <a:noFill/>
            </a:ln>
          </p:spPr>
        </p:sp>
        <p:grpSp>
          <p:nvGrpSpPr>
            <p:cNvPr id="79" name="Group 79"/>
            <p:cNvGrpSpPr/>
            <p:nvPr/>
          </p:nvGrpSpPr>
          <p:grpSpPr>
            <a:xfrm>
              <a:off x="6281738" y="2952750"/>
              <a:ext cx="4581143" cy="2603182"/>
              <a:chOff x="6281738" y="2952750"/>
              <a:chExt cx="4581143" cy="2603182"/>
            </a:xfrm>
          </p:grpSpPr>
          <p:sp>
            <p:nvSpPr>
              <p:cNvPr id="62" name="TextBox 62"/>
              <p:cNvSpPr txBox="1"/>
              <p:nvPr/>
            </p:nvSpPr>
            <p:spPr>
              <a:xfrm>
                <a:off x="6281738" y="2979420"/>
                <a:ext cx="936384" cy="176212"/>
              </a:xfrm>
              <a:prstGeom prst="rect">
                <a:avLst/>
              </a:prstGeom>
              <a:noFill/>
              <a:ln>
                <a:noFill/>
              </a:ln>
            </p:spPr>
            <p:txBody>
              <a:bodyPr wrap="none" lIns="0" tIns="0" rIns="0" bIns="0" anchor="t" anchorCtr="0">
                <a:spAutoFit/>
              </a:bodyPr>
              <a:lstStyle/>
              <a:p>
                <a:pPr algn="l"/>
                <a:r>
                  <a:rPr lang="zh-CN" sz="900" dirty="0">
                    <a:solidFill>
                      <a:srgbClr val="543E3A"/>
                    </a:solidFill>
                    <a:latin typeface="+mn-lt"/>
                    <a:ea typeface="+mn-ea"/>
                    <a:cs typeface="+mn-cs"/>
                  </a:rPr>
                  <a:t>1.重要价值用户​</a:t>
                </a:r>
              </a:p>
            </p:txBody>
          </p:sp>
          <p:sp>
            <p:nvSpPr>
              <p:cNvPr id="63" name="Freeform 63"/>
              <p:cNvSpPr/>
              <p:nvPr/>
            </p:nvSpPr>
            <p:spPr>
              <a:xfrm>
                <a:off x="8953500" y="2952750"/>
                <a:ext cx="152400" cy="152400"/>
              </a:xfrm>
              <a:prstGeom prst="star5">
                <a:avLst/>
              </a:prstGeom>
              <a:solidFill>
                <a:srgbClr val="E8634C"/>
              </a:solidFill>
              <a:ln>
                <a:noFill/>
              </a:ln>
            </p:spPr>
          </p:sp>
          <p:sp>
            <p:nvSpPr>
              <p:cNvPr id="64" name="TextBox 64"/>
              <p:cNvSpPr txBox="1"/>
              <p:nvPr/>
            </p:nvSpPr>
            <p:spPr>
              <a:xfrm>
                <a:off x="9520618" y="2979420"/>
                <a:ext cx="134226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优质客户，重点关注联系</a:t>
                </a:r>
              </a:p>
            </p:txBody>
          </p:sp>
          <p:sp>
            <p:nvSpPr>
              <p:cNvPr id="65" name="TextBox 65"/>
              <p:cNvSpPr txBox="1"/>
              <p:nvPr/>
            </p:nvSpPr>
            <p:spPr>
              <a:xfrm>
                <a:off x="6281738" y="3322320"/>
                <a:ext cx="936384" cy="176212"/>
              </a:xfrm>
              <a:prstGeom prst="rect">
                <a:avLst/>
              </a:prstGeom>
              <a:noFill/>
              <a:ln>
                <a:noFill/>
              </a:ln>
            </p:spPr>
            <p:txBody>
              <a:bodyPr wrap="none" lIns="0" tIns="0" rIns="0" bIns="0" anchor="t" anchorCtr="0">
                <a:spAutoFit/>
              </a:bodyPr>
              <a:lstStyle/>
              <a:p>
                <a:pPr algn="l"/>
                <a:r>
                  <a:rPr lang="zh-CN" sz="900" dirty="0">
                    <a:solidFill>
                      <a:srgbClr val="543E3A"/>
                    </a:solidFill>
                    <a:latin typeface="+mn-lt"/>
                    <a:ea typeface="+mn-ea"/>
                    <a:cs typeface="+mn-cs"/>
                  </a:rPr>
                  <a:t>2.重要发展用户​</a:t>
                </a:r>
              </a:p>
            </p:txBody>
          </p:sp>
          <p:sp>
            <p:nvSpPr>
              <p:cNvPr id="66" name="TextBox 66"/>
              <p:cNvSpPr txBox="1"/>
              <p:nvPr/>
            </p:nvSpPr>
            <p:spPr>
              <a:xfrm>
                <a:off x="9396794" y="3322320"/>
                <a:ext cx="134226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活动回访，传递权益信息</a:t>
                </a:r>
              </a:p>
            </p:txBody>
          </p:sp>
          <p:sp>
            <p:nvSpPr>
              <p:cNvPr id="67" name="TextBox 67"/>
              <p:cNvSpPr txBox="1"/>
              <p:nvPr/>
            </p:nvSpPr>
            <p:spPr>
              <a:xfrm>
                <a:off x="6281738" y="3665220"/>
                <a:ext cx="936384" cy="176212"/>
              </a:xfrm>
              <a:prstGeom prst="rect">
                <a:avLst/>
              </a:prstGeom>
              <a:noFill/>
              <a:ln>
                <a:noFill/>
              </a:ln>
            </p:spPr>
            <p:txBody>
              <a:bodyPr wrap="none" lIns="0" tIns="0" rIns="0" bIns="0" anchor="t" anchorCtr="0">
                <a:spAutoFit/>
              </a:bodyPr>
              <a:lstStyle/>
              <a:p>
                <a:pPr algn="l"/>
                <a:r>
                  <a:rPr lang="zh-CN" sz="900" dirty="0">
                    <a:solidFill>
                      <a:srgbClr val="543E3A"/>
                    </a:solidFill>
                    <a:latin typeface="+mn-lt"/>
                    <a:ea typeface="+mn-ea"/>
                    <a:cs typeface="+mn-cs"/>
                  </a:rPr>
                  <a:t>3.重要保持用户​</a:t>
                </a:r>
              </a:p>
            </p:txBody>
          </p:sp>
          <p:sp>
            <p:nvSpPr>
              <p:cNvPr id="68" name="TextBox 68"/>
              <p:cNvSpPr txBox="1"/>
              <p:nvPr/>
            </p:nvSpPr>
            <p:spPr>
              <a:xfrm>
                <a:off x="9275636" y="3665220"/>
                <a:ext cx="1584579"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调整活动类型，传递新品信息</a:t>
                </a:r>
              </a:p>
            </p:txBody>
          </p:sp>
          <p:sp>
            <p:nvSpPr>
              <p:cNvPr id="69" name="TextBox 69"/>
              <p:cNvSpPr txBox="1"/>
              <p:nvPr/>
            </p:nvSpPr>
            <p:spPr>
              <a:xfrm>
                <a:off x="6281738" y="4008120"/>
                <a:ext cx="936384" cy="176212"/>
              </a:xfrm>
              <a:prstGeom prst="rect">
                <a:avLst/>
              </a:prstGeom>
              <a:noFill/>
              <a:ln>
                <a:noFill/>
              </a:ln>
            </p:spPr>
            <p:txBody>
              <a:bodyPr wrap="none" lIns="0" tIns="0" rIns="0" bIns="0" anchor="t" anchorCtr="0">
                <a:spAutoFit/>
              </a:bodyPr>
              <a:lstStyle/>
              <a:p>
                <a:pPr algn="l"/>
                <a:r>
                  <a:rPr lang="zh-CN" sz="900" dirty="0">
                    <a:solidFill>
                      <a:srgbClr val="543E3A"/>
                    </a:solidFill>
                    <a:latin typeface="+mn-lt"/>
                    <a:ea typeface="+mn-ea"/>
                    <a:cs typeface="+mn-cs"/>
                  </a:rPr>
                  <a:t>4.重要挽留用户​</a:t>
                </a:r>
              </a:p>
            </p:txBody>
          </p:sp>
          <p:sp>
            <p:nvSpPr>
              <p:cNvPr id="70" name="TextBox 70"/>
              <p:cNvSpPr txBox="1"/>
              <p:nvPr/>
            </p:nvSpPr>
            <p:spPr>
              <a:xfrm>
                <a:off x="9336214" y="4008120"/>
                <a:ext cx="146342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活动信息推送，大节日营销</a:t>
                </a:r>
              </a:p>
            </p:txBody>
          </p:sp>
          <p:sp>
            <p:nvSpPr>
              <p:cNvPr id="71" name="TextBox 71"/>
              <p:cNvSpPr txBox="1"/>
              <p:nvPr/>
            </p:nvSpPr>
            <p:spPr>
              <a:xfrm>
                <a:off x="6281738" y="4351020"/>
                <a:ext cx="936384" cy="176212"/>
              </a:xfrm>
              <a:prstGeom prst="rect">
                <a:avLst/>
              </a:prstGeom>
              <a:noFill/>
              <a:ln>
                <a:noFill/>
              </a:ln>
            </p:spPr>
            <p:txBody>
              <a:bodyPr wrap="none" lIns="0" tIns="0" rIns="0" bIns="0" anchor="t" anchorCtr="0">
                <a:spAutoFit/>
              </a:bodyPr>
              <a:lstStyle/>
              <a:p>
                <a:pPr algn="l"/>
                <a:r>
                  <a:rPr lang="zh-CN" sz="900" dirty="0">
                    <a:solidFill>
                      <a:srgbClr val="543E3A"/>
                    </a:solidFill>
                    <a:latin typeface="+mn-lt"/>
                    <a:ea typeface="+mn-ea"/>
                    <a:cs typeface="+mn-cs"/>
                  </a:rPr>
                  <a:t>5.一般价值用户​</a:t>
                </a:r>
              </a:p>
            </p:txBody>
          </p:sp>
          <p:sp>
            <p:nvSpPr>
              <p:cNvPr id="72" name="TextBox 72"/>
              <p:cNvSpPr txBox="1"/>
              <p:nvPr/>
            </p:nvSpPr>
            <p:spPr>
              <a:xfrm>
                <a:off x="9545212" y="4351020"/>
                <a:ext cx="1045426"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促销商品/折扣活动</a:t>
                </a:r>
              </a:p>
            </p:txBody>
          </p:sp>
          <p:sp>
            <p:nvSpPr>
              <p:cNvPr id="73" name="TextBox 73"/>
              <p:cNvSpPr txBox="1"/>
              <p:nvPr/>
            </p:nvSpPr>
            <p:spPr>
              <a:xfrm>
                <a:off x="6281738" y="4693920"/>
                <a:ext cx="936384" cy="176212"/>
              </a:xfrm>
              <a:prstGeom prst="rect">
                <a:avLst/>
              </a:prstGeom>
              <a:noFill/>
              <a:ln>
                <a:noFill/>
              </a:ln>
            </p:spPr>
            <p:txBody>
              <a:bodyPr wrap="none" lIns="0" tIns="0" rIns="0" bIns="0" anchor="t" anchorCtr="0">
                <a:spAutoFit/>
              </a:bodyPr>
              <a:lstStyle/>
              <a:p>
                <a:pPr algn="l"/>
                <a:r>
                  <a:rPr lang="zh-CN" sz="900" dirty="0">
                    <a:solidFill>
                      <a:srgbClr val="543E3A"/>
                    </a:solidFill>
                    <a:latin typeface="+mn-lt"/>
                    <a:ea typeface="+mn-ea"/>
                    <a:cs typeface="+mn-cs"/>
                  </a:rPr>
                  <a:t>6.一般发展用户​</a:t>
                </a:r>
              </a:p>
            </p:txBody>
          </p:sp>
          <p:sp>
            <p:nvSpPr>
              <p:cNvPr id="74" name="TextBox 74"/>
              <p:cNvSpPr txBox="1"/>
              <p:nvPr/>
            </p:nvSpPr>
            <p:spPr>
              <a:xfrm>
                <a:off x="9545212" y="4693920"/>
                <a:ext cx="1045426"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促销商品/折扣活动</a:t>
                </a:r>
              </a:p>
            </p:txBody>
          </p:sp>
          <p:sp>
            <p:nvSpPr>
              <p:cNvPr id="75" name="TextBox 75"/>
              <p:cNvSpPr txBox="1"/>
              <p:nvPr/>
            </p:nvSpPr>
            <p:spPr>
              <a:xfrm>
                <a:off x="6281738" y="5036820"/>
                <a:ext cx="936384" cy="176212"/>
              </a:xfrm>
              <a:prstGeom prst="rect">
                <a:avLst/>
              </a:prstGeom>
              <a:noFill/>
              <a:ln>
                <a:noFill/>
              </a:ln>
            </p:spPr>
            <p:txBody>
              <a:bodyPr wrap="none" lIns="0" tIns="0" rIns="0" bIns="0" anchor="t" anchorCtr="0">
                <a:spAutoFit/>
              </a:bodyPr>
              <a:lstStyle/>
              <a:p>
                <a:pPr algn="l"/>
                <a:r>
                  <a:rPr lang="zh-CN" sz="900" dirty="0">
                    <a:solidFill>
                      <a:srgbClr val="543E3A"/>
                    </a:solidFill>
                    <a:latin typeface="+mn-lt"/>
                    <a:ea typeface="+mn-ea"/>
                    <a:cs typeface="+mn-cs"/>
                  </a:rPr>
                  <a:t>7.一般保持用户​</a:t>
                </a:r>
              </a:p>
            </p:txBody>
          </p:sp>
          <p:sp>
            <p:nvSpPr>
              <p:cNvPr id="76" name="TextBox 76"/>
              <p:cNvSpPr txBox="1"/>
              <p:nvPr/>
            </p:nvSpPr>
            <p:spPr>
              <a:xfrm>
                <a:off x="9545212" y="5036820"/>
                <a:ext cx="1045426"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促销商品/折扣活动</a:t>
                </a:r>
              </a:p>
            </p:txBody>
          </p:sp>
          <p:sp>
            <p:nvSpPr>
              <p:cNvPr id="77" name="TextBox 77"/>
              <p:cNvSpPr txBox="1"/>
              <p:nvPr/>
            </p:nvSpPr>
            <p:spPr>
              <a:xfrm>
                <a:off x="6281738" y="5379720"/>
                <a:ext cx="936384" cy="176212"/>
              </a:xfrm>
              <a:prstGeom prst="rect">
                <a:avLst/>
              </a:prstGeom>
              <a:noFill/>
              <a:ln>
                <a:noFill/>
              </a:ln>
            </p:spPr>
            <p:txBody>
              <a:bodyPr wrap="none" lIns="0" tIns="0" rIns="0" bIns="0" anchor="t" anchorCtr="0">
                <a:spAutoFit/>
              </a:bodyPr>
              <a:lstStyle/>
              <a:p>
                <a:pPr algn="l"/>
                <a:r>
                  <a:rPr lang="zh-CN" sz="900" dirty="0">
                    <a:solidFill>
                      <a:srgbClr val="543E3A"/>
                    </a:solidFill>
                    <a:latin typeface="+mn-lt"/>
                    <a:ea typeface="+mn-ea"/>
                    <a:cs typeface="+mn-cs"/>
                  </a:rPr>
                  <a:t>8.一般挽留用户​</a:t>
                </a:r>
              </a:p>
            </p:txBody>
          </p:sp>
          <p:sp>
            <p:nvSpPr>
              <p:cNvPr id="78" name="TextBox 78"/>
              <p:cNvSpPr txBox="1"/>
              <p:nvPr/>
            </p:nvSpPr>
            <p:spPr>
              <a:xfrm>
                <a:off x="9545212" y="5379720"/>
                <a:ext cx="1045426"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促销商品/折扣活动</a:t>
                </a:r>
              </a:p>
            </p:txBody>
          </p:sp>
        </p:grpSp>
      </p:gr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52</a:t>
              </a:r>
            </a:p>
          </p:txBody>
        </p:sp>
        <p:sp>
          <p:nvSpPr>
            <p:cNvPr id="4" name="TextBox 4"/>
            <p:cNvSpPr txBox="1"/>
            <p:nvPr/>
          </p:nvSpPr>
          <p:spPr>
            <a:xfrm>
              <a:off x="942594" y="151448"/>
              <a:ext cx="197907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AIPL人群策略​</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5" name="left-axis"/>
          <p:cNvGrpSpPr/>
          <p:nvPr/>
        </p:nvGrpSpPr>
        <p:grpSpPr>
          <a:xfrm>
            <a:off x="347091" y="1190625"/>
            <a:ext cx="357759" cy="4200525"/>
            <a:chOff x="347091" y="1190625"/>
            <a:chExt cx="357759" cy="4200525"/>
          </a:xfrm>
        </p:grpSpPr>
        <p:sp>
          <p:nvSpPr>
            <p:cNvPr id="7" name="Line 7"/>
            <p:cNvSpPr/>
            <p:nvPr/>
          </p:nvSpPr>
          <p:spPr>
            <a:xfrm>
              <a:off x="628650" y="1190625"/>
              <a:ext cx="9525" cy="1428750"/>
            </a:xfrm>
            <a:custGeom>
              <a:avLst/>
              <a:gdLst/>
              <a:ahLst/>
              <a:cxnLst/>
              <a:rect l="l" t="t" r="r" b="b"/>
              <a:pathLst>
                <a:path w="9525" h="1428750">
                  <a:moveTo>
                    <a:pt x="0" y="0"/>
                  </a:moveTo>
                  <a:lnTo>
                    <a:pt x="0" y="1428750"/>
                  </a:lnTo>
                </a:path>
              </a:pathLst>
            </a:custGeom>
            <a:noFill/>
            <a:ln w="11430">
              <a:solidFill>
                <a:srgbClr val="ECC1B8"/>
              </a:solidFill>
            </a:ln>
          </p:spPr>
        </p:sp>
        <p:sp>
          <p:nvSpPr>
            <p:cNvPr id="8" name="Line 8"/>
            <p:cNvSpPr/>
            <p:nvPr/>
          </p:nvSpPr>
          <p:spPr>
            <a:xfrm>
              <a:off x="628650" y="1190625"/>
              <a:ext cx="76200" cy="9525"/>
            </a:xfrm>
            <a:custGeom>
              <a:avLst/>
              <a:gdLst/>
              <a:ahLst/>
              <a:cxnLst/>
              <a:rect l="l" t="t" r="r" b="b"/>
              <a:pathLst>
                <a:path w="76200" h="9525">
                  <a:moveTo>
                    <a:pt x="0" y="0"/>
                  </a:moveTo>
                  <a:lnTo>
                    <a:pt x="76200" y="0"/>
                  </a:lnTo>
                </a:path>
              </a:pathLst>
            </a:custGeom>
            <a:noFill/>
            <a:ln w="11430">
              <a:solidFill>
                <a:srgbClr val="ECC1B8"/>
              </a:solidFill>
            </a:ln>
          </p:spPr>
        </p:sp>
        <p:sp>
          <p:nvSpPr>
            <p:cNvPr id="9" name="Line 9"/>
            <p:cNvSpPr/>
            <p:nvPr/>
          </p:nvSpPr>
          <p:spPr>
            <a:xfrm>
              <a:off x="628650" y="2619375"/>
              <a:ext cx="76200" cy="9525"/>
            </a:xfrm>
            <a:custGeom>
              <a:avLst/>
              <a:gdLst/>
              <a:ahLst/>
              <a:cxnLst/>
              <a:rect l="l" t="t" r="r" b="b"/>
              <a:pathLst>
                <a:path w="76200" h="9525">
                  <a:moveTo>
                    <a:pt x="0" y="0"/>
                  </a:moveTo>
                  <a:lnTo>
                    <a:pt x="76200" y="0"/>
                  </a:lnTo>
                </a:path>
              </a:pathLst>
            </a:custGeom>
            <a:noFill/>
            <a:ln w="11430">
              <a:solidFill>
                <a:srgbClr val="ECC1B8"/>
              </a:solidFill>
            </a:ln>
          </p:spPr>
        </p:sp>
        <p:sp>
          <p:nvSpPr>
            <p:cNvPr id="10" name="TextBox 10"/>
            <p:cNvSpPr txBox="1"/>
            <p:nvPr/>
          </p:nvSpPr>
          <p:spPr>
            <a:xfrm>
              <a:off x="347091" y="1505902"/>
              <a:ext cx="144018" cy="776859"/>
            </a:xfrm>
            <a:prstGeom prst="rect">
              <a:avLst/>
            </a:prstGeom>
            <a:noFill/>
            <a:ln>
              <a:noFill/>
            </a:ln>
          </p:spPr>
          <p:txBody>
            <a:bodyPr wrap="none" lIns="0" tIns="0" rIns="0" bIns="0" anchor="t" anchorCtr="0">
              <a:spAutoFit/>
            </a:bodyPr>
            <a:lstStyle/>
            <a:p>
              <a:pPr algn="ctr">
                <a:lnSpc>
                  <a:spcPts val="1500"/>
                </a:lnSpc>
              </a:pPr>
              <a:r>
                <a:rPr lang="zh-CN" sz="1050" b="1" dirty="0">
                  <a:solidFill>
                    <a:srgbClr val="543E3A"/>
                  </a:solidFill>
                  <a:latin typeface="+mn-lt"/>
                  <a:ea typeface="+mn-ea"/>
                  <a:cs typeface="+mn-cs"/>
                </a:rPr>
                <a:t>增</a:t>
              </a:r>
              <a:br/>
              <a:r>
                <a:rPr lang="zh-CN" sz="1050" b="1" dirty="0">
                  <a:solidFill>
                    <a:srgbClr val="543E3A"/>
                  </a:solidFill>
                  <a:latin typeface="+mn-lt"/>
                  <a:ea typeface="+mn-ea"/>
                  <a:cs typeface="+mn-cs"/>
                </a:rPr>
                <a:t>长</a:t>
              </a:r>
              <a:br/>
              <a:r>
                <a:rPr lang="zh-CN" sz="1050" b="1" dirty="0">
                  <a:solidFill>
                    <a:srgbClr val="543E3A"/>
                  </a:solidFill>
                  <a:latin typeface="+mn-lt"/>
                  <a:ea typeface="+mn-ea"/>
                  <a:cs typeface="+mn-cs"/>
                </a:rPr>
                <a:t>链</a:t>
              </a:r>
              <a:br/>
              <a:r>
                <a:rPr lang="zh-CN" sz="1050" b="1" dirty="0">
                  <a:solidFill>
                    <a:srgbClr val="543E3A"/>
                  </a:solidFill>
                  <a:latin typeface="+mn-lt"/>
                  <a:ea typeface="+mn-ea"/>
                  <a:cs typeface="+mn-cs"/>
                </a:rPr>
                <a:t>路</a:t>
              </a:r>
            </a:p>
          </p:txBody>
        </p:sp>
        <p:sp>
          <p:nvSpPr>
            <p:cNvPr id="11" name="Line 11"/>
            <p:cNvSpPr/>
            <p:nvPr/>
          </p:nvSpPr>
          <p:spPr>
            <a:xfrm>
              <a:off x="628650" y="3143250"/>
              <a:ext cx="9525" cy="2238375"/>
            </a:xfrm>
            <a:custGeom>
              <a:avLst/>
              <a:gdLst/>
              <a:ahLst/>
              <a:cxnLst/>
              <a:rect l="l" t="t" r="r" b="b"/>
              <a:pathLst>
                <a:path w="9525" h="2238375">
                  <a:moveTo>
                    <a:pt x="0" y="0"/>
                  </a:moveTo>
                  <a:lnTo>
                    <a:pt x="0" y="2238375"/>
                  </a:lnTo>
                </a:path>
              </a:pathLst>
            </a:custGeom>
            <a:noFill/>
            <a:ln w="11430">
              <a:solidFill>
                <a:srgbClr val="ECC1B8"/>
              </a:solidFill>
            </a:ln>
          </p:spPr>
        </p:sp>
        <p:sp>
          <p:nvSpPr>
            <p:cNvPr id="12" name="Line 12"/>
            <p:cNvSpPr/>
            <p:nvPr/>
          </p:nvSpPr>
          <p:spPr>
            <a:xfrm>
              <a:off x="628650" y="3143250"/>
              <a:ext cx="76200" cy="9525"/>
            </a:xfrm>
            <a:custGeom>
              <a:avLst/>
              <a:gdLst/>
              <a:ahLst/>
              <a:cxnLst/>
              <a:rect l="l" t="t" r="r" b="b"/>
              <a:pathLst>
                <a:path w="76200" h="9525">
                  <a:moveTo>
                    <a:pt x="0" y="0"/>
                  </a:moveTo>
                  <a:lnTo>
                    <a:pt x="76200" y="0"/>
                  </a:lnTo>
                </a:path>
              </a:pathLst>
            </a:custGeom>
            <a:noFill/>
            <a:ln w="11430">
              <a:solidFill>
                <a:srgbClr val="ECC1B8"/>
              </a:solidFill>
            </a:ln>
          </p:spPr>
        </p:sp>
        <p:sp>
          <p:nvSpPr>
            <p:cNvPr id="13" name="Line 13"/>
            <p:cNvSpPr/>
            <p:nvPr/>
          </p:nvSpPr>
          <p:spPr>
            <a:xfrm>
              <a:off x="628650" y="5381625"/>
              <a:ext cx="76200" cy="9525"/>
            </a:xfrm>
            <a:custGeom>
              <a:avLst/>
              <a:gdLst/>
              <a:ahLst/>
              <a:cxnLst/>
              <a:rect l="l" t="t" r="r" b="b"/>
              <a:pathLst>
                <a:path w="76200" h="9525">
                  <a:moveTo>
                    <a:pt x="0" y="0"/>
                  </a:moveTo>
                  <a:lnTo>
                    <a:pt x="76200" y="0"/>
                  </a:lnTo>
                </a:path>
              </a:pathLst>
            </a:custGeom>
            <a:noFill/>
            <a:ln w="11430">
              <a:solidFill>
                <a:srgbClr val="ECC1B8"/>
              </a:solidFill>
            </a:ln>
          </p:spPr>
        </p:sp>
        <p:sp>
          <p:nvSpPr>
            <p:cNvPr id="14" name="TextBox 14"/>
            <p:cNvSpPr txBox="1"/>
            <p:nvPr/>
          </p:nvSpPr>
          <p:spPr>
            <a:xfrm>
              <a:off x="347091" y="3620452"/>
              <a:ext cx="144018" cy="1291209"/>
            </a:xfrm>
            <a:prstGeom prst="rect">
              <a:avLst/>
            </a:prstGeom>
            <a:noFill/>
            <a:ln>
              <a:noFill/>
            </a:ln>
          </p:spPr>
          <p:txBody>
            <a:bodyPr wrap="none" lIns="0" tIns="0" rIns="0" bIns="0" anchor="t" anchorCtr="0">
              <a:spAutoFit/>
            </a:bodyPr>
            <a:lstStyle/>
            <a:p>
              <a:pPr algn="ctr">
                <a:lnSpc>
                  <a:spcPts val="1425"/>
                </a:lnSpc>
              </a:pPr>
              <a:r>
                <a:rPr lang="zh-CN" sz="1050" b="1" dirty="0">
                  <a:solidFill>
                    <a:srgbClr val="543E3A"/>
                  </a:solidFill>
                  <a:latin typeface="+mn-lt"/>
                  <a:ea typeface="+mn-ea"/>
                  <a:cs typeface="+mn-cs"/>
                </a:rPr>
                <a:t>精</a:t>
              </a:r>
              <a:br/>
              <a:r>
                <a:rPr lang="zh-CN" sz="1050" b="1" dirty="0">
                  <a:solidFill>
                    <a:srgbClr val="543E3A"/>
                  </a:solidFill>
                  <a:latin typeface="+mn-lt"/>
                  <a:ea typeface="+mn-ea"/>
                  <a:cs typeface="+mn-cs"/>
                </a:rPr>
                <a:t>细</a:t>
              </a:r>
              <a:br/>
              <a:r>
                <a:rPr lang="zh-CN" sz="1050" b="1" dirty="0">
                  <a:solidFill>
                    <a:srgbClr val="543E3A"/>
                  </a:solidFill>
                  <a:latin typeface="+mn-lt"/>
                  <a:ea typeface="+mn-ea"/>
                  <a:cs typeface="+mn-cs"/>
                </a:rPr>
                <a:t>化</a:t>
              </a:r>
              <a:br/>
              <a:r>
                <a:rPr lang="zh-CN" sz="1050" b="1" dirty="0">
                  <a:solidFill>
                    <a:srgbClr val="543E3A"/>
                  </a:solidFill>
                  <a:latin typeface="+mn-lt"/>
                  <a:ea typeface="+mn-ea"/>
                  <a:cs typeface="+mn-cs"/>
                </a:rPr>
                <a:t>运</a:t>
              </a:r>
              <a:br/>
              <a:r>
                <a:rPr lang="zh-CN" sz="1050" b="1" dirty="0">
                  <a:solidFill>
                    <a:srgbClr val="543E3A"/>
                  </a:solidFill>
                  <a:latin typeface="+mn-lt"/>
                  <a:ea typeface="+mn-ea"/>
                  <a:cs typeface="+mn-cs"/>
                </a:rPr>
                <a:t>营</a:t>
              </a:r>
              <a:br/>
              <a:r>
                <a:rPr lang="zh-CN" sz="1050" b="1" dirty="0">
                  <a:solidFill>
                    <a:srgbClr val="543E3A"/>
                  </a:solidFill>
                  <a:latin typeface="+mn-lt"/>
                  <a:ea typeface="+mn-ea"/>
                  <a:cs typeface="+mn-cs"/>
                </a:rPr>
                <a:t>策</a:t>
              </a:r>
              <a:br/>
              <a:r>
                <a:rPr lang="zh-CN" sz="1050" b="1" dirty="0">
                  <a:solidFill>
                    <a:srgbClr val="543E3A"/>
                  </a:solidFill>
                  <a:latin typeface="+mn-lt"/>
                  <a:ea typeface="+mn-ea"/>
                  <a:cs typeface="+mn-cs"/>
                </a:rPr>
                <a:t>略</a:t>
              </a:r>
            </a:p>
          </p:txBody>
        </p:sp>
      </p:grpSp>
      <p:grpSp>
        <p:nvGrpSpPr>
          <p:cNvPr id="26" name="growth-curve"/>
          <p:cNvGrpSpPr/>
          <p:nvPr/>
        </p:nvGrpSpPr>
        <p:grpSpPr>
          <a:xfrm>
            <a:off x="809625" y="1028700"/>
            <a:ext cx="10734675" cy="1676400"/>
            <a:chOff x="809625" y="1028700"/>
            <a:chExt cx="10734675" cy="1676400"/>
          </a:xfrm>
        </p:grpSpPr>
        <p:sp>
          <p:nvSpPr>
            <p:cNvPr id="16" name="Freeform 16"/>
            <p:cNvSpPr/>
            <p:nvPr/>
          </p:nvSpPr>
          <p:spPr>
            <a:xfrm>
              <a:off x="809625" y="1143000"/>
              <a:ext cx="10734675" cy="1543050"/>
            </a:xfrm>
            <a:custGeom>
              <a:avLst/>
              <a:gdLst/>
              <a:ahLst/>
              <a:cxnLst/>
              <a:rect l="l" t="t" r="r" b="b"/>
              <a:pathLst>
                <a:path w="10734675" h="1543050">
                  <a:moveTo>
                    <a:pt x="0" y="1476375"/>
                  </a:moveTo>
                  <a:cubicBezTo>
                    <a:pt x="523875" y="571500"/>
                    <a:pt x="1000125" y="95250"/>
                    <a:pt x="1666875" y="171450"/>
                  </a:cubicBezTo>
                  <a:cubicBezTo>
                    <a:pt x="2333625" y="247650"/>
                    <a:pt x="2809875" y="1047750"/>
                    <a:pt x="3667125" y="1190625"/>
                  </a:cubicBezTo>
                  <a:cubicBezTo>
                    <a:pt x="4333875" y="1295400"/>
                    <a:pt x="4810125" y="809625"/>
                    <a:pt x="5476875" y="723900"/>
                  </a:cubicBezTo>
                  <a:cubicBezTo>
                    <a:pt x="6143625" y="638175"/>
                    <a:pt x="6619875" y="1143000"/>
                    <a:pt x="7572375" y="1200150"/>
                  </a:cubicBezTo>
                  <a:cubicBezTo>
                    <a:pt x="8334375" y="1238250"/>
                    <a:pt x="8905875" y="1143000"/>
                    <a:pt x="9667875" y="666750"/>
                  </a:cubicBezTo>
                  <a:cubicBezTo>
                    <a:pt x="10048875" y="428625"/>
                    <a:pt x="10429875" y="142875"/>
                    <a:pt x="10734675" y="0"/>
                  </a:cubicBezTo>
                  <a:lnTo>
                    <a:pt x="10734675" y="1543050"/>
                  </a:lnTo>
                  <a:lnTo>
                    <a:pt x="0" y="1543050"/>
                  </a:lnTo>
                  <a:close/>
                </a:path>
              </a:pathLst>
            </a:custGeom>
            <a:gradFill>
              <a:gsLst>
                <a:gs pos="0">
                  <a:srgbClr val="F07E6A">
                    <a:alpha val="45000"/>
                  </a:srgbClr>
                </a:gs>
                <a:gs pos="100000">
                  <a:srgbClr val="F07E6A">
                    <a:alpha val="2000"/>
                  </a:srgbClr>
                </a:gs>
              </a:gsLst>
              <a:lin ang="5400000" scaled="1"/>
            </a:gradFill>
            <a:ln>
              <a:noFill/>
            </a:ln>
          </p:spPr>
        </p:sp>
        <p:sp>
          <p:nvSpPr>
            <p:cNvPr id="17" name="Freeform 17"/>
            <p:cNvSpPr/>
            <p:nvPr/>
          </p:nvSpPr>
          <p:spPr>
            <a:xfrm>
              <a:off x="809625" y="1143000"/>
              <a:ext cx="10734675" cy="1476375"/>
            </a:xfrm>
            <a:custGeom>
              <a:avLst/>
              <a:gdLst/>
              <a:ahLst/>
              <a:cxnLst/>
              <a:rect l="l" t="t" r="r" b="b"/>
              <a:pathLst>
                <a:path w="10734675" h="1476375">
                  <a:moveTo>
                    <a:pt x="0" y="1476375"/>
                  </a:moveTo>
                  <a:cubicBezTo>
                    <a:pt x="523875" y="571500"/>
                    <a:pt x="1000125" y="95250"/>
                    <a:pt x="1666875" y="171450"/>
                  </a:cubicBezTo>
                  <a:cubicBezTo>
                    <a:pt x="2333625" y="247650"/>
                    <a:pt x="2809875" y="1047750"/>
                    <a:pt x="3667125" y="1190625"/>
                  </a:cubicBezTo>
                  <a:cubicBezTo>
                    <a:pt x="4333875" y="1295400"/>
                    <a:pt x="4810125" y="809625"/>
                    <a:pt x="5476875" y="723900"/>
                  </a:cubicBezTo>
                  <a:cubicBezTo>
                    <a:pt x="6143625" y="638175"/>
                    <a:pt x="6619875" y="1143000"/>
                    <a:pt x="7572375" y="1200150"/>
                  </a:cubicBezTo>
                  <a:cubicBezTo>
                    <a:pt x="8334375" y="1238250"/>
                    <a:pt x="8905875" y="1143000"/>
                    <a:pt x="9667875" y="666750"/>
                  </a:cubicBezTo>
                  <a:cubicBezTo>
                    <a:pt x="10048875" y="428625"/>
                    <a:pt x="10429875" y="142875"/>
                    <a:pt x="10734675" y="0"/>
                  </a:cubicBezTo>
                </a:path>
              </a:pathLst>
            </a:custGeom>
            <a:noFill/>
            <a:ln w="28575">
              <a:solidFill>
                <a:srgbClr val="E8634C"/>
              </a:solidFill>
              <a:tailEnd type="triangle" w="lg" len="lg"/>
            </a:ln>
          </p:spPr>
        </p:sp>
        <p:sp>
          <p:nvSpPr>
            <p:cNvPr id="18" name="Line 18"/>
            <p:cNvSpPr/>
            <p:nvPr/>
          </p:nvSpPr>
          <p:spPr>
            <a:xfrm flipV="1">
              <a:off x="1905000" y="1543050"/>
              <a:ext cx="361950" cy="266700"/>
            </a:xfrm>
            <a:prstGeom prst="line">
              <a:avLst/>
            </a:prstGeom>
            <a:noFill/>
            <a:ln w="14288">
              <a:solidFill>
                <a:srgbClr val="E8634C"/>
              </a:solidFill>
              <a:tailEnd type="triangle" w="lg" len="lg"/>
            </a:ln>
          </p:spPr>
        </p:sp>
        <p:sp>
          <p:nvSpPr>
            <p:cNvPr id="19" name="Line 19"/>
            <p:cNvSpPr/>
            <p:nvPr/>
          </p:nvSpPr>
          <p:spPr>
            <a:xfrm flipV="1">
              <a:off x="5191125" y="2019300"/>
              <a:ext cx="333375" cy="190500"/>
            </a:xfrm>
            <a:prstGeom prst="line">
              <a:avLst/>
            </a:prstGeom>
            <a:noFill/>
            <a:ln w="14288">
              <a:solidFill>
                <a:srgbClr val="E8634C"/>
              </a:solidFill>
              <a:tailEnd type="triangle" w="lg" len="lg"/>
            </a:ln>
          </p:spPr>
        </p:sp>
        <p:sp>
          <p:nvSpPr>
            <p:cNvPr id="20" name="Line 20"/>
            <p:cNvSpPr/>
            <p:nvPr/>
          </p:nvSpPr>
          <p:spPr>
            <a:xfrm flipV="1">
              <a:off x="10858500" y="1504950"/>
              <a:ext cx="361950" cy="285750"/>
            </a:xfrm>
            <a:prstGeom prst="line">
              <a:avLst/>
            </a:prstGeom>
            <a:noFill/>
            <a:ln w="14288">
              <a:solidFill>
                <a:srgbClr val="E8634C"/>
              </a:solidFill>
              <a:tailEnd type="triangle" w="lg" len="lg"/>
            </a:ln>
          </p:spPr>
        </p:sp>
        <p:sp>
          <p:nvSpPr>
            <p:cNvPr id="21" name="Line 21"/>
            <p:cNvSpPr/>
            <p:nvPr/>
          </p:nvSpPr>
          <p:spPr>
            <a:xfrm>
              <a:off x="3714750" y="1028700"/>
              <a:ext cx="9525" cy="1676400"/>
            </a:xfrm>
            <a:custGeom>
              <a:avLst/>
              <a:gdLst/>
              <a:ahLst/>
              <a:cxnLst/>
              <a:rect l="l" t="t" r="r" b="b"/>
              <a:pathLst>
                <a:path w="9525" h="1676400">
                  <a:moveTo>
                    <a:pt x="0" y="0"/>
                  </a:moveTo>
                  <a:lnTo>
                    <a:pt x="0" y="1676400"/>
                  </a:lnTo>
                </a:path>
              </a:pathLst>
            </a:custGeom>
            <a:noFill/>
            <a:ln w="9525">
              <a:solidFill>
                <a:srgbClr val="D8DEF2"/>
              </a:solidFill>
              <a:custDash>
                <a:ds d="300000" sp="300000"/>
              </a:custDash>
            </a:ln>
          </p:spPr>
        </p:sp>
        <p:sp>
          <p:nvSpPr>
            <p:cNvPr id="22" name="Line 22"/>
            <p:cNvSpPr/>
            <p:nvPr/>
          </p:nvSpPr>
          <p:spPr>
            <a:xfrm>
              <a:off x="7715250" y="1028700"/>
              <a:ext cx="9525" cy="1676400"/>
            </a:xfrm>
            <a:custGeom>
              <a:avLst/>
              <a:gdLst/>
              <a:ahLst/>
              <a:cxnLst/>
              <a:rect l="l" t="t" r="r" b="b"/>
              <a:pathLst>
                <a:path w="9525" h="1676400">
                  <a:moveTo>
                    <a:pt x="0" y="0"/>
                  </a:moveTo>
                  <a:lnTo>
                    <a:pt x="0" y="1676400"/>
                  </a:lnTo>
                </a:path>
              </a:pathLst>
            </a:custGeom>
            <a:noFill/>
            <a:ln w="9525">
              <a:solidFill>
                <a:srgbClr val="D8DEF2"/>
              </a:solidFill>
              <a:custDash>
                <a:ds d="300000" sp="300000"/>
              </a:custDash>
            </a:ln>
          </p:spPr>
        </p:sp>
        <p:sp>
          <p:nvSpPr>
            <p:cNvPr id="23" name="TextBox 23"/>
            <p:cNvSpPr txBox="1"/>
            <p:nvPr/>
          </p:nvSpPr>
          <p:spPr>
            <a:xfrm>
              <a:off x="3281362" y="1049893"/>
              <a:ext cx="472618" cy="169069"/>
            </a:xfrm>
            <a:prstGeom prst="rect">
              <a:avLst/>
            </a:prstGeom>
            <a:noFill/>
            <a:ln>
              <a:noFill/>
            </a:ln>
          </p:spPr>
          <p:txBody>
            <a:bodyPr wrap="none" lIns="0" tIns="0" rIns="0" bIns="0" anchor="t" anchorCtr="0">
              <a:spAutoFit/>
            </a:bodyPr>
            <a:lstStyle/>
            <a:p>
              <a:pPr algn="l"/>
              <a:r>
                <a:rPr lang="zh-CN" sz="860" dirty="0">
                  <a:solidFill>
                    <a:srgbClr val="88706B"/>
                  </a:solidFill>
                  <a:latin typeface="+mn-lt"/>
                  <a:ea typeface="+mn-ea"/>
                  <a:cs typeface="+mn-cs"/>
                </a:rPr>
                <a:t>扩充场景</a:t>
              </a:r>
            </a:p>
          </p:txBody>
        </p:sp>
        <p:sp>
          <p:nvSpPr>
            <p:cNvPr id="24" name="TextBox 24"/>
            <p:cNvSpPr txBox="1"/>
            <p:nvPr/>
          </p:nvSpPr>
          <p:spPr>
            <a:xfrm>
              <a:off x="6091238" y="1049893"/>
              <a:ext cx="472618" cy="169069"/>
            </a:xfrm>
            <a:prstGeom prst="rect">
              <a:avLst/>
            </a:prstGeom>
            <a:noFill/>
            <a:ln>
              <a:noFill/>
            </a:ln>
          </p:spPr>
          <p:txBody>
            <a:bodyPr wrap="none" lIns="0" tIns="0" rIns="0" bIns="0" anchor="t" anchorCtr="0">
              <a:spAutoFit/>
            </a:bodyPr>
            <a:lstStyle/>
            <a:p>
              <a:pPr algn="l"/>
              <a:r>
                <a:rPr lang="zh-CN" sz="860" dirty="0">
                  <a:solidFill>
                    <a:srgbClr val="88706B"/>
                  </a:solidFill>
                  <a:latin typeface="+mn-lt"/>
                  <a:ea typeface="+mn-ea"/>
                  <a:cs typeface="+mn-cs"/>
                </a:rPr>
                <a:t>资产沉淀</a:t>
              </a:r>
            </a:p>
          </p:txBody>
        </p:sp>
        <p:sp>
          <p:nvSpPr>
            <p:cNvPr id="25" name="TextBox 25"/>
            <p:cNvSpPr txBox="1"/>
            <p:nvPr/>
          </p:nvSpPr>
          <p:spPr>
            <a:xfrm>
              <a:off x="8853488" y="1049893"/>
              <a:ext cx="472618" cy="169069"/>
            </a:xfrm>
            <a:prstGeom prst="rect">
              <a:avLst/>
            </a:prstGeom>
            <a:noFill/>
            <a:ln>
              <a:noFill/>
            </a:ln>
          </p:spPr>
          <p:txBody>
            <a:bodyPr wrap="none" lIns="0" tIns="0" rIns="0" bIns="0" anchor="t" anchorCtr="0">
              <a:spAutoFit/>
            </a:bodyPr>
            <a:lstStyle/>
            <a:p>
              <a:pPr algn="l"/>
              <a:r>
                <a:rPr lang="zh-CN" sz="860" dirty="0">
                  <a:solidFill>
                    <a:srgbClr val="88706B"/>
                  </a:solidFill>
                  <a:latin typeface="+mn-lt"/>
                  <a:ea typeface="+mn-ea"/>
                  <a:cs typeface="+mn-cs"/>
                </a:rPr>
                <a:t>有质增长</a:t>
              </a:r>
            </a:p>
          </p:txBody>
        </p:sp>
      </p:grpSp>
      <p:grpSp>
        <p:nvGrpSpPr>
          <p:cNvPr id="34" name="chain-labels"/>
          <p:cNvGrpSpPr/>
          <p:nvPr/>
        </p:nvGrpSpPr>
        <p:grpSpPr>
          <a:xfrm>
            <a:off x="838200" y="2819400"/>
            <a:ext cx="10591800" cy="231601"/>
            <a:chOff x="838200" y="2819400"/>
            <a:chExt cx="10591800" cy="231601"/>
          </a:xfrm>
        </p:grpSpPr>
        <p:sp>
          <p:nvSpPr>
            <p:cNvPr id="27" name="Line 27"/>
            <p:cNvSpPr/>
            <p:nvPr/>
          </p:nvSpPr>
          <p:spPr>
            <a:xfrm>
              <a:off x="838200" y="2914650"/>
              <a:ext cx="1543050" cy="9525"/>
            </a:xfrm>
            <a:custGeom>
              <a:avLst/>
              <a:gdLst/>
              <a:ahLst/>
              <a:cxnLst/>
              <a:rect l="l" t="t" r="r" b="b"/>
              <a:pathLst>
                <a:path w="1543050" h="9525">
                  <a:moveTo>
                    <a:pt x="0" y="0"/>
                  </a:moveTo>
                  <a:lnTo>
                    <a:pt x="1543050" y="0"/>
                  </a:lnTo>
                </a:path>
              </a:pathLst>
            </a:custGeom>
            <a:noFill/>
            <a:ln w="11430">
              <a:solidFill>
                <a:srgbClr val="F3BAB0"/>
              </a:solidFill>
              <a:custDash>
                <a:ds d="333333" sp="250000"/>
              </a:custDash>
            </a:ln>
          </p:spPr>
        </p:sp>
        <p:sp>
          <p:nvSpPr>
            <p:cNvPr id="28" name="TextBox 28"/>
            <p:cNvSpPr txBox="1"/>
            <p:nvPr/>
          </p:nvSpPr>
          <p:spPr>
            <a:xfrm>
              <a:off x="2798191" y="2852976"/>
              <a:ext cx="690118" cy="198025"/>
            </a:xfrm>
            <a:prstGeom prst="rect">
              <a:avLst/>
            </a:prstGeom>
            <a:noFill/>
            <a:ln>
              <a:noFill/>
            </a:ln>
          </p:spPr>
          <p:txBody>
            <a:bodyPr wrap="none" lIns="0" tIns="0" rIns="0" bIns="0" anchor="t" anchorCtr="0">
              <a:spAutoFit/>
            </a:bodyPr>
            <a:lstStyle/>
            <a:p>
              <a:pPr algn="ctr"/>
              <a:r>
                <a:rPr lang="zh-CN" sz="1010" b="1" dirty="0">
                  <a:solidFill>
                    <a:srgbClr val="E2624C"/>
                  </a:solidFill>
                  <a:latin typeface="+mn-lt"/>
                  <a:ea typeface="+mn-ea"/>
                  <a:cs typeface="+mn-cs"/>
                </a:rPr>
                <a:t>前链路分层</a:t>
              </a:r>
            </a:p>
          </p:txBody>
        </p:sp>
        <p:sp>
          <p:nvSpPr>
            <p:cNvPr id="29" name="Line 29"/>
            <p:cNvSpPr/>
            <p:nvPr/>
          </p:nvSpPr>
          <p:spPr>
            <a:xfrm>
              <a:off x="3905250" y="2914650"/>
              <a:ext cx="1238250" cy="9525"/>
            </a:xfrm>
            <a:custGeom>
              <a:avLst/>
              <a:gdLst/>
              <a:ahLst/>
              <a:cxnLst/>
              <a:rect l="l" t="t" r="r" b="b"/>
              <a:pathLst>
                <a:path w="1238250" h="9525">
                  <a:moveTo>
                    <a:pt x="0" y="0"/>
                  </a:moveTo>
                  <a:lnTo>
                    <a:pt x="1238250" y="0"/>
                  </a:lnTo>
                </a:path>
              </a:pathLst>
            </a:custGeom>
            <a:noFill/>
            <a:ln w="11430">
              <a:solidFill>
                <a:srgbClr val="F3BAB0"/>
              </a:solidFill>
              <a:custDash>
                <a:ds d="333333" sp="250000"/>
              </a:custDash>
            </a:ln>
          </p:spPr>
        </p:sp>
        <p:sp>
          <p:nvSpPr>
            <p:cNvPr id="30" name="Line 30"/>
            <p:cNvSpPr/>
            <p:nvPr/>
          </p:nvSpPr>
          <p:spPr>
            <a:xfrm>
              <a:off x="5286375" y="2819400"/>
              <a:ext cx="9525" cy="209550"/>
            </a:xfrm>
            <a:custGeom>
              <a:avLst/>
              <a:gdLst/>
              <a:ahLst/>
              <a:cxnLst/>
              <a:rect l="l" t="t" r="r" b="b"/>
              <a:pathLst>
                <a:path w="9525" h="209550">
                  <a:moveTo>
                    <a:pt x="0" y="0"/>
                  </a:moveTo>
                  <a:lnTo>
                    <a:pt x="0" y="209550"/>
                  </a:lnTo>
                </a:path>
              </a:pathLst>
            </a:custGeom>
            <a:noFill/>
            <a:ln w="9525">
              <a:solidFill>
                <a:srgbClr val="ECC1B8"/>
              </a:solidFill>
            </a:ln>
          </p:spPr>
        </p:sp>
        <p:sp>
          <p:nvSpPr>
            <p:cNvPr id="31" name="Line 31"/>
            <p:cNvSpPr/>
            <p:nvPr/>
          </p:nvSpPr>
          <p:spPr>
            <a:xfrm>
              <a:off x="5429250" y="2914650"/>
              <a:ext cx="2190750" cy="9525"/>
            </a:xfrm>
            <a:custGeom>
              <a:avLst/>
              <a:gdLst/>
              <a:ahLst/>
              <a:cxnLst/>
              <a:rect l="l" t="t" r="r" b="b"/>
              <a:pathLst>
                <a:path w="2190750" h="9525">
                  <a:moveTo>
                    <a:pt x="0" y="0"/>
                  </a:moveTo>
                  <a:lnTo>
                    <a:pt x="2190750" y="0"/>
                  </a:lnTo>
                </a:path>
              </a:pathLst>
            </a:custGeom>
            <a:noFill/>
            <a:ln w="11430">
              <a:solidFill>
                <a:srgbClr val="F3BAB0"/>
              </a:solidFill>
              <a:custDash>
                <a:ds d="333333" sp="250000"/>
              </a:custDash>
            </a:ln>
          </p:spPr>
        </p:sp>
        <p:sp>
          <p:nvSpPr>
            <p:cNvPr id="32" name="TextBox 32"/>
            <p:cNvSpPr txBox="1"/>
            <p:nvPr/>
          </p:nvSpPr>
          <p:spPr>
            <a:xfrm>
              <a:off x="8036941" y="2852976"/>
              <a:ext cx="690118" cy="198025"/>
            </a:xfrm>
            <a:prstGeom prst="rect">
              <a:avLst/>
            </a:prstGeom>
            <a:noFill/>
            <a:ln>
              <a:noFill/>
            </a:ln>
          </p:spPr>
          <p:txBody>
            <a:bodyPr wrap="none" lIns="0" tIns="0" rIns="0" bIns="0" anchor="t" anchorCtr="0">
              <a:spAutoFit/>
            </a:bodyPr>
            <a:lstStyle/>
            <a:p>
              <a:pPr algn="ctr"/>
              <a:r>
                <a:rPr lang="zh-CN" sz="1010" b="1" dirty="0">
                  <a:solidFill>
                    <a:srgbClr val="E2624C"/>
                  </a:solidFill>
                  <a:latin typeface="+mn-lt"/>
                  <a:ea typeface="+mn-ea"/>
                  <a:cs typeface="+mn-cs"/>
                </a:rPr>
                <a:t>后链路分层</a:t>
              </a:r>
            </a:p>
          </p:txBody>
        </p:sp>
        <p:sp>
          <p:nvSpPr>
            <p:cNvPr id="33" name="Line 33"/>
            <p:cNvSpPr/>
            <p:nvPr/>
          </p:nvSpPr>
          <p:spPr>
            <a:xfrm>
              <a:off x="9144000" y="2914650"/>
              <a:ext cx="2286000" cy="9525"/>
            </a:xfrm>
            <a:custGeom>
              <a:avLst/>
              <a:gdLst/>
              <a:ahLst/>
              <a:cxnLst/>
              <a:rect l="l" t="t" r="r" b="b"/>
              <a:pathLst>
                <a:path w="2286000" h="9525">
                  <a:moveTo>
                    <a:pt x="0" y="0"/>
                  </a:moveTo>
                  <a:lnTo>
                    <a:pt x="2286000" y="0"/>
                  </a:lnTo>
                </a:path>
              </a:pathLst>
            </a:custGeom>
            <a:noFill/>
            <a:ln w="11430">
              <a:solidFill>
                <a:srgbClr val="F3BAB0"/>
              </a:solidFill>
              <a:custDash>
                <a:ds d="333333" sp="250000"/>
              </a:custDash>
            </a:ln>
          </p:spPr>
        </p:sp>
      </p:grpSp>
      <p:grpSp>
        <p:nvGrpSpPr>
          <p:cNvPr id="47" name="col-awareness"/>
          <p:cNvGrpSpPr/>
          <p:nvPr/>
        </p:nvGrpSpPr>
        <p:grpSpPr>
          <a:xfrm>
            <a:off x="809625" y="3086100"/>
            <a:ext cx="2619375" cy="2266950"/>
            <a:chOff x="809625" y="3086100"/>
            <a:chExt cx="2619375" cy="2266950"/>
          </a:xfrm>
        </p:grpSpPr>
        <p:sp>
          <p:nvSpPr>
            <p:cNvPr id="35" name="Freeform 35"/>
            <p:cNvSpPr/>
            <p:nvPr/>
          </p:nvSpPr>
          <p:spPr>
            <a:xfrm>
              <a:off x="809625" y="3086100"/>
              <a:ext cx="2619375" cy="285750"/>
            </a:xfrm>
            <a:prstGeom prst="chevron">
              <a:avLst/>
            </a:prstGeom>
            <a:solidFill>
              <a:srgbClr val="C46D5B"/>
            </a:solidFill>
            <a:ln>
              <a:noFill/>
            </a:ln>
          </p:spPr>
        </p:sp>
        <p:sp>
          <p:nvSpPr>
            <p:cNvPr id="36" name="TextBox 36"/>
            <p:cNvSpPr txBox="1"/>
            <p:nvPr/>
          </p:nvSpPr>
          <p:spPr>
            <a:xfrm>
              <a:off x="1826514" y="31632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认知覆盖</a:t>
              </a:r>
            </a:p>
          </p:txBody>
        </p:sp>
        <p:sp>
          <p:nvSpPr>
            <p:cNvPr id="37" name="Rectangle 37"/>
            <p:cNvSpPr/>
            <p:nvPr/>
          </p:nvSpPr>
          <p:spPr>
            <a:xfrm>
              <a:off x="809625" y="3429000"/>
              <a:ext cx="2619375" cy="876300"/>
            </a:xfrm>
            <a:prstGeom prst="roundRect">
              <a:avLst>
                <a:gd name="adj" fmla="val 4348"/>
              </a:avLst>
            </a:prstGeom>
            <a:solidFill>
              <a:srgbClr val="FFFFFF"/>
            </a:solidFill>
            <a:ln w="11430">
              <a:solidFill>
                <a:srgbClr val="C9D1F0"/>
              </a:solidFill>
            </a:ln>
          </p:spPr>
        </p:sp>
        <p:sp>
          <p:nvSpPr>
            <p:cNvPr id="38" name="Ellipse 38"/>
            <p:cNvSpPr/>
            <p:nvPr/>
          </p:nvSpPr>
          <p:spPr>
            <a:xfrm>
              <a:off x="1028700" y="3543300"/>
              <a:ext cx="457200" cy="457200"/>
            </a:xfrm>
            <a:prstGeom prst="ellipse">
              <a:avLst/>
            </a:prstGeom>
            <a:solidFill>
              <a:srgbClr val="E8EBF8"/>
            </a:solidFill>
            <a:ln>
              <a:noFill/>
            </a:ln>
          </p:spPr>
        </p:sp>
        <p:sp>
          <p:nvSpPr>
            <p:cNvPr id="39" name="TextBox 39"/>
            <p:cNvSpPr txBox="1"/>
            <p:nvPr/>
          </p:nvSpPr>
          <p:spPr>
            <a:xfrm>
              <a:off x="1108710" y="3581400"/>
              <a:ext cx="1156249" cy="586740"/>
            </a:xfrm>
            <a:prstGeom prst="rect">
              <a:avLst/>
            </a:prstGeom>
            <a:noFill/>
            <a:ln>
              <a:noFill/>
            </a:ln>
          </p:spPr>
          <p:txBody>
            <a:bodyPr wrap="none" lIns="0" tIns="0" rIns="0" bIns="0" anchor="t" anchorCtr="0">
              <a:spAutoFit/>
            </a:bodyPr>
            <a:lstStyle/>
            <a:p>
              <a:pPr algn="l"/>
              <a:r>
                <a:rPr lang="en-US" sz="3000" b="1" dirty="0">
                  <a:solidFill>
                    <a:srgbClr val="1A1A1A"/>
                  </a:solidFill>
                  <a:latin typeface="+mn-lt"/>
                  <a:ea typeface="+mn-ea"/>
                  <a:cs typeface="+mn-cs"/>
                </a:rPr>
                <a:t>A</a:t>
              </a:r>
              <a:r>
                <a:rPr lang="en-US" sz="1420" dirty="0">
                  <a:solidFill>
                    <a:srgbClr val="1A1A1A"/>
                  </a:solidFill>
                  <a:latin typeface="+mn-lt"/>
                  <a:ea typeface="+mn-ea"/>
                  <a:cs typeface="+mn-cs"/>
                </a:rPr>
                <a:t>wareness</a:t>
              </a:r>
            </a:p>
          </p:txBody>
        </p:sp>
        <p:sp>
          <p:nvSpPr>
            <p:cNvPr id="40" name="TextBox 40"/>
            <p:cNvSpPr txBox="1"/>
            <p:nvPr/>
          </p:nvSpPr>
          <p:spPr>
            <a:xfrm>
              <a:off x="1439735" y="4085749"/>
              <a:ext cx="1349631" cy="190690"/>
            </a:xfrm>
            <a:prstGeom prst="rect">
              <a:avLst/>
            </a:prstGeom>
            <a:noFill/>
            <a:ln>
              <a:noFill/>
            </a:ln>
          </p:spPr>
          <p:txBody>
            <a:bodyPr wrap="none" lIns="0" tIns="0" rIns="0" bIns="0" anchor="t" anchorCtr="0">
              <a:spAutoFit/>
            </a:bodyPr>
            <a:lstStyle/>
            <a:p>
              <a:pPr algn="ctr"/>
              <a:r>
                <a:rPr lang="zh-CN" sz="980" b="1" dirty="0">
                  <a:solidFill>
                    <a:srgbClr val="C45F4A"/>
                  </a:solidFill>
                  <a:latin typeface="+mn-lt"/>
                  <a:ea typeface="+mn-ea"/>
                  <a:cs typeface="+mn-cs"/>
                </a:rPr>
                <a:t>高精准+门槛低+吸引大</a:t>
              </a:r>
            </a:p>
          </p:txBody>
        </p:sp>
        <p:sp>
          <p:nvSpPr>
            <p:cNvPr id="41" name="Rectangle 41"/>
            <p:cNvSpPr/>
            <p:nvPr/>
          </p:nvSpPr>
          <p:spPr>
            <a:xfrm>
              <a:off x="809625" y="4400550"/>
              <a:ext cx="2619375" cy="285750"/>
            </a:xfrm>
            <a:prstGeom prst="roundRect">
              <a:avLst>
                <a:gd name="adj" fmla="val 10000"/>
              </a:avLst>
            </a:prstGeom>
            <a:solidFill>
              <a:srgbClr val="F5F6FC"/>
            </a:solidFill>
            <a:ln>
              <a:noFill/>
            </a:ln>
          </p:spPr>
        </p:sp>
        <p:sp>
          <p:nvSpPr>
            <p:cNvPr id="42" name="TextBox 42"/>
            <p:cNvSpPr txBox="1"/>
            <p:nvPr/>
          </p:nvSpPr>
          <p:spPr>
            <a:xfrm>
              <a:off x="1818894" y="4493895"/>
              <a:ext cx="591312"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钩子设计</a:t>
              </a:r>
            </a:p>
          </p:txBody>
        </p:sp>
        <p:sp>
          <p:nvSpPr>
            <p:cNvPr id="43" name="Rectangle 43"/>
            <p:cNvSpPr/>
            <p:nvPr/>
          </p:nvSpPr>
          <p:spPr>
            <a:xfrm>
              <a:off x="809625" y="4733925"/>
              <a:ext cx="2619375" cy="285750"/>
            </a:xfrm>
            <a:prstGeom prst="roundRect">
              <a:avLst>
                <a:gd name="adj" fmla="val 10000"/>
              </a:avLst>
            </a:prstGeom>
            <a:solidFill>
              <a:srgbClr val="F5F6FC"/>
            </a:solidFill>
            <a:ln>
              <a:noFill/>
            </a:ln>
          </p:spPr>
        </p:sp>
        <p:sp>
          <p:nvSpPr>
            <p:cNvPr id="44" name="TextBox 44"/>
            <p:cNvSpPr txBox="1"/>
            <p:nvPr/>
          </p:nvSpPr>
          <p:spPr>
            <a:xfrm>
              <a:off x="1734769" y="4827270"/>
              <a:ext cx="759562"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en-US" sz="900" dirty="0">
                  <a:solidFill>
                    <a:srgbClr val="543E3A"/>
                  </a:solidFill>
                  <a:latin typeface="+mn-lt"/>
                  <a:ea typeface="+mn-ea"/>
                  <a:cs typeface="+mn-cs"/>
                </a:rPr>
                <a:t>LOOKLIKE​</a:t>
              </a:r>
            </a:p>
          </p:txBody>
        </p:sp>
        <p:sp>
          <p:nvSpPr>
            <p:cNvPr id="45" name="Rectangle 45"/>
            <p:cNvSpPr/>
            <p:nvPr/>
          </p:nvSpPr>
          <p:spPr>
            <a:xfrm>
              <a:off x="809625" y="5067300"/>
              <a:ext cx="2619375" cy="285750"/>
            </a:xfrm>
            <a:prstGeom prst="roundRect">
              <a:avLst>
                <a:gd name="adj" fmla="val 10000"/>
              </a:avLst>
            </a:prstGeom>
            <a:solidFill>
              <a:srgbClr val="F5F6FC"/>
            </a:solidFill>
            <a:ln>
              <a:noFill/>
            </a:ln>
          </p:spPr>
        </p:sp>
        <p:sp>
          <p:nvSpPr>
            <p:cNvPr id="46" name="TextBox 46"/>
            <p:cNvSpPr txBox="1"/>
            <p:nvPr/>
          </p:nvSpPr>
          <p:spPr>
            <a:xfrm>
              <a:off x="1818894" y="5160645"/>
              <a:ext cx="591312"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精细投放</a:t>
              </a:r>
            </a:p>
          </p:txBody>
        </p:sp>
      </p:grpSp>
      <p:grpSp>
        <p:nvGrpSpPr>
          <p:cNvPr id="60" name="col-interest"/>
          <p:cNvGrpSpPr/>
          <p:nvPr/>
        </p:nvGrpSpPr>
        <p:grpSpPr>
          <a:xfrm>
            <a:off x="3476625" y="3086100"/>
            <a:ext cx="2619375" cy="2266950"/>
            <a:chOff x="3476625" y="3086100"/>
            <a:chExt cx="2619375" cy="2266950"/>
          </a:xfrm>
        </p:grpSpPr>
        <p:sp>
          <p:nvSpPr>
            <p:cNvPr id="48" name="Freeform 48"/>
            <p:cNvSpPr/>
            <p:nvPr/>
          </p:nvSpPr>
          <p:spPr>
            <a:xfrm>
              <a:off x="3476625" y="3086100"/>
              <a:ext cx="2619375" cy="285750"/>
            </a:xfrm>
            <a:prstGeom prst="chevron">
              <a:avLst/>
            </a:prstGeom>
            <a:solidFill>
              <a:srgbClr val="C45F4A"/>
            </a:solidFill>
            <a:ln>
              <a:noFill/>
            </a:ln>
          </p:spPr>
        </p:sp>
        <p:sp>
          <p:nvSpPr>
            <p:cNvPr id="49" name="TextBox 49"/>
            <p:cNvSpPr txBox="1"/>
            <p:nvPr/>
          </p:nvSpPr>
          <p:spPr>
            <a:xfrm>
              <a:off x="4493514" y="31632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产生兴趣</a:t>
              </a:r>
            </a:p>
          </p:txBody>
        </p:sp>
        <p:sp>
          <p:nvSpPr>
            <p:cNvPr id="50" name="Rectangle 50"/>
            <p:cNvSpPr/>
            <p:nvPr/>
          </p:nvSpPr>
          <p:spPr>
            <a:xfrm>
              <a:off x="3476625" y="3429000"/>
              <a:ext cx="2619375" cy="876300"/>
            </a:xfrm>
            <a:prstGeom prst="roundRect">
              <a:avLst>
                <a:gd name="adj" fmla="val 4348"/>
              </a:avLst>
            </a:prstGeom>
            <a:solidFill>
              <a:srgbClr val="FFFFFF"/>
            </a:solidFill>
            <a:ln w="11430">
              <a:solidFill>
                <a:srgbClr val="C9D1F0"/>
              </a:solidFill>
            </a:ln>
          </p:spPr>
        </p:sp>
        <p:sp>
          <p:nvSpPr>
            <p:cNvPr id="51" name="Ellipse 51"/>
            <p:cNvSpPr/>
            <p:nvPr/>
          </p:nvSpPr>
          <p:spPr>
            <a:xfrm>
              <a:off x="3771900" y="3543300"/>
              <a:ext cx="457200" cy="457200"/>
            </a:xfrm>
            <a:prstGeom prst="ellipse">
              <a:avLst/>
            </a:prstGeom>
            <a:solidFill>
              <a:srgbClr val="E8EBF8"/>
            </a:solidFill>
            <a:ln>
              <a:noFill/>
            </a:ln>
          </p:spPr>
        </p:sp>
        <p:sp>
          <p:nvSpPr>
            <p:cNvPr id="52" name="TextBox 52"/>
            <p:cNvSpPr txBox="1"/>
            <p:nvPr/>
          </p:nvSpPr>
          <p:spPr>
            <a:xfrm>
              <a:off x="3909060" y="3581400"/>
              <a:ext cx="900864" cy="586740"/>
            </a:xfrm>
            <a:prstGeom prst="rect">
              <a:avLst/>
            </a:prstGeom>
            <a:noFill/>
            <a:ln>
              <a:noFill/>
            </a:ln>
          </p:spPr>
          <p:txBody>
            <a:bodyPr wrap="none" lIns="0" tIns="0" rIns="0" bIns="0" anchor="t" anchorCtr="0">
              <a:spAutoFit/>
            </a:bodyPr>
            <a:lstStyle/>
            <a:p>
              <a:pPr algn="l"/>
              <a:r>
                <a:rPr lang="en-US" sz="3000" b="1" dirty="0">
                  <a:solidFill>
                    <a:srgbClr val="1A1A1A"/>
                  </a:solidFill>
                  <a:latin typeface="+mn-lt"/>
                  <a:ea typeface="+mn-ea"/>
                  <a:cs typeface="+mn-cs"/>
                </a:rPr>
                <a:t>I</a:t>
              </a:r>
              <a:r>
                <a:rPr lang="en-US" sz="1420" dirty="0">
                  <a:solidFill>
                    <a:srgbClr val="1A1A1A"/>
                  </a:solidFill>
                  <a:latin typeface="+mn-lt"/>
                  <a:ea typeface="+mn-ea"/>
                  <a:cs typeface="+mn-cs"/>
                </a:rPr>
                <a:t>nterest</a:t>
              </a:r>
            </a:p>
          </p:txBody>
        </p:sp>
        <p:sp>
          <p:nvSpPr>
            <p:cNvPr id="53" name="TextBox 53"/>
            <p:cNvSpPr txBox="1"/>
            <p:nvPr/>
          </p:nvSpPr>
          <p:spPr>
            <a:xfrm>
              <a:off x="4106735" y="4085749"/>
              <a:ext cx="1349631" cy="190690"/>
            </a:xfrm>
            <a:prstGeom prst="rect">
              <a:avLst/>
            </a:prstGeom>
            <a:noFill/>
            <a:ln>
              <a:noFill/>
            </a:ln>
          </p:spPr>
          <p:txBody>
            <a:bodyPr wrap="none" lIns="0" tIns="0" rIns="0" bIns="0" anchor="t" anchorCtr="0">
              <a:spAutoFit/>
            </a:bodyPr>
            <a:lstStyle/>
            <a:p>
              <a:pPr algn="ctr"/>
              <a:r>
                <a:rPr lang="zh-CN" sz="980" b="1" dirty="0">
                  <a:solidFill>
                    <a:srgbClr val="C45F4A"/>
                  </a:solidFill>
                  <a:latin typeface="+mn-lt"/>
                  <a:ea typeface="+mn-ea"/>
                  <a:cs typeface="+mn-cs"/>
                </a:rPr>
                <a:t>建联系+强种草+信任感</a:t>
              </a:r>
            </a:p>
          </p:txBody>
        </p:sp>
        <p:sp>
          <p:nvSpPr>
            <p:cNvPr id="54" name="Rectangle 54"/>
            <p:cNvSpPr/>
            <p:nvPr/>
          </p:nvSpPr>
          <p:spPr>
            <a:xfrm>
              <a:off x="3476625" y="4400550"/>
              <a:ext cx="2619375" cy="285750"/>
            </a:xfrm>
            <a:prstGeom prst="roundRect">
              <a:avLst>
                <a:gd name="adj" fmla="val 10000"/>
              </a:avLst>
            </a:prstGeom>
            <a:solidFill>
              <a:srgbClr val="F5F6FC"/>
            </a:solidFill>
            <a:ln>
              <a:noFill/>
            </a:ln>
          </p:spPr>
        </p:sp>
        <p:sp>
          <p:nvSpPr>
            <p:cNvPr id="55" name="TextBox 55"/>
            <p:cNvSpPr txBox="1"/>
            <p:nvPr/>
          </p:nvSpPr>
          <p:spPr>
            <a:xfrm>
              <a:off x="4398169" y="4493895"/>
              <a:ext cx="766762"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AI外呼短信​</a:t>
              </a:r>
            </a:p>
          </p:txBody>
        </p:sp>
        <p:sp>
          <p:nvSpPr>
            <p:cNvPr id="56" name="Rectangle 56"/>
            <p:cNvSpPr/>
            <p:nvPr/>
          </p:nvSpPr>
          <p:spPr>
            <a:xfrm>
              <a:off x="3476625" y="4733925"/>
              <a:ext cx="2619375" cy="285750"/>
            </a:xfrm>
            <a:prstGeom prst="roundRect">
              <a:avLst>
                <a:gd name="adj" fmla="val 10000"/>
              </a:avLst>
            </a:prstGeom>
            <a:solidFill>
              <a:srgbClr val="F5F6FC"/>
            </a:solidFill>
            <a:ln>
              <a:noFill/>
            </a:ln>
          </p:spPr>
        </p:sp>
        <p:sp>
          <p:nvSpPr>
            <p:cNvPr id="57" name="TextBox 57"/>
            <p:cNvSpPr txBox="1"/>
            <p:nvPr/>
          </p:nvSpPr>
          <p:spPr>
            <a:xfrm>
              <a:off x="4546473" y="4827270"/>
              <a:ext cx="470154"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朋友圈</a:t>
              </a:r>
            </a:p>
          </p:txBody>
        </p:sp>
        <p:sp>
          <p:nvSpPr>
            <p:cNvPr id="58" name="Rectangle 58"/>
            <p:cNvSpPr/>
            <p:nvPr/>
          </p:nvSpPr>
          <p:spPr>
            <a:xfrm>
              <a:off x="3476625" y="5067300"/>
              <a:ext cx="2619375" cy="285750"/>
            </a:xfrm>
            <a:prstGeom prst="roundRect">
              <a:avLst>
                <a:gd name="adj" fmla="val 10000"/>
              </a:avLst>
            </a:prstGeom>
            <a:solidFill>
              <a:srgbClr val="F5F6FC"/>
            </a:solidFill>
            <a:ln>
              <a:noFill/>
            </a:ln>
          </p:spPr>
        </p:sp>
        <p:sp>
          <p:nvSpPr>
            <p:cNvPr id="59" name="TextBox 59"/>
            <p:cNvSpPr txBox="1"/>
            <p:nvPr/>
          </p:nvSpPr>
          <p:spPr>
            <a:xfrm>
              <a:off x="4485894" y="5160645"/>
              <a:ext cx="591312"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达人种草</a:t>
              </a:r>
            </a:p>
          </p:txBody>
        </p:sp>
      </p:grpSp>
      <p:grpSp>
        <p:nvGrpSpPr>
          <p:cNvPr id="73" name="col-purchase"/>
          <p:cNvGrpSpPr/>
          <p:nvPr/>
        </p:nvGrpSpPr>
        <p:grpSpPr>
          <a:xfrm>
            <a:off x="6143625" y="3086100"/>
            <a:ext cx="2619375" cy="2266950"/>
            <a:chOff x="6143625" y="3086100"/>
            <a:chExt cx="2619375" cy="2266950"/>
          </a:xfrm>
        </p:grpSpPr>
        <p:sp>
          <p:nvSpPr>
            <p:cNvPr id="61" name="Freeform 61"/>
            <p:cNvSpPr/>
            <p:nvPr/>
          </p:nvSpPr>
          <p:spPr>
            <a:xfrm>
              <a:off x="6143625" y="3086100"/>
              <a:ext cx="2619375" cy="285750"/>
            </a:xfrm>
            <a:prstGeom prst="chevron">
              <a:avLst/>
            </a:prstGeom>
            <a:solidFill>
              <a:srgbClr val="C46D5B"/>
            </a:solidFill>
            <a:ln>
              <a:noFill/>
            </a:ln>
          </p:spPr>
        </p:sp>
        <p:sp>
          <p:nvSpPr>
            <p:cNvPr id="62" name="TextBox 62"/>
            <p:cNvSpPr txBox="1"/>
            <p:nvPr/>
          </p:nvSpPr>
          <p:spPr>
            <a:xfrm>
              <a:off x="7160514" y="31632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产生购买</a:t>
              </a:r>
            </a:p>
          </p:txBody>
        </p:sp>
        <p:sp>
          <p:nvSpPr>
            <p:cNvPr id="63" name="Rectangle 63"/>
            <p:cNvSpPr/>
            <p:nvPr/>
          </p:nvSpPr>
          <p:spPr>
            <a:xfrm>
              <a:off x="6143625" y="3429000"/>
              <a:ext cx="2619375" cy="876300"/>
            </a:xfrm>
            <a:prstGeom prst="roundRect">
              <a:avLst>
                <a:gd name="adj" fmla="val 4348"/>
              </a:avLst>
            </a:prstGeom>
            <a:solidFill>
              <a:srgbClr val="FFFFFF"/>
            </a:solidFill>
            <a:ln w="11430">
              <a:solidFill>
                <a:srgbClr val="C9D1F0"/>
              </a:solidFill>
            </a:ln>
          </p:spPr>
        </p:sp>
        <p:sp>
          <p:nvSpPr>
            <p:cNvPr id="64" name="Ellipse 64"/>
            <p:cNvSpPr/>
            <p:nvPr/>
          </p:nvSpPr>
          <p:spPr>
            <a:xfrm>
              <a:off x="6400800" y="3543300"/>
              <a:ext cx="457200" cy="457200"/>
            </a:xfrm>
            <a:prstGeom prst="ellipse">
              <a:avLst/>
            </a:prstGeom>
            <a:solidFill>
              <a:srgbClr val="E8EBF8"/>
            </a:solidFill>
            <a:ln>
              <a:noFill/>
            </a:ln>
          </p:spPr>
        </p:sp>
        <p:sp>
          <p:nvSpPr>
            <p:cNvPr id="65" name="TextBox 65"/>
            <p:cNvSpPr txBox="1"/>
            <p:nvPr/>
          </p:nvSpPr>
          <p:spPr>
            <a:xfrm>
              <a:off x="6499860" y="3581400"/>
              <a:ext cx="1012878" cy="586740"/>
            </a:xfrm>
            <a:prstGeom prst="rect">
              <a:avLst/>
            </a:prstGeom>
            <a:noFill/>
            <a:ln>
              <a:noFill/>
            </a:ln>
          </p:spPr>
          <p:txBody>
            <a:bodyPr wrap="none" lIns="0" tIns="0" rIns="0" bIns="0" anchor="t" anchorCtr="0">
              <a:spAutoFit/>
            </a:bodyPr>
            <a:lstStyle/>
            <a:p>
              <a:pPr algn="l"/>
              <a:r>
                <a:rPr lang="en-US" sz="3000" b="1" dirty="0">
                  <a:solidFill>
                    <a:srgbClr val="1A1A1A"/>
                  </a:solidFill>
                  <a:latin typeface="+mn-lt"/>
                  <a:ea typeface="+mn-ea"/>
                  <a:cs typeface="+mn-cs"/>
                </a:rPr>
                <a:t>P</a:t>
              </a:r>
              <a:r>
                <a:rPr lang="en-US" sz="1420" dirty="0">
                  <a:solidFill>
                    <a:srgbClr val="1A1A1A"/>
                  </a:solidFill>
                  <a:latin typeface="+mn-lt"/>
                  <a:ea typeface="+mn-ea"/>
                  <a:cs typeface="+mn-cs"/>
                </a:rPr>
                <a:t>urchase</a:t>
              </a:r>
            </a:p>
          </p:txBody>
        </p:sp>
        <p:sp>
          <p:nvSpPr>
            <p:cNvPr id="66" name="TextBox 66"/>
            <p:cNvSpPr txBox="1"/>
            <p:nvPr/>
          </p:nvSpPr>
          <p:spPr>
            <a:xfrm>
              <a:off x="6811829" y="4085749"/>
              <a:ext cx="1273443" cy="190690"/>
            </a:xfrm>
            <a:prstGeom prst="rect">
              <a:avLst/>
            </a:prstGeom>
            <a:noFill/>
            <a:ln>
              <a:noFill/>
            </a:ln>
          </p:spPr>
          <p:txBody>
            <a:bodyPr wrap="none" lIns="0" tIns="0" rIns="0" bIns="0" anchor="t" anchorCtr="0">
              <a:spAutoFit/>
            </a:bodyPr>
            <a:lstStyle/>
            <a:p>
              <a:pPr algn="ctr"/>
              <a:r>
                <a:rPr lang="zh-CN" sz="980" b="1" dirty="0">
                  <a:solidFill>
                    <a:srgbClr val="C45F4A"/>
                  </a:solidFill>
                  <a:latin typeface="+mn-lt"/>
                  <a:ea typeface="+mn-ea"/>
                  <a:cs typeface="+mn-cs"/>
                </a:rPr>
                <a:t>建场景营销+促单钩子</a:t>
              </a:r>
            </a:p>
          </p:txBody>
        </p:sp>
        <p:sp>
          <p:nvSpPr>
            <p:cNvPr id="67" name="Rectangle 67"/>
            <p:cNvSpPr/>
            <p:nvPr/>
          </p:nvSpPr>
          <p:spPr>
            <a:xfrm>
              <a:off x="6143625" y="4400550"/>
              <a:ext cx="2619375" cy="285750"/>
            </a:xfrm>
            <a:prstGeom prst="roundRect">
              <a:avLst>
                <a:gd name="adj" fmla="val 10000"/>
              </a:avLst>
            </a:prstGeom>
            <a:solidFill>
              <a:srgbClr val="F5F6FC"/>
            </a:solidFill>
            <a:ln>
              <a:noFill/>
            </a:ln>
          </p:spPr>
        </p:sp>
        <p:sp>
          <p:nvSpPr>
            <p:cNvPr id="68" name="TextBox 68"/>
            <p:cNvSpPr txBox="1"/>
            <p:nvPr/>
          </p:nvSpPr>
          <p:spPr>
            <a:xfrm>
              <a:off x="7152894" y="4493895"/>
              <a:ext cx="591312"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首单激励</a:t>
              </a:r>
            </a:p>
          </p:txBody>
        </p:sp>
        <p:sp>
          <p:nvSpPr>
            <p:cNvPr id="69" name="Rectangle 69"/>
            <p:cNvSpPr/>
            <p:nvPr/>
          </p:nvSpPr>
          <p:spPr>
            <a:xfrm>
              <a:off x="6143625" y="4733925"/>
              <a:ext cx="2619375" cy="285750"/>
            </a:xfrm>
            <a:prstGeom prst="roundRect">
              <a:avLst>
                <a:gd name="adj" fmla="val 10000"/>
              </a:avLst>
            </a:prstGeom>
            <a:solidFill>
              <a:srgbClr val="F5F6FC"/>
            </a:solidFill>
            <a:ln>
              <a:noFill/>
            </a:ln>
          </p:spPr>
        </p:sp>
        <p:sp>
          <p:nvSpPr>
            <p:cNvPr id="70" name="TextBox 70"/>
            <p:cNvSpPr txBox="1"/>
            <p:nvPr/>
          </p:nvSpPr>
          <p:spPr>
            <a:xfrm>
              <a:off x="7092315" y="4827270"/>
              <a:ext cx="712470"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多场景营销</a:t>
              </a:r>
            </a:p>
          </p:txBody>
        </p:sp>
        <p:sp>
          <p:nvSpPr>
            <p:cNvPr id="71" name="Rectangle 71"/>
            <p:cNvSpPr/>
            <p:nvPr/>
          </p:nvSpPr>
          <p:spPr>
            <a:xfrm>
              <a:off x="6143625" y="5067300"/>
              <a:ext cx="2619375" cy="285750"/>
            </a:xfrm>
            <a:prstGeom prst="roundRect">
              <a:avLst>
                <a:gd name="adj" fmla="val 10000"/>
              </a:avLst>
            </a:prstGeom>
            <a:solidFill>
              <a:srgbClr val="F5F6FC"/>
            </a:solidFill>
            <a:ln>
              <a:noFill/>
            </a:ln>
          </p:spPr>
        </p:sp>
        <p:sp>
          <p:nvSpPr>
            <p:cNvPr id="72" name="TextBox 72"/>
            <p:cNvSpPr txBox="1"/>
            <p:nvPr/>
          </p:nvSpPr>
          <p:spPr>
            <a:xfrm>
              <a:off x="7213473" y="5160645"/>
              <a:ext cx="470154"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会员制</a:t>
              </a:r>
            </a:p>
          </p:txBody>
        </p:sp>
      </p:grpSp>
      <p:grpSp>
        <p:nvGrpSpPr>
          <p:cNvPr id="86" name="col-loyalty"/>
          <p:cNvGrpSpPr/>
          <p:nvPr/>
        </p:nvGrpSpPr>
        <p:grpSpPr>
          <a:xfrm>
            <a:off x="8810625" y="3086100"/>
            <a:ext cx="2619375" cy="2266950"/>
            <a:chOff x="8810625" y="3086100"/>
            <a:chExt cx="2619375" cy="2266950"/>
          </a:xfrm>
        </p:grpSpPr>
        <p:sp>
          <p:nvSpPr>
            <p:cNvPr id="74" name="Freeform 74"/>
            <p:cNvSpPr/>
            <p:nvPr/>
          </p:nvSpPr>
          <p:spPr>
            <a:xfrm>
              <a:off x="8810625" y="3086100"/>
              <a:ext cx="2619375" cy="285750"/>
            </a:xfrm>
            <a:prstGeom prst="chevron">
              <a:avLst/>
            </a:prstGeom>
            <a:solidFill>
              <a:srgbClr val="C45F4A"/>
            </a:solidFill>
            <a:ln>
              <a:noFill/>
            </a:ln>
          </p:spPr>
        </p:sp>
        <p:sp>
          <p:nvSpPr>
            <p:cNvPr id="75" name="TextBox 75"/>
            <p:cNvSpPr txBox="1"/>
            <p:nvPr/>
          </p:nvSpPr>
          <p:spPr>
            <a:xfrm>
              <a:off x="9827514" y="31632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忠诚购买</a:t>
              </a:r>
            </a:p>
          </p:txBody>
        </p:sp>
        <p:sp>
          <p:nvSpPr>
            <p:cNvPr id="76" name="Rectangle 76"/>
            <p:cNvSpPr/>
            <p:nvPr/>
          </p:nvSpPr>
          <p:spPr>
            <a:xfrm>
              <a:off x="8810625" y="3429000"/>
              <a:ext cx="2619375" cy="876300"/>
            </a:xfrm>
            <a:prstGeom prst="roundRect">
              <a:avLst>
                <a:gd name="adj" fmla="val 4348"/>
              </a:avLst>
            </a:prstGeom>
            <a:solidFill>
              <a:srgbClr val="FFFFFF"/>
            </a:solidFill>
            <a:ln w="11430">
              <a:solidFill>
                <a:srgbClr val="C9D1F0"/>
              </a:solidFill>
            </a:ln>
          </p:spPr>
        </p:sp>
        <p:sp>
          <p:nvSpPr>
            <p:cNvPr id="77" name="Ellipse 77"/>
            <p:cNvSpPr/>
            <p:nvPr/>
          </p:nvSpPr>
          <p:spPr>
            <a:xfrm>
              <a:off x="9124950" y="3543300"/>
              <a:ext cx="457200" cy="457200"/>
            </a:xfrm>
            <a:prstGeom prst="ellipse">
              <a:avLst/>
            </a:prstGeom>
            <a:solidFill>
              <a:srgbClr val="E8EBF8"/>
            </a:solidFill>
            <a:ln>
              <a:noFill/>
            </a:ln>
          </p:spPr>
        </p:sp>
        <p:sp>
          <p:nvSpPr>
            <p:cNvPr id="78" name="TextBox 78"/>
            <p:cNvSpPr txBox="1"/>
            <p:nvPr/>
          </p:nvSpPr>
          <p:spPr>
            <a:xfrm>
              <a:off x="9243060" y="3581400"/>
              <a:ext cx="859950" cy="586740"/>
            </a:xfrm>
            <a:prstGeom prst="rect">
              <a:avLst/>
            </a:prstGeom>
            <a:noFill/>
            <a:ln>
              <a:noFill/>
            </a:ln>
          </p:spPr>
          <p:txBody>
            <a:bodyPr wrap="none" lIns="0" tIns="0" rIns="0" bIns="0" anchor="t" anchorCtr="0">
              <a:spAutoFit/>
            </a:bodyPr>
            <a:lstStyle/>
            <a:p>
              <a:pPr algn="l"/>
              <a:r>
                <a:rPr lang="en-US" sz="3000" b="1" dirty="0">
                  <a:solidFill>
                    <a:srgbClr val="1A1A1A"/>
                  </a:solidFill>
                  <a:latin typeface="+mn-lt"/>
                  <a:ea typeface="+mn-ea"/>
                  <a:cs typeface="+mn-cs"/>
                </a:rPr>
                <a:t>L</a:t>
              </a:r>
              <a:r>
                <a:rPr lang="en-US" sz="1420" dirty="0">
                  <a:solidFill>
                    <a:srgbClr val="1A1A1A"/>
                  </a:solidFill>
                  <a:latin typeface="+mn-lt"/>
                  <a:ea typeface="+mn-ea"/>
                  <a:cs typeface="+mn-cs"/>
                </a:rPr>
                <a:t>oyalty</a:t>
              </a:r>
            </a:p>
          </p:txBody>
        </p:sp>
        <p:sp>
          <p:nvSpPr>
            <p:cNvPr id="79" name="TextBox 79"/>
            <p:cNvSpPr txBox="1"/>
            <p:nvPr/>
          </p:nvSpPr>
          <p:spPr>
            <a:xfrm>
              <a:off x="9412865" y="4085749"/>
              <a:ext cx="1405370" cy="190690"/>
            </a:xfrm>
            <a:prstGeom prst="rect">
              <a:avLst/>
            </a:prstGeom>
            <a:noFill/>
            <a:ln>
              <a:noFill/>
            </a:ln>
          </p:spPr>
          <p:txBody>
            <a:bodyPr wrap="none" lIns="0" tIns="0" rIns="0" bIns="0" anchor="t" anchorCtr="0">
              <a:spAutoFit/>
            </a:bodyPr>
            <a:lstStyle/>
            <a:p>
              <a:pPr algn="ctr"/>
              <a:r>
                <a:rPr lang="zh-CN" sz="980" b="1" dirty="0">
                  <a:solidFill>
                    <a:srgbClr val="C45F4A"/>
                  </a:solidFill>
                  <a:latin typeface="+mn-lt"/>
                  <a:ea typeface="+mn-ea"/>
                  <a:cs typeface="+mn-cs"/>
                </a:rPr>
                <a:t>个性服务+身份认同赋予</a:t>
              </a:r>
            </a:p>
          </p:txBody>
        </p:sp>
        <p:sp>
          <p:nvSpPr>
            <p:cNvPr id="80" name="Rectangle 80"/>
            <p:cNvSpPr/>
            <p:nvPr/>
          </p:nvSpPr>
          <p:spPr>
            <a:xfrm>
              <a:off x="8810625" y="4400550"/>
              <a:ext cx="2619375" cy="285750"/>
            </a:xfrm>
            <a:prstGeom prst="roundRect">
              <a:avLst>
                <a:gd name="adj" fmla="val 10000"/>
              </a:avLst>
            </a:prstGeom>
            <a:solidFill>
              <a:srgbClr val="F5F6FC"/>
            </a:solidFill>
            <a:ln>
              <a:noFill/>
            </a:ln>
          </p:spPr>
        </p:sp>
        <p:sp>
          <p:nvSpPr>
            <p:cNvPr id="81" name="TextBox 81"/>
            <p:cNvSpPr txBox="1"/>
            <p:nvPr/>
          </p:nvSpPr>
          <p:spPr>
            <a:xfrm>
              <a:off x="9665418" y="4493895"/>
              <a:ext cx="900265"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个性推荐/服务</a:t>
              </a:r>
            </a:p>
          </p:txBody>
        </p:sp>
        <p:sp>
          <p:nvSpPr>
            <p:cNvPr id="82" name="Rectangle 82"/>
            <p:cNvSpPr/>
            <p:nvPr/>
          </p:nvSpPr>
          <p:spPr>
            <a:xfrm>
              <a:off x="8810625" y="4733925"/>
              <a:ext cx="2619375" cy="285750"/>
            </a:xfrm>
            <a:prstGeom prst="roundRect">
              <a:avLst>
                <a:gd name="adj" fmla="val 10000"/>
              </a:avLst>
            </a:prstGeom>
            <a:solidFill>
              <a:srgbClr val="F5F6FC"/>
            </a:solidFill>
            <a:ln>
              <a:noFill/>
            </a:ln>
          </p:spPr>
        </p:sp>
        <p:sp>
          <p:nvSpPr>
            <p:cNvPr id="83" name="TextBox 83"/>
            <p:cNvSpPr txBox="1"/>
            <p:nvPr/>
          </p:nvSpPr>
          <p:spPr>
            <a:xfrm>
              <a:off x="9698736" y="4827270"/>
              <a:ext cx="833628"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周期复购运营</a:t>
              </a:r>
            </a:p>
          </p:txBody>
        </p:sp>
        <p:sp>
          <p:nvSpPr>
            <p:cNvPr id="84" name="Rectangle 84"/>
            <p:cNvSpPr/>
            <p:nvPr/>
          </p:nvSpPr>
          <p:spPr>
            <a:xfrm>
              <a:off x="8810625" y="5067300"/>
              <a:ext cx="2619375" cy="285750"/>
            </a:xfrm>
            <a:prstGeom prst="roundRect">
              <a:avLst>
                <a:gd name="adj" fmla="val 10000"/>
              </a:avLst>
            </a:prstGeom>
            <a:solidFill>
              <a:srgbClr val="F5F6FC"/>
            </a:solidFill>
            <a:ln>
              <a:noFill/>
            </a:ln>
          </p:spPr>
        </p:sp>
        <p:sp>
          <p:nvSpPr>
            <p:cNvPr id="85" name="TextBox 85"/>
            <p:cNvSpPr txBox="1"/>
            <p:nvPr/>
          </p:nvSpPr>
          <p:spPr>
            <a:xfrm>
              <a:off x="9665418" y="5160645"/>
              <a:ext cx="900265"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会员/大使身份</a:t>
              </a:r>
            </a:p>
          </p:txBody>
        </p:sp>
      </p:gr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7239000" cy="542925"/>
            <a:chOff x="0" y="0"/>
            <a:chExt cx="72390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53</a:t>
              </a:r>
            </a:p>
          </p:txBody>
        </p:sp>
        <p:sp>
          <p:nvSpPr>
            <p:cNvPr id="4" name="TextBox 4"/>
            <p:cNvSpPr txBox="1"/>
            <p:nvPr/>
          </p:nvSpPr>
          <p:spPr>
            <a:xfrm>
              <a:off x="942594" y="151448"/>
              <a:ext cx="5201393"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A/B测试辅助增长，贯穿用户生命全周期​</a:t>
              </a:r>
            </a:p>
          </p:txBody>
        </p:sp>
        <p:sp>
          <p:nvSpPr>
            <p:cNvPr id="5" name="Line 5"/>
            <p:cNvSpPr/>
            <p:nvPr/>
          </p:nvSpPr>
          <p:spPr>
            <a:xfrm>
              <a:off x="952500" y="533400"/>
              <a:ext cx="6286500" cy="9525"/>
            </a:xfrm>
            <a:custGeom>
              <a:avLst/>
              <a:gdLst/>
              <a:ahLst/>
              <a:cxnLst/>
              <a:rect l="l" t="t" r="r" b="b"/>
              <a:pathLst>
                <a:path w="6286500" h="9525">
                  <a:moveTo>
                    <a:pt x="0" y="0"/>
                  </a:moveTo>
                  <a:lnTo>
                    <a:pt x="6286500" y="0"/>
                  </a:lnTo>
                </a:path>
              </a:pathLst>
            </a:custGeom>
            <a:noFill/>
            <a:ln w="14288">
              <a:solidFill>
                <a:srgbClr val="C45F4A"/>
              </a:solidFill>
            </a:ln>
          </p:spPr>
        </p:sp>
      </p:grpSp>
      <p:grpSp>
        <p:nvGrpSpPr>
          <p:cNvPr id="11" name="note-top-1"/>
          <p:cNvGrpSpPr/>
          <p:nvPr/>
        </p:nvGrpSpPr>
        <p:grpSpPr>
          <a:xfrm>
            <a:off x="1285875" y="1219200"/>
            <a:ext cx="2254567" cy="1847850"/>
            <a:chOff x="1285875" y="1219200"/>
            <a:chExt cx="2254567" cy="1847850"/>
          </a:xfrm>
        </p:grpSpPr>
        <p:sp>
          <p:nvSpPr>
            <p:cNvPr id="7" name="Line 7"/>
            <p:cNvSpPr/>
            <p:nvPr/>
          </p:nvSpPr>
          <p:spPr>
            <a:xfrm>
              <a:off x="1809750" y="1543050"/>
              <a:ext cx="9525" cy="1524000"/>
            </a:xfrm>
            <a:custGeom>
              <a:avLst/>
              <a:gdLst/>
              <a:ahLst/>
              <a:cxnLst/>
              <a:rect l="l" t="t" r="r" b="b"/>
              <a:pathLst>
                <a:path w="9525" h="1524000">
                  <a:moveTo>
                    <a:pt x="0" y="1524000"/>
                  </a:moveTo>
                  <a:lnTo>
                    <a:pt x="0" y="0"/>
                  </a:lnTo>
                </a:path>
              </a:pathLst>
            </a:custGeom>
            <a:noFill/>
            <a:ln w="14288">
              <a:solidFill>
                <a:srgbClr val="ECC1B8"/>
              </a:solidFill>
            </a:ln>
          </p:spPr>
        </p:sp>
        <p:sp>
          <p:nvSpPr>
            <p:cNvPr id="8" name="Rectangle 8"/>
            <p:cNvSpPr/>
            <p:nvPr/>
          </p:nvSpPr>
          <p:spPr>
            <a:xfrm>
              <a:off x="1285875" y="1219200"/>
              <a:ext cx="2143125" cy="304800"/>
            </a:xfrm>
            <a:prstGeom prst="roundRect">
              <a:avLst>
                <a:gd name="adj" fmla="val 12500"/>
              </a:avLst>
            </a:prstGeom>
            <a:solidFill>
              <a:srgbClr val="E8634C"/>
            </a:solidFill>
            <a:ln>
              <a:noFill/>
            </a:ln>
          </p:spPr>
        </p:sp>
        <p:sp>
          <p:nvSpPr>
            <p:cNvPr id="9" name="TextBox 9"/>
            <p:cNvSpPr txBox="1"/>
            <p:nvPr/>
          </p:nvSpPr>
          <p:spPr>
            <a:xfrm>
              <a:off x="1442314" y="1307306"/>
              <a:ext cx="182072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明确核心行为引导用户使用</a:t>
              </a:r>
            </a:p>
          </p:txBody>
        </p:sp>
        <p:sp>
          <p:nvSpPr>
            <p:cNvPr id="10" name="TextBox 10"/>
            <p:cNvSpPr txBox="1"/>
            <p:nvPr/>
          </p:nvSpPr>
          <p:spPr>
            <a:xfrm>
              <a:off x="1947862" y="1769745"/>
              <a:ext cx="1592580" cy="785812"/>
            </a:xfrm>
            <a:prstGeom prst="rect">
              <a:avLst/>
            </a:prstGeom>
            <a:noFill/>
            <a:ln>
              <a:noFill/>
            </a:ln>
          </p:spPr>
          <p:txBody>
            <a:bodyPr wrap="none" lIns="0" tIns="0" rIns="0" bIns="0" anchor="t" anchorCtr="0">
              <a:spAutoFit/>
            </a:bodyPr>
            <a:lstStyle/>
            <a:p>
              <a:pPr algn="l" marL="97155" indent="-97155">
                <a:lnSpc>
                  <a:spcPts val="1500"/>
                </a:lnSpc>
                <a:buClr>
                  <a:srgbClr val="543E3A"/>
                </a:buClr>
                <a:buSzTx/>
                <a:buFontTx/>
                <a:buChar char="•"/>
              </a:pPr>
              <a:r>
                <a:rPr lang="zh-CN" sz="900" dirty="0">
                  <a:solidFill>
                    <a:srgbClr val="543E3A"/>
                  </a:solidFill>
                  <a:latin typeface="+mn-lt"/>
                  <a:ea typeface="+mn-ea"/>
                  <a:cs typeface="+mn-cs"/>
                </a:rPr>
                <a:t>通过A/B测试找到新用户的​</a:t>
              </a:r>
              <a:br/>
              <a:r>
                <a:rPr lang="zh-CN" sz="900" dirty="0">
                  <a:solidFill>
                    <a:srgbClr val="543E3A"/>
                  </a:solidFill>
                  <a:latin typeface="+mn-lt"/>
                  <a:ea typeface="+mn-ea"/>
                  <a:cs typeface="+mn-cs"/>
                </a:rPr>
                <a:t>Aha时刻及关键行为。​</a:t>
              </a:r>
            </a:p>
            <a:p>
              <a:pPr algn="l" marL="97155" indent="-97155">
                <a:lnSpc>
                  <a:spcPts val="1500"/>
                </a:lnSpc>
                <a:spcBef>
                  <a:spcPts val="300"/>
                </a:spcBef>
                <a:buClr>
                  <a:srgbClr val="543E3A"/>
                </a:buClr>
                <a:buSzTx/>
                <a:buFontTx/>
                <a:buChar char="•"/>
              </a:pPr>
              <a:r>
                <a:rPr lang="zh-CN" sz="900" dirty="0">
                  <a:solidFill>
                    <a:srgbClr val="543E3A"/>
                  </a:solidFill>
                  <a:latin typeface="+mn-lt"/>
                  <a:ea typeface="+mn-ea"/>
                  <a:cs typeface="+mn-cs"/>
                </a:rPr>
                <a:t>利用推送实验关键节点对用户</a:t>
              </a:r>
              <a:br/>
              <a:r>
                <a:rPr lang="zh-CN" sz="900" dirty="0">
                  <a:solidFill>
                    <a:srgbClr val="543E3A"/>
                  </a:solidFill>
                  <a:latin typeface="+mn-lt"/>
                  <a:ea typeface="+mn-ea"/>
                  <a:cs typeface="+mn-cs"/>
                </a:rPr>
                <a:t>干预，持续提升通道转化率。</a:t>
              </a:r>
            </a:p>
          </p:txBody>
        </p:sp>
      </p:grpSp>
      <p:grpSp>
        <p:nvGrpSpPr>
          <p:cNvPr id="16" name="note-top-2"/>
          <p:cNvGrpSpPr/>
          <p:nvPr/>
        </p:nvGrpSpPr>
        <p:grpSpPr>
          <a:xfrm>
            <a:off x="4857750" y="1219200"/>
            <a:ext cx="2382202" cy="1847850"/>
            <a:chOff x="4857750" y="1219200"/>
            <a:chExt cx="2382202" cy="1847850"/>
          </a:xfrm>
        </p:grpSpPr>
        <p:sp>
          <p:nvSpPr>
            <p:cNvPr id="12" name="Line 12"/>
            <p:cNvSpPr/>
            <p:nvPr/>
          </p:nvSpPr>
          <p:spPr>
            <a:xfrm>
              <a:off x="5133975" y="1543050"/>
              <a:ext cx="9525" cy="1524000"/>
            </a:xfrm>
            <a:custGeom>
              <a:avLst/>
              <a:gdLst/>
              <a:ahLst/>
              <a:cxnLst/>
              <a:rect l="l" t="t" r="r" b="b"/>
              <a:pathLst>
                <a:path w="9525" h="1524000">
                  <a:moveTo>
                    <a:pt x="0" y="1524000"/>
                  </a:moveTo>
                  <a:lnTo>
                    <a:pt x="0" y="0"/>
                  </a:lnTo>
                </a:path>
              </a:pathLst>
            </a:custGeom>
            <a:noFill/>
            <a:ln w="14288">
              <a:solidFill>
                <a:srgbClr val="ECC1B8"/>
              </a:solidFill>
            </a:ln>
          </p:spPr>
        </p:sp>
        <p:sp>
          <p:nvSpPr>
            <p:cNvPr id="13" name="Rectangle 13"/>
            <p:cNvSpPr/>
            <p:nvPr/>
          </p:nvSpPr>
          <p:spPr>
            <a:xfrm>
              <a:off x="4857750" y="1219200"/>
              <a:ext cx="2143125" cy="304800"/>
            </a:xfrm>
            <a:prstGeom prst="roundRect">
              <a:avLst>
                <a:gd name="adj" fmla="val 12500"/>
              </a:avLst>
            </a:prstGeom>
            <a:solidFill>
              <a:srgbClr val="E8634C"/>
            </a:solidFill>
            <a:ln>
              <a:noFill/>
            </a:ln>
          </p:spPr>
        </p:sp>
        <p:sp>
          <p:nvSpPr>
            <p:cNvPr id="14" name="TextBox 14"/>
            <p:cNvSpPr txBox="1"/>
            <p:nvPr/>
          </p:nvSpPr>
          <p:spPr>
            <a:xfrm>
              <a:off x="5014189" y="1307306"/>
              <a:ext cx="182072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了解核心用户提升用户活跃</a:t>
              </a:r>
            </a:p>
          </p:txBody>
        </p:sp>
        <p:sp>
          <p:nvSpPr>
            <p:cNvPr id="15" name="TextBox 15"/>
            <p:cNvSpPr txBox="1"/>
            <p:nvPr/>
          </p:nvSpPr>
          <p:spPr>
            <a:xfrm>
              <a:off x="5281612" y="1769745"/>
              <a:ext cx="1958340" cy="595312"/>
            </a:xfrm>
            <a:prstGeom prst="rect">
              <a:avLst/>
            </a:prstGeom>
            <a:noFill/>
            <a:ln>
              <a:noFill/>
            </a:ln>
          </p:spPr>
          <p:txBody>
            <a:bodyPr wrap="none" lIns="0" tIns="0" rIns="0" bIns="0" anchor="t" anchorCtr="0">
              <a:spAutoFit/>
            </a:bodyPr>
            <a:lstStyle/>
            <a:p>
              <a:pPr algn="l" marL="97155" indent="-97155">
                <a:lnSpc>
                  <a:spcPts val="1500"/>
                </a:lnSpc>
                <a:buClr>
                  <a:srgbClr val="543E3A"/>
                </a:buClr>
                <a:buSzTx/>
                <a:buFontTx/>
                <a:buChar char="•"/>
              </a:pPr>
              <a:r>
                <a:rPr lang="zh-CN" sz="900" dirty="0">
                  <a:solidFill>
                    <a:srgbClr val="543E3A"/>
                  </a:solidFill>
                  <a:latin typeface="+mn-lt"/>
                  <a:ea typeface="+mn-ea"/>
                  <a:cs typeface="+mn-cs"/>
                </a:rPr>
                <a:t>利用客群实验探索核心用户分层。</a:t>
              </a:r>
            </a:p>
            <a:p>
              <a:pPr algn="l" marL="97155" indent="-97155">
                <a:lnSpc>
                  <a:spcPts val="1500"/>
                </a:lnSpc>
                <a:spcBef>
                  <a:spcPts val="300"/>
                </a:spcBef>
                <a:buClr>
                  <a:srgbClr val="543E3A"/>
                </a:buClr>
                <a:buSzTx/>
                <a:buFontTx/>
                <a:buChar char="•"/>
              </a:pPr>
              <a:r>
                <a:rPr lang="zh-CN" sz="900" dirty="0">
                  <a:solidFill>
                    <a:srgbClr val="543E3A"/>
                  </a:solidFill>
                  <a:latin typeface="+mn-lt"/>
                  <a:ea typeface="+mn-ea"/>
                  <a:cs typeface="+mn-cs"/>
                </a:rPr>
                <a:t>利用A/B测试对分层用户群体精细化​</a:t>
              </a:r>
              <a:br/>
              <a:r>
                <a:rPr lang="zh-CN" sz="900" dirty="0">
                  <a:solidFill>
                    <a:srgbClr val="543E3A"/>
                  </a:solidFill>
                  <a:latin typeface="+mn-lt"/>
                  <a:ea typeface="+mn-ea"/>
                  <a:cs typeface="+mn-cs"/>
                </a:rPr>
                <a:t>运营，提升用户粘性。</a:t>
              </a:r>
            </a:p>
          </p:txBody>
        </p:sp>
      </p:grpSp>
      <p:grpSp>
        <p:nvGrpSpPr>
          <p:cNvPr id="21" name="note-top-3"/>
          <p:cNvGrpSpPr/>
          <p:nvPr/>
        </p:nvGrpSpPr>
        <p:grpSpPr>
          <a:xfrm>
            <a:off x="8382000" y="1219200"/>
            <a:ext cx="2143125" cy="1847850"/>
            <a:chOff x="8382000" y="1219200"/>
            <a:chExt cx="2143125" cy="1847850"/>
          </a:xfrm>
        </p:grpSpPr>
        <p:sp>
          <p:nvSpPr>
            <p:cNvPr id="17" name="Line 17"/>
            <p:cNvSpPr/>
            <p:nvPr/>
          </p:nvSpPr>
          <p:spPr>
            <a:xfrm>
              <a:off x="8467725" y="1543050"/>
              <a:ext cx="9525" cy="1524000"/>
            </a:xfrm>
            <a:custGeom>
              <a:avLst/>
              <a:gdLst/>
              <a:ahLst/>
              <a:cxnLst/>
              <a:rect l="l" t="t" r="r" b="b"/>
              <a:pathLst>
                <a:path w="9525" h="1524000">
                  <a:moveTo>
                    <a:pt x="0" y="1524000"/>
                  </a:moveTo>
                  <a:lnTo>
                    <a:pt x="0" y="0"/>
                  </a:lnTo>
                </a:path>
              </a:pathLst>
            </a:custGeom>
            <a:noFill/>
            <a:ln w="14288">
              <a:solidFill>
                <a:srgbClr val="ECC1B8"/>
              </a:solidFill>
            </a:ln>
          </p:spPr>
        </p:sp>
        <p:sp>
          <p:nvSpPr>
            <p:cNvPr id="18" name="Rectangle 18"/>
            <p:cNvSpPr/>
            <p:nvPr/>
          </p:nvSpPr>
          <p:spPr>
            <a:xfrm>
              <a:off x="8382000" y="1219200"/>
              <a:ext cx="2143125" cy="304800"/>
            </a:xfrm>
            <a:prstGeom prst="roundRect">
              <a:avLst>
                <a:gd name="adj" fmla="val 12500"/>
              </a:avLst>
            </a:prstGeom>
            <a:solidFill>
              <a:srgbClr val="E8634C"/>
            </a:solidFill>
            <a:ln>
              <a:noFill/>
            </a:ln>
          </p:spPr>
        </p:sp>
        <p:sp>
          <p:nvSpPr>
            <p:cNvPr id="19" name="TextBox 19"/>
            <p:cNvSpPr txBox="1"/>
            <p:nvPr/>
          </p:nvSpPr>
          <p:spPr>
            <a:xfrm>
              <a:off x="8538439" y="1307306"/>
              <a:ext cx="182072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洞察流失原因提升召回效果</a:t>
              </a:r>
            </a:p>
          </p:txBody>
        </p:sp>
        <p:sp>
          <p:nvSpPr>
            <p:cNvPr id="20" name="TextBox 20"/>
            <p:cNvSpPr txBox="1"/>
            <p:nvPr/>
          </p:nvSpPr>
          <p:spPr>
            <a:xfrm>
              <a:off x="8615362" y="1769745"/>
              <a:ext cx="1386840" cy="366712"/>
            </a:xfrm>
            <a:prstGeom prst="rect">
              <a:avLst/>
            </a:prstGeom>
            <a:noFill/>
            <a:ln>
              <a:noFill/>
            </a:ln>
          </p:spPr>
          <p:txBody>
            <a:bodyPr wrap="none" lIns="0" tIns="0" rIns="0" bIns="0" anchor="t" anchorCtr="0">
              <a:spAutoFit/>
            </a:bodyPr>
            <a:lstStyle/>
            <a:p>
              <a:pPr algn="l" marL="97155" indent="-97155">
                <a:lnSpc>
                  <a:spcPts val="1500"/>
                </a:lnSpc>
                <a:buClr>
                  <a:srgbClr val="543E3A"/>
                </a:buClr>
                <a:buSzTx/>
                <a:buFontTx/>
                <a:buChar char="•"/>
              </a:pPr>
              <a:r>
                <a:rPr lang="zh-CN" sz="900" dirty="0">
                  <a:solidFill>
                    <a:srgbClr val="543E3A"/>
                  </a:solidFill>
                  <a:latin typeface="+mn-lt"/>
                  <a:ea typeface="+mn-ea"/>
                  <a:cs typeface="+mn-cs"/>
                </a:rPr>
                <a:t>利用A/B测试提升召回信​</a:t>
              </a:r>
              <a:br/>
              <a:r>
                <a:rPr lang="zh-CN" sz="900" dirty="0">
                  <a:solidFill>
                    <a:srgbClr val="543E3A"/>
                  </a:solidFill>
                  <a:latin typeface="+mn-lt"/>
                  <a:ea typeface="+mn-ea"/>
                  <a:cs typeface="+mn-cs"/>
                </a:rPr>
                <a:t>息打开率。</a:t>
              </a:r>
            </a:p>
          </p:txBody>
        </p:sp>
      </p:grpSp>
      <p:grpSp>
        <p:nvGrpSpPr>
          <p:cNvPr id="41" name="lifecycle-wave"/>
          <p:cNvGrpSpPr/>
          <p:nvPr/>
        </p:nvGrpSpPr>
        <p:grpSpPr>
          <a:xfrm>
            <a:off x="1000125" y="2819400"/>
            <a:ext cx="9953625" cy="1695450"/>
            <a:chOff x="1000125" y="2819400"/>
            <a:chExt cx="9953625" cy="1695450"/>
          </a:xfrm>
        </p:grpSpPr>
        <p:sp>
          <p:nvSpPr>
            <p:cNvPr id="22" name="Freeform 22"/>
            <p:cNvSpPr/>
            <p:nvPr/>
          </p:nvSpPr>
          <p:spPr>
            <a:xfrm>
              <a:off x="1000125" y="2819400"/>
              <a:ext cx="9953625" cy="1695450"/>
            </a:xfrm>
            <a:custGeom>
              <a:avLst/>
              <a:gdLst/>
              <a:ahLst/>
              <a:cxnLst/>
              <a:rect l="l" t="t" r="r" b="b"/>
              <a:pathLst>
                <a:path w="9953625" h="1695450">
                  <a:moveTo>
                    <a:pt x="0" y="847725"/>
                  </a:moveTo>
                  <a:cubicBezTo>
                    <a:pt x="0" y="1071297"/>
                    <a:pt x="181241" y="1252538"/>
                    <a:pt x="404812" y="1252538"/>
                  </a:cubicBezTo>
                  <a:cubicBezTo>
                    <a:pt x="628384" y="1252538"/>
                    <a:pt x="809625" y="1071297"/>
                    <a:pt x="809625" y="847725"/>
                  </a:cubicBezTo>
                  <a:cubicBezTo>
                    <a:pt x="809625" y="397951"/>
                    <a:pt x="1174239" y="33338"/>
                    <a:pt x="1624012" y="33338"/>
                  </a:cubicBezTo>
                  <a:cubicBezTo>
                    <a:pt x="2073786" y="33338"/>
                    <a:pt x="2438400" y="397951"/>
                    <a:pt x="2438400" y="847725"/>
                  </a:cubicBezTo>
                  <a:cubicBezTo>
                    <a:pt x="2438400" y="1315911"/>
                    <a:pt x="2817939" y="1695450"/>
                    <a:pt x="3286125" y="1695450"/>
                  </a:cubicBezTo>
                  <a:cubicBezTo>
                    <a:pt x="3754311" y="1695450"/>
                    <a:pt x="4133850" y="1315911"/>
                    <a:pt x="4133850" y="847725"/>
                  </a:cubicBezTo>
                  <a:cubicBezTo>
                    <a:pt x="4133850" y="379539"/>
                    <a:pt x="4513389" y="0"/>
                    <a:pt x="4981575" y="0"/>
                  </a:cubicBezTo>
                  <a:cubicBezTo>
                    <a:pt x="5449761" y="0"/>
                    <a:pt x="5829300" y="379539"/>
                    <a:pt x="5829300" y="847725"/>
                  </a:cubicBezTo>
                  <a:cubicBezTo>
                    <a:pt x="5829300" y="1300129"/>
                    <a:pt x="6196046" y="1666875"/>
                    <a:pt x="6648450" y="1666875"/>
                  </a:cubicBezTo>
                  <a:cubicBezTo>
                    <a:pt x="7100854" y="1666875"/>
                    <a:pt x="7467600" y="1300129"/>
                    <a:pt x="7467600" y="847725"/>
                  </a:cubicBezTo>
                  <a:cubicBezTo>
                    <a:pt x="7467600" y="382170"/>
                    <a:pt x="7845007" y="4762"/>
                    <a:pt x="8310562" y="4762"/>
                  </a:cubicBezTo>
                  <a:cubicBezTo>
                    <a:pt x="8776118" y="4762"/>
                    <a:pt x="9153525" y="382170"/>
                    <a:pt x="9153525" y="847725"/>
                  </a:cubicBezTo>
                  <a:cubicBezTo>
                    <a:pt x="9153525" y="1068667"/>
                    <a:pt x="9332633" y="1247775"/>
                    <a:pt x="9553575" y="1247775"/>
                  </a:cubicBezTo>
                  <a:cubicBezTo>
                    <a:pt x="9774517" y="1247775"/>
                    <a:pt x="9953625" y="1068667"/>
                    <a:pt x="9953625" y="847725"/>
                  </a:cubicBezTo>
                </a:path>
              </a:pathLst>
            </a:custGeom>
            <a:noFill/>
            <a:ln w="19050">
              <a:solidFill>
                <a:srgbClr val="E08C7B"/>
              </a:solidFill>
              <a:custDash>
                <a:ds d="150000" sp="200000"/>
              </a:custDash>
            </a:ln>
          </p:spPr>
        </p:sp>
        <p:sp>
          <p:nvSpPr>
            <p:cNvPr id="23" name="Ellipse 23"/>
            <p:cNvSpPr/>
            <p:nvPr/>
          </p:nvSpPr>
          <p:spPr>
            <a:xfrm>
              <a:off x="1228725" y="3086100"/>
              <a:ext cx="1162050" cy="1162050"/>
            </a:xfrm>
            <a:prstGeom prst="ellipse">
              <a:avLst/>
            </a:prstGeom>
            <a:solidFill>
              <a:srgbClr val="FBE4DE"/>
            </a:solidFill>
            <a:ln>
              <a:noFill/>
            </a:ln>
          </p:spPr>
        </p:sp>
        <p:sp>
          <p:nvSpPr>
            <p:cNvPr id="24" name="Ellipse 24"/>
            <p:cNvSpPr/>
            <p:nvPr/>
          </p:nvSpPr>
          <p:spPr>
            <a:xfrm>
              <a:off x="1333500" y="3190875"/>
              <a:ext cx="952500" cy="952500"/>
            </a:xfrm>
            <a:prstGeom prst="ellipse">
              <a:avLst/>
            </a:prstGeom>
            <a:gradFill>
              <a:gsLst>
                <a:gs pos="0">
                  <a:srgbClr val="F07E6A"/>
                </a:gs>
                <a:gs pos="100000">
                  <a:srgbClr val="DD5740"/>
                </a:gs>
              </a:gsLst>
              <a:path path="circle">
                <a:fillToRect l="40000" t="35000" r="60000" b="65000"/>
              </a:path>
            </a:gradFill>
            <a:ln>
              <a:noFill/>
            </a:ln>
          </p:spPr>
        </p:sp>
        <p:sp>
          <p:nvSpPr>
            <p:cNvPr id="25" name="TextBox 25"/>
            <p:cNvSpPr txBox="1"/>
            <p:nvPr/>
          </p:nvSpPr>
          <p:spPr>
            <a:xfrm>
              <a:off x="1577873" y="360283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接触期</a:t>
              </a:r>
            </a:p>
          </p:txBody>
        </p:sp>
        <p:sp>
          <p:nvSpPr>
            <p:cNvPr id="26" name="Ellipse 26"/>
            <p:cNvSpPr/>
            <p:nvPr/>
          </p:nvSpPr>
          <p:spPr>
            <a:xfrm>
              <a:off x="2857500" y="3086100"/>
              <a:ext cx="1162050" cy="1162050"/>
            </a:xfrm>
            <a:prstGeom prst="ellipse">
              <a:avLst/>
            </a:prstGeom>
            <a:solidFill>
              <a:srgbClr val="E4E8F7"/>
            </a:solidFill>
            <a:ln>
              <a:noFill/>
            </a:ln>
          </p:spPr>
        </p:sp>
        <p:sp>
          <p:nvSpPr>
            <p:cNvPr id="27" name="Ellipse 27"/>
            <p:cNvSpPr/>
            <p:nvPr/>
          </p:nvSpPr>
          <p:spPr>
            <a:xfrm>
              <a:off x="2962275" y="3190875"/>
              <a:ext cx="952500" cy="952500"/>
            </a:xfrm>
            <a:prstGeom prst="ellipse">
              <a:avLst/>
            </a:prstGeom>
            <a:gradFill>
              <a:gsLst>
                <a:gs pos="0">
                  <a:srgbClr val="E89C8C"/>
                </a:gs>
                <a:gs pos="100000">
                  <a:srgbClr val="A84F3D"/>
                </a:gs>
              </a:gsLst>
              <a:path path="circle">
                <a:fillToRect l="40000" t="35000" r="60000" b="65000"/>
              </a:path>
            </a:gradFill>
            <a:ln>
              <a:noFill/>
            </a:ln>
          </p:spPr>
        </p:sp>
        <p:sp>
          <p:nvSpPr>
            <p:cNvPr id="28" name="TextBox 28"/>
            <p:cNvSpPr txBox="1"/>
            <p:nvPr/>
          </p:nvSpPr>
          <p:spPr>
            <a:xfrm>
              <a:off x="3206648" y="360283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导入期</a:t>
              </a:r>
            </a:p>
          </p:txBody>
        </p:sp>
        <p:sp>
          <p:nvSpPr>
            <p:cNvPr id="29" name="Ellipse 29"/>
            <p:cNvSpPr/>
            <p:nvPr/>
          </p:nvSpPr>
          <p:spPr>
            <a:xfrm>
              <a:off x="4552950" y="3086100"/>
              <a:ext cx="1162050" cy="1162050"/>
            </a:xfrm>
            <a:prstGeom prst="ellipse">
              <a:avLst/>
            </a:prstGeom>
            <a:solidFill>
              <a:srgbClr val="FBE4DE"/>
            </a:solidFill>
            <a:ln>
              <a:noFill/>
            </a:ln>
          </p:spPr>
        </p:sp>
        <p:sp>
          <p:nvSpPr>
            <p:cNvPr id="30" name="Ellipse 30"/>
            <p:cNvSpPr/>
            <p:nvPr/>
          </p:nvSpPr>
          <p:spPr>
            <a:xfrm>
              <a:off x="4657725" y="3190875"/>
              <a:ext cx="952500" cy="952500"/>
            </a:xfrm>
            <a:prstGeom prst="ellipse">
              <a:avLst/>
            </a:prstGeom>
            <a:gradFill>
              <a:gsLst>
                <a:gs pos="0">
                  <a:srgbClr val="F07E6A"/>
                </a:gs>
                <a:gs pos="100000">
                  <a:srgbClr val="DD5740"/>
                </a:gs>
              </a:gsLst>
              <a:path path="circle">
                <a:fillToRect l="40000" t="35000" r="60000" b="65000"/>
              </a:path>
            </a:gradFill>
            <a:ln>
              <a:noFill/>
            </a:ln>
          </p:spPr>
        </p:sp>
        <p:sp>
          <p:nvSpPr>
            <p:cNvPr id="31" name="TextBox 31"/>
            <p:cNvSpPr txBox="1"/>
            <p:nvPr/>
          </p:nvSpPr>
          <p:spPr>
            <a:xfrm>
              <a:off x="4902098" y="360283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成长期</a:t>
              </a:r>
            </a:p>
          </p:txBody>
        </p:sp>
        <p:sp>
          <p:nvSpPr>
            <p:cNvPr id="32" name="Ellipse 32"/>
            <p:cNvSpPr/>
            <p:nvPr/>
          </p:nvSpPr>
          <p:spPr>
            <a:xfrm>
              <a:off x="6248400" y="3086100"/>
              <a:ext cx="1162050" cy="1162050"/>
            </a:xfrm>
            <a:prstGeom prst="ellipse">
              <a:avLst/>
            </a:prstGeom>
            <a:solidFill>
              <a:srgbClr val="E4E8F7"/>
            </a:solidFill>
            <a:ln>
              <a:noFill/>
            </a:ln>
          </p:spPr>
        </p:sp>
        <p:sp>
          <p:nvSpPr>
            <p:cNvPr id="33" name="Ellipse 33"/>
            <p:cNvSpPr/>
            <p:nvPr/>
          </p:nvSpPr>
          <p:spPr>
            <a:xfrm>
              <a:off x="6353175" y="3190875"/>
              <a:ext cx="952500" cy="952500"/>
            </a:xfrm>
            <a:prstGeom prst="ellipse">
              <a:avLst/>
            </a:prstGeom>
            <a:gradFill>
              <a:gsLst>
                <a:gs pos="0">
                  <a:srgbClr val="E89C8C"/>
                </a:gs>
                <a:gs pos="100000">
                  <a:srgbClr val="A84F3D"/>
                </a:gs>
              </a:gsLst>
              <a:path path="circle">
                <a:fillToRect l="40000" t="35000" r="60000" b="65000"/>
              </a:path>
            </a:gradFill>
            <a:ln>
              <a:noFill/>
            </a:ln>
          </p:spPr>
        </p:sp>
        <p:sp>
          <p:nvSpPr>
            <p:cNvPr id="34" name="TextBox 34"/>
            <p:cNvSpPr txBox="1"/>
            <p:nvPr/>
          </p:nvSpPr>
          <p:spPr>
            <a:xfrm>
              <a:off x="6597548" y="360283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成熟期</a:t>
              </a:r>
            </a:p>
          </p:txBody>
        </p:sp>
        <p:sp>
          <p:nvSpPr>
            <p:cNvPr id="35" name="Ellipse 35"/>
            <p:cNvSpPr/>
            <p:nvPr/>
          </p:nvSpPr>
          <p:spPr>
            <a:xfrm>
              <a:off x="7886700" y="3086100"/>
              <a:ext cx="1162050" cy="1162050"/>
            </a:xfrm>
            <a:prstGeom prst="ellipse">
              <a:avLst/>
            </a:prstGeom>
            <a:solidFill>
              <a:srgbClr val="FBE4DE"/>
            </a:solidFill>
            <a:ln>
              <a:noFill/>
            </a:ln>
          </p:spPr>
        </p:sp>
        <p:sp>
          <p:nvSpPr>
            <p:cNvPr id="36" name="Ellipse 36"/>
            <p:cNvSpPr/>
            <p:nvPr/>
          </p:nvSpPr>
          <p:spPr>
            <a:xfrm>
              <a:off x="7991475" y="3190875"/>
              <a:ext cx="952500" cy="952500"/>
            </a:xfrm>
            <a:prstGeom prst="ellipse">
              <a:avLst/>
            </a:prstGeom>
            <a:gradFill>
              <a:gsLst>
                <a:gs pos="0">
                  <a:srgbClr val="F07E6A"/>
                </a:gs>
                <a:gs pos="100000">
                  <a:srgbClr val="DD5740"/>
                </a:gs>
              </a:gsLst>
              <a:path path="circle">
                <a:fillToRect l="40000" t="35000" r="60000" b="65000"/>
              </a:path>
            </a:gradFill>
            <a:ln>
              <a:noFill/>
            </a:ln>
          </p:spPr>
        </p:sp>
        <p:sp>
          <p:nvSpPr>
            <p:cNvPr id="37" name="TextBox 37"/>
            <p:cNvSpPr txBox="1"/>
            <p:nvPr/>
          </p:nvSpPr>
          <p:spPr>
            <a:xfrm>
              <a:off x="8235848" y="360283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沉默期</a:t>
              </a:r>
            </a:p>
          </p:txBody>
        </p:sp>
        <p:sp>
          <p:nvSpPr>
            <p:cNvPr id="38" name="Ellipse 38"/>
            <p:cNvSpPr/>
            <p:nvPr/>
          </p:nvSpPr>
          <p:spPr>
            <a:xfrm>
              <a:off x="9572625" y="3086100"/>
              <a:ext cx="1162050" cy="1162050"/>
            </a:xfrm>
            <a:prstGeom prst="ellipse">
              <a:avLst/>
            </a:prstGeom>
            <a:solidFill>
              <a:srgbClr val="E4E8F7"/>
            </a:solidFill>
            <a:ln>
              <a:noFill/>
            </a:ln>
          </p:spPr>
        </p:sp>
        <p:sp>
          <p:nvSpPr>
            <p:cNvPr id="39" name="Ellipse 39"/>
            <p:cNvSpPr/>
            <p:nvPr/>
          </p:nvSpPr>
          <p:spPr>
            <a:xfrm>
              <a:off x="9677400" y="3190875"/>
              <a:ext cx="952500" cy="952500"/>
            </a:xfrm>
            <a:prstGeom prst="ellipse">
              <a:avLst/>
            </a:prstGeom>
            <a:gradFill>
              <a:gsLst>
                <a:gs pos="0">
                  <a:srgbClr val="E89C8C"/>
                </a:gs>
                <a:gs pos="100000">
                  <a:srgbClr val="A84F3D"/>
                </a:gs>
              </a:gsLst>
              <a:path path="circle">
                <a:fillToRect l="40000" t="35000" r="60000" b="65000"/>
              </a:path>
            </a:gradFill>
            <a:ln>
              <a:noFill/>
            </a:ln>
          </p:spPr>
        </p:sp>
        <p:sp>
          <p:nvSpPr>
            <p:cNvPr id="40" name="TextBox 40"/>
            <p:cNvSpPr txBox="1"/>
            <p:nvPr/>
          </p:nvSpPr>
          <p:spPr>
            <a:xfrm>
              <a:off x="9921773" y="360283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流失期</a:t>
              </a:r>
            </a:p>
          </p:txBody>
        </p:sp>
      </p:grpSp>
      <p:grpSp>
        <p:nvGrpSpPr>
          <p:cNvPr id="46" name="note-bot-1"/>
          <p:cNvGrpSpPr/>
          <p:nvPr/>
        </p:nvGrpSpPr>
        <p:grpSpPr>
          <a:xfrm>
            <a:off x="381000" y="4267200"/>
            <a:ext cx="3057525" cy="1736407"/>
            <a:chOff x="381000" y="4267200"/>
            <a:chExt cx="3057525" cy="1736407"/>
          </a:xfrm>
        </p:grpSpPr>
        <p:sp>
          <p:nvSpPr>
            <p:cNvPr id="42" name="Freeform 42"/>
            <p:cNvSpPr/>
            <p:nvPr/>
          </p:nvSpPr>
          <p:spPr>
            <a:xfrm>
              <a:off x="2705100" y="4267200"/>
              <a:ext cx="733425" cy="1028700"/>
            </a:xfrm>
            <a:custGeom>
              <a:avLst/>
              <a:gdLst/>
              <a:ahLst/>
              <a:cxnLst/>
              <a:rect l="l" t="t" r="r" b="b"/>
              <a:pathLst>
                <a:path w="733425" h="1028700">
                  <a:moveTo>
                    <a:pt x="733425" y="0"/>
                  </a:moveTo>
                  <a:lnTo>
                    <a:pt x="733425" y="1028700"/>
                  </a:lnTo>
                  <a:lnTo>
                    <a:pt x="0" y="1028700"/>
                  </a:lnTo>
                </a:path>
              </a:pathLst>
            </a:custGeom>
            <a:noFill/>
            <a:ln w="14288">
              <a:solidFill>
                <a:srgbClr val="ECC1B8"/>
              </a:solidFill>
            </a:ln>
          </p:spPr>
        </p:sp>
        <p:sp>
          <p:nvSpPr>
            <p:cNvPr id="43" name="Rectangle 43"/>
            <p:cNvSpPr/>
            <p:nvPr/>
          </p:nvSpPr>
          <p:spPr>
            <a:xfrm>
              <a:off x="381000" y="5143500"/>
              <a:ext cx="2286000" cy="304800"/>
            </a:xfrm>
            <a:prstGeom prst="roundRect">
              <a:avLst>
                <a:gd name="adj" fmla="val 12500"/>
              </a:avLst>
            </a:prstGeom>
            <a:solidFill>
              <a:srgbClr val="C45F4A"/>
            </a:solidFill>
            <a:ln>
              <a:noFill/>
            </a:ln>
          </p:spPr>
        </p:sp>
        <p:sp>
          <p:nvSpPr>
            <p:cNvPr id="44" name="TextBox 44"/>
            <p:cNvSpPr txBox="1"/>
            <p:nvPr/>
          </p:nvSpPr>
          <p:spPr>
            <a:xfrm>
              <a:off x="584593" y="5231606"/>
              <a:ext cx="187881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掌控关键节点提升投放ROI​</a:t>
              </a:r>
            </a:p>
          </p:txBody>
        </p:sp>
        <p:sp>
          <p:nvSpPr>
            <p:cNvPr id="45" name="TextBox 45"/>
            <p:cNvSpPr txBox="1"/>
            <p:nvPr/>
          </p:nvSpPr>
          <p:spPr>
            <a:xfrm>
              <a:off x="566738" y="5636895"/>
              <a:ext cx="1501140" cy="366712"/>
            </a:xfrm>
            <a:prstGeom prst="rect">
              <a:avLst/>
            </a:prstGeom>
            <a:noFill/>
            <a:ln>
              <a:noFill/>
            </a:ln>
          </p:spPr>
          <p:txBody>
            <a:bodyPr wrap="none" lIns="0" tIns="0" rIns="0" bIns="0" anchor="t" anchorCtr="0">
              <a:spAutoFit/>
            </a:bodyPr>
            <a:lstStyle/>
            <a:p>
              <a:pPr algn="l" marL="97155" indent="-97155">
                <a:lnSpc>
                  <a:spcPts val="1500"/>
                </a:lnSpc>
                <a:buClr>
                  <a:srgbClr val="543E3A"/>
                </a:buClr>
                <a:buSzTx/>
                <a:buFontTx/>
                <a:buChar char="•"/>
              </a:pPr>
              <a:r>
                <a:rPr lang="zh-CN" sz="900" dirty="0">
                  <a:solidFill>
                    <a:srgbClr val="543E3A"/>
                  </a:solidFill>
                  <a:latin typeface="+mn-lt"/>
                  <a:ea typeface="+mn-ea"/>
                  <a:cs typeface="+mn-cs"/>
                </a:rPr>
                <a:t>利用A/B测试提升落地页转​</a:t>
              </a:r>
              <a:br/>
              <a:r>
                <a:rPr lang="zh-CN" sz="900" dirty="0">
                  <a:solidFill>
                    <a:srgbClr val="543E3A"/>
                  </a:solidFill>
                  <a:latin typeface="+mn-lt"/>
                  <a:ea typeface="+mn-ea"/>
                  <a:cs typeface="+mn-cs"/>
                </a:rPr>
                <a:t>化效果。</a:t>
              </a:r>
            </a:p>
          </p:txBody>
        </p:sp>
      </p:grpSp>
      <p:grpSp>
        <p:nvGrpSpPr>
          <p:cNvPr id="51" name="note-bot-2"/>
          <p:cNvGrpSpPr/>
          <p:nvPr/>
        </p:nvGrpSpPr>
        <p:grpSpPr>
          <a:xfrm>
            <a:off x="3714750" y="4267200"/>
            <a:ext cx="3114675" cy="1736407"/>
            <a:chOff x="3714750" y="4267200"/>
            <a:chExt cx="3114675" cy="1736407"/>
          </a:xfrm>
        </p:grpSpPr>
        <p:sp>
          <p:nvSpPr>
            <p:cNvPr id="47" name="Freeform 47"/>
            <p:cNvSpPr/>
            <p:nvPr/>
          </p:nvSpPr>
          <p:spPr>
            <a:xfrm>
              <a:off x="5895975" y="4267200"/>
              <a:ext cx="933450" cy="1028700"/>
            </a:xfrm>
            <a:custGeom>
              <a:avLst/>
              <a:gdLst/>
              <a:ahLst/>
              <a:cxnLst/>
              <a:rect l="l" t="t" r="r" b="b"/>
              <a:pathLst>
                <a:path w="933450" h="1028700">
                  <a:moveTo>
                    <a:pt x="933450" y="0"/>
                  </a:moveTo>
                  <a:lnTo>
                    <a:pt x="933450" y="1028700"/>
                  </a:lnTo>
                  <a:lnTo>
                    <a:pt x="0" y="1028700"/>
                  </a:lnTo>
                </a:path>
              </a:pathLst>
            </a:custGeom>
            <a:noFill/>
            <a:ln w="14288">
              <a:solidFill>
                <a:srgbClr val="ECC1B8"/>
              </a:solidFill>
            </a:ln>
          </p:spPr>
        </p:sp>
        <p:sp>
          <p:nvSpPr>
            <p:cNvPr id="48" name="Rectangle 48"/>
            <p:cNvSpPr/>
            <p:nvPr/>
          </p:nvSpPr>
          <p:spPr>
            <a:xfrm>
              <a:off x="3714750" y="5143500"/>
              <a:ext cx="2143125" cy="304800"/>
            </a:xfrm>
            <a:prstGeom prst="roundRect">
              <a:avLst>
                <a:gd name="adj" fmla="val 12500"/>
              </a:avLst>
            </a:prstGeom>
            <a:solidFill>
              <a:srgbClr val="C45F4A"/>
            </a:solidFill>
            <a:ln>
              <a:noFill/>
            </a:ln>
          </p:spPr>
        </p:sp>
        <p:sp>
          <p:nvSpPr>
            <p:cNvPr id="49" name="TextBox 49"/>
            <p:cNvSpPr txBox="1"/>
            <p:nvPr/>
          </p:nvSpPr>
          <p:spPr>
            <a:xfrm>
              <a:off x="3871189" y="5231606"/>
              <a:ext cx="182072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挖掘关键环节快速传递价值</a:t>
              </a:r>
            </a:p>
          </p:txBody>
        </p:sp>
        <p:sp>
          <p:nvSpPr>
            <p:cNvPr id="50" name="TextBox 50"/>
            <p:cNvSpPr txBox="1"/>
            <p:nvPr/>
          </p:nvSpPr>
          <p:spPr>
            <a:xfrm>
              <a:off x="3900488" y="5636895"/>
              <a:ext cx="1844040" cy="366712"/>
            </a:xfrm>
            <a:prstGeom prst="rect">
              <a:avLst/>
            </a:prstGeom>
            <a:noFill/>
            <a:ln>
              <a:noFill/>
            </a:ln>
          </p:spPr>
          <p:txBody>
            <a:bodyPr wrap="none" lIns="0" tIns="0" rIns="0" bIns="0" anchor="t" anchorCtr="0">
              <a:spAutoFit/>
            </a:bodyPr>
            <a:lstStyle/>
            <a:p>
              <a:pPr algn="l" marL="97155" indent="-97155">
                <a:lnSpc>
                  <a:spcPts val="1500"/>
                </a:lnSpc>
                <a:buClr>
                  <a:srgbClr val="543E3A"/>
                </a:buClr>
                <a:buSzTx/>
                <a:buFontTx/>
                <a:buChar char="•"/>
              </a:pPr>
              <a:r>
                <a:rPr lang="zh-CN" sz="900" dirty="0">
                  <a:solidFill>
                    <a:srgbClr val="543E3A"/>
                  </a:solidFill>
                  <a:latin typeface="+mn-lt"/>
                  <a:ea typeface="+mn-ea"/>
                  <a:cs typeface="+mn-cs"/>
                </a:rPr>
                <a:t>通过A/B测试提升产品用户体验。​</a:t>
              </a:r>
            </a:p>
            <a:p>
              <a:pPr algn="l" marL="97155" indent="-97155">
                <a:lnSpc>
                  <a:spcPts val="1500"/>
                </a:lnSpc>
                <a:buClr>
                  <a:srgbClr val="543E3A"/>
                </a:buClr>
                <a:buSzTx/>
                <a:buFontTx/>
                <a:buChar char="•"/>
              </a:pPr>
              <a:r>
                <a:rPr lang="zh-CN" sz="900" dirty="0">
                  <a:solidFill>
                    <a:srgbClr val="543E3A"/>
                  </a:solidFill>
                  <a:latin typeface="+mn-lt"/>
                  <a:ea typeface="+mn-ea"/>
                  <a:cs typeface="+mn-cs"/>
                </a:rPr>
                <a:t>智能优选动态最大化ROI。​</a:t>
              </a:r>
            </a:p>
          </p:txBody>
        </p:sp>
      </p:grpSp>
      <p:grpSp>
        <p:nvGrpSpPr>
          <p:cNvPr id="56" name="note-bot-3"/>
          <p:cNvGrpSpPr/>
          <p:nvPr/>
        </p:nvGrpSpPr>
        <p:grpSpPr>
          <a:xfrm>
            <a:off x="7239000" y="4267200"/>
            <a:ext cx="2914650" cy="1736407"/>
            <a:chOff x="7239000" y="4267200"/>
            <a:chExt cx="2914650" cy="1736407"/>
          </a:xfrm>
        </p:grpSpPr>
        <p:sp>
          <p:nvSpPr>
            <p:cNvPr id="52" name="Freeform 52"/>
            <p:cNvSpPr/>
            <p:nvPr/>
          </p:nvSpPr>
          <p:spPr>
            <a:xfrm>
              <a:off x="9420225" y="4267200"/>
              <a:ext cx="733425" cy="1028700"/>
            </a:xfrm>
            <a:custGeom>
              <a:avLst/>
              <a:gdLst/>
              <a:ahLst/>
              <a:cxnLst/>
              <a:rect l="l" t="t" r="r" b="b"/>
              <a:pathLst>
                <a:path w="733425" h="1028700">
                  <a:moveTo>
                    <a:pt x="733425" y="0"/>
                  </a:moveTo>
                  <a:lnTo>
                    <a:pt x="733425" y="1028700"/>
                  </a:lnTo>
                  <a:lnTo>
                    <a:pt x="0" y="1028700"/>
                  </a:lnTo>
                </a:path>
              </a:pathLst>
            </a:custGeom>
            <a:noFill/>
            <a:ln w="14288">
              <a:solidFill>
                <a:srgbClr val="ECC1B8"/>
              </a:solidFill>
            </a:ln>
          </p:spPr>
        </p:sp>
        <p:sp>
          <p:nvSpPr>
            <p:cNvPr id="53" name="Rectangle 53"/>
            <p:cNvSpPr/>
            <p:nvPr/>
          </p:nvSpPr>
          <p:spPr>
            <a:xfrm>
              <a:off x="7239000" y="5143500"/>
              <a:ext cx="2143125" cy="304800"/>
            </a:xfrm>
            <a:prstGeom prst="roundRect">
              <a:avLst>
                <a:gd name="adj" fmla="val 12500"/>
              </a:avLst>
            </a:prstGeom>
            <a:solidFill>
              <a:srgbClr val="C45F4A"/>
            </a:solidFill>
            <a:ln>
              <a:noFill/>
            </a:ln>
          </p:spPr>
        </p:sp>
        <p:sp>
          <p:nvSpPr>
            <p:cNvPr id="54" name="TextBox 54"/>
            <p:cNvSpPr txBox="1"/>
            <p:nvPr/>
          </p:nvSpPr>
          <p:spPr>
            <a:xfrm>
              <a:off x="7395439" y="5231606"/>
              <a:ext cx="182072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洞察沉默原因提升促活效果</a:t>
              </a:r>
            </a:p>
          </p:txBody>
        </p:sp>
        <p:sp>
          <p:nvSpPr>
            <p:cNvPr id="55" name="TextBox 55"/>
            <p:cNvSpPr txBox="1"/>
            <p:nvPr/>
          </p:nvSpPr>
          <p:spPr>
            <a:xfrm>
              <a:off x="7424738" y="5636895"/>
              <a:ext cx="2684145" cy="366712"/>
            </a:xfrm>
            <a:prstGeom prst="rect">
              <a:avLst/>
            </a:prstGeom>
            <a:noFill/>
            <a:ln>
              <a:noFill/>
            </a:ln>
          </p:spPr>
          <p:txBody>
            <a:bodyPr wrap="none" lIns="0" tIns="0" rIns="0" bIns="0" anchor="t" anchorCtr="0">
              <a:spAutoFit/>
            </a:bodyPr>
            <a:lstStyle/>
            <a:p>
              <a:pPr algn="l" marL="97155" indent="-97155">
                <a:lnSpc>
                  <a:spcPts val="1500"/>
                </a:lnSpc>
                <a:buClr>
                  <a:srgbClr val="543E3A"/>
                </a:buClr>
                <a:buSzTx/>
                <a:buFontTx/>
                <a:buChar char="•"/>
              </a:pPr>
              <a:r>
                <a:rPr lang="zh-CN" sz="900" dirty="0">
                  <a:solidFill>
                    <a:srgbClr val="543E3A"/>
                  </a:solidFill>
                  <a:latin typeface="+mn-lt"/>
                  <a:ea typeface="+mn-ea"/>
                  <a:cs typeface="+mn-cs"/>
                </a:rPr>
                <a:t>利用A/B测试提升促活信息打开率。​</a:t>
              </a:r>
            </a:p>
            <a:p>
              <a:pPr algn="l" marL="97155" indent="-97155">
                <a:lnSpc>
                  <a:spcPts val="1500"/>
                </a:lnSpc>
                <a:buClr>
                  <a:srgbClr val="543E3A"/>
                </a:buClr>
                <a:buSzTx/>
                <a:buFontTx/>
                <a:buChar char="•"/>
              </a:pPr>
              <a:r>
                <a:rPr lang="zh-CN" sz="900" dirty="0">
                  <a:solidFill>
                    <a:srgbClr val="543E3A"/>
                  </a:solidFill>
                  <a:latin typeface="+mn-lt"/>
                  <a:ea typeface="+mn-ea"/>
                  <a:cs typeface="+mn-cs"/>
                </a:rPr>
                <a:t>通过预测流失人群，推送实验/运营策略触达用户。</a:t>
              </a:r>
            </a:p>
          </p:txBody>
        </p:sp>
      </p:gr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54</a:t>
              </a:r>
            </a:p>
          </p:txBody>
        </p:sp>
        <p:sp>
          <p:nvSpPr>
            <p:cNvPr id="4" name="TextBox 4"/>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用户画像（四类）​</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29" name="persona-1"/>
          <p:cNvGrpSpPr/>
          <p:nvPr/>
        </p:nvGrpSpPr>
        <p:grpSpPr>
          <a:xfrm>
            <a:off x="523875" y="952500"/>
            <a:ext cx="5381625" cy="2524125"/>
            <a:chOff x="523875" y="952500"/>
            <a:chExt cx="5381625" cy="2524125"/>
          </a:xfrm>
        </p:grpSpPr>
        <p:sp>
          <p:nvSpPr>
            <p:cNvPr id="7" name="Rectangle 7"/>
            <p:cNvSpPr/>
            <p:nvPr/>
          </p:nvSpPr>
          <p:spPr>
            <a:xfrm>
              <a:off x="523875" y="952500"/>
              <a:ext cx="5381625" cy="2524125"/>
            </a:xfrm>
            <a:prstGeom prst="roundRect">
              <a:avLst>
                <a:gd name="adj" fmla="val 3774"/>
              </a:avLst>
            </a:prstGeom>
            <a:solidFill>
              <a:srgbClr val="FFFFFF"/>
            </a:solidFill>
            <a:ln>
              <a:noFill/>
            </a:ln>
            <a:effectLst>
              <a:outerShdw blurRad="152400" dist="57150" dir="5400000" algn="ctr" rotWithShape="0">
                <a:srgbClr val="C45F4A">
                  <a:alpha val="7500"/>
                </a:srgbClr>
              </a:outerShdw>
            </a:effectLst>
          </p:spPr>
        </p:sp>
        <p:sp>
          <p:nvSpPr>
            <p:cNvPr id="8" name="Rectangle 8"/>
            <p:cNvSpPr/>
            <p:nvPr/>
          </p:nvSpPr>
          <p:spPr>
            <a:xfrm>
              <a:off x="523875" y="952500"/>
              <a:ext cx="66675" cy="2524125"/>
            </a:xfrm>
            <a:prstGeom prst="roundRect">
              <a:avLst>
                <a:gd name="adj" fmla="val 42857"/>
              </a:avLst>
            </a:prstGeom>
            <a:solidFill>
              <a:srgbClr val="C45F4A"/>
            </a:solidFill>
            <a:ln>
              <a:noFill/>
            </a:ln>
          </p:spPr>
        </p:sp>
        <p:sp>
          <p:nvSpPr>
            <p:cNvPr id="9" name="TextBox 9"/>
            <p:cNvSpPr txBox="1"/>
            <p:nvPr/>
          </p:nvSpPr>
          <p:spPr>
            <a:xfrm>
              <a:off x="5583977" y="1075849"/>
              <a:ext cx="155026" cy="190690"/>
            </a:xfrm>
            <a:prstGeom prst="rect">
              <a:avLst/>
            </a:prstGeom>
            <a:noFill/>
            <a:ln>
              <a:noFill/>
            </a:ln>
          </p:spPr>
          <p:txBody>
            <a:bodyPr wrap="none" lIns="0" tIns="0" rIns="0" bIns="0" anchor="t" anchorCtr="0">
              <a:spAutoFit/>
            </a:bodyPr>
            <a:lstStyle/>
            <a:p>
              <a:pPr algn="r"/>
              <a:r>
                <a:rPr lang="zh-CN" sz="980" dirty="0">
                  <a:solidFill>
                    <a:srgbClr val="C9D1F0"/>
                  </a:solidFill>
                  <a:latin typeface="+mn-lt"/>
                  <a:ea typeface="+mn-ea"/>
                  <a:cs typeface="+mn-cs"/>
                </a:rPr>
                <a:t>01</a:t>
              </a:r>
            </a:p>
          </p:txBody>
        </p:sp>
        <p:sp>
          <p:nvSpPr>
            <p:cNvPr id="10" name="Rectangle 10"/>
            <p:cNvSpPr/>
            <p:nvPr/>
          </p:nvSpPr>
          <p:spPr>
            <a:xfrm>
              <a:off x="809625" y="1162050"/>
              <a:ext cx="628650" cy="628650"/>
            </a:xfrm>
            <a:prstGeom prst="roundRect">
              <a:avLst>
                <a:gd name="adj" fmla="val 18182"/>
              </a:avLst>
            </a:prstGeom>
            <a:solidFill>
              <a:srgbClr val="E8EBF8"/>
            </a:solidFill>
            <a:ln>
              <a:noFill/>
            </a:ln>
          </p:spPr>
        </p:sp>
        <p:grpSp>
          <p:nvGrpSpPr>
            <p:cNvPr id="15" name="Group 15"/>
            <p:cNvGrpSpPr/>
            <p:nvPr/>
          </p:nvGrpSpPr>
          <p:grpSpPr>
            <a:xfrm>
              <a:off x="973931" y="1326356"/>
              <a:ext cx="300038" cy="300038"/>
              <a:chOff x="973931" y="1326356"/>
              <a:chExt cx="300038" cy="300038"/>
            </a:xfrm>
          </p:grpSpPr>
          <p:sp>
            <p:nvSpPr>
              <p:cNvPr id="11" name="Freeform 11"/>
              <p:cNvSpPr/>
              <p:nvPr/>
            </p:nvSpPr>
            <p:spPr>
              <a:xfrm>
                <a:off x="1007269" y="1326356"/>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33338">
                <a:solidFill>
                  <a:srgbClr val="C45F4A"/>
                </a:solidFill>
              </a:ln>
            </p:spPr>
          </p:sp>
          <p:sp>
            <p:nvSpPr>
              <p:cNvPr id="12" name="Freeform 12"/>
              <p:cNvSpPr/>
              <p:nvPr/>
            </p:nvSpPr>
            <p:spPr>
              <a:xfrm>
                <a:off x="973931" y="1526381"/>
                <a:ext cx="200025" cy="100012"/>
              </a:xfrm>
              <a:custGeom>
                <a:avLst/>
                <a:gdLst/>
                <a:ahLst/>
                <a:cxnLst/>
                <a:rect l="l" t="t" r="r" b="b"/>
                <a:pathLst>
                  <a:path w="200025" h="100012">
                    <a:moveTo>
                      <a:pt x="0" y="100012"/>
                    </a:moveTo>
                    <a:lnTo>
                      <a:pt x="0" y="66675"/>
                    </a:lnTo>
                    <a:cubicBezTo>
                      <a:pt x="0" y="29851"/>
                      <a:pt x="29851" y="0"/>
                      <a:pt x="66675" y="0"/>
                    </a:cubicBezTo>
                    <a:lnTo>
                      <a:pt x="133350" y="0"/>
                    </a:lnTo>
                    <a:cubicBezTo>
                      <a:pt x="170174" y="0"/>
                      <a:pt x="200025" y="29851"/>
                      <a:pt x="200025" y="66675"/>
                    </a:cubicBezTo>
                    <a:lnTo>
                      <a:pt x="200025" y="100012"/>
                    </a:lnTo>
                  </a:path>
                </a:pathLst>
              </a:custGeom>
              <a:noFill/>
              <a:ln w="33338">
                <a:solidFill>
                  <a:srgbClr val="C45F4A"/>
                </a:solidFill>
              </a:ln>
            </p:spPr>
          </p:sp>
          <p:sp>
            <p:nvSpPr>
              <p:cNvPr id="13" name="Freeform 13"/>
              <p:cNvSpPr/>
              <p:nvPr/>
            </p:nvSpPr>
            <p:spPr>
              <a:xfrm>
                <a:off x="1190625" y="1328523"/>
                <a:ext cx="50137" cy="129183"/>
              </a:xfrm>
              <a:custGeom>
                <a:avLst/>
                <a:gdLst/>
                <a:ahLst/>
                <a:cxnLst/>
                <a:rect l="l" t="t" r="r" b="b"/>
                <a:pathLst>
                  <a:path w="50137" h="129183">
                    <a:moveTo>
                      <a:pt x="0" y="0"/>
                    </a:moveTo>
                    <a:cubicBezTo>
                      <a:pt x="29502" y="7554"/>
                      <a:pt x="50137" y="34137"/>
                      <a:pt x="50137" y="64591"/>
                    </a:cubicBezTo>
                    <a:cubicBezTo>
                      <a:pt x="50137" y="95045"/>
                      <a:pt x="29502" y="121629"/>
                      <a:pt x="0" y="129183"/>
                    </a:cubicBezTo>
                  </a:path>
                </a:pathLst>
              </a:custGeom>
              <a:noFill/>
              <a:ln w="33338">
                <a:solidFill>
                  <a:srgbClr val="C45F4A"/>
                </a:solidFill>
              </a:ln>
            </p:spPr>
          </p:sp>
          <p:sp>
            <p:nvSpPr>
              <p:cNvPr id="14" name="Freeform 14"/>
              <p:cNvSpPr/>
              <p:nvPr/>
            </p:nvSpPr>
            <p:spPr>
              <a:xfrm>
                <a:off x="1223963" y="1528882"/>
                <a:ext cx="50006" cy="97512"/>
              </a:xfrm>
              <a:custGeom>
                <a:avLst/>
                <a:gdLst/>
                <a:ahLst/>
                <a:cxnLst/>
                <a:rect l="l" t="t" r="r" b="b"/>
                <a:pathLst>
                  <a:path w="50006" h="97512">
                    <a:moveTo>
                      <a:pt x="50006" y="97512"/>
                    </a:moveTo>
                    <a:lnTo>
                      <a:pt x="50006" y="64175"/>
                    </a:lnTo>
                    <a:cubicBezTo>
                      <a:pt x="49832" y="33914"/>
                      <a:pt x="29301" y="7565"/>
                      <a:pt x="0" y="0"/>
                    </a:cubicBezTo>
                  </a:path>
                </a:pathLst>
              </a:custGeom>
              <a:noFill/>
              <a:ln w="33338">
                <a:solidFill>
                  <a:srgbClr val="C45F4A"/>
                </a:solidFill>
              </a:ln>
            </p:spPr>
          </p:sp>
        </p:grpSp>
        <p:sp>
          <p:nvSpPr>
            <p:cNvPr id="16" name="TextBox 16"/>
            <p:cNvSpPr txBox="1"/>
            <p:nvPr/>
          </p:nvSpPr>
          <p:spPr>
            <a:xfrm>
              <a:off x="1583055" y="1266825"/>
              <a:ext cx="1395432" cy="293370"/>
            </a:xfrm>
            <a:prstGeom prst="rect">
              <a:avLst/>
            </a:prstGeom>
            <a:noFill/>
            <a:ln>
              <a:noFill/>
            </a:ln>
          </p:spPr>
          <p:txBody>
            <a:bodyPr wrap="none" lIns="0" tIns="0" rIns="0" bIns="0" anchor="t" anchorCtr="0">
              <a:spAutoFit/>
            </a:bodyPr>
            <a:lstStyle/>
            <a:p>
              <a:pPr algn="l"/>
              <a:r>
                <a:rPr lang="zh-CN" sz="1500" b="1" dirty="0">
                  <a:solidFill>
                    <a:srgbClr val="1A1A1A"/>
                  </a:solidFill>
                  <a:latin typeface="+mn-lt"/>
                  <a:ea typeface="+mn-ea"/>
                  <a:cs typeface="+mn-cs"/>
                </a:rPr>
                <a:t>务实奶爸 13%​</a:t>
              </a:r>
            </a:p>
          </p:txBody>
        </p:sp>
        <p:sp>
          <p:nvSpPr>
            <p:cNvPr id="17" name="TextBox 17"/>
            <p:cNvSpPr txBox="1"/>
            <p:nvPr/>
          </p:nvSpPr>
          <p:spPr>
            <a:xfrm>
              <a:off x="1585722" y="1571149"/>
              <a:ext cx="1850296" cy="190690"/>
            </a:xfrm>
            <a:prstGeom prst="rect">
              <a:avLst/>
            </a:prstGeom>
            <a:noFill/>
            <a:ln>
              <a:noFill/>
            </a:ln>
          </p:spPr>
          <p:txBody>
            <a:bodyPr wrap="none" lIns="0" tIns="0" rIns="0" bIns="0" anchor="t" anchorCtr="0">
              <a:spAutoFit/>
            </a:bodyPr>
            <a:lstStyle/>
            <a:p>
              <a:pPr algn="l"/>
              <a:r>
                <a:rPr lang="zh-CN" sz="980" dirty="0">
                  <a:solidFill>
                    <a:srgbClr val="543E3A"/>
                  </a:solidFill>
                  <a:latin typeface="+mn-lt"/>
                  <a:ea typeface="+mn-ea"/>
                  <a:cs typeface="+mn-cs"/>
                </a:rPr>
                <a:t>3-5线城市，</a:t>
              </a:r>
              <a:r>
                <a:rPr lang="zh-CN" sz="980" dirty="0">
                  <a:solidFill>
                    <a:srgbClr val="E2624C"/>
                  </a:solidFill>
                  <a:latin typeface="+mn-lt"/>
                  <a:ea typeface="+mn-ea"/>
                  <a:cs typeface="+mn-cs"/>
                </a:rPr>
                <a:t>低购买力</a:t>
              </a:r>
              <a:r>
                <a:rPr lang="zh-CN" sz="980" dirty="0">
                  <a:solidFill>
                    <a:srgbClr val="543E3A"/>
                  </a:solidFill>
                  <a:latin typeface="+mn-lt"/>
                  <a:ea typeface="+mn-ea"/>
                  <a:cs typeface="+mn-cs"/>
                </a:rPr>
                <a:t>30-40岁​</a:t>
              </a:r>
            </a:p>
          </p:txBody>
        </p:sp>
        <p:sp>
          <p:nvSpPr>
            <p:cNvPr id="18" name="Freeform 18"/>
            <p:cNvSpPr/>
            <p:nvPr/>
          </p:nvSpPr>
          <p:spPr>
            <a:xfrm rot="10800000">
              <a:off x="4381500" y="1428750"/>
              <a:ext cx="1095375" cy="266700"/>
            </a:xfrm>
            <a:prstGeom prst="homePlate">
              <a:avLst>
                <a:gd name="adj" fmla="val 45000"/>
              </a:avLst>
            </a:prstGeom>
            <a:solidFill>
              <a:srgbClr val="C45F4A"/>
            </a:solidFill>
            <a:ln>
              <a:noFill/>
            </a:ln>
          </p:spPr>
        </p:sp>
        <p:sp>
          <p:nvSpPr>
            <p:cNvPr id="19" name="TextBox 19"/>
            <p:cNvSpPr txBox="1"/>
            <p:nvPr/>
          </p:nvSpPr>
          <p:spPr>
            <a:xfrm>
              <a:off x="4703242" y="15044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干净整洁</a:t>
              </a:r>
            </a:p>
          </p:txBody>
        </p:sp>
        <p:sp>
          <p:nvSpPr>
            <p:cNvPr id="20" name="TextBox 20"/>
            <p:cNvSpPr txBox="1"/>
            <p:nvPr/>
          </p:nvSpPr>
          <p:spPr>
            <a:xfrm>
              <a:off x="900112" y="1899047"/>
              <a:ext cx="588775"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生活方式:</a:t>
              </a:r>
            </a:p>
          </p:txBody>
        </p:sp>
        <p:sp>
          <p:nvSpPr>
            <p:cNvPr id="21" name="TextBox 21"/>
            <p:cNvSpPr txBox="1"/>
            <p:nvPr/>
          </p:nvSpPr>
          <p:spPr>
            <a:xfrm>
              <a:off x="900112" y="2112645"/>
              <a:ext cx="34385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543E3A"/>
                  </a:solidFill>
                  <a:latin typeface="+mn-lt"/>
                  <a:ea typeface="+mn-ea"/>
                  <a:cs typeface="+mn-cs"/>
                </a:rPr>
                <a:t>已婚已育，是工作和家庭的中坚，主要受社交媒体和伴侣的影响，希</a:t>
              </a:r>
              <a:br/>
              <a:r>
                <a:rPr lang="zh-CN" sz="900" dirty="0">
                  <a:solidFill>
                    <a:srgbClr val="543E3A"/>
                  </a:solidFill>
                  <a:latin typeface="+mn-lt"/>
                  <a:ea typeface="+mn-ea"/>
                  <a:cs typeface="+mn-cs"/>
                </a:rPr>
                <a:t>望呈现干净，自然，有精神的状态</a:t>
              </a:r>
            </a:p>
          </p:txBody>
        </p:sp>
        <p:sp>
          <p:nvSpPr>
            <p:cNvPr id="22" name="TextBox 22"/>
            <p:cNvSpPr txBox="1"/>
            <p:nvPr/>
          </p:nvSpPr>
          <p:spPr>
            <a:xfrm>
              <a:off x="900112" y="2661047"/>
              <a:ext cx="588775"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消费偏好:</a:t>
              </a:r>
            </a:p>
          </p:txBody>
        </p:sp>
        <p:sp>
          <p:nvSpPr>
            <p:cNvPr id="23" name="Rectangle 23"/>
            <p:cNvSpPr/>
            <p:nvPr/>
          </p:nvSpPr>
          <p:spPr>
            <a:xfrm>
              <a:off x="904875" y="2886075"/>
              <a:ext cx="647700" cy="209550"/>
            </a:xfrm>
            <a:prstGeom prst="roundRect">
              <a:avLst>
                <a:gd name="adj" fmla="val 13636"/>
              </a:avLst>
            </a:prstGeom>
            <a:solidFill>
              <a:srgbClr val="E8EBF8"/>
            </a:solidFill>
            <a:ln>
              <a:noFill/>
            </a:ln>
          </p:spPr>
        </p:sp>
        <p:sp>
          <p:nvSpPr>
            <p:cNvPr id="24" name="TextBox 24"/>
            <p:cNvSpPr txBox="1"/>
            <p:nvPr/>
          </p:nvSpPr>
          <p:spPr>
            <a:xfrm>
              <a:off x="1003186" y="2949416"/>
              <a:ext cx="451079"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性价比高</a:t>
              </a:r>
            </a:p>
          </p:txBody>
        </p:sp>
        <p:sp>
          <p:nvSpPr>
            <p:cNvPr id="25" name="Rectangle 25"/>
            <p:cNvSpPr/>
            <p:nvPr/>
          </p:nvSpPr>
          <p:spPr>
            <a:xfrm>
              <a:off x="1685925" y="2886075"/>
              <a:ext cx="647700" cy="209550"/>
            </a:xfrm>
            <a:prstGeom prst="roundRect">
              <a:avLst>
                <a:gd name="adj" fmla="val 13636"/>
              </a:avLst>
            </a:prstGeom>
            <a:solidFill>
              <a:srgbClr val="E8EBF8"/>
            </a:solidFill>
            <a:ln>
              <a:noFill/>
            </a:ln>
          </p:spPr>
        </p:sp>
        <p:sp>
          <p:nvSpPr>
            <p:cNvPr id="26" name="TextBox 26"/>
            <p:cNvSpPr txBox="1"/>
            <p:nvPr/>
          </p:nvSpPr>
          <p:spPr>
            <a:xfrm>
              <a:off x="1784236" y="2949416"/>
              <a:ext cx="451079"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新兴国货</a:t>
              </a:r>
            </a:p>
          </p:txBody>
        </p:sp>
        <p:sp>
          <p:nvSpPr>
            <p:cNvPr id="27" name="Rectangle 27"/>
            <p:cNvSpPr/>
            <p:nvPr/>
          </p:nvSpPr>
          <p:spPr>
            <a:xfrm>
              <a:off x="2466975" y="2886075"/>
              <a:ext cx="647700" cy="209550"/>
            </a:xfrm>
            <a:prstGeom prst="roundRect">
              <a:avLst>
                <a:gd name="adj" fmla="val 13636"/>
              </a:avLst>
            </a:prstGeom>
            <a:solidFill>
              <a:srgbClr val="E8EBF8"/>
            </a:solidFill>
            <a:ln>
              <a:noFill/>
            </a:ln>
          </p:spPr>
        </p:sp>
        <p:sp>
          <p:nvSpPr>
            <p:cNvPr id="28" name="TextBox 28"/>
            <p:cNvSpPr txBox="1"/>
            <p:nvPr/>
          </p:nvSpPr>
          <p:spPr>
            <a:xfrm>
              <a:off x="2565286" y="2949416"/>
              <a:ext cx="451079"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平价消费</a:t>
              </a:r>
            </a:p>
          </p:txBody>
        </p:sp>
      </p:grpSp>
      <p:grpSp>
        <p:nvGrpSpPr>
          <p:cNvPr id="52" name="persona-2"/>
          <p:cNvGrpSpPr/>
          <p:nvPr/>
        </p:nvGrpSpPr>
        <p:grpSpPr>
          <a:xfrm>
            <a:off x="6286500" y="952500"/>
            <a:ext cx="5381625" cy="2524125"/>
            <a:chOff x="6286500" y="952500"/>
            <a:chExt cx="5381625" cy="2524125"/>
          </a:xfrm>
        </p:grpSpPr>
        <p:sp>
          <p:nvSpPr>
            <p:cNvPr id="30" name="Rectangle 30"/>
            <p:cNvSpPr/>
            <p:nvPr/>
          </p:nvSpPr>
          <p:spPr>
            <a:xfrm>
              <a:off x="6286500" y="952500"/>
              <a:ext cx="5381625" cy="2524125"/>
            </a:xfrm>
            <a:prstGeom prst="roundRect">
              <a:avLst>
                <a:gd name="adj" fmla="val 3774"/>
              </a:avLst>
            </a:prstGeom>
            <a:solidFill>
              <a:srgbClr val="FFFFFF"/>
            </a:solidFill>
            <a:ln>
              <a:noFill/>
            </a:ln>
            <a:effectLst>
              <a:outerShdw blurRad="152400" dist="57150" dir="5400000" algn="ctr" rotWithShape="0">
                <a:srgbClr val="C45F4A">
                  <a:alpha val="7500"/>
                </a:srgbClr>
              </a:outerShdw>
            </a:effectLst>
          </p:spPr>
        </p:sp>
        <p:sp>
          <p:nvSpPr>
            <p:cNvPr id="31" name="Rectangle 31"/>
            <p:cNvSpPr/>
            <p:nvPr/>
          </p:nvSpPr>
          <p:spPr>
            <a:xfrm>
              <a:off x="6286500" y="952500"/>
              <a:ext cx="66675" cy="2524125"/>
            </a:xfrm>
            <a:prstGeom prst="roundRect">
              <a:avLst>
                <a:gd name="adj" fmla="val 42857"/>
              </a:avLst>
            </a:prstGeom>
            <a:solidFill>
              <a:srgbClr val="C45F4A"/>
            </a:solidFill>
            <a:ln>
              <a:noFill/>
            </a:ln>
          </p:spPr>
        </p:sp>
        <p:sp>
          <p:nvSpPr>
            <p:cNvPr id="32" name="TextBox 32"/>
            <p:cNvSpPr txBox="1"/>
            <p:nvPr/>
          </p:nvSpPr>
          <p:spPr>
            <a:xfrm>
              <a:off x="11346602" y="1075849"/>
              <a:ext cx="155026" cy="190690"/>
            </a:xfrm>
            <a:prstGeom prst="rect">
              <a:avLst/>
            </a:prstGeom>
            <a:noFill/>
            <a:ln>
              <a:noFill/>
            </a:ln>
          </p:spPr>
          <p:txBody>
            <a:bodyPr wrap="none" lIns="0" tIns="0" rIns="0" bIns="0" anchor="t" anchorCtr="0">
              <a:spAutoFit/>
            </a:bodyPr>
            <a:lstStyle/>
            <a:p>
              <a:pPr algn="r"/>
              <a:r>
                <a:rPr lang="zh-CN" sz="980" dirty="0">
                  <a:solidFill>
                    <a:srgbClr val="C9D1F0"/>
                  </a:solidFill>
                  <a:latin typeface="+mn-lt"/>
                  <a:ea typeface="+mn-ea"/>
                  <a:cs typeface="+mn-cs"/>
                </a:rPr>
                <a:t>02</a:t>
              </a:r>
            </a:p>
          </p:txBody>
        </p:sp>
        <p:sp>
          <p:nvSpPr>
            <p:cNvPr id="33" name="Rectangle 33"/>
            <p:cNvSpPr/>
            <p:nvPr/>
          </p:nvSpPr>
          <p:spPr>
            <a:xfrm>
              <a:off x="6572250" y="1162050"/>
              <a:ext cx="628650" cy="628650"/>
            </a:xfrm>
            <a:prstGeom prst="roundRect">
              <a:avLst>
                <a:gd name="adj" fmla="val 18182"/>
              </a:avLst>
            </a:prstGeom>
            <a:solidFill>
              <a:srgbClr val="E8EBF8"/>
            </a:solidFill>
            <a:ln>
              <a:noFill/>
            </a:ln>
          </p:spPr>
        </p:sp>
        <p:grpSp>
          <p:nvGrpSpPr>
            <p:cNvPr id="38" name="Group 38"/>
            <p:cNvGrpSpPr/>
            <p:nvPr/>
          </p:nvGrpSpPr>
          <p:grpSpPr>
            <a:xfrm>
              <a:off x="6736556" y="1326356"/>
              <a:ext cx="300038" cy="300038"/>
              <a:chOff x="6736556" y="1326356"/>
              <a:chExt cx="300038" cy="300038"/>
            </a:xfrm>
          </p:grpSpPr>
          <p:sp>
            <p:nvSpPr>
              <p:cNvPr id="34" name="Freeform 34"/>
              <p:cNvSpPr/>
              <p:nvPr/>
            </p:nvSpPr>
            <p:spPr>
              <a:xfrm>
                <a:off x="6769894" y="1326356"/>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33338">
                <a:solidFill>
                  <a:srgbClr val="C45F4A"/>
                </a:solidFill>
              </a:ln>
            </p:spPr>
          </p:sp>
          <p:sp>
            <p:nvSpPr>
              <p:cNvPr id="35" name="Freeform 35"/>
              <p:cNvSpPr/>
              <p:nvPr/>
            </p:nvSpPr>
            <p:spPr>
              <a:xfrm>
                <a:off x="6736556" y="1526381"/>
                <a:ext cx="200025" cy="100012"/>
              </a:xfrm>
              <a:custGeom>
                <a:avLst/>
                <a:gdLst/>
                <a:ahLst/>
                <a:cxnLst/>
                <a:rect l="l" t="t" r="r" b="b"/>
                <a:pathLst>
                  <a:path w="200025" h="100012">
                    <a:moveTo>
                      <a:pt x="0" y="100012"/>
                    </a:moveTo>
                    <a:lnTo>
                      <a:pt x="0" y="66675"/>
                    </a:lnTo>
                    <a:cubicBezTo>
                      <a:pt x="0" y="29851"/>
                      <a:pt x="29851" y="0"/>
                      <a:pt x="66675" y="0"/>
                    </a:cubicBezTo>
                    <a:lnTo>
                      <a:pt x="133350" y="0"/>
                    </a:lnTo>
                    <a:cubicBezTo>
                      <a:pt x="170174" y="0"/>
                      <a:pt x="200025" y="29851"/>
                      <a:pt x="200025" y="66675"/>
                    </a:cubicBezTo>
                    <a:lnTo>
                      <a:pt x="200025" y="100012"/>
                    </a:lnTo>
                  </a:path>
                </a:pathLst>
              </a:custGeom>
              <a:noFill/>
              <a:ln w="33338">
                <a:solidFill>
                  <a:srgbClr val="C45F4A"/>
                </a:solidFill>
              </a:ln>
            </p:spPr>
          </p:sp>
          <p:sp>
            <p:nvSpPr>
              <p:cNvPr id="36" name="Freeform 36"/>
              <p:cNvSpPr/>
              <p:nvPr/>
            </p:nvSpPr>
            <p:spPr>
              <a:xfrm>
                <a:off x="6953250" y="1328523"/>
                <a:ext cx="50137" cy="129183"/>
              </a:xfrm>
              <a:custGeom>
                <a:avLst/>
                <a:gdLst/>
                <a:ahLst/>
                <a:cxnLst/>
                <a:rect l="l" t="t" r="r" b="b"/>
                <a:pathLst>
                  <a:path w="50137" h="129183">
                    <a:moveTo>
                      <a:pt x="0" y="0"/>
                    </a:moveTo>
                    <a:cubicBezTo>
                      <a:pt x="29502" y="7554"/>
                      <a:pt x="50137" y="34137"/>
                      <a:pt x="50137" y="64591"/>
                    </a:cubicBezTo>
                    <a:cubicBezTo>
                      <a:pt x="50137" y="95045"/>
                      <a:pt x="29502" y="121629"/>
                      <a:pt x="0" y="129183"/>
                    </a:cubicBezTo>
                  </a:path>
                </a:pathLst>
              </a:custGeom>
              <a:noFill/>
              <a:ln w="33338">
                <a:solidFill>
                  <a:srgbClr val="C45F4A"/>
                </a:solidFill>
              </a:ln>
            </p:spPr>
          </p:sp>
          <p:sp>
            <p:nvSpPr>
              <p:cNvPr id="37" name="Freeform 37"/>
              <p:cNvSpPr/>
              <p:nvPr/>
            </p:nvSpPr>
            <p:spPr>
              <a:xfrm>
                <a:off x="6986588" y="1528882"/>
                <a:ext cx="50006" cy="97512"/>
              </a:xfrm>
              <a:custGeom>
                <a:avLst/>
                <a:gdLst/>
                <a:ahLst/>
                <a:cxnLst/>
                <a:rect l="l" t="t" r="r" b="b"/>
                <a:pathLst>
                  <a:path w="50006" h="97512">
                    <a:moveTo>
                      <a:pt x="50006" y="97512"/>
                    </a:moveTo>
                    <a:lnTo>
                      <a:pt x="50006" y="64175"/>
                    </a:lnTo>
                    <a:cubicBezTo>
                      <a:pt x="49832" y="33914"/>
                      <a:pt x="29301" y="7565"/>
                      <a:pt x="0" y="0"/>
                    </a:cubicBezTo>
                  </a:path>
                </a:pathLst>
              </a:custGeom>
              <a:noFill/>
              <a:ln w="33338">
                <a:solidFill>
                  <a:srgbClr val="C45F4A"/>
                </a:solidFill>
              </a:ln>
            </p:spPr>
          </p:sp>
        </p:grpSp>
        <p:sp>
          <p:nvSpPr>
            <p:cNvPr id="39" name="TextBox 39"/>
            <p:cNvSpPr txBox="1"/>
            <p:nvPr/>
          </p:nvSpPr>
          <p:spPr>
            <a:xfrm>
              <a:off x="7345680" y="1266825"/>
              <a:ext cx="1395432" cy="293370"/>
            </a:xfrm>
            <a:prstGeom prst="rect">
              <a:avLst/>
            </a:prstGeom>
            <a:noFill/>
            <a:ln>
              <a:noFill/>
            </a:ln>
          </p:spPr>
          <p:txBody>
            <a:bodyPr wrap="none" lIns="0" tIns="0" rIns="0" bIns="0" anchor="t" anchorCtr="0">
              <a:spAutoFit/>
            </a:bodyPr>
            <a:lstStyle/>
            <a:p>
              <a:pPr algn="l"/>
              <a:r>
                <a:rPr lang="zh-CN" sz="1500" b="1" dirty="0">
                  <a:solidFill>
                    <a:srgbClr val="1A1A1A"/>
                  </a:solidFill>
                  <a:latin typeface="+mn-lt"/>
                  <a:ea typeface="+mn-ea"/>
                  <a:cs typeface="+mn-cs"/>
                </a:rPr>
                <a:t>乐享潮男 27%​</a:t>
              </a:r>
            </a:p>
          </p:txBody>
        </p:sp>
        <p:sp>
          <p:nvSpPr>
            <p:cNvPr id="40" name="TextBox 40"/>
            <p:cNvSpPr txBox="1"/>
            <p:nvPr/>
          </p:nvSpPr>
          <p:spPr>
            <a:xfrm>
              <a:off x="7348347" y="1571149"/>
              <a:ext cx="1982224" cy="190690"/>
            </a:xfrm>
            <a:prstGeom prst="rect">
              <a:avLst/>
            </a:prstGeom>
            <a:noFill/>
            <a:ln>
              <a:noFill/>
            </a:ln>
          </p:spPr>
          <p:txBody>
            <a:bodyPr wrap="none" lIns="0" tIns="0" rIns="0" bIns="0" anchor="t" anchorCtr="0">
              <a:spAutoFit/>
            </a:bodyPr>
            <a:lstStyle/>
            <a:p>
              <a:pPr algn="l"/>
              <a:r>
                <a:rPr lang="zh-CN" sz="980" dirty="0">
                  <a:solidFill>
                    <a:srgbClr val="543E3A"/>
                  </a:solidFill>
                  <a:latin typeface="+mn-lt"/>
                  <a:ea typeface="+mn-ea"/>
                  <a:cs typeface="+mn-cs"/>
                </a:rPr>
                <a:t>1-2线城市，</a:t>
              </a:r>
              <a:r>
                <a:rPr lang="zh-CN" sz="980" dirty="0">
                  <a:solidFill>
                    <a:srgbClr val="E2624C"/>
                  </a:solidFill>
                  <a:latin typeface="+mn-lt"/>
                  <a:ea typeface="+mn-ea"/>
                  <a:cs typeface="+mn-cs"/>
                </a:rPr>
                <a:t>中等</a:t>
              </a:r>
              <a:r>
                <a:rPr lang="zh-CN" sz="980" dirty="0">
                  <a:solidFill>
                    <a:srgbClr val="543E3A"/>
                  </a:solidFill>
                  <a:latin typeface="+mn-lt"/>
                  <a:ea typeface="+mn-ea"/>
                  <a:cs typeface="+mn-cs"/>
                </a:rPr>
                <a:t>购买力18-29岁​</a:t>
              </a:r>
            </a:p>
          </p:txBody>
        </p:sp>
        <p:sp>
          <p:nvSpPr>
            <p:cNvPr id="41" name="Freeform 41"/>
            <p:cNvSpPr/>
            <p:nvPr/>
          </p:nvSpPr>
          <p:spPr>
            <a:xfrm rot="10800000">
              <a:off x="10144125" y="1428750"/>
              <a:ext cx="1095375" cy="266700"/>
            </a:xfrm>
            <a:prstGeom prst="homePlate">
              <a:avLst>
                <a:gd name="adj" fmla="val 45000"/>
              </a:avLst>
            </a:prstGeom>
            <a:solidFill>
              <a:srgbClr val="C45F4A"/>
            </a:solidFill>
            <a:ln>
              <a:noFill/>
            </a:ln>
          </p:spPr>
        </p:sp>
        <p:sp>
          <p:nvSpPr>
            <p:cNvPr id="42" name="TextBox 42"/>
            <p:cNvSpPr txBox="1"/>
            <p:nvPr/>
          </p:nvSpPr>
          <p:spPr>
            <a:xfrm>
              <a:off x="10465867" y="15044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潮酷个性</a:t>
              </a:r>
            </a:p>
          </p:txBody>
        </p:sp>
        <p:sp>
          <p:nvSpPr>
            <p:cNvPr id="43" name="TextBox 43"/>
            <p:cNvSpPr txBox="1"/>
            <p:nvPr/>
          </p:nvSpPr>
          <p:spPr>
            <a:xfrm>
              <a:off x="6662738" y="1899047"/>
              <a:ext cx="588775"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生活方式:</a:t>
              </a:r>
            </a:p>
          </p:txBody>
        </p:sp>
        <p:sp>
          <p:nvSpPr>
            <p:cNvPr id="44" name="TextBox 44"/>
            <p:cNvSpPr txBox="1"/>
            <p:nvPr/>
          </p:nvSpPr>
          <p:spPr>
            <a:xfrm>
              <a:off x="6662738" y="2112645"/>
              <a:ext cx="34385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543E3A"/>
                  </a:solidFill>
                  <a:latin typeface="+mn-lt"/>
                  <a:ea typeface="+mn-ea"/>
                  <a:cs typeface="+mn-cs"/>
                </a:rPr>
                <a:t>享受生活，理容意识较强，大多数处于颜值管理的探索期比较在意自</a:t>
              </a:r>
              <a:br/>
              <a:r>
                <a:rPr lang="zh-CN" sz="900" dirty="0">
                  <a:solidFill>
                    <a:srgbClr val="543E3A"/>
                  </a:solidFill>
                  <a:latin typeface="+mn-lt"/>
                  <a:ea typeface="+mn-ea"/>
                  <a:cs typeface="+mn-cs"/>
                </a:rPr>
                <a:t>己的外表和颜值管理，希望通过不同方式，打造潮男形象。</a:t>
              </a:r>
            </a:p>
          </p:txBody>
        </p:sp>
        <p:sp>
          <p:nvSpPr>
            <p:cNvPr id="45" name="TextBox 45"/>
            <p:cNvSpPr txBox="1"/>
            <p:nvPr/>
          </p:nvSpPr>
          <p:spPr>
            <a:xfrm>
              <a:off x="6662738" y="2661047"/>
              <a:ext cx="588775"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消费偏好:</a:t>
              </a:r>
            </a:p>
          </p:txBody>
        </p:sp>
        <p:sp>
          <p:nvSpPr>
            <p:cNvPr id="46" name="Rectangle 46"/>
            <p:cNvSpPr/>
            <p:nvPr/>
          </p:nvSpPr>
          <p:spPr>
            <a:xfrm>
              <a:off x="6667500" y="2886075"/>
              <a:ext cx="647700" cy="209550"/>
            </a:xfrm>
            <a:prstGeom prst="roundRect">
              <a:avLst>
                <a:gd name="adj" fmla="val 13636"/>
              </a:avLst>
            </a:prstGeom>
            <a:solidFill>
              <a:srgbClr val="E8EBF8"/>
            </a:solidFill>
            <a:ln>
              <a:noFill/>
            </a:ln>
          </p:spPr>
        </p:sp>
        <p:sp>
          <p:nvSpPr>
            <p:cNvPr id="47" name="TextBox 47"/>
            <p:cNvSpPr txBox="1"/>
            <p:nvPr/>
          </p:nvSpPr>
          <p:spPr>
            <a:xfrm>
              <a:off x="6765811" y="2949416"/>
              <a:ext cx="451079"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性价比高</a:t>
              </a:r>
            </a:p>
          </p:txBody>
        </p:sp>
        <p:sp>
          <p:nvSpPr>
            <p:cNvPr id="48" name="Rectangle 48"/>
            <p:cNvSpPr/>
            <p:nvPr/>
          </p:nvSpPr>
          <p:spPr>
            <a:xfrm>
              <a:off x="7448550" y="2886075"/>
              <a:ext cx="647700" cy="209550"/>
            </a:xfrm>
            <a:prstGeom prst="roundRect">
              <a:avLst>
                <a:gd name="adj" fmla="val 13636"/>
              </a:avLst>
            </a:prstGeom>
            <a:solidFill>
              <a:srgbClr val="E8EBF8"/>
            </a:solidFill>
            <a:ln>
              <a:noFill/>
            </a:ln>
          </p:spPr>
        </p:sp>
        <p:sp>
          <p:nvSpPr>
            <p:cNvPr id="49" name="TextBox 49"/>
            <p:cNvSpPr txBox="1"/>
            <p:nvPr/>
          </p:nvSpPr>
          <p:spPr>
            <a:xfrm>
              <a:off x="7546861" y="2949416"/>
              <a:ext cx="451079"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新兴国货</a:t>
              </a:r>
            </a:p>
          </p:txBody>
        </p:sp>
        <p:sp>
          <p:nvSpPr>
            <p:cNvPr id="50" name="Rectangle 50"/>
            <p:cNvSpPr/>
            <p:nvPr/>
          </p:nvSpPr>
          <p:spPr>
            <a:xfrm>
              <a:off x="8229600" y="2886075"/>
              <a:ext cx="552450" cy="209550"/>
            </a:xfrm>
            <a:prstGeom prst="roundRect">
              <a:avLst>
                <a:gd name="adj" fmla="val 13636"/>
              </a:avLst>
            </a:prstGeom>
            <a:solidFill>
              <a:srgbClr val="E8EBF8"/>
            </a:solidFill>
            <a:ln>
              <a:noFill/>
            </a:ln>
          </p:spPr>
        </p:sp>
        <p:sp>
          <p:nvSpPr>
            <p:cNvPr id="51" name="TextBox 51"/>
            <p:cNvSpPr txBox="1"/>
            <p:nvPr/>
          </p:nvSpPr>
          <p:spPr>
            <a:xfrm>
              <a:off x="8335480" y="2949416"/>
              <a:ext cx="340690"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颜值高</a:t>
              </a:r>
            </a:p>
          </p:txBody>
        </p:sp>
      </p:grpSp>
      <p:grpSp>
        <p:nvGrpSpPr>
          <p:cNvPr id="75" name="persona-3"/>
          <p:cNvGrpSpPr/>
          <p:nvPr/>
        </p:nvGrpSpPr>
        <p:grpSpPr>
          <a:xfrm>
            <a:off x="523875" y="3667125"/>
            <a:ext cx="5381625" cy="2524125"/>
            <a:chOff x="523875" y="3667125"/>
            <a:chExt cx="5381625" cy="2524125"/>
          </a:xfrm>
        </p:grpSpPr>
        <p:sp>
          <p:nvSpPr>
            <p:cNvPr id="53" name="Rectangle 53"/>
            <p:cNvSpPr/>
            <p:nvPr/>
          </p:nvSpPr>
          <p:spPr>
            <a:xfrm>
              <a:off x="523875" y="3667125"/>
              <a:ext cx="5381625" cy="2524125"/>
            </a:xfrm>
            <a:prstGeom prst="roundRect">
              <a:avLst>
                <a:gd name="adj" fmla="val 3774"/>
              </a:avLst>
            </a:prstGeom>
            <a:solidFill>
              <a:srgbClr val="FFFFFF"/>
            </a:solidFill>
            <a:ln>
              <a:noFill/>
            </a:ln>
            <a:effectLst>
              <a:outerShdw blurRad="152400" dist="57150" dir="5400000" algn="ctr" rotWithShape="0">
                <a:srgbClr val="C45F4A">
                  <a:alpha val="7500"/>
                </a:srgbClr>
              </a:outerShdw>
            </a:effectLst>
          </p:spPr>
        </p:sp>
        <p:sp>
          <p:nvSpPr>
            <p:cNvPr id="54" name="Rectangle 54"/>
            <p:cNvSpPr/>
            <p:nvPr/>
          </p:nvSpPr>
          <p:spPr>
            <a:xfrm>
              <a:off x="523875" y="3667125"/>
              <a:ext cx="66675" cy="2524125"/>
            </a:xfrm>
            <a:prstGeom prst="roundRect">
              <a:avLst>
                <a:gd name="adj" fmla="val 42857"/>
              </a:avLst>
            </a:prstGeom>
            <a:solidFill>
              <a:srgbClr val="E8634C"/>
            </a:solidFill>
            <a:ln>
              <a:noFill/>
            </a:ln>
          </p:spPr>
        </p:sp>
        <p:sp>
          <p:nvSpPr>
            <p:cNvPr id="55" name="TextBox 55"/>
            <p:cNvSpPr txBox="1"/>
            <p:nvPr/>
          </p:nvSpPr>
          <p:spPr>
            <a:xfrm>
              <a:off x="5583977" y="3790474"/>
              <a:ext cx="155026" cy="190690"/>
            </a:xfrm>
            <a:prstGeom prst="rect">
              <a:avLst/>
            </a:prstGeom>
            <a:noFill/>
            <a:ln>
              <a:noFill/>
            </a:ln>
          </p:spPr>
          <p:txBody>
            <a:bodyPr wrap="none" lIns="0" tIns="0" rIns="0" bIns="0" anchor="t" anchorCtr="0">
              <a:spAutoFit/>
            </a:bodyPr>
            <a:lstStyle/>
            <a:p>
              <a:pPr algn="r"/>
              <a:r>
                <a:rPr lang="zh-CN" sz="980" dirty="0">
                  <a:solidFill>
                    <a:srgbClr val="F3BAB0"/>
                  </a:solidFill>
                  <a:latin typeface="+mn-lt"/>
                  <a:ea typeface="+mn-ea"/>
                  <a:cs typeface="+mn-cs"/>
                </a:rPr>
                <a:t>03</a:t>
              </a:r>
            </a:p>
          </p:txBody>
        </p:sp>
        <p:sp>
          <p:nvSpPr>
            <p:cNvPr id="56" name="Rectangle 56"/>
            <p:cNvSpPr/>
            <p:nvPr/>
          </p:nvSpPr>
          <p:spPr>
            <a:xfrm>
              <a:off x="809625" y="3876675"/>
              <a:ext cx="628650" cy="628650"/>
            </a:xfrm>
            <a:prstGeom prst="roundRect">
              <a:avLst>
                <a:gd name="adj" fmla="val 18182"/>
              </a:avLst>
            </a:prstGeom>
            <a:solidFill>
              <a:srgbClr val="FDE3DC"/>
            </a:solidFill>
            <a:ln>
              <a:noFill/>
            </a:ln>
          </p:spPr>
        </p:sp>
        <p:grpSp>
          <p:nvGrpSpPr>
            <p:cNvPr id="61" name="Group 61"/>
            <p:cNvGrpSpPr/>
            <p:nvPr/>
          </p:nvGrpSpPr>
          <p:grpSpPr>
            <a:xfrm>
              <a:off x="973931" y="4040981"/>
              <a:ext cx="300038" cy="300038"/>
              <a:chOff x="973931" y="4040981"/>
              <a:chExt cx="300038" cy="300038"/>
            </a:xfrm>
          </p:grpSpPr>
          <p:sp>
            <p:nvSpPr>
              <p:cNvPr id="57" name="Freeform 57"/>
              <p:cNvSpPr/>
              <p:nvPr/>
            </p:nvSpPr>
            <p:spPr>
              <a:xfrm>
                <a:off x="1007269" y="4040981"/>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33338">
                <a:solidFill>
                  <a:srgbClr val="E8634C"/>
                </a:solidFill>
              </a:ln>
            </p:spPr>
          </p:sp>
          <p:sp>
            <p:nvSpPr>
              <p:cNvPr id="58" name="Freeform 58"/>
              <p:cNvSpPr/>
              <p:nvPr/>
            </p:nvSpPr>
            <p:spPr>
              <a:xfrm>
                <a:off x="973931" y="4241006"/>
                <a:ext cx="200025" cy="100012"/>
              </a:xfrm>
              <a:custGeom>
                <a:avLst/>
                <a:gdLst/>
                <a:ahLst/>
                <a:cxnLst/>
                <a:rect l="l" t="t" r="r" b="b"/>
                <a:pathLst>
                  <a:path w="200025" h="100012">
                    <a:moveTo>
                      <a:pt x="0" y="100012"/>
                    </a:moveTo>
                    <a:lnTo>
                      <a:pt x="0" y="66675"/>
                    </a:lnTo>
                    <a:cubicBezTo>
                      <a:pt x="0" y="29851"/>
                      <a:pt x="29851" y="0"/>
                      <a:pt x="66675" y="0"/>
                    </a:cubicBezTo>
                    <a:lnTo>
                      <a:pt x="133350" y="0"/>
                    </a:lnTo>
                    <a:cubicBezTo>
                      <a:pt x="170174" y="0"/>
                      <a:pt x="200025" y="29851"/>
                      <a:pt x="200025" y="66675"/>
                    </a:cubicBezTo>
                    <a:lnTo>
                      <a:pt x="200025" y="100012"/>
                    </a:lnTo>
                  </a:path>
                </a:pathLst>
              </a:custGeom>
              <a:noFill/>
              <a:ln w="33338">
                <a:solidFill>
                  <a:srgbClr val="E8634C"/>
                </a:solidFill>
              </a:ln>
            </p:spPr>
          </p:sp>
          <p:sp>
            <p:nvSpPr>
              <p:cNvPr id="59" name="Freeform 59"/>
              <p:cNvSpPr/>
              <p:nvPr/>
            </p:nvSpPr>
            <p:spPr>
              <a:xfrm>
                <a:off x="1190625" y="4043148"/>
                <a:ext cx="50137" cy="129183"/>
              </a:xfrm>
              <a:custGeom>
                <a:avLst/>
                <a:gdLst/>
                <a:ahLst/>
                <a:cxnLst/>
                <a:rect l="l" t="t" r="r" b="b"/>
                <a:pathLst>
                  <a:path w="50137" h="129183">
                    <a:moveTo>
                      <a:pt x="0" y="0"/>
                    </a:moveTo>
                    <a:cubicBezTo>
                      <a:pt x="29502" y="7554"/>
                      <a:pt x="50137" y="34137"/>
                      <a:pt x="50137" y="64591"/>
                    </a:cubicBezTo>
                    <a:cubicBezTo>
                      <a:pt x="50137" y="95045"/>
                      <a:pt x="29502" y="121629"/>
                      <a:pt x="0" y="129183"/>
                    </a:cubicBezTo>
                  </a:path>
                </a:pathLst>
              </a:custGeom>
              <a:noFill/>
              <a:ln w="33338">
                <a:solidFill>
                  <a:srgbClr val="E8634C"/>
                </a:solidFill>
              </a:ln>
            </p:spPr>
          </p:sp>
          <p:sp>
            <p:nvSpPr>
              <p:cNvPr id="60" name="Freeform 60"/>
              <p:cNvSpPr/>
              <p:nvPr/>
            </p:nvSpPr>
            <p:spPr>
              <a:xfrm>
                <a:off x="1223963" y="4243507"/>
                <a:ext cx="50006" cy="97512"/>
              </a:xfrm>
              <a:custGeom>
                <a:avLst/>
                <a:gdLst/>
                <a:ahLst/>
                <a:cxnLst/>
                <a:rect l="l" t="t" r="r" b="b"/>
                <a:pathLst>
                  <a:path w="50006" h="97512">
                    <a:moveTo>
                      <a:pt x="50006" y="97512"/>
                    </a:moveTo>
                    <a:lnTo>
                      <a:pt x="50006" y="64175"/>
                    </a:lnTo>
                    <a:cubicBezTo>
                      <a:pt x="49832" y="33914"/>
                      <a:pt x="29301" y="7565"/>
                      <a:pt x="0" y="0"/>
                    </a:cubicBezTo>
                  </a:path>
                </a:pathLst>
              </a:custGeom>
              <a:noFill/>
              <a:ln w="33338">
                <a:solidFill>
                  <a:srgbClr val="E8634C"/>
                </a:solidFill>
              </a:ln>
            </p:spPr>
          </p:sp>
        </p:grpSp>
        <p:sp>
          <p:nvSpPr>
            <p:cNvPr id="62" name="TextBox 62"/>
            <p:cNvSpPr txBox="1"/>
            <p:nvPr/>
          </p:nvSpPr>
          <p:spPr>
            <a:xfrm>
              <a:off x="1583055" y="3981450"/>
              <a:ext cx="1395432" cy="293370"/>
            </a:xfrm>
            <a:prstGeom prst="rect">
              <a:avLst/>
            </a:prstGeom>
            <a:noFill/>
            <a:ln>
              <a:noFill/>
            </a:ln>
          </p:spPr>
          <p:txBody>
            <a:bodyPr wrap="none" lIns="0" tIns="0" rIns="0" bIns="0" anchor="t" anchorCtr="0">
              <a:spAutoFit/>
            </a:bodyPr>
            <a:lstStyle/>
            <a:p>
              <a:pPr algn="l"/>
              <a:r>
                <a:rPr lang="zh-CN" sz="1500" b="1" dirty="0">
                  <a:solidFill>
                    <a:srgbClr val="1A1A1A"/>
                  </a:solidFill>
                  <a:latin typeface="+mn-lt"/>
                  <a:ea typeface="+mn-ea"/>
                  <a:cs typeface="+mn-cs"/>
                </a:rPr>
                <a:t>品质新贵 43%​</a:t>
              </a:r>
            </a:p>
          </p:txBody>
        </p:sp>
        <p:sp>
          <p:nvSpPr>
            <p:cNvPr id="63" name="TextBox 63"/>
            <p:cNvSpPr txBox="1"/>
            <p:nvPr/>
          </p:nvSpPr>
          <p:spPr>
            <a:xfrm>
              <a:off x="1585722" y="4285774"/>
              <a:ext cx="1850296" cy="190690"/>
            </a:xfrm>
            <a:prstGeom prst="rect">
              <a:avLst/>
            </a:prstGeom>
            <a:noFill/>
            <a:ln>
              <a:noFill/>
            </a:ln>
          </p:spPr>
          <p:txBody>
            <a:bodyPr wrap="none" lIns="0" tIns="0" rIns="0" bIns="0" anchor="t" anchorCtr="0">
              <a:spAutoFit/>
            </a:bodyPr>
            <a:lstStyle/>
            <a:p>
              <a:pPr algn="l"/>
              <a:r>
                <a:rPr lang="zh-CN" sz="980" dirty="0">
                  <a:solidFill>
                    <a:srgbClr val="543E3A"/>
                  </a:solidFill>
                  <a:latin typeface="+mn-lt"/>
                  <a:ea typeface="+mn-ea"/>
                  <a:cs typeface="+mn-cs"/>
                </a:rPr>
                <a:t>1-2线城市，</a:t>
              </a:r>
              <a:r>
                <a:rPr lang="zh-CN" sz="980" dirty="0">
                  <a:solidFill>
                    <a:srgbClr val="E2624C"/>
                  </a:solidFill>
                  <a:latin typeface="+mn-lt"/>
                  <a:ea typeface="+mn-ea"/>
                  <a:cs typeface="+mn-cs"/>
                </a:rPr>
                <a:t>高购买力</a:t>
              </a:r>
              <a:r>
                <a:rPr lang="zh-CN" sz="980" dirty="0">
                  <a:solidFill>
                    <a:srgbClr val="543E3A"/>
                  </a:solidFill>
                  <a:latin typeface="+mn-lt"/>
                  <a:ea typeface="+mn-ea"/>
                  <a:cs typeface="+mn-cs"/>
                </a:rPr>
                <a:t>25-35岁​</a:t>
              </a:r>
            </a:p>
          </p:txBody>
        </p:sp>
        <p:sp>
          <p:nvSpPr>
            <p:cNvPr id="64" name="Freeform 64"/>
            <p:cNvSpPr/>
            <p:nvPr/>
          </p:nvSpPr>
          <p:spPr>
            <a:xfrm rot="10800000">
              <a:off x="4381500" y="4143375"/>
              <a:ext cx="1095375" cy="266700"/>
            </a:xfrm>
            <a:prstGeom prst="homePlate">
              <a:avLst>
                <a:gd name="adj" fmla="val 45000"/>
              </a:avLst>
            </a:prstGeom>
            <a:solidFill>
              <a:srgbClr val="E8634C"/>
            </a:solidFill>
            <a:ln>
              <a:noFill/>
            </a:ln>
          </p:spPr>
        </p:sp>
        <p:sp>
          <p:nvSpPr>
            <p:cNvPr id="65" name="TextBox 65"/>
            <p:cNvSpPr txBox="1"/>
            <p:nvPr/>
          </p:nvSpPr>
          <p:spPr>
            <a:xfrm>
              <a:off x="4703242" y="42190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品质生活</a:t>
              </a:r>
            </a:p>
          </p:txBody>
        </p:sp>
        <p:sp>
          <p:nvSpPr>
            <p:cNvPr id="66" name="TextBox 66"/>
            <p:cNvSpPr txBox="1"/>
            <p:nvPr/>
          </p:nvSpPr>
          <p:spPr>
            <a:xfrm>
              <a:off x="900112" y="4613672"/>
              <a:ext cx="588775" cy="183356"/>
            </a:xfrm>
            <a:prstGeom prst="rect">
              <a:avLst/>
            </a:prstGeom>
            <a:noFill/>
            <a:ln>
              <a:noFill/>
            </a:ln>
          </p:spPr>
          <p:txBody>
            <a:bodyPr wrap="none" lIns="0" tIns="0" rIns="0" bIns="0" anchor="t" anchorCtr="0">
              <a:spAutoFit/>
            </a:bodyPr>
            <a:lstStyle/>
            <a:p>
              <a:pPr algn="l"/>
              <a:r>
                <a:rPr lang="zh-CN" sz="940" b="1" dirty="0">
                  <a:solidFill>
                    <a:srgbClr val="E2624C"/>
                  </a:solidFill>
                  <a:latin typeface="+mn-lt"/>
                  <a:ea typeface="+mn-ea"/>
                  <a:cs typeface="+mn-cs"/>
                </a:rPr>
                <a:t>生活方式:</a:t>
              </a:r>
            </a:p>
          </p:txBody>
        </p:sp>
        <p:sp>
          <p:nvSpPr>
            <p:cNvPr id="67" name="TextBox 67"/>
            <p:cNvSpPr txBox="1"/>
            <p:nvPr/>
          </p:nvSpPr>
          <p:spPr>
            <a:xfrm>
              <a:off x="900112" y="4827270"/>
              <a:ext cx="3501390"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543E3A"/>
                  </a:solidFill>
                  <a:latin typeface="+mn-lt"/>
                  <a:ea typeface="+mn-ea"/>
                  <a:cs typeface="+mn-cs"/>
                </a:rPr>
                <a:t>注重生活品质，为提升幸福感买单-家居，小家电，尤其是个护类家电</a:t>
              </a:r>
              <a:br/>
              <a:r>
                <a:rPr lang="zh-CN" sz="900" dirty="0">
                  <a:solidFill>
                    <a:srgbClr val="543E3A"/>
                  </a:solidFill>
                  <a:latin typeface="+mn-lt"/>
                  <a:ea typeface="+mn-ea"/>
                  <a:cs typeface="+mn-cs"/>
                </a:rPr>
                <a:t>消费高，认为精致是生活方式-提升自信，增加优势兴趣爱好丰富。</a:t>
              </a:r>
            </a:p>
          </p:txBody>
        </p:sp>
        <p:sp>
          <p:nvSpPr>
            <p:cNvPr id="68" name="TextBox 68"/>
            <p:cNvSpPr txBox="1"/>
            <p:nvPr/>
          </p:nvSpPr>
          <p:spPr>
            <a:xfrm>
              <a:off x="900112" y="5375672"/>
              <a:ext cx="588775" cy="183356"/>
            </a:xfrm>
            <a:prstGeom prst="rect">
              <a:avLst/>
            </a:prstGeom>
            <a:noFill/>
            <a:ln>
              <a:noFill/>
            </a:ln>
          </p:spPr>
          <p:txBody>
            <a:bodyPr wrap="none" lIns="0" tIns="0" rIns="0" bIns="0" anchor="t" anchorCtr="0">
              <a:spAutoFit/>
            </a:bodyPr>
            <a:lstStyle/>
            <a:p>
              <a:pPr algn="l"/>
              <a:r>
                <a:rPr lang="zh-CN" sz="940" b="1" dirty="0">
                  <a:solidFill>
                    <a:srgbClr val="E2624C"/>
                  </a:solidFill>
                  <a:latin typeface="+mn-lt"/>
                  <a:ea typeface="+mn-ea"/>
                  <a:cs typeface="+mn-cs"/>
                </a:rPr>
                <a:t>消费偏好:</a:t>
              </a:r>
            </a:p>
          </p:txBody>
        </p:sp>
        <p:sp>
          <p:nvSpPr>
            <p:cNvPr id="69" name="Rectangle 69"/>
            <p:cNvSpPr/>
            <p:nvPr/>
          </p:nvSpPr>
          <p:spPr>
            <a:xfrm>
              <a:off x="904875" y="5600700"/>
              <a:ext cx="1162050" cy="209550"/>
            </a:xfrm>
            <a:prstGeom prst="roundRect">
              <a:avLst>
                <a:gd name="adj" fmla="val 13636"/>
              </a:avLst>
            </a:prstGeom>
            <a:solidFill>
              <a:srgbClr val="FDE3DC"/>
            </a:solidFill>
            <a:ln>
              <a:noFill/>
            </a:ln>
          </p:spPr>
        </p:sp>
        <p:sp>
          <p:nvSpPr>
            <p:cNvPr id="70" name="TextBox 70"/>
            <p:cNvSpPr txBox="1"/>
            <p:nvPr/>
          </p:nvSpPr>
          <p:spPr>
            <a:xfrm>
              <a:off x="984390" y="5664041"/>
              <a:ext cx="1003021" cy="161925"/>
            </a:xfrm>
            <a:prstGeom prst="rect">
              <a:avLst/>
            </a:prstGeom>
            <a:noFill/>
            <a:ln>
              <a:noFill/>
            </a:ln>
          </p:spPr>
          <p:txBody>
            <a:bodyPr wrap="none" lIns="0" tIns="0" rIns="0" bIns="0" anchor="t" anchorCtr="0">
              <a:spAutoFit/>
            </a:bodyPr>
            <a:lstStyle/>
            <a:p>
              <a:pPr algn="ctr"/>
              <a:r>
                <a:rPr lang="zh-CN" sz="820" dirty="0">
                  <a:solidFill>
                    <a:srgbClr val="E2624C"/>
                  </a:solidFill>
                  <a:latin typeface="+mn-lt"/>
                  <a:ea typeface="+mn-ea"/>
                  <a:cs typeface="+mn-cs"/>
                </a:rPr>
                <a:t>偏好中高端护肤品牌</a:t>
              </a:r>
            </a:p>
          </p:txBody>
        </p:sp>
        <p:sp>
          <p:nvSpPr>
            <p:cNvPr id="71" name="Rectangle 71"/>
            <p:cNvSpPr/>
            <p:nvPr/>
          </p:nvSpPr>
          <p:spPr>
            <a:xfrm>
              <a:off x="2200275" y="5600700"/>
              <a:ext cx="647700" cy="209550"/>
            </a:xfrm>
            <a:prstGeom prst="roundRect">
              <a:avLst>
                <a:gd name="adj" fmla="val 13636"/>
              </a:avLst>
            </a:prstGeom>
            <a:solidFill>
              <a:srgbClr val="FDE3DC"/>
            </a:solidFill>
            <a:ln>
              <a:noFill/>
            </a:ln>
          </p:spPr>
        </p:sp>
        <p:sp>
          <p:nvSpPr>
            <p:cNvPr id="72" name="TextBox 72"/>
            <p:cNvSpPr txBox="1"/>
            <p:nvPr/>
          </p:nvSpPr>
          <p:spPr>
            <a:xfrm>
              <a:off x="2298586" y="5664041"/>
              <a:ext cx="451079" cy="161925"/>
            </a:xfrm>
            <a:prstGeom prst="rect">
              <a:avLst/>
            </a:prstGeom>
            <a:noFill/>
            <a:ln>
              <a:noFill/>
            </a:ln>
          </p:spPr>
          <p:txBody>
            <a:bodyPr wrap="none" lIns="0" tIns="0" rIns="0" bIns="0" anchor="t" anchorCtr="0">
              <a:spAutoFit/>
            </a:bodyPr>
            <a:lstStyle/>
            <a:p>
              <a:pPr algn="ctr"/>
              <a:r>
                <a:rPr lang="zh-CN" sz="820" dirty="0">
                  <a:solidFill>
                    <a:srgbClr val="E2624C"/>
                  </a:solidFill>
                  <a:latin typeface="+mn-lt"/>
                  <a:ea typeface="+mn-ea"/>
                  <a:cs typeface="+mn-cs"/>
                </a:rPr>
                <a:t>器械配置</a:t>
              </a:r>
            </a:p>
          </p:txBody>
        </p:sp>
        <p:sp>
          <p:nvSpPr>
            <p:cNvPr id="73" name="Rectangle 73"/>
            <p:cNvSpPr/>
            <p:nvPr/>
          </p:nvSpPr>
          <p:spPr>
            <a:xfrm>
              <a:off x="2981325" y="5600700"/>
              <a:ext cx="647700" cy="209550"/>
            </a:xfrm>
            <a:prstGeom prst="roundRect">
              <a:avLst>
                <a:gd name="adj" fmla="val 13636"/>
              </a:avLst>
            </a:prstGeom>
            <a:solidFill>
              <a:srgbClr val="FDE3DC"/>
            </a:solidFill>
            <a:ln>
              <a:noFill/>
            </a:ln>
          </p:spPr>
        </p:sp>
        <p:sp>
          <p:nvSpPr>
            <p:cNvPr id="74" name="TextBox 74"/>
            <p:cNvSpPr txBox="1"/>
            <p:nvPr/>
          </p:nvSpPr>
          <p:spPr>
            <a:xfrm>
              <a:off x="3079636" y="5664041"/>
              <a:ext cx="451079" cy="161925"/>
            </a:xfrm>
            <a:prstGeom prst="rect">
              <a:avLst/>
            </a:prstGeom>
            <a:noFill/>
            <a:ln>
              <a:noFill/>
            </a:ln>
          </p:spPr>
          <p:txBody>
            <a:bodyPr wrap="none" lIns="0" tIns="0" rIns="0" bIns="0" anchor="t" anchorCtr="0">
              <a:spAutoFit/>
            </a:bodyPr>
            <a:lstStyle/>
            <a:p>
              <a:pPr algn="ctr"/>
              <a:r>
                <a:rPr lang="zh-CN" sz="820" dirty="0">
                  <a:solidFill>
                    <a:srgbClr val="E2624C"/>
                  </a:solidFill>
                  <a:latin typeface="+mn-lt"/>
                  <a:ea typeface="+mn-ea"/>
                  <a:cs typeface="+mn-cs"/>
                </a:rPr>
                <a:t>医美攻放</a:t>
              </a:r>
            </a:p>
          </p:txBody>
        </p:sp>
      </p:grpSp>
      <p:grpSp>
        <p:nvGrpSpPr>
          <p:cNvPr id="100" name="persona-4"/>
          <p:cNvGrpSpPr/>
          <p:nvPr/>
        </p:nvGrpSpPr>
        <p:grpSpPr>
          <a:xfrm>
            <a:off x="6286500" y="3667125"/>
            <a:ext cx="5381625" cy="2524125"/>
            <a:chOff x="6286500" y="3667125"/>
            <a:chExt cx="5381625" cy="2524125"/>
          </a:xfrm>
        </p:grpSpPr>
        <p:sp>
          <p:nvSpPr>
            <p:cNvPr id="76" name="Rectangle 76"/>
            <p:cNvSpPr/>
            <p:nvPr/>
          </p:nvSpPr>
          <p:spPr>
            <a:xfrm>
              <a:off x="6286500" y="3667125"/>
              <a:ext cx="5381625" cy="2524125"/>
            </a:xfrm>
            <a:prstGeom prst="roundRect">
              <a:avLst>
                <a:gd name="adj" fmla="val 3774"/>
              </a:avLst>
            </a:prstGeom>
            <a:solidFill>
              <a:srgbClr val="FFFFFF"/>
            </a:solidFill>
            <a:ln>
              <a:noFill/>
            </a:ln>
            <a:effectLst>
              <a:outerShdw blurRad="152400" dist="57150" dir="5400000" algn="ctr" rotWithShape="0">
                <a:srgbClr val="C45F4A">
                  <a:alpha val="7500"/>
                </a:srgbClr>
              </a:outerShdw>
            </a:effectLst>
          </p:spPr>
        </p:sp>
        <p:sp>
          <p:nvSpPr>
            <p:cNvPr id="77" name="Rectangle 77"/>
            <p:cNvSpPr/>
            <p:nvPr/>
          </p:nvSpPr>
          <p:spPr>
            <a:xfrm>
              <a:off x="6286500" y="3667125"/>
              <a:ext cx="66675" cy="2524125"/>
            </a:xfrm>
            <a:prstGeom prst="roundRect">
              <a:avLst>
                <a:gd name="adj" fmla="val 42857"/>
              </a:avLst>
            </a:prstGeom>
            <a:solidFill>
              <a:srgbClr val="C45F4A"/>
            </a:solidFill>
            <a:ln>
              <a:noFill/>
            </a:ln>
          </p:spPr>
        </p:sp>
        <p:sp>
          <p:nvSpPr>
            <p:cNvPr id="78" name="TextBox 78"/>
            <p:cNvSpPr txBox="1"/>
            <p:nvPr/>
          </p:nvSpPr>
          <p:spPr>
            <a:xfrm>
              <a:off x="11346602" y="3790474"/>
              <a:ext cx="155026" cy="190690"/>
            </a:xfrm>
            <a:prstGeom prst="rect">
              <a:avLst/>
            </a:prstGeom>
            <a:noFill/>
            <a:ln>
              <a:noFill/>
            </a:ln>
          </p:spPr>
          <p:txBody>
            <a:bodyPr wrap="none" lIns="0" tIns="0" rIns="0" bIns="0" anchor="t" anchorCtr="0">
              <a:spAutoFit/>
            </a:bodyPr>
            <a:lstStyle/>
            <a:p>
              <a:pPr algn="r"/>
              <a:r>
                <a:rPr lang="zh-CN" sz="980" dirty="0">
                  <a:solidFill>
                    <a:srgbClr val="C9D1F0"/>
                  </a:solidFill>
                  <a:latin typeface="+mn-lt"/>
                  <a:ea typeface="+mn-ea"/>
                  <a:cs typeface="+mn-cs"/>
                </a:rPr>
                <a:t>04</a:t>
              </a:r>
            </a:p>
          </p:txBody>
        </p:sp>
        <p:sp>
          <p:nvSpPr>
            <p:cNvPr id="79" name="Rectangle 79"/>
            <p:cNvSpPr/>
            <p:nvPr/>
          </p:nvSpPr>
          <p:spPr>
            <a:xfrm>
              <a:off x="6572250" y="3876675"/>
              <a:ext cx="628650" cy="628650"/>
            </a:xfrm>
            <a:prstGeom prst="roundRect">
              <a:avLst>
                <a:gd name="adj" fmla="val 18182"/>
              </a:avLst>
            </a:prstGeom>
            <a:solidFill>
              <a:srgbClr val="E8EBF8"/>
            </a:solidFill>
            <a:ln>
              <a:noFill/>
            </a:ln>
          </p:spPr>
        </p:sp>
        <p:grpSp>
          <p:nvGrpSpPr>
            <p:cNvPr id="84" name="Group 84"/>
            <p:cNvGrpSpPr/>
            <p:nvPr/>
          </p:nvGrpSpPr>
          <p:grpSpPr>
            <a:xfrm>
              <a:off x="6736556" y="4040981"/>
              <a:ext cx="300038" cy="300038"/>
              <a:chOff x="6736556" y="4040981"/>
              <a:chExt cx="300038" cy="300038"/>
            </a:xfrm>
          </p:grpSpPr>
          <p:sp>
            <p:nvSpPr>
              <p:cNvPr id="80" name="Freeform 80"/>
              <p:cNvSpPr/>
              <p:nvPr/>
            </p:nvSpPr>
            <p:spPr>
              <a:xfrm>
                <a:off x="6769894" y="4040981"/>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33338">
                <a:solidFill>
                  <a:srgbClr val="C45F4A"/>
                </a:solidFill>
              </a:ln>
            </p:spPr>
          </p:sp>
          <p:sp>
            <p:nvSpPr>
              <p:cNvPr id="81" name="Freeform 81"/>
              <p:cNvSpPr/>
              <p:nvPr/>
            </p:nvSpPr>
            <p:spPr>
              <a:xfrm>
                <a:off x="6736556" y="4241006"/>
                <a:ext cx="200025" cy="100012"/>
              </a:xfrm>
              <a:custGeom>
                <a:avLst/>
                <a:gdLst/>
                <a:ahLst/>
                <a:cxnLst/>
                <a:rect l="l" t="t" r="r" b="b"/>
                <a:pathLst>
                  <a:path w="200025" h="100012">
                    <a:moveTo>
                      <a:pt x="0" y="100012"/>
                    </a:moveTo>
                    <a:lnTo>
                      <a:pt x="0" y="66675"/>
                    </a:lnTo>
                    <a:cubicBezTo>
                      <a:pt x="0" y="29851"/>
                      <a:pt x="29851" y="0"/>
                      <a:pt x="66675" y="0"/>
                    </a:cubicBezTo>
                    <a:lnTo>
                      <a:pt x="133350" y="0"/>
                    </a:lnTo>
                    <a:cubicBezTo>
                      <a:pt x="170174" y="0"/>
                      <a:pt x="200025" y="29851"/>
                      <a:pt x="200025" y="66675"/>
                    </a:cubicBezTo>
                    <a:lnTo>
                      <a:pt x="200025" y="100012"/>
                    </a:lnTo>
                  </a:path>
                </a:pathLst>
              </a:custGeom>
              <a:noFill/>
              <a:ln w="33338">
                <a:solidFill>
                  <a:srgbClr val="C45F4A"/>
                </a:solidFill>
              </a:ln>
            </p:spPr>
          </p:sp>
          <p:sp>
            <p:nvSpPr>
              <p:cNvPr id="82" name="Freeform 82"/>
              <p:cNvSpPr/>
              <p:nvPr/>
            </p:nvSpPr>
            <p:spPr>
              <a:xfrm>
                <a:off x="6953250" y="4043148"/>
                <a:ext cx="50137" cy="129183"/>
              </a:xfrm>
              <a:custGeom>
                <a:avLst/>
                <a:gdLst/>
                <a:ahLst/>
                <a:cxnLst/>
                <a:rect l="l" t="t" r="r" b="b"/>
                <a:pathLst>
                  <a:path w="50137" h="129183">
                    <a:moveTo>
                      <a:pt x="0" y="0"/>
                    </a:moveTo>
                    <a:cubicBezTo>
                      <a:pt x="29502" y="7554"/>
                      <a:pt x="50137" y="34137"/>
                      <a:pt x="50137" y="64591"/>
                    </a:cubicBezTo>
                    <a:cubicBezTo>
                      <a:pt x="50137" y="95045"/>
                      <a:pt x="29502" y="121629"/>
                      <a:pt x="0" y="129183"/>
                    </a:cubicBezTo>
                  </a:path>
                </a:pathLst>
              </a:custGeom>
              <a:noFill/>
              <a:ln w="33338">
                <a:solidFill>
                  <a:srgbClr val="C45F4A"/>
                </a:solidFill>
              </a:ln>
            </p:spPr>
          </p:sp>
          <p:sp>
            <p:nvSpPr>
              <p:cNvPr id="83" name="Freeform 83"/>
              <p:cNvSpPr/>
              <p:nvPr/>
            </p:nvSpPr>
            <p:spPr>
              <a:xfrm>
                <a:off x="6986588" y="4243507"/>
                <a:ext cx="50006" cy="97512"/>
              </a:xfrm>
              <a:custGeom>
                <a:avLst/>
                <a:gdLst/>
                <a:ahLst/>
                <a:cxnLst/>
                <a:rect l="l" t="t" r="r" b="b"/>
                <a:pathLst>
                  <a:path w="50006" h="97512">
                    <a:moveTo>
                      <a:pt x="50006" y="97512"/>
                    </a:moveTo>
                    <a:lnTo>
                      <a:pt x="50006" y="64175"/>
                    </a:lnTo>
                    <a:cubicBezTo>
                      <a:pt x="49832" y="33914"/>
                      <a:pt x="29301" y="7565"/>
                      <a:pt x="0" y="0"/>
                    </a:cubicBezTo>
                  </a:path>
                </a:pathLst>
              </a:custGeom>
              <a:noFill/>
              <a:ln w="33338">
                <a:solidFill>
                  <a:srgbClr val="C45F4A"/>
                </a:solidFill>
              </a:ln>
            </p:spPr>
          </p:sp>
        </p:grpSp>
        <p:sp>
          <p:nvSpPr>
            <p:cNvPr id="85" name="TextBox 85"/>
            <p:cNvSpPr txBox="1"/>
            <p:nvPr/>
          </p:nvSpPr>
          <p:spPr>
            <a:xfrm>
              <a:off x="7345680" y="3981450"/>
              <a:ext cx="1395432" cy="293370"/>
            </a:xfrm>
            <a:prstGeom prst="rect">
              <a:avLst/>
            </a:prstGeom>
            <a:noFill/>
            <a:ln>
              <a:noFill/>
            </a:ln>
          </p:spPr>
          <p:txBody>
            <a:bodyPr wrap="none" lIns="0" tIns="0" rIns="0" bIns="0" anchor="t" anchorCtr="0">
              <a:spAutoFit/>
            </a:bodyPr>
            <a:lstStyle/>
            <a:p>
              <a:pPr algn="l"/>
              <a:r>
                <a:rPr lang="zh-CN" sz="1500" b="1" dirty="0">
                  <a:solidFill>
                    <a:srgbClr val="1A1A1A"/>
                  </a:solidFill>
                  <a:latin typeface="+mn-lt"/>
                  <a:ea typeface="+mn-ea"/>
                  <a:cs typeface="+mn-cs"/>
                </a:rPr>
                <a:t>精致熟男 17%​</a:t>
              </a:r>
            </a:p>
          </p:txBody>
        </p:sp>
        <p:sp>
          <p:nvSpPr>
            <p:cNvPr id="86" name="TextBox 86"/>
            <p:cNvSpPr txBox="1"/>
            <p:nvPr/>
          </p:nvSpPr>
          <p:spPr>
            <a:xfrm>
              <a:off x="7348347" y="4285774"/>
              <a:ext cx="1850296" cy="190690"/>
            </a:xfrm>
            <a:prstGeom prst="rect">
              <a:avLst/>
            </a:prstGeom>
            <a:noFill/>
            <a:ln>
              <a:noFill/>
            </a:ln>
          </p:spPr>
          <p:txBody>
            <a:bodyPr wrap="none" lIns="0" tIns="0" rIns="0" bIns="0" anchor="t" anchorCtr="0">
              <a:spAutoFit/>
            </a:bodyPr>
            <a:lstStyle/>
            <a:p>
              <a:pPr algn="l"/>
              <a:r>
                <a:rPr lang="zh-CN" sz="980" dirty="0">
                  <a:solidFill>
                    <a:srgbClr val="543E3A"/>
                  </a:solidFill>
                  <a:latin typeface="+mn-lt"/>
                  <a:ea typeface="+mn-ea"/>
                  <a:cs typeface="+mn-cs"/>
                </a:rPr>
                <a:t>1-3线城市，</a:t>
              </a:r>
              <a:r>
                <a:rPr lang="zh-CN" sz="980" dirty="0">
                  <a:solidFill>
                    <a:srgbClr val="E2624C"/>
                  </a:solidFill>
                  <a:latin typeface="+mn-lt"/>
                  <a:ea typeface="+mn-ea"/>
                  <a:cs typeface="+mn-cs"/>
                </a:rPr>
                <a:t>中购买力</a:t>
              </a:r>
              <a:r>
                <a:rPr lang="zh-CN" sz="980" dirty="0">
                  <a:solidFill>
                    <a:srgbClr val="543E3A"/>
                  </a:solidFill>
                  <a:latin typeface="+mn-lt"/>
                  <a:ea typeface="+mn-ea"/>
                  <a:cs typeface="+mn-cs"/>
                </a:rPr>
                <a:t>35-40岁​</a:t>
              </a:r>
            </a:p>
          </p:txBody>
        </p:sp>
        <p:sp>
          <p:nvSpPr>
            <p:cNvPr id="87" name="Freeform 87"/>
            <p:cNvSpPr/>
            <p:nvPr/>
          </p:nvSpPr>
          <p:spPr>
            <a:xfrm rot="10800000">
              <a:off x="10144125" y="4143375"/>
              <a:ext cx="1095375" cy="266700"/>
            </a:xfrm>
            <a:prstGeom prst="homePlate">
              <a:avLst>
                <a:gd name="adj" fmla="val 45000"/>
              </a:avLst>
            </a:prstGeom>
            <a:solidFill>
              <a:srgbClr val="C45F4A"/>
            </a:solidFill>
            <a:ln>
              <a:noFill/>
            </a:ln>
          </p:spPr>
        </p:sp>
        <p:sp>
          <p:nvSpPr>
            <p:cNvPr id="88" name="TextBox 88"/>
            <p:cNvSpPr txBox="1"/>
            <p:nvPr/>
          </p:nvSpPr>
          <p:spPr>
            <a:xfrm>
              <a:off x="10465867" y="42190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精致理容</a:t>
              </a:r>
            </a:p>
          </p:txBody>
        </p:sp>
        <p:sp>
          <p:nvSpPr>
            <p:cNvPr id="89" name="TextBox 89"/>
            <p:cNvSpPr txBox="1"/>
            <p:nvPr/>
          </p:nvSpPr>
          <p:spPr>
            <a:xfrm>
              <a:off x="6662738" y="4613672"/>
              <a:ext cx="588775"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生活方式:</a:t>
              </a:r>
            </a:p>
          </p:txBody>
        </p:sp>
        <p:sp>
          <p:nvSpPr>
            <p:cNvPr id="90" name="TextBox 90"/>
            <p:cNvSpPr txBox="1"/>
            <p:nvPr/>
          </p:nvSpPr>
          <p:spPr>
            <a:xfrm>
              <a:off x="6662738" y="4827270"/>
              <a:ext cx="34385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543E3A"/>
                  </a:solidFill>
                  <a:latin typeface="+mn-lt"/>
                  <a:ea typeface="+mn-ea"/>
                  <a:cs typeface="+mn-cs"/>
                </a:rPr>
                <a:t>生活品质要求高，愿意为体验感和高级感买单。爱运动，重保养，有</a:t>
              </a:r>
              <a:br/>
              <a:r>
                <a:rPr lang="zh-CN" sz="900" dirty="0">
                  <a:solidFill>
                    <a:srgbClr val="543E3A"/>
                  </a:solidFill>
                  <a:latin typeface="+mn-lt"/>
                  <a:ea typeface="+mn-ea"/>
                  <a:cs typeface="+mn-cs"/>
                </a:rPr>
                <a:t>品位，保健品，咖啡和酒类产品消费突出理容意识强。</a:t>
              </a:r>
            </a:p>
          </p:txBody>
        </p:sp>
        <p:sp>
          <p:nvSpPr>
            <p:cNvPr id="91" name="TextBox 91"/>
            <p:cNvSpPr txBox="1"/>
            <p:nvPr/>
          </p:nvSpPr>
          <p:spPr>
            <a:xfrm>
              <a:off x="6662738" y="5375672"/>
              <a:ext cx="588775"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消费偏好:</a:t>
              </a:r>
            </a:p>
          </p:txBody>
        </p:sp>
        <p:sp>
          <p:nvSpPr>
            <p:cNvPr id="92" name="Rectangle 92"/>
            <p:cNvSpPr/>
            <p:nvPr/>
          </p:nvSpPr>
          <p:spPr>
            <a:xfrm>
              <a:off x="6667500" y="5600700"/>
              <a:ext cx="647700" cy="209550"/>
            </a:xfrm>
            <a:prstGeom prst="roundRect">
              <a:avLst>
                <a:gd name="adj" fmla="val 13636"/>
              </a:avLst>
            </a:prstGeom>
            <a:solidFill>
              <a:srgbClr val="E8EBF8"/>
            </a:solidFill>
            <a:ln>
              <a:noFill/>
            </a:ln>
          </p:spPr>
        </p:sp>
        <p:sp>
          <p:nvSpPr>
            <p:cNvPr id="93" name="TextBox 93"/>
            <p:cNvSpPr txBox="1"/>
            <p:nvPr/>
          </p:nvSpPr>
          <p:spPr>
            <a:xfrm>
              <a:off x="6765811" y="5664041"/>
              <a:ext cx="451079"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高端产品</a:t>
              </a:r>
            </a:p>
          </p:txBody>
        </p:sp>
        <p:sp>
          <p:nvSpPr>
            <p:cNvPr id="94" name="Rectangle 94"/>
            <p:cNvSpPr/>
            <p:nvPr/>
          </p:nvSpPr>
          <p:spPr>
            <a:xfrm>
              <a:off x="7448550" y="5600700"/>
              <a:ext cx="552450" cy="209550"/>
            </a:xfrm>
            <a:prstGeom prst="roundRect">
              <a:avLst>
                <a:gd name="adj" fmla="val 13636"/>
              </a:avLst>
            </a:prstGeom>
            <a:solidFill>
              <a:srgbClr val="E8EBF8"/>
            </a:solidFill>
            <a:ln>
              <a:noFill/>
            </a:ln>
          </p:spPr>
        </p:sp>
        <p:sp>
          <p:nvSpPr>
            <p:cNvPr id="95" name="TextBox 95"/>
            <p:cNvSpPr txBox="1"/>
            <p:nvPr/>
          </p:nvSpPr>
          <p:spPr>
            <a:xfrm>
              <a:off x="7554430" y="5664041"/>
              <a:ext cx="340690"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重体验</a:t>
              </a:r>
            </a:p>
          </p:txBody>
        </p:sp>
        <p:sp>
          <p:nvSpPr>
            <p:cNvPr id="96" name="Rectangle 96"/>
            <p:cNvSpPr/>
            <p:nvPr/>
          </p:nvSpPr>
          <p:spPr>
            <a:xfrm>
              <a:off x="8134350" y="5600700"/>
              <a:ext cx="647700" cy="209550"/>
            </a:xfrm>
            <a:prstGeom prst="roundRect">
              <a:avLst>
                <a:gd name="adj" fmla="val 13636"/>
              </a:avLst>
            </a:prstGeom>
            <a:solidFill>
              <a:srgbClr val="E8EBF8"/>
            </a:solidFill>
            <a:ln>
              <a:noFill/>
            </a:ln>
          </p:spPr>
        </p:sp>
        <p:sp>
          <p:nvSpPr>
            <p:cNvPr id="97" name="TextBox 97"/>
            <p:cNvSpPr txBox="1"/>
            <p:nvPr/>
          </p:nvSpPr>
          <p:spPr>
            <a:xfrm>
              <a:off x="8232661" y="5664041"/>
              <a:ext cx="451079"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皮肤抗老</a:t>
              </a:r>
            </a:p>
          </p:txBody>
        </p:sp>
        <p:sp>
          <p:nvSpPr>
            <p:cNvPr id="98" name="Rectangle 98"/>
            <p:cNvSpPr/>
            <p:nvPr/>
          </p:nvSpPr>
          <p:spPr>
            <a:xfrm>
              <a:off x="8915400" y="5600700"/>
              <a:ext cx="647700" cy="209550"/>
            </a:xfrm>
            <a:prstGeom prst="roundRect">
              <a:avLst>
                <a:gd name="adj" fmla="val 13636"/>
              </a:avLst>
            </a:prstGeom>
            <a:solidFill>
              <a:srgbClr val="E8EBF8"/>
            </a:solidFill>
            <a:ln>
              <a:noFill/>
            </a:ln>
          </p:spPr>
        </p:sp>
        <p:sp>
          <p:nvSpPr>
            <p:cNvPr id="99" name="TextBox 99"/>
            <p:cNvSpPr txBox="1"/>
            <p:nvPr/>
          </p:nvSpPr>
          <p:spPr>
            <a:xfrm>
              <a:off x="9013711" y="5664041"/>
              <a:ext cx="451079" cy="161925"/>
            </a:xfrm>
            <a:prstGeom prst="rect">
              <a:avLst/>
            </a:prstGeom>
            <a:noFill/>
            <a:ln>
              <a:noFill/>
            </a:ln>
          </p:spPr>
          <p:txBody>
            <a:bodyPr wrap="none" lIns="0" tIns="0" rIns="0" bIns="0" anchor="t" anchorCtr="0">
              <a:spAutoFit/>
            </a:bodyPr>
            <a:lstStyle/>
            <a:p>
              <a:pPr algn="ctr"/>
              <a:r>
                <a:rPr lang="zh-CN" sz="820" dirty="0">
                  <a:solidFill>
                    <a:srgbClr val="C45F4A"/>
                  </a:solidFill>
                  <a:latin typeface="+mn-lt"/>
                  <a:ea typeface="+mn-ea"/>
                  <a:cs typeface="+mn-cs"/>
                </a:rPr>
                <a:t>头发防脱</a:t>
              </a:r>
            </a:p>
          </p:txBody>
        </p:sp>
      </p:gr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55</a:t>
              </a:r>
            </a:p>
          </p:txBody>
        </p:sp>
        <p:sp>
          <p:nvSpPr>
            <p:cNvPr id="4" name="TextBox 4"/>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用户画像（三类）​</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51" name="persona-1"/>
          <p:cNvGrpSpPr/>
          <p:nvPr/>
        </p:nvGrpSpPr>
        <p:grpSpPr>
          <a:xfrm>
            <a:off x="381000" y="904875"/>
            <a:ext cx="3619500" cy="4762500"/>
            <a:chOff x="381000" y="904875"/>
            <a:chExt cx="3619500" cy="4762500"/>
          </a:xfrm>
        </p:grpSpPr>
        <p:sp>
          <p:nvSpPr>
            <p:cNvPr id="7" name="Rectangle 7"/>
            <p:cNvSpPr/>
            <p:nvPr/>
          </p:nvSpPr>
          <p:spPr>
            <a:xfrm>
              <a:off x="381000" y="904875"/>
              <a:ext cx="3619500" cy="4762500"/>
            </a:xfrm>
            <a:prstGeom prst="roundRect">
              <a:avLst>
                <a:gd name="adj" fmla="val 3158"/>
              </a:avLst>
            </a:prstGeom>
            <a:solidFill>
              <a:srgbClr val="FFFFFF"/>
            </a:solidFill>
            <a:ln>
              <a:noFill/>
            </a:ln>
            <a:effectLst>
              <a:outerShdw blurRad="152400" dist="57150" dir="5400000" algn="ctr" rotWithShape="0">
                <a:srgbClr val="C45F4A">
                  <a:alpha val="7500"/>
                </a:srgbClr>
              </a:outerShdw>
            </a:effectLst>
          </p:spPr>
        </p:sp>
        <p:sp>
          <p:nvSpPr>
            <p:cNvPr id="8" name="TextBox 8"/>
            <p:cNvSpPr txBox="1"/>
            <p:nvPr/>
          </p:nvSpPr>
          <p:spPr>
            <a:xfrm>
              <a:off x="564642" y="1121092"/>
              <a:ext cx="1467612"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mn-lt"/>
                  <a:ea typeface="+mn-ea"/>
                  <a:cs typeface="+mn-cs"/>
                </a:rPr>
                <a:t>享受生活的单身族</a:t>
              </a:r>
            </a:p>
          </p:txBody>
        </p:sp>
        <p:sp>
          <p:nvSpPr>
            <p:cNvPr id="9" name="TextBox 9"/>
            <p:cNvSpPr txBox="1"/>
            <p:nvPr/>
          </p:nvSpPr>
          <p:spPr>
            <a:xfrm>
              <a:off x="3287230" y="1134428"/>
              <a:ext cx="166154" cy="205359"/>
            </a:xfrm>
            <a:prstGeom prst="rect">
              <a:avLst/>
            </a:prstGeom>
            <a:noFill/>
            <a:ln>
              <a:noFill/>
            </a:ln>
          </p:spPr>
          <p:txBody>
            <a:bodyPr wrap="none" lIns="0" tIns="0" rIns="0" bIns="0" anchor="t" anchorCtr="0">
              <a:spAutoFit/>
            </a:bodyPr>
            <a:lstStyle/>
            <a:p>
              <a:pPr algn="r"/>
              <a:r>
                <a:rPr lang="zh-CN" sz="1050" i="1" dirty="0">
                  <a:solidFill>
                    <a:srgbClr val="E08C7B"/>
                  </a:solidFill>
                  <a:latin typeface="+mn-lt"/>
                  <a:ea typeface="+mn-ea"/>
                  <a:cs typeface="+mn-cs"/>
                </a:rPr>
                <a:t>01</a:t>
              </a:r>
            </a:p>
          </p:txBody>
        </p:sp>
        <p:sp>
          <p:nvSpPr>
            <p:cNvPr id="10" name="Polygon 10"/>
            <p:cNvSpPr/>
            <p:nvPr/>
          </p:nvSpPr>
          <p:spPr>
            <a:xfrm>
              <a:off x="3543300" y="1152525"/>
              <a:ext cx="76200" cy="95250"/>
            </a:xfrm>
            <a:custGeom>
              <a:avLst/>
              <a:gdLst/>
              <a:ahLst/>
              <a:cxnLst/>
              <a:rect l="l" t="t" r="r" b="b"/>
              <a:pathLst>
                <a:path w="76200" h="95250">
                  <a:moveTo>
                    <a:pt x="0" y="0"/>
                  </a:moveTo>
                  <a:lnTo>
                    <a:pt x="76200" y="47625"/>
                  </a:lnTo>
                  <a:lnTo>
                    <a:pt x="0" y="95250"/>
                  </a:lnTo>
                  <a:close/>
                </a:path>
              </a:pathLst>
            </a:custGeom>
            <a:solidFill>
              <a:srgbClr val="E08C7B"/>
            </a:solidFill>
            <a:ln>
              <a:noFill/>
            </a:ln>
          </p:spPr>
        </p:sp>
        <p:sp>
          <p:nvSpPr>
            <p:cNvPr id="11" name="Polygon 11"/>
            <p:cNvSpPr/>
            <p:nvPr/>
          </p:nvSpPr>
          <p:spPr>
            <a:xfrm>
              <a:off x="3657600" y="1152525"/>
              <a:ext cx="76200" cy="95250"/>
            </a:xfrm>
            <a:custGeom>
              <a:avLst/>
              <a:gdLst/>
              <a:ahLst/>
              <a:cxnLst/>
              <a:rect l="l" t="t" r="r" b="b"/>
              <a:pathLst>
                <a:path w="76200" h="95250">
                  <a:moveTo>
                    <a:pt x="0" y="0"/>
                  </a:moveTo>
                  <a:lnTo>
                    <a:pt x="76200" y="47625"/>
                  </a:lnTo>
                  <a:lnTo>
                    <a:pt x="0" y="95250"/>
                  </a:lnTo>
                  <a:close/>
                </a:path>
              </a:pathLst>
            </a:custGeom>
            <a:solidFill>
              <a:srgbClr val="E08C7B"/>
            </a:solidFill>
            <a:ln>
              <a:noFill/>
            </a:ln>
          </p:spPr>
        </p:sp>
        <p:sp>
          <p:nvSpPr>
            <p:cNvPr id="12" name="Rectangle 12"/>
            <p:cNvSpPr/>
            <p:nvPr/>
          </p:nvSpPr>
          <p:spPr>
            <a:xfrm>
              <a:off x="495300" y="1457325"/>
              <a:ext cx="3390900" cy="1162050"/>
            </a:xfrm>
            <a:prstGeom prst="roundRect">
              <a:avLst>
                <a:gd name="adj" fmla="val 8197"/>
              </a:avLst>
            </a:prstGeom>
            <a:gradFill>
              <a:gsLst>
                <a:gs pos="0">
                  <a:srgbClr val="D87E6B"/>
                </a:gs>
                <a:gs pos="100000">
                  <a:srgbClr val="C45F4A"/>
                </a:gs>
              </a:gsLst>
              <a:lin ang="2700000" scaled="1"/>
            </a:gradFill>
            <a:ln>
              <a:noFill/>
            </a:ln>
          </p:spPr>
        </p:sp>
        <p:sp>
          <p:nvSpPr>
            <p:cNvPr id="13" name="Rectangle 13"/>
            <p:cNvSpPr/>
            <p:nvPr/>
          </p:nvSpPr>
          <p:spPr>
            <a:xfrm>
              <a:off x="647700" y="1571625"/>
              <a:ext cx="781050" cy="190500"/>
            </a:xfrm>
            <a:prstGeom prst="roundRect">
              <a:avLst>
                <a:gd name="adj" fmla="val 50000"/>
              </a:avLst>
            </a:prstGeom>
            <a:solidFill>
              <a:srgbClr val="F07E6A"/>
            </a:solidFill>
            <a:ln>
              <a:noFill/>
            </a:ln>
          </p:spPr>
        </p:sp>
        <p:sp>
          <p:nvSpPr>
            <p:cNvPr id="14" name="TextBox 14"/>
            <p:cNvSpPr txBox="1"/>
            <p:nvPr/>
          </p:nvSpPr>
          <p:spPr>
            <a:xfrm>
              <a:off x="787020" y="1615916"/>
              <a:ext cx="50240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20-35岁​</a:t>
              </a:r>
            </a:p>
          </p:txBody>
        </p:sp>
        <p:sp>
          <p:nvSpPr>
            <p:cNvPr id="15" name="TextBox 15"/>
            <p:cNvSpPr txBox="1"/>
            <p:nvPr/>
          </p:nvSpPr>
          <p:spPr>
            <a:xfrm>
              <a:off x="642938" y="1863566"/>
              <a:ext cx="1524762" cy="590550"/>
            </a:xfrm>
            <a:prstGeom prst="rect">
              <a:avLst/>
            </a:prstGeom>
            <a:noFill/>
            <a:ln>
              <a:noFill/>
            </a:ln>
          </p:spPr>
          <p:txBody>
            <a:bodyPr wrap="none" lIns="0" tIns="0" rIns="0" bIns="0" anchor="t" anchorCtr="0">
              <a:spAutoFit/>
            </a:bodyPr>
            <a:lstStyle/>
            <a:p>
              <a:pPr algn="l">
                <a:lnSpc>
                  <a:spcPts val="1125"/>
                </a:lnSpc>
              </a:pPr>
              <a:r>
                <a:rPr lang="zh-CN" sz="820" dirty="0">
                  <a:solidFill>
                    <a:srgbClr val="FFFFFF"/>
                  </a:solidFill>
                  <a:latin typeface="+mn-lt"/>
                  <a:ea typeface="+mn-ea"/>
                  <a:cs typeface="+mn-cs"/>
                </a:rPr>
                <a:t>学生党或职场新秀;关注自身，活</a:t>
              </a:r>
              <a:br/>
              <a:r>
                <a:rPr lang="zh-CN" sz="820" dirty="0">
                  <a:solidFill>
                    <a:srgbClr val="FFFFFF"/>
                  </a:solidFill>
                  <a:latin typeface="+mn-lt"/>
                  <a:ea typeface="+mn-ea"/>
                  <a:cs typeface="+mn-cs"/>
                </a:rPr>
                <a:t>在当下，乐于尝试新鲜事物，重</a:t>
              </a:r>
              <a:br/>
              <a:r>
                <a:rPr lang="zh-CN" sz="820" dirty="0">
                  <a:solidFill>
                    <a:srgbClr val="FFFFFF"/>
                  </a:solidFill>
                  <a:latin typeface="+mn-lt"/>
                  <a:ea typeface="+mn-ea"/>
                  <a:cs typeface="+mn-cs"/>
                </a:rPr>
                <a:t>视社交;运动主力人群，以“运动</a:t>
              </a:r>
              <a:br/>
              <a:r>
                <a:rPr lang="zh-CN" sz="820" dirty="0">
                  <a:solidFill>
                    <a:srgbClr val="FFFFFF"/>
                  </a:solidFill>
                  <a:latin typeface="+mn-lt"/>
                  <a:ea typeface="+mn-ea"/>
                  <a:cs typeface="+mn-cs"/>
                </a:rPr>
                <a:t>会友”</a:t>
              </a:r>
            </a:p>
          </p:txBody>
        </p:sp>
        <p:sp>
          <p:nvSpPr>
            <p:cNvPr id="16" name="Rectangle 16"/>
            <p:cNvSpPr/>
            <p:nvPr/>
          </p:nvSpPr>
          <p:spPr>
            <a:xfrm>
              <a:off x="2667000" y="1533525"/>
              <a:ext cx="1009650" cy="1009650"/>
            </a:xfrm>
            <a:prstGeom prst="roundRect">
              <a:avLst>
                <a:gd name="adj" fmla="val 9434"/>
              </a:avLst>
            </a:prstGeom>
            <a:solidFill>
              <a:srgbClr val="E8EBF8"/>
            </a:solidFill>
            <a:ln>
              <a:noFill/>
            </a:ln>
          </p:spPr>
        </p:sp>
        <p:grpSp>
          <p:nvGrpSpPr>
            <p:cNvPr id="21" name="Group 21"/>
            <p:cNvGrpSpPr/>
            <p:nvPr/>
          </p:nvGrpSpPr>
          <p:grpSpPr>
            <a:xfrm>
              <a:off x="2957512" y="1824038"/>
              <a:ext cx="428625" cy="428625"/>
              <a:chOff x="2957512" y="1824038"/>
              <a:chExt cx="428625" cy="428625"/>
            </a:xfrm>
          </p:grpSpPr>
          <p:sp>
            <p:nvSpPr>
              <p:cNvPr id="17" name="Freeform 17"/>
              <p:cNvSpPr/>
              <p:nvPr/>
            </p:nvSpPr>
            <p:spPr>
              <a:xfrm>
                <a:off x="3005138" y="1824038"/>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47625">
                <a:solidFill>
                  <a:srgbClr val="C45F4A"/>
                </a:solidFill>
              </a:ln>
            </p:spPr>
          </p:sp>
          <p:sp>
            <p:nvSpPr>
              <p:cNvPr id="18" name="Freeform 18"/>
              <p:cNvSpPr/>
              <p:nvPr/>
            </p:nvSpPr>
            <p:spPr>
              <a:xfrm>
                <a:off x="2957512" y="2109788"/>
                <a:ext cx="285750" cy="142875"/>
              </a:xfrm>
              <a:custGeom>
                <a:avLst/>
                <a:gdLst/>
                <a:ahLst/>
                <a:cxnLst/>
                <a:rect l="l" t="t" r="r" b="b"/>
                <a:pathLst>
                  <a:path w="285750" h="142875">
                    <a:moveTo>
                      <a:pt x="0" y="142875"/>
                    </a:moveTo>
                    <a:lnTo>
                      <a:pt x="0" y="95250"/>
                    </a:lnTo>
                    <a:cubicBezTo>
                      <a:pt x="0" y="42645"/>
                      <a:pt x="42645" y="0"/>
                      <a:pt x="95250" y="0"/>
                    </a:cubicBezTo>
                    <a:lnTo>
                      <a:pt x="190500" y="0"/>
                    </a:lnTo>
                    <a:cubicBezTo>
                      <a:pt x="243105" y="0"/>
                      <a:pt x="285750" y="42645"/>
                      <a:pt x="285750" y="95250"/>
                    </a:cubicBezTo>
                    <a:lnTo>
                      <a:pt x="285750" y="142875"/>
                    </a:lnTo>
                  </a:path>
                </a:pathLst>
              </a:custGeom>
              <a:noFill/>
              <a:ln w="47625">
                <a:solidFill>
                  <a:srgbClr val="C45F4A"/>
                </a:solidFill>
              </a:ln>
            </p:spPr>
          </p:sp>
          <p:sp>
            <p:nvSpPr>
              <p:cNvPr id="19" name="Freeform 19"/>
              <p:cNvSpPr/>
              <p:nvPr/>
            </p:nvSpPr>
            <p:spPr>
              <a:xfrm>
                <a:off x="3267075" y="1827133"/>
                <a:ext cx="71624" cy="184547"/>
              </a:xfrm>
              <a:custGeom>
                <a:avLst/>
                <a:gdLst/>
                <a:ahLst/>
                <a:cxnLst/>
                <a:rect l="l" t="t" r="r" b="b"/>
                <a:pathLst>
                  <a:path w="71624" h="184547">
                    <a:moveTo>
                      <a:pt x="0" y="0"/>
                    </a:moveTo>
                    <a:cubicBezTo>
                      <a:pt x="42146" y="10791"/>
                      <a:pt x="71624" y="48768"/>
                      <a:pt x="71624" y="92273"/>
                    </a:cubicBezTo>
                    <a:cubicBezTo>
                      <a:pt x="71624" y="135779"/>
                      <a:pt x="42146" y="173756"/>
                      <a:pt x="0" y="184547"/>
                    </a:cubicBezTo>
                  </a:path>
                </a:pathLst>
              </a:custGeom>
              <a:noFill/>
              <a:ln w="47625">
                <a:solidFill>
                  <a:srgbClr val="C45F4A"/>
                </a:solidFill>
              </a:ln>
            </p:spPr>
          </p:sp>
          <p:sp>
            <p:nvSpPr>
              <p:cNvPr id="20" name="Freeform 20"/>
              <p:cNvSpPr/>
              <p:nvPr/>
            </p:nvSpPr>
            <p:spPr>
              <a:xfrm>
                <a:off x="3314700" y="2113359"/>
                <a:ext cx="71437" cy="139303"/>
              </a:xfrm>
              <a:custGeom>
                <a:avLst/>
                <a:gdLst/>
                <a:ahLst/>
                <a:cxnLst/>
                <a:rect l="l" t="t" r="r" b="b"/>
                <a:pathLst>
                  <a:path w="71437" h="139303">
                    <a:moveTo>
                      <a:pt x="71437" y="139303"/>
                    </a:moveTo>
                    <a:lnTo>
                      <a:pt x="71437" y="91678"/>
                    </a:lnTo>
                    <a:cubicBezTo>
                      <a:pt x="71189" y="48448"/>
                      <a:pt x="41858" y="10807"/>
                      <a:pt x="0" y="0"/>
                    </a:cubicBezTo>
                  </a:path>
                </a:pathLst>
              </a:custGeom>
              <a:noFill/>
              <a:ln w="47625">
                <a:solidFill>
                  <a:srgbClr val="C45F4A"/>
                </a:solidFill>
              </a:ln>
            </p:spPr>
          </p:sp>
        </p:grpSp>
        <p:sp>
          <p:nvSpPr>
            <p:cNvPr id="22" name="Rectangle 22"/>
            <p:cNvSpPr/>
            <p:nvPr/>
          </p:nvSpPr>
          <p:spPr>
            <a:xfrm>
              <a:off x="571500" y="2809875"/>
              <a:ext cx="1257300" cy="247650"/>
            </a:xfrm>
            <a:prstGeom prst="roundRect">
              <a:avLst>
                <a:gd name="adj" fmla="val 11538"/>
              </a:avLst>
            </a:prstGeom>
            <a:solidFill>
              <a:srgbClr val="E8634C"/>
            </a:solidFill>
            <a:ln>
              <a:noFill/>
            </a:ln>
          </p:spPr>
        </p:sp>
        <p:grpSp>
          <p:nvGrpSpPr>
            <p:cNvPr id="27" name="Group 27"/>
            <p:cNvGrpSpPr/>
            <p:nvPr/>
          </p:nvGrpSpPr>
          <p:grpSpPr>
            <a:xfrm>
              <a:off x="666750" y="2882900"/>
              <a:ext cx="114300" cy="111125"/>
              <a:chOff x="666750" y="2882900"/>
              <a:chExt cx="114300" cy="111125"/>
            </a:xfrm>
          </p:grpSpPr>
          <p:sp>
            <p:nvSpPr>
              <p:cNvPr id="23" name="Freeform 23"/>
              <p:cNvSpPr/>
              <p:nvPr/>
            </p:nvSpPr>
            <p:spPr>
              <a:xfrm>
                <a:off x="666750" y="29337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FFFFFF"/>
                </a:solidFill>
              </a:ln>
            </p:spPr>
          </p:sp>
          <p:sp>
            <p:nvSpPr>
              <p:cNvPr id="24" name="Freeform 24"/>
              <p:cNvSpPr/>
              <p:nvPr/>
            </p:nvSpPr>
            <p:spPr>
              <a:xfrm>
                <a:off x="742950" y="29083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FFFFFF"/>
                </a:solidFill>
              </a:ln>
            </p:spPr>
          </p:sp>
          <p:sp>
            <p:nvSpPr>
              <p:cNvPr id="25" name="Freeform 25"/>
              <p:cNvSpPr/>
              <p:nvPr/>
            </p:nvSpPr>
            <p:spPr>
              <a:xfrm>
                <a:off x="704850" y="28829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FFFFFF"/>
                </a:solidFill>
              </a:ln>
            </p:spPr>
          </p:sp>
          <p:sp>
            <p:nvSpPr>
              <p:cNvPr id="26" name="Freeform 26"/>
              <p:cNvSpPr/>
              <p:nvPr/>
            </p:nvSpPr>
            <p:spPr>
              <a:xfrm>
                <a:off x="673100" y="2984500"/>
                <a:ext cx="88900" cy="9525"/>
              </a:xfrm>
              <a:custGeom>
                <a:avLst/>
                <a:gdLst/>
                <a:ahLst/>
                <a:cxnLst/>
                <a:rect l="l" t="t" r="r" b="b"/>
                <a:pathLst>
                  <a:path w="88900" h="9525">
                    <a:moveTo>
                      <a:pt x="0" y="0"/>
                    </a:moveTo>
                    <a:lnTo>
                      <a:pt x="88900" y="0"/>
                    </a:lnTo>
                  </a:path>
                </a:pathLst>
              </a:custGeom>
              <a:noFill/>
              <a:ln w="12700">
                <a:solidFill>
                  <a:srgbClr val="FFFFFF"/>
                </a:solidFill>
              </a:ln>
            </p:spPr>
          </p:sp>
        </p:grpSp>
        <p:sp>
          <p:nvSpPr>
            <p:cNvPr id="28" name="TextBox 28"/>
            <p:cNvSpPr txBox="1"/>
            <p:nvPr/>
          </p:nvSpPr>
          <p:spPr>
            <a:xfrm>
              <a:off x="852297" y="2876074"/>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产品需求场景</a:t>
              </a:r>
            </a:p>
          </p:txBody>
        </p:sp>
        <p:sp>
          <p:nvSpPr>
            <p:cNvPr id="29" name="TextBox 29"/>
            <p:cNvSpPr txBox="1"/>
            <p:nvPr/>
          </p:nvSpPr>
          <p:spPr>
            <a:xfrm>
              <a:off x="661988" y="3173968"/>
              <a:ext cx="2248535" cy="531019"/>
            </a:xfrm>
            <a:prstGeom prst="rect">
              <a:avLst/>
            </a:prstGeom>
            <a:noFill/>
            <a:ln>
              <a:noFill/>
            </a:ln>
          </p:spPr>
          <p:txBody>
            <a:bodyPr wrap="none" lIns="0" tIns="0" rIns="0" bIns="0" anchor="t" anchorCtr="0">
              <a:spAutoFit/>
            </a:bodyPr>
            <a:lstStyle/>
            <a:p>
              <a:pPr algn="l" marL="92837" indent="-92837">
                <a:lnSpc>
                  <a:spcPts val="1350"/>
                </a:lnSpc>
                <a:buClr>
                  <a:srgbClr val="543E3A"/>
                </a:buClr>
                <a:buSzTx/>
                <a:buFontTx/>
                <a:buChar char="•"/>
              </a:pPr>
              <a:r>
                <a:rPr lang="zh-CN" sz="860" dirty="0">
                  <a:solidFill>
                    <a:srgbClr val="543E3A"/>
                  </a:solidFill>
                  <a:latin typeface="+mn-lt"/>
                  <a:ea typeface="+mn-ea"/>
                  <a:cs typeface="+mn-cs"/>
                </a:rPr>
                <a:t>[急性损伤]:运动损伤;</a:t>
              </a:r>
            </a:p>
            <a:p>
              <a:pPr algn="l" marL="92837" indent="-92837">
                <a:lnSpc>
                  <a:spcPts val="1350"/>
                </a:lnSpc>
                <a:spcBef>
                  <a:spcPts val="150"/>
                </a:spcBef>
                <a:buClr>
                  <a:srgbClr val="543E3A"/>
                </a:buClr>
                <a:buSzTx/>
                <a:buFontTx/>
                <a:buChar char="•"/>
              </a:pPr>
              <a:r>
                <a:rPr lang="zh-CN" sz="860" dirty="0">
                  <a:solidFill>
                    <a:srgbClr val="543E3A"/>
                  </a:solidFill>
                  <a:latin typeface="+mn-lt"/>
                  <a:ea typeface="+mn-ea"/>
                  <a:cs typeface="+mn-cs"/>
                </a:rPr>
                <a:t>[慢性损伤]:部分职场新秀因工作、生活习惯</a:t>
              </a:r>
              <a:br/>
              <a:r>
                <a:rPr lang="zh-CN" sz="860" dirty="0">
                  <a:solidFill>
                    <a:srgbClr val="543E3A"/>
                  </a:solidFill>
                  <a:latin typeface="+mn-lt"/>
                  <a:ea typeface="+mn-ea"/>
                  <a:cs typeface="+mn-cs"/>
                </a:rPr>
                <a:t>习惯等原因开始出现腰、颈部伤痛问题;</a:t>
              </a:r>
            </a:p>
          </p:txBody>
        </p:sp>
        <p:sp>
          <p:nvSpPr>
            <p:cNvPr id="30" name="Rectangle 30"/>
            <p:cNvSpPr/>
            <p:nvPr/>
          </p:nvSpPr>
          <p:spPr>
            <a:xfrm>
              <a:off x="571500" y="3857625"/>
              <a:ext cx="990600" cy="247650"/>
            </a:xfrm>
            <a:prstGeom prst="roundRect">
              <a:avLst>
                <a:gd name="adj" fmla="val 11538"/>
              </a:avLst>
            </a:prstGeom>
            <a:solidFill>
              <a:srgbClr val="E8634C"/>
            </a:solidFill>
            <a:ln>
              <a:noFill/>
            </a:ln>
          </p:spPr>
        </p:sp>
        <p:grpSp>
          <p:nvGrpSpPr>
            <p:cNvPr id="35" name="Group 35"/>
            <p:cNvGrpSpPr/>
            <p:nvPr/>
          </p:nvGrpSpPr>
          <p:grpSpPr>
            <a:xfrm>
              <a:off x="679450" y="3930650"/>
              <a:ext cx="95250" cy="107950"/>
              <a:chOff x="679450" y="3930650"/>
              <a:chExt cx="95250" cy="107950"/>
            </a:xfrm>
          </p:grpSpPr>
          <p:sp>
            <p:nvSpPr>
              <p:cNvPr id="31" name="Freeform 31"/>
              <p:cNvSpPr/>
              <p:nvPr/>
            </p:nvSpPr>
            <p:spPr>
              <a:xfrm>
                <a:off x="679450" y="393065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FFFFFF"/>
                </a:solidFill>
              </a:ln>
            </p:spPr>
          </p:sp>
          <p:sp>
            <p:nvSpPr>
              <p:cNvPr id="32" name="Freeform 32"/>
              <p:cNvSpPr/>
              <p:nvPr/>
            </p:nvSpPr>
            <p:spPr>
              <a:xfrm>
                <a:off x="736600" y="401320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sp>
            <p:nvSpPr>
              <p:cNvPr id="33" name="Freeform 33"/>
              <p:cNvSpPr/>
              <p:nvPr/>
            </p:nvSpPr>
            <p:spPr>
              <a:xfrm>
                <a:off x="704850" y="3956050"/>
                <a:ext cx="25400" cy="9525"/>
              </a:xfrm>
              <a:custGeom>
                <a:avLst/>
                <a:gdLst/>
                <a:ahLst/>
                <a:cxnLst/>
                <a:rect l="l" t="t" r="r" b="b"/>
                <a:pathLst>
                  <a:path w="25400" h="9525">
                    <a:moveTo>
                      <a:pt x="0" y="0"/>
                    </a:moveTo>
                    <a:lnTo>
                      <a:pt x="25400" y="0"/>
                    </a:lnTo>
                  </a:path>
                </a:pathLst>
              </a:custGeom>
              <a:noFill/>
              <a:ln w="12700">
                <a:solidFill>
                  <a:srgbClr val="FFFFFF"/>
                </a:solidFill>
              </a:ln>
            </p:spPr>
          </p:sp>
          <p:sp>
            <p:nvSpPr>
              <p:cNvPr id="34" name="Freeform 34"/>
              <p:cNvSpPr/>
              <p:nvPr/>
            </p:nvSpPr>
            <p:spPr>
              <a:xfrm>
                <a:off x="704850" y="3981450"/>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36" name="TextBox 36"/>
            <p:cNvSpPr txBox="1"/>
            <p:nvPr/>
          </p:nvSpPr>
          <p:spPr>
            <a:xfrm>
              <a:off x="852297" y="3923824"/>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行为偏好</a:t>
              </a:r>
            </a:p>
          </p:txBody>
        </p:sp>
        <p:sp>
          <p:nvSpPr>
            <p:cNvPr id="37" name="Ellipse 37"/>
            <p:cNvSpPr/>
            <p:nvPr/>
          </p:nvSpPr>
          <p:spPr>
            <a:xfrm>
              <a:off x="681038" y="4291012"/>
              <a:ext cx="47625" cy="47625"/>
            </a:xfrm>
            <a:prstGeom prst="ellipse">
              <a:avLst/>
            </a:prstGeom>
            <a:solidFill>
              <a:srgbClr val="C46D5B"/>
            </a:solidFill>
            <a:ln>
              <a:noFill/>
            </a:ln>
          </p:spPr>
        </p:sp>
        <p:sp>
          <p:nvSpPr>
            <p:cNvPr id="38" name="TextBox 38"/>
            <p:cNvSpPr txBox="1"/>
            <p:nvPr/>
          </p:nvSpPr>
          <p:spPr>
            <a:xfrm>
              <a:off x="795338" y="4259818"/>
              <a:ext cx="472618"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线上购买</a:t>
              </a:r>
            </a:p>
          </p:txBody>
        </p:sp>
        <p:sp>
          <p:nvSpPr>
            <p:cNvPr id="39" name="Rectangle 39"/>
            <p:cNvSpPr/>
            <p:nvPr/>
          </p:nvSpPr>
          <p:spPr>
            <a:xfrm>
              <a:off x="1447800" y="4267200"/>
              <a:ext cx="2286000" cy="76200"/>
            </a:xfrm>
            <a:prstGeom prst="roundRect">
              <a:avLst>
                <a:gd name="adj" fmla="val 50000"/>
              </a:avLst>
            </a:prstGeom>
            <a:solidFill>
              <a:srgbClr val="E8EBF8"/>
            </a:solidFill>
            <a:ln>
              <a:noFill/>
            </a:ln>
          </p:spPr>
        </p:sp>
        <p:sp>
          <p:nvSpPr>
            <p:cNvPr id="40" name="Rectangle 40"/>
            <p:cNvSpPr/>
            <p:nvPr/>
          </p:nvSpPr>
          <p:spPr>
            <a:xfrm>
              <a:off x="1447800" y="4267200"/>
              <a:ext cx="1371600" cy="76200"/>
            </a:xfrm>
            <a:prstGeom prst="roundRect">
              <a:avLst>
                <a:gd name="adj" fmla="val 50000"/>
              </a:avLst>
            </a:prstGeom>
            <a:solidFill>
              <a:srgbClr val="C46D5B"/>
            </a:solidFill>
            <a:ln>
              <a:noFill/>
            </a:ln>
          </p:spPr>
        </p:sp>
        <p:sp>
          <p:nvSpPr>
            <p:cNvPr id="41" name="Ellipse 41"/>
            <p:cNvSpPr/>
            <p:nvPr/>
          </p:nvSpPr>
          <p:spPr>
            <a:xfrm>
              <a:off x="681038" y="4519612"/>
              <a:ext cx="47625" cy="47625"/>
            </a:xfrm>
            <a:prstGeom prst="ellipse">
              <a:avLst/>
            </a:prstGeom>
            <a:solidFill>
              <a:srgbClr val="E8634C"/>
            </a:solidFill>
            <a:ln>
              <a:noFill/>
            </a:ln>
          </p:spPr>
        </p:sp>
        <p:sp>
          <p:nvSpPr>
            <p:cNvPr id="42" name="TextBox 42"/>
            <p:cNvSpPr txBox="1"/>
            <p:nvPr/>
          </p:nvSpPr>
          <p:spPr>
            <a:xfrm>
              <a:off x="795338" y="4488418"/>
              <a:ext cx="472618"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线下购买</a:t>
              </a:r>
            </a:p>
          </p:txBody>
        </p:sp>
        <p:sp>
          <p:nvSpPr>
            <p:cNvPr id="43" name="Rectangle 43"/>
            <p:cNvSpPr/>
            <p:nvPr/>
          </p:nvSpPr>
          <p:spPr>
            <a:xfrm>
              <a:off x="1447800" y="4495800"/>
              <a:ext cx="2286000" cy="76200"/>
            </a:xfrm>
            <a:prstGeom prst="roundRect">
              <a:avLst>
                <a:gd name="adj" fmla="val 50000"/>
              </a:avLst>
            </a:prstGeom>
            <a:solidFill>
              <a:srgbClr val="E8EBF8"/>
            </a:solidFill>
            <a:ln>
              <a:noFill/>
            </a:ln>
          </p:spPr>
        </p:sp>
        <p:sp>
          <p:nvSpPr>
            <p:cNvPr id="44" name="Rectangle 44"/>
            <p:cNvSpPr/>
            <p:nvPr/>
          </p:nvSpPr>
          <p:spPr>
            <a:xfrm>
              <a:off x="1447800" y="4495800"/>
              <a:ext cx="914400" cy="76200"/>
            </a:xfrm>
            <a:prstGeom prst="roundRect">
              <a:avLst>
                <a:gd name="adj" fmla="val 50000"/>
              </a:avLst>
            </a:prstGeom>
            <a:solidFill>
              <a:srgbClr val="E8634C"/>
            </a:solidFill>
            <a:ln>
              <a:noFill/>
            </a:ln>
          </p:spPr>
        </p:sp>
        <p:sp>
          <p:nvSpPr>
            <p:cNvPr id="45" name="Ellipse 45"/>
            <p:cNvSpPr/>
            <p:nvPr/>
          </p:nvSpPr>
          <p:spPr>
            <a:xfrm>
              <a:off x="681038" y="4748212"/>
              <a:ext cx="47625" cy="47625"/>
            </a:xfrm>
            <a:prstGeom prst="ellipse">
              <a:avLst/>
            </a:prstGeom>
            <a:solidFill>
              <a:srgbClr val="C46D5B"/>
            </a:solidFill>
            <a:ln>
              <a:noFill/>
            </a:ln>
          </p:spPr>
        </p:sp>
        <p:sp>
          <p:nvSpPr>
            <p:cNvPr id="46" name="TextBox 46"/>
            <p:cNvSpPr txBox="1"/>
            <p:nvPr/>
          </p:nvSpPr>
          <p:spPr>
            <a:xfrm>
              <a:off x="795338" y="4717018"/>
              <a:ext cx="472618"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社媒推荐</a:t>
              </a:r>
            </a:p>
          </p:txBody>
        </p:sp>
        <p:sp>
          <p:nvSpPr>
            <p:cNvPr id="47" name="Rectangle 47"/>
            <p:cNvSpPr/>
            <p:nvPr/>
          </p:nvSpPr>
          <p:spPr>
            <a:xfrm>
              <a:off x="1447800" y="4724400"/>
              <a:ext cx="2286000" cy="76200"/>
            </a:xfrm>
            <a:prstGeom prst="roundRect">
              <a:avLst>
                <a:gd name="adj" fmla="val 50000"/>
              </a:avLst>
            </a:prstGeom>
            <a:solidFill>
              <a:srgbClr val="E8EBF8"/>
            </a:solidFill>
            <a:ln>
              <a:noFill/>
            </a:ln>
          </p:spPr>
        </p:sp>
        <p:sp>
          <p:nvSpPr>
            <p:cNvPr id="48" name="Rectangle 48"/>
            <p:cNvSpPr/>
            <p:nvPr/>
          </p:nvSpPr>
          <p:spPr>
            <a:xfrm>
              <a:off x="1447800" y="4724400"/>
              <a:ext cx="1600200" cy="76200"/>
            </a:xfrm>
            <a:prstGeom prst="roundRect">
              <a:avLst>
                <a:gd name="adj" fmla="val 50000"/>
              </a:avLst>
            </a:prstGeom>
            <a:solidFill>
              <a:srgbClr val="C46D5B"/>
            </a:solidFill>
            <a:ln>
              <a:noFill/>
            </a:ln>
          </p:spPr>
        </p:sp>
        <p:sp>
          <p:nvSpPr>
            <p:cNvPr id="49" name="Rectangle 49"/>
            <p:cNvSpPr/>
            <p:nvPr/>
          </p:nvSpPr>
          <p:spPr>
            <a:xfrm>
              <a:off x="495300" y="5095875"/>
              <a:ext cx="3390900" cy="495300"/>
            </a:xfrm>
            <a:prstGeom prst="roundRect">
              <a:avLst>
                <a:gd name="adj" fmla="val 15385"/>
              </a:avLst>
            </a:prstGeom>
            <a:solidFill>
              <a:srgbClr val="F5F6FC"/>
            </a:solidFill>
            <a:ln>
              <a:noFill/>
            </a:ln>
          </p:spPr>
        </p:sp>
        <p:sp>
          <p:nvSpPr>
            <p:cNvPr id="50" name="TextBox 50"/>
            <p:cNvSpPr txBox="1"/>
            <p:nvPr/>
          </p:nvSpPr>
          <p:spPr>
            <a:xfrm>
              <a:off x="642938" y="5212318"/>
              <a:ext cx="2068322"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543E3A"/>
                  </a:solidFill>
                  <a:latin typeface="+mn-lt"/>
                  <a:ea typeface="+mn-ea"/>
                  <a:cs typeface="+mn-cs"/>
                </a:rPr>
                <a:t>续上购药属性更强; 容易被短视频、素人真</a:t>
              </a:r>
              <a:br/>
              <a:r>
                <a:rPr lang="zh-CN" sz="860" dirty="0">
                  <a:solidFill>
                    <a:srgbClr val="543E3A"/>
                  </a:solidFill>
                  <a:latin typeface="+mn-lt"/>
                  <a:ea typeface="+mn-ea"/>
                  <a:cs typeface="+mn-cs"/>
                </a:rPr>
                <a:t>实经历分享吸引</a:t>
              </a:r>
            </a:p>
          </p:txBody>
        </p:sp>
      </p:grpSp>
      <p:grpSp>
        <p:nvGrpSpPr>
          <p:cNvPr id="96" name="persona-2"/>
          <p:cNvGrpSpPr/>
          <p:nvPr/>
        </p:nvGrpSpPr>
        <p:grpSpPr>
          <a:xfrm>
            <a:off x="4286250" y="904875"/>
            <a:ext cx="3619500" cy="4762500"/>
            <a:chOff x="4286250" y="904875"/>
            <a:chExt cx="3619500" cy="4762500"/>
          </a:xfrm>
        </p:grpSpPr>
        <p:sp>
          <p:nvSpPr>
            <p:cNvPr id="52" name="Rectangle 52"/>
            <p:cNvSpPr/>
            <p:nvPr/>
          </p:nvSpPr>
          <p:spPr>
            <a:xfrm>
              <a:off x="4286250" y="904875"/>
              <a:ext cx="3619500" cy="4762500"/>
            </a:xfrm>
            <a:prstGeom prst="roundRect">
              <a:avLst>
                <a:gd name="adj" fmla="val 3158"/>
              </a:avLst>
            </a:prstGeom>
            <a:solidFill>
              <a:srgbClr val="FFFFFF"/>
            </a:solidFill>
            <a:ln>
              <a:noFill/>
            </a:ln>
            <a:effectLst>
              <a:outerShdw blurRad="152400" dist="57150" dir="5400000" algn="ctr" rotWithShape="0">
                <a:srgbClr val="C45F4A">
                  <a:alpha val="7500"/>
                </a:srgbClr>
              </a:outerShdw>
            </a:effectLst>
          </p:spPr>
        </p:sp>
        <p:sp>
          <p:nvSpPr>
            <p:cNvPr id="53" name="TextBox 53"/>
            <p:cNvSpPr txBox="1"/>
            <p:nvPr/>
          </p:nvSpPr>
          <p:spPr>
            <a:xfrm>
              <a:off x="4469892" y="1121092"/>
              <a:ext cx="1467612"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mn-lt"/>
                  <a:ea typeface="+mn-ea"/>
                  <a:cs typeface="+mn-cs"/>
                </a:rPr>
                <a:t>承压前行的中年人</a:t>
              </a:r>
            </a:p>
          </p:txBody>
        </p:sp>
        <p:sp>
          <p:nvSpPr>
            <p:cNvPr id="54" name="TextBox 54"/>
            <p:cNvSpPr txBox="1"/>
            <p:nvPr/>
          </p:nvSpPr>
          <p:spPr>
            <a:xfrm>
              <a:off x="7192480" y="1134428"/>
              <a:ext cx="166154" cy="205359"/>
            </a:xfrm>
            <a:prstGeom prst="rect">
              <a:avLst/>
            </a:prstGeom>
            <a:noFill/>
            <a:ln>
              <a:noFill/>
            </a:ln>
          </p:spPr>
          <p:txBody>
            <a:bodyPr wrap="none" lIns="0" tIns="0" rIns="0" bIns="0" anchor="t" anchorCtr="0">
              <a:spAutoFit/>
            </a:bodyPr>
            <a:lstStyle/>
            <a:p>
              <a:pPr algn="r"/>
              <a:r>
                <a:rPr lang="zh-CN" sz="1050" i="1" dirty="0">
                  <a:solidFill>
                    <a:srgbClr val="E08C7B"/>
                  </a:solidFill>
                  <a:latin typeface="+mn-lt"/>
                  <a:ea typeface="+mn-ea"/>
                  <a:cs typeface="+mn-cs"/>
                </a:rPr>
                <a:t>02</a:t>
              </a:r>
            </a:p>
          </p:txBody>
        </p:sp>
        <p:sp>
          <p:nvSpPr>
            <p:cNvPr id="55" name="Polygon 55"/>
            <p:cNvSpPr/>
            <p:nvPr/>
          </p:nvSpPr>
          <p:spPr>
            <a:xfrm>
              <a:off x="7448550" y="1152525"/>
              <a:ext cx="76200" cy="95250"/>
            </a:xfrm>
            <a:custGeom>
              <a:avLst/>
              <a:gdLst/>
              <a:ahLst/>
              <a:cxnLst/>
              <a:rect l="l" t="t" r="r" b="b"/>
              <a:pathLst>
                <a:path w="76200" h="95250">
                  <a:moveTo>
                    <a:pt x="0" y="0"/>
                  </a:moveTo>
                  <a:lnTo>
                    <a:pt x="76200" y="47625"/>
                  </a:lnTo>
                  <a:lnTo>
                    <a:pt x="0" y="95250"/>
                  </a:lnTo>
                  <a:close/>
                </a:path>
              </a:pathLst>
            </a:custGeom>
            <a:solidFill>
              <a:srgbClr val="E08C7B"/>
            </a:solidFill>
            <a:ln>
              <a:noFill/>
            </a:ln>
          </p:spPr>
        </p:sp>
        <p:sp>
          <p:nvSpPr>
            <p:cNvPr id="56" name="Polygon 56"/>
            <p:cNvSpPr/>
            <p:nvPr/>
          </p:nvSpPr>
          <p:spPr>
            <a:xfrm>
              <a:off x="7562850" y="1152525"/>
              <a:ext cx="76200" cy="95250"/>
            </a:xfrm>
            <a:custGeom>
              <a:avLst/>
              <a:gdLst/>
              <a:ahLst/>
              <a:cxnLst/>
              <a:rect l="l" t="t" r="r" b="b"/>
              <a:pathLst>
                <a:path w="76200" h="95250">
                  <a:moveTo>
                    <a:pt x="0" y="0"/>
                  </a:moveTo>
                  <a:lnTo>
                    <a:pt x="76200" y="47625"/>
                  </a:lnTo>
                  <a:lnTo>
                    <a:pt x="0" y="95250"/>
                  </a:lnTo>
                  <a:close/>
                </a:path>
              </a:pathLst>
            </a:custGeom>
            <a:solidFill>
              <a:srgbClr val="E08C7B"/>
            </a:solidFill>
            <a:ln>
              <a:noFill/>
            </a:ln>
          </p:spPr>
        </p:sp>
        <p:sp>
          <p:nvSpPr>
            <p:cNvPr id="57" name="Rectangle 57"/>
            <p:cNvSpPr/>
            <p:nvPr/>
          </p:nvSpPr>
          <p:spPr>
            <a:xfrm>
              <a:off x="4400550" y="1457325"/>
              <a:ext cx="3390900" cy="1162050"/>
            </a:xfrm>
            <a:prstGeom prst="roundRect">
              <a:avLst>
                <a:gd name="adj" fmla="val 8197"/>
              </a:avLst>
            </a:prstGeom>
            <a:gradFill>
              <a:gsLst>
                <a:gs pos="0">
                  <a:srgbClr val="D87E6B"/>
                </a:gs>
                <a:gs pos="100000">
                  <a:srgbClr val="C45F4A"/>
                </a:gs>
              </a:gsLst>
              <a:lin ang="2700000" scaled="1"/>
            </a:gradFill>
            <a:ln>
              <a:noFill/>
            </a:ln>
          </p:spPr>
        </p:sp>
        <p:sp>
          <p:nvSpPr>
            <p:cNvPr id="58" name="Rectangle 58"/>
            <p:cNvSpPr/>
            <p:nvPr/>
          </p:nvSpPr>
          <p:spPr>
            <a:xfrm>
              <a:off x="4552950" y="1571625"/>
              <a:ext cx="781050" cy="190500"/>
            </a:xfrm>
            <a:prstGeom prst="roundRect">
              <a:avLst>
                <a:gd name="adj" fmla="val 50000"/>
              </a:avLst>
            </a:prstGeom>
            <a:solidFill>
              <a:srgbClr val="F07E6A"/>
            </a:solidFill>
            <a:ln>
              <a:noFill/>
            </a:ln>
          </p:spPr>
        </p:sp>
        <p:sp>
          <p:nvSpPr>
            <p:cNvPr id="59" name="TextBox 59"/>
            <p:cNvSpPr txBox="1"/>
            <p:nvPr/>
          </p:nvSpPr>
          <p:spPr>
            <a:xfrm>
              <a:off x="4692270" y="1615916"/>
              <a:ext cx="50240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36-55岁​</a:t>
              </a:r>
            </a:p>
          </p:txBody>
        </p:sp>
        <p:sp>
          <p:nvSpPr>
            <p:cNvPr id="60" name="TextBox 60"/>
            <p:cNvSpPr txBox="1"/>
            <p:nvPr/>
          </p:nvSpPr>
          <p:spPr>
            <a:xfrm>
              <a:off x="4548188" y="1863566"/>
              <a:ext cx="1524762" cy="590550"/>
            </a:xfrm>
            <a:prstGeom prst="rect">
              <a:avLst/>
            </a:prstGeom>
            <a:noFill/>
            <a:ln>
              <a:noFill/>
            </a:ln>
          </p:spPr>
          <p:txBody>
            <a:bodyPr wrap="none" lIns="0" tIns="0" rIns="0" bIns="0" anchor="t" anchorCtr="0">
              <a:spAutoFit/>
            </a:bodyPr>
            <a:lstStyle/>
            <a:p>
              <a:pPr algn="l">
                <a:lnSpc>
                  <a:spcPts val="1125"/>
                </a:lnSpc>
              </a:pPr>
              <a:r>
                <a:rPr lang="zh-CN" sz="820" dirty="0">
                  <a:solidFill>
                    <a:srgbClr val="FFFFFF"/>
                  </a:solidFill>
                  <a:latin typeface="+mn-lt"/>
                  <a:ea typeface="+mn-ea"/>
                  <a:cs typeface="+mn-cs"/>
                </a:rPr>
                <a:t>家庭的中流砥柱，职场的主力军,</a:t>
              </a:r>
              <a:br/>
              <a:r>
                <a:rPr lang="zh-CN" sz="820" dirty="0">
                  <a:solidFill>
                    <a:srgbClr val="FFFFFF"/>
                  </a:solidFill>
                  <a:latin typeface="+mn-lt"/>
                  <a:ea typeface="+mn-ea"/>
                  <a:cs typeface="+mn-cs"/>
                </a:rPr>
                <a:t>关注家庭，周旋于孩子学业、自</a:t>
              </a:r>
              <a:br/>
              <a:r>
                <a:rPr lang="zh-CN" sz="820" dirty="0">
                  <a:solidFill>
                    <a:srgbClr val="FFFFFF"/>
                  </a:solidFill>
                  <a:latin typeface="+mn-lt"/>
                  <a:ea typeface="+mn-ea"/>
                  <a:cs typeface="+mn-cs"/>
                </a:rPr>
                <a:t>身成长与晋升、老人健康之中;职</a:t>
              </a:r>
              <a:br/>
              <a:r>
                <a:rPr lang="zh-CN" sz="820" dirty="0">
                  <a:solidFill>
                    <a:srgbClr val="FFFFFF"/>
                  </a:solidFill>
                  <a:latin typeface="+mn-lt"/>
                  <a:ea typeface="+mn-ea"/>
                  <a:cs typeface="+mn-cs"/>
                </a:rPr>
                <a:t>业病逐渐显现，开始养生</a:t>
              </a:r>
            </a:p>
          </p:txBody>
        </p:sp>
        <p:sp>
          <p:nvSpPr>
            <p:cNvPr id="61" name="Rectangle 61"/>
            <p:cNvSpPr/>
            <p:nvPr/>
          </p:nvSpPr>
          <p:spPr>
            <a:xfrm>
              <a:off x="6572250" y="1533525"/>
              <a:ext cx="1009650" cy="1009650"/>
            </a:xfrm>
            <a:prstGeom prst="roundRect">
              <a:avLst>
                <a:gd name="adj" fmla="val 9434"/>
              </a:avLst>
            </a:prstGeom>
            <a:solidFill>
              <a:srgbClr val="E8EBF8"/>
            </a:solidFill>
            <a:ln>
              <a:noFill/>
            </a:ln>
          </p:spPr>
        </p:sp>
        <p:grpSp>
          <p:nvGrpSpPr>
            <p:cNvPr id="66" name="Group 66"/>
            <p:cNvGrpSpPr/>
            <p:nvPr/>
          </p:nvGrpSpPr>
          <p:grpSpPr>
            <a:xfrm>
              <a:off x="6862762" y="1824038"/>
              <a:ext cx="428626" cy="428625"/>
              <a:chOff x="6862762" y="1824038"/>
              <a:chExt cx="428626" cy="428625"/>
            </a:xfrm>
          </p:grpSpPr>
          <p:sp>
            <p:nvSpPr>
              <p:cNvPr id="62" name="Freeform 62"/>
              <p:cNvSpPr/>
              <p:nvPr/>
            </p:nvSpPr>
            <p:spPr>
              <a:xfrm>
                <a:off x="6910388" y="1824038"/>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47625">
                <a:solidFill>
                  <a:srgbClr val="C45F4A"/>
                </a:solidFill>
              </a:ln>
            </p:spPr>
          </p:sp>
          <p:sp>
            <p:nvSpPr>
              <p:cNvPr id="63" name="Freeform 63"/>
              <p:cNvSpPr/>
              <p:nvPr/>
            </p:nvSpPr>
            <p:spPr>
              <a:xfrm>
                <a:off x="6862762" y="2109788"/>
                <a:ext cx="285750" cy="142875"/>
              </a:xfrm>
              <a:custGeom>
                <a:avLst/>
                <a:gdLst/>
                <a:ahLst/>
                <a:cxnLst/>
                <a:rect l="l" t="t" r="r" b="b"/>
                <a:pathLst>
                  <a:path w="285750" h="142875">
                    <a:moveTo>
                      <a:pt x="0" y="142875"/>
                    </a:moveTo>
                    <a:lnTo>
                      <a:pt x="0" y="95250"/>
                    </a:lnTo>
                    <a:cubicBezTo>
                      <a:pt x="0" y="42645"/>
                      <a:pt x="42645" y="0"/>
                      <a:pt x="95250" y="0"/>
                    </a:cubicBezTo>
                    <a:lnTo>
                      <a:pt x="190500" y="0"/>
                    </a:lnTo>
                    <a:cubicBezTo>
                      <a:pt x="243105" y="0"/>
                      <a:pt x="285750" y="42645"/>
                      <a:pt x="285750" y="95250"/>
                    </a:cubicBezTo>
                    <a:lnTo>
                      <a:pt x="285750" y="142875"/>
                    </a:lnTo>
                  </a:path>
                </a:pathLst>
              </a:custGeom>
              <a:noFill/>
              <a:ln w="47625">
                <a:solidFill>
                  <a:srgbClr val="C45F4A"/>
                </a:solidFill>
              </a:ln>
            </p:spPr>
          </p:sp>
          <p:sp>
            <p:nvSpPr>
              <p:cNvPr id="64" name="Freeform 64"/>
              <p:cNvSpPr/>
              <p:nvPr/>
            </p:nvSpPr>
            <p:spPr>
              <a:xfrm>
                <a:off x="7172325" y="1827133"/>
                <a:ext cx="71624" cy="184547"/>
              </a:xfrm>
              <a:custGeom>
                <a:avLst/>
                <a:gdLst/>
                <a:ahLst/>
                <a:cxnLst/>
                <a:rect l="l" t="t" r="r" b="b"/>
                <a:pathLst>
                  <a:path w="71624" h="184547">
                    <a:moveTo>
                      <a:pt x="0" y="0"/>
                    </a:moveTo>
                    <a:cubicBezTo>
                      <a:pt x="42146" y="10791"/>
                      <a:pt x="71624" y="48768"/>
                      <a:pt x="71624" y="92273"/>
                    </a:cubicBezTo>
                    <a:cubicBezTo>
                      <a:pt x="71624" y="135779"/>
                      <a:pt x="42146" y="173756"/>
                      <a:pt x="0" y="184547"/>
                    </a:cubicBezTo>
                  </a:path>
                </a:pathLst>
              </a:custGeom>
              <a:noFill/>
              <a:ln w="47625">
                <a:solidFill>
                  <a:srgbClr val="C45F4A"/>
                </a:solidFill>
              </a:ln>
            </p:spPr>
          </p:sp>
          <p:sp>
            <p:nvSpPr>
              <p:cNvPr id="65" name="Freeform 65"/>
              <p:cNvSpPr/>
              <p:nvPr/>
            </p:nvSpPr>
            <p:spPr>
              <a:xfrm>
                <a:off x="7219950" y="2113359"/>
                <a:ext cx="71438" cy="139303"/>
              </a:xfrm>
              <a:custGeom>
                <a:avLst/>
                <a:gdLst/>
                <a:ahLst/>
                <a:cxnLst/>
                <a:rect l="l" t="t" r="r" b="b"/>
                <a:pathLst>
                  <a:path w="71438" h="139303">
                    <a:moveTo>
                      <a:pt x="71438" y="139303"/>
                    </a:moveTo>
                    <a:lnTo>
                      <a:pt x="71438" y="91678"/>
                    </a:lnTo>
                    <a:cubicBezTo>
                      <a:pt x="71189" y="48448"/>
                      <a:pt x="41858" y="10807"/>
                      <a:pt x="0" y="0"/>
                    </a:cubicBezTo>
                  </a:path>
                </a:pathLst>
              </a:custGeom>
              <a:noFill/>
              <a:ln w="47625">
                <a:solidFill>
                  <a:srgbClr val="C45F4A"/>
                </a:solidFill>
              </a:ln>
            </p:spPr>
          </p:sp>
        </p:grpSp>
        <p:sp>
          <p:nvSpPr>
            <p:cNvPr id="67" name="Rectangle 67"/>
            <p:cNvSpPr/>
            <p:nvPr/>
          </p:nvSpPr>
          <p:spPr>
            <a:xfrm>
              <a:off x="4476750" y="2809875"/>
              <a:ext cx="1257300" cy="247650"/>
            </a:xfrm>
            <a:prstGeom prst="roundRect">
              <a:avLst>
                <a:gd name="adj" fmla="val 11538"/>
              </a:avLst>
            </a:prstGeom>
            <a:solidFill>
              <a:srgbClr val="E8634C"/>
            </a:solidFill>
            <a:ln>
              <a:noFill/>
            </a:ln>
          </p:spPr>
        </p:sp>
        <p:grpSp>
          <p:nvGrpSpPr>
            <p:cNvPr id="72" name="Group 72"/>
            <p:cNvGrpSpPr/>
            <p:nvPr/>
          </p:nvGrpSpPr>
          <p:grpSpPr>
            <a:xfrm>
              <a:off x="4572000" y="2882900"/>
              <a:ext cx="114300" cy="111125"/>
              <a:chOff x="4572000" y="2882900"/>
              <a:chExt cx="114300" cy="111125"/>
            </a:xfrm>
          </p:grpSpPr>
          <p:sp>
            <p:nvSpPr>
              <p:cNvPr id="68" name="Freeform 68"/>
              <p:cNvSpPr/>
              <p:nvPr/>
            </p:nvSpPr>
            <p:spPr>
              <a:xfrm>
                <a:off x="4572000" y="29337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FFFFFF"/>
                </a:solidFill>
              </a:ln>
            </p:spPr>
          </p:sp>
          <p:sp>
            <p:nvSpPr>
              <p:cNvPr id="69" name="Freeform 69"/>
              <p:cNvSpPr/>
              <p:nvPr/>
            </p:nvSpPr>
            <p:spPr>
              <a:xfrm>
                <a:off x="4648200" y="29083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FFFFFF"/>
                </a:solidFill>
              </a:ln>
            </p:spPr>
          </p:sp>
          <p:sp>
            <p:nvSpPr>
              <p:cNvPr id="70" name="Freeform 70"/>
              <p:cNvSpPr/>
              <p:nvPr/>
            </p:nvSpPr>
            <p:spPr>
              <a:xfrm>
                <a:off x="4610100" y="28829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FFFFFF"/>
                </a:solidFill>
              </a:ln>
            </p:spPr>
          </p:sp>
          <p:sp>
            <p:nvSpPr>
              <p:cNvPr id="71" name="Freeform 71"/>
              <p:cNvSpPr/>
              <p:nvPr/>
            </p:nvSpPr>
            <p:spPr>
              <a:xfrm>
                <a:off x="4578350" y="2984500"/>
                <a:ext cx="88900" cy="9525"/>
              </a:xfrm>
              <a:custGeom>
                <a:avLst/>
                <a:gdLst/>
                <a:ahLst/>
                <a:cxnLst/>
                <a:rect l="l" t="t" r="r" b="b"/>
                <a:pathLst>
                  <a:path w="88900" h="9525">
                    <a:moveTo>
                      <a:pt x="0" y="0"/>
                    </a:moveTo>
                    <a:lnTo>
                      <a:pt x="88900" y="0"/>
                    </a:lnTo>
                  </a:path>
                </a:pathLst>
              </a:custGeom>
              <a:noFill/>
              <a:ln w="12700">
                <a:solidFill>
                  <a:srgbClr val="FFFFFF"/>
                </a:solidFill>
              </a:ln>
            </p:spPr>
          </p:sp>
        </p:grpSp>
        <p:sp>
          <p:nvSpPr>
            <p:cNvPr id="73" name="TextBox 73"/>
            <p:cNvSpPr txBox="1"/>
            <p:nvPr/>
          </p:nvSpPr>
          <p:spPr>
            <a:xfrm>
              <a:off x="4757547" y="2876074"/>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产品需求场景</a:t>
              </a:r>
            </a:p>
          </p:txBody>
        </p:sp>
        <p:sp>
          <p:nvSpPr>
            <p:cNvPr id="74" name="TextBox 74"/>
            <p:cNvSpPr txBox="1"/>
            <p:nvPr/>
          </p:nvSpPr>
          <p:spPr>
            <a:xfrm>
              <a:off x="4567238" y="3173968"/>
              <a:ext cx="2248535" cy="531019"/>
            </a:xfrm>
            <a:prstGeom prst="rect">
              <a:avLst/>
            </a:prstGeom>
            <a:noFill/>
            <a:ln>
              <a:noFill/>
            </a:ln>
          </p:spPr>
          <p:txBody>
            <a:bodyPr wrap="none" lIns="0" tIns="0" rIns="0" bIns="0" anchor="t" anchorCtr="0">
              <a:spAutoFit/>
            </a:bodyPr>
            <a:lstStyle/>
            <a:p>
              <a:pPr algn="l" marL="92837" indent="-92837">
                <a:lnSpc>
                  <a:spcPts val="1350"/>
                </a:lnSpc>
                <a:buClr>
                  <a:srgbClr val="543E3A"/>
                </a:buClr>
                <a:buSzTx/>
                <a:buFontTx/>
                <a:buChar char="•"/>
              </a:pPr>
              <a:r>
                <a:rPr lang="zh-CN" sz="860" dirty="0">
                  <a:solidFill>
                    <a:srgbClr val="543E3A"/>
                  </a:solidFill>
                  <a:latin typeface="+mn-lt"/>
                  <a:ea typeface="+mn-ea"/>
                  <a:cs typeface="+mn-cs"/>
                </a:rPr>
                <a:t>[急性损伤]:易因料理家务而发生皮肤外伤</a:t>
              </a:r>
            </a:p>
            <a:p>
              <a:pPr algn="l" marL="92837" indent="-92837">
                <a:lnSpc>
                  <a:spcPts val="1350"/>
                </a:lnSpc>
                <a:spcBef>
                  <a:spcPts val="150"/>
                </a:spcBef>
                <a:buClr>
                  <a:srgbClr val="543E3A"/>
                </a:buClr>
                <a:buSzTx/>
                <a:buFontTx/>
                <a:buChar char="•"/>
              </a:pPr>
              <a:r>
                <a:rPr lang="zh-CN" sz="860" dirty="0">
                  <a:solidFill>
                    <a:srgbClr val="543E3A"/>
                  </a:solidFill>
                  <a:latin typeface="+mn-lt"/>
                  <a:ea typeface="+mn-ea"/>
                  <a:cs typeface="+mn-cs"/>
                </a:rPr>
                <a:t>[慢性损伤]:抱孩子、弯腰干活以及工作多年</a:t>
              </a:r>
              <a:br/>
              <a:r>
                <a:rPr lang="zh-CN" sz="860" dirty="0">
                  <a:solidFill>
                    <a:srgbClr val="543E3A"/>
                  </a:solidFill>
                  <a:latin typeface="+mn-lt"/>
                  <a:ea typeface="+mn-ea"/>
                  <a:cs typeface="+mn-cs"/>
                </a:rPr>
                <a:t>累积的腰、颈、肩、肘部伤痛;</a:t>
              </a:r>
            </a:p>
          </p:txBody>
        </p:sp>
        <p:sp>
          <p:nvSpPr>
            <p:cNvPr id="75" name="Rectangle 75"/>
            <p:cNvSpPr/>
            <p:nvPr/>
          </p:nvSpPr>
          <p:spPr>
            <a:xfrm>
              <a:off x="4476750" y="3857625"/>
              <a:ext cx="990600" cy="247650"/>
            </a:xfrm>
            <a:prstGeom prst="roundRect">
              <a:avLst>
                <a:gd name="adj" fmla="val 11538"/>
              </a:avLst>
            </a:prstGeom>
            <a:solidFill>
              <a:srgbClr val="E8634C"/>
            </a:solidFill>
            <a:ln>
              <a:noFill/>
            </a:ln>
          </p:spPr>
        </p:sp>
        <p:grpSp>
          <p:nvGrpSpPr>
            <p:cNvPr id="80" name="Group 80"/>
            <p:cNvGrpSpPr/>
            <p:nvPr/>
          </p:nvGrpSpPr>
          <p:grpSpPr>
            <a:xfrm>
              <a:off x="4584700" y="3930650"/>
              <a:ext cx="95250" cy="107950"/>
              <a:chOff x="4584700" y="3930650"/>
              <a:chExt cx="95250" cy="107950"/>
            </a:xfrm>
          </p:grpSpPr>
          <p:sp>
            <p:nvSpPr>
              <p:cNvPr id="76" name="Freeform 76"/>
              <p:cNvSpPr/>
              <p:nvPr/>
            </p:nvSpPr>
            <p:spPr>
              <a:xfrm>
                <a:off x="4584700" y="393065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FFFFFF"/>
                </a:solidFill>
              </a:ln>
            </p:spPr>
          </p:sp>
          <p:sp>
            <p:nvSpPr>
              <p:cNvPr id="77" name="Freeform 77"/>
              <p:cNvSpPr/>
              <p:nvPr/>
            </p:nvSpPr>
            <p:spPr>
              <a:xfrm>
                <a:off x="4641850" y="401320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sp>
            <p:nvSpPr>
              <p:cNvPr id="78" name="Freeform 78"/>
              <p:cNvSpPr/>
              <p:nvPr/>
            </p:nvSpPr>
            <p:spPr>
              <a:xfrm>
                <a:off x="4610100" y="3956050"/>
                <a:ext cx="25400" cy="9525"/>
              </a:xfrm>
              <a:custGeom>
                <a:avLst/>
                <a:gdLst/>
                <a:ahLst/>
                <a:cxnLst/>
                <a:rect l="l" t="t" r="r" b="b"/>
                <a:pathLst>
                  <a:path w="25400" h="9525">
                    <a:moveTo>
                      <a:pt x="0" y="0"/>
                    </a:moveTo>
                    <a:lnTo>
                      <a:pt x="25400" y="0"/>
                    </a:lnTo>
                  </a:path>
                </a:pathLst>
              </a:custGeom>
              <a:noFill/>
              <a:ln w="12700">
                <a:solidFill>
                  <a:srgbClr val="FFFFFF"/>
                </a:solidFill>
              </a:ln>
            </p:spPr>
          </p:sp>
          <p:sp>
            <p:nvSpPr>
              <p:cNvPr id="79" name="Freeform 79"/>
              <p:cNvSpPr/>
              <p:nvPr/>
            </p:nvSpPr>
            <p:spPr>
              <a:xfrm>
                <a:off x="4610100" y="3981450"/>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81" name="TextBox 81"/>
            <p:cNvSpPr txBox="1"/>
            <p:nvPr/>
          </p:nvSpPr>
          <p:spPr>
            <a:xfrm>
              <a:off x="4757547" y="3923824"/>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行为偏好</a:t>
              </a:r>
            </a:p>
          </p:txBody>
        </p:sp>
        <p:sp>
          <p:nvSpPr>
            <p:cNvPr id="82" name="Ellipse 82"/>
            <p:cNvSpPr/>
            <p:nvPr/>
          </p:nvSpPr>
          <p:spPr>
            <a:xfrm>
              <a:off x="4586288" y="4291012"/>
              <a:ext cx="47625" cy="47625"/>
            </a:xfrm>
            <a:prstGeom prst="ellipse">
              <a:avLst/>
            </a:prstGeom>
            <a:solidFill>
              <a:srgbClr val="C46D5B"/>
            </a:solidFill>
            <a:ln>
              <a:noFill/>
            </a:ln>
          </p:spPr>
        </p:sp>
        <p:sp>
          <p:nvSpPr>
            <p:cNvPr id="83" name="TextBox 83"/>
            <p:cNvSpPr txBox="1"/>
            <p:nvPr/>
          </p:nvSpPr>
          <p:spPr>
            <a:xfrm>
              <a:off x="4700588" y="4259818"/>
              <a:ext cx="472618"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线上购买</a:t>
              </a:r>
            </a:p>
          </p:txBody>
        </p:sp>
        <p:sp>
          <p:nvSpPr>
            <p:cNvPr id="84" name="Rectangle 84"/>
            <p:cNvSpPr/>
            <p:nvPr/>
          </p:nvSpPr>
          <p:spPr>
            <a:xfrm>
              <a:off x="5353050" y="4267200"/>
              <a:ext cx="2286000" cy="76200"/>
            </a:xfrm>
            <a:prstGeom prst="roundRect">
              <a:avLst>
                <a:gd name="adj" fmla="val 50000"/>
              </a:avLst>
            </a:prstGeom>
            <a:solidFill>
              <a:srgbClr val="E8EBF8"/>
            </a:solidFill>
            <a:ln>
              <a:noFill/>
            </a:ln>
          </p:spPr>
        </p:sp>
        <p:sp>
          <p:nvSpPr>
            <p:cNvPr id="85" name="Rectangle 85"/>
            <p:cNvSpPr/>
            <p:nvPr/>
          </p:nvSpPr>
          <p:spPr>
            <a:xfrm>
              <a:off x="5353050" y="4267200"/>
              <a:ext cx="1257300" cy="76200"/>
            </a:xfrm>
            <a:prstGeom prst="roundRect">
              <a:avLst>
                <a:gd name="adj" fmla="val 50000"/>
              </a:avLst>
            </a:prstGeom>
            <a:solidFill>
              <a:srgbClr val="C46D5B"/>
            </a:solidFill>
            <a:ln>
              <a:noFill/>
            </a:ln>
          </p:spPr>
        </p:sp>
        <p:sp>
          <p:nvSpPr>
            <p:cNvPr id="86" name="Ellipse 86"/>
            <p:cNvSpPr/>
            <p:nvPr/>
          </p:nvSpPr>
          <p:spPr>
            <a:xfrm>
              <a:off x="4586288" y="4519612"/>
              <a:ext cx="47625" cy="47625"/>
            </a:xfrm>
            <a:prstGeom prst="ellipse">
              <a:avLst/>
            </a:prstGeom>
            <a:solidFill>
              <a:srgbClr val="E8634C"/>
            </a:solidFill>
            <a:ln>
              <a:noFill/>
            </a:ln>
          </p:spPr>
        </p:sp>
        <p:sp>
          <p:nvSpPr>
            <p:cNvPr id="87" name="TextBox 87"/>
            <p:cNvSpPr txBox="1"/>
            <p:nvPr/>
          </p:nvSpPr>
          <p:spPr>
            <a:xfrm>
              <a:off x="4700588" y="4488418"/>
              <a:ext cx="472618"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线下购买</a:t>
              </a:r>
            </a:p>
          </p:txBody>
        </p:sp>
        <p:sp>
          <p:nvSpPr>
            <p:cNvPr id="88" name="Rectangle 88"/>
            <p:cNvSpPr/>
            <p:nvPr/>
          </p:nvSpPr>
          <p:spPr>
            <a:xfrm>
              <a:off x="5353050" y="4495800"/>
              <a:ext cx="2286000" cy="76200"/>
            </a:xfrm>
            <a:prstGeom prst="roundRect">
              <a:avLst>
                <a:gd name="adj" fmla="val 50000"/>
              </a:avLst>
            </a:prstGeom>
            <a:solidFill>
              <a:srgbClr val="E8EBF8"/>
            </a:solidFill>
            <a:ln>
              <a:noFill/>
            </a:ln>
          </p:spPr>
        </p:sp>
        <p:sp>
          <p:nvSpPr>
            <p:cNvPr id="89" name="Rectangle 89"/>
            <p:cNvSpPr/>
            <p:nvPr/>
          </p:nvSpPr>
          <p:spPr>
            <a:xfrm>
              <a:off x="5353050" y="4495800"/>
              <a:ext cx="1485900" cy="76200"/>
            </a:xfrm>
            <a:prstGeom prst="roundRect">
              <a:avLst>
                <a:gd name="adj" fmla="val 50000"/>
              </a:avLst>
            </a:prstGeom>
            <a:solidFill>
              <a:srgbClr val="E8634C"/>
            </a:solidFill>
            <a:ln>
              <a:noFill/>
            </a:ln>
          </p:spPr>
        </p:sp>
        <p:sp>
          <p:nvSpPr>
            <p:cNvPr id="90" name="Ellipse 90"/>
            <p:cNvSpPr/>
            <p:nvPr/>
          </p:nvSpPr>
          <p:spPr>
            <a:xfrm>
              <a:off x="4586288" y="4748212"/>
              <a:ext cx="47625" cy="47625"/>
            </a:xfrm>
            <a:prstGeom prst="ellipse">
              <a:avLst/>
            </a:prstGeom>
            <a:solidFill>
              <a:srgbClr val="C46D5B"/>
            </a:solidFill>
            <a:ln>
              <a:noFill/>
            </a:ln>
          </p:spPr>
        </p:sp>
        <p:sp>
          <p:nvSpPr>
            <p:cNvPr id="91" name="TextBox 91"/>
            <p:cNvSpPr txBox="1"/>
            <p:nvPr/>
          </p:nvSpPr>
          <p:spPr>
            <a:xfrm>
              <a:off x="4700588" y="4717018"/>
              <a:ext cx="472618"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社媒推荐</a:t>
              </a:r>
            </a:p>
          </p:txBody>
        </p:sp>
        <p:sp>
          <p:nvSpPr>
            <p:cNvPr id="92" name="Rectangle 92"/>
            <p:cNvSpPr/>
            <p:nvPr/>
          </p:nvSpPr>
          <p:spPr>
            <a:xfrm>
              <a:off x="5353050" y="4724400"/>
              <a:ext cx="2286000" cy="76200"/>
            </a:xfrm>
            <a:prstGeom prst="roundRect">
              <a:avLst>
                <a:gd name="adj" fmla="val 50000"/>
              </a:avLst>
            </a:prstGeom>
            <a:solidFill>
              <a:srgbClr val="E8EBF8"/>
            </a:solidFill>
            <a:ln>
              <a:noFill/>
            </a:ln>
          </p:spPr>
        </p:sp>
        <p:sp>
          <p:nvSpPr>
            <p:cNvPr id="93" name="Rectangle 93"/>
            <p:cNvSpPr/>
            <p:nvPr/>
          </p:nvSpPr>
          <p:spPr>
            <a:xfrm>
              <a:off x="5353050" y="4724400"/>
              <a:ext cx="1028700" cy="76200"/>
            </a:xfrm>
            <a:prstGeom prst="roundRect">
              <a:avLst>
                <a:gd name="adj" fmla="val 50000"/>
              </a:avLst>
            </a:prstGeom>
            <a:solidFill>
              <a:srgbClr val="C46D5B"/>
            </a:solidFill>
            <a:ln>
              <a:noFill/>
            </a:ln>
          </p:spPr>
        </p:sp>
        <p:sp>
          <p:nvSpPr>
            <p:cNvPr id="94" name="Rectangle 94"/>
            <p:cNvSpPr/>
            <p:nvPr/>
          </p:nvSpPr>
          <p:spPr>
            <a:xfrm>
              <a:off x="4400550" y="5095875"/>
              <a:ext cx="3390900" cy="495300"/>
            </a:xfrm>
            <a:prstGeom prst="roundRect">
              <a:avLst>
                <a:gd name="adj" fmla="val 15385"/>
              </a:avLst>
            </a:prstGeom>
            <a:solidFill>
              <a:srgbClr val="F5F6FC"/>
            </a:solidFill>
            <a:ln>
              <a:noFill/>
            </a:ln>
          </p:spPr>
        </p:sp>
        <p:sp>
          <p:nvSpPr>
            <p:cNvPr id="95" name="TextBox 95"/>
            <p:cNvSpPr txBox="1"/>
            <p:nvPr/>
          </p:nvSpPr>
          <p:spPr>
            <a:xfrm>
              <a:off x="4548188" y="5212318"/>
              <a:ext cx="2084705"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543E3A"/>
                  </a:solidFill>
                  <a:latin typeface="+mn-lt"/>
                  <a:ea typeface="+mn-ea"/>
                  <a:cs typeface="+mn-cs"/>
                </a:rPr>
                <a:t>触媒多元化，抖音、小红书、医院公众号、</a:t>
              </a:r>
              <a:br/>
              <a:r>
                <a:rPr lang="zh-CN" sz="860" dirty="0">
                  <a:solidFill>
                    <a:srgbClr val="543E3A"/>
                  </a:solidFill>
                  <a:latin typeface="+mn-lt"/>
                  <a:ea typeface="+mn-ea"/>
                  <a:cs typeface="+mn-cs"/>
                </a:rPr>
                <a:t>搜索引擎多维度覆盖</a:t>
              </a:r>
            </a:p>
          </p:txBody>
        </p:sp>
      </p:grpSp>
      <p:grpSp>
        <p:nvGrpSpPr>
          <p:cNvPr id="141" name="persona-3"/>
          <p:cNvGrpSpPr/>
          <p:nvPr/>
        </p:nvGrpSpPr>
        <p:grpSpPr>
          <a:xfrm>
            <a:off x="8191500" y="904875"/>
            <a:ext cx="3619500" cy="4762500"/>
            <a:chOff x="8191500" y="904875"/>
            <a:chExt cx="3619500" cy="4762500"/>
          </a:xfrm>
        </p:grpSpPr>
        <p:sp>
          <p:nvSpPr>
            <p:cNvPr id="97" name="Rectangle 97"/>
            <p:cNvSpPr/>
            <p:nvPr/>
          </p:nvSpPr>
          <p:spPr>
            <a:xfrm>
              <a:off x="8191500" y="904875"/>
              <a:ext cx="3619500" cy="4762500"/>
            </a:xfrm>
            <a:prstGeom prst="roundRect">
              <a:avLst>
                <a:gd name="adj" fmla="val 3158"/>
              </a:avLst>
            </a:prstGeom>
            <a:solidFill>
              <a:srgbClr val="FFFFFF"/>
            </a:solidFill>
            <a:ln>
              <a:noFill/>
            </a:ln>
            <a:effectLst>
              <a:outerShdw blurRad="152400" dist="57150" dir="5400000" algn="ctr" rotWithShape="0">
                <a:srgbClr val="C45F4A">
                  <a:alpha val="7500"/>
                </a:srgbClr>
              </a:outerShdw>
            </a:effectLst>
          </p:spPr>
        </p:sp>
        <p:sp>
          <p:nvSpPr>
            <p:cNvPr id="98" name="TextBox 98"/>
            <p:cNvSpPr txBox="1"/>
            <p:nvPr/>
          </p:nvSpPr>
          <p:spPr>
            <a:xfrm>
              <a:off x="8375142" y="1121092"/>
              <a:ext cx="1467612"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mn-lt"/>
                  <a:ea typeface="+mn-ea"/>
                  <a:cs typeface="+mn-cs"/>
                </a:rPr>
                <a:t>回归生活的银发族</a:t>
              </a:r>
            </a:p>
          </p:txBody>
        </p:sp>
        <p:sp>
          <p:nvSpPr>
            <p:cNvPr id="99" name="TextBox 99"/>
            <p:cNvSpPr txBox="1"/>
            <p:nvPr/>
          </p:nvSpPr>
          <p:spPr>
            <a:xfrm>
              <a:off x="11097730" y="1134428"/>
              <a:ext cx="166154" cy="205359"/>
            </a:xfrm>
            <a:prstGeom prst="rect">
              <a:avLst/>
            </a:prstGeom>
            <a:noFill/>
            <a:ln>
              <a:noFill/>
            </a:ln>
          </p:spPr>
          <p:txBody>
            <a:bodyPr wrap="none" lIns="0" tIns="0" rIns="0" bIns="0" anchor="t" anchorCtr="0">
              <a:spAutoFit/>
            </a:bodyPr>
            <a:lstStyle/>
            <a:p>
              <a:pPr algn="r"/>
              <a:r>
                <a:rPr lang="zh-CN" sz="1050" i="1" dirty="0">
                  <a:solidFill>
                    <a:srgbClr val="E08C7B"/>
                  </a:solidFill>
                  <a:latin typeface="+mn-lt"/>
                  <a:ea typeface="+mn-ea"/>
                  <a:cs typeface="+mn-cs"/>
                </a:rPr>
                <a:t>03</a:t>
              </a:r>
            </a:p>
          </p:txBody>
        </p:sp>
        <p:sp>
          <p:nvSpPr>
            <p:cNvPr id="100" name="Polygon 100"/>
            <p:cNvSpPr/>
            <p:nvPr/>
          </p:nvSpPr>
          <p:spPr>
            <a:xfrm>
              <a:off x="11353800" y="1152525"/>
              <a:ext cx="76200" cy="95250"/>
            </a:xfrm>
            <a:custGeom>
              <a:avLst/>
              <a:gdLst/>
              <a:ahLst/>
              <a:cxnLst/>
              <a:rect l="l" t="t" r="r" b="b"/>
              <a:pathLst>
                <a:path w="76200" h="95250">
                  <a:moveTo>
                    <a:pt x="0" y="0"/>
                  </a:moveTo>
                  <a:lnTo>
                    <a:pt x="76200" y="47625"/>
                  </a:lnTo>
                  <a:lnTo>
                    <a:pt x="0" y="95250"/>
                  </a:lnTo>
                  <a:close/>
                </a:path>
              </a:pathLst>
            </a:custGeom>
            <a:solidFill>
              <a:srgbClr val="E08C7B"/>
            </a:solidFill>
            <a:ln>
              <a:noFill/>
            </a:ln>
          </p:spPr>
        </p:sp>
        <p:sp>
          <p:nvSpPr>
            <p:cNvPr id="101" name="Polygon 101"/>
            <p:cNvSpPr/>
            <p:nvPr/>
          </p:nvSpPr>
          <p:spPr>
            <a:xfrm>
              <a:off x="11468100" y="1152525"/>
              <a:ext cx="76200" cy="95250"/>
            </a:xfrm>
            <a:custGeom>
              <a:avLst/>
              <a:gdLst/>
              <a:ahLst/>
              <a:cxnLst/>
              <a:rect l="l" t="t" r="r" b="b"/>
              <a:pathLst>
                <a:path w="76200" h="95250">
                  <a:moveTo>
                    <a:pt x="0" y="0"/>
                  </a:moveTo>
                  <a:lnTo>
                    <a:pt x="76200" y="47625"/>
                  </a:lnTo>
                  <a:lnTo>
                    <a:pt x="0" y="95250"/>
                  </a:lnTo>
                  <a:close/>
                </a:path>
              </a:pathLst>
            </a:custGeom>
            <a:solidFill>
              <a:srgbClr val="E08C7B"/>
            </a:solidFill>
            <a:ln>
              <a:noFill/>
            </a:ln>
          </p:spPr>
        </p:sp>
        <p:sp>
          <p:nvSpPr>
            <p:cNvPr id="102" name="Rectangle 102"/>
            <p:cNvSpPr/>
            <p:nvPr/>
          </p:nvSpPr>
          <p:spPr>
            <a:xfrm>
              <a:off x="8305800" y="1457325"/>
              <a:ext cx="3390900" cy="1162050"/>
            </a:xfrm>
            <a:prstGeom prst="roundRect">
              <a:avLst>
                <a:gd name="adj" fmla="val 8197"/>
              </a:avLst>
            </a:prstGeom>
            <a:gradFill>
              <a:gsLst>
                <a:gs pos="0">
                  <a:srgbClr val="D87E6B"/>
                </a:gs>
                <a:gs pos="100000">
                  <a:srgbClr val="C45F4A"/>
                </a:gs>
              </a:gsLst>
              <a:lin ang="2700000" scaled="1"/>
            </a:gradFill>
            <a:ln>
              <a:noFill/>
            </a:ln>
          </p:spPr>
        </p:sp>
        <p:sp>
          <p:nvSpPr>
            <p:cNvPr id="103" name="Rectangle 103"/>
            <p:cNvSpPr/>
            <p:nvPr/>
          </p:nvSpPr>
          <p:spPr>
            <a:xfrm>
              <a:off x="8458200" y="1571625"/>
              <a:ext cx="781050" cy="190500"/>
            </a:xfrm>
            <a:prstGeom prst="roundRect">
              <a:avLst>
                <a:gd name="adj" fmla="val 50000"/>
              </a:avLst>
            </a:prstGeom>
            <a:solidFill>
              <a:srgbClr val="F07E6A"/>
            </a:solidFill>
            <a:ln>
              <a:noFill/>
            </a:ln>
          </p:spPr>
        </p:sp>
        <p:sp>
          <p:nvSpPr>
            <p:cNvPr id="104" name="TextBox 104"/>
            <p:cNvSpPr txBox="1"/>
            <p:nvPr/>
          </p:nvSpPr>
          <p:spPr>
            <a:xfrm>
              <a:off x="8661270" y="1615916"/>
              <a:ext cx="374911"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55岁+​</a:t>
              </a:r>
            </a:p>
          </p:txBody>
        </p:sp>
        <p:sp>
          <p:nvSpPr>
            <p:cNvPr id="105" name="TextBox 105"/>
            <p:cNvSpPr txBox="1"/>
            <p:nvPr/>
          </p:nvSpPr>
          <p:spPr>
            <a:xfrm>
              <a:off x="8453438" y="1863566"/>
              <a:ext cx="1524762" cy="590550"/>
            </a:xfrm>
            <a:prstGeom prst="rect">
              <a:avLst/>
            </a:prstGeom>
            <a:noFill/>
            <a:ln>
              <a:noFill/>
            </a:ln>
          </p:spPr>
          <p:txBody>
            <a:bodyPr wrap="none" lIns="0" tIns="0" rIns="0" bIns="0" anchor="t" anchorCtr="0">
              <a:spAutoFit/>
            </a:bodyPr>
            <a:lstStyle/>
            <a:p>
              <a:pPr algn="l">
                <a:lnSpc>
                  <a:spcPts val="1125"/>
                </a:lnSpc>
              </a:pPr>
              <a:r>
                <a:rPr lang="zh-CN" sz="820" dirty="0">
                  <a:solidFill>
                    <a:srgbClr val="FFFFFF"/>
                  </a:solidFill>
                  <a:latin typeface="+mn-lt"/>
                  <a:ea typeface="+mn-ea"/>
                  <a:cs typeface="+mn-cs"/>
                </a:rPr>
                <a:t>即将退休/已退休老人;职场压力</a:t>
              </a:r>
              <a:br/>
              <a:r>
                <a:rPr lang="zh-CN" sz="820" dirty="0">
                  <a:solidFill>
                    <a:srgbClr val="FFFFFF"/>
                  </a:solidFill>
                  <a:latin typeface="+mn-lt"/>
                  <a:ea typeface="+mn-ea"/>
                  <a:cs typeface="+mn-cs"/>
                </a:rPr>
                <a:t>释放，重心回归于自身，有更多</a:t>
              </a:r>
              <a:br/>
              <a:r>
                <a:rPr lang="zh-CN" sz="820" dirty="0">
                  <a:solidFill>
                    <a:srgbClr val="FFFFFF"/>
                  </a:solidFill>
                  <a:latin typeface="+mn-lt"/>
                  <a:ea typeface="+mn-ea"/>
                  <a:cs typeface="+mn-cs"/>
                </a:rPr>
                <a:t>空闲时间;身体机能下降，健康问</a:t>
              </a:r>
              <a:br/>
              <a:r>
                <a:rPr lang="zh-CN" sz="820" dirty="0">
                  <a:solidFill>
                    <a:srgbClr val="FFFFFF"/>
                  </a:solidFill>
                  <a:latin typeface="+mn-lt"/>
                  <a:ea typeface="+mn-ea"/>
                  <a:cs typeface="+mn-cs"/>
                </a:rPr>
                <a:t>题凸显</a:t>
              </a:r>
            </a:p>
          </p:txBody>
        </p:sp>
        <p:sp>
          <p:nvSpPr>
            <p:cNvPr id="106" name="Rectangle 106"/>
            <p:cNvSpPr/>
            <p:nvPr/>
          </p:nvSpPr>
          <p:spPr>
            <a:xfrm>
              <a:off x="10477500" y="1533525"/>
              <a:ext cx="1009650" cy="1009650"/>
            </a:xfrm>
            <a:prstGeom prst="roundRect">
              <a:avLst>
                <a:gd name="adj" fmla="val 9434"/>
              </a:avLst>
            </a:prstGeom>
            <a:solidFill>
              <a:srgbClr val="E8EBF8"/>
            </a:solidFill>
            <a:ln>
              <a:noFill/>
            </a:ln>
          </p:spPr>
        </p:sp>
        <p:grpSp>
          <p:nvGrpSpPr>
            <p:cNvPr id="111" name="Group 111"/>
            <p:cNvGrpSpPr/>
            <p:nvPr/>
          </p:nvGrpSpPr>
          <p:grpSpPr>
            <a:xfrm>
              <a:off x="10768012" y="1824038"/>
              <a:ext cx="428626" cy="428625"/>
              <a:chOff x="10768012" y="1824038"/>
              <a:chExt cx="428626" cy="428625"/>
            </a:xfrm>
          </p:grpSpPr>
          <p:sp>
            <p:nvSpPr>
              <p:cNvPr id="107" name="Freeform 107"/>
              <p:cNvSpPr/>
              <p:nvPr/>
            </p:nvSpPr>
            <p:spPr>
              <a:xfrm>
                <a:off x="10815638" y="1824038"/>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47625">
                <a:solidFill>
                  <a:srgbClr val="C45F4A"/>
                </a:solidFill>
              </a:ln>
            </p:spPr>
          </p:sp>
          <p:sp>
            <p:nvSpPr>
              <p:cNvPr id="108" name="Freeform 108"/>
              <p:cNvSpPr/>
              <p:nvPr/>
            </p:nvSpPr>
            <p:spPr>
              <a:xfrm>
                <a:off x="10768012" y="2109788"/>
                <a:ext cx="285750" cy="142875"/>
              </a:xfrm>
              <a:custGeom>
                <a:avLst/>
                <a:gdLst/>
                <a:ahLst/>
                <a:cxnLst/>
                <a:rect l="l" t="t" r="r" b="b"/>
                <a:pathLst>
                  <a:path w="285750" h="142875">
                    <a:moveTo>
                      <a:pt x="0" y="142875"/>
                    </a:moveTo>
                    <a:lnTo>
                      <a:pt x="0" y="95250"/>
                    </a:lnTo>
                    <a:cubicBezTo>
                      <a:pt x="0" y="42645"/>
                      <a:pt x="42645" y="0"/>
                      <a:pt x="95250" y="0"/>
                    </a:cubicBezTo>
                    <a:lnTo>
                      <a:pt x="190500" y="0"/>
                    </a:lnTo>
                    <a:cubicBezTo>
                      <a:pt x="243105" y="0"/>
                      <a:pt x="285750" y="42645"/>
                      <a:pt x="285750" y="95250"/>
                    </a:cubicBezTo>
                    <a:lnTo>
                      <a:pt x="285750" y="142875"/>
                    </a:lnTo>
                  </a:path>
                </a:pathLst>
              </a:custGeom>
              <a:noFill/>
              <a:ln w="47625">
                <a:solidFill>
                  <a:srgbClr val="C45F4A"/>
                </a:solidFill>
              </a:ln>
            </p:spPr>
          </p:sp>
          <p:sp>
            <p:nvSpPr>
              <p:cNvPr id="109" name="Freeform 109"/>
              <p:cNvSpPr/>
              <p:nvPr/>
            </p:nvSpPr>
            <p:spPr>
              <a:xfrm>
                <a:off x="11077575" y="1827133"/>
                <a:ext cx="71624" cy="184547"/>
              </a:xfrm>
              <a:custGeom>
                <a:avLst/>
                <a:gdLst/>
                <a:ahLst/>
                <a:cxnLst/>
                <a:rect l="l" t="t" r="r" b="b"/>
                <a:pathLst>
                  <a:path w="71624" h="184547">
                    <a:moveTo>
                      <a:pt x="0" y="0"/>
                    </a:moveTo>
                    <a:cubicBezTo>
                      <a:pt x="42146" y="10791"/>
                      <a:pt x="71624" y="48768"/>
                      <a:pt x="71624" y="92273"/>
                    </a:cubicBezTo>
                    <a:cubicBezTo>
                      <a:pt x="71624" y="135779"/>
                      <a:pt x="42146" y="173756"/>
                      <a:pt x="0" y="184547"/>
                    </a:cubicBezTo>
                  </a:path>
                </a:pathLst>
              </a:custGeom>
              <a:noFill/>
              <a:ln w="47625">
                <a:solidFill>
                  <a:srgbClr val="C45F4A"/>
                </a:solidFill>
              </a:ln>
            </p:spPr>
          </p:sp>
          <p:sp>
            <p:nvSpPr>
              <p:cNvPr id="110" name="Freeform 110"/>
              <p:cNvSpPr/>
              <p:nvPr/>
            </p:nvSpPr>
            <p:spPr>
              <a:xfrm>
                <a:off x="11125200" y="2113359"/>
                <a:ext cx="71438" cy="139303"/>
              </a:xfrm>
              <a:custGeom>
                <a:avLst/>
                <a:gdLst/>
                <a:ahLst/>
                <a:cxnLst/>
                <a:rect l="l" t="t" r="r" b="b"/>
                <a:pathLst>
                  <a:path w="71438" h="139303">
                    <a:moveTo>
                      <a:pt x="71438" y="139303"/>
                    </a:moveTo>
                    <a:lnTo>
                      <a:pt x="71438" y="91678"/>
                    </a:lnTo>
                    <a:cubicBezTo>
                      <a:pt x="71189" y="48448"/>
                      <a:pt x="41858" y="10807"/>
                      <a:pt x="0" y="0"/>
                    </a:cubicBezTo>
                  </a:path>
                </a:pathLst>
              </a:custGeom>
              <a:noFill/>
              <a:ln w="47625">
                <a:solidFill>
                  <a:srgbClr val="C45F4A"/>
                </a:solidFill>
              </a:ln>
            </p:spPr>
          </p:sp>
        </p:grpSp>
        <p:sp>
          <p:nvSpPr>
            <p:cNvPr id="112" name="Rectangle 112"/>
            <p:cNvSpPr/>
            <p:nvPr/>
          </p:nvSpPr>
          <p:spPr>
            <a:xfrm>
              <a:off x="8382000" y="2809875"/>
              <a:ext cx="1257300" cy="247650"/>
            </a:xfrm>
            <a:prstGeom prst="roundRect">
              <a:avLst>
                <a:gd name="adj" fmla="val 11538"/>
              </a:avLst>
            </a:prstGeom>
            <a:solidFill>
              <a:srgbClr val="E8634C"/>
            </a:solidFill>
            <a:ln>
              <a:noFill/>
            </a:ln>
          </p:spPr>
        </p:sp>
        <p:grpSp>
          <p:nvGrpSpPr>
            <p:cNvPr id="117" name="Group 117"/>
            <p:cNvGrpSpPr/>
            <p:nvPr/>
          </p:nvGrpSpPr>
          <p:grpSpPr>
            <a:xfrm>
              <a:off x="8477250" y="2882900"/>
              <a:ext cx="114300" cy="111125"/>
              <a:chOff x="8477250" y="2882900"/>
              <a:chExt cx="114300" cy="111125"/>
            </a:xfrm>
          </p:grpSpPr>
          <p:sp>
            <p:nvSpPr>
              <p:cNvPr id="113" name="Freeform 113"/>
              <p:cNvSpPr/>
              <p:nvPr/>
            </p:nvSpPr>
            <p:spPr>
              <a:xfrm>
                <a:off x="8477250" y="29337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FFFFFF"/>
                </a:solidFill>
              </a:ln>
            </p:spPr>
          </p:sp>
          <p:sp>
            <p:nvSpPr>
              <p:cNvPr id="114" name="Freeform 114"/>
              <p:cNvSpPr/>
              <p:nvPr/>
            </p:nvSpPr>
            <p:spPr>
              <a:xfrm>
                <a:off x="8553450" y="29083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FFFFFF"/>
                </a:solidFill>
              </a:ln>
            </p:spPr>
          </p:sp>
          <p:sp>
            <p:nvSpPr>
              <p:cNvPr id="115" name="Freeform 115"/>
              <p:cNvSpPr/>
              <p:nvPr/>
            </p:nvSpPr>
            <p:spPr>
              <a:xfrm>
                <a:off x="8515350" y="28829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FFFFFF"/>
                </a:solidFill>
              </a:ln>
            </p:spPr>
          </p:sp>
          <p:sp>
            <p:nvSpPr>
              <p:cNvPr id="116" name="Freeform 116"/>
              <p:cNvSpPr/>
              <p:nvPr/>
            </p:nvSpPr>
            <p:spPr>
              <a:xfrm>
                <a:off x="8483600" y="2984500"/>
                <a:ext cx="88900" cy="9525"/>
              </a:xfrm>
              <a:custGeom>
                <a:avLst/>
                <a:gdLst/>
                <a:ahLst/>
                <a:cxnLst/>
                <a:rect l="l" t="t" r="r" b="b"/>
                <a:pathLst>
                  <a:path w="88900" h="9525">
                    <a:moveTo>
                      <a:pt x="0" y="0"/>
                    </a:moveTo>
                    <a:lnTo>
                      <a:pt x="88900" y="0"/>
                    </a:lnTo>
                  </a:path>
                </a:pathLst>
              </a:custGeom>
              <a:noFill/>
              <a:ln w="12700">
                <a:solidFill>
                  <a:srgbClr val="FFFFFF"/>
                </a:solidFill>
              </a:ln>
            </p:spPr>
          </p:sp>
        </p:grpSp>
        <p:sp>
          <p:nvSpPr>
            <p:cNvPr id="118" name="TextBox 118"/>
            <p:cNvSpPr txBox="1"/>
            <p:nvPr/>
          </p:nvSpPr>
          <p:spPr>
            <a:xfrm>
              <a:off x="8662797" y="2876074"/>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产品需求场景</a:t>
              </a:r>
            </a:p>
          </p:txBody>
        </p:sp>
        <p:sp>
          <p:nvSpPr>
            <p:cNvPr id="119" name="TextBox 119"/>
            <p:cNvSpPr txBox="1"/>
            <p:nvPr/>
          </p:nvSpPr>
          <p:spPr>
            <a:xfrm>
              <a:off x="8472488" y="3173968"/>
              <a:ext cx="2248535" cy="531019"/>
            </a:xfrm>
            <a:prstGeom prst="rect">
              <a:avLst/>
            </a:prstGeom>
            <a:noFill/>
            <a:ln>
              <a:noFill/>
            </a:ln>
          </p:spPr>
          <p:txBody>
            <a:bodyPr wrap="none" lIns="0" tIns="0" rIns="0" bIns="0" anchor="t" anchorCtr="0">
              <a:spAutoFit/>
            </a:bodyPr>
            <a:lstStyle/>
            <a:p>
              <a:pPr algn="l" marL="92837" indent="-92837">
                <a:lnSpc>
                  <a:spcPts val="1350"/>
                </a:lnSpc>
                <a:buClr>
                  <a:srgbClr val="543E3A"/>
                </a:buClr>
                <a:buSzTx/>
                <a:buFontTx/>
                <a:buChar char="•"/>
              </a:pPr>
              <a:r>
                <a:rPr lang="zh-CN" sz="860" dirty="0">
                  <a:solidFill>
                    <a:srgbClr val="543E3A"/>
                  </a:solidFill>
                  <a:latin typeface="+mn-lt"/>
                  <a:ea typeface="+mn-ea"/>
                  <a:cs typeface="+mn-cs"/>
                </a:rPr>
                <a:t>[急性损伤]:易因摔倒而导致骨折;</a:t>
              </a:r>
            </a:p>
            <a:p>
              <a:pPr algn="l" marL="92837" indent="-92837">
                <a:lnSpc>
                  <a:spcPts val="1350"/>
                </a:lnSpc>
                <a:spcBef>
                  <a:spcPts val="150"/>
                </a:spcBef>
                <a:buClr>
                  <a:srgbClr val="543E3A"/>
                </a:buClr>
                <a:buSzTx/>
                <a:buFontTx/>
                <a:buChar char="•"/>
              </a:pPr>
              <a:r>
                <a:rPr lang="zh-CN" sz="860" dirty="0">
                  <a:solidFill>
                    <a:srgbClr val="543E3A"/>
                  </a:solidFill>
                  <a:latin typeface="+mn-lt"/>
                  <a:ea typeface="+mn-ea"/>
                  <a:cs typeface="+mn-cs"/>
                </a:rPr>
                <a:t>[慢性损伤]:机能退化加之年轻时累积的慢性</a:t>
              </a:r>
              <a:br/>
              <a:r>
                <a:rPr lang="zh-CN" sz="860" dirty="0">
                  <a:solidFill>
                    <a:srgbClr val="543E3A"/>
                  </a:solidFill>
                  <a:latin typeface="+mn-lt"/>
                  <a:ea typeface="+mn-ea"/>
                  <a:cs typeface="+mn-cs"/>
                </a:rPr>
                <a:t>伤痛，如骨性关节炎、肩周炎</a:t>
              </a:r>
            </a:p>
          </p:txBody>
        </p:sp>
        <p:sp>
          <p:nvSpPr>
            <p:cNvPr id="120" name="Rectangle 120"/>
            <p:cNvSpPr/>
            <p:nvPr/>
          </p:nvSpPr>
          <p:spPr>
            <a:xfrm>
              <a:off x="8382000" y="3857625"/>
              <a:ext cx="990600" cy="247650"/>
            </a:xfrm>
            <a:prstGeom prst="roundRect">
              <a:avLst>
                <a:gd name="adj" fmla="val 11538"/>
              </a:avLst>
            </a:prstGeom>
            <a:solidFill>
              <a:srgbClr val="E8634C"/>
            </a:solidFill>
            <a:ln>
              <a:noFill/>
            </a:ln>
          </p:spPr>
        </p:sp>
        <p:grpSp>
          <p:nvGrpSpPr>
            <p:cNvPr id="125" name="Group 125"/>
            <p:cNvGrpSpPr/>
            <p:nvPr/>
          </p:nvGrpSpPr>
          <p:grpSpPr>
            <a:xfrm>
              <a:off x="8489950" y="3930650"/>
              <a:ext cx="95250" cy="107950"/>
              <a:chOff x="8489950" y="3930650"/>
              <a:chExt cx="95250" cy="107950"/>
            </a:xfrm>
          </p:grpSpPr>
          <p:sp>
            <p:nvSpPr>
              <p:cNvPr id="121" name="Freeform 121"/>
              <p:cNvSpPr/>
              <p:nvPr/>
            </p:nvSpPr>
            <p:spPr>
              <a:xfrm>
                <a:off x="8489950" y="393065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FFFFFF"/>
                </a:solidFill>
              </a:ln>
            </p:spPr>
          </p:sp>
          <p:sp>
            <p:nvSpPr>
              <p:cNvPr id="122" name="Freeform 122"/>
              <p:cNvSpPr/>
              <p:nvPr/>
            </p:nvSpPr>
            <p:spPr>
              <a:xfrm>
                <a:off x="8547100" y="401320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sp>
            <p:nvSpPr>
              <p:cNvPr id="123" name="Freeform 123"/>
              <p:cNvSpPr/>
              <p:nvPr/>
            </p:nvSpPr>
            <p:spPr>
              <a:xfrm>
                <a:off x="8515350" y="3956050"/>
                <a:ext cx="25400" cy="9525"/>
              </a:xfrm>
              <a:custGeom>
                <a:avLst/>
                <a:gdLst/>
                <a:ahLst/>
                <a:cxnLst/>
                <a:rect l="l" t="t" r="r" b="b"/>
                <a:pathLst>
                  <a:path w="25400" h="9525">
                    <a:moveTo>
                      <a:pt x="0" y="0"/>
                    </a:moveTo>
                    <a:lnTo>
                      <a:pt x="25400" y="0"/>
                    </a:lnTo>
                  </a:path>
                </a:pathLst>
              </a:custGeom>
              <a:noFill/>
              <a:ln w="12700">
                <a:solidFill>
                  <a:srgbClr val="FFFFFF"/>
                </a:solidFill>
              </a:ln>
            </p:spPr>
          </p:sp>
          <p:sp>
            <p:nvSpPr>
              <p:cNvPr id="124" name="Freeform 124"/>
              <p:cNvSpPr/>
              <p:nvPr/>
            </p:nvSpPr>
            <p:spPr>
              <a:xfrm>
                <a:off x="8515350" y="3981450"/>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126" name="TextBox 126"/>
            <p:cNvSpPr txBox="1"/>
            <p:nvPr/>
          </p:nvSpPr>
          <p:spPr>
            <a:xfrm>
              <a:off x="8662797" y="3923824"/>
              <a:ext cx="537616"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行为偏好</a:t>
              </a:r>
            </a:p>
          </p:txBody>
        </p:sp>
        <p:sp>
          <p:nvSpPr>
            <p:cNvPr id="127" name="Ellipse 127"/>
            <p:cNvSpPr/>
            <p:nvPr/>
          </p:nvSpPr>
          <p:spPr>
            <a:xfrm>
              <a:off x="8491538" y="4291012"/>
              <a:ext cx="47625" cy="47625"/>
            </a:xfrm>
            <a:prstGeom prst="ellipse">
              <a:avLst/>
            </a:prstGeom>
            <a:solidFill>
              <a:srgbClr val="C46D5B"/>
            </a:solidFill>
            <a:ln>
              <a:noFill/>
            </a:ln>
          </p:spPr>
        </p:sp>
        <p:sp>
          <p:nvSpPr>
            <p:cNvPr id="128" name="TextBox 128"/>
            <p:cNvSpPr txBox="1"/>
            <p:nvPr/>
          </p:nvSpPr>
          <p:spPr>
            <a:xfrm>
              <a:off x="8605838" y="4259818"/>
              <a:ext cx="472618"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线上购买</a:t>
              </a:r>
            </a:p>
          </p:txBody>
        </p:sp>
        <p:sp>
          <p:nvSpPr>
            <p:cNvPr id="129" name="Rectangle 129"/>
            <p:cNvSpPr/>
            <p:nvPr/>
          </p:nvSpPr>
          <p:spPr>
            <a:xfrm>
              <a:off x="9258300" y="4267200"/>
              <a:ext cx="2286000" cy="76200"/>
            </a:xfrm>
            <a:prstGeom prst="roundRect">
              <a:avLst>
                <a:gd name="adj" fmla="val 50000"/>
              </a:avLst>
            </a:prstGeom>
            <a:solidFill>
              <a:srgbClr val="E8EBF8"/>
            </a:solidFill>
            <a:ln>
              <a:noFill/>
            </a:ln>
          </p:spPr>
        </p:sp>
        <p:sp>
          <p:nvSpPr>
            <p:cNvPr id="130" name="Rectangle 130"/>
            <p:cNvSpPr/>
            <p:nvPr/>
          </p:nvSpPr>
          <p:spPr>
            <a:xfrm>
              <a:off x="9258300" y="4267200"/>
              <a:ext cx="914400" cy="76200"/>
            </a:xfrm>
            <a:prstGeom prst="roundRect">
              <a:avLst>
                <a:gd name="adj" fmla="val 50000"/>
              </a:avLst>
            </a:prstGeom>
            <a:solidFill>
              <a:srgbClr val="C46D5B"/>
            </a:solidFill>
            <a:ln>
              <a:noFill/>
            </a:ln>
          </p:spPr>
        </p:sp>
        <p:sp>
          <p:nvSpPr>
            <p:cNvPr id="131" name="Ellipse 131"/>
            <p:cNvSpPr/>
            <p:nvPr/>
          </p:nvSpPr>
          <p:spPr>
            <a:xfrm>
              <a:off x="8491538" y="4519612"/>
              <a:ext cx="47625" cy="47625"/>
            </a:xfrm>
            <a:prstGeom prst="ellipse">
              <a:avLst/>
            </a:prstGeom>
            <a:solidFill>
              <a:srgbClr val="E8634C"/>
            </a:solidFill>
            <a:ln>
              <a:noFill/>
            </a:ln>
          </p:spPr>
        </p:sp>
        <p:sp>
          <p:nvSpPr>
            <p:cNvPr id="132" name="TextBox 132"/>
            <p:cNvSpPr txBox="1"/>
            <p:nvPr/>
          </p:nvSpPr>
          <p:spPr>
            <a:xfrm>
              <a:off x="8605838" y="4488418"/>
              <a:ext cx="472618"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线下购买</a:t>
              </a:r>
            </a:p>
          </p:txBody>
        </p:sp>
        <p:sp>
          <p:nvSpPr>
            <p:cNvPr id="133" name="Rectangle 133"/>
            <p:cNvSpPr/>
            <p:nvPr/>
          </p:nvSpPr>
          <p:spPr>
            <a:xfrm>
              <a:off x="9258300" y="4495800"/>
              <a:ext cx="2286000" cy="76200"/>
            </a:xfrm>
            <a:prstGeom prst="roundRect">
              <a:avLst>
                <a:gd name="adj" fmla="val 50000"/>
              </a:avLst>
            </a:prstGeom>
            <a:solidFill>
              <a:srgbClr val="E8EBF8"/>
            </a:solidFill>
            <a:ln>
              <a:noFill/>
            </a:ln>
          </p:spPr>
        </p:sp>
        <p:sp>
          <p:nvSpPr>
            <p:cNvPr id="134" name="Rectangle 134"/>
            <p:cNvSpPr/>
            <p:nvPr/>
          </p:nvSpPr>
          <p:spPr>
            <a:xfrm>
              <a:off x="9258300" y="4495800"/>
              <a:ext cx="2057400" cy="76200"/>
            </a:xfrm>
            <a:prstGeom prst="roundRect">
              <a:avLst>
                <a:gd name="adj" fmla="val 50000"/>
              </a:avLst>
            </a:prstGeom>
            <a:solidFill>
              <a:srgbClr val="E8634C"/>
            </a:solidFill>
            <a:ln>
              <a:noFill/>
            </a:ln>
          </p:spPr>
        </p:sp>
        <p:sp>
          <p:nvSpPr>
            <p:cNvPr id="135" name="Ellipse 135"/>
            <p:cNvSpPr/>
            <p:nvPr/>
          </p:nvSpPr>
          <p:spPr>
            <a:xfrm>
              <a:off x="8491538" y="4748212"/>
              <a:ext cx="47625" cy="47625"/>
            </a:xfrm>
            <a:prstGeom prst="ellipse">
              <a:avLst/>
            </a:prstGeom>
            <a:solidFill>
              <a:srgbClr val="C46D5B"/>
            </a:solidFill>
            <a:ln>
              <a:noFill/>
            </a:ln>
          </p:spPr>
        </p:sp>
        <p:sp>
          <p:nvSpPr>
            <p:cNvPr id="136" name="TextBox 136"/>
            <p:cNvSpPr txBox="1"/>
            <p:nvPr/>
          </p:nvSpPr>
          <p:spPr>
            <a:xfrm>
              <a:off x="8605838" y="4717018"/>
              <a:ext cx="472618"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社媒推荐</a:t>
              </a:r>
            </a:p>
          </p:txBody>
        </p:sp>
        <p:sp>
          <p:nvSpPr>
            <p:cNvPr id="137" name="Rectangle 137"/>
            <p:cNvSpPr/>
            <p:nvPr/>
          </p:nvSpPr>
          <p:spPr>
            <a:xfrm>
              <a:off x="9258300" y="4724400"/>
              <a:ext cx="2286000" cy="76200"/>
            </a:xfrm>
            <a:prstGeom prst="roundRect">
              <a:avLst>
                <a:gd name="adj" fmla="val 50000"/>
              </a:avLst>
            </a:prstGeom>
            <a:solidFill>
              <a:srgbClr val="E8EBF8"/>
            </a:solidFill>
            <a:ln>
              <a:noFill/>
            </a:ln>
          </p:spPr>
        </p:sp>
        <p:sp>
          <p:nvSpPr>
            <p:cNvPr id="138" name="Rectangle 138"/>
            <p:cNvSpPr/>
            <p:nvPr/>
          </p:nvSpPr>
          <p:spPr>
            <a:xfrm>
              <a:off x="9258300" y="4724400"/>
              <a:ext cx="1143000" cy="76200"/>
            </a:xfrm>
            <a:prstGeom prst="roundRect">
              <a:avLst>
                <a:gd name="adj" fmla="val 50000"/>
              </a:avLst>
            </a:prstGeom>
            <a:solidFill>
              <a:srgbClr val="C46D5B"/>
            </a:solidFill>
            <a:ln>
              <a:noFill/>
            </a:ln>
          </p:spPr>
        </p:sp>
        <p:sp>
          <p:nvSpPr>
            <p:cNvPr id="139" name="Rectangle 139"/>
            <p:cNvSpPr/>
            <p:nvPr/>
          </p:nvSpPr>
          <p:spPr>
            <a:xfrm>
              <a:off x="8305800" y="5095875"/>
              <a:ext cx="3390900" cy="495300"/>
            </a:xfrm>
            <a:prstGeom prst="roundRect">
              <a:avLst>
                <a:gd name="adj" fmla="val 15385"/>
              </a:avLst>
            </a:prstGeom>
            <a:solidFill>
              <a:srgbClr val="F5F6FC"/>
            </a:solidFill>
            <a:ln>
              <a:noFill/>
            </a:ln>
          </p:spPr>
        </p:sp>
        <p:sp>
          <p:nvSpPr>
            <p:cNvPr id="140" name="TextBox 140"/>
            <p:cNvSpPr txBox="1"/>
            <p:nvPr/>
          </p:nvSpPr>
          <p:spPr>
            <a:xfrm>
              <a:off x="8453438" y="5212318"/>
              <a:ext cx="2144776"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543E3A"/>
                  </a:solidFill>
                  <a:latin typeface="+mn-lt"/>
                  <a:ea typeface="+mn-ea"/>
                  <a:cs typeface="+mn-cs"/>
                </a:rPr>
                <a:t>更偏好线下购药;传统媒介触达的主要人群，</a:t>
              </a:r>
              <a:br/>
              <a:r>
                <a:rPr lang="zh-CN" sz="860" dirty="0">
                  <a:solidFill>
                    <a:srgbClr val="543E3A"/>
                  </a:solidFill>
                  <a:latin typeface="+mn-lt"/>
                  <a:ea typeface="+mn-ea"/>
                  <a:cs typeface="+mn-cs"/>
                </a:rPr>
                <a:t>更看重价格</a:t>
              </a:r>
            </a:p>
          </p:txBody>
        </p:sp>
      </p:gr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56</a:t>
              </a:r>
            </a:p>
          </p:txBody>
        </p:sp>
        <p:sp>
          <p:nvSpPr>
            <p:cNvPr id="4" name="TextBox 4"/>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用户画像（二类）​</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40" name="panel-purists"/>
          <p:cNvGrpSpPr/>
          <p:nvPr/>
        </p:nvGrpSpPr>
        <p:grpSpPr>
          <a:xfrm>
            <a:off x="762000" y="1000125"/>
            <a:ext cx="5095875" cy="5311712"/>
            <a:chOff x="762000" y="1000125"/>
            <a:chExt cx="5095875" cy="5311712"/>
          </a:xfrm>
        </p:grpSpPr>
        <p:sp>
          <p:nvSpPr>
            <p:cNvPr id="7" name="Rectangle 7"/>
            <p:cNvSpPr/>
            <p:nvPr/>
          </p:nvSpPr>
          <p:spPr>
            <a:xfrm>
              <a:off x="762000" y="1143000"/>
              <a:ext cx="5095875" cy="5162550"/>
            </a:xfrm>
            <a:prstGeom prst="roundRect">
              <a:avLst>
                <a:gd name="adj" fmla="val 1869"/>
              </a:avLst>
            </a:prstGeom>
            <a:solidFill>
              <a:srgbClr val="F5F6FC"/>
            </a:solidFill>
            <a:ln>
              <a:noFill/>
            </a:ln>
            <a:effectLst>
              <a:outerShdw blurRad="152400" dist="57150" dir="5400000" algn="ctr" rotWithShape="0">
                <a:srgbClr val="C45F4A">
                  <a:alpha val="7500"/>
                </a:srgbClr>
              </a:outerShdw>
            </a:effectLst>
          </p:spPr>
        </p:sp>
        <p:sp>
          <p:nvSpPr>
            <p:cNvPr id="8" name="Rectangle 8"/>
            <p:cNvSpPr/>
            <p:nvPr/>
          </p:nvSpPr>
          <p:spPr>
            <a:xfrm>
              <a:off x="762000" y="1143000"/>
              <a:ext cx="5095875" cy="381000"/>
            </a:xfrm>
            <a:prstGeom prst="roundRect">
              <a:avLst>
                <a:gd name="adj" fmla="val 25000"/>
              </a:avLst>
            </a:prstGeom>
            <a:gradFill>
              <a:gsLst>
                <a:gs pos="0">
                  <a:srgbClr val="C45F4A"/>
                </a:gs>
                <a:gs pos="100000">
                  <a:srgbClr val="D87E6B"/>
                </a:gs>
              </a:gsLst>
              <a:lin ang="0" scaled="1"/>
            </a:gradFill>
            <a:ln>
              <a:noFill/>
            </a:ln>
          </p:spPr>
        </p:sp>
        <p:sp>
          <p:nvSpPr>
            <p:cNvPr id="9" name="Rectangle 9"/>
            <p:cNvSpPr/>
            <p:nvPr/>
          </p:nvSpPr>
          <p:spPr>
            <a:xfrm>
              <a:off x="762000" y="1333500"/>
              <a:ext cx="5095875" cy="190500"/>
            </a:xfrm>
            <a:prstGeom prst="rect">
              <a:avLst/>
            </a:prstGeom>
            <a:gradFill>
              <a:gsLst>
                <a:gs pos="0">
                  <a:srgbClr val="C45F4A"/>
                </a:gs>
                <a:gs pos="100000">
                  <a:srgbClr val="D87E6B"/>
                </a:gs>
              </a:gsLst>
              <a:lin ang="0" scaled="1"/>
            </a:gradFill>
            <a:ln>
              <a:noFill/>
            </a:ln>
          </p:spPr>
        </p:sp>
        <p:sp>
          <p:nvSpPr>
            <p:cNvPr id="10" name="TextBox 10"/>
            <p:cNvSpPr txBox="1"/>
            <p:nvPr/>
          </p:nvSpPr>
          <p:spPr>
            <a:xfrm>
              <a:off x="4165890" y="1313974"/>
              <a:ext cx="1554063" cy="190690"/>
            </a:xfrm>
            <a:prstGeom prst="rect">
              <a:avLst/>
            </a:prstGeom>
            <a:noFill/>
            <a:ln>
              <a:noFill/>
            </a:ln>
          </p:spPr>
          <p:txBody>
            <a:bodyPr wrap="none" lIns="0" tIns="0" rIns="0" bIns="0" anchor="t" anchorCtr="0">
              <a:spAutoFit/>
            </a:bodyPr>
            <a:lstStyle/>
            <a:p>
              <a:pPr algn="r"/>
              <a:r>
                <a:rPr lang="en-US" sz="980" spc="75" dirty="0">
                  <a:solidFill>
                    <a:srgbClr val="FFFFFF"/>
                  </a:solidFill>
                  <a:latin typeface="+mn-lt"/>
                  <a:ea typeface="+mn-ea"/>
                  <a:cs typeface="+mn-cs"/>
                </a:rPr>
                <a:t>ESTABLISHED PURISTS</a:t>
              </a:r>
            </a:p>
          </p:txBody>
        </p:sp>
        <p:sp>
          <p:nvSpPr>
            <p:cNvPr id="11" name="Rectangle 11"/>
            <p:cNvSpPr/>
            <p:nvPr/>
          </p:nvSpPr>
          <p:spPr>
            <a:xfrm>
              <a:off x="762000" y="1000125"/>
              <a:ext cx="1809750" cy="400050"/>
            </a:xfrm>
            <a:prstGeom prst="roundRect">
              <a:avLst>
                <a:gd name="adj" fmla="val 19048"/>
              </a:avLst>
            </a:prstGeom>
            <a:solidFill>
              <a:srgbClr val="E8634C"/>
            </a:solidFill>
            <a:ln>
              <a:noFill/>
            </a:ln>
          </p:spPr>
        </p:sp>
        <p:sp>
          <p:nvSpPr>
            <p:cNvPr id="12" name="TextBox 12"/>
            <p:cNvSpPr txBox="1"/>
            <p:nvPr/>
          </p:nvSpPr>
          <p:spPr>
            <a:xfrm>
              <a:off x="1205674" y="1121092"/>
              <a:ext cx="92240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品质探索家</a:t>
              </a:r>
            </a:p>
          </p:txBody>
        </p:sp>
        <p:sp>
          <p:nvSpPr>
            <p:cNvPr id="13" name="Ellipse 13"/>
            <p:cNvSpPr/>
            <p:nvPr/>
          </p:nvSpPr>
          <p:spPr>
            <a:xfrm>
              <a:off x="952500" y="1733550"/>
              <a:ext cx="952500" cy="952500"/>
            </a:xfrm>
            <a:prstGeom prst="ellipse">
              <a:avLst/>
            </a:prstGeom>
            <a:solidFill>
              <a:srgbClr val="FFFFFF"/>
            </a:solidFill>
            <a:ln w="19050">
              <a:solidFill>
                <a:srgbClr val="C9D1F0"/>
              </a:solidFill>
            </a:ln>
          </p:spPr>
        </p:sp>
        <p:grpSp>
          <p:nvGrpSpPr>
            <p:cNvPr id="18" name="Group 18"/>
            <p:cNvGrpSpPr/>
            <p:nvPr/>
          </p:nvGrpSpPr>
          <p:grpSpPr>
            <a:xfrm>
              <a:off x="1214438" y="1995488"/>
              <a:ext cx="428624" cy="428625"/>
              <a:chOff x="1214438" y="1995488"/>
              <a:chExt cx="428624" cy="428625"/>
            </a:xfrm>
          </p:grpSpPr>
          <p:sp>
            <p:nvSpPr>
              <p:cNvPr id="14" name="Freeform 14"/>
              <p:cNvSpPr/>
              <p:nvPr/>
            </p:nvSpPr>
            <p:spPr>
              <a:xfrm>
                <a:off x="1262062" y="1995488"/>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47625">
                <a:solidFill>
                  <a:srgbClr val="C45F4A"/>
                </a:solidFill>
              </a:ln>
            </p:spPr>
          </p:sp>
          <p:sp>
            <p:nvSpPr>
              <p:cNvPr id="15" name="Freeform 15"/>
              <p:cNvSpPr/>
              <p:nvPr/>
            </p:nvSpPr>
            <p:spPr>
              <a:xfrm>
                <a:off x="1214438" y="2281238"/>
                <a:ext cx="285750" cy="142875"/>
              </a:xfrm>
              <a:custGeom>
                <a:avLst/>
                <a:gdLst/>
                <a:ahLst/>
                <a:cxnLst/>
                <a:rect l="l" t="t" r="r" b="b"/>
                <a:pathLst>
                  <a:path w="285750" h="142875">
                    <a:moveTo>
                      <a:pt x="0" y="142875"/>
                    </a:moveTo>
                    <a:lnTo>
                      <a:pt x="0" y="95250"/>
                    </a:lnTo>
                    <a:cubicBezTo>
                      <a:pt x="0" y="42645"/>
                      <a:pt x="42645" y="0"/>
                      <a:pt x="95250" y="0"/>
                    </a:cubicBezTo>
                    <a:lnTo>
                      <a:pt x="190500" y="0"/>
                    </a:lnTo>
                    <a:cubicBezTo>
                      <a:pt x="243105" y="0"/>
                      <a:pt x="285750" y="42645"/>
                      <a:pt x="285750" y="95250"/>
                    </a:cubicBezTo>
                    <a:lnTo>
                      <a:pt x="285750" y="142875"/>
                    </a:lnTo>
                  </a:path>
                </a:pathLst>
              </a:custGeom>
              <a:noFill/>
              <a:ln w="47625">
                <a:solidFill>
                  <a:srgbClr val="C45F4A"/>
                </a:solidFill>
              </a:ln>
            </p:spPr>
          </p:sp>
          <p:sp>
            <p:nvSpPr>
              <p:cNvPr id="16" name="Freeform 16"/>
              <p:cNvSpPr/>
              <p:nvPr/>
            </p:nvSpPr>
            <p:spPr>
              <a:xfrm>
                <a:off x="1524000" y="1998583"/>
                <a:ext cx="71624" cy="184547"/>
              </a:xfrm>
              <a:custGeom>
                <a:avLst/>
                <a:gdLst/>
                <a:ahLst/>
                <a:cxnLst/>
                <a:rect l="l" t="t" r="r" b="b"/>
                <a:pathLst>
                  <a:path w="71624" h="184547">
                    <a:moveTo>
                      <a:pt x="0" y="0"/>
                    </a:moveTo>
                    <a:cubicBezTo>
                      <a:pt x="42146" y="10791"/>
                      <a:pt x="71624" y="48768"/>
                      <a:pt x="71624" y="92273"/>
                    </a:cubicBezTo>
                    <a:cubicBezTo>
                      <a:pt x="71624" y="135779"/>
                      <a:pt x="42146" y="173756"/>
                      <a:pt x="0" y="184547"/>
                    </a:cubicBezTo>
                  </a:path>
                </a:pathLst>
              </a:custGeom>
              <a:noFill/>
              <a:ln w="47625">
                <a:solidFill>
                  <a:srgbClr val="C45F4A"/>
                </a:solidFill>
              </a:ln>
            </p:spPr>
          </p:sp>
          <p:sp>
            <p:nvSpPr>
              <p:cNvPr id="17" name="Freeform 17"/>
              <p:cNvSpPr/>
              <p:nvPr/>
            </p:nvSpPr>
            <p:spPr>
              <a:xfrm>
                <a:off x="1571625" y="2284809"/>
                <a:ext cx="71437" cy="139303"/>
              </a:xfrm>
              <a:custGeom>
                <a:avLst/>
                <a:gdLst/>
                <a:ahLst/>
                <a:cxnLst/>
                <a:rect l="l" t="t" r="r" b="b"/>
                <a:pathLst>
                  <a:path w="71437" h="139303">
                    <a:moveTo>
                      <a:pt x="71437" y="139303"/>
                    </a:moveTo>
                    <a:lnTo>
                      <a:pt x="71437" y="91678"/>
                    </a:lnTo>
                    <a:cubicBezTo>
                      <a:pt x="71189" y="48448"/>
                      <a:pt x="41858" y="10807"/>
                      <a:pt x="0" y="0"/>
                    </a:cubicBezTo>
                  </a:path>
                </a:pathLst>
              </a:custGeom>
              <a:noFill/>
              <a:ln w="47625">
                <a:solidFill>
                  <a:srgbClr val="C45F4A"/>
                </a:solidFill>
              </a:ln>
            </p:spPr>
          </p:sp>
        </p:grpSp>
        <p:sp>
          <p:nvSpPr>
            <p:cNvPr id="19" name="Ellipse 19"/>
            <p:cNvSpPr/>
            <p:nvPr/>
          </p:nvSpPr>
          <p:spPr>
            <a:xfrm>
              <a:off x="2009775" y="1771650"/>
              <a:ext cx="76200" cy="76200"/>
            </a:xfrm>
            <a:prstGeom prst="ellipse">
              <a:avLst/>
            </a:prstGeom>
            <a:solidFill>
              <a:srgbClr val="C45F4A"/>
            </a:solidFill>
            <a:ln>
              <a:noFill/>
            </a:ln>
          </p:spPr>
        </p:sp>
        <p:sp>
          <p:nvSpPr>
            <p:cNvPr id="20" name="TextBox 20"/>
            <p:cNvSpPr txBox="1"/>
            <p:nvPr/>
          </p:nvSpPr>
          <p:spPr>
            <a:xfrm>
              <a:off x="3530620" y="1990249"/>
              <a:ext cx="1236833" cy="190690"/>
            </a:xfrm>
            <a:prstGeom prst="rect">
              <a:avLst/>
            </a:prstGeom>
            <a:noFill/>
            <a:ln>
              <a:noFill/>
            </a:ln>
          </p:spPr>
          <p:txBody>
            <a:bodyPr wrap="none" lIns="0" tIns="0" rIns="0" bIns="0" anchor="t" anchorCtr="0">
              <a:spAutoFit/>
            </a:bodyPr>
            <a:lstStyle/>
            <a:p>
              <a:pPr algn="r"/>
              <a:r>
                <a:rPr lang="zh-CN" sz="980" dirty="0">
                  <a:solidFill>
                    <a:srgbClr val="C45F4A"/>
                  </a:solidFill>
                  <a:latin typeface="+mn-lt"/>
                  <a:ea typeface="+mn-ea"/>
                  <a:cs typeface="+mn-cs"/>
                </a:rPr>
                <a:t>人群特征｜</a:t>
              </a:r>
              <a:r>
                <a:rPr lang="zh-CN" sz="980" dirty="0">
                  <a:solidFill>
                    <a:srgbClr val="E2624C"/>
                  </a:solidFill>
                  <a:latin typeface="+mn-lt"/>
                  <a:ea typeface="+mn-ea"/>
                  <a:cs typeface="+mn-cs"/>
                </a:rPr>
                <a:t>26-35岁</a:t>
              </a:r>
              <a:r>
                <a:rPr lang="zh-CN" sz="980" dirty="0">
                  <a:solidFill>
                    <a:srgbClr val="C45F4A"/>
                  </a:solidFill>
                  <a:latin typeface="+mn-lt"/>
                  <a:ea typeface="+mn-ea"/>
                  <a:cs typeface="+mn-cs"/>
                </a:rPr>
                <a:t>​</a:t>
              </a:r>
            </a:p>
          </p:txBody>
        </p:sp>
        <p:sp>
          <p:nvSpPr>
            <p:cNvPr id="21" name="TextBox 21"/>
            <p:cNvSpPr txBox="1"/>
            <p:nvPr/>
          </p:nvSpPr>
          <p:spPr>
            <a:xfrm>
              <a:off x="2354199" y="2239328"/>
              <a:ext cx="2413635" cy="205359"/>
            </a:xfrm>
            <a:prstGeom prst="rect">
              <a:avLst/>
            </a:prstGeom>
            <a:noFill/>
            <a:ln>
              <a:noFill/>
            </a:ln>
          </p:spPr>
          <p:txBody>
            <a:bodyPr wrap="none" lIns="0" tIns="0" rIns="0" bIns="0" anchor="t" anchorCtr="0">
              <a:spAutoFit/>
            </a:bodyPr>
            <a:lstStyle/>
            <a:p>
              <a:pPr algn="r"/>
              <a:r>
                <a:rPr lang="zh-CN" sz="1050" b="1" dirty="0">
                  <a:solidFill>
                    <a:srgbClr val="1A1A1A"/>
                  </a:solidFill>
                  <a:latin typeface="+mn-lt"/>
                  <a:ea typeface="+mn-ea"/>
                  <a:cs typeface="+mn-cs"/>
                </a:rPr>
                <a:t>集聚一线城市的职场精英、都市新中产</a:t>
              </a:r>
            </a:p>
          </p:txBody>
        </p:sp>
        <p:sp>
          <p:nvSpPr>
            <p:cNvPr id="22" name="TextBox 22"/>
            <p:cNvSpPr txBox="1"/>
            <p:nvPr/>
          </p:nvSpPr>
          <p:spPr>
            <a:xfrm>
              <a:off x="995172" y="2790349"/>
              <a:ext cx="537616" cy="190690"/>
            </a:xfrm>
            <a:prstGeom prst="rect">
              <a:avLst/>
            </a:prstGeom>
            <a:noFill/>
            <a:ln>
              <a:noFill/>
            </a:ln>
          </p:spPr>
          <p:txBody>
            <a:bodyPr wrap="none" lIns="0" tIns="0" rIns="0" bIns="0" anchor="t" anchorCtr="0">
              <a:spAutoFit/>
            </a:bodyPr>
            <a:lstStyle/>
            <a:p>
              <a:pPr algn="l"/>
              <a:r>
                <a:rPr lang="zh-CN" sz="980" dirty="0">
                  <a:solidFill>
                    <a:srgbClr val="C45F4A"/>
                  </a:solidFill>
                  <a:latin typeface="+mn-lt"/>
                  <a:ea typeface="+mn-ea"/>
                  <a:cs typeface="+mn-cs"/>
                </a:rPr>
                <a:t>需求痛点</a:t>
              </a:r>
            </a:p>
          </p:txBody>
        </p:sp>
        <p:sp>
          <p:nvSpPr>
            <p:cNvPr id="23" name="TextBox 23"/>
            <p:cNvSpPr txBox="1"/>
            <p:nvPr/>
          </p:nvSpPr>
          <p:spPr>
            <a:xfrm>
              <a:off x="1995488" y="2760345"/>
              <a:ext cx="229552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543E3A"/>
                  </a:solidFill>
                  <a:latin typeface="+mn-lt"/>
                  <a:ea typeface="+mn-ea"/>
                  <a:cs typeface="+mn-cs"/>
                </a:rPr>
                <a:t>经济能力坚实，</a:t>
              </a:r>
              <a:r>
                <a:rPr lang="zh-CN" sz="900" dirty="0">
                  <a:solidFill>
                    <a:srgbClr val="E2624C"/>
                  </a:solidFill>
                  <a:latin typeface="+mn-lt"/>
                  <a:ea typeface="+mn-ea"/>
                  <a:cs typeface="+mn-cs"/>
                </a:rPr>
                <a:t>重视品质，不白目跟风</a:t>
              </a:r>
              <a:r>
                <a:rPr lang="zh-CN" sz="900" dirty="0">
                  <a:solidFill>
                    <a:srgbClr val="543E3A"/>
                  </a:solidFill>
                  <a:latin typeface="+mn-lt"/>
                  <a:ea typeface="+mn-ea"/>
                  <a:cs typeface="+mn-cs"/>
                </a:rPr>
                <a:t>，对智</a:t>
              </a:r>
              <a:br/>
              <a:r>
                <a:rPr lang="zh-CN" sz="900" dirty="0">
                  <a:solidFill>
                    <a:srgbClr val="543E3A"/>
                  </a:solidFill>
                  <a:latin typeface="+mn-lt"/>
                  <a:ea typeface="+mn-ea"/>
                  <a:cs typeface="+mn-cs"/>
                </a:rPr>
                <a:t>能家居、时尚、自我提升感兴趣</a:t>
              </a:r>
            </a:p>
          </p:txBody>
        </p:sp>
        <p:sp>
          <p:nvSpPr>
            <p:cNvPr id="24" name="Line 24"/>
            <p:cNvSpPr/>
            <p:nvPr/>
          </p:nvSpPr>
          <p:spPr>
            <a:xfrm>
              <a:off x="1000125" y="3162300"/>
              <a:ext cx="4619625" cy="9525"/>
            </a:xfrm>
            <a:custGeom>
              <a:avLst/>
              <a:gdLst/>
              <a:ahLst/>
              <a:cxnLst/>
              <a:rect l="l" t="t" r="r" b="b"/>
              <a:pathLst>
                <a:path w="4619625" h="9525">
                  <a:moveTo>
                    <a:pt x="0" y="0"/>
                  </a:moveTo>
                  <a:lnTo>
                    <a:pt x="4619625" y="0"/>
                  </a:lnTo>
                </a:path>
              </a:pathLst>
            </a:custGeom>
            <a:noFill/>
            <a:ln w="9525">
              <a:solidFill>
                <a:srgbClr val="E4E8F7"/>
              </a:solidFill>
            </a:ln>
          </p:spPr>
        </p:sp>
        <p:sp>
          <p:nvSpPr>
            <p:cNvPr id="25" name="TextBox 25"/>
            <p:cNvSpPr txBox="1"/>
            <p:nvPr/>
          </p:nvSpPr>
          <p:spPr>
            <a:xfrm>
              <a:off x="995172" y="3342799"/>
              <a:ext cx="537616" cy="190690"/>
            </a:xfrm>
            <a:prstGeom prst="rect">
              <a:avLst/>
            </a:prstGeom>
            <a:noFill/>
            <a:ln>
              <a:noFill/>
            </a:ln>
          </p:spPr>
          <p:txBody>
            <a:bodyPr wrap="none" lIns="0" tIns="0" rIns="0" bIns="0" anchor="t" anchorCtr="0">
              <a:spAutoFit/>
            </a:bodyPr>
            <a:lstStyle/>
            <a:p>
              <a:pPr algn="l"/>
              <a:r>
                <a:rPr lang="zh-CN" sz="980" dirty="0">
                  <a:solidFill>
                    <a:srgbClr val="C45F4A"/>
                  </a:solidFill>
                  <a:latin typeface="+mn-lt"/>
                  <a:ea typeface="+mn-ea"/>
                  <a:cs typeface="+mn-cs"/>
                </a:rPr>
                <a:t>沟通要点</a:t>
              </a:r>
            </a:p>
          </p:txBody>
        </p:sp>
        <p:sp>
          <p:nvSpPr>
            <p:cNvPr id="26" name="TextBox 26"/>
            <p:cNvSpPr txBox="1"/>
            <p:nvPr/>
          </p:nvSpPr>
          <p:spPr>
            <a:xfrm>
              <a:off x="1995488" y="3312795"/>
              <a:ext cx="232981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543E3A"/>
                  </a:solidFill>
                  <a:latin typeface="+mn-lt"/>
                  <a:ea typeface="+mn-ea"/>
                  <a:cs typeface="+mn-cs"/>
                </a:rPr>
                <a:t>追求口味、品质、效率 需要能彰显自身品味的</a:t>
              </a:r>
              <a:br/>
              <a:r>
                <a:rPr lang="zh-CN" sz="900" dirty="0">
                  <a:solidFill>
                    <a:srgbClr val="543E3A"/>
                  </a:solidFill>
                  <a:latin typeface="+mn-lt"/>
                  <a:ea typeface="+mn-ea"/>
                  <a:cs typeface="+mn-cs"/>
                </a:rPr>
                <a:t>全自动咖非机</a:t>
              </a:r>
            </a:p>
          </p:txBody>
        </p:sp>
        <p:sp>
          <p:nvSpPr>
            <p:cNvPr id="27" name="Line 27"/>
            <p:cNvSpPr/>
            <p:nvPr/>
          </p:nvSpPr>
          <p:spPr>
            <a:xfrm>
              <a:off x="1000125" y="3714750"/>
              <a:ext cx="4619625" cy="9525"/>
            </a:xfrm>
            <a:custGeom>
              <a:avLst/>
              <a:gdLst/>
              <a:ahLst/>
              <a:cxnLst/>
              <a:rect l="l" t="t" r="r" b="b"/>
              <a:pathLst>
                <a:path w="4619625" h="9525">
                  <a:moveTo>
                    <a:pt x="0" y="0"/>
                  </a:moveTo>
                  <a:lnTo>
                    <a:pt x="4619625" y="0"/>
                  </a:lnTo>
                </a:path>
              </a:pathLst>
            </a:custGeom>
            <a:noFill/>
            <a:ln w="9525">
              <a:solidFill>
                <a:srgbClr val="E4E8F7"/>
              </a:solidFill>
            </a:ln>
          </p:spPr>
        </p:sp>
        <p:sp>
          <p:nvSpPr>
            <p:cNvPr id="28" name="TextBox 28"/>
            <p:cNvSpPr txBox="1"/>
            <p:nvPr/>
          </p:nvSpPr>
          <p:spPr>
            <a:xfrm>
              <a:off x="995172" y="3895249"/>
              <a:ext cx="537616" cy="190690"/>
            </a:xfrm>
            <a:prstGeom prst="rect">
              <a:avLst/>
            </a:prstGeom>
            <a:noFill/>
            <a:ln>
              <a:noFill/>
            </a:ln>
          </p:spPr>
          <p:txBody>
            <a:bodyPr wrap="none" lIns="0" tIns="0" rIns="0" bIns="0" anchor="t" anchorCtr="0">
              <a:spAutoFit/>
            </a:bodyPr>
            <a:lstStyle/>
            <a:p>
              <a:pPr algn="l"/>
              <a:r>
                <a:rPr lang="zh-CN" sz="980" dirty="0">
                  <a:solidFill>
                    <a:srgbClr val="C45F4A"/>
                  </a:solidFill>
                  <a:latin typeface="+mn-lt"/>
                  <a:ea typeface="+mn-ea"/>
                  <a:cs typeface="+mn-cs"/>
                </a:rPr>
                <a:t>场景切入</a:t>
              </a:r>
            </a:p>
          </p:txBody>
        </p:sp>
        <p:sp>
          <p:nvSpPr>
            <p:cNvPr id="29" name="TextBox 29"/>
            <p:cNvSpPr txBox="1"/>
            <p:nvPr/>
          </p:nvSpPr>
          <p:spPr>
            <a:xfrm>
              <a:off x="1995488" y="3865245"/>
              <a:ext cx="229552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543E3A"/>
                  </a:solidFill>
                  <a:latin typeface="+mn-lt"/>
                  <a:ea typeface="+mn-ea"/>
                  <a:cs typeface="+mn-cs"/>
                </a:rPr>
                <a:t>无需对品类进行教育，但需突出咖啡机出品</a:t>
              </a:r>
              <a:r>
                <a:rPr lang="zh-CN" sz="900" dirty="0">
                  <a:solidFill>
                    <a:srgbClr val="E2624C"/>
                  </a:solidFill>
                  <a:latin typeface="+mn-lt"/>
                  <a:ea typeface="+mn-ea"/>
                  <a:cs typeface="+mn-cs"/>
                </a:rPr>
                <a:t>稳</a:t>
              </a:r>
              <a:br/>
              <a:r>
                <a:rPr lang="zh-CN" sz="900" dirty="0">
                  <a:solidFill>
                    <a:srgbClr val="E2624C"/>
                  </a:solidFill>
                  <a:latin typeface="+mn-lt"/>
                  <a:ea typeface="+mn-ea"/>
                  <a:cs typeface="+mn-cs"/>
                </a:rPr>
                <a:t>定、高效智能、品质甄选</a:t>
              </a:r>
              <a:r>
                <a:rPr lang="zh-CN" sz="900" dirty="0">
                  <a:solidFill>
                    <a:srgbClr val="543E3A"/>
                  </a:solidFill>
                  <a:latin typeface="+mn-lt"/>
                  <a:ea typeface="+mn-ea"/>
                  <a:cs typeface="+mn-cs"/>
                </a:rPr>
                <a:t>等优势来触动他们</a:t>
              </a:r>
            </a:p>
          </p:txBody>
        </p:sp>
        <p:sp>
          <p:nvSpPr>
            <p:cNvPr id="30" name="Line 30"/>
            <p:cNvSpPr/>
            <p:nvPr/>
          </p:nvSpPr>
          <p:spPr>
            <a:xfrm>
              <a:off x="1000125" y="4267200"/>
              <a:ext cx="4619625" cy="9525"/>
            </a:xfrm>
            <a:custGeom>
              <a:avLst/>
              <a:gdLst/>
              <a:ahLst/>
              <a:cxnLst/>
              <a:rect l="l" t="t" r="r" b="b"/>
              <a:pathLst>
                <a:path w="4619625" h="9525">
                  <a:moveTo>
                    <a:pt x="0" y="0"/>
                  </a:moveTo>
                  <a:lnTo>
                    <a:pt x="4619625" y="0"/>
                  </a:lnTo>
                </a:path>
              </a:pathLst>
            </a:custGeom>
            <a:noFill/>
            <a:ln w="9525">
              <a:solidFill>
                <a:srgbClr val="E4E8F7"/>
              </a:solidFill>
            </a:ln>
          </p:spPr>
        </p:sp>
        <p:sp>
          <p:nvSpPr>
            <p:cNvPr id="31" name="TextBox 31"/>
            <p:cNvSpPr txBox="1"/>
            <p:nvPr/>
          </p:nvSpPr>
          <p:spPr>
            <a:xfrm>
              <a:off x="995172" y="4647724"/>
              <a:ext cx="537616" cy="190690"/>
            </a:xfrm>
            <a:prstGeom prst="rect">
              <a:avLst/>
            </a:prstGeom>
            <a:noFill/>
            <a:ln>
              <a:noFill/>
            </a:ln>
          </p:spPr>
          <p:txBody>
            <a:bodyPr wrap="none" lIns="0" tIns="0" rIns="0" bIns="0" anchor="t" anchorCtr="0">
              <a:spAutoFit/>
            </a:bodyPr>
            <a:lstStyle/>
            <a:p>
              <a:pPr algn="l"/>
              <a:r>
                <a:rPr lang="zh-CN" sz="980" dirty="0">
                  <a:solidFill>
                    <a:srgbClr val="C45F4A"/>
                  </a:solidFill>
                  <a:latin typeface="+mn-lt"/>
                  <a:ea typeface="+mn-ea"/>
                  <a:cs typeface="+mn-cs"/>
                </a:rPr>
                <a:t>达人特点</a:t>
              </a:r>
            </a:p>
          </p:txBody>
        </p:sp>
        <p:sp>
          <p:nvSpPr>
            <p:cNvPr id="32" name="Rectangle 32"/>
            <p:cNvSpPr/>
            <p:nvPr/>
          </p:nvSpPr>
          <p:spPr>
            <a:xfrm>
              <a:off x="2000250" y="4572000"/>
              <a:ext cx="1143000" cy="247650"/>
            </a:xfrm>
            <a:prstGeom prst="roundRect">
              <a:avLst>
                <a:gd name="adj" fmla="val 50000"/>
              </a:avLst>
            </a:prstGeom>
            <a:solidFill>
              <a:srgbClr val="C45F4A"/>
            </a:solidFill>
            <a:ln>
              <a:noFill/>
            </a:ln>
          </p:spPr>
        </p:sp>
        <p:sp>
          <p:nvSpPr>
            <p:cNvPr id="33" name="TextBox 33"/>
            <p:cNvSpPr txBox="1"/>
            <p:nvPr/>
          </p:nvSpPr>
          <p:spPr>
            <a:xfrm>
              <a:off x="2203514" y="4646295"/>
              <a:ext cx="73647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家享咖啡场景</a:t>
              </a:r>
            </a:p>
          </p:txBody>
        </p:sp>
        <p:sp>
          <p:nvSpPr>
            <p:cNvPr id="34" name="Rectangle 34"/>
            <p:cNvSpPr/>
            <p:nvPr/>
          </p:nvSpPr>
          <p:spPr>
            <a:xfrm>
              <a:off x="3286125" y="4572000"/>
              <a:ext cx="1143000" cy="247650"/>
            </a:xfrm>
            <a:prstGeom prst="roundRect">
              <a:avLst>
                <a:gd name="adj" fmla="val 50000"/>
              </a:avLst>
            </a:prstGeom>
            <a:solidFill>
              <a:srgbClr val="FFFFFF"/>
            </a:solidFill>
            <a:ln w="9525">
              <a:solidFill>
                <a:srgbClr val="C45F4A"/>
              </a:solidFill>
            </a:ln>
          </p:spPr>
        </p:sp>
        <p:sp>
          <p:nvSpPr>
            <p:cNvPr id="35" name="TextBox 35"/>
            <p:cNvSpPr txBox="1"/>
            <p:nvPr/>
          </p:nvSpPr>
          <p:spPr>
            <a:xfrm>
              <a:off x="3489388" y="4646295"/>
              <a:ext cx="736473"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装修设计场景</a:t>
              </a:r>
            </a:p>
          </p:txBody>
        </p:sp>
        <p:sp>
          <p:nvSpPr>
            <p:cNvPr id="36" name="Rectangle 36"/>
            <p:cNvSpPr/>
            <p:nvPr/>
          </p:nvSpPr>
          <p:spPr>
            <a:xfrm>
              <a:off x="2000250" y="4895850"/>
              <a:ext cx="1143000" cy="247650"/>
            </a:xfrm>
            <a:prstGeom prst="roundRect">
              <a:avLst>
                <a:gd name="adj" fmla="val 50000"/>
              </a:avLst>
            </a:prstGeom>
            <a:solidFill>
              <a:srgbClr val="FFFFFF"/>
            </a:solidFill>
            <a:ln w="9525">
              <a:solidFill>
                <a:srgbClr val="C45F4A"/>
              </a:solidFill>
            </a:ln>
          </p:spPr>
        </p:sp>
        <p:sp>
          <p:nvSpPr>
            <p:cNvPr id="37" name="TextBox 37"/>
            <p:cNvSpPr txBox="1"/>
            <p:nvPr/>
          </p:nvSpPr>
          <p:spPr>
            <a:xfrm>
              <a:off x="2203514" y="4970145"/>
              <a:ext cx="736473"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工作小憩场景</a:t>
              </a:r>
            </a:p>
          </p:txBody>
        </p:sp>
        <p:sp>
          <p:nvSpPr>
            <p:cNvPr id="38" name="Rectangle 38"/>
            <p:cNvSpPr/>
            <p:nvPr/>
          </p:nvSpPr>
          <p:spPr>
            <a:xfrm>
              <a:off x="5286375" y="6019800"/>
              <a:ext cx="571500" cy="285750"/>
            </a:xfrm>
            <a:prstGeom prst="roundRect">
              <a:avLst>
                <a:gd name="adj" fmla="val 26667"/>
              </a:avLst>
            </a:prstGeom>
            <a:solidFill>
              <a:srgbClr val="E8634C"/>
            </a:solidFill>
            <a:ln>
              <a:noFill/>
            </a:ln>
          </p:spPr>
        </p:sp>
        <p:sp>
          <p:nvSpPr>
            <p:cNvPr id="39" name="TextBox 39"/>
            <p:cNvSpPr txBox="1"/>
            <p:nvPr/>
          </p:nvSpPr>
          <p:spPr>
            <a:xfrm>
              <a:off x="5444346" y="6106478"/>
              <a:ext cx="255559" cy="205359"/>
            </a:xfrm>
            <a:prstGeom prst="rect">
              <a:avLst/>
            </a:prstGeom>
            <a:noFill/>
            <a:ln>
              <a:noFill/>
            </a:ln>
          </p:spPr>
          <p:txBody>
            <a:bodyPr wrap="none" lIns="0" tIns="0" rIns="0" bIns="0" anchor="t" anchorCtr="0">
              <a:spAutoFit/>
            </a:bodyPr>
            <a:lstStyle/>
            <a:p>
              <a:pPr algn="ctr"/>
              <a:r>
                <a:rPr lang="zh-CN" sz="1050" b="1" i="1" dirty="0">
                  <a:solidFill>
                    <a:srgbClr val="FFFFFF"/>
                  </a:solidFill>
                  <a:latin typeface="+mn-lt"/>
                  <a:ea typeface="+mn-ea"/>
                  <a:cs typeface="+mn-cs"/>
                </a:rPr>
                <a:t>01.</a:t>
              </a:r>
            </a:p>
          </p:txBody>
        </p:sp>
      </p:grpSp>
      <p:grpSp>
        <p:nvGrpSpPr>
          <p:cNvPr id="74" name="panel-lovers"/>
          <p:cNvGrpSpPr/>
          <p:nvPr/>
        </p:nvGrpSpPr>
        <p:grpSpPr>
          <a:xfrm>
            <a:off x="6334125" y="1000125"/>
            <a:ext cx="5095875" cy="5311712"/>
            <a:chOff x="6334125" y="1000125"/>
            <a:chExt cx="5095875" cy="5311712"/>
          </a:xfrm>
        </p:grpSpPr>
        <p:sp>
          <p:nvSpPr>
            <p:cNvPr id="41" name="Rectangle 41"/>
            <p:cNvSpPr/>
            <p:nvPr/>
          </p:nvSpPr>
          <p:spPr>
            <a:xfrm>
              <a:off x="6334125" y="1143000"/>
              <a:ext cx="5095875" cy="5162550"/>
            </a:xfrm>
            <a:prstGeom prst="roundRect">
              <a:avLst>
                <a:gd name="adj" fmla="val 1869"/>
              </a:avLst>
            </a:prstGeom>
            <a:solidFill>
              <a:srgbClr val="F5F6FC"/>
            </a:solidFill>
            <a:ln>
              <a:noFill/>
            </a:ln>
            <a:effectLst>
              <a:outerShdw blurRad="152400" dist="57150" dir="5400000" algn="ctr" rotWithShape="0">
                <a:srgbClr val="C45F4A">
                  <a:alpha val="7500"/>
                </a:srgbClr>
              </a:outerShdw>
            </a:effectLst>
          </p:spPr>
        </p:sp>
        <p:sp>
          <p:nvSpPr>
            <p:cNvPr id="42" name="Rectangle 42"/>
            <p:cNvSpPr/>
            <p:nvPr/>
          </p:nvSpPr>
          <p:spPr>
            <a:xfrm>
              <a:off x="6334125" y="1143000"/>
              <a:ext cx="5095875" cy="381000"/>
            </a:xfrm>
            <a:prstGeom prst="roundRect">
              <a:avLst>
                <a:gd name="adj" fmla="val 25000"/>
              </a:avLst>
            </a:prstGeom>
            <a:gradFill>
              <a:gsLst>
                <a:gs pos="0">
                  <a:srgbClr val="C45F4A"/>
                </a:gs>
                <a:gs pos="100000">
                  <a:srgbClr val="D87E6B"/>
                </a:gs>
              </a:gsLst>
              <a:lin ang="0" scaled="1"/>
            </a:gradFill>
            <a:ln>
              <a:noFill/>
            </a:ln>
          </p:spPr>
        </p:sp>
        <p:sp>
          <p:nvSpPr>
            <p:cNvPr id="43" name="Rectangle 43"/>
            <p:cNvSpPr/>
            <p:nvPr/>
          </p:nvSpPr>
          <p:spPr>
            <a:xfrm>
              <a:off x="6334125" y="1333500"/>
              <a:ext cx="5095875" cy="190500"/>
            </a:xfrm>
            <a:prstGeom prst="rect">
              <a:avLst/>
            </a:prstGeom>
            <a:gradFill>
              <a:gsLst>
                <a:gs pos="0">
                  <a:srgbClr val="C45F4A"/>
                </a:gs>
                <a:gs pos="100000">
                  <a:srgbClr val="D87E6B"/>
                </a:gs>
              </a:gsLst>
              <a:lin ang="0" scaled="1"/>
            </a:gradFill>
            <a:ln>
              <a:noFill/>
            </a:ln>
          </p:spPr>
        </p:sp>
        <p:sp>
          <p:nvSpPr>
            <p:cNvPr id="44" name="TextBox 44"/>
            <p:cNvSpPr txBox="1"/>
            <p:nvPr/>
          </p:nvSpPr>
          <p:spPr>
            <a:xfrm>
              <a:off x="6472047" y="1313974"/>
              <a:ext cx="1180114" cy="190690"/>
            </a:xfrm>
            <a:prstGeom prst="rect">
              <a:avLst/>
            </a:prstGeom>
            <a:noFill/>
            <a:ln>
              <a:noFill/>
            </a:ln>
          </p:spPr>
          <p:txBody>
            <a:bodyPr wrap="none" lIns="0" tIns="0" rIns="0" bIns="0" anchor="t" anchorCtr="0">
              <a:spAutoFit/>
            </a:bodyPr>
            <a:lstStyle/>
            <a:p>
              <a:pPr algn="l"/>
              <a:r>
                <a:rPr lang="en-US" sz="980" spc="75" dirty="0">
                  <a:solidFill>
                    <a:srgbClr val="FFFFFF"/>
                  </a:solidFill>
                  <a:latin typeface="+mn-lt"/>
                  <a:ea typeface="+mn-ea"/>
                  <a:cs typeface="+mn-cs"/>
                </a:rPr>
                <a:t>VARIETY LOVERS</a:t>
              </a:r>
            </a:p>
          </p:txBody>
        </p:sp>
        <p:sp>
          <p:nvSpPr>
            <p:cNvPr id="45" name="Rectangle 45"/>
            <p:cNvSpPr/>
            <p:nvPr/>
          </p:nvSpPr>
          <p:spPr>
            <a:xfrm>
              <a:off x="9620250" y="1000125"/>
              <a:ext cx="1809750" cy="400050"/>
            </a:xfrm>
            <a:prstGeom prst="roundRect">
              <a:avLst>
                <a:gd name="adj" fmla="val 19048"/>
              </a:avLst>
            </a:prstGeom>
            <a:solidFill>
              <a:srgbClr val="E8634C"/>
            </a:solidFill>
            <a:ln>
              <a:noFill/>
            </a:ln>
          </p:spPr>
        </p:sp>
        <p:sp>
          <p:nvSpPr>
            <p:cNvPr id="46" name="TextBox 46"/>
            <p:cNvSpPr txBox="1"/>
            <p:nvPr/>
          </p:nvSpPr>
          <p:spPr>
            <a:xfrm>
              <a:off x="10063924" y="1121092"/>
              <a:ext cx="92240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潮流文艺咖</a:t>
              </a:r>
            </a:p>
          </p:txBody>
        </p:sp>
        <p:sp>
          <p:nvSpPr>
            <p:cNvPr id="47" name="Ellipse 47"/>
            <p:cNvSpPr/>
            <p:nvPr/>
          </p:nvSpPr>
          <p:spPr>
            <a:xfrm>
              <a:off x="10287000" y="1733550"/>
              <a:ext cx="952500" cy="952500"/>
            </a:xfrm>
            <a:prstGeom prst="ellipse">
              <a:avLst/>
            </a:prstGeom>
            <a:solidFill>
              <a:srgbClr val="FFFFFF"/>
            </a:solidFill>
            <a:ln w="19050">
              <a:solidFill>
                <a:srgbClr val="C9D1F0"/>
              </a:solidFill>
            </a:ln>
          </p:spPr>
        </p:sp>
        <p:grpSp>
          <p:nvGrpSpPr>
            <p:cNvPr id="52" name="Group 52"/>
            <p:cNvGrpSpPr/>
            <p:nvPr/>
          </p:nvGrpSpPr>
          <p:grpSpPr>
            <a:xfrm>
              <a:off x="10548938" y="1995488"/>
              <a:ext cx="428625" cy="428625"/>
              <a:chOff x="10548938" y="1995488"/>
              <a:chExt cx="428625" cy="428625"/>
            </a:xfrm>
          </p:grpSpPr>
          <p:sp>
            <p:nvSpPr>
              <p:cNvPr id="48" name="Freeform 48"/>
              <p:cNvSpPr/>
              <p:nvPr/>
            </p:nvSpPr>
            <p:spPr>
              <a:xfrm>
                <a:off x="10596562" y="1995488"/>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47625">
                <a:solidFill>
                  <a:srgbClr val="C45F4A"/>
                </a:solidFill>
              </a:ln>
            </p:spPr>
          </p:sp>
          <p:sp>
            <p:nvSpPr>
              <p:cNvPr id="49" name="Freeform 49"/>
              <p:cNvSpPr/>
              <p:nvPr/>
            </p:nvSpPr>
            <p:spPr>
              <a:xfrm>
                <a:off x="10548938" y="2281238"/>
                <a:ext cx="285750" cy="142875"/>
              </a:xfrm>
              <a:custGeom>
                <a:avLst/>
                <a:gdLst/>
                <a:ahLst/>
                <a:cxnLst/>
                <a:rect l="l" t="t" r="r" b="b"/>
                <a:pathLst>
                  <a:path w="285750" h="142875">
                    <a:moveTo>
                      <a:pt x="0" y="142875"/>
                    </a:moveTo>
                    <a:lnTo>
                      <a:pt x="0" y="95250"/>
                    </a:lnTo>
                    <a:cubicBezTo>
                      <a:pt x="0" y="42645"/>
                      <a:pt x="42645" y="0"/>
                      <a:pt x="95250" y="0"/>
                    </a:cubicBezTo>
                    <a:lnTo>
                      <a:pt x="190500" y="0"/>
                    </a:lnTo>
                    <a:cubicBezTo>
                      <a:pt x="243105" y="0"/>
                      <a:pt x="285750" y="42645"/>
                      <a:pt x="285750" y="95250"/>
                    </a:cubicBezTo>
                    <a:lnTo>
                      <a:pt x="285750" y="142875"/>
                    </a:lnTo>
                  </a:path>
                </a:pathLst>
              </a:custGeom>
              <a:noFill/>
              <a:ln w="47625">
                <a:solidFill>
                  <a:srgbClr val="C45F4A"/>
                </a:solidFill>
              </a:ln>
            </p:spPr>
          </p:sp>
          <p:sp>
            <p:nvSpPr>
              <p:cNvPr id="50" name="Freeform 50"/>
              <p:cNvSpPr/>
              <p:nvPr/>
            </p:nvSpPr>
            <p:spPr>
              <a:xfrm>
                <a:off x="10858500" y="1998583"/>
                <a:ext cx="71624" cy="184547"/>
              </a:xfrm>
              <a:custGeom>
                <a:avLst/>
                <a:gdLst/>
                <a:ahLst/>
                <a:cxnLst/>
                <a:rect l="l" t="t" r="r" b="b"/>
                <a:pathLst>
                  <a:path w="71624" h="184547">
                    <a:moveTo>
                      <a:pt x="0" y="0"/>
                    </a:moveTo>
                    <a:cubicBezTo>
                      <a:pt x="42146" y="10791"/>
                      <a:pt x="71624" y="48768"/>
                      <a:pt x="71624" y="92273"/>
                    </a:cubicBezTo>
                    <a:cubicBezTo>
                      <a:pt x="71624" y="135779"/>
                      <a:pt x="42146" y="173756"/>
                      <a:pt x="0" y="184547"/>
                    </a:cubicBezTo>
                  </a:path>
                </a:pathLst>
              </a:custGeom>
              <a:noFill/>
              <a:ln w="47625">
                <a:solidFill>
                  <a:srgbClr val="C45F4A"/>
                </a:solidFill>
              </a:ln>
            </p:spPr>
          </p:sp>
          <p:sp>
            <p:nvSpPr>
              <p:cNvPr id="51" name="Freeform 51"/>
              <p:cNvSpPr/>
              <p:nvPr/>
            </p:nvSpPr>
            <p:spPr>
              <a:xfrm>
                <a:off x="10906125" y="2284809"/>
                <a:ext cx="71438" cy="139303"/>
              </a:xfrm>
              <a:custGeom>
                <a:avLst/>
                <a:gdLst/>
                <a:ahLst/>
                <a:cxnLst/>
                <a:rect l="l" t="t" r="r" b="b"/>
                <a:pathLst>
                  <a:path w="71438" h="139303">
                    <a:moveTo>
                      <a:pt x="71438" y="139303"/>
                    </a:moveTo>
                    <a:lnTo>
                      <a:pt x="71438" y="91678"/>
                    </a:lnTo>
                    <a:cubicBezTo>
                      <a:pt x="71189" y="48448"/>
                      <a:pt x="41858" y="10807"/>
                      <a:pt x="0" y="0"/>
                    </a:cubicBezTo>
                  </a:path>
                </a:pathLst>
              </a:custGeom>
              <a:noFill/>
              <a:ln w="47625">
                <a:solidFill>
                  <a:srgbClr val="C45F4A"/>
                </a:solidFill>
              </a:ln>
            </p:spPr>
          </p:sp>
        </p:grpSp>
        <p:sp>
          <p:nvSpPr>
            <p:cNvPr id="53" name="Ellipse 53"/>
            <p:cNvSpPr/>
            <p:nvPr/>
          </p:nvSpPr>
          <p:spPr>
            <a:xfrm>
              <a:off x="10106025" y="1771650"/>
              <a:ext cx="76200" cy="76200"/>
            </a:xfrm>
            <a:prstGeom prst="ellipse">
              <a:avLst/>
            </a:prstGeom>
            <a:solidFill>
              <a:srgbClr val="C45F4A"/>
            </a:solidFill>
            <a:ln>
              <a:noFill/>
            </a:ln>
          </p:spPr>
        </p:sp>
        <p:sp>
          <p:nvSpPr>
            <p:cNvPr id="54" name="TextBox 54"/>
            <p:cNvSpPr txBox="1"/>
            <p:nvPr/>
          </p:nvSpPr>
          <p:spPr>
            <a:xfrm>
              <a:off x="6567297" y="1990249"/>
              <a:ext cx="1236833" cy="190690"/>
            </a:xfrm>
            <a:prstGeom prst="rect">
              <a:avLst/>
            </a:prstGeom>
            <a:noFill/>
            <a:ln>
              <a:noFill/>
            </a:ln>
          </p:spPr>
          <p:txBody>
            <a:bodyPr wrap="none" lIns="0" tIns="0" rIns="0" bIns="0" anchor="t" anchorCtr="0">
              <a:spAutoFit/>
            </a:bodyPr>
            <a:lstStyle/>
            <a:p>
              <a:pPr algn="l"/>
              <a:r>
                <a:rPr lang="zh-CN" sz="980" dirty="0">
                  <a:solidFill>
                    <a:srgbClr val="C45F4A"/>
                  </a:solidFill>
                  <a:latin typeface="+mn-lt"/>
                  <a:ea typeface="+mn-ea"/>
                  <a:cs typeface="+mn-cs"/>
                </a:rPr>
                <a:t>人群特征｜</a:t>
              </a:r>
              <a:r>
                <a:rPr lang="zh-CN" sz="980" dirty="0">
                  <a:solidFill>
                    <a:srgbClr val="E2624C"/>
                  </a:solidFill>
                  <a:latin typeface="+mn-lt"/>
                  <a:ea typeface="+mn-ea"/>
                  <a:cs typeface="+mn-cs"/>
                </a:rPr>
                <a:t>20-28岁</a:t>
              </a:r>
              <a:r>
                <a:rPr lang="zh-CN" sz="980" dirty="0">
                  <a:solidFill>
                    <a:srgbClr val="C45F4A"/>
                  </a:solidFill>
                  <a:latin typeface="+mn-lt"/>
                  <a:ea typeface="+mn-ea"/>
                  <a:cs typeface="+mn-cs"/>
                </a:rPr>
                <a:t>​</a:t>
              </a:r>
            </a:p>
          </p:txBody>
        </p:sp>
        <p:sp>
          <p:nvSpPr>
            <p:cNvPr id="55" name="TextBox 55"/>
            <p:cNvSpPr txBox="1"/>
            <p:nvPr/>
          </p:nvSpPr>
          <p:spPr>
            <a:xfrm>
              <a:off x="6566916" y="2239328"/>
              <a:ext cx="198958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一线、新一线城市的潮流追随者</a:t>
              </a:r>
            </a:p>
          </p:txBody>
        </p:sp>
        <p:sp>
          <p:nvSpPr>
            <p:cNvPr id="56" name="TextBox 56"/>
            <p:cNvSpPr txBox="1"/>
            <p:nvPr/>
          </p:nvSpPr>
          <p:spPr>
            <a:xfrm>
              <a:off x="6567297" y="2790349"/>
              <a:ext cx="537616" cy="190690"/>
            </a:xfrm>
            <a:prstGeom prst="rect">
              <a:avLst/>
            </a:prstGeom>
            <a:noFill/>
            <a:ln>
              <a:noFill/>
            </a:ln>
          </p:spPr>
          <p:txBody>
            <a:bodyPr wrap="none" lIns="0" tIns="0" rIns="0" bIns="0" anchor="t" anchorCtr="0">
              <a:spAutoFit/>
            </a:bodyPr>
            <a:lstStyle/>
            <a:p>
              <a:pPr algn="l"/>
              <a:r>
                <a:rPr lang="zh-CN" sz="980" dirty="0">
                  <a:solidFill>
                    <a:srgbClr val="C45F4A"/>
                  </a:solidFill>
                  <a:latin typeface="+mn-lt"/>
                  <a:ea typeface="+mn-ea"/>
                  <a:cs typeface="+mn-cs"/>
                </a:rPr>
                <a:t>需求痛点</a:t>
              </a:r>
            </a:p>
          </p:txBody>
        </p:sp>
        <p:sp>
          <p:nvSpPr>
            <p:cNvPr id="57" name="TextBox 57"/>
            <p:cNvSpPr txBox="1"/>
            <p:nvPr/>
          </p:nvSpPr>
          <p:spPr>
            <a:xfrm>
              <a:off x="7567612" y="2760345"/>
              <a:ext cx="229552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543E3A"/>
                  </a:solidFill>
                  <a:latin typeface="+mn-lt"/>
                  <a:ea typeface="+mn-ea"/>
                  <a:cs typeface="+mn-cs"/>
                </a:rPr>
                <a:t>愿意用</a:t>
              </a:r>
              <a:r>
                <a:rPr lang="zh-CN" sz="900" dirty="0">
                  <a:solidFill>
                    <a:srgbClr val="E2624C"/>
                  </a:solidFill>
                  <a:latin typeface="+mn-lt"/>
                  <a:ea typeface="+mn-ea"/>
                  <a:cs typeface="+mn-cs"/>
                </a:rPr>
                <a:t>小资</a:t>
              </a:r>
              <a:r>
                <a:rPr lang="zh-CN" sz="900" dirty="0">
                  <a:solidFill>
                    <a:srgbClr val="543E3A"/>
                  </a:solidFill>
                  <a:latin typeface="+mn-lt"/>
                  <a:ea typeface="+mn-ea"/>
                  <a:cs typeface="+mn-cs"/>
                </a:rPr>
                <a:t>的标准经营自己的生活，容易被高</a:t>
              </a:r>
              <a:br/>
              <a:r>
                <a:rPr lang="zh-CN" sz="900" dirty="0">
                  <a:solidFill>
                    <a:srgbClr val="543E3A"/>
                  </a:solidFill>
                  <a:latin typeface="+mn-lt"/>
                  <a:ea typeface="+mn-ea"/>
                  <a:cs typeface="+mn-cs"/>
                </a:rPr>
                <a:t>颜值、明星同款种草</a:t>
              </a:r>
            </a:p>
          </p:txBody>
        </p:sp>
        <p:sp>
          <p:nvSpPr>
            <p:cNvPr id="58" name="Line 58"/>
            <p:cNvSpPr/>
            <p:nvPr/>
          </p:nvSpPr>
          <p:spPr>
            <a:xfrm>
              <a:off x="6572250" y="3162300"/>
              <a:ext cx="4619625" cy="9525"/>
            </a:xfrm>
            <a:custGeom>
              <a:avLst/>
              <a:gdLst/>
              <a:ahLst/>
              <a:cxnLst/>
              <a:rect l="l" t="t" r="r" b="b"/>
              <a:pathLst>
                <a:path w="4619625" h="9525">
                  <a:moveTo>
                    <a:pt x="0" y="0"/>
                  </a:moveTo>
                  <a:lnTo>
                    <a:pt x="4619625" y="0"/>
                  </a:lnTo>
                </a:path>
              </a:pathLst>
            </a:custGeom>
            <a:noFill/>
            <a:ln w="9525">
              <a:solidFill>
                <a:srgbClr val="E4E8F7"/>
              </a:solidFill>
            </a:ln>
          </p:spPr>
        </p:sp>
        <p:sp>
          <p:nvSpPr>
            <p:cNvPr id="59" name="TextBox 59"/>
            <p:cNvSpPr txBox="1"/>
            <p:nvPr/>
          </p:nvSpPr>
          <p:spPr>
            <a:xfrm>
              <a:off x="6567297" y="3342799"/>
              <a:ext cx="537616" cy="190690"/>
            </a:xfrm>
            <a:prstGeom prst="rect">
              <a:avLst/>
            </a:prstGeom>
            <a:noFill/>
            <a:ln>
              <a:noFill/>
            </a:ln>
          </p:spPr>
          <p:txBody>
            <a:bodyPr wrap="none" lIns="0" tIns="0" rIns="0" bIns="0" anchor="t" anchorCtr="0">
              <a:spAutoFit/>
            </a:bodyPr>
            <a:lstStyle/>
            <a:p>
              <a:pPr algn="l"/>
              <a:r>
                <a:rPr lang="zh-CN" sz="980" dirty="0">
                  <a:solidFill>
                    <a:srgbClr val="C45F4A"/>
                  </a:solidFill>
                  <a:latin typeface="+mn-lt"/>
                  <a:ea typeface="+mn-ea"/>
                  <a:cs typeface="+mn-cs"/>
                </a:rPr>
                <a:t>沟通要点</a:t>
              </a:r>
            </a:p>
          </p:txBody>
        </p:sp>
        <p:sp>
          <p:nvSpPr>
            <p:cNvPr id="60" name="TextBox 60"/>
            <p:cNvSpPr txBox="1"/>
            <p:nvPr/>
          </p:nvSpPr>
          <p:spPr>
            <a:xfrm>
              <a:off x="7567612" y="3312795"/>
              <a:ext cx="229552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543E3A"/>
                  </a:solidFill>
                  <a:latin typeface="+mn-lt"/>
                  <a:ea typeface="+mn-ea"/>
                  <a:cs typeface="+mn-cs"/>
                </a:rPr>
                <a:t>追求潮流、</a:t>
              </a:r>
              <a:r>
                <a:rPr lang="zh-CN" sz="900" dirty="0">
                  <a:solidFill>
                    <a:srgbClr val="E2624C"/>
                  </a:solidFill>
                  <a:latin typeface="+mn-lt"/>
                  <a:ea typeface="+mn-ea"/>
                  <a:cs typeface="+mn-cs"/>
                </a:rPr>
                <a:t>尝鲜和生活的仪式感</a:t>
              </a:r>
              <a:r>
                <a:rPr lang="zh-CN" sz="900" dirty="0">
                  <a:solidFill>
                    <a:srgbClr val="543E3A"/>
                  </a:solidFill>
                  <a:latin typeface="+mn-lt"/>
                  <a:ea typeface="+mn-ea"/>
                  <a:cs typeface="+mn-cs"/>
                </a:rPr>
                <a:t>，全自动加啡</a:t>
              </a:r>
              <a:br/>
              <a:r>
                <a:rPr lang="zh-CN" sz="900" dirty="0">
                  <a:solidFill>
                    <a:srgbClr val="543E3A"/>
                  </a:solidFill>
                  <a:latin typeface="+mn-lt"/>
                  <a:ea typeface="+mn-ea"/>
                  <a:cs typeface="+mn-cs"/>
                </a:rPr>
                <a:t>机不一定是他们的首选</a:t>
              </a:r>
            </a:p>
          </p:txBody>
        </p:sp>
        <p:sp>
          <p:nvSpPr>
            <p:cNvPr id="61" name="Line 61"/>
            <p:cNvSpPr/>
            <p:nvPr/>
          </p:nvSpPr>
          <p:spPr>
            <a:xfrm>
              <a:off x="6572250" y="3714750"/>
              <a:ext cx="4619625" cy="9525"/>
            </a:xfrm>
            <a:custGeom>
              <a:avLst/>
              <a:gdLst/>
              <a:ahLst/>
              <a:cxnLst/>
              <a:rect l="l" t="t" r="r" b="b"/>
              <a:pathLst>
                <a:path w="4619625" h="9525">
                  <a:moveTo>
                    <a:pt x="0" y="0"/>
                  </a:moveTo>
                  <a:lnTo>
                    <a:pt x="4619625" y="0"/>
                  </a:lnTo>
                </a:path>
              </a:pathLst>
            </a:custGeom>
            <a:noFill/>
            <a:ln w="9525">
              <a:solidFill>
                <a:srgbClr val="E4E8F7"/>
              </a:solidFill>
            </a:ln>
          </p:spPr>
        </p:sp>
        <p:sp>
          <p:nvSpPr>
            <p:cNvPr id="62" name="TextBox 62"/>
            <p:cNvSpPr txBox="1"/>
            <p:nvPr/>
          </p:nvSpPr>
          <p:spPr>
            <a:xfrm>
              <a:off x="6567297" y="3895249"/>
              <a:ext cx="537616" cy="190690"/>
            </a:xfrm>
            <a:prstGeom prst="rect">
              <a:avLst/>
            </a:prstGeom>
            <a:noFill/>
            <a:ln>
              <a:noFill/>
            </a:ln>
          </p:spPr>
          <p:txBody>
            <a:bodyPr wrap="none" lIns="0" tIns="0" rIns="0" bIns="0" anchor="t" anchorCtr="0">
              <a:spAutoFit/>
            </a:bodyPr>
            <a:lstStyle/>
            <a:p>
              <a:pPr algn="l"/>
              <a:r>
                <a:rPr lang="zh-CN" sz="980" dirty="0">
                  <a:solidFill>
                    <a:srgbClr val="C45F4A"/>
                  </a:solidFill>
                  <a:latin typeface="+mn-lt"/>
                  <a:ea typeface="+mn-ea"/>
                  <a:cs typeface="+mn-cs"/>
                </a:rPr>
                <a:t>场景切入</a:t>
              </a:r>
            </a:p>
          </p:txBody>
        </p:sp>
        <p:sp>
          <p:nvSpPr>
            <p:cNvPr id="63" name="TextBox 63"/>
            <p:cNvSpPr txBox="1"/>
            <p:nvPr/>
          </p:nvSpPr>
          <p:spPr>
            <a:xfrm>
              <a:off x="7567612" y="3865245"/>
              <a:ext cx="229552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543E3A"/>
                  </a:solidFill>
                  <a:latin typeface="+mn-lt"/>
                  <a:ea typeface="+mn-ea"/>
                  <a:cs typeface="+mn-cs"/>
                </a:rPr>
                <a:t>突出格调、颜值、</a:t>
              </a:r>
              <a:r>
                <a:rPr lang="zh-CN" sz="900" dirty="0">
                  <a:solidFill>
                    <a:srgbClr val="E2624C"/>
                  </a:solidFill>
                  <a:latin typeface="+mn-lt"/>
                  <a:ea typeface="+mn-ea"/>
                  <a:cs typeface="+mn-cs"/>
                </a:rPr>
                <a:t>提升幸福感和生活仪式感</a:t>
              </a:r>
              <a:r>
                <a:rPr lang="zh-CN" sz="900" dirty="0">
                  <a:solidFill>
                    <a:srgbClr val="543E3A"/>
                  </a:solidFill>
                  <a:latin typeface="+mn-lt"/>
                  <a:ea typeface="+mn-ea"/>
                  <a:cs typeface="+mn-cs"/>
                </a:rPr>
                <a:t>的</a:t>
              </a:r>
              <a:br/>
              <a:r>
                <a:rPr lang="zh-CN" sz="900" dirty="0">
                  <a:solidFill>
                    <a:srgbClr val="543E3A"/>
                  </a:solidFill>
                  <a:latin typeface="+mn-lt"/>
                  <a:ea typeface="+mn-ea"/>
                  <a:cs typeface="+mn-cs"/>
                </a:rPr>
                <a:t>家居好物播动他们</a:t>
              </a:r>
            </a:p>
          </p:txBody>
        </p:sp>
        <p:sp>
          <p:nvSpPr>
            <p:cNvPr id="64" name="Line 64"/>
            <p:cNvSpPr/>
            <p:nvPr/>
          </p:nvSpPr>
          <p:spPr>
            <a:xfrm>
              <a:off x="6572250" y="4267200"/>
              <a:ext cx="4619625" cy="9525"/>
            </a:xfrm>
            <a:custGeom>
              <a:avLst/>
              <a:gdLst/>
              <a:ahLst/>
              <a:cxnLst/>
              <a:rect l="l" t="t" r="r" b="b"/>
              <a:pathLst>
                <a:path w="4619625" h="9525">
                  <a:moveTo>
                    <a:pt x="0" y="0"/>
                  </a:moveTo>
                  <a:lnTo>
                    <a:pt x="4619625" y="0"/>
                  </a:lnTo>
                </a:path>
              </a:pathLst>
            </a:custGeom>
            <a:noFill/>
            <a:ln w="9525">
              <a:solidFill>
                <a:srgbClr val="E4E8F7"/>
              </a:solidFill>
            </a:ln>
          </p:spPr>
        </p:sp>
        <p:sp>
          <p:nvSpPr>
            <p:cNvPr id="65" name="TextBox 65"/>
            <p:cNvSpPr txBox="1"/>
            <p:nvPr/>
          </p:nvSpPr>
          <p:spPr>
            <a:xfrm>
              <a:off x="6567297" y="4647724"/>
              <a:ext cx="537616" cy="190690"/>
            </a:xfrm>
            <a:prstGeom prst="rect">
              <a:avLst/>
            </a:prstGeom>
            <a:noFill/>
            <a:ln>
              <a:noFill/>
            </a:ln>
          </p:spPr>
          <p:txBody>
            <a:bodyPr wrap="none" lIns="0" tIns="0" rIns="0" bIns="0" anchor="t" anchorCtr="0">
              <a:spAutoFit/>
            </a:bodyPr>
            <a:lstStyle/>
            <a:p>
              <a:pPr algn="l"/>
              <a:r>
                <a:rPr lang="zh-CN" sz="980" dirty="0">
                  <a:solidFill>
                    <a:srgbClr val="C45F4A"/>
                  </a:solidFill>
                  <a:latin typeface="+mn-lt"/>
                  <a:ea typeface="+mn-ea"/>
                  <a:cs typeface="+mn-cs"/>
                </a:rPr>
                <a:t>达人特点</a:t>
              </a:r>
            </a:p>
          </p:txBody>
        </p:sp>
        <p:sp>
          <p:nvSpPr>
            <p:cNvPr id="66" name="Rectangle 66"/>
            <p:cNvSpPr/>
            <p:nvPr/>
          </p:nvSpPr>
          <p:spPr>
            <a:xfrm>
              <a:off x="7572375" y="4572000"/>
              <a:ext cx="1143000" cy="247650"/>
            </a:xfrm>
            <a:prstGeom prst="roundRect">
              <a:avLst>
                <a:gd name="adj" fmla="val 50000"/>
              </a:avLst>
            </a:prstGeom>
            <a:solidFill>
              <a:srgbClr val="FFFFFF"/>
            </a:solidFill>
            <a:ln w="9525">
              <a:solidFill>
                <a:srgbClr val="C45F4A"/>
              </a:solidFill>
            </a:ln>
          </p:spPr>
        </p:sp>
        <p:sp>
          <p:nvSpPr>
            <p:cNvPr id="67" name="TextBox 67"/>
            <p:cNvSpPr txBox="1"/>
            <p:nvPr/>
          </p:nvSpPr>
          <p:spPr>
            <a:xfrm>
              <a:off x="7773867" y="4646295"/>
              <a:ext cx="740016"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美食DIY场景​</a:t>
              </a:r>
            </a:p>
          </p:txBody>
        </p:sp>
        <p:sp>
          <p:nvSpPr>
            <p:cNvPr id="68" name="Rectangle 68"/>
            <p:cNvSpPr/>
            <p:nvPr/>
          </p:nvSpPr>
          <p:spPr>
            <a:xfrm>
              <a:off x="8858250" y="4572000"/>
              <a:ext cx="1047750" cy="247650"/>
            </a:xfrm>
            <a:prstGeom prst="roundRect">
              <a:avLst>
                <a:gd name="adj" fmla="val 50000"/>
              </a:avLst>
            </a:prstGeom>
            <a:solidFill>
              <a:srgbClr val="FFFFFF"/>
            </a:solidFill>
            <a:ln w="9525">
              <a:solidFill>
                <a:srgbClr val="C45F4A"/>
              </a:solidFill>
            </a:ln>
          </p:spPr>
        </p:sp>
        <p:sp>
          <p:nvSpPr>
            <p:cNvPr id="69" name="TextBox 69"/>
            <p:cNvSpPr txBox="1"/>
            <p:nvPr/>
          </p:nvSpPr>
          <p:spPr>
            <a:xfrm>
              <a:off x="9135046" y="4646295"/>
              <a:ext cx="494157"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聚会场景</a:t>
              </a:r>
            </a:p>
          </p:txBody>
        </p:sp>
        <p:sp>
          <p:nvSpPr>
            <p:cNvPr id="70" name="Rectangle 70"/>
            <p:cNvSpPr/>
            <p:nvPr/>
          </p:nvSpPr>
          <p:spPr>
            <a:xfrm>
              <a:off x="7572375" y="4895850"/>
              <a:ext cx="1143000" cy="247650"/>
            </a:xfrm>
            <a:prstGeom prst="roundRect">
              <a:avLst>
                <a:gd name="adj" fmla="val 50000"/>
              </a:avLst>
            </a:prstGeom>
            <a:solidFill>
              <a:srgbClr val="C45F4A"/>
            </a:solidFill>
            <a:ln>
              <a:noFill/>
            </a:ln>
          </p:spPr>
        </p:sp>
        <p:sp>
          <p:nvSpPr>
            <p:cNvPr id="71" name="TextBox 71"/>
            <p:cNvSpPr txBox="1"/>
            <p:nvPr/>
          </p:nvSpPr>
          <p:spPr>
            <a:xfrm>
              <a:off x="7775638" y="4970145"/>
              <a:ext cx="73647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生活记录场景</a:t>
              </a:r>
            </a:p>
          </p:txBody>
        </p:sp>
        <p:sp>
          <p:nvSpPr>
            <p:cNvPr id="72" name="Rectangle 72"/>
            <p:cNvSpPr/>
            <p:nvPr/>
          </p:nvSpPr>
          <p:spPr>
            <a:xfrm>
              <a:off x="10858500" y="6019800"/>
              <a:ext cx="571500" cy="285750"/>
            </a:xfrm>
            <a:prstGeom prst="roundRect">
              <a:avLst>
                <a:gd name="adj" fmla="val 26667"/>
              </a:avLst>
            </a:prstGeom>
            <a:solidFill>
              <a:srgbClr val="E8634C"/>
            </a:solidFill>
            <a:ln>
              <a:noFill/>
            </a:ln>
          </p:spPr>
        </p:sp>
        <p:sp>
          <p:nvSpPr>
            <p:cNvPr id="73" name="TextBox 73"/>
            <p:cNvSpPr txBox="1"/>
            <p:nvPr/>
          </p:nvSpPr>
          <p:spPr>
            <a:xfrm>
              <a:off x="11016471" y="6106478"/>
              <a:ext cx="255559" cy="205359"/>
            </a:xfrm>
            <a:prstGeom prst="rect">
              <a:avLst/>
            </a:prstGeom>
            <a:noFill/>
            <a:ln>
              <a:noFill/>
            </a:ln>
          </p:spPr>
          <p:txBody>
            <a:bodyPr wrap="none" lIns="0" tIns="0" rIns="0" bIns="0" anchor="t" anchorCtr="0">
              <a:spAutoFit/>
            </a:bodyPr>
            <a:lstStyle/>
            <a:p>
              <a:pPr algn="ctr"/>
              <a:r>
                <a:rPr lang="zh-CN" sz="1050" b="1" i="1" dirty="0">
                  <a:solidFill>
                    <a:srgbClr val="FFFFFF"/>
                  </a:solidFill>
                  <a:latin typeface="+mn-lt"/>
                  <a:ea typeface="+mn-ea"/>
                  <a:cs typeface="+mn-cs"/>
                </a:rPr>
                <a:t>02.</a:t>
              </a:r>
            </a:p>
          </p:txBody>
        </p:sp>
      </p:gr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57</a:t>
              </a:r>
            </a:p>
          </p:txBody>
        </p:sp>
        <p:sp>
          <p:nvSpPr>
            <p:cNvPr id="4" name="TextBox 4"/>
            <p:cNvSpPr txBox="1"/>
            <p:nvPr/>
          </p:nvSpPr>
          <p:spPr>
            <a:xfrm>
              <a:off x="942594" y="151448"/>
              <a:ext cx="295367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八大细分人群消费分析​</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20" name="group-labels"/>
          <p:cNvGrpSpPr/>
          <p:nvPr/>
        </p:nvGrpSpPr>
        <p:grpSpPr>
          <a:xfrm>
            <a:off x="285750" y="933450"/>
            <a:ext cx="11477625" cy="248031"/>
            <a:chOff x="285750" y="933450"/>
            <a:chExt cx="11477625" cy="248031"/>
          </a:xfrm>
        </p:grpSpPr>
        <p:sp>
          <p:nvSpPr>
            <p:cNvPr id="7" name="Line 7"/>
            <p:cNvSpPr/>
            <p:nvPr/>
          </p:nvSpPr>
          <p:spPr>
            <a:xfrm>
              <a:off x="285750" y="933450"/>
              <a:ext cx="9525" cy="190500"/>
            </a:xfrm>
            <a:custGeom>
              <a:avLst/>
              <a:gdLst/>
              <a:ahLst/>
              <a:cxnLst/>
              <a:rect l="l" t="t" r="r" b="b"/>
              <a:pathLst>
                <a:path w="9525" h="190500">
                  <a:moveTo>
                    <a:pt x="0" y="0"/>
                  </a:moveTo>
                  <a:lnTo>
                    <a:pt x="0" y="190500"/>
                  </a:lnTo>
                </a:path>
              </a:pathLst>
            </a:custGeom>
            <a:noFill/>
            <a:ln w="14288">
              <a:solidFill>
                <a:srgbClr val="E08C7B"/>
              </a:solidFill>
            </a:ln>
          </p:spPr>
        </p:sp>
        <p:sp>
          <p:nvSpPr>
            <p:cNvPr id="8" name="Line 8"/>
            <p:cNvSpPr/>
            <p:nvPr/>
          </p:nvSpPr>
          <p:spPr>
            <a:xfrm>
              <a:off x="323850" y="1028700"/>
              <a:ext cx="1009650" cy="9525"/>
            </a:xfrm>
            <a:custGeom>
              <a:avLst/>
              <a:gdLst/>
              <a:ahLst/>
              <a:cxnLst/>
              <a:rect l="l" t="t" r="r" b="b"/>
              <a:pathLst>
                <a:path w="1009650" h="9525">
                  <a:moveTo>
                    <a:pt x="0" y="0"/>
                  </a:moveTo>
                  <a:lnTo>
                    <a:pt x="1009650" y="0"/>
                  </a:lnTo>
                </a:path>
              </a:pathLst>
            </a:custGeom>
            <a:noFill/>
            <a:ln w="11430">
              <a:solidFill>
                <a:srgbClr val="ECC1B8"/>
              </a:solidFill>
              <a:custDash>
                <a:ds d="333333" sp="250000"/>
              </a:custDash>
            </a:ln>
          </p:spPr>
        </p:sp>
        <p:sp>
          <p:nvSpPr>
            <p:cNvPr id="9" name="TextBox 9"/>
            <p:cNvSpPr txBox="1"/>
            <p:nvPr/>
          </p:nvSpPr>
          <p:spPr>
            <a:xfrm>
              <a:off x="1427988" y="946785"/>
              <a:ext cx="496824" cy="234696"/>
            </a:xfrm>
            <a:prstGeom prst="rect">
              <a:avLst/>
            </a:prstGeom>
            <a:noFill/>
            <a:ln>
              <a:noFill/>
            </a:ln>
          </p:spPr>
          <p:txBody>
            <a:bodyPr wrap="none" lIns="0" tIns="0" rIns="0" bIns="0" anchor="t" anchorCtr="0">
              <a:spAutoFit/>
            </a:bodyPr>
            <a:lstStyle/>
            <a:p>
              <a:pPr algn="ctr"/>
              <a:r>
                <a:rPr lang="zh-CN" sz="1200" b="1" dirty="0">
                  <a:solidFill>
                    <a:srgbClr val="C45F4A"/>
                  </a:solidFill>
                  <a:latin typeface="+mn-lt"/>
                  <a:ea typeface="+mn-ea"/>
                  <a:cs typeface="+mn-cs"/>
                </a:rPr>
                <a:t>新势力</a:t>
              </a:r>
            </a:p>
          </p:txBody>
        </p:sp>
        <p:sp>
          <p:nvSpPr>
            <p:cNvPr id="10" name="Line 10"/>
            <p:cNvSpPr/>
            <p:nvPr/>
          </p:nvSpPr>
          <p:spPr>
            <a:xfrm>
              <a:off x="2019300" y="1028700"/>
              <a:ext cx="1047750" cy="9525"/>
            </a:xfrm>
            <a:custGeom>
              <a:avLst/>
              <a:gdLst/>
              <a:ahLst/>
              <a:cxnLst/>
              <a:rect l="l" t="t" r="r" b="b"/>
              <a:pathLst>
                <a:path w="1047750" h="9525">
                  <a:moveTo>
                    <a:pt x="0" y="0"/>
                  </a:moveTo>
                  <a:lnTo>
                    <a:pt x="1047750" y="0"/>
                  </a:lnTo>
                </a:path>
              </a:pathLst>
            </a:custGeom>
            <a:noFill/>
            <a:ln w="11430">
              <a:solidFill>
                <a:srgbClr val="ECC1B8"/>
              </a:solidFill>
              <a:custDash>
                <a:ds d="333333" sp="250000"/>
              </a:custDash>
            </a:ln>
          </p:spPr>
        </p:sp>
        <p:sp>
          <p:nvSpPr>
            <p:cNvPr id="11" name="Line 11"/>
            <p:cNvSpPr/>
            <p:nvPr/>
          </p:nvSpPr>
          <p:spPr>
            <a:xfrm>
              <a:off x="3124200" y="933450"/>
              <a:ext cx="9525" cy="190500"/>
            </a:xfrm>
            <a:custGeom>
              <a:avLst/>
              <a:gdLst/>
              <a:ahLst/>
              <a:cxnLst/>
              <a:rect l="l" t="t" r="r" b="b"/>
              <a:pathLst>
                <a:path w="9525" h="190500">
                  <a:moveTo>
                    <a:pt x="0" y="0"/>
                  </a:moveTo>
                  <a:lnTo>
                    <a:pt x="0" y="190500"/>
                  </a:lnTo>
                </a:path>
              </a:pathLst>
            </a:custGeom>
            <a:noFill/>
            <a:ln w="14288">
              <a:solidFill>
                <a:srgbClr val="E08C7B"/>
              </a:solidFill>
            </a:ln>
          </p:spPr>
        </p:sp>
        <p:sp>
          <p:nvSpPr>
            <p:cNvPr id="12" name="Line 12"/>
            <p:cNvSpPr/>
            <p:nvPr/>
          </p:nvSpPr>
          <p:spPr>
            <a:xfrm>
              <a:off x="3181350" y="1028700"/>
              <a:ext cx="1676400" cy="9525"/>
            </a:xfrm>
            <a:custGeom>
              <a:avLst/>
              <a:gdLst/>
              <a:ahLst/>
              <a:cxnLst/>
              <a:rect l="l" t="t" r="r" b="b"/>
              <a:pathLst>
                <a:path w="1676400" h="9525">
                  <a:moveTo>
                    <a:pt x="0" y="0"/>
                  </a:moveTo>
                  <a:lnTo>
                    <a:pt x="1676400" y="0"/>
                  </a:lnTo>
                </a:path>
              </a:pathLst>
            </a:custGeom>
            <a:noFill/>
            <a:ln w="11430">
              <a:solidFill>
                <a:srgbClr val="F3BAB0"/>
              </a:solidFill>
              <a:custDash>
                <a:ds d="333333" sp="250000"/>
              </a:custDash>
            </a:ln>
          </p:spPr>
        </p:sp>
        <p:sp>
          <p:nvSpPr>
            <p:cNvPr id="13" name="TextBox 13"/>
            <p:cNvSpPr txBox="1"/>
            <p:nvPr/>
          </p:nvSpPr>
          <p:spPr>
            <a:xfrm>
              <a:off x="4966716" y="946785"/>
              <a:ext cx="658368" cy="234696"/>
            </a:xfrm>
            <a:prstGeom prst="rect">
              <a:avLst/>
            </a:prstGeom>
            <a:noFill/>
            <a:ln>
              <a:noFill/>
            </a:ln>
          </p:spPr>
          <p:txBody>
            <a:bodyPr wrap="none" lIns="0" tIns="0" rIns="0" bIns="0" anchor="t" anchorCtr="0">
              <a:spAutoFit/>
            </a:bodyPr>
            <a:lstStyle/>
            <a:p>
              <a:pPr algn="ctr"/>
              <a:r>
                <a:rPr lang="zh-CN" sz="1200" b="1" dirty="0">
                  <a:solidFill>
                    <a:srgbClr val="E2624C"/>
                  </a:solidFill>
                  <a:latin typeface="+mn-lt"/>
                  <a:ea typeface="+mn-ea"/>
                  <a:cs typeface="+mn-cs"/>
                </a:rPr>
                <a:t>中坚力量</a:t>
              </a:r>
            </a:p>
          </p:txBody>
        </p:sp>
        <p:sp>
          <p:nvSpPr>
            <p:cNvPr id="14" name="Line 14"/>
            <p:cNvSpPr/>
            <p:nvPr/>
          </p:nvSpPr>
          <p:spPr>
            <a:xfrm>
              <a:off x="5734050" y="1028700"/>
              <a:ext cx="1676400" cy="9525"/>
            </a:xfrm>
            <a:custGeom>
              <a:avLst/>
              <a:gdLst/>
              <a:ahLst/>
              <a:cxnLst/>
              <a:rect l="l" t="t" r="r" b="b"/>
              <a:pathLst>
                <a:path w="1676400" h="9525">
                  <a:moveTo>
                    <a:pt x="0" y="0"/>
                  </a:moveTo>
                  <a:lnTo>
                    <a:pt x="1676400" y="0"/>
                  </a:lnTo>
                </a:path>
              </a:pathLst>
            </a:custGeom>
            <a:noFill/>
            <a:ln w="11430">
              <a:solidFill>
                <a:srgbClr val="F3BAB0"/>
              </a:solidFill>
              <a:custDash>
                <a:ds d="333333" sp="250000"/>
              </a:custDash>
            </a:ln>
          </p:spPr>
        </p:sp>
        <p:sp>
          <p:nvSpPr>
            <p:cNvPr id="15" name="Line 15"/>
            <p:cNvSpPr/>
            <p:nvPr/>
          </p:nvSpPr>
          <p:spPr>
            <a:xfrm>
              <a:off x="7467600" y="933450"/>
              <a:ext cx="9525" cy="190500"/>
            </a:xfrm>
            <a:custGeom>
              <a:avLst/>
              <a:gdLst/>
              <a:ahLst/>
              <a:cxnLst/>
              <a:rect l="l" t="t" r="r" b="b"/>
              <a:pathLst>
                <a:path w="9525" h="190500">
                  <a:moveTo>
                    <a:pt x="0" y="0"/>
                  </a:moveTo>
                  <a:lnTo>
                    <a:pt x="0" y="190500"/>
                  </a:lnTo>
                </a:path>
              </a:pathLst>
            </a:custGeom>
            <a:noFill/>
            <a:ln w="14288">
              <a:solidFill>
                <a:srgbClr val="E08C7B"/>
              </a:solidFill>
            </a:ln>
          </p:spPr>
        </p:sp>
        <p:sp>
          <p:nvSpPr>
            <p:cNvPr id="16" name="Line 16"/>
            <p:cNvSpPr/>
            <p:nvPr/>
          </p:nvSpPr>
          <p:spPr>
            <a:xfrm>
              <a:off x="7524750" y="1028700"/>
              <a:ext cx="1676400" cy="9525"/>
            </a:xfrm>
            <a:custGeom>
              <a:avLst/>
              <a:gdLst/>
              <a:ahLst/>
              <a:cxnLst/>
              <a:rect l="l" t="t" r="r" b="b"/>
              <a:pathLst>
                <a:path w="1676400" h="9525">
                  <a:moveTo>
                    <a:pt x="0" y="0"/>
                  </a:moveTo>
                  <a:lnTo>
                    <a:pt x="1676400" y="0"/>
                  </a:lnTo>
                </a:path>
              </a:pathLst>
            </a:custGeom>
            <a:noFill/>
            <a:ln w="11430">
              <a:solidFill>
                <a:srgbClr val="ECC1B8"/>
              </a:solidFill>
              <a:custDash>
                <a:ds d="333333" sp="250000"/>
              </a:custDash>
            </a:ln>
          </p:spPr>
        </p:sp>
        <p:sp>
          <p:nvSpPr>
            <p:cNvPr id="17" name="TextBox 17"/>
            <p:cNvSpPr txBox="1"/>
            <p:nvPr/>
          </p:nvSpPr>
          <p:spPr>
            <a:xfrm>
              <a:off x="9310116" y="946785"/>
              <a:ext cx="658368" cy="234696"/>
            </a:xfrm>
            <a:prstGeom prst="rect">
              <a:avLst/>
            </a:prstGeom>
            <a:noFill/>
            <a:ln>
              <a:noFill/>
            </a:ln>
          </p:spPr>
          <p:txBody>
            <a:bodyPr wrap="none" lIns="0" tIns="0" rIns="0" bIns="0" anchor="t" anchorCtr="0">
              <a:spAutoFit/>
            </a:bodyPr>
            <a:lstStyle/>
            <a:p>
              <a:pPr algn="ctr"/>
              <a:r>
                <a:rPr lang="zh-CN" sz="1200" b="1" dirty="0">
                  <a:solidFill>
                    <a:srgbClr val="C45F4A"/>
                  </a:solidFill>
                  <a:latin typeface="+mn-lt"/>
                  <a:ea typeface="+mn-ea"/>
                  <a:cs typeface="+mn-cs"/>
                </a:rPr>
                <a:t>蓝海人群</a:t>
              </a:r>
            </a:p>
          </p:txBody>
        </p:sp>
        <p:sp>
          <p:nvSpPr>
            <p:cNvPr id="18" name="Line 18"/>
            <p:cNvSpPr/>
            <p:nvPr/>
          </p:nvSpPr>
          <p:spPr>
            <a:xfrm>
              <a:off x="10077450" y="1028700"/>
              <a:ext cx="1638300" cy="9525"/>
            </a:xfrm>
            <a:custGeom>
              <a:avLst/>
              <a:gdLst/>
              <a:ahLst/>
              <a:cxnLst/>
              <a:rect l="l" t="t" r="r" b="b"/>
              <a:pathLst>
                <a:path w="1638300" h="9525">
                  <a:moveTo>
                    <a:pt x="0" y="0"/>
                  </a:moveTo>
                  <a:lnTo>
                    <a:pt x="1638300" y="0"/>
                  </a:lnTo>
                </a:path>
              </a:pathLst>
            </a:custGeom>
            <a:noFill/>
            <a:ln w="11430">
              <a:solidFill>
                <a:srgbClr val="ECC1B8"/>
              </a:solidFill>
              <a:custDash>
                <a:ds d="333333" sp="250000"/>
              </a:custDash>
            </a:ln>
          </p:spPr>
        </p:sp>
        <p:sp>
          <p:nvSpPr>
            <p:cNvPr id="19" name="Line 19"/>
            <p:cNvSpPr/>
            <p:nvPr/>
          </p:nvSpPr>
          <p:spPr>
            <a:xfrm>
              <a:off x="11753850" y="933450"/>
              <a:ext cx="9525" cy="190500"/>
            </a:xfrm>
            <a:custGeom>
              <a:avLst/>
              <a:gdLst/>
              <a:ahLst/>
              <a:cxnLst/>
              <a:rect l="l" t="t" r="r" b="b"/>
              <a:pathLst>
                <a:path w="9525" h="190500">
                  <a:moveTo>
                    <a:pt x="0" y="0"/>
                  </a:moveTo>
                  <a:lnTo>
                    <a:pt x="0" y="190500"/>
                  </a:lnTo>
                </a:path>
              </a:pathLst>
            </a:custGeom>
            <a:noFill/>
            <a:ln w="14288">
              <a:solidFill>
                <a:srgbClr val="E08C7B"/>
              </a:solidFill>
            </a:ln>
          </p:spPr>
        </p:sp>
      </p:grpSp>
      <p:grpSp>
        <p:nvGrpSpPr>
          <p:cNvPr id="53" name="seg-1"/>
          <p:cNvGrpSpPr/>
          <p:nvPr/>
        </p:nvGrpSpPr>
        <p:grpSpPr>
          <a:xfrm>
            <a:off x="285750" y="1238250"/>
            <a:ext cx="1333500" cy="4248150"/>
            <a:chOff x="285750" y="1238250"/>
            <a:chExt cx="1333500" cy="4248150"/>
          </a:xfrm>
        </p:grpSpPr>
        <p:sp>
          <p:nvSpPr>
            <p:cNvPr id="21" name="Rectangle 21"/>
            <p:cNvSpPr/>
            <p:nvPr/>
          </p:nvSpPr>
          <p:spPr>
            <a:xfrm>
              <a:off x="285750" y="1238250"/>
              <a:ext cx="1333500" cy="4248150"/>
            </a:xfrm>
            <a:prstGeom prst="roundRect">
              <a:avLst>
                <a:gd name="adj" fmla="val 5714"/>
              </a:avLst>
            </a:prstGeom>
            <a:solidFill>
              <a:srgbClr val="FFFFFF"/>
            </a:solidFill>
            <a:ln>
              <a:noFill/>
            </a:ln>
            <a:effectLst>
              <a:outerShdw blurRad="133350" dist="47625" dir="5400000" algn="ctr" rotWithShape="0">
                <a:srgbClr val="C45F4A">
                  <a:alpha val="6000"/>
                </a:srgbClr>
              </a:outerShdw>
            </a:effectLst>
          </p:spPr>
        </p:sp>
        <p:sp>
          <p:nvSpPr>
            <p:cNvPr id="22" name="Rectangle 22"/>
            <p:cNvSpPr/>
            <p:nvPr/>
          </p:nvSpPr>
          <p:spPr>
            <a:xfrm>
              <a:off x="285750" y="1238250"/>
              <a:ext cx="1333500" cy="571500"/>
            </a:xfrm>
            <a:prstGeom prst="roundRect">
              <a:avLst>
                <a:gd name="adj" fmla="val 13333"/>
              </a:avLst>
            </a:prstGeom>
            <a:solidFill>
              <a:srgbClr val="C46D5B"/>
            </a:solidFill>
            <a:ln>
              <a:noFill/>
            </a:ln>
          </p:spPr>
        </p:sp>
        <p:sp>
          <p:nvSpPr>
            <p:cNvPr id="23" name="Ellipse 23"/>
            <p:cNvSpPr/>
            <p:nvPr/>
          </p:nvSpPr>
          <p:spPr>
            <a:xfrm>
              <a:off x="361950" y="1314450"/>
              <a:ext cx="419100" cy="419100"/>
            </a:xfrm>
            <a:prstGeom prst="ellipse">
              <a:avLst/>
            </a:prstGeom>
            <a:solidFill>
              <a:srgbClr val="FFFFFF"/>
            </a:solidFill>
            <a:ln>
              <a:noFill/>
            </a:ln>
          </p:spPr>
        </p:sp>
        <p:grpSp>
          <p:nvGrpSpPr>
            <p:cNvPr id="28" name="Group 28"/>
            <p:cNvGrpSpPr/>
            <p:nvPr/>
          </p:nvGrpSpPr>
          <p:grpSpPr>
            <a:xfrm>
              <a:off x="478631" y="1431131"/>
              <a:ext cx="185737" cy="185738"/>
              <a:chOff x="478631" y="1431131"/>
              <a:chExt cx="185737" cy="185738"/>
            </a:xfrm>
          </p:grpSpPr>
          <p:sp>
            <p:nvSpPr>
              <p:cNvPr id="24" name="Freeform 24"/>
              <p:cNvSpPr/>
              <p:nvPr/>
            </p:nvSpPr>
            <p:spPr>
              <a:xfrm>
                <a:off x="499269" y="14311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46D5B"/>
                </a:solidFill>
              </a:ln>
            </p:spPr>
          </p:sp>
          <p:sp>
            <p:nvSpPr>
              <p:cNvPr id="25" name="Freeform 25"/>
              <p:cNvSpPr/>
              <p:nvPr/>
            </p:nvSpPr>
            <p:spPr>
              <a:xfrm>
                <a:off x="478631" y="15549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46D5B"/>
                </a:solidFill>
              </a:ln>
            </p:spPr>
          </p:sp>
          <p:sp>
            <p:nvSpPr>
              <p:cNvPr id="26" name="Freeform 26"/>
              <p:cNvSpPr/>
              <p:nvPr/>
            </p:nvSpPr>
            <p:spPr>
              <a:xfrm>
                <a:off x="612774" y="14324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46D5B"/>
                </a:solidFill>
              </a:ln>
            </p:spPr>
          </p:sp>
          <p:sp>
            <p:nvSpPr>
              <p:cNvPr id="27" name="Freeform 27"/>
              <p:cNvSpPr/>
              <p:nvPr/>
            </p:nvSpPr>
            <p:spPr>
              <a:xfrm>
                <a:off x="633412" y="15565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46D5B"/>
                </a:solidFill>
              </a:ln>
            </p:spPr>
          </p:sp>
        </p:grpSp>
        <p:sp>
          <p:nvSpPr>
            <p:cNvPr id="29" name="TextBox 29"/>
            <p:cNvSpPr txBox="1"/>
            <p:nvPr/>
          </p:nvSpPr>
          <p:spPr>
            <a:xfrm>
              <a:off x="981291" y="1470422"/>
              <a:ext cx="437717" cy="183356"/>
            </a:xfrm>
            <a:prstGeom prst="rect">
              <a:avLst/>
            </a:prstGeom>
            <a:noFill/>
            <a:ln>
              <a:noFill/>
            </a:ln>
          </p:spPr>
          <p:txBody>
            <a:bodyPr wrap="none" lIns="0" tIns="0" rIns="0" bIns="0" anchor="t" anchorCtr="0">
              <a:spAutoFit/>
            </a:bodyPr>
            <a:lstStyle/>
            <a:p>
              <a:pPr algn="ctr"/>
              <a:r>
                <a:rPr lang="en-US" sz="940" b="1" dirty="0">
                  <a:solidFill>
                    <a:srgbClr val="FFFFFF"/>
                  </a:solidFill>
                  <a:latin typeface="+mn-lt"/>
                  <a:ea typeface="+mn-ea"/>
                  <a:cs typeface="+mn-cs"/>
                </a:rPr>
                <a:t>GEN Z​</a:t>
              </a:r>
            </a:p>
          </p:txBody>
        </p:sp>
        <p:sp>
          <p:nvSpPr>
            <p:cNvPr id="30" name="Rectangle 30"/>
            <p:cNvSpPr/>
            <p:nvPr/>
          </p:nvSpPr>
          <p:spPr>
            <a:xfrm>
              <a:off x="361950" y="1943100"/>
              <a:ext cx="571500" cy="171450"/>
            </a:xfrm>
            <a:prstGeom prst="roundRect">
              <a:avLst>
                <a:gd name="adj" fmla="val 16667"/>
              </a:avLst>
            </a:prstGeom>
            <a:solidFill>
              <a:srgbClr val="E8EBF8"/>
            </a:solidFill>
            <a:ln>
              <a:noFill/>
            </a:ln>
          </p:spPr>
        </p:sp>
        <p:sp>
          <p:nvSpPr>
            <p:cNvPr id="31" name="TextBox 31"/>
            <p:cNvSpPr txBox="1"/>
            <p:nvPr/>
          </p:nvSpPr>
          <p:spPr>
            <a:xfrm>
              <a:off x="430238" y="1981914"/>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消费贡献</a:t>
              </a:r>
            </a:p>
          </p:txBody>
        </p:sp>
        <p:sp>
          <p:nvSpPr>
            <p:cNvPr id="32" name="TextBox 32"/>
            <p:cNvSpPr txBox="1"/>
            <p:nvPr/>
          </p:nvSpPr>
          <p:spPr>
            <a:xfrm>
              <a:off x="1110813" y="1956435"/>
              <a:ext cx="419283"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30%​</a:t>
              </a:r>
            </a:p>
          </p:txBody>
        </p:sp>
        <p:sp>
          <p:nvSpPr>
            <p:cNvPr id="33" name="Rectangle 33"/>
            <p:cNvSpPr/>
            <p:nvPr/>
          </p:nvSpPr>
          <p:spPr>
            <a:xfrm>
              <a:off x="361950" y="2162175"/>
              <a:ext cx="571500" cy="171450"/>
            </a:xfrm>
            <a:prstGeom prst="roundRect">
              <a:avLst>
                <a:gd name="adj" fmla="val 16667"/>
              </a:avLst>
            </a:prstGeom>
            <a:solidFill>
              <a:srgbClr val="E8EBF8"/>
            </a:solidFill>
            <a:ln>
              <a:noFill/>
            </a:ln>
          </p:spPr>
        </p:sp>
        <p:sp>
          <p:nvSpPr>
            <p:cNvPr id="34" name="TextBox 34"/>
            <p:cNvSpPr txBox="1"/>
            <p:nvPr/>
          </p:nvSpPr>
          <p:spPr>
            <a:xfrm>
              <a:off x="430238" y="2200989"/>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人群占比</a:t>
              </a:r>
            </a:p>
          </p:txBody>
        </p:sp>
        <p:sp>
          <p:nvSpPr>
            <p:cNvPr id="35" name="TextBox 35"/>
            <p:cNvSpPr txBox="1"/>
            <p:nvPr/>
          </p:nvSpPr>
          <p:spPr>
            <a:xfrm>
              <a:off x="1110813" y="2175510"/>
              <a:ext cx="419283"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11%​</a:t>
              </a:r>
            </a:p>
          </p:txBody>
        </p:sp>
        <p:sp>
          <p:nvSpPr>
            <p:cNvPr id="36" name="TextBox 36"/>
            <p:cNvSpPr txBox="1"/>
            <p:nvPr/>
          </p:nvSpPr>
          <p:spPr>
            <a:xfrm>
              <a:off x="635318" y="2501741"/>
              <a:ext cx="634365" cy="6191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18-24岁​</a:t>
              </a:r>
              <a:br/>
              <a:r>
                <a:rPr lang="zh-CN" sz="820" dirty="0">
                  <a:solidFill>
                    <a:srgbClr val="543E3A"/>
                  </a:solidFill>
                  <a:latin typeface="+mn-lt"/>
                  <a:ea typeface="+mn-ea"/>
                  <a:cs typeface="+mn-cs"/>
                </a:rPr>
                <a:t>一二线城市</a:t>
              </a:r>
              <a:br/>
              <a:r>
                <a:rPr lang="zh-CN" sz="820" dirty="0">
                  <a:solidFill>
                    <a:srgbClr val="543E3A"/>
                  </a:solidFill>
                  <a:latin typeface="+mn-lt"/>
                  <a:ea typeface="+mn-ea"/>
                  <a:cs typeface="+mn-cs"/>
                </a:rPr>
                <a:t>互联网原住民</a:t>
              </a:r>
              <a:br/>
              <a:r>
                <a:rPr lang="zh-CN" sz="820" dirty="0">
                  <a:solidFill>
                    <a:srgbClr val="543E3A"/>
                  </a:solidFill>
                  <a:latin typeface="+mn-lt"/>
                  <a:ea typeface="+mn-ea"/>
                  <a:cs typeface="+mn-cs"/>
                </a:rPr>
                <a:t>爱网购剁手</a:t>
              </a:r>
            </a:p>
          </p:txBody>
        </p:sp>
        <p:sp>
          <p:nvSpPr>
            <p:cNvPr id="37" name="Line 37"/>
            <p:cNvSpPr/>
            <p:nvPr/>
          </p:nvSpPr>
          <p:spPr>
            <a:xfrm>
              <a:off x="400050" y="34290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38" name="TextBox 38"/>
            <p:cNvSpPr txBox="1"/>
            <p:nvPr/>
          </p:nvSpPr>
          <p:spPr>
            <a:xfrm>
              <a:off x="600418" y="3545443"/>
              <a:ext cx="704164"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日常消费形态</a:t>
              </a:r>
            </a:p>
          </p:txBody>
        </p:sp>
        <p:sp>
          <p:nvSpPr>
            <p:cNvPr id="39" name="TextBox 39"/>
            <p:cNvSpPr txBox="1"/>
            <p:nvPr/>
          </p:nvSpPr>
          <p:spPr>
            <a:xfrm>
              <a:off x="687387" y="3739991"/>
              <a:ext cx="53022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消费能力强</a:t>
              </a:r>
              <a:br/>
              <a:r>
                <a:rPr lang="zh-CN" sz="820" dirty="0">
                  <a:solidFill>
                    <a:srgbClr val="543E3A"/>
                  </a:solidFill>
                  <a:latin typeface="+mn-lt"/>
                  <a:ea typeface="+mn-ea"/>
                  <a:cs typeface="+mn-cs"/>
                </a:rPr>
                <a:t>紧随潮流</a:t>
              </a:r>
            </a:p>
          </p:txBody>
        </p:sp>
        <p:sp>
          <p:nvSpPr>
            <p:cNvPr id="40" name="Line 40"/>
            <p:cNvSpPr/>
            <p:nvPr/>
          </p:nvSpPr>
          <p:spPr>
            <a:xfrm>
              <a:off x="400050" y="43434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41" name="Rectangle 41"/>
            <p:cNvSpPr/>
            <p:nvPr/>
          </p:nvSpPr>
          <p:spPr>
            <a:xfrm>
              <a:off x="342900" y="4400550"/>
              <a:ext cx="1219200" cy="1028700"/>
            </a:xfrm>
            <a:prstGeom prst="roundRect">
              <a:avLst>
                <a:gd name="adj" fmla="val 5556"/>
              </a:avLst>
            </a:prstGeom>
            <a:solidFill>
              <a:srgbClr val="F5F6FC"/>
            </a:solidFill>
            <a:ln>
              <a:noFill/>
            </a:ln>
          </p:spPr>
        </p:sp>
        <p:sp>
          <p:nvSpPr>
            <p:cNvPr id="42" name="TextBox 42"/>
            <p:cNvSpPr txBox="1"/>
            <p:nvPr/>
          </p:nvSpPr>
          <p:spPr>
            <a:xfrm>
              <a:off x="716191" y="4497943"/>
              <a:ext cx="472618"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内容触点</a:t>
              </a:r>
            </a:p>
          </p:txBody>
        </p:sp>
        <p:sp>
          <p:nvSpPr>
            <p:cNvPr id="43" name="TextBox 43"/>
            <p:cNvSpPr txBox="1"/>
            <p:nvPr/>
          </p:nvSpPr>
          <p:spPr>
            <a:xfrm>
              <a:off x="606679" y="4692491"/>
              <a:ext cx="691642"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潮流文化相关,</a:t>
              </a:r>
              <a:br/>
              <a:r>
                <a:rPr lang="zh-CN" sz="820" dirty="0">
                  <a:solidFill>
                    <a:srgbClr val="543E3A"/>
                  </a:solidFill>
                  <a:latin typeface="+mn-lt"/>
                  <a:ea typeface="+mn-ea"/>
                  <a:cs typeface="+mn-cs"/>
                </a:rPr>
                <a:t>流行奇异元素</a:t>
              </a:r>
            </a:p>
          </p:txBody>
        </p:sp>
        <p:sp>
          <p:nvSpPr>
            <p:cNvPr id="44" name="Rectangle 44"/>
            <p:cNvSpPr/>
            <p:nvPr/>
          </p:nvSpPr>
          <p:spPr>
            <a:xfrm>
              <a:off x="733425" y="5162550"/>
              <a:ext cx="190500" cy="190500"/>
            </a:xfrm>
            <a:prstGeom prst="roundRect">
              <a:avLst>
                <a:gd name="adj" fmla="val 25000"/>
              </a:avLst>
            </a:prstGeom>
            <a:solidFill>
              <a:srgbClr val="FB8B72"/>
            </a:solidFill>
            <a:ln>
              <a:noFill/>
            </a:ln>
          </p:spPr>
        </p:sp>
        <p:grpSp>
          <p:nvGrpSpPr>
            <p:cNvPr id="47" name="Group 47"/>
            <p:cNvGrpSpPr/>
            <p:nvPr/>
          </p:nvGrpSpPr>
          <p:grpSpPr>
            <a:xfrm>
              <a:off x="778669" y="5224462"/>
              <a:ext cx="100012" cy="66675"/>
              <a:chOff x="778669" y="5224462"/>
              <a:chExt cx="100012" cy="66675"/>
            </a:xfrm>
          </p:grpSpPr>
          <p:sp>
            <p:nvSpPr>
              <p:cNvPr id="45" name="Freeform 45"/>
              <p:cNvSpPr/>
              <p:nvPr/>
            </p:nvSpPr>
            <p:spPr>
              <a:xfrm>
                <a:off x="845344" y="52331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FFFFFF"/>
                </a:solidFill>
              </a:ln>
            </p:spPr>
          </p:sp>
          <p:sp>
            <p:nvSpPr>
              <p:cNvPr id="46" name="Freeform 46"/>
              <p:cNvSpPr/>
              <p:nvPr/>
            </p:nvSpPr>
            <p:spPr>
              <a:xfrm>
                <a:off x="778669" y="52244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FFFFFF"/>
                </a:solidFill>
              </a:ln>
            </p:spPr>
          </p:sp>
        </p:grpSp>
        <p:sp>
          <p:nvSpPr>
            <p:cNvPr id="48" name="Rectangle 48"/>
            <p:cNvSpPr/>
            <p:nvPr/>
          </p:nvSpPr>
          <p:spPr>
            <a:xfrm>
              <a:off x="981075" y="5162550"/>
              <a:ext cx="190500" cy="190500"/>
            </a:xfrm>
            <a:prstGeom prst="roundRect">
              <a:avLst>
                <a:gd name="adj" fmla="val 25000"/>
              </a:avLst>
            </a:prstGeom>
            <a:solidFill>
              <a:srgbClr val="FF4D24"/>
            </a:solidFill>
            <a:ln>
              <a:noFill/>
            </a:ln>
          </p:spPr>
        </p:sp>
        <p:grpSp>
          <p:nvGrpSpPr>
            <p:cNvPr id="52" name="Group 52"/>
            <p:cNvGrpSpPr/>
            <p:nvPr/>
          </p:nvGrpSpPr>
          <p:grpSpPr>
            <a:xfrm>
              <a:off x="1037431" y="5213350"/>
              <a:ext cx="77787" cy="88900"/>
              <a:chOff x="1037431" y="5213350"/>
              <a:chExt cx="77787" cy="88900"/>
            </a:xfrm>
          </p:grpSpPr>
          <p:sp>
            <p:nvSpPr>
              <p:cNvPr id="49" name="Freeform 49"/>
              <p:cNvSpPr/>
              <p:nvPr/>
            </p:nvSpPr>
            <p:spPr>
              <a:xfrm>
                <a:off x="1037431" y="5213350"/>
                <a:ext cx="77787" cy="88900"/>
              </a:xfrm>
              <a:custGeom>
                <a:avLst/>
                <a:gdLst/>
                <a:ahLst/>
                <a:cxnLst/>
                <a:rect l="l" t="t" r="r" b="b"/>
                <a:pathLst>
                  <a:path w="77787" h="88900">
                    <a:moveTo>
                      <a:pt x="77787" y="0"/>
                    </a:moveTo>
                    <a:lnTo>
                      <a:pt x="77787" y="88900"/>
                    </a:lnTo>
                    <a:lnTo>
                      <a:pt x="11112" y="88900"/>
                    </a:lnTo>
                    <a:cubicBezTo>
                      <a:pt x="4975" y="88900"/>
                      <a:pt x="0" y="83925"/>
                      <a:pt x="0" y="77787"/>
                    </a:cubicBezTo>
                    <a:lnTo>
                      <a:pt x="0" y="11112"/>
                    </a:lnTo>
                    <a:cubicBezTo>
                      <a:pt x="0" y="4975"/>
                      <a:pt x="4975" y="0"/>
                      <a:pt x="11112" y="0"/>
                    </a:cubicBezTo>
                    <a:lnTo>
                      <a:pt x="77787" y="0"/>
                    </a:lnTo>
                  </a:path>
                </a:pathLst>
              </a:custGeom>
              <a:noFill/>
              <a:ln w="11112">
                <a:solidFill>
                  <a:srgbClr val="FFFFFF"/>
                </a:solidFill>
              </a:ln>
            </p:spPr>
          </p:sp>
          <p:sp>
            <p:nvSpPr>
              <p:cNvPr id="50" name="Freeform 50"/>
              <p:cNvSpPr/>
              <p:nvPr/>
            </p:nvSpPr>
            <p:spPr>
              <a:xfrm>
                <a:off x="1037431" y="5280025"/>
                <a:ext cx="77787" cy="11112"/>
              </a:xfrm>
              <a:custGeom>
                <a:avLst/>
                <a:gdLst/>
                <a:ahLst/>
                <a:cxnLst/>
                <a:rect l="l" t="t" r="r" b="b"/>
                <a:pathLst>
                  <a:path w="77787" h="11112">
                    <a:moveTo>
                      <a:pt x="77787" y="0"/>
                    </a:moveTo>
                    <a:lnTo>
                      <a:pt x="11112" y="0"/>
                    </a:lnTo>
                    <a:cubicBezTo>
                      <a:pt x="4975" y="0"/>
                      <a:pt x="0" y="4975"/>
                      <a:pt x="0" y="11112"/>
                    </a:cubicBezTo>
                  </a:path>
                </a:pathLst>
              </a:custGeom>
              <a:noFill/>
              <a:ln w="11112">
                <a:solidFill>
                  <a:srgbClr val="FFFFFF"/>
                </a:solidFill>
              </a:ln>
            </p:spPr>
          </p:sp>
          <p:sp>
            <p:nvSpPr>
              <p:cNvPr id="51" name="Freeform 51"/>
              <p:cNvSpPr/>
              <p:nvPr/>
            </p:nvSpPr>
            <p:spPr>
              <a:xfrm>
                <a:off x="1059656" y="5235575"/>
                <a:ext cx="33337" cy="9525"/>
              </a:xfrm>
              <a:custGeom>
                <a:avLst/>
                <a:gdLst/>
                <a:ahLst/>
                <a:cxnLst/>
                <a:rect l="l" t="t" r="r" b="b"/>
                <a:pathLst>
                  <a:path w="33337" h="9525">
                    <a:moveTo>
                      <a:pt x="0" y="0"/>
                    </a:moveTo>
                    <a:lnTo>
                      <a:pt x="33337" y="0"/>
                    </a:lnTo>
                  </a:path>
                </a:pathLst>
              </a:custGeom>
              <a:noFill/>
              <a:ln w="11112">
                <a:solidFill>
                  <a:srgbClr val="FFFFFF"/>
                </a:solidFill>
              </a:ln>
            </p:spPr>
          </p:sp>
        </p:grpSp>
      </p:grpSp>
      <p:grpSp>
        <p:nvGrpSpPr>
          <p:cNvPr id="90" name="seg-2"/>
          <p:cNvGrpSpPr/>
          <p:nvPr/>
        </p:nvGrpSpPr>
        <p:grpSpPr>
          <a:xfrm>
            <a:off x="1733550" y="1238250"/>
            <a:ext cx="1333500" cy="4248150"/>
            <a:chOff x="1733550" y="1238250"/>
            <a:chExt cx="1333500" cy="4248150"/>
          </a:xfrm>
        </p:grpSpPr>
        <p:sp>
          <p:nvSpPr>
            <p:cNvPr id="54" name="Rectangle 54"/>
            <p:cNvSpPr/>
            <p:nvPr/>
          </p:nvSpPr>
          <p:spPr>
            <a:xfrm>
              <a:off x="1733550" y="1238250"/>
              <a:ext cx="1333500" cy="4248150"/>
            </a:xfrm>
            <a:prstGeom prst="roundRect">
              <a:avLst>
                <a:gd name="adj" fmla="val 5714"/>
              </a:avLst>
            </a:prstGeom>
            <a:solidFill>
              <a:srgbClr val="FFFFFF"/>
            </a:solidFill>
            <a:ln>
              <a:noFill/>
            </a:ln>
            <a:effectLst>
              <a:outerShdw blurRad="133350" dist="47625" dir="5400000" algn="ctr" rotWithShape="0">
                <a:srgbClr val="C45F4A">
                  <a:alpha val="6000"/>
                </a:srgbClr>
              </a:outerShdw>
            </a:effectLst>
          </p:spPr>
        </p:sp>
        <p:sp>
          <p:nvSpPr>
            <p:cNvPr id="55" name="Rectangle 55"/>
            <p:cNvSpPr/>
            <p:nvPr/>
          </p:nvSpPr>
          <p:spPr>
            <a:xfrm>
              <a:off x="1733550" y="1238250"/>
              <a:ext cx="1333500" cy="571500"/>
            </a:xfrm>
            <a:prstGeom prst="roundRect">
              <a:avLst>
                <a:gd name="adj" fmla="val 13333"/>
              </a:avLst>
            </a:prstGeom>
            <a:solidFill>
              <a:srgbClr val="C46D5B"/>
            </a:solidFill>
            <a:ln>
              <a:noFill/>
            </a:ln>
          </p:spPr>
        </p:sp>
        <p:sp>
          <p:nvSpPr>
            <p:cNvPr id="56" name="Ellipse 56"/>
            <p:cNvSpPr/>
            <p:nvPr/>
          </p:nvSpPr>
          <p:spPr>
            <a:xfrm>
              <a:off x="1809750" y="1314450"/>
              <a:ext cx="419100" cy="419100"/>
            </a:xfrm>
            <a:prstGeom prst="ellipse">
              <a:avLst/>
            </a:prstGeom>
            <a:solidFill>
              <a:srgbClr val="FFFFFF"/>
            </a:solidFill>
            <a:ln>
              <a:noFill/>
            </a:ln>
          </p:spPr>
        </p:sp>
        <p:grpSp>
          <p:nvGrpSpPr>
            <p:cNvPr id="61" name="Group 61"/>
            <p:cNvGrpSpPr/>
            <p:nvPr/>
          </p:nvGrpSpPr>
          <p:grpSpPr>
            <a:xfrm>
              <a:off x="1926431" y="1431131"/>
              <a:ext cx="185737" cy="185738"/>
              <a:chOff x="1926431" y="1431131"/>
              <a:chExt cx="185737" cy="185738"/>
            </a:xfrm>
          </p:grpSpPr>
          <p:sp>
            <p:nvSpPr>
              <p:cNvPr id="57" name="Freeform 57"/>
              <p:cNvSpPr/>
              <p:nvPr/>
            </p:nvSpPr>
            <p:spPr>
              <a:xfrm>
                <a:off x="1947069" y="14311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46D5B"/>
                </a:solidFill>
              </a:ln>
            </p:spPr>
          </p:sp>
          <p:sp>
            <p:nvSpPr>
              <p:cNvPr id="58" name="Freeform 58"/>
              <p:cNvSpPr/>
              <p:nvPr/>
            </p:nvSpPr>
            <p:spPr>
              <a:xfrm>
                <a:off x="1926431" y="15549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46D5B"/>
                </a:solidFill>
              </a:ln>
            </p:spPr>
          </p:sp>
          <p:sp>
            <p:nvSpPr>
              <p:cNvPr id="59" name="Freeform 59"/>
              <p:cNvSpPr/>
              <p:nvPr/>
            </p:nvSpPr>
            <p:spPr>
              <a:xfrm>
                <a:off x="2060574" y="14324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46D5B"/>
                </a:solidFill>
              </a:ln>
            </p:spPr>
          </p:sp>
          <p:sp>
            <p:nvSpPr>
              <p:cNvPr id="60" name="Freeform 60"/>
              <p:cNvSpPr/>
              <p:nvPr/>
            </p:nvSpPr>
            <p:spPr>
              <a:xfrm>
                <a:off x="2081212" y="15565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46D5B"/>
                </a:solidFill>
              </a:ln>
            </p:spPr>
          </p:sp>
        </p:grpSp>
        <p:sp>
          <p:nvSpPr>
            <p:cNvPr id="62" name="TextBox 62"/>
            <p:cNvSpPr txBox="1"/>
            <p:nvPr/>
          </p:nvSpPr>
          <p:spPr>
            <a:xfrm>
              <a:off x="2390102" y="14704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小镇青年</a:t>
              </a:r>
            </a:p>
          </p:txBody>
        </p:sp>
        <p:sp>
          <p:nvSpPr>
            <p:cNvPr id="63" name="Rectangle 63"/>
            <p:cNvSpPr/>
            <p:nvPr/>
          </p:nvSpPr>
          <p:spPr>
            <a:xfrm>
              <a:off x="1809750" y="1943100"/>
              <a:ext cx="571500" cy="171450"/>
            </a:xfrm>
            <a:prstGeom prst="roundRect">
              <a:avLst>
                <a:gd name="adj" fmla="val 16667"/>
              </a:avLst>
            </a:prstGeom>
            <a:solidFill>
              <a:srgbClr val="E8EBF8"/>
            </a:solidFill>
            <a:ln>
              <a:noFill/>
            </a:ln>
          </p:spPr>
        </p:sp>
        <p:sp>
          <p:nvSpPr>
            <p:cNvPr id="64" name="TextBox 64"/>
            <p:cNvSpPr txBox="1"/>
            <p:nvPr/>
          </p:nvSpPr>
          <p:spPr>
            <a:xfrm>
              <a:off x="1878038" y="1981914"/>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消费贡献</a:t>
              </a:r>
            </a:p>
          </p:txBody>
        </p:sp>
        <p:sp>
          <p:nvSpPr>
            <p:cNvPr id="65" name="TextBox 65"/>
            <p:cNvSpPr txBox="1"/>
            <p:nvPr/>
          </p:nvSpPr>
          <p:spPr>
            <a:xfrm>
              <a:off x="2558613" y="1956435"/>
              <a:ext cx="419283"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15%​</a:t>
              </a:r>
            </a:p>
          </p:txBody>
        </p:sp>
        <p:sp>
          <p:nvSpPr>
            <p:cNvPr id="66" name="Rectangle 66"/>
            <p:cNvSpPr/>
            <p:nvPr/>
          </p:nvSpPr>
          <p:spPr>
            <a:xfrm>
              <a:off x="1809750" y="2162175"/>
              <a:ext cx="571500" cy="171450"/>
            </a:xfrm>
            <a:prstGeom prst="roundRect">
              <a:avLst>
                <a:gd name="adj" fmla="val 16667"/>
              </a:avLst>
            </a:prstGeom>
            <a:solidFill>
              <a:srgbClr val="E8EBF8"/>
            </a:solidFill>
            <a:ln>
              <a:noFill/>
            </a:ln>
          </p:spPr>
        </p:sp>
        <p:sp>
          <p:nvSpPr>
            <p:cNvPr id="67" name="TextBox 67"/>
            <p:cNvSpPr txBox="1"/>
            <p:nvPr/>
          </p:nvSpPr>
          <p:spPr>
            <a:xfrm>
              <a:off x="1878038" y="2200989"/>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人群占比</a:t>
              </a:r>
            </a:p>
          </p:txBody>
        </p:sp>
        <p:sp>
          <p:nvSpPr>
            <p:cNvPr id="68" name="TextBox 68"/>
            <p:cNvSpPr txBox="1"/>
            <p:nvPr/>
          </p:nvSpPr>
          <p:spPr>
            <a:xfrm>
              <a:off x="2651905" y="2175510"/>
              <a:ext cx="325991"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8%​</a:t>
              </a:r>
            </a:p>
          </p:txBody>
        </p:sp>
        <p:sp>
          <p:nvSpPr>
            <p:cNvPr id="69" name="TextBox 69"/>
            <p:cNvSpPr txBox="1"/>
            <p:nvPr/>
          </p:nvSpPr>
          <p:spPr>
            <a:xfrm>
              <a:off x="2083118" y="2501741"/>
              <a:ext cx="634365" cy="6191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小于35岁​</a:t>
              </a:r>
              <a:br/>
              <a:r>
                <a:rPr lang="zh-CN" sz="820" dirty="0">
                  <a:solidFill>
                    <a:srgbClr val="543E3A"/>
                  </a:solidFill>
                  <a:latin typeface="+mn-lt"/>
                  <a:ea typeface="+mn-ea"/>
                  <a:cs typeface="+mn-cs"/>
                </a:rPr>
                <a:t>三四线城市</a:t>
              </a:r>
              <a:br/>
              <a:r>
                <a:rPr lang="zh-CN" sz="820" dirty="0">
                  <a:solidFill>
                    <a:srgbClr val="543E3A"/>
                  </a:solidFill>
                  <a:latin typeface="+mn-lt"/>
                  <a:ea typeface="+mn-ea"/>
                  <a:cs typeface="+mn-cs"/>
                </a:rPr>
                <a:t>房贷压力小</a:t>
              </a:r>
              <a:br/>
              <a:r>
                <a:rPr lang="zh-CN" sz="820" dirty="0">
                  <a:solidFill>
                    <a:srgbClr val="543E3A"/>
                  </a:solidFill>
                  <a:latin typeface="+mn-lt"/>
                  <a:ea typeface="+mn-ea"/>
                  <a:cs typeface="+mn-cs"/>
                </a:rPr>
                <a:t>熟人社交圈广</a:t>
              </a:r>
            </a:p>
          </p:txBody>
        </p:sp>
        <p:sp>
          <p:nvSpPr>
            <p:cNvPr id="70" name="Line 70"/>
            <p:cNvSpPr/>
            <p:nvPr/>
          </p:nvSpPr>
          <p:spPr>
            <a:xfrm>
              <a:off x="1847850" y="34290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71" name="TextBox 71"/>
            <p:cNvSpPr txBox="1"/>
            <p:nvPr/>
          </p:nvSpPr>
          <p:spPr>
            <a:xfrm>
              <a:off x="2048218" y="3545443"/>
              <a:ext cx="704164"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日常消费形态</a:t>
              </a:r>
            </a:p>
          </p:txBody>
        </p:sp>
        <p:sp>
          <p:nvSpPr>
            <p:cNvPr id="72" name="TextBox 72"/>
            <p:cNvSpPr txBox="1"/>
            <p:nvPr/>
          </p:nvSpPr>
          <p:spPr>
            <a:xfrm>
              <a:off x="2083118" y="3739991"/>
              <a:ext cx="63436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可支配收入高</a:t>
              </a:r>
              <a:br/>
              <a:r>
                <a:rPr lang="zh-CN" sz="820" dirty="0">
                  <a:solidFill>
                    <a:srgbClr val="543E3A"/>
                  </a:solidFill>
                  <a:latin typeface="+mn-lt"/>
                  <a:ea typeface="+mn-ea"/>
                  <a:cs typeface="+mn-cs"/>
                </a:rPr>
                <a:t>很懂网购</a:t>
              </a:r>
            </a:p>
          </p:txBody>
        </p:sp>
        <p:sp>
          <p:nvSpPr>
            <p:cNvPr id="73" name="Line 73"/>
            <p:cNvSpPr/>
            <p:nvPr/>
          </p:nvSpPr>
          <p:spPr>
            <a:xfrm>
              <a:off x="1847850" y="43434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74" name="Rectangle 74"/>
            <p:cNvSpPr/>
            <p:nvPr/>
          </p:nvSpPr>
          <p:spPr>
            <a:xfrm>
              <a:off x="1790700" y="4400550"/>
              <a:ext cx="1219200" cy="1028700"/>
            </a:xfrm>
            <a:prstGeom prst="roundRect">
              <a:avLst>
                <a:gd name="adj" fmla="val 5556"/>
              </a:avLst>
            </a:prstGeom>
            <a:solidFill>
              <a:srgbClr val="F5F6FC"/>
            </a:solidFill>
            <a:ln>
              <a:noFill/>
            </a:ln>
          </p:spPr>
        </p:sp>
        <p:sp>
          <p:nvSpPr>
            <p:cNvPr id="75" name="TextBox 75"/>
            <p:cNvSpPr txBox="1"/>
            <p:nvPr/>
          </p:nvSpPr>
          <p:spPr>
            <a:xfrm>
              <a:off x="2163991" y="4497943"/>
              <a:ext cx="472618"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内容触点</a:t>
              </a:r>
            </a:p>
          </p:txBody>
        </p:sp>
        <p:sp>
          <p:nvSpPr>
            <p:cNvPr id="76" name="TextBox 76"/>
            <p:cNvSpPr txBox="1"/>
            <p:nvPr/>
          </p:nvSpPr>
          <p:spPr>
            <a:xfrm>
              <a:off x="1978977" y="4692491"/>
              <a:ext cx="84264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本地化内容</a:t>
              </a:r>
              <a:br/>
              <a:r>
                <a:rPr lang="zh-CN" sz="820" dirty="0">
                  <a:solidFill>
                    <a:srgbClr val="543E3A"/>
                  </a:solidFill>
                  <a:latin typeface="+mn-lt"/>
                  <a:ea typeface="+mn-ea"/>
                  <a:cs typeface="+mn-cs"/>
                </a:rPr>
                <a:t>旅游攻略美食推荐</a:t>
              </a:r>
            </a:p>
          </p:txBody>
        </p:sp>
        <p:sp>
          <p:nvSpPr>
            <p:cNvPr id="77" name="Rectangle 77"/>
            <p:cNvSpPr/>
            <p:nvPr/>
          </p:nvSpPr>
          <p:spPr>
            <a:xfrm>
              <a:off x="2057400" y="5162550"/>
              <a:ext cx="190500" cy="190500"/>
            </a:xfrm>
            <a:prstGeom prst="roundRect">
              <a:avLst>
                <a:gd name="adj" fmla="val 25000"/>
              </a:avLst>
            </a:prstGeom>
            <a:solidFill>
              <a:srgbClr val="FB8B72"/>
            </a:solidFill>
            <a:ln>
              <a:noFill/>
            </a:ln>
          </p:spPr>
        </p:sp>
        <p:grpSp>
          <p:nvGrpSpPr>
            <p:cNvPr id="80" name="Group 80"/>
            <p:cNvGrpSpPr/>
            <p:nvPr/>
          </p:nvGrpSpPr>
          <p:grpSpPr>
            <a:xfrm>
              <a:off x="2102644" y="5224462"/>
              <a:ext cx="100012" cy="66675"/>
              <a:chOff x="2102644" y="5224462"/>
              <a:chExt cx="100012" cy="66675"/>
            </a:xfrm>
          </p:grpSpPr>
          <p:sp>
            <p:nvSpPr>
              <p:cNvPr id="78" name="Freeform 78"/>
              <p:cNvSpPr/>
              <p:nvPr/>
            </p:nvSpPr>
            <p:spPr>
              <a:xfrm>
                <a:off x="2169319" y="52331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FFFFFF"/>
                </a:solidFill>
              </a:ln>
            </p:spPr>
          </p:sp>
          <p:sp>
            <p:nvSpPr>
              <p:cNvPr id="79" name="Freeform 79"/>
              <p:cNvSpPr/>
              <p:nvPr/>
            </p:nvSpPr>
            <p:spPr>
              <a:xfrm>
                <a:off x="2102644" y="52244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FFFFFF"/>
                </a:solidFill>
              </a:ln>
            </p:spPr>
          </p:sp>
        </p:grpSp>
        <p:sp>
          <p:nvSpPr>
            <p:cNvPr id="81" name="Rectangle 81"/>
            <p:cNvSpPr/>
            <p:nvPr/>
          </p:nvSpPr>
          <p:spPr>
            <a:xfrm>
              <a:off x="2305050" y="5162550"/>
              <a:ext cx="190500" cy="190500"/>
            </a:xfrm>
            <a:prstGeom prst="roundRect">
              <a:avLst>
                <a:gd name="adj" fmla="val 25000"/>
              </a:avLst>
            </a:prstGeom>
            <a:solidFill>
              <a:srgbClr val="FF4D24"/>
            </a:solidFill>
            <a:ln>
              <a:noFill/>
            </a:ln>
          </p:spPr>
        </p:sp>
        <p:grpSp>
          <p:nvGrpSpPr>
            <p:cNvPr id="85" name="Group 85"/>
            <p:cNvGrpSpPr/>
            <p:nvPr/>
          </p:nvGrpSpPr>
          <p:grpSpPr>
            <a:xfrm>
              <a:off x="2361406" y="5213350"/>
              <a:ext cx="77787" cy="88900"/>
              <a:chOff x="2361406" y="5213350"/>
              <a:chExt cx="77787" cy="88900"/>
            </a:xfrm>
          </p:grpSpPr>
          <p:sp>
            <p:nvSpPr>
              <p:cNvPr id="82" name="Freeform 82"/>
              <p:cNvSpPr/>
              <p:nvPr/>
            </p:nvSpPr>
            <p:spPr>
              <a:xfrm>
                <a:off x="2361406" y="5213350"/>
                <a:ext cx="77787" cy="88900"/>
              </a:xfrm>
              <a:custGeom>
                <a:avLst/>
                <a:gdLst/>
                <a:ahLst/>
                <a:cxnLst/>
                <a:rect l="l" t="t" r="r" b="b"/>
                <a:pathLst>
                  <a:path w="77787" h="88900">
                    <a:moveTo>
                      <a:pt x="77787" y="0"/>
                    </a:moveTo>
                    <a:lnTo>
                      <a:pt x="77787" y="88900"/>
                    </a:lnTo>
                    <a:lnTo>
                      <a:pt x="11112" y="88900"/>
                    </a:lnTo>
                    <a:cubicBezTo>
                      <a:pt x="4975" y="88900"/>
                      <a:pt x="0" y="83925"/>
                      <a:pt x="0" y="77787"/>
                    </a:cubicBezTo>
                    <a:lnTo>
                      <a:pt x="0" y="11112"/>
                    </a:lnTo>
                    <a:cubicBezTo>
                      <a:pt x="0" y="4975"/>
                      <a:pt x="4975" y="0"/>
                      <a:pt x="11112" y="0"/>
                    </a:cubicBezTo>
                    <a:lnTo>
                      <a:pt x="77787" y="0"/>
                    </a:lnTo>
                  </a:path>
                </a:pathLst>
              </a:custGeom>
              <a:noFill/>
              <a:ln w="11112">
                <a:solidFill>
                  <a:srgbClr val="FFFFFF"/>
                </a:solidFill>
              </a:ln>
            </p:spPr>
          </p:sp>
          <p:sp>
            <p:nvSpPr>
              <p:cNvPr id="83" name="Freeform 83"/>
              <p:cNvSpPr/>
              <p:nvPr/>
            </p:nvSpPr>
            <p:spPr>
              <a:xfrm>
                <a:off x="2361406" y="5280025"/>
                <a:ext cx="77787" cy="11112"/>
              </a:xfrm>
              <a:custGeom>
                <a:avLst/>
                <a:gdLst/>
                <a:ahLst/>
                <a:cxnLst/>
                <a:rect l="l" t="t" r="r" b="b"/>
                <a:pathLst>
                  <a:path w="77787" h="11112">
                    <a:moveTo>
                      <a:pt x="77787" y="0"/>
                    </a:moveTo>
                    <a:lnTo>
                      <a:pt x="11112" y="0"/>
                    </a:lnTo>
                    <a:cubicBezTo>
                      <a:pt x="4975" y="0"/>
                      <a:pt x="0" y="4975"/>
                      <a:pt x="0" y="11112"/>
                    </a:cubicBezTo>
                  </a:path>
                </a:pathLst>
              </a:custGeom>
              <a:noFill/>
              <a:ln w="11112">
                <a:solidFill>
                  <a:srgbClr val="FFFFFF"/>
                </a:solidFill>
              </a:ln>
            </p:spPr>
          </p:sp>
          <p:sp>
            <p:nvSpPr>
              <p:cNvPr id="84" name="Freeform 84"/>
              <p:cNvSpPr/>
              <p:nvPr/>
            </p:nvSpPr>
            <p:spPr>
              <a:xfrm>
                <a:off x="2383631" y="5235575"/>
                <a:ext cx="33337" cy="9525"/>
              </a:xfrm>
              <a:custGeom>
                <a:avLst/>
                <a:gdLst/>
                <a:ahLst/>
                <a:cxnLst/>
                <a:rect l="l" t="t" r="r" b="b"/>
                <a:pathLst>
                  <a:path w="33337" h="9525">
                    <a:moveTo>
                      <a:pt x="0" y="0"/>
                    </a:moveTo>
                    <a:lnTo>
                      <a:pt x="33337" y="0"/>
                    </a:lnTo>
                  </a:path>
                </a:pathLst>
              </a:custGeom>
              <a:noFill/>
              <a:ln w="11112">
                <a:solidFill>
                  <a:srgbClr val="FFFFFF"/>
                </a:solidFill>
              </a:ln>
            </p:spPr>
          </p:sp>
        </p:grpSp>
        <p:sp>
          <p:nvSpPr>
            <p:cNvPr id="86" name="Rectangle 86"/>
            <p:cNvSpPr/>
            <p:nvPr/>
          </p:nvSpPr>
          <p:spPr>
            <a:xfrm>
              <a:off x="2552700" y="5162550"/>
              <a:ext cx="190500" cy="190500"/>
            </a:xfrm>
            <a:prstGeom prst="roundRect">
              <a:avLst>
                <a:gd name="adj" fmla="val 25000"/>
              </a:avLst>
            </a:prstGeom>
            <a:solidFill>
              <a:srgbClr val="FF2600"/>
            </a:solidFill>
            <a:ln>
              <a:noFill/>
            </a:ln>
          </p:spPr>
        </p:sp>
        <p:grpSp>
          <p:nvGrpSpPr>
            <p:cNvPr id="89" name="Group 89"/>
            <p:cNvGrpSpPr/>
            <p:nvPr/>
          </p:nvGrpSpPr>
          <p:grpSpPr>
            <a:xfrm>
              <a:off x="2597944" y="5224462"/>
              <a:ext cx="100012" cy="66675"/>
              <a:chOff x="2597944" y="5224462"/>
              <a:chExt cx="100012" cy="66675"/>
            </a:xfrm>
          </p:grpSpPr>
          <p:sp>
            <p:nvSpPr>
              <p:cNvPr id="87" name="Freeform 87"/>
              <p:cNvSpPr/>
              <p:nvPr/>
            </p:nvSpPr>
            <p:spPr>
              <a:xfrm>
                <a:off x="2664619" y="52331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FFFFFF"/>
                </a:solidFill>
              </a:ln>
            </p:spPr>
          </p:sp>
          <p:sp>
            <p:nvSpPr>
              <p:cNvPr id="88" name="Freeform 88"/>
              <p:cNvSpPr/>
              <p:nvPr/>
            </p:nvSpPr>
            <p:spPr>
              <a:xfrm>
                <a:off x="2597944" y="52244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FFFFFF"/>
                </a:solidFill>
              </a:ln>
            </p:spPr>
          </p:sp>
        </p:grpSp>
      </p:grpSp>
      <p:grpSp>
        <p:nvGrpSpPr>
          <p:cNvPr id="128" name="seg-3"/>
          <p:cNvGrpSpPr/>
          <p:nvPr/>
        </p:nvGrpSpPr>
        <p:grpSpPr>
          <a:xfrm>
            <a:off x="3181350" y="1238250"/>
            <a:ext cx="1333500" cy="4248150"/>
            <a:chOff x="3181350" y="1238250"/>
            <a:chExt cx="1333500" cy="4248150"/>
          </a:xfrm>
        </p:grpSpPr>
        <p:sp>
          <p:nvSpPr>
            <p:cNvPr id="91" name="Rectangle 91"/>
            <p:cNvSpPr/>
            <p:nvPr/>
          </p:nvSpPr>
          <p:spPr>
            <a:xfrm>
              <a:off x="3181350" y="1238250"/>
              <a:ext cx="1333500" cy="4248150"/>
            </a:xfrm>
            <a:prstGeom prst="roundRect">
              <a:avLst>
                <a:gd name="adj" fmla="val 5714"/>
              </a:avLst>
            </a:prstGeom>
            <a:solidFill>
              <a:srgbClr val="FFFFFF"/>
            </a:solidFill>
            <a:ln>
              <a:noFill/>
            </a:ln>
            <a:effectLst>
              <a:outerShdw blurRad="133350" dist="47625" dir="5400000" algn="ctr" rotWithShape="0">
                <a:srgbClr val="C45F4A">
                  <a:alpha val="6000"/>
                </a:srgbClr>
              </a:outerShdw>
            </a:effectLst>
          </p:spPr>
        </p:sp>
        <p:sp>
          <p:nvSpPr>
            <p:cNvPr id="92" name="Rectangle 92"/>
            <p:cNvSpPr/>
            <p:nvPr/>
          </p:nvSpPr>
          <p:spPr>
            <a:xfrm>
              <a:off x="3181350" y="1238250"/>
              <a:ext cx="1333500" cy="571500"/>
            </a:xfrm>
            <a:prstGeom prst="roundRect">
              <a:avLst>
                <a:gd name="adj" fmla="val 13333"/>
              </a:avLst>
            </a:prstGeom>
            <a:solidFill>
              <a:srgbClr val="E8705C"/>
            </a:solidFill>
            <a:ln>
              <a:noFill/>
            </a:ln>
          </p:spPr>
        </p:sp>
        <p:sp>
          <p:nvSpPr>
            <p:cNvPr id="93" name="Ellipse 93"/>
            <p:cNvSpPr/>
            <p:nvPr/>
          </p:nvSpPr>
          <p:spPr>
            <a:xfrm>
              <a:off x="3257550" y="1314450"/>
              <a:ext cx="419100" cy="419100"/>
            </a:xfrm>
            <a:prstGeom prst="ellipse">
              <a:avLst/>
            </a:prstGeom>
            <a:solidFill>
              <a:srgbClr val="FFFFFF"/>
            </a:solidFill>
            <a:ln>
              <a:noFill/>
            </a:ln>
          </p:spPr>
        </p:sp>
        <p:grpSp>
          <p:nvGrpSpPr>
            <p:cNvPr id="98" name="Group 98"/>
            <p:cNvGrpSpPr/>
            <p:nvPr/>
          </p:nvGrpSpPr>
          <p:grpSpPr>
            <a:xfrm>
              <a:off x="3374231" y="1431131"/>
              <a:ext cx="185737" cy="185738"/>
              <a:chOff x="3374231" y="1431131"/>
              <a:chExt cx="185737" cy="185738"/>
            </a:xfrm>
          </p:grpSpPr>
          <p:sp>
            <p:nvSpPr>
              <p:cNvPr id="94" name="Freeform 94"/>
              <p:cNvSpPr/>
              <p:nvPr/>
            </p:nvSpPr>
            <p:spPr>
              <a:xfrm>
                <a:off x="3394869" y="14311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E8705C"/>
                </a:solidFill>
              </a:ln>
            </p:spPr>
          </p:sp>
          <p:sp>
            <p:nvSpPr>
              <p:cNvPr id="95" name="Freeform 95"/>
              <p:cNvSpPr/>
              <p:nvPr/>
            </p:nvSpPr>
            <p:spPr>
              <a:xfrm>
                <a:off x="3374231" y="15549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E8705C"/>
                </a:solidFill>
              </a:ln>
            </p:spPr>
          </p:sp>
          <p:sp>
            <p:nvSpPr>
              <p:cNvPr id="96" name="Freeform 96"/>
              <p:cNvSpPr/>
              <p:nvPr/>
            </p:nvSpPr>
            <p:spPr>
              <a:xfrm>
                <a:off x="3508374" y="14324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E8705C"/>
                </a:solidFill>
              </a:ln>
            </p:spPr>
          </p:sp>
          <p:sp>
            <p:nvSpPr>
              <p:cNvPr id="97" name="Freeform 97"/>
              <p:cNvSpPr/>
              <p:nvPr/>
            </p:nvSpPr>
            <p:spPr>
              <a:xfrm>
                <a:off x="3529012" y="15565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E8705C"/>
                </a:solidFill>
              </a:ln>
            </p:spPr>
          </p:sp>
        </p:grpSp>
        <p:sp>
          <p:nvSpPr>
            <p:cNvPr id="99" name="TextBox 99"/>
            <p:cNvSpPr txBox="1"/>
            <p:nvPr/>
          </p:nvSpPr>
          <p:spPr>
            <a:xfrm>
              <a:off x="3837902" y="14704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新锐白领</a:t>
              </a:r>
            </a:p>
          </p:txBody>
        </p:sp>
        <p:sp>
          <p:nvSpPr>
            <p:cNvPr id="100" name="Rectangle 100"/>
            <p:cNvSpPr/>
            <p:nvPr/>
          </p:nvSpPr>
          <p:spPr>
            <a:xfrm>
              <a:off x="3257550" y="1943100"/>
              <a:ext cx="571500" cy="171450"/>
            </a:xfrm>
            <a:prstGeom prst="roundRect">
              <a:avLst>
                <a:gd name="adj" fmla="val 16667"/>
              </a:avLst>
            </a:prstGeom>
            <a:solidFill>
              <a:srgbClr val="E8EBF8"/>
            </a:solidFill>
            <a:ln>
              <a:noFill/>
            </a:ln>
          </p:spPr>
        </p:sp>
        <p:sp>
          <p:nvSpPr>
            <p:cNvPr id="101" name="TextBox 101"/>
            <p:cNvSpPr txBox="1"/>
            <p:nvPr/>
          </p:nvSpPr>
          <p:spPr>
            <a:xfrm>
              <a:off x="3325838" y="1981914"/>
              <a:ext cx="434924" cy="154781"/>
            </a:xfrm>
            <a:prstGeom prst="rect">
              <a:avLst/>
            </a:prstGeom>
            <a:noFill/>
            <a:ln>
              <a:noFill/>
            </a:ln>
          </p:spPr>
          <p:txBody>
            <a:bodyPr wrap="none" lIns="0" tIns="0" rIns="0" bIns="0" anchor="t" anchorCtr="0">
              <a:spAutoFit/>
            </a:bodyPr>
            <a:lstStyle/>
            <a:p>
              <a:pPr algn="ctr"/>
              <a:r>
                <a:rPr lang="zh-CN" sz="790" dirty="0">
                  <a:solidFill>
                    <a:srgbClr val="E2624C"/>
                  </a:solidFill>
                  <a:latin typeface="+mn-lt"/>
                  <a:ea typeface="+mn-ea"/>
                  <a:cs typeface="+mn-cs"/>
                </a:rPr>
                <a:t>消费贡献</a:t>
              </a:r>
            </a:p>
          </p:txBody>
        </p:sp>
        <p:sp>
          <p:nvSpPr>
            <p:cNvPr id="102" name="TextBox 102"/>
            <p:cNvSpPr txBox="1"/>
            <p:nvPr/>
          </p:nvSpPr>
          <p:spPr>
            <a:xfrm>
              <a:off x="4006413" y="1956435"/>
              <a:ext cx="419283" cy="234696"/>
            </a:xfrm>
            <a:prstGeom prst="rect">
              <a:avLst/>
            </a:prstGeom>
            <a:noFill/>
            <a:ln>
              <a:noFill/>
            </a:ln>
          </p:spPr>
          <p:txBody>
            <a:bodyPr wrap="none" lIns="0" tIns="0" rIns="0" bIns="0" anchor="t" anchorCtr="0">
              <a:spAutoFit/>
            </a:bodyPr>
            <a:lstStyle/>
            <a:p>
              <a:pPr algn="r"/>
              <a:r>
                <a:rPr lang="zh-CN" sz="1200" b="1" dirty="0">
                  <a:solidFill>
                    <a:srgbClr val="E2624C"/>
                  </a:solidFill>
                  <a:latin typeface="+mn-lt"/>
                  <a:ea typeface="+mn-ea"/>
                  <a:cs typeface="+mn-cs"/>
                </a:rPr>
                <a:t>27%​</a:t>
              </a:r>
            </a:p>
          </p:txBody>
        </p:sp>
        <p:sp>
          <p:nvSpPr>
            <p:cNvPr id="103" name="Rectangle 103"/>
            <p:cNvSpPr/>
            <p:nvPr/>
          </p:nvSpPr>
          <p:spPr>
            <a:xfrm>
              <a:off x="3257550" y="2162175"/>
              <a:ext cx="571500" cy="171450"/>
            </a:xfrm>
            <a:prstGeom prst="roundRect">
              <a:avLst>
                <a:gd name="adj" fmla="val 16667"/>
              </a:avLst>
            </a:prstGeom>
            <a:solidFill>
              <a:srgbClr val="E8EBF8"/>
            </a:solidFill>
            <a:ln>
              <a:noFill/>
            </a:ln>
          </p:spPr>
        </p:sp>
        <p:sp>
          <p:nvSpPr>
            <p:cNvPr id="104" name="TextBox 104"/>
            <p:cNvSpPr txBox="1"/>
            <p:nvPr/>
          </p:nvSpPr>
          <p:spPr>
            <a:xfrm>
              <a:off x="3325838" y="2200989"/>
              <a:ext cx="434924" cy="154781"/>
            </a:xfrm>
            <a:prstGeom prst="rect">
              <a:avLst/>
            </a:prstGeom>
            <a:noFill/>
            <a:ln>
              <a:noFill/>
            </a:ln>
          </p:spPr>
          <p:txBody>
            <a:bodyPr wrap="none" lIns="0" tIns="0" rIns="0" bIns="0" anchor="t" anchorCtr="0">
              <a:spAutoFit/>
            </a:bodyPr>
            <a:lstStyle/>
            <a:p>
              <a:pPr algn="ctr"/>
              <a:r>
                <a:rPr lang="zh-CN" sz="790" dirty="0">
                  <a:solidFill>
                    <a:srgbClr val="E2624C"/>
                  </a:solidFill>
                  <a:latin typeface="+mn-lt"/>
                  <a:ea typeface="+mn-ea"/>
                  <a:cs typeface="+mn-cs"/>
                </a:rPr>
                <a:t>人群占比</a:t>
              </a:r>
            </a:p>
          </p:txBody>
        </p:sp>
        <p:sp>
          <p:nvSpPr>
            <p:cNvPr id="105" name="TextBox 105"/>
            <p:cNvSpPr txBox="1"/>
            <p:nvPr/>
          </p:nvSpPr>
          <p:spPr>
            <a:xfrm>
              <a:off x="4006413" y="2175510"/>
              <a:ext cx="419283" cy="234696"/>
            </a:xfrm>
            <a:prstGeom prst="rect">
              <a:avLst/>
            </a:prstGeom>
            <a:noFill/>
            <a:ln>
              <a:noFill/>
            </a:ln>
          </p:spPr>
          <p:txBody>
            <a:bodyPr wrap="none" lIns="0" tIns="0" rIns="0" bIns="0" anchor="t" anchorCtr="0">
              <a:spAutoFit/>
            </a:bodyPr>
            <a:lstStyle/>
            <a:p>
              <a:pPr algn="r"/>
              <a:r>
                <a:rPr lang="zh-CN" sz="1200" b="1" dirty="0">
                  <a:solidFill>
                    <a:srgbClr val="E2624C"/>
                  </a:solidFill>
                  <a:latin typeface="+mn-lt"/>
                  <a:ea typeface="+mn-ea"/>
                  <a:cs typeface="+mn-cs"/>
                </a:rPr>
                <a:t>16%​</a:t>
              </a:r>
            </a:p>
          </p:txBody>
        </p:sp>
        <p:sp>
          <p:nvSpPr>
            <p:cNvPr id="106" name="TextBox 106"/>
            <p:cNvSpPr txBox="1"/>
            <p:nvPr/>
          </p:nvSpPr>
          <p:spPr>
            <a:xfrm>
              <a:off x="3458020" y="2501741"/>
              <a:ext cx="780161" cy="7715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20-30岁​</a:t>
              </a:r>
              <a:br/>
              <a:r>
                <a:rPr lang="zh-CN" sz="820" dirty="0">
                  <a:solidFill>
                    <a:srgbClr val="543E3A"/>
                  </a:solidFill>
                  <a:latin typeface="+mn-lt"/>
                  <a:ea typeface="+mn-ea"/>
                  <a:cs typeface="+mn-cs"/>
                </a:rPr>
                <a:t>一二线城市</a:t>
              </a:r>
              <a:br/>
              <a:r>
                <a:rPr lang="zh-CN" sz="820" dirty="0">
                  <a:solidFill>
                    <a:srgbClr val="543E3A"/>
                  </a:solidFill>
                  <a:latin typeface="+mn-lt"/>
                  <a:ea typeface="+mn-ea"/>
                  <a:cs typeface="+mn-cs"/>
                </a:rPr>
                <a:t>白领、it、金融​</a:t>
              </a:r>
              <a:br/>
              <a:r>
                <a:rPr lang="zh-CN" sz="820" dirty="0">
                  <a:solidFill>
                    <a:srgbClr val="543E3A"/>
                  </a:solidFill>
                  <a:latin typeface="+mn-lt"/>
                  <a:ea typeface="+mn-ea"/>
                  <a:cs typeface="+mn-cs"/>
                </a:rPr>
                <a:t>愿意花钱买便利</a:t>
              </a:r>
              <a:br/>
              <a:r>
                <a:rPr lang="zh-CN" sz="820" dirty="0">
                  <a:solidFill>
                    <a:srgbClr val="543E3A"/>
                  </a:solidFill>
                  <a:latin typeface="+mn-lt"/>
                  <a:ea typeface="+mn-ea"/>
                  <a:cs typeface="+mn-cs"/>
                </a:rPr>
                <a:t>省时间</a:t>
              </a:r>
            </a:p>
          </p:txBody>
        </p:sp>
        <p:sp>
          <p:nvSpPr>
            <p:cNvPr id="107" name="Line 107"/>
            <p:cNvSpPr/>
            <p:nvPr/>
          </p:nvSpPr>
          <p:spPr>
            <a:xfrm>
              <a:off x="3295650" y="34290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108" name="TextBox 108"/>
            <p:cNvSpPr txBox="1"/>
            <p:nvPr/>
          </p:nvSpPr>
          <p:spPr>
            <a:xfrm>
              <a:off x="3496018" y="3545443"/>
              <a:ext cx="704164" cy="169069"/>
            </a:xfrm>
            <a:prstGeom prst="rect">
              <a:avLst/>
            </a:prstGeom>
            <a:noFill/>
            <a:ln>
              <a:noFill/>
            </a:ln>
          </p:spPr>
          <p:txBody>
            <a:bodyPr wrap="none" lIns="0" tIns="0" rIns="0" bIns="0" anchor="t" anchorCtr="0">
              <a:spAutoFit/>
            </a:bodyPr>
            <a:lstStyle/>
            <a:p>
              <a:pPr algn="ctr"/>
              <a:r>
                <a:rPr lang="zh-CN" sz="860" b="1" dirty="0">
                  <a:solidFill>
                    <a:srgbClr val="E2624C"/>
                  </a:solidFill>
                  <a:latin typeface="+mn-lt"/>
                  <a:ea typeface="+mn-ea"/>
                  <a:cs typeface="+mn-cs"/>
                </a:rPr>
                <a:t>日常消费形态</a:t>
              </a:r>
            </a:p>
          </p:txBody>
        </p:sp>
        <p:sp>
          <p:nvSpPr>
            <p:cNvPr id="109" name="TextBox 109"/>
            <p:cNvSpPr txBox="1"/>
            <p:nvPr/>
          </p:nvSpPr>
          <p:spPr>
            <a:xfrm>
              <a:off x="3635058" y="3739991"/>
              <a:ext cx="426085"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中高消费</a:t>
              </a:r>
              <a:br/>
              <a:r>
                <a:rPr lang="zh-CN" sz="820" dirty="0">
                  <a:solidFill>
                    <a:srgbClr val="543E3A"/>
                  </a:solidFill>
                  <a:latin typeface="+mn-lt"/>
                  <a:ea typeface="+mn-ea"/>
                  <a:cs typeface="+mn-cs"/>
                </a:rPr>
                <a:t>注重品质</a:t>
              </a:r>
              <a:br/>
              <a:r>
                <a:rPr lang="zh-CN" sz="820" dirty="0">
                  <a:solidFill>
                    <a:srgbClr val="543E3A"/>
                  </a:solidFill>
                  <a:latin typeface="+mn-lt"/>
                  <a:ea typeface="+mn-ea"/>
                  <a:cs typeface="+mn-cs"/>
                </a:rPr>
                <a:t>小众设计</a:t>
              </a:r>
            </a:p>
          </p:txBody>
        </p:sp>
        <p:sp>
          <p:nvSpPr>
            <p:cNvPr id="110" name="Line 110"/>
            <p:cNvSpPr/>
            <p:nvPr/>
          </p:nvSpPr>
          <p:spPr>
            <a:xfrm>
              <a:off x="3295650" y="43434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111" name="Rectangle 111"/>
            <p:cNvSpPr/>
            <p:nvPr/>
          </p:nvSpPr>
          <p:spPr>
            <a:xfrm>
              <a:off x="3238500" y="4400550"/>
              <a:ext cx="1219200" cy="1028700"/>
            </a:xfrm>
            <a:prstGeom prst="roundRect">
              <a:avLst>
                <a:gd name="adj" fmla="val 5556"/>
              </a:avLst>
            </a:prstGeom>
            <a:solidFill>
              <a:srgbClr val="F5F6FC"/>
            </a:solidFill>
            <a:ln>
              <a:noFill/>
            </a:ln>
          </p:spPr>
        </p:sp>
        <p:sp>
          <p:nvSpPr>
            <p:cNvPr id="112" name="TextBox 112"/>
            <p:cNvSpPr txBox="1"/>
            <p:nvPr/>
          </p:nvSpPr>
          <p:spPr>
            <a:xfrm>
              <a:off x="3611791" y="4497943"/>
              <a:ext cx="472618" cy="169069"/>
            </a:xfrm>
            <a:prstGeom prst="rect">
              <a:avLst/>
            </a:prstGeom>
            <a:noFill/>
            <a:ln>
              <a:noFill/>
            </a:ln>
          </p:spPr>
          <p:txBody>
            <a:bodyPr wrap="none" lIns="0" tIns="0" rIns="0" bIns="0" anchor="t" anchorCtr="0">
              <a:spAutoFit/>
            </a:bodyPr>
            <a:lstStyle/>
            <a:p>
              <a:pPr algn="ctr"/>
              <a:r>
                <a:rPr lang="zh-CN" sz="860" b="1" dirty="0">
                  <a:solidFill>
                    <a:srgbClr val="E2624C"/>
                  </a:solidFill>
                  <a:latin typeface="+mn-lt"/>
                  <a:ea typeface="+mn-ea"/>
                  <a:cs typeface="+mn-cs"/>
                </a:rPr>
                <a:t>内容触点</a:t>
              </a:r>
            </a:p>
          </p:txBody>
        </p:sp>
        <p:sp>
          <p:nvSpPr>
            <p:cNvPr id="113" name="TextBox 113"/>
            <p:cNvSpPr txBox="1"/>
            <p:nvPr/>
          </p:nvSpPr>
          <p:spPr>
            <a:xfrm>
              <a:off x="3530918" y="4692491"/>
              <a:ext cx="63436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职业发展建议</a:t>
              </a:r>
              <a:br/>
              <a:r>
                <a:rPr lang="zh-CN" sz="820" dirty="0">
                  <a:solidFill>
                    <a:srgbClr val="543E3A"/>
                  </a:solidFill>
                  <a:latin typeface="+mn-lt"/>
                  <a:ea typeface="+mn-ea"/>
                  <a:cs typeface="+mn-cs"/>
                </a:rPr>
                <a:t>技能提升教程</a:t>
              </a:r>
            </a:p>
          </p:txBody>
        </p:sp>
        <p:sp>
          <p:nvSpPr>
            <p:cNvPr id="114" name="Rectangle 114"/>
            <p:cNvSpPr/>
            <p:nvPr/>
          </p:nvSpPr>
          <p:spPr>
            <a:xfrm>
              <a:off x="3505200" y="5162550"/>
              <a:ext cx="190500" cy="190500"/>
            </a:xfrm>
            <a:prstGeom prst="roundRect">
              <a:avLst>
                <a:gd name="adj" fmla="val 25000"/>
              </a:avLst>
            </a:prstGeom>
            <a:solidFill>
              <a:srgbClr val="FB8B72"/>
            </a:solidFill>
            <a:ln>
              <a:noFill/>
            </a:ln>
          </p:spPr>
        </p:sp>
        <p:grpSp>
          <p:nvGrpSpPr>
            <p:cNvPr id="117" name="Group 117"/>
            <p:cNvGrpSpPr/>
            <p:nvPr/>
          </p:nvGrpSpPr>
          <p:grpSpPr>
            <a:xfrm>
              <a:off x="3550444" y="5224462"/>
              <a:ext cx="100012" cy="66675"/>
              <a:chOff x="3550444" y="5224462"/>
              <a:chExt cx="100012" cy="66675"/>
            </a:xfrm>
          </p:grpSpPr>
          <p:sp>
            <p:nvSpPr>
              <p:cNvPr id="115" name="Freeform 115"/>
              <p:cNvSpPr/>
              <p:nvPr/>
            </p:nvSpPr>
            <p:spPr>
              <a:xfrm>
                <a:off x="3617119" y="52331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FFFFFF"/>
                </a:solidFill>
              </a:ln>
            </p:spPr>
          </p:sp>
          <p:sp>
            <p:nvSpPr>
              <p:cNvPr id="116" name="Freeform 116"/>
              <p:cNvSpPr/>
              <p:nvPr/>
            </p:nvSpPr>
            <p:spPr>
              <a:xfrm>
                <a:off x="3550444" y="52244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FFFFFF"/>
                </a:solidFill>
              </a:ln>
            </p:spPr>
          </p:sp>
        </p:grpSp>
        <p:sp>
          <p:nvSpPr>
            <p:cNvPr id="118" name="Rectangle 118"/>
            <p:cNvSpPr/>
            <p:nvPr/>
          </p:nvSpPr>
          <p:spPr>
            <a:xfrm>
              <a:off x="3752850" y="5162550"/>
              <a:ext cx="190500" cy="190500"/>
            </a:xfrm>
            <a:prstGeom prst="roundRect">
              <a:avLst>
                <a:gd name="adj" fmla="val 25000"/>
              </a:avLst>
            </a:prstGeom>
            <a:solidFill>
              <a:srgbClr val="FF4D24"/>
            </a:solidFill>
            <a:ln>
              <a:noFill/>
            </a:ln>
          </p:spPr>
        </p:sp>
        <p:grpSp>
          <p:nvGrpSpPr>
            <p:cNvPr id="122" name="Group 122"/>
            <p:cNvGrpSpPr/>
            <p:nvPr/>
          </p:nvGrpSpPr>
          <p:grpSpPr>
            <a:xfrm>
              <a:off x="3809206" y="5213350"/>
              <a:ext cx="77787" cy="88900"/>
              <a:chOff x="3809206" y="5213350"/>
              <a:chExt cx="77787" cy="88900"/>
            </a:xfrm>
          </p:grpSpPr>
          <p:sp>
            <p:nvSpPr>
              <p:cNvPr id="119" name="Freeform 119"/>
              <p:cNvSpPr/>
              <p:nvPr/>
            </p:nvSpPr>
            <p:spPr>
              <a:xfrm>
                <a:off x="3809206" y="5213350"/>
                <a:ext cx="77787" cy="88900"/>
              </a:xfrm>
              <a:custGeom>
                <a:avLst/>
                <a:gdLst/>
                <a:ahLst/>
                <a:cxnLst/>
                <a:rect l="l" t="t" r="r" b="b"/>
                <a:pathLst>
                  <a:path w="77787" h="88900">
                    <a:moveTo>
                      <a:pt x="77787" y="0"/>
                    </a:moveTo>
                    <a:lnTo>
                      <a:pt x="77787" y="88900"/>
                    </a:lnTo>
                    <a:lnTo>
                      <a:pt x="11112" y="88900"/>
                    </a:lnTo>
                    <a:cubicBezTo>
                      <a:pt x="4975" y="88900"/>
                      <a:pt x="0" y="83925"/>
                      <a:pt x="0" y="77787"/>
                    </a:cubicBezTo>
                    <a:lnTo>
                      <a:pt x="0" y="11112"/>
                    </a:lnTo>
                    <a:cubicBezTo>
                      <a:pt x="0" y="4975"/>
                      <a:pt x="4975" y="0"/>
                      <a:pt x="11112" y="0"/>
                    </a:cubicBezTo>
                    <a:lnTo>
                      <a:pt x="77787" y="0"/>
                    </a:lnTo>
                  </a:path>
                </a:pathLst>
              </a:custGeom>
              <a:noFill/>
              <a:ln w="11112">
                <a:solidFill>
                  <a:srgbClr val="FFFFFF"/>
                </a:solidFill>
              </a:ln>
            </p:spPr>
          </p:sp>
          <p:sp>
            <p:nvSpPr>
              <p:cNvPr id="120" name="Freeform 120"/>
              <p:cNvSpPr/>
              <p:nvPr/>
            </p:nvSpPr>
            <p:spPr>
              <a:xfrm>
                <a:off x="3809206" y="5280025"/>
                <a:ext cx="77787" cy="11112"/>
              </a:xfrm>
              <a:custGeom>
                <a:avLst/>
                <a:gdLst/>
                <a:ahLst/>
                <a:cxnLst/>
                <a:rect l="l" t="t" r="r" b="b"/>
                <a:pathLst>
                  <a:path w="77787" h="11112">
                    <a:moveTo>
                      <a:pt x="77787" y="0"/>
                    </a:moveTo>
                    <a:lnTo>
                      <a:pt x="11112" y="0"/>
                    </a:lnTo>
                    <a:cubicBezTo>
                      <a:pt x="4975" y="0"/>
                      <a:pt x="0" y="4975"/>
                      <a:pt x="0" y="11112"/>
                    </a:cubicBezTo>
                  </a:path>
                </a:pathLst>
              </a:custGeom>
              <a:noFill/>
              <a:ln w="11112">
                <a:solidFill>
                  <a:srgbClr val="FFFFFF"/>
                </a:solidFill>
              </a:ln>
            </p:spPr>
          </p:sp>
          <p:sp>
            <p:nvSpPr>
              <p:cNvPr id="121" name="Freeform 121"/>
              <p:cNvSpPr/>
              <p:nvPr/>
            </p:nvSpPr>
            <p:spPr>
              <a:xfrm>
                <a:off x="3831431" y="5235575"/>
                <a:ext cx="33337" cy="9525"/>
              </a:xfrm>
              <a:custGeom>
                <a:avLst/>
                <a:gdLst/>
                <a:ahLst/>
                <a:cxnLst/>
                <a:rect l="l" t="t" r="r" b="b"/>
                <a:pathLst>
                  <a:path w="33337" h="9525">
                    <a:moveTo>
                      <a:pt x="0" y="0"/>
                    </a:moveTo>
                    <a:lnTo>
                      <a:pt x="33337" y="0"/>
                    </a:lnTo>
                  </a:path>
                </a:pathLst>
              </a:custGeom>
              <a:noFill/>
              <a:ln w="11112">
                <a:solidFill>
                  <a:srgbClr val="FFFFFF"/>
                </a:solidFill>
              </a:ln>
            </p:spPr>
          </p:sp>
        </p:grpSp>
        <p:sp>
          <p:nvSpPr>
            <p:cNvPr id="123" name="Rectangle 123"/>
            <p:cNvSpPr/>
            <p:nvPr/>
          </p:nvSpPr>
          <p:spPr>
            <a:xfrm>
              <a:off x="4000500" y="5162550"/>
              <a:ext cx="190500" cy="190500"/>
            </a:xfrm>
            <a:prstGeom prst="roundRect">
              <a:avLst>
                <a:gd name="adj" fmla="val 25000"/>
              </a:avLst>
            </a:prstGeom>
            <a:solidFill>
              <a:srgbClr val="1A1A1A"/>
            </a:solidFill>
            <a:ln>
              <a:noFill/>
            </a:ln>
          </p:spPr>
        </p:sp>
        <p:grpSp>
          <p:nvGrpSpPr>
            <p:cNvPr id="127" name="Group 127"/>
            <p:cNvGrpSpPr/>
            <p:nvPr/>
          </p:nvGrpSpPr>
          <p:grpSpPr>
            <a:xfrm>
              <a:off x="4062412" y="5207794"/>
              <a:ext cx="66675" cy="100012"/>
              <a:chOff x="4062412" y="5207794"/>
              <a:chExt cx="66675" cy="100012"/>
            </a:xfrm>
          </p:grpSpPr>
          <p:sp>
            <p:nvSpPr>
              <p:cNvPr id="124" name="Freeform 124"/>
              <p:cNvSpPr/>
              <p:nvPr/>
            </p:nvSpPr>
            <p:spPr>
              <a:xfrm>
                <a:off x="4062412" y="520779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FFFFFF"/>
                </a:solidFill>
              </a:ln>
            </p:spPr>
          </p:sp>
          <p:sp>
            <p:nvSpPr>
              <p:cNvPr id="125" name="Freeform 125"/>
              <p:cNvSpPr/>
              <p:nvPr/>
            </p:nvSpPr>
            <p:spPr>
              <a:xfrm>
                <a:off x="4090194" y="5213350"/>
                <a:ext cx="11112" cy="9525"/>
              </a:xfrm>
              <a:custGeom>
                <a:avLst/>
                <a:gdLst/>
                <a:ahLst/>
                <a:cxnLst/>
                <a:rect l="l" t="t" r="r" b="b"/>
                <a:pathLst>
                  <a:path w="11112" h="9525">
                    <a:moveTo>
                      <a:pt x="0" y="0"/>
                    </a:moveTo>
                    <a:lnTo>
                      <a:pt x="11112" y="0"/>
                    </a:lnTo>
                  </a:path>
                </a:pathLst>
              </a:custGeom>
              <a:noFill/>
              <a:ln w="11112">
                <a:solidFill>
                  <a:srgbClr val="FFFFFF"/>
                </a:solidFill>
              </a:ln>
            </p:spPr>
          </p:sp>
          <p:sp>
            <p:nvSpPr>
              <p:cNvPr id="126" name="Freeform 126"/>
              <p:cNvSpPr/>
              <p:nvPr/>
            </p:nvSpPr>
            <p:spPr>
              <a:xfrm>
                <a:off x="4095750" y="5285581"/>
                <a:ext cx="9525" cy="9525"/>
              </a:xfrm>
              <a:custGeom>
                <a:avLst/>
                <a:gdLst/>
                <a:ahLst/>
                <a:cxnLst/>
                <a:rect l="l" t="t" r="r" b="b"/>
                <a:pathLst>
                  <a:path w="9525" h="9525">
                    <a:moveTo>
                      <a:pt x="0" y="0"/>
                    </a:moveTo>
                    <a:lnTo>
                      <a:pt x="0" y="56"/>
                    </a:lnTo>
                  </a:path>
                </a:pathLst>
              </a:custGeom>
              <a:noFill/>
              <a:ln w="11112">
                <a:solidFill>
                  <a:srgbClr val="FFFFFF"/>
                </a:solidFill>
              </a:ln>
            </p:spPr>
          </p:sp>
        </p:grpSp>
      </p:grpSp>
      <p:grpSp>
        <p:nvGrpSpPr>
          <p:cNvPr id="163" name="seg-4"/>
          <p:cNvGrpSpPr/>
          <p:nvPr/>
        </p:nvGrpSpPr>
        <p:grpSpPr>
          <a:xfrm>
            <a:off x="4629150" y="1238250"/>
            <a:ext cx="1333500" cy="4248150"/>
            <a:chOff x="4629150" y="1238250"/>
            <a:chExt cx="1333500" cy="4248150"/>
          </a:xfrm>
        </p:grpSpPr>
        <p:sp>
          <p:nvSpPr>
            <p:cNvPr id="129" name="Rectangle 129"/>
            <p:cNvSpPr/>
            <p:nvPr/>
          </p:nvSpPr>
          <p:spPr>
            <a:xfrm>
              <a:off x="4629150" y="1238250"/>
              <a:ext cx="1333500" cy="4248150"/>
            </a:xfrm>
            <a:prstGeom prst="roundRect">
              <a:avLst>
                <a:gd name="adj" fmla="val 5714"/>
              </a:avLst>
            </a:prstGeom>
            <a:solidFill>
              <a:srgbClr val="FFFFFF"/>
            </a:solidFill>
            <a:ln>
              <a:noFill/>
            </a:ln>
            <a:effectLst>
              <a:outerShdw blurRad="133350" dist="47625" dir="5400000" algn="ctr" rotWithShape="0">
                <a:srgbClr val="C45F4A">
                  <a:alpha val="6000"/>
                </a:srgbClr>
              </a:outerShdw>
            </a:effectLst>
          </p:spPr>
        </p:sp>
        <p:sp>
          <p:nvSpPr>
            <p:cNvPr id="130" name="Rectangle 130"/>
            <p:cNvSpPr/>
            <p:nvPr/>
          </p:nvSpPr>
          <p:spPr>
            <a:xfrm>
              <a:off x="4629150" y="1238250"/>
              <a:ext cx="1333500" cy="571500"/>
            </a:xfrm>
            <a:prstGeom prst="roundRect">
              <a:avLst>
                <a:gd name="adj" fmla="val 13333"/>
              </a:avLst>
            </a:prstGeom>
            <a:solidFill>
              <a:srgbClr val="E8705C"/>
            </a:solidFill>
            <a:ln>
              <a:noFill/>
            </a:ln>
          </p:spPr>
        </p:sp>
        <p:sp>
          <p:nvSpPr>
            <p:cNvPr id="131" name="Ellipse 131"/>
            <p:cNvSpPr/>
            <p:nvPr/>
          </p:nvSpPr>
          <p:spPr>
            <a:xfrm>
              <a:off x="4705350" y="1314450"/>
              <a:ext cx="419100" cy="419100"/>
            </a:xfrm>
            <a:prstGeom prst="ellipse">
              <a:avLst/>
            </a:prstGeom>
            <a:solidFill>
              <a:srgbClr val="FFFFFF"/>
            </a:solidFill>
            <a:ln>
              <a:noFill/>
            </a:ln>
          </p:spPr>
        </p:sp>
        <p:grpSp>
          <p:nvGrpSpPr>
            <p:cNvPr id="136" name="Group 136"/>
            <p:cNvGrpSpPr/>
            <p:nvPr/>
          </p:nvGrpSpPr>
          <p:grpSpPr>
            <a:xfrm>
              <a:off x="4822031" y="1431131"/>
              <a:ext cx="185737" cy="185738"/>
              <a:chOff x="4822031" y="1431131"/>
              <a:chExt cx="185737" cy="185738"/>
            </a:xfrm>
          </p:grpSpPr>
          <p:sp>
            <p:nvSpPr>
              <p:cNvPr id="132" name="Freeform 132"/>
              <p:cNvSpPr/>
              <p:nvPr/>
            </p:nvSpPr>
            <p:spPr>
              <a:xfrm>
                <a:off x="4842669" y="14311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E8705C"/>
                </a:solidFill>
              </a:ln>
            </p:spPr>
          </p:sp>
          <p:sp>
            <p:nvSpPr>
              <p:cNvPr id="133" name="Freeform 133"/>
              <p:cNvSpPr/>
              <p:nvPr/>
            </p:nvSpPr>
            <p:spPr>
              <a:xfrm>
                <a:off x="4822031" y="15549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E8705C"/>
                </a:solidFill>
              </a:ln>
            </p:spPr>
          </p:sp>
          <p:sp>
            <p:nvSpPr>
              <p:cNvPr id="134" name="Freeform 134"/>
              <p:cNvSpPr/>
              <p:nvPr/>
            </p:nvSpPr>
            <p:spPr>
              <a:xfrm>
                <a:off x="4956174" y="14324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E8705C"/>
                </a:solidFill>
              </a:ln>
            </p:spPr>
          </p:sp>
          <p:sp>
            <p:nvSpPr>
              <p:cNvPr id="135" name="Freeform 135"/>
              <p:cNvSpPr/>
              <p:nvPr/>
            </p:nvSpPr>
            <p:spPr>
              <a:xfrm>
                <a:off x="4976812" y="15565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E8705C"/>
                </a:solidFill>
              </a:ln>
            </p:spPr>
          </p:sp>
        </p:grpSp>
        <p:sp>
          <p:nvSpPr>
            <p:cNvPr id="137" name="TextBox 137"/>
            <p:cNvSpPr txBox="1"/>
            <p:nvPr/>
          </p:nvSpPr>
          <p:spPr>
            <a:xfrm>
              <a:off x="5285702" y="14704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精致妈妈</a:t>
              </a:r>
            </a:p>
          </p:txBody>
        </p:sp>
        <p:sp>
          <p:nvSpPr>
            <p:cNvPr id="138" name="Rectangle 138"/>
            <p:cNvSpPr/>
            <p:nvPr/>
          </p:nvSpPr>
          <p:spPr>
            <a:xfrm>
              <a:off x="4705350" y="1943100"/>
              <a:ext cx="571500" cy="171450"/>
            </a:xfrm>
            <a:prstGeom prst="roundRect">
              <a:avLst>
                <a:gd name="adj" fmla="val 16667"/>
              </a:avLst>
            </a:prstGeom>
            <a:solidFill>
              <a:srgbClr val="E8EBF8"/>
            </a:solidFill>
            <a:ln>
              <a:noFill/>
            </a:ln>
          </p:spPr>
        </p:sp>
        <p:sp>
          <p:nvSpPr>
            <p:cNvPr id="139" name="TextBox 139"/>
            <p:cNvSpPr txBox="1"/>
            <p:nvPr/>
          </p:nvSpPr>
          <p:spPr>
            <a:xfrm>
              <a:off x="4773638" y="1981914"/>
              <a:ext cx="434924" cy="154781"/>
            </a:xfrm>
            <a:prstGeom prst="rect">
              <a:avLst/>
            </a:prstGeom>
            <a:noFill/>
            <a:ln>
              <a:noFill/>
            </a:ln>
          </p:spPr>
          <p:txBody>
            <a:bodyPr wrap="none" lIns="0" tIns="0" rIns="0" bIns="0" anchor="t" anchorCtr="0">
              <a:spAutoFit/>
            </a:bodyPr>
            <a:lstStyle/>
            <a:p>
              <a:pPr algn="ctr"/>
              <a:r>
                <a:rPr lang="zh-CN" sz="790" dirty="0">
                  <a:solidFill>
                    <a:srgbClr val="E2624C"/>
                  </a:solidFill>
                  <a:latin typeface="+mn-lt"/>
                  <a:ea typeface="+mn-ea"/>
                  <a:cs typeface="+mn-cs"/>
                </a:rPr>
                <a:t>消费贡献</a:t>
              </a:r>
            </a:p>
          </p:txBody>
        </p:sp>
        <p:sp>
          <p:nvSpPr>
            <p:cNvPr id="140" name="TextBox 140"/>
            <p:cNvSpPr txBox="1"/>
            <p:nvPr/>
          </p:nvSpPr>
          <p:spPr>
            <a:xfrm>
              <a:off x="5454213" y="1956435"/>
              <a:ext cx="419283" cy="234696"/>
            </a:xfrm>
            <a:prstGeom prst="rect">
              <a:avLst/>
            </a:prstGeom>
            <a:noFill/>
            <a:ln>
              <a:noFill/>
            </a:ln>
          </p:spPr>
          <p:txBody>
            <a:bodyPr wrap="none" lIns="0" tIns="0" rIns="0" bIns="0" anchor="t" anchorCtr="0">
              <a:spAutoFit/>
            </a:bodyPr>
            <a:lstStyle/>
            <a:p>
              <a:pPr algn="r"/>
              <a:r>
                <a:rPr lang="zh-CN" sz="1200" b="1" dirty="0">
                  <a:solidFill>
                    <a:srgbClr val="E2624C"/>
                  </a:solidFill>
                  <a:latin typeface="+mn-lt"/>
                  <a:ea typeface="+mn-ea"/>
                  <a:cs typeface="+mn-cs"/>
                </a:rPr>
                <a:t>18%​</a:t>
              </a:r>
            </a:p>
          </p:txBody>
        </p:sp>
        <p:sp>
          <p:nvSpPr>
            <p:cNvPr id="141" name="Rectangle 141"/>
            <p:cNvSpPr/>
            <p:nvPr/>
          </p:nvSpPr>
          <p:spPr>
            <a:xfrm>
              <a:off x="4705350" y="2162175"/>
              <a:ext cx="571500" cy="171450"/>
            </a:xfrm>
            <a:prstGeom prst="roundRect">
              <a:avLst>
                <a:gd name="adj" fmla="val 16667"/>
              </a:avLst>
            </a:prstGeom>
            <a:solidFill>
              <a:srgbClr val="E8EBF8"/>
            </a:solidFill>
            <a:ln>
              <a:noFill/>
            </a:ln>
          </p:spPr>
        </p:sp>
        <p:sp>
          <p:nvSpPr>
            <p:cNvPr id="142" name="TextBox 142"/>
            <p:cNvSpPr txBox="1"/>
            <p:nvPr/>
          </p:nvSpPr>
          <p:spPr>
            <a:xfrm>
              <a:off x="4773638" y="2200989"/>
              <a:ext cx="434924" cy="154781"/>
            </a:xfrm>
            <a:prstGeom prst="rect">
              <a:avLst/>
            </a:prstGeom>
            <a:noFill/>
            <a:ln>
              <a:noFill/>
            </a:ln>
          </p:spPr>
          <p:txBody>
            <a:bodyPr wrap="none" lIns="0" tIns="0" rIns="0" bIns="0" anchor="t" anchorCtr="0">
              <a:spAutoFit/>
            </a:bodyPr>
            <a:lstStyle/>
            <a:p>
              <a:pPr algn="ctr"/>
              <a:r>
                <a:rPr lang="zh-CN" sz="790" dirty="0">
                  <a:solidFill>
                    <a:srgbClr val="E2624C"/>
                  </a:solidFill>
                  <a:latin typeface="+mn-lt"/>
                  <a:ea typeface="+mn-ea"/>
                  <a:cs typeface="+mn-cs"/>
                </a:rPr>
                <a:t>人群占比</a:t>
              </a:r>
            </a:p>
          </p:txBody>
        </p:sp>
        <p:sp>
          <p:nvSpPr>
            <p:cNvPr id="143" name="TextBox 143"/>
            <p:cNvSpPr txBox="1"/>
            <p:nvPr/>
          </p:nvSpPr>
          <p:spPr>
            <a:xfrm>
              <a:off x="5454213" y="2175510"/>
              <a:ext cx="419283" cy="234696"/>
            </a:xfrm>
            <a:prstGeom prst="rect">
              <a:avLst/>
            </a:prstGeom>
            <a:noFill/>
            <a:ln>
              <a:noFill/>
            </a:ln>
          </p:spPr>
          <p:txBody>
            <a:bodyPr wrap="none" lIns="0" tIns="0" rIns="0" bIns="0" anchor="t" anchorCtr="0">
              <a:spAutoFit/>
            </a:bodyPr>
            <a:lstStyle/>
            <a:p>
              <a:pPr algn="r"/>
              <a:r>
                <a:rPr lang="zh-CN" sz="1200" b="1" dirty="0">
                  <a:solidFill>
                    <a:srgbClr val="E2624C"/>
                  </a:solidFill>
                  <a:latin typeface="+mn-lt"/>
                  <a:ea typeface="+mn-ea"/>
                  <a:cs typeface="+mn-cs"/>
                </a:rPr>
                <a:t>13%​</a:t>
              </a:r>
            </a:p>
          </p:txBody>
        </p:sp>
        <p:sp>
          <p:nvSpPr>
            <p:cNvPr id="144" name="TextBox 144"/>
            <p:cNvSpPr txBox="1"/>
            <p:nvPr/>
          </p:nvSpPr>
          <p:spPr>
            <a:xfrm>
              <a:off x="4978718" y="2501741"/>
              <a:ext cx="634365" cy="6191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25-35岁​</a:t>
              </a:r>
              <a:br/>
              <a:r>
                <a:rPr lang="zh-CN" sz="820" dirty="0">
                  <a:solidFill>
                    <a:srgbClr val="543E3A"/>
                  </a:solidFill>
                  <a:latin typeface="+mn-lt"/>
                  <a:ea typeface="+mn-ea"/>
                  <a:cs typeface="+mn-cs"/>
                </a:rPr>
                <a:t>一二线城市</a:t>
              </a:r>
              <a:br/>
              <a:r>
                <a:rPr lang="zh-CN" sz="820" dirty="0">
                  <a:solidFill>
                    <a:srgbClr val="543E3A"/>
                  </a:solidFill>
                  <a:latin typeface="+mn-lt"/>
                  <a:ea typeface="+mn-ea"/>
                  <a:cs typeface="+mn-cs"/>
                </a:rPr>
                <a:t>备孕/已生育</a:t>
              </a:r>
              <a:br/>
              <a:r>
                <a:rPr lang="zh-CN" sz="820" dirty="0">
                  <a:solidFill>
                    <a:srgbClr val="543E3A"/>
                  </a:solidFill>
                  <a:latin typeface="+mn-lt"/>
                  <a:ea typeface="+mn-ea"/>
                  <a:cs typeface="+mn-cs"/>
                </a:rPr>
                <a:t>爱自己爱孩子</a:t>
              </a:r>
            </a:p>
          </p:txBody>
        </p:sp>
        <p:sp>
          <p:nvSpPr>
            <p:cNvPr id="145" name="Line 145"/>
            <p:cNvSpPr/>
            <p:nvPr/>
          </p:nvSpPr>
          <p:spPr>
            <a:xfrm>
              <a:off x="4743450" y="34290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146" name="TextBox 146"/>
            <p:cNvSpPr txBox="1"/>
            <p:nvPr/>
          </p:nvSpPr>
          <p:spPr>
            <a:xfrm>
              <a:off x="4943818" y="3545443"/>
              <a:ext cx="704164" cy="169069"/>
            </a:xfrm>
            <a:prstGeom prst="rect">
              <a:avLst/>
            </a:prstGeom>
            <a:noFill/>
            <a:ln>
              <a:noFill/>
            </a:ln>
          </p:spPr>
          <p:txBody>
            <a:bodyPr wrap="none" lIns="0" tIns="0" rIns="0" bIns="0" anchor="t" anchorCtr="0">
              <a:spAutoFit/>
            </a:bodyPr>
            <a:lstStyle/>
            <a:p>
              <a:pPr algn="ctr"/>
              <a:r>
                <a:rPr lang="zh-CN" sz="860" b="1" dirty="0">
                  <a:solidFill>
                    <a:srgbClr val="E2624C"/>
                  </a:solidFill>
                  <a:latin typeface="+mn-lt"/>
                  <a:ea typeface="+mn-ea"/>
                  <a:cs typeface="+mn-cs"/>
                </a:rPr>
                <a:t>日常消费形态</a:t>
              </a:r>
            </a:p>
          </p:txBody>
        </p:sp>
        <p:sp>
          <p:nvSpPr>
            <p:cNvPr id="147" name="TextBox 147"/>
            <p:cNvSpPr txBox="1"/>
            <p:nvPr/>
          </p:nvSpPr>
          <p:spPr>
            <a:xfrm>
              <a:off x="5030788" y="3739991"/>
              <a:ext cx="530225"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消费能力强</a:t>
              </a:r>
              <a:br/>
              <a:r>
                <a:rPr lang="zh-CN" sz="820" dirty="0">
                  <a:solidFill>
                    <a:srgbClr val="543E3A"/>
                  </a:solidFill>
                  <a:latin typeface="+mn-lt"/>
                  <a:ea typeface="+mn-ea"/>
                  <a:cs typeface="+mn-cs"/>
                </a:rPr>
                <a:t>健康和美丽</a:t>
              </a:r>
              <a:br/>
              <a:r>
                <a:rPr lang="zh-CN" sz="820" dirty="0">
                  <a:solidFill>
                    <a:srgbClr val="543E3A"/>
                  </a:solidFill>
                  <a:latin typeface="+mn-lt"/>
                  <a:ea typeface="+mn-ea"/>
                  <a:cs typeface="+mn-cs"/>
                </a:rPr>
                <a:t>一样重要</a:t>
              </a:r>
            </a:p>
          </p:txBody>
        </p:sp>
        <p:sp>
          <p:nvSpPr>
            <p:cNvPr id="148" name="Line 148"/>
            <p:cNvSpPr/>
            <p:nvPr/>
          </p:nvSpPr>
          <p:spPr>
            <a:xfrm>
              <a:off x="4743450" y="43434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149" name="Rectangle 149"/>
            <p:cNvSpPr/>
            <p:nvPr/>
          </p:nvSpPr>
          <p:spPr>
            <a:xfrm>
              <a:off x="4686300" y="4400550"/>
              <a:ext cx="1219200" cy="1028700"/>
            </a:xfrm>
            <a:prstGeom prst="roundRect">
              <a:avLst>
                <a:gd name="adj" fmla="val 5556"/>
              </a:avLst>
            </a:prstGeom>
            <a:solidFill>
              <a:srgbClr val="F5F6FC"/>
            </a:solidFill>
            <a:ln>
              <a:noFill/>
            </a:ln>
          </p:spPr>
        </p:sp>
        <p:sp>
          <p:nvSpPr>
            <p:cNvPr id="150" name="TextBox 150"/>
            <p:cNvSpPr txBox="1"/>
            <p:nvPr/>
          </p:nvSpPr>
          <p:spPr>
            <a:xfrm>
              <a:off x="5059591" y="4497943"/>
              <a:ext cx="472618" cy="169069"/>
            </a:xfrm>
            <a:prstGeom prst="rect">
              <a:avLst/>
            </a:prstGeom>
            <a:noFill/>
            <a:ln>
              <a:noFill/>
            </a:ln>
          </p:spPr>
          <p:txBody>
            <a:bodyPr wrap="none" lIns="0" tIns="0" rIns="0" bIns="0" anchor="t" anchorCtr="0">
              <a:spAutoFit/>
            </a:bodyPr>
            <a:lstStyle/>
            <a:p>
              <a:pPr algn="ctr"/>
              <a:r>
                <a:rPr lang="zh-CN" sz="860" b="1" dirty="0">
                  <a:solidFill>
                    <a:srgbClr val="E2624C"/>
                  </a:solidFill>
                  <a:latin typeface="+mn-lt"/>
                  <a:ea typeface="+mn-ea"/>
                  <a:cs typeface="+mn-cs"/>
                </a:rPr>
                <a:t>内容触点</a:t>
              </a:r>
            </a:p>
          </p:txBody>
        </p:sp>
        <p:sp>
          <p:nvSpPr>
            <p:cNvPr id="151" name="TextBox 151"/>
            <p:cNvSpPr txBox="1"/>
            <p:nvPr/>
          </p:nvSpPr>
          <p:spPr>
            <a:xfrm>
              <a:off x="4978718" y="4692491"/>
              <a:ext cx="63436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育儿知识</a:t>
              </a:r>
              <a:br/>
              <a:r>
                <a:rPr lang="zh-CN" sz="820" dirty="0">
                  <a:solidFill>
                    <a:srgbClr val="543E3A"/>
                  </a:solidFill>
                  <a:latin typeface="+mn-lt"/>
                  <a:ea typeface="+mn-ea"/>
                  <a:cs typeface="+mn-cs"/>
                </a:rPr>
                <a:t>健康生活指南</a:t>
              </a:r>
            </a:p>
          </p:txBody>
        </p:sp>
        <p:sp>
          <p:nvSpPr>
            <p:cNvPr id="152" name="Rectangle 152"/>
            <p:cNvSpPr/>
            <p:nvPr/>
          </p:nvSpPr>
          <p:spPr>
            <a:xfrm>
              <a:off x="4953000" y="5162550"/>
              <a:ext cx="190500" cy="190500"/>
            </a:xfrm>
            <a:prstGeom prst="roundRect">
              <a:avLst>
                <a:gd name="adj" fmla="val 25000"/>
              </a:avLst>
            </a:prstGeom>
            <a:solidFill>
              <a:srgbClr val="FB8B72"/>
            </a:solidFill>
            <a:ln>
              <a:noFill/>
            </a:ln>
          </p:spPr>
        </p:sp>
        <p:grpSp>
          <p:nvGrpSpPr>
            <p:cNvPr id="155" name="Group 155"/>
            <p:cNvGrpSpPr/>
            <p:nvPr/>
          </p:nvGrpSpPr>
          <p:grpSpPr>
            <a:xfrm>
              <a:off x="4998244" y="5224462"/>
              <a:ext cx="100012" cy="66675"/>
              <a:chOff x="4998244" y="5224462"/>
              <a:chExt cx="100012" cy="66675"/>
            </a:xfrm>
          </p:grpSpPr>
          <p:sp>
            <p:nvSpPr>
              <p:cNvPr id="153" name="Freeform 153"/>
              <p:cNvSpPr/>
              <p:nvPr/>
            </p:nvSpPr>
            <p:spPr>
              <a:xfrm>
                <a:off x="5064919" y="52331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FFFFFF"/>
                </a:solidFill>
              </a:ln>
            </p:spPr>
          </p:sp>
          <p:sp>
            <p:nvSpPr>
              <p:cNvPr id="154" name="Freeform 154"/>
              <p:cNvSpPr/>
              <p:nvPr/>
            </p:nvSpPr>
            <p:spPr>
              <a:xfrm>
                <a:off x="4998244" y="52244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FFFFFF"/>
                </a:solidFill>
              </a:ln>
            </p:spPr>
          </p:sp>
        </p:grpSp>
        <p:sp>
          <p:nvSpPr>
            <p:cNvPr id="156" name="Rectangle 156"/>
            <p:cNvSpPr/>
            <p:nvPr/>
          </p:nvSpPr>
          <p:spPr>
            <a:xfrm>
              <a:off x="5200650" y="5162550"/>
              <a:ext cx="190500" cy="190500"/>
            </a:xfrm>
            <a:prstGeom prst="roundRect">
              <a:avLst>
                <a:gd name="adj" fmla="val 25000"/>
              </a:avLst>
            </a:prstGeom>
            <a:solidFill>
              <a:srgbClr val="FF4D24"/>
            </a:solidFill>
            <a:ln>
              <a:noFill/>
            </a:ln>
          </p:spPr>
        </p:sp>
        <p:grpSp>
          <p:nvGrpSpPr>
            <p:cNvPr id="160" name="Group 160"/>
            <p:cNvGrpSpPr/>
            <p:nvPr/>
          </p:nvGrpSpPr>
          <p:grpSpPr>
            <a:xfrm>
              <a:off x="5257006" y="5213350"/>
              <a:ext cx="77787" cy="88900"/>
              <a:chOff x="5257006" y="5213350"/>
              <a:chExt cx="77787" cy="88900"/>
            </a:xfrm>
          </p:grpSpPr>
          <p:sp>
            <p:nvSpPr>
              <p:cNvPr id="157" name="Freeform 157"/>
              <p:cNvSpPr/>
              <p:nvPr/>
            </p:nvSpPr>
            <p:spPr>
              <a:xfrm>
                <a:off x="5257006" y="5213350"/>
                <a:ext cx="77787" cy="88900"/>
              </a:xfrm>
              <a:custGeom>
                <a:avLst/>
                <a:gdLst/>
                <a:ahLst/>
                <a:cxnLst/>
                <a:rect l="l" t="t" r="r" b="b"/>
                <a:pathLst>
                  <a:path w="77787" h="88900">
                    <a:moveTo>
                      <a:pt x="77787" y="0"/>
                    </a:moveTo>
                    <a:lnTo>
                      <a:pt x="77787" y="88900"/>
                    </a:lnTo>
                    <a:lnTo>
                      <a:pt x="11112" y="88900"/>
                    </a:lnTo>
                    <a:cubicBezTo>
                      <a:pt x="4975" y="88900"/>
                      <a:pt x="0" y="83925"/>
                      <a:pt x="0" y="77787"/>
                    </a:cubicBezTo>
                    <a:lnTo>
                      <a:pt x="0" y="11112"/>
                    </a:lnTo>
                    <a:cubicBezTo>
                      <a:pt x="0" y="4975"/>
                      <a:pt x="4975" y="0"/>
                      <a:pt x="11112" y="0"/>
                    </a:cubicBezTo>
                    <a:lnTo>
                      <a:pt x="77787" y="0"/>
                    </a:lnTo>
                  </a:path>
                </a:pathLst>
              </a:custGeom>
              <a:noFill/>
              <a:ln w="11112">
                <a:solidFill>
                  <a:srgbClr val="FFFFFF"/>
                </a:solidFill>
              </a:ln>
            </p:spPr>
          </p:sp>
          <p:sp>
            <p:nvSpPr>
              <p:cNvPr id="158" name="Freeform 158"/>
              <p:cNvSpPr/>
              <p:nvPr/>
            </p:nvSpPr>
            <p:spPr>
              <a:xfrm>
                <a:off x="5257006" y="5280025"/>
                <a:ext cx="77787" cy="11112"/>
              </a:xfrm>
              <a:custGeom>
                <a:avLst/>
                <a:gdLst/>
                <a:ahLst/>
                <a:cxnLst/>
                <a:rect l="l" t="t" r="r" b="b"/>
                <a:pathLst>
                  <a:path w="77787" h="11112">
                    <a:moveTo>
                      <a:pt x="77787" y="0"/>
                    </a:moveTo>
                    <a:lnTo>
                      <a:pt x="11112" y="0"/>
                    </a:lnTo>
                    <a:cubicBezTo>
                      <a:pt x="4975" y="0"/>
                      <a:pt x="0" y="4975"/>
                      <a:pt x="0" y="11112"/>
                    </a:cubicBezTo>
                  </a:path>
                </a:pathLst>
              </a:custGeom>
              <a:noFill/>
              <a:ln w="11112">
                <a:solidFill>
                  <a:srgbClr val="FFFFFF"/>
                </a:solidFill>
              </a:ln>
            </p:spPr>
          </p:sp>
          <p:sp>
            <p:nvSpPr>
              <p:cNvPr id="159" name="Freeform 159"/>
              <p:cNvSpPr/>
              <p:nvPr/>
            </p:nvSpPr>
            <p:spPr>
              <a:xfrm>
                <a:off x="5279231" y="5235575"/>
                <a:ext cx="33337" cy="9525"/>
              </a:xfrm>
              <a:custGeom>
                <a:avLst/>
                <a:gdLst/>
                <a:ahLst/>
                <a:cxnLst/>
                <a:rect l="l" t="t" r="r" b="b"/>
                <a:pathLst>
                  <a:path w="33337" h="9525">
                    <a:moveTo>
                      <a:pt x="0" y="0"/>
                    </a:moveTo>
                    <a:lnTo>
                      <a:pt x="33337" y="0"/>
                    </a:lnTo>
                  </a:path>
                </a:pathLst>
              </a:custGeom>
              <a:noFill/>
              <a:ln w="11112">
                <a:solidFill>
                  <a:srgbClr val="FFFFFF"/>
                </a:solidFill>
              </a:ln>
            </p:spPr>
          </p:sp>
        </p:grpSp>
        <p:sp>
          <p:nvSpPr>
            <p:cNvPr id="161" name="Rectangle 161"/>
            <p:cNvSpPr/>
            <p:nvPr/>
          </p:nvSpPr>
          <p:spPr>
            <a:xfrm>
              <a:off x="5448300" y="5162550"/>
              <a:ext cx="190500" cy="190500"/>
            </a:xfrm>
            <a:prstGeom prst="roundRect">
              <a:avLst>
                <a:gd name="adj" fmla="val 25000"/>
              </a:avLst>
            </a:prstGeom>
            <a:solidFill>
              <a:srgbClr val="C12507"/>
            </a:solidFill>
            <a:ln>
              <a:noFill/>
            </a:ln>
          </p:spPr>
        </p:sp>
        <p:sp>
          <p:nvSpPr>
            <p:cNvPr id="162" name="Freeform 162"/>
            <p:cNvSpPr/>
            <p:nvPr/>
          </p:nvSpPr>
          <p:spPr>
            <a:xfrm>
              <a:off x="5487854" y="5209044"/>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FFFFFF"/>
              </a:solidFill>
            </a:ln>
          </p:spPr>
        </p:sp>
      </p:grpSp>
      <p:grpSp>
        <p:nvGrpSpPr>
          <p:cNvPr id="194" name="seg-5"/>
          <p:cNvGrpSpPr/>
          <p:nvPr/>
        </p:nvGrpSpPr>
        <p:grpSpPr>
          <a:xfrm>
            <a:off x="6076950" y="1238250"/>
            <a:ext cx="1333500" cy="4248150"/>
            <a:chOff x="6076950" y="1238250"/>
            <a:chExt cx="1333500" cy="4248150"/>
          </a:xfrm>
        </p:grpSpPr>
        <p:sp>
          <p:nvSpPr>
            <p:cNvPr id="164" name="Rectangle 164"/>
            <p:cNvSpPr/>
            <p:nvPr/>
          </p:nvSpPr>
          <p:spPr>
            <a:xfrm>
              <a:off x="6076950" y="1238250"/>
              <a:ext cx="1333500" cy="4248150"/>
            </a:xfrm>
            <a:prstGeom prst="roundRect">
              <a:avLst>
                <a:gd name="adj" fmla="val 5714"/>
              </a:avLst>
            </a:prstGeom>
            <a:solidFill>
              <a:srgbClr val="FFFFFF"/>
            </a:solidFill>
            <a:ln>
              <a:noFill/>
            </a:ln>
            <a:effectLst>
              <a:outerShdw blurRad="133350" dist="47625" dir="5400000" algn="ctr" rotWithShape="0">
                <a:srgbClr val="C45F4A">
                  <a:alpha val="6000"/>
                </a:srgbClr>
              </a:outerShdw>
            </a:effectLst>
          </p:spPr>
        </p:sp>
        <p:sp>
          <p:nvSpPr>
            <p:cNvPr id="165" name="Rectangle 165"/>
            <p:cNvSpPr/>
            <p:nvPr/>
          </p:nvSpPr>
          <p:spPr>
            <a:xfrm>
              <a:off x="6076950" y="1238250"/>
              <a:ext cx="1333500" cy="571500"/>
            </a:xfrm>
            <a:prstGeom prst="roundRect">
              <a:avLst>
                <a:gd name="adj" fmla="val 13333"/>
              </a:avLst>
            </a:prstGeom>
            <a:solidFill>
              <a:srgbClr val="E8705C"/>
            </a:solidFill>
            <a:ln>
              <a:noFill/>
            </a:ln>
          </p:spPr>
        </p:sp>
        <p:sp>
          <p:nvSpPr>
            <p:cNvPr id="166" name="Ellipse 166"/>
            <p:cNvSpPr/>
            <p:nvPr/>
          </p:nvSpPr>
          <p:spPr>
            <a:xfrm>
              <a:off x="6153150" y="1314450"/>
              <a:ext cx="419100" cy="419100"/>
            </a:xfrm>
            <a:prstGeom prst="ellipse">
              <a:avLst/>
            </a:prstGeom>
            <a:solidFill>
              <a:srgbClr val="FFFFFF"/>
            </a:solidFill>
            <a:ln>
              <a:noFill/>
            </a:ln>
          </p:spPr>
        </p:sp>
        <p:grpSp>
          <p:nvGrpSpPr>
            <p:cNvPr id="171" name="Group 171"/>
            <p:cNvGrpSpPr/>
            <p:nvPr/>
          </p:nvGrpSpPr>
          <p:grpSpPr>
            <a:xfrm>
              <a:off x="6269831" y="1431131"/>
              <a:ext cx="185737" cy="185738"/>
              <a:chOff x="6269831" y="1431131"/>
              <a:chExt cx="185737" cy="185738"/>
            </a:xfrm>
          </p:grpSpPr>
          <p:sp>
            <p:nvSpPr>
              <p:cNvPr id="167" name="Freeform 167"/>
              <p:cNvSpPr/>
              <p:nvPr/>
            </p:nvSpPr>
            <p:spPr>
              <a:xfrm>
                <a:off x="6290469" y="14311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E8705C"/>
                </a:solidFill>
              </a:ln>
            </p:spPr>
          </p:sp>
          <p:sp>
            <p:nvSpPr>
              <p:cNvPr id="168" name="Freeform 168"/>
              <p:cNvSpPr/>
              <p:nvPr/>
            </p:nvSpPr>
            <p:spPr>
              <a:xfrm>
                <a:off x="6269831" y="15549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E8705C"/>
                </a:solidFill>
              </a:ln>
            </p:spPr>
          </p:sp>
          <p:sp>
            <p:nvSpPr>
              <p:cNvPr id="169" name="Freeform 169"/>
              <p:cNvSpPr/>
              <p:nvPr/>
            </p:nvSpPr>
            <p:spPr>
              <a:xfrm>
                <a:off x="6403974" y="14324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E8705C"/>
                </a:solidFill>
              </a:ln>
            </p:spPr>
          </p:sp>
          <p:sp>
            <p:nvSpPr>
              <p:cNvPr id="170" name="Freeform 170"/>
              <p:cNvSpPr/>
              <p:nvPr/>
            </p:nvSpPr>
            <p:spPr>
              <a:xfrm>
                <a:off x="6424612" y="15565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E8705C"/>
                </a:solidFill>
              </a:ln>
            </p:spPr>
          </p:sp>
        </p:grpSp>
        <p:sp>
          <p:nvSpPr>
            <p:cNvPr id="172" name="TextBox 172"/>
            <p:cNvSpPr txBox="1"/>
            <p:nvPr/>
          </p:nvSpPr>
          <p:spPr>
            <a:xfrm>
              <a:off x="6733502" y="14704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资深中产</a:t>
              </a:r>
            </a:p>
          </p:txBody>
        </p:sp>
        <p:sp>
          <p:nvSpPr>
            <p:cNvPr id="173" name="Rectangle 173"/>
            <p:cNvSpPr/>
            <p:nvPr/>
          </p:nvSpPr>
          <p:spPr>
            <a:xfrm>
              <a:off x="6153150" y="1943100"/>
              <a:ext cx="571500" cy="171450"/>
            </a:xfrm>
            <a:prstGeom prst="roundRect">
              <a:avLst>
                <a:gd name="adj" fmla="val 16667"/>
              </a:avLst>
            </a:prstGeom>
            <a:solidFill>
              <a:srgbClr val="E8EBF8"/>
            </a:solidFill>
            <a:ln>
              <a:noFill/>
            </a:ln>
          </p:spPr>
        </p:sp>
        <p:sp>
          <p:nvSpPr>
            <p:cNvPr id="174" name="TextBox 174"/>
            <p:cNvSpPr txBox="1"/>
            <p:nvPr/>
          </p:nvSpPr>
          <p:spPr>
            <a:xfrm>
              <a:off x="6221438" y="1981914"/>
              <a:ext cx="434924" cy="154781"/>
            </a:xfrm>
            <a:prstGeom prst="rect">
              <a:avLst/>
            </a:prstGeom>
            <a:noFill/>
            <a:ln>
              <a:noFill/>
            </a:ln>
          </p:spPr>
          <p:txBody>
            <a:bodyPr wrap="none" lIns="0" tIns="0" rIns="0" bIns="0" anchor="t" anchorCtr="0">
              <a:spAutoFit/>
            </a:bodyPr>
            <a:lstStyle/>
            <a:p>
              <a:pPr algn="ctr"/>
              <a:r>
                <a:rPr lang="zh-CN" sz="790" dirty="0">
                  <a:solidFill>
                    <a:srgbClr val="E2624C"/>
                  </a:solidFill>
                  <a:latin typeface="+mn-lt"/>
                  <a:ea typeface="+mn-ea"/>
                  <a:cs typeface="+mn-cs"/>
                </a:rPr>
                <a:t>消费贡献</a:t>
              </a:r>
            </a:p>
          </p:txBody>
        </p:sp>
        <p:sp>
          <p:nvSpPr>
            <p:cNvPr id="175" name="TextBox 175"/>
            <p:cNvSpPr txBox="1"/>
            <p:nvPr/>
          </p:nvSpPr>
          <p:spPr>
            <a:xfrm>
              <a:off x="6902013" y="1956435"/>
              <a:ext cx="419283" cy="234696"/>
            </a:xfrm>
            <a:prstGeom prst="rect">
              <a:avLst/>
            </a:prstGeom>
            <a:noFill/>
            <a:ln>
              <a:noFill/>
            </a:ln>
          </p:spPr>
          <p:txBody>
            <a:bodyPr wrap="none" lIns="0" tIns="0" rIns="0" bIns="0" anchor="t" anchorCtr="0">
              <a:spAutoFit/>
            </a:bodyPr>
            <a:lstStyle/>
            <a:p>
              <a:pPr algn="r"/>
              <a:r>
                <a:rPr lang="zh-CN" sz="1200" b="1" dirty="0">
                  <a:solidFill>
                    <a:srgbClr val="E2624C"/>
                  </a:solidFill>
                  <a:latin typeface="+mn-lt"/>
                  <a:ea typeface="+mn-ea"/>
                  <a:cs typeface="+mn-cs"/>
                </a:rPr>
                <a:t>33%​</a:t>
              </a:r>
            </a:p>
          </p:txBody>
        </p:sp>
        <p:sp>
          <p:nvSpPr>
            <p:cNvPr id="176" name="Rectangle 176"/>
            <p:cNvSpPr/>
            <p:nvPr/>
          </p:nvSpPr>
          <p:spPr>
            <a:xfrm>
              <a:off x="6153150" y="2162175"/>
              <a:ext cx="571500" cy="171450"/>
            </a:xfrm>
            <a:prstGeom prst="roundRect">
              <a:avLst>
                <a:gd name="adj" fmla="val 16667"/>
              </a:avLst>
            </a:prstGeom>
            <a:solidFill>
              <a:srgbClr val="E8EBF8"/>
            </a:solidFill>
            <a:ln>
              <a:noFill/>
            </a:ln>
          </p:spPr>
        </p:sp>
        <p:sp>
          <p:nvSpPr>
            <p:cNvPr id="177" name="TextBox 177"/>
            <p:cNvSpPr txBox="1"/>
            <p:nvPr/>
          </p:nvSpPr>
          <p:spPr>
            <a:xfrm>
              <a:off x="6221438" y="2200989"/>
              <a:ext cx="434924" cy="154781"/>
            </a:xfrm>
            <a:prstGeom prst="rect">
              <a:avLst/>
            </a:prstGeom>
            <a:noFill/>
            <a:ln>
              <a:noFill/>
            </a:ln>
          </p:spPr>
          <p:txBody>
            <a:bodyPr wrap="none" lIns="0" tIns="0" rIns="0" bIns="0" anchor="t" anchorCtr="0">
              <a:spAutoFit/>
            </a:bodyPr>
            <a:lstStyle/>
            <a:p>
              <a:pPr algn="ctr"/>
              <a:r>
                <a:rPr lang="zh-CN" sz="790" dirty="0">
                  <a:solidFill>
                    <a:srgbClr val="E2624C"/>
                  </a:solidFill>
                  <a:latin typeface="+mn-lt"/>
                  <a:ea typeface="+mn-ea"/>
                  <a:cs typeface="+mn-cs"/>
                </a:rPr>
                <a:t>人群占比</a:t>
              </a:r>
            </a:p>
          </p:txBody>
        </p:sp>
        <p:sp>
          <p:nvSpPr>
            <p:cNvPr id="178" name="TextBox 178"/>
            <p:cNvSpPr txBox="1"/>
            <p:nvPr/>
          </p:nvSpPr>
          <p:spPr>
            <a:xfrm>
              <a:off x="6902013" y="2175510"/>
              <a:ext cx="419283" cy="234696"/>
            </a:xfrm>
            <a:prstGeom prst="rect">
              <a:avLst/>
            </a:prstGeom>
            <a:noFill/>
            <a:ln>
              <a:noFill/>
            </a:ln>
          </p:spPr>
          <p:txBody>
            <a:bodyPr wrap="none" lIns="0" tIns="0" rIns="0" bIns="0" anchor="t" anchorCtr="0">
              <a:spAutoFit/>
            </a:bodyPr>
            <a:lstStyle/>
            <a:p>
              <a:pPr algn="r"/>
              <a:r>
                <a:rPr lang="zh-CN" sz="1200" b="1" dirty="0">
                  <a:solidFill>
                    <a:srgbClr val="E2624C"/>
                  </a:solidFill>
                  <a:latin typeface="+mn-lt"/>
                  <a:ea typeface="+mn-ea"/>
                  <a:cs typeface="+mn-cs"/>
                </a:rPr>
                <a:t>21%​</a:t>
              </a:r>
            </a:p>
          </p:txBody>
        </p:sp>
        <p:sp>
          <p:nvSpPr>
            <p:cNvPr id="179" name="TextBox 179"/>
            <p:cNvSpPr txBox="1"/>
            <p:nvPr/>
          </p:nvSpPr>
          <p:spPr>
            <a:xfrm>
              <a:off x="6426518" y="2501741"/>
              <a:ext cx="634365" cy="6191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36-50岁​</a:t>
              </a:r>
              <a:br/>
              <a:r>
                <a:rPr lang="zh-CN" sz="820" dirty="0">
                  <a:solidFill>
                    <a:srgbClr val="543E3A"/>
                  </a:solidFill>
                  <a:latin typeface="+mn-lt"/>
                  <a:ea typeface="+mn-ea"/>
                  <a:cs typeface="+mn-cs"/>
                </a:rPr>
                <a:t>一二线城市</a:t>
              </a:r>
              <a:br/>
              <a:r>
                <a:rPr lang="zh-CN" sz="820" dirty="0">
                  <a:solidFill>
                    <a:srgbClr val="543E3A"/>
                  </a:solidFill>
                  <a:latin typeface="+mn-lt"/>
                  <a:ea typeface="+mn-ea"/>
                  <a:cs typeface="+mn-cs"/>
                </a:rPr>
                <a:t>享受线下体验</a:t>
              </a:r>
              <a:br/>
              <a:r>
                <a:rPr lang="zh-CN" sz="820" dirty="0">
                  <a:solidFill>
                    <a:srgbClr val="543E3A"/>
                  </a:solidFill>
                  <a:latin typeface="+mn-lt"/>
                  <a:ea typeface="+mn-ea"/>
                  <a:cs typeface="+mn-cs"/>
                </a:rPr>
                <a:t>爱网购剁手</a:t>
              </a:r>
            </a:p>
          </p:txBody>
        </p:sp>
        <p:sp>
          <p:nvSpPr>
            <p:cNvPr id="180" name="Line 180"/>
            <p:cNvSpPr/>
            <p:nvPr/>
          </p:nvSpPr>
          <p:spPr>
            <a:xfrm>
              <a:off x="6191250" y="34290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181" name="TextBox 181"/>
            <p:cNvSpPr txBox="1"/>
            <p:nvPr/>
          </p:nvSpPr>
          <p:spPr>
            <a:xfrm>
              <a:off x="6391618" y="3545443"/>
              <a:ext cx="704164" cy="169069"/>
            </a:xfrm>
            <a:prstGeom prst="rect">
              <a:avLst/>
            </a:prstGeom>
            <a:noFill/>
            <a:ln>
              <a:noFill/>
            </a:ln>
          </p:spPr>
          <p:txBody>
            <a:bodyPr wrap="none" lIns="0" tIns="0" rIns="0" bIns="0" anchor="t" anchorCtr="0">
              <a:spAutoFit/>
            </a:bodyPr>
            <a:lstStyle/>
            <a:p>
              <a:pPr algn="ctr"/>
              <a:r>
                <a:rPr lang="zh-CN" sz="860" b="1" dirty="0">
                  <a:solidFill>
                    <a:srgbClr val="E2624C"/>
                  </a:solidFill>
                  <a:latin typeface="+mn-lt"/>
                  <a:ea typeface="+mn-ea"/>
                  <a:cs typeface="+mn-cs"/>
                </a:rPr>
                <a:t>日常消费形态</a:t>
              </a:r>
            </a:p>
          </p:txBody>
        </p:sp>
        <p:sp>
          <p:nvSpPr>
            <p:cNvPr id="182" name="TextBox 182"/>
            <p:cNvSpPr txBox="1"/>
            <p:nvPr/>
          </p:nvSpPr>
          <p:spPr>
            <a:xfrm>
              <a:off x="6530658" y="3739991"/>
              <a:ext cx="426085"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高消费</a:t>
              </a:r>
              <a:br/>
              <a:r>
                <a:rPr lang="zh-CN" sz="820" dirty="0">
                  <a:solidFill>
                    <a:srgbClr val="543E3A"/>
                  </a:solidFill>
                  <a:latin typeface="+mn-lt"/>
                  <a:ea typeface="+mn-ea"/>
                  <a:cs typeface="+mn-cs"/>
                </a:rPr>
                <a:t>偏好名牌</a:t>
              </a:r>
              <a:br/>
              <a:r>
                <a:rPr lang="zh-CN" sz="820" dirty="0">
                  <a:solidFill>
                    <a:srgbClr val="543E3A"/>
                  </a:solidFill>
                  <a:latin typeface="+mn-lt"/>
                  <a:ea typeface="+mn-ea"/>
                  <a:cs typeface="+mn-cs"/>
                </a:rPr>
                <a:t>注重体验</a:t>
              </a:r>
            </a:p>
          </p:txBody>
        </p:sp>
        <p:sp>
          <p:nvSpPr>
            <p:cNvPr id="183" name="Line 183"/>
            <p:cNvSpPr/>
            <p:nvPr/>
          </p:nvSpPr>
          <p:spPr>
            <a:xfrm>
              <a:off x="6191250" y="43434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184" name="Rectangle 184"/>
            <p:cNvSpPr/>
            <p:nvPr/>
          </p:nvSpPr>
          <p:spPr>
            <a:xfrm>
              <a:off x="6134100" y="4400550"/>
              <a:ext cx="1219200" cy="1028700"/>
            </a:xfrm>
            <a:prstGeom prst="roundRect">
              <a:avLst>
                <a:gd name="adj" fmla="val 5556"/>
              </a:avLst>
            </a:prstGeom>
            <a:solidFill>
              <a:srgbClr val="F5F6FC"/>
            </a:solidFill>
            <a:ln>
              <a:noFill/>
            </a:ln>
          </p:spPr>
        </p:sp>
        <p:sp>
          <p:nvSpPr>
            <p:cNvPr id="185" name="TextBox 185"/>
            <p:cNvSpPr txBox="1"/>
            <p:nvPr/>
          </p:nvSpPr>
          <p:spPr>
            <a:xfrm>
              <a:off x="6507391" y="4497943"/>
              <a:ext cx="472618" cy="169069"/>
            </a:xfrm>
            <a:prstGeom prst="rect">
              <a:avLst/>
            </a:prstGeom>
            <a:noFill/>
            <a:ln>
              <a:noFill/>
            </a:ln>
          </p:spPr>
          <p:txBody>
            <a:bodyPr wrap="none" lIns="0" tIns="0" rIns="0" bIns="0" anchor="t" anchorCtr="0">
              <a:spAutoFit/>
            </a:bodyPr>
            <a:lstStyle/>
            <a:p>
              <a:pPr algn="ctr"/>
              <a:r>
                <a:rPr lang="zh-CN" sz="860" b="1" dirty="0">
                  <a:solidFill>
                    <a:srgbClr val="E2624C"/>
                  </a:solidFill>
                  <a:latin typeface="+mn-lt"/>
                  <a:ea typeface="+mn-ea"/>
                  <a:cs typeface="+mn-cs"/>
                </a:rPr>
                <a:t>内容触点</a:t>
              </a:r>
            </a:p>
          </p:txBody>
        </p:sp>
        <p:sp>
          <p:nvSpPr>
            <p:cNvPr id="186" name="TextBox 186"/>
            <p:cNvSpPr txBox="1"/>
            <p:nvPr/>
          </p:nvSpPr>
          <p:spPr>
            <a:xfrm>
              <a:off x="6426518" y="4692491"/>
              <a:ext cx="63436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高端消费品</a:t>
              </a:r>
              <a:br/>
              <a:r>
                <a:rPr lang="zh-CN" sz="820" dirty="0">
                  <a:solidFill>
                    <a:srgbClr val="543E3A"/>
                  </a:solidFill>
                  <a:latin typeface="+mn-lt"/>
                  <a:ea typeface="+mn-ea"/>
                  <a:cs typeface="+mn-cs"/>
                </a:rPr>
                <a:t>健康生活理念</a:t>
              </a:r>
            </a:p>
          </p:txBody>
        </p:sp>
        <p:sp>
          <p:nvSpPr>
            <p:cNvPr id="187" name="Rectangle 187"/>
            <p:cNvSpPr/>
            <p:nvPr/>
          </p:nvSpPr>
          <p:spPr>
            <a:xfrm>
              <a:off x="6524625" y="5162550"/>
              <a:ext cx="190500" cy="190500"/>
            </a:xfrm>
            <a:prstGeom prst="roundRect">
              <a:avLst>
                <a:gd name="adj" fmla="val 25000"/>
              </a:avLst>
            </a:prstGeom>
            <a:solidFill>
              <a:srgbClr val="1A1A1A"/>
            </a:solidFill>
            <a:ln>
              <a:noFill/>
            </a:ln>
          </p:spPr>
        </p:sp>
        <p:grpSp>
          <p:nvGrpSpPr>
            <p:cNvPr id="191" name="Group 191"/>
            <p:cNvGrpSpPr/>
            <p:nvPr/>
          </p:nvGrpSpPr>
          <p:grpSpPr>
            <a:xfrm>
              <a:off x="6586537" y="5207794"/>
              <a:ext cx="66675" cy="100012"/>
              <a:chOff x="6586537" y="5207794"/>
              <a:chExt cx="66675" cy="100012"/>
            </a:xfrm>
          </p:grpSpPr>
          <p:sp>
            <p:nvSpPr>
              <p:cNvPr id="188" name="Freeform 188"/>
              <p:cNvSpPr/>
              <p:nvPr/>
            </p:nvSpPr>
            <p:spPr>
              <a:xfrm>
                <a:off x="6586537" y="520779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FFFFFF"/>
                </a:solidFill>
              </a:ln>
            </p:spPr>
          </p:sp>
          <p:sp>
            <p:nvSpPr>
              <p:cNvPr id="189" name="Freeform 189"/>
              <p:cNvSpPr/>
              <p:nvPr/>
            </p:nvSpPr>
            <p:spPr>
              <a:xfrm>
                <a:off x="6614319" y="5213350"/>
                <a:ext cx="11112" cy="9525"/>
              </a:xfrm>
              <a:custGeom>
                <a:avLst/>
                <a:gdLst/>
                <a:ahLst/>
                <a:cxnLst/>
                <a:rect l="l" t="t" r="r" b="b"/>
                <a:pathLst>
                  <a:path w="11112" h="9525">
                    <a:moveTo>
                      <a:pt x="0" y="0"/>
                    </a:moveTo>
                    <a:lnTo>
                      <a:pt x="11112" y="0"/>
                    </a:lnTo>
                  </a:path>
                </a:pathLst>
              </a:custGeom>
              <a:noFill/>
              <a:ln w="11112">
                <a:solidFill>
                  <a:srgbClr val="FFFFFF"/>
                </a:solidFill>
              </a:ln>
            </p:spPr>
          </p:sp>
          <p:sp>
            <p:nvSpPr>
              <p:cNvPr id="190" name="Freeform 190"/>
              <p:cNvSpPr/>
              <p:nvPr/>
            </p:nvSpPr>
            <p:spPr>
              <a:xfrm>
                <a:off x="6619875" y="5285581"/>
                <a:ext cx="9525" cy="9525"/>
              </a:xfrm>
              <a:custGeom>
                <a:avLst/>
                <a:gdLst/>
                <a:ahLst/>
                <a:cxnLst/>
                <a:rect l="l" t="t" r="r" b="b"/>
                <a:pathLst>
                  <a:path w="9525" h="9525">
                    <a:moveTo>
                      <a:pt x="0" y="0"/>
                    </a:moveTo>
                    <a:lnTo>
                      <a:pt x="0" y="56"/>
                    </a:lnTo>
                  </a:path>
                </a:pathLst>
              </a:custGeom>
              <a:noFill/>
              <a:ln w="11112">
                <a:solidFill>
                  <a:srgbClr val="FFFFFF"/>
                </a:solidFill>
              </a:ln>
            </p:spPr>
          </p:sp>
        </p:grpSp>
        <p:sp>
          <p:nvSpPr>
            <p:cNvPr id="192" name="Rectangle 192"/>
            <p:cNvSpPr/>
            <p:nvPr/>
          </p:nvSpPr>
          <p:spPr>
            <a:xfrm>
              <a:off x="6772275" y="5162550"/>
              <a:ext cx="190500" cy="190500"/>
            </a:xfrm>
            <a:prstGeom prst="roundRect">
              <a:avLst>
                <a:gd name="adj" fmla="val 25000"/>
              </a:avLst>
            </a:prstGeom>
            <a:solidFill>
              <a:srgbClr val="C12507"/>
            </a:solidFill>
            <a:ln>
              <a:noFill/>
            </a:ln>
          </p:spPr>
        </p:sp>
        <p:sp>
          <p:nvSpPr>
            <p:cNvPr id="193" name="Freeform 193"/>
            <p:cNvSpPr/>
            <p:nvPr/>
          </p:nvSpPr>
          <p:spPr>
            <a:xfrm>
              <a:off x="6811829" y="5209044"/>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FFFFFF"/>
              </a:solidFill>
            </a:ln>
          </p:spPr>
        </p:sp>
      </p:grpSp>
      <p:grpSp>
        <p:nvGrpSpPr>
          <p:cNvPr id="227" name="seg-6"/>
          <p:cNvGrpSpPr/>
          <p:nvPr/>
        </p:nvGrpSpPr>
        <p:grpSpPr>
          <a:xfrm>
            <a:off x="7524750" y="1238250"/>
            <a:ext cx="1333500" cy="4248150"/>
            <a:chOff x="7524750" y="1238250"/>
            <a:chExt cx="1333500" cy="4248150"/>
          </a:xfrm>
        </p:grpSpPr>
        <p:sp>
          <p:nvSpPr>
            <p:cNvPr id="195" name="Rectangle 195"/>
            <p:cNvSpPr/>
            <p:nvPr/>
          </p:nvSpPr>
          <p:spPr>
            <a:xfrm>
              <a:off x="7524750" y="1238250"/>
              <a:ext cx="1333500" cy="4248150"/>
            </a:xfrm>
            <a:prstGeom prst="roundRect">
              <a:avLst>
                <a:gd name="adj" fmla="val 5714"/>
              </a:avLst>
            </a:prstGeom>
            <a:solidFill>
              <a:srgbClr val="FFFFFF"/>
            </a:solidFill>
            <a:ln>
              <a:noFill/>
            </a:ln>
            <a:effectLst>
              <a:outerShdw blurRad="133350" dist="47625" dir="5400000" algn="ctr" rotWithShape="0">
                <a:srgbClr val="C45F4A">
                  <a:alpha val="6000"/>
                </a:srgbClr>
              </a:outerShdw>
            </a:effectLst>
          </p:spPr>
        </p:sp>
        <p:sp>
          <p:nvSpPr>
            <p:cNvPr id="196" name="Rectangle 196"/>
            <p:cNvSpPr/>
            <p:nvPr/>
          </p:nvSpPr>
          <p:spPr>
            <a:xfrm>
              <a:off x="7524750" y="1238250"/>
              <a:ext cx="1333500" cy="571500"/>
            </a:xfrm>
            <a:prstGeom prst="roundRect">
              <a:avLst>
                <a:gd name="adj" fmla="val 13333"/>
              </a:avLst>
            </a:prstGeom>
            <a:solidFill>
              <a:srgbClr val="C46D5B"/>
            </a:solidFill>
            <a:ln>
              <a:noFill/>
            </a:ln>
          </p:spPr>
        </p:sp>
        <p:sp>
          <p:nvSpPr>
            <p:cNvPr id="197" name="Ellipse 197"/>
            <p:cNvSpPr/>
            <p:nvPr/>
          </p:nvSpPr>
          <p:spPr>
            <a:xfrm>
              <a:off x="7600950" y="1314450"/>
              <a:ext cx="419100" cy="419100"/>
            </a:xfrm>
            <a:prstGeom prst="ellipse">
              <a:avLst/>
            </a:prstGeom>
            <a:solidFill>
              <a:srgbClr val="FFFFFF"/>
            </a:solidFill>
            <a:ln>
              <a:noFill/>
            </a:ln>
          </p:spPr>
        </p:sp>
        <p:grpSp>
          <p:nvGrpSpPr>
            <p:cNvPr id="202" name="Group 202"/>
            <p:cNvGrpSpPr/>
            <p:nvPr/>
          </p:nvGrpSpPr>
          <p:grpSpPr>
            <a:xfrm>
              <a:off x="7717631" y="1431131"/>
              <a:ext cx="185737" cy="185738"/>
              <a:chOff x="7717631" y="1431131"/>
              <a:chExt cx="185737" cy="185738"/>
            </a:xfrm>
          </p:grpSpPr>
          <p:sp>
            <p:nvSpPr>
              <p:cNvPr id="198" name="Freeform 198"/>
              <p:cNvSpPr/>
              <p:nvPr/>
            </p:nvSpPr>
            <p:spPr>
              <a:xfrm>
                <a:off x="7738269" y="14311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46D5B"/>
                </a:solidFill>
              </a:ln>
            </p:spPr>
          </p:sp>
          <p:sp>
            <p:nvSpPr>
              <p:cNvPr id="199" name="Freeform 199"/>
              <p:cNvSpPr/>
              <p:nvPr/>
            </p:nvSpPr>
            <p:spPr>
              <a:xfrm>
                <a:off x="7717631" y="15549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46D5B"/>
                </a:solidFill>
              </a:ln>
            </p:spPr>
          </p:sp>
          <p:sp>
            <p:nvSpPr>
              <p:cNvPr id="200" name="Freeform 200"/>
              <p:cNvSpPr/>
              <p:nvPr/>
            </p:nvSpPr>
            <p:spPr>
              <a:xfrm>
                <a:off x="7851774" y="14324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46D5B"/>
                </a:solidFill>
              </a:ln>
            </p:spPr>
          </p:sp>
          <p:sp>
            <p:nvSpPr>
              <p:cNvPr id="201" name="Freeform 201"/>
              <p:cNvSpPr/>
              <p:nvPr/>
            </p:nvSpPr>
            <p:spPr>
              <a:xfrm>
                <a:off x="7872412" y="15565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46D5B"/>
                </a:solidFill>
              </a:ln>
            </p:spPr>
          </p:sp>
        </p:grpSp>
        <p:sp>
          <p:nvSpPr>
            <p:cNvPr id="203" name="TextBox 203"/>
            <p:cNvSpPr txBox="1"/>
            <p:nvPr/>
          </p:nvSpPr>
          <p:spPr>
            <a:xfrm>
              <a:off x="8181302" y="14704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都市蓝领</a:t>
              </a:r>
            </a:p>
          </p:txBody>
        </p:sp>
        <p:sp>
          <p:nvSpPr>
            <p:cNvPr id="204" name="Rectangle 204"/>
            <p:cNvSpPr/>
            <p:nvPr/>
          </p:nvSpPr>
          <p:spPr>
            <a:xfrm>
              <a:off x="7600950" y="1943100"/>
              <a:ext cx="571500" cy="171450"/>
            </a:xfrm>
            <a:prstGeom prst="roundRect">
              <a:avLst>
                <a:gd name="adj" fmla="val 16667"/>
              </a:avLst>
            </a:prstGeom>
            <a:solidFill>
              <a:srgbClr val="E8EBF8"/>
            </a:solidFill>
            <a:ln>
              <a:noFill/>
            </a:ln>
          </p:spPr>
        </p:sp>
        <p:sp>
          <p:nvSpPr>
            <p:cNvPr id="205" name="TextBox 205"/>
            <p:cNvSpPr txBox="1"/>
            <p:nvPr/>
          </p:nvSpPr>
          <p:spPr>
            <a:xfrm>
              <a:off x="7669238" y="1981914"/>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消费贡献</a:t>
              </a:r>
            </a:p>
          </p:txBody>
        </p:sp>
        <p:sp>
          <p:nvSpPr>
            <p:cNvPr id="206" name="TextBox 206"/>
            <p:cNvSpPr txBox="1"/>
            <p:nvPr/>
          </p:nvSpPr>
          <p:spPr>
            <a:xfrm>
              <a:off x="8443105" y="1956435"/>
              <a:ext cx="325991"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7%​</a:t>
              </a:r>
            </a:p>
          </p:txBody>
        </p:sp>
        <p:sp>
          <p:nvSpPr>
            <p:cNvPr id="207" name="Rectangle 207"/>
            <p:cNvSpPr/>
            <p:nvPr/>
          </p:nvSpPr>
          <p:spPr>
            <a:xfrm>
              <a:off x="7600950" y="2162175"/>
              <a:ext cx="571500" cy="171450"/>
            </a:xfrm>
            <a:prstGeom prst="roundRect">
              <a:avLst>
                <a:gd name="adj" fmla="val 16667"/>
              </a:avLst>
            </a:prstGeom>
            <a:solidFill>
              <a:srgbClr val="E8EBF8"/>
            </a:solidFill>
            <a:ln>
              <a:noFill/>
            </a:ln>
          </p:spPr>
        </p:sp>
        <p:sp>
          <p:nvSpPr>
            <p:cNvPr id="208" name="TextBox 208"/>
            <p:cNvSpPr txBox="1"/>
            <p:nvPr/>
          </p:nvSpPr>
          <p:spPr>
            <a:xfrm>
              <a:off x="7669238" y="2200989"/>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人群占比</a:t>
              </a:r>
            </a:p>
          </p:txBody>
        </p:sp>
        <p:sp>
          <p:nvSpPr>
            <p:cNvPr id="209" name="TextBox 209"/>
            <p:cNvSpPr txBox="1"/>
            <p:nvPr/>
          </p:nvSpPr>
          <p:spPr>
            <a:xfrm>
              <a:off x="8349813" y="2175510"/>
              <a:ext cx="419283"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12%​</a:t>
              </a:r>
            </a:p>
          </p:txBody>
        </p:sp>
        <p:sp>
          <p:nvSpPr>
            <p:cNvPr id="210" name="TextBox 210"/>
            <p:cNvSpPr txBox="1"/>
            <p:nvPr/>
          </p:nvSpPr>
          <p:spPr>
            <a:xfrm>
              <a:off x="7874318" y="2501741"/>
              <a:ext cx="634365" cy="6191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23-35岁​</a:t>
              </a:r>
              <a:br/>
              <a:r>
                <a:rPr lang="zh-CN" sz="820" dirty="0">
                  <a:solidFill>
                    <a:srgbClr val="543E3A"/>
                  </a:solidFill>
                  <a:latin typeface="+mn-lt"/>
                  <a:ea typeface="+mn-ea"/>
                  <a:cs typeface="+mn-cs"/>
                </a:rPr>
                <a:t>一二线城市</a:t>
              </a:r>
              <a:br/>
              <a:r>
                <a:rPr lang="zh-CN" sz="820" dirty="0">
                  <a:solidFill>
                    <a:srgbClr val="543E3A"/>
                  </a:solidFill>
                  <a:latin typeface="+mn-lt"/>
                  <a:ea typeface="+mn-ea"/>
                  <a:cs typeface="+mn-cs"/>
                </a:rPr>
                <a:t>依赖手机娱乐</a:t>
              </a:r>
              <a:br/>
              <a:r>
                <a:rPr lang="zh-CN" sz="820" dirty="0">
                  <a:solidFill>
                    <a:srgbClr val="543E3A"/>
                  </a:solidFill>
                  <a:latin typeface="+mn-lt"/>
                  <a:ea typeface="+mn-ea"/>
                  <a:cs typeface="+mn-cs"/>
                </a:rPr>
                <a:t>注重性价比</a:t>
              </a:r>
            </a:p>
          </p:txBody>
        </p:sp>
        <p:sp>
          <p:nvSpPr>
            <p:cNvPr id="211" name="Line 211"/>
            <p:cNvSpPr/>
            <p:nvPr/>
          </p:nvSpPr>
          <p:spPr>
            <a:xfrm>
              <a:off x="7639050" y="34290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212" name="TextBox 212"/>
            <p:cNvSpPr txBox="1"/>
            <p:nvPr/>
          </p:nvSpPr>
          <p:spPr>
            <a:xfrm>
              <a:off x="7839418" y="3545443"/>
              <a:ext cx="704164"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日常消费形态</a:t>
              </a:r>
            </a:p>
          </p:txBody>
        </p:sp>
        <p:sp>
          <p:nvSpPr>
            <p:cNvPr id="213" name="TextBox 213"/>
            <p:cNvSpPr txBox="1"/>
            <p:nvPr/>
          </p:nvSpPr>
          <p:spPr>
            <a:xfrm>
              <a:off x="7978458" y="3739991"/>
              <a:ext cx="426085"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计划消费</a:t>
              </a:r>
              <a:br/>
              <a:r>
                <a:rPr lang="zh-CN" sz="820" dirty="0">
                  <a:solidFill>
                    <a:srgbClr val="543E3A"/>
                  </a:solidFill>
                  <a:latin typeface="+mn-lt"/>
                  <a:ea typeface="+mn-ea"/>
                  <a:cs typeface="+mn-cs"/>
                </a:rPr>
                <a:t>量力而行</a:t>
              </a:r>
              <a:br/>
              <a:r>
                <a:rPr lang="zh-CN" sz="820" dirty="0">
                  <a:solidFill>
                    <a:srgbClr val="543E3A"/>
                  </a:solidFill>
                  <a:latin typeface="+mn-lt"/>
                  <a:ea typeface="+mn-ea"/>
                  <a:cs typeface="+mn-cs"/>
                </a:rPr>
                <a:t>低价折扣</a:t>
              </a:r>
            </a:p>
          </p:txBody>
        </p:sp>
        <p:sp>
          <p:nvSpPr>
            <p:cNvPr id="214" name="Line 214"/>
            <p:cNvSpPr/>
            <p:nvPr/>
          </p:nvSpPr>
          <p:spPr>
            <a:xfrm>
              <a:off x="7639050" y="43434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215" name="Rectangle 215"/>
            <p:cNvSpPr/>
            <p:nvPr/>
          </p:nvSpPr>
          <p:spPr>
            <a:xfrm>
              <a:off x="7581900" y="4400550"/>
              <a:ext cx="1219200" cy="1028700"/>
            </a:xfrm>
            <a:prstGeom prst="roundRect">
              <a:avLst>
                <a:gd name="adj" fmla="val 5556"/>
              </a:avLst>
            </a:prstGeom>
            <a:solidFill>
              <a:srgbClr val="F5F6FC"/>
            </a:solidFill>
            <a:ln>
              <a:noFill/>
            </a:ln>
          </p:spPr>
        </p:sp>
        <p:sp>
          <p:nvSpPr>
            <p:cNvPr id="216" name="TextBox 216"/>
            <p:cNvSpPr txBox="1"/>
            <p:nvPr/>
          </p:nvSpPr>
          <p:spPr>
            <a:xfrm>
              <a:off x="7955191" y="4497943"/>
              <a:ext cx="472618"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内容触点</a:t>
              </a:r>
            </a:p>
          </p:txBody>
        </p:sp>
        <p:sp>
          <p:nvSpPr>
            <p:cNvPr id="217" name="TextBox 217"/>
            <p:cNvSpPr txBox="1"/>
            <p:nvPr/>
          </p:nvSpPr>
          <p:spPr>
            <a:xfrm>
              <a:off x="7822248" y="4692491"/>
              <a:ext cx="73850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实用的生活技巧</a:t>
              </a:r>
              <a:br/>
              <a:r>
                <a:rPr lang="zh-CN" sz="820" dirty="0">
                  <a:solidFill>
                    <a:srgbClr val="543E3A"/>
                  </a:solidFill>
                  <a:latin typeface="+mn-lt"/>
                  <a:ea typeface="+mn-ea"/>
                  <a:cs typeface="+mn-cs"/>
                </a:rPr>
                <a:t>和工作技能</a:t>
              </a:r>
            </a:p>
          </p:txBody>
        </p:sp>
        <p:sp>
          <p:nvSpPr>
            <p:cNvPr id="218" name="Rectangle 218"/>
            <p:cNvSpPr/>
            <p:nvPr/>
          </p:nvSpPr>
          <p:spPr>
            <a:xfrm>
              <a:off x="7972425" y="5162550"/>
              <a:ext cx="190500" cy="190500"/>
            </a:xfrm>
            <a:prstGeom prst="roundRect">
              <a:avLst>
                <a:gd name="adj" fmla="val 25000"/>
              </a:avLst>
            </a:prstGeom>
            <a:solidFill>
              <a:srgbClr val="1A1A1A"/>
            </a:solidFill>
            <a:ln>
              <a:noFill/>
            </a:ln>
          </p:spPr>
        </p:sp>
        <p:grpSp>
          <p:nvGrpSpPr>
            <p:cNvPr id="222" name="Group 222"/>
            <p:cNvGrpSpPr/>
            <p:nvPr/>
          </p:nvGrpSpPr>
          <p:grpSpPr>
            <a:xfrm>
              <a:off x="8034337" y="5207794"/>
              <a:ext cx="66675" cy="100012"/>
              <a:chOff x="8034337" y="5207794"/>
              <a:chExt cx="66675" cy="100012"/>
            </a:xfrm>
          </p:grpSpPr>
          <p:sp>
            <p:nvSpPr>
              <p:cNvPr id="219" name="Freeform 219"/>
              <p:cNvSpPr/>
              <p:nvPr/>
            </p:nvSpPr>
            <p:spPr>
              <a:xfrm>
                <a:off x="8034337" y="520779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FFFFFF"/>
                </a:solidFill>
              </a:ln>
            </p:spPr>
          </p:sp>
          <p:sp>
            <p:nvSpPr>
              <p:cNvPr id="220" name="Freeform 220"/>
              <p:cNvSpPr/>
              <p:nvPr/>
            </p:nvSpPr>
            <p:spPr>
              <a:xfrm>
                <a:off x="8062119" y="5213350"/>
                <a:ext cx="11112" cy="9525"/>
              </a:xfrm>
              <a:custGeom>
                <a:avLst/>
                <a:gdLst/>
                <a:ahLst/>
                <a:cxnLst/>
                <a:rect l="l" t="t" r="r" b="b"/>
                <a:pathLst>
                  <a:path w="11112" h="9525">
                    <a:moveTo>
                      <a:pt x="0" y="0"/>
                    </a:moveTo>
                    <a:lnTo>
                      <a:pt x="11112" y="0"/>
                    </a:lnTo>
                  </a:path>
                </a:pathLst>
              </a:custGeom>
              <a:noFill/>
              <a:ln w="11112">
                <a:solidFill>
                  <a:srgbClr val="FFFFFF"/>
                </a:solidFill>
              </a:ln>
            </p:spPr>
          </p:sp>
          <p:sp>
            <p:nvSpPr>
              <p:cNvPr id="221" name="Freeform 221"/>
              <p:cNvSpPr/>
              <p:nvPr/>
            </p:nvSpPr>
            <p:spPr>
              <a:xfrm>
                <a:off x="8067675" y="5285581"/>
                <a:ext cx="9525" cy="9525"/>
              </a:xfrm>
              <a:custGeom>
                <a:avLst/>
                <a:gdLst/>
                <a:ahLst/>
                <a:cxnLst/>
                <a:rect l="l" t="t" r="r" b="b"/>
                <a:pathLst>
                  <a:path w="9525" h="9525">
                    <a:moveTo>
                      <a:pt x="0" y="0"/>
                    </a:moveTo>
                    <a:lnTo>
                      <a:pt x="0" y="56"/>
                    </a:lnTo>
                  </a:path>
                </a:pathLst>
              </a:custGeom>
              <a:noFill/>
              <a:ln w="11112">
                <a:solidFill>
                  <a:srgbClr val="FFFFFF"/>
                </a:solidFill>
              </a:ln>
            </p:spPr>
          </p:sp>
        </p:grpSp>
        <p:sp>
          <p:nvSpPr>
            <p:cNvPr id="223" name="Rectangle 223"/>
            <p:cNvSpPr/>
            <p:nvPr/>
          </p:nvSpPr>
          <p:spPr>
            <a:xfrm>
              <a:off x="8220075" y="5162550"/>
              <a:ext cx="190500" cy="190500"/>
            </a:xfrm>
            <a:prstGeom prst="roundRect">
              <a:avLst>
                <a:gd name="adj" fmla="val 25000"/>
              </a:avLst>
            </a:prstGeom>
            <a:solidFill>
              <a:srgbClr val="FF2600"/>
            </a:solidFill>
            <a:ln>
              <a:noFill/>
            </a:ln>
          </p:spPr>
        </p:sp>
        <p:grpSp>
          <p:nvGrpSpPr>
            <p:cNvPr id="226" name="Group 226"/>
            <p:cNvGrpSpPr/>
            <p:nvPr/>
          </p:nvGrpSpPr>
          <p:grpSpPr>
            <a:xfrm>
              <a:off x="8265319" y="5224462"/>
              <a:ext cx="100012" cy="66675"/>
              <a:chOff x="8265319" y="5224462"/>
              <a:chExt cx="100012" cy="66675"/>
            </a:xfrm>
          </p:grpSpPr>
          <p:sp>
            <p:nvSpPr>
              <p:cNvPr id="224" name="Freeform 224"/>
              <p:cNvSpPr/>
              <p:nvPr/>
            </p:nvSpPr>
            <p:spPr>
              <a:xfrm>
                <a:off x="8331994" y="52331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FFFFFF"/>
                </a:solidFill>
              </a:ln>
            </p:spPr>
          </p:sp>
          <p:sp>
            <p:nvSpPr>
              <p:cNvPr id="225" name="Freeform 225"/>
              <p:cNvSpPr/>
              <p:nvPr/>
            </p:nvSpPr>
            <p:spPr>
              <a:xfrm>
                <a:off x="8265319" y="52244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FFFFFF"/>
                </a:solidFill>
              </a:ln>
            </p:spPr>
          </p:sp>
        </p:grpSp>
      </p:grpSp>
      <p:grpSp>
        <p:nvGrpSpPr>
          <p:cNvPr id="258" name="seg-7"/>
          <p:cNvGrpSpPr/>
          <p:nvPr/>
        </p:nvGrpSpPr>
        <p:grpSpPr>
          <a:xfrm>
            <a:off x="8972550" y="1238250"/>
            <a:ext cx="1333500" cy="4248150"/>
            <a:chOff x="8972550" y="1238250"/>
            <a:chExt cx="1333500" cy="4248150"/>
          </a:xfrm>
        </p:grpSpPr>
        <p:sp>
          <p:nvSpPr>
            <p:cNvPr id="228" name="Rectangle 228"/>
            <p:cNvSpPr/>
            <p:nvPr/>
          </p:nvSpPr>
          <p:spPr>
            <a:xfrm>
              <a:off x="8972550" y="1238250"/>
              <a:ext cx="1333500" cy="4248150"/>
            </a:xfrm>
            <a:prstGeom prst="roundRect">
              <a:avLst>
                <a:gd name="adj" fmla="val 5714"/>
              </a:avLst>
            </a:prstGeom>
            <a:solidFill>
              <a:srgbClr val="FFFFFF"/>
            </a:solidFill>
            <a:ln>
              <a:noFill/>
            </a:ln>
            <a:effectLst>
              <a:outerShdw blurRad="133350" dist="47625" dir="5400000" algn="ctr" rotWithShape="0">
                <a:srgbClr val="C45F4A">
                  <a:alpha val="6000"/>
                </a:srgbClr>
              </a:outerShdw>
            </a:effectLst>
          </p:spPr>
        </p:sp>
        <p:sp>
          <p:nvSpPr>
            <p:cNvPr id="229" name="Rectangle 229"/>
            <p:cNvSpPr/>
            <p:nvPr/>
          </p:nvSpPr>
          <p:spPr>
            <a:xfrm>
              <a:off x="8972550" y="1238250"/>
              <a:ext cx="1333500" cy="571500"/>
            </a:xfrm>
            <a:prstGeom prst="roundRect">
              <a:avLst>
                <a:gd name="adj" fmla="val 13333"/>
              </a:avLst>
            </a:prstGeom>
            <a:solidFill>
              <a:srgbClr val="C46D5B"/>
            </a:solidFill>
            <a:ln>
              <a:noFill/>
            </a:ln>
          </p:spPr>
        </p:sp>
        <p:sp>
          <p:nvSpPr>
            <p:cNvPr id="230" name="Ellipse 230"/>
            <p:cNvSpPr/>
            <p:nvPr/>
          </p:nvSpPr>
          <p:spPr>
            <a:xfrm>
              <a:off x="9048750" y="1314450"/>
              <a:ext cx="419100" cy="419100"/>
            </a:xfrm>
            <a:prstGeom prst="ellipse">
              <a:avLst/>
            </a:prstGeom>
            <a:solidFill>
              <a:srgbClr val="FFFFFF"/>
            </a:solidFill>
            <a:ln>
              <a:noFill/>
            </a:ln>
          </p:spPr>
        </p:sp>
        <p:grpSp>
          <p:nvGrpSpPr>
            <p:cNvPr id="235" name="Group 235"/>
            <p:cNvGrpSpPr/>
            <p:nvPr/>
          </p:nvGrpSpPr>
          <p:grpSpPr>
            <a:xfrm>
              <a:off x="9165431" y="1431131"/>
              <a:ext cx="185737" cy="185738"/>
              <a:chOff x="9165431" y="1431131"/>
              <a:chExt cx="185737" cy="185738"/>
            </a:xfrm>
          </p:grpSpPr>
          <p:sp>
            <p:nvSpPr>
              <p:cNvPr id="231" name="Freeform 231"/>
              <p:cNvSpPr/>
              <p:nvPr/>
            </p:nvSpPr>
            <p:spPr>
              <a:xfrm>
                <a:off x="9186069" y="14311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46D5B"/>
                </a:solidFill>
              </a:ln>
            </p:spPr>
          </p:sp>
          <p:sp>
            <p:nvSpPr>
              <p:cNvPr id="232" name="Freeform 232"/>
              <p:cNvSpPr/>
              <p:nvPr/>
            </p:nvSpPr>
            <p:spPr>
              <a:xfrm>
                <a:off x="9165431" y="15549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46D5B"/>
                </a:solidFill>
              </a:ln>
            </p:spPr>
          </p:sp>
          <p:sp>
            <p:nvSpPr>
              <p:cNvPr id="233" name="Freeform 233"/>
              <p:cNvSpPr/>
              <p:nvPr/>
            </p:nvSpPr>
            <p:spPr>
              <a:xfrm>
                <a:off x="9299574" y="14324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46D5B"/>
                </a:solidFill>
              </a:ln>
            </p:spPr>
          </p:sp>
          <p:sp>
            <p:nvSpPr>
              <p:cNvPr id="234" name="Freeform 234"/>
              <p:cNvSpPr/>
              <p:nvPr/>
            </p:nvSpPr>
            <p:spPr>
              <a:xfrm>
                <a:off x="9320212" y="15565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46D5B"/>
                </a:solidFill>
              </a:ln>
            </p:spPr>
          </p:sp>
        </p:grpSp>
        <p:sp>
          <p:nvSpPr>
            <p:cNvPr id="236" name="TextBox 236"/>
            <p:cNvSpPr txBox="1"/>
            <p:nvPr/>
          </p:nvSpPr>
          <p:spPr>
            <a:xfrm>
              <a:off x="9629102" y="14704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都市银发</a:t>
              </a:r>
            </a:p>
          </p:txBody>
        </p:sp>
        <p:sp>
          <p:nvSpPr>
            <p:cNvPr id="237" name="Rectangle 237"/>
            <p:cNvSpPr/>
            <p:nvPr/>
          </p:nvSpPr>
          <p:spPr>
            <a:xfrm>
              <a:off x="9048750" y="1943100"/>
              <a:ext cx="571500" cy="171450"/>
            </a:xfrm>
            <a:prstGeom prst="roundRect">
              <a:avLst>
                <a:gd name="adj" fmla="val 16667"/>
              </a:avLst>
            </a:prstGeom>
            <a:solidFill>
              <a:srgbClr val="E8EBF8"/>
            </a:solidFill>
            <a:ln>
              <a:noFill/>
            </a:ln>
          </p:spPr>
        </p:sp>
        <p:sp>
          <p:nvSpPr>
            <p:cNvPr id="238" name="TextBox 238"/>
            <p:cNvSpPr txBox="1"/>
            <p:nvPr/>
          </p:nvSpPr>
          <p:spPr>
            <a:xfrm>
              <a:off x="9117038" y="1981914"/>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消费贡献</a:t>
              </a:r>
            </a:p>
          </p:txBody>
        </p:sp>
        <p:sp>
          <p:nvSpPr>
            <p:cNvPr id="239" name="TextBox 239"/>
            <p:cNvSpPr txBox="1"/>
            <p:nvPr/>
          </p:nvSpPr>
          <p:spPr>
            <a:xfrm>
              <a:off x="9797613" y="1956435"/>
              <a:ext cx="419283"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22%​</a:t>
              </a:r>
            </a:p>
          </p:txBody>
        </p:sp>
        <p:sp>
          <p:nvSpPr>
            <p:cNvPr id="240" name="Rectangle 240"/>
            <p:cNvSpPr/>
            <p:nvPr/>
          </p:nvSpPr>
          <p:spPr>
            <a:xfrm>
              <a:off x="9048750" y="2162175"/>
              <a:ext cx="571500" cy="171450"/>
            </a:xfrm>
            <a:prstGeom prst="roundRect">
              <a:avLst>
                <a:gd name="adj" fmla="val 16667"/>
              </a:avLst>
            </a:prstGeom>
            <a:solidFill>
              <a:srgbClr val="E8EBF8"/>
            </a:solidFill>
            <a:ln>
              <a:noFill/>
            </a:ln>
          </p:spPr>
        </p:sp>
        <p:sp>
          <p:nvSpPr>
            <p:cNvPr id="241" name="TextBox 241"/>
            <p:cNvSpPr txBox="1"/>
            <p:nvPr/>
          </p:nvSpPr>
          <p:spPr>
            <a:xfrm>
              <a:off x="9117038" y="2200989"/>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人群占比</a:t>
              </a:r>
            </a:p>
          </p:txBody>
        </p:sp>
        <p:sp>
          <p:nvSpPr>
            <p:cNvPr id="242" name="TextBox 242"/>
            <p:cNvSpPr txBox="1"/>
            <p:nvPr/>
          </p:nvSpPr>
          <p:spPr>
            <a:xfrm>
              <a:off x="9704321" y="2175510"/>
              <a:ext cx="512575"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118%​</a:t>
              </a:r>
            </a:p>
          </p:txBody>
        </p:sp>
        <p:sp>
          <p:nvSpPr>
            <p:cNvPr id="243" name="TextBox 243"/>
            <p:cNvSpPr txBox="1"/>
            <p:nvPr/>
          </p:nvSpPr>
          <p:spPr>
            <a:xfrm>
              <a:off x="9270048" y="2501741"/>
              <a:ext cx="738505"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大于50岁​</a:t>
              </a:r>
              <a:br/>
              <a:r>
                <a:rPr lang="zh-CN" sz="820" dirty="0">
                  <a:solidFill>
                    <a:srgbClr val="543E3A"/>
                  </a:solidFill>
                  <a:latin typeface="+mn-lt"/>
                  <a:ea typeface="+mn-ea"/>
                  <a:cs typeface="+mn-cs"/>
                </a:rPr>
                <a:t>一二线城市</a:t>
              </a:r>
              <a:br/>
              <a:r>
                <a:rPr lang="zh-CN" sz="820" dirty="0">
                  <a:solidFill>
                    <a:srgbClr val="543E3A"/>
                  </a:solidFill>
                  <a:latin typeface="+mn-lt"/>
                  <a:ea typeface="+mn-ea"/>
                  <a:cs typeface="+mn-cs"/>
                </a:rPr>
                <a:t>互联网隐形金矿</a:t>
              </a:r>
            </a:p>
          </p:txBody>
        </p:sp>
        <p:sp>
          <p:nvSpPr>
            <p:cNvPr id="244" name="Line 244"/>
            <p:cNvSpPr/>
            <p:nvPr/>
          </p:nvSpPr>
          <p:spPr>
            <a:xfrm>
              <a:off x="9086850" y="34290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245" name="TextBox 245"/>
            <p:cNvSpPr txBox="1"/>
            <p:nvPr/>
          </p:nvSpPr>
          <p:spPr>
            <a:xfrm>
              <a:off x="9287218" y="3545443"/>
              <a:ext cx="704164"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日常消费形态</a:t>
              </a:r>
            </a:p>
          </p:txBody>
        </p:sp>
        <p:sp>
          <p:nvSpPr>
            <p:cNvPr id="246" name="TextBox 246"/>
            <p:cNvSpPr txBox="1"/>
            <p:nvPr/>
          </p:nvSpPr>
          <p:spPr>
            <a:xfrm>
              <a:off x="9374188" y="3739991"/>
              <a:ext cx="530225"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消费潜力股</a:t>
              </a:r>
              <a:br/>
              <a:r>
                <a:rPr lang="zh-CN" sz="820" dirty="0">
                  <a:solidFill>
                    <a:srgbClr val="543E3A"/>
                  </a:solidFill>
                  <a:latin typeface="+mn-lt"/>
                  <a:ea typeface="+mn-ea"/>
                  <a:cs typeface="+mn-cs"/>
                </a:rPr>
                <a:t>健康养生</a:t>
              </a:r>
              <a:br/>
              <a:r>
                <a:rPr lang="zh-CN" sz="820" dirty="0">
                  <a:solidFill>
                    <a:srgbClr val="543E3A"/>
                  </a:solidFill>
                  <a:latin typeface="+mn-lt"/>
                  <a:ea typeface="+mn-ea"/>
                  <a:cs typeface="+mn-cs"/>
                </a:rPr>
                <a:t>重视自我</a:t>
              </a:r>
            </a:p>
          </p:txBody>
        </p:sp>
        <p:sp>
          <p:nvSpPr>
            <p:cNvPr id="247" name="Line 247"/>
            <p:cNvSpPr/>
            <p:nvPr/>
          </p:nvSpPr>
          <p:spPr>
            <a:xfrm>
              <a:off x="9086850" y="43434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248" name="Rectangle 248"/>
            <p:cNvSpPr/>
            <p:nvPr/>
          </p:nvSpPr>
          <p:spPr>
            <a:xfrm>
              <a:off x="9029700" y="4400550"/>
              <a:ext cx="1219200" cy="1028700"/>
            </a:xfrm>
            <a:prstGeom prst="roundRect">
              <a:avLst>
                <a:gd name="adj" fmla="val 5556"/>
              </a:avLst>
            </a:prstGeom>
            <a:solidFill>
              <a:srgbClr val="F5F6FC"/>
            </a:solidFill>
            <a:ln>
              <a:noFill/>
            </a:ln>
          </p:spPr>
        </p:sp>
        <p:sp>
          <p:nvSpPr>
            <p:cNvPr id="249" name="TextBox 249"/>
            <p:cNvSpPr txBox="1"/>
            <p:nvPr/>
          </p:nvSpPr>
          <p:spPr>
            <a:xfrm>
              <a:off x="9402991" y="4497943"/>
              <a:ext cx="472618"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内容触点</a:t>
              </a:r>
            </a:p>
          </p:txBody>
        </p:sp>
        <p:sp>
          <p:nvSpPr>
            <p:cNvPr id="250" name="TextBox 250"/>
            <p:cNvSpPr txBox="1"/>
            <p:nvPr/>
          </p:nvSpPr>
          <p:spPr>
            <a:xfrm>
              <a:off x="9322118" y="4692491"/>
              <a:ext cx="63436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健康精致养生</a:t>
              </a:r>
              <a:br/>
              <a:r>
                <a:rPr lang="zh-CN" sz="820" dirty="0">
                  <a:solidFill>
                    <a:srgbClr val="543E3A"/>
                  </a:solidFill>
                  <a:latin typeface="+mn-lt"/>
                  <a:ea typeface="+mn-ea"/>
                  <a:cs typeface="+mn-cs"/>
                </a:rPr>
                <a:t>退休规划</a:t>
              </a:r>
            </a:p>
          </p:txBody>
        </p:sp>
        <p:sp>
          <p:nvSpPr>
            <p:cNvPr id="251" name="Rectangle 251"/>
            <p:cNvSpPr/>
            <p:nvPr/>
          </p:nvSpPr>
          <p:spPr>
            <a:xfrm>
              <a:off x="9420225" y="5162550"/>
              <a:ext cx="190500" cy="190500"/>
            </a:xfrm>
            <a:prstGeom prst="roundRect">
              <a:avLst>
                <a:gd name="adj" fmla="val 25000"/>
              </a:avLst>
            </a:prstGeom>
            <a:solidFill>
              <a:srgbClr val="1A1A1A"/>
            </a:solidFill>
            <a:ln>
              <a:noFill/>
            </a:ln>
          </p:spPr>
        </p:sp>
        <p:grpSp>
          <p:nvGrpSpPr>
            <p:cNvPr id="255" name="Group 255"/>
            <p:cNvGrpSpPr/>
            <p:nvPr/>
          </p:nvGrpSpPr>
          <p:grpSpPr>
            <a:xfrm>
              <a:off x="9482137" y="5207794"/>
              <a:ext cx="66675" cy="100012"/>
              <a:chOff x="9482137" y="5207794"/>
              <a:chExt cx="66675" cy="100012"/>
            </a:xfrm>
          </p:grpSpPr>
          <p:sp>
            <p:nvSpPr>
              <p:cNvPr id="252" name="Freeform 252"/>
              <p:cNvSpPr/>
              <p:nvPr/>
            </p:nvSpPr>
            <p:spPr>
              <a:xfrm>
                <a:off x="9482137" y="5207794"/>
                <a:ext cx="66675" cy="100012"/>
              </a:xfrm>
              <a:custGeom>
                <a:avLst/>
                <a:gdLst/>
                <a:ahLst/>
                <a:cxnLst/>
                <a:rect l="l" t="t" r="r" b="b"/>
                <a:pathLst>
                  <a:path w="66675" h="100012">
                    <a:moveTo>
                      <a:pt x="0" y="11112"/>
                    </a:moveTo>
                    <a:cubicBezTo>
                      <a:pt x="0" y="4975"/>
                      <a:pt x="4975" y="0"/>
                      <a:pt x="11112" y="0"/>
                    </a:cubicBezTo>
                    <a:lnTo>
                      <a:pt x="55562" y="0"/>
                    </a:lnTo>
                    <a:cubicBezTo>
                      <a:pt x="61700" y="0"/>
                      <a:pt x="66675" y="4975"/>
                      <a:pt x="66675" y="11112"/>
                    </a:cubicBezTo>
                    <a:lnTo>
                      <a:pt x="66675" y="88900"/>
                    </a:lnTo>
                    <a:cubicBezTo>
                      <a:pt x="66675" y="95037"/>
                      <a:pt x="61700" y="100012"/>
                      <a:pt x="55562" y="100012"/>
                    </a:cubicBezTo>
                    <a:lnTo>
                      <a:pt x="11112" y="100012"/>
                    </a:lnTo>
                    <a:cubicBezTo>
                      <a:pt x="4975" y="100012"/>
                      <a:pt x="0" y="95037"/>
                      <a:pt x="0" y="88900"/>
                    </a:cubicBezTo>
                    <a:lnTo>
                      <a:pt x="0" y="11112"/>
                    </a:lnTo>
                  </a:path>
                </a:pathLst>
              </a:custGeom>
              <a:noFill/>
              <a:ln w="11112">
                <a:solidFill>
                  <a:srgbClr val="FFFFFF"/>
                </a:solidFill>
              </a:ln>
            </p:spPr>
          </p:sp>
          <p:sp>
            <p:nvSpPr>
              <p:cNvPr id="253" name="Freeform 253"/>
              <p:cNvSpPr/>
              <p:nvPr/>
            </p:nvSpPr>
            <p:spPr>
              <a:xfrm>
                <a:off x="9509919" y="5213350"/>
                <a:ext cx="11112" cy="9525"/>
              </a:xfrm>
              <a:custGeom>
                <a:avLst/>
                <a:gdLst/>
                <a:ahLst/>
                <a:cxnLst/>
                <a:rect l="l" t="t" r="r" b="b"/>
                <a:pathLst>
                  <a:path w="11112" h="9525">
                    <a:moveTo>
                      <a:pt x="0" y="0"/>
                    </a:moveTo>
                    <a:lnTo>
                      <a:pt x="11112" y="0"/>
                    </a:lnTo>
                  </a:path>
                </a:pathLst>
              </a:custGeom>
              <a:noFill/>
              <a:ln w="11112">
                <a:solidFill>
                  <a:srgbClr val="FFFFFF"/>
                </a:solidFill>
              </a:ln>
            </p:spPr>
          </p:sp>
          <p:sp>
            <p:nvSpPr>
              <p:cNvPr id="254" name="Freeform 254"/>
              <p:cNvSpPr/>
              <p:nvPr/>
            </p:nvSpPr>
            <p:spPr>
              <a:xfrm>
                <a:off x="9515475" y="5285581"/>
                <a:ext cx="9525" cy="9525"/>
              </a:xfrm>
              <a:custGeom>
                <a:avLst/>
                <a:gdLst/>
                <a:ahLst/>
                <a:cxnLst/>
                <a:rect l="l" t="t" r="r" b="b"/>
                <a:pathLst>
                  <a:path w="9525" h="9525">
                    <a:moveTo>
                      <a:pt x="0" y="0"/>
                    </a:moveTo>
                    <a:lnTo>
                      <a:pt x="0" y="56"/>
                    </a:lnTo>
                  </a:path>
                </a:pathLst>
              </a:custGeom>
              <a:noFill/>
              <a:ln w="11112">
                <a:solidFill>
                  <a:srgbClr val="FFFFFF"/>
                </a:solidFill>
              </a:ln>
            </p:spPr>
          </p:sp>
        </p:grpSp>
        <p:sp>
          <p:nvSpPr>
            <p:cNvPr id="256" name="Rectangle 256"/>
            <p:cNvSpPr/>
            <p:nvPr/>
          </p:nvSpPr>
          <p:spPr>
            <a:xfrm>
              <a:off x="9667875" y="5162550"/>
              <a:ext cx="190500" cy="190500"/>
            </a:xfrm>
            <a:prstGeom prst="roundRect">
              <a:avLst>
                <a:gd name="adj" fmla="val 25000"/>
              </a:avLst>
            </a:prstGeom>
            <a:solidFill>
              <a:srgbClr val="C12507"/>
            </a:solidFill>
            <a:ln>
              <a:noFill/>
            </a:ln>
          </p:spPr>
        </p:sp>
        <p:sp>
          <p:nvSpPr>
            <p:cNvPr id="257" name="Freeform 257"/>
            <p:cNvSpPr/>
            <p:nvPr/>
          </p:nvSpPr>
          <p:spPr>
            <a:xfrm>
              <a:off x="9707429" y="5209044"/>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FFFFFF"/>
              </a:solidFill>
            </a:ln>
          </p:spPr>
        </p:sp>
      </p:grpSp>
      <p:grpSp>
        <p:nvGrpSpPr>
          <p:cNvPr id="288" name="seg-8"/>
          <p:cNvGrpSpPr/>
          <p:nvPr/>
        </p:nvGrpSpPr>
        <p:grpSpPr>
          <a:xfrm>
            <a:off x="10420350" y="1238250"/>
            <a:ext cx="1333500" cy="4248150"/>
            <a:chOff x="10420350" y="1238250"/>
            <a:chExt cx="1333500" cy="4248150"/>
          </a:xfrm>
        </p:grpSpPr>
        <p:sp>
          <p:nvSpPr>
            <p:cNvPr id="259" name="Rectangle 259"/>
            <p:cNvSpPr/>
            <p:nvPr/>
          </p:nvSpPr>
          <p:spPr>
            <a:xfrm>
              <a:off x="10420350" y="1238250"/>
              <a:ext cx="1333500" cy="4248150"/>
            </a:xfrm>
            <a:prstGeom prst="roundRect">
              <a:avLst>
                <a:gd name="adj" fmla="val 5714"/>
              </a:avLst>
            </a:prstGeom>
            <a:solidFill>
              <a:srgbClr val="FFFFFF"/>
            </a:solidFill>
            <a:ln>
              <a:noFill/>
            </a:ln>
            <a:effectLst>
              <a:outerShdw blurRad="133350" dist="47625" dir="5400000" algn="ctr" rotWithShape="0">
                <a:srgbClr val="C45F4A">
                  <a:alpha val="6000"/>
                </a:srgbClr>
              </a:outerShdw>
            </a:effectLst>
          </p:spPr>
        </p:sp>
        <p:sp>
          <p:nvSpPr>
            <p:cNvPr id="260" name="Rectangle 260"/>
            <p:cNvSpPr/>
            <p:nvPr/>
          </p:nvSpPr>
          <p:spPr>
            <a:xfrm>
              <a:off x="10420350" y="1238250"/>
              <a:ext cx="1333500" cy="571500"/>
            </a:xfrm>
            <a:prstGeom prst="roundRect">
              <a:avLst>
                <a:gd name="adj" fmla="val 13333"/>
              </a:avLst>
            </a:prstGeom>
            <a:solidFill>
              <a:srgbClr val="C46D5B"/>
            </a:solidFill>
            <a:ln>
              <a:noFill/>
            </a:ln>
          </p:spPr>
        </p:sp>
        <p:sp>
          <p:nvSpPr>
            <p:cNvPr id="261" name="Ellipse 261"/>
            <p:cNvSpPr/>
            <p:nvPr/>
          </p:nvSpPr>
          <p:spPr>
            <a:xfrm>
              <a:off x="10496550" y="1314450"/>
              <a:ext cx="419100" cy="419100"/>
            </a:xfrm>
            <a:prstGeom prst="ellipse">
              <a:avLst/>
            </a:prstGeom>
            <a:solidFill>
              <a:srgbClr val="FFFFFF"/>
            </a:solidFill>
            <a:ln>
              <a:noFill/>
            </a:ln>
          </p:spPr>
        </p:sp>
        <p:grpSp>
          <p:nvGrpSpPr>
            <p:cNvPr id="266" name="Group 266"/>
            <p:cNvGrpSpPr/>
            <p:nvPr/>
          </p:nvGrpSpPr>
          <p:grpSpPr>
            <a:xfrm>
              <a:off x="10613231" y="1431131"/>
              <a:ext cx="185737" cy="185738"/>
              <a:chOff x="10613231" y="1431131"/>
              <a:chExt cx="185737" cy="185738"/>
            </a:xfrm>
          </p:grpSpPr>
          <p:sp>
            <p:nvSpPr>
              <p:cNvPr id="262" name="Freeform 262"/>
              <p:cNvSpPr/>
              <p:nvPr/>
            </p:nvSpPr>
            <p:spPr>
              <a:xfrm>
                <a:off x="10633869" y="14311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C46D5B"/>
                </a:solidFill>
              </a:ln>
            </p:spPr>
          </p:sp>
          <p:sp>
            <p:nvSpPr>
              <p:cNvPr id="263" name="Freeform 263"/>
              <p:cNvSpPr/>
              <p:nvPr/>
            </p:nvSpPr>
            <p:spPr>
              <a:xfrm>
                <a:off x="10613231" y="155495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C46D5B"/>
                </a:solidFill>
              </a:ln>
            </p:spPr>
          </p:sp>
          <p:sp>
            <p:nvSpPr>
              <p:cNvPr id="264" name="Freeform 264"/>
              <p:cNvSpPr/>
              <p:nvPr/>
            </p:nvSpPr>
            <p:spPr>
              <a:xfrm>
                <a:off x="10747374" y="143247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C46D5B"/>
                </a:solidFill>
              </a:ln>
            </p:spPr>
          </p:sp>
          <p:sp>
            <p:nvSpPr>
              <p:cNvPr id="265" name="Freeform 265"/>
              <p:cNvSpPr/>
              <p:nvPr/>
            </p:nvSpPr>
            <p:spPr>
              <a:xfrm>
                <a:off x="10768012" y="155650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C46D5B"/>
                </a:solidFill>
              </a:ln>
            </p:spPr>
          </p:sp>
        </p:grpSp>
        <p:sp>
          <p:nvSpPr>
            <p:cNvPr id="267" name="TextBox 267"/>
            <p:cNvSpPr txBox="1"/>
            <p:nvPr/>
          </p:nvSpPr>
          <p:spPr>
            <a:xfrm>
              <a:off x="11013630" y="1470422"/>
              <a:ext cx="6422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小镇中老年</a:t>
              </a:r>
            </a:p>
          </p:txBody>
        </p:sp>
        <p:sp>
          <p:nvSpPr>
            <p:cNvPr id="268" name="Rectangle 268"/>
            <p:cNvSpPr/>
            <p:nvPr/>
          </p:nvSpPr>
          <p:spPr>
            <a:xfrm>
              <a:off x="10496550" y="1943100"/>
              <a:ext cx="571500" cy="171450"/>
            </a:xfrm>
            <a:prstGeom prst="roundRect">
              <a:avLst>
                <a:gd name="adj" fmla="val 16667"/>
              </a:avLst>
            </a:prstGeom>
            <a:solidFill>
              <a:srgbClr val="E8EBF8"/>
            </a:solidFill>
            <a:ln>
              <a:noFill/>
            </a:ln>
          </p:spPr>
        </p:sp>
        <p:sp>
          <p:nvSpPr>
            <p:cNvPr id="269" name="TextBox 269"/>
            <p:cNvSpPr txBox="1"/>
            <p:nvPr/>
          </p:nvSpPr>
          <p:spPr>
            <a:xfrm>
              <a:off x="10564838" y="1981914"/>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消费贡献</a:t>
              </a:r>
            </a:p>
          </p:txBody>
        </p:sp>
        <p:sp>
          <p:nvSpPr>
            <p:cNvPr id="270" name="TextBox 270"/>
            <p:cNvSpPr txBox="1"/>
            <p:nvPr/>
          </p:nvSpPr>
          <p:spPr>
            <a:xfrm>
              <a:off x="11338705" y="1956435"/>
              <a:ext cx="325991"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3%​</a:t>
              </a:r>
            </a:p>
          </p:txBody>
        </p:sp>
        <p:sp>
          <p:nvSpPr>
            <p:cNvPr id="271" name="Rectangle 271"/>
            <p:cNvSpPr/>
            <p:nvPr/>
          </p:nvSpPr>
          <p:spPr>
            <a:xfrm>
              <a:off x="10496550" y="2162175"/>
              <a:ext cx="571500" cy="171450"/>
            </a:xfrm>
            <a:prstGeom prst="roundRect">
              <a:avLst>
                <a:gd name="adj" fmla="val 16667"/>
              </a:avLst>
            </a:prstGeom>
            <a:solidFill>
              <a:srgbClr val="E8EBF8"/>
            </a:solidFill>
            <a:ln>
              <a:noFill/>
            </a:ln>
          </p:spPr>
        </p:sp>
        <p:sp>
          <p:nvSpPr>
            <p:cNvPr id="272" name="TextBox 272"/>
            <p:cNvSpPr txBox="1"/>
            <p:nvPr/>
          </p:nvSpPr>
          <p:spPr>
            <a:xfrm>
              <a:off x="10564838" y="2200989"/>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人群占比</a:t>
              </a:r>
            </a:p>
          </p:txBody>
        </p:sp>
        <p:sp>
          <p:nvSpPr>
            <p:cNvPr id="273" name="TextBox 273"/>
            <p:cNvSpPr txBox="1"/>
            <p:nvPr/>
          </p:nvSpPr>
          <p:spPr>
            <a:xfrm>
              <a:off x="11338705" y="2175510"/>
              <a:ext cx="325991" cy="234696"/>
            </a:xfrm>
            <a:prstGeom prst="rect">
              <a:avLst/>
            </a:prstGeom>
            <a:noFill/>
            <a:ln>
              <a:noFill/>
            </a:ln>
          </p:spPr>
          <p:txBody>
            <a:bodyPr wrap="none" lIns="0" tIns="0" rIns="0" bIns="0" anchor="t" anchorCtr="0">
              <a:spAutoFit/>
            </a:bodyPr>
            <a:lstStyle/>
            <a:p>
              <a:pPr algn="r"/>
              <a:r>
                <a:rPr lang="zh-CN" sz="1200" b="1" dirty="0">
                  <a:solidFill>
                    <a:srgbClr val="C45F4A"/>
                  </a:solidFill>
                  <a:latin typeface="+mn-lt"/>
                  <a:ea typeface="+mn-ea"/>
                  <a:cs typeface="+mn-cs"/>
                </a:rPr>
                <a:t>9%​</a:t>
              </a:r>
            </a:p>
          </p:txBody>
        </p:sp>
        <p:sp>
          <p:nvSpPr>
            <p:cNvPr id="274" name="TextBox 274"/>
            <p:cNvSpPr txBox="1"/>
            <p:nvPr/>
          </p:nvSpPr>
          <p:spPr>
            <a:xfrm>
              <a:off x="10821988" y="2501741"/>
              <a:ext cx="530225" cy="6191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50-60岁​</a:t>
              </a:r>
              <a:br/>
              <a:r>
                <a:rPr lang="zh-CN" sz="820" dirty="0">
                  <a:solidFill>
                    <a:srgbClr val="543E3A"/>
                  </a:solidFill>
                  <a:latin typeface="+mn-lt"/>
                  <a:ea typeface="+mn-ea"/>
                  <a:cs typeface="+mn-cs"/>
                </a:rPr>
                <a:t>三四线城市</a:t>
              </a:r>
              <a:br/>
              <a:r>
                <a:rPr lang="zh-CN" sz="820" dirty="0">
                  <a:solidFill>
                    <a:srgbClr val="543E3A"/>
                  </a:solidFill>
                  <a:latin typeface="+mn-lt"/>
                  <a:ea typeface="+mn-ea"/>
                  <a:cs typeface="+mn-cs"/>
                </a:rPr>
                <a:t>生活节奏慢</a:t>
              </a:r>
              <a:br/>
              <a:r>
                <a:rPr lang="zh-CN" sz="820" dirty="0">
                  <a:solidFill>
                    <a:srgbClr val="543E3A"/>
                  </a:solidFill>
                  <a:latin typeface="+mn-lt"/>
                  <a:ea typeface="+mn-ea"/>
                  <a:cs typeface="+mn-cs"/>
                </a:rPr>
                <a:t>线上消费低</a:t>
              </a:r>
            </a:p>
          </p:txBody>
        </p:sp>
        <p:sp>
          <p:nvSpPr>
            <p:cNvPr id="275" name="Line 275"/>
            <p:cNvSpPr/>
            <p:nvPr/>
          </p:nvSpPr>
          <p:spPr>
            <a:xfrm>
              <a:off x="10534650" y="34290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276" name="TextBox 276"/>
            <p:cNvSpPr txBox="1"/>
            <p:nvPr/>
          </p:nvSpPr>
          <p:spPr>
            <a:xfrm>
              <a:off x="10735018" y="3545443"/>
              <a:ext cx="704164"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日常消费形态</a:t>
              </a:r>
            </a:p>
          </p:txBody>
        </p:sp>
        <p:sp>
          <p:nvSpPr>
            <p:cNvPr id="277" name="TextBox 277"/>
            <p:cNvSpPr txBox="1"/>
            <p:nvPr/>
          </p:nvSpPr>
          <p:spPr>
            <a:xfrm>
              <a:off x="10821988" y="3739991"/>
              <a:ext cx="53022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跟随性消费</a:t>
              </a:r>
              <a:br/>
              <a:r>
                <a:rPr lang="zh-CN" sz="820" dirty="0">
                  <a:solidFill>
                    <a:srgbClr val="543E3A"/>
                  </a:solidFill>
                  <a:latin typeface="+mn-lt"/>
                  <a:ea typeface="+mn-ea"/>
                  <a:cs typeface="+mn-cs"/>
                </a:rPr>
                <a:t>极致性价比</a:t>
              </a:r>
            </a:p>
          </p:txBody>
        </p:sp>
        <p:sp>
          <p:nvSpPr>
            <p:cNvPr id="278" name="Line 278"/>
            <p:cNvSpPr/>
            <p:nvPr/>
          </p:nvSpPr>
          <p:spPr>
            <a:xfrm>
              <a:off x="10534650" y="4343400"/>
              <a:ext cx="1104900" cy="9525"/>
            </a:xfrm>
            <a:custGeom>
              <a:avLst/>
              <a:gdLst/>
              <a:ahLst/>
              <a:cxnLst/>
              <a:rect l="l" t="t" r="r" b="b"/>
              <a:pathLst>
                <a:path w="1104900" h="9525">
                  <a:moveTo>
                    <a:pt x="0" y="0"/>
                  </a:moveTo>
                  <a:lnTo>
                    <a:pt x="1104900" y="0"/>
                  </a:lnTo>
                </a:path>
              </a:pathLst>
            </a:custGeom>
            <a:noFill/>
            <a:ln w="9525">
              <a:solidFill>
                <a:srgbClr val="D8DEF2"/>
              </a:solidFill>
              <a:custDash>
                <a:ds d="300000" sp="300000"/>
              </a:custDash>
            </a:ln>
          </p:spPr>
        </p:sp>
        <p:sp>
          <p:nvSpPr>
            <p:cNvPr id="279" name="Rectangle 279"/>
            <p:cNvSpPr/>
            <p:nvPr/>
          </p:nvSpPr>
          <p:spPr>
            <a:xfrm>
              <a:off x="10477500" y="4400550"/>
              <a:ext cx="1219200" cy="1028700"/>
            </a:xfrm>
            <a:prstGeom prst="roundRect">
              <a:avLst>
                <a:gd name="adj" fmla="val 5556"/>
              </a:avLst>
            </a:prstGeom>
            <a:solidFill>
              <a:srgbClr val="F5F6FC"/>
            </a:solidFill>
            <a:ln>
              <a:noFill/>
            </a:ln>
          </p:spPr>
        </p:sp>
        <p:sp>
          <p:nvSpPr>
            <p:cNvPr id="280" name="TextBox 280"/>
            <p:cNvSpPr txBox="1"/>
            <p:nvPr/>
          </p:nvSpPr>
          <p:spPr>
            <a:xfrm>
              <a:off x="10850791" y="4497943"/>
              <a:ext cx="472618" cy="169069"/>
            </a:xfrm>
            <a:prstGeom prst="rect">
              <a:avLst/>
            </a:prstGeom>
            <a:noFill/>
            <a:ln>
              <a:noFill/>
            </a:ln>
          </p:spPr>
          <p:txBody>
            <a:bodyPr wrap="none" lIns="0" tIns="0" rIns="0" bIns="0" anchor="t" anchorCtr="0">
              <a:spAutoFit/>
            </a:bodyPr>
            <a:lstStyle/>
            <a:p>
              <a:pPr algn="ctr"/>
              <a:r>
                <a:rPr lang="zh-CN" sz="860" b="1" dirty="0">
                  <a:solidFill>
                    <a:srgbClr val="C45F4A"/>
                  </a:solidFill>
                  <a:latin typeface="+mn-lt"/>
                  <a:ea typeface="+mn-ea"/>
                  <a:cs typeface="+mn-cs"/>
                </a:rPr>
                <a:t>内容触点</a:t>
              </a:r>
            </a:p>
          </p:txBody>
        </p:sp>
        <p:sp>
          <p:nvSpPr>
            <p:cNvPr id="281" name="TextBox 281"/>
            <p:cNvSpPr txBox="1"/>
            <p:nvPr/>
          </p:nvSpPr>
          <p:spPr>
            <a:xfrm>
              <a:off x="10874058" y="4692491"/>
              <a:ext cx="42608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家庭和睦</a:t>
              </a:r>
              <a:br/>
              <a:r>
                <a:rPr lang="zh-CN" sz="820" dirty="0">
                  <a:solidFill>
                    <a:srgbClr val="543E3A"/>
                  </a:solidFill>
                  <a:latin typeface="+mn-lt"/>
                  <a:ea typeface="+mn-ea"/>
                  <a:cs typeface="+mn-cs"/>
                </a:rPr>
                <a:t>传统文化</a:t>
              </a:r>
            </a:p>
          </p:txBody>
        </p:sp>
        <p:sp>
          <p:nvSpPr>
            <p:cNvPr id="282" name="Rectangle 282"/>
            <p:cNvSpPr/>
            <p:nvPr/>
          </p:nvSpPr>
          <p:spPr>
            <a:xfrm>
              <a:off x="10868025" y="5162550"/>
              <a:ext cx="190500" cy="190500"/>
            </a:xfrm>
            <a:prstGeom prst="roundRect">
              <a:avLst>
                <a:gd name="adj" fmla="val 25000"/>
              </a:avLst>
            </a:prstGeom>
            <a:solidFill>
              <a:srgbClr val="FB8B72"/>
            </a:solidFill>
            <a:ln>
              <a:noFill/>
            </a:ln>
          </p:spPr>
        </p:sp>
        <p:grpSp>
          <p:nvGrpSpPr>
            <p:cNvPr id="285" name="Group 285"/>
            <p:cNvGrpSpPr/>
            <p:nvPr/>
          </p:nvGrpSpPr>
          <p:grpSpPr>
            <a:xfrm>
              <a:off x="10913269" y="5224462"/>
              <a:ext cx="100012" cy="66675"/>
              <a:chOff x="10913269" y="5224462"/>
              <a:chExt cx="100012" cy="66675"/>
            </a:xfrm>
          </p:grpSpPr>
          <p:sp>
            <p:nvSpPr>
              <p:cNvPr id="283" name="Freeform 283"/>
              <p:cNvSpPr/>
              <p:nvPr/>
            </p:nvSpPr>
            <p:spPr>
              <a:xfrm>
                <a:off x="10979944" y="52331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FFFFFF"/>
                </a:solidFill>
              </a:ln>
            </p:spPr>
          </p:sp>
          <p:sp>
            <p:nvSpPr>
              <p:cNvPr id="284" name="Freeform 284"/>
              <p:cNvSpPr/>
              <p:nvPr/>
            </p:nvSpPr>
            <p:spPr>
              <a:xfrm>
                <a:off x="10913269" y="52244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FFFFFF"/>
                </a:solidFill>
              </a:ln>
            </p:spPr>
          </p:sp>
        </p:grpSp>
        <p:sp>
          <p:nvSpPr>
            <p:cNvPr id="286" name="Rectangle 286"/>
            <p:cNvSpPr/>
            <p:nvPr/>
          </p:nvSpPr>
          <p:spPr>
            <a:xfrm>
              <a:off x="11115675" y="5162550"/>
              <a:ext cx="190500" cy="190500"/>
            </a:xfrm>
            <a:prstGeom prst="roundRect">
              <a:avLst>
                <a:gd name="adj" fmla="val 25000"/>
              </a:avLst>
            </a:prstGeom>
            <a:solidFill>
              <a:srgbClr val="C12507"/>
            </a:solidFill>
            <a:ln>
              <a:noFill/>
            </a:ln>
          </p:spPr>
        </p:sp>
        <p:sp>
          <p:nvSpPr>
            <p:cNvPr id="287" name="Freeform 287"/>
            <p:cNvSpPr/>
            <p:nvPr/>
          </p:nvSpPr>
          <p:spPr>
            <a:xfrm>
              <a:off x="11155229" y="5209044"/>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FFFFFF"/>
              </a:solidFill>
            </a:ln>
          </p:spPr>
        </p:sp>
      </p:gr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se-plate"/>
          <p:cNvSpPr/>
          <p:nvPr/>
        </p:nvSpPr>
        <p:spPr>
          <a:xfrm>
            <a:off x="666750" y="6076950"/>
            <a:ext cx="10858500" cy="419100"/>
          </a:xfrm>
          <a:prstGeom prst="ellipse">
            <a:avLst/>
          </a:prstGeom>
          <a:solidFill>
            <a:srgbClr val="EEF1FB"/>
          </a:solidFill>
          <a:ln>
            <a:noFill/>
          </a:ln>
        </p:spPr>
      </p:sp>
      <p:sp>
        <p:nvSpPr>
          <p:cNvPr id="3" name="Line 3"/>
          <p:cNvSpPr/>
          <p:nvPr/>
        </p:nvSpPr>
        <p:spPr>
          <a:xfrm flipH="1">
            <a:off x="3829050" y="2781300"/>
            <a:ext cx="152400" cy="1600200"/>
          </a:xfrm>
          <a:prstGeom prst="line">
            <a:avLst/>
          </a:prstGeom>
          <a:noFill/>
          <a:ln w="23812">
            <a:solidFill>
              <a:srgbClr val="C46D5B"/>
            </a:solidFill>
            <a:headEnd type="triangle" w="lg" len="lg"/>
            <a:tailEnd type="triangle" w="lg" len="lg"/>
          </a:ln>
        </p:spPr>
      </p:sp>
      <p:sp>
        <p:nvSpPr>
          <p:cNvPr id="4" name="Line 4"/>
          <p:cNvSpPr/>
          <p:nvPr/>
        </p:nvSpPr>
        <p:spPr>
          <a:xfrm>
            <a:off x="8210550" y="2781300"/>
            <a:ext cx="152400" cy="1600200"/>
          </a:xfrm>
          <a:prstGeom prst="line">
            <a:avLst/>
          </a:prstGeom>
          <a:noFill/>
          <a:ln w="23812">
            <a:solidFill>
              <a:srgbClr val="C46D5B"/>
            </a:solidFill>
            <a:headEnd type="triangle" w="lg" len="lg"/>
            <a:tailEnd type="triangle" w="lg" len="lg"/>
          </a:ln>
        </p:spPr>
      </p:sp>
      <p:grpSp>
        <p:nvGrpSpPr>
          <p:cNvPr id="9" name="page-header"/>
          <p:cNvGrpSpPr/>
          <p:nvPr/>
        </p:nvGrpSpPr>
        <p:grpSpPr>
          <a:xfrm>
            <a:off x="0" y="0"/>
            <a:ext cx="5905500" cy="542925"/>
            <a:chOff x="0" y="0"/>
            <a:chExt cx="5905500" cy="542925"/>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6" name="TextBox 6"/>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58</a:t>
              </a:r>
            </a:p>
          </p:txBody>
        </p:sp>
        <p:sp>
          <p:nvSpPr>
            <p:cNvPr id="7" name="TextBox 7"/>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信息安全云脑架构​</a:t>
              </a:r>
            </a:p>
          </p:txBody>
        </p:sp>
        <p:sp>
          <p:nvSpPr>
            <p:cNvPr id="8" name="Line 8"/>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24" name="scenes-band"/>
          <p:cNvGrpSpPr/>
          <p:nvPr/>
        </p:nvGrpSpPr>
        <p:grpSpPr>
          <a:xfrm>
            <a:off x="571500" y="858202"/>
            <a:ext cx="11049000" cy="761048"/>
            <a:chOff x="571500" y="858202"/>
            <a:chExt cx="11049000" cy="761048"/>
          </a:xfrm>
        </p:grpSpPr>
        <p:sp>
          <p:nvSpPr>
            <p:cNvPr id="10" name="TextBox 10"/>
            <p:cNvSpPr txBox="1"/>
            <p:nvPr/>
          </p:nvSpPr>
          <p:spPr>
            <a:xfrm>
              <a:off x="5807964" y="858202"/>
              <a:ext cx="576072" cy="205359"/>
            </a:xfrm>
            <a:prstGeom prst="rect">
              <a:avLst/>
            </a:prstGeom>
            <a:noFill/>
            <a:ln>
              <a:noFill/>
            </a:ln>
          </p:spPr>
          <p:txBody>
            <a:bodyPr wrap="none" lIns="0" tIns="0" rIns="0" bIns="0" anchor="t" anchorCtr="0">
              <a:spAutoFit/>
            </a:bodyPr>
            <a:lstStyle/>
            <a:p>
              <a:pPr algn="ctr"/>
              <a:r>
                <a:rPr lang="zh-CN" sz="1050" dirty="0">
                  <a:solidFill>
                    <a:srgbClr val="543E3A"/>
                  </a:solidFill>
                  <a:latin typeface="+mn-lt"/>
                  <a:ea typeface="+mn-ea"/>
                  <a:cs typeface="+mn-cs"/>
                </a:rPr>
                <a:t>应用场景</a:t>
              </a:r>
            </a:p>
          </p:txBody>
        </p:sp>
        <p:sp>
          <p:nvSpPr>
            <p:cNvPr id="11" name="Freeform 11"/>
            <p:cNvSpPr/>
            <p:nvPr/>
          </p:nvSpPr>
          <p:spPr>
            <a:xfrm>
              <a:off x="571500" y="1066800"/>
              <a:ext cx="11049000" cy="552450"/>
            </a:xfrm>
            <a:prstGeom prst="trapezoid">
              <a:avLst>
                <a:gd name="adj" fmla="val 8000"/>
              </a:avLst>
            </a:prstGeom>
            <a:solidFill>
              <a:srgbClr val="FDEDE8"/>
            </a:solidFill>
            <a:ln>
              <a:noFill/>
            </a:ln>
          </p:spPr>
        </p:sp>
        <p:sp>
          <p:nvSpPr>
            <p:cNvPr id="12" name="Rectangle 12"/>
            <p:cNvSpPr/>
            <p:nvPr/>
          </p:nvSpPr>
          <p:spPr>
            <a:xfrm>
              <a:off x="1095375" y="1171575"/>
              <a:ext cx="1428750" cy="342900"/>
            </a:xfrm>
            <a:prstGeom prst="roundRect">
              <a:avLst>
                <a:gd name="adj" fmla="val 22222"/>
              </a:avLst>
            </a:prstGeom>
            <a:gradFill>
              <a:gsLst>
                <a:gs pos="0">
                  <a:srgbClr val="E8634C"/>
                </a:gs>
                <a:gs pos="100000">
                  <a:srgbClr val="F0725C"/>
                </a:gs>
              </a:gsLst>
              <a:lin ang="0" scaled="1"/>
            </a:gradFill>
            <a:ln>
              <a:noFill/>
            </a:ln>
          </p:spPr>
        </p:sp>
        <p:sp>
          <p:nvSpPr>
            <p:cNvPr id="13" name="TextBox 13"/>
            <p:cNvSpPr txBox="1"/>
            <p:nvPr/>
          </p:nvSpPr>
          <p:spPr>
            <a:xfrm>
              <a:off x="1351712" y="127873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算法模型安全</a:t>
              </a:r>
            </a:p>
          </p:txBody>
        </p:sp>
        <p:sp>
          <p:nvSpPr>
            <p:cNvPr id="14" name="Rectangle 14"/>
            <p:cNvSpPr/>
            <p:nvPr/>
          </p:nvSpPr>
          <p:spPr>
            <a:xfrm>
              <a:off x="2809875" y="1171575"/>
              <a:ext cx="1428750" cy="342900"/>
            </a:xfrm>
            <a:prstGeom prst="roundRect">
              <a:avLst>
                <a:gd name="adj" fmla="val 22222"/>
              </a:avLst>
            </a:prstGeom>
            <a:gradFill>
              <a:gsLst>
                <a:gs pos="0">
                  <a:srgbClr val="E8634C"/>
                </a:gs>
                <a:gs pos="100000">
                  <a:srgbClr val="F0725C"/>
                </a:gs>
              </a:gsLst>
              <a:lin ang="0" scaled="1"/>
            </a:gradFill>
            <a:ln>
              <a:noFill/>
            </a:ln>
          </p:spPr>
        </p:sp>
        <p:sp>
          <p:nvSpPr>
            <p:cNvPr id="15" name="TextBox 15"/>
            <p:cNvSpPr txBox="1"/>
            <p:nvPr/>
          </p:nvSpPr>
          <p:spPr>
            <a:xfrm>
              <a:off x="3066212" y="127873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人工智能运营</a:t>
              </a:r>
            </a:p>
          </p:txBody>
        </p:sp>
        <p:sp>
          <p:nvSpPr>
            <p:cNvPr id="16" name="Rectangle 16"/>
            <p:cNvSpPr/>
            <p:nvPr/>
          </p:nvSpPr>
          <p:spPr>
            <a:xfrm>
              <a:off x="4524375" y="1171575"/>
              <a:ext cx="1428750" cy="342900"/>
            </a:xfrm>
            <a:prstGeom prst="roundRect">
              <a:avLst>
                <a:gd name="adj" fmla="val 22222"/>
              </a:avLst>
            </a:prstGeom>
            <a:gradFill>
              <a:gsLst>
                <a:gs pos="0">
                  <a:srgbClr val="E8634C"/>
                </a:gs>
                <a:gs pos="100000">
                  <a:srgbClr val="F0725C"/>
                </a:gs>
              </a:gsLst>
              <a:lin ang="0" scaled="1"/>
            </a:gradFill>
            <a:ln>
              <a:noFill/>
            </a:ln>
          </p:spPr>
        </p:sp>
        <p:sp>
          <p:nvSpPr>
            <p:cNvPr id="17" name="TextBox 17"/>
            <p:cNvSpPr txBox="1"/>
            <p:nvPr/>
          </p:nvSpPr>
          <p:spPr>
            <a:xfrm>
              <a:off x="4780712" y="127873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安全风险管理</a:t>
              </a:r>
            </a:p>
          </p:txBody>
        </p:sp>
        <p:sp>
          <p:nvSpPr>
            <p:cNvPr id="18" name="Rectangle 18"/>
            <p:cNvSpPr/>
            <p:nvPr/>
          </p:nvSpPr>
          <p:spPr>
            <a:xfrm>
              <a:off x="6238875" y="1171575"/>
              <a:ext cx="1428750" cy="342900"/>
            </a:xfrm>
            <a:prstGeom prst="roundRect">
              <a:avLst>
                <a:gd name="adj" fmla="val 22222"/>
              </a:avLst>
            </a:prstGeom>
            <a:gradFill>
              <a:gsLst>
                <a:gs pos="0">
                  <a:srgbClr val="E8634C"/>
                </a:gs>
                <a:gs pos="100000">
                  <a:srgbClr val="F0725C"/>
                </a:gs>
              </a:gsLst>
              <a:lin ang="0" scaled="1"/>
            </a:gradFill>
            <a:ln>
              <a:noFill/>
            </a:ln>
          </p:spPr>
        </p:sp>
        <p:sp>
          <p:nvSpPr>
            <p:cNvPr id="19" name="TextBox 19"/>
            <p:cNvSpPr txBox="1"/>
            <p:nvPr/>
          </p:nvSpPr>
          <p:spPr>
            <a:xfrm>
              <a:off x="6570599" y="127873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供应链安全</a:t>
              </a:r>
            </a:p>
          </p:txBody>
        </p:sp>
        <p:sp>
          <p:nvSpPr>
            <p:cNvPr id="20" name="Rectangle 20"/>
            <p:cNvSpPr/>
            <p:nvPr/>
          </p:nvSpPr>
          <p:spPr>
            <a:xfrm>
              <a:off x="7953375" y="1171575"/>
              <a:ext cx="1428750" cy="342900"/>
            </a:xfrm>
            <a:prstGeom prst="roundRect">
              <a:avLst>
                <a:gd name="adj" fmla="val 22222"/>
              </a:avLst>
            </a:prstGeom>
            <a:gradFill>
              <a:gsLst>
                <a:gs pos="0">
                  <a:srgbClr val="E8634C"/>
                </a:gs>
                <a:gs pos="100000">
                  <a:srgbClr val="F0725C"/>
                </a:gs>
              </a:gsLst>
              <a:lin ang="0" scaled="1"/>
            </a:gradFill>
            <a:ln>
              <a:noFill/>
            </a:ln>
          </p:spPr>
        </p:sp>
        <p:sp>
          <p:nvSpPr>
            <p:cNvPr id="21" name="TextBox 21"/>
            <p:cNvSpPr txBox="1"/>
            <p:nvPr/>
          </p:nvSpPr>
          <p:spPr>
            <a:xfrm>
              <a:off x="8209712" y="127873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系统安全测评</a:t>
              </a:r>
            </a:p>
          </p:txBody>
        </p:sp>
        <p:sp>
          <p:nvSpPr>
            <p:cNvPr id="22" name="Rectangle 22"/>
            <p:cNvSpPr/>
            <p:nvPr/>
          </p:nvSpPr>
          <p:spPr>
            <a:xfrm>
              <a:off x="9667875" y="1171575"/>
              <a:ext cx="1428750" cy="342900"/>
            </a:xfrm>
            <a:prstGeom prst="roundRect">
              <a:avLst>
                <a:gd name="adj" fmla="val 22222"/>
              </a:avLst>
            </a:prstGeom>
            <a:gradFill>
              <a:gsLst>
                <a:gs pos="0">
                  <a:srgbClr val="E8634C"/>
                </a:gs>
                <a:gs pos="100000">
                  <a:srgbClr val="F0725C"/>
                </a:gs>
              </a:gsLst>
              <a:lin ang="0" scaled="1"/>
            </a:gradFill>
            <a:ln>
              <a:noFill/>
            </a:ln>
          </p:spPr>
        </p:sp>
        <p:sp>
          <p:nvSpPr>
            <p:cNvPr id="23" name="TextBox 23"/>
            <p:cNvSpPr txBox="1"/>
            <p:nvPr/>
          </p:nvSpPr>
          <p:spPr>
            <a:xfrm>
              <a:off x="10074986" y="127873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应用安全</a:t>
              </a:r>
            </a:p>
          </p:txBody>
        </p:sp>
      </p:grpSp>
      <p:sp>
        <p:nvSpPr>
          <p:cNvPr id="25" name="Freeform 25"/>
          <p:cNvSpPr/>
          <p:nvPr/>
        </p:nvSpPr>
        <p:spPr>
          <a:xfrm>
            <a:off x="1676400" y="1866900"/>
            <a:ext cx="285750" cy="400050"/>
          </a:xfrm>
          <a:prstGeom prst="downArrow">
            <a:avLst/>
          </a:prstGeom>
          <a:solidFill>
            <a:srgbClr val="F3B0A4"/>
          </a:solidFill>
          <a:ln>
            <a:noFill/>
          </a:ln>
        </p:spPr>
      </p:sp>
      <p:sp>
        <p:nvSpPr>
          <p:cNvPr id="26" name="Freeform 26"/>
          <p:cNvSpPr/>
          <p:nvPr/>
        </p:nvSpPr>
        <p:spPr>
          <a:xfrm>
            <a:off x="10229850" y="1866900"/>
            <a:ext cx="285750" cy="400050"/>
          </a:xfrm>
          <a:prstGeom prst="upArrow">
            <a:avLst/>
          </a:prstGeom>
          <a:solidFill>
            <a:srgbClr val="F3B0A4"/>
          </a:solidFill>
          <a:ln>
            <a:noFill/>
          </a:ln>
        </p:spPr>
      </p:sp>
      <p:grpSp>
        <p:nvGrpSpPr>
          <p:cNvPr id="37" name="terminals"/>
          <p:cNvGrpSpPr/>
          <p:nvPr/>
        </p:nvGrpSpPr>
        <p:grpSpPr>
          <a:xfrm>
            <a:off x="3952875" y="2066449"/>
            <a:ext cx="4286250" cy="591026"/>
            <a:chOff x="3952875" y="2066449"/>
            <a:chExt cx="4286250" cy="591026"/>
          </a:xfrm>
        </p:grpSpPr>
        <p:sp>
          <p:nvSpPr>
            <p:cNvPr id="27" name="TextBox 27"/>
            <p:cNvSpPr txBox="1"/>
            <p:nvPr/>
          </p:nvSpPr>
          <p:spPr>
            <a:xfrm>
              <a:off x="5827192" y="2066449"/>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产品终端</a:t>
              </a:r>
            </a:p>
          </p:txBody>
        </p:sp>
        <p:sp>
          <p:nvSpPr>
            <p:cNvPr id="28" name="Rectangle 28"/>
            <p:cNvSpPr/>
            <p:nvPr/>
          </p:nvSpPr>
          <p:spPr>
            <a:xfrm>
              <a:off x="3952875" y="2266950"/>
              <a:ext cx="762000" cy="285750"/>
            </a:xfrm>
            <a:prstGeom prst="roundRect">
              <a:avLst>
                <a:gd name="adj" fmla="val 16667"/>
              </a:avLst>
            </a:prstGeom>
            <a:solidFill>
              <a:srgbClr val="C45F4A"/>
            </a:solidFill>
            <a:ln>
              <a:noFill/>
            </a:ln>
          </p:spPr>
        </p:sp>
        <p:sp>
          <p:nvSpPr>
            <p:cNvPr id="29" name="TextBox 29"/>
            <p:cNvSpPr txBox="1"/>
            <p:nvPr/>
          </p:nvSpPr>
          <p:spPr>
            <a:xfrm>
              <a:off x="4229207" y="2337435"/>
              <a:ext cx="209337"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AF</a:t>
              </a:r>
            </a:p>
          </p:txBody>
        </p:sp>
        <p:sp>
          <p:nvSpPr>
            <p:cNvPr id="30" name="Rectangle 30"/>
            <p:cNvSpPr/>
            <p:nvPr/>
          </p:nvSpPr>
          <p:spPr>
            <a:xfrm>
              <a:off x="5000625" y="2266950"/>
              <a:ext cx="762000" cy="285750"/>
            </a:xfrm>
            <a:prstGeom prst="roundRect">
              <a:avLst>
                <a:gd name="adj" fmla="val 16667"/>
              </a:avLst>
            </a:prstGeom>
            <a:solidFill>
              <a:srgbClr val="C45F4A"/>
            </a:solidFill>
            <a:ln>
              <a:noFill/>
            </a:ln>
          </p:spPr>
        </p:sp>
        <p:sp>
          <p:nvSpPr>
            <p:cNvPr id="31" name="TextBox 31"/>
            <p:cNvSpPr txBox="1"/>
            <p:nvPr/>
          </p:nvSpPr>
          <p:spPr>
            <a:xfrm>
              <a:off x="5276957" y="2337435"/>
              <a:ext cx="209337"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AC</a:t>
              </a:r>
            </a:p>
          </p:txBody>
        </p:sp>
        <p:sp>
          <p:nvSpPr>
            <p:cNvPr id="32" name="Rectangle 32"/>
            <p:cNvSpPr/>
            <p:nvPr/>
          </p:nvSpPr>
          <p:spPr>
            <a:xfrm>
              <a:off x="6048375" y="2266950"/>
              <a:ext cx="762000" cy="285750"/>
            </a:xfrm>
            <a:prstGeom prst="roundRect">
              <a:avLst>
                <a:gd name="adj" fmla="val 16667"/>
              </a:avLst>
            </a:prstGeom>
            <a:solidFill>
              <a:srgbClr val="C45F4A"/>
            </a:solidFill>
            <a:ln>
              <a:noFill/>
            </a:ln>
          </p:spPr>
        </p:sp>
        <p:sp>
          <p:nvSpPr>
            <p:cNvPr id="33" name="TextBox 33"/>
            <p:cNvSpPr txBox="1"/>
            <p:nvPr/>
          </p:nvSpPr>
          <p:spPr>
            <a:xfrm>
              <a:off x="6275421" y="2337435"/>
              <a:ext cx="307909"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EDR</a:t>
              </a:r>
            </a:p>
          </p:txBody>
        </p:sp>
        <p:sp>
          <p:nvSpPr>
            <p:cNvPr id="34" name="Rectangle 34"/>
            <p:cNvSpPr/>
            <p:nvPr/>
          </p:nvSpPr>
          <p:spPr>
            <a:xfrm>
              <a:off x="7096125" y="2266950"/>
              <a:ext cx="762000" cy="285750"/>
            </a:xfrm>
            <a:prstGeom prst="roundRect">
              <a:avLst>
                <a:gd name="adj" fmla="val 16667"/>
              </a:avLst>
            </a:prstGeom>
            <a:solidFill>
              <a:srgbClr val="C45F4A"/>
            </a:solidFill>
            <a:ln>
              <a:noFill/>
            </a:ln>
          </p:spPr>
        </p:sp>
        <p:sp>
          <p:nvSpPr>
            <p:cNvPr id="35" name="TextBox 35"/>
            <p:cNvSpPr txBox="1"/>
            <p:nvPr/>
          </p:nvSpPr>
          <p:spPr>
            <a:xfrm>
              <a:off x="7345573" y="2337435"/>
              <a:ext cx="263103"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SIP</a:t>
              </a:r>
            </a:p>
          </p:txBody>
        </p:sp>
        <p:sp>
          <p:nvSpPr>
            <p:cNvPr id="36" name="Line 36"/>
            <p:cNvSpPr/>
            <p:nvPr/>
          </p:nvSpPr>
          <p:spPr>
            <a:xfrm>
              <a:off x="3952875" y="2647950"/>
              <a:ext cx="4286250" cy="9525"/>
            </a:xfrm>
            <a:custGeom>
              <a:avLst/>
              <a:gdLst/>
              <a:ahLst/>
              <a:cxnLst/>
              <a:rect l="l" t="t" r="r" b="b"/>
              <a:pathLst>
                <a:path w="4286250" h="9525">
                  <a:moveTo>
                    <a:pt x="0" y="0"/>
                  </a:moveTo>
                  <a:lnTo>
                    <a:pt x="4286250" y="0"/>
                  </a:lnTo>
                </a:path>
              </a:pathLst>
            </a:custGeom>
            <a:noFill/>
            <a:ln w="28575">
              <a:solidFill>
                <a:srgbClr val="E8A79A"/>
              </a:solidFill>
            </a:ln>
          </p:spPr>
        </p:sp>
      </p:grpSp>
      <p:grpSp>
        <p:nvGrpSpPr>
          <p:cNvPr id="50" name="platform-core"/>
          <p:cNvGrpSpPr/>
          <p:nvPr/>
        </p:nvGrpSpPr>
        <p:grpSpPr>
          <a:xfrm>
            <a:off x="5179695" y="3038475"/>
            <a:ext cx="1832610" cy="1476375"/>
            <a:chOff x="5179695" y="3038475"/>
            <a:chExt cx="1832610" cy="1476375"/>
          </a:xfrm>
        </p:grpSpPr>
        <p:sp>
          <p:nvSpPr>
            <p:cNvPr id="38" name="TextBox 38"/>
            <p:cNvSpPr txBox="1"/>
            <p:nvPr/>
          </p:nvSpPr>
          <p:spPr>
            <a:xfrm>
              <a:off x="5179695" y="3038475"/>
              <a:ext cx="1832610" cy="293370"/>
            </a:xfrm>
            <a:prstGeom prst="rect">
              <a:avLst/>
            </a:prstGeom>
            <a:noFill/>
            <a:ln>
              <a:noFill/>
            </a:ln>
          </p:spPr>
          <p:txBody>
            <a:bodyPr wrap="none" lIns="0" tIns="0" rIns="0" bIns="0" anchor="t" anchorCtr="0">
              <a:spAutoFit/>
            </a:bodyPr>
            <a:lstStyle/>
            <a:p>
              <a:pPr algn="ctr"/>
              <a:r>
                <a:rPr lang="zh-CN" sz="1500" b="1" dirty="0">
                  <a:solidFill>
                    <a:srgbClr val="E2624C"/>
                  </a:solidFill>
                  <a:latin typeface="+mn-lt"/>
                  <a:ea typeface="+mn-ea"/>
                  <a:cs typeface="+mn-cs"/>
                </a:rPr>
                <a:t>信息安全云分析平台</a:t>
              </a:r>
            </a:p>
          </p:txBody>
        </p:sp>
        <p:sp>
          <p:nvSpPr>
            <p:cNvPr id="39" name="Ellipse 39"/>
            <p:cNvSpPr/>
            <p:nvPr/>
          </p:nvSpPr>
          <p:spPr>
            <a:xfrm>
              <a:off x="5562600" y="3448050"/>
              <a:ext cx="1066800" cy="1066800"/>
            </a:xfrm>
            <a:prstGeom prst="ellipse">
              <a:avLst/>
            </a:prstGeom>
            <a:gradFill>
              <a:gsLst>
                <a:gs pos="0">
                  <a:srgbClr val="F07E6A"/>
                </a:gs>
                <a:gs pos="100000">
                  <a:srgbClr val="DD5740"/>
                </a:gs>
              </a:gsLst>
              <a:path path="circle">
                <a:fillToRect l="40000" t="35000" r="60000" b="65000"/>
              </a:path>
            </a:gradFill>
            <a:ln>
              <a:noFill/>
            </a:ln>
          </p:spPr>
        </p:sp>
        <p:grpSp>
          <p:nvGrpSpPr>
            <p:cNvPr id="49" name="Group 49"/>
            <p:cNvGrpSpPr/>
            <p:nvPr/>
          </p:nvGrpSpPr>
          <p:grpSpPr>
            <a:xfrm>
              <a:off x="5918200" y="3727450"/>
              <a:ext cx="355600" cy="482600"/>
              <a:chOff x="5918200" y="3727450"/>
              <a:chExt cx="355600" cy="482600"/>
            </a:xfrm>
          </p:grpSpPr>
          <p:sp>
            <p:nvSpPr>
              <p:cNvPr id="40" name="Freeform 40"/>
              <p:cNvSpPr/>
              <p:nvPr/>
            </p:nvSpPr>
            <p:spPr>
              <a:xfrm>
                <a:off x="5943600" y="3778250"/>
                <a:ext cx="304800" cy="203200"/>
              </a:xfrm>
              <a:custGeom>
                <a:avLst/>
                <a:gdLst/>
                <a:ahLst/>
                <a:cxnLst/>
                <a:rect l="l" t="t" r="r" b="b"/>
                <a:pathLst>
                  <a:path w="304800" h="203200">
                    <a:moveTo>
                      <a:pt x="0" y="50800"/>
                    </a:moveTo>
                    <a:cubicBezTo>
                      <a:pt x="0" y="22744"/>
                      <a:pt x="22744" y="0"/>
                      <a:pt x="50800" y="0"/>
                    </a:cubicBezTo>
                    <a:lnTo>
                      <a:pt x="254000" y="0"/>
                    </a:lnTo>
                    <a:cubicBezTo>
                      <a:pt x="282056" y="0"/>
                      <a:pt x="304800" y="22744"/>
                      <a:pt x="304800" y="50800"/>
                    </a:cubicBezTo>
                    <a:lnTo>
                      <a:pt x="304800" y="152400"/>
                    </a:lnTo>
                    <a:cubicBezTo>
                      <a:pt x="304800" y="180456"/>
                      <a:pt x="282056" y="203200"/>
                      <a:pt x="254000" y="203200"/>
                    </a:cubicBezTo>
                    <a:lnTo>
                      <a:pt x="50800" y="203200"/>
                    </a:lnTo>
                    <a:cubicBezTo>
                      <a:pt x="22744" y="203200"/>
                      <a:pt x="0" y="180456"/>
                      <a:pt x="0" y="152400"/>
                    </a:cubicBezTo>
                    <a:lnTo>
                      <a:pt x="0" y="50800"/>
                    </a:lnTo>
                  </a:path>
                </a:pathLst>
              </a:custGeom>
              <a:noFill/>
              <a:ln w="50800">
                <a:solidFill>
                  <a:srgbClr val="FFFFFF"/>
                </a:solidFill>
              </a:ln>
            </p:spPr>
          </p:sp>
          <p:sp>
            <p:nvSpPr>
              <p:cNvPr id="41" name="Freeform 41"/>
              <p:cNvSpPr/>
              <p:nvPr/>
            </p:nvSpPr>
            <p:spPr>
              <a:xfrm>
                <a:off x="6096000" y="3727450"/>
                <a:ext cx="9525" cy="50800"/>
              </a:xfrm>
              <a:custGeom>
                <a:avLst/>
                <a:gdLst/>
                <a:ahLst/>
                <a:cxnLst/>
                <a:rect l="l" t="t" r="r" b="b"/>
                <a:pathLst>
                  <a:path w="9525" h="50800">
                    <a:moveTo>
                      <a:pt x="0" y="0"/>
                    </a:moveTo>
                    <a:lnTo>
                      <a:pt x="0" y="50800"/>
                    </a:lnTo>
                  </a:path>
                </a:pathLst>
              </a:custGeom>
              <a:noFill/>
              <a:ln w="50800">
                <a:solidFill>
                  <a:srgbClr val="FFFFFF"/>
                </a:solidFill>
              </a:ln>
            </p:spPr>
          </p:sp>
          <p:sp>
            <p:nvSpPr>
              <p:cNvPr id="42" name="Freeform 42"/>
              <p:cNvSpPr/>
              <p:nvPr/>
            </p:nvSpPr>
            <p:spPr>
              <a:xfrm>
                <a:off x="6019800" y="3981450"/>
                <a:ext cx="9525" cy="228600"/>
              </a:xfrm>
              <a:custGeom>
                <a:avLst/>
                <a:gdLst/>
                <a:ahLst/>
                <a:cxnLst/>
                <a:rect l="l" t="t" r="r" b="b"/>
                <a:pathLst>
                  <a:path w="9525" h="228600">
                    <a:moveTo>
                      <a:pt x="0" y="0"/>
                    </a:moveTo>
                    <a:lnTo>
                      <a:pt x="0" y="228600"/>
                    </a:lnTo>
                  </a:path>
                </a:pathLst>
              </a:custGeom>
              <a:noFill/>
              <a:ln w="50800">
                <a:solidFill>
                  <a:srgbClr val="FFFFFF"/>
                </a:solidFill>
              </a:ln>
            </p:spPr>
          </p:sp>
          <p:sp>
            <p:nvSpPr>
              <p:cNvPr id="43" name="Freeform 43"/>
              <p:cNvSpPr/>
              <p:nvPr/>
            </p:nvSpPr>
            <p:spPr>
              <a:xfrm>
                <a:off x="6172200" y="3981450"/>
                <a:ext cx="9525" cy="228600"/>
              </a:xfrm>
              <a:custGeom>
                <a:avLst/>
                <a:gdLst/>
                <a:ahLst/>
                <a:cxnLst/>
                <a:rect l="l" t="t" r="r" b="b"/>
                <a:pathLst>
                  <a:path w="9525" h="228600">
                    <a:moveTo>
                      <a:pt x="0" y="0"/>
                    </a:moveTo>
                    <a:lnTo>
                      <a:pt x="0" y="228600"/>
                    </a:lnTo>
                  </a:path>
                </a:pathLst>
              </a:custGeom>
              <a:noFill/>
              <a:ln w="50800">
                <a:solidFill>
                  <a:srgbClr val="FFFFFF"/>
                </a:solidFill>
              </a:ln>
            </p:spPr>
          </p:sp>
          <p:sp>
            <p:nvSpPr>
              <p:cNvPr id="44" name="Freeform 44"/>
              <p:cNvSpPr/>
              <p:nvPr/>
            </p:nvSpPr>
            <p:spPr>
              <a:xfrm>
                <a:off x="5918200" y="4032250"/>
                <a:ext cx="101600" cy="50800"/>
              </a:xfrm>
              <a:custGeom>
                <a:avLst/>
                <a:gdLst/>
                <a:ahLst/>
                <a:cxnLst/>
                <a:rect l="l" t="t" r="r" b="b"/>
                <a:pathLst>
                  <a:path w="101600" h="50800">
                    <a:moveTo>
                      <a:pt x="0" y="50800"/>
                    </a:moveTo>
                    <a:lnTo>
                      <a:pt x="101600" y="0"/>
                    </a:lnTo>
                  </a:path>
                </a:pathLst>
              </a:custGeom>
              <a:noFill/>
              <a:ln w="50800">
                <a:solidFill>
                  <a:srgbClr val="FFFFFF"/>
                </a:solidFill>
              </a:ln>
            </p:spPr>
          </p:sp>
          <p:sp>
            <p:nvSpPr>
              <p:cNvPr id="45" name="Freeform 45"/>
              <p:cNvSpPr/>
              <p:nvPr/>
            </p:nvSpPr>
            <p:spPr>
              <a:xfrm>
                <a:off x="6172200" y="4032250"/>
                <a:ext cx="101600" cy="50800"/>
              </a:xfrm>
              <a:custGeom>
                <a:avLst/>
                <a:gdLst/>
                <a:ahLst/>
                <a:cxnLst/>
                <a:rect l="l" t="t" r="r" b="b"/>
                <a:pathLst>
                  <a:path w="101600" h="50800">
                    <a:moveTo>
                      <a:pt x="0" y="0"/>
                    </a:moveTo>
                    <a:lnTo>
                      <a:pt x="101600" y="50800"/>
                    </a:lnTo>
                  </a:path>
                </a:pathLst>
              </a:custGeom>
              <a:noFill/>
              <a:ln w="50800">
                <a:solidFill>
                  <a:srgbClr val="FFFFFF"/>
                </a:solidFill>
              </a:ln>
            </p:spPr>
          </p:sp>
          <p:sp>
            <p:nvSpPr>
              <p:cNvPr id="46" name="Freeform 46"/>
              <p:cNvSpPr/>
              <p:nvPr/>
            </p:nvSpPr>
            <p:spPr>
              <a:xfrm>
                <a:off x="6019800" y="4133851"/>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47" name="Freeform 47"/>
              <p:cNvSpPr/>
              <p:nvPr/>
            </p:nvSpPr>
            <p:spPr>
              <a:xfrm>
                <a:off x="6045200" y="3879850"/>
                <a:ext cx="9525" cy="9525"/>
              </a:xfrm>
              <a:custGeom>
                <a:avLst/>
                <a:gdLst/>
                <a:ahLst/>
                <a:cxnLst/>
                <a:rect l="l" t="t" r="r" b="b"/>
                <a:pathLst>
                  <a:path w="9525" h="9525">
                    <a:moveTo>
                      <a:pt x="0" y="0"/>
                    </a:moveTo>
                    <a:lnTo>
                      <a:pt x="0" y="254"/>
                    </a:lnTo>
                  </a:path>
                </a:pathLst>
              </a:custGeom>
              <a:noFill/>
              <a:ln w="50800">
                <a:solidFill>
                  <a:srgbClr val="FFFFFF"/>
                </a:solidFill>
              </a:ln>
            </p:spPr>
          </p:sp>
          <p:sp>
            <p:nvSpPr>
              <p:cNvPr id="48" name="Freeform 48"/>
              <p:cNvSpPr/>
              <p:nvPr/>
            </p:nvSpPr>
            <p:spPr>
              <a:xfrm>
                <a:off x="6146800" y="3879850"/>
                <a:ext cx="9525" cy="9525"/>
              </a:xfrm>
              <a:custGeom>
                <a:avLst/>
                <a:gdLst/>
                <a:ahLst/>
                <a:cxnLst/>
                <a:rect l="l" t="t" r="r" b="b"/>
                <a:pathLst>
                  <a:path w="9525" h="9525">
                    <a:moveTo>
                      <a:pt x="0" y="0"/>
                    </a:moveTo>
                    <a:lnTo>
                      <a:pt x="0" y="254"/>
                    </a:lnTo>
                  </a:path>
                </a:pathLst>
              </a:custGeom>
              <a:noFill/>
              <a:ln w="50800">
                <a:solidFill>
                  <a:srgbClr val="FFFFFF"/>
                </a:solidFill>
              </a:ln>
            </p:spPr>
          </p:sp>
        </p:grpSp>
      </p:grpSp>
      <p:grpSp>
        <p:nvGrpSpPr>
          <p:cNvPr id="58" name="left-panel-file"/>
          <p:cNvGrpSpPr/>
          <p:nvPr/>
        </p:nvGrpSpPr>
        <p:grpSpPr>
          <a:xfrm>
            <a:off x="199352" y="2209800"/>
            <a:ext cx="3039148" cy="647700"/>
            <a:chOff x="199352" y="2209800"/>
            <a:chExt cx="3039148" cy="647700"/>
          </a:xfrm>
        </p:grpSpPr>
        <p:sp>
          <p:nvSpPr>
            <p:cNvPr id="51" name="Rectangle 51"/>
            <p:cNvSpPr/>
            <p:nvPr/>
          </p:nvSpPr>
          <p:spPr>
            <a:xfrm>
              <a:off x="666750" y="2209800"/>
              <a:ext cx="2571750" cy="647700"/>
            </a:xfrm>
            <a:prstGeom prst="roundRect">
              <a:avLst>
                <a:gd name="adj" fmla="val 8824"/>
              </a:avLst>
            </a:prstGeom>
            <a:solidFill>
              <a:srgbClr val="EEF1FB"/>
            </a:solidFill>
            <a:ln>
              <a:noFill/>
            </a:ln>
          </p:spPr>
        </p:sp>
        <p:grpSp>
          <p:nvGrpSpPr>
            <p:cNvPr id="53" name="Group 53"/>
            <p:cNvGrpSpPr/>
            <p:nvPr/>
          </p:nvGrpSpPr>
          <p:grpSpPr>
            <a:xfrm rot="-5400000">
              <a:off x="237452" y="2441972"/>
              <a:ext cx="515696" cy="183356"/>
              <a:chOff x="199352" y="2480072"/>
              <a:chExt cx="515696" cy="183356"/>
            </a:xfrm>
          </p:grpSpPr>
          <p:sp>
            <p:nvSpPr>
              <p:cNvPr id="52" name="TextBox 52"/>
              <p:cNvSpPr txBox="1"/>
              <p:nvPr/>
            </p:nvSpPr>
            <p:spPr>
              <a:xfrm>
                <a:off x="199352" y="2480072"/>
                <a:ext cx="515696" cy="183356"/>
              </a:xfrm>
              <a:prstGeom prst="rect">
                <a:avLst/>
              </a:prstGeom>
              <a:noFill/>
              <a:ln>
                <a:noFill/>
              </a:ln>
            </p:spPr>
            <p:txBody>
              <a:bodyPr wrap="none" lIns="0" tIns="0" rIns="0" bIns="0" anchor="t" anchorCtr="0">
                <a:spAutoFit/>
              </a:bodyPr>
              <a:lstStyle/>
              <a:p>
                <a:pPr algn="ctr"/>
                <a:r>
                  <a:rPr lang="zh-CN" sz="940" b="1" dirty="0">
                    <a:solidFill>
                      <a:srgbClr val="E2624C"/>
                    </a:solidFill>
                    <a:latin typeface="+mn-lt"/>
                    <a:ea typeface="+mn-ea"/>
                    <a:cs typeface="+mn-cs"/>
                  </a:rPr>
                  <a:t>文件检测</a:t>
                </a:r>
              </a:p>
            </p:txBody>
          </p:sp>
        </p:grpSp>
        <p:sp>
          <p:nvSpPr>
            <p:cNvPr id="54" name="Rectangle 54"/>
            <p:cNvSpPr/>
            <p:nvPr/>
          </p:nvSpPr>
          <p:spPr>
            <a:xfrm>
              <a:off x="904875" y="2400300"/>
              <a:ext cx="904875" cy="266700"/>
            </a:xfrm>
            <a:prstGeom prst="roundRect">
              <a:avLst>
                <a:gd name="adj" fmla="val 14286"/>
              </a:avLst>
            </a:prstGeom>
            <a:solidFill>
              <a:srgbClr val="FFFFFF"/>
            </a:solidFill>
            <a:ln w="9525">
              <a:solidFill>
                <a:srgbClr val="D8DEF2"/>
              </a:solidFill>
            </a:ln>
          </p:spPr>
        </p:sp>
        <p:sp>
          <p:nvSpPr>
            <p:cNvPr id="55" name="TextBox 55"/>
            <p:cNvSpPr txBox="1"/>
            <p:nvPr/>
          </p:nvSpPr>
          <p:spPr>
            <a:xfrm>
              <a:off x="1200711" y="2480072"/>
              <a:ext cx="303677"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SAVE</a:t>
              </a:r>
            </a:p>
          </p:txBody>
        </p:sp>
        <p:sp>
          <p:nvSpPr>
            <p:cNvPr id="56" name="Rectangle 56"/>
            <p:cNvSpPr/>
            <p:nvPr/>
          </p:nvSpPr>
          <p:spPr>
            <a:xfrm>
              <a:off x="2000250" y="2400300"/>
              <a:ext cx="1000125" cy="266700"/>
            </a:xfrm>
            <a:prstGeom prst="roundRect">
              <a:avLst>
                <a:gd name="adj" fmla="val 14286"/>
              </a:avLst>
            </a:prstGeom>
            <a:solidFill>
              <a:srgbClr val="FFFFFF"/>
            </a:solidFill>
            <a:ln w="9525">
              <a:solidFill>
                <a:srgbClr val="D8DEF2"/>
              </a:solidFill>
            </a:ln>
          </p:spPr>
        </p:sp>
        <p:sp>
          <p:nvSpPr>
            <p:cNvPr id="57" name="TextBox 57"/>
            <p:cNvSpPr txBox="1"/>
            <p:nvPr/>
          </p:nvSpPr>
          <p:spPr>
            <a:xfrm>
              <a:off x="2153479" y="2480072"/>
              <a:ext cx="684141"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Zsand沙箱​</a:t>
              </a:r>
            </a:p>
          </p:txBody>
        </p:sp>
      </p:grpSp>
      <p:grpSp>
        <p:nvGrpSpPr>
          <p:cNvPr id="72" name="left-panel-engine"/>
          <p:cNvGrpSpPr/>
          <p:nvPr/>
        </p:nvGrpSpPr>
        <p:grpSpPr>
          <a:xfrm>
            <a:off x="243573" y="3009900"/>
            <a:ext cx="3090177" cy="1428750"/>
            <a:chOff x="243573" y="3009900"/>
            <a:chExt cx="3090177" cy="1428750"/>
          </a:xfrm>
        </p:grpSpPr>
        <p:sp>
          <p:nvSpPr>
            <p:cNvPr id="59" name="Rectangle 59"/>
            <p:cNvSpPr/>
            <p:nvPr/>
          </p:nvSpPr>
          <p:spPr>
            <a:xfrm>
              <a:off x="571500" y="3009900"/>
              <a:ext cx="2762250" cy="1428750"/>
            </a:xfrm>
            <a:prstGeom prst="roundRect">
              <a:avLst>
                <a:gd name="adj" fmla="val 4000"/>
              </a:avLst>
            </a:prstGeom>
            <a:solidFill>
              <a:srgbClr val="EEF1FB"/>
            </a:solidFill>
            <a:ln>
              <a:noFill/>
            </a:ln>
          </p:spPr>
        </p:sp>
        <p:grpSp>
          <p:nvGrpSpPr>
            <p:cNvPr id="61" name="Group 61"/>
            <p:cNvGrpSpPr/>
            <p:nvPr/>
          </p:nvGrpSpPr>
          <p:grpSpPr>
            <a:xfrm rot="-5400000">
              <a:off x="281674" y="3632598"/>
              <a:ext cx="389153" cy="183356"/>
              <a:chOff x="243573" y="3670697"/>
              <a:chExt cx="389153" cy="183356"/>
            </a:xfrm>
          </p:grpSpPr>
          <p:sp>
            <p:nvSpPr>
              <p:cNvPr id="60" name="TextBox 60"/>
              <p:cNvSpPr txBox="1"/>
              <p:nvPr/>
            </p:nvSpPr>
            <p:spPr>
              <a:xfrm>
                <a:off x="243573" y="3670697"/>
                <a:ext cx="389153" cy="183356"/>
              </a:xfrm>
              <a:prstGeom prst="rect">
                <a:avLst/>
              </a:prstGeom>
              <a:noFill/>
              <a:ln>
                <a:noFill/>
              </a:ln>
            </p:spPr>
            <p:txBody>
              <a:bodyPr wrap="none" lIns="0" tIns="0" rIns="0" bIns="0" anchor="t" anchorCtr="0">
                <a:spAutoFit/>
              </a:bodyPr>
              <a:lstStyle/>
              <a:p>
                <a:pPr algn="ctr"/>
                <a:r>
                  <a:rPr lang="zh-CN" sz="940" b="1" dirty="0">
                    <a:solidFill>
                      <a:srgbClr val="E2624C"/>
                    </a:solidFill>
                    <a:latin typeface="+mn-lt"/>
                    <a:ea typeface="+mn-ea"/>
                    <a:cs typeface="+mn-cs"/>
                  </a:rPr>
                  <a:t>引擎层</a:t>
                </a:r>
              </a:p>
            </p:txBody>
          </p:sp>
        </p:grpSp>
        <p:sp>
          <p:nvSpPr>
            <p:cNvPr id="62" name="Rectangle 62"/>
            <p:cNvSpPr/>
            <p:nvPr/>
          </p:nvSpPr>
          <p:spPr>
            <a:xfrm>
              <a:off x="857250" y="3162300"/>
              <a:ext cx="952500" cy="266700"/>
            </a:xfrm>
            <a:prstGeom prst="roundRect">
              <a:avLst>
                <a:gd name="adj" fmla="val 14286"/>
              </a:avLst>
            </a:prstGeom>
            <a:solidFill>
              <a:srgbClr val="FFFFFF"/>
            </a:solidFill>
            <a:ln w="9525">
              <a:solidFill>
                <a:srgbClr val="D8DEF2"/>
              </a:solidFill>
            </a:ln>
          </p:spPr>
        </p:sp>
        <p:sp>
          <p:nvSpPr>
            <p:cNvPr id="63" name="TextBox 63"/>
            <p:cNvSpPr txBox="1"/>
            <p:nvPr/>
          </p:nvSpPr>
          <p:spPr>
            <a:xfrm>
              <a:off x="1075652" y="3242072"/>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僵尸网络</a:t>
              </a:r>
            </a:p>
          </p:txBody>
        </p:sp>
        <p:sp>
          <p:nvSpPr>
            <p:cNvPr id="64" name="Rectangle 64"/>
            <p:cNvSpPr/>
            <p:nvPr/>
          </p:nvSpPr>
          <p:spPr>
            <a:xfrm>
              <a:off x="2000250" y="3162300"/>
              <a:ext cx="1047750" cy="266700"/>
            </a:xfrm>
            <a:prstGeom prst="roundRect">
              <a:avLst>
                <a:gd name="adj" fmla="val 14286"/>
              </a:avLst>
            </a:prstGeom>
            <a:solidFill>
              <a:srgbClr val="FFFFFF"/>
            </a:solidFill>
            <a:ln w="9525">
              <a:solidFill>
                <a:srgbClr val="D8DEF2"/>
              </a:solidFill>
            </a:ln>
          </p:spPr>
        </p:sp>
        <p:sp>
          <p:nvSpPr>
            <p:cNvPr id="65" name="TextBox 65"/>
            <p:cNvSpPr txBox="1"/>
            <p:nvPr/>
          </p:nvSpPr>
          <p:spPr>
            <a:xfrm>
              <a:off x="2247713" y="3242072"/>
              <a:ext cx="552823"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DGA分析​</a:t>
              </a:r>
            </a:p>
          </p:txBody>
        </p:sp>
        <p:sp>
          <p:nvSpPr>
            <p:cNvPr id="66" name="Rectangle 66"/>
            <p:cNvSpPr/>
            <p:nvPr/>
          </p:nvSpPr>
          <p:spPr>
            <a:xfrm>
              <a:off x="857250" y="3581400"/>
              <a:ext cx="952500" cy="266700"/>
            </a:xfrm>
            <a:prstGeom prst="roundRect">
              <a:avLst>
                <a:gd name="adj" fmla="val 14286"/>
              </a:avLst>
            </a:prstGeom>
            <a:solidFill>
              <a:srgbClr val="FFFFFF"/>
            </a:solidFill>
            <a:ln w="9525">
              <a:solidFill>
                <a:srgbClr val="D8DEF2"/>
              </a:solidFill>
            </a:ln>
          </p:spPr>
        </p:sp>
        <p:sp>
          <p:nvSpPr>
            <p:cNvPr id="67" name="TextBox 67"/>
            <p:cNvSpPr txBox="1"/>
            <p:nvPr/>
          </p:nvSpPr>
          <p:spPr>
            <a:xfrm>
              <a:off x="1075652" y="3661172"/>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恶意链接</a:t>
              </a:r>
            </a:p>
          </p:txBody>
        </p:sp>
        <p:sp>
          <p:nvSpPr>
            <p:cNvPr id="68" name="Rectangle 68"/>
            <p:cNvSpPr/>
            <p:nvPr/>
          </p:nvSpPr>
          <p:spPr>
            <a:xfrm>
              <a:off x="2000250" y="3581400"/>
              <a:ext cx="1047750" cy="266700"/>
            </a:xfrm>
            <a:prstGeom prst="roundRect">
              <a:avLst>
                <a:gd name="adj" fmla="val 14286"/>
              </a:avLst>
            </a:prstGeom>
            <a:solidFill>
              <a:srgbClr val="FFFFFF"/>
            </a:solidFill>
            <a:ln w="9525">
              <a:solidFill>
                <a:srgbClr val="D8DEF2"/>
              </a:solidFill>
            </a:ln>
          </p:spPr>
        </p:sp>
        <p:sp>
          <p:nvSpPr>
            <p:cNvPr id="69" name="TextBox 69"/>
            <p:cNvSpPr txBox="1"/>
            <p:nvPr/>
          </p:nvSpPr>
          <p:spPr>
            <a:xfrm>
              <a:off x="2266277" y="3661172"/>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关联分析</a:t>
              </a:r>
            </a:p>
          </p:txBody>
        </p:sp>
        <p:sp>
          <p:nvSpPr>
            <p:cNvPr id="70" name="Rectangle 70"/>
            <p:cNvSpPr/>
            <p:nvPr/>
          </p:nvSpPr>
          <p:spPr>
            <a:xfrm>
              <a:off x="1428750" y="4000500"/>
              <a:ext cx="952500" cy="266700"/>
            </a:xfrm>
            <a:prstGeom prst="roundRect">
              <a:avLst>
                <a:gd name="adj" fmla="val 14286"/>
              </a:avLst>
            </a:prstGeom>
            <a:solidFill>
              <a:srgbClr val="FFFFFF"/>
            </a:solidFill>
            <a:ln w="9525">
              <a:solidFill>
                <a:srgbClr val="D8DEF2"/>
              </a:solidFill>
            </a:ln>
          </p:spPr>
        </p:sp>
        <p:sp>
          <p:nvSpPr>
            <p:cNvPr id="71" name="TextBox 71"/>
            <p:cNvSpPr txBox="1"/>
            <p:nvPr/>
          </p:nvSpPr>
          <p:spPr>
            <a:xfrm>
              <a:off x="1710423" y="4080272"/>
              <a:ext cx="389153"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第三方</a:t>
              </a:r>
            </a:p>
          </p:txBody>
        </p:sp>
      </p:grpSp>
      <p:grpSp>
        <p:nvGrpSpPr>
          <p:cNvPr id="80" name="right-panel-rules"/>
          <p:cNvGrpSpPr/>
          <p:nvPr/>
        </p:nvGrpSpPr>
        <p:grpSpPr>
          <a:xfrm>
            <a:off x="8953500" y="2209800"/>
            <a:ext cx="3039148" cy="647700"/>
            <a:chOff x="8953500" y="2209800"/>
            <a:chExt cx="3039148" cy="647700"/>
          </a:xfrm>
        </p:grpSpPr>
        <p:sp>
          <p:nvSpPr>
            <p:cNvPr id="73" name="Rectangle 73"/>
            <p:cNvSpPr/>
            <p:nvPr/>
          </p:nvSpPr>
          <p:spPr>
            <a:xfrm>
              <a:off x="8953500" y="2209800"/>
              <a:ext cx="2571750" cy="647700"/>
            </a:xfrm>
            <a:prstGeom prst="roundRect">
              <a:avLst>
                <a:gd name="adj" fmla="val 8824"/>
              </a:avLst>
            </a:prstGeom>
            <a:solidFill>
              <a:srgbClr val="EEF1FB"/>
            </a:solidFill>
            <a:ln>
              <a:noFill/>
            </a:ln>
          </p:spPr>
        </p:sp>
        <p:grpSp>
          <p:nvGrpSpPr>
            <p:cNvPr id="75" name="Group 75"/>
            <p:cNvGrpSpPr/>
            <p:nvPr/>
          </p:nvGrpSpPr>
          <p:grpSpPr>
            <a:xfrm rot="5400000">
              <a:off x="11438852" y="2441972"/>
              <a:ext cx="515696" cy="183356"/>
              <a:chOff x="11476952" y="2480072"/>
              <a:chExt cx="515696" cy="183356"/>
            </a:xfrm>
          </p:grpSpPr>
          <p:sp>
            <p:nvSpPr>
              <p:cNvPr id="74" name="TextBox 74"/>
              <p:cNvSpPr txBox="1"/>
              <p:nvPr/>
            </p:nvSpPr>
            <p:spPr>
              <a:xfrm>
                <a:off x="11476952" y="2480072"/>
                <a:ext cx="515696" cy="183356"/>
              </a:xfrm>
              <a:prstGeom prst="rect">
                <a:avLst/>
              </a:prstGeom>
              <a:noFill/>
              <a:ln>
                <a:noFill/>
              </a:ln>
            </p:spPr>
            <p:txBody>
              <a:bodyPr wrap="none" lIns="0" tIns="0" rIns="0" bIns="0" anchor="t" anchorCtr="0">
                <a:spAutoFit/>
              </a:bodyPr>
              <a:lstStyle/>
              <a:p>
                <a:pPr algn="ctr"/>
                <a:r>
                  <a:rPr lang="zh-CN" sz="940" b="1" dirty="0">
                    <a:solidFill>
                      <a:srgbClr val="E2624C"/>
                    </a:solidFill>
                    <a:latin typeface="+mn-lt"/>
                    <a:ea typeface="+mn-ea"/>
                    <a:cs typeface="+mn-cs"/>
                  </a:rPr>
                  <a:t>规则信誉</a:t>
                </a:r>
              </a:p>
            </p:txBody>
          </p:sp>
        </p:grpSp>
        <p:sp>
          <p:nvSpPr>
            <p:cNvPr id="76" name="Rectangle 76"/>
            <p:cNvSpPr/>
            <p:nvPr/>
          </p:nvSpPr>
          <p:spPr>
            <a:xfrm>
              <a:off x="9163050" y="2400300"/>
              <a:ext cx="1000125" cy="266700"/>
            </a:xfrm>
            <a:prstGeom prst="roundRect">
              <a:avLst>
                <a:gd name="adj" fmla="val 14286"/>
              </a:avLst>
            </a:prstGeom>
            <a:solidFill>
              <a:srgbClr val="FFFFFF"/>
            </a:solidFill>
            <a:ln w="9525">
              <a:solidFill>
                <a:srgbClr val="D8DEF2"/>
              </a:solidFill>
            </a:ln>
          </p:spPr>
        </p:sp>
        <p:sp>
          <p:nvSpPr>
            <p:cNvPr id="77" name="TextBox 77"/>
            <p:cNvSpPr txBox="1"/>
            <p:nvPr/>
          </p:nvSpPr>
          <p:spPr>
            <a:xfrm>
              <a:off x="9400502" y="2480072"/>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域名信誉</a:t>
              </a:r>
            </a:p>
          </p:txBody>
        </p:sp>
        <p:sp>
          <p:nvSpPr>
            <p:cNvPr id="78" name="Rectangle 78"/>
            <p:cNvSpPr/>
            <p:nvPr/>
          </p:nvSpPr>
          <p:spPr>
            <a:xfrm>
              <a:off x="10334625" y="2400300"/>
              <a:ext cx="1000125" cy="266700"/>
            </a:xfrm>
            <a:prstGeom prst="roundRect">
              <a:avLst>
                <a:gd name="adj" fmla="val 14286"/>
              </a:avLst>
            </a:prstGeom>
            <a:solidFill>
              <a:srgbClr val="FFFFFF"/>
            </a:solidFill>
            <a:ln w="9525">
              <a:solidFill>
                <a:srgbClr val="D8DEF2"/>
              </a:solidFill>
            </a:ln>
          </p:spPr>
        </p:sp>
        <p:sp>
          <p:nvSpPr>
            <p:cNvPr id="79" name="TextBox 79"/>
            <p:cNvSpPr txBox="1"/>
            <p:nvPr/>
          </p:nvSpPr>
          <p:spPr>
            <a:xfrm>
              <a:off x="10572077" y="2480072"/>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文件信誉</a:t>
              </a:r>
            </a:p>
          </p:txBody>
        </p:sp>
      </p:grpSp>
      <p:grpSp>
        <p:nvGrpSpPr>
          <p:cNvPr id="94" name="right-panel-data"/>
          <p:cNvGrpSpPr/>
          <p:nvPr/>
        </p:nvGrpSpPr>
        <p:grpSpPr>
          <a:xfrm>
            <a:off x="8858250" y="3009900"/>
            <a:ext cx="3090176" cy="1428750"/>
            <a:chOff x="8858250" y="3009900"/>
            <a:chExt cx="3090176" cy="1428750"/>
          </a:xfrm>
        </p:grpSpPr>
        <p:sp>
          <p:nvSpPr>
            <p:cNvPr id="81" name="Rectangle 81"/>
            <p:cNvSpPr/>
            <p:nvPr/>
          </p:nvSpPr>
          <p:spPr>
            <a:xfrm>
              <a:off x="8858250" y="3009900"/>
              <a:ext cx="2762250" cy="1428750"/>
            </a:xfrm>
            <a:prstGeom prst="roundRect">
              <a:avLst>
                <a:gd name="adj" fmla="val 4000"/>
              </a:avLst>
            </a:prstGeom>
            <a:solidFill>
              <a:srgbClr val="EEF1FB"/>
            </a:solidFill>
            <a:ln>
              <a:noFill/>
            </a:ln>
          </p:spPr>
        </p:sp>
        <p:grpSp>
          <p:nvGrpSpPr>
            <p:cNvPr id="83" name="Group 83"/>
            <p:cNvGrpSpPr/>
            <p:nvPr/>
          </p:nvGrpSpPr>
          <p:grpSpPr>
            <a:xfrm rot="5400000">
              <a:off x="11521174" y="3632596"/>
              <a:ext cx="389153" cy="183356"/>
              <a:chOff x="11559273" y="3670697"/>
              <a:chExt cx="389153" cy="183356"/>
            </a:xfrm>
          </p:grpSpPr>
          <p:sp>
            <p:nvSpPr>
              <p:cNvPr id="82" name="TextBox 82"/>
              <p:cNvSpPr txBox="1"/>
              <p:nvPr/>
            </p:nvSpPr>
            <p:spPr>
              <a:xfrm>
                <a:off x="11559273" y="3670697"/>
                <a:ext cx="389153" cy="183356"/>
              </a:xfrm>
              <a:prstGeom prst="rect">
                <a:avLst/>
              </a:prstGeom>
              <a:noFill/>
              <a:ln>
                <a:noFill/>
              </a:ln>
            </p:spPr>
            <p:txBody>
              <a:bodyPr wrap="none" lIns="0" tIns="0" rIns="0" bIns="0" anchor="t" anchorCtr="0">
                <a:spAutoFit/>
              </a:bodyPr>
              <a:lstStyle/>
              <a:p>
                <a:pPr algn="ctr"/>
                <a:r>
                  <a:rPr lang="zh-CN" sz="940" b="1" dirty="0">
                    <a:solidFill>
                      <a:srgbClr val="E2624C"/>
                    </a:solidFill>
                    <a:latin typeface="+mn-lt"/>
                    <a:ea typeface="+mn-ea"/>
                    <a:cs typeface="+mn-cs"/>
                  </a:rPr>
                  <a:t>数据层</a:t>
                </a:r>
              </a:p>
            </p:txBody>
          </p:sp>
        </p:grpSp>
        <p:sp>
          <p:nvSpPr>
            <p:cNvPr id="84" name="Rectangle 84"/>
            <p:cNvSpPr/>
            <p:nvPr/>
          </p:nvSpPr>
          <p:spPr>
            <a:xfrm>
              <a:off x="9048750" y="3162300"/>
              <a:ext cx="1095375" cy="266700"/>
            </a:xfrm>
            <a:prstGeom prst="roundRect">
              <a:avLst>
                <a:gd name="adj" fmla="val 14286"/>
              </a:avLst>
            </a:prstGeom>
            <a:solidFill>
              <a:srgbClr val="FFFFFF"/>
            </a:solidFill>
            <a:ln w="9525">
              <a:solidFill>
                <a:srgbClr val="D8DEF2"/>
              </a:solidFill>
            </a:ln>
          </p:spPr>
        </p:sp>
        <p:sp>
          <p:nvSpPr>
            <p:cNvPr id="85" name="TextBox 85"/>
            <p:cNvSpPr txBox="1"/>
            <p:nvPr/>
          </p:nvSpPr>
          <p:spPr>
            <a:xfrm>
              <a:off x="9270556" y="3242072"/>
              <a:ext cx="642239"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热门威胁库</a:t>
              </a:r>
            </a:p>
          </p:txBody>
        </p:sp>
        <p:sp>
          <p:nvSpPr>
            <p:cNvPr id="86" name="Rectangle 86"/>
            <p:cNvSpPr/>
            <p:nvPr/>
          </p:nvSpPr>
          <p:spPr>
            <a:xfrm>
              <a:off x="10334625" y="3162300"/>
              <a:ext cx="1000125" cy="266700"/>
            </a:xfrm>
            <a:prstGeom prst="roundRect">
              <a:avLst>
                <a:gd name="adj" fmla="val 14286"/>
              </a:avLst>
            </a:prstGeom>
            <a:solidFill>
              <a:srgbClr val="FFFFFF"/>
            </a:solidFill>
            <a:ln w="9525">
              <a:solidFill>
                <a:srgbClr val="D8DEF2"/>
              </a:solidFill>
            </a:ln>
          </p:spPr>
        </p:sp>
        <p:sp>
          <p:nvSpPr>
            <p:cNvPr id="87" name="TextBox 87"/>
            <p:cNvSpPr txBox="1"/>
            <p:nvPr/>
          </p:nvSpPr>
          <p:spPr>
            <a:xfrm>
              <a:off x="10572077" y="3242072"/>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安全事件</a:t>
              </a:r>
            </a:p>
          </p:txBody>
        </p:sp>
        <p:sp>
          <p:nvSpPr>
            <p:cNvPr id="88" name="Rectangle 88"/>
            <p:cNvSpPr/>
            <p:nvPr/>
          </p:nvSpPr>
          <p:spPr>
            <a:xfrm>
              <a:off x="9048750" y="3581400"/>
              <a:ext cx="1095375" cy="266700"/>
            </a:xfrm>
            <a:prstGeom prst="roundRect">
              <a:avLst>
                <a:gd name="adj" fmla="val 14286"/>
              </a:avLst>
            </a:prstGeom>
            <a:solidFill>
              <a:srgbClr val="FFFFFF"/>
            </a:solidFill>
            <a:ln w="9525">
              <a:solidFill>
                <a:srgbClr val="D8DEF2"/>
              </a:solidFill>
            </a:ln>
          </p:spPr>
        </p:sp>
        <p:sp>
          <p:nvSpPr>
            <p:cNvPr id="89" name="TextBox 89"/>
            <p:cNvSpPr txBox="1"/>
            <p:nvPr/>
          </p:nvSpPr>
          <p:spPr>
            <a:xfrm>
              <a:off x="9270556" y="3661172"/>
              <a:ext cx="642239"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威胁维基库</a:t>
              </a:r>
            </a:p>
          </p:txBody>
        </p:sp>
        <p:sp>
          <p:nvSpPr>
            <p:cNvPr id="90" name="Rectangle 90"/>
            <p:cNvSpPr/>
            <p:nvPr/>
          </p:nvSpPr>
          <p:spPr>
            <a:xfrm>
              <a:off x="10334625" y="3581400"/>
              <a:ext cx="1000125" cy="266700"/>
            </a:xfrm>
            <a:prstGeom prst="roundRect">
              <a:avLst>
                <a:gd name="adj" fmla="val 14286"/>
              </a:avLst>
            </a:prstGeom>
            <a:solidFill>
              <a:srgbClr val="FFFFFF"/>
            </a:solidFill>
            <a:ln w="9525">
              <a:solidFill>
                <a:srgbClr val="D8DEF2"/>
              </a:solidFill>
            </a:ln>
          </p:spPr>
        </p:sp>
        <p:sp>
          <p:nvSpPr>
            <p:cNvPr id="91" name="TextBox 91"/>
            <p:cNvSpPr txBox="1"/>
            <p:nvPr/>
          </p:nvSpPr>
          <p:spPr>
            <a:xfrm>
              <a:off x="10572077" y="3661172"/>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规则模型</a:t>
              </a:r>
            </a:p>
          </p:txBody>
        </p:sp>
        <p:sp>
          <p:nvSpPr>
            <p:cNvPr id="92" name="Rectangle 92"/>
            <p:cNvSpPr/>
            <p:nvPr/>
          </p:nvSpPr>
          <p:spPr>
            <a:xfrm>
              <a:off x="9620250" y="4000500"/>
              <a:ext cx="1095375" cy="266700"/>
            </a:xfrm>
            <a:prstGeom prst="roundRect">
              <a:avLst>
                <a:gd name="adj" fmla="val 14286"/>
              </a:avLst>
            </a:prstGeom>
            <a:solidFill>
              <a:srgbClr val="FFFFFF"/>
            </a:solidFill>
            <a:ln w="9525">
              <a:solidFill>
                <a:srgbClr val="D8DEF2"/>
              </a:solidFill>
            </a:ln>
          </p:spPr>
        </p:sp>
        <p:sp>
          <p:nvSpPr>
            <p:cNvPr id="93" name="TextBox 93"/>
            <p:cNvSpPr txBox="1"/>
            <p:nvPr/>
          </p:nvSpPr>
          <p:spPr>
            <a:xfrm>
              <a:off x="9842056" y="4080272"/>
              <a:ext cx="642239"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漏洞补丁库</a:t>
              </a:r>
            </a:p>
          </p:txBody>
        </p:sp>
      </p:grpSp>
      <p:grpSp>
        <p:nvGrpSpPr>
          <p:cNvPr id="125" name="data-sources"/>
          <p:cNvGrpSpPr/>
          <p:nvPr/>
        </p:nvGrpSpPr>
        <p:grpSpPr>
          <a:xfrm>
            <a:off x="2033740" y="5027295"/>
            <a:ext cx="7928839" cy="935355"/>
            <a:chOff x="2033740" y="5027295"/>
            <a:chExt cx="7928839" cy="935355"/>
          </a:xfrm>
        </p:grpSpPr>
        <p:sp>
          <p:nvSpPr>
            <p:cNvPr id="95" name="TextBox 95"/>
            <p:cNvSpPr txBox="1"/>
            <p:nvPr/>
          </p:nvSpPr>
          <p:spPr>
            <a:xfrm>
              <a:off x="2033740" y="5103495"/>
              <a:ext cx="885520"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URL/域名/DNS​</a:t>
              </a:r>
            </a:p>
          </p:txBody>
        </p:sp>
        <p:sp>
          <p:nvSpPr>
            <p:cNvPr id="96" name="Freeform 96"/>
            <p:cNvSpPr/>
            <p:nvPr/>
          </p:nvSpPr>
          <p:spPr>
            <a:xfrm>
              <a:off x="2247900" y="5505450"/>
              <a:ext cx="457200" cy="457200"/>
            </a:xfrm>
            <a:prstGeom prst="cube">
              <a:avLst/>
            </a:prstGeom>
            <a:solidFill>
              <a:srgbClr val="D87E6B"/>
            </a:solidFill>
            <a:ln>
              <a:noFill/>
            </a:ln>
          </p:spPr>
        </p:sp>
        <p:grpSp>
          <p:nvGrpSpPr>
            <p:cNvPr id="99" name="Group 99"/>
            <p:cNvGrpSpPr/>
            <p:nvPr/>
          </p:nvGrpSpPr>
          <p:grpSpPr>
            <a:xfrm>
              <a:off x="2344428" y="5716278"/>
              <a:ext cx="149844" cy="149844"/>
              <a:chOff x="2344428" y="5716278"/>
              <a:chExt cx="149844" cy="149844"/>
            </a:xfrm>
          </p:grpSpPr>
          <p:sp>
            <p:nvSpPr>
              <p:cNvPr id="97" name="Freeform 97"/>
              <p:cNvSpPr/>
              <p:nvPr/>
            </p:nvSpPr>
            <p:spPr>
              <a:xfrm>
                <a:off x="2344428" y="571627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FFFFFF"/>
                </a:solidFill>
              </a:ln>
            </p:spPr>
          </p:sp>
          <p:sp>
            <p:nvSpPr>
              <p:cNvPr id="98" name="Freeform 98"/>
              <p:cNvSpPr/>
              <p:nvPr/>
            </p:nvSpPr>
            <p:spPr>
              <a:xfrm>
                <a:off x="2395537" y="576738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FFFFFF"/>
                </a:solidFill>
              </a:ln>
            </p:spPr>
          </p:sp>
        </p:grpSp>
        <p:sp>
          <p:nvSpPr>
            <p:cNvPr id="100" name="TextBox 100"/>
            <p:cNvSpPr txBox="1"/>
            <p:nvPr/>
          </p:nvSpPr>
          <p:spPr>
            <a:xfrm>
              <a:off x="3918013" y="5103495"/>
              <a:ext cx="7364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海量安全事件</a:t>
              </a:r>
            </a:p>
          </p:txBody>
        </p:sp>
        <p:sp>
          <p:nvSpPr>
            <p:cNvPr id="101" name="Freeform 101"/>
            <p:cNvSpPr/>
            <p:nvPr/>
          </p:nvSpPr>
          <p:spPr>
            <a:xfrm>
              <a:off x="4057650" y="5505450"/>
              <a:ext cx="457200" cy="457200"/>
            </a:xfrm>
            <a:prstGeom prst="cube">
              <a:avLst/>
            </a:prstGeom>
            <a:solidFill>
              <a:srgbClr val="D87E6B"/>
            </a:solidFill>
            <a:ln>
              <a:noFill/>
            </a:ln>
          </p:spPr>
        </p:sp>
        <p:grpSp>
          <p:nvGrpSpPr>
            <p:cNvPr id="106" name="Group 106"/>
            <p:cNvGrpSpPr/>
            <p:nvPr/>
          </p:nvGrpSpPr>
          <p:grpSpPr>
            <a:xfrm>
              <a:off x="4157662" y="5727700"/>
              <a:ext cx="142875" cy="136525"/>
              <a:chOff x="4157662" y="5727700"/>
              <a:chExt cx="142875" cy="136525"/>
            </a:xfrm>
          </p:grpSpPr>
          <p:sp>
            <p:nvSpPr>
              <p:cNvPr id="102" name="Freeform 102"/>
              <p:cNvSpPr/>
              <p:nvPr/>
            </p:nvSpPr>
            <p:spPr>
              <a:xfrm>
                <a:off x="4157662" y="57912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103" name="Freeform 103"/>
              <p:cNvSpPr/>
              <p:nvPr/>
            </p:nvSpPr>
            <p:spPr>
              <a:xfrm>
                <a:off x="4252912" y="57594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104" name="Freeform 104"/>
              <p:cNvSpPr/>
              <p:nvPr/>
            </p:nvSpPr>
            <p:spPr>
              <a:xfrm>
                <a:off x="4205287" y="57277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105" name="Freeform 105"/>
              <p:cNvSpPr/>
              <p:nvPr/>
            </p:nvSpPr>
            <p:spPr>
              <a:xfrm>
                <a:off x="4165600" y="5854700"/>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107" name="TextBox 107"/>
            <p:cNvSpPr txBox="1"/>
            <p:nvPr/>
          </p:nvSpPr>
          <p:spPr>
            <a:xfrm>
              <a:off x="5748338" y="5027295"/>
              <a:ext cx="695325" cy="328612"/>
            </a:xfrm>
            <a:prstGeom prst="rect">
              <a:avLst/>
            </a:prstGeom>
            <a:noFill/>
            <a:ln>
              <a:noFill/>
            </a:ln>
          </p:spPr>
          <p:txBody>
            <a:bodyPr wrap="none" lIns="0" tIns="0" rIns="0" bIns="0" anchor="t" anchorCtr="0">
              <a:spAutoFit/>
            </a:bodyPr>
            <a:lstStyle/>
            <a:p>
              <a:pPr algn="ctr">
                <a:lnSpc>
                  <a:spcPts val="1200"/>
                </a:lnSpc>
              </a:pPr>
              <a:r>
                <a:rPr lang="en-US" sz="900" dirty="0">
                  <a:solidFill>
                    <a:srgbClr val="543E3A"/>
                  </a:solidFill>
                  <a:latin typeface="+mn-lt"/>
                  <a:ea typeface="+mn-ea"/>
                  <a:cs typeface="+mn-cs"/>
                </a:rPr>
                <a:t>Sangfor​</a:t>
              </a:r>
              <a:br/>
              <a:r>
                <a:rPr lang="zh-CN" sz="900" dirty="0">
                  <a:solidFill>
                    <a:srgbClr val="543E3A"/>
                  </a:solidFill>
                  <a:latin typeface="+mn-lt"/>
                  <a:ea typeface="+mn-ea"/>
                  <a:cs typeface="+mn-cs"/>
                </a:rPr>
                <a:t>全球安全设备</a:t>
              </a:r>
            </a:p>
          </p:txBody>
        </p:sp>
        <p:sp>
          <p:nvSpPr>
            <p:cNvPr id="108" name="Freeform 108"/>
            <p:cNvSpPr/>
            <p:nvPr/>
          </p:nvSpPr>
          <p:spPr>
            <a:xfrm>
              <a:off x="5867400" y="5505450"/>
              <a:ext cx="457200" cy="457200"/>
            </a:xfrm>
            <a:prstGeom prst="cube">
              <a:avLst/>
            </a:prstGeom>
            <a:solidFill>
              <a:srgbClr val="D87E6B"/>
            </a:solidFill>
            <a:ln>
              <a:noFill/>
            </a:ln>
          </p:spPr>
        </p:sp>
        <p:grpSp>
          <p:nvGrpSpPr>
            <p:cNvPr id="112" name="Group 112"/>
            <p:cNvGrpSpPr/>
            <p:nvPr/>
          </p:nvGrpSpPr>
          <p:grpSpPr>
            <a:xfrm>
              <a:off x="5975350" y="5719762"/>
              <a:ext cx="127000" cy="142875"/>
              <a:chOff x="5975350" y="5719762"/>
              <a:chExt cx="127000" cy="142875"/>
            </a:xfrm>
          </p:grpSpPr>
          <p:sp>
            <p:nvSpPr>
              <p:cNvPr id="109" name="Freeform 109"/>
              <p:cNvSpPr/>
              <p:nvPr/>
            </p:nvSpPr>
            <p:spPr>
              <a:xfrm>
                <a:off x="5975350" y="57197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FFFFFF"/>
                </a:solidFill>
              </a:ln>
            </p:spPr>
          </p:sp>
          <p:sp>
            <p:nvSpPr>
              <p:cNvPr id="110" name="Freeform 110"/>
              <p:cNvSpPr/>
              <p:nvPr/>
            </p:nvSpPr>
            <p:spPr>
              <a:xfrm>
                <a:off x="5975350" y="57435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sp>
            <p:nvSpPr>
              <p:cNvPr id="111" name="Freeform 111"/>
              <p:cNvSpPr/>
              <p:nvPr/>
            </p:nvSpPr>
            <p:spPr>
              <a:xfrm>
                <a:off x="5975350" y="57912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FFFFFF"/>
                </a:solidFill>
              </a:ln>
            </p:spPr>
          </p:sp>
        </p:grpSp>
        <p:sp>
          <p:nvSpPr>
            <p:cNvPr id="113" name="TextBox 113"/>
            <p:cNvSpPr txBox="1"/>
            <p:nvPr/>
          </p:nvSpPr>
          <p:spPr>
            <a:xfrm>
              <a:off x="7672388" y="5027295"/>
              <a:ext cx="466725"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543E3A"/>
                  </a:solidFill>
                  <a:latin typeface="+mn-lt"/>
                  <a:ea typeface="+mn-ea"/>
                  <a:cs typeface="+mn-cs"/>
                </a:rPr>
                <a:t>全网</a:t>
              </a:r>
              <a:br/>
              <a:r>
                <a:rPr lang="zh-CN" sz="900" dirty="0">
                  <a:solidFill>
                    <a:srgbClr val="543E3A"/>
                  </a:solidFill>
                  <a:latin typeface="+mn-lt"/>
                  <a:ea typeface="+mn-ea"/>
                  <a:cs typeface="+mn-cs"/>
                </a:rPr>
                <a:t>安全信息</a:t>
              </a:r>
            </a:p>
          </p:txBody>
        </p:sp>
        <p:sp>
          <p:nvSpPr>
            <p:cNvPr id="114" name="Freeform 114"/>
            <p:cNvSpPr/>
            <p:nvPr/>
          </p:nvSpPr>
          <p:spPr>
            <a:xfrm>
              <a:off x="7677150" y="5505450"/>
              <a:ext cx="457200" cy="457200"/>
            </a:xfrm>
            <a:prstGeom prst="cube">
              <a:avLst/>
            </a:prstGeom>
            <a:solidFill>
              <a:srgbClr val="D87E6B"/>
            </a:solidFill>
            <a:ln>
              <a:noFill/>
            </a:ln>
          </p:spPr>
        </p:sp>
        <p:grpSp>
          <p:nvGrpSpPr>
            <p:cNvPr id="118" name="Group 118"/>
            <p:cNvGrpSpPr/>
            <p:nvPr/>
          </p:nvGrpSpPr>
          <p:grpSpPr>
            <a:xfrm>
              <a:off x="7793037" y="5719762"/>
              <a:ext cx="111125" cy="142875"/>
              <a:chOff x="7793037" y="5719762"/>
              <a:chExt cx="111125" cy="142875"/>
            </a:xfrm>
          </p:grpSpPr>
          <p:sp>
            <p:nvSpPr>
              <p:cNvPr id="115" name="Freeform 115"/>
              <p:cNvSpPr/>
              <p:nvPr/>
            </p:nvSpPr>
            <p:spPr>
              <a:xfrm>
                <a:off x="7793037" y="576738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FFFFFF"/>
                </a:solidFill>
              </a:ln>
            </p:spPr>
          </p:sp>
          <p:sp>
            <p:nvSpPr>
              <p:cNvPr id="116" name="Freeform 116"/>
              <p:cNvSpPr/>
              <p:nvPr/>
            </p:nvSpPr>
            <p:spPr>
              <a:xfrm>
                <a:off x="7848600" y="5719762"/>
                <a:ext cx="9525" cy="87312"/>
              </a:xfrm>
              <a:custGeom>
                <a:avLst/>
                <a:gdLst/>
                <a:ahLst/>
                <a:cxnLst/>
                <a:rect l="l" t="t" r="r" b="b"/>
                <a:pathLst>
                  <a:path w="9525" h="87312">
                    <a:moveTo>
                      <a:pt x="0" y="87312"/>
                    </a:moveTo>
                    <a:lnTo>
                      <a:pt x="0" y="0"/>
                    </a:lnTo>
                  </a:path>
                </a:pathLst>
              </a:custGeom>
              <a:noFill/>
              <a:ln w="15875">
                <a:solidFill>
                  <a:srgbClr val="FFFFFF"/>
                </a:solidFill>
              </a:ln>
            </p:spPr>
          </p:sp>
          <p:sp>
            <p:nvSpPr>
              <p:cNvPr id="117" name="Freeform 117"/>
              <p:cNvSpPr/>
              <p:nvPr/>
            </p:nvSpPr>
            <p:spPr>
              <a:xfrm>
                <a:off x="7824787" y="5719762"/>
                <a:ext cx="47625" cy="23812"/>
              </a:xfrm>
              <a:custGeom>
                <a:avLst/>
                <a:gdLst/>
                <a:ahLst/>
                <a:cxnLst/>
                <a:rect l="l" t="t" r="r" b="b"/>
                <a:pathLst>
                  <a:path w="47625" h="23812">
                    <a:moveTo>
                      <a:pt x="0" y="23812"/>
                    </a:moveTo>
                    <a:lnTo>
                      <a:pt x="23812" y="0"/>
                    </a:lnTo>
                    <a:lnTo>
                      <a:pt x="47625" y="23812"/>
                    </a:lnTo>
                  </a:path>
                </a:pathLst>
              </a:custGeom>
              <a:noFill/>
              <a:ln w="15875">
                <a:solidFill>
                  <a:srgbClr val="FFFFFF"/>
                </a:solidFill>
              </a:ln>
            </p:spPr>
          </p:sp>
        </p:grpSp>
        <p:sp>
          <p:nvSpPr>
            <p:cNvPr id="119" name="TextBox 119"/>
            <p:cNvSpPr txBox="1"/>
            <p:nvPr/>
          </p:nvSpPr>
          <p:spPr>
            <a:xfrm>
              <a:off x="9468422" y="5103495"/>
              <a:ext cx="49415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漏洞情报</a:t>
              </a:r>
            </a:p>
          </p:txBody>
        </p:sp>
        <p:sp>
          <p:nvSpPr>
            <p:cNvPr id="120" name="Freeform 120"/>
            <p:cNvSpPr/>
            <p:nvPr/>
          </p:nvSpPr>
          <p:spPr>
            <a:xfrm>
              <a:off x="9486900" y="5505450"/>
              <a:ext cx="457200" cy="457200"/>
            </a:xfrm>
            <a:prstGeom prst="cube">
              <a:avLst/>
            </a:prstGeom>
            <a:solidFill>
              <a:srgbClr val="D87E6B"/>
            </a:solidFill>
            <a:ln>
              <a:noFill/>
            </a:ln>
          </p:spPr>
        </p:sp>
        <p:grpSp>
          <p:nvGrpSpPr>
            <p:cNvPr id="124" name="Group 124"/>
            <p:cNvGrpSpPr/>
            <p:nvPr/>
          </p:nvGrpSpPr>
          <p:grpSpPr>
            <a:xfrm>
              <a:off x="9578299" y="5717125"/>
              <a:ext cx="160095" cy="137543"/>
              <a:chOff x="9578299" y="5717125"/>
              <a:chExt cx="160095" cy="137543"/>
            </a:xfrm>
          </p:grpSpPr>
          <p:sp>
            <p:nvSpPr>
              <p:cNvPr id="121" name="Freeform 121"/>
              <p:cNvSpPr/>
              <p:nvPr/>
            </p:nvSpPr>
            <p:spPr>
              <a:xfrm>
                <a:off x="9658350" y="5767387"/>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22" name="Freeform 122"/>
              <p:cNvSpPr/>
              <p:nvPr/>
            </p:nvSpPr>
            <p:spPr>
              <a:xfrm>
                <a:off x="9578299" y="571712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FFFFFF"/>
                </a:solidFill>
              </a:ln>
            </p:spPr>
          </p:sp>
          <p:sp>
            <p:nvSpPr>
              <p:cNvPr id="123" name="Freeform 123"/>
              <p:cNvSpPr/>
              <p:nvPr/>
            </p:nvSpPr>
            <p:spPr>
              <a:xfrm>
                <a:off x="9658350" y="5822950"/>
                <a:ext cx="9525" cy="9525"/>
              </a:xfrm>
              <a:custGeom>
                <a:avLst/>
                <a:gdLst/>
                <a:ahLst/>
                <a:cxnLst/>
                <a:rect l="l" t="t" r="r" b="b"/>
                <a:pathLst>
                  <a:path w="9525" h="9525">
                    <a:moveTo>
                      <a:pt x="0" y="0"/>
                    </a:moveTo>
                    <a:lnTo>
                      <a:pt x="79" y="0"/>
                    </a:lnTo>
                  </a:path>
                </a:pathLst>
              </a:custGeom>
              <a:noFill/>
              <a:ln w="15875">
                <a:solidFill>
                  <a:srgbClr val="FFFFFF"/>
                </a:solidFill>
              </a:ln>
            </p:spPr>
          </p:sp>
        </p:grpSp>
      </p:gr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uter-frame"/>
          <p:cNvSpPr/>
          <p:nvPr/>
        </p:nvSpPr>
        <p:spPr>
          <a:xfrm>
            <a:off x="1238250" y="914400"/>
            <a:ext cx="10382250" cy="5657850"/>
          </a:xfrm>
          <a:prstGeom prst="roundRect">
            <a:avLst>
              <a:gd name="adj" fmla="val 1010"/>
            </a:avLst>
          </a:prstGeom>
          <a:noFill/>
          <a:ln w="11430">
            <a:solidFill>
              <a:srgbClr val="D8DEF2"/>
            </a:solidFill>
            <a:custDash>
              <a:ds d="500000" sp="333333"/>
            </a:custDash>
          </a:ln>
        </p:spPr>
      </p:sp>
      <p:grpSp>
        <p:nvGrpSpPr>
          <p:cNvPr id="7" name="page-header"/>
          <p:cNvGrpSpPr/>
          <p:nvPr/>
        </p:nvGrpSpPr>
        <p:grpSpPr>
          <a:xfrm>
            <a:off x="0" y="0"/>
            <a:ext cx="5905500" cy="542925"/>
            <a:chOff x="0" y="0"/>
            <a:chExt cx="5905500" cy="542925"/>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4" name="TextBox 4"/>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59</a:t>
              </a:r>
            </a:p>
          </p:txBody>
        </p:sp>
        <p:sp>
          <p:nvSpPr>
            <p:cNvPr id="5" name="TextBox 5"/>
            <p:cNvSpPr txBox="1"/>
            <p:nvPr/>
          </p:nvSpPr>
          <p:spPr>
            <a:xfrm>
              <a:off x="942594" y="151448"/>
              <a:ext cx="214479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AI数据管理架构​</a:t>
              </a:r>
            </a:p>
          </p:txBody>
        </p:sp>
        <p:sp>
          <p:nvSpPr>
            <p:cNvPr id="6" name="Line 6"/>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sp>
        <p:nvSpPr>
          <p:cNvPr id="8" name="Freeform 8"/>
          <p:cNvSpPr/>
          <p:nvPr/>
        </p:nvSpPr>
        <p:spPr>
          <a:xfrm>
            <a:off x="2381250" y="1657350"/>
            <a:ext cx="7429500" cy="133350"/>
          </a:xfrm>
          <a:prstGeom prst="trapezoid">
            <a:avLst>
              <a:gd name="adj" fmla="val 60000"/>
            </a:avLst>
          </a:prstGeom>
          <a:solidFill>
            <a:srgbClr val="FDE3DC"/>
          </a:solidFill>
          <a:ln>
            <a:noFill/>
          </a:ln>
        </p:spPr>
      </p:sp>
      <p:sp>
        <p:nvSpPr>
          <p:cNvPr id="9" name="Freeform 9"/>
          <p:cNvSpPr/>
          <p:nvPr/>
        </p:nvSpPr>
        <p:spPr>
          <a:xfrm>
            <a:off x="1905000" y="3619500"/>
            <a:ext cx="8382000" cy="133350"/>
          </a:xfrm>
          <a:prstGeom prst="trapezoid">
            <a:avLst>
              <a:gd name="adj" fmla="val 60000"/>
            </a:avLst>
          </a:prstGeom>
          <a:solidFill>
            <a:srgbClr val="FDE3DC"/>
          </a:solidFill>
          <a:ln>
            <a:noFill/>
          </a:ln>
        </p:spPr>
      </p:sp>
      <p:sp>
        <p:nvSpPr>
          <p:cNvPr id="10" name="Freeform 10"/>
          <p:cNvSpPr/>
          <p:nvPr/>
        </p:nvSpPr>
        <p:spPr>
          <a:xfrm>
            <a:off x="1619250" y="4819650"/>
            <a:ext cx="8953500" cy="133350"/>
          </a:xfrm>
          <a:prstGeom prst="trapezoid">
            <a:avLst>
              <a:gd name="adj" fmla="val 60000"/>
            </a:avLst>
          </a:prstGeom>
          <a:solidFill>
            <a:srgbClr val="FDE3DC"/>
          </a:solidFill>
          <a:ln>
            <a:noFill/>
          </a:ln>
        </p:spPr>
      </p:sp>
      <p:sp>
        <p:nvSpPr>
          <p:cNvPr id="11" name="Freeform 11"/>
          <p:cNvSpPr/>
          <p:nvPr/>
        </p:nvSpPr>
        <p:spPr>
          <a:xfrm>
            <a:off x="571500" y="6419850"/>
            <a:ext cx="11049000" cy="152400"/>
          </a:xfrm>
          <a:prstGeom prst="trapezoid">
            <a:avLst>
              <a:gd name="adj" fmla="val 60000"/>
            </a:avLst>
          </a:prstGeom>
          <a:solidFill>
            <a:srgbClr val="F3B0A4"/>
          </a:solidFill>
          <a:ln>
            <a:noFill/>
          </a:ln>
        </p:spPr>
      </p:sp>
      <p:grpSp>
        <p:nvGrpSpPr>
          <p:cNvPr id="16" name="top-layer"/>
          <p:cNvGrpSpPr/>
          <p:nvPr/>
        </p:nvGrpSpPr>
        <p:grpSpPr>
          <a:xfrm>
            <a:off x="2876550" y="1047750"/>
            <a:ext cx="6724650" cy="552450"/>
            <a:chOff x="2876550" y="1047750"/>
            <a:chExt cx="6724650" cy="552450"/>
          </a:xfrm>
        </p:grpSpPr>
        <p:sp>
          <p:nvSpPr>
            <p:cNvPr id="12" name="Rectangle 12"/>
            <p:cNvSpPr/>
            <p:nvPr/>
          </p:nvSpPr>
          <p:spPr>
            <a:xfrm>
              <a:off x="2876550" y="1047750"/>
              <a:ext cx="3276600" cy="552450"/>
            </a:xfrm>
            <a:prstGeom prst="roundRect">
              <a:avLst>
                <a:gd name="adj" fmla="val 13793"/>
              </a:avLst>
            </a:prstGeom>
            <a:solidFill>
              <a:srgbClr val="FFF8F5"/>
            </a:solidFill>
            <a:ln w="14288">
              <a:solidFill>
                <a:srgbClr val="E8634C"/>
              </a:solidFill>
            </a:ln>
          </p:spPr>
        </p:sp>
        <p:sp>
          <p:nvSpPr>
            <p:cNvPr id="13" name="TextBox 13"/>
            <p:cNvSpPr txBox="1"/>
            <p:nvPr/>
          </p:nvSpPr>
          <p:spPr>
            <a:xfrm>
              <a:off x="3792093" y="1238250"/>
              <a:ext cx="1445514" cy="293370"/>
            </a:xfrm>
            <a:prstGeom prst="rect">
              <a:avLst/>
            </a:prstGeom>
            <a:noFill/>
            <a:ln>
              <a:noFill/>
            </a:ln>
          </p:spPr>
          <p:txBody>
            <a:bodyPr wrap="none" lIns="0" tIns="0" rIns="0" bIns="0" anchor="t" anchorCtr="0">
              <a:spAutoFit/>
            </a:bodyPr>
            <a:lstStyle/>
            <a:p>
              <a:pPr algn="ctr"/>
              <a:r>
                <a:rPr lang="zh-CN" sz="1500" dirty="0">
                  <a:solidFill>
                    <a:srgbClr val="E2624C"/>
                  </a:solidFill>
                  <a:latin typeface="+mn-lt"/>
                  <a:ea typeface="+mn-ea"/>
                  <a:cs typeface="+mn-cs"/>
                </a:rPr>
                <a:t>Prompt提示词​</a:t>
              </a:r>
            </a:p>
          </p:txBody>
        </p:sp>
        <p:sp>
          <p:nvSpPr>
            <p:cNvPr id="14" name="Rectangle 14"/>
            <p:cNvSpPr/>
            <p:nvPr/>
          </p:nvSpPr>
          <p:spPr>
            <a:xfrm>
              <a:off x="6324600" y="1047750"/>
              <a:ext cx="3276600" cy="552450"/>
            </a:xfrm>
            <a:prstGeom prst="roundRect">
              <a:avLst>
                <a:gd name="adj" fmla="val 13793"/>
              </a:avLst>
            </a:prstGeom>
            <a:solidFill>
              <a:srgbClr val="FFF8F5"/>
            </a:solidFill>
            <a:ln w="14288">
              <a:solidFill>
                <a:srgbClr val="E8634C"/>
              </a:solidFill>
            </a:ln>
          </p:spPr>
        </p:sp>
        <p:sp>
          <p:nvSpPr>
            <p:cNvPr id="15" name="TextBox 15"/>
            <p:cNvSpPr txBox="1"/>
            <p:nvPr/>
          </p:nvSpPr>
          <p:spPr>
            <a:xfrm>
              <a:off x="7450455" y="1238250"/>
              <a:ext cx="1024890" cy="293370"/>
            </a:xfrm>
            <a:prstGeom prst="rect">
              <a:avLst/>
            </a:prstGeom>
            <a:noFill/>
            <a:ln>
              <a:noFill/>
            </a:ln>
          </p:spPr>
          <p:txBody>
            <a:bodyPr wrap="none" lIns="0" tIns="0" rIns="0" bIns="0" anchor="t" anchorCtr="0">
              <a:spAutoFit/>
            </a:bodyPr>
            <a:lstStyle/>
            <a:p>
              <a:pPr algn="ctr"/>
              <a:r>
                <a:rPr lang="zh-CN" sz="1500" dirty="0">
                  <a:solidFill>
                    <a:srgbClr val="E2624C"/>
                  </a:solidFill>
                  <a:latin typeface="+mn-lt"/>
                  <a:ea typeface="+mn-ea"/>
                  <a:cs typeface="+mn-cs"/>
                </a:rPr>
                <a:t>知识数据库</a:t>
              </a:r>
            </a:p>
          </p:txBody>
        </p:sp>
      </p:grpSp>
      <p:grpSp>
        <p:nvGrpSpPr>
          <p:cNvPr id="31" name="side-cards"/>
          <p:cNvGrpSpPr/>
          <p:nvPr/>
        </p:nvGrpSpPr>
        <p:grpSpPr>
          <a:xfrm>
            <a:off x="390525" y="2543175"/>
            <a:ext cx="1019175" cy="2305050"/>
            <a:chOff x="390525" y="2543175"/>
            <a:chExt cx="1019175" cy="2305050"/>
          </a:xfrm>
        </p:grpSpPr>
        <p:sp>
          <p:nvSpPr>
            <p:cNvPr id="17" name="Rectangle 17"/>
            <p:cNvSpPr/>
            <p:nvPr/>
          </p:nvSpPr>
          <p:spPr>
            <a:xfrm>
              <a:off x="390525" y="2543175"/>
              <a:ext cx="1019175" cy="952500"/>
            </a:xfrm>
            <a:prstGeom prst="roundRect">
              <a:avLst>
                <a:gd name="adj" fmla="val 10000"/>
              </a:avLst>
            </a:prstGeom>
            <a:solidFill>
              <a:srgbClr val="F5F6FC"/>
            </a:solidFill>
            <a:ln w="11430">
              <a:solidFill>
                <a:srgbClr val="C9D1F0"/>
              </a:solidFill>
            </a:ln>
          </p:spPr>
        </p:sp>
        <p:sp>
          <p:nvSpPr>
            <p:cNvPr id="18" name="Ellipse 18"/>
            <p:cNvSpPr/>
            <p:nvPr/>
          </p:nvSpPr>
          <p:spPr>
            <a:xfrm>
              <a:off x="685800" y="2667000"/>
              <a:ext cx="419100" cy="419100"/>
            </a:xfrm>
            <a:prstGeom prst="ellipse">
              <a:avLst/>
            </a:prstGeom>
            <a:solidFill>
              <a:srgbClr val="FFFFFF"/>
            </a:solidFill>
            <a:ln>
              <a:noFill/>
            </a:ln>
          </p:spPr>
        </p:sp>
        <p:grpSp>
          <p:nvGrpSpPr>
            <p:cNvPr id="22" name="Group 22"/>
            <p:cNvGrpSpPr/>
            <p:nvPr/>
          </p:nvGrpSpPr>
          <p:grpSpPr>
            <a:xfrm>
              <a:off x="817563" y="2776538"/>
              <a:ext cx="155575" cy="200025"/>
              <a:chOff x="817563" y="2776538"/>
              <a:chExt cx="155575" cy="200025"/>
            </a:xfrm>
          </p:grpSpPr>
          <p:sp>
            <p:nvSpPr>
              <p:cNvPr id="19" name="Freeform 19"/>
              <p:cNvSpPr/>
              <p:nvPr/>
            </p:nvSpPr>
            <p:spPr>
              <a:xfrm>
                <a:off x="817563" y="2843213"/>
                <a:ext cx="155575" cy="133350"/>
              </a:xfrm>
              <a:custGeom>
                <a:avLst/>
                <a:gdLst/>
                <a:ahLst/>
                <a:cxnLst/>
                <a:rect l="l" t="t" r="r" b="b"/>
                <a:pathLst>
                  <a:path w="155575" h="133350">
                    <a:moveTo>
                      <a:pt x="33338" y="0"/>
                    </a:moveTo>
                    <a:lnTo>
                      <a:pt x="22225" y="0"/>
                    </a:lnTo>
                    <a:cubicBezTo>
                      <a:pt x="9950" y="0"/>
                      <a:pt x="0" y="9950"/>
                      <a:pt x="0" y="22225"/>
                    </a:cubicBezTo>
                    <a:lnTo>
                      <a:pt x="0" y="111125"/>
                    </a:lnTo>
                    <a:cubicBezTo>
                      <a:pt x="0" y="123400"/>
                      <a:pt x="9950" y="133350"/>
                      <a:pt x="22225" y="133350"/>
                    </a:cubicBezTo>
                    <a:lnTo>
                      <a:pt x="133350" y="133350"/>
                    </a:lnTo>
                    <a:cubicBezTo>
                      <a:pt x="145625" y="133350"/>
                      <a:pt x="155575" y="123400"/>
                      <a:pt x="155575" y="111125"/>
                    </a:cubicBezTo>
                    <a:lnTo>
                      <a:pt x="155575" y="22225"/>
                    </a:lnTo>
                    <a:cubicBezTo>
                      <a:pt x="155575" y="9950"/>
                      <a:pt x="145625" y="0"/>
                      <a:pt x="133350" y="0"/>
                    </a:cubicBezTo>
                    <a:lnTo>
                      <a:pt x="122238" y="0"/>
                    </a:lnTo>
                  </a:path>
                </a:pathLst>
              </a:custGeom>
              <a:noFill/>
              <a:ln w="22225">
                <a:solidFill>
                  <a:srgbClr val="C45F4A"/>
                </a:solidFill>
              </a:ln>
            </p:spPr>
          </p:sp>
          <p:sp>
            <p:nvSpPr>
              <p:cNvPr id="20" name="Freeform 20"/>
              <p:cNvSpPr/>
              <p:nvPr/>
            </p:nvSpPr>
            <p:spPr>
              <a:xfrm>
                <a:off x="895350" y="2776538"/>
                <a:ext cx="9525" cy="122238"/>
              </a:xfrm>
              <a:custGeom>
                <a:avLst/>
                <a:gdLst/>
                <a:ahLst/>
                <a:cxnLst/>
                <a:rect l="l" t="t" r="r" b="b"/>
                <a:pathLst>
                  <a:path w="9525" h="122238">
                    <a:moveTo>
                      <a:pt x="0" y="122238"/>
                    </a:moveTo>
                    <a:lnTo>
                      <a:pt x="0" y="0"/>
                    </a:lnTo>
                  </a:path>
                </a:pathLst>
              </a:custGeom>
              <a:noFill/>
              <a:ln w="22225">
                <a:solidFill>
                  <a:srgbClr val="C45F4A"/>
                </a:solidFill>
              </a:ln>
            </p:spPr>
          </p:sp>
          <p:sp>
            <p:nvSpPr>
              <p:cNvPr id="21" name="Freeform 21"/>
              <p:cNvSpPr/>
              <p:nvPr/>
            </p:nvSpPr>
            <p:spPr>
              <a:xfrm>
                <a:off x="862013" y="2776538"/>
                <a:ext cx="66675" cy="33338"/>
              </a:xfrm>
              <a:custGeom>
                <a:avLst/>
                <a:gdLst/>
                <a:ahLst/>
                <a:cxnLst/>
                <a:rect l="l" t="t" r="r" b="b"/>
                <a:pathLst>
                  <a:path w="66675" h="33338">
                    <a:moveTo>
                      <a:pt x="0" y="33338"/>
                    </a:moveTo>
                    <a:lnTo>
                      <a:pt x="33338" y="0"/>
                    </a:lnTo>
                    <a:lnTo>
                      <a:pt x="66675" y="33338"/>
                    </a:lnTo>
                  </a:path>
                </a:pathLst>
              </a:custGeom>
              <a:noFill/>
              <a:ln w="22225">
                <a:solidFill>
                  <a:srgbClr val="C45F4A"/>
                </a:solidFill>
              </a:ln>
            </p:spPr>
          </p:sp>
        </p:grpSp>
        <p:sp>
          <p:nvSpPr>
            <p:cNvPr id="23" name="TextBox 23"/>
            <p:cNvSpPr txBox="1"/>
            <p:nvPr/>
          </p:nvSpPr>
          <p:spPr>
            <a:xfrm>
              <a:off x="560578" y="3228499"/>
              <a:ext cx="669544"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多引擎中心</a:t>
              </a:r>
            </a:p>
          </p:txBody>
        </p:sp>
        <p:sp>
          <p:nvSpPr>
            <p:cNvPr id="24" name="Rectangle 24"/>
            <p:cNvSpPr/>
            <p:nvPr/>
          </p:nvSpPr>
          <p:spPr>
            <a:xfrm>
              <a:off x="390525" y="3895725"/>
              <a:ext cx="1019175" cy="952500"/>
            </a:xfrm>
            <a:prstGeom prst="roundRect">
              <a:avLst>
                <a:gd name="adj" fmla="val 10000"/>
              </a:avLst>
            </a:prstGeom>
            <a:solidFill>
              <a:srgbClr val="F5F6FC"/>
            </a:solidFill>
            <a:ln w="11430">
              <a:solidFill>
                <a:srgbClr val="C9D1F0"/>
              </a:solidFill>
            </a:ln>
          </p:spPr>
        </p:sp>
        <p:sp>
          <p:nvSpPr>
            <p:cNvPr id="25" name="Ellipse 25"/>
            <p:cNvSpPr/>
            <p:nvPr/>
          </p:nvSpPr>
          <p:spPr>
            <a:xfrm>
              <a:off x="685800" y="4019550"/>
              <a:ext cx="419100" cy="419100"/>
            </a:xfrm>
            <a:prstGeom prst="ellipse">
              <a:avLst/>
            </a:prstGeom>
            <a:solidFill>
              <a:srgbClr val="FFFFFF"/>
            </a:solidFill>
            <a:ln>
              <a:noFill/>
            </a:ln>
          </p:spPr>
        </p:sp>
        <p:grpSp>
          <p:nvGrpSpPr>
            <p:cNvPr id="29" name="Group 29"/>
            <p:cNvGrpSpPr/>
            <p:nvPr/>
          </p:nvGrpSpPr>
          <p:grpSpPr>
            <a:xfrm>
              <a:off x="806450" y="4129088"/>
              <a:ext cx="177801" cy="200025"/>
              <a:chOff x="806450" y="4129088"/>
              <a:chExt cx="177801" cy="200025"/>
            </a:xfrm>
          </p:grpSpPr>
          <p:sp>
            <p:nvSpPr>
              <p:cNvPr id="26" name="Freeform 26"/>
              <p:cNvSpPr/>
              <p:nvPr/>
            </p:nvSpPr>
            <p:spPr>
              <a:xfrm>
                <a:off x="806450" y="412908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22225">
                <a:solidFill>
                  <a:srgbClr val="C45F4A"/>
                </a:solidFill>
              </a:ln>
            </p:spPr>
          </p:sp>
          <p:sp>
            <p:nvSpPr>
              <p:cNvPr id="27" name="Freeform 27"/>
              <p:cNvSpPr/>
              <p:nvPr/>
            </p:nvSpPr>
            <p:spPr>
              <a:xfrm>
                <a:off x="806450" y="416242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C45F4A"/>
                </a:solidFill>
              </a:ln>
            </p:spPr>
          </p:sp>
          <p:sp>
            <p:nvSpPr>
              <p:cNvPr id="28" name="Freeform 28"/>
              <p:cNvSpPr/>
              <p:nvPr/>
            </p:nvSpPr>
            <p:spPr>
              <a:xfrm>
                <a:off x="806450" y="42291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22225">
                <a:solidFill>
                  <a:srgbClr val="C45F4A"/>
                </a:solidFill>
              </a:ln>
            </p:spPr>
          </p:sp>
        </p:grpSp>
        <p:sp>
          <p:nvSpPr>
            <p:cNvPr id="30" name="TextBox 30"/>
            <p:cNvSpPr txBox="1"/>
            <p:nvPr/>
          </p:nvSpPr>
          <p:spPr>
            <a:xfrm>
              <a:off x="626542" y="4581049"/>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数据底座</a:t>
              </a:r>
            </a:p>
          </p:txBody>
        </p:sp>
      </p:grpSp>
      <p:grpSp>
        <p:nvGrpSpPr>
          <p:cNvPr id="34" name="axis-recall"/>
          <p:cNvGrpSpPr/>
          <p:nvPr/>
        </p:nvGrpSpPr>
        <p:grpSpPr>
          <a:xfrm>
            <a:off x="2066417" y="2114550"/>
            <a:ext cx="314834" cy="1390650"/>
            <a:chOff x="2066417" y="2114550"/>
            <a:chExt cx="314834" cy="1390650"/>
          </a:xfrm>
        </p:grpSpPr>
        <p:sp>
          <p:nvSpPr>
            <p:cNvPr id="32" name="TextBox 32"/>
            <p:cNvSpPr txBox="1"/>
            <p:nvPr/>
          </p:nvSpPr>
          <p:spPr>
            <a:xfrm>
              <a:off x="2066417" y="2295049"/>
              <a:ext cx="134366" cy="705040"/>
            </a:xfrm>
            <a:prstGeom prst="rect">
              <a:avLst/>
            </a:prstGeom>
            <a:noFill/>
            <a:ln>
              <a:noFill/>
            </a:ln>
          </p:spPr>
          <p:txBody>
            <a:bodyPr wrap="none" lIns="0" tIns="0" rIns="0" bIns="0" anchor="t" anchorCtr="0">
              <a:spAutoFit/>
            </a:bodyPr>
            <a:lstStyle/>
            <a:p>
              <a:pPr algn="ctr">
                <a:lnSpc>
                  <a:spcPts val="1350"/>
                </a:lnSpc>
              </a:pPr>
              <a:r>
                <a:rPr lang="zh-CN" sz="980" dirty="0">
                  <a:solidFill>
                    <a:srgbClr val="543E3A"/>
                  </a:solidFill>
                  <a:latin typeface="+mn-lt"/>
                  <a:ea typeface="+mn-ea"/>
                  <a:cs typeface="+mn-cs"/>
                </a:rPr>
                <a:t>数</a:t>
              </a:r>
              <a:br/>
              <a:r>
                <a:rPr lang="zh-CN" sz="980" dirty="0">
                  <a:solidFill>
                    <a:srgbClr val="543E3A"/>
                  </a:solidFill>
                  <a:latin typeface="+mn-lt"/>
                  <a:ea typeface="+mn-ea"/>
                  <a:cs typeface="+mn-cs"/>
                </a:rPr>
                <a:t>据</a:t>
              </a:r>
              <a:br/>
              <a:r>
                <a:rPr lang="zh-CN" sz="980" dirty="0">
                  <a:solidFill>
                    <a:srgbClr val="543E3A"/>
                  </a:solidFill>
                  <a:latin typeface="+mn-lt"/>
                  <a:ea typeface="+mn-ea"/>
                  <a:cs typeface="+mn-cs"/>
                </a:rPr>
                <a:t>召</a:t>
              </a:r>
              <a:br/>
              <a:r>
                <a:rPr lang="zh-CN" sz="980" dirty="0">
                  <a:solidFill>
                    <a:srgbClr val="543E3A"/>
                  </a:solidFill>
                  <a:latin typeface="+mn-lt"/>
                  <a:ea typeface="+mn-ea"/>
                  <a:cs typeface="+mn-cs"/>
                </a:rPr>
                <a:t>回</a:t>
              </a:r>
            </a:p>
          </p:txBody>
        </p:sp>
        <p:sp>
          <p:nvSpPr>
            <p:cNvPr id="33" name="Line 33"/>
            <p:cNvSpPr/>
            <p:nvPr/>
          </p:nvSpPr>
          <p:spPr>
            <a:xfrm>
              <a:off x="2381250" y="2114550"/>
              <a:ext cx="1" cy="1390650"/>
            </a:xfrm>
            <a:prstGeom prst="line">
              <a:avLst/>
            </a:prstGeom>
            <a:noFill/>
            <a:ln w="14288">
              <a:solidFill>
                <a:srgbClr val="E08C7B"/>
              </a:solidFill>
              <a:tailEnd type="triangle" w="lg" len="lg"/>
            </a:ln>
          </p:spPr>
        </p:sp>
      </p:grpSp>
      <p:grpSp>
        <p:nvGrpSpPr>
          <p:cNvPr id="44" name="engine-vector"/>
          <p:cNvGrpSpPr/>
          <p:nvPr/>
        </p:nvGrpSpPr>
        <p:grpSpPr>
          <a:xfrm>
            <a:off x="2800350" y="2076450"/>
            <a:ext cx="2143125" cy="1466850"/>
            <a:chOff x="2800350" y="2076450"/>
            <a:chExt cx="2143125" cy="1466850"/>
          </a:xfrm>
        </p:grpSpPr>
        <p:sp>
          <p:nvSpPr>
            <p:cNvPr id="35" name="Rectangle 35"/>
            <p:cNvSpPr/>
            <p:nvPr/>
          </p:nvSpPr>
          <p:spPr>
            <a:xfrm>
              <a:off x="2800350" y="2209800"/>
              <a:ext cx="2143125" cy="1333500"/>
            </a:xfrm>
            <a:prstGeom prst="roundRect">
              <a:avLst>
                <a:gd name="adj" fmla="val 5714"/>
              </a:avLst>
            </a:prstGeom>
            <a:noFill/>
            <a:ln w="11430">
              <a:solidFill>
                <a:srgbClr val="C9D1F0"/>
              </a:solidFill>
            </a:ln>
          </p:spPr>
        </p:sp>
        <p:sp>
          <p:nvSpPr>
            <p:cNvPr id="36" name="Rectangle 36"/>
            <p:cNvSpPr/>
            <p:nvPr/>
          </p:nvSpPr>
          <p:spPr>
            <a:xfrm>
              <a:off x="2990850" y="2076450"/>
              <a:ext cx="1762125" cy="304800"/>
            </a:xfrm>
            <a:prstGeom prst="roundRect">
              <a:avLst>
                <a:gd name="adj" fmla="val 18750"/>
              </a:avLst>
            </a:prstGeom>
            <a:solidFill>
              <a:srgbClr val="C45F4A"/>
            </a:solidFill>
            <a:ln>
              <a:noFill/>
            </a:ln>
          </p:spPr>
        </p:sp>
        <p:sp>
          <p:nvSpPr>
            <p:cNvPr id="37" name="TextBox 37"/>
            <p:cNvSpPr txBox="1"/>
            <p:nvPr/>
          </p:nvSpPr>
          <p:spPr>
            <a:xfrm>
              <a:off x="3579114" y="21726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向量引擎</a:t>
              </a:r>
            </a:p>
          </p:txBody>
        </p:sp>
        <p:sp>
          <p:nvSpPr>
            <p:cNvPr id="38" name="Rectangle 38"/>
            <p:cNvSpPr/>
            <p:nvPr/>
          </p:nvSpPr>
          <p:spPr>
            <a:xfrm>
              <a:off x="3086100" y="2495550"/>
              <a:ext cx="1571625" cy="247650"/>
            </a:xfrm>
            <a:prstGeom prst="roundRect">
              <a:avLst>
                <a:gd name="adj" fmla="val 50000"/>
              </a:avLst>
            </a:prstGeom>
            <a:solidFill>
              <a:srgbClr val="FFFFFF"/>
            </a:solidFill>
            <a:ln w="9525">
              <a:solidFill>
                <a:srgbClr val="C9D1F0"/>
              </a:solidFill>
            </a:ln>
          </p:spPr>
        </p:sp>
        <p:sp>
          <p:nvSpPr>
            <p:cNvPr id="39" name="TextBox 39"/>
            <p:cNvSpPr txBox="1"/>
            <p:nvPr/>
          </p:nvSpPr>
          <p:spPr>
            <a:xfrm>
              <a:off x="3620072" y="2569845"/>
              <a:ext cx="494157"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向量索引</a:t>
              </a:r>
            </a:p>
          </p:txBody>
        </p:sp>
        <p:sp>
          <p:nvSpPr>
            <p:cNvPr id="40" name="Rectangle 40"/>
            <p:cNvSpPr/>
            <p:nvPr/>
          </p:nvSpPr>
          <p:spPr>
            <a:xfrm>
              <a:off x="3086100" y="2838450"/>
              <a:ext cx="1571625" cy="247650"/>
            </a:xfrm>
            <a:prstGeom prst="roundRect">
              <a:avLst>
                <a:gd name="adj" fmla="val 50000"/>
              </a:avLst>
            </a:prstGeom>
            <a:solidFill>
              <a:srgbClr val="FFFFFF"/>
            </a:solidFill>
            <a:ln w="9525">
              <a:solidFill>
                <a:srgbClr val="C9D1F0"/>
              </a:solidFill>
            </a:ln>
          </p:spPr>
        </p:sp>
        <p:sp>
          <p:nvSpPr>
            <p:cNvPr id="41" name="TextBox 41"/>
            <p:cNvSpPr txBox="1"/>
            <p:nvPr/>
          </p:nvSpPr>
          <p:spPr>
            <a:xfrm>
              <a:off x="3559492" y="2912745"/>
              <a:ext cx="615315"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向量数据库</a:t>
              </a:r>
            </a:p>
          </p:txBody>
        </p:sp>
        <p:sp>
          <p:nvSpPr>
            <p:cNvPr id="42" name="Rectangle 42"/>
            <p:cNvSpPr/>
            <p:nvPr/>
          </p:nvSpPr>
          <p:spPr>
            <a:xfrm>
              <a:off x="3086100" y="3181350"/>
              <a:ext cx="1571625" cy="247650"/>
            </a:xfrm>
            <a:prstGeom prst="roundRect">
              <a:avLst>
                <a:gd name="adj" fmla="val 50000"/>
              </a:avLst>
            </a:prstGeom>
            <a:solidFill>
              <a:srgbClr val="FFFFFF"/>
            </a:solidFill>
            <a:ln w="9525">
              <a:solidFill>
                <a:srgbClr val="C9D1F0"/>
              </a:solidFill>
            </a:ln>
          </p:spPr>
        </p:sp>
        <p:sp>
          <p:nvSpPr>
            <p:cNvPr id="43" name="TextBox 43"/>
            <p:cNvSpPr txBox="1"/>
            <p:nvPr/>
          </p:nvSpPr>
          <p:spPr>
            <a:xfrm>
              <a:off x="3377756" y="3255645"/>
              <a:ext cx="978789"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向量索引数据同步</a:t>
              </a:r>
            </a:p>
          </p:txBody>
        </p:sp>
      </p:grpSp>
      <p:grpSp>
        <p:nvGrpSpPr>
          <p:cNvPr id="54" name="engine-token"/>
          <p:cNvGrpSpPr/>
          <p:nvPr/>
        </p:nvGrpSpPr>
        <p:grpSpPr>
          <a:xfrm>
            <a:off x="5343525" y="2076450"/>
            <a:ext cx="2143125" cy="1466850"/>
            <a:chOff x="5343525" y="2076450"/>
            <a:chExt cx="2143125" cy="1466850"/>
          </a:xfrm>
        </p:grpSpPr>
        <p:sp>
          <p:nvSpPr>
            <p:cNvPr id="45" name="Rectangle 45"/>
            <p:cNvSpPr/>
            <p:nvPr/>
          </p:nvSpPr>
          <p:spPr>
            <a:xfrm>
              <a:off x="5343525" y="2209800"/>
              <a:ext cx="2143125" cy="1333500"/>
            </a:xfrm>
            <a:prstGeom prst="roundRect">
              <a:avLst>
                <a:gd name="adj" fmla="val 5714"/>
              </a:avLst>
            </a:prstGeom>
            <a:noFill/>
            <a:ln w="11430">
              <a:solidFill>
                <a:srgbClr val="C9D1F0"/>
              </a:solidFill>
            </a:ln>
          </p:spPr>
        </p:sp>
        <p:sp>
          <p:nvSpPr>
            <p:cNvPr id="46" name="Rectangle 46"/>
            <p:cNvSpPr/>
            <p:nvPr/>
          </p:nvSpPr>
          <p:spPr>
            <a:xfrm>
              <a:off x="5534025" y="2076450"/>
              <a:ext cx="1762125" cy="304800"/>
            </a:xfrm>
            <a:prstGeom prst="roundRect">
              <a:avLst>
                <a:gd name="adj" fmla="val 18750"/>
              </a:avLst>
            </a:prstGeom>
            <a:solidFill>
              <a:srgbClr val="C45F4A"/>
            </a:solidFill>
            <a:ln>
              <a:noFill/>
            </a:ln>
          </p:spPr>
        </p:sp>
        <p:sp>
          <p:nvSpPr>
            <p:cNvPr id="47" name="TextBox 47"/>
            <p:cNvSpPr txBox="1"/>
            <p:nvPr/>
          </p:nvSpPr>
          <p:spPr>
            <a:xfrm>
              <a:off x="6122289" y="21726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分词引擎</a:t>
              </a:r>
            </a:p>
          </p:txBody>
        </p:sp>
        <p:sp>
          <p:nvSpPr>
            <p:cNvPr id="48" name="Rectangle 48"/>
            <p:cNvSpPr/>
            <p:nvPr/>
          </p:nvSpPr>
          <p:spPr>
            <a:xfrm>
              <a:off x="5629275" y="2495550"/>
              <a:ext cx="1571625" cy="247650"/>
            </a:xfrm>
            <a:prstGeom prst="roundRect">
              <a:avLst>
                <a:gd name="adj" fmla="val 50000"/>
              </a:avLst>
            </a:prstGeom>
            <a:solidFill>
              <a:srgbClr val="FFFFFF"/>
            </a:solidFill>
            <a:ln w="9525">
              <a:solidFill>
                <a:srgbClr val="C9D1F0"/>
              </a:solidFill>
            </a:ln>
          </p:spPr>
        </p:sp>
        <p:sp>
          <p:nvSpPr>
            <p:cNvPr id="49" name="TextBox 49"/>
            <p:cNvSpPr txBox="1"/>
            <p:nvPr/>
          </p:nvSpPr>
          <p:spPr>
            <a:xfrm>
              <a:off x="6163246" y="2569845"/>
              <a:ext cx="494157"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分词索引</a:t>
              </a:r>
            </a:p>
          </p:txBody>
        </p:sp>
        <p:sp>
          <p:nvSpPr>
            <p:cNvPr id="50" name="Rectangle 50"/>
            <p:cNvSpPr/>
            <p:nvPr/>
          </p:nvSpPr>
          <p:spPr>
            <a:xfrm>
              <a:off x="5629275" y="2838450"/>
              <a:ext cx="1571625" cy="247650"/>
            </a:xfrm>
            <a:prstGeom prst="roundRect">
              <a:avLst>
                <a:gd name="adj" fmla="val 50000"/>
              </a:avLst>
            </a:prstGeom>
            <a:solidFill>
              <a:srgbClr val="FFFFFF"/>
            </a:solidFill>
            <a:ln w="9525">
              <a:solidFill>
                <a:srgbClr val="C9D1F0"/>
              </a:solidFill>
            </a:ln>
          </p:spPr>
        </p:sp>
        <p:sp>
          <p:nvSpPr>
            <p:cNvPr id="51" name="TextBox 51"/>
            <p:cNvSpPr txBox="1"/>
            <p:nvPr/>
          </p:nvSpPr>
          <p:spPr>
            <a:xfrm>
              <a:off x="6102668" y="2912745"/>
              <a:ext cx="615315"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分词数据库</a:t>
              </a:r>
            </a:p>
          </p:txBody>
        </p:sp>
        <p:sp>
          <p:nvSpPr>
            <p:cNvPr id="52" name="Rectangle 52"/>
            <p:cNvSpPr/>
            <p:nvPr/>
          </p:nvSpPr>
          <p:spPr>
            <a:xfrm>
              <a:off x="5629275" y="3181350"/>
              <a:ext cx="1571625" cy="247650"/>
            </a:xfrm>
            <a:prstGeom prst="roundRect">
              <a:avLst>
                <a:gd name="adj" fmla="val 50000"/>
              </a:avLst>
            </a:prstGeom>
            <a:solidFill>
              <a:srgbClr val="FFFFFF"/>
            </a:solidFill>
            <a:ln w="9525">
              <a:solidFill>
                <a:srgbClr val="C9D1F0"/>
              </a:solidFill>
            </a:ln>
          </p:spPr>
        </p:sp>
        <p:sp>
          <p:nvSpPr>
            <p:cNvPr id="53" name="TextBox 53"/>
            <p:cNvSpPr txBox="1"/>
            <p:nvPr/>
          </p:nvSpPr>
          <p:spPr>
            <a:xfrm>
              <a:off x="6042088" y="3255645"/>
              <a:ext cx="736473"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分词数据同步</a:t>
              </a:r>
            </a:p>
          </p:txBody>
        </p:sp>
      </p:grpSp>
      <p:grpSp>
        <p:nvGrpSpPr>
          <p:cNvPr id="64" name="engine-graph"/>
          <p:cNvGrpSpPr/>
          <p:nvPr/>
        </p:nvGrpSpPr>
        <p:grpSpPr>
          <a:xfrm>
            <a:off x="7934325" y="2076450"/>
            <a:ext cx="2143125" cy="1466850"/>
            <a:chOff x="7934325" y="2076450"/>
            <a:chExt cx="2143125" cy="1466850"/>
          </a:xfrm>
        </p:grpSpPr>
        <p:sp>
          <p:nvSpPr>
            <p:cNvPr id="55" name="Rectangle 55"/>
            <p:cNvSpPr/>
            <p:nvPr/>
          </p:nvSpPr>
          <p:spPr>
            <a:xfrm>
              <a:off x="7934325" y="2209800"/>
              <a:ext cx="2143125" cy="1333500"/>
            </a:xfrm>
            <a:prstGeom prst="roundRect">
              <a:avLst>
                <a:gd name="adj" fmla="val 5714"/>
              </a:avLst>
            </a:prstGeom>
            <a:noFill/>
            <a:ln w="11430">
              <a:solidFill>
                <a:srgbClr val="C9D1F0"/>
              </a:solidFill>
            </a:ln>
          </p:spPr>
        </p:sp>
        <p:sp>
          <p:nvSpPr>
            <p:cNvPr id="56" name="Rectangle 56"/>
            <p:cNvSpPr/>
            <p:nvPr/>
          </p:nvSpPr>
          <p:spPr>
            <a:xfrm>
              <a:off x="8124825" y="2076450"/>
              <a:ext cx="1762125" cy="304800"/>
            </a:xfrm>
            <a:prstGeom prst="roundRect">
              <a:avLst>
                <a:gd name="adj" fmla="val 18750"/>
              </a:avLst>
            </a:prstGeom>
            <a:solidFill>
              <a:srgbClr val="C45F4A"/>
            </a:solidFill>
            <a:ln>
              <a:noFill/>
            </a:ln>
          </p:spPr>
        </p:sp>
        <p:sp>
          <p:nvSpPr>
            <p:cNvPr id="57" name="TextBox 57"/>
            <p:cNvSpPr txBox="1"/>
            <p:nvPr/>
          </p:nvSpPr>
          <p:spPr>
            <a:xfrm>
              <a:off x="8713089" y="21726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图谱引擎</a:t>
              </a:r>
            </a:p>
          </p:txBody>
        </p:sp>
        <p:sp>
          <p:nvSpPr>
            <p:cNvPr id="58" name="Rectangle 58"/>
            <p:cNvSpPr/>
            <p:nvPr/>
          </p:nvSpPr>
          <p:spPr>
            <a:xfrm>
              <a:off x="8220075" y="2495550"/>
              <a:ext cx="1571625" cy="247650"/>
            </a:xfrm>
            <a:prstGeom prst="roundRect">
              <a:avLst>
                <a:gd name="adj" fmla="val 50000"/>
              </a:avLst>
            </a:prstGeom>
            <a:solidFill>
              <a:srgbClr val="FFFFFF"/>
            </a:solidFill>
            <a:ln w="9525">
              <a:solidFill>
                <a:srgbClr val="C9D1F0"/>
              </a:solidFill>
            </a:ln>
          </p:spPr>
        </p:sp>
        <p:sp>
          <p:nvSpPr>
            <p:cNvPr id="59" name="TextBox 59"/>
            <p:cNvSpPr txBox="1"/>
            <p:nvPr/>
          </p:nvSpPr>
          <p:spPr>
            <a:xfrm>
              <a:off x="8754046" y="2569845"/>
              <a:ext cx="494157"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图谱索引</a:t>
              </a:r>
            </a:p>
          </p:txBody>
        </p:sp>
        <p:sp>
          <p:nvSpPr>
            <p:cNvPr id="60" name="Rectangle 60"/>
            <p:cNvSpPr/>
            <p:nvPr/>
          </p:nvSpPr>
          <p:spPr>
            <a:xfrm>
              <a:off x="8220075" y="2838450"/>
              <a:ext cx="1571625" cy="247650"/>
            </a:xfrm>
            <a:prstGeom prst="roundRect">
              <a:avLst>
                <a:gd name="adj" fmla="val 50000"/>
              </a:avLst>
            </a:prstGeom>
            <a:solidFill>
              <a:srgbClr val="FFFFFF"/>
            </a:solidFill>
            <a:ln w="9525">
              <a:solidFill>
                <a:srgbClr val="C9D1F0"/>
              </a:solidFill>
            </a:ln>
          </p:spPr>
        </p:sp>
        <p:sp>
          <p:nvSpPr>
            <p:cNvPr id="61" name="TextBox 61"/>
            <p:cNvSpPr txBox="1"/>
            <p:nvPr/>
          </p:nvSpPr>
          <p:spPr>
            <a:xfrm>
              <a:off x="8693468" y="2912745"/>
              <a:ext cx="615315"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图谱数据库</a:t>
              </a:r>
            </a:p>
          </p:txBody>
        </p:sp>
        <p:sp>
          <p:nvSpPr>
            <p:cNvPr id="62" name="Rectangle 62"/>
            <p:cNvSpPr/>
            <p:nvPr/>
          </p:nvSpPr>
          <p:spPr>
            <a:xfrm>
              <a:off x="8220075" y="3181350"/>
              <a:ext cx="1571625" cy="247650"/>
            </a:xfrm>
            <a:prstGeom prst="roundRect">
              <a:avLst>
                <a:gd name="adj" fmla="val 50000"/>
              </a:avLst>
            </a:prstGeom>
            <a:solidFill>
              <a:srgbClr val="FFFFFF"/>
            </a:solidFill>
            <a:ln w="9525">
              <a:solidFill>
                <a:srgbClr val="C9D1F0"/>
              </a:solidFill>
            </a:ln>
          </p:spPr>
        </p:sp>
        <p:sp>
          <p:nvSpPr>
            <p:cNvPr id="63" name="TextBox 63"/>
            <p:cNvSpPr txBox="1"/>
            <p:nvPr/>
          </p:nvSpPr>
          <p:spPr>
            <a:xfrm>
              <a:off x="8511730" y="3255645"/>
              <a:ext cx="978789" cy="176212"/>
            </a:xfrm>
            <a:prstGeom prst="rect">
              <a:avLst/>
            </a:prstGeom>
            <a:noFill/>
            <a:ln>
              <a:noFill/>
            </a:ln>
          </p:spPr>
          <p:txBody>
            <a:bodyPr wrap="none" lIns="0" tIns="0" rIns="0" bIns="0" anchor="t" anchorCtr="0">
              <a:spAutoFit/>
            </a:bodyPr>
            <a:lstStyle/>
            <a:p>
              <a:pPr algn="ctr"/>
              <a:r>
                <a:rPr lang="zh-CN" sz="900" dirty="0">
                  <a:solidFill>
                    <a:srgbClr val="C45F4A"/>
                  </a:solidFill>
                  <a:latin typeface="+mn-lt"/>
                  <a:ea typeface="+mn-ea"/>
                  <a:cs typeface="+mn-cs"/>
                </a:rPr>
                <a:t>图谱索引数据同步</a:t>
              </a:r>
            </a:p>
          </p:txBody>
        </p:sp>
      </p:grpSp>
      <p:grpSp>
        <p:nvGrpSpPr>
          <p:cNvPr id="67" name="axis-support"/>
          <p:cNvGrpSpPr/>
          <p:nvPr/>
        </p:nvGrpSpPr>
        <p:grpSpPr>
          <a:xfrm>
            <a:off x="10267950" y="2114550"/>
            <a:ext cx="295783" cy="1390650"/>
            <a:chOff x="10267950" y="2114550"/>
            <a:chExt cx="295783" cy="1390650"/>
          </a:xfrm>
        </p:grpSpPr>
        <p:sp>
          <p:nvSpPr>
            <p:cNvPr id="65" name="Line 65"/>
            <p:cNvSpPr/>
            <p:nvPr/>
          </p:nvSpPr>
          <p:spPr>
            <a:xfrm flipV="1">
              <a:off x="10267950" y="2114550"/>
              <a:ext cx="1" cy="1390650"/>
            </a:xfrm>
            <a:prstGeom prst="line">
              <a:avLst/>
            </a:prstGeom>
            <a:noFill/>
            <a:ln w="14288">
              <a:solidFill>
                <a:srgbClr val="E08C7B"/>
              </a:solidFill>
              <a:tailEnd type="triangle" w="lg" len="lg"/>
            </a:ln>
          </p:spPr>
        </p:sp>
        <p:sp>
          <p:nvSpPr>
            <p:cNvPr id="66" name="TextBox 66"/>
            <p:cNvSpPr txBox="1"/>
            <p:nvPr/>
          </p:nvSpPr>
          <p:spPr>
            <a:xfrm>
              <a:off x="10429367" y="2295049"/>
              <a:ext cx="134366" cy="705040"/>
            </a:xfrm>
            <a:prstGeom prst="rect">
              <a:avLst/>
            </a:prstGeom>
            <a:noFill/>
            <a:ln>
              <a:noFill/>
            </a:ln>
          </p:spPr>
          <p:txBody>
            <a:bodyPr wrap="none" lIns="0" tIns="0" rIns="0" bIns="0" anchor="t" anchorCtr="0">
              <a:spAutoFit/>
            </a:bodyPr>
            <a:lstStyle/>
            <a:p>
              <a:pPr algn="ctr">
                <a:lnSpc>
                  <a:spcPts val="1350"/>
                </a:lnSpc>
              </a:pPr>
              <a:r>
                <a:rPr lang="zh-CN" sz="980" dirty="0">
                  <a:solidFill>
                    <a:srgbClr val="543E3A"/>
                  </a:solidFill>
                  <a:latin typeface="+mn-lt"/>
                  <a:ea typeface="+mn-ea"/>
                  <a:cs typeface="+mn-cs"/>
                </a:rPr>
                <a:t>引</a:t>
              </a:r>
              <a:br/>
              <a:r>
                <a:rPr lang="zh-CN" sz="980" dirty="0">
                  <a:solidFill>
                    <a:srgbClr val="543E3A"/>
                  </a:solidFill>
                  <a:latin typeface="+mn-lt"/>
                  <a:ea typeface="+mn-ea"/>
                  <a:cs typeface="+mn-cs"/>
                </a:rPr>
                <a:t>擎</a:t>
              </a:r>
              <a:br/>
              <a:r>
                <a:rPr lang="zh-CN" sz="980" dirty="0">
                  <a:solidFill>
                    <a:srgbClr val="543E3A"/>
                  </a:solidFill>
                  <a:latin typeface="+mn-lt"/>
                  <a:ea typeface="+mn-ea"/>
                  <a:cs typeface="+mn-cs"/>
                </a:rPr>
                <a:t>支</a:t>
              </a:r>
              <a:br/>
              <a:r>
                <a:rPr lang="zh-CN" sz="980" dirty="0">
                  <a:solidFill>
                    <a:srgbClr val="543E3A"/>
                  </a:solidFill>
                  <a:latin typeface="+mn-lt"/>
                  <a:ea typeface="+mn-ea"/>
                  <a:cs typeface="+mn-cs"/>
                </a:rPr>
                <a:t>持</a:t>
              </a:r>
            </a:p>
          </p:txBody>
        </p:sp>
      </p:grpSp>
      <p:grpSp>
        <p:nvGrpSpPr>
          <p:cNvPr id="70" name="axis-store-left"/>
          <p:cNvGrpSpPr/>
          <p:nvPr/>
        </p:nvGrpSpPr>
        <p:grpSpPr>
          <a:xfrm>
            <a:off x="1704467" y="4019550"/>
            <a:ext cx="276734" cy="723900"/>
            <a:chOff x="1704467" y="4019550"/>
            <a:chExt cx="276734" cy="723900"/>
          </a:xfrm>
        </p:grpSpPr>
        <p:sp>
          <p:nvSpPr>
            <p:cNvPr id="68" name="TextBox 68"/>
            <p:cNvSpPr txBox="1"/>
            <p:nvPr/>
          </p:nvSpPr>
          <p:spPr>
            <a:xfrm>
              <a:off x="1704467" y="4228624"/>
              <a:ext cx="13436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543E3A"/>
                  </a:solidFill>
                  <a:latin typeface="+mn-lt"/>
                  <a:ea typeface="+mn-ea"/>
                  <a:cs typeface="+mn-cs"/>
                </a:rPr>
                <a:t>存</a:t>
              </a:r>
              <a:br/>
              <a:r>
                <a:rPr lang="zh-CN" sz="980" dirty="0">
                  <a:solidFill>
                    <a:srgbClr val="543E3A"/>
                  </a:solidFill>
                  <a:latin typeface="+mn-lt"/>
                  <a:ea typeface="+mn-ea"/>
                  <a:cs typeface="+mn-cs"/>
                </a:rPr>
                <a:t>储</a:t>
              </a:r>
            </a:p>
          </p:txBody>
        </p:sp>
        <p:sp>
          <p:nvSpPr>
            <p:cNvPr id="69" name="Line 69"/>
            <p:cNvSpPr/>
            <p:nvPr/>
          </p:nvSpPr>
          <p:spPr>
            <a:xfrm flipV="1">
              <a:off x="1981200" y="4019550"/>
              <a:ext cx="1" cy="723900"/>
            </a:xfrm>
            <a:prstGeom prst="line">
              <a:avLst/>
            </a:prstGeom>
            <a:noFill/>
            <a:ln w="14288">
              <a:solidFill>
                <a:srgbClr val="E08C7B"/>
              </a:solidFill>
              <a:tailEnd type="triangle" w="lg" len="lg"/>
            </a:ln>
          </p:spPr>
        </p:sp>
      </p:grpSp>
      <p:grpSp>
        <p:nvGrpSpPr>
          <p:cNvPr id="89" name="capability-layer"/>
          <p:cNvGrpSpPr/>
          <p:nvPr/>
        </p:nvGrpSpPr>
        <p:grpSpPr>
          <a:xfrm>
            <a:off x="2895600" y="4000500"/>
            <a:ext cx="7305675" cy="866775"/>
            <a:chOff x="2895600" y="4000500"/>
            <a:chExt cx="7305675" cy="866775"/>
          </a:xfrm>
        </p:grpSpPr>
        <p:sp>
          <p:nvSpPr>
            <p:cNvPr id="71" name="Ellipse 71"/>
            <p:cNvSpPr/>
            <p:nvPr/>
          </p:nvSpPr>
          <p:spPr>
            <a:xfrm>
              <a:off x="2971800" y="4772025"/>
              <a:ext cx="609600" cy="95250"/>
            </a:xfrm>
            <a:prstGeom prst="ellipse">
              <a:avLst/>
            </a:prstGeom>
            <a:solidFill>
              <a:srgbClr val="FDE3DC"/>
            </a:solidFill>
            <a:ln>
              <a:noFill/>
            </a:ln>
          </p:spPr>
        </p:sp>
        <p:sp>
          <p:nvSpPr>
            <p:cNvPr id="72" name="Ellipse 72"/>
            <p:cNvSpPr/>
            <p:nvPr/>
          </p:nvSpPr>
          <p:spPr>
            <a:xfrm>
              <a:off x="2895600" y="4000500"/>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73" name="TextBox 73"/>
            <p:cNvSpPr txBox="1"/>
            <p:nvPr/>
          </p:nvSpPr>
          <p:spPr>
            <a:xfrm>
              <a:off x="3143186" y="4234101"/>
              <a:ext cx="266827" cy="359950"/>
            </a:xfrm>
            <a:prstGeom prst="rect">
              <a:avLst/>
            </a:prstGeom>
            <a:noFill/>
            <a:ln>
              <a:noFill/>
            </a:ln>
          </p:spPr>
          <p:txBody>
            <a:bodyPr wrap="none" lIns="0" tIns="0" rIns="0" bIns="0" anchor="t" anchorCtr="0">
              <a:spAutoFit/>
            </a:bodyPr>
            <a:lstStyle/>
            <a:p>
              <a:pPr algn="ctr">
                <a:lnSpc>
                  <a:spcPts val="1275"/>
                </a:lnSpc>
              </a:pPr>
              <a:r>
                <a:rPr lang="zh-CN" sz="1010" b="1" dirty="0">
                  <a:solidFill>
                    <a:srgbClr val="FFFFFF"/>
                  </a:solidFill>
                  <a:latin typeface="+mn-lt"/>
                  <a:ea typeface="+mn-ea"/>
                  <a:cs typeface="+mn-cs"/>
                </a:rPr>
                <a:t>增删</a:t>
              </a:r>
              <a:br/>
              <a:r>
                <a:rPr lang="zh-CN" sz="1010" b="1" dirty="0">
                  <a:solidFill>
                    <a:srgbClr val="FFFFFF"/>
                  </a:solidFill>
                  <a:latin typeface="+mn-lt"/>
                  <a:ea typeface="+mn-ea"/>
                  <a:cs typeface="+mn-cs"/>
                </a:rPr>
                <a:t>改查</a:t>
              </a:r>
            </a:p>
          </p:txBody>
        </p:sp>
        <p:sp>
          <p:nvSpPr>
            <p:cNvPr id="74" name="Ellipse 74"/>
            <p:cNvSpPr/>
            <p:nvPr/>
          </p:nvSpPr>
          <p:spPr>
            <a:xfrm>
              <a:off x="4267200" y="4772025"/>
              <a:ext cx="609600" cy="95250"/>
            </a:xfrm>
            <a:prstGeom prst="ellipse">
              <a:avLst/>
            </a:prstGeom>
            <a:solidFill>
              <a:srgbClr val="FDE3DC"/>
            </a:solidFill>
            <a:ln>
              <a:noFill/>
            </a:ln>
          </p:spPr>
        </p:sp>
        <p:sp>
          <p:nvSpPr>
            <p:cNvPr id="75" name="Ellipse 75"/>
            <p:cNvSpPr/>
            <p:nvPr/>
          </p:nvSpPr>
          <p:spPr>
            <a:xfrm>
              <a:off x="4191000" y="4000500"/>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76" name="TextBox 76"/>
            <p:cNvSpPr txBox="1"/>
            <p:nvPr/>
          </p:nvSpPr>
          <p:spPr>
            <a:xfrm>
              <a:off x="4438586" y="4234101"/>
              <a:ext cx="266827" cy="359950"/>
            </a:xfrm>
            <a:prstGeom prst="rect">
              <a:avLst/>
            </a:prstGeom>
            <a:noFill/>
            <a:ln>
              <a:noFill/>
            </a:ln>
          </p:spPr>
          <p:txBody>
            <a:bodyPr wrap="none" lIns="0" tIns="0" rIns="0" bIns="0" anchor="t" anchorCtr="0">
              <a:spAutoFit/>
            </a:bodyPr>
            <a:lstStyle/>
            <a:p>
              <a:pPr algn="ctr">
                <a:lnSpc>
                  <a:spcPts val="1275"/>
                </a:lnSpc>
              </a:pPr>
              <a:r>
                <a:rPr lang="zh-CN" sz="1010" b="1" dirty="0">
                  <a:solidFill>
                    <a:srgbClr val="FFFFFF"/>
                  </a:solidFill>
                  <a:latin typeface="+mn-lt"/>
                  <a:ea typeface="+mn-ea"/>
                  <a:cs typeface="+mn-cs"/>
                </a:rPr>
                <a:t>关系</a:t>
              </a:r>
              <a:br/>
              <a:r>
                <a:rPr lang="zh-CN" sz="1010" b="1" dirty="0">
                  <a:solidFill>
                    <a:srgbClr val="FFFFFF"/>
                  </a:solidFill>
                  <a:latin typeface="+mn-lt"/>
                  <a:ea typeface="+mn-ea"/>
                  <a:cs typeface="+mn-cs"/>
                </a:rPr>
                <a:t>抽取</a:t>
              </a:r>
            </a:p>
          </p:txBody>
        </p:sp>
        <p:sp>
          <p:nvSpPr>
            <p:cNvPr id="77" name="Ellipse 77"/>
            <p:cNvSpPr/>
            <p:nvPr/>
          </p:nvSpPr>
          <p:spPr>
            <a:xfrm>
              <a:off x="5562600" y="4772025"/>
              <a:ext cx="609600" cy="95250"/>
            </a:xfrm>
            <a:prstGeom prst="ellipse">
              <a:avLst/>
            </a:prstGeom>
            <a:solidFill>
              <a:srgbClr val="FDE3DC"/>
            </a:solidFill>
            <a:ln>
              <a:noFill/>
            </a:ln>
          </p:spPr>
        </p:sp>
        <p:sp>
          <p:nvSpPr>
            <p:cNvPr id="78" name="Ellipse 78"/>
            <p:cNvSpPr/>
            <p:nvPr/>
          </p:nvSpPr>
          <p:spPr>
            <a:xfrm>
              <a:off x="5486400" y="4000500"/>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79" name="TextBox 79"/>
            <p:cNvSpPr txBox="1"/>
            <p:nvPr/>
          </p:nvSpPr>
          <p:spPr>
            <a:xfrm>
              <a:off x="5733986" y="4234101"/>
              <a:ext cx="266827" cy="359950"/>
            </a:xfrm>
            <a:prstGeom prst="rect">
              <a:avLst/>
            </a:prstGeom>
            <a:noFill/>
            <a:ln>
              <a:noFill/>
            </a:ln>
          </p:spPr>
          <p:txBody>
            <a:bodyPr wrap="none" lIns="0" tIns="0" rIns="0" bIns="0" anchor="t" anchorCtr="0">
              <a:spAutoFit/>
            </a:bodyPr>
            <a:lstStyle/>
            <a:p>
              <a:pPr algn="ctr">
                <a:lnSpc>
                  <a:spcPts val="1275"/>
                </a:lnSpc>
              </a:pPr>
              <a:r>
                <a:rPr lang="zh-CN" sz="1010" b="1" dirty="0">
                  <a:solidFill>
                    <a:srgbClr val="FFFFFF"/>
                  </a:solidFill>
                  <a:latin typeface="+mn-lt"/>
                  <a:ea typeface="+mn-ea"/>
                  <a:cs typeface="+mn-cs"/>
                </a:rPr>
                <a:t>版本</a:t>
              </a:r>
              <a:br/>
              <a:r>
                <a:rPr lang="zh-CN" sz="1010" b="1" dirty="0">
                  <a:solidFill>
                    <a:srgbClr val="FFFFFF"/>
                  </a:solidFill>
                  <a:latin typeface="+mn-lt"/>
                  <a:ea typeface="+mn-ea"/>
                  <a:cs typeface="+mn-cs"/>
                </a:rPr>
                <a:t>切换</a:t>
              </a:r>
            </a:p>
          </p:txBody>
        </p:sp>
        <p:sp>
          <p:nvSpPr>
            <p:cNvPr id="80" name="Ellipse 80"/>
            <p:cNvSpPr/>
            <p:nvPr/>
          </p:nvSpPr>
          <p:spPr>
            <a:xfrm>
              <a:off x="6915150" y="4772025"/>
              <a:ext cx="609600" cy="95250"/>
            </a:xfrm>
            <a:prstGeom prst="ellipse">
              <a:avLst/>
            </a:prstGeom>
            <a:solidFill>
              <a:srgbClr val="FDE3DC"/>
            </a:solidFill>
            <a:ln>
              <a:noFill/>
            </a:ln>
          </p:spPr>
        </p:sp>
        <p:sp>
          <p:nvSpPr>
            <p:cNvPr id="81" name="Ellipse 81"/>
            <p:cNvSpPr/>
            <p:nvPr/>
          </p:nvSpPr>
          <p:spPr>
            <a:xfrm>
              <a:off x="6838950" y="4000500"/>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82" name="TextBox 82"/>
            <p:cNvSpPr txBox="1"/>
            <p:nvPr/>
          </p:nvSpPr>
          <p:spPr>
            <a:xfrm>
              <a:off x="7086536" y="4234101"/>
              <a:ext cx="266827" cy="359950"/>
            </a:xfrm>
            <a:prstGeom prst="rect">
              <a:avLst/>
            </a:prstGeom>
            <a:noFill/>
            <a:ln>
              <a:noFill/>
            </a:ln>
          </p:spPr>
          <p:txBody>
            <a:bodyPr wrap="none" lIns="0" tIns="0" rIns="0" bIns="0" anchor="t" anchorCtr="0">
              <a:spAutoFit/>
            </a:bodyPr>
            <a:lstStyle/>
            <a:p>
              <a:pPr algn="ctr">
                <a:lnSpc>
                  <a:spcPts val="1275"/>
                </a:lnSpc>
              </a:pPr>
              <a:r>
                <a:rPr lang="zh-CN" sz="1010" b="1" dirty="0">
                  <a:solidFill>
                    <a:srgbClr val="FFFFFF"/>
                  </a:solidFill>
                  <a:latin typeface="+mn-lt"/>
                  <a:ea typeface="+mn-ea"/>
                  <a:cs typeface="+mn-cs"/>
                </a:rPr>
                <a:t>引擎</a:t>
              </a:r>
              <a:br/>
              <a:r>
                <a:rPr lang="zh-CN" sz="1010" b="1" dirty="0">
                  <a:solidFill>
                    <a:srgbClr val="FFFFFF"/>
                  </a:solidFill>
                  <a:latin typeface="+mn-lt"/>
                  <a:ea typeface="+mn-ea"/>
                  <a:cs typeface="+mn-cs"/>
                </a:rPr>
                <a:t>同步</a:t>
              </a:r>
            </a:p>
          </p:txBody>
        </p:sp>
        <p:sp>
          <p:nvSpPr>
            <p:cNvPr id="83" name="Ellipse 83"/>
            <p:cNvSpPr/>
            <p:nvPr/>
          </p:nvSpPr>
          <p:spPr>
            <a:xfrm>
              <a:off x="8220075" y="4772025"/>
              <a:ext cx="609600" cy="95250"/>
            </a:xfrm>
            <a:prstGeom prst="ellipse">
              <a:avLst/>
            </a:prstGeom>
            <a:solidFill>
              <a:srgbClr val="FDE3DC"/>
            </a:solidFill>
            <a:ln>
              <a:noFill/>
            </a:ln>
          </p:spPr>
        </p:sp>
        <p:sp>
          <p:nvSpPr>
            <p:cNvPr id="84" name="Ellipse 84"/>
            <p:cNvSpPr/>
            <p:nvPr/>
          </p:nvSpPr>
          <p:spPr>
            <a:xfrm>
              <a:off x="8143875" y="4000500"/>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85" name="TextBox 85"/>
            <p:cNvSpPr txBox="1"/>
            <p:nvPr/>
          </p:nvSpPr>
          <p:spPr>
            <a:xfrm>
              <a:off x="8391462" y="4234101"/>
              <a:ext cx="266827" cy="359950"/>
            </a:xfrm>
            <a:prstGeom prst="rect">
              <a:avLst/>
            </a:prstGeom>
            <a:noFill/>
            <a:ln>
              <a:noFill/>
            </a:ln>
          </p:spPr>
          <p:txBody>
            <a:bodyPr wrap="none" lIns="0" tIns="0" rIns="0" bIns="0" anchor="t" anchorCtr="0">
              <a:spAutoFit/>
            </a:bodyPr>
            <a:lstStyle/>
            <a:p>
              <a:pPr algn="ctr">
                <a:lnSpc>
                  <a:spcPts val="1275"/>
                </a:lnSpc>
              </a:pPr>
              <a:r>
                <a:rPr lang="zh-CN" sz="1010" b="1" dirty="0">
                  <a:solidFill>
                    <a:srgbClr val="FFFFFF"/>
                  </a:solidFill>
                  <a:latin typeface="+mn-lt"/>
                  <a:ea typeface="+mn-ea"/>
                  <a:cs typeface="+mn-cs"/>
                </a:rPr>
                <a:t>知识</a:t>
              </a:r>
              <a:br/>
              <a:r>
                <a:rPr lang="zh-CN" sz="1010" b="1" dirty="0">
                  <a:solidFill>
                    <a:srgbClr val="FFFFFF"/>
                  </a:solidFill>
                  <a:latin typeface="+mn-lt"/>
                  <a:ea typeface="+mn-ea"/>
                  <a:cs typeface="+mn-cs"/>
                </a:rPr>
                <a:t>切换</a:t>
              </a:r>
            </a:p>
          </p:txBody>
        </p:sp>
        <p:sp>
          <p:nvSpPr>
            <p:cNvPr id="86" name="Ellipse 86"/>
            <p:cNvSpPr/>
            <p:nvPr/>
          </p:nvSpPr>
          <p:spPr>
            <a:xfrm>
              <a:off x="9515475" y="4772025"/>
              <a:ext cx="609600" cy="95250"/>
            </a:xfrm>
            <a:prstGeom prst="ellipse">
              <a:avLst/>
            </a:prstGeom>
            <a:solidFill>
              <a:srgbClr val="FDE3DC"/>
            </a:solidFill>
            <a:ln>
              <a:noFill/>
            </a:ln>
          </p:spPr>
        </p:sp>
        <p:sp>
          <p:nvSpPr>
            <p:cNvPr id="87" name="Ellipse 87"/>
            <p:cNvSpPr/>
            <p:nvPr/>
          </p:nvSpPr>
          <p:spPr>
            <a:xfrm>
              <a:off x="9439275" y="4000500"/>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88" name="TextBox 88"/>
            <p:cNvSpPr txBox="1"/>
            <p:nvPr/>
          </p:nvSpPr>
          <p:spPr>
            <a:xfrm>
              <a:off x="9686862" y="4234101"/>
              <a:ext cx="266827" cy="359950"/>
            </a:xfrm>
            <a:prstGeom prst="rect">
              <a:avLst/>
            </a:prstGeom>
            <a:noFill/>
            <a:ln>
              <a:noFill/>
            </a:ln>
          </p:spPr>
          <p:txBody>
            <a:bodyPr wrap="none" lIns="0" tIns="0" rIns="0" bIns="0" anchor="t" anchorCtr="0">
              <a:spAutoFit/>
            </a:bodyPr>
            <a:lstStyle/>
            <a:p>
              <a:pPr algn="ctr">
                <a:lnSpc>
                  <a:spcPts val="1275"/>
                </a:lnSpc>
              </a:pPr>
              <a:r>
                <a:rPr lang="en-US" sz="1010" b="1" dirty="0">
                  <a:solidFill>
                    <a:srgbClr val="FFFFFF"/>
                  </a:solidFill>
                  <a:latin typeface="+mn-lt"/>
                  <a:ea typeface="+mn-ea"/>
                  <a:cs typeface="+mn-cs"/>
                </a:rPr>
                <a:t>QA​</a:t>
              </a:r>
              <a:br/>
              <a:r>
                <a:rPr lang="zh-CN" sz="1010" b="1" dirty="0">
                  <a:solidFill>
                    <a:srgbClr val="FFFFFF"/>
                  </a:solidFill>
                  <a:latin typeface="+mn-lt"/>
                  <a:ea typeface="+mn-ea"/>
                  <a:cs typeface="+mn-cs"/>
                </a:rPr>
                <a:t>泛化</a:t>
              </a:r>
            </a:p>
          </p:txBody>
        </p:sp>
      </p:grpSp>
      <p:grpSp>
        <p:nvGrpSpPr>
          <p:cNvPr id="92" name="axis-store-right"/>
          <p:cNvGrpSpPr/>
          <p:nvPr/>
        </p:nvGrpSpPr>
        <p:grpSpPr>
          <a:xfrm>
            <a:off x="10972800" y="4019550"/>
            <a:ext cx="276733" cy="723900"/>
            <a:chOff x="10972800" y="4019550"/>
            <a:chExt cx="276733" cy="723900"/>
          </a:xfrm>
        </p:grpSpPr>
        <p:sp>
          <p:nvSpPr>
            <p:cNvPr id="90" name="Line 90"/>
            <p:cNvSpPr/>
            <p:nvPr/>
          </p:nvSpPr>
          <p:spPr>
            <a:xfrm flipV="1">
              <a:off x="10972800" y="4019550"/>
              <a:ext cx="1" cy="723900"/>
            </a:xfrm>
            <a:prstGeom prst="line">
              <a:avLst/>
            </a:prstGeom>
            <a:noFill/>
            <a:ln w="14288">
              <a:solidFill>
                <a:srgbClr val="E08C7B"/>
              </a:solidFill>
              <a:tailEnd type="triangle" w="lg" len="lg"/>
            </a:ln>
          </p:spPr>
        </p:sp>
        <p:sp>
          <p:nvSpPr>
            <p:cNvPr id="91" name="TextBox 91"/>
            <p:cNvSpPr txBox="1"/>
            <p:nvPr/>
          </p:nvSpPr>
          <p:spPr>
            <a:xfrm>
              <a:off x="11115167" y="4228624"/>
              <a:ext cx="13436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543E3A"/>
                  </a:solidFill>
                  <a:latin typeface="+mn-lt"/>
                  <a:ea typeface="+mn-ea"/>
                  <a:cs typeface="+mn-cs"/>
                </a:rPr>
                <a:t>存</a:t>
              </a:r>
              <a:br/>
              <a:r>
                <a:rPr lang="zh-CN" sz="980" dirty="0">
                  <a:solidFill>
                    <a:srgbClr val="543E3A"/>
                  </a:solidFill>
                  <a:latin typeface="+mn-lt"/>
                  <a:ea typeface="+mn-ea"/>
                  <a:cs typeface="+mn-cs"/>
                </a:rPr>
                <a:t>储</a:t>
              </a:r>
            </a:p>
          </p:txBody>
        </p:sp>
      </p:grpSp>
      <p:grpSp>
        <p:nvGrpSpPr>
          <p:cNvPr id="95" name="axis-model-left"/>
          <p:cNvGrpSpPr/>
          <p:nvPr/>
        </p:nvGrpSpPr>
        <p:grpSpPr>
          <a:xfrm>
            <a:off x="1266317" y="5219700"/>
            <a:ext cx="295784" cy="495300"/>
            <a:chOff x="1266317" y="5219700"/>
            <a:chExt cx="295784" cy="495300"/>
          </a:xfrm>
        </p:grpSpPr>
        <p:sp>
          <p:nvSpPr>
            <p:cNvPr id="93" name="TextBox 93"/>
            <p:cNvSpPr txBox="1"/>
            <p:nvPr/>
          </p:nvSpPr>
          <p:spPr>
            <a:xfrm>
              <a:off x="1266317" y="5333524"/>
              <a:ext cx="13436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543E3A"/>
                  </a:solidFill>
                  <a:latin typeface="+mn-lt"/>
                  <a:ea typeface="+mn-ea"/>
                  <a:cs typeface="+mn-cs"/>
                </a:rPr>
                <a:t>模</a:t>
              </a:r>
              <a:br/>
              <a:r>
                <a:rPr lang="zh-CN" sz="980" dirty="0">
                  <a:solidFill>
                    <a:srgbClr val="543E3A"/>
                  </a:solidFill>
                  <a:latin typeface="+mn-lt"/>
                  <a:ea typeface="+mn-ea"/>
                  <a:cs typeface="+mn-cs"/>
                </a:rPr>
                <a:t>型</a:t>
              </a:r>
            </a:p>
          </p:txBody>
        </p:sp>
        <p:sp>
          <p:nvSpPr>
            <p:cNvPr id="94" name="Line 94"/>
            <p:cNvSpPr/>
            <p:nvPr/>
          </p:nvSpPr>
          <p:spPr>
            <a:xfrm flipV="1">
              <a:off x="1562100" y="5219700"/>
              <a:ext cx="1" cy="495300"/>
            </a:xfrm>
            <a:prstGeom prst="line">
              <a:avLst/>
            </a:prstGeom>
            <a:noFill/>
            <a:ln w="14288">
              <a:solidFill>
                <a:srgbClr val="E08C7B"/>
              </a:solidFill>
              <a:headEnd type="triangle" w="lg" len="lg"/>
              <a:tailEnd type="triangle" w="lg" len="lg"/>
            </a:ln>
          </p:spPr>
        </p:sp>
      </p:grpSp>
      <p:grpSp>
        <p:nvGrpSpPr>
          <p:cNvPr id="109" name="model-layer"/>
          <p:cNvGrpSpPr/>
          <p:nvPr/>
        </p:nvGrpSpPr>
        <p:grpSpPr>
          <a:xfrm>
            <a:off x="1752600" y="5257800"/>
            <a:ext cx="9420225" cy="419100"/>
            <a:chOff x="1752600" y="5257800"/>
            <a:chExt cx="9420225" cy="419100"/>
          </a:xfrm>
        </p:grpSpPr>
        <p:sp>
          <p:nvSpPr>
            <p:cNvPr id="96" name="Rectangle 96"/>
            <p:cNvSpPr/>
            <p:nvPr/>
          </p:nvSpPr>
          <p:spPr>
            <a:xfrm>
              <a:off x="1752600" y="5314950"/>
              <a:ext cx="1352550" cy="304800"/>
            </a:xfrm>
            <a:prstGeom prst="roundRect">
              <a:avLst>
                <a:gd name="adj" fmla="val 12500"/>
              </a:avLst>
            </a:prstGeom>
            <a:solidFill>
              <a:srgbClr val="FFFFFF"/>
            </a:solidFill>
            <a:ln w="11430">
              <a:solidFill>
                <a:srgbClr val="C9D1F0"/>
              </a:solidFill>
            </a:ln>
          </p:spPr>
        </p:sp>
        <p:sp>
          <p:nvSpPr>
            <p:cNvPr id="97" name="TextBox 97"/>
            <p:cNvSpPr txBox="1"/>
            <p:nvPr/>
          </p:nvSpPr>
          <p:spPr>
            <a:xfrm>
              <a:off x="2094103" y="5419249"/>
              <a:ext cx="669544" cy="190690"/>
            </a:xfrm>
            <a:prstGeom prst="rect">
              <a:avLst/>
            </a:prstGeom>
            <a:noFill/>
            <a:ln>
              <a:noFill/>
            </a:ln>
          </p:spPr>
          <p:txBody>
            <a:bodyPr wrap="none" lIns="0" tIns="0" rIns="0" bIns="0" anchor="t" anchorCtr="0">
              <a:spAutoFit/>
            </a:bodyPr>
            <a:lstStyle/>
            <a:p>
              <a:pPr algn="ctr"/>
              <a:r>
                <a:rPr lang="zh-CN" sz="980" dirty="0">
                  <a:solidFill>
                    <a:srgbClr val="C45F4A"/>
                  </a:solidFill>
                  <a:latin typeface="+mn-lt"/>
                  <a:ea typeface="+mn-ea"/>
                  <a:cs typeface="+mn-cs"/>
                </a:rPr>
                <a:t>引用式生成</a:t>
              </a:r>
            </a:p>
          </p:txBody>
        </p:sp>
        <p:sp>
          <p:nvSpPr>
            <p:cNvPr id="98" name="Rectangle 98"/>
            <p:cNvSpPr/>
            <p:nvPr/>
          </p:nvSpPr>
          <p:spPr>
            <a:xfrm>
              <a:off x="3219450" y="5314950"/>
              <a:ext cx="1352550" cy="304800"/>
            </a:xfrm>
            <a:prstGeom prst="roundRect">
              <a:avLst>
                <a:gd name="adj" fmla="val 12500"/>
              </a:avLst>
            </a:prstGeom>
            <a:solidFill>
              <a:srgbClr val="FFFFFF"/>
            </a:solidFill>
            <a:ln w="11430">
              <a:solidFill>
                <a:srgbClr val="C9D1F0"/>
              </a:solidFill>
            </a:ln>
          </p:spPr>
        </p:sp>
        <p:sp>
          <p:nvSpPr>
            <p:cNvPr id="99" name="TextBox 99"/>
            <p:cNvSpPr txBox="1"/>
            <p:nvPr/>
          </p:nvSpPr>
          <p:spPr>
            <a:xfrm>
              <a:off x="3525768" y="5419249"/>
              <a:ext cx="739914" cy="190690"/>
            </a:xfrm>
            <a:prstGeom prst="rect">
              <a:avLst/>
            </a:prstGeom>
            <a:noFill/>
            <a:ln>
              <a:noFill/>
            </a:ln>
          </p:spPr>
          <p:txBody>
            <a:bodyPr wrap="none" lIns="0" tIns="0" rIns="0" bIns="0" anchor="t" anchorCtr="0">
              <a:spAutoFit/>
            </a:bodyPr>
            <a:lstStyle/>
            <a:p>
              <a:pPr algn="ctr"/>
              <a:r>
                <a:rPr lang="zh-CN" sz="980" dirty="0">
                  <a:solidFill>
                    <a:srgbClr val="C45F4A"/>
                  </a:solidFill>
                  <a:latin typeface="+mn-lt"/>
                  <a:ea typeface="+mn-ea"/>
                  <a:cs typeface="+mn-cs"/>
                </a:rPr>
                <a:t>Query改写​</a:t>
              </a:r>
            </a:p>
          </p:txBody>
        </p:sp>
        <p:sp>
          <p:nvSpPr>
            <p:cNvPr id="100" name="Rectangle 100"/>
            <p:cNvSpPr/>
            <p:nvPr/>
          </p:nvSpPr>
          <p:spPr>
            <a:xfrm>
              <a:off x="4686300" y="5314950"/>
              <a:ext cx="1352550" cy="304800"/>
            </a:xfrm>
            <a:prstGeom prst="roundRect">
              <a:avLst>
                <a:gd name="adj" fmla="val 12500"/>
              </a:avLst>
            </a:prstGeom>
            <a:solidFill>
              <a:srgbClr val="FFFFFF"/>
            </a:solidFill>
            <a:ln w="11430">
              <a:solidFill>
                <a:srgbClr val="C9D1F0"/>
              </a:solidFill>
            </a:ln>
          </p:spPr>
        </p:sp>
        <p:sp>
          <p:nvSpPr>
            <p:cNvPr id="101" name="TextBox 101"/>
            <p:cNvSpPr txBox="1"/>
            <p:nvPr/>
          </p:nvSpPr>
          <p:spPr>
            <a:xfrm>
              <a:off x="5026481" y="5419249"/>
              <a:ext cx="672189" cy="190690"/>
            </a:xfrm>
            <a:prstGeom prst="rect">
              <a:avLst/>
            </a:prstGeom>
            <a:noFill/>
            <a:ln>
              <a:noFill/>
            </a:ln>
          </p:spPr>
          <p:txBody>
            <a:bodyPr wrap="none" lIns="0" tIns="0" rIns="0" bIns="0" anchor="t" anchorCtr="0">
              <a:spAutoFit/>
            </a:bodyPr>
            <a:lstStyle/>
            <a:p>
              <a:pPr algn="ctr"/>
              <a:r>
                <a:rPr lang="en-US" sz="980" dirty="0">
                  <a:solidFill>
                    <a:srgbClr val="C45F4A"/>
                  </a:solidFill>
                  <a:latin typeface="+mn-lt"/>
                  <a:ea typeface="+mn-ea"/>
                  <a:cs typeface="+mn-cs"/>
                </a:rPr>
                <a:t>Text2Cyph</a:t>
              </a:r>
            </a:p>
          </p:txBody>
        </p:sp>
        <p:sp>
          <p:nvSpPr>
            <p:cNvPr id="102" name="Line 102"/>
            <p:cNvSpPr/>
            <p:nvPr/>
          </p:nvSpPr>
          <p:spPr>
            <a:xfrm>
              <a:off x="6400800" y="5257800"/>
              <a:ext cx="9525" cy="419100"/>
            </a:xfrm>
            <a:custGeom>
              <a:avLst/>
              <a:gdLst/>
              <a:ahLst/>
              <a:cxnLst/>
              <a:rect l="l" t="t" r="r" b="b"/>
              <a:pathLst>
                <a:path w="9525" h="419100">
                  <a:moveTo>
                    <a:pt x="0" y="0"/>
                  </a:moveTo>
                  <a:lnTo>
                    <a:pt x="0" y="419100"/>
                  </a:lnTo>
                </a:path>
              </a:pathLst>
            </a:custGeom>
            <a:noFill/>
            <a:ln w="9525">
              <a:solidFill>
                <a:srgbClr val="D8DEF2"/>
              </a:solidFill>
              <a:custDash>
                <a:ds d="300000" sp="300000"/>
              </a:custDash>
            </a:ln>
          </p:spPr>
        </p:sp>
        <p:sp>
          <p:nvSpPr>
            <p:cNvPr id="103" name="Rectangle 103"/>
            <p:cNvSpPr/>
            <p:nvPr/>
          </p:nvSpPr>
          <p:spPr>
            <a:xfrm>
              <a:off x="6772275" y="5314950"/>
              <a:ext cx="1352550" cy="304800"/>
            </a:xfrm>
            <a:prstGeom prst="roundRect">
              <a:avLst>
                <a:gd name="adj" fmla="val 12500"/>
              </a:avLst>
            </a:prstGeom>
            <a:solidFill>
              <a:srgbClr val="FFFFFF"/>
            </a:solidFill>
            <a:ln w="11430">
              <a:solidFill>
                <a:srgbClr val="C9D1F0"/>
              </a:solidFill>
            </a:ln>
          </p:spPr>
        </p:sp>
        <p:sp>
          <p:nvSpPr>
            <p:cNvPr id="104" name="TextBox 104"/>
            <p:cNvSpPr txBox="1"/>
            <p:nvPr/>
          </p:nvSpPr>
          <p:spPr>
            <a:xfrm>
              <a:off x="7118342" y="5419249"/>
              <a:ext cx="660417" cy="190690"/>
            </a:xfrm>
            <a:prstGeom prst="rect">
              <a:avLst/>
            </a:prstGeom>
            <a:noFill/>
            <a:ln>
              <a:noFill/>
            </a:ln>
          </p:spPr>
          <p:txBody>
            <a:bodyPr wrap="none" lIns="0" tIns="0" rIns="0" bIns="0" anchor="t" anchorCtr="0">
              <a:spAutoFit/>
            </a:bodyPr>
            <a:lstStyle/>
            <a:p>
              <a:pPr algn="ctr"/>
              <a:r>
                <a:rPr lang="en-US" sz="980" dirty="0">
                  <a:solidFill>
                    <a:srgbClr val="C45F4A"/>
                  </a:solidFill>
                  <a:latin typeface="+mn-lt"/>
                  <a:ea typeface="+mn-ea"/>
                  <a:cs typeface="+mn-cs"/>
                </a:rPr>
                <a:t>Embedding</a:t>
              </a:r>
            </a:p>
          </p:txBody>
        </p:sp>
        <p:sp>
          <p:nvSpPr>
            <p:cNvPr id="105" name="Rectangle 105"/>
            <p:cNvSpPr/>
            <p:nvPr/>
          </p:nvSpPr>
          <p:spPr>
            <a:xfrm>
              <a:off x="8353425" y="5314950"/>
              <a:ext cx="1352550" cy="304800"/>
            </a:xfrm>
            <a:prstGeom prst="roundRect">
              <a:avLst>
                <a:gd name="adj" fmla="val 12500"/>
              </a:avLst>
            </a:prstGeom>
            <a:solidFill>
              <a:srgbClr val="FFFFFF"/>
            </a:solidFill>
            <a:ln w="11430">
              <a:solidFill>
                <a:srgbClr val="C9D1F0"/>
              </a:solidFill>
            </a:ln>
          </p:spPr>
        </p:sp>
        <p:sp>
          <p:nvSpPr>
            <p:cNvPr id="106" name="TextBox 106"/>
            <p:cNvSpPr txBox="1"/>
            <p:nvPr/>
          </p:nvSpPr>
          <p:spPr>
            <a:xfrm>
              <a:off x="8805013" y="5419249"/>
              <a:ext cx="449374" cy="190690"/>
            </a:xfrm>
            <a:prstGeom prst="rect">
              <a:avLst/>
            </a:prstGeom>
            <a:noFill/>
            <a:ln>
              <a:noFill/>
            </a:ln>
          </p:spPr>
          <p:txBody>
            <a:bodyPr wrap="none" lIns="0" tIns="0" rIns="0" bIns="0" anchor="t" anchorCtr="0">
              <a:spAutoFit/>
            </a:bodyPr>
            <a:lstStyle/>
            <a:p>
              <a:pPr algn="ctr"/>
              <a:r>
                <a:rPr lang="en-US" sz="980" dirty="0">
                  <a:solidFill>
                    <a:srgbClr val="C45F4A"/>
                  </a:solidFill>
                  <a:latin typeface="+mn-lt"/>
                  <a:ea typeface="+mn-ea"/>
                  <a:cs typeface="+mn-cs"/>
                </a:rPr>
                <a:t>Rerank</a:t>
              </a:r>
            </a:p>
          </p:txBody>
        </p:sp>
        <p:sp>
          <p:nvSpPr>
            <p:cNvPr id="107" name="Rectangle 107"/>
            <p:cNvSpPr/>
            <p:nvPr/>
          </p:nvSpPr>
          <p:spPr>
            <a:xfrm>
              <a:off x="9820275" y="5314950"/>
              <a:ext cx="1352550" cy="304800"/>
            </a:xfrm>
            <a:prstGeom prst="roundRect">
              <a:avLst>
                <a:gd name="adj" fmla="val 12500"/>
              </a:avLst>
            </a:prstGeom>
            <a:solidFill>
              <a:srgbClr val="FFFFFF"/>
            </a:solidFill>
            <a:ln w="11430">
              <a:solidFill>
                <a:srgbClr val="C9D1F0"/>
              </a:solidFill>
            </a:ln>
          </p:spPr>
        </p:sp>
        <p:sp>
          <p:nvSpPr>
            <p:cNvPr id="108" name="TextBox 108"/>
            <p:cNvSpPr txBox="1"/>
            <p:nvPr/>
          </p:nvSpPr>
          <p:spPr>
            <a:xfrm>
              <a:off x="10308143" y="5419249"/>
              <a:ext cx="376814" cy="190690"/>
            </a:xfrm>
            <a:prstGeom prst="rect">
              <a:avLst/>
            </a:prstGeom>
            <a:noFill/>
            <a:ln>
              <a:noFill/>
            </a:ln>
          </p:spPr>
          <p:txBody>
            <a:bodyPr wrap="none" lIns="0" tIns="0" rIns="0" bIns="0" anchor="t" anchorCtr="0">
              <a:spAutoFit/>
            </a:bodyPr>
            <a:lstStyle/>
            <a:p>
              <a:pPr algn="ctr"/>
              <a:r>
                <a:rPr lang="en-US" sz="980" dirty="0">
                  <a:solidFill>
                    <a:srgbClr val="C45F4A"/>
                  </a:solidFill>
                  <a:latin typeface="+mn-lt"/>
                  <a:ea typeface="+mn-ea"/>
                  <a:cs typeface="+mn-cs"/>
                </a:rPr>
                <a:t>Chunk</a:t>
              </a:r>
            </a:p>
          </p:txBody>
        </p:sp>
      </p:grpSp>
      <p:grpSp>
        <p:nvGrpSpPr>
          <p:cNvPr id="112" name="axis-model-right"/>
          <p:cNvGrpSpPr/>
          <p:nvPr/>
        </p:nvGrpSpPr>
        <p:grpSpPr>
          <a:xfrm>
            <a:off x="11430000" y="5219700"/>
            <a:ext cx="295783" cy="495300"/>
            <a:chOff x="11430000" y="5219700"/>
            <a:chExt cx="295783" cy="495300"/>
          </a:xfrm>
        </p:grpSpPr>
        <p:sp>
          <p:nvSpPr>
            <p:cNvPr id="110" name="Line 110"/>
            <p:cNvSpPr/>
            <p:nvPr/>
          </p:nvSpPr>
          <p:spPr>
            <a:xfrm flipV="1">
              <a:off x="11430000" y="5219700"/>
              <a:ext cx="1" cy="495300"/>
            </a:xfrm>
            <a:prstGeom prst="line">
              <a:avLst/>
            </a:prstGeom>
            <a:noFill/>
            <a:ln w="14288">
              <a:solidFill>
                <a:srgbClr val="E08C7B"/>
              </a:solidFill>
              <a:headEnd type="triangle" w="lg" len="lg"/>
              <a:tailEnd type="triangle" w="lg" len="lg"/>
            </a:ln>
          </p:spPr>
        </p:sp>
        <p:sp>
          <p:nvSpPr>
            <p:cNvPr id="111" name="TextBox 111"/>
            <p:cNvSpPr txBox="1"/>
            <p:nvPr/>
          </p:nvSpPr>
          <p:spPr>
            <a:xfrm>
              <a:off x="11591417" y="5333524"/>
              <a:ext cx="13436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543E3A"/>
                  </a:solidFill>
                  <a:latin typeface="+mn-lt"/>
                  <a:ea typeface="+mn-ea"/>
                  <a:cs typeface="+mn-cs"/>
                </a:rPr>
                <a:t>模</a:t>
              </a:r>
              <a:br/>
              <a:r>
                <a:rPr lang="zh-CN" sz="980" dirty="0">
                  <a:solidFill>
                    <a:srgbClr val="543E3A"/>
                  </a:solidFill>
                  <a:latin typeface="+mn-lt"/>
                  <a:ea typeface="+mn-ea"/>
                  <a:cs typeface="+mn-cs"/>
                </a:rPr>
                <a:t>型</a:t>
              </a:r>
            </a:p>
          </p:txBody>
        </p:sp>
      </p:grpSp>
      <p:grpSp>
        <p:nvGrpSpPr>
          <p:cNvPr id="117" name="bottom-band"/>
          <p:cNvGrpSpPr/>
          <p:nvPr/>
        </p:nvGrpSpPr>
        <p:grpSpPr>
          <a:xfrm>
            <a:off x="904875" y="5905500"/>
            <a:ext cx="10382250" cy="495300"/>
            <a:chOff x="904875" y="5905500"/>
            <a:chExt cx="10382250" cy="495300"/>
          </a:xfrm>
        </p:grpSpPr>
        <p:sp>
          <p:nvSpPr>
            <p:cNvPr id="113" name="Rectangle 113"/>
            <p:cNvSpPr/>
            <p:nvPr/>
          </p:nvSpPr>
          <p:spPr>
            <a:xfrm>
              <a:off x="904875" y="5905500"/>
              <a:ext cx="10382250" cy="495300"/>
            </a:xfrm>
            <a:prstGeom prst="roundRect">
              <a:avLst>
                <a:gd name="adj" fmla="val 7692"/>
              </a:avLst>
            </a:prstGeom>
            <a:gradFill>
              <a:gsLst>
                <a:gs pos="0">
                  <a:srgbClr val="E8634C"/>
                </a:gs>
                <a:gs pos="100000">
                  <a:srgbClr val="F0725C"/>
                </a:gs>
              </a:gsLst>
              <a:lin ang="0" scaled="1"/>
            </a:gradFill>
            <a:ln>
              <a:noFill/>
            </a:ln>
          </p:spPr>
        </p:sp>
        <p:sp>
          <p:nvSpPr>
            <p:cNvPr id="114" name="Line 114"/>
            <p:cNvSpPr/>
            <p:nvPr/>
          </p:nvSpPr>
          <p:spPr>
            <a:xfrm>
              <a:off x="6096000" y="5981700"/>
              <a:ext cx="9525" cy="342900"/>
            </a:xfrm>
            <a:custGeom>
              <a:avLst/>
              <a:gdLst/>
              <a:ahLst/>
              <a:cxnLst/>
              <a:rect l="l" t="t" r="r" b="b"/>
              <a:pathLst>
                <a:path w="9525" h="342900">
                  <a:moveTo>
                    <a:pt x="0" y="0"/>
                  </a:moveTo>
                  <a:lnTo>
                    <a:pt x="0" y="342900"/>
                  </a:lnTo>
                </a:path>
              </a:pathLst>
            </a:custGeom>
            <a:noFill/>
            <a:ln w="9525">
              <a:solidFill>
                <a:srgbClr val="FFFFFF">
                  <a:alpha val="60000"/>
                </a:srgbClr>
              </a:solidFill>
            </a:ln>
          </p:spPr>
        </p:sp>
        <p:sp>
          <p:nvSpPr>
            <p:cNvPr id="115" name="TextBox 115"/>
            <p:cNvSpPr txBox="1"/>
            <p:nvPr/>
          </p:nvSpPr>
          <p:spPr>
            <a:xfrm>
              <a:off x="2931986" y="6051232"/>
              <a:ext cx="1127379"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生成式模型</a:t>
              </a:r>
            </a:p>
          </p:txBody>
        </p:sp>
        <p:sp>
          <p:nvSpPr>
            <p:cNvPr id="116" name="TextBox 116"/>
            <p:cNvSpPr txBox="1"/>
            <p:nvPr/>
          </p:nvSpPr>
          <p:spPr>
            <a:xfrm>
              <a:off x="8123111" y="6051232"/>
              <a:ext cx="1127379"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理解式模型</a:t>
              </a:r>
            </a:p>
          </p:txBody>
        </p:sp>
      </p:gr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60</a:t>
              </a:r>
            </a:p>
          </p:txBody>
        </p:sp>
        <p:sp>
          <p:nvSpPr>
            <p:cNvPr id="4" name="TextBox 4"/>
            <p:cNvSpPr txBox="1"/>
            <p:nvPr/>
          </p:nvSpPr>
          <p:spPr>
            <a:xfrm>
              <a:off x="942594" y="151448"/>
              <a:ext cx="184420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物流服务模型​</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51" name="shipper-side"/>
          <p:cNvGrpSpPr/>
          <p:nvPr/>
        </p:nvGrpSpPr>
        <p:grpSpPr>
          <a:xfrm>
            <a:off x="514350" y="1505902"/>
            <a:ext cx="4581525" cy="4615434"/>
            <a:chOff x="514350" y="1505902"/>
            <a:chExt cx="4581525" cy="4615434"/>
          </a:xfrm>
        </p:grpSpPr>
        <p:sp>
          <p:nvSpPr>
            <p:cNvPr id="7" name="TextBox 7"/>
            <p:cNvSpPr txBox="1"/>
            <p:nvPr/>
          </p:nvSpPr>
          <p:spPr>
            <a:xfrm>
              <a:off x="1420940" y="1505902"/>
              <a:ext cx="434721" cy="205359"/>
            </a:xfrm>
            <a:prstGeom prst="rect">
              <a:avLst/>
            </a:prstGeom>
            <a:noFill/>
            <a:ln>
              <a:noFill/>
            </a:ln>
          </p:spPr>
          <p:txBody>
            <a:bodyPr wrap="none" lIns="0" tIns="0" rIns="0" bIns="0" anchor="t" anchorCtr="0">
              <a:spAutoFit/>
            </a:bodyPr>
            <a:lstStyle/>
            <a:p>
              <a:pPr algn="ctr"/>
              <a:r>
                <a:rPr lang="zh-CN" sz="1050" b="1" dirty="0">
                  <a:solidFill>
                    <a:srgbClr val="543E3A"/>
                  </a:solidFill>
                  <a:latin typeface="+mn-lt"/>
                  <a:ea typeface="+mn-ea"/>
                  <a:cs typeface="+mn-cs"/>
                </a:rPr>
                <a:t>会员费</a:t>
              </a:r>
            </a:p>
          </p:txBody>
        </p:sp>
        <p:sp>
          <p:nvSpPr>
            <p:cNvPr id="8" name="Line 8"/>
            <p:cNvSpPr/>
            <p:nvPr/>
          </p:nvSpPr>
          <p:spPr>
            <a:xfrm flipV="1">
              <a:off x="1638300" y="1771650"/>
              <a:ext cx="1" cy="628650"/>
            </a:xfrm>
            <a:prstGeom prst="line">
              <a:avLst/>
            </a:prstGeom>
            <a:noFill/>
            <a:ln w="14288">
              <a:solidFill>
                <a:srgbClr val="E8A79A"/>
              </a:solidFill>
              <a:tailEnd type="triangle" w="lg" len="lg"/>
            </a:ln>
          </p:spPr>
        </p:sp>
        <p:sp>
          <p:nvSpPr>
            <p:cNvPr id="9" name="Ellipse 9"/>
            <p:cNvSpPr/>
            <p:nvPr/>
          </p:nvSpPr>
          <p:spPr>
            <a:xfrm>
              <a:off x="2714625" y="2476500"/>
              <a:ext cx="2286000" cy="2286000"/>
            </a:xfrm>
            <a:prstGeom prst="ellipse">
              <a:avLst/>
            </a:prstGeom>
            <a:gradFill>
              <a:gsLst>
                <a:gs pos="0">
                  <a:srgbClr val="FFFFFF"/>
                </a:gs>
                <a:gs pos="100000">
                  <a:srgbClr val="FBE4DE"/>
                </a:gs>
              </a:gsLst>
              <a:path path="circle">
                <a:fillToRect l="50000" t="50000" r="50000" b="50000"/>
              </a:path>
            </a:gradFill>
            <a:ln>
              <a:noFill/>
            </a:ln>
          </p:spPr>
        </p:sp>
        <p:sp>
          <p:nvSpPr>
            <p:cNvPr id="10" name="Freeform 10"/>
            <p:cNvSpPr/>
            <p:nvPr/>
          </p:nvSpPr>
          <p:spPr>
            <a:xfrm>
              <a:off x="2619375" y="2189161"/>
              <a:ext cx="2476500" cy="715964"/>
            </a:xfrm>
            <a:custGeom>
              <a:avLst/>
              <a:gdLst/>
              <a:ahLst/>
              <a:cxnLst/>
              <a:rect l="l" t="t" r="r" b="b"/>
              <a:pathLst>
                <a:path w="2476500" h="715964">
                  <a:moveTo>
                    <a:pt x="0" y="715964"/>
                  </a:moveTo>
                  <a:cubicBezTo>
                    <a:pt x="254981" y="273012"/>
                    <a:pt x="727151" y="0"/>
                    <a:pt x="1238250" y="0"/>
                  </a:cubicBezTo>
                  <a:cubicBezTo>
                    <a:pt x="1749349" y="0"/>
                    <a:pt x="2221519" y="273012"/>
                    <a:pt x="2476500" y="715964"/>
                  </a:cubicBezTo>
                </a:path>
              </a:pathLst>
            </a:custGeom>
            <a:noFill/>
            <a:ln w="14288">
              <a:solidFill>
                <a:srgbClr val="E8634C"/>
              </a:solidFill>
              <a:custDash>
                <a:ds d="200000" sp="200000"/>
              </a:custDash>
              <a:tailEnd type="triangle" w="lg" len="lg"/>
            </a:ln>
          </p:spPr>
        </p:sp>
        <p:sp>
          <p:nvSpPr>
            <p:cNvPr id="11" name="Freeform 11"/>
            <p:cNvSpPr/>
            <p:nvPr/>
          </p:nvSpPr>
          <p:spPr>
            <a:xfrm>
              <a:off x="2619375" y="4333875"/>
              <a:ext cx="2476500" cy="715964"/>
            </a:xfrm>
            <a:custGeom>
              <a:avLst/>
              <a:gdLst/>
              <a:ahLst/>
              <a:cxnLst/>
              <a:rect l="l" t="t" r="r" b="b"/>
              <a:pathLst>
                <a:path w="2476500" h="715964">
                  <a:moveTo>
                    <a:pt x="2476500" y="0"/>
                  </a:moveTo>
                  <a:cubicBezTo>
                    <a:pt x="2221519" y="442952"/>
                    <a:pt x="1749349" y="715964"/>
                    <a:pt x="1238250" y="715964"/>
                  </a:cubicBezTo>
                  <a:cubicBezTo>
                    <a:pt x="727151" y="715964"/>
                    <a:pt x="254981" y="442952"/>
                    <a:pt x="0" y="0"/>
                  </a:cubicBezTo>
                </a:path>
              </a:pathLst>
            </a:custGeom>
            <a:noFill/>
            <a:ln w="14288">
              <a:solidFill>
                <a:srgbClr val="E8634C"/>
              </a:solidFill>
              <a:custDash>
                <a:ds d="200000" sp="200000"/>
              </a:custDash>
              <a:tailEnd type="triangle" w="lg" len="lg"/>
            </a:ln>
          </p:spPr>
        </p:sp>
        <p:sp>
          <p:nvSpPr>
            <p:cNvPr id="12" name="TextBox 12"/>
            <p:cNvSpPr txBox="1"/>
            <p:nvPr/>
          </p:nvSpPr>
          <p:spPr>
            <a:xfrm>
              <a:off x="3536506" y="2260997"/>
              <a:ext cx="642239"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更快更省钱</a:t>
              </a:r>
            </a:p>
          </p:txBody>
        </p:sp>
        <p:sp>
          <p:nvSpPr>
            <p:cNvPr id="13" name="TextBox 13"/>
            <p:cNvSpPr txBox="1"/>
            <p:nvPr/>
          </p:nvSpPr>
          <p:spPr>
            <a:xfrm>
              <a:off x="3278505" y="3381375"/>
              <a:ext cx="1158240" cy="560070"/>
            </a:xfrm>
            <a:prstGeom prst="rect">
              <a:avLst/>
            </a:prstGeom>
            <a:noFill/>
            <a:ln>
              <a:noFill/>
            </a:ln>
          </p:spPr>
          <p:txBody>
            <a:bodyPr wrap="none" lIns="0" tIns="0" rIns="0" bIns="0" anchor="t" anchorCtr="0">
              <a:spAutoFit/>
            </a:bodyPr>
            <a:lstStyle/>
            <a:p>
              <a:pPr algn="ctr">
                <a:lnSpc>
                  <a:spcPts val="2100"/>
                </a:lnSpc>
              </a:pPr>
              <a:r>
                <a:rPr lang="zh-CN" sz="1500" b="1" dirty="0">
                  <a:solidFill>
                    <a:srgbClr val="E2624C"/>
                  </a:solidFill>
                  <a:latin typeface="+mn-lt"/>
                  <a:ea typeface="+mn-ea"/>
                  <a:cs typeface="+mn-cs"/>
                </a:rPr>
                <a:t>高性价比带来</a:t>
              </a:r>
              <a:br/>
              <a:r>
                <a:rPr lang="zh-CN" sz="1500" b="1" dirty="0">
                  <a:solidFill>
                    <a:srgbClr val="E2624C"/>
                  </a:solidFill>
                  <a:latin typeface="+mn-lt"/>
                  <a:ea typeface="+mn-ea"/>
                  <a:cs typeface="+mn-cs"/>
                </a:rPr>
                <a:t>更多订单</a:t>
              </a:r>
            </a:p>
          </p:txBody>
        </p:sp>
        <p:sp>
          <p:nvSpPr>
            <p:cNvPr id="14" name="TextBox 14"/>
            <p:cNvSpPr txBox="1"/>
            <p:nvPr/>
          </p:nvSpPr>
          <p:spPr>
            <a:xfrm>
              <a:off x="3473234" y="4889897"/>
              <a:ext cx="768782" cy="183356"/>
            </a:xfrm>
            <a:prstGeom prst="rect">
              <a:avLst/>
            </a:prstGeom>
            <a:noFill/>
            <a:ln>
              <a:noFill/>
            </a:ln>
          </p:spPr>
          <p:txBody>
            <a:bodyPr wrap="none" lIns="0" tIns="0" rIns="0" bIns="0" anchor="t" anchorCtr="0">
              <a:spAutoFit/>
            </a:bodyPr>
            <a:lstStyle/>
            <a:p>
              <a:pPr algn="ctr"/>
              <a:r>
                <a:rPr lang="zh-CN" sz="940" b="1" dirty="0">
                  <a:solidFill>
                    <a:srgbClr val="543E3A"/>
                  </a:solidFill>
                  <a:latin typeface="+mn-lt"/>
                  <a:ea typeface="+mn-ea"/>
                  <a:cs typeface="+mn-cs"/>
                </a:rPr>
                <a:t>更多货主下单</a:t>
              </a:r>
            </a:p>
          </p:txBody>
        </p:sp>
        <p:sp>
          <p:nvSpPr>
            <p:cNvPr id="15" name="Ellipse 15"/>
            <p:cNvSpPr/>
            <p:nvPr/>
          </p:nvSpPr>
          <p:spPr>
            <a:xfrm>
              <a:off x="514350" y="2495550"/>
              <a:ext cx="2247900" cy="2247900"/>
            </a:xfrm>
            <a:prstGeom prst="ellipse">
              <a:avLst/>
            </a:prstGeom>
            <a:gradFill>
              <a:gsLst>
                <a:gs pos="0">
                  <a:srgbClr val="FFF6F3"/>
                </a:gs>
                <a:gs pos="100000">
                  <a:srgbClr val="F7D1CA"/>
                </a:gs>
              </a:gsLst>
              <a:path path="circle">
                <a:fillToRect l="50000" t="50000" r="50000" b="50000"/>
              </a:path>
            </a:gradFill>
            <a:ln>
              <a:noFill/>
            </a:ln>
          </p:spPr>
        </p:sp>
        <p:sp>
          <p:nvSpPr>
            <p:cNvPr id="16" name="Ellipse 16"/>
            <p:cNvSpPr/>
            <p:nvPr/>
          </p:nvSpPr>
          <p:spPr>
            <a:xfrm>
              <a:off x="952500" y="2933700"/>
              <a:ext cx="1371600" cy="1371600"/>
            </a:xfrm>
            <a:prstGeom prst="ellipse">
              <a:avLst/>
            </a:prstGeom>
            <a:solidFill>
              <a:srgbClr val="FFFFFF">
                <a:alpha val="60000"/>
              </a:srgbClr>
            </a:solidFill>
            <a:ln>
              <a:noFill/>
            </a:ln>
          </p:spPr>
        </p:sp>
        <p:sp>
          <p:nvSpPr>
            <p:cNvPr id="17" name="Ellipse 17"/>
            <p:cNvSpPr/>
            <p:nvPr/>
          </p:nvSpPr>
          <p:spPr>
            <a:xfrm>
              <a:off x="790575" y="2886075"/>
              <a:ext cx="514350" cy="514350"/>
            </a:xfrm>
            <a:prstGeom prst="ellipse">
              <a:avLst/>
            </a:prstGeom>
            <a:solidFill>
              <a:srgbClr val="FFFFFF"/>
            </a:solidFill>
            <a:ln>
              <a:noFill/>
            </a:ln>
          </p:spPr>
        </p:sp>
        <p:grpSp>
          <p:nvGrpSpPr>
            <p:cNvPr id="20" name="Group 20"/>
            <p:cNvGrpSpPr/>
            <p:nvPr/>
          </p:nvGrpSpPr>
          <p:grpSpPr>
            <a:xfrm>
              <a:off x="965600" y="2995612"/>
              <a:ext cx="155005" cy="142875"/>
              <a:chOff x="965600" y="2995612"/>
              <a:chExt cx="155005" cy="142875"/>
            </a:xfrm>
          </p:grpSpPr>
          <p:sp>
            <p:nvSpPr>
              <p:cNvPr id="18" name="Freeform 18"/>
              <p:cNvSpPr/>
              <p:nvPr/>
            </p:nvSpPr>
            <p:spPr>
              <a:xfrm>
                <a:off x="965600" y="299561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E8634C"/>
                </a:solidFill>
              </a:ln>
            </p:spPr>
          </p:sp>
          <p:sp>
            <p:nvSpPr>
              <p:cNvPr id="19" name="Freeform 19"/>
              <p:cNvSpPr/>
              <p:nvPr/>
            </p:nvSpPr>
            <p:spPr>
              <a:xfrm>
                <a:off x="1071562" y="3106737"/>
                <a:ext cx="47625" cy="31750"/>
              </a:xfrm>
              <a:custGeom>
                <a:avLst/>
                <a:gdLst/>
                <a:ahLst/>
                <a:cxnLst/>
                <a:rect l="l" t="t" r="r" b="b"/>
                <a:pathLst>
                  <a:path w="47625" h="31750">
                    <a:moveTo>
                      <a:pt x="0" y="15875"/>
                    </a:moveTo>
                    <a:lnTo>
                      <a:pt x="15875" y="31750"/>
                    </a:lnTo>
                    <a:lnTo>
                      <a:pt x="47625" y="0"/>
                    </a:lnTo>
                  </a:path>
                </a:pathLst>
              </a:custGeom>
              <a:noFill/>
              <a:ln w="15875">
                <a:solidFill>
                  <a:srgbClr val="E8634C"/>
                </a:solidFill>
              </a:ln>
            </p:spPr>
          </p:sp>
        </p:grpSp>
        <p:sp>
          <p:nvSpPr>
            <p:cNvPr id="21" name="TextBox 21"/>
            <p:cNvSpPr txBox="1"/>
            <p:nvPr/>
          </p:nvSpPr>
          <p:spPr>
            <a:xfrm>
              <a:off x="851827" y="322826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保险服务</a:t>
              </a:r>
            </a:p>
          </p:txBody>
        </p:sp>
        <p:sp>
          <p:nvSpPr>
            <p:cNvPr id="22" name="Ellipse 22"/>
            <p:cNvSpPr/>
            <p:nvPr/>
          </p:nvSpPr>
          <p:spPr>
            <a:xfrm>
              <a:off x="1971675" y="2886075"/>
              <a:ext cx="514350" cy="514350"/>
            </a:xfrm>
            <a:prstGeom prst="ellipse">
              <a:avLst/>
            </a:prstGeom>
            <a:solidFill>
              <a:srgbClr val="FFFFFF"/>
            </a:solidFill>
            <a:ln>
              <a:noFill/>
            </a:ln>
          </p:spPr>
        </p:sp>
        <p:grpSp>
          <p:nvGrpSpPr>
            <p:cNvPr id="27" name="Group 27"/>
            <p:cNvGrpSpPr/>
            <p:nvPr/>
          </p:nvGrpSpPr>
          <p:grpSpPr>
            <a:xfrm>
              <a:off x="2157412" y="3003550"/>
              <a:ext cx="142875" cy="127000"/>
              <a:chOff x="2157412" y="3003550"/>
              <a:chExt cx="142875" cy="127000"/>
            </a:xfrm>
          </p:grpSpPr>
          <p:sp>
            <p:nvSpPr>
              <p:cNvPr id="23" name="Freeform 23"/>
              <p:cNvSpPr/>
              <p:nvPr/>
            </p:nvSpPr>
            <p:spPr>
              <a:xfrm>
                <a:off x="2157412" y="3027362"/>
                <a:ext cx="142875" cy="9525"/>
              </a:xfrm>
              <a:custGeom>
                <a:avLst/>
                <a:gdLst/>
                <a:ahLst/>
                <a:cxnLst/>
                <a:rect l="l" t="t" r="r" b="b"/>
                <a:pathLst>
                  <a:path w="142875" h="9525">
                    <a:moveTo>
                      <a:pt x="142875" y="0"/>
                    </a:moveTo>
                    <a:lnTo>
                      <a:pt x="0" y="0"/>
                    </a:lnTo>
                  </a:path>
                </a:pathLst>
              </a:custGeom>
              <a:noFill/>
              <a:ln w="15875">
                <a:solidFill>
                  <a:srgbClr val="E8634C"/>
                </a:solidFill>
              </a:ln>
            </p:spPr>
          </p:sp>
          <p:sp>
            <p:nvSpPr>
              <p:cNvPr id="24" name="Freeform 24"/>
              <p:cNvSpPr/>
              <p:nvPr/>
            </p:nvSpPr>
            <p:spPr>
              <a:xfrm>
                <a:off x="2276475" y="3003550"/>
                <a:ext cx="23812" cy="47625"/>
              </a:xfrm>
              <a:custGeom>
                <a:avLst/>
                <a:gdLst/>
                <a:ahLst/>
                <a:cxnLst/>
                <a:rect l="l" t="t" r="r" b="b"/>
                <a:pathLst>
                  <a:path w="23812" h="47625">
                    <a:moveTo>
                      <a:pt x="0" y="47625"/>
                    </a:moveTo>
                    <a:lnTo>
                      <a:pt x="23812" y="23812"/>
                    </a:lnTo>
                    <a:lnTo>
                      <a:pt x="0" y="0"/>
                    </a:lnTo>
                  </a:path>
                </a:pathLst>
              </a:custGeom>
              <a:noFill/>
              <a:ln w="15875">
                <a:solidFill>
                  <a:srgbClr val="E8634C"/>
                </a:solidFill>
              </a:ln>
            </p:spPr>
          </p:sp>
          <p:sp>
            <p:nvSpPr>
              <p:cNvPr id="25" name="Freeform 25"/>
              <p:cNvSpPr/>
              <p:nvPr/>
            </p:nvSpPr>
            <p:spPr>
              <a:xfrm>
                <a:off x="2157412" y="3082925"/>
                <a:ext cx="23812" cy="47625"/>
              </a:xfrm>
              <a:custGeom>
                <a:avLst/>
                <a:gdLst/>
                <a:ahLst/>
                <a:cxnLst/>
                <a:rect l="l" t="t" r="r" b="b"/>
                <a:pathLst>
                  <a:path w="23812" h="47625">
                    <a:moveTo>
                      <a:pt x="23812" y="47625"/>
                    </a:moveTo>
                    <a:lnTo>
                      <a:pt x="0" y="23812"/>
                    </a:lnTo>
                    <a:lnTo>
                      <a:pt x="23812" y="0"/>
                    </a:lnTo>
                  </a:path>
                </a:pathLst>
              </a:custGeom>
              <a:noFill/>
              <a:ln w="15875">
                <a:solidFill>
                  <a:srgbClr val="E8634C"/>
                </a:solidFill>
              </a:ln>
            </p:spPr>
          </p:sp>
          <p:sp>
            <p:nvSpPr>
              <p:cNvPr id="26" name="Freeform 26"/>
              <p:cNvSpPr/>
              <p:nvPr/>
            </p:nvSpPr>
            <p:spPr>
              <a:xfrm>
                <a:off x="2157412" y="3106737"/>
                <a:ext cx="142875" cy="9525"/>
              </a:xfrm>
              <a:custGeom>
                <a:avLst/>
                <a:gdLst/>
                <a:ahLst/>
                <a:cxnLst/>
                <a:rect l="l" t="t" r="r" b="b"/>
                <a:pathLst>
                  <a:path w="142875" h="9525">
                    <a:moveTo>
                      <a:pt x="0" y="0"/>
                    </a:moveTo>
                    <a:lnTo>
                      <a:pt x="142875" y="0"/>
                    </a:lnTo>
                  </a:path>
                </a:pathLst>
              </a:custGeom>
              <a:noFill/>
              <a:ln w="15875">
                <a:solidFill>
                  <a:srgbClr val="E8634C"/>
                </a:solidFill>
              </a:ln>
            </p:spPr>
          </p:sp>
        </p:grpSp>
        <p:sp>
          <p:nvSpPr>
            <p:cNvPr id="28" name="TextBox 28"/>
            <p:cNvSpPr txBox="1"/>
            <p:nvPr/>
          </p:nvSpPr>
          <p:spPr>
            <a:xfrm>
              <a:off x="2032927" y="322826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运输系统</a:t>
              </a:r>
            </a:p>
          </p:txBody>
        </p:sp>
        <p:sp>
          <p:nvSpPr>
            <p:cNvPr id="29" name="Ellipse 29"/>
            <p:cNvSpPr/>
            <p:nvPr/>
          </p:nvSpPr>
          <p:spPr>
            <a:xfrm>
              <a:off x="790575" y="3857625"/>
              <a:ext cx="514350" cy="514350"/>
            </a:xfrm>
            <a:prstGeom prst="ellipse">
              <a:avLst/>
            </a:prstGeom>
            <a:solidFill>
              <a:srgbClr val="FFFFFF"/>
            </a:solidFill>
            <a:ln>
              <a:noFill/>
            </a:ln>
          </p:spPr>
        </p:sp>
        <p:grpSp>
          <p:nvGrpSpPr>
            <p:cNvPr id="35" name="Group 35"/>
            <p:cNvGrpSpPr/>
            <p:nvPr/>
          </p:nvGrpSpPr>
          <p:grpSpPr>
            <a:xfrm>
              <a:off x="976312" y="3966099"/>
              <a:ext cx="142875" cy="143938"/>
              <a:chOff x="976312" y="3966099"/>
              <a:chExt cx="142875" cy="143938"/>
            </a:xfrm>
          </p:grpSpPr>
          <p:sp>
            <p:nvSpPr>
              <p:cNvPr id="30" name="Freeform 30"/>
              <p:cNvSpPr/>
              <p:nvPr/>
            </p:nvSpPr>
            <p:spPr>
              <a:xfrm>
                <a:off x="1023937" y="40306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E8634C"/>
                </a:solidFill>
              </a:ln>
            </p:spPr>
          </p:sp>
          <p:sp>
            <p:nvSpPr>
              <p:cNvPr id="31" name="Freeform 31"/>
              <p:cNvSpPr/>
              <p:nvPr/>
            </p:nvSpPr>
            <p:spPr>
              <a:xfrm>
                <a:off x="1023937" y="40544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E8634C"/>
                </a:solidFill>
              </a:ln>
            </p:spPr>
          </p:sp>
          <p:sp>
            <p:nvSpPr>
              <p:cNvPr id="32" name="Freeform 32"/>
              <p:cNvSpPr/>
              <p:nvPr/>
            </p:nvSpPr>
            <p:spPr>
              <a:xfrm>
                <a:off x="976312" y="39660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E8634C"/>
                </a:solidFill>
              </a:ln>
            </p:spPr>
          </p:sp>
          <p:sp>
            <p:nvSpPr>
              <p:cNvPr id="33" name="Freeform 33"/>
              <p:cNvSpPr/>
              <p:nvPr/>
            </p:nvSpPr>
            <p:spPr>
              <a:xfrm>
                <a:off x="976312" y="39909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E8634C"/>
                </a:solidFill>
              </a:ln>
            </p:spPr>
          </p:sp>
          <p:sp>
            <p:nvSpPr>
              <p:cNvPr id="34" name="Freeform 34"/>
              <p:cNvSpPr/>
              <p:nvPr/>
            </p:nvSpPr>
            <p:spPr>
              <a:xfrm>
                <a:off x="976312" y="40306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E8634C"/>
                </a:solidFill>
              </a:ln>
            </p:spPr>
          </p:sp>
        </p:grpSp>
        <p:sp>
          <p:nvSpPr>
            <p:cNvPr id="36" name="TextBox 36"/>
            <p:cNvSpPr txBox="1"/>
            <p:nvPr/>
          </p:nvSpPr>
          <p:spPr>
            <a:xfrm>
              <a:off x="851827" y="419981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货运经济</a:t>
              </a:r>
            </a:p>
          </p:txBody>
        </p:sp>
        <p:sp>
          <p:nvSpPr>
            <p:cNvPr id="37" name="Ellipse 37"/>
            <p:cNvSpPr/>
            <p:nvPr/>
          </p:nvSpPr>
          <p:spPr>
            <a:xfrm>
              <a:off x="1971675" y="3857625"/>
              <a:ext cx="514350" cy="514350"/>
            </a:xfrm>
            <a:prstGeom prst="ellipse">
              <a:avLst/>
            </a:prstGeom>
            <a:solidFill>
              <a:srgbClr val="FFFFFF"/>
            </a:solidFill>
            <a:ln>
              <a:noFill/>
            </a:ln>
          </p:spPr>
        </p:sp>
        <p:grpSp>
          <p:nvGrpSpPr>
            <p:cNvPr id="41" name="Group 41"/>
            <p:cNvGrpSpPr/>
            <p:nvPr/>
          </p:nvGrpSpPr>
          <p:grpSpPr>
            <a:xfrm>
              <a:off x="2157412" y="3967162"/>
              <a:ext cx="142875" cy="142875"/>
              <a:chOff x="2157412" y="3967162"/>
              <a:chExt cx="142875" cy="142875"/>
            </a:xfrm>
          </p:grpSpPr>
          <p:sp>
            <p:nvSpPr>
              <p:cNvPr id="38" name="Freeform 38"/>
              <p:cNvSpPr/>
              <p:nvPr/>
            </p:nvSpPr>
            <p:spPr>
              <a:xfrm>
                <a:off x="2157412" y="3967162"/>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E8634C"/>
                </a:solidFill>
              </a:ln>
            </p:spPr>
          </p:sp>
          <p:sp>
            <p:nvSpPr>
              <p:cNvPr id="39" name="Freeform 39"/>
              <p:cNvSpPr/>
              <p:nvPr/>
            </p:nvSpPr>
            <p:spPr>
              <a:xfrm>
                <a:off x="2185797" y="3998912"/>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E8634C"/>
                </a:solidFill>
              </a:ln>
            </p:spPr>
          </p:sp>
          <p:sp>
            <p:nvSpPr>
              <p:cNvPr id="40" name="Freeform 40"/>
              <p:cNvSpPr/>
              <p:nvPr/>
            </p:nvSpPr>
            <p:spPr>
              <a:xfrm>
                <a:off x="2210594" y="4078287"/>
                <a:ext cx="36512" cy="9525"/>
              </a:xfrm>
              <a:custGeom>
                <a:avLst/>
                <a:gdLst/>
                <a:ahLst/>
                <a:cxnLst/>
                <a:rect l="l" t="t" r="r" b="b"/>
                <a:pathLst>
                  <a:path w="36512" h="9525">
                    <a:moveTo>
                      <a:pt x="0" y="0"/>
                    </a:moveTo>
                    <a:lnTo>
                      <a:pt x="36512" y="0"/>
                    </a:lnTo>
                  </a:path>
                </a:pathLst>
              </a:custGeom>
              <a:noFill/>
              <a:ln w="15875">
                <a:solidFill>
                  <a:srgbClr val="E8634C"/>
                </a:solidFill>
              </a:ln>
            </p:spPr>
          </p:sp>
        </p:grpSp>
        <p:sp>
          <p:nvSpPr>
            <p:cNvPr id="42" name="TextBox 42"/>
            <p:cNvSpPr txBox="1"/>
            <p:nvPr/>
          </p:nvSpPr>
          <p:spPr>
            <a:xfrm>
              <a:off x="2032927" y="419981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解决方案</a:t>
              </a:r>
            </a:p>
          </p:txBody>
        </p:sp>
        <p:grpSp>
          <p:nvGrpSpPr>
            <p:cNvPr id="47" name="Group 47"/>
            <p:cNvGrpSpPr/>
            <p:nvPr/>
          </p:nvGrpSpPr>
          <p:grpSpPr>
            <a:xfrm>
              <a:off x="1524000" y="3371850"/>
              <a:ext cx="228599" cy="215900"/>
              <a:chOff x="1524000" y="3371850"/>
              <a:chExt cx="228599" cy="215900"/>
            </a:xfrm>
          </p:grpSpPr>
          <p:sp>
            <p:nvSpPr>
              <p:cNvPr id="43" name="Freeform 43"/>
              <p:cNvSpPr/>
              <p:nvPr/>
            </p:nvSpPr>
            <p:spPr>
              <a:xfrm>
                <a:off x="1524000" y="3422650"/>
                <a:ext cx="228599" cy="165100"/>
              </a:xfrm>
              <a:custGeom>
                <a:avLst/>
                <a:gdLst/>
                <a:ahLst/>
                <a:cxnLst/>
                <a:rect l="l" t="t" r="r" b="b"/>
                <a:pathLst>
                  <a:path w="228599" h="165100">
                    <a:moveTo>
                      <a:pt x="0" y="25400"/>
                    </a:moveTo>
                    <a:cubicBezTo>
                      <a:pt x="0" y="11372"/>
                      <a:pt x="11372" y="0"/>
                      <a:pt x="25400" y="0"/>
                    </a:cubicBezTo>
                    <a:lnTo>
                      <a:pt x="203199" y="0"/>
                    </a:lnTo>
                    <a:cubicBezTo>
                      <a:pt x="217227" y="0"/>
                      <a:pt x="228599" y="11372"/>
                      <a:pt x="228599" y="25400"/>
                    </a:cubicBezTo>
                    <a:lnTo>
                      <a:pt x="228599" y="139700"/>
                    </a:lnTo>
                    <a:cubicBezTo>
                      <a:pt x="228599" y="153728"/>
                      <a:pt x="217227" y="165100"/>
                      <a:pt x="203199" y="165100"/>
                    </a:cubicBezTo>
                    <a:lnTo>
                      <a:pt x="25400" y="165100"/>
                    </a:lnTo>
                    <a:cubicBezTo>
                      <a:pt x="11372" y="165100"/>
                      <a:pt x="0" y="153728"/>
                      <a:pt x="0" y="139700"/>
                    </a:cubicBezTo>
                    <a:lnTo>
                      <a:pt x="0" y="25400"/>
                    </a:lnTo>
                  </a:path>
                </a:pathLst>
              </a:custGeom>
              <a:noFill/>
              <a:ln w="25400">
                <a:solidFill>
                  <a:srgbClr val="E8634C"/>
                </a:solidFill>
              </a:ln>
            </p:spPr>
          </p:sp>
          <p:sp>
            <p:nvSpPr>
              <p:cNvPr id="44" name="Freeform 44"/>
              <p:cNvSpPr/>
              <p:nvPr/>
            </p:nvSpPr>
            <p:spPr>
              <a:xfrm>
                <a:off x="1587500" y="3371850"/>
                <a:ext cx="101600" cy="50800"/>
              </a:xfrm>
              <a:custGeom>
                <a:avLst/>
                <a:gdLst/>
                <a:ahLst/>
                <a:cxnLst/>
                <a:rect l="l" t="t" r="r" b="b"/>
                <a:pathLst>
                  <a:path w="101600" h="50800">
                    <a:moveTo>
                      <a:pt x="0" y="50800"/>
                    </a:moveTo>
                    <a:lnTo>
                      <a:pt x="0" y="25400"/>
                    </a:lnTo>
                    <a:cubicBezTo>
                      <a:pt x="0" y="11372"/>
                      <a:pt x="11372" y="0"/>
                      <a:pt x="25400" y="0"/>
                    </a:cubicBezTo>
                    <a:lnTo>
                      <a:pt x="76200" y="0"/>
                    </a:lnTo>
                    <a:cubicBezTo>
                      <a:pt x="90228" y="0"/>
                      <a:pt x="101600" y="11372"/>
                      <a:pt x="101600" y="25400"/>
                    </a:cubicBezTo>
                    <a:lnTo>
                      <a:pt x="101600" y="50800"/>
                    </a:lnTo>
                  </a:path>
                </a:pathLst>
              </a:custGeom>
              <a:noFill/>
              <a:ln w="25400">
                <a:solidFill>
                  <a:srgbClr val="E8634C"/>
                </a:solidFill>
              </a:ln>
            </p:spPr>
          </p:sp>
          <p:sp>
            <p:nvSpPr>
              <p:cNvPr id="45" name="Freeform 45"/>
              <p:cNvSpPr/>
              <p:nvPr/>
            </p:nvSpPr>
            <p:spPr>
              <a:xfrm>
                <a:off x="1638300" y="3486150"/>
                <a:ext cx="9525" cy="9525"/>
              </a:xfrm>
              <a:custGeom>
                <a:avLst/>
                <a:gdLst/>
                <a:ahLst/>
                <a:cxnLst/>
                <a:rect l="l" t="t" r="r" b="b"/>
                <a:pathLst>
                  <a:path w="9525" h="9525">
                    <a:moveTo>
                      <a:pt x="0" y="0"/>
                    </a:moveTo>
                    <a:lnTo>
                      <a:pt x="0" y="127"/>
                    </a:lnTo>
                  </a:path>
                </a:pathLst>
              </a:custGeom>
              <a:noFill/>
              <a:ln w="25400">
                <a:solidFill>
                  <a:srgbClr val="E8634C"/>
                </a:solidFill>
              </a:ln>
            </p:spPr>
          </p:sp>
          <p:sp>
            <p:nvSpPr>
              <p:cNvPr id="46" name="Freeform 46"/>
              <p:cNvSpPr/>
              <p:nvPr/>
            </p:nvSpPr>
            <p:spPr>
              <a:xfrm>
                <a:off x="1524000" y="3498850"/>
                <a:ext cx="228599" cy="36228"/>
              </a:xfrm>
              <a:custGeom>
                <a:avLst/>
                <a:gdLst/>
                <a:ahLst/>
                <a:cxnLst/>
                <a:rect l="l" t="t" r="r" b="b"/>
                <a:pathLst>
                  <a:path w="228599" h="36228">
                    <a:moveTo>
                      <a:pt x="0" y="0"/>
                    </a:moveTo>
                    <a:cubicBezTo>
                      <a:pt x="71894" y="36228"/>
                      <a:pt x="156706" y="36228"/>
                      <a:pt x="228599" y="0"/>
                    </a:cubicBezTo>
                  </a:path>
                </a:pathLst>
              </a:custGeom>
              <a:noFill/>
              <a:ln w="25400">
                <a:solidFill>
                  <a:srgbClr val="E8634C"/>
                </a:solidFill>
              </a:ln>
            </p:spPr>
          </p:sp>
        </p:grpSp>
        <p:sp>
          <p:nvSpPr>
            <p:cNvPr id="48" name="TextBox 48"/>
            <p:cNvSpPr txBox="1"/>
            <p:nvPr/>
          </p:nvSpPr>
          <p:spPr>
            <a:xfrm>
              <a:off x="1420940" y="3791902"/>
              <a:ext cx="434721" cy="205359"/>
            </a:xfrm>
            <a:prstGeom prst="rect">
              <a:avLst/>
            </a:prstGeom>
            <a:noFill/>
            <a:ln>
              <a:noFill/>
            </a:ln>
          </p:spPr>
          <p:txBody>
            <a:bodyPr wrap="none" lIns="0" tIns="0" rIns="0" bIns="0" anchor="t" anchorCtr="0">
              <a:spAutoFit/>
            </a:bodyPr>
            <a:lstStyle/>
            <a:p>
              <a:pPr algn="ctr"/>
              <a:r>
                <a:rPr lang="zh-CN" sz="1050" b="1" dirty="0">
                  <a:solidFill>
                    <a:srgbClr val="543E3A"/>
                  </a:solidFill>
                  <a:latin typeface="+mn-lt"/>
                  <a:ea typeface="+mn-ea"/>
                  <a:cs typeface="+mn-cs"/>
                </a:rPr>
                <a:t>货主端</a:t>
              </a:r>
            </a:p>
          </p:txBody>
        </p:sp>
        <p:sp>
          <p:nvSpPr>
            <p:cNvPr id="49" name="Line 49"/>
            <p:cNvSpPr/>
            <p:nvPr/>
          </p:nvSpPr>
          <p:spPr>
            <a:xfrm flipV="1">
              <a:off x="1638300" y="4857750"/>
              <a:ext cx="1" cy="742950"/>
            </a:xfrm>
            <a:prstGeom prst="line">
              <a:avLst/>
            </a:prstGeom>
            <a:noFill/>
            <a:ln w="14288">
              <a:solidFill>
                <a:srgbClr val="E8A79A"/>
              </a:solidFill>
              <a:tailEnd type="triangle" w="lg" len="lg"/>
            </a:ln>
          </p:spPr>
        </p:sp>
        <p:sp>
          <p:nvSpPr>
            <p:cNvPr id="50" name="TextBox 50"/>
            <p:cNvSpPr txBox="1"/>
            <p:nvPr/>
          </p:nvSpPr>
          <p:spPr>
            <a:xfrm>
              <a:off x="1299591" y="5735002"/>
              <a:ext cx="677418" cy="386334"/>
            </a:xfrm>
            <a:prstGeom prst="rect">
              <a:avLst/>
            </a:prstGeom>
            <a:noFill/>
            <a:ln>
              <a:noFill/>
            </a:ln>
          </p:spPr>
          <p:txBody>
            <a:bodyPr wrap="none" lIns="0" tIns="0" rIns="0" bIns="0" anchor="t" anchorCtr="0">
              <a:spAutoFit/>
            </a:bodyPr>
            <a:lstStyle/>
            <a:p>
              <a:pPr algn="ctr">
                <a:lnSpc>
                  <a:spcPts val="1425"/>
                </a:lnSpc>
              </a:pPr>
              <a:r>
                <a:rPr lang="zh-CN" sz="1050" b="1" dirty="0">
                  <a:solidFill>
                    <a:srgbClr val="543E3A"/>
                  </a:solidFill>
                  <a:latin typeface="+mn-lt"/>
                  <a:ea typeface="+mn-ea"/>
                  <a:cs typeface="+mn-cs"/>
                </a:rPr>
                <a:t>满意度高</a:t>
              </a:r>
              <a:br/>
              <a:r>
                <a:rPr lang="zh-CN" sz="1050" b="1" dirty="0">
                  <a:solidFill>
                    <a:srgbClr val="543E3A"/>
                  </a:solidFill>
                  <a:latin typeface="+mn-lt"/>
                  <a:ea typeface="+mn-ea"/>
                  <a:cs typeface="+mn-cs"/>
                </a:rPr>
                <a:t>付费意愿强</a:t>
              </a:r>
            </a:p>
          </p:txBody>
        </p:sp>
      </p:grpSp>
      <p:grpSp>
        <p:nvGrpSpPr>
          <p:cNvPr id="61" name="platform-hub"/>
          <p:cNvGrpSpPr/>
          <p:nvPr/>
        </p:nvGrpSpPr>
        <p:grpSpPr>
          <a:xfrm>
            <a:off x="5276850" y="2800350"/>
            <a:ext cx="1638300" cy="3320986"/>
            <a:chOff x="5276850" y="2800350"/>
            <a:chExt cx="1638300" cy="3320986"/>
          </a:xfrm>
        </p:grpSpPr>
        <p:sp>
          <p:nvSpPr>
            <p:cNvPr id="52" name="Ellipse 52"/>
            <p:cNvSpPr/>
            <p:nvPr/>
          </p:nvSpPr>
          <p:spPr>
            <a:xfrm>
              <a:off x="5276850" y="2800350"/>
              <a:ext cx="1638300" cy="1638300"/>
            </a:xfrm>
            <a:prstGeom prst="ellipse">
              <a:avLst/>
            </a:prstGeom>
            <a:gradFill>
              <a:gsLst>
                <a:gs pos="0">
                  <a:srgbClr val="C46D5B"/>
                </a:gs>
                <a:gs pos="100000">
                  <a:srgbClr val="8E3F2F"/>
                </a:gs>
              </a:gsLst>
              <a:path path="circle">
                <a:fillToRect l="40000" t="35000" r="60000" b="65000"/>
              </a:path>
            </a:gradFill>
            <a:ln>
              <a:noFill/>
            </a:ln>
          </p:spPr>
        </p:sp>
        <p:grpSp>
          <p:nvGrpSpPr>
            <p:cNvPr id="57" name="Group 57"/>
            <p:cNvGrpSpPr/>
            <p:nvPr/>
          </p:nvGrpSpPr>
          <p:grpSpPr>
            <a:xfrm>
              <a:off x="5943600" y="3162300"/>
              <a:ext cx="304800" cy="342900"/>
              <a:chOff x="5943600" y="3162300"/>
              <a:chExt cx="304800" cy="342900"/>
            </a:xfrm>
          </p:grpSpPr>
          <p:sp>
            <p:nvSpPr>
              <p:cNvPr id="53" name="Freeform 53"/>
              <p:cNvSpPr/>
              <p:nvPr/>
            </p:nvSpPr>
            <p:spPr>
              <a:xfrm>
                <a:off x="5943600" y="34290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38100">
                <a:solidFill>
                  <a:srgbClr val="FFFFFF"/>
                </a:solidFill>
              </a:ln>
            </p:spPr>
          </p:sp>
          <p:sp>
            <p:nvSpPr>
              <p:cNvPr id="54" name="Freeform 54"/>
              <p:cNvSpPr/>
              <p:nvPr/>
            </p:nvSpPr>
            <p:spPr>
              <a:xfrm>
                <a:off x="6153150" y="34290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38100">
                <a:solidFill>
                  <a:srgbClr val="FFFFFF"/>
                </a:solidFill>
              </a:ln>
            </p:spPr>
          </p:sp>
          <p:sp>
            <p:nvSpPr>
              <p:cNvPr id="55" name="Freeform 55"/>
              <p:cNvSpPr/>
              <p:nvPr/>
            </p:nvSpPr>
            <p:spPr>
              <a:xfrm>
                <a:off x="5943600" y="3162300"/>
                <a:ext cx="247650" cy="266700"/>
              </a:xfrm>
              <a:custGeom>
                <a:avLst/>
                <a:gdLst/>
                <a:ahLst/>
                <a:cxnLst/>
                <a:rect l="l" t="t" r="r" b="b"/>
                <a:pathLst>
                  <a:path w="247650" h="266700">
                    <a:moveTo>
                      <a:pt x="247650" y="266700"/>
                    </a:moveTo>
                    <a:lnTo>
                      <a:pt x="38100" y="266700"/>
                    </a:lnTo>
                    <a:lnTo>
                      <a:pt x="38100" y="0"/>
                    </a:lnTo>
                    <a:lnTo>
                      <a:pt x="0" y="0"/>
                    </a:lnTo>
                  </a:path>
                </a:pathLst>
              </a:custGeom>
              <a:noFill/>
              <a:ln w="38100">
                <a:solidFill>
                  <a:srgbClr val="FFFFFF"/>
                </a:solidFill>
              </a:ln>
            </p:spPr>
          </p:sp>
          <p:sp>
            <p:nvSpPr>
              <p:cNvPr id="56" name="Freeform 56"/>
              <p:cNvSpPr/>
              <p:nvPr/>
            </p:nvSpPr>
            <p:spPr>
              <a:xfrm>
                <a:off x="5981700" y="3200400"/>
                <a:ext cx="266700" cy="152400"/>
              </a:xfrm>
              <a:custGeom>
                <a:avLst/>
                <a:gdLst/>
                <a:ahLst/>
                <a:cxnLst/>
                <a:rect l="l" t="t" r="r" b="b"/>
                <a:pathLst>
                  <a:path w="266700" h="152400">
                    <a:moveTo>
                      <a:pt x="0" y="0"/>
                    </a:moveTo>
                    <a:lnTo>
                      <a:pt x="266700" y="19050"/>
                    </a:lnTo>
                    <a:lnTo>
                      <a:pt x="247650" y="152400"/>
                    </a:lnTo>
                    <a:lnTo>
                      <a:pt x="0" y="152400"/>
                    </a:lnTo>
                  </a:path>
                </a:pathLst>
              </a:custGeom>
              <a:noFill/>
              <a:ln w="38100">
                <a:solidFill>
                  <a:srgbClr val="FFFFFF"/>
                </a:solidFill>
              </a:ln>
            </p:spPr>
          </p:sp>
        </p:grpSp>
        <p:sp>
          <p:nvSpPr>
            <p:cNvPr id="58" name="TextBox 58"/>
            <p:cNvSpPr txBox="1"/>
            <p:nvPr/>
          </p:nvSpPr>
          <p:spPr>
            <a:xfrm>
              <a:off x="5717667" y="3704749"/>
              <a:ext cx="75666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FFFFFF"/>
                  </a:solidFill>
                  <a:latin typeface="+mn-lt"/>
                  <a:ea typeface="+mn-ea"/>
                  <a:cs typeface="+mn-cs"/>
                </a:rPr>
                <a:t>一站式</a:t>
              </a:r>
              <a:br/>
              <a:r>
                <a:rPr lang="zh-CN" sz="980" dirty="0">
                  <a:solidFill>
                    <a:srgbClr val="FFFFFF"/>
                  </a:solidFill>
                  <a:latin typeface="+mn-lt"/>
                  <a:ea typeface="+mn-ea"/>
                  <a:cs typeface="+mn-cs"/>
                </a:rPr>
                <a:t>冷链服务平台</a:t>
              </a:r>
            </a:p>
          </p:txBody>
        </p:sp>
        <p:sp>
          <p:nvSpPr>
            <p:cNvPr id="59" name="Line 59"/>
            <p:cNvSpPr/>
            <p:nvPr/>
          </p:nvSpPr>
          <p:spPr>
            <a:xfrm flipV="1">
              <a:off x="6096000" y="4552950"/>
              <a:ext cx="1" cy="1047750"/>
            </a:xfrm>
            <a:prstGeom prst="line">
              <a:avLst/>
            </a:prstGeom>
            <a:noFill/>
            <a:ln w="14288">
              <a:solidFill>
                <a:srgbClr val="E8A79A"/>
              </a:solidFill>
              <a:tailEnd type="triangle" w="lg" len="lg"/>
            </a:ln>
          </p:spPr>
        </p:sp>
        <p:sp>
          <p:nvSpPr>
            <p:cNvPr id="60" name="TextBox 60"/>
            <p:cNvSpPr txBox="1"/>
            <p:nvPr/>
          </p:nvSpPr>
          <p:spPr>
            <a:xfrm>
              <a:off x="5757291" y="5735002"/>
              <a:ext cx="677418" cy="386334"/>
            </a:xfrm>
            <a:prstGeom prst="rect">
              <a:avLst/>
            </a:prstGeom>
            <a:noFill/>
            <a:ln>
              <a:noFill/>
            </a:ln>
          </p:spPr>
          <p:txBody>
            <a:bodyPr wrap="none" lIns="0" tIns="0" rIns="0" bIns="0" anchor="t" anchorCtr="0">
              <a:spAutoFit/>
            </a:bodyPr>
            <a:lstStyle/>
            <a:p>
              <a:pPr algn="ctr">
                <a:lnSpc>
                  <a:spcPts val="1425"/>
                </a:lnSpc>
              </a:pPr>
              <a:r>
                <a:rPr lang="zh-CN" sz="1050" b="1" dirty="0">
                  <a:solidFill>
                    <a:srgbClr val="543E3A"/>
                  </a:solidFill>
                  <a:latin typeface="+mn-lt"/>
                  <a:ea typeface="+mn-ea"/>
                  <a:cs typeface="+mn-cs"/>
                </a:rPr>
                <a:t>单量增长快</a:t>
              </a:r>
              <a:br/>
              <a:r>
                <a:rPr lang="zh-CN" sz="1050" b="1" dirty="0">
                  <a:solidFill>
                    <a:srgbClr val="543E3A"/>
                  </a:solidFill>
                  <a:latin typeface="+mn-lt"/>
                  <a:ea typeface="+mn-ea"/>
                  <a:cs typeface="+mn-cs"/>
                </a:rPr>
                <a:t>获客成本低</a:t>
              </a:r>
            </a:p>
          </p:txBody>
        </p:sp>
      </p:grpSp>
      <p:grpSp>
        <p:nvGrpSpPr>
          <p:cNvPr id="109" name="carrier-side"/>
          <p:cNvGrpSpPr/>
          <p:nvPr/>
        </p:nvGrpSpPr>
        <p:grpSpPr>
          <a:xfrm>
            <a:off x="7096125" y="1505902"/>
            <a:ext cx="4581525" cy="4615434"/>
            <a:chOff x="7096125" y="1505902"/>
            <a:chExt cx="4581525" cy="4615434"/>
          </a:xfrm>
        </p:grpSpPr>
        <p:sp>
          <p:nvSpPr>
            <p:cNvPr id="62" name="TextBox 62"/>
            <p:cNvSpPr txBox="1"/>
            <p:nvPr/>
          </p:nvSpPr>
          <p:spPr>
            <a:xfrm>
              <a:off x="10407015" y="1505902"/>
              <a:ext cx="293370" cy="205359"/>
            </a:xfrm>
            <a:prstGeom prst="rect">
              <a:avLst/>
            </a:prstGeom>
            <a:noFill/>
            <a:ln>
              <a:noFill/>
            </a:ln>
          </p:spPr>
          <p:txBody>
            <a:bodyPr wrap="none" lIns="0" tIns="0" rIns="0" bIns="0" anchor="t" anchorCtr="0">
              <a:spAutoFit/>
            </a:bodyPr>
            <a:lstStyle/>
            <a:p>
              <a:pPr algn="ctr"/>
              <a:r>
                <a:rPr lang="zh-CN" sz="1050" b="1" dirty="0">
                  <a:solidFill>
                    <a:srgbClr val="543E3A"/>
                  </a:solidFill>
                  <a:latin typeface="+mn-lt"/>
                  <a:ea typeface="+mn-ea"/>
                  <a:cs typeface="+mn-cs"/>
                </a:rPr>
                <a:t>佣金</a:t>
              </a:r>
            </a:p>
          </p:txBody>
        </p:sp>
        <p:sp>
          <p:nvSpPr>
            <p:cNvPr id="63" name="Line 63"/>
            <p:cNvSpPr/>
            <p:nvPr/>
          </p:nvSpPr>
          <p:spPr>
            <a:xfrm flipV="1">
              <a:off x="10553700" y="1771650"/>
              <a:ext cx="1" cy="628650"/>
            </a:xfrm>
            <a:prstGeom prst="line">
              <a:avLst/>
            </a:prstGeom>
            <a:noFill/>
            <a:ln w="14288">
              <a:solidFill>
                <a:srgbClr val="E8A79A"/>
              </a:solidFill>
              <a:tailEnd type="triangle" w="lg" len="lg"/>
            </a:ln>
          </p:spPr>
        </p:sp>
        <p:sp>
          <p:nvSpPr>
            <p:cNvPr id="64" name="Ellipse 64"/>
            <p:cNvSpPr/>
            <p:nvPr/>
          </p:nvSpPr>
          <p:spPr>
            <a:xfrm>
              <a:off x="7191375" y="2476500"/>
              <a:ext cx="2286000" cy="2286000"/>
            </a:xfrm>
            <a:prstGeom prst="ellipse">
              <a:avLst/>
            </a:prstGeom>
            <a:gradFill>
              <a:gsLst>
                <a:gs pos="0">
                  <a:srgbClr val="FFFFFF"/>
                </a:gs>
                <a:gs pos="100000">
                  <a:srgbClr val="E4E8F7"/>
                </a:gs>
              </a:gsLst>
              <a:path path="circle">
                <a:fillToRect l="50000" t="50000" r="50000" b="50000"/>
              </a:path>
            </a:gradFill>
            <a:ln>
              <a:noFill/>
            </a:ln>
          </p:spPr>
        </p:sp>
        <p:sp>
          <p:nvSpPr>
            <p:cNvPr id="65" name="Freeform 65"/>
            <p:cNvSpPr/>
            <p:nvPr/>
          </p:nvSpPr>
          <p:spPr>
            <a:xfrm>
              <a:off x="7096125" y="2189161"/>
              <a:ext cx="2476500" cy="715964"/>
            </a:xfrm>
            <a:custGeom>
              <a:avLst/>
              <a:gdLst/>
              <a:ahLst/>
              <a:cxnLst/>
              <a:rect l="l" t="t" r="r" b="b"/>
              <a:pathLst>
                <a:path w="2476500" h="715964">
                  <a:moveTo>
                    <a:pt x="0" y="715964"/>
                  </a:moveTo>
                  <a:cubicBezTo>
                    <a:pt x="254981" y="273012"/>
                    <a:pt x="727151" y="0"/>
                    <a:pt x="1238250" y="0"/>
                  </a:cubicBezTo>
                  <a:cubicBezTo>
                    <a:pt x="1749349" y="0"/>
                    <a:pt x="2221519" y="273012"/>
                    <a:pt x="2476500" y="715964"/>
                  </a:cubicBezTo>
                </a:path>
              </a:pathLst>
            </a:custGeom>
            <a:noFill/>
            <a:ln w="14288">
              <a:solidFill>
                <a:srgbClr val="E08C7B"/>
              </a:solidFill>
              <a:custDash>
                <a:ds d="200000" sp="200000"/>
              </a:custDash>
              <a:tailEnd type="triangle" w="lg" len="lg"/>
            </a:ln>
          </p:spPr>
        </p:sp>
        <p:sp>
          <p:nvSpPr>
            <p:cNvPr id="66" name="Freeform 66"/>
            <p:cNvSpPr/>
            <p:nvPr/>
          </p:nvSpPr>
          <p:spPr>
            <a:xfrm>
              <a:off x="7096125" y="4333875"/>
              <a:ext cx="2476500" cy="715964"/>
            </a:xfrm>
            <a:custGeom>
              <a:avLst/>
              <a:gdLst/>
              <a:ahLst/>
              <a:cxnLst/>
              <a:rect l="l" t="t" r="r" b="b"/>
              <a:pathLst>
                <a:path w="2476500" h="715964">
                  <a:moveTo>
                    <a:pt x="2476500" y="0"/>
                  </a:moveTo>
                  <a:cubicBezTo>
                    <a:pt x="2221519" y="442952"/>
                    <a:pt x="1749349" y="715964"/>
                    <a:pt x="1238250" y="715964"/>
                  </a:cubicBezTo>
                  <a:cubicBezTo>
                    <a:pt x="727151" y="715964"/>
                    <a:pt x="254981" y="442952"/>
                    <a:pt x="0" y="0"/>
                  </a:cubicBezTo>
                </a:path>
              </a:pathLst>
            </a:custGeom>
            <a:noFill/>
            <a:ln w="14288">
              <a:solidFill>
                <a:srgbClr val="E08C7B"/>
              </a:solidFill>
              <a:custDash>
                <a:ds d="200000" sp="200000"/>
              </a:custDash>
              <a:tailEnd type="triangle" w="lg" len="lg"/>
            </a:ln>
          </p:spPr>
        </p:sp>
        <p:sp>
          <p:nvSpPr>
            <p:cNvPr id="67" name="TextBox 67"/>
            <p:cNvSpPr txBox="1"/>
            <p:nvPr/>
          </p:nvSpPr>
          <p:spPr>
            <a:xfrm>
              <a:off x="8139798" y="2260997"/>
              <a:ext cx="389153"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更赚钱</a:t>
              </a:r>
            </a:p>
          </p:txBody>
        </p:sp>
        <p:sp>
          <p:nvSpPr>
            <p:cNvPr id="68" name="TextBox 68"/>
            <p:cNvSpPr txBox="1"/>
            <p:nvPr/>
          </p:nvSpPr>
          <p:spPr>
            <a:xfrm>
              <a:off x="7850505" y="3381375"/>
              <a:ext cx="967740" cy="560070"/>
            </a:xfrm>
            <a:prstGeom prst="rect">
              <a:avLst/>
            </a:prstGeom>
            <a:noFill/>
            <a:ln>
              <a:noFill/>
            </a:ln>
          </p:spPr>
          <p:txBody>
            <a:bodyPr wrap="none" lIns="0" tIns="0" rIns="0" bIns="0" anchor="t" anchorCtr="0">
              <a:spAutoFit/>
            </a:bodyPr>
            <a:lstStyle/>
            <a:p>
              <a:pPr algn="ctr">
                <a:lnSpc>
                  <a:spcPts val="2100"/>
                </a:lnSpc>
              </a:pPr>
              <a:r>
                <a:rPr lang="zh-CN" sz="1500" b="1" dirty="0">
                  <a:solidFill>
                    <a:srgbClr val="C45F4A"/>
                  </a:solidFill>
                  <a:latin typeface="+mn-lt"/>
                  <a:ea typeface="+mn-ea"/>
                  <a:cs typeface="+mn-cs"/>
                </a:rPr>
                <a:t>高效率带来</a:t>
              </a:r>
              <a:br/>
              <a:r>
                <a:rPr lang="zh-CN" sz="1500" b="1" dirty="0">
                  <a:solidFill>
                    <a:srgbClr val="C45F4A"/>
                  </a:solidFill>
                  <a:latin typeface="+mn-lt"/>
                  <a:ea typeface="+mn-ea"/>
                  <a:cs typeface="+mn-cs"/>
                </a:rPr>
                <a:t>更多供给</a:t>
              </a:r>
            </a:p>
          </p:txBody>
        </p:sp>
        <p:sp>
          <p:nvSpPr>
            <p:cNvPr id="69" name="TextBox 69"/>
            <p:cNvSpPr txBox="1"/>
            <p:nvPr/>
          </p:nvSpPr>
          <p:spPr>
            <a:xfrm>
              <a:off x="7949984" y="4889897"/>
              <a:ext cx="768782"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更多司机加入</a:t>
              </a:r>
            </a:p>
          </p:txBody>
        </p:sp>
        <p:sp>
          <p:nvSpPr>
            <p:cNvPr id="70" name="Ellipse 70"/>
            <p:cNvSpPr/>
            <p:nvPr/>
          </p:nvSpPr>
          <p:spPr>
            <a:xfrm>
              <a:off x="9429750" y="2495550"/>
              <a:ext cx="2247900" cy="2247900"/>
            </a:xfrm>
            <a:prstGeom prst="ellipse">
              <a:avLst/>
            </a:prstGeom>
            <a:gradFill>
              <a:gsLst>
                <a:gs pos="0">
                  <a:srgbClr val="F5F6FC"/>
                </a:gs>
                <a:gs pos="100000">
                  <a:srgbClr val="C9D1F0"/>
                </a:gs>
              </a:gsLst>
              <a:path path="circle">
                <a:fillToRect l="50000" t="50000" r="50000" b="50000"/>
              </a:path>
            </a:gradFill>
            <a:ln>
              <a:noFill/>
            </a:ln>
          </p:spPr>
        </p:sp>
        <p:sp>
          <p:nvSpPr>
            <p:cNvPr id="71" name="Ellipse 71"/>
            <p:cNvSpPr/>
            <p:nvPr/>
          </p:nvSpPr>
          <p:spPr>
            <a:xfrm>
              <a:off x="9867900" y="2933700"/>
              <a:ext cx="1371600" cy="1371600"/>
            </a:xfrm>
            <a:prstGeom prst="ellipse">
              <a:avLst/>
            </a:prstGeom>
            <a:solidFill>
              <a:srgbClr val="FFFFFF">
                <a:alpha val="60000"/>
              </a:srgbClr>
            </a:solidFill>
            <a:ln>
              <a:noFill/>
            </a:ln>
          </p:spPr>
        </p:sp>
        <p:sp>
          <p:nvSpPr>
            <p:cNvPr id="72" name="Ellipse 72"/>
            <p:cNvSpPr/>
            <p:nvPr/>
          </p:nvSpPr>
          <p:spPr>
            <a:xfrm>
              <a:off x="10296525" y="2581275"/>
              <a:ext cx="514350" cy="514350"/>
            </a:xfrm>
            <a:prstGeom prst="ellipse">
              <a:avLst/>
            </a:prstGeom>
            <a:solidFill>
              <a:srgbClr val="FFFFFF"/>
            </a:solidFill>
            <a:ln>
              <a:noFill/>
            </a:ln>
          </p:spPr>
        </p:sp>
        <p:grpSp>
          <p:nvGrpSpPr>
            <p:cNvPr id="76" name="Group 76"/>
            <p:cNvGrpSpPr/>
            <p:nvPr/>
          </p:nvGrpSpPr>
          <p:grpSpPr>
            <a:xfrm>
              <a:off x="10482262" y="2690812"/>
              <a:ext cx="142875" cy="142875"/>
              <a:chOff x="10482262" y="2690812"/>
              <a:chExt cx="142875" cy="142875"/>
            </a:xfrm>
          </p:grpSpPr>
          <p:sp>
            <p:nvSpPr>
              <p:cNvPr id="73" name="Freeform 73"/>
              <p:cNvSpPr/>
              <p:nvPr/>
            </p:nvSpPr>
            <p:spPr>
              <a:xfrm>
                <a:off x="10545762" y="27543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C45F4A"/>
                </a:solidFill>
              </a:ln>
            </p:spPr>
          </p:sp>
          <p:sp>
            <p:nvSpPr>
              <p:cNvPr id="74" name="Freeform 74"/>
              <p:cNvSpPr/>
              <p:nvPr/>
            </p:nvSpPr>
            <p:spPr>
              <a:xfrm>
                <a:off x="10514012" y="27225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C45F4A"/>
                </a:solidFill>
              </a:ln>
            </p:spPr>
          </p:sp>
          <p:sp>
            <p:nvSpPr>
              <p:cNvPr id="75" name="Freeform 75"/>
              <p:cNvSpPr/>
              <p:nvPr/>
            </p:nvSpPr>
            <p:spPr>
              <a:xfrm>
                <a:off x="10482262" y="26908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C45F4A"/>
                </a:solidFill>
              </a:ln>
            </p:spPr>
          </p:sp>
        </p:grpSp>
        <p:sp>
          <p:nvSpPr>
            <p:cNvPr id="77" name="TextBox 77"/>
            <p:cNvSpPr txBox="1"/>
            <p:nvPr/>
          </p:nvSpPr>
          <p:spPr>
            <a:xfrm>
              <a:off x="10357777" y="292346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导航软件</a:t>
              </a:r>
            </a:p>
          </p:txBody>
        </p:sp>
        <p:sp>
          <p:nvSpPr>
            <p:cNvPr id="78" name="Ellipse 78"/>
            <p:cNvSpPr/>
            <p:nvPr/>
          </p:nvSpPr>
          <p:spPr>
            <a:xfrm>
              <a:off x="9648825" y="3190875"/>
              <a:ext cx="514350" cy="514350"/>
            </a:xfrm>
            <a:prstGeom prst="ellipse">
              <a:avLst/>
            </a:prstGeom>
            <a:solidFill>
              <a:srgbClr val="FFFFFF"/>
            </a:solidFill>
            <a:ln>
              <a:noFill/>
            </a:ln>
          </p:spPr>
        </p:sp>
        <p:grpSp>
          <p:nvGrpSpPr>
            <p:cNvPr id="81" name="Group 81"/>
            <p:cNvGrpSpPr/>
            <p:nvPr/>
          </p:nvGrpSpPr>
          <p:grpSpPr>
            <a:xfrm>
              <a:off x="9834562" y="3300412"/>
              <a:ext cx="142875" cy="142875"/>
              <a:chOff x="9834562" y="3300412"/>
              <a:chExt cx="142875" cy="142875"/>
            </a:xfrm>
          </p:grpSpPr>
          <p:sp>
            <p:nvSpPr>
              <p:cNvPr id="79" name="Freeform 79"/>
              <p:cNvSpPr/>
              <p:nvPr/>
            </p:nvSpPr>
            <p:spPr>
              <a:xfrm>
                <a:off x="9834562" y="33004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5875">
                <a:solidFill>
                  <a:srgbClr val="C45F4A"/>
                </a:solidFill>
              </a:ln>
            </p:spPr>
          </p:sp>
          <p:sp>
            <p:nvSpPr>
              <p:cNvPr id="80" name="Freeform 80"/>
              <p:cNvSpPr/>
              <p:nvPr/>
            </p:nvSpPr>
            <p:spPr>
              <a:xfrm>
                <a:off x="9929812" y="3395662"/>
                <a:ext cx="47625" cy="47625"/>
              </a:xfrm>
              <a:custGeom>
                <a:avLst/>
                <a:gdLst/>
                <a:ahLst/>
                <a:cxnLst/>
                <a:rect l="l" t="t" r="r" b="b"/>
                <a:pathLst>
                  <a:path w="47625" h="47625">
                    <a:moveTo>
                      <a:pt x="47625" y="47625"/>
                    </a:moveTo>
                    <a:lnTo>
                      <a:pt x="0" y="0"/>
                    </a:lnTo>
                  </a:path>
                </a:pathLst>
              </a:custGeom>
              <a:noFill/>
              <a:ln w="15875">
                <a:solidFill>
                  <a:srgbClr val="C45F4A"/>
                </a:solidFill>
              </a:ln>
            </p:spPr>
          </p:sp>
        </p:grpSp>
        <p:sp>
          <p:nvSpPr>
            <p:cNvPr id="82" name="TextBox 82"/>
            <p:cNvSpPr txBox="1"/>
            <p:nvPr/>
          </p:nvSpPr>
          <p:spPr>
            <a:xfrm>
              <a:off x="9710077" y="353306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违章查询</a:t>
              </a:r>
            </a:p>
          </p:txBody>
        </p:sp>
        <p:sp>
          <p:nvSpPr>
            <p:cNvPr id="83" name="Ellipse 83"/>
            <p:cNvSpPr/>
            <p:nvPr/>
          </p:nvSpPr>
          <p:spPr>
            <a:xfrm>
              <a:off x="10944225" y="3190875"/>
              <a:ext cx="514350" cy="514350"/>
            </a:xfrm>
            <a:prstGeom prst="ellipse">
              <a:avLst/>
            </a:prstGeom>
            <a:solidFill>
              <a:srgbClr val="FFFFFF"/>
            </a:solidFill>
            <a:ln>
              <a:noFill/>
            </a:ln>
          </p:spPr>
        </p:sp>
        <p:grpSp>
          <p:nvGrpSpPr>
            <p:cNvPr id="87" name="Group 87"/>
            <p:cNvGrpSpPr/>
            <p:nvPr/>
          </p:nvGrpSpPr>
          <p:grpSpPr>
            <a:xfrm>
              <a:off x="11135393" y="3308350"/>
              <a:ext cx="129507" cy="129507"/>
              <a:chOff x="11135393" y="3308350"/>
              <a:chExt cx="129507" cy="129507"/>
            </a:xfrm>
          </p:grpSpPr>
          <p:sp>
            <p:nvSpPr>
              <p:cNvPr id="84" name="Freeform 84"/>
              <p:cNvSpPr/>
              <p:nvPr/>
            </p:nvSpPr>
            <p:spPr>
              <a:xfrm>
                <a:off x="11137900" y="3308350"/>
                <a:ext cx="127000" cy="127000"/>
              </a:xfrm>
              <a:custGeom>
                <a:avLst/>
                <a:gdLst/>
                <a:ahLst/>
                <a:cxnLst/>
                <a:rect l="l" t="t" r="r" b="b"/>
                <a:pathLst>
                  <a:path w="127000" h="127000">
                    <a:moveTo>
                      <a:pt x="0" y="71437"/>
                    </a:moveTo>
                    <a:cubicBezTo>
                      <a:pt x="29132" y="74900"/>
                      <a:pt x="52100" y="97868"/>
                      <a:pt x="55562" y="127000"/>
                    </a:cubicBezTo>
                    <a:cubicBezTo>
                      <a:pt x="69827" y="118776"/>
                      <a:pt x="78832" y="103768"/>
                      <a:pt x="79375" y="87312"/>
                    </a:cubicBezTo>
                    <a:cubicBezTo>
                      <a:pt x="106631" y="77724"/>
                      <a:pt x="125427" y="52662"/>
                      <a:pt x="127000" y="23812"/>
                    </a:cubicBezTo>
                    <a:cubicBezTo>
                      <a:pt x="127000" y="10661"/>
                      <a:pt x="116339" y="0"/>
                      <a:pt x="103187" y="0"/>
                    </a:cubicBezTo>
                    <a:cubicBezTo>
                      <a:pt x="74337" y="1573"/>
                      <a:pt x="49276" y="20369"/>
                      <a:pt x="39687" y="47625"/>
                    </a:cubicBezTo>
                    <a:cubicBezTo>
                      <a:pt x="23232" y="48168"/>
                      <a:pt x="8224" y="57173"/>
                      <a:pt x="0" y="71437"/>
                    </a:cubicBezTo>
                  </a:path>
                </a:pathLst>
              </a:custGeom>
              <a:noFill/>
              <a:ln w="15875">
                <a:solidFill>
                  <a:srgbClr val="C45F4A"/>
                </a:solidFill>
              </a:ln>
            </p:spPr>
          </p:sp>
          <p:sp>
            <p:nvSpPr>
              <p:cNvPr id="85" name="Freeform 85"/>
              <p:cNvSpPr/>
              <p:nvPr/>
            </p:nvSpPr>
            <p:spPr>
              <a:xfrm>
                <a:off x="11135393" y="3387725"/>
                <a:ext cx="50132" cy="50132"/>
              </a:xfrm>
              <a:custGeom>
                <a:avLst/>
                <a:gdLst/>
                <a:ahLst/>
                <a:cxnLst/>
                <a:rect l="l" t="t" r="r" b="b"/>
                <a:pathLst>
                  <a:path w="50132" h="50132">
                    <a:moveTo>
                      <a:pt x="26320" y="0"/>
                    </a:moveTo>
                    <a:cubicBezTo>
                      <a:pt x="9420" y="9541"/>
                      <a:pt x="0" y="28381"/>
                      <a:pt x="2507" y="47625"/>
                    </a:cubicBezTo>
                    <a:cubicBezTo>
                      <a:pt x="21751" y="50132"/>
                      <a:pt x="40591" y="40712"/>
                      <a:pt x="50132" y="23812"/>
                    </a:cubicBezTo>
                  </a:path>
                </a:pathLst>
              </a:custGeom>
              <a:noFill/>
              <a:ln w="15875">
                <a:solidFill>
                  <a:srgbClr val="C45F4A"/>
                </a:solidFill>
              </a:ln>
            </p:spPr>
          </p:sp>
          <p:sp>
            <p:nvSpPr>
              <p:cNvPr id="86" name="Freeform 86"/>
              <p:cNvSpPr/>
              <p:nvPr/>
            </p:nvSpPr>
            <p:spPr>
              <a:xfrm>
                <a:off x="11217275" y="3340100"/>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C45F4A"/>
                </a:solidFill>
              </a:ln>
            </p:spPr>
          </p:sp>
        </p:grpSp>
        <p:sp>
          <p:nvSpPr>
            <p:cNvPr id="88" name="TextBox 88"/>
            <p:cNvSpPr txBox="1"/>
            <p:nvPr/>
          </p:nvSpPr>
          <p:spPr>
            <a:xfrm>
              <a:off x="11101057" y="3533061"/>
              <a:ext cx="200685"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能源</a:t>
              </a:r>
            </a:p>
          </p:txBody>
        </p:sp>
        <p:sp>
          <p:nvSpPr>
            <p:cNvPr id="89" name="Ellipse 89"/>
            <p:cNvSpPr/>
            <p:nvPr/>
          </p:nvSpPr>
          <p:spPr>
            <a:xfrm>
              <a:off x="9820275" y="4010025"/>
              <a:ext cx="514350" cy="514350"/>
            </a:xfrm>
            <a:prstGeom prst="ellipse">
              <a:avLst/>
            </a:prstGeom>
            <a:solidFill>
              <a:srgbClr val="FFFFFF"/>
            </a:solidFill>
            <a:ln>
              <a:noFill/>
            </a:ln>
          </p:spPr>
        </p:sp>
        <p:grpSp>
          <p:nvGrpSpPr>
            <p:cNvPr id="94" name="Group 94"/>
            <p:cNvGrpSpPr/>
            <p:nvPr/>
          </p:nvGrpSpPr>
          <p:grpSpPr>
            <a:xfrm>
              <a:off x="10006012" y="4135437"/>
              <a:ext cx="142875" cy="111125"/>
              <a:chOff x="10006012" y="4135437"/>
              <a:chExt cx="142875" cy="111125"/>
            </a:xfrm>
          </p:grpSpPr>
          <p:sp>
            <p:nvSpPr>
              <p:cNvPr id="90" name="Freeform 90"/>
              <p:cNvSpPr/>
              <p:nvPr/>
            </p:nvSpPr>
            <p:spPr>
              <a:xfrm>
                <a:off x="10006012" y="4135437"/>
                <a:ext cx="142875" cy="111125"/>
              </a:xfrm>
              <a:custGeom>
                <a:avLst/>
                <a:gdLst/>
                <a:ahLst/>
                <a:cxnLst/>
                <a:rect l="l" t="t" r="r" b="b"/>
                <a:pathLst>
                  <a:path w="142875" h="111125">
                    <a:moveTo>
                      <a:pt x="0" y="23812"/>
                    </a:moveTo>
                    <a:cubicBezTo>
                      <a:pt x="0" y="10661"/>
                      <a:pt x="10661" y="0"/>
                      <a:pt x="23812" y="0"/>
                    </a:cubicBezTo>
                    <a:lnTo>
                      <a:pt x="119062" y="0"/>
                    </a:lnTo>
                    <a:cubicBezTo>
                      <a:pt x="132214" y="0"/>
                      <a:pt x="142875" y="10661"/>
                      <a:pt x="142875" y="23812"/>
                    </a:cubicBezTo>
                    <a:lnTo>
                      <a:pt x="142875" y="87312"/>
                    </a:lnTo>
                    <a:cubicBezTo>
                      <a:pt x="142875" y="100464"/>
                      <a:pt x="132214" y="111125"/>
                      <a:pt x="119062" y="111125"/>
                    </a:cubicBezTo>
                    <a:lnTo>
                      <a:pt x="23812" y="111125"/>
                    </a:lnTo>
                    <a:cubicBezTo>
                      <a:pt x="10661" y="111125"/>
                      <a:pt x="0" y="100464"/>
                      <a:pt x="0" y="87312"/>
                    </a:cubicBezTo>
                    <a:lnTo>
                      <a:pt x="0" y="23812"/>
                    </a:lnTo>
                  </a:path>
                </a:pathLst>
              </a:custGeom>
              <a:noFill/>
              <a:ln w="15875">
                <a:solidFill>
                  <a:srgbClr val="C45F4A"/>
                </a:solidFill>
              </a:ln>
            </p:spPr>
          </p:sp>
          <p:sp>
            <p:nvSpPr>
              <p:cNvPr id="91" name="Freeform 91"/>
              <p:cNvSpPr/>
              <p:nvPr/>
            </p:nvSpPr>
            <p:spPr>
              <a:xfrm>
                <a:off x="10006012" y="4175125"/>
                <a:ext cx="142875" cy="9525"/>
              </a:xfrm>
              <a:custGeom>
                <a:avLst/>
                <a:gdLst/>
                <a:ahLst/>
                <a:cxnLst/>
                <a:rect l="l" t="t" r="r" b="b"/>
                <a:pathLst>
                  <a:path w="142875" h="9525">
                    <a:moveTo>
                      <a:pt x="0" y="0"/>
                    </a:moveTo>
                    <a:lnTo>
                      <a:pt x="142875" y="0"/>
                    </a:lnTo>
                  </a:path>
                </a:pathLst>
              </a:custGeom>
              <a:noFill/>
              <a:ln w="15875">
                <a:solidFill>
                  <a:srgbClr val="C45F4A"/>
                </a:solidFill>
              </a:ln>
            </p:spPr>
          </p:sp>
          <p:sp>
            <p:nvSpPr>
              <p:cNvPr id="92" name="Freeform 92"/>
              <p:cNvSpPr/>
              <p:nvPr/>
            </p:nvSpPr>
            <p:spPr>
              <a:xfrm>
                <a:off x="10037762" y="4214812"/>
                <a:ext cx="9525" cy="9525"/>
              </a:xfrm>
              <a:custGeom>
                <a:avLst/>
                <a:gdLst/>
                <a:ahLst/>
                <a:cxnLst/>
                <a:rect l="l" t="t" r="r" b="b"/>
                <a:pathLst>
                  <a:path w="9525" h="9525">
                    <a:moveTo>
                      <a:pt x="0" y="0"/>
                    </a:moveTo>
                    <a:lnTo>
                      <a:pt x="79" y="0"/>
                    </a:lnTo>
                  </a:path>
                </a:pathLst>
              </a:custGeom>
              <a:noFill/>
              <a:ln w="15875">
                <a:solidFill>
                  <a:srgbClr val="C45F4A"/>
                </a:solidFill>
              </a:ln>
            </p:spPr>
          </p:sp>
          <p:sp>
            <p:nvSpPr>
              <p:cNvPr id="93" name="Freeform 93"/>
              <p:cNvSpPr/>
              <p:nvPr/>
            </p:nvSpPr>
            <p:spPr>
              <a:xfrm>
                <a:off x="10069512" y="4214812"/>
                <a:ext cx="15875" cy="9525"/>
              </a:xfrm>
              <a:custGeom>
                <a:avLst/>
                <a:gdLst/>
                <a:ahLst/>
                <a:cxnLst/>
                <a:rect l="l" t="t" r="r" b="b"/>
                <a:pathLst>
                  <a:path w="15875" h="9525">
                    <a:moveTo>
                      <a:pt x="0" y="0"/>
                    </a:moveTo>
                    <a:lnTo>
                      <a:pt x="15875" y="0"/>
                    </a:lnTo>
                  </a:path>
                </a:pathLst>
              </a:custGeom>
              <a:noFill/>
              <a:ln w="15875">
                <a:solidFill>
                  <a:srgbClr val="C45F4A"/>
                </a:solidFill>
              </a:ln>
            </p:spPr>
          </p:sp>
        </p:grpSp>
        <p:sp>
          <p:nvSpPr>
            <p:cNvPr id="95" name="TextBox 95"/>
            <p:cNvSpPr txBox="1"/>
            <p:nvPr/>
          </p:nvSpPr>
          <p:spPr>
            <a:xfrm>
              <a:off x="9881527" y="435221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信贷方案</a:t>
              </a:r>
            </a:p>
          </p:txBody>
        </p:sp>
        <p:sp>
          <p:nvSpPr>
            <p:cNvPr id="96" name="Ellipse 96"/>
            <p:cNvSpPr/>
            <p:nvPr/>
          </p:nvSpPr>
          <p:spPr>
            <a:xfrm>
              <a:off x="10791825" y="4010025"/>
              <a:ext cx="514350" cy="514350"/>
            </a:xfrm>
            <a:prstGeom prst="ellipse">
              <a:avLst/>
            </a:prstGeom>
            <a:solidFill>
              <a:srgbClr val="FFFFFF"/>
            </a:solidFill>
            <a:ln>
              <a:noFill/>
            </a:ln>
          </p:spPr>
        </p:sp>
        <p:grpSp>
          <p:nvGrpSpPr>
            <p:cNvPr id="99" name="Group 99"/>
            <p:cNvGrpSpPr/>
            <p:nvPr/>
          </p:nvGrpSpPr>
          <p:grpSpPr>
            <a:xfrm>
              <a:off x="10966850" y="4119562"/>
              <a:ext cx="155005" cy="142875"/>
              <a:chOff x="10966850" y="4119562"/>
              <a:chExt cx="155005" cy="142875"/>
            </a:xfrm>
          </p:grpSpPr>
          <p:sp>
            <p:nvSpPr>
              <p:cNvPr id="97" name="Freeform 97"/>
              <p:cNvSpPr/>
              <p:nvPr/>
            </p:nvSpPr>
            <p:spPr>
              <a:xfrm>
                <a:off x="10966850" y="411956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C45F4A"/>
                </a:solidFill>
              </a:ln>
            </p:spPr>
          </p:sp>
          <p:sp>
            <p:nvSpPr>
              <p:cNvPr id="98" name="Freeform 98"/>
              <p:cNvSpPr/>
              <p:nvPr/>
            </p:nvSpPr>
            <p:spPr>
              <a:xfrm>
                <a:off x="11072812" y="4230687"/>
                <a:ext cx="47625" cy="31750"/>
              </a:xfrm>
              <a:custGeom>
                <a:avLst/>
                <a:gdLst/>
                <a:ahLst/>
                <a:cxnLst/>
                <a:rect l="l" t="t" r="r" b="b"/>
                <a:pathLst>
                  <a:path w="47625" h="31750">
                    <a:moveTo>
                      <a:pt x="0" y="15875"/>
                    </a:moveTo>
                    <a:lnTo>
                      <a:pt x="15875" y="31750"/>
                    </a:lnTo>
                    <a:lnTo>
                      <a:pt x="47625" y="0"/>
                    </a:lnTo>
                  </a:path>
                </a:pathLst>
              </a:custGeom>
              <a:noFill/>
              <a:ln w="15875">
                <a:solidFill>
                  <a:srgbClr val="C45F4A"/>
                </a:solidFill>
              </a:ln>
            </p:spPr>
          </p:sp>
        </p:grpSp>
        <p:sp>
          <p:nvSpPr>
            <p:cNvPr id="100" name="TextBox 100"/>
            <p:cNvSpPr txBox="1"/>
            <p:nvPr/>
          </p:nvSpPr>
          <p:spPr>
            <a:xfrm>
              <a:off x="10853077" y="435221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保险服务</a:t>
              </a:r>
            </a:p>
          </p:txBody>
        </p:sp>
        <p:grpSp>
          <p:nvGrpSpPr>
            <p:cNvPr id="105" name="Group 105"/>
            <p:cNvGrpSpPr/>
            <p:nvPr/>
          </p:nvGrpSpPr>
          <p:grpSpPr>
            <a:xfrm>
              <a:off x="10439400" y="3384550"/>
              <a:ext cx="228599" cy="203200"/>
              <a:chOff x="10439400" y="3384550"/>
              <a:chExt cx="228599" cy="203200"/>
            </a:xfrm>
          </p:grpSpPr>
          <p:sp>
            <p:nvSpPr>
              <p:cNvPr id="101" name="Freeform 101"/>
              <p:cNvSpPr/>
              <p:nvPr/>
            </p:nvSpPr>
            <p:spPr>
              <a:xfrm>
                <a:off x="10439400" y="3422650"/>
                <a:ext cx="228599" cy="9525"/>
              </a:xfrm>
              <a:custGeom>
                <a:avLst/>
                <a:gdLst/>
                <a:ahLst/>
                <a:cxnLst/>
                <a:rect l="l" t="t" r="r" b="b"/>
                <a:pathLst>
                  <a:path w="228599" h="9525">
                    <a:moveTo>
                      <a:pt x="228599" y="0"/>
                    </a:moveTo>
                    <a:lnTo>
                      <a:pt x="0" y="0"/>
                    </a:lnTo>
                  </a:path>
                </a:pathLst>
              </a:custGeom>
              <a:noFill/>
              <a:ln w="25400">
                <a:solidFill>
                  <a:srgbClr val="C45F4A"/>
                </a:solidFill>
              </a:ln>
            </p:spPr>
          </p:sp>
          <p:sp>
            <p:nvSpPr>
              <p:cNvPr id="102" name="Freeform 102"/>
              <p:cNvSpPr/>
              <p:nvPr/>
            </p:nvSpPr>
            <p:spPr>
              <a:xfrm>
                <a:off x="10629899" y="3384550"/>
                <a:ext cx="38100" cy="76200"/>
              </a:xfrm>
              <a:custGeom>
                <a:avLst/>
                <a:gdLst/>
                <a:ahLst/>
                <a:cxnLst/>
                <a:rect l="l" t="t" r="r" b="b"/>
                <a:pathLst>
                  <a:path w="38100" h="76200">
                    <a:moveTo>
                      <a:pt x="0" y="76200"/>
                    </a:moveTo>
                    <a:lnTo>
                      <a:pt x="38100" y="38100"/>
                    </a:lnTo>
                    <a:lnTo>
                      <a:pt x="0" y="0"/>
                    </a:lnTo>
                  </a:path>
                </a:pathLst>
              </a:custGeom>
              <a:noFill/>
              <a:ln w="25400">
                <a:solidFill>
                  <a:srgbClr val="C45F4A"/>
                </a:solidFill>
              </a:ln>
            </p:spPr>
          </p:sp>
          <p:sp>
            <p:nvSpPr>
              <p:cNvPr id="103" name="Freeform 103"/>
              <p:cNvSpPr/>
              <p:nvPr/>
            </p:nvSpPr>
            <p:spPr>
              <a:xfrm>
                <a:off x="10439400" y="3511550"/>
                <a:ext cx="38100" cy="76200"/>
              </a:xfrm>
              <a:custGeom>
                <a:avLst/>
                <a:gdLst/>
                <a:ahLst/>
                <a:cxnLst/>
                <a:rect l="l" t="t" r="r" b="b"/>
                <a:pathLst>
                  <a:path w="38100" h="76200">
                    <a:moveTo>
                      <a:pt x="38100" y="76200"/>
                    </a:moveTo>
                    <a:lnTo>
                      <a:pt x="0" y="38100"/>
                    </a:lnTo>
                    <a:lnTo>
                      <a:pt x="38100" y="0"/>
                    </a:lnTo>
                  </a:path>
                </a:pathLst>
              </a:custGeom>
              <a:noFill/>
              <a:ln w="25400">
                <a:solidFill>
                  <a:srgbClr val="C45F4A"/>
                </a:solidFill>
              </a:ln>
            </p:spPr>
          </p:sp>
          <p:sp>
            <p:nvSpPr>
              <p:cNvPr id="104" name="Freeform 104"/>
              <p:cNvSpPr/>
              <p:nvPr/>
            </p:nvSpPr>
            <p:spPr>
              <a:xfrm>
                <a:off x="10439400" y="3549649"/>
                <a:ext cx="228599" cy="9525"/>
              </a:xfrm>
              <a:custGeom>
                <a:avLst/>
                <a:gdLst/>
                <a:ahLst/>
                <a:cxnLst/>
                <a:rect l="l" t="t" r="r" b="b"/>
                <a:pathLst>
                  <a:path w="228599" h="9525">
                    <a:moveTo>
                      <a:pt x="0" y="0"/>
                    </a:moveTo>
                    <a:lnTo>
                      <a:pt x="228599" y="0"/>
                    </a:lnTo>
                  </a:path>
                </a:pathLst>
              </a:custGeom>
              <a:noFill/>
              <a:ln w="25400">
                <a:solidFill>
                  <a:srgbClr val="C45F4A"/>
                </a:solidFill>
              </a:ln>
            </p:spPr>
          </p:sp>
        </p:grpSp>
        <p:sp>
          <p:nvSpPr>
            <p:cNvPr id="106" name="TextBox 106"/>
            <p:cNvSpPr txBox="1"/>
            <p:nvPr/>
          </p:nvSpPr>
          <p:spPr>
            <a:xfrm>
              <a:off x="10336340" y="3791902"/>
              <a:ext cx="434721" cy="205359"/>
            </a:xfrm>
            <a:prstGeom prst="rect">
              <a:avLst/>
            </a:prstGeom>
            <a:noFill/>
            <a:ln>
              <a:noFill/>
            </a:ln>
          </p:spPr>
          <p:txBody>
            <a:bodyPr wrap="none" lIns="0" tIns="0" rIns="0" bIns="0" anchor="t" anchorCtr="0">
              <a:spAutoFit/>
            </a:bodyPr>
            <a:lstStyle/>
            <a:p>
              <a:pPr algn="ctr"/>
              <a:r>
                <a:rPr lang="zh-CN" sz="1050" b="1" dirty="0">
                  <a:solidFill>
                    <a:srgbClr val="543E3A"/>
                  </a:solidFill>
                  <a:latin typeface="+mn-lt"/>
                  <a:ea typeface="+mn-ea"/>
                  <a:cs typeface="+mn-cs"/>
                </a:rPr>
                <a:t>运力端</a:t>
              </a:r>
            </a:p>
          </p:txBody>
        </p:sp>
        <p:sp>
          <p:nvSpPr>
            <p:cNvPr id="107" name="Line 107"/>
            <p:cNvSpPr/>
            <p:nvPr/>
          </p:nvSpPr>
          <p:spPr>
            <a:xfrm flipV="1">
              <a:off x="10553700" y="4857750"/>
              <a:ext cx="1" cy="742950"/>
            </a:xfrm>
            <a:prstGeom prst="line">
              <a:avLst/>
            </a:prstGeom>
            <a:noFill/>
            <a:ln w="14288">
              <a:solidFill>
                <a:srgbClr val="E8A79A"/>
              </a:solidFill>
              <a:tailEnd type="triangle" w="lg" len="lg"/>
            </a:ln>
          </p:spPr>
        </p:sp>
        <p:sp>
          <p:nvSpPr>
            <p:cNvPr id="108" name="TextBox 108"/>
            <p:cNvSpPr txBox="1"/>
            <p:nvPr/>
          </p:nvSpPr>
          <p:spPr>
            <a:xfrm>
              <a:off x="10214991" y="5735002"/>
              <a:ext cx="677418" cy="386334"/>
            </a:xfrm>
            <a:prstGeom prst="rect">
              <a:avLst/>
            </a:prstGeom>
            <a:noFill/>
            <a:ln>
              <a:noFill/>
            </a:ln>
          </p:spPr>
          <p:txBody>
            <a:bodyPr wrap="none" lIns="0" tIns="0" rIns="0" bIns="0" anchor="t" anchorCtr="0">
              <a:spAutoFit/>
            </a:bodyPr>
            <a:lstStyle/>
            <a:p>
              <a:pPr algn="ctr">
                <a:lnSpc>
                  <a:spcPts val="1425"/>
                </a:lnSpc>
              </a:pPr>
              <a:r>
                <a:rPr lang="zh-CN" sz="1050" b="1" dirty="0">
                  <a:solidFill>
                    <a:srgbClr val="543E3A"/>
                  </a:solidFill>
                  <a:latin typeface="+mn-lt"/>
                  <a:ea typeface="+mn-ea"/>
                  <a:cs typeface="+mn-cs"/>
                </a:rPr>
                <a:t>受益人群大</a:t>
              </a:r>
              <a:br/>
              <a:r>
                <a:rPr lang="zh-CN" sz="1050" b="1" dirty="0">
                  <a:solidFill>
                    <a:srgbClr val="543E3A"/>
                  </a:solidFill>
                  <a:latin typeface="+mn-lt"/>
                  <a:ea typeface="+mn-ea"/>
                  <a:cs typeface="+mn-cs"/>
                </a:rPr>
                <a:t>留存率高</a:t>
              </a:r>
            </a:p>
          </p:txBody>
        </p:sp>
      </p:gr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arc"/>
          <p:cNvSpPr/>
          <p:nvPr/>
        </p:nvSpPr>
        <p:spPr>
          <a:xfrm>
            <a:off x="762000" y="-1619250"/>
            <a:ext cx="10668000" cy="10668000"/>
          </a:xfrm>
          <a:prstGeom prst="ellipse">
            <a:avLst/>
          </a:prstGeom>
          <a:noFill/>
          <a:ln w="666750">
            <a:solidFill>
              <a:srgbClr val="F0F3FB"/>
            </a:solidFill>
          </a:ln>
        </p:spPr>
      </p:sp>
      <p:sp>
        <p:nvSpPr>
          <p:cNvPr id="3" name="arrow-left-up"/>
          <p:cNvSpPr/>
          <p:nvPr/>
        </p:nvSpPr>
        <p:spPr>
          <a:xfrm>
            <a:off x="2476500" y="2400300"/>
            <a:ext cx="552450" cy="3695700"/>
          </a:xfrm>
          <a:custGeom>
            <a:avLst/>
            <a:gdLst/>
            <a:ahLst/>
            <a:cxnLst/>
            <a:rect l="l" t="t" r="r" b="b"/>
            <a:pathLst>
              <a:path w="552450" h="3695700">
                <a:moveTo>
                  <a:pt x="381000" y="3695700"/>
                </a:moveTo>
                <a:cubicBezTo>
                  <a:pt x="0" y="2298700"/>
                  <a:pt x="57150" y="1066800"/>
                  <a:pt x="552450" y="0"/>
                </a:cubicBezTo>
              </a:path>
            </a:pathLst>
          </a:custGeom>
          <a:noFill/>
          <a:ln w="23812">
            <a:solidFill>
              <a:srgbClr val="ECC1B8"/>
            </a:solidFill>
            <a:tailEnd type="triangle" w="lg" len="lg"/>
          </a:ln>
        </p:spPr>
      </p:sp>
      <p:sp>
        <p:nvSpPr>
          <p:cNvPr id="4" name="arrow-right-up"/>
          <p:cNvSpPr/>
          <p:nvPr/>
        </p:nvSpPr>
        <p:spPr>
          <a:xfrm>
            <a:off x="9163050" y="2400300"/>
            <a:ext cx="552450" cy="3695700"/>
          </a:xfrm>
          <a:custGeom>
            <a:avLst/>
            <a:gdLst/>
            <a:ahLst/>
            <a:cxnLst/>
            <a:rect l="l" t="t" r="r" b="b"/>
            <a:pathLst>
              <a:path w="552450" h="3695700">
                <a:moveTo>
                  <a:pt x="171450" y="3695700"/>
                </a:moveTo>
                <a:cubicBezTo>
                  <a:pt x="552450" y="2298700"/>
                  <a:pt x="495300" y="1066800"/>
                  <a:pt x="0" y="0"/>
                </a:cubicBezTo>
              </a:path>
            </a:pathLst>
          </a:custGeom>
          <a:noFill/>
          <a:ln w="23812">
            <a:solidFill>
              <a:srgbClr val="ECC1B8"/>
            </a:solidFill>
            <a:tailEnd type="triangle" w="lg" len="lg"/>
          </a:ln>
        </p:spPr>
      </p:sp>
      <p:grpSp>
        <p:nvGrpSpPr>
          <p:cNvPr id="9" name="page-header"/>
          <p:cNvGrpSpPr/>
          <p:nvPr/>
        </p:nvGrpSpPr>
        <p:grpSpPr>
          <a:xfrm>
            <a:off x="0" y="0"/>
            <a:ext cx="5905500" cy="542925"/>
            <a:chOff x="0" y="0"/>
            <a:chExt cx="5905500" cy="542925"/>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6" name="TextBox 6"/>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61</a:t>
              </a:r>
            </a:p>
          </p:txBody>
        </p:sp>
        <p:sp>
          <p:nvSpPr>
            <p:cNvPr id="7" name="TextBox 7"/>
            <p:cNvSpPr txBox="1"/>
            <p:nvPr/>
          </p:nvSpPr>
          <p:spPr>
            <a:xfrm>
              <a:off x="942594" y="151448"/>
              <a:ext cx="295367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产融供应链数字化平台​</a:t>
              </a:r>
            </a:p>
          </p:txBody>
        </p:sp>
        <p:sp>
          <p:nvSpPr>
            <p:cNvPr id="8" name="Line 8"/>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23" name="left-services"/>
          <p:cNvGrpSpPr/>
          <p:nvPr/>
        </p:nvGrpSpPr>
        <p:grpSpPr>
          <a:xfrm>
            <a:off x="1000125" y="2004060"/>
            <a:ext cx="1238250" cy="3939540"/>
            <a:chOff x="1000125" y="2004060"/>
            <a:chExt cx="1238250" cy="3939540"/>
          </a:xfrm>
        </p:grpSpPr>
        <p:sp>
          <p:nvSpPr>
            <p:cNvPr id="10" name="TextBox 10"/>
            <p:cNvSpPr txBox="1"/>
            <p:nvPr/>
          </p:nvSpPr>
          <p:spPr>
            <a:xfrm>
              <a:off x="1290066" y="2004060"/>
              <a:ext cx="658368" cy="234696"/>
            </a:xfrm>
            <a:prstGeom prst="rect">
              <a:avLst/>
            </a:prstGeom>
            <a:noFill/>
            <a:ln>
              <a:noFill/>
            </a:ln>
          </p:spPr>
          <p:txBody>
            <a:bodyPr wrap="none" lIns="0" tIns="0" rIns="0" bIns="0" anchor="t" anchorCtr="0">
              <a:spAutoFit/>
            </a:bodyPr>
            <a:lstStyle/>
            <a:p>
              <a:pPr algn="ctr"/>
              <a:r>
                <a:rPr lang="zh-CN" sz="1200" b="1" dirty="0">
                  <a:solidFill>
                    <a:srgbClr val="C45F4A"/>
                  </a:solidFill>
                  <a:latin typeface="+mn-lt"/>
                  <a:ea typeface="+mn-ea"/>
                  <a:cs typeface="+mn-cs"/>
                </a:rPr>
                <a:t>场景服务</a:t>
              </a:r>
            </a:p>
          </p:txBody>
        </p:sp>
        <p:sp>
          <p:nvSpPr>
            <p:cNvPr id="11" name="Rectangle 11"/>
            <p:cNvSpPr/>
            <p:nvPr/>
          </p:nvSpPr>
          <p:spPr>
            <a:xfrm>
              <a:off x="1000125" y="2381250"/>
              <a:ext cx="12382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12" name="TextBox 12"/>
            <p:cNvSpPr txBox="1"/>
            <p:nvPr/>
          </p:nvSpPr>
          <p:spPr>
            <a:xfrm>
              <a:off x="1350442" y="2495074"/>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企业认证</a:t>
              </a:r>
            </a:p>
          </p:txBody>
        </p:sp>
        <p:sp>
          <p:nvSpPr>
            <p:cNvPr id="13" name="Rectangle 13"/>
            <p:cNvSpPr/>
            <p:nvPr/>
          </p:nvSpPr>
          <p:spPr>
            <a:xfrm>
              <a:off x="1000125" y="3028950"/>
              <a:ext cx="12382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14" name="TextBox 14"/>
            <p:cNvSpPr txBox="1"/>
            <p:nvPr/>
          </p:nvSpPr>
          <p:spPr>
            <a:xfrm>
              <a:off x="1350442" y="3142774"/>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在线签约</a:t>
              </a:r>
            </a:p>
          </p:txBody>
        </p:sp>
        <p:sp>
          <p:nvSpPr>
            <p:cNvPr id="15" name="Rectangle 15"/>
            <p:cNvSpPr/>
            <p:nvPr/>
          </p:nvSpPr>
          <p:spPr>
            <a:xfrm>
              <a:off x="1000125" y="3676650"/>
              <a:ext cx="12382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16" name="TextBox 16"/>
            <p:cNvSpPr txBox="1"/>
            <p:nvPr/>
          </p:nvSpPr>
          <p:spPr>
            <a:xfrm>
              <a:off x="1350442" y="3790474"/>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产品申请</a:t>
              </a:r>
            </a:p>
          </p:txBody>
        </p:sp>
        <p:sp>
          <p:nvSpPr>
            <p:cNvPr id="17" name="Rectangle 17"/>
            <p:cNvSpPr/>
            <p:nvPr/>
          </p:nvSpPr>
          <p:spPr>
            <a:xfrm>
              <a:off x="1000125" y="4324350"/>
              <a:ext cx="12382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18" name="TextBox 18"/>
            <p:cNvSpPr txBox="1"/>
            <p:nvPr/>
          </p:nvSpPr>
          <p:spPr>
            <a:xfrm>
              <a:off x="1350442" y="4438174"/>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在线下单</a:t>
              </a:r>
            </a:p>
          </p:txBody>
        </p:sp>
        <p:sp>
          <p:nvSpPr>
            <p:cNvPr id="19" name="Rectangle 19"/>
            <p:cNvSpPr/>
            <p:nvPr/>
          </p:nvSpPr>
          <p:spPr>
            <a:xfrm>
              <a:off x="1000125" y="4972050"/>
              <a:ext cx="12382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20" name="TextBox 20"/>
            <p:cNvSpPr txBox="1"/>
            <p:nvPr/>
          </p:nvSpPr>
          <p:spPr>
            <a:xfrm>
              <a:off x="1350442" y="5085874"/>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订单查询</a:t>
              </a:r>
            </a:p>
          </p:txBody>
        </p:sp>
        <p:sp>
          <p:nvSpPr>
            <p:cNvPr id="21" name="Rectangle 21"/>
            <p:cNvSpPr/>
            <p:nvPr/>
          </p:nvSpPr>
          <p:spPr>
            <a:xfrm>
              <a:off x="1000125" y="5619750"/>
              <a:ext cx="12382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22" name="TextBox 22"/>
            <p:cNvSpPr txBox="1"/>
            <p:nvPr/>
          </p:nvSpPr>
          <p:spPr>
            <a:xfrm>
              <a:off x="1350442" y="5733574"/>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在线对账</a:t>
              </a:r>
            </a:p>
          </p:txBody>
        </p:sp>
      </p:grpSp>
      <p:grpSp>
        <p:nvGrpSpPr>
          <p:cNvPr id="37" name="right-services"/>
          <p:cNvGrpSpPr/>
          <p:nvPr/>
        </p:nvGrpSpPr>
        <p:grpSpPr>
          <a:xfrm>
            <a:off x="9953625" y="2004060"/>
            <a:ext cx="1428750" cy="3939540"/>
            <a:chOff x="9953625" y="2004060"/>
            <a:chExt cx="1428750" cy="3939540"/>
          </a:xfrm>
        </p:grpSpPr>
        <p:sp>
          <p:nvSpPr>
            <p:cNvPr id="24" name="TextBox 24"/>
            <p:cNvSpPr txBox="1"/>
            <p:nvPr/>
          </p:nvSpPr>
          <p:spPr>
            <a:xfrm>
              <a:off x="10338816" y="2004060"/>
              <a:ext cx="658368" cy="234696"/>
            </a:xfrm>
            <a:prstGeom prst="rect">
              <a:avLst/>
            </a:prstGeom>
            <a:noFill/>
            <a:ln>
              <a:noFill/>
            </a:ln>
          </p:spPr>
          <p:txBody>
            <a:bodyPr wrap="none" lIns="0" tIns="0" rIns="0" bIns="0" anchor="t" anchorCtr="0">
              <a:spAutoFit/>
            </a:bodyPr>
            <a:lstStyle/>
            <a:p>
              <a:pPr algn="ctr"/>
              <a:r>
                <a:rPr lang="zh-CN" sz="1200" b="1" dirty="0">
                  <a:solidFill>
                    <a:srgbClr val="C45F4A"/>
                  </a:solidFill>
                  <a:latin typeface="+mn-lt"/>
                  <a:ea typeface="+mn-ea"/>
                  <a:cs typeface="+mn-cs"/>
                </a:rPr>
                <a:t>风控服务</a:t>
              </a:r>
            </a:p>
          </p:txBody>
        </p:sp>
        <p:sp>
          <p:nvSpPr>
            <p:cNvPr id="25" name="Rectangle 25"/>
            <p:cNvSpPr/>
            <p:nvPr/>
          </p:nvSpPr>
          <p:spPr>
            <a:xfrm>
              <a:off x="9953625" y="2343150"/>
              <a:ext cx="1428750" cy="400050"/>
            </a:xfrm>
            <a:prstGeom prst="roundRect">
              <a:avLst>
                <a:gd name="adj" fmla="val 42857"/>
              </a:avLst>
            </a:prstGeom>
            <a:solidFill>
              <a:srgbClr val="FFFFFF"/>
            </a:solidFill>
            <a:ln>
              <a:noFill/>
            </a:ln>
            <a:effectLst>
              <a:outerShdw blurRad="114300" dist="38100" dir="5400000" algn="ctr" rotWithShape="0">
                <a:srgbClr val="C45F4A">
                  <a:alpha val="7500"/>
                </a:srgbClr>
              </a:outerShdw>
            </a:effectLst>
          </p:spPr>
        </p:sp>
        <p:sp>
          <p:nvSpPr>
            <p:cNvPr id="26" name="TextBox 26"/>
            <p:cNvSpPr txBox="1"/>
            <p:nvPr/>
          </p:nvSpPr>
          <p:spPr>
            <a:xfrm>
              <a:off x="10377488" y="2417445"/>
              <a:ext cx="581025" cy="319088"/>
            </a:xfrm>
            <a:prstGeom prst="rect">
              <a:avLst/>
            </a:prstGeom>
            <a:noFill/>
            <a:ln>
              <a:noFill/>
            </a:ln>
          </p:spPr>
          <p:txBody>
            <a:bodyPr wrap="none" lIns="0" tIns="0" rIns="0" bIns="0" anchor="t" anchorCtr="0">
              <a:spAutoFit/>
            </a:bodyPr>
            <a:lstStyle/>
            <a:p>
              <a:pPr algn="ctr">
                <a:lnSpc>
                  <a:spcPts val="1125"/>
                </a:lnSpc>
              </a:pPr>
              <a:r>
                <a:rPr lang="zh-CN" sz="900" dirty="0">
                  <a:solidFill>
                    <a:srgbClr val="543E3A"/>
                  </a:solidFill>
                  <a:latin typeface="+mn-lt"/>
                  <a:ea typeface="+mn-ea"/>
                  <a:cs typeface="+mn-cs"/>
                </a:rPr>
                <a:t>人企四要素</a:t>
              </a:r>
              <a:br/>
              <a:r>
                <a:rPr lang="zh-CN" sz="900" dirty="0">
                  <a:solidFill>
                    <a:srgbClr val="543E3A"/>
                  </a:solidFill>
                  <a:latin typeface="+mn-lt"/>
                  <a:ea typeface="+mn-ea"/>
                  <a:cs typeface="+mn-cs"/>
                </a:rPr>
                <a:t>自动核验</a:t>
              </a:r>
            </a:p>
          </p:txBody>
        </p:sp>
        <p:sp>
          <p:nvSpPr>
            <p:cNvPr id="27" name="Rectangle 27"/>
            <p:cNvSpPr/>
            <p:nvPr/>
          </p:nvSpPr>
          <p:spPr>
            <a:xfrm>
              <a:off x="9953625" y="3028950"/>
              <a:ext cx="14287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28" name="TextBox 28"/>
            <p:cNvSpPr txBox="1"/>
            <p:nvPr/>
          </p:nvSpPr>
          <p:spPr>
            <a:xfrm>
              <a:off x="10399192" y="3142774"/>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企业画像</a:t>
              </a:r>
            </a:p>
          </p:txBody>
        </p:sp>
        <p:sp>
          <p:nvSpPr>
            <p:cNvPr id="29" name="Rectangle 29"/>
            <p:cNvSpPr/>
            <p:nvPr/>
          </p:nvSpPr>
          <p:spPr>
            <a:xfrm>
              <a:off x="9953625" y="3676650"/>
              <a:ext cx="14287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30" name="TextBox 30"/>
            <p:cNvSpPr txBox="1"/>
            <p:nvPr/>
          </p:nvSpPr>
          <p:spPr>
            <a:xfrm>
              <a:off x="10333228" y="3790474"/>
              <a:ext cx="669544"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供应链画像</a:t>
              </a:r>
            </a:p>
          </p:txBody>
        </p:sp>
        <p:sp>
          <p:nvSpPr>
            <p:cNvPr id="31" name="Rectangle 31"/>
            <p:cNvSpPr/>
            <p:nvPr/>
          </p:nvSpPr>
          <p:spPr>
            <a:xfrm>
              <a:off x="9953625" y="4324350"/>
              <a:ext cx="14287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32" name="TextBox 32"/>
            <p:cNvSpPr txBox="1"/>
            <p:nvPr/>
          </p:nvSpPr>
          <p:spPr>
            <a:xfrm>
              <a:off x="10267264" y="4438174"/>
              <a:ext cx="801472"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流水对比核验</a:t>
              </a:r>
            </a:p>
          </p:txBody>
        </p:sp>
        <p:sp>
          <p:nvSpPr>
            <p:cNvPr id="33" name="Rectangle 33"/>
            <p:cNvSpPr/>
            <p:nvPr/>
          </p:nvSpPr>
          <p:spPr>
            <a:xfrm>
              <a:off x="9953625" y="4972050"/>
              <a:ext cx="14287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34" name="TextBox 34"/>
            <p:cNvSpPr txBox="1"/>
            <p:nvPr/>
          </p:nvSpPr>
          <p:spPr>
            <a:xfrm>
              <a:off x="10399192" y="5085874"/>
              <a:ext cx="537616"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风控报告</a:t>
              </a:r>
            </a:p>
          </p:txBody>
        </p:sp>
        <p:sp>
          <p:nvSpPr>
            <p:cNvPr id="35" name="Rectangle 35"/>
            <p:cNvSpPr/>
            <p:nvPr/>
          </p:nvSpPr>
          <p:spPr>
            <a:xfrm>
              <a:off x="9953625" y="5619750"/>
              <a:ext cx="1428750" cy="323850"/>
            </a:xfrm>
            <a:prstGeom prst="roundRect">
              <a:avLst>
                <a:gd name="adj" fmla="val 50000"/>
              </a:avLst>
            </a:prstGeom>
            <a:solidFill>
              <a:srgbClr val="FFFFFF"/>
            </a:solidFill>
            <a:ln>
              <a:noFill/>
            </a:ln>
            <a:effectLst>
              <a:outerShdw blurRad="114300" dist="38100" dir="5400000" algn="ctr" rotWithShape="0">
                <a:srgbClr val="C45F4A">
                  <a:alpha val="7500"/>
                </a:srgbClr>
              </a:outerShdw>
            </a:effectLst>
          </p:spPr>
        </p:sp>
        <p:sp>
          <p:nvSpPr>
            <p:cNvPr id="36" name="TextBox 36"/>
            <p:cNvSpPr txBox="1"/>
            <p:nvPr/>
          </p:nvSpPr>
          <p:spPr>
            <a:xfrm>
              <a:off x="10267264" y="5733574"/>
              <a:ext cx="801472" cy="190690"/>
            </a:xfrm>
            <a:prstGeom prst="rect">
              <a:avLst/>
            </a:prstGeom>
            <a:noFill/>
            <a:ln>
              <a:noFill/>
            </a:ln>
          </p:spPr>
          <p:txBody>
            <a:bodyPr wrap="none" lIns="0" tIns="0" rIns="0" bIns="0" anchor="t" anchorCtr="0">
              <a:spAutoFit/>
            </a:bodyPr>
            <a:lstStyle/>
            <a:p>
              <a:pPr algn="ctr"/>
              <a:r>
                <a:rPr lang="zh-CN" sz="980" dirty="0">
                  <a:solidFill>
                    <a:srgbClr val="543E3A"/>
                  </a:solidFill>
                  <a:latin typeface="+mn-lt"/>
                  <a:ea typeface="+mn-ea"/>
                  <a:cs typeface="+mn-cs"/>
                </a:rPr>
                <a:t>事中预警监控</a:t>
              </a:r>
            </a:p>
          </p:txBody>
        </p:sp>
      </p:grpSp>
      <p:grpSp>
        <p:nvGrpSpPr>
          <p:cNvPr id="67" name="layer-scene"/>
          <p:cNvGrpSpPr/>
          <p:nvPr/>
        </p:nvGrpSpPr>
        <p:grpSpPr>
          <a:xfrm>
            <a:off x="3276600" y="855345"/>
            <a:ext cx="5638800" cy="2138362"/>
            <a:chOff x="3276600" y="855345"/>
            <a:chExt cx="5638800" cy="2138362"/>
          </a:xfrm>
        </p:grpSpPr>
        <p:sp>
          <p:nvSpPr>
            <p:cNvPr id="38" name="TextBox 38"/>
            <p:cNvSpPr txBox="1"/>
            <p:nvPr/>
          </p:nvSpPr>
          <p:spPr>
            <a:xfrm>
              <a:off x="5848921" y="855345"/>
              <a:ext cx="494157" cy="176212"/>
            </a:xfrm>
            <a:prstGeom prst="rect">
              <a:avLst/>
            </a:prstGeom>
            <a:noFill/>
            <a:ln>
              <a:noFill/>
            </a:ln>
          </p:spPr>
          <p:txBody>
            <a:bodyPr wrap="none" lIns="0" tIns="0" rIns="0" bIns="0" anchor="t" anchorCtr="0">
              <a:spAutoFit/>
            </a:bodyPr>
            <a:lstStyle/>
            <a:p>
              <a:pPr algn="ctr"/>
              <a:r>
                <a:rPr lang="zh-CN" sz="900" dirty="0">
                  <a:solidFill>
                    <a:srgbClr val="88706B"/>
                  </a:solidFill>
                  <a:latin typeface="+mn-lt"/>
                  <a:ea typeface="+mn-ea"/>
                  <a:cs typeface="+mn-cs"/>
                </a:rPr>
                <a:t>数实融合</a:t>
              </a:r>
            </a:p>
          </p:txBody>
        </p:sp>
        <p:sp>
          <p:nvSpPr>
            <p:cNvPr id="39" name="Ellipse 39"/>
            <p:cNvSpPr/>
            <p:nvPr/>
          </p:nvSpPr>
          <p:spPr>
            <a:xfrm>
              <a:off x="3276600" y="2095500"/>
              <a:ext cx="5638800" cy="895350"/>
            </a:xfrm>
            <a:prstGeom prst="ellipse">
              <a:avLst/>
            </a:prstGeom>
            <a:solidFill>
              <a:srgbClr val="FDEDE8">
                <a:alpha val="75000"/>
              </a:srgbClr>
            </a:solidFill>
            <a:ln w="11430">
              <a:solidFill>
                <a:srgbClr val="F3B0A4"/>
              </a:solidFill>
            </a:ln>
          </p:spPr>
        </p:sp>
        <p:sp>
          <p:nvSpPr>
            <p:cNvPr id="40" name="Ellipse 40"/>
            <p:cNvSpPr/>
            <p:nvPr/>
          </p:nvSpPr>
          <p:spPr>
            <a:xfrm>
              <a:off x="4857750" y="2247900"/>
              <a:ext cx="2476500" cy="419100"/>
            </a:xfrm>
            <a:prstGeom prst="ellipse">
              <a:avLst/>
            </a:prstGeom>
            <a:solidFill>
              <a:srgbClr val="C9D1F0"/>
            </a:solidFill>
            <a:ln>
              <a:noFill/>
            </a:ln>
          </p:spPr>
        </p:sp>
        <p:sp>
          <p:nvSpPr>
            <p:cNvPr id="41" name="Rectangle 41"/>
            <p:cNvSpPr/>
            <p:nvPr/>
          </p:nvSpPr>
          <p:spPr>
            <a:xfrm>
              <a:off x="5562600" y="1733550"/>
              <a:ext cx="1066800" cy="628650"/>
            </a:xfrm>
            <a:prstGeom prst="roundRect">
              <a:avLst>
                <a:gd name="adj" fmla="val 12121"/>
              </a:avLst>
            </a:prstGeom>
            <a:solidFill>
              <a:srgbClr val="FFFFFF"/>
            </a:solidFill>
            <a:ln w="11430">
              <a:solidFill>
                <a:srgbClr val="C9D1F0"/>
              </a:solidFill>
            </a:ln>
          </p:spPr>
        </p:sp>
        <p:sp>
          <p:nvSpPr>
            <p:cNvPr id="42" name="Rectangle 42"/>
            <p:cNvSpPr/>
            <p:nvPr/>
          </p:nvSpPr>
          <p:spPr>
            <a:xfrm>
              <a:off x="5657850" y="1828800"/>
              <a:ext cx="876300" cy="76200"/>
            </a:xfrm>
            <a:prstGeom prst="roundRect">
              <a:avLst>
                <a:gd name="adj" fmla="val 25000"/>
              </a:avLst>
            </a:prstGeom>
            <a:solidFill>
              <a:srgbClr val="E8EBF8"/>
            </a:solidFill>
            <a:ln>
              <a:noFill/>
            </a:ln>
          </p:spPr>
        </p:sp>
        <p:sp>
          <p:nvSpPr>
            <p:cNvPr id="43" name="Rectangle 43"/>
            <p:cNvSpPr/>
            <p:nvPr/>
          </p:nvSpPr>
          <p:spPr>
            <a:xfrm>
              <a:off x="5657850" y="1962150"/>
              <a:ext cx="247650" cy="133350"/>
            </a:xfrm>
            <a:prstGeom prst="roundRect">
              <a:avLst>
                <a:gd name="adj" fmla="val 14286"/>
              </a:avLst>
            </a:prstGeom>
            <a:solidFill>
              <a:srgbClr val="E8EBF8"/>
            </a:solidFill>
            <a:ln>
              <a:noFill/>
            </a:ln>
          </p:spPr>
        </p:sp>
        <p:sp>
          <p:nvSpPr>
            <p:cNvPr id="44" name="Rectangle 44"/>
            <p:cNvSpPr/>
            <p:nvPr/>
          </p:nvSpPr>
          <p:spPr>
            <a:xfrm>
              <a:off x="5972175" y="1962150"/>
              <a:ext cx="247650" cy="133350"/>
            </a:xfrm>
            <a:prstGeom prst="roundRect">
              <a:avLst>
                <a:gd name="adj" fmla="val 14286"/>
              </a:avLst>
            </a:prstGeom>
            <a:solidFill>
              <a:srgbClr val="E8EBF8"/>
            </a:solidFill>
            <a:ln>
              <a:noFill/>
            </a:ln>
          </p:spPr>
        </p:sp>
        <p:sp>
          <p:nvSpPr>
            <p:cNvPr id="45" name="Rectangle 45"/>
            <p:cNvSpPr/>
            <p:nvPr/>
          </p:nvSpPr>
          <p:spPr>
            <a:xfrm>
              <a:off x="6286500" y="1962150"/>
              <a:ext cx="247650" cy="133350"/>
            </a:xfrm>
            <a:prstGeom prst="roundRect">
              <a:avLst>
                <a:gd name="adj" fmla="val 14286"/>
              </a:avLst>
            </a:prstGeom>
            <a:solidFill>
              <a:srgbClr val="E8EBF8"/>
            </a:solidFill>
            <a:ln>
              <a:noFill/>
            </a:ln>
          </p:spPr>
        </p:sp>
        <p:sp>
          <p:nvSpPr>
            <p:cNvPr id="46" name="Rectangle 46"/>
            <p:cNvSpPr/>
            <p:nvPr/>
          </p:nvSpPr>
          <p:spPr>
            <a:xfrm>
              <a:off x="5657850" y="2152650"/>
              <a:ext cx="247650" cy="133350"/>
            </a:xfrm>
            <a:prstGeom prst="roundRect">
              <a:avLst>
                <a:gd name="adj" fmla="val 14286"/>
              </a:avLst>
            </a:prstGeom>
            <a:solidFill>
              <a:srgbClr val="E8EBF8"/>
            </a:solidFill>
            <a:ln>
              <a:noFill/>
            </a:ln>
          </p:spPr>
        </p:sp>
        <p:sp>
          <p:nvSpPr>
            <p:cNvPr id="47" name="Rectangle 47"/>
            <p:cNvSpPr/>
            <p:nvPr/>
          </p:nvSpPr>
          <p:spPr>
            <a:xfrm>
              <a:off x="5972175" y="2152650"/>
              <a:ext cx="247650" cy="133350"/>
            </a:xfrm>
            <a:prstGeom prst="roundRect">
              <a:avLst>
                <a:gd name="adj" fmla="val 14286"/>
              </a:avLst>
            </a:prstGeom>
            <a:solidFill>
              <a:srgbClr val="E8EBF8"/>
            </a:solidFill>
            <a:ln>
              <a:noFill/>
            </a:ln>
          </p:spPr>
        </p:sp>
        <p:sp>
          <p:nvSpPr>
            <p:cNvPr id="48" name="Rectangle 48"/>
            <p:cNvSpPr/>
            <p:nvPr/>
          </p:nvSpPr>
          <p:spPr>
            <a:xfrm>
              <a:off x="6286500" y="2152650"/>
              <a:ext cx="247650" cy="133350"/>
            </a:xfrm>
            <a:prstGeom prst="roundRect">
              <a:avLst>
                <a:gd name="adj" fmla="val 14286"/>
              </a:avLst>
            </a:prstGeom>
            <a:solidFill>
              <a:srgbClr val="E8EBF8"/>
            </a:solidFill>
            <a:ln>
              <a:noFill/>
            </a:ln>
          </p:spPr>
        </p:sp>
        <p:sp>
          <p:nvSpPr>
            <p:cNvPr id="49" name="Ellipse 49"/>
            <p:cNvSpPr/>
            <p:nvPr/>
          </p:nvSpPr>
          <p:spPr>
            <a:xfrm>
              <a:off x="4267200" y="1524000"/>
              <a:ext cx="457200" cy="457200"/>
            </a:xfrm>
            <a:prstGeom prst="ellipse">
              <a:avLst/>
            </a:prstGeom>
            <a:gradFill>
              <a:gsLst>
                <a:gs pos="0">
                  <a:srgbClr val="F07E6A"/>
                </a:gs>
                <a:gs pos="100000">
                  <a:srgbClr val="DD5740"/>
                </a:gs>
              </a:gsLst>
              <a:path path="circle">
                <a:fillToRect l="40000" t="35000" r="60000" b="65000"/>
              </a:path>
            </a:gradFill>
            <a:ln>
              <a:noFill/>
            </a:ln>
          </p:spPr>
        </p:sp>
        <p:sp>
          <p:nvSpPr>
            <p:cNvPr id="50" name="TextBox 50"/>
            <p:cNvSpPr txBox="1"/>
            <p:nvPr/>
          </p:nvSpPr>
          <p:spPr>
            <a:xfrm>
              <a:off x="4358919" y="169497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场景</a:t>
              </a:r>
            </a:p>
          </p:txBody>
        </p:sp>
        <p:sp>
          <p:nvSpPr>
            <p:cNvPr id="51" name="Ellipse 51"/>
            <p:cNvSpPr/>
            <p:nvPr/>
          </p:nvSpPr>
          <p:spPr>
            <a:xfrm>
              <a:off x="5286375" y="1219200"/>
              <a:ext cx="495300" cy="495300"/>
            </a:xfrm>
            <a:prstGeom prst="ellipse">
              <a:avLst/>
            </a:prstGeom>
            <a:gradFill>
              <a:gsLst>
                <a:gs pos="0">
                  <a:srgbClr val="F07E6A"/>
                </a:gs>
                <a:gs pos="100000">
                  <a:srgbClr val="DD5740"/>
                </a:gs>
              </a:gsLst>
              <a:path path="circle">
                <a:fillToRect l="40000" t="35000" r="60000" b="65000"/>
              </a:path>
            </a:gradFill>
            <a:ln>
              <a:noFill/>
            </a:ln>
          </p:spPr>
        </p:sp>
        <p:sp>
          <p:nvSpPr>
            <p:cNvPr id="52" name="TextBox 52"/>
            <p:cNvSpPr txBox="1"/>
            <p:nvPr/>
          </p:nvSpPr>
          <p:spPr>
            <a:xfrm>
              <a:off x="5397144" y="14092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数据</a:t>
              </a:r>
            </a:p>
          </p:txBody>
        </p:sp>
        <p:sp>
          <p:nvSpPr>
            <p:cNvPr id="53" name="Ellipse 53"/>
            <p:cNvSpPr/>
            <p:nvPr/>
          </p:nvSpPr>
          <p:spPr>
            <a:xfrm>
              <a:off x="6229350" y="1162050"/>
              <a:ext cx="533400" cy="533400"/>
            </a:xfrm>
            <a:prstGeom prst="ellipse">
              <a:avLst/>
            </a:prstGeom>
            <a:gradFill>
              <a:gsLst>
                <a:gs pos="0">
                  <a:srgbClr val="F07E6A"/>
                </a:gs>
                <a:gs pos="100000">
                  <a:srgbClr val="DD5740"/>
                </a:gs>
              </a:gsLst>
              <a:path path="circle">
                <a:fillToRect l="40000" t="35000" r="60000" b="65000"/>
              </a:path>
            </a:gradFill>
            <a:ln>
              <a:noFill/>
            </a:ln>
          </p:spPr>
        </p:sp>
        <p:sp>
          <p:nvSpPr>
            <p:cNvPr id="54" name="TextBox 54"/>
            <p:cNvSpPr txBox="1"/>
            <p:nvPr/>
          </p:nvSpPr>
          <p:spPr>
            <a:xfrm>
              <a:off x="6359169" y="13711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金融</a:t>
              </a:r>
            </a:p>
          </p:txBody>
        </p:sp>
        <p:sp>
          <p:nvSpPr>
            <p:cNvPr id="55" name="Ellipse 55"/>
            <p:cNvSpPr/>
            <p:nvPr/>
          </p:nvSpPr>
          <p:spPr>
            <a:xfrm>
              <a:off x="7277100" y="1524000"/>
              <a:ext cx="457200" cy="457200"/>
            </a:xfrm>
            <a:prstGeom prst="ellipse">
              <a:avLst/>
            </a:prstGeom>
            <a:gradFill>
              <a:gsLst>
                <a:gs pos="0">
                  <a:srgbClr val="F07E6A"/>
                </a:gs>
                <a:gs pos="100000">
                  <a:srgbClr val="DD5740"/>
                </a:gs>
              </a:gsLst>
              <a:path path="circle">
                <a:fillToRect l="40000" t="35000" r="60000" b="65000"/>
              </a:path>
            </a:gradFill>
            <a:ln>
              <a:noFill/>
            </a:ln>
          </p:spPr>
        </p:sp>
        <p:sp>
          <p:nvSpPr>
            <p:cNvPr id="56" name="TextBox 56"/>
            <p:cNvSpPr txBox="1"/>
            <p:nvPr/>
          </p:nvSpPr>
          <p:spPr>
            <a:xfrm>
              <a:off x="7368819" y="169497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科技</a:t>
              </a:r>
            </a:p>
          </p:txBody>
        </p:sp>
        <p:sp>
          <p:nvSpPr>
            <p:cNvPr id="57" name="Ellipse 57"/>
            <p:cNvSpPr/>
            <p:nvPr/>
          </p:nvSpPr>
          <p:spPr>
            <a:xfrm>
              <a:off x="4905375" y="1895475"/>
              <a:ext cx="133350" cy="133350"/>
            </a:xfrm>
            <a:prstGeom prst="ellipse">
              <a:avLst/>
            </a:prstGeom>
            <a:solidFill>
              <a:srgbClr val="F3B0A4"/>
            </a:solidFill>
            <a:ln>
              <a:noFill/>
            </a:ln>
          </p:spPr>
        </p:sp>
        <p:sp>
          <p:nvSpPr>
            <p:cNvPr id="58" name="Ellipse 58"/>
            <p:cNvSpPr/>
            <p:nvPr/>
          </p:nvSpPr>
          <p:spPr>
            <a:xfrm>
              <a:off x="6810375" y="1895475"/>
              <a:ext cx="133350" cy="133350"/>
            </a:xfrm>
            <a:prstGeom prst="ellipse">
              <a:avLst/>
            </a:prstGeom>
            <a:solidFill>
              <a:srgbClr val="F3B0A4"/>
            </a:solidFill>
            <a:ln>
              <a:noFill/>
            </a:ln>
          </p:spPr>
        </p:sp>
        <p:grpSp>
          <p:nvGrpSpPr>
            <p:cNvPr id="66" name="Group 66"/>
            <p:cNvGrpSpPr/>
            <p:nvPr/>
          </p:nvGrpSpPr>
          <p:grpSpPr>
            <a:xfrm>
              <a:off x="3826954" y="2303145"/>
              <a:ext cx="4547617" cy="690562"/>
              <a:chOff x="3826954" y="2303145"/>
              <a:chExt cx="4547617" cy="690562"/>
            </a:xfrm>
          </p:grpSpPr>
          <p:sp>
            <p:nvSpPr>
              <p:cNvPr id="59" name="TextBox 59"/>
              <p:cNvSpPr txBox="1"/>
              <p:nvPr/>
            </p:nvSpPr>
            <p:spPr>
              <a:xfrm>
                <a:off x="3826954" y="2303145"/>
                <a:ext cx="25184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商机</a:t>
                </a:r>
              </a:p>
            </p:txBody>
          </p:sp>
          <p:sp>
            <p:nvSpPr>
              <p:cNvPr id="60" name="TextBox 60"/>
              <p:cNvSpPr txBox="1"/>
              <p:nvPr/>
            </p:nvSpPr>
            <p:spPr>
              <a:xfrm>
                <a:off x="4369880" y="2665095"/>
                <a:ext cx="25184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合同</a:t>
                </a:r>
              </a:p>
            </p:txBody>
          </p:sp>
          <p:sp>
            <p:nvSpPr>
              <p:cNvPr id="61" name="TextBox 61"/>
              <p:cNvSpPr txBox="1"/>
              <p:nvPr/>
            </p:nvSpPr>
            <p:spPr>
              <a:xfrm>
                <a:off x="5169980" y="2798445"/>
                <a:ext cx="25184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订单</a:t>
                </a:r>
              </a:p>
            </p:txBody>
          </p:sp>
          <p:sp>
            <p:nvSpPr>
              <p:cNvPr id="62" name="TextBox 62"/>
              <p:cNvSpPr txBox="1"/>
              <p:nvPr/>
            </p:nvSpPr>
            <p:spPr>
              <a:xfrm>
                <a:off x="6027230" y="2817495"/>
                <a:ext cx="25184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交付</a:t>
                </a:r>
              </a:p>
            </p:txBody>
          </p:sp>
          <p:sp>
            <p:nvSpPr>
              <p:cNvPr id="63" name="TextBox 63"/>
              <p:cNvSpPr txBox="1"/>
              <p:nvPr/>
            </p:nvSpPr>
            <p:spPr>
              <a:xfrm>
                <a:off x="6884480" y="2760345"/>
                <a:ext cx="25184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结算</a:t>
                </a:r>
              </a:p>
            </p:txBody>
          </p:sp>
          <p:sp>
            <p:nvSpPr>
              <p:cNvPr id="64" name="TextBox 64"/>
              <p:cNvSpPr txBox="1"/>
              <p:nvPr/>
            </p:nvSpPr>
            <p:spPr>
              <a:xfrm>
                <a:off x="7551230" y="2665095"/>
                <a:ext cx="25184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发票</a:t>
                </a:r>
              </a:p>
            </p:txBody>
          </p:sp>
          <p:sp>
            <p:nvSpPr>
              <p:cNvPr id="65" name="TextBox 65"/>
              <p:cNvSpPr txBox="1"/>
              <p:nvPr/>
            </p:nvSpPr>
            <p:spPr>
              <a:xfrm>
                <a:off x="8122730" y="2322195"/>
                <a:ext cx="25184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支付</a:t>
                </a:r>
              </a:p>
            </p:txBody>
          </p:sp>
        </p:grpSp>
      </p:grpSp>
      <p:grpSp>
        <p:nvGrpSpPr>
          <p:cNvPr id="79" name="layer-tech"/>
          <p:cNvGrpSpPr/>
          <p:nvPr/>
        </p:nvGrpSpPr>
        <p:grpSpPr>
          <a:xfrm>
            <a:off x="3048000" y="3124200"/>
            <a:ext cx="6096000" cy="1162050"/>
            <a:chOff x="3048000" y="3124200"/>
            <a:chExt cx="6096000" cy="1162050"/>
          </a:xfrm>
        </p:grpSpPr>
        <p:sp>
          <p:nvSpPr>
            <p:cNvPr id="68" name="Ellipse 68"/>
            <p:cNvSpPr/>
            <p:nvPr/>
          </p:nvSpPr>
          <p:spPr>
            <a:xfrm>
              <a:off x="3048000" y="3333750"/>
              <a:ext cx="6096000" cy="952500"/>
            </a:xfrm>
            <a:prstGeom prst="ellipse">
              <a:avLst/>
            </a:prstGeom>
            <a:solidFill>
              <a:srgbClr val="FDEDE8">
                <a:alpha val="65000"/>
              </a:srgbClr>
            </a:solidFill>
            <a:ln w="11430">
              <a:solidFill>
                <a:srgbClr val="F3B0A4"/>
              </a:solidFill>
            </a:ln>
          </p:spPr>
        </p:sp>
        <p:sp>
          <p:nvSpPr>
            <p:cNvPr id="69" name="Ellipse 69"/>
            <p:cNvSpPr/>
            <p:nvPr/>
          </p:nvSpPr>
          <p:spPr>
            <a:xfrm>
              <a:off x="4933950" y="3124200"/>
              <a:ext cx="2324100" cy="457200"/>
            </a:xfrm>
            <a:prstGeom prst="ellipse">
              <a:avLst/>
            </a:prstGeom>
            <a:solidFill>
              <a:srgbClr val="C9D1F0"/>
            </a:solidFill>
            <a:ln>
              <a:noFill/>
            </a:ln>
          </p:spPr>
        </p:sp>
        <p:sp>
          <p:nvSpPr>
            <p:cNvPr id="70" name="TextBox 70"/>
            <p:cNvSpPr txBox="1"/>
            <p:nvPr/>
          </p:nvSpPr>
          <p:spPr>
            <a:xfrm>
              <a:off x="5766816" y="3280410"/>
              <a:ext cx="658368" cy="234696"/>
            </a:xfrm>
            <a:prstGeom prst="rect">
              <a:avLst/>
            </a:prstGeom>
            <a:noFill/>
            <a:ln>
              <a:noFill/>
            </a:ln>
          </p:spPr>
          <p:txBody>
            <a:bodyPr wrap="none" lIns="0" tIns="0" rIns="0" bIns="0" anchor="t" anchorCtr="0">
              <a:spAutoFit/>
            </a:bodyPr>
            <a:lstStyle/>
            <a:p>
              <a:pPr algn="ctr"/>
              <a:r>
                <a:rPr lang="zh-CN" sz="1200" b="1" dirty="0">
                  <a:solidFill>
                    <a:srgbClr val="A84F3D"/>
                  </a:solidFill>
                  <a:latin typeface="+mn-lt"/>
                  <a:ea typeface="+mn-ea"/>
                  <a:cs typeface="+mn-cs"/>
                </a:rPr>
                <a:t>产业科技</a:t>
              </a:r>
            </a:p>
          </p:txBody>
        </p:sp>
        <p:grpSp>
          <p:nvGrpSpPr>
            <p:cNvPr id="78" name="Group 78"/>
            <p:cNvGrpSpPr/>
            <p:nvPr/>
          </p:nvGrpSpPr>
          <p:grpSpPr>
            <a:xfrm>
              <a:off x="3742555" y="3575447"/>
              <a:ext cx="4767885" cy="640556"/>
              <a:chOff x="3742555" y="3575447"/>
              <a:chExt cx="4767885" cy="640556"/>
            </a:xfrm>
          </p:grpSpPr>
          <p:sp>
            <p:nvSpPr>
              <p:cNvPr id="71" name="TextBox 71"/>
              <p:cNvSpPr txBox="1"/>
              <p:nvPr/>
            </p:nvSpPr>
            <p:spPr>
              <a:xfrm>
                <a:off x="3742555" y="3575447"/>
                <a:ext cx="230139"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ERP</a:t>
                </a:r>
              </a:p>
            </p:txBody>
          </p:sp>
          <p:sp>
            <p:nvSpPr>
              <p:cNvPr id="72" name="TextBox 72"/>
              <p:cNvSpPr txBox="1"/>
              <p:nvPr/>
            </p:nvSpPr>
            <p:spPr>
              <a:xfrm>
                <a:off x="4234010" y="3880247"/>
                <a:ext cx="256880"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MES</a:t>
                </a:r>
              </a:p>
            </p:txBody>
          </p:sp>
          <p:sp>
            <p:nvSpPr>
              <p:cNvPr id="73" name="TextBox 73"/>
              <p:cNvSpPr txBox="1"/>
              <p:nvPr/>
            </p:nvSpPr>
            <p:spPr>
              <a:xfrm>
                <a:off x="5049314" y="3994547"/>
                <a:ext cx="283621"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OMS</a:t>
                </a:r>
              </a:p>
            </p:txBody>
          </p:sp>
          <p:sp>
            <p:nvSpPr>
              <p:cNvPr id="74" name="TextBox 74"/>
              <p:cNvSpPr txBox="1"/>
              <p:nvPr/>
            </p:nvSpPr>
            <p:spPr>
              <a:xfrm>
                <a:off x="5954189" y="4032647"/>
                <a:ext cx="283621"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WMS</a:t>
                </a:r>
              </a:p>
            </p:txBody>
          </p:sp>
          <p:sp>
            <p:nvSpPr>
              <p:cNvPr id="75" name="TextBox 75"/>
              <p:cNvSpPr txBox="1"/>
              <p:nvPr/>
            </p:nvSpPr>
            <p:spPr>
              <a:xfrm>
                <a:off x="6872435" y="3994547"/>
                <a:ext cx="256880"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TMS</a:t>
                </a:r>
              </a:p>
            </p:txBody>
          </p:sp>
          <p:sp>
            <p:nvSpPr>
              <p:cNvPr id="76" name="TextBox 76"/>
              <p:cNvSpPr txBox="1"/>
              <p:nvPr/>
            </p:nvSpPr>
            <p:spPr>
              <a:xfrm>
                <a:off x="7729685" y="3861197"/>
                <a:ext cx="256880"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FMS</a:t>
                </a:r>
              </a:p>
            </p:txBody>
          </p:sp>
          <p:sp>
            <p:nvSpPr>
              <p:cNvPr id="77" name="TextBox 77"/>
              <p:cNvSpPr txBox="1"/>
              <p:nvPr/>
            </p:nvSpPr>
            <p:spPr>
              <a:xfrm>
                <a:off x="8253560" y="3594497"/>
                <a:ext cx="256880"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CRM</a:t>
                </a:r>
              </a:p>
            </p:txBody>
          </p:sp>
        </p:grpSp>
      </p:grpSp>
      <p:grpSp>
        <p:nvGrpSpPr>
          <p:cNvPr id="82" name="core-layer"/>
          <p:cNvGrpSpPr/>
          <p:nvPr/>
        </p:nvGrpSpPr>
        <p:grpSpPr>
          <a:xfrm>
            <a:off x="4095750" y="4305300"/>
            <a:ext cx="4000500" cy="609600"/>
            <a:chOff x="4095750" y="4305300"/>
            <a:chExt cx="4000500" cy="609600"/>
          </a:xfrm>
        </p:grpSpPr>
        <p:sp>
          <p:nvSpPr>
            <p:cNvPr id="80" name="Freeform 80"/>
            <p:cNvSpPr/>
            <p:nvPr/>
          </p:nvSpPr>
          <p:spPr>
            <a:xfrm>
              <a:off x="4095750" y="4305300"/>
              <a:ext cx="4000500" cy="609600"/>
            </a:xfrm>
            <a:prstGeom prst="can">
              <a:avLst>
                <a:gd name="adj" fmla="val 35000"/>
              </a:avLst>
            </a:prstGeom>
            <a:solidFill>
              <a:srgbClr val="C45F4A"/>
            </a:solidFill>
            <a:ln>
              <a:noFill/>
            </a:ln>
          </p:spPr>
        </p:sp>
        <p:sp>
          <p:nvSpPr>
            <p:cNvPr id="81" name="TextBox 81"/>
            <p:cNvSpPr txBox="1"/>
            <p:nvPr/>
          </p:nvSpPr>
          <p:spPr>
            <a:xfrm>
              <a:off x="5227955" y="4529614"/>
              <a:ext cx="1736090"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产融供应链数字化平台</a:t>
              </a:r>
            </a:p>
          </p:txBody>
        </p:sp>
      </p:grpSp>
      <p:grpSp>
        <p:nvGrpSpPr>
          <p:cNvPr id="94" name="layer-finance"/>
          <p:cNvGrpSpPr/>
          <p:nvPr/>
        </p:nvGrpSpPr>
        <p:grpSpPr>
          <a:xfrm>
            <a:off x="3048000" y="5295900"/>
            <a:ext cx="6096000" cy="1091803"/>
            <a:chOff x="3048000" y="5295900"/>
            <a:chExt cx="6096000" cy="1091803"/>
          </a:xfrm>
        </p:grpSpPr>
        <p:sp>
          <p:nvSpPr>
            <p:cNvPr id="83" name="Ellipse 83"/>
            <p:cNvSpPr/>
            <p:nvPr/>
          </p:nvSpPr>
          <p:spPr>
            <a:xfrm>
              <a:off x="3048000" y="5353050"/>
              <a:ext cx="6096000" cy="952500"/>
            </a:xfrm>
            <a:prstGeom prst="ellipse">
              <a:avLst/>
            </a:prstGeom>
            <a:solidFill>
              <a:srgbClr val="FDEDE8">
                <a:alpha val="65000"/>
              </a:srgbClr>
            </a:solidFill>
            <a:ln w="11430">
              <a:solidFill>
                <a:srgbClr val="F3B0A4"/>
              </a:solidFill>
            </a:ln>
          </p:spPr>
        </p:sp>
        <p:sp>
          <p:nvSpPr>
            <p:cNvPr id="84" name="Ellipse 84"/>
            <p:cNvSpPr/>
            <p:nvPr/>
          </p:nvSpPr>
          <p:spPr>
            <a:xfrm>
              <a:off x="4933950" y="5295900"/>
              <a:ext cx="2324100" cy="457200"/>
            </a:xfrm>
            <a:prstGeom prst="ellipse">
              <a:avLst/>
            </a:prstGeom>
            <a:solidFill>
              <a:srgbClr val="C9D1F0"/>
            </a:solidFill>
            <a:ln>
              <a:noFill/>
            </a:ln>
          </p:spPr>
        </p:sp>
        <p:sp>
          <p:nvSpPr>
            <p:cNvPr id="85" name="TextBox 85"/>
            <p:cNvSpPr txBox="1"/>
            <p:nvPr/>
          </p:nvSpPr>
          <p:spPr>
            <a:xfrm>
              <a:off x="5766816" y="5452110"/>
              <a:ext cx="658368" cy="234696"/>
            </a:xfrm>
            <a:prstGeom prst="rect">
              <a:avLst/>
            </a:prstGeom>
            <a:noFill/>
            <a:ln>
              <a:noFill/>
            </a:ln>
          </p:spPr>
          <p:txBody>
            <a:bodyPr wrap="none" lIns="0" tIns="0" rIns="0" bIns="0" anchor="t" anchorCtr="0">
              <a:spAutoFit/>
            </a:bodyPr>
            <a:lstStyle/>
            <a:p>
              <a:pPr algn="ctr"/>
              <a:r>
                <a:rPr lang="zh-CN" sz="1200" b="1" dirty="0">
                  <a:solidFill>
                    <a:srgbClr val="A84F3D"/>
                  </a:solidFill>
                  <a:latin typeface="+mn-lt"/>
                  <a:ea typeface="+mn-ea"/>
                  <a:cs typeface="+mn-cs"/>
                </a:rPr>
                <a:t>产融结合</a:t>
              </a:r>
            </a:p>
          </p:txBody>
        </p:sp>
        <p:grpSp>
          <p:nvGrpSpPr>
            <p:cNvPr id="93" name="Group 93"/>
            <p:cNvGrpSpPr/>
            <p:nvPr/>
          </p:nvGrpSpPr>
          <p:grpSpPr>
            <a:xfrm>
              <a:off x="3742555" y="5670947"/>
              <a:ext cx="4897293" cy="716756"/>
              <a:chOff x="3742555" y="5670947"/>
              <a:chExt cx="4897293" cy="716756"/>
            </a:xfrm>
          </p:grpSpPr>
          <p:sp>
            <p:nvSpPr>
              <p:cNvPr id="86" name="TextBox 86"/>
              <p:cNvSpPr txBox="1"/>
              <p:nvPr/>
            </p:nvSpPr>
            <p:spPr>
              <a:xfrm>
                <a:off x="3742555" y="5670947"/>
                <a:ext cx="230139"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KYB</a:t>
                </a:r>
              </a:p>
            </p:txBody>
          </p:sp>
          <p:sp>
            <p:nvSpPr>
              <p:cNvPr id="87" name="TextBox 87"/>
              <p:cNvSpPr txBox="1"/>
              <p:nvPr/>
            </p:nvSpPr>
            <p:spPr>
              <a:xfrm>
                <a:off x="4247380" y="5956697"/>
                <a:ext cx="230139"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KYC</a:t>
                </a:r>
              </a:p>
            </p:txBody>
          </p:sp>
          <p:sp>
            <p:nvSpPr>
              <p:cNvPr id="88" name="TextBox 88"/>
              <p:cNvSpPr txBox="1"/>
              <p:nvPr/>
            </p:nvSpPr>
            <p:spPr>
              <a:xfrm>
                <a:off x="4933277" y="6147197"/>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生物识别</a:t>
                </a:r>
              </a:p>
            </p:txBody>
          </p:sp>
          <p:sp>
            <p:nvSpPr>
              <p:cNvPr id="89" name="TextBox 89"/>
              <p:cNvSpPr txBox="1"/>
              <p:nvPr/>
            </p:nvSpPr>
            <p:spPr>
              <a:xfrm>
                <a:off x="5967560" y="6204347"/>
                <a:ext cx="256880" cy="183356"/>
              </a:xfrm>
              <a:prstGeom prst="rect">
                <a:avLst/>
              </a:prstGeom>
              <a:noFill/>
              <a:ln>
                <a:noFill/>
              </a:ln>
            </p:spPr>
            <p:txBody>
              <a:bodyPr wrap="none" lIns="0" tIns="0" rIns="0" bIns="0" anchor="t" anchorCtr="0">
                <a:spAutoFit/>
              </a:bodyPr>
              <a:lstStyle/>
              <a:p>
                <a:pPr algn="ctr"/>
                <a:r>
                  <a:rPr lang="en-US" sz="940" dirty="0">
                    <a:solidFill>
                      <a:srgbClr val="543E3A"/>
                    </a:solidFill>
                    <a:latin typeface="+mn-lt"/>
                    <a:ea typeface="+mn-ea"/>
                    <a:cs typeface="+mn-cs"/>
                  </a:rPr>
                  <a:t>RMS</a:t>
                </a:r>
              </a:p>
            </p:txBody>
          </p:sp>
          <p:sp>
            <p:nvSpPr>
              <p:cNvPr id="90" name="TextBox 90"/>
              <p:cNvSpPr txBox="1"/>
              <p:nvPr/>
            </p:nvSpPr>
            <p:spPr>
              <a:xfrm>
                <a:off x="6679756" y="6147197"/>
                <a:ext cx="642239"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反欺诈模型</a:t>
                </a:r>
              </a:p>
            </p:txBody>
          </p:sp>
          <p:sp>
            <p:nvSpPr>
              <p:cNvPr id="91" name="TextBox 91"/>
              <p:cNvSpPr txBox="1"/>
              <p:nvPr/>
            </p:nvSpPr>
            <p:spPr>
              <a:xfrm>
                <a:off x="7600277" y="5994797"/>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账户体系</a:t>
                </a:r>
              </a:p>
            </p:txBody>
          </p:sp>
          <p:sp>
            <p:nvSpPr>
              <p:cNvPr id="92" name="TextBox 92"/>
              <p:cNvSpPr txBox="1"/>
              <p:nvPr/>
            </p:nvSpPr>
            <p:spPr>
              <a:xfrm>
                <a:off x="8124152" y="5689997"/>
                <a:ext cx="515696"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数字货币</a:t>
                </a:r>
              </a:p>
            </p:txBody>
          </p:sp>
        </p:grpSp>
      </p:gr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62</a:t>
              </a:r>
            </a:p>
          </p:txBody>
        </p:sp>
        <p:sp>
          <p:nvSpPr>
            <p:cNvPr id="4" name="TextBox 4"/>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户外运动市场分析​</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5" name="col-heads"/>
          <p:cNvGrpSpPr/>
          <p:nvPr/>
        </p:nvGrpSpPr>
        <p:grpSpPr>
          <a:xfrm>
            <a:off x="619125" y="904875"/>
            <a:ext cx="11239500" cy="298609"/>
            <a:chOff x="619125" y="904875"/>
            <a:chExt cx="11239500" cy="298609"/>
          </a:xfrm>
        </p:grpSpPr>
        <p:sp>
          <p:nvSpPr>
            <p:cNvPr id="7" name="Rectangle 7"/>
            <p:cNvSpPr/>
            <p:nvPr/>
          </p:nvSpPr>
          <p:spPr>
            <a:xfrm>
              <a:off x="619125" y="904875"/>
              <a:ext cx="4572000" cy="285750"/>
            </a:xfrm>
            <a:prstGeom prst="roundRect">
              <a:avLst>
                <a:gd name="adj" fmla="val 13333"/>
              </a:avLst>
            </a:prstGeom>
            <a:gradFill>
              <a:gsLst>
                <a:gs pos="0">
                  <a:srgbClr val="E8634C"/>
                </a:gs>
                <a:gs pos="100000">
                  <a:srgbClr val="F0725C"/>
                </a:gs>
              </a:gsLst>
              <a:lin ang="0" scaled="1"/>
            </a:gradFill>
            <a:ln>
              <a:noFill/>
            </a:ln>
          </p:spPr>
        </p:sp>
        <p:sp>
          <p:nvSpPr>
            <p:cNvPr id="8" name="TextBox 8"/>
            <p:cNvSpPr txBox="1"/>
            <p:nvPr/>
          </p:nvSpPr>
          <p:spPr>
            <a:xfrm>
              <a:off x="2597861" y="983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用户特征</a:t>
              </a:r>
            </a:p>
          </p:txBody>
        </p:sp>
        <p:sp>
          <p:nvSpPr>
            <p:cNvPr id="9" name="Rectangle 9"/>
            <p:cNvSpPr/>
            <p:nvPr/>
          </p:nvSpPr>
          <p:spPr>
            <a:xfrm>
              <a:off x="5286375" y="904875"/>
              <a:ext cx="2428875" cy="285750"/>
            </a:xfrm>
            <a:prstGeom prst="roundRect">
              <a:avLst>
                <a:gd name="adj" fmla="val 13333"/>
              </a:avLst>
            </a:prstGeom>
            <a:gradFill>
              <a:gsLst>
                <a:gs pos="0">
                  <a:srgbClr val="E8634C"/>
                </a:gs>
                <a:gs pos="100000">
                  <a:srgbClr val="F0725C"/>
                </a:gs>
              </a:gsLst>
              <a:lin ang="0" scaled="1"/>
            </a:gradFill>
            <a:ln>
              <a:noFill/>
            </a:ln>
          </p:spPr>
        </p:sp>
        <p:sp>
          <p:nvSpPr>
            <p:cNvPr id="10" name="TextBox 10"/>
            <p:cNvSpPr txBox="1"/>
            <p:nvPr/>
          </p:nvSpPr>
          <p:spPr>
            <a:xfrm>
              <a:off x="6188786" y="983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用户需求</a:t>
              </a:r>
            </a:p>
          </p:txBody>
        </p:sp>
        <p:sp>
          <p:nvSpPr>
            <p:cNvPr id="11" name="Rectangle 11"/>
            <p:cNvSpPr/>
            <p:nvPr/>
          </p:nvSpPr>
          <p:spPr>
            <a:xfrm>
              <a:off x="7810500" y="904875"/>
              <a:ext cx="2524125" cy="285750"/>
            </a:xfrm>
            <a:prstGeom prst="roundRect">
              <a:avLst>
                <a:gd name="adj" fmla="val 13333"/>
              </a:avLst>
            </a:prstGeom>
            <a:gradFill>
              <a:gsLst>
                <a:gs pos="0">
                  <a:srgbClr val="E8634C"/>
                </a:gs>
                <a:gs pos="100000">
                  <a:srgbClr val="F0725C"/>
                </a:gs>
              </a:gsLst>
              <a:lin ang="0" scaled="1"/>
            </a:gradFill>
            <a:ln>
              <a:noFill/>
            </a:ln>
          </p:spPr>
        </p:sp>
        <p:sp>
          <p:nvSpPr>
            <p:cNvPr id="12" name="TextBox 12"/>
            <p:cNvSpPr txBox="1"/>
            <p:nvPr/>
          </p:nvSpPr>
          <p:spPr>
            <a:xfrm>
              <a:off x="8911311" y="9834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趋势</a:t>
              </a:r>
            </a:p>
          </p:txBody>
        </p:sp>
        <p:sp>
          <p:nvSpPr>
            <p:cNvPr id="13" name="Rectangle 13"/>
            <p:cNvSpPr/>
            <p:nvPr/>
          </p:nvSpPr>
          <p:spPr>
            <a:xfrm>
              <a:off x="10429875" y="904875"/>
              <a:ext cx="1428750" cy="285750"/>
            </a:xfrm>
            <a:prstGeom prst="roundRect">
              <a:avLst>
                <a:gd name="adj" fmla="val 13333"/>
              </a:avLst>
            </a:prstGeom>
            <a:gradFill>
              <a:gsLst>
                <a:gs pos="0">
                  <a:srgbClr val="E8634C"/>
                </a:gs>
                <a:gs pos="100000">
                  <a:srgbClr val="F0725C"/>
                </a:gs>
              </a:gsLst>
              <a:lin ang="0" scaled="1"/>
            </a:gradFill>
            <a:ln>
              <a:noFill/>
            </a:ln>
          </p:spPr>
        </p:sp>
        <p:sp>
          <p:nvSpPr>
            <p:cNvPr id="14" name="TextBox 14"/>
            <p:cNvSpPr txBox="1"/>
            <p:nvPr/>
          </p:nvSpPr>
          <p:spPr>
            <a:xfrm>
              <a:off x="10836986" y="9834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玩家系数</a:t>
              </a:r>
            </a:p>
          </p:txBody>
        </p:sp>
      </p:grpSp>
      <p:grpSp>
        <p:nvGrpSpPr>
          <p:cNvPr id="18" name="row-labels"/>
          <p:cNvGrpSpPr/>
          <p:nvPr/>
        </p:nvGrpSpPr>
        <p:grpSpPr>
          <a:xfrm>
            <a:off x="337566" y="1791652"/>
            <a:ext cx="144018" cy="3872484"/>
            <a:chOff x="337566" y="1791652"/>
            <a:chExt cx="144018" cy="3872484"/>
          </a:xfrm>
        </p:grpSpPr>
        <p:sp>
          <p:nvSpPr>
            <p:cNvPr id="16" name="TextBox 16"/>
            <p:cNvSpPr txBox="1"/>
            <p:nvPr/>
          </p:nvSpPr>
          <p:spPr>
            <a:xfrm>
              <a:off x="337566" y="1791652"/>
              <a:ext cx="144018" cy="1291209"/>
            </a:xfrm>
            <a:prstGeom prst="rect">
              <a:avLst/>
            </a:prstGeom>
            <a:noFill/>
            <a:ln>
              <a:noFill/>
            </a:ln>
          </p:spPr>
          <p:txBody>
            <a:bodyPr wrap="none" lIns="0" tIns="0" rIns="0" bIns="0" anchor="t" anchorCtr="0">
              <a:spAutoFit/>
            </a:bodyPr>
            <a:lstStyle/>
            <a:p>
              <a:pPr algn="ctr">
                <a:lnSpc>
                  <a:spcPts val="1425"/>
                </a:lnSpc>
              </a:pPr>
              <a:r>
                <a:rPr lang="zh-CN" sz="1050" b="1" dirty="0">
                  <a:solidFill>
                    <a:srgbClr val="543E3A"/>
                  </a:solidFill>
                  <a:latin typeface="+mn-lt"/>
                  <a:ea typeface="+mn-ea"/>
                  <a:cs typeface="+mn-cs"/>
                </a:rPr>
                <a:t>轻</a:t>
              </a:r>
              <a:br/>
              <a:r>
                <a:rPr lang="zh-CN" sz="1050" b="1" dirty="0">
                  <a:solidFill>
                    <a:srgbClr val="543E3A"/>
                  </a:solidFill>
                  <a:latin typeface="+mn-lt"/>
                  <a:ea typeface="+mn-ea"/>
                  <a:cs typeface="+mn-cs"/>
                </a:rPr>
                <a:t>量</a:t>
              </a:r>
              <a:br/>
              <a:r>
                <a:rPr lang="zh-CN" sz="1050" b="1" dirty="0">
                  <a:solidFill>
                    <a:srgbClr val="543E3A"/>
                  </a:solidFill>
                  <a:latin typeface="+mn-lt"/>
                  <a:ea typeface="+mn-ea"/>
                  <a:cs typeface="+mn-cs"/>
                </a:rPr>
                <a:t>化</a:t>
              </a:r>
              <a:br/>
              <a:r>
                <a:rPr lang="zh-CN" sz="1050" b="1" dirty="0">
                  <a:solidFill>
                    <a:srgbClr val="543E3A"/>
                  </a:solidFill>
                  <a:latin typeface="+mn-lt"/>
                  <a:ea typeface="+mn-ea"/>
                  <a:cs typeface="+mn-cs"/>
                </a:rPr>
                <a:t>户</a:t>
              </a:r>
              <a:br/>
              <a:r>
                <a:rPr lang="zh-CN" sz="1050" b="1" dirty="0">
                  <a:solidFill>
                    <a:srgbClr val="543E3A"/>
                  </a:solidFill>
                  <a:latin typeface="+mn-lt"/>
                  <a:ea typeface="+mn-ea"/>
                  <a:cs typeface="+mn-cs"/>
                </a:rPr>
                <a:t>外</a:t>
              </a:r>
              <a:br/>
              <a:r>
                <a:rPr lang="zh-CN" sz="1050" b="1" dirty="0">
                  <a:solidFill>
                    <a:srgbClr val="543E3A"/>
                  </a:solidFill>
                  <a:latin typeface="+mn-lt"/>
                  <a:ea typeface="+mn-ea"/>
                  <a:cs typeface="+mn-cs"/>
                </a:rPr>
                <a:t>运</a:t>
              </a:r>
              <a:br/>
              <a:r>
                <a:rPr lang="zh-CN" sz="1050" b="1" dirty="0">
                  <a:solidFill>
                    <a:srgbClr val="543E3A"/>
                  </a:solidFill>
                  <a:latin typeface="+mn-lt"/>
                  <a:ea typeface="+mn-ea"/>
                  <a:cs typeface="+mn-cs"/>
                </a:rPr>
                <a:t>动</a:t>
              </a:r>
            </a:p>
          </p:txBody>
        </p:sp>
        <p:sp>
          <p:nvSpPr>
            <p:cNvPr id="17" name="TextBox 17"/>
            <p:cNvSpPr txBox="1"/>
            <p:nvPr/>
          </p:nvSpPr>
          <p:spPr>
            <a:xfrm>
              <a:off x="337566" y="4553902"/>
              <a:ext cx="144018" cy="1110234"/>
            </a:xfrm>
            <a:prstGeom prst="rect">
              <a:avLst/>
            </a:prstGeom>
            <a:noFill/>
            <a:ln>
              <a:noFill/>
            </a:ln>
          </p:spPr>
          <p:txBody>
            <a:bodyPr wrap="none" lIns="0" tIns="0" rIns="0" bIns="0" anchor="t" anchorCtr="0">
              <a:spAutoFit/>
            </a:bodyPr>
            <a:lstStyle/>
            <a:p>
              <a:pPr algn="ctr">
                <a:lnSpc>
                  <a:spcPts val="1425"/>
                </a:lnSpc>
              </a:pPr>
              <a:r>
                <a:rPr lang="zh-CN" sz="1050" b="1" dirty="0">
                  <a:solidFill>
                    <a:srgbClr val="543E3A"/>
                  </a:solidFill>
                  <a:latin typeface="+mn-lt"/>
                  <a:ea typeface="+mn-ea"/>
                  <a:cs typeface="+mn-cs"/>
                </a:rPr>
                <a:t>硬</a:t>
              </a:r>
              <a:br/>
              <a:r>
                <a:rPr lang="zh-CN" sz="1050" b="1" dirty="0">
                  <a:solidFill>
                    <a:srgbClr val="543E3A"/>
                  </a:solidFill>
                  <a:latin typeface="+mn-lt"/>
                  <a:ea typeface="+mn-ea"/>
                  <a:cs typeface="+mn-cs"/>
                </a:rPr>
                <a:t>核</a:t>
              </a:r>
              <a:br/>
              <a:r>
                <a:rPr lang="zh-CN" sz="1050" b="1" dirty="0">
                  <a:solidFill>
                    <a:srgbClr val="543E3A"/>
                  </a:solidFill>
                  <a:latin typeface="+mn-lt"/>
                  <a:ea typeface="+mn-ea"/>
                  <a:cs typeface="+mn-cs"/>
                </a:rPr>
                <a:t>户</a:t>
              </a:r>
              <a:br/>
              <a:r>
                <a:rPr lang="zh-CN" sz="1050" b="1" dirty="0">
                  <a:solidFill>
                    <a:srgbClr val="543E3A"/>
                  </a:solidFill>
                  <a:latin typeface="+mn-lt"/>
                  <a:ea typeface="+mn-ea"/>
                  <a:cs typeface="+mn-cs"/>
                </a:rPr>
                <a:t>外</a:t>
              </a:r>
              <a:br/>
              <a:r>
                <a:rPr lang="zh-CN" sz="1050" b="1" dirty="0">
                  <a:solidFill>
                    <a:srgbClr val="543E3A"/>
                  </a:solidFill>
                  <a:latin typeface="+mn-lt"/>
                  <a:ea typeface="+mn-ea"/>
                  <a:cs typeface="+mn-cs"/>
                </a:rPr>
                <a:t>运</a:t>
              </a:r>
              <a:br/>
              <a:r>
                <a:rPr lang="zh-CN" sz="1050" b="1" dirty="0">
                  <a:solidFill>
                    <a:srgbClr val="543E3A"/>
                  </a:solidFill>
                  <a:latin typeface="+mn-lt"/>
                  <a:ea typeface="+mn-ea"/>
                  <a:cs typeface="+mn-cs"/>
                </a:rPr>
                <a:t>动</a:t>
              </a:r>
            </a:p>
          </p:txBody>
        </p:sp>
      </p:grpSp>
      <p:grpSp>
        <p:nvGrpSpPr>
          <p:cNvPr id="51" name="r1-features"/>
          <p:cNvGrpSpPr/>
          <p:nvPr/>
        </p:nvGrpSpPr>
        <p:grpSpPr>
          <a:xfrm>
            <a:off x="619125" y="1285875"/>
            <a:ext cx="4572000" cy="2571750"/>
            <a:chOff x="619125" y="1285875"/>
            <a:chExt cx="4572000" cy="2571750"/>
          </a:xfrm>
        </p:grpSpPr>
        <p:sp>
          <p:nvSpPr>
            <p:cNvPr id="19" name="Rectangle 19"/>
            <p:cNvSpPr/>
            <p:nvPr/>
          </p:nvSpPr>
          <p:spPr>
            <a:xfrm>
              <a:off x="619125" y="1285875"/>
              <a:ext cx="4572000" cy="2571750"/>
            </a:xfrm>
            <a:prstGeom prst="roundRect">
              <a:avLst>
                <a:gd name="adj" fmla="val 2222"/>
              </a:avLst>
            </a:prstGeom>
            <a:solidFill>
              <a:srgbClr val="F5F6FC"/>
            </a:solidFill>
            <a:ln>
              <a:noFill/>
            </a:ln>
          </p:spPr>
        </p:sp>
        <p:sp>
          <p:nvSpPr>
            <p:cNvPr id="20" name="Rectangle 20"/>
            <p:cNvSpPr/>
            <p:nvPr/>
          </p:nvSpPr>
          <p:spPr>
            <a:xfrm>
              <a:off x="714375" y="1362075"/>
              <a:ext cx="2143125" cy="2419350"/>
            </a:xfrm>
            <a:prstGeom prst="roundRect">
              <a:avLst>
                <a:gd name="adj" fmla="val 2667"/>
              </a:avLst>
            </a:prstGeom>
            <a:solidFill>
              <a:srgbClr val="FFFFFF"/>
            </a:solidFill>
            <a:ln>
              <a:noFill/>
            </a:ln>
          </p:spPr>
        </p:sp>
        <p:sp>
          <p:nvSpPr>
            <p:cNvPr id="21" name="Rectangle 21"/>
            <p:cNvSpPr/>
            <p:nvPr/>
          </p:nvSpPr>
          <p:spPr>
            <a:xfrm>
              <a:off x="714375" y="1362075"/>
              <a:ext cx="2143125" cy="247650"/>
            </a:xfrm>
            <a:prstGeom prst="roundRect">
              <a:avLst>
                <a:gd name="adj" fmla="val 23077"/>
              </a:avLst>
            </a:prstGeom>
            <a:solidFill>
              <a:srgbClr val="E4E8F7"/>
            </a:solidFill>
            <a:ln>
              <a:noFill/>
            </a:ln>
          </p:spPr>
        </p:sp>
        <p:sp>
          <p:nvSpPr>
            <p:cNvPr id="22" name="TextBox 22"/>
            <p:cNvSpPr txBox="1"/>
            <p:nvPr/>
          </p:nvSpPr>
          <p:spPr>
            <a:xfrm>
              <a:off x="1049464" y="1436370"/>
              <a:ext cx="1463421" cy="176212"/>
            </a:xfrm>
            <a:prstGeom prst="rect">
              <a:avLst/>
            </a:prstGeom>
            <a:noFill/>
            <a:ln>
              <a:noFill/>
            </a:ln>
          </p:spPr>
          <p:txBody>
            <a:bodyPr wrap="none" lIns="0" tIns="0" rIns="0" bIns="0" anchor="t" anchorCtr="0">
              <a:spAutoFit/>
            </a:bodyPr>
            <a:lstStyle/>
            <a:p>
              <a:pPr algn="ctr"/>
              <a:r>
                <a:rPr lang="zh-CN" sz="900" b="1" dirty="0">
                  <a:solidFill>
                    <a:srgbClr val="C45F4A"/>
                  </a:solidFill>
                  <a:latin typeface="+mn-lt"/>
                  <a:ea typeface="+mn-ea"/>
                  <a:cs typeface="+mn-cs"/>
                </a:rPr>
                <a:t>轻量化运动参与者年龄分布</a:t>
              </a:r>
            </a:p>
          </p:txBody>
        </p:sp>
        <p:sp>
          <p:nvSpPr>
            <p:cNvPr id="23" name="Freeform 23"/>
            <p:cNvSpPr/>
            <p:nvPr/>
          </p:nvSpPr>
          <p:spPr>
            <a:xfrm>
              <a:off x="1571625" y="1895475"/>
              <a:ext cx="459503" cy="573405"/>
            </a:xfrm>
            <a:custGeom>
              <a:avLst/>
              <a:gdLst/>
              <a:ahLst/>
              <a:cxnLst/>
              <a:rect l="l" t="t" r="r" b="b"/>
              <a:pathLst>
                <a:path w="459503" h="573405">
                  <a:moveTo>
                    <a:pt x="0" y="0"/>
                  </a:moveTo>
                  <a:cubicBezTo>
                    <a:pt x="140138" y="163"/>
                    <a:pt x="271744" y="67349"/>
                    <a:pt x="354068" y="180758"/>
                  </a:cubicBezTo>
                  <a:cubicBezTo>
                    <a:pt x="436393" y="294166"/>
                    <a:pt x="459503" y="440111"/>
                    <a:pt x="416242" y="573405"/>
                  </a:cubicBezTo>
                  <a:lnTo>
                    <a:pt x="217170" y="508635"/>
                  </a:lnTo>
                  <a:cubicBezTo>
                    <a:pt x="239708" y="439101"/>
                    <a:pt x="227635" y="362982"/>
                    <a:pt x="184687" y="303834"/>
                  </a:cubicBezTo>
                  <a:cubicBezTo>
                    <a:pt x="141739" y="244686"/>
                    <a:pt x="73096" y="209643"/>
                    <a:pt x="0" y="209550"/>
                  </a:cubicBezTo>
                  <a:close/>
                </a:path>
              </a:pathLst>
            </a:custGeom>
            <a:solidFill>
              <a:srgbClr val="E8634C"/>
            </a:solidFill>
            <a:ln>
              <a:noFill/>
            </a:ln>
          </p:spPr>
        </p:sp>
        <p:sp>
          <p:nvSpPr>
            <p:cNvPr id="24" name="Freeform 24"/>
            <p:cNvSpPr/>
            <p:nvPr/>
          </p:nvSpPr>
          <p:spPr>
            <a:xfrm>
              <a:off x="1360170" y="2404110"/>
              <a:ext cx="627697" cy="384813"/>
            </a:xfrm>
            <a:custGeom>
              <a:avLst/>
              <a:gdLst/>
              <a:ahLst/>
              <a:cxnLst/>
              <a:rect l="l" t="t" r="r" b="b"/>
              <a:pathLst>
                <a:path w="627697" h="384813">
                  <a:moveTo>
                    <a:pt x="627697" y="64770"/>
                  </a:moveTo>
                  <a:cubicBezTo>
                    <a:pt x="587349" y="188945"/>
                    <a:pt x="493724" y="288657"/>
                    <a:pt x="372332" y="336735"/>
                  </a:cubicBezTo>
                  <a:cubicBezTo>
                    <a:pt x="250939" y="384813"/>
                    <a:pt x="114430" y="376247"/>
                    <a:pt x="0" y="313373"/>
                  </a:cubicBezTo>
                  <a:lnTo>
                    <a:pt x="100965" y="129540"/>
                  </a:lnTo>
                  <a:cubicBezTo>
                    <a:pt x="160660" y="162412"/>
                    <a:pt x="231907" y="166938"/>
                    <a:pt x="295281" y="141883"/>
                  </a:cubicBezTo>
                  <a:cubicBezTo>
                    <a:pt x="358655" y="116828"/>
                    <a:pt x="407547" y="64805"/>
                    <a:pt x="428625" y="0"/>
                  </a:cubicBezTo>
                  <a:close/>
                </a:path>
              </a:pathLst>
            </a:custGeom>
            <a:solidFill>
              <a:srgbClr val="C46D5B"/>
            </a:solidFill>
            <a:ln>
              <a:noFill/>
            </a:ln>
          </p:spPr>
        </p:sp>
        <p:sp>
          <p:nvSpPr>
            <p:cNvPr id="25" name="Freeform 25"/>
            <p:cNvSpPr/>
            <p:nvPr/>
          </p:nvSpPr>
          <p:spPr>
            <a:xfrm>
              <a:off x="1090377" y="2198370"/>
              <a:ext cx="370758" cy="519112"/>
            </a:xfrm>
            <a:custGeom>
              <a:avLst/>
              <a:gdLst/>
              <a:ahLst/>
              <a:cxnLst/>
              <a:rect l="l" t="t" r="r" b="b"/>
              <a:pathLst>
                <a:path w="370758" h="519112">
                  <a:moveTo>
                    <a:pt x="269793" y="519112"/>
                  </a:moveTo>
                  <a:cubicBezTo>
                    <a:pt x="85915" y="417540"/>
                    <a:pt x="0" y="199756"/>
                    <a:pt x="65006" y="0"/>
                  </a:cubicBezTo>
                  <a:lnTo>
                    <a:pt x="264078" y="64770"/>
                  </a:lnTo>
                  <a:cubicBezTo>
                    <a:pt x="230315" y="168851"/>
                    <a:pt x="275041" y="282262"/>
                    <a:pt x="370758" y="335280"/>
                  </a:cubicBezTo>
                  <a:close/>
                </a:path>
              </a:pathLst>
            </a:custGeom>
            <a:solidFill>
              <a:srgbClr val="E8A79A"/>
            </a:solidFill>
            <a:ln>
              <a:noFill/>
            </a:ln>
          </p:spPr>
        </p:sp>
        <p:sp>
          <p:nvSpPr>
            <p:cNvPr id="26" name="Freeform 26"/>
            <p:cNvSpPr/>
            <p:nvPr/>
          </p:nvSpPr>
          <p:spPr>
            <a:xfrm>
              <a:off x="1155382" y="1895475"/>
              <a:ext cx="416242" cy="367665"/>
            </a:xfrm>
            <a:custGeom>
              <a:avLst/>
              <a:gdLst/>
              <a:ahLst/>
              <a:cxnLst/>
              <a:rect l="l" t="t" r="r" b="b"/>
              <a:pathLst>
                <a:path w="416242" h="367665">
                  <a:moveTo>
                    <a:pt x="0" y="302895"/>
                  </a:moveTo>
                  <a:cubicBezTo>
                    <a:pt x="58555" y="122474"/>
                    <a:pt x="226557" y="220"/>
                    <a:pt x="416242" y="0"/>
                  </a:cubicBezTo>
                  <a:lnTo>
                    <a:pt x="416242" y="209550"/>
                  </a:lnTo>
                  <a:cubicBezTo>
                    <a:pt x="317254" y="209677"/>
                    <a:pt x="229594" y="273499"/>
                    <a:pt x="199072" y="367665"/>
                  </a:cubicBezTo>
                  <a:close/>
                </a:path>
              </a:pathLst>
            </a:custGeom>
            <a:solidFill>
              <a:srgbClr val="F3B0A4"/>
            </a:solidFill>
            <a:ln>
              <a:noFill/>
            </a:ln>
          </p:spPr>
        </p:sp>
        <p:grpSp>
          <p:nvGrpSpPr>
            <p:cNvPr id="30" name="Group 30"/>
            <p:cNvGrpSpPr/>
            <p:nvPr/>
          </p:nvGrpSpPr>
          <p:grpSpPr>
            <a:xfrm>
              <a:off x="1500187" y="2262187"/>
              <a:ext cx="142875" cy="142875"/>
              <a:chOff x="1500187" y="2262187"/>
              <a:chExt cx="142875" cy="142875"/>
            </a:xfrm>
          </p:grpSpPr>
          <p:sp>
            <p:nvSpPr>
              <p:cNvPr id="27" name="Freeform 27"/>
              <p:cNvSpPr/>
              <p:nvPr/>
            </p:nvSpPr>
            <p:spPr>
              <a:xfrm>
                <a:off x="1563687" y="232568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C45F4A"/>
                </a:solidFill>
              </a:ln>
            </p:spPr>
          </p:sp>
          <p:sp>
            <p:nvSpPr>
              <p:cNvPr id="28" name="Freeform 28"/>
              <p:cNvSpPr/>
              <p:nvPr/>
            </p:nvSpPr>
            <p:spPr>
              <a:xfrm>
                <a:off x="1531937" y="229393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C45F4A"/>
                </a:solidFill>
              </a:ln>
            </p:spPr>
          </p:sp>
          <p:sp>
            <p:nvSpPr>
              <p:cNvPr id="29" name="Freeform 29"/>
              <p:cNvSpPr/>
              <p:nvPr/>
            </p:nvSpPr>
            <p:spPr>
              <a:xfrm>
                <a:off x="1500187" y="226218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C45F4A"/>
                </a:solidFill>
              </a:ln>
            </p:spPr>
          </p:sp>
        </p:grpSp>
        <p:sp>
          <p:nvSpPr>
            <p:cNvPr id="31" name="TextBox 31"/>
            <p:cNvSpPr txBox="1"/>
            <p:nvPr/>
          </p:nvSpPr>
          <p:spPr>
            <a:xfrm>
              <a:off x="850011" y="2109788"/>
              <a:ext cx="221552"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95后</a:t>
              </a:r>
            </a:p>
          </p:txBody>
        </p:sp>
        <p:sp>
          <p:nvSpPr>
            <p:cNvPr id="32" name="TextBox 32"/>
            <p:cNvSpPr txBox="1"/>
            <p:nvPr/>
          </p:nvSpPr>
          <p:spPr>
            <a:xfrm>
              <a:off x="2071688" y="2109788"/>
              <a:ext cx="221552"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90后</a:t>
              </a:r>
            </a:p>
          </p:txBody>
        </p:sp>
        <p:sp>
          <p:nvSpPr>
            <p:cNvPr id="33" name="TextBox 33"/>
            <p:cNvSpPr txBox="1"/>
            <p:nvPr/>
          </p:nvSpPr>
          <p:spPr>
            <a:xfrm>
              <a:off x="1127474" y="2776538"/>
              <a:ext cx="221552"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80后</a:t>
              </a:r>
            </a:p>
          </p:txBody>
        </p:sp>
        <p:sp>
          <p:nvSpPr>
            <p:cNvPr id="34" name="TextBox 34"/>
            <p:cNvSpPr txBox="1"/>
            <p:nvPr/>
          </p:nvSpPr>
          <p:spPr>
            <a:xfrm>
              <a:off x="1794224" y="2776538"/>
              <a:ext cx="221552"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70后</a:t>
              </a:r>
            </a:p>
          </p:txBody>
        </p:sp>
        <p:sp>
          <p:nvSpPr>
            <p:cNvPr id="35" name="TextBox 35"/>
            <p:cNvSpPr txBox="1"/>
            <p:nvPr/>
          </p:nvSpPr>
          <p:spPr>
            <a:xfrm>
              <a:off x="1078674" y="3054191"/>
              <a:ext cx="1405001"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初入职场的90-95年人群及80​</a:t>
              </a:r>
              <a:br/>
              <a:r>
                <a:rPr lang="zh-CN" sz="820" dirty="0">
                  <a:solidFill>
                    <a:srgbClr val="543E3A"/>
                  </a:solidFill>
                  <a:latin typeface="+mn-lt"/>
                  <a:ea typeface="+mn-ea"/>
                  <a:cs typeface="+mn-cs"/>
                </a:rPr>
                <a:t>后新中产、亲子家庭等构成</a:t>
              </a:r>
              <a:br/>
              <a:r>
                <a:rPr lang="zh-CN" sz="820" dirty="0">
                  <a:solidFill>
                    <a:srgbClr val="543E3A"/>
                  </a:solidFill>
                  <a:latin typeface="+mn-lt"/>
                  <a:ea typeface="+mn-ea"/>
                  <a:cs typeface="+mn-cs"/>
                </a:rPr>
                <a:t>了休闲户外群体的核心。</a:t>
              </a:r>
            </a:p>
          </p:txBody>
        </p:sp>
        <p:sp>
          <p:nvSpPr>
            <p:cNvPr id="36" name="Rectangle 36"/>
            <p:cNvSpPr/>
            <p:nvPr/>
          </p:nvSpPr>
          <p:spPr>
            <a:xfrm>
              <a:off x="2971800" y="1362075"/>
              <a:ext cx="2143125" cy="2419350"/>
            </a:xfrm>
            <a:prstGeom prst="roundRect">
              <a:avLst>
                <a:gd name="adj" fmla="val 2667"/>
              </a:avLst>
            </a:prstGeom>
            <a:solidFill>
              <a:srgbClr val="FFFFFF"/>
            </a:solidFill>
            <a:ln>
              <a:noFill/>
            </a:ln>
          </p:spPr>
        </p:sp>
        <p:sp>
          <p:nvSpPr>
            <p:cNvPr id="37" name="Rectangle 37"/>
            <p:cNvSpPr/>
            <p:nvPr/>
          </p:nvSpPr>
          <p:spPr>
            <a:xfrm>
              <a:off x="2971800" y="1362075"/>
              <a:ext cx="2143125" cy="247650"/>
            </a:xfrm>
            <a:prstGeom prst="roundRect">
              <a:avLst>
                <a:gd name="adj" fmla="val 23077"/>
              </a:avLst>
            </a:prstGeom>
            <a:solidFill>
              <a:srgbClr val="FDE3DC"/>
            </a:solidFill>
            <a:ln>
              <a:noFill/>
            </a:ln>
          </p:spPr>
        </p:sp>
        <p:sp>
          <p:nvSpPr>
            <p:cNvPr id="38" name="TextBox 38"/>
            <p:cNvSpPr txBox="1"/>
            <p:nvPr/>
          </p:nvSpPr>
          <p:spPr>
            <a:xfrm>
              <a:off x="3306890" y="1436370"/>
              <a:ext cx="1463421" cy="176212"/>
            </a:xfrm>
            <a:prstGeom prst="rect">
              <a:avLst/>
            </a:prstGeom>
            <a:noFill/>
            <a:ln>
              <a:noFill/>
            </a:ln>
          </p:spPr>
          <p:txBody>
            <a:bodyPr wrap="none" lIns="0" tIns="0" rIns="0" bIns="0" anchor="t" anchorCtr="0">
              <a:spAutoFit/>
            </a:bodyPr>
            <a:lstStyle/>
            <a:p>
              <a:pPr algn="ctr"/>
              <a:r>
                <a:rPr lang="zh-CN" sz="900" b="1" dirty="0">
                  <a:solidFill>
                    <a:srgbClr val="E2624C"/>
                  </a:solidFill>
                  <a:latin typeface="+mn-lt"/>
                  <a:ea typeface="+mn-ea"/>
                  <a:cs typeface="+mn-cs"/>
                </a:rPr>
                <a:t>轻量化运动参与者城市分布</a:t>
              </a:r>
            </a:p>
          </p:txBody>
        </p:sp>
        <p:sp>
          <p:nvSpPr>
            <p:cNvPr id="39" name="Freeform 39"/>
            <p:cNvSpPr/>
            <p:nvPr/>
          </p:nvSpPr>
          <p:spPr>
            <a:xfrm>
              <a:off x="3810000" y="1895475"/>
              <a:ext cx="464718" cy="695325"/>
            </a:xfrm>
            <a:custGeom>
              <a:avLst/>
              <a:gdLst/>
              <a:ahLst/>
              <a:cxnLst/>
              <a:rect l="l" t="t" r="r" b="b"/>
              <a:pathLst>
                <a:path w="464718" h="695325">
                  <a:moveTo>
                    <a:pt x="0" y="0"/>
                  </a:moveTo>
                  <a:cubicBezTo>
                    <a:pt x="164608" y="152"/>
                    <a:pt x="315242" y="92551"/>
                    <a:pt x="389980" y="239214"/>
                  </a:cubicBezTo>
                  <a:cubicBezTo>
                    <a:pt x="464718" y="385877"/>
                    <a:pt x="450948" y="562055"/>
                    <a:pt x="354330" y="695325"/>
                  </a:cubicBezTo>
                  <a:lnTo>
                    <a:pt x="184785" y="572453"/>
                  </a:lnTo>
                  <a:cubicBezTo>
                    <a:pt x="235258" y="502931"/>
                    <a:pt x="242491" y="410981"/>
                    <a:pt x="203508" y="334423"/>
                  </a:cubicBezTo>
                  <a:cubicBezTo>
                    <a:pt x="164526" y="257864"/>
                    <a:pt x="85911" y="209627"/>
                    <a:pt x="0" y="209550"/>
                  </a:cubicBezTo>
                  <a:close/>
                </a:path>
              </a:pathLst>
            </a:custGeom>
            <a:solidFill>
              <a:srgbClr val="C46D5B"/>
            </a:solidFill>
            <a:ln>
              <a:noFill/>
            </a:ln>
          </p:spPr>
        </p:sp>
        <p:sp>
          <p:nvSpPr>
            <p:cNvPr id="40" name="Freeform 40"/>
            <p:cNvSpPr/>
            <p:nvPr/>
          </p:nvSpPr>
          <p:spPr>
            <a:xfrm>
              <a:off x="3623310" y="2467928"/>
              <a:ext cx="541020" cy="351454"/>
            </a:xfrm>
            <a:custGeom>
              <a:avLst/>
              <a:gdLst/>
              <a:ahLst/>
              <a:cxnLst/>
              <a:rect l="l" t="t" r="r" b="b"/>
              <a:pathLst>
                <a:path w="541020" h="351454">
                  <a:moveTo>
                    <a:pt x="541020" y="122872"/>
                  </a:moveTo>
                  <a:cubicBezTo>
                    <a:pt x="417439" y="293081"/>
                    <a:pt x="190342" y="351454"/>
                    <a:pt x="0" y="261938"/>
                  </a:cubicBezTo>
                  <a:lnTo>
                    <a:pt x="89535" y="72390"/>
                  </a:lnTo>
                  <a:cubicBezTo>
                    <a:pt x="188719" y="118944"/>
                    <a:pt x="306987" y="88578"/>
                    <a:pt x="371475" y="0"/>
                  </a:cubicBezTo>
                  <a:close/>
                </a:path>
              </a:pathLst>
            </a:custGeom>
            <a:solidFill>
              <a:srgbClr val="E8634C"/>
            </a:solidFill>
            <a:ln>
              <a:noFill/>
            </a:ln>
          </p:spPr>
        </p:sp>
        <p:sp>
          <p:nvSpPr>
            <p:cNvPr id="41" name="Freeform 41"/>
            <p:cNvSpPr/>
            <p:nvPr/>
          </p:nvSpPr>
          <p:spPr>
            <a:xfrm>
              <a:off x="3325660" y="2198370"/>
              <a:ext cx="387185" cy="531495"/>
            </a:xfrm>
            <a:custGeom>
              <a:avLst/>
              <a:gdLst/>
              <a:ahLst/>
              <a:cxnLst/>
              <a:rect l="l" t="t" r="r" b="b"/>
              <a:pathLst>
                <a:path w="387185" h="531495">
                  <a:moveTo>
                    <a:pt x="297650" y="531495"/>
                  </a:moveTo>
                  <a:cubicBezTo>
                    <a:pt x="98312" y="437314"/>
                    <a:pt x="0" y="209686"/>
                    <a:pt x="68098" y="0"/>
                  </a:cubicBezTo>
                  <a:lnTo>
                    <a:pt x="267170" y="64770"/>
                  </a:lnTo>
                  <a:cubicBezTo>
                    <a:pt x="231749" y="174198"/>
                    <a:pt x="283147" y="292904"/>
                    <a:pt x="387185" y="341947"/>
                  </a:cubicBezTo>
                  <a:close/>
                </a:path>
              </a:pathLst>
            </a:custGeom>
            <a:solidFill>
              <a:srgbClr val="F3B0A4"/>
            </a:solidFill>
            <a:ln>
              <a:noFill/>
            </a:ln>
          </p:spPr>
        </p:sp>
        <p:sp>
          <p:nvSpPr>
            <p:cNvPr id="42" name="Freeform 42"/>
            <p:cNvSpPr/>
            <p:nvPr/>
          </p:nvSpPr>
          <p:spPr>
            <a:xfrm>
              <a:off x="3393758" y="1895475"/>
              <a:ext cx="416242" cy="367665"/>
            </a:xfrm>
            <a:custGeom>
              <a:avLst/>
              <a:gdLst/>
              <a:ahLst/>
              <a:cxnLst/>
              <a:rect l="l" t="t" r="r" b="b"/>
              <a:pathLst>
                <a:path w="416242" h="367665">
                  <a:moveTo>
                    <a:pt x="0" y="302895"/>
                  </a:moveTo>
                  <a:cubicBezTo>
                    <a:pt x="58555" y="122474"/>
                    <a:pt x="226557" y="220"/>
                    <a:pt x="416242" y="0"/>
                  </a:cubicBezTo>
                  <a:lnTo>
                    <a:pt x="416242" y="209550"/>
                  </a:lnTo>
                  <a:cubicBezTo>
                    <a:pt x="317254" y="209677"/>
                    <a:pt x="229594" y="273499"/>
                    <a:pt x="199073" y="367665"/>
                  </a:cubicBezTo>
                  <a:close/>
                </a:path>
              </a:pathLst>
            </a:custGeom>
            <a:solidFill>
              <a:srgbClr val="E8A79A"/>
            </a:solidFill>
            <a:ln>
              <a:noFill/>
            </a:ln>
          </p:spPr>
        </p:sp>
        <p:grpSp>
          <p:nvGrpSpPr>
            <p:cNvPr id="45" name="Group 45"/>
            <p:cNvGrpSpPr/>
            <p:nvPr/>
          </p:nvGrpSpPr>
          <p:grpSpPr>
            <a:xfrm>
              <a:off x="3754437" y="2262936"/>
              <a:ext cx="111125" cy="142126"/>
              <a:chOff x="3754437" y="2262936"/>
              <a:chExt cx="111125" cy="142126"/>
            </a:xfrm>
          </p:grpSpPr>
          <p:sp>
            <p:nvSpPr>
              <p:cNvPr id="43" name="Freeform 43"/>
              <p:cNvSpPr/>
              <p:nvPr/>
            </p:nvSpPr>
            <p:spPr>
              <a:xfrm>
                <a:off x="3754437" y="2262936"/>
                <a:ext cx="111125" cy="101691"/>
              </a:xfrm>
              <a:custGeom>
                <a:avLst/>
                <a:gdLst/>
                <a:ahLst/>
                <a:cxnLst/>
                <a:rect l="l" t="t" r="r" b="b"/>
                <a:pathLst>
                  <a:path w="111125" h="101691">
                    <a:moveTo>
                      <a:pt x="0" y="15127"/>
                    </a:moveTo>
                    <a:cubicBezTo>
                      <a:pt x="15432" y="0"/>
                      <a:pt x="40130" y="0"/>
                      <a:pt x="55562" y="15127"/>
                    </a:cubicBezTo>
                    <a:cubicBezTo>
                      <a:pt x="70995" y="30253"/>
                      <a:pt x="95693" y="30253"/>
                      <a:pt x="111125" y="15127"/>
                    </a:cubicBezTo>
                    <a:lnTo>
                      <a:pt x="111125" y="86564"/>
                    </a:lnTo>
                    <a:cubicBezTo>
                      <a:pt x="95693" y="101691"/>
                      <a:pt x="70995" y="101691"/>
                      <a:pt x="55562" y="86564"/>
                    </a:cubicBezTo>
                    <a:cubicBezTo>
                      <a:pt x="40130" y="71437"/>
                      <a:pt x="15432" y="71437"/>
                      <a:pt x="0" y="86564"/>
                    </a:cubicBezTo>
                    <a:lnTo>
                      <a:pt x="0" y="15127"/>
                    </a:lnTo>
                  </a:path>
                </a:pathLst>
              </a:custGeom>
              <a:noFill/>
              <a:ln w="15875">
                <a:solidFill>
                  <a:srgbClr val="C45F4A"/>
                </a:solidFill>
              </a:ln>
            </p:spPr>
          </p:sp>
          <p:sp>
            <p:nvSpPr>
              <p:cNvPr id="44" name="Freeform 44"/>
              <p:cNvSpPr/>
              <p:nvPr/>
            </p:nvSpPr>
            <p:spPr>
              <a:xfrm>
                <a:off x="3754437" y="2349500"/>
                <a:ext cx="9525" cy="55562"/>
              </a:xfrm>
              <a:custGeom>
                <a:avLst/>
                <a:gdLst/>
                <a:ahLst/>
                <a:cxnLst/>
                <a:rect l="l" t="t" r="r" b="b"/>
                <a:pathLst>
                  <a:path w="9525" h="55562">
                    <a:moveTo>
                      <a:pt x="0" y="55562"/>
                    </a:moveTo>
                    <a:lnTo>
                      <a:pt x="0" y="0"/>
                    </a:lnTo>
                  </a:path>
                </a:pathLst>
              </a:custGeom>
              <a:noFill/>
              <a:ln w="15875">
                <a:solidFill>
                  <a:srgbClr val="C45F4A"/>
                </a:solidFill>
              </a:ln>
            </p:spPr>
          </p:sp>
        </p:grpSp>
        <p:sp>
          <p:nvSpPr>
            <p:cNvPr id="46" name="TextBox 46"/>
            <p:cNvSpPr txBox="1"/>
            <p:nvPr/>
          </p:nvSpPr>
          <p:spPr>
            <a:xfrm>
              <a:off x="2906078" y="2300288"/>
              <a:ext cx="41338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一线城市</a:t>
              </a:r>
            </a:p>
          </p:txBody>
        </p:sp>
        <p:sp>
          <p:nvSpPr>
            <p:cNvPr id="47" name="TextBox 47"/>
            <p:cNvSpPr txBox="1"/>
            <p:nvPr/>
          </p:nvSpPr>
          <p:spPr>
            <a:xfrm>
              <a:off x="4300538" y="1976438"/>
              <a:ext cx="312420"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新一线</a:t>
              </a:r>
            </a:p>
          </p:txBody>
        </p:sp>
        <p:sp>
          <p:nvSpPr>
            <p:cNvPr id="48" name="TextBox 48"/>
            <p:cNvSpPr txBox="1"/>
            <p:nvPr/>
          </p:nvSpPr>
          <p:spPr>
            <a:xfrm>
              <a:off x="4300538" y="2357438"/>
              <a:ext cx="413385"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二线城市</a:t>
              </a:r>
            </a:p>
          </p:txBody>
        </p:sp>
        <p:sp>
          <p:nvSpPr>
            <p:cNvPr id="49" name="TextBox 49"/>
            <p:cNvSpPr txBox="1"/>
            <p:nvPr/>
          </p:nvSpPr>
          <p:spPr>
            <a:xfrm>
              <a:off x="3219450" y="2795588"/>
              <a:ext cx="514350"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三四线城市</a:t>
              </a:r>
            </a:p>
          </p:txBody>
        </p:sp>
        <p:sp>
          <p:nvSpPr>
            <p:cNvPr id="50" name="TextBox 50"/>
            <p:cNvSpPr txBox="1"/>
            <p:nvPr/>
          </p:nvSpPr>
          <p:spPr>
            <a:xfrm>
              <a:off x="3304858" y="3054191"/>
              <a:ext cx="1467485"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轻量化户外用户主要集中在一</a:t>
              </a:r>
              <a:br/>
              <a:r>
                <a:rPr lang="zh-CN" sz="820" dirty="0">
                  <a:solidFill>
                    <a:srgbClr val="543E3A"/>
                  </a:solidFill>
                  <a:latin typeface="+mn-lt"/>
                  <a:ea typeface="+mn-ea"/>
                  <a:cs typeface="+mn-cs"/>
                </a:rPr>
                <a:t>线、新一线城市，这类用户对</a:t>
              </a:r>
              <a:br/>
              <a:r>
                <a:rPr lang="zh-CN" sz="820" dirty="0">
                  <a:solidFill>
                    <a:srgbClr val="543E3A"/>
                  </a:solidFill>
                  <a:latin typeface="+mn-lt"/>
                  <a:ea typeface="+mn-ea"/>
                  <a:cs typeface="+mn-cs"/>
                </a:rPr>
                <a:t>新鲜事物、新潮体验更加敏感。</a:t>
              </a:r>
            </a:p>
          </p:txBody>
        </p:sp>
      </p:grpSp>
      <p:grpSp>
        <p:nvGrpSpPr>
          <p:cNvPr id="67" name="r1-needs"/>
          <p:cNvGrpSpPr/>
          <p:nvPr/>
        </p:nvGrpSpPr>
        <p:grpSpPr>
          <a:xfrm>
            <a:off x="5286375" y="1285875"/>
            <a:ext cx="2428875" cy="2571750"/>
            <a:chOff x="5286375" y="1285875"/>
            <a:chExt cx="2428875" cy="2571750"/>
          </a:xfrm>
        </p:grpSpPr>
        <p:sp>
          <p:nvSpPr>
            <p:cNvPr id="52" name="Rectangle 52"/>
            <p:cNvSpPr/>
            <p:nvPr/>
          </p:nvSpPr>
          <p:spPr>
            <a:xfrm>
              <a:off x="5286375" y="1285875"/>
              <a:ext cx="2428875" cy="2571750"/>
            </a:xfrm>
            <a:prstGeom prst="roundRect">
              <a:avLst>
                <a:gd name="adj" fmla="val 2353"/>
              </a:avLst>
            </a:prstGeom>
            <a:solidFill>
              <a:srgbClr val="F5F6FC"/>
            </a:solidFill>
            <a:ln>
              <a:noFill/>
            </a:ln>
          </p:spPr>
        </p:sp>
        <p:sp>
          <p:nvSpPr>
            <p:cNvPr id="53" name="TextBox 53"/>
            <p:cNvSpPr txBox="1"/>
            <p:nvPr/>
          </p:nvSpPr>
          <p:spPr>
            <a:xfrm>
              <a:off x="6248971" y="1426845"/>
              <a:ext cx="49415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放松情绪</a:t>
              </a:r>
            </a:p>
          </p:txBody>
        </p:sp>
        <p:sp>
          <p:nvSpPr>
            <p:cNvPr id="54" name="Freeform 54"/>
            <p:cNvSpPr/>
            <p:nvPr/>
          </p:nvSpPr>
          <p:spPr>
            <a:xfrm>
              <a:off x="5829300" y="1638300"/>
              <a:ext cx="1333500" cy="1143000"/>
            </a:xfrm>
            <a:prstGeom prst="triangle">
              <a:avLst/>
            </a:prstGeom>
            <a:solidFill>
              <a:srgbClr val="C9D1F0">
                <a:alpha val="55000"/>
              </a:srgbClr>
            </a:solidFill>
            <a:ln>
              <a:noFill/>
            </a:ln>
          </p:spPr>
        </p:sp>
        <p:sp>
          <p:nvSpPr>
            <p:cNvPr id="55" name="Ellipse 55"/>
            <p:cNvSpPr/>
            <p:nvPr/>
          </p:nvSpPr>
          <p:spPr>
            <a:xfrm>
              <a:off x="6334125" y="1571625"/>
              <a:ext cx="323850" cy="323850"/>
            </a:xfrm>
            <a:prstGeom prst="ellipse">
              <a:avLst/>
            </a:prstGeom>
            <a:solidFill>
              <a:srgbClr val="E08C7B"/>
            </a:solidFill>
            <a:ln>
              <a:noFill/>
            </a:ln>
          </p:spPr>
        </p:sp>
        <p:grpSp>
          <p:nvGrpSpPr>
            <p:cNvPr id="59" name="Group 59"/>
            <p:cNvGrpSpPr/>
            <p:nvPr/>
          </p:nvGrpSpPr>
          <p:grpSpPr>
            <a:xfrm>
              <a:off x="6424612" y="1662112"/>
              <a:ext cx="142875" cy="142875"/>
              <a:chOff x="6424612" y="1662112"/>
              <a:chExt cx="142875" cy="142875"/>
            </a:xfrm>
          </p:grpSpPr>
          <p:sp>
            <p:nvSpPr>
              <p:cNvPr id="56" name="Freeform 56"/>
              <p:cNvSpPr/>
              <p:nvPr/>
            </p:nvSpPr>
            <p:spPr>
              <a:xfrm>
                <a:off x="6424612" y="1662112"/>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FFFFFF"/>
                </a:solidFill>
              </a:ln>
            </p:spPr>
          </p:sp>
          <p:sp>
            <p:nvSpPr>
              <p:cNvPr id="57" name="Freeform 57"/>
              <p:cNvSpPr/>
              <p:nvPr/>
            </p:nvSpPr>
            <p:spPr>
              <a:xfrm>
                <a:off x="6452997" y="1693862"/>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FFFFFF"/>
                </a:solidFill>
              </a:ln>
            </p:spPr>
          </p:sp>
          <p:sp>
            <p:nvSpPr>
              <p:cNvPr id="58" name="Freeform 58"/>
              <p:cNvSpPr/>
              <p:nvPr/>
            </p:nvSpPr>
            <p:spPr>
              <a:xfrm>
                <a:off x="6477794" y="1773237"/>
                <a:ext cx="36512" cy="9525"/>
              </a:xfrm>
              <a:custGeom>
                <a:avLst/>
                <a:gdLst/>
                <a:ahLst/>
                <a:cxnLst/>
                <a:rect l="l" t="t" r="r" b="b"/>
                <a:pathLst>
                  <a:path w="36512" h="9525">
                    <a:moveTo>
                      <a:pt x="0" y="0"/>
                    </a:moveTo>
                    <a:lnTo>
                      <a:pt x="36512" y="0"/>
                    </a:lnTo>
                  </a:path>
                </a:pathLst>
              </a:custGeom>
              <a:noFill/>
              <a:ln w="15875">
                <a:solidFill>
                  <a:srgbClr val="FFFFFF"/>
                </a:solidFill>
              </a:ln>
            </p:spPr>
          </p:sp>
        </p:grpSp>
        <p:sp>
          <p:nvSpPr>
            <p:cNvPr id="60" name="Ellipse 60"/>
            <p:cNvSpPr/>
            <p:nvPr/>
          </p:nvSpPr>
          <p:spPr>
            <a:xfrm>
              <a:off x="5724525" y="2600325"/>
              <a:ext cx="323850" cy="323850"/>
            </a:xfrm>
            <a:prstGeom prst="ellipse">
              <a:avLst/>
            </a:prstGeom>
            <a:solidFill>
              <a:srgbClr val="E8634C"/>
            </a:solidFill>
            <a:ln>
              <a:noFill/>
            </a:ln>
          </p:spPr>
        </p:sp>
        <p:sp>
          <p:nvSpPr>
            <p:cNvPr id="61" name="Freeform 61"/>
            <p:cNvSpPr/>
            <p:nvPr/>
          </p:nvSpPr>
          <p:spPr>
            <a:xfrm>
              <a:off x="5806884" y="2692598"/>
              <a:ext cx="158464" cy="140470"/>
            </a:xfrm>
            <a:custGeom>
              <a:avLst/>
              <a:gdLst/>
              <a:ahLst/>
              <a:cxnLst/>
              <a:rect l="l" t="t" r="r" b="b"/>
              <a:pathLst>
                <a:path w="158464" h="140470">
                  <a:moveTo>
                    <a:pt x="8128" y="133152"/>
                  </a:moveTo>
                  <a:lnTo>
                    <a:pt x="18447" y="102195"/>
                  </a:lnTo>
                  <a:cubicBezTo>
                    <a:pt x="0" y="74914"/>
                    <a:pt x="7128" y="39711"/>
                    <a:pt x="35115" y="19852"/>
                  </a:cubicBezTo>
                  <a:cubicBezTo>
                    <a:pt x="63103" y="0"/>
                    <a:pt x="103299" y="1627"/>
                    <a:pt x="129135" y="23662"/>
                  </a:cubicBezTo>
                  <a:cubicBezTo>
                    <a:pt x="154972" y="45704"/>
                    <a:pt x="158464" y="81336"/>
                    <a:pt x="137303" y="107013"/>
                  </a:cubicBezTo>
                  <a:cubicBezTo>
                    <a:pt x="116141" y="132691"/>
                    <a:pt x="76859" y="140470"/>
                    <a:pt x="45434" y="125214"/>
                  </a:cubicBezTo>
                  <a:lnTo>
                    <a:pt x="8128" y="133152"/>
                  </a:lnTo>
                </a:path>
              </a:pathLst>
            </a:custGeom>
            <a:noFill/>
            <a:ln w="15875">
              <a:solidFill>
                <a:srgbClr val="FFFFFF"/>
              </a:solidFill>
            </a:ln>
          </p:spPr>
        </p:sp>
        <p:sp>
          <p:nvSpPr>
            <p:cNvPr id="62" name="Ellipse 62"/>
            <p:cNvSpPr/>
            <p:nvPr/>
          </p:nvSpPr>
          <p:spPr>
            <a:xfrm>
              <a:off x="6943725" y="2600325"/>
              <a:ext cx="323850" cy="323850"/>
            </a:xfrm>
            <a:prstGeom prst="ellipse">
              <a:avLst/>
            </a:prstGeom>
            <a:solidFill>
              <a:srgbClr val="E08C7B"/>
            </a:solidFill>
            <a:ln>
              <a:noFill/>
            </a:ln>
          </p:spPr>
        </p:sp>
        <p:sp>
          <p:nvSpPr>
            <p:cNvPr id="63" name="Freeform 63"/>
            <p:cNvSpPr/>
            <p:nvPr/>
          </p:nvSpPr>
          <p:spPr>
            <a:xfrm>
              <a:off x="7034212" y="2714625"/>
              <a:ext cx="142875" cy="95250"/>
            </a:xfrm>
            <a:custGeom>
              <a:avLst/>
              <a:gdLst/>
              <a:ahLst/>
              <a:cxnLst/>
              <a:rect l="l" t="t" r="r" b="b"/>
              <a:pathLst>
                <a:path w="142875" h="95250">
                  <a:moveTo>
                    <a:pt x="71437" y="0"/>
                  </a:moveTo>
                  <a:lnTo>
                    <a:pt x="103187" y="47625"/>
                  </a:lnTo>
                  <a:lnTo>
                    <a:pt x="142875" y="15875"/>
                  </a:lnTo>
                  <a:lnTo>
                    <a:pt x="127000" y="95250"/>
                  </a:lnTo>
                  <a:lnTo>
                    <a:pt x="15875" y="95250"/>
                  </a:lnTo>
                  <a:lnTo>
                    <a:pt x="0" y="15875"/>
                  </a:lnTo>
                  <a:lnTo>
                    <a:pt x="39687" y="47625"/>
                  </a:lnTo>
                  <a:lnTo>
                    <a:pt x="71437" y="0"/>
                  </a:lnTo>
                </a:path>
              </a:pathLst>
            </a:custGeom>
            <a:noFill/>
            <a:ln w="15875">
              <a:solidFill>
                <a:srgbClr val="FFFFFF"/>
              </a:solidFill>
            </a:ln>
          </p:spPr>
        </p:sp>
        <p:sp>
          <p:nvSpPr>
            <p:cNvPr id="64" name="TextBox 64"/>
            <p:cNvSpPr txBox="1"/>
            <p:nvPr/>
          </p:nvSpPr>
          <p:spPr>
            <a:xfrm>
              <a:off x="5453698" y="2635091"/>
              <a:ext cx="217805"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543E3A"/>
                  </a:solidFill>
                  <a:latin typeface="+mn-lt"/>
                  <a:ea typeface="+mn-ea"/>
                  <a:cs typeface="+mn-cs"/>
                </a:rPr>
                <a:t>交际</a:t>
              </a:r>
              <a:br/>
              <a:r>
                <a:rPr lang="zh-CN" sz="820" dirty="0">
                  <a:solidFill>
                    <a:srgbClr val="543E3A"/>
                  </a:solidFill>
                  <a:latin typeface="+mn-lt"/>
                  <a:ea typeface="+mn-ea"/>
                  <a:cs typeface="+mn-cs"/>
                </a:rPr>
                <a:t>互动</a:t>
              </a:r>
            </a:p>
          </p:txBody>
        </p:sp>
        <p:sp>
          <p:nvSpPr>
            <p:cNvPr id="65" name="TextBox 65"/>
            <p:cNvSpPr txBox="1"/>
            <p:nvPr/>
          </p:nvSpPr>
          <p:spPr>
            <a:xfrm>
              <a:off x="7339648" y="2635091"/>
              <a:ext cx="217805"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543E3A"/>
                  </a:solidFill>
                  <a:latin typeface="+mn-lt"/>
                  <a:ea typeface="+mn-ea"/>
                  <a:cs typeface="+mn-cs"/>
                </a:rPr>
                <a:t>追求</a:t>
              </a:r>
              <a:br/>
              <a:r>
                <a:rPr lang="zh-CN" sz="820" dirty="0">
                  <a:solidFill>
                    <a:srgbClr val="543E3A"/>
                  </a:solidFill>
                  <a:latin typeface="+mn-lt"/>
                  <a:ea typeface="+mn-ea"/>
                  <a:cs typeface="+mn-cs"/>
                </a:rPr>
                <a:t>潮流</a:t>
              </a:r>
            </a:p>
          </p:txBody>
        </p:sp>
        <p:sp>
          <p:nvSpPr>
            <p:cNvPr id="66" name="TextBox 66"/>
            <p:cNvSpPr txBox="1"/>
            <p:nvPr/>
          </p:nvSpPr>
          <p:spPr>
            <a:xfrm>
              <a:off x="5658168" y="3111341"/>
              <a:ext cx="1675765"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户在进行露营，徒步，陆冲，飞盘等</a:t>
              </a:r>
              <a:br/>
              <a:r>
                <a:rPr lang="zh-CN" sz="820" dirty="0">
                  <a:solidFill>
                    <a:srgbClr val="543E3A"/>
                  </a:solidFill>
                  <a:latin typeface="+mn-lt"/>
                  <a:ea typeface="+mn-ea"/>
                  <a:cs typeface="+mn-cs"/>
                </a:rPr>
                <a:t>休闲户外运动时，不单单挥洒汗水，</a:t>
              </a:r>
              <a:br/>
              <a:r>
                <a:rPr lang="zh-CN" sz="820" dirty="0">
                  <a:solidFill>
                    <a:srgbClr val="543E3A"/>
                  </a:solidFill>
                  <a:latin typeface="+mn-lt"/>
                  <a:ea typeface="+mn-ea"/>
                  <a:cs typeface="+mn-cs"/>
                </a:rPr>
                <a:t>同时也在寻求拓展社交圈子。</a:t>
              </a:r>
            </a:p>
          </p:txBody>
        </p:sp>
      </p:grpSp>
      <p:grpSp>
        <p:nvGrpSpPr>
          <p:cNvPr id="81" name="r1-trends"/>
          <p:cNvGrpSpPr/>
          <p:nvPr/>
        </p:nvGrpSpPr>
        <p:grpSpPr>
          <a:xfrm>
            <a:off x="7810500" y="1285875"/>
            <a:ext cx="2524125" cy="2571750"/>
            <a:chOff x="7810500" y="1285875"/>
            <a:chExt cx="2524125" cy="2571750"/>
          </a:xfrm>
        </p:grpSpPr>
        <p:sp>
          <p:nvSpPr>
            <p:cNvPr id="68" name="Rectangle 68"/>
            <p:cNvSpPr/>
            <p:nvPr/>
          </p:nvSpPr>
          <p:spPr>
            <a:xfrm>
              <a:off x="7810500" y="1285875"/>
              <a:ext cx="2524125" cy="2571750"/>
            </a:xfrm>
            <a:prstGeom prst="roundRect">
              <a:avLst>
                <a:gd name="adj" fmla="val 2264"/>
              </a:avLst>
            </a:prstGeom>
            <a:solidFill>
              <a:srgbClr val="F5F6FC"/>
            </a:solidFill>
            <a:ln>
              <a:noFill/>
            </a:ln>
          </p:spPr>
        </p:sp>
        <p:sp>
          <p:nvSpPr>
            <p:cNvPr id="69" name="Rectangle 69"/>
            <p:cNvSpPr/>
            <p:nvPr/>
          </p:nvSpPr>
          <p:spPr>
            <a:xfrm>
              <a:off x="7924800" y="1428750"/>
              <a:ext cx="190500" cy="190500"/>
            </a:xfrm>
            <a:prstGeom prst="roundRect">
              <a:avLst>
                <a:gd name="adj" fmla="val 15000"/>
              </a:avLst>
            </a:prstGeom>
            <a:solidFill>
              <a:srgbClr val="C45F4A"/>
            </a:solidFill>
            <a:ln>
              <a:noFill/>
            </a:ln>
          </p:spPr>
        </p:sp>
        <p:sp>
          <p:nvSpPr>
            <p:cNvPr id="70" name="TextBox 70"/>
            <p:cNvSpPr txBox="1"/>
            <p:nvPr/>
          </p:nvSpPr>
          <p:spPr>
            <a:xfrm>
              <a:off x="7980303" y="14744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a:t>
              </a:r>
            </a:p>
          </p:txBody>
        </p:sp>
        <p:sp>
          <p:nvSpPr>
            <p:cNvPr id="71" name="TextBox 71"/>
            <p:cNvSpPr txBox="1"/>
            <p:nvPr/>
          </p:nvSpPr>
          <p:spPr>
            <a:xfrm>
              <a:off x="8186738" y="1470422"/>
              <a:ext cx="1528039"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一线、新一线城市引领潮流</a:t>
              </a:r>
            </a:p>
          </p:txBody>
        </p:sp>
        <p:sp>
          <p:nvSpPr>
            <p:cNvPr id="72" name="TextBox 72"/>
            <p:cNvSpPr txBox="1"/>
            <p:nvPr/>
          </p:nvSpPr>
          <p:spPr>
            <a:xfrm>
              <a:off x="7920038" y="1682591"/>
              <a:ext cx="177990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二三线城市逐渐跟随，未来预计将成为</a:t>
              </a:r>
              <a:br/>
              <a:r>
                <a:rPr lang="zh-CN" sz="820" dirty="0">
                  <a:solidFill>
                    <a:srgbClr val="543E3A"/>
                  </a:solidFill>
                  <a:latin typeface="+mn-lt"/>
                  <a:ea typeface="+mn-ea"/>
                  <a:cs typeface="+mn-cs"/>
                </a:rPr>
                <a:t>市场的重要增长驱动</a:t>
              </a:r>
            </a:p>
          </p:txBody>
        </p:sp>
        <p:sp>
          <p:nvSpPr>
            <p:cNvPr id="73" name="Rectangle 73"/>
            <p:cNvSpPr/>
            <p:nvPr/>
          </p:nvSpPr>
          <p:spPr>
            <a:xfrm>
              <a:off x="7924800" y="2209800"/>
              <a:ext cx="190500" cy="190500"/>
            </a:xfrm>
            <a:prstGeom prst="roundRect">
              <a:avLst>
                <a:gd name="adj" fmla="val 15000"/>
              </a:avLst>
            </a:prstGeom>
            <a:solidFill>
              <a:srgbClr val="C45F4A"/>
            </a:solidFill>
            <a:ln>
              <a:noFill/>
            </a:ln>
          </p:spPr>
        </p:sp>
        <p:sp>
          <p:nvSpPr>
            <p:cNvPr id="74" name="TextBox 74"/>
            <p:cNvSpPr txBox="1"/>
            <p:nvPr/>
          </p:nvSpPr>
          <p:spPr>
            <a:xfrm>
              <a:off x="7980303" y="225552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a:t>
              </a:r>
            </a:p>
          </p:txBody>
        </p:sp>
        <p:sp>
          <p:nvSpPr>
            <p:cNvPr id="75" name="TextBox 75"/>
            <p:cNvSpPr txBox="1"/>
            <p:nvPr/>
          </p:nvSpPr>
          <p:spPr>
            <a:xfrm>
              <a:off x="8186738" y="2251472"/>
              <a:ext cx="1021867"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模式越发多元丰富</a:t>
              </a:r>
            </a:p>
          </p:txBody>
        </p:sp>
        <p:sp>
          <p:nvSpPr>
            <p:cNvPr id="76" name="TextBox 76"/>
            <p:cNvSpPr txBox="1"/>
            <p:nvPr/>
          </p:nvSpPr>
          <p:spPr>
            <a:xfrm>
              <a:off x="7920038" y="2463641"/>
              <a:ext cx="177990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户外运动模式预计会在社交媒体的催化</a:t>
              </a:r>
              <a:br/>
              <a:r>
                <a:rPr lang="zh-CN" sz="820" dirty="0">
                  <a:solidFill>
                    <a:srgbClr val="543E3A"/>
                  </a:solidFill>
                  <a:latin typeface="+mn-lt"/>
                  <a:ea typeface="+mn-ea"/>
                  <a:cs typeface="+mn-cs"/>
                </a:rPr>
                <a:t>下，向着更加多元化的方向发展。</a:t>
              </a:r>
            </a:p>
          </p:txBody>
        </p:sp>
        <p:sp>
          <p:nvSpPr>
            <p:cNvPr id="77" name="Rectangle 77"/>
            <p:cNvSpPr/>
            <p:nvPr/>
          </p:nvSpPr>
          <p:spPr>
            <a:xfrm>
              <a:off x="7924800" y="2990850"/>
              <a:ext cx="190500" cy="190500"/>
            </a:xfrm>
            <a:prstGeom prst="roundRect">
              <a:avLst>
                <a:gd name="adj" fmla="val 15000"/>
              </a:avLst>
            </a:prstGeom>
            <a:solidFill>
              <a:srgbClr val="C45F4A"/>
            </a:solidFill>
            <a:ln>
              <a:noFill/>
            </a:ln>
          </p:spPr>
        </p:sp>
        <p:sp>
          <p:nvSpPr>
            <p:cNvPr id="78" name="TextBox 78"/>
            <p:cNvSpPr txBox="1"/>
            <p:nvPr/>
          </p:nvSpPr>
          <p:spPr>
            <a:xfrm>
              <a:off x="7980303" y="30365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a:t>
              </a:r>
            </a:p>
          </p:txBody>
        </p:sp>
        <p:sp>
          <p:nvSpPr>
            <p:cNvPr id="79" name="TextBox 79"/>
            <p:cNvSpPr txBox="1"/>
            <p:nvPr/>
          </p:nvSpPr>
          <p:spPr>
            <a:xfrm>
              <a:off x="8186738" y="3032522"/>
              <a:ext cx="895325" cy="183356"/>
            </a:xfrm>
            <a:prstGeom prst="rect">
              <a:avLst/>
            </a:prstGeom>
            <a:noFill/>
            <a:ln>
              <a:noFill/>
            </a:ln>
          </p:spPr>
          <p:txBody>
            <a:bodyPr wrap="none" lIns="0" tIns="0" rIns="0" bIns="0" anchor="t" anchorCtr="0">
              <a:spAutoFit/>
            </a:bodyPr>
            <a:lstStyle/>
            <a:p>
              <a:pPr algn="l"/>
              <a:r>
                <a:rPr lang="zh-CN" sz="940" b="1" dirty="0">
                  <a:solidFill>
                    <a:srgbClr val="C45F4A"/>
                  </a:solidFill>
                  <a:latin typeface="+mn-lt"/>
                  <a:ea typeface="+mn-ea"/>
                  <a:cs typeface="+mn-cs"/>
                </a:rPr>
                <a:t>兼顾享受与运动</a:t>
              </a:r>
            </a:p>
          </p:txBody>
        </p:sp>
        <p:sp>
          <p:nvSpPr>
            <p:cNvPr id="80" name="TextBox 80"/>
            <p:cNvSpPr txBox="1"/>
            <p:nvPr/>
          </p:nvSpPr>
          <p:spPr>
            <a:xfrm>
              <a:off x="7920038" y="3244691"/>
              <a:ext cx="188404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玩家生活对于精致、高品质生活的追求</a:t>
              </a:r>
              <a:br/>
              <a:r>
                <a:rPr lang="zh-CN" sz="820" dirty="0">
                  <a:solidFill>
                    <a:srgbClr val="543E3A"/>
                  </a:solidFill>
                  <a:latin typeface="+mn-lt"/>
                  <a:ea typeface="+mn-ea"/>
                  <a:cs typeface="+mn-cs"/>
                </a:rPr>
                <a:t>预计也将使户外运动向繁荣的方向发展。</a:t>
              </a:r>
            </a:p>
          </p:txBody>
        </p:sp>
      </p:grpSp>
      <p:grpSp>
        <p:nvGrpSpPr>
          <p:cNvPr id="87" name="r1-players"/>
          <p:cNvGrpSpPr/>
          <p:nvPr/>
        </p:nvGrpSpPr>
        <p:grpSpPr>
          <a:xfrm>
            <a:off x="10429875" y="1285875"/>
            <a:ext cx="1428750" cy="2571750"/>
            <a:chOff x="10429875" y="1285875"/>
            <a:chExt cx="1428750" cy="2571750"/>
          </a:xfrm>
        </p:grpSpPr>
        <p:sp>
          <p:nvSpPr>
            <p:cNvPr id="82" name="Rectangle 82"/>
            <p:cNvSpPr/>
            <p:nvPr/>
          </p:nvSpPr>
          <p:spPr>
            <a:xfrm>
              <a:off x="10429875" y="1285875"/>
              <a:ext cx="1428750" cy="2571750"/>
            </a:xfrm>
            <a:prstGeom prst="roundRect">
              <a:avLst>
                <a:gd name="adj" fmla="val 4000"/>
              </a:avLst>
            </a:prstGeom>
            <a:solidFill>
              <a:srgbClr val="F5F6FC"/>
            </a:solidFill>
            <a:ln>
              <a:noFill/>
            </a:ln>
          </p:spPr>
        </p:sp>
        <p:sp>
          <p:nvSpPr>
            <p:cNvPr id="83" name="Freeform 83"/>
            <p:cNvSpPr/>
            <p:nvPr/>
          </p:nvSpPr>
          <p:spPr>
            <a:xfrm>
              <a:off x="10877550" y="1428750"/>
              <a:ext cx="533400" cy="800100"/>
            </a:xfrm>
            <a:prstGeom prst="upArrow">
              <a:avLst>
                <a:gd name="adj1" fmla="val 55000"/>
                <a:gd name="adj2" fmla="val 45000"/>
              </a:avLst>
            </a:prstGeom>
            <a:solidFill>
              <a:srgbClr val="C9D1F0"/>
            </a:solidFill>
            <a:ln>
              <a:noFill/>
            </a:ln>
          </p:spPr>
        </p:sp>
        <p:sp>
          <p:nvSpPr>
            <p:cNvPr id="84" name="TextBox 84"/>
            <p:cNvSpPr txBox="1"/>
            <p:nvPr/>
          </p:nvSpPr>
          <p:spPr>
            <a:xfrm>
              <a:off x="11084915" y="1930718"/>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a:t>
              </a:r>
            </a:p>
          </p:txBody>
        </p:sp>
        <p:sp>
          <p:nvSpPr>
            <p:cNvPr id="85" name="TextBox 85"/>
            <p:cNvSpPr txBox="1"/>
            <p:nvPr/>
          </p:nvSpPr>
          <p:spPr>
            <a:xfrm>
              <a:off x="10594136" y="2396490"/>
              <a:ext cx="1100229" cy="352044"/>
            </a:xfrm>
            <a:prstGeom prst="rect">
              <a:avLst/>
            </a:prstGeom>
            <a:noFill/>
            <a:ln>
              <a:noFill/>
            </a:ln>
          </p:spPr>
          <p:txBody>
            <a:bodyPr wrap="none" lIns="0" tIns="0" rIns="0" bIns="0" anchor="t" anchorCtr="0">
              <a:spAutoFit/>
            </a:bodyPr>
            <a:lstStyle/>
            <a:p>
              <a:pPr algn="ctr"/>
              <a:r>
                <a:rPr lang="zh-CN" sz="1800" b="1" dirty="0">
                  <a:solidFill>
                    <a:srgbClr val="C45F4A"/>
                  </a:solidFill>
                  <a:latin typeface="+mn-lt"/>
                  <a:ea typeface="+mn-ea"/>
                  <a:cs typeface="+mn-cs"/>
                </a:rPr>
                <a:t>5,000万​</a:t>
              </a:r>
            </a:p>
          </p:txBody>
        </p:sp>
        <p:sp>
          <p:nvSpPr>
            <p:cNvPr id="86" name="TextBox 86"/>
            <p:cNvSpPr txBox="1"/>
            <p:nvPr/>
          </p:nvSpPr>
          <p:spPr>
            <a:xfrm>
              <a:off x="10722928" y="2768441"/>
              <a:ext cx="842645" cy="4667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核心玩家群体主要</a:t>
              </a:r>
              <a:br/>
              <a:r>
                <a:rPr lang="zh-CN" sz="820" dirty="0">
                  <a:solidFill>
                    <a:srgbClr val="543E3A"/>
                  </a:solidFill>
                  <a:latin typeface="+mn-lt"/>
                  <a:ea typeface="+mn-ea"/>
                  <a:cs typeface="+mn-cs"/>
                </a:rPr>
                <a:t>为高线级城市的潮</a:t>
              </a:r>
              <a:br/>
              <a:r>
                <a:rPr lang="zh-CN" sz="820" dirty="0">
                  <a:solidFill>
                    <a:srgbClr val="543E3A"/>
                  </a:solidFill>
                  <a:latin typeface="+mn-lt"/>
                  <a:ea typeface="+mn-ea"/>
                  <a:cs typeface="+mn-cs"/>
                </a:rPr>
                <a:t>流青年群体~</a:t>
              </a:r>
            </a:p>
          </p:txBody>
        </p:sp>
      </p:grpSp>
      <p:grpSp>
        <p:nvGrpSpPr>
          <p:cNvPr id="101" name="r2-features"/>
          <p:cNvGrpSpPr/>
          <p:nvPr/>
        </p:nvGrpSpPr>
        <p:grpSpPr>
          <a:xfrm>
            <a:off x="619125" y="3952875"/>
            <a:ext cx="4572000" cy="2524125"/>
            <a:chOff x="619125" y="3952875"/>
            <a:chExt cx="4572000" cy="2524125"/>
          </a:xfrm>
        </p:grpSpPr>
        <p:sp>
          <p:nvSpPr>
            <p:cNvPr id="88" name="Rectangle 88"/>
            <p:cNvSpPr/>
            <p:nvPr/>
          </p:nvSpPr>
          <p:spPr>
            <a:xfrm>
              <a:off x="619125" y="3952875"/>
              <a:ext cx="4572000" cy="2524125"/>
            </a:xfrm>
            <a:prstGeom prst="roundRect">
              <a:avLst>
                <a:gd name="adj" fmla="val 2264"/>
              </a:avLst>
            </a:prstGeom>
            <a:solidFill>
              <a:srgbClr val="F5F6FC"/>
            </a:solidFill>
            <a:ln>
              <a:noFill/>
            </a:ln>
          </p:spPr>
        </p:sp>
        <p:sp>
          <p:nvSpPr>
            <p:cNvPr id="89" name="Rectangle 89"/>
            <p:cNvSpPr/>
            <p:nvPr/>
          </p:nvSpPr>
          <p:spPr>
            <a:xfrm>
              <a:off x="762000" y="4114800"/>
              <a:ext cx="914400" cy="247650"/>
            </a:xfrm>
            <a:prstGeom prst="roundRect">
              <a:avLst>
                <a:gd name="adj" fmla="val 15385"/>
              </a:avLst>
            </a:prstGeom>
            <a:solidFill>
              <a:srgbClr val="FFFFFF"/>
            </a:solidFill>
            <a:ln w="9525">
              <a:solidFill>
                <a:srgbClr val="C45F4A"/>
              </a:solidFill>
            </a:ln>
          </p:spPr>
        </p:sp>
        <p:sp>
          <p:nvSpPr>
            <p:cNvPr id="90" name="TextBox 90"/>
            <p:cNvSpPr txBox="1"/>
            <p:nvPr/>
          </p:nvSpPr>
          <p:spPr>
            <a:xfrm>
              <a:off x="911542" y="4189095"/>
              <a:ext cx="615315" cy="176212"/>
            </a:xfrm>
            <a:prstGeom prst="rect">
              <a:avLst/>
            </a:prstGeom>
            <a:noFill/>
            <a:ln>
              <a:noFill/>
            </a:ln>
          </p:spPr>
          <p:txBody>
            <a:bodyPr wrap="none" lIns="0" tIns="0" rIns="0" bIns="0" anchor="t" anchorCtr="0">
              <a:spAutoFit/>
            </a:bodyPr>
            <a:lstStyle/>
            <a:p>
              <a:pPr algn="ctr"/>
              <a:r>
                <a:rPr lang="zh-CN" sz="900" b="1" dirty="0">
                  <a:solidFill>
                    <a:srgbClr val="C45F4A"/>
                  </a:solidFill>
                  <a:latin typeface="+mn-lt"/>
                  <a:ea typeface="+mn-ea"/>
                  <a:cs typeface="+mn-cs"/>
                </a:rPr>
                <a:t>运动频率高</a:t>
              </a:r>
            </a:p>
          </p:txBody>
        </p:sp>
        <p:sp>
          <p:nvSpPr>
            <p:cNvPr id="91" name="TextBox 91"/>
            <p:cNvSpPr txBox="1"/>
            <p:nvPr/>
          </p:nvSpPr>
          <p:spPr>
            <a:xfrm>
              <a:off x="1804988" y="4193143"/>
              <a:ext cx="1398803"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几乎每月都会参加户外运动</a:t>
              </a:r>
            </a:p>
          </p:txBody>
        </p:sp>
        <p:sp>
          <p:nvSpPr>
            <p:cNvPr id="92" name="Rectangle 92"/>
            <p:cNvSpPr/>
            <p:nvPr/>
          </p:nvSpPr>
          <p:spPr>
            <a:xfrm>
              <a:off x="762000" y="4629150"/>
              <a:ext cx="914400" cy="247650"/>
            </a:xfrm>
            <a:prstGeom prst="roundRect">
              <a:avLst>
                <a:gd name="adj" fmla="val 15385"/>
              </a:avLst>
            </a:prstGeom>
            <a:solidFill>
              <a:srgbClr val="FFFFFF"/>
            </a:solidFill>
            <a:ln w="9525">
              <a:solidFill>
                <a:srgbClr val="E8634C"/>
              </a:solidFill>
            </a:ln>
          </p:spPr>
        </p:sp>
        <p:sp>
          <p:nvSpPr>
            <p:cNvPr id="93" name="TextBox 93"/>
            <p:cNvSpPr txBox="1"/>
            <p:nvPr/>
          </p:nvSpPr>
          <p:spPr>
            <a:xfrm>
              <a:off x="850964" y="4703445"/>
              <a:ext cx="736473" cy="176212"/>
            </a:xfrm>
            <a:prstGeom prst="rect">
              <a:avLst/>
            </a:prstGeom>
            <a:noFill/>
            <a:ln>
              <a:noFill/>
            </a:ln>
          </p:spPr>
          <p:txBody>
            <a:bodyPr wrap="none" lIns="0" tIns="0" rIns="0" bIns="0" anchor="t" anchorCtr="0">
              <a:spAutoFit/>
            </a:bodyPr>
            <a:lstStyle/>
            <a:p>
              <a:pPr algn="ctr"/>
              <a:r>
                <a:rPr lang="zh-CN" sz="900" b="1" dirty="0">
                  <a:solidFill>
                    <a:srgbClr val="E2624C"/>
                  </a:solidFill>
                  <a:latin typeface="+mn-lt"/>
                  <a:ea typeface="+mn-ea"/>
                  <a:cs typeface="+mn-cs"/>
                </a:rPr>
                <a:t>较高经济基础</a:t>
              </a:r>
            </a:p>
          </p:txBody>
        </p:sp>
        <p:sp>
          <p:nvSpPr>
            <p:cNvPr id="94" name="TextBox 94"/>
            <p:cNvSpPr txBox="1"/>
            <p:nvPr/>
          </p:nvSpPr>
          <p:spPr>
            <a:xfrm>
              <a:off x="1804988" y="4640818"/>
              <a:ext cx="2412365"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543E3A"/>
                  </a:solidFill>
                  <a:latin typeface="+mn-lt"/>
                  <a:ea typeface="+mn-ea"/>
                  <a:cs typeface="+mn-cs"/>
                </a:rPr>
                <a:t>包括基层、中高层企业管理者，以及律师、医生等</a:t>
              </a:r>
              <a:br/>
              <a:r>
                <a:rPr lang="zh-CN" sz="860" dirty="0">
                  <a:solidFill>
                    <a:srgbClr val="543E3A"/>
                  </a:solidFill>
                  <a:latin typeface="+mn-lt"/>
                  <a:ea typeface="+mn-ea"/>
                  <a:cs typeface="+mn-cs"/>
                </a:rPr>
                <a:t>收入较高的中产阶级</a:t>
              </a:r>
            </a:p>
          </p:txBody>
        </p:sp>
        <p:sp>
          <p:nvSpPr>
            <p:cNvPr id="95" name="Rectangle 95"/>
            <p:cNvSpPr/>
            <p:nvPr/>
          </p:nvSpPr>
          <p:spPr>
            <a:xfrm>
              <a:off x="762000" y="5200650"/>
              <a:ext cx="914400" cy="247650"/>
            </a:xfrm>
            <a:prstGeom prst="roundRect">
              <a:avLst>
                <a:gd name="adj" fmla="val 15385"/>
              </a:avLst>
            </a:prstGeom>
            <a:solidFill>
              <a:srgbClr val="FFFFFF"/>
            </a:solidFill>
            <a:ln w="9525">
              <a:solidFill>
                <a:srgbClr val="C45F4A"/>
              </a:solidFill>
            </a:ln>
          </p:spPr>
        </p:sp>
        <p:sp>
          <p:nvSpPr>
            <p:cNvPr id="96" name="TextBox 96"/>
            <p:cNvSpPr txBox="1"/>
            <p:nvPr/>
          </p:nvSpPr>
          <p:spPr>
            <a:xfrm>
              <a:off x="850964" y="5274945"/>
              <a:ext cx="736473" cy="176212"/>
            </a:xfrm>
            <a:prstGeom prst="rect">
              <a:avLst/>
            </a:prstGeom>
            <a:noFill/>
            <a:ln>
              <a:noFill/>
            </a:ln>
          </p:spPr>
          <p:txBody>
            <a:bodyPr wrap="none" lIns="0" tIns="0" rIns="0" bIns="0" anchor="t" anchorCtr="0">
              <a:spAutoFit/>
            </a:bodyPr>
            <a:lstStyle/>
            <a:p>
              <a:pPr algn="ctr"/>
              <a:r>
                <a:rPr lang="zh-CN" sz="900" b="1" dirty="0">
                  <a:solidFill>
                    <a:srgbClr val="C45F4A"/>
                  </a:solidFill>
                  <a:latin typeface="+mn-lt"/>
                  <a:ea typeface="+mn-ea"/>
                  <a:cs typeface="+mn-cs"/>
                </a:rPr>
                <a:t>运动爱好丰富</a:t>
              </a:r>
            </a:p>
          </p:txBody>
        </p:sp>
        <p:sp>
          <p:nvSpPr>
            <p:cNvPr id="97" name="TextBox 97"/>
            <p:cNvSpPr txBox="1"/>
            <p:nvPr/>
          </p:nvSpPr>
          <p:spPr>
            <a:xfrm>
              <a:off x="1804988" y="5212318"/>
              <a:ext cx="2412365"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543E3A"/>
                  </a:solidFill>
                  <a:latin typeface="+mn-lt"/>
                  <a:ea typeface="+mn-ea"/>
                  <a:cs typeface="+mn-cs"/>
                </a:rPr>
                <a:t>尝试或频繁参与多种类型的硬核户外运动，包括徒</a:t>
              </a:r>
              <a:br/>
              <a:r>
                <a:rPr lang="zh-CN" sz="860" dirty="0">
                  <a:solidFill>
                    <a:srgbClr val="543E3A"/>
                  </a:solidFill>
                  <a:latin typeface="+mn-lt"/>
                  <a:ea typeface="+mn-ea"/>
                  <a:cs typeface="+mn-cs"/>
                </a:rPr>
                <a:t>步、登山、越野跑、帆船、潜水等</a:t>
              </a:r>
            </a:p>
          </p:txBody>
        </p:sp>
        <p:sp>
          <p:nvSpPr>
            <p:cNvPr id="98" name="Rectangle 98"/>
            <p:cNvSpPr/>
            <p:nvPr/>
          </p:nvSpPr>
          <p:spPr>
            <a:xfrm>
              <a:off x="762000" y="5772150"/>
              <a:ext cx="914400" cy="247650"/>
            </a:xfrm>
            <a:prstGeom prst="roundRect">
              <a:avLst>
                <a:gd name="adj" fmla="val 15385"/>
              </a:avLst>
            </a:prstGeom>
            <a:solidFill>
              <a:srgbClr val="FFFFFF"/>
            </a:solidFill>
            <a:ln w="9525">
              <a:solidFill>
                <a:srgbClr val="E8634C"/>
              </a:solidFill>
            </a:ln>
          </p:spPr>
        </p:sp>
        <p:sp>
          <p:nvSpPr>
            <p:cNvPr id="99" name="TextBox 99"/>
            <p:cNvSpPr txBox="1"/>
            <p:nvPr/>
          </p:nvSpPr>
          <p:spPr>
            <a:xfrm>
              <a:off x="972122" y="5846445"/>
              <a:ext cx="494157" cy="176212"/>
            </a:xfrm>
            <a:prstGeom prst="rect">
              <a:avLst/>
            </a:prstGeom>
            <a:noFill/>
            <a:ln>
              <a:noFill/>
            </a:ln>
          </p:spPr>
          <p:txBody>
            <a:bodyPr wrap="none" lIns="0" tIns="0" rIns="0" bIns="0" anchor="t" anchorCtr="0">
              <a:spAutoFit/>
            </a:bodyPr>
            <a:lstStyle/>
            <a:p>
              <a:pPr algn="ctr"/>
              <a:r>
                <a:rPr lang="zh-CN" sz="900" b="1" dirty="0">
                  <a:solidFill>
                    <a:srgbClr val="E2624C"/>
                  </a:solidFill>
                  <a:latin typeface="+mn-lt"/>
                  <a:ea typeface="+mn-ea"/>
                  <a:cs typeface="+mn-cs"/>
                </a:rPr>
                <a:t>追求挑战</a:t>
              </a:r>
            </a:p>
          </p:txBody>
        </p:sp>
        <p:sp>
          <p:nvSpPr>
            <p:cNvPr id="100" name="TextBox 100"/>
            <p:cNvSpPr txBox="1"/>
            <p:nvPr/>
          </p:nvSpPr>
          <p:spPr>
            <a:xfrm>
              <a:off x="1804988" y="5783818"/>
              <a:ext cx="2412365"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543E3A"/>
                  </a:solidFill>
                  <a:latin typeface="+mn-lt"/>
                  <a:ea typeface="+mn-ea"/>
                  <a:cs typeface="+mn-cs"/>
                </a:rPr>
                <a:t>特别爱好高原、无人区骑行、跳伞、帆船、越野跑</a:t>
              </a:r>
              <a:br/>
              <a:r>
                <a:rPr lang="zh-CN" sz="860" dirty="0">
                  <a:solidFill>
                    <a:srgbClr val="543E3A"/>
                  </a:solidFill>
                  <a:latin typeface="+mn-lt"/>
                  <a:ea typeface="+mn-ea"/>
                  <a:cs typeface="+mn-cs"/>
                </a:rPr>
                <a:t>等具有挑战性的项目</a:t>
              </a:r>
            </a:p>
          </p:txBody>
        </p:sp>
      </p:grpSp>
      <p:grpSp>
        <p:nvGrpSpPr>
          <p:cNvPr id="117" name="r2-needs"/>
          <p:cNvGrpSpPr/>
          <p:nvPr/>
        </p:nvGrpSpPr>
        <p:grpSpPr>
          <a:xfrm>
            <a:off x="5286375" y="3952875"/>
            <a:ext cx="2428875" cy="2524125"/>
            <a:chOff x="5286375" y="3952875"/>
            <a:chExt cx="2428875" cy="2524125"/>
          </a:xfrm>
        </p:grpSpPr>
        <p:sp>
          <p:nvSpPr>
            <p:cNvPr id="102" name="Rectangle 102"/>
            <p:cNvSpPr/>
            <p:nvPr/>
          </p:nvSpPr>
          <p:spPr>
            <a:xfrm>
              <a:off x="5286375" y="3952875"/>
              <a:ext cx="2428875" cy="2524125"/>
            </a:xfrm>
            <a:prstGeom prst="roundRect">
              <a:avLst>
                <a:gd name="adj" fmla="val 2353"/>
              </a:avLst>
            </a:prstGeom>
            <a:solidFill>
              <a:srgbClr val="F5F6FC"/>
            </a:solidFill>
            <a:ln>
              <a:noFill/>
            </a:ln>
          </p:spPr>
        </p:sp>
        <p:sp>
          <p:nvSpPr>
            <p:cNvPr id="103" name="Rectangle 103"/>
            <p:cNvSpPr/>
            <p:nvPr/>
          </p:nvSpPr>
          <p:spPr>
            <a:xfrm>
              <a:off x="5400675" y="4067175"/>
              <a:ext cx="2200275" cy="1219200"/>
            </a:xfrm>
            <a:prstGeom prst="roundRect">
              <a:avLst>
                <a:gd name="adj" fmla="val 6250"/>
              </a:avLst>
            </a:prstGeom>
            <a:solidFill>
              <a:srgbClr val="E4E8F7"/>
            </a:solidFill>
            <a:ln>
              <a:noFill/>
            </a:ln>
          </p:spPr>
        </p:sp>
        <p:grpSp>
          <p:nvGrpSpPr>
            <p:cNvPr id="108" name="Group 108"/>
            <p:cNvGrpSpPr/>
            <p:nvPr/>
          </p:nvGrpSpPr>
          <p:grpSpPr>
            <a:xfrm>
              <a:off x="6281738" y="4405312"/>
              <a:ext cx="428625" cy="428625"/>
              <a:chOff x="6281738" y="4405312"/>
              <a:chExt cx="428625" cy="428625"/>
            </a:xfrm>
          </p:grpSpPr>
          <p:sp>
            <p:nvSpPr>
              <p:cNvPr id="104" name="Freeform 104"/>
              <p:cNvSpPr/>
              <p:nvPr/>
            </p:nvSpPr>
            <p:spPr>
              <a:xfrm>
                <a:off x="6329362" y="4405312"/>
                <a:ext cx="190500" cy="190500"/>
              </a:xfrm>
              <a:custGeom>
                <a:avLst/>
                <a:gdLst/>
                <a:ahLst/>
                <a:cxnLst/>
                <a:rect l="l" t="t" r="r" b="b"/>
                <a:pathLst>
                  <a:path w="190500" h="190500">
                    <a:moveTo>
                      <a:pt x="0" y="95250"/>
                    </a:moveTo>
                    <a:cubicBezTo>
                      <a:pt x="0" y="147855"/>
                      <a:pt x="42645" y="190500"/>
                      <a:pt x="95250" y="190500"/>
                    </a:cubicBezTo>
                    <a:cubicBezTo>
                      <a:pt x="147855" y="190500"/>
                      <a:pt x="190500" y="147855"/>
                      <a:pt x="190500" y="95250"/>
                    </a:cubicBezTo>
                    <a:cubicBezTo>
                      <a:pt x="190500" y="42645"/>
                      <a:pt x="147855" y="0"/>
                      <a:pt x="95250" y="0"/>
                    </a:cubicBezTo>
                    <a:cubicBezTo>
                      <a:pt x="42645" y="0"/>
                      <a:pt x="0" y="42645"/>
                      <a:pt x="0" y="95250"/>
                    </a:cubicBezTo>
                  </a:path>
                </a:pathLst>
              </a:custGeom>
              <a:noFill/>
              <a:ln w="47625">
                <a:solidFill>
                  <a:srgbClr val="C46D5B"/>
                </a:solidFill>
              </a:ln>
            </p:spPr>
          </p:sp>
          <p:sp>
            <p:nvSpPr>
              <p:cNvPr id="105" name="Freeform 105"/>
              <p:cNvSpPr/>
              <p:nvPr/>
            </p:nvSpPr>
            <p:spPr>
              <a:xfrm>
                <a:off x="6281738" y="4691062"/>
                <a:ext cx="285750" cy="142875"/>
              </a:xfrm>
              <a:custGeom>
                <a:avLst/>
                <a:gdLst/>
                <a:ahLst/>
                <a:cxnLst/>
                <a:rect l="l" t="t" r="r" b="b"/>
                <a:pathLst>
                  <a:path w="285750" h="142875">
                    <a:moveTo>
                      <a:pt x="0" y="142875"/>
                    </a:moveTo>
                    <a:lnTo>
                      <a:pt x="0" y="95250"/>
                    </a:lnTo>
                    <a:cubicBezTo>
                      <a:pt x="0" y="42645"/>
                      <a:pt x="42645" y="0"/>
                      <a:pt x="95250" y="0"/>
                    </a:cubicBezTo>
                    <a:lnTo>
                      <a:pt x="190500" y="0"/>
                    </a:lnTo>
                    <a:cubicBezTo>
                      <a:pt x="243105" y="0"/>
                      <a:pt x="285750" y="42645"/>
                      <a:pt x="285750" y="95250"/>
                    </a:cubicBezTo>
                    <a:lnTo>
                      <a:pt x="285750" y="142875"/>
                    </a:lnTo>
                  </a:path>
                </a:pathLst>
              </a:custGeom>
              <a:noFill/>
              <a:ln w="47625">
                <a:solidFill>
                  <a:srgbClr val="C46D5B"/>
                </a:solidFill>
              </a:ln>
            </p:spPr>
          </p:sp>
          <p:sp>
            <p:nvSpPr>
              <p:cNvPr id="106" name="Freeform 106"/>
              <p:cNvSpPr/>
              <p:nvPr/>
            </p:nvSpPr>
            <p:spPr>
              <a:xfrm>
                <a:off x="6591300" y="4408408"/>
                <a:ext cx="71624" cy="184547"/>
              </a:xfrm>
              <a:custGeom>
                <a:avLst/>
                <a:gdLst/>
                <a:ahLst/>
                <a:cxnLst/>
                <a:rect l="l" t="t" r="r" b="b"/>
                <a:pathLst>
                  <a:path w="71624" h="184547">
                    <a:moveTo>
                      <a:pt x="0" y="0"/>
                    </a:moveTo>
                    <a:cubicBezTo>
                      <a:pt x="42146" y="10791"/>
                      <a:pt x="71624" y="48768"/>
                      <a:pt x="71624" y="92273"/>
                    </a:cubicBezTo>
                    <a:cubicBezTo>
                      <a:pt x="71624" y="135779"/>
                      <a:pt x="42146" y="173756"/>
                      <a:pt x="0" y="184547"/>
                    </a:cubicBezTo>
                  </a:path>
                </a:pathLst>
              </a:custGeom>
              <a:noFill/>
              <a:ln w="47625">
                <a:solidFill>
                  <a:srgbClr val="C46D5B"/>
                </a:solidFill>
              </a:ln>
            </p:spPr>
          </p:sp>
          <p:sp>
            <p:nvSpPr>
              <p:cNvPr id="107" name="Freeform 107"/>
              <p:cNvSpPr/>
              <p:nvPr/>
            </p:nvSpPr>
            <p:spPr>
              <a:xfrm>
                <a:off x="6638925" y="4694634"/>
                <a:ext cx="71438" cy="139303"/>
              </a:xfrm>
              <a:custGeom>
                <a:avLst/>
                <a:gdLst/>
                <a:ahLst/>
                <a:cxnLst/>
                <a:rect l="l" t="t" r="r" b="b"/>
                <a:pathLst>
                  <a:path w="71438" h="139303">
                    <a:moveTo>
                      <a:pt x="71438" y="139303"/>
                    </a:moveTo>
                    <a:lnTo>
                      <a:pt x="71438" y="91678"/>
                    </a:lnTo>
                    <a:cubicBezTo>
                      <a:pt x="71189" y="48448"/>
                      <a:pt x="41858" y="10807"/>
                      <a:pt x="0" y="0"/>
                    </a:cubicBezTo>
                  </a:path>
                </a:pathLst>
              </a:custGeom>
              <a:noFill/>
              <a:ln w="47625">
                <a:solidFill>
                  <a:srgbClr val="C46D5B"/>
                </a:solidFill>
              </a:ln>
            </p:spPr>
          </p:sp>
        </p:grpSp>
        <p:grpSp>
          <p:nvGrpSpPr>
            <p:cNvPr id="112" name="Group 112"/>
            <p:cNvGrpSpPr/>
            <p:nvPr/>
          </p:nvGrpSpPr>
          <p:grpSpPr>
            <a:xfrm>
              <a:off x="5764713" y="4530725"/>
              <a:ext cx="220163" cy="220163"/>
              <a:chOff x="5764713" y="4530725"/>
              <a:chExt cx="220163" cy="220163"/>
            </a:xfrm>
          </p:grpSpPr>
          <p:sp>
            <p:nvSpPr>
              <p:cNvPr id="109" name="Freeform 109"/>
              <p:cNvSpPr/>
              <p:nvPr/>
            </p:nvSpPr>
            <p:spPr>
              <a:xfrm>
                <a:off x="5768975" y="4530725"/>
                <a:ext cx="215901" cy="215901"/>
              </a:xfrm>
              <a:custGeom>
                <a:avLst/>
                <a:gdLst/>
                <a:ahLst/>
                <a:cxnLst/>
                <a:rect l="l" t="t" r="r" b="b"/>
                <a:pathLst>
                  <a:path w="215901" h="215901">
                    <a:moveTo>
                      <a:pt x="0" y="121444"/>
                    </a:moveTo>
                    <a:cubicBezTo>
                      <a:pt x="49525" y="127330"/>
                      <a:pt x="88571" y="166376"/>
                      <a:pt x="94456" y="215901"/>
                    </a:cubicBezTo>
                    <a:cubicBezTo>
                      <a:pt x="118706" y="201921"/>
                      <a:pt x="134014" y="176407"/>
                      <a:pt x="134938" y="148432"/>
                    </a:cubicBezTo>
                    <a:cubicBezTo>
                      <a:pt x="181272" y="132132"/>
                      <a:pt x="213226" y="89526"/>
                      <a:pt x="215901" y="40481"/>
                    </a:cubicBezTo>
                    <a:cubicBezTo>
                      <a:pt x="215901" y="18124"/>
                      <a:pt x="197776" y="0"/>
                      <a:pt x="175419" y="0"/>
                    </a:cubicBezTo>
                    <a:cubicBezTo>
                      <a:pt x="126374" y="2674"/>
                      <a:pt x="83769" y="34628"/>
                      <a:pt x="67469" y="80963"/>
                    </a:cubicBezTo>
                    <a:cubicBezTo>
                      <a:pt x="39494" y="81887"/>
                      <a:pt x="13980" y="97195"/>
                      <a:pt x="0" y="121444"/>
                    </a:cubicBezTo>
                  </a:path>
                </a:pathLst>
              </a:custGeom>
              <a:noFill/>
              <a:ln w="26988">
                <a:solidFill>
                  <a:srgbClr val="E8634C"/>
                </a:solidFill>
              </a:ln>
            </p:spPr>
          </p:sp>
          <p:sp>
            <p:nvSpPr>
              <p:cNvPr id="110" name="Freeform 110"/>
              <p:cNvSpPr/>
              <p:nvPr/>
            </p:nvSpPr>
            <p:spPr>
              <a:xfrm>
                <a:off x="5764713" y="4665663"/>
                <a:ext cx="85225" cy="85225"/>
              </a:xfrm>
              <a:custGeom>
                <a:avLst/>
                <a:gdLst/>
                <a:ahLst/>
                <a:cxnLst/>
                <a:rect l="l" t="t" r="r" b="b"/>
                <a:pathLst>
                  <a:path w="85225" h="85225">
                    <a:moveTo>
                      <a:pt x="44743" y="0"/>
                    </a:moveTo>
                    <a:cubicBezTo>
                      <a:pt x="16014" y="16219"/>
                      <a:pt x="0" y="48248"/>
                      <a:pt x="4262" y="80963"/>
                    </a:cubicBezTo>
                    <a:cubicBezTo>
                      <a:pt x="36977" y="85225"/>
                      <a:pt x="69006" y="69210"/>
                      <a:pt x="85225" y="40481"/>
                    </a:cubicBezTo>
                  </a:path>
                </a:pathLst>
              </a:custGeom>
              <a:noFill/>
              <a:ln w="26988">
                <a:solidFill>
                  <a:srgbClr val="E8634C"/>
                </a:solidFill>
              </a:ln>
            </p:spPr>
          </p:sp>
          <p:sp>
            <p:nvSpPr>
              <p:cNvPr id="111" name="Freeform 111"/>
              <p:cNvSpPr/>
              <p:nvPr/>
            </p:nvSpPr>
            <p:spPr>
              <a:xfrm>
                <a:off x="5903913" y="4584700"/>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6988">
                <a:solidFill>
                  <a:srgbClr val="E8634C"/>
                </a:solidFill>
              </a:ln>
            </p:spPr>
          </p:sp>
        </p:grpSp>
        <p:grpSp>
          <p:nvGrpSpPr>
            <p:cNvPr id="115" name="Group 115"/>
            <p:cNvGrpSpPr/>
            <p:nvPr/>
          </p:nvGrpSpPr>
          <p:grpSpPr>
            <a:xfrm>
              <a:off x="7020719" y="4518504"/>
              <a:ext cx="188913" cy="241615"/>
              <a:chOff x="7020719" y="4518504"/>
              <a:chExt cx="188913" cy="241615"/>
            </a:xfrm>
          </p:grpSpPr>
          <p:sp>
            <p:nvSpPr>
              <p:cNvPr id="113" name="Freeform 113"/>
              <p:cNvSpPr/>
              <p:nvPr/>
            </p:nvSpPr>
            <p:spPr>
              <a:xfrm>
                <a:off x="7020719" y="4518504"/>
                <a:ext cx="188913" cy="172875"/>
              </a:xfrm>
              <a:custGeom>
                <a:avLst/>
                <a:gdLst/>
                <a:ahLst/>
                <a:cxnLst/>
                <a:rect l="l" t="t" r="r" b="b"/>
                <a:pathLst>
                  <a:path w="188913" h="172875">
                    <a:moveTo>
                      <a:pt x="0" y="25715"/>
                    </a:moveTo>
                    <a:cubicBezTo>
                      <a:pt x="26235" y="0"/>
                      <a:pt x="68222" y="0"/>
                      <a:pt x="94456" y="25715"/>
                    </a:cubicBezTo>
                    <a:cubicBezTo>
                      <a:pt x="120691" y="51431"/>
                      <a:pt x="162678" y="51431"/>
                      <a:pt x="188913" y="25715"/>
                    </a:cubicBezTo>
                    <a:lnTo>
                      <a:pt x="188913" y="147159"/>
                    </a:lnTo>
                    <a:cubicBezTo>
                      <a:pt x="162678" y="172875"/>
                      <a:pt x="120691" y="172875"/>
                      <a:pt x="94456" y="147159"/>
                    </a:cubicBezTo>
                    <a:cubicBezTo>
                      <a:pt x="68222" y="121444"/>
                      <a:pt x="26235" y="121444"/>
                      <a:pt x="0" y="147159"/>
                    </a:cubicBezTo>
                    <a:lnTo>
                      <a:pt x="0" y="25715"/>
                    </a:lnTo>
                  </a:path>
                </a:pathLst>
              </a:custGeom>
              <a:noFill/>
              <a:ln w="26988">
                <a:solidFill>
                  <a:srgbClr val="E8634C"/>
                </a:solidFill>
              </a:ln>
            </p:spPr>
          </p:sp>
          <p:sp>
            <p:nvSpPr>
              <p:cNvPr id="114" name="Freeform 114"/>
              <p:cNvSpPr/>
              <p:nvPr/>
            </p:nvSpPr>
            <p:spPr>
              <a:xfrm>
                <a:off x="7020719" y="4665663"/>
                <a:ext cx="9525" cy="94456"/>
              </a:xfrm>
              <a:custGeom>
                <a:avLst/>
                <a:gdLst/>
                <a:ahLst/>
                <a:cxnLst/>
                <a:rect l="l" t="t" r="r" b="b"/>
                <a:pathLst>
                  <a:path w="9525" h="94456">
                    <a:moveTo>
                      <a:pt x="0" y="94456"/>
                    </a:moveTo>
                    <a:lnTo>
                      <a:pt x="0" y="0"/>
                    </a:lnTo>
                  </a:path>
                </a:pathLst>
              </a:custGeom>
              <a:noFill/>
              <a:ln w="26988">
                <a:solidFill>
                  <a:srgbClr val="E8634C"/>
                </a:solidFill>
              </a:ln>
            </p:spPr>
          </p:sp>
        </p:grpSp>
        <p:sp>
          <p:nvSpPr>
            <p:cNvPr id="116" name="TextBox 116"/>
            <p:cNvSpPr txBox="1"/>
            <p:nvPr/>
          </p:nvSpPr>
          <p:spPr>
            <a:xfrm>
              <a:off x="5606097" y="5473541"/>
              <a:ext cx="1779905" cy="6191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户外探险玩家偏爱难度更大的极限运</a:t>
              </a:r>
              <a:br/>
              <a:r>
                <a:rPr lang="zh-CN" sz="820" dirty="0">
                  <a:solidFill>
                    <a:srgbClr val="543E3A"/>
                  </a:solidFill>
                  <a:latin typeface="+mn-lt"/>
                  <a:ea typeface="+mn-ea"/>
                  <a:cs typeface="+mn-cs"/>
                </a:rPr>
                <a:t>动，他们勇敢执着、福佑冒险精神，</a:t>
              </a:r>
              <a:br/>
              <a:r>
                <a:rPr lang="zh-CN" sz="820" dirty="0">
                  <a:solidFill>
                    <a:srgbClr val="543E3A"/>
                  </a:solidFill>
                  <a:latin typeface="+mn-lt"/>
                  <a:ea typeface="+mn-ea"/>
                  <a:cs typeface="+mn-cs"/>
                </a:rPr>
                <a:t>追求在运动中挑战自我、获得价值感、</a:t>
              </a:r>
              <a:br/>
              <a:r>
                <a:rPr lang="zh-CN" sz="820" dirty="0">
                  <a:solidFill>
                    <a:srgbClr val="543E3A"/>
                  </a:solidFill>
                  <a:latin typeface="+mn-lt"/>
                  <a:ea typeface="+mn-ea"/>
                  <a:cs typeface="+mn-cs"/>
                </a:rPr>
                <a:t>成就感</a:t>
              </a:r>
            </a:p>
          </p:txBody>
        </p:sp>
      </p:grpSp>
      <p:grpSp>
        <p:nvGrpSpPr>
          <p:cNvPr id="131" name="r2-trends"/>
          <p:cNvGrpSpPr/>
          <p:nvPr/>
        </p:nvGrpSpPr>
        <p:grpSpPr>
          <a:xfrm>
            <a:off x="7810500" y="3952875"/>
            <a:ext cx="2524125" cy="2524125"/>
            <a:chOff x="7810500" y="3952875"/>
            <a:chExt cx="2524125" cy="2524125"/>
          </a:xfrm>
        </p:grpSpPr>
        <p:sp>
          <p:nvSpPr>
            <p:cNvPr id="118" name="Rectangle 118"/>
            <p:cNvSpPr/>
            <p:nvPr/>
          </p:nvSpPr>
          <p:spPr>
            <a:xfrm>
              <a:off x="7810500" y="3952875"/>
              <a:ext cx="2524125" cy="2524125"/>
            </a:xfrm>
            <a:prstGeom prst="roundRect">
              <a:avLst>
                <a:gd name="adj" fmla="val 2264"/>
              </a:avLst>
            </a:prstGeom>
            <a:solidFill>
              <a:srgbClr val="F5F6FC"/>
            </a:solidFill>
            <a:ln>
              <a:noFill/>
            </a:ln>
          </p:spPr>
        </p:sp>
        <p:sp>
          <p:nvSpPr>
            <p:cNvPr id="119" name="Rectangle 119"/>
            <p:cNvSpPr/>
            <p:nvPr/>
          </p:nvSpPr>
          <p:spPr>
            <a:xfrm>
              <a:off x="7924800" y="4095750"/>
              <a:ext cx="190500" cy="190500"/>
            </a:xfrm>
            <a:prstGeom prst="roundRect">
              <a:avLst>
                <a:gd name="adj" fmla="val 15000"/>
              </a:avLst>
            </a:prstGeom>
            <a:solidFill>
              <a:srgbClr val="E8634C"/>
            </a:solidFill>
            <a:ln>
              <a:noFill/>
            </a:ln>
          </p:spPr>
        </p:sp>
        <p:sp>
          <p:nvSpPr>
            <p:cNvPr id="120" name="TextBox 120"/>
            <p:cNvSpPr txBox="1"/>
            <p:nvPr/>
          </p:nvSpPr>
          <p:spPr>
            <a:xfrm>
              <a:off x="7980303" y="41414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a:t>
              </a:r>
            </a:p>
          </p:txBody>
        </p:sp>
        <p:sp>
          <p:nvSpPr>
            <p:cNvPr id="121" name="TextBox 121"/>
            <p:cNvSpPr txBox="1"/>
            <p:nvPr/>
          </p:nvSpPr>
          <p:spPr>
            <a:xfrm>
              <a:off x="8186738" y="4137422"/>
              <a:ext cx="1401496" cy="183356"/>
            </a:xfrm>
            <a:prstGeom prst="rect">
              <a:avLst/>
            </a:prstGeom>
            <a:noFill/>
            <a:ln>
              <a:noFill/>
            </a:ln>
          </p:spPr>
          <p:txBody>
            <a:bodyPr wrap="none" lIns="0" tIns="0" rIns="0" bIns="0" anchor="t" anchorCtr="0">
              <a:spAutoFit/>
            </a:bodyPr>
            <a:lstStyle/>
            <a:p>
              <a:pPr algn="l"/>
              <a:r>
                <a:rPr lang="zh-CN" sz="940" b="1" dirty="0">
                  <a:solidFill>
                    <a:srgbClr val="E2624C"/>
                  </a:solidFill>
                  <a:latin typeface="+mn-lt"/>
                  <a:ea typeface="+mn-ea"/>
                  <a:cs typeface="+mn-cs"/>
                </a:rPr>
                <a:t>智能化设备的渗透率提升</a:t>
              </a:r>
            </a:p>
          </p:txBody>
        </p:sp>
        <p:sp>
          <p:nvSpPr>
            <p:cNvPr id="122" name="TextBox 122"/>
            <p:cNvSpPr txBox="1"/>
            <p:nvPr/>
          </p:nvSpPr>
          <p:spPr>
            <a:xfrm>
              <a:off x="7920038" y="4349591"/>
              <a:ext cx="177990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智能手环等新户外运动装备的专业性能</a:t>
              </a:r>
              <a:br/>
              <a:r>
                <a:rPr lang="zh-CN" sz="820" dirty="0">
                  <a:solidFill>
                    <a:srgbClr val="543E3A"/>
                  </a:solidFill>
                  <a:latin typeface="+mn-lt"/>
                  <a:ea typeface="+mn-ea"/>
                  <a:cs typeface="+mn-cs"/>
                </a:rPr>
                <a:t>越发提升，逐渐成为标准装备。</a:t>
              </a:r>
            </a:p>
          </p:txBody>
        </p:sp>
        <p:sp>
          <p:nvSpPr>
            <p:cNvPr id="123" name="Rectangle 123"/>
            <p:cNvSpPr/>
            <p:nvPr/>
          </p:nvSpPr>
          <p:spPr>
            <a:xfrm>
              <a:off x="7924800" y="4876800"/>
              <a:ext cx="190500" cy="190500"/>
            </a:xfrm>
            <a:prstGeom prst="roundRect">
              <a:avLst>
                <a:gd name="adj" fmla="val 15000"/>
              </a:avLst>
            </a:prstGeom>
            <a:solidFill>
              <a:srgbClr val="E8634C"/>
            </a:solidFill>
            <a:ln>
              <a:noFill/>
            </a:ln>
          </p:spPr>
        </p:sp>
        <p:sp>
          <p:nvSpPr>
            <p:cNvPr id="124" name="TextBox 124"/>
            <p:cNvSpPr txBox="1"/>
            <p:nvPr/>
          </p:nvSpPr>
          <p:spPr>
            <a:xfrm>
              <a:off x="7980303" y="492252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a:t>
              </a:r>
            </a:p>
          </p:txBody>
        </p:sp>
        <p:sp>
          <p:nvSpPr>
            <p:cNvPr id="125" name="TextBox 125"/>
            <p:cNvSpPr txBox="1"/>
            <p:nvPr/>
          </p:nvSpPr>
          <p:spPr>
            <a:xfrm>
              <a:off x="8186738" y="4918472"/>
              <a:ext cx="1021867" cy="183356"/>
            </a:xfrm>
            <a:prstGeom prst="rect">
              <a:avLst/>
            </a:prstGeom>
            <a:noFill/>
            <a:ln>
              <a:noFill/>
            </a:ln>
          </p:spPr>
          <p:txBody>
            <a:bodyPr wrap="none" lIns="0" tIns="0" rIns="0" bIns="0" anchor="t" anchorCtr="0">
              <a:spAutoFit/>
            </a:bodyPr>
            <a:lstStyle/>
            <a:p>
              <a:pPr algn="l"/>
              <a:r>
                <a:rPr lang="zh-CN" sz="940" b="1" dirty="0">
                  <a:solidFill>
                    <a:srgbClr val="E2624C"/>
                  </a:solidFill>
                  <a:latin typeface="+mn-lt"/>
                  <a:ea typeface="+mn-ea"/>
                  <a:cs typeface="+mn-cs"/>
                </a:rPr>
                <a:t>玩家群体不断扩大</a:t>
              </a:r>
            </a:p>
          </p:txBody>
        </p:sp>
        <p:sp>
          <p:nvSpPr>
            <p:cNvPr id="126" name="TextBox 126"/>
            <p:cNvSpPr txBox="1"/>
            <p:nvPr/>
          </p:nvSpPr>
          <p:spPr>
            <a:xfrm>
              <a:off x="7920038" y="5130641"/>
              <a:ext cx="177990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越野跑、高山滑雪等以往鲜为人知的运</a:t>
              </a:r>
              <a:br/>
              <a:r>
                <a:rPr lang="zh-CN" sz="820" dirty="0">
                  <a:solidFill>
                    <a:srgbClr val="543E3A"/>
                  </a:solidFill>
                  <a:latin typeface="+mn-lt"/>
                  <a:ea typeface="+mn-ea"/>
                  <a:cs typeface="+mn-cs"/>
                </a:rPr>
                <a:t>动项目逐渐进入大众视野</a:t>
              </a:r>
            </a:p>
          </p:txBody>
        </p:sp>
        <p:sp>
          <p:nvSpPr>
            <p:cNvPr id="127" name="Rectangle 127"/>
            <p:cNvSpPr/>
            <p:nvPr/>
          </p:nvSpPr>
          <p:spPr>
            <a:xfrm>
              <a:off x="7924800" y="5657850"/>
              <a:ext cx="190500" cy="190500"/>
            </a:xfrm>
            <a:prstGeom prst="roundRect">
              <a:avLst>
                <a:gd name="adj" fmla="val 15000"/>
              </a:avLst>
            </a:prstGeom>
            <a:solidFill>
              <a:srgbClr val="E8634C"/>
            </a:solidFill>
            <a:ln>
              <a:noFill/>
            </a:ln>
          </p:spPr>
        </p:sp>
        <p:sp>
          <p:nvSpPr>
            <p:cNvPr id="128" name="TextBox 128"/>
            <p:cNvSpPr txBox="1"/>
            <p:nvPr/>
          </p:nvSpPr>
          <p:spPr>
            <a:xfrm>
              <a:off x="7980303" y="57035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a:t>
              </a:r>
            </a:p>
          </p:txBody>
        </p:sp>
        <p:sp>
          <p:nvSpPr>
            <p:cNvPr id="129" name="TextBox 129"/>
            <p:cNvSpPr txBox="1"/>
            <p:nvPr/>
          </p:nvSpPr>
          <p:spPr>
            <a:xfrm>
              <a:off x="8186738" y="5699522"/>
              <a:ext cx="1401496" cy="183356"/>
            </a:xfrm>
            <a:prstGeom prst="rect">
              <a:avLst/>
            </a:prstGeom>
            <a:noFill/>
            <a:ln>
              <a:noFill/>
            </a:ln>
          </p:spPr>
          <p:txBody>
            <a:bodyPr wrap="none" lIns="0" tIns="0" rIns="0" bIns="0" anchor="t" anchorCtr="0">
              <a:spAutoFit/>
            </a:bodyPr>
            <a:lstStyle/>
            <a:p>
              <a:pPr algn="l"/>
              <a:r>
                <a:rPr lang="zh-CN" sz="940" b="1" dirty="0">
                  <a:solidFill>
                    <a:srgbClr val="E2624C"/>
                  </a:solidFill>
                  <a:latin typeface="+mn-lt"/>
                  <a:ea typeface="+mn-ea"/>
                  <a:cs typeface="+mn-cs"/>
                </a:rPr>
                <a:t>配套服务和周边设施完善</a:t>
              </a:r>
            </a:p>
          </p:txBody>
        </p:sp>
        <p:sp>
          <p:nvSpPr>
            <p:cNvPr id="130" name="TextBox 130"/>
            <p:cNvSpPr txBox="1"/>
            <p:nvPr/>
          </p:nvSpPr>
          <p:spPr>
            <a:xfrm>
              <a:off x="7920038" y="5911691"/>
              <a:ext cx="1779905"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户外运动俱乐部、专业领队的出现，预</a:t>
              </a:r>
              <a:br/>
              <a:r>
                <a:rPr lang="zh-CN" sz="820" dirty="0">
                  <a:solidFill>
                    <a:srgbClr val="543E3A"/>
                  </a:solidFill>
                  <a:latin typeface="+mn-lt"/>
                  <a:ea typeface="+mn-ea"/>
                  <a:cs typeface="+mn-cs"/>
                </a:rPr>
                <a:t>计将助力行业发展</a:t>
              </a:r>
            </a:p>
          </p:txBody>
        </p:sp>
      </p:grpSp>
      <p:grpSp>
        <p:nvGrpSpPr>
          <p:cNvPr id="137" name="r2-players"/>
          <p:cNvGrpSpPr/>
          <p:nvPr/>
        </p:nvGrpSpPr>
        <p:grpSpPr>
          <a:xfrm>
            <a:off x="10429875" y="3952875"/>
            <a:ext cx="1428750" cy="2524125"/>
            <a:chOff x="10429875" y="3952875"/>
            <a:chExt cx="1428750" cy="2524125"/>
          </a:xfrm>
        </p:grpSpPr>
        <p:sp>
          <p:nvSpPr>
            <p:cNvPr id="132" name="Rectangle 132"/>
            <p:cNvSpPr/>
            <p:nvPr/>
          </p:nvSpPr>
          <p:spPr>
            <a:xfrm>
              <a:off x="10429875" y="3952875"/>
              <a:ext cx="1428750" cy="2524125"/>
            </a:xfrm>
            <a:prstGeom prst="roundRect">
              <a:avLst>
                <a:gd name="adj" fmla="val 4000"/>
              </a:avLst>
            </a:prstGeom>
            <a:solidFill>
              <a:srgbClr val="F5F6FC"/>
            </a:solidFill>
            <a:ln>
              <a:noFill/>
            </a:ln>
          </p:spPr>
        </p:sp>
        <p:sp>
          <p:nvSpPr>
            <p:cNvPr id="133" name="Freeform 133"/>
            <p:cNvSpPr/>
            <p:nvPr/>
          </p:nvSpPr>
          <p:spPr>
            <a:xfrm>
              <a:off x="10877550" y="4095750"/>
              <a:ext cx="533400" cy="800100"/>
            </a:xfrm>
            <a:prstGeom prst="upArrow">
              <a:avLst>
                <a:gd name="adj1" fmla="val 55000"/>
                <a:gd name="adj2" fmla="val 45000"/>
              </a:avLst>
            </a:prstGeom>
            <a:solidFill>
              <a:srgbClr val="F3BAB0"/>
            </a:solidFill>
            <a:ln>
              <a:noFill/>
            </a:ln>
          </p:spPr>
        </p:sp>
        <p:sp>
          <p:nvSpPr>
            <p:cNvPr id="134" name="TextBox 134"/>
            <p:cNvSpPr txBox="1"/>
            <p:nvPr/>
          </p:nvSpPr>
          <p:spPr>
            <a:xfrm>
              <a:off x="11084915" y="4597718"/>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a:t>
              </a:r>
            </a:p>
          </p:txBody>
        </p:sp>
        <p:sp>
          <p:nvSpPr>
            <p:cNvPr id="135" name="TextBox 135"/>
            <p:cNvSpPr txBox="1"/>
            <p:nvPr/>
          </p:nvSpPr>
          <p:spPr>
            <a:xfrm>
              <a:off x="10594136" y="5063490"/>
              <a:ext cx="1100229" cy="352044"/>
            </a:xfrm>
            <a:prstGeom prst="rect">
              <a:avLst/>
            </a:prstGeom>
            <a:noFill/>
            <a:ln>
              <a:noFill/>
            </a:ln>
          </p:spPr>
          <p:txBody>
            <a:bodyPr wrap="none" lIns="0" tIns="0" rIns="0" bIns="0" anchor="t" anchorCtr="0">
              <a:spAutoFit/>
            </a:bodyPr>
            <a:lstStyle/>
            <a:p>
              <a:pPr algn="ctr"/>
              <a:r>
                <a:rPr lang="zh-CN" sz="1800" b="1" dirty="0">
                  <a:solidFill>
                    <a:srgbClr val="E2624C"/>
                  </a:solidFill>
                  <a:latin typeface="+mn-lt"/>
                  <a:ea typeface="+mn-ea"/>
                  <a:cs typeface="+mn-cs"/>
                </a:rPr>
                <a:t>3,000万​</a:t>
              </a:r>
            </a:p>
          </p:txBody>
        </p:sp>
        <p:sp>
          <p:nvSpPr>
            <p:cNvPr id="136" name="TextBox 136"/>
            <p:cNvSpPr txBox="1"/>
            <p:nvPr/>
          </p:nvSpPr>
          <p:spPr>
            <a:xfrm>
              <a:off x="10660444" y="5435441"/>
              <a:ext cx="967613"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543E3A"/>
                  </a:solidFill>
                  <a:latin typeface="+mn-lt"/>
                  <a:ea typeface="+mn-ea"/>
                  <a:cs typeface="+mn-cs"/>
                </a:rPr>
                <a:t>资产达到300万的中​</a:t>
              </a:r>
              <a:br/>
              <a:r>
                <a:rPr lang="zh-CN" sz="820" dirty="0">
                  <a:solidFill>
                    <a:srgbClr val="543E3A"/>
                  </a:solidFill>
                  <a:latin typeface="+mn-lt"/>
                  <a:ea typeface="+mn-ea"/>
                  <a:cs typeface="+mn-cs"/>
                </a:rPr>
                <a:t>产家庭</a:t>
              </a:r>
            </a:p>
          </p:txBody>
        </p:sp>
      </p:gr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link-1"/>
          <p:cNvSpPr/>
          <p:nvPr/>
        </p:nvSpPr>
        <p:spPr>
          <a:xfrm>
            <a:off x="2714625" y="2393950"/>
            <a:ext cx="447675" cy="425450"/>
          </a:xfrm>
          <a:custGeom>
            <a:avLst/>
            <a:gdLst/>
            <a:ahLst/>
            <a:cxnLst/>
            <a:rect l="l" t="t" r="r" b="b"/>
            <a:pathLst>
              <a:path w="447675" h="425450">
                <a:moveTo>
                  <a:pt x="0" y="425450"/>
                </a:moveTo>
                <a:cubicBezTo>
                  <a:pt x="209550" y="107950"/>
                  <a:pt x="358775" y="0"/>
                  <a:pt x="447675" y="101600"/>
                </a:cubicBezTo>
              </a:path>
            </a:pathLst>
          </a:custGeom>
          <a:noFill/>
          <a:ln w="28575">
            <a:solidFill>
              <a:srgbClr val="ECC1B8"/>
            </a:solidFill>
            <a:tailEnd type="triangle" w="lg" len="lg"/>
          </a:ln>
        </p:spPr>
      </p:sp>
      <p:sp>
        <p:nvSpPr>
          <p:cNvPr id="3" name="link-2"/>
          <p:cNvSpPr/>
          <p:nvPr/>
        </p:nvSpPr>
        <p:spPr>
          <a:xfrm>
            <a:off x="5476875" y="1784350"/>
            <a:ext cx="447675" cy="425450"/>
          </a:xfrm>
          <a:custGeom>
            <a:avLst/>
            <a:gdLst/>
            <a:ahLst/>
            <a:cxnLst/>
            <a:rect l="l" t="t" r="r" b="b"/>
            <a:pathLst>
              <a:path w="447675" h="425450">
                <a:moveTo>
                  <a:pt x="0" y="425450"/>
                </a:moveTo>
                <a:cubicBezTo>
                  <a:pt x="209550" y="107950"/>
                  <a:pt x="358775" y="0"/>
                  <a:pt x="447675" y="101600"/>
                </a:cubicBezTo>
              </a:path>
            </a:pathLst>
          </a:custGeom>
          <a:noFill/>
          <a:ln w="28575">
            <a:solidFill>
              <a:srgbClr val="ECC1B8"/>
            </a:solidFill>
            <a:tailEnd type="triangle" w="lg" len="lg"/>
          </a:ln>
        </p:spPr>
      </p:sp>
      <p:sp>
        <p:nvSpPr>
          <p:cNvPr id="4" name="link-3"/>
          <p:cNvSpPr/>
          <p:nvPr/>
        </p:nvSpPr>
        <p:spPr>
          <a:xfrm>
            <a:off x="8239125" y="1193800"/>
            <a:ext cx="447675" cy="425450"/>
          </a:xfrm>
          <a:custGeom>
            <a:avLst/>
            <a:gdLst/>
            <a:ahLst/>
            <a:cxnLst/>
            <a:rect l="l" t="t" r="r" b="b"/>
            <a:pathLst>
              <a:path w="447675" h="425450">
                <a:moveTo>
                  <a:pt x="0" y="425450"/>
                </a:moveTo>
                <a:cubicBezTo>
                  <a:pt x="209550" y="107950"/>
                  <a:pt x="358775" y="0"/>
                  <a:pt x="447675" y="101600"/>
                </a:cubicBezTo>
              </a:path>
            </a:pathLst>
          </a:custGeom>
          <a:noFill/>
          <a:ln w="28575">
            <a:solidFill>
              <a:srgbClr val="ECC1B8"/>
            </a:solidFill>
            <a:tailEnd type="triangle" w="lg" len="lg"/>
          </a:ln>
        </p:spPr>
      </p:sp>
      <p:grpSp>
        <p:nvGrpSpPr>
          <p:cNvPr id="9" name="page-header"/>
          <p:cNvGrpSpPr/>
          <p:nvPr/>
        </p:nvGrpSpPr>
        <p:grpSpPr>
          <a:xfrm>
            <a:off x="0" y="0"/>
            <a:ext cx="5905500" cy="542925"/>
            <a:chOff x="0" y="0"/>
            <a:chExt cx="5905500" cy="542925"/>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6" name="TextBox 6"/>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63</a:t>
              </a:r>
            </a:p>
          </p:txBody>
        </p:sp>
        <p:sp>
          <p:nvSpPr>
            <p:cNvPr id="7" name="TextBox 7"/>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运动品牌发展历程​</a:t>
              </a:r>
            </a:p>
          </p:txBody>
        </p:sp>
        <p:sp>
          <p:nvSpPr>
            <p:cNvPr id="8" name="Line 8"/>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31" name="illustration"/>
          <p:cNvGrpSpPr/>
          <p:nvPr/>
        </p:nvGrpSpPr>
        <p:grpSpPr>
          <a:xfrm>
            <a:off x="571500" y="1109662"/>
            <a:ext cx="5048250" cy="1023938"/>
            <a:chOff x="571500" y="1109662"/>
            <a:chExt cx="5048250" cy="1023938"/>
          </a:xfrm>
        </p:grpSpPr>
        <p:sp>
          <p:nvSpPr>
            <p:cNvPr id="10" name="Line 10"/>
            <p:cNvSpPr/>
            <p:nvPr/>
          </p:nvSpPr>
          <p:spPr>
            <a:xfrm>
              <a:off x="571500" y="1123950"/>
              <a:ext cx="5048250" cy="9525"/>
            </a:xfrm>
            <a:custGeom>
              <a:avLst/>
              <a:gdLst/>
              <a:ahLst/>
              <a:cxnLst/>
              <a:rect l="l" t="t" r="r" b="b"/>
              <a:pathLst>
                <a:path w="5048250" h="9525">
                  <a:moveTo>
                    <a:pt x="0" y="0"/>
                  </a:moveTo>
                  <a:lnTo>
                    <a:pt x="5048250" y="0"/>
                  </a:lnTo>
                </a:path>
              </a:pathLst>
            </a:custGeom>
            <a:noFill/>
            <a:ln w="38100">
              <a:solidFill>
                <a:srgbClr val="EEF1FB"/>
              </a:solidFill>
            </a:ln>
          </p:spPr>
        </p:sp>
        <p:sp>
          <p:nvSpPr>
            <p:cNvPr id="11" name="Line 11"/>
            <p:cNvSpPr/>
            <p:nvPr/>
          </p:nvSpPr>
          <p:spPr>
            <a:xfrm>
              <a:off x="571500" y="1428750"/>
              <a:ext cx="5048250" cy="9525"/>
            </a:xfrm>
            <a:custGeom>
              <a:avLst/>
              <a:gdLst/>
              <a:ahLst/>
              <a:cxnLst/>
              <a:rect l="l" t="t" r="r" b="b"/>
              <a:pathLst>
                <a:path w="5048250" h="9525">
                  <a:moveTo>
                    <a:pt x="0" y="0"/>
                  </a:moveTo>
                  <a:lnTo>
                    <a:pt x="5048250" y="0"/>
                  </a:lnTo>
                </a:path>
              </a:pathLst>
            </a:custGeom>
            <a:noFill/>
            <a:ln w="38100">
              <a:solidFill>
                <a:srgbClr val="EEF1FB"/>
              </a:solidFill>
            </a:ln>
          </p:spPr>
        </p:sp>
        <p:sp>
          <p:nvSpPr>
            <p:cNvPr id="12" name="Line 12"/>
            <p:cNvSpPr/>
            <p:nvPr/>
          </p:nvSpPr>
          <p:spPr>
            <a:xfrm>
              <a:off x="571500" y="1733550"/>
              <a:ext cx="5048250" cy="9525"/>
            </a:xfrm>
            <a:custGeom>
              <a:avLst/>
              <a:gdLst/>
              <a:ahLst/>
              <a:cxnLst/>
              <a:rect l="l" t="t" r="r" b="b"/>
              <a:pathLst>
                <a:path w="5048250" h="9525">
                  <a:moveTo>
                    <a:pt x="0" y="0"/>
                  </a:moveTo>
                  <a:lnTo>
                    <a:pt x="5048250" y="0"/>
                  </a:lnTo>
                </a:path>
              </a:pathLst>
            </a:custGeom>
            <a:noFill/>
            <a:ln w="38100">
              <a:solidFill>
                <a:srgbClr val="EEF1FB"/>
              </a:solidFill>
            </a:ln>
          </p:spPr>
        </p:sp>
        <p:sp>
          <p:nvSpPr>
            <p:cNvPr id="13" name="Ellipse 13"/>
            <p:cNvSpPr/>
            <p:nvPr/>
          </p:nvSpPr>
          <p:spPr>
            <a:xfrm>
              <a:off x="1200150" y="1676400"/>
              <a:ext cx="457200" cy="457200"/>
            </a:xfrm>
            <a:prstGeom prst="ellipse">
              <a:avLst/>
            </a:prstGeom>
            <a:noFill/>
            <a:ln w="28575">
              <a:solidFill>
                <a:srgbClr val="C45F4A"/>
              </a:solidFill>
            </a:ln>
          </p:spPr>
        </p:sp>
        <p:sp>
          <p:nvSpPr>
            <p:cNvPr id="14" name="Ellipse 14"/>
            <p:cNvSpPr/>
            <p:nvPr/>
          </p:nvSpPr>
          <p:spPr>
            <a:xfrm>
              <a:off x="1885950" y="1676400"/>
              <a:ext cx="457200" cy="457200"/>
            </a:xfrm>
            <a:prstGeom prst="ellipse">
              <a:avLst/>
            </a:prstGeom>
            <a:noFill/>
            <a:ln w="28575">
              <a:solidFill>
                <a:srgbClr val="C45F4A"/>
              </a:solidFill>
            </a:ln>
          </p:spPr>
        </p:sp>
        <p:sp>
          <p:nvSpPr>
            <p:cNvPr id="15" name="Line 15"/>
            <p:cNvSpPr/>
            <p:nvPr/>
          </p:nvSpPr>
          <p:spPr>
            <a:xfrm>
              <a:off x="1428750" y="1524000"/>
              <a:ext cx="342900" cy="381000"/>
            </a:xfrm>
            <a:custGeom>
              <a:avLst/>
              <a:gdLst/>
              <a:ahLst/>
              <a:cxnLst/>
              <a:rect l="l" t="t" r="r" b="b"/>
              <a:pathLst>
                <a:path w="342900" h="381000">
                  <a:moveTo>
                    <a:pt x="0" y="381000"/>
                  </a:moveTo>
                  <a:lnTo>
                    <a:pt x="342900" y="0"/>
                  </a:lnTo>
                </a:path>
              </a:pathLst>
            </a:custGeom>
            <a:noFill/>
            <a:ln w="28575">
              <a:solidFill>
                <a:srgbClr val="C45F4A"/>
              </a:solidFill>
            </a:ln>
          </p:spPr>
        </p:sp>
        <p:sp>
          <p:nvSpPr>
            <p:cNvPr id="16" name="Line 16"/>
            <p:cNvSpPr/>
            <p:nvPr/>
          </p:nvSpPr>
          <p:spPr>
            <a:xfrm>
              <a:off x="1771650" y="1524000"/>
              <a:ext cx="342900" cy="381000"/>
            </a:xfrm>
            <a:custGeom>
              <a:avLst/>
              <a:gdLst/>
              <a:ahLst/>
              <a:cxnLst/>
              <a:rect l="l" t="t" r="r" b="b"/>
              <a:pathLst>
                <a:path w="342900" h="381000">
                  <a:moveTo>
                    <a:pt x="0" y="0"/>
                  </a:moveTo>
                  <a:lnTo>
                    <a:pt x="342900" y="381000"/>
                  </a:lnTo>
                </a:path>
              </a:pathLst>
            </a:custGeom>
            <a:noFill/>
            <a:ln w="28575">
              <a:solidFill>
                <a:srgbClr val="C45F4A"/>
              </a:solidFill>
            </a:ln>
          </p:spPr>
        </p:sp>
        <p:grpSp>
          <p:nvGrpSpPr>
            <p:cNvPr id="21" name="Group 21"/>
            <p:cNvGrpSpPr/>
            <p:nvPr/>
          </p:nvGrpSpPr>
          <p:grpSpPr>
            <a:xfrm>
              <a:off x="1643062" y="1109662"/>
              <a:ext cx="257175" cy="257176"/>
              <a:chOff x="1643062" y="1109662"/>
              <a:chExt cx="257175" cy="257176"/>
            </a:xfrm>
          </p:grpSpPr>
          <p:sp>
            <p:nvSpPr>
              <p:cNvPr id="17" name="Freeform 17"/>
              <p:cNvSpPr/>
              <p:nvPr/>
            </p:nvSpPr>
            <p:spPr>
              <a:xfrm>
                <a:off x="1671638" y="11096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C46D5B"/>
                </a:solidFill>
              </a:ln>
            </p:spPr>
          </p:sp>
          <p:sp>
            <p:nvSpPr>
              <p:cNvPr id="18" name="Freeform 18"/>
              <p:cNvSpPr/>
              <p:nvPr/>
            </p:nvSpPr>
            <p:spPr>
              <a:xfrm>
                <a:off x="1643062" y="128111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C46D5B"/>
                </a:solidFill>
              </a:ln>
            </p:spPr>
          </p:sp>
          <p:sp>
            <p:nvSpPr>
              <p:cNvPr id="19" name="Freeform 19"/>
              <p:cNvSpPr/>
              <p:nvPr/>
            </p:nvSpPr>
            <p:spPr>
              <a:xfrm>
                <a:off x="1828800" y="111152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C46D5B"/>
                </a:solidFill>
              </a:ln>
            </p:spPr>
          </p:sp>
          <p:sp>
            <p:nvSpPr>
              <p:cNvPr id="20" name="Freeform 20"/>
              <p:cNvSpPr/>
              <p:nvPr/>
            </p:nvSpPr>
            <p:spPr>
              <a:xfrm>
                <a:off x="1857375" y="128325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C46D5B"/>
                </a:solidFill>
              </a:ln>
            </p:spPr>
          </p:sp>
        </p:grpSp>
        <p:sp>
          <p:nvSpPr>
            <p:cNvPr id="22" name="Ellipse 22"/>
            <p:cNvSpPr/>
            <p:nvPr/>
          </p:nvSpPr>
          <p:spPr>
            <a:xfrm>
              <a:off x="3009900" y="1676400"/>
              <a:ext cx="457200" cy="457200"/>
            </a:xfrm>
            <a:prstGeom prst="ellipse">
              <a:avLst/>
            </a:prstGeom>
            <a:noFill/>
            <a:ln w="28575">
              <a:solidFill>
                <a:srgbClr val="E8634C"/>
              </a:solidFill>
            </a:ln>
          </p:spPr>
        </p:sp>
        <p:sp>
          <p:nvSpPr>
            <p:cNvPr id="23" name="Ellipse 23"/>
            <p:cNvSpPr/>
            <p:nvPr/>
          </p:nvSpPr>
          <p:spPr>
            <a:xfrm>
              <a:off x="3695700" y="1676400"/>
              <a:ext cx="457200" cy="457200"/>
            </a:xfrm>
            <a:prstGeom prst="ellipse">
              <a:avLst/>
            </a:prstGeom>
            <a:noFill/>
            <a:ln w="28575">
              <a:solidFill>
                <a:srgbClr val="E8634C"/>
              </a:solidFill>
            </a:ln>
          </p:spPr>
        </p:sp>
        <p:sp>
          <p:nvSpPr>
            <p:cNvPr id="24" name="Line 24"/>
            <p:cNvSpPr/>
            <p:nvPr/>
          </p:nvSpPr>
          <p:spPr>
            <a:xfrm>
              <a:off x="3238500" y="1524000"/>
              <a:ext cx="342900" cy="381000"/>
            </a:xfrm>
            <a:custGeom>
              <a:avLst/>
              <a:gdLst/>
              <a:ahLst/>
              <a:cxnLst/>
              <a:rect l="l" t="t" r="r" b="b"/>
              <a:pathLst>
                <a:path w="342900" h="381000">
                  <a:moveTo>
                    <a:pt x="0" y="381000"/>
                  </a:moveTo>
                  <a:lnTo>
                    <a:pt x="342900" y="0"/>
                  </a:lnTo>
                </a:path>
              </a:pathLst>
            </a:custGeom>
            <a:noFill/>
            <a:ln w="28575">
              <a:solidFill>
                <a:srgbClr val="E8634C"/>
              </a:solidFill>
            </a:ln>
          </p:spPr>
        </p:sp>
        <p:sp>
          <p:nvSpPr>
            <p:cNvPr id="25" name="Line 25"/>
            <p:cNvSpPr/>
            <p:nvPr/>
          </p:nvSpPr>
          <p:spPr>
            <a:xfrm>
              <a:off x="3581400" y="1524000"/>
              <a:ext cx="342900" cy="381000"/>
            </a:xfrm>
            <a:custGeom>
              <a:avLst/>
              <a:gdLst/>
              <a:ahLst/>
              <a:cxnLst/>
              <a:rect l="l" t="t" r="r" b="b"/>
              <a:pathLst>
                <a:path w="342900" h="381000">
                  <a:moveTo>
                    <a:pt x="0" y="0"/>
                  </a:moveTo>
                  <a:lnTo>
                    <a:pt x="342900" y="381000"/>
                  </a:lnTo>
                </a:path>
              </a:pathLst>
            </a:custGeom>
            <a:noFill/>
            <a:ln w="28575">
              <a:solidFill>
                <a:srgbClr val="E8634C"/>
              </a:solidFill>
            </a:ln>
          </p:spPr>
        </p:sp>
        <p:grpSp>
          <p:nvGrpSpPr>
            <p:cNvPr id="30" name="Group 30"/>
            <p:cNvGrpSpPr/>
            <p:nvPr/>
          </p:nvGrpSpPr>
          <p:grpSpPr>
            <a:xfrm>
              <a:off x="3452812" y="1109662"/>
              <a:ext cx="257175" cy="257176"/>
              <a:chOff x="3452812" y="1109662"/>
              <a:chExt cx="257175" cy="257176"/>
            </a:xfrm>
          </p:grpSpPr>
          <p:sp>
            <p:nvSpPr>
              <p:cNvPr id="26" name="Freeform 26"/>
              <p:cNvSpPr/>
              <p:nvPr/>
            </p:nvSpPr>
            <p:spPr>
              <a:xfrm>
                <a:off x="3481388" y="110966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E8634C"/>
                </a:solidFill>
              </a:ln>
            </p:spPr>
          </p:sp>
          <p:sp>
            <p:nvSpPr>
              <p:cNvPr id="27" name="Freeform 27"/>
              <p:cNvSpPr/>
              <p:nvPr/>
            </p:nvSpPr>
            <p:spPr>
              <a:xfrm>
                <a:off x="3452812" y="128111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E8634C"/>
                </a:solidFill>
              </a:ln>
            </p:spPr>
          </p:sp>
          <p:sp>
            <p:nvSpPr>
              <p:cNvPr id="28" name="Freeform 28"/>
              <p:cNvSpPr/>
              <p:nvPr/>
            </p:nvSpPr>
            <p:spPr>
              <a:xfrm>
                <a:off x="3638550" y="111152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E8634C"/>
                </a:solidFill>
              </a:ln>
            </p:spPr>
          </p:sp>
          <p:sp>
            <p:nvSpPr>
              <p:cNvPr id="29" name="Freeform 29"/>
              <p:cNvSpPr/>
              <p:nvPr/>
            </p:nvSpPr>
            <p:spPr>
              <a:xfrm>
                <a:off x="3667125" y="128325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E8634C"/>
                </a:solidFill>
              </a:ln>
            </p:spPr>
          </p:sp>
        </p:grpSp>
      </p:grpSp>
      <p:grpSp>
        <p:nvGrpSpPr>
          <p:cNvPr id="47" name="stage-1"/>
          <p:cNvGrpSpPr/>
          <p:nvPr/>
        </p:nvGrpSpPr>
        <p:grpSpPr>
          <a:xfrm>
            <a:off x="428625" y="2857500"/>
            <a:ext cx="2571750" cy="3714750"/>
            <a:chOff x="428625" y="2857500"/>
            <a:chExt cx="2571750" cy="3714750"/>
          </a:xfrm>
        </p:grpSpPr>
        <p:sp>
          <p:nvSpPr>
            <p:cNvPr id="32" name="Rectangle 32"/>
            <p:cNvSpPr/>
            <p:nvPr/>
          </p:nvSpPr>
          <p:spPr>
            <a:xfrm>
              <a:off x="428625" y="2857500"/>
              <a:ext cx="2571750" cy="3714750"/>
            </a:xfrm>
            <a:prstGeom prst="roundRect">
              <a:avLst>
                <a:gd name="adj" fmla="val 2963"/>
              </a:avLst>
            </a:prstGeom>
            <a:solidFill>
              <a:srgbClr val="FFFFFF"/>
            </a:solidFill>
            <a:ln>
              <a:noFill/>
            </a:ln>
            <a:effectLst>
              <a:outerShdw blurRad="152400" dist="57150" dir="5400000" algn="ctr" rotWithShape="0">
                <a:srgbClr val="C45F4A">
                  <a:alpha val="7500"/>
                </a:srgbClr>
              </a:outerShdw>
            </a:effectLst>
          </p:spPr>
        </p:sp>
        <p:sp>
          <p:nvSpPr>
            <p:cNvPr id="33" name="Rectangle 33"/>
            <p:cNvSpPr/>
            <p:nvPr/>
          </p:nvSpPr>
          <p:spPr>
            <a:xfrm>
              <a:off x="428625" y="2857500"/>
              <a:ext cx="2571750" cy="571500"/>
            </a:xfrm>
            <a:prstGeom prst="roundRect">
              <a:avLst>
                <a:gd name="adj" fmla="val 13333"/>
              </a:avLst>
            </a:prstGeom>
            <a:gradFill>
              <a:gsLst>
                <a:gs pos="0">
                  <a:srgbClr val="D87E6B"/>
                </a:gs>
                <a:gs pos="100000">
                  <a:srgbClr val="C45F4A"/>
                </a:gs>
              </a:gsLst>
              <a:lin ang="5400000" scaled="1"/>
            </a:gradFill>
            <a:ln>
              <a:noFill/>
            </a:ln>
          </p:spPr>
        </p:sp>
        <p:sp>
          <p:nvSpPr>
            <p:cNvPr id="34" name="TextBox 34"/>
            <p:cNvSpPr txBox="1"/>
            <p:nvPr/>
          </p:nvSpPr>
          <p:spPr>
            <a:xfrm>
              <a:off x="1344168" y="296894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萌芽阶段</a:t>
              </a:r>
            </a:p>
          </p:txBody>
        </p:sp>
        <p:sp>
          <p:nvSpPr>
            <p:cNvPr id="35" name="TextBox 35"/>
            <p:cNvSpPr txBox="1"/>
            <p:nvPr/>
          </p:nvSpPr>
          <p:spPr>
            <a:xfrm>
              <a:off x="1219048" y="3217545"/>
              <a:ext cx="990905"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1990年 - 2000年​</a:t>
              </a:r>
            </a:p>
          </p:txBody>
        </p:sp>
        <p:sp>
          <p:nvSpPr>
            <p:cNvPr id="36" name="TextBox 36"/>
            <p:cNvSpPr txBox="1"/>
            <p:nvPr/>
          </p:nvSpPr>
          <p:spPr>
            <a:xfrm>
              <a:off x="661988" y="3625691"/>
              <a:ext cx="892632" cy="161925"/>
            </a:xfrm>
            <a:prstGeom prst="rect">
              <a:avLst/>
            </a:prstGeom>
            <a:noFill/>
            <a:ln>
              <a:noFill/>
            </a:ln>
          </p:spPr>
          <p:txBody>
            <a:bodyPr wrap="none" lIns="0" tIns="0" rIns="0" bIns="0" anchor="t" anchorCtr="0">
              <a:spAutoFit/>
            </a:bodyPr>
            <a:lstStyle/>
            <a:p>
              <a:pPr algn="l"/>
              <a:r>
                <a:rPr lang="zh-CN" sz="820" dirty="0">
                  <a:solidFill>
                    <a:srgbClr val="88706B"/>
                  </a:solidFill>
                  <a:latin typeface="+mn-lt"/>
                  <a:ea typeface="+mn-ea"/>
                  <a:cs typeface="+mn-cs"/>
                </a:rPr>
                <a:t>中国运动参与人次</a:t>
              </a:r>
            </a:p>
          </p:txBody>
        </p:sp>
        <p:sp>
          <p:nvSpPr>
            <p:cNvPr id="37" name="Line 37"/>
            <p:cNvSpPr/>
            <p:nvPr/>
          </p:nvSpPr>
          <p:spPr>
            <a:xfrm flipV="1">
              <a:off x="1238250" y="3733800"/>
              <a:ext cx="1219200" cy="552450"/>
            </a:xfrm>
            <a:prstGeom prst="line">
              <a:avLst/>
            </a:prstGeom>
            <a:noFill/>
            <a:ln w="14288">
              <a:solidFill>
                <a:srgbClr val="C45F4A"/>
              </a:solidFill>
              <a:custDash>
                <a:ds d="200000" sp="200000"/>
              </a:custDash>
              <a:tailEnd type="triangle" w="lg" len="lg"/>
            </a:ln>
          </p:spPr>
        </p:sp>
        <p:grpSp>
          <p:nvGrpSpPr>
            <p:cNvPr id="39" name="Group 39"/>
            <p:cNvGrpSpPr/>
            <p:nvPr/>
          </p:nvGrpSpPr>
          <p:grpSpPr>
            <a:xfrm rot="-1560000">
              <a:off x="1463534" y="3880636"/>
              <a:ext cx="401254" cy="133350"/>
              <a:chOff x="1466248" y="3880009"/>
              <a:chExt cx="401254" cy="133350"/>
            </a:xfrm>
          </p:grpSpPr>
          <p:sp>
            <p:nvSpPr>
              <p:cNvPr id="38" name="TextBox 38"/>
              <p:cNvSpPr txBox="1"/>
              <p:nvPr/>
            </p:nvSpPr>
            <p:spPr>
              <a:xfrm>
                <a:off x="1466248" y="3880009"/>
                <a:ext cx="401254" cy="133350"/>
              </a:xfrm>
              <a:prstGeom prst="rect">
                <a:avLst/>
              </a:prstGeom>
              <a:noFill/>
              <a:ln>
                <a:noFill/>
              </a:ln>
            </p:spPr>
            <p:txBody>
              <a:bodyPr wrap="none" lIns="0" tIns="0" rIns="0" bIns="0" anchor="t" anchorCtr="0">
                <a:spAutoFit/>
              </a:bodyPr>
              <a:lstStyle/>
              <a:p>
                <a:pPr algn="ctr"/>
                <a:r>
                  <a:rPr lang="en-US" sz="680" dirty="0">
                    <a:solidFill>
                      <a:srgbClr val="C45F4A"/>
                    </a:solidFill>
                    <a:latin typeface="+mn-lt"/>
                    <a:ea typeface="+mn-ea"/>
                    <a:cs typeface="+mn-cs"/>
                  </a:rPr>
                  <a:t>CARG~5%</a:t>
                </a:r>
              </a:p>
            </p:txBody>
          </p:sp>
        </p:grpSp>
        <p:sp>
          <p:nvSpPr>
            <p:cNvPr id="40" name="Ellipse 40"/>
            <p:cNvSpPr/>
            <p:nvPr/>
          </p:nvSpPr>
          <p:spPr>
            <a:xfrm>
              <a:off x="695325" y="4171950"/>
              <a:ext cx="514350" cy="514350"/>
            </a:xfrm>
            <a:prstGeom prst="ellipse">
              <a:avLst/>
            </a:prstGeom>
            <a:solidFill>
              <a:srgbClr val="C45F4A"/>
            </a:solidFill>
            <a:ln>
              <a:noFill/>
            </a:ln>
          </p:spPr>
        </p:sp>
        <p:sp>
          <p:nvSpPr>
            <p:cNvPr id="41" name="TextBox 41"/>
            <p:cNvSpPr txBox="1"/>
            <p:nvPr/>
          </p:nvSpPr>
          <p:spPr>
            <a:xfrm>
              <a:off x="753885" y="4379595"/>
              <a:ext cx="397231"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~50万​</a:t>
              </a:r>
            </a:p>
          </p:txBody>
        </p:sp>
        <p:sp>
          <p:nvSpPr>
            <p:cNvPr id="42" name="TextBox 42"/>
            <p:cNvSpPr txBox="1"/>
            <p:nvPr/>
          </p:nvSpPr>
          <p:spPr>
            <a:xfrm>
              <a:off x="814464" y="4779645"/>
              <a:ext cx="2760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1990</a:t>
              </a:r>
            </a:p>
          </p:txBody>
        </p:sp>
        <p:sp>
          <p:nvSpPr>
            <p:cNvPr id="43" name="Ellipse 43"/>
            <p:cNvSpPr/>
            <p:nvPr/>
          </p:nvSpPr>
          <p:spPr>
            <a:xfrm>
              <a:off x="1666875" y="3762375"/>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44" name="TextBox 44"/>
            <p:cNvSpPr txBox="1"/>
            <p:nvPr/>
          </p:nvSpPr>
          <p:spPr>
            <a:xfrm>
              <a:off x="1756219" y="4072414"/>
              <a:ext cx="583312"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~80万​</a:t>
              </a:r>
            </a:p>
          </p:txBody>
        </p:sp>
        <p:sp>
          <p:nvSpPr>
            <p:cNvPr id="45" name="TextBox 45"/>
            <p:cNvSpPr txBox="1"/>
            <p:nvPr/>
          </p:nvSpPr>
          <p:spPr>
            <a:xfrm>
              <a:off x="1909839" y="4627245"/>
              <a:ext cx="2760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2000</a:t>
              </a:r>
            </a:p>
          </p:txBody>
        </p:sp>
        <p:sp>
          <p:nvSpPr>
            <p:cNvPr id="46" name="TextBox 46"/>
            <p:cNvSpPr txBox="1"/>
            <p:nvPr/>
          </p:nvSpPr>
          <p:spPr>
            <a:xfrm>
              <a:off x="595312" y="5098018"/>
              <a:ext cx="1740662" cy="740569"/>
            </a:xfrm>
            <a:prstGeom prst="rect">
              <a:avLst/>
            </a:prstGeom>
            <a:noFill/>
            <a:ln>
              <a:noFill/>
            </a:ln>
          </p:spPr>
          <p:txBody>
            <a:bodyPr wrap="none" lIns="0" tIns="0" rIns="0" bIns="0" anchor="t" anchorCtr="0">
              <a:spAutoFit/>
            </a:bodyPr>
            <a:lstStyle/>
            <a:p>
              <a:pPr algn="l" marL="92837" indent="-92837">
                <a:lnSpc>
                  <a:spcPts val="1200"/>
                </a:lnSpc>
                <a:buClr>
                  <a:srgbClr val="543E3A"/>
                </a:buClr>
                <a:buSzTx/>
                <a:buFontTx/>
                <a:buChar char="•"/>
              </a:pPr>
              <a:r>
                <a:rPr lang="zh-CN" sz="860" dirty="0">
                  <a:solidFill>
                    <a:srgbClr val="543E3A"/>
                  </a:solidFill>
                  <a:latin typeface="+mn-lt"/>
                  <a:ea typeface="+mn-ea"/>
                  <a:cs typeface="+mn-cs"/>
                </a:rPr>
                <a:t>随着国内消费者运动用品需求的萌</a:t>
              </a:r>
              <a:br/>
              <a:r>
                <a:rPr lang="zh-CN" sz="860" dirty="0">
                  <a:solidFill>
                    <a:srgbClr val="543E3A"/>
                  </a:solidFill>
                  <a:latin typeface="+mn-lt"/>
                  <a:ea typeface="+mn-ea"/>
                  <a:cs typeface="+mn-cs"/>
                </a:rPr>
                <a:t>发，大量国产运动品牌创立。</a:t>
              </a:r>
            </a:p>
            <a:p>
              <a:pPr algn="l" marL="92837" indent="-92837">
                <a:lnSpc>
                  <a:spcPts val="1200"/>
                </a:lnSpc>
                <a:spcBef>
                  <a:spcPts val="900"/>
                </a:spcBef>
                <a:buClr>
                  <a:srgbClr val="543E3A"/>
                </a:buClr>
                <a:buSzTx/>
                <a:buFontTx/>
                <a:buChar char="•"/>
              </a:pPr>
              <a:r>
                <a:rPr lang="zh-CN" sz="860" dirty="0">
                  <a:solidFill>
                    <a:srgbClr val="543E3A"/>
                  </a:solidFill>
                  <a:latin typeface="+mn-lt"/>
                  <a:ea typeface="+mn-ea"/>
                  <a:cs typeface="+mn-cs"/>
                </a:rPr>
                <a:t>同时在改革开放的大背景下，许多</a:t>
              </a:r>
              <a:br/>
              <a:r>
                <a:rPr lang="zh-CN" sz="860" dirty="0">
                  <a:solidFill>
                    <a:srgbClr val="543E3A"/>
                  </a:solidFill>
                  <a:latin typeface="+mn-lt"/>
                  <a:ea typeface="+mn-ea"/>
                  <a:cs typeface="+mn-cs"/>
                </a:rPr>
                <a:t>知名外国品牌开始进驻中国。</a:t>
              </a:r>
            </a:p>
          </p:txBody>
        </p:sp>
      </p:grpSp>
      <p:grpSp>
        <p:nvGrpSpPr>
          <p:cNvPr id="63" name="stage-2"/>
          <p:cNvGrpSpPr/>
          <p:nvPr/>
        </p:nvGrpSpPr>
        <p:grpSpPr>
          <a:xfrm>
            <a:off x="3190875" y="2238375"/>
            <a:ext cx="2571750" cy="4333875"/>
            <a:chOff x="3190875" y="2238375"/>
            <a:chExt cx="2571750" cy="4333875"/>
          </a:xfrm>
        </p:grpSpPr>
        <p:sp>
          <p:nvSpPr>
            <p:cNvPr id="48" name="Rectangle 48"/>
            <p:cNvSpPr/>
            <p:nvPr/>
          </p:nvSpPr>
          <p:spPr>
            <a:xfrm>
              <a:off x="3190875" y="2238375"/>
              <a:ext cx="2571750" cy="4333875"/>
            </a:xfrm>
            <a:prstGeom prst="roundRect">
              <a:avLst>
                <a:gd name="adj" fmla="val 2963"/>
              </a:avLst>
            </a:prstGeom>
            <a:solidFill>
              <a:srgbClr val="FFFFFF"/>
            </a:solidFill>
            <a:ln>
              <a:noFill/>
            </a:ln>
            <a:effectLst>
              <a:outerShdw blurRad="152400" dist="57150" dir="5400000" algn="ctr" rotWithShape="0">
                <a:srgbClr val="C45F4A">
                  <a:alpha val="7500"/>
                </a:srgbClr>
              </a:outerShdw>
            </a:effectLst>
          </p:spPr>
        </p:sp>
        <p:sp>
          <p:nvSpPr>
            <p:cNvPr id="49" name="Rectangle 49"/>
            <p:cNvSpPr/>
            <p:nvPr/>
          </p:nvSpPr>
          <p:spPr>
            <a:xfrm>
              <a:off x="3190875" y="2238375"/>
              <a:ext cx="2571750" cy="571500"/>
            </a:xfrm>
            <a:prstGeom prst="roundRect">
              <a:avLst>
                <a:gd name="adj" fmla="val 13333"/>
              </a:avLst>
            </a:prstGeom>
            <a:gradFill>
              <a:gsLst>
                <a:gs pos="0">
                  <a:srgbClr val="D87E6B"/>
                </a:gs>
                <a:gs pos="100000">
                  <a:srgbClr val="C45F4A"/>
                </a:gs>
              </a:gsLst>
              <a:lin ang="5400000" scaled="1"/>
            </a:gradFill>
            <a:ln>
              <a:noFill/>
            </a:ln>
          </p:spPr>
        </p:sp>
        <p:sp>
          <p:nvSpPr>
            <p:cNvPr id="50" name="TextBox 50"/>
            <p:cNvSpPr txBox="1"/>
            <p:nvPr/>
          </p:nvSpPr>
          <p:spPr>
            <a:xfrm>
              <a:off x="3924681" y="2349818"/>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高速发展阶段</a:t>
              </a:r>
            </a:p>
          </p:txBody>
        </p:sp>
        <p:sp>
          <p:nvSpPr>
            <p:cNvPr id="51" name="TextBox 51"/>
            <p:cNvSpPr txBox="1"/>
            <p:nvPr/>
          </p:nvSpPr>
          <p:spPr>
            <a:xfrm>
              <a:off x="3981298" y="2598420"/>
              <a:ext cx="990905"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2001年 - 2010年​</a:t>
              </a:r>
            </a:p>
          </p:txBody>
        </p:sp>
        <p:sp>
          <p:nvSpPr>
            <p:cNvPr id="52" name="TextBox 52"/>
            <p:cNvSpPr txBox="1"/>
            <p:nvPr/>
          </p:nvSpPr>
          <p:spPr>
            <a:xfrm>
              <a:off x="3424238" y="3006566"/>
              <a:ext cx="892632" cy="161925"/>
            </a:xfrm>
            <a:prstGeom prst="rect">
              <a:avLst/>
            </a:prstGeom>
            <a:noFill/>
            <a:ln>
              <a:noFill/>
            </a:ln>
          </p:spPr>
          <p:txBody>
            <a:bodyPr wrap="none" lIns="0" tIns="0" rIns="0" bIns="0" anchor="t" anchorCtr="0">
              <a:spAutoFit/>
            </a:bodyPr>
            <a:lstStyle/>
            <a:p>
              <a:pPr algn="l"/>
              <a:r>
                <a:rPr lang="zh-CN" sz="820" dirty="0">
                  <a:solidFill>
                    <a:srgbClr val="88706B"/>
                  </a:solidFill>
                  <a:latin typeface="+mn-lt"/>
                  <a:ea typeface="+mn-ea"/>
                  <a:cs typeface="+mn-cs"/>
                </a:rPr>
                <a:t>中国运动参与人次</a:t>
              </a:r>
            </a:p>
          </p:txBody>
        </p:sp>
        <p:sp>
          <p:nvSpPr>
            <p:cNvPr id="53" name="Line 53"/>
            <p:cNvSpPr/>
            <p:nvPr/>
          </p:nvSpPr>
          <p:spPr>
            <a:xfrm flipV="1">
              <a:off x="4000500" y="3114675"/>
              <a:ext cx="1219200" cy="552450"/>
            </a:xfrm>
            <a:prstGeom prst="line">
              <a:avLst/>
            </a:prstGeom>
            <a:noFill/>
            <a:ln w="14288">
              <a:solidFill>
                <a:srgbClr val="C45F4A"/>
              </a:solidFill>
              <a:custDash>
                <a:ds d="200000" sp="200000"/>
              </a:custDash>
              <a:tailEnd type="triangle" w="lg" len="lg"/>
            </a:ln>
          </p:spPr>
        </p:sp>
        <p:grpSp>
          <p:nvGrpSpPr>
            <p:cNvPr id="55" name="Group 55"/>
            <p:cNvGrpSpPr/>
            <p:nvPr/>
          </p:nvGrpSpPr>
          <p:grpSpPr>
            <a:xfrm rot="-1560000">
              <a:off x="4225784" y="3261511"/>
              <a:ext cx="401254" cy="133350"/>
              <a:chOff x="4228498" y="3260884"/>
              <a:chExt cx="401254" cy="133350"/>
            </a:xfrm>
          </p:grpSpPr>
          <p:sp>
            <p:nvSpPr>
              <p:cNvPr id="54" name="TextBox 54"/>
              <p:cNvSpPr txBox="1"/>
              <p:nvPr/>
            </p:nvSpPr>
            <p:spPr>
              <a:xfrm>
                <a:off x="4228498" y="3260884"/>
                <a:ext cx="401254" cy="133350"/>
              </a:xfrm>
              <a:prstGeom prst="rect">
                <a:avLst/>
              </a:prstGeom>
              <a:noFill/>
              <a:ln>
                <a:noFill/>
              </a:ln>
            </p:spPr>
            <p:txBody>
              <a:bodyPr wrap="none" lIns="0" tIns="0" rIns="0" bIns="0" anchor="t" anchorCtr="0">
                <a:spAutoFit/>
              </a:bodyPr>
              <a:lstStyle/>
              <a:p>
                <a:pPr algn="ctr"/>
                <a:r>
                  <a:rPr lang="en-US" sz="680" dirty="0">
                    <a:solidFill>
                      <a:srgbClr val="C45F4A"/>
                    </a:solidFill>
                    <a:latin typeface="+mn-lt"/>
                    <a:ea typeface="+mn-ea"/>
                    <a:cs typeface="+mn-cs"/>
                  </a:rPr>
                  <a:t>CARG~5%</a:t>
                </a:r>
              </a:p>
            </p:txBody>
          </p:sp>
        </p:grpSp>
        <p:sp>
          <p:nvSpPr>
            <p:cNvPr id="56" name="Ellipse 56"/>
            <p:cNvSpPr/>
            <p:nvPr/>
          </p:nvSpPr>
          <p:spPr>
            <a:xfrm>
              <a:off x="3457575" y="3552825"/>
              <a:ext cx="514350" cy="514350"/>
            </a:xfrm>
            <a:prstGeom prst="ellipse">
              <a:avLst/>
            </a:prstGeom>
            <a:solidFill>
              <a:srgbClr val="C45F4A"/>
            </a:solidFill>
            <a:ln>
              <a:noFill/>
            </a:ln>
          </p:spPr>
        </p:sp>
        <p:sp>
          <p:nvSpPr>
            <p:cNvPr id="57" name="TextBox 57"/>
            <p:cNvSpPr txBox="1"/>
            <p:nvPr/>
          </p:nvSpPr>
          <p:spPr>
            <a:xfrm>
              <a:off x="3516135" y="3760470"/>
              <a:ext cx="397231"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~80万​</a:t>
              </a:r>
            </a:p>
          </p:txBody>
        </p:sp>
        <p:sp>
          <p:nvSpPr>
            <p:cNvPr id="58" name="TextBox 58"/>
            <p:cNvSpPr txBox="1"/>
            <p:nvPr/>
          </p:nvSpPr>
          <p:spPr>
            <a:xfrm>
              <a:off x="3576714" y="4160520"/>
              <a:ext cx="2760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2001</a:t>
              </a:r>
            </a:p>
          </p:txBody>
        </p:sp>
        <p:sp>
          <p:nvSpPr>
            <p:cNvPr id="59" name="Ellipse 59"/>
            <p:cNvSpPr/>
            <p:nvPr/>
          </p:nvSpPr>
          <p:spPr>
            <a:xfrm>
              <a:off x="4429125" y="3143250"/>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60" name="TextBox 60"/>
            <p:cNvSpPr txBox="1"/>
            <p:nvPr/>
          </p:nvSpPr>
          <p:spPr>
            <a:xfrm>
              <a:off x="4468713" y="3453289"/>
              <a:ext cx="682823"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~700万​</a:t>
              </a:r>
            </a:p>
          </p:txBody>
        </p:sp>
        <p:sp>
          <p:nvSpPr>
            <p:cNvPr id="61" name="TextBox 61"/>
            <p:cNvSpPr txBox="1"/>
            <p:nvPr/>
          </p:nvSpPr>
          <p:spPr>
            <a:xfrm>
              <a:off x="4672089" y="4008120"/>
              <a:ext cx="2760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2010</a:t>
              </a:r>
            </a:p>
          </p:txBody>
        </p:sp>
        <p:sp>
          <p:nvSpPr>
            <p:cNvPr id="62" name="TextBox 62"/>
            <p:cNvSpPr txBox="1"/>
            <p:nvPr/>
          </p:nvSpPr>
          <p:spPr>
            <a:xfrm>
              <a:off x="3357562" y="4478893"/>
              <a:ext cx="1849882" cy="1197769"/>
            </a:xfrm>
            <a:prstGeom prst="rect">
              <a:avLst/>
            </a:prstGeom>
            <a:noFill/>
            <a:ln>
              <a:noFill/>
            </a:ln>
          </p:spPr>
          <p:txBody>
            <a:bodyPr wrap="none" lIns="0" tIns="0" rIns="0" bIns="0" anchor="t" anchorCtr="0">
              <a:spAutoFit/>
            </a:bodyPr>
            <a:lstStyle/>
            <a:p>
              <a:pPr algn="l" marL="92837" indent="-92837">
                <a:lnSpc>
                  <a:spcPts val="1200"/>
                </a:lnSpc>
                <a:buClr>
                  <a:srgbClr val="543E3A"/>
                </a:buClr>
                <a:buSzTx/>
                <a:buFontTx/>
                <a:buChar char="•"/>
              </a:pPr>
              <a:r>
                <a:rPr lang="zh-CN" sz="860" dirty="0">
                  <a:solidFill>
                    <a:srgbClr val="543E3A"/>
                  </a:solidFill>
                  <a:latin typeface="+mn-lt"/>
                  <a:ea typeface="+mn-ea"/>
                  <a:cs typeface="+mn-cs"/>
                </a:rPr>
                <a:t>消费者运动健身热情被奥运会激发，</a:t>
              </a:r>
              <a:br/>
              <a:r>
                <a:rPr lang="zh-CN" sz="860" dirty="0">
                  <a:solidFill>
                    <a:srgbClr val="543E3A"/>
                  </a:solidFill>
                  <a:latin typeface="+mn-lt"/>
                  <a:ea typeface="+mn-ea"/>
                  <a:cs typeface="+mn-cs"/>
                </a:rPr>
                <a:t>对运动用品品类及质量要求提高，</a:t>
              </a:r>
              <a:br/>
              <a:r>
                <a:rPr lang="zh-CN" sz="860" dirty="0">
                  <a:solidFill>
                    <a:srgbClr val="543E3A"/>
                  </a:solidFill>
                  <a:latin typeface="+mn-lt"/>
                  <a:ea typeface="+mn-ea"/>
                  <a:cs typeface="+mn-cs"/>
                </a:rPr>
                <a:t>行业迎来高速发展时期。</a:t>
              </a:r>
            </a:p>
            <a:p>
              <a:pPr algn="l" marL="92837" indent="-92837">
                <a:lnSpc>
                  <a:spcPts val="1200"/>
                </a:lnSpc>
                <a:spcBef>
                  <a:spcPts val="900"/>
                </a:spcBef>
                <a:buClr>
                  <a:srgbClr val="543E3A"/>
                </a:buClr>
                <a:buSzTx/>
                <a:buFontTx/>
                <a:buChar char="•"/>
              </a:pPr>
              <a:r>
                <a:rPr lang="zh-CN" sz="860" dirty="0">
                  <a:solidFill>
                    <a:srgbClr val="543E3A"/>
                  </a:solidFill>
                  <a:latin typeface="+mn-lt"/>
                  <a:ea typeface="+mn-ea"/>
                  <a:cs typeface="+mn-cs"/>
                </a:rPr>
                <a:t>国有品牌一度超越外国品牌，占据</a:t>
              </a:r>
              <a:br/>
              <a:r>
                <a:rPr lang="zh-CN" sz="860" dirty="0">
                  <a:solidFill>
                    <a:srgbClr val="543E3A"/>
                  </a:solidFill>
                  <a:latin typeface="+mn-lt"/>
                  <a:ea typeface="+mn-ea"/>
                  <a:cs typeface="+mn-cs"/>
                </a:rPr>
                <a:t>市场优势地位国内品牌纷纷调整策</a:t>
              </a:r>
              <a:br/>
              <a:r>
                <a:rPr lang="zh-CN" sz="860" dirty="0">
                  <a:solidFill>
                    <a:srgbClr val="543E3A"/>
                  </a:solidFill>
                  <a:latin typeface="+mn-lt"/>
                  <a:ea typeface="+mn-ea"/>
                  <a:cs typeface="+mn-cs"/>
                </a:rPr>
                <a:t>略，重塑品牌形象，细分化差异品</a:t>
              </a:r>
              <a:br/>
              <a:r>
                <a:rPr lang="zh-CN" sz="860" dirty="0">
                  <a:solidFill>
                    <a:srgbClr val="543E3A"/>
                  </a:solidFill>
                  <a:latin typeface="+mn-lt"/>
                  <a:ea typeface="+mn-ea"/>
                  <a:cs typeface="+mn-cs"/>
                </a:rPr>
                <a:t>牌定位。</a:t>
              </a:r>
            </a:p>
          </p:txBody>
        </p:sp>
      </p:grpSp>
      <p:grpSp>
        <p:nvGrpSpPr>
          <p:cNvPr id="79" name="stage-3"/>
          <p:cNvGrpSpPr/>
          <p:nvPr/>
        </p:nvGrpSpPr>
        <p:grpSpPr>
          <a:xfrm>
            <a:off x="5953125" y="1638300"/>
            <a:ext cx="2571750" cy="4933950"/>
            <a:chOff x="5953125" y="1638300"/>
            <a:chExt cx="2571750" cy="4933950"/>
          </a:xfrm>
        </p:grpSpPr>
        <p:sp>
          <p:nvSpPr>
            <p:cNvPr id="64" name="Rectangle 64"/>
            <p:cNvSpPr/>
            <p:nvPr/>
          </p:nvSpPr>
          <p:spPr>
            <a:xfrm>
              <a:off x="5953125" y="1638300"/>
              <a:ext cx="2571750" cy="4933950"/>
            </a:xfrm>
            <a:prstGeom prst="roundRect">
              <a:avLst>
                <a:gd name="adj" fmla="val 2963"/>
              </a:avLst>
            </a:prstGeom>
            <a:solidFill>
              <a:srgbClr val="FFFFFF"/>
            </a:solidFill>
            <a:ln>
              <a:noFill/>
            </a:ln>
            <a:effectLst>
              <a:outerShdw blurRad="152400" dist="57150" dir="5400000" algn="ctr" rotWithShape="0">
                <a:srgbClr val="C45F4A">
                  <a:alpha val="7500"/>
                </a:srgbClr>
              </a:outerShdw>
            </a:effectLst>
          </p:spPr>
        </p:sp>
        <p:sp>
          <p:nvSpPr>
            <p:cNvPr id="65" name="Rectangle 65"/>
            <p:cNvSpPr/>
            <p:nvPr/>
          </p:nvSpPr>
          <p:spPr>
            <a:xfrm>
              <a:off x="5953125" y="1638300"/>
              <a:ext cx="2571750" cy="571500"/>
            </a:xfrm>
            <a:prstGeom prst="roundRect">
              <a:avLst>
                <a:gd name="adj" fmla="val 13333"/>
              </a:avLst>
            </a:prstGeom>
            <a:gradFill>
              <a:gsLst>
                <a:gs pos="0">
                  <a:srgbClr val="D87E6B"/>
                </a:gs>
                <a:gs pos="100000">
                  <a:srgbClr val="C45F4A"/>
                </a:gs>
              </a:gsLst>
              <a:lin ang="5400000" scaled="1"/>
            </a:gradFill>
            <a:ln>
              <a:noFill/>
            </a:ln>
          </p:spPr>
        </p:sp>
        <p:sp>
          <p:nvSpPr>
            <p:cNvPr id="66" name="TextBox 66"/>
            <p:cNvSpPr txBox="1"/>
            <p:nvPr/>
          </p:nvSpPr>
          <p:spPr>
            <a:xfrm>
              <a:off x="6686931" y="1749742"/>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优化变革阶段</a:t>
              </a:r>
            </a:p>
          </p:txBody>
        </p:sp>
        <p:sp>
          <p:nvSpPr>
            <p:cNvPr id="67" name="TextBox 67"/>
            <p:cNvSpPr txBox="1"/>
            <p:nvPr/>
          </p:nvSpPr>
          <p:spPr>
            <a:xfrm>
              <a:off x="6743548" y="1998345"/>
              <a:ext cx="990905"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2011年 - 2019年​</a:t>
              </a:r>
            </a:p>
          </p:txBody>
        </p:sp>
        <p:sp>
          <p:nvSpPr>
            <p:cNvPr id="68" name="TextBox 68"/>
            <p:cNvSpPr txBox="1"/>
            <p:nvPr/>
          </p:nvSpPr>
          <p:spPr>
            <a:xfrm>
              <a:off x="6186488" y="2406491"/>
              <a:ext cx="892632" cy="161925"/>
            </a:xfrm>
            <a:prstGeom prst="rect">
              <a:avLst/>
            </a:prstGeom>
            <a:noFill/>
            <a:ln>
              <a:noFill/>
            </a:ln>
          </p:spPr>
          <p:txBody>
            <a:bodyPr wrap="none" lIns="0" tIns="0" rIns="0" bIns="0" anchor="t" anchorCtr="0">
              <a:spAutoFit/>
            </a:bodyPr>
            <a:lstStyle/>
            <a:p>
              <a:pPr algn="l"/>
              <a:r>
                <a:rPr lang="zh-CN" sz="820" dirty="0">
                  <a:solidFill>
                    <a:srgbClr val="88706B"/>
                  </a:solidFill>
                  <a:latin typeface="+mn-lt"/>
                  <a:ea typeface="+mn-ea"/>
                  <a:cs typeface="+mn-cs"/>
                </a:rPr>
                <a:t>中国运动参与人次</a:t>
              </a:r>
            </a:p>
          </p:txBody>
        </p:sp>
        <p:sp>
          <p:nvSpPr>
            <p:cNvPr id="69" name="Line 69"/>
            <p:cNvSpPr/>
            <p:nvPr/>
          </p:nvSpPr>
          <p:spPr>
            <a:xfrm flipV="1">
              <a:off x="6762750" y="2514600"/>
              <a:ext cx="1219200" cy="552450"/>
            </a:xfrm>
            <a:prstGeom prst="line">
              <a:avLst/>
            </a:prstGeom>
            <a:noFill/>
            <a:ln w="14288">
              <a:solidFill>
                <a:srgbClr val="C45F4A"/>
              </a:solidFill>
              <a:custDash>
                <a:ds d="200000" sp="200000"/>
              </a:custDash>
              <a:tailEnd type="triangle" w="lg" len="lg"/>
            </a:ln>
          </p:spPr>
        </p:sp>
        <p:grpSp>
          <p:nvGrpSpPr>
            <p:cNvPr id="71" name="Group 71"/>
            <p:cNvGrpSpPr/>
            <p:nvPr/>
          </p:nvGrpSpPr>
          <p:grpSpPr>
            <a:xfrm rot="-1560000">
              <a:off x="6988034" y="2661436"/>
              <a:ext cx="401254" cy="133350"/>
              <a:chOff x="6990748" y="2660809"/>
              <a:chExt cx="401254" cy="133350"/>
            </a:xfrm>
          </p:grpSpPr>
          <p:sp>
            <p:nvSpPr>
              <p:cNvPr id="70" name="TextBox 70"/>
              <p:cNvSpPr txBox="1"/>
              <p:nvPr/>
            </p:nvSpPr>
            <p:spPr>
              <a:xfrm>
                <a:off x="6990748" y="2660809"/>
                <a:ext cx="401254" cy="133350"/>
              </a:xfrm>
              <a:prstGeom prst="rect">
                <a:avLst/>
              </a:prstGeom>
              <a:noFill/>
              <a:ln>
                <a:noFill/>
              </a:ln>
            </p:spPr>
            <p:txBody>
              <a:bodyPr wrap="none" lIns="0" tIns="0" rIns="0" bIns="0" anchor="t" anchorCtr="0">
                <a:spAutoFit/>
              </a:bodyPr>
              <a:lstStyle/>
              <a:p>
                <a:pPr algn="ctr"/>
                <a:r>
                  <a:rPr lang="en-US" sz="680" dirty="0">
                    <a:solidFill>
                      <a:srgbClr val="C45F4A"/>
                    </a:solidFill>
                    <a:latin typeface="+mn-lt"/>
                    <a:ea typeface="+mn-ea"/>
                    <a:cs typeface="+mn-cs"/>
                  </a:rPr>
                  <a:t>CARG~5%</a:t>
                </a:r>
              </a:p>
            </p:txBody>
          </p:sp>
        </p:grpSp>
        <p:sp>
          <p:nvSpPr>
            <p:cNvPr id="72" name="Ellipse 72"/>
            <p:cNvSpPr/>
            <p:nvPr/>
          </p:nvSpPr>
          <p:spPr>
            <a:xfrm>
              <a:off x="6219825" y="2952750"/>
              <a:ext cx="514350" cy="514350"/>
            </a:xfrm>
            <a:prstGeom prst="ellipse">
              <a:avLst/>
            </a:prstGeom>
            <a:solidFill>
              <a:srgbClr val="C45F4A"/>
            </a:solidFill>
            <a:ln>
              <a:noFill/>
            </a:ln>
          </p:spPr>
        </p:sp>
        <p:sp>
          <p:nvSpPr>
            <p:cNvPr id="73" name="TextBox 73"/>
            <p:cNvSpPr txBox="1"/>
            <p:nvPr/>
          </p:nvSpPr>
          <p:spPr>
            <a:xfrm>
              <a:off x="6251124" y="3160395"/>
              <a:ext cx="451752"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~9千万​</a:t>
              </a:r>
            </a:p>
          </p:txBody>
        </p:sp>
        <p:sp>
          <p:nvSpPr>
            <p:cNvPr id="74" name="TextBox 74"/>
            <p:cNvSpPr txBox="1"/>
            <p:nvPr/>
          </p:nvSpPr>
          <p:spPr>
            <a:xfrm>
              <a:off x="6338964" y="3560445"/>
              <a:ext cx="2760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2011</a:t>
              </a:r>
            </a:p>
          </p:txBody>
        </p:sp>
        <p:sp>
          <p:nvSpPr>
            <p:cNvPr id="75" name="Ellipse 75"/>
            <p:cNvSpPr/>
            <p:nvPr/>
          </p:nvSpPr>
          <p:spPr>
            <a:xfrm>
              <a:off x="7191375" y="2543175"/>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76" name="TextBox 76"/>
            <p:cNvSpPr txBox="1"/>
            <p:nvPr/>
          </p:nvSpPr>
          <p:spPr>
            <a:xfrm>
              <a:off x="7230963" y="2853214"/>
              <a:ext cx="682823"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~1.8亿​</a:t>
              </a:r>
            </a:p>
          </p:txBody>
        </p:sp>
        <p:sp>
          <p:nvSpPr>
            <p:cNvPr id="77" name="TextBox 77"/>
            <p:cNvSpPr txBox="1"/>
            <p:nvPr/>
          </p:nvSpPr>
          <p:spPr>
            <a:xfrm>
              <a:off x="7434339" y="3408045"/>
              <a:ext cx="2760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2019</a:t>
              </a:r>
            </a:p>
          </p:txBody>
        </p:sp>
        <p:sp>
          <p:nvSpPr>
            <p:cNvPr id="78" name="TextBox 78"/>
            <p:cNvSpPr txBox="1"/>
            <p:nvPr/>
          </p:nvSpPr>
          <p:spPr>
            <a:xfrm>
              <a:off x="6119812" y="3878818"/>
              <a:ext cx="1849882" cy="1312069"/>
            </a:xfrm>
            <a:prstGeom prst="rect">
              <a:avLst/>
            </a:prstGeom>
            <a:noFill/>
            <a:ln>
              <a:noFill/>
            </a:ln>
          </p:spPr>
          <p:txBody>
            <a:bodyPr wrap="none" lIns="0" tIns="0" rIns="0" bIns="0" anchor="t" anchorCtr="0">
              <a:spAutoFit/>
            </a:bodyPr>
            <a:lstStyle/>
            <a:p>
              <a:pPr algn="l" marL="92837" indent="-92837">
                <a:lnSpc>
                  <a:spcPts val="1200"/>
                </a:lnSpc>
                <a:buClr>
                  <a:srgbClr val="543E3A"/>
                </a:buClr>
                <a:buSzTx/>
                <a:buFontTx/>
                <a:buChar char="•"/>
              </a:pPr>
              <a:r>
                <a:rPr lang="zh-CN" sz="860" dirty="0">
                  <a:solidFill>
                    <a:srgbClr val="543E3A"/>
                  </a:solidFill>
                  <a:latin typeface="+mn-lt"/>
                  <a:ea typeface="+mn-ea"/>
                  <a:cs typeface="+mn-cs"/>
                </a:rPr>
                <a:t>奥运激情消散后，同质化竞争和渠</a:t>
              </a:r>
              <a:br/>
              <a:r>
                <a:rPr lang="zh-CN" sz="860" dirty="0">
                  <a:solidFill>
                    <a:srgbClr val="543E3A"/>
                  </a:solidFill>
                  <a:latin typeface="+mn-lt"/>
                  <a:ea typeface="+mn-ea"/>
                  <a:cs typeface="+mn-cs"/>
                </a:rPr>
                <a:t>道模式滞后性导致库存危机爆发。</a:t>
              </a:r>
            </a:p>
            <a:p>
              <a:pPr algn="l" marL="92837" indent="-92837">
                <a:lnSpc>
                  <a:spcPts val="1200"/>
                </a:lnSpc>
                <a:spcBef>
                  <a:spcPts val="900"/>
                </a:spcBef>
                <a:buClr>
                  <a:srgbClr val="543E3A"/>
                </a:buClr>
                <a:buSzTx/>
                <a:buFontTx/>
                <a:buChar char="•"/>
              </a:pPr>
              <a:r>
                <a:rPr lang="zh-CN" sz="860" dirty="0">
                  <a:solidFill>
                    <a:srgbClr val="543E3A"/>
                  </a:solidFill>
                  <a:latin typeface="+mn-lt"/>
                  <a:ea typeface="+mn-ea"/>
                  <a:cs typeface="+mn-cs"/>
                </a:rPr>
                <a:t>国产品牌发展之路被库存清理打乱，</a:t>
              </a:r>
              <a:br/>
              <a:r>
                <a:rPr lang="zh-CN" sz="860" dirty="0">
                  <a:solidFill>
                    <a:srgbClr val="543E3A"/>
                  </a:solidFill>
                  <a:latin typeface="+mn-lt"/>
                  <a:ea typeface="+mn-ea"/>
                  <a:cs typeface="+mn-cs"/>
                </a:rPr>
                <a:t>幸存品牌通过收购转型寻求变革之</a:t>
              </a:r>
              <a:br/>
              <a:r>
                <a:rPr lang="zh-CN" sz="860" dirty="0">
                  <a:solidFill>
                    <a:srgbClr val="543E3A"/>
                  </a:solidFill>
                  <a:latin typeface="+mn-lt"/>
                  <a:ea typeface="+mn-ea"/>
                  <a:cs typeface="+mn-cs"/>
                </a:rPr>
                <a:t>道，细分赛带运动品牌崛续寻现。</a:t>
              </a:r>
            </a:p>
            <a:p>
              <a:pPr algn="l" marL="92837" indent="-92837">
                <a:lnSpc>
                  <a:spcPts val="1200"/>
                </a:lnSpc>
                <a:spcBef>
                  <a:spcPts val="900"/>
                </a:spcBef>
                <a:buClr>
                  <a:srgbClr val="543E3A"/>
                </a:buClr>
                <a:buSzTx/>
                <a:buFontTx/>
                <a:buChar char="•"/>
              </a:pPr>
              <a:r>
                <a:rPr lang="zh-CN" sz="860" dirty="0">
                  <a:solidFill>
                    <a:srgbClr val="543E3A"/>
                  </a:solidFill>
                  <a:latin typeface="+mn-lt"/>
                  <a:ea typeface="+mn-ea"/>
                  <a:cs typeface="+mn-cs"/>
                </a:rPr>
                <a:t>国内品牌纷纷调整策略，重塑品牌</a:t>
              </a:r>
              <a:br/>
              <a:r>
                <a:rPr lang="zh-CN" sz="860" dirty="0">
                  <a:solidFill>
                    <a:srgbClr val="543E3A"/>
                  </a:solidFill>
                  <a:latin typeface="+mn-lt"/>
                  <a:ea typeface="+mn-ea"/>
                  <a:cs typeface="+mn-cs"/>
                </a:rPr>
                <a:t>形象，细分化差异品牌定位。</a:t>
              </a:r>
            </a:p>
          </p:txBody>
        </p:sp>
      </p:grpSp>
      <p:grpSp>
        <p:nvGrpSpPr>
          <p:cNvPr id="95" name="stage-4"/>
          <p:cNvGrpSpPr/>
          <p:nvPr/>
        </p:nvGrpSpPr>
        <p:grpSpPr>
          <a:xfrm>
            <a:off x="8715375" y="1047750"/>
            <a:ext cx="2571750" cy="5524500"/>
            <a:chOff x="8715375" y="1047750"/>
            <a:chExt cx="2571750" cy="5524500"/>
          </a:xfrm>
        </p:grpSpPr>
        <p:sp>
          <p:nvSpPr>
            <p:cNvPr id="80" name="Rectangle 80"/>
            <p:cNvSpPr/>
            <p:nvPr/>
          </p:nvSpPr>
          <p:spPr>
            <a:xfrm>
              <a:off x="8715375" y="1047750"/>
              <a:ext cx="2571750" cy="5524500"/>
            </a:xfrm>
            <a:prstGeom prst="roundRect">
              <a:avLst>
                <a:gd name="adj" fmla="val 2963"/>
              </a:avLst>
            </a:prstGeom>
            <a:solidFill>
              <a:srgbClr val="FFFFFF"/>
            </a:solidFill>
            <a:ln>
              <a:noFill/>
            </a:ln>
            <a:effectLst>
              <a:outerShdw blurRad="152400" dist="57150" dir="5400000" algn="ctr" rotWithShape="0">
                <a:srgbClr val="C45F4A">
                  <a:alpha val="7500"/>
                </a:srgbClr>
              </a:outerShdw>
            </a:effectLst>
          </p:spPr>
        </p:sp>
        <p:sp>
          <p:nvSpPr>
            <p:cNvPr id="81" name="Rectangle 81"/>
            <p:cNvSpPr/>
            <p:nvPr/>
          </p:nvSpPr>
          <p:spPr>
            <a:xfrm>
              <a:off x="8715375" y="1047750"/>
              <a:ext cx="2571750" cy="571500"/>
            </a:xfrm>
            <a:prstGeom prst="roundRect">
              <a:avLst>
                <a:gd name="adj" fmla="val 13333"/>
              </a:avLst>
            </a:prstGeom>
            <a:gradFill>
              <a:gsLst>
                <a:gs pos="0">
                  <a:srgbClr val="D87E6B"/>
                </a:gs>
                <a:gs pos="100000">
                  <a:srgbClr val="C45F4A"/>
                </a:gs>
              </a:gsLst>
              <a:lin ang="5400000" scaled="1"/>
            </a:gradFill>
            <a:ln>
              <a:noFill/>
            </a:ln>
          </p:spPr>
        </p:sp>
        <p:sp>
          <p:nvSpPr>
            <p:cNvPr id="82" name="TextBox 82"/>
            <p:cNvSpPr txBox="1"/>
            <p:nvPr/>
          </p:nvSpPr>
          <p:spPr>
            <a:xfrm>
              <a:off x="9630918" y="115919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崛起阶段</a:t>
              </a:r>
            </a:p>
          </p:txBody>
        </p:sp>
        <p:sp>
          <p:nvSpPr>
            <p:cNvPr id="83" name="TextBox 83"/>
            <p:cNvSpPr txBox="1"/>
            <p:nvPr/>
          </p:nvSpPr>
          <p:spPr>
            <a:xfrm>
              <a:off x="9578492" y="1407795"/>
              <a:ext cx="845515"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2020年 - 至今​</a:t>
              </a:r>
            </a:p>
          </p:txBody>
        </p:sp>
        <p:sp>
          <p:nvSpPr>
            <p:cNvPr id="84" name="TextBox 84"/>
            <p:cNvSpPr txBox="1"/>
            <p:nvPr/>
          </p:nvSpPr>
          <p:spPr>
            <a:xfrm>
              <a:off x="8948738" y="1815941"/>
              <a:ext cx="892632" cy="161925"/>
            </a:xfrm>
            <a:prstGeom prst="rect">
              <a:avLst/>
            </a:prstGeom>
            <a:noFill/>
            <a:ln>
              <a:noFill/>
            </a:ln>
          </p:spPr>
          <p:txBody>
            <a:bodyPr wrap="none" lIns="0" tIns="0" rIns="0" bIns="0" anchor="t" anchorCtr="0">
              <a:spAutoFit/>
            </a:bodyPr>
            <a:lstStyle/>
            <a:p>
              <a:pPr algn="l"/>
              <a:r>
                <a:rPr lang="zh-CN" sz="820" dirty="0">
                  <a:solidFill>
                    <a:srgbClr val="88706B"/>
                  </a:solidFill>
                  <a:latin typeface="+mn-lt"/>
                  <a:ea typeface="+mn-ea"/>
                  <a:cs typeface="+mn-cs"/>
                </a:rPr>
                <a:t>中国运动参与人次</a:t>
              </a:r>
            </a:p>
          </p:txBody>
        </p:sp>
        <p:sp>
          <p:nvSpPr>
            <p:cNvPr id="85" name="Line 85"/>
            <p:cNvSpPr/>
            <p:nvPr/>
          </p:nvSpPr>
          <p:spPr>
            <a:xfrm flipV="1">
              <a:off x="9525000" y="1924050"/>
              <a:ext cx="1219200" cy="552450"/>
            </a:xfrm>
            <a:prstGeom prst="line">
              <a:avLst/>
            </a:prstGeom>
            <a:noFill/>
            <a:ln w="14288">
              <a:solidFill>
                <a:srgbClr val="C45F4A"/>
              </a:solidFill>
              <a:custDash>
                <a:ds d="200000" sp="200000"/>
              </a:custDash>
              <a:tailEnd type="triangle" w="lg" len="lg"/>
            </a:ln>
          </p:spPr>
        </p:sp>
        <p:grpSp>
          <p:nvGrpSpPr>
            <p:cNvPr id="87" name="Group 87"/>
            <p:cNvGrpSpPr/>
            <p:nvPr/>
          </p:nvGrpSpPr>
          <p:grpSpPr>
            <a:xfrm rot="-1560000">
              <a:off x="9750284" y="2070886"/>
              <a:ext cx="401254" cy="133350"/>
              <a:chOff x="9752998" y="2070259"/>
              <a:chExt cx="401254" cy="133350"/>
            </a:xfrm>
          </p:grpSpPr>
          <p:sp>
            <p:nvSpPr>
              <p:cNvPr id="86" name="TextBox 86"/>
              <p:cNvSpPr txBox="1"/>
              <p:nvPr/>
            </p:nvSpPr>
            <p:spPr>
              <a:xfrm>
                <a:off x="9752998" y="2070259"/>
                <a:ext cx="401254" cy="133350"/>
              </a:xfrm>
              <a:prstGeom prst="rect">
                <a:avLst/>
              </a:prstGeom>
              <a:noFill/>
              <a:ln>
                <a:noFill/>
              </a:ln>
            </p:spPr>
            <p:txBody>
              <a:bodyPr wrap="none" lIns="0" tIns="0" rIns="0" bIns="0" anchor="t" anchorCtr="0">
                <a:spAutoFit/>
              </a:bodyPr>
              <a:lstStyle/>
              <a:p>
                <a:pPr algn="ctr"/>
                <a:r>
                  <a:rPr lang="en-US" sz="680" dirty="0">
                    <a:solidFill>
                      <a:srgbClr val="C45F4A"/>
                    </a:solidFill>
                    <a:latin typeface="+mn-lt"/>
                    <a:ea typeface="+mn-ea"/>
                    <a:cs typeface="+mn-cs"/>
                  </a:rPr>
                  <a:t>CARG~5%</a:t>
                </a:r>
              </a:p>
            </p:txBody>
          </p:sp>
        </p:grpSp>
        <p:sp>
          <p:nvSpPr>
            <p:cNvPr id="88" name="Ellipse 88"/>
            <p:cNvSpPr/>
            <p:nvPr/>
          </p:nvSpPr>
          <p:spPr>
            <a:xfrm>
              <a:off x="8982075" y="2362200"/>
              <a:ext cx="514350" cy="514350"/>
            </a:xfrm>
            <a:prstGeom prst="ellipse">
              <a:avLst/>
            </a:prstGeom>
            <a:solidFill>
              <a:srgbClr val="C45F4A"/>
            </a:solidFill>
            <a:ln>
              <a:noFill/>
            </a:ln>
          </p:spPr>
        </p:sp>
        <p:sp>
          <p:nvSpPr>
            <p:cNvPr id="89" name="TextBox 89"/>
            <p:cNvSpPr txBox="1"/>
            <p:nvPr/>
          </p:nvSpPr>
          <p:spPr>
            <a:xfrm>
              <a:off x="9007316" y="2569845"/>
              <a:ext cx="463868"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~2.1亿​</a:t>
              </a:r>
            </a:p>
          </p:txBody>
        </p:sp>
        <p:sp>
          <p:nvSpPr>
            <p:cNvPr id="90" name="TextBox 90"/>
            <p:cNvSpPr txBox="1"/>
            <p:nvPr/>
          </p:nvSpPr>
          <p:spPr>
            <a:xfrm>
              <a:off x="9101214" y="2969895"/>
              <a:ext cx="27607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2020</a:t>
              </a:r>
            </a:p>
          </p:txBody>
        </p:sp>
        <p:sp>
          <p:nvSpPr>
            <p:cNvPr id="91" name="Ellipse 91"/>
            <p:cNvSpPr/>
            <p:nvPr/>
          </p:nvSpPr>
          <p:spPr>
            <a:xfrm>
              <a:off x="9953625" y="1952625"/>
              <a:ext cx="762000" cy="762000"/>
            </a:xfrm>
            <a:prstGeom prst="ellipse">
              <a:avLst/>
            </a:prstGeom>
            <a:gradFill>
              <a:gsLst>
                <a:gs pos="0">
                  <a:srgbClr val="F07E6A"/>
                </a:gs>
                <a:gs pos="100000">
                  <a:srgbClr val="DD5740"/>
                </a:gs>
              </a:gsLst>
              <a:path path="circle">
                <a:fillToRect l="40000" t="35000" r="60000" b="65000"/>
              </a:path>
            </a:gradFill>
            <a:ln>
              <a:noFill/>
            </a:ln>
          </p:spPr>
        </p:sp>
        <p:sp>
          <p:nvSpPr>
            <p:cNvPr id="92" name="TextBox 92"/>
            <p:cNvSpPr txBox="1"/>
            <p:nvPr/>
          </p:nvSpPr>
          <p:spPr>
            <a:xfrm>
              <a:off x="9993213" y="2262664"/>
              <a:ext cx="682823"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~3.6亿​</a:t>
              </a:r>
            </a:p>
          </p:txBody>
        </p:sp>
        <p:sp>
          <p:nvSpPr>
            <p:cNvPr id="93" name="TextBox 93"/>
            <p:cNvSpPr txBox="1"/>
            <p:nvPr/>
          </p:nvSpPr>
          <p:spPr>
            <a:xfrm>
              <a:off x="10208704" y="2817495"/>
              <a:ext cx="25184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至今</a:t>
              </a:r>
            </a:p>
          </p:txBody>
        </p:sp>
        <p:sp>
          <p:nvSpPr>
            <p:cNvPr id="94" name="TextBox 94"/>
            <p:cNvSpPr txBox="1"/>
            <p:nvPr/>
          </p:nvSpPr>
          <p:spPr>
            <a:xfrm>
              <a:off x="8882062" y="3288268"/>
              <a:ext cx="1849882" cy="1654969"/>
            </a:xfrm>
            <a:prstGeom prst="rect">
              <a:avLst/>
            </a:prstGeom>
            <a:noFill/>
            <a:ln>
              <a:noFill/>
            </a:ln>
          </p:spPr>
          <p:txBody>
            <a:bodyPr wrap="none" lIns="0" tIns="0" rIns="0" bIns="0" anchor="t" anchorCtr="0">
              <a:spAutoFit/>
            </a:bodyPr>
            <a:lstStyle/>
            <a:p>
              <a:pPr algn="l" marL="92837" indent="-92837">
                <a:lnSpc>
                  <a:spcPts val="1200"/>
                </a:lnSpc>
                <a:buClr>
                  <a:srgbClr val="543E3A"/>
                </a:buClr>
                <a:buSzTx/>
                <a:buFontTx/>
                <a:buChar char="•"/>
              </a:pPr>
              <a:r>
                <a:rPr lang="zh-CN" sz="860" dirty="0">
                  <a:solidFill>
                    <a:srgbClr val="543E3A"/>
                  </a:solidFill>
                  <a:latin typeface="+mn-lt"/>
                  <a:ea typeface="+mn-ea"/>
                  <a:cs typeface="+mn-cs"/>
                </a:rPr>
                <a:t>受益于消费能力和健康意识的提升，</a:t>
              </a:r>
              <a:br/>
              <a:r>
                <a:rPr lang="zh-CN" sz="860" dirty="0">
                  <a:solidFill>
                    <a:srgbClr val="543E3A"/>
                  </a:solidFill>
                  <a:latin typeface="+mn-lt"/>
                  <a:ea typeface="+mn-ea"/>
                  <a:cs typeface="+mn-cs"/>
                </a:rPr>
                <a:t>运动人群逐渐扩大，运动行业回归</a:t>
              </a:r>
              <a:br/>
              <a:r>
                <a:rPr lang="zh-CN" sz="860" dirty="0">
                  <a:solidFill>
                    <a:srgbClr val="543E3A"/>
                  </a:solidFill>
                  <a:latin typeface="+mn-lt"/>
                  <a:ea typeface="+mn-ea"/>
                  <a:cs typeface="+mn-cs"/>
                </a:rPr>
                <a:t>稳定发展。随着中国社会文化的全</a:t>
              </a:r>
              <a:br/>
              <a:r>
                <a:rPr lang="zh-CN" sz="860" dirty="0">
                  <a:solidFill>
                    <a:srgbClr val="543E3A"/>
                  </a:solidFill>
                  <a:latin typeface="+mn-lt"/>
                  <a:ea typeface="+mn-ea"/>
                  <a:cs typeface="+mn-cs"/>
                </a:rPr>
                <a:t>面发展，中国元素开始被更多消费</a:t>
              </a:r>
              <a:br/>
              <a:r>
                <a:rPr lang="zh-CN" sz="860" dirty="0">
                  <a:solidFill>
                    <a:srgbClr val="543E3A"/>
                  </a:solidFill>
                  <a:latin typeface="+mn-lt"/>
                  <a:ea typeface="+mn-ea"/>
                  <a:cs typeface="+mn-cs"/>
                </a:rPr>
                <a:t>者认可，国产运动品牌开始崛起。</a:t>
              </a:r>
            </a:p>
            <a:p>
              <a:pPr algn="l" marL="92837" indent="-92837">
                <a:lnSpc>
                  <a:spcPts val="1200"/>
                </a:lnSpc>
                <a:spcBef>
                  <a:spcPts val="900"/>
                </a:spcBef>
                <a:buClr>
                  <a:srgbClr val="543E3A"/>
                </a:buClr>
                <a:buSzTx/>
                <a:buFontTx/>
                <a:buChar char="•"/>
              </a:pPr>
              <a:r>
                <a:rPr lang="zh-CN" sz="860" dirty="0">
                  <a:solidFill>
                    <a:srgbClr val="543E3A"/>
                  </a:solidFill>
                  <a:latin typeface="+mn-lt"/>
                  <a:ea typeface="+mn-ea"/>
                  <a:cs typeface="+mn-cs"/>
                </a:rPr>
                <a:t>为更好应对随着新一代消费者和线</a:t>
              </a:r>
              <a:br/>
              <a:r>
                <a:rPr lang="zh-CN" sz="860" dirty="0">
                  <a:solidFill>
                    <a:srgbClr val="543E3A"/>
                  </a:solidFill>
                  <a:latin typeface="+mn-lt"/>
                  <a:ea typeface="+mn-ea"/>
                  <a:cs typeface="+mn-cs"/>
                </a:rPr>
                <a:t>上渠道崛起而催生的快速市场变化，</a:t>
              </a:r>
              <a:br/>
              <a:r>
                <a:rPr lang="zh-CN" sz="860" dirty="0">
                  <a:solidFill>
                    <a:srgbClr val="543E3A"/>
                  </a:solidFill>
                  <a:latin typeface="+mn-lt"/>
                  <a:ea typeface="+mn-ea"/>
                  <a:cs typeface="+mn-cs"/>
                </a:rPr>
                <a:t>可快速反应的DTC模式逐步兴起。​</a:t>
              </a:r>
              <a:br/>
              <a:r>
                <a:rPr lang="zh-CN" sz="860" dirty="0">
                  <a:solidFill>
                    <a:srgbClr val="543E3A"/>
                  </a:solidFill>
                  <a:latin typeface="+mn-lt"/>
                  <a:ea typeface="+mn-ea"/>
                  <a:cs typeface="+mn-cs"/>
                </a:rPr>
                <a:t>国内品牌加速新兴营销布局，传播</a:t>
              </a:r>
              <a:br/>
              <a:r>
                <a:rPr lang="zh-CN" sz="860" dirty="0">
                  <a:solidFill>
                    <a:srgbClr val="543E3A"/>
                  </a:solidFill>
                  <a:latin typeface="+mn-lt"/>
                  <a:ea typeface="+mn-ea"/>
                  <a:cs typeface="+mn-cs"/>
                </a:rPr>
                <a:t>品牌文化，驱动品牌溢价提升。</a:t>
              </a:r>
            </a:p>
          </p:txBody>
        </p:sp>
      </p:gr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64</a:t>
              </a:r>
            </a:p>
          </p:txBody>
        </p:sp>
        <p:sp>
          <p:nvSpPr>
            <p:cNvPr id="4" name="TextBox 4"/>
            <p:cNvSpPr txBox="1"/>
            <p:nvPr/>
          </p:nvSpPr>
          <p:spPr>
            <a:xfrm>
              <a:off x="942594" y="151448"/>
              <a:ext cx="267630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消费者八大情绪需求​</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0" name="note-top"/>
          <p:cNvGrpSpPr/>
          <p:nvPr/>
        </p:nvGrpSpPr>
        <p:grpSpPr>
          <a:xfrm>
            <a:off x="381000" y="838200"/>
            <a:ext cx="8572500" cy="419100"/>
            <a:chOff x="381000" y="838200"/>
            <a:chExt cx="8572500" cy="419100"/>
          </a:xfrm>
        </p:grpSpPr>
        <p:sp>
          <p:nvSpPr>
            <p:cNvPr id="7" name="Rectangle 7"/>
            <p:cNvSpPr/>
            <p:nvPr/>
          </p:nvSpPr>
          <p:spPr>
            <a:xfrm>
              <a:off x="381000" y="838200"/>
              <a:ext cx="8572500" cy="419100"/>
            </a:xfrm>
            <a:prstGeom prst="roundRect">
              <a:avLst>
                <a:gd name="adj" fmla="val 9091"/>
              </a:avLst>
            </a:prstGeom>
            <a:solidFill>
              <a:srgbClr val="FFFFFF"/>
            </a:solidFill>
            <a:ln w="11430">
              <a:solidFill>
                <a:srgbClr val="C9D1F0"/>
              </a:solidFill>
            </a:ln>
          </p:spPr>
        </p:sp>
        <p:sp>
          <p:nvSpPr>
            <p:cNvPr id="8" name="Freeform 8"/>
            <p:cNvSpPr/>
            <p:nvPr/>
          </p:nvSpPr>
          <p:spPr>
            <a:xfrm>
              <a:off x="1600200" y="971550"/>
              <a:ext cx="152400" cy="133350"/>
            </a:xfrm>
            <a:prstGeom prst="triangle">
              <a:avLst/>
            </a:prstGeom>
            <a:solidFill>
              <a:srgbClr val="E8634C"/>
            </a:solidFill>
            <a:ln>
              <a:noFill/>
            </a:ln>
          </p:spPr>
        </p:sp>
        <p:sp>
          <p:nvSpPr>
            <p:cNvPr id="9" name="TextBox 9"/>
            <p:cNvSpPr txBox="1"/>
            <p:nvPr/>
          </p:nvSpPr>
          <p:spPr>
            <a:xfrm>
              <a:off x="1900238" y="998220"/>
              <a:ext cx="4589526" cy="176212"/>
            </a:xfrm>
            <a:prstGeom prst="rect">
              <a:avLst/>
            </a:prstGeom>
            <a:noFill/>
            <a:ln>
              <a:noFill/>
            </a:ln>
          </p:spPr>
          <p:txBody>
            <a:bodyPr wrap="none" lIns="0" tIns="0" rIns="0" bIns="0" anchor="t" anchorCtr="0">
              <a:spAutoFit/>
            </a:bodyPr>
            <a:lstStyle/>
            <a:p>
              <a:pPr algn="l" marL="97155" indent="-97155">
                <a:buClr>
                  <a:srgbClr val="543E3A"/>
                </a:buClr>
                <a:buSzTx/>
                <a:buFontTx/>
                <a:buChar char="•"/>
              </a:pPr>
              <a:r>
                <a:rPr lang="zh-CN" sz="900" dirty="0">
                  <a:solidFill>
                    <a:srgbClr val="543E3A"/>
                  </a:solidFill>
                  <a:latin typeface="+mn-lt"/>
                  <a:ea typeface="+mn-ea"/>
                  <a:cs typeface="+mn-cs"/>
                </a:rPr>
                <a:t>我期待驾驭带来的自由感；汽车可以成为我的玩具，带来乐我享受驾驭时的无忧无虑</a:t>
              </a:r>
            </a:p>
          </p:txBody>
        </p:sp>
      </p:grpSp>
      <p:grpSp>
        <p:nvGrpSpPr>
          <p:cNvPr id="13" name="note-l1"/>
          <p:cNvGrpSpPr/>
          <p:nvPr/>
        </p:nvGrpSpPr>
        <p:grpSpPr>
          <a:xfrm>
            <a:off x="381000" y="1905000"/>
            <a:ext cx="2286000" cy="857250"/>
            <a:chOff x="381000" y="1905000"/>
            <a:chExt cx="2286000" cy="857250"/>
          </a:xfrm>
        </p:grpSpPr>
        <p:sp>
          <p:nvSpPr>
            <p:cNvPr id="11" name="Rectangle 11"/>
            <p:cNvSpPr/>
            <p:nvPr/>
          </p:nvSpPr>
          <p:spPr>
            <a:xfrm>
              <a:off x="381000" y="1905000"/>
              <a:ext cx="2286000" cy="857250"/>
            </a:xfrm>
            <a:prstGeom prst="roundRect">
              <a:avLst>
                <a:gd name="adj" fmla="val 4444"/>
              </a:avLst>
            </a:prstGeom>
            <a:solidFill>
              <a:srgbClr val="FFFFFF"/>
            </a:solidFill>
            <a:ln w="11430">
              <a:solidFill>
                <a:srgbClr val="C9D1F0"/>
              </a:solidFill>
            </a:ln>
          </p:spPr>
        </p:sp>
        <p:sp>
          <p:nvSpPr>
            <p:cNvPr id="12" name="TextBox 12"/>
            <p:cNvSpPr txBox="1"/>
            <p:nvPr/>
          </p:nvSpPr>
          <p:spPr>
            <a:xfrm>
              <a:off x="509588" y="2063591"/>
              <a:ext cx="1556004" cy="485775"/>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我希望驾驭汽车探索周围世界;</a:t>
              </a:r>
            </a:p>
            <a:p>
              <a:pPr algn="l" marL="88519" indent="-88519">
                <a:lnSpc>
                  <a:spcPts val="1275"/>
                </a:lnSpc>
                <a:buClr>
                  <a:srgbClr val="543E3A"/>
                </a:buClr>
                <a:buSzTx/>
                <a:buFontTx/>
                <a:buChar char="•"/>
              </a:pPr>
              <a:r>
                <a:rPr lang="zh-CN" sz="820" dirty="0">
                  <a:solidFill>
                    <a:srgbClr val="543E3A"/>
                  </a:solidFill>
                  <a:latin typeface="+mn-lt"/>
                  <a:ea typeface="+mn-ea"/>
                  <a:cs typeface="+mn-cs"/>
                </a:rPr>
                <a:t>汽车帮助我更积极地参与到社会</a:t>
              </a:r>
              <a:br/>
              <a:r>
                <a:rPr lang="zh-CN" sz="820" dirty="0">
                  <a:solidFill>
                    <a:srgbClr val="543E3A"/>
                  </a:solidFill>
                  <a:latin typeface="+mn-lt"/>
                  <a:ea typeface="+mn-ea"/>
                  <a:cs typeface="+mn-cs"/>
                </a:rPr>
                <a:t>生活中，增强个人社会活跃度;</a:t>
              </a:r>
            </a:p>
          </p:txBody>
        </p:sp>
      </p:grpSp>
      <p:grpSp>
        <p:nvGrpSpPr>
          <p:cNvPr id="16" name="note-l2"/>
          <p:cNvGrpSpPr/>
          <p:nvPr/>
        </p:nvGrpSpPr>
        <p:grpSpPr>
          <a:xfrm>
            <a:off x="381000" y="3190875"/>
            <a:ext cx="2286000" cy="857250"/>
            <a:chOff x="381000" y="3190875"/>
            <a:chExt cx="2286000" cy="857250"/>
          </a:xfrm>
        </p:grpSpPr>
        <p:sp>
          <p:nvSpPr>
            <p:cNvPr id="14" name="Rectangle 14"/>
            <p:cNvSpPr/>
            <p:nvPr/>
          </p:nvSpPr>
          <p:spPr>
            <a:xfrm>
              <a:off x="381000" y="3190875"/>
              <a:ext cx="2286000" cy="857250"/>
            </a:xfrm>
            <a:prstGeom prst="roundRect">
              <a:avLst>
                <a:gd name="adj" fmla="val 4444"/>
              </a:avLst>
            </a:prstGeom>
            <a:solidFill>
              <a:srgbClr val="FFFFFF"/>
            </a:solidFill>
            <a:ln w="11430">
              <a:solidFill>
                <a:srgbClr val="C9D1F0"/>
              </a:solidFill>
            </a:ln>
          </p:spPr>
        </p:sp>
        <p:sp>
          <p:nvSpPr>
            <p:cNvPr id="15" name="TextBox 15"/>
            <p:cNvSpPr txBox="1"/>
            <p:nvPr/>
          </p:nvSpPr>
          <p:spPr>
            <a:xfrm>
              <a:off x="509588" y="3349466"/>
              <a:ext cx="1405001" cy="485775"/>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反映我个人在生活中的成功;</a:t>
              </a:r>
            </a:p>
            <a:p>
              <a:pPr algn="l" marL="88519" indent="-88519">
                <a:lnSpc>
                  <a:spcPts val="1275"/>
                </a:lnSpc>
                <a:buClr>
                  <a:srgbClr val="543E3A"/>
                </a:buClr>
                <a:buSzTx/>
                <a:buFontTx/>
                <a:buChar char="•"/>
              </a:pPr>
              <a:r>
                <a:rPr lang="zh-CN" sz="820" dirty="0">
                  <a:solidFill>
                    <a:srgbClr val="543E3A"/>
                  </a:solidFill>
                  <a:latin typeface="+mn-lt"/>
                  <a:ea typeface="+mn-ea"/>
                  <a:cs typeface="+mn-cs"/>
                </a:rPr>
                <a:t>赢得他人的认可和尊重;</a:t>
              </a:r>
            </a:p>
            <a:p>
              <a:pPr algn="l" marL="88519" indent="-88519">
                <a:lnSpc>
                  <a:spcPts val="1275"/>
                </a:lnSpc>
                <a:buClr>
                  <a:srgbClr val="543E3A"/>
                </a:buClr>
                <a:buSzTx/>
                <a:buFontTx/>
                <a:buChar char="•"/>
              </a:pPr>
              <a:r>
                <a:rPr lang="zh-CN" sz="820" dirty="0">
                  <a:solidFill>
                    <a:srgbClr val="543E3A"/>
                  </a:solidFill>
                  <a:latin typeface="+mn-lt"/>
                  <a:ea typeface="+mn-ea"/>
                  <a:cs typeface="+mn-cs"/>
                </a:rPr>
                <a:t>体现一种尊贵和权力的感觉</a:t>
              </a:r>
            </a:p>
          </p:txBody>
        </p:sp>
      </p:grpSp>
      <p:grpSp>
        <p:nvGrpSpPr>
          <p:cNvPr id="19" name="note-l3"/>
          <p:cNvGrpSpPr/>
          <p:nvPr/>
        </p:nvGrpSpPr>
        <p:grpSpPr>
          <a:xfrm>
            <a:off x="381000" y="4476750"/>
            <a:ext cx="2286000" cy="857250"/>
            <a:chOff x="381000" y="4476750"/>
            <a:chExt cx="2286000" cy="857250"/>
          </a:xfrm>
        </p:grpSpPr>
        <p:sp>
          <p:nvSpPr>
            <p:cNvPr id="17" name="Rectangle 17"/>
            <p:cNvSpPr/>
            <p:nvPr/>
          </p:nvSpPr>
          <p:spPr>
            <a:xfrm>
              <a:off x="381000" y="4476750"/>
              <a:ext cx="2286000" cy="857250"/>
            </a:xfrm>
            <a:prstGeom prst="roundRect">
              <a:avLst>
                <a:gd name="adj" fmla="val 4444"/>
              </a:avLst>
            </a:prstGeom>
            <a:solidFill>
              <a:srgbClr val="FFFFFF"/>
            </a:solidFill>
            <a:ln w="11430">
              <a:solidFill>
                <a:srgbClr val="C9D1F0"/>
              </a:solidFill>
            </a:ln>
          </p:spPr>
        </p:sp>
        <p:sp>
          <p:nvSpPr>
            <p:cNvPr id="18" name="TextBox 18"/>
            <p:cNvSpPr txBox="1"/>
            <p:nvPr/>
          </p:nvSpPr>
          <p:spPr>
            <a:xfrm>
              <a:off x="509588" y="4635341"/>
              <a:ext cx="1509141" cy="485775"/>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体现我的独特的个性;</a:t>
              </a:r>
            </a:p>
            <a:p>
              <a:pPr algn="l" marL="88519" indent="-88519">
                <a:lnSpc>
                  <a:spcPts val="1275"/>
                </a:lnSpc>
                <a:buClr>
                  <a:srgbClr val="543E3A"/>
                </a:buClr>
                <a:buSzTx/>
                <a:buFontTx/>
                <a:buChar char="•"/>
              </a:pPr>
              <a:r>
                <a:rPr lang="zh-CN" sz="820" dirty="0">
                  <a:solidFill>
                    <a:srgbClr val="543E3A"/>
                  </a:solidFill>
                  <a:latin typeface="+mn-lt"/>
                  <a:ea typeface="+mn-ea"/>
                  <a:cs typeface="+mn-cs"/>
                </a:rPr>
                <a:t>能够体现我的阅历和知识积累;</a:t>
              </a:r>
            </a:p>
            <a:p>
              <a:pPr algn="l" marL="88519" indent="-88519">
                <a:lnSpc>
                  <a:spcPts val="1275"/>
                </a:lnSpc>
                <a:buClr>
                  <a:srgbClr val="543E3A"/>
                </a:buClr>
                <a:buSzTx/>
                <a:buFontTx/>
                <a:buChar char="•"/>
              </a:pPr>
              <a:r>
                <a:rPr lang="zh-CN" sz="820" dirty="0">
                  <a:solidFill>
                    <a:srgbClr val="543E3A"/>
                  </a:solidFill>
                  <a:latin typeface="+mn-lt"/>
                  <a:ea typeface="+mn-ea"/>
                  <a:cs typeface="+mn-cs"/>
                </a:rPr>
                <a:t>让我从人群中脱颖而出。</a:t>
              </a:r>
            </a:p>
          </p:txBody>
        </p:sp>
      </p:grpSp>
      <p:grpSp>
        <p:nvGrpSpPr>
          <p:cNvPr id="62" name="emotion-wheel"/>
          <p:cNvGrpSpPr/>
          <p:nvPr/>
        </p:nvGrpSpPr>
        <p:grpSpPr>
          <a:xfrm>
            <a:off x="3105150" y="2009775"/>
            <a:ext cx="3314700" cy="3314700"/>
            <a:chOff x="3105150" y="2009775"/>
            <a:chExt cx="3314700" cy="3314700"/>
          </a:xfrm>
        </p:grpSpPr>
        <p:sp>
          <p:nvSpPr>
            <p:cNvPr id="20" name="Ellipse 20"/>
            <p:cNvSpPr/>
            <p:nvPr/>
          </p:nvSpPr>
          <p:spPr>
            <a:xfrm>
              <a:off x="3238500" y="2143125"/>
              <a:ext cx="3048000" cy="3048000"/>
            </a:xfrm>
            <a:prstGeom prst="ellipse">
              <a:avLst/>
            </a:prstGeom>
            <a:solidFill>
              <a:srgbClr val="E8EBF8"/>
            </a:solidFill>
            <a:ln>
              <a:noFill/>
            </a:ln>
          </p:spPr>
        </p:sp>
        <p:sp>
          <p:nvSpPr>
            <p:cNvPr id="21" name="Ellipse 21"/>
            <p:cNvSpPr/>
            <p:nvPr/>
          </p:nvSpPr>
          <p:spPr>
            <a:xfrm>
              <a:off x="3638550" y="2543175"/>
              <a:ext cx="2247900" cy="2247900"/>
            </a:xfrm>
            <a:prstGeom prst="ellipse">
              <a:avLst/>
            </a:prstGeom>
            <a:solidFill>
              <a:srgbClr val="FFFFFF"/>
            </a:solidFill>
            <a:ln>
              <a:noFill/>
            </a:ln>
          </p:spPr>
        </p:sp>
        <p:grpSp>
          <p:nvGrpSpPr>
            <p:cNvPr id="26" name="Group 26"/>
            <p:cNvGrpSpPr/>
            <p:nvPr/>
          </p:nvGrpSpPr>
          <p:grpSpPr>
            <a:xfrm>
              <a:off x="3238500" y="2143125"/>
              <a:ext cx="3048000" cy="3048000"/>
              <a:chOff x="3238500" y="2143125"/>
              <a:chExt cx="3048000" cy="3048000"/>
            </a:xfrm>
          </p:grpSpPr>
          <p:sp>
            <p:nvSpPr>
              <p:cNvPr id="22" name="Line 22"/>
              <p:cNvSpPr/>
              <p:nvPr/>
            </p:nvSpPr>
            <p:spPr>
              <a:xfrm>
                <a:off x="4762500" y="2143125"/>
                <a:ext cx="9525" cy="3048000"/>
              </a:xfrm>
              <a:custGeom>
                <a:avLst/>
                <a:gdLst/>
                <a:ahLst/>
                <a:cxnLst/>
                <a:rect l="l" t="t" r="r" b="b"/>
                <a:pathLst>
                  <a:path w="9525" h="3048000">
                    <a:moveTo>
                      <a:pt x="0" y="0"/>
                    </a:moveTo>
                    <a:lnTo>
                      <a:pt x="0" y="3048000"/>
                    </a:lnTo>
                  </a:path>
                </a:pathLst>
              </a:custGeom>
              <a:noFill/>
              <a:ln w="28575">
                <a:solidFill>
                  <a:srgbClr val="FFFFFF"/>
                </a:solidFill>
              </a:ln>
            </p:spPr>
          </p:sp>
          <p:sp>
            <p:nvSpPr>
              <p:cNvPr id="23" name="Line 23"/>
              <p:cNvSpPr/>
              <p:nvPr/>
            </p:nvSpPr>
            <p:spPr>
              <a:xfrm>
                <a:off x="3238500" y="3667125"/>
                <a:ext cx="3048000" cy="9525"/>
              </a:xfrm>
              <a:custGeom>
                <a:avLst/>
                <a:gdLst/>
                <a:ahLst/>
                <a:cxnLst/>
                <a:rect l="l" t="t" r="r" b="b"/>
                <a:pathLst>
                  <a:path w="3048000" h="9525">
                    <a:moveTo>
                      <a:pt x="0" y="0"/>
                    </a:moveTo>
                    <a:lnTo>
                      <a:pt x="3048000" y="0"/>
                    </a:lnTo>
                  </a:path>
                </a:pathLst>
              </a:custGeom>
              <a:noFill/>
              <a:ln w="28575">
                <a:solidFill>
                  <a:srgbClr val="FFFFFF"/>
                </a:solidFill>
              </a:ln>
            </p:spPr>
          </p:sp>
          <p:sp>
            <p:nvSpPr>
              <p:cNvPr id="24" name="Line 24"/>
              <p:cNvSpPr/>
              <p:nvPr/>
            </p:nvSpPr>
            <p:spPr>
              <a:xfrm>
                <a:off x="3686175" y="2590800"/>
                <a:ext cx="2152650" cy="2152650"/>
              </a:xfrm>
              <a:custGeom>
                <a:avLst/>
                <a:gdLst/>
                <a:ahLst/>
                <a:cxnLst/>
                <a:rect l="l" t="t" r="r" b="b"/>
                <a:pathLst>
                  <a:path w="2152650" h="2152650">
                    <a:moveTo>
                      <a:pt x="0" y="0"/>
                    </a:moveTo>
                    <a:lnTo>
                      <a:pt x="2152650" y="2152650"/>
                    </a:lnTo>
                  </a:path>
                </a:pathLst>
              </a:custGeom>
              <a:noFill/>
              <a:ln w="28575">
                <a:solidFill>
                  <a:srgbClr val="FFFFFF"/>
                </a:solidFill>
              </a:ln>
            </p:spPr>
          </p:sp>
          <p:sp>
            <p:nvSpPr>
              <p:cNvPr id="25" name="Line 25"/>
              <p:cNvSpPr/>
              <p:nvPr/>
            </p:nvSpPr>
            <p:spPr>
              <a:xfrm>
                <a:off x="3686175" y="2590800"/>
                <a:ext cx="2152650" cy="2152650"/>
              </a:xfrm>
              <a:custGeom>
                <a:avLst/>
                <a:gdLst/>
                <a:ahLst/>
                <a:cxnLst/>
                <a:rect l="l" t="t" r="r" b="b"/>
                <a:pathLst>
                  <a:path w="2152650" h="2152650">
                    <a:moveTo>
                      <a:pt x="2152650" y="0"/>
                    </a:moveTo>
                    <a:lnTo>
                      <a:pt x="0" y="2152650"/>
                    </a:lnTo>
                  </a:path>
                </a:pathLst>
              </a:custGeom>
              <a:noFill/>
              <a:ln w="28575">
                <a:solidFill>
                  <a:srgbClr val="FFFFFF"/>
                </a:solidFill>
              </a:ln>
            </p:spPr>
          </p:sp>
        </p:grpSp>
        <p:sp>
          <p:nvSpPr>
            <p:cNvPr id="27" name="Polygon 27"/>
            <p:cNvSpPr/>
            <p:nvPr/>
          </p:nvSpPr>
          <p:spPr>
            <a:xfrm>
              <a:off x="4591050" y="3086100"/>
              <a:ext cx="504825" cy="857250"/>
            </a:xfrm>
            <a:custGeom>
              <a:avLst/>
              <a:gdLst/>
              <a:ahLst/>
              <a:cxnLst/>
              <a:rect l="l" t="t" r="r" b="b"/>
              <a:pathLst>
                <a:path w="504825" h="857250">
                  <a:moveTo>
                    <a:pt x="171450" y="0"/>
                  </a:moveTo>
                  <a:lnTo>
                    <a:pt x="504825" y="247650"/>
                  </a:lnTo>
                  <a:lnTo>
                    <a:pt x="295275" y="581025"/>
                  </a:lnTo>
                  <a:lnTo>
                    <a:pt x="342900" y="752475"/>
                  </a:lnTo>
                  <a:lnTo>
                    <a:pt x="171450" y="857250"/>
                  </a:lnTo>
                  <a:lnTo>
                    <a:pt x="76200" y="676275"/>
                  </a:lnTo>
                  <a:lnTo>
                    <a:pt x="38100" y="581025"/>
                  </a:lnTo>
                  <a:lnTo>
                    <a:pt x="0" y="409575"/>
                  </a:lnTo>
                  <a:close/>
                </a:path>
              </a:pathLst>
            </a:custGeom>
            <a:solidFill>
              <a:srgbClr val="C45F4A">
                <a:alpha val="15000"/>
              </a:srgbClr>
            </a:solidFill>
            <a:ln w="14288">
              <a:solidFill>
                <a:srgbClr val="C45F4A"/>
              </a:solidFill>
            </a:ln>
          </p:spPr>
        </p:sp>
        <p:grpSp>
          <p:nvGrpSpPr>
            <p:cNvPr id="36" name="Group 36"/>
            <p:cNvGrpSpPr/>
            <p:nvPr/>
          </p:nvGrpSpPr>
          <p:grpSpPr>
            <a:xfrm>
              <a:off x="4562475" y="3057525"/>
              <a:ext cx="561975" cy="914400"/>
              <a:chOff x="4562475" y="3057525"/>
              <a:chExt cx="561975" cy="914400"/>
            </a:xfrm>
          </p:grpSpPr>
          <p:sp>
            <p:nvSpPr>
              <p:cNvPr id="28" name="Ellipse 28"/>
              <p:cNvSpPr/>
              <p:nvPr/>
            </p:nvSpPr>
            <p:spPr>
              <a:xfrm>
                <a:off x="4733925" y="3057525"/>
                <a:ext cx="57150" cy="57150"/>
              </a:xfrm>
              <a:prstGeom prst="ellipse">
                <a:avLst/>
              </a:prstGeom>
              <a:solidFill>
                <a:srgbClr val="C45F4A"/>
              </a:solidFill>
              <a:ln>
                <a:noFill/>
              </a:ln>
            </p:spPr>
          </p:sp>
          <p:sp>
            <p:nvSpPr>
              <p:cNvPr id="29" name="Ellipse 29"/>
              <p:cNvSpPr/>
              <p:nvPr/>
            </p:nvSpPr>
            <p:spPr>
              <a:xfrm>
                <a:off x="5067300" y="3305175"/>
                <a:ext cx="57150" cy="57150"/>
              </a:xfrm>
              <a:prstGeom prst="ellipse">
                <a:avLst/>
              </a:prstGeom>
              <a:solidFill>
                <a:srgbClr val="C45F4A"/>
              </a:solidFill>
              <a:ln>
                <a:noFill/>
              </a:ln>
            </p:spPr>
          </p:sp>
          <p:sp>
            <p:nvSpPr>
              <p:cNvPr id="30" name="Ellipse 30"/>
              <p:cNvSpPr/>
              <p:nvPr/>
            </p:nvSpPr>
            <p:spPr>
              <a:xfrm>
                <a:off x="4857750" y="3638550"/>
                <a:ext cx="57150" cy="57150"/>
              </a:xfrm>
              <a:prstGeom prst="ellipse">
                <a:avLst/>
              </a:prstGeom>
              <a:solidFill>
                <a:srgbClr val="C45F4A"/>
              </a:solidFill>
              <a:ln>
                <a:noFill/>
              </a:ln>
            </p:spPr>
          </p:sp>
          <p:sp>
            <p:nvSpPr>
              <p:cNvPr id="31" name="Ellipse 31"/>
              <p:cNvSpPr/>
              <p:nvPr/>
            </p:nvSpPr>
            <p:spPr>
              <a:xfrm>
                <a:off x="4905375" y="3810000"/>
                <a:ext cx="57150" cy="57150"/>
              </a:xfrm>
              <a:prstGeom prst="ellipse">
                <a:avLst/>
              </a:prstGeom>
              <a:solidFill>
                <a:srgbClr val="C45F4A"/>
              </a:solidFill>
              <a:ln>
                <a:noFill/>
              </a:ln>
            </p:spPr>
          </p:sp>
          <p:sp>
            <p:nvSpPr>
              <p:cNvPr id="32" name="Ellipse 32"/>
              <p:cNvSpPr/>
              <p:nvPr/>
            </p:nvSpPr>
            <p:spPr>
              <a:xfrm>
                <a:off x="4733925" y="3914775"/>
                <a:ext cx="57150" cy="57150"/>
              </a:xfrm>
              <a:prstGeom prst="ellipse">
                <a:avLst/>
              </a:prstGeom>
              <a:solidFill>
                <a:srgbClr val="C45F4A"/>
              </a:solidFill>
              <a:ln>
                <a:noFill/>
              </a:ln>
            </p:spPr>
          </p:sp>
          <p:sp>
            <p:nvSpPr>
              <p:cNvPr id="33" name="Ellipse 33"/>
              <p:cNvSpPr/>
              <p:nvPr/>
            </p:nvSpPr>
            <p:spPr>
              <a:xfrm>
                <a:off x="4638675" y="3733800"/>
                <a:ext cx="57150" cy="57150"/>
              </a:xfrm>
              <a:prstGeom prst="ellipse">
                <a:avLst/>
              </a:prstGeom>
              <a:solidFill>
                <a:srgbClr val="C45F4A"/>
              </a:solidFill>
              <a:ln>
                <a:noFill/>
              </a:ln>
            </p:spPr>
          </p:sp>
          <p:sp>
            <p:nvSpPr>
              <p:cNvPr id="34" name="Ellipse 34"/>
              <p:cNvSpPr/>
              <p:nvPr/>
            </p:nvSpPr>
            <p:spPr>
              <a:xfrm>
                <a:off x="4600575" y="3638550"/>
                <a:ext cx="57150" cy="57150"/>
              </a:xfrm>
              <a:prstGeom prst="ellipse">
                <a:avLst/>
              </a:prstGeom>
              <a:solidFill>
                <a:srgbClr val="C45F4A"/>
              </a:solidFill>
              <a:ln>
                <a:noFill/>
              </a:ln>
            </p:spPr>
          </p:sp>
          <p:sp>
            <p:nvSpPr>
              <p:cNvPr id="35" name="Ellipse 35"/>
              <p:cNvSpPr/>
              <p:nvPr/>
            </p:nvSpPr>
            <p:spPr>
              <a:xfrm>
                <a:off x="4562475" y="3467100"/>
                <a:ext cx="57150" cy="57150"/>
              </a:xfrm>
              <a:prstGeom prst="ellipse">
                <a:avLst/>
              </a:prstGeom>
              <a:solidFill>
                <a:srgbClr val="C45F4A"/>
              </a:solidFill>
              <a:ln>
                <a:noFill/>
              </a:ln>
            </p:spPr>
          </p:sp>
        </p:grpSp>
        <p:grpSp>
          <p:nvGrpSpPr>
            <p:cNvPr id="45" name="Group 45"/>
            <p:cNvGrpSpPr/>
            <p:nvPr/>
          </p:nvGrpSpPr>
          <p:grpSpPr>
            <a:xfrm>
              <a:off x="3759101" y="2818686"/>
              <a:ext cx="2072671" cy="1807369"/>
              <a:chOff x="3759101" y="2818686"/>
              <a:chExt cx="2072671" cy="1807369"/>
            </a:xfrm>
          </p:grpSpPr>
          <p:sp>
            <p:nvSpPr>
              <p:cNvPr id="37" name="TextBox 37"/>
              <p:cNvSpPr txBox="1"/>
              <p:nvPr/>
            </p:nvSpPr>
            <p:spPr>
              <a:xfrm>
                <a:off x="4588579" y="2818686"/>
                <a:ext cx="347843" cy="140494"/>
              </a:xfrm>
              <a:prstGeom prst="rect">
                <a:avLst/>
              </a:prstGeom>
              <a:noFill/>
              <a:ln>
                <a:noFill/>
              </a:ln>
            </p:spPr>
            <p:txBody>
              <a:bodyPr wrap="none" lIns="0" tIns="0" rIns="0" bIns="0" anchor="t" anchorCtr="0">
                <a:spAutoFit/>
              </a:bodyPr>
              <a:lstStyle/>
              <a:p>
                <a:pPr algn="ctr"/>
                <a:r>
                  <a:rPr lang="en-US" sz="710" dirty="0">
                    <a:solidFill>
                      <a:srgbClr val="88706B"/>
                    </a:solidFill>
                    <a:latin typeface="+mn-lt"/>
                    <a:ea typeface="+mn-ea"/>
                    <a:cs typeface="+mn-cs"/>
                  </a:rPr>
                  <a:t>TGI 103</a:t>
                </a:r>
              </a:p>
            </p:txBody>
          </p:sp>
          <p:sp>
            <p:nvSpPr>
              <p:cNvPr id="38" name="TextBox 38"/>
              <p:cNvSpPr txBox="1"/>
              <p:nvPr/>
            </p:nvSpPr>
            <p:spPr>
              <a:xfrm>
                <a:off x="5206901" y="3066336"/>
                <a:ext cx="292298" cy="140494"/>
              </a:xfrm>
              <a:prstGeom prst="rect">
                <a:avLst/>
              </a:prstGeom>
              <a:noFill/>
              <a:ln>
                <a:noFill/>
              </a:ln>
            </p:spPr>
            <p:txBody>
              <a:bodyPr wrap="none" lIns="0" tIns="0" rIns="0" bIns="0" anchor="t" anchorCtr="0">
                <a:spAutoFit/>
              </a:bodyPr>
              <a:lstStyle/>
              <a:p>
                <a:pPr algn="ctr"/>
                <a:r>
                  <a:rPr lang="en-US" sz="710" dirty="0">
                    <a:solidFill>
                      <a:srgbClr val="88706B"/>
                    </a:solidFill>
                    <a:latin typeface="+mn-lt"/>
                    <a:ea typeface="+mn-ea"/>
                    <a:cs typeface="+mn-cs"/>
                  </a:rPr>
                  <a:t>TGI 99</a:t>
                </a:r>
              </a:p>
            </p:txBody>
          </p:sp>
          <p:sp>
            <p:nvSpPr>
              <p:cNvPr id="39" name="TextBox 39"/>
              <p:cNvSpPr txBox="1"/>
              <p:nvPr/>
            </p:nvSpPr>
            <p:spPr>
              <a:xfrm>
                <a:off x="5483929" y="3647361"/>
                <a:ext cx="347843" cy="140494"/>
              </a:xfrm>
              <a:prstGeom prst="rect">
                <a:avLst/>
              </a:prstGeom>
              <a:noFill/>
              <a:ln>
                <a:noFill/>
              </a:ln>
            </p:spPr>
            <p:txBody>
              <a:bodyPr wrap="none" lIns="0" tIns="0" rIns="0" bIns="0" anchor="t" anchorCtr="0">
                <a:spAutoFit/>
              </a:bodyPr>
              <a:lstStyle/>
              <a:p>
                <a:pPr algn="ctr"/>
                <a:r>
                  <a:rPr lang="en-US" sz="710" dirty="0">
                    <a:solidFill>
                      <a:srgbClr val="88706B"/>
                    </a:solidFill>
                    <a:latin typeface="+mn-lt"/>
                    <a:ea typeface="+mn-ea"/>
                    <a:cs typeface="+mn-cs"/>
                  </a:rPr>
                  <a:t>TGI 111</a:t>
                </a:r>
              </a:p>
            </p:txBody>
          </p:sp>
          <p:sp>
            <p:nvSpPr>
              <p:cNvPr id="40" name="TextBox 40"/>
              <p:cNvSpPr txBox="1"/>
              <p:nvPr/>
            </p:nvSpPr>
            <p:spPr>
              <a:xfrm>
                <a:off x="5179129" y="4247436"/>
                <a:ext cx="347843" cy="140494"/>
              </a:xfrm>
              <a:prstGeom prst="rect">
                <a:avLst/>
              </a:prstGeom>
              <a:noFill/>
              <a:ln>
                <a:noFill/>
              </a:ln>
            </p:spPr>
            <p:txBody>
              <a:bodyPr wrap="none" lIns="0" tIns="0" rIns="0" bIns="0" anchor="t" anchorCtr="0">
                <a:spAutoFit/>
              </a:bodyPr>
              <a:lstStyle/>
              <a:p>
                <a:pPr algn="ctr"/>
                <a:r>
                  <a:rPr lang="en-US" sz="710" dirty="0">
                    <a:solidFill>
                      <a:srgbClr val="88706B"/>
                    </a:solidFill>
                    <a:latin typeface="+mn-lt"/>
                    <a:ea typeface="+mn-ea"/>
                    <a:cs typeface="+mn-cs"/>
                  </a:rPr>
                  <a:t>TGI 109</a:t>
                </a:r>
              </a:p>
            </p:txBody>
          </p:sp>
          <p:sp>
            <p:nvSpPr>
              <p:cNvPr id="41" name="TextBox 41"/>
              <p:cNvSpPr txBox="1"/>
              <p:nvPr/>
            </p:nvSpPr>
            <p:spPr>
              <a:xfrm>
                <a:off x="4588579" y="4485561"/>
                <a:ext cx="347843" cy="140494"/>
              </a:xfrm>
              <a:prstGeom prst="rect">
                <a:avLst/>
              </a:prstGeom>
              <a:noFill/>
              <a:ln>
                <a:noFill/>
              </a:ln>
            </p:spPr>
            <p:txBody>
              <a:bodyPr wrap="none" lIns="0" tIns="0" rIns="0" bIns="0" anchor="t" anchorCtr="0">
                <a:spAutoFit/>
              </a:bodyPr>
              <a:lstStyle/>
              <a:p>
                <a:pPr algn="ctr"/>
                <a:r>
                  <a:rPr lang="en-US" sz="710" dirty="0">
                    <a:solidFill>
                      <a:srgbClr val="88706B"/>
                    </a:solidFill>
                    <a:latin typeface="+mn-lt"/>
                    <a:ea typeface="+mn-ea"/>
                    <a:cs typeface="+mn-cs"/>
                  </a:rPr>
                  <a:t>TGI 110</a:t>
                </a:r>
              </a:p>
            </p:txBody>
          </p:sp>
          <p:sp>
            <p:nvSpPr>
              <p:cNvPr id="42" name="TextBox 42"/>
              <p:cNvSpPr txBox="1"/>
              <p:nvPr/>
            </p:nvSpPr>
            <p:spPr>
              <a:xfrm>
                <a:off x="3998029" y="4247436"/>
                <a:ext cx="347843" cy="140494"/>
              </a:xfrm>
              <a:prstGeom prst="rect">
                <a:avLst/>
              </a:prstGeom>
              <a:noFill/>
              <a:ln>
                <a:noFill/>
              </a:ln>
            </p:spPr>
            <p:txBody>
              <a:bodyPr wrap="none" lIns="0" tIns="0" rIns="0" bIns="0" anchor="t" anchorCtr="0">
                <a:spAutoFit/>
              </a:bodyPr>
              <a:lstStyle/>
              <a:p>
                <a:pPr algn="ctr"/>
                <a:r>
                  <a:rPr lang="en-US" sz="710" dirty="0">
                    <a:solidFill>
                      <a:srgbClr val="88706B"/>
                    </a:solidFill>
                    <a:latin typeface="+mn-lt"/>
                    <a:ea typeface="+mn-ea"/>
                    <a:cs typeface="+mn-cs"/>
                  </a:rPr>
                  <a:t>TGI 111</a:t>
                </a:r>
              </a:p>
            </p:txBody>
          </p:sp>
          <p:sp>
            <p:nvSpPr>
              <p:cNvPr id="43" name="TextBox 43"/>
              <p:cNvSpPr txBox="1"/>
              <p:nvPr/>
            </p:nvSpPr>
            <p:spPr>
              <a:xfrm>
                <a:off x="3759101" y="3647361"/>
                <a:ext cx="292298" cy="140494"/>
              </a:xfrm>
              <a:prstGeom prst="rect">
                <a:avLst/>
              </a:prstGeom>
              <a:noFill/>
              <a:ln>
                <a:noFill/>
              </a:ln>
            </p:spPr>
            <p:txBody>
              <a:bodyPr wrap="none" lIns="0" tIns="0" rIns="0" bIns="0" anchor="t" anchorCtr="0">
                <a:spAutoFit/>
              </a:bodyPr>
              <a:lstStyle/>
              <a:p>
                <a:pPr algn="ctr"/>
                <a:r>
                  <a:rPr lang="en-US" sz="710" dirty="0">
                    <a:solidFill>
                      <a:srgbClr val="88706B"/>
                    </a:solidFill>
                    <a:latin typeface="+mn-lt"/>
                    <a:ea typeface="+mn-ea"/>
                    <a:cs typeface="+mn-cs"/>
                  </a:rPr>
                  <a:t>TGI 89</a:t>
                </a:r>
              </a:p>
            </p:txBody>
          </p:sp>
          <p:sp>
            <p:nvSpPr>
              <p:cNvPr id="44" name="TextBox 44"/>
              <p:cNvSpPr txBox="1"/>
              <p:nvPr/>
            </p:nvSpPr>
            <p:spPr>
              <a:xfrm>
                <a:off x="3998029" y="3066336"/>
                <a:ext cx="347843" cy="140494"/>
              </a:xfrm>
              <a:prstGeom prst="rect">
                <a:avLst/>
              </a:prstGeom>
              <a:noFill/>
              <a:ln>
                <a:noFill/>
              </a:ln>
            </p:spPr>
            <p:txBody>
              <a:bodyPr wrap="none" lIns="0" tIns="0" rIns="0" bIns="0" anchor="t" anchorCtr="0">
                <a:spAutoFit/>
              </a:bodyPr>
              <a:lstStyle/>
              <a:p>
                <a:pPr algn="ctr"/>
                <a:r>
                  <a:rPr lang="en-US" sz="710" dirty="0">
                    <a:solidFill>
                      <a:srgbClr val="88706B"/>
                    </a:solidFill>
                    <a:latin typeface="+mn-lt"/>
                    <a:ea typeface="+mn-ea"/>
                    <a:cs typeface="+mn-cs"/>
                  </a:rPr>
                  <a:t>TGI 135</a:t>
                </a:r>
              </a:p>
            </p:txBody>
          </p:sp>
        </p:grpSp>
        <p:sp>
          <p:nvSpPr>
            <p:cNvPr id="46" name="Ellipse 46"/>
            <p:cNvSpPr/>
            <p:nvPr/>
          </p:nvSpPr>
          <p:spPr>
            <a:xfrm>
              <a:off x="4438650" y="2009775"/>
              <a:ext cx="647700" cy="647700"/>
            </a:xfrm>
            <a:prstGeom prst="ellipse">
              <a:avLst/>
            </a:prstGeom>
            <a:gradFill>
              <a:gsLst>
                <a:gs pos="0">
                  <a:srgbClr val="F07E6A"/>
                </a:gs>
                <a:gs pos="100000">
                  <a:srgbClr val="DD5740"/>
                </a:gs>
              </a:gsLst>
              <a:path path="circle">
                <a:fillToRect l="40000" t="35000" r="60000" b="65000"/>
              </a:path>
            </a:gradFill>
            <a:ln>
              <a:noFill/>
            </a:ln>
          </p:spPr>
        </p:sp>
        <p:sp>
          <p:nvSpPr>
            <p:cNvPr id="47" name="TextBox 47"/>
            <p:cNvSpPr txBox="1"/>
            <p:nvPr/>
          </p:nvSpPr>
          <p:spPr>
            <a:xfrm>
              <a:off x="4549458" y="2225516"/>
              <a:ext cx="42608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FFFFFF"/>
                  </a:solidFill>
                  <a:latin typeface="+mn-lt"/>
                  <a:ea typeface="+mn-ea"/>
                  <a:cs typeface="+mn-cs"/>
                </a:rPr>
                <a:t>自由享乐</a:t>
              </a:r>
            </a:p>
            <a:p>
              <a:pPr algn="ctr">
                <a:lnSpc>
                  <a:spcPts val="1275"/>
                </a:lnSpc>
              </a:pPr>
              <a:r>
                <a:rPr lang="zh-CN" sz="1120" b="1" dirty="0">
                  <a:solidFill>
                    <a:srgbClr val="FFFFFF"/>
                  </a:solidFill>
                  <a:latin typeface="+mn-lt"/>
                  <a:ea typeface="+mn-ea"/>
                  <a:cs typeface="+mn-cs"/>
                </a:rPr>
                <a:t>76%</a:t>
              </a:r>
            </a:p>
          </p:txBody>
        </p:sp>
        <p:sp>
          <p:nvSpPr>
            <p:cNvPr id="48" name="Ellipse 48"/>
            <p:cNvSpPr/>
            <p:nvPr/>
          </p:nvSpPr>
          <p:spPr>
            <a:xfrm>
              <a:off x="5381625" y="2400300"/>
              <a:ext cx="647700" cy="647700"/>
            </a:xfrm>
            <a:prstGeom prst="ellipse">
              <a:avLst/>
            </a:prstGeom>
            <a:gradFill>
              <a:gsLst>
                <a:gs pos="0">
                  <a:srgbClr val="E89C8C"/>
                </a:gs>
                <a:gs pos="100000">
                  <a:srgbClr val="A84F3D"/>
                </a:gs>
              </a:gsLst>
              <a:path path="circle">
                <a:fillToRect l="40000" t="35000" r="60000" b="65000"/>
              </a:path>
            </a:gradFill>
            <a:ln>
              <a:noFill/>
            </a:ln>
          </p:spPr>
        </p:sp>
        <p:sp>
          <p:nvSpPr>
            <p:cNvPr id="49" name="TextBox 49"/>
            <p:cNvSpPr txBox="1"/>
            <p:nvPr/>
          </p:nvSpPr>
          <p:spPr>
            <a:xfrm>
              <a:off x="5492432" y="2616041"/>
              <a:ext cx="42608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FFFFFF"/>
                  </a:solidFill>
                  <a:latin typeface="+mn-lt"/>
                  <a:ea typeface="+mn-ea"/>
                  <a:cs typeface="+mn-cs"/>
                </a:rPr>
                <a:t>激发活力</a:t>
              </a:r>
            </a:p>
            <a:p>
              <a:pPr algn="ctr">
                <a:lnSpc>
                  <a:spcPts val="1275"/>
                </a:lnSpc>
              </a:pPr>
              <a:r>
                <a:rPr lang="zh-CN" sz="1120" b="1" dirty="0">
                  <a:solidFill>
                    <a:srgbClr val="FFFFFF"/>
                  </a:solidFill>
                  <a:latin typeface="+mn-lt"/>
                  <a:ea typeface="+mn-ea"/>
                  <a:cs typeface="+mn-cs"/>
                </a:rPr>
                <a:t>63%</a:t>
              </a:r>
            </a:p>
          </p:txBody>
        </p:sp>
        <p:sp>
          <p:nvSpPr>
            <p:cNvPr id="50" name="Ellipse 50"/>
            <p:cNvSpPr/>
            <p:nvPr/>
          </p:nvSpPr>
          <p:spPr>
            <a:xfrm>
              <a:off x="5772150" y="3343275"/>
              <a:ext cx="647700" cy="647700"/>
            </a:xfrm>
            <a:prstGeom prst="ellipse">
              <a:avLst/>
            </a:prstGeom>
            <a:gradFill>
              <a:gsLst>
                <a:gs pos="0">
                  <a:srgbClr val="E89C8C"/>
                </a:gs>
                <a:gs pos="100000">
                  <a:srgbClr val="A84F3D"/>
                </a:gs>
              </a:gsLst>
              <a:path path="circle">
                <a:fillToRect l="40000" t="35000" r="60000" b="65000"/>
              </a:path>
            </a:gradFill>
            <a:ln>
              <a:noFill/>
            </a:ln>
          </p:spPr>
        </p:sp>
        <p:sp>
          <p:nvSpPr>
            <p:cNvPr id="51" name="TextBox 51"/>
            <p:cNvSpPr txBox="1"/>
            <p:nvPr/>
          </p:nvSpPr>
          <p:spPr>
            <a:xfrm>
              <a:off x="5882958" y="3559016"/>
              <a:ext cx="42608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FFFFFF"/>
                  </a:solidFill>
                  <a:latin typeface="+mn-lt"/>
                  <a:ea typeface="+mn-ea"/>
                  <a:cs typeface="+mn-cs"/>
                </a:rPr>
                <a:t>责任关怀</a:t>
              </a:r>
            </a:p>
            <a:p>
              <a:pPr algn="ctr">
                <a:lnSpc>
                  <a:spcPts val="1275"/>
                </a:lnSpc>
              </a:pPr>
              <a:r>
                <a:rPr lang="zh-CN" sz="1120" b="1" dirty="0">
                  <a:solidFill>
                    <a:srgbClr val="FFFFFF"/>
                  </a:solidFill>
                  <a:latin typeface="+mn-lt"/>
                  <a:ea typeface="+mn-ea"/>
                  <a:cs typeface="+mn-cs"/>
                </a:rPr>
                <a:t>16%</a:t>
              </a:r>
            </a:p>
          </p:txBody>
        </p:sp>
        <p:sp>
          <p:nvSpPr>
            <p:cNvPr id="52" name="Ellipse 52"/>
            <p:cNvSpPr/>
            <p:nvPr/>
          </p:nvSpPr>
          <p:spPr>
            <a:xfrm>
              <a:off x="5381625" y="4286250"/>
              <a:ext cx="647700" cy="647700"/>
            </a:xfrm>
            <a:prstGeom prst="ellipse">
              <a:avLst/>
            </a:prstGeom>
            <a:gradFill>
              <a:gsLst>
                <a:gs pos="0">
                  <a:srgbClr val="E89C8C"/>
                </a:gs>
                <a:gs pos="100000">
                  <a:srgbClr val="A84F3D"/>
                </a:gs>
              </a:gsLst>
              <a:path path="circle">
                <a:fillToRect l="40000" t="35000" r="60000" b="65000"/>
              </a:path>
            </a:gradFill>
            <a:ln>
              <a:noFill/>
            </a:ln>
          </p:spPr>
        </p:sp>
        <p:sp>
          <p:nvSpPr>
            <p:cNvPr id="53" name="TextBox 53"/>
            <p:cNvSpPr txBox="1"/>
            <p:nvPr/>
          </p:nvSpPr>
          <p:spPr>
            <a:xfrm>
              <a:off x="5492432" y="4501991"/>
              <a:ext cx="42608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FFFFFF"/>
                  </a:solidFill>
                  <a:latin typeface="+mn-lt"/>
                  <a:ea typeface="+mn-ea"/>
                  <a:cs typeface="+mn-cs"/>
                </a:rPr>
                <a:t>安全舒适</a:t>
              </a:r>
            </a:p>
            <a:p>
              <a:pPr algn="ctr">
                <a:lnSpc>
                  <a:spcPts val="1275"/>
                </a:lnSpc>
              </a:pPr>
              <a:r>
                <a:rPr lang="zh-CN" sz="1120" b="1" dirty="0">
                  <a:solidFill>
                    <a:srgbClr val="FFFFFF"/>
                  </a:solidFill>
                  <a:latin typeface="+mn-lt"/>
                  <a:ea typeface="+mn-ea"/>
                  <a:cs typeface="+mn-cs"/>
                </a:rPr>
                <a:t>32%</a:t>
              </a:r>
            </a:p>
          </p:txBody>
        </p:sp>
        <p:sp>
          <p:nvSpPr>
            <p:cNvPr id="54" name="Ellipse 54"/>
            <p:cNvSpPr/>
            <p:nvPr/>
          </p:nvSpPr>
          <p:spPr>
            <a:xfrm>
              <a:off x="4438650" y="4676775"/>
              <a:ext cx="647700" cy="647700"/>
            </a:xfrm>
            <a:prstGeom prst="ellipse">
              <a:avLst/>
            </a:prstGeom>
            <a:gradFill>
              <a:gsLst>
                <a:gs pos="0">
                  <a:srgbClr val="E89C8C"/>
                </a:gs>
                <a:gs pos="100000">
                  <a:srgbClr val="A84F3D"/>
                </a:gs>
              </a:gsLst>
              <a:path path="circle">
                <a:fillToRect l="40000" t="35000" r="60000" b="65000"/>
              </a:path>
            </a:gradFill>
            <a:ln>
              <a:noFill/>
            </a:ln>
          </p:spPr>
        </p:sp>
        <p:sp>
          <p:nvSpPr>
            <p:cNvPr id="55" name="TextBox 55"/>
            <p:cNvSpPr txBox="1"/>
            <p:nvPr/>
          </p:nvSpPr>
          <p:spPr>
            <a:xfrm>
              <a:off x="4549458" y="4892516"/>
              <a:ext cx="42608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FFFFFF"/>
                  </a:solidFill>
                  <a:latin typeface="+mn-lt"/>
                  <a:ea typeface="+mn-ea"/>
                  <a:cs typeface="+mn-cs"/>
                </a:rPr>
                <a:t>出行掌控</a:t>
              </a:r>
            </a:p>
            <a:p>
              <a:pPr algn="ctr">
                <a:lnSpc>
                  <a:spcPts val="1275"/>
                </a:lnSpc>
              </a:pPr>
              <a:r>
                <a:rPr lang="zh-CN" sz="1120" b="1" dirty="0">
                  <a:solidFill>
                    <a:srgbClr val="FFFFFF"/>
                  </a:solidFill>
                  <a:latin typeface="+mn-lt"/>
                  <a:ea typeface="+mn-ea"/>
                  <a:cs typeface="+mn-cs"/>
                </a:rPr>
                <a:t>36%</a:t>
              </a:r>
            </a:p>
          </p:txBody>
        </p:sp>
        <p:sp>
          <p:nvSpPr>
            <p:cNvPr id="56" name="Ellipse 56"/>
            <p:cNvSpPr/>
            <p:nvPr/>
          </p:nvSpPr>
          <p:spPr>
            <a:xfrm>
              <a:off x="3495675" y="4286250"/>
              <a:ext cx="647700" cy="647700"/>
            </a:xfrm>
            <a:prstGeom prst="ellipse">
              <a:avLst/>
            </a:prstGeom>
            <a:gradFill>
              <a:gsLst>
                <a:gs pos="0">
                  <a:srgbClr val="F07E6A"/>
                </a:gs>
                <a:gs pos="100000">
                  <a:srgbClr val="DD5740"/>
                </a:gs>
              </a:gsLst>
              <a:path path="circle">
                <a:fillToRect l="40000" t="35000" r="60000" b="65000"/>
              </a:path>
            </a:gradFill>
            <a:ln>
              <a:noFill/>
            </a:ln>
          </p:spPr>
        </p:sp>
        <p:sp>
          <p:nvSpPr>
            <p:cNvPr id="57" name="TextBox 57"/>
            <p:cNvSpPr txBox="1"/>
            <p:nvPr/>
          </p:nvSpPr>
          <p:spPr>
            <a:xfrm>
              <a:off x="3606482" y="4501991"/>
              <a:ext cx="42608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FFFFFF"/>
                  </a:solidFill>
                  <a:latin typeface="+mn-lt"/>
                  <a:ea typeface="+mn-ea"/>
                  <a:cs typeface="+mn-cs"/>
                </a:rPr>
                <a:t>彰显个性</a:t>
              </a:r>
            </a:p>
            <a:p>
              <a:pPr algn="ctr">
                <a:lnSpc>
                  <a:spcPts val="1275"/>
                </a:lnSpc>
              </a:pPr>
              <a:r>
                <a:rPr lang="zh-CN" sz="1120" b="1" dirty="0">
                  <a:solidFill>
                    <a:srgbClr val="FFFFFF"/>
                  </a:solidFill>
                  <a:latin typeface="+mn-lt"/>
                  <a:ea typeface="+mn-ea"/>
                  <a:cs typeface="+mn-cs"/>
                </a:rPr>
                <a:t>17%</a:t>
              </a:r>
            </a:p>
          </p:txBody>
        </p:sp>
        <p:sp>
          <p:nvSpPr>
            <p:cNvPr id="58" name="Ellipse 58"/>
            <p:cNvSpPr/>
            <p:nvPr/>
          </p:nvSpPr>
          <p:spPr>
            <a:xfrm>
              <a:off x="3105150" y="3343275"/>
              <a:ext cx="647700" cy="647700"/>
            </a:xfrm>
            <a:prstGeom prst="ellipse">
              <a:avLst/>
            </a:prstGeom>
            <a:gradFill>
              <a:gsLst>
                <a:gs pos="0">
                  <a:srgbClr val="F07E6A"/>
                </a:gs>
                <a:gs pos="100000">
                  <a:srgbClr val="DD5740"/>
                </a:gs>
              </a:gsLst>
              <a:path path="circle">
                <a:fillToRect l="40000" t="35000" r="60000" b="65000"/>
              </a:path>
            </a:gradFill>
            <a:ln>
              <a:noFill/>
            </a:ln>
          </p:spPr>
        </p:sp>
        <p:sp>
          <p:nvSpPr>
            <p:cNvPr id="59" name="TextBox 59"/>
            <p:cNvSpPr txBox="1"/>
            <p:nvPr/>
          </p:nvSpPr>
          <p:spPr>
            <a:xfrm>
              <a:off x="3215958" y="3559016"/>
              <a:ext cx="42608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FFFFFF"/>
                  </a:solidFill>
                  <a:latin typeface="+mn-lt"/>
                  <a:ea typeface="+mn-ea"/>
                  <a:cs typeface="+mn-cs"/>
                </a:rPr>
                <a:t>象征身份</a:t>
              </a:r>
            </a:p>
            <a:p>
              <a:pPr algn="ctr">
                <a:lnSpc>
                  <a:spcPts val="1275"/>
                </a:lnSpc>
              </a:pPr>
              <a:r>
                <a:rPr lang="zh-CN" sz="1120" b="1" dirty="0">
                  <a:solidFill>
                    <a:srgbClr val="FFFFFF"/>
                  </a:solidFill>
                  <a:latin typeface="+mn-lt"/>
                  <a:ea typeface="+mn-ea"/>
                  <a:cs typeface="+mn-cs"/>
                </a:rPr>
                <a:t>18%</a:t>
              </a:r>
            </a:p>
          </p:txBody>
        </p:sp>
        <p:sp>
          <p:nvSpPr>
            <p:cNvPr id="60" name="Ellipse 60"/>
            <p:cNvSpPr/>
            <p:nvPr/>
          </p:nvSpPr>
          <p:spPr>
            <a:xfrm>
              <a:off x="3495675" y="2400300"/>
              <a:ext cx="647700" cy="647700"/>
            </a:xfrm>
            <a:prstGeom prst="ellipse">
              <a:avLst/>
            </a:prstGeom>
            <a:gradFill>
              <a:gsLst>
                <a:gs pos="0">
                  <a:srgbClr val="F07E6A"/>
                </a:gs>
                <a:gs pos="100000">
                  <a:srgbClr val="DD5740"/>
                </a:gs>
              </a:gsLst>
              <a:path path="circle">
                <a:fillToRect l="40000" t="35000" r="60000" b="65000"/>
              </a:path>
            </a:gradFill>
            <a:ln>
              <a:noFill/>
            </a:ln>
          </p:spPr>
        </p:sp>
        <p:sp>
          <p:nvSpPr>
            <p:cNvPr id="61" name="TextBox 61"/>
            <p:cNvSpPr txBox="1"/>
            <p:nvPr/>
          </p:nvSpPr>
          <p:spPr>
            <a:xfrm>
              <a:off x="3606482" y="2616041"/>
              <a:ext cx="42608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FFFFFF"/>
                  </a:solidFill>
                  <a:latin typeface="+mn-lt"/>
                  <a:ea typeface="+mn-ea"/>
                  <a:cs typeface="+mn-cs"/>
                </a:rPr>
                <a:t>探索服务</a:t>
              </a:r>
            </a:p>
            <a:p>
              <a:pPr algn="ctr">
                <a:lnSpc>
                  <a:spcPts val="1275"/>
                </a:lnSpc>
              </a:pPr>
              <a:r>
                <a:rPr lang="zh-CN" sz="1120" b="1" dirty="0">
                  <a:solidFill>
                    <a:srgbClr val="FFFFFF"/>
                  </a:solidFill>
                  <a:latin typeface="+mn-lt"/>
                  <a:ea typeface="+mn-ea"/>
                  <a:cs typeface="+mn-cs"/>
                </a:rPr>
                <a:t>32%</a:t>
              </a:r>
            </a:p>
          </p:txBody>
        </p:sp>
      </p:grpSp>
      <p:grpSp>
        <p:nvGrpSpPr>
          <p:cNvPr id="66" name="note-r1"/>
          <p:cNvGrpSpPr/>
          <p:nvPr/>
        </p:nvGrpSpPr>
        <p:grpSpPr>
          <a:xfrm>
            <a:off x="6715125" y="1905000"/>
            <a:ext cx="2238375" cy="857250"/>
            <a:chOff x="6715125" y="1905000"/>
            <a:chExt cx="2238375" cy="857250"/>
          </a:xfrm>
        </p:grpSpPr>
        <p:sp>
          <p:nvSpPr>
            <p:cNvPr id="63" name="Rectangle 63"/>
            <p:cNvSpPr/>
            <p:nvPr/>
          </p:nvSpPr>
          <p:spPr>
            <a:xfrm>
              <a:off x="6715125" y="1905000"/>
              <a:ext cx="2238375" cy="857250"/>
            </a:xfrm>
            <a:prstGeom prst="roundRect">
              <a:avLst>
                <a:gd name="adj" fmla="val 4444"/>
              </a:avLst>
            </a:prstGeom>
            <a:solidFill>
              <a:srgbClr val="FFFFFF"/>
            </a:solidFill>
            <a:ln w="11430">
              <a:solidFill>
                <a:srgbClr val="C9D1F0"/>
              </a:solidFill>
            </a:ln>
          </p:spPr>
        </p:sp>
        <p:sp>
          <p:nvSpPr>
            <p:cNvPr id="64" name="Freeform 64"/>
            <p:cNvSpPr/>
            <p:nvPr/>
          </p:nvSpPr>
          <p:spPr>
            <a:xfrm>
              <a:off x="6800850" y="2038350"/>
              <a:ext cx="152400" cy="133350"/>
            </a:xfrm>
            <a:prstGeom prst="triangle">
              <a:avLst/>
            </a:prstGeom>
            <a:solidFill>
              <a:srgbClr val="E8634C"/>
            </a:solidFill>
            <a:ln>
              <a:noFill/>
            </a:ln>
          </p:spPr>
        </p:sp>
        <p:sp>
          <p:nvSpPr>
            <p:cNvPr id="65" name="TextBox 65"/>
            <p:cNvSpPr txBox="1"/>
            <p:nvPr/>
          </p:nvSpPr>
          <p:spPr>
            <a:xfrm>
              <a:off x="7024688" y="2063591"/>
              <a:ext cx="1347724" cy="485775"/>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能带来快速驾驭时的兴奋感</a:t>
              </a:r>
            </a:p>
            <a:p>
              <a:pPr algn="l" marL="88519" indent="-88519">
                <a:lnSpc>
                  <a:spcPts val="1275"/>
                </a:lnSpc>
                <a:buClr>
                  <a:srgbClr val="543E3A"/>
                </a:buClr>
                <a:buSzTx/>
                <a:buFontTx/>
                <a:buChar char="•"/>
              </a:pPr>
              <a:r>
                <a:rPr lang="zh-CN" sz="820" dirty="0">
                  <a:solidFill>
                    <a:srgbClr val="543E3A"/>
                  </a:solidFill>
                  <a:latin typeface="+mn-lt"/>
                  <a:ea typeface="+mn-ea"/>
                  <a:cs typeface="+mn-cs"/>
                </a:rPr>
                <a:t>让我的生活充满活力</a:t>
              </a:r>
            </a:p>
            <a:p>
              <a:pPr algn="l" marL="88519" indent="-88519">
                <a:lnSpc>
                  <a:spcPts val="1275"/>
                </a:lnSpc>
                <a:buClr>
                  <a:srgbClr val="543E3A"/>
                </a:buClr>
                <a:buSzTx/>
                <a:buFontTx/>
                <a:buChar char="•"/>
              </a:pPr>
              <a:r>
                <a:rPr lang="zh-CN" sz="820" dirty="0">
                  <a:solidFill>
                    <a:srgbClr val="543E3A"/>
                  </a:solidFill>
                  <a:latin typeface="+mn-lt"/>
                  <a:ea typeface="+mn-ea"/>
                  <a:cs typeface="+mn-cs"/>
                </a:rPr>
                <a:t>帮助我与身边的人建立联系</a:t>
              </a:r>
            </a:p>
          </p:txBody>
        </p:sp>
      </p:grpSp>
      <p:grpSp>
        <p:nvGrpSpPr>
          <p:cNvPr id="69" name="note-r2"/>
          <p:cNvGrpSpPr/>
          <p:nvPr/>
        </p:nvGrpSpPr>
        <p:grpSpPr>
          <a:xfrm>
            <a:off x="6715125" y="3190875"/>
            <a:ext cx="2238375" cy="857250"/>
            <a:chOff x="6715125" y="3190875"/>
            <a:chExt cx="2238375" cy="857250"/>
          </a:xfrm>
        </p:grpSpPr>
        <p:sp>
          <p:nvSpPr>
            <p:cNvPr id="67" name="Rectangle 67"/>
            <p:cNvSpPr/>
            <p:nvPr/>
          </p:nvSpPr>
          <p:spPr>
            <a:xfrm>
              <a:off x="6715125" y="3190875"/>
              <a:ext cx="2238375" cy="857250"/>
            </a:xfrm>
            <a:prstGeom prst="roundRect">
              <a:avLst>
                <a:gd name="adj" fmla="val 4444"/>
              </a:avLst>
            </a:prstGeom>
            <a:solidFill>
              <a:srgbClr val="FFFFFF"/>
            </a:solidFill>
            <a:ln w="11430">
              <a:solidFill>
                <a:srgbClr val="C9D1F0"/>
              </a:solidFill>
            </a:ln>
          </p:spPr>
        </p:sp>
        <p:sp>
          <p:nvSpPr>
            <p:cNvPr id="68" name="TextBox 68"/>
            <p:cNvSpPr txBox="1"/>
            <p:nvPr/>
          </p:nvSpPr>
          <p:spPr>
            <a:xfrm>
              <a:off x="6853238" y="3349466"/>
              <a:ext cx="1451864" cy="485775"/>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让我能够很好照顾到乘客</a:t>
              </a:r>
            </a:p>
            <a:p>
              <a:pPr algn="l" marL="88519" indent="-88519">
                <a:lnSpc>
                  <a:spcPts val="1275"/>
                </a:lnSpc>
                <a:buClr>
                  <a:srgbClr val="543E3A"/>
                </a:buClr>
                <a:buSzTx/>
                <a:buFontTx/>
                <a:buChar char="•"/>
              </a:pPr>
              <a:r>
                <a:rPr lang="zh-CN" sz="820" dirty="0">
                  <a:solidFill>
                    <a:srgbClr val="543E3A"/>
                  </a:solidFill>
                  <a:latin typeface="+mn-lt"/>
                  <a:ea typeface="+mn-ea"/>
                  <a:cs typeface="+mn-cs"/>
                </a:rPr>
                <a:t>作为驾驭者，体现一种责任感</a:t>
              </a:r>
            </a:p>
            <a:p>
              <a:pPr algn="l" marL="88519" indent="-88519">
                <a:lnSpc>
                  <a:spcPts val="1275"/>
                </a:lnSpc>
                <a:buClr>
                  <a:srgbClr val="543E3A"/>
                </a:buClr>
                <a:buSzTx/>
                <a:buFontTx/>
                <a:buChar char="•"/>
              </a:pPr>
              <a:r>
                <a:rPr lang="zh-CN" sz="820" dirty="0">
                  <a:solidFill>
                    <a:srgbClr val="543E3A"/>
                  </a:solidFill>
                  <a:latin typeface="+mn-lt"/>
                  <a:ea typeface="+mn-ea"/>
                  <a:cs typeface="+mn-cs"/>
                </a:rPr>
                <a:t>是被社会和圈层所接受的。</a:t>
              </a:r>
            </a:p>
          </p:txBody>
        </p:sp>
      </p:grpSp>
      <p:grpSp>
        <p:nvGrpSpPr>
          <p:cNvPr id="72" name="note-r3"/>
          <p:cNvGrpSpPr/>
          <p:nvPr/>
        </p:nvGrpSpPr>
        <p:grpSpPr>
          <a:xfrm>
            <a:off x="6715125" y="4476750"/>
            <a:ext cx="2238375" cy="857250"/>
            <a:chOff x="6715125" y="4476750"/>
            <a:chExt cx="2238375" cy="857250"/>
          </a:xfrm>
        </p:grpSpPr>
        <p:sp>
          <p:nvSpPr>
            <p:cNvPr id="70" name="Rectangle 70"/>
            <p:cNvSpPr/>
            <p:nvPr/>
          </p:nvSpPr>
          <p:spPr>
            <a:xfrm>
              <a:off x="6715125" y="4476750"/>
              <a:ext cx="2238375" cy="857250"/>
            </a:xfrm>
            <a:prstGeom prst="roundRect">
              <a:avLst>
                <a:gd name="adj" fmla="val 4444"/>
              </a:avLst>
            </a:prstGeom>
            <a:solidFill>
              <a:srgbClr val="FFFFFF"/>
            </a:solidFill>
            <a:ln w="11430">
              <a:solidFill>
                <a:srgbClr val="C9D1F0"/>
              </a:solidFill>
            </a:ln>
          </p:spPr>
        </p:sp>
        <p:sp>
          <p:nvSpPr>
            <p:cNvPr id="71" name="TextBox 71"/>
            <p:cNvSpPr txBox="1"/>
            <p:nvPr/>
          </p:nvSpPr>
          <p:spPr>
            <a:xfrm>
              <a:off x="6853238" y="4635341"/>
              <a:ext cx="1451864" cy="485775"/>
            </a:xfrm>
            <a:prstGeom prst="rect">
              <a:avLst/>
            </a:prstGeom>
            <a:noFill/>
            <a:ln>
              <a:noFill/>
            </a:ln>
          </p:spPr>
          <p:txBody>
            <a:bodyPr wrap="none" lIns="0" tIns="0" rIns="0" bIns="0" anchor="t" anchorCtr="0">
              <a:spAutoFit/>
            </a:bodyPr>
            <a:lstStyle/>
            <a:p>
              <a:pPr algn="l" marL="88519" indent="-88519">
                <a:lnSpc>
                  <a:spcPts val="1275"/>
                </a:lnSpc>
                <a:buClr>
                  <a:srgbClr val="543E3A"/>
                </a:buClr>
                <a:buSzTx/>
                <a:buFontTx/>
                <a:buChar char="•"/>
              </a:pPr>
              <a:r>
                <a:rPr lang="zh-CN" sz="820" dirty="0">
                  <a:solidFill>
                    <a:srgbClr val="543E3A"/>
                  </a:solidFill>
                  <a:latin typeface="+mn-lt"/>
                  <a:ea typeface="+mn-ea"/>
                  <a:cs typeface="+mn-cs"/>
                </a:rPr>
                <a:t>让我在驾驭过程中远离危险;</a:t>
              </a:r>
            </a:p>
            <a:p>
              <a:pPr algn="l" marL="88519" indent="-88519">
                <a:lnSpc>
                  <a:spcPts val="1275"/>
                </a:lnSpc>
                <a:buClr>
                  <a:srgbClr val="543E3A"/>
                </a:buClr>
                <a:buSzTx/>
                <a:buFontTx/>
                <a:buChar char="•"/>
              </a:pPr>
              <a:r>
                <a:rPr lang="zh-CN" sz="820" dirty="0">
                  <a:solidFill>
                    <a:srgbClr val="543E3A"/>
                  </a:solidFill>
                  <a:latin typeface="+mn-lt"/>
                  <a:ea typeface="+mn-ea"/>
                  <a:cs typeface="+mn-cs"/>
                </a:rPr>
                <a:t>减轻我在驾驭中的压力紧张感</a:t>
              </a:r>
            </a:p>
            <a:p>
              <a:pPr algn="l" marL="88519" indent="-88519">
                <a:lnSpc>
                  <a:spcPts val="1275"/>
                </a:lnSpc>
                <a:buClr>
                  <a:srgbClr val="543E3A"/>
                </a:buClr>
                <a:buSzTx/>
                <a:buFontTx/>
                <a:buChar char="•"/>
              </a:pPr>
              <a:r>
                <a:rPr lang="zh-CN" sz="820" dirty="0">
                  <a:solidFill>
                    <a:srgbClr val="543E3A"/>
                  </a:solidFill>
                  <a:latin typeface="+mn-lt"/>
                  <a:ea typeface="+mn-ea"/>
                  <a:cs typeface="+mn-cs"/>
                </a:rPr>
                <a:t>让我的驾驭体验更智能舒适</a:t>
              </a:r>
            </a:p>
          </p:txBody>
        </p:sp>
      </p:grpSp>
      <p:grpSp>
        <p:nvGrpSpPr>
          <p:cNvPr id="75" name="note-bottom"/>
          <p:cNvGrpSpPr/>
          <p:nvPr/>
        </p:nvGrpSpPr>
        <p:grpSpPr>
          <a:xfrm>
            <a:off x="381000" y="5715000"/>
            <a:ext cx="8572500" cy="419100"/>
            <a:chOff x="381000" y="5715000"/>
            <a:chExt cx="8572500" cy="419100"/>
          </a:xfrm>
        </p:grpSpPr>
        <p:sp>
          <p:nvSpPr>
            <p:cNvPr id="73" name="Rectangle 73"/>
            <p:cNvSpPr/>
            <p:nvPr/>
          </p:nvSpPr>
          <p:spPr>
            <a:xfrm>
              <a:off x="381000" y="5715000"/>
              <a:ext cx="8572500" cy="419100"/>
            </a:xfrm>
            <a:prstGeom prst="roundRect">
              <a:avLst>
                <a:gd name="adj" fmla="val 9091"/>
              </a:avLst>
            </a:prstGeom>
            <a:solidFill>
              <a:srgbClr val="FFFFFF"/>
            </a:solidFill>
            <a:ln w="11430">
              <a:solidFill>
                <a:srgbClr val="C9D1F0"/>
              </a:solidFill>
            </a:ln>
          </p:spPr>
        </p:sp>
        <p:sp>
          <p:nvSpPr>
            <p:cNvPr id="74" name="TextBox 74"/>
            <p:cNvSpPr txBox="1"/>
            <p:nvPr/>
          </p:nvSpPr>
          <p:spPr>
            <a:xfrm>
              <a:off x="1948434" y="5875020"/>
              <a:ext cx="5437632" cy="176212"/>
            </a:xfrm>
            <a:prstGeom prst="rect">
              <a:avLst/>
            </a:prstGeom>
            <a:noFill/>
            <a:ln>
              <a:noFill/>
            </a:ln>
          </p:spPr>
          <p:txBody>
            <a:bodyPr wrap="none" lIns="0" tIns="0" rIns="0" bIns="0" anchor="t" anchorCtr="0">
              <a:spAutoFit/>
            </a:bodyPr>
            <a:lstStyle/>
            <a:p>
              <a:pPr algn="ctr" marL="97155" indent="-97155">
                <a:buClr>
                  <a:srgbClr val="543E3A"/>
                </a:buClr>
                <a:buSzTx/>
                <a:buFontTx/>
                <a:buChar char="•"/>
              </a:pPr>
              <a:r>
                <a:rPr lang="zh-CN" sz="900" dirty="0">
                  <a:solidFill>
                    <a:srgbClr val="543E3A"/>
                  </a:solidFill>
                  <a:latin typeface="+mn-lt"/>
                  <a:ea typeface="+mn-ea"/>
                  <a:cs typeface="+mn-cs"/>
                </a:rPr>
                <a:t>感受到我在控制车辆，而不是被车辆控制，觉得车是一种选择，有必要时可以开车，高效抵达目的地</a:t>
              </a:r>
            </a:p>
          </p:txBody>
        </p:sp>
      </p:grpSp>
      <p:grpSp>
        <p:nvGrpSpPr>
          <p:cNvPr id="79" name="pain-title"/>
          <p:cNvGrpSpPr/>
          <p:nvPr/>
        </p:nvGrpSpPr>
        <p:grpSpPr>
          <a:xfrm>
            <a:off x="9286875" y="897731"/>
            <a:ext cx="2571750" cy="220028"/>
            <a:chOff x="9286875" y="897731"/>
            <a:chExt cx="2571750" cy="220028"/>
          </a:xfrm>
        </p:grpSpPr>
        <p:sp>
          <p:nvSpPr>
            <p:cNvPr id="76" name="Line 76"/>
            <p:cNvSpPr/>
            <p:nvPr/>
          </p:nvSpPr>
          <p:spPr>
            <a:xfrm>
              <a:off x="9286875" y="971550"/>
              <a:ext cx="809625" cy="9525"/>
            </a:xfrm>
            <a:custGeom>
              <a:avLst/>
              <a:gdLst/>
              <a:ahLst/>
              <a:cxnLst/>
              <a:rect l="l" t="t" r="r" b="b"/>
              <a:pathLst>
                <a:path w="809625" h="9525">
                  <a:moveTo>
                    <a:pt x="0" y="0"/>
                  </a:moveTo>
                  <a:lnTo>
                    <a:pt x="809625" y="0"/>
                  </a:lnTo>
                </a:path>
              </a:pathLst>
            </a:custGeom>
            <a:noFill/>
            <a:ln w="11430">
              <a:solidFill>
                <a:srgbClr val="ECC1B8"/>
              </a:solidFill>
              <a:custDash>
                <a:ds d="333333" sp="250000"/>
              </a:custDash>
            </a:ln>
          </p:spPr>
        </p:sp>
        <p:sp>
          <p:nvSpPr>
            <p:cNvPr id="77" name="TextBox 77"/>
            <p:cNvSpPr txBox="1"/>
            <p:nvPr/>
          </p:nvSpPr>
          <p:spPr>
            <a:xfrm>
              <a:off x="10265486" y="897731"/>
              <a:ext cx="614528" cy="220028"/>
            </a:xfrm>
            <a:prstGeom prst="rect">
              <a:avLst/>
            </a:prstGeom>
            <a:noFill/>
            <a:ln>
              <a:noFill/>
            </a:ln>
          </p:spPr>
          <p:txBody>
            <a:bodyPr wrap="none" lIns="0" tIns="0" rIns="0" bIns="0" anchor="t" anchorCtr="0">
              <a:spAutoFit/>
            </a:bodyPr>
            <a:lstStyle/>
            <a:p>
              <a:pPr algn="ctr"/>
              <a:r>
                <a:rPr lang="zh-CN" sz="1120" b="1" dirty="0">
                  <a:solidFill>
                    <a:srgbClr val="543E3A"/>
                  </a:solidFill>
                  <a:latin typeface="+mn-lt"/>
                  <a:ea typeface="+mn-ea"/>
                  <a:cs typeface="+mn-cs"/>
                </a:rPr>
                <a:t>核心痛点</a:t>
              </a:r>
            </a:p>
          </p:txBody>
        </p:sp>
        <p:sp>
          <p:nvSpPr>
            <p:cNvPr id="78" name="Line 78"/>
            <p:cNvSpPr/>
            <p:nvPr/>
          </p:nvSpPr>
          <p:spPr>
            <a:xfrm>
              <a:off x="11049000" y="971550"/>
              <a:ext cx="809625" cy="9525"/>
            </a:xfrm>
            <a:custGeom>
              <a:avLst/>
              <a:gdLst/>
              <a:ahLst/>
              <a:cxnLst/>
              <a:rect l="l" t="t" r="r" b="b"/>
              <a:pathLst>
                <a:path w="809625" h="9525">
                  <a:moveTo>
                    <a:pt x="0" y="0"/>
                  </a:moveTo>
                  <a:lnTo>
                    <a:pt x="809625" y="0"/>
                  </a:lnTo>
                </a:path>
              </a:pathLst>
            </a:custGeom>
            <a:noFill/>
            <a:ln w="11430">
              <a:solidFill>
                <a:srgbClr val="ECC1B8"/>
              </a:solidFill>
              <a:custDash>
                <a:ds d="333333" sp="250000"/>
              </a:custDash>
            </a:ln>
          </p:spPr>
        </p:sp>
      </p:grpSp>
      <p:grpSp>
        <p:nvGrpSpPr>
          <p:cNvPr id="88" name="pain-1"/>
          <p:cNvGrpSpPr/>
          <p:nvPr/>
        </p:nvGrpSpPr>
        <p:grpSpPr>
          <a:xfrm>
            <a:off x="9286875" y="1219200"/>
            <a:ext cx="2571750" cy="1047750"/>
            <a:chOff x="9286875" y="1219200"/>
            <a:chExt cx="2571750" cy="1047750"/>
          </a:xfrm>
        </p:grpSpPr>
        <p:sp>
          <p:nvSpPr>
            <p:cNvPr id="80" name="Rectangle 80"/>
            <p:cNvSpPr/>
            <p:nvPr/>
          </p:nvSpPr>
          <p:spPr>
            <a:xfrm>
              <a:off x="9286875" y="1219200"/>
              <a:ext cx="2571750" cy="1047750"/>
            </a:xfrm>
            <a:prstGeom prst="roundRect">
              <a:avLst>
                <a:gd name="adj" fmla="val 5455"/>
              </a:avLst>
            </a:prstGeom>
            <a:solidFill>
              <a:srgbClr val="F5F6FC"/>
            </a:solidFill>
            <a:ln>
              <a:noFill/>
            </a:ln>
          </p:spPr>
        </p:sp>
        <p:sp>
          <p:nvSpPr>
            <p:cNvPr id="81" name="Rectangle 81"/>
            <p:cNvSpPr/>
            <p:nvPr/>
          </p:nvSpPr>
          <p:spPr>
            <a:xfrm>
              <a:off x="9286875" y="1219200"/>
              <a:ext cx="857250" cy="1047750"/>
            </a:xfrm>
            <a:prstGeom prst="roundRect">
              <a:avLst>
                <a:gd name="adj" fmla="val 6667"/>
              </a:avLst>
            </a:prstGeom>
            <a:solidFill>
              <a:srgbClr val="E8634C"/>
            </a:solidFill>
            <a:ln>
              <a:noFill/>
            </a:ln>
          </p:spPr>
        </p:sp>
        <p:grpSp>
          <p:nvGrpSpPr>
            <p:cNvPr id="85" name="Group 85"/>
            <p:cNvGrpSpPr/>
            <p:nvPr/>
          </p:nvGrpSpPr>
          <p:grpSpPr>
            <a:xfrm>
              <a:off x="9607548" y="1438032"/>
              <a:ext cx="222476" cy="229059"/>
              <a:chOff x="9607548" y="1438032"/>
              <a:chExt cx="222476" cy="229059"/>
            </a:xfrm>
          </p:grpSpPr>
          <p:sp>
            <p:nvSpPr>
              <p:cNvPr id="82" name="Freeform 82"/>
              <p:cNvSpPr/>
              <p:nvPr/>
            </p:nvSpPr>
            <p:spPr>
              <a:xfrm>
                <a:off x="9675019" y="1512094"/>
                <a:ext cx="80963" cy="80963"/>
              </a:xfrm>
              <a:custGeom>
                <a:avLst/>
                <a:gdLst/>
                <a:ahLst/>
                <a:cxnLst/>
                <a:rect l="l" t="t" r="r" b="b"/>
                <a:pathLst>
                  <a:path w="80963" h="80963">
                    <a:moveTo>
                      <a:pt x="0" y="80963"/>
                    </a:moveTo>
                    <a:lnTo>
                      <a:pt x="80963" y="0"/>
                    </a:lnTo>
                  </a:path>
                </a:pathLst>
              </a:custGeom>
              <a:noFill/>
              <a:ln w="26988">
                <a:solidFill>
                  <a:srgbClr val="FFFFFF"/>
                </a:solidFill>
              </a:ln>
            </p:spPr>
          </p:sp>
          <p:sp>
            <p:nvSpPr>
              <p:cNvPr id="83" name="Freeform 83"/>
              <p:cNvSpPr/>
              <p:nvPr/>
            </p:nvSpPr>
            <p:spPr>
              <a:xfrm>
                <a:off x="9702007" y="1438032"/>
                <a:ext cx="128017" cy="128037"/>
              </a:xfrm>
              <a:custGeom>
                <a:avLst/>
                <a:gdLst/>
                <a:ahLst/>
                <a:cxnLst/>
                <a:rect l="l" t="t" r="r" b="b"/>
                <a:pathLst>
                  <a:path w="128017" h="128037">
                    <a:moveTo>
                      <a:pt x="0" y="33581"/>
                    </a:moveTo>
                    <a:lnTo>
                      <a:pt x="6248" y="26348"/>
                    </a:lnTo>
                    <a:cubicBezTo>
                      <a:pt x="32599" y="0"/>
                      <a:pt x="75321" y="3"/>
                      <a:pt x="101669" y="26355"/>
                    </a:cubicBezTo>
                    <a:cubicBezTo>
                      <a:pt x="128017" y="52706"/>
                      <a:pt x="128014" y="95428"/>
                      <a:pt x="101662" y="121776"/>
                    </a:cubicBezTo>
                    <a:lnTo>
                      <a:pt x="94456" y="128037"/>
                    </a:lnTo>
                  </a:path>
                </a:pathLst>
              </a:custGeom>
              <a:noFill/>
              <a:ln w="26988">
                <a:solidFill>
                  <a:srgbClr val="FFFFFF"/>
                </a:solidFill>
              </a:ln>
            </p:spPr>
          </p:sp>
          <p:sp>
            <p:nvSpPr>
              <p:cNvPr id="84" name="Freeform 84"/>
              <p:cNvSpPr/>
              <p:nvPr/>
            </p:nvSpPr>
            <p:spPr>
              <a:xfrm>
                <a:off x="9607548" y="1539082"/>
                <a:ext cx="121446" cy="128009"/>
              </a:xfrm>
              <a:custGeom>
                <a:avLst/>
                <a:gdLst/>
                <a:ahLst/>
                <a:cxnLst/>
                <a:rect l="l" t="t" r="r" b="b"/>
                <a:pathLst>
                  <a:path w="121446" h="128009">
                    <a:moveTo>
                      <a:pt x="121446" y="94456"/>
                    </a:moveTo>
                    <a:lnTo>
                      <a:pt x="116089" y="101662"/>
                    </a:lnTo>
                    <a:cubicBezTo>
                      <a:pt x="89446" y="128009"/>
                      <a:pt x="46562" y="128009"/>
                      <a:pt x="19919" y="101662"/>
                    </a:cubicBezTo>
                    <a:cubicBezTo>
                      <a:pt x="7173" y="89059"/>
                      <a:pt x="0" y="71880"/>
                      <a:pt x="0" y="53955"/>
                    </a:cubicBezTo>
                    <a:cubicBezTo>
                      <a:pt x="0" y="36030"/>
                      <a:pt x="7173" y="18851"/>
                      <a:pt x="19919" y="6248"/>
                    </a:cubicBezTo>
                    <a:lnTo>
                      <a:pt x="26989" y="0"/>
                    </a:lnTo>
                  </a:path>
                </a:pathLst>
              </a:custGeom>
              <a:noFill/>
              <a:ln w="26988">
                <a:solidFill>
                  <a:srgbClr val="FFFFFF"/>
                </a:solidFill>
              </a:ln>
            </p:spPr>
          </p:sp>
        </p:grpSp>
        <p:sp>
          <p:nvSpPr>
            <p:cNvPr id="86" name="TextBox 86"/>
            <p:cNvSpPr txBox="1"/>
            <p:nvPr/>
          </p:nvSpPr>
          <p:spPr>
            <a:xfrm>
              <a:off x="9468422" y="19507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生活之联</a:t>
              </a:r>
            </a:p>
          </p:txBody>
        </p:sp>
        <p:sp>
          <p:nvSpPr>
            <p:cNvPr id="87" name="TextBox 87"/>
            <p:cNvSpPr txBox="1"/>
            <p:nvPr/>
          </p:nvSpPr>
          <p:spPr>
            <a:xfrm>
              <a:off x="10244138" y="1339691"/>
              <a:ext cx="1165479" cy="6191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用车场景的不断延展将</a:t>
              </a:r>
              <a:r>
                <a:rPr lang="zh-CN" sz="820" dirty="0">
                  <a:solidFill>
                    <a:srgbClr val="E2624C"/>
                  </a:solidFill>
                  <a:latin typeface="+mn-lt"/>
                  <a:ea typeface="+mn-ea"/>
                  <a:cs typeface="+mn-cs"/>
                </a:rPr>
                <a:t>人</a:t>
              </a:r>
              <a:br/>
              <a:r>
                <a:rPr lang="zh-CN" sz="820" dirty="0">
                  <a:solidFill>
                    <a:srgbClr val="E2624C"/>
                  </a:solidFill>
                  <a:latin typeface="+mn-lt"/>
                  <a:ea typeface="+mn-ea"/>
                  <a:cs typeface="+mn-cs"/>
                </a:rPr>
                <a:t>-车-生活紧密连接</a:t>
              </a:r>
              <a:r>
                <a:rPr lang="zh-CN" sz="820" dirty="0">
                  <a:solidFill>
                    <a:srgbClr val="543E3A"/>
                  </a:solidFill>
                  <a:latin typeface="+mn-lt"/>
                  <a:ea typeface="+mn-ea"/>
                  <a:cs typeface="+mn-cs"/>
                </a:rPr>
                <a:t>，用户</a:t>
              </a:r>
              <a:br/>
              <a:r>
                <a:rPr lang="zh-CN" sz="820" dirty="0">
                  <a:solidFill>
                    <a:srgbClr val="543E3A"/>
                  </a:solidFill>
                  <a:latin typeface="+mn-lt"/>
                  <a:ea typeface="+mn-ea"/>
                  <a:cs typeface="+mn-cs"/>
                </a:rPr>
                <a:t>期待汽车能为生活带来更</a:t>
              </a:r>
              <a:br/>
              <a:r>
                <a:rPr lang="zh-CN" sz="820" dirty="0">
                  <a:solidFill>
                    <a:srgbClr val="543E3A"/>
                  </a:solidFill>
                  <a:latin typeface="+mn-lt"/>
                  <a:ea typeface="+mn-ea"/>
                  <a:cs typeface="+mn-cs"/>
                </a:rPr>
                <a:t>多活力。</a:t>
              </a:r>
            </a:p>
          </p:txBody>
        </p:sp>
      </p:grpSp>
      <p:grpSp>
        <p:nvGrpSpPr>
          <p:cNvPr id="97" name="pain-2"/>
          <p:cNvGrpSpPr/>
          <p:nvPr/>
        </p:nvGrpSpPr>
        <p:grpSpPr>
          <a:xfrm>
            <a:off x="9286875" y="2343150"/>
            <a:ext cx="2571750" cy="1047750"/>
            <a:chOff x="9286875" y="2343150"/>
            <a:chExt cx="2571750" cy="1047750"/>
          </a:xfrm>
        </p:grpSpPr>
        <p:sp>
          <p:nvSpPr>
            <p:cNvPr id="89" name="Rectangle 89"/>
            <p:cNvSpPr/>
            <p:nvPr/>
          </p:nvSpPr>
          <p:spPr>
            <a:xfrm>
              <a:off x="9286875" y="2343150"/>
              <a:ext cx="2571750" cy="1047750"/>
            </a:xfrm>
            <a:prstGeom prst="roundRect">
              <a:avLst>
                <a:gd name="adj" fmla="val 5455"/>
              </a:avLst>
            </a:prstGeom>
            <a:solidFill>
              <a:srgbClr val="F5F6FC"/>
            </a:solidFill>
            <a:ln>
              <a:noFill/>
            </a:ln>
          </p:spPr>
        </p:sp>
        <p:sp>
          <p:nvSpPr>
            <p:cNvPr id="90" name="Rectangle 90"/>
            <p:cNvSpPr/>
            <p:nvPr/>
          </p:nvSpPr>
          <p:spPr>
            <a:xfrm>
              <a:off x="9286875" y="2343150"/>
              <a:ext cx="857250" cy="1047750"/>
            </a:xfrm>
            <a:prstGeom prst="roundRect">
              <a:avLst>
                <a:gd name="adj" fmla="val 6667"/>
              </a:avLst>
            </a:prstGeom>
            <a:solidFill>
              <a:srgbClr val="C45F4A"/>
            </a:solidFill>
            <a:ln>
              <a:noFill/>
            </a:ln>
          </p:spPr>
        </p:sp>
        <p:grpSp>
          <p:nvGrpSpPr>
            <p:cNvPr id="94" name="Group 94"/>
            <p:cNvGrpSpPr/>
            <p:nvPr/>
          </p:nvGrpSpPr>
          <p:grpSpPr>
            <a:xfrm>
              <a:off x="9594056" y="2555081"/>
              <a:ext cx="242888" cy="242888"/>
              <a:chOff x="9594056" y="2555081"/>
              <a:chExt cx="242888" cy="242888"/>
            </a:xfrm>
          </p:grpSpPr>
          <p:sp>
            <p:nvSpPr>
              <p:cNvPr id="91" name="Freeform 91"/>
              <p:cNvSpPr/>
              <p:nvPr/>
            </p:nvSpPr>
            <p:spPr>
              <a:xfrm>
                <a:off x="9702007" y="2663032"/>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6988">
                <a:solidFill>
                  <a:srgbClr val="FFFFFF"/>
                </a:solidFill>
              </a:ln>
            </p:spPr>
          </p:sp>
          <p:sp>
            <p:nvSpPr>
              <p:cNvPr id="92" name="Freeform 92"/>
              <p:cNvSpPr/>
              <p:nvPr/>
            </p:nvSpPr>
            <p:spPr>
              <a:xfrm>
                <a:off x="9648031" y="2609056"/>
                <a:ext cx="134938" cy="134938"/>
              </a:xfrm>
              <a:custGeom>
                <a:avLst/>
                <a:gdLst/>
                <a:ahLst/>
                <a:cxnLst/>
                <a:rect l="l" t="t" r="r" b="b"/>
                <a:pathLst>
                  <a:path w="134938" h="134938">
                    <a:moveTo>
                      <a:pt x="0" y="67469"/>
                    </a:moveTo>
                    <a:cubicBezTo>
                      <a:pt x="0" y="104731"/>
                      <a:pt x="30207" y="134938"/>
                      <a:pt x="67469" y="134938"/>
                    </a:cubicBezTo>
                    <a:cubicBezTo>
                      <a:pt x="104731" y="134938"/>
                      <a:pt x="134938" y="104731"/>
                      <a:pt x="134938" y="67469"/>
                    </a:cubicBezTo>
                    <a:cubicBezTo>
                      <a:pt x="134938" y="30207"/>
                      <a:pt x="104731" y="0"/>
                      <a:pt x="67469" y="0"/>
                    </a:cubicBezTo>
                    <a:cubicBezTo>
                      <a:pt x="30207" y="0"/>
                      <a:pt x="0" y="30207"/>
                      <a:pt x="0" y="67469"/>
                    </a:cubicBezTo>
                  </a:path>
                </a:pathLst>
              </a:custGeom>
              <a:noFill/>
              <a:ln w="26988">
                <a:solidFill>
                  <a:srgbClr val="FFFFFF"/>
                </a:solidFill>
              </a:ln>
            </p:spPr>
          </p:sp>
          <p:sp>
            <p:nvSpPr>
              <p:cNvPr id="93" name="Freeform 93"/>
              <p:cNvSpPr/>
              <p:nvPr/>
            </p:nvSpPr>
            <p:spPr>
              <a:xfrm>
                <a:off x="9594056" y="2555081"/>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26988">
                <a:solidFill>
                  <a:srgbClr val="FFFFFF"/>
                </a:solidFill>
              </a:ln>
            </p:spPr>
          </p:sp>
        </p:grpSp>
        <p:sp>
          <p:nvSpPr>
            <p:cNvPr id="95" name="TextBox 95"/>
            <p:cNvSpPr txBox="1"/>
            <p:nvPr/>
          </p:nvSpPr>
          <p:spPr>
            <a:xfrm>
              <a:off x="9468422" y="30746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自我主导</a:t>
              </a:r>
            </a:p>
          </p:txBody>
        </p:sp>
        <p:sp>
          <p:nvSpPr>
            <p:cNvPr id="96" name="TextBox 96"/>
            <p:cNvSpPr txBox="1"/>
            <p:nvPr/>
          </p:nvSpPr>
          <p:spPr>
            <a:xfrm>
              <a:off x="10244138" y="2463641"/>
              <a:ext cx="1165479" cy="7715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车的工具属性仍然较强，</a:t>
              </a:r>
              <a:br/>
              <a:r>
                <a:rPr lang="zh-CN" sz="820" dirty="0">
                  <a:solidFill>
                    <a:srgbClr val="543E3A"/>
                  </a:solidFill>
                  <a:latin typeface="+mn-lt"/>
                  <a:ea typeface="+mn-ea"/>
                  <a:cs typeface="+mn-cs"/>
                </a:rPr>
                <a:t>用户希望“自己”是座舱内</a:t>
              </a:r>
              <a:br/>
              <a:r>
                <a:rPr lang="zh-CN" sz="820" dirty="0">
                  <a:solidFill>
                    <a:srgbClr val="543E3A"/>
                  </a:solidFill>
                  <a:latin typeface="+mn-lt"/>
                  <a:ea typeface="+mn-ea"/>
                  <a:cs typeface="+mn-cs"/>
                </a:rPr>
                <a:t>的主导者，</a:t>
              </a:r>
              <a:r>
                <a:rPr lang="zh-CN" sz="820" dirty="0">
                  <a:solidFill>
                    <a:srgbClr val="C45F4A"/>
                  </a:solidFill>
                  <a:latin typeface="+mn-lt"/>
                  <a:ea typeface="+mn-ea"/>
                  <a:cs typeface="+mn-cs"/>
                </a:rPr>
                <a:t>能够保持对车</a:t>
              </a:r>
              <a:br/>
              <a:r>
                <a:rPr lang="zh-CN" sz="820" dirty="0">
                  <a:solidFill>
                    <a:srgbClr val="C45F4A"/>
                  </a:solidFill>
                  <a:latin typeface="+mn-lt"/>
                  <a:ea typeface="+mn-ea"/>
                  <a:cs typeface="+mn-cs"/>
                </a:rPr>
                <a:t>的掌控</a:t>
              </a:r>
              <a:r>
                <a:rPr lang="zh-CN" sz="820" dirty="0">
                  <a:solidFill>
                    <a:srgbClr val="543E3A"/>
                  </a:solidFill>
                  <a:latin typeface="+mn-lt"/>
                  <a:ea typeface="+mn-ea"/>
                  <a:cs typeface="+mn-cs"/>
                </a:rPr>
                <a:t>，让自己牵引车，</a:t>
              </a:r>
              <a:br/>
              <a:r>
                <a:rPr lang="zh-CN" sz="820" dirty="0">
                  <a:solidFill>
                    <a:srgbClr val="543E3A"/>
                  </a:solidFill>
                  <a:latin typeface="+mn-lt"/>
                  <a:ea typeface="+mn-ea"/>
                  <a:cs typeface="+mn-cs"/>
                </a:rPr>
                <a:t>而非被车牵引。</a:t>
              </a:r>
            </a:p>
          </p:txBody>
        </p:sp>
      </p:grpSp>
      <p:grpSp>
        <p:nvGrpSpPr>
          <p:cNvPr id="105" name="pain-3"/>
          <p:cNvGrpSpPr/>
          <p:nvPr/>
        </p:nvGrpSpPr>
        <p:grpSpPr>
          <a:xfrm>
            <a:off x="9286875" y="3467100"/>
            <a:ext cx="2571750" cy="1047750"/>
            <a:chOff x="9286875" y="3467100"/>
            <a:chExt cx="2571750" cy="1047750"/>
          </a:xfrm>
        </p:grpSpPr>
        <p:sp>
          <p:nvSpPr>
            <p:cNvPr id="98" name="Rectangle 98"/>
            <p:cNvSpPr/>
            <p:nvPr/>
          </p:nvSpPr>
          <p:spPr>
            <a:xfrm>
              <a:off x="9286875" y="3467100"/>
              <a:ext cx="2571750" cy="1047750"/>
            </a:xfrm>
            <a:prstGeom prst="roundRect">
              <a:avLst>
                <a:gd name="adj" fmla="val 5455"/>
              </a:avLst>
            </a:prstGeom>
            <a:solidFill>
              <a:srgbClr val="F5F6FC"/>
            </a:solidFill>
            <a:ln>
              <a:noFill/>
            </a:ln>
          </p:spPr>
        </p:sp>
        <p:sp>
          <p:nvSpPr>
            <p:cNvPr id="99" name="Rectangle 99"/>
            <p:cNvSpPr/>
            <p:nvPr/>
          </p:nvSpPr>
          <p:spPr>
            <a:xfrm>
              <a:off x="9286875" y="3467100"/>
              <a:ext cx="857250" cy="1047750"/>
            </a:xfrm>
            <a:prstGeom prst="roundRect">
              <a:avLst>
                <a:gd name="adj" fmla="val 6667"/>
              </a:avLst>
            </a:prstGeom>
            <a:solidFill>
              <a:srgbClr val="E8634C"/>
            </a:solidFill>
            <a:ln>
              <a:noFill/>
            </a:ln>
          </p:spPr>
        </p:sp>
        <p:grpSp>
          <p:nvGrpSpPr>
            <p:cNvPr id="102" name="Group 102"/>
            <p:cNvGrpSpPr/>
            <p:nvPr/>
          </p:nvGrpSpPr>
          <p:grpSpPr>
            <a:xfrm>
              <a:off x="9594056" y="3679031"/>
              <a:ext cx="242889" cy="242889"/>
              <a:chOff x="9594056" y="3679031"/>
              <a:chExt cx="242889" cy="242889"/>
            </a:xfrm>
          </p:grpSpPr>
          <p:sp>
            <p:nvSpPr>
              <p:cNvPr id="100" name="Freeform 100"/>
              <p:cNvSpPr/>
              <p:nvPr/>
            </p:nvSpPr>
            <p:spPr>
              <a:xfrm>
                <a:off x="9594056" y="3679031"/>
                <a:ext cx="188913" cy="188913"/>
              </a:xfrm>
              <a:custGeom>
                <a:avLst/>
                <a:gdLst/>
                <a:ahLst/>
                <a:cxnLst/>
                <a:rect l="l" t="t" r="r" b="b"/>
                <a:pathLst>
                  <a:path w="188913" h="188913">
                    <a:moveTo>
                      <a:pt x="0" y="94456"/>
                    </a:moveTo>
                    <a:cubicBezTo>
                      <a:pt x="0" y="146623"/>
                      <a:pt x="42290" y="188913"/>
                      <a:pt x="94456" y="188913"/>
                    </a:cubicBezTo>
                    <a:cubicBezTo>
                      <a:pt x="146623" y="188913"/>
                      <a:pt x="188913" y="146623"/>
                      <a:pt x="188913" y="94456"/>
                    </a:cubicBezTo>
                    <a:cubicBezTo>
                      <a:pt x="188913" y="42290"/>
                      <a:pt x="146623" y="0"/>
                      <a:pt x="94456" y="0"/>
                    </a:cubicBezTo>
                    <a:cubicBezTo>
                      <a:pt x="42290" y="0"/>
                      <a:pt x="0" y="42290"/>
                      <a:pt x="0" y="94456"/>
                    </a:cubicBezTo>
                  </a:path>
                </a:pathLst>
              </a:custGeom>
              <a:noFill/>
              <a:ln w="26988">
                <a:solidFill>
                  <a:srgbClr val="FFFFFF"/>
                </a:solidFill>
              </a:ln>
            </p:spPr>
          </p:sp>
          <p:sp>
            <p:nvSpPr>
              <p:cNvPr id="101" name="Freeform 101"/>
              <p:cNvSpPr/>
              <p:nvPr/>
            </p:nvSpPr>
            <p:spPr>
              <a:xfrm>
                <a:off x="9755982" y="3840957"/>
                <a:ext cx="80963" cy="80963"/>
              </a:xfrm>
              <a:custGeom>
                <a:avLst/>
                <a:gdLst/>
                <a:ahLst/>
                <a:cxnLst/>
                <a:rect l="l" t="t" r="r" b="b"/>
                <a:pathLst>
                  <a:path w="80963" h="80963">
                    <a:moveTo>
                      <a:pt x="80963" y="80963"/>
                    </a:moveTo>
                    <a:lnTo>
                      <a:pt x="0" y="0"/>
                    </a:lnTo>
                  </a:path>
                </a:pathLst>
              </a:custGeom>
              <a:noFill/>
              <a:ln w="26988">
                <a:solidFill>
                  <a:srgbClr val="FFFFFF"/>
                </a:solidFill>
              </a:ln>
            </p:spPr>
          </p:sp>
        </p:grpSp>
        <p:sp>
          <p:nvSpPr>
            <p:cNvPr id="103" name="TextBox 103"/>
            <p:cNvSpPr txBox="1"/>
            <p:nvPr/>
          </p:nvSpPr>
          <p:spPr>
            <a:xfrm>
              <a:off x="9468422" y="419862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向外探索</a:t>
              </a:r>
            </a:p>
          </p:txBody>
        </p:sp>
        <p:sp>
          <p:nvSpPr>
            <p:cNvPr id="104" name="TextBox 104"/>
            <p:cNvSpPr txBox="1"/>
            <p:nvPr/>
          </p:nvSpPr>
          <p:spPr>
            <a:xfrm>
              <a:off x="10244138" y="3587591"/>
              <a:ext cx="1259205" cy="7715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消费用户对汽车的情感需</a:t>
              </a:r>
              <a:br/>
              <a:r>
                <a:rPr lang="zh-CN" sz="820" dirty="0">
                  <a:solidFill>
                    <a:srgbClr val="543E3A"/>
                  </a:solidFill>
                  <a:latin typeface="+mn-lt"/>
                  <a:ea typeface="+mn-ea"/>
                  <a:cs typeface="+mn-cs"/>
                </a:rPr>
                <a:t>求相较整体用户更为丰富，</a:t>
              </a:r>
              <a:br/>
              <a:r>
                <a:rPr lang="zh-CN" sz="820" dirty="0">
                  <a:solidFill>
                    <a:srgbClr val="543E3A"/>
                  </a:solidFill>
                  <a:latin typeface="+mn-lt"/>
                  <a:ea typeface="+mn-ea"/>
                  <a:cs typeface="+mn-cs"/>
                </a:rPr>
                <a:t>他们期待汽车能激发他们</a:t>
              </a:r>
              <a:br/>
              <a:r>
                <a:rPr lang="zh-CN" sz="820" dirty="0">
                  <a:solidFill>
                    <a:srgbClr val="543E3A"/>
                  </a:solidFill>
                  <a:latin typeface="+mn-lt"/>
                  <a:ea typeface="+mn-ea"/>
                  <a:cs typeface="+mn-cs"/>
                </a:rPr>
                <a:t>的探索欲</a:t>
              </a:r>
              <a:r>
                <a:rPr lang="zh-CN" sz="820" dirty="0">
                  <a:solidFill>
                    <a:srgbClr val="E2624C"/>
                  </a:solidFill>
                  <a:latin typeface="+mn-lt"/>
                  <a:ea typeface="+mn-ea"/>
                  <a:cs typeface="+mn-cs"/>
                </a:rPr>
                <a:t>更好地帮助他们</a:t>
              </a:r>
              <a:br/>
              <a:r>
                <a:rPr lang="zh-CN" sz="820" dirty="0">
                  <a:solidFill>
                    <a:srgbClr val="E2624C"/>
                  </a:solidFill>
                  <a:latin typeface="+mn-lt"/>
                  <a:ea typeface="+mn-ea"/>
                  <a:cs typeface="+mn-cs"/>
                </a:rPr>
                <a:t>与世界连接</a:t>
              </a:r>
              <a:r>
                <a:rPr lang="zh-CN" sz="820" dirty="0">
                  <a:solidFill>
                    <a:srgbClr val="543E3A"/>
                  </a:solidFill>
                  <a:latin typeface="+mn-lt"/>
                  <a:ea typeface="+mn-ea"/>
                  <a:cs typeface="+mn-cs"/>
                </a:rPr>
                <a:t>。</a:t>
              </a:r>
            </a:p>
          </p:txBody>
        </p:sp>
      </p:grpSp>
      <p:grpSp>
        <p:nvGrpSpPr>
          <p:cNvPr id="113" name="pain-4"/>
          <p:cNvGrpSpPr/>
          <p:nvPr/>
        </p:nvGrpSpPr>
        <p:grpSpPr>
          <a:xfrm>
            <a:off x="9286875" y="4591050"/>
            <a:ext cx="2571750" cy="1047750"/>
            <a:chOff x="9286875" y="4591050"/>
            <a:chExt cx="2571750" cy="1047750"/>
          </a:xfrm>
        </p:grpSpPr>
        <p:sp>
          <p:nvSpPr>
            <p:cNvPr id="106" name="Rectangle 106"/>
            <p:cNvSpPr/>
            <p:nvPr/>
          </p:nvSpPr>
          <p:spPr>
            <a:xfrm>
              <a:off x="9286875" y="4591050"/>
              <a:ext cx="2571750" cy="1047750"/>
            </a:xfrm>
            <a:prstGeom prst="roundRect">
              <a:avLst>
                <a:gd name="adj" fmla="val 5455"/>
              </a:avLst>
            </a:prstGeom>
            <a:solidFill>
              <a:srgbClr val="F5F6FC"/>
            </a:solidFill>
            <a:ln>
              <a:noFill/>
            </a:ln>
          </p:spPr>
        </p:sp>
        <p:sp>
          <p:nvSpPr>
            <p:cNvPr id="107" name="Rectangle 107"/>
            <p:cNvSpPr/>
            <p:nvPr/>
          </p:nvSpPr>
          <p:spPr>
            <a:xfrm>
              <a:off x="9286875" y="4591050"/>
              <a:ext cx="857250" cy="1047750"/>
            </a:xfrm>
            <a:prstGeom prst="roundRect">
              <a:avLst>
                <a:gd name="adj" fmla="val 6667"/>
              </a:avLst>
            </a:prstGeom>
            <a:solidFill>
              <a:srgbClr val="C45F4A"/>
            </a:solidFill>
            <a:ln>
              <a:noFill/>
            </a:ln>
          </p:spPr>
        </p:sp>
        <p:grpSp>
          <p:nvGrpSpPr>
            <p:cNvPr id="110" name="Group 110"/>
            <p:cNvGrpSpPr/>
            <p:nvPr/>
          </p:nvGrpSpPr>
          <p:grpSpPr>
            <a:xfrm>
              <a:off x="9594056" y="4829969"/>
              <a:ext cx="242888" cy="198495"/>
              <a:chOff x="9594056" y="4829969"/>
              <a:chExt cx="242888" cy="198495"/>
            </a:xfrm>
          </p:grpSpPr>
          <p:sp>
            <p:nvSpPr>
              <p:cNvPr id="108" name="Freeform 108"/>
              <p:cNvSpPr/>
              <p:nvPr/>
            </p:nvSpPr>
            <p:spPr>
              <a:xfrm>
                <a:off x="9594056" y="4829969"/>
                <a:ext cx="242888" cy="198495"/>
              </a:xfrm>
              <a:custGeom>
                <a:avLst/>
                <a:gdLst/>
                <a:ahLst/>
                <a:cxnLst/>
                <a:rect l="l" t="t" r="r" b="b"/>
                <a:pathLst>
                  <a:path w="242888" h="198495">
                    <a:moveTo>
                      <a:pt x="40481" y="0"/>
                    </a:moveTo>
                    <a:lnTo>
                      <a:pt x="202407" y="0"/>
                    </a:lnTo>
                    <a:lnTo>
                      <a:pt x="242888" y="67469"/>
                    </a:lnTo>
                    <a:lnTo>
                      <a:pt x="128191" y="195660"/>
                    </a:lnTo>
                    <a:cubicBezTo>
                      <a:pt x="126414" y="197473"/>
                      <a:pt x="123983" y="198495"/>
                      <a:pt x="121444" y="198495"/>
                    </a:cubicBezTo>
                    <a:cubicBezTo>
                      <a:pt x="118905" y="198495"/>
                      <a:pt x="116474" y="197473"/>
                      <a:pt x="114697" y="195660"/>
                    </a:cubicBezTo>
                    <a:lnTo>
                      <a:pt x="0" y="67469"/>
                    </a:lnTo>
                    <a:lnTo>
                      <a:pt x="40481" y="0"/>
                    </a:lnTo>
                  </a:path>
                </a:pathLst>
              </a:custGeom>
              <a:noFill/>
              <a:ln w="26988">
                <a:solidFill>
                  <a:srgbClr val="FFFFFF"/>
                </a:solidFill>
              </a:ln>
            </p:spPr>
          </p:sp>
          <p:sp>
            <p:nvSpPr>
              <p:cNvPr id="109" name="Freeform 109"/>
              <p:cNvSpPr/>
              <p:nvPr/>
            </p:nvSpPr>
            <p:spPr>
              <a:xfrm>
                <a:off x="9661525" y="4881245"/>
                <a:ext cx="26988" cy="43180"/>
              </a:xfrm>
              <a:custGeom>
                <a:avLst/>
                <a:gdLst/>
                <a:ahLst/>
                <a:cxnLst/>
                <a:rect l="l" t="t" r="r" b="b"/>
                <a:pathLst>
                  <a:path w="26988" h="43180">
                    <a:moveTo>
                      <a:pt x="26988" y="43180"/>
                    </a:moveTo>
                    <a:lnTo>
                      <a:pt x="0" y="13494"/>
                    </a:lnTo>
                    <a:lnTo>
                      <a:pt x="8096" y="0"/>
                    </a:lnTo>
                  </a:path>
                </a:pathLst>
              </a:custGeom>
              <a:noFill/>
              <a:ln w="26988">
                <a:solidFill>
                  <a:srgbClr val="FFFFFF"/>
                </a:solidFill>
              </a:ln>
            </p:spPr>
          </p:sp>
        </p:grpSp>
        <p:sp>
          <p:nvSpPr>
            <p:cNvPr id="111" name="TextBox 111"/>
            <p:cNvSpPr txBox="1"/>
            <p:nvPr/>
          </p:nvSpPr>
          <p:spPr>
            <a:xfrm>
              <a:off x="9468422" y="53225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个性彰显</a:t>
              </a:r>
            </a:p>
          </p:txBody>
        </p:sp>
        <p:sp>
          <p:nvSpPr>
            <p:cNvPr id="112" name="TextBox 112"/>
            <p:cNvSpPr txBox="1"/>
            <p:nvPr/>
          </p:nvSpPr>
          <p:spPr>
            <a:xfrm>
              <a:off x="10244138" y="4711541"/>
              <a:ext cx="1155065" cy="619125"/>
            </a:xfrm>
            <a:prstGeom prst="rect">
              <a:avLst/>
            </a:prstGeom>
            <a:noFill/>
            <a:ln>
              <a:noFill/>
            </a:ln>
          </p:spPr>
          <p:txBody>
            <a:bodyPr wrap="none" lIns="0" tIns="0" rIns="0" bIns="0" anchor="t" anchorCtr="0">
              <a:spAutoFit/>
            </a:bodyPr>
            <a:lstStyle/>
            <a:p>
              <a:pPr algn="l">
                <a:lnSpc>
                  <a:spcPts val="1200"/>
                </a:lnSpc>
              </a:pPr>
              <a:r>
                <a:rPr lang="zh-CN" sz="820" dirty="0">
                  <a:solidFill>
                    <a:srgbClr val="543E3A"/>
                  </a:solidFill>
                  <a:latin typeface="+mn-lt"/>
                  <a:ea typeface="+mn-ea"/>
                  <a:cs typeface="+mn-cs"/>
                </a:rPr>
                <a:t>希望汽车能让他们与众不</a:t>
              </a:r>
              <a:br/>
              <a:r>
                <a:rPr lang="zh-CN" sz="820" dirty="0">
                  <a:solidFill>
                    <a:srgbClr val="543E3A"/>
                  </a:solidFill>
                  <a:latin typeface="+mn-lt"/>
                  <a:ea typeface="+mn-ea"/>
                  <a:cs typeface="+mn-cs"/>
                </a:rPr>
                <a:t>同，也希望自己对品牌的</a:t>
              </a:r>
              <a:br/>
              <a:r>
                <a:rPr lang="zh-CN" sz="820" dirty="0">
                  <a:solidFill>
                    <a:srgbClr val="543E3A"/>
                  </a:solidFill>
                  <a:latin typeface="+mn-lt"/>
                  <a:ea typeface="+mn-ea"/>
                  <a:cs typeface="+mn-cs"/>
                </a:rPr>
                <a:t>独到理解</a:t>
              </a:r>
              <a:r>
                <a:rPr lang="zh-CN" sz="820" dirty="0">
                  <a:solidFill>
                    <a:srgbClr val="C45F4A"/>
                  </a:solidFill>
                  <a:latin typeface="+mn-lt"/>
                  <a:ea typeface="+mn-ea"/>
                  <a:cs typeface="+mn-cs"/>
                </a:rPr>
                <a:t>能够彰显个人深</a:t>
              </a:r>
              <a:br/>
              <a:r>
                <a:rPr lang="zh-CN" sz="820" dirty="0">
                  <a:solidFill>
                    <a:srgbClr val="C45F4A"/>
                  </a:solidFill>
                  <a:latin typeface="+mn-lt"/>
                  <a:ea typeface="+mn-ea"/>
                  <a:cs typeface="+mn-cs"/>
                </a:rPr>
                <a:t>度和内涵</a:t>
              </a:r>
            </a:p>
          </p:txBody>
        </p:sp>
      </p:gr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arc-band"/>
          <p:cNvSpPr/>
          <p:nvPr/>
        </p:nvSpPr>
        <p:spPr>
          <a:xfrm>
            <a:off x="0" y="2222500"/>
            <a:ext cx="12192000" cy="425450"/>
          </a:xfrm>
          <a:custGeom>
            <a:avLst/>
            <a:gdLst/>
            <a:ahLst/>
            <a:cxnLst/>
            <a:rect l="l" t="t" r="r" b="b"/>
            <a:pathLst>
              <a:path w="12192000" h="425450">
                <a:moveTo>
                  <a:pt x="0" y="425450"/>
                </a:moveTo>
                <a:cubicBezTo>
                  <a:pt x="4064000" y="95250"/>
                  <a:pt x="8128000" y="95250"/>
                  <a:pt x="12192000" y="425450"/>
                </a:cubicBezTo>
                <a:lnTo>
                  <a:pt x="12192000" y="330200"/>
                </a:lnTo>
                <a:cubicBezTo>
                  <a:pt x="8128000" y="0"/>
                  <a:pt x="4064000" y="0"/>
                  <a:pt x="0" y="330200"/>
                </a:cubicBezTo>
                <a:close/>
              </a:path>
            </a:pathLst>
          </a:custGeom>
          <a:solidFill>
            <a:srgbClr val="E8EBF8"/>
          </a:solidFill>
          <a:ln>
            <a:noFill/>
          </a:ln>
        </p:spPr>
      </p:sp>
      <p:grpSp>
        <p:nvGrpSpPr>
          <p:cNvPr id="7" name="page-header"/>
          <p:cNvGrpSpPr/>
          <p:nvPr/>
        </p:nvGrpSpPr>
        <p:grpSpPr>
          <a:xfrm>
            <a:off x="0" y="0"/>
            <a:ext cx="5905500" cy="542925"/>
            <a:chOff x="0" y="0"/>
            <a:chExt cx="5905500" cy="542925"/>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4" name="TextBox 4"/>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65</a:t>
              </a:r>
            </a:p>
          </p:txBody>
        </p:sp>
        <p:sp>
          <p:nvSpPr>
            <p:cNvPr id="5" name="TextBox 5"/>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银发人群消费洞察​</a:t>
              </a:r>
            </a:p>
          </p:txBody>
        </p:sp>
        <p:sp>
          <p:nvSpPr>
            <p:cNvPr id="6" name="Line 6"/>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26" name="crowd-tags"/>
          <p:cNvGrpSpPr/>
          <p:nvPr/>
        </p:nvGrpSpPr>
        <p:grpSpPr>
          <a:xfrm>
            <a:off x="566547" y="771049"/>
            <a:ext cx="10768203" cy="1486376"/>
            <a:chOff x="566547" y="771049"/>
            <a:chExt cx="10768203" cy="1486376"/>
          </a:xfrm>
        </p:grpSpPr>
        <p:sp>
          <p:nvSpPr>
            <p:cNvPr id="8" name="TextBox 8"/>
            <p:cNvSpPr txBox="1"/>
            <p:nvPr/>
          </p:nvSpPr>
          <p:spPr>
            <a:xfrm>
              <a:off x="566547" y="771049"/>
              <a:ext cx="537616" cy="190690"/>
            </a:xfrm>
            <a:prstGeom prst="rect">
              <a:avLst/>
            </a:prstGeom>
            <a:noFill/>
            <a:ln>
              <a:noFill/>
            </a:ln>
          </p:spPr>
          <p:txBody>
            <a:bodyPr wrap="none" lIns="0" tIns="0" rIns="0" bIns="0" anchor="t" anchorCtr="0">
              <a:spAutoFit/>
            </a:bodyPr>
            <a:lstStyle/>
            <a:p>
              <a:pPr algn="l"/>
              <a:r>
                <a:rPr lang="zh-CN" sz="980" b="1" dirty="0">
                  <a:solidFill>
                    <a:srgbClr val="543E3A"/>
                  </a:solidFill>
                  <a:latin typeface="+mn-lt"/>
                  <a:ea typeface="+mn-ea"/>
                  <a:cs typeface="+mn-cs"/>
                </a:rPr>
                <a:t>人群标签</a:t>
              </a:r>
            </a:p>
          </p:txBody>
        </p:sp>
        <p:sp>
          <p:nvSpPr>
            <p:cNvPr id="9" name="Rectangle 9"/>
            <p:cNvSpPr/>
            <p:nvPr/>
          </p:nvSpPr>
          <p:spPr>
            <a:xfrm>
              <a:off x="571500" y="971550"/>
              <a:ext cx="2952750" cy="457200"/>
            </a:xfrm>
            <a:prstGeom prst="roundRect">
              <a:avLst>
                <a:gd name="adj" fmla="val 25000"/>
              </a:avLst>
            </a:prstGeom>
            <a:solidFill>
              <a:srgbClr val="FFFFFF"/>
            </a:solidFill>
            <a:ln w="14288">
              <a:solidFill>
                <a:srgbClr val="C9D2EE"/>
              </a:solidFill>
            </a:ln>
          </p:spPr>
        </p:sp>
        <p:sp>
          <p:nvSpPr>
            <p:cNvPr id="10" name="Polygon 10"/>
            <p:cNvSpPr/>
            <p:nvPr/>
          </p:nvSpPr>
          <p:spPr>
            <a:xfrm>
              <a:off x="904875" y="1428750"/>
              <a:ext cx="190500" cy="95250"/>
            </a:xfrm>
            <a:custGeom>
              <a:avLst/>
              <a:gdLst/>
              <a:ahLst/>
              <a:cxnLst/>
              <a:rect l="l" t="t" r="r" b="b"/>
              <a:pathLst>
                <a:path w="190500" h="95250">
                  <a:moveTo>
                    <a:pt x="0" y="0"/>
                  </a:moveTo>
                  <a:lnTo>
                    <a:pt x="190500" y="0"/>
                  </a:lnTo>
                  <a:lnTo>
                    <a:pt x="95250" y="95250"/>
                  </a:lnTo>
                  <a:close/>
                </a:path>
              </a:pathLst>
            </a:custGeom>
            <a:solidFill>
              <a:srgbClr val="FFFFFF"/>
            </a:solidFill>
            <a:ln>
              <a:noFill/>
            </a:ln>
          </p:spPr>
        </p:sp>
        <p:sp>
          <p:nvSpPr>
            <p:cNvPr id="11" name="TextBox 11"/>
            <p:cNvSpPr txBox="1"/>
            <p:nvPr/>
          </p:nvSpPr>
          <p:spPr>
            <a:xfrm>
              <a:off x="700088" y="1067514"/>
              <a:ext cx="1634871"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543E3A"/>
                  </a:solidFill>
                  <a:latin typeface="+mn-lt"/>
                  <a:ea typeface="+mn-ea"/>
                  <a:cs typeface="+mn-cs"/>
                </a:rPr>
                <a:t>"60后"一代人均预期寿命和健康预期</a:t>
              </a:r>
              <a:br/>
              <a:r>
                <a:rPr lang="zh-CN" sz="790" dirty="0">
                  <a:solidFill>
                    <a:srgbClr val="543E3A"/>
                  </a:solidFill>
                  <a:latin typeface="+mn-lt"/>
                  <a:ea typeface="+mn-ea"/>
                  <a:cs typeface="+mn-cs"/>
                </a:rPr>
                <a:t>寿命可能会更高</a:t>
              </a:r>
            </a:p>
          </p:txBody>
        </p:sp>
        <p:sp>
          <p:nvSpPr>
            <p:cNvPr id="12" name="Rectangle 12"/>
            <p:cNvSpPr/>
            <p:nvPr/>
          </p:nvSpPr>
          <p:spPr>
            <a:xfrm>
              <a:off x="4000500" y="971550"/>
              <a:ext cx="1428750" cy="266700"/>
            </a:xfrm>
            <a:prstGeom prst="roundRect">
              <a:avLst>
                <a:gd name="adj" fmla="val 42857"/>
              </a:avLst>
            </a:prstGeom>
            <a:solidFill>
              <a:srgbClr val="E8EBF8"/>
            </a:solidFill>
            <a:ln>
              <a:noFill/>
            </a:ln>
          </p:spPr>
        </p:sp>
        <p:sp>
          <p:nvSpPr>
            <p:cNvPr id="13" name="TextBox 13"/>
            <p:cNvSpPr txBox="1"/>
            <p:nvPr/>
          </p:nvSpPr>
          <p:spPr>
            <a:xfrm>
              <a:off x="4337888" y="1067514"/>
              <a:ext cx="753974" cy="154781"/>
            </a:xfrm>
            <a:prstGeom prst="rect">
              <a:avLst/>
            </a:prstGeom>
            <a:noFill/>
            <a:ln>
              <a:noFill/>
            </a:ln>
          </p:spPr>
          <p:txBody>
            <a:bodyPr wrap="none" lIns="0" tIns="0" rIns="0" bIns="0" anchor="t" anchorCtr="0">
              <a:spAutoFit/>
            </a:bodyPr>
            <a:lstStyle/>
            <a:p>
              <a:pPr algn="ctr"/>
              <a:r>
                <a:rPr lang="zh-CN" sz="790" dirty="0">
                  <a:solidFill>
                    <a:srgbClr val="C46D5B"/>
                  </a:solidFill>
                  <a:latin typeface="+mn-lt"/>
                  <a:ea typeface="+mn-ea"/>
                  <a:cs typeface="+mn-cs"/>
                </a:rPr>
                <a:t>需求更加多元化</a:t>
              </a:r>
            </a:p>
          </p:txBody>
        </p:sp>
        <p:sp>
          <p:nvSpPr>
            <p:cNvPr id="14" name="Rectangle 14"/>
            <p:cNvSpPr/>
            <p:nvPr/>
          </p:nvSpPr>
          <p:spPr>
            <a:xfrm>
              <a:off x="7429500" y="933450"/>
              <a:ext cx="3905250" cy="457200"/>
            </a:xfrm>
            <a:prstGeom prst="roundRect">
              <a:avLst>
                <a:gd name="adj" fmla="val 25000"/>
              </a:avLst>
            </a:prstGeom>
            <a:solidFill>
              <a:srgbClr val="B8503B"/>
            </a:solidFill>
            <a:ln>
              <a:noFill/>
            </a:ln>
          </p:spPr>
        </p:sp>
        <p:sp>
          <p:nvSpPr>
            <p:cNvPr id="15" name="Polygon 15"/>
            <p:cNvSpPr/>
            <p:nvPr/>
          </p:nvSpPr>
          <p:spPr>
            <a:xfrm>
              <a:off x="7620000" y="1390650"/>
              <a:ext cx="190500" cy="104775"/>
            </a:xfrm>
            <a:custGeom>
              <a:avLst/>
              <a:gdLst/>
              <a:ahLst/>
              <a:cxnLst/>
              <a:rect l="l" t="t" r="r" b="b"/>
              <a:pathLst>
                <a:path w="190500" h="104775">
                  <a:moveTo>
                    <a:pt x="0" y="0"/>
                  </a:moveTo>
                  <a:lnTo>
                    <a:pt x="190500" y="0"/>
                  </a:lnTo>
                  <a:lnTo>
                    <a:pt x="95250" y="104775"/>
                  </a:lnTo>
                  <a:close/>
                </a:path>
              </a:pathLst>
            </a:custGeom>
            <a:solidFill>
              <a:srgbClr val="B8503B"/>
            </a:solidFill>
            <a:ln>
              <a:noFill/>
            </a:ln>
          </p:spPr>
        </p:sp>
        <p:sp>
          <p:nvSpPr>
            <p:cNvPr id="16" name="TextBox 16"/>
            <p:cNvSpPr txBox="1"/>
            <p:nvPr/>
          </p:nvSpPr>
          <p:spPr>
            <a:xfrm>
              <a:off x="7615238" y="1038939"/>
              <a:ext cx="1835531" cy="326231"/>
            </a:xfrm>
            <a:prstGeom prst="rect">
              <a:avLst/>
            </a:prstGeom>
            <a:noFill/>
            <a:ln>
              <a:noFill/>
            </a:ln>
          </p:spPr>
          <p:txBody>
            <a:bodyPr wrap="none" lIns="0" tIns="0" rIns="0" bIns="0" anchor="t" anchorCtr="0">
              <a:spAutoFit/>
            </a:bodyPr>
            <a:lstStyle/>
            <a:p>
              <a:pPr algn="l">
                <a:lnSpc>
                  <a:spcPts val="1350"/>
                </a:lnSpc>
              </a:pPr>
              <a:r>
                <a:rPr lang="zh-CN" sz="790" dirty="0">
                  <a:solidFill>
                    <a:srgbClr val="FFFFFF"/>
                  </a:solidFill>
                  <a:latin typeface="+mn-lt"/>
                  <a:ea typeface="+mn-ea"/>
                  <a:cs typeface="+mn-cs"/>
                </a:rPr>
                <a:t>"60后"对子女的依赖较强，特别是情感上</a:t>
              </a:r>
              <a:br/>
              <a:r>
                <a:rPr lang="zh-CN" sz="790" dirty="0">
                  <a:solidFill>
                    <a:srgbClr val="FFFFFF"/>
                  </a:solidFill>
                  <a:latin typeface="+mn-lt"/>
                  <a:ea typeface="+mn-ea"/>
                  <a:cs typeface="+mn-cs"/>
                </a:rPr>
                <a:t>对子女的牵挂</a:t>
              </a:r>
            </a:p>
          </p:txBody>
        </p:sp>
        <p:sp>
          <p:nvSpPr>
            <p:cNvPr id="17" name="Rectangle 17"/>
            <p:cNvSpPr/>
            <p:nvPr/>
          </p:nvSpPr>
          <p:spPr>
            <a:xfrm>
              <a:off x="4238625" y="1485900"/>
              <a:ext cx="2381250" cy="266700"/>
            </a:xfrm>
            <a:prstGeom prst="roundRect">
              <a:avLst>
                <a:gd name="adj" fmla="val 42857"/>
              </a:avLst>
            </a:prstGeom>
            <a:solidFill>
              <a:srgbClr val="FFFFFF"/>
            </a:solidFill>
            <a:ln w="14288">
              <a:solidFill>
                <a:srgbClr val="C9D2EE"/>
              </a:solidFill>
            </a:ln>
          </p:spPr>
        </p:sp>
        <p:sp>
          <p:nvSpPr>
            <p:cNvPr id="18" name="TextBox 18"/>
            <p:cNvSpPr txBox="1"/>
            <p:nvPr/>
          </p:nvSpPr>
          <p:spPr>
            <a:xfrm>
              <a:off x="4722579" y="1581864"/>
              <a:ext cx="1413342"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约一半"60后"是独生子女父母</a:t>
              </a:r>
            </a:p>
          </p:txBody>
        </p:sp>
        <p:sp>
          <p:nvSpPr>
            <p:cNvPr id="19" name="Rectangle 19"/>
            <p:cNvSpPr/>
            <p:nvPr/>
          </p:nvSpPr>
          <p:spPr>
            <a:xfrm>
              <a:off x="571500" y="1866900"/>
              <a:ext cx="2381250" cy="266700"/>
            </a:xfrm>
            <a:prstGeom prst="roundRect">
              <a:avLst>
                <a:gd name="adj" fmla="val 42857"/>
              </a:avLst>
            </a:prstGeom>
            <a:solidFill>
              <a:srgbClr val="FFFFFF"/>
            </a:solidFill>
            <a:ln w="14288">
              <a:solidFill>
                <a:srgbClr val="C9D2EE"/>
              </a:solidFill>
            </a:ln>
          </p:spPr>
        </p:sp>
        <p:sp>
          <p:nvSpPr>
            <p:cNvPr id="20" name="TextBox 20"/>
            <p:cNvSpPr txBox="1"/>
            <p:nvPr/>
          </p:nvSpPr>
          <p:spPr>
            <a:xfrm>
              <a:off x="1055454" y="1962864"/>
              <a:ext cx="1413342"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"60后"受教育程度大幅度提升</a:t>
              </a:r>
            </a:p>
          </p:txBody>
        </p:sp>
        <p:sp>
          <p:nvSpPr>
            <p:cNvPr id="21" name="Rectangle 21"/>
            <p:cNvSpPr/>
            <p:nvPr/>
          </p:nvSpPr>
          <p:spPr>
            <a:xfrm>
              <a:off x="3238500" y="1866900"/>
              <a:ext cx="2667000" cy="285750"/>
            </a:xfrm>
            <a:prstGeom prst="roundRect">
              <a:avLst>
                <a:gd name="adj" fmla="val 40000"/>
              </a:avLst>
            </a:prstGeom>
            <a:solidFill>
              <a:srgbClr val="C45F4A"/>
            </a:solidFill>
            <a:ln>
              <a:noFill/>
            </a:ln>
          </p:spPr>
        </p:sp>
        <p:sp>
          <p:nvSpPr>
            <p:cNvPr id="22" name="Polygon 22"/>
            <p:cNvSpPr/>
            <p:nvPr/>
          </p:nvSpPr>
          <p:spPr>
            <a:xfrm>
              <a:off x="3476625" y="2152650"/>
              <a:ext cx="190500" cy="104775"/>
            </a:xfrm>
            <a:custGeom>
              <a:avLst/>
              <a:gdLst/>
              <a:ahLst/>
              <a:cxnLst/>
              <a:rect l="l" t="t" r="r" b="b"/>
              <a:pathLst>
                <a:path w="190500" h="104775">
                  <a:moveTo>
                    <a:pt x="0" y="0"/>
                  </a:moveTo>
                  <a:lnTo>
                    <a:pt x="190500" y="0"/>
                  </a:lnTo>
                  <a:lnTo>
                    <a:pt x="95250" y="104775"/>
                  </a:lnTo>
                  <a:close/>
                </a:path>
              </a:pathLst>
            </a:custGeom>
            <a:solidFill>
              <a:srgbClr val="C45F4A"/>
            </a:solidFill>
            <a:ln>
              <a:noFill/>
            </a:ln>
          </p:spPr>
        </p:sp>
        <p:sp>
          <p:nvSpPr>
            <p:cNvPr id="23" name="TextBox 23"/>
            <p:cNvSpPr txBox="1"/>
            <p:nvPr/>
          </p:nvSpPr>
          <p:spPr>
            <a:xfrm>
              <a:off x="3783480" y="1968341"/>
              <a:ext cx="157704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"60后"家庭年收入水平明显更高</a:t>
              </a:r>
            </a:p>
          </p:txBody>
        </p:sp>
        <p:sp>
          <p:nvSpPr>
            <p:cNvPr id="24" name="Rectangle 24"/>
            <p:cNvSpPr/>
            <p:nvPr/>
          </p:nvSpPr>
          <p:spPr>
            <a:xfrm>
              <a:off x="6667500" y="1866900"/>
              <a:ext cx="2381250" cy="285750"/>
            </a:xfrm>
            <a:prstGeom prst="roundRect">
              <a:avLst>
                <a:gd name="adj" fmla="val 50000"/>
              </a:avLst>
            </a:prstGeom>
            <a:solidFill>
              <a:srgbClr val="E8634C"/>
            </a:solidFill>
            <a:ln>
              <a:noFill/>
            </a:ln>
          </p:spPr>
        </p:sp>
        <p:sp>
          <p:nvSpPr>
            <p:cNvPr id="25" name="TextBox 25"/>
            <p:cNvSpPr txBox="1"/>
            <p:nvPr/>
          </p:nvSpPr>
          <p:spPr>
            <a:xfrm>
              <a:off x="7301420" y="1968341"/>
              <a:ext cx="111340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对于新技术接纳程度高</a:t>
              </a:r>
            </a:p>
          </p:txBody>
        </p:sp>
      </p:grpSp>
      <p:grpSp>
        <p:nvGrpSpPr>
          <p:cNvPr id="50" name="chart-weixin"/>
          <p:cNvGrpSpPr/>
          <p:nvPr/>
        </p:nvGrpSpPr>
        <p:grpSpPr>
          <a:xfrm>
            <a:off x="566738" y="2752725"/>
            <a:ext cx="1509712" cy="2067163"/>
            <a:chOff x="566738" y="2752725"/>
            <a:chExt cx="1509712" cy="2067163"/>
          </a:xfrm>
        </p:grpSpPr>
        <p:sp>
          <p:nvSpPr>
            <p:cNvPr id="27" name="Ellipse 27"/>
            <p:cNvSpPr/>
            <p:nvPr/>
          </p:nvSpPr>
          <p:spPr>
            <a:xfrm>
              <a:off x="581025" y="2752725"/>
              <a:ext cx="266700" cy="266700"/>
            </a:xfrm>
            <a:prstGeom prst="ellipse">
              <a:avLst/>
            </a:prstGeom>
            <a:solidFill>
              <a:srgbClr val="AE3F2A"/>
            </a:solidFill>
            <a:ln>
              <a:noFill/>
            </a:ln>
          </p:spPr>
        </p:sp>
        <p:sp>
          <p:nvSpPr>
            <p:cNvPr id="28" name="Freeform 28"/>
            <p:cNvSpPr/>
            <p:nvPr/>
          </p:nvSpPr>
          <p:spPr>
            <a:xfrm>
              <a:off x="642766" y="2823389"/>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FFFFFF"/>
              </a:solidFill>
            </a:ln>
          </p:spPr>
        </p:sp>
        <p:sp>
          <p:nvSpPr>
            <p:cNvPr id="29" name="TextBox 29"/>
            <p:cNvSpPr txBox="1"/>
            <p:nvPr/>
          </p:nvSpPr>
          <p:spPr>
            <a:xfrm>
              <a:off x="928688" y="2844641"/>
              <a:ext cx="1003021" cy="161925"/>
            </a:xfrm>
            <a:prstGeom prst="rect">
              <a:avLst/>
            </a:prstGeom>
            <a:noFill/>
            <a:ln>
              <a:noFill/>
            </a:ln>
          </p:spPr>
          <p:txBody>
            <a:bodyPr wrap="none" lIns="0" tIns="0" rIns="0" bIns="0" anchor="t" anchorCtr="0">
              <a:spAutoFit/>
            </a:bodyPr>
            <a:lstStyle/>
            <a:p>
              <a:pPr algn="l"/>
              <a:r>
                <a:rPr lang="zh-CN" sz="820" b="1" dirty="0">
                  <a:solidFill>
                    <a:srgbClr val="543E3A"/>
                  </a:solidFill>
                  <a:latin typeface="+mn-lt"/>
                  <a:ea typeface="+mn-ea"/>
                  <a:cs typeface="+mn-cs"/>
                </a:rPr>
                <a:t>微信公众号广告认同</a:t>
              </a:r>
            </a:p>
          </p:txBody>
        </p:sp>
        <p:sp>
          <p:nvSpPr>
            <p:cNvPr id="30" name="TextBox 30"/>
            <p:cNvSpPr txBox="1"/>
            <p:nvPr/>
          </p:nvSpPr>
          <p:spPr>
            <a:xfrm>
              <a:off x="566738" y="3180636"/>
              <a:ext cx="391846"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广告认同</a:t>
              </a:r>
            </a:p>
          </p:txBody>
        </p:sp>
        <p:sp>
          <p:nvSpPr>
            <p:cNvPr id="31" name="Rectangle 31"/>
            <p:cNvSpPr/>
            <p:nvPr/>
          </p:nvSpPr>
          <p:spPr>
            <a:xfrm>
              <a:off x="1095375" y="3181350"/>
              <a:ext cx="419100" cy="85725"/>
            </a:xfrm>
            <a:prstGeom prst="rect">
              <a:avLst/>
            </a:prstGeom>
            <a:solidFill>
              <a:srgbClr val="F2ACA0"/>
            </a:solidFill>
            <a:ln>
              <a:noFill/>
            </a:ln>
          </p:spPr>
        </p:sp>
        <p:sp>
          <p:nvSpPr>
            <p:cNvPr id="32" name="TextBox 32"/>
            <p:cNvSpPr txBox="1"/>
            <p:nvPr/>
          </p:nvSpPr>
          <p:spPr>
            <a:xfrm>
              <a:off x="1547812" y="3180636"/>
              <a:ext cx="219801"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10.6</a:t>
              </a:r>
            </a:p>
          </p:txBody>
        </p:sp>
        <p:sp>
          <p:nvSpPr>
            <p:cNvPr id="33" name="Rectangle 33"/>
            <p:cNvSpPr/>
            <p:nvPr/>
          </p:nvSpPr>
          <p:spPr>
            <a:xfrm>
              <a:off x="1095375" y="3324225"/>
              <a:ext cx="419100" cy="85725"/>
            </a:xfrm>
            <a:prstGeom prst="rect">
              <a:avLst/>
            </a:prstGeom>
            <a:solidFill>
              <a:srgbClr val="E8634C"/>
            </a:solidFill>
            <a:ln>
              <a:noFill/>
            </a:ln>
          </p:spPr>
        </p:sp>
        <p:sp>
          <p:nvSpPr>
            <p:cNvPr id="34" name="Rectangle 34"/>
            <p:cNvSpPr/>
            <p:nvPr/>
          </p:nvSpPr>
          <p:spPr>
            <a:xfrm>
              <a:off x="1638300" y="3276600"/>
              <a:ext cx="438150" cy="142875"/>
            </a:xfrm>
            <a:prstGeom prst="roundRect">
              <a:avLst>
                <a:gd name="adj" fmla="val 50000"/>
              </a:avLst>
            </a:prstGeom>
            <a:solidFill>
              <a:srgbClr val="B8503B"/>
            </a:solidFill>
            <a:ln>
              <a:noFill/>
            </a:ln>
          </p:spPr>
        </p:sp>
        <p:sp>
          <p:nvSpPr>
            <p:cNvPr id="35" name="TextBox 35"/>
            <p:cNvSpPr txBox="1"/>
            <p:nvPr/>
          </p:nvSpPr>
          <p:spPr>
            <a:xfrm>
              <a:off x="1701838" y="3312557"/>
              <a:ext cx="311074"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+40.3%</a:t>
              </a:r>
            </a:p>
          </p:txBody>
        </p:sp>
        <p:sp>
          <p:nvSpPr>
            <p:cNvPr id="36" name="TextBox 36"/>
            <p:cNvSpPr txBox="1"/>
            <p:nvPr/>
          </p:nvSpPr>
          <p:spPr>
            <a:xfrm>
              <a:off x="566738" y="3705939"/>
              <a:ext cx="966673" cy="154781"/>
            </a:xfrm>
            <a:prstGeom prst="rect">
              <a:avLst/>
            </a:prstGeom>
            <a:noFill/>
            <a:ln>
              <a:noFill/>
            </a:ln>
          </p:spPr>
          <p:txBody>
            <a:bodyPr wrap="none" lIns="0" tIns="0" rIns="0" bIns="0" anchor="t" anchorCtr="0">
              <a:spAutoFit/>
            </a:bodyPr>
            <a:lstStyle/>
            <a:p>
              <a:pPr algn="l"/>
              <a:r>
                <a:rPr lang="zh-CN" sz="790" b="1" dirty="0">
                  <a:solidFill>
                    <a:srgbClr val="543E3A"/>
                  </a:solidFill>
                  <a:latin typeface="+mn-lt"/>
                  <a:ea typeface="+mn-ea"/>
                  <a:cs typeface="+mn-cs"/>
                </a:rPr>
                <a:t>看到朋友圈广告行为</a:t>
              </a:r>
            </a:p>
          </p:txBody>
        </p:sp>
        <p:sp>
          <p:nvSpPr>
            <p:cNvPr id="37" name="TextBox 37"/>
            <p:cNvSpPr txBox="1"/>
            <p:nvPr/>
          </p:nvSpPr>
          <p:spPr>
            <a:xfrm>
              <a:off x="566738" y="3904536"/>
              <a:ext cx="583006"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购买情绪推荐</a:t>
              </a:r>
            </a:p>
          </p:txBody>
        </p:sp>
        <p:sp>
          <p:nvSpPr>
            <p:cNvPr id="38" name="Rectangle 38"/>
            <p:cNvSpPr/>
            <p:nvPr/>
          </p:nvSpPr>
          <p:spPr>
            <a:xfrm>
              <a:off x="571500" y="4029075"/>
              <a:ext cx="1047750" cy="85725"/>
            </a:xfrm>
            <a:prstGeom prst="rect">
              <a:avLst/>
            </a:prstGeom>
            <a:solidFill>
              <a:srgbClr val="E87D6B"/>
            </a:solidFill>
            <a:ln>
              <a:noFill/>
            </a:ln>
          </p:spPr>
        </p:sp>
        <p:sp>
          <p:nvSpPr>
            <p:cNvPr id="39" name="TextBox 39"/>
            <p:cNvSpPr txBox="1"/>
            <p:nvPr/>
          </p:nvSpPr>
          <p:spPr>
            <a:xfrm>
              <a:off x="1671638" y="4028361"/>
              <a:ext cx="114663"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46</a:t>
              </a:r>
            </a:p>
          </p:txBody>
        </p:sp>
        <p:sp>
          <p:nvSpPr>
            <p:cNvPr id="40" name="TextBox 40"/>
            <p:cNvSpPr txBox="1"/>
            <p:nvPr/>
          </p:nvSpPr>
          <p:spPr>
            <a:xfrm>
              <a:off x="566738" y="4190286"/>
              <a:ext cx="583006"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发生实际行为</a:t>
              </a:r>
            </a:p>
          </p:txBody>
        </p:sp>
        <p:sp>
          <p:nvSpPr>
            <p:cNvPr id="41" name="Rectangle 41"/>
            <p:cNvSpPr/>
            <p:nvPr/>
          </p:nvSpPr>
          <p:spPr>
            <a:xfrm>
              <a:off x="571500" y="4314825"/>
              <a:ext cx="590550" cy="85725"/>
            </a:xfrm>
            <a:prstGeom prst="rect">
              <a:avLst/>
            </a:prstGeom>
            <a:solidFill>
              <a:srgbClr val="E87D6B"/>
            </a:solidFill>
            <a:ln>
              <a:noFill/>
            </a:ln>
          </p:spPr>
        </p:sp>
        <p:sp>
          <p:nvSpPr>
            <p:cNvPr id="42" name="TextBox 42"/>
            <p:cNvSpPr txBox="1"/>
            <p:nvPr/>
          </p:nvSpPr>
          <p:spPr>
            <a:xfrm>
              <a:off x="1214438" y="4314111"/>
              <a:ext cx="114663"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26</a:t>
              </a:r>
            </a:p>
          </p:txBody>
        </p:sp>
        <p:sp>
          <p:nvSpPr>
            <p:cNvPr id="43" name="Rectangle 43"/>
            <p:cNvSpPr/>
            <p:nvPr/>
          </p:nvSpPr>
          <p:spPr>
            <a:xfrm>
              <a:off x="1352550" y="4314825"/>
              <a:ext cx="438150" cy="142875"/>
            </a:xfrm>
            <a:prstGeom prst="roundRect">
              <a:avLst>
                <a:gd name="adj" fmla="val 50000"/>
              </a:avLst>
            </a:prstGeom>
            <a:solidFill>
              <a:srgbClr val="B8503B"/>
            </a:solidFill>
            <a:ln>
              <a:noFill/>
            </a:ln>
          </p:spPr>
        </p:sp>
        <p:sp>
          <p:nvSpPr>
            <p:cNvPr id="44" name="TextBox 44"/>
            <p:cNvSpPr txBox="1"/>
            <p:nvPr/>
          </p:nvSpPr>
          <p:spPr>
            <a:xfrm>
              <a:off x="1416088" y="4350782"/>
              <a:ext cx="311074"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+24.3%</a:t>
              </a:r>
            </a:p>
          </p:txBody>
        </p:sp>
        <p:sp>
          <p:nvSpPr>
            <p:cNvPr id="45" name="TextBox 45"/>
            <p:cNvSpPr txBox="1"/>
            <p:nvPr/>
          </p:nvSpPr>
          <p:spPr>
            <a:xfrm>
              <a:off x="566738" y="4533186"/>
              <a:ext cx="583006"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持续观察浏览</a:t>
              </a:r>
            </a:p>
          </p:txBody>
        </p:sp>
        <p:sp>
          <p:nvSpPr>
            <p:cNvPr id="46" name="Rectangle 46"/>
            <p:cNvSpPr/>
            <p:nvPr/>
          </p:nvSpPr>
          <p:spPr>
            <a:xfrm>
              <a:off x="571500" y="4657725"/>
              <a:ext cx="381000" cy="85725"/>
            </a:xfrm>
            <a:prstGeom prst="rect">
              <a:avLst/>
            </a:prstGeom>
            <a:solidFill>
              <a:srgbClr val="E87D6B"/>
            </a:solidFill>
            <a:ln>
              <a:noFill/>
            </a:ln>
          </p:spPr>
        </p:sp>
        <p:sp>
          <p:nvSpPr>
            <p:cNvPr id="47" name="TextBox 47"/>
            <p:cNvSpPr txBox="1"/>
            <p:nvPr/>
          </p:nvSpPr>
          <p:spPr>
            <a:xfrm>
              <a:off x="1004888" y="4657011"/>
              <a:ext cx="114663"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17</a:t>
              </a:r>
            </a:p>
          </p:txBody>
        </p:sp>
        <p:sp>
          <p:nvSpPr>
            <p:cNvPr id="48" name="Rectangle 48"/>
            <p:cNvSpPr/>
            <p:nvPr/>
          </p:nvSpPr>
          <p:spPr>
            <a:xfrm>
              <a:off x="1143000" y="4657725"/>
              <a:ext cx="438150" cy="142875"/>
            </a:xfrm>
            <a:prstGeom prst="roundRect">
              <a:avLst>
                <a:gd name="adj" fmla="val 50000"/>
              </a:avLst>
            </a:prstGeom>
            <a:solidFill>
              <a:srgbClr val="B8503B"/>
            </a:solidFill>
            <a:ln>
              <a:noFill/>
            </a:ln>
          </p:spPr>
        </p:sp>
        <p:sp>
          <p:nvSpPr>
            <p:cNvPr id="49" name="TextBox 49"/>
            <p:cNvSpPr txBox="1"/>
            <p:nvPr/>
          </p:nvSpPr>
          <p:spPr>
            <a:xfrm>
              <a:off x="1206538" y="4693682"/>
              <a:ext cx="311074"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+10.5%</a:t>
              </a:r>
            </a:p>
          </p:txBody>
        </p:sp>
      </p:grpSp>
      <p:grpSp>
        <p:nvGrpSpPr>
          <p:cNvPr id="82" name="chart-douyin"/>
          <p:cNvGrpSpPr/>
          <p:nvPr/>
        </p:nvGrpSpPr>
        <p:grpSpPr>
          <a:xfrm>
            <a:off x="2757488" y="2752725"/>
            <a:ext cx="1966912" cy="3057525"/>
            <a:chOff x="2757488" y="2752725"/>
            <a:chExt cx="1966912" cy="3057525"/>
          </a:xfrm>
        </p:grpSpPr>
        <p:sp>
          <p:nvSpPr>
            <p:cNvPr id="51" name="Ellipse 51"/>
            <p:cNvSpPr/>
            <p:nvPr/>
          </p:nvSpPr>
          <p:spPr>
            <a:xfrm>
              <a:off x="2771775" y="2752725"/>
              <a:ext cx="266700" cy="266700"/>
            </a:xfrm>
            <a:prstGeom prst="ellipse">
              <a:avLst/>
            </a:prstGeom>
            <a:solidFill>
              <a:srgbClr val="1A1A1A"/>
            </a:solidFill>
            <a:ln>
              <a:noFill/>
            </a:ln>
          </p:spPr>
        </p:sp>
        <p:grpSp>
          <p:nvGrpSpPr>
            <p:cNvPr id="54" name="Group 54"/>
            <p:cNvGrpSpPr/>
            <p:nvPr/>
          </p:nvGrpSpPr>
          <p:grpSpPr>
            <a:xfrm>
              <a:off x="2840831" y="2843212"/>
              <a:ext cx="128587" cy="85725"/>
              <a:chOff x="2840831" y="2843212"/>
              <a:chExt cx="128587" cy="85725"/>
            </a:xfrm>
          </p:grpSpPr>
          <p:sp>
            <p:nvSpPr>
              <p:cNvPr id="52" name="Freeform 52"/>
              <p:cNvSpPr/>
              <p:nvPr/>
            </p:nvSpPr>
            <p:spPr>
              <a:xfrm>
                <a:off x="2926556" y="2854422"/>
                <a:ext cx="42862" cy="63306"/>
              </a:xfrm>
              <a:custGeom>
                <a:avLst/>
                <a:gdLst/>
                <a:ahLst/>
                <a:cxnLst/>
                <a:rect l="l" t="t" r="r" b="b"/>
                <a:pathLst>
                  <a:path w="42862" h="63306">
                    <a:moveTo>
                      <a:pt x="0" y="17365"/>
                    </a:moveTo>
                    <a:lnTo>
                      <a:pt x="32525" y="1106"/>
                    </a:lnTo>
                    <a:cubicBezTo>
                      <a:pt x="34739" y="0"/>
                      <a:pt x="37368" y="118"/>
                      <a:pt x="39474" y="1419"/>
                    </a:cubicBezTo>
                    <a:cubicBezTo>
                      <a:pt x="41579" y="2720"/>
                      <a:pt x="42861" y="5018"/>
                      <a:pt x="42862" y="7493"/>
                    </a:cubicBezTo>
                    <a:lnTo>
                      <a:pt x="42862" y="55813"/>
                    </a:lnTo>
                    <a:cubicBezTo>
                      <a:pt x="42861" y="58288"/>
                      <a:pt x="41579" y="60586"/>
                      <a:pt x="39474" y="61887"/>
                    </a:cubicBezTo>
                    <a:cubicBezTo>
                      <a:pt x="37368" y="63187"/>
                      <a:pt x="34739" y="63306"/>
                      <a:pt x="32525" y="62200"/>
                    </a:cubicBezTo>
                    <a:lnTo>
                      <a:pt x="0" y="45940"/>
                    </a:lnTo>
                    <a:lnTo>
                      <a:pt x="0" y="17365"/>
                    </a:lnTo>
                  </a:path>
                </a:pathLst>
              </a:custGeom>
              <a:noFill/>
              <a:ln w="14288">
                <a:solidFill>
                  <a:srgbClr val="FFFFFF"/>
                </a:solidFill>
              </a:ln>
            </p:spPr>
          </p:sp>
          <p:sp>
            <p:nvSpPr>
              <p:cNvPr id="53" name="Freeform 53"/>
              <p:cNvSpPr/>
              <p:nvPr/>
            </p:nvSpPr>
            <p:spPr>
              <a:xfrm>
                <a:off x="2840831" y="2843212"/>
                <a:ext cx="85725" cy="85725"/>
              </a:xfrm>
              <a:custGeom>
                <a:avLst/>
                <a:gdLst/>
                <a:ahLst/>
                <a:cxnLst/>
                <a:rect l="l" t="t" r="r" b="b"/>
                <a:pathLst>
                  <a:path w="85725" h="85725">
                    <a:moveTo>
                      <a:pt x="0" y="14288"/>
                    </a:moveTo>
                    <a:cubicBezTo>
                      <a:pt x="0" y="6397"/>
                      <a:pt x="6397" y="0"/>
                      <a:pt x="14288" y="0"/>
                    </a:cubicBezTo>
                    <a:lnTo>
                      <a:pt x="71438" y="0"/>
                    </a:lnTo>
                    <a:cubicBezTo>
                      <a:pt x="79328" y="0"/>
                      <a:pt x="85725" y="6397"/>
                      <a:pt x="85725" y="14288"/>
                    </a:cubicBezTo>
                    <a:lnTo>
                      <a:pt x="85725" y="71438"/>
                    </a:lnTo>
                    <a:cubicBezTo>
                      <a:pt x="85725" y="79328"/>
                      <a:pt x="79328" y="85725"/>
                      <a:pt x="71438" y="85725"/>
                    </a:cubicBezTo>
                    <a:lnTo>
                      <a:pt x="14288" y="85725"/>
                    </a:lnTo>
                    <a:cubicBezTo>
                      <a:pt x="6397" y="85725"/>
                      <a:pt x="0" y="79328"/>
                      <a:pt x="0" y="71438"/>
                    </a:cubicBezTo>
                    <a:lnTo>
                      <a:pt x="0" y="14288"/>
                    </a:lnTo>
                  </a:path>
                </a:pathLst>
              </a:custGeom>
              <a:noFill/>
              <a:ln w="14288">
                <a:solidFill>
                  <a:srgbClr val="FFFFFF"/>
                </a:solidFill>
              </a:ln>
            </p:spPr>
          </p:sp>
        </p:grpSp>
        <p:sp>
          <p:nvSpPr>
            <p:cNvPr id="55" name="TextBox 55"/>
            <p:cNvSpPr txBox="1"/>
            <p:nvPr/>
          </p:nvSpPr>
          <p:spPr>
            <a:xfrm>
              <a:off x="3119438" y="2844641"/>
              <a:ext cx="653152" cy="161925"/>
            </a:xfrm>
            <a:prstGeom prst="rect">
              <a:avLst/>
            </a:prstGeom>
            <a:noFill/>
            <a:ln>
              <a:noFill/>
            </a:ln>
          </p:spPr>
          <p:txBody>
            <a:bodyPr wrap="none" lIns="0" tIns="0" rIns="0" bIns="0" anchor="t" anchorCtr="0">
              <a:spAutoFit/>
            </a:bodyPr>
            <a:lstStyle/>
            <a:p>
              <a:pPr algn="l"/>
              <a:r>
                <a:rPr lang="zh-CN" sz="820" b="1" dirty="0">
                  <a:solidFill>
                    <a:srgbClr val="543E3A"/>
                  </a:solidFill>
                  <a:latin typeface="+mn-lt"/>
                  <a:ea typeface="+mn-ea"/>
                  <a:cs typeface="+mn-cs"/>
                </a:rPr>
                <a:t>微视APP偏好</a:t>
              </a:r>
            </a:p>
          </p:txBody>
        </p:sp>
        <p:sp>
          <p:nvSpPr>
            <p:cNvPr id="56" name="TextBox 56"/>
            <p:cNvSpPr txBox="1"/>
            <p:nvPr/>
          </p:nvSpPr>
          <p:spPr>
            <a:xfrm>
              <a:off x="2757488" y="3180636"/>
              <a:ext cx="200685"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快手</a:t>
              </a:r>
            </a:p>
          </p:txBody>
        </p:sp>
        <p:sp>
          <p:nvSpPr>
            <p:cNvPr id="57" name="Rectangle 57"/>
            <p:cNvSpPr/>
            <p:nvPr/>
          </p:nvSpPr>
          <p:spPr>
            <a:xfrm>
              <a:off x="2762250" y="3305175"/>
              <a:ext cx="533400" cy="85725"/>
            </a:xfrm>
            <a:prstGeom prst="rect">
              <a:avLst/>
            </a:prstGeom>
            <a:solidFill>
              <a:srgbClr val="E08C7B"/>
            </a:solidFill>
            <a:ln>
              <a:noFill/>
            </a:ln>
          </p:spPr>
        </p:sp>
        <p:sp>
          <p:nvSpPr>
            <p:cNvPr id="58" name="TextBox 58"/>
            <p:cNvSpPr txBox="1"/>
            <p:nvPr/>
          </p:nvSpPr>
          <p:spPr>
            <a:xfrm>
              <a:off x="3338512" y="3304461"/>
              <a:ext cx="114663"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42</a:t>
              </a:r>
            </a:p>
          </p:txBody>
        </p:sp>
        <p:sp>
          <p:nvSpPr>
            <p:cNvPr id="59" name="Rectangle 59"/>
            <p:cNvSpPr/>
            <p:nvPr/>
          </p:nvSpPr>
          <p:spPr>
            <a:xfrm>
              <a:off x="3505200" y="3305175"/>
              <a:ext cx="438150" cy="142875"/>
            </a:xfrm>
            <a:prstGeom prst="roundRect">
              <a:avLst>
                <a:gd name="adj" fmla="val 50000"/>
              </a:avLst>
            </a:prstGeom>
            <a:solidFill>
              <a:srgbClr val="B8503B"/>
            </a:solidFill>
            <a:ln>
              <a:noFill/>
            </a:ln>
          </p:spPr>
        </p:sp>
        <p:sp>
          <p:nvSpPr>
            <p:cNvPr id="60" name="TextBox 60"/>
            <p:cNvSpPr txBox="1"/>
            <p:nvPr/>
          </p:nvSpPr>
          <p:spPr>
            <a:xfrm>
              <a:off x="3568738" y="3341132"/>
              <a:ext cx="311074"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+40.3%</a:t>
              </a:r>
            </a:p>
          </p:txBody>
        </p:sp>
        <p:sp>
          <p:nvSpPr>
            <p:cNvPr id="61" name="TextBox 61"/>
            <p:cNvSpPr txBox="1"/>
            <p:nvPr/>
          </p:nvSpPr>
          <p:spPr>
            <a:xfrm>
              <a:off x="2757488" y="3466386"/>
              <a:ext cx="200685"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抖音</a:t>
              </a:r>
            </a:p>
          </p:txBody>
        </p:sp>
        <p:sp>
          <p:nvSpPr>
            <p:cNvPr id="62" name="Rectangle 62"/>
            <p:cNvSpPr/>
            <p:nvPr/>
          </p:nvSpPr>
          <p:spPr>
            <a:xfrm>
              <a:off x="2762250" y="3590925"/>
              <a:ext cx="838200" cy="85725"/>
            </a:xfrm>
            <a:prstGeom prst="rect">
              <a:avLst/>
            </a:prstGeom>
            <a:solidFill>
              <a:srgbClr val="C45F4A"/>
            </a:solidFill>
            <a:ln>
              <a:noFill/>
            </a:ln>
          </p:spPr>
        </p:sp>
        <p:sp>
          <p:nvSpPr>
            <p:cNvPr id="63" name="TextBox 63"/>
            <p:cNvSpPr txBox="1"/>
            <p:nvPr/>
          </p:nvSpPr>
          <p:spPr>
            <a:xfrm>
              <a:off x="3643312" y="3590211"/>
              <a:ext cx="114663"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66</a:t>
              </a:r>
            </a:p>
          </p:txBody>
        </p:sp>
        <p:sp>
          <p:nvSpPr>
            <p:cNvPr id="64" name="Rectangle 64"/>
            <p:cNvSpPr/>
            <p:nvPr/>
          </p:nvSpPr>
          <p:spPr>
            <a:xfrm>
              <a:off x="3810000" y="3590925"/>
              <a:ext cx="438150" cy="142875"/>
            </a:xfrm>
            <a:prstGeom prst="roundRect">
              <a:avLst>
                <a:gd name="adj" fmla="val 50000"/>
              </a:avLst>
            </a:prstGeom>
            <a:solidFill>
              <a:srgbClr val="B8503B"/>
            </a:solidFill>
            <a:ln>
              <a:noFill/>
            </a:ln>
          </p:spPr>
        </p:sp>
        <p:sp>
          <p:nvSpPr>
            <p:cNvPr id="65" name="TextBox 65"/>
            <p:cNvSpPr txBox="1"/>
            <p:nvPr/>
          </p:nvSpPr>
          <p:spPr>
            <a:xfrm>
              <a:off x="3873538" y="3626882"/>
              <a:ext cx="311074"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+40.3%</a:t>
              </a:r>
            </a:p>
          </p:txBody>
        </p:sp>
        <p:sp>
          <p:nvSpPr>
            <p:cNvPr id="66" name="TextBox 66"/>
            <p:cNvSpPr txBox="1"/>
            <p:nvPr/>
          </p:nvSpPr>
          <p:spPr>
            <a:xfrm>
              <a:off x="2757488" y="3839289"/>
              <a:ext cx="629605" cy="154781"/>
            </a:xfrm>
            <a:prstGeom prst="rect">
              <a:avLst/>
            </a:prstGeom>
            <a:noFill/>
            <a:ln>
              <a:noFill/>
            </a:ln>
          </p:spPr>
          <p:txBody>
            <a:bodyPr wrap="none" lIns="0" tIns="0" rIns="0" bIns="0" anchor="t" anchorCtr="0">
              <a:spAutoFit/>
            </a:bodyPr>
            <a:lstStyle/>
            <a:p>
              <a:pPr algn="l"/>
              <a:r>
                <a:rPr lang="zh-CN" sz="790" b="1" dirty="0">
                  <a:solidFill>
                    <a:srgbClr val="543E3A"/>
                  </a:solidFill>
                  <a:latin typeface="+mn-lt"/>
                  <a:ea typeface="+mn-ea"/>
                  <a:cs typeface="+mn-cs"/>
                </a:rPr>
                <a:t>微视APP偏好</a:t>
              </a:r>
            </a:p>
          </p:txBody>
        </p:sp>
        <p:sp>
          <p:nvSpPr>
            <p:cNvPr id="67" name="TextBox 67"/>
            <p:cNvSpPr txBox="1"/>
            <p:nvPr/>
          </p:nvSpPr>
          <p:spPr>
            <a:xfrm>
              <a:off x="2757488" y="4037886"/>
              <a:ext cx="200685"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美食</a:t>
              </a:r>
            </a:p>
          </p:txBody>
        </p:sp>
        <p:sp>
          <p:nvSpPr>
            <p:cNvPr id="68" name="Rectangle 68"/>
            <p:cNvSpPr/>
            <p:nvPr/>
          </p:nvSpPr>
          <p:spPr>
            <a:xfrm>
              <a:off x="2762250" y="4162425"/>
              <a:ext cx="1143000" cy="85725"/>
            </a:xfrm>
            <a:prstGeom prst="rect">
              <a:avLst/>
            </a:prstGeom>
            <a:solidFill>
              <a:srgbClr val="E87D6B"/>
            </a:solidFill>
            <a:ln>
              <a:noFill/>
            </a:ln>
          </p:spPr>
        </p:sp>
        <p:sp>
          <p:nvSpPr>
            <p:cNvPr id="69" name="TextBox 69"/>
            <p:cNvSpPr txBox="1"/>
            <p:nvPr/>
          </p:nvSpPr>
          <p:spPr>
            <a:xfrm>
              <a:off x="3957638" y="4161711"/>
              <a:ext cx="114663"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67</a:t>
              </a:r>
            </a:p>
          </p:txBody>
        </p:sp>
        <p:sp>
          <p:nvSpPr>
            <p:cNvPr id="70" name="Rectangle 70"/>
            <p:cNvSpPr/>
            <p:nvPr/>
          </p:nvSpPr>
          <p:spPr>
            <a:xfrm>
              <a:off x="4114800" y="4162425"/>
              <a:ext cx="438150" cy="142875"/>
            </a:xfrm>
            <a:prstGeom prst="roundRect">
              <a:avLst>
                <a:gd name="adj" fmla="val 50000"/>
              </a:avLst>
            </a:prstGeom>
            <a:solidFill>
              <a:srgbClr val="B8503B"/>
            </a:solidFill>
            <a:ln>
              <a:noFill/>
            </a:ln>
          </p:spPr>
        </p:sp>
        <p:sp>
          <p:nvSpPr>
            <p:cNvPr id="71" name="TextBox 71"/>
            <p:cNvSpPr txBox="1"/>
            <p:nvPr/>
          </p:nvSpPr>
          <p:spPr>
            <a:xfrm>
              <a:off x="4178338" y="4198382"/>
              <a:ext cx="311074"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+35.6%</a:t>
              </a:r>
            </a:p>
          </p:txBody>
        </p:sp>
        <p:sp>
          <p:nvSpPr>
            <p:cNvPr id="72" name="TextBox 72"/>
            <p:cNvSpPr txBox="1"/>
            <p:nvPr/>
          </p:nvSpPr>
          <p:spPr>
            <a:xfrm>
              <a:off x="2757488" y="4380786"/>
              <a:ext cx="296266"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生活类</a:t>
              </a:r>
            </a:p>
          </p:txBody>
        </p:sp>
        <p:sp>
          <p:nvSpPr>
            <p:cNvPr id="73" name="Rectangle 73"/>
            <p:cNvSpPr/>
            <p:nvPr/>
          </p:nvSpPr>
          <p:spPr>
            <a:xfrm>
              <a:off x="2762250" y="4505325"/>
              <a:ext cx="1047750" cy="85725"/>
            </a:xfrm>
            <a:prstGeom prst="rect">
              <a:avLst/>
            </a:prstGeom>
            <a:solidFill>
              <a:srgbClr val="F2ACA0"/>
            </a:solidFill>
            <a:ln>
              <a:noFill/>
            </a:ln>
          </p:spPr>
        </p:sp>
        <p:sp>
          <p:nvSpPr>
            <p:cNvPr id="74" name="TextBox 74"/>
            <p:cNvSpPr txBox="1"/>
            <p:nvPr/>
          </p:nvSpPr>
          <p:spPr>
            <a:xfrm>
              <a:off x="3862388" y="4504611"/>
              <a:ext cx="114663"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61</a:t>
              </a:r>
            </a:p>
          </p:txBody>
        </p:sp>
        <p:sp>
          <p:nvSpPr>
            <p:cNvPr id="75" name="Rectangle 75"/>
            <p:cNvSpPr/>
            <p:nvPr/>
          </p:nvSpPr>
          <p:spPr>
            <a:xfrm>
              <a:off x="4019550" y="4505325"/>
              <a:ext cx="438150" cy="142875"/>
            </a:xfrm>
            <a:prstGeom prst="roundRect">
              <a:avLst>
                <a:gd name="adj" fmla="val 50000"/>
              </a:avLst>
            </a:prstGeom>
            <a:solidFill>
              <a:srgbClr val="B8503B"/>
            </a:solidFill>
            <a:ln>
              <a:noFill/>
            </a:ln>
          </p:spPr>
        </p:sp>
        <p:sp>
          <p:nvSpPr>
            <p:cNvPr id="76" name="TextBox 76"/>
            <p:cNvSpPr txBox="1"/>
            <p:nvPr/>
          </p:nvSpPr>
          <p:spPr>
            <a:xfrm>
              <a:off x="4083088" y="4541282"/>
              <a:ext cx="311074"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+35.3%</a:t>
              </a:r>
            </a:p>
          </p:txBody>
        </p:sp>
        <p:sp>
          <p:nvSpPr>
            <p:cNvPr id="77" name="Ellipse 77"/>
            <p:cNvSpPr/>
            <p:nvPr/>
          </p:nvSpPr>
          <p:spPr>
            <a:xfrm>
              <a:off x="4029075" y="4886325"/>
              <a:ext cx="323850" cy="323850"/>
            </a:xfrm>
            <a:prstGeom prst="ellipse">
              <a:avLst/>
            </a:prstGeom>
            <a:solidFill>
              <a:srgbClr val="F07E6A"/>
            </a:solidFill>
            <a:ln>
              <a:noFill/>
            </a:ln>
          </p:spPr>
        </p:sp>
        <p:sp>
          <p:nvSpPr>
            <p:cNvPr id="78" name="Rectangle 78"/>
            <p:cNvSpPr/>
            <p:nvPr/>
          </p:nvSpPr>
          <p:spPr>
            <a:xfrm>
              <a:off x="4000500" y="5257800"/>
              <a:ext cx="381000" cy="552450"/>
            </a:xfrm>
            <a:prstGeom prst="roundRect">
              <a:avLst>
                <a:gd name="adj" fmla="val 45000"/>
              </a:avLst>
            </a:prstGeom>
            <a:solidFill>
              <a:srgbClr val="F2ACA0"/>
            </a:solidFill>
            <a:ln>
              <a:noFill/>
            </a:ln>
          </p:spPr>
        </p:sp>
        <p:sp>
          <p:nvSpPr>
            <p:cNvPr id="79" name="Ellipse 79"/>
            <p:cNvSpPr/>
            <p:nvPr/>
          </p:nvSpPr>
          <p:spPr>
            <a:xfrm>
              <a:off x="4410075" y="5000625"/>
              <a:ext cx="285750" cy="285750"/>
            </a:xfrm>
            <a:prstGeom prst="ellipse">
              <a:avLst/>
            </a:prstGeom>
            <a:solidFill>
              <a:srgbClr val="E49A8B"/>
            </a:solidFill>
            <a:ln>
              <a:noFill/>
            </a:ln>
          </p:spPr>
        </p:sp>
        <p:sp>
          <p:nvSpPr>
            <p:cNvPr id="80" name="Rectangle 80"/>
            <p:cNvSpPr/>
            <p:nvPr/>
          </p:nvSpPr>
          <p:spPr>
            <a:xfrm>
              <a:off x="4400550" y="5314950"/>
              <a:ext cx="323850" cy="495300"/>
            </a:xfrm>
            <a:prstGeom prst="roundRect">
              <a:avLst>
                <a:gd name="adj" fmla="val 44118"/>
              </a:avLst>
            </a:prstGeom>
            <a:solidFill>
              <a:srgbClr val="F0BBB0"/>
            </a:solidFill>
            <a:ln>
              <a:noFill/>
            </a:ln>
          </p:spPr>
        </p:sp>
        <p:sp>
          <p:nvSpPr>
            <p:cNvPr id="81" name="Line 81"/>
            <p:cNvSpPr/>
            <p:nvPr/>
          </p:nvSpPr>
          <p:spPr>
            <a:xfrm>
              <a:off x="4219575" y="5524500"/>
              <a:ext cx="276225" cy="57150"/>
            </a:xfrm>
            <a:custGeom>
              <a:avLst/>
              <a:gdLst/>
              <a:ahLst/>
              <a:cxnLst/>
              <a:rect l="l" t="t" r="r" b="b"/>
              <a:pathLst>
                <a:path w="276225" h="57150">
                  <a:moveTo>
                    <a:pt x="0" y="0"/>
                  </a:moveTo>
                  <a:lnTo>
                    <a:pt x="276225" y="57150"/>
                  </a:lnTo>
                </a:path>
              </a:pathLst>
            </a:custGeom>
            <a:noFill/>
            <a:ln w="38100">
              <a:solidFill>
                <a:srgbClr val="E8EBF8"/>
              </a:solidFill>
            </a:ln>
          </p:spPr>
        </p:sp>
      </p:grpSp>
      <p:grpSp>
        <p:nvGrpSpPr>
          <p:cNvPr id="102" name="chart-shopping"/>
          <p:cNvGrpSpPr/>
          <p:nvPr/>
        </p:nvGrpSpPr>
        <p:grpSpPr>
          <a:xfrm>
            <a:off x="4900612" y="2752725"/>
            <a:ext cx="1195388" cy="1666875"/>
            <a:chOff x="4900612" y="2752725"/>
            <a:chExt cx="1195388" cy="1666875"/>
          </a:xfrm>
        </p:grpSpPr>
        <p:sp>
          <p:nvSpPr>
            <p:cNvPr id="83" name="Ellipse 83"/>
            <p:cNvSpPr/>
            <p:nvPr/>
          </p:nvSpPr>
          <p:spPr>
            <a:xfrm>
              <a:off x="4914900" y="2752725"/>
              <a:ext cx="266700" cy="266700"/>
            </a:xfrm>
            <a:prstGeom prst="ellipse">
              <a:avLst/>
            </a:prstGeom>
            <a:solidFill>
              <a:srgbClr val="E35942"/>
            </a:solidFill>
            <a:ln>
              <a:noFill/>
            </a:ln>
          </p:spPr>
        </p:sp>
        <p:grpSp>
          <p:nvGrpSpPr>
            <p:cNvPr id="88" name="Group 88"/>
            <p:cNvGrpSpPr/>
            <p:nvPr/>
          </p:nvGrpSpPr>
          <p:grpSpPr>
            <a:xfrm>
              <a:off x="4991100" y="2821781"/>
              <a:ext cx="114300" cy="128588"/>
              <a:chOff x="4991100" y="2821781"/>
              <a:chExt cx="114300" cy="128588"/>
            </a:xfrm>
          </p:grpSpPr>
          <p:sp>
            <p:nvSpPr>
              <p:cNvPr id="84" name="Freeform 84"/>
              <p:cNvSpPr/>
              <p:nvPr/>
            </p:nvSpPr>
            <p:spPr>
              <a:xfrm>
                <a:off x="4991100" y="29217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85" name="Freeform 85"/>
              <p:cNvSpPr/>
              <p:nvPr/>
            </p:nvSpPr>
            <p:spPr>
              <a:xfrm>
                <a:off x="5069681" y="292179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86" name="Freeform 86"/>
              <p:cNvSpPr/>
              <p:nvPr/>
            </p:nvSpPr>
            <p:spPr>
              <a:xfrm>
                <a:off x="4991100" y="2821781"/>
                <a:ext cx="92869" cy="100012"/>
              </a:xfrm>
              <a:custGeom>
                <a:avLst/>
                <a:gdLst/>
                <a:ahLst/>
                <a:cxnLst/>
                <a:rect l="l" t="t" r="r" b="b"/>
                <a:pathLst>
                  <a:path w="92869" h="100012">
                    <a:moveTo>
                      <a:pt x="92869" y="100012"/>
                    </a:moveTo>
                    <a:lnTo>
                      <a:pt x="14288" y="100012"/>
                    </a:lnTo>
                    <a:lnTo>
                      <a:pt x="14288" y="0"/>
                    </a:lnTo>
                    <a:lnTo>
                      <a:pt x="0" y="0"/>
                    </a:lnTo>
                  </a:path>
                </a:pathLst>
              </a:custGeom>
              <a:noFill/>
              <a:ln w="14288">
                <a:solidFill>
                  <a:srgbClr val="FFFFFF"/>
                </a:solidFill>
              </a:ln>
            </p:spPr>
          </p:sp>
          <p:sp>
            <p:nvSpPr>
              <p:cNvPr id="87" name="Freeform 87"/>
              <p:cNvSpPr/>
              <p:nvPr/>
            </p:nvSpPr>
            <p:spPr>
              <a:xfrm>
                <a:off x="5005388" y="2836069"/>
                <a:ext cx="100012" cy="57150"/>
              </a:xfrm>
              <a:custGeom>
                <a:avLst/>
                <a:gdLst/>
                <a:ahLst/>
                <a:cxnLst/>
                <a:rect l="l" t="t" r="r" b="b"/>
                <a:pathLst>
                  <a:path w="100012" h="57150">
                    <a:moveTo>
                      <a:pt x="0" y="0"/>
                    </a:moveTo>
                    <a:lnTo>
                      <a:pt x="100012" y="7144"/>
                    </a:lnTo>
                    <a:lnTo>
                      <a:pt x="92869" y="57150"/>
                    </a:lnTo>
                    <a:lnTo>
                      <a:pt x="0" y="57150"/>
                    </a:lnTo>
                  </a:path>
                </a:pathLst>
              </a:custGeom>
              <a:noFill/>
              <a:ln w="14288">
                <a:solidFill>
                  <a:srgbClr val="FFFFFF"/>
                </a:solidFill>
              </a:ln>
            </p:spPr>
          </p:sp>
        </p:grpSp>
        <p:sp>
          <p:nvSpPr>
            <p:cNvPr id="89" name="TextBox 89"/>
            <p:cNvSpPr txBox="1"/>
            <p:nvPr/>
          </p:nvSpPr>
          <p:spPr>
            <a:xfrm>
              <a:off x="5253038" y="2848689"/>
              <a:ext cx="842304" cy="154781"/>
            </a:xfrm>
            <a:prstGeom prst="rect">
              <a:avLst/>
            </a:prstGeom>
            <a:noFill/>
            <a:ln>
              <a:noFill/>
            </a:ln>
          </p:spPr>
          <p:txBody>
            <a:bodyPr wrap="none" lIns="0" tIns="0" rIns="0" bIns="0" anchor="t" anchorCtr="0">
              <a:spAutoFit/>
            </a:bodyPr>
            <a:lstStyle/>
            <a:p>
              <a:pPr algn="l"/>
              <a:r>
                <a:rPr lang="zh-CN" sz="790" b="1" dirty="0">
                  <a:solidFill>
                    <a:srgbClr val="543E3A"/>
                  </a:solidFill>
                  <a:latin typeface="+mn-lt"/>
                  <a:ea typeface="+mn-ea"/>
                  <a:cs typeface="+mn-cs"/>
                </a:rPr>
                <a:t>在线购物APP偏好</a:t>
              </a:r>
            </a:p>
          </p:txBody>
        </p:sp>
        <p:sp>
          <p:nvSpPr>
            <p:cNvPr id="90" name="TextBox 90"/>
            <p:cNvSpPr txBox="1"/>
            <p:nvPr/>
          </p:nvSpPr>
          <p:spPr>
            <a:xfrm>
              <a:off x="4900612" y="3180636"/>
              <a:ext cx="296266"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砍一刀</a:t>
              </a:r>
            </a:p>
          </p:txBody>
        </p:sp>
        <p:sp>
          <p:nvSpPr>
            <p:cNvPr id="91" name="Rectangle 91"/>
            <p:cNvSpPr/>
            <p:nvPr/>
          </p:nvSpPr>
          <p:spPr>
            <a:xfrm>
              <a:off x="4905375" y="3305175"/>
              <a:ext cx="533400" cy="85725"/>
            </a:xfrm>
            <a:prstGeom prst="rect">
              <a:avLst/>
            </a:prstGeom>
            <a:solidFill>
              <a:srgbClr val="E87D6B"/>
            </a:solidFill>
            <a:ln>
              <a:noFill/>
            </a:ln>
          </p:spPr>
        </p:sp>
        <p:sp>
          <p:nvSpPr>
            <p:cNvPr id="92" name="TextBox 92"/>
            <p:cNvSpPr txBox="1"/>
            <p:nvPr/>
          </p:nvSpPr>
          <p:spPr>
            <a:xfrm>
              <a:off x="5481638" y="3304461"/>
              <a:ext cx="219801"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10.7</a:t>
              </a:r>
            </a:p>
          </p:txBody>
        </p:sp>
        <p:sp>
          <p:nvSpPr>
            <p:cNvPr id="93" name="Rectangle 93"/>
            <p:cNvSpPr/>
            <p:nvPr/>
          </p:nvSpPr>
          <p:spPr>
            <a:xfrm>
              <a:off x="4905375" y="3543300"/>
              <a:ext cx="552450" cy="85725"/>
            </a:xfrm>
            <a:prstGeom prst="rect">
              <a:avLst/>
            </a:prstGeom>
            <a:solidFill>
              <a:srgbClr val="C45F4A"/>
            </a:solidFill>
            <a:ln>
              <a:noFill/>
            </a:ln>
          </p:spPr>
        </p:sp>
        <p:sp>
          <p:nvSpPr>
            <p:cNvPr id="94" name="TextBox 94"/>
            <p:cNvSpPr txBox="1"/>
            <p:nvPr/>
          </p:nvSpPr>
          <p:spPr>
            <a:xfrm>
              <a:off x="5500688" y="3542586"/>
              <a:ext cx="219801" cy="140494"/>
            </a:xfrm>
            <a:prstGeom prst="rect">
              <a:avLst/>
            </a:prstGeom>
            <a:noFill/>
            <a:ln>
              <a:noFill/>
            </a:ln>
          </p:spPr>
          <p:txBody>
            <a:bodyPr wrap="none" lIns="0" tIns="0" rIns="0" bIns="0" anchor="t" anchorCtr="0">
              <a:spAutoFit/>
            </a:bodyPr>
            <a:lstStyle/>
            <a:p>
              <a:pPr algn="l"/>
              <a:r>
                <a:rPr lang="zh-CN" sz="710" dirty="0">
                  <a:solidFill>
                    <a:srgbClr val="543E3A"/>
                  </a:solidFill>
                  <a:latin typeface="+mn-lt"/>
                  <a:ea typeface="+mn-ea"/>
                  <a:cs typeface="+mn-cs"/>
                </a:rPr>
                <a:t>10.8</a:t>
              </a:r>
            </a:p>
          </p:txBody>
        </p:sp>
        <p:sp>
          <p:nvSpPr>
            <p:cNvPr id="95" name="Rectangle 95"/>
            <p:cNvSpPr/>
            <p:nvPr/>
          </p:nvSpPr>
          <p:spPr>
            <a:xfrm>
              <a:off x="5657850" y="3514725"/>
              <a:ext cx="438150" cy="142875"/>
            </a:xfrm>
            <a:prstGeom prst="roundRect">
              <a:avLst>
                <a:gd name="adj" fmla="val 50000"/>
              </a:avLst>
            </a:prstGeom>
            <a:solidFill>
              <a:srgbClr val="B8503B"/>
            </a:solidFill>
            <a:ln>
              <a:noFill/>
            </a:ln>
          </p:spPr>
        </p:sp>
        <p:sp>
          <p:nvSpPr>
            <p:cNvPr id="96" name="TextBox 96"/>
            <p:cNvSpPr txBox="1"/>
            <p:nvPr/>
          </p:nvSpPr>
          <p:spPr>
            <a:xfrm>
              <a:off x="5721388" y="3550682"/>
              <a:ext cx="311074"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+40.3%</a:t>
              </a:r>
            </a:p>
          </p:txBody>
        </p:sp>
        <p:sp>
          <p:nvSpPr>
            <p:cNvPr id="97" name="Rectangle 97"/>
            <p:cNvSpPr/>
            <p:nvPr/>
          </p:nvSpPr>
          <p:spPr>
            <a:xfrm>
              <a:off x="5257800" y="4095750"/>
              <a:ext cx="419100" cy="323850"/>
            </a:xfrm>
            <a:prstGeom prst="roundRect">
              <a:avLst>
                <a:gd name="adj" fmla="val 17647"/>
              </a:avLst>
            </a:prstGeom>
            <a:solidFill>
              <a:srgbClr val="E8EBF8"/>
            </a:solidFill>
            <a:ln>
              <a:noFill/>
            </a:ln>
          </p:spPr>
        </p:sp>
        <p:sp>
          <p:nvSpPr>
            <p:cNvPr id="98" name="Polygon 98"/>
            <p:cNvSpPr/>
            <p:nvPr/>
          </p:nvSpPr>
          <p:spPr>
            <a:xfrm>
              <a:off x="5219700" y="4000500"/>
              <a:ext cx="495300" cy="95250"/>
            </a:xfrm>
            <a:custGeom>
              <a:avLst/>
              <a:gdLst/>
              <a:ahLst/>
              <a:cxnLst/>
              <a:rect l="l" t="t" r="r" b="b"/>
              <a:pathLst>
                <a:path w="495300" h="95250">
                  <a:moveTo>
                    <a:pt x="0" y="95250"/>
                  </a:moveTo>
                  <a:lnTo>
                    <a:pt x="495300" y="95250"/>
                  </a:lnTo>
                  <a:lnTo>
                    <a:pt x="419100" y="0"/>
                  </a:lnTo>
                  <a:lnTo>
                    <a:pt x="76200" y="0"/>
                  </a:lnTo>
                  <a:close/>
                </a:path>
              </a:pathLst>
            </a:custGeom>
            <a:solidFill>
              <a:srgbClr val="D8DEF2"/>
            </a:solidFill>
            <a:ln>
              <a:noFill/>
            </a:ln>
          </p:spPr>
        </p:sp>
        <p:sp>
          <p:nvSpPr>
            <p:cNvPr id="99" name="Freeform 99"/>
            <p:cNvSpPr/>
            <p:nvPr/>
          </p:nvSpPr>
          <p:spPr>
            <a:xfrm>
              <a:off x="5219700" y="3733800"/>
              <a:ext cx="114300" cy="361950"/>
            </a:xfrm>
            <a:custGeom>
              <a:avLst/>
              <a:gdLst/>
              <a:ahLst/>
              <a:cxnLst/>
              <a:rect l="l" t="t" r="r" b="b"/>
              <a:pathLst>
                <a:path w="114300" h="361950">
                  <a:moveTo>
                    <a:pt x="114300" y="361950"/>
                  </a:moveTo>
                  <a:cubicBezTo>
                    <a:pt x="88900" y="184150"/>
                    <a:pt x="50800" y="63500"/>
                    <a:pt x="0" y="0"/>
                  </a:cubicBezTo>
                </a:path>
              </a:pathLst>
            </a:custGeom>
            <a:noFill/>
            <a:ln w="28575">
              <a:solidFill>
                <a:srgbClr val="E49A8B"/>
              </a:solidFill>
            </a:ln>
          </p:spPr>
        </p:sp>
        <p:sp>
          <p:nvSpPr>
            <p:cNvPr id="100" name="Freeform 100"/>
            <p:cNvSpPr/>
            <p:nvPr/>
          </p:nvSpPr>
          <p:spPr>
            <a:xfrm>
              <a:off x="5467350" y="3695700"/>
              <a:ext cx="9525" cy="400050"/>
            </a:xfrm>
            <a:custGeom>
              <a:avLst/>
              <a:gdLst/>
              <a:ahLst/>
              <a:cxnLst/>
              <a:rect l="l" t="t" r="r" b="b"/>
              <a:pathLst>
                <a:path w="9525" h="400050">
                  <a:moveTo>
                    <a:pt x="0" y="400050"/>
                  </a:moveTo>
                  <a:cubicBezTo>
                    <a:pt x="0" y="196850"/>
                    <a:pt x="0" y="63500"/>
                    <a:pt x="0" y="0"/>
                  </a:cubicBezTo>
                </a:path>
              </a:pathLst>
            </a:custGeom>
            <a:noFill/>
            <a:ln w="28575">
              <a:solidFill>
                <a:srgbClr val="C46D5B"/>
              </a:solidFill>
            </a:ln>
          </p:spPr>
        </p:sp>
        <p:sp>
          <p:nvSpPr>
            <p:cNvPr id="101" name="Freeform 101"/>
            <p:cNvSpPr/>
            <p:nvPr/>
          </p:nvSpPr>
          <p:spPr>
            <a:xfrm>
              <a:off x="5600700" y="3733800"/>
              <a:ext cx="114300" cy="361950"/>
            </a:xfrm>
            <a:custGeom>
              <a:avLst/>
              <a:gdLst/>
              <a:ahLst/>
              <a:cxnLst/>
              <a:rect l="l" t="t" r="r" b="b"/>
              <a:pathLst>
                <a:path w="114300" h="361950">
                  <a:moveTo>
                    <a:pt x="0" y="361950"/>
                  </a:moveTo>
                  <a:cubicBezTo>
                    <a:pt x="25400" y="184150"/>
                    <a:pt x="63500" y="63500"/>
                    <a:pt x="114300" y="0"/>
                  </a:cubicBezTo>
                </a:path>
              </a:pathLst>
            </a:custGeom>
            <a:noFill/>
            <a:ln w="28575">
              <a:solidFill>
                <a:srgbClr val="F0BBB0"/>
              </a:solidFill>
            </a:ln>
          </p:spPr>
        </p:sp>
      </p:grpSp>
      <p:grpSp>
        <p:nvGrpSpPr>
          <p:cNvPr id="113" name="pyramid"/>
          <p:cNvGrpSpPr/>
          <p:nvPr/>
        </p:nvGrpSpPr>
        <p:grpSpPr>
          <a:xfrm>
            <a:off x="5819775" y="2619375"/>
            <a:ext cx="1981200" cy="3048000"/>
            <a:chOff x="5819775" y="2619375"/>
            <a:chExt cx="1981200" cy="3048000"/>
          </a:xfrm>
        </p:grpSpPr>
        <p:sp>
          <p:nvSpPr>
            <p:cNvPr id="103" name="Freeform 103"/>
            <p:cNvSpPr/>
            <p:nvPr/>
          </p:nvSpPr>
          <p:spPr>
            <a:xfrm>
              <a:off x="6429375" y="2619375"/>
              <a:ext cx="762000" cy="609600"/>
            </a:xfrm>
            <a:prstGeom prst="triangle">
              <a:avLst/>
            </a:prstGeom>
            <a:solidFill>
              <a:srgbClr val="B04934"/>
            </a:solidFill>
            <a:ln>
              <a:noFill/>
            </a:ln>
          </p:spPr>
        </p:sp>
        <p:sp>
          <p:nvSpPr>
            <p:cNvPr id="104" name="Freeform 104"/>
            <p:cNvSpPr/>
            <p:nvPr/>
          </p:nvSpPr>
          <p:spPr>
            <a:xfrm>
              <a:off x="6305550" y="3248025"/>
              <a:ext cx="1009650" cy="590550"/>
            </a:xfrm>
            <a:prstGeom prst="trapezoid">
              <a:avLst/>
            </a:prstGeom>
            <a:solidFill>
              <a:srgbClr val="C45F4A"/>
            </a:solidFill>
            <a:ln>
              <a:noFill/>
            </a:ln>
          </p:spPr>
        </p:sp>
        <p:sp>
          <p:nvSpPr>
            <p:cNvPr id="105" name="Freeform 105"/>
            <p:cNvSpPr/>
            <p:nvPr/>
          </p:nvSpPr>
          <p:spPr>
            <a:xfrm>
              <a:off x="6143625" y="3857625"/>
              <a:ext cx="1333500" cy="590550"/>
            </a:xfrm>
            <a:prstGeom prst="trapezoid">
              <a:avLst/>
            </a:prstGeom>
            <a:solidFill>
              <a:srgbClr val="D67662"/>
            </a:solidFill>
            <a:ln>
              <a:noFill/>
            </a:ln>
          </p:spPr>
        </p:sp>
        <p:sp>
          <p:nvSpPr>
            <p:cNvPr id="106" name="Freeform 106"/>
            <p:cNvSpPr/>
            <p:nvPr/>
          </p:nvSpPr>
          <p:spPr>
            <a:xfrm>
              <a:off x="5981700" y="4467225"/>
              <a:ext cx="1657350" cy="590550"/>
            </a:xfrm>
            <a:prstGeom prst="trapezoid">
              <a:avLst/>
            </a:prstGeom>
            <a:solidFill>
              <a:srgbClr val="E49A8B"/>
            </a:solidFill>
            <a:ln>
              <a:noFill/>
            </a:ln>
          </p:spPr>
        </p:sp>
        <p:sp>
          <p:nvSpPr>
            <p:cNvPr id="107" name="Freeform 107"/>
            <p:cNvSpPr/>
            <p:nvPr/>
          </p:nvSpPr>
          <p:spPr>
            <a:xfrm>
              <a:off x="5819775" y="5076825"/>
              <a:ext cx="1981200" cy="590550"/>
            </a:xfrm>
            <a:prstGeom prst="trapezoid">
              <a:avLst/>
            </a:prstGeom>
            <a:solidFill>
              <a:srgbClr val="F0BBB0"/>
            </a:solidFill>
            <a:ln>
              <a:noFill/>
            </a:ln>
          </p:spPr>
        </p:sp>
        <p:sp>
          <p:nvSpPr>
            <p:cNvPr id="108" name="TextBox 108"/>
            <p:cNvSpPr txBox="1"/>
            <p:nvPr/>
          </p:nvSpPr>
          <p:spPr>
            <a:xfrm>
              <a:off x="6530988" y="3098959"/>
              <a:ext cx="558775"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自我实现需求</a:t>
              </a:r>
            </a:p>
          </p:txBody>
        </p:sp>
        <p:sp>
          <p:nvSpPr>
            <p:cNvPr id="109" name="TextBox 109"/>
            <p:cNvSpPr txBox="1"/>
            <p:nvPr/>
          </p:nvSpPr>
          <p:spPr>
            <a:xfrm>
              <a:off x="6584836" y="35018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尊重需求</a:t>
              </a:r>
            </a:p>
          </p:txBody>
        </p:sp>
        <p:sp>
          <p:nvSpPr>
            <p:cNvPr id="110" name="TextBox 110"/>
            <p:cNvSpPr txBox="1"/>
            <p:nvPr/>
          </p:nvSpPr>
          <p:spPr>
            <a:xfrm>
              <a:off x="6584836" y="41114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社会需求</a:t>
              </a:r>
            </a:p>
          </p:txBody>
        </p:sp>
        <p:sp>
          <p:nvSpPr>
            <p:cNvPr id="111" name="TextBox 111"/>
            <p:cNvSpPr txBox="1"/>
            <p:nvPr/>
          </p:nvSpPr>
          <p:spPr>
            <a:xfrm>
              <a:off x="6584836" y="47210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安全需求</a:t>
              </a:r>
            </a:p>
          </p:txBody>
        </p:sp>
        <p:sp>
          <p:nvSpPr>
            <p:cNvPr id="112" name="TextBox 112"/>
            <p:cNvSpPr txBox="1"/>
            <p:nvPr/>
          </p:nvSpPr>
          <p:spPr>
            <a:xfrm>
              <a:off x="6584836" y="53306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生存需求</a:t>
              </a:r>
            </a:p>
          </p:txBody>
        </p:sp>
      </p:grpSp>
      <p:grpSp>
        <p:nvGrpSpPr>
          <p:cNvPr id="124" name="layer-notes"/>
          <p:cNvGrpSpPr/>
          <p:nvPr/>
        </p:nvGrpSpPr>
        <p:grpSpPr>
          <a:xfrm>
            <a:off x="7810500" y="2762250"/>
            <a:ext cx="2827973" cy="2898695"/>
            <a:chOff x="7810500" y="2762250"/>
            <a:chExt cx="2827973" cy="2898695"/>
          </a:xfrm>
        </p:grpSpPr>
        <p:sp>
          <p:nvSpPr>
            <p:cNvPr id="114" name="Rectangle 114"/>
            <p:cNvSpPr/>
            <p:nvPr/>
          </p:nvSpPr>
          <p:spPr>
            <a:xfrm>
              <a:off x="7810500" y="2762250"/>
              <a:ext cx="28575" cy="247650"/>
            </a:xfrm>
            <a:prstGeom prst="rect">
              <a:avLst/>
            </a:prstGeom>
            <a:solidFill>
              <a:srgbClr val="B04934"/>
            </a:solidFill>
            <a:ln>
              <a:noFill/>
            </a:ln>
          </p:spPr>
        </p:sp>
        <p:sp>
          <p:nvSpPr>
            <p:cNvPr id="115" name="TextBox 115"/>
            <p:cNvSpPr txBox="1"/>
            <p:nvPr/>
          </p:nvSpPr>
          <p:spPr>
            <a:xfrm>
              <a:off x="7920038" y="2772489"/>
              <a:ext cx="261810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让长者们可以自我激励并突破自我，如</a:t>
              </a:r>
              <a:r>
                <a:rPr lang="zh-CN" sz="790" dirty="0">
                  <a:solidFill>
                    <a:srgbClr val="E8634C"/>
                  </a:solidFill>
                  <a:latin typeface="+mn-lt"/>
                  <a:ea typeface="+mn-ea"/>
                  <a:cs typeface="+mn-cs"/>
                </a:rPr>
                <a:t>精神追求</a:t>
              </a:r>
              <a:r>
                <a:rPr lang="zh-CN" sz="790" dirty="0">
                  <a:solidFill>
                    <a:srgbClr val="543E3A"/>
                  </a:solidFill>
                  <a:latin typeface="+mn-lt"/>
                  <a:ea typeface="+mn-ea"/>
                  <a:cs typeface="+mn-cs"/>
                </a:rPr>
                <a:t>自我突破、</a:t>
              </a:r>
              <a:br/>
              <a:r>
                <a:rPr lang="zh-CN" sz="790" dirty="0">
                  <a:solidFill>
                    <a:srgbClr val="543E3A"/>
                  </a:solidFill>
                  <a:latin typeface="+mn-lt"/>
                  <a:ea typeface="+mn-ea"/>
                  <a:cs typeface="+mn-cs"/>
                </a:rPr>
                <a:t>自我挑战、生命留存、感悟自然的沉静等</a:t>
              </a:r>
            </a:p>
          </p:txBody>
        </p:sp>
        <p:sp>
          <p:nvSpPr>
            <p:cNvPr id="116" name="Rectangle 116"/>
            <p:cNvSpPr/>
            <p:nvPr/>
          </p:nvSpPr>
          <p:spPr>
            <a:xfrm>
              <a:off x="7810500" y="3409950"/>
              <a:ext cx="28575" cy="247650"/>
            </a:xfrm>
            <a:prstGeom prst="rect">
              <a:avLst/>
            </a:prstGeom>
            <a:solidFill>
              <a:srgbClr val="C45F4A"/>
            </a:solidFill>
            <a:ln>
              <a:noFill/>
            </a:ln>
          </p:spPr>
        </p:sp>
        <p:sp>
          <p:nvSpPr>
            <p:cNvPr id="117" name="TextBox 117"/>
            <p:cNvSpPr txBox="1"/>
            <p:nvPr/>
          </p:nvSpPr>
          <p:spPr>
            <a:xfrm>
              <a:off x="7920038" y="3420189"/>
              <a:ext cx="261810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长者们获得社会层面的尊重与关怀，如</a:t>
              </a:r>
              <a:r>
                <a:rPr lang="zh-CN" sz="790" dirty="0">
                  <a:solidFill>
                    <a:srgbClr val="E8634C"/>
                  </a:solidFill>
                  <a:latin typeface="+mn-lt"/>
                  <a:ea typeface="+mn-ea"/>
                  <a:cs typeface="+mn-cs"/>
                </a:rPr>
                <a:t>安享天伦</a:t>
              </a:r>
              <a:r>
                <a:rPr lang="zh-CN" sz="790" dirty="0">
                  <a:solidFill>
                    <a:srgbClr val="543E3A"/>
                  </a:solidFill>
                  <a:latin typeface="+mn-lt"/>
                  <a:ea typeface="+mn-ea"/>
                  <a:cs typeface="+mn-cs"/>
                </a:rPr>
                <a:t>、生活中的</a:t>
              </a:r>
              <a:br/>
              <a:r>
                <a:rPr lang="zh-CN" sz="790" dirty="0">
                  <a:solidFill>
                    <a:srgbClr val="543E3A"/>
                  </a:solidFill>
                  <a:latin typeface="+mn-lt"/>
                  <a:ea typeface="+mn-ea"/>
                  <a:cs typeface="+mn-cs"/>
                </a:rPr>
                <a:t>尊重、同龄人的认同与尊重、社会层面的关怀等</a:t>
              </a:r>
            </a:p>
          </p:txBody>
        </p:sp>
        <p:sp>
          <p:nvSpPr>
            <p:cNvPr id="118" name="Rectangle 118"/>
            <p:cNvSpPr/>
            <p:nvPr/>
          </p:nvSpPr>
          <p:spPr>
            <a:xfrm>
              <a:off x="7810500" y="4057650"/>
              <a:ext cx="28575" cy="247650"/>
            </a:xfrm>
            <a:prstGeom prst="rect">
              <a:avLst/>
            </a:prstGeom>
            <a:solidFill>
              <a:srgbClr val="D67662"/>
            </a:solidFill>
            <a:ln>
              <a:noFill/>
            </a:ln>
          </p:spPr>
        </p:sp>
        <p:sp>
          <p:nvSpPr>
            <p:cNvPr id="119" name="TextBox 119"/>
            <p:cNvSpPr txBox="1"/>
            <p:nvPr/>
          </p:nvSpPr>
          <p:spPr>
            <a:xfrm>
              <a:off x="7920038" y="4067889"/>
              <a:ext cx="271843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能让长者们即便是在退休后依然与社会保持联系，如</a:t>
              </a:r>
              <a:r>
                <a:rPr lang="zh-CN" sz="790" dirty="0">
                  <a:solidFill>
                    <a:srgbClr val="E8634C"/>
                  </a:solidFill>
                  <a:latin typeface="+mn-lt"/>
                  <a:ea typeface="+mn-ea"/>
                  <a:cs typeface="+mn-cs"/>
                </a:rPr>
                <a:t>文化娱乐</a:t>
              </a:r>
              <a:br/>
              <a:r>
                <a:rPr lang="zh-CN" sz="790" dirty="0">
                  <a:solidFill>
                    <a:srgbClr val="543E3A"/>
                  </a:solidFill>
                  <a:latin typeface="+mn-lt"/>
                  <a:ea typeface="+mn-ea"/>
                  <a:cs typeface="+mn-cs"/>
                </a:rPr>
                <a:t>老年大学、兴趣培养，以及社会活动旅游社交</a:t>
              </a:r>
            </a:p>
          </p:txBody>
        </p:sp>
        <p:sp>
          <p:nvSpPr>
            <p:cNvPr id="120" name="Rectangle 120"/>
            <p:cNvSpPr/>
            <p:nvPr/>
          </p:nvSpPr>
          <p:spPr>
            <a:xfrm>
              <a:off x="7810500" y="4705350"/>
              <a:ext cx="28575" cy="247650"/>
            </a:xfrm>
            <a:prstGeom prst="rect">
              <a:avLst/>
            </a:prstGeom>
            <a:solidFill>
              <a:srgbClr val="E49A8B"/>
            </a:solidFill>
            <a:ln>
              <a:noFill/>
            </a:ln>
          </p:spPr>
        </p:sp>
        <p:sp>
          <p:nvSpPr>
            <p:cNvPr id="121" name="TextBox 121"/>
            <p:cNvSpPr txBox="1"/>
            <p:nvPr/>
          </p:nvSpPr>
          <p:spPr>
            <a:xfrm>
              <a:off x="7920038" y="4715589"/>
              <a:ext cx="261810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维持长者们健康或基本生存的物质保障，如</a:t>
              </a:r>
              <a:r>
                <a:rPr lang="zh-CN" sz="790" dirty="0">
                  <a:solidFill>
                    <a:srgbClr val="E8634C"/>
                  </a:solidFill>
                  <a:latin typeface="+mn-lt"/>
                  <a:ea typeface="+mn-ea"/>
                  <a:cs typeface="+mn-cs"/>
                </a:rPr>
                <a:t>医疗服务</a:t>
              </a:r>
              <a:r>
                <a:rPr lang="zh-CN" sz="790" dirty="0">
                  <a:solidFill>
                    <a:srgbClr val="543E3A"/>
                  </a:solidFill>
                  <a:latin typeface="+mn-lt"/>
                  <a:ea typeface="+mn-ea"/>
                  <a:cs typeface="+mn-cs"/>
                </a:rPr>
                <a:t>：就诊</a:t>
              </a:r>
              <a:br/>
              <a:r>
                <a:rPr lang="zh-CN" sz="790" dirty="0">
                  <a:solidFill>
                    <a:srgbClr val="543E3A"/>
                  </a:solidFill>
                  <a:latin typeface="+mn-lt"/>
                  <a:ea typeface="+mn-ea"/>
                  <a:cs typeface="+mn-cs"/>
                </a:rPr>
                <a:t>治疗、急诊救护、康复、失能/失智治疗等</a:t>
              </a:r>
            </a:p>
          </p:txBody>
        </p:sp>
        <p:sp>
          <p:nvSpPr>
            <p:cNvPr id="122" name="Rectangle 122"/>
            <p:cNvSpPr/>
            <p:nvPr/>
          </p:nvSpPr>
          <p:spPr>
            <a:xfrm>
              <a:off x="7810500" y="5353050"/>
              <a:ext cx="28575" cy="247650"/>
            </a:xfrm>
            <a:prstGeom prst="rect">
              <a:avLst/>
            </a:prstGeom>
            <a:solidFill>
              <a:srgbClr val="F0BBB0"/>
            </a:solidFill>
            <a:ln>
              <a:noFill/>
            </a:ln>
          </p:spPr>
        </p:sp>
        <p:sp>
          <p:nvSpPr>
            <p:cNvPr id="123" name="TextBox 123"/>
            <p:cNvSpPr txBox="1"/>
            <p:nvPr/>
          </p:nvSpPr>
          <p:spPr>
            <a:xfrm>
              <a:off x="7920038" y="5363289"/>
              <a:ext cx="251777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满足基本的</a:t>
              </a:r>
              <a:r>
                <a:rPr lang="zh-CN" sz="790" dirty="0">
                  <a:solidFill>
                    <a:srgbClr val="E8634C"/>
                  </a:solidFill>
                  <a:latin typeface="+mn-lt"/>
                  <a:ea typeface="+mn-ea"/>
                  <a:cs typeface="+mn-cs"/>
                </a:rPr>
                <a:t>生理和心理需要</a:t>
              </a:r>
              <a:r>
                <a:rPr lang="zh-CN" sz="790" dirty="0">
                  <a:solidFill>
                    <a:srgbClr val="543E3A"/>
                  </a:solidFill>
                  <a:latin typeface="+mn-lt"/>
                  <a:ea typeface="+mn-ea"/>
                  <a:cs typeface="+mn-cs"/>
                </a:rPr>
                <a:t>的一系列活动和资讯，如健康</a:t>
              </a:r>
              <a:br/>
              <a:r>
                <a:rPr lang="zh-CN" sz="790" dirty="0">
                  <a:solidFill>
                    <a:srgbClr val="543E3A"/>
                  </a:solidFill>
                  <a:latin typeface="+mn-lt"/>
                  <a:ea typeface="+mn-ea"/>
                  <a:cs typeface="+mn-cs"/>
                </a:rPr>
                <a:t>管理以及生活照料家政服务</a:t>
              </a:r>
            </a:p>
          </p:txBody>
        </p:sp>
      </p:gr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66</a:t>
              </a:r>
            </a:p>
          </p:txBody>
        </p:sp>
        <p:sp>
          <p:nvSpPr>
            <p:cNvPr id="4" name="TextBox 4"/>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宠物医疗市场概况​</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1" name="market-structure"/>
          <p:cNvGrpSpPr/>
          <p:nvPr/>
        </p:nvGrpSpPr>
        <p:grpSpPr>
          <a:xfrm>
            <a:off x="457200" y="819150"/>
            <a:ext cx="3857943" cy="609600"/>
            <a:chOff x="457200" y="819150"/>
            <a:chExt cx="3857943" cy="609600"/>
          </a:xfrm>
        </p:grpSpPr>
        <p:sp>
          <p:nvSpPr>
            <p:cNvPr id="7" name="Rectangle 7"/>
            <p:cNvSpPr/>
            <p:nvPr/>
          </p:nvSpPr>
          <p:spPr>
            <a:xfrm>
              <a:off x="457200" y="819150"/>
              <a:ext cx="609600" cy="609600"/>
            </a:xfrm>
            <a:prstGeom prst="roundRect">
              <a:avLst>
                <a:gd name="adj" fmla="val 12500"/>
              </a:avLst>
            </a:prstGeom>
            <a:solidFill>
              <a:srgbClr val="E8EBF8"/>
            </a:solidFill>
            <a:ln>
              <a:noFill/>
            </a:ln>
          </p:spPr>
        </p:sp>
        <p:sp>
          <p:nvSpPr>
            <p:cNvPr id="8" name="TextBox 8"/>
            <p:cNvSpPr txBox="1"/>
            <p:nvPr/>
          </p:nvSpPr>
          <p:spPr>
            <a:xfrm>
              <a:off x="625119" y="961549"/>
              <a:ext cx="273761" cy="190690"/>
            </a:xfrm>
            <a:prstGeom prst="rect">
              <a:avLst/>
            </a:prstGeom>
            <a:noFill/>
            <a:ln>
              <a:noFill/>
            </a:ln>
          </p:spPr>
          <p:txBody>
            <a:bodyPr wrap="none" lIns="0" tIns="0" rIns="0" bIns="0" anchor="t" anchorCtr="0">
              <a:spAutoFit/>
            </a:bodyPr>
            <a:lstStyle/>
            <a:p>
              <a:pPr algn="ctr"/>
              <a:r>
                <a:rPr lang="zh-CN" sz="980" b="1" dirty="0">
                  <a:solidFill>
                    <a:srgbClr val="C45F4A"/>
                  </a:solidFill>
                  <a:latin typeface="+mn-lt"/>
                  <a:ea typeface="+mn-ea"/>
                  <a:cs typeface="+mn-cs"/>
                </a:rPr>
                <a:t>市场</a:t>
              </a:r>
            </a:p>
          </p:txBody>
        </p:sp>
        <p:sp>
          <p:nvSpPr>
            <p:cNvPr id="9" name="TextBox 9"/>
            <p:cNvSpPr txBox="1"/>
            <p:nvPr/>
          </p:nvSpPr>
          <p:spPr>
            <a:xfrm>
              <a:off x="625119" y="1152049"/>
              <a:ext cx="273761" cy="190690"/>
            </a:xfrm>
            <a:prstGeom prst="rect">
              <a:avLst/>
            </a:prstGeom>
            <a:noFill/>
            <a:ln>
              <a:noFill/>
            </a:ln>
          </p:spPr>
          <p:txBody>
            <a:bodyPr wrap="none" lIns="0" tIns="0" rIns="0" bIns="0" anchor="t" anchorCtr="0">
              <a:spAutoFit/>
            </a:bodyPr>
            <a:lstStyle/>
            <a:p>
              <a:pPr algn="ctr"/>
              <a:r>
                <a:rPr lang="zh-CN" sz="980" b="1" dirty="0">
                  <a:solidFill>
                    <a:srgbClr val="C45F4A"/>
                  </a:solidFill>
                  <a:latin typeface="+mn-lt"/>
                  <a:ea typeface="+mn-ea"/>
                  <a:cs typeface="+mn-cs"/>
                </a:rPr>
                <a:t>结构</a:t>
              </a:r>
            </a:p>
          </p:txBody>
        </p:sp>
        <p:sp>
          <p:nvSpPr>
            <p:cNvPr id="10" name="TextBox 10"/>
            <p:cNvSpPr txBox="1"/>
            <p:nvPr/>
          </p:nvSpPr>
          <p:spPr>
            <a:xfrm>
              <a:off x="1195388" y="886539"/>
              <a:ext cx="311975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543E3A"/>
                  </a:solidFill>
                  <a:latin typeface="+mn-lt"/>
                  <a:ea typeface="+mn-ea"/>
                  <a:cs typeface="+mn-cs"/>
                </a:rPr>
                <a:t>宠物医疗行业属于科学研究和技术服务业行业下的兽医服务业，宠物医</a:t>
              </a:r>
              <a:br/>
              <a:r>
                <a:rPr lang="zh-CN" sz="790" dirty="0">
                  <a:solidFill>
                    <a:srgbClr val="543E3A"/>
                  </a:solidFill>
                  <a:latin typeface="+mn-lt"/>
                  <a:ea typeface="+mn-ea"/>
                  <a:cs typeface="+mn-cs"/>
                </a:rPr>
                <a:t>疗服务包括为宠物提供疾病诊疗和日常保健服务，是宠物行业中仅次于</a:t>
              </a:r>
              <a:br/>
              <a:r>
                <a:rPr lang="zh-CN" sz="790" dirty="0">
                  <a:solidFill>
                    <a:srgbClr val="543E3A"/>
                  </a:solidFill>
                  <a:latin typeface="+mn-lt"/>
                  <a:ea typeface="+mn-ea"/>
                  <a:cs typeface="+mn-cs"/>
                </a:rPr>
                <a:t>宠物食品的第二大细分行业。</a:t>
              </a:r>
            </a:p>
          </p:txBody>
        </p:sp>
      </p:grpSp>
      <p:grpSp>
        <p:nvGrpSpPr>
          <p:cNvPr id="47" name="eco-diagram"/>
          <p:cNvGrpSpPr/>
          <p:nvPr/>
        </p:nvGrpSpPr>
        <p:grpSpPr>
          <a:xfrm>
            <a:off x="428625" y="1857375"/>
            <a:ext cx="5238750" cy="4346495"/>
            <a:chOff x="428625" y="1857375"/>
            <a:chExt cx="5238750" cy="4346495"/>
          </a:xfrm>
        </p:grpSpPr>
        <p:sp>
          <p:nvSpPr>
            <p:cNvPr id="12" name="Freeform 12"/>
            <p:cNvSpPr/>
            <p:nvPr/>
          </p:nvSpPr>
          <p:spPr>
            <a:xfrm>
              <a:off x="1333500" y="2238375"/>
              <a:ext cx="3429000" cy="3190875"/>
            </a:xfrm>
            <a:custGeom>
              <a:avLst/>
              <a:gdLst/>
              <a:ahLst/>
              <a:cxnLst/>
              <a:rect l="l" t="t" r="r" b="b"/>
              <a:pathLst>
                <a:path w="3429000" h="3190875">
                  <a:moveTo>
                    <a:pt x="1714500" y="0"/>
                  </a:moveTo>
                  <a:lnTo>
                    <a:pt x="0" y="1524000"/>
                  </a:lnTo>
                  <a:lnTo>
                    <a:pt x="1714500" y="3190875"/>
                  </a:lnTo>
                  <a:lnTo>
                    <a:pt x="3429000" y="1524000"/>
                  </a:lnTo>
                  <a:close/>
                </a:path>
              </a:pathLst>
            </a:custGeom>
            <a:noFill/>
            <a:ln w="19050">
              <a:solidFill>
                <a:srgbClr val="ECC1B8"/>
              </a:solidFill>
              <a:custDash>
                <a:ds d="250000" sp="200000"/>
              </a:custDash>
            </a:ln>
          </p:spPr>
        </p:sp>
        <p:sp>
          <p:nvSpPr>
            <p:cNvPr id="13" name="Ellipse 13"/>
            <p:cNvSpPr/>
            <p:nvPr/>
          </p:nvSpPr>
          <p:spPr>
            <a:xfrm>
              <a:off x="2571750" y="3352800"/>
              <a:ext cx="952500" cy="952500"/>
            </a:xfrm>
            <a:prstGeom prst="ellipse">
              <a:avLst/>
            </a:prstGeom>
            <a:gradFill>
              <a:gsLst>
                <a:gs pos="0">
                  <a:srgbClr val="F07E6A"/>
                </a:gs>
                <a:gs pos="100000">
                  <a:srgbClr val="DD5740"/>
                </a:gs>
              </a:gsLst>
              <a:path path="circle">
                <a:fillToRect l="40000" t="35000" r="60000" b="65000"/>
              </a:path>
            </a:gradFill>
            <a:ln>
              <a:noFill/>
            </a:ln>
          </p:spPr>
        </p:sp>
        <p:sp>
          <p:nvSpPr>
            <p:cNvPr id="14" name="TextBox 14"/>
            <p:cNvSpPr txBox="1"/>
            <p:nvPr/>
          </p:nvSpPr>
          <p:spPr>
            <a:xfrm>
              <a:off x="2901315" y="367760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宠物</a:t>
              </a:r>
            </a:p>
          </p:txBody>
        </p:sp>
        <p:sp>
          <p:nvSpPr>
            <p:cNvPr id="15" name="TextBox 15"/>
            <p:cNvSpPr txBox="1"/>
            <p:nvPr/>
          </p:nvSpPr>
          <p:spPr>
            <a:xfrm>
              <a:off x="2901315" y="385857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医疗</a:t>
              </a:r>
            </a:p>
          </p:txBody>
        </p:sp>
        <p:sp>
          <p:nvSpPr>
            <p:cNvPr id="16" name="Rectangle 16"/>
            <p:cNvSpPr/>
            <p:nvPr/>
          </p:nvSpPr>
          <p:spPr>
            <a:xfrm>
              <a:off x="2571750" y="1857375"/>
              <a:ext cx="952500" cy="381000"/>
            </a:xfrm>
            <a:prstGeom prst="roundRect">
              <a:avLst>
                <a:gd name="adj" fmla="val 20000"/>
              </a:avLst>
            </a:prstGeom>
            <a:solidFill>
              <a:srgbClr val="C45F4A"/>
            </a:solidFill>
            <a:ln>
              <a:noFill/>
            </a:ln>
          </p:spPr>
        </p:sp>
        <p:sp>
          <p:nvSpPr>
            <p:cNvPr id="17" name="TextBox 17"/>
            <p:cNvSpPr txBox="1"/>
            <p:nvPr/>
          </p:nvSpPr>
          <p:spPr>
            <a:xfrm>
              <a:off x="2932849" y="193024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药品</a:t>
              </a:r>
            </a:p>
          </p:txBody>
        </p:sp>
        <p:sp>
          <p:nvSpPr>
            <p:cNvPr id="18" name="TextBox 18"/>
            <p:cNvSpPr txBox="1"/>
            <p:nvPr/>
          </p:nvSpPr>
          <p:spPr>
            <a:xfrm>
              <a:off x="2822461" y="207311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疫苗企业</a:t>
              </a:r>
            </a:p>
          </p:txBody>
        </p:sp>
        <p:sp>
          <p:nvSpPr>
            <p:cNvPr id="19" name="Rectangle 19"/>
            <p:cNvSpPr/>
            <p:nvPr/>
          </p:nvSpPr>
          <p:spPr>
            <a:xfrm>
              <a:off x="428625" y="3638550"/>
              <a:ext cx="952500" cy="381000"/>
            </a:xfrm>
            <a:prstGeom prst="roundRect">
              <a:avLst>
                <a:gd name="adj" fmla="val 20000"/>
              </a:avLst>
            </a:prstGeom>
            <a:solidFill>
              <a:srgbClr val="C45F4A"/>
            </a:solidFill>
            <a:ln>
              <a:noFill/>
            </a:ln>
          </p:spPr>
        </p:sp>
        <p:sp>
          <p:nvSpPr>
            <p:cNvPr id="20" name="TextBox 20"/>
            <p:cNvSpPr txBox="1"/>
            <p:nvPr/>
          </p:nvSpPr>
          <p:spPr>
            <a:xfrm>
              <a:off x="679336" y="371141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宠物医生</a:t>
              </a:r>
            </a:p>
          </p:txBody>
        </p:sp>
        <p:sp>
          <p:nvSpPr>
            <p:cNvPr id="21" name="TextBox 21"/>
            <p:cNvSpPr txBox="1"/>
            <p:nvPr/>
          </p:nvSpPr>
          <p:spPr>
            <a:xfrm>
              <a:off x="789724" y="38542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医助</a:t>
              </a:r>
            </a:p>
          </p:txBody>
        </p:sp>
        <p:sp>
          <p:nvSpPr>
            <p:cNvPr id="22" name="Rectangle 22"/>
            <p:cNvSpPr/>
            <p:nvPr/>
          </p:nvSpPr>
          <p:spPr>
            <a:xfrm>
              <a:off x="4714875" y="3638550"/>
              <a:ext cx="952500" cy="381000"/>
            </a:xfrm>
            <a:prstGeom prst="roundRect">
              <a:avLst>
                <a:gd name="adj" fmla="val 20000"/>
              </a:avLst>
            </a:prstGeom>
            <a:solidFill>
              <a:srgbClr val="C45F4A"/>
            </a:solidFill>
            <a:ln>
              <a:noFill/>
            </a:ln>
          </p:spPr>
        </p:sp>
        <p:sp>
          <p:nvSpPr>
            <p:cNvPr id="23" name="TextBox 23"/>
            <p:cNvSpPr txBox="1"/>
            <p:nvPr/>
          </p:nvSpPr>
          <p:spPr>
            <a:xfrm>
              <a:off x="5020780" y="3787616"/>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宠物主</a:t>
              </a:r>
            </a:p>
          </p:txBody>
        </p:sp>
        <p:sp>
          <p:nvSpPr>
            <p:cNvPr id="24" name="Rectangle 24"/>
            <p:cNvSpPr/>
            <p:nvPr/>
          </p:nvSpPr>
          <p:spPr>
            <a:xfrm>
              <a:off x="2571750" y="5429250"/>
              <a:ext cx="952500" cy="381000"/>
            </a:xfrm>
            <a:prstGeom prst="roundRect">
              <a:avLst>
                <a:gd name="adj" fmla="val 20000"/>
              </a:avLst>
            </a:prstGeom>
            <a:solidFill>
              <a:srgbClr val="C45F4A"/>
            </a:solidFill>
            <a:ln>
              <a:noFill/>
            </a:ln>
          </p:spPr>
        </p:sp>
        <p:sp>
          <p:nvSpPr>
            <p:cNvPr id="25" name="TextBox 25"/>
            <p:cNvSpPr txBox="1"/>
            <p:nvPr/>
          </p:nvSpPr>
          <p:spPr>
            <a:xfrm>
              <a:off x="2822461" y="550211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宠物医院</a:t>
              </a:r>
            </a:p>
          </p:txBody>
        </p:sp>
        <p:sp>
          <p:nvSpPr>
            <p:cNvPr id="26" name="TextBox 26"/>
            <p:cNvSpPr txBox="1"/>
            <p:nvPr/>
          </p:nvSpPr>
          <p:spPr>
            <a:xfrm>
              <a:off x="2932849" y="56449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诊所</a:t>
              </a:r>
            </a:p>
          </p:txBody>
        </p:sp>
        <p:sp>
          <p:nvSpPr>
            <p:cNvPr id="27" name="Line 27"/>
            <p:cNvSpPr/>
            <p:nvPr/>
          </p:nvSpPr>
          <p:spPr>
            <a:xfrm>
              <a:off x="3048000" y="2257425"/>
              <a:ext cx="1" cy="1038225"/>
            </a:xfrm>
            <a:prstGeom prst="line">
              <a:avLst/>
            </a:prstGeom>
            <a:noFill/>
            <a:ln w="19050">
              <a:solidFill>
                <a:srgbClr val="E08C7B"/>
              </a:solidFill>
              <a:tailEnd type="triangle" w="lg" len="lg"/>
            </a:ln>
          </p:spPr>
        </p:sp>
        <p:sp>
          <p:nvSpPr>
            <p:cNvPr id="28" name="TextBox 28"/>
            <p:cNvSpPr txBox="1"/>
            <p:nvPr/>
          </p:nvSpPr>
          <p:spPr>
            <a:xfrm>
              <a:off x="3138488" y="2629614"/>
              <a:ext cx="222225" cy="154781"/>
            </a:xfrm>
            <a:prstGeom prst="rect">
              <a:avLst/>
            </a:prstGeom>
            <a:noFill/>
            <a:ln>
              <a:noFill/>
            </a:ln>
          </p:spPr>
          <p:txBody>
            <a:bodyPr wrap="none" lIns="0" tIns="0" rIns="0" bIns="0" anchor="t" anchorCtr="0">
              <a:spAutoFit/>
            </a:bodyPr>
            <a:lstStyle/>
            <a:p>
              <a:pPr algn="l"/>
              <a:r>
                <a:rPr lang="zh-CN" sz="790" dirty="0">
                  <a:solidFill>
                    <a:srgbClr val="543E3A"/>
                  </a:solidFill>
                  <a:latin typeface="+mn-lt"/>
                  <a:ea typeface="+mn-ea"/>
                  <a:cs typeface="+mn-cs"/>
                </a:rPr>
                <a:t>疫苗</a:t>
              </a:r>
            </a:p>
          </p:txBody>
        </p:sp>
        <p:sp>
          <p:nvSpPr>
            <p:cNvPr id="29" name="TextBox 29"/>
            <p:cNvSpPr txBox="1"/>
            <p:nvPr/>
          </p:nvSpPr>
          <p:spPr>
            <a:xfrm>
              <a:off x="3138488" y="2801064"/>
              <a:ext cx="222225" cy="154781"/>
            </a:xfrm>
            <a:prstGeom prst="rect">
              <a:avLst/>
            </a:prstGeom>
            <a:noFill/>
            <a:ln>
              <a:noFill/>
            </a:ln>
          </p:spPr>
          <p:txBody>
            <a:bodyPr wrap="none" lIns="0" tIns="0" rIns="0" bIns="0" anchor="t" anchorCtr="0">
              <a:spAutoFit/>
            </a:bodyPr>
            <a:lstStyle/>
            <a:p>
              <a:pPr algn="l"/>
              <a:r>
                <a:rPr lang="zh-CN" sz="790" dirty="0">
                  <a:solidFill>
                    <a:srgbClr val="543E3A"/>
                  </a:solidFill>
                  <a:latin typeface="+mn-lt"/>
                  <a:ea typeface="+mn-ea"/>
                  <a:cs typeface="+mn-cs"/>
                </a:rPr>
                <a:t>药品</a:t>
              </a:r>
            </a:p>
          </p:txBody>
        </p:sp>
        <p:sp>
          <p:nvSpPr>
            <p:cNvPr id="30" name="Line 30"/>
            <p:cNvSpPr/>
            <p:nvPr/>
          </p:nvSpPr>
          <p:spPr>
            <a:xfrm>
              <a:off x="1400175" y="3829050"/>
              <a:ext cx="1114425" cy="1"/>
            </a:xfrm>
            <a:prstGeom prst="line">
              <a:avLst/>
            </a:prstGeom>
            <a:noFill/>
            <a:ln w="19050">
              <a:solidFill>
                <a:srgbClr val="E08C7B"/>
              </a:solidFill>
              <a:tailEnd type="triangle" w="lg" len="lg"/>
            </a:ln>
          </p:spPr>
        </p:sp>
        <p:sp>
          <p:nvSpPr>
            <p:cNvPr id="31" name="TextBox 31"/>
            <p:cNvSpPr txBox="1"/>
            <p:nvPr/>
          </p:nvSpPr>
          <p:spPr>
            <a:xfrm>
              <a:off x="1852612" y="3677364"/>
              <a:ext cx="222225" cy="154781"/>
            </a:xfrm>
            <a:prstGeom prst="rect">
              <a:avLst/>
            </a:prstGeom>
            <a:noFill/>
            <a:ln>
              <a:noFill/>
            </a:ln>
          </p:spPr>
          <p:txBody>
            <a:bodyPr wrap="none" lIns="0" tIns="0" rIns="0" bIns="0" anchor="t" anchorCtr="0">
              <a:spAutoFit/>
            </a:bodyPr>
            <a:lstStyle/>
            <a:p>
              <a:pPr algn="l"/>
              <a:r>
                <a:rPr lang="zh-CN" sz="790" dirty="0">
                  <a:solidFill>
                    <a:srgbClr val="543E3A"/>
                  </a:solidFill>
                  <a:latin typeface="+mn-lt"/>
                  <a:ea typeface="+mn-ea"/>
                  <a:cs typeface="+mn-cs"/>
                </a:rPr>
                <a:t>服务</a:t>
              </a:r>
            </a:p>
          </p:txBody>
        </p:sp>
        <p:sp>
          <p:nvSpPr>
            <p:cNvPr id="32" name="Line 32"/>
            <p:cNvSpPr/>
            <p:nvPr/>
          </p:nvSpPr>
          <p:spPr>
            <a:xfrm flipH="1">
              <a:off x="3581400" y="3829050"/>
              <a:ext cx="1114425" cy="1"/>
            </a:xfrm>
            <a:prstGeom prst="line">
              <a:avLst/>
            </a:prstGeom>
            <a:noFill/>
            <a:ln w="19050">
              <a:solidFill>
                <a:srgbClr val="E08C7B"/>
              </a:solidFill>
              <a:tailEnd type="triangle" w="lg" len="lg"/>
            </a:ln>
          </p:spPr>
        </p:sp>
        <p:sp>
          <p:nvSpPr>
            <p:cNvPr id="33" name="TextBox 33"/>
            <p:cNvSpPr txBox="1"/>
            <p:nvPr/>
          </p:nvSpPr>
          <p:spPr>
            <a:xfrm>
              <a:off x="3948112" y="3610689"/>
              <a:ext cx="222225" cy="154781"/>
            </a:xfrm>
            <a:prstGeom prst="rect">
              <a:avLst/>
            </a:prstGeom>
            <a:noFill/>
            <a:ln>
              <a:noFill/>
            </a:ln>
          </p:spPr>
          <p:txBody>
            <a:bodyPr wrap="none" lIns="0" tIns="0" rIns="0" bIns="0" anchor="t" anchorCtr="0">
              <a:spAutoFit/>
            </a:bodyPr>
            <a:lstStyle/>
            <a:p>
              <a:pPr algn="l"/>
              <a:r>
                <a:rPr lang="zh-CN" sz="790" dirty="0">
                  <a:solidFill>
                    <a:srgbClr val="543E3A"/>
                  </a:solidFill>
                  <a:latin typeface="+mn-lt"/>
                  <a:ea typeface="+mn-ea"/>
                  <a:cs typeface="+mn-cs"/>
                </a:rPr>
                <a:t>就医</a:t>
              </a:r>
            </a:p>
          </p:txBody>
        </p:sp>
        <p:sp>
          <p:nvSpPr>
            <p:cNvPr id="34" name="TextBox 34"/>
            <p:cNvSpPr txBox="1"/>
            <p:nvPr/>
          </p:nvSpPr>
          <p:spPr>
            <a:xfrm>
              <a:off x="3948112" y="3782139"/>
              <a:ext cx="222225" cy="154781"/>
            </a:xfrm>
            <a:prstGeom prst="rect">
              <a:avLst/>
            </a:prstGeom>
            <a:noFill/>
            <a:ln>
              <a:noFill/>
            </a:ln>
          </p:spPr>
          <p:txBody>
            <a:bodyPr wrap="none" lIns="0" tIns="0" rIns="0" bIns="0" anchor="t" anchorCtr="0">
              <a:spAutoFit/>
            </a:bodyPr>
            <a:lstStyle/>
            <a:p>
              <a:pPr algn="l"/>
              <a:r>
                <a:rPr lang="zh-CN" sz="790" dirty="0">
                  <a:solidFill>
                    <a:srgbClr val="543E3A"/>
                  </a:solidFill>
                  <a:latin typeface="+mn-lt"/>
                  <a:ea typeface="+mn-ea"/>
                  <a:cs typeface="+mn-cs"/>
                </a:rPr>
                <a:t>付费</a:t>
              </a:r>
            </a:p>
          </p:txBody>
        </p:sp>
        <p:sp>
          <p:nvSpPr>
            <p:cNvPr id="35" name="Line 35"/>
            <p:cNvSpPr/>
            <p:nvPr/>
          </p:nvSpPr>
          <p:spPr>
            <a:xfrm flipV="1">
              <a:off x="3048000" y="4362450"/>
              <a:ext cx="1" cy="1047750"/>
            </a:xfrm>
            <a:prstGeom prst="line">
              <a:avLst/>
            </a:prstGeom>
            <a:noFill/>
            <a:ln w="19050">
              <a:solidFill>
                <a:srgbClr val="E08C7B"/>
              </a:solidFill>
              <a:tailEnd type="triangle" w="lg" len="lg"/>
            </a:ln>
          </p:spPr>
        </p:sp>
        <p:sp>
          <p:nvSpPr>
            <p:cNvPr id="36" name="TextBox 36"/>
            <p:cNvSpPr txBox="1"/>
            <p:nvPr/>
          </p:nvSpPr>
          <p:spPr>
            <a:xfrm>
              <a:off x="2681288" y="4725114"/>
              <a:ext cx="222225" cy="154781"/>
            </a:xfrm>
            <a:prstGeom prst="rect">
              <a:avLst/>
            </a:prstGeom>
            <a:noFill/>
            <a:ln>
              <a:noFill/>
            </a:ln>
          </p:spPr>
          <p:txBody>
            <a:bodyPr wrap="none" lIns="0" tIns="0" rIns="0" bIns="0" anchor="t" anchorCtr="0">
              <a:spAutoFit/>
            </a:bodyPr>
            <a:lstStyle/>
            <a:p>
              <a:pPr algn="l"/>
              <a:r>
                <a:rPr lang="zh-CN" sz="790" dirty="0">
                  <a:solidFill>
                    <a:srgbClr val="543E3A"/>
                  </a:solidFill>
                  <a:latin typeface="+mn-lt"/>
                  <a:ea typeface="+mn-ea"/>
                  <a:cs typeface="+mn-cs"/>
                </a:rPr>
                <a:t>场所</a:t>
              </a:r>
            </a:p>
          </p:txBody>
        </p:sp>
        <p:sp>
          <p:nvSpPr>
            <p:cNvPr id="37" name="TextBox 37"/>
            <p:cNvSpPr txBox="1"/>
            <p:nvPr/>
          </p:nvSpPr>
          <p:spPr>
            <a:xfrm>
              <a:off x="2681288" y="4896564"/>
              <a:ext cx="222225" cy="154781"/>
            </a:xfrm>
            <a:prstGeom prst="rect">
              <a:avLst/>
            </a:prstGeom>
            <a:noFill/>
            <a:ln>
              <a:noFill/>
            </a:ln>
          </p:spPr>
          <p:txBody>
            <a:bodyPr wrap="none" lIns="0" tIns="0" rIns="0" bIns="0" anchor="t" anchorCtr="0">
              <a:spAutoFit/>
            </a:bodyPr>
            <a:lstStyle/>
            <a:p>
              <a:pPr algn="l"/>
              <a:r>
                <a:rPr lang="zh-CN" sz="790" dirty="0">
                  <a:solidFill>
                    <a:srgbClr val="543E3A"/>
                  </a:solidFill>
                  <a:latin typeface="+mn-lt"/>
                  <a:ea typeface="+mn-ea"/>
                  <a:cs typeface="+mn-cs"/>
                </a:rPr>
                <a:t>设备</a:t>
              </a:r>
            </a:p>
          </p:txBody>
        </p:sp>
        <p:grpSp>
          <p:nvGrpSpPr>
            <p:cNvPr id="39" name="Group 39"/>
            <p:cNvGrpSpPr/>
            <p:nvPr/>
          </p:nvGrpSpPr>
          <p:grpSpPr>
            <a:xfrm rot="-3120000">
              <a:off x="1161587" y="2620947"/>
              <a:ext cx="615315" cy="176212"/>
              <a:chOff x="1168718" y="2617470"/>
              <a:chExt cx="615315" cy="176212"/>
            </a:xfrm>
          </p:grpSpPr>
          <p:sp>
            <p:nvSpPr>
              <p:cNvPr id="38" name="TextBox 38"/>
              <p:cNvSpPr txBox="1"/>
              <p:nvPr/>
            </p:nvSpPr>
            <p:spPr>
              <a:xfrm>
                <a:off x="1168718" y="2617470"/>
                <a:ext cx="615315"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人员流动大</a:t>
                </a:r>
              </a:p>
            </p:txBody>
          </p:sp>
        </p:grpSp>
        <p:grpSp>
          <p:nvGrpSpPr>
            <p:cNvPr id="41" name="Group 41"/>
            <p:cNvGrpSpPr/>
            <p:nvPr/>
          </p:nvGrpSpPr>
          <p:grpSpPr>
            <a:xfrm rot="3120000">
              <a:off x="4398727" y="2620947"/>
              <a:ext cx="494157" cy="176212"/>
              <a:chOff x="4391596" y="2617470"/>
              <a:chExt cx="494157" cy="176212"/>
            </a:xfrm>
          </p:grpSpPr>
          <p:sp>
            <p:nvSpPr>
              <p:cNvPr id="40" name="TextBox 40"/>
              <p:cNvSpPr txBox="1"/>
              <p:nvPr/>
            </p:nvSpPr>
            <p:spPr>
              <a:xfrm>
                <a:off x="4391596" y="2617470"/>
                <a:ext cx="494157"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渗透率低</a:t>
                </a:r>
              </a:p>
            </p:txBody>
          </p:sp>
        </p:grpSp>
        <p:grpSp>
          <p:nvGrpSpPr>
            <p:cNvPr id="43" name="Group 43"/>
            <p:cNvGrpSpPr/>
            <p:nvPr/>
          </p:nvGrpSpPr>
          <p:grpSpPr>
            <a:xfrm rot="3120000">
              <a:off x="1236427" y="4859322"/>
              <a:ext cx="494157" cy="176212"/>
              <a:chOff x="1229296" y="4855845"/>
              <a:chExt cx="494157" cy="176212"/>
            </a:xfrm>
          </p:grpSpPr>
          <p:sp>
            <p:nvSpPr>
              <p:cNvPr id="42" name="TextBox 42"/>
              <p:cNvSpPr txBox="1"/>
              <p:nvPr/>
            </p:nvSpPr>
            <p:spPr>
              <a:xfrm>
                <a:off x="1229296" y="4855845"/>
                <a:ext cx="494157"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集中度低</a:t>
                </a:r>
              </a:p>
            </p:txBody>
          </p:sp>
        </p:grpSp>
        <p:grpSp>
          <p:nvGrpSpPr>
            <p:cNvPr id="45" name="Group 45"/>
            <p:cNvGrpSpPr/>
            <p:nvPr/>
          </p:nvGrpSpPr>
          <p:grpSpPr>
            <a:xfrm rot="-3120000">
              <a:off x="4384465" y="4859323"/>
              <a:ext cx="494157" cy="176212"/>
              <a:chOff x="4391596" y="4855845"/>
              <a:chExt cx="494157" cy="176212"/>
            </a:xfrm>
          </p:grpSpPr>
          <p:sp>
            <p:nvSpPr>
              <p:cNvPr id="44" name="TextBox 44"/>
              <p:cNvSpPr txBox="1"/>
              <p:nvPr/>
            </p:nvSpPr>
            <p:spPr>
              <a:xfrm>
                <a:off x="4391596" y="4855845"/>
                <a:ext cx="494157" cy="176212"/>
              </a:xfrm>
              <a:prstGeom prst="rect">
                <a:avLst/>
              </a:prstGeom>
              <a:noFill/>
              <a:ln>
                <a:noFill/>
              </a:ln>
            </p:spPr>
            <p:txBody>
              <a:bodyPr wrap="none" lIns="0" tIns="0" rIns="0" bIns="0" anchor="t" anchorCtr="0">
                <a:spAutoFit/>
              </a:bodyPr>
              <a:lstStyle/>
              <a:p>
                <a:pPr algn="ctr"/>
                <a:r>
                  <a:rPr lang="zh-CN" sz="900" b="1" dirty="0">
                    <a:solidFill>
                      <a:srgbClr val="E8634C"/>
                    </a:solidFill>
                    <a:latin typeface="+mn-lt"/>
                    <a:ea typeface="+mn-ea"/>
                    <a:cs typeface="+mn-cs"/>
                  </a:rPr>
                  <a:t>规范性低</a:t>
                </a:r>
              </a:p>
            </p:txBody>
          </p:sp>
        </p:grpSp>
        <p:sp>
          <p:nvSpPr>
            <p:cNvPr id="46" name="TextBox 46"/>
            <p:cNvSpPr txBox="1"/>
            <p:nvPr/>
          </p:nvSpPr>
          <p:spPr>
            <a:xfrm>
              <a:off x="452438" y="6049089"/>
              <a:ext cx="1051954" cy="154781"/>
            </a:xfrm>
            <a:prstGeom prst="rect">
              <a:avLst/>
            </a:prstGeom>
            <a:noFill/>
            <a:ln>
              <a:noFill/>
            </a:ln>
          </p:spPr>
          <p:txBody>
            <a:bodyPr wrap="none" lIns="0" tIns="0" rIns="0" bIns="0" anchor="t" anchorCtr="0">
              <a:spAutoFit/>
            </a:bodyPr>
            <a:lstStyle/>
            <a:p>
              <a:pPr algn="l" marL="85280" indent="-85280">
                <a:buClr>
                  <a:srgbClr val="88706B"/>
                </a:buClr>
                <a:buSzTx/>
                <a:buFontTx/>
                <a:buChar char="•"/>
              </a:pPr>
              <a:r>
                <a:rPr lang="zh-CN" sz="790" dirty="0">
                  <a:solidFill>
                    <a:srgbClr val="88706B"/>
                  </a:solidFill>
                  <a:latin typeface="+mn-lt"/>
                  <a:ea typeface="+mn-ea"/>
                  <a:cs typeface="+mn-cs"/>
                </a:rPr>
                <a:t>宠物医疗行业结构图</a:t>
              </a:r>
            </a:p>
          </p:txBody>
        </p:sp>
      </p:grpSp>
      <p:grpSp>
        <p:nvGrpSpPr>
          <p:cNvPr id="63" name="total-kpi"/>
          <p:cNvGrpSpPr/>
          <p:nvPr/>
        </p:nvGrpSpPr>
        <p:grpSpPr>
          <a:xfrm>
            <a:off x="6006846" y="809625"/>
            <a:ext cx="5785104" cy="1447800"/>
            <a:chOff x="6006846" y="809625"/>
            <a:chExt cx="5785104" cy="1447800"/>
          </a:xfrm>
        </p:grpSpPr>
        <p:sp>
          <p:nvSpPr>
            <p:cNvPr id="48" name="TextBox 48"/>
            <p:cNvSpPr txBox="1"/>
            <p:nvPr/>
          </p:nvSpPr>
          <p:spPr>
            <a:xfrm>
              <a:off x="6006846" y="1134428"/>
              <a:ext cx="1360413" cy="498729"/>
            </a:xfrm>
            <a:prstGeom prst="rect">
              <a:avLst/>
            </a:prstGeom>
            <a:noFill/>
            <a:ln>
              <a:noFill/>
            </a:ln>
          </p:spPr>
          <p:txBody>
            <a:bodyPr wrap="none" lIns="0" tIns="0" rIns="0" bIns="0" anchor="t" anchorCtr="0">
              <a:spAutoFit/>
            </a:bodyPr>
            <a:lstStyle/>
            <a:p>
              <a:pPr algn="l"/>
              <a:r>
                <a:rPr lang="zh-CN" sz="2550" b="1" dirty="0">
                  <a:solidFill>
                    <a:srgbClr val="E8634C"/>
                  </a:solidFill>
                  <a:latin typeface="+mn-lt"/>
                  <a:ea typeface="+mn-ea"/>
                  <a:cs typeface="+mn-cs"/>
                </a:rPr>
                <a:t>5,085万</a:t>
              </a:r>
            </a:p>
          </p:txBody>
        </p:sp>
        <p:sp>
          <p:nvSpPr>
            <p:cNvPr id="49" name="TextBox 49"/>
            <p:cNvSpPr txBox="1"/>
            <p:nvPr/>
          </p:nvSpPr>
          <p:spPr>
            <a:xfrm>
              <a:off x="7519416" y="1277302"/>
              <a:ext cx="1141476" cy="205359"/>
            </a:xfrm>
            <a:prstGeom prst="rect">
              <a:avLst/>
            </a:prstGeom>
            <a:noFill/>
            <a:ln>
              <a:noFill/>
            </a:ln>
          </p:spPr>
          <p:txBody>
            <a:bodyPr wrap="none" lIns="0" tIns="0" rIns="0" bIns="0" anchor="t" anchorCtr="0">
              <a:spAutoFit/>
            </a:bodyPr>
            <a:lstStyle/>
            <a:p>
              <a:pPr algn="l"/>
              <a:r>
                <a:rPr lang="zh-CN" sz="1050" dirty="0">
                  <a:solidFill>
                    <a:srgbClr val="543E3A"/>
                  </a:solidFill>
                  <a:latin typeface="+mn-lt"/>
                  <a:ea typeface="+mn-ea"/>
                  <a:cs typeface="+mn-cs"/>
                </a:rPr>
                <a:t>宠物医疗消费总额</a:t>
              </a:r>
            </a:p>
          </p:txBody>
        </p:sp>
        <p:sp>
          <p:nvSpPr>
            <p:cNvPr id="50" name="Rectangle 50"/>
            <p:cNvSpPr/>
            <p:nvPr/>
          </p:nvSpPr>
          <p:spPr>
            <a:xfrm>
              <a:off x="8382000" y="809625"/>
              <a:ext cx="3409950" cy="1447800"/>
            </a:xfrm>
            <a:prstGeom prst="roundRect">
              <a:avLst>
                <a:gd name="adj" fmla="val 7895"/>
              </a:avLst>
            </a:prstGeom>
            <a:solidFill>
              <a:srgbClr val="FFFFFF"/>
            </a:solidFill>
            <a:ln w="14288">
              <a:solidFill>
                <a:srgbClr val="D8DEF2"/>
              </a:solidFill>
            </a:ln>
          </p:spPr>
        </p:sp>
        <p:sp>
          <p:nvSpPr>
            <p:cNvPr id="51" name="Ellipse 51"/>
            <p:cNvSpPr/>
            <p:nvPr/>
          </p:nvSpPr>
          <p:spPr>
            <a:xfrm>
              <a:off x="9258300" y="1114425"/>
              <a:ext cx="247650" cy="247650"/>
            </a:xfrm>
            <a:prstGeom prst="ellipse">
              <a:avLst/>
            </a:prstGeom>
            <a:solidFill>
              <a:srgbClr val="543E3A"/>
            </a:solidFill>
            <a:ln>
              <a:noFill/>
            </a:ln>
          </p:spPr>
        </p:sp>
        <p:sp>
          <p:nvSpPr>
            <p:cNvPr id="52" name="Freeform 52"/>
            <p:cNvSpPr/>
            <p:nvPr/>
          </p:nvSpPr>
          <p:spPr>
            <a:xfrm>
              <a:off x="9286875" y="1362075"/>
              <a:ext cx="219075" cy="447675"/>
            </a:xfrm>
            <a:custGeom>
              <a:avLst/>
              <a:gdLst/>
              <a:ahLst/>
              <a:cxnLst/>
              <a:rect l="l" t="t" r="r" b="b"/>
              <a:pathLst>
                <a:path w="219075" h="447675">
                  <a:moveTo>
                    <a:pt x="95250" y="0"/>
                  </a:moveTo>
                  <a:lnTo>
                    <a:pt x="95250" y="238125"/>
                  </a:lnTo>
                  <a:lnTo>
                    <a:pt x="0" y="447675"/>
                  </a:lnTo>
                  <a:moveTo>
                    <a:pt x="95250" y="238125"/>
                  </a:moveTo>
                  <a:lnTo>
                    <a:pt x="219075" y="428625"/>
                  </a:lnTo>
                </a:path>
              </a:pathLst>
            </a:custGeom>
            <a:noFill/>
            <a:ln w="57150" cap="rnd">
              <a:solidFill>
                <a:srgbClr val="543E3A"/>
              </a:solidFill>
            </a:ln>
          </p:spPr>
        </p:sp>
        <p:sp>
          <p:nvSpPr>
            <p:cNvPr id="53" name="Line 53"/>
            <p:cNvSpPr/>
            <p:nvPr/>
          </p:nvSpPr>
          <p:spPr>
            <a:xfrm>
              <a:off x="9505950" y="1638300"/>
              <a:ext cx="352425" cy="95250"/>
            </a:xfrm>
            <a:custGeom>
              <a:avLst/>
              <a:gdLst/>
              <a:ahLst/>
              <a:cxnLst/>
              <a:rect l="l" t="t" r="r" b="b"/>
              <a:pathLst>
                <a:path w="352425" h="95250">
                  <a:moveTo>
                    <a:pt x="0" y="95250"/>
                  </a:moveTo>
                  <a:lnTo>
                    <a:pt x="352425" y="0"/>
                  </a:lnTo>
                </a:path>
              </a:pathLst>
            </a:custGeom>
            <a:noFill/>
            <a:ln w="19050">
              <a:solidFill>
                <a:srgbClr val="E49A8B"/>
              </a:solidFill>
            </a:ln>
          </p:spPr>
        </p:sp>
        <p:sp>
          <p:nvSpPr>
            <p:cNvPr id="54" name="Ellipse 54"/>
            <p:cNvSpPr/>
            <p:nvPr/>
          </p:nvSpPr>
          <p:spPr>
            <a:xfrm>
              <a:off x="9839325" y="1514475"/>
              <a:ext cx="171450" cy="171450"/>
            </a:xfrm>
            <a:prstGeom prst="ellipse">
              <a:avLst/>
            </a:prstGeom>
            <a:solidFill>
              <a:srgbClr val="C45F4A"/>
            </a:solidFill>
            <a:ln>
              <a:noFill/>
            </a:ln>
          </p:spPr>
        </p:sp>
        <p:sp>
          <p:nvSpPr>
            <p:cNvPr id="55" name="Rectangle 55"/>
            <p:cNvSpPr/>
            <p:nvPr/>
          </p:nvSpPr>
          <p:spPr>
            <a:xfrm>
              <a:off x="9829800" y="1657350"/>
              <a:ext cx="209550" cy="123825"/>
            </a:xfrm>
            <a:prstGeom prst="roundRect">
              <a:avLst>
                <a:gd name="adj" fmla="val 46154"/>
              </a:avLst>
            </a:prstGeom>
            <a:solidFill>
              <a:srgbClr val="C45F4A"/>
            </a:solidFill>
            <a:ln>
              <a:noFill/>
            </a:ln>
          </p:spPr>
        </p:sp>
        <p:sp>
          <p:nvSpPr>
            <p:cNvPr id="56" name="Line 56"/>
            <p:cNvSpPr/>
            <p:nvPr/>
          </p:nvSpPr>
          <p:spPr>
            <a:xfrm>
              <a:off x="9848850" y="1781175"/>
              <a:ext cx="9525" cy="57150"/>
            </a:xfrm>
            <a:custGeom>
              <a:avLst/>
              <a:gdLst/>
              <a:ahLst/>
              <a:cxnLst/>
              <a:rect l="l" t="t" r="r" b="b"/>
              <a:pathLst>
                <a:path w="9525" h="57150">
                  <a:moveTo>
                    <a:pt x="0" y="0"/>
                  </a:moveTo>
                  <a:lnTo>
                    <a:pt x="0" y="57150"/>
                  </a:lnTo>
                </a:path>
              </a:pathLst>
            </a:custGeom>
            <a:noFill/>
            <a:ln w="28575">
              <a:solidFill>
                <a:srgbClr val="C45F4A"/>
              </a:solidFill>
            </a:ln>
          </p:spPr>
        </p:sp>
        <p:sp>
          <p:nvSpPr>
            <p:cNvPr id="57" name="Line 57"/>
            <p:cNvSpPr/>
            <p:nvPr/>
          </p:nvSpPr>
          <p:spPr>
            <a:xfrm>
              <a:off x="10020300" y="1781175"/>
              <a:ext cx="9525" cy="57150"/>
            </a:xfrm>
            <a:custGeom>
              <a:avLst/>
              <a:gdLst/>
              <a:ahLst/>
              <a:cxnLst/>
              <a:rect l="l" t="t" r="r" b="b"/>
              <a:pathLst>
                <a:path w="9525" h="57150">
                  <a:moveTo>
                    <a:pt x="0" y="0"/>
                  </a:moveTo>
                  <a:lnTo>
                    <a:pt x="0" y="57150"/>
                  </a:lnTo>
                </a:path>
              </a:pathLst>
            </a:custGeom>
            <a:noFill/>
            <a:ln w="28575">
              <a:solidFill>
                <a:srgbClr val="C45F4A"/>
              </a:solidFill>
            </a:ln>
          </p:spPr>
        </p:sp>
        <p:sp>
          <p:nvSpPr>
            <p:cNvPr id="58" name="Ellipse 58"/>
            <p:cNvSpPr/>
            <p:nvPr/>
          </p:nvSpPr>
          <p:spPr>
            <a:xfrm>
              <a:off x="10420350" y="895350"/>
              <a:ext cx="495300" cy="495300"/>
            </a:xfrm>
            <a:prstGeom prst="ellipse">
              <a:avLst/>
            </a:prstGeom>
            <a:solidFill>
              <a:srgbClr val="F0BBB0"/>
            </a:solidFill>
            <a:ln>
              <a:noFill/>
            </a:ln>
          </p:spPr>
        </p:sp>
        <p:sp>
          <p:nvSpPr>
            <p:cNvPr id="59" name="Rectangle 59"/>
            <p:cNvSpPr/>
            <p:nvPr/>
          </p:nvSpPr>
          <p:spPr>
            <a:xfrm>
              <a:off x="10629900" y="1333500"/>
              <a:ext cx="76200" cy="476250"/>
            </a:xfrm>
            <a:prstGeom prst="rect">
              <a:avLst/>
            </a:prstGeom>
            <a:solidFill>
              <a:srgbClr val="E49A8B"/>
            </a:solidFill>
            <a:ln>
              <a:noFill/>
            </a:ln>
          </p:spPr>
        </p:sp>
        <p:sp>
          <p:nvSpPr>
            <p:cNvPr id="60" name="Freeform 60"/>
            <p:cNvSpPr/>
            <p:nvPr/>
          </p:nvSpPr>
          <p:spPr>
            <a:xfrm>
              <a:off x="8763000" y="1555750"/>
              <a:ext cx="571500" cy="254000"/>
            </a:xfrm>
            <a:custGeom>
              <a:avLst/>
              <a:gdLst/>
              <a:ahLst/>
              <a:cxnLst/>
              <a:rect l="l" t="t" r="r" b="b"/>
              <a:pathLst>
                <a:path w="571500" h="254000">
                  <a:moveTo>
                    <a:pt x="0" y="254000"/>
                  </a:moveTo>
                  <a:cubicBezTo>
                    <a:pt x="190500" y="0"/>
                    <a:pt x="381000" y="0"/>
                    <a:pt x="571500" y="254000"/>
                  </a:cubicBezTo>
                </a:path>
              </a:pathLst>
            </a:custGeom>
            <a:noFill/>
            <a:ln w="28575">
              <a:solidFill>
                <a:srgbClr val="D8DEF2"/>
              </a:solidFill>
            </a:ln>
          </p:spPr>
        </p:sp>
        <p:sp>
          <p:nvSpPr>
            <p:cNvPr id="61" name="Line 61"/>
            <p:cNvSpPr/>
            <p:nvPr/>
          </p:nvSpPr>
          <p:spPr>
            <a:xfrm>
              <a:off x="8591550" y="1847850"/>
              <a:ext cx="2990850" cy="9525"/>
            </a:xfrm>
            <a:custGeom>
              <a:avLst/>
              <a:gdLst/>
              <a:ahLst/>
              <a:cxnLst/>
              <a:rect l="l" t="t" r="r" b="b"/>
              <a:pathLst>
                <a:path w="2990850" h="9525">
                  <a:moveTo>
                    <a:pt x="0" y="0"/>
                  </a:moveTo>
                  <a:lnTo>
                    <a:pt x="2990850" y="0"/>
                  </a:lnTo>
                </a:path>
              </a:pathLst>
            </a:custGeom>
            <a:noFill/>
            <a:ln w="28575">
              <a:solidFill>
                <a:srgbClr val="EEF1FB"/>
              </a:solidFill>
            </a:ln>
          </p:spPr>
        </p:sp>
        <p:sp>
          <p:nvSpPr>
            <p:cNvPr id="62" name="TextBox 62"/>
            <p:cNvSpPr txBox="1"/>
            <p:nvPr/>
          </p:nvSpPr>
          <p:spPr>
            <a:xfrm>
              <a:off x="9457407" y="2029539"/>
              <a:ext cx="1259135"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主人年均宠物消费1,446元</a:t>
              </a:r>
            </a:p>
          </p:txBody>
        </p:sp>
      </p:grpSp>
      <p:grpSp>
        <p:nvGrpSpPr>
          <p:cNvPr id="91" name="bar-chart"/>
          <p:cNvGrpSpPr/>
          <p:nvPr/>
        </p:nvGrpSpPr>
        <p:grpSpPr>
          <a:xfrm>
            <a:off x="6144578" y="2543175"/>
            <a:ext cx="5395912" cy="1762125"/>
            <a:chOff x="6144578" y="2543175"/>
            <a:chExt cx="5395912" cy="1762125"/>
          </a:xfrm>
        </p:grpSpPr>
        <p:sp>
          <p:nvSpPr>
            <p:cNvPr id="64" name="TextBox 64"/>
            <p:cNvSpPr txBox="1"/>
            <p:nvPr/>
          </p:nvSpPr>
          <p:spPr>
            <a:xfrm>
              <a:off x="6144578" y="2557462"/>
              <a:ext cx="41338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处方食品</a:t>
              </a:r>
            </a:p>
          </p:txBody>
        </p:sp>
        <p:sp>
          <p:nvSpPr>
            <p:cNvPr id="65" name="Rectangle 65"/>
            <p:cNvSpPr/>
            <p:nvPr/>
          </p:nvSpPr>
          <p:spPr>
            <a:xfrm>
              <a:off x="6629400" y="2543175"/>
              <a:ext cx="714375" cy="114300"/>
            </a:xfrm>
            <a:prstGeom prst="rect">
              <a:avLst/>
            </a:prstGeom>
            <a:solidFill>
              <a:srgbClr val="C9D2EE"/>
            </a:solidFill>
            <a:ln>
              <a:noFill/>
            </a:ln>
          </p:spPr>
        </p:sp>
        <p:sp>
          <p:nvSpPr>
            <p:cNvPr id="66" name="TextBox 66"/>
            <p:cNvSpPr txBox="1"/>
            <p:nvPr/>
          </p:nvSpPr>
          <p:spPr>
            <a:xfrm>
              <a:off x="7415212" y="2557462"/>
              <a:ext cx="196310"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11%</a:t>
              </a:r>
            </a:p>
          </p:txBody>
        </p:sp>
        <p:sp>
          <p:nvSpPr>
            <p:cNvPr id="67" name="TextBox 67"/>
            <p:cNvSpPr txBox="1"/>
            <p:nvPr/>
          </p:nvSpPr>
          <p:spPr>
            <a:xfrm>
              <a:off x="6346508" y="2757488"/>
              <a:ext cx="21145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体检</a:t>
              </a:r>
            </a:p>
          </p:txBody>
        </p:sp>
        <p:sp>
          <p:nvSpPr>
            <p:cNvPr id="68" name="Rectangle 68"/>
            <p:cNvSpPr/>
            <p:nvPr/>
          </p:nvSpPr>
          <p:spPr>
            <a:xfrm>
              <a:off x="6629400" y="2743200"/>
              <a:ext cx="2838450" cy="114300"/>
            </a:xfrm>
            <a:prstGeom prst="rect">
              <a:avLst/>
            </a:prstGeom>
            <a:solidFill>
              <a:srgbClr val="E08C7B"/>
            </a:solidFill>
            <a:ln>
              <a:noFill/>
            </a:ln>
          </p:spPr>
        </p:sp>
        <p:sp>
          <p:nvSpPr>
            <p:cNvPr id="69" name="TextBox 69"/>
            <p:cNvSpPr txBox="1"/>
            <p:nvPr/>
          </p:nvSpPr>
          <p:spPr>
            <a:xfrm>
              <a:off x="9539288" y="2757488"/>
              <a:ext cx="362902"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43.80%</a:t>
              </a:r>
            </a:p>
          </p:txBody>
        </p:sp>
        <p:sp>
          <p:nvSpPr>
            <p:cNvPr id="70" name="TextBox 70"/>
            <p:cNvSpPr txBox="1"/>
            <p:nvPr/>
          </p:nvSpPr>
          <p:spPr>
            <a:xfrm>
              <a:off x="6346508" y="2957512"/>
              <a:ext cx="21145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手术</a:t>
              </a:r>
            </a:p>
          </p:txBody>
        </p:sp>
        <p:sp>
          <p:nvSpPr>
            <p:cNvPr id="71" name="Rectangle 71"/>
            <p:cNvSpPr/>
            <p:nvPr/>
          </p:nvSpPr>
          <p:spPr>
            <a:xfrm>
              <a:off x="6629400" y="2943225"/>
              <a:ext cx="1238250" cy="114300"/>
            </a:xfrm>
            <a:prstGeom prst="rect">
              <a:avLst/>
            </a:prstGeom>
            <a:solidFill>
              <a:srgbClr val="C9D2EE"/>
            </a:solidFill>
            <a:ln>
              <a:noFill/>
            </a:ln>
          </p:spPr>
        </p:sp>
        <p:sp>
          <p:nvSpPr>
            <p:cNvPr id="72" name="TextBox 72"/>
            <p:cNvSpPr txBox="1"/>
            <p:nvPr/>
          </p:nvSpPr>
          <p:spPr>
            <a:xfrm>
              <a:off x="7939088" y="2957512"/>
              <a:ext cx="196310"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19%</a:t>
              </a:r>
            </a:p>
          </p:txBody>
        </p:sp>
        <p:sp>
          <p:nvSpPr>
            <p:cNvPr id="73" name="TextBox 73"/>
            <p:cNvSpPr txBox="1"/>
            <p:nvPr/>
          </p:nvSpPr>
          <p:spPr>
            <a:xfrm>
              <a:off x="6346508" y="3157538"/>
              <a:ext cx="21145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驱虫</a:t>
              </a:r>
            </a:p>
          </p:txBody>
        </p:sp>
        <p:sp>
          <p:nvSpPr>
            <p:cNvPr id="74" name="Rectangle 74"/>
            <p:cNvSpPr/>
            <p:nvPr/>
          </p:nvSpPr>
          <p:spPr>
            <a:xfrm>
              <a:off x="6629400" y="3143250"/>
              <a:ext cx="3629025" cy="114300"/>
            </a:xfrm>
            <a:prstGeom prst="rect">
              <a:avLst/>
            </a:prstGeom>
            <a:solidFill>
              <a:srgbClr val="C45F4A"/>
            </a:solidFill>
            <a:ln>
              <a:noFill/>
            </a:ln>
          </p:spPr>
        </p:sp>
        <p:sp>
          <p:nvSpPr>
            <p:cNvPr id="75" name="TextBox 75"/>
            <p:cNvSpPr txBox="1"/>
            <p:nvPr/>
          </p:nvSpPr>
          <p:spPr>
            <a:xfrm>
              <a:off x="10329862" y="3157538"/>
              <a:ext cx="362902"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55.90%</a:t>
              </a:r>
            </a:p>
          </p:txBody>
        </p:sp>
        <p:sp>
          <p:nvSpPr>
            <p:cNvPr id="76" name="TextBox 76"/>
            <p:cNvSpPr txBox="1"/>
            <p:nvPr/>
          </p:nvSpPr>
          <p:spPr>
            <a:xfrm>
              <a:off x="6144578" y="3357562"/>
              <a:ext cx="41338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门诊治疗</a:t>
              </a:r>
            </a:p>
          </p:txBody>
        </p:sp>
        <p:sp>
          <p:nvSpPr>
            <p:cNvPr id="77" name="Rectangle 77"/>
            <p:cNvSpPr/>
            <p:nvPr/>
          </p:nvSpPr>
          <p:spPr>
            <a:xfrm>
              <a:off x="6629400" y="3343275"/>
              <a:ext cx="2400300" cy="114300"/>
            </a:xfrm>
            <a:prstGeom prst="rect">
              <a:avLst/>
            </a:prstGeom>
            <a:solidFill>
              <a:srgbClr val="E08C7B"/>
            </a:solidFill>
            <a:ln>
              <a:noFill/>
            </a:ln>
          </p:spPr>
        </p:sp>
        <p:sp>
          <p:nvSpPr>
            <p:cNvPr id="78" name="TextBox 78"/>
            <p:cNvSpPr txBox="1"/>
            <p:nvPr/>
          </p:nvSpPr>
          <p:spPr>
            <a:xfrm>
              <a:off x="9101138" y="3357562"/>
              <a:ext cx="196310"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37%</a:t>
              </a:r>
            </a:p>
          </p:txBody>
        </p:sp>
        <p:sp>
          <p:nvSpPr>
            <p:cNvPr id="79" name="TextBox 79"/>
            <p:cNvSpPr txBox="1"/>
            <p:nvPr/>
          </p:nvSpPr>
          <p:spPr>
            <a:xfrm>
              <a:off x="6346508" y="3557588"/>
              <a:ext cx="21145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绝育</a:t>
              </a:r>
            </a:p>
          </p:txBody>
        </p:sp>
        <p:sp>
          <p:nvSpPr>
            <p:cNvPr id="80" name="Rectangle 80"/>
            <p:cNvSpPr/>
            <p:nvPr/>
          </p:nvSpPr>
          <p:spPr>
            <a:xfrm>
              <a:off x="6629400" y="3543300"/>
              <a:ext cx="3762375" cy="114300"/>
            </a:xfrm>
            <a:prstGeom prst="rect">
              <a:avLst/>
            </a:prstGeom>
            <a:solidFill>
              <a:srgbClr val="C45F4A"/>
            </a:solidFill>
            <a:ln>
              <a:noFill/>
            </a:ln>
          </p:spPr>
        </p:sp>
        <p:sp>
          <p:nvSpPr>
            <p:cNvPr id="81" name="TextBox 81"/>
            <p:cNvSpPr txBox="1"/>
            <p:nvPr/>
          </p:nvSpPr>
          <p:spPr>
            <a:xfrm>
              <a:off x="10463212" y="3557588"/>
              <a:ext cx="362902"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57.90%</a:t>
              </a:r>
            </a:p>
          </p:txBody>
        </p:sp>
        <p:sp>
          <p:nvSpPr>
            <p:cNvPr id="82" name="TextBox 82"/>
            <p:cNvSpPr txBox="1"/>
            <p:nvPr/>
          </p:nvSpPr>
          <p:spPr>
            <a:xfrm>
              <a:off x="6346508" y="3757612"/>
              <a:ext cx="21145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急诊</a:t>
              </a:r>
            </a:p>
          </p:txBody>
        </p:sp>
        <p:sp>
          <p:nvSpPr>
            <p:cNvPr id="83" name="Rectangle 83"/>
            <p:cNvSpPr/>
            <p:nvPr/>
          </p:nvSpPr>
          <p:spPr>
            <a:xfrm>
              <a:off x="6629400" y="3743325"/>
              <a:ext cx="1171575" cy="114300"/>
            </a:xfrm>
            <a:prstGeom prst="rect">
              <a:avLst/>
            </a:prstGeom>
            <a:solidFill>
              <a:srgbClr val="C9D2EE"/>
            </a:solidFill>
            <a:ln>
              <a:noFill/>
            </a:ln>
          </p:spPr>
        </p:sp>
        <p:sp>
          <p:nvSpPr>
            <p:cNvPr id="84" name="TextBox 84"/>
            <p:cNvSpPr txBox="1"/>
            <p:nvPr/>
          </p:nvSpPr>
          <p:spPr>
            <a:xfrm>
              <a:off x="7872412" y="3757612"/>
              <a:ext cx="362902"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18.00%</a:t>
              </a:r>
            </a:p>
          </p:txBody>
        </p:sp>
        <p:sp>
          <p:nvSpPr>
            <p:cNvPr id="85" name="TextBox 85"/>
            <p:cNvSpPr txBox="1"/>
            <p:nvPr/>
          </p:nvSpPr>
          <p:spPr>
            <a:xfrm>
              <a:off x="6346508" y="3957638"/>
              <a:ext cx="21145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住院</a:t>
              </a:r>
            </a:p>
          </p:txBody>
        </p:sp>
        <p:sp>
          <p:nvSpPr>
            <p:cNvPr id="86" name="Rectangle 86"/>
            <p:cNvSpPr/>
            <p:nvPr/>
          </p:nvSpPr>
          <p:spPr>
            <a:xfrm>
              <a:off x="6629400" y="3943350"/>
              <a:ext cx="847725" cy="114300"/>
            </a:xfrm>
            <a:prstGeom prst="rect">
              <a:avLst/>
            </a:prstGeom>
            <a:solidFill>
              <a:srgbClr val="C9D2EE"/>
            </a:solidFill>
            <a:ln>
              <a:noFill/>
            </a:ln>
          </p:spPr>
        </p:sp>
        <p:sp>
          <p:nvSpPr>
            <p:cNvPr id="87" name="TextBox 87"/>
            <p:cNvSpPr txBox="1"/>
            <p:nvPr/>
          </p:nvSpPr>
          <p:spPr>
            <a:xfrm>
              <a:off x="7548562" y="3957638"/>
              <a:ext cx="362902"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13.00%</a:t>
              </a:r>
            </a:p>
          </p:txBody>
        </p:sp>
        <p:sp>
          <p:nvSpPr>
            <p:cNvPr id="88" name="TextBox 88"/>
            <p:cNvSpPr txBox="1"/>
            <p:nvPr/>
          </p:nvSpPr>
          <p:spPr>
            <a:xfrm>
              <a:off x="6346508" y="4157662"/>
              <a:ext cx="211455" cy="147638"/>
            </a:xfrm>
            <a:prstGeom prst="rect">
              <a:avLst/>
            </a:prstGeom>
            <a:noFill/>
            <a:ln>
              <a:noFill/>
            </a:ln>
          </p:spPr>
          <p:txBody>
            <a:bodyPr wrap="none" lIns="0" tIns="0" rIns="0" bIns="0" anchor="t" anchorCtr="0">
              <a:spAutoFit/>
            </a:bodyPr>
            <a:lstStyle/>
            <a:p>
              <a:pPr algn="r"/>
              <a:r>
                <a:rPr lang="zh-CN" sz="750" dirty="0">
                  <a:solidFill>
                    <a:srgbClr val="543E3A"/>
                  </a:solidFill>
                  <a:latin typeface="+mn-lt"/>
                  <a:ea typeface="+mn-ea"/>
                  <a:cs typeface="+mn-cs"/>
                </a:rPr>
                <a:t>疫苗</a:t>
              </a:r>
            </a:p>
          </p:txBody>
        </p:sp>
        <p:sp>
          <p:nvSpPr>
            <p:cNvPr id="89" name="Rectangle 89"/>
            <p:cNvSpPr/>
            <p:nvPr/>
          </p:nvSpPr>
          <p:spPr>
            <a:xfrm>
              <a:off x="6629400" y="4143375"/>
              <a:ext cx="4476750" cy="114300"/>
            </a:xfrm>
            <a:prstGeom prst="rect">
              <a:avLst/>
            </a:prstGeom>
            <a:solidFill>
              <a:srgbClr val="C45F4A"/>
            </a:solidFill>
            <a:ln>
              <a:noFill/>
            </a:ln>
          </p:spPr>
        </p:sp>
        <p:sp>
          <p:nvSpPr>
            <p:cNvPr id="90" name="TextBox 90"/>
            <p:cNvSpPr txBox="1"/>
            <p:nvPr/>
          </p:nvSpPr>
          <p:spPr>
            <a:xfrm>
              <a:off x="11177588" y="4157662"/>
              <a:ext cx="362902" cy="147638"/>
            </a:xfrm>
            <a:prstGeom prst="rect">
              <a:avLst/>
            </a:prstGeom>
            <a:noFill/>
            <a:ln>
              <a:noFill/>
            </a:ln>
          </p:spPr>
          <p:txBody>
            <a:bodyPr wrap="none" lIns="0" tIns="0" rIns="0" bIns="0" anchor="t" anchorCtr="0">
              <a:spAutoFit/>
            </a:bodyPr>
            <a:lstStyle/>
            <a:p>
              <a:pPr algn="l"/>
              <a:r>
                <a:rPr lang="zh-CN" sz="750" dirty="0">
                  <a:solidFill>
                    <a:srgbClr val="543E3A"/>
                  </a:solidFill>
                  <a:latin typeface="+mn-lt"/>
                  <a:ea typeface="+mn-ea"/>
                  <a:cs typeface="+mn-cs"/>
                </a:rPr>
                <a:t>69.00%</a:t>
              </a:r>
            </a:p>
          </p:txBody>
        </p:sp>
      </p:grpSp>
      <p:grpSp>
        <p:nvGrpSpPr>
          <p:cNvPr id="143" name="scatter-chart"/>
          <p:cNvGrpSpPr/>
          <p:nvPr/>
        </p:nvGrpSpPr>
        <p:grpSpPr>
          <a:xfrm>
            <a:off x="5871502" y="4362450"/>
            <a:ext cx="5634698" cy="2076688"/>
            <a:chOff x="5871502" y="4362450"/>
            <a:chExt cx="5634698" cy="2076688"/>
          </a:xfrm>
        </p:grpSpPr>
        <p:sp>
          <p:nvSpPr>
            <p:cNvPr id="92" name="Rectangle 92"/>
            <p:cNvSpPr/>
            <p:nvPr/>
          </p:nvSpPr>
          <p:spPr>
            <a:xfrm>
              <a:off x="5981700" y="4362450"/>
              <a:ext cx="171450" cy="571500"/>
            </a:xfrm>
            <a:prstGeom prst="roundRect">
              <a:avLst>
                <a:gd name="adj" fmla="val 22222"/>
              </a:avLst>
            </a:prstGeom>
            <a:solidFill>
              <a:srgbClr val="E8EBF8"/>
            </a:solidFill>
            <a:ln>
              <a:noFill/>
            </a:ln>
          </p:spPr>
        </p:sp>
        <p:grpSp>
          <p:nvGrpSpPr>
            <p:cNvPr id="94" name="Group 94"/>
            <p:cNvGrpSpPr/>
            <p:nvPr/>
          </p:nvGrpSpPr>
          <p:grpSpPr>
            <a:xfrm rot="-5400000">
              <a:off x="5902935" y="4577953"/>
              <a:ext cx="391846" cy="140494"/>
              <a:chOff x="5871502" y="4609386"/>
              <a:chExt cx="391846" cy="140494"/>
            </a:xfrm>
          </p:grpSpPr>
          <p:sp>
            <p:nvSpPr>
              <p:cNvPr id="93" name="TextBox 93"/>
              <p:cNvSpPr txBox="1"/>
              <p:nvPr/>
            </p:nvSpPr>
            <p:spPr>
              <a:xfrm>
                <a:off x="5871502" y="4609386"/>
                <a:ext cx="391846" cy="140494"/>
              </a:xfrm>
              <a:prstGeom prst="rect">
                <a:avLst/>
              </a:prstGeom>
              <a:noFill/>
              <a:ln>
                <a:noFill/>
              </a:ln>
            </p:spPr>
            <p:txBody>
              <a:bodyPr wrap="none" lIns="0" tIns="0" rIns="0" bIns="0" anchor="t" anchorCtr="0">
                <a:spAutoFit/>
              </a:bodyPr>
              <a:lstStyle/>
              <a:p>
                <a:pPr algn="ctr"/>
                <a:r>
                  <a:rPr lang="zh-CN" sz="710" dirty="0">
                    <a:solidFill>
                      <a:srgbClr val="C46D5B"/>
                    </a:solidFill>
                    <a:latin typeface="+mn-lt"/>
                    <a:ea typeface="+mn-ea"/>
                    <a:cs typeface="+mn-cs"/>
                  </a:rPr>
                  <a:t>消费增速</a:t>
                </a:r>
              </a:p>
            </p:txBody>
          </p:sp>
        </p:grpSp>
        <p:sp>
          <p:nvSpPr>
            <p:cNvPr id="95" name="TextBox 95"/>
            <p:cNvSpPr txBox="1"/>
            <p:nvPr/>
          </p:nvSpPr>
          <p:spPr>
            <a:xfrm>
              <a:off x="6167438" y="4402693"/>
              <a:ext cx="1727829" cy="169069"/>
            </a:xfrm>
            <a:prstGeom prst="rect">
              <a:avLst/>
            </a:prstGeom>
            <a:noFill/>
            <a:ln>
              <a:noFill/>
            </a:ln>
          </p:spPr>
          <p:txBody>
            <a:bodyPr wrap="none" lIns="0" tIns="0" rIns="0" bIns="0" anchor="t" anchorCtr="0">
              <a:spAutoFit/>
            </a:bodyPr>
            <a:lstStyle/>
            <a:p>
              <a:pPr algn="l" marL="97479" indent="-97479">
                <a:buClr>
                  <a:srgbClr val="543E3A"/>
                </a:buClr>
                <a:buSzTx/>
                <a:buFontTx/>
                <a:buChar char="•"/>
              </a:pPr>
              <a:r>
                <a:rPr lang="zh-CN" sz="860" b="1" dirty="0">
                  <a:solidFill>
                    <a:srgbClr val="543E3A"/>
                  </a:solidFill>
                  <a:latin typeface="+mn-lt"/>
                  <a:ea typeface="+mn-ea"/>
                  <a:cs typeface="+mn-cs"/>
                </a:rPr>
                <a:t>宠物医疗八大人群消费能力分析</a:t>
              </a:r>
            </a:p>
          </p:txBody>
        </p:sp>
        <p:sp>
          <p:nvSpPr>
            <p:cNvPr id="96" name="Line 96"/>
            <p:cNvSpPr/>
            <p:nvPr/>
          </p:nvSpPr>
          <p:spPr>
            <a:xfrm>
              <a:off x="6667500" y="4714875"/>
              <a:ext cx="9525" cy="1524000"/>
            </a:xfrm>
            <a:custGeom>
              <a:avLst/>
              <a:gdLst/>
              <a:ahLst/>
              <a:cxnLst/>
              <a:rect l="l" t="t" r="r" b="b"/>
              <a:pathLst>
                <a:path w="9525" h="1524000">
                  <a:moveTo>
                    <a:pt x="0" y="0"/>
                  </a:moveTo>
                  <a:lnTo>
                    <a:pt x="0" y="1524000"/>
                  </a:lnTo>
                </a:path>
              </a:pathLst>
            </a:custGeom>
            <a:noFill/>
            <a:ln w="9525">
              <a:solidFill>
                <a:srgbClr val="D8DEF2"/>
              </a:solidFill>
            </a:ln>
          </p:spPr>
        </p:sp>
        <p:sp>
          <p:nvSpPr>
            <p:cNvPr id="97" name="Line 97"/>
            <p:cNvSpPr/>
            <p:nvPr/>
          </p:nvSpPr>
          <p:spPr>
            <a:xfrm>
              <a:off x="6667500" y="6238875"/>
              <a:ext cx="4667250" cy="9525"/>
            </a:xfrm>
            <a:custGeom>
              <a:avLst/>
              <a:gdLst/>
              <a:ahLst/>
              <a:cxnLst/>
              <a:rect l="l" t="t" r="r" b="b"/>
              <a:pathLst>
                <a:path w="4667250" h="9525">
                  <a:moveTo>
                    <a:pt x="0" y="0"/>
                  </a:moveTo>
                  <a:lnTo>
                    <a:pt x="4667250" y="0"/>
                  </a:lnTo>
                </a:path>
              </a:pathLst>
            </a:custGeom>
            <a:noFill/>
            <a:ln w="9525">
              <a:solidFill>
                <a:srgbClr val="D8DEF2"/>
              </a:solidFill>
            </a:ln>
          </p:spPr>
        </p:sp>
        <p:sp>
          <p:nvSpPr>
            <p:cNvPr id="98" name="Line 98"/>
            <p:cNvSpPr/>
            <p:nvPr/>
          </p:nvSpPr>
          <p:spPr>
            <a:xfrm>
              <a:off x="6667500" y="4714875"/>
              <a:ext cx="4667250" cy="9525"/>
            </a:xfrm>
            <a:custGeom>
              <a:avLst/>
              <a:gdLst/>
              <a:ahLst/>
              <a:cxnLst/>
              <a:rect l="l" t="t" r="r" b="b"/>
              <a:pathLst>
                <a:path w="4667250" h="9525">
                  <a:moveTo>
                    <a:pt x="0" y="0"/>
                  </a:moveTo>
                  <a:lnTo>
                    <a:pt x="4667250" y="0"/>
                  </a:lnTo>
                </a:path>
              </a:pathLst>
            </a:custGeom>
            <a:noFill/>
            <a:ln w="9525">
              <a:solidFill>
                <a:srgbClr val="EEF1FB"/>
              </a:solidFill>
            </a:ln>
          </p:spPr>
        </p:sp>
        <p:sp>
          <p:nvSpPr>
            <p:cNvPr id="99" name="Line 99"/>
            <p:cNvSpPr/>
            <p:nvPr/>
          </p:nvSpPr>
          <p:spPr>
            <a:xfrm>
              <a:off x="6667500" y="4972050"/>
              <a:ext cx="4667250" cy="9525"/>
            </a:xfrm>
            <a:custGeom>
              <a:avLst/>
              <a:gdLst/>
              <a:ahLst/>
              <a:cxnLst/>
              <a:rect l="l" t="t" r="r" b="b"/>
              <a:pathLst>
                <a:path w="4667250" h="9525">
                  <a:moveTo>
                    <a:pt x="0" y="0"/>
                  </a:moveTo>
                  <a:lnTo>
                    <a:pt x="4667250" y="0"/>
                  </a:lnTo>
                </a:path>
              </a:pathLst>
            </a:custGeom>
            <a:noFill/>
            <a:ln w="9525">
              <a:solidFill>
                <a:srgbClr val="EEF1FB"/>
              </a:solidFill>
            </a:ln>
          </p:spPr>
        </p:sp>
        <p:sp>
          <p:nvSpPr>
            <p:cNvPr id="100" name="Line 100"/>
            <p:cNvSpPr/>
            <p:nvPr/>
          </p:nvSpPr>
          <p:spPr>
            <a:xfrm>
              <a:off x="6667500" y="5219700"/>
              <a:ext cx="4667250" cy="9525"/>
            </a:xfrm>
            <a:custGeom>
              <a:avLst/>
              <a:gdLst/>
              <a:ahLst/>
              <a:cxnLst/>
              <a:rect l="l" t="t" r="r" b="b"/>
              <a:pathLst>
                <a:path w="4667250" h="9525">
                  <a:moveTo>
                    <a:pt x="0" y="0"/>
                  </a:moveTo>
                  <a:lnTo>
                    <a:pt x="4667250" y="0"/>
                  </a:lnTo>
                </a:path>
              </a:pathLst>
            </a:custGeom>
            <a:noFill/>
            <a:ln w="9525">
              <a:solidFill>
                <a:srgbClr val="EEF1FB"/>
              </a:solidFill>
            </a:ln>
          </p:spPr>
        </p:sp>
        <p:sp>
          <p:nvSpPr>
            <p:cNvPr id="101" name="Line 101"/>
            <p:cNvSpPr/>
            <p:nvPr/>
          </p:nvSpPr>
          <p:spPr>
            <a:xfrm>
              <a:off x="6667500" y="5476875"/>
              <a:ext cx="4667250" cy="9525"/>
            </a:xfrm>
            <a:custGeom>
              <a:avLst/>
              <a:gdLst/>
              <a:ahLst/>
              <a:cxnLst/>
              <a:rect l="l" t="t" r="r" b="b"/>
              <a:pathLst>
                <a:path w="4667250" h="9525">
                  <a:moveTo>
                    <a:pt x="0" y="0"/>
                  </a:moveTo>
                  <a:lnTo>
                    <a:pt x="4667250" y="0"/>
                  </a:lnTo>
                </a:path>
              </a:pathLst>
            </a:custGeom>
            <a:noFill/>
            <a:ln w="9525">
              <a:solidFill>
                <a:srgbClr val="EEF1FB"/>
              </a:solidFill>
            </a:ln>
          </p:spPr>
        </p:sp>
        <p:sp>
          <p:nvSpPr>
            <p:cNvPr id="102" name="Line 102"/>
            <p:cNvSpPr/>
            <p:nvPr/>
          </p:nvSpPr>
          <p:spPr>
            <a:xfrm>
              <a:off x="6667500" y="5734050"/>
              <a:ext cx="4667250" cy="9525"/>
            </a:xfrm>
            <a:custGeom>
              <a:avLst/>
              <a:gdLst/>
              <a:ahLst/>
              <a:cxnLst/>
              <a:rect l="l" t="t" r="r" b="b"/>
              <a:pathLst>
                <a:path w="4667250" h="9525">
                  <a:moveTo>
                    <a:pt x="0" y="0"/>
                  </a:moveTo>
                  <a:lnTo>
                    <a:pt x="4667250" y="0"/>
                  </a:lnTo>
                </a:path>
              </a:pathLst>
            </a:custGeom>
            <a:noFill/>
            <a:ln w="9525">
              <a:solidFill>
                <a:srgbClr val="EEF1FB"/>
              </a:solidFill>
            </a:ln>
          </p:spPr>
        </p:sp>
        <p:sp>
          <p:nvSpPr>
            <p:cNvPr id="103" name="Line 103"/>
            <p:cNvSpPr/>
            <p:nvPr/>
          </p:nvSpPr>
          <p:spPr>
            <a:xfrm>
              <a:off x="6667500" y="5981700"/>
              <a:ext cx="4667250" cy="9525"/>
            </a:xfrm>
            <a:custGeom>
              <a:avLst/>
              <a:gdLst/>
              <a:ahLst/>
              <a:cxnLst/>
              <a:rect l="l" t="t" r="r" b="b"/>
              <a:pathLst>
                <a:path w="4667250" h="9525">
                  <a:moveTo>
                    <a:pt x="0" y="0"/>
                  </a:moveTo>
                  <a:lnTo>
                    <a:pt x="4667250" y="0"/>
                  </a:lnTo>
                </a:path>
              </a:pathLst>
            </a:custGeom>
            <a:noFill/>
            <a:ln w="9525">
              <a:solidFill>
                <a:srgbClr val="EEF1FB"/>
              </a:solidFill>
            </a:ln>
          </p:spPr>
        </p:sp>
        <p:sp>
          <p:nvSpPr>
            <p:cNvPr id="104" name="Line 104"/>
            <p:cNvSpPr/>
            <p:nvPr/>
          </p:nvSpPr>
          <p:spPr>
            <a:xfrm>
              <a:off x="7448550" y="4714875"/>
              <a:ext cx="9525" cy="1524000"/>
            </a:xfrm>
            <a:custGeom>
              <a:avLst/>
              <a:gdLst/>
              <a:ahLst/>
              <a:cxnLst/>
              <a:rect l="l" t="t" r="r" b="b"/>
              <a:pathLst>
                <a:path w="9525" h="1524000">
                  <a:moveTo>
                    <a:pt x="0" y="0"/>
                  </a:moveTo>
                  <a:lnTo>
                    <a:pt x="0" y="1524000"/>
                  </a:lnTo>
                </a:path>
              </a:pathLst>
            </a:custGeom>
            <a:noFill/>
            <a:ln w="9525">
              <a:solidFill>
                <a:srgbClr val="EEF1FB"/>
              </a:solidFill>
            </a:ln>
          </p:spPr>
        </p:sp>
        <p:sp>
          <p:nvSpPr>
            <p:cNvPr id="105" name="Line 105"/>
            <p:cNvSpPr/>
            <p:nvPr/>
          </p:nvSpPr>
          <p:spPr>
            <a:xfrm>
              <a:off x="8220075" y="4714875"/>
              <a:ext cx="9525" cy="1524000"/>
            </a:xfrm>
            <a:custGeom>
              <a:avLst/>
              <a:gdLst/>
              <a:ahLst/>
              <a:cxnLst/>
              <a:rect l="l" t="t" r="r" b="b"/>
              <a:pathLst>
                <a:path w="9525" h="1524000">
                  <a:moveTo>
                    <a:pt x="0" y="0"/>
                  </a:moveTo>
                  <a:lnTo>
                    <a:pt x="0" y="1524000"/>
                  </a:lnTo>
                </a:path>
              </a:pathLst>
            </a:custGeom>
            <a:noFill/>
            <a:ln w="9525">
              <a:solidFill>
                <a:srgbClr val="EEF1FB"/>
              </a:solidFill>
            </a:ln>
          </p:spPr>
        </p:sp>
        <p:sp>
          <p:nvSpPr>
            <p:cNvPr id="106" name="Line 106"/>
            <p:cNvSpPr/>
            <p:nvPr/>
          </p:nvSpPr>
          <p:spPr>
            <a:xfrm>
              <a:off x="9001125" y="4714875"/>
              <a:ext cx="9525" cy="1524000"/>
            </a:xfrm>
            <a:custGeom>
              <a:avLst/>
              <a:gdLst/>
              <a:ahLst/>
              <a:cxnLst/>
              <a:rect l="l" t="t" r="r" b="b"/>
              <a:pathLst>
                <a:path w="9525" h="1524000">
                  <a:moveTo>
                    <a:pt x="0" y="0"/>
                  </a:moveTo>
                  <a:lnTo>
                    <a:pt x="0" y="1524000"/>
                  </a:lnTo>
                </a:path>
              </a:pathLst>
            </a:custGeom>
            <a:noFill/>
            <a:ln w="9525">
              <a:solidFill>
                <a:srgbClr val="EEF1FB"/>
              </a:solidFill>
            </a:ln>
          </p:spPr>
        </p:sp>
        <p:sp>
          <p:nvSpPr>
            <p:cNvPr id="107" name="Line 107"/>
            <p:cNvSpPr/>
            <p:nvPr/>
          </p:nvSpPr>
          <p:spPr>
            <a:xfrm>
              <a:off x="9782175" y="4714875"/>
              <a:ext cx="9525" cy="1524000"/>
            </a:xfrm>
            <a:custGeom>
              <a:avLst/>
              <a:gdLst/>
              <a:ahLst/>
              <a:cxnLst/>
              <a:rect l="l" t="t" r="r" b="b"/>
              <a:pathLst>
                <a:path w="9525" h="1524000">
                  <a:moveTo>
                    <a:pt x="0" y="0"/>
                  </a:moveTo>
                  <a:lnTo>
                    <a:pt x="0" y="1524000"/>
                  </a:lnTo>
                </a:path>
              </a:pathLst>
            </a:custGeom>
            <a:noFill/>
            <a:ln w="9525">
              <a:solidFill>
                <a:srgbClr val="EEF1FB"/>
              </a:solidFill>
            </a:ln>
          </p:spPr>
        </p:sp>
        <p:sp>
          <p:nvSpPr>
            <p:cNvPr id="108" name="Line 108"/>
            <p:cNvSpPr/>
            <p:nvPr/>
          </p:nvSpPr>
          <p:spPr>
            <a:xfrm>
              <a:off x="10553700" y="4714875"/>
              <a:ext cx="9525" cy="1524000"/>
            </a:xfrm>
            <a:custGeom>
              <a:avLst/>
              <a:gdLst/>
              <a:ahLst/>
              <a:cxnLst/>
              <a:rect l="l" t="t" r="r" b="b"/>
              <a:pathLst>
                <a:path w="9525" h="1524000">
                  <a:moveTo>
                    <a:pt x="0" y="0"/>
                  </a:moveTo>
                  <a:lnTo>
                    <a:pt x="0" y="1524000"/>
                  </a:lnTo>
                </a:path>
              </a:pathLst>
            </a:custGeom>
            <a:noFill/>
            <a:ln w="9525">
              <a:solidFill>
                <a:srgbClr val="EEF1FB"/>
              </a:solidFill>
            </a:ln>
          </p:spPr>
        </p:sp>
        <p:sp>
          <p:nvSpPr>
            <p:cNvPr id="109" name="TextBox 109"/>
            <p:cNvSpPr txBox="1"/>
            <p:nvPr/>
          </p:nvSpPr>
          <p:spPr>
            <a:xfrm>
              <a:off x="6493584" y="6208157"/>
              <a:ext cx="121529" cy="126206"/>
            </a:xfrm>
            <a:prstGeom prst="rect">
              <a:avLst/>
            </a:prstGeom>
            <a:noFill/>
            <a:ln>
              <a:noFill/>
            </a:ln>
          </p:spPr>
          <p:txBody>
            <a:bodyPr wrap="none" lIns="0" tIns="0" rIns="0" bIns="0" anchor="t" anchorCtr="0">
              <a:spAutoFit/>
            </a:bodyPr>
            <a:lstStyle/>
            <a:p>
              <a:pPr algn="r"/>
              <a:r>
                <a:rPr lang="zh-CN" sz="640" dirty="0">
                  <a:solidFill>
                    <a:srgbClr val="6B7280"/>
                  </a:solidFill>
                  <a:latin typeface="+mn-lt"/>
                  <a:ea typeface="+mn-ea"/>
                  <a:cs typeface="+mn-cs"/>
                </a:rPr>
                <a:t>0%</a:t>
              </a:r>
            </a:p>
          </p:txBody>
        </p:sp>
        <p:sp>
          <p:nvSpPr>
            <p:cNvPr id="110" name="TextBox 110"/>
            <p:cNvSpPr txBox="1"/>
            <p:nvPr/>
          </p:nvSpPr>
          <p:spPr>
            <a:xfrm>
              <a:off x="6446197" y="5941457"/>
              <a:ext cx="168915" cy="126206"/>
            </a:xfrm>
            <a:prstGeom prst="rect">
              <a:avLst/>
            </a:prstGeom>
            <a:noFill/>
            <a:ln>
              <a:noFill/>
            </a:ln>
          </p:spPr>
          <p:txBody>
            <a:bodyPr wrap="none" lIns="0" tIns="0" rIns="0" bIns="0" anchor="t" anchorCtr="0">
              <a:spAutoFit/>
            </a:bodyPr>
            <a:lstStyle/>
            <a:p>
              <a:pPr algn="r"/>
              <a:r>
                <a:rPr lang="zh-CN" sz="640" dirty="0">
                  <a:solidFill>
                    <a:srgbClr val="6B7280"/>
                  </a:solidFill>
                  <a:latin typeface="+mn-lt"/>
                  <a:ea typeface="+mn-ea"/>
                  <a:cs typeface="+mn-cs"/>
                </a:rPr>
                <a:t>20%</a:t>
              </a:r>
            </a:p>
          </p:txBody>
        </p:sp>
        <p:sp>
          <p:nvSpPr>
            <p:cNvPr id="111" name="TextBox 111"/>
            <p:cNvSpPr txBox="1"/>
            <p:nvPr/>
          </p:nvSpPr>
          <p:spPr>
            <a:xfrm>
              <a:off x="6446197" y="5693807"/>
              <a:ext cx="168915" cy="126206"/>
            </a:xfrm>
            <a:prstGeom prst="rect">
              <a:avLst/>
            </a:prstGeom>
            <a:noFill/>
            <a:ln>
              <a:noFill/>
            </a:ln>
          </p:spPr>
          <p:txBody>
            <a:bodyPr wrap="none" lIns="0" tIns="0" rIns="0" bIns="0" anchor="t" anchorCtr="0">
              <a:spAutoFit/>
            </a:bodyPr>
            <a:lstStyle/>
            <a:p>
              <a:pPr algn="r"/>
              <a:r>
                <a:rPr lang="zh-CN" sz="640" dirty="0">
                  <a:solidFill>
                    <a:srgbClr val="6B7280"/>
                  </a:solidFill>
                  <a:latin typeface="+mn-lt"/>
                  <a:ea typeface="+mn-ea"/>
                  <a:cs typeface="+mn-cs"/>
                </a:rPr>
                <a:t>40%</a:t>
              </a:r>
            </a:p>
          </p:txBody>
        </p:sp>
        <p:sp>
          <p:nvSpPr>
            <p:cNvPr id="112" name="TextBox 112"/>
            <p:cNvSpPr txBox="1"/>
            <p:nvPr/>
          </p:nvSpPr>
          <p:spPr>
            <a:xfrm>
              <a:off x="6446197" y="5436632"/>
              <a:ext cx="168915" cy="126206"/>
            </a:xfrm>
            <a:prstGeom prst="rect">
              <a:avLst/>
            </a:prstGeom>
            <a:noFill/>
            <a:ln>
              <a:noFill/>
            </a:ln>
          </p:spPr>
          <p:txBody>
            <a:bodyPr wrap="none" lIns="0" tIns="0" rIns="0" bIns="0" anchor="t" anchorCtr="0">
              <a:spAutoFit/>
            </a:bodyPr>
            <a:lstStyle/>
            <a:p>
              <a:pPr algn="r"/>
              <a:r>
                <a:rPr lang="zh-CN" sz="640" dirty="0">
                  <a:solidFill>
                    <a:srgbClr val="6B7280"/>
                  </a:solidFill>
                  <a:latin typeface="+mn-lt"/>
                  <a:ea typeface="+mn-ea"/>
                  <a:cs typeface="+mn-cs"/>
                </a:rPr>
                <a:t>60%</a:t>
              </a:r>
            </a:p>
          </p:txBody>
        </p:sp>
        <p:sp>
          <p:nvSpPr>
            <p:cNvPr id="113" name="TextBox 113"/>
            <p:cNvSpPr txBox="1"/>
            <p:nvPr/>
          </p:nvSpPr>
          <p:spPr>
            <a:xfrm>
              <a:off x="6446197" y="5179457"/>
              <a:ext cx="168915" cy="126206"/>
            </a:xfrm>
            <a:prstGeom prst="rect">
              <a:avLst/>
            </a:prstGeom>
            <a:noFill/>
            <a:ln>
              <a:noFill/>
            </a:ln>
          </p:spPr>
          <p:txBody>
            <a:bodyPr wrap="none" lIns="0" tIns="0" rIns="0" bIns="0" anchor="t" anchorCtr="0">
              <a:spAutoFit/>
            </a:bodyPr>
            <a:lstStyle/>
            <a:p>
              <a:pPr algn="r"/>
              <a:r>
                <a:rPr lang="zh-CN" sz="640" dirty="0">
                  <a:solidFill>
                    <a:srgbClr val="6B7280"/>
                  </a:solidFill>
                  <a:latin typeface="+mn-lt"/>
                  <a:ea typeface="+mn-ea"/>
                  <a:cs typeface="+mn-cs"/>
                </a:rPr>
                <a:t>80%</a:t>
              </a:r>
            </a:p>
          </p:txBody>
        </p:sp>
        <p:sp>
          <p:nvSpPr>
            <p:cNvPr id="114" name="TextBox 114"/>
            <p:cNvSpPr txBox="1"/>
            <p:nvPr/>
          </p:nvSpPr>
          <p:spPr>
            <a:xfrm>
              <a:off x="6398811" y="4931807"/>
              <a:ext cx="216301" cy="126206"/>
            </a:xfrm>
            <a:prstGeom prst="rect">
              <a:avLst/>
            </a:prstGeom>
            <a:noFill/>
            <a:ln>
              <a:noFill/>
            </a:ln>
          </p:spPr>
          <p:txBody>
            <a:bodyPr wrap="none" lIns="0" tIns="0" rIns="0" bIns="0" anchor="t" anchorCtr="0">
              <a:spAutoFit/>
            </a:bodyPr>
            <a:lstStyle/>
            <a:p>
              <a:pPr algn="r"/>
              <a:r>
                <a:rPr lang="zh-CN" sz="640" dirty="0">
                  <a:solidFill>
                    <a:srgbClr val="6B7280"/>
                  </a:solidFill>
                  <a:latin typeface="+mn-lt"/>
                  <a:ea typeface="+mn-ea"/>
                  <a:cs typeface="+mn-cs"/>
                </a:rPr>
                <a:t>100%</a:t>
              </a:r>
            </a:p>
          </p:txBody>
        </p:sp>
        <p:sp>
          <p:nvSpPr>
            <p:cNvPr id="115" name="TextBox 115"/>
            <p:cNvSpPr txBox="1"/>
            <p:nvPr/>
          </p:nvSpPr>
          <p:spPr>
            <a:xfrm>
              <a:off x="6398811" y="4674632"/>
              <a:ext cx="216301" cy="126206"/>
            </a:xfrm>
            <a:prstGeom prst="rect">
              <a:avLst/>
            </a:prstGeom>
            <a:noFill/>
            <a:ln>
              <a:noFill/>
            </a:ln>
          </p:spPr>
          <p:txBody>
            <a:bodyPr wrap="none" lIns="0" tIns="0" rIns="0" bIns="0" anchor="t" anchorCtr="0">
              <a:spAutoFit/>
            </a:bodyPr>
            <a:lstStyle/>
            <a:p>
              <a:pPr algn="r"/>
              <a:r>
                <a:rPr lang="zh-CN" sz="640" dirty="0">
                  <a:solidFill>
                    <a:srgbClr val="6B7280"/>
                  </a:solidFill>
                  <a:latin typeface="+mn-lt"/>
                  <a:ea typeface="+mn-ea"/>
                  <a:cs typeface="+mn-cs"/>
                </a:rPr>
                <a:t>120%</a:t>
              </a:r>
            </a:p>
          </p:txBody>
        </p:sp>
        <p:sp>
          <p:nvSpPr>
            <p:cNvPr id="116" name="TextBox 116"/>
            <p:cNvSpPr txBox="1"/>
            <p:nvPr/>
          </p:nvSpPr>
          <p:spPr>
            <a:xfrm>
              <a:off x="6662738" y="6312932"/>
              <a:ext cx="121529" cy="126206"/>
            </a:xfrm>
            <a:prstGeom prst="rect">
              <a:avLst/>
            </a:prstGeom>
            <a:noFill/>
            <a:ln>
              <a:noFill/>
            </a:ln>
          </p:spPr>
          <p:txBody>
            <a:bodyPr wrap="none" lIns="0" tIns="0" rIns="0" bIns="0" anchor="t" anchorCtr="0">
              <a:spAutoFit/>
            </a:bodyPr>
            <a:lstStyle/>
            <a:p>
              <a:pPr algn="l"/>
              <a:r>
                <a:rPr lang="zh-CN" sz="640" dirty="0">
                  <a:solidFill>
                    <a:srgbClr val="6B7280"/>
                  </a:solidFill>
                  <a:latin typeface="+mn-lt"/>
                  <a:ea typeface="+mn-ea"/>
                  <a:cs typeface="+mn-cs"/>
                </a:rPr>
                <a:t>0%</a:t>
              </a:r>
            </a:p>
          </p:txBody>
        </p:sp>
        <p:sp>
          <p:nvSpPr>
            <p:cNvPr id="117" name="TextBox 117"/>
            <p:cNvSpPr txBox="1"/>
            <p:nvPr/>
          </p:nvSpPr>
          <p:spPr>
            <a:xfrm>
              <a:off x="7364092" y="6312932"/>
              <a:ext cx="168915" cy="126206"/>
            </a:xfrm>
            <a:prstGeom prst="rect">
              <a:avLst/>
            </a:prstGeom>
            <a:noFill/>
            <a:ln>
              <a:noFill/>
            </a:ln>
          </p:spPr>
          <p:txBody>
            <a:bodyPr wrap="none" lIns="0" tIns="0" rIns="0" bIns="0" anchor="t" anchorCtr="0">
              <a:spAutoFit/>
            </a:bodyPr>
            <a:lstStyle/>
            <a:p>
              <a:pPr algn="ctr"/>
              <a:r>
                <a:rPr lang="zh-CN" sz="640" dirty="0">
                  <a:solidFill>
                    <a:srgbClr val="6B7280"/>
                  </a:solidFill>
                  <a:latin typeface="+mn-lt"/>
                  <a:ea typeface="+mn-ea"/>
                  <a:cs typeface="+mn-cs"/>
                </a:rPr>
                <a:t>20%</a:t>
              </a:r>
            </a:p>
          </p:txBody>
        </p:sp>
        <p:sp>
          <p:nvSpPr>
            <p:cNvPr id="118" name="TextBox 118"/>
            <p:cNvSpPr txBox="1"/>
            <p:nvPr/>
          </p:nvSpPr>
          <p:spPr>
            <a:xfrm>
              <a:off x="8135617" y="6312932"/>
              <a:ext cx="168915" cy="126206"/>
            </a:xfrm>
            <a:prstGeom prst="rect">
              <a:avLst/>
            </a:prstGeom>
            <a:noFill/>
            <a:ln>
              <a:noFill/>
            </a:ln>
          </p:spPr>
          <p:txBody>
            <a:bodyPr wrap="none" lIns="0" tIns="0" rIns="0" bIns="0" anchor="t" anchorCtr="0">
              <a:spAutoFit/>
            </a:bodyPr>
            <a:lstStyle/>
            <a:p>
              <a:pPr algn="ctr"/>
              <a:r>
                <a:rPr lang="zh-CN" sz="640" dirty="0">
                  <a:solidFill>
                    <a:srgbClr val="6B7280"/>
                  </a:solidFill>
                  <a:latin typeface="+mn-lt"/>
                  <a:ea typeface="+mn-ea"/>
                  <a:cs typeface="+mn-cs"/>
                </a:rPr>
                <a:t>40%</a:t>
              </a:r>
            </a:p>
          </p:txBody>
        </p:sp>
        <p:sp>
          <p:nvSpPr>
            <p:cNvPr id="119" name="TextBox 119"/>
            <p:cNvSpPr txBox="1"/>
            <p:nvPr/>
          </p:nvSpPr>
          <p:spPr>
            <a:xfrm>
              <a:off x="8916667" y="6312932"/>
              <a:ext cx="168915" cy="126206"/>
            </a:xfrm>
            <a:prstGeom prst="rect">
              <a:avLst/>
            </a:prstGeom>
            <a:noFill/>
            <a:ln>
              <a:noFill/>
            </a:ln>
          </p:spPr>
          <p:txBody>
            <a:bodyPr wrap="none" lIns="0" tIns="0" rIns="0" bIns="0" anchor="t" anchorCtr="0">
              <a:spAutoFit/>
            </a:bodyPr>
            <a:lstStyle/>
            <a:p>
              <a:pPr algn="ctr"/>
              <a:r>
                <a:rPr lang="zh-CN" sz="640" dirty="0">
                  <a:solidFill>
                    <a:srgbClr val="6B7280"/>
                  </a:solidFill>
                  <a:latin typeface="+mn-lt"/>
                  <a:ea typeface="+mn-ea"/>
                  <a:cs typeface="+mn-cs"/>
                </a:rPr>
                <a:t>60%</a:t>
              </a:r>
            </a:p>
          </p:txBody>
        </p:sp>
        <p:sp>
          <p:nvSpPr>
            <p:cNvPr id="120" name="TextBox 120"/>
            <p:cNvSpPr txBox="1"/>
            <p:nvPr/>
          </p:nvSpPr>
          <p:spPr>
            <a:xfrm>
              <a:off x="9697717" y="6312932"/>
              <a:ext cx="168915" cy="126206"/>
            </a:xfrm>
            <a:prstGeom prst="rect">
              <a:avLst/>
            </a:prstGeom>
            <a:noFill/>
            <a:ln>
              <a:noFill/>
            </a:ln>
          </p:spPr>
          <p:txBody>
            <a:bodyPr wrap="none" lIns="0" tIns="0" rIns="0" bIns="0" anchor="t" anchorCtr="0">
              <a:spAutoFit/>
            </a:bodyPr>
            <a:lstStyle/>
            <a:p>
              <a:pPr algn="ctr"/>
              <a:r>
                <a:rPr lang="zh-CN" sz="640" dirty="0">
                  <a:solidFill>
                    <a:srgbClr val="6B7280"/>
                  </a:solidFill>
                  <a:latin typeface="+mn-lt"/>
                  <a:ea typeface="+mn-ea"/>
                  <a:cs typeface="+mn-cs"/>
                </a:rPr>
                <a:t>80%</a:t>
              </a:r>
            </a:p>
          </p:txBody>
        </p:sp>
        <p:sp>
          <p:nvSpPr>
            <p:cNvPr id="121" name="TextBox 121"/>
            <p:cNvSpPr txBox="1"/>
            <p:nvPr/>
          </p:nvSpPr>
          <p:spPr>
            <a:xfrm>
              <a:off x="10445549" y="6312932"/>
              <a:ext cx="216301" cy="126206"/>
            </a:xfrm>
            <a:prstGeom prst="rect">
              <a:avLst/>
            </a:prstGeom>
            <a:noFill/>
            <a:ln>
              <a:noFill/>
            </a:ln>
          </p:spPr>
          <p:txBody>
            <a:bodyPr wrap="none" lIns="0" tIns="0" rIns="0" bIns="0" anchor="t" anchorCtr="0">
              <a:spAutoFit/>
            </a:bodyPr>
            <a:lstStyle/>
            <a:p>
              <a:pPr algn="ctr"/>
              <a:r>
                <a:rPr lang="zh-CN" sz="640" dirty="0">
                  <a:solidFill>
                    <a:srgbClr val="6B7280"/>
                  </a:solidFill>
                  <a:latin typeface="+mn-lt"/>
                  <a:ea typeface="+mn-ea"/>
                  <a:cs typeface="+mn-cs"/>
                </a:rPr>
                <a:t>100%</a:t>
              </a:r>
            </a:p>
          </p:txBody>
        </p:sp>
        <p:sp>
          <p:nvSpPr>
            <p:cNvPr id="122" name="TextBox 122"/>
            <p:cNvSpPr txBox="1"/>
            <p:nvPr/>
          </p:nvSpPr>
          <p:spPr>
            <a:xfrm>
              <a:off x="11226599" y="6312932"/>
              <a:ext cx="216301" cy="126206"/>
            </a:xfrm>
            <a:prstGeom prst="rect">
              <a:avLst/>
            </a:prstGeom>
            <a:noFill/>
            <a:ln>
              <a:noFill/>
            </a:ln>
          </p:spPr>
          <p:txBody>
            <a:bodyPr wrap="none" lIns="0" tIns="0" rIns="0" bIns="0" anchor="t" anchorCtr="0">
              <a:spAutoFit/>
            </a:bodyPr>
            <a:lstStyle/>
            <a:p>
              <a:pPr algn="ctr"/>
              <a:r>
                <a:rPr lang="zh-CN" sz="640" dirty="0">
                  <a:solidFill>
                    <a:srgbClr val="6B7280"/>
                  </a:solidFill>
                  <a:latin typeface="+mn-lt"/>
                  <a:ea typeface="+mn-ea"/>
                  <a:cs typeface="+mn-cs"/>
                </a:rPr>
                <a:t>120%</a:t>
              </a:r>
            </a:p>
          </p:txBody>
        </p:sp>
        <p:sp>
          <p:nvSpPr>
            <p:cNvPr id="123" name="Ellipse 123"/>
            <p:cNvSpPr/>
            <p:nvPr/>
          </p:nvSpPr>
          <p:spPr>
            <a:xfrm>
              <a:off x="9067800" y="4457700"/>
              <a:ext cx="2438400" cy="1371600"/>
            </a:xfrm>
            <a:prstGeom prst="ellipse">
              <a:avLst/>
            </a:prstGeom>
            <a:noFill/>
            <a:ln w="14288">
              <a:solidFill>
                <a:srgbClr val="E8634C"/>
              </a:solidFill>
              <a:custDash>
                <a:ds d="400000" sp="266667"/>
              </a:custDash>
            </a:ln>
          </p:spPr>
        </p:sp>
        <p:sp>
          <p:nvSpPr>
            <p:cNvPr id="124" name="TextBox 124"/>
            <p:cNvSpPr txBox="1"/>
            <p:nvPr/>
          </p:nvSpPr>
          <p:spPr>
            <a:xfrm>
              <a:off x="10948988" y="4482941"/>
              <a:ext cx="451079" cy="161925"/>
            </a:xfrm>
            <a:prstGeom prst="rect">
              <a:avLst/>
            </a:prstGeom>
            <a:noFill/>
            <a:ln>
              <a:noFill/>
            </a:ln>
          </p:spPr>
          <p:txBody>
            <a:bodyPr wrap="none" lIns="0" tIns="0" rIns="0" bIns="0" anchor="t" anchorCtr="0">
              <a:spAutoFit/>
            </a:bodyPr>
            <a:lstStyle/>
            <a:p>
              <a:pPr algn="l"/>
              <a:r>
                <a:rPr lang="zh-CN" sz="820" dirty="0">
                  <a:solidFill>
                    <a:srgbClr val="E8634C"/>
                  </a:solidFill>
                  <a:latin typeface="+mn-lt"/>
                  <a:ea typeface="+mn-ea"/>
                  <a:cs typeface="+mn-cs"/>
                </a:rPr>
                <a:t>核心人群</a:t>
              </a:r>
            </a:p>
          </p:txBody>
        </p:sp>
        <p:sp>
          <p:nvSpPr>
            <p:cNvPr id="125" name="Ellipse 125"/>
            <p:cNvSpPr/>
            <p:nvPr/>
          </p:nvSpPr>
          <p:spPr>
            <a:xfrm>
              <a:off x="7334250" y="5391150"/>
              <a:ext cx="228600" cy="228600"/>
            </a:xfrm>
            <a:prstGeom prst="ellipse">
              <a:avLst/>
            </a:prstGeom>
            <a:solidFill>
              <a:srgbClr val="E08C7B"/>
            </a:solidFill>
            <a:ln>
              <a:noFill/>
            </a:ln>
          </p:spPr>
        </p:sp>
        <p:sp>
          <p:nvSpPr>
            <p:cNvPr id="126" name="TextBox 126"/>
            <p:cNvSpPr txBox="1"/>
            <p:nvPr/>
          </p:nvSpPr>
          <p:spPr>
            <a:xfrm>
              <a:off x="7037896" y="5265182"/>
              <a:ext cx="440309" cy="126206"/>
            </a:xfrm>
            <a:prstGeom prst="rect">
              <a:avLst/>
            </a:prstGeom>
            <a:noFill/>
            <a:ln>
              <a:noFill/>
            </a:ln>
          </p:spPr>
          <p:txBody>
            <a:bodyPr wrap="none" lIns="0" tIns="0" rIns="0" bIns="0" anchor="t" anchorCtr="0">
              <a:spAutoFit/>
            </a:bodyPr>
            <a:lstStyle/>
            <a:p>
              <a:pPr algn="ctr"/>
              <a:r>
                <a:rPr lang="zh-CN" sz="640" dirty="0">
                  <a:solidFill>
                    <a:srgbClr val="543E3A"/>
                  </a:solidFill>
                  <a:latin typeface="+mn-lt"/>
                  <a:ea typeface="+mn-ea"/>
                  <a:cs typeface="+mn-cs"/>
                </a:rPr>
                <a:t>小镇中老年</a:t>
              </a:r>
            </a:p>
          </p:txBody>
        </p:sp>
        <p:sp>
          <p:nvSpPr>
            <p:cNvPr id="127" name="Ellipse 127"/>
            <p:cNvSpPr/>
            <p:nvPr/>
          </p:nvSpPr>
          <p:spPr>
            <a:xfrm>
              <a:off x="7705725" y="5410200"/>
              <a:ext cx="304800" cy="304800"/>
            </a:xfrm>
            <a:prstGeom prst="ellipse">
              <a:avLst/>
            </a:prstGeom>
            <a:solidFill>
              <a:srgbClr val="C46D5B"/>
            </a:solidFill>
            <a:ln>
              <a:noFill/>
            </a:ln>
          </p:spPr>
        </p:sp>
        <p:sp>
          <p:nvSpPr>
            <p:cNvPr id="128" name="TextBox 128"/>
            <p:cNvSpPr txBox="1"/>
            <p:nvPr/>
          </p:nvSpPr>
          <p:spPr>
            <a:xfrm>
              <a:off x="7681049" y="5246132"/>
              <a:ext cx="354152" cy="126206"/>
            </a:xfrm>
            <a:prstGeom prst="rect">
              <a:avLst/>
            </a:prstGeom>
            <a:noFill/>
            <a:ln>
              <a:noFill/>
            </a:ln>
          </p:spPr>
          <p:txBody>
            <a:bodyPr wrap="none" lIns="0" tIns="0" rIns="0" bIns="0" anchor="t" anchorCtr="0">
              <a:spAutoFit/>
            </a:bodyPr>
            <a:lstStyle/>
            <a:p>
              <a:pPr algn="ctr"/>
              <a:r>
                <a:rPr lang="zh-CN" sz="640" dirty="0">
                  <a:solidFill>
                    <a:srgbClr val="543E3A"/>
                  </a:solidFill>
                  <a:latin typeface="+mn-lt"/>
                  <a:ea typeface="+mn-ea"/>
                  <a:cs typeface="+mn-cs"/>
                </a:rPr>
                <a:t>精致妈妈</a:t>
              </a:r>
            </a:p>
          </p:txBody>
        </p:sp>
        <p:sp>
          <p:nvSpPr>
            <p:cNvPr id="129" name="Ellipse 129"/>
            <p:cNvSpPr/>
            <p:nvPr/>
          </p:nvSpPr>
          <p:spPr>
            <a:xfrm>
              <a:off x="7772400" y="5895975"/>
              <a:ext cx="228600" cy="228600"/>
            </a:xfrm>
            <a:prstGeom prst="ellipse">
              <a:avLst/>
            </a:prstGeom>
            <a:solidFill>
              <a:srgbClr val="E08C7B"/>
            </a:solidFill>
            <a:ln>
              <a:noFill/>
            </a:ln>
          </p:spPr>
        </p:sp>
        <p:sp>
          <p:nvSpPr>
            <p:cNvPr id="130" name="TextBox 130"/>
            <p:cNvSpPr txBox="1"/>
            <p:nvPr/>
          </p:nvSpPr>
          <p:spPr>
            <a:xfrm>
              <a:off x="7519124" y="6093857"/>
              <a:ext cx="354152" cy="126206"/>
            </a:xfrm>
            <a:prstGeom prst="rect">
              <a:avLst/>
            </a:prstGeom>
            <a:noFill/>
            <a:ln>
              <a:noFill/>
            </a:ln>
          </p:spPr>
          <p:txBody>
            <a:bodyPr wrap="none" lIns="0" tIns="0" rIns="0" bIns="0" anchor="t" anchorCtr="0">
              <a:spAutoFit/>
            </a:bodyPr>
            <a:lstStyle/>
            <a:p>
              <a:pPr algn="ctr"/>
              <a:r>
                <a:rPr lang="zh-CN" sz="640" dirty="0">
                  <a:solidFill>
                    <a:srgbClr val="543E3A"/>
                  </a:solidFill>
                  <a:latin typeface="+mn-lt"/>
                  <a:ea typeface="+mn-ea"/>
                  <a:cs typeface="+mn-cs"/>
                </a:rPr>
                <a:t>小镇青年</a:t>
              </a:r>
            </a:p>
          </p:txBody>
        </p:sp>
        <p:sp>
          <p:nvSpPr>
            <p:cNvPr id="131" name="Ellipse 131"/>
            <p:cNvSpPr/>
            <p:nvPr/>
          </p:nvSpPr>
          <p:spPr>
            <a:xfrm>
              <a:off x="8324850" y="5391150"/>
              <a:ext cx="266700" cy="266700"/>
            </a:xfrm>
            <a:prstGeom prst="ellipse">
              <a:avLst/>
            </a:prstGeom>
            <a:solidFill>
              <a:srgbClr val="C45F4A"/>
            </a:solidFill>
            <a:ln>
              <a:noFill/>
            </a:ln>
          </p:spPr>
        </p:sp>
        <p:sp>
          <p:nvSpPr>
            <p:cNvPr id="132" name="TextBox 132"/>
            <p:cNvSpPr txBox="1"/>
            <p:nvPr/>
          </p:nvSpPr>
          <p:spPr>
            <a:xfrm>
              <a:off x="8281124" y="5246132"/>
              <a:ext cx="354152" cy="126206"/>
            </a:xfrm>
            <a:prstGeom prst="rect">
              <a:avLst/>
            </a:prstGeom>
            <a:noFill/>
            <a:ln>
              <a:noFill/>
            </a:ln>
          </p:spPr>
          <p:txBody>
            <a:bodyPr wrap="none" lIns="0" tIns="0" rIns="0" bIns="0" anchor="t" anchorCtr="0">
              <a:spAutoFit/>
            </a:bodyPr>
            <a:lstStyle/>
            <a:p>
              <a:pPr algn="ctr"/>
              <a:r>
                <a:rPr lang="zh-CN" sz="640" dirty="0">
                  <a:solidFill>
                    <a:srgbClr val="543E3A"/>
                  </a:solidFill>
                  <a:latin typeface="+mn-lt"/>
                  <a:ea typeface="+mn-ea"/>
                  <a:cs typeface="+mn-cs"/>
                </a:rPr>
                <a:t>都市银发</a:t>
              </a:r>
            </a:p>
          </p:txBody>
        </p:sp>
        <p:sp>
          <p:nvSpPr>
            <p:cNvPr id="133" name="Ellipse 133"/>
            <p:cNvSpPr/>
            <p:nvPr/>
          </p:nvSpPr>
          <p:spPr>
            <a:xfrm>
              <a:off x="8705850" y="5753100"/>
              <a:ext cx="266700" cy="266700"/>
            </a:xfrm>
            <a:prstGeom prst="ellipse">
              <a:avLst/>
            </a:prstGeom>
            <a:solidFill>
              <a:srgbClr val="C46D5B"/>
            </a:solidFill>
            <a:ln>
              <a:noFill/>
            </a:ln>
          </p:spPr>
        </p:sp>
        <p:sp>
          <p:nvSpPr>
            <p:cNvPr id="134" name="TextBox 134"/>
            <p:cNvSpPr txBox="1"/>
            <p:nvPr/>
          </p:nvSpPr>
          <p:spPr>
            <a:xfrm>
              <a:off x="8662124" y="6046232"/>
              <a:ext cx="354152" cy="126206"/>
            </a:xfrm>
            <a:prstGeom prst="rect">
              <a:avLst/>
            </a:prstGeom>
            <a:noFill/>
            <a:ln>
              <a:noFill/>
            </a:ln>
          </p:spPr>
          <p:txBody>
            <a:bodyPr wrap="none" lIns="0" tIns="0" rIns="0" bIns="0" anchor="t" anchorCtr="0">
              <a:spAutoFit/>
            </a:bodyPr>
            <a:lstStyle/>
            <a:p>
              <a:pPr algn="ctr"/>
              <a:r>
                <a:rPr lang="zh-CN" sz="640" dirty="0">
                  <a:solidFill>
                    <a:srgbClr val="543E3A"/>
                  </a:solidFill>
                  <a:latin typeface="+mn-lt"/>
                  <a:ea typeface="+mn-ea"/>
                  <a:cs typeface="+mn-cs"/>
                </a:rPr>
                <a:t>都市蓝领</a:t>
              </a:r>
            </a:p>
          </p:txBody>
        </p:sp>
        <p:sp>
          <p:nvSpPr>
            <p:cNvPr id="135" name="Ellipse 135"/>
            <p:cNvSpPr/>
            <p:nvPr/>
          </p:nvSpPr>
          <p:spPr>
            <a:xfrm>
              <a:off x="9020175" y="5819775"/>
              <a:ext cx="209550" cy="209550"/>
            </a:xfrm>
            <a:prstGeom prst="ellipse">
              <a:avLst/>
            </a:prstGeom>
            <a:solidFill>
              <a:srgbClr val="E08C7B"/>
            </a:solidFill>
            <a:ln>
              <a:noFill/>
            </a:ln>
          </p:spPr>
        </p:sp>
        <p:sp>
          <p:nvSpPr>
            <p:cNvPr id="136" name="TextBox 136"/>
            <p:cNvSpPr txBox="1"/>
            <p:nvPr/>
          </p:nvSpPr>
          <p:spPr>
            <a:xfrm>
              <a:off x="9291638" y="6027182"/>
              <a:ext cx="354152" cy="126206"/>
            </a:xfrm>
            <a:prstGeom prst="rect">
              <a:avLst/>
            </a:prstGeom>
            <a:noFill/>
            <a:ln>
              <a:noFill/>
            </a:ln>
          </p:spPr>
          <p:txBody>
            <a:bodyPr wrap="none" lIns="0" tIns="0" rIns="0" bIns="0" anchor="t" anchorCtr="0">
              <a:spAutoFit/>
            </a:bodyPr>
            <a:lstStyle/>
            <a:p>
              <a:pPr algn="l"/>
              <a:r>
                <a:rPr lang="zh-CN" sz="640" dirty="0">
                  <a:solidFill>
                    <a:srgbClr val="543E3A"/>
                  </a:solidFill>
                  <a:latin typeface="+mn-lt"/>
                  <a:ea typeface="+mn-ea"/>
                  <a:cs typeface="+mn-cs"/>
                </a:rPr>
                <a:t>资深中产</a:t>
              </a:r>
            </a:p>
          </p:txBody>
        </p:sp>
        <p:sp>
          <p:nvSpPr>
            <p:cNvPr id="137" name="Ellipse 137"/>
            <p:cNvSpPr/>
            <p:nvPr/>
          </p:nvSpPr>
          <p:spPr>
            <a:xfrm>
              <a:off x="9848850" y="5124450"/>
              <a:ext cx="342900" cy="342900"/>
            </a:xfrm>
            <a:prstGeom prst="ellipse">
              <a:avLst/>
            </a:prstGeom>
            <a:solidFill>
              <a:srgbClr val="E8634C"/>
            </a:solidFill>
            <a:ln>
              <a:noFill/>
            </a:ln>
          </p:spPr>
        </p:sp>
        <p:sp>
          <p:nvSpPr>
            <p:cNvPr id="138" name="TextBox 138"/>
            <p:cNvSpPr txBox="1"/>
            <p:nvPr/>
          </p:nvSpPr>
          <p:spPr>
            <a:xfrm>
              <a:off x="9901746" y="4960382"/>
              <a:ext cx="237109" cy="126206"/>
            </a:xfrm>
            <a:prstGeom prst="rect">
              <a:avLst/>
            </a:prstGeom>
            <a:noFill/>
            <a:ln>
              <a:noFill/>
            </a:ln>
          </p:spPr>
          <p:txBody>
            <a:bodyPr wrap="none" lIns="0" tIns="0" rIns="0" bIns="0" anchor="t" anchorCtr="0">
              <a:spAutoFit/>
            </a:bodyPr>
            <a:lstStyle/>
            <a:p>
              <a:pPr algn="ctr"/>
              <a:r>
                <a:rPr lang="en-US" sz="640" dirty="0">
                  <a:solidFill>
                    <a:srgbClr val="E8634C"/>
                  </a:solidFill>
                  <a:latin typeface="+mn-lt"/>
                  <a:ea typeface="+mn-ea"/>
                  <a:cs typeface="+mn-cs"/>
                </a:rPr>
                <a:t>GEN Z</a:t>
              </a:r>
            </a:p>
          </p:txBody>
        </p:sp>
        <p:sp>
          <p:nvSpPr>
            <p:cNvPr id="139" name="Ellipse 139"/>
            <p:cNvSpPr/>
            <p:nvPr/>
          </p:nvSpPr>
          <p:spPr>
            <a:xfrm>
              <a:off x="10458450" y="5010150"/>
              <a:ext cx="419100" cy="419100"/>
            </a:xfrm>
            <a:prstGeom prst="ellipse">
              <a:avLst/>
            </a:prstGeom>
            <a:solidFill>
              <a:srgbClr val="C45F4A"/>
            </a:solidFill>
            <a:ln>
              <a:noFill/>
            </a:ln>
          </p:spPr>
        </p:sp>
        <p:sp>
          <p:nvSpPr>
            <p:cNvPr id="140" name="TextBox 140"/>
            <p:cNvSpPr txBox="1"/>
            <p:nvPr/>
          </p:nvSpPr>
          <p:spPr>
            <a:xfrm>
              <a:off x="11091862" y="4979432"/>
              <a:ext cx="354152" cy="126206"/>
            </a:xfrm>
            <a:prstGeom prst="rect">
              <a:avLst/>
            </a:prstGeom>
            <a:noFill/>
            <a:ln>
              <a:noFill/>
            </a:ln>
          </p:spPr>
          <p:txBody>
            <a:bodyPr wrap="none" lIns="0" tIns="0" rIns="0" bIns="0" anchor="t" anchorCtr="0">
              <a:spAutoFit/>
            </a:bodyPr>
            <a:lstStyle/>
            <a:p>
              <a:pPr algn="l"/>
              <a:r>
                <a:rPr lang="zh-CN" sz="640" dirty="0">
                  <a:solidFill>
                    <a:srgbClr val="543E3A"/>
                  </a:solidFill>
                  <a:latin typeface="+mn-lt"/>
                  <a:ea typeface="+mn-ea"/>
                  <a:cs typeface="+mn-cs"/>
                </a:rPr>
                <a:t>新锐白领</a:t>
              </a:r>
            </a:p>
          </p:txBody>
        </p:sp>
        <p:sp>
          <p:nvSpPr>
            <p:cNvPr id="141" name="Rectangle 141"/>
            <p:cNvSpPr/>
            <p:nvPr/>
          </p:nvSpPr>
          <p:spPr>
            <a:xfrm>
              <a:off x="10687050" y="6143625"/>
              <a:ext cx="628650" cy="171450"/>
            </a:xfrm>
            <a:prstGeom prst="roundRect">
              <a:avLst>
                <a:gd name="adj" fmla="val 22222"/>
              </a:avLst>
            </a:prstGeom>
            <a:solidFill>
              <a:srgbClr val="E8EBF8"/>
            </a:solidFill>
            <a:ln>
              <a:noFill/>
            </a:ln>
          </p:spPr>
        </p:sp>
        <p:sp>
          <p:nvSpPr>
            <p:cNvPr id="142" name="TextBox 142"/>
            <p:cNvSpPr txBox="1"/>
            <p:nvPr/>
          </p:nvSpPr>
          <p:spPr>
            <a:xfrm>
              <a:off x="10813529" y="6194584"/>
              <a:ext cx="375691" cy="133350"/>
            </a:xfrm>
            <a:prstGeom prst="rect">
              <a:avLst/>
            </a:prstGeom>
            <a:noFill/>
            <a:ln>
              <a:noFill/>
            </a:ln>
          </p:spPr>
          <p:txBody>
            <a:bodyPr wrap="none" lIns="0" tIns="0" rIns="0" bIns="0" anchor="t" anchorCtr="0">
              <a:spAutoFit/>
            </a:bodyPr>
            <a:lstStyle/>
            <a:p>
              <a:pPr algn="ctr"/>
              <a:r>
                <a:rPr lang="zh-CN" sz="680" dirty="0">
                  <a:solidFill>
                    <a:srgbClr val="C46D5B"/>
                  </a:solidFill>
                  <a:latin typeface="+mn-lt"/>
                  <a:ea typeface="+mn-ea"/>
                  <a:cs typeface="+mn-cs"/>
                </a:rPr>
                <a:t>消费占比</a:t>
              </a:r>
            </a:p>
          </p:txBody>
        </p:sp>
      </p:gr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67</a:t>
              </a:r>
            </a:p>
          </p:txBody>
        </p:sp>
        <p:sp>
          <p:nvSpPr>
            <p:cNvPr id="4" name="TextBox 4"/>
            <p:cNvSpPr txBox="1"/>
            <p:nvPr/>
          </p:nvSpPr>
          <p:spPr>
            <a:xfrm>
              <a:off x="942594" y="151448"/>
              <a:ext cx="184420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产品市场变革​</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0" name="title-band"/>
          <p:cNvGrpSpPr/>
          <p:nvPr/>
        </p:nvGrpSpPr>
        <p:grpSpPr>
          <a:xfrm>
            <a:off x="2922956" y="762000"/>
            <a:ext cx="6346088" cy="583882"/>
            <a:chOff x="2922956" y="762000"/>
            <a:chExt cx="6346088" cy="583882"/>
          </a:xfrm>
        </p:grpSpPr>
        <p:sp>
          <p:nvSpPr>
            <p:cNvPr id="7" name="Rectangle 7"/>
            <p:cNvSpPr/>
            <p:nvPr/>
          </p:nvSpPr>
          <p:spPr>
            <a:xfrm>
              <a:off x="3714750" y="762000"/>
              <a:ext cx="4762500" cy="304800"/>
            </a:xfrm>
            <a:prstGeom prst="rect">
              <a:avLst/>
            </a:prstGeom>
            <a:solidFill>
              <a:srgbClr val="EEF1FB"/>
            </a:solidFill>
            <a:ln>
              <a:noFill/>
            </a:ln>
          </p:spPr>
        </p:sp>
        <p:sp>
          <p:nvSpPr>
            <p:cNvPr id="8" name="TextBox 8"/>
            <p:cNvSpPr txBox="1"/>
            <p:nvPr/>
          </p:nvSpPr>
          <p:spPr>
            <a:xfrm>
              <a:off x="5227955" y="843439"/>
              <a:ext cx="1736090" cy="249364"/>
            </a:xfrm>
            <a:prstGeom prst="rect">
              <a:avLst/>
            </a:prstGeom>
            <a:noFill/>
            <a:ln>
              <a:noFill/>
            </a:ln>
          </p:spPr>
          <p:txBody>
            <a:bodyPr wrap="none" lIns="0" tIns="0" rIns="0" bIns="0" anchor="t" anchorCtr="0">
              <a:spAutoFit/>
            </a:bodyPr>
            <a:lstStyle/>
            <a:p>
              <a:pPr algn="ctr"/>
              <a:r>
                <a:rPr lang="zh-CN" sz="1280" b="1" dirty="0">
                  <a:solidFill>
                    <a:srgbClr val="B8503B"/>
                  </a:solidFill>
                  <a:latin typeface="+mn-lt"/>
                  <a:ea typeface="+mn-ea"/>
                  <a:cs typeface="+mn-cs"/>
                </a:rPr>
                <a:t>中国产品批发市场概况</a:t>
              </a:r>
            </a:p>
          </p:txBody>
        </p:sp>
        <p:sp>
          <p:nvSpPr>
            <p:cNvPr id="9" name="TextBox 9"/>
            <p:cNvSpPr txBox="1"/>
            <p:nvPr/>
          </p:nvSpPr>
          <p:spPr>
            <a:xfrm>
              <a:off x="2922956" y="1169670"/>
              <a:ext cx="6346088"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行业普遍存在的环境秩序差、管理粗放、食品安全和溯源 体系缺失等问题，因此批发市场的数字化转型成为行业共识。</a:t>
              </a:r>
            </a:p>
          </p:txBody>
        </p:sp>
      </p:grpSp>
      <p:grpSp>
        <p:nvGrpSpPr>
          <p:cNvPr id="26" name="stats-band"/>
          <p:cNvGrpSpPr/>
          <p:nvPr/>
        </p:nvGrpSpPr>
        <p:grpSpPr>
          <a:xfrm>
            <a:off x="285750" y="1476375"/>
            <a:ext cx="11620500" cy="666750"/>
            <a:chOff x="285750" y="1476375"/>
            <a:chExt cx="11620500" cy="666750"/>
          </a:xfrm>
        </p:grpSpPr>
        <p:sp>
          <p:nvSpPr>
            <p:cNvPr id="11" name="Rectangle 11"/>
            <p:cNvSpPr/>
            <p:nvPr/>
          </p:nvSpPr>
          <p:spPr>
            <a:xfrm>
              <a:off x="285750" y="1476375"/>
              <a:ext cx="2171700" cy="666750"/>
            </a:xfrm>
            <a:prstGeom prst="rect">
              <a:avLst/>
            </a:prstGeom>
            <a:solidFill>
              <a:srgbClr val="FFFFFF"/>
            </a:solidFill>
            <a:ln w="14288">
              <a:solidFill>
                <a:srgbClr val="ECC1B8"/>
              </a:solidFill>
            </a:ln>
          </p:spPr>
        </p:sp>
        <p:sp>
          <p:nvSpPr>
            <p:cNvPr id="12" name="TextBox 12"/>
            <p:cNvSpPr txBox="1"/>
            <p:nvPr/>
          </p:nvSpPr>
          <p:spPr>
            <a:xfrm>
              <a:off x="1020496" y="1643539"/>
              <a:ext cx="702208" cy="249364"/>
            </a:xfrm>
            <a:prstGeom prst="rect">
              <a:avLst/>
            </a:prstGeom>
            <a:noFill/>
            <a:ln>
              <a:noFill/>
            </a:ln>
          </p:spPr>
          <p:txBody>
            <a:bodyPr wrap="none" lIns="0" tIns="0" rIns="0" bIns="0" anchor="t" anchorCtr="0">
              <a:spAutoFit/>
            </a:bodyPr>
            <a:lstStyle/>
            <a:p>
              <a:pPr algn="ctr"/>
              <a:r>
                <a:rPr lang="zh-CN" sz="1280" b="1" dirty="0">
                  <a:solidFill>
                    <a:srgbClr val="B8503B"/>
                  </a:solidFill>
                  <a:latin typeface="+mn-lt"/>
                  <a:ea typeface="+mn-ea"/>
                  <a:cs typeface="+mn-cs"/>
                </a:rPr>
                <a:t>超过千家</a:t>
              </a:r>
            </a:p>
          </p:txBody>
        </p:sp>
        <p:sp>
          <p:nvSpPr>
            <p:cNvPr id="13" name="TextBox 13"/>
            <p:cNvSpPr txBox="1"/>
            <p:nvPr/>
          </p:nvSpPr>
          <p:spPr>
            <a:xfrm>
              <a:off x="862012" y="1919288"/>
              <a:ext cx="1019175" cy="147638"/>
            </a:xfrm>
            <a:prstGeom prst="rect">
              <a:avLst/>
            </a:prstGeom>
            <a:noFill/>
            <a:ln>
              <a:noFill/>
            </a:ln>
          </p:spPr>
          <p:txBody>
            <a:bodyPr wrap="none" lIns="0" tIns="0" rIns="0" bIns="0" anchor="t" anchorCtr="0">
              <a:spAutoFit/>
            </a:bodyPr>
            <a:lstStyle/>
            <a:p>
              <a:pPr algn="ctr"/>
              <a:r>
                <a:rPr lang="zh-CN" sz="750" dirty="0">
                  <a:solidFill>
                    <a:srgbClr val="88706B"/>
                  </a:solidFill>
                  <a:latin typeface="+mn-lt"/>
                  <a:ea typeface="+mn-ea"/>
                  <a:cs typeface="+mn-cs"/>
                </a:rPr>
                <a:t>亿元以上产品批发市场</a:t>
              </a:r>
            </a:p>
          </p:txBody>
        </p:sp>
        <p:sp>
          <p:nvSpPr>
            <p:cNvPr id="14" name="Rectangle 14"/>
            <p:cNvSpPr/>
            <p:nvPr/>
          </p:nvSpPr>
          <p:spPr>
            <a:xfrm>
              <a:off x="2647950" y="1476375"/>
              <a:ext cx="2171700" cy="666750"/>
            </a:xfrm>
            <a:prstGeom prst="rect">
              <a:avLst/>
            </a:prstGeom>
            <a:solidFill>
              <a:srgbClr val="FFFFFF"/>
            </a:solidFill>
            <a:ln w="14288">
              <a:solidFill>
                <a:srgbClr val="ECC1B8"/>
              </a:solidFill>
            </a:ln>
          </p:spPr>
        </p:sp>
        <p:sp>
          <p:nvSpPr>
            <p:cNvPr id="15" name="TextBox 15"/>
            <p:cNvSpPr txBox="1"/>
            <p:nvPr/>
          </p:nvSpPr>
          <p:spPr>
            <a:xfrm>
              <a:off x="3269830" y="1643539"/>
              <a:ext cx="927939" cy="249364"/>
            </a:xfrm>
            <a:prstGeom prst="rect">
              <a:avLst/>
            </a:prstGeom>
            <a:noFill/>
            <a:ln>
              <a:noFill/>
            </a:ln>
          </p:spPr>
          <p:txBody>
            <a:bodyPr wrap="none" lIns="0" tIns="0" rIns="0" bIns="0" anchor="t" anchorCtr="0">
              <a:spAutoFit/>
            </a:bodyPr>
            <a:lstStyle/>
            <a:p>
              <a:pPr algn="ctr"/>
              <a:r>
                <a:rPr lang="zh-CN" sz="1280" b="1" dirty="0">
                  <a:solidFill>
                    <a:srgbClr val="B8503B"/>
                  </a:solidFill>
                  <a:latin typeface="+mn-lt"/>
                  <a:ea typeface="+mn-ea"/>
                  <a:cs typeface="+mn-cs"/>
                </a:rPr>
                <a:t>近300万个​</a:t>
              </a:r>
            </a:p>
          </p:txBody>
        </p:sp>
        <p:sp>
          <p:nvSpPr>
            <p:cNvPr id="16" name="TextBox 16"/>
            <p:cNvSpPr txBox="1"/>
            <p:nvPr/>
          </p:nvSpPr>
          <p:spPr>
            <a:xfrm>
              <a:off x="3224212" y="1919288"/>
              <a:ext cx="1019175" cy="147638"/>
            </a:xfrm>
            <a:prstGeom prst="rect">
              <a:avLst/>
            </a:prstGeom>
            <a:noFill/>
            <a:ln>
              <a:noFill/>
            </a:ln>
          </p:spPr>
          <p:txBody>
            <a:bodyPr wrap="none" lIns="0" tIns="0" rIns="0" bIns="0" anchor="t" anchorCtr="0">
              <a:spAutoFit/>
            </a:bodyPr>
            <a:lstStyle/>
            <a:p>
              <a:pPr algn="ctr"/>
              <a:r>
                <a:rPr lang="zh-CN" sz="750" dirty="0">
                  <a:solidFill>
                    <a:srgbClr val="88706B"/>
                  </a:solidFill>
                  <a:latin typeface="+mn-lt"/>
                  <a:ea typeface="+mn-ea"/>
                  <a:cs typeface="+mn-cs"/>
                </a:rPr>
                <a:t>固定摊位和非固定摊位</a:t>
              </a:r>
            </a:p>
          </p:txBody>
        </p:sp>
        <p:sp>
          <p:nvSpPr>
            <p:cNvPr id="17" name="Rectangle 17"/>
            <p:cNvSpPr/>
            <p:nvPr/>
          </p:nvSpPr>
          <p:spPr>
            <a:xfrm>
              <a:off x="5010150" y="1476375"/>
              <a:ext cx="2171700" cy="666750"/>
            </a:xfrm>
            <a:prstGeom prst="rect">
              <a:avLst/>
            </a:prstGeom>
            <a:solidFill>
              <a:srgbClr val="FFFFFF"/>
            </a:solidFill>
            <a:ln w="14288">
              <a:solidFill>
                <a:srgbClr val="ECC1B8"/>
              </a:solidFill>
            </a:ln>
          </p:spPr>
        </p:sp>
        <p:sp>
          <p:nvSpPr>
            <p:cNvPr id="18" name="TextBox 18"/>
            <p:cNvSpPr txBox="1"/>
            <p:nvPr/>
          </p:nvSpPr>
          <p:spPr>
            <a:xfrm>
              <a:off x="5532519" y="1643539"/>
              <a:ext cx="1126961" cy="249364"/>
            </a:xfrm>
            <a:prstGeom prst="rect">
              <a:avLst/>
            </a:prstGeom>
            <a:noFill/>
            <a:ln>
              <a:noFill/>
            </a:ln>
          </p:spPr>
          <p:txBody>
            <a:bodyPr wrap="none" lIns="0" tIns="0" rIns="0" bIns="0" anchor="t" anchorCtr="0">
              <a:spAutoFit/>
            </a:bodyPr>
            <a:lstStyle/>
            <a:p>
              <a:pPr algn="ctr"/>
              <a:r>
                <a:rPr lang="zh-CN" sz="1280" b="1" dirty="0">
                  <a:solidFill>
                    <a:srgbClr val="B8503B"/>
                  </a:solidFill>
                  <a:latin typeface="+mn-lt"/>
                  <a:ea typeface="+mn-ea"/>
                  <a:cs typeface="+mn-cs"/>
                </a:rPr>
                <a:t>17267万平米​</a:t>
              </a:r>
            </a:p>
          </p:txBody>
        </p:sp>
        <p:sp>
          <p:nvSpPr>
            <p:cNvPr id="19" name="TextBox 19"/>
            <p:cNvSpPr txBox="1"/>
            <p:nvPr/>
          </p:nvSpPr>
          <p:spPr>
            <a:xfrm>
              <a:off x="5838825" y="1919288"/>
              <a:ext cx="514350" cy="147638"/>
            </a:xfrm>
            <a:prstGeom prst="rect">
              <a:avLst/>
            </a:prstGeom>
            <a:noFill/>
            <a:ln>
              <a:noFill/>
            </a:ln>
          </p:spPr>
          <p:txBody>
            <a:bodyPr wrap="none" lIns="0" tIns="0" rIns="0" bIns="0" anchor="t" anchorCtr="0">
              <a:spAutoFit/>
            </a:bodyPr>
            <a:lstStyle/>
            <a:p>
              <a:pPr algn="ctr"/>
              <a:r>
                <a:rPr lang="zh-CN" sz="750" dirty="0">
                  <a:solidFill>
                    <a:srgbClr val="88706B"/>
                  </a:solidFill>
                  <a:latin typeface="+mn-lt"/>
                  <a:ea typeface="+mn-ea"/>
                  <a:cs typeface="+mn-cs"/>
                </a:rPr>
                <a:t>总交易面积</a:t>
              </a:r>
            </a:p>
          </p:txBody>
        </p:sp>
        <p:sp>
          <p:nvSpPr>
            <p:cNvPr id="20" name="Rectangle 20"/>
            <p:cNvSpPr/>
            <p:nvPr/>
          </p:nvSpPr>
          <p:spPr>
            <a:xfrm>
              <a:off x="7372350" y="1476375"/>
              <a:ext cx="2171700" cy="666750"/>
            </a:xfrm>
            <a:prstGeom prst="rect">
              <a:avLst/>
            </a:prstGeom>
            <a:solidFill>
              <a:srgbClr val="FFFFFF"/>
            </a:solidFill>
            <a:ln w="14288">
              <a:solidFill>
                <a:srgbClr val="ECC1B8"/>
              </a:solidFill>
            </a:ln>
          </p:spPr>
        </p:sp>
        <p:sp>
          <p:nvSpPr>
            <p:cNvPr id="21" name="TextBox 21"/>
            <p:cNvSpPr txBox="1"/>
            <p:nvPr/>
          </p:nvSpPr>
          <p:spPr>
            <a:xfrm>
              <a:off x="8080387" y="1643539"/>
              <a:ext cx="755626" cy="249364"/>
            </a:xfrm>
            <a:prstGeom prst="rect">
              <a:avLst/>
            </a:prstGeom>
            <a:noFill/>
            <a:ln>
              <a:noFill/>
            </a:ln>
          </p:spPr>
          <p:txBody>
            <a:bodyPr wrap="none" lIns="0" tIns="0" rIns="0" bIns="0" anchor="t" anchorCtr="0">
              <a:spAutoFit/>
            </a:bodyPr>
            <a:lstStyle/>
            <a:p>
              <a:pPr algn="ctr"/>
              <a:r>
                <a:rPr lang="zh-CN" sz="1280" b="1" dirty="0">
                  <a:solidFill>
                    <a:srgbClr val="B8503B"/>
                  </a:solidFill>
                  <a:latin typeface="+mn-lt"/>
                  <a:ea typeface="+mn-ea"/>
                  <a:cs typeface="+mn-cs"/>
                </a:rPr>
                <a:t>236万个​</a:t>
              </a:r>
            </a:p>
          </p:txBody>
        </p:sp>
        <p:sp>
          <p:nvSpPr>
            <p:cNvPr id="22" name="TextBox 22"/>
            <p:cNvSpPr txBox="1"/>
            <p:nvPr/>
          </p:nvSpPr>
          <p:spPr>
            <a:xfrm>
              <a:off x="8301990" y="1919288"/>
              <a:ext cx="312420" cy="147638"/>
            </a:xfrm>
            <a:prstGeom prst="rect">
              <a:avLst/>
            </a:prstGeom>
            <a:noFill/>
            <a:ln>
              <a:noFill/>
            </a:ln>
          </p:spPr>
          <p:txBody>
            <a:bodyPr wrap="none" lIns="0" tIns="0" rIns="0" bIns="0" anchor="t" anchorCtr="0">
              <a:spAutoFit/>
            </a:bodyPr>
            <a:lstStyle/>
            <a:p>
              <a:pPr algn="ctr"/>
              <a:r>
                <a:rPr lang="zh-CN" sz="750" dirty="0">
                  <a:solidFill>
                    <a:srgbClr val="88706B"/>
                  </a:solidFill>
                  <a:latin typeface="+mn-lt"/>
                  <a:ea typeface="+mn-ea"/>
                  <a:cs typeface="+mn-cs"/>
                </a:rPr>
                <a:t>经销商</a:t>
              </a:r>
            </a:p>
          </p:txBody>
        </p:sp>
        <p:sp>
          <p:nvSpPr>
            <p:cNvPr id="23" name="Rectangle 23"/>
            <p:cNvSpPr/>
            <p:nvPr/>
          </p:nvSpPr>
          <p:spPr>
            <a:xfrm>
              <a:off x="9734550" y="1476375"/>
              <a:ext cx="2171700" cy="666750"/>
            </a:xfrm>
            <a:prstGeom prst="rect">
              <a:avLst/>
            </a:prstGeom>
            <a:solidFill>
              <a:srgbClr val="FFFFFF"/>
            </a:solidFill>
            <a:ln w="14288">
              <a:solidFill>
                <a:srgbClr val="ECC1B8"/>
              </a:solidFill>
            </a:ln>
          </p:spPr>
        </p:sp>
        <p:sp>
          <p:nvSpPr>
            <p:cNvPr id="24" name="TextBox 24"/>
            <p:cNvSpPr txBox="1"/>
            <p:nvPr/>
          </p:nvSpPr>
          <p:spPr>
            <a:xfrm>
              <a:off x="10515390" y="1643539"/>
              <a:ext cx="610021" cy="249364"/>
            </a:xfrm>
            <a:prstGeom prst="rect">
              <a:avLst/>
            </a:prstGeom>
            <a:noFill/>
            <a:ln>
              <a:noFill/>
            </a:ln>
          </p:spPr>
          <p:txBody>
            <a:bodyPr wrap="none" lIns="0" tIns="0" rIns="0" bIns="0" anchor="t" anchorCtr="0">
              <a:spAutoFit/>
            </a:bodyPr>
            <a:lstStyle/>
            <a:p>
              <a:pPr algn="ctr"/>
              <a:r>
                <a:rPr lang="zh-CN" sz="1280" b="1" dirty="0">
                  <a:solidFill>
                    <a:srgbClr val="B8503B"/>
                  </a:solidFill>
                  <a:latin typeface="+mn-lt"/>
                  <a:ea typeface="+mn-ea"/>
                  <a:cs typeface="+mn-cs"/>
                </a:rPr>
                <a:t>4700+​</a:t>
              </a:r>
            </a:p>
          </p:txBody>
        </p:sp>
        <p:sp>
          <p:nvSpPr>
            <p:cNvPr id="25" name="TextBox 25"/>
            <p:cNvSpPr txBox="1"/>
            <p:nvPr/>
          </p:nvSpPr>
          <p:spPr>
            <a:xfrm>
              <a:off x="10310812" y="1919288"/>
              <a:ext cx="1019175" cy="147638"/>
            </a:xfrm>
            <a:prstGeom prst="rect">
              <a:avLst/>
            </a:prstGeom>
            <a:noFill/>
            <a:ln>
              <a:noFill/>
            </a:ln>
          </p:spPr>
          <p:txBody>
            <a:bodyPr wrap="none" lIns="0" tIns="0" rIns="0" bIns="0" anchor="t" anchorCtr="0">
              <a:spAutoFit/>
            </a:bodyPr>
            <a:lstStyle/>
            <a:p>
              <a:pPr algn="ctr"/>
              <a:r>
                <a:rPr lang="zh-CN" sz="750" dirty="0">
                  <a:solidFill>
                    <a:srgbClr val="88706B"/>
                  </a:solidFill>
                  <a:latin typeface="+mn-lt"/>
                  <a:ea typeface="+mn-ea"/>
                  <a:cs typeface="+mn-cs"/>
                </a:rPr>
                <a:t>家上规模产品批发市场</a:t>
              </a:r>
            </a:p>
          </p:txBody>
        </p:sp>
      </p:grpSp>
      <p:grpSp>
        <p:nvGrpSpPr>
          <p:cNvPr id="110" name="flow-chain"/>
          <p:cNvGrpSpPr/>
          <p:nvPr/>
        </p:nvGrpSpPr>
        <p:grpSpPr>
          <a:xfrm>
            <a:off x="381000" y="2438400"/>
            <a:ext cx="11525250" cy="3006805"/>
            <a:chOff x="381000" y="2438400"/>
            <a:chExt cx="11525250" cy="3006805"/>
          </a:xfrm>
        </p:grpSpPr>
        <p:sp>
          <p:nvSpPr>
            <p:cNvPr id="27" name="Freeform 27"/>
            <p:cNvSpPr/>
            <p:nvPr/>
          </p:nvSpPr>
          <p:spPr>
            <a:xfrm>
              <a:off x="381000" y="4175125"/>
              <a:ext cx="11525250" cy="1063625"/>
            </a:xfrm>
            <a:custGeom>
              <a:avLst/>
              <a:gdLst/>
              <a:ahLst/>
              <a:cxnLst/>
              <a:rect l="l" t="t" r="r" b="b"/>
              <a:pathLst>
                <a:path w="11525250" h="1063625">
                  <a:moveTo>
                    <a:pt x="0" y="968375"/>
                  </a:moveTo>
                  <a:cubicBezTo>
                    <a:pt x="508000" y="587375"/>
                    <a:pt x="1016000" y="530225"/>
                    <a:pt x="1524000" y="796925"/>
                  </a:cubicBezTo>
                  <a:cubicBezTo>
                    <a:pt x="2032000" y="1063625"/>
                    <a:pt x="2619375" y="1041400"/>
                    <a:pt x="3286125" y="730250"/>
                  </a:cubicBezTo>
                  <a:cubicBezTo>
                    <a:pt x="3762375" y="666750"/>
                    <a:pt x="4143375" y="508000"/>
                    <a:pt x="4429125" y="254000"/>
                  </a:cubicBezTo>
                  <a:cubicBezTo>
                    <a:pt x="4714875" y="0"/>
                    <a:pt x="5080000" y="15875"/>
                    <a:pt x="5524500" y="301625"/>
                  </a:cubicBezTo>
                  <a:cubicBezTo>
                    <a:pt x="5778500" y="460375"/>
                    <a:pt x="6000750" y="603250"/>
                    <a:pt x="6191250" y="730250"/>
                  </a:cubicBezTo>
                  <a:cubicBezTo>
                    <a:pt x="6889750" y="508000"/>
                    <a:pt x="7556500" y="444500"/>
                    <a:pt x="8191500" y="539750"/>
                  </a:cubicBezTo>
                  <a:cubicBezTo>
                    <a:pt x="8826500" y="635000"/>
                    <a:pt x="9620250" y="555625"/>
                    <a:pt x="10572750" y="301625"/>
                  </a:cubicBezTo>
                  <a:cubicBezTo>
                    <a:pt x="10953750" y="250825"/>
                    <a:pt x="11271250" y="250825"/>
                    <a:pt x="11525250" y="301625"/>
                  </a:cubicBezTo>
                </a:path>
              </a:pathLst>
            </a:custGeom>
            <a:noFill/>
            <a:ln w="19050">
              <a:solidFill>
                <a:srgbClr val="C9D2EE"/>
              </a:solidFill>
            </a:ln>
          </p:spPr>
        </p:sp>
        <p:grpSp>
          <p:nvGrpSpPr>
            <p:cNvPr id="36" name="Group 36"/>
            <p:cNvGrpSpPr/>
            <p:nvPr/>
          </p:nvGrpSpPr>
          <p:grpSpPr>
            <a:xfrm>
              <a:off x="5029200" y="2438400"/>
              <a:ext cx="228599" cy="238124"/>
              <a:chOff x="5029200" y="2438400"/>
              <a:chExt cx="228599" cy="238124"/>
            </a:xfrm>
          </p:grpSpPr>
          <p:sp>
            <p:nvSpPr>
              <p:cNvPr id="28" name="Freeform 28"/>
              <p:cNvSpPr/>
              <p:nvPr/>
            </p:nvSpPr>
            <p:spPr>
              <a:xfrm>
                <a:off x="5029200" y="2666999"/>
                <a:ext cx="228599" cy="9525"/>
              </a:xfrm>
              <a:custGeom>
                <a:avLst/>
                <a:gdLst/>
                <a:ahLst/>
                <a:cxnLst/>
                <a:rect l="l" t="t" r="r" b="b"/>
                <a:pathLst>
                  <a:path w="228599" h="9525">
                    <a:moveTo>
                      <a:pt x="0" y="0"/>
                    </a:moveTo>
                    <a:lnTo>
                      <a:pt x="228599" y="0"/>
                    </a:lnTo>
                  </a:path>
                </a:pathLst>
              </a:custGeom>
              <a:noFill/>
              <a:ln w="25400">
                <a:solidFill>
                  <a:srgbClr val="B8503B"/>
                </a:solidFill>
              </a:ln>
            </p:spPr>
          </p:sp>
          <p:sp>
            <p:nvSpPr>
              <p:cNvPr id="29" name="Freeform 29"/>
              <p:cNvSpPr/>
              <p:nvPr/>
            </p:nvSpPr>
            <p:spPr>
              <a:xfrm>
                <a:off x="5029200" y="2527300"/>
                <a:ext cx="228599" cy="9525"/>
              </a:xfrm>
              <a:custGeom>
                <a:avLst/>
                <a:gdLst/>
                <a:ahLst/>
                <a:cxnLst/>
                <a:rect l="l" t="t" r="r" b="b"/>
                <a:pathLst>
                  <a:path w="228599" h="9525">
                    <a:moveTo>
                      <a:pt x="0" y="0"/>
                    </a:moveTo>
                    <a:lnTo>
                      <a:pt x="228599" y="0"/>
                    </a:lnTo>
                  </a:path>
                </a:pathLst>
              </a:custGeom>
              <a:noFill/>
              <a:ln w="25400">
                <a:solidFill>
                  <a:srgbClr val="B8503B"/>
                </a:solidFill>
              </a:ln>
            </p:spPr>
          </p:sp>
          <p:sp>
            <p:nvSpPr>
              <p:cNvPr id="30" name="Freeform 30"/>
              <p:cNvSpPr/>
              <p:nvPr/>
            </p:nvSpPr>
            <p:spPr>
              <a:xfrm>
                <a:off x="5054600" y="2438400"/>
                <a:ext cx="177800" cy="38100"/>
              </a:xfrm>
              <a:custGeom>
                <a:avLst/>
                <a:gdLst/>
                <a:ahLst/>
                <a:cxnLst/>
                <a:rect l="l" t="t" r="r" b="b"/>
                <a:pathLst>
                  <a:path w="177800" h="38100">
                    <a:moveTo>
                      <a:pt x="0" y="38100"/>
                    </a:moveTo>
                    <a:lnTo>
                      <a:pt x="88900" y="0"/>
                    </a:lnTo>
                    <a:lnTo>
                      <a:pt x="177800" y="38100"/>
                    </a:lnTo>
                  </a:path>
                </a:pathLst>
              </a:custGeom>
              <a:noFill/>
              <a:ln w="25400">
                <a:solidFill>
                  <a:srgbClr val="B8503B"/>
                </a:solidFill>
              </a:ln>
            </p:spPr>
          </p:sp>
          <p:sp>
            <p:nvSpPr>
              <p:cNvPr id="31" name="Freeform 31"/>
              <p:cNvSpPr/>
              <p:nvPr/>
            </p:nvSpPr>
            <p:spPr>
              <a:xfrm>
                <a:off x="5041900" y="2527300"/>
                <a:ext cx="9525" cy="139700"/>
              </a:xfrm>
              <a:custGeom>
                <a:avLst/>
                <a:gdLst/>
                <a:ahLst/>
                <a:cxnLst/>
                <a:rect l="l" t="t" r="r" b="b"/>
                <a:pathLst>
                  <a:path w="9525" h="139700">
                    <a:moveTo>
                      <a:pt x="0" y="0"/>
                    </a:moveTo>
                    <a:lnTo>
                      <a:pt x="0" y="139700"/>
                    </a:lnTo>
                  </a:path>
                </a:pathLst>
              </a:custGeom>
              <a:noFill/>
              <a:ln w="25400">
                <a:solidFill>
                  <a:srgbClr val="B8503B"/>
                </a:solidFill>
              </a:ln>
            </p:spPr>
          </p:sp>
          <p:sp>
            <p:nvSpPr>
              <p:cNvPr id="32" name="Freeform 32"/>
              <p:cNvSpPr/>
              <p:nvPr/>
            </p:nvSpPr>
            <p:spPr>
              <a:xfrm>
                <a:off x="5245099" y="2527300"/>
                <a:ext cx="9525" cy="139700"/>
              </a:xfrm>
              <a:custGeom>
                <a:avLst/>
                <a:gdLst/>
                <a:ahLst/>
                <a:cxnLst/>
                <a:rect l="l" t="t" r="r" b="b"/>
                <a:pathLst>
                  <a:path w="9525" h="139700">
                    <a:moveTo>
                      <a:pt x="0" y="0"/>
                    </a:moveTo>
                    <a:lnTo>
                      <a:pt x="0" y="139700"/>
                    </a:lnTo>
                  </a:path>
                </a:pathLst>
              </a:custGeom>
              <a:noFill/>
              <a:ln w="25400">
                <a:solidFill>
                  <a:srgbClr val="B8503B"/>
                </a:solidFill>
              </a:ln>
            </p:spPr>
          </p:sp>
          <p:sp>
            <p:nvSpPr>
              <p:cNvPr id="33" name="Freeform 33"/>
              <p:cNvSpPr/>
              <p:nvPr/>
            </p:nvSpPr>
            <p:spPr>
              <a:xfrm>
                <a:off x="5092700" y="2578100"/>
                <a:ext cx="9525" cy="38100"/>
              </a:xfrm>
              <a:custGeom>
                <a:avLst/>
                <a:gdLst/>
                <a:ahLst/>
                <a:cxnLst/>
                <a:rect l="l" t="t" r="r" b="b"/>
                <a:pathLst>
                  <a:path w="9525" h="38100">
                    <a:moveTo>
                      <a:pt x="0" y="0"/>
                    </a:moveTo>
                    <a:lnTo>
                      <a:pt x="0" y="38100"/>
                    </a:lnTo>
                  </a:path>
                </a:pathLst>
              </a:custGeom>
              <a:noFill/>
              <a:ln w="25400">
                <a:solidFill>
                  <a:srgbClr val="B8503B"/>
                </a:solidFill>
              </a:ln>
            </p:spPr>
          </p:sp>
          <p:sp>
            <p:nvSpPr>
              <p:cNvPr id="34" name="Freeform 34"/>
              <p:cNvSpPr/>
              <p:nvPr/>
            </p:nvSpPr>
            <p:spPr>
              <a:xfrm>
                <a:off x="5143500" y="2578100"/>
                <a:ext cx="9525" cy="38100"/>
              </a:xfrm>
              <a:custGeom>
                <a:avLst/>
                <a:gdLst/>
                <a:ahLst/>
                <a:cxnLst/>
                <a:rect l="l" t="t" r="r" b="b"/>
                <a:pathLst>
                  <a:path w="9525" h="38100">
                    <a:moveTo>
                      <a:pt x="0" y="0"/>
                    </a:moveTo>
                    <a:lnTo>
                      <a:pt x="0" y="38100"/>
                    </a:lnTo>
                  </a:path>
                </a:pathLst>
              </a:custGeom>
              <a:noFill/>
              <a:ln w="25400">
                <a:solidFill>
                  <a:srgbClr val="B8503B"/>
                </a:solidFill>
              </a:ln>
            </p:spPr>
          </p:sp>
          <p:sp>
            <p:nvSpPr>
              <p:cNvPr id="35" name="Freeform 35"/>
              <p:cNvSpPr/>
              <p:nvPr/>
            </p:nvSpPr>
            <p:spPr>
              <a:xfrm>
                <a:off x="5194299" y="2578100"/>
                <a:ext cx="9525" cy="38100"/>
              </a:xfrm>
              <a:custGeom>
                <a:avLst/>
                <a:gdLst/>
                <a:ahLst/>
                <a:cxnLst/>
                <a:rect l="l" t="t" r="r" b="b"/>
                <a:pathLst>
                  <a:path w="9525" h="38100">
                    <a:moveTo>
                      <a:pt x="0" y="0"/>
                    </a:moveTo>
                    <a:lnTo>
                      <a:pt x="0" y="38100"/>
                    </a:lnTo>
                  </a:path>
                </a:pathLst>
              </a:custGeom>
              <a:noFill/>
              <a:ln w="25400">
                <a:solidFill>
                  <a:srgbClr val="B8503B"/>
                </a:solidFill>
              </a:ln>
            </p:spPr>
          </p:sp>
        </p:grpSp>
        <p:sp>
          <p:nvSpPr>
            <p:cNvPr id="37" name="TextBox 37"/>
            <p:cNvSpPr txBox="1"/>
            <p:nvPr/>
          </p:nvSpPr>
          <p:spPr>
            <a:xfrm>
              <a:off x="4917961" y="2825591"/>
              <a:ext cx="451079" cy="161925"/>
            </a:xfrm>
            <a:prstGeom prst="rect">
              <a:avLst/>
            </a:prstGeom>
            <a:noFill/>
            <a:ln>
              <a:noFill/>
            </a:ln>
          </p:spPr>
          <p:txBody>
            <a:bodyPr wrap="none" lIns="0" tIns="0" rIns="0" bIns="0" anchor="t" anchorCtr="0">
              <a:spAutoFit/>
            </a:bodyPr>
            <a:lstStyle/>
            <a:p>
              <a:pPr algn="ctr"/>
              <a:r>
                <a:rPr lang="zh-CN" sz="820" b="1" dirty="0">
                  <a:solidFill>
                    <a:srgbClr val="543E3A"/>
                  </a:solidFill>
                  <a:latin typeface="+mn-lt"/>
                  <a:ea typeface="+mn-ea"/>
                  <a:cs typeface="+mn-cs"/>
                </a:rPr>
                <a:t>政府监管</a:t>
              </a:r>
            </a:p>
          </p:txBody>
        </p:sp>
        <p:sp>
          <p:nvSpPr>
            <p:cNvPr id="38" name="Line 38"/>
            <p:cNvSpPr/>
            <p:nvPr/>
          </p:nvSpPr>
          <p:spPr>
            <a:xfrm>
              <a:off x="5143500" y="2971800"/>
              <a:ext cx="1" cy="171450"/>
            </a:xfrm>
            <a:prstGeom prst="line">
              <a:avLst/>
            </a:prstGeom>
            <a:noFill/>
            <a:ln w="19050">
              <a:solidFill>
                <a:srgbClr val="C45F4A"/>
              </a:solidFill>
              <a:tailEnd type="triangle" w="lg" len="lg"/>
            </a:ln>
          </p:spPr>
        </p:sp>
        <p:sp>
          <p:nvSpPr>
            <p:cNvPr id="39" name="Ellipse 39"/>
            <p:cNvSpPr/>
            <p:nvPr/>
          </p:nvSpPr>
          <p:spPr>
            <a:xfrm>
              <a:off x="4667250" y="3190875"/>
              <a:ext cx="952500" cy="952500"/>
            </a:xfrm>
            <a:prstGeom prst="ellipse">
              <a:avLst/>
            </a:prstGeom>
            <a:gradFill>
              <a:gsLst>
                <a:gs pos="0">
                  <a:srgbClr val="F07E6A"/>
                </a:gs>
                <a:gs pos="100000">
                  <a:srgbClr val="DD5740"/>
                </a:gs>
              </a:gsLst>
              <a:path path="circle">
                <a:fillToRect l="40000" t="35000" r="60000" b="65000"/>
              </a:path>
            </a:gradFill>
            <a:ln>
              <a:noFill/>
            </a:ln>
          </p:spPr>
        </p:sp>
        <p:sp>
          <p:nvSpPr>
            <p:cNvPr id="40" name="TextBox 40"/>
            <p:cNvSpPr txBox="1"/>
            <p:nvPr/>
          </p:nvSpPr>
          <p:spPr>
            <a:xfrm>
              <a:off x="4874692" y="36190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批发市场</a:t>
              </a:r>
            </a:p>
          </p:txBody>
        </p:sp>
        <p:sp>
          <p:nvSpPr>
            <p:cNvPr id="41" name="Ellipse 41"/>
            <p:cNvSpPr/>
            <p:nvPr/>
          </p:nvSpPr>
          <p:spPr>
            <a:xfrm>
              <a:off x="542925" y="4543425"/>
              <a:ext cx="723900" cy="723900"/>
            </a:xfrm>
            <a:prstGeom prst="ellipse">
              <a:avLst/>
            </a:prstGeom>
            <a:solidFill>
              <a:srgbClr val="C45F4A"/>
            </a:solidFill>
            <a:ln>
              <a:noFill/>
            </a:ln>
          </p:spPr>
        </p:sp>
        <p:grpSp>
          <p:nvGrpSpPr>
            <p:cNvPr id="45" name="Group 45"/>
            <p:cNvGrpSpPr/>
            <p:nvPr/>
          </p:nvGrpSpPr>
          <p:grpSpPr>
            <a:xfrm>
              <a:off x="826294" y="4655344"/>
              <a:ext cx="157163" cy="157162"/>
              <a:chOff x="826294" y="4655344"/>
              <a:chExt cx="157163" cy="157162"/>
            </a:xfrm>
          </p:grpSpPr>
          <p:sp>
            <p:nvSpPr>
              <p:cNvPr id="42" name="Freeform 42"/>
              <p:cNvSpPr/>
              <p:nvPr/>
            </p:nvSpPr>
            <p:spPr>
              <a:xfrm>
                <a:off x="826294" y="4655344"/>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FFFFFF"/>
                </a:solidFill>
              </a:ln>
            </p:spPr>
          </p:sp>
          <p:sp>
            <p:nvSpPr>
              <p:cNvPr id="43" name="Freeform 43"/>
              <p:cNvSpPr/>
              <p:nvPr/>
            </p:nvSpPr>
            <p:spPr>
              <a:xfrm>
                <a:off x="843756" y="4733925"/>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FFFFFF"/>
                </a:solidFill>
              </a:ln>
            </p:spPr>
          </p:sp>
          <p:sp>
            <p:nvSpPr>
              <p:cNvPr id="44" name="Freeform 44"/>
              <p:cNvSpPr/>
              <p:nvPr/>
            </p:nvSpPr>
            <p:spPr>
              <a:xfrm>
                <a:off x="878681" y="4742656"/>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FFFFFF"/>
                </a:solidFill>
              </a:ln>
            </p:spPr>
          </p:sp>
        </p:grpSp>
        <p:sp>
          <p:nvSpPr>
            <p:cNvPr id="46" name="TextBox 46"/>
            <p:cNvSpPr txBox="1"/>
            <p:nvPr/>
          </p:nvSpPr>
          <p:spPr>
            <a:xfrm>
              <a:off x="767994" y="50382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基地</a:t>
              </a:r>
            </a:p>
          </p:txBody>
        </p:sp>
        <p:sp>
          <p:nvSpPr>
            <p:cNvPr id="47" name="Ellipse 47"/>
            <p:cNvSpPr/>
            <p:nvPr/>
          </p:nvSpPr>
          <p:spPr>
            <a:xfrm>
              <a:off x="3305175" y="4543425"/>
              <a:ext cx="723900" cy="723900"/>
            </a:xfrm>
            <a:prstGeom prst="ellipse">
              <a:avLst/>
            </a:prstGeom>
            <a:solidFill>
              <a:srgbClr val="C45F4A"/>
            </a:solidFill>
            <a:ln>
              <a:noFill/>
            </a:ln>
          </p:spPr>
        </p:sp>
        <p:grpSp>
          <p:nvGrpSpPr>
            <p:cNvPr id="56" name="Group 56"/>
            <p:cNvGrpSpPr/>
            <p:nvPr/>
          </p:nvGrpSpPr>
          <p:grpSpPr>
            <a:xfrm>
              <a:off x="3588544" y="4655344"/>
              <a:ext cx="157956" cy="166687"/>
              <a:chOff x="3588544" y="4655344"/>
              <a:chExt cx="157956" cy="166687"/>
            </a:xfrm>
          </p:grpSpPr>
          <p:sp>
            <p:nvSpPr>
              <p:cNvPr id="48" name="Freeform 48"/>
              <p:cNvSpPr/>
              <p:nvPr/>
            </p:nvSpPr>
            <p:spPr>
              <a:xfrm>
                <a:off x="3588544" y="4812506"/>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49" name="Freeform 49"/>
              <p:cNvSpPr/>
              <p:nvPr/>
            </p:nvSpPr>
            <p:spPr>
              <a:xfrm>
                <a:off x="3588544" y="4716463"/>
                <a:ext cx="157163" cy="9525"/>
              </a:xfrm>
              <a:custGeom>
                <a:avLst/>
                <a:gdLst/>
                <a:ahLst/>
                <a:cxnLst/>
                <a:rect l="l" t="t" r="r" b="b"/>
                <a:pathLst>
                  <a:path w="157163" h="9525">
                    <a:moveTo>
                      <a:pt x="0" y="0"/>
                    </a:moveTo>
                    <a:lnTo>
                      <a:pt x="157163" y="0"/>
                    </a:lnTo>
                  </a:path>
                </a:pathLst>
              </a:custGeom>
              <a:noFill/>
              <a:ln w="17463">
                <a:solidFill>
                  <a:srgbClr val="FFFFFF"/>
                </a:solidFill>
              </a:ln>
            </p:spPr>
          </p:sp>
          <p:sp>
            <p:nvSpPr>
              <p:cNvPr id="50" name="Freeform 50"/>
              <p:cNvSpPr/>
              <p:nvPr/>
            </p:nvSpPr>
            <p:spPr>
              <a:xfrm>
                <a:off x="3606006" y="4655344"/>
                <a:ext cx="122238" cy="26194"/>
              </a:xfrm>
              <a:custGeom>
                <a:avLst/>
                <a:gdLst/>
                <a:ahLst/>
                <a:cxnLst/>
                <a:rect l="l" t="t" r="r" b="b"/>
                <a:pathLst>
                  <a:path w="122238" h="26194">
                    <a:moveTo>
                      <a:pt x="0" y="26194"/>
                    </a:moveTo>
                    <a:lnTo>
                      <a:pt x="61119" y="0"/>
                    </a:lnTo>
                    <a:lnTo>
                      <a:pt x="122238" y="26194"/>
                    </a:lnTo>
                  </a:path>
                </a:pathLst>
              </a:custGeom>
              <a:noFill/>
              <a:ln w="17463">
                <a:solidFill>
                  <a:srgbClr val="FFFFFF"/>
                </a:solidFill>
              </a:ln>
            </p:spPr>
          </p:sp>
          <p:sp>
            <p:nvSpPr>
              <p:cNvPr id="51" name="Freeform 51"/>
              <p:cNvSpPr/>
              <p:nvPr/>
            </p:nvSpPr>
            <p:spPr>
              <a:xfrm>
                <a:off x="3597275" y="4716463"/>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52" name="Freeform 52"/>
              <p:cNvSpPr/>
              <p:nvPr/>
            </p:nvSpPr>
            <p:spPr>
              <a:xfrm>
                <a:off x="3736975" y="4716463"/>
                <a:ext cx="9525" cy="96044"/>
              </a:xfrm>
              <a:custGeom>
                <a:avLst/>
                <a:gdLst/>
                <a:ahLst/>
                <a:cxnLst/>
                <a:rect l="l" t="t" r="r" b="b"/>
                <a:pathLst>
                  <a:path w="9525" h="96044">
                    <a:moveTo>
                      <a:pt x="0" y="0"/>
                    </a:moveTo>
                    <a:lnTo>
                      <a:pt x="0" y="96044"/>
                    </a:lnTo>
                  </a:path>
                </a:pathLst>
              </a:custGeom>
              <a:noFill/>
              <a:ln w="17463">
                <a:solidFill>
                  <a:srgbClr val="FFFFFF"/>
                </a:solidFill>
              </a:ln>
            </p:spPr>
          </p:sp>
          <p:sp>
            <p:nvSpPr>
              <p:cNvPr id="53" name="Freeform 53"/>
              <p:cNvSpPr/>
              <p:nvPr/>
            </p:nvSpPr>
            <p:spPr>
              <a:xfrm>
                <a:off x="3632200" y="4751388"/>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54" name="Freeform 54"/>
              <p:cNvSpPr/>
              <p:nvPr/>
            </p:nvSpPr>
            <p:spPr>
              <a:xfrm>
                <a:off x="3667125" y="4751388"/>
                <a:ext cx="9525" cy="26194"/>
              </a:xfrm>
              <a:custGeom>
                <a:avLst/>
                <a:gdLst/>
                <a:ahLst/>
                <a:cxnLst/>
                <a:rect l="l" t="t" r="r" b="b"/>
                <a:pathLst>
                  <a:path w="9525" h="26194">
                    <a:moveTo>
                      <a:pt x="0" y="0"/>
                    </a:moveTo>
                    <a:lnTo>
                      <a:pt x="0" y="26194"/>
                    </a:lnTo>
                  </a:path>
                </a:pathLst>
              </a:custGeom>
              <a:noFill/>
              <a:ln w="17463">
                <a:solidFill>
                  <a:srgbClr val="FFFFFF"/>
                </a:solidFill>
              </a:ln>
            </p:spPr>
          </p:sp>
          <p:sp>
            <p:nvSpPr>
              <p:cNvPr id="55" name="Freeform 55"/>
              <p:cNvSpPr/>
              <p:nvPr/>
            </p:nvSpPr>
            <p:spPr>
              <a:xfrm>
                <a:off x="3702050" y="4751388"/>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57" name="TextBox 57"/>
            <p:cNvSpPr txBox="1"/>
            <p:nvPr/>
          </p:nvSpPr>
          <p:spPr>
            <a:xfrm>
              <a:off x="3530244" y="50382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档主</a:t>
              </a:r>
            </a:p>
          </p:txBody>
        </p:sp>
        <p:sp>
          <p:nvSpPr>
            <p:cNvPr id="58" name="Ellipse 58"/>
            <p:cNvSpPr/>
            <p:nvPr/>
          </p:nvSpPr>
          <p:spPr>
            <a:xfrm>
              <a:off x="6210300" y="4543425"/>
              <a:ext cx="723900" cy="723900"/>
            </a:xfrm>
            <a:prstGeom prst="ellipse">
              <a:avLst/>
            </a:prstGeom>
            <a:solidFill>
              <a:srgbClr val="C45F4A"/>
            </a:solidFill>
            <a:ln>
              <a:noFill/>
            </a:ln>
          </p:spPr>
        </p:sp>
        <p:grpSp>
          <p:nvGrpSpPr>
            <p:cNvPr id="63" name="Group 63"/>
            <p:cNvGrpSpPr/>
            <p:nvPr/>
          </p:nvGrpSpPr>
          <p:grpSpPr>
            <a:xfrm>
              <a:off x="6502400" y="4655344"/>
              <a:ext cx="139701" cy="157162"/>
              <a:chOff x="6502400" y="4655344"/>
              <a:chExt cx="139701" cy="157162"/>
            </a:xfrm>
          </p:grpSpPr>
          <p:sp>
            <p:nvSpPr>
              <p:cNvPr id="59" name="Freeform 59"/>
              <p:cNvSpPr/>
              <p:nvPr/>
            </p:nvSpPr>
            <p:spPr>
              <a:xfrm>
                <a:off x="6502400" y="477758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60" name="Freeform 60"/>
              <p:cNvSpPr/>
              <p:nvPr/>
            </p:nvSpPr>
            <p:spPr>
              <a:xfrm>
                <a:off x="6598444" y="477758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61" name="Freeform 61"/>
              <p:cNvSpPr/>
              <p:nvPr/>
            </p:nvSpPr>
            <p:spPr>
              <a:xfrm>
                <a:off x="6502400" y="4655344"/>
                <a:ext cx="113506" cy="122238"/>
              </a:xfrm>
              <a:custGeom>
                <a:avLst/>
                <a:gdLst/>
                <a:ahLst/>
                <a:cxnLst/>
                <a:rect l="l" t="t" r="r" b="b"/>
                <a:pathLst>
                  <a:path w="113506" h="122238">
                    <a:moveTo>
                      <a:pt x="113506" y="122238"/>
                    </a:moveTo>
                    <a:lnTo>
                      <a:pt x="17463" y="122238"/>
                    </a:lnTo>
                    <a:lnTo>
                      <a:pt x="17463" y="0"/>
                    </a:lnTo>
                    <a:lnTo>
                      <a:pt x="0" y="0"/>
                    </a:lnTo>
                  </a:path>
                </a:pathLst>
              </a:custGeom>
              <a:noFill/>
              <a:ln w="17463">
                <a:solidFill>
                  <a:srgbClr val="FFFFFF"/>
                </a:solidFill>
              </a:ln>
            </p:spPr>
          </p:sp>
          <p:sp>
            <p:nvSpPr>
              <p:cNvPr id="62" name="Freeform 62"/>
              <p:cNvSpPr/>
              <p:nvPr/>
            </p:nvSpPr>
            <p:spPr>
              <a:xfrm>
                <a:off x="6519863" y="4672806"/>
                <a:ext cx="122238" cy="69850"/>
              </a:xfrm>
              <a:custGeom>
                <a:avLst/>
                <a:gdLst/>
                <a:ahLst/>
                <a:cxnLst/>
                <a:rect l="l" t="t" r="r" b="b"/>
                <a:pathLst>
                  <a:path w="122238" h="69850">
                    <a:moveTo>
                      <a:pt x="0" y="0"/>
                    </a:moveTo>
                    <a:lnTo>
                      <a:pt x="122238" y="8731"/>
                    </a:lnTo>
                    <a:lnTo>
                      <a:pt x="113506" y="69850"/>
                    </a:lnTo>
                    <a:lnTo>
                      <a:pt x="0" y="69850"/>
                    </a:lnTo>
                  </a:path>
                </a:pathLst>
              </a:custGeom>
              <a:noFill/>
              <a:ln w="17463">
                <a:solidFill>
                  <a:srgbClr val="FFFFFF"/>
                </a:solidFill>
              </a:ln>
            </p:spPr>
          </p:sp>
        </p:grpSp>
        <p:sp>
          <p:nvSpPr>
            <p:cNvPr id="64" name="TextBox 64"/>
            <p:cNvSpPr txBox="1"/>
            <p:nvPr/>
          </p:nvSpPr>
          <p:spPr>
            <a:xfrm>
              <a:off x="6435369" y="50382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采购</a:t>
              </a:r>
            </a:p>
          </p:txBody>
        </p:sp>
        <p:sp>
          <p:nvSpPr>
            <p:cNvPr id="65" name="Ellipse 65"/>
            <p:cNvSpPr/>
            <p:nvPr/>
          </p:nvSpPr>
          <p:spPr>
            <a:xfrm>
              <a:off x="8829675" y="4448175"/>
              <a:ext cx="723900" cy="723900"/>
            </a:xfrm>
            <a:prstGeom prst="ellipse">
              <a:avLst/>
            </a:prstGeom>
            <a:solidFill>
              <a:srgbClr val="C45F4A"/>
            </a:solidFill>
            <a:ln>
              <a:noFill/>
            </a:ln>
          </p:spPr>
        </p:sp>
        <p:grpSp>
          <p:nvGrpSpPr>
            <p:cNvPr id="71" name="Group 71"/>
            <p:cNvGrpSpPr/>
            <p:nvPr/>
          </p:nvGrpSpPr>
          <p:grpSpPr>
            <a:xfrm>
              <a:off x="9113044" y="4558924"/>
              <a:ext cx="157162" cy="158333"/>
              <a:chOff x="9113044" y="4558924"/>
              <a:chExt cx="157162" cy="158333"/>
            </a:xfrm>
          </p:grpSpPr>
          <p:sp>
            <p:nvSpPr>
              <p:cNvPr id="66" name="Freeform 66"/>
              <p:cNvSpPr/>
              <p:nvPr/>
            </p:nvSpPr>
            <p:spPr>
              <a:xfrm>
                <a:off x="9165431" y="4629944"/>
                <a:ext cx="104775" cy="52388"/>
              </a:xfrm>
              <a:custGeom>
                <a:avLst/>
                <a:gdLst/>
                <a:ahLst/>
                <a:cxnLst/>
                <a:rect l="l" t="t" r="r" b="b"/>
                <a:pathLst>
                  <a:path w="104775" h="52388">
                    <a:moveTo>
                      <a:pt x="0" y="26194"/>
                    </a:moveTo>
                    <a:cubicBezTo>
                      <a:pt x="0" y="40661"/>
                      <a:pt x="23452" y="52388"/>
                      <a:pt x="52388" y="52388"/>
                    </a:cubicBezTo>
                    <a:cubicBezTo>
                      <a:pt x="81323" y="52388"/>
                      <a:pt x="104775" y="40661"/>
                      <a:pt x="104775" y="26194"/>
                    </a:cubicBezTo>
                    <a:cubicBezTo>
                      <a:pt x="104775" y="11726"/>
                      <a:pt x="81323" y="0"/>
                      <a:pt x="52388" y="0"/>
                    </a:cubicBezTo>
                    <a:cubicBezTo>
                      <a:pt x="23452" y="0"/>
                      <a:pt x="0" y="11726"/>
                      <a:pt x="0" y="26194"/>
                    </a:cubicBezTo>
                  </a:path>
                </a:pathLst>
              </a:custGeom>
              <a:noFill/>
              <a:ln w="17463">
                <a:solidFill>
                  <a:srgbClr val="FFFFFF"/>
                </a:solidFill>
              </a:ln>
            </p:spPr>
          </p:sp>
          <p:sp>
            <p:nvSpPr>
              <p:cNvPr id="67" name="Freeform 67"/>
              <p:cNvSpPr/>
              <p:nvPr/>
            </p:nvSpPr>
            <p:spPr>
              <a:xfrm>
                <a:off x="9165431" y="4656138"/>
                <a:ext cx="104775" cy="61119"/>
              </a:xfrm>
              <a:custGeom>
                <a:avLst/>
                <a:gdLst/>
                <a:ahLst/>
                <a:cxnLst/>
                <a:rect l="l" t="t" r="r" b="b"/>
                <a:pathLst>
                  <a:path w="104775" h="61119">
                    <a:moveTo>
                      <a:pt x="0" y="0"/>
                    </a:moveTo>
                    <a:lnTo>
                      <a:pt x="0" y="34925"/>
                    </a:lnTo>
                    <a:cubicBezTo>
                      <a:pt x="0" y="49384"/>
                      <a:pt x="23452" y="61119"/>
                      <a:pt x="52388" y="61119"/>
                    </a:cubicBezTo>
                    <a:cubicBezTo>
                      <a:pt x="81323" y="61119"/>
                      <a:pt x="104775" y="49384"/>
                      <a:pt x="104775" y="34925"/>
                    </a:cubicBezTo>
                    <a:lnTo>
                      <a:pt x="104775" y="0"/>
                    </a:lnTo>
                  </a:path>
                </a:pathLst>
              </a:custGeom>
              <a:noFill/>
              <a:ln w="17463">
                <a:solidFill>
                  <a:srgbClr val="FFFFFF"/>
                </a:solidFill>
              </a:ln>
            </p:spPr>
          </p:sp>
          <p:sp>
            <p:nvSpPr>
              <p:cNvPr id="68" name="Freeform 68"/>
              <p:cNvSpPr/>
              <p:nvPr/>
            </p:nvSpPr>
            <p:spPr>
              <a:xfrm>
                <a:off x="9113044" y="4558924"/>
                <a:ext cx="104775" cy="54727"/>
              </a:xfrm>
              <a:custGeom>
                <a:avLst/>
                <a:gdLst/>
                <a:ahLst/>
                <a:cxnLst/>
                <a:rect l="l" t="t" r="r" b="b"/>
                <a:pathLst>
                  <a:path w="104775" h="54727">
                    <a:moveTo>
                      <a:pt x="0" y="27364"/>
                    </a:moveTo>
                    <a:cubicBezTo>
                      <a:pt x="0" y="36724"/>
                      <a:pt x="9989" y="45368"/>
                      <a:pt x="26194" y="50048"/>
                    </a:cubicBezTo>
                    <a:cubicBezTo>
                      <a:pt x="42399" y="54727"/>
                      <a:pt x="62376" y="54727"/>
                      <a:pt x="78581" y="50048"/>
                    </a:cubicBezTo>
                    <a:cubicBezTo>
                      <a:pt x="94786" y="45368"/>
                      <a:pt x="104775" y="36724"/>
                      <a:pt x="104775" y="27364"/>
                    </a:cubicBezTo>
                    <a:cubicBezTo>
                      <a:pt x="104775" y="18004"/>
                      <a:pt x="94786" y="9360"/>
                      <a:pt x="78581" y="4680"/>
                    </a:cubicBezTo>
                    <a:cubicBezTo>
                      <a:pt x="62376" y="0"/>
                      <a:pt x="42399" y="0"/>
                      <a:pt x="26194" y="4680"/>
                    </a:cubicBezTo>
                    <a:cubicBezTo>
                      <a:pt x="9989" y="9360"/>
                      <a:pt x="0" y="18004"/>
                      <a:pt x="0" y="27364"/>
                    </a:cubicBezTo>
                  </a:path>
                </a:pathLst>
              </a:custGeom>
              <a:noFill/>
              <a:ln w="17463">
                <a:solidFill>
                  <a:srgbClr val="FFFFFF"/>
                </a:solidFill>
              </a:ln>
            </p:spPr>
          </p:sp>
          <p:sp>
            <p:nvSpPr>
              <p:cNvPr id="69" name="Freeform 69"/>
              <p:cNvSpPr/>
              <p:nvPr/>
            </p:nvSpPr>
            <p:spPr>
              <a:xfrm>
                <a:off x="9113044" y="4586288"/>
                <a:ext cx="17463" cy="104775"/>
              </a:xfrm>
              <a:custGeom>
                <a:avLst/>
                <a:gdLst/>
                <a:ahLst/>
                <a:cxnLst/>
                <a:rect l="l" t="t" r="r" b="b"/>
                <a:pathLst>
                  <a:path w="17463" h="104775">
                    <a:moveTo>
                      <a:pt x="0" y="0"/>
                    </a:moveTo>
                    <a:lnTo>
                      <a:pt x="0" y="87313"/>
                    </a:lnTo>
                    <a:cubicBezTo>
                      <a:pt x="0" y="95066"/>
                      <a:pt x="6741" y="99973"/>
                      <a:pt x="17463" y="104775"/>
                    </a:cubicBezTo>
                  </a:path>
                </a:pathLst>
              </a:custGeom>
              <a:noFill/>
              <a:ln w="17463">
                <a:solidFill>
                  <a:srgbClr val="FFFFFF"/>
                </a:solidFill>
              </a:ln>
            </p:spPr>
          </p:sp>
          <p:sp>
            <p:nvSpPr>
              <p:cNvPr id="70" name="Freeform 70"/>
              <p:cNvSpPr/>
              <p:nvPr/>
            </p:nvSpPr>
            <p:spPr>
              <a:xfrm>
                <a:off x="9113044" y="4629944"/>
                <a:ext cx="17463" cy="17463"/>
              </a:xfrm>
              <a:custGeom>
                <a:avLst/>
                <a:gdLst/>
                <a:ahLst/>
                <a:cxnLst/>
                <a:rect l="l" t="t" r="r" b="b"/>
                <a:pathLst>
                  <a:path w="17463" h="17463">
                    <a:moveTo>
                      <a:pt x="0" y="0"/>
                    </a:moveTo>
                    <a:cubicBezTo>
                      <a:pt x="0" y="7753"/>
                      <a:pt x="6741" y="12660"/>
                      <a:pt x="17463" y="17463"/>
                    </a:cubicBezTo>
                  </a:path>
                </a:pathLst>
              </a:custGeom>
              <a:noFill/>
              <a:ln w="17463">
                <a:solidFill>
                  <a:srgbClr val="FFFFFF"/>
                </a:solidFill>
              </a:ln>
            </p:spPr>
          </p:sp>
        </p:grpSp>
        <p:sp>
          <p:nvSpPr>
            <p:cNvPr id="72" name="TextBox 72"/>
            <p:cNvSpPr txBox="1"/>
            <p:nvPr/>
          </p:nvSpPr>
          <p:spPr>
            <a:xfrm>
              <a:off x="9054744" y="49429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消费</a:t>
              </a:r>
            </a:p>
          </p:txBody>
        </p:sp>
        <p:sp>
          <p:nvSpPr>
            <p:cNvPr id="73" name="Line 73"/>
            <p:cNvSpPr/>
            <p:nvPr/>
          </p:nvSpPr>
          <p:spPr>
            <a:xfrm flipV="1">
              <a:off x="3848100" y="4057650"/>
              <a:ext cx="819150" cy="628650"/>
            </a:xfrm>
            <a:prstGeom prst="line">
              <a:avLst/>
            </a:prstGeom>
            <a:noFill/>
            <a:ln w="14288">
              <a:solidFill>
                <a:srgbClr val="E8634C"/>
              </a:solidFill>
              <a:custDash>
                <a:ds d="266667" sp="200000"/>
              </a:custDash>
              <a:tailEnd type="triangle" w="lg" len="lg"/>
            </a:ln>
          </p:spPr>
        </p:sp>
        <p:sp>
          <p:nvSpPr>
            <p:cNvPr id="74" name="Line 74"/>
            <p:cNvSpPr/>
            <p:nvPr/>
          </p:nvSpPr>
          <p:spPr>
            <a:xfrm flipV="1">
              <a:off x="4076700" y="4248150"/>
              <a:ext cx="819150" cy="628650"/>
            </a:xfrm>
            <a:prstGeom prst="line">
              <a:avLst/>
            </a:prstGeom>
            <a:noFill/>
            <a:ln w="14288">
              <a:solidFill>
                <a:srgbClr val="E8634C"/>
              </a:solidFill>
              <a:custDash>
                <a:ds d="266667" sp="200000"/>
              </a:custDash>
              <a:tailEnd type="triangle" w="lg" len="lg"/>
            </a:ln>
          </p:spPr>
        </p:sp>
        <p:grpSp>
          <p:nvGrpSpPr>
            <p:cNvPr id="76" name="Group 76"/>
            <p:cNvGrpSpPr/>
            <p:nvPr/>
          </p:nvGrpSpPr>
          <p:grpSpPr>
            <a:xfrm rot="-2220000">
              <a:off x="3827609" y="4359126"/>
              <a:ext cx="413385" cy="147638"/>
              <a:chOff x="3831908" y="4357688"/>
              <a:chExt cx="413385" cy="147638"/>
            </a:xfrm>
          </p:grpSpPr>
          <p:sp>
            <p:nvSpPr>
              <p:cNvPr id="75" name="TextBox 75"/>
              <p:cNvSpPr txBox="1"/>
              <p:nvPr/>
            </p:nvSpPr>
            <p:spPr>
              <a:xfrm>
                <a:off x="3831908" y="4357688"/>
                <a:ext cx="413385"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入场申报</a:t>
                </a:r>
              </a:p>
            </p:txBody>
          </p:sp>
        </p:grpSp>
        <p:grpSp>
          <p:nvGrpSpPr>
            <p:cNvPr id="78" name="Group 78"/>
            <p:cNvGrpSpPr/>
            <p:nvPr/>
          </p:nvGrpSpPr>
          <p:grpSpPr>
            <a:xfrm rot="-2220000">
              <a:off x="4341959" y="4644876"/>
              <a:ext cx="413385" cy="147638"/>
              <a:chOff x="4346258" y="4643438"/>
              <a:chExt cx="413385" cy="147638"/>
            </a:xfrm>
          </p:grpSpPr>
          <p:sp>
            <p:nvSpPr>
              <p:cNvPr id="77" name="TextBox 77"/>
              <p:cNvSpPr txBox="1"/>
              <p:nvPr/>
            </p:nvSpPr>
            <p:spPr>
              <a:xfrm>
                <a:off x="4346258" y="4643438"/>
                <a:ext cx="413385"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进场检验</a:t>
                </a:r>
              </a:p>
            </p:txBody>
          </p:sp>
        </p:grpSp>
        <p:sp>
          <p:nvSpPr>
            <p:cNvPr id="79" name="Line 79"/>
            <p:cNvSpPr/>
            <p:nvPr/>
          </p:nvSpPr>
          <p:spPr>
            <a:xfrm>
              <a:off x="5391150" y="4057650"/>
              <a:ext cx="819150" cy="628650"/>
            </a:xfrm>
            <a:prstGeom prst="line">
              <a:avLst/>
            </a:prstGeom>
            <a:noFill/>
            <a:ln w="14288">
              <a:solidFill>
                <a:srgbClr val="E8634C"/>
              </a:solidFill>
              <a:custDash>
                <a:ds d="266667" sp="200000"/>
              </a:custDash>
              <a:tailEnd type="triangle" w="lg" len="lg"/>
            </a:ln>
          </p:spPr>
        </p:sp>
        <p:sp>
          <p:nvSpPr>
            <p:cNvPr id="80" name="Line 80"/>
            <p:cNvSpPr/>
            <p:nvPr/>
          </p:nvSpPr>
          <p:spPr>
            <a:xfrm>
              <a:off x="5619750" y="4248150"/>
              <a:ext cx="819150" cy="628650"/>
            </a:xfrm>
            <a:prstGeom prst="line">
              <a:avLst/>
            </a:prstGeom>
            <a:noFill/>
            <a:ln w="14288">
              <a:solidFill>
                <a:srgbClr val="E8634C"/>
              </a:solidFill>
              <a:custDash>
                <a:ds d="266667" sp="200000"/>
              </a:custDash>
              <a:tailEnd type="triangle" w="lg" len="lg"/>
            </a:ln>
          </p:spPr>
        </p:sp>
        <p:grpSp>
          <p:nvGrpSpPr>
            <p:cNvPr id="82" name="Group 82"/>
            <p:cNvGrpSpPr/>
            <p:nvPr/>
          </p:nvGrpSpPr>
          <p:grpSpPr>
            <a:xfrm rot="2220000">
              <a:off x="5417357" y="4359127"/>
              <a:ext cx="413385" cy="147638"/>
              <a:chOff x="5413058" y="4357688"/>
              <a:chExt cx="413385" cy="147638"/>
            </a:xfrm>
          </p:grpSpPr>
          <p:sp>
            <p:nvSpPr>
              <p:cNvPr id="81" name="TextBox 81"/>
              <p:cNvSpPr txBox="1"/>
              <p:nvPr/>
            </p:nvSpPr>
            <p:spPr>
              <a:xfrm>
                <a:off x="5413058" y="4357688"/>
                <a:ext cx="413385"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出场称重</a:t>
                </a:r>
              </a:p>
            </p:txBody>
          </p:sp>
        </p:grpSp>
        <p:grpSp>
          <p:nvGrpSpPr>
            <p:cNvPr id="84" name="Group 84"/>
            <p:cNvGrpSpPr/>
            <p:nvPr/>
          </p:nvGrpSpPr>
          <p:grpSpPr>
            <a:xfrm rot="2220000">
              <a:off x="5931707" y="4644877"/>
              <a:ext cx="413385" cy="147638"/>
              <a:chOff x="5927408" y="4643438"/>
              <a:chExt cx="413385" cy="147638"/>
            </a:xfrm>
          </p:grpSpPr>
          <p:sp>
            <p:nvSpPr>
              <p:cNvPr id="83" name="TextBox 83"/>
              <p:cNvSpPr txBox="1"/>
              <p:nvPr/>
            </p:nvSpPr>
            <p:spPr>
              <a:xfrm>
                <a:off x="5927408" y="4643438"/>
                <a:ext cx="413385" cy="147638"/>
              </a:xfrm>
              <a:prstGeom prst="rect">
                <a:avLst/>
              </a:prstGeom>
              <a:noFill/>
              <a:ln>
                <a:noFill/>
              </a:ln>
            </p:spPr>
            <p:txBody>
              <a:bodyPr wrap="none" lIns="0" tIns="0" rIns="0" bIns="0" anchor="t" anchorCtr="0">
                <a:spAutoFit/>
              </a:bodyPr>
              <a:lstStyle/>
              <a:p>
                <a:pPr algn="ctr"/>
                <a:r>
                  <a:rPr lang="zh-CN" sz="750" dirty="0">
                    <a:solidFill>
                      <a:srgbClr val="543E3A"/>
                    </a:solidFill>
                    <a:latin typeface="+mn-lt"/>
                    <a:ea typeface="+mn-ea"/>
                    <a:cs typeface="+mn-cs"/>
                  </a:rPr>
                  <a:t>进场采购</a:t>
                </a:r>
              </a:p>
            </p:txBody>
          </p:sp>
        </p:grpSp>
        <p:sp>
          <p:nvSpPr>
            <p:cNvPr id="85" name="Ellipse 85"/>
            <p:cNvSpPr/>
            <p:nvPr/>
          </p:nvSpPr>
          <p:spPr>
            <a:xfrm>
              <a:off x="3581400" y="3419475"/>
              <a:ext cx="457200" cy="457200"/>
            </a:xfrm>
            <a:prstGeom prst="ellipse">
              <a:avLst/>
            </a:prstGeom>
            <a:solidFill>
              <a:srgbClr val="FFFFFF"/>
            </a:solidFill>
            <a:ln w="14288">
              <a:solidFill>
                <a:srgbClr val="E08C7B"/>
              </a:solidFill>
            </a:ln>
          </p:spPr>
        </p:sp>
        <p:sp>
          <p:nvSpPr>
            <p:cNvPr id="86" name="TextBox 86"/>
            <p:cNvSpPr txBox="1"/>
            <p:nvPr/>
          </p:nvSpPr>
          <p:spPr>
            <a:xfrm>
              <a:off x="3709657" y="3552111"/>
              <a:ext cx="200685"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快检</a:t>
              </a:r>
            </a:p>
          </p:txBody>
        </p:sp>
        <p:sp>
          <p:nvSpPr>
            <p:cNvPr id="87" name="TextBox 87"/>
            <p:cNvSpPr txBox="1"/>
            <p:nvPr/>
          </p:nvSpPr>
          <p:spPr>
            <a:xfrm>
              <a:off x="3709657" y="3685461"/>
              <a:ext cx="200685"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设备</a:t>
              </a:r>
            </a:p>
          </p:txBody>
        </p:sp>
        <p:sp>
          <p:nvSpPr>
            <p:cNvPr id="88" name="Ellipse 88"/>
            <p:cNvSpPr/>
            <p:nvPr/>
          </p:nvSpPr>
          <p:spPr>
            <a:xfrm>
              <a:off x="6057900" y="3105150"/>
              <a:ext cx="495300" cy="495300"/>
            </a:xfrm>
            <a:prstGeom prst="ellipse">
              <a:avLst/>
            </a:prstGeom>
            <a:solidFill>
              <a:srgbClr val="FFFFFF"/>
            </a:solidFill>
            <a:ln w="14288">
              <a:solidFill>
                <a:srgbClr val="E08C7B"/>
              </a:solidFill>
            </a:ln>
          </p:spPr>
        </p:sp>
        <p:sp>
          <p:nvSpPr>
            <p:cNvPr id="89" name="TextBox 89"/>
            <p:cNvSpPr txBox="1"/>
            <p:nvPr/>
          </p:nvSpPr>
          <p:spPr>
            <a:xfrm>
              <a:off x="6157417" y="3256836"/>
              <a:ext cx="29626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大数据</a:t>
              </a:r>
            </a:p>
          </p:txBody>
        </p:sp>
        <p:sp>
          <p:nvSpPr>
            <p:cNvPr id="90" name="TextBox 90"/>
            <p:cNvSpPr txBox="1"/>
            <p:nvPr/>
          </p:nvSpPr>
          <p:spPr>
            <a:xfrm>
              <a:off x="6205207" y="3390186"/>
              <a:ext cx="200685"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溯源</a:t>
              </a:r>
            </a:p>
          </p:txBody>
        </p:sp>
        <p:sp>
          <p:nvSpPr>
            <p:cNvPr id="91" name="Ellipse 91"/>
            <p:cNvSpPr/>
            <p:nvPr/>
          </p:nvSpPr>
          <p:spPr>
            <a:xfrm>
              <a:off x="6610350" y="3695700"/>
              <a:ext cx="495300" cy="495300"/>
            </a:xfrm>
            <a:prstGeom prst="ellipse">
              <a:avLst/>
            </a:prstGeom>
            <a:solidFill>
              <a:srgbClr val="FFFFFF"/>
            </a:solidFill>
            <a:ln w="14288">
              <a:solidFill>
                <a:srgbClr val="E08C7B"/>
              </a:solidFill>
            </a:ln>
          </p:spPr>
        </p:sp>
        <p:sp>
          <p:nvSpPr>
            <p:cNvPr id="92" name="TextBox 92"/>
            <p:cNvSpPr txBox="1"/>
            <p:nvPr/>
          </p:nvSpPr>
          <p:spPr>
            <a:xfrm>
              <a:off x="6757657" y="3847386"/>
              <a:ext cx="200685"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视频</a:t>
              </a:r>
            </a:p>
          </p:txBody>
        </p:sp>
        <p:sp>
          <p:nvSpPr>
            <p:cNvPr id="93" name="TextBox 93"/>
            <p:cNvSpPr txBox="1"/>
            <p:nvPr/>
          </p:nvSpPr>
          <p:spPr>
            <a:xfrm>
              <a:off x="6757657" y="3980736"/>
              <a:ext cx="200685"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监控</a:t>
              </a:r>
            </a:p>
          </p:txBody>
        </p:sp>
        <p:sp>
          <p:nvSpPr>
            <p:cNvPr id="94" name="Ellipse 94"/>
            <p:cNvSpPr/>
            <p:nvPr/>
          </p:nvSpPr>
          <p:spPr>
            <a:xfrm>
              <a:off x="4886325" y="4267200"/>
              <a:ext cx="419100" cy="419100"/>
            </a:xfrm>
            <a:prstGeom prst="ellipse">
              <a:avLst/>
            </a:prstGeom>
            <a:solidFill>
              <a:srgbClr val="FFFFFF"/>
            </a:solidFill>
            <a:ln w="14288">
              <a:solidFill>
                <a:srgbClr val="E08C7B"/>
              </a:solidFill>
            </a:ln>
          </p:spPr>
        </p:sp>
        <p:sp>
          <p:nvSpPr>
            <p:cNvPr id="95" name="TextBox 95"/>
            <p:cNvSpPr txBox="1"/>
            <p:nvPr/>
          </p:nvSpPr>
          <p:spPr>
            <a:xfrm>
              <a:off x="4976908" y="4433888"/>
              <a:ext cx="237934" cy="147638"/>
            </a:xfrm>
            <a:prstGeom prst="rect">
              <a:avLst/>
            </a:prstGeom>
            <a:noFill/>
            <a:ln>
              <a:noFill/>
            </a:ln>
          </p:spPr>
          <p:txBody>
            <a:bodyPr wrap="none" lIns="0" tIns="0" rIns="0" bIns="0" anchor="t" anchorCtr="0">
              <a:spAutoFit/>
            </a:bodyPr>
            <a:lstStyle/>
            <a:p>
              <a:pPr algn="ctr"/>
              <a:r>
                <a:rPr lang="en-US" sz="750" dirty="0">
                  <a:solidFill>
                    <a:srgbClr val="543E3A"/>
                  </a:solidFill>
                  <a:latin typeface="+mn-lt"/>
                  <a:ea typeface="+mn-ea"/>
                  <a:cs typeface="+mn-cs"/>
                </a:rPr>
                <a:t>SaaS</a:t>
              </a:r>
            </a:p>
          </p:txBody>
        </p:sp>
        <p:sp>
          <p:nvSpPr>
            <p:cNvPr id="96" name="Rectangle 96"/>
            <p:cNvSpPr/>
            <p:nvPr/>
          </p:nvSpPr>
          <p:spPr>
            <a:xfrm>
              <a:off x="1428750" y="4191000"/>
              <a:ext cx="685800" cy="180975"/>
            </a:xfrm>
            <a:prstGeom prst="roundRect">
              <a:avLst>
                <a:gd name="adj" fmla="val 50000"/>
              </a:avLst>
            </a:prstGeom>
            <a:solidFill>
              <a:srgbClr val="B8503B"/>
            </a:solidFill>
            <a:ln>
              <a:noFill/>
            </a:ln>
          </p:spPr>
        </p:sp>
        <p:sp>
          <p:nvSpPr>
            <p:cNvPr id="97" name="TextBox 97"/>
            <p:cNvSpPr txBox="1"/>
            <p:nvPr/>
          </p:nvSpPr>
          <p:spPr>
            <a:xfrm>
              <a:off x="1575727" y="4237911"/>
              <a:ext cx="39184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源头溯源</a:t>
              </a:r>
            </a:p>
          </p:txBody>
        </p:sp>
        <p:sp>
          <p:nvSpPr>
            <p:cNvPr id="98" name="Rectangle 98"/>
            <p:cNvSpPr/>
            <p:nvPr/>
          </p:nvSpPr>
          <p:spPr>
            <a:xfrm>
              <a:off x="2476500" y="4191000"/>
              <a:ext cx="685800" cy="180975"/>
            </a:xfrm>
            <a:prstGeom prst="roundRect">
              <a:avLst>
                <a:gd name="adj" fmla="val 50000"/>
              </a:avLst>
            </a:prstGeom>
            <a:solidFill>
              <a:srgbClr val="B8503B"/>
            </a:solidFill>
            <a:ln>
              <a:noFill/>
            </a:ln>
          </p:spPr>
        </p:sp>
        <p:sp>
          <p:nvSpPr>
            <p:cNvPr id="99" name="TextBox 99"/>
            <p:cNvSpPr txBox="1"/>
            <p:nvPr/>
          </p:nvSpPr>
          <p:spPr>
            <a:xfrm>
              <a:off x="2623477" y="4237911"/>
              <a:ext cx="39184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品质溯源</a:t>
              </a:r>
            </a:p>
          </p:txBody>
        </p:sp>
        <p:sp>
          <p:nvSpPr>
            <p:cNvPr id="100" name="Rectangle 100"/>
            <p:cNvSpPr/>
            <p:nvPr/>
          </p:nvSpPr>
          <p:spPr>
            <a:xfrm>
              <a:off x="1809750" y="4895850"/>
              <a:ext cx="685800" cy="180975"/>
            </a:xfrm>
            <a:prstGeom prst="roundRect">
              <a:avLst>
                <a:gd name="adj" fmla="val 50000"/>
              </a:avLst>
            </a:prstGeom>
            <a:solidFill>
              <a:srgbClr val="FFFFFF"/>
            </a:solidFill>
            <a:ln w="9525">
              <a:solidFill>
                <a:srgbClr val="E08C7B"/>
              </a:solidFill>
            </a:ln>
          </p:spPr>
        </p:sp>
        <p:sp>
          <p:nvSpPr>
            <p:cNvPr id="101" name="TextBox 101"/>
            <p:cNvSpPr txBox="1"/>
            <p:nvPr/>
          </p:nvSpPr>
          <p:spPr>
            <a:xfrm>
              <a:off x="1956727" y="494276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流通溯源</a:t>
              </a:r>
            </a:p>
          </p:txBody>
        </p:sp>
        <p:sp>
          <p:nvSpPr>
            <p:cNvPr id="102" name="Rectangle 102"/>
            <p:cNvSpPr/>
            <p:nvPr/>
          </p:nvSpPr>
          <p:spPr>
            <a:xfrm>
              <a:off x="4238625" y="5257800"/>
              <a:ext cx="685800" cy="180975"/>
            </a:xfrm>
            <a:prstGeom prst="roundRect">
              <a:avLst>
                <a:gd name="adj" fmla="val 50000"/>
              </a:avLst>
            </a:prstGeom>
            <a:solidFill>
              <a:srgbClr val="B8503B"/>
            </a:solidFill>
            <a:ln>
              <a:noFill/>
            </a:ln>
          </p:spPr>
        </p:sp>
        <p:sp>
          <p:nvSpPr>
            <p:cNvPr id="103" name="TextBox 103"/>
            <p:cNvSpPr txBox="1"/>
            <p:nvPr/>
          </p:nvSpPr>
          <p:spPr>
            <a:xfrm>
              <a:off x="4385602" y="5304711"/>
              <a:ext cx="39184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电子称重</a:t>
              </a:r>
            </a:p>
          </p:txBody>
        </p:sp>
        <p:sp>
          <p:nvSpPr>
            <p:cNvPr id="104" name="Rectangle 104"/>
            <p:cNvSpPr/>
            <p:nvPr/>
          </p:nvSpPr>
          <p:spPr>
            <a:xfrm>
              <a:off x="5381625" y="5257800"/>
              <a:ext cx="685800" cy="180975"/>
            </a:xfrm>
            <a:prstGeom prst="roundRect">
              <a:avLst>
                <a:gd name="adj" fmla="val 50000"/>
              </a:avLst>
            </a:prstGeom>
            <a:solidFill>
              <a:srgbClr val="B8503B"/>
            </a:solidFill>
            <a:ln>
              <a:noFill/>
            </a:ln>
          </p:spPr>
        </p:sp>
        <p:sp>
          <p:nvSpPr>
            <p:cNvPr id="105" name="TextBox 105"/>
            <p:cNvSpPr txBox="1"/>
            <p:nvPr/>
          </p:nvSpPr>
          <p:spPr>
            <a:xfrm>
              <a:off x="5528602" y="5304711"/>
              <a:ext cx="39184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电子结算</a:t>
              </a:r>
            </a:p>
          </p:txBody>
        </p:sp>
        <p:sp>
          <p:nvSpPr>
            <p:cNvPr id="106" name="Rectangle 106"/>
            <p:cNvSpPr/>
            <p:nvPr/>
          </p:nvSpPr>
          <p:spPr>
            <a:xfrm>
              <a:off x="8001000" y="4019550"/>
              <a:ext cx="685800" cy="180975"/>
            </a:xfrm>
            <a:prstGeom prst="roundRect">
              <a:avLst>
                <a:gd name="adj" fmla="val 50000"/>
              </a:avLst>
            </a:prstGeom>
            <a:solidFill>
              <a:srgbClr val="FFFFFF"/>
            </a:solidFill>
            <a:ln w="9525">
              <a:solidFill>
                <a:srgbClr val="E08C7B"/>
              </a:solidFill>
            </a:ln>
          </p:spPr>
        </p:sp>
        <p:sp>
          <p:nvSpPr>
            <p:cNvPr id="107" name="TextBox 107"/>
            <p:cNvSpPr txBox="1"/>
            <p:nvPr/>
          </p:nvSpPr>
          <p:spPr>
            <a:xfrm>
              <a:off x="8147977" y="4066461"/>
              <a:ext cx="391846" cy="140494"/>
            </a:xfrm>
            <a:prstGeom prst="rect">
              <a:avLst/>
            </a:prstGeom>
            <a:noFill/>
            <a:ln>
              <a:noFill/>
            </a:ln>
          </p:spPr>
          <p:txBody>
            <a:bodyPr wrap="none" lIns="0" tIns="0" rIns="0" bIns="0" anchor="t" anchorCtr="0">
              <a:spAutoFit/>
            </a:bodyPr>
            <a:lstStyle/>
            <a:p>
              <a:pPr algn="ctr"/>
              <a:r>
                <a:rPr lang="zh-CN" sz="710" dirty="0">
                  <a:solidFill>
                    <a:srgbClr val="543E3A"/>
                  </a:solidFill>
                  <a:latin typeface="+mn-lt"/>
                  <a:ea typeface="+mn-ea"/>
                  <a:cs typeface="+mn-cs"/>
                </a:rPr>
                <a:t>电商服务</a:t>
              </a:r>
            </a:p>
          </p:txBody>
        </p:sp>
        <p:sp>
          <p:nvSpPr>
            <p:cNvPr id="108" name="Rectangle 108"/>
            <p:cNvSpPr/>
            <p:nvPr/>
          </p:nvSpPr>
          <p:spPr>
            <a:xfrm>
              <a:off x="7715250" y="4714875"/>
              <a:ext cx="685800" cy="180975"/>
            </a:xfrm>
            <a:prstGeom prst="roundRect">
              <a:avLst>
                <a:gd name="adj" fmla="val 50000"/>
              </a:avLst>
            </a:prstGeom>
            <a:solidFill>
              <a:srgbClr val="B8503B"/>
            </a:solidFill>
            <a:ln>
              <a:noFill/>
            </a:ln>
          </p:spPr>
        </p:sp>
        <p:sp>
          <p:nvSpPr>
            <p:cNvPr id="109" name="TextBox 109"/>
            <p:cNvSpPr txBox="1"/>
            <p:nvPr/>
          </p:nvSpPr>
          <p:spPr>
            <a:xfrm>
              <a:off x="7862227" y="4761786"/>
              <a:ext cx="39184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移动应用</a:t>
              </a:r>
            </a:p>
          </p:txBody>
        </p:sp>
      </p:gr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68</a:t>
              </a:r>
            </a:p>
          </p:txBody>
        </p:sp>
        <p:sp>
          <p:nvSpPr>
            <p:cNvPr id="4" name="TextBox 4"/>
            <p:cNvSpPr txBox="1"/>
            <p:nvPr/>
          </p:nvSpPr>
          <p:spPr>
            <a:xfrm>
              <a:off x="942594" y="151448"/>
              <a:ext cx="184420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产品机会洞察​</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6" name="card-01"/>
          <p:cNvGrpSpPr/>
          <p:nvPr/>
        </p:nvGrpSpPr>
        <p:grpSpPr>
          <a:xfrm>
            <a:off x="333375" y="805815"/>
            <a:ext cx="3238500" cy="2261235"/>
            <a:chOff x="333375" y="805815"/>
            <a:chExt cx="3238500" cy="2261235"/>
          </a:xfrm>
        </p:grpSpPr>
        <p:sp>
          <p:nvSpPr>
            <p:cNvPr id="7" name="TextBox 7"/>
            <p:cNvSpPr txBox="1"/>
            <p:nvPr/>
          </p:nvSpPr>
          <p:spPr>
            <a:xfrm>
              <a:off x="1679309" y="805815"/>
              <a:ext cx="546632" cy="645414"/>
            </a:xfrm>
            <a:prstGeom prst="rect">
              <a:avLst/>
            </a:prstGeom>
            <a:noFill/>
            <a:ln>
              <a:noFill/>
            </a:ln>
          </p:spPr>
          <p:txBody>
            <a:bodyPr wrap="none" lIns="0" tIns="0" rIns="0" bIns="0" anchor="t" anchorCtr="0">
              <a:spAutoFit/>
            </a:bodyPr>
            <a:lstStyle/>
            <a:p>
              <a:pPr algn="ctr"/>
              <a:r>
                <a:rPr lang="zh-CN" sz="3300" b="1" i="1" dirty="0">
                  <a:solidFill>
                    <a:srgbClr val="DCE0F5"/>
                  </a:solidFill>
                  <a:latin typeface="+mn-lt"/>
                  <a:ea typeface="+mn-ea"/>
                  <a:cs typeface="+mn-cs"/>
                </a:rPr>
                <a:t>01</a:t>
              </a:r>
            </a:p>
          </p:txBody>
        </p:sp>
        <p:sp>
          <p:nvSpPr>
            <p:cNvPr id="8" name="Rectangle 8"/>
            <p:cNvSpPr/>
            <p:nvPr/>
          </p:nvSpPr>
          <p:spPr>
            <a:xfrm>
              <a:off x="333375" y="1190625"/>
              <a:ext cx="3238500" cy="247650"/>
            </a:xfrm>
            <a:prstGeom prst="roundRect">
              <a:avLst>
                <a:gd name="adj" fmla="val 15385"/>
              </a:avLst>
            </a:prstGeom>
            <a:gradFill>
              <a:gsLst>
                <a:gs pos="0">
                  <a:srgbClr val="B8503B"/>
                </a:gs>
                <a:gs pos="100000">
                  <a:srgbClr val="E08C7B"/>
                </a:gs>
              </a:gsLst>
              <a:lin ang="0" scaled="1"/>
            </a:gradFill>
            <a:ln>
              <a:noFill/>
            </a:ln>
          </p:spPr>
        </p:sp>
        <p:sp>
          <p:nvSpPr>
            <p:cNvPr id="9" name="TextBox 9"/>
            <p:cNvSpPr txBox="1"/>
            <p:nvPr/>
          </p:nvSpPr>
          <p:spPr>
            <a:xfrm>
              <a:off x="1156106" y="1256824"/>
              <a:ext cx="159303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零食化、即食化、便捷方便</a:t>
              </a:r>
            </a:p>
          </p:txBody>
        </p:sp>
        <p:sp>
          <p:nvSpPr>
            <p:cNvPr id="10" name="TextBox 10"/>
            <p:cNvSpPr txBox="1"/>
            <p:nvPr/>
          </p:nvSpPr>
          <p:spPr>
            <a:xfrm>
              <a:off x="423862" y="1591389"/>
              <a:ext cx="2417445" cy="726281"/>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零食化：由于"精致养生"消费群体年轻化，追求潮流</a:t>
              </a:r>
              <a:br/>
              <a:r>
                <a:rPr lang="zh-CN" sz="790" dirty="0">
                  <a:solidFill>
                    <a:srgbClr val="543E3A"/>
                  </a:solidFill>
                  <a:latin typeface="+mn-lt"/>
                  <a:ea typeface="+mn-ea"/>
                  <a:cs typeface="+mn-cs"/>
                </a:rPr>
                <a:t>又害怕麻烦的他们</a:t>
              </a:r>
              <a:r>
                <a:rPr lang="zh-CN" sz="790" dirty="0">
                  <a:solidFill>
                    <a:srgbClr val="C45F4A"/>
                  </a:solidFill>
                  <a:latin typeface="+mn-lt"/>
                  <a:ea typeface="+mn-ea"/>
                  <a:cs typeface="+mn-cs"/>
                </a:rPr>
                <a:t>希望"懒"但是也能"养生"</a:t>
              </a:r>
              <a:r>
                <a:rPr lang="zh-CN" sz="790" dirty="0">
                  <a:solidFill>
                    <a:srgbClr val="543E3A"/>
                  </a:solidFill>
                  <a:latin typeface="+mn-lt"/>
                  <a:ea typeface="+mn-ea"/>
                  <a:cs typeface="+mn-cs"/>
                </a:rPr>
                <a:t>成为重要</a:t>
              </a:r>
              <a:br/>
              <a:r>
                <a:rPr lang="zh-CN" sz="790" dirty="0">
                  <a:solidFill>
                    <a:srgbClr val="543E3A"/>
                  </a:solidFill>
                  <a:latin typeface="+mn-lt"/>
                  <a:ea typeface="+mn-ea"/>
                  <a:cs typeface="+mn-cs"/>
                </a:rPr>
                <a:t>需求点，年轻的消费群体更希望养生食品能像零食一</a:t>
              </a:r>
              <a:br/>
              <a:r>
                <a:rPr lang="zh-CN" sz="790" dirty="0">
                  <a:solidFill>
                    <a:srgbClr val="543E3A"/>
                  </a:solidFill>
                  <a:latin typeface="+mn-lt"/>
                  <a:ea typeface="+mn-ea"/>
                  <a:cs typeface="+mn-cs"/>
                </a:rPr>
                <a:t>样</a:t>
              </a:r>
              <a:r>
                <a:rPr lang="zh-CN" sz="790" dirty="0">
                  <a:solidFill>
                    <a:srgbClr val="C45F4A"/>
                  </a:solidFill>
                  <a:latin typeface="+mn-lt"/>
                  <a:ea typeface="+mn-ea"/>
                  <a:cs typeface="+mn-cs"/>
                </a:rPr>
                <a:t>便捷方便、随处即食、口感美味</a:t>
              </a:r>
              <a:r>
                <a:rPr lang="zh-CN" sz="790" dirty="0">
                  <a:solidFill>
                    <a:srgbClr val="543E3A"/>
                  </a:solidFill>
                  <a:latin typeface="+mn-lt"/>
                  <a:ea typeface="+mn-ea"/>
                  <a:cs typeface="+mn-cs"/>
                </a:rPr>
                <a:t>并且不会给身体增加</a:t>
              </a:r>
              <a:br/>
              <a:r>
                <a:rPr lang="zh-CN" sz="790" dirty="0">
                  <a:solidFill>
                    <a:srgbClr val="543E3A"/>
                  </a:solidFill>
                  <a:latin typeface="+mn-lt"/>
                  <a:ea typeface="+mn-ea"/>
                  <a:cs typeface="+mn-cs"/>
                </a:rPr>
                <a:t>负担，对滋补美味程度甚至超过功效成分。</a:t>
              </a:r>
            </a:p>
          </p:txBody>
        </p:sp>
        <p:sp>
          <p:nvSpPr>
            <p:cNvPr id="11" name="Rectangle 11"/>
            <p:cNvSpPr/>
            <p:nvPr/>
          </p:nvSpPr>
          <p:spPr>
            <a:xfrm>
              <a:off x="523875" y="2724150"/>
              <a:ext cx="2762250" cy="342900"/>
            </a:xfrm>
            <a:prstGeom prst="roundRect">
              <a:avLst>
                <a:gd name="adj" fmla="val 11111"/>
              </a:avLst>
            </a:prstGeom>
            <a:solidFill>
              <a:srgbClr val="FFFFFF"/>
            </a:solidFill>
            <a:ln>
              <a:noFill/>
            </a:ln>
            <a:effectLst>
              <a:outerShdw blurRad="152400" dist="57150" dir="5400000" algn="ctr" rotWithShape="0">
                <a:srgbClr val="C45F4A">
                  <a:alpha val="7500"/>
                </a:srgbClr>
              </a:outerShdw>
            </a:effectLst>
          </p:spPr>
        </p:sp>
        <p:sp>
          <p:nvSpPr>
            <p:cNvPr id="12" name="Rectangle 12"/>
            <p:cNvSpPr/>
            <p:nvPr/>
          </p:nvSpPr>
          <p:spPr>
            <a:xfrm>
              <a:off x="609600" y="2771775"/>
              <a:ext cx="400050" cy="247650"/>
            </a:xfrm>
            <a:prstGeom prst="roundRect">
              <a:avLst>
                <a:gd name="adj" fmla="val 11538"/>
              </a:avLst>
            </a:prstGeom>
            <a:solidFill>
              <a:srgbClr val="F0F3FB"/>
            </a:solidFill>
            <a:ln w="9525">
              <a:solidFill>
                <a:srgbClr val="D8DEF2"/>
              </a:solidFill>
            </a:ln>
          </p:spPr>
        </p:sp>
        <p:sp>
          <p:nvSpPr>
            <p:cNvPr id="13" name="Rectangle 13"/>
            <p:cNvSpPr/>
            <p:nvPr/>
          </p:nvSpPr>
          <p:spPr>
            <a:xfrm>
              <a:off x="685800" y="2819400"/>
              <a:ext cx="95250" cy="152400"/>
            </a:xfrm>
            <a:prstGeom prst="rect">
              <a:avLst/>
            </a:prstGeom>
            <a:solidFill>
              <a:srgbClr val="E8634C"/>
            </a:solidFill>
            <a:ln>
              <a:noFill/>
            </a:ln>
          </p:spPr>
        </p:sp>
        <p:sp>
          <p:nvSpPr>
            <p:cNvPr id="14" name="Rectangle 14"/>
            <p:cNvSpPr/>
            <p:nvPr/>
          </p:nvSpPr>
          <p:spPr>
            <a:xfrm>
              <a:off x="819150" y="2838450"/>
              <a:ext cx="114300" cy="133350"/>
            </a:xfrm>
            <a:prstGeom prst="rect">
              <a:avLst/>
            </a:prstGeom>
            <a:solidFill>
              <a:srgbClr val="C45F4A"/>
            </a:solidFill>
            <a:ln>
              <a:noFill/>
            </a:ln>
          </p:spPr>
        </p:sp>
        <p:sp>
          <p:nvSpPr>
            <p:cNvPr id="15" name="TextBox 15"/>
            <p:cNvSpPr txBox="1"/>
            <p:nvPr/>
          </p:nvSpPr>
          <p:spPr>
            <a:xfrm>
              <a:off x="1138238" y="2850118"/>
              <a:ext cx="1298212" cy="169069"/>
            </a:xfrm>
            <a:prstGeom prst="rect">
              <a:avLst/>
            </a:prstGeom>
            <a:noFill/>
            <a:ln>
              <a:noFill/>
            </a:ln>
          </p:spPr>
          <p:txBody>
            <a:bodyPr wrap="none" lIns="0" tIns="0" rIns="0" bIns="0" anchor="t" anchorCtr="0">
              <a:spAutoFit/>
            </a:bodyPr>
            <a:lstStyle/>
            <a:p>
              <a:pPr algn="l"/>
              <a:r>
                <a:rPr lang="zh-CN" sz="860" dirty="0">
                  <a:solidFill>
                    <a:srgbClr val="E8634C"/>
                  </a:solidFill>
                  <a:latin typeface="+mn-lt"/>
                  <a:ea typeface="+mn-ea"/>
                  <a:cs typeface="+mn-cs"/>
                </a:rPr>
                <a:t>代表产品：X花姬阿胶糕​</a:t>
              </a:r>
            </a:p>
          </p:txBody>
        </p:sp>
      </p:grpSp>
      <p:grpSp>
        <p:nvGrpSpPr>
          <p:cNvPr id="26" name="card-02"/>
          <p:cNvGrpSpPr/>
          <p:nvPr/>
        </p:nvGrpSpPr>
        <p:grpSpPr>
          <a:xfrm>
            <a:off x="333375" y="3529965"/>
            <a:ext cx="3238500" cy="2146935"/>
            <a:chOff x="333375" y="3529965"/>
            <a:chExt cx="3238500" cy="2146935"/>
          </a:xfrm>
        </p:grpSpPr>
        <p:sp>
          <p:nvSpPr>
            <p:cNvPr id="17" name="TextBox 17"/>
            <p:cNvSpPr txBox="1"/>
            <p:nvPr/>
          </p:nvSpPr>
          <p:spPr>
            <a:xfrm>
              <a:off x="1679309" y="3529965"/>
              <a:ext cx="546632" cy="645414"/>
            </a:xfrm>
            <a:prstGeom prst="rect">
              <a:avLst/>
            </a:prstGeom>
            <a:noFill/>
            <a:ln>
              <a:noFill/>
            </a:ln>
          </p:spPr>
          <p:txBody>
            <a:bodyPr wrap="none" lIns="0" tIns="0" rIns="0" bIns="0" anchor="t" anchorCtr="0">
              <a:spAutoFit/>
            </a:bodyPr>
            <a:lstStyle/>
            <a:p>
              <a:pPr algn="ctr"/>
              <a:r>
                <a:rPr lang="zh-CN" sz="3300" b="1" i="1" dirty="0">
                  <a:solidFill>
                    <a:srgbClr val="DCE0F5"/>
                  </a:solidFill>
                  <a:latin typeface="+mn-lt"/>
                  <a:ea typeface="+mn-ea"/>
                  <a:cs typeface="+mn-cs"/>
                </a:rPr>
                <a:t>02</a:t>
              </a:r>
            </a:p>
          </p:txBody>
        </p:sp>
        <p:sp>
          <p:nvSpPr>
            <p:cNvPr id="18" name="Rectangle 18"/>
            <p:cNvSpPr/>
            <p:nvPr/>
          </p:nvSpPr>
          <p:spPr>
            <a:xfrm>
              <a:off x="333375" y="3914775"/>
              <a:ext cx="3238500" cy="247650"/>
            </a:xfrm>
            <a:prstGeom prst="roundRect">
              <a:avLst>
                <a:gd name="adj" fmla="val 15385"/>
              </a:avLst>
            </a:prstGeom>
            <a:gradFill>
              <a:gsLst>
                <a:gs pos="0">
                  <a:srgbClr val="B8503B"/>
                </a:gs>
                <a:gs pos="100000">
                  <a:srgbClr val="E08C7B"/>
                </a:gs>
              </a:gsLst>
              <a:lin ang="0" scaled="1"/>
            </a:gradFill>
            <a:ln>
              <a:noFill/>
            </a:ln>
          </p:spPr>
        </p:sp>
        <p:sp>
          <p:nvSpPr>
            <p:cNvPr id="19" name="TextBox 19"/>
            <p:cNvSpPr txBox="1"/>
            <p:nvPr/>
          </p:nvSpPr>
          <p:spPr>
            <a:xfrm>
              <a:off x="882027" y="3980974"/>
              <a:ext cx="214119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情绪性价比，零食价纵享"高端养生"</a:t>
              </a:r>
            </a:p>
          </p:txBody>
        </p:sp>
        <p:sp>
          <p:nvSpPr>
            <p:cNvPr id="20" name="TextBox 20"/>
            <p:cNvSpPr txBox="1"/>
            <p:nvPr/>
          </p:nvSpPr>
          <p:spPr>
            <a:xfrm>
              <a:off x="423862" y="4315539"/>
              <a:ext cx="2417445" cy="58340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情绪性价比：药膳进补的药材市场价格普遍偏高，</a:t>
              </a:r>
              <a:br/>
              <a:r>
                <a:rPr lang="zh-CN" sz="790" dirty="0">
                  <a:solidFill>
                    <a:srgbClr val="543E3A"/>
                  </a:solidFill>
                  <a:latin typeface="+mn-lt"/>
                  <a:ea typeface="+mn-ea"/>
                  <a:cs typeface="+mn-cs"/>
                </a:rPr>
                <a:t>如：人参、燕窝、灵芝等，但是把药材的口味与用量控</a:t>
              </a:r>
              <a:br/>
              <a:r>
                <a:rPr lang="zh-CN" sz="790" dirty="0">
                  <a:solidFill>
                    <a:srgbClr val="543E3A"/>
                  </a:solidFill>
                  <a:latin typeface="+mn-lt"/>
                  <a:ea typeface="+mn-ea"/>
                  <a:cs typeface="+mn-cs"/>
                </a:rPr>
                <a:t>制结合到食品中，</a:t>
              </a:r>
              <a:r>
                <a:rPr lang="zh-CN" sz="790" dirty="0">
                  <a:solidFill>
                    <a:srgbClr val="E8634C"/>
                  </a:solidFill>
                  <a:latin typeface="+mn-lt"/>
                  <a:ea typeface="+mn-ea"/>
                  <a:cs typeface="+mn-cs"/>
                </a:rPr>
                <a:t>用零食的价格消费到高端的食材</a:t>
              </a:r>
              <a:r>
                <a:rPr lang="zh-CN" sz="790" dirty="0">
                  <a:solidFill>
                    <a:srgbClr val="543E3A"/>
                  </a:solidFill>
                  <a:latin typeface="+mn-lt"/>
                  <a:ea typeface="+mn-ea"/>
                  <a:cs typeface="+mn-cs"/>
                </a:rPr>
                <a:t>，药</a:t>
              </a:r>
              <a:br/>
              <a:r>
                <a:rPr lang="zh-CN" sz="790" dirty="0">
                  <a:solidFill>
                    <a:srgbClr val="543E3A"/>
                  </a:solidFill>
                  <a:latin typeface="+mn-lt"/>
                  <a:ea typeface="+mn-ea"/>
                  <a:cs typeface="+mn-cs"/>
                </a:rPr>
                <a:t>膳本身的价值程度给消费者带来了不一样的情绪价值。</a:t>
              </a:r>
            </a:p>
          </p:txBody>
        </p:sp>
        <p:sp>
          <p:nvSpPr>
            <p:cNvPr id="21" name="Rectangle 21"/>
            <p:cNvSpPr/>
            <p:nvPr/>
          </p:nvSpPr>
          <p:spPr>
            <a:xfrm>
              <a:off x="523875" y="5334000"/>
              <a:ext cx="2762250" cy="342900"/>
            </a:xfrm>
            <a:prstGeom prst="roundRect">
              <a:avLst>
                <a:gd name="adj" fmla="val 11111"/>
              </a:avLst>
            </a:prstGeom>
            <a:solidFill>
              <a:srgbClr val="FFFFFF"/>
            </a:solidFill>
            <a:ln>
              <a:noFill/>
            </a:ln>
            <a:effectLst>
              <a:outerShdw blurRad="152400" dist="57150" dir="5400000" algn="ctr" rotWithShape="0">
                <a:srgbClr val="C45F4A">
                  <a:alpha val="7500"/>
                </a:srgbClr>
              </a:outerShdw>
            </a:effectLst>
          </p:spPr>
        </p:sp>
        <p:sp>
          <p:nvSpPr>
            <p:cNvPr id="22" name="Rectangle 22"/>
            <p:cNvSpPr/>
            <p:nvPr/>
          </p:nvSpPr>
          <p:spPr>
            <a:xfrm>
              <a:off x="609600" y="5381625"/>
              <a:ext cx="400050" cy="247650"/>
            </a:xfrm>
            <a:prstGeom prst="roundRect">
              <a:avLst>
                <a:gd name="adj" fmla="val 11538"/>
              </a:avLst>
            </a:prstGeom>
            <a:solidFill>
              <a:srgbClr val="F0F3FB"/>
            </a:solidFill>
            <a:ln w="9525">
              <a:solidFill>
                <a:srgbClr val="D8DEF2"/>
              </a:solidFill>
            </a:ln>
          </p:spPr>
        </p:sp>
        <p:sp>
          <p:nvSpPr>
            <p:cNvPr id="23" name="Rectangle 23"/>
            <p:cNvSpPr/>
            <p:nvPr/>
          </p:nvSpPr>
          <p:spPr>
            <a:xfrm>
              <a:off x="685800" y="5429250"/>
              <a:ext cx="95250" cy="152400"/>
            </a:xfrm>
            <a:prstGeom prst="rect">
              <a:avLst/>
            </a:prstGeom>
            <a:solidFill>
              <a:srgbClr val="E8634C"/>
            </a:solidFill>
            <a:ln>
              <a:noFill/>
            </a:ln>
          </p:spPr>
        </p:sp>
        <p:sp>
          <p:nvSpPr>
            <p:cNvPr id="24" name="Rectangle 24"/>
            <p:cNvSpPr/>
            <p:nvPr/>
          </p:nvSpPr>
          <p:spPr>
            <a:xfrm>
              <a:off x="819150" y="5448300"/>
              <a:ext cx="114300" cy="133350"/>
            </a:xfrm>
            <a:prstGeom prst="rect">
              <a:avLst/>
            </a:prstGeom>
            <a:solidFill>
              <a:srgbClr val="C45F4A"/>
            </a:solidFill>
            <a:ln>
              <a:noFill/>
            </a:ln>
          </p:spPr>
        </p:sp>
        <p:sp>
          <p:nvSpPr>
            <p:cNvPr id="25" name="TextBox 25"/>
            <p:cNvSpPr txBox="1"/>
            <p:nvPr/>
          </p:nvSpPr>
          <p:spPr>
            <a:xfrm>
              <a:off x="1138238" y="5459968"/>
              <a:ext cx="1413985" cy="169069"/>
            </a:xfrm>
            <a:prstGeom prst="rect">
              <a:avLst/>
            </a:prstGeom>
            <a:noFill/>
            <a:ln>
              <a:noFill/>
            </a:ln>
          </p:spPr>
          <p:txBody>
            <a:bodyPr wrap="none" lIns="0" tIns="0" rIns="0" bIns="0" anchor="t" anchorCtr="0">
              <a:spAutoFit/>
            </a:bodyPr>
            <a:lstStyle/>
            <a:p>
              <a:pPr algn="l"/>
              <a:r>
                <a:rPr lang="zh-CN" sz="860" dirty="0">
                  <a:solidFill>
                    <a:srgbClr val="E8634C"/>
                  </a:solidFill>
                  <a:latin typeface="+mn-lt"/>
                  <a:ea typeface="+mn-ea"/>
                  <a:cs typeface="+mn-cs"/>
                </a:rPr>
                <a:t>代表产品：X即食鲜炖花胶​</a:t>
              </a:r>
            </a:p>
          </p:txBody>
        </p:sp>
      </p:grpSp>
      <p:grpSp>
        <p:nvGrpSpPr>
          <p:cNvPr id="44" name="illustration"/>
          <p:cNvGrpSpPr/>
          <p:nvPr/>
        </p:nvGrpSpPr>
        <p:grpSpPr>
          <a:xfrm>
            <a:off x="3867150" y="1333500"/>
            <a:ext cx="3028950" cy="4254580"/>
            <a:chOff x="3867150" y="1333500"/>
            <a:chExt cx="3028950" cy="4254580"/>
          </a:xfrm>
        </p:grpSpPr>
        <p:sp>
          <p:nvSpPr>
            <p:cNvPr id="27" name="Rectangle 27"/>
            <p:cNvSpPr/>
            <p:nvPr/>
          </p:nvSpPr>
          <p:spPr>
            <a:xfrm>
              <a:off x="4238625" y="1333500"/>
              <a:ext cx="1905000" cy="3810000"/>
            </a:xfrm>
            <a:prstGeom prst="roundRect">
              <a:avLst>
                <a:gd name="adj" fmla="val 50000"/>
              </a:avLst>
            </a:prstGeom>
            <a:solidFill>
              <a:srgbClr val="EEF1FB"/>
            </a:solidFill>
            <a:ln w="14288">
              <a:solidFill>
                <a:srgbClr val="D8DEF2"/>
              </a:solidFill>
            </a:ln>
          </p:spPr>
        </p:sp>
        <p:sp>
          <p:nvSpPr>
            <p:cNvPr id="28" name="Ellipse 28"/>
            <p:cNvSpPr/>
            <p:nvPr/>
          </p:nvSpPr>
          <p:spPr>
            <a:xfrm>
              <a:off x="4467225" y="1724025"/>
              <a:ext cx="209550" cy="209550"/>
            </a:xfrm>
            <a:prstGeom prst="ellipse">
              <a:avLst/>
            </a:prstGeom>
            <a:solidFill>
              <a:srgbClr val="E8634C"/>
            </a:solidFill>
            <a:ln>
              <a:noFill/>
            </a:ln>
          </p:spPr>
        </p:sp>
        <p:sp>
          <p:nvSpPr>
            <p:cNvPr id="29" name="Ellipse 29"/>
            <p:cNvSpPr/>
            <p:nvPr/>
          </p:nvSpPr>
          <p:spPr>
            <a:xfrm>
              <a:off x="5467350" y="1628775"/>
              <a:ext cx="495300" cy="171450"/>
            </a:xfrm>
            <a:prstGeom prst="ellipse">
              <a:avLst/>
            </a:prstGeom>
            <a:solidFill>
              <a:srgbClr val="FFFFFF"/>
            </a:solidFill>
            <a:ln>
              <a:noFill/>
            </a:ln>
          </p:spPr>
        </p:sp>
        <p:sp>
          <p:nvSpPr>
            <p:cNvPr id="30" name="Ellipse 30"/>
            <p:cNvSpPr/>
            <p:nvPr/>
          </p:nvSpPr>
          <p:spPr>
            <a:xfrm>
              <a:off x="4572000" y="2124075"/>
              <a:ext cx="381000" cy="133350"/>
            </a:xfrm>
            <a:prstGeom prst="ellipse">
              <a:avLst/>
            </a:prstGeom>
            <a:solidFill>
              <a:srgbClr val="FFFFFF"/>
            </a:solidFill>
            <a:ln>
              <a:noFill/>
            </a:ln>
          </p:spPr>
        </p:sp>
        <p:sp>
          <p:nvSpPr>
            <p:cNvPr id="31" name="Freeform 31"/>
            <p:cNvSpPr/>
            <p:nvPr/>
          </p:nvSpPr>
          <p:spPr>
            <a:xfrm>
              <a:off x="4762500" y="3333750"/>
              <a:ext cx="857250" cy="1809750"/>
            </a:xfrm>
            <a:custGeom>
              <a:avLst/>
              <a:gdLst/>
              <a:ahLst/>
              <a:cxnLst/>
              <a:rect l="l" t="t" r="r" b="b"/>
              <a:pathLst>
                <a:path w="857250" h="1809750">
                  <a:moveTo>
                    <a:pt x="0" y="1809750"/>
                  </a:moveTo>
                  <a:lnTo>
                    <a:pt x="0" y="476250"/>
                  </a:lnTo>
                  <a:cubicBezTo>
                    <a:pt x="0" y="158750"/>
                    <a:pt x="142875" y="0"/>
                    <a:pt x="428625" y="0"/>
                  </a:cubicBezTo>
                  <a:cubicBezTo>
                    <a:pt x="714375" y="0"/>
                    <a:pt x="857250" y="158750"/>
                    <a:pt x="857250" y="476250"/>
                  </a:cubicBezTo>
                  <a:lnTo>
                    <a:pt x="857250" y="1809750"/>
                  </a:lnTo>
                  <a:close/>
                </a:path>
              </a:pathLst>
            </a:custGeom>
            <a:solidFill>
              <a:srgbClr val="F0BBB0"/>
            </a:solidFill>
            <a:ln>
              <a:noFill/>
            </a:ln>
          </p:spPr>
        </p:sp>
        <p:sp>
          <p:nvSpPr>
            <p:cNvPr id="32" name="Freeform 32"/>
            <p:cNvSpPr/>
            <p:nvPr/>
          </p:nvSpPr>
          <p:spPr>
            <a:xfrm>
              <a:off x="4762500" y="3276600"/>
              <a:ext cx="857250" cy="533400"/>
            </a:xfrm>
            <a:custGeom>
              <a:avLst/>
              <a:gdLst/>
              <a:ahLst/>
              <a:cxnLst/>
              <a:rect l="l" t="t" r="r" b="b"/>
              <a:pathLst>
                <a:path w="857250" h="533400">
                  <a:moveTo>
                    <a:pt x="47625" y="266700"/>
                  </a:moveTo>
                  <a:cubicBezTo>
                    <a:pt x="301625" y="0"/>
                    <a:pt x="555625" y="0"/>
                    <a:pt x="809625" y="266700"/>
                  </a:cubicBezTo>
                  <a:lnTo>
                    <a:pt x="857250" y="533400"/>
                  </a:lnTo>
                  <a:lnTo>
                    <a:pt x="571500" y="457200"/>
                  </a:lnTo>
                  <a:lnTo>
                    <a:pt x="285750" y="457200"/>
                  </a:lnTo>
                  <a:lnTo>
                    <a:pt x="0" y="533400"/>
                  </a:lnTo>
                  <a:close/>
                </a:path>
              </a:pathLst>
            </a:custGeom>
            <a:solidFill>
              <a:srgbClr val="E8634C"/>
            </a:solidFill>
            <a:ln>
              <a:noFill/>
            </a:ln>
          </p:spPr>
        </p:sp>
        <p:sp>
          <p:nvSpPr>
            <p:cNvPr id="33" name="Ellipse 33"/>
            <p:cNvSpPr/>
            <p:nvPr/>
          </p:nvSpPr>
          <p:spPr>
            <a:xfrm>
              <a:off x="4905375" y="2571750"/>
              <a:ext cx="571500" cy="571500"/>
            </a:xfrm>
            <a:prstGeom prst="ellipse">
              <a:avLst/>
            </a:prstGeom>
            <a:solidFill>
              <a:srgbClr val="F5C1B8"/>
            </a:solidFill>
            <a:ln>
              <a:noFill/>
            </a:ln>
          </p:spPr>
        </p:sp>
        <p:sp>
          <p:nvSpPr>
            <p:cNvPr id="34" name="Freeform 34"/>
            <p:cNvSpPr/>
            <p:nvPr/>
          </p:nvSpPr>
          <p:spPr>
            <a:xfrm>
              <a:off x="4832350" y="2381250"/>
              <a:ext cx="723900" cy="476250"/>
            </a:xfrm>
            <a:custGeom>
              <a:avLst/>
              <a:gdLst/>
              <a:ahLst/>
              <a:cxnLst/>
              <a:rect l="l" t="t" r="r" b="b"/>
              <a:pathLst>
                <a:path w="723900" h="476250">
                  <a:moveTo>
                    <a:pt x="44450" y="476250"/>
                  </a:moveTo>
                  <a:cubicBezTo>
                    <a:pt x="0" y="190500"/>
                    <a:pt x="104775" y="31750"/>
                    <a:pt x="358775" y="0"/>
                  </a:cubicBezTo>
                  <a:cubicBezTo>
                    <a:pt x="612775" y="31750"/>
                    <a:pt x="723900" y="190500"/>
                    <a:pt x="692150" y="476250"/>
                  </a:cubicBezTo>
                  <a:cubicBezTo>
                    <a:pt x="660400" y="285750"/>
                    <a:pt x="549275" y="184150"/>
                    <a:pt x="358775" y="171450"/>
                  </a:cubicBezTo>
                  <a:cubicBezTo>
                    <a:pt x="168275" y="184150"/>
                    <a:pt x="63500" y="285750"/>
                    <a:pt x="44450" y="476250"/>
                  </a:cubicBezTo>
                  <a:close/>
                </a:path>
              </a:pathLst>
            </a:custGeom>
            <a:solidFill>
              <a:srgbClr val="3A2E2B"/>
            </a:solidFill>
            <a:ln>
              <a:noFill/>
            </a:ln>
          </p:spPr>
        </p:sp>
        <p:sp>
          <p:nvSpPr>
            <p:cNvPr id="35" name="Freeform 35"/>
            <p:cNvSpPr/>
            <p:nvPr/>
          </p:nvSpPr>
          <p:spPr>
            <a:xfrm>
              <a:off x="4476750" y="2857500"/>
              <a:ext cx="476250" cy="1079500"/>
            </a:xfrm>
            <a:custGeom>
              <a:avLst/>
              <a:gdLst/>
              <a:ahLst/>
              <a:cxnLst/>
              <a:rect l="l" t="t" r="r" b="b"/>
              <a:pathLst>
                <a:path w="476250" h="1079500">
                  <a:moveTo>
                    <a:pt x="400050" y="0"/>
                  </a:moveTo>
                  <a:cubicBezTo>
                    <a:pt x="260350" y="254000"/>
                    <a:pt x="127000" y="571500"/>
                    <a:pt x="0" y="952500"/>
                  </a:cubicBezTo>
                  <a:cubicBezTo>
                    <a:pt x="127000" y="1079500"/>
                    <a:pt x="238125" y="1016000"/>
                    <a:pt x="333375" y="762000"/>
                  </a:cubicBezTo>
                  <a:cubicBezTo>
                    <a:pt x="365125" y="508000"/>
                    <a:pt x="412750" y="317500"/>
                    <a:pt x="476250" y="190500"/>
                  </a:cubicBezTo>
                  <a:close/>
                </a:path>
              </a:pathLst>
            </a:custGeom>
            <a:solidFill>
              <a:srgbClr val="3A2E2B"/>
            </a:solidFill>
            <a:ln>
              <a:noFill/>
            </a:ln>
          </p:spPr>
        </p:sp>
        <p:sp>
          <p:nvSpPr>
            <p:cNvPr id="36" name="Rectangle 36"/>
            <p:cNvSpPr/>
            <p:nvPr/>
          </p:nvSpPr>
          <p:spPr>
            <a:xfrm>
              <a:off x="5524500" y="2495550"/>
              <a:ext cx="342900" cy="133350"/>
            </a:xfrm>
            <a:prstGeom prst="roundRect">
              <a:avLst>
                <a:gd name="adj" fmla="val 35714"/>
              </a:avLst>
            </a:prstGeom>
            <a:solidFill>
              <a:srgbClr val="C45F4A"/>
            </a:solidFill>
            <a:ln>
              <a:noFill/>
            </a:ln>
          </p:spPr>
        </p:sp>
        <p:sp>
          <p:nvSpPr>
            <p:cNvPr id="37" name="Rectangle 37"/>
            <p:cNvSpPr/>
            <p:nvPr/>
          </p:nvSpPr>
          <p:spPr>
            <a:xfrm>
              <a:off x="5829300" y="2457450"/>
              <a:ext cx="114300" cy="209550"/>
            </a:xfrm>
            <a:prstGeom prst="roundRect">
              <a:avLst>
                <a:gd name="adj" fmla="val 25000"/>
              </a:avLst>
            </a:prstGeom>
            <a:solidFill>
              <a:srgbClr val="B8503B"/>
            </a:solidFill>
            <a:ln>
              <a:noFill/>
            </a:ln>
          </p:spPr>
        </p:sp>
        <p:sp>
          <p:nvSpPr>
            <p:cNvPr id="38" name="Ellipse 38"/>
            <p:cNvSpPr/>
            <p:nvPr/>
          </p:nvSpPr>
          <p:spPr>
            <a:xfrm>
              <a:off x="3867150" y="2247900"/>
              <a:ext cx="76200" cy="76200"/>
            </a:xfrm>
            <a:prstGeom prst="ellipse">
              <a:avLst/>
            </a:prstGeom>
            <a:solidFill>
              <a:srgbClr val="C45F4A"/>
            </a:solidFill>
            <a:ln>
              <a:noFill/>
            </a:ln>
          </p:spPr>
        </p:sp>
        <p:sp>
          <p:nvSpPr>
            <p:cNvPr id="39" name="Ellipse 39"/>
            <p:cNvSpPr/>
            <p:nvPr/>
          </p:nvSpPr>
          <p:spPr>
            <a:xfrm>
              <a:off x="3867150" y="3771900"/>
              <a:ext cx="76200" cy="76200"/>
            </a:xfrm>
            <a:prstGeom prst="ellipse">
              <a:avLst/>
            </a:prstGeom>
            <a:solidFill>
              <a:srgbClr val="C45F4A"/>
            </a:solidFill>
            <a:ln>
              <a:noFill/>
            </a:ln>
          </p:spPr>
        </p:sp>
        <p:sp>
          <p:nvSpPr>
            <p:cNvPr id="40" name="Ellipse 40"/>
            <p:cNvSpPr/>
            <p:nvPr/>
          </p:nvSpPr>
          <p:spPr>
            <a:xfrm>
              <a:off x="6819900" y="2247900"/>
              <a:ext cx="76200" cy="76200"/>
            </a:xfrm>
            <a:prstGeom prst="ellipse">
              <a:avLst/>
            </a:prstGeom>
            <a:solidFill>
              <a:srgbClr val="C45F4A"/>
            </a:solidFill>
            <a:ln>
              <a:noFill/>
            </a:ln>
          </p:spPr>
        </p:sp>
        <p:sp>
          <p:nvSpPr>
            <p:cNvPr id="41" name="Ellipse 41"/>
            <p:cNvSpPr/>
            <p:nvPr/>
          </p:nvSpPr>
          <p:spPr>
            <a:xfrm>
              <a:off x="6819900" y="3771900"/>
              <a:ext cx="76200" cy="76200"/>
            </a:xfrm>
            <a:prstGeom prst="ellipse">
              <a:avLst/>
            </a:prstGeom>
            <a:solidFill>
              <a:srgbClr val="C45F4A"/>
            </a:solidFill>
            <a:ln>
              <a:noFill/>
            </a:ln>
          </p:spPr>
        </p:sp>
        <p:sp>
          <p:nvSpPr>
            <p:cNvPr id="42" name="TextBox 42"/>
            <p:cNvSpPr txBox="1"/>
            <p:nvPr/>
          </p:nvSpPr>
          <p:spPr>
            <a:xfrm>
              <a:off x="4819952" y="5304711"/>
              <a:ext cx="742345" cy="140494"/>
            </a:xfrm>
            <a:prstGeom prst="rect">
              <a:avLst/>
            </a:prstGeom>
            <a:noFill/>
            <a:ln>
              <a:noFill/>
            </a:ln>
          </p:spPr>
          <p:txBody>
            <a:bodyPr wrap="none" lIns="0" tIns="0" rIns="0" bIns="0" anchor="t" anchorCtr="0">
              <a:spAutoFit/>
            </a:bodyPr>
            <a:lstStyle/>
            <a:p>
              <a:pPr algn="ctr"/>
              <a:r>
                <a:rPr lang="en-US" sz="710" spc="75" dirty="0">
                  <a:solidFill>
                    <a:srgbClr val="88706B"/>
                  </a:solidFill>
                  <a:latin typeface="+mn-lt"/>
                  <a:ea typeface="+mn-ea"/>
                  <a:cs typeface="+mn-cs"/>
                </a:rPr>
                <a:t>OPPORTUNITY</a:t>
              </a:r>
            </a:p>
          </p:txBody>
        </p:sp>
        <p:sp>
          <p:nvSpPr>
            <p:cNvPr id="43" name="TextBox 43"/>
            <p:cNvSpPr txBox="1"/>
            <p:nvPr/>
          </p:nvSpPr>
          <p:spPr>
            <a:xfrm>
              <a:off x="4447924" y="5447586"/>
              <a:ext cx="1486403" cy="140494"/>
            </a:xfrm>
            <a:prstGeom prst="rect">
              <a:avLst/>
            </a:prstGeom>
            <a:noFill/>
            <a:ln>
              <a:noFill/>
            </a:ln>
          </p:spPr>
          <p:txBody>
            <a:bodyPr wrap="none" lIns="0" tIns="0" rIns="0" bIns="0" anchor="t" anchorCtr="0">
              <a:spAutoFit/>
            </a:bodyPr>
            <a:lstStyle/>
            <a:p>
              <a:pPr algn="ctr"/>
              <a:r>
                <a:rPr lang="en-US" sz="710" spc="75" dirty="0">
                  <a:solidFill>
                    <a:srgbClr val="88706B"/>
                  </a:solidFill>
                  <a:latin typeface="+mn-lt"/>
                  <a:ea typeface="+mn-ea"/>
                  <a:cs typeface="+mn-cs"/>
                </a:rPr>
                <a:t>OF HEALTH CARE PRODUCTS</a:t>
              </a:r>
            </a:p>
          </p:txBody>
        </p:sp>
      </p:grpSp>
      <p:grpSp>
        <p:nvGrpSpPr>
          <p:cNvPr id="54" name="card-03"/>
          <p:cNvGrpSpPr/>
          <p:nvPr/>
        </p:nvGrpSpPr>
        <p:grpSpPr>
          <a:xfrm>
            <a:off x="7096125" y="805815"/>
            <a:ext cx="3238500" cy="2261235"/>
            <a:chOff x="7096125" y="805815"/>
            <a:chExt cx="3238500" cy="2261235"/>
          </a:xfrm>
        </p:grpSpPr>
        <p:sp>
          <p:nvSpPr>
            <p:cNvPr id="45" name="TextBox 45"/>
            <p:cNvSpPr txBox="1"/>
            <p:nvPr/>
          </p:nvSpPr>
          <p:spPr>
            <a:xfrm>
              <a:off x="8442059" y="805815"/>
              <a:ext cx="546632" cy="645414"/>
            </a:xfrm>
            <a:prstGeom prst="rect">
              <a:avLst/>
            </a:prstGeom>
            <a:noFill/>
            <a:ln>
              <a:noFill/>
            </a:ln>
          </p:spPr>
          <p:txBody>
            <a:bodyPr wrap="none" lIns="0" tIns="0" rIns="0" bIns="0" anchor="t" anchorCtr="0">
              <a:spAutoFit/>
            </a:bodyPr>
            <a:lstStyle/>
            <a:p>
              <a:pPr algn="ctr"/>
              <a:r>
                <a:rPr lang="zh-CN" sz="3300" b="1" i="1" dirty="0">
                  <a:solidFill>
                    <a:srgbClr val="DCE0F5"/>
                  </a:solidFill>
                  <a:latin typeface="+mn-lt"/>
                  <a:ea typeface="+mn-ea"/>
                  <a:cs typeface="+mn-cs"/>
                </a:rPr>
                <a:t>03</a:t>
              </a:r>
            </a:p>
          </p:txBody>
        </p:sp>
        <p:sp>
          <p:nvSpPr>
            <p:cNvPr id="46" name="Rectangle 46"/>
            <p:cNvSpPr/>
            <p:nvPr/>
          </p:nvSpPr>
          <p:spPr>
            <a:xfrm>
              <a:off x="7096125" y="1190625"/>
              <a:ext cx="3238500" cy="247650"/>
            </a:xfrm>
            <a:prstGeom prst="roundRect">
              <a:avLst>
                <a:gd name="adj" fmla="val 15385"/>
              </a:avLst>
            </a:prstGeom>
            <a:gradFill>
              <a:gsLst>
                <a:gs pos="0">
                  <a:srgbClr val="B8503B"/>
                </a:gs>
                <a:gs pos="100000">
                  <a:srgbClr val="E08C7B"/>
                </a:gs>
              </a:gsLst>
              <a:lin ang="0" scaled="1"/>
            </a:gradFill>
            <a:ln>
              <a:noFill/>
            </a:ln>
          </p:spPr>
        </p:sp>
        <p:sp>
          <p:nvSpPr>
            <p:cNvPr id="47" name="TextBox 47"/>
            <p:cNvSpPr txBox="1"/>
            <p:nvPr/>
          </p:nvSpPr>
          <p:spPr>
            <a:xfrm>
              <a:off x="8116748" y="1256824"/>
              <a:ext cx="119725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健康基础口味的衍生</a:t>
              </a:r>
            </a:p>
          </p:txBody>
        </p:sp>
        <p:sp>
          <p:nvSpPr>
            <p:cNvPr id="48" name="TextBox 48"/>
            <p:cNvSpPr txBox="1"/>
            <p:nvPr/>
          </p:nvSpPr>
          <p:spPr>
            <a:xfrm>
              <a:off x="7186612" y="1591389"/>
              <a:ext cx="2417445" cy="726281"/>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口味多样性：从食品角度和保健品药材角度突破口味局</a:t>
              </a:r>
              <a:br/>
              <a:r>
                <a:rPr lang="zh-CN" sz="790" dirty="0">
                  <a:solidFill>
                    <a:srgbClr val="543E3A"/>
                  </a:solidFill>
                  <a:latin typeface="+mn-lt"/>
                  <a:ea typeface="+mn-ea"/>
                  <a:cs typeface="+mn-cs"/>
                </a:rPr>
                <a:t>限性，食品品牌根据</a:t>
              </a:r>
              <a:r>
                <a:rPr lang="zh-CN" sz="790" dirty="0">
                  <a:solidFill>
                    <a:srgbClr val="C45F4A"/>
                  </a:solidFill>
                  <a:latin typeface="+mn-lt"/>
                  <a:ea typeface="+mn-ea"/>
                  <a:cs typeface="+mn-cs"/>
                </a:rPr>
                <a:t>"药食同源"的新思路</a:t>
              </a:r>
              <a:r>
                <a:rPr lang="zh-CN" sz="790" dirty="0">
                  <a:solidFill>
                    <a:srgbClr val="543E3A"/>
                  </a:solidFill>
                  <a:latin typeface="+mn-lt"/>
                  <a:ea typeface="+mn-ea"/>
                  <a:cs typeface="+mn-cs"/>
                </a:rPr>
                <a:t>，将中式滋</a:t>
              </a:r>
              <a:br/>
              <a:r>
                <a:rPr lang="zh-CN" sz="790" dirty="0">
                  <a:solidFill>
                    <a:srgbClr val="543E3A"/>
                  </a:solidFill>
                  <a:latin typeface="+mn-lt"/>
                  <a:ea typeface="+mn-ea"/>
                  <a:cs typeface="+mn-cs"/>
                </a:rPr>
                <a:t>补品与不同的食品或者饮料"组CP"，让含有一定药材</a:t>
              </a:r>
              <a:br/>
              <a:r>
                <a:rPr lang="zh-CN" sz="790" dirty="0">
                  <a:solidFill>
                    <a:srgbClr val="543E3A"/>
                  </a:solidFill>
                  <a:latin typeface="+mn-lt"/>
                  <a:ea typeface="+mn-ea"/>
                  <a:cs typeface="+mn-cs"/>
                </a:rPr>
                <a:t>的养生食品口感更加美味，给予消费者更新潮、更多样</a:t>
              </a:r>
              <a:br/>
              <a:r>
                <a:rPr lang="zh-CN" sz="790" dirty="0">
                  <a:solidFill>
                    <a:srgbClr val="543E3A"/>
                  </a:solidFill>
                  <a:latin typeface="+mn-lt"/>
                  <a:ea typeface="+mn-ea"/>
                  <a:cs typeface="+mn-cs"/>
                </a:rPr>
                <a:t>的选择，并且进一步降低了消费者的人群门槛。</a:t>
              </a:r>
            </a:p>
          </p:txBody>
        </p:sp>
        <p:sp>
          <p:nvSpPr>
            <p:cNvPr id="49" name="Rectangle 49"/>
            <p:cNvSpPr/>
            <p:nvPr/>
          </p:nvSpPr>
          <p:spPr>
            <a:xfrm>
              <a:off x="7286625" y="2724150"/>
              <a:ext cx="2762250" cy="342900"/>
            </a:xfrm>
            <a:prstGeom prst="roundRect">
              <a:avLst>
                <a:gd name="adj" fmla="val 11111"/>
              </a:avLst>
            </a:prstGeom>
            <a:solidFill>
              <a:srgbClr val="FFFFFF"/>
            </a:solidFill>
            <a:ln>
              <a:noFill/>
            </a:ln>
            <a:effectLst>
              <a:outerShdw blurRad="152400" dist="57150" dir="5400000" algn="ctr" rotWithShape="0">
                <a:srgbClr val="C45F4A">
                  <a:alpha val="7500"/>
                </a:srgbClr>
              </a:outerShdw>
            </a:effectLst>
          </p:spPr>
        </p:sp>
        <p:sp>
          <p:nvSpPr>
            <p:cNvPr id="50" name="Rectangle 50"/>
            <p:cNvSpPr/>
            <p:nvPr/>
          </p:nvSpPr>
          <p:spPr>
            <a:xfrm>
              <a:off x="7372350" y="2771775"/>
              <a:ext cx="400050" cy="247650"/>
            </a:xfrm>
            <a:prstGeom prst="roundRect">
              <a:avLst>
                <a:gd name="adj" fmla="val 11538"/>
              </a:avLst>
            </a:prstGeom>
            <a:solidFill>
              <a:srgbClr val="F0F3FB"/>
            </a:solidFill>
            <a:ln w="9525">
              <a:solidFill>
                <a:srgbClr val="D8DEF2"/>
              </a:solidFill>
            </a:ln>
          </p:spPr>
        </p:sp>
        <p:sp>
          <p:nvSpPr>
            <p:cNvPr id="51" name="Rectangle 51"/>
            <p:cNvSpPr/>
            <p:nvPr/>
          </p:nvSpPr>
          <p:spPr>
            <a:xfrm>
              <a:off x="7448550" y="2819400"/>
              <a:ext cx="95250" cy="152400"/>
            </a:xfrm>
            <a:prstGeom prst="rect">
              <a:avLst/>
            </a:prstGeom>
            <a:solidFill>
              <a:srgbClr val="E8634C"/>
            </a:solidFill>
            <a:ln>
              <a:noFill/>
            </a:ln>
          </p:spPr>
        </p:sp>
        <p:sp>
          <p:nvSpPr>
            <p:cNvPr id="52" name="Rectangle 52"/>
            <p:cNvSpPr/>
            <p:nvPr/>
          </p:nvSpPr>
          <p:spPr>
            <a:xfrm>
              <a:off x="7581900" y="2838450"/>
              <a:ext cx="114300" cy="133350"/>
            </a:xfrm>
            <a:prstGeom prst="rect">
              <a:avLst/>
            </a:prstGeom>
            <a:solidFill>
              <a:srgbClr val="C45F4A"/>
            </a:solidFill>
            <a:ln>
              <a:noFill/>
            </a:ln>
          </p:spPr>
        </p:sp>
        <p:sp>
          <p:nvSpPr>
            <p:cNvPr id="53" name="TextBox 53"/>
            <p:cNvSpPr txBox="1"/>
            <p:nvPr/>
          </p:nvSpPr>
          <p:spPr>
            <a:xfrm>
              <a:off x="7900988" y="2850118"/>
              <a:ext cx="1298212" cy="169069"/>
            </a:xfrm>
            <a:prstGeom prst="rect">
              <a:avLst/>
            </a:prstGeom>
            <a:noFill/>
            <a:ln>
              <a:noFill/>
            </a:ln>
          </p:spPr>
          <p:txBody>
            <a:bodyPr wrap="none" lIns="0" tIns="0" rIns="0" bIns="0" anchor="t" anchorCtr="0">
              <a:spAutoFit/>
            </a:bodyPr>
            <a:lstStyle/>
            <a:p>
              <a:pPr algn="l"/>
              <a:r>
                <a:rPr lang="zh-CN" sz="860" dirty="0">
                  <a:solidFill>
                    <a:srgbClr val="E8634C"/>
                  </a:solidFill>
                  <a:latin typeface="+mn-lt"/>
                  <a:ea typeface="+mn-ea"/>
                  <a:cs typeface="+mn-cs"/>
                </a:rPr>
                <a:t>代表产品：X整根人参水​</a:t>
              </a:r>
            </a:p>
          </p:txBody>
        </p:sp>
      </p:grpSp>
      <p:grpSp>
        <p:nvGrpSpPr>
          <p:cNvPr id="64" name="card-04"/>
          <p:cNvGrpSpPr/>
          <p:nvPr/>
        </p:nvGrpSpPr>
        <p:grpSpPr>
          <a:xfrm>
            <a:off x="7096125" y="3529965"/>
            <a:ext cx="3238500" cy="2146935"/>
            <a:chOff x="7096125" y="3529965"/>
            <a:chExt cx="3238500" cy="2146935"/>
          </a:xfrm>
        </p:grpSpPr>
        <p:sp>
          <p:nvSpPr>
            <p:cNvPr id="55" name="TextBox 55"/>
            <p:cNvSpPr txBox="1"/>
            <p:nvPr/>
          </p:nvSpPr>
          <p:spPr>
            <a:xfrm>
              <a:off x="8442059" y="3529965"/>
              <a:ext cx="546632" cy="645414"/>
            </a:xfrm>
            <a:prstGeom prst="rect">
              <a:avLst/>
            </a:prstGeom>
            <a:noFill/>
            <a:ln>
              <a:noFill/>
            </a:ln>
          </p:spPr>
          <p:txBody>
            <a:bodyPr wrap="none" lIns="0" tIns="0" rIns="0" bIns="0" anchor="t" anchorCtr="0">
              <a:spAutoFit/>
            </a:bodyPr>
            <a:lstStyle/>
            <a:p>
              <a:pPr algn="ctr"/>
              <a:r>
                <a:rPr lang="zh-CN" sz="3300" b="1" i="1" dirty="0">
                  <a:solidFill>
                    <a:srgbClr val="DCE0F5"/>
                  </a:solidFill>
                  <a:latin typeface="+mn-lt"/>
                  <a:ea typeface="+mn-ea"/>
                  <a:cs typeface="+mn-cs"/>
                </a:rPr>
                <a:t>04</a:t>
              </a:r>
            </a:p>
          </p:txBody>
        </p:sp>
        <p:sp>
          <p:nvSpPr>
            <p:cNvPr id="56" name="Rectangle 56"/>
            <p:cNvSpPr/>
            <p:nvPr/>
          </p:nvSpPr>
          <p:spPr>
            <a:xfrm>
              <a:off x="7096125" y="3914775"/>
              <a:ext cx="3238500" cy="247650"/>
            </a:xfrm>
            <a:prstGeom prst="roundRect">
              <a:avLst>
                <a:gd name="adj" fmla="val 15385"/>
              </a:avLst>
            </a:prstGeom>
            <a:gradFill>
              <a:gsLst>
                <a:gs pos="0">
                  <a:srgbClr val="B8503B"/>
                </a:gs>
                <a:gs pos="100000">
                  <a:srgbClr val="E08C7B"/>
                </a:gs>
              </a:gsLst>
              <a:lin ang="0" scaled="1"/>
            </a:gradFill>
            <a:ln>
              <a:noFill/>
            </a:ln>
          </p:spPr>
        </p:sp>
        <p:sp>
          <p:nvSpPr>
            <p:cNvPr id="57" name="TextBox 57"/>
            <p:cNvSpPr txBox="1"/>
            <p:nvPr/>
          </p:nvSpPr>
          <p:spPr>
            <a:xfrm>
              <a:off x="7918856" y="3980974"/>
              <a:ext cx="159303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高颜值化，新中式国潮崛起</a:t>
              </a:r>
            </a:p>
          </p:txBody>
        </p:sp>
        <p:sp>
          <p:nvSpPr>
            <p:cNvPr id="58" name="TextBox 58"/>
            <p:cNvSpPr txBox="1"/>
            <p:nvPr/>
          </p:nvSpPr>
          <p:spPr>
            <a:xfrm>
              <a:off x="7186612" y="4315539"/>
              <a:ext cx="2417445" cy="583406"/>
            </a:xfrm>
            <a:prstGeom prst="rect">
              <a:avLst/>
            </a:prstGeom>
            <a:noFill/>
            <a:ln>
              <a:noFill/>
            </a:ln>
          </p:spPr>
          <p:txBody>
            <a:bodyPr wrap="none" lIns="0" tIns="0" rIns="0" bIns="0" anchor="t" anchorCtr="0">
              <a:spAutoFit/>
            </a:bodyPr>
            <a:lstStyle/>
            <a:p>
              <a:pPr algn="l">
                <a:lnSpc>
                  <a:spcPts val="1125"/>
                </a:lnSpc>
              </a:pPr>
              <a:r>
                <a:rPr lang="zh-CN" sz="790" dirty="0">
                  <a:solidFill>
                    <a:srgbClr val="543E3A"/>
                  </a:solidFill>
                  <a:latin typeface="+mn-lt"/>
                  <a:ea typeface="+mn-ea"/>
                  <a:cs typeface="+mn-cs"/>
                </a:rPr>
                <a:t>高颜值化：</a:t>
              </a:r>
              <a:r>
                <a:rPr lang="zh-CN" sz="790" dirty="0">
                  <a:solidFill>
                    <a:srgbClr val="E8634C"/>
                  </a:solidFill>
                  <a:latin typeface="+mn-lt"/>
                  <a:ea typeface="+mn-ea"/>
                  <a:cs typeface="+mn-cs"/>
                </a:rPr>
                <a:t>"食疗进补"的文化</a:t>
              </a:r>
              <a:r>
                <a:rPr lang="zh-CN" sz="790" dirty="0">
                  <a:solidFill>
                    <a:srgbClr val="543E3A"/>
                  </a:solidFill>
                  <a:latin typeface="+mn-lt"/>
                  <a:ea typeface="+mn-ea"/>
                  <a:cs typeface="+mn-cs"/>
                </a:rPr>
                <a:t>来源于中华民族千年的</a:t>
              </a:r>
              <a:br/>
              <a:r>
                <a:rPr lang="zh-CN" sz="790" dirty="0">
                  <a:solidFill>
                    <a:srgbClr val="543E3A"/>
                  </a:solidFill>
                  <a:latin typeface="+mn-lt"/>
                  <a:ea typeface="+mn-ea"/>
                  <a:cs typeface="+mn-cs"/>
                </a:rPr>
                <a:t>传统，故宫文创的爆火，导致近几年国内消费者对于新</a:t>
              </a:r>
              <a:br/>
              <a:r>
                <a:rPr lang="zh-CN" sz="790" dirty="0">
                  <a:solidFill>
                    <a:srgbClr val="543E3A"/>
                  </a:solidFill>
                  <a:latin typeface="+mn-lt"/>
                  <a:ea typeface="+mn-ea"/>
                  <a:cs typeface="+mn-cs"/>
                </a:rPr>
                <a:t>中式的热度只增不减，在食品包装中也运用到更为时尚</a:t>
              </a:r>
              <a:br/>
              <a:r>
                <a:rPr lang="zh-CN" sz="790" dirty="0">
                  <a:solidFill>
                    <a:srgbClr val="543E3A"/>
                  </a:solidFill>
                  <a:latin typeface="+mn-lt"/>
                  <a:ea typeface="+mn-ea"/>
                  <a:cs typeface="+mn-cs"/>
                </a:rPr>
                <a:t>潮流的"新中式"设计，满足年轻人的多样性要求。</a:t>
              </a:r>
            </a:p>
          </p:txBody>
        </p:sp>
        <p:sp>
          <p:nvSpPr>
            <p:cNvPr id="59" name="Rectangle 59"/>
            <p:cNvSpPr/>
            <p:nvPr/>
          </p:nvSpPr>
          <p:spPr>
            <a:xfrm>
              <a:off x="7286625" y="5334000"/>
              <a:ext cx="2762250" cy="342900"/>
            </a:xfrm>
            <a:prstGeom prst="roundRect">
              <a:avLst>
                <a:gd name="adj" fmla="val 11111"/>
              </a:avLst>
            </a:prstGeom>
            <a:solidFill>
              <a:srgbClr val="FFFFFF"/>
            </a:solidFill>
            <a:ln>
              <a:noFill/>
            </a:ln>
            <a:effectLst>
              <a:outerShdw blurRad="152400" dist="57150" dir="5400000" algn="ctr" rotWithShape="0">
                <a:srgbClr val="C45F4A">
                  <a:alpha val="7500"/>
                </a:srgbClr>
              </a:outerShdw>
            </a:effectLst>
          </p:spPr>
        </p:sp>
        <p:sp>
          <p:nvSpPr>
            <p:cNvPr id="60" name="Rectangle 60"/>
            <p:cNvSpPr/>
            <p:nvPr/>
          </p:nvSpPr>
          <p:spPr>
            <a:xfrm>
              <a:off x="7372350" y="5381625"/>
              <a:ext cx="400050" cy="247650"/>
            </a:xfrm>
            <a:prstGeom prst="roundRect">
              <a:avLst>
                <a:gd name="adj" fmla="val 11538"/>
              </a:avLst>
            </a:prstGeom>
            <a:solidFill>
              <a:srgbClr val="F0F3FB"/>
            </a:solidFill>
            <a:ln w="9525">
              <a:solidFill>
                <a:srgbClr val="D8DEF2"/>
              </a:solidFill>
            </a:ln>
          </p:spPr>
        </p:sp>
        <p:sp>
          <p:nvSpPr>
            <p:cNvPr id="61" name="Rectangle 61"/>
            <p:cNvSpPr/>
            <p:nvPr/>
          </p:nvSpPr>
          <p:spPr>
            <a:xfrm>
              <a:off x="7448550" y="5429250"/>
              <a:ext cx="95250" cy="152400"/>
            </a:xfrm>
            <a:prstGeom prst="rect">
              <a:avLst/>
            </a:prstGeom>
            <a:solidFill>
              <a:srgbClr val="E8634C"/>
            </a:solidFill>
            <a:ln>
              <a:noFill/>
            </a:ln>
          </p:spPr>
        </p:sp>
        <p:sp>
          <p:nvSpPr>
            <p:cNvPr id="62" name="Rectangle 62"/>
            <p:cNvSpPr/>
            <p:nvPr/>
          </p:nvSpPr>
          <p:spPr>
            <a:xfrm>
              <a:off x="7581900" y="5448300"/>
              <a:ext cx="114300" cy="133350"/>
            </a:xfrm>
            <a:prstGeom prst="rect">
              <a:avLst/>
            </a:prstGeom>
            <a:solidFill>
              <a:srgbClr val="C45F4A"/>
            </a:solidFill>
            <a:ln>
              <a:noFill/>
            </a:ln>
          </p:spPr>
        </p:sp>
        <p:sp>
          <p:nvSpPr>
            <p:cNvPr id="63" name="TextBox 63"/>
            <p:cNvSpPr txBox="1"/>
            <p:nvPr/>
          </p:nvSpPr>
          <p:spPr>
            <a:xfrm>
              <a:off x="7900988" y="5459968"/>
              <a:ext cx="1066665" cy="169069"/>
            </a:xfrm>
            <a:prstGeom prst="rect">
              <a:avLst/>
            </a:prstGeom>
            <a:noFill/>
            <a:ln>
              <a:noFill/>
            </a:ln>
          </p:spPr>
          <p:txBody>
            <a:bodyPr wrap="none" lIns="0" tIns="0" rIns="0" bIns="0" anchor="t" anchorCtr="0">
              <a:spAutoFit/>
            </a:bodyPr>
            <a:lstStyle/>
            <a:p>
              <a:pPr algn="l"/>
              <a:r>
                <a:rPr lang="zh-CN" sz="860" dirty="0">
                  <a:solidFill>
                    <a:srgbClr val="E8634C"/>
                  </a:solidFill>
                  <a:latin typeface="+mn-lt"/>
                  <a:ea typeface="+mn-ea"/>
                  <a:cs typeface="+mn-cs"/>
                </a:rPr>
                <a:t>代表产品：X芝麻丸​</a:t>
              </a:r>
            </a:p>
          </p:txBody>
        </p:sp>
      </p:gr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racket-left"/>
          <p:cNvSpPr/>
          <p:nvPr/>
        </p:nvSpPr>
        <p:spPr>
          <a:xfrm>
            <a:off x="3162300" y="5410200"/>
            <a:ext cx="904875" cy="838200"/>
          </a:xfrm>
          <a:custGeom>
            <a:avLst/>
            <a:gdLst/>
            <a:ahLst/>
            <a:cxnLst/>
            <a:rect l="l" t="t" r="r" b="b"/>
            <a:pathLst>
              <a:path w="904875" h="838200">
                <a:moveTo>
                  <a:pt x="904875" y="838200"/>
                </a:moveTo>
                <a:lnTo>
                  <a:pt x="0" y="838200"/>
                </a:lnTo>
                <a:lnTo>
                  <a:pt x="0" y="0"/>
                </a:lnTo>
              </a:path>
            </a:pathLst>
          </a:custGeom>
          <a:noFill/>
          <a:ln w="14288">
            <a:solidFill>
              <a:srgbClr val="E08C7B"/>
            </a:solidFill>
            <a:custDash>
              <a:ds d="333333" sp="266667"/>
            </a:custDash>
            <a:tailEnd type="triangle" w="lg" len="lg"/>
          </a:ln>
        </p:spPr>
      </p:sp>
      <p:sp>
        <p:nvSpPr>
          <p:cNvPr id="3" name="bracket-right"/>
          <p:cNvSpPr/>
          <p:nvPr/>
        </p:nvSpPr>
        <p:spPr>
          <a:xfrm>
            <a:off x="8124825" y="5410200"/>
            <a:ext cx="990600" cy="838200"/>
          </a:xfrm>
          <a:custGeom>
            <a:avLst/>
            <a:gdLst/>
            <a:ahLst/>
            <a:cxnLst/>
            <a:rect l="l" t="t" r="r" b="b"/>
            <a:pathLst>
              <a:path w="990600" h="838200">
                <a:moveTo>
                  <a:pt x="0" y="838200"/>
                </a:moveTo>
                <a:lnTo>
                  <a:pt x="990600" y="838200"/>
                </a:lnTo>
                <a:lnTo>
                  <a:pt x="990600" y="0"/>
                </a:lnTo>
              </a:path>
            </a:pathLst>
          </a:custGeom>
          <a:noFill/>
          <a:ln w="14288">
            <a:solidFill>
              <a:srgbClr val="E08C7B"/>
            </a:solidFill>
            <a:custDash>
              <a:ds d="333333" sp="266667"/>
            </a:custDash>
            <a:tailEnd type="triangle" w="lg" len="lg"/>
          </a:ln>
        </p:spPr>
      </p:sp>
      <p:grpSp>
        <p:nvGrpSpPr>
          <p:cNvPr id="8" name="page-header"/>
          <p:cNvGrpSpPr/>
          <p:nvPr/>
        </p:nvGrpSpPr>
        <p:grpSpPr>
          <a:xfrm>
            <a:off x="0" y="0"/>
            <a:ext cx="5905500" cy="542925"/>
            <a:chOff x="0" y="0"/>
            <a:chExt cx="5905500" cy="542925"/>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5" name="TextBox 5"/>
            <p:cNvSpPr txBox="1"/>
            <p:nvPr/>
          </p:nvSpPr>
          <p:spPr>
            <a:xfrm>
              <a:off x="1230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69</a:t>
              </a:r>
            </a:p>
          </p:txBody>
        </p:sp>
        <p:sp>
          <p:nvSpPr>
            <p:cNvPr id="6" name="TextBox 6"/>
            <p:cNvSpPr txBox="1"/>
            <p:nvPr/>
          </p:nvSpPr>
          <p:spPr>
            <a:xfrm>
              <a:off x="942594" y="151448"/>
              <a:ext cx="156683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新零售体系​</a:t>
              </a:r>
            </a:p>
          </p:txBody>
        </p:sp>
        <p:sp>
          <p:nvSpPr>
            <p:cNvPr id="7" name="Line 7"/>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0" name="intro"/>
          <p:cNvGrpSpPr/>
          <p:nvPr/>
        </p:nvGrpSpPr>
        <p:grpSpPr>
          <a:xfrm>
            <a:off x="757238" y="855345"/>
            <a:ext cx="8010525" cy="366712"/>
            <a:chOff x="757238" y="855345"/>
            <a:chExt cx="8010525" cy="366712"/>
          </a:xfrm>
        </p:grpSpPr>
        <p:sp>
          <p:nvSpPr>
            <p:cNvPr id="9" name="TextBox 9"/>
            <p:cNvSpPr txBox="1"/>
            <p:nvPr/>
          </p:nvSpPr>
          <p:spPr>
            <a:xfrm>
              <a:off x="757238" y="855345"/>
              <a:ext cx="80105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543E3A"/>
                  </a:solidFill>
                  <a:latin typeface="+mn-lt"/>
                  <a:ea typeface="+mn-ea"/>
                  <a:cs typeface="+mn-cs"/>
                </a:rPr>
                <a:t>新零售，以线上内容电商和线下生态布局为抓手，线上线下协同运营。在线上垂直母婴电商的基础上打造内容矩阵，通过线上育儿生活分享、亲子工具、孕育医</a:t>
              </a:r>
              <a:br/>
              <a:r>
                <a:rPr lang="zh-CN" sz="900" dirty="0">
                  <a:solidFill>
                    <a:srgbClr val="543E3A"/>
                  </a:solidFill>
                  <a:latin typeface="+mn-lt"/>
                  <a:ea typeface="+mn-ea"/>
                  <a:cs typeface="+mn-cs"/>
                </a:rPr>
                <a:t>疗知识分享的方式，以社群营销提高用户转化率和粘性；通过线上用户大数据积累，指导线下母婴生态布局</a:t>
              </a:r>
            </a:p>
          </p:txBody>
        </p:sp>
      </p:grpSp>
      <p:grpSp>
        <p:nvGrpSpPr>
          <p:cNvPr id="29" name="core-ring"/>
          <p:cNvGrpSpPr/>
          <p:nvPr/>
        </p:nvGrpSpPr>
        <p:grpSpPr>
          <a:xfrm>
            <a:off x="3990975" y="2309998"/>
            <a:ext cx="4210050" cy="2969709"/>
            <a:chOff x="3990975" y="2309998"/>
            <a:chExt cx="4210050" cy="2969709"/>
          </a:xfrm>
        </p:grpSpPr>
        <p:sp>
          <p:nvSpPr>
            <p:cNvPr id="11" name="Ellipse 11"/>
            <p:cNvSpPr/>
            <p:nvPr/>
          </p:nvSpPr>
          <p:spPr>
            <a:xfrm>
              <a:off x="4629150" y="2314575"/>
              <a:ext cx="2933700" cy="2933700"/>
            </a:xfrm>
            <a:prstGeom prst="ellipse">
              <a:avLst/>
            </a:prstGeom>
            <a:solidFill>
              <a:srgbClr val="F0F3FB"/>
            </a:solidFill>
            <a:ln w="14288">
              <a:solidFill>
                <a:srgbClr val="D8DEF2"/>
              </a:solidFill>
            </a:ln>
          </p:spPr>
        </p:sp>
        <p:sp>
          <p:nvSpPr>
            <p:cNvPr id="12" name="Freeform 12"/>
            <p:cNvSpPr/>
            <p:nvPr/>
          </p:nvSpPr>
          <p:spPr>
            <a:xfrm>
              <a:off x="4953000" y="2309998"/>
              <a:ext cx="2286000" cy="547502"/>
            </a:xfrm>
            <a:custGeom>
              <a:avLst/>
              <a:gdLst/>
              <a:ahLst/>
              <a:cxnLst/>
              <a:rect l="l" t="t" r="r" b="b"/>
              <a:pathLst>
                <a:path w="2286000" h="547502">
                  <a:moveTo>
                    <a:pt x="0" y="547502"/>
                  </a:moveTo>
                  <a:cubicBezTo>
                    <a:pt x="278434" y="201333"/>
                    <a:pt x="698749" y="0"/>
                    <a:pt x="1143000" y="0"/>
                  </a:cubicBezTo>
                  <a:cubicBezTo>
                    <a:pt x="1587251" y="0"/>
                    <a:pt x="2007566" y="201333"/>
                    <a:pt x="2286000" y="547502"/>
                  </a:cubicBezTo>
                </a:path>
              </a:pathLst>
            </a:custGeom>
            <a:noFill/>
            <a:ln w="23812">
              <a:solidFill>
                <a:srgbClr val="ECC1B8"/>
              </a:solidFill>
              <a:tailEnd type="triangle" w="lg" len="lg"/>
            </a:ln>
          </p:spPr>
        </p:sp>
        <p:sp>
          <p:nvSpPr>
            <p:cNvPr id="13" name="Freeform 13"/>
            <p:cNvSpPr/>
            <p:nvPr/>
          </p:nvSpPr>
          <p:spPr>
            <a:xfrm>
              <a:off x="4953000" y="4705350"/>
              <a:ext cx="2286000" cy="547502"/>
            </a:xfrm>
            <a:custGeom>
              <a:avLst/>
              <a:gdLst/>
              <a:ahLst/>
              <a:cxnLst/>
              <a:rect l="l" t="t" r="r" b="b"/>
              <a:pathLst>
                <a:path w="2286000" h="547502">
                  <a:moveTo>
                    <a:pt x="2286000" y="0"/>
                  </a:moveTo>
                  <a:cubicBezTo>
                    <a:pt x="2007566" y="346169"/>
                    <a:pt x="1587251" y="547502"/>
                    <a:pt x="1143000" y="547502"/>
                  </a:cubicBezTo>
                  <a:cubicBezTo>
                    <a:pt x="698749" y="547502"/>
                    <a:pt x="278434" y="346169"/>
                    <a:pt x="0" y="0"/>
                  </a:cubicBezTo>
                </a:path>
              </a:pathLst>
            </a:custGeom>
            <a:noFill/>
            <a:ln w="23812">
              <a:solidFill>
                <a:srgbClr val="ECC1B8"/>
              </a:solidFill>
              <a:tailEnd type="triangle" w="lg" len="lg"/>
            </a:ln>
          </p:spPr>
        </p:sp>
        <p:sp>
          <p:nvSpPr>
            <p:cNvPr id="14" name="Ellipse 14"/>
            <p:cNvSpPr/>
            <p:nvPr/>
          </p:nvSpPr>
          <p:spPr>
            <a:xfrm>
              <a:off x="5143500" y="2828925"/>
              <a:ext cx="1905000" cy="1905000"/>
            </a:xfrm>
            <a:prstGeom prst="ellipse">
              <a:avLst/>
            </a:prstGeom>
            <a:gradFill>
              <a:gsLst>
                <a:gs pos="0">
                  <a:srgbClr val="DD816E"/>
                </a:gs>
                <a:gs pos="100000">
                  <a:srgbClr val="B8503B"/>
                </a:gs>
              </a:gsLst>
              <a:path path="circle">
                <a:fillToRect l="40000" t="35000" r="60000" b="65000"/>
              </a:path>
            </a:gradFill>
            <a:ln>
              <a:noFill/>
            </a:ln>
          </p:spPr>
        </p:sp>
        <p:grpSp>
          <p:nvGrpSpPr>
            <p:cNvPr id="19" name="Group 19"/>
            <p:cNvGrpSpPr/>
            <p:nvPr/>
          </p:nvGrpSpPr>
          <p:grpSpPr>
            <a:xfrm>
              <a:off x="5873750" y="3274219"/>
              <a:ext cx="444501" cy="500063"/>
              <a:chOff x="5873750" y="3274219"/>
              <a:chExt cx="444501" cy="500063"/>
            </a:xfrm>
          </p:grpSpPr>
          <p:sp>
            <p:nvSpPr>
              <p:cNvPr id="15" name="Freeform 15"/>
              <p:cNvSpPr/>
              <p:nvPr/>
            </p:nvSpPr>
            <p:spPr>
              <a:xfrm>
                <a:off x="5873750" y="3663157"/>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55563">
                <a:solidFill>
                  <a:srgbClr val="FFFFFF"/>
                </a:solidFill>
              </a:ln>
            </p:spPr>
          </p:sp>
          <p:sp>
            <p:nvSpPr>
              <p:cNvPr id="16" name="Freeform 16"/>
              <p:cNvSpPr/>
              <p:nvPr/>
            </p:nvSpPr>
            <p:spPr>
              <a:xfrm>
                <a:off x="6179344" y="3663157"/>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55563">
                <a:solidFill>
                  <a:srgbClr val="FFFFFF"/>
                </a:solidFill>
              </a:ln>
            </p:spPr>
          </p:sp>
          <p:sp>
            <p:nvSpPr>
              <p:cNvPr id="17" name="Freeform 17"/>
              <p:cNvSpPr/>
              <p:nvPr/>
            </p:nvSpPr>
            <p:spPr>
              <a:xfrm>
                <a:off x="5873750" y="3274219"/>
                <a:ext cx="361157" cy="388938"/>
              </a:xfrm>
              <a:custGeom>
                <a:avLst/>
                <a:gdLst/>
                <a:ahLst/>
                <a:cxnLst/>
                <a:rect l="l" t="t" r="r" b="b"/>
                <a:pathLst>
                  <a:path w="361157" h="388938">
                    <a:moveTo>
                      <a:pt x="361157" y="388938"/>
                    </a:moveTo>
                    <a:lnTo>
                      <a:pt x="55563" y="388938"/>
                    </a:lnTo>
                    <a:lnTo>
                      <a:pt x="55563" y="0"/>
                    </a:lnTo>
                    <a:lnTo>
                      <a:pt x="0" y="0"/>
                    </a:lnTo>
                  </a:path>
                </a:pathLst>
              </a:custGeom>
              <a:noFill/>
              <a:ln w="55563">
                <a:solidFill>
                  <a:srgbClr val="FFFFFF"/>
                </a:solidFill>
              </a:ln>
            </p:spPr>
          </p:sp>
          <p:sp>
            <p:nvSpPr>
              <p:cNvPr id="18" name="Freeform 18"/>
              <p:cNvSpPr/>
              <p:nvPr/>
            </p:nvSpPr>
            <p:spPr>
              <a:xfrm>
                <a:off x="5929313" y="3329781"/>
                <a:ext cx="388938" cy="222250"/>
              </a:xfrm>
              <a:custGeom>
                <a:avLst/>
                <a:gdLst/>
                <a:ahLst/>
                <a:cxnLst/>
                <a:rect l="l" t="t" r="r" b="b"/>
                <a:pathLst>
                  <a:path w="388938" h="222250">
                    <a:moveTo>
                      <a:pt x="0" y="0"/>
                    </a:moveTo>
                    <a:lnTo>
                      <a:pt x="388938" y="27781"/>
                    </a:lnTo>
                    <a:lnTo>
                      <a:pt x="361157" y="222250"/>
                    </a:lnTo>
                    <a:lnTo>
                      <a:pt x="0" y="222250"/>
                    </a:lnTo>
                  </a:path>
                </a:pathLst>
              </a:custGeom>
              <a:noFill/>
              <a:ln w="55563">
                <a:solidFill>
                  <a:srgbClr val="FFFFFF"/>
                </a:solidFill>
              </a:ln>
            </p:spPr>
          </p:sp>
        </p:grpSp>
        <p:sp>
          <p:nvSpPr>
            <p:cNvPr id="20" name="TextBox 20"/>
            <p:cNvSpPr txBox="1"/>
            <p:nvPr/>
          </p:nvSpPr>
          <p:spPr>
            <a:xfrm>
              <a:off x="5847588" y="4271010"/>
              <a:ext cx="4968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新零售</a:t>
              </a:r>
            </a:p>
          </p:txBody>
        </p:sp>
        <p:sp>
          <p:nvSpPr>
            <p:cNvPr id="21" name="TextBox 21"/>
            <p:cNvSpPr txBox="1"/>
            <p:nvPr/>
          </p:nvSpPr>
          <p:spPr>
            <a:xfrm>
              <a:off x="5848921" y="2446020"/>
              <a:ext cx="49415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协同运营</a:t>
              </a:r>
            </a:p>
          </p:txBody>
        </p:sp>
        <p:sp>
          <p:nvSpPr>
            <p:cNvPr id="22" name="TextBox 22"/>
            <p:cNvSpPr txBox="1"/>
            <p:nvPr/>
          </p:nvSpPr>
          <p:spPr>
            <a:xfrm>
              <a:off x="5848921" y="5103495"/>
              <a:ext cx="49415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流量互导</a:t>
              </a:r>
            </a:p>
          </p:txBody>
        </p:sp>
        <p:sp>
          <p:nvSpPr>
            <p:cNvPr id="23" name="Ellipse 23"/>
            <p:cNvSpPr/>
            <p:nvPr/>
          </p:nvSpPr>
          <p:spPr>
            <a:xfrm>
              <a:off x="3990975" y="3343275"/>
              <a:ext cx="876300" cy="876300"/>
            </a:xfrm>
            <a:prstGeom prst="ellipse">
              <a:avLst/>
            </a:prstGeom>
            <a:solidFill>
              <a:srgbClr val="FFFFFF"/>
            </a:solidFill>
            <a:ln w="19050">
              <a:solidFill>
                <a:srgbClr val="E8634C"/>
              </a:solidFill>
            </a:ln>
          </p:spPr>
        </p:sp>
        <p:sp>
          <p:nvSpPr>
            <p:cNvPr id="24" name="TextBox 24"/>
            <p:cNvSpPr txBox="1"/>
            <p:nvPr/>
          </p:nvSpPr>
          <p:spPr>
            <a:xfrm>
              <a:off x="4282440" y="3639502"/>
              <a:ext cx="293370" cy="205359"/>
            </a:xfrm>
            <a:prstGeom prst="rect">
              <a:avLst/>
            </a:prstGeom>
            <a:noFill/>
            <a:ln>
              <a:noFill/>
            </a:ln>
          </p:spPr>
          <p:txBody>
            <a:bodyPr wrap="none" lIns="0" tIns="0" rIns="0" bIns="0" anchor="t" anchorCtr="0">
              <a:spAutoFit/>
            </a:bodyPr>
            <a:lstStyle/>
            <a:p>
              <a:pPr algn="ctr"/>
              <a:r>
                <a:rPr lang="zh-CN" sz="1050" b="1" dirty="0">
                  <a:solidFill>
                    <a:srgbClr val="E8634C"/>
                  </a:solidFill>
                  <a:latin typeface="+mn-lt"/>
                  <a:ea typeface="+mn-ea"/>
                  <a:cs typeface="+mn-cs"/>
                </a:rPr>
                <a:t>线上</a:t>
              </a:r>
            </a:p>
          </p:txBody>
        </p:sp>
        <p:sp>
          <p:nvSpPr>
            <p:cNvPr id="25" name="TextBox 25"/>
            <p:cNvSpPr txBox="1"/>
            <p:nvPr/>
          </p:nvSpPr>
          <p:spPr>
            <a:xfrm>
              <a:off x="4211663" y="3839289"/>
              <a:ext cx="434924" cy="154781"/>
            </a:xfrm>
            <a:prstGeom prst="rect">
              <a:avLst/>
            </a:prstGeom>
            <a:noFill/>
            <a:ln>
              <a:noFill/>
            </a:ln>
          </p:spPr>
          <p:txBody>
            <a:bodyPr wrap="none" lIns="0" tIns="0" rIns="0" bIns="0" anchor="t" anchorCtr="0">
              <a:spAutoFit/>
            </a:bodyPr>
            <a:lstStyle/>
            <a:p>
              <a:pPr algn="ctr"/>
              <a:r>
                <a:rPr lang="zh-CN" sz="790" dirty="0">
                  <a:solidFill>
                    <a:srgbClr val="E8634C"/>
                  </a:solidFill>
                  <a:latin typeface="+mn-lt"/>
                  <a:ea typeface="+mn-ea"/>
                  <a:cs typeface="+mn-cs"/>
                </a:rPr>
                <a:t>内容电商</a:t>
              </a:r>
            </a:p>
          </p:txBody>
        </p:sp>
        <p:sp>
          <p:nvSpPr>
            <p:cNvPr id="26" name="Ellipse 26"/>
            <p:cNvSpPr/>
            <p:nvPr/>
          </p:nvSpPr>
          <p:spPr>
            <a:xfrm>
              <a:off x="7324725" y="3343275"/>
              <a:ext cx="876300" cy="876300"/>
            </a:xfrm>
            <a:prstGeom prst="ellipse">
              <a:avLst/>
            </a:prstGeom>
            <a:solidFill>
              <a:srgbClr val="FFFFFF"/>
            </a:solidFill>
            <a:ln w="19050">
              <a:solidFill>
                <a:srgbClr val="C45F4A"/>
              </a:solidFill>
            </a:ln>
          </p:spPr>
        </p:sp>
        <p:sp>
          <p:nvSpPr>
            <p:cNvPr id="27" name="TextBox 27"/>
            <p:cNvSpPr txBox="1"/>
            <p:nvPr/>
          </p:nvSpPr>
          <p:spPr>
            <a:xfrm>
              <a:off x="7616190" y="3639502"/>
              <a:ext cx="29337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线下</a:t>
              </a:r>
            </a:p>
          </p:txBody>
        </p:sp>
        <p:sp>
          <p:nvSpPr>
            <p:cNvPr id="28" name="TextBox 28"/>
            <p:cNvSpPr txBox="1"/>
            <p:nvPr/>
          </p:nvSpPr>
          <p:spPr>
            <a:xfrm>
              <a:off x="7545413" y="3839289"/>
              <a:ext cx="434924" cy="154781"/>
            </a:xfrm>
            <a:prstGeom prst="rect">
              <a:avLst/>
            </a:prstGeom>
            <a:noFill/>
            <a:ln>
              <a:noFill/>
            </a:ln>
          </p:spPr>
          <p:txBody>
            <a:bodyPr wrap="none" lIns="0" tIns="0" rIns="0" bIns="0" anchor="t" anchorCtr="0">
              <a:spAutoFit/>
            </a:bodyPr>
            <a:lstStyle/>
            <a:p>
              <a:pPr algn="ctr"/>
              <a:r>
                <a:rPr lang="zh-CN" sz="790" dirty="0">
                  <a:solidFill>
                    <a:srgbClr val="C45F4A"/>
                  </a:solidFill>
                  <a:latin typeface="+mn-lt"/>
                  <a:ea typeface="+mn-ea"/>
                  <a:cs typeface="+mn-cs"/>
                </a:rPr>
                <a:t>生态布局</a:t>
              </a:r>
            </a:p>
          </p:txBody>
        </p:sp>
      </p:grpSp>
      <p:grpSp>
        <p:nvGrpSpPr>
          <p:cNvPr id="56" name="online-cluster"/>
          <p:cNvGrpSpPr/>
          <p:nvPr/>
        </p:nvGrpSpPr>
        <p:grpSpPr>
          <a:xfrm>
            <a:off x="904875" y="2105025"/>
            <a:ext cx="2714625" cy="3289220"/>
            <a:chOff x="904875" y="2105025"/>
            <a:chExt cx="2714625" cy="3289220"/>
          </a:xfrm>
        </p:grpSpPr>
        <p:sp>
          <p:nvSpPr>
            <p:cNvPr id="30" name="Freeform 30"/>
            <p:cNvSpPr/>
            <p:nvPr/>
          </p:nvSpPr>
          <p:spPr>
            <a:xfrm>
              <a:off x="2057400" y="2219325"/>
              <a:ext cx="609600" cy="638175"/>
            </a:xfrm>
            <a:custGeom>
              <a:avLst/>
              <a:gdLst/>
              <a:ahLst/>
              <a:cxnLst/>
              <a:rect l="l" t="t" r="r" b="b"/>
              <a:pathLst>
                <a:path w="609600" h="638175">
                  <a:moveTo>
                    <a:pt x="0" y="0"/>
                  </a:moveTo>
                  <a:cubicBezTo>
                    <a:pt x="292100" y="0"/>
                    <a:pt x="495300" y="212725"/>
                    <a:pt x="609600" y="638175"/>
                  </a:cubicBezTo>
                </a:path>
              </a:pathLst>
            </a:custGeom>
            <a:noFill/>
            <a:ln w="14288">
              <a:solidFill>
                <a:srgbClr val="F2ACA0"/>
              </a:solidFill>
            </a:ln>
          </p:spPr>
        </p:sp>
        <p:sp>
          <p:nvSpPr>
            <p:cNvPr id="31" name="Freeform 31"/>
            <p:cNvSpPr/>
            <p:nvPr/>
          </p:nvSpPr>
          <p:spPr>
            <a:xfrm>
              <a:off x="2057400" y="2705100"/>
              <a:ext cx="609600" cy="209550"/>
            </a:xfrm>
            <a:custGeom>
              <a:avLst/>
              <a:gdLst/>
              <a:ahLst/>
              <a:cxnLst/>
              <a:rect l="l" t="t" r="r" b="b"/>
              <a:pathLst>
                <a:path w="609600" h="209550">
                  <a:moveTo>
                    <a:pt x="0" y="0"/>
                  </a:moveTo>
                  <a:lnTo>
                    <a:pt x="609600" y="209550"/>
                  </a:lnTo>
                </a:path>
              </a:pathLst>
            </a:custGeom>
            <a:noFill/>
            <a:ln w="14288">
              <a:solidFill>
                <a:srgbClr val="F2ACA0"/>
              </a:solidFill>
            </a:ln>
          </p:spPr>
        </p:sp>
        <p:sp>
          <p:nvSpPr>
            <p:cNvPr id="32" name="Freeform 32"/>
            <p:cNvSpPr/>
            <p:nvPr/>
          </p:nvSpPr>
          <p:spPr>
            <a:xfrm>
              <a:off x="2057400" y="3048000"/>
              <a:ext cx="609600" cy="190500"/>
            </a:xfrm>
            <a:custGeom>
              <a:avLst/>
              <a:gdLst/>
              <a:ahLst/>
              <a:cxnLst/>
              <a:rect l="l" t="t" r="r" b="b"/>
              <a:pathLst>
                <a:path w="609600" h="190500">
                  <a:moveTo>
                    <a:pt x="0" y="190500"/>
                  </a:moveTo>
                  <a:cubicBezTo>
                    <a:pt x="292100" y="190500"/>
                    <a:pt x="495300" y="127000"/>
                    <a:pt x="609600" y="0"/>
                  </a:cubicBezTo>
                </a:path>
              </a:pathLst>
            </a:custGeom>
            <a:noFill/>
            <a:ln w="14288">
              <a:solidFill>
                <a:srgbClr val="F2ACA0"/>
              </a:solidFill>
            </a:ln>
          </p:spPr>
        </p:sp>
        <p:sp>
          <p:nvSpPr>
            <p:cNvPr id="33" name="Freeform 33"/>
            <p:cNvSpPr/>
            <p:nvPr/>
          </p:nvSpPr>
          <p:spPr>
            <a:xfrm>
              <a:off x="2095500" y="4772025"/>
              <a:ext cx="571500" cy="38100"/>
            </a:xfrm>
            <a:custGeom>
              <a:avLst/>
              <a:gdLst/>
              <a:ahLst/>
              <a:cxnLst/>
              <a:rect l="l" t="t" r="r" b="b"/>
              <a:pathLst>
                <a:path w="571500" h="38100">
                  <a:moveTo>
                    <a:pt x="0" y="0"/>
                  </a:moveTo>
                  <a:lnTo>
                    <a:pt x="571500" y="38100"/>
                  </a:lnTo>
                </a:path>
              </a:pathLst>
            </a:custGeom>
            <a:noFill/>
            <a:ln w="14288">
              <a:solidFill>
                <a:srgbClr val="F2ACA0"/>
              </a:solidFill>
            </a:ln>
          </p:spPr>
        </p:sp>
        <p:sp>
          <p:nvSpPr>
            <p:cNvPr id="34" name="Freeform 34"/>
            <p:cNvSpPr/>
            <p:nvPr/>
          </p:nvSpPr>
          <p:spPr>
            <a:xfrm>
              <a:off x="2095500" y="4953000"/>
              <a:ext cx="571500" cy="323850"/>
            </a:xfrm>
            <a:custGeom>
              <a:avLst/>
              <a:gdLst/>
              <a:ahLst/>
              <a:cxnLst/>
              <a:rect l="l" t="t" r="r" b="b"/>
              <a:pathLst>
                <a:path w="571500" h="323850">
                  <a:moveTo>
                    <a:pt x="0" y="323850"/>
                  </a:moveTo>
                  <a:cubicBezTo>
                    <a:pt x="266700" y="323850"/>
                    <a:pt x="457200" y="215900"/>
                    <a:pt x="571500" y="0"/>
                  </a:cubicBezTo>
                </a:path>
              </a:pathLst>
            </a:custGeom>
            <a:noFill/>
            <a:ln w="14288">
              <a:solidFill>
                <a:srgbClr val="F2ACA0"/>
              </a:solidFill>
            </a:ln>
          </p:spPr>
        </p:sp>
        <p:sp>
          <p:nvSpPr>
            <p:cNvPr id="35" name="Ellipse 35"/>
            <p:cNvSpPr/>
            <p:nvPr/>
          </p:nvSpPr>
          <p:spPr>
            <a:xfrm>
              <a:off x="2705100" y="2533650"/>
              <a:ext cx="914400" cy="914400"/>
            </a:xfrm>
            <a:prstGeom prst="ellipse">
              <a:avLst/>
            </a:prstGeom>
            <a:gradFill>
              <a:gsLst>
                <a:gs pos="0">
                  <a:srgbClr val="F07E6A"/>
                </a:gs>
                <a:gs pos="100000">
                  <a:srgbClr val="E0604A"/>
                </a:gs>
              </a:gsLst>
              <a:path path="circle">
                <a:fillToRect l="40000" t="35000" r="60000" b="65000"/>
              </a:path>
            </a:gradFill>
            <a:ln>
              <a:noFill/>
            </a:ln>
          </p:spPr>
        </p:sp>
        <p:sp>
          <p:nvSpPr>
            <p:cNvPr id="36" name="TextBox 36"/>
            <p:cNvSpPr txBox="1"/>
            <p:nvPr/>
          </p:nvSpPr>
          <p:spPr>
            <a:xfrm>
              <a:off x="3005811" y="28313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内容</a:t>
              </a:r>
            </a:p>
          </p:txBody>
        </p:sp>
        <p:sp>
          <p:nvSpPr>
            <p:cNvPr id="37" name="TextBox 37"/>
            <p:cNvSpPr txBox="1"/>
            <p:nvPr/>
          </p:nvSpPr>
          <p:spPr>
            <a:xfrm>
              <a:off x="2936761" y="3054191"/>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矩阵构建</a:t>
              </a:r>
            </a:p>
          </p:txBody>
        </p:sp>
        <p:sp>
          <p:nvSpPr>
            <p:cNvPr id="38" name="Ellipse 38"/>
            <p:cNvSpPr/>
            <p:nvPr/>
          </p:nvSpPr>
          <p:spPr>
            <a:xfrm>
              <a:off x="2705100" y="4391025"/>
              <a:ext cx="914400" cy="914400"/>
            </a:xfrm>
            <a:prstGeom prst="ellipse">
              <a:avLst/>
            </a:prstGeom>
            <a:gradFill>
              <a:gsLst>
                <a:gs pos="0">
                  <a:srgbClr val="F07E6A"/>
                </a:gs>
                <a:gs pos="100000">
                  <a:srgbClr val="E0604A"/>
                </a:gs>
              </a:gsLst>
              <a:path path="circle">
                <a:fillToRect l="40000" t="35000" r="60000" b="65000"/>
              </a:path>
            </a:gradFill>
            <a:ln>
              <a:noFill/>
            </a:ln>
          </p:spPr>
        </p:sp>
        <p:sp>
          <p:nvSpPr>
            <p:cNvPr id="39" name="TextBox 39"/>
            <p:cNvSpPr txBox="1"/>
            <p:nvPr/>
          </p:nvSpPr>
          <p:spPr>
            <a:xfrm>
              <a:off x="3005811" y="468868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电商</a:t>
              </a:r>
            </a:p>
          </p:txBody>
        </p:sp>
        <p:sp>
          <p:nvSpPr>
            <p:cNvPr id="40" name="TextBox 40"/>
            <p:cNvSpPr txBox="1"/>
            <p:nvPr/>
          </p:nvSpPr>
          <p:spPr>
            <a:xfrm>
              <a:off x="2936761" y="49115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运营分析</a:t>
              </a:r>
            </a:p>
          </p:txBody>
        </p:sp>
        <p:sp>
          <p:nvSpPr>
            <p:cNvPr id="41" name="Line 41"/>
            <p:cNvSpPr/>
            <p:nvPr/>
          </p:nvSpPr>
          <p:spPr>
            <a:xfrm>
              <a:off x="3162300" y="3543300"/>
              <a:ext cx="1" cy="762000"/>
            </a:xfrm>
            <a:prstGeom prst="line">
              <a:avLst/>
            </a:prstGeom>
            <a:noFill/>
            <a:ln w="14288">
              <a:solidFill>
                <a:srgbClr val="E8634C"/>
              </a:solidFill>
              <a:headEnd type="triangle" w="lg" len="lg"/>
              <a:tailEnd type="triangle" w="lg" len="lg"/>
            </a:ln>
          </p:spPr>
        </p:sp>
        <p:grpSp>
          <p:nvGrpSpPr>
            <p:cNvPr id="43" name="Group 43"/>
            <p:cNvGrpSpPr/>
            <p:nvPr/>
          </p:nvGrpSpPr>
          <p:grpSpPr>
            <a:xfrm rot="5400000">
              <a:off x="2935274" y="3854052"/>
              <a:ext cx="200685" cy="140494"/>
              <a:chOff x="2928607" y="3847386"/>
              <a:chExt cx="200685" cy="140494"/>
            </a:xfrm>
          </p:grpSpPr>
          <p:sp>
            <p:nvSpPr>
              <p:cNvPr id="42" name="TextBox 42"/>
              <p:cNvSpPr txBox="1"/>
              <p:nvPr/>
            </p:nvSpPr>
            <p:spPr>
              <a:xfrm>
                <a:off x="2928607" y="3847386"/>
                <a:ext cx="200685" cy="140494"/>
              </a:xfrm>
              <a:prstGeom prst="rect">
                <a:avLst/>
              </a:prstGeom>
              <a:noFill/>
              <a:ln>
                <a:noFill/>
              </a:ln>
            </p:spPr>
            <p:txBody>
              <a:bodyPr wrap="none" lIns="0" tIns="0" rIns="0" bIns="0" anchor="t" anchorCtr="0">
                <a:spAutoFit/>
              </a:bodyPr>
              <a:lstStyle/>
              <a:p>
                <a:pPr algn="ctr"/>
                <a:r>
                  <a:rPr lang="zh-CN" sz="710" dirty="0">
                    <a:solidFill>
                      <a:srgbClr val="E8634C"/>
                    </a:solidFill>
                    <a:latin typeface="+mn-lt"/>
                    <a:ea typeface="+mn-ea"/>
                    <a:cs typeface="+mn-cs"/>
                  </a:rPr>
                  <a:t>提高</a:t>
                </a:r>
              </a:p>
            </p:txBody>
          </p:sp>
        </p:grpSp>
        <p:grpSp>
          <p:nvGrpSpPr>
            <p:cNvPr id="45" name="Group 45"/>
            <p:cNvGrpSpPr/>
            <p:nvPr/>
          </p:nvGrpSpPr>
          <p:grpSpPr>
            <a:xfrm rot="5400000">
              <a:off x="3173234" y="3854053"/>
              <a:ext cx="296266" cy="140494"/>
              <a:chOff x="3166567" y="3847386"/>
              <a:chExt cx="296266" cy="140494"/>
            </a:xfrm>
          </p:grpSpPr>
          <p:sp>
            <p:nvSpPr>
              <p:cNvPr id="44" name="TextBox 44"/>
              <p:cNvSpPr txBox="1"/>
              <p:nvPr/>
            </p:nvSpPr>
            <p:spPr>
              <a:xfrm>
                <a:off x="3166567" y="3847386"/>
                <a:ext cx="296266" cy="140494"/>
              </a:xfrm>
              <a:prstGeom prst="rect">
                <a:avLst/>
              </a:prstGeom>
              <a:noFill/>
              <a:ln>
                <a:noFill/>
              </a:ln>
            </p:spPr>
            <p:txBody>
              <a:bodyPr wrap="none" lIns="0" tIns="0" rIns="0" bIns="0" anchor="t" anchorCtr="0">
                <a:spAutoFit/>
              </a:bodyPr>
              <a:lstStyle/>
              <a:p>
                <a:pPr algn="ctr"/>
                <a:r>
                  <a:rPr lang="zh-CN" sz="710" dirty="0">
                    <a:solidFill>
                      <a:srgbClr val="E8634C"/>
                    </a:solidFill>
                    <a:latin typeface="+mn-lt"/>
                    <a:ea typeface="+mn-ea"/>
                    <a:cs typeface="+mn-cs"/>
                  </a:rPr>
                  <a:t>转化率</a:t>
                </a:r>
              </a:p>
            </p:txBody>
          </p:sp>
        </p:grpSp>
        <p:sp>
          <p:nvSpPr>
            <p:cNvPr id="46" name="Rectangle 46"/>
            <p:cNvSpPr/>
            <p:nvPr/>
          </p:nvSpPr>
          <p:spPr>
            <a:xfrm>
              <a:off x="952500" y="2105025"/>
              <a:ext cx="1047750" cy="228600"/>
            </a:xfrm>
            <a:prstGeom prst="roundRect">
              <a:avLst>
                <a:gd name="adj" fmla="val 16667"/>
              </a:avLst>
            </a:prstGeom>
            <a:solidFill>
              <a:srgbClr val="FFFFFF"/>
            </a:solidFill>
            <a:ln w="14288">
              <a:solidFill>
                <a:srgbClr val="E8634C"/>
              </a:solidFill>
            </a:ln>
          </p:spPr>
        </p:sp>
        <p:sp>
          <p:nvSpPr>
            <p:cNvPr id="47" name="TextBox 47"/>
            <p:cNvSpPr txBox="1"/>
            <p:nvPr/>
          </p:nvSpPr>
          <p:spPr>
            <a:xfrm>
              <a:off x="1258913" y="2181939"/>
              <a:ext cx="4349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生活分享</a:t>
              </a:r>
            </a:p>
          </p:txBody>
        </p:sp>
        <p:sp>
          <p:nvSpPr>
            <p:cNvPr id="48" name="Rectangle 48"/>
            <p:cNvSpPr/>
            <p:nvPr/>
          </p:nvSpPr>
          <p:spPr>
            <a:xfrm>
              <a:off x="952500" y="2590800"/>
              <a:ext cx="1047750" cy="228600"/>
            </a:xfrm>
            <a:prstGeom prst="roundRect">
              <a:avLst>
                <a:gd name="adj" fmla="val 16667"/>
              </a:avLst>
            </a:prstGeom>
            <a:solidFill>
              <a:srgbClr val="FFFFFF"/>
            </a:solidFill>
            <a:ln w="14288">
              <a:solidFill>
                <a:srgbClr val="E8634C"/>
              </a:solidFill>
            </a:ln>
          </p:spPr>
        </p:sp>
        <p:sp>
          <p:nvSpPr>
            <p:cNvPr id="49" name="TextBox 49"/>
            <p:cNvSpPr txBox="1"/>
            <p:nvPr/>
          </p:nvSpPr>
          <p:spPr>
            <a:xfrm>
              <a:off x="1258913" y="2667714"/>
              <a:ext cx="4349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亲子工具</a:t>
              </a:r>
            </a:p>
          </p:txBody>
        </p:sp>
        <p:sp>
          <p:nvSpPr>
            <p:cNvPr id="50" name="Rectangle 50"/>
            <p:cNvSpPr/>
            <p:nvPr/>
          </p:nvSpPr>
          <p:spPr>
            <a:xfrm>
              <a:off x="952500" y="3124200"/>
              <a:ext cx="1047750" cy="228600"/>
            </a:xfrm>
            <a:prstGeom prst="roundRect">
              <a:avLst>
                <a:gd name="adj" fmla="val 16667"/>
              </a:avLst>
            </a:prstGeom>
            <a:solidFill>
              <a:srgbClr val="FFFFFF"/>
            </a:solidFill>
            <a:ln w="14288">
              <a:solidFill>
                <a:srgbClr val="E8634C"/>
              </a:solidFill>
            </a:ln>
          </p:spPr>
        </p:sp>
        <p:sp>
          <p:nvSpPr>
            <p:cNvPr id="51" name="TextBox 51"/>
            <p:cNvSpPr txBox="1"/>
            <p:nvPr/>
          </p:nvSpPr>
          <p:spPr>
            <a:xfrm>
              <a:off x="1258913" y="3201114"/>
              <a:ext cx="4349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知识分享</a:t>
              </a:r>
            </a:p>
          </p:txBody>
        </p:sp>
        <p:sp>
          <p:nvSpPr>
            <p:cNvPr id="52" name="Rectangle 52"/>
            <p:cNvSpPr/>
            <p:nvPr/>
          </p:nvSpPr>
          <p:spPr>
            <a:xfrm>
              <a:off x="904875" y="4657725"/>
              <a:ext cx="1143000" cy="228600"/>
            </a:xfrm>
            <a:prstGeom prst="roundRect">
              <a:avLst>
                <a:gd name="adj" fmla="val 16667"/>
              </a:avLst>
            </a:prstGeom>
            <a:solidFill>
              <a:srgbClr val="FFFFFF"/>
            </a:solidFill>
            <a:ln w="14288">
              <a:solidFill>
                <a:srgbClr val="E8634C"/>
              </a:solidFill>
            </a:ln>
          </p:spPr>
        </p:sp>
        <p:sp>
          <p:nvSpPr>
            <p:cNvPr id="53" name="TextBox 53"/>
            <p:cNvSpPr txBox="1"/>
            <p:nvPr/>
          </p:nvSpPr>
          <p:spPr>
            <a:xfrm>
              <a:off x="1152563" y="4734639"/>
              <a:ext cx="6476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消费习惯分析</a:t>
              </a:r>
            </a:p>
          </p:txBody>
        </p:sp>
        <p:sp>
          <p:nvSpPr>
            <p:cNvPr id="54" name="Rectangle 54"/>
            <p:cNvSpPr/>
            <p:nvPr/>
          </p:nvSpPr>
          <p:spPr>
            <a:xfrm>
              <a:off x="904875" y="5162550"/>
              <a:ext cx="1143000" cy="228600"/>
            </a:xfrm>
            <a:prstGeom prst="roundRect">
              <a:avLst>
                <a:gd name="adj" fmla="val 16667"/>
              </a:avLst>
            </a:prstGeom>
            <a:solidFill>
              <a:srgbClr val="FFFFFF"/>
            </a:solidFill>
            <a:ln w="14288">
              <a:solidFill>
                <a:srgbClr val="E8634C"/>
              </a:solidFill>
            </a:ln>
          </p:spPr>
        </p:sp>
        <p:sp>
          <p:nvSpPr>
            <p:cNvPr id="55" name="TextBox 55"/>
            <p:cNvSpPr txBox="1"/>
            <p:nvPr/>
          </p:nvSpPr>
          <p:spPr>
            <a:xfrm>
              <a:off x="1152563" y="5239464"/>
              <a:ext cx="6476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产品偏好分析</a:t>
              </a:r>
            </a:p>
          </p:txBody>
        </p:sp>
      </p:grpSp>
      <p:grpSp>
        <p:nvGrpSpPr>
          <p:cNvPr id="83" name="offline-cluster"/>
          <p:cNvGrpSpPr/>
          <p:nvPr/>
        </p:nvGrpSpPr>
        <p:grpSpPr>
          <a:xfrm>
            <a:off x="8658225" y="2105025"/>
            <a:ext cx="2724150" cy="3289220"/>
            <a:chOff x="8658225" y="2105025"/>
            <a:chExt cx="2724150" cy="3289220"/>
          </a:xfrm>
        </p:grpSpPr>
        <p:sp>
          <p:nvSpPr>
            <p:cNvPr id="57" name="Freeform 57"/>
            <p:cNvSpPr/>
            <p:nvPr/>
          </p:nvSpPr>
          <p:spPr>
            <a:xfrm>
              <a:off x="9582150" y="2219325"/>
              <a:ext cx="552450" cy="561975"/>
            </a:xfrm>
            <a:custGeom>
              <a:avLst/>
              <a:gdLst/>
              <a:ahLst/>
              <a:cxnLst/>
              <a:rect l="l" t="t" r="r" b="b"/>
              <a:pathLst>
                <a:path w="552450" h="561975">
                  <a:moveTo>
                    <a:pt x="552450" y="0"/>
                  </a:moveTo>
                  <a:cubicBezTo>
                    <a:pt x="260350" y="0"/>
                    <a:pt x="76200" y="187325"/>
                    <a:pt x="0" y="561975"/>
                  </a:cubicBezTo>
                </a:path>
              </a:pathLst>
            </a:custGeom>
            <a:noFill/>
            <a:ln w="14288">
              <a:solidFill>
                <a:srgbClr val="ECC1B8"/>
              </a:solidFill>
            </a:ln>
          </p:spPr>
        </p:sp>
        <p:sp>
          <p:nvSpPr>
            <p:cNvPr id="58" name="Freeform 58"/>
            <p:cNvSpPr/>
            <p:nvPr/>
          </p:nvSpPr>
          <p:spPr>
            <a:xfrm>
              <a:off x="9582150" y="2705100"/>
              <a:ext cx="552450" cy="152400"/>
            </a:xfrm>
            <a:custGeom>
              <a:avLst/>
              <a:gdLst/>
              <a:ahLst/>
              <a:cxnLst/>
              <a:rect l="l" t="t" r="r" b="b"/>
              <a:pathLst>
                <a:path w="552450" h="152400">
                  <a:moveTo>
                    <a:pt x="552450" y="0"/>
                  </a:moveTo>
                  <a:lnTo>
                    <a:pt x="0" y="152400"/>
                  </a:lnTo>
                </a:path>
              </a:pathLst>
            </a:custGeom>
            <a:noFill/>
            <a:ln w="14288">
              <a:solidFill>
                <a:srgbClr val="ECC1B8"/>
              </a:solidFill>
            </a:ln>
          </p:spPr>
        </p:sp>
        <p:sp>
          <p:nvSpPr>
            <p:cNvPr id="59" name="Freeform 59"/>
            <p:cNvSpPr/>
            <p:nvPr/>
          </p:nvSpPr>
          <p:spPr>
            <a:xfrm>
              <a:off x="9582150" y="2971800"/>
              <a:ext cx="552450" cy="266700"/>
            </a:xfrm>
            <a:custGeom>
              <a:avLst/>
              <a:gdLst/>
              <a:ahLst/>
              <a:cxnLst/>
              <a:rect l="l" t="t" r="r" b="b"/>
              <a:pathLst>
                <a:path w="552450" h="266700">
                  <a:moveTo>
                    <a:pt x="552450" y="266700"/>
                  </a:moveTo>
                  <a:cubicBezTo>
                    <a:pt x="260350" y="266700"/>
                    <a:pt x="76200" y="177800"/>
                    <a:pt x="0" y="0"/>
                  </a:cubicBezTo>
                </a:path>
              </a:pathLst>
            </a:custGeom>
            <a:noFill/>
            <a:ln w="14288">
              <a:solidFill>
                <a:srgbClr val="ECC1B8"/>
              </a:solidFill>
            </a:ln>
          </p:spPr>
        </p:sp>
        <p:sp>
          <p:nvSpPr>
            <p:cNvPr id="60" name="Freeform 60"/>
            <p:cNvSpPr/>
            <p:nvPr/>
          </p:nvSpPr>
          <p:spPr>
            <a:xfrm>
              <a:off x="9582150" y="4772025"/>
              <a:ext cx="514350" cy="38100"/>
            </a:xfrm>
            <a:custGeom>
              <a:avLst/>
              <a:gdLst/>
              <a:ahLst/>
              <a:cxnLst/>
              <a:rect l="l" t="t" r="r" b="b"/>
              <a:pathLst>
                <a:path w="514350" h="38100">
                  <a:moveTo>
                    <a:pt x="514350" y="0"/>
                  </a:moveTo>
                  <a:lnTo>
                    <a:pt x="0" y="38100"/>
                  </a:lnTo>
                </a:path>
              </a:pathLst>
            </a:custGeom>
            <a:noFill/>
            <a:ln w="14288">
              <a:solidFill>
                <a:srgbClr val="ECC1B8"/>
              </a:solidFill>
            </a:ln>
          </p:spPr>
        </p:sp>
        <p:sp>
          <p:nvSpPr>
            <p:cNvPr id="61" name="Freeform 61"/>
            <p:cNvSpPr/>
            <p:nvPr/>
          </p:nvSpPr>
          <p:spPr>
            <a:xfrm>
              <a:off x="9582150" y="4953000"/>
              <a:ext cx="466725" cy="323850"/>
            </a:xfrm>
            <a:custGeom>
              <a:avLst/>
              <a:gdLst/>
              <a:ahLst/>
              <a:cxnLst/>
              <a:rect l="l" t="t" r="r" b="b"/>
              <a:pathLst>
                <a:path w="466725" h="323850">
                  <a:moveTo>
                    <a:pt x="466725" y="323850"/>
                  </a:moveTo>
                  <a:cubicBezTo>
                    <a:pt x="231775" y="323850"/>
                    <a:pt x="76200" y="215900"/>
                    <a:pt x="0" y="0"/>
                  </a:cubicBezTo>
                </a:path>
              </a:pathLst>
            </a:custGeom>
            <a:noFill/>
            <a:ln w="14288">
              <a:solidFill>
                <a:srgbClr val="ECC1B8"/>
              </a:solidFill>
            </a:ln>
          </p:spPr>
        </p:sp>
        <p:sp>
          <p:nvSpPr>
            <p:cNvPr id="62" name="Ellipse 62"/>
            <p:cNvSpPr/>
            <p:nvPr/>
          </p:nvSpPr>
          <p:spPr>
            <a:xfrm>
              <a:off x="8658225" y="2419350"/>
              <a:ext cx="914400" cy="914400"/>
            </a:xfrm>
            <a:prstGeom prst="ellipse">
              <a:avLst/>
            </a:prstGeom>
            <a:gradFill>
              <a:gsLst>
                <a:gs pos="0">
                  <a:srgbClr val="E08C7B"/>
                </a:gs>
                <a:gs pos="100000">
                  <a:srgbClr val="C45F4A"/>
                </a:gs>
              </a:gsLst>
              <a:path path="circle">
                <a:fillToRect l="40000" t="35000" r="60000" b="65000"/>
              </a:path>
            </a:gradFill>
            <a:ln>
              <a:noFill/>
            </a:ln>
          </p:spPr>
        </p:sp>
        <p:sp>
          <p:nvSpPr>
            <p:cNvPr id="63" name="TextBox 63"/>
            <p:cNvSpPr txBox="1"/>
            <p:nvPr/>
          </p:nvSpPr>
          <p:spPr>
            <a:xfrm>
              <a:off x="8958936" y="27170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门店</a:t>
              </a:r>
            </a:p>
          </p:txBody>
        </p:sp>
        <p:sp>
          <p:nvSpPr>
            <p:cNvPr id="64" name="TextBox 64"/>
            <p:cNvSpPr txBox="1"/>
            <p:nvPr/>
          </p:nvSpPr>
          <p:spPr>
            <a:xfrm>
              <a:off x="8889886" y="2939891"/>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生态布局</a:t>
              </a:r>
            </a:p>
          </p:txBody>
        </p:sp>
        <p:sp>
          <p:nvSpPr>
            <p:cNvPr id="65" name="Ellipse 65"/>
            <p:cNvSpPr/>
            <p:nvPr/>
          </p:nvSpPr>
          <p:spPr>
            <a:xfrm>
              <a:off x="8658225" y="4391025"/>
              <a:ext cx="914400" cy="914400"/>
            </a:xfrm>
            <a:prstGeom prst="ellipse">
              <a:avLst/>
            </a:prstGeom>
            <a:gradFill>
              <a:gsLst>
                <a:gs pos="0">
                  <a:srgbClr val="E08C7B"/>
                </a:gs>
                <a:gs pos="100000">
                  <a:srgbClr val="C45F4A"/>
                </a:gs>
              </a:gsLst>
              <a:path path="circle">
                <a:fillToRect l="40000" t="35000" r="60000" b="65000"/>
              </a:path>
            </a:gradFill>
            <a:ln>
              <a:noFill/>
            </a:ln>
          </p:spPr>
        </p:sp>
        <p:sp>
          <p:nvSpPr>
            <p:cNvPr id="66" name="TextBox 66"/>
            <p:cNvSpPr txBox="1"/>
            <p:nvPr/>
          </p:nvSpPr>
          <p:spPr>
            <a:xfrm>
              <a:off x="8883548" y="468868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加盟店</a:t>
              </a:r>
            </a:p>
          </p:txBody>
        </p:sp>
        <p:sp>
          <p:nvSpPr>
            <p:cNvPr id="67" name="TextBox 67"/>
            <p:cNvSpPr txBox="1"/>
            <p:nvPr/>
          </p:nvSpPr>
          <p:spPr>
            <a:xfrm>
              <a:off x="8889886" y="49115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零售运营</a:t>
              </a:r>
            </a:p>
          </p:txBody>
        </p:sp>
        <p:sp>
          <p:nvSpPr>
            <p:cNvPr id="68" name="Line 68"/>
            <p:cNvSpPr/>
            <p:nvPr/>
          </p:nvSpPr>
          <p:spPr>
            <a:xfrm>
              <a:off x="9115425" y="3429000"/>
              <a:ext cx="1" cy="876300"/>
            </a:xfrm>
            <a:prstGeom prst="line">
              <a:avLst/>
            </a:prstGeom>
            <a:noFill/>
            <a:ln w="14288">
              <a:solidFill>
                <a:srgbClr val="C45F4A"/>
              </a:solidFill>
              <a:headEnd type="triangle" w="lg" len="lg"/>
              <a:tailEnd type="triangle" w="lg" len="lg"/>
            </a:ln>
          </p:spPr>
        </p:sp>
        <p:grpSp>
          <p:nvGrpSpPr>
            <p:cNvPr id="70" name="Group 70"/>
            <p:cNvGrpSpPr/>
            <p:nvPr/>
          </p:nvGrpSpPr>
          <p:grpSpPr>
            <a:xfrm rot="5400000">
              <a:off x="8888400" y="3796902"/>
              <a:ext cx="200685" cy="140494"/>
              <a:chOff x="8881732" y="3790236"/>
              <a:chExt cx="200685" cy="140494"/>
            </a:xfrm>
          </p:grpSpPr>
          <p:sp>
            <p:nvSpPr>
              <p:cNvPr id="69" name="TextBox 69"/>
              <p:cNvSpPr txBox="1"/>
              <p:nvPr/>
            </p:nvSpPr>
            <p:spPr>
              <a:xfrm>
                <a:off x="8881732" y="3790236"/>
                <a:ext cx="200685" cy="140494"/>
              </a:xfrm>
              <a:prstGeom prst="rect">
                <a:avLst/>
              </a:prstGeom>
              <a:noFill/>
              <a:ln>
                <a:noFill/>
              </a:ln>
            </p:spPr>
            <p:txBody>
              <a:bodyPr wrap="none" lIns="0" tIns="0" rIns="0" bIns="0" anchor="t" anchorCtr="0">
                <a:spAutoFit/>
              </a:bodyPr>
              <a:lstStyle/>
              <a:p>
                <a:pPr algn="ctr"/>
                <a:r>
                  <a:rPr lang="zh-CN" sz="710" dirty="0">
                    <a:solidFill>
                      <a:srgbClr val="E8634C"/>
                    </a:solidFill>
                    <a:latin typeface="+mn-lt"/>
                    <a:ea typeface="+mn-ea"/>
                    <a:cs typeface="+mn-cs"/>
                  </a:rPr>
                  <a:t>降低</a:t>
                </a:r>
              </a:p>
            </p:txBody>
          </p:sp>
        </p:grpSp>
        <p:grpSp>
          <p:nvGrpSpPr>
            <p:cNvPr id="72" name="Group 72"/>
            <p:cNvGrpSpPr/>
            <p:nvPr/>
          </p:nvGrpSpPr>
          <p:grpSpPr>
            <a:xfrm rot="5400000">
              <a:off x="9078569" y="3796903"/>
              <a:ext cx="391846" cy="140494"/>
              <a:chOff x="9071902" y="3790236"/>
              <a:chExt cx="391846" cy="140494"/>
            </a:xfrm>
          </p:grpSpPr>
          <p:sp>
            <p:nvSpPr>
              <p:cNvPr id="71" name="TextBox 71"/>
              <p:cNvSpPr txBox="1"/>
              <p:nvPr/>
            </p:nvSpPr>
            <p:spPr>
              <a:xfrm>
                <a:off x="9071902" y="3790236"/>
                <a:ext cx="391846" cy="140494"/>
              </a:xfrm>
              <a:prstGeom prst="rect">
                <a:avLst/>
              </a:prstGeom>
              <a:noFill/>
              <a:ln>
                <a:noFill/>
              </a:ln>
            </p:spPr>
            <p:txBody>
              <a:bodyPr wrap="none" lIns="0" tIns="0" rIns="0" bIns="0" anchor="t" anchorCtr="0">
                <a:spAutoFit/>
              </a:bodyPr>
              <a:lstStyle/>
              <a:p>
                <a:pPr algn="ctr"/>
                <a:r>
                  <a:rPr lang="zh-CN" sz="710" dirty="0">
                    <a:solidFill>
                      <a:srgbClr val="E8634C"/>
                    </a:solidFill>
                    <a:latin typeface="+mn-lt"/>
                    <a:ea typeface="+mn-ea"/>
                    <a:cs typeface="+mn-cs"/>
                  </a:rPr>
                  <a:t>获客成本</a:t>
                </a:r>
              </a:p>
            </p:txBody>
          </p:sp>
        </p:grpSp>
        <p:sp>
          <p:nvSpPr>
            <p:cNvPr id="73" name="Rectangle 73"/>
            <p:cNvSpPr/>
            <p:nvPr/>
          </p:nvSpPr>
          <p:spPr>
            <a:xfrm>
              <a:off x="10134600" y="2105025"/>
              <a:ext cx="1047750" cy="228600"/>
            </a:xfrm>
            <a:prstGeom prst="roundRect">
              <a:avLst>
                <a:gd name="adj" fmla="val 16667"/>
              </a:avLst>
            </a:prstGeom>
            <a:solidFill>
              <a:srgbClr val="FFFFFF"/>
            </a:solidFill>
            <a:ln w="14288">
              <a:solidFill>
                <a:srgbClr val="C45F4A"/>
              </a:solidFill>
            </a:ln>
          </p:spPr>
        </p:sp>
        <p:sp>
          <p:nvSpPr>
            <p:cNvPr id="74" name="TextBox 74"/>
            <p:cNvSpPr txBox="1"/>
            <p:nvPr/>
          </p:nvSpPr>
          <p:spPr>
            <a:xfrm>
              <a:off x="10441013" y="2181939"/>
              <a:ext cx="4349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娱乐场景</a:t>
              </a:r>
            </a:p>
          </p:txBody>
        </p:sp>
        <p:sp>
          <p:nvSpPr>
            <p:cNvPr id="75" name="Rectangle 75"/>
            <p:cNvSpPr/>
            <p:nvPr/>
          </p:nvSpPr>
          <p:spPr>
            <a:xfrm>
              <a:off x="10134600" y="2590800"/>
              <a:ext cx="1047750" cy="228600"/>
            </a:xfrm>
            <a:prstGeom prst="roundRect">
              <a:avLst>
                <a:gd name="adj" fmla="val 16667"/>
              </a:avLst>
            </a:prstGeom>
            <a:solidFill>
              <a:srgbClr val="FFFFFF"/>
            </a:solidFill>
            <a:ln w="14288">
              <a:solidFill>
                <a:srgbClr val="C45F4A"/>
              </a:solidFill>
            </a:ln>
          </p:spPr>
        </p:sp>
        <p:sp>
          <p:nvSpPr>
            <p:cNvPr id="76" name="TextBox 76"/>
            <p:cNvSpPr txBox="1"/>
            <p:nvPr/>
          </p:nvSpPr>
          <p:spPr>
            <a:xfrm>
              <a:off x="10441013" y="2667714"/>
              <a:ext cx="4349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服务场景</a:t>
              </a:r>
            </a:p>
          </p:txBody>
        </p:sp>
        <p:sp>
          <p:nvSpPr>
            <p:cNvPr id="77" name="Rectangle 77"/>
            <p:cNvSpPr/>
            <p:nvPr/>
          </p:nvSpPr>
          <p:spPr>
            <a:xfrm>
              <a:off x="10134600" y="3124200"/>
              <a:ext cx="1047750" cy="228600"/>
            </a:xfrm>
            <a:prstGeom prst="roundRect">
              <a:avLst>
                <a:gd name="adj" fmla="val 16667"/>
              </a:avLst>
            </a:prstGeom>
            <a:solidFill>
              <a:srgbClr val="FFFFFF"/>
            </a:solidFill>
            <a:ln w="14288">
              <a:solidFill>
                <a:srgbClr val="C45F4A"/>
              </a:solidFill>
            </a:ln>
          </p:spPr>
        </p:sp>
        <p:sp>
          <p:nvSpPr>
            <p:cNvPr id="78" name="TextBox 78"/>
            <p:cNvSpPr txBox="1"/>
            <p:nvPr/>
          </p:nvSpPr>
          <p:spPr>
            <a:xfrm>
              <a:off x="10441013" y="3201114"/>
              <a:ext cx="4349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教育场景</a:t>
              </a:r>
            </a:p>
          </p:txBody>
        </p:sp>
        <p:sp>
          <p:nvSpPr>
            <p:cNvPr id="79" name="Rectangle 79"/>
            <p:cNvSpPr/>
            <p:nvPr/>
          </p:nvSpPr>
          <p:spPr>
            <a:xfrm>
              <a:off x="10096500" y="4657725"/>
              <a:ext cx="1238250" cy="228600"/>
            </a:xfrm>
            <a:prstGeom prst="roundRect">
              <a:avLst>
                <a:gd name="adj" fmla="val 16667"/>
              </a:avLst>
            </a:prstGeom>
            <a:solidFill>
              <a:srgbClr val="FFFFFF"/>
            </a:solidFill>
            <a:ln w="14288">
              <a:solidFill>
                <a:srgbClr val="C45F4A"/>
              </a:solidFill>
            </a:ln>
          </p:spPr>
        </p:sp>
        <p:sp>
          <p:nvSpPr>
            <p:cNvPr id="80" name="TextBox 80"/>
            <p:cNvSpPr txBox="1"/>
            <p:nvPr/>
          </p:nvSpPr>
          <p:spPr>
            <a:xfrm>
              <a:off x="10391813" y="4734639"/>
              <a:ext cx="64762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外出消费场景</a:t>
              </a:r>
            </a:p>
          </p:txBody>
        </p:sp>
        <p:sp>
          <p:nvSpPr>
            <p:cNvPr id="81" name="Rectangle 81"/>
            <p:cNvSpPr/>
            <p:nvPr/>
          </p:nvSpPr>
          <p:spPr>
            <a:xfrm>
              <a:off x="10048875" y="5162550"/>
              <a:ext cx="1333500" cy="228600"/>
            </a:xfrm>
            <a:prstGeom prst="roundRect">
              <a:avLst>
                <a:gd name="adj" fmla="val 16667"/>
              </a:avLst>
            </a:prstGeom>
            <a:solidFill>
              <a:srgbClr val="FFFFFF"/>
            </a:solidFill>
            <a:ln w="14288">
              <a:solidFill>
                <a:srgbClr val="C45F4A"/>
              </a:solidFill>
            </a:ln>
          </p:spPr>
        </p:sp>
        <p:sp>
          <p:nvSpPr>
            <p:cNvPr id="82" name="TextBox 82"/>
            <p:cNvSpPr txBox="1"/>
            <p:nvPr/>
          </p:nvSpPr>
          <p:spPr>
            <a:xfrm>
              <a:off x="10338638" y="5239464"/>
              <a:ext cx="75397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儿童房消费场景</a:t>
              </a:r>
            </a:p>
          </p:txBody>
        </p:sp>
      </p:grpSp>
      <p:grpSp>
        <p:nvGrpSpPr>
          <p:cNvPr id="87" name="bottom-banner"/>
          <p:cNvGrpSpPr/>
          <p:nvPr/>
        </p:nvGrpSpPr>
        <p:grpSpPr>
          <a:xfrm>
            <a:off x="4067175" y="5835491"/>
            <a:ext cx="4067175" cy="574834"/>
            <a:chOff x="4067175" y="5835491"/>
            <a:chExt cx="4067175" cy="574834"/>
          </a:xfrm>
        </p:grpSpPr>
        <p:sp>
          <p:nvSpPr>
            <p:cNvPr id="84" name="TextBox 84"/>
            <p:cNvSpPr txBox="1"/>
            <p:nvPr/>
          </p:nvSpPr>
          <p:spPr>
            <a:xfrm>
              <a:off x="5649684" y="5835491"/>
              <a:ext cx="892632" cy="161925"/>
            </a:xfrm>
            <a:prstGeom prst="rect">
              <a:avLst/>
            </a:prstGeom>
            <a:noFill/>
            <a:ln>
              <a:noFill/>
            </a:ln>
          </p:spPr>
          <p:txBody>
            <a:bodyPr wrap="none" lIns="0" tIns="0" rIns="0" bIns="0" anchor="t" anchorCtr="0">
              <a:spAutoFit/>
            </a:bodyPr>
            <a:lstStyle/>
            <a:p>
              <a:pPr algn="ctr"/>
              <a:r>
                <a:rPr lang="zh-CN" sz="820" dirty="0">
                  <a:solidFill>
                    <a:srgbClr val="543E3A"/>
                  </a:solidFill>
                  <a:latin typeface="+mn-lt"/>
                  <a:ea typeface="+mn-ea"/>
                  <a:cs typeface="+mn-cs"/>
                </a:rPr>
                <a:t>厂商协助门店运营</a:t>
              </a:r>
            </a:p>
          </p:txBody>
        </p:sp>
        <p:sp>
          <p:nvSpPr>
            <p:cNvPr id="85" name="Rectangle 85"/>
            <p:cNvSpPr/>
            <p:nvPr/>
          </p:nvSpPr>
          <p:spPr>
            <a:xfrm>
              <a:off x="4067175" y="6096000"/>
              <a:ext cx="4067175" cy="314325"/>
            </a:xfrm>
            <a:prstGeom prst="roundRect">
              <a:avLst>
                <a:gd name="adj" fmla="val 24242"/>
              </a:avLst>
            </a:prstGeom>
            <a:solidFill>
              <a:srgbClr val="C45F4A"/>
            </a:solidFill>
            <a:ln>
              <a:noFill/>
            </a:ln>
          </p:spPr>
        </p:sp>
        <p:sp>
          <p:nvSpPr>
            <p:cNvPr id="86" name="TextBox 86"/>
            <p:cNvSpPr txBox="1"/>
            <p:nvPr/>
          </p:nvSpPr>
          <p:spPr>
            <a:xfrm>
              <a:off x="5104539" y="6201728"/>
              <a:ext cx="19829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数据打通，SaaS中台统一管理​</a:t>
              </a:r>
            </a:p>
          </p:txBody>
        </p:sp>
      </p:gr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nel-timeline"/>
          <p:cNvSpPr/>
          <p:nvPr/>
        </p:nvSpPr>
        <p:spPr>
          <a:xfrm>
            <a:off x="0" y="666750"/>
            <a:ext cx="12192000" cy="5676900"/>
          </a:xfrm>
          <a:prstGeom prst="rect">
            <a:avLst/>
          </a:prstGeom>
          <a:solidFill>
            <a:srgbClr val="F0F3FB"/>
          </a:solidFill>
          <a:ln>
            <a:noFill/>
          </a:ln>
        </p:spPr>
      </p:sp>
      <p:sp>
        <p:nvSpPr>
          <p:cNvPr id="3" name="panel-pink"/>
          <p:cNvSpPr/>
          <p:nvPr/>
        </p:nvSpPr>
        <p:spPr>
          <a:xfrm>
            <a:off x="9982200" y="666750"/>
            <a:ext cx="2209800" cy="5676900"/>
          </a:xfrm>
          <a:prstGeom prst="rect">
            <a:avLst/>
          </a:prstGeom>
          <a:solidFill>
            <a:srgbClr val="FAECE7"/>
          </a:solidFill>
          <a:ln>
            <a:noFill/>
          </a:ln>
        </p:spPr>
      </p:sp>
      <p:sp>
        <p:nvSpPr>
          <p:cNvPr id="4" name="growth-curve"/>
          <p:cNvSpPr/>
          <p:nvPr/>
        </p:nvSpPr>
        <p:spPr>
          <a:xfrm>
            <a:off x="0" y="1733550"/>
            <a:ext cx="12096750" cy="3581400"/>
          </a:xfrm>
          <a:custGeom>
            <a:avLst/>
            <a:gdLst/>
            <a:ahLst/>
            <a:cxnLst/>
            <a:rect l="l" t="t" r="r" b="b"/>
            <a:pathLst>
              <a:path w="12096750" h="3581400">
                <a:moveTo>
                  <a:pt x="0" y="3581400"/>
                </a:moveTo>
                <a:cubicBezTo>
                  <a:pt x="381000" y="3143250"/>
                  <a:pt x="762000" y="3048000"/>
                  <a:pt x="1333500" y="3086100"/>
                </a:cubicBezTo>
                <a:cubicBezTo>
                  <a:pt x="1905000" y="3124200"/>
                  <a:pt x="2095500" y="3143250"/>
                  <a:pt x="2486025" y="3143250"/>
                </a:cubicBezTo>
                <a:cubicBezTo>
                  <a:pt x="3143250" y="3143250"/>
                  <a:pt x="3810000" y="2933700"/>
                  <a:pt x="4486275" y="2476500"/>
                </a:cubicBezTo>
                <a:cubicBezTo>
                  <a:pt x="5143500" y="2038350"/>
                  <a:pt x="5810250" y="952500"/>
                  <a:pt x="6467475" y="838200"/>
                </a:cubicBezTo>
                <a:cubicBezTo>
                  <a:pt x="7048500" y="742950"/>
                  <a:pt x="7715250" y="819150"/>
                  <a:pt x="8372475" y="809625"/>
                </a:cubicBezTo>
                <a:cubicBezTo>
                  <a:pt x="9048750" y="800100"/>
                  <a:pt x="9715500" y="457200"/>
                  <a:pt x="10382250" y="209550"/>
                </a:cubicBezTo>
                <a:cubicBezTo>
                  <a:pt x="10953750" y="0"/>
                  <a:pt x="11525250" y="133350"/>
                  <a:pt x="12096750" y="95250"/>
                </a:cubicBezTo>
              </a:path>
            </a:pathLst>
          </a:custGeom>
          <a:noFill/>
          <a:ln w="47625">
            <a:solidFill>
              <a:srgbClr val="EEB1A5"/>
            </a:solidFill>
          </a:ln>
        </p:spPr>
      </p:sp>
      <p:grpSp>
        <p:nvGrpSpPr>
          <p:cNvPr id="9" name="page-header"/>
          <p:cNvGrpSpPr/>
          <p:nvPr/>
        </p:nvGrpSpPr>
        <p:grpSpPr>
          <a:xfrm>
            <a:off x="0" y="0"/>
            <a:ext cx="5905500" cy="542925"/>
            <a:chOff x="0" y="0"/>
            <a:chExt cx="5905500" cy="542925"/>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6" name="TextBox 6"/>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70​​</a:t>
              </a:r>
            </a:p>
          </p:txBody>
        </p:sp>
        <p:sp>
          <p:nvSpPr>
            <p:cNvPr id="7" name="TextBox 7"/>
            <p:cNvSpPr txBox="1"/>
            <p:nvPr/>
          </p:nvSpPr>
          <p:spPr>
            <a:xfrm>
              <a:off x="942594" y="151448"/>
              <a:ext cx="184420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品牌发展过程​</a:t>
              </a:r>
            </a:p>
          </p:txBody>
        </p:sp>
        <p:sp>
          <p:nvSpPr>
            <p:cNvPr id="8" name="Line 8"/>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8" name="milestone-1990"/>
          <p:cNvGrpSpPr/>
          <p:nvPr/>
        </p:nvGrpSpPr>
        <p:grpSpPr>
          <a:xfrm>
            <a:off x="280797" y="3266599"/>
            <a:ext cx="1566862" cy="2248090"/>
            <a:chOff x="280797" y="3266599"/>
            <a:chExt cx="1566862" cy="2248090"/>
          </a:xfrm>
        </p:grpSpPr>
        <p:sp>
          <p:nvSpPr>
            <p:cNvPr id="10" name="TextBox 10"/>
            <p:cNvSpPr txBox="1"/>
            <p:nvPr/>
          </p:nvSpPr>
          <p:spPr>
            <a:xfrm>
              <a:off x="557022" y="3266599"/>
              <a:ext cx="1197254" cy="190690"/>
            </a:xfrm>
            <a:prstGeom prst="rect">
              <a:avLst/>
            </a:prstGeom>
            <a:noFill/>
            <a:ln>
              <a:noFill/>
            </a:ln>
          </p:spPr>
          <p:txBody>
            <a:bodyPr wrap="none" lIns="0" tIns="0" rIns="0" bIns="0" anchor="t" anchorCtr="0">
              <a:spAutoFit/>
            </a:bodyPr>
            <a:lstStyle/>
            <a:p>
              <a:pPr algn="l"/>
              <a:r>
                <a:rPr lang="zh-CN" sz="980" b="1" dirty="0">
                  <a:solidFill>
                    <a:srgbClr val="543E3A"/>
                  </a:solidFill>
                  <a:latin typeface="+mn-lt"/>
                  <a:ea typeface="+mn-ea"/>
                  <a:cs typeface="+mn-cs"/>
                </a:rPr>
                <a:t>欧系</a:t>
              </a:r>
              <a:r>
                <a:rPr lang="zh-CN" sz="980" b="1" dirty="0">
                  <a:solidFill>
                    <a:srgbClr val="E8634C"/>
                  </a:solidFill>
                  <a:latin typeface="+mn-lt"/>
                  <a:ea typeface="+mn-ea"/>
                  <a:cs typeface="+mn-cs"/>
                </a:rPr>
                <a:t>咖啡店</a:t>
              </a:r>
              <a:r>
                <a:rPr lang="zh-CN" sz="980" b="1" dirty="0">
                  <a:solidFill>
                    <a:srgbClr val="543E3A"/>
                  </a:solidFill>
                  <a:latin typeface="+mn-lt"/>
                  <a:ea typeface="+mn-ea"/>
                  <a:cs typeface="+mn-cs"/>
                </a:rPr>
                <a:t>进入中国</a:t>
              </a:r>
            </a:p>
          </p:txBody>
        </p:sp>
        <p:sp>
          <p:nvSpPr>
            <p:cNvPr id="11" name="TextBox 11"/>
            <p:cNvSpPr txBox="1"/>
            <p:nvPr/>
          </p:nvSpPr>
          <p:spPr>
            <a:xfrm>
              <a:off x="557212" y="3663791"/>
              <a:ext cx="1290447" cy="647700"/>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1999年，欧美系咖啡店代​​</a:t>
              </a:r>
              <a:br/>
              <a:r>
                <a:rPr lang="zh-CN" sz="820" dirty="0">
                  <a:solidFill>
                    <a:srgbClr val="88706B"/>
                  </a:solidFill>
                  <a:latin typeface="+mn-lt"/>
                  <a:ea typeface="+mn-ea"/>
                  <a:cs typeface="+mn-cs"/>
                </a:rPr>
                <a:t>表品牌星巴克在中国开设</a:t>
              </a:r>
              <a:br/>
              <a:r>
                <a:rPr lang="zh-CN" sz="820" dirty="0">
                  <a:solidFill>
                    <a:srgbClr val="88706B"/>
                  </a:solidFill>
                  <a:latin typeface="+mn-lt"/>
                  <a:ea typeface="+mn-ea"/>
                  <a:cs typeface="+mn-cs"/>
                </a:rPr>
                <a:t>门店，消费者开始关注咖</a:t>
              </a:r>
              <a:br/>
              <a:r>
                <a:rPr lang="zh-CN" sz="820" dirty="0">
                  <a:solidFill>
                    <a:srgbClr val="88706B"/>
                  </a:solidFill>
                  <a:latin typeface="+mn-lt"/>
                  <a:ea typeface="+mn-ea"/>
                  <a:cs typeface="+mn-cs"/>
                </a:rPr>
                <a:t>啡店的社交体验。</a:t>
              </a:r>
            </a:p>
          </p:txBody>
        </p:sp>
        <p:sp>
          <p:nvSpPr>
            <p:cNvPr id="12" name="Ellipse 12"/>
            <p:cNvSpPr/>
            <p:nvPr/>
          </p:nvSpPr>
          <p:spPr>
            <a:xfrm>
              <a:off x="323850" y="4572000"/>
              <a:ext cx="457200" cy="457200"/>
            </a:xfrm>
            <a:prstGeom prst="ellipse">
              <a:avLst/>
            </a:prstGeom>
            <a:solidFill>
              <a:srgbClr val="C96E5B"/>
            </a:solidFill>
            <a:ln>
              <a:noFill/>
            </a:ln>
          </p:spPr>
        </p:sp>
        <p:grpSp>
          <p:nvGrpSpPr>
            <p:cNvPr id="16" name="Group 16"/>
            <p:cNvGrpSpPr/>
            <p:nvPr/>
          </p:nvGrpSpPr>
          <p:grpSpPr>
            <a:xfrm>
              <a:off x="466725" y="4714875"/>
              <a:ext cx="171450" cy="171450"/>
              <a:chOff x="466725" y="4714875"/>
              <a:chExt cx="171450" cy="171450"/>
            </a:xfrm>
          </p:grpSpPr>
          <p:sp>
            <p:nvSpPr>
              <p:cNvPr id="13" name="Freeform 13"/>
              <p:cNvSpPr/>
              <p:nvPr/>
            </p:nvSpPr>
            <p:spPr>
              <a:xfrm>
                <a:off x="466725" y="4714875"/>
                <a:ext cx="171450" cy="85725"/>
              </a:xfrm>
              <a:custGeom>
                <a:avLst/>
                <a:gdLst/>
                <a:ahLst/>
                <a:cxnLst/>
                <a:rect l="l" t="t" r="r" b="b"/>
                <a:pathLst>
                  <a:path w="171450" h="85725">
                    <a:moveTo>
                      <a:pt x="19050" y="85725"/>
                    </a:moveTo>
                    <a:lnTo>
                      <a:pt x="0" y="85725"/>
                    </a:lnTo>
                    <a:lnTo>
                      <a:pt x="85725" y="0"/>
                    </a:lnTo>
                    <a:lnTo>
                      <a:pt x="171450" y="85725"/>
                    </a:lnTo>
                    <a:lnTo>
                      <a:pt x="152400" y="85725"/>
                    </a:lnTo>
                  </a:path>
                </a:pathLst>
              </a:custGeom>
              <a:noFill/>
              <a:ln w="19050">
                <a:solidFill>
                  <a:srgbClr val="FFFFFF"/>
                </a:solidFill>
              </a:ln>
            </p:spPr>
          </p:sp>
          <p:sp>
            <p:nvSpPr>
              <p:cNvPr id="14" name="Freeform 14"/>
              <p:cNvSpPr/>
              <p:nvPr/>
            </p:nvSpPr>
            <p:spPr>
              <a:xfrm>
                <a:off x="485775" y="4800600"/>
                <a:ext cx="133350" cy="85725"/>
              </a:xfrm>
              <a:custGeom>
                <a:avLst/>
                <a:gdLst/>
                <a:ahLst/>
                <a:cxnLst/>
                <a:rect l="l" t="t" r="r" b="b"/>
                <a:pathLst>
                  <a:path w="133350" h="85725">
                    <a:moveTo>
                      <a:pt x="0" y="0"/>
                    </a:moveTo>
                    <a:lnTo>
                      <a:pt x="0" y="66675"/>
                    </a:lnTo>
                    <a:cubicBezTo>
                      <a:pt x="0" y="77196"/>
                      <a:pt x="8529" y="85725"/>
                      <a:pt x="19050" y="85725"/>
                    </a:cubicBezTo>
                    <a:lnTo>
                      <a:pt x="114300" y="85725"/>
                    </a:lnTo>
                    <a:cubicBezTo>
                      <a:pt x="124821" y="85725"/>
                      <a:pt x="133350" y="77196"/>
                      <a:pt x="133350" y="66675"/>
                    </a:cubicBezTo>
                    <a:lnTo>
                      <a:pt x="133350" y="0"/>
                    </a:lnTo>
                  </a:path>
                </a:pathLst>
              </a:custGeom>
              <a:noFill/>
              <a:ln w="19050">
                <a:solidFill>
                  <a:srgbClr val="FFFFFF"/>
                </a:solidFill>
              </a:ln>
            </p:spPr>
          </p:sp>
          <p:sp>
            <p:nvSpPr>
              <p:cNvPr id="15" name="Freeform 15"/>
              <p:cNvSpPr/>
              <p:nvPr/>
            </p:nvSpPr>
            <p:spPr>
              <a:xfrm>
                <a:off x="523875" y="4810125"/>
                <a:ext cx="57150" cy="76200"/>
              </a:xfrm>
              <a:custGeom>
                <a:avLst/>
                <a:gdLst/>
                <a:ahLst/>
                <a:cxnLst/>
                <a:rect l="l" t="t" r="r" b="b"/>
                <a:pathLst>
                  <a:path w="57150" h="76200">
                    <a:moveTo>
                      <a:pt x="0" y="76200"/>
                    </a:moveTo>
                    <a:lnTo>
                      <a:pt x="0" y="19050"/>
                    </a:lnTo>
                    <a:cubicBezTo>
                      <a:pt x="0" y="8529"/>
                      <a:pt x="8529" y="0"/>
                      <a:pt x="19050" y="0"/>
                    </a:cubicBezTo>
                    <a:lnTo>
                      <a:pt x="38100" y="0"/>
                    </a:lnTo>
                    <a:cubicBezTo>
                      <a:pt x="48621" y="0"/>
                      <a:pt x="57150" y="8529"/>
                      <a:pt x="57150" y="19050"/>
                    </a:cubicBezTo>
                    <a:lnTo>
                      <a:pt x="57150" y="76200"/>
                    </a:lnTo>
                  </a:path>
                </a:pathLst>
              </a:custGeom>
              <a:noFill/>
              <a:ln w="19050">
                <a:solidFill>
                  <a:srgbClr val="FFFFFF"/>
                </a:solidFill>
              </a:ln>
            </p:spPr>
          </p:sp>
        </p:grpSp>
        <p:sp>
          <p:nvSpPr>
            <p:cNvPr id="17" name="TextBox 17"/>
            <p:cNvSpPr txBox="1"/>
            <p:nvPr/>
          </p:nvSpPr>
          <p:spPr>
            <a:xfrm>
              <a:off x="280797" y="5323999"/>
              <a:ext cx="467035" cy="190690"/>
            </a:xfrm>
            <a:prstGeom prst="rect">
              <a:avLst/>
            </a:prstGeom>
            <a:noFill/>
            <a:ln>
              <a:noFill/>
            </a:ln>
          </p:spPr>
          <p:txBody>
            <a:bodyPr wrap="none" lIns="0" tIns="0" rIns="0" bIns="0" anchor="t" anchorCtr="0">
              <a:spAutoFit/>
            </a:bodyPr>
            <a:lstStyle/>
            <a:p>
              <a:pPr algn="l"/>
              <a:r>
                <a:rPr lang="zh-CN" sz="980" b="1" dirty="0">
                  <a:solidFill>
                    <a:srgbClr val="C45F4A"/>
                  </a:solidFill>
                  <a:latin typeface="+mn-lt"/>
                  <a:ea typeface="+mn-ea"/>
                  <a:cs typeface="+mn-cs"/>
                </a:rPr>
                <a:t>1990​​</a:t>
              </a:r>
            </a:p>
          </p:txBody>
        </p:sp>
      </p:grpSp>
      <p:grpSp>
        <p:nvGrpSpPr>
          <p:cNvPr id="28" name="milestone-2010"/>
          <p:cNvGrpSpPr/>
          <p:nvPr/>
        </p:nvGrpSpPr>
        <p:grpSpPr>
          <a:xfrm>
            <a:off x="2252472" y="2618899"/>
            <a:ext cx="1396683" cy="2971990"/>
            <a:chOff x="2252472" y="2618899"/>
            <a:chExt cx="1396683" cy="2971990"/>
          </a:xfrm>
        </p:grpSpPr>
        <p:sp>
          <p:nvSpPr>
            <p:cNvPr id="19" name="TextBox 19"/>
            <p:cNvSpPr txBox="1"/>
            <p:nvPr/>
          </p:nvSpPr>
          <p:spPr>
            <a:xfrm>
              <a:off x="2566797" y="2618899"/>
              <a:ext cx="933399" cy="190690"/>
            </a:xfrm>
            <a:prstGeom prst="rect">
              <a:avLst/>
            </a:prstGeom>
            <a:noFill/>
            <a:ln>
              <a:noFill/>
            </a:ln>
          </p:spPr>
          <p:txBody>
            <a:bodyPr wrap="none" lIns="0" tIns="0" rIns="0" bIns="0" anchor="t" anchorCtr="0">
              <a:spAutoFit/>
            </a:bodyPr>
            <a:lstStyle/>
            <a:p>
              <a:pPr algn="l"/>
              <a:r>
                <a:rPr lang="zh-CN" sz="980" b="1" dirty="0">
                  <a:solidFill>
                    <a:srgbClr val="E8634C"/>
                  </a:solidFill>
                  <a:latin typeface="+mn-lt"/>
                  <a:ea typeface="+mn-ea"/>
                  <a:cs typeface="+mn-cs"/>
                </a:rPr>
                <a:t>便利店咖啡兴起</a:t>
              </a:r>
            </a:p>
          </p:txBody>
        </p:sp>
        <p:sp>
          <p:nvSpPr>
            <p:cNvPr id="20" name="TextBox 20"/>
            <p:cNvSpPr txBox="1"/>
            <p:nvPr/>
          </p:nvSpPr>
          <p:spPr>
            <a:xfrm>
              <a:off x="2566988" y="2882741"/>
              <a:ext cx="1082167" cy="80962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2010年，喜士多推出​​</a:t>
              </a:r>
              <a:br/>
              <a:r>
                <a:rPr lang="zh-CN" sz="820" dirty="0">
                  <a:solidFill>
                    <a:srgbClr val="88706B"/>
                  </a:solidFill>
                  <a:latin typeface="+mn-lt"/>
                  <a:ea typeface="+mn-ea"/>
                  <a:cs typeface="+mn-cs"/>
                </a:rPr>
                <a:t>现磨咖啡，</a:t>
              </a:r>
              <a:r>
                <a:rPr lang="zh-CN" sz="820" dirty="0">
                  <a:solidFill>
                    <a:srgbClr val="E8634C"/>
                  </a:solidFill>
                  <a:latin typeface="+mn-lt"/>
                  <a:ea typeface="+mn-ea"/>
                  <a:cs typeface="+mn-cs"/>
                </a:rPr>
                <a:t>便利店咖啡</a:t>
              </a:r>
              <a:br/>
              <a:r>
                <a:rPr lang="zh-CN" sz="820" dirty="0">
                  <a:solidFill>
                    <a:srgbClr val="E8634C"/>
                  </a:solidFill>
                  <a:latin typeface="+mn-lt"/>
                  <a:ea typeface="+mn-ea"/>
                  <a:cs typeface="+mn-cs"/>
                </a:rPr>
                <a:t>兴起</a:t>
              </a:r>
              <a:r>
                <a:rPr lang="zh-CN" sz="820" dirty="0">
                  <a:solidFill>
                    <a:srgbClr val="88706B"/>
                  </a:solidFill>
                  <a:latin typeface="+mn-lt"/>
                  <a:ea typeface="+mn-ea"/>
                  <a:cs typeface="+mn-cs"/>
                </a:rPr>
                <a:t>，饮用咖啡逐渐成</a:t>
              </a:r>
              <a:br/>
              <a:r>
                <a:rPr lang="zh-CN" sz="820" dirty="0">
                  <a:solidFill>
                    <a:srgbClr val="88706B"/>
                  </a:solidFill>
                  <a:latin typeface="+mn-lt"/>
                  <a:ea typeface="+mn-ea"/>
                  <a:cs typeface="+mn-cs"/>
                </a:rPr>
                <a:t>为中国消费者的日常选</a:t>
              </a:r>
              <a:br/>
              <a:r>
                <a:rPr lang="zh-CN" sz="820" dirty="0">
                  <a:solidFill>
                    <a:srgbClr val="88706B"/>
                  </a:solidFill>
                  <a:latin typeface="+mn-lt"/>
                  <a:ea typeface="+mn-ea"/>
                  <a:cs typeface="+mn-cs"/>
                </a:rPr>
                <a:t>择。</a:t>
              </a:r>
            </a:p>
          </p:txBody>
        </p:sp>
        <p:sp>
          <p:nvSpPr>
            <p:cNvPr id="21" name="Ellipse 21"/>
            <p:cNvSpPr/>
            <p:nvPr/>
          </p:nvSpPr>
          <p:spPr>
            <a:xfrm>
              <a:off x="2257425" y="4648200"/>
              <a:ext cx="457200" cy="457200"/>
            </a:xfrm>
            <a:prstGeom prst="ellipse">
              <a:avLst/>
            </a:prstGeom>
            <a:solidFill>
              <a:srgbClr val="C96E5B"/>
            </a:solidFill>
            <a:ln>
              <a:noFill/>
            </a:ln>
          </p:spPr>
        </p:sp>
        <p:grpSp>
          <p:nvGrpSpPr>
            <p:cNvPr id="26" name="Group 26"/>
            <p:cNvGrpSpPr/>
            <p:nvPr/>
          </p:nvGrpSpPr>
          <p:grpSpPr>
            <a:xfrm>
              <a:off x="2409825" y="4791075"/>
              <a:ext cx="152400" cy="171450"/>
              <a:chOff x="2409825" y="4791075"/>
              <a:chExt cx="152400" cy="171450"/>
            </a:xfrm>
          </p:grpSpPr>
          <p:sp>
            <p:nvSpPr>
              <p:cNvPr id="22" name="Freeform 22"/>
              <p:cNvSpPr/>
              <p:nvPr/>
            </p:nvSpPr>
            <p:spPr>
              <a:xfrm>
                <a:off x="2409825" y="49244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23" name="Freeform 23"/>
              <p:cNvSpPr/>
              <p:nvPr/>
            </p:nvSpPr>
            <p:spPr>
              <a:xfrm>
                <a:off x="2514600" y="49244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24" name="Freeform 24"/>
              <p:cNvSpPr/>
              <p:nvPr/>
            </p:nvSpPr>
            <p:spPr>
              <a:xfrm>
                <a:off x="2409825" y="4791075"/>
                <a:ext cx="123825" cy="133350"/>
              </a:xfrm>
              <a:custGeom>
                <a:avLst/>
                <a:gdLst/>
                <a:ahLst/>
                <a:cxnLst/>
                <a:rect l="l" t="t" r="r" b="b"/>
                <a:pathLst>
                  <a:path w="123825" h="133350">
                    <a:moveTo>
                      <a:pt x="123825" y="133350"/>
                    </a:moveTo>
                    <a:lnTo>
                      <a:pt x="19050" y="133350"/>
                    </a:lnTo>
                    <a:lnTo>
                      <a:pt x="19050" y="0"/>
                    </a:lnTo>
                    <a:lnTo>
                      <a:pt x="0" y="0"/>
                    </a:lnTo>
                  </a:path>
                </a:pathLst>
              </a:custGeom>
              <a:noFill/>
              <a:ln w="19050">
                <a:solidFill>
                  <a:srgbClr val="FFFFFF"/>
                </a:solidFill>
              </a:ln>
            </p:spPr>
          </p:sp>
          <p:sp>
            <p:nvSpPr>
              <p:cNvPr id="25" name="Freeform 25"/>
              <p:cNvSpPr/>
              <p:nvPr/>
            </p:nvSpPr>
            <p:spPr>
              <a:xfrm>
                <a:off x="2428875" y="4810125"/>
                <a:ext cx="133350" cy="76200"/>
              </a:xfrm>
              <a:custGeom>
                <a:avLst/>
                <a:gdLst/>
                <a:ahLst/>
                <a:cxnLst/>
                <a:rect l="l" t="t" r="r" b="b"/>
                <a:pathLst>
                  <a:path w="133350" h="76200">
                    <a:moveTo>
                      <a:pt x="0" y="0"/>
                    </a:moveTo>
                    <a:lnTo>
                      <a:pt x="133350" y="9525"/>
                    </a:lnTo>
                    <a:lnTo>
                      <a:pt x="123825" y="76200"/>
                    </a:lnTo>
                    <a:lnTo>
                      <a:pt x="0" y="76200"/>
                    </a:lnTo>
                  </a:path>
                </a:pathLst>
              </a:custGeom>
              <a:noFill/>
              <a:ln w="19050">
                <a:solidFill>
                  <a:srgbClr val="FFFFFF"/>
                </a:solidFill>
              </a:ln>
            </p:spPr>
          </p:sp>
        </p:grpSp>
        <p:sp>
          <p:nvSpPr>
            <p:cNvPr id="27" name="TextBox 27"/>
            <p:cNvSpPr txBox="1"/>
            <p:nvPr/>
          </p:nvSpPr>
          <p:spPr>
            <a:xfrm>
              <a:off x="2252472" y="5400199"/>
              <a:ext cx="467035" cy="190690"/>
            </a:xfrm>
            <a:prstGeom prst="rect">
              <a:avLst/>
            </a:prstGeom>
            <a:noFill/>
            <a:ln>
              <a:noFill/>
            </a:ln>
          </p:spPr>
          <p:txBody>
            <a:bodyPr wrap="none" lIns="0" tIns="0" rIns="0" bIns="0" anchor="t" anchorCtr="0">
              <a:spAutoFit/>
            </a:bodyPr>
            <a:lstStyle/>
            <a:p>
              <a:pPr algn="l"/>
              <a:r>
                <a:rPr lang="zh-CN" sz="980" b="1" dirty="0">
                  <a:solidFill>
                    <a:srgbClr val="C45F4A"/>
                  </a:solidFill>
                  <a:latin typeface="+mn-lt"/>
                  <a:ea typeface="+mn-ea"/>
                  <a:cs typeface="+mn-cs"/>
                </a:rPr>
                <a:t>2010​​</a:t>
              </a:r>
            </a:p>
          </p:txBody>
        </p:sp>
      </p:grpSp>
      <p:grpSp>
        <p:nvGrpSpPr>
          <p:cNvPr id="37" name="milestone-2015"/>
          <p:cNvGrpSpPr/>
          <p:nvPr/>
        </p:nvGrpSpPr>
        <p:grpSpPr>
          <a:xfrm>
            <a:off x="4005072" y="1113949"/>
            <a:ext cx="1615123" cy="3886390"/>
            <a:chOff x="4005072" y="1113949"/>
            <a:chExt cx="1615123" cy="3886390"/>
          </a:xfrm>
        </p:grpSpPr>
        <p:sp>
          <p:nvSpPr>
            <p:cNvPr id="29" name="TextBox 29"/>
            <p:cNvSpPr txBox="1"/>
            <p:nvPr/>
          </p:nvSpPr>
          <p:spPr>
            <a:xfrm>
              <a:off x="4433697" y="1113949"/>
              <a:ext cx="756666" cy="362141"/>
            </a:xfrm>
            <a:prstGeom prst="rect">
              <a:avLst/>
            </a:prstGeom>
            <a:noFill/>
            <a:ln>
              <a:noFill/>
            </a:ln>
          </p:spPr>
          <p:txBody>
            <a:bodyPr wrap="none" lIns="0" tIns="0" rIns="0" bIns="0" anchor="t" anchorCtr="0">
              <a:spAutoFit/>
            </a:bodyPr>
            <a:lstStyle/>
            <a:p>
              <a:pPr algn="l">
                <a:lnSpc>
                  <a:spcPts val="1350"/>
                </a:lnSpc>
              </a:pPr>
              <a:r>
                <a:rPr lang="zh-CN" sz="980" b="1" dirty="0">
                  <a:solidFill>
                    <a:srgbClr val="C45F4A"/>
                  </a:solidFill>
                  <a:latin typeface="+mn-lt"/>
                  <a:ea typeface="+mn-ea"/>
                  <a:cs typeface="+mn-cs"/>
                </a:rPr>
                <a:t>互联网咖啡</a:t>
              </a:r>
              <a:br/>
              <a:r>
                <a:rPr lang="zh-CN" sz="980" b="1" dirty="0">
                  <a:solidFill>
                    <a:srgbClr val="C45F4A"/>
                  </a:solidFill>
                  <a:latin typeface="+mn-lt"/>
                  <a:ea typeface="+mn-ea"/>
                  <a:cs typeface="+mn-cs"/>
                </a:rPr>
                <a:t>品牌快速发展</a:t>
              </a:r>
            </a:p>
          </p:txBody>
        </p:sp>
        <p:sp>
          <p:nvSpPr>
            <p:cNvPr id="30" name="TextBox 30"/>
            <p:cNvSpPr txBox="1"/>
            <p:nvPr/>
          </p:nvSpPr>
          <p:spPr>
            <a:xfrm>
              <a:off x="4433888" y="1587341"/>
              <a:ext cx="1186307" cy="647700"/>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2015年，连咖啡成立，​​</a:t>
              </a:r>
              <a:br/>
              <a:r>
                <a:rPr lang="zh-CN" sz="820" dirty="0">
                  <a:solidFill>
                    <a:srgbClr val="88706B"/>
                  </a:solidFill>
                  <a:latin typeface="+mn-lt"/>
                  <a:ea typeface="+mn-ea"/>
                  <a:cs typeface="+mn-cs"/>
                </a:rPr>
                <a:t>互联网咖啡品牌开始发</a:t>
              </a:r>
              <a:br/>
              <a:r>
                <a:rPr lang="zh-CN" sz="820" dirty="0">
                  <a:solidFill>
                    <a:srgbClr val="88706B"/>
                  </a:solidFill>
                  <a:latin typeface="+mn-lt"/>
                  <a:ea typeface="+mn-ea"/>
                  <a:cs typeface="+mn-cs"/>
                </a:rPr>
                <a:t>展，品牌凭</a:t>
              </a:r>
              <a:r>
                <a:rPr lang="en-US" sz="820" dirty="0">
                  <a:solidFill>
                    <a:srgbClr val="E8634C"/>
                  </a:solidFill>
                  <a:latin typeface="+mn-lt"/>
                  <a:ea typeface="+mn-ea"/>
                  <a:cs typeface="+mn-cs"/>
                </a:rPr>
                <a:t>O2O</a:t>
              </a:r>
              <a:r>
                <a:rPr lang="zh-CN" sz="820" dirty="0">
                  <a:solidFill>
                    <a:srgbClr val="88706B"/>
                  </a:solidFill>
                  <a:latin typeface="+mn-lt"/>
                  <a:ea typeface="+mn-ea"/>
                  <a:cs typeface="+mn-cs"/>
                </a:rPr>
                <a:t>模式迅​​</a:t>
              </a:r>
              <a:br/>
              <a:r>
                <a:rPr lang="zh-CN" sz="820" dirty="0">
                  <a:solidFill>
                    <a:srgbClr val="88706B"/>
                  </a:solidFill>
                  <a:latin typeface="+mn-lt"/>
                  <a:ea typeface="+mn-ea"/>
                  <a:cs typeface="+mn-cs"/>
                </a:rPr>
                <a:t>速俘获中国消费者。</a:t>
              </a:r>
            </a:p>
          </p:txBody>
        </p:sp>
        <p:sp>
          <p:nvSpPr>
            <p:cNvPr id="31" name="Ellipse 31"/>
            <p:cNvSpPr/>
            <p:nvPr/>
          </p:nvSpPr>
          <p:spPr>
            <a:xfrm>
              <a:off x="4257675" y="3981450"/>
              <a:ext cx="457200" cy="457200"/>
            </a:xfrm>
            <a:prstGeom prst="ellipse">
              <a:avLst/>
            </a:prstGeom>
            <a:solidFill>
              <a:srgbClr val="C96E5B"/>
            </a:solidFill>
            <a:ln>
              <a:noFill/>
            </a:ln>
          </p:spPr>
        </p:sp>
        <p:grpSp>
          <p:nvGrpSpPr>
            <p:cNvPr id="35" name="Group 35"/>
            <p:cNvGrpSpPr/>
            <p:nvPr/>
          </p:nvGrpSpPr>
          <p:grpSpPr>
            <a:xfrm>
              <a:off x="4407066" y="4133850"/>
              <a:ext cx="155409" cy="155409"/>
              <a:chOff x="4407066" y="4133850"/>
              <a:chExt cx="155409" cy="155409"/>
            </a:xfrm>
          </p:grpSpPr>
          <p:sp>
            <p:nvSpPr>
              <p:cNvPr id="32" name="Freeform 32"/>
              <p:cNvSpPr/>
              <p:nvPr/>
            </p:nvSpPr>
            <p:spPr>
              <a:xfrm>
                <a:off x="4410075" y="4133850"/>
                <a:ext cx="152400" cy="152400"/>
              </a:xfrm>
              <a:custGeom>
                <a:avLst/>
                <a:gdLst/>
                <a:ahLst/>
                <a:cxnLst/>
                <a:rect l="l" t="t" r="r" b="b"/>
                <a:pathLst>
                  <a:path w="152400" h="152400">
                    <a:moveTo>
                      <a:pt x="0" y="85725"/>
                    </a:moveTo>
                    <a:cubicBezTo>
                      <a:pt x="34959" y="89880"/>
                      <a:pt x="62520" y="117441"/>
                      <a:pt x="66675" y="152400"/>
                    </a:cubicBezTo>
                    <a:cubicBezTo>
                      <a:pt x="83792" y="142532"/>
                      <a:pt x="94598" y="124522"/>
                      <a:pt x="95250" y="104775"/>
                    </a:cubicBezTo>
                    <a:cubicBezTo>
                      <a:pt x="127957" y="93269"/>
                      <a:pt x="150512" y="63195"/>
                      <a:pt x="152400" y="28575"/>
                    </a:cubicBezTo>
                    <a:cubicBezTo>
                      <a:pt x="152400" y="12793"/>
                      <a:pt x="139607" y="0"/>
                      <a:pt x="123825" y="0"/>
                    </a:cubicBezTo>
                    <a:cubicBezTo>
                      <a:pt x="89205" y="1888"/>
                      <a:pt x="59131" y="24443"/>
                      <a:pt x="47625" y="57150"/>
                    </a:cubicBezTo>
                    <a:cubicBezTo>
                      <a:pt x="27878" y="57802"/>
                      <a:pt x="9868" y="68608"/>
                      <a:pt x="0" y="85725"/>
                    </a:cubicBezTo>
                  </a:path>
                </a:pathLst>
              </a:custGeom>
              <a:noFill/>
              <a:ln w="19050">
                <a:solidFill>
                  <a:srgbClr val="FFFFFF"/>
                </a:solidFill>
              </a:ln>
            </p:spPr>
          </p:sp>
          <p:sp>
            <p:nvSpPr>
              <p:cNvPr id="33" name="Freeform 33"/>
              <p:cNvSpPr/>
              <p:nvPr/>
            </p:nvSpPr>
            <p:spPr>
              <a:xfrm>
                <a:off x="4407066" y="4229100"/>
                <a:ext cx="60159" cy="60159"/>
              </a:xfrm>
              <a:custGeom>
                <a:avLst/>
                <a:gdLst/>
                <a:ahLst/>
                <a:cxnLst/>
                <a:rect l="l" t="t" r="r" b="b"/>
                <a:pathLst>
                  <a:path w="60159" h="60159">
                    <a:moveTo>
                      <a:pt x="31584" y="0"/>
                    </a:moveTo>
                    <a:cubicBezTo>
                      <a:pt x="11304" y="11449"/>
                      <a:pt x="0" y="34057"/>
                      <a:pt x="3009" y="57150"/>
                    </a:cubicBezTo>
                    <a:cubicBezTo>
                      <a:pt x="26101" y="60159"/>
                      <a:pt x="48710" y="48854"/>
                      <a:pt x="60159" y="28575"/>
                    </a:cubicBezTo>
                  </a:path>
                </a:pathLst>
              </a:custGeom>
              <a:noFill/>
              <a:ln w="19050">
                <a:solidFill>
                  <a:srgbClr val="FFFFFF"/>
                </a:solidFill>
              </a:ln>
            </p:spPr>
          </p:sp>
          <p:sp>
            <p:nvSpPr>
              <p:cNvPr id="34" name="Freeform 34"/>
              <p:cNvSpPr/>
              <p:nvPr/>
            </p:nvSpPr>
            <p:spPr>
              <a:xfrm>
                <a:off x="4505325" y="417195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grpSp>
        <p:sp>
          <p:nvSpPr>
            <p:cNvPr id="36" name="TextBox 36"/>
            <p:cNvSpPr txBox="1"/>
            <p:nvPr/>
          </p:nvSpPr>
          <p:spPr>
            <a:xfrm>
              <a:off x="4005072" y="4809649"/>
              <a:ext cx="467035" cy="190690"/>
            </a:xfrm>
            <a:prstGeom prst="rect">
              <a:avLst/>
            </a:prstGeom>
            <a:noFill/>
            <a:ln>
              <a:noFill/>
            </a:ln>
          </p:spPr>
          <p:txBody>
            <a:bodyPr wrap="none" lIns="0" tIns="0" rIns="0" bIns="0" anchor="t" anchorCtr="0">
              <a:spAutoFit/>
            </a:bodyPr>
            <a:lstStyle/>
            <a:p>
              <a:pPr algn="l"/>
              <a:r>
                <a:rPr lang="zh-CN" sz="980" b="1" dirty="0">
                  <a:solidFill>
                    <a:srgbClr val="C45F4A"/>
                  </a:solidFill>
                  <a:latin typeface="+mn-lt"/>
                  <a:ea typeface="+mn-ea"/>
                  <a:cs typeface="+mn-cs"/>
                </a:rPr>
                <a:t>2015​​</a:t>
              </a:r>
            </a:p>
          </p:txBody>
        </p:sp>
      </p:grpSp>
      <p:grpSp>
        <p:nvGrpSpPr>
          <p:cNvPr id="46" name="milestone-2018"/>
          <p:cNvGrpSpPr/>
          <p:nvPr/>
        </p:nvGrpSpPr>
        <p:grpSpPr>
          <a:xfrm>
            <a:off x="6091047" y="1571149"/>
            <a:ext cx="1082358" cy="2949892"/>
            <a:chOff x="6091047" y="1571149"/>
            <a:chExt cx="1082358" cy="2949892"/>
          </a:xfrm>
        </p:grpSpPr>
        <p:sp>
          <p:nvSpPr>
            <p:cNvPr id="38" name="TextBox 38"/>
            <p:cNvSpPr txBox="1"/>
            <p:nvPr/>
          </p:nvSpPr>
          <p:spPr>
            <a:xfrm>
              <a:off x="6138672" y="1571149"/>
              <a:ext cx="467035" cy="190690"/>
            </a:xfrm>
            <a:prstGeom prst="rect">
              <a:avLst/>
            </a:prstGeom>
            <a:noFill/>
            <a:ln>
              <a:noFill/>
            </a:ln>
          </p:spPr>
          <p:txBody>
            <a:bodyPr wrap="none" lIns="0" tIns="0" rIns="0" bIns="0" anchor="t" anchorCtr="0">
              <a:spAutoFit/>
            </a:bodyPr>
            <a:lstStyle/>
            <a:p>
              <a:pPr algn="l"/>
              <a:r>
                <a:rPr lang="zh-CN" sz="980" b="1" dirty="0">
                  <a:solidFill>
                    <a:srgbClr val="C45F4A"/>
                  </a:solidFill>
                  <a:latin typeface="+mn-lt"/>
                  <a:ea typeface="+mn-ea"/>
                  <a:cs typeface="+mn-cs"/>
                </a:rPr>
                <a:t>2018​​</a:t>
              </a:r>
            </a:p>
          </p:txBody>
        </p:sp>
        <p:sp>
          <p:nvSpPr>
            <p:cNvPr id="39" name="Line 39"/>
            <p:cNvSpPr/>
            <p:nvPr/>
          </p:nvSpPr>
          <p:spPr>
            <a:xfrm>
              <a:off x="6467475" y="1752600"/>
              <a:ext cx="9525" cy="533400"/>
            </a:xfrm>
            <a:custGeom>
              <a:avLst/>
              <a:gdLst/>
              <a:ahLst/>
              <a:cxnLst/>
              <a:rect l="l" t="t" r="r" b="b"/>
              <a:pathLst>
                <a:path w="9525" h="533400">
                  <a:moveTo>
                    <a:pt x="0" y="0"/>
                  </a:moveTo>
                  <a:lnTo>
                    <a:pt x="0" y="533400"/>
                  </a:lnTo>
                </a:path>
              </a:pathLst>
            </a:custGeom>
            <a:noFill/>
            <a:ln w="11430">
              <a:solidFill>
                <a:srgbClr val="ECC1B8"/>
              </a:solidFill>
              <a:custDash>
                <a:ds d="333333" sp="250000"/>
              </a:custDash>
            </a:ln>
          </p:spPr>
        </p:sp>
        <p:sp>
          <p:nvSpPr>
            <p:cNvPr id="40" name="Ellipse 40"/>
            <p:cNvSpPr/>
            <p:nvPr/>
          </p:nvSpPr>
          <p:spPr>
            <a:xfrm>
              <a:off x="6238875" y="2343150"/>
              <a:ext cx="457200" cy="457200"/>
            </a:xfrm>
            <a:prstGeom prst="ellipse">
              <a:avLst/>
            </a:prstGeom>
            <a:solidFill>
              <a:srgbClr val="C45F4A"/>
            </a:solidFill>
            <a:ln>
              <a:noFill/>
            </a:ln>
          </p:spPr>
        </p:sp>
        <p:grpSp>
          <p:nvGrpSpPr>
            <p:cNvPr id="43" name="Group 43"/>
            <p:cNvGrpSpPr/>
            <p:nvPr/>
          </p:nvGrpSpPr>
          <p:grpSpPr>
            <a:xfrm>
              <a:off x="6381750" y="2486025"/>
              <a:ext cx="171450" cy="171450"/>
              <a:chOff x="6381750" y="2486025"/>
              <a:chExt cx="171450" cy="171450"/>
            </a:xfrm>
          </p:grpSpPr>
          <p:sp>
            <p:nvSpPr>
              <p:cNvPr id="41" name="Freeform 41"/>
              <p:cNvSpPr/>
              <p:nvPr/>
            </p:nvSpPr>
            <p:spPr>
              <a:xfrm>
                <a:off x="6381750" y="24860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sp>
            <p:nvSpPr>
              <p:cNvPr id="42" name="Freeform 42"/>
              <p:cNvSpPr/>
              <p:nvPr/>
            </p:nvSpPr>
            <p:spPr>
              <a:xfrm>
                <a:off x="6438900" y="2552700"/>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44" name="TextBox 44"/>
            <p:cNvSpPr txBox="1"/>
            <p:nvPr/>
          </p:nvSpPr>
          <p:spPr>
            <a:xfrm>
              <a:off x="6091047" y="3133249"/>
              <a:ext cx="756666" cy="362141"/>
            </a:xfrm>
            <a:prstGeom prst="rect">
              <a:avLst/>
            </a:prstGeom>
            <a:noFill/>
            <a:ln>
              <a:noFill/>
            </a:ln>
          </p:spPr>
          <p:txBody>
            <a:bodyPr wrap="none" lIns="0" tIns="0" rIns="0" bIns="0" anchor="t" anchorCtr="0">
              <a:spAutoFit/>
            </a:bodyPr>
            <a:lstStyle/>
            <a:p>
              <a:pPr algn="l">
                <a:lnSpc>
                  <a:spcPts val="1350"/>
                </a:lnSpc>
              </a:pPr>
              <a:r>
                <a:rPr lang="zh-CN" sz="980" b="1" dirty="0">
                  <a:solidFill>
                    <a:srgbClr val="543E3A"/>
                  </a:solidFill>
                  <a:latin typeface="+mn-lt"/>
                  <a:ea typeface="+mn-ea"/>
                  <a:cs typeface="+mn-cs"/>
                </a:rPr>
                <a:t>产品品质</a:t>
              </a:r>
              <a:br/>
              <a:r>
                <a:rPr lang="zh-CN" sz="980" b="1" dirty="0">
                  <a:solidFill>
                    <a:srgbClr val="543E3A"/>
                  </a:solidFill>
                  <a:latin typeface="+mn-lt"/>
                  <a:ea typeface="+mn-ea"/>
                  <a:cs typeface="+mn-cs"/>
                </a:rPr>
                <a:t>诉求逐步升级</a:t>
              </a:r>
            </a:p>
          </p:txBody>
        </p:sp>
        <p:sp>
          <p:nvSpPr>
            <p:cNvPr id="45" name="TextBox 45"/>
            <p:cNvSpPr txBox="1"/>
            <p:nvPr/>
          </p:nvSpPr>
          <p:spPr>
            <a:xfrm>
              <a:off x="6091238" y="3549491"/>
              <a:ext cx="1082167" cy="971550"/>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2018年，新锐咖啡品​​</a:t>
              </a:r>
              <a:br/>
              <a:r>
                <a:rPr lang="zh-CN" sz="820" dirty="0">
                  <a:solidFill>
                    <a:srgbClr val="88706B"/>
                  </a:solidFill>
                  <a:latin typeface="+mn-lt"/>
                  <a:ea typeface="+mn-ea"/>
                  <a:cs typeface="+mn-cs"/>
                </a:rPr>
                <a:t>牌永璞迅速走红，冻干</a:t>
              </a:r>
              <a:br/>
              <a:r>
                <a:rPr lang="zh-CN" sz="820" dirty="0">
                  <a:solidFill>
                    <a:srgbClr val="88706B"/>
                  </a:solidFill>
                  <a:latin typeface="+mn-lt"/>
                  <a:ea typeface="+mn-ea"/>
                  <a:cs typeface="+mn-cs"/>
                </a:rPr>
                <a:t>咖啡等咖啡新形态受到</a:t>
              </a:r>
              <a:br/>
              <a:r>
                <a:rPr lang="zh-CN" sz="820" dirty="0">
                  <a:solidFill>
                    <a:srgbClr val="88706B"/>
                  </a:solidFill>
                  <a:latin typeface="+mn-lt"/>
                  <a:ea typeface="+mn-ea"/>
                  <a:cs typeface="+mn-cs"/>
                </a:rPr>
                <a:t>消费者欢迎，消费者对</a:t>
              </a:r>
              <a:br/>
              <a:r>
                <a:rPr lang="zh-CN" sz="820" dirty="0">
                  <a:solidFill>
                    <a:srgbClr val="E8634C"/>
                  </a:solidFill>
                  <a:latin typeface="+mn-lt"/>
                  <a:ea typeface="+mn-ea"/>
                  <a:cs typeface="+mn-cs"/>
                </a:rPr>
                <a:t>咖啡产品品质的诉求逐</a:t>
              </a:r>
              <a:br/>
              <a:r>
                <a:rPr lang="zh-CN" sz="820" dirty="0">
                  <a:solidFill>
                    <a:srgbClr val="E8634C"/>
                  </a:solidFill>
                  <a:latin typeface="+mn-lt"/>
                  <a:ea typeface="+mn-ea"/>
                  <a:cs typeface="+mn-cs"/>
                </a:rPr>
                <a:t>步升级。</a:t>
              </a:r>
            </a:p>
          </p:txBody>
        </p:sp>
      </p:grpSp>
      <p:grpSp>
        <p:nvGrpSpPr>
          <p:cNvPr id="55" name="milestone-2021"/>
          <p:cNvGrpSpPr/>
          <p:nvPr/>
        </p:nvGrpSpPr>
        <p:grpSpPr>
          <a:xfrm>
            <a:off x="8143875" y="1475899"/>
            <a:ext cx="1055688" cy="3569017"/>
            <a:chOff x="8143875" y="1475899"/>
            <a:chExt cx="1055688" cy="3569017"/>
          </a:xfrm>
        </p:grpSpPr>
        <p:sp>
          <p:nvSpPr>
            <p:cNvPr id="47" name="TextBox 47"/>
            <p:cNvSpPr txBox="1"/>
            <p:nvPr/>
          </p:nvSpPr>
          <p:spPr>
            <a:xfrm>
              <a:off x="8177022" y="1475899"/>
              <a:ext cx="467035" cy="190690"/>
            </a:xfrm>
            <a:prstGeom prst="rect">
              <a:avLst/>
            </a:prstGeom>
            <a:noFill/>
            <a:ln>
              <a:noFill/>
            </a:ln>
          </p:spPr>
          <p:txBody>
            <a:bodyPr wrap="none" lIns="0" tIns="0" rIns="0" bIns="0" anchor="t" anchorCtr="0">
              <a:spAutoFit/>
            </a:bodyPr>
            <a:lstStyle/>
            <a:p>
              <a:pPr algn="l"/>
              <a:r>
                <a:rPr lang="zh-CN" sz="980" b="1" dirty="0">
                  <a:solidFill>
                    <a:srgbClr val="C45F4A"/>
                  </a:solidFill>
                  <a:latin typeface="+mn-lt"/>
                  <a:ea typeface="+mn-ea"/>
                  <a:cs typeface="+mn-cs"/>
                </a:rPr>
                <a:t>2021​​</a:t>
              </a:r>
            </a:p>
          </p:txBody>
        </p:sp>
        <p:sp>
          <p:nvSpPr>
            <p:cNvPr id="48" name="Line 48"/>
            <p:cNvSpPr/>
            <p:nvPr/>
          </p:nvSpPr>
          <p:spPr>
            <a:xfrm>
              <a:off x="8372475" y="1657350"/>
              <a:ext cx="9525" cy="600075"/>
            </a:xfrm>
            <a:custGeom>
              <a:avLst/>
              <a:gdLst/>
              <a:ahLst/>
              <a:cxnLst/>
              <a:rect l="l" t="t" r="r" b="b"/>
              <a:pathLst>
                <a:path w="9525" h="600075">
                  <a:moveTo>
                    <a:pt x="0" y="0"/>
                  </a:moveTo>
                  <a:lnTo>
                    <a:pt x="0" y="600075"/>
                  </a:lnTo>
                </a:path>
              </a:pathLst>
            </a:custGeom>
            <a:noFill/>
            <a:ln w="11430">
              <a:solidFill>
                <a:srgbClr val="ECC1B8"/>
              </a:solidFill>
              <a:custDash>
                <a:ds d="333333" sp="250000"/>
              </a:custDash>
            </a:ln>
          </p:spPr>
        </p:sp>
        <p:sp>
          <p:nvSpPr>
            <p:cNvPr id="49" name="Ellipse 49"/>
            <p:cNvSpPr/>
            <p:nvPr/>
          </p:nvSpPr>
          <p:spPr>
            <a:xfrm>
              <a:off x="8143875" y="2314575"/>
              <a:ext cx="457200" cy="457200"/>
            </a:xfrm>
            <a:prstGeom prst="ellipse">
              <a:avLst/>
            </a:prstGeom>
            <a:solidFill>
              <a:srgbClr val="C45F4A"/>
            </a:solidFill>
            <a:ln>
              <a:noFill/>
            </a:ln>
          </p:spPr>
        </p:sp>
        <p:grpSp>
          <p:nvGrpSpPr>
            <p:cNvPr id="52" name="Group 52"/>
            <p:cNvGrpSpPr/>
            <p:nvPr/>
          </p:nvGrpSpPr>
          <p:grpSpPr>
            <a:xfrm>
              <a:off x="8286750" y="2495550"/>
              <a:ext cx="171450" cy="95250"/>
              <a:chOff x="8286750" y="2495550"/>
              <a:chExt cx="171450" cy="95250"/>
            </a:xfrm>
          </p:grpSpPr>
          <p:sp>
            <p:nvSpPr>
              <p:cNvPr id="50" name="Freeform 50"/>
              <p:cNvSpPr/>
              <p:nvPr/>
            </p:nvSpPr>
            <p:spPr>
              <a:xfrm>
                <a:off x="8286750" y="2495550"/>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FFFFFF"/>
                </a:solidFill>
              </a:ln>
            </p:spPr>
          </p:sp>
          <p:sp>
            <p:nvSpPr>
              <p:cNvPr id="51" name="Freeform 51"/>
              <p:cNvSpPr/>
              <p:nvPr/>
            </p:nvSpPr>
            <p:spPr>
              <a:xfrm>
                <a:off x="8391525" y="2495550"/>
                <a:ext cx="66675" cy="66675"/>
              </a:xfrm>
              <a:custGeom>
                <a:avLst/>
                <a:gdLst/>
                <a:ahLst/>
                <a:cxnLst/>
                <a:rect l="l" t="t" r="r" b="b"/>
                <a:pathLst>
                  <a:path w="66675" h="66675">
                    <a:moveTo>
                      <a:pt x="0" y="0"/>
                    </a:moveTo>
                    <a:lnTo>
                      <a:pt x="66675" y="0"/>
                    </a:lnTo>
                    <a:lnTo>
                      <a:pt x="66675" y="66675"/>
                    </a:lnTo>
                  </a:path>
                </a:pathLst>
              </a:custGeom>
              <a:noFill/>
              <a:ln w="19050">
                <a:solidFill>
                  <a:srgbClr val="FFFFFF"/>
                </a:solidFill>
              </a:ln>
            </p:spPr>
          </p:sp>
        </p:grpSp>
        <p:sp>
          <p:nvSpPr>
            <p:cNvPr id="53" name="TextBox 53"/>
            <p:cNvSpPr txBox="1"/>
            <p:nvPr/>
          </p:nvSpPr>
          <p:spPr>
            <a:xfrm>
              <a:off x="8148447" y="3495199"/>
              <a:ext cx="507746" cy="362141"/>
            </a:xfrm>
            <a:prstGeom prst="rect">
              <a:avLst/>
            </a:prstGeom>
            <a:noFill/>
            <a:ln>
              <a:noFill/>
            </a:ln>
          </p:spPr>
          <p:txBody>
            <a:bodyPr wrap="none" lIns="0" tIns="0" rIns="0" bIns="0" anchor="t" anchorCtr="0">
              <a:spAutoFit/>
            </a:bodyPr>
            <a:lstStyle/>
            <a:p>
              <a:pPr algn="l">
                <a:lnSpc>
                  <a:spcPts val="1350"/>
                </a:lnSpc>
              </a:pPr>
              <a:r>
                <a:rPr lang="zh-CN" sz="980" b="1" dirty="0">
                  <a:solidFill>
                    <a:srgbClr val="543E3A"/>
                  </a:solidFill>
                  <a:latin typeface="+mn-lt"/>
                  <a:ea typeface="+mn-ea"/>
                  <a:cs typeface="+mn-cs"/>
                </a:rPr>
                <a:t>咖啡体验</a:t>
              </a:r>
              <a:br/>
              <a:r>
                <a:rPr lang="zh-CN" sz="980" b="1" dirty="0">
                  <a:solidFill>
                    <a:srgbClr val="543E3A"/>
                  </a:solidFill>
                  <a:latin typeface="+mn-lt"/>
                  <a:ea typeface="+mn-ea"/>
                  <a:cs typeface="+mn-cs"/>
                </a:rPr>
                <a:t>进阶发展</a:t>
              </a:r>
            </a:p>
          </p:txBody>
        </p:sp>
        <p:sp>
          <p:nvSpPr>
            <p:cNvPr id="54" name="TextBox 54"/>
            <p:cNvSpPr txBox="1"/>
            <p:nvPr/>
          </p:nvSpPr>
          <p:spPr>
            <a:xfrm>
              <a:off x="8148638" y="3911441"/>
              <a:ext cx="1050925" cy="11334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随着主打精品咖啡理念</a:t>
              </a:r>
              <a:br/>
              <a:r>
                <a:rPr lang="zh-CN" sz="820" dirty="0">
                  <a:solidFill>
                    <a:srgbClr val="88706B"/>
                  </a:solidFill>
                  <a:latin typeface="+mn-lt"/>
                  <a:ea typeface="+mn-ea"/>
                  <a:cs typeface="+mn-cs"/>
                </a:rPr>
                <a:t>的Seesaw、重体验​​</a:t>
              </a:r>
              <a:br/>
              <a:r>
                <a:rPr lang="zh-CN" sz="820" dirty="0">
                  <a:solidFill>
                    <a:srgbClr val="88706B"/>
                  </a:solidFill>
                  <a:latin typeface="+mn-lt"/>
                  <a:ea typeface="+mn-ea"/>
                  <a:cs typeface="+mn-cs"/>
                </a:rPr>
                <a:t>的摩集等品牌进入消费</a:t>
              </a:r>
              <a:br/>
              <a:r>
                <a:rPr lang="zh-CN" sz="820" dirty="0">
                  <a:solidFill>
                    <a:srgbClr val="88706B"/>
                  </a:solidFill>
                  <a:latin typeface="+mn-lt"/>
                  <a:ea typeface="+mn-ea"/>
                  <a:cs typeface="+mn-cs"/>
                </a:rPr>
                <a:t>者视野，中国咖啡消费</a:t>
              </a:r>
              <a:br/>
              <a:r>
                <a:rPr lang="zh-CN" sz="820" dirty="0">
                  <a:solidFill>
                    <a:srgbClr val="88706B"/>
                  </a:solidFill>
                  <a:latin typeface="+mn-lt"/>
                  <a:ea typeface="+mn-ea"/>
                  <a:cs typeface="+mn-cs"/>
                </a:rPr>
                <a:t>者在讲究咖啡品质的同</a:t>
              </a:r>
              <a:br/>
              <a:r>
                <a:rPr lang="zh-CN" sz="820" dirty="0">
                  <a:solidFill>
                    <a:srgbClr val="88706B"/>
                  </a:solidFill>
                  <a:latin typeface="+mn-lt"/>
                  <a:ea typeface="+mn-ea"/>
                  <a:cs typeface="+mn-cs"/>
                </a:rPr>
                <a:t>时，对体验感也逐步形</a:t>
              </a:r>
              <a:br/>
              <a:r>
                <a:rPr lang="zh-CN" sz="820" dirty="0">
                  <a:solidFill>
                    <a:srgbClr val="E8634C"/>
                  </a:solidFill>
                  <a:latin typeface="+mn-lt"/>
                  <a:ea typeface="+mn-ea"/>
                  <a:cs typeface="+mn-cs"/>
                </a:rPr>
                <a:t>成品质化诉求。</a:t>
              </a:r>
            </a:p>
          </p:txBody>
        </p:sp>
      </p:grpSp>
      <p:grpSp>
        <p:nvGrpSpPr>
          <p:cNvPr id="64" name="milestone-202x"/>
          <p:cNvGrpSpPr/>
          <p:nvPr/>
        </p:nvGrpSpPr>
        <p:grpSpPr>
          <a:xfrm>
            <a:off x="10153650" y="1113949"/>
            <a:ext cx="1370013" cy="2340292"/>
            <a:chOff x="10153650" y="1113949"/>
            <a:chExt cx="1370013" cy="2340292"/>
          </a:xfrm>
        </p:grpSpPr>
        <p:sp>
          <p:nvSpPr>
            <p:cNvPr id="56" name="TextBox 56"/>
            <p:cNvSpPr txBox="1"/>
            <p:nvPr/>
          </p:nvSpPr>
          <p:spPr>
            <a:xfrm>
              <a:off x="10205847" y="1113949"/>
              <a:ext cx="492910" cy="190690"/>
            </a:xfrm>
            <a:prstGeom prst="rect">
              <a:avLst/>
            </a:prstGeom>
            <a:noFill/>
            <a:ln>
              <a:noFill/>
            </a:ln>
          </p:spPr>
          <p:txBody>
            <a:bodyPr wrap="none" lIns="0" tIns="0" rIns="0" bIns="0" anchor="t" anchorCtr="0">
              <a:spAutoFit/>
            </a:bodyPr>
            <a:lstStyle/>
            <a:p>
              <a:pPr algn="l"/>
              <a:r>
                <a:rPr lang="en-US" sz="980" b="1" dirty="0">
                  <a:solidFill>
                    <a:srgbClr val="B8503B"/>
                  </a:solidFill>
                  <a:latin typeface="+mn-lt"/>
                  <a:ea typeface="+mn-ea"/>
                  <a:cs typeface="+mn-cs"/>
                </a:rPr>
                <a:t>202X​​</a:t>
              </a:r>
            </a:p>
          </p:txBody>
        </p:sp>
        <p:sp>
          <p:nvSpPr>
            <p:cNvPr id="57" name="Line 57"/>
            <p:cNvSpPr/>
            <p:nvPr/>
          </p:nvSpPr>
          <p:spPr>
            <a:xfrm>
              <a:off x="10382250" y="1295400"/>
              <a:ext cx="9525" cy="361950"/>
            </a:xfrm>
            <a:custGeom>
              <a:avLst/>
              <a:gdLst/>
              <a:ahLst/>
              <a:cxnLst/>
              <a:rect l="l" t="t" r="r" b="b"/>
              <a:pathLst>
                <a:path w="9525" h="361950">
                  <a:moveTo>
                    <a:pt x="0" y="0"/>
                  </a:moveTo>
                  <a:lnTo>
                    <a:pt x="0" y="361950"/>
                  </a:lnTo>
                </a:path>
              </a:pathLst>
            </a:custGeom>
            <a:noFill/>
            <a:ln w="11430">
              <a:solidFill>
                <a:srgbClr val="E8B1A8"/>
              </a:solidFill>
              <a:custDash>
                <a:ds d="333333" sp="250000"/>
              </a:custDash>
            </a:ln>
          </p:spPr>
        </p:sp>
        <p:sp>
          <p:nvSpPr>
            <p:cNvPr id="58" name="Ellipse 58"/>
            <p:cNvSpPr/>
            <p:nvPr/>
          </p:nvSpPr>
          <p:spPr>
            <a:xfrm>
              <a:off x="10153650" y="1714500"/>
              <a:ext cx="457200" cy="457200"/>
            </a:xfrm>
            <a:prstGeom prst="ellipse">
              <a:avLst/>
            </a:prstGeom>
            <a:solidFill>
              <a:srgbClr val="B8503B"/>
            </a:solidFill>
            <a:ln>
              <a:noFill/>
            </a:ln>
          </p:spPr>
        </p:sp>
        <p:grpSp>
          <p:nvGrpSpPr>
            <p:cNvPr id="61" name="Group 61"/>
            <p:cNvGrpSpPr/>
            <p:nvPr/>
          </p:nvGrpSpPr>
          <p:grpSpPr>
            <a:xfrm>
              <a:off x="10306050" y="1863225"/>
              <a:ext cx="152400" cy="159750"/>
              <a:chOff x="10306050" y="1863225"/>
              <a:chExt cx="152400" cy="159750"/>
            </a:xfrm>
          </p:grpSpPr>
          <p:sp>
            <p:nvSpPr>
              <p:cNvPr id="59" name="Freeform 59"/>
              <p:cNvSpPr/>
              <p:nvPr/>
            </p:nvSpPr>
            <p:spPr>
              <a:xfrm>
                <a:off x="10306050" y="18632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FFFFFF"/>
                </a:solidFill>
              </a:ln>
            </p:spPr>
          </p:sp>
          <p:sp>
            <p:nvSpPr>
              <p:cNvPr id="60" name="Freeform 60"/>
              <p:cNvSpPr/>
              <p:nvPr/>
            </p:nvSpPr>
            <p:spPr>
              <a:xfrm>
                <a:off x="10306050" y="19526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FFFFFF"/>
                </a:solidFill>
              </a:ln>
            </p:spPr>
          </p:sp>
        </p:grpSp>
        <p:sp>
          <p:nvSpPr>
            <p:cNvPr id="62" name="TextBox 62"/>
            <p:cNvSpPr txBox="1"/>
            <p:nvPr/>
          </p:nvSpPr>
          <p:spPr>
            <a:xfrm>
              <a:off x="10472547" y="2390299"/>
              <a:ext cx="881126" cy="362141"/>
            </a:xfrm>
            <a:prstGeom prst="rect">
              <a:avLst/>
            </a:prstGeom>
            <a:noFill/>
            <a:ln>
              <a:noFill/>
            </a:ln>
          </p:spPr>
          <p:txBody>
            <a:bodyPr wrap="none" lIns="0" tIns="0" rIns="0" bIns="0" anchor="t" anchorCtr="0">
              <a:spAutoFit/>
            </a:bodyPr>
            <a:lstStyle/>
            <a:p>
              <a:pPr algn="l">
                <a:lnSpc>
                  <a:spcPts val="1350"/>
                </a:lnSpc>
              </a:pPr>
              <a:r>
                <a:rPr lang="zh-CN" sz="980" b="1" dirty="0">
                  <a:solidFill>
                    <a:srgbClr val="543E3A"/>
                  </a:solidFill>
                  <a:latin typeface="+mn-lt"/>
                  <a:ea typeface="+mn-ea"/>
                  <a:cs typeface="+mn-cs"/>
                </a:rPr>
                <a:t>多元产品</a:t>
              </a:r>
              <a:br/>
              <a:r>
                <a:rPr lang="zh-CN" sz="980" b="1" dirty="0">
                  <a:solidFill>
                    <a:srgbClr val="543E3A"/>
                  </a:solidFill>
                  <a:latin typeface="+mn-lt"/>
                  <a:ea typeface="+mn-ea"/>
                  <a:cs typeface="+mn-cs"/>
                </a:rPr>
                <a:t>与场景充分发展</a:t>
              </a:r>
            </a:p>
          </p:txBody>
        </p:sp>
        <p:sp>
          <p:nvSpPr>
            <p:cNvPr id="63" name="TextBox 63"/>
            <p:cNvSpPr txBox="1"/>
            <p:nvPr/>
          </p:nvSpPr>
          <p:spPr>
            <a:xfrm>
              <a:off x="10472738" y="2806541"/>
              <a:ext cx="1050925" cy="647700"/>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咖啡渗透进一步加深，</a:t>
              </a:r>
              <a:br/>
              <a:r>
                <a:rPr lang="zh-CN" sz="820" dirty="0">
                  <a:solidFill>
                    <a:srgbClr val="88706B"/>
                  </a:solidFill>
                  <a:latin typeface="+mn-lt"/>
                  <a:ea typeface="+mn-ea"/>
                  <a:cs typeface="+mn-cs"/>
                </a:rPr>
                <a:t>全渠道承接不同消费者</a:t>
              </a:r>
              <a:br/>
              <a:r>
                <a:rPr lang="zh-CN" sz="820" dirty="0">
                  <a:solidFill>
                    <a:srgbClr val="88706B"/>
                  </a:solidFill>
                  <a:latin typeface="+mn-lt"/>
                  <a:ea typeface="+mn-ea"/>
                  <a:cs typeface="+mn-cs"/>
                </a:rPr>
                <a:t>场景等多元化的需求，</a:t>
              </a:r>
              <a:br/>
              <a:r>
                <a:rPr lang="zh-CN" sz="820" dirty="0">
                  <a:solidFill>
                    <a:srgbClr val="E8634C"/>
                  </a:solidFill>
                  <a:latin typeface="+mn-lt"/>
                  <a:ea typeface="+mn-ea"/>
                  <a:cs typeface="+mn-cs"/>
                </a:rPr>
                <a:t>饮咖啡步入日常化。</a:t>
              </a:r>
            </a:p>
          </p:txBody>
        </p:sp>
      </p:grpSp>
      <p:grpSp>
        <p:nvGrpSpPr>
          <p:cNvPr id="67" name="band-experience"/>
          <p:cNvGrpSpPr/>
          <p:nvPr/>
        </p:nvGrpSpPr>
        <p:grpSpPr>
          <a:xfrm>
            <a:off x="409575" y="6019800"/>
            <a:ext cx="3657600" cy="361950"/>
            <a:chOff x="409575" y="6019800"/>
            <a:chExt cx="3657600" cy="361950"/>
          </a:xfrm>
        </p:grpSpPr>
        <p:sp>
          <p:nvSpPr>
            <p:cNvPr id="65" name="Freeform 65"/>
            <p:cNvSpPr/>
            <p:nvPr/>
          </p:nvSpPr>
          <p:spPr>
            <a:xfrm>
              <a:off x="409575" y="6019800"/>
              <a:ext cx="3657600" cy="361950"/>
            </a:xfrm>
            <a:prstGeom prst="homePlate">
              <a:avLst/>
            </a:prstGeom>
            <a:solidFill>
              <a:srgbClr val="E08C7B"/>
            </a:solidFill>
            <a:ln>
              <a:noFill/>
            </a:ln>
          </p:spPr>
        </p:sp>
        <p:sp>
          <p:nvSpPr>
            <p:cNvPr id="66" name="TextBox 66"/>
            <p:cNvSpPr txBox="1"/>
            <p:nvPr/>
          </p:nvSpPr>
          <p:spPr>
            <a:xfrm>
              <a:off x="1958873" y="613648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重体验</a:t>
              </a:r>
            </a:p>
          </p:txBody>
        </p:sp>
      </p:grpSp>
      <p:grpSp>
        <p:nvGrpSpPr>
          <p:cNvPr id="70" name="band-quality"/>
          <p:cNvGrpSpPr/>
          <p:nvPr/>
        </p:nvGrpSpPr>
        <p:grpSpPr>
          <a:xfrm>
            <a:off x="4152900" y="6019800"/>
            <a:ext cx="5810250" cy="361950"/>
            <a:chOff x="4152900" y="6019800"/>
            <a:chExt cx="5810250" cy="361950"/>
          </a:xfrm>
        </p:grpSpPr>
        <p:sp>
          <p:nvSpPr>
            <p:cNvPr id="68" name="Freeform 68"/>
            <p:cNvSpPr/>
            <p:nvPr/>
          </p:nvSpPr>
          <p:spPr>
            <a:xfrm>
              <a:off x="4152900" y="6019800"/>
              <a:ext cx="5810250" cy="361950"/>
            </a:xfrm>
            <a:prstGeom prst="chevron">
              <a:avLst/>
            </a:prstGeom>
            <a:solidFill>
              <a:srgbClr val="C45F4A"/>
            </a:solidFill>
            <a:ln>
              <a:noFill/>
            </a:ln>
          </p:spPr>
        </p:sp>
        <p:sp>
          <p:nvSpPr>
            <p:cNvPr id="69" name="TextBox 69"/>
            <p:cNvSpPr txBox="1"/>
            <p:nvPr/>
          </p:nvSpPr>
          <p:spPr>
            <a:xfrm>
              <a:off x="6392062" y="6136481"/>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产品及体验品质化</a:t>
              </a:r>
            </a:p>
          </p:txBody>
        </p:sp>
      </p:grpSp>
      <p:grpSp>
        <p:nvGrpSpPr>
          <p:cNvPr id="73" name="band-allpeople"/>
          <p:cNvGrpSpPr/>
          <p:nvPr/>
        </p:nvGrpSpPr>
        <p:grpSpPr>
          <a:xfrm>
            <a:off x="10039350" y="6019800"/>
            <a:ext cx="1809750" cy="361950"/>
            <a:chOff x="10039350" y="6019800"/>
            <a:chExt cx="1809750" cy="361950"/>
          </a:xfrm>
        </p:grpSpPr>
        <p:sp>
          <p:nvSpPr>
            <p:cNvPr id="71" name="Freeform 71"/>
            <p:cNvSpPr/>
            <p:nvPr/>
          </p:nvSpPr>
          <p:spPr>
            <a:xfrm>
              <a:off x="10039350" y="6019800"/>
              <a:ext cx="1809750" cy="361950"/>
            </a:xfrm>
            <a:prstGeom prst="chevron">
              <a:avLst/>
            </a:prstGeom>
            <a:solidFill>
              <a:srgbClr val="E8634C"/>
            </a:solidFill>
            <a:ln>
              <a:noFill/>
            </a:ln>
          </p:spPr>
        </p:sp>
        <p:sp>
          <p:nvSpPr>
            <p:cNvPr id="72" name="TextBox 72"/>
            <p:cNvSpPr txBox="1"/>
            <p:nvPr/>
          </p:nvSpPr>
          <p:spPr>
            <a:xfrm>
              <a:off x="10702823" y="613648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全民化</a:t>
              </a:r>
            </a:p>
          </p:txBody>
        </p:sp>
      </p:gr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71​​</a:t>
              </a:r>
            </a:p>
          </p:txBody>
        </p:sp>
        <p:sp>
          <p:nvSpPr>
            <p:cNvPr id="4" name="TextBox 4"/>
            <p:cNvSpPr txBox="1"/>
            <p:nvPr/>
          </p:nvSpPr>
          <p:spPr>
            <a:xfrm>
              <a:off x="942594" y="151448"/>
              <a:ext cx="128946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荣誉奖项​</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9" name="headline-stats"/>
          <p:cNvGrpSpPr/>
          <p:nvPr/>
        </p:nvGrpSpPr>
        <p:grpSpPr>
          <a:xfrm>
            <a:off x="4225671" y="1058228"/>
            <a:ext cx="3418325" cy="498729"/>
            <a:chOff x="4225671" y="1058228"/>
            <a:chExt cx="3418325" cy="498729"/>
          </a:xfrm>
        </p:grpSpPr>
        <p:sp>
          <p:nvSpPr>
            <p:cNvPr id="7" name="TextBox 7"/>
            <p:cNvSpPr txBox="1"/>
            <p:nvPr/>
          </p:nvSpPr>
          <p:spPr>
            <a:xfrm>
              <a:off x="4225671" y="1058228"/>
              <a:ext cx="1303519" cy="498729"/>
            </a:xfrm>
            <a:prstGeom prst="rect">
              <a:avLst/>
            </a:prstGeom>
            <a:noFill/>
            <a:ln>
              <a:noFill/>
            </a:ln>
          </p:spPr>
          <p:txBody>
            <a:bodyPr wrap="none" lIns="0" tIns="0" rIns="0" bIns="0" anchor="t" anchorCtr="0">
              <a:spAutoFit/>
            </a:bodyPr>
            <a:lstStyle/>
            <a:p>
              <a:pPr algn="l"/>
              <a:r>
                <a:rPr lang="zh-CN" sz="2550" b="1" dirty="0">
                  <a:solidFill>
                    <a:srgbClr val="FFFFFF"/>
                  </a:solidFill>
                  <a:latin typeface="+mn-lt"/>
                  <a:ea typeface="+mn-ea"/>
                  <a:cs typeface="+mn-cs"/>
                </a:rPr>
                <a:t>52</a:t>
              </a:r>
              <a:r>
                <a:rPr lang="zh-CN" sz="1200" dirty="0">
                  <a:solidFill>
                    <a:srgbClr val="FFFFFF"/>
                  </a:solidFill>
                  <a:latin typeface="+mn-lt"/>
                  <a:ea typeface="+mn-ea"/>
                  <a:cs typeface="+mn-cs"/>
                </a:rPr>
                <a:t>项软著</a:t>
              </a:r>
              <a:r>
                <a:rPr lang="zh-CN" sz="2550" b="1" dirty="0">
                  <a:solidFill>
                    <a:srgbClr val="FFFFFF"/>
                  </a:solidFill>
                  <a:latin typeface="+mn-lt"/>
                  <a:ea typeface="+mn-ea"/>
                  <a:cs typeface="+mn-cs"/>
                </a:rPr>
                <a:t>​​</a:t>
              </a:r>
            </a:p>
          </p:txBody>
        </p:sp>
        <p:sp>
          <p:nvSpPr>
            <p:cNvPr id="8" name="TextBox 8"/>
            <p:cNvSpPr txBox="1"/>
            <p:nvPr/>
          </p:nvSpPr>
          <p:spPr>
            <a:xfrm>
              <a:off x="5892546" y="1058228"/>
              <a:ext cx="1751450" cy="498729"/>
            </a:xfrm>
            <a:prstGeom prst="rect">
              <a:avLst/>
            </a:prstGeom>
            <a:noFill/>
            <a:ln>
              <a:noFill/>
            </a:ln>
          </p:spPr>
          <p:txBody>
            <a:bodyPr wrap="none" lIns="0" tIns="0" rIns="0" bIns="0" anchor="t" anchorCtr="0">
              <a:spAutoFit/>
            </a:bodyPr>
            <a:lstStyle/>
            <a:p>
              <a:pPr algn="l"/>
              <a:r>
                <a:rPr lang="zh-CN" sz="2550" b="1" dirty="0">
                  <a:solidFill>
                    <a:srgbClr val="FFFFFF"/>
                  </a:solidFill>
                  <a:latin typeface="+mn-lt"/>
                  <a:ea typeface="+mn-ea"/>
                  <a:cs typeface="+mn-cs"/>
                </a:rPr>
                <a:t>6</a:t>
              </a:r>
              <a:r>
                <a:rPr lang="zh-CN" sz="1200" dirty="0">
                  <a:solidFill>
                    <a:srgbClr val="FFFFFF"/>
                  </a:solidFill>
                  <a:latin typeface="+mn-lt"/>
                  <a:ea typeface="+mn-ea"/>
                  <a:cs typeface="+mn-cs"/>
                </a:rPr>
                <a:t>项省级科技大奖</a:t>
              </a:r>
              <a:r>
                <a:rPr lang="zh-CN" sz="2550" b="1" dirty="0">
                  <a:solidFill>
                    <a:srgbClr val="FFFFFF"/>
                  </a:solidFill>
                  <a:latin typeface="+mn-lt"/>
                  <a:ea typeface="+mn-ea"/>
                  <a:cs typeface="+mn-cs"/>
                </a:rPr>
                <a:t>​​</a:t>
              </a:r>
            </a:p>
          </p:txBody>
        </p:sp>
      </p:grpSp>
      <p:grpSp>
        <p:nvGrpSpPr>
          <p:cNvPr id="70" name="cert-wall"/>
          <p:cNvGrpSpPr/>
          <p:nvPr/>
        </p:nvGrpSpPr>
        <p:grpSpPr>
          <a:xfrm>
            <a:off x="1571625" y="1952625"/>
            <a:ext cx="9286875" cy="2381250"/>
            <a:chOff x="1571625" y="1952625"/>
            <a:chExt cx="9286875" cy="2381250"/>
          </a:xfrm>
        </p:grpSpPr>
        <p:grpSp>
          <p:nvGrpSpPr>
            <p:cNvPr id="19" name="Group 19"/>
            <p:cNvGrpSpPr/>
            <p:nvPr/>
          </p:nvGrpSpPr>
          <p:grpSpPr>
            <a:xfrm rot="-960000">
              <a:off x="1571625" y="1952625"/>
              <a:ext cx="1619250" cy="2381250"/>
              <a:chOff x="1571625" y="1952625"/>
              <a:chExt cx="1619250" cy="2381250"/>
            </a:xfrm>
          </p:grpSpPr>
          <p:sp>
            <p:nvSpPr>
              <p:cNvPr id="10" name="Rectangle 10"/>
              <p:cNvSpPr/>
              <p:nvPr/>
            </p:nvSpPr>
            <p:spPr>
              <a:xfrm>
                <a:off x="1571625" y="1952625"/>
                <a:ext cx="1619250" cy="2381250"/>
              </a:xfrm>
              <a:prstGeom prst="roundRect">
                <a:avLst>
                  <a:gd name="adj" fmla="val 2941"/>
                </a:avLst>
              </a:prstGeom>
              <a:solidFill>
                <a:srgbClr val="FFFFFF"/>
              </a:solidFill>
              <a:ln w="9525">
                <a:solidFill>
                  <a:srgbClr val="E2E6F7"/>
                </a:solidFill>
              </a:ln>
            </p:spPr>
          </p:sp>
          <p:sp>
            <p:nvSpPr>
              <p:cNvPr id="11" name="TextBox 11"/>
              <p:cNvSpPr txBox="1"/>
              <p:nvPr/>
            </p:nvSpPr>
            <p:spPr>
              <a:xfrm>
                <a:off x="1865544" y="2265045"/>
                <a:ext cx="1031413" cy="176212"/>
              </a:xfrm>
              <a:prstGeom prst="rect">
                <a:avLst/>
              </a:prstGeom>
              <a:noFill/>
              <a:ln>
                <a:noFill/>
              </a:ln>
            </p:spPr>
            <p:txBody>
              <a:bodyPr wrap="none" lIns="0" tIns="0" rIns="0" bIns="0" anchor="t" anchorCtr="0">
                <a:spAutoFit/>
              </a:bodyPr>
              <a:lstStyle/>
              <a:p>
                <a:pPr algn="ctr"/>
                <a:r>
                  <a:rPr lang="en-US" sz="900" b="1" spc="75" dirty="0">
                    <a:solidFill>
                      <a:srgbClr val="C0442F"/>
                    </a:solidFill>
                    <a:latin typeface="+mn-lt"/>
                    <a:ea typeface="+mn-ea"/>
                    <a:cs typeface="+mn-cs"/>
                  </a:rPr>
                  <a:t>CERTIFICATE​​</a:t>
                </a:r>
              </a:p>
            </p:txBody>
          </p:sp>
          <p:sp>
            <p:nvSpPr>
              <p:cNvPr id="12" name="Line 12"/>
              <p:cNvSpPr/>
              <p:nvPr/>
            </p:nvSpPr>
            <p:spPr>
              <a:xfrm>
                <a:off x="2047875" y="2457450"/>
                <a:ext cx="666750" cy="9525"/>
              </a:xfrm>
              <a:custGeom>
                <a:avLst/>
                <a:gdLst/>
                <a:ahLst/>
                <a:cxnLst/>
                <a:rect l="l" t="t" r="r" b="b"/>
                <a:pathLst>
                  <a:path w="666750" h="9525">
                    <a:moveTo>
                      <a:pt x="0" y="0"/>
                    </a:moveTo>
                    <a:lnTo>
                      <a:pt x="666750" y="0"/>
                    </a:lnTo>
                  </a:path>
                </a:pathLst>
              </a:custGeom>
              <a:noFill/>
              <a:ln w="14288">
                <a:solidFill>
                  <a:srgbClr val="C0442F"/>
                </a:solidFill>
              </a:ln>
            </p:spPr>
          </p:sp>
          <p:sp>
            <p:nvSpPr>
              <p:cNvPr id="13" name="Rectangle 13"/>
              <p:cNvSpPr/>
              <p:nvPr/>
            </p:nvSpPr>
            <p:spPr>
              <a:xfrm>
                <a:off x="1952625" y="2590800"/>
                <a:ext cx="857250" cy="19050"/>
              </a:xfrm>
              <a:prstGeom prst="rect">
                <a:avLst/>
              </a:prstGeom>
              <a:solidFill>
                <a:srgbClr val="D9DCE8"/>
              </a:solidFill>
              <a:ln>
                <a:noFill/>
              </a:ln>
            </p:spPr>
          </p:sp>
          <p:sp>
            <p:nvSpPr>
              <p:cNvPr id="14" name="TextBox 14"/>
              <p:cNvSpPr txBox="1"/>
              <p:nvPr/>
            </p:nvSpPr>
            <p:spPr>
              <a:xfrm>
                <a:off x="1815404" y="2820352"/>
                <a:ext cx="1131693" cy="205359"/>
              </a:xfrm>
              <a:prstGeom prst="rect">
                <a:avLst/>
              </a:prstGeom>
              <a:noFill/>
              <a:ln>
                <a:noFill/>
              </a:ln>
            </p:spPr>
            <p:txBody>
              <a:bodyPr wrap="none" lIns="0" tIns="0" rIns="0" bIns="0" anchor="t" anchorCtr="0">
                <a:spAutoFit/>
              </a:bodyPr>
              <a:lstStyle/>
              <a:p>
                <a:pPr algn="ctr"/>
                <a:r>
                  <a:rPr lang="en-US" sz="1050" i="1" dirty="0">
                    <a:solidFill>
                      <a:srgbClr val="B05242"/>
                    </a:solidFill>
                    <a:latin typeface="+mn-lt"/>
                    <a:ea typeface="+mn-ea"/>
                    <a:cs typeface="+mn-cs"/>
                  </a:rPr>
                  <a:t>Name Surname​​</a:t>
                </a:r>
              </a:p>
            </p:txBody>
          </p:sp>
          <p:sp>
            <p:nvSpPr>
              <p:cNvPr id="15" name="Rectangle 15"/>
              <p:cNvSpPr/>
              <p:nvPr/>
            </p:nvSpPr>
            <p:spPr>
              <a:xfrm>
                <a:off x="1857375" y="3067050"/>
                <a:ext cx="1047750" cy="19050"/>
              </a:xfrm>
              <a:prstGeom prst="rect">
                <a:avLst/>
              </a:prstGeom>
              <a:solidFill>
                <a:srgbClr val="E2E5F0"/>
              </a:solidFill>
              <a:ln>
                <a:noFill/>
              </a:ln>
            </p:spPr>
          </p:sp>
          <p:sp>
            <p:nvSpPr>
              <p:cNvPr id="16" name="Rectangle 16"/>
              <p:cNvSpPr/>
              <p:nvPr/>
            </p:nvSpPr>
            <p:spPr>
              <a:xfrm>
                <a:off x="2000250" y="3143250"/>
                <a:ext cx="762000" cy="19050"/>
              </a:xfrm>
              <a:prstGeom prst="rect">
                <a:avLst/>
              </a:prstGeom>
              <a:solidFill>
                <a:srgbClr val="E2E5F0"/>
              </a:solidFill>
              <a:ln>
                <a:noFill/>
              </a:ln>
            </p:spPr>
          </p:sp>
          <p:sp>
            <p:nvSpPr>
              <p:cNvPr id="17" name="Polygon 17"/>
              <p:cNvSpPr/>
              <p:nvPr/>
            </p:nvSpPr>
            <p:spPr>
              <a:xfrm>
                <a:off x="2305050" y="3505200"/>
                <a:ext cx="152400" cy="266700"/>
              </a:xfrm>
              <a:custGeom>
                <a:avLst/>
                <a:gdLst/>
                <a:ahLst/>
                <a:cxnLst/>
                <a:rect l="l" t="t" r="r" b="b"/>
                <a:pathLst>
                  <a:path w="152400" h="266700">
                    <a:moveTo>
                      <a:pt x="0" y="0"/>
                    </a:moveTo>
                    <a:lnTo>
                      <a:pt x="152400" y="0"/>
                    </a:lnTo>
                    <a:lnTo>
                      <a:pt x="114300" y="266700"/>
                    </a:lnTo>
                    <a:lnTo>
                      <a:pt x="76200" y="190500"/>
                    </a:lnTo>
                    <a:lnTo>
                      <a:pt x="38100" y="266700"/>
                    </a:lnTo>
                    <a:close/>
                  </a:path>
                </a:pathLst>
              </a:custGeom>
              <a:solidFill>
                <a:srgbClr val="C0442F"/>
              </a:solidFill>
              <a:ln>
                <a:noFill/>
              </a:ln>
            </p:spPr>
          </p:sp>
          <p:sp>
            <p:nvSpPr>
              <p:cNvPr id="18" name="Ellipse 18"/>
              <p:cNvSpPr/>
              <p:nvPr/>
            </p:nvSpPr>
            <p:spPr>
              <a:xfrm>
                <a:off x="2257425" y="3305175"/>
                <a:ext cx="247650" cy="247650"/>
              </a:xfrm>
              <a:prstGeom prst="ellipse">
                <a:avLst/>
              </a:prstGeom>
              <a:solidFill>
                <a:srgbClr val="C0442F"/>
              </a:solidFill>
              <a:ln>
                <a:noFill/>
              </a:ln>
            </p:spPr>
          </p:sp>
        </p:grpSp>
        <p:grpSp>
          <p:nvGrpSpPr>
            <p:cNvPr id="29" name="Group 29"/>
            <p:cNvGrpSpPr/>
            <p:nvPr/>
          </p:nvGrpSpPr>
          <p:grpSpPr>
            <a:xfrm rot="-540000">
              <a:off x="2981325" y="1952625"/>
              <a:ext cx="1619250" cy="2381250"/>
              <a:chOff x="2981325" y="1952625"/>
              <a:chExt cx="1619250" cy="2381250"/>
            </a:xfrm>
          </p:grpSpPr>
          <p:sp>
            <p:nvSpPr>
              <p:cNvPr id="20" name="Rectangle 20"/>
              <p:cNvSpPr/>
              <p:nvPr/>
            </p:nvSpPr>
            <p:spPr>
              <a:xfrm>
                <a:off x="2981325" y="1952625"/>
                <a:ext cx="1619250" cy="2381250"/>
              </a:xfrm>
              <a:prstGeom prst="roundRect">
                <a:avLst>
                  <a:gd name="adj" fmla="val 2941"/>
                </a:avLst>
              </a:prstGeom>
              <a:solidFill>
                <a:srgbClr val="FFFFFF"/>
              </a:solidFill>
              <a:ln w="9525">
                <a:solidFill>
                  <a:srgbClr val="E2E6F7"/>
                </a:solidFill>
              </a:ln>
            </p:spPr>
          </p:sp>
          <p:sp>
            <p:nvSpPr>
              <p:cNvPr id="21" name="TextBox 21"/>
              <p:cNvSpPr txBox="1"/>
              <p:nvPr/>
            </p:nvSpPr>
            <p:spPr>
              <a:xfrm>
                <a:off x="3275244" y="2265045"/>
                <a:ext cx="1031413" cy="176212"/>
              </a:xfrm>
              <a:prstGeom prst="rect">
                <a:avLst/>
              </a:prstGeom>
              <a:noFill/>
              <a:ln>
                <a:noFill/>
              </a:ln>
            </p:spPr>
            <p:txBody>
              <a:bodyPr wrap="none" lIns="0" tIns="0" rIns="0" bIns="0" anchor="t" anchorCtr="0">
                <a:spAutoFit/>
              </a:bodyPr>
              <a:lstStyle/>
              <a:p>
                <a:pPr algn="ctr"/>
                <a:r>
                  <a:rPr lang="en-US" sz="900" b="1" spc="75" dirty="0">
                    <a:solidFill>
                      <a:srgbClr val="C0442F"/>
                    </a:solidFill>
                    <a:latin typeface="+mn-lt"/>
                    <a:ea typeface="+mn-ea"/>
                    <a:cs typeface="+mn-cs"/>
                  </a:rPr>
                  <a:t>CERTIFICATE​​</a:t>
                </a:r>
              </a:p>
            </p:txBody>
          </p:sp>
          <p:sp>
            <p:nvSpPr>
              <p:cNvPr id="22" name="Line 22"/>
              <p:cNvSpPr/>
              <p:nvPr/>
            </p:nvSpPr>
            <p:spPr>
              <a:xfrm>
                <a:off x="3457575" y="2457450"/>
                <a:ext cx="666750" cy="9525"/>
              </a:xfrm>
              <a:custGeom>
                <a:avLst/>
                <a:gdLst/>
                <a:ahLst/>
                <a:cxnLst/>
                <a:rect l="l" t="t" r="r" b="b"/>
                <a:pathLst>
                  <a:path w="666750" h="9525">
                    <a:moveTo>
                      <a:pt x="0" y="0"/>
                    </a:moveTo>
                    <a:lnTo>
                      <a:pt x="666750" y="0"/>
                    </a:lnTo>
                  </a:path>
                </a:pathLst>
              </a:custGeom>
              <a:noFill/>
              <a:ln w="14288">
                <a:solidFill>
                  <a:srgbClr val="C0442F"/>
                </a:solidFill>
              </a:ln>
            </p:spPr>
          </p:sp>
          <p:sp>
            <p:nvSpPr>
              <p:cNvPr id="23" name="Rectangle 23"/>
              <p:cNvSpPr/>
              <p:nvPr/>
            </p:nvSpPr>
            <p:spPr>
              <a:xfrm>
                <a:off x="3362325" y="2590800"/>
                <a:ext cx="857250" cy="19050"/>
              </a:xfrm>
              <a:prstGeom prst="rect">
                <a:avLst/>
              </a:prstGeom>
              <a:solidFill>
                <a:srgbClr val="D9DCE8"/>
              </a:solidFill>
              <a:ln>
                <a:noFill/>
              </a:ln>
            </p:spPr>
          </p:sp>
          <p:sp>
            <p:nvSpPr>
              <p:cNvPr id="24" name="TextBox 24"/>
              <p:cNvSpPr txBox="1"/>
              <p:nvPr/>
            </p:nvSpPr>
            <p:spPr>
              <a:xfrm>
                <a:off x="3225104" y="2820352"/>
                <a:ext cx="1131693" cy="205359"/>
              </a:xfrm>
              <a:prstGeom prst="rect">
                <a:avLst/>
              </a:prstGeom>
              <a:noFill/>
              <a:ln>
                <a:noFill/>
              </a:ln>
            </p:spPr>
            <p:txBody>
              <a:bodyPr wrap="none" lIns="0" tIns="0" rIns="0" bIns="0" anchor="t" anchorCtr="0">
                <a:spAutoFit/>
              </a:bodyPr>
              <a:lstStyle/>
              <a:p>
                <a:pPr algn="ctr"/>
                <a:r>
                  <a:rPr lang="en-US" sz="1050" i="1" dirty="0">
                    <a:solidFill>
                      <a:srgbClr val="B05242"/>
                    </a:solidFill>
                    <a:latin typeface="+mn-lt"/>
                    <a:ea typeface="+mn-ea"/>
                    <a:cs typeface="+mn-cs"/>
                  </a:rPr>
                  <a:t>Name Surname​​</a:t>
                </a:r>
              </a:p>
            </p:txBody>
          </p:sp>
          <p:sp>
            <p:nvSpPr>
              <p:cNvPr id="25" name="Rectangle 25"/>
              <p:cNvSpPr/>
              <p:nvPr/>
            </p:nvSpPr>
            <p:spPr>
              <a:xfrm>
                <a:off x="3267075" y="3067050"/>
                <a:ext cx="1047750" cy="19050"/>
              </a:xfrm>
              <a:prstGeom prst="rect">
                <a:avLst/>
              </a:prstGeom>
              <a:solidFill>
                <a:srgbClr val="E2E5F0"/>
              </a:solidFill>
              <a:ln>
                <a:noFill/>
              </a:ln>
            </p:spPr>
          </p:sp>
          <p:sp>
            <p:nvSpPr>
              <p:cNvPr id="26" name="Rectangle 26"/>
              <p:cNvSpPr/>
              <p:nvPr/>
            </p:nvSpPr>
            <p:spPr>
              <a:xfrm>
                <a:off x="3409950" y="3143250"/>
                <a:ext cx="762000" cy="19050"/>
              </a:xfrm>
              <a:prstGeom prst="rect">
                <a:avLst/>
              </a:prstGeom>
              <a:solidFill>
                <a:srgbClr val="E2E5F0"/>
              </a:solidFill>
              <a:ln>
                <a:noFill/>
              </a:ln>
            </p:spPr>
          </p:sp>
          <p:sp>
            <p:nvSpPr>
              <p:cNvPr id="27" name="Polygon 27"/>
              <p:cNvSpPr/>
              <p:nvPr/>
            </p:nvSpPr>
            <p:spPr>
              <a:xfrm>
                <a:off x="3714750" y="3505200"/>
                <a:ext cx="152400" cy="266700"/>
              </a:xfrm>
              <a:custGeom>
                <a:avLst/>
                <a:gdLst/>
                <a:ahLst/>
                <a:cxnLst/>
                <a:rect l="l" t="t" r="r" b="b"/>
                <a:pathLst>
                  <a:path w="152400" h="266700">
                    <a:moveTo>
                      <a:pt x="0" y="0"/>
                    </a:moveTo>
                    <a:lnTo>
                      <a:pt x="152400" y="0"/>
                    </a:lnTo>
                    <a:lnTo>
                      <a:pt x="114300" y="266700"/>
                    </a:lnTo>
                    <a:lnTo>
                      <a:pt x="76200" y="190500"/>
                    </a:lnTo>
                    <a:lnTo>
                      <a:pt x="38100" y="266700"/>
                    </a:lnTo>
                    <a:close/>
                  </a:path>
                </a:pathLst>
              </a:custGeom>
              <a:solidFill>
                <a:srgbClr val="C0442F"/>
              </a:solidFill>
              <a:ln>
                <a:noFill/>
              </a:ln>
            </p:spPr>
          </p:sp>
          <p:sp>
            <p:nvSpPr>
              <p:cNvPr id="28" name="Ellipse 28"/>
              <p:cNvSpPr/>
              <p:nvPr/>
            </p:nvSpPr>
            <p:spPr>
              <a:xfrm>
                <a:off x="3667125" y="3305175"/>
                <a:ext cx="247650" cy="247650"/>
              </a:xfrm>
              <a:prstGeom prst="ellipse">
                <a:avLst/>
              </a:prstGeom>
              <a:solidFill>
                <a:srgbClr val="C0442F"/>
              </a:solidFill>
              <a:ln>
                <a:noFill/>
              </a:ln>
            </p:spPr>
          </p:sp>
        </p:grpSp>
        <p:grpSp>
          <p:nvGrpSpPr>
            <p:cNvPr id="39" name="Group 39"/>
            <p:cNvGrpSpPr/>
            <p:nvPr/>
          </p:nvGrpSpPr>
          <p:grpSpPr>
            <a:xfrm rot="-180000">
              <a:off x="4572000" y="1952625"/>
              <a:ext cx="1619250" cy="2381250"/>
              <a:chOff x="4572000" y="1952625"/>
              <a:chExt cx="1619250" cy="2381250"/>
            </a:xfrm>
          </p:grpSpPr>
          <p:sp>
            <p:nvSpPr>
              <p:cNvPr id="30" name="Rectangle 30"/>
              <p:cNvSpPr/>
              <p:nvPr/>
            </p:nvSpPr>
            <p:spPr>
              <a:xfrm>
                <a:off x="4572000" y="1952625"/>
                <a:ext cx="1619250" cy="2381250"/>
              </a:xfrm>
              <a:prstGeom prst="roundRect">
                <a:avLst>
                  <a:gd name="adj" fmla="val 2941"/>
                </a:avLst>
              </a:prstGeom>
              <a:solidFill>
                <a:srgbClr val="FFFFFF"/>
              </a:solidFill>
              <a:ln w="9525">
                <a:solidFill>
                  <a:srgbClr val="E2E6F7"/>
                </a:solidFill>
              </a:ln>
            </p:spPr>
          </p:sp>
          <p:sp>
            <p:nvSpPr>
              <p:cNvPr id="31" name="TextBox 31"/>
              <p:cNvSpPr txBox="1"/>
              <p:nvPr/>
            </p:nvSpPr>
            <p:spPr>
              <a:xfrm>
                <a:off x="4865919" y="2265045"/>
                <a:ext cx="1031413" cy="176212"/>
              </a:xfrm>
              <a:prstGeom prst="rect">
                <a:avLst/>
              </a:prstGeom>
              <a:noFill/>
              <a:ln>
                <a:noFill/>
              </a:ln>
            </p:spPr>
            <p:txBody>
              <a:bodyPr wrap="none" lIns="0" tIns="0" rIns="0" bIns="0" anchor="t" anchorCtr="0">
                <a:spAutoFit/>
              </a:bodyPr>
              <a:lstStyle/>
              <a:p>
                <a:pPr algn="ctr"/>
                <a:r>
                  <a:rPr lang="en-US" sz="900" b="1" spc="75" dirty="0">
                    <a:solidFill>
                      <a:srgbClr val="C0442F"/>
                    </a:solidFill>
                    <a:latin typeface="+mn-lt"/>
                    <a:ea typeface="+mn-ea"/>
                    <a:cs typeface="+mn-cs"/>
                  </a:rPr>
                  <a:t>CERTIFICATE​​</a:t>
                </a:r>
              </a:p>
            </p:txBody>
          </p:sp>
          <p:sp>
            <p:nvSpPr>
              <p:cNvPr id="32" name="Line 32"/>
              <p:cNvSpPr/>
              <p:nvPr/>
            </p:nvSpPr>
            <p:spPr>
              <a:xfrm>
                <a:off x="5048250" y="2457450"/>
                <a:ext cx="666750" cy="9525"/>
              </a:xfrm>
              <a:custGeom>
                <a:avLst/>
                <a:gdLst/>
                <a:ahLst/>
                <a:cxnLst/>
                <a:rect l="l" t="t" r="r" b="b"/>
                <a:pathLst>
                  <a:path w="666750" h="9525">
                    <a:moveTo>
                      <a:pt x="0" y="0"/>
                    </a:moveTo>
                    <a:lnTo>
                      <a:pt x="666750" y="0"/>
                    </a:lnTo>
                  </a:path>
                </a:pathLst>
              </a:custGeom>
              <a:noFill/>
              <a:ln w="14288">
                <a:solidFill>
                  <a:srgbClr val="C0442F"/>
                </a:solidFill>
              </a:ln>
            </p:spPr>
          </p:sp>
          <p:sp>
            <p:nvSpPr>
              <p:cNvPr id="33" name="Rectangle 33"/>
              <p:cNvSpPr/>
              <p:nvPr/>
            </p:nvSpPr>
            <p:spPr>
              <a:xfrm>
                <a:off x="4953000" y="2590800"/>
                <a:ext cx="857250" cy="19050"/>
              </a:xfrm>
              <a:prstGeom prst="rect">
                <a:avLst/>
              </a:prstGeom>
              <a:solidFill>
                <a:srgbClr val="D9DCE8"/>
              </a:solidFill>
              <a:ln>
                <a:noFill/>
              </a:ln>
            </p:spPr>
          </p:sp>
          <p:sp>
            <p:nvSpPr>
              <p:cNvPr id="34" name="TextBox 34"/>
              <p:cNvSpPr txBox="1"/>
              <p:nvPr/>
            </p:nvSpPr>
            <p:spPr>
              <a:xfrm>
                <a:off x="4815779" y="2820352"/>
                <a:ext cx="1131693" cy="205359"/>
              </a:xfrm>
              <a:prstGeom prst="rect">
                <a:avLst/>
              </a:prstGeom>
              <a:noFill/>
              <a:ln>
                <a:noFill/>
              </a:ln>
            </p:spPr>
            <p:txBody>
              <a:bodyPr wrap="none" lIns="0" tIns="0" rIns="0" bIns="0" anchor="t" anchorCtr="0">
                <a:spAutoFit/>
              </a:bodyPr>
              <a:lstStyle/>
              <a:p>
                <a:pPr algn="ctr"/>
                <a:r>
                  <a:rPr lang="en-US" sz="1050" i="1" dirty="0">
                    <a:solidFill>
                      <a:srgbClr val="B05242"/>
                    </a:solidFill>
                    <a:latin typeface="+mn-lt"/>
                    <a:ea typeface="+mn-ea"/>
                    <a:cs typeface="+mn-cs"/>
                  </a:rPr>
                  <a:t>Name Surname​​</a:t>
                </a:r>
              </a:p>
            </p:txBody>
          </p:sp>
          <p:sp>
            <p:nvSpPr>
              <p:cNvPr id="35" name="Rectangle 35"/>
              <p:cNvSpPr/>
              <p:nvPr/>
            </p:nvSpPr>
            <p:spPr>
              <a:xfrm>
                <a:off x="4857750" y="3067050"/>
                <a:ext cx="1047750" cy="19050"/>
              </a:xfrm>
              <a:prstGeom prst="rect">
                <a:avLst/>
              </a:prstGeom>
              <a:solidFill>
                <a:srgbClr val="E2E5F0"/>
              </a:solidFill>
              <a:ln>
                <a:noFill/>
              </a:ln>
            </p:spPr>
          </p:sp>
          <p:sp>
            <p:nvSpPr>
              <p:cNvPr id="36" name="Rectangle 36"/>
              <p:cNvSpPr/>
              <p:nvPr/>
            </p:nvSpPr>
            <p:spPr>
              <a:xfrm>
                <a:off x="5000625" y="3143250"/>
                <a:ext cx="762000" cy="19050"/>
              </a:xfrm>
              <a:prstGeom prst="rect">
                <a:avLst/>
              </a:prstGeom>
              <a:solidFill>
                <a:srgbClr val="E2E5F0"/>
              </a:solidFill>
              <a:ln>
                <a:noFill/>
              </a:ln>
            </p:spPr>
          </p:sp>
          <p:sp>
            <p:nvSpPr>
              <p:cNvPr id="37" name="Polygon 37"/>
              <p:cNvSpPr/>
              <p:nvPr/>
            </p:nvSpPr>
            <p:spPr>
              <a:xfrm>
                <a:off x="5305425" y="3505200"/>
                <a:ext cx="152400" cy="266700"/>
              </a:xfrm>
              <a:custGeom>
                <a:avLst/>
                <a:gdLst/>
                <a:ahLst/>
                <a:cxnLst/>
                <a:rect l="l" t="t" r="r" b="b"/>
                <a:pathLst>
                  <a:path w="152400" h="266700">
                    <a:moveTo>
                      <a:pt x="0" y="0"/>
                    </a:moveTo>
                    <a:lnTo>
                      <a:pt x="152400" y="0"/>
                    </a:lnTo>
                    <a:lnTo>
                      <a:pt x="114300" y="266700"/>
                    </a:lnTo>
                    <a:lnTo>
                      <a:pt x="76200" y="190500"/>
                    </a:lnTo>
                    <a:lnTo>
                      <a:pt x="38100" y="266700"/>
                    </a:lnTo>
                    <a:close/>
                  </a:path>
                </a:pathLst>
              </a:custGeom>
              <a:solidFill>
                <a:srgbClr val="C0442F"/>
              </a:solidFill>
              <a:ln>
                <a:noFill/>
              </a:ln>
            </p:spPr>
          </p:sp>
          <p:sp>
            <p:nvSpPr>
              <p:cNvPr id="38" name="Ellipse 38"/>
              <p:cNvSpPr/>
              <p:nvPr/>
            </p:nvSpPr>
            <p:spPr>
              <a:xfrm>
                <a:off x="5257800" y="3305175"/>
                <a:ext cx="247650" cy="247650"/>
              </a:xfrm>
              <a:prstGeom prst="ellipse">
                <a:avLst/>
              </a:prstGeom>
              <a:solidFill>
                <a:srgbClr val="C0442F"/>
              </a:solidFill>
              <a:ln>
                <a:noFill/>
              </a:ln>
            </p:spPr>
          </p:sp>
        </p:grpSp>
        <p:grpSp>
          <p:nvGrpSpPr>
            <p:cNvPr id="49" name="Group 49"/>
            <p:cNvGrpSpPr/>
            <p:nvPr/>
          </p:nvGrpSpPr>
          <p:grpSpPr>
            <a:xfrm rot="180000">
              <a:off x="6143625" y="1952625"/>
              <a:ext cx="1619250" cy="2381250"/>
              <a:chOff x="6143625" y="1952625"/>
              <a:chExt cx="1619250" cy="2381250"/>
            </a:xfrm>
          </p:grpSpPr>
          <p:sp>
            <p:nvSpPr>
              <p:cNvPr id="40" name="Rectangle 40"/>
              <p:cNvSpPr/>
              <p:nvPr/>
            </p:nvSpPr>
            <p:spPr>
              <a:xfrm>
                <a:off x="6143625" y="1952625"/>
                <a:ext cx="1619250" cy="2381250"/>
              </a:xfrm>
              <a:prstGeom prst="roundRect">
                <a:avLst>
                  <a:gd name="adj" fmla="val 2941"/>
                </a:avLst>
              </a:prstGeom>
              <a:solidFill>
                <a:srgbClr val="FFFFFF"/>
              </a:solidFill>
              <a:ln w="9525">
                <a:solidFill>
                  <a:srgbClr val="E2E6F7"/>
                </a:solidFill>
              </a:ln>
            </p:spPr>
          </p:sp>
          <p:sp>
            <p:nvSpPr>
              <p:cNvPr id="41" name="TextBox 41"/>
              <p:cNvSpPr txBox="1"/>
              <p:nvPr/>
            </p:nvSpPr>
            <p:spPr>
              <a:xfrm>
                <a:off x="6437544" y="2265045"/>
                <a:ext cx="1031413" cy="176212"/>
              </a:xfrm>
              <a:prstGeom prst="rect">
                <a:avLst/>
              </a:prstGeom>
              <a:noFill/>
              <a:ln>
                <a:noFill/>
              </a:ln>
            </p:spPr>
            <p:txBody>
              <a:bodyPr wrap="none" lIns="0" tIns="0" rIns="0" bIns="0" anchor="t" anchorCtr="0">
                <a:spAutoFit/>
              </a:bodyPr>
              <a:lstStyle/>
              <a:p>
                <a:pPr algn="ctr"/>
                <a:r>
                  <a:rPr lang="en-US" sz="900" b="1" spc="75" dirty="0">
                    <a:solidFill>
                      <a:srgbClr val="C0442F"/>
                    </a:solidFill>
                    <a:latin typeface="+mn-lt"/>
                    <a:ea typeface="+mn-ea"/>
                    <a:cs typeface="+mn-cs"/>
                  </a:rPr>
                  <a:t>CERTIFICATE​​</a:t>
                </a:r>
              </a:p>
            </p:txBody>
          </p:sp>
          <p:sp>
            <p:nvSpPr>
              <p:cNvPr id="42" name="Line 42"/>
              <p:cNvSpPr/>
              <p:nvPr/>
            </p:nvSpPr>
            <p:spPr>
              <a:xfrm>
                <a:off x="6619875" y="2457450"/>
                <a:ext cx="666750" cy="9525"/>
              </a:xfrm>
              <a:custGeom>
                <a:avLst/>
                <a:gdLst/>
                <a:ahLst/>
                <a:cxnLst/>
                <a:rect l="l" t="t" r="r" b="b"/>
                <a:pathLst>
                  <a:path w="666750" h="9525">
                    <a:moveTo>
                      <a:pt x="0" y="0"/>
                    </a:moveTo>
                    <a:lnTo>
                      <a:pt x="666750" y="0"/>
                    </a:lnTo>
                  </a:path>
                </a:pathLst>
              </a:custGeom>
              <a:noFill/>
              <a:ln w="14288">
                <a:solidFill>
                  <a:srgbClr val="C0442F"/>
                </a:solidFill>
              </a:ln>
            </p:spPr>
          </p:sp>
          <p:sp>
            <p:nvSpPr>
              <p:cNvPr id="43" name="Rectangle 43"/>
              <p:cNvSpPr/>
              <p:nvPr/>
            </p:nvSpPr>
            <p:spPr>
              <a:xfrm>
                <a:off x="6524625" y="2590800"/>
                <a:ext cx="857250" cy="19050"/>
              </a:xfrm>
              <a:prstGeom prst="rect">
                <a:avLst/>
              </a:prstGeom>
              <a:solidFill>
                <a:srgbClr val="D9DCE8"/>
              </a:solidFill>
              <a:ln>
                <a:noFill/>
              </a:ln>
            </p:spPr>
          </p:sp>
          <p:sp>
            <p:nvSpPr>
              <p:cNvPr id="44" name="TextBox 44"/>
              <p:cNvSpPr txBox="1"/>
              <p:nvPr/>
            </p:nvSpPr>
            <p:spPr>
              <a:xfrm>
                <a:off x="6387404" y="2820352"/>
                <a:ext cx="1131693" cy="205359"/>
              </a:xfrm>
              <a:prstGeom prst="rect">
                <a:avLst/>
              </a:prstGeom>
              <a:noFill/>
              <a:ln>
                <a:noFill/>
              </a:ln>
            </p:spPr>
            <p:txBody>
              <a:bodyPr wrap="none" lIns="0" tIns="0" rIns="0" bIns="0" anchor="t" anchorCtr="0">
                <a:spAutoFit/>
              </a:bodyPr>
              <a:lstStyle/>
              <a:p>
                <a:pPr algn="ctr"/>
                <a:r>
                  <a:rPr lang="en-US" sz="1050" i="1" dirty="0">
                    <a:solidFill>
                      <a:srgbClr val="B05242"/>
                    </a:solidFill>
                    <a:latin typeface="+mn-lt"/>
                    <a:ea typeface="+mn-ea"/>
                    <a:cs typeface="+mn-cs"/>
                  </a:rPr>
                  <a:t>Name Surname​​</a:t>
                </a:r>
              </a:p>
            </p:txBody>
          </p:sp>
          <p:sp>
            <p:nvSpPr>
              <p:cNvPr id="45" name="Rectangle 45"/>
              <p:cNvSpPr/>
              <p:nvPr/>
            </p:nvSpPr>
            <p:spPr>
              <a:xfrm>
                <a:off x="6429375" y="3067050"/>
                <a:ext cx="1047750" cy="19050"/>
              </a:xfrm>
              <a:prstGeom prst="rect">
                <a:avLst/>
              </a:prstGeom>
              <a:solidFill>
                <a:srgbClr val="E2E5F0"/>
              </a:solidFill>
              <a:ln>
                <a:noFill/>
              </a:ln>
            </p:spPr>
          </p:sp>
          <p:sp>
            <p:nvSpPr>
              <p:cNvPr id="46" name="Rectangle 46"/>
              <p:cNvSpPr/>
              <p:nvPr/>
            </p:nvSpPr>
            <p:spPr>
              <a:xfrm>
                <a:off x="6572250" y="3143250"/>
                <a:ext cx="762000" cy="19050"/>
              </a:xfrm>
              <a:prstGeom prst="rect">
                <a:avLst/>
              </a:prstGeom>
              <a:solidFill>
                <a:srgbClr val="E2E5F0"/>
              </a:solidFill>
              <a:ln>
                <a:noFill/>
              </a:ln>
            </p:spPr>
          </p:sp>
          <p:sp>
            <p:nvSpPr>
              <p:cNvPr id="47" name="Polygon 47"/>
              <p:cNvSpPr/>
              <p:nvPr/>
            </p:nvSpPr>
            <p:spPr>
              <a:xfrm>
                <a:off x="6877050" y="3505200"/>
                <a:ext cx="152400" cy="266700"/>
              </a:xfrm>
              <a:custGeom>
                <a:avLst/>
                <a:gdLst/>
                <a:ahLst/>
                <a:cxnLst/>
                <a:rect l="l" t="t" r="r" b="b"/>
                <a:pathLst>
                  <a:path w="152400" h="266700">
                    <a:moveTo>
                      <a:pt x="0" y="0"/>
                    </a:moveTo>
                    <a:lnTo>
                      <a:pt x="152400" y="0"/>
                    </a:lnTo>
                    <a:lnTo>
                      <a:pt x="114300" y="266700"/>
                    </a:lnTo>
                    <a:lnTo>
                      <a:pt x="76200" y="190500"/>
                    </a:lnTo>
                    <a:lnTo>
                      <a:pt x="38100" y="266700"/>
                    </a:lnTo>
                    <a:close/>
                  </a:path>
                </a:pathLst>
              </a:custGeom>
              <a:solidFill>
                <a:srgbClr val="C0442F"/>
              </a:solidFill>
              <a:ln>
                <a:noFill/>
              </a:ln>
            </p:spPr>
          </p:sp>
          <p:sp>
            <p:nvSpPr>
              <p:cNvPr id="48" name="Ellipse 48"/>
              <p:cNvSpPr/>
              <p:nvPr/>
            </p:nvSpPr>
            <p:spPr>
              <a:xfrm>
                <a:off x="6829425" y="3305175"/>
                <a:ext cx="247650" cy="247650"/>
              </a:xfrm>
              <a:prstGeom prst="ellipse">
                <a:avLst/>
              </a:prstGeom>
              <a:solidFill>
                <a:srgbClr val="C0442F"/>
              </a:solidFill>
              <a:ln>
                <a:noFill/>
              </a:ln>
            </p:spPr>
          </p:sp>
        </p:grpSp>
        <p:grpSp>
          <p:nvGrpSpPr>
            <p:cNvPr id="59" name="Group 59"/>
            <p:cNvGrpSpPr/>
            <p:nvPr/>
          </p:nvGrpSpPr>
          <p:grpSpPr>
            <a:xfrm rot="540000">
              <a:off x="7715250" y="1952625"/>
              <a:ext cx="1619250" cy="2381250"/>
              <a:chOff x="7715250" y="1952625"/>
              <a:chExt cx="1619250" cy="2381250"/>
            </a:xfrm>
          </p:grpSpPr>
          <p:sp>
            <p:nvSpPr>
              <p:cNvPr id="50" name="Rectangle 50"/>
              <p:cNvSpPr/>
              <p:nvPr/>
            </p:nvSpPr>
            <p:spPr>
              <a:xfrm>
                <a:off x="7715250" y="1952625"/>
                <a:ext cx="1619250" cy="2381250"/>
              </a:xfrm>
              <a:prstGeom prst="roundRect">
                <a:avLst>
                  <a:gd name="adj" fmla="val 2941"/>
                </a:avLst>
              </a:prstGeom>
              <a:solidFill>
                <a:srgbClr val="FFFFFF"/>
              </a:solidFill>
              <a:ln w="9525">
                <a:solidFill>
                  <a:srgbClr val="E2E6F7"/>
                </a:solidFill>
              </a:ln>
            </p:spPr>
          </p:sp>
          <p:sp>
            <p:nvSpPr>
              <p:cNvPr id="51" name="TextBox 51"/>
              <p:cNvSpPr txBox="1"/>
              <p:nvPr/>
            </p:nvSpPr>
            <p:spPr>
              <a:xfrm>
                <a:off x="8009169" y="2265045"/>
                <a:ext cx="1031413" cy="176212"/>
              </a:xfrm>
              <a:prstGeom prst="rect">
                <a:avLst/>
              </a:prstGeom>
              <a:noFill/>
              <a:ln>
                <a:noFill/>
              </a:ln>
            </p:spPr>
            <p:txBody>
              <a:bodyPr wrap="none" lIns="0" tIns="0" rIns="0" bIns="0" anchor="t" anchorCtr="0">
                <a:spAutoFit/>
              </a:bodyPr>
              <a:lstStyle/>
              <a:p>
                <a:pPr algn="ctr"/>
                <a:r>
                  <a:rPr lang="en-US" sz="900" b="1" spc="75" dirty="0">
                    <a:solidFill>
                      <a:srgbClr val="C0442F"/>
                    </a:solidFill>
                    <a:latin typeface="+mn-lt"/>
                    <a:ea typeface="+mn-ea"/>
                    <a:cs typeface="+mn-cs"/>
                  </a:rPr>
                  <a:t>CERTIFICATE​​</a:t>
                </a:r>
              </a:p>
            </p:txBody>
          </p:sp>
          <p:sp>
            <p:nvSpPr>
              <p:cNvPr id="52" name="Line 52"/>
              <p:cNvSpPr/>
              <p:nvPr/>
            </p:nvSpPr>
            <p:spPr>
              <a:xfrm>
                <a:off x="8191500" y="2457450"/>
                <a:ext cx="666750" cy="9525"/>
              </a:xfrm>
              <a:custGeom>
                <a:avLst/>
                <a:gdLst/>
                <a:ahLst/>
                <a:cxnLst/>
                <a:rect l="l" t="t" r="r" b="b"/>
                <a:pathLst>
                  <a:path w="666750" h="9525">
                    <a:moveTo>
                      <a:pt x="0" y="0"/>
                    </a:moveTo>
                    <a:lnTo>
                      <a:pt x="666750" y="0"/>
                    </a:lnTo>
                  </a:path>
                </a:pathLst>
              </a:custGeom>
              <a:noFill/>
              <a:ln w="14288">
                <a:solidFill>
                  <a:srgbClr val="C0442F"/>
                </a:solidFill>
              </a:ln>
            </p:spPr>
          </p:sp>
          <p:sp>
            <p:nvSpPr>
              <p:cNvPr id="53" name="Rectangle 53"/>
              <p:cNvSpPr/>
              <p:nvPr/>
            </p:nvSpPr>
            <p:spPr>
              <a:xfrm>
                <a:off x="8096250" y="2590800"/>
                <a:ext cx="857250" cy="19050"/>
              </a:xfrm>
              <a:prstGeom prst="rect">
                <a:avLst/>
              </a:prstGeom>
              <a:solidFill>
                <a:srgbClr val="D9DCE8"/>
              </a:solidFill>
              <a:ln>
                <a:noFill/>
              </a:ln>
            </p:spPr>
          </p:sp>
          <p:sp>
            <p:nvSpPr>
              <p:cNvPr id="54" name="TextBox 54"/>
              <p:cNvSpPr txBox="1"/>
              <p:nvPr/>
            </p:nvSpPr>
            <p:spPr>
              <a:xfrm>
                <a:off x="7959029" y="2820352"/>
                <a:ext cx="1131693" cy="205359"/>
              </a:xfrm>
              <a:prstGeom prst="rect">
                <a:avLst/>
              </a:prstGeom>
              <a:noFill/>
              <a:ln>
                <a:noFill/>
              </a:ln>
            </p:spPr>
            <p:txBody>
              <a:bodyPr wrap="none" lIns="0" tIns="0" rIns="0" bIns="0" anchor="t" anchorCtr="0">
                <a:spAutoFit/>
              </a:bodyPr>
              <a:lstStyle/>
              <a:p>
                <a:pPr algn="ctr"/>
                <a:r>
                  <a:rPr lang="en-US" sz="1050" i="1" dirty="0">
                    <a:solidFill>
                      <a:srgbClr val="B05242"/>
                    </a:solidFill>
                    <a:latin typeface="+mn-lt"/>
                    <a:ea typeface="+mn-ea"/>
                    <a:cs typeface="+mn-cs"/>
                  </a:rPr>
                  <a:t>Name Surname​​</a:t>
                </a:r>
              </a:p>
            </p:txBody>
          </p:sp>
          <p:sp>
            <p:nvSpPr>
              <p:cNvPr id="55" name="Rectangle 55"/>
              <p:cNvSpPr/>
              <p:nvPr/>
            </p:nvSpPr>
            <p:spPr>
              <a:xfrm>
                <a:off x="8001000" y="3067050"/>
                <a:ext cx="1047750" cy="19050"/>
              </a:xfrm>
              <a:prstGeom prst="rect">
                <a:avLst/>
              </a:prstGeom>
              <a:solidFill>
                <a:srgbClr val="E2E5F0"/>
              </a:solidFill>
              <a:ln>
                <a:noFill/>
              </a:ln>
            </p:spPr>
          </p:sp>
          <p:sp>
            <p:nvSpPr>
              <p:cNvPr id="56" name="Rectangle 56"/>
              <p:cNvSpPr/>
              <p:nvPr/>
            </p:nvSpPr>
            <p:spPr>
              <a:xfrm>
                <a:off x="8143875" y="3143250"/>
                <a:ext cx="762000" cy="19050"/>
              </a:xfrm>
              <a:prstGeom prst="rect">
                <a:avLst/>
              </a:prstGeom>
              <a:solidFill>
                <a:srgbClr val="E2E5F0"/>
              </a:solidFill>
              <a:ln>
                <a:noFill/>
              </a:ln>
            </p:spPr>
          </p:sp>
          <p:sp>
            <p:nvSpPr>
              <p:cNvPr id="57" name="Polygon 57"/>
              <p:cNvSpPr/>
              <p:nvPr/>
            </p:nvSpPr>
            <p:spPr>
              <a:xfrm>
                <a:off x="8448675" y="3505200"/>
                <a:ext cx="152400" cy="266700"/>
              </a:xfrm>
              <a:custGeom>
                <a:avLst/>
                <a:gdLst/>
                <a:ahLst/>
                <a:cxnLst/>
                <a:rect l="l" t="t" r="r" b="b"/>
                <a:pathLst>
                  <a:path w="152400" h="266700">
                    <a:moveTo>
                      <a:pt x="0" y="0"/>
                    </a:moveTo>
                    <a:lnTo>
                      <a:pt x="152400" y="0"/>
                    </a:lnTo>
                    <a:lnTo>
                      <a:pt x="114300" y="266700"/>
                    </a:lnTo>
                    <a:lnTo>
                      <a:pt x="76200" y="190500"/>
                    </a:lnTo>
                    <a:lnTo>
                      <a:pt x="38100" y="266700"/>
                    </a:lnTo>
                    <a:close/>
                  </a:path>
                </a:pathLst>
              </a:custGeom>
              <a:solidFill>
                <a:srgbClr val="C0442F"/>
              </a:solidFill>
              <a:ln>
                <a:noFill/>
              </a:ln>
            </p:spPr>
          </p:sp>
          <p:sp>
            <p:nvSpPr>
              <p:cNvPr id="58" name="Ellipse 58"/>
              <p:cNvSpPr/>
              <p:nvPr/>
            </p:nvSpPr>
            <p:spPr>
              <a:xfrm>
                <a:off x="8401050" y="3305175"/>
                <a:ext cx="247650" cy="247650"/>
              </a:xfrm>
              <a:prstGeom prst="ellipse">
                <a:avLst/>
              </a:prstGeom>
              <a:solidFill>
                <a:srgbClr val="C0442F"/>
              </a:solidFill>
              <a:ln>
                <a:noFill/>
              </a:ln>
            </p:spPr>
          </p:sp>
        </p:grpSp>
        <p:grpSp>
          <p:nvGrpSpPr>
            <p:cNvPr id="69" name="Group 69"/>
            <p:cNvGrpSpPr/>
            <p:nvPr/>
          </p:nvGrpSpPr>
          <p:grpSpPr>
            <a:xfrm rot="960000">
              <a:off x="9239250" y="1952625"/>
              <a:ext cx="1619250" cy="2381250"/>
              <a:chOff x="9239250" y="1952625"/>
              <a:chExt cx="1619250" cy="2381250"/>
            </a:xfrm>
          </p:grpSpPr>
          <p:sp>
            <p:nvSpPr>
              <p:cNvPr id="60" name="Rectangle 60"/>
              <p:cNvSpPr/>
              <p:nvPr/>
            </p:nvSpPr>
            <p:spPr>
              <a:xfrm>
                <a:off x="9239250" y="1952625"/>
                <a:ext cx="1619250" cy="2381250"/>
              </a:xfrm>
              <a:prstGeom prst="roundRect">
                <a:avLst>
                  <a:gd name="adj" fmla="val 2941"/>
                </a:avLst>
              </a:prstGeom>
              <a:solidFill>
                <a:srgbClr val="FFFFFF"/>
              </a:solidFill>
              <a:ln w="9525">
                <a:solidFill>
                  <a:srgbClr val="E2E6F7"/>
                </a:solidFill>
              </a:ln>
            </p:spPr>
          </p:sp>
          <p:sp>
            <p:nvSpPr>
              <p:cNvPr id="61" name="TextBox 61"/>
              <p:cNvSpPr txBox="1"/>
              <p:nvPr/>
            </p:nvSpPr>
            <p:spPr>
              <a:xfrm>
                <a:off x="9533169" y="2265045"/>
                <a:ext cx="1031413" cy="176212"/>
              </a:xfrm>
              <a:prstGeom prst="rect">
                <a:avLst/>
              </a:prstGeom>
              <a:noFill/>
              <a:ln>
                <a:noFill/>
              </a:ln>
            </p:spPr>
            <p:txBody>
              <a:bodyPr wrap="none" lIns="0" tIns="0" rIns="0" bIns="0" anchor="t" anchorCtr="0">
                <a:spAutoFit/>
              </a:bodyPr>
              <a:lstStyle/>
              <a:p>
                <a:pPr algn="ctr"/>
                <a:r>
                  <a:rPr lang="en-US" sz="900" b="1" spc="75" dirty="0">
                    <a:solidFill>
                      <a:srgbClr val="C0442F"/>
                    </a:solidFill>
                    <a:latin typeface="+mn-lt"/>
                    <a:ea typeface="+mn-ea"/>
                    <a:cs typeface="+mn-cs"/>
                  </a:rPr>
                  <a:t>CERTIFICATE​​</a:t>
                </a:r>
              </a:p>
            </p:txBody>
          </p:sp>
          <p:sp>
            <p:nvSpPr>
              <p:cNvPr id="62" name="Line 62"/>
              <p:cNvSpPr/>
              <p:nvPr/>
            </p:nvSpPr>
            <p:spPr>
              <a:xfrm>
                <a:off x="9715500" y="2457450"/>
                <a:ext cx="666750" cy="9525"/>
              </a:xfrm>
              <a:custGeom>
                <a:avLst/>
                <a:gdLst/>
                <a:ahLst/>
                <a:cxnLst/>
                <a:rect l="l" t="t" r="r" b="b"/>
                <a:pathLst>
                  <a:path w="666750" h="9525">
                    <a:moveTo>
                      <a:pt x="0" y="0"/>
                    </a:moveTo>
                    <a:lnTo>
                      <a:pt x="666750" y="0"/>
                    </a:lnTo>
                  </a:path>
                </a:pathLst>
              </a:custGeom>
              <a:noFill/>
              <a:ln w="14288">
                <a:solidFill>
                  <a:srgbClr val="C0442F"/>
                </a:solidFill>
              </a:ln>
            </p:spPr>
          </p:sp>
          <p:sp>
            <p:nvSpPr>
              <p:cNvPr id="63" name="Rectangle 63"/>
              <p:cNvSpPr/>
              <p:nvPr/>
            </p:nvSpPr>
            <p:spPr>
              <a:xfrm>
                <a:off x="9620250" y="2590800"/>
                <a:ext cx="857250" cy="19050"/>
              </a:xfrm>
              <a:prstGeom prst="rect">
                <a:avLst/>
              </a:prstGeom>
              <a:solidFill>
                <a:srgbClr val="D9DCE8"/>
              </a:solidFill>
              <a:ln>
                <a:noFill/>
              </a:ln>
            </p:spPr>
          </p:sp>
          <p:sp>
            <p:nvSpPr>
              <p:cNvPr id="64" name="TextBox 64"/>
              <p:cNvSpPr txBox="1"/>
              <p:nvPr/>
            </p:nvSpPr>
            <p:spPr>
              <a:xfrm>
                <a:off x="9483029" y="2820352"/>
                <a:ext cx="1131693" cy="205359"/>
              </a:xfrm>
              <a:prstGeom prst="rect">
                <a:avLst/>
              </a:prstGeom>
              <a:noFill/>
              <a:ln>
                <a:noFill/>
              </a:ln>
            </p:spPr>
            <p:txBody>
              <a:bodyPr wrap="none" lIns="0" tIns="0" rIns="0" bIns="0" anchor="t" anchorCtr="0">
                <a:spAutoFit/>
              </a:bodyPr>
              <a:lstStyle/>
              <a:p>
                <a:pPr algn="ctr"/>
                <a:r>
                  <a:rPr lang="en-US" sz="1050" i="1" dirty="0">
                    <a:solidFill>
                      <a:srgbClr val="B05242"/>
                    </a:solidFill>
                    <a:latin typeface="+mn-lt"/>
                    <a:ea typeface="+mn-ea"/>
                    <a:cs typeface="+mn-cs"/>
                  </a:rPr>
                  <a:t>Name Surname​​</a:t>
                </a:r>
              </a:p>
            </p:txBody>
          </p:sp>
          <p:sp>
            <p:nvSpPr>
              <p:cNvPr id="65" name="Rectangle 65"/>
              <p:cNvSpPr/>
              <p:nvPr/>
            </p:nvSpPr>
            <p:spPr>
              <a:xfrm>
                <a:off x="9525000" y="3067050"/>
                <a:ext cx="1047750" cy="19050"/>
              </a:xfrm>
              <a:prstGeom prst="rect">
                <a:avLst/>
              </a:prstGeom>
              <a:solidFill>
                <a:srgbClr val="E2E5F0"/>
              </a:solidFill>
              <a:ln>
                <a:noFill/>
              </a:ln>
            </p:spPr>
          </p:sp>
          <p:sp>
            <p:nvSpPr>
              <p:cNvPr id="66" name="Rectangle 66"/>
              <p:cNvSpPr/>
              <p:nvPr/>
            </p:nvSpPr>
            <p:spPr>
              <a:xfrm>
                <a:off x="9667875" y="3143250"/>
                <a:ext cx="762000" cy="19050"/>
              </a:xfrm>
              <a:prstGeom prst="rect">
                <a:avLst/>
              </a:prstGeom>
              <a:solidFill>
                <a:srgbClr val="E2E5F0"/>
              </a:solidFill>
              <a:ln>
                <a:noFill/>
              </a:ln>
            </p:spPr>
          </p:sp>
          <p:sp>
            <p:nvSpPr>
              <p:cNvPr id="67" name="Polygon 67"/>
              <p:cNvSpPr/>
              <p:nvPr/>
            </p:nvSpPr>
            <p:spPr>
              <a:xfrm>
                <a:off x="9972675" y="3505200"/>
                <a:ext cx="152400" cy="266700"/>
              </a:xfrm>
              <a:custGeom>
                <a:avLst/>
                <a:gdLst/>
                <a:ahLst/>
                <a:cxnLst/>
                <a:rect l="l" t="t" r="r" b="b"/>
                <a:pathLst>
                  <a:path w="152400" h="266700">
                    <a:moveTo>
                      <a:pt x="0" y="0"/>
                    </a:moveTo>
                    <a:lnTo>
                      <a:pt x="152400" y="0"/>
                    </a:lnTo>
                    <a:lnTo>
                      <a:pt x="114300" y="266700"/>
                    </a:lnTo>
                    <a:lnTo>
                      <a:pt x="76200" y="190500"/>
                    </a:lnTo>
                    <a:lnTo>
                      <a:pt x="38100" y="266700"/>
                    </a:lnTo>
                    <a:close/>
                  </a:path>
                </a:pathLst>
              </a:custGeom>
              <a:solidFill>
                <a:srgbClr val="C0442F"/>
              </a:solidFill>
              <a:ln>
                <a:noFill/>
              </a:ln>
            </p:spPr>
          </p:sp>
          <p:sp>
            <p:nvSpPr>
              <p:cNvPr id="68" name="Ellipse 68"/>
              <p:cNvSpPr/>
              <p:nvPr/>
            </p:nvSpPr>
            <p:spPr>
              <a:xfrm>
                <a:off x="9925050" y="3305175"/>
                <a:ext cx="247650" cy="247650"/>
              </a:xfrm>
              <a:prstGeom prst="ellipse">
                <a:avLst/>
              </a:prstGeom>
              <a:solidFill>
                <a:srgbClr val="C0442F"/>
              </a:solidFill>
              <a:ln>
                <a:noFill/>
              </a:ln>
            </p:spPr>
          </p:sp>
        </p:grpSp>
      </p:grpSp>
      <p:grpSp>
        <p:nvGrpSpPr>
          <p:cNvPr id="85" name="ai-band"/>
          <p:cNvGrpSpPr/>
          <p:nvPr/>
        </p:nvGrpSpPr>
        <p:grpSpPr>
          <a:xfrm>
            <a:off x="666750" y="4743450"/>
            <a:ext cx="10858500" cy="1809750"/>
            <a:chOff x="666750" y="4743450"/>
            <a:chExt cx="10858500" cy="1809750"/>
          </a:xfrm>
        </p:grpSpPr>
        <p:sp>
          <p:nvSpPr>
            <p:cNvPr id="71" name="Rectangle 71"/>
            <p:cNvSpPr/>
            <p:nvPr/>
          </p:nvSpPr>
          <p:spPr>
            <a:xfrm>
              <a:off x="666750" y="4743450"/>
              <a:ext cx="10858500" cy="1809750"/>
            </a:xfrm>
            <a:prstGeom prst="roundRect">
              <a:avLst>
                <a:gd name="adj" fmla="val 6316"/>
              </a:avLst>
            </a:prstGeom>
            <a:solidFill>
              <a:srgbClr val="FFFFFF"/>
            </a:solidFill>
            <a:ln>
              <a:noFill/>
            </a:ln>
          </p:spPr>
        </p:sp>
        <p:sp>
          <p:nvSpPr>
            <p:cNvPr id="72" name="TextBox 72"/>
            <p:cNvSpPr txBox="1"/>
            <p:nvPr/>
          </p:nvSpPr>
          <p:spPr>
            <a:xfrm>
              <a:off x="5337159" y="5005864"/>
              <a:ext cx="1517683" cy="249364"/>
            </a:xfrm>
            <a:prstGeom prst="rect">
              <a:avLst/>
            </a:prstGeom>
            <a:noFill/>
            <a:ln>
              <a:noFill/>
            </a:ln>
          </p:spPr>
          <p:txBody>
            <a:bodyPr wrap="none" lIns="0" tIns="0" rIns="0" bIns="0" anchor="t" anchorCtr="0">
              <a:spAutoFit/>
            </a:bodyPr>
            <a:lstStyle/>
            <a:p>
              <a:pPr algn="ctr"/>
              <a:r>
                <a:rPr lang="zh-CN" sz="1280" b="1" dirty="0">
                  <a:solidFill>
                    <a:srgbClr val="C45F4A"/>
                  </a:solidFill>
                  <a:latin typeface="+mn-lt"/>
                  <a:ea typeface="+mn-ea"/>
                  <a:cs typeface="+mn-cs"/>
                </a:rPr>
                <a:t>人工智能领域</a:t>
              </a:r>
              <a:r>
                <a:rPr lang="zh-CN" sz="1280" b="1" dirty="0">
                  <a:solidFill>
                    <a:srgbClr val="E8634C"/>
                  </a:solidFill>
                  <a:latin typeface="+mn-lt"/>
                  <a:ea typeface="+mn-ea"/>
                  <a:cs typeface="+mn-cs"/>
                </a:rPr>
                <a:t>3</a:t>
              </a:r>
              <a:r>
                <a:rPr lang="zh-CN" sz="1280" b="1" dirty="0">
                  <a:solidFill>
                    <a:srgbClr val="C45F4A"/>
                  </a:solidFill>
                  <a:latin typeface="+mn-lt"/>
                  <a:ea typeface="+mn-ea"/>
                  <a:cs typeface="+mn-cs"/>
                </a:rPr>
                <a:t>项​​</a:t>
              </a:r>
            </a:p>
          </p:txBody>
        </p:sp>
        <p:sp>
          <p:nvSpPr>
            <p:cNvPr id="73" name="TextBox 73"/>
            <p:cNvSpPr txBox="1"/>
            <p:nvPr/>
          </p:nvSpPr>
          <p:spPr>
            <a:xfrm>
              <a:off x="1550352" y="5469493"/>
              <a:ext cx="1757045" cy="550069"/>
            </a:xfrm>
            <a:prstGeom prst="rect">
              <a:avLst/>
            </a:prstGeom>
            <a:noFill/>
            <a:ln>
              <a:noFill/>
            </a:ln>
          </p:spPr>
          <p:txBody>
            <a:bodyPr wrap="none" lIns="0" tIns="0" rIns="0" bIns="0" anchor="t" anchorCtr="0">
              <a:spAutoFit/>
            </a:bodyPr>
            <a:lstStyle/>
            <a:p>
              <a:pPr algn="ctr">
                <a:lnSpc>
                  <a:spcPts val="1500"/>
                </a:lnSpc>
              </a:pPr>
              <a:r>
                <a:rPr lang="zh-CN" sz="860" dirty="0">
                  <a:solidFill>
                    <a:srgbClr val="543E3A"/>
                  </a:solidFill>
                  <a:latin typeface="+mn-lt"/>
                  <a:ea typeface="+mn-ea"/>
                  <a:cs typeface="+mn-cs"/>
                </a:rPr>
                <a:t>人工智能专项“大满贯”</a:t>
              </a:r>
              <a:br/>
              <a:r>
                <a:rPr lang="zh-CN" sz="860" dirty="0">
                  <a:solidFill>
                    <a:srgbClr val="543E3A"/>
                  </a:solidFill>
                  <a:latin typeface="+mn-lt"/>
                  <a:ea typeface="+mn-ea"/>
                  <a:cs typeface="+mn-cs"/>
                </a:rPr>
                <a:t>承担国家科技部、＊发改委、＊信部</a:t>
              </a:r>
              <a:br/>
              <a:r>
                <a:rPr lang="zh-CN" sz="860" dirty="0">
                  <a:solidFill>
                    <a:srgbClr val="543E3A"/>
                  </a:solidFill>
                  <a:latin typeface="+mn-lt"/>
                  <a:ea typeface="+mn-ea"/>
                  <a:cs typeface="+mn-cs"/>
                </a:rPr>
                <a:t>三大部委人工智能专项</a:t>
              </a:r>
            </a:p>
          </p:txBody>
        </p:sp>
        <p:sp>
          <p:nvSpPr>
            <p:cNvPr id="74" name="TextBox 74"/>
            <p:cNvSpPr txBox="1"/>
            <p:nvPr/>
          </p:nvSpPr>
          <p:spPr>
            <a:xfrm>
              <a:off x="5217478" y="5469493"/>
              <a:ext cx="1757045" cy="550069"/>
            </a:xfrm>
            <a:prstGeom prst="rect">
              <a:avLst/>
            </a:prstGeom>
            <a:noFill/>
            <a:ln>
              <a:noFill/>
            </a:ln>
          </p:spPr>
          <p:txBody>
            <a:bodyPr wrap="none" lIns="0" tIns="0" rIns="0" bIns="0" anchor="t" anchorCtr="0">
              <a:spAutoFit/>
            </a:bodyPr>
            <a:lstStyle/>
            <a:p>
              <a:pPr algn="ctr">
                <a:lnSpc>
                  <a:spcPts val="1500"/>
                </a:lnSpc>
              </a:pPr>
              <a:r>
                <a:rPr lang="zh-CN" sz="860" dirty="0">
                  <a:solidFill>
                    <a:srgbClr val="543E3A"/>
                  </a:solidFill>
                  <a:latin typeface="+mn-lt"/>
                  <a:ea typeface="+mn-ea"/>
                  <a:cs typeface="+mn-cs"/>
                </a:rPr>
                <a:t>人工智能专项“大满贯”</a:t>
              </a:r>
              <a:br/>
              <a:r>
                <a:rPr lang="zh-CN" sz="860" dirty="0">
                  <a:solidFill>
                    <a:srgbClr val="543E3A"/>
                  </a:solidFill>
                  <a:latin typeface="+mn-lt"/>
                  <a:ea typeface="+mn-ea"/>
                  <a:cs typeface="+mn-cs"/>
                </a:rPr>
                <a:t>承担国家科技部、＊发改委、＊信部</a:t>
              </a:r>
              <a:br/>
              <a:r>
                <a:rPr lang="zh-CN" sz="860" dirty="0">
                  <a:solidFill>
                    <a:srgbClr val="543E3A"/>
                  </a:solidFill>
                  <a:latin typeface="+mn-lt"/>
                  <a:ea typeface="+mn-ea"/>
                  <a:cs typeface="+mn-cs"/>
                </a:rPr>
                <a:t>三大部委人工智能专项</a:t>
              </a:r>
            </a:p>
          </p:txBody>
        </p:sp>
        <p:sp>
          <p:nvSpPr>
            <p:cNvPr id="75" name="TextBox 75"/>
            <p:cNvSpPr txBox="1"/>
            <p:nvPr/>
          </p:nvSpPr>
          <p:spPr>
            <a:xfrm>
              <a:off x="8884602" y="5469493"/>
              <a:ext cx="1757045" cy="550069"/>
            </a:xfrm>
            <a:prstGeom prst="rect">
              <a:avLst/>
            </a:prstGeom>
            <a:noFill/>
            <a:ln>
              <a:noFill/>
            </a:ln>
          </p:spPr>
          <p:txBody>
            <a:bodyPr wrap="none" lIns="0" tIns="0" rIns="0" bIns="0" anchor="t" anchorCtr="0">
              <a:spAutoFit/>
            </a:bodyPr>
            <a:lstStyle/>
            <a:p>
              <a:pPr algn="ctr">
                <a:lnSpc>
                  <a:spcPts val="1500"/>
                </a:lnSpc>
              </a:pPr>
              <a:r>
                <a:rPr lang="zh-CN" sz="860" dirty="0">
                  <a:solidFill>
                    <a:srgbClr val="543E3A"/>
                  </a:solidFill>
                  <a:latin typeface="+mn-lt"/>
                  <a:ea typeface="+mn-ea"/>
                  <a:cs typeface="+mn-cs"/>
                </a:rPr>
                <a:t>人工智能专项“大满贯”</a:t>
              </a:r>
              <a:br/>
              <a:r>
                <a:rPr lang="zh-CN" sz="860" dirty="0">
                  <a:solidFill>
                    <a:srgbClr val="543E3A"/>
                  </a:solidFill>
                  <a:latin typeface="+mn-lt"/>
                  <a:ea typeface="+mn-ea"/>
                  <a:cs typeface="+mn-cs"/>
                </a:rPr>
                <a:t>承担国家科技部、＊发改委、＊信部</a:t>
              </a:r>
              <a:br/>
              <a:r>
                <a:rPr lang="zh-CN" sz="860" dirty="0">
                  <a:solidFill>
                    <a:srgbClr val="543E3A"/>
                  </a:solidFill>
                  <a:latin typeface="+mn-lt"/>
                  <a:ea typeface="+mn-ea"/>
                  <a:cs typeface="+mn-cs"/>
                </a:rPr>
                <a:t>三大部委人工智能专项</a:t>
              </a:r>
            </a:p>
          </p:txBody>
        </p:sp>
        <p:sp>
          <p:nvSpPr>
            <p:cNvPr id="76" name="Freeform 76"/>
            <p:cNvSpPr/>
            <p:nvPr/>
          </p:nvSpPr>
          <p:spPr>
            <a:xfrm>
              <a:off x="1238250" y="5429250"/>
              <a:ext cx="457200" cy="590550"/>
            </a:xfrm>
            <a:custGeom>
              <a:avLst/>
              <a:gdLst/>
              <a:ahLst/>
              <a:cxnLst/>
              <a:rect l="l" t="t" r="r" b="b"/>
              <a:pathLst>
                <a:path w="457200" h="590550">
                  <a:moveTo>
                    <a:pt x="0" y="0"/>
                  </a:moveTo>
                  <a:cubicBezTo>
                    <a:pt x="76200" y="254000"/>
                    <a:pt x="228600" y="450850"/>
                    <a:pt x="457200" y="590550"/>
                  </a:cubicBezTo>
                </a:path>
              </a:pathLst>
            </a:custGeom>
            <a:noFill/>
            <a:ln w="12382">
              <a:solidFill>
                <a:srgbClr val="C0442F"/>
              </a:solidFill>
            </a:ln>
          </p:spPr>
        </p:sp>
        <p:sp>
          <p:nvSpPr>
            <p:cNvPr id="77" name="Freeform 77"/>
            <p:cNvSpPr/>
            <p:nvPr/>
          </p:nvSpPr>
          <p:spPr>
            <a:xfrm>
              <a:off x="3162300" y="5429250"/>
              <a:ext cx="457200" cy="590550"/>
            </a:xfrm>
            <a:custGeom>
              <a:avLst/>
              <a:gdLst/>
              <a:ahLst/>
              <a:cxnLst/>
              <a:rect l="l" t="t" r="r" b="b"/>
              <a:pathLst>
                <a:path w="457200" h="590550">
                  <a:moveTo>
                    <a:pt x="457200" y="0"/>
                  </a:moveTo>
                  <a:cubicBezTo>
                    <a:pt x="381000" y="254000"/>
                    <a:pt x="228600" y="450850"/>
                    <a:pt x="0" y="590550"/>
                  </a:cubicBezTo>
                </a:path>
              </a:pathLst>
            </a:custGeom>
            <a:noFill/>
            <a:ln w="12382">
              <a:solidFill>
                <a:srgbClr val="C0442F"/>
              </a:solidFill>
            </a:ln>
          </p:spPr>
        </p:sp>
        <p:sp>
          <p:nvSpPr>
            <p:cNvPr id="78" name="Freeform 78"/>
            <p:cNvSpPr/>
            <p:nvPr/>
          </p:nvSpPr>
          <p:spPr>
            <a:xfrm>
              <a:off x="4905375" y="5429250"/>
              <a:ext cx="457200" cy="590550"/>
            </a:xfrm>
            <a:custGeom>
              <a:avLst/>
              <a:gdLst/>
              <a:ahLst/>
              <a:cxnLst/>
              <a:rect l="l" t="t" r="r" b="b"/>
              <a:pathLst>
                <a:path w="457200" h="590550">
                  <a:moveTo>
                    <a:pt x="0" y="0"/>
                  </a:moveTo>
                  <a:cubicBezTo>
                    <a:pt x="76200" y="254000"/>
                    <a:pt x="228600" y="450850"/>
                    <a:pt x="457200" y="590550"/>
                  </a:cubicBezTo>
                </a:path>
              </a:pathLst>
            </a:custGeom>
            <a:noFill/>
            <a:ln w="12382">
              <a:solidFill>
                <a:srgbClr val="C0442F"/>
              </a:solidFill>
            </a:ln>
          </p:spPr>
        </p:sp>
        <p:sp>
          <p:nvSpPr>
            <p:cNvPr id="79" name="Freeform 79"/>
            <p:cNvSpPr/>
            <p:nvPr/>
          </p:nvSpPr>
          <p:spPr>
            <a:xfrm>
              <a:off x="6829425" y="5429250"/>
              <a:ext cx="457200" cy="590550"/>
            </a:xfrm>
            <a:custGeom>
              <a:avLst/>
              <a:gdLst/>
              <a:ahLst/>
              <a:cxnLst/>
              <a:rect l="l" t="t" r="r" b="b"/>
              <a:pathLst>
                <a:path w="457200" h="590550">
                  <a:moveTo>
                    <a:pt x="457200" y="0"/>
                  </a:moveTo>
                  <a:cubicBezTo>
                    <a:pt x="381000" y="254000"/>
                    <a:pt x="228600" y="450850"/>
                    <a:pt x="0" y="590550"/>
                  </a:cubicBezTo>
                </a:path>
              </a:pathLst>
            </a:custGeom>
            <a:noFill/>
            <a:ln w="12382">
              <a:solidFill>
                <a:srgbClr val="C0442F"/>
              </a:solidFill>
            </a:ln>
          </p:spPr>
        </p:sp>
        <p:sp>
          <p:nvSpPr>
            <p:cNvPr id="80" name="Freeform 80"/>
            <p:cNvSpPr/>
            <p:nvPr/>
          </p:nvSpPr>
          <p:spPr>
            <a:xfrm>
              <a:off x="8572500" y="5429250"/>
              <a:ext cx="457200" cy="590550"/>
            </a:xfrm>
            <a:custGeom>
              <a:avLst/>
              <a:gdLst/>
              <a:ahLst/>
              <a:cxnLst/>
              <a:rect l="l" t="t" r="r" b="b"/>
              <a:pathLst>
                <a:path w="457200" h="590550">
                  <a:moveTo>
                    <a:pt x="0" y="0"/>
                  </a:moveTo>
                  <a:cubicBezTo>
                    <a:pt x="76200" y="254000"/>
                    <a:pt x="228600" y="450850"/>
                    <a:pt x="457200" y="590550"/>
                  </a:cubicBezTo>
                </a:path>
              </a:pathLst>
            </a:custGeom>
            <a:noFill/>
            <a:ln w="12382">
              <a:solidFill>
                <a:srgbClr val="C0442F"/>
              </a:solidFill>
            </a:ln>
          </p:spPr>
        </p:sp>
        <p:sp>
          <p:nvSpPr>
            <p:cNvPr id="81" name="Freeform 81"/>
            <p:cNvSpPr/>
            <p:nvPr/>
          </p:nvSpPr>
          <p:spPr>
            <a:xfrm>
              <a:off x="10496550" y="5429250"/>
              <a:ext cx="457200" cy="590550"/>
            </a:xfrm>
            <a:custGeom>
              <a:avLst/>
              <a:gdLst/>
              <a:ahLst/>
              <a:cxnLst/>
              <a:rect l="l" t="t" r="r" b="b"/>
              <a:pathLst>
                <a:path w="457200" h="590550">
                  <a:moveTo>
                    <a:pt x="457200" y="0"/>
                  </a:moveTo>
                  <a:cubicBezTo>
                    <a:pt x="381000" y="254000"/>
                    <a:pt x="228600" y="450850"/>
                    <a:pt x="0" y="590550"/>
                  </a:cubicBezTo>
                </a:path>
              </a:pathLst>
            </a:custGeom>
            <a:noFill/>
            <a:ln w="12382">
              <a:solidFill>
                <a:srgbClr val="C0442F"/>
              </a:solidFill>
            </a:ln>
          </p:spPr>
        </p:sp>
        <p:sp>
          <p:nvSpPr>
            <p:cNvPr id="82" name="TextBox 82"/>
            <p:cNvSpPr txBox="1"/>
            <p:nvPr/>
          </p:nvSpPr>
          <p:spPr>
            <a:xfrm>
              <a:off x="2226031" y="6219349"/>
              <a:ext cx="405689" cy="190690"/>
            </a:xfrm>
            <a:prstGeom prst="rect">
              <a:avLst/>
            </a:prstGeom>
            <a:noFill/>
            <a:ln>
              <a:noFill/>
            </a:ln>
          </p:spPr>
          <p:txBody>
            <a:bodyPr wrap="none" lIns="0" tIns="0" rIns="0" bIns="0" anchor="t" anchorCtr="0">
              <a:spAutoFit/>
            </a:bodyPr>
            <a:lstStyle/>
            <a:p>
              <a:pPr algn="ctr"/>
              <a:r>
                <a:rPr lang="zh-CN" sz="980" dirty="0">
                  <a:solidFill>
                    <a:srgbClr val="C0442F"/>
                  </a:solidFill>
                  <a:latin typeface="+mn-lt"/>
                  <a:ea typeface="+mn-ea"/>
                  <a:cs typeface="+mn-cs"/>
                </a:rPr>
                <a:t>★★★</a:t>
              </a:r>
            </a:p>
          </p:txBody>
        </p:sp>
        <p:sp>
          <p:nvSpPr>
            <p:cNvPr id="83" name="TextBox 83"/>
            <p:cNvSpPr txBox="1"/>
            <p:nvPr/>
          </p:nvSpPr>
          <p:spPr>
            <a:xfrm>
              <a:off x="5893156" y="6219349"/>
              <a:ext cx="405689" cy="190690"/>
            </a:xfrm>
            <a:prstGeom prst="rect">
              <a:avLst/>
            </a:prstGeom>
            <a:noFill/>
            <a:ln>
              <a:noFill/>
            </a:ln>
          </p:spPr>
          <p:txBody>
            <a:bodyPr wrap="none" lIns="0" tIns="0" rIns="0" bIns="0" anchor="t" anchorCtr="0">
              <a:spAutoFit/>
            </a:bodyPr>
            <a:lstStyle/>
            <a:p>
              <a:pPr algn="ctr"/>
              <a:r>
                <a:rPr lang="zh-CN" sz="980" dirty="0">
                  <a:solidFill>
                    <a:srgbClr val="C0442F"/>
                  </a:solidFill>
                  <a:latin typeface="+mn-lt"/>
                  <a:ea typeface="+mn-ea"/>
                  <a:cs typeface="+mn-cs"/>
                </a:rPr>
                <a:t>★★★</a:t>
              </a:r>
            </a:p>
          </p:txBody>
        </p:sp>
        <p:sp>
          <p:nvSpPr>
            <p:cNvPr id="84" name="TextBox 84"/>
            <p:cNvSpPr txBox="1"/>
            <p:nvPr/>
          </p:nvSpPr>
          <p:spPr>
            <a:xfrm>
              <a:off x="9560281" y="6219349"/>
              <a:ext cx="405689" cy="190690"/>
            </a:xfrm>
            <a:prstGeom prst="rect">
              <a:avLst/>
            </a:prstGeom>
            <a:noFill/>
            <a:ln>
              <a:noFill/>
            </a:ln>
          </p:spPr>
          <p:txBody>
            <a:bodyPr wrap="none" lIns="0" tIns="0" rIns="0" bIns="0" anchor="t" anchorCtr="0">
              <a:spAutoFit/>
            </a:bodyPr>
            <a:lstStyle/>
            <a:p>
              <a:pPr algn="ctr"/>
              <a:r>
                <a:rPr lang="zh-CN" sz="980" dirty="0">
                  <a:solidFill>
                    <a:srgbClr val="C0442F"/>
                  </a:solidFill>
                  <a:latin typeface="+mn-lt"/>
                  <a:ea typeface="+mn-ea"/>
                  <a:cs typeface="+mn-cs"/>
                </a:rPr>
                <a:t>★★★</a:t>
              </a:r>
            </a:p>
          </p:txBody>
        </p:sp>
      </p:gr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72​​</a:t>
              </a:r>
            </a:p>
          </p:txBody>
        </p:sp>
        <p:sp>
          <p:nvSpPr>
            <p:cNvPr id="4" name="TextBox 4"/>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流量转化情况分析​</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49" name="card-sales"/>
          <p:cNvGrpSpPr/>
          <p:nvPr/>
        </p:nvGrpSpPr>
        <p:grpSpPr>
          <a:xfrm>
            <a:off x="342900" y="847725"/>
            <a:ext cx="4114800" cy="5581650"/>
            <a:chOff x="342900" y="847725"/>
            <a:chExt cx="4114800" cy="5581650"/>
          </a:xfrm>
        </p:grpSpPr>
        <p:sp>
          <p:nvSpPr>
            <p:cNvPr id="7" name="Rectangle 7"/>
            <p:cNvSpPr/>
            <p:nvPr/>
          </p:nvSpPr>
          <p:spPr>
            <a:xfrm>
              <a:off x="342900" y="847725"/>
              <a:ext cx="4114800" cy="5581650"/>
            </a:xfrm>
            <a:prstGeom prst="roundRect">
              <a:avLst>
                <a:gd name="adj" fmla="val 2778"/>
              </a:avLst>
            </a:prstGeom>
            <a:solidFill>
              <a:srgbClr val="FFFFFF"/>
            </a:solidFill>
            <a:ln w="14288">
              <a:solidFill>
                <a:srgbClr val="E2E6F7"/>
              </a:solidFill>
            </a:ln>
          </p:spPr>
        </p:sp>
        <p:sp>
          <p:nvSpPr>
            <p:cNvPr id="8" name="Rectangle 8"/>
            <p:cNvSpPr/>
            <p:nvPr/>
          </p:nvSpPr>
          <p:spPr>
            <a:xfrm>
              <a:off x="533400" y="1000125"/>
              <a:ext cx="285750" cy="285750"/>
            </a:xfrm>
            <a:prstGeom prst="roundRect">
              <a:avLst>
                <a:gd name="adj" fmla="val 13333"/>
              </a:avLst>
            </a:prstGeom>
            <a:solidFill>
              <a:srgbClr val="E8634C"/>
            </a:solidFill>
            <a:ln>
              <a:noFill/>
            </a:ln>
          </p:spPr>
        </p:sp>
        <p:sp>
          <p:nvSpPr>
            <p:cNvPr id="9" name="TextBox 9"/>
            <p:cNvSpPr txBox="1"/>
            <p:nvPr/>
          </p:nvSpPr>
          <p:spPr>
            <a:xfrm>
              <a:off x="520531" y="1072039"/>
              <a:ext cx="311487"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1​​</a:t>
              </a:r>
            </a:p>
          </p:txBody>
        </p:sp>
        <p:sp>
          <p:nvSpPr>
            <p:cNvPr id="10" name="TextBox 10"/>
            <p:cNvSpPr txBox="1"/>
            <p:nvPr/>
          </p:nvSpPr>
          <p:spPr>
            <a:xfrm>
              <a:off x="908685" y="1088231"/>
              <a:ext cx="1217625" cy="220028"/>
            </a:xfrm>
            <a:prstGeom prst="rect">
              <a:avLst/>
            </a:prstGeom>
            <a:noFill/>
            <a:ln>
              <a:noFill/>
            </a:ln>
          </p:spPr>
          <p:txBody>
            <a:bodyPr wrap="none" lIns="0" tIns="0" rIns="0" bIns="0" anchor="t" anchorCtr="0">
              <a:spAutoFit/>
            </a:bodyPr>
            <a:lstStyle/>
            <a:p>
              <a:pPr algn="l"/>
              <a:r>
                <a:rPr lang="zh-CN" sz="1120" b="1" dirty="0">
                  <a:solidFill>
                    <a:srgbClr val="543E3A"/>
                  </a:solidFill>
                  <a:latin typeface="+mn-lt"/>
                  <a:ea typeface="+mn-ea"/>
                  <a:cs typeface="+mn-cs"/>
                </a:rPr>
                <a:t>全平台销售额分析</a:t>
              </a:r>
            </a:p>
          </p:txBody>
        </p:sp>
        <p:sp>
          <p:nvSpPr>
            <p:cNvPr id="11" name="TextBox 11"/>
            <p:cNvSpPr txBox="1"/>
            <p:nvPr/>
          </p:nvSpPr>
          <p:spPr>
            <a:xfrm>
              <a:off x="3574866" y="1102995"/>
              <a:ext cx="697097" cy="176212"/>
            </a:xfrm>
            <a:prstGeom prst="rect">
              <a:avLst/>
            </a:prstGeom>
            <a:noFill/>
            <a:ln>
              <a:noFill/>
            </a:ln>
          </p:spPr>
          <p:txBody>
            <a:bodyPr wrap="none" lIns="0" tIns="0" rIns="0" bIns="0" anchor="t" anchorCtr="0">
              <a:spAutoFit/>
            </a:bodyPr>
            <a:lstStyle/>
            <a:p>
              <a:pPr algn="r"/>
              <a:r>
                <a:rPr lang="zh-CN" sz="900" b="1" dirty="0">
                  <a:solidFill>
                    <a:srgbClr val="E8634C"/>
                  </a:solidFill>
                  <a:latin typeface="+mn-lt"/>
                  <a:ea typeface="+mn-ea"/>
                  <a:cs typeface="+mn-cs"/>
                </a:rPr>
                <a:t>同比+20%​​</a:t>
              </a:r>
            </a:p>
          </p:txBody>
        </p:sp>
        <p:sp>
          <p:nvSpPr>
            <p:cNvPr id="12" name="Line 12"/>
            <p:cNvSpPr/>
            <p:nvPr/>
          </p:nvSpPr>
          <p:spPr>
            <a:xfrm>
              <a:off x="533400" y="1390650"/>
              <a:ext cx="3733800" cy="9525"/>
            </a:xfrm>
            <a:custGeom>
              <a:avLst/>
              <a:gdLst/>
              <a:ahLst/>
              <a:cxnLst/>
              <a:rect l="l" t="t" r="r" b="b"/>
              <a:pathLst>
                <a:path w="3733800" h="9525">
                  <a:moveTo>
                    <a:pt x="0" y="0"/>
                  </a:moveTo>
                  <a:lnTo>
                    <a:pt x="3733800" y="0"/>
                  </a:lnTo>
                </a:path>
              </a:pathLst>
            </a:custGeom>
            <a:noFill/>
            <a:ln w="14288">
              <a:solidFill>
                <a:srgbClr val="D8DEF2"/>
              </a:solidFill>
            </a:ln>
          </p:spPr>
        </p:sp>
        <p:sp>
          <p:nvSpPr>
            <p:cNvPr id="13" name="TextBox 13"/>
            <p:cNvSpPr txBox="1"/>
            <p:nvPr/>
          </p:nvSpPr>
          <p:spPr>
            <a:xfrm>
              <a:off x="525780" y="1666875"/>
              <a:ext cx="2307650" cy="293370"/>
            </a:xfrm>
            <a:prstGeom prst="rect">
              <a:avLst/>
            </a:prstGeom>
            <a:noFill/>
            <a:ln>
              <a:noFill/>
            </a:ln>
          </p:spPr>
          <p:txBody>
            <a:bodyPr wrap="none" lIns="0" tIns="0" rIns="0" bIns="0" anchor="t" anchorCtr="0">
              <a:spAutoFit/>
            </a:bodyPr>
            <a:lstStyle/>
            <a:p>
              <a:pPr algn="l"/>
              <a:r>
                <a:rPr lang="zh-CN" sz="1500" b="1" dirty="0">
                  <a:solidFill>
                    <a:srgbClr val="1A1A1A"/>
                  </a:solidFill>
                  <a:latin typeface="+mn-lt"/>
                  <a:ea typeface="+mn-ea"/>
                  <a:cs typeface="+mn-cs"/>
                </a:rPr>
                <a:t>销售突破</a:t>
              </a:r>
              <a:r>
                <a:rPr lang="zh-CN" sz="2250" b="1" dirty="0">
                  <a:solidFill>
                    <a:srgbClr val="E8634C"/>
                  </a:solidFill>
                  <a:latin typeface="+mn-lt"/>
                  <a:ea typeface="+mn-ea"/>
                  <a:cs typeface="+mn-cs"/>
                </a:rPr>
                <a:t>22,347</a:t>
              </a:r>
              <a:r>
                <a:rPr lang="zh-CN" sz="1500" b="1" dirty="0">
                  <a:solidFill>
                    <a:srgbClr val="1A1A1A"/>
                  </a:solidFill>
                  <a:latin typeface="+mn-lt"/>
                  <a:ea typeface="+mn-ea"/>
                  <a:cs typeface="+mn-cs"/>
                </a:rPr>
                <a:t>万​​</a:t>
              </a:r>
            </a:p>
          </p:txBody>
        </p:sp>
        <p:sp>
          <p:nvSpPr>
            <p:cNvPr id="14" name="Freeform 14"/>
            <p:cNvSpPr/>
            <p:nvPr/>
          </p:nvSpPr>
          <p:spPr>
            <a:xfrm>
              <a:off x="2857500" y="1428750"/>
              <a:ext cx="590550" cy="476250"/>
            </a:xfrm>
            <a:custGeom>
              <a:avLst/>
              <a:gdLst/>
              <a:ahLst/>
              <a:cxnLst/>
              <a:rect l="l" t="t" r="r" b="b"/>
              <a:pathLst>
                <a:path w="590550" h="476250">
                  <a:moveTo>
                    <a:pt x="0" y="476250"/>
                  </a:moveTo>
                  <a:cubicBezTo>
                    <a:pt x="190500" y="209550"/>
                    <a:pt x="387350" y="50800"/>
                    <a:pt x="590550" y="0"/>
                  </a:cubicBezTo>
                </a:path>
              </a:pathLst>
            </a:custGeom>
            <a:noFill/>
            <a:ln w="38100">
              <a:solidFill>
                <a:srgbClr val="E08C7B"/>
              </a:solidFill>
              <a:tailEnd type="triangle" w="lg" len="lg"/>
            </a:ln>
          </p:spPr>
        </p:sp>
        <p:sp>
          <p:nvSpPr>
            <p:cNvPr id="15" name="TextBox 15"/>
            <p:cNvSpPr txBox="1"/>
            <p:nvPr/>
          </p:nvSpPr>
          <p:spPr>
            <a:xfrm>
              <a:off x="528638" y="2021443"/>
              <a:ext cx="2450592" cy="340519"/>
            </a:xfrm>
            <a:prstGeom prst="rect">
              <a:avLst/>
            </a:prstGeom>
            <a:noFill/>
            <a:ln>
              <a:noFill/>
            </a:ln>
          </p:spPr>
          <p:txBody>
            <a:bodyPr wrap="none" lIns="0" tIns="0" rIns="0" bIns="0" anchor="t" anchorCtr="0">
              <a:spAutoFit/>
            </a:bodyPr>
            <a:lstStyle/>
            <a:p>
              <a:pPr algn="l">
                <a:lnSpc>
                  <a:spcPts val="1350"/>
                </a:lnSpc>
              </a:pPr>
              <a:r>
                <a:rPr lang="zh-CN" sz="860" dirty="0">
                  <a:solidFill>
                    <a:srgbClr val="88706B"/>
                  </a:solidFill>
                  <a:latin typeface="+mn-lt"/>
                  <a:ea typeface="+mn-ea"/>
                  <a:cs typeface="+mn-cs"/>
                </a:rPr>
                <a:t>较上年升20%，扩市场份额10%，红书电商平台​​​</a:t>
              </a:r>
              <a:br/>
              <a:r>
                <a:rPr lang="zh-CN" sz="860" dirty="0">
                  <a:solidFill>
                    <a:srgbClr val="88706B"/>
                  </a:solidFill>
                  <a:latin typeface="+mn-lt"/>
                  <a:ea typeface="+mn-ea"/>
                  <a:cs typeface="+mn-cs"/>
                </a:rPr>
                <a:t>销量前10名​​</a:t>
              </a:r>
            </a:p>
          </p:txBody>
        </p:sp>
        <p:sp>
          <p:nvSpPr>
            <p:cNvPr id="16" name="Rectangle 16"/>
            <p:cNvSpPr/>
            <p:nvPr/>
          </p:nvSpPr>
          <p:spPr>
            <a:xfrm>
              <a:off x="3143250" y="2438400"/>
              <a:ext cx="76200" cy="76200"/>
            </a:xfrm>
            <a:prstGeom prst="rect">
              <a:avLst/>
            </a:prstGeom>
            <a:solidFill>
              <a:srgbClr val="C45F4A"/>
            </a:solidFill>
            <a:ln>
              <a:noFill/>
            </a:ln>
          </p:spPr>
        </p:sp>
        <p:sp>
          <p:nvSpPr>
            <p:cNvPr id="17" name="TextBox 17"/>
            <p:cNvSpPr txBox="1"/>
            <p:nvPr/>
          </p:nvSpPr>
          <p:spPr>
            <a:xfrm>
              <a:off x="3262312" y="2433638"/>
              <a:ext cx="443674" cy="147638"/>
            </a:xfrm>
            <a:prstGeom prst="rect">
              <a:avLst/>
            </a:prstGeom>
            <a:noFill/>
            <a:ln>
              <a:noFill/>
            </a:ln>
          </p:spPr>
          <p:txBody>
            <a:bodyPr wrap="none" lIns="0" tIns="0" rIns="0" bIns="0" anchor="t" anchorCtr="0">
              <a:spAutoFit/>
            </a:bodyPr>
            <a:lstStyle/>
            <a:p>
              <a:pPr algn="l"/>
              <a:r>
                <a:rPr lang="zh-CN" sz="750" dirty="0">
                  <a:solidFill>
                    <a:srgbClr val="88706B"/>
                  </a:solidFill>
                  <a:latin typeface="+mn-lt"/>
                  <a:ea typeface="+mn-ea"/>
                  <a:cs typeface="+mn-cs"/>
                </a:rPr>
                <a:t>抖 销售量</a:t>
              </a:r>
            </a:p>
          </p:txBody>
        </p:sp>
        <p:sp>
          <p:nvSpPr>
            <p:cNvPr id="18" name="Rectangle 18"/>
            <p:cNvSpPr/>
            <p:nvPr/>
          </p:nvSpPr>
          <p:spPr>
            <a:xfrm>
              <a:off x="3143250" y="2590800"/>
              <a:ext cx="76200" cy="76200"/>
            </a:xfrm>
            <a:prstGeom prst="rect">
              <a:avLst/>
            </a:prstGeom>
            <a:solidFill>
              <a:srgbClr val="E8634C"/>
            </a:solidFill>
            <a:ln>
              <a:noFill/>
            </a:ln>
          </p:spPr>
        </p:sp>
        <p:sp>
          <p:nvSpPr>
            <p:cNvPr id="19" name="TextBox 19"/>
            <p:cNvSpPr txBox="1"/>
            <p:nvPr/>
          </p:nvSpPr>
          <p:spPr>
            <a:xfrm>
              <a:off x="3262312" y="2586038"/>
              <a:ext cx="443674" cy="147638"/>
            </a:xfrm>
            <a:prstGeom prst="rect">
              <a:avLst/>
            </a:prstGeom>
            <a:noFill/>
            <a:ln>
              <a:noFill/>
            </a:ln>
          </p:spPr>
          <p:txBody>
            <a:bodyPr wrap="none" lIns="0" tIns="0" rIns="0" bIns="0" anchor="t" anchorCtr="0">
              <a:spAutoFit/>
            </a:bodyPr>
            <a:lstStyle/>
            <a:p>
              <a:pPr algn="l"/>
              <a:r>
                <a:rPr lang="zh-CN" sz="750" dirty="0">
                  <a:solidFill>
                    <a:srgbClr val="88706B"/>
                  </a:solidFill>
                  <a:latin typeface="+mn-lt"/>
                  <a:ea typeface="+mn-ea"/>
                  <a:cs typeface="+mn-cs"/>
                </a:rPr>
                <a:t>红 销售量</a:t>
              </a:r>
            </a:p>
          </p:txBody>
        </p:sp>
        <p:sp>
          <p:nvSpPr>
            <p:cNvPr id="20" name="Line 20"/>
            <p:cNvSpPr/>
            <p:nvPr/>
          </p:nvSpPr>
          <p:spPr>
            <a:xfrm>
              <a:off x="742950" y="2752725"/>
              <a:ext cx="3495675" cy="9525"/>
            </a:xfrm>
            <a:custGeom>
              <a:avLst/>
              <a:gdLst/>
              <a:ahLst/>
              <a:cxnLst/>
              <a:rect l="l" t="t" r="r" b="b"/>
              <a:pathLst>
                <a:path w="3495675" h="9525">
                  <a:moveTo>
                    <a:pt x="0" y="0"/>
                  </a:moveTo>
                  <a:lnTo>
                    <a:pt x="3495675" y="0"/>
                  </a:lnTo>
                </a:path>
              </a:pathLst>
            </a:custGeom>
            <a:noFill/>
            <a:ln w="9525">
              <a:solidFill>
                <a:srgbClr val="EDEFF9"/>
              </a:solidFill>
            </a:ln>
          </p:spPr>
        </p:sp>
        <p:sp>
          <p:nvSpPr>
            <p:cNvPr id="21" name="Line 21"/>
            <p:cNvSpPr/>
            <p:nvPr/>
          </p:nvSpPr>
          <p:spPr>
            <a:xfrm>
              <a:off x="742950" y="3171825"/>
              <a:ext cx="3495675" cy="9525"/>
            </a:xfrm>
            <a:custGeom>
              <a:avLst/>
              <a:gdLst/>
              <a:ahLst/>
              <a:cxnLst/>
              <a:rect l="l" t="t" r="r" b="b"/>
              <a:pathLst>
                <a:path w="3495675" h="9525">
                  <a:moveTo>
                    <a:pt x="0" y="0"/>
                  </a:moveTo>
                  <a:lnTo>
                    <a:pt x="3495675" y="0"/>
                  </a:lnTo>
                </a:path>
              </a:pathLst>
            </a:custGeom>
            <a:noFill/>
            <a:ln w="9525">
              <a:solidFill>
                <a:srgbClr val="EDEFF9"/>
              </a:solidFill>
            </a:ln>
          </p:spPr>
        </p:sp>
        <p:sp>
          <p:nvSpPr>
            <p:cNvPr id="22" name="Line 22"/>
            <p:cNvSpPr/>
            <p:nvPr/>
          </p:nvSpPr>
          <p:spPr>
            <a:xfrm>
              <a:off x="742950" y="3581400"/>
              <a:ext cx="3495675" cy="9525"/>
            </a:xfrm>
            <a:custGeom>
              <a:avLst/>
              <a:gdLst/>
              <a:ahLst/>
              <a:cxnLst/>
              <a:rect l="l" t="t" r="r" b="b"/>
              <a:pathLst>
                <a:path w="3495675" h="9525">
                  <a:moveTo>
                    <a:pt x="0" y="0"/>
                  </a:moveTo>
                  <a:lnTo>
                    <a:pt x="3495675" y="0"/>
                  </a:lnTo>
                </a:path>
              </a:pathLst>
            </a:custGeom>
            <a:noFill/>
            <a:ln w="9525">
              <a:solidFill>
                <a:srgbClr val="EDEFF9"/>
              </a:solidFill>
            </a:ln>
          </p:spPr>
        </p:sp>
        <p:sp>
          <p:nvSpPr>
            <p:cNvPr id="23" name="Line 23"/>
            <p:cNvSpPr/>
            <p:nvPr/>
          </p:nvSpPr>
          <p:spPr>
            <a:xfrm>
              <a:off x="742950" y="4000500"/>
              <a:ext cx="3495675" cy="9525"/>
            </a:xfrm>
            <a:custGeom>
              <a:avLst/>
              <a:gdLst/>
              <a:ahLst/>
              <a:cxnLst/>
              <a:rect l="l" t="t" r="r" b="b"/>
              <a:pathLst>
                <a:path w="3495675" h="9525">
                  <a:moveTo>
                    <a:pt x="0" y="0"/>
                  </a:moveTo>
                  <a:lnTo>
                    <a:pt x="3495675" y="0"/>
                  </a:lnTo>
                </a:path>
              </a:pathLst>
            </a:custGeom>
            <a:noFill/>
            <a:ln w="9525">
              <a:solidFill>
                <a:srgbClr val="EDEFF9"/>
              </a:solidFill>
            </a:ln>
          </p:spPr>
        </p:sp>
        <p:sp>
          <p:nvSpPr>
            <p:cNvPr id="24" name="Line 24"/>
            <p:cNvSpPr/>
            <p:nvPr/>
          </p:nvSpPr>
          <p:spPr>
            <a:xfrm>
              <a:off x="742950" y="4419600"/>
              <a:ext cx="3495675" cy="9525"/>
            </a:xfrm>
            <a:custGeom>
              <a:avLst/>
              <a:gdLst/>
              <a:ahLst/>
              <a:cxnLst/>
              <a:rect l="l" t="t" r="r" b="b"/>
              <a:pathLst>
                <a:path w="3495675" h="9525">
                  <a:moveTo>
                    <a:pt x="0" y="0"/>
                  </a:moveTo>
                  <a:lnTo>
                    <a:pt x="3495675" y="0"/>
                  </a:lnTo>
                </a:path>
              </a:pathLst>
            </a:custGeom>
            <a:noFill/>
            <a:ln w="9525">
              <a:solidFill>
                <a:srgbClr val="EDEFF9"/>
              </a:solidFill>
            </a:ln>
          </p:spPr>
        </p:sp>
        <p:sp>
          <p:nvSpPr>
            <p:cNvPr id="25" name="Line 25"/>
            <p:cNvSpPr/>
            <p:nvPr/>
          </p:nvSpPr>
          <p:spPr>
            <a:xfrm>
              <a:off x="742950" y="4829175"/>
              <a:ext cx="3495675" cy="9525"/>
            </a:xfrm>
            <a:custGeom>
              <a:avLst/>
              <a:gdLst/>
              <a:ahLst/>
              <a:cxnLst/>
              <a:rect l="l" t="t" r="r" b="b"/>
              <a:pathLst>
                <a:path w="3495675" h="9525">
                  <a:moveTo>
                    <a:pt x="0" y="0"/>
                  </a:moveTo>
                  <a:lnTo>
                    <a:pt x="3495675" y="0"/>
                  </a:lnTo>
                </a:path>
              </a:pathLst>
            </a:custGeom>
            <a:noFill/>
            <a:ln w="9525">
              <a:solidFill>
                <a:srgbClr val="EDEFF9"/>
              </a:solidFill>
            </a:ln>
          </p:spPr>
        </p:sp>
        <p:sp>
          <p:nvSpPr>
            <p:cNvPr id="26" name="Line 26"/>
            <p:cNvSpPr/>
            <p:nvPr/>
          </p:nvSpPr>
          <p:spPr>
            <a:xfrm>
              <a:off x="742950" y="5248275"/>
              <a:ext cx="3495675" cy="9525"/>
            </a:xfrm>
            <a:custGeom>
              <a:avLst/>
              <a:gdLst/>
              <a:ahLst/>
              <a:cxnLst/>
              <a:rect l="l" t="t" r="r" b="b"/>
              <a:pathLst>
                <a:path w="3495675" h="9525">
                  <a:moveTo>
                    <a:pt x="0" y="0"/>
                  </a:moveTo>
                  <a:lnTo>
                    <a:pt x="3495675" y="0"/>
                  </a:lnTo>
                </a:path>
              </a:pathLst>
            </a:custGeom>
            <a:noFill/>
            <a:ln w="9525">
              <a:solidFill>
                <a:srgbClr val="EDEFF9"/>
              </a:solidFill>
            </a:ln>
          </p:spPr>
        </p:sp>
        <p:sp>
          <p:nvSpPr>
            <p:cNvPr id="27" name="TextBox 27"/>
            <p:cNvSpPr txBox="1"/>
            <p:nvPr/>
          </p:nvSpPr>
          <p:spPr>
            <a:xfrm>
              <a:off x="429298" y="2717959"/>
              <a:ext cx="261264" cy="133350"/>
            </a:xfrm>
            <a:prstGeom prst="rect">
              <a:avLst/>
            </a:prstGeom>
            <a:noFill/>
            <a:ln>
              <a:noFill/>
            </a:ln>
          </p:spPr>
          <p:txBody>
            <a:bodyPr wrap="none" lIns="0" tIns="0" rIns="0" bIns="0" anchor="t" anchorCtr="0">
              <a:spAutoFit/>
            </a:bodyPr>
            <a:lstStyle/>
            <a:p>
              <a:pPr algn="r"/>
              <a:r>
                <a:rPr lang="zh-CN" sz="680" dirty="0">
                  <a:solidFill>
                    <a:srgbClr val="9AA1B8"/>
                  </a:solidFill>
                  <a:latin typeface="+mn-lt"/>
                  <a:ea typeface="+mn-ea"/>
                  <a:cs typeface="+mn-cs"/>
                </a:rPr>
                <a:t>700​​</a:t>
              </a:r>
            </a:p>
          </p:txBody>
        </p:sp>
        <p:sp>
          <p:nvSpPr>
            <p:cNvPr id="28" name="TextBox 28"/>
            <p:cNvSpPr txBox="1"/>
            <p:nvPr/>
          </p:nvSpPr>
          <p:spPr>
            <a:xfrm>
              <a:off x="429298" y="3137059"/>
              <a:ext cx="261264" cy="133350"/>
            </a:xfrm>
            <a:prstGeom prst="rect">
              <a:avLst/>
            </a:prstGeom>
            <a:noFill/>
            <a:ln>
              <a:noFill/>
            </a:ln>
          </p:spPr>
          <p:txBody>
            <a:bodyPr wrap="none" lIns="0" tIns="0" rIns="0" bIns="0" anchor="t" anchorCtr="0">
              <a:spAutoFit/>
            </a:bodyPr>
            <a:lstStyle/>
            <a:p>
              <a:pPr algn="r"/>
              <a:r>
                <a:rPr lang="zh-CN" sz="680" dirty="0">
                  <a:solidFill>
                    <a:srgbClr val="9AA1B8"/>
                  </a:solidFill>
                  <a:latin typeface="+mn-lt"/>
                  <a:ea typeface="+mn-ea"/>
                  <a:cs typeface="+mn-cs"/>
                </a:rPr>
                <a:t>600​​</a:t>
              </a:r>
            </a:p>
          </p:txBody>
        </p:sp>
        <p:sp>
          <p:nvSpPr>
            <p:cNvPr id="29" name="TextBox 29"/>
            <p:cNvSpPr txBox="1"/>
            <p:nvPr/>
          </p:nvSpPr>
          <p:spPr>
            <a:xfrm>
              <a:off x="429298" y="3546634"/>
              <a:ext cx="261264" cy="133350"/>
            </a:xfrm>
            <a:prstGeom prst="rect">
              <a:avLst/>
            </a:prstGeom>
            <a:noFill/>
            <a:ln>
              <a:noFill/>
            </a:ln>
          </p:spPr>
          <p:txBody>
            <a:bodyPr wrap="none" lIns="0" tIns="0" rIns="0" bIns="0" anchor="t" anchorCtr="0">
              <a:spAutoFit/>
            </a:bodyPr>
            <a:lstStyle/>
            <a:p>
              <a:pPr algn="r"/>
              <a:r>
                <a:rPr lang="zh-CN" sz="680" dirty="0">
                  <a:solidFill>
                    <a:srgbClr val="9AA1B8"/>
                  </a:solidFill>
                  <a:latin typeface="+mn-lt"/>
                  <a:ea typeface="+mn-ea"/>
                  <a:cs typeface="+mn-cs"/>
                </a:rPr>
                <a:t>500​​</a:t>
              </a:r>
            </a:p>
          </p:txBody>
        </p:sp>
        <p:sp>
          <p:nvSpPr>
            <p:cNvPr id="30" name="TextBox 30"/>
            <p:cNvSpPr txBox="1"/>
            <p:nvPr/>
          </p:nvSpPr>
          <p:spPr>
            <a:xfrm>
              <a:off x="429298" y="3965734"/>
              <a:ext cx="261264" cy="133350"/>
            </a:xfrm>
            <a:prstGeom prst="rect">
              <a:avLst/>
            </a:prstGeom>
            <a:noFill/>
            <a:ln>
              <a:noFill/>
            </a:ln>
          </p:spPr>
          <p:txBody>
            <a:bodyPr wrap="none" lIns="0" tIns="0" rIns="0" bIns="0" anchor="t" anchorCtr="0">
              <a:spAutoFit/>
            </a:bodyPr>
            <a:lstStyle/>
            <a:p>
              <a:pPr algn="r"/>
              <a:r>
                <a:rPr lang="zh-CN" sz="680" dirty="0">
                  <a:solidFill>
                    <a:srgbClr val="9AA1B8"/>
                  </a:solidFill>
                  <a:latin typeface="+mn-lt"/>
                  <a:ea typeface="+mn-ea"/>
                  <a:cs typeface="+mn-cs"/>
                </a:rPr>
                <a:t>400​​</a:t>
              </a:r>
            </a:p>
          </p:txBody>
        </p:sp>
        <p:sp>
          <p:nvSpPr>
            <p:cNvPr id="31" name="TextBox 31"/>
            <p:cNvSpPr txBox="1"/>
            <p:nvPr/>
          </p:nvSpPr>
          <p:spPr>
            <a:xfrm>
              <a:off x="429298" y="4384834"/>
              <a:ext cx="261264" cy="133350"/>
            </a:xfrm>
            <a:prstGeom prst="rect">
              <a:avLst/>
            </a:prstGeom>
            <a:noFill/>
            <a:ln>
              <a:noFill/>
            </a:ln>
          </p:spPr>
          <p:txBody>
            <a:bodyPr wrap="none" lIns="0" tIns="0" rIns="0" bIns="0" anchor="t" anchorCtr="0">
              <a:spAutoFit/>
            </a:bodyPr>
            <a:lstStyle/>
            <a:p>
              <a:pPr algn="r"/>
              <a:r>
                <a:rPr lang="zh-CN" sz="680" dirty="0">
                  <a:solidFill>
                    <a:srgbClr val="9AA1B8"/>
                  </a:solidFill>
                  <a:latin typeface="+mn-lt"/>
                  <a:ea typeface="+mn-ea"/>
                  <a:cs typeface="+mn-cs"/>
                </a:rPr>
                <a:t>300​​</a:t>
              </a:r>
            </a:p>
          </p:txBody>
        </p:sp>
        <p:sp>
          <p:nvSpPr>
            <p:cNvPr id="32" name="TextBox 32"/>
            <p:cNvSpPr txBox="1"/>
            <p:nvPr/>
          </p:nvSpPr>
          <p:spPr>
            <a:xfrm>
              <a:off x="429298" y="4794409"/>
              <a:ext cx="261264" cy="133350"/>
            </a:xfrm>
            <a:prstGeom prst="rect">
              <a:avLst/>
            </a:prstGeom>
            <a:noFill/>
            <a:ln>
              <a:noFill/>
            </a:ln>
          </p:spPr>
          <p:txBody>
            <a:bodyPr wrap="none" lIns="0" tIns="0" rIns="0" bIns="0" anchor="t" anchorCtr="0">
              <a:spAutoFit/>
            </a:bodyPr>
            <a:lstStyle/>
            <a:p>
              <a:pPr algn="r"/>
              <a:r>
                <a:rPr lang="zh-CN" sz="680" dirty="0">
                  <a:solidFill>
                    <a:srgbClr val="9AA1B8"/>
                  </a:solidFill>
                  <a:latin typeface="+mn-lt"/>
                  <a:ea typeface="+mn-ea"/>
                  <a:cs typeface="+mn-cs"/>
                </a:rPr>
                <a:t>200​​</a:t>
              </a:r>
            </a:p>
          </p:txBody>
        </p:sp>
        <p:sp>
          <p:nvSpPr>
            <p:cNvPr id="33" name="TextBox 33"/>
            <p:cNvSpPr txBox="1"/>
            <p:nvPr/>
          </p:nvSpPr>
          <p:spPr>
            <a:xfrm>
              <a:off x="429298" y="5213509"/>
              <a:ext cx="261264" cy="133350"/>
            </a:xfrm>
            <a:prstGeom prst="rect">
              <a:avLst/>
            </a:prstGeom>
            <a:noFill/>
            <a:ln>
              <a:noFill/>
            </a:ln>
          </p:spPr>
          <p:txBody>
            <a:bodyPr wrap="none" lIns="0" tIns="0" rIns="0" bIns="0" anchor="t" anchorCtr="0">
              <a:spAutoFit/>
            </a:bodyPr>
            <a:lstStyle/>
            <a:p>
              <a:pPr algn="r"/>
              <a:r>
                <a:rPr lang="zh-CN" sz="680" dirty="0">
                  <a:solidFill>
                    <a:srgbClr val="9AA1B8"/>
                  </a:solidFill>
                  <a:latin typeface="+mn-lt"/>
                  <a:ea typeface="+mn-ea"/>
                  <a:cs typeface="+mn-cs"/>
                </a:rPr>
                <a:t>100​​</a:t>
              </a:r>
            </a:p>
          </p:txBody>
        </p:sp>
        <p:sp>
          <p:nvSpPr>
            <p:cNvPr id="34" name="Freeform 34"/>
            <p:cNvSpPr/>
            <p:nvPr/>
          </p:nvSpPr>
          <p:spPr>
            <a:xfrm>
              <a:off x="762000" y="3295650"/>
              <a:ext cx="3429000" cy="2324100"/>
            </a:xfrm>
            <a:custGeom>
              <a:avLst/>
              <a:gdLst/>
              <a:ahLst/>
              <a:cxnLst/>
              <a:rect l="l" t="t" r="r" b="b"/>
              <a:pathLst>
                <a:path w="3429000" h="2324100">
                  <a:moveTo>
                    <a:pt x="0" y="2324100"/>
                  </a:moveTo>
                  <a:lnTo>
                    <a:pt x="0" y="990600"/>
                  </a:lnTo>
                  <a:lnTo>
                    <a:pt x="285750" y="742950"/>
                  </a:lnTo>
                  <a:lnTo>
                    <a:pt x="571500" y="581025"/>
                  </a:lnTo>
                  <a:lnTo>
                    <a:pt x="857250" y="457200"/>
                  </a:lnTo>
                  <a:lnTo>
                    <a:pt x="1143000" y="371475"/>
                  </a:lnTo>
                  <a:lnTo>
                    <a:pt x="1428750" y="76200"/>
                  </a:lnTo>
                  <a:lnTo>
                    <a:pt x="1714500" y="0"/>
                  </a:lnTo>
                  <a:lnTo>
                    <a:pt x="2000250" y="76200"/>
                  </a:lnTo>
                  <a:lnTo>
                    <a:pt x="2286000" y="161925"/>
                  </a:lnTo>
                  <a:lnTo>
                    <a:pt x="2571750" y="123825"/>
                  </a:lnTo>
                  <a:lnTo>
                    <a:pt x="2857500" y="57150"/>
                  </a:lnTo>
                  <a:lnTo>
                    <a:pt x="3143250" y="0"/>
                  </a:lnTo>
                  <a:lnTo>
                    <a:pt x="3429000" y="0"/>
                  </a:lnTo>
                  <a:lnTo>
                    <a:pt x="3429000" y="2324100"/>
                  </a:lnTo>
                  <a:close/>
                </a:path>
              </a:pathLst>
            </a:custGeom>
            <a:gradFill>
              <a:gsLst>
                <a:gs pos="0">
                  <a:srgbClr val="E8634C">
                    <a:alpha val="85000"/>
                  </a:srgbClr>
                </a:gs>
                <a:gs pos="100000">
                  <a:srgbClr val="E8634C">
                    <a:alpha val="8000"/>
                  </a:srgbClr>
                </a:gs>
              </a:gsLst>
              <a:lin ang="5400000" scaled="1"/>
            </a:gradFill>
            <a:ln>
              <a:noFill/>
            </a:ln>
          </p:spPr>
        </p:sp>
        <p:sp>
          <p:nvSpPr>
            <p:cNvPr id="35" name="Freeform 35"/>
            <p:cNvSpPr/>
            <p:nvPr/>
          </p:nvSpPr>
          <p:spPr>
            <a:xfrm>
              <a:off x="762000" y="4895850"/>
              <a:ext cx="3429000" cy="723900"/>
            </a:xfrm>
            <a:custGeom>
              <a:avLst/>
              <a:gdLst/>
              <a:ahLst/>
              <a:cxnLst/>
              <a:rect l="l" t="t" r="r" b="b"/>
              <a:pathLst>
                <a:path w="3429000" h="723900">
                  <a:moveTo>
                    <a:pt x="0" y="723900"/>
                  </a:moveTo>
                  <a:lnTo>
                    <a:pt x="0" y="180975"/>
                  </a:lnTo>
                  <a:lnTo>
                    <a:pt x="285750" y="57150"/>
                  </a:lnTo>
                  <a:lnTo>
                    <a:pt x="571500" y="104775"/>
                  </a:lnTo>
                  <a:lnTo>
                    <a:pt x="857250" y="19050"/>
                  </a:lnTo>
                  <a:lnTo>
                    <a:pt x="1143000" y="57150"/>
                  </a:lnTo>
                  <a:lnTo>
                    <a:pt x="1428750" y="0"/>
                  </a:lnTo>
                  <a:lnTo>
                    <a:pt x="1714500" y="38100"/>
                  </a:lnTo>
                  <a:lnTo>
                    <a:pt x="2000250" y="104775"/>
                  </a:lnTo>
                  <a:lnTo>
                    <a:pt x="2286000" y="19050"/>
                  </a:lnTo>
                  <a:lnTo>
                    <a:pt x="2571750" y="228600"/>
                  </a:lnTo>
                  <a:lnTo>
                    <a:pt x="2857500" y="57150"/>
                  </a:lnTo>
                  <a:lnTo>
                    <a:pt x="3143250" y="0"/>
                  </a:lnTo>
                  <a:lnTo>
                    <a:pt x="3429000" y="0"/>
                  </a:lnTo>
                  <a:lnTo>
                    <a:pt x="3429000" y="723900"/>
                  </a:lnTo>
                  <a:close/>
                </a:path>
              </a:pathLst>
            </a:custGeom>
            <a:gradFill>
              <a:gsLst>
                <a:gs pos="0">
                  <a:srgbClr val="C45F4A">
                    <a:alpha val="75000"/>
                  </a:srgbClr>
                </a:gs>
                <a:gs pos="100000">
                  <a:srgbClr val="C45F4A">
                    <a:alpha val="5000"/>
                  </a:srgbClr>
                </a:gs>
              </a:gsLst>
              <a:lin ang="5400000" scaled="1"/>
            </a:gradFill>
            <a:ln>
              <a:noFill/>
            </a:ln>
          </p:spPr>
        </p:sp>
        <p:sp>
          <p:nvSpPr>
            <p:cNvPr id="36" name="TextBox 36"/>
            <p:cNvSpPr txBox="1"/>
            <p:nvPr/>
          </p:nvSpPr>
          <p:spPr>
            <a:xfrm>
              <a:off x="63594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1月​​</a:t>
              </a:r>
            </a:p>
          </p:txBody>
        </p:sp>
        <p:sp>
          <p:nvSpPr>
            <p:cNvPr id="37" name="TextBox 37"/>
            <p:cNvSpPr txBox="1"/>
            <p:nvPr/>
          </p:nvSpPr>
          <p:spPr>
            <a:xfrm>
              <a:off x="92169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2月​​</a:t>
              </a:r>
            </a:p>
          </p:txBody>
        </p:sp>
        <p:sp>
          <p:nvSpPr>
            <p:cNvPr id="38" name="TextBox 38"/>
            <p:cNvSpPr txBox="1"/>
            <p:nvPr/>
          </p:nvSpPr>
          <p:spPr>
            <a:xfrm>
              <a:off x="120744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3月​​</a:t>
              </a:r>
            </a:p>
          </p:txBody>
        </p:sp>
        <p:sp>
          <p:nvSpPr>
            <p:cNvPr id="39" name="TextBox 39"/>
            <p:cNvSpPr txBox="1"/>
            <p:nvPr/>
          </p:nvSpPr>
          <p:spPr>
            <a:xfrm>
              <a:off x="149319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4月​​</a:t>
              </a:r>
            </a:p>
          </p:txBody>
        </p:sp>
        <p:sp>
          <p:nvSpPr>
            <p:cNvPr id="40" name="TextBox 40"/>
            <p:cNvSpPr txBox="1"/>
            <p:nvPr/>
          </p:nvSpPr>
          <p:spPr>
            <a:xfrm>
              <a:off x="177894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5月​​</a:t>
              </a:r>
            </a:p>
          </p:txBody>
        </p:sp>
        <p:sp>
          <p:nvSpPr>
            <p:cNvPr id="41" name="TextBox 41"/>
            <p:cNvSpPr txBox="1"/>
            <p:nvPr/>
          </p:nvSpPr>
          <p:spPr>
            <a:xfrm>
              <a:off x="206469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6月​​</a:t>
              </a:r>
            </a:p>
          </p:txBody>
        </p:sp>
        <p:sp>
          <p:nvSpPr>
            <p:cNvPr id="42" name="TextBox 42"/>
            <p:cNvSpPr txBox="1"/>
            <p:nvPr/>
          </p:nvSpPr>
          <p:spPr>
            <a:xfrm>
              <a:off x="235044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7月​​</a:t>
              </a:r>
            </a:p>
          </p:txBody>
        </p:sp>
        <p:sp>
          <p:nvSpPr>
            <p:cNvPr id="43" name="TextBox 43"/>
            <p:cNvSpPr txBox="1"/>
            <p:nvPr/>
          </p:nvSpPr>
          <p:spPr>
            <a:xfrm>
              <a:off x="263619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8月​​</a:t>
              </a:r>
            </a:p>
          </p:txBody>
        </p:sp>
        <p:sp>
          <p:nvSpPr>
            <p:cNvPr id="44" name="TextBox 44"/>
            <p:cNvSpPr txBox="1"/>
            <p:nvPr/>
          </p:nvSpPr>
          <p:spPr>
            <a:xfrm>
              <a:off x="292194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9月​​</a:t>
              </a:r>
            </a:p>
          </p:txBody>
        </p:sp>
        <p:sp>
          <p:nvSpPr>
            <p:cNvPr id="45" name="TextBox 45"/>
            <p:cNvSpPr txBox="1"/>
            <p:nvPr/>
          </p:nvSpPr>
          <p:spPr>
            <a:xfrm>
              <a:off x="3182521" y="571833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10月​​</a:t>
              </a:r>
            </a:p>
          </p:txBody>
        </p:sp>
        <p:sp>
          <p:nvSpPr>
            <p:cNvPr id="46" name="TextBox 46"/>
            <p:cNvSpPr txBox="1"/>
            <p:nvPr/>
          </p:nvSpPr>
          <p:spPr>
            <a:xfrm>
              <a:off x="3468271" y="571833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11月​​</a:t>
              </a:r>
            </a:p>
          </p:txBody>
        </p:sp>
        <p:sp>
          <p:nvSpPr>
            <p:cNvPr id="47" name="TextBox 47"/>
            <p:cNvSpPr txBox="1"/>
            <p:nvPr/>
          </p:nvSpPr>
          <p:spPr>
            <a:xfrm>
              <a:off x="3754021" y="571833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12月​​</a:t>
              </a:r>
            </a:p>
          </p:txBody>
        </p:sp>
        <p:sp>
          <p:nvSpPr>
            <p:cNvPr id="48" name="TextBox 48"/>
            <p:cNvSpPr txBox="1"/>
            <p:nvPr/>
          </p:nvSpPr>
          <p:spPr>
            <a:xfrm>
              <a:off x="4064945" y="571833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1月​​</a:t>
              </a:r>
            </a:p>
          </p:txBody>
        </p:sp>
      </p:grpSp>
      <p:grpSp>
        <p:nvGrpSpPr>
          <p:cNvPr id="91" name="card-traffic"/>
          <p:cNvGrpSpPr/>
          <p:nvPr/>
        </p:nvGrpSpPr>
        <p:grpSpPr>
          <a:xfrm>
            <a:off x="4514850" y="847725"/>
            <a:ext cx="3724275" cy="5581650"/>
            <a:chOff x="4514850" y="847725"/>
            <a:chExt cx="3724275" cy="5581650"/>
          </a:xfrm>
        </p:grpSpPr>
        <p:sp>
          <p:nvSpPr>
            <p:cNvPr id="50" name="Rectangle 50"/>
            <p:cNvSpPr/>
            <p:nvPr/>
          </p:nvSpPr>
          <p:spPr>
            <a:xfrm>
              <a:off x="4514850" y="847725"/>
              <a:ext cx="3724275" cy="5581650"/>
            </a:xfrm>
            <a:prstGeom prst="roundRect">
              <a:avLst>
                <a:gd name="adj" fmla="val 3069"/>
              </a:avLst>
            </a:prstGeom>
            <a:solidFill>
              <a:srgbClr val="FFFFFF"/>
            </a:solidFill>
            <a:ln w="14288">
              <a:solidFill>
                <a:srgbClr val="E2E6F7"/>
              </a:solidFill>
            </a:ln>
          </p:spPr>
        </p:sp>
        <p:sp>
          <p:nvSpPr>
            <p:cNvPr id="51" name="Rectangle 51"/>
            <p:cNvSpPr/>
            <p:nvPr/>
          </p:nvSpPr>
          <p:spPr>
            <a:xfrm>
              <a:off x="4705350" y="1000125"/>
              <a:ext cx="285750" cy="285750"/>
            </a:xfrm>
            <a:prstGeom prst="roundRect">
              <a:avLst>
                <a:gd name="adj" fmla="val 13333"/>
              </a:avLst>
            </a:prstGeom>
            <a:solidFill>
              <a:srgbClr val="E8634C"/>
            </a:solidFill>
            <a:ln>
              <a:noFill/>
            </a:ln>
          </p:spPr>
        </p:sp>
        <p:sp>
          <p:nvSpPr>
            <p:cNvPr id="52" name="TextBox 52"/>
            <p:cNvSpPr txBox="1"/>
            <p:nvPr/>
          </p:nvSpPr>
          <p:spPr>
            <a:xfrm>
              <a:off x="4692481" y="1072039"/>
              <a:ext cx="311487"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2​​</a:t>
              </a:r>
            </a:p>
          </p:txBody>
        </p:sp>
        <p:sp>
          <p:nvSpPr>
            <p:cNvPr id="53" name="TextBox 53"/>
            <p:cNvSpPr txBox="1"/>
            <p:nvPr/>
          </p:nvSpPr>
          <p:spPr>
            <a:xfrm>
              <a:off x="5080635" y="1088231"/>
              <a:ext cx="1066851" cy="220028"/>
            </a:xfrm>
            <a:prstGeom prst="rect">
              <a:avLst/>
            </a:prstGeom>
            <a:noFill/>
            <a:ln>
              <a:noFill/>
            </a:ln>
          </p:spPr>
          <p:txBody>
            <a:bodyPr wrap="none" lIns="0" tIns="0" rIns="0" bIns="0" anchor="t" anchorCtr="0">
              <a:spAutoFit/>
            </a:bodyPr>
            <a:lstStyle/>
            <a:p>
              <a:pPr algn="l"/>
              <a:r>
                <a:rPr lang="zh-CN" sz="1120" b="1" dirty="0">
                  <a:solidFill>
                    <a:srgbClr val="543E3A"/>
                  </a:solidFill>
                  <a:latin typeface="+mn-lt"/>
                  <a:ea typeface="+mn-ea"/>
                  <a:cs typeface="+mn-cs"/>
                </a:rPr>
                <a:t>全平台流量分析</a:t>
              </a:r>
            </a:p>
          </p:txBody>
        </p:sp>
        <p:sp>
          <p:nvSpPr>
            <p:cNvPr id="54" name="TextBox 54"/>
            <p:cNvSpPr txBox="1"/>
            <p:nvPr/>
          </p:nvSpPr>
          <p:spPr>
            <a:xfrm>
              <a:off x="7356291" y="1102995"/>
              <a:ext cx="697097" cy="176212"/>
            </a:xfrm>
            <a:prstGeom prst="rect">
              <a:avLst/>
            </a:prstGeom>
            <a:noFill/>
            <a:ln>
              <a:noFill/>
            </a:ln>
          </p:spPr>
          <p:txBody>
            <a:bodyPr wrap="none" lIns="0" tIns="0" rIns="0" bIns="0" anchor="t" anchorCtr="0">
              <a:spAutoFit/>
            </a:bodyPr>
            <a:lstStyle/>
            <a:p>
              <a:pPr algn="r"/>
              <a:r>
                <a:rPr lang="zh-CN" sz="900" b="1" dirty="0">
                  <a:solidFill>
                    <a:srgbClr val="E8634C"/>
                  </a:solidFill>
                  <a:latin typeface="+mn-lt"/>
                  <a:ea typeface="+mn-ea"/>
                  <a:cs typeface="+mn-cs"/>
                </a:rPr>
                <a:t>同比+20%​​</a:t>
              </a:r>
            </a:p>
          </p:txBody>
        </p:sp>
        <p:sp>
          <p:nvSpPr>
            <p:cNvPr id="55" name="Line 55"/>
            <p:cNvSpPr/>
            <p:nvPr/>
          </p:nvSpPr>
          <p:spPr>
            <a:xfrm>
              <a:off x="4705350" y="1390650"/>
              <a:ext cx="3343275" cy="9525"/>
            </a:xfrm>
            <a:custGeom>
              <a:avLst/>
              <a:gdLst/>
              <a:ahLst/>
              <a:cxnLst/>
              <a:rect l="l" t="t" r="r" b="b"/>
              <a:pathLst>
                <a:path w="3343275" h="9525">
                  <a:moveTo>
                    <a:pt x="0" y="0"/>
                  </a:moveTo>
                  <a:lnTo>
                    <a:pt x="3343275" y="0"/>
                  </a:lnTo>
                </a:path>
              </a:pathLst>
            </a:custGeom>
            <a:noFill/>
            <a:ln w="14288">
              <a:solidFill>
                <a:srgbClr val="D8DEF2"/>
              </a:solidFill>
            </a:ln>
          </p:spPr>
        </p:sp>
        <p:sp>
          <p:nvSpPr>
            <p:cNvPr id="56" name="TextBox 56"/>
            <p:cNvSpPr txBox="1"/>
            <p:nvPr/>
          </p:nvSpPr>
          <p:spPr>
            <a:xfrm>
              <a:off x="4697730" y="1666875"/>
              <a:ext cx="2085780" cy="293370"/>
            </a:xfrm>
            <a:prstGeom prst="rect">
              <a:avLst/>
            </a:prstGeom>
            <a:noFill/>
            <a:ln>
              <a:noFill/>
            </a:ln>
          </p:spPr>
          <p:txBody>
            <a:bodyPr wrap="none" lIns="0" tIns="0" rIns="0" bIns="0" anchor="t" anchorCtr="0">
              <a:spAutoFit/>
            </a:bodyPr>
            <a:lstStyle/>
            <a:p>
              <a:pPr algn="l"/>
              <a:r>
                <a:rPr lang="zh-CN" sz="1500" b="1" dirty="0">
                  <a:solidFill>
                    <a:srgbClr val="1A1A1A"/>
                  </a:solidFill>
                  <a:latin typeface="+mn-lt"/>
                  <a:ea typeface="+mn-ea"/>
                  <a:cs typeface="+mn-cs"/>
                </a:rPr>
                <a:t>产品曝光量</a:t>
              </a:r>
              <a:r>
                <a:rPr lang="zh-CN" sz="2250" b="1" dirty="0">
                  <a:solidFill>
                    <a:srgbClr val="E8634C"/>
                  </a:solidFill>
                  <a:latin typeface="+mn-lt"/>
                  <a:ea typeface="+mn-ea"/>
                  <a:cs typeface="+mn-cs"/>
                </a:rPr>
                <a:t>3.4亿</a:t>
              </a:r>
              <a:r>
                <a:rPr lang="zh-CN" sz="1500" b="1" dirty="0">
                  <a:solidFill>
                    <a:srgbClr val="1A1A1A"/>
                  </a:solidFill>
                  <a:latin typeface="+mn-lt"/>
                  <a:ea typeface="+mn-ea"/>
                  <a:cs typeface="+mn-cs"/>
                </a:rPr>
                <a:t>​​</a:t>
              </a:r>
            </a:p>
          </p:txBody>
        </p:sp>
        <p:sp>
          <p:nvSpPr>
            <p:cNvPr id="57" name="Freeform 57"/>
            <p:cNvSpPr/>
            <p:nvPr/>
          </p:nvSpPr>
          <p:spPr>
            <a:xfrm>
              <a:off x="7029450" y="1428750"/>
              <a:ext cx="590550" cy="476250"/>
            </a:xfrm>
            <a:custGeom>
              <a:avLst/>
              <a:gdLst/>
              <a:ahLst/>
              <a:cxnLst/>
              <a:rect l="l" t="t" r="r" b="b"/>
              <a:pathLst>
                <a:path w="590550" h="476250">
                  <a:moveTo>
                    <a:pt x="0" y="476250"/>
                  </a:moveTo>
                  <a:cubicBezTo>
                    <a:pt x="190500" y="209550"/>
                    <a:pt x="387350" y="50800"/>
                    <a:pt x="590550" y="0"/>
                  </a:cubicBezTo>
                </a:path>
              </a:pathLst>
            </a:custGeom>
            <a:noFill/>
            <a:ln w="38100">
              <a:solidFill>
                <a:srgbClr val="E08C7B"/>
              </a:solidFill>
              <a:tailEnd type="triangle" w="lg" len="lg"/>
            </a:ln>
          </p:spPr>
        </p:sp>
        <p:sp>
          <p:nvSpPr>
            <p:cNvPr id="58" name="Rectangle 58"/>
            <p:cNvSpPr/>
            <p:nvPr/>
          </p:nvSpPr>
          <p:spPr>
            <a:xfrm>
              <a:off x="4953000" y="2047875"/>
              <a:ext cx="990600" cy="1409700"/>
            </a:xfrm>
            <a:prstGeom prst="roundRect">
              <a:avLst>
                <a:gd name="adj" fmla="val 5769"/>
              </a:avLst>
            </a:prstGeom>
            <a:solidFill>
              <a:srgbClr val="FFFFFF"/>
            </a:solidFill>
            <a:ln w="14288">
              <a:solidFill>
                <a:srgbClr val="E2E6F7"/>
              </a:solidFill>
            </a:ln>
          </p:spPr>
        </p:sp>
        <p:sp>
          <p:nvSpPr>
            <p:cNvPr id="59" name="Ellipse 59"/>
            <p:cNvSpPr/>
            <p:nvPr/>
          </p:nvSpPr>
          <p:spPr>
            <a:xfrm>
              <a:off x="5076825" y="2190750"/>
              <a:ext cx="247650" cy="247650"/>
            </a:xfrm>
            <a:prstGeom prst="ellipse">
              <a:avLst/>
            </a:prstGeom>
            <a:solidFill>
              <a:srgbClr val="D8DEF2"/>
            </a:solidFill>
            <a:ln>
              <a:noFill/>
            </a:ln>
          </p:spPr>
        </p:sp>
        <p:sp>
          <p:nvSpPr>
            <p:cNvPr id="60" name="Rectangle 60"/>
            <p:cNvSpPr/>
            <p:nvPr/>
          </p:nvSpPr>
          <p:spPr>
            <a:xfrm>
              <a:off x="5391150" y="2228850"/>
              <a:ext cx="457200" cy="57150"/>
            </a:xfrm>
            <a:prstGeom prst="roundRect">
              <a:avLst>
                <a:gd name="adj" fmla="val 50000"/>
              </a:avLst>
            </a:prstGeom>
            <a:solidFill>
              <a:srgbClr val="E4E8F6"/>
            </a:solidFill>
            <a:ln>
              <a:noFill/>
            </a:ln>
          </p:spPr>
        </p:sp>
        <p:sp>
          <p:nvSpPr>
            <p:cNvPr id="61" name="Rectangle 61"/>
            <p:cNvSpPr/>
            <p:nvPr/>
          </p:nvSpPr>
          <p:spPr>
            <a:xfrm>
              <a:off x="5391150" y="2343150"/>
              <a:ext cx="323850" cy="57150"/>
            </a:xfrm>
            <a:prstGeom prst="roundRect">
              <a:avLst>
                <a:gd name="adj" fmla="val 50000"/>
              </a:avLst>
            </a:prstGeom>
            <a:solidFill>
              <a:srgbClr val="EEF1FB"/>
            </a:solidFill>
            <a:ln>
              <a:noFill/>
            </a:ln>
          </p:spPr>
        </p:sp>
        <p:sp>
          <p:nvSpPr>
            <p:cNvPr id="62" name="Rectangle 62"/>
            <p:cNvSpPr/>
            <p:nvPr/>
          </p:nvSpPr>
          <p:spPr>
            <a:xfrm>
              <a:off x="5048250" y="2571750"/>
              <a:ext cx="800100" cy="495300"/>
            </a:xfrm>
            <a:prstGeom prst="roundRect">
              <a:avLst>
                <a:gd name="adj" fmla="val 7692"/>
              </a:avLst>
            </a:prstGeom>
            <a:solidFill>
              <a:srgbClr val="F0F3FB"/>
            </a:solidFill>
            <a:ln>
              <a:noFill/>
            </a:ln>
          </p:spPr>
        </p:sp>
        <p:sp>
          <p:nvSpPr>
            <p:cNvPr id="63" name="Rectangle 63"/>
            <p:cNvSpPr/>
            <p:nvPr/>
          </p:nvSpPr>
          <p:spPr>
            <a:xfrm>
              <a:off x="5048250" y="3162300"/>
              <a:ext cx="533400" cy="85725"/>
            </a:xfrm>
            <a:prstGeom prst="roundRect">
              <a:avLst>
                <a:gd name="adj" fmla="val 44444"/>
              </a:avLst>
            </a:prstGeom>
            <a:solidFill>
              <a:srgbClr val="F09C8E"/>
            </a:solidFill>
            <a:ln>
              <a:noFill/>
            </a:ln>
          </p:spPr>
        </p:sp>
        <p:sp>
          <p:nvSpPr>
            <p:cNvPr id="64" name="Rectangle 64"/>
            <p:cNvSpPr/>
            <p:nvPr/>
          </p:nvSpPr>
          <p:spPr>
            <a:xfrm>
              <a:off x="5048250" y="3314700"/>
              <a:ext cx="800100" cy="47625"/>
            </a:xfrm>
            <a:prstGeom prst="roundRect">
              <a:avLst>
                <a:gd name="adj" fmla="val 40000"/>
              </a:avLst>
            </a:prstGeom>
            <a:solidFill>
              <a:srgbClr val="E4E8F6"/>
            </a:solidFill>
            <a:ln>
              <a:noFill/>
            </a:ln>
          </p:spPr>
        </p:sp>
        <p:sp>
          <p:nvSpPr>
            <p:cNvPr id="65" name="Rectangle 65"/>
            <p:cNvSpPr/>
            <p:nvPr/>
          </p:nvSpPr>
          <p:spPr>
            <a:xfrm>
              <a:off x="6172200" y="2209800"/>
              <a:ext cx="990600" cy="1409700"/>
            </a:xfrm>
            <a:prstGeom prst="roundRect">
              <a:avLst>
                <a:gd name="adj" fmla="val 5769"/>
              </a:avLst>
            </a:prstGeom>
            <a:solidFill>
              <a:srgbClr val="FFFFFF"/>
            </a:solidFill>
            <a:ln w="14288">
              <a:solidFill>
                <a:srgbClr val="E2E6F7"/>
              </a:solidFill>
            </a:ln>
          </p:spPr>
        </p:sp>
        <p:sp>
          <p:nvSpPr>
            <p:cNvPr id="66" name="Ellipse 66"/>
            <p:cNvSpPr/>
            <p:nvPr/>
          </p:nvSpPr>
          <p:spPr>
            <a:xfrm>
              <a:off x="6296025" y="2352675"/>
              <a:ext cx="247650" cy="247650"/>
            </a:xfrm>
            <a:prstGeom prst="ellipse">
              <a:avLst/>
            </a:prstGeom>
            <a:solidFill>
              <a:srgbClr val="D8DEF2"/>
            </a:solidFill>
            <a:ln>
              <a:noFill/>
            </a:ln>
          </p:spPr>
        </p:sp>
        <p:sp>
          <p:nvSpPr>
            <p:cNvPr id="67" name="Rectangle 67"/>
            <p:cNvSpPr/>
            <p:nvPr/>
          </p:nvSpPr>
          <p:spPr>
            <a:xfrm>
              <a:off x="6610350" y="2390775"/>
              <a:ext cx="457200" cy="57150"/>
            </a:xfrm>
            <a:prstGeom prst="roundRect">
              <a:avLst>
                <a:gd name="adj" fmla="val 50000"/>
              </a:avLst>
            </a:prstGeom>
            <a:solidFill>
              <a:srgbClr val="E4E8F6"/>
            </a:solidFill>
            <a:ln>
              <a:noFill/>
            </a:ln>
          </p:spPr>
        </p:sp>
        <p:sp>
          <p:nvSpPr>
            <p:cNvPr id="68" name="Rectangle 68"/>
            <p:cNvSpPr/>
            <p:nvPr/>
          </p:nvSpPr>
          <p:spPr>
            <a:xfrm>
              <a:off x="6610350" y="2505075"/>
              <a:ext cx="323850" cy="57150"/>
            </a:xfrm>
            <a:prstGeom prst="roundRect">
              <a:avLst>
                <a:gd name="adj" fmla="val 50000"/>
              </a:avLst>
            </a:prstGeom>
            <a:solidFill>
              <a:srgbClr val="EEF1FB"/>
            </a:solidFill>
            <a:ln>
              <a:noFill/>
            </a:ln>
          </p:spPr>
        </p:sp>
        <p:sp>
          <p:nvSpPr>
            <p:cNvPr id="69" name="Rectangle 69"/>
            <p:cNvSpPr/>
            <p:nvPr/>
          </p:nvSpPr>
          <p:spPr>
            <a:xfrm>
              <a:off x="6267450" y="2733675"/>
              <a:ext cx="800100" cy="495300"/>
            </a:xfrm>
            <a:prstGeom prst="roundRect">
              <a:avLst>
                <a:gd name="adj" fmla="val 7692"/>
              </a:avLst>
            </a:prstGeom>
            <a:solidFill>
              <a:srgbClr val="F0F3FB"/>
            </a:solidFill>
            <a:ln>
              <a:noFill/>
            </a:ln>
          </p:spPr>
        </p:sp>
        <p:sp>
          <p:nvSpPr>
            <p:cNvPr id="70" name="Rectangle 70"/>
            <p:cNvSpPr/>
            <p:nvPr/>
          </p:nvSpPr>
          <p:spPr>
            <a:xfrm>
              <a:off x="6267450" y="3324225"/>
              <a:ext cx="533400" cy="85725"/>
            </a:xfrm>
            <a:prstGeom prst="roundRect">
              <a:avLst>
                <a:gd name="adj" fmla="val 44444"/>
              </a:avLst>
            </a:prstGeom>
            <a:solidFill>
              <a:srgbClr val="F09C8E"/>
            </a:solidFill>
            <a:ln>
              <a:noFill/>
            </a:ln>
          </p:spPr>
        </p:sp>
        <p:sp>
          <p:nvSpPr>
            <p:cNvPr id="71" name="Rectangle 71"/>
            <p:cNvSpPr/>
            <p:nvPr/>
          </p:nvSpPr>
          <p:spPr>
            <a:xfrm>
              <a:off x="6267450" y="3476625"/>
              <a:ext cx="800100" cy="47625"/>
            </a:xfrm>
            <a:prstGeom prst="roundRect">
              <a:avLst>
                <a:gd name="adj" fmla="val 40000"/>
              </a:avLst>
            </a:prstGeom>
            <a:solidFill>
              <a:srgbClr val="E4E8F6"/>
            </a:solidFill>
            <a:ln>
              <a:noFill/>
            </a:ln>
          </p:spPr>
        </p:sp>
        <p:sp>
          <p:nvSpPr>
            <p:cNvPr id="72" name="Rectangle 72"/>
            <p:cNvSpPr/>
            <p:nvPr/>
          </p:nvSpPr>
          <p:spPr>
            <a:xfrm>
              <a:off x="5562600" y="2495550"/>
              <a:ext cx="990600" cy="1409700"/>
            </a:xfrm>
            <a:prstGeom prst="roundRect">
              <a:avLst>
                <a:gd name="adj" fmla="val 5769"/>
              </a:avLst>
            </a:prstGeom>
            <a:solidFill>
              <a:srgbClr val="FFFFFF"/>
            </a:solidFill>
            <a:ln w="14288">
              <a:solidFill>
                <a:srgbClr val="E2E6F7"/>
              </a:solidFill>
            </a:ln>
          </p:spPr>
        </p:sp>
        <p:sp>
          <p:nvSpPr>
            <p:cNvPr id="73" name="Ellipse 73"/>
            <p:cNvSpPr/>
            <p:nvPr/>
          </p:nvSpPr>
          <p:spPr>
            <a:xfrm>
              <a:off x="5686425" y="2638425"/>
              <a:ext cx="247650" cy="247650"/>
            </a:xfrm>
            <a:prstGeom prst="ellipse">
              <a:avLst/>
            </a:prstGeom>
            <a:solidFill>
              <a:srgbClr val="D8DEF2"/>
            </a:solidFill>
            <a:ln>
              <a:noFill/>
            </a:ln>
          </p:spPr>
        </p:sp>
        <p:sp>
          <p:nvSpPr>
            <p:cNvPr id="74" name="Rectangle 74"/>
            <p:cNvSpPr/>
            <p:nvPr/>
          </p:nvSpPr>
          <p:spPr>
            <a:xfrm>
              <a:off x="6000750" y="2676525"/>
              <a:ext cx="457200" cy="57150"/>
            </a:xfrm>
            <a:prstGeom prst="roundRect">
              <a:avLst>
                <a:gd name="adj" fmla="val 50000"/>
              </a:avLst>
            </a:prstGeom>
            <a:solidFill>
              <a:srgbClr val="E4E8F6"/>
            </a:solidFill>
            <a:ln>
              <a:noFill/>
            </a:ln>
          </p:spPr>
        </p:sp>
        <p:sp>
          <p:nvSpPr>
            <p:cNvPr id="75" name="Rectangle 75"/>
            <p:cNvSpPr/>
            <p:nvPr/>
          </p:nvSpPr>
          <p:spPr>
            <a:xfrm>
              <a:off x="6000750" y="2790825"/>
              <a:ext cx="323850" cy="57150"/>
            </a:xfrm>
            <a:prstGeom prst="roundRect">
              <a:avLst>
                <a:gd name="adj" fmla="val 50000"/>
              </a:avLst>
            </a:prstGeom>
            <a:solidFill>
              <a:srgbClr val="EEF1FB"/>
            </a:solidFill>
            <a:ln>
              <a:noFill/>
            </a:ln>
          </p:spPr>
        </p:sp>
        <p:sp>
          <p:nvSpPr>
            <p:cNvPr id="76" name="Rectangle 76"/>
            <p:cNvSpPr/>
            <p:nvPr/>
          </p:nvSpPr>
          <p:spPr>
            <a:xfrm>
              <a:off x="5657850" y="3019425"/>
              <a:ext cx="800100" cy="495300"/>
            </a:xfrm>
            <a:prstGeom prst="roundRect">
              <a:avLst>
                <a:gd name="adj" fmla="val 7692"/>
              </a:avLst>
            </a:prstGeom>
            <a:solidFill>
              <a:srgbClr val="F0F3FB"/>
            </a:solidFill>
            <a:ln>
              <a:noFill/>
            </a:ln>
          </p:spPr>
        </p:sp>
        <p:sp>
          <p:nvSpPr>
            <p:cNvPr id="77" name="Rectangle 77"/>
            <p:cNvSpPr/>
            <p:nvPr/>
          </p:nvSpPr>
          <p:spPr>
            <a:xfrm>
              <a:off x="5657850" y="3609975"/>
              <a:ext cx="533400" cy="85725"/>
            </a:xfrm>
            <a:prstGeom prst="roundRect">
              <a:avLst>
                <a:gd name="adj" fmla="val 44444"/>
              </a:avLst>
            </a:prstGeom>
            <a:solidFill>
              <a:srgbClr val="F09C8E"/>
            </a:solidFill>
            <a:ln>
              <a:noFill/>
            </a:ln>
          </p:spPr>
        </p:sp>
        <p:sp>
          <p:nvSpPr>
            <p:cNvPr id="78" name="Rectangle 78"/>
            <p:cNvSpPr/>
            <p:nvPr/>
          </p:nvSpPr>
          <p:spPr>
            <a:xfrm>
              <a:off x="5657850" y="3762375"/>
              <a:ext cx="800100" cy="47625"/>
            </a:xfrm>
            <a:prstGeom prst="roundRect">
              <a:avLst>
                <a:gd name="adj" fmla="val 40000"/>
              </a:avLst>
            </a:prstGeom>
            <a:solidFill>
              <a:srgbClr val="E4E8F6"/>
            </a:solidFill>
            <a:ln>
              <a:noFill/>
            </a:ln>
          </p:spPr>
        </p:sp>
        <p:sp>
          <p:nvSpPr>
            <p:cNvPr id="79" name="Rectangle 79"/>
            <p:cNvSpPr/>
            <p:nvPr/>
          </p:nvSpPr>
          <p:spPr>
            <a:xfrm>
              <a:off x="4667250" y="4171950"/>
              <a:ext cx="3429000" cy="2095500"/>
            </a:xfrm>
            <a:prstGeom prst="roundRect">
              <a:avLst>
                <a:gd name="adj" fmla="val 3636"/>
              </a:avLst>
            </a:prstGeom>
            <a:solidFill>
              <a:srgbClr val="FBEDE8"/>
            </a:solidFill>
            <a:ln>
              <a:noFill/>
            </a:ln>
          </p:spPr>
        </p:sp>
        <p:sp>
          <p:nvSpPr>
            <p:cNvPr id="80" name="Rectangle 80"/>
            <p:cNvSpPr/>
            <p:nvPr/>
          </p:nvSpPr>
          <p:spPr>
            <a:xfrm>
              <a:off x="4838700" y="4724400"/>
              <a:ext cx="590550" cy="438150"/>
            </a:xfrm>
            <a:prstGeom prst="roundRect">
              <a:avLst>
                <a:gd name="adj" fmla="val 10870"/>
              </a:avLst>
            </a:prstGeom>
            <a:solidFill>
              <a:srgbClr val="FFFFFF"/>
            </a:solidFill>
            <a:ln w="11430">
              <a:solidFill>
                <a:srgbClr val="E8634C"/>
              </a:solidFill>
            </a:ln>
          </p:spPr>
        </p:sp>
        <p:sp>
          <p:nvSpPr>
            <p:cNvPr id="81" name="TextBox 81"/>
            <p:cNvSpPr txBox="1"/>
            <p:nvPr/>
          </p:nvSpPr>
          <p:spPr>
            <a:xfrm>
              <a:off x="4969688" y="4810839"/>
              <a:ext cx="32857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转化率</a:t>
              </a:r>
            </a:p>
          </p:txBody>
        </p:sp>
        <p:sp>
          <p:nvSpPr>
            <p:cNvPr id="82" name="TextBox 82"/>
            <p:cNvSpPr txBox="1"/>
            <p:nvPr/>
          </p:nvSpPr>
          <p:spPr>
            <a:xfrm>
              <a:off x="4926374" y="4978241"/>
              <a:ext cx="415202" cy="161925"/>
            </a:xfrm>
            <a:prstGeom prst="rect">
              <a:avLst/>
            </a:prstGeom>
            <a:noFill/>
            <a:ln>
              <a:noFill/>
            </a:ln>
          </p:spPr>
          <p:txBody>
            <a:bodyPr wrap="none" lIns="0" tIns="0" rIns="0" bIns="0" anchor="t" anchorCtr="0">
              <a:spAutoFit/>
            </a:bodyPr>
            <a:lstStyle/>
            <a:p>
              <a:pPr algn="ctr"/>
              <a:r>
                <a:rPr lang="zh-CN" sz="820" b="1" dirty="0">
                  <a:solidFill>
                    <a:srgbClr val="E8634C"/>
                  </a:solidFill>
                  <a:latin typeface="+mn-lt"/>
                  <a:ea typeface="+mn-ea"/>
                  <a:cs typeface="+mn-cs"/>
                </a:rPr>
                <a:t>+15%​​</a:t>
              </a:r>
            </a:p>
          </p:txBody>
        </p:sp>
        <p:sp>
          <p:nvSpPr>
            <p:cNvPr id="83" name="Line 83"/>
            <p:cNvSpPr/>
            <p:nvPr/>
          </p:nvSpPr>
          <p:spPr>
            <a:xfrm>
              <a:off x="5429250" y="4943475"/>
              <a:ext cx="247650" cy="9525"/>
            </a:xfrm>
            <a:custGeom>
              <a:avLst/>
              <a:gdLst/>
              <a:ahLst/>
              <a:cxnLst/>
              <a:rect l="l" t="t" r="r" b="b"/>
              <a:pathLst>
                <a:path w="247650" h="9525">
                  <a:moveTo>
                    <a:pt x="0" y="0"/>
                  </a:moveTo>
                  <a:lnTo>
                    <a:pt x="247650" y="0"/>
                  </a:lnTo>
                </a:path>
              </a:pathLst>
            </a:custGeom>
            <a:noFill/>
            <a:ln w="14288">
              <a:solidFill>
                <a:srgbClr val="E8B1A8"/>
              </a:solidFill>
              <a:custDash>
                <a:ds d="266667" sp="200000"/>
              </a:custDash>
            </a:ln>
          </p:spPr>
        </p:sp>
        <p:sp>
          <p:nvSpPr>
            <p:cNvPr id="84" name="TextBox 84"/>
            <p:cNvSpPr txBox="1"/>
            <p:nvPr/>
          </p:nvSpPr>
          <p:spPr>
            <a:xfrm>
              <a:off x="5800344" y="4628198"/>
              <a:ext cx="1716933" cy="381381"/>
            </a:xfrm>
            <a:prstGeom prst="rect">
              <a:avLst/>
            </a:prstGeom>
            <a:noFill/>
            <a:ln>
              <a:noFill/>
            </a:ln>
          </p:spPr>
          <p:txBody>
            <a:bodyPr wrap="none" lIns="0" tIns="0" rIns="0" bIns="0" anchor="t" anchorCtr="0">
              <a:spAutoFit/>
            </a:bodyPr>
            <a:lstStyle/>
            <a:p>
              <a:pPr algn="l"/>
              <a:r>
                <a:rPr lang="zh-CN" sz="1950" b="1" dirty="0">
                  <a:solidFill>
                    <a:srgbClr val="E8634C"/>
                  </a:solidFill>
                  <a:latin typeface="+mn-lt"/>
                  <a:ea typeface="+mn-ea"/>
                  <a:cs typeface="+mn-cs"/>
                </a:rPr>
                <a:t>3.34（亿）​​</a:t>
              </a:r>
            </a:p>
          </p:txBody>
        </p:sp>
        <p:sp>
          <p:nvSpPr>
            <p:cNvPr id="85" name="TextBox 85"/>
            <p:cNvSpPr txBox="1"/>
            <p:nvPr/>
          </p:nvSpPr>
          <p:spPr>
            <a:xfrm>
              <a:off x="7196138" y="4616291"/>
              <a:ext cx="782244" cy="161925"/>
            </a:xfrm>
            <a:prstGeom prst="rect">
              <a:avLst/>
            </a:prstGeom>
            <a:noFill/>
            <a:ln>
              <a:noFill/>
            </a:ln>
          </p:spPr>
          <p:txBody>
            <a:bodyPr wrap="none" lIns="0" tIns="0" rIns="0" bIns="0" anchor="t" anchorCtr="0">
              <a:spAutoFit/>
            </a:bodyPr>
            <a:lstStyle/>
            <a:p>
              <a:pPr algn="l"/>
              <a:r>
                <a:rPr lang="zh-CN" sz="820" b="1" dirty="0">
                  <a:solidFill>
                    <a:srgbClr val="543E3A"/>
                  </a:solidFill>
                  <a:latin typeface="+mn-lt"/>
                  <a:ea typeface="+mn-ea"/>
                  <a:cs typeface="+mn-cs"/>
                </a:rPr>
                <a:t>商品全年点击量</a:t>
              </a:r>
            </a:p>
          </p:txBody>
        </p:sp>
        <p:sp>
          <p:nvSpPr>
            <p:cNvPr id="86" name="TextBox 86"/>
            <p:cNvSpPr txBox="1"/>
            <p:nvPr/>
          </p:nvSpPr>
          <p:spPr>
            <a:xfrm>
              <a:off x="7196138" y="4791789"/>
              <a:ext cx="535957" cy="154781"/>
            </a:xfrm>
            <a:prstGeom prst="rect">
              <a:avLst/>
            </a:prstGeom>
            <a:noFill/>
            <a:ln>
              <a:noFill/>
            </a:ln>
          </p:spPr>
          <p:txBody>
            <a:bodyPr wrap="none" lIns="0" tIns="0" rIns="0" bIns="0" anchor="t" anchorCtr="0">
              <a:spAutoFit/>
            </a:bodyPr>
            <a:lstStyle/>
            <a:p>
              <a:pPr algn="l"/>
              <a:r>
                <a:rPr lang="zh-CN" sz="790" dirty="0">
                  <a:solidFill>
                    <a:srgbClr val="E8634C"/>
                  </a:solidFill>
                  <a:latin typeface="+mn-lt"/>
                  <a:ea typeface="+mn-ea"/>
                  <a:cs typeface="+mn-cs"/>
                </a:rPr>
                <a:t>同比+5%​​</a:t>
              </a:r>
            </a:p>
          </p:txBody>
        </p:sp>
        <p:sp>
          <p:nvSpPr>
            <p:cNvPr id="87" name="TextBox 87"/>
            <p:cNvSpPr txBox="1"/>
            <p:nvPr/>
          </p:nvSpPr>
          <p:spPr>
            <a:xfrm>
              <a:off x="5800344" y="5237798"/>
              <a:ext cx="1716933" cy="381381"/>
            </a:xfrm>
            <a:prstGeom prst="rect">
              <a:avLst/>
            </a:prstGeom>
            <a:noFill/>
            <a:ln>
              <a:noFill/>
            </a:ln>
          </p:spPr>
          <p:txBody>
            <a:bodyPr wrap="none" lIns="0" tIns="0" rIns="0" bIns="0" anchor="t" anchorCtr="0">
              <a:spAutoFit/>
            </a:bodyPr>
            <a:lstStyle/>
            <a:p>
              <a:pPr algn="l"/>
              <a:r>
                <a:rPr lang="zh-CN" sz="1950" b="1" dirty="0">
                  <a:solidFill>
                    <a:srgbClr val="E8634C"/>
                  </a:solidFill>
                  <a:latin typeface="+mn-lt"/>
                  <a:ea typeface="+mn-ea"/>
                  <a:cs typeface="+mn-cs"/>
                </a:rPr>
                <a:t>1347（万）​​</a:t>
              </a:r>
            </a:p>
          </p:txBody>
        </p:sp>
        <p:sp>
          <p:nvSpPr>
            <p:cNvPr id="88" name="TextBox 88"/>
            <p:cNvSpPr txBox="1"/>
            <p:nvPr/>
          </p:nvSpPr>
          <p:spPr>
            <a:xfrm>
              <a:off x="7196138" y="5225891"/>
              <a:ext cx="561467" cy="161925"/>
            </a:xfrm>
            <a:prstGeom prst="rect">
              <a:avLst/>
            </a:prstGeom>
            <a:noFill/>
            <a:ln>
              <a:noFill/>
            </a:ln>
          </p:spPr>
          <p:txBody>
            <a:bodyPr wrap="none" lIns="0" tIns="0" rIns="0" bIns="0" anchor="t" anchorCtr="0">
              <a:spAutoFit/>
            </a:bodyPr>
            <a:lstStyle/>
            <a:p>
              <a:pPr algn="l"/>
              <a:r>
                <a:rPr lang="zh-CN" sz="820" b="1" dirty="0">
                  <a:solidFill>
                    <a:srgbClr val="543E3A"/>
                  </a:solidFill>
                  <a:latin typeface="+mn-lt"/>
                  <a:ea typeface="+mn-ea"/>
                  <a:cs typeface="+mn-cs"/>
                </a:rPr>
                <a:t>订单成交量</a:t>
              </a:r>
            </a:p>
          </p:txBody>
        </p:sp>
        <p:sp>
          <p:nvSpPr>
            <p:cNvPr id="89" name="TextBox 89"/>
            <p:cNvSpPr txBox="1"/>
            <p:nvPr/>
          </p:nvSpPr>
          <p:spPr>
            <a:xfrm>
              <a:off x="7196138" y="5401389"/>
              <a:ext cx="535957" cy="154781"/>
            </a:xfrm>
            <a:prstGeom prst="rect">
              <a:avLst/>
            </a:prstGeom>
            <a:noFill/>
            <a:ln>
              <a:noFill/>
            </a:ln>
          </p:spPr>
          <p:txBody>
            <a:bodyPr wrap="none" lIns="0" tIns="0" rIns="0" bIns="0" anchor="t" anchorCtr="0">
              <a:spAutoFit/>
            </a:bodyPr>
            <a:lstStyle/>
            <a:p>
              <a:pPr algn="l"/>
              <a:r>
                <a:rPr lang="zh-CN" sz="790" dirty="0">
                  <a:solidFill>
                    <a:srgbClr val="E8634C"/>
                  </a:solidFill>
                  <a:latin typeface="+mn-lt"/>
                  <a:ea typeface="+mn-ea"/>
                  <a:cs typeface="+mn-cs"/>
                </a:rPr>
                <a:t>同比+5%​​</a:t>
              </a:r>
            </a:p>
          </p:txBody>
        </p:sp>
        <p:sp>
          <p:nvSpPr>
            <p:cNvPr id="90" name="Line 90"/>
            <p:cNvSpPr/>
            <p:nvPr/>
          </p:nvSpPr>
          <p:spPr>
            <a:xfrm>
              <a:off x="5715000" y="4552950"/>
              <a:ext cx="9525" cy="1047750"/>
            </a:xfrm>
            <a:custGeom>
              <a:avLst/>
              <a:gdLst/>
              <a:ahLst/>
              <a:cxnLst/>
              <a:rect l="l" t="t" r="r" b="b"/>
              <a:pathLst>
                <a:path w="9525" h="1047750">
                  <a:moveTo>
                    <a:pt x="0" y="0"/>
                  </a:moveTo>
                  <a:lnTo>
                    <a:pt x="0" y="1047750"/>
                  </a:lnTo>
                </a:path>
              </a:pathLst>
            </a:custGeom>
            <a:noFill/>
            <a:ln w="14288">
              <a:solidFill>
                <a:srgbClr val="E8B1A8"/>
              </a:solidFill>
            </a:ln>
          </p:spPr>
        </p:sp>
      </p:grpSp>
      <p:grpSp>
        <p:nvGrpSpPr>
          <p:cNvPr id="117" name="card-channel"/>
          <p:cNvGrpSpPr/>
          <p:nvPr/>
        </p:nvGrpSpPr>
        <p:grpSpPr>
          <a:xfrm>
            <a:off x="8296275" y="847725"/>
            <a:ext cx="3609975" cy="5581650"/>
            <a:chOff x="8296275" y="847725"/>
            <a:chExt cx="3609975" cy="5581650"/>
          </a:xfrm>
        </p:grpSpPr>
        <p:sp>
          <p:nvSpPr>
            <p:cNvPr id="92" name="Rectangle 92"/>
            <p:cNvSpPr/>
            <p:nvPr/>
          </p:nvSpPr>
          <p:spPr>
            <a:xfrm>
              <a:off x="8296275" y="847725"/>
              <a:ext cx="3609975" cy="5581650"/>
            </a:xfrm>
            <a:prstGeom prst="roundRect">
              <a:avLst>
                <a:gd name="adj" fmla="val 3166"/>
              </a:avLst>
            </a:prstGeom>
            <a:solidFill>
              <a:srgbClr val="FFFFFF"/>
            </a:solidFill>
            <a:ln w="14288">
              <a:solidFill>
                <a:srgbClr val="E2E6F7"/>
              </a:solidFill>
            </a:ln>
          </p:spPr>
        </p:sp>
        <p:sp>
          <p:nvSpPr>
            <p:cNvPr id="93" name="Rectangle 93"/>
            <p:cNvSpPr/>
            <p:nvPr/>
          </p:nvSpPr>
          <p:spPr>
            <a:xfrm>
              <a:off x="8486775" y="1000125"/>
              <a:ext cx="285750" cy="285750"/>
            </a:xfrm>
            <a:prstGeom prst="roundRect">
              <a:avLst>
                <a:gd name="adj" fmla="val 13333"/>
              </a:avLst>
            </a:prstGeom>
            <a:solidFill>
              <a:srgbClr val="E8634C"/>
            </a:solidFill>
            <a:ln>
              <a:noFill/>
            </a:ln>
          </p:spPr>
        </p:sp>
        <p:sp>
          <p:nvSpPr>
            <p:cNvPr id="94" name="TextBox 94"/>
            <p:cNvSpPr txBox="1"/>
            <p:nvPr/>
          </p:nvSpPr>
          <p:spPr>
            <a:xfrm>
              <a:off x="8473906" y="1072039"/>
              <a:ext cx="311487"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3​​</a:t>
              </a:r>
            </a:p>
          </p:txBody>
        </p:sp>
        <p:sp>
          <p:nvSpPr>
            <p:cNvPr id="95" name="TextBox 95"/>
            <p:cNvSpPr txBox="1"/>
            <p:nvPr/>
          </p:nvSpPr>
          <p:spPr>
            <a:xfrm>
              <a:off x="8862060" y="1088231"/>
              <a:ext cx="1217625" cy="220028"/>
            </a:xfrm>
            <a:prstGeom prst="rect">
              <a:avLst/>
            </a:prstGeom>
            <a:noFill/>
            <a:ln>
              <a:noFill/>
            </a:ln>
          </p:spPr>
          <p:txBody>
            <a:bodyPr wrap="none" lIns="0" tIns="0" rIns="0" bIns="0" anchor="t" anchorCtr="0">
              <a:spAutoFit/>
            </a:bodyPr>
            <a:lstStyle/>
            <a:p>
              <a:pPr algn="l"/>
              <a:r>
                <a:rPr lang="zh-CN" sz="1120" b="1" dirty="0">
                  <a:solidFill>
                    <a:srgbClr val="543E3A"/>
                  </a:solidFill>
                  <a:latin typeface="+mn-lt"/>
                  <a:ea typeface="+mn-ea"/>
                  <a:cs typeface="+mn-cs"/>
                </a:rPr>
                <a:t>流量转化渠道分析</a:t>
              </a:r>
            </a:p>
          </p:txBody>
        </p:sp>
        <p:sp>
          <p:nvSpPr>
            <p:cNvPr id="96" name="Line 96"/>
            <p:cNvSpPr/>
            <p:nvPr/>
          </p:nvSpPr>
          <p:spPr>
            <a:xfrm>
              <a:off x="8486775" y="1390650"/>
              <a:ext cx="3228975" cy="9525"/>
            </a:xfrm>
            <a:custGeom>
              <a:avLst/>
              <a:gdLst/>
              <a:ahLst/>
              <a:cxnLst/>
              <a:rect l="l" t="t" r="r" b="b"/>
              <a:pathLst>
                <a:path w="3228975" h="9525">
                  <a:moveTo>
                    <a:pt x="0" y="0"/>
                  </a:moveTo>
                  <a:lnTo>
                    <a:pt x="3228975" y="0"/>
                  </a:lnTo>
                </a:path>
              </a:pathLst>
            </a:custGeom>
            <a:noFill/>
            <a:ln w="14288">
              <a:solidFill>
                <a:srgbClr val="D8DEF2"/>
              </a:solidFill>
            </a:ln>
          </p:spPr>
        </p:sp>
        <p:sp>
          <p:nvSpPr>
            <p:cNvPr id="97" name="Polygon 97"/>
            <p:cNvSpPr/>
            <p:nvPr/>
          </p:nvSpPr>
          <p:spPr>
            <a:xfrm>
              <a:off x="9191625" y="1905000"/>
              <a:ext cx="1809750" cy="1809750"/>
            </a:xfrm>
            <a:custGeom>
              <a:avLst/>
              <a:gdLst/>
              <a:ahLst/>
              <a:cxnLst/>
              <a:rect l="l" t="t" r="r" b="b"/>
              <a:pathLst>
                <a:path w="1809750" h="1809750">
                  <a:moveTo>
                    <a:pt x="904875" y="0"/>
                  </a:moveTo>
                  <a:lnTo>
                    <a:pt x="1809750" y="904875"/>
                  </a:lnTo>
                  <a:lnTo>
                    <a:pt x="904875" y="1809750"/>
                  </a:lnTo>
                  <a:lnTo>
                    <a:pt x="0" y="904875"/>
                  </a:lnTo>
                  <a:close/>
                </a:path>
              </a:pathLst>
            </a:custGeom>
            <a:noFill/>
            <a:ln w="11430">
              <a:solidFill>
                <a:srgbClr val="CBD1F0"/>
              </a:solidFill>
            </a:ln>
          </p:spPr>
        </p:sp>
        <p:sp>
          <p:nvSpPr>
            <p:cNvPr id="98" name="Polygon 98"/>
            <p:cNvSpPr/>
            <p:nvPr/>
          </p:nvSpPr>
          <p:spPr>
            <a:xfrm>
              <a:off x="9420225" y="2133600"/>
              <a:ext cx="1352550" cy="1352550"/>
            </a:xfrm>
            <a:custGeom>
              <a:avLst/>
              <a:gdLst/>
              <a:ahLst/>
              <a:cxnLst/>
              <a:rect l="l" t="t" r="r" b="b"/>
              <a:pathLst>
                <a:path w="1352550" h="1352550">
                  <a:moveTo>
                    <a:pt x="676275" y="0"/>
                  </a:moveTo>
                  <a:lnTo>
                    <a:pt x="1352550" y="676275"/>
                  </a:lnTo>
                  <a:lnTo>
                    <a:pt x="676275" y="1352550"/>
                  </a:lnTo>
                  <a:lnTo>
                    <a:pt x="0" y="676275"/>
                  </a:lnTo>
                  <a:close/>
                </a:path>
              </a:pathLst>
            </a:custGeom>
            <a:noFill/>
            <a:ln w="11430">
              <a:solidFill>
                <a:srgbClr val="CBD1F0"/>
              </a:solidFill>
            </a:ln>
          </p:spPr>
        </p:sp>
        <p:sp>
          <p:nvSpPr>
            <p:cNvPr id="99" name="Polygon 99"/>
            <p:cNvSpPr/>
            <p:nvPr/>
          </p:nvSpPr>
          <p:spPr>
            <a:xfrm>
              <a:off x="9639300" y="2352675"/>
              <a:ext cx="914400" cy="914400"/>
            </a:xfrm>
            <a:custGeom>
              <a:avLst/>
              <a:gdLst/>
              <a:ahLst/>
              <a:cxnLst/>
              <a:rect l="l" t="t" r="r" b="b"/>
              <a:pathLst>
                <a:path w="914400" h="914400">
                  <a:moveTo>
                    <a:pt x="457200" y="0"/>
                  </a:moveTo>
                  <a:lnTo>
                    <a:pt x="914400" y="457200"/>
                  </a:lnTo>
                  <a:lnTo>
                    <a:pt x="457200" y="914400"/>
                  </a:lnTo>
                  <a:lnTo>
                    <a:pt x="0" y="457200"/>
                  </a:lnTo>
                  <a:close/>
                </a:path>
              </a:pathLst>
            </a:custGeom>
            <a:noFill/>
            <a:ln w="11430">
              <a:solidFill>
                <a:srgbClr val="CBD1F0"/>
              </a:solidFill>
            </a:ln>
          </p:spPr>
        </p:sp>
        <p:sp>
          <p:nvSpPr>
            <p:cNvPr id="100" name="Polygon 100"/>
            <p:cNvSpPr/>
            <p:nvPr/>
          </p:nvSpPr>
          <p:spPr>
            <a:xfrm>
              <a:off x="9867900" y="2581275"/>
              <a:ext cx="457200" cy="457200"/>
            </a:xfrm>
            <a:custGeom>
              <a:avLst/>
              <a:gdLst/>
              <a:ahLst/>
              <a:cxnLst/>
              <a:rect l="l" t="t" r="r" b="b"/>
              <a:pathLst>
                <a:path w="457200" h="457200">
                  <a:moveTo>
                    <a:pt x="228600" y="0"/>
                  </a:moveTo>
                  <a:lnTo>
                    <a:pt x="457200" y="228600"/>
                  </a:lnTo>
                  <a:lnTo>
                    <a:pt x="228600" y="457200"/>
                  </a:lnTo>
                  <a:lnTo>
                    <a:pt x="0" y="228600"/>
                  </a:lnTo>
                  <a:close/>
                </a:path>
              </a:pathLst>
            </a:custGeom>
            <a:noFill/>
            <a:ln w="11430">
              <a:solidFill>
                <a:srgbClr val="CBD1F0"/>
              </a:solidFill>
            </a:ln>
          </p:spPr>
        </p:sp>
        <p:sp>
          <p:nvSpPr>
            <p:cNvPr id="101" name="Line 101"/>
            <p:cNvSpPr/>
            <p:nvPr/>
          </p:nvSpPr>
          <p:spPr>
            <a:xfrm>
              <a:off x="10096500" y="1905000"/>
              <a:ext cx="9525" cy="1809750"/>
            </a:xfrm>
            <a:custGeom>
              <a:avLst/>
              <a:gdLst/>
              <a:ahLst/>
              <a:cxnLst/>
              <a:rect l="l" t="t" r="r" b="b"/>
              <a:pathLst>
                <a:path w="9525" h="1809750">
                  <a:moveTo>
                    <a:pt x="0" y="0"/>
                  </a:moveTo>
                  <a:lnTo>
                    <a:pt x="0" y="1809750"/>
                  </a:lnTo>
                </a:path>
              </a:pathLst>
            </a:custGeom>
            <a:noFill/>
            <a:ln w="9525">
              <a:solidFill>
                <a:srgbClr val="CBD1F0"/>
              </a:solidFill>
            </a:ln>
          </p:spPr>
        </p:sp>
        <p:sp>
          <p:nvSpPr>
            <p:cNvPr id="102" name="Line 102"/>
            <p:cNvSpPr/>
            <p:nvPr/>
          </p:nvSpPr>
          <p:spPr>
            <a:xfrm>
              <a:off x="9191625" y="2809875"/>
              <a:ext cx="1809750" cy="9525"/>
            </a:xfrm>
            <a:custGeom>
              <a:avLst/>
              <a:gdLst/>
              <a:ahLst/>
              <a:cxnLst/>
              <a:rect l="l" t="t" r="r" b="b"/>
              <a:pathLst>
                <a:path w="1809750" h="9525">
                  <a:moveTo>
                    <a:pt x="0" y="0"/>
                  </a:moveTo>
                  <a:lnTo>
                    <a:pt x="1809750" y="0"/>
                  </a:lnTo>
                </a:path>
              </a:pathLst>
            </a:custGeom>
            <a:noFill/>
            <a:ln w="9525">
              <a:solidFill>
                <a:srgbClr val="CBD1F0"/>
              </a:solidFill>
            </a:ln>
          </p:spPr>
        </p:sp>
        <p:sp>
          <p:nvSpPr>
            <p:cNvPr id="103" name="Polygon 103"/>
            <p:cNvSpPr/>
            <p:nvPr/>
          </p:nvSpPr>
          <p:spPr>
            <a:xfrm>
              <a:off x="9705975" y="2162175"/>
              <a:ext cx="1209675" cy="962025"/>
            </a:xfrm>
            <a:custGeom>
              <a:avLst/>
              <a:gdLst/>
              <a:ahLst/>
              <a:cxnLst/>
              <a:rect l="l" t="t" r="r" b="b"/>
              <a:pathLst>
                <a:path w="1209675" h="962025">
                  <a:moveTo>
                    <a:pt x="390525" y="0"/>
                  </a:moveTo>
                  <a:lnTo>
                    <a:pt x="1209675" y="647700"/>
                  </a:lnTo>
                  <a:lnTo>
                    <a:pt x="390525" y="962025"/>
                  </a:lnTo>
                  <a:lnTo>
                    <a:pt x="0" y="647700"/>
                  </a:lnTo>
                  <a:close/>
                </a:path>
              </a:pathLst>
            </a:custGeom>
            <a:solidFill>
              <a:srgbClr val="C45F4A">
                <a:alpha val="45000"/>
              </a:srgbClr>
            </a:solidFill>
            <a:ln w="14288">
              <a:solidFill>
                <a:srgbClr val="B8503B"/>
              </a:solidFill>
            </a:ln>
          </p:spPr>
        </p:sp>
        <p:sp>
          <p:nvSpPr>
            <p:cNvPr id="104" name="TextBox 104"/>
            <p:cNvSpPr txBox="1"/>
            <p:nvPr/>
          </p:nvSpPr>
          <p:spPr>
            <a:xfrm>
              <a:off x="9975964" y="1716643"/>
              <a:ext cx="241071" cy="169069"/>
            </a:xfrm>
            <a:prstGeom prst="rect">
              <a:avLst/>
            </a:prstGeom>
            <a:noFill/>
            <a:ln>
              <a:noFill/>
            </a:ln>
          </p:spPr>
          <p:txBody>
            <a:bodyPr wrap="none" lIns="0" tIns="0" rIns="0" bIns="0" anchor="t" anchorCtr="0">
              <a:spAutoFit/>
            </a:bodyPr>
            <a:lstStyle/>
            <a:p>
              <a:pPr algn="ctr"/>
              <a:r>
                <a:rPr lang="zh-CN" sz="860" dirty="0">
                  <a:solidFill>
                    <a:srgbClr val="543E3A"/>
                  </a:solidFill>
                  <a:latin typeface="+mn-lt"/>
                  <a:ea typeface="+mn-ea"/>
                  <a:cs typeface="+mn-cs"/>
                </a:rPr>
                <a:t>直播</a:t>
              </a:r>
            </a:p>
          </p:txBody>
        </p:sp>
        <p:sp>
          <p:nvSpPr>
            <p:cNvPr id="105" name="TextBox 105"/>
            <p:cNvSpPr txBox="1"/>
            <p:nvPr/>
          </p:nvSpPr>
          <p:spPr>
            <a:xfrm>
              <a:off x="11063288" y="2754868"/>
              <a:ext cx="241071"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视频</a:t>
              </a:r>
            </a:p>
          </p:txBody>
        </p:sp>
        <p:sp>
          <p:nvSpPr>
            <p:cNvPr id="106" name="TextBox 106"/>
            <p:cNvSpPr txBox="1"/>
            <p:nvPr/>
          </p:nvSpPr>
          <p:spPr>
            <a:xfrm>
              <a:off x="9975964" y="3793093"/>
              <a:ext cx="241071" cy="169069"/>
            </a:xfrm>
            <a:prstGeom prst="rect">
              <a:avLst/>
            </a:prstGeom>
            <a:noFill/>
            <a:ln>
              <a:noFill/>
            </a:ln>
          </p:spPr>
          <p:txBody>
            <a:bodyPr wrap="none" lIns="0" tIns="0" rIns="0" bIns="0" anchor="t" anchorCtr="0">
              <a:spAutoFit/>
            </a:bodyPr>
            <a:lstStyle/>
            <a:p>
              <a:pPr algn="ctr"/>
              <a:r>
                <a:rPr lang="zh-CN" sz="860" dirty="0">
                  <a:solidFill>
                    <a:srgbClr val="543E3A"/>
                  </a:solidFill>
                  <a:latin typeface="+mn-lt"/>
                  <a:ea typeface="+mn-ea"/>
                  <a:cs typeface="+mn-cs"/>
                </a:rPr>
                <a:t>搜索</a:t>
              </a:r>
            </a:p>
          </p:txBody>
        </p:sp>
        <p:sp>
          <p:nvSpPr>
            <p:cNvPr id="107" name="TextBox 107"/>
            <p:cNvSpPr txBox="1"/>
            <p:nvPr/>
          </p:nvSpPr>
          <p:spPr>
            <a:xfrm>
              <a:off x="8888641" y="2754868"/>
              <a:ext cx="241071" cy="169069"/>
            </a:xfrm>
            <a:prstGeom prst="rect">
              <a:avLst/>
            </a:prstGeom>
            <a:noFill/>
            <a:ln>
              <a:noFill/>
            </a:ln>
          </p:spPr>
          <p:txBody>
            <a:bodyPr wrap="none" lIns="0" tIns="0" rIns="0" bIns="0" anchor="t" anchorCtr="0">
              <a:spAutoFit/>
            </a:bodyPr>
            <a:lstStyle/>
            <a:p>
              <a:pPr algn="r"/>
              <a:r>
                <a:rPr lang="zh-CN" sz="860" dirty="0">
                  <a:solidFill>
                    <a:srgbClr val="543E3A"/>
                  </a:solidFill>
                  <a:latin typeface="+mn-lt"/>
                  <a:ea typeface="+mn-ea"/>
                  <a:cs typeface="+mn-cs"/>
                </a:rPr>
                <a:t>关注</a:t>
              </a:r>
            </a:p>
          </p:txBody>
        </p:sp>
        <p:sp>
          <p:nvSpPr>
            <p:cNvPr id="108" name="Rectangle 108"/>
            <p:cNvSpPr/>
            <p:nvPr/>
          </p:nvSpPr>
          <p:spPr>
            <a:xfrm>
              <a:off x="8505825" y="4171950"/>
              <a:ext cx="3238500" cy="2095500"/>
            </a:xfrm>
            <a:prstGeom prst="roundRect">
              <a:avLst>
                <a:gd name="adj" fmla="val 3636"/>
              </a:avLst>
            </a:prstGeom>
            <a:solidFill>
              <a:srgbClr val="FBEDE8"/>
            </a:solidFill>
            <a:ln>
              <a:noFill/>
            </a:ln>
          </p:spPr>
        </p:sp>
        <p:sp>
          <p:nvSpPr>
            <p:cNvPr id="109" name="Rectangle 109"/>
            <p:cNvSpPr/>
            <p:nvPr/>
          </p:nvSpPr>
          <p:spPr>
            <a:xfrm>
              <a:off x="8677275" y="4343400"/>
              <a:ext cx="342900" cy="342900"/>
            </a:xfrm>
            <a:prstGeom prst="roundRect">
              <a:avLst>
                <a:gd name="adj" fmla="val 22222"/>
              </a:avLst>
            </a:prstGeom>
            <a:solidFill>
              <a:srgbClr val="E8634C"/>
            </a:solidFill>
            <a:ln>
              <a:noFill/>
            </a:ln>
          </p:spPr>
        </p:sp>
        <p:grpSp>
          <p:nvGrpSpPr>
            <p:cNvPr id="114" name="Group 114"/>
            <p:cNvGrpSpPr/>
            <p:nvPr/>
          </p:nvGrpSpPr>
          <p:grpSpPr>
            <a:xfrm>
              <a:off x="8770144" y="4445000"/>
              <a:ext cx="157163" cy="149225"/>
              <a:chOff x="8770144" y="4445000"/>
              <a:chExt cx="157163" cy="149225"/>
            </a:xfrm>
          </p:grpSpPr>
          <p:sp>
            <p:nvSpPr>
              <p:cNvPr id="110" name="Freeform 110"/>
              <p:cNvSpPr/>
              <p:nvPr/>
            </p:nvSpPr>
            <p:spPr>
              <a:xfrm>
                <a:off x="8770144" y="451485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111" name="Freeform 111"/>
              <p:cNvSpPr/>
              <p:nvPr/>
            </p:nvSpPr>
            <p:spPr>
              <a:xfrm>
                <a:off x="8874919" y="447992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112" name="Freeform 112"/>
              <p:cNvSpPr/>
              <p:nvPr/>
            </p:nvSpPr>
            <p:spPr>
              <a:xfrm>
                <a:off x="8822531" y="444500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113" name="Freeform 113"/>
              <p:cNvSpPr/>
              <p:nvPr/>
            </p:nvSpPr>
            <p:spPr>
              <a:xfrm>
                <a:off x="8778875" y="4584700"/>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115" name="TextBox 115"/>
            <p:cNvSpPr txBox="1"/>
            <p:nvPr/>
          </p:nvSpPr>
          <p:spPr>
            <a:xfrm>
              <a:off x="9129522" y="4371499"/>
              <a:ext cx="1627886" cy="381191"/>
            </a:xfrm>
            <a:prstGeom prst="rect">
              <a:avLst/>
            </a:prstGeom>
            <a:noFill/>
            <a:ln>
              <a:noFill/>
            </a:ln>
          </p:spPr>
          <p:txBody>
            <a:bodyPr wrap="none" lIns="0" tIns="0" rIns="0" bIns="0" anchor="t" anchorCtr="0">
              <a:spAutoFit/>
            </a:bodyPr>
            <a:lstStyle/>
            <a:p>
              <a:pPr algn="l">
                <a:lnSpc>
                  <a:spcPts val="1500"/>
                </a:lnSpc>
              </a:pPr>
              <a:r>
                <a:rPr lang="zh-CN" sz="980" b="1" dirty="0">
                  <a:solidFill>
                    <a:srgbClr val="4C3733"/>
                  </a:solidFill>
                  <a:latin typeface="+mn-lt"/>
                  <a:ea typeface="+mn-ea"/>
                  <a:cs typeface="+mn-cs"/>
                </a:rPr>
                <a:t>直播流量持续向好</a:t>
              </a:r>
              <a:br/>
              <a:r>
                <a:rPr lang="zh-CN" sz="980" b="1" dirty="0">
                  <a:solidFill>
                    <a:srgbClr val="4C3733"/>
                  </a:solidFill>
                  <a:latin typeface="+mn-lt"/>
                  <a:ea typeface="+mn-ea"/>
                  <a:cs typeface="+mn-cs"/>
                </a:rPr>
                <a:t>增长强劲，搜索流量亟待优化</a:t>
              </a:r>
            </a:p>
          </p:txBody>
        </p:sp>
        <p:sp>
          <p:nvSpPr>
            <p:cNvPr id="116" name="TextBox 116"/>
            <p:cNvSpPr txBox="1"/>
            <p:nvPr/>
          </p:nvSpPr>
          <p:spPr>
            <a:xfrm>
              <a:off x="8672512" y="4902041"/>
              <a:ext cx="1675765" cy="504825"/>
            </a:xfrm>
            <a:prstGeom prst="rect">
              <a:avLst/>
            </a:prstGeom>
            <a:noFill/>
            <a:ln>
              <a:noFill/>
            </a:ln>
          </p:spPr>
          <p:txBody>
            <a:bodyPr wrap="none" lIns="0" tIns="0" rIns="0" bIns="0" anchor="t" anchorCtr="0">
              <a:spAutoFit/>
            </a:bodyPr>
            <a:lstStyle/>
            <a:p>
              <a:pPr algn="l">
                <a:lnSpc>
                  <a:spcPts val="1350"/>
                </a:lnSpc>
              </a:pPr>
              <a:r>
                <a:rPr lang="zh-CN" sz="820" dirty="0">
                  <a:solidFill>
                    <a:srgbClr val="88706B"/>
                  </a:solidFill>
                  <a:latin typeface="+mn-lt"/>
                  <a:ea typeface="+mn-ea"/>
                  <a:cs typeface="+mn-cs"/>
                </a:rPr>
                <a:t>优化热门关键词，长尾关键词确保内</a:t>
              </a:r>
              <a:br/>
              <a:r>
                <a:rPr lang="zh-CN" sz="820" dirty="0">
                  <a:solidFill>
                    <a:srgbClr val="88706B"/>
                  </a:solidFill>
                  <a:latin typeface="+mn-lt"/>
                  <a:ea typeface="+mn-ea"/>
                  <a:cs typeface="+mn-cs"/>
                </a:rPr>
                <a:t>容、产品标题、描述等元素中合理布</a:t>
              </a:r>
              <a:br/>
              <a:r>
                <a:rPr lang="zh-CN" sz="820" dirty="0">
                  <a:solidFill>
                    <a:srgbClr val="88706B"/>
                  </a:solidFill>
                  <a:latin typeface="+mn-lt"/>
                  <a:ea typeface="+mn-ea"/>
                  <a:cs typeface="+mn-cs"/>
                </a:rPr>
                <a:t>局这些关键词以提高搜索流量</a:t>
              </a:r>
            </a:p>
          </p:txBody>
        </p:sp>
      </p:gr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73​​</a:t>
              </a:r>
            </a:p>
          </p:txBody>
        </p:sp>
        <p:sp>
          <p:nvSpPr>
            <p:cNvPr id="4" name="TextBox 4"/>
            <p:cNvSpPr txBox="1"/>
            <p:nvPr/>
          </p:nvSpPr>
          <p:spPr>
            <a:xfrm>
              <a:off x="942594" y="151448"/>
              <a:ext cx="184420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产品数据分析​</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31" name="left-pie-panel"/>
          <p:cNvGrpSpPr/>
          <p:nvPr/>
        </p:nvGrpSpPr>
        <p:grpSpPr>
          <a:xfrm>
            <a:off x="342900" y="847725"/>
            <a:ext cx="3552825" cy="5581650"/>
            <a:chOff x="342900" y="847725"/>
            <a:chExt cx="3552825" cy="5581650"/>
          </a:xfrm>
        </p:grpSpPr>
        <p:sp>
          <p:nvSpPr>
            <p:cNvPr id="7" name="Rectangle 7"/>
            <p:cNvSpPr/>
            <p:nvPr/>
          </p:nvSpPr>
          <p:spPr>
            <a:xfrm>
              <a:off x="342900" y="847725"/>
              <a:ext cx="3552825" cy="5581650"/>
            </a:xfrm>
            <a:prstGeom prst="roundRect">
              <a:avLst>
                <a:gd name="adj" fmla="val 3217"/>
              </a:avLst>
            </a:prstGeom>
            <a:gradFill>
              <a:gsLst>
                <a:gs pos="0">
                  <a:srgbClr val="E69A8A"/>
                </a:gs>
                <a:gs pos="100000">
                  <a:srgbClr val="D87D6A"/>
                </a:gs>
              </a:gsLst>
              <a:lin ang="4091915" scaled="1"/>
            </a:gradFill>
            <a:ln>
              <a:noFill/>
            </a:ln>
          </p:spPr>
        </p:sp>
        <p:sp>
          <p:nvSpPr>
            <p:cNvPr id="8" name="Rectangle 8"/>
            <p:cNvSpPr/>
            <p:nvPr/>
          </p:nvSpPr>
          <p:spPr>
            <a:xfrm>
              <a:off x="1257300" y="1085850"/>
              <a:ext cx="1714500" cy="285750"/>
            </a:xfrm>
            <a:prstGeom prst="roundRect">
              <a:avLst>
                <a:gd name="adj" fmla="val 50000"/>
              </a:avLst>
            </a:prstGeom>
            <a:solidFill>
              <a:srgbClr val="C45F4A"/>
            </a:solidFill>
            <a:ln>
              <a:noFill/>
            </a:ln>
          </p:spPr>
        </p:sp>
        <p:sp>
          <p:nvSpPr>
            <p:cNvPr id="9" name="TextBox 9"/>
            <p:cNvSpPr txBox="1"/>
            <p:nvPr/>
          </p:nvSpPr>
          <p:spPr>
            <a:xfrm>
              <a:off x="1543812" y="1172528"/>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销售流量来源分析</a:t>
              </a:r>
            </a:p>
          </p:txBody>
        </p:sp>
        <p:sp>
          <p:nvSpPr>
            <p:cNvPr id="10" name="Rectangle 10"/>
            <p:cNvSpPr/>
            <p:nvPr/>
          </p:nvSpPr>
          <p:spPr>
            <a:xfrm>
              <a:off x="666750" y="1581150"/>
              <a:ext cx="85725" cy="85725"/>
            </a:xfrm>
            <a:prstGeom prst="rect">
              <a:avLst/>
            </a:prstGeom>
            <a:solidFill>
              <a:srgbClr val="D87D6A"/>
            </a:solidFill>
            <a:ln>
              <a:noFill/>
            </a:ln>
          </p:spPr>
        </p:sp>
        <p:sp>
          <p:nvSpPr>
            <p:cNvPr id="11" name="TextBox 11"/>
            <p:cNvSpPr txBox="1"/>
            <p:nvPr/>
          </p:nvSpPr>
          <p:spPr>
            <a:xfrm>
              <a:off x="795338" y="1572339"/>
              <a:ext cx="434924"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直播推荐</a:t>
              </a:r>
            </a:p>
          </p:txBody>
        </p:sp>
        <p:sp>
          <p:nvSpPr>
            <p:cNvPr id="12" name="Rectangle 12"/>
            <p:cNvSpPr/>
            <p:nvPr/>
          </p:nvSpPr>
          <p:spPr>
            <a:xfrm>
              <a:off x="1447800" y="1581150"/>
              <a:ext cx="85725" cy="85725"/>
            </a:xfrm>
            <a:prstGeom prst="rect">
              <a:avLst/>
            </a:prstGeom>
            <a:solidFill>
              <a:srgbClr val="E8634C"/>
            </a:solidFill>
            <a:ln>
              <a:noFill/>
            </a:ln>
          </p:spPr>
        </p:sp>
        <p:sp>
          <p:nvSpPr>
            <p:cNvPr id="13" name="TextBox 13"/>
            <p:cNvSpPr txBox="1"/>
            <p:nvPr/>
          </p:nvSpPr>
          <p:spPr>
            <a:xfrm>
              <a:off x="1576388" y="1572339"/>
              <a:ext cx="434924"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视频推荐</a:t>
              </a:r>
            </a:p>
          </p:txBody>
        </p:sp>
        <p:sp>
          <p:nvSpPr>
            <p:cNvPr id="14" name="Rectangle 14"/>
            <p:cNvSpPr/>
            <p:nvPr/>
          </p:nvSpPr>
          <p:spPr>
            <a:xfrm>
              <a:off x="2228850" y="1581150"/>
              <a:ext cx="85725" cy="85725"/>
            </a:xfrm>
            <a:prstGeom prst="rect">
              <a:avLst/>
            </a:prstGeom>
            <a:solidFill>
              <a:srgbClr val="EEB5A9"/>
            </a:solidFill>
            <a:ln>
              <a:noFill/>
            </a:ln>
          </p:spPr>
        </p:sp>
        <p:sp>
          <p:nvSpPr>
            <p:cNvPr id="15" name="TextBox 15"/>
            <p:cNvSpPr txBox="1"/>
            <p:nvPr/>
          </p:nvSpPr>
          <p:spPr>
            <a:xfrm>
              <a:off x="2357438" y="1572339"/>
              <a:ext cx="222225"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关注</a:t>
              </a:r>
            </a:p>
          </p:txBody>
        </p:sp>
        <p:sp>
          <p:nvSpPr>
            <p:cNvPr id="16" name="Rectangle 16"/>
            <p:cNvSpPr/>
            <p:nvPr/>
          </p:nvSpPr>
          <p:spPr>
            <a:xfrm>
              <a:off x="2762250" y="1581150"/>
              <a:ext cx="85725" cy="85725"/>
            </a:xfrm>
            <a:prstGeom prst="rect">
              <a:avLst/>
            </a:prstGeom>
            <a:solidFill>
              <a:srgbClr val="987F7A"/>
            </a:solidFill>
            <a:ln>
              <a:noFill/>
            </a:ln>
          </p:spPr>
        </p:sp>
        <p:sp>
          <p:nvSpPr>
            <p:cNvPr id="17" name="TextBox 17"/>
            <p:cNvSpPr txBox="1"/>
            <p:nvPr/>
          </p:nvSpPr>
          <p:spPr>
            <a:xfrm>
              <a:off x="2890838" y="1572339"/>
              <a:ext cx="222225"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其他</a:t>
              </a:r>
            </a:p>
          </p:txBody>
        </p:sp>
        <p:sp>
          <p:nvSpPr>
            <p:cNvPr id="18" name="Ellipse 18"/>
            <p:cNvSpPr/>
            <p:nvPr/>
          </p:nvSpPr>
          <p:spPr>
            <a:xfrm>
              <a:off x="1019175" y="2124075"/>
              <a:ext cx="2190750" cy="1619250"/>
            </a:xfrm>
            <a:prstGeom prst="ellipse">
              <a:avLst/>
            </a:prstGeom>
            <a:solidFill>
              <a:srgbClr val="B8503B"/>
            </a:solidFill>
            <a:ln>
              <a:noFill/>
            </a:ln>
          </p:spPr>
        </p:sp>
        <p:sp>
          <p:nvSpPr>
            <p:cNvPr id="19" name="Ellipse 19"/>
            <p:cNvSpPr/>
            <p:nvPr/>
          </p:nvSpPr>
          <p:spPr>
            <a:xfrm>
              <a:off x="1019175" y="2047875"/>
              <a:ext cx="2190750" cy="1619250"/>
            </a:xfrm>
            <a:prstGeom prst="ellipse">
              <a:avLst/>
            </a:prstGeom>
            <a:solidFill>
              <a:srgbClr val="F0F3FB"/>
            </a:solidFill>
            <a:ln>
              <a:noFill/>
            </a:ln>
          </p:spPr>
        </p:sp>
        <p:sp>
          <p:nvSpPr>
            <p:cNvPr id="20" name="Freeform 20"/>
            <p:cNvSpPr/>
            <p:nvPr/>
          </p:nvSpPr>
          <p:spPr>
            <a:xfrm>
              <a:off x="2114550" y="2047875"/>
              <a:ext cx="1095375" cy="1619250"/>
            </a:xfrm>
            <a:custGeom>
              <a:avLst/>
              <a:gdLst/>
              <a:ahLst/>
              <a:cxnLst/>
              <a:rect l="l" t="t" r="r" b="b"/>
              <a:pathLst>
                <a:path w="1095375" h="1619250">
                  <a:moveTo>
                    <a:pt x="0" y="809625"/>
                  </a:moveTo>
                  <a:lnTo>
                    <a:pt x="0" y="0"/>
                  </a:lnTo>
                  <a:cubicBezTo>
                    <a:pt x="604959" y="0"/>
                    <a:pt x="1095375" y="362481"/>
                    <a:pt x="1095375" y="809625"/>
                  </a:cubicBezTo>
                  <a:cubicBezTo>
                    <a:pt x="1095375" y="1256769"/>
                    <a:pt x="604959" y="1619250"/>
                    <a:pt x="0" y="1619250"/>
                  </a:cubicBezTo>
                  <a:close/>
                </a:path>
              </a:pathLst>
            </a:custGeom>
            <a:solidFill>
              <a:srgbClr val="D87D6A"/>
            </a:solidFill>
            <a:ln>
              <a:noFill/>
            </a:ln>
          </p:spPr>
        </p:sp>
        <p:sp>
          <p:nvSpPr>
            <p:cNvPr id="21" name="Freeform 21"/>
            <p:cNvSpPr/>
            <p:nvPr/>
          </p:nvSpPr>
          <p:spPr>
            <a:xfrm>
              <a:off x="976725" y="2705100"/>
              <a:ext cx="1137825" cy="962142"/>
            </a:xfrm>
            <a:custGeom>
              <a:avLst/>
              <a:gdLst/>
              <a:ahLst/>
              <a:cxnLst/>
              <a:rect l="l" t="t" r="r" b="b"/>
              <a:pathLst>
                <a:path w="1137825" h="962142">
                  <a:moveTo>
                    <a:pt x="1137825" y="152400"/>
                  </a:moveTo>
                  <a:lnTo>
                    <a:pt x="1137825" y="962025"/>
                  </a:lnTo>
                  <a:cubicBezTo>
                    <a:pt x="811105" y="962142"/>
                    <a:pt x="501370" y="854454"/>
                    <a:pt x="293159" y="668354"/>
                  </a:cubicBezTo>
                  <a:cubicBezTo>
                    <a:pt x="84948" y="482255"/>
                    <a:pt x="0" y="237172"/>
                    <a:pt x="61500" y="0"/>
                  </a:cubicBezTo>
                  <a:close/>
                </a:path>
              </a:pathLst>
            </a:custGeom>
            <a:solidFill>
              <a:srgbClr val="E8634C"/>
            </a:solidFill>
            <a:ln>
              <a:noFill/>
            </a:ln>
          </p:spPr>
        </p:sp>
        <p:sp>
          <p:nvSpPr>
            <p:cNvPr id="22" name="Freeform 22"/>
            <p:cNvSpPr/>
            <p:nvPr/>
          </p:nvSpPr>
          <p:spPr>
            <a:xfrm>
              <a:off x="1038225" y="2124075"/>
              <a:ext cx="1076325" cy="733425"/>
            </a:xfrm>
            <a:custGeom>
              <a:avLst/>
              <a:gdLst/>
              <a:ahLst/>
              <a:cxnLst/>
              <a:rect l="l" t="t" r="r" b="b"/>
              <a:pathLst>
                <a:path w="1076325" h="733425">
                  <a:moveTo>
                    <a:pt x="1076325" y="733425"/>
                  </a:moveTo>
                  <a:lnTo>
                    <a:pt x="0" y="581025"/>
                  </a:lnTo>
                  <a:cubicBezTo>
                    <a:pt x="65641" y="326387"/>
                    <a:pt x="292275" y="110377"/>
                    <a:pt x="609600" y="0"/>
                  </a:cubicBezTo>
                  <a:close/>
                </a:path>
              </a:pathLst>
            </a:custGeom>
            <a:solidFill>
              <a:srgbClr val="EEB5A9"/>
            </a:solidFill>
            <a:ln>
              <a:noFill/>
            </a:ln>
          </p:spPr>
        </p:sp>
        <p:sp>
          <p:nvSpPr>
            <p:cNvPr id="23" name="Freeform 23"/>
            <p:cNvSpPr/>
            <p:nvPr/>
          </p:nvSpPr>
          <p:spPr>
            <a:xfrm>
              <a:off x="1647825" y="2047571"/>
              <a:ext cx="466725" cy="809929"/>
            </a:xfrm>
            <a:custGeom>
              <a:avLst/>
              <a:gdLst/>
              <a:ahLst/>
              <a:cxnLst/>
              <a:rect l="l" t="t" r="r" b="b"/>
              <a:pathLst>
                <a:path w="466725" h="809929">
                  <a:moveTo>
                    <a:pt x="466725" y="809929"/>
                  </a:moveTo>
                  <a:lnTo>
                    <a:pt x="0" y="76504"/>
                  </a:lnTo>
                  <a:cubicBezTo>
                    <a:pt x="146089" y="26019"/>
                    <a:pt x="305458" y="0"/>
                    <a:pt x="466725" y="304"/>
                  </a:cubicBezTo>
                  <a:close/>
                </a:path>
              </a:pathLst>
            </a:custGeom>
            <a:solidFill>
              <a:srgbClr val="987F7A"/>
            </a:solidFill>
            <a:ln>
              <a:noFill/>
            </a:ln>
          </p:spPr>
        </p:sp>
        <p:sp>
          <p:nvSpPr>
            <p:cNvPr id="24" name="TextBox 24"/>
            <p:cNvSpPr txBox="1"/>
            <p:nvPr/>
          </p:nvSpPr>
          <p:spPr>
            <a:xfrm>
              <a:off x="2286274" y="2866549"/>
              <a:ext cx="41855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50%​​</a:t>
              </a:r>
            </a:p>
          </p:txBody>
        </p:sp>
        <p:sp>
          <p:nvSpPr>
            <p:cNvPr id="25" name="TextBox 25"/>
            <p:cNvSpPr txBox="1"/>
            <p:nvPr/>
          </p:nvSpPr>
          <p:spPr>
            <a:xfrm>
              <a:off x="1198244" y="2760345"/>
              <a:ext cx="38481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28%​​</a:t>
              </a:r>
            </a:p>
          </p:txBody>
        </p:sp>
        <p:sp>
          <p:nvSpPr>
            <p:cNvPr id="26" name="TextBox 26"/>
            <p:cNvSpPr txBox="1"/>
            <p:nvPr/>
          </p:nvSpPr>
          <p:spPr>
            <a:xfrm>
              <a:off x="1255394" y="2169795"/>
              <a:ext cx="384812" cy="176212"/>
            </a:xfrm>
            <a:prstGeom prst="rect">
              <a:avLst/>
            </a:prstGeom>
            <a:noFill/>
            <a:ln>
              <a:noFill/>
            </a:ln>
          </p:spPr>
          <p:txBody>
            <a:bodyPr wrap="none" lIns="0" tIns="0" rIns="0" bIns="0" anchor="t" anchorCtr="0">
              <a:spAutoFit/>
            </a:bodyPr>
            <a:lstStyle/>
            <a:p>
              <a:pPr algn="ctr"/>
              <a:r>
                <a:rPr lang="zh-CN" sz="900" b="1" dirty="0">
                  <a:solidFill>
                    <a:srgbClr val="543E3A"/>
                  </a:solidFill>
                  <a:latin typeface="+mn-lt"/>
                  <a:ea typeface="+mn-ea"/>
                  <a:cs typeface="+mn-cs"/>
                </a:rPr>
                <a:t>15%​​</a:t>
              </a:r>
            </a:p>
          </p:txBody>
        </p:sp>
        <p:sp>
          <p:nvSpPr>
            <p:cNvPr id="27" name="TextBox 27"/>
            <p:cNvSpPr txBox="1"/>
            <p:nvPr/>
          </p:nvSpPr>
          <p:spPr>
            <a:xfrm>
              <a:off x="1842828" y="1864995"/>
              <a:ext cx="314843" cy="176212"/>
            </a:xfrm>
            <a:prstGeom prst="rect">
              <a:avLst/>
            </a:prstGeom>
            <a:noFill/>
            <a:ln>
              <a:noFill/>
            </a:ln>
          </p:spPr>
          <p:txBody>
            <a:bodyPr wrap="none" lIns="0" tIns="0" rIns="0" bIns="0" anchor="t" anchorCtr="0">
              <a:spAutoFit/>
            </a:bodyPr>
            <a:lstStyle/>
            <a:p>
              <a:pPr algn="ctr"/>
              <a:r>
                <a:rPr lang="zh-CN" sz="900" b="1" dirty="0">
                  <a:solidFill>
                    <a:srgbClr val="543E3A"/>
                  </a:solidFill>
                  <a:latin typeface="+mn-lt"/>
                  <a:ea typeface="+mn-ea"/>
                  <a:cs typeface="+mn-cs"/>
                </a:rPr>
                <a:t>7%​​</a:t>
              </a:r>
            </a:p>
          </p:txBody>
        </p:sp>
        <p:sp>
          <p:nvSpPr>
            <p:cNvPr id="28" name="TextBox 28"/>
            <p:cNvSpPr txBox="1"/>
            <p:nvPr/>
          </p:nvSpPr>
          <p:spPr>
            <a:xfrm>
              <a:off x="717804" y="4385310"/>
              <a:ext cx="162763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直播占比最多销售额超</a:t>
              </a:r>
            </a:p>
          </p:txBody>
        </p:sp>
        <p:sp>
          <p:nvSpPr>
            <p:cNvPr id="29" name="TextBox 29"/>
            <p:cNvSpPr txBox="1"/>
            <p:nvPr/>
          </p:nvSpPr>
          <p:spPr>
            <a:xfrm>
              <a:off x="707136" y="4749165"/>
              <a:ext cx="1503982" cy="645414"/>
            </a:xfrm>
            <a:prstGeom prst="rect">
              <a:avLst/>
            </a:prstGeom>
            <a:noFill/>
            <a:ln>
              <a:noFill/>
            </a:ln>
          </p:spPr>
          <p:txBody>
            <a:bodyPr wrap="none" lIns="0" tIns="0" rIns="0" bIns="0" anchor="t" anchorCtr="0">
              <a:spAutoFit/>
            </a:bodyPr>
            <a:lstStyle/>
            <a:p>
              <a:pPr algn="l"/>
              <a:r>
                <a:rPr lang="zh-CN" sz="3300" b="1" dirty="0">
                  <a:solidFill>
                    <a:srgbClr val="FF765F"/>
                  </a:solidFill>
                  <a:latin typeface="+mn-lt"/>
                  <a:ea typeface="+mn-ea"/>
                  <a:cs typeface="+mn-cs"/>
                </a:rPr>
                <a:t>15亿​​</a:t>
              </a:r>
            </a:p>
          </p:txBody>
        </p:sp>
        <p:sp>
          <p:nvSpPr>
            <p:cNvPr id="30" name="TextBox 30"/>
            <p:cNvSpPr txBox="1"/>
            <p:nvPr/>
          </p:nvSpPr>
          <p:spPr>
            <a:xfrm>
              <a:off x="738188" y="5255895"/>
              <a:ext cx="697097" cy="176212"/>
            </a:xfrm>
            <a:prstGeom prst="rect">
              <a:avLst/>
            </a:prstGeom>
            <a:noFill/>
            <a:ln>
              <a:noFill/>
            </a:ln>
          </p:spPr>
          <p:txBody>
            <a:bodyPr wrap="none" lIns="0" tIns="0" rIns="0" bIns="0" anchor="t" anchorCtr="0">
              <a:spAutoFit/>
            </a:bodyPr>
            <a:lstStyle/>
            <a:p>
              <a:pPr algn="l"/>
              <a:r>
                <a:rPr lang="zh-CN" sz="900" b="1" dirty="0">
                  <a:solidFill>
                    <a:srgbClr val="FFCDC4"/>
                  </a:solidFill>
                  <a:latin typeface="+mn-lt"/>
                  <a:ea typeface="+mn-ea"/>
                  <a:cs typeface="+mn-cs"/>
                </a:rPr>
                <a:t>同比+10%​​</a:t>
              </a:r>
            </a:p>
          </p:txBody>
        </p:sp>
      </p:grpSp>
      <p:grpSp>
        <p:nvGrpSpPr>
          <p:cNvPr id="35" name="center-block"/>
          <p:cNvGrpSpPr/>
          <p:nvPr/>
        </p:nvGrpSpPr>
        <p:grpSpPr>
          <a:xfrm>
            <a:off x="4078224" y="983932"/>
            <a:ext cx="2302574" cy="1680591"/>
            <a:chOff x="4078224" y="983932"/>
            <a:chExt cx="2302574" cy="1680591"/>
          </a:xfrm>
        </p:grpSpPr>
        <p:sp>
          <p:nvSpPr>
            <p:cNvPr id="32" name="TextBox 32"/>
            <p:cNvSpPr txBox="1"/>
            <p:nvPr/>
          </p:nvSpPr>
          <p:spPr>
            <a:xfrm>
              <a:off x="4087368" y="983932"/>
              <a:ext cx="1790877"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产品M销量跃升​​</a:t>
              </a:r>
            </a:p>
          </p:txBody>
        </p:sp>
        <p:sp>
          <p:nvSpPr>
            <p:cNvPr id="33" name="TextBox 33"/>
            <p:cNvSpPr txBox="1"/>
            <p:nvPr/>
          </p:nvSpPr>
          <p:spPr>
            <a:xfrm>
              <a:off x="4090988" y="1407795"/>
              <a:ext cx="2289810" cy="357188"/>
            </a:xfrm>
            <a:prstGeom prst="rect">
              <a:avLst/>
            </a:prstGeom>
            <a:noFill/>
            <a:ln>
              <a:noFill/>
            </a:ln>
          </p:spPr>
          <p:txBody>
            <a:bodyPr wrap="none" lIns="0" tIns="0" rIns="0" bIns="0" anchor="t" anchorCtr="0">
              <a:spAutoFit/>
            </a:bodyPr>
            <a:lstStyle/>
            <a:p>
              <a:pPr algn="l">
                <a:lnSpc>
                  <a:spcPts val="1425"/>
                </a:lnSpc>
              </a:pPr>
              <a:r>
                <a:rPr lang="zh-CN" sz="900" dirty="0">
                  <a:solidFill>
                    <a:srgbClr val="88706B"/>
                  </a:solidFill>
                  <a:latin typeface="+mn-lt"/>
                  <a:ea typeface="+mn-ea"/>
                  <a:cs typeface="+mn-cs"/>
                </a:rPr>
                <a:t>产品海外销额增加，较上季升20%，扩市场​​</a:t>
              </a:r>
              <a:br/>
              <a:r>
                <a:rPr lang="zh-CN" sz="900" dirty="0">
                  <a:solidFill>
                    <a:srgbClr val="88706B"/>
                  </a:solidFill>
                  <a:latin typeface="+mn-lt"/>
                  <a:ea typeface="+mn-ea"/>
                  <a:cs typeface="+mn-cs"/>
                </a:rPr>
                <a:t>份额3%，于当地电商平台同类品销量进前​​</a:t>
              </a:r>
            </a:p>
          </p:txBody>
        </p:sp>
        <p:sp>
          <p:nvSpPr>
            <p:cNvPr id="34" name="TextBox 34"/>
            <p:cNvSpPr txBox="1"/>
            <p:nvPr/>
          </p:nvSpPr>
          <p:spPr>
            <a:xfrm>
              <a:off x="4078224" y="1989772"/>
              <a:ext cx="1350222" cy="674751"/>
            </a:xfrm>
            <a:prstGeom prst="rect">
              <a:avLst/>
            </a:prstGeom>
            <a:noFill/>
            <a:ln>
              <a:noFill/>
            </a:ln>
          </p:spPr>
          <p:txBody>
            <a:bodyPr wrap="none" lIns="0" tIns="0" rIns="0" bIns="0" anchor="t" anchorCtr="0">
              <a:spAutoFit/>
            </a:bodyPr>
            <a:lstStyle/>
            <a:p>
              <a:pPr algn="l"/>
              <a:r>
                <a:rPr lang="zh-CN" sz="3450" b="1" dirty="0">
                  <a:solidFill>
                    <a:srgbClr val="E8634C"/>
                  </a:solidFill>
                  <a:latin typeface="+mn-lt"/>
                  <a:ea typeface="+mn-ea"/>
                  <a:cs typeface="+mn-cs"/>
                </a:rPr>
                <a:t>10</a:t>
              </a:r>
              <a:r>
                <a:rPr lang="zh-CN" sz="1800" b="1" dirty="0">
                  <a:solidFill>
                    <a:srgbClr val="E8634C"/>
                  </a:solidFill>
                  <a:latin typeface="+mn-lt"/>
                  <a:ea typeface="+mn-ea"/>
                  <a:cs typeface="+mn-cs"/>
                </a:rPr>
                <a:t>名</a:t>
              </a:r>
              <a:r>
                <a:rPr lang="zh-CN" sz="3450" b="1" dirty="0">
                  <a:solidFill>
                    <a:srgbClr val="E8634C"/>
                  </a:solidFill>
                  <a:latin typeface="+mn-lt"/>
                  <a:ea typeface="+mn-ea"/>
                  <a:cs typeface="+mn-cs"/>
                </a:rPr>
                <a:t>​​</a:t>
              </a:r>
            </a:p>
          </p:txBody>
        </p:sp>
      </p:grpSp>
      <p:grpSp>
        <p:nvGrpSpPr>
          <p:cNvPr id="54" name="profit-card"/>
          <p:cNvGrpSpPr/>
          <p:nvPr/>
        </p:nvGrpSpPr>
        <p:grpSpPr>
          <a:xfrm>
            <a:off x="7791450" y="1009650"/>
            <a:ext cx="4114800" cy="2000250"/>
            <a:chOff x="7791450" y="1009650"/>
            <a:chExt cx="4114800" cy="2000250"/>
          </a:xfrm>
        </p:grpSpPr>
        <p:sp>
          <p:nvSpPr>
            <p:cNvPr id="36" name="Rectangle 36"/>
            <p:cNvSpPr/>
            <p:nvPr/>
          </p:nvSpPr>
          <p:spPr>
            <a:xfrm>
              <a:off x="7791450" y="1009650"/>
              <a:ext cx="4114800" cy="2000250"/>
            </a:xfrm>
            <a:prstGeom prst="roundRect">
              <a:avLst>
                <a:gd name="adj" fmla="val 4762"/>
              </a:avLst>
            </a:prstGeom>
            <a:solidFill>
              <a:srgbClr val="FFFFFF"/>
            </a:solidFill>
            <a:ln w="14288">
              <a:solidFill>
                <a:srgbClr val="E2E6F7"/>
              </a:solidFill>
            </a:ln>
          </p:spPr>
        </p:sp>
        <p:sp>
          <p:nvSpPr>
            <p:cNvPr id="37" name="TextBox 37"/>
            <p:cNvSpPr txBox="1"/>
            <p:nvPr/>
          </p:nvSpPr>
          <p:spPr>
            <a:xfrm>
              <a:off x="7977188" y="1187291"/>
              <a:ext cx="1049884" cy="161925"/>
            </a:xfrm>
            <a:prstGeom prst="rect">
              <a:avLst/>
            </a:prstGeom>
            <a:noFill/>
            <a:ln>
              <a:noFill/>
            </a:ln>
          </p:spPr>
          <p:txBody>
            <a:bodyPr wrap="none" lIns="0" tIns="0" rIns="0" bIns="0" anchor="t" anchorCtr="0">
              <a:spAutoFit/>
            </a:bodyPr>
            <a:lstStyle/>
            <a:p>
              <a:pPr algn="l"/>
              <a:r>
                <a:rPr lang="zh-CN" sz="820" dirty="0">
                  <a:solidFill>
                    <a:srgbClr val="88706B"/>
                  </a:solidFill>
                  <a:latin typeface="+mn-lt"/>
                  <a:ea typeface="+mn-ea"/>
                  <a:cs typeface="+mn-cs"/>
                </a:rPr>
                <a:t>大中华区202X年度​​</a:t>
              </a:r>
            </a:p>
          </p:txBody>
        </p:sp>
        <p:sp>
          <p:nvSpPr>
            <p:cNvPr id="38" name="TextBox 38"/>
            <p:cNvSpPr txBox="1"/>
            <p:nvPr/>
          </p:nvSpPr>
          <p:spPr>
            <a:xfrm>
              <a:off x="7973568" y="1498282"/>
              <a:ext cx="2009106"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总利润</a:t>
              </a:r>
              <a:r>
                <a:rPr lang="zh-CN" sz="2400" b="1" dirty="0">
                  <a:solidFill>
                    <a:srgbClr val="E8634C"/>
                  </a:solidFill>
                  <a:latin typeface="+mn-lt"/>
                  <a:ea typeface="+mn-ea"/>
                  <a:cs typeface="+mn-cs"/>
                </a:rPr>
                <a:t>5931万</a:t>
              </a:r>
              <a:r>
                <a:rPr lang="zh-CN" sz="1650" b="1" dirty="0">
                  <a:solidFill>
                    <a:srgbClr val="1A1A1A"/>
                  </a:solidFill>
                  <a:latin typeface="+mn-lt"/>
                  <a:ea typeface="+mn-ea"/>
                  <a:cs typeface="+mn-cs"/>
                </a:rPr>
                <a:t>​​</a:t>
              </a:r>
            </a:p>
          </p:txBody>
        </p:sp>
        <p:sp>
          <p:nvSpPr>
            <p:cNvPr id="39" name="Ellipse 39"/>
            <p:cNvSpPr/>
            <p:nvPr/>
          </p:nvSpPr>
          <p:spPr>
            <a:xfrm>
              <a:off x="11239500" y="1143000"/>
              <a:ext cx="381000" cy="381000"/>
            </a:xfrm>
            <a:prstGeom prst="ellipse">
              <a:avLst/>
            </a:prstGeom>
            <a:solidFill>
              <a:srgbClr val="E8634C"/>
            </a:solidFill>
            <a:ln>
              <a:noFill/>
            </a:ln>
          </p:spPr>
        </p:sp>
        <p:sp>
          <p:nvSpPr>
            <p:cNvPr id="40" name="TextBox 40"/>
            <p:cNvSpPr txBox="1"/>
            <p:nvPr/>
          </p:nvSpPr>
          <p:spPr>
            <a:xfrm>
              <a:off x="11370665" y="1254442"/>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a:t>
              </a:r>
            </a:p>
          </p:txBody>
        </p:sp>
        <p:sp>
          <p:nvSpPr>
            <p:cNvPr id="41" name="TextBox 41"/>
            <p:cNvSpPr txBox="1"/>
            <p:nvPr/>
          </p:nvSpPr>
          <p:spPr>
            <a:xfrm>
              <a:off x="11123470" y="1629489"/>
              <a:ext cx="613060" cy="154781"/>
            </a:xfrm>
            <a:prstGeom prst="rect">
              <a:avLst/>
            </a:prstGeom>
            <a:noFill/>
            <a:ln>
              <a:noFill/>
            </a:ln>
          </p:spPr>
          <p:txBody>
            <a:bodyPr wrap="none" lIns="0" tIns="0" rIns="0" bIns="0" anchor="t" anchorCtr="0">
              <a:spAutoFit/>
            </a:bodyPr>
            <a:lstStyle/>
            <a:p>
              <a:pPr algn="ctr"/>
              <a:r>
                <a:rPr lang="zh-CN" sz="790" b="1" dirty="0">
                  <a:solidFill>
                    <a:srgbClr val="E8634C"/>
                  </a:solidFill>
                  <a:latin typeface="+mn-lt"/>
                  <a:ea typeface="+mn-ea"/>
                  <a:cs typeface="+mn-cs"/>
                </a:rPr>
                <a:t>同比+10%​​</a:t>
              </a:r>
            </a:p>
          </p:txBody>
        </p:sp>
        <p:sp>
          <p:nvSpPr>
            <p:cNvPr id="42" name="Rectangle 42"/>
            <p:cNvSpPr/>
            <p:nvPr/>
          </p:nvSpPr>
          <p:spPr>
            <a:xfrm>
              <a:off x="7981950" y="1981200"/>
              <a:ext cx="876300" cy="838200"/>
            </a:xfrm>
            <a:prstGeom prst="roundRect">
              <a:avLst>
                <a:gd name="adj" fmla="val 6818"/>
              </a:avLst>
            </a:prstGeom>
            <a:solidFill>
              <a:srgbClr val="EEF1FB"/>
            </a:solidFill>
            <a:ln>
              <a:noFill/>
            </a:ln>
          </p:spPr>
        </p:sp>
        <p:sp>
          <p:nvSpPr>
            <p:cNvPr id="43" name="TextBox 43"/>
            <p:cNvSpPr txBox="1"/>
            <p:nvPr/>
          </p:nvSpPr>
          <p:spPr>
            <a:xfrm>
              <a:off x="8168074" y="2200989"/>
              <a:ext cx="504052" cy="154781"/>
            </a:xfrm>
            <a:prstGeom prst="rect">
              <a:avLst/>
            </a:prstGeom>
            <a:noFill/>
            <a:ln>
              <a:noFill/>
            </a:ln>
          </p:spPr>
          <p:txBody>
            <a:bodyPr wrap="none" lIns="0" tIns="0" rIns="0" bIns="0" anchor="t" anchorCtr="0">
              <a:spAutoFit/>
            </a:bodyPr>
            <a:lstStyle/>
            <a:p>
              <a:pPr algn="ctr"/>
              <a:r>
                <a:rPr lang="zh-CN" sz="790" dirty="0">
                  <a:solidFill>
                    <a:srgbClr val="88706B"/>
                  </a:solidFill>
                  <a:latin typeface="+mn-lt"/>
                  <a:ea typeface="+mn-ea"/>
                  <a:cs typeface="+mn-cs"/>
                </a:rPr>
                <a:t>第1季度​​</a:t>
              </a:r>
            </a:p>
          </p:txBody>
        </p:sp>
        <p:sp>
          <p:nvSpPr>
            <p:cNvPr id="44" name="TextBox 44"/>
            <p:cNvSpPr txBox="1"/>
            <p:nvPr/>
          </p:nvSpPr>
          <p:spPr>
            <a:xfrm>
              <a:off x="8088245" y="2439352"/>
              <a:ext cx="663710" cy="205359"/>
            </a:xfrm>
            <a:prstGeom prst="rect">
              <a:avLst/>
            </a:prstGeom>
            <a:noFill/>
            <a:ln>
              <a:noFill/>
            </a:ln>
          </p:spPr>
          <p:txBody>
            <a:bodyPr wrap="none" lIns="0" tIns="0" rIns="0" bIns="0" anchor="t" anchorCtr="0">
              <a:spAutoFit/>
            </a:bodyPr>
            <a:lstStyle/>
            <a:p>
              <a:pPr algn="ctr"/>
              <a:r>
                <a:rPr lang="zh-CN" sz="1050" b="1" dirty="0">
                  <a:solidFill>
                    <a:srgbClr val="543E3A"/>
                  </a:solidFill>
                  <a:latin typeface="+mn-lt"/>
                  <a:ea typeface="+mn-ea"/>
                  <a:cs typeface="+mn-cs"/>
                </a:rPr>
                <a:t>17,882​​</a:t>
              </a:r>
            </a:p>
          </p:txBody>
        </p:sp>
        <p:sp>
          <p:nvSpPr>
            <p:cNvPr id="45" name="Rectangle 45"/>
            <p:cNvSpPr/>
            <p:nvPr/>
          </p:nvSpPr>
          <p:spPr>
            <a:xfrm>
              <a:off x="8953500" y="1981200"/>
              <a:ext cx="876300" cy="838200"/>
            </a:xfrm>
            <a:prstGeom prst="roundRect">
              <a:avLst>
                <a:gd name="adj" fmla="val 6818"/>
              </a:avLst>
            </a:prstGeom>
            <a:solidFill>
              <a:srgbClr val="EEF1FB"/>
            </a:solidFill>
            <a:ln>
              <a:noFill/>
            </a:ln>
          </p:spPr>
        </p:sp>
        <p:sp>
          <p:nvSpPr>
            <p:cNvPr id="46" name="TextBox 46"/>
            <p:cNvSpPr txBox="1"/>
            <p:nvPr/>
          </p:nvSpPr>
          <p:spPr>
            <a:xfrm>
              <a:off x="9139624" y="2200989"/>
              <a:ext cx="504052" cy="154781"/>
            </a:xfrm>
            <a:prstGeom prst="rect">
              <a:avLst/>
            </a:prstGeom>
            <a:noFill/>
            <a:ln>
              <a:noFill/>
            </a:ln>
          </p:spPr>
          <p:txBody>
            <a:bodyPr wrap="none" lIns="0" tIns="0" rIns="0" bIns="0" anchor="t" anchorCtr="0">
              <a:spAutoFit/>
            </a:bodyPr>
            <a:lstStyle/>
            <a:p>
              <a:pPr algn="ctr"/>
              <a:r>
                <a:rPr lang="zh-CN" sz="790" dirty="0">
                  <a:solidFill>
                    <a:srgbClr val="88706B"/>
                  </a:solidFill>
                  <a:latin typeface="+mn-lt"/>
                  <a:ea typeface="+mn-ea"/>
                  <a:cs typeface="+mn-cs"/>
                </a:rPr>
                <a:t>第2季度​​</a:t>
              </a:r>
            </a:p>
          </p:txBody>
        </p:sp>
        <p:sp>
          <p:nvSpPr>
            <p:cNvPr id="47" name="TextBox 47"/>
            <p:cNvSpPr txBox="1"/>
            <p:nvPr/>
          </p:nvSpPr>
          <p:spPr>
            <a:xfrm>
              <a:off x="9059795" y="2439352"/>
              <a:ext cx="663710" cy="205359"/>
            </a:xfrm>
            <a:prstGeom prst="rect">
              <a:avLst/>
            </a:prstGeom>
            <a:noFill/>
            <a:ln>
              <a:noFill/>
            </a:ln>
          </p:spPr>
          <p:txBody>
            <a:bodyPr wrap="none" lIns="0" tIns="0" rIns="0" bIns="0" anchor="t" anchorCtr="0">
              <a:spAutoFit/>
            </a:bodyPr>
            <a:lstStyle/>
            <a:p>
              <a:pPr algn="ctr"/>
              <a:r>
                <a:rPr lang="zh-CN" sz="1050" b="1" dirty="0">
                  <a:solidFill>
                    <a:srgbClr val="543E3A"/>
                  </a:solidFill>
                  <a:latin typeface="+mn-lt"/>
                  <a:ea typeface="+mn-ea"/>
                  <a:cs typeface="+mn-cs"/>
                </a:rPr>
                <a:t>13,002​​</a:t>
              </a:r>
            </a:p>
          </p:txBody>
        </p:sp>
        <p:sp>
          <p:nvSpPr>
            <p:cNvPr id="48" name="Rectangle 48"/>
            <p:cNvSpPr/>
            <p:nvPr/>
          </p:nvSpPr>
          <p:spPr>
            <a:xfrm>
              <a:off x="9925050" y="1981200"/>
              <a:ext cx="876300" cy="838200"/>
            </a:xfrm>
            <a:prstGeom prst="roundRect">
              <a:avLst>
                <a:gd name="adj" fmla="val 6818"/>
              </a:avLst>
            </a:prstGeom>
            <a:solidFill>
              <a:srgbClr val="EEF1FB"/>
            </a:solidFill>
            <a:ln>
              <a:noFill/>
            </a:ln>
          </p:spPr>
        </p:sp>
        <p:sp>
          <p:nvSpPr>
            <p:cNvPr id="49" name="TextBox 49"/>
            <p:cNvSpPr txBox="1"/>
            <p:nvPr/>
          </p:nvSpPr>
          <p:spPr>
            <a:xfrm>
              <a:off x="10111174" y="2200989"/>
              <a:ext cx="504052" cy="154781"/>
            </a:xfrm>
            <a:prstGeom prst="rect">
              <a:avLst/>
            </a:prstGeom>
            <a:noFill/>
            <a:ln>
              <a:noFill/>
            </a:ln>
          </p:spPr>
          <p:txBody>
            <a:bodyPr wrap="none" lIns="0" tIns="0" rIns="0" bIns="0" anchor="t" anchorCtr="0">
              <a:spAutoFit/>
            </a:bodyPr>
            <a:lstStyle/>
            <a:p>
              <a:pPr algn="ctr"/>
              <a:r>
                <a:rPr lang="zh-CN" sz="790" dirty="0">
                  <a:solidFill>
                    <a:srgbClr val="88706B"/>
                  </a:solidFill>
                  <a:latin typeface="+mn-lt"/>
                  <a:ea typeface="+mn-ea"/>
                  <a:cs typeface="+mn-cs"/>
                </a:rPr>
                <a:t>第3季度​​</a:t>
              </a:r>
            </a:p>
          </p:txBody>
        </p:sp>
        <p:sp>
          <p:nvSpPr>
            <p:cNvPr id="50" name="TextBox 50"/>
            <p:cNvSpPr txBox="1"/>
            <p:nvPr/>
          </p:nvSpPr>
          <p:spPr>
            <a:xfrm>
              <a:off x="10031345" y="2439352"/>
              <a:ext cx="663710" cy="205359"/>
            </a:xfrm>
            <a:prstGeom prst="rect">
              <a:avLst/>
            </a:prstGeom>
            <a:noFill/>
            <a:ln>
              <a:noFill/>
            </a:ln>
          </p:spPr>
          <p:txBody>
            <a:bodyPr wrap="none" lIns="0" tIns="0" rIns="0" bIns="0" anchor="t" anchorCtr="0">
              <a:spAutoFit/>
            </a:bodyPr>
            <a:lstStyle/>
            <a:p>
              <a:pPr algn="ctr"/>
              <a:r>
                <a:rPr lang="zh-CN" sz="1050" b="1" dirty="0">
                  <a:solidFill>
                    <a:srgbClr val="543E3A"/>
                  </a:solidFill>
                  <a:latin typeface="+mn-lt"/>
                  <a:ea typeface="+mn-ea"/>
                  <a:cs typeface="+mn-cs"/>
                </a:rPr>
                <a:t>11,882​​</a:t>
              </a:r>
            </a:p>
          </p:txBody>
        </p:sp>
        <p:sp>
          <p:nvSpPr>
            <p:cNvPr id="51" name="Rectangle 51"/>
            <p:cNvSpPr/>
            <p:nvPr/>
          </p:nvSpPr>
          <p:spPr>
            <a:xfrm>
              <a:off x="10896600" y="1981200"/>
              <a:ext cx="876300" cy="838200"/>
            </a:xfrm>
            <a:prstGeom prst="roundRect">
              <a:avLst>
                <a:gd name="adj" fmla="val 6818"/>
              </a:avLst>
            </a:prstGeom>
            <a:solidFill>
              <a:srgbClr val="F9DAD1"/>
            </a:solidFill>
            <a:ln>
              <a:noFill/>
            </a:ln>
          </p:spPr>
        </p:sp>
        <p:sp>
          <p:nvSpPr>
            <p:cNvPr id="52" name="TextBox 52"/>
            <p:cNvSpPr txBox="1"/>
            <p:nvPr/>
          </p:nvSpPr>
          <p:spPr>
            <a:xfrm>
              <a:off x="11082724" y="2200989"/>
              <a:ext cx="504052" cy="154781"/>
            </a:xfrm>
            <a:prstGeom prst="rect">
              <a:avLst/>
            </a:prstGeom>
            <a:noFill/>
            <a:ln>
              <a:noFill/>
            </a:ln>
          </p:spPr>
          <p:txBody>
            <a:bodyPr wrap="none" lIns="0" tIns="0" rIns="0" bIns="0" anchor="t" anchorCtr="0">
              <a:spAutoFit/>
            </a:bodyPr>
            <a:lstStyle/>
            <a:p>
              <a:pPr algn="ctr"/>
              <a:r>
                <a:rPr lang="zh-CN" sz="790" dirty="0">
                  <a:solidFill>
                    <a:srgbClr val="E8634C"/>
                  </a:solidFill>
                  <a:latin typeface="+mn-lt"/>
                  <a:ea typeface="+mn-ea"/>
                  <a:cs typeface="+mn-cs"/>
                </a:rPr>
                <a:t>第4季度​​</a:t>
              </a:r>
            </a:p>
          </p:txBody>
        </p:sp>
        <p:sp>
          <p:nvSpPr>
            <p:cNvPr id="53" name="TextBox 53"/>
            <p:cNvSpPr txBox="1"/>
            <p:nvPr/>
          </p:nvSpPr>
          <p:spPr>
            <a:xfrm>
              <a:off x="11002895" y="2439352"/>
              <a:ext cx="663710" cy="205359"/>
            </a:xfrm>
            <a:prstGeom prst="rect">
              <a:avLst/>
            </a:prstGeom>
            <a:noFill/>
            <a:ln>
              <a:noFill/>
            </a:ln>
          </p:spPr>
          <p:txBody>
            <a:bodyPr wrap="none" lIns="0" tIns="0" rIns="0" bIns="0" anchor="t" anchorCtr="0">
              <a:spAutoFit/>
            </a:bodyPr>
            <a:lstStyle/>
            <a:p>
              <a:pPr algn="ctr"/>
              <a:r>
                <a:rPr lang="zh-CN" sz="1050" b="1" dirty="0">
                  <a:solidFill>
                    <a:srgbClr val="E8634C"/>
                  </a:solidFill>
                  <a:latin typeface="+mn-lt"/>
                  <a:ea typeface="+mn-ea"/>
                  <a:cs typeface="+mn-cs"/>
                </a:rPr>
                <a:t>27,762​​</a:t>
              </a:r>
            </a:p>
          </p:txBody>
        </p:sp>
      </p:grpSp>
      <p:grpSp>
        <p:nvGrpSpPr>
          <p:cNvPr id="57" name="q4-analysis"/>
          <p:cNvGrpSpPr/>
          <p:nvPr/>
        </p:nvGrpSpPr>
        <p:grpSpPr>
          <a:xfrm>
            <a:off x="7785354" y="3185160"/>
            <a:ext cx="2718499" cy="640556"/>
            <a:chOff x="7785354" y="3185160"/>
            <a:chExt cx="2718499" cy="640556"/>
          </a:xfrm>
        </p:grpSpPr>
        <p:sp>
          <p:nvSpPr>
            <p:cNvPr id="55" name="TextBox 55"/>
            <p:cNvSpPr txBox="1"/>
            <p:nvPr/>
          </p:nvSpPr>
          <p:spPr>
            <a:xfrm>
              <a:off x="7785354" y="3185160"/>
              <a:ext cx="178917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其中四季度利润贡献最大</a:t>
              </a:r>
            </a:p>
          </p:txBody>
        </p:sp>
        <p:sp>
          <p:nvSpPr>
            <p:cNvPr id="56" name="TextBox 56"/>
            <p:cNvSpPr txBox="1"/>
            <p:nvPr/>
          </p:nvSpPr>
          <p:spPr>
            <a:xfrm>
              <a:off x="7786688" y="3492341"/>
              <a:ext cx="2717165" cy="333375"/>
            </a:xfrm>
            <a:prstGeom prst="rect">
              <a:avLst/>
            </a:prstGeom>
            <a:noFill/>
            <a:ln>
              <a:noFill/>
            </a:ln>
          </p:spPr>
          <p:txBody>
            <a:bodyPr wrap="none" lIns="0" tIns="0" rIns="0" bIns="0" anchor="t" anchorCtr="0">
              <a:spAutoFit/>
            </a:bodyPr>
            <a:lstStyle/>
            <a:p>
              <a:pPr algn="l">
                <a:lnSpc>
                  <a:spcPts val="1350"/>
                </a:lnSpc>
              </a:pPr>
              <a:r>
                <a:rPr lang="zh-CN" sz="820" dirty="0">
                  <a:solidFill>
                    <a:srgbClr val="88706B"/>
                  </a:solidFill>
                  <a:latin typeface="+mn-lt"/>
                  <a:ea typeface="+mn-ea"/>
                  <a:cs typeface="+mn-cs"/>
                </a:rPr>
                <a:t>分析：四季度是电商流量高峰期，通过优化线上店铺页面设</a:t>
              </a:r>
              <a:br/>
              <a:r>
                <a:rPr lang="zh-CN" sz="820" dirty="0">
                  <a:solidFill>
                    <a:srgbClr val="88706B"/>
                  </a:solidFill>
                  <a:latin typeface="+mn-lt"/>
                  <a:ea typeface="+mn-ea"/>
                  <a:cs typeface="+mn-cs"/>
                </a:rPr>
                <a:t>计、参与平台促销活动等方式，充分利用电商流量红利</a:t>
              </a:r>
            </a:p>
          </p:txBody>
        </p:sp>
      </p:grpSp>
      <p:grpSp>
        <p:nvGrpSpPr>
          <p:cNvPr id="114" name="stacked-bar"/>
          <p:cNvGrpSpPr/>
          <p:nvPr/>
        </p:nvGrpSpPr>
        <p:grpSpPr>
          <a:xfrm>
            <a:off x="4280154" y="4175760"/>
            <a:ext cx="7549896" cy="1285399"/>
            <a:chOff x="4280154" y="4175760"/>
            <a:chExt cx="7549896" cy="1285399"/>
          </a:xfrm>
        </p:grpSpPr>
        <p:sp>
          <p:nvSpPr>
            <p:cNvPr id="58" name="TextBox 58"/>
            <p:cNvSpPr txBox="1"/>
            <p:nvPr/>
          </p:nvSpPr>
          <p:spPr>
            <a:xfrm>
              <a:off x="4280154" y="4175760"/>
              <a:ext cx="178917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受消费者欢迎的产品占比</a:t>
              </a:r>
            </a:p>
          </p:txBody>
        </p:sp>
        <p:sp>
          <p:nvSpPr>
            <p:cNvPr id="59" name="TextBox 59"/>
            <p:cNvSpPr txBox="1"/>
            <p:nvPr/>
          </p:nvSpPr>
          <p:spPr>
            <a:xfrm>
              <a:off x="8892558" y="4353639"/>
              <a:ext cx="40763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产品L​​</a:t>
              </a:r>
            </a:p>
          </p:txBody>
        </p:sp>
        <p:sp>
          <p:nvSpPr>
            <p:cNvPr id="60" name="TextBox 60"/>
            <p:cNvSpPr txBox="1"/>
            <p:nvPr/>
          </p:nvSpPr>
          <p:spPr>
            <a:xfrm>
              <a:off x="9638124" y="4353639"/>
              <a:ext cx="440503" cy="154781"/>
            </a:xfrm>
            <a:prstGeom prst="rect">
              <a:avLst/>
            </a:prstGeom>
            <a:noFill/>
            <a:ln>
              <a:noFill/>
            </a:ln>
          </p:spPr>
          <p:txBody>
            <a:bodyPr wrap="none" lIns="0" tIns="0" rIns="0" bIns="0" anchor="t" anchorCtr="0">
              <a:spAutoFit/>
            </a:bodyPr>
            <a:lstStyle/>
            <a:p>
              <a:pPr algn="ctr"/>
              <a:r>
                <a:rPr lang="zh-CN" sz="790" b="1" dirty="0">
                  <a:solidFill>
                    <a:srgbClr val="E8634C"/>
                  </a:solidFill>
                  <a:latin typeface="+mn-lt"/>
                  <a:ea typeface="+mn-ea"/>
                  <a:cs typeface="+mn-cs"/>
                </a:rPr>
                <a:t>产品M​​</a:t>
              </a:r>
            </a:p>
          </p:txBody>
        </p:sp>
        <p:sp>
          <p:nvSpPr>
            <p:cNvPr id="61" name="TextBox 61"/>
            <p:cNvSpPr txBox="1"/>
            <p:nvPr/>
          </p:nvSpPr>
          <p:spPr>
            <a:xfrm>
              <a:off x="10311783" y="4353639"/>
              <a:ext cx="407634"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产品N​​</a:t>
              </a:r>
            </a:p>
          </p:txBody>
        </p:sp>
        <p:sp>
          <p:nvSpPr>
            <p:cNvPr id="62" name="TextBox 62"/>
            <p:cNvSpPr txBox="1"/>
            <p:nvPr/>
          </p:nvSpPr>
          <p:spPr>
            <a:xfrm>
              <a:off x="10729171" y="4353639"/>
              <a:ext cx="430108" cy="154781"/>
            </a:xfrm>
            <a:prstGeom prst="rect">
              <a:avLst/>
            </a:prstGeom>
            <a:noFill/>
            <a:ln>
              <a:noFill/>
            </a:ln>
          </p:spPr>
          <p:txBody>
            <a:bodyPr wrap="none" lIns="0" tIns="0" rIns="0" bIns="0" anchor="t" anchorCtr="0">
              <a:spAutoFit/>
            </a:bodyPr>
            <a:lstStyle/>
            <a:p>
              <a:pPr algn="ctr"/>
              <a:r>
                <a:rPr lang="zh-CN" sz="790" dirty="0">
                  <a:solidFill>
                    <a:srgbClr val="543E3A"/>
                  </a:solidFill>
                  <a:latin typeface="+mn-lt"/>
                  <a:ea typeface="+mn-ea"/>
                  <a:cs typeface="+mn-cs"/>
                </a:rPr>
                <a:t>产品O​​</a:t>
              </a:r>
            </a:p>
          </p:txBody>
        </p:sp>
        <p:sp>
          <p:nvSpPr>
            <p:cNvPr id="63" name="Rectangle 63"/>
            <p:cNvSpPr/>
            <p:nvPr/>
          </p:nvSpPr>
          <p:spPr>
            <a:xfrm>
              <a:off x="4286250" y="4495800"/>
              <a:ext cx="885825" cy="628650"/>
            </a:xfrm>
            <a:prstGeom prst="rect">
              <a:avLst/>
            </a:prstGeom>
            <a:solidFill>
              <a:srgbClr val="9AA1B8"/>
            </a:solidFill>
            <a:ln>
              <a:noFill/>
            </a:ln>
          </p:spPr>
        </p:sp>
        <p:sp>
          <p:nvSpPr>
            <p:cNvPr id="64" name="Rectangle 64"/>
            <p:cNvSpPr/>
            <p:nvPr/>
          </p:nvSpPr>
          <p:spPr>
            <a:xfrm>
              <a:off x="5172075" y="4495800"/>
              <a:ext cx="352425" cy="628650"/>
            </a:xfrm>
            <a:prstGeom prst="rect">
              <a:avLst/>
            </a:prstGeom>
            <a:solidFill>
              <a:srgbClr val="C3CBEA"/>
            </a:solidFill>
            <a:ln>
              <a:noFill/>
            </a:ln>
          </p:spPr>
        </p:sp>
        <p:sp>
          <p:nvSpPr>
            <p:cNvPr id="65" name="Rectangle 65"/>
            <p:cNvSpPr/>
            <p:nvPr/>
          </p:nvSpPr>
          <p:spPr>
            <a:xfrm>
              <a:off x="5524500" y="4495800"/>
              <a:ext cx="314325" cy="628650"/>
            </a:xfrm>
            <a:prstGeom prst="rect">
              <a:avLst/>
            </a:prstGeom>
            <a:solidFill>
              <a:srgbClr val="E8B8AE"/>
            </a:solidFill>
            <a:ln>
              <a:noFill/>
            </a:ln>
          </p:spPr>
        </p:sp>
        <p:sp>
          <p:nvSpPr>
            <p:cNvPr id="66" name="Rectangle 66"/>
            <p:cNvSpPr/>
            <p:nvPr/>
          </p:nvSpPr>
          <p:spPr>
            <a:xfrm>
              <a:off x="5838825" y="4495800"/>
              <a:ext cx="352425" cy="628650"/>
            </a:xfrm>
            <a:prstGeom prst="rect">
              <a:avLst/>
            </a:prstGeom>
            <a:solidFill>
              <a:srgbClr val="C9D2F2"/>
            </a:solidFill>
            <a:ln>
              <a:noFill/>
            </a:ln>
          </p:spPr>
        </p:sp>
        <p:sp>
          <p:nvSpPr>
            <p:cNvPr id="67" name="Rectangle 67"/>
            <p:cNvSpPr/>
            <p:nvPr/>
          </p:nvSpPr>
          <p:spPr>
            <a:xfrm>
              <a:off x="6191250" y="4495800"/>
              <a:ext cx="352425" cy="628650"/>
            </a:xfrm>
            <a:prstGeom prst="rect">
              <a:avLst/>
            </a:prstGeom>
            <a:solidFill>
              <a:srgbClr val="ECC0B7"/>
            </a:solidFill>
            <a:ln>
              <a:noFill/>
            </a:ln>
          </p:spPr>
        </p:sp>
        <p:sp>
          <p:nvSpPr>
            <p:cNvPr id="68" name="Rectangle 68"/>
            <p:cNvSpPr/>
            <p:nvPr/>
          </p:nvSpPr>
          <p:spPr>
            <a:xfrm>
              <a:off x="6543675" y="4495800"/>
              <a:ext cx="314325" cy="628650"/>
            </a:xfrm>
            <a:prstGeom prst="rect">
              <a:avLst/>
            </a:prstGeom>
            <a:solidFill>
              <a:srgbClr val="E0998A"/>
            </a:solidFill>
            <a:ln>
              <a:noFill/>
            </a:ln>
          </p:spPr>
        </p:sp>
        <p:sp>
          <p:nvSpPr>
            <p:cNvPr id="69" name="Rectangle 69"/>
            <p:cNvSpPr/>
            <p:nvPr/>
          </p:nvSpPr>
          <p:spPr>
            <a:xfrm>
              <a:off x="6858000" y="4495800"/>
              <a:ext cx="352425" cy="628650"/>
            </a:xfrm>
            <a:prstGeom prst="rect">
              <a:avLst/>
            </a:prstGeom>
            <a:solidFill>
              <a:srgbClr val="C3CBEA"/>
            </a:solidFill>
            <a:ln>
              <a:noFill/>
            </a:ln>
          </p:spPr>
        </p:sp>
        <p:sp>
          <p:nvSpPr>
            <p:cNvPr id="70" name="Rectangle 70"/>
            <p:cNvSpPr/>
            <p:nvPr/>
          </p:nvSpPr>
          <p:spPr>
            <a:xfrm>
              <a:off x="7210425" y="4495800"/>
              <a:ext cx="352425" cy="628650"/>
            </a:xfrm>
            <a:prstGeom prst="rect">
              <a:avLst/>
            </a:prstGeom>
            <a:solidFill>
              <a:srgbClr val="D5DCF6"/>
            </a:solidFill>
            <a:ln>
              <a:noFill/>
            </a:ln>
          </p:spPr>
        </p:sp>
        <p:sp>
          <p:nvSpPr>
            <p:cNvPr id="71" name="Rectangle 71"/>
            <p:cNvSpPr/>
            <p:nvPr/>
          </p:nvSpPr>
          <p:spPr>
            <a:xfrm>
              <a:off x="7562850" y="4495800"/>
              <a:ext cx="685800" cy="628650"/>
            </a:xfrm>
            <a:prstGeom prst="rect">
              <a:avLst/>
            </a:prstGeom>
            <a:solidFill>
              <a:srgbClr val="C45F4A"/>
            </a:solidFill>
            <a:ln>
              <a:noFill/>
            </a:ln>
          </p:spPr>
        </p:sp>
        <p:sp>
          <p:nvSpPr>
            <p:cNvPr id="72" name="Rectangle 72"/>
            <p:cNvSpPr/>
            <p:nvPr/>
          </p:nvSpPr>
          <p:spPr>
            <a:xfrm>
              <a:off x="8248650" y="4495800"/>
              <a:ext cx="285750" cy="628650"/>
            </a:xfrm>
            <a:prstGeom prst="rect">
              <a:avLst/>
            </a:prstGeom>
            <a:solidFill>
              <a:srgbClr val="E8B8AE"/>
            </a:solidFill>
            <a:ln>
              <a:noFill/>
            </a:ln>
          </p:spPr>
        </p:sp>
        <p:sp>
          <p:nvSpPr>
            <p:cNvPr id="73" name="Rectangle 73"/>
            <p:cNvSpPr/>
            <p:nvPr/>
          </p:nvSpPr>
          <p:spPr>
            <a:xfrm>
              <a:off x="8534400" y="4495800"/>
              <a:ext cx="285750" cy="628650"/>
            </a:xfrm>
            <a:prstGeom prst="rect">
              <a:avLst/>
            </a:prstGeom>
            <a:solidFill>
              <a:srgbClr val="C9D2F2"/>
            </a:solidFill>
            <a:ln>
              <a:noFill/>
            </a:ln>
          </p:spPr>
        </p:sp>
        <p:sp>
          <p:nvSpPr>
            <p:cNvPr id="74" name="Rectangle 74"/>
            <p:cNvSpPr/>
            <p:nvPr/>
          </p:nvSpPr>
          <p:spPr>
            <a:xfrm>
              <a:off x="8820150" y="4495800"/>
              <a:ext cx="552450" cy="628650"/>
            </a:xfrm>
            <a:prstGeom prst="rect">
              <a:avLst/>
            </a:prstGeom>
            <a:solidFill>
              <a:srgbClr val="F0C7BF"/>
            </a:solidFill>
            <a:ln>
              <a:noFill/>
            </a:ln>
          </p:spPr>
        </p:sp>
        <p:sp>
          <p:nvSpPr>
            <p:cNvPr id="75" name="Rectangle 75"/>
            <p:cNvSpPr/>
            <p:nvPr/>
          </p:nvSpPr>
          <p:spPr>
            <a:xfrm>
              <a:off x="9372600" y="4495800"/>
              <a:ext cx="971550" cy="628650"/>
            </a:xfrm>
            <a:prstGeom prst="rect">
              <a:avLst/>
            </a:prstGeom>
            <a:solidFill>
              <a:srgbClr val="E8634C"/>
            </a:solidFill>
            <a:ln>
              <a:noFill/>
            </a:ln>
          </p:spPr>
        </p:sp>
        <p:sp>
          <p:nvSpPr>
            <p:cNvPr id="76" name="Rectangle 76"/>
            <p:cNvSpPr/>
            <p:nvPr/>
          </p:nvSpPr>
          <p:spPr>
            <a:xfrm>
              <a:off x="10344150" y="4495800"/>
              <a:ext cx="352425" cy="628650"/>
            </a:xfrm>
            <a:prstGeom prst="rect">
              <a:avLst/>
            </a:prstGeom>
            <a:solidFill>
              <a:srgbClr val="9E402C"/>
            </a:solidFill>
            <a:ln>
              <a:noFill/>
            </a:ln>
          </p:spPr>
        </p:sp>
        <p:sp>
          <p:nvSpPr>
            <p:cNvPr id="77" name="Rectangle 77"/>
            <p:cNvSpPr/>
            <p:nvPr/>
          </p:nvSpPr>
          <p:spPr>
            <a:xfrm>
              <a:off x="10696575" y="4495800"/>
              <a:ext cx="495300" cy="628650"/>
            </a:xfrm>
            <a:prstGeom prst="rect">
              <a:avLst/>
            </a:prstGeom>
            <a:solidFill>
              <a:srgbClr val="E8AB9F"/>
            </a:solidFill>
            <a:ln>
              <a:noFill/>
            </a:ln>
          </p:spPr>
        </p:sp>
        <p:sp>
          <p:nvSpPr>
            <p:cNvPr id="78" name="Rectangle 78"/>
            <p:cNvSpPr/>
            <p:nvPr/>
          </p:nvSpPr>
          <p:spPr>
            <a:xfrm>
              <a:off x="11191875" y="4495800"/>
              <a:ext cx="352425" cy="628650"/>
            </a:xfrm>
            <a:prstGeom prst="rect">
              <a:avLst/>
            </a:prstGeom>
            <a:solidFill>
              <a:srgbClr val="EFC3BC"/>
            </a:solidFill>
            <a:ln>
              <a:noFill/>
            </a:ln>
          </p:spPr>
        </p:sp>
        <p:sp>
          <p:nvSpPr>
            <p:cNvPr id="79" name="Rectangle 79"/>
            <p:cNvSpPr/>
            <p:nvPr/>
          </p:nvSpPr>
          <p:spPr>
            <a:xfrm>
              <a:off x="11544300" y="4495800"/>
              <a:ext cx="285750" cy="628650"/>
            </a:xfrm>
            <a:prstGeom prst="rect">
              <a:avLst/>
            </a:prstGeom>
            <a:solidFill>
              <a:srgbClr val="D5DCF6"/>
            </a:solidFill>
            <a:ln>
              <a:noFill/>
            </a:ln>
          </p:spPr>
        </p:sp>
        <p:sp>
          <p:nvSpPr>
            <p:cNvPr id="80" name="Rectangle 80"/>
            <p:cNvSpPr/>
            <p:nvPr/>
          </p:nvSpPr>
          <p:spPr>
            <a:xfrm>
              <a:off x="4333875" y="5334000"/>
              <a:ext cx="66675" cy="66675"/>
            </a:xfrm>
            <a:prstGeom prst="rect">
              <a:avLst/>
            </a:prstGeom>
            <a:solidFill>
              <a:srgbClr val="9AA1B8"/>
            </a:solidFill>
            <a:ln>
              <a:noFill/>
            </a:ln>
          </p:spPr>
        </p:sp>
        <p:sp>
          <p:nvSpPr>
            <p:cNvPr id="81" name="TextBox 81"/>
            <p:cNvSpPr txBox="1"/>
            <p:nvPr/>
          </p:nvSpPr>
          <p:spPr>
            <a:xfrm>
              <a:off x="443388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产品A​​</a:t>
              </a:r>
            </a:p>
          </p:txBody>
        </p:sp>
        <p:sp>
          <p:nvSpPr>
            <p:cNvPr id="82" name="Rectangle 82"/>
            <p:cNvSpPr/>
            <p:nvPr/>
          </p:nvSpPr>
          <p:spPr>
            <a:xfrm>
              <a:off x="4772025" y="5334000"/>
              <a:ext cx="66675" cy="66675"/>
            </a:xfrm>
            <a:prstGeom prst="rect">
              <a:avLst/>
            </a:prstGeom>
            <a:solidFill>
              <a:srgbClr val="C3CBEA"/>
            </a:solidFill>
            <a:ln>
              <a:noFill/>
            </a:ln>
          </p:spPr>
        </p:sp>
        <p:sp>
          <p:nvSpPr>
            <p:cNvPr id="83" name="TextBox 83"/>
            <p:cNvSpPr txBox="1"/>
            <p:nvPr/>
          </p:nvSpPr>
          <p:spPr>
            <a:xfrm>
              <a:off x="487203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产品B​​</a:t>
              </a:r>
            </a:p>
          </p:txBody>
        </p:sp>
        <p:sp>
          <p:nvSpPr>
            <p:cNvPr id="84" name="Rectangle 84"/>
            <p:cNvSpPr/>
            <p:nvPr/>
          </p:nvSpPr>
          <p:spPr>
            <a:xfrm>
              <a:off x="5210175" y="5334000"/>
              <a:ext cx="66675" cy="66675"/>
            </a:xfrm>
            <a:prstGeom prst="rect">
              <a:avLst/>
            </a:prstGeom>
            <a:solidFill>
              <a:srgbClr val="E8B8AE"/>
            </a:solidFill>
            <a:ln>
              <a:noFill/>
            </a:ln>
          </p:spPr>
        </p:sp>
        <p:sp>
          <p:nvSpPr>
            <p:cNvPr id="85" name="TextBox 85"/>
            <p:cNvSpPr txBox="1"/>
            <p:nvPr/>
          </p:nvSpPr>
          <p:spPr>
            <a:xfrm>
              <a:off x="531018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产品C​​</a:t>
              </a:r>
            </a:p>
          </p:txBody>
        </p:sp>
        <p:sp>
          <p:nvSpPr>
            <p:cNvPr id="86" name="Rectangle 86"/>
            <p:cNvSpPr/>
            <p:nvPr/>
          </p:nvSpPr>
          <p:spPr>
            <a:xfrm>
              <a:off x="5648325" y="5334000"/>
              <a:ext cx="66675" cy="66675"/>
            </a:xfrm>
            <a:prstGeom prst="rect">
              <a:avLst/>
            </a:prstGeom>
            <a:solidFill>
              <a:srgbClr val="C9D2F2"/>
            </a:solidFill>
            <a:ln>
              <a:noFill/>
            </a:ln>
          </p:spPr>
        </p:sp>
        <p:sp>
          <p:nvSpPr>
            <p:cNvPr id="87" name="TextBox 87"/>
            <p:cNvSpPr txBox="1"/>
            <p:nvPr/>
          </p:nvSpPr>
          <p:spPr>
            <a:xfrm>
              <a:off x="574833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产品D​​</a:t>
              </a:r>
            </a:p>
          </p:txBody>
        </p:sp>
        <p:sp>
          <p:nvSpPr>
            <p:cNvPr id="88" name="Rectangle 88"/>
            <p:cNvSpPr/>
            <p:nvPr/>
          </p:nvSpPr>
          <p:spPr>
            <a:xfrm>
              <a:off x="6086475" y="5334000"/>
              <a:ext cx="66675" cy="66675"/>
            </a:xfrm>
            <a:prstGeom prst="rect">
              <a:avLst/>
            </a:prstGeom>
            <a:solidFill>
              <a:srgbClr val="ECC0B7"/>
            </a:solidFill>
            <a:ln>
              <a:noFill/>
            </a:ln>
          </p:spPr>
        </p:sp>
        <p:sp>
          <p:nvSpPr>
            <p:cNvPr id="89" name="TextBox 89"/>
            <p:cNvSpPr txBox="1"/>
            <p:nvPr/>
          </p:nvSpPr>
          <p:spPr>
            <a:xfrm>
              <a:off x="618648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产品E​​</a:t>
              </a:r>
            </a:p>
          </p:txBody>
        </p:sp>
        <p:sp>
          <p:nvSpPr>
            <p:cNvPr id="90" name="Rectangle 90"/>
            <p:cNvSpPr/>
            <p:nvPr/>
          </p:nvSpPr>
          <p:spPr>
            <a:xfrm>
              <a:off x="6524625" y="5334000"/>
              <a:ext cx="66675" cy="66675"/>
            </a:xfrm>
            <a:prstGeom prst="rect">
              <a:avLst/>
            </a:prstGeom>
            <a:solidFill>
              <a:srgbClr val="E0998A"/>
            </a:solidFill>
            <a:ln>
              <a:noFill/>
            </a:ln>
          </p:spPr>
        </p:sp>
        <p:sp>
          <p:nvSpPr>
            <p:cNvPr id="91" name="TextBox 91"/>
            <p:cNvSpPr txBox="1"/>
            <p:nvPr/>
          </p:nvSpPr>
          <p:spPr>
            <a:xfrm>
              <a:off x="662463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产品F​​</a:t>
              </a:r>
            </a:p>
          </p:txBody>
        </p:sp>
        <p:sp>
          <p:nvSpPr>
            <p:cNvPr id="92" name="Rectangle 92"/>
            <p:cNvSpPr/>
            <p:nvPr/>
          </p:nvSpPr>
          <p:spPr>
            <a:xfrm>
              <a:off x="6962775" y="5334000"/>
              <a:ext cx="66675" cy="66675"/>
            </a:xfrm>
            <a:prstGeom prst="rect">
              <a:avLst/>
            </a:prstGeom>
            <a:solidFill>
              <a:srgbClr val="C3CBEA"/>
            </a:solidFill>
            <a:ln>
              <a:noFill/>
            </a:ln>
          </p:spPr>
        </p:sp>
        <p:sp>
          <p:nvSpPr>
            <p:cNvPr id="93" name="TextBox 93"/>
            <p:cNvSpPr txBox="1"/>
            <p:nvPr/>
          </p:nvSpPr>
          <p:spPr>
            <a:xfrm>
              <a:off x="706278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产品G​​</a:t>
              </a:r>
            </a:p>
          </p:txBody>
        </p:sp>
        <p:sp>
          <p:nvSpPr>
            <p:cNvPr id="94" name="Rectangle 94"/>
            <p:cNvSpPr/>
            <p:nvPr/>
          </p:nvSpPr>
          <p:spPr>
            <a:xfrm>
              <a:off x="7400925" y="5334000"/>
              <a:ext cx="66675" cy="66675"/>
            </a:xfrm>
            <a:prstGeom prst="rect">
              <a:avLst/>
            </a:prstGeom>
            <a:solidFill>
              <a:srgbClr val="D5DCF6"/>
            </a:solidFill>
            <a:ln>
              <a:noFill/>
            </a:ln>
          </p:spPr>
        </p:sp>
        <p:sp>
          <p:nvSpPr>
            <p:cNvPr id="95" name="TextBox 95"/>
            <p:cNvSpPr txBox="1"/>
            <p:nvPr/>
          </p:nvSpPr>
          <p:spPr>
            <a:xfrm>
              <a:off x="750093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产品H​​</a:t>
              </a:r>
            </a:p>
          </p:txBody>
        </p:sp>
        <p:sp>
          <p:nvSpPr>
            <p:cNvPr id="96" name="Rectangle 96"/>
            <p:cNvSpPr/>
            <p:nvPr/>
          </p:nvSpPr>
          <p:spPr>
            <a:xfrm>
              <a:off x="7839075" y="5334000"/>
              <a:ext cx="66675" cy="66675"/>
            </a:xfrm>
            <a:prstGeom prst="rect">
              <a:avLst/>
            </a:prstGeom>
            <a:solidFill>
              <a:srgbClr val="C45F4A"/>
            </a:solidFill>
            <a:ln>
              <a:noFill/>
            </a:ln>
          </p:spPr>
        </p:sp>
        <p:sp>
          <p:nvSpPr>
            <p:cNvPr id="97" name="TextBox 97"/>
            <p:cNvSpPr txBox="1"/>
            <p:nvPr/>
          </p:nvSpPr>
          <p:spPr>
            <a:xfrm>
              <a:off x="7939088" y="5327809"/>
              <a:ext cx="32802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产品I​​</a:t>
              </a:r>
            </a:p>
          </p:txBody>
        </p:sp>
        <p:sp>
          <p:nvSpPr>
            <p:cNvPr id="98" name="Rectangle 98"/>
            <p:cNvSpPr/>
            <p:nvPr/>
          </p:nvSpPr>
          <p:spPr>
            <a:xfrm>
              <a:off x="8277225" y="5334000"/>
              <a:ext cx="66675" cy="66675"/>
            </a:xfrm>
            <a:prstGeom prst="rect">
              <a:avLst/>
            </a:prstGeom>
            <a:solidFill>
              <a:srgbClr val="E8B8AE"/>
            </a:solidFill>
            <a:ln>
              <a:noFill/>
            </a:ln>
          </p:spPr>
        </p:sp>
        <p:sp>
          <p:nvSpPr>
            <p:cNvPr id="99" name="TextBox 99"/>
            <p:cNvSpPr txBox="1"/>
            <p:nvPr/>
          </p:nvSpPr>
          <p:spPr>
            <a:xfrm>
              <a:off x="837723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产品J​​</a:t>
              </a:r>
            </a:p>
          </p:txBody>
        </p:sp>
        <p:sp>
          <p:nvSpPr>
            <p:cNvPr id="100" name="Rectangle 100"/>
            <p:cNvSpPr/>
            <p:nvPr/>
          </p:nvSpPr>
          <p:spPr>
            <a:xfrm>
              <a:off x="8715375" y="5334000"/>
              <a:ext cx="66675" cy="66675"/>
            </a:xfrm>
            <a:prstGeom prst="rect">
              <a:avLst/>
            </a:prstGeom>
            <a:solidFill>
              <a:srgbClr val="C9D2F2"/>
            </a:solidFill>
            <a:ln>
              <a:noFill/>
            </a:ln>
          </p:spPr>
        </p:sp>
        <p:sp>
          <p:nvSpPr>
            <p:cNvPr id="101" name="TextBox 101"/>
            <p:cNvSpPr txBox="1"/>
            <p:nvPr/>
          </p:nvSpPr>
          <p:spPr>
            <a:xfrm>
              <a:off x="881538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产品K​​</a:t>
              </a:r>
            </a:p>
          </p:txBody>
        </p:sp>
        <p:sp>
          <p:nvSpPr>
            <p:cNvPr id="102" name="Rectangle 102"/>
            <p:cNvSpPr/>
            <p:nvPr/>
          </p:nvSpPr>
          <p:spPr>
            <a:xfrm>
              <a:off x="9153525" y="5334000"/>
              <a:ext cx="66675" cy="66675"/>
            </a:xfrm>
            <a:prstGeom prst="rect">
              <a:avLst/>
            </a:prstGeom>
            <a:solidFill>
              <a:srgbClr val="F0C7BF"/>
            </a:solidFill>
            <a:ln>
              <a:noFill/>
            </a:ln>
          </p:spPr>
        </p:sp>
        <p:sp>
          <p:nvSpPr>
            <p:cNvPr id="103" name="TextBox 103"/>
            <p:cNvSpPr txBox="1"/>
            <p:nvPr/>
          </p:nvSpPr>
          <p:spPr>
            <a:xfrm>
              <a:off x="925353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产品L​​</a:t>
              </a:r>
            </a:p>
          </p:txBody>
        </p:sp>
        <p:sp>
          <p:nvSpPr>
            <p:cNvPr id="104" name="Rectangle 104"/>
            <p:cNvSpPr/>
            <p:nvPr/>
          </p:nvSpPr>
          <p:spPr>
            <a:xfrm>
              <a:off x="9591675" y="5334000"/>
              <a:ext cx="66675" cy="66675"/>
            </a:xfrm>
            <a:prstGeom prst="rect">
              <a:avLst/>
            </a:prstGeom>
            <a:solidFill>
              <a:srgbClr val="E8634C"/>
            </a:solidFill>
            <a:ln>
              <a:noFill/>
            </a:ln>
          </p:spPr>
        </p:sp>
        <p:sp>
          <p:nvSpPr>
            <p:cNvPr id="105" name="TextBox 105"/>
            <p:cNvSpPr txBox="1"/>
            <p:nvPr/>
          </p:nvSpPr>
          <p:spPr>
            <a:xfrm>
              <a:off x="9691688" y="5327809"/>
              <a:ext cx="371546"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产品M​​</a:t>
              </a:r>
            </a:p>
          </p:txBody>
        </p:sp>
        <p:sp>
          <p:nvSpPr>
            <p:cNvPr id="106" name="Rectangle 106"/>
            <p:cNvSpPr/>
            <p:nvPr/>
          </p:nvSpPr>
          <p:spPr>
            <a:xfrm>
              <a:off x="10029825" y="5334000"/>
              <a:ext cx="66675" cy="66675"/>
            </a:xfrm>
            <a:prstGeom prst="rect">
              <a:avLst/>
            </a:prstGeom>
            <a:solidFill>
              <a:srgbClr val="9E402C"/>
            </a:solidFill>
            <a:ln>
              <a:noFill/>
            </a:ln>
          </p:spPr>
        </p:sp>
        <p:sp>
          <p:nvSpPr>
            <p:cNvPr id="107" name="TextBox 107"/>
            <p:cNvSpPr txBox="1"/>
            <p:nvPr/>
          </p:nvSpPr>
          <p:spPr>
            <a:xfrm>
              <a:off x="1012983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产品N​​</a:t>
              </a:r>
            </a:p>
          </p:txBody>
        </p:sp>
        <p:sp>
          <p:nvSpPr>
            <p:cNvPr id="108" name="Rectangle 108"/>
            <p:cNvSpPr/>
            <p:nvPr/>
          </p:nvSpPr>
          <p:spPr>
            <a:xfrm>
              <a:off x="10467975" y="5334000"/>
              <a:ext cx="66675" cy="66675"/>
            </a:xfrm>
            <a:prstGeom prst="rect">
              <a:avLst/>
            </a:prstGeom>
            <a:solidFill>
              <a:srgbClr val="E8AB9F"/>
            </a:solidFill>
            <a:ln>
              <a:noFill/>
            </a:ln>
          </p:spPr>
        </p:sp>
        <p:sp>
          <p:nvSpPr>
            <p:cNvPr id="109" name="TextBox 109"/>
            <p:cNvSpPr txBox="1"/>
            <p:nvPr/>
          </p:nvSpPr>
          <p:spPr>
            <a:xfrm>
              <a:off x="10567988" y="5327809"/>
              <a:ext cx="371546"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产品O​​</a:t>
              </a:r>
            </a:p>
          </p:txBody>
        </p:sp>
        <p:sp>
          <p:nvSpPr>
            <p:cNvPr id="110" name="Rectangle 110"/>
            <p:cNvSpPr/>
            <p:nvPr/>
          </p:nvSpPr>
          <p:spPr>
            <a:xfrm>
              <a:off x="10906125" y="5334000"/>
              <a:ext cx="66675" cy="66675"/>
            </a:xfrm>
            <a:prstGeom prst="rect">
              <a:avLst/>
            </a:prstGeom>
            <a:solidFill>
              <a:srgbClr val="EFC3BC"/>
            </a:solidFill>
            <a:ln>
              <a:noFill/>
            </a:ln>
          </p:spPr>
        </p:sp>
        <p:sp>
          <p:nvSpPr>
            <p:cNvPr id="111" name="TextBox 111"/>
            <p:cNvSpPr txBox="1"/>
            <p:nvPr/>
          </p:nvSpPr>
          <p:spPr>
            <a:xfrm>
              <a:off x="11006138" y="5327809"/>
              <a:ext cx="352201"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产品P​​</a:t>
              </a:r>
            </a:p>
          </p:txBody>
        </p:sp>
        <p:sp>
          <p:nvSpPr>
            <p:cNvPr id="112" name="Rectangle 112"/>
            <p:cNvSpPr/>
            <p:nvPr/>
          </p:nvSpPr>
          <p:spPr>
            <a:xfrm>
              <a:off x="11344275" y="5334000"/>
              <a:ext cx="66675" cy="66675"/>
            </a:xfrm>
            <a:prstGeom prst="rect">
              <a:avLst/>
            </a:prstGeom>
            <a:solidFill>
              <a:srgbClr val="D5DCF6"/>
            </a:solidFill>
            <a:ln>
              <a:noFill/>
            </a:ln>
          </p:spPr>
        </p:sp>
        <p:sp>
          <p:nvSpPr>
            <p:cNvPr id="113" name="TextBox 113"/>
            <p:cNvSpPr txBox="1"/>
            <p:nvPr/>
          </p:nvSpPr>
          <p:spPr>
            <a:xfrm>
              <a:off x="11444288" y="5327809"/>
              <a:ext cx="371546" cy="133350"/>
            </a:xfrm>
            <a:prstGeom prst="rect">
              <a:avLst/>
            </a:prstGeom>
            <a:noFill/>
            <a:ln>
              <a:noFill/>
            </a:ln>
          </p:spPr>
          <p:txBody>
            <a:bodyPr wrap="none" lIns="0" tIns="0" rIns="0" bIns="0" anchor="t" anchorCtr="0">
              <a:spAutoFit/>
            </a:bodyPr>
            <a:lstStyle/>
            <a:p>
              <a:pPr algn="l"/>
              <a:r>
                <a:rPr lang="zh-CN" sz="680" dirty="0">
                  <a:solidFill>
                    <a:srgbClr val="9AA1B8"/>
                  </a:solidFill>
                  <a:latin typeface="+mn-lt"/>
                  <a:ea typeface="+mn-ea"/>
                  <a:cs typeface="+mn-cs"/>
                </a:rPr>
                <a:t>产品Q​​</a:t>
              </a:r>
            </a:p>
          </p:txBody>
        </p:sp>
      </p:gr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nel-table"/>
          <p:cNvSpPr/>
          <p:nvPr/>
        </p:nvSpPr>
        <p:spPr>
          <a:xfrm>
            <a:off x="857250" y="904875"/>
            <a:ext cx="11049000" cy="5229225"/>
          </a:xfrm>
          <a:prstGeom prst="roundRect">
            <a:avLst>
              <a:gd name="adj" fmla="val 2186"/>
            </a:avLst>
          </a:prstGeom>
          <a:solidFill>
            <a:srgbClr val="F5F7FD"/>
          </a:solidFill>
          <a:ln>
            <a:noFill/>
          </a:ln>
        </p:spPr>
      </p:sp>
      <p:grpSp>
        <p:nvGrpSpPr>
          <p:cNvPr id="7" name="page-header"/>
          <p:cNvGrpSpPr/>
          <p:nvPr/>
        </p:nvGrpSpPr>
        <p:grpSpPr>
          <a:xfrm>
            <a:off x="0" y="0"/>
            <a:ext cx="5905500" cy="542925"/>
            <a:chOff x="0" y="0"/>
            <a:chExt cx="5905500" cy="542925"/>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4" name="TextBox 4"/>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74​​</a:t>
              </a:r>
            </a:p>
          </p:txBody>
        </p:sp>
        <p:sp>
          <p:nvSpPr>
            <p:cNvPr id="5" name="TextBox 5"/>
            <p:cNvSpPr txBox="1"/>
            <p:nvPr/>
          </p:nvSpPr>
          <p:spPr>
            <a:xfrm>
              <a:off x="942594" y="151448"/>
              <a:ext cx="184420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年度活动计划​</a:t>
              </a:r>
            </a:p>
          </p:txBody>
        </p:sp>
        <p:sp>
          <p:nvSpPr>
            <p:cNvPr id="6" name="Line 6"/>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5" name="binder-band"/>
          <p:cNvGrpSpPr/>
          <p:nvPr/>
        </p:nvGrpSpPr>
        <p:grpSpPr>
          <a:xfrm>
            <a:off x="1009650" y="704850"/>
            <a:ext cx="9848850" cy="896112"/>
            <a:chOff x="1009650" y="704850"/>
            <a:chExt cx="9848850" cy="896112"/>
          </a:xfrm>
        </p:grpSpPr>
        <p:sp>
          <p:nvSpPr>
            <p:cNvPr id="8" name="Ellipse 8"/>
            <p:cNvSpPr/>
            <p:nvPr/>
          </p:nvSpPr>
          <p:spPr>
            <a:xfrm>
              <a:off x="1009650" y="704850"/>
              <a:ext cx="228600" cy="228600"/>
            </a:xfrm>
            <a:prstGeom prst="ellipse">
              <a:avLst/>
            </a:prstGeom>
            <a:noFill/>
            <a:ln w="42862">
              <a:solidFill>
                <a:srgbClr val="C45F4A"/>
              </a:solidFill>
            </a:ln>
          </p:spPr>
        </p:sp>
        <p:sp>
          <p:nvSpPr>
            <p:cNvPr id="9" name="Ellipse 9"/>
            <p:cNvSpPr/>
            <p:nvPr/>
          </p:nvSpPr>
          <p:spPr>
            <a:xfrm>
              <a:off x="1333500" y="704850"/>
              <a:ext cx="228600" cy="228600"/>
            </a:xfrm>
            <a:prstGeom prst="ellipse">
              <a:avLst/>
            </a:prstGeom>
            <a:noFill/>
            <a:ln w="42862">
              <a:solidFill>
                <a:srgbClr val="C45F4A"/>
              </a:solidFill>
            </a:ln>
          </p:spPr>
        </p:sp>
        <p:sp>
          <p:nvSpPr>
            <p:cNvPr id="10" name="Ellipse 10"/>
            <p:cNvSpPr/>
            <p:nvPr/>
          </p:nvSpPr>
          <p:spPr>
            <a:xfrm>
              <a:off x="1657350" y="704850"/>
              <a:ext cx="228600" cy="228600"/>
            </a:xfrm>
            <a:prstGeom prst="ellipse">
              <a:avLst/>
            </a:prstGeom>
            <a:noFill/>
            <a:ln w="42862">
              <a:solidFill>
                <a:srgbClr val="C45F4A"/>
              </a:solidFill>
            </a:ln>
          </p:spPr>
        </p:sp>
        <p:sp>
          <p:nvSpPr>
            <p:cNvPr id="11" name="Ellipse 11"/>
            <p:cNvSpPr/>
            <p:nvPr/>
          </p:nvSpPr>
          <p:spPr>
            <a:xfrm>
              <a:off x="9982200" y="704850"/>
              <a:ext cx="228600" cy="228600"/>
            </a:xfrm>
            <a:prstGeom prst="ellipse">
              <a:avLst/>
            </a:prstGeom>
            <a:noFill/>
            <a:ln w="42862">
              <a:solidFill>
                <a:srgbClr val="C45F4A"/>
              </a:solidFill>
            </a:ln>
          </p:spPr>
        </p:sp>
        <p:sp>
          <p:nvSpPr>
            <p:cNvPr id="12" name="Ellipse 12"/>
            <p:cNvSpPr/>
            <p:nvPr/>
          </p:nvSpPr>
          <p:spPr>
            <a:xfrm>
              <a:off x="10306050" y="704850"/>
              <a:ext cx="228600" cy="228600"/>
            </a:xfrm>
            <a:prstGeom prst="ellipse">
              <a:avLst/>
            </a:prstGeom>
            <a:noFill/>
            <a:ln w="42862">
              <a:solidFill>
                <a:srgbClr val="C45F4A"/>
              </a:solidFill>
            </a:ln>
          </p:spPr>
        </p:sp>
        <p:sp>
          <p:nvSpPr>
            <p:cNvPr id="13" name="Ellipse 13"/>
            <p:cNvSpPr/>
            <p:nvPr/>
          </p:nvSpPr>
          <p:spPr>
            <a:xfrm>
              <a:off x="10629900" y="704850"/>
              <a:ext cx="228600" cy="228600"/>
            </a:xfrm>
            <a:prstGeom prst="ellipse">
              <a:avLst/>
            </a:prstGeom>
            <a:noFill/>
            <a:ln w="42862">
              <a:solidFill>
                <a:srgbClr val="C45F4A"/>
              </a:solidFill>
            </a:ln>
          </p:spPr>
        </p:sp>
        <p:sp>
          <p:nvSpPr>
            <p:cNvPr id="14" name="TextBox 14"/>
            <p:cNvSpPr txBox="1"/>
            <p:nvPr/>
          </p:nvSpPr>
          <p:spPr>
            <a:xfrm>
              <a:off x="5778124" y="1131570"/>
              <a:ext cx="1207252" cy="469392"/>
            </a:xfrm>
            <a:prstGeom prst="rect">
              <a:avLst/>
            </a:prstGeom>
            <a:noFill/>
            <a:ln>
              <a:noFill/>
            </a:ln>
          </p:spPr>
          <p:txBody>
            <a:bodyPr wrap="none" lIns="0" tIns="0" rIns="0" bIns="0" anchor="t" anchorCtr="0">
              <a:spAutoFit/>
            </a:bodyPr>
            <a:lstStyle/>
            <a:p>
              <a:pPr algn="ctr"/>
              <a:r>
                <a:rPr lang="en-US" sz="2400" b="1" dirty="0">
                  <a:solidFill>
                    <a:srgbClr val="C45F4A"/>
                  </a:solidFill>
                  <a:latin typeface="+mn-lt"/>
                  <a:ea typeface="+mn-ea"/>
                  <a:cs typeface="+mn-cs"/>
                </a:rPr>
                <a:t>202X​​</a:t>
              </a:r>
            </a:p>
          </p:txBody>
        </p:sp>
      </p:grpSp>
      <p:grpSp>
        <p:nvGrpSpPr>
          <p:cNvPr id="41" name="month-row"/>
          <p:cNvGrpSpPr/>
          <p:nvPr/>
        </p:nvGrpSpPr>
        <p:grpSpPr>
          <a:xfrm>
            <a:off x="261366" y="1696402"/>
            <a:ext cx="11426954" cy="246698"/>
            <a:chOff x="261366" y="1696402"/>
            <a:chExt cx="11426954" cy="246698"/>
          </a:xfrm>
        </p:grpSpPr>
        <p:sp>
          <p:nvSpPr>
            <p:cNvPr id="16" name="TextBox 16"/>
            <p:cNvSpPr txBox="1"/>
            <p:nvPr/>
          </p:nvSpPr>
          <p:spPr>
            <a:xfrm>
              <a:off x="261366" y="1696402"/>
              <a:ext cx="293370"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时间</a:t>
              </a:r>
            </a:p>
          </p:txBody>
        </p:sp>
        <p:sp>
          <p:nvSpPr>
            <p:cNvPr id="17" name="TextBox 17"/>
            <p:cNvSpPr txBox="1"/>
            <p:nvPr/>
          </p:nvSpPr>
          <p:spPr>
            <a:xfrm>
              <a:off x="1115995" y="1696402"/>
              <a:ext cx="39691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1月​​</a:t>
              </a:r>
            </a:p>
          </p:txBody>
        </p:sp>
        <p:sp>
          <p:nvSpPr>
            <p:cNvPr id="18" name="TextBox 18"/>
            <p:cNvSpPr txBox="1"/>
            <p:nvPr/>
          </p:nvSpPr>
          <p:spPr>
            <a:xfrm>
              <a:off x="2039920" y="1696402"/>
              <a:ext cx="39691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2月​​</a:t>
              </a:r>
            </a:p>
          </p:txBody>
        </p:sp>
        <p:sp>
          <p:nvSpPr>
            <p:cNvPr id="19" name="TextBox 19"/>
            <p:cNvSpPr txBox="1"/>
            <p:nvPr/>
          </p:nvSpPr>
          <p:spPr>
            <a:xfrm>
              <a:off x="2963845" y="1696402"/>
              <a:ext cx="39691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3月​​</a:t>
              </a:r>
            </a:p>
          </p:txBody>
        </p:sp>
        <p:sp>
          <p:nvSpPr>
            <p:cNvPr id="20" name="TextBox 20"/>
            <p:cNvSpPr txBox="1"/>
            <p:nvPr/>
          </p:nvSpPr>
          <p:spPr>
            <a:xfrm>
              <a:off x="3878245" y="1696402"/>
              <a:ext cx="39691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4月​​</a:t>
              </a:r>
            </a:p>
          </p:txBody>
        </p:sp>
        <p:sp>
          <p:nvSpPr>
            <p:cNvPr id="21" name="TextBox 21"/>
            <p:cNvSpPr txBox="1"/>
            <p:nvPr/>
          </p:nvSpPr>
          <p:spPr>
            <a:xfrm>
              <a:off x="4802170" y="1696402"/>
              <a:ext cx="39691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5月​​</a:t>
              </a:r>
            </a:p>
          </p:txBody>
        </p:sp>
        <p:sp>
          <p:nvSpPr>
            <p:cNvPr id="22" name="TextBox 22"/>
            <p:cNvSpPr txBox="1"/>
            <p:nvPr/>
          </p:nvSpPr>
          <p:spPr>
            <a:xfrm>
              <a:off x="5726095" y="1696402"/>
              <a:ext cx="39691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6月​​</a:t>
              </a:r>
            </a:p>
          </p:txBody>
        </p:sp>
        <p:sp>
          <p:nvSpPr>
            <p:cNvPr id="23" name="TextBox 23"/>
            <p:cNvSpPr txBox="1"/>
            <p:nvPr/>
          </p:nvSpPr>
          <p:spPr>
            <a:xfrm>
              <a:off x="6640495" y="1696402"/>
              <a:ext cx="39691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7月​​</a:t>
              </a:r>
            </a:p>
          </p:txBody>
        </p:sp>
        <p:sp>
          <p:nvSpPr>
            <p:cNvPr id="24" name="TextBox 24"/>
            <p:cNvSpPr txBox="1"/>
            <p:nvPr/>
          </p:nvSpPr>
          <p:spPr>
            <a:xfrm>
              <a:off x="7564420" y="1696402"/>
              <a:ext cx="39691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8月​​</a:t>
              </a:r>
            </a:p>
          </p:txBody>
        </p:sp>
        <p:sp>
          <p:nvSpPr>
            <p:cNvPr id="25" name="TextBox 25"/>
            <p:cNvSpPr txBox="1"/>
            <p:nvPr/>
          </p:nvSpPr>
          <p:spPr>
            <a:xfrm>
              <a:off x="8488345" y="1696402"/>
              <a:ext cx="39691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9月​​</a:t>
              </a:r>
            </a:p>
          </p:txBody>
        </p:sp>
        <p:sp>
          <p:nvSpPr>
            <p:cNvPr id="26" name="TextBox 26"/>
            <p:cNvSpPr txBox="1"/>
            <p:nvPr/>
          </p:nvSpPr>
          <p:spPr>
            <a:xfrm>
              <a:off x="9361930" y="1696402"/>
              <a:ext cx="47854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10月​​</a:t>
              </a:r>
            </a:p>
          </p:txBody>
        </p:sp>
        <p:sp>
          <p:nvSpPr>
            <p:cNvPr id="27" name="TextBox 27"/>
            <p:cNvSpPr txBox="1"/>
            <p:nvPr/>
          </p:nvSpPr>
          <p:spPr>
            <a:xfrm>
              <a:off x="10285855" y="1696402"/>
              <a:ext cx="47854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11月​​</a:t>
              </a:r>
            </a:p>
          </p:txBody>
        </p:sp>
        <p:sp>
          <p:nvSpPr>
            <p:cNvPr id="28" name="TextBox 28"/>
            <p:cNvSpPr txBox="1"/>
            <p:nvPr/>
          </p:nvSpPr>
          <p:spPr>
            <a:xfrm>
              <a:off x="11209780" y="1696402"/>
              <a:ext cx="478540" cy="205359"/>
            </a:xfrm>
            <a:prstGeom prst="rect">
              <a:avLst/>
            </a:prstGeom>
            <a:noFill/>
            <a:ln>
              <a:noFill/>
            </a:ln>
          </p:spPr>
          <p:txBody>
            <a:bodyPr wrap="none" lIns="0" tIns="0" rIns="0" bIns="0" anchor="t" anchorCtr="0">
              <a:spAutoFit/>
            </a:bodyPr>
            <a:lstStyle/>
            <a:p>
              <a:pPr algn="ctr"/>
              <a:r>
                <a:rPr lang="zh-CN" sz="1050" b="1" dirty="0">
                  <a:solidFill>
                    <a:srgbClr val="C45F4A"/>
                  </a:solidFill>
                  <a:latin typeface="+mn-lt"/>
                  <a:ea typeface="+mn-ea"/>
                  <a:cs typeface="+mn-cs"/>
                </a:rPr>
                <a:t>12月​​</a:t>
              </a:r>
            </a:p>
          </p:txBody>
        </p:sp>
        <p:sp>
          <p:nvSpPr>
            <p:cNvPr id="29" name="Ellipse 29"/>
            <p:cNvSpPr/>
            <p:nvPr/>
          </p:nvSpPr>
          <p:spPr>
            <a:xfrm>
              <a:off x="1285875" y="1885950"/>
              <a:ext cx="57150" cy="57150"/>
            </a:xfrm>
            <a:prstGeom prst="ellipse">
              <a:avLst/>
            </a:prstGeom>
            <a:solidFill>
              <a:srgbClr val="C45F4A"/>
            </a:solidFill>
            <a:ln>
              <a:noFill/>
            </a:ln>
          </p:spPr>
        </p:sp>
        <p:sp>
          <p:nvSpPr>
            <p:cNvPr id="30" name="Ellipse 30"/>
            <p:cNvSpPr/>
            <p:nvPr/>
          </p:nvSpPr>
          <p:spPr>
            <a:xfrm>
              <a:off x="2209800" y="1885950"/>
              <a:ext cx="57150" cy="57150"/>
            </a:xfrm>
            <a:prstGeom prst="ellipse">
              <a:avLst/>
            </a:prstGeom>
            <a:solidFill>
              <a:srgbClr val="C45F4A"/>
            </a:solidFill>
            <a:ln>
              <a:noFill/>
            </a:ln>
          </p:spPr>
        </p:sp>
        <p:sp>
          <p:nvSpPr>
            <p:cNvPr id="31" name="Ellipse 31"/>
            <p:cNvSpPr/>
            <p:nvPr/>
          </p:nvSpPr>
          <p:spPr>
            <a:xfrm>
              <a:off x="3133725" y="1885950"/>
              <a:ext cx="57150" cy="57150"/>
            </a:xfrm>
            <a:prstGeom prst="ellipse">
              <a:avLst/>
            </a:prstGeom>
            <a:solidFill>
              <a:srgbClr val="C45F4A"/>
            </a:solidFill>
            <a:ln>
              <a:noFill/>
            </a:ln>
          </p:spPr>
        </p:sp>
        <p:sp>
          <p:nvSpPr>
            <p:cNvPr id="32" name="Ellipse 32"/>
            <p:cNvSpPr/>
            <p:nvPr/>
          </p:nvSpPr>
          <p:spPr>
            <a:xfrm>
              <a:off x="4048125" y="1885950"/>
              <a:ext cx="57150" cy="57150"/>
            </a:xfrm>
            <a:prstGeom prst="ellipse">
              <a:avLst/>
            </a:prstGeom>
            <a:solidFill>
              <a:srgbClr val="C45F4A"/>
            </a:solidFill>
            <a:ln>
              <a:noFill/>
            </a:ln>
          </p:spPr>
        </p:sp>
        <p:sp>
          <p:nvSpPr>
            <p:cNvPr id="33" name="Ellipse 33"/>
            <p:cNvSpPr/>
            <p:nvPr/>
          </p:nvSpPr>
          <p:spPr>
            <a:xfrm>
              <a:off x="4972050" y="1885950"/>
              <a:ext cx="57150" cy="57150"/>
            </a:xfrm>
            <a:prstGeom prst="ellipse">
              <a:avLst/>
            </a:prstGeom>
            <a:solidFill>
              <a:srgbClr val="C45F4A"/>
            </a:solidFill>
            <a:ln>
              <a:noFill/>
            </a:ln>
          </p:spPr>
        </p:sp>
        <p:sp>
          <p:nvSpPr>
            <p:cNvPr id="34" name="Ellipse 34"/>
            <p:cNvSpPr/>
            <p:nvPr/>
          </p:nvSpPr>
          <p:spPr>
            <a:xfrm>
              <a:off x="5895975" y="1885950"/>
              <a:ext cx="57150" cy="57150"/>
            </a:xfrm>
            <a:prstGeom prst="ellipse">
              <a:avLst/>
            </a:prstGeom>
            <a:solidFill>
              <a:srgbClr val="C45F4A"/>
            </a:solidFill>
            <a:ln>
              <a:noFill/>
            </a:ln>
          </p:spPr>
        </p:sp>
        <p:sp>
          <p:nvSpPr>
            <p:cNvPr id="35" name="Ellipse 35"/>
            <p:cNvSpPr/>
            <p:nvPr/>
          </p:nvSpPr>
          <p:spPr>
            <a:xfrm>
              <a:off x="6810375" y="1885950"/>
              <a:ext cx="57150" cy="57150"/>
            </a:xfrm>
            <a:prstGeom prst="ellipse">
              <a:avLst/>
            </a:prstGeom>
            <a:solidFill>
              <a:srgbClr val="C45F4A"/>
            </a:solidFill>
            <a:ln>
              <a:noFill/>
            </a:ln>
          </p:spPr>
        </p:sp>
        <p:sp>
          <p:nvSpPr>
            <p:cNvPr id="36" name="Ellipse 36"/>
            <p:cNvSpPr/>
            <p:nvPr/>
          </p:nvSpPr>
          <p:spPr>
            <a:xfrm>
              <a:off x="7734300" y="1885950"/>
              <a:ext cx="57150" cy="57150"/>
            </a:xfrm>
            <a:prstGeom prst="ellipse">
              <a:avLst/>
            </a:prstGeom>
            <a:solidFill>
              <a:srgbClr val="C45F4A"/>
            </a:solidFill>
            <a:ln>
              <a:noFill/>
            </a:ln>
          </p:spPr>
        </p:sp>
        <p:sp>
          <p:nvSpPr>
            <p:cNvPr id="37" name="Ellipse 37"/>
            <p:cNvSpPr/>
            <p:nvPr/>
          </p:nvSpPr>
          <p:spPr>
            <a:xfrm>
              <a:off x="8658225" y="1885950"/>
              <a:ext cx="57150" cy="57150"/>
            </a:xfrm>
            <a:prstGeom prst="ellipse">
              <a:avLst/>
            </a:prstGeom>
            <a:solidFill>
              <a:srgbClr val="C45F4A"/>
            </a:solidFill>
            <a:ln>
              <a:noFill/>
            </a:ln>
          </p:spPr>
        </p:sp>
        <p:sp>
          <p:nvSpPr>
            <p:cNvPr id="38" name="Ellipse 38"/>
            <p:cNvSpPr/>
            <p:nvPr/>
          </p:nvSpPr>
          <p:spPr>
            <a:xfrm>
              <a:off x="9572625" y="1885950"/>
              <a:ext cx="57150" cy="57150"/>
            </a:xfrm>
            <a:prstGeom prst="ellipse">
              <a:avLst/>
            </a:prstGeom>
            <a:solidFill>
              <a:srgbClr val="C45F4A"/>
            </a:solidFill>
            <a:ln>
              <a:noFill/>
            </a:ln>
          </p:spPr>
        </p:sp>
        <p:sp>
          <p:nvSpPr>
            <p:cNvPr id="39" name="Ellipse 39"/>
            <p:cNvSpPr/>
            <p:nvPr/>
          </p:nvSpPr>
          <p:spPr>
            <a:xfrm>
              <a:off x="10496550" y="1885950"/>
              <a:ext cx="57150" cy="57150"/>
            </a:xfrm>
            <a:prstGeom prst="ellipse">
              <a:avLst/>
            </a:prstGeom>
            <a:solidFill>
              <a:srgbClr val="C45F4A"/>
            </a:solidFill>
            <a:ln>
              <a:noFill/>
            </a:ln>
          </p:spPr>
        </p:sp>
        <p:sp>
          <p:nvSpPr>
            <p:cNvPr id="40" name="Ellipse 40"/>
            <p:cNvSpPr/>
            <p:nvPr/>
          </p:nvSpPr>
          <p:spPr>
            <a:xfrm>
              <a:off x="11420475" y="1885950"/>
              <a:ext cx="57150" cy="57150"/>
            </a:xfrm>
            <a:prstGeom prst="ellipse">
              <a:avLst/>
            </a:prstGeom>
            <a:solidFill>
              <a:srgbClr val="C45F4A"/>
            </a:solidFill>
            <a:ln>
              <a:noFill/>
            </a:ln>
          </p:spPr>
        </p:sp>
      </p:grpSp>
      <p:grpSp>
        <p:nvGrpSpPr>
          <p:cNvPr id="68" name="node-row"/>
          <p:cNvGrpSpPr/>
          <p:nvPr/>
        </p:nvGrpSpPr>
        <p:grpSpPr>
          <a:xfrm>
            <a:off x="209550" y="2019300"/>
            <a:ext cx="11610975" cy="342900"/>
            <a:chOff x="209550" y="2019300"/>
            <a:chExt cx="11610975" cy="342900"/>
          </a:xfrm>
        </p:grpSpPr>
        <p:sp>
          <p:nvSpPr>
            <p:cNvPr id="42" name="Rectangle 42"/>
            <p:cNvSpPr/>
            <p:nvPr/>
          </p:nvSpPr>
          <p:spPr>
            <a:xfrm>
              <a:off x="209550" y="2019300"/>
              <a:ext cx="590550" cy="342900"/>
            </a:xfrm>
            <a:prstGeom prst="roundRect">
              <a:avLst>
                <a:gd name="adj" fmla="val 16667"/>
              </a:avLst>
            </a:prstGeom>
            <a:solidFill>
              <a:srgbClr val="D87D6A"/>
            </a:solidFill>
            <a:ln>
              <a:noFill/>
            </a:ln>
          </p:spPr>
        </p:sp>
        <p:sp>
          <p:nvSpPr>
            <p:cNvPr id="43" name="TextBox 43"/>
            <p:cNvSpPr txBox="1"/>
            <p:nvPr/>
          </p:nvSpPr>
          <p:spPr>
            <a:xfrm>
              <a:off x="246977" y="21371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活动节点</a:t>
              </a:r>
            </a:p>
          </p:txBody>
        </p:sp>
        <p:sp>
          <p:nvSpPr>
            <p:cNvPr id="44" name="Rectangle 44"/>
            <p:cNvSpPr/>
            <p:nvPr/>
          </p:nvSpPr>
          <p:spPr>
            <a:xfrm>
              <a:off x="942975" y="2057400"/>
              <a:ext cx="742950" cy="266700"/>
            </a:xfrm>
            <a:prstGeom prst="roundRect">
              <a:avLst>
                <a:gd name="adj" fmla="val 21429"/>
              </a:avLst>
            </a:prstGeom>
            <a:solidFill>
              <a:srgbClr val="D87D6A"/>
            </a:solidFill>
            <a:ln>
              <a:noFill/>
            </a:ln>
          </p:spPr>
        </p:sp>
        <p:sp>
          <p:nvSpPr>
            <p:cNvPr id="45" name="TextBox 45"/>
            <p:cNvSpPr txBox="1"/>
            <p:nvPr/>
          </p:nvSpPr>
          <p:spPr>
            <a:xfrm>
              <a:off x="1193914" y="214526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春节</a:t>
              </a:r>
            </a:p>
          </p:txBody>
        </p:sp>
        <p:sp>
          <p:nvSpPr>
            <p:cNvPr id="46" name="Rectangle 46"/>
            <p:cNvSpPr/>
            <p:nvPr/>
          </p:nvSpPr>
          <p:spPr>
            <a:xfrm>
              <a:off x="1866900" y="2057400"/>
              <a:ext cx="742950" cy="266700"/>
            </a:xfrm>
            <a:prstGeom prst="roundRect">
              <a:avLst>
                <a:gd name="adj" fmla="val 21429"/>
              </a:avLst>
            </a:prstGeom>
            <a:solidFill>
              <a:srgbClr val="D87D6A"/>
            </a:solidFill>
            <a:ln>
              <a:noFill/>
            </a:ln>
          </p:spPr>
        </p:sp>
        <p:sp>
          <p:nvSpPr>
            <p:cNvPr id="47" name="TextBox 47"/>
            <p:cNvSpPr txBox="1"/>
            <p:nvPr/>
          </p:nvSpPr>
          <p:spPr>
            <a:xfrm>
              <a:off x="2059953" y="2145268"/>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情人节</a:t>
              </a:r>
            </a:p>
          </p:txBody>
        </p:sp>
        <p:sp>
          <p:nvSpPr>
            <p:cNvPr id="48" name="Rectangle 48"/>
            <p:cNvSpPr/>
            <p:nvPr/>
          </p:nvSpPr>
          <p:spPr>
            <a:xfrm>
              <a:off x="2790825" y="2057400"/>
              <a:ext cx="742950" cy="266700"/>
            </a:xfrm>
            <a:prstGeom prst="roundRect">
              <a:avLst>
                <a:gd name="adj" fmla="val 21429"/>
              </a:avLst>
            </a:prstGeom>
            <a:solidFill>
              <a:srgbClr val="D87D6A"/>
            </a:solidFill>
            <a:ln>
              <a:noFill/>
            </a:ln>
          </p:spPr>
        </p:sp>
        <p:sp>
          <p:nvSpPr>
            <p:cNvPr id="49" name="TextBox 49"/>
            <p:cNvSpPr txBox="1"/>
            <p:nvPr/>
          </p:nvSpPr>
          <p:spPr>
            <a:xfrm>
              <a:off x="2983878" y="2145268"/>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妇女节</a:t>
              </a:r>
            </a:p>
          </p:txBody>
        </p:sp>
        <p:sp>
          <p:nvSpPr>
            <p:cNvPr id="50" name="Rectangle 50"/>
            <p:cNvSpPr/>
            <p:nvPr/>
          </p:nvSpPr>
          <p:spPr>
            <a:xfrm>
              <a:off x="3705225" y="2057400"/>
              <a:ext cx="742950" cy="266700"/>
            </a:xfrm>
            <a:prstGeom prst="roundRect">
              <a:avLst>
                <a:gd name="adj" fmla="val 21429"/>
              </a:avLst>
            </a:prstGeom>
            <a:solidFill>
              <a:srgbClr val="D87D6A"/>
            </a:solidFill>
            <a:ln>
              <a:noFill/>
            </a:ln>
          </p:spPr>
        </p:sp>
        <p:sp>
          <p:nvSpPr>
            <p:cNvPr id="51" name="TextBox 51"/>
            <p:cNvSpPr txBox="1"/>
            <p:nvPr/>
          </p:nvSpPr>
          <p:spPr>
            <a:xfrm>
              <a:off x="3898278" y="2145268"/>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花朝节</a:t>
              </a:r>
            </a:p>
          </p:txBody>
        </p:sp>
        <p:sp>
          <p:nvSpPr>
            <p:cNvPr id="52" name="Rectangle 52"/>
            <p:cNvSpPr/>
            <p:nvPr/>
          </p:nvSpPr>
          <p:spPr>
            <a:xfrm>
              <a:off x="4629150" y="2057400"/>
              <a:ext cx="742950" cy="266700"/>
            </a:xfrm>
            <a:prstGeom prst="roundRect">
              <a:avLst>
                <a:gd name="adj" fmla="val 21429"/>
              </a:avLst>
            </a:prstGeom>
            <a:solidFill>
              <a:srgbClr val="D87D6A"/>
            </a:solidFill>
            <a:ln>
              <a:noFill/>
            </a:ln>
          </p:spPr>
        </p:sp>
        <p:sp>
          <p:nvSpPr>
            <p:cNvPr id="53" name="TextBox 53"/>
            <p:cNvSpPr txBox="1"/>
            <p:nvPr/>
          </p:nvSpPr>
          <p:spPr>
            <a:xfrm>
              <a:off x="4822203" y="2145268"/>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母亲节</a:t>
              </a:r>
            </a:p>
          </p:txBody>
        </p:sp>
        <p:sp>
          <p:nvSpPr>
            <p:cNvPr id="54" name="Rectangle 54"/>
            <p:cNvSpPr/>
            <p:nvPr/>
          </p:nvSpPr>
          <p:spPr>
            <a:xfrm>
              <a:off x="5553075" y="2057400"/>
              <a:ext cx="742950" cy="266700"/>
            </a:xfrm>
            <a:prstGeom prst="roundRect">
              <a:avLst>
                <a:gd name="adj" fmla="val 21429"/>
              </a:avLst>
            </a:prstGeom>
            <a:solidFill>
              <a:srgbClr val="D87D6A"/>
            </a:solidFill>
            <a:ln>
              <a:noFill/>
            </a:ln>
          </p:spPr>
        </p:sp>
        <p:sp>
          <p:nvSpPr>
            <p:cNvPr id="55" name="TextBox 55"/>
            <p:cNvSpPr txBox="1"/>
            <p:nvPr/>
          </p:nvSpPr>
          <p:spPr>
            <a:xfrm>
              <a:off x="5752640" y="2145268"/>
              <a:ext cx="343820"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618​​</a:t>
              </a:r>
            </a:p>
          </p:txBody>
        </p:sp>
        <p:sp>
          <p:nvSpPr>
            <p:cNvPr id="56" name="Rectangle 56"/>
            <p:cNvSpPr/>
            <p:nvPr/>
          </p:nvSpPr>
          <p:spPr>
            <a:xfrm>
              <a:off x="6467475" y="2057400"/>
              <a:ext cx="742950" cy="266700"/>
            </a:xfrm>
            <a:prstGeom prst="roundRect">
              <a:avLst>
                <a:gd name="adj" fmla="val 21429"/>
              </a:avLst>
            </a:prstGeom>
            <a:solidFill>
              <a:srgbClr val="D87D6A"/>
            </a:solidFill>
            <a:ln>
              <a:noFill/>
            </a:ln>
          </p:spPr>
        </p:sp>
        <p:sp>
          <p:nvSpPr>
            <p:cNvPr id="57" name="TextBox 57"/>
            <p:cNvSpPr txBox="1"/>
            <p:nvPr/>
          </p:nvSpPr>
          <p:spPr>
            <a:xfrm>
              <a:off x="6718414" y="214526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暑假</a:t>
              </a:r>
            </a:p>
          </p:txBody>
        </p:sp>
        <p:sp>
          <p:nvSpPr>
            <p:cNvPr id="58" name="Rectangle 58"/>
            <p:cNvSpPr/>
            <p:nvPr/>
          </p:nvSpPr>
          <p:spPr>
            <a:xfrm>
              <a:off x="7391400" y="2057400"/>
              <a:ext cx="742950" cy="266700"/>
            </a:xfrm>
            <a:prstGeom prst="roundRect">
              <a:avLst>
                <a:gd name="adj" fmla="val 21429"/>
              </a:avLst>
            </a:prstGeom>
            <a:solidFill>
              <a:srgbClr val="D87D6A"/>
            </a:solidFill>
            <a:ln>
              <a:noFill/>
            </a:ln>
          </p:spPr>
        </p:sp>
        <p:sp>
          <p:nvSpPr>
            <p:cNvPr id="59" name="TextBox 59"/>
            <p:cNvSpPr txBox="1"/>
            <p:nvPr/>
          </p:nvSpPr>
          <p:spPr>
            <a:xfrm>
              <a:off x="7642339" y="214526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七夕</a:t>
              </a:r>
            </a:p>
          </p:txBody>
        </p:sp>
        <p:sp>
          <p:nvSpPr>
            <p:cNvPr id="60" name="Rectangle 60"/>
            <p:cNvSpPr/>
            <p:nvPr/>
          </p:nvSpPr>
          <p:spPr>
            <a:xfrm>
              <a:off x="8315325" y="2057400"/>
              <a:ext cx="742950" cy="266700"/>
            </a:xfrm>
            <a:prstGeom prst="roundRect">
              <a:avLst>
                <a:gd name="adj" fmla="val 21429"/>
              </a:avLst>
            </a:prstGeom>
            <a:solidFill>
              <a:srgbClr val="D87D6A"/>
            </a:solidFill>
            <a:ln>
              <a:noFill/>
            </a:ln>
          </p:spPr>
        </p:sp>
        <p:sp>
          <p:nvSpPr>
            <p:cNvPr id="61" name="TextBox 61"/>
            <p:cNvSpPr txBox="1"/>
            <p:nvPr/>
          </p:nvSpPr>
          <p:spPr>
            <a:xfrm>
              <a:off x="8508378" y="2145268"/>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开学季</a:t>
              </a:r>
            </a:p>
          </p:txBody>
        </p:sp>
        <p:sp>
          <p:nvSpPr>
            <p:cNvPr id="62" name="Rectangle 62"/>
            <p:cNvSpPr/>
            <p:nvPr/>
          </p:nvSpPr>
          <p:spPr>
            <a:xfrm>
              <a:off x="9229725" y="2057400"/>
              <a:ext cx="742950" cy="266700"/>
            </a:xfrm>
            <a:prstGeom prst="roundRect">
              <a:avLst>
                <a:gd name="adj" fmla="val 21429"/>
              </a:avLst>
            </a:prstGeom>
            <a:solidFill>
              <a:srgbClr val="D87D6A"/>
            </a:solidFill>
            <a:ln>
              <a:noFill/>
            </a:ln>
          </p:spPr>
        </p:sp>
        <p:sp>
          <p:nvSpPr>
            <p:cNvPr id="63" name="TextBox 63"/>
            <p:cNvSpPr txBox="1"/>
            <p:nvPr/>
          </p:nvSpPr>
          <p:spPr>
            <a:xfrm>
              <a:off x="9422778" y="2145268"/>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重阳节</a:t>
              </a:r>
            </a:p>
          </p:txBody>
        </p:sp>
        <p:sp>
          <p:nvSpPr>
            <p:cNvPr id="64" name="Rectangle 64"/>
            <p:cNvSpPr/>
            <p:nvPr/>
          </p:nvSpPr>
          <p:spPr>
            <a:xfrm>
              <a:off x="10153650" y="2057400"/>
              <a:ext cx="742950" cy="266700"/>
            </a:xfrm>
            <a:prstGeom prst="roundRect">
              <a:avLst>
                <a:gd name="adj" fmla="val 21429"/>
              </a:avLst>
            </a:prstGeom>
            <a:solidFill>
              <a:srgbClr val="D87D6A"/>
            </a:solidFill>
            <a:ln>
              <a:noFill/>
            </a:ln>
          </p:spPr>
        </p:sp>
        <p:sp>
          <p:nvSpPr>
            <p:cNvPr id="65" name="TextBox 65"/>
            <p:cNvSpPr txBox="1"/>
            <p:nvPr/>
          </p:nvSpPr>
          <p:spPr>
            <a:xfrm>
              <a:off x="10346703" y="2145268"/>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双十一</a:t>
              </a:r>
            </a:p>
          </p:txBody>
        </p:sp>
        <p:sp>
          <p:nvSpPr>
            <p:cNvPr id="66" name="Rectangle 66"/>
            <p:cNvSpPr/>
            <p:nvPr/>
          </p:nvSpPr>
          <p:spPr>
            <a:xfrm>
              <a:off x="11077575" y="2057400"/>
              <a:ext cx="742950" cy="266700"/>
            </a:xfrm>
            <a:prstGeom prst="roundRect">
              <a:avLst>
                <a:gd name="adj" fmla="val 21429"/>
              </a:avLst>
            </a:prstGeom>
            <a:solidFill>
              <a:srgbClr val="D87D6A"/>
            </a:solidFill>
            <a:ln>
              <a:noFill/>
            </a:ln>
          </p:spPr>
        </p:sp>
        <p:sp>
          <p:nvSpPr>
            <p:cNvPr id="67" name="TextBox 67"/>
            <p:cNvSpPr txBox="1"/>
            <p:nvPr/>
          </p:nvSpPr>
          <p:spPr>
            <a:xfrm>
              <a:off x="11328514" y="214526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双旦</a:t>
              </a:r>
            </a:p>
          </p:txBody>
        </p:sp>
      </p:grpSp>
      <p:grpSp>
        <p:nvGrpSpPr>
          <p:cNvPr id="83" name="theme-row"/>
          <p:cNvGrpSpPr/>
          <p:nvPr/>
        </p:nvGrpSpPr>
        <p:grpSpPr>
          <a:xfrm>
            <a:off x="209550" y="2457450"/>
            <a:ext cx="11504613" cy="723900"/>
            <a:chOff x="209550" y="2457450"/>
            <a:chExt cx="11504613" cy="723900"/>
          </a:xfrm>
        </p:grpSpPr>
        <p:sp>
          <p:nvSpPr>
            <p:cNvPr id="69" name="Rectangle 69"/>
            <p:cNvSpPr/>
            <p:nvPr/>
          </p:nvSpPr>
          <p:spPr>
            <a:xfrm>
              <a:off x="209550" y="2457450"/>
              <a:ext cx="590550" cy="723900"/>
            </a:xfrm>
            <a:prstGeom prst="roundRect">
              <a:avLst>
                <a:gd name="adj" fmla="val 9677"/>
              </a:avLst>
            </a:prstGeom>
            <a:solidFill>
              <a:srgbClr val="E8634C"/>
            </a:solidFill>
            <a:ln>
              <a:noFill/>
            </a:ln>
          </p:spPr>
        </p:sp>
        <p:sp>
          <p:nvSpPr>
            <p:cNvPr id="70" name="TextBox 70"/>
            <p:cNvSpPr txBox="1"/>
            <p:nvPr/>
          </p:nvSpPr>
          <p:spPr>
            <a:xfrm>
              <a:off x="380682" y="2641997"/>
              <a:ext cx="248285" cy="354806"/>
            </a:xfrm>
            <a:prstGeom prst="rect">
              <a:avLst/>
            </a:prstGeom>
            <a:noFill/>
            <a:ln>
              <a:noFill/>
            </a:ln>
          </p:spPr>
          <p:txBody>
            <a:bodyPr wrap="none" lIns="0" tIns="0" rIns="0" bIns="0" anchor="t" anchorCtr="0">
              <a:spAutoFit/>
            </a:bodyPr>
            <a:lstStyle/>
            <a:p>
              <a:pPr algn="ctr">
                <a:lnSpc>
                  <a:spcPts val="1350"/>
                </a:lnSpc>
              </a:pPr>
              <a:r>
                <a:rPr lang="zh-CN" sz="940" b="1" dirty="0">
                  <a:solidFill>
                    <a:srgbClr val="FFFFFF"/>
                  </a:solidFill>
                  <a:latin typeface="+mn-lt"/>
                  <a:ea typeface="+mn-ea"/>
                  <a:cs typeface="+mn-cs"/>
                </a:rPr>
                <a:t>月度</a:t>
              </a:r>
              <a:br/>
              <a:r>
                <a:rPr lang="zh-CN" sz="940" b="1" dirty="0">
                  <a:solidFill>
                    <a:srgbClr val="FFFFFF"/>
                  </a:solidFill>
                  <a:latin typeface="+mn-lt"/>
                  <a:ea typeface="+mn-ea"/>
                  <a:cs typeface="+mn-cs"/>
                </a:rPr>
                <a:t>主题</a:t>
              </a:r>
            </a:p>
          </p:txBody>
        </p:sp>
        <p:sp>
          <p:nvSpPr>
            <p:cNvPr id="71" name="TextBox 71"/>
            <p:cNvSpPr txBox="1"/>
            <p:nvPr/>
          </p:nvSpPr>
          <p:spPr>
            <a:xfrm>
              <a:off x="1049338"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新春绮梦</a:t>
              </a:r>
              <a:br/>
              <a:r>
                <a:rPr lang="zh-CN" sz="820" b="1" dirty="0">
                  <a:solidFill>
                    <a:srgbClr val="E8634C"/>
                  </a:solidFill>
                  <a:latin typeface="+mn-lt"/>
                  <a:ea typeface="+mn-ea"/>
                  <a:cs typeface="+mn-cs"/>
                </a:rPr>
                <a:t>映于眼眸间</a:t>
              </a:r>
            </a:p>
          </p:txBody>
        </p:sp>
        <p:sp>
          <p:nvSpPr>
            <p:cNvPr id="72" name="TextBox 72"/>
            <p:cNvSpPr txBox="1"/>
            <p:nvPr/>
          </p:nvSpPr>
          <p:spPr>
            <a:xfrm>
              <a:off x="1973262"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情眸恋影</a:t>
              </a:r>
              <a:br/>
              <a:r>
                <a:rPr lang="zh-CN" sz="820" b="1" dirty="0">
                  <a:solidFill>
                    <a:srgbClr val="E8634C"/>
                  </a:solidFill>
                  <a:latin typeface="+mn-lt"/>
                  <a:ea typeface="+mn-ea"/>
                  <a:cs typeface="+mn-cs"/>
                </a:rPr>
                <a:t>盈绽情人节</a:t>
              </a:r>
            </a:p>
          </p:txBody>
        </p:sp>
        <p:sp>
          <p:nvSpPr>
            <p:cNvPr id="73" name="TextBox 73"/>
            <p:cNvSpPr txBox="1"/>
            <p:nvPr/>
          </p:nvSpPr>
          <p:spPr>
            <a:xfrm>
              <a:off x="2897188"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巾帼魅眼</a:t>
              </a:r>
              <a:br/>
              <a:r>
                <a:rPr lang="zh-CN" sz="820" b="1" dirty="0">
                  <a:solidFill>
                    <a:srgbClr val="E8634C"/>
                  </a:solidFill>
                  <a:latin typeface="+mn-lt"/>
                  <a:ea typeface="+mn-ea"/>
                  <a:cs typeface="+mn-cs"/>
                </a:rPr>
                <a:t>绽女性华光</a:t>
              </a:r>
            </a:p>
          </p:txBody>
        </p:sp>
        <p:sp>
          <p:nvSpPr>
            <p:cNvPr id="74" name="TextBox 74"/>
            <p:cNvSpPr txBox="1"/>
            <p:nvPr/>
          </p:nvSpPr>
          <p:spPr>
            <a:xfrm>
              <a:off x="3811588"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花朝靓影</a:t>
              </a:r>
              <a:br/>
              <a:r>
                <a:rPr lang="zh-CN" sz="820" b="1" dirty="0">
                  <a:solidFill>
                    <a:srgbClr val="E8634C"/>
                  </a:solidFill>
                  <a:latin typeface="+mn-lt"/>
                  <a:ea typeface="+mn-ea"/>
                  <a:cs typeface="+mn-cs"/>
                </a:rPr>
                <a:t>绘繁花盛景</a:t>
              </a:r>
            </a:p>
          </p:txBody>
        </p:sp>
        <p:sp>
          <p:nvSpPr>
            <p:cNvPr id="75" name="TextBox 75"/>
            <p:cNvSpPr txBox="1"/>
            <p:nvPr/>
          </p:nvSpPr>
          <p:spPr>
            <a:xfrm>
              <a:off x="4735512"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慈目眼影</a:t>
              </a:r>
              <a:br/>
              <a:r>
                <a:rPr lang="zh-CN" sz="820" b="1" dirty="0">
                  <a:solidFill>
                    <a:srgbClr val="E8634C"/>
                  </a:solidFill>
                  <a:latin typeface="+mn-lt"/>
                  <a:ea typeface="+mn-ea"/>
                  <a:cs typeface="+mn-cs"/>
                </a:rPr>
                <a:t>感恩观深情</a:t>
              </a:r>
            </a:p>
          </p:txBody>
        </p:sp>
        <p:sp>
          <p:nvSpPr>
            <p:cNvPr id="76" name="TextBox 76"/>
            <p:cNvSpPr txBox="1"/>
            <p:nvPr/>
          </p:nvSpPr>
          <p:spPr>
            <a:xfrm>
              <a:off x="5659438"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年中盛惠</a:t>
              </a:r>
              <a:br/>
              <a:r>
                <a:rPr lang="zh-CN" sz="820" b="1" dirty="0">
                  <a:solidFill>
                    <a:srgbClr val="E8634C"/>
                  </a:solidFill>
                  <a:latin typeface="+mn-lt"/>
                  <a:ea typeface="+mn-ea"/>
                  <a:cs typeface="+mn-cs"/>
                </a:rPr>
                <a:t>眼影焕新季</a:t>
              </a:r>
            </a:p>
          </p:txBody>
        </p:sp>
        <p:sp>
          <p:nvSpPr>
            <p:cNvPr id="77" name="TextBox 77"/>
            <p:cNvSpPr txBox="1"/>
            <p:nvPr/>
          </p:nvSpPr>
          <p:spPr>
            <a:xfrm>
              <a:off x="6573838"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暑期睛彩</a:t>
              </a:r>
              <a:br/>
              <a:r>
                <a:rPr lang="zh-CN" sz="820" b="1" dirty="0">
                  <a:solidFill>
                    <a:srgbClr val="E8634C"/>
                  </a:solidFill>
                  <a:latin typeface="+mn-lt"/>
                  <a:ea typeface="+mn-ea"/>
                  <a:cs typeface="+mn-cs"/>
                </a:rPr>
                <a:t>眼影绘自由</a:t>
              </a:r>
            </a:p>
          </p:txBody>
        </p:sp>
        <p:sp>
          <p:nvSpPr>
            <p:cNvPr id="78" name="TextBox 78"/>
            <p:cNvSpPr txBox="1"/>
            <p:nvPr/>
          </p:nvSpPr>
          <p:spPr>
            <a:xfrm>
              <a:off x="7497762"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七夕爱眸</a:t>
              </a:r>
              <a:br/>
              <a:r>
                <a:rPr lang="zh-CN" sz="820" b="1" dirty="0">
                  <a:solidFill>
                    <a:srgbClr val="E8634C"/>
                  </a:solidFill>
                  <a:latin typeface="+mn-lt"/>
                  <a:ea typeface="+mn-ea"/>
                  <a:cs typeface="+mn-cs"/>
                </a:rPr>
                <a:t>传情影成双</a:t>
              </a:r>
            </a:p>
          </p:txBody>
        </p:sp>
        <p:sp>
          <p:nvSpPr>
            <p:cNvPr id="79" name="TextBox 79"/>
            <p:cNvSpPr txBox="1"/>
            <p:nvPr/>
          </p:nvSpPr>
          <p:spPr>
            <a:xfrm>
              <a:off x="8421688"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学季新妆</a:t>
              </a:r>
              <a:br/>
              <a:r>
                <a:rPr lang="zh-CN" sz="820" b="1" dirty="0">
                  <a:solidFill>
                    <a:srgbClr val="E8634C"/>
                  </a:solidFill>
                  <a:latin typeface="+mn-lt"/>
                  <a:ea typeface="+mn-ea"/>
                  <a:cs typeface="+mn-cs"/>
                </a:rPr>
                <a:t>眼影启新程</a:t>
              </a:r>
            </a:p>
          </p:txBody>
        </p:sp>
        <p:sp>
          <p:nvSpPr>
            <p:cNvPr id="80" name="TextBox 80"/>
            <p:cNvSpPr txBox="1"/>
            <p:nvPr/>
          </p:nvSpPr>
          <p:spPr>
            <a:xfrm>
              <a:off x="9336088"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重阳暖目</a:t>
              </a:r>
              <a:br/>
              <a:r>
                <a:rPr lang="zh-CN" sz="820" b="1" dirty="0">
                  <a:solidFill>
                    <a:srgbClr val="E8634C"/>
                  </a:solidFill>
                  <a:latin typeface="+mn-lt"/>
                  <a:ea typeface="+mn-ea"/>
                  <a:cs typeface="+mn-cs"/>
                </a:rPr>
                <a:t>眼影敬长辈</a:t>
              </a:r>
            </a:p>
          </p:txBody>
        </p:sp>
        <p:sp>
          <p:nvSpPr>
            <p:cNvPr id="81" name="TextBox 81"/>
            <p:cNvSpPr txBox="1"/>
            <p:nvPr/>
          </p:nvSpPr>
          <p:spPr>
            <a:xfrm>
              <a:off x="10260012"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双十一大促</a:t>
              </a:r>
              <a:br/>
              <a:r>
                <a:rPr lang="zh-CN" sz="820" b="1" dirty="0">
                  <a:solidFill>
                    <a:srgbClr val="E8634C"/>
                  </a:solidFill>
                  <a:latin typeface="+mn-lt"/>
                  <a:ea typeface="+mn-ea"/>
                  <a:cs typeface="+mn-cs"/>
                </a:rPr>
                <a:t>眼影囤货潮</a:t>
              </a:r>
            </a:p>
          </p:txBody>
        </p:sp>
        <p:sp>
          <p:nvSpPr>
            <p:cNvPr id="82" name="TextBox 82"/>
            <p:cNvSpPr txBox="1"/>
            <p:nvPr/>
          </p:nvSpPr>
          <p:spPr>
            <a:xfrm>
              <a:off x="11183938" y="26160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E8634C"/>
                  </a:solidFill>
                  <a:latin typeface="+mn-lt"/>
                  <a:ea typeface="+mn-ea"/>
                  <a:cs typeface="+mn-cs"/>
                </a:rPr>
                <a:t>双旦盛妆</a:t>
              </a:r>
              <a:br/>
              <a:r>
                <a:rPr lang="zh-CN" sz="820" b="1" dirty="0">
                  <a:solidFill>
                    <a:srgbClr val="E8634C"/>
                  </a:solidFill>
                  <a:latin typeface="+mn-lt"/>
                  <a:ea typeface="+mn-ea"/>
                  <a:cs typeface="+mn-cs"/>
                </a:rPr>
                <a:t>眼影耀新岁</a:t>
              </a:r>
            </a:p>
          </p:txBody>
        </p:sp>
      </p:grpSp>
      <p:grpSp>
        <p:nvGrpSpPr>
          <p:cNvPr id="110" name="content-row"/>
          <p:cNvGrpSpPr/>
          <p:nvPr/>
        </p:nvGrpSpPr>
        <p:grpSpPr>
          <a:xfrm>
            <a:off x="209550" y="3257550"/>
            <a:ext cx="11649075" cy="2209800"/>
            <a:chOff x="209550" y="3257550"/>
            <a:chExt cx="11649075" cy="2209800"/>
          </a:xfrm>
        </p:grpSpPr>
        <p:sp>
          <p:nvSpPr>
            <p:cNvPr id="84" name="Rectangle 84"/>
            <p:cNvSpPr/>
            <p:nvPr/>
          </p:nvSpPr>
          <p:spPr>
            <a:xfrm>
              <a:off x="209550" y="3257550"/>
              <a:ext cx="590550" cy="2209800"/>
            </a:xfrm>
            <a:prstGeom prst="roundRect">
              <a:avLst>
                <a:gd name="adj" fmla="val 9677"/>
              </a:avLst>
            </a:prstGeom>
            <a:solidFill>
              <a:srgbClr val="E8634C"/>
            </a:solidFill>
            <a:ln>
              <a:noFill/>
            </a:ln>
          </p:spPr>
        </p:sp>
        <p:sp>
          <p:nvSpPr>
            <p:cNvPr id="85" name="TextBox 85"/>
            <p:cNvSpPr txBox="1"/>
            <p:nvPr/>
          </p:nvSpPr>
          <p:spPr>
            <a:xfrm>
              <a:off x="380682" y="4089797"/>
              <a:ext cx="248285" cy="354806"/>
            </a:xfrm>
            <a:prstGeom prst="rect">
              <a:avLst/>
            </a:prstGeom>
            <a:noFill/>
            <a:ln>
              <a:noFill/>
            </a:ln>
          </p:spPr>
          <p:txBody>
            <a:bodyPr wrap="none" lIns="0" tIns="0" rIns="0" bIns="0" anchor="t" anchorCtr="0">
              <a:spAutoFit/>
            </a:bodyPr>
            <a:lstStyle/>
            <a:p>
              <a:pPr algn="ctr">
                <a:lnSpc>
                  <a:spcPts val="1350"/>
                </a:lnSpc>
              </a:pPr>
              <a:r>
                <a:rPr lang="zh-CN" sz="940" b="1" dirty="0">
                  <a:solidFill>
                    <a:srgbClr val="FFFFFF"/>
                  </a:solidFill>
                  <a:latin typeface="+mn-lt"/>
                  <a:ea typeface="+mn-ea"/>
                  <a:cs typeface="+mn-cs"/>
                </a:rPr>
                <a:t>营销</a:t>
              </a:r>
              <a:br/>
              <a:r>
                <a:rPr lang="zh-CN" sz="940" b="1" dirty="0">
                  <a:solidFill>
                    <a:srgbClr val="FFFFFF"/>
                  </a:solidFill>
                  <a:latin typeface="+mn-lt"/>
                  <a:ea typeface="+mn-ea"/>
                  <a:cs typeface="+mn-cs"/>
                </a:rPr>
                <a:t>内容</a:t>
              </a:r>
            </a:p>
          </p:txBody>
        </p:sp>
        <p:sp>
          <p:nvSpPr>
            <p:cNvPr id="86" name="Rectangle 86"/>
            <p:cNvSpPr/>
            <p:nvPr/>
          </p:nvSpPr>
          <p:spPr>
            <a:xfrm>
              <a:off x="914400" y="3276600"/>
              <a:ext cx="809625" cy="2171700"/>
            </a:xfrm>
            <a:prstGeom prst="roundRect">
              <a:avLst>
                <a:gd name="adj" fmla="val 7059"/>
              </a:avLst>
            </a:prstGeom>
            <a:solidFill>
              <a:srgbClr val="FFFFFF"/>
            </a:solidFill>
            <a:ln>
              <a:noFill/>
            </a:ln>
          </p:spPr>
        </p:sp>
        <p:sp>
          <p:nvSpPr>
            <p:cNvPr id="87" name="TextBox 87"/>
            <p:cNvSpPr txBox="1"/>
            <p:nvPr/>
          </p:nvSpPr>
          <p:spPr>
            <a:xfrm>
              <a:off x="976312" y="3405188"/>
              <a:ext cx="676275" cy="4524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春节盛妆眼影添</a:t>
              </a:r>
              <a:br/>
              <a:r>
                <a:rPr lang="zh-CN" sz="750" dirty="0">
                  <a:solidFill>
                    <a:srgbClr val="88706B"/>
                  </a:solidFill>
                  <a:latin typeface="+mn-lt"/>
                  <a:ea typeface="+mn-ea"/>
                  <a:cs typeface="+mn-cs"/>
                </a:rPr>
                <a:t>彩，福袋相赠，</a:t>
              </a:r>
              <a:br/>
              <a:r>
                <a:rPr lang="zh-CN" sz="750" dirty="0">
                  <a:solidFill>
                    <a:srgbClr val="88706B"/>
                  </a:solidFill>
                  <a:latin typeface="+mn-lt"/>
                  <a:ea typeface="+mn-ea"/>
                  <a:cs typeface="+mn-cs"/>
                </a:rPr>
                <a:t>打卡赢定制礼。</a:t>
              </a:r>
            </a:p>
          </p:txBody>
        </p:sp>
        <p:sp>
          <p:nvSpPr>
            <p:cNvPr id="88" name="Rectangle 88"/>
            <p:cNvSpPr/>
            <p:nvPr/>
          </p:nvSpPr>
          <p:spPr>
            <a:xfrm>
              <a:off x="1838325" y="3276600"/>
              <a:ext cx="809625" cy="2171700"/>
            </a:xfrm>
            <a:prstGeom prst="roundRect">
              <a:avLst>
                <a:gd name="adj" fmla="val 7059"/>
              </a:avLst>
            </a:prstGeom>
            <a:solidFill>
              <a:srgbClr val="FFFFFF"/>
            </a:solidFill>
            <a:ln>
              <a:noFill/>
            </a:ln>
          </p:spPr>
        </p:sp>
        <p:sp>
          <p:nvSpPr>
            <p:cNvPr id="89" name="TextBox 89"/>
            <p:cNvSpPr txBox="1"/>
            <p:nvPr/>
          </p:nvSpPr>
          <p:spPr>
            <a:xfrm>
              <a:off x="1900238" y="3405188"/>
              <a:ext cx="676275"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情侣眼影礼盒上</a:t>
              </a:r>
              <a:br/>
              <a:r>
                <a:rPr lang="zh-CN" sz="750" dirty="0">
                  <a:solidFill>
                    <a:srgbClr val="88706B"/>
                  </a:solidFill>
                  <a:latin typeface="+mn-lt"/>
                  <a:ea typeface="+mn-ea"/>
                  <a:cs typeface="+mn-cs"/>
                </a:rPr>
                <a:t>线，限时甜蜜约</a:t>
              </a:r>
              <a:br/>
              <a:r>
                <a:rPr lang="zh-CN" sz="750" dirty="0">
                  <a:solidFill>
                    <a:srgbClr val="88706B"/>
                  </a:solidFill>
                  <a:latin typeface="+mn-lt"/>
                  <a:ea typeface="+mn-ea"/>
                  <a:cs typeface="+mn-cs"/>
                </a:rPr>
                <a:t>会基金，爱意满</a:t>
              </a:r>
              <a:br/>
              <a:r>
                <a:rPr lang="zh-CN" sz="750" dirty="0">
                  <a:solidFill>
                    <a:srgbClr val="88706B"/>
                  </a:solidFill>
                  <a:latin typeface="+mn-lt"/>
                  <a:ea typeface="+mn-ea"/>
                  <a:cs typeface="+mn-cs"/>
                </a:rPr>
                <a:t>屏。</a:t>
              </a:r>
            </a:p>
          </p:txBody>
        </p:sp>
        <p:sp>
          <p:nvSpPr>
            <p:cNvPr id="90" name="Rectangle 90"/>
            <p:cNvSpPr/>
            <p:nvPr/>
          </p:nvSpPr>
          <p:spPr>
            <a:xfrm>
              <a:off x="2762250" y="3276600"/>
              <a:ext cx="809625" cy="2171700"/>
            </a:xfrm>
            <a:prstGeom prst="roundRect">
              <a:avLst>
                <a:gd name="adj" fmla="val 7059"/>
              </a:avLst>
            </a:prstGeom>
            <a:solidFill>
              <a:srgbClr val="FFFFFF"/>
            </a:solidFill>
            <a:ln>
              <a:noFill/>
            </a:ln>
          </p:spPr>
        </p:sp>
        <p:sp>
          <p:nvSpPr>
            <p:cNvPr id="91" name="TextBox 91"/>
            <p:cNvSpPr txBox="1"/>
            <p:nvPr/>
          </p:nvSpPr>
          <p:spPr>
            <a:xfrm>
              <a:off x="2824162" y="3405188"/>
              <a:ext cx="676275"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妇女节眼影助力</a:t>
              </a:r>
              <a:br/>
              <a:r>
                <a:rPr lang="zh-CN" sz="750" dirty="0">
                  <a:solidFill>
                    <a:srgbClr val="88706B"/>
                  </a:solidFill>
                  <a:latin typeface="+mn-lt"/>
                  <a:ea typeface="+mn-ea"/>
                  <a:cs typeface="+mn-cs"/>
                </a:rPr>
                <a:t>女性闪耀，分享</a:t>
              </a:r>
              <a:br/>
              <a:r>
                <a:rPr lang="zh-CN" sz="750" dirty="0">
                  <a:solidFill>
                    <a:srgbClr val="88706B"/>
                  </a:solidFill>
                  <a:latin typeface="+mn-lt"/>
                  <a:ea typeface="+mn-ea"/>
                  <a:cs typeface="+mn-cs"/>
                </a:rPr>
                <a:t>心得即可得专属</a:t>
              </a:r>
              <a:br/>
              <a:r>
                <a:rPr lang="zh-CN" sz="750" dirty="0">
                  <a:solidFill>
                    <a:srgbClr val="88706B"/>
                  </a:solidFill>
                  <a:latin typeface="+mn-lt"/>
                  <a:ea typeface="+mn-ea"/>
                  <a:cs typeface="+mn-cs"/>
                </a:rPr>
                <a:t>优惠与礼品。</a:t>
              </a:r>
            </a:p>
          </p:txBody>
        </p:sp>
        <p:sp>
          <p:nvSpPr>
            <p:cNvPr id="92" name="Rectangle 92"/>
            <p:cNvSpPr/>
            <p:nvPr/>
          </p:nvSpPr>
          <p:spPr>
            <a:xfrm>
              <a:off x="3676650" y="3276600"/>
              <a:ext cx="809625" cy="2171700"/>
            </a:xfrm>
            <a:prstGeom prst="roundRect">
              <a:avLst>
                <a:gd name="adj" fmla="val 7059"/>
              </a:avLst>
            </a:prstGeom>
            <a:solidFill>
              <a:srgbClr val="FFFFFF"/>
            </a:solidFill>
            <a:ln>
              <a:noFill/>
            </a:ln>
          </p:spPr>
        </p:sp>
        <p:sp>
          <p:nvSpPr>
            <p:cNvPr id="93" name="TextBox 93"/>
            <p:cNvSpPr txBox="1"/>
            <p:nvPr/>
          </p:nvSpPr>
          <p:spPr>
            <a:xfrm>
              <a:off x="3738562" y="3405188"/>
              <a:ext cx="676275"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花朝节借眼影绘</a:t>
              </a:r>
              <a:br/>
              <a:r>
                <a:rPr lang="zh-CN" sz="750" dirty="0">
                  <a:solidFill>
                    <a:srgbClr val="88706B"/>
                  </a:solidFill>
                  <a:latin typeface="+mn-lt"/>
                  <a:ea typeface="+mn-ea"/>
                  <a:cs typeface="+mn-cs"/>
                </a:rPr>
                <a:t>春景，创作花妆</a:t>
              </a:r>
              <a:br/>
              <a:r>
                <a:rPr lang="zh-CN" sz="750" dirty="0">
                  <a:solidFill>
                    <a:srgbClr val="88706B"/>
                  </a:solidFill>
                  <a:latin typeface="+mn-lt"/>
                  <a:ea typeface="+mn-ea"/>
                  <a:cs typeface="+mn-cs"/>
                </a:rPr>
                <a:t>容参与评选，赢</a:t>
              </a:r>
              <a:br/>
              <a:r>
                <a:rPr lang="zh-CN" sz="750" dirty="0">
                  <a:solidFill>
                    <a:srgbClr val="88706B"/>
                  </a:solidFill>
                  <a:latin typeface="+mn-lt"/>
                  <a:ea typeface="+mn-ea"/>
                  <a:cs typeface="+mn-cs"/>
                </a:rPr>
                <a:t>春日美妆礼包。</a:t>
              </a:r>
            </a:p>
          </p:txBody>
        </p:sp>
        <p:sp>
          <p:nvSpPr>
            <p:cNvPr id="94" name="Rectangle 94"/>
            <p:cNvSpPr/>
            <p:nvPr/>
          </p:nvSpPr>
          <p:spPr>
            <a:xfrm>
              <a:off x="4600575" y="3276600"/>
              <a:ext cx="809625" cy="2171700"/>
            </a:xfrm>
            <a:prstGeom prst="roundRect">
              <a:avLst>
                <a:gd name="adj" fmla="val 7059"/>
              </a:avLst>
            </a:prstGeom>
            <a:solidFill>
              <a:srgbClr val="FFFFFF"/>
            </a:solidFill>
            <a:ln>
              <a:noFill/>
            </a:ln>
          </p:spPr>
        </p:sp>
        <p:sp>
          <p:nvSpPr>
            <p:cNvPr id="95" name="TextBox 95"/>
            <p:cNvSpPr txBox="1"/>
            <p:nvPr/>
          </p:nvSpPr>
          <p:spPr>
            <a:xfrm>
              <a:off x="4662488" y="3405188"/>
              <a:ext cx="676275"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母亲节选眼影献</a:t>
              </a:r>
              <a:br/>
              <a:r>
                <a:rPr lang="zh-CN" sz="750" dirty="0">
                  <a:solidFill>
                    <a:srgbClr val="88706B"/>
                  </a:solidFill>
                  <a:latin typeface="+mn-lt"/>
                  <a:ea typeface="+mn-ea"/>
                  <a:cs typeface="+mn-cs"/>
                </a:rPr>
                <a:t>母亲，讲述母爱</a:t>
              </a:r>
              <a:br/>
              <a:r>
                <a:rPr lang="zh-CN" sz="750" dirty="0">
                  <a:solidFill>
                    <a:srgbClr val="88706B"/>
                  </a:solidFill>
                  <a:latin typeface="+mn-lt"/>
                  <a:ea typeface="+mn-ea"/>
                  <a:cs typeface="+mn-cs"/>
                </a:rPr>
                <a:t>故事获定制心意</a:t>
              </a:r>
              <a:br/>
              <a:r>
                <a:rPr lang="zh-CN" sz="750" dirty="0">
                  <a:solidFill>
                    <a:srgbClr val="88706B"/>
                  </a:solidFill>
                  <a:latin typeface="+mn-lt"/>
                  <a:ea typeface="+mn-ea"/>
                  <a:cs typeface="+mn-cs"/>
                </a:rPr>
                <a:t>美妆盒。</a:t>
              </a:r>
            </a:p>
          </p:txBody>
        </p:sp>
        <p:sp>
          <p:nvSpPr>
            <p:cNvPr id="96" name="Rectangle 96"/>
            <p:cNvSpPr/>
            <p:nvPr/>
          </p:nvSpPr>
          <p:spPr>
            <a:xfrm>
              <a:off x="5524500" y="3276600"/>
              <a:ext cx="809625" cy="2171700"/>
            </a:xfrm>
            <a:prstGeom prst="roundRect">
              <a:avLst>
                <a:gd name="adj" fmla="val 7059"/>
              </a:avLst>
            </a:prstGeom>
            <a:solidFill>
              <a:srgbClr val="FFFFFF"/>
            </a:solidFill>
            <a:ln>
              <a:noFill/>
            </a:ln>
          </p:spPr>
        </p:sp>
        <p:sp>
          <p:nvSpPr>
            <p:cNvPr id="97" name="TextBox 97"/>
            <p:cNvSpPr txBox="1"/>
            <p:nvPr/>
          </p:nvSpPr>
          <p:spPr>
            <a:xfrm>
              <a:off x="5550694" y="3405188"/>
              <a:ext cx="747712"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618眼影大促狂​​</a:t>
              </a:r>
              <a:br/>
              <a:r>
                <a:rPr lang="zh-CN" sz="750" dirty="0">
                  <a:solidFill>
                    <a:srgbClr val="88706B"/>
                  </a:solidFill>
                  <a:latin typeface="+mn-lt"/>
                  <a:ea typeface="+mn-ea"/>
                  <a:cs typeface="+mn-cs"/>
                </a:rPr>
                <a:t>欢，下单即享折</a:t>
              </a:r>
              <a:br/>
              <a:r>
                <a:rPr lang="zh-CN" sz="750" dirty="0">
                  <a:solidFill>
                    <a:srgbClr val="88706B"/>
                  </a:solidFill>
                  <a:latin typeface="+mn-lt"/>
                  <a:ea typeface="+mn-ea"/>
                  <a:cs typeface="+mn-cs"/>
                </a:rPr>
                <a:t>扣，满额加赠热</a:t>
              </a:r>
              <a:br/>
              <a:r>
                <a:rPr lang="zh-CN" sz="750" dirty="0">
                  <a:solidFill>
                    <a:srgbClr val="88706B"/>
                  </a:solidFill>
                  <a:latin typeface="+mn-lt"/>
                  <a:ea typeface="+mn-ea"/>
                  <a:cs typeface="+mn-cs"/>
                </a:rPr>
                <a:t>门彩妆品。</a:t>
              </a:r>
            </a:p>
          </p:txBody>
        </p:sp>
        <p:sp>
          <p:nvSpPr>
            <p:cNvPr id="98" name="Rectangle 98"/>
            <p:cNvSpPr/>
            <p:nvPr/>
          </p:nvSpPr>
          <p:spPr>
            <a:xfrm>
              <a:off x="6438900" y="3276600"/>
              <a:ext cx="809625" cy="2171700"/>
            </a:xfrm>
            <a:prstGeom prst="roundRect">
              <a:avLst>
                <a:gd name="adj" fmla="val 7059"/>
              </a:avLst>
            </a:prstGeom>
            <a:solidFill>
              <a:srgbClr val="FFFFFF"/>
            </a:solidFill>
            <a:ln>
              <a:noFill/>
            </a:ln>
          </p:spPr>
        </p:sp>
        <p:sp>
          <p:nvSpPr>
            <p:cNvPr id="99" name="TextBox 99"/>
            <p:cNvSpPr txBox="1"/>
            <p:nvPr/>
          </p:nvSpPr>
          <p:spPr>
            <a:xfrm>
              <a:off x="6453188" y="3405188"/>
              <a:ext cx="771525"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暑期睛彩眼影展</a:t>
              </a:r>
              <a:br/>
              <a:r>
                <a:rPr lang="zh-CN" sz="750" dirty="0">
                  <a:solidFill>
                    <a:srgbClr val="88706B"/>
                  </a:solidFill>
                  <a:latin typeface="+mn-lt"/>
                  <a:ea typeface="+mn-ea"/>
                  <a:cs typeface="+mn-cs"/>
                </a:rPr>
                <a:t>个性，发布旅行</a:t>
              </a:r>
              <a:br/>
              <a:r>
                <a:rPr lang="zh-CN" sz="750" dirty="0">
                  <a:solidFill>
                    <a:srgbClr val="88706B"/>
                  </a:solidFill>
                  <a:latin typeface="+mn-lt"/>
                  <a:ea typeface="+mn-ea"/>
                  <a:cs typeface="+mn-cs"/>
                </a:rPr>
                <a:t>眼影创意话题，</a:t>
              </a:r>
              <a:br/>
              <a:r>
                <a:rPr lang="zh-CN" sz="750" dirty="0">
                  <a:solidFill>
                    <a:srgbClr val="88706B"/>
                  </a:solidFill>
                  <a:latin typeface="+mn-lt"/>
                  <a:ea typeface="+mn-ea"/>
                  <a:cs typeface="+mn-cs"/>
                </a:rPr>
                <a:t>赢旅游美妆基金。</a:t>
              </a:r>
            </a:p>
          </p:txBody>
        </p:sp>
        <p:sp>
          <p:nvSpPr>
            <p:cNvPr id="100" name="Rectangle 100"/>
            <p:cNvSpPr/>
            <p:nvPr/>
          </p:nvSpPr>
          <p:spPr>
            <a:xfrm>
              <a:off x="7362825" y="3276600"/>
              <a:ext cx="809625" cy="2171700"/>
            </a:xfrm>
            <a:prstGeom prst="roundRect">
              <a:avLst>
                <a:gd name="adj" fmla="val 7059"/>
              </a:avLst>
            </a:prstGeom>
            <a:solidFill>
              <a:srgbClr val="FFFFFF"/>
            </a:solidFill>
            <a:ln>
              <a:noFill/>
            </a:ln>
          </p:spPr>
        </p:sp>
        <p:sp>
          <p:nvSpPr>
            <p:cNvPr id="101" name="TextBox 101"/>
            <p:cNvSpPr txBox="1"/>
            <p:nvPr/>
          </p:nvSpPr>
          <p:spPr>
            <a:xfrm>
              <a:off x="7377112" y="3405188"/>
              <a:ext cx="771525"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七夕眼影见诚意，</a:t>
              </a:r>
              <a:br/>
              <a:r>
                <a:rPr lang="zh-CN" sz="750" dirty="0">
                  <a:solidFill>
                    <a:srgbClr val="88706B"/>
                  </a:solidFill>
                  <a:latin typeface="+mn-lt"/>
                  <a:ea typeface="+mn-ea"/>
                  <a:cs typeface="+mn-cs"/>
                </a:rPr>
                <a:t>参与情侣互动游</a:t>
              </a:r>
              <a:br/>
              <a:r>
                <a:rPr lang="zh-CN" sz="750" dirty="0">
                  <a:solidFill>
                    <a:srgbClr val="88706B"/>
                  </a:solidFill>
                  <a:latin typeface="+mn-lt"/>
                  <a:ea typeface="+mn-ea"/>
                  <a:cs typeface="+mn-cs"/>
                </a:rPr>
                <a:t>戏赢七夕美妆大</a:t>
              </a:r>
              <a:br/>
              <a:r>
                <a:rPr lang="zh-CN" sz="750" dirty="0">
                  <a:solidFill>
                    <a:srgbClr val="88706B"/>
                  </a:solidFill>
                  <a:latin typeface="+mn-lt"/>
                  <a:ea typeface="+mn-ea"/>
                  <a:cs typeface="+mn-cs"/>
                </a:rPr>
                <a:t>奖。</a:t>
              </a:r>
            </a:p>
          </p:txBody>
        </p:sp>
        <p:sp>
          <p:nvSpPr>
            <p:cNvPr id="102" name="Rectangle 102"/>
            <p:cNvSpPr/>
            <p:nvPr/>
          </p:nvSpPr>
          <p:spPr>
            <a:xfrm>
              <a:off x="8286750" y="3276600"/>
              <a:ext cx="809625" cy="2171700"/>
            </a:xfrm>
            <a:prstGeom prst="roundRect">
              <a:avLst>
                <a:gd name="adj" fmla="val 7059"/>
              </a:avLst>
            </a:prstGeom>
            <a:solidFill>
              <a:srgbClr val="FFFFFF"/>
            </a:solidFill>
            <a:ln>
              <a:noFill/>
            </a:ln>
          </p:spPr>
        </p:sp>
        <p:sp>
          <p:nvSpPr>
            <p:cNvPr id="103" name="TextBox 103"/>
            <p:cNvSpPr txBox="1"/>
            <p:nvPr/>
          </p:nvSpPr>
          <p:spPr>
            <a:xfrm>
              <a:off x="8348662" y="3405188"/>
              <a:ext cx="676275"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开学季用眼影添</a:t>
              </a:r>
              <a:br/>
              <a:r>
                <a:rPr lang="zh-CN" sz="750" dirty="0">
                  <a:solidFill>
                    <a:srgbClr val="88706B"/>
                  </a:solidFill>
                  <a:latin typeface="+mn-lt"/>
                  <a:ea typeface="+mn-ea"/>
                  <a:cs typeface="+mn-cs"/>
                </a:rPr>
                <a:t>朝气，学生证购</a:t>
              </a:r>
              <a:br/>
              <a:r>
                <a:rPr lang="zh-CN" sz="750" dirty="0">
                  <a:solidFill>
                    <a:srgbClr val="88706B"/>
                  </a:solidFill>
                  <a:latin typeface="+mn-lt"/>
                  <a:ea typeface="+mn-ea"/>
                  <a:cs typeface="+mn-cs"/>
                </a:rPr>
                <a:t>买享折扣并获学</a:t>
              </a:r>
              <a:br/>
              <a:r>
                <a:rPr lang="zh-CN" sz="750" dirty="0">
                  <a:solidFill>
                    <a:srgbClr val="88706B"/>
                  </a:solidFill>
                  <a:latin typeface="+mn-lt"/>
                  <a:ea typeface="+mn-ea"/>
                  <a:cs typeface="+mn-cs"/>
                </a:rPr>
                <a:t>习用品美妆包。</a:t>
              </a:r>
            </a:p>
          </p:txBody>
        </p:sp>
        <p:sp>
          <p:nvSpPr>
            <p:cNvPr id="104" name="Rectangle 104"/>
            <p:cNvSpPr/>
            <p:nvPr/>
          </p:nvSpPr>
          <p:spPr>
            <a:xfrm>
              <a:off x="9201150" y="3276600"/>
              <a:ext cx="809625" cy="2171700"/>
            </a:xfrm>
            <a:prstGeom prst="roundRect">
              <a:avLst>
                <a:gd name="adj" fmla="val 7059"/>
              </a:avLst>
            </a:prstGeom>
            <a:solidFill>
              <a:srgbClr val="FFFFFF"/>
            </a:solidFill>
            <a:ln>
              <a:noFill/>
            </a:ln>
          </p:spPr>
        </p:sp>
        <p:sp>
          <p:nvSpPr>
            <p:cNvPr id="105" name="TextBox 105"/>
            <p:cNvSpPr txBox="1"/>
            <p:nvPr/>
          </p:nvSpPr>
          <p:spPr>
            <a:xfrm>
              <a:off x="9263062" y="3405188"/>
              <a:ext cx="676275"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重阳节以眼影表</a:t>
              </a:r>
              <a:br/>
              <a:r>
                <a:rPr lang="zh-CN" sz="750" dirty="0">
                  <a:solidFill>
                    <a:srgbClr val="88706B"/>
                  </a:solidFill>
                  <a:latin typeface="+mn-lt"/>
                  <a:ea typeface="+mn-ea"/>
                  <a:cs typeface="+mn-cs"/>
                </a:rPr>
                <a:t>孝心，为长辈化</a:t>
              </a:r>
              <a:br/>
              <a:r>
                <a:rPr lang="zh-CN" sz="750" dirty="0">
                  <a:solidFill>
                    <a:srgbClr val="88706B"/>
                  </a:solidFill>
                  <a:latin typeface="+mn-lt"/>
                  <a:ea typeface="+mn-ea"/>
                  <a:cs typeface="+mn-cs"/>
                </a:rPr>
                <a:t>妆打卡赢长辈关</a:t>
              </a:r>
              <a:br/>
              <a:r>
                <a:rPr lang="zh-CN" sz="750" dirty="0">
                  <a:solidFill>
                    <a:srgbClr val="88706B"/>
                  </a:solidFill>
                  <a:latin typeface="+mn-lt"/>
                  <a:ea typeface="+mn-ea"/>
                  <a:cs typeface="+mn-cs"/>
                </a:rPr>
                <a:t>怀美妆礼盒。</a:t>
              </a:r>
            </a:p>
          </p:txBody>
        </p:sp>
        <p:sp>
          <p:nvSpPr>
            <p:cNvPr id="106" name="Rectangle 106"/>
            <p:cNvSpPr/>
            <p:nvPr/>
          </p:nvSpPr>
          <p:spPr>
            <a:xfrm>
              <a:off x="10125075" y="3276600"/>
              <a:ext cx="809625" cy="2171700"/>
            </a:xfrm>
            <a:prstGeom prst="roundRect">
              <a:avLst>
                <a:gd name="adj" fmla="val 7059"/>
              </a:avLst>
            </a:prstGeom>
            <a:solidFill>
              <a:srgbClr val="FFFFFF"/>
            </a:solidFill>
            <a:ln>
              <a:noFill/>
            </a:ln>
          </p:spPr>
        </p:sp>
        <p:sp>
          <p:nvSpPr>
            <p:cNvPr id="107" name="TextBox 107"/>
            <p:cNvSpPr txBox="1"/>
            <p:nvPr/>
          </p:nvSpPr>
          <p:spPr>
            <a:xfrm>
              <a:off x="10186988" y="3405188"/>
              <a:ext cx="676275" cy="4524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双十一，眼影低</a:t>
              </a:r>
              <a:br/>
              <a:r>
                <a:rPr lang="zh-CN" sz="750" dirty="0">
                  <a:solidFill>
                    <a:srgbClr val="88706B"/>
                  </a:solidFill>
                  <a:latin typeface="+mn-lt"/>
                  <a:ea typeface="+mn-ea"/>
                  <a:cs typeface="+mn-cs"/>
                </a:rPr>
                <a:t>价疯抢，多重豪</a:t>
              </a:r>
              <a:br/>
              <a:r>
                <a:rPr lang="zh-CN" sz="750" dirty="0">
                  <a:solidFill>
                    <a:srgbClr val="88706B"/>
                  </a:solidFill>
                  <a:latin typeface="+mn-lt"/>
                  <a:ea typeface="+mn-ea"/>
                  <a:cs typeface="+mn-cs"/>
                </a:rPr>
                <a:t>礼直播购不停。</a:t>
              </a:r>
            </a:p>
          </p:txBody>
        </p:sp>
        <p:sp>
          <p:nvSpPr>
            <p:cNvPr id="108" name="Rectangle 108"/>
            <p:cNvSpPr/>
            <p:nvPr/>
          </p:nvSpPr>
          <p:spPr>
            <a:xfrm>
              <a:off x="11049000" y="3276600"/>
              <a:ext cx="809625" cy="2171700"/>
            </a:xfrm>
            <a:prstGeom prst="roundRect">
              <a:avLst>
                <a:gd name="adj" fmla="val 7059"/>
              </a:avLst>
            </a:prstGeom>
            <a:solidFill>
              <a:srgbClr val="FFFFFF"/>
            </a:solidFill>
            <a:ln>
              <a:noFill/>
            </a:ln>
          </p:spPr>
        </p:sp>
        <p:sp>
          <p:nvSpPr>
            <p:cNvPr id="109" name="TextBox 109"/>
            <p:cNvSpPr txBox="1"/>
            <p:nvPr/>
          </p:nvSpPr>
          <p:spPr>
            <a:xfrm>
              <a:off x="11110912" y="3405188"/>
              <a:ext cx="676275" cy="604838"/>
            </a:xfrm>
            <a:prstGeom prst="rect">
              <a:avLst/>
            </a:prstGeom>
            <a:noFill/>
            <a:ln>
              <a:noFill/>
            </a:ln>
          </p:spPr>
          <p:txBody>
            <a:bodyPr wrap="none" lIns="0" tIns="0" rIns="0" bIns="0" anchor="t" anchorCtr="0">
              <a:spAutoFit/>
            </a:bodyPr>
            <a:lstStyle/>
            <a:p>
              <a:pPr algn="ctr">
                <a:lnSpc>
                  <a:spcPts val="1200"/>
                </a:lnSpc>
              </a:pPr>
              <a:r>
                <a:rPr lang="zh-CN" sz="750" dirty="0">
                  <a:solidFill>
                    <a:srgbClr val="88706B"/>
                  </a:solidFill>
                  <a:latin typeface="+mn-lt"/>
                  <a:ea typeface="+mn-ea"/>
                  <a:cs typeface="+mn-cs"/>
                </a:rPr>
                <a:t>双旦期间，眼影</a:t>
              </a:r>
              <a:br/>
              <a:r>
                <a:rPr lang="zh-CN" sz="750" dirty="0">
                  <a:solidFill>
                    <a:srgbClr val="88706B"/>
                  </a:solidFill>
                  <a:latin typeface="+mn-lt"/>
                  <a:ea typeface="+mn-ea"/>
                  <a:cs typeface="+mn-cs"/>
                </a:rPr>
                <a:t>贺岁年限定发售</a:t>
              </a:r>
              <a:br/>
              <a:r>
                <a:rPr lang="zh-CN" sz="750" dirty="0">
                  <a:solidFill>
                    <a:srgbClr val="88706B"/>
                  </a:solidFill>
                  <a:latin typeface="+mn-lt"/>
                  <a:ea typeface="+mn-ea"/>
                  <a:cs typeface="+mn-cs"/>
                </a:rPr>
                <a:t>，跨年抽奖，赢</a:t>
              </a:r>
              <a:br/>
              <a:r>
                <a:rPr lang="zh-CN" sz="750" dirty="0">
                  <a:solidFill>
                    <a:srgbClr val="88706B"/>
                  </a:solidFill>
                  <a:latin typeface="+mn-lt"/>
                  <a:ea typeface="+mn-ea"/>
                  <a:cs typeface="+mn-cs"/>
                </a:rPr>
                <a:t>全年福袋。</a:t>
              </a:r>
            </a:p>
          </p:txBody>
        </p:sp>
      </p:grpSp>
      <p:grpSp>
        <p:nvGrpSpPr>
          <p:cNvPr id="130" name="platform-row"/>
          <p:cNvGrpSpPr/>
          <p:nvPr/>
        </p:nvGrpSpPr>
        <p:grpSpPr>
          <a:xfrm>
            <a:off x="209550" y="5524500"/>
            <a:ext cx="11696700" cy="571500"/>
            <a:chOff x="209550" y="5524500"/>
            <a:chExt cx="11696700" cy="571500"/>
          </a:xfrm>
        </p:grpSpPr>
        <p:sp>
          <p:nvSpPr>
            <p:cNvPr id="111" name="Rectangle 111"/>
            <p:cNvSpPr/>
            <p:nvPr/>
          </p:nvSpPr>
          <p:spPr>
            <a:xfrm>
              <a:off x="209550" y="5543550"/>
              <a:ext cx="590550" cy="533400"/>
            </a:xfrm>
            <a:prstGeom prst="roundRect">
              <a:avLst>
                <a:gd name="adj" fmla="val 10714"/>
              </a:avLst>
            </a:prstGeom>
            <a:solidFill>
              <a:srgbClr val="D87D6A"/>
            </a:solidFill>
            <a:ln>
              <a:noFill/>
            </a:ln>
          </p:spPr>
        </p:sp>
        <p:sp>
          <p:nvSpPr>
            <p:cNvPr id="112" name="TextBox 112"/>
            <p:cNvSpPr txBox="1"/>
            <p:nvPr/>
          </p:nvSpPr>
          <p:spPr>
            <a:xfrm>
              <a:off x="380682" y="5651897"/>
              <a:ext cx="248285" cy="354806"/>
            </a:xfrm>
            <a:prstGeom prst="rect">
              <a:avLst/>
            </a:prstGeom>
            <a:noFill/>
            <a:ln>
              <a:noFill/>
            </a:ln>
          </p:spPr>
          <p:txBody>
            <a:bodyPr wrap="none" lIns="0" tIns="0" rIns="0" bIns="0" anchor="t" anchorCtr="0">
              <a:spAutoFit/>
            </a:bodyPr>
            <a:lstStyle/>
            <a:p>
              <a:pPr algn="ctr">
                <a:lnSpc>
                  <a:spcPts val="1350"/>
                </a:lnSpc>
              </a:pPr>
              <a:r>
                <a:rPr lang="zh-CN" sz="940" b="1" dirty="0">
                  <a:solidFill>
                    <a:srgbClr val="FFFFFF"/>
                  </a:solidFill>
                  <a:latin typeface="+mn-lt"/>
                  <a:ea typeface="+mn-ea"/>
                  <a:cs typeface="+mn-cs"/>
                </a:rPr>
                <a:t>传播</a:t>
              </a:r>
              <a:br/>
              <a:r>
                <a:rPr lang="zh-CN" sz="940" b="1" dirty="0">
                  <a:solidFill>
                    <a:srgbClr val="FFFFFF"/>
                  </a:solidFill>
                  <a:latin typeface="+mn-lt"/>
                  <a:ea typeface="+mn-ea"/>
                  <a:cs typeface="+mn-cs"/>
                </a:rPr>
                <a:t>平台</a:t>
              </a:r>
            </a:p>
          </p:txBody>
        </p:sp>
        <p:sp>
          <p:nvSpPr>
            <p:cNvPr id="113" name="Rectangle 113"/>
            <p:cNvSpPr/>
            <p:nvPr/>
          </p:nvSpPr>
          <p:spPr>
            <a:xfrm>
              <a:off x="876300" y="5524500"/>
              <a:ext cx="11029950" cy="571500"/>
            </a:xfrm>
            <a:prstGeom prst="roundRect">
              <a:avLst>
                <a:gd name="adj" fmla="val 13333"/>
              </a:avLst>
            </a:prstGeom>
            <a:noFill/>
            <a:ln w="11430">
              <a:solidFill>
                <a:srgbClr val="ECC1B8"/>
              </a:solidFill>
              <a:custDash>
                <a:ds d="416667" sp="333333"/>
              </a:custDash>
            </a:ln>
          </p:spPr>
        </p:sp>
        <p:sp>
          <p:nvSpPr>
            <p:cNvPr id="114" name="Rectangle 114"/>
            <p:cNvSpPr/>
            <p:nvPr/>
          </p:nvSpPr>
          <p:spPr>
            <a:xfrm>
              <a:off x="5676900" y="5638800"/>
              <a:ext cx="342900" cy="342900"/>
            </a:xfrm>
            <a:prstGeom prst="roundRect">
              <a:avLst>
                <a:gd name="adj" fmla="val 22222"/>
              </a:avLst>
            </a:prstGeom>
            <a:solidFill>
              <a:srgbClr val="2A1916"/>
            </a:solidFill>
            <a:ln>
              <a:noFill/>
            </a:ln>
          </p:spPr>
        </p:sp>
        <p:sp>
          <p:nvSpPr>
            <p:cNvPr id="115" name="TextBox 115"/>
            <p:cNvSpPr txBox="1"/>
            <p:nvPr/>
          </p:nvSpPr>
          <p:spPr>
            <a:xfrm>
              <a:off x="5761482" y="5747385"/>
              <a:ext cx="173736"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a:t>
              </a:r>
            </a:p>
          </p:txBody>
        </p:sp>
        <p:sp>
          <p:nvSpPr>
            <p:cNvPr id="116" name="Rectangle 116"/>
            <p:cNvSpPr/>
            <p:nvPr/>
          </p:nvSpPr>
          <p:spPr>
            <a:xfrm>
              <a:off x="6191250" y="5638800"/>
              <a:ext cx="342900" cy="342900"/>
            </a:xfrm>
            <a:prstGeom prst="roundRect">
              <a:avLst>
                <a:gd name="adj" fmla="val 22222"/>
              </a:avLst>
            </a:prstGeom>
            <a:solidFill>
              <a:srgbClr val="FF2500"/>
            </a:solidFill>
            <a:ln>
              <a:noFill/>
            </a:ln>
          </p:spPr>
        </p:sp>
        <p:sp>
          <p:nvSpPr>
            <p:cNvPr id="117" name="TextBox 117"/>
            <p:cNvSpPr txBox="1"/>
            <p:nvPr/>
          </p:nvSpPr>
          <p:spPr>
            <a:xfrm>
              <a:off x="6227990" y="5763578"/>
              <a:ext cx="26942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K​​</a:t>
              </a:r>
            </a:p>
          </p:txBody>
        </p:sp>
        <p:sp>
          <p:nvSpPr>
            <p:cNvPr id="118" name="Rectangle 118"/>
            <p:cNvSpPr/>
            <p:nvPr/>
          </p:nvSpPr>
          <p:spPr>
            <a:xfrm>
              <a:off x="6705600" y="5638800"/>
              <a:ext cx="342900" cy="342900"/>
            </a:xfrm>
            <a:prstGeom prst="roundRect">
              <a:avLst>
                <a:gd name="adj" fmla="val 22222"/>
              </a:avLst>
            </a:prstGeom>
            <a:solidFill>
              <a:srgbClr val="E85230"/>
            </a:solidFill>
            <a:ln>
              <a:noFill/>
            </a:ln>
          </p:spPr>
        </p:sp>
        <p:sp>
          <p:nvSpPr>
            <p:cNvPr id="119" name="TextBox 119"/>
            <p:cNvSpPr txBox="1"/>
            <p:nvPr/>
          </p:nvSpPr>
          <p:spPr>
            <a:xfrm>
              <a:off x="6811708" y="5779770"/>
              <a:ext cx="13068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红</a:t>
              </a:r>
            </a:p>
          </p:txBody>
        </p:sp>
        <p:sp>
          <p:nvSpPr>
            <p:cNvPr id="120" name="Rectangle 120"/>
            <p:cNvSpPr/>
            <p:nvPr/>
          </p:nvSpPr>
          <p:spPr>
            <a:xfrm>
              <a:off x="7219950" y="5638800"/>
              <a:ext cx="342900" cy="342900"/>
            </a:xfrm>
            <a:prstGeom prst="roundRect">
              <a:avLst>
                <a:gd name="adj" fmla="val 22222"/>
              </a:avLst>
            </a:prstGeom>
            <a:solidFill>
              <a:srgbClr val="FF4221"/>
            </a:solidFill>
            <a:ln>
              <a:noFill/>
            </a:ln>
          </p:spPr>
        </p:sp>
        <p:sp>
          <p:nvSpPr>
            <p:cNvPr id="121" name="Ellipse 121"/>
            <p:cNvSpPr/>
            <p:nvPr/>
          </p:nvSpPr>
          <p:spPr>
            <a:xfrm>
              <a:off x="7291388" y="5710238"/>
              <a:ext cx="47625" cy="47625"/>
            </a:xfrm>
            <a:prstGeom prst="ellipse">
              <a:avLst/>
            </a:prstGeom>
            <a:solidFill>
              <a:srgbClr val="FFFFFF"/>
            </a:solidFill>
            <a:ln>
              <a:noFill/>
            </a:ln>
          </p:spPr>
        </p:sp>
        <p:sp>
          <p:nvSpPr>
            <p:cNvPr id="122" name="Ellipse 122"/>
            <p:cNvSpPr/>
            <p:nvPr/>
          </p:nvSpPr>
          <p:spPr>
            <a:xfrm>
              <a:off x="7386638" y="5710238"/>
              <a:ext cx="47625" cy="47625"/>
            </a:xfrm>
            <a:prstGeom prst="ellipse">
              <a:avLst/>
            </a:prstGeom>
            <a:solidFill>
              <a:srgbClr val="FFFFFF"/>
            </a:solidFill>
            <a:ln>
              <a:noFill/>
            </a:ln>
          </p:spPr>
        </p:sp>
        <p:sp>
          <p:nvSpPr>
            <p:cNvPr id="123" name="Ellipse 123"/>
            <p:cNvSpPr/>
            <p:nvPr/>
          </p:nvSpPr>
          <p:spPr>
            <a:xfrm>
              <a:off x="7481888" y="5710238"/>
              <a:ext cx="47625" cy="47625"/>
            </a:xfrm>
            <a:prstGeom prst="ellipse">
              <a:avLst/>
            </a:prstGeom>
            <a:solidFill>
              <a:srgbClr val="FFFFFF"/>
            </a:solidFill>
            <a:ln>
              <a:noFill/>
            </a:ln>
          </p:spPr>
        </p:sp>
        <p:sp>
          <p:nvSpPr>
            <p:cNvPr id="124" name="Ellipse 124"/>
            <p:cNvSpPr/>
            <p:nvPr/>
          </p:nvSpPr>
          <p:spPr>
            <a:xfrm>
              <a:off x="7291388" y="5786438"/>
              <a:ext cx="47625" cy="47625"/>
            </a:xfrm>
            <a:prstGeom prst="ellipse">
              <a:avLst/>
            </a:prstGeom>
            <a:solidFill>
              <a:srgbClr val="FFFFFF"/>
            </a:solidFill>
            <a:ln>
              <a:noFill/>
            </a:ln>
          </p:spPr>
        </p:sp>
        <p:sp>
          <p:nvSpPr>
            <p:cNvPr id="125" name="Ellipse 125"/>
            <p:cNvSpPr/>
            <p:nvPr/>
          </p:nvSpPr>
          <p:spPr>
            <a:xfrm>
              <a:off x="7386638" y="5786438"/>
              <a:ext cx="47625" cy="47625"/>
            </a:xfrm>
            <a:prstGeom prst="ellipse">
              <a:avLst/>
            </a:prstGeom>
            <a:solidFill>
              <a:srgbClr val="FFFFFF"/>
            </a:solidFill>
            <a:ln>
              <a:noFill/>
            </a:ln>
          </p:spPr>
        </p:sp>
        <p:sp>
          <p:nvSpPr>
            <p:cNvPr id="126" name="Ellipse 126"/>
            <p:cNvSpPr/>
            <p:nvPr/>
          </p:nvSpPr>
          <p:spPr>
            <a:xfrm>
              <a:off x="7481888" y="5786438"/>
              <a:ext cx="47625" cy="47625"/>
            </a:xfrm>
            <a:prstGeom prst="ellipse">
              <a:avLst/>
            </a:prstGeom>
            <a:solidFill>
              <a:srgbClr val="FFFFFF"/>
            </a:solidFill>
            <a:ln>
              <a:noFill/>
            </a:ln>
          </p:spPr>
        </p:sp>
        <p:sp>
          <p:nvSpPr>
            <p:cNvPr id="127" name="Ellipse 127"/>
            <p:cNvSpPr/>
            <p:nvPr/>
          </p:nvSpPr>
          <p:spPr>
            <a:xfrm>
              <a:off x="7291388" y="5862638"/>
              <a:ext cx="47625" cy="47625"/>
            </a:xfrm>
            <a:prstGeom prst="ellipse">
              <a:avLst/>
            </a:prstGeom>
            <a:solidFill>
              <a:srgbClr val="FFFFFF"/>
            </a:solidFill>
            <a:ln>
              <a:noFill/>
            </a:ln>
          </p:spPr>
        </p:sp>
        <p:sp>
          <p:nvSpPr>
            <p:cNvPr id="128" name="Ellipse 128"/>
            <p:cNvSpPr/>
            <p:nvPr/>
          </p:nvSpPr>
          <p:spPr>
            <a:xfrm>
              <a:off x="7386638" y="5862638"/>
              <a:ext cx="47625" cy="47625"/>
            </a:xfrm>
            <a:prstGeom prst="ellipse">
              <a:avLst/>
            </a:prstGeom>
            <a:solidFill>
              <a:srgbClr val="FFFFFF"/>
            </a:solidFill>
            <a:ln>
              <a:noFill/>
            </a:ln>
          </p:spPr>
        </p:sp>
        <p:sp>
          <p:nvSpPr>
            <p:cNvPr id="129" name="Ellipse 129"/>
            <p:cNvSpPr/>
            <p:nvPr/>
          </p:nvSpPr>
          <p:spPr>
            <a:xfrm>
              <a:off x="7481888" y="5862638"/>
              <a:ext cx="47625" cy="47625"/>
            </a:xfrm>
            <a:prstGeom prst="ellipse">
              <a:avLst/>
            </a:prstGeom>
            <a:solidFill>
              <a:srgbClr val="FFFFFF"/>
            </a:solidFill>
            <a:ln>
              <a:noFill/>
            </a:ln>
          </p:spPr>
        </p:sp>
      </p:gr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75​​</a:t>
              </a:r>
            </a:p>
          </p:txBody>
        </p:sp>
        <p:sp>
          <p:nvSpPr>
            <p:cNvPr id="4" name="TextBox 4"/>
            <p:cNvSpPr txBox="1"/>
            <p:nvPr/>
          </p:nvSpPr>
          <p:spPr>
            <a:xfrm>
              <a:off x="942594" y="151448"/>
              <a:ext cx="1289464"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项目规划​</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sp>
        <p:nvSpPr>
          <p:cNvPr id="7" name="flow-1to2"/>
          <p:cNvSpPr/>
          <p:nvPr/>
        </p:nvSpPr>
        <p:spPr>
          <a:xfrm>
            <a:off x="2952750" y="2305050"/>
            <a:ext cx="1238250" cy="1504950"/>
          </a:xfrm>
          <a:custGeom>
            <a:avLst/>
            <a:gdLst/>
            <a:ahLst/>
            <a:cxnLst/>
            <a:rect l="l" t="t" r="r" b="b"/>
            <a:pathLst>
              <a:path w="1238250" h="1504950">
                <a:moveTo>
                  <a:pt x="0" y="1504950"/>
                </a:moveTo>
                <a:lnTo>
                  <a:pt x="381000" y="1504950"/>
                </a:lnTo>
                <a:cubicBezTo>
                  <a:pt x="457200" y="1504950"/>
                  <a:pt x="495300" y="1466850"/>
                  <a:pt x="495300" y="1390650"/>
                </a:cubicBezTo>
                <a:lnTo>
                  <a:pt x="495300" y="76200"/>
                </a:lnTo>
                <a:cubicBezTo>
                  <a:pt x="495300" y="25400"/>
                  <a:pt x="533400" y="0"/>
                  <a:pt x="609600" y="0"/>
                </a:cubicBezTo>
                <a:lnTo>
                  <a:pt x="1238250" y="0"/>
                </a:lnTo>
              </a:path>
            </a:pathLst>
          </a:custGeom>
          <a:noFill/>
          <a:ln w="14288">
            <a:solidFill>
              <a:srgbClr val="E08C7B"/>
            </a:solidFill>
            <a:tailEnd type="triangle" w="lg" len="lg"/>
          </a:ln>
        </p:spPr>
      </p:sp>
      <p:sp>
        <p:nvSpPr>
          <p:cNvPr id="8" name="flow-2to3"/>
          <p:cNvSpPr/>
          <p:nvPr/>
        </p:nvSpPr>
        <p:spPr>
          <a:xfrm>
            <a:off x="6572250" y="2305050"/>
            <a:ext cx="209550" cy="9525"/>
          </a:xfrm>
          <a:custGeom>
            <a:avLst/>
            <a:gdLst/>
            <a:ahLst/>
            <a:cxnLst/>
            <a:rect l="l" t="t" r="r" b="b"/>
            <a:pathLst>
              <a:path w="209550" h="9525">
                <a:moveTo>
                  <a:pt x="0" y="0"/>
                </a:moveTo>
                <a:lnTo>
                  <a:pt x="209550" y="0"/>
                </a:lnTo>
              </a:path>
            </a:pathLst>
          </a:custGeom>
          <a:noFill/>
          <a:ln w="14288">
            <a:solidFill>
              <a:srgbClr val="E08C7B"/>
            </a:solidFill>
            <a:tailEnd type="triangle" w="lg" len="lg"/>
          </a:ln>
        </p:spPr>
      </p:sp>
      <p:sp>
        <p:nvSpPr>
          <p:cNvPr id="9" name="flow-3to4"/>
          <p:cNvSpPr/>
          <p:nvPr/>
        </p:nvSpPr>
        <p:spPr>
          <a:xfrm>
            <a:off x="9277350" y="2381250"/>
            <a:ext cx="647700" cy="1171575"/>
          </a:xfrm>
          <a:custGeom>
            <a:avLst/>
            <a:gdLst/>
            <a:ahLst/>
            <a:cxnLst/>
            <a:rect l="l" t="t" r="r" b="b"/>
            <a:pathLst>
              <a:path w="647700" h="1171575">
                <a:moveTo>
                  <a:pt x="0" y="1171575"/>
                </a:moveTo>
                <a:lnTo>
                  <a:pt x="342900" y="1171575"/>
                </a:lnTo>
                <a:cubicBezTo>
                  <a:pt x="419100" y="1171575"/>
                  <a:pt x="457200" y="1133475"/>
                  <a:pt x="457200" y="1057275"/>
                </a:cubicBezTo>
                <a:lnTo>
                  <a:pt x="457200" y="114300"/>
                </a:lnTo>
                <a:cubicBezTo>
                  <a:pt x="457200" y="38100"/>
                  <a:pt x="495300" y="0"/>
                  <a:pt x="571500" y="0"/>
                </a:cubicBezTo>
                <a:lnTo>
                  <a:pt x="647700" y="0"/>
                </a:lnTo>
              </a:path>
            </a:pathLst>
          </a:custGeom>
          <a:noFill/>
          <a:ln w="14288">
            <a:solidFill>
              <a:srgbClr val="E08C7B"/>
            </a:solidFill>
            <a:tailEnd type="triangle" w="lg" len="lg"/>
          </a:ln>
        </p:spPr>
      </p:sp>
      <p:grpSp>
        <p:nvGrpSpPr>
          <p:cNvPr id="14" name="row-labels"/>
          <p:cNvGrpSpPr/>
          <p:nvPr/>
        </p:nvGrpSpPr>
        <p:grpSpPr>
          <a:xfrm>
            <a:off x="223266" y="1220152"/>
            <a:ext cx="576072" cy="4263009"/>
            <a:chOff x="223266" y="1220152"/>
            <a:chExt cx="576072" cy="4263009"/>
          </a:xfrm>
        </p:grpSpPr>
        <p:sp>
          <p:nvSpPr>
            <p:cNvPr id="10" name="TextBox 10"/>
            <p:cNvSpPr txBox="1"/>
            <p:nvPr/>
          </p:nvSpPr>
          <p:spPr>
            <a:xfrm>
              <a:off x="223266" y="1220152"/>
              <a:ext cx="576072"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项目阶段</a:t>
              </a:r>
            </a:p>
          </p:txBody>
        </p:sp>
        <p:sp>
          <p:nvSpPr>
            <p:cNvPr id="11" name="TextBox 11"/>
            <p:cNvSpPr txBox="1"/>
            <p:nvPr/>
          </p:nvSpPr>
          <p:spPr>
            <a:xfrm>
              <a:off x="223266" y="2887028"/>
              <a:ext cx="576072"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关键任务</a:t>
              </a:r>
            </a:p>
          </p:txBody>
        </p:sp>
        <p:sp>
          <p:nvSpPr>
            <p:cNvPr id="12" name="TextBox 12"/>
            <p:cNvSpPr txBox="1"/>
            <p:nvPr/>
          </p:nvSpPr>
          <p:spPr>
            <a:xfrm>
              <a:off x="223266" y="4496752"/>
              <a:ext cx="434721"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交付物</a:t>
              </a:r>
            </a:p>
          </p:txBody>
        </p:sp>
        <p:sp>
          <p:nvSpPr>
            <p:cNvPr id="13" name="TextBox 13"/>
            <p:cNvSpPr txBox="1"/>
            <p:nvPr/>
          </p:nvSpPr>
          <p:spPr>
            <a:xfrm>
              <a:off x="223266" y="5277802"/>
              <a:ext cx="576072"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预计周期</a:t>
              </a:r>
            </a:p>
          </p:txBody>
        </p:sp>
      </p:grpSp>
      <p:grpSp>
        <p:nvGrpSpPr>
          <p:cNvPr id="31" name="stage-band"/>
          <p:cNvGrpSpPr/>
          <p:nvPr/>
        </p:nvGrpSpPr>
        <p:grpSpPr>
          <a:xfrm>
            <a:off x="1466850" y="1066800"/>
            <a:ext cx="10325100" cy="590264"/>
            <a:chOff x="1466850" y="1066800"/>
            <a:chExt cx="10325100" cy="590264"/>
          </a:xfrm>
        </p:grpSpPr>
        <p:sp>
          <p:nvSpPr>
            <p:cNvPr id="15" name="Freeform 15"/>
            <p:cNvSpPr/>
            <p:nvPr/>
          </p:nvSpPr>
          <p:spPr>
            <a:xfrm>
              <a:off x="1466850" y="1066800"/>
              <a:ext cx="2571750" cy="438150"/>
            </a:xfrm>
            <a:prstGeom prst="chevron">
              <a:avLst/>
            </a:prstGeom>
            <a:solidFill>
              <a:srgbClr val="E8705C"/>
            </a:solidFill>
            <a:ln>
              <a:noFill/>
            </a:ln>
          </p:spPr>
        </p:sp>
        <p:sp>
          <p:nvSpPr>
            <p:cNvPr id="16" name="Freeform 16"/>
            <p:cNvSpPr/>
            <p:nvPr/>
          </p:nvSpPr>
          <p:spPr>
            <a:xfrm>
              <a:off x="4067175" y="1066800"/>
              <a:ext cx="2552700" cy="438150"/>
            </a:xfrm>
            <a:prstGeom prst="chevron">
              <a:avLst/>
            </a:prstGeom>
            <a:solidFill>
              <a:srgbClr val="C45F4A"/>
            </a:solidFill>
            <a:ln>
              <a:noFill/>
            </a:ln>
          </p:spPr>
        </p:sp>
        <p:sp>
          <p:nvSpPr>
            <p:cNvPr id="17" name="Freeform 17"/>
            <p:cNvSpPr/>
            <p:nvPr/>
          </p:nvSpPr>
          <p:spPr>
            <a:xfrm>
              <a:off x="6657975" y="1066800"/>
              <a:ext cx="2552700" cy="438150"/>
            </a:xfrm>
            <a:prstGeom prst="chevron">
              <a:avLst/>
            </a:prstGeom>
            <a:solidFill>
              <a:srgbClr val="E8705C"/>
            </a:solidFill>
            <a:ln>
              <a:noFill/>
            </a:ln>
          </p:spPr>
        </p:sp>
        <p:sp>
          <p:nvSpPr>
            <p:cNvPr id="18" name="Freeform 18"/>
            <p:cNvSpPr/>
            <p:nvPr/>
          </p:nvSpPr>
          <p:spPr>
            <a:xfrm>
              <a:off x="9258300" y="1066800"/>
              <a:ext cx="2533650" cy="438150"/>
            </a:xfrm>
            <a:prstGeom prst="chevron">
              <a:avLst/>
            </a:prstGeom>
            <a:solidFill>
              <a:srgbClr val="B8503B"/>
            </a:solidFill>
            <a:ln>
              <a:noFill/>
            </a:ln>
          </p:spPr>
        </p:sp>
        <p:sp>
          <p:nvSpPr>
            <p:cNvPr id="19" name="TextBox 19"/>
            <p:cNvSpPr txBox="1"/>
            <p:nvPr/>
          </p:nvSpPr>
          <p:spPr>
            <a:xfrm>
              <a:off x="2480691" y="1213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项目启动</a:t>
              </a:r>
            </a:p>
          </p:txBody>
        </p:sp>
        <p:sp>
          <p:nvSpPr>
            <p:cNvPr id="20" name="TextBox 20"/>
            <p:cNvSpPr txBox="1"/>
            <p:nvPr/>
          </p:nvSpPr>
          <p:spPr>
            <a:xfrm>
              <a:off x="5100066" y="1213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开发交付</a:t>
              </a:r>
            </a:p>
          </p:txBody>
        </p:sp>
        <p:sp>
          <p:nvSpPr>
            <p:cNvPr id="21" name="TextBox 21"/>
            <p:cNvSpPr txBox="1"/>
            <p:nvPr/>
          </p:nvSpPr>
          <p:spPr>
            <a:xfrm>
              <a:off x="7700391" y="1213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部署测试</a:t>
              </a:r>
            </a:p>
          </p:txBody>
        </p:sp>
        <p:sp>
          <p:nvSpPr>
            <p:cNvPr id="22" name="TextBox 22"/>
            <p:cNvSpPr txBox="1"/>
            <p:nvPr/>
          </p:nvSpPr>
          <p:spPr>
            <a:xfrm>
              <a:off x="10291191" y="12134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上线验收</a:t>
              </a:r>
            </a:p>
          </p:txBody>
        </p:sp>
        <p:sp>
          <p:nvSpPr>
            <p:cNvPr id="23" name="Ellipse 23"/>
            <p:cNvSpPr/>
            <p:nvPr/>
          </p:nvSpPr>
          <p:spPr>
            <a:xfrm>
              <a:off x="2000250" y="1400175"/>
              <a:ext cx="247650" cy="247650"/>
            </a:xfrm>
            <a:prstGeom prst="ellipse">
              <a:avLst/>
            </a:prstGeom>
            <a:solidFill>
              <a:srgbClr val="FFFFFF"/>
            </a:solidFill>
            <a:ln w="19050">
              <a:solidFill>
                <a:srgbClr val="E8705C"/>
              </a:solidFill>
            </a:ln>
          </p:spPr>
        </p:sp>
        <p:sp>
          <p:nvSpPr>
            <p:cNvPr id="24" name="TextBox 24"/>
            <p:cNvSpPr txBox="1"/>
            <p:nvPr/>
          </p:nvSpPr>
          <p:spPr>
            <a:xfrm>
              <a:off x="2004840" y="1466374"/>
              <a:ext cx="238471" cy="190690"/>
            </a:xfrm>
            <a:prstGeom prst="rect">
              <a:avLst/>
            </a:prstGeom>
            <a:noFill/>
            <a:ln>
              <a:noFill/>
            </a:ln>
          </p:spPr>
          <p:txBody>
            <a:bodyPr wrap="none" lIns="0" tIns="0" rIns="0" bIns="0" anchor="t" anchorCtr="0">
              <a:spAutoFit/>
            </a:bodyPr>
            <a:lstStyle/>
            <a:p>
              <a:pPr algn="ctr"/>
              <a:r>
                <a:rPr lang="zh-CN" sz="980" b="1" dirty="0">
                  <a:solidFill>
                    <a:srgbClr val="E8705C"/>
                  </a:solidFill>
                  <a:latin typeface="+mn-lt"/>
                  <a:ea typeface="+mn-ea"/>
                  <a:cs typeface="+mn-cs"/>
                </a:rPr>
                <a:t>1​​</a:t>
              </a:r>
            </a:p>
          </p:txBody>
        </p:sp>
        <p:sp>
          <p:nvSpPr>
            <p:cNvPr id="25" name="Ellipse 25"/>
            <p:cNvSpPr/>
            <p:nvPr/>
          </p:nvSpPr>
          <p:spPr>
            <a:xfrm>
              <a:off x="4610100" y="1400175"/>
              <a:ext cx="247650" cy="247650"/>
            </a:xfrm>
            <a:prstGeom prst="ellipse">
              <a:avLst/>
            </a:prstGeom>
            <a:solidFill>
              <a:srgbClr val="FFFFFF"/>
            </a:solidFill>
            <a:ln w="19050">
              <a:solidFill>
                <a:srgbClr val="C45F4A"/>
              </a:solidFill>
            </a:ln>
          </p:spPr>
        </p:sp>
        <p:sp>
          <p:nvSpPr>
            <p:cNvPr id="26" name="TextBox 26"/>
            <p:cNvSpPr txBox="1"/>
            <p:nvPr/>
          </p:nvSpPr>
          <p:spPr>
            <a:xfrm>
              <a:off x="4614690" y="1466374"/>
              <a:ext cx="238471" cy="190690"/>
            </a:xfrm>
            <a:prstGeom prst="rect">
              <a:avLst/>
            </a:prstGeom>
            <a:noFill/>
            <a:ln>
              <a:noFill/>
            </a:ln>
          </p:spPr>
          <p:txBody>
            <a:bodyPr wrap="none" lIns="0" tIns="0" rIns="0" bIns="0" anchor="t" anchorCtr="0">
              <a:spAutoFit/>
            </a:bodyPr>
            <a:lstStyle/>
            <a:p>
              <a:pPr algn="ctr"/>
              <a:r>
                <a:rPr lang="zh-CN" sz="980" b="1" dirty="0">
                  <a:solidFill>
                    <a:srgbClr val="C45F4A"/>
                  </a:solidFill>
                  <a:latin typeface="+mn-lt"/>
                  <a:ea typeface="+mn-ea"/>
                  <a:cs typeface="+mn-cs"/>
                </a:rPr>
                <a:t>2​​</a:t>
              </a:r>
            </a:p>
          </p:txBody>
        </p:sp>
        <p:sp>
          <p:nvSpPr>
            <p:cNvPr id="27" name="Ellipse 27"/>
            <p:cNvSpPr/>
            <p:nvPr/>
          </p:nvSpPr>
          <p:spPr>
            <a:xfrm>
              <a:off x="7229475" y="1400175"/>
              <a:ext cx="247650" cy="247650"/>
            </a:xfrm>
            <a:prstGeom prst="ellipse">
              <a:avLst/>
            </a:prstGeom>
            <a:solidFill>
              <a:srgbClr val="FFFFFF"/>
            </a:solidFill>
            <a:ln w="19050">
              <a:solidFill>
                <a:srgbClr val="E8705C"/>
              </a:solidFill>
            </a:ln>
          </p:spPr>
        </p:sp>
        <p:sp>
          <p:nvSpPr>
            <p:cNvPr id="28" name="TextBox 28"/>
            <p:cNvSpPr txBox="1"/>
            <p:nvPr/>
          </p:nvSpPr>
          <p:spPr>
            <a:xfrm>
              <a:off x="7234065" y="1466374"/>
              <a:ext cx="238471" cy="190690"/>
            </a:xfrm>
            <a:prstGeom prst="rect">
              <a:avLst/>
            </a:prstGeom>
            <a:noFill/>
            <a:ln>
              <a:noFill/>
            </a:ln>
          </p:spPr>
          <p:txBody>
            <a:bodyPr wrap="none" lIns="0" tIns="0" rIns="0" bIns="0" anchor="t" anchorCtr="0">
              <a:spAutoFit/>
            </a:bodyPr>
            <a:lstStyle/>
            <a:p>
              <a:pPr algn="ctr"/>
              <a:r>
                <a:rPr lang="zh-CN" sz="980" b="1" dirty="0">
                  <a:solidFill>
                    <a:srgbClr val="E8705C"/>
                  </a:solidFill>
                  <a:latin typeface="+mn-lt"/>
                  <a:ea typeface="+mn-ea"/>
                  <a:cs typeface="+mn-cs"/>
                </a:rPr>
                <a:t>3​​</a:t>
              </a:r>
            </a:p>
          </p:txBody>
        </p:sp>
        <p:sp>
          <p:nvSpPr>
            <p:cNvPr id="29" name="Ellipse 29"/>
            <p:cNvSpPr/>
            <p:nvPr/>
          </p:nvSpPr>
          <p:spPr>
            <a:xfrm>
              <a:off x="9848850" y="1400175"/>
              <a:ext cx="247650" cy="247650"/>
            </a:xfrm>
            <a:prstGeom prst="ellipse">
              <a:avLst/>
            </a:prstGeom>
            <a:solidFill>
              <a:srgbClr val="FFFFFF"/>
            </a:solidFill>
            <a:ln w="19050">
              <a:solidFill>
                <a:srgbClr val="B8503B"/>
              </a:solidFill>
            </a:ln>
          </p:spPr>
        </p:sp>
        <p:sp>
          <p:nvSpPr>
            <p:cNvPr id="30" name="TextBox 30"/>
            <p:cNvSpPr txBox="1"/>
            <p:nvPr/>
          </p:nvSpPr>
          <p:spPr>
            <a:xfrm>
              <a:off x="9853440" y="1466374"/>
              <a:ext cx="238471" cy="190690"/>
            </a:xfrm>
            <a:prstGeom prst="rect">
              <a:avLst/>
            </a:prstGeom>
            <a:noFill/>
            <a:ln>
              <a:noFill/>
            </a:ln>
          </p:spPr>
          <p:txBody>
            <a:bodyPr wrap="none" lIns="0" tIns="0" rIns="0" bIns="0" anchor="t" anchorCtr="0">
              <a:spAutoFit/>
            </a:bodyPr>
            <a:lstStyle/>
            <a:p>
              <a:pPr algn="ctr"/>
              <a:r>
                <a:rPr lang="zh-CN" sz="980" b="1" dirty="0">
                  <a:solidFill>
                    <a:srgbClr val="B8503B"/>
                  </a:solidFill>
                  <a:latin typeface="+mn-lt"/>
                  <a:ea typeface="+mn-ea"/>
                  <a:cs typeface="+mn-cs"/>
                </a:rPr>
                <a:t>4​​</a:t>
              </a:r>
            </a:p>
          </p:txBody>
        </p:sp>
      </p:grpSp>
      <p:grpSp>
        <p:nvGrpSpPr>
          <p:cNvPr id="41" name="task-col-1"/>
          <p:cNvGrpSpPr/>
          <p:nvPr/>
        </p:nvGrpSpPr>
        <p:grpSpPr>
          <a:xfrm>
            <a:off x="1524000" y="1924050"/>
            <a:ext cx="2428875" cy="2085975"/>
            <a:chOff x="1524000" y="1924050"/>
            <a:chExt cx="2428875" cy="2085975"/>
          </a:xfrm>
        </p:grpSpPr>
        <p:sp>
          <p:nvSpPr>
            <p:cNvPr id="32" name="Rectangle 32"/>
            <p:cNvSpPr/>
            <p:nvPr/>
          </p:nvSpPr>
          <p:spPr>
            <a:xfrm>
              <a:off x="1524000" y="1924050"/>
              <a:ext cx="2428875" cy="2085975"/>
            </a:xfrm>
            <a:prstGeom prst="roundRect">
              <a:avLst>
                <a:gd name="adj" fmla="val 3653"/>
              </a:avLst>
            </a:prstGeom>
            <a:solidFill>
              <a:srgbClr val="FDF0EC"/>
            </a:solidFill>
            <a:ln>
              <a:noFill/>
            </a:ln>
          </p:spPr>
        </p:sp>
        <p:sp>
          <p:nvSpPr>
            <p:cNvPr id="33" name="Rectangle 33"/>
            <p:cNvSpPr/>
            <p:nvPr/>
          </p:nvSpPr>
          <p:spPr>
            <a:xfrm>
              <a:off x="1809750" y="2114550"/>
              <a:ext cx="1143000" cy="381000"/>
            </a:xfrm>
            <a:prstGeom prst="roundRect">
              <a:avLst>
                <a:gd name="adj" fmla="val 12500"/>
              </a:avLst>
            </a:prstGeom>
            <a:solidFill>
              <a:srgbClr val="E8634C"/>
            </a:solidFill>
            <a:ln>
              <a:noFill/>
            </a:ln>
          </p:spPr>
        </p:sp>
        <p:sp>
          <p:nvSpPr>
            <p:cNvPr id="34" name="TextBox 34"/>
            <p:cNvSpPr txBox="1"/>
            <p:nvPr/>
          </p:nvSpPr>
          <p:spPr>
            <a:xfrm>
              <a:off x="2123402" y="22514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项目规划</a:t>
              </a:r>
            </a:p>
          </p:txBody>
        </p:sp>
        <p:sp>
          <p:nvSpPr>
            <p:cNvPr id="35" name="Line 35"/>
            <p:cNvSpPr/>
            <p:nvPr/>
          </p:nvSpPr>
          <p:spPr>
            <a:xfrm>
              <a:off x="2381250" y="2495550"/>
              <a:ext cx="1" cy="304800"/>
            </a:xfrm>
            <a:prstGeom prst="line">
              <a:avLst/>
            </a:prstGeom>
            <a:noFill/>
            <a:ln w="14288">
              <a:solidFill>
                <a:srgbClr val="F09C8E"/>
              </a:solidFill>
              <a:tailEnd type="triangle" w="lg" len="lg"/>
            </a:ln>
          </p:spPr>
        </p:sp>
        <p:sp>
          <p:nvSpPr>
            <p:cNvPr id="36" name="Rectangle 36"/>
            <p:cNvSpPr/>
            <p:nvPr/>
          </p:nvSpPr>
          <p:spPr>
            <a:xfrm>
              <a:off x="1809750" y="2857500"/>
              <a:ext cx="1143000" cy="381000"/>
            </a:xfrm>
            <a:prstGeom prst="roundRect">
              <a:avLst>
                <a:gd name="adj" fmla="val 12500"/>
              </a:avLst>
            </a:prstGeom>
            <a:solidFill>
              <a:srgbClr val="E8634C"/>
            </a:solidFill>
            <a:ln>
              <a:noFill/>
            </a:ln>
          </p:spPr>
        </p:sp>
        <p:sp>
          <p:nvSpPr>
            <p:cNvPr id="37" name="TextBox 37"/>
            <p:cNvSpPr txBox="1"/>
            <p:nvPr/>
          </p:nvSpPr>
          <p:spPr>
            <a:xfrm>
              <a:off x="2123402" y="29944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需求整理</a:t>
              </a:r>
            </a:p>
          </p:txBody>
        </p:sp>
        <p:sp>
          <p:nvSpPr>
            <p:cNvPr id="38" name="Line 38"/>
            <p:cNvSpPr/>
            <p:nvPr/>
          </p:nvSpPr>
          <p:spPr>
            <a:xfrm>
              <a:off x="2381250" y="3238500"/>
              <a:ext cx="1" cy="304800"/>
            </a:xfrm>
            <a:prstGeom prst="line">
              <a:avLst/>
            </a:prstGeom>
            <a:noFill/>
            <a:ln w="14288">
              <a:solidFill>
                <a:srgbClr val="F09C8E"/>
              </a:solidFill>
              <a:tailEnd type="triangle" w="lg" len="lg"/>
            </a:ln>
          </p:spPr>
        </p:sp>
        <p:sp>
          <p:nvSpPr>
            <p:cNvPr id="39" name="Rectangle 39"/>
            <p:cNvSpPr/>
            <p:nvPr/>
          </p:nvSpPr>
          <p:spPr>
            <a:xfrm>
              <a:off x="1809750" y="3600450"/>
              <a:ext cx="1143000" cy="381000"/>
            </a:xfrm>
            <a:prstGeom prst="roundRect">
              <a:avLst>
                <a:gd name="adj" fmla="val 12500"/>
              </a:avLst>
            </a:prstGeom>
            <a:solidFill>
              <a:srgbClr val="E8634C"/>
            </a:solidFill>
            <a:ln>
              <a:noFill/>
            </a:ln>
          </p:spPr>
        </p:sp>
        <p:sp>
          <p:nvSpPr>
            <p:cNvPr id="40" name="TextBox 40"/>
            <p:cNvSpPr txBox="1"/>
            <p:nvPr/>
          </p:nvSpPr>
          <p:spPr>
            <a:xfrm>
              <a:off x="2123402" y="37373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评审会议</a:t>
              </a:r>
            </a:p>
          </p:txBody>
        </p:sp>
      </p:grpSp>
      <p:grpSp>
        <p:nvGrpSpPr>
          <p:cNvPr id="55" name="task-col-2"/>
          <p:cNvGrpSpPr/>
          <p:nvPr/>
        </p:nvGrpSpPr>
        <p:grpSpPr>
          <a:xfrm>
            <a:off x="4124325" y="1924050"/>
            <a:ext cx="2419350" cy="2247900"/>
            <a:chOff x="4124325" y="1924050"/>
            <a:chExt cx="2419350" cy="2247900"/>
          </a:xfrm>
        </p:grpSpPr>
        <p:sp>
          <p:nvSpPr>
            <p:cNvPr id="42" name="Rectangle 42"/>
            <p:cNvSpPr/>
            <p:nvPr/>
          </p:nvSpPr>
          <p:spPr>
            <a:xfrm>
              <a:off x="4124325" y="1924050"/>
              <a:ext cx="2419350" cy="2085975"/>
            </a:xfrm>
            <a:prstGeom prst="roundRect">
              <a:avLst>
                <a:gd name="adj" fmla="val 3653"/>
              </a:avLst>
            </a:prstGeom>
            <a:solidFill>
              <a:srgbClr val="EEF1FB"/>
            </a:solidFill>
            <a:ln>
              <a:noFill/>
            </a:ln>
          </p:spPr>
        </p:sp>
        <p:sp>
          <p:nvSpPr>
            <p:cNvPr id="43" name="Rectangle 43"/>
            <p:cNvSpPr/>
            <p:nvPr/>
          </p:nvSpPr>
          <p:spPr>
            <a:xfrm>
              <a:off x="4286250" y="2114550"/>
              <a:ext cx="1143000" cy="381000"/>
            </a:xfrm>
            <a:prstGeom prst="roundRect">
              <a:avLst>
                <a:gd name="adj" fmla="val 12500"/>
              </a:avLst>
            </a:prstGeom>
            <a:solidFill>
              <a:srgbClr val="C45F4A"/>
            </a:solidFill>
            <a:ln>
              <a:noFill/>
            </a:ln>
          </p:spPr>
        </p:sp>
        <p:sp>
          <p:nvSpPr>
            <p:cNvPr id="44" name="TextBox 44"/>
            <p:cNvSpPr txBox="1"/>
            <p:nvPr/>
          </p:nvSpPr>
          <p:spPr>
            <a:xfrm>
              <a:off x="4599902" y="22514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资源分配</a:t>
              </a:r>
            </a:p>
          </p:txBody>
        </p:sp>
        <p:sp>
          <p:nvSpPr>
            <p:cNvPr id="45" name="Line 45"/>
            <p:cNvSpPr/>
            <p:nvPr/>
          </p:nvSpPr>
          <p:spPr>
            <a:xfrm>
              <a:off x="4857750" y="2495550"/>
              <a:ext cx="1" cy="304800"/>
            </a:xfrm>
            <a:prstGeom prst="line">
              <a:avLst/>
            </a:prstGeom>
            <a:noFill/>
            <a:ln w="14288">
              <a:solidFill>
                <a:srgbClr val="E08C7B"/>
              </a:solidFill>
              <a:tailEnd type="triangle" w="lg" len="lg"/>
            </a:ln>
          </p:spPr>
        </p:sp>
        <p:sp>
          <p:nvSpPr>
            <p:cNvPr id="46" name="Rectangle 46"/>
            <p:cNvSpPr/>
            <p:nvPr/>
          </p:nvSpPr>
          <p:spPr>
            <a:xfrm>
              <a:off x="4286250" y="2857500"/>
              <a:ext cx="1143000" cy="381000"/>
            </a:xfrm>
            <a:prstGeom prst="roundRect">
              <a:avLst>
                <a:gd name="adj" fmla="val 12500"/>
              </a:avLst>
            </a:prstGeom>
            <a:solidFill>
              <a:srgbClr val="C45F4A"/>
            </a:solidFill>
            <a:ln>
              <a:noFill/>
            </a:ln>
          </p:spPr>
        </p:sp>
        <p:sp>
          <p:nvSpPr>
            <p:cNvPr id="47" name="TextBox 47"/>
            <p:cNvSpPr txBox="1"/>
            <p:nvPr/>
          </p:nvSpPr>
          <p:spPr>
            <a:xfrm>
              <a:off x="4726445" y="299442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开发</a:t>
              </a:r>
            </a:p>
          </p:txBody>
        </p:sp>
        <p:sp>
          <p:nvSpPr>
            <p:cNvPr id="48" name="Line 48"/>
            <p:cNvSpPr/>
            <p:nvPr/>
          </p:nvSpPr>
          <p:spPr>
            <a:xfrm>
              <a:off x="4857750" y="3238500"/>
              <a:ext cx="1" cy="304800"/>
            </a:xfrm>
            <a:prstGeom prst="line">
              <a:avLst/>
            </a:prstGeom>
            <a:noFill/>
            <a:ln w="14288">
              <a:solidFill>
                <a:srgbClr val="E08C7B"/>
              </a:solidFill>
              <a:tailEnd type="triangle" w="lg" len="lg"/>
            </a:ln>
          </p:spPr>
        </p:sp>
        <p:sp>
          <p:nvSpPr>
            <p:cNvPr id="49" name="Rectangle 49"/>
            <p:cNvSpPr/>
            <p:nvPr/>
          </p:nvSpPr>
          <p:spPr>
            <a:xfrm>
              <a:off x="4286250" y="3600450"/>
              <a:ext cx="1143000" cy="381000"/>
            </a:xfrm>
            <a:prstGeom prst="roundRect">
              <a:avLst>
                <a:gd name="adj" fmla="val 12500"/>
              </a:avLst>
            </a:prstGeom>
            <a:solidFill>
              <a:srgbClr val="C45F4A"/>
            </a:solidFill>
            <a:ln>
              <a:noFill/>
            </a:ln>
          </p:spPr>
        </p:sp>
        <p:sp>
          <p:nvSpPr>
            <p:cNvPr id="50" name="TextBox 50"/>
            <p:cNvSpPr txBox="1"/>
            <p:nvPr/>
          </p:nvSpPr>
          <p:spPr>
            <a:xfrm>
              <a:off x="4726445" y="3737372"/>
              <a:ext cx="2626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测试</a:t>
              </a:r>
            </a:p>
          </p:txBody>
        </p:sp>
        <p:sp>
          <p:nvSpPr>
            <p:cNvPr id="51" name="Rectangle 51"/>
            <p:cNvSpPr/>
            <p:nvPr/>
          </p:nvSpPr>
          <p:spPr>
            <a:xfrm>
              <a:off x="5429250" y="2114550"/>
              <a:ext cx="952500" cy="381000"/>
            </a:xfrm>
            <a:prstGeom prst="roundRect">
              <a:avLst>
                <a:gd name="adj" fmla="val 12500"/>
              </a:avLst>
            </a:prstGeom>
            <a:solidFill>
              <a:srgbClr val="C45F4A"/>
            </a:solidFill>
            <a:ln>
              <a:noFill/>
            </a:ln>
          </p:spPr>
        </p:sp>
        <p:sp>
          <p:nvSpPr>
            <p:cNvPr id="52" name="TextBox 52"/>
            <p:cNvSpPr txBox="1"/>
            <p:nvPr/>
          </p:nvSpPr>
          <p:spPr>
            <a:xfrm>
              <a:off x="5647652" y="22514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成果确认</a:t>
              </a:r>
            </a:p>
          </p:txBody>
        </p:sp>
        <p:sp>
          <p:nvSpPr>
            <p:cNvPr id="53" name="Freeform 53"/>
            <p:cNvSpPr/>
            <p:nvPr/>
          </p:nvSpPr>
          <p:spPr>
            <a:xfrm>
              <a:off x="5715000" y="2552700"/>
              <a:ext cx="285750" cy="1543050"/>
            </a:xfrm>
            <a:custGeom>
              <a:avLst/>
              <a:gdLst/>
              <a:ahLst/>
              <a:cxnLst/>
              <a:rect l="l" t="t" r="r" b="b"/>
              <a:pathLst>
                <a:path w="285750" h="1543050">
                  <a:moveTo>
                    <a:pt x="0" y="1543050"/>
                  </a:moveTo>
                  <a:cubicBezTo>
                    <a:pt x="190500" y="1162050"/>
                    <a:pt x="285750" y="495300"/>
                    <a:pt x="228600" y="0"/>
                  </a:cubicBezTo>
                </a:path>
              </a:pathLst>
            </a:custGeom>
            <a:noFill/>
            <a:ln w="12382">
              <a:solidFill>
                <a:srgbClr val="9AA1B8"/>
              </a:solidFill>
              <a:custDash>
                <a:ds d="307692" sp="230769"/>
              </a:custDash>
              <a:tailEnd type="triangle" w="lg" len="lg"/>
            </a:ln>
          </p:spPr>
        </p:sp>
        <p:sp>
          <p:nvSpPr>
            <p:cNvPr id="54" name="TextBox 54"/>
            <p:cNvSpPr txBox="1"/>
            <p:nvPr/>
          </p:nvSpPr>
          <p:spPr>
            <a:xfrm>
              <a:off x="4471988" y="4024312"/>
              <a:ext cx="1120140" cy="147638"/>
            </a:xfrm>
            <a:prstGeom prst="rect">
              <a:avLst/>
            </a:prstGeom>
            <a:noFill/>
            <a:ln>
              <a:noFill/>
            </a:ln>
          </p:spPr>
          <p:txBody>
            <a:bodyPr wrap="none" lIns="0" tIns="0" rIns="0" bIns="0" anchor="t" anchorCtr="0">
              <a:spAutoFit/>
            </a:bodyPr>
            <a:lstStyle/>
            <a:p>
              <a:pPr algn="l"/>
              <a:r>
                <a:rPr lang="zh-CN" sz="750" dirty="0">
                  <a:solidFill>
                    <a:srgbClr val="88706B"/>
                  </a:solidFill>
                  <a:latin typeface="+mn-lt"/>
                  <a:ea typeface="+mn-ea"/>
                  <a:cs typeface="+mn-cs"/>
                </a:rPr>
                <a:t>数据管理能力成熟度评估</a:t>
              </a:r>
            </a:p>
          </p:txBody>
        </p:sp>
      </p:grpSp>
      <p:grpSp>
        <p:nvGrpSpPr>
          <p:cNvPr id="76" name="task-col-3"/>
          <p:cNvGrpSpPr/>
          <p:nvPr/>
        </p:nvGrpSpPr>
        <p:grpSpPr>
          <a:xfrm>
            <a:off x="6657975" y="1924050"/>
            <a:ext cx="2543175" cy="2209800"/>
            <a:chOff x="6657975" y="1924050"/>
            <a:chExt cx="2543175" cy="2209800"/>
          </a:xfrm>
        </p:grpSpPr>
        <p:sp>
          <p:nvSpPr>
            <p:cNvPr id="56" name="Rectangle 56"/>
            <p:cNvSpPr/>
            <p:nvPr/>
          </p:nvSpPr>
          <p:spPr>
            <a:xfrm>
              <a:off x="6657975" y="1924050"/>
              <a:ext cx="2543175" cy="2085975"/>
            </a:xfrm>
            <a:prstGeom prst="roundRect">
              <a:avLst>
                <a:gd name="adj" fmla="val 3653"/>
              </a:avLst>
            </a:prstGeom>
            <a:solidFill>
              <a:srgbClr val="FDF0EC"/>
            </a:solidFill>
            <a:ln>
              <a:noFill/>
            </a:ln>
          </p:spPr>
        </p:sp>
        <p:sp>
          <p:nvSpPr>
            <p:cNvPr id="57" name="Rectangle 57"/>
            <p:cNvSpPr/>
            <p:nvPr/>
          </p:nvSpPr>
          <p:spPr>
            <a:xfrm>
              <a:off x="6762750" y="2047875"/>
              <a:ext cx="1162050" cy="323850"/>
            </a:xfrm>
            <a:prstGeom prst="roundRect">
              <a:avLst>
                <a:gd name="adj" fmla="val 14706"/>
              </a:avLst>
            </a:prstGeom>
            <a:solidFill>
              <a:srgbClr val="E8634C"/>
            </a:solidFill>
            <a:ln>
              <a:noFill/>
            </a:ln>
          </p:spPr>
        </p:sp>
        <p:sp>
          <p:nvSpPr>
            <p:cNvPr id="58" name="TextBox 58"/>
            <p:cNvSpPr txBox="1"/>
            <p:nvPr/>
          </p:nvSpPr>
          <p:spPr>
            <a:xfrm>
              <a:off x="6975538" y="2160270"/>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平台安装部署</a:t>
              </a:r>
            </a:p>
          </p:txBody>
        </p:sp>
        <p:sp>
          <p:nvSpPr>
            <p:cNvPr id="59" name="Line 59"/>
            <p:cNvSpPr/>
            <p:nvPr/>
          </p:nvSpPr>
          <p:spPr>
            <a:xfrm>
              <a:off x="7343775" y="2371725"/>
              <a:ext cx="1" cy="304800"/>
            </a:xfrm>
            <a:prstGeom prst="line">
              <a:avLst/>
            </a:prstGeom>
            <a:noFill/>
            <a:ln w="14288">
              <a:solidFill>
                <a:srgbClr val="F09C8E"/>
              </a:solidFill>
              <a:tailEnd type="triangle" w="lg" len="lg"/>
            </a:ln>
          </p:spPr>
        </p:sp>
        <p:sp>
          <p:nvSpPr>
            <p:cNvPr id="60" name="Rectangle 60"/>
            <p:cNvSpPr/>
            <p:nvPr/>
          </p:nvSpPr>
          <p:spPr>
            <a:xfrm>
              <a:off x="6762750" y="2733675"/>
              <a:ext cx="1162050" cy="323850"/>
            </a:xfrm>
            <a:prstGeom prst="roundRect">
              <a:avLst>
                <a:gd name="adj" fmla="val 14706"/>
              </a:avLst>
            </a:prstGeom>
            <a:solidFill>
              <a:srgbClr val="E8634C"/>
            </a:solidFill>
            <a:ln>
              <a:noFill/>
            </a:ln>
          </p:spPr>
        </p:sp>
        <p:sp>
          <p:nvSpPr>
            <p:cNvPr id="61" name="TextBox 61"/>
            <p:cNvSpPr txBox="1"/>
            <p:nvPr/>
          </p:nvSpPr>
          <p:spPr>
            <a:xfrm>
              <a:off x="6975538" y="2846070"/>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系统接口适配</a:t>
              </a:r>
            </a:p>
          </p:txBody>
        </p:sp>
        <p:sp>
          <p:nvSpPr>
            <p:cNvPr id="62" name="Line 62"/>
            <p:cNvSpPr/>
            <p:nvPr/>
          </p:nvSpPr>
          <p:spPr>
            <a:xfrm>
              <a:off x="7343775" y="3057525"/>
              <a:ext cx="1" cy="304800"/>
            </a:xfrm>
            <a:prstGeom prst="line">
              <a:avLst/>
            </a:prstGeom>
            <a:noFill/>
            <a:ln w="14288">
              <a:solidFill>
                <a:srgbClr val="F09C8E"/>
              </a:solidFill>
              <a:tailEnd type="triangle" w="lg" len="lg"/>
            </a:ln>
          </p:spPr>
        </p:sp>
        <p:sp>
          <p:nvSpPr>
            <p:cNvPr id="63" name="Rectangle 63"/>
            <p:cNvSpPr/>
            <p:nvPr/>
          </p:nvSpPr>
          <p:spPr>
            <a:xfrm>
              <a:off x="6762750" y="3419475"/>
              <a:ext cx="1162050" cy="323850"/>
            </a:xfrm>
            <a:prstGeom prst="roundRect">
              <a:avLst>
                <a:gd name="adj" fmla="val 14706"/>
              </a:avLst>
            </a:prstGeom>
            <a:solidFill>
              <a:srgbClr val="E8634C"/>
            </a:solidFill>
            <a:ln>
              <a:noFill/>
            </a:ln>
          </p:spPr>
        </p:sp>
        <p:sp>
          <p:nvSpPr>
            <p:cNvPr id="64" name="TextBox 64"/>
            <p:cNvSpPr txBox="1"/>
            <p:nvPr/>
          </p:nvSpPr>
          <p:spPr>
            <a:xfrm>
              <a:off x="6914960" y="3531870"/>
              <a:ext cx="85763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入表配置及导入</a:t>
              </a:r>
            </a:p>
          </p:txBody>
        </p:sp>
        <p:sp>
          <p:nvSpPr>
            <p:cNvPr id="65" name="Line 65"/>
            <p:cNvSpPr/>
            <p:nvPr/>
          </p:nvSpPr>
          <p:spPr>
            <a:xfrm>
              <a:off x="7924800" y="2209800"/>
              <a:ext cx="190500" cy="1"/>
            </a:xfrm>
            <a:prstGeom prst="line">
              <a:avLst/>
            </a:prstGeom>
            <a:noFill/>
            <a:ln w="14288">
              <a:solidFill>
                <a:srgbClr val="F09C8E"/>
              </a:solidFill>
              <a:tailEnd type="triangle" w="lg" len="lg"/>
            </a:ln>
          </p:spPr>
        </p:sp>
        <p:sp>
          <p:nvSpPr>
            <p:cNvPr id="66" name="Rectangle 66"/>
            <p:cNvSpPr/>
            <p:nvPr/>
          </p:nvSpPr>
          <p:spPr>
            <a:xfrm>
              <a:off x="8153400" y="2047875"/>
              <a:ext cx="990600" cy="323850"/>
            </a:xfrm>
            <a:prstGeom prst="roundRect">
              <a:avLst>
                <a:gd name="adj" fmla="val 14706"/>
              </a:avLst>
            </a:prstGeom>
            <a:solidFill>
              <a:srgbClr val="E8634C"/>
            </a:solidFill>
            <a:ln>
              <a:noFill/>
            </a:ln>
          </p:spPr>
        </p:sp>
        <p:sp>
          <p:nvSpPr>
            <p:cNvPr id="67" name="TextBox 67"/>
            <p:cNvSpPr txBox="1"/>
            <p:nvPr/>
          </p:nvSpPr>
          <p:spPr>
            <a:xfrm>
              <a:off x="8296618" y="2164318"/>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系统联合测试</a:t>
              </a:r>
            </a:p>
          </p:txBody>
        </p:sp>
        <p:sp>
          <p:nvSpPr>
            <p:cNvPr id="68" name="Line 68"/>
            <p:cNvSpPr/>
            <p:nvPr/>
          </p:nvSpPr>
          <p:spPr>
            <a:xfrm>
              <a:off x="8648700" y="2371725"/>
              <a:ext cx="1" cy="304800"/>
            </a:xfrm>
            <a:prstGeom prst="line">
              <a:avLst/>
            </a:prstGeom>
            <a:noFill/>
            <a:ln w="14288">
              <a:solidFill>
                <a:srgbClr val="F09C8E"/>
              </a:solidFill>
              <a:tailEnd type="triangle" w="lg" len="lg"/>
            </a:ln>
          </p:spPr>
        </p:sp>
        <p:sp>
          <p:nvSpPr>
            <p:cNvPr id="69" name="Rectangle 69"/>
            <p:cNvSpPr/>
            <p:nvPr/>
          </p:nvSpPr>
          <p:spPr>
            <a:xfrm>
              <a:off x="8153400" y="2733675"/>
              <a:ext cx="990600" cy="323850"/>
            </a:xfrm>
            <a:prstGeom prst="roundRect">
              <a:avLst>
                <a:gd name="adj" fmla="val 14706"/>
              </a:avLst>
            </a:prstGeom>
            <a:solidFill>
              <a:srgbClr val="E8634C"/>
            </a:solidFill>
            <a:ln>
              <a:noFill/>
            </a:ln>
          </p:spPr>
        </p:sp>
        <p:sp>
          <p:nvSpPr>
            <p:cNvPr id="70" name="TextBox 70"/>
            <p:cNvSpPr txBox="1"/>
            <p:nvPr/>
          </p:nvSpPr>
          <p:spPr>
            <a:xfrm>
              <a:off x="8412391" y="285011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调整优化</a:t>
              </a:r>
            </a:p>
          </p:txBody>
        </p:sp>
        <p:sp>
          <p:nvSpPr>
            <p:cNvPr id="71" name="Line 71"/>
            <p:cNvSpPr/>
            <p:nvPr/>
          </p:nvSpPr>
          <p:spPr>
            <a:xfrm>
              <a:off x="8648700" y="3057525"/>
              <a:ext cx="1" cy="304800"/>
            </a:xfrm>
            <a:prstGeom prst="line">
              <a:avLst/>
            </a:prstGeom>
            <a:noFill/>
            <a:ln w="14288">
              <a:solidFill>
                <a:srgbClr val="F09C8E"/>
              </a:solidFill>
              <a:tailEnd type="triangle" w="lg" len="lg"/>
            </a:ln>
          </p:spPr>
        </p:sp>
        <p:sp>
          <p:nvSpPr>
            <p:cNvPr id="72" name="Rectangle 72"/>
            <p:cNvSpPr/>
            <p:nvPr/>
          </p:nvSpPr>
          <p:spPr>
            <a:xfrm>
              <a:off x="8153400" y="3419475"/>
              <a:ext cx="990600" cy="323850"/>
            </a:xfrm>
            <a:prstGeom prst="roundRect">
              <a:avLst>
                <a:gd name="adj" fmla="val 14706"/>
              </a:avLst>
            </a:prstGeom>
            <a:solidFill>
              <a:srgbClr val="E8634C"/>
            </a:solidFill>
            <a:ln>
              <a:noFill/>
            </a:ln>
          </p:spPr>
        </p:sp>
        <p:sp>
          <p:nvSpPr>
            <p:cNvPr id="73" name="TextBox 73"/>
            <p:cNvSpPr txBox="1"/>
            <p:nvPr/>
          </p:nvSpPr>
          <p:spPr>
            <a:xfrm>
              <a:off x="8354504" y="3535918"/>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系统试运行</a:t>
              </a:r>
            </a:p>
          </p:txBody>
        </p:sp>
        <p:sp>
          <p:nvSpPr>
            <p:cNvPr id="74" name="Rectangle 74"/>
            <p:cNvSpPr/>
            <p:nvPr/>
          </p:nvSpPr>
          <p:spPr>
            <a:xfrm>
              <a:off x="8153400" y="3810000"/>
              <a:ext cx="990600" cy="323850"/>
            </a:xfrm>
            <a:prstGeom prst="roundRect">
              <a:avLst>
                <a:gd name="adj" fmla="val 14706"/>
              </a:avLst>
            </a:prstGeom>
            <a:solidFill>
              <a:srgbClr val="E8634C"/>
            </a:solidFill>
            <a:ln>
              <a:noFill/>
            </a:ln>
          </p:spPr>
        </p:sp>
        <p:sp>
          <p:nvSpPr>
            <p:cNvPr id="75" name="TextBox 75"/>
            <p:cNvSpPr txBox="1"/>
            <p:nvPr/>
          </p:nvSpPr>
          <p:spPr>
            <a:xfrm>
              <a:off x="8412391" y="39264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上线确认</a:t>
              </a:r>
            </a:p>
          </p:txBody>
        </p:sp>
      </p:grpSp>
      <p:grpSp>
        <p:nvGrpSpPr>
          <p:cNvPr id="86" name="task-col-4"/>
          <p:cNvGrpSpPr/>
          <p:nvPr/>
        </p:nvGrpSpPr>
        <p:grpSpPr>
          <a:xfrm>
            <a:off x="9258300" y="1924050"/>
            <a:ext cx="2533650" cy="2085975"/>
            <a:chOff x="9258300" y="1924050"/>
            <a:chExt cx="2533650" cy="2085975"/>
          </a:xfrm>
        </p:grpSpPr>
        <p:sp>
          <p:nvSpPr>
            <p:cNvPr id="77" name="Rectangle 77"/>
            <p:cNvSpPr/>
            <p:nvPr/>
          </p:nvSpPr>
          <p:spPr>
            <a:xfrm>
              <a:off x="9258300" y="1924050"/>
              <a:ext cx="2533650" cy="2085975"/>
            </a:xfrm>
            <a:prstGeom prst="roundRect">
              <a:avLst>
                <a:gd name="adj" fmla="val 3653"/>
              </a:avLst>
            </a:prstGeom>
            <a:solidFill>
              <a:srgbClr val="EEF1FB"/>
            </a:solidFill>
            <a:ln>
              <a:noFill/>
            </a:ln>
          </p:spPr>
        </p:sp>
        <p:sp>
          <p:nvSpPr>
            <p:cNvPr id="78" name="Rectangle 78"/>
            <p:cNvSpPr/>
            <p:nvPr/>
          </p:nvSpPr>
          <p:spPr>
            <a:xfrm>
              <a:off x="9953625" y="2114550"/>
              <a:ext cx="1143000" cy="381000"/>
            </a:xfrm>
            <a:prstGeom prst="roundRect">
              <a:avLst>
                <a:gd name="adj" fmla="val 12500"/>
              </a:avLst>
            </a:prstGeom>
            <a:solidFill>
              <a:srgbClr val="B8503B"/>
            </a:solidFill>
            <a:ln>
              <a:noFill/>
            </a:ln>
          </p:spPr>
        </p:sp>
        <p:sp>
          <p:nvSpPr>
            <p:cNvPr id="79" name="TextBox 79"/>
            <p:cNvSpPr txBox="1"/>
            <p:nvPr/>
          </p:nvSpPr>
          <p:spPr>
            <a:xfrm>
              <a:off x="10267277" y="22514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正式交付</a:t>
              </a:r>
            </a:p>
          </p:txBody>
        </p:sp>
        <p:sp>
          <p:nvSpPr>
            <p:cNvPr id="80" name="Line 80"/>
            <p:cNvSpPr/>
            <p:nvPr/>
          </p:nvSpPr>
          <p:spPr>
            <a:xfrm>
              <a:off x="10525125" y="2495550"/>
              <a:ext cx="1" cy="304800"/>
            </a:xfrm>
            <a:prstGeom prst="line">
              <a:avLst/>
            </a:prstGeom>
            <a:noFill/>
            <a:ln w="14288">
              <a:solidFill>
                <a:srgbClr val="E08C7B"/>
              </a:solidFill>
              <a:tailEnd type="triangle" w="lg" len="lg"/>
            </a:ln>
          </p:spPr>
        </p:sp>
        <p:sp>
          <p:nvSpPr>
            <p:cNvPr id="81" name="Rectangle 81"/>
            <p:cNvSpPr/>
            <p:nvPr/>
          </p:nvSpPr>
          <p:spPr>
            <a:xfrm>
              <a:off x="9953625" y="2857500"/>
              <a:ext cx="1143000" cy="381000"/>
            </a:xfrm>
            <a:prstGeom prst="roundRect">
              <a:avLst>
                <a:gd name="adj" fmla="val 12500"/>
              </a:avLst>
            </a:prstGeom>
            <a:solidFill>
              <a:srgbClr val="B8503B"/>
            </a:solidFill>
            <a:ln>
              <a:noFill/>
            </a:ln>
          </p:spPr>
        </p:sp>
        <p:sp>
          <p:nvSpPr>
            <p:cNvPr id="82" name="TextBox 82"/>
            <p:cNvSpPr txBox="1"/>
            <p:nvPr/>
          </p:nvSpPr>
          <p:spPr>
            <a:xfrm>
              <a:off x="10267277" y="29944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验收准备</a:t>
              </a:r>
            </a:p>
          </p:txBody>
        </p:sp>
        <p:sp>
          <p:nvSpPr>
            <p:cNvPr id="83" name="Line 83"/>
            <p:cNvSpPr/>
            <p:nvPr/>
          </p:nvSpPr>
          <p:spPr>
            <a:xfrm>
              <a:off x="10525125" y="3238500"/>
              <a:ext cx="1" cy="304800"/>
            </a:xfrm>
            <a:prstGeom prst="line">
              <a:avLst/>
            </a:prstGeom>
            <a:noFill/>
            <a:ln w="14288">
              <a:solidFill>
                <a:srgbClr val="E08C7B"/>
              </a:solidFill>
              <a:tailEnd type="triangle" w="lg" len="lg"/>
            </a:ln>
          </p:spPr>
        </p:sp>
        <p:sp>
          <p:nvSpPr>
            <p:cNvPr id="84" name="Rectangle 84"/>
            <p:cNvSpPr/>
            <p:nvPr/>
          </p:nvSpPr>
          <p:spPr>
            <a:xfrm>
              <a:off x="9953625" y="3600450"/>
              <a:ext cx="1143000" cy="381000"/>
            </a:xfrm>
            <a:prstGeom prst="roundRect">
              <a:avLst>
                <a:gd name="adj" fmla="val 12500"/>
              </a:avLst>
            </a:prstGeom>
            <a:solidFill>
              <a:srgbClr val="B8503B"/>
            </a:solidFill>
            <a:ln>
              <a:noFill/>
            </a:ln>
          </p:spPr>
        </p:sp>
        <p:sp>
          <p:nvSpPr>
            <p:cNvPr id="85" name="TextBox 85"/>
            <p:cNvSpPr txBox="1"/>
            <p:nvPr/>
          </p:nvSpPr>
          <p:spPr>
            <a:xfrm>
              <a:off x="10267277" y="37373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项目验收</a:t>
              </a:r>
            </a:p>
          </p:txBody>
        </p:sp>
      </p:grpSp>
      <p:grpSp>
        <p:nvGrpSpPr>
          <p:cNvPr id="95" name="deliverables"/>
          <p:cNvGrpSpPr/>
          <p:nvPr/>
        </p:nvGrpSpPr>
        <p:grpSpPr>
          <a:xfrm>
            <a:off x="1524000" y="4267200"/>
            <a:ext cx="10267950" cy="628650"/>
            <a:chOff x="1524000" y="4267200"/>
            <a:chExt cx="10267950" cy="628650"/>
          </a:xfrm>
        </p:grpSpPr>
        <p:sp>
          <p:nvSpPr>
            <p:cNvPr id="87" name="Rectangle 87"/>
            <p:cNvSpPr/>
            <p:nvPr/>
          </p:nvSpPr>
          <p:spPr>
            <a:xfrm>
              <a:off x="1524000" y="4267200"/>
              <a:ext cx="2428875" cy="628650"/>
            </a:xfrm>
            <a:prstGeom prst="roundRect">
              <a:avLst>
                <a:gd name="adj" fmla="val 12121"/>
              </a:avLst>
            </a:prstGeom>
            <a:solidFill>
              <a:srgbClr val="FDF0EC"/>
            </a:solidFill>
            <a:ln>
              <a:noFill/>
            </a:ln>
          </p:spPr>
        </p:sp>
        <p:sp>
          <p:nvSpPr>
            <p:cNvPr id="88" name="TextBox 88"/>
            <p:cNvSpPr txBox="1"/>
            <p:nvPr/>
          </p:nvSpPr>
          <p:spPr>
            <a:xfrm>
              <a:off x="2251392" y="4423172"/>
              <a:ext cx="964565" cy="392906"/>
            </a:xfrm>
            <a:prstGeom prst="rect">
              <a:avLst/>
            </a:prstGeom>
            <a:noFill/>
            <a:ln>
              <a:noFill/>
            </a:ln>
          </p:spPr>
          <p:txBody>
            <a:bodyPr wrap="none" lIns="0" tIns="0" rIns="0" bIns="0" anchor="t" anchorCtr="0">
              <a:spAutoFit/>
            </a:bodyPr>
            <a:lstStyle/>
            <a:p>
              <a:pPr algn="ctr">
                <a:lnSpc>
                  <a:spcPts val="1650"/>
                </a:lnSpc>
              </a:pPr>
              <a:r>
                <a:rPr lang="zh-CN" sz="940" dirty="0">
                  <a:solidFill>
                    <a:srgbClr val="543E3A"/>
                  </a:solidFill>
                  <a:latin typeface="+mn-lt"/>
                  <a:ea typeface="+mn-ea"/>
                  <a:cs typeface="+mn-cs"/>
                </a:rPr>
                <a:t>《需求文档初版》</a:t>
              </a:r>
              <a:br/>
              <a:r>
                <a:rPr lang="zh-CN" sz="940" dirty="0">
                  <a:solidFill>
                    <a:srgbClr val="543E3A"/>
                  </a:solidFill>
                  <a:latin typeface="+mn-lt"/>
                  <a:ea typeface="+mn-ea"/>
                  <a:cs typeface="+mn-cs"/>
                </a:rPr>
                <a:t>《项目实施计划》</a:t>
              </a:r>
            </a:p>
          </p:txBody>
        </p:sp>
        <p:sp>
          <p:nvSpPr>
            <p:cNvPr id="89" name="Rectangle 89"/>
            <p:cNvSpPr/>
            <p:nvPr/>
          </p:nvSpPr>
          <p:spPr>
            <a:xfrm>
              <a:off x="4124325" y="4267200"/>
              <a:ext cx="2419350" cy="628650"/>
            </a:xfrm>
            <a:prstGeom prst="roundRect">
              <a:avLst>
                <a:gd name="adj" fmla="val 12121"/>
              </a:avLst>
            </a:prstGeom>
            <a:solidFill>
              <a:srgbClr val="EEF1FB"/>
            </a:solidFill>
            <a:ln>
              <a:noFill/>
            </a:ln>
          </p:spPr>
        </p:sp>
        <p:sp>
          <p:nvSpPr>
            <p:cNvPr id="90" name="TextBox 90"/>
            <p:cNvSpPr txBox="1"/>
            <p:nvPr/>
          </p:nvSpPr>
          <p:spPr>
            <a:xfrm>
              <a:off x="4851718" y="4423172"/>
              <a:ext cx="964565" cy="392906"/>
            </a:xfrm>
            <a:prstGeom prst="rect">
              <a:avLst/>
            </a:prstGeom>
            <a:noFill/>
            <a:ln>
              <a:noFill/>
            </a:ln>
          </p:spPr>
          <p:txBody>
            <a:bodyPr wrap="none" lIns="0" tIns="0" rIns="0" bIns="0" anchor="t" anchorCtr="0">
              <a:spAutoFit/>
            </a:bodyPr>
            <a:lstStyle/>
            <a:p>
              <a:pPr algn="ctr">
                <a:lnSpc>
                  <a:spcPts val="1650"/>
                </a:lnSpc>
              </a:pPr>
              <a:r>
                <a:rPr lang="zh-CN" sz="940" dirty="0">
                  <a:solidFill>
                    <a:srgbClr val="543E3A"/>
                  </a:solidFill>
                  <a:latin typeface="+mn-lt"/>
                  <a:ea typeface="+mn-ea"/>
                  <a:cs typeface="+mn-cs"/>
                </a:rPr>
                <a:t>《技术方案》</a:t>
              </a:r>
              <a:br/>
              <a:r>
                <a:rPr lang="zh-CN" sz="940" dirty="0">
                  <a:solidFill>
                    <a:srgbClr val="543E3A"/>
                  </a:solidFill>
                  <a:latin typeface="+mn-lt"/>
                  <a:ea typeface="+mn-ea"/>
                  <a:cs typeface="+mn-cs"/>
                </a:rPr>
                <a:t>《集成测试用例》</a:t>
              </a:r>
            </a:p>
          </p:txBody>
        </p:sp>
        <p:sp>
          <p:nvSpPr>
            <p:cNvPr id="91" name="Rectangle 91"/>
            <p:cNvSpPr/>
            <p:nvPr/>
          </p:nvSpPr>
          <p:spPr>
            <a:xfrm>
              <a:off x="6657975" y="4267200"/>
              <a:ext cx="2543175" cy="628650"/>
            </a:xfrm>
            <a:prstGeom prst="roundRect">
              <a:avLst>
                <a:gd name="adj" fmla="val 12121"/>
              </a:avLst>
            </a:prstGeom>
            <a:solidFill>
              <a:srgbClr val="FDF0EC"/>
            </a:solidFill>
            <a:ln>
              <a:noFill/>
            </a:ln>
          </p:spPr>
        </p:sp>
        <p:sp>
          <p:nvSpPr>
            <p:cNvPr id="92" name="TextBox 92"/>
            <p:cNvSpPr txBox="1"/>
            <p:nvPr/>
          </p:nvSpPr>
          <p:spPr>
            <a:xfrm>
              <a:off x="7323138" y="4423172"/>
              <a:ext cx="1203325" cy="392906"/>
            </a:xfrm>
            <a:prstGeom prst="rect">
              <a:avLst/>
            </a:prstGeom>
            <a:noFill/>
            <a:ln>
              <a:noFill/>
            </a:ln>
          </p:spPr>
          <p:txBody>
            <a:bodyPr wrap="none" lIns="0" tIns="0" rIns="0" bIns="0" anchor="t" anchorCtr="0">
              <a:spAutoFit/>
            </a:bodyPr>
            <a:lstStyle/>
            <a:p>
              <a:pPr algn="ctr">
                <a:lnSpc>
                  <a:spcPts val="1650"/>
                </a:lnSpc>
              </a:pPr>
              <a:r>
                <a:rPr lang="zh-CN" sz="940" dirty="0">
                  <a:solidFill>
                    <a:srgbClr val="543E3A"/>
                  </a:solidFill>
                  <a:latin typeface="+mn-lt"/>
                  <a:ea typeface="+mn-ea"/>
                  <a:cs typeface="+mn-cs"/>
                </a:rPr>
                <a:t>《产品使用手册》</a:t>
              </a:r>
              <a:br/>
              <a:r>
                <a:rPr lang="zh-CN" sz="940" dirty="0">
                  <a:solidFill>
                    <a:srgbClr val="543E3A"/>
                  </a:solidFill>
                  <a:latin typeface="+mn-lt"/>
                  <a:ea typeface="+mn-ea"/>
                  <a:cs typeface="+mn-cs"/>
                </a:rPr>
                <a:t>《场景应用培训记录》</a:t>
              </a:r>
            </a:p>
          </p:txBody>
        </p:sp>
        <p:sp>
          <p:nvSpPr>
            <p:cNvPr id="93" name="Rectangle 93"/>
            <p:cNvSpPr/>
            <p:nvPr/>
          </p:nvSpPr>
          <p:spPr>
            <a:xfrm>
              <a:off x="9258300" y="4267200"/>
              <a:ext cx="2533650" cy="628650"/>
            </a:xfrm>
            <a:prstGeom prst="roundRect">
              <a:avLst>
                <a:gd name="adj" fmla="val 12121"/>
              </a:avLst>
            </a:prstGeom>
            <a:solidFill>
              <a:srgbClr val="EEF1FB"/>
            </a:solidFill>
            <a:ln>
              <a:noFill/>
            </a:ln>
          </p:spPr>
        </p:sp>
        <p:sp>
          <p:nvSpPr>
            <p:cNvPr id="94" name="TextBox 94"/>
            <p:cNvSpPr txBox="1"/>
            <p:nvPr/>
          </p:nvSpPr>
          <p:spPr>
            <a:xfrm>
              <a:off x="10014191" y="4527947"/>
              <a:ext cx="1021867" cy="183356"/>
            </a:xfrm>
            <a:prstGeom prst="rect">
              <a:avLst/>
            </a:prstGeom>
            <a:noFill/>
            <a:ln>
              <a:noFill/>
            </a:ln>
          </p:spPr>
          <p:txBody>
            <a:bodyPr wrap="none" lIns="0" tIns="0" rIns="0" bIns="0" anchor="t" anchorCtr="0">
              <a:spAutoFit/>
            </a:bodyPr>
            <a:lstStyle/>
            <a:p>
              <a:pPr algn="ctr"/>
              <a:r>
                <a:rPr lang="zh-CN" sz="940" dirty="0">
                  <a:solidFill>
                    <a:srgbClr val="543E3A"/>
                  </a:solidFill>
                  <a:latin typeface="+mn-lt"/>
                  <a:ea typeface="+mn-ea"/>
                  <a:cs typeface="+mn-cs"/>
                </a:rPr>
                <a:t>《项目验收报告》</a:t>
              </a:r>
            </a:p>
          </p:txBody>
        </p:sp>
      </p:grpSp>
      <p:grpSp>
        <p:nvGrpSpPr>
          <p:cNvPr id="118" name="week-bar"/>
          <p:cNvGrpSpPr/>
          <p:nvPr/>
        </p:nvGrpSpPr>
        <p:grpSpPr>
          <a:xfrm>
            <a:off x="1408849" y="4895850"/>
            <a:ext cx="10421201" cy="1215866"/>
            <a:chOff x="1408849" y="4895850"/>
            <a:chExt cx="10421201" cy="1215866"/>
          </a:xfrm>
        </p:grpSpPr>
        <p:sp>
          <p:nvSpPr>
            <p:cNvPr id="96" name="Line 96"/>
            <p:cNvSpPr/>
            <p:nvPr/>
          </p:nvSpPr>
          <p:spPr>
            <a:xfrm>
              <a:off x="1524000" y="5829300"/>
              <a:ext cx="10267950" cy="9525"/>
            </a:xfrm>
            <a:custGeom>
              <a:avLst/>
              <a:gdLst/>
              <a:ahLst/>
              <a:cxnLst/>
              <a:rect l="l" t="t" r="r" b="b"/>
              <a:pathLst>
                <a:path w="10267950" h="9525">
                  <a:moveTo>
                    <a:pt x="0" y="0"/>
                  </a:moveTo>
                  <a:lnTo>
                    <a:pt x="10267950" y="0"/>
                  </a:lnTo>
                </a:path>
              </a:pathLst>
            </a:custGeom>
            <a:noFill/>
            <a:ln w="14288">
              <a:solidFill>
                <a:srgbClr val="E08C7B"/>
              </a:solidFill>
            </a:ln>
          </p:spPr>
        </p:sp>
        <p:sp>
          <p:nvSpPr>
            <p:cNvPr id="97" name="Ellipse 97"/>
            <p:cNvSpPr/>
            <p:nvPr/>
          </p:nvSpPr>
          <p:spPr>
            <a:xfrm>
              <a:off x="1485900" y="5791200"/>
              <a:ext cx="76200" cy="76200"/>
            </a:xfrm>
            <a:prstGeom prst="ellipse">
              <a:avLst/>
            </a:prstGeom>
            <a:solidFill>
              <a:srgbClr val="C45F4A"/>
            </a:solidFill>
            <a:ln>
              <a:noFill/>
            </a:ln>
          </p:spPr>
        </p:sp>
        <p:sp>
          <p:nvSpPr>
            <p:cNvPr id="98" name="Ellipse 98"/>
            <p:cNvSpPr/>
            <p:nvPr/>
          </p:nvSpPr>
          <p:spPr>
            <a:xfrm>
              <a:off x="4029075" y="5791200"/>
              <a:ext cx="76200" cy="76200"/>
            </a:xfrm>
            <a:prstGeom prst="ellipse">
              <a:avLst/>
            </a:prstGeom>
            <a:solidFill>
              <a:srgbClr val="C45F4A"/>
            </a:solidFill>
            <a:ln>
              <a:noFill/>
            </a:ln>
          </p:spPr>
        </p:sp>
        <p:sp>
          <p:nvSpPr>
            <p:cNvPr id="99" name="Ellipse 99"/>
            <p:cNvSpPr/>
            <p:nvPr/>
          </p:nvSpPr>
          <p:spPr>
            <a:xfrm>
              <a:off x="6562725" y="5791200"/>
              <a:ext cx="76200" cy="76200"/>
            </a:xfrm>
            <a:prstGeom prst="ellipse">
              <a:avLst/>
            </a:prstGeom>
            <a:solidFill>
              <a:srgbClr val="C45F4A"/>
            </a:solidFill>
            <a:ln>
              <a:noFill/>
            </a:ln>
          </p:spPr>
        </p:sp>
        <p:sp>
          <p:nvSpPr>
            <p:cNvPr id="100" name="Ellipse 100"/>
            <p:cNvSpPr/>
            <p:nvPr/>
          </p:nvSpPr>
          <p:spPr>
            <a:xfrm>
              <a:off x="9163050" y="5791200"/>
              <a:ext cx="76200" cy="76200"/>
            </a:xfrm>
            <a:prstGeom prst="ellipse">
              <a:avLst/>
            </a:prstGeom>
            <a:solidFill>
              <a:srgbClr val="C45F4A"/>
            </a:solidFill>
            <a:ln>
              <a:noFill/>
            </a:ln>
          </p:spPr>
        </p:sp>
        <p:sp>
          <p:nvSpPr>
            <p:cNvPr id="101" name="Ellipse 101"/>
            <p:cNvSpPr/>
            <p:nvPr/>
          </p:nvSpPr>
          <p:spPr>
            <a:xfrm>
              <a:off x="11753850" y="5791200"/>
              <a:ext cx="76200" cy="76200"/>
            </a:xfrm>
            <a:prstGeom prst="ellipse">
              <a:avLst/>
            </a:prstGeom>
            <a:solidFill>
              <a:srgbClr val="C45F4A"/>
            </a:solidFill>
            <a:ln>
              <a:noFill/>
            </a:ln>
          </p:spPr>
        </p:sp>
        <p:sp>
          <p:nvSpPr>
            <p:cNvPr id="102" name="Line 102"/>
            <p:cNvSpPr/>
            <p:nvPr/>
          </p:nvSpPr>
          <p:spPr>
            <a:xfrm>
              <a:off x="2733675" y="4895850"/>
              <a:ext cx="9525" cy="247650"/>
            </a:xfrm>
            <a:custGeom>
              <a:avLst/>
              <a:gdLst/>
              <a:ahLst/>
              <a:cxnLst/>
              <a:rect l="l" t="t" r="r" b="b"/>
              <a:pathLst>
                <a:path w="9525" h="247650">
                  <a:moveTo>
                    <a:pt x="0" y="0"/>
                  </a:moveTo>
                  <a:lnTo>
                    <a:pt x="0" y="247650"/>
                  </a:lnTo>
                </a:path>
              </a:pathLst>
            </a:custGeom>
            <a:noFill/>
            <a:ln w="9525">
              <a:solidFill>
                <a:srgbClr val="E8634C"/>
              </a:solidFill>
              <a:custDash>
                <a:ds d="300000" sp="300000"/>
              </a:custDash>
            </a:ln>
          </p:spPr>
        </p:sp>
        <p:sp>
          <p:nvSpPr>
            <p:cNvPr id="103" name="Line 103"/>
            <p:cNvSpPr/>
            <p:nvPr/>
          </p:nvSpPr>
          <p:spPr>
            <a:xfrm>
              <a:off x="5334000" y="4895850"/>
              <a:ext cx="9525" cy="247650"/>
            </a:xfrm>
            <a:custGeom>
              <a:avLst/>
              <a:gdLst/>
              <a:ahLst/>
              <a:cxnLst/>
              <a:rect l="l" t="t" r="r" b="b"/>
              <a:pathLst>
                <a:path w="9525" h="247650">
                  <a:moveTo>
                    <a:pt x="0" y="0"/>
                  </a:moveTo>
                  <a:lnTo>
                    <a:pt x="0" y="247650"/>
                  </a:lnTo>
                </a:path>
              </a:pathLst>
            </a:custGeom>
            <a:noFill/>
            <a:ln w="9525">
              <a:solidFill>
                <a:srgbClr val="E8634C"/>
              </a:solidFill>
              <a:custDash>
                <a:ds d="300000" sp="300000"/>
              </a:custDash>
            </a:ln>
          </p:spPr>
        </p:sp>
        <p:sp>
          <p:nvSpPr>
            <p:cNvPr id="104" name="Line 104"/>
            <p:cNvSpPr/>
            <p:nvPr/>
          </p:nvSpPr>
          <p:spPr>
            <a:xfrm>
              <a:off x="7924800" y="4895850"/>
              <a:ext cx="9525" cy="247650"/>
            </a:xfrm>
            <a:custGeom>
              <a:avLst/>
              <a:gdLst/>
              <a:ahLst/>
              <a:cxnLst/>
              <a:rect l="l" t="t" r="r" b="b"/>
              <a:pathLst>
                <a:path w="9525" h="247650">
                  <a:moveTo>
                    <a:pt x="0" y="0"/>
                  </a:moveTo>
                  <a:lnTo>
                    <a:pt x="0" y="247650"/>
                  </a:lnTo>
                </a:path>
              </a:pathLst>
            </a:custGeom>
            <a:noFill/>
            <a:ln w="9525">
              <a:solidFill>
                <a:srgbClr val="E8634C"/>
              </a:solidFill>
              <a:custDash>
                <a:ds d="300000" sp="300000"/>
              </a:custDash>
            </a:ln>
          </p:spPr>
        </p:sp>
        <p:sp>
          <p:nvSpPr>
            <p:cNvPr id="105" name="Line 105"/>
            <p:cNvSpPr/>
            <p:nvPr/>
          </p:nvSpPr>
          <p:spPr>
            <a:xfrm>
              <a:off x="10525125" y="4895850"/>
              <a:ext cx="9525" cy="247650"/>
            </a:xfrm>
            <a:custGeom>
              <a:avLst/>
              <a:gdLst/>
              <a:ahLst/>
              <a:cxnLst/>
              <a:rect l="l" t="t" r="r" b="b"/>
              <a:pathLst>
                <a:path w="9525" h="247650">
                  <a:moveTo>
                    <a:pt x="0" y="0"/>
                  </a:moveTo>
                  <a:lnTo>
                    <a:pt x="0" y="247650"/>
                  </a:lnTo>
                </a:path>
              </a:pathLst>
            </a:custGeom>
            <a:noFill/>
            <a:ln w="9525">
              <a:solidFill>
                <a:srgbClr val="E8634C"/>
              </a:solidFill>
              <a:custDash>
                <a:ds d="300000" sp="300000"/>
              </a:custDash>
            </a:ln>
          </p:spPr>
        </p:sp>
        <p:sp>
          <p:nvSpPr>
            <p:cNvPr id="106" name="Rectangle 106"/>
            <p:cNvSpPr/>
            <p:nvPr/>
          </p:nvSpPr>
          <p:spPr>
            <a:xfrm>
              <a:off x="1781175" y="5162550"/>
              <a:ext cx="1905000" cy="342900"/>
            </a:xfrm>
            <a:prstGeom prst="roundRect">
              <a:avLst>
                <a:gd name="adj" fmla="val 16667"/>
              </a:avLst>
            </a:prstGeom>
            <a:noFill/>
            <a:ln w="14288">
              <a:solidFill>
                <a:srgbClr val="E8634C"/>
              </a:solidFill>
              <a:custDash>
                <a:ds d="400000" sp="266667"/>
              </a:custDash>
            </a:ln>
          </p:spPr>
        </p:sp>
        <p:sp>
          <p:nvSpPr>
            <p:cNvPr id="107" name="TextBox 107"/>
            <p:cNvSpPr txBox="1"/>
            <p:nvPr/>
          </p:nvSpPr>
          <p:spPr>
            <a:xfrm>
              <a:off x="2372502" y="5269706"/>
              <a:ext cx="722346" cy="220028"/>
            </a:xfrm>
            <a:prstGeom prst="rect">
              <a:avLst/>
            </a:prstGeom>
            <a:noFill/>
            <a:ln>
              <a:noFill/>
            </a:ln>
          </p:spPr>
          <p:txBody>
            <a:bodyPr wrap="none" lIns="0" tIns="0" rIns="0" bIns="0" anchor="t" anchorCtr="0">
              <a:spAutoFit/>
            </a:bodyPr>
            <a:lstStyle/>
            <a:p>
              <a:pPr algn="ctr"/>
              <a:r>
                <a:rPr lang="en-US" sz="1120" b="1" dirty="0">
                  <a:solidFill>
                    <a:srgbClr val="E8634C"/>
                  </a:solidFill>
                  <a:latin typeface="+mn-lt"/>
                  <a:ea typeface="+mn-ea"/>
                  <a:cs typeface="+mn-cs"/>
                </a:rPr>
                <a:t>W1-W3​​</a:t>
              </a:r>
            </a:p>
          </p:txBody>
        </p:sp>
        <p:sp>
          <p:nvSpPr>
            <p:cNvPr id="108" name="Rectangle 108"/>
            <p:cNvSpPr/>
            <p:nvPr/>
          </p:nvSpPr>
          <p:spPr>
            <a:xfrm>
              <a:off x="4381500" y="5162550"/>
              <a:ext cx="1905000" cy="342900"/>
            </a:xfrm>
            <a:prstGeom prst="roundRect">
              <a:avLst>
                <a:gd name="adj" fmla="val 16667"/>
              </a:avLst>
            </a:prstGeom>
            <a:noFill/>
            <a:ln w="14288">
              <a:solidFill>
                <a:srgbClr val="E8634C"/>
              </a:solidFill>
              <a:custDash>
                <a:ds d="400000" sp="266667"/>
              </a:custDash>
            </a:ln>
          </p:spPr>
        </p:sp>
        <p:sp>
          <p:nvSpPr>
            <p:cNvPr id="109" name="TextBox 109"/>
            <p:cNvSpPr txBox="1"/>
            <p:nvPr/>
          </p:nvSpPr>
          <p:spPr>
            <a:xfrm>
              <a:off x="4972827" y="5269706"/>
              <a:ext cx="722346" cy="220028"/>
            </a:xfrm>
            <a:prstGeom prst="rect">
              <a:avLst/>
            </a:prstGeom>
            <a:noFill/>
            <a:ln>
              <a:noFill/>
            </a:ln>
          </p:spPr>
          <p:txBody>
            <a:bodyPr wrap="none" lIns="0" tIns="0" rIns="0" bIns="0" anchor="t" anchorCtr="0">
              <a:spAutoFit/>
            </a:bodyPr>
            <a:lstStyle/>
            <a:p>
              <a:pPr algn="ctr"/>
              <a:r>
                <a:rPr lang="en-US" sz="1120" b="1" dirty="0">
                  <a:solidFill>
                    <a:srgbClr val="E8634C"/>
                  </a:solidFill>
                  <a:latin typeface="+mn-lt"/>
                  <a:ea typeface="+mn-ea"/>
                  <a:cs typeface="+mn-cs"/>
                </a:rPr>
                <a:t>W4-W9​​</a:t>
              </a:r>
            </a:p>
          </p:txBody>
        </p:sp>
        <p:sp>
          <p:nvSpPr>
            <p:cNvPr id="110" name="Rectangle 110"/>
            <p:cNvSpPr/>
            <p:nvPr/>
          </p:nvSpPr>
          <p:spPr>
            <a:xfrm>
              <a:off x="6972300" y="5162550"/>
              <a:ext cx="1905000" cy="342900"/>
            </a:xfrm>
            <a:prstGeom prst="roundRect">
              <a:avLst>
                <a:gd name="adj" fmla="val 16667"/>
              </a:avLst>
            </a:prstGeom>
            <a:noFill/>
            <a:ln w="14288">
              <a:solidFill>
                <a:srgbClr val="E8634C"/>
              </a:solidFill>
              <a:custDash>
                <a:ds d="400000" sp="266667"/>
              </a:custDash>
            </a:ln>
          </p:spPr>
        </p:sp>
        <p:sp>
          <p:nvSpPr>
            <p:cNvPr id="111" name="TextBox 111"/>
            <p:cNvSpPr txBox="1"/>
            <p:nvPr/>
          </p:nvSpPr>
          <p:spPr>
            <a:xfrm>
              <a:off x="7471626" y="5269706"/>
              <a:ext cx="906347" cy="220028"/>
            </a:xfrm>
            <a:prstGeom prst="rect">
              <a:avLst/>
            </a:prstGeom>
            <a:noFill/>
            <a:ln>
              <a:noFill/>
            </a:ln>
          </p:spPr>
          <p:txBody>
            <a:bodyPr wrap="none" lIns="0" tIns="0" rIns="0" bIns="0" anchor="t" anchorCtr="0">
              <a:spAutoFit/>
            </a:bodyPr>
            <a:lstStyle/>
            <a:p>
              <a:pPr algn="ctr"/>
              <a:r>
                <a:rPr lang="en-US" sz="1120" b="1" dirty="0">
                  <a:solidFill>
                    <a:srgbClr val="E8634C"/>
                  </a:solidFill>
                  <a:latin typeface="+mn-lt"/>
                  <a:ea typeface="+mn-ea"/>
                  <a:cs typeface="+mn-cs"/>
                </a:rPr>
                <a:t>W10-W12​​</a:t>
              </a:r>
            </a:p>
          </p:txBody>
        </p:sp>
        <p:sp>
          <p:nvSpPr>
            <p:cNvPr id="112" name="Rectangle 112"/>
            <p:cNvSpPr/>
            <p:nvPr/>
          </p:nvSpPr>
          <p:spPr>
            <a:xfrm>
              <a:off x="9572625" y="5162550"/>
              <a:ext cx="1905000" cy="342900"/>
            </a:xfrm>
            <a:prstGeom prst="roundRect">
              <a:avLst>
                <a:gd name="adj" fmla="val 16667"/>
              </a:avLst>
            </a:prstGeom>
            <a:noFill/>
            <a:ln w="14288">
              <a:solidFill>
                <a:srgbClr val="E8634C"/>
              </a:solidFill>
              <a:custDash>
                <a:ds d="400000" sp="266667"/>
              </a:custDash>
            </a:ln>
          </p:spPr>
        </p:sp>
        <p:sp>
          <p:nvSpPr>
            <p:cNvPr id="113" name="TextBox 113"/>
            <p:cNvSpPr txBox="1"/>
            <p:nvPr/>
          </p:nvSpPr>
          <p:spPr>
            <a:xfrm>
              <a:off x="10071951" y="5269706"/>
              <a:ext cx="906347" cy="220028"/>
            </a:xfrm>
            <a:prstGeom prst="rect">
              <a:avLst/>
            </a:prstGeom>
            <a:noFill/>
            <a:ln>
              <a:noFill/>
            </a:ln>
          </p:spPr>
          <p:txBody>
            <a:bodyPr wrap="none" lIns="0" tIns="0" rIns="0" bIns="0" anchor="t" anchorCtr="0">
              <a:spAutoFit/>
            </a:bodyPr>
            <a:lstStyle/>
            <a:p>
              <a:pPr algn="ctr"/>
              <a:r>
                <a:rPr lang="en-US" sz="1120" b="1" dirty="0">
                  <a:solidFill>
                    <a:srgbClr val="E8634C"/>
                  </a:solidFill>
                  <a:latin typeface="+mn-lt"/>
                  <a:ea typeface="+mn-ea"/>
                  <a:cs typeface="+mn-cs"/>
                </a:rPr>
                <a:t>W12-W16​​</a:t>
              </a:r>
            </a:p>
          </p:txBody>
        </p:sp>
        <p:sp>
          <p:nvSpPr>
            <p:cNvPr id="114" name="TextBox 114"/>
            <p:cNvSpPr txBox="1"/>
            <p:nvPr/>
          </p:nvSpPr>
          <p:spPr>
            <a:xfrm>
              <a:off x="1408849" y="5949791"/>
              <a:ext cx="230302"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启动</a:t>
              </a:r>
            </a:p>
          </p:txBody>
        </p:sp>
        <p:sp>
          <p:nvSpPr>
            <p:cNvPr id="115" name="TextBox 115"/>
            <p:cNvSpPr txBox="1"/>
            <p:nvPr/>
          </p:nvSpPr>
          <p:spPr>
            <a:xfrm>
              <a:off x="3952024" y="5949791"/>
              <a:ext cx="230302"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开发</a:t>
              </a:r>
            </a:p>
          </p:txBody>
        </p:sp>
        <p:sp>
          <p:nvSpPr>
            <p:cNvPr id="116" name="TextBox 116"/>
            <p:cNvSpPr txBox="1"/>
            <p:nvPr/>
          </p:nvSpPr>
          <p:spPr>
            <a:xfrm>
              <a:off x="6375286" y="5949791"/>
              <a:ext cx="451079"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平台实施</a:t>
              </a:r>
            </a:p>
          </p:txBody>
        </p:sp>
        <p:sp>
          <p:nvSpPr>
            <p:cNvPr id="117" name="TextBox 117"/>
            <p:cNvSpPr txBox="1"/>
            <p:nvPr/>
          </p:nvSpPr>
          <p:spPr>
            <a:xfrm>
              <a:off x="8975611" y="5949791"/>
              <a:ext cx="451079"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上线验收</a:t>
              </a:r>
            </a:p>
          </p:txBody>
        </p:sp>
      </p:gr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76​​</a:t>
              </a:r>
            </a:p>
          </p:txBody>
        </p:sp>
        <p:sp>
          <p:nvSpPr>
            <p:cNvPr id="4" name="TextBox 4"/>
            <p:cNvSpPr txBox="1"/>
            <p:nvPr/>
          </p:nvSpPr>
          <p:spPr>
            <a:xfrm>
              <a:off x="942594" y="151448"/>
              <a:ext cx="295367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电商平台销售数据分析​</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4" name="kpi-bar-1"/>
          <p:cNvGrpSpPr/>
          <p:nvPr/>
        </p:nvGrpSpPr>
        <p:grpSpPr>
          <a:xfrm>
            <a:off x="342900" y="904875"/>
            <a:ext cx="3657600" cy="561404"/>
            <a:chOff x="342900" y="904875"/>
            <a:chExt cx="3657600" cy="561404"/>
          </a:xfrm>
        </p:grpSpPr>
        <p:sp>
          <p:nvSpPr>
            <p:cNvPr id="7" name="Rectangle 7"/>
            <p:cNvSpPr/>
            <p:nvPr/>
          </p:nvSpPr>
          <p:spPr>
            <a:xfrm>
              <a:off x="342900" y="904875"/>
              <a:ext cx="3657600" cy="552450"/>
            </a:xfrm>
            <a:prstGeom prst="roundRect">
              <a:avLst>
                <a:gd name="adj" fmla="val 13793"/>
              </a:avLst>
            </a:prstGeom>
            <a:gradFill>
              <a:gsLst>
                <a:gs pos="0">
                  <a:srgbClr val="CC6955"/>
                </a:gs>
                <a:gs pos="100000">
                  <a:srgbClr val="B8503B"/>
                </a:gs>
              </a:gsLst>
              <a:lin ang="0" scaled="1"/>
            </a:gradFill>
            <a:ln>
              <a:noFill/>
            </a:ln>
          </p:spPr>
        </p:sp>
        <p:sp>
          <p:nvSpPr>
            <p:cNvPr id="8" name="Polygon 8"/>
            <p:cNvSpPr/>
            <p:nvPr/>
          </p:nvSpPr>
          <p:spPr>
            <a:xfrm>
              <a:off x="514350" y="1162050"/>
              <a:ext cx="152400" cy="133350"/>
            </a:xfrm>
            <a:custGeom>
              <a:avLst/>
              <a:gdLst/>
              <a:ahLst/>
              <a:cxnLst/>
              <a:rect l="l" t="t" r="r" b="b"/>
              <a:pathLst>
                <a:path w="152400" h="133350">
                  <a:moveTo>
                    <a:pt x="0" y="133350"/>
                  </a:moveTo>
                  <a:lnTo>
                    <a:pt x="152400" y="133350"/>
                  </a:lnTo>
                  <a:lnTo>
                    <a:pt x="76200" y="0"/>
                  </a:lnTo>
                  <a:close/>
                </a:path>
              </a:pathLst>
            </a:custGeom>
            <a:solidFill>
              <a:srgbClr val="FFFFFF"/>
            </a:solidFill>
            <a:ln>
              <a:noFill/>
            </a:ln>
          </p:spPr>
        </p:sp>
        <p:sp>
          <p:nvSpPr>
            <p:cNvPr id="9" name="TextBox 9"/>
            <p:cNvSpPr txBox="1"/>
            <p:nvPr/>
          </p:nvSpPr>
          <p:spPr>
            <a:xfrm>
              <a:off x="794385" y="102155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销售总额</a:t>
              </a:r>
            </a:p>
          </p:txBody>
        </p:sp>
        <p:sp>
          <p:nvSpPr>
            <p:cNvPr id="10" name="TextBox 10"/>
            <p:cNvSpPr txBox="1"/>
            <p:nvPr/>
          </p:nvSpPr>
          <p:spPr>
            <a:xfrm>
              <a:off x="795338" y="1256586"/>
              <a:ext cx="678586" cy="140494"/>
            </a:xfrm>
            <a:prstGeom prst="rect">
              <a:avLst/>
            </a:prstGeom>
            <a:noFill/>
            <a:ln>
              <a:noFill/>
            </a:ln>
          </p:spPr>
          <p:txBody>
            <a:bodyPr wrap="none" lIns="0" tIns="0" rIns="0" bIns="0" anchor="t" anchorCtr="0">
              <a:spAutoFit/>
            </a:bodyPr>
            <a:lstStyle/>
            <a:p>
              <a:pPr algn="l"/>
              <a:r>
                <a:rPr lang="zh-CN" sz="710" dirty="0">
                  <a:solidFill>
                    <a:srgbClr val="D8DEF2"/>
                  </a:solidFill>
                  <a:latin typeface="+mn-lt"/>
                  <a:ea typeface="+mn-ea"/>
                  <a:cs typeface="+mn-cs"/>
                </a:rPr>
                <a:t>全平台总成交额</a:t>
              </a:r>
            </a:p>
          </p:txBody>
        </p:sp>
        <p:sp>
          <p:nvSpPr>
            <p:cNvPr id="11" name="Line 11"/>
            <p:cNvSpPr/>
            <p:nvPr/>
          </p:nvSpPr>
          <p:spPr>
            <a:xfrm>
              <a:off x="2495550" y="1009650"/>
              <a:ext cx="9525" cy="342900"/>
            </a:xfrm>
            <a:custGeom>
              <a:avLst/>
              <a:gdLst/>
              <a:ahLst/>
              <a:cxnLst/>
              <a:rect l="l" t="t" r="r" b="b"/>
              <a:pathLst>
                <a:path w="9525" h="342900">
                  <a:moveTo>
                    <a:pt x="0" y="0"/>
                  </a:moveTo>
                  <a:lnTo>
                    <a:pt x="0" y="342900"/>
                  </a:lnTo>
                </a:path>
              </a:pathLst>
            </a:custGeom>
            <a:noFill/>
            <a:ln w="9525">
              <a:solidFill>
                <a:srgbClr val="E08C7B"/>
              </a:solidFill>
            </a:ln>
          </p:spPr>
        </p:sp>
        <p:sp>
          <p:nvSpPr>
            <p:cNvPr id="12" name="TextBox 12"/>
            <p:cNvSpPr txBox="1"/>
            <p:nvPr/>
          </p:nvSpPr>
          <p:spPr>
            <a:xfrm>
              <a:off x="2676144" y="1084898"/>
              <a:ext cx="1040316" cy="381381"/>
            </a:xfrm>
            <a:prstGeom prst="rect">
              <a:avLst/>
            </a:prstGeom>
            <a:noFill/>
            <a:ln>
              <a:noFill/>
            </a:ln>
          </p:spPr>
          <p:txBody>
            <a:bodyPr wrap="none" lIns="0" tIns="0" rIns="0" bIns="0" anchor="t" anchorCtr="0">
              <a:spAutoFit/>
            </a:bodyPr>
            <a:lstStyle/>
            <a:p>
              <a:pPr algn="l"/>
              <a:r>
                <a:rPr lang="zh-CN" sz="1950" b="1" dirty="0">
                  <a:solidFill>
                    <a:srgbClr val="FFFFFF"/>
                  </a:solidFill>
                  <a:latin typeface="+mn-lt"/>
                  <a:ea typeface="+mn-ea"/>
                  <a:cs typeface="+mn-cs"/>
                </a:rPr>
                <a:t>1.2亿​​</a:t>
              </a:r>
            </a:p>
          </p:txBody>
        </p:sp>
        <p:sp>
          <p:nvSpPr>
            <p:cNvPr id="13" name="Freeform 13"/>
            <p:cNvSpPr/>
            <p:nvPr/>
          </p:nvSpPr>
          <p:spPr>
            <a:xfrm>
              <a:off x="3486150" y="1104900"/>
              <a:ext cx="285750" cy="247650"/>
            </a:xfrm>
            <a:custGeom>
              <a:avLst/>
              <a:gdLst/>
              <a:ahLst/>
              <a:cxnLst/>
              <a:rect l="l" t="t" r="r" b="b"/>
              <a:pathLst>
                <a:path w="285750" h="247650">
                  <a:moveTo>
                    <a:pt x="0" y="247650"/>
                  </a:moveTo>
                  <a:cubicBezTo>
                    <a:pt x="88900" y="120650"/>
                    <a:pt x="184150" y="38100"/>
                    <a:pt x="285750" y="0"/>
                  </a:cubicBezTo>
                </a:path>
              </a:pathLst>
            </a:custGeom>
            <a:noFill/>
            <a:ln w="23812">
              <a:solidFill>
                <a:srgbClr val="FFFFFF"/>
              </a:solidFill>
              <a:tailEnd type="triangle" w="lg" len="lg"/>
            </a:ln>
          </p:spPr>
        </p:sp>
      </p:grpSp>
      <p:grpSp>
        <p:nvGrpSpPr>
          <p:cNvPr id="22" name="kpi-bar-2"/>
          <p:cNvGrpSpPr/>
          <p:nvPr/>
        </p:nvGrpSpPr>
        <p:grpSpPr>
          <a:xfrm>
            <a:off x="4267200" y="904875"/>
            <a:ext cx="3657600" cy="561404"/>
            <a:chOff x="4267200" y="904875"/>
            <a:chExt cx="3657600" cy="561404"/>
          </a:xfrm>
        </p:grpSpPr>
        <p:sp>
          <p:nvSpPr>
            <p:cNvPr id="15" name="Rectangle 15"/>
            <p:cNvSpPr/>
            <p:nvPr/>
          </p:nvSpPr>
          <p:spPr>
            <a:xfrm>
              <a:off x="4267200" y="904875"/>
              <a:ext cx="3657600" cy="552450"/>
            </a:xfrm>
            <a:prstGeom prst="roundRect">
              <a:avLst>
                <a:gd name="adj" fmla="val 13793"/>
              </a:avLst>
            </a:prstGeom>
            <a:gradFill>
              <a:gsLst>
                <a:gs pos="0">
                  <a:srgbClr val="CC6955"/>
                </a:gs>
                <a:gs pos="100000">
                  <a:srgbClr val="B8503B"/>
                </a:gs>
              </a:gsLst>
              <a:lin ang="0" scaled="1"/>
            </a:gradFill>
            <a:ln>
              <a:noFill/>
            </a:ln>
          </p:spPr>
        </p:sp>
        <p:sp>
          <p:nvSpPr>
            <p:cNvPr id="16" name="Polygon 16"/>
            <p:cNvSpPr/>
            <p:nvPr/>
          </p:nvSpPr>
          <p:spPr>
            <a:xfrm>
              <a:off x="4438650" y="1162050"/>
              <a:ext cx="152400" cy="133350"/>
            </a:xfrm>
            <a:custGeom>
              <a:avLst/>
              <a:gdLst/>
              <a:ahLst/>
              <a:cxnLst/>
              <a:rect l="l" t="t" r="r" b="b"/>
              <a:pathLst>
                <a:path w="152400" h="133350">
                  <a:moveTo>
                    <a:pt x="0" y="133350"/>
                  </a:moveTo>
                  <a:lnTo>
                    <a:pt x="152400" y="133350"/>
                  </a:lnTo>
                  <a:lnTo>
                    <a:pt x="76200" y="0"/>
                  </a:lnTo>
                  <a:close/>
                </a:path>
              </a:pathLst>
            </a:custGeom>
            <a:solidFill>
              <a:srgbClr val="FFFFFF"/>
            </a:solidFill>
            <a:ln>
              <a:noFill/>
            </a:ln>
          </p:spPr>
        </p:sp>
        <p:sp>
          <p:nvSpPr>
            <p:cNvPr id="17" name="TextBox 17"/>
            <p:cNvSpPr txBox="1"/>
            <p:nvPr/>
          </p:nvSpPr>
          <p:spPr>
            <a:xfrm>
              <a:off x="4718685" y="1021556"/>
              <a:ext cx="463070"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ROI​​</a:t>
              </a:r>
            </a:p>
          </p:txBody>
        </p:sp>
        <p:sp>
          <p:nvSpPr>
            <p:cNvPr id="18" name="TextBox 18"/>
            <p:cNvSpPr txBox="1"/>
            <p:nvPr/>
          </p:nvSpPr>
          <p:spPr>
            <a:xfrm>
              <a:off x="4719638" y="1256586"/>
              <a:ext cx="754149" cy="140494"/>
            </a:xfrm>
            <a:prstGeom prst="rect">
              <a:avLst/>
            </a:prstGeom>
            <a:noFill/>
            <a:ln>
              <a:noFill/>
            </a:ln>
          </p:spPr>
          <p:txBody>
            <a:bodyPr wrap="none" lIns="0" tIns="0" rIns="0" bIns="0" anchor="t" anchorCtr="0">
              <a:spAutoFit/>
            </a:bodyPr>
            <a:lstStyle/>
            <a:p>
              <a:pPr algn="l"/>
              <a:r>
                <a:rPr lang="zh-CN" sz="710" dirty="0">
                  <a:solidFill>
                    <a:srgbClr val="D8DEF2"/>
                  </a:solidFill>
                  <a:latin typeface="+mn-lt"/>
                  <a:ea typeface="+mn-ea"/>
                  <a:cs typeface="+mn-cs"/>
                </a:rPr>
                <a:t>全平台ROI增加​​</a:t>
              </a:r>
            </a:p>
          </p:txBody>
        </p:sp>
        <p:sp>
          <p:nvSpPr>
            <p:cNvPr id="19" name="Line 19"/>
            <p:cNvSpPr/>
            <p:nvPr/>
          </p:nvSpPr>
          <p:spPr>
            <a:xfrm>
              <a:off x="6419850" y="1009650"/>
              <a:ext cx="9525" cy="342900"/>
            </a:xfrm>
            <a:custGeom>
              <a:avLst/>
              <a:gdLst/>
              <a:ahLst/>
              <a:cxnLst/>
              <a:rect l="l" t="t" r="r" b="b"/>
              <a:pathLst>
                <a:path w="9525" h="342900">
                  <a:moveTo>
                    <a:pt x="0" y="0"/>
                  </a:moveTo>
                  <a:lnTo>
                    <a:pt x="0" y="342900"/>
                  </a:lnTo>
                </a:path>
              </a:pathLst>
            </a:custGeom>
            <a:noFill/>
            <a:ln w="9525">
              <a:solidFill>
                <a:srgbClr val="E08C7B"/>
              </a:solidFill>
            </a:ln>
          </p:spPr>
        </p:sp>
        <p:sp>
          <p:nvSpPr>
            <p:cNvPr id="20" name="TextBox 20"/>
            <p:cNvSpPr txBox="1"/>
            <p:nvPr/>
          </p:nvSpPr>
          <p:spPr>
            <a:xfrm>
              <a:off x="6600444" y="1084898"/>
              <a:ext cx="832934" cy="381381"/>
            </a:xfrm>
            <a:prstGeom prst="rect">
              <a:avLst/>
            </a:prstGeom>
            <a:noFill/>
            <a:ln>
              <a:noFill/>
            </a:ln>
          </p:spPr>
          <p:txBody>
            <a:bodyPr wrap="none" lIns="0" tIns="0" rIns="0" bIns="0" anchor="t" anchorCtr="0">
              <a:spAutoFit/>
            </a:bodyPr>
            <a:lstStyle/>
            <a:p>
              <a:pPr algn="l"/>
              <a:r>
                <a:rPr lang="zh-CN" sz="1950" b="1" dirty="0">
                  <a:solidFill>
                    <a:srgbClr val="FFFFFF"/>
                  </a:solidFill>
                  <a:latin typeface="+mn-lt"/>
                  <a:ea typeface="+mn-ea"/>
                  <a:cs typeface="+mn-cs"/>
                </a:rPr>
                <a:t>12%​​</a:t>
              </a:r>
            </a:p>
          </p:txBody>
        </p:sp>
        <p:sp>
          <p:nvSpPr>
            <p:cNvPr id="21" name="Freeform 21"/>
            <p:cNvSpPr/>
            <p:nvPr/>
          </p:nvSpPr>
          <p:spPr>
            <a:xfrm>
              <a:off x="7410450" y="1104900"/>
              <a:ext cx="285750" cy="247650"/>
            </a:xfrm>
            <a:custGeom>
              <a:avLst/>
              <a:gdLst/>
              <a:ahLst/>
              <a:cxnLst/>
              <a:rect l="l" t="t" r="r" b="b"/>
              <a:pathLst>
                <a:path w="285750" h="247650">
                  <a:moveTo>
                    <a:pt x="0" y="247650"/>
                  </a:moveTo>
                  <a:cubicBezTo>
                    <a:pt x="88900" y="120650"/>
                    <a:pt x="184150" y="38100"/>
                    <a:pt x="285750" y="0"/>
                  </a:cubicBezTo>
                </a:path>
              </a:pathLst>
            </a:custGeom>
            <a:noFill/>
            <a:ln w="23812">
              <a:solidFill>
                <a:srgbClr val="FFFFFF"/>
              </a:solidFill>
              <a:tailEnd type="triangle" w="lg" len="lg"/>
            </a:ln>
          </p:spPr>
        </p:sp>
      </p:grpSp>
      <p:grpSp>
        <p:nvGrpSpPr>
          <p:cNvPr id="30" name="kpi-bar-3"/>
          <p:cNvGrpSpPr/>
          <p:nvPr/>
        </p:nvGrpSpPr>
        <p:grpSpPr>
          <a:xfrm>
            <a:off x="8191500" y="904875"/>
            <a:ext cx="3657600" cy="561404"/>
            <a:chOff x="8191500" y="904875"/>
            <a:chExt cx="3657600" cy="561404"/>
          </a:xfrm>
        </p:grpSpPr>
        <p:sp>
          <p:nvSpPr>
            <p:cNvPr id="23" name="Rectangle 23"/>
            <p:cNvSpPr/>
            <p:nvPr/>
          </p:nvSpPr>
          <p:spPr>
            <a:xfrm>
              <a:off x="8191500" y="904875"/>
              <a:ext cx="3657600" cy="552450"/>
            </a:xfrm>
            <a:prstGeom prst="roundRect">
              <a:avLst>
                <a:gd name="adj" fmla="val 13793"/>
              </a:avLst>
            </a:prstGeom>
            <a:gradFill>
              <a:gsLst>
                <a:gs pos="0">
                  <a:srgbClr val="CC6955"/>
                </a:gs>
                <a:gs pos="100000">
                  <a:srgbClr val="B8503B"/>
                </a:gs>
              </a:gsLst>
              <a:lin ang="0" scaled="1"/>
            </a:gradFill>
            <a:ln>
              <a:noFill/>
            </a:ln>
          </p:spPr>
        </p:sp>
        <p:sp>
          <p:nvSpPr>
            <p:cNvPr id="24" name="Polygon 24"/>
            <p:cNvSpPr/>
            <p:nvPr/>
          </p:nvSpPr>
          <p:spPr>
            <a:xfrm>
              <a:off x="8362950" y="1162050"/>
              <a:ext cx="152400" cy="133350"/>
            </a:xfrm>
            <a:custGeom>
              <a:avLst/>
              <a:gdLst/>
              <a:ahLst/>
              <a:cxnLst/>
              <a:rect l="l" t="t" r="r" b="b"/>
              <a:pathLst>
                <a:path w="152400" h="133350">
                  <a:moveTo>
                    <a:pt x="0" y="133350"/>
                  </a:moveTo>
                  <a:lnTo>
                    <a:pt x="152400" y="133350"/>
                  </a:lnTo>
                  <a:lnTo>
                    <a:pt x="76200" y="0"/>
                  </a:lnTo>
                  <a:close/>
                </a:path>
              </a:pathLst>
            </a:custGeom>
            <a:solidFill>
              <a:srgbClr val="FFFFFF"/>
            </a:solidFill>
            <a:ln>
              <a:noFill/>
            </a:ln>
          </p:spPr>
        </p:sp>
        <p:sp>
          <p:nvSpPr>
            <p:cNvPr id="25" name="TextBox 25"/>
            <p:cNvSpPr txBox="1"/>
            <p:nvPr/>
          </p:nvSpPr>
          <p:spPr>
            <a:xfrm>
              <a:off x="8642985" y="1021556"/>
              <a:ext cx="463753"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订单量</a:t>
              </a:r>
            </a:p>
          </p:txBody>
        </p:sp>
        <p:sp>
          <p:nvSpPr>
            <p:cNvPr id="26" name="TextBox 26"/>
            <p:cNvSpPr txBox="1"/>
            <p:nvPr/>
          </p:nvSpPr>
          <p:spPr>
            <a:xfrm>
              <a:off x="8643938" y="1256586"/>
              <a:ext cx="1194719" cy="140494"/>
            </a:xfrm>
            <a:prstGeom prst="rect">
              <a:avLst/>
            </a:prstGeom>
            <a:noFill/>
            <a:ln>
              <a:noFill/>
            </a:ln>
          </p:spPr>
          <p:txBody>
            <a:bodyPr wrap="none" lIns="0" tIns="0" rIns="0" bIns="0" anchor="t" anchorCtr="0">
              <a:spAutoFit/>
            </a:bodyPr>
            <a:lstStyle/>
            <a:p>
              <a:pPr algn="l"/>
              <a:r>
                <a:rPr lang="zh-CN" sz="710" dirty="0">
                  <a:solidFill>
                    <a:srgbClr val="D8DEF2"/>
                  </a:solidFill>
                  <a:latin typeface="+mn-lt"/>
                  <a:ea typeface="+mn-ea"/>
                  <a:cs typeface="+mn-cs"/>
                </a:rPr>
                <a:t>全平台订单量同比增加2%​​</a:t>
              </a:r>
            </a:p>
          </p:txBody>
        </p:sp>
        <p:sp>
          <p:nvSpPr>
            <p:cNvPr id="27" name="Line 27"/>
            <p:cNvSpPr/>
            <p:nvPr/>
          </p:nvSpPr>
          <p:spPr>
            <a:xfrm>
              <a:off x="10344150" y="1009650"/>
              <a:ext cx="9525" cy="342900"/>
            </a:xfrm>
            <a:custGeom>
              <a:avLst/>
              <a:gdLst/>
              <a:ahLst/>
              <a:cxnLst/>
              <a:rect l="l" t="t" r="r" b="b"/>
              <a:pathLst>
                <a:path w="9525" h="342900">
                  <a:moveTo>
                    <a:pt x="0" y="0"/>
                  </a:moveTo>
                  <a:lnTo>
                    <a:pt x="0" y="342900"/>
                  </a:lnTo>
                </a:path>
              </a:pathLst>
            </a:custGeom>
            <a:noFill/>
            <a:ln w="9525">
              <a:solidFill>
                <a:srgbClr val="E08C7B"/>
              </a:solidFill>
            </a:ln>
          </p:spPr>
        </p:sp>
        <p:sp>
          <p:nvSpPr>
            <p:cNvPr id="28" name="TextBox 28"/>
            <p:cNvSpPr txBox="1"/>
            <p:nvPr/>
          </p:nvSpPr>
          <p:spPr>
            <a:xfrm>
              <a:off x="10524744" y="1084898"/>
              <a:ext cx="1040316" cy="381381"/>
            </a:xfrm>
            <a:prstGeom prst="rect">
              <a:avLst/>
            </a:prstGeom>
            <a:noFill/>
            <a:ln>
              <a:noFill/>
            </a:ln>
          </p:spPr>
          <p:txBody>
            <a:bodyPr wrap="none" lIns="0" tIns="0" rIns="0" bIns="0" anchor="t" anchorCtr="0">
              <a:spAutoFit/>
            </a:bodyPr>
            <a:lstStyle/>
            <a:p>
              <a:pPr algn="l"/>
              <a:r>
                <a:rPr lang="zh-CN" sz="1950" b="1" dirty="0">
                  <a:solidFill>
                    <a:srgbClr val="FFFFFF"/>
                  </a:solidFill>
                  <a:latin typeface="+mn-lt"/>
                  <a:ea typeface="+mn-ea"/>
                  <a:cs typeface="+mn-cs"/>
                </a:rPr>
                <a:t>200万​​</a:t>
              </a:r>
            </a:p>
          </p:txBody>
        </p:sp>
        <p:sp>
          <p:nvSpPr>
            <p:cNvPr id="29" name="Freeform 29"/>
            <p:cNvSpPr/>
            <p:nvPr/>
          </p:nvSpPr>
          <p:spPr>
            <a:xfrm>
              <a:off x="11334750" y="1104900"/>
              <a:ext cx="285750" cy="247650"/>
            </a:xfrm>
            <a:custGeom>
              <a:avLst/>
              <a:gdLst/>
              <a:ahLst/>
              <a:cxnLst/>
              <a:rect l="l" t="t" r="r" b="b"/>
              <a:pathLst>
                <a:path w="285750" h="247650">
                  <a:moveTo>
                    <a:pt x="0" y="247650"/>
                  </a:moveTo>
                  <a:cubicBezTo>
                    <a:pt x="88900" y="120650"/>
                    <a:pt x="184150" y="38100"/>
                    <a:pt x="285750" y="0"/>
                  </a:cubicBezTo>
                </a:path>
              </a:pathLst>
            </a:custGeom>
            <a:noFill/>
            <a:ln w="23812">
              <a:solidFill>
                <a:srgbClr val="FFFFFF"/>
              </a:solidFill>
              <a:tailEnd type="triangle" w="lg" len="lg"/>
            </a:ln>
          </p:spPr>
        </p:sp>
      </p:grpSp>
      <p:grpSp>
        <p:nvGrpSpPr>
          <p:cNvPr id="47" name="trend-douyin"/>
          <p:cNvGrpSpPr/>
          <p:nvPr/>
        </p:nvGrpSpPr>
        <p:grpSpPr>
          <a:xfrm>
            <a:off x="342900" y="1543050"/>
            <a:ext cx="3657600" cy="1638300"/>
            <a:chOff x="342900" y="1543050"/>
            <a:chExt cx="3657600" cy="1638300"/>
          </a:xfrm>
        </p:grpSpPr>
        <p:sp>
          <p:nvSpPr>
            <p:cNvPr id="31" name="Rectangle 31"/>
            <p:cNvSpPr/>
            <p:nvPr/>
          </p:nvSpPr>
          <p:spPr>
            <a:xfrm>
              <a:off x="342900" y="1543050"/>
              <a:ext cx="3657600" cy="1638300"/>
            </a:xfrm>
            <a:prstGeom prst="roundRect">
              <a:avLst>
                <a:gd name="adj" fmla="val 4651"/>
              </a:avLst>
            </a:prstGeom>
            <a:solidFill>
              <a:srgbClr val="FFFFFF"/>
            </a:solidFill>
            <a:ln w="14288">
              <a:solidFill>
                <a:srgbClr val="E2E6F7"/>
              </a:solidFill>
            </a:ln>
          </p:spPr>
        </p:sp>
        <p:sp>
          <p:nvSpPr>
            <p:cNvPr id="32" name="TextBox 32"/>
            <p:cNvSpPr txBox="1"/>
            <p:nvPr/>
          </p:nvSpPr>
          <p:spPr>
            <a:xfrm>
              <a:off x="528638" y="1731645"/>
              <a:ext cx="736473" cy="176212"/>
            </a:xfrm>
            <a:prstGeom prst="rect">
              <a:avLst/>
            </a:prstGeom>
            <a:noFill/>
            <a:ln>
              <a:noFill/>
            </a:ln>
          </p:spPr>
          <p:txBody>
            <a:bodyPr wrap="none" lIns="0" tIns="0" rIns="0" bIns="0" anchor="t" anchorCtr="0">
              <a:spAutoFit/>
            </a:bodyPr>
            <a:lstStyle/>
            <a:p>
              <a:pPr algn="l"/>
              <a:r>
                <a:rPr lang="zh-CN" sz="900" dirty="0">
                  <a:solidFill>
                    <a:srgbClr val="88706B"/>
                  </a:solidFill>
                  <a:latin typeface="+mn-lt"/>
                  <a:ea typeface="+mn-ea"/>
                  <a:cs typeface="+mn-cs"/>
                </a:rPr>
                <a:t>抖音成交趋势</a:t>
              </a:r>
            </a:p>
          </p:txBody>
        </p:sp>
        <p:sp>
          <p:nvSpPr>
            <p:cNvPr id="33" name="TextBox 33"/>
            <p:cNvSpPr txBox="1"/>
            <p:nvPr/>
          </p:nvSpPr>
          <p:spPr>
            <a:xfrm>
              <a:off x="2934632" y="1691164"/>
              <a:ext cx="881845" cy="249364"/>
            </a:xfrm>
            <a:prstGeom prst="rect">
              <a:avLst/>
            </a:prstGeom>
            <a:noFill/>
            <a:ln>
              <a:noFill/>
            </a:ln>
          </p:spPr>
          <p:txBody>
            <a:bodyPr wrap="none" lIns="0" tIns="0" rIns="0" bIns="0" anchor="t" anchorCtr="0">
              <a:spAutoFit/>
            </a:bodyPr>
            <a:lstStyle/>
            <a:p>
              <a:pPr algn="r"/>
              <a:r>
                <a:rPr lang="zh-CN" sz="1280" b="1" dirty="0">
                  <a:solidFill>
                    <a:srgbClr val="E8634C"/>
                  </a:solidFill>
                  <a:latin typeface="+mn-lt"/>
                  <a:ea typeface="+mn-ea"/>
                  <a:cs typeface="+mn-cs"/>
                </a:rPr>
                <a:t>4,000万​​</a:t>
              </a:r>
            </a:p>
          </p:txBody>
        </p:sp>
        <p:sp>
          <p:nvSpPr>
            <p:cNvPr id="34" name="Freeform 34"/>
            <p:cNvSpPr/>
            <p:nvPr/>
          </p:nvSpPr>
          <p:spPr>
            <a:xfrm>
              <a:off x="533400" y="2171700"/>
              <a:ext cx="3257550" cy="781050"/>
            </a:xfrm>
            <a:custGeom>
              <a:avLst/>
              <a:gdLst/>
              <a:ahLst/>
              <a:cxnLst/>
              <a:rect l="l" t="t" r="r" b="b"/>
              <a:pathLst>
                <a:path w="3257550" h="781050">
                  <a:moveTo>
                    <a:pt x="0" y="781050"/>
                  </a:moveTo>
                  <a:lnTo>
                    <a:pt x="0" y="571500"/>
                  </a:lnTo>
                  <a:lnTo>
                    <a:pt x="276225" y="628650"/>
                  </a:lnTo>
                  <a:lnTo>
                    <a:pt x="552450" y="495300"/>
                  </a:lnTo>
                  <a:lnTo>
                    <a:pt x="828675" y="381000"/>
                  </a:lnTo>
                  <a:lnTo>
                    <a:pt x="1104900" y="304800"/>
                  </a:lnTo>
                  <a:lnTo>
                    <a:pt x="1381125" y="361950"/>
                  </a:lnTo>
                  <a:lnTo>
                    <a:pt x="1657350" y="266700"/>
                  </a:lnTo>
                  <a:lnTo>
                    <a:pt x="1933575" y="190500"/>
                  </a:lnTo>
                  <a:lnTo>
                    <a:pt x="2209800" y="133350"/>
                  </a:lnTo>
                  <a:lnTo>
                    <a:pt x="2486025" y="209550"/>
                  </a:lnTo>
                  <a:lnTo>
                    <a:pt x="2762250" y="95250"/>
                  </a:lnTo>
                  <a:lnTo>
                    <a:pt x="3038475" y="266700"/>
                  </a:lnTo>
                  <a:lnTo>
                    <a:pt x="3257550" y="0"/>
                  </a:lnTo>
                  <a:lnTo>
                    <a:pt x="3257550" y="781050"/>
                  </a:lnTo>
                  <a:close/>
                </a:path>
              </a:pathLst>
            </a:custGeom>
            <a:gradFill>
              <a:gsLst>
                <a:gs pos="0">
                  <a:srgbClr val="C45F4A">
                    <a:alpha val="80000"/>
                  </a:srgbClr>
                </a:gs>
                <a:gs pos="100000">
                  <a:srgbClr val="C45F4A">
                    <a:alpha val="5000"/>
                  </a:srgbClr>
                </a:gs>
              </a:gsLst>
              <a:lin ang="5400000" scaled="1"/>
            </a:gradFill>
            <a:ln>
              <a:noFill/>
            </a:ln>
          </p:spPr>
        </p:sp>
        <p:sp>
          <p:nvSpPr>
            <p:cNvPr id="35" name="TextBox 35"/>
            <p:cNvSpPr txBox="1"/>
            <p:nvPr/>
          </p:nvSpPr>
          <p:spPr>
            <a:xfrm>
              <a:off x="54069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1月​​</a:t>
              </a:r>
            </a:p>
          </p:txBody>
        </p:sp>
        <p:sp>
          <p:nvSpPr>
            <p:cNvPr id="36" name="TextBox 36"/>
            <p:cNvSpPr txBox="1"/>
            <p:nvPr/>
          </p:nvSpPr>
          <p:spPr>
            <a:xfrm>
              <a:off x="82644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2月​​</a:t>
              </a:r>
            </a:p>
          </p:txBody>
        </p:sp>
        <p:sp>
          <p:nvSpPr>
            <p:cNvPr id="37" name="TextBox 37"/>
            <p:cNvSpPr txBox="1"/>
            <p:nvPr/>
          </p:nvSpPr>
          <p:spPr>
            <a:xfrm>
              <a:off x="110267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3月​​</a:t>
              </a:r>
            </a:p>
          </p:txBody>
        </p:sp>
        <p:sp>
          <p:nvSpPr>
            <p:cNvPr id="38" name="TextBox 38"/>
            <p:cNvSpPr txBox="1"/>
            <p:nvPr/>
          </p:nvSpPr>
          <p:spPr>
            <a:xfrm>
              <a:off x="138842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4月​​</a:t>
              </a:r>
            </a:p>
          </p:txBody>
        </p:sp>
        <p:sp>
          <p:nvSpPr>
            <p:cNvPr id="39" name="TextBox 39"/>
            <p:cNvSpPr txBox="1"/>
            <p:nvPr/>
          </p:nvSpPr>
          <p:spPr>
            <a:xfrm>
              <a:off x="166464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5月​​</a:t>
              </a:r>
            </a:p>
          </p:txBody>
        </p:sp>
        <p:sp>
          <p:nvSpPr>
            <p:cNvPr id="40" name="TextBox 40"/>
            <p:cNvSpPr txBox="1"/>
            <p:nvPr/>
          </p:nvSpPr>
          <p:spPr>
            <a:xfrm>
              <a:off x="195039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6月​​</a:t>
              </a:r>
            </a:p>
          </p:txBody>
        </p:sp>
        <p:sp>
          <p:nvSpPr>
            <p:cNvPr id="41" name="TextBox 41"/>
            <p:cNvSpPr txBox="1"/>
            <p:nvPr/>
          </p:nvSpPr>
          <p:spPr>
            <a:xfrm>
              <a:off x="222662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7月​​</a:t>
              </a:r>
            </a:p>
          </p:txBody>
        </p:sp>
        <p:sp>
          <p:nvSpPr>
            <p:cNvPr id="42" name="TextBox 42"/>
            <p:cNvSpPr txBox="1"/>
            <p:nvPr/>
          </p:nvSpPr>
          <p:spPr>
            <a:xfrm>
              <a:off x="251237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8月​​</a:t>
              </a:r>
            </a:p>
          </p:txBody>
        </p:sp>
        <p:sp>
          <p:nvSpPr>
            <p:cNvPr id="43" name="TextBox 43"/>
            <p:cNvSpPr txBox="1"/>
            <p:nvPr/>
          </p:nvSpPr>
          <p:spPr>
            <a:xfrm>
              <a:off x="278859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9月​​</a:t>
              </a:r>
            </a:p>
          </p:txBody>
        </p:sp>
        <p:sp>
          <p:nvSpPr>
            <p:cNvPr id="44" name="TextBox 44"/>
            <p:cNvSpPr txBox="1"/>
            <p:nvPr/>
          </p:nvSpPr>
          <p:spPr>
            <a:xfrm>
              <a:off x="3049171" y="303228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10月​​</a:t>
              </a:r>
            </a:p>
          </p:txBody>
        </p:sp>
        <p:sp>
          <p:nvSpPr>
            <p:cNvPr id="45" name="TextBox 45"/>
            <p:cNvSpPr txBox="1"/>
            <p:nvPr/>
          </p:nvSpPr>
          <p:spPr>
            <a:xfrm>
              <a:off x="3325396" y="303228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11月​​</a:t>
              </a:r>
            </a:p>
          </p:txBody>
        </p:sp>
        <p:sp>
          <p:nvSpPr>
            <p:cNvPr id="46" name="TextBox 46"/>
            <p:cNvSpPr txBox="1"/>
            <p:nvPr/>
          </p:nvSpPr>
          <p:spPr>
            <a:xfrm>
              <a:off x="3601621" y="303228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12月​​</a:t>
              </a:r>
            </a:p>
          </p:txBody>
        </p:sp>
      </p:grpSp>
      <p:grpSp>
        <p:nvGrpSpPr>
          <p:cNvPr id="64" name="trend-taobao"/>
          <p:cNvGrpSpPr/>
          <p:nvPr/>
        </p:nvGrpSpPr>
        <p:grpSpPr>
          <a:xfrm>
            <a:off x="4267200" y="1543050"/>
            <a:ext cx="3657600" cy="1638300"/>
            <a:chOff x="4267200" y="1543050"/>
            <a:chExt cx="3657600" cy="1638300"/>
          </a:xfrm>
        </p:grpSpPr>
        <p:sp>
          <p:nvSpPr>
            <p:cNvPr id="48" name="Rectangle 48"/>
            <p:cNvSpPr/>
            <p:nvPr/>
          </p:nvSpPr>
          <p:spPr>
            <a:xfrm>
              <a:off x="4267200" y="1543050"/>
              <a:ext cx="3657600" cy="1638300"/>
            </a:xfrm>
            <a:prstGeom prst="roundRect">
              <a:avLst>
                <a:gd name="adj" fmla="val 4651"/>
              </a:avLst>
            </a:prstGeom>
            <a:solidFill>
              <a:srgbClr val="FFFFFF"/>
            </a:solidFill>
            <a:ln w="14288">
              <a:solidFill>
                <a:srgbClr val="E2E6F7"/>
              </a:solidFill>
            </a:ln>
          </p:spPr>
        </p:sp>
        <p:sp>
          <p:nvSpPr>
            <p:cNvPr id="49" name="TextBox 49"/>
            <p:cNvSpPr txBox="1"/>
            <p:nvPr/>
          </p:nvSpPr>
          <p:spPr>
            <a:xfrm>
              <a:off x="4452938" y="1731645"/>
              <a:ext cx="736473" cy="176212"/>
            </a:xfrm>
            <a:prstGeom prst="rect">
              <a:avLst/>
            </a:prstGeom>
            <a:noFill/>
            <a:ln>
              <a:noFill/>
            </a:ln>
          </p:spPr>
          <p:txBody>
            <a:bodyPr wrap="none" lIns="0" tIns="0" rIns="0" bIns="0" anchor="t" anchorCtr="0">
              <a:spAutoFit/>
            </a:bodyPr>
            <a:lstStyle/>
            <a:p>
              <a:pPr algn="l"/>
              <a:r>
                <a:rPr lang="zh-CN" sz="900" dirty="0">
                  <a:solidFill>
                    <a:srgbClr val="88706B"/>
                  </a:solidFill>
                  <a:latin typeface="+mn-lt"/>
                  <a:ea typeface="+mn-ea"/>
                  <a:cs typeface="+mn-cs"/>
                </a:rPr>
                <a:t>淘宝成交趋势</a:t>
              </a:r>
            </a:p>
          </p:txBody>
        </p:sp>
        <p:sp>
          <p:nvSpPr>
            <p:cNvPr id="50" name="TextBox 50"/>
            <p:cNvSpPr txBox="1"/>
            <p:nvPr/>
          </p:nvSpPr>
          <p:spPr>
            <a:xfrm>
              <a:off x="6858932" y="1691164"/>
              <a:ext cx="881845" cy="249364"/>
            </a:xfrm>
            <a:prstGeom prst="rect">
              <a:avLst/>
            </a:prstGeom>
            <a:noFill/>
            <a:ln>
              <a:noFill/>
            </a:ln>
          </p:spPr>
          <p:txBody>
            <a:bodyPr wrap="none" lIns="0" tIns="0" rIns="0" bIns="0" anchor="t" anchorCtr="0">
              <a:spAutoFit/>
            </a:bodyPr>
            <a:lstStyle/>
            <a:p>
              <a:pPr algn="r"/>
              <a:r>
                <a:rPr lang="zh-CN" sz="1280" b="1" dirty="0">
                  <a:solidFill>
                    <a:srgbClr val="E8634C"/>
                  </a:solidFill>
                  <a:latin typeface="+mn-lt"/>
                  <a:ea typeface="+mn-ea"/>
                  <a:cs typeface="+mn-cs"/>
                </a:rPr>
                <a:t>2,100万​​</a:t>
              </a:r>
            </a:p>
          </p:txBody>
        </p:sp>
        <p:sp>
          <p:nvSpPr>
            <p:cNvPr id="51" name="Freeform 51"/>
            <p:cNvSpPr/>
            <p:nvPr/>
          </p:nvSpPr>
          <p:spPr>
            <a:xfrm>
              <a:off x="4457700" y="2476500"/>
              <a:ext cx="3257550" cy="476250"/>
            </a:xfrm>
            <a:custGeom>
              <a:avLst/>
              <a:gdLst/>
              <a:ahLst/>
              <a:cxnLst/>
              <a:rect l="l" t="t" r="r" b="b"/>
              <a:pathLst>
                <a:path w="3257550" h="476250">
                  <a:moveTo>
                    <a:pt x="0" y="476250"/>
                  </a:moveTo>
                  <a:lnTo>
                    <a:pt x="0" y="323850"/>
                  </a:lnTo>
                  <a:lnTo>
                    <a:pt x="276225" y="285750"/>
                  </a:lnTo>
                  <a:lnTo>
                    <a:pt x="552450" y="247650"/>
                  </a:lnTo>
                  <a:lnTo>
                    <a:pt x="828675" y="285750"/>
                  </a:lnTo>
                  <a:lnTo>
                    <a:pt x="1104900" y="209550"/>
                  </a:lnTo>
                  <a:lnTo>
                    <a:pt x="1381125" y="247650"/>
                  </a:lnTo>
                  <a:lnTo>
                    <a:pt x="1657350" y="76200"/>
                  </a:lnTo>
                  <a:lnTo>
                    <a:pt x="1933575" y="0"/>
                  </a:lnTo>
                  <a:lnTo>
                    <a:pt x="2209800" y="228600"/>
                  </a:lnTo>
                  <a:lnTo>
                    <a:pt x="2486025" y="285750"/>
                  </a:lnTo>
                  <a:lnTo>
                    <a:pt x="2762250" y="323850"/>
                  </a:lnTo>
                  <a:lnTo>
                    <a:pt x="3038475" y="114300"/>
                  </a:lnTo>
                  <a:lnTo>
                    <a:pt x="3257550" y="57150"/>
                  </a:lnTo>
                  <a:lnTo>
                    <a:pt x="3257550" y="476250"/>
                  </a:lnTo>
                  <a:close/>
                </a:path>
              </a:pathLst>
            </a:custGeom>
            <a:gradFill>
              <a:gsLst>
                <a:gs pos="0">
                  <a:srgbClr val="C45F4A">
                    <a:alpha val="80000"/>
                  </a:srgbClr>
                </a:gs>
                <a:gs pos="100000">
                  <a:srgbClr val="C45F4A">
                    <a:alpha val="5000"/>
                  </a:srgbClr>
                </a:gs>
              </a:gsLst>
              <a:lin ang="5400000" scaled="1"/>
            </a:gradFill>
            <a:ln>
              <a:noFill/>
            </a:ln>
          </p:spPr>
        </p:sp>
        <p:sp>
          <p:nvSpPr>
            <p:cNvPr id="52" name="TextBox 52"/>
            <p:cNvSpPr txBox="1"/>
            <p:nvPr/>
          </p:nvSpPr>
          <p:spPr>
            <a:xfrm>
              <a:off x="446499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1月​​</a:t>
              </a:r>
            </a:p>
          </p:txBody>
        </p:sp>
        <p:sp>
          <p:nvSpPr>
            <p:cNvPr id="53" name="TextBox 53"/>
            <p:cNvSpPr txBox="1"/>
            <p:nvPr/>
          </p:nvSpPr>
          <p:spPr>
            <a:xfrm>
              <a:off x="475074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2月​​</a:t>
              </a:r>
            </a:p>
          </p:txBody>
        </p:sp>
        <p:sp>
          <p:nvSpPr>
            <p:cNvPr id="54" name="TextBox 54"/>
            <p:cNvSpPr txBox="1"/>
            <p:nvPr/>
          </p:nvSpPr>
          <p:spPr>
            <a:xfrm>
              <a:off x="502697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3月​​</a:t>
              </a:r>
            </a:p>
          </p:txBody>
        </p:sp>
        <p:sp>
          <p:nvSpPr>
            <p:cNvPr id="55" name="TextBox 55"/>
            <p:cNvSpPr txBox="1"/>
            <p:nvPr/>
          </p:nvSpPr>
          <p:spPr>
            <a:xfrm>
              <a:off x="531272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4月​​</a:t>
              </a:r>
            </a:p>
          </p:txBody>
        </p:sp>
        <p:sp>
          <p:nvSpPr>
            <p:cNvPr id="56" name="TextBox 56"/>
            <p:cNvSpPr txBox="1"/>
            <p:nvPr/>
          </p:nvSpPr>
          <p:spPr>
            <a:xfrm>
              <a:off x="558894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5月​​</a:t>
              </a:r>
            </a:p>
          </p:txBody>
        </p:sp>
        <p:sp>
          <p:nvSpPr>
            <p:cNvPr id="57" name="TextBox 57"/>
            <p:cNvSpPr txBox="1"/>
            <p:nvPr/>
          </p:nvSpPr>
          <p:spPr>
            <a:xfrm>
              <a:off x="587469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6月​​</a:t>
              </a:r>
            </a:p>
          </p:txBody>
        </p:sp>
        <p:sp>
          <p:nvSpPr>
            <p:cNvPr id="58" name="TextBox 58"/>
            <p:cNvSpPr txBox="1"/>
            <p:nvPr/>
          </p:nvSpPr>
          <p:spPr>
            <a:xfrm>
              <a:off x="615092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7月​​</a:t>
              </a:r>
            </a:p>
          </p:txBody>
        </p:sp>
        <p:sp>
          <p:nvSpPr>
            <p:cNvPr id="59" name="TextBox 59"/>
            <p:cNvSpPr txBox="1"/>
            <p:nvPr/>
          </p:nvSpPr>
          <p:spPr>
            <a:xfrm>
              <a:off x="643667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8月​​</a:t>
              </a:r>
            </a:p>
          </p:txBody>
        </p:sp>
        <p:sp>
          <p:nvSpPr>
            <p:cNvPr id="60" name="TextBox 60"/>
            <p:cNvSpPr txBox="1"/>
            <p:nvPr/>
          </p:nvSpPr>
          <p:spPr>
            <a:xfrm>
              <a:off x="671289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9月​​</a:t>
              </a:r>
            </a:p>
          </p:txBody>
        </p:sp>
        <p:sp>
          <p:nvSpPr>
            <p:cNvPr id="61" name="TextBox 61"/>
            <p:cNvSpPr txBox="1"/>
            <p:nvPr/>
          </p:nvSpPr>
          <p:spPr>
            <a:xfrm>
              <a:off x="6973471" y="303228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10月​​</a:t>
              </a:r>
            </a:p>
          </p:txBody>
        </p:sp>
        <p:sp>
          <p:nvSpPr>
            <p:cNvPr id="62" name="TextBox 62"/>
            <p:cNvSpPr txBox="1"/>
            <p:nvPr/>
          </p:nvSpPr>
          <p:spPr>
            <a:xfrm>
              <a:off x="7249696" y="303228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11月​​</a:t>
              </a:r>
            </a:p>
          </p:txBody>
        </p:sp>
        <p:sp>
          <p:nvSpPr>
            <p:cNvPr id="63" name="TextBox 63"/>
            <p:cNvSpPr txBox="1"/>
            <p:nvPr/>
          </p:nvSpPr>
          <p:spPr>
            <a:xfrm>
              <a:off x="7525921" y="303228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12月​​</a:t>
              </a:r>
            </a:p>
          </p:txBody>
        </p:sp>
      </p:grpSp>
      <p:grpSp>
        <p:nvGrpSpPr>
          <p:cNvPr id="81" name="trend-hongshu"/>
          <p:cNvGrpSpPr/>
          <p:nvPr/>
        </p:nvGrpSpPr>
        <p:grpSpPr>
          <a:xfrm>
            <a:off x="8191500" y="1543050"/>
            <a:ext cx="3657600" cy="1638300"/>
            <a:chOff x="8191500" y="1543050"/>
            <a:chExt cx="3657600" cy="1638300"/>
          </a:xfrm>
        </p:grpSpPr>
        <p:sp>
          <p:nvSpPr>
            <p:cNvPr id="65" name="Rectangle 65"/>
            <p:cNvSpPr/>
            <p:nvPr/>
          </p:nvSpPr>
          <p:spPr>
            <a:xfrm>
              <a:off x="8191500" y="1543050"/>
              <a:ext cx="3657600" cy="1638300"/>
            </a:xfrm>
            <a:prstGeom prst="roundRect">
              <a:avLst>
                <a:gd name="adj" fmla="val 4651"/>
              </a:avLst>
            </a:prstGeom>
            <a:solidFill>
              <a:srgbClr val="FFFFFF"/>
            </a:solidFill>
            <a:ln w="14288">
              <a:solidFill>
                <a:srgbClr val="E2E6F7"/>
              </a:solidFill>
            </a:ln>
          </p:spPr>
        </p:sp>
        <p:sp>
          <p:nvSpPr>
            <p:cNvPr id="66" name="TextBox 66"/>
            <p:cNvSpPr txBox="1"/>
            <p:nvPr/>
          </p:nvSpPr>
          <p:spPr>
            <a:xfrm>
              <a:off x="8377238" y="1731645"/>
              <a:ext cx="736473" cy="176212"/>
            </a:xfrm>
            <a:prstGeom prst="rect">
              <a:avLst/>
            </a:prstGeom>
            <a:noFill/>
            <a:ln>
              <a:noFill/>
            </a:ln>
          </p:spPr>
          <p:txBody>
            <a:bodyPr wrap="none" lIns="0" tIns="0" rIns="0" bIns="0" anchor="t" anchorCtr="0">
              <a:spAutoFit/>
            </a:bodyPr>
            <a:lstStyle/>
            <a:p>
              <a:pPr algn="l"/>
              <a:r>
                <a:rPr lang="zh-CN" sz="900" dirty="0">
                  <a:solidFill>
                    <a:srgbClr val="88706B"/>
                  </a:solidFill>
                  <a:latin typeface="+mn-lt"/>
                  <a:ea typeface="+mn-ea"/>
                  <a:cs typeface="+mn-cs"/>
                </a:rPr>
                <a:t>红书成交趋势</a:t>
              </a:r>
            </a:p>
          </p:txBody>
        </p:sp>
        <p:sp>
          <p:nvSpPr>
            <p:cNvPr id="67" name="TextBox 67"/>
            <p:cNvSpPr txBox="1"/>
            <p:nvPr/>
          </p:nvSpPr>
          <p:spPr>
            <a:xfrm>
              <a:off x="10783232" y="1691164"/>
              <a:ext cx="881845" cy="249364"/>
            </a:xfrm>
            <a:prstGeom prst="rect">
              <a:avLst/>
            </a:prstGeom>
            <a:noFill/>
            <a:ln>
              <a:noFill/>
            </a:ln>
          </p:spPr>
          <p:txBody>
            <a:bodyPr wrap="none" lIns="0" tIns="0" rIns="0" bIns="0" anchor="t" anchorCtr="0">
              <a:spAutoFit/>
            </a:bodyPr>
            <a:lstStyle/>
            <a:p>
              <a:pPr algn="r"/>
              <a:r>
                <a:rPr lang="zh-CN" sz="1280" b="1" dirty="0">
                  <a:solidFill>
                    <a:srgbClr val="E8634C"/>
                  </a:solidFill>
                  <a:latin typeface="+mn-lt"/>
                  <a:ea typeface="+mn-ea"/>
                  <a:cs typeface="+mn-cs"/>
                </a:rPr>
                <a:t>2,000万​​</a:t>
              </a:r>
            </a:p>
          </p:txBody>
        </p:sp>
        <p:sp>
          <p:nvSpPr>
            <p:cNvPr id="68" name="Freeform 68"/>
            <p:cNvSpPr/>
            <p:nvPr/>
          </p:nvSpPr>
          <p:spPr>
            <a:xfrm>
              <a:off x="8382000" y="2457450"/>
              <a:ext cx="3257550" cy="495300"/>
            </a:xfrm>
            <a:custGeom>
              <a:avLst/>
              <a:gdLst/>
              <a:ahLst/>
              <a:cxnLst/>
              <a:rect l="l" t="t" r="r" b="b"/>
              <a:pathLst>
                <a:path w="3257550" h="495300">
                  <a:moveTo>
                    <a:pt x="0" y="495300"/>
                  </a:moveTo>
                  <a:lnTo>
                    <a:pt x="0" y="323850"/>
                  </a:lnTo>
                  <a:lnTo>
                    <a:pt x="276225" y="228600"/>
                  </a:lnTo>
                  <a:lnTo>
                    <a:pt x="552450" y="0"/>
                  </a:lnTo>
                  <a:lnTo>
                    <a:pt x="828675" y="285750"/>
                  </a:lnTo>
                  <a:lnTo>
                    <a:pt x="1104900" y="114300"/>
                  </a:lnTo>
                  <a:lnTo>
                    <a:pt x="1381125" y="171450"/>
                  </a:lnTo>
                  <a:lnTo>
                    <a:pt x="1657350" y="76200"/>
                  </a:lnTo>
                  <a:lnTo>
                    <a:pt x="1933575" y="304800"/>
                  </a:lnTo>
                  <a:lnTo>
                    <a:pt x="2209800" y="342900"/>
                  </a:lnTo>
                  <a:lnTo>
                    <a:pt x="2486025" y="285750"/>
                  </a:lnTo>
                  <a:lnTo>
                    <a:pt x="2762250" y="19050"/>
                  </a:lnTo>
                  <a:lnTo>
                    <a:pt x="3038475" y="247650"/>
                  </a:lnTo>
                  <a:lnTo>
                    <a:pt x="3257550" y="190500"/>
                  </a:lnTo>
                  <a:lnTo>
                    <a:pt x="3257550" y="495300"/>
                  </a:lnTo>
                  <a:close/>
                </a:path>
              </a:pathLst>
            </a:custGeom>
            <a:gradFill>
              <a:gsLst>
                <a:gs pos="0">
                  <a:srgbClr val="C45F4A">
                    <a:alpha val="80000"/>
                  </a:srgbClr>
                </a:gs>
                <a:gs pos="100000">
                  <a:srgbClr val="C45F4A">
                    <a:alpha val="5000"/>
                  </a:srgbClr>
                </a:gs>
              </a:gsLst>
              <a:lin ang="5400000" scaled="1"/>
            </a:gradFill>
            <a:ln>
              <a:noFill/>
            </a:ln>
          </p:spPr>
        </p:sp>
        <p:sp>
          <p:nvSpPr>
            <p:cNvPr id="69" name="TextBox 69"/>
            <p:cNvSpPr txBox="1"/>
            <p:nvPr/>
          </p:nvSpPr>
          <p:spPr>
            <a:xfrm>
              <a:off x="838929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1月​​</a:t>
              </a:r>
            </a:p>
          </p:txBody>
        </p:sp>
        <p:sp>
          <p:nvSpPr>
            <p:cNvPr id="70" name="TextBox 70"/>
            <p:cNvSpPr txBox="1"/>
            <p:nvPr/>
          </p:nvSpPr>
          <p:spPr>
            <a:xfrm>
              <a:off x="867504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2月​​</a:t>
              </a:r>
            </a:p>
          </p:txBody>
        </p:sp>
        <p:sp>
          <p:nvSpPr>
            <p:cNvPr id="71" name="TextBox 71"/>
            <p:cNvSpPr txBox="1"/>
            <p:nvPr/>
          </p:nvSpPr>
          <p:spPr>
            <a:xfrm>
              <a:off x="895127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3月​​</a:t>
              </a:r>
            </a:p>
          </p:txBody>
        </p:sp>
        <p:sp>
          <p:nvSpPr>
            <p:cNvPr id="72" name="TextBox 72"/>
            <p:cNvSpPr txBox="1"/>
            <p:nvPr/>
          </p:nvSpPr>
          <p:spPr>
            <a:xfrm>
              <a:off x="923702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4月​​</a:t>
              </a:r>
            </a:p>
          </p:txBody>
        </p:sp>
        <p:sp>
          <p:nvSpPr>
            <p:cNvPr id="73" name="TextBox 73"/>
            <p:cNvSpPr txBox="1"/>
            <p:nvPr/>
          </p:nvSpPr>
          <p:spPr>
            <a:xfrm>
              <a:off x="951324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5月​​</a:t>
              </a:r>
            </a:p>
          </p:txBody>
        </p:sp>
        <p:sp>
          <p:nvSpPr>
            <p:cNvPr id="74" name="TextBox 74"/>
            <p:cNvSpPr txBox="1"/>
            <p:nvPr/>
          </p:nvSpPr>
          <p:spPr>
            <a:xfrm>
              <a:off x="979899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6月​​</a:t>
              </a:r>
            </a:p>
          </p:txBody>
        </p:sp>
        <p:sp>
          <p:nvSpPr>
            <p:cNvPr id="75" name="TextBox 75"/>
            <p:cNvSpPr txBox="1"/>
            <p:nvPr/>
          </p:nvSpPr>
          <p:spPr>
            <a:xfrm>
              <a:off x="1007522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7月​​</a:t>
              </a:r>
            </a:p>
          </p:txBody>
        </p:sp>
        <p:sp>
          <p:nvSpPr>
            <p:cNvPr id="76" name="TextBox 76"/>
            <p:cNvSpPr txBox="1"/>
            <p:nvPr/>
          </p:nvSpPr>
          <p:spPr>
            <a:xfrm>
              <a:off x="10360970"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8月​​</a:t>
              </a:r>
            </a:p>
          </p:txBody>
        </p:sp>
        <p:sp>
          <p:nvSpPr>
            <p:cNvPr id="77" name="TextBox 77"/>
            <p:cNvSpPr txBox="1"/>
            <p:nvPr/>
          </p:nvSpPr>
          <p:spPr>
            <a:xfrm>
              <a:off x="10637195" y="3032284"/>
              <a:ext cx="252110"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9月​​</a:t>
              </a:r>
            </a:p>
          </p:txBody>
        </p:sp>
        <p:sp>
          <p:nvSpPr>
            <p:cNvPr id="78" name="TextBox 78"/>
            <p:cNvSpPr txBox="1"/>
            <p:nvPr/>
          </p:nvSpPr>
          <p:spPr>
            <a:xfrm>
              <a:off x="10897771" y="303228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10月​​</a:t>
              </a:r>
            </a:p>
          </p:txBody>
        </p:sp>
        <p:sp>
          <p:nvSpPr>
            <p:cNvPr id="79" name="TextBox 79"/>
            <p:cNvSpPr txBox="1"/>
            <p:nvPr/>
          </p:nvSpPr>
          <p:spPr>
            <a:xfrm>
              <a:off x="11173996" y="303228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11月​​</a:t>
              </a:r>
            </a:p>
          </p:txBody>
        </p:sp>
        <p:sp>
          <p:nvSpPr>
            <p:cNvPr id="80" name="TextBox 80"/>
            <p:cNvSpPr txBox="1"/>
            <p:nvPr/>
          </p:nvSpPr>
          <p:spPr>
            <a:xfrm>
              <a:off x="11450221" y="3032284"/>
              <a:ext cx="302458" cy="133350"/>
            </a:xfrm>
            <a:prstGeom prst="rect">
              <a:avLst/>
            </a:prstGeom>
            <a:noFill/>
            <a:ln>
              <a:noFill/>
            </a:ln>
          </p:spPr>
          <p:txBody>
            <a:bodyPr wrap="none" lIns="0" tIns="0" rIns="0" bIns="0" anchor="t" anchorCtr="0">
              <a:spAutoFit/>
            </a:bodyPr>
            <a:lstStyle/>
            <a:p>
              <a:pPr algn="ctr"/>
              <a:r>
                <a:rPr lang="zh-CN" sz="680" dirty="0">
                  <a:solidFill>
                    <a:srgbClr val="9AA1B8"/>
                  </a:solidFill>
                  <a:latin typeface="+mn-lt"/>
                  <a:ea typeface="+mn-ea"/>
                  <a:cs typeface="+mn-cs"/>
                </a:rPr>
                <a:t>12月​​</a:t>
              </a:r>
            </a:p>
          </p:txBody>
        </p:sp>
      </p:grpSp>
      <p:grpSp>
        <p:nvGrpSpPr>
          <p:cNvPr id="111" name="source-donut"/>
          <p:cNvGrpSpPr/>
          <p:nvPr/>
        </p:nvGrpSpPr>
        <p:grpSpPr>
          <a:xfrm>
            <a:off x="342900" y="3276600"/>
            <a:ext cx="4848225" cy="3200400"/>
            <a:chOff x="342900" y="3276600"/>
            <a:chExt cx="4848225" cy="3200400"/>
          </a:xfrm>
        </p:grpSpPr>
        <p:sp>
          <p:nvSpPr>
            <p:cNvPr id="82" name="Rectangle 82"/>
            <p:cNvSpPr/>
            <p:nvPr/>
          </p:nvSpPr>
          <p:spPr>
            <a:xfrm>
              <a:off x="342900" y="3276600"/>
              <a:ext cx="4848225" cy="3200400"/>
            </a:xfrm>
            <a:prstGeom prst="roundRect">
              <a:avLst>
                <a:gd name="adj" fmla="val 2976"/>
              </a:avLst>
            </a:prstGeom>
            <a:solidFill>
              <a:srgbClr val="F5F7FD"/>
            </a:solidFill>
            <a:ln>
              <a:noFill/>
            </a:ln>
          </p:spPr>
        </p:sp>
        <p:grpSp>
          <p:nvGrpSpPr>
            <p:cNvPr id="87" name="Group 87"/>
            <p:cNvGrpSpPr/>
            <p:nvPr/>
          </p:nvGrpSpPr>
          <p:grpSpPr>
            <a:xfrm>
              <a:off x="557212" y="3479800"/>
              <a:ext cx="142875" cy="136525"/>
              <a:chOff x="557212" y="3479800"/>
              <a:chExt cx="142875" cy="136525"/>
            </a:xfrm>
          </p:grpSpPr>
          <p:sp>
            <p:nvSpPr>
              <p:cNvPr id="83" name="Freeform 83"/>
              <p:cNvSpPr/>
              <p:nvPr/>
            </p:nvSpPr>
            <p:spPr>
              <a:xfrm>
                <a:off x="557212" y="35433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E8634C"/>
                </a:solidFill>
              </a:ln>
            </p:spPr>
          </p:sp>
          <p:sp>
            <p:nvSpPr>
              <p:cNvPr id="84" name="Freeform 84"/>
              <p:cNvSpPr/>
              <p:nvPr/>
            </p:nvSpPr>
            <p:spPr>
              <a:xfrm>
                <a:off x="652462" y="35115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E8634C"/>
                </a:solidFill>
              </a:ln>
            </p:spPr>
          </p:sp>
          <p:sp>
            <p:nvSpPr>
              <p:cNvPr id="85" name="Freeform 85"/>
              <p:cNvSpPr/>
              <p:nvPr/>
            </p:nvSpPr>
            <p:spPr>
              <a:xfrm>
                <a:off x="604837" y="34798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E8634C"/>
                </a:solidFill>
              </a:ln>
            </p:spPr>
          </p:sp>
          <p:sp>
            <p:nvSpPr>
              <p:cNvPr id="86" name="Freeform 86"/>
              <p:cNvSpPr/>
              <p:nvPr/>
            </p:nvSpPr>
            <p:spPr>
              <a:xfrm>
                <a:off x="565150" y="3606800"/>
                <a:ext cx="111125" cy="9525"/>
              </a:xfrm>
              <a:custGeom>
                <a:avLst/>
                <a:gdLst/>
                <a:ahLst/>
                <a:cxnLst/>
                <a:rect l="l" t="t" r="r" b="b"/>
                <a:pathLst>
                  <a:path w="111125" h="9525">
                    <a:moveTo>
                      <a:pt x="0" y="0"/>
                    </a:moveTo>
                    <a:lnTo>
                      <a:pt x="111125" y="0"/>
                    </a:lnTo>
                  </a:path>
                </a:pathLst>
              </a:custGeom>
              <a:noFill/>
              <a:ln w="15875">
                <a:solidFill>
                  <a:srgbClr val="E8634C"/>
                </a:solidFill>
              </a:ln>
            </p:spPr>
          </p:sp>
        </p:grpSp>
        <p:sp>
          <p:nvSpPr>
            <p:cNvPr id="88" name="TextBox 88"/>
            <p:cNvSpPr txBox="1"/>
            <p:nvPr/>
          </p:nvSpPr>
          <p:spPr>
            <a:xfrm>
              <a:off x="794385" y="3479006"/>
              <a:ext cx="916076" cy="220028"/>
            </a:xfrm>
            <a:prstGeom prst="rect">
              <a:avLst/>
            </a:prstGeom>
            <a:noFill/>
            <a:ln>
              <a:noFill/>
            </a:ln>
          </p:spPr>
          <p:txBody>
            <a:bodyPr wrap="none" lIns="0" tIns="0" rIns="0" bIns="0" anchor="t" anchorCtr="0">
              <a:spAutoFit/>
            </a:bodyPr>
            <a:lstStyle/>
            <a:p>
              <a:pPr algn="l"/>
              <a:r>
                <a:rPr lang="zh-CN" sz="1120" b="1" dirty="0">
                  <a:solidFill>
                    <a:srgbClr val="543E3A"/>
                  </a:solidFill>
                  <a:latin typeface="+mn-lt"/>
                  <a:ea typeface="+mn-ea"/>
                  <a:cs typeface="+mn-cs"/>
                </a:rPr>
                <a:t>流量来源分析</a:t>
              </a:r>
            </a:p>
          </p:txBody>
        </p:sp>
        <p:sp>
          <p:nvSpPr>
            <p:cNvPr id="89" name="Rectangle 89"/>
            <p:cNvSpPr/>
            <p:nvPr/>
          </p:nvSpPr>
          <p:spPr>
            <a:xfrm>
              <a:off x="590550" y="4152900"/>
              <a:ext cx="104775" cy="104775"/>
            </a:xfrm>
            <a:prstGeom prst="rect">
              <a:avLst/>
            </a:prstGeom>
            <a:solidFill>
              <a:srgbClr val="E8634C"/>
            </a:solidFill>
            <a:ln>
              <a:noFill/>
            </a:ln>
          </p:spPr>
        </p:sp>
        <p:sp>
          <p:nvSpPr>
            <p:cNvPr id="90" name="TextBox 90"/>
            <p:cNvSpPr txBox="1"/>
            <p:nvPr/>
          </p:nvSpPr>
          <p:spPr>
            <a:xfrm>
              <a:off x="776288" y="4146947"/>
              <a:ext cx="515696" cy="183356"/>
            </a:xfrm>
            <a:prstGeom prst="rect">
              <a:avLst/>
            </a:prstGeom>
            <a:noFill/>
            <a:ln>
              <a:noFill/>
            </a:ln>
          </p:spPr>
          <p:txBody>
            <a:bodyPr wrap="none" lIns="0" tIns="0" rIns="0" bIns="0" anchor="t" anchorCtr="0">
              <a:spAutoFit/>
            </a:bodyPr>
            <a:lstStyle/>
            <a:p>
              <a:pPr algn="l"/>
              <a:r>
                <a:rPr lang="zh-CN" sz="940" dirty="0">
                  <a:solidFill>
                    <a:srgbClr val="543E3A"/>
                  </a:solidFill>
                  <a:latin typeface="+mn-lt"/>
                  <a:ea typeface="+mn-ea"/>
                  <a:cs typeface="+mn-cs"/>
                </a:rPr>
                <a:t>直播推荐</a:t>
              </a:r>
            </a:p>
          </p:txBody>
        </p:sp>
        <p:sp>
          <p:nvSpPr>
            <p:cNvPr id="91" name="TextBox 91"/>
            <p:cNvSpPr txBox="1"/>
            <p:nvPr/>
          </p:nvSpPr>
          <p:spPr>
            <a:xfrm>
              <a:off x="1777151" y="4142899"/>
              <a:ext cx="418552" cy="190690"/>
            </a:xfrm>
            <a:prstGeom prst="rect">
              <a:avLst/>
            </a:prstGeom>
            <a:noFill/>
            <a:ln>
              <a:noFill/>
            </a:ln>
          </p:spPr>
          <p:txBody>
            <a:bodyPr wrap="none" lIns="0" tIns="0" rIns="0" bIns="0" anchor="t" anchorCtr="0">
              <a:spAutoFit/>
            </a:bodyPr>
            <a:lstStyle/>
            <a:p>
              <a:pPr algn="r"/>
              <a:r>
                <a:rPr lang="zh-CN" sz="980" b="1" dirty="0">
                  <a:solidFill>
                    <a:srgbClr val="E8634C"/>
                  </a:solidFill>
                  <a:latin typeface="+mn-lt"/>
                  <a:ea typeface="+mn-ea"/>
                  <a:cs typeface="+mn-cs"/>
                </a:rPr>
                <a:t>77%​​</a:t>
              </a:r>
            </a:p>
          </p:txBody>
        </p:sp>
        <p:sp>
          <p:nvSpPr>
            <p:cNvPr id="92" name="Rectangle 92"/>
            <p:cNvSpPr/>
            <p:nvPr/>
          </p:nvSpPr>
          <p:spPr>
            <a:xfrm>
              <a:off x="590550" y="4514850"/>
              <a:ext cx="104775" cy="104775"/>
            </a:xfrm>
            <a:prstGeom prst="rect">
              <a:avLst/>
            </a:prstGeom>
            <a:solidFill>
              <a:srgbClr val="9E402C"/>
            </a:solidFill>
            <a:ln>
              <a:noFill/>
            </a:ln>
          </p:spPr>
        </p:sp>
        <p:sp>
          <p:nvSpPr>
            <p:cNvPr id="93" name="TextBox 93"/>
            <p:cNvSpPr txBox="1"/>
            <p:nvPr/>
          </p:nvSpPr>
          <p:spPr>
            <a:xfrm>
              <a:off x="776288" y="4508897"/>
              <a:ext cx="515696" cy="183356"/>
            </a:xfrm>
            <a:prstGeom prst="rect">
              <a:avLst/>
            </a:prstGeom>
            <a:noFill/>
            <a:ln>
              <a:noFill/>
            </a:ln>
          </p:spPr>
          <p:txBody>
            <a:bodyPr wrap="none" lIns="0" tIns="0" rIns="0" bIns="0" anchor="t" anchorCtr="0">
              <a:spAutoFit/>
            </a:bodyPr>
            <a:lstStyle/>
            <a:p>
              <a:pPr algn="l"/>
              <a:r>
                <a:rPr lang="zh-CN" sz="940" dirty="0">
                  <a:solidFill>
                    <a:srgbClr val="543E3A"/>
                  </a:solidFill>
                  <a:latin typeface="+mn-lt"/>
                  <a:ea typeface="+mn-ea"/>
                  <a:cs typeface="+mn-cs"/>
                </a:rPr>
                <a:t>视频推荐</a:t>
              </a:r>
            </a:p>
          </p:txBody>
        </p:sp>
        <p:sp>
          <p:nvSpPr>
            <p:cNvPr id="94" name="TextBox 94"/>
            <p:cNvSpPr txBox="1"/>
            <p:nvPr/>
          </p:nvSpPr>
          <p:spPr>
            <a:xfrm>
              <a:off x="1777151" y="4504849"/>
              <a:ext cx="418552" cy="190690"/>
            </a:xfrm>
            <a:prstGeom prst="rect">
              <a:avLst/>
            </a:prstGeom>
            <a:noFill/>
            <a:ln>
              <a:noFill/>
            </a:ln>
          </p:spPr>
          <p:txBody>
            <a:bodyPr wrap="none" lIns="0" tIns="0" rIns="0" bIns="0" anchor="t" anchorCtr="0">
              <a:spAutoFit/>
            </a:bodyPr>
            <a:lstStyle/>
            <a:p>
              <a:pPr algn="r"/>
              <a:r>
                <a:rPr lang="zh-CN" sz="980" b="1" dirty="0">
                  <a:solidFill>
                    <a:srgbClr val="543E3A"/>
                  </a:solidFill>
                  <a:latin typeface="+mn-lt"/>
                  <a:ea typeface="+mn-ea"/>
                  <a:cs typeface="+mn-cs"/>
                </a:rPr>
                <a:t>20%​​</a:t>
              </a:r>
            </a:p>
          </p:txBody>
        </p:sp>
        <p:sp>
          <p:nvSpPr>
            <p:cNvPr id="95" name="Rectangle 95"/>
            <p:cNvSpPr/>
            <p:nvPr/>
          </p:nvSpPr>
          <p:spPr>
            <a:xfrm>
              <a:off x="590550" y="4876800"/>
              <a:ext cx="104775" cy="104775"/>
            </a:xfrm>
            <a:prstGeom prst="rect">
              <a:avLst/>
            </a:prstGeom>
            <a:solidFill>
              <a:srgbClr val="EEB5A9"/>
            </a:solidFill>
            <a:ln>
              <a:noFill/>
            </a:ln>
          </p:spPr>
        </p:sp>
        <p:sp>
          <p:nvSpPr>
            <p:cNvPr id="96" name="TextBox 96"/>
            <p:cNvSpPr txBox="1"/>
            <p:nvPr/>
          </p:nvSpPr>
          <p:spPr>
            <a:xfrm>
              <a:off x="776288" y="4870847"/>
              <a:ext cx="262611" cy="183356"/>
            </a:xfrm>
            <a:prstGeom prst="rect">
              <a:avLst/>
            </a:prstGeom>
            <a:noFill/>
            <a:ln>
              <a:noFill/>
            </a:ln>
          </p:spPr>
          <p:txBody>
            <a:bodyPr wrap="none" lIns="0" tIns="0" rIns="0" bIns="0" anchor="t" anchorCtr="0">
              <a:spAutoFit/>
            </a:bodyPr>
            <a:lstStyle/>
            <a:p>
              <a:pPr algn="l"/>
              <a:r>
                <a:rPr lang="zh-CN" sz="940" dirty="0">
                  <a:solidFill>
                    <a:srgbClr val="543E3A"/>
                  </a:solidFill>
                  <a:latin typeface="+mn-lt"/>
                  <a:ea typeface="+mn-ea"/>
                  <a:cs typeface="+mn-cs"/>
                </a:rPr>
                <a:t>关注</a:t>
              </a:r>
            </a:p>
          </p:txBody>
        </p:sp>
        <p:sp>
          <p:nvSpPr>
            <p:cNvPr id="97" name="TextBox 97"/>
            <p:cNvSpPr txBox="1"/>
            <p:nvPr/>
          </p:nvSpPr>
          <p:spPr>
            <a:xfrm>
              <a:off x="1777151" y="4866799"/>
              <a:ext cx="418552" cy="190690"/>
            </a:xfrm>
            <a:prstGeom prst="rect">
              <a:avLst/>
            </a:prstGeom>
            <a:noFill/>
            <a:ln>
              <a:noFill/>
            </a:ln>
          </p:spPr>
          <p:txBody>
            <a:bodyPr wrap="none" lIns="0" tIns="0" rIns="0" bIns="0" anchor="t" anchorCtr="0">
              <a:spAutoFit/>
            </a:bodyPr>
            <a:lstStyle/>
            <a:p>
              <a:pPr algn="r"/>
              <a:r>
                <a:rPr lang="zh-CN" sz="980" b="1" dirty="0">
                  <a:solidFill>
                    <a:srgbClr val="543E3A"/>
                  </a:solidFill>
                  <a:latin typeface="+mn-lt"/>
                  <a:ea typeface="+mn-ea"/>
                  <a:cs typeface="+mn-cs"/>
                </a:rPr>
                <a:t>10%​​</a:t>
              </a:r>
            </a:p>
          </p:txBody>
        </p:sp>
        <p:sp>
          <p:nvSpPr>
            <p:cNvPr id="98" name="Rectangle 98"/>
            <p:cNvSpPr/>
            <p:nvPr/>
          </p:nvSpPr>
          <p:spPr>
            <a:xfrm>
              <a:off x="590550" y="5238750"/>
              <a:ext cx="104775" cy="104775"/>
            </a:xfrm>
            <a:prstGeom prst="rect">
              <a:avLst/>
            </a:prstGeom>
            <a:solidFill>
              <a:srgbClr val="C9D2F2"/>
            </a:solidFill>
            <a:ln>
              <a:noFill/>
            </a:ln>
          </p:spPr>
        </p:sp>
        <p:sp>
          <p:nvSpPr>
            <p:cNvPr id="99" name="TextBox 99"/>
            <p:cNvSpPr txBox="1"/>
            <p:nvPr/>
          </p:nvSpPr>
          <p:spPr>
            <a:xfrm>
              <a:off x="776288" y="5232797"/>
              <a:ext cx="262611" cy="183356"/>
            </a:xfrm>
            <a:prstGeom prst="rect">
              <a:avLst/>
            </a:prstGeom>
            <a:noFill/>
            <a:ln>
              <a:noFill/>
            </a:ln>
          </p:spPr>
          <p:txBody>
            <a:bodyPr wrap="none" lIns="0" tIns="0" rIns="0" bIns="0" anchor="t" anchorCtr="0">
              <a:spAutoFit/>
            </a:bodyPr>
            <a:lstStyle/>
            <a:p>
              <a:pPr algn="l"/>
              <a:r>
                <a:rPr lang="zh-CN" sz="940" dirty="0">
                  <a:solidFill>
                    <a:srgbClr val="543E3A"/>
                  </a:solidFill>
                  <a:latin typeface="+mn-lt"/>
                  <a:ea typeface="+mn-ea"/>
                  <a:cs typeface="+mn-cs"/>
                </a:rPr>
                <a:t>同城</a:t>
              </a:r>
            </a:p>
          </p:txBody>
        </p:sp>
        <p:sp>
          <p:nvSpPr>
            <p:cNvPr id="100" name="TextBox 100"/>
            <p:cNvSpPr txBox="1"/>
            <p:nvPr/>
          </p:nvSpPr>
          <p:spPr>
            <a:xfrm>
              <a:off x="1853339" y="5228749"/>
              <a:ext cx="342364" cy="190690"/>
            </a:xfrm>
            <a:prstGeom prst="rect">
              <a:avLst/>
            </a:prstGeom>
            <a:noFill/>
            <a:ln>
              <a:noFill/>
            </a:ln>
          </p:spPr>
          <p:txBody>
            <a:bodyPr wrap="none" lIns="0" tIns="0" rIns="0" bIns="0" anchor="t" anchorCtr="0">
              <a:spAutoFit/>
            </a:bodyPr>
            <a:lstStyle/>
            <a:p>
              <a:pPr algn="r"/>
              <a:r>
                <a:rPr lang="zh-CN" sz="980" b="1" dirty="0">
                  <a:solidFill>
                    <a:srgbClr val="543E3A"/>
                  </a:solidFill>
                  <a:latin typeface="+mn-lt"/>
                  <a:ea typeface="+mn-ea"/>
                  <a:cs typeface="+mn-cs"/>
                </a:rPr>
                <a:t>5%​​</a:t>
              </a:r>
            </a:p>
          </p:txBody>
        </p:sp>
        <p:sp>
          <p:nvSpPr>
            <p:cNvPr id="101" name="Rectangle 101"/>
            <p:cNvSpPr/>
            <p:nvPr/>
          </p:nvSpPr>
          <p:spPr>
            <a:xfrm>
              <a:off x="590550" y="5600700"/>
              <a:ext cx="104775" cy="104775"/>
            </a:xfrm>
            <a:prstGeom prst="rect">
              <a:avLst/>
            </a:prstGeom>
            <a:solidFill>
              <a:srgbClr val="DDE3F8"/>
            </a:solidFill>
            <a:ln>
              <a:noFill/>
            </a:ln>
          </p:spPr>
        </p:sp>
        <p:sp>
          <p:nvSpPr>
            <p:cNvPr id="102" name="TextBox 102"/>
            <p:cNvSpPr txBox="1"/>
            <p:nvPr/>
          </p:nvSpPr>
          <p:spPr>
            <a:xfrm>
              <a:off x="776288" y="5594747"/>
              <a:ext cx="262611" cy="183356"/>
            </a:xfrm>
            <a:prstGeom prst="rect">
              <a:avLst/>
            </a:prstGeom>
            <a:noFill/>
            <a:ln>
              <a:noFill/>
            </a:ln>
          </p:spPr>
          <p:txBody>
            <a:bodyPr wrap="none" lIns="0" tIns="0" rIns="0" bIns="0" anchor="t" anchorCtr="0">
              <a:spAutoFit/>
            </a:bodyPr>
            <a:lstStyle/>
            <a:p>
              <a:pPr algn="l"/>
              <a:r>
                <a:rPr lang="zh-CN" sz="940" dirty="0">
                  <a:solidFill>
                    <a:srgbClr val="543E3A"/>
                  </a:solidFill>
                  <a:latin typeface="+mn-lt"/>
                  <a:ea typeface="+mn-ea"/>
                  <a:cs typeface="+mn-cs"/>
                </a:rPr>
                <a:t>其他</a:t>
              </a:r>
            </a:p>
          </p:txBody>
        </p:sp>
        <p:sp>
          <p:nvSpPr>
            <p:cNvPr id="103" name="TextBox 103"/>
            <p:cNvSpPr txBox="1"/>
            <p:nvPr/>
          </p:nvSpPr>
          <p:spPr>
            <a:xfrm>
              <a:off x="1853339" y="5590699"/>
              <a:ext cx="342364" cy="190690"/>
            </a:xfrm>
            <a:prstGeom prst="rect">
              <a:avLst/>
            </a:prstGeom>
            <a:noFill/>
            <a:ln>
              <a:noFill/>
            </a:ln>
          </p:spPr>
          <p:txBody>
            <a:bodyPr wrap="none" lIns="0" tIns="0" rIns="0" bIns="0" anchor="t" anchorCtr="0">
              <a:spAutoFit/>
            </a:bodyPr>
            <a:lstStyle/>
            <a:p>
              <a:pPr algn="r"/>
              <a:r>
                <a:rPr lang="zh-CN" sz="980" b="1" dirty="0">
                  <a:solidFill>
                    <a:srgbClr val="543E3A"/>
                  </a:solidFill>
                  <a:latin typeface="+mn-lt"/>
                  <a:ea typeface="+mn-ea"/>
                  <a:cs typeface="+mn-cs"/>
                </a:rPr>
                <a:t>8%​​</a:t>
              </a:r>
            </a:p>
          </p:txBody>
        </p:sp>
        <p:sp>
          <p:nvSpPr>
            <p:cNvPr id="104" name="Freeform 104"/>
            <p:cNvSpPr/>
            <p:nvPr/>
          </p:nvSpPr>
          <p:spPr>
            <a:xfrm>
              <a:off x="2533650" y="4238398"/>
              <a:ext cx="1502905" cy="1702811"/>
            </a:xfrm>
            <a:custGeom>
              <a:avLst/>
              <a:gdLst/>
              <a:ahLst/>
              <a:cxnLst/>
              <a:rect l="l" t="t" r="r" b="b"/>
              <a:pathLst>
                <a:path w="1502905" h="1702811">
                  <a:moveTo>
                    <a:pt x="628650" y="227"/>
                  </a:moveTo>
                  <a:cubicBezTo>
                    <a:pt x="1005677" y="0"/>
                    <a:pt x="1332957" y="260052"/>
                    <a:pt x="1417931" y="627378"/>
                  </a:cubicBezTo>
                  <a:cubicBezTo>
                    <a:pt x="1502905" y="994705"/>
                    <a:pt x="1323080" y="1372066"/>
                    <a:pt x="984256" y="1537439"/>
                  </a:cubicBezTo>
                  <a:cubicBezTo>
                    <a:pt x="645432" y="1702811"/>
                    <a:pt x="237305" y="1612416"/>
                    <a:pt x="0" y="1319439"/>
                  </a:cubicBezTo>
                  <a:lnTo>
                    <a:pt x="273367" y="1097507"/>
                  </a:lnTo>
                  <a:cubicBezTo>
                    <a:pt x="407319" y="1262990"/>
                    <a:pt x="637767" y="1314112"/>
                    <a:pt x="829130" y="1220794"/>
                  </a:cubicBezTo>
                  <a:cubicBezTo>
                    <a:pt x="1020493" y="1127477"/>
                    <a:pt x="1122117" y="914422"/>
                    <a:pt x="1074211" y="706978"/>
                  </a:cubicBezTo>
                  <a:cubicBezTo>
                    <a:pt x="1026306" y="499534"/>
                    <a:pt x="841554" y="352612"/>
                    <a:pt x="628650" y="352652"/>
                  </a:cubicBezTo>
                  <a:close/>
                </a:path>
              </a:pathLst>
            </a:custGeom>
            <a:solidFill>
              <a:srgbClr val="E8634C"/>
            </a:solidFill>
            <a:ln>
              <a:noFill/>
            </a:ln>
          </p:spPr>
        </p:sp>
        <p:sp>
          <p:nvSpPr>
            <p:cNvPr id="105" name="Freeform 105"/>
            <p:cNvSpPr/>
            <p:nvPr/>
          </p:nvSpPr>
          <p:spPr>
            <a:xfrm>
              <a:off x="2302826" y="4758690"/>
              <a:ext cx="504192" cy="799148"/>
            </a:xfrm>
            <a:custGeom>
              <a:avLst/>
              <a:gdLst/>
              <a:ahLst/>
              <a:cxnLst/>
              <a:rect l="l" t="t" r="r" b="b"/>
              <a:pathLst>
                <a:path w="504192" h="799148">
                  <a:moveTo>
                    <a:pt x="230824" y="799148"/>
                  </a:moveTo>
                  <a:cubicBezTo>
                    <a:pt x="48648" y="574660"/>
                    <a:pt x="0" y="270065"/>
                    <a:pt x="103189" y="0"/>
                  </a:cubicBezTo>
                  <a:lnTo>
                    <a:pt x="432754" y="125730"/>
                  </a:lnTo>
                  <a:cubicBezTo>
                    <a:pt x="374228" y="278183"/>
                    <a:pt x="401458" y="450278"/>
                    <a:pt x="504192" y="577215"/>
                  </a:cubicBezTo>
                  <a:close/>
                </a:path>
              </a:pathLst>
            </a:custGeom>
            <a:solidFill>
              <a:srgbClr val="9E402C"/>
            </a:solidFill>
            <a:ln>
              <a:noFill/>
            </a:ln>
          </p:spPr>
        </p:sp>
        <p:sp>
          <p:nvSpPr>
            <p:cNvPr id="106" name="Freeform 106"/>
            <p:cNvSpPr/>
            <p:nvPr/>
          </p:nvSpPr>
          <p:spPr>
            <a:xfrm>
              <a:off x="2406015" y="4419600"/>
              <a:ext cx="468630" cy="464820"/>
            </a:xfrm>
            <a:custGeom>
              <a:avLst/>
              <a:gdLst/>
              <a:ahLst/>
              <a:cxnLst/>
              <a:rect l="l" t="t" r="r" b="b"/>
              <a:pathLst>
                <a:path w="468630" h="464820">
                  <a:moveTo>
                    <a:pt x="0" y="339090"/>
                  </a:moveTo>
                  <a:cubicBezTo>
                    <a:pt x="51026" y="206356"/>
                    <a:pt x="136113" y="89403"/>
                    <a:pt x="246698" y="0"/>
                  </a:cubicBezTo>
                  <a:lnTo>
                    <a:pt x="468630" y="273367"/>
                  </a:lnTo>
                  <a:cubicBezTo>
                    <a:pt x="406277" y="323876"/>
                    <a:pt x="358316" y="389905"/>
                    <a:pt x="329565" y="464820"/>
                  </a:cubicBezTo>
                  <a:close/>
                </a:path>
              </a:pathLst>
            </a:custGeom>
            <a:solidFill>
              <a:srgbClr val="EEB5A9"/>
            </a:solidFill>
            <a:ln>
              <a:noFill/>
            </a:ln>
          </p:spPr>
        </p:sp>
        <p:sp>
          <p:nvSpPr>
            <p:cNvPr id="107" name="Freeform 107"/>
            <p:cNvSpPr/>
            <p:nvPr/>
          </p:nvSpPr>
          <p:spPr>
            <a:xfrm>
              <a:off x="2652712" y="4308158"/>
              <a:ext cx="323850" cy="384810"/>
            </a:xfrm>
            <a:custGeom>
              <a:avLst/>
              <a:gdLst/>
              <a:ahLst/>
              <a:cxnLst/>
              <a:rect l="l" t="t" r="r" b="b"/>
              <a:pathLst>
                <a:path w="323850" h="384810">
                  <a:moveTo>
                    <a:pt x="0" y="111443"/>
                  </a:moveTo>
                  <a:cubicBezTo>
                    <a:pt x="54871" y="66575"/>
                    <a:pt x="115396" y="29107"/>
                    <a:pt x="180022" y="0"/>
                  </a:cubicBezTo>
                  <a:lnTo>
                    <a:pt x="323850" y="321945"/>
                  </a:lnTo>
                  <a:cubicBezTo>
                    <a:pt x="287268" y="338341"/>
                    <a:pt x="253002" y="359477"/>
                    <a:pt x="221933" y="384810"/>
                  </a:cubicBezTo>
                  <a:close/>
                </a:path>
              </a:pathLst>
            </a:custGeom>
            <a:solidFill>
              <a:srgbClr val="C9D2F2"/>
            </a:solidFill>
            <a:ln>
              <a:noFill/>
            </a:ln>
          </p:spPr>
        </p:sp>
        <p:sp>
          <p:nvSpPr>
            <p:cNvPr id="108" name="Freeform 108"/>
            <p:cNvSpPr/>
            <p:nvPr/>
          </p:nvSpPr>
          <p:spPr>
            <a:xfrm>
              <a:off x="2832735" y="4238443"/>
              <a:ext cx="329565" cy="391660"/>
            </a:xfrm>
            <a:custGeom>
              <a:avLst/>
              <a:gdLst/>
              <a:ahLst/>
              <a:cxnLst/>
              <a:rect l="l" t="t" r="r" b="b"/>
              <a:pathLst>
                <a:path w="329565" h="391660">
                  <a:moveTo>
                    <a:pt x="0" y="69715"/>
                  </a:moveTo>
                  <a:cubicBezTo>
                    <a:pt x="103766" y="23690"/>
                    <a:pt x="216050" y="0"/>
                    <a:pt x="329565" y="182"/>
                  </a:cubicBezTo>
                  <a:lnTo>
                    <a:pt x="329565" y="352607"/>
                  </a:lnTo>
                  <a:cubicBezTo>
                    <a:pt x="265602" y="352489"/>
                    <a:pt x="202327" y="365793"/>
                    <a:pt x="143828" y="391660"/>
                  </a:cubicBezTo>
                  <a:close/>
                </a:path>
              </a:pathLst>
            </a:custGeom>
            <a:solidFill>
              <a:srgbClr val="DDE3F8"/>
            </a:solidFill>
            <a:ln>
              <a:noFill/>
            </a:ln>
          </p:spPr>
        </p:sp>
        <p:sp>
          <p:nvSpPr>
            <p:cNvPr id="109" name="TextBox 109"/>
            <p:cNvSpPr txBox="1"/>
            <p:nvPr/>
          </p:nvSpPr>
          <p:spPr>
            <a:xfrm>
              <a:off x="2722166" y="4851082"/>
              <a:ext cx="880267" cy="322707"/>
            </a:xfrm>
            <a:prstGeom prst="rect">
              <a:avLst/>
            </a:prstGeom>
            <a:noFill/>
            <a:ln>
              <a:noFill/>
            </a:ln>
          </p:spPr>
          <p:txBody>
            <a:bodyPr wrap="none" lIns="0" tIns="0" rIns="0" bIns="0" anchor="t" anchorCtr="0">
              <a:spAutoFit/>
            </a:bodyPr>
            <a:lstStyle/>
            <a:p>
              <a:pPr algn="ctr"/>
              <a:r>
                <a:rPr lang="zh-CN" sz="1650" b="1" dirty="0">
                  <a:solidFill>
                    <a:srgbClr val="543E3A"/>
                  </a:solidFill>
                  <a:latin typeface="+mn-lt"/>
                  <a:ea typeface="+mn-ea"/>
                  <a:cs typeface="+mn-cs"/>
                </a:rPr>
                <a:t>2.2亿​​</a:t>
              </a:r>
            </a:p>
          </p:txBody>
        </p:sp>
        <p:sp>
          <p:nvSpPr>
            <p:cNvPr id="110" name="TextBox 110"/>
            <p:cNvSpPr txBox="1"/>
            <p:nvPr/>
          </p:nvSpPr>
          <p:spPr>
            <a:xfrm>
              <a:off x="2991955" y="5168741"/>
              <a:ext cx="340690"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曝光量</a:t>
              </a:r>
            </a:p>
          </p:txBody>
        </p:sp>
      </p:grpSp>
      <p:grpSp>
        <p:nvGrpSpPr>
          <p:cNvPr id="121" name="conclusion-1"/>
          <p:cNvGrpSpPr/>
          <p:nvPr/>
        </p:nvGrpSpPr>
        <p:grpSpPr>
          <a:xfrm>
            <a:off x="5334000" y="3771900"/>
            <a:ext cx="6572250" cy="1219200"/>
            <a:chOff x="5334000" y="3771900"/>
            <a:chExt cx="6572250" cy="1219200"/>
          </a:xfrm>
        </p:grpSpPr>
        <p:sp>
          <p:nvSpPr>
            <p:cNvPr id="112" name="Rectangle 112"/>
            <p:cNvSpPr/>
            <p:nvPr/>
          </p:nvSpPr>
          <p:spPr>
            <a:xfrm>
              <a:off x="5334000" y="3771900"/>
              <a:ext cx="6572250" cy="1219200"/>
            </a:xfrm>
            <a:prstGeom prst="roundRect">
              <a:avLst>
                <a:gd name="adj" fmla="val 7812"/>
              </a:avLst>
            </a:prstGeom>
            <a:solidFill>
              <a:srgbClr val="F0F3FB"/>
            </a:solidFill>
            <a:ln>
              <a:noFill/>
            </a:ln>
          </p:spPr>
        </p:sp>
        <p:sp>
          <p:nvSpPr>
            <p:cNvPr id="113" name="Rectangle 113"/>
            <p:cNvSpPr/>
            <p:nvPr/>
          </p:nvSpPr>
          <p:spPr>
            <a:xfrm>
              <a:off x="5524500" y="3943350"/>
              <a:ext cx="285750" cy="285750"/>
            </a:xfrm>
            <a:prstGeom prst="roundRect">
              <a:avLst>
                <a:gd name="adj" fmla="val 20000"/>
              </a:avLst>
            </a:prstGeom>
            <a:solidFill>
              <a:srgbClr val="E8634C"/>
            </a:solidFill>
            <a:ln>
              <a:noFill/>
            </a:ln>
          </p:spPr>
        </p:sp>
        <p:grpSp>
          <p:nvGrpSpPr>
            <p:cNvPr id="118" name="Group 118"/>
            <p:cNvGrpSpPr/>
            <p:nvPr/>
          </p:nvGrpSpPr>
          <p:grpSpPr>
            <a:xfrm>
              <a:off x="5603081" y="4021931"/>
              <a:ext cx="128588" cy="121444"/>
              <a:chOff x="5603081" y="4021931"/>
              <a:chExt cx="128588" cy="121444"/>
            </a:xfrm>
          </p:grpSpPr>
          <p:sp>
            <p:nvSpPr>
              <p:cNvPr id="114" name="Freeform 114"/>
              <p:cNvSpPr/>
              <p:nvPr/>
            </p:nvSpPr>
            <p:spPr>
              <a:xfrm>
                <a:off x="5603081" y="4050506"/>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FFFFFF"/>
                </a:solidFill>
              </a:ln>
            </p:spPr>
          </p:sp>
          <p:sp>
            <p:nvSpPr>
              <p:cNvPr id="115" name="Freeform 115"/>
              <p:cNvSpPr/>
              <p:nvPr/>
            </p:nvSpPr>
            <p:spPr>
              <a:xfrm>
                <a:off x="5638800" y="4021931"/>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FFFFFF"/>
                </a:solidFill>
              </a:ln>
            </p:spPr>
          </p:sp>
          <p:sp>
            <p:nvSpPr>
              <p:cNvPr id="116" name="Freeform 116"/>
              <p:cNvSpPr/>
              <p:nvPr/>
            </p:nvSpPr>
            <p:spPr>
              <a:xfrm>
                <a:off x="5667375" y="4086225"/>
                <a:ext cx="9525" cy="9525"/>
              </a:xfrm>
              <a:custGeom>
                <a:avLst/>
                <a:gdLst/>
                <a:ahLst/>
                <a:cxnLst/>
                <a:rect l="l" t="t" r="r" b="b"/>
                <a:pathLst>
                  <a:path w="9525" h="9525">
                    <a:moveTo>
                      <a:pt x="0" y="0"/>
                    </a:moveTo>
                    <a:lnTo>
                      <a:pt x="0" y="71"/>
                    </a:lnTo>
                  </a:path>
                </a:pathLst>
              </a:custGeom>
              <a:noFill/>
              <a:ln w="14288">
                <a:solidFill>
                  <a:srgbClr val="FFFFFF"/>
                </a:solidFill>
              </a:ln>
            </p:spPr>
          </p:sp>
          <p:sp>
            <p:nvSpPr>
              <p:cNvPr id="117" name="Freeform 117"/>
              <p:cNvSpPr/>
              <p:nvPr/>
            </p:nvSpPr>
            <p:spPr>
              <a:xfrm>
                <a:off x="5603081" y="4093369"/>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FFFFFF"/>
                </a:solidFill>
              </a:ln>
            </p:spPr>
          </p:sp>
        </p:grpSp>
        <p:sp>
          <p:nvSpPr>
            <p:cNvPr id="119" name="TextBox 119"/>
            <p:cNvSpPr txBox="1"/>
            <p:nvPr/>
          </p:nvSpPr>
          <p:spPr>
            <a:xfrm>
              <a:off x="5918835" y="4021931"/>
              <a:ext cx="1519174" cy="220028"/>
            </a:xfrm>
            <a:prstGeom prst="rect">
              <a:avLst/>
            </a:prstGeom>
            <a:noFill/>
            <a:ln>
              <a:noFill/>
            </a:ln>
          </p:spPr>
          <p:txBody>
            <a:bodyPr wrap="none" lIns="0" tIns="0" rIns="0" bIns="0" anchor="t" anchorCtr="0">
              <a:spAutoFit/>
            </a:bodyPr>
            <a:lstStyle/>
            <a:p>
              <a:pPr algn="l"/>
              <a:r>
                <a:rPr lang="zh-CN" sz="1120" b="1" dirty="0">
                  <a:solidFill>
                    <a:srgbClr val="543E3A"/>
                  </a:solidFill>
                  <a:latin typeface="+mn-lt"/>
                  <a:ea typeface="+mn-ea"/>
                  <a:cs typeface="+mn-cs"/>
                </a:rPr>
                <a:t>成本控制提升利润空间</a:t>
              </a:r>
            </a:p>
          </p:txBody>
        </p:sp>
        <p:sp>
          <p:nvSpPr>
            <p:cNvPr id="120" name="TextBox 120"/>
            <p:cNvSpPr txBox="1"/>
            <p:nvPr/>
          </p:nvSpPr>
          <p:spPr>
            <a:xfrm>
              <a:off x="5519738" y="4364593"/>
              <a:ext cx="4372864"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88706B"/>
                  </a:solidFill>
                  <a:latin typeface="+mn-lt"/>
                  <a:ea typeface="+mn-ea"/>
                  <a:cs typeface="+mn-cs"/>
                </a:rPr>
                <a:t>与供应商协商降10%进价，售价不变时ROI提升约3%。精准营销降无效广告支出，营销​​​​</a:t>
              </a:r>
              <a:br/>
              <a:r>
                <a:rPr lang="zh-CN" sz="860" dirty="0">
                  <a:solidFill>
                    <a:srgbClr val="88706B"/>
                  </a:solidFill>
                  <a:latin typeface="+mn-lt"/>
                  <a:ea typeface="+mn-ea"/>
                  <a:cs typeface="+mn-cs"/>
                </a:rPr>
                <a:t>成本占比降15%促ROI提高。另外退货期限从7天延长至15天，复购率增加10%​​​​​</a:t>
              </a:r>
            </a:p>
          </p:txBody>
        </p:sp>
      </p:grpSp>
      <p:grpSp>
        <p:nvGrpSpPr>
          <p:cNvPr id="129" name="conclusion-2"/>
          <p:cNvGrpSpPr/>
          <p:nvPr/>
        </p:nvGrpSpPr>
        <p:grpSpPr>
          <a:xfrm>
            <a:off x="5334000" y="5124450"/>
            <a:ext cx="6572250" cy="1352550"/>
            <a:chOff x="5334000" y="5124450"/>
            <a:chExt cx="6572250" cy="1352550"/>
          </a:xfrm>
        </p:grpSpPr>
        <p:sp>
          <p:nvSpPr>
            <p:cNvPr id="122" name="Rectangle 122"/>
            <p:cNvSpPr/>
            <p:nvPr/>
          </p:nvSpPr>
          <p:spPr>
            <a:xfrm>
              <a:off x="5334000" y="5124450"/>
              <a:ext cx="6572250" cy="1352550"/>
            </a:xfrm>
            <a:prstGeom prst="roundRect">
              <a:avLst>
                <a:gd name="adj" fmla="val 7042"/>
              </a:avLst>
            </a:prstGeom>
            <a:solidFill>
              <a:srgbClr val="F0F3FB"/>
            </a:solidFill>
            <a:ln>
              <a:noFill/>
            </a:ln>
          </p:spPr>
        </p:sp>
        <p:sp>
          <p:nvSpPr>
            <p:cNvPr id="123" name="Rectangle 123"/>
            <p:cNvSpPr/>
            <p:nvPr/>
          </p:nvSpPr>
          <p:spPr>
            <a:xfrm>
              <a:off x="5524500" y="5295900"/>
              <a:ext cx="285750" cy="285750"/>
            </a:xfrm>
            <a:prstGeom prst="roundRect">
              <a:avLst>
                <a:gd name="adj" fmla="val 20000"/>
              </a:avLst>
            </a:prstGeom>
            <a:solidFill>
              <a:srgbClr val="C45F4A"/>
            </a:solidFill>
            <a:ln>
              <a:noFill/>
            </a:ln>
          </p:spPr>
        </p:sp>
        <p:grpSp>
          <p:nvGrpSpPr>
            <p:cNvPr id="126" name="Group 126"/>
            <p:cNvGrpSpPr/>
            <p:nvPr/>
          </p:nvGrpSpPr>
          <p:grpSpPr>
            <a:xfrm>
              <a:off x="5603081" y="5403056"/>
              <a:ext cx="128588" cy="71438"/>
              <a:chOff x="5603081" y="5403056"/>
              <a:chExt cx="128588" cy="71438"/>
            </a:xfrm>
          </p:grpSpPr>
          <p:sp>
            <p:nvSpPr>
              <p:cNvPr id="124" name="Freeform 124"/>
              <p:cNvSpPr/>
              <p:nvPr/>
            </p:nvSpPr>
            <p:spPr>
              <a:xfrm>
                <a:off x="5603081" y="54030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FFFFFF"/>
                </a:solidFill>
              </a:ln>
            </p:spPr>
          </p:sp>
          <p:sp>
            <p:nvSpPr>
              <p:cNvPr id="125" name="Freeform 125"/>
              <p:cNvSpPr/>
              <p:nvPr/>
            </p:nvSpPr>
            <p:spPr>
              <a:xfrm>
                <a:off x="5681662" y="5403056"/>
                <a:ext cx="50006" cy="50006"/>
              </a:xfrm>
              <a:custGeom>
                <a:avLst/>
                <a:gdLst/>
                <a:ahLst/>
                <a:cxnLst/>
                <a:rect l="l" t="t" r="r" b="b"/>
                <a:pathLst>
                  <a:path w="50006" h="50006">
                    <a:moveTo>
                      <a:pt x="0" y="0"/>
                    </a:moveTo>
                    <a:lnTo>
                      <a:pt x="50006" y="0"/>
                    </a:lnTo>
                    <a:lnTo>
                      <a:pt x="50006" y="50006"/>
                    </a:lnTo>
                  </a:path>
                </a:pathLst>
              </a:custGeom>
              <a:noFill/>
              <a:ln w="14288">
                <a:solidFill>
                  <a:srgbClr val="FFFFFF"/>
                </a:solidFill>
              </a:ln>
            </p:spPr>
          </p:sp>
        </p:grpSp>
        <p:sp>
          <p:nvSpPr>
            <p:cNvPr id="127" name="TextBox 127"/>
            <p:cNvSpPr txBox="1"/>
            <p:nvPr/>
          </p:nvSpPr>
          <p:spPr>
            <a:xfrm>
              <a:off x="5918835" y="5374481"/>
              <a:ext cx="1669948" cy="220028"/>
            </a:xfrm>
            <a:prstGeom prst="rect">
              <a:avLst/>
            </a:prstGeom>
            <a:noFill/>
            <a:ln>
              <a:noFill/>
            </a:ln>
          </p:spPr>
          <p:txBody>
            <a:bodyPr wrap="none" lIns="0" tIns="0" rIns="0" bIns="0" anchor="t" anchorCtr="0">
              <a:spAutoFit/>
            </a:bodyPr>
            <a:lstStyle/>
            <a:p>
              <a:pPr algn="l"/>
              <a:r>
                <a:rPr lang="zh-CN" sz="1120" b="1" dirty="0">
                  <a:solidFill>
                    <a:srgbClr val="543E3A"/>
                  </a:solidFill>
                  <a:latin typeface="+mn-lt"/>
                  <a:ea typeface="+mn-ea"/>
                  <a:cs typeface="+mn-cs"/>
                </a:rPr>
                <a:t>营销发力社交与促销助力</a:t>
              </a:r>
            </a:p>
          </p:txBody>
        </p:sp>
        <p:sp>
          <p:nvSpPr>
            <p:cNvPr id="128" name="TextBox 128"/>
            <p:cNvSpPr txBox="1"/>
            <p:nvPr/>
          </p:nvSpPr>
          <p:spPr>
            <a:xfrm>
              <a:off x="5519738" y="5717143"/>
              <a:ext cx="4476623" cy="531019"/>
            </a:xfrm>
            <a:prstGeom prst="rect">
              <a:avLst/>
            </a:prstGeom>
            <a:noFill/>
            <a:ln>
              <a:noFill/>
            </a:ln>
          </p:spPr>
          <p:txBody>
            <a:bodyPr wrap="none" lIns="0" tIns="0" rIns="0" bIns="0" anchor="t" anchorCtr="0">
              <a:spAutoFit/>
            </a:bodyPr>
            <a:lstStyle/>
            <a:p>
              <a:pPr algn="l">
                <a:lnSpc>
                  <a:spcPts val="1425"/>
                </a:lnSpc>
              </a:pPr>
              <a:r>
                <a:rPr lang="zh-CN" sz="860" dirty="0">
                  <a:solidFill>
                    <a:srgbClr val="88706B"/>
                  </a:solidFill>
                  <a:latin typeface="+mn-lt"/>
                  <a:ea typeface="+mn-ea"/>
                  <a:cs typeface="+mn-cs"/>
                </a:rPr>
                <a:t>社交媒体推广效果显著，网红推荐使眼影盘点击率增80%、成交率从10%提至30%。​​​​</a:t>
              </a:r>
              <a:br/>
              <a:r>
                <a:rPr lang="zh-CN" sz="860" dirty="0">
                  <a:solidFill>
                    <a:srgbClr val="88706B"/>
                  </a:solidFill>
                  <a:latin typeface="+mn-lt"/>
                  <a:ea typeface="+mn-ea"/>
                  <a:cs typeface="+mn-cs"/>
                </a:rPr>
                <a:t>促销期间订单大增，“双11”满减赠小样让订单量比平日增150%，折扣扩大的商品成交​​​​​​</a:t>
              </a:r>
              <a:br/>
              <a:r>
                <a:rPr lang="zh-CN" sz="860" dirty="0">
                  <a:solidFill>
                    <a:srgbClr val="88706B"/>
                  </a:solidFill>
                  <a:latin typeface="+mn-lt"/>
                  <a:ea typeface="+mn-ea"/>
                  <a:cs typeface="+mn-cs"/>
                </a:rPr>
                <a:t>率升50%。​​</a:t>
              </a:r>
            </a:p>
          </p:txBody>
        </p:sp>
      </p:gr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nel-body"/>
          <p:cNvSpPr/>
          <p:nvPr/>
        </p:nvSpPr>
        <p:spPr>
          <a:xfrm>
            <a:off x="342900" y="838200"/>
            <a:ext cx="11506200" cy="5657850"/>
          </a:xfrm>
          <a:prstGeom prst="roundRect">
            <a:avLst>
              <a:gd name="adj" fmla="val 2357"/>
            </a:avLst>
          </a:prstGeom>
          <a:solidFill>
            <a:srgbClr val="F0F3FB"/>
          </a:solidFill>
          <a:ln>
            <a:noFill/>
          </a:ln>
        </p:spPr>
      </p:sp>
      <p:grpSp>
        <p:nvGrpSpPr>
          <p:cNvPr id="7" name="page-header"/>
          <p:cNvGrpSpPr/>
          <p:nvPr/>
        </p:nvGrpSpPr>
        <p:grpSpPr>
          <a:xfrm>
            <a:off x="0" y="0"/>
            <a:ext cx="5905500" cy="542925"/>
            <a:chOff x="0" y="0"/>
            <a:chExt cx="5905500" cy="542925"/>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4" name="TextBox 4"/>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77​​</a:t>
              </a:r>
            </a:p>
          </p:txBody>
        </p:sp>
        <p:sp>
          <p:nvSpPr>
            <p:cNvPr id="5" name="TextBox 5"/>
            <p:cNvSpPr txBox="1"/>
            <p:nvPr/>
          </p:nvSpPr>
          <p:spPr>
            <a:xfrm>
              <a:off x="942594" y="151448"/>
              <a:ext cx="2398936"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个人未来发展规划​</a:t>
              </a:r>
            </a:p>
          </p:txBody>
        </p:sp>
        <p:sp>
          <p:nvSpPr>
            <p:cNvPr id="6" name="Line 6"/>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9" name="intro-statement"/>
          <p:cNvGrpSpPr/>
          <p:nvPr/>
        </p:nvGrpSpPr>
        <p:grpSpPr>
          <a:xfrm>
            <a:off x="3020568" y="1089660"/>
            <a:ext cx="6150864" cy="234696"/>
            <a:chOff x="3020568" y="1089660"/>
            <a:chExt cx="6150864" cy="234696"/>
          </a:xfrm>
        </p:grpSpPr>
        <p:sp>
          <p:nvSpPr>
            <p:cNvPr id="8" name="TextBox 8"/>
            <p:cNvSpPr txBox="1"/>
            <p:nvPr/>
          </p:nvSpPr>
          <p:spPr>
            <a:xfrm>
              <a:off x="3020568" y="1089660"/>
              <a:ext cx="6150864" cy="234696"/>
            </a:xfrm>
            <a:prstGeom prst="rect">
              <a:avLst/>
            </a:prstGeom>
            <a:noFill/>
            <a:ln>
              <a:noFill/>
            </a:ln>
          </p:spPr>
          <p:txBody>
            <a:bodyPr wrap="none" lIns="0" tIns="0" rIns="0" bIns="0" anchor="t" anchorCtr="0">
              <a:spAutoFit/>
            </a:bodyPr>
            <a:lstStyle/>
            <a:p>
              <a:pPr algn="ctr"/>
              <a:r>
                <a:rPr lang="zh-CN" sz="1200" b="1" dirty="0">
                  <a:solidFill>
                    <a:srgbClr val="4C3733"/>
                  </a:solidFill>
                  <a:latin typeface="+mn-lt"/>
                  <a:ea typeface="+mn-ea"/>
                  <a:cs typeface="+mn-cs"/>
                </a:rPr>
                <a:t>未来我将更高效地完成项目任务，提升团队整体绩效和竞争力，为公司创造更大的价值</a:t>
              </a:r>
            </a:p>
          </p:txBody>
        </p:sp>
      </p:grpSp>
      <p:sp>
        <p:nvSpPr>
          <p:cNvPr id="10" name="growth-s-curve"/>
          <p:cNvSpPr/>
          <p:nvPr/>
        </p:nvSpPr>
        <p:spPr>
          <a:xfrm>
            <a:off x="1047750" y="1638300"/>
            <a:ext cx="8934450" cy="2600325"/>
          </a:xfrm>
          <a:custGeom>
            <a:avLst/>
            <a:gdLst/>
            <a:ahLst/>
            <a:cxnLst/>
            <a:rect l="l" t="t" r="r" b="b"/>
            <a:pathLst>
              <a:path w="8934450" h="2600325">
                <a:moveTo>
                  <a:pt x="0" y="2600325"/>
                </a:moveTo>
                <a:cubicBezTo>
                  <a:pt x="952500" y="2219325"/>
                  <a:pt x="1905000" y="1905000"/>
                  <a:pt x="2857500" y="1600200"/>
                </a:cubicBezTo>
                <a:cubicBezTo>
                  <a:pt x="3905250" y="1219200"/>
                  <a:pt x="4667250" y="1076325"/>
                  <a:pt x="5667375" y="933450"/>
                </a:cubicBezTo>
                <a:cubicBezTo>
                  <a:pt x="6667500" y="790575"/>
                  <a:pt x="7524750" y="600075"/>
                  <a:pt x="8429625" y="219075"/>
                </a:cubicBezTo>
                <a:cubicBezTo>
                  <a:pt x="8667750" y="123825"/>
                  <a:pt x="8810625" y="57150"/>
                  <a:pt x="8934450" y="0"/>
                </a:cubicBezTo>
              </a:path>
            </a:pathLst>
          </a:custGeom>
          <a:noFill/>
          <a:ln w="33338">
            <a:solidFill>
              <a:srgbClr val="C45F4A"/>
            </a:solidFill>
            <a:tailEnd type="triangle" w="lg" len="lg"/>
          </a:ln>
        </p:spPr>
      </p:sp>
      <p:sp>
        <p:nvSpPr>
          <p:cNvPr id="11" name="node-exec"/>
          <p:cNvSpPr/>
          <p:nvPr/>
        </p:nvSpPr>
        <p:spPr>
          <a:xfrm>
            <a:off x="3838575" y="3171825"/>
            <a:ext cx="133350" cy="133350"/>
          </a:xfrm>
          <a:prstGeom prst="ellipse">
            <a:avLst/>
          </a:prstGeom>
          <a:solidFill>
            <a:srgbClr val="E8634C"/>
          </a:solidFill>
          <a:ln>
            <a:noFill/>
          </a:ln>
        </p:spPr>
      </p:sp>
      <p:sp>
        <p:nvSpPr>
          <p:cNvPr id="12" name="node-opt"/>
          <p:cNvSpPr/>
          <p:nvPr/>
        </p:nvSpPr>
        <p:spPr>
          <a:xfrm>
            <a:off x="6648450" y="2505075"/>
            <a:ext cx="133350" cy="133350"/>
          </a:xfrm>
          <a:prstGeom prst="ellipse">
            <a:avLst/>
          </a:prstGeom>
          <a:solidFill>
            <a:srgbClr val="E8634C"/>
          </a:solidFill>
          <a:ln>
            <a:noFill/>
          </a:ln>
        </p:spPr>
      </p:sp>
      <p:sp>
        <p:nvSpPr>
          <p:cNvPr id="13" name="node-eco"/>
          <p:cNvSpPr/>
          <p:nvPr/>
        </p:nvSpPr>
        <p:spPr>
          <a:xfrm>
            <a:off x="9410700" y="1790700"/>
            <a:ext cx="133350" cy="133350"/>
          </a:xfrm>
          <a:prstGeom prst="ellipse">
            <a:avLst/>
          </a:prstGeom>
          <a:solidFill>
            <a:srgbClr val="E8634C"/>
          </a:solidFill>
          <a:ln>
            <a:noFill/>
          </a:ln>
        </p:spPr>
      </p:sp>
      <p:grpSp>
        <p:nvGrpSpPr>
          <p:cNvPr id="19" name="axis-labels"/>
          <p:cNvGrpSpPr/>
          <p:nvPr/>
        </p:nvGrpSpPr>
        <p:grpSpPr>
          <a:xfrm>
            <a:off x="489204" y="1775460"/>
            <a:ext cx="335280" cy="3720846"/>
            <a:chOff x="489204" y="1775460"/>
            <a:chExt cx="335280" cy="3720846"/>
          </a:xfrm>
        </p:grpSpPr>
        <p:sp>
          <p:nvSpPr>
            <p:cNvPr id="14" name="TextBox 14"/>
            <p:cNvSpPr txBox="1"/>
            <p:nvPr/>
          </p:nvSpPr>
          <p:spPr>
            <a:xfrm>
              <a:off x="489204" y="1775460"/>
              <a:ext cx="335280" cy="234696"/>
            </a:xfrm>
            <a:prstGeom prst="rect">
              <a:avLst/>
            </a:prstGeom>
            <a:noFill/>
            <a:ln>
              <a:noFill/>
            </a:ln>
          </p:spPr>
          <p:txBody>
            <a:bodyPr wrap="none" lIns="0" tIns="0" rIns="0" bIns="0" anchor="t" anchorCtr="0">
              <a:spAutoFit/>
            </a:bodyPr>
            <a:lstStyle/>
            <a:p>
              <a:pPr algn="l"/>
              <a:r>
                <a:rPr lang="zh-CN" sz="1200" b="1" dirty="0">
                  <a:solidFill>
                    <a:srgbClr val="C45F4A"/>
                  </a:solidFill>
                  <a:latin typeface="+mn-lt"/>
                  <a:ea typeface="+mn-ea"/>
                  <a:cs typeface="+mn-cs"/>
                </a:rPr>
                <a:t>进步</a:t>
              </a:r>
            </a:p>
          </p:txBody>
        </p:sp>
        <p:sp>
          <p:nvSpPr>
            <p:cNvPr id="15" name="Freeform 15"/>
            <p:cNvSpPr/>
            <p:nvPr/>
          </p:nvSpPr>
          <p:spPr>
            <a:xfrm>
              <a:off x="533400" y="2171700"/>
              <a:ext cx="266700" cy="742950"/>
            </a:xfrm>
            <a:custGeom>
              <a:avLst/>
              <a:gdLst/>
              <a:ahLst/>
              <a:cxnLst/>
              <a:rect l="l" t="t" r="r" b="b"/>
              <a:pathLst>
                <a:path w="266700" h="742950">
                  <a:moveTo>
                    <a:pt x="133350" y="0"/>
                  </a:moveTo>
                  <a:lnTo>
                    <a:pt x="266700" y="266700"/>
                  </a:lnTo>
                  <a:lnTo>
                    <a:pt x="190500" y="266700"/>
                  </a:lnTo>
                  <a:lnTo>
                    <a:pt x="190500" y="742950"/>
                  </a:lnTo>
                  <a:lnTo>
                    <a:pt x="76200" y="742950"/>
                  </a:lnTo>
                  <a:lnTo>
                    <a:pt x="76200" y="266700"/>
                  </a:lnTo>
                  <a:lnTo>
                    <a:pt x="0" y="266700"/>
                  </a:lnTo>
                  <a:close/>
                </a:path>
              </a:pathLst>
            </a:custGeom>
            <a:solidFill>
              <a:srgbClr val="E8634C">
                <a:alpha val="85000"/>
              </a:srgbClr>
            </a:solidFill>
            <a:ln>
              <a:noFill/>
            </a:ln>
          </p:spPr>
        </p:sp>
        <p:sp>
          <p:nvSpPr>
            <p:cNvPr id="16" name="TextBox 16"/>
            <p:cNvSpPr txBox="1"/>
            <p:nvPr/>
          </p:nvSpPr>
          <p:spPr>
            <a:xfrm>
              <a:off x="489204" y="3223260"/>
              <a:ext cx="335280" cy="234696"/>
            </a:xfrm>
            <a:prstGeom prst="rect">
              <a:avLst/>
            </a:prstGeom>
            <a:noFill/>
            <a:ln>
              <a:noFill/>
            </a:ln>
          </p:spPr>
          <p:txBody>
            <a:bodyPr wrap="none" lIns="0" tIns="0" rIns="0" bIns="0" anchor="t" anchorCtr="0">
              <a:spAutoFit/>
            </a:bodyPr>
            <a:lstStyle/>
            <a:p>
              <a:pPr algn="l"/>
              <a:r>
                <a:rPr lang="zh-CN" sz="1200" b="1" dirty="0">
                  <a:solidFill>
                    <a:srgbClr val="C45F4A"/>
                  </a:solidFill>
                  <a:latin typeface="+mn-lt"/>
                  <a:ea typeface="+mn-ea"/>
                  <a:cs typeface="+mn-cs"/>
                </a:rPr>
                <a:t>优化</a:t>
              </a:r>
            </a:p>
          </p:txBody>
        </p:sp>
        <p:sp>
          <p:nvSpPr>
            <p:cNvPr id="17" name="Freeform 17"/>
            <p:cNvSpPr/>
            <p:nvPr/>
          </p:nvSpPr>
          <p:spPr>
            <a:xfrm>
              <a:off x="533400" y="3657600"/>
              <a:ext cx="266700" cy="742950"/>
            </a:xfrm>
            <a:custGeom>
              <a:avLst/>
              <a:gdLst/>
              <a:ahLst/>
              <a:cxnLst/>
              <a:rect l="l" t="t" r="r" b="b"/>
              <a:pathLst>
                <a:path w="266700" h="742950">
                  <a:moveTo>
                    <a:pt x="133350" y="0"/>
                  </a:moveTo>
                  <a:lnTo>
                    <a:pt x="266700" y="266700"/>
                  </a:lnTo>
                  <a:lnTo>
                    <a:pt x="190500" y="266700"/>
                  </a:lnTo>
                  <a:lnTo>
                    <a:pt x="190500" y="742950"/>
                  </a:lnTo>
                  <a:lnTo>
                    <a:pt x="76200" y="742950"/>
                  </a:lnTo>
                  <a:lnTo>
                    <a:pt x="76200" y="266700"/>
                  </a:lnTo>
                  <a:lnTo>
                    <a:pt x="0" y="266700"/>
                  </a:lnTo>
                  <a:close/>
                </a:path>
              </a:pathLst>
            </a:custGeom>
            <a:solidFill>
              <a:srgbClr val="E8634C">
                <a:alpha val="85000"/>
              </a:srgbClr>
            </a:solidFill>
            <a:ln>
              <a:noFill/>
            </a:ln>
          </p:spPr>
        </p:sp>
        <p:sp>
          <p:nvSpPr>
            <p:cNvPr id="18" name="TextBox 18"/>
            <p:cNvSpPr txBox="1"/>
            <p:nvPr/>
          </p:nvSpPr>
          <p:spPr>
            <a:xfrm>
              <a:off x="489204" y="5261610"/>
              <a:ext cx="335280" cy="234696"/>
            </a:xfrm>
            <a:prstGeom prst="rect">
              <a:avLst/>
            </a:prstGeom>
            <a:noFill/>
            <a:ln>
              <a:noFill/>
            </a:ln>
          </p:spPr>
          <p:txBody>
            <a:bodyPr wrap="none" lIns="0" tIns="0" rIns="0" bIns="0" anchor="t" anchorCtr="0">
              <a:spAutoFit/>
            </a:bodyPr>
            <a:lstStyle/>
            <a:p>
              <a:pPr algn="l"/>
              <a:r>
                <a:rPr lang="zh-CN" sz="1200" b="1" dirty="0">
                  <a:solidFill>
                    <a:srgbClr val="C45F4A"/>
                  </a:solidFill>
                  <a:latin typeface="+mn-lt"/>
                  <a:ea typeface="+mn-ea"/>
                  <a:cs typeface="+mn-cs"/>
                </a:rPr>
                <a:t>执行</a:t>
              </a:r>
            </a:p>
          </p:txBody>
        </p:sp>
      </p:grpSp>
      <p:grpSp>
        <p:nvGrpSpPr>
          <p:cNvPr id="29" name="stage-exec"/>
          <p:cNvGrpSpPr/>
          <p:nvPr/>
        </p:nvGrpSpPr>
        <p:grpSpPr>
          <a:xfrm>
            <a:off x="1662112" y="2524125"/>
            <a:ext cx="1925638" cy="3231832"/>
            <a:chOff x="1662112" y="2524125"/>
            <a:chExt cx="1925638" cy="3231832"/>
          </a:xfrm>
        </p:grpSpPr>
        <p:grpSp>
          <p:nvGrpSpPr>
            <p:cNvPr id="25" name="Group 25"/>
            <p:cNvGrpSpPr/>
            <p:nvPr/>
          </p:nvGrpSpPr>
          <p:grpSpPr>
            <a:xfrm>
              <a:off x="3365500" y="2524125"/>
              <a:ext cx="222250" cy="285751"/>
              <a:chOff x="3365500" y="2524125"/>
              <a:chExt cx="222250" cy="285751"/>
            </a:xfrm>
          </p:grpSpPr>
          <p:sp>
            <p:nvSpPr>
              <p:cNvPr id="20" name="Freeform 20"/>
              <p:cNvSpPr/>
              <p:nvPr/>
            </p:nvSpPr>
            <p:spPr>
              <a:xfrm>
                <a:off x="3508375" y="25241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31750">
                <a:solidFill>
                  <a:srgbClr val="C45F4A"/>
                </a:solidFill>
              </a:ln>
            </p:spPr>
          </p:sp>
          <p:sp>
            <p:nvSpPr>
              <p:cNvPr id="21" name="Freeform 21"/>
              <p:cNvSpPr/>
              <p:nvPr/>
            </p:nvSpPr>
            <p:spPr>
              <a:xfrm>
                <a:off x="3365500" y="2524125"/>
                <a:ext cx="222250" cy="285751"/>
              </a:xfrm>
              <a:custGeom>
                <a:avLst/>
                <a:gdLst/>
                <a:ahLst/>
                <a:cxnLst/>
                <a:rect l="l" t="t" r="r" b="b"/>
                <a:pathLst>
                  <a:path w="222250" h="285751">
                    <a:moveTo>
                      <a:pt x="190500" y="285751"/>
                    </a:moveTo>
                    <a:lnTo>
                      <a:pt x="31750" y="285751"/>
                    </a:lnTo>
                    <a:cubicBezTo>
                      <a:pt x="14215" y="285751"/>
                      <a:pt x="0" y="271536"/>
                      <a:pt x="0" y="254001"/>
                    </a:cubicBezTo>
                    <a:lnTo>
                      <a:pt x="0" y="31750"/>
                    </a:lnTo>
                    <a:cubicBezTo>
                      <a:pt x="0" y="14215"/>
                      <a:pt x="14215" y="0"/>
                      <a:pt x="31750" y="0"/>
                    </a:cubicBezTo>
                    <a:lnTo>
                      <a:pt x="142875" y="0"/>
                    </a:lnTo>
                    <a:lnTo>
                      <a:pt x="222250" y="79375"/>
                    </a:lnTo>
                    <a:lnTo>
                      <a:pt x="222250" y="254001"/>
                    </a:lnTo>
                    <a:cubicBezTo>
                      <a:pt x="222250" y="271536"/>
                      <a:pt x="208035" y="285751"/>
                      <a:pt x="190500" y="285751"/>
                    </a:cubicBezTo>
                  </a:path>
                </a:pathLst>
              </a:custGeom>
              <a:noFill/>
              <a:ln w="31750">
                <a:solidFill>
                  <a:srgbClr val="C45F4A"/>
                </a:solidFill>
              </a:ln>
            </p:spPr>
          </p:sp>
          <p:sp>
            <p:nvSpPr>
              <p:cNvPr id="22" name="Freeform 22"/>
              <p:cNvSpPr/>
              <p:nvPr/>
            </p:nvSpPr>
            <p:spPr>
              <a:xfrm>
                <a:off x="3429000" y="2619375"/>
                <a:ext cx="15875" cy="9525"/>
              </a:xfrm>
              <a:custGeom>
                <a:avLst/>
                <a:gdLst/>
                <a:ahLst/>
                <a:cxnLst/>
                <a:rect l="l" t="t" r="r" b="b"/>
                <a:pathLst>
                  <a:path w="15875" h="9525">
                    <a:moveTo>
                      <a:pt x="0" y="0"/>
                    </a:moveTo>
                    <a:lnTo>
                      <a:pt x="15875" y="0"/>
                    </a:lnTo>
                  </a:path>
                </a:pathLst>
              </a:custGeom>
              <a:noFill/>
              <a:ln w="31750">
                <a:solidFill>
                  <a:srgbClr val="C45F4A"/>
                </a:solidFill>
              </a:ln>
            </p:spPr>
          </p:sp>
          <p:sp>
            <p:nvSpPr>
              <p:cNvPr id="23" name="Freeform 23"/>
              <p:cNvSpPr/>
              <p:nvPr/>
            </p:nvSpPr>
            <p:spPr>
              <a:xfrm>
                <a:off x="3429000" y="2682875"/>
                <a:ext cx="95250" cy="9525"/>
              </a:xfrm>
              <a:custGeom>
                <a:avLst/>
                <a:gdLst/>
                <a:ahLst/>
                <a:cxnLst/>
                <a:rect l="l" t="t" r="r" b="b"/>
                <a:pathLst>
                  <a:path w="95250" h="9525">
                    <a:moveTo>
                      <a:pt x="0" y="0"/>
                    </a:moveTo>
                    <a:lnTo>
                      <a:pt x="95250" y="0"/>
                    </a:lnTo>
                  </a:path>
                </a:pathLst>
              </a:custGeom>
              <a:noFill/>
              <a:ln w="31750">
                <a:solidFill>
                  <a:srgbClr val="C45F4A"/>
                </a:solidFill>
              </a:ln>
            </p:spPr>
          </p:sp>
          <p:sp>
            <p:nvSpPr>
              <p:cNvPr id="24" name="Freeform 24"/>
              <p:cNvSpPr/>
              <p:nvPr/>
            </p:nvSpPr>
            <p:spPr>
              <a:xfrm>
                <a:off x="3429000" y="2746376"/>
                <a:ext cx="95250" cy="9525"/>
              </a:xfrm>
              <a:custGeom>
                <a:avLst/>
                <a:gdLst/>
                <a:ahLst/>
                <a:cxnLst/>
                <a:rect l="l" t="t" r="r" b="b"/>
                <a:pathLst>
                  <a:path w="95250" h="9525">
                    <a:moveTo>
                      <a:pt x="0" y="0"/>
                    </a:moveTo>
                    <a:lnTo>
                      <a:pt x="95250" y="0"/>
                    </a:lnTo>
                  </a:path>
                </a:pathLst>
              </a:custGeom>
              <a:noFill/>
              <a:ln w="31750">
                <a:solidFill>
                  <a:srgbClr val="C45F4A"/>
                </a:solidFill>
              </a:ln>
            </p:spPr>
          </p:sp>
        </p:grpSp>
        <p:sp>
          <p:nvSpPr>
            <p:cNvPr id="26" name="TextBox 26"/>
            <p:cNvSpPr txBox="1"/>
            <p:nvPr/>
          </p:nvSpPr>
          <p:spPr>
            <a:xfrm>
              <a:off x="1899285" y="3021806"/>
              <a:ext cx="1669948" cy="220028"/>
            </a:xfrm>
            <a:prstGeom prst="rect">
              <a:avLst/>
            </a:prstGeom>
            <a:noFill/>
            <a:ln>
              <a:noFill/>
            </a:ln>
          </p:spPr>
          <p:txBody>
            <a:bodyPr wrap="none" lIns="0" tIns="0" rIns="0" bIns="0" anchor="t" anchorCtr="0">
              <a:spAutoFit/>
            </a:bodyPr>
            <a:lstStyle/>
            <a:p>
              <a:pPr algn="l"/>
              <a:r>
                <a:rPr lang="zh-CN" sz="1120" b="1" dirty="0">
                  <a:solidFill>
                    <a:srgbClr val="E8634C"/>
                  </a:solidFill>
                  <a:latin typeface="+mn-lt"/>
                  <a:ea typeface="+mn-ea"/>
                  <a:cs typeface="+mn-cs"/>
                </a:rPr>
                <a:t>研发效能提升与安全保障</a:t>
              </a:r>
            </a:p>
          </p:txBody>
        </p:sp>
        <p:sp>
          <p:nvSpPr>
            <p:cNvPr id="27" name="TextBox 27"/>
            <p:cNvSpPr txBox="1"/>
            <p:nvPr/>
          </p:nvSpPr>
          <p:spPr>
            <a:xfrm>
              <a:off x="1662112" y="3998595"/>
              <a:ext cx="1495425" cy="938212"/>
            </a:xfrm>
            <a:prstGeom prst="rect">
              <a:avLst/>
            </a:prstGeom>
            <a:noFill/>
            <a:ln>
              <a:noFill/>
            </a:ln>
          </p:spPr>
          <p:txBody>
            <a:bodyPr wrap="none" lIns="0" tIns="0" rIns="0" bIns="0" anchor="t" anchorCtr="0">
              <a:spAutoFit/>
            </a:bodyPr>
            <a:lstStyle/>
            <a:p>
              <a:pPr algn="l">
                <a:lnSpc>
                  <a:spcPts val="1500"/>
                </a:lnSpc>
              </a:pPr>
              <a:r>
                <a:rPr lang="zh-CN" sz="900" dirty="0">
                  <a:solidFill>
                    <a:srgbClr val="88706B"/>
                  </a:solidFill>
                  <a:latin typeface="+mn-lt"/>
                  <a:ea typeface="+mn-ea"/>
                  <a:cs typeface="+mn-cs"/>
                </a:rPr>
                <a:t>引入先进的研发管理工具和方</a:t>
              </a:r>
              <a:br/>
              <a:r>
                <a:rPr lang="zh-CN" sz="900" dirty="0">
                  <a:solidFill>
                    <a:srgbClr val="88706B"/>
                  </a:solidFill>
                  <a:latin typeface="+mn-lt"/>
                  <a:ea typeface="+mn-ea"/>
                  <a:cs typeface="+mn-cs"/>
                </a:rPr>
                <a:t>法实现代码自动构建、测试、</a:t>
              </a:r>
              <a:br/>
              <a:r>
                <a:rPr lang="zh-CN" sz="900" dirty="0">
                  <a:solidFill>
                    <a:srgbClr val="88706B"/>
                  </a:solidFill>
                  <a:latin typeface="+mn-lt"/>
                  <a:ea typeface="+mn-ea"/>
                  <a:cs typeface="+mn-cs"/>
                </a:rPr>
                <a:t>部署，减少人工干预，降低错</a:t>
              </a:r>
              <a:br/>
              <a:r>
                <a:rPr lang="zh-CN" sz="900" dirty="0">
                  <a:solidFill>
                    <a:srgbClr val="88706B"/>
                  </a:solidFill>
                  <a:latin typeface="+mn-lt"/>
                  <a:ea typeface="+mn-ea"/>
                  <a:cs typeface="+mn-cs"/>
                </a:rPr>
                <a:t>误率，快速响应市场变化和客</a:t>
              </a:r>
              <a:br/>
              <a:r>
                <a:rPr lang="zh-CN" sz="900" dirty="0">
                  <a:solidFill>
                    <a:srgbClr val="88706B"/>
                  </a:solidFill>
                  <a:latin typeface="+mn-lt"/>
                  <a:ea typeface="+mn-ea"/>
                  <a:cs typeface="+mn-cs"/>
                </a:rPr>
                <a:t>户需求。</a:t>
              </a:r>
            </a:p>
          </p:txBody>
        </p:sp>
        <p:sp>
          <p:nvSpPr>
            <p:cNvPr id="28" name="TextBox 28"/>
            <p:cNvSpPr txBox="1"/>
            <p:nvPr/>
          </p:nvSpPr>
          <p:spPr>
            <a:xfrm>
              <a:off x="1662112" y="5198745"/>
              <a:ext cx="1495425" cy="557212"/>
            </a:xfrm>
            <a:prstGeom prst="rect">
              <a:avLst/>
            </a:prstGeom>
            <a:noFill/>
            <a:ln>
              <a:noFill/>
            </a:ln>
          </p:spPr>
          <p:txBody>
            <a:bodyPr wrap="none" lIns="0" tIns="0" rIns="0" bIns="0" anchor="t" anchorCtr="0">
              <a:spAutoFit/>
            </a:bodyPr>
            <a:lstStyle/>
            <a:p>
              <a:pPr algn="l">
                <a:lnSpc>
                  <a:spcPts val="1500"/>
                </a:lnSpc>
              </a:pPr>
              <a:r>
                <a:rPr lang="zh-CN" sz="900" dirty="0">
                  <a:solidFill>
                    <a:srgbClr val="88706B"/>
                  </a:solidFill>
                  <a:latin typeface="+mn-lt"/>
                  <a:ea typeface="+mn-ea"/>
                  <a:cs typeface="+mn-cs"/>
                </a:rPr>
                <a:t>加强自动化测试能力建设，提</a:t>
              </a:r>
              <a:br/>
              <a:r>
                <a:rPr lang="zh-CN" sz="900" dirty="0">
                  <a:solidFill>
                    <a:srgbClr val="88706B"/>
                  </a:solidFill>
                  <a:latin typeface="+mn-lt"/>
                  <a:ea typeface="+mn-ea"/>
                  <a:cs typeface="+mn-cs"/>
                </a:rPr>
                <a:t>高测试覆盖率和效率，确保产</a:t>
              </a:r>
              <a:br/>
              <a:r>
                <a:rPr lang="zh-CN" sz="900" dirty="0">
                  <a:solidFill>
                    <a:srgbClr val="88706B"/>
                  </a:solidFill>
                  <a:latin typeface="+mn-lt"/>
                  <a:ea typeface="+mn-ea"/>
                  <a:cs typeface="+mn-cs"/>
                </a:rPr>
                <a:t>品质量的稳定性和可靠性。</a:t>
              </a:r>
            </a:p>
          </p:txBody>
        </p:sp>
      </p:grpSp>
      <p:grpSp>
        <p:nvGrpSpPr>
          <p:cNvPr id="34" name="stage-opt"/>
          <p:cNvGrpSpPr/>
          <p:nvPr/>
        </p:nvGrpSpPr>
        <p:grpSpPr>
          <a:xfrm>
            <a:off x="4566285" y="1918097"/>
            <a:ext cx="1878013" cy="3399710"/>
            <a:chOff x="4566285" y="1918097"/>
            <a:chExt cx="1878013" cy="3399710"/>
          </a:xfrm>
        </p:grpSpPr>
        <p:sp>
          <p:nvSpPr>
            <p:cNvPr id="30" name="Freeform 30"/>
            <p:cNvSpPr/>
            <p:nvPr/>
          </p:nvSpPr>
          <p:spPr>
            <a:xfrm>
              <a:off x="6127369" y="1918097"/>
              <a:ext cx="316929" cy="280940"/>
            </a:xfrm>
            <a:custGeom>
              <a:avLst/>
              <a:gdLst/>
              <a:ahLst/>
              <a:cxnLst/>
              <a:rect l="l" t="t" r="r" b="b"/>
              <a:pathLst>
                <a:path w="316929" h="280940">
                  <a:moveTo>
                    <a:pt x="16256" y="266304"/>
                  </a:moveTo>
                  <a:lnTo>
                    <a:pt x="36894" y="204391"/>
                  </a:lnTo>
                  <a:cubicBezTo>
                    <a:pt x="0" y="149829"/>
                    <a:pt x="14256" y="79423"/>
                    <a:pt x="70231" y="39703"/>
                  </a:cubicBezTo>
                  <a:cubicBezTo>
                    <a:pt x="126207" y="0"/>
                    <a:pt x="206598" y="3254"/>
                    <a:pt x="258271" y="47323"/>
                  </a:cubicBezTo>
                  <a:cubicBezTo>
                    <a:pt x="309944" y="91408"/>
                    <a:pt x="316929" y="162671"/>
                    <a:pt x="274606" y="214027"/>
                  </a:cubicBezTo>
                  <a:cubicBezTo>
                    <a:pt x="232283" y="265383"/>
                    <a:pt x="153718" y="280940"/>
                    <a:pt x="90869" y="250429"/>
                  </a:cubicBezTo>
                  <a:lnTo>
                    <a:pt x="16256" y="266304"/>
                  </a:lnTo>
                </a:path>
              </a:pathLst>
            </a:custGeom>
            <a:noFill/>
            <a:ln w="31750">
              <a:solidFill>
                <a:srgbClr val="C45F4A"/>
              </a:solidFill>
            </a:ln>
          </p:spPr>
        </p:sp>
        <p:sp>
          <p:nvSpPr>
            <p:cNvPr id="31" name="TextBox 31"/>
            <p:cNvSpPr txBox="1"/>
            <p:nvPr/>
          </p:nvSpPr>
          <p:spPr>
            <a:xfrm>
              <a:off x="4566285" y="2278856"/>
              <a:ext cx="1669948" cy="220028"/>
            </a:xfrm>
            <a:prstGeom prst="rect">
              <a:avLst/>
            </a:prstGeom>
            <a:noFill/>
            <a:ln>
              <a:noFill/>
            </a:ln>
          </p:spPr>
          <p:txBody>
            <a:bodyPr wrap="none" lIns="0" tIns="0" rIns="0" bIns="0" anchor="t" anchorCtr="0">
              <a:spAutoFit/>
            </a:bodyPr>
            <a:lstStyle/>
            <a:p>
              <a:pPr algn="l"/>
              <a:r>
                <a:rPr lang="zh-CN" sz="1120" b="1" dirty="0">
                  <a:solidFill>
                    <a:srgbClr val="E8634C"/>
                  </a:solidFill>
                  <a:latin typeface="+mn-lt"/>
                  <a:ea typeface="+mn-ea"/>
                  <a:cs typeface="+mn-cs"/>
                </a:rPr>
                <a:t>用户体验优化与协同创新</a:t>
              </a:r>
            </a:p>
          </p:txBody>
        </p:sp>
        <p:sp>
          <p:nvSpPr>
            <p:cNvPr id="32" name="TextBox 32"/>
            <p:cNvSpPr txBox="1"/>
            <p:nvPr/>
          </p:nvSpPr>
          <p:spPr>
            <a:xfrm>
              <a:off x="4567238" y="3560445"/>
              <a:ext cx="1495425" cy="557212"/>
            </a:xfrm>
            <a:prstGeom prst="rect">
              <a:avLst/>
            </a:prstGeom>
            <a:noFill/>
            <a:ln>
              <a:noFill/>
            </a:ln>
          </p:spPr>
          <p:txBody>
            <a:bodyPr wrap="none" lIns="0" tIns="0" rIns="0" bIns="0" anchor="t" anchorCtr="0">
              <a:spAutoFit/>
            </a:bodyPr>
            <a:lstStyle/>
            <a:p>
              <a:pPr algn="l">
                <a:lnSpc>
                  <a:spcPts val="1500"/>
                </a:lnSpc>
              </a:pPr>
              <a:r>
                <a:rPr lang="zh-CN" sz="900" dirty="0">
                  <a:solidFill>
                    <a:srgbClr val="88706B"/>
                  </a:solidFill>
                  <a:latin typeface="+mn-lt"/>
                  <a:ea typeface="+mn-ea"/>
                  <a:cs typeface="+mn-cs"/>
                </a:rPr>
                <a:t>深入了解用户在使用产品过程</a:t>
              </a:r>
              <a:br/>
              <a:r>
                <a:rPr lang="zh-CN" sz="900" dirty="0">
                  <a:solidFill>
                    <a:srgbClr val="88706B"/>
                  </a:solidFill>
                  <a:latin typeface="+mn-lt"/>
                  <a:ea typeface="+mn-ea"/>
                  <a:cs typeface="+mn-cs"/>
                </a:rPr>
                <a:t>中的痛点和期望，以用户为中</a:t>
              </a:r>
              <a:br/>
              <a:r>
                <a:rPr lang="zh-CN" sz="900" dirty="0">
                  <a:solidFill>
                    <a:srgbClr val="88706B"/>
                  </a:solidFill>
                  <a:latin typeface="+mn-lt"/>
                  <a:ea typeface="+mn-ea"/>
                  <a:cs typeface="+mn-cs"/>
                </a:rPr>
                <a:t>心进行产品设计和优化。</a:t>
              </a:r>
            </a:p>
          </p:txBody>
        </p:sp>
        <p:sp>
          <p:nvSpPr>
            <p:cNvPr id="33" name="TextBox 33"/>
            <p:cNvSpPr txBox="1"/>
            <p:nvPr/>
          </p:nvSpPr>
          <p:spPr>
            <a:xfrm>
              <a:off x="4567238" y="4379595"/>
              <a:ext cx="1495425" cy="938212"/>
            </a:xfrm>
            <a:prstGeom prst="rect">
              <a:avLst/>
            </a:prstGeom>
            <a:noFill/>
            <a:ln>
              <a:noFill/>
            </a:ln>
          </p:spPr>
          <p:txBody>
            <a:bodyPr wrap="none" lIns="0" tIns="0" rIns="0" bIns="0" anchor="t" anchorCtr="0">
              <a:spAutoFit/>
            </a:bodyPr>
            <a:lstStyle/>
            <a:p>
              <a:pPr algn="l">
                <a:lnSpc>
                  <a:spcPts val="1500"/>
                </a:lnSpc>
              </a:pPr>
              <a:r>
                <a:rPr lang="zh-CN" sz="900" dirty="0">
                  <a:solidFill>
                    <a:srgbClr val="88706B"/>
                  </a:solidFill>
                  <a:latin typeface="+mn-lt"/>
                  <a:ea typeface="+mn-ea"/>
                  <a:cs typeface="+mn-cs"/>
                </a:rPr>
                <a:t>注重产品界面的简洁性、易用</a:t>
              </a:r>
              <a:br/>
              <a:r>
                <a:rPr lang="zh-CN" sz="900" dirty="0">
                  <a:solidFill>
                    <a:srgbClr val="88706B"/>
                  </a:solidFill>
                  <a:latin typeface="+mn-lt"/>
                  <a:ea typeface="+mn-ea"/>
                  <a:cs typeface="+mn-cs"/>
                </a:rPr>
                <a:t>性和交互性，采用现代的设计</a:t>
              </a:r>
              <a:br/>
              <a:r>
                <a:rPr lang="zh-CN" sz="900" dirty="0">
                  <a:solidFill>
                    <a:srgbClr val="88706B"/>
                  </a:solidFill>
                  <a:latin typeface="+mn-lt"/>
                  <a:ea typeface="+mn-ea"/>
                  <a:cs typeface="+mn-cs"/>
                </a:rPr>
                <a:t>理念和技术，打造流畅、高效</a:t>
              </a:r>
              <a:br/>
              <a:r>
                <a:rPr lang="zh-CN" sz="900" dirty="0">
                  <a:solidFill>
                    <a:srgbClr val="88706B"/>
                  </a:solidFill>
                  <a:latin typeface="+mn-lt"/>
                  <a:ea typeface="+mn-ea"/>
                  <a:cs typeface="+mn-cs"/>
                </a:rPr>
                <a:t>的用户体验，提高用户对产品</a:t>
              </a:r>
              <a:br/>
              <a:r>
                <a:rPr lang="zh-CN" sz="900" dirty="0">
                  <a:solidFill>
                    <a:srgbClr val="88706B"/>
                  </a:solidFill>
                  <a:latin typeface="+mn-lt"/>
                  <a:ea typeface="+mn-ea"/>
                  <a:cs typeface="+mn-cs"/>
                </a:rPr>
                <a:t>的满意度和忠诚度。</a:t>
              </a:r>
            </a:p>
          </p:txBody>
        </p:sp>
      </p:grpSp>
      <p:grpSp>
        <p:nvGrpSpPr>
          <p:cNvPr id="41" name="stage-eco"/>
          <p:cNvGrpSpPr/>
          <p:nvPr/>
        </p:nvGrpSpPr>
        <p:grpSpPr>
          <a:xfrm>
            <a:off x="7328535" y="1486125"/>
            <a:ext cx="1942466" cy="3850732"/>
            <a:chOff x="7328535" y="1486125"/>
            <a:chExt cx="1942466" cy="3850732"/>
          </a:xfrm>
        </p:grpSpPr>
        <p:grpSp>
          <p:nvGrpSpPr>
            <p:cNvPr id="37" name="Group 37"/>
            <p:cNvGrpSpPr/>
            <p:nvPr/>
          </p:nvGrpSpPr>
          <p:grpSpPr>
            <a:xfrm>
              <a:off x="9017000" y="1486125"/>
              <a:ext cx="254001" cy="266250"/>
              <a:chOff x="9017000" y="1486125"/>
              <a:chExt cx="254001" cy="266250"/>
            </a:xfrm>
          </p:grpSpPr>
          <p:sp>
            <p:nvSpPr>
              <p:cNvPr id="35" name="Freeform 35"/>
              <p:cNvSpPr/>
              <p:nvPr/>
            </p:nvSpPr>
            <p:spPr>
              <a:xfrm>
                <a:off x="9017000" y="1486125"/>
                <a:ext cx="254001" cy="117250"/>
              </a:xfrm>
              <a:custGeom>
                <a:avLst/>
                <a:gdLst/>
                <a:ahLst/>
                <a:cxnLst/>
                <a:rect l="l" t="t" r="r" b="b"/>
                <a:pathLst>
                  <a:path w="254001" h="117250">
                    <a:moveTo>
                      <a:pt x="254001" y="117250"/>
                    </a:moveTo>
                    <a:cubicBezTo>
                      <a:pt x="246020" y="59823"/>
                      <a:pt x="200595" y="14839"/>
                      <a:pt x="143092" y="7420"/>
                    </a:cubicBezTo>
                    <a:cubicBezTo>
                      <a:pt x="85590" y="0"/>
                      <a:pt x="30234" y="31980"/>
                      <a:pt x="7938" y="85500"/>
                    </a:cubicBezTo>
                    <a:moveTo>
                      <a:pt x="0" y="22000"/>
                    </a:moveTo>
                    <a:lnTo>
                      <a:pt x="0" y="85500"/>
                    </a:lnTo>
                    <a:lnTo>
                      <a:pt x="63500" y="85500"/>
                    </a:lnTo>
                  </a:path>
                </a:pathLst>
              </a:custGeom>
              <a:noFill/>
              <a:ln w="31750">
                <a:solidFill>
                  <a:srgbClr val="C45F4A"/>
                </a:solidFill>
              </a:ln>
            </p:spPr>
          </p:sp>
          <p:sp>
            <p:nvSpPr>
              <p:cNvPr id="36" name="Freeform 36"/>
              <p:cNvSpPr/>
              <p:nvPr/>
            </p:nvSpPr>
            <p:spPr>
              <a:xfrm>
                <a:off x="9017000" y="1635125"/>
                <a:ext cx="254001" cy="117250"/>
              </a:xfrm>
              <a:custGeom>
                <a:avLst/>
                <a:gdLst/>
                <a:ahLst/>
                <a:cxnLst/>
                <a:rect l="l" t="t" r="r" b="b"/>
                <a:pathLst>
                  <a:path w="254001" h="117250">
                    <a:moveTo>
                      <a:pt x="0" y="0"/>
                    </a:moveTo>
                    <a:cubicBezTo>
                      <a:pt x="7981" y="57427"/>
                      <a:pt x="53406" y="102411"/>
                      <a:pt x="110908" y="109831"/>
                    </a:cubicBezTo>
                    <a:cubicBezTo>
                      <a:pt x="168411" y="117250"/>
                      <a:pt x="223766" y="85271"/>
                      <a:pt x="246063" y="31750"/>
                    </a:cubicBezTo>
                    <a:moveTo>
                      <a:pt x="254001" y="95250"/>
                    </a:moveTo>
                    <a:lnTo>
                      <a:pt x="254001" y="31750"/>
                    </a:lnTo>
                    <a:lnTo>
                      <a:pt x="190500" y="31750"/>
                    </a:lnTo>
                  </a:path>
                </a:pathLst>
              </a:custGeom>
              <a:noFill/>
              <a:ln w="31750">
                <a:solidFill>
                  <a:srgbClr val="C45F4A"/>
                </a:solidFill>
              </a:ln>
            </p:spPr>
          </p:sp>
        </p:grpSp>
        <p:sp>
          <p:nvSpPr>
            <p:cNvPr id="38" name="TextBox 38"/>
            <p:cNvSpPr txBox="1"/>
            <p:nvPr/>
          </p:nvSpPr>
          <p:spPr>
            <a:xfrm>
              <a:off x="7328535" y="1840706"/>
              <a:ext cx="1669948" cy="220028"/>
            </a:xfrm>
            <a:prstGeom prst="rect">
              <a:avLst/>
            </a:prstGeom>
            <a:noFill/>
            <a:ln>
              <a:noFill/>
            </a:ln>
          </p:spPr>
          <p:txBody>
            <a:bodyPr wrap="none" lIns="0" tIns="0" rIns="0" bIns="0" anchor="t" anchorCtr="0">
              <a:spAutoFit/>
            </a:bodyPr>
            <a:lstStyle/>
            <a:p>
              <a:pPr algn="l"/>
              <a:r>
                <a:rPr lang="zh-CN" sz="1120" b="1" dirty="0">
                  <a:solidFill>
                    <a:srgbClr val="E8634C"/>
                  </a:solidFill>
                  <a:latin typeface="+mn-lt"/>
                  <a:ea typeface="+mn-ea"/>
                  <a:cs typeface="+mn-cs"/>
                </a:rPr>
                <a:t>生态合作与产业协同发展</a:t>
              </a:r>
            </a:p>
          </p:txBody>
        </p:sp>
        <p:sp>
          <p:nvSpPr>
            <p:cNvPr id="39" name="TextBox 39"/>
            <p:cNvSpPr txBox="1"/>
            <p:nvPr/>
          </p:nvSpPr>
          <p:spPr>
            <a:xfrm>
              <a:off x="7329488" y="3007995"/>
              <a:ext cx="1495425" cy="557212"/>
            </a:xfrm>
            <a:prstGeom prst="rect">
              <a:avLst/>
            </a:prstGeom>
            <a:noFill/>
            <a:ln>
              <a:noFill/>
            </a:ln>
          </p:spPr>
          <p:txBody>
            <a:bodyPr wrap="none" lIns="0" tIns="0" rIns="0" bIns="0" anchor="t" anchorCtr="0">
              <a:spAutoFit/>
            </a:bodyPr>
            <a:lstStyle/>
            <a:p>
              <a:pPr algn="l">
                <a:lnSpc>
                  <a:spcPts val="1500"/>
                </a:lnSpc>
              </a:pPr>
              <a:r>
                <a:rPr lang="zh-CN" sz="900" dirty="0">
                  <a:solidFill>
                    <a:srgbClr val="88706B"/>
                  </a:solidFill>
                  <a:latin typeface="+mn-lt"/>
                  <a:ea typeface="+mn-ea"/>
                  <a:cs typeface="+mn-cs"/>
                </a:rPr>
                <a:t>加强与上下游合作伙伴的合作</a:t>
              </a:r>
              <a:br/>
              <a:r>
                <a:rPr lang="zh-CN" sz="900" dirty="0">
                  <a:solidFill>
                    <a:srgbClr val="88706B"/>
                  </a:solidFill>
                  <a:latin typeface="+mn-lt"/>
                  <a:ea typeface="+mn-ea"/>
                  <a:cs typeface="+mn-cs"/>
                </a:rPr>
                <a:t>与协同发展，打造互利共赢的</a:t>
              </a:r>
              <a:br/>
              <a:r>
                <a:rPr lang="zh-CN" sz="900" dirty="0">
                  <a:solidFill>
                    <a:srgbClr val="88706B"/>
                  </a:solidFill>
                  <a:latin typeface="+mn-lt"/>
                  <a:ea typeface="+mn-ea"/>
                  <a:cs typeface="+mn-cs"/>
                </a:rPr>
                <a:t>产业生态链。</a:t>
              </a:r>
            </a:p>
          </p:txBody>
        </p:sp>
        <p:sp>
          <p:nvSpPr>
            <p:cNvPr id="40" name="TextBox 40"/>
            <p:cNvSpPr txBox="1"/>
            <p:nvPr/>
          </p:nvSpPr>
          <p:spPr>
            <a:xfrm>
              <a:off x="7329488" y="3827145"/>
              <a:ext cx="1495425" cy="1509712"/>
            </a:xfrm>
            <a:prstGeom prst="rect">
              <a:avLst/>
            </a:prstGeom>
            <a:noFill/>
            <a:ln>
              <a:noFill/>
            </a:ln>
          </p:spPr>
          <p:txBody>
            <a:bodyPr wrap="none" lIns="0" tIns="0" rIns="0" bIns="0" anchor="t" anchorCtr="0">
              <a:spAutoFit/>
            </a:bodyPr>
            <a:lstStyle/>
            <a:p>
              <a:pPr algn="l">
                <a:lnSpc>
                  <a:spcPts val="1500"/>
                </a:lnSpc>
              </a:pPr>
              <a:r>
                <a:rPr lang="zh-CN" sz="900" dirty="0">
                  <a:solidFill>
                    <a:srgbClr val="88706B"/>
                  </a:solidFill>
                  <a:latin typeface="+mn-lt"/>
                  <a:ea typeface="+mn-ea"/>
                  <a:cs typeface="+mn-cs"/>
                </a:rPr>
                <a:t>在上游，与硬件供应商、软件</a:t>
              </a:r>
              <a:br/>
              <a:r>
                <a:rPr lang="zh-CN" sz="900" dirty="0">
                  <a:solidFill>
                    <a:srgbClr val="88706B"/>
                  </a:solidFill>
                  <a:latin typeface="+mn-lt"/>
                  <a:ea typeface="+mn-ea"/>
                  <a:cs typeface="+mn-cs"/>
                </a:rPr>
                <a:t>开发商等建立紧密的合作关系</a:t>
              </a:r>
              <a:br/>
              <a:r>
                <a:rPr lang="zh-CN" sz="900" dirty="0">
                  <a:solidFill>
                    <a:srgbClr val="88706B"/>
                  </a:solidFill>
                  <a:latin typeface="+mn-lt"/>
                  <a:ea typeface="+mn-ea"/>
                  <a:cs typeface="+mn-cs"/>
                </a:rPr>
                <a:t>，共同开展技术研究、产品共</a:t>
              </a:r>
              <a:br/>
              <a:r>
                <a:rPr lang="zh-CN" sz="900" dirty="0">
                  <a:solidFill>
                    <a:srgbClr val="88706B"/>
                  </a:solidFill>
                  <a:latin typeface="+mn-lt"/>
                  <a:ea typeface="+mn-ea"/>
                  <a:cs typeface="+mn-cs"/>
                </a:rPr>
                <a:t>创和创新合作，保持产品技术</a:t>
              </a:r>
              <a:br/>
              <a:r>
                <a:rPr lang="zh-CN" sz="900" dirty="0">
                  <a:solidFill>
                    <a:srgbClr val="88706B"/>
                  </a:solidFill>
                  <a:latin typeface="+mn-lt"/>
                  <a:ea typeface="+mn-ea"/>
                  <a:cs typeface="+mn-cs"/>
                </a:rPr>
                <a:t>先进性；在下游，与系统集成</a:t>
              </a:r>
              <a:br/>
              <a:r>
                <a:rPr lang="zh-CN" sz="900" dirty="0">
                  <a:solidFill>
                    <a:srgbClr val="88706B"/>
                  </a:solidFill>
                  <a:latin typeface="+mn-lt"/>
                  <a:ea typeface="+mn-ea"/>
                  <a:cs typeface="+mn-cs"/>
                </a:rPr>
                <a:t>商、咨询公司、渠道商等合作</a:t>
              </a:r>
              <a:br/>
              <a:r>
                <a:rPr lang="zh-CN" sz="900" dirty="0">
                  <a:solidFill>
                    <a:srgbClr val="88706B"/>
                  </a:solidFill>
                  <a:latin typeface="+mn-lt"/>
                  <a:ea typeface="+mn-ea"/>
                  <a:cs typeface="+mn-cs"/>
                </a:rPr>
                <a:t>伙伴开展广泛的业务合作，拓</a:t>
              </a:r>
              <a:br/>
              <a:r>
                <a:rPr lang="zh-CN" sz="900" dirty="0">
                  <a:solidFill>
                    <a:srgbClr val="88706B"/>
                  </a:solidFill>
                  <a:latin typeface="+mn-lt"/>
                  <a:ea typeface="+mn-ea"/>
                  <a:cs typeface="+mn-cs"/>
                </a:rPr>
                <a:t>展市场渠道。</a:t>
              </a:r>
            </a:p>
          </p:txBody>
        </p:sp>
      </p:gr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78​​</a:t>
              </a:r>
            </a:p>
          </p:txBody>
        </p:sp>
        <p:sp>
          <p:nvSpPr>
            <p:cNvPr id="4" name="TextBox 4"/>
            <p:cNvSpPr txBox="1"/>
            <p:nvPr/>
          </p:nvSpPr>
          <p:spPr>
            <a:xfrm>
              <a:off x="942594" y="151448"/>
              <a:ext cx="212156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项目执行时间轴​</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8" name="intro-line"/>
          <p:cNvGrpSpPr/>
          <p:nvPr/>
        </p:nvGrpSpPr>
        <p:grpSpPr>
          <a:xfrm>
            <a:off x="4538701" y="891064"/>
            <a:ext cx="3114599" cy="249364"/>
            <a:chOff x="4538701" y="891064"/>
            <a:chExt cx="3114599" cy="249364"/>
          </a:xfrm>
        </p:grpSpPr>
        <p:sp>
          <p:nvSpPr>
            <p:cNvPr id="7" name="TextBox 7"/>
            <p:cNvSpPr txBox="1"/>
            <p:nvPr/>
          </p:nvSpPr>
          <p:spPr>
            <a:xfrm>
              <a:off x="4538701" y="891064"/>
              <a:ext cx="3114599" cy="249364"/>
            </a:xfrm>
            <a:prstGeom prst="rect">
              <a:avLst/>
            </a:prstGeom>
            <a:noFill/>
            <a:ln>
              <a:noFill/>
            </a:ln>
          </p:spPr>
          <p:txBody>
            <a:bodyPr wrap="none" lIns="0" tIns="0" rIns="0" bIns="0" anchor="t" anchorCtr="0">
              <a:spAutoFit/>
            </a:bodyPr>
            <a:lstStyle/>
            <a:p>
              <a:pPr algn="ctr"/>
              <a:r>
                <a:rPr lang="zh-CN" sz="1280" b="1" dirty="0">
                  <a:solidFill>
                    <a:srgbClr val="1A1A1A"/>
                  </a:solidFill>
                  <a:latin typeface="+mn-lt"/>
                  <a:ea typeface="+mn-ea"/>
                  <a:cs typeface="+mn-cs"/>
                </a:rPr>
                <a:t>下阶段我将按以下计划开展重点项目工作</a:t>
              </a:r>
            </a:p>
          </p:txBody>
        </p:sp>
      </p:grpSp>
      <p:grpSp>
        <p:nvGrpSpPr>
          <p:cNvPr id="31" name="timeline-band"/>
          <p:cNvGrpSpPr/>
          <p:nvPr/>
        </p:nvGrpSpPr>
        <p:grpSpPr>
          <a:xfrm>
            <a:off x="518922" y="1704499"/>
            <a:ext cx="11373160" cy="612933"/>
            <a:chOff x="518922" y="1704499"/>
            <a:chExt cx="11373160" cy="612933"/>
          </a:xfrm>
        </p:grpSpPr>
        <p:sp>
          <p:nvSpPr>
            <p:cNvPr id="9" name="TextBox 9"/>
            <p:cNvSpPr txBox="1"/>
            <p:nvPr/>
          </p:nvSpPr>
          <p:spPr>
            <a:xfrm>
              <a:off x="518922" y="1704499"/>
              <a:ext cx="467035" cy="190690"/>
            </a:xfrm>
            <a:prstGeom prst="rect">
              <a:avLst/>
            </a:prstGeom>
            <a:noFill/>
            <a:ln>
              <a:noFill/>
            </a:ln>
          </p:spPr>
          <p:txBody>
            <a:bodyPr wrap="none" lIns="0" tIns="0" rIns="0" bIns="0" anchor="t" anchorCtr="0">
              <a:spAutoFit/>
            </a:bodyPr>
            <a:lstStyle/>
            <a:p>
              <a:pPr algn="l"/>
              <a:r>
                <a:rPr lang="zh-CN" sz="980" b="1" dirty="0">
                  <a:solidFill>
                    <a:srgbClr val="543E3A"/>
                  </a:solidFill>
                  <a:latin typeface="+mn-lt"/>
                  <a:ea typeface="+mn-ea"/>
                  <a:cs typeface="+mn-cs"/>
                </a:rPr>
                <a:t>1.20​​</a:t>
              </a:r>
            </a:p>
          </p:txBody>
        </p:sp>
        <p:sp>
          <p:nvSpPr>
            <p:cNvPr id="10" name="TextBox 10"/>
            <p:cNvSpPr txBox="1"/>
            <p:nvPr/>
          </p:nvSpPr>
          <p:spPr>
            <a:xfrm>
              <a:off x="2757297" y="1704499"/>
              <a:ext cx="467035" cy="190690"/>
            </a:xfrm>
            <a:prstGeom prst="rect">
              <a:avLst/>
            </a:prstGeom>
            <a:noFill/>
            <a:ln>
              <a:noFill/>
            </a:ln>
          </p:spPr>
          <p:txBody>
            <a:bodyPr wrap="none" lIns="0" tIns="0" rIns="0" bIns="0" anchor="t" anchorCtr="0">
              <a:spAutoFit/>
            </a:bodyPr>
            <a:lstStyle/>
            <a:p>
              <a:pPr algn="l"/>
              <a:r>
                <a:rPr lang="zh-CN" sz="980" b="1" dirty="0">
                  <a:solidFill>
                    <a:srgbClr val="543E3A"/>
                  </a:solidFill>
                  <a:latin typeface="+mn-lt"/>
                  <a:ea typeface="+mn-ea"/>
                  <a:cs typeface="+mn-cs"/>
                </a:rPr>
                <a:t>2.20​​</a:t>
              </a:r>
            </a:p>
          </p:txBody>
        </p:sp>
        <p:sp>
          <p:nvSpPr>
            <p:cNvPr id="11" name="TextBox 11"/>
            <p:cNvSpPr txBox="1"/>
            <p:nvPr/>
          </p:nvSpPr>
          <p:spPr>
            <a:xfrm>
              <a:off x="5043297" y="1704499"/>
              <a:ext cx="467035" cy="190690"/>
            </a:xfrm>
            <a:prstGeom prst="rect">
              <a:avLst/>
            </a:prstGeom>
            <a:noFill/>
            <a:ln>
              <a:noFill/>
            </a:ln>
          </p:spPr>
          <p:txBody>
            <a:bodyPr wrap="none" lIns="0" tIns="0" rIns="0" bIns="0" anchor="t" anchorCtr="0">
              <a:spAutoFit/>
            </a:bodyPr>
            <a:lstStyle/>
            <a:p>
              <a:pPr algn="l"/>
              <a:r>
                <a:rPr lang="zh-CN" sz="980" b="1" dirty="0">
                  <a:solidFill>
                    <a:srgbClr val="543E3A"/>
                  </a:solidFill>
                  <a:latin typeface="+mn-lt"/>
                  <a:ea typeface="+mn-ea"/>
                  <a:cs typeface="+mn-cs"/>
                </a:rPr>
                <a:t>3.20​​</a:t>
              </a:r>
            </a:p>
          </p:txBody>
        </p:sp>
        <p:sp>
          <p:nvSpPr>
            <p:cNvPr id="12" name="TextBox 12"/>
            <p:cNvSpPr txBox="1"/>
            <p:nvPr/>
          </p:nvSpPr>
          <p:spPr>
            <a:xfrm>
              <a:off x="9186672" y="1704499"/>
              <a:ext cx="467035" cy="190690"/>
            </a:xfrm>
            <a:prstGeom prst="rect">
              <a:avLst/>
            </a:prstGeom>
            <a:noFill/>
            <a:ln>
              <a:noFill/>
            </a:ln>
          </p:spPr>
          <p:txBody>
            <a:bodyPr wrap="none" lIns="0" tIns="0" rIns="0" bIns="0" anchor="t" anchorCtr="0">
              <a:spAutoFit/>
            </a:bodyPr>
            <a:lstStyle/>
            <a:p>
              <a:pPr algn="l"/>
              <a:r>
                <a:rPr lang="zh-CN" sz="980" b="1" dirty="0">
                  <a:solidFill>
                    <a:srgbClr val="543E3A"/>
                  </a:solidFill>
                  <a:latin typeface="+mn-lt"/>
                  <a:ea typeface="+mn-ea"/>
                  <a:cs typeface="+mn-cs"/>
                </a:rPr>
                <a:t>5.20​​</a:t>
              </a:r>
            </a:p>
          </p:txBody>
        </p:sp>
        <p:sp>
          <p:nvSpPr>
            <p:cNvPr id="13" name="TextBox 13"/>
            <p:cNvSpPr txBox="1"/>
            <p:nvPr/>
          </p:nvSpPr>
          <p:spPr>
            <a:xfrm>
              <a:off x="11425047" y="1704499"/>
              <a:ext cx="467035" cy="190690"/>
            </a:xfrm>
            <a:prstGeom prst="rect">
              <a:avLst/>
            </a:prstGeom>
            <a:noFill/>
            <a:ln>
              <a:noFill/>
            </a:ln>
          </p:spPr>
          <p:txBody>
            <a:bodyPr wrap="none" lIns="0" tIns="0" rIns="0" bIns="0" anchor="t" anchorCtr="0">
              <a:spAutoFit/>
            </a:bodyPr>
            <a:lstStyle/>
            <a:p>
              <a:pPr algn="l"/>
              <a:r>
                <a:rPr lang="zh-CN" sz="980" b="1" dirty="0">
                  <a:solidFill>
                    <a:srgbClr val="543E3A"/>
                  </a:solidFill>
                  <a:latin typeface="+mn-lt"/>
                  <a:ea typeface="+mn-ea"/>
                  <a:cs typeface="+mn-cs"/>
                </a:rPr>
                <a:t>6.20​​</a:t>
              </a:r>
            </a:p>
          </p:txBody>
        </p:sp>
        <p:sp>
          <p:nvSpPr>
            <p:cNvPr id="14" name="Rectangle 14"/>
            <p:cNvSpPr/>
            <p:nvPr/>
          </p:nvSpPr>
          <p:spPr>
            <a:xfrm>
              <a:off x="523875" y="1876425"/>
              <a:ext cx="11144250" cy="133350"/>
            </a:xfrm>
            <a:prstGeom prst="roundRect">
              <a:avLst>
                <a:gd name="adj" fmla="val 50000"/>
              </a:avLst>
            </a:prstGeom>
            <a:gradFill>
              <a:gsLst>
                <a:gs pos="0">
                  <a:srgbClr val="C45F4A"/>
                </a:gs>
                <a:gs pos="100000">
                  <a:srgbClr val="E08C7B"/>
                </a:gs>
              </a:gsLst>
              <a:lin ang="0" scaled="1"/>
            </a:gradFill>
            <a:ln>
              <a:noFill/>
            </a:ln>
          </p:spPr>
        </p:sp>
        <p:sp>
          <p:nvSpPr>
            <p:cNvPr id="15" name="Rectangle 15"/>
            <p:cNvSpPr/>
            <p:nvPr/>
          </p:nvSpPr>
          <p:spPr>
            <a:xfrm>
              <a:off x="904875" y="1800225"/>
              <a:ext cx="1238250" cy="285750"/>
            </a:xfrm>
            <a:prstGeom prst="roundRect">
              <a:avLst>
                <a:gd name="adj" fmla="val 50000"/>
              </a:avLst>
            </a:prstGeom>
            <a:solidFill>
              <a:srgbClr val="C45F4A"/>
            </a:solidFill>
            <a:ln>
              <a:noFill/>
            </a:ln>
          </p:spPr>
        </p:sp>
        <p:sp>
          <p:nvSpPr>
            <p:cNvPr id="16" name="TextBox 16"/>
            <p:cNvSpPr txBox="1"/>
            <p:nvPr/>
          </p:nvSpPr>
          <p:spPr>
            <a:xfrm>
              <a:off x="1235964" y="18869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项目启动</a:t>
              </a:r>
            </a:p>
          </p:txBody>
        </p:sp>
        <p:sp>
          <p:nvSpPr>
            <p:cNvPr id="17" name="Rectangle 17"/>
            <p:cNvSpPr/>
            <p:nvPr/>
          </p:nvSpPr>
          <p:spPr>
            <a:xfrm>
              <a:off x="3143250" y="1800225"/>
              <a:ext cx="1238250" cy="285750"/>
            </a:xfrm>
            <a:prstGeom prst="roundRect">
              <a:avLst>
                <a:gd name="adj" fmla="val 50000"/>
              </a:avLst>
            </a:prstGeom>
            <a:solidFill>
              <a:srgbClr val="E8634C"/>
            </a:solidFill>
            <a:ln>
              <a:noFill/>
            </a:ln>
          </p:spPr>
        </p:sp>
        <p:sp>
          <p:nvSpPr>
            <p:cNvPr id="18" name="TextBox 18"/>
            <p:cNvSpPr txBox="1"/>
            <p:nvPr/>
          </p:nvSpPr>
          <p:spPr>
            <a:xfrm>
              <a:off x="3474339" y="18869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项目规划</a:t>
              </a:r>
            </a:p>
          </p:txBody>
        </p:sp>
        <p:sp>
          <p:nvSpPr>
            <p:cNvPr id="19" name="Rectangle 19"/>
            <p:cNvSpPr/>
            <p:nvPr/>
          </p:nvSpPr>
          <p:spPr>
            <a:xfrm>
              <a:off x="5286375" y="1800225"/>
              <a:ext cx="3048000" cy="285750"/>
            </a:xfrm>
            <a:prstGeom prst="roundRect">
              <a:avLst>
                <a:gd name="adj" fmla="val 50000"/>
              </a:avLst>
            </a:prstGeom>
            <a:solidFill>
              <a:srgbClr val="C45F4A"/>
            </a:solidFill>
            <a:ln>
              <a:noFill/>
            </a:ln>
          </p:spPr>
        </p:sp>
        <p:sp>
          <p:nvSpPr>
            <p:cNvPr id="20" name="TextBox 20"/>
            <p:cNvSpPr txBox="1"/>
            <p:nvPr/>
          </p:nvSpPr>
          <p:spPr>
            <a:xfrm>
              <a:off x="6310312" y="1886902"/>
              <a:ext cx="1000125"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项目监控与执行</a:t>
              </a:r>
            </a:p>
          </p:txBody>
        </p:sp>
        <p:sp>
          <p:nvSpPr>
            <p:cNvPr id="21" name="Rectangle 21"/>
            <p:cNvSpPr/>
            <p:nvPr/>
          </p:nvSpPr>
          <p:spPr>
            <a:xfrm>
              <a:off x="9620250" y="1800225"/>
              <a:ext cx="1238250" cy="285750"/>
            </a:xfrm>
            <a:prstGeom prst="roundRect">
              <a:avLst>
                <a:gd name="adj" fmla="val 50000"/>
              </a:avLst>
            </a:prstGeom>
            <a:solidFill>
              <a:srgbClr val="E8634C"/>
            </a:solidFill>
            <a:ln>
              <a:noFill/>
            </a:ln>
          </p:spPr>
        </p:sp>
        <p:sp>
          <p:nvSpPr>
            <p:cNvPr id="22" name="TextBox 22"/>
            <p:cNvSpPr txBox="1"/>
            <p:nvPr/>
          </p:nvSpPr>
          <p:spPr>
            <a:xfrm>
              <a:off x="9951339" y="18869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项目收尾</a:t>
              </a:r>
            </a:p>
          </p:txBody>
        </p:sp>
        <p:sp>
          <p:nvSpPr>
            <p:cNvPr id="23" name="Ellipse 23"/>
            <p:cNvSpPr/>
            <p:nvPr/>
          </p:nvSpPr>
          <p:spPr>
            <a:xfrm>
              <a:off x="1562100" y="2085975"/>
              <a:ext cx="209550" cy="209550"/>
            </a:xfrm>
            <a:prstGeom prst="ellipse">
              <a:avLst/>
            </a:prstGeom>
            <a:solidFill>
              <a:srgbClr val="C45F4A"/>
            </a:solidFill>
            <a:ln>
              <a:noFill/>
            </a:ln>
          </p:spPr>
        </p:sp>
        <p:sp>
          <p:nvSpPr>
            <p:cNvPr id="24" name="TextBox 24"/>
            <p:cNvSpPr txBox="1"/>
            <p:nvPr/>
          </p:nvSpPr>
          <p:spPr>
            <a:xfrm>
              <a:off x="1601533" y="2141220"/>
              <a:ext cx="13068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a:t>
              </a:r>
            </a:p>
          </p:txBody>
        </p:sp>
        <p:sp>
          <p:nvSpPr>
            <p:cNvPr id="25" name="Ellipse 25"/>
            <p:cNvSpPr/>
            <p:nvPr/>
          </p:nvSpPr>
          <p:spPr>
            <a:xfrm>
              <a:off x="3800475" y="2085975"/>
              <a:ext cx="209550" cy="209550"/>
            </a:xfrm>
            <a:prstGeom prst="ellipse">
              <a:avLst/>
            </a:prstGeom>
            <a:solidFill>
              <a:srgbClr val="E8634C"/>
            </a:solidFill>
            <a:ln>
              <a:noFill/>
            </a:ln>
          </p:spPr>
        </p:sp>
        <p:sp>
          <p:nvSpPr>
            <p:cNvPr id="26" name="TextBox 26"/>
            <p:cNvSpPr txBox="1"/>
            <p:nvPr/>
          </p:nvSpPr>
          <p:spPr>
            <a:xfrm>
              <a:off x="3839908" y="2141220"/>
              <a:ext cx="13068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a:t>
              </a:r>
            </a:p>
          </p:txBody>
        </p:sp>
        <p:sp>
          <p:nvSpPr>
            <p:cNvPr id="27" name="Ellipse 27"/>
            <p:cNvSpPr/>
            <p:nvPr/>
          </p:nvSpPr>
          <p:spPr>
            <a:xfrm>
              <a:off x="6800850" y="2085975"/>
              <a:ext cx="209550" cy="209550"/>
            </a:xfrm>
            <a:prstGeom prst="ellipse">
              <a:avLst/>
            </a:prstGeom>
            <a:solidFill>
              <a:srgbClr val="C45F4A"/>
            </a:solidFill>
            <a:ln>
              <a:noFill/>
            </a:ln>
          </p:spPr>
        </p:sp>
        <p:sp>
          <p:nvSpPr>
            <p:cNvPr id="28" name="TextBox 28"/>
            <p:cNvSpPr txBox="1"/>
            <p:nvPr/>
          </p:nvSpPr>
          <p:spPr>
            <a:xfrm>
              <a:off x="6840284" y="2141220"/>
              <a:ext cx="13068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a:t>
              </a:r>
            </a:p>
          </p:txBody>
        </p:sp>
        <p:sp>
          <p:nvSpPr>
            <p:cNvPr id="29" name="Ellipse 29"/>
            <p:cNvSpPr/>
            <p:nvPr/>
          </p:nvSpPr>
          <p:spPr>
            <a:xfrm>
              <a:off x="9991725" y="2085975"/>
              <a:ext cx="209550" cy="209550"/>
            </a:xfrm>
            <a:prstGeom prst="ellipse">
              <a:avLst/>
            </a:prstGeom>
            <a:solidFill>
              <a:srgbClr val="E8634C"/>
            </a:solidFill>
            <a:ln>
              <a:noFill/>
            </a:ln>
          </p:spPr>
        </p:sp>
        <p:sp>
          <p:nvSpPr>
            <p:cNvPr id="30" name="TextBox 30"/>
            <p:cNvSpPr txBox="1"/>
            <p:nvPr/>
          </p:nvSpPr>
          <p:spPr>
            <a:xfrm>
              <a:off x="10031159" y="2141220"/>
              <a:ext cx="13068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a:t>
              </a:r>
            </a:p>
          </p:txBody>
        </p:sp>
      </p:grpSp>
      <p:grpSp>
        <p:nvGrpSpPr>
          <p:cNvPr id="35" name="task-1"/>
          <p:cNvGrpSpPr/>
          <p:nvPr/>
        </p:nvGrpSpPr>
        <p:grpSpPr>
          <a:xfrm>
            <a:off x="523875" y="2476500"/>
            <a:ext cx="2095500" cy="1371600"/>
            <a:chOff x="523875" y="2476500"/>
            <a:chExt cx="2095500" cy="1371600"/>
          </a:xfrm>
        </p:grpSpPr>
        <p:sp>
          <p:nvSpPr>
            <p:cNvPr id="32" name="Rectangle 32"/>
            <p:cNvSpPr/>
            <p:nvPr/>
          </p:nvSpPr>
          <p:spPr>
            <a:xfrm>
              <a:off x="523875" y="2476500"/>
              <a:ext cx="2095500" cy="1371600"/>
            </a:xfrm>
            <a:prstGeom prst="roundRect">
              <a:avLst>
                <a:gd name="adj" fmla="val 5556"/>
              </a:avLst>
            </a:prstGeom>
            <a:solidFill>
              <a:srgbClr val="FFFFFF"/>
            </a:solidFill>
            <a:ln w="14288">
              <a:solidFill>
                <a:srgbClr val="E8EBF8"/>
              </a:solidFill>
            </a:ln>
          </p:spPr>
        </p:sp>
        <p:sp>
          <p:nvSpPr>
            <p:cNvPr id="33" name="TextBox 33"/>
            <p:cNvSpPr txBox="1"/>
            <p:nvPr/>
          </p:nvSpPr>
          <p:spPr>
            <a:xfrm>
              <a:off x="670941" y="2629852"/>
              <a:ext cx="902593" cy="205359"/>
            </a:xfrm>
            <a:prstGeom prst="rect">
              <a:avLst/>
            </a:prstGeom>
            <a:noFill/>
            <a:ln>
              <a:noFill/>
            </a:ln>
          </p:spPr>
          <p:txBody>
            <a:bodyPr wrap="none" lIns="0" tIns="0" rIns="0" bIns="0" anchor="t" anchorCtr="0">
              <a:spAutoFit/>
            </a:bodyPr>
            <a:lstStyle/>
            <a:p>
              <a:pPr algn="l"/>
              <a:r>
                <a:rPr lang="zh-CN" sz="1050" b="1" dirty="0">
                  <a:solidFill>
                    <a:srgbClr val="C45F4A"/>
                  </a:solidFill>
                  <a:latin typeface="+mn-lt"/>
                  <a:ea typeface="+mn-ea"/>
                  <a:cs typeface="+mn-cs"/>
                </a:rPr>
                <a:t>1.客户沟通​​</a:t>
              </a:r>
            </a:p>
          </p:txBody>
        </p:sp>
        <p:sp>
          <p:nvSpPr>
            <p:cNvPr id="34" name="TextBox 34"/>
            <p:cNvSpPr txBox="1"/>
            <p:nvPr/>
          </p:nvSpPr>
          <p:spPr>
            <a:xfrm>
              <a:off x="671512" y="2920841"/>
              <a:ext cx="136334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组建跨部门团队，涵盖销售、</a:t>
              </a:r>
              <a:br/>
              <a:r>
                <a:rPr lang="zh-CN" sz="820" dirty="0">
                  <a:solidFill>
                    <a:srgbClr val="88706B"/>
                  </a:solidFill>
                  <a:latin typeface="+mn-lt"/>
                  <a:ea typeface="+mn-ea"/>
                  <a:cs typeface="+mn-cs"/>
                </a:rPr>
                <a:t>顾问与开发人员，明确职责</a:t>
              </a:r>
              <a:br/>
              <a:r>
                <a:rPr lang="zh-CN" sz="820" dirty="0">
                  <a:solidFill>
                    <a:srgbClr val="88706B"/>
                  </a:solidFill>
                  <a:latin typeface="+mn-lt"/>
                  <a:ea typeface="+mn-ea"/>
                  <a:cs typeface="+mn-cs"/>
                </a:rPr>
                <a:t>分工架构。</a:t>
              </a:r>
            </a:p>
          </p:txBody>
        </p:sp>
      </p:grpSp>
      <p:grpSp>
        <p:nvGrpSpPr>
          <p:cNvPr id="39" name="task-2"/>
          <p:cNvGrpSpPr/>
          <p:nvPr/>
        </p:nvGrpSpPr>
        <p:grpSpPr>
          <a:xfrm>
            <a:off x="2733675" y="2476500"/>
            <a:ext cx="2095500" cy="1371600"/>
            <a:chOff x="2733675" y="2476500"/>
            <a:chExt cx="2095500" cy="1371600"/>
          </a:xfrm>
        </p:grpSpPr>
        <p:sp>
          <p:nvSpPr>
            <p:cNvPr id="36" name="Rectangle 36"/>
            <p:cNvSpPr/>
            <p:nvPr/>
          </p:nvSpPr>
          <p:spPr>
            <a:xfrm>
              <a:off x="2733675" y="2476500"/>
              <a:ext cx="2095500" cy="1371600"/>
            </a:xfrm>
            <a:prstGeom prst="roundRect">
              <a:avLst>
                <a:gd name="adj" fmla="val 5556"/>
              </a:avLst>
            </a:prstGeom>
            <a:solidFill>
              <a:srgbClr val="FFFFFF"/>
            </a:solidFill>
            <a:ln w="14288">
              <a:solidFill>
                <a:srgbClr val="E8EBF8"/>
              </a:solidFill>
            </a:ln>
          </p:spPr>
        </p:sp>
        <p:sp>
          <p:nvSpPr>
            <p:cNvPr id="37" name="TextBox 37"/>
            <p:cNvSpPr txBox="1"/>
            <p:nvPr/>
          </p:nvSpPr>
          <p:spPr>
            <a:xfrm>
              <a:off x="2880741" y="2629852"/>
              <a:ext cx="902593" cy="205359"/>
            </a:xfrm>
            <a:prstGeom prst="rect">
              <a:avLst/>
            </a:prstGeom>
            <a:noFill/>
            <a:ln>
              <a:noFill/>
            </a:ln>
          </p:spPr>
          <p:txBody>
            <a:bodyPr wrap="none" lIns="0" tIns="0" rIns="0" bIns="0" anchor="t" anchorCtr="0">
              <a:spAutoFit/>
            </a:bodyPr>
            <a:lstStyle/>
            <a:p>
              <a:pPr algn="l"/>
              <a:r>
                <a:rPr lang="zh-CN" sz="1050" b="1" dirty="0">
                  <a:solidFill>
                    <a:srgbClr val="C45F4A"/>
                  </a:solidFill>
                  <a:latin typeface="+mn-lt"/>
                  <a:ea typeface="+mn-ea"/>
                  <a:cs typeface="+mn-cs"/>
                </a:rPr>
                <a:t>2.需求整理​​</a:t>
              </a:r>
            </a:p>
          </p:txBody>
        </p:sp>
        <p:sp>
          <p:nvSpPr>
            <p:cNvPr id="38" name="TextBox 38"/>
            <p:cNvSpPr txBox="1"/>
            <p:nvPr/>
          </p:nvSpPr>
          <p:spPr>
            <a:xfrm>
              <a:off x="2881312" y="29208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剖析业务需求、痛点与期</a:t>
              </a:r>
              <a:br/>
              <a:r>
                <a:rPr lang="zh-CN" sz="820" dirty="0">
                  <a:solidFill>
                    <a:srgbClr val="88706B"/>
                  </a:solidFill>
                  <a:latin typeface="+mn-lt"/>
                  <a:ea typeface="+mn-ea"/>
                  <a:cs typeface="+mn-cs"/>
                </a:rPr>
                <a:t>望，梳理规划关键里程碑</a:t>
              </a:r>
              <a:br/>
              <a:r>
                <a:rPr lang="zh-CN" sz="820" dirty="0">
                  <a:solidFill>
                    <a:srgbClr val="88706B"/>
                  </a:solidFill>
                  <a:latin typeface="+mn-lt"/>
                  <a:ea typeface="+mn-ea"/>
                  <a:cs typeface="+mn-cs"/>
                </a:rPr>
                <a:t>的节点。</a:t>
              </a:r>
            </a:p>
          </p:txBody>
        </p:sp>
      </p:grpSp>
      <p:grpSp>
        <p:nvGrpSpPr>
          <p:cNvPr id="43" name="task-3"/>
          <p:cNvGrpSpPr/>
          <p:nvPr/>
        </p:nvGrpSpPr>
        <p:grpSpPr>
          <a:xfrm>
            <a:off x="4943475" y="2476500"/>
            <a:ext cx="2095500" cy="1371600"/>
            <a:chOff x="4943475" y="2476500"/>
            <a:chExt cx="2095500" cy="1371600"/>
          </a:xfrm>
        </p:grpSpPr>
        <p:sp>
          <p:nvSpPr>
            <p:cNvPr id="40" name="Rectangle 40"/>
            <p:cNvSpPr/>
            <p:nvPr/>
          </p:nvSpPr>
          <p:spPr>
            <a:xfrm>
              <a:off x="4943475" y="2476500"/>
              <a:ext cx="2095500" cy="1371600"/>
            </a:xfrm>
            <a:prstGeom prst="roundRect">
              <a:avLst>
                <a:gd name="adj" fmla="val 5556"/>
              </a:avLst>
            </a:prstGeom>
            <a:solidFill>
              <a:srgbClr val="FFFFFF"/>
            </a:solidFill>
            <a:ln w="14288">
              <a:solidFill>
                <a:srgbClr val="E8EBF8"/>
              </a:solidFill>
            </a:ln>
          </p:spPr>
        </p:sp>
        <p:sp>
          <p:nvSpPr>
            <p:cNvPr id="41" name="TextBox 41"/>
            <p:cNvSpPr txBox="1"/>
            <p:nvPr/>
          </p:nvSpPr>
          <p:spPr>
            <a:xfrm>
              <a:off x="5090541" y="2629852"/>
              <a:ext cx="902593" cy="205359"/>
            </a:xfrm>
            <a:prstGeom prst="rect">
              <a:avLst/>
            </a:prstGeom>
            <a:noFill/>
            <a:ln>
              <a:noFill/>
            </a:ln>
          </p:spPr>
          <p:txBody>
            <a:bodyPr wrap="none" lIns="0" tIns="0" rIns="0" bIns="0" anchor="t" anchorCtr="0">
              <a:spAutoFit/>
            </a:bodyPr>
            <a:lstStyle/>
            <a:p>
              <a:pPr algn="l"/>
              <a:r>
                <a:rPr lang="zh-CN" sz="1050" b="1" dirty="0">
                  <a:solidFill>
                    <a:srgbClr val="C45F4A"/>
                  </a:solidFill>
                  <a:latin typeface="+mn-lt"/>
                  <a:ea typeface="+mn-ea"/>
                  <a:cs typeface="+mn-cs"/>
                </a:rPr>
                <a:t>3.评审会议​​</a:t>
              </a:r>
            </a:p>
          </p:txBody>
        </p:sp>
        <p:sp>
          <p:nvSpPr>
            <p:cNvPr id="42" name="TextBox 42"/>
            <p:cNvSpPr txBox="1"/>
            <p:nvPr/>
          </p:nvSpPr>
          <p:spPr>
            <a:xfrm>
              <a:off x="5091112" y="29208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开展评审会议，明确项目</a:t>
              </a:r>
              <a:br/>
              <a:r>
                <a:rPr lang="zh-CN" sz="820" dirty="0">
                  <a:solidFill>
                    <a:srgbClr val="88706B"/>
                  </a:solidFill>
                  <a:latin typeface="+mn-lt"/>
                  <a:ea typeface="+mn-ea"/>
                  <a:cs typeface="+mn-cs"/>
                </a:rPr>
                <a:t>背景、目标、范围、计划</a:t>
              </a:r>
              <a:br/>
              <a:r>
                <a:rPr lang="zh-CN" sz="820" dirty="0">
                  <a:solidFill>
                    <a:srgbClr val="88706B"/>
                  </a:solidFill>
                  <a:latin typeface="+mn-lt"/>
                  <a:ea typeface="+mn-ea"/>
                  <a:cs typeface="+mn-cs"/>
                </a:rPr>
                <a:t>及沟通机制。</a:t>
              </a:r>
            </a:p>
          </p:txBody>
        </p:sp>
      </p:grpSp>
      <p:grpSp>
        <p:nvGrpSpPr>
          <p:cNvPr id="47" name="task-4"/>
          <p:cNvGrpSpPr/>
          <p:nvPr/>
        </p:nvGrpSpPr>
        <p:grpSpPr>
          <a:xfrm>
            <a:off x="7153275" y="2476500"/>
            <a:ext cx="2095500" cy="1371600"/>
            <a:chOff x="7153275" y="2476500"/>
            <a:chExt cx="2095500" cy="1371600"/>
          </a:xfrm>
        </p:grpSpPr>
        <p:sp>
          <p:nvSpPr>
            <p:cNvPr id="44" name="Rectangle 44"/>
            <p:cNvSpPr/>
            <p:nvPr/>
          </p:nvSpPr>
          <p:spPr>
            <a:xfrm>
              <a:off x="7153275" y="2476500"/>
              <a:ext cx="2095500" cy="1371600"/>
            </a:xfrm>
            <a:prstGeom prst="roundRect">
              <a:avLst>
                <a:gd name="adj" fmla="val 5556"/>
              </a:avLst>
            </a:prstGeom>
            <a:solidFill>
              <a:srgbClr val="FFFFFF"/>
            </a:solidFill>
            <a:ln w="14288">
              <a:solidFill>
                <a:srgbClr val="E8EBF8"/>
              </a:solidFill>
            </a:ln>
          </p:spPr>
        </p:sp>
        <p:sp>
          <p:nvSpPr>
            <p:cNvPr id="45" name="TextBox 45"/>
            <p:cNvSpPr txBox="1"/>
            <p:nvPr/>
          </p:nvSpPr>
          <p:spPr>
            <a:xfrm>
              <a:off x="7300341" y="2629852"/>
              <a:ext cx="1185295" cy="205359"/>
            </a:xfrm>
            <a:prstGeom prst="rect">
              <a:avLst/>
            </a:prstGeom>
            <a:noFill/>
            <a:ln>
              <a:noFill/>
            </a:ln>
          </p:spPr>
          <p:txBody>
            <a:bodyPr wrap="none" lIns="0" tIns="0" rIns="0" bIns="0" anchor="t" anchorCtr="0">
              <a:spAutoFit/>
            </a:bodyPr>
            <a:lstStyle/>
            <a:p>
              <a:pPr algn="l"/>
              <a:r>
                <a:rPr lang="zh-CN" sz="1050" b="1" dirty="0">
                  <a:solidFill>
                    <a:srgbClr val="C45F4A"/>
                  </a:solidFill>
                  <a:latin typeface="+mn-lt"/>
                  <a:ea typeface="+mn-ea"/>
                  <a:cs typeface="+mn-cs"/>
                </a:rPr>
                <a:t>4.梳理业务流程​​</a:t>
              </a:r>
            </a:p>
          </p:txBody>
        </p:sp>
        <p:sp>
          <p:nvSpPr>
            <p:cNvPr id="46" name="TextBox 46"/>
            <p:cNvSpPr txBox="1"/>
            <p:nvPr/>
          </p:nvSpPr>
          <p:spPr>
            <a:xfrm>
              <a:off x="7300912" y="29208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依客户需求梳理业务流程</a:t>
              </a:r>
              <a:br/>
              <a:r>
                <a:rPr lang="zh-CN" sz="820" dirty="0">
                  <a:solidFill>
                    <a:srgbClr val="88706B"/>
                  </a:solidFill>
                  <a:latin typeface="+mn-lt"/>
                  <a:ea typeface="+mn-ea"/>
                  <a:cs typeface="+mn-cs"/>
                </a:rPr>
                <a:t>细节，设计适配的系统功</a:t>
              </a:r>
              <a:br/>
              <a:r>
                <a:rPr lang="zh-CN" sz="820" dirty="0">
                  <a:solidFill>
                    <a:srgbClr val="88706B"/>
                  </a:solidFill>
                  <a:latin typeface="+mn-lt"/>
                  <a:ea typeface="+mn-ea"/>
                  <a:cs typeface="+mn-cs"/>
                </a:rPr>
                <a:t>能模块。</a:t>
              </a:r>
            </a:p>
          </p:txBody>
        </p:sp>
      </p:grpSp>
      <p:grpSp>
        <p:nvGrpSpPr>
          <p:cNvPr id="51" name="task-5"/>
          <p:cNvGrpSpPr/>
          <p:nvPr/>
        </p:nvGrpSpPr>
        <p:grpSpPr>
          <a:xfrm>
            <a:off x="9363075" y="2476500"/>
            <a:ext cx="2095500" cy="1371600"/>
            <a:chOff x="9363075" y="2476500"/>
            <a:chExt cx="2095500" cy="1371600"/>
          </a:xfrm>
        </p:grpSpPr>
        <p:sp>
          <p:nvSpPr>
            <p:cNvPr id="48" name="Rectangle 48"/>
            <p:cNvSpPr/>
            <p:nvPr/>
          </p:nvSpPr>
          <p:spPr>
            <a:xfrm>
              <a:off x="9363075" y="2476500"/>
              <a:ext cx="2095500" cy="1371600"/>
            </a:xfrm>
            <a:prstGeom prst="roundRect">
              <a:avLst>
                <a:gd name="adj" fmla="val 5556"/>
              </a:avLst>
            </a:prstGeom>
            <a:solidFill>
              <a:srgbClr val="FFFFFF"/>
            </a:solidFill>
            <a:ln w="14288">
              <a:solidFill>
                <a:srgbClr val="E8EBF8"/>
              </a:solidFill>
            </a:ln>
          </p:spPr>
        </p:sp>
        <p:sp>
          <p:nvSpPr>
            <p:cNvPr id="49" name="TextBox 49"/>
            <p:cNvSpPr txBox="1"/>
            <p:nvPr/>
          </p:nvSpPr>
          <p:spPr>
            <a:xfrm>
              <a:off x="9510141" y="2629852"/>
              <a:ext cx="902593" cy="205359"/>
            </a:xfrm>
            <a:prstGeom prst="rect">
              <a:avLst/>
            </a:prstGeom>
            <a:noFill/>
            <a:ln>
              <a:noFill/>
            </a:ln>
          </p:spPr>
          <p:txBody>
            <a:bodyPr wrap="none" lIns="0" tIns="0" rIns="0" bIns="0" anchor="t" anchorCtr="0">
              <a:spAutoFit/>
            </a:bodyPr>
            <a:lstStyle/>
            <a:p>
              <a:pPr algn="l"/>
              <a:r>
                <a:rPr lang="zh-CN" sz="1050" b="1" dirty="0">
                  <a:solidFill>
                    <a:srgbClr val="E8634C"/>
                  </a:solidFill>
                  <a:latin typeface="+mn-lt"/>
                  <a:ea typeface="+mn-ea"/>
                  <a:cs typeface="+mn-cs"/>
                </a:rPr>
                <a:t>5.资源分配​​</a:t>
              </a:r>
            </a:p>
          </p:txBody>
        </p:sp>
        <p:sp>
          <p:nvSpPr>
            <p:cNvPr id="50" name="TextBox 50"/>
            <p:cNvSpPr txBox="1"/>
            <p:nvPr/>
          </p:nvSpPr>
          <p:spPr>
            <a:xfrm>
              <a:off x="9510712" y="29208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制定进度、资源、风险、</a:t>
              </a:r>
              <a:br/>
              <a:r>
                <a:rPr lang="zh-CN" sz="820" dirty="0">
                  <a:solidFill>
                    <a:srgbClr val="88706B"/>
                  </a:solidFill>
                  <a:latin typeface="+mn-lt"/>
                  <a:ea typeface="+mn-ea"/>
                  <a:cs typeface="+mn-cs"/>
                </a:rPr>
                <a:t>多方面的实施计划，明确</a:t>
              </a:r>
              <a:br/>
              <a:r>
                <a:rPr lang="zh-CN" sz="820" dirty="0">
                  <a:solidFill>
                    <a:srgbClr val="88706B"/>
                  </a:solidFill>
                  <a:latin typeface="+mn-lt"/>
                  <a:ea typeface="+mn-ea"/>
                  <a:cs typeface="+mn-cs"/>
                </a:rPr>
                <a:t>任务时间与责任人。</a:t>
              </a:r>
            </a:p>
          </p:txBody>
        </p:sp>
      </p:grpSp>
      <p:grpSp>
        <p:nvGrpSpPr>
          <p:cNvPr id="55" name="task-6"/>
          <p:cNvGrpSpPr/>
          <p:nvPr/>
        </p:nvGrpSpPr>
        <p:grpSpPr>
          <a:xfrm>
            <a:off x="523875" y="3924300"/>
            <a:ext cx="2095500" cy="1371600"/>
            <a:chOff x="523875" y="3924300"/>
            <a:chExt cx="2095500" cy="1371600"/>
          </a:xfrm>
        </p:grpSpPr>
        <p:sp>
          <p:nvSpPr>
            <p:cNvPr id="52" name="Rectangle 52"/>
            <p:cNvSpPr/>
            <p:nvPr/>
          </p:nvSpPr>
          <p:spPr>
            <a:xfrm>
              <a:off x="523875" y="3924300"/>
              <a:ext cx="2095500" cy="1371600"/>
            </a:xfrm>
            <a:prstGeom prst="roundRect">
              <a:avLst>
                <a:gd name="adj" fmla="val 5556"/>
              </a:avLst>
            </a:prstGeom>
            <a:solidFill>
              <a:srgbClr val="FFFFFF"/>
            </a:solidFill>
            <a:ln w="14288">
              <a:solidFill>
                <a:srgbClr val="E8EBF8"/>
              </a:solidFill>
            </a:ln>
          </p:spPr>
        </p:sp>
        <p:sp>
          <p:nvSpPr>
            <p:cNvPr id="53" name="TextBox 53"/>
            <p:cNvSpPr txBox="1"/>
            <p:nvPr/>
          </p:nvSpPr>
          <p:spPr>
            <a:xfrm>
              <a:off x="670941" y="4077652"/>
              <a:ext cx="1185295" cy="205359"/>
            </a:xfrm>
            <a:prstGeom prst="rect">
              <a:avLst/>
            </a:prstGeom>
            <a:noFill/>
            <a:ln>
              <a:noFill/>
            </a:ln>
          </p:spPr>
          <p:txBody>
            <a:bodyPr wrap="none" lIns="0" tIns="0" rIns="0" bIns="0" anchor="t" anchorCtr="0">
              <a:spAutoFit/>
            </a:bodyPr>
            <a:lstStyle/>
            <a:p>
              <a:pPr algn="l"/>
              <a:r>
                <a:rPr lang="zh-CN" sz="1050" b="1" dirty="0">
                  <a:solidFill>
                    <a:srgbClr val="E8634C"/>
                  </a:solidFill>
                  <a:latin typeface="+mn-lt"/>
                  <a:ea typeface="+mn-ea"/>
                  <a:cs typeface="+mn-cs"/>
                </a:rPr>
                <a:t>6.建立沟通机制​​</a:t>
              </a:r>
            </a:p>
          </p:txBody>
        </p:sp>
        <p:sp>
          <p:nvSpPr>
            <p:cNvPr id="54" name="TextBox 54"/>
            <p:cNvSpPr txBox="1"/>
            <p:nvPr/>
          </p:nvSpPr>
          <p:spPr>
            <a:xfrm>
              <a:off x="671512" y="43686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构建与客户汇报进展、答</a:t>
              </a:r>
              <a:br/>
              <a:r>
                <a:rPr lang="zh-CN" sz="820" dirty="0">
                  <a:solidFill>
                    <a:srgbClr val="88706B"/>
                  </a:solidFill>
                  <a:latin typeface="+mn-lt"/>
                  <a:ea typeface="+mn-ea"/>
                  <a:cs typeface="+mn-cs"/>
                </a:rPr>
                <a:t>疑释惑、收集反馈、动态</a:t>
              </a:r>
              <a:br/>
              <a:r>
                <a:rPr lang="zh-CN" sz="820" dirty="0">
                  <a:solidFill>
                    <a:srgbClr val="88706B"/>
                  </a:solidFill>
                  <a:latin typeface="+mn-lt"/>
                  <a:ea typeface="+mn-ea"/>
                  <a:cs typeface="+mn-cs"/>
                </a:rPr>
                <a:t>优化项目计划。</a:t>
              </a:r>
            </a:p>
          </p:txBody>
        </p:sp>
      </p:grpSp>
      <p:grpSp>
        <p:nvGrpSpPr>
          <p:cNvPr id="59" name="task-7"/>
          <p:cNvGrpSpPr/>
          <p:nvPr/>
        </p:nvGrpSpPr>
        <p:grpSpPr>
          <a:xfrm>
            <a:off x="2733675" y="3924300"/>
            <a:ext cx="2095500" cy="1371600"/>
            <a:chOff x="2733675" y="3924300"/>
            <a:chExt cx="2095500" cy="1371600"/>
          </a:xfrm>
        </p:grpSpPr>
        <p:sp>
          <p:nvSpPr>
            <p:cNvPr id="56" name="Rectangle 56"/>
            <p:cNvSpPr/>
            <p:nvPr/>
          </p:nvSpPr>
          <p:spPr>
            <a:xfrm>
              <a:off x="2733675" y="3924300"/>
              <a:ext cx="2095500" cy="1371600"/>
            </a:xfrm>
            <a:prstGeom prst="roundRect">
              <a:avLst>
                <a:gd name="adj" fmla="val 5556"/>
              </a:avLst>
            </a:prstGeom>
            <a:solidFill>
              <a:srgbClr val="FFFFFF"/>
            </a:solidFill>
            <a:ln w="14288">
              <a:solidFill>
                <a:srgbClr val="E8EBF8"/>
              </a:solidFill>
            </a:ln>
          </p:spPr>
        </p:sp>
        <p:sp>
          <p:nvSpPr>
            <p:cNvPr id="57" name="TextBox 57"/>
            <p:cNvSpPr txBox="1"/>
            <p:nvPr/>
          </p:nvSpPr>
          <p:spPr>
            <a:xfrm>
              <a:off x="2880741" y="4077652"/>
              <a:ext cx="1185295" cy="205359"/>
            </a:xfrm>
            <a:prstGeom prst="rect">
              <a:avLst/>
            </a:prstGeom>
            <a:noFill/>
            <a:ln>
              <a:noFill/>
            </a:ln>
          </p:spPr>
          <p:txBody>
            <a:bodyPr wrap="none" lIns="0" tIns="0" rIns="0" bIns="0" anchor="t" anchorCtr="0">
              <a:spAutoFit/>
            </a:bodyPr>
            <a:lstStyle/>
            <a:p>
              <a:pPr algn="l"/>
              <a:r>
                <a:rPr lang="zh-CN" sz="1050" b="1" dirty="0">
                  <a:solidFill>
                    <a:srgbClr val="C45F4A"/>
                  </a:solidFill>
                  <a:latin typeface="+mn-lt"/>
                  <a:ea typeface="+mn-ea"/>
                  <a:cs typeface="+mn-cs"/>
                </a:rPr>
                <a:t>7.监控体系搭建​​</a:t>
              </a:r>
            </a:p>
          </p:txBody>
        </p:sp>
        <p:sp>
          <p:nvSpPr>
            <p:cNvPr id="58" name="TextBox 58"/>
            <p:cNvSpPr txBox="1"/>
            <p:nvPr/>
          </p:nvSpPr>
          <p:spPr>
            <a:xfrm>
              <a:off x="2881312" y="4368641"/>
              <a:ext cx="125920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建立完善监控体系，多维度</a:t>
              </a:r>
              <a:br/>
              <a:r>
                <a:rPr lang="zh-CN" sz="820" dirty="0">
                  <a:solidFill>
                    <a:srgbClr val="88706B"/>
                  </a:solidFill>
                  <a:latin typeface="+mn-lt"/>
                  <a:ea typeface="+mn-ea"/>
                  <a:cs typeface="+mn-cs"/>
                </a:rPr>
                <a:t>评估项目进度。</a:t>
              </a:r>
            </a:p>
          </p:txBody>
        </p:sp>
      </p:grpSp>
      <p:grpSp>
        <p:nvGrpSpPr>
          <p:cNvPr id="63" name="task-8"/>
          <p:cNvGrpSpPr/>
          <p:nvPr/>
        </p:nvGrpSpPr>
        <p:grpSpPr>
          <a:xfrm>
            <a:off x="4943475" y="3924300"/>
            <a:ext cx="2095500" cy="1371600"/>
            <a:chOff x="4943475" y="3924300"/>
            <a:chExt cx="2095500" cy="1371600"/>
          </a:xfrm>
        </p:grpSpPr>
        <p:sp>
          <p:nvSpPr>
            <p:cNvPr id="60" name="Rectangle 60"/>
            <p:cNvSpPr/>
            <p:nvPr/>
          </p:nvSpPr>
          <p:spPr>
            <a:xfrm>
              <a:off x="4943475" y="3924300"/>
              <a:ext cx="2095500" cy="1371600"/>
            </a:xfrm>
            <a:prstGeom prst="roundRect">
              <a:avLst>
                <a:gd name="adj" fmla="val 5556"/>
              </a:avLst>
            </a:prstGeom>
            <a:solidFill>
              <a:srgbClr val="FFFFFF"/>
            </a:solidFill>
            <a:ln w="14288">
              <a:solidFill>
                <a:srgbClr val="E8EBF8"/>
              </a:solidFill>
            </a:ln>
          </p:spPr>
        </p:sp>
        <p:sp>
          <p:nvSpPr>
            <p:cNvPr id="61" name="TextBox 61"/>
            <p:cNvSpPr txBox="1"/>
            <p:nvPr/>
          </p:nvSpPr>
          <p:spPr>
            <a:xfrm>
              <a:off x="5090541" y="4077652"/>
              <a:ext cx="1185295" cy="205359"/>
            </a:xfrm>
            <a:prstGeom prst="rect">
              <a:avLst/>
            </a:prstGeom>
            <a:noFill/>
            <a:ln>
              <a:noFill/>
            </a:ln>
          </p:spPr>
          <p:txBody>
            <a:bodyPr wrap="none" lIns="0" tIns="0" rIns="0" bIns="0" anchor="t" anchorCtr="0">
              <a:spAutoFit/>
            </a:bodyPr>
            <a:lstStyle/>
            <a:p>
              <a:pPr algn="l"/>
              <a:r>
                <a:rPr lang="zh-CN" sz="1050" b="1" dirty="0">
                  <a:solidFill>
                    <a:srgbClr val="C45F4A"/>
                  </a:solidFill>
                  <a:latin typeface="+mn-lt"/>
                  <a:ea typeface="+mn-ea"/>
                  <a:cs typeface="+mn-cs"/>
                </a:rPr>
                <a:t>8.风险管控应对​​</a:t>
              </a:r>
            </a:p>
          </p:txBody>
        </p:sp>
        <p:sp>
          <p:nvSpPr>
            <p:cNvPr id="62" name="TextBox 62"/>
            <p:cNvSpPr txBox="1"/>
            <p:nvPr/>
          </p:nvSpPr>
          <p:spPr>
            <a:xfrm>
              <a:off x="5091112" y="43686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全面识别评估风险，制定</a:t>
              </a:r>
              <a:br/>
              <a:r>
                <a:rPr lang="zh-CN" sz="820" dirty="0">
                  <a:solidFill>
                    <a:srgbClr val="88706B"/>
                  </a:solidFill>
                  <a:latin typeface="+mn-lt"/>
                  <a:ea typeface="+mn-ea"/>
                  <a:cs typeface="+mn-cs"/>
                </a:rPr>
                <a:t>应对计划预案，依风险变</a:t>
              </a:r>
              <a:br/>
              <a:r>
                <a:rPr lang="zh-CN" sz="820" dirty="0">
                  <a:solidFill>
                    <a:srgbClr val="88706B"/>
                  </a:solidFill>
                  <a:latin typeface="+mn-lt"/>
                  <a:ea typeface="+mn-ea"/>
                  <a:cs typeface="+mn-cs"/>
                </a:rPr>
                <a:t>化灵活调整策略。</a:t>
              </a:r>
            </a:p>
          </p:txBody>
        </p:sp>
      </p:grpSp>
      <p:grpSp>
        <p:nvGrpSpPr>
          <p:cNvPr id="67" name="task-9"/>
          <p:cNvGrpSpPr/>
          <p:nvPr/>
        </p:nvGrpSpPr>
        <p:grpSpPr>
          <a:xfrm>
            <a:off x="7153275" y="3924300"/>
            <a:ext cx="2095500" cy="1371600"/>
            <a:chOff x="7153275" y="3924300"/>
            <a:chExt cx="2095500" cy="1371600"/>
          </a:xfrm>
        </p:grpSpPr>
        <p:sp>
          <p:nvSpPr>
            <p:cNvPr id="64" name="Rectangle 64"/>
            <p:cNvSpPr/>
            <p:nvPr/>
          </p:nvSpPr>
          <p:spPr>
            <a:xfrm>
              <a:off x="7153275" y="3924300"/>
              <a:ext cx="2095500" cy="1371600"/>
            </a:xfrm>
            <a:prstGeom prst="roundRect">
              <a:avLst>
                <a:gd name="adj" fmla="val 5556"/>
              </a:avLst>
            </a:prstGeom>
            <a:solidFill>
              <a:srgbClr val="FFFFFF"/>
            </a:solidFill>
            <a:ln w="14288">
              <a:solidFill>
                <a:srgbClr val="E8EBF8"/>
              </a:solidFill>
            </a:ln>
          </p:spPr>
        </p:sp>
        <p:sp>
          <p:nvSpPr>
            <p:cNvPr id="65" name="TextBox 65"/>
            <p:cNvSpPr txBox="1"/>
            <p:nvPr/>
          </p:nvSpPr>
          <p:spPr>
            <a:xfrm>
              <a:off x="7300341" y="4077652"/>
              <a:ext cx="1043944" cy="205359"/>
            </a:xfrm>
            <a:prstGeom prst="rect">
              <a:avLst/>
            </a:prstGeom>
            <a:noFill/>
            <a:ln>
              <a:noFill/>
            </a:ln>
          </p:spPr>
          <p:txBody>
            <a:bodyPr wrap="none" lIns="0" tIns="0" rIns="0" bIns="0" anchor="t" anchorCtr="0">
              <a:spAutoFit/>
            </a:bodyPr>
            <a:lstStyle/>
            <a:p>
              <a:pPr algn="l"/>
              <a:r>
                <a:rPr lang="zh-CN" sz="1050" b="1" dirty="0">
                  <a:solidFill>
                    <a:srgbClr val="C45F4A"/>
                  </a:solidFill>
                  <a:latin typeface="+mn-lt"/>
                  <a:ea typeface="+mn-ea"/>
                  <a:cs typeface="+mn-cs"/>
                </a:rPr>
                <a:t>9.里程碑报告​​</a:t>
              </a:r>
            </a:p>
          </p:txBody>
        </p:sp>
        <p:sp>
          <p:nvSpPr>
            <p:cNvPr id="66" name="TextBox 66"/>
            <p:cNvSpPr txBox="1"/>
            <p:nvPr/>
          </p:nvSpPr>
          <p:spPr>
            <a:xfrm>
              <a:off x="7300912" y="43686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编制详细周报、月报与里</a:t>
              </a:r>
              <a:br/>
              <a:r>
                <a:rPr lang="zh-CN" sz="820" dirty="0">
                  <a:solidFill>
                    <a:srgbClr val="88706B"/>
                  </a:solidFill>
                  <a:latin typeface="+mn-lt"/>
                  <a:ea typeface="+mn-ea"/>
                  <a:cs typeface="+mn-cs"/>
                </a:rPr>
                <a:t>程碑报告，向各方展示项</a:t>
              </a:r>
              <a:br/>
              <a:r>
                <a:rPr lang="zh-CN" sz="820" dirty="0">
                  <a:solidFill>
                    <a:srgbClr val="88706B"/>
                  </a:solidFill>
                  <a:latin typeface="+mn-lt"/>
                  <a:ea typeface="+mn-ea"/>
                  <a:cs typeface="+mn-cs"/>
                </a:rPr>
                <a:t>目执行情况成果。</a:t>
              </a:r>
            </a:p>
          </p:txBody>
        </p:sp>
      </p:grpSp>
      <p:grpSp>
        <p:nvGrpSpPr>
          <p:cNvPr id="71" name="task-10"/>
          <p:cNvGrpSpPr/>
          <p:nvPr/>
        </p:nvGrpSpPr>
        <p:grpSpPr>
          <a:xfrm>
            <a:off x="9363075" y="3924300"/>
            <a:ext cx="2095500" cy="1371600"/>
            <a:chOff x="9363075" y="3924300"/>
            <a:chExt cx="2095500" cy="1371600"/>
          </a:xfrm>
        </p:grpSpPr>
        <p:sp>
          <p:nvSpPr>
            <p:cNvPr id="68" name="Rectangle 68"/>
            <p:cNvSpPr/>
            <p:nvPr/>
          </p:nvSpPr>
          <p:spPr>
            <a:xfrm>
              <a:off x="9363075" y="3924300"/>
              <a:ext cx="2095500" cy="1371600"/>
            </a:xfrm>
            <a:prstGeom prst="roundRect">
              <a:avLst>
                <a:gd name="adj" fmla="val 5556"/>
              </a:avLst>
            </a:prstGeom>
            <a:solidFill>
              <a:srgbClr val="FFFFFF"/>
            </a:solidFill>
            <a:ln w="14288">
              <a:solidFill>
                <a:srgbClr val="E8EBF8"/>
              </a:solidFill>
            </a:ln>
          </p:spPr>
        </p:sp>
        <p:sp>
          <p:nvSpPr>
            <p:cNvPr id="69" name="TextBox 69"/>
            <p:cNvSpPr txBox="1"/>
            <p:nvPr/>
          </p:nvSpPr>
          <p:spPr>
            <a:xfrm>
              <a:off x="9510141" y="4077652"/>
              <a:ext cx="984223" cy="205359"/>
            </a:xfrm>
            <a:prstGeom prst="rect">
              <a:avLst/>
            </a:prstGeom>
            <a:noFill/>
            <a:ln>
              <a:noFill/>
            </a:ln>
          </p:spPr>
          <p:txBody>
            <a:bodyPr wrap="none" lIns="0" tIns="0" rIns="0" bIns="0" anchor="t" anchorCtr="0">
              <a:spAutoFit/>
            </a:bodyPr>
            <a:lstStyle/>
            <a:p>
              <a:pPr algn="l"/>
              <a:r>
                <a:rPr lang="zh-CN" sz="1050" b="1" dirty="0">
                  <a:solidFill>
                    <a:srgbClr val="E8634C"/>
                  </a:solidFill>
                  <a:latin typeface="+mn-lt"/>
                  <a:ea typeface="+mn-ea"/>
                  <a:cs typeface="+mn-cs"/>
                </a:rPr>
                <a:t>10.开发测试​​</a:t>
              </a:r>
            </a:p>
          </p:txBody>
        </p:sp>
        <p:sp>
          <p:nvSpPr>
            <p:cNvPr id="70" name="TextBox 70"/>
            <p:cNvSpPr txBox="1"/>
            <p:nvPr/>
          </p:nvSpPr>
          <p:spPr>
            <a:xfrm>
              <a:off x="9510712" y="43686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依照计划推进系统开发，</a:t>
              </a:r>
              <a:br/>
              <a:r>
                <a:rPr lang="zh-CN" sz="820" dirty="0">
                  <a:solidFill>
                    <a:srgbClr val="88706B"/>
                  </a:solidFill>
                  <a:latin typeface="+mn-lt"/>
                  <a:ea typeface="+mn-ea"/>
                  <a:cs typeface="+mn-cs"/>
                </a:rPr>
                <a:t>遵循规范标准，开展多轮</a:t>
              </a:r>
              <a:br/>
              <a:r>
                <a:rPr lang="zh-CN" sz="820" dirty="0">
                  <a:solidFill>
                    <a:srgbClr val="88706B"/>
                  </a:solidFill>
                  <a:latin typeface="+mn-lt"/>
                  <a:ea typeface="+mn-ea"/>
                  <a:cs typeface="+mn-cs"/>
                </a:rPr>
                <a:t>测试。</a:t>
              </a:r>
            </a:p>
          </p:txBody>
        </p:sp>
      </p:grpSp>
      <p:grpSp>
        <p:nvGrpSpPr>
          <p:cNvPr id="75" name="task-11"/>
          <p:cNvGrpSpPr/>
          <p:nvPr/>
        </p:nvGrpSpPr>
        <p:grpSpPr>
          <a:xfrm>
            <a:off x="523875" y="5372100"/>
            <a:ext cx="2095500" cy="1371600"/>
            <a:chOff x="523875" y="5372100"/>
            <a:chExt cx="2095500" cy="1371600"/>
          </a:xfrm>
        </p:grpSpPr>
        <p:sp>
          <p:nvSpPr>
            <p:cNvPr id="72" name="Rectangle 72"/>
            <p:cNvSpPr/>
            <p:nvPr/>
          </p:nvSpPr>
          <p:spPr>
            <a:xfrm>
              <a:off x="523875" y="5372100"/>
              <a:ext cx="2095500" cy="1371600"/>
            </a:xfrm>
            <a:prstGeom prst="roundRect">
              <a:avLst>
                <a:gd name="adj" fmla="val 5556"/>
              </a:avLst>
            </a:prstGeom>
            <a:solidFill>
              <a:srgbClr val="FFFFFF"/>
            </a:solidFill>
            <a:ln w="14288">
              <a:solidFill>
                <a:srgbClr val="E8EBF8"/>
              </a:solidFill>
            </a:ln>
          </p:spPr>
        </p:sp>
        <p:sp>
          <p:nvSpPr>
            <p:cNvPr id="73" name="TextBox 73"/>
            <p:cNvSpPr txBox="1"/>
            <p:nvPr/>
          </p:nvSpPr>
          <p:spPr>
            <a:xfrm>
              <a:off x="670941" y="5525452"/>
              <a:ext cx="984223" cy="205359"/>
            </a:xfrm>
            <a:prstGeom prst="rect">
              <a:avLst/>
            </a:prstGeom>
            <a:noFill/>
            <a:ln>
              <a:noFill/>
            </a:ln>
          </p:spPr>
          <p:txBody>
            <a:bodyPr wrap="none" lIns="0" tIns="0" rIns="0" bIns="0" anchor="t" anchorCtr="0">
              <a:spAutoFit/>
            </a:bodyPr>
            <a:lstStyle/>
            <a:p>
              <a:pPr algn="l"/>
              <a:r>
                <a:rPr lang="zh-CN" sz="1050" b="1" dirty="0">
                  <a:solidFill>
                    <a:srgbClr val="E8634C"/>
                  </a:solidFill>
                  <a:latin typeface="+mn-lt"/>
                  <a:ea typeface="+mn-ea"/>
                  <a:cs typeface="+mn-cs"/>
                </a:rPr>
                <a:t>11.部署上线​​</a:t>
              </a:r>
            </a:p>
          </p:txBody>
        </p:sp>
        <p:sp>
          <p:nvSpPr>
            <p:cNvPr id="74" name="TextBox 74"/>
            <p:cNvSpPr txBox="1"/>
            <p:nvPr/>
          </p:nvSpPr>
          <p:spPr>
            <a:xfrm>
              <a:off x="671512" y="58164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完成系统部署上线，组织</a:t>
              </a:r>
              <a:br/>
              <a:r>
                <a:rPr lang="zh-CN" sz="820" dirty="0">
                  <a:solidFill>
                    <a:srgbClr val="88706B"/>
                  </a:solidFill>
                  <a:latin typeface="+mn-lt"/>
                  <a:ea typeface="+mn-ea"/>
                  <a:cs typeface="+mn-cs"/>
                </a:rPr>
                <a:t>全面操作培训，助力客户</a:t>
              </a:r>
              <a:br/>
              <a:r>
                <a:rPr lang="zh-CN" sz="820" dirty="0">
                  <a:solidFill>
                    <a:srgbClr val="88706B"/>
                  </a:solidFill>
                  <a:latin typeface="+mn-lt"/>
                  <a:ea typeface="+mn-ea"/>
                  <a:cs typeface="+mn-cs"/>
                </a:rPr>
                <a:t>熟练运用系统。</a:t>
              </a:r>
            </a:p>
          </p:txBody>
        </p:sp>
      </p:grpSp>
      <p:grpSp>
        <p:nvGrpSpPr>
          <p:cNvPr id="79" name="task-12"/>
          <p:cNvGrpSpPr/>
          <p:nvPr/>
        </p:nvGrpSpPr>
        <p:grpSpPr>
          <a:xfrm>
            <a:off x="2733675" y="5372100"/>
            <a:ext cx="2095500" cy="1371600"/>
            <a:chOff x="2733675" y="5372100"/>
            <a:chExt cx="2095500" cy="1371600"/>
          </a:xfrm>
        </p:grpSpPr>
        <p:sp>
          <p:nvSpPr>
            <p:cNvPr id="76" name="Rectangle 76"/>
            <p:cNvSpPr/>
            <p:nvPr/>
          </p:nvSpPr>
          <p:spPr>
            <a:xfrm>
              <a:off x="2733675" y="5372100"/>
              <a:ext cx="2095500" cy="1371600"/>
            </a:xfrm>
            <a:prstGeom prst="roundRect">
              <a:avLst>
                <a:gd name="adj" fmla="val 5556"/>
              </a:avLst>
            </a:prstGeom>
            <a:solidFill>
              <a:srgbClr val="FFFFFF"/>
            </a:solidFill>
            <a:ln w="14288">
              <a:solidFill>
                <a:srgbClr val="E8EBF8"/>
              </a:solidFill>
            </a:ln>
          </p:spPr>
        </p:sp>
        <p:sp>
          <p:nvSpPr>
            <p:cNvPr id="77" name="TextBox 77"/>
            <p:cNvSpPr txBox="1"/>
            <p:nvPr/>
          </p:nvSpPr>
          <p:spPr>
            <a:xfrm>
              <a:off x="2880741" y="5525452"/>
              <a:ext cx="984223" cy="205359"/>
            </a:xfrm>
            <a:prstGeom prst="rect">
              <a:avLst/>
            </a:prstGeom>
            <a:noFill/>
            <a:ln>
              <a:noFill/>
            </a:ln>
          </p:spPr>
          <p:txBody>
            <a:bodyPr wrap="none" lIns="0" tIns="0" rIns="0" bIns="0" anchor="t" anchorCtr="0">
              <a:spAutoFit/>
            </a:bodyPr>
            <a:lstStyle/>
            <a:p>
              <a:pPr algn="l"/>
              <a:r>
                <a:rPr lang="zh-CN" sz="1050" b="1" dirty="0">
                  <a:solidFill>
                    <a:srgbClr val="E8634C"/>
                  </a:solidFill>
                  <a:latin typeface="+mn-lt"/>
                  <a:ea typeface="+mn-ea"/>
                  <a:cs typeface="+mn-cs"/>
                </a:rPr>
                <a:t>12.驻场支持​​</a:t>
              </a:r>
            </a:p>
          </p:txBody>
        </p:sp>
        <p:sp>
          <p:nvSpPr>
            <p:cNvPr id="78" name="TextBox 78"/>
            <p:cNvSpPr txBox="1"/>
            <p:nvPr/>
          </p:nvSpPr>
          <p:spPr>
            <a:xfrm>
              <a:off x="2881312" y="58164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上线初期安排技术人员驻</a:t>
              </a:r>
              <a:br/>
              <a:r>
                <a:rPr lang="zh-CN" sz="820" dirty="0">
                  <a:solidFill>
                    <a:srgbClr val="88706B"/>
                  </a:solidFill>
                  <a:latin typeface="+mn-lt"/>
                  <a:ea typeface="+mn-ea"/>
                  <a:cs typeface="+mn-cs"/>
                </a:rPr>
                <a:t>场，快速响应客户问题，</a:t>
              </a:r>
              <a:br/>
              <a:r>
                <a:rPr lang="zh-CN" sz="820" dirty="0">
                  <a:solidFill>
                    <a:srgbClr val="88706B"/>
                  </a:solidFill>
                  <a:latin typeface="+mn-lt"/>
                  <a:ea typeface="+mn-ea"/>
                  <a:cs typeface="+mn-cs"/>
                </a:rPr>
                <a:t>维护系统稳定。</a:t>
              </a:r>
            </a:p>
          </p:txBody>
        </p:sp>
      </p:grpSp>
      <p:grpSp>
        <p:nvGrpSpPr>
          <p:cNvPr id="83" name="task-13"/>
          <p:cNvGrpSpPr/>
          <p:nvPr/>
        </p:nvGrpSpPr>
        <p:grpSpPr>
          <a:xfrm>
            <a:off x="4943475" y="5372100"/>
            <a:ext cx="2095500" cy="1371600"/>
            <a:chOff x="4943475" y="5372100"/>
            <a:chExt cx="2095500" cy="1371600"/>
          </a:xfrm>
        </p:grpSpPr>
        <p:sp>
          <p:nvSpPr>
            <p:cNvPr id="80" name="Rectangle 80"/>
            <p:cNvSpPr/>
            <p:nvPr/>
          </p:nvSpPr>
          <p:spPr>
            <a:xfrm>
              <a:off x="4943475" y="5372100"/>
              <a:ext cx="2095500" cy="1371600"/>
            </a:xfrm>
            <a:prstGeom prst="roundRect">
              <a:avLst>
                <a:gd name="adj" fmla="val 5556"/>
              </a:avLst>
            </a:prstGeom>
            <a:solidFill>
              <a:srgbClr val="FFFFFF"/>
            </a:solidFill>
            <a:ln w="14288">
              <a:solidFill>
                <a:srgbClr val="E8EBF8"/>
              </a:solidFill>
            </a:ln>
          </p:spPr>
        </p:sp>
        <p:sp>
          <p:nvSpPr>
            <p:cNvPr id="81" name="TextBox 81"/>
            <p:cNvSpPr txBox="1"/>
            <p:nvPr/>
          </p:nvSpPr>
          <p:spPr>
            <a:xfrm>
              <a:off x="5090541" y="5525452"/>
              <a:ext cx="984223" cy="205359"/>
            </a:xfrm>
            <a:prstGeom prst="rect">
              <a:avLst/>
            </a:prstGeom>
            <a:noFill/>
            <a:ln>
              <a:noFill/>
            </a:ln>
          </p:spPr>
          <p:txBody>
            <a:bodyPr wrap="none" lIns="0" tIns="0" rIns="0" bIns="0" anchor="t" anchorCtr="0">
              <a:spAutoFit/>
            </a:bodyPr>
            <a:lstStyle/>
            <a:p>
              <a:pPr algn="l"/>
              <a:r>
                <a:rPr lang="zh-CN" sz="1050" b="1" dirty="0">
                  <a:solidFill>
                    <a:srgbClr val="E8634C"/>
                  </a:solidFill>
                  <a:latin typeface="+mn-lt"/>
                  <a:ea typeface="+mn-ea"/>
                  <a:cs typeface="+mn-cs"/>
                </a:rPr>
                <a:t>13.验收评估​​</a:t>
              </a:r>
            </a:p>
          </p:txBody>
        </p:sp>
        <p:sp>
          <p:nvSpPr>
            <p:cNvPr id="82" name="TextBox 82"/>
            <p:cNvSpPr txBox="1"/>
            <p:nvPr/>
          </p:nvSpPr>
          <p:spPr>
            <a:xfrm>
              <a:off x="5091112" y="58164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协同客户开展项目验收，</a:t>
              </a:r>
              <a:br/>
              <a:r>
                <a:rPr lang="zh-CN" sz="820" dirty="0">
                  <a:solidFill>
                    <a:srgbClr val="88706B"/>
                  </a:solidFill>
                  <a:latin typeface="+mn-lt"/>
                  <a:ea typeface="+mn-ea"/>
                  <a:cs typeface="+mn-cs"/>
                </a:rPr>
                <a:t>全面评估成果，依据反馈</a:t>
              </a:r>
              <a:br/>
              <a:r>
                <a:rPr lang="zh-CN" sz="820" dirty="0">
                  <a:solidFill>
                    <a:srgbClr val="88706B"/>
                  </a:solidFill>
                  <a:latin typeface="+mn-lt"/>
                  <a:ea typeface="+mn-ea"/>
                  <a:cs typeface="+mn-cs"/>
                </a:rPr>
                <a:t>整改不足。</a:t>
              </a:r>
            </a:p>
          </p:txBody>
        </p:sp>
      </p:grpSp>
      <p:grpSp>
        <p:nvGrpSpPr>
          <p:cNvPr id="87" name="task-14"/>
          <p:cNvGrpSpPr/>
          <p:nvPr/>
        </p:nvGrpSpPr>
        <p:grpSpPr>
          <a:xfrm>
            <a:off x="7153275" y="5372100"/>
            <a:ext cx="2095500" cy="1371600"/>
            <a:chOff x="7153275" y="5372100"/>
            <a:chExt cx="2095500" cy="1371600"/>
          </a:xfrm>
        </p:grpSpPr>
        <p:sp>
          <p:nvSpPr>
            <p:cNvPr id="84" name="Rectangle 84"/>
            <p:cNvSpPr/>
            <p:nvPr/>
          </p:nvSpPr>
          <p:spPr>
            <a:xfrm>
              <a:off x="7153275" y="5372100"/>
              <a:ext cx="2095500" cy="1371600"/>
            </a:xfrm>
            <a:prstGeom prst="roundRect">
              <a:avLst>
                <a:gd name="adj" fmla="val 5556"/>
              </a:avLst>
            </a:prstGeom>
            <a:solidFill>
              <a:srgbClr val="FFFFFF"/>
            </a:solidFill>
            <a:ln w="14288">
              <a:solidFill>
                <a:srgbClr val="E8EBF8"/>
              </a:solidFill>
            </a:ln>
          </p:spPr>
        </p:sp>
        <p:sp>
          <p:nvSpPr>
            <p:cNvPr id="85" name="TextBox 85"/>
            <p:cNvSpPr txBox="1"/>
            <p:nvPr/>
          </p:nvSpPr>
          <p:spPr>
            <a:xfrm>
              <a:off x="7300341" y="5525452"/>
              <a:ext cx="1125574" cy="205359"/>
            </a:xfrm>
            <a:prstGeom prst="rect">
              <a:avLst/>
            </a:prstGeom>
            <a:noFill/>
            <a:ln>
              <a:noFill/>
            </a:ln>
          </p:spPr>
          <p:txBody>
            <a:bodyPr wrap="none" lIns="0" tIns="0" rIns="0" bIns="0" anchor="t" anchorCtr="0">
              <a:spAutoFit/>
            </a:bodyPr>
            <a:lstStyle/>
            <a:p>
              <a:pPr algn="l"/>
              <a:r>
                <a:rPr lang="zh-CN" sz="1050" b="1" dirty="0">
                  <a:solidFill>
                    <a:srgbClr val="E8634C"/>
                  </a:solidFill>
                  <a:latin typeface="+mn-lt"/>
                  <a:ea typeface="+mn-ea"/>
                  <a:cs typeface="+mn-cs"/>
                </a:rPr>
                <a:t>14.归档交付物​​</a:t>
              </a:r>
            </a:p>
          </p:txBody>
        </p:sp>
        <p:sp>
          <p:nvSpPr>
            <p:cNvPr id="86" name="TextBox 86"/>
            <p:cNvSpPr txBox="1"/>
            <p:nvPr/>
          </p:nvSpPr>
          <p:spPr>
            <a:xfrm>
              <a:off x="7300912" y="5816441"/>
              <a:ext cx="1155065" cy="485775"/>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系统整理各类项目文档，</a:t>
              </a:r>
              <a:br/>
              <a:r>
                <a:rPr lang="zh-CN" sz="820" dirty="0">
                  <a:solidFill>
                    <a:srgbClr val="88706B"/>
                  </a:solidFill>
                  <a:latin typeface="+mn-lt"/>
                  <a:ea typeface="+mn-ea"/>
                  <a:cs typeface="+mn-cs"/>
                </a:rPr>
                <a:t>分类归档保存，为后续维</a:t>
              </a:r>
              <a:br/>
              <a:r>
                <a:rPr lang="zh-CN" sz="820" dirty="0">
                  <a:solidFill>
                    <a:srgbClr val="88706B"/>
                  </a:solidFill>
                  <a:latin typeface="+mn-lt"/>
                  <a:ea typeface="+mn-ea"/>
                  <a:cs typeface="+mn-cs"/>
                </a:rPr>
                <a:t>护升级提供资料依据。</a:t>
              </a:r>
            </a:p>
          </p:txBody>
        </p:sp>
      </p:grpSp>
      <p:grpSp>
        <p:nvGrpSpPr>
          <p:cNvPr id="91" name="task-15"/>
          <p:cNvGrpSpPr/>
          <p:nvPr/>
        </p:nvGrpSpPr>
        <p:grpSpPr>
          <a:xfrm>
            <a:off x="9363075" y="5372100"/>
            <a:ext cx="2095500" cy="1371600"/>
            <a:chOff x="9363075" y="5372100"/>
            <a:chExt cx="2095500" cy="1371600"/>
          </a:xfrm>
        </p:grpSpPr>
        <p:sp>
          <p:nvSpPr>
            <p:cNvPr id="88" name="Rectangle 88"/>
            <p:cNvSpPr/>
            <p:nvPr/>
          </p:nvSpPr>
          <p:spPr>
            <a:xfrm>
              <a:off x="9363075" y="5372100"/>
              <a:ext cx="2095500" cy="1371600"/>
            </a:xfrm>
            <a:prstGeom prst="roundRect">
              <a:avLst>
                <a:gd name="adj" fmla="val 5556"/>
              </a:avLst>
            </a:prstGeom>
            <a:solidFill>
              <a:srgbClr val="FFFFFF"/>
            </a:solidFill>
            <a:ln w="14288">
              <a:solidFill>
                <a:srgbClr val="E8EBF8"/>
              </a:solidFill>
            </a:ln>
          </p:spPr>
        </p:sp>
        <p:sp>
          <p:nvSpPr>
            <p:cNvPr id="89" name="TextBox 89"/>
            <p:cNvSpPr txBox="1"/>
            <p:nvPr/>
          </p:nvSpPr>
          <p:spPr>
            <a:xfrm>
              <a:off x="9510141" y="5525452"/>
              <a:ext cx="984223" cy="205359"/>
            </a:xfrm>
            <a:prstGeom prst="rect">
              <a:avLst/>
            </a:prstGeom>
            <a:noFill/>
            <a:ln>
              <a:noFill/>
            </a:ln>
          </p:spPr>
          <p:txBody>
            <a:bodyPr wrap="none" lIns="0" tIns="0" rIns="0" bIns="0" anchor="t" anchorCtr="0">
              <a:spAutoFit/>
            </a:bodyPr>
            <a:lstStyle/>
            <a:p>
              <a:pPr algn="l"/>
              <a:r>
                <a:rPr lang="zh-CN" sz="1050" b="1" dirty="0">
                  <a:solidFill>
                    <a:srgbClr val="E8634C"/>
                  </a:solidFill>
                  <a:latin typeface="+mn-lt"/>
                  <a:ea typeface="+mn-ea"/>
                  <a:cs typeface="+mn-cs"/>
                </a:rPr>
                <a:t>15.项目复盘​​</a:t>
              </a:r>
            </a:p>
          </p:txBody>
        </p:sp>
        <p:sp>
          <p:nvSpPr>
            <p:cNvPr id="90" name="TextBox 90"/>
            <p:cNvSpPr txBox="1"/>
            <p:nvPr/>
          </p:nvSpPr>
          <p:spPr>
            <a:xfrm>
              <a:off x="9510712" y="5816441"/>
              <a:ext cx="125920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88706B"/>
                  </a:solidFill>
                  <a:latin typeface="+mn-lt"/>
                  <a:ea typeface="+mn-ea"/>
                  <a:cs typeface="+mn-cs"/>
                </a:rPr>
                <a:t>总结复盘项目开发存在的</a:t>
              </a:r>
              <a:br/>
              <a:r>
                <a:rPr lang="zh-CN" sz="820" dirty="0">
                  <a:solidFill>
                    <a:srgbClr val="88706B"/>
                  </a:solidFill>
                  <a:latin typeface="+mn-lt"/>
                  <a:ea typeface="+mn-ea"/>
                  <a:cs typeface="+mn-cs"/>
                </a:rPr>
                <a:t>问题，沉淀优秀工作经验。</a:t>
              </a:r>
            </a:p>
          </p:txBody>
        </p:sp>
      </p:gr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79​​</a:t>
              </a:r>
            </a:p>
          </p:txBody>
        </p:sp>
        <p:sp>
          <p:nvSpPr>
            <p:cNvPr id="4" name="TextBox 4"/>
            <p:cNvSpPr txBox="1"/>
            <p:nvPr/>
          </p:nvSpPr>
          <p:spPr>
            <a:xfrm>
              <a:off x="942594" y="151448"/>
              <a:ext cx="212156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项目问题与改进​</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9" name="kpi-label"/>
          <p:cNvGrpSpPr/>
          <p:nvPr/>
        </p:nvGrpSpPr>
        <p:grpSpPr>
          <a:xfrm>
            <a:off x="342900" y="952500"/>
            <a:ext cx="1269492" cy="234887"/>
            <a:chOff x="342900" y="952500"/>
            <a:chExt cx="1269492" cy="234887"/>
          </a:xfrm>
        </p:grpSpPr>
        <p:sp>
          <p:nvSpPr>
            <p:cNvPr id="7" name="Rectangle 7"/>
            <p:cNvSpPr/>
            <p:nvPr/>
          </p:nvSpPr>
          <p:spPr>
            <a:xfrm>
              <a:off x="342900" y="952500"/>
              <a:ext cx="47625" cy="171450"/>
            </a:xfrm>
            <a:prstGeom prst="rect">
              <a:avLst/>
            </a:prstGeom>
            <a:solidFill>
              <a:srgbClr val="C45F4A"/>
            </a:solidFill>
            <a:ln>
              <a:noFill/>
            </a:ln>
          </p:spPr>
        </p:sp>
        <p:sp>
          <p:nvSpPr>
            <p:cNvPr id="8" name="TextBox 8"/>
            <p:cNvSpPr txBox="1"/>
            <p:nvPr/>
          </p:nvSpPr>
          <p:spPr>
            <a:xfrm>
              <a:off x="470916" y="982028"/>
              <a:ext cx="1141476"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项目任务完成情况</a:t>
              </a:r>
            </a:p>
          </p:txBody>
        </p:sp>
      </p:grpSp>
      <p:grpSp>
        <p:nvGrpSpPr>
          <p:cNvPr id="22" name="kpi-strip"/>
          <p:cNvGrpSpPr/>
          <p:nvPr/>
        </p:nvGrpSpPr>
        <p:grpSpPr>
          <a:xfrm>
            <a:off x="342900" y="1257300"/>
            <a:ext cx="5562600" cy="971550"/>
            <a:chOff x="342900" y="1257300"/>
            <a:chExt cx="5562600" cy="971550"/>
          </a:xfrm>
        </p:grpSpPr>
        <p:sp>
          <p:nvSpPr>
            <p:cNvPr id="10" name="Rectangle 10"/>
            <p:cNvSpPr/>
            <p:nvPr/>
          </p:nvSpPr>
          <p:spPr>
            <a:xfrm>
              <a:off x="342900" y="1257300"/>
              <a:ext cx="5562600" cy="971550"/>
            </a:xfrm>
            <a:prstGeom prst="roundRect">
              <a:avLst>
                <a:gd name="adj" fmla="val 7843"/>
              </a:avLst>
            </a:prstGeom>
            <a:gradFill>
              <a:gsLst>
                <a:gs pos="0">
                  <a:srgbClr val="CC6955"/>
                </a:gs>
                <a:gs pos="100000">
                  <a:srgbClr val="B8503B"/>
                </a:gs>
              </a:gsLst>
              <a:lin ang="0" scaled="1"/>
            </a:gradFill>
            <a:ln>
              <a:noFill/>
            </a:ln>
          </p:spPr>
        </p:sp>
        <p:sp>
          <p:nvSpPr>
            <p:cNvPr id="11" name="TextBox 11"/>
            <p:cNvSpPr txBox="1"/>
            <p:nvPr/>
          </p:nvSpPr>
          <p:spPr>
            <a:xfrm>
              <a:off x="557686" y="1471612"/>
              <a:ext cx="961077"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n-lt"/>
                  <a:ea typeface="+mn-ea"/>
                  <a:cs typeface="+mn-cs"/>
                </a:rPr>
                <a:t>80%​​</a:t>
              </a:r>
            </a:p>
          </p:txBody>
        </p:sp>
        <p:sp>
          <p:nvSpPr>
            <p:cNvPr id="12" name="TextBox 12"/>
            <p:cNvSpPr txBox="1"/>
            <p:nvPr/>
          </p:nvSpPr>
          <p:spPr>
            <a:xfrm>
              <a:off x="780377" y="1879997"/>
              <a:ext cx="515696" cy="183356"/>
            </a:xfrm>
            <a:prstGeom prst="rect">
              <a:avLst/>
            </a:prstGeom>
            <a:noFill/>
            <a:ln>
              <a:noFill/>
            </a:ln>
          </p:spPr>
          <p:txBody>
            <a:bodyPr wrap="none" lIns="0" tIns="0" rIns="0" bIns="0" anchor="t" anchorCtr="0">
              <a:spAutoFit/>
            </a:bodyPr>
            <a:lstStyle/>
            <a:p>
              <a:pPr algn="ctr"/>
              <a:r>
                <a:rPr lang="zh-CN" sz="940" dirty="0">
                  <a:solidFill>
                    <a:srgbClr val="D8DEF2"/>
                  </a:solidFill>
                  <a:latin typeface="+mn-lt"/>
                  <a:ea typeface="+mn-ea"/>
                  <a:cs typeface="+mn-cs"/>
                </a:rPr>
                <a:t>任务完成</a:t>
              </a:r>
            </a:p>
          </p:txBody>
        </p:sp>
        <p:sp>
          <p:nvSpPr>
            <p:cNvPr id="13" name="Line 13"/>
            <p:cNvSpPr/>
            <p:nvPr/>
          </p:nvSpPr>
          <p:spPr>
            <a:xfrm>
              <a:off x="1733550" y="1390650"/>
              <a:ext cx="9525" cy="704850"/>
            </a:xfrm>
            <a:custGeom>
              <a:avLst/>
              <a:gdLst/>
              <a:ahLst/>
              <a:cxnLst/>
              <a:rect l="l" t="t" r="r" b="b"/>
              <a:pathLst>
                <a:path w="9525" h="704850">
                  <a:moveTo>
                    <a:pt x="0" y="0"/>
                  </a:moveTo>
                  <a:lnTo>
                    <a:pt x="0" y="704850"/>
                  </a:lnTo>
                </a:path>
              </a:pathLst>
            </a:custGeom>
            <a:noFill/>
            <a:ln w="9525">
              <a:solidFill>
                <a:srgbClr val="E08C7B"/>
              </a:solidFill>
            </a:ln>
          </p:spPr>
        </p:sp>
        <p:sp>
          <p:nvSpPr>
            <p:cNvPr id="14" name="TextBox 14"/>
            <p:cNvSpPr txBox="1"/>
            <p:nvPr/>
          </p:nvSpPr>
          <p:spPr>
            <a:xfrm>
              <a:off x="1980140" y="1471612"/>
              <a:ext cx="897469"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n-lt"/>
                  <a:ea typeface="+mn-ea"/>
                  <a:cs typeface="+mn-cs"/>
                </a:rPr>
                <a:t>122​​</a:t>
              </a:r>
            </a:p>
          </p:txBody>
        </p:sp>
        <p:sp>
          <p:nvSpPr>
            <p:cNvPr id="15" name="TextBox 15"/>
            <p:cNvSpPr txBox="1"/>
            <p:nvPr/>
          </p:nvSpPr>
          <p:spPr>
            <a:xfrm>
              <a:off x="2234298" y="1879997"/>
              <a:ext cx="389153" cy="183356"/>
            </a:xfrm>
            <a:prstGeom prst="rect">
              <a:avLst/>
            </a:prstGeom>
            <a:noFill/>
            <a:ln>
              <a:noFill/>
            </a:ln>
          </p:spPr>
          <p:txBody>
            <a:bodyPr wrap="none" lIns="0" tIns="0" rIns="0" bIns="0" anchor="t" anchorCtr="0">
              <a:spAutoFit/>
            </a:bodyPr>
            <a:lstStyle/>
            <a:p>
              <a:pPr algn="ctr"/>
              <a:r>
                <a:rPr lang="zh-CN" sz="940" dirty="0">
                  <a:solidFill>
                    <a:srgbClr val="D8DEF2"/>
                  </a:solidFill>
                  <a:latin typeface="+mn-lt"/>
                  <a:ea typeface="+mn-ea"/>
                  <a:cs typeface="+mn-cs"/>
                </a:rPr>
                <a:t>进行中</a:t>
              </a:r>
            </a:p>
          </p:txBody>
        </p:sp>
        <p:sp>
          <p:nvSpPr>
            <p:cNvPr id="16" name="Line 16"/>
            <p:cNvSpPr/>
            <p:nvPr/>
          </p:nvSpPr>
          <p:spPr>
            <a:xfrm>
              <a:off x="3124200" y="1390650"/>
              <a:ext cx="9525" cy="704850"/>
            </a:xfrm>
            <a:custGeom>
              <a:avLst/>
              <a:gdLst/>
              <a:ahLst/>
              <a:cxnLst/>
              <a:rect l="l" t="t" r="r" b="b"/>
              <a:pathLst>
                <a:path w="9525" h="704850">
                  <a:moveTo>
                    <a:pt x="0" y="0"/>
                  </a:moveTo>
                  <a:lnTo>
                    <a:pt x="0" y="704850"/>
                  </a:lnTo>
                </a:path>
              </a:pathLst>
            </a:custGeom>
            <a:noFill/>
            <a:ln w="9525">
              <a:solidFill>
                <a:srgbClr val="E08C7B"/>
              </a:solidFill>
            </a:ln>
          </p:spPr>
        </p:sp>
        <p:sp>
          <p:nvSpPr>
            <p:cNvPr id="17" name="TextBox 17"/>
            <p:cNvSpPr txBox="1"/>
            <p:nvPr/>
          </p:nvSpPr>
          <p:spPr>
            <a:xfrm>
              <a:off x="3370790" y="1471612"/>
              <a:ext cx="897469"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n-lt"/>
                  <a:ea typeface="+mn-ea"/>
                  <a:cs typeface="+mn-cs"/>
                </a:rPr>
                <a:t>241​​</a:t>
              </a:r>
            </a:p>
          </p:txBody>
        </p:sp>
        <p:sp>
          <p:nvSpPr>
            <p:cNvPr id="18" name="TextBox 18"/>
            <p:cNvSpPr txBox="1"/>
            <p:nvPr/>
          </p:nvSpPr>
          <p:spPr>
            <a:xfrm>
              <a:off x="3624948" y="1879997"/>
              <a:ext cx="389153" cy="183356"/>
            </a:xfrm>
            <a:prstGeom prst="rect">
              <a:avLst/>
            </a:prstGeom>
            <a:noFill/>
            <a:ln>
              <a:noFill/>
            </a:ln>
          </p:spPr>
          <p:txBody>
            <a:bodyPr wrap="none" lIns="0" tIns="0" rIns="0" bIns="0" anchor="t" anchorCtr="0">
              <a:spAutoFit/>
            </a:bodyPr>
            <a:lstStyle/>
            <a:p>
              <a:pPr algn="ctr"/>
              <a:r>
                <a:rPr lang="zh-CN" sz="940" dirty="0">
                  <a:solidFill>
                    <a:srgbClr val="D8DEF2"/>
                  </a:solidFill>
                  <a:latin typeface="+mn-lt"/>
                  <a:ea typeface="+mn-ea"/>
                  <a:cs typeface="+mn-cs"/>
                </a:rPr>
                <a:t>已完成</a:t>
              </a:r>
            </a:p>
          </p:txBody>
        </p:sp>
        <p:sp>
          <p:nvSpPr>
            <p:cNvPr id="19" name="Line 19"/>
            <p:cNvSpPr/>
            <p:nvPr/>
          </p:nvSpPr>
          <p:spPr>
            <a:xfrm>
              <a:off x="4514850" y="1390650"/>
              <a:ext cx="9525" cy="704850"/>
            </a:xfrm>
            <a:custGeom>
              <a:avLst/>
              <a:gdLst/>
              <a:ahLst/>
              <a:cxnLst/>
              <a:rect l="l" t="t" r="r" b="b"/>
              <a:pathLst>
                <a:path w="9525" h="704850">
                  <a:moveTo>
                    <a:pt x="0" y="0"/>
                  </a:moveTo>
                  <a:lnTo>
                    <a:pt x="0" y="704850"/>
                  </a:lnTo>
                </a:path>
              </a:pathLst>
            </a:custGeom>
            <a:noFill/>
            <a:ln w="9525">
              <a:solidFill>
                <a:srgbClr val="E08C7B"/>
              </a:solidFill>
            </a:ln>
          </p:spPr>
        </p:sp>
        <p:sp>
          <p:nvSpPr>
            <p:cNvPr id="20" name="TextBox 20"/>
            <p:cNvSpPr txBox="1"/>
            <p:nvPr/>
          </p:nvSpPr>
          <p:spPr>
            <a:xfrm>
              <a:off x="4848901" y="1471612"/>
              <a:ext cx="722547"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n-lt"/>
                  <a:ea typeface="+mn-ea"/>
                  <a:cs typeface="+mn-cs"/>
                </a:rPr>
                <a:t>51​​</a:t>
              </a:r>
            </a:p>
          </p:txBody>
        </p:sp>
        <p:sp>
          <p:nvSpPr>
            <p:cNvPr id="21" name="TextBox 21"/>
            <p:cNvSpPr txBox="1"/>
            <p:nvPr/>
          </p:nvSpPr>
          <p:spPr>
            <a:xfrm>
              <a:off x="5078870" y="1879997"/>
              <a:ext cx="262611" cy="183356"/>
            </a:xfrm>
            <a:prstGeom prst="rect">
              <a:avLst/>
            </a:prstGeom>
            <a:noFill/>
            <a:ln>
              <a:noFill/>
            </a:ln>
          </p:spPr>
          <p:txBody>
            <a:bodyPr wrap="none" lIns="0" tIns="0" rIns="0" bIns="0" anchor="t" anchorCtr="0">
              <a:spAutoFit/>
            </a:bodyPr>
            <a:lstStyle/>
            <a:p>
              <a:pPr algn="ctr"/>
              <a:r>
                <a:rPr lang="zh-CN" sz="940" dirty="0">
                  <a:solidFill>
                    <a:srgbClr val="D8DEF2"/>
                  </a:solidFill>
                  <a:latin typeface="+mn-lt"/>
                  <a:ea typeface="+mn-ea"/>
                  <a:cs typeface="+mn-cs"/>
                </a:rPr>
                <a:t>延期</a:t>
              </a:r>
            </a:p>
          </p:txBody>
        </p:sp>
      </p:grpSp>
      <p:grpSp>
        <p:nvGrpSpPr>
          <p:cNvPr id="25" name="chart-label"/>
          <p:cNvGrpSpPr/>
          <p:nvPr/>
        </p:nvGrpSpPr>
        <p:grpSpPr>
          <a:xfrm>
            <a:off x="342900" y="2552700"/>
            <a:ext cx="986790" cy="234887"/>
            <a:chOff x="342900" y="2552700"/>
            <a:chExt cx="986790" cy="234887"/>
          </a:xfrm>
        </p:grpSpPr>
        <p:sp>
          <p:nvSpPr>
            <p:cNvPr id="23" name="Rectangle 23"/>
            <p:cNvSpPr/>
            <p:nvPr/>
          </p:nvSpPr>
          <p:spPr>
            <a:xfrm>
              <a:off x="342900" y="2552700"/>
              <a:ext cx="47625" cy="171450"/>
            </a:xfrm>
            <a:prstGeom prst="rect">
              <a:avLst/>
            </a:prstGeom>
            <a:solidFill>
              <a:srgbClr val="C45F4A"/>
            </a:solidFill>
            <a:ln>
              <a:noFill/>
            </a:ln>
          </p:spPr>
        </p:sp>
        <p:sp>
          <p:nvSpPr>
            <p:cNvPr id="24" name="TextBox 24"/>
            <p:cNvSpPr txBox="1"/>
            <p:nvPr/>
          </p:nvSpPr>
          <p:spPr>
            <a:xfrm>
              <a:off x="470916" y="2582228"/>
              <a:ext cx="858774"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项目工时统计</a:t>
              </a:r>
            </a:p>
          </p:txBody>
        </p:sp>
      </p:grpSp>
      <p:grpSp>
        <p:nvGrpSpPr>
          <p:cNvPr id="80" name="worktime-chart"/>
          <p:cNvGrpSpPr/>
          <p:nvPr/>
        </p:nvGrpSpPr>
        <p:grpSpPr>
          <a:xfrm>
            <a:off x="322942" y="2838450"/>
            <a:ext cx="5552113" cy="3825716"/>
            <a:chOff x="322942" y="2838450"/>
            <a:chExt cx="5552113" cy="3825716"/>
          </a:xfrm>
        </p:grpSpPr>
        <p:sp>
          <p:nvSpPr>
            <p:cNvPr id="26" name="Rectangle 26"/>
            <p:cNvSpPr/>
            <p:nvPr/>
          </p:nvSpPr>
          <p:spPr>
            <a:xfrm>
              <a:off x="3619500" y="2838450"/>
              <a:ext cx="85725" cy="85725"/>
            </a:xfrm>
            <a:prstGeom prst="rect">
              <a:avLst/>
            </a:prstGeom>
            <a:solidFill>
              <a:srgbClr val="E0998A"/>
            </a:solidFill>
            <a:ln>
              <a:noFill/>
            </a:ln>
          </p:spPr>
        </p:sp>
        <p:sp>
          <p:nvSpPr>
            <p:cNvPr id="27" name="TextBox 27"/>
            <p:cNvSpPr txBox="1"/>
            <p:nvPr/>
          </p:nvSpPr>
          <p:spPr>
            <a:xfrm>
              <a:off x="3748088" y="2839164"/>
              <a:ext cx="222225" cy="154781"/>
            </a:xfrm>
            <a:prstGeom prst="rect">
              <a:avLst/>
            </a:prstGeom>
            <a:noFill/>
            <a:ln>
              <a:noFill/>
            </a:ln>
          </p:spPr>
          <p:txBody>
            <a:bodyPr wrap="none" lIns="0" tIns="0" rIns="0" bIns="0" anchor="t" anchorCtr="0">
              <a:spAutoFit/>
            </a:bodyPr>
            <a:lstStyle/>
            <a:p>
              <a:pPr algn="l"/>
              <a:r>
                <a:rPr lang="zh-CN" sz="790" dirty="0">
                  <a:solidFill>
                    <a:srgbClr val="88706B"/>
                  </a:solidFill>
                  <a:latin typeface="+mn-lt"/>
                  <a:ea typeface="+mn-ea"/>
                  <a:cs typeface="+mn-cs"/>
                </a:rPr>
                <a:t>计划</a:t>
              </a:r>
            </a:p>
          </p:txBody>
        </p:sp>
        <p:sp>
          <p:nvSpPr>
            <p:cNvPr id="28" name="Rectangle 28"/>
            <p:cNvSpPr/>
            <p:nvPr/>
          </p:nvSpPr>
          <p:spPr>
            <a:xfrm>
              <a:off x="4152900" y="2838450"/>
              <a:ext cx="85725" cy="85725"/>
            </a:xfrm>
            <a:prstGeom prst="rect">
              <a:avLst/>
            </a:prstGeom>
            <a:solidFill>
              <a:srgbClr val="C45F4A"/>
            </a:solidFill>
            <a:ln>
              <a:noFill/>
            </a:ln>
          </p:spPr>
        </p:sp>
        <p:sp>
          <p:nvSpPr>
            <p:cNvPr id="29" name="TextBox 29"/>
            <p:cNvSpPr txBox="1"/>
            <p:nvPr/>
          </p:nvSpPr>
          <p:spPr>
            <a:xfrm>
              <a:off x="4281488" y="2839164"/>
              <a:ext cx="328574" cy="154781"/>
            </a:xfrm>
            <a:prstGeom prst="rect">
              <a:avLst/>
            </a:prstGeom>
            <a:noFill/>
            <a:ln>
              <a:noFill/>
            </a:ln>
          </p:spPr>
          <p:txBody>
            <a:bodyPr wrap="none" lIns="0" tIns="0" rIns="0" bIns="0" anchor="t" anchorCtr="0">
              <a:spAutoFit/>
            </a:bodyPr>
            <a:lstStyle/>
            <a:p>
              <a:pPr algn="l"/>
              <a:r>
                <a:rPr lang="zh-CN" sz="790" dirty="0">
                  <a:solidFill>
                    <a:srgbClr val="88706B"/>
                  </a:solidFill>
                  <a:latin typeface="+mn-lt"/>
                  <a:ea typeface="+mn-ea"/>
                  <a:cs typeface="+mn-cs"/>
                </a:rPr>
                <a:t>已完成</a:t>
              </a:r>
            </a:p>
          </p:txBody>
        </p:sp>
        <p:sp>
          <p:nvSpPr>
            <p:cNvPr id="30" name="Rectangle 30"/>
            <p:cNvSpPr/>
            <p:nvPr/>
          </p:nvSpPr>
          <p:spPr>
            <a:xfrm>
              <a:off x="4781550" y="2838450"/>
              <a:ext cx="85725" cy="85725"/>
            </a:xfrm>
            <a:prstGeom prst="rect">
              <a:avLst/>
            </a:prstGeom>
            <a:solidFill>
              <a:srgbClr val="E8634C"/>
            </a:solidFill>
            <a:ln>
              <a:noFill/>
            </a:ln>
          </p:spPr>
        </p:sp>
        <p:sp>
          <p:nvSpPr>
            <p:cNvPr id="31" name="TextBox 31"/>
            <p:cNvSpPr txBox="1"/>
            <p:nvPr/>
          </p:nvSpPr>
          <p:spPr>
            <a:xfrm>
              <a:off x="4910138" y="2839164"/>
              <a:ext cx="222225" cy="154781"/>
            </a:xfrm>
            <a:prstGeom prst="rect">
              <a:avLst/>
            </a:prstGeom>
            <a:noFill/>
            <a:ln>
              <a:noFill/>
            </a:ln>
          </p:spPr>
          <p:txBody>
            <a:bodyPr wrap="none" lIns="0" tIns="0" rIns="0" bIns="0" anchor="t" anchorCtr="0">
              <a:spAutoFit/>
            </a:bodyPr>
            <a:lstStyle/>
            <a:p>
              <a:pPr algn="l"/>
              <a:r>
                <a:rPr lang="zh-CN" sz="790" dirty="0">
                  <a:solidFill>
                    <a:srgbClr val="88706B"/>
                  </a:solidFill>
                  <a:latin typeface="+mn-lt"/>
                  <a:ea typeface="+mn-ea"/>
                  <a:cs typeface="+mn-cs"/>
                </a:rPr>
                <a:t>实际</a:t>
              </a:r>
            </a:p>
          </p:txBody>
        </p:sp>
        <p:sp>
          <p:nvSpPr>
            <p:cNvPr id="32" name="Line 32"/>
            <p:cNvSpPr/>
            <p:nvPr/>
          </p:nvSpPr>
          <p:spPr>
            <a:xfrm>
              <a:off x="666750" y="3028950"/>
              <a:ext cx="5181600" cy="9525"/>
            </a:xfrm>
            <a:custGeom>
              <a:avLst/>
              <a:gdLst/>
              <a:ahLst/>
              <a:cxnLst/>
              <a:rect l="l" t="t" r="r" b="b"/>
              <a:pathLst>
                <a:path w="5181600" h="9525">
                  <a:moveTo>
                    <a:pt x="0" y="0"/>
                  </a:moveTo>
                  <a:lnTo>
                    <a:pt x="5181600" y="0"/>
                  </a:lnTo>
                </a:path>
              </a:pathLst>
            </a:custGeom>
            <a:noFill/>
            <a:ln w="9525">
              <a:solidFill>
                <a:srgbClr val="EDEFF9"/>
              </a:solidFill>
            </a:ln>
          </p:spPr>
        </p:sp>
        <p:sp>
          <p:nvSpPr>
            <p:cNvPr id="33" name="Line 33"/>
            <p:cNvSpPr/>
            <p:nvPr/>
          </p:nvSpPr>
          <p:spPr>
            <a:xfrm>
              <a:off x="666750" y="3400425"/>
              <a:ext cx="5181600" cy="9525"/>
            </a:xfrm>
            <a:custGeom>
              <a:avLst/>
              <a:gdLst/>
              <a:ahLst/>
              <a:cxnLst/>
              <a:rect l="l" t="t" r="r" b="b"/>
              <a:pathLst>
                <a:path w="5181600" h="9525">
                  <a:moveTo>
                    <a:pt x="0" y="0"/>
                  </a:moveTo>
                  <a:lnTo>
                    <a:pt x="5181600" y="0"/>
                  </a:lnTo>
                </a:path>
              </a:pathLst>
            </a:custGeom>
            <a:noFill/>
            <a:ln w="9525">
              <a:solidFill>
                <a:srgbClr val="EDEFF9"/>
              </a:solidFill>
            </a:ln>
          </p:spPr>
        </p:sp>
        <p:sp>
          <p:nvSpPr>
            <p:cNvPr id="34" name="Line 34"/>
            <p:cNvSpPr/>
            <p:nvPr/>
          </p:nvSpPr>
          <p:spPr>
            <a:xfrm>
              <a:off x="666750" y="3781425"/>
              <a:ext cx="5181600" cy="9525"/>
            </a:xfrm>
            <a:custGeom>
              <a:avLst/>
              <a:gdLst/>
              <a:ahLst/>
              <a:cxnLst/>
              <a:rect l="l" t="t" r="r" b="b"/>
              <a:pathLst>
                <a:path w="5181600" h="9525">
                  <a:moveTo>
                    <a:pt x="0" y="0"/>
                  </a:moveTo>
                  <a:lnTo>
                    <a:pt x="5181600" y="0"/>
                  </a:lnTo>
                </a:path>
              </a:pathLst>
            </a:custGeom>
            <a:noFill/>
            <a:ln w="9525">
              <a:solidFill>
                <a:srgbClr val="EDEFF9"/>
              </a:solidFill>
            </a:ln>
          </p:spPr>
        </p:sp>
        <p:sp>
          <p:nvSpPr>
            <p:cNvPr id="35" name="Line 35"/>
            <p:cNvSpPr/>
            <p:nvPr/>
          </p:nvSpPr>
          <p:spPr>
            <a:xfrm>
              <a:off x="666750" y="4152900"/>
              <a:ext cx="5181600" cy="9525"/>
            </a:xfrm>
            <a:custGeom>
              <a:avLst/>
              <a:gdLst/>
              <a:ahLst/>
              <a:cxnLst/>
              <a:rect l="l" t="t" r="r" b="b"/>
              <a:pathLst>
                <a:path w="5181600" h="9525">
                  <a:moveTo>
                    <a:pt x="0" y="0"/>
                  </a:moveTo>
                  <a:lnTo>
                    <a:pt x="5181600" y="0"/>
                  </a:lnTo>
                </a:path>
              </a:pathLst>
            </a:custGeom>
            <a:noFill/>
            <a:ln w="9525">
              <a:solidFill>
                <a:srgbClr val="EDEFF9"/>
              </a:solidFill>
            </a:ln>
          </p:spPr>
        </p:sp>
        <p:sp>
          <p:nvSpPr>
            <p:cNvPr id="36" name="Line 36"/>
            <p:cNvSpPr/>
            <p:nvPr/>
          </p:nvSpPr>
          <p:spPr>
            <a:xfrm>
              <a:off x="666750" y="4524375"/>
              <a:ext cx="5181600" cy="9525"/>
            </a:xfrm>
            <a:custGeom>
              <a:avLst/>
              <a:gdLst/>
              <a:ahLst/>
              <a:cxnLst/>
              <a:rect l="l" t="t" r="r" b="b"/>
              <a:pathLst>
                <a:path w="5181600" h="9525">
                  <a:moveTo>
                    <a:pt x="0" y="0"/>
                  </a:moveTo>
                  <a:lnTo>
                    <a:pt x="5181600" y="0"/>
                  </a:lnTo>
                </a:path>
              </a:pathLst>
            </a:custGeom>
            <a:noFill/>
            <a:ln w="9525">
              <a:solidFill>
                <a:srgbClr val="EDEFF9"/>
              </a:solidFill>
            </a:ln>
          </p:spPr>
        </p:sp>
        <p:sp>
          <p:nvSpPr>
            <p:cNvPr id="37" name="Line 37"/>
            <p:cNvSpPr/>
            <p:nvPr/>
          </p:nvSpPr>
          <p:spPr>
            <a:xfrm>
              <a:off x="666750" y="4905375"/>
              <a:ext cx="5181600" cy="9525"/>
            </a:xfrm>
            <a:custGeom>
              <a:avLst/>
              <a:gdLst/>
              <a:ahLst/>
              <a:cxnLst/>
              <a:rect l="l" t="t" r="r" b="b"/>
              <a:pathLst>
                <a:path w="5181600" h="9525">
                  <a:moveTo>
                    <a:pt x="0" y="0"/>
                  </a:moveTo>
                  <a:lnTo>
                    <a:pt x="5181600" y="0"/>
                  </a:lnTo>
                </a:path>
              </a:pathLst>
            </a:custGeom>
            <a:noFill/>
            <a:ln w="9525">
              <a:solidFill>
                <a:srgbClr val="EDEFF9"/>
              </a:solidFill>
            </a:ln>
          </p:spPr>
        </p:sp>
        <p:sp>
          <p:nvSpPr>
            <p:cNvPr id="38" name="Line 38"/>
            <p:cNvSpPr/>
            <p:nvPr/>
          </p:nvSpPr>
          <p:spPr>
            <a:xfrm>
              <a:off x="666750" y="5276850"/>
              <a:ext cx="5181600" cy="9525"/>
            </a:xfrm>
            <a:custGeom>
              <a:avLst/>
              <a:gdLst/>
              <a:ahLst/>
              <a:cxnLst/>
              <a:rect l="l" t="t" r="r" b="b"/>
              <a:pathLst>
                <a:path w="5181600" h="9525">
                  <a:moveTo>
                    <a:pt x="0" y="0"/>
                  </a:moveTo>
                  <a:lnTo>
                    <a:pt x="5181600" y="0"/>
                  </a:lnTo>
                </a:path>
              </a:pathLst>
            </a:custGeom>
            <a:noFill/>
            <a:ln w="9525">
              <a:solidFill>
                <a:srgbClr val="EDEFF9"/>
              </a:solidFill>
            </a:ln>
          </p:spPr>
        </p:sp>
        <p:sp>
          <p:nvSpPr>
            <p:cNvPr id="39" name="Line 39"/>
            <p:cNvSpPr/>
            <p:nvPr/>
          </p:nvSpPr>
          <p:spPr>
            <a:xfrm>
              <a:off x="666750" y="5648325"/>
              <a:ext cx="5181600" cy="9525"/>
            </a:xfrm>
            <a:custGeom>
              <a:avLst/>
              <a:gdLst/>
              <a:ahLst/>
              <a:cxnLst/>
              <a:rect l="l" t="t" r="r" b="b"/>
              <a:pathLst>
                <a:path w="5181600" h="9525">
                  <a:moveTo>
                    <a:pt x="0" y="0"/>
                  </a:moveTo>
                  <a:lnTo>
                    <a:pt x="5181600" y="0"/>
                  </a:lnTo>
                </a:path>
              </a:pathLst>
            </a:custGeom>
            <a:noFill/>
            <a:ln w="9525">
              <a:solidFill>
                <a:srgbClr val="EDEFF9"/>
              </a:solidFill>
            </a:ln>
          </p:spPr>
        </p:sp>
        <p:sp>
          <p:nvSpPr>
            <p:cNvPr id="40" name="Line 40"/>
            <p:cNvSpPr/>
            <p:nvPr/>
          </p:nvSpPr>
          <p:spPr>
            <a:xfrm>
              <a:off x="666750" y="6029325"/>
              <a:ext cx="5181600" cy="9525"/>
            </a:xfrm>
            <a:custGeom>
              <a:avLst/>
              <a:gdLst/>
              <a:ahLst/>
              <a:cxnLst/>
              <a:rect l="l" t="t" r="r" b="b"/>
              <a:pathLst>
                <a:path w="5181600" h="9525">
                  <a:moveTo>
                    <a:pt x="0" y="0"/>
                  </a:moveTo>
                  <a:lnTo>
                    <a:pt x="5181600" y="0"/>
                  </a:lnTo>
                </a:path>
              </a:pathLst>
            </a:custGeom>
            <a:noFill/>
            <a:ln w="9525">
              <a:solidFill>
                <a:srgbClr val="EDEFF9"/>
              </a:solidFill>
            </a:ln>
          </p:spPr>
        </p:sp>
        <p:sp>
          <p:nvSpPr>
            <p:cNvPr id="41" name="Line 41"/>
            <p:cNvSpPr/>
            <p:nvPr/>
          </p:nvSpPr>
          <p:spPr>
            <a:xfrm>
              <a:off x="666750" y="6362700"/>
              <a:ext cx="5181600" cy="9525"/>
            </a:xfrm>
            <a:custGeom>
              <a:avLst/>
              <a:gdLst/>
              <a:ahLst/>
              <a:cxnLst/>
              <a:rect l="l" t="t" r="r" b="b"/>
              <a:pathLst>
                <a:path w="5181600" h="9525">
                  <a:moveTo>
                    <a:pt x="0" y="0"/>
                  </a:moveTo>
                  <a:lnTo>
                    <a:pt x="5181600" y="0"/>
                  </a:lnTo>
                </a:path>
              </a:pathLst>
            </a:custGeom>
            <a:noFill/>
            <a:ln w="11430">
              <a:solidFill>
                <a:srgbClr val="D8DEF2"/>
              </a:solidFill>
            </a:ln>
          </p:spPr>
        </p:sp>
        <p:sp>
          <p:nvSpPr>
            <p:cNvPr id="42" name="TextBox 42"/>
            <p:cNvSpPr txBox="1"/>
            <p:nvPr/>
          </p:nvSpPr>
          <p:spPr>
            <a:xfrm>
              <a:off x="322942" y="2990136"/>
              <a:ext cx="272371"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900​​</a:t>
              </a:r>
            </a:p>
          </p:txBody>
        </p:sp>
        <p:sp>
          <p:nvSpPr>
            <p:cNvPr id="43" name="TextBox 43"/>
            <p:cNvSpPr txBox="1"/>
            <p:nvPr/>
          </p:nvSpPr>
          <p:spPr>
            <a:xfrm>
              <a:off x="322942" y="3361611"/>
              <a:ext cx="272371"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800​​</a:t>
              </a:r>
            </a:p>
          </p:txBody>
        </p:sp>
        <p:sp>
          <p:nvSpPr>
            <p:cNvPr id="44" name="TextBox 44"/>
            <p:cNvSpPr txBox="1"/>
            <p:nvPr/>
          </p:nvSpPr>
          <p:spPr>
            <a:xfrm>
              <a:off x="322942" y="3742611"/>
              <a:ext cx="272371"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700​​</a:t>
              </a:r>
            </a:p>
          </p:txBody>
        </p:sp>
        <p:sp>
          <p:nvSpPr>
            <p:cNvPr id="45" name="TextBox 45"/>
            <p:cNvSpPr txBox="1"/>
            <p:nvPr/>
          </p:nvSpPr>
          <p:spPr>
            <a:xfrm>
              <a:off x="322942" y="4114086"/>
              <a:ext cx="272371"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600​​</a:t>
              </a:r>
            </a:p>
          </p:txBody>
        </p:sp>
        <p:sp>
          <p:nvSpPr>
            <p:cNvPr id="46" name="TextBox 46"/>
            <p:cNvSpPr txBox="1"/>
            <p:nvPr/>
          </p:nvSpPr>
          <p:spPr>
            <a:xfrm>
              <a:off x="322942" y="4485561"/>
              <a:ext cx="272371"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500​​</a:t>
              </a:r>
            </a:p>
          </p:txBody>
        </p:sp>
        <p:sp>
          <p:nvSpPr>
            <p:cNvPr id="47" name="TextBox 47"/>
            <p:cNvSpPr txBox="1"/>
            <p:nvPr/>
          </p:nvSpPr>
          <p:spPr>
            <a:xfrm>
              <a:off x="322942" y="4866561"/>
              <a:ext cx="272371"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400​​</a:t>
              </a:r>
            </a:p>
          </p:txBody>
        </p:sp>
        <p:sp>
          <p:nvSpPr>
            <p:cNvPr id="48" name="TextBox 48"/>
            <p:cNvSpPr txBox="1"/>
            <p:nvPr/>
          </p:nvSpPr>
          <p:spPr>
            <a:xfrm>
              <a:off x="322942" y="5238036"/>
              <a:ext cx="272371"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300​​</a:t>
              </a:r>
            </a:p>
          </p:txBody>
        </p:sp>
        <p:sp>
          <p:nvSpPr>
            <p:cNvPr id="49" name="TextBox 49"/>
            <p:cNvSpPr txBox="1"/>
            <p:nvPr/>
          </p:nvSpPr>
          <p:spPr>
            <a:xfrm>
              <a:off x="322942" y="5609511"/>
              <a:ext cx="272371"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200​​</a:t>
              </a:r>
            </a:p>
          </p:txBody>
        </p:sp>
        <p:sp>
          <p:nvSpPr>
            <p:cNvPr id="50" name="TextBox 50"/>
            <p:cNvSpPr txBox="1"/>
            <p:nvPr/>
          </p:nvSpPr>
          <p:spPr>
            <a:xfrm>
              <a:off x="322942" y="5990511"/>
              <a:ext cx="272371"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100​​</a:t>
              </a:r>
            </a:p>
          </p:txBody>
        </p:sp>
        <p:sp>
          <p:nvSpPr>
            <p:cNvPr id="51" name="TextBox 51"/>
            <p:cNvSpPr txBox="1"/>
            <p:nvPr/>
          </p:nvSpPr>
          <p:spPr>
            <a:xfrm>
              <a:off x="428080" y="6323886"/>
              <a:ext cx="167232" cy="140494"/>
            </a:xfrm>
            <a:prstGeom prst="rect">
              <a:avLst/>
            </a:prstGeom>
            <a:noFill/>
            <a:ln>
              <a:noFill/>
            </a:ln>
          </p:spPr>
          <p:txBody>
            <a:bodyPr wrap="none" lIns="0" tIns="0" rIns="0" bIns="0" anchor="t" anchorCtr="0">
              <a:spAutoFit/>
            </a:bodyPr>
            <a:lstStyle/>
            <a:p>
              <a:pPr algn="r"/>
              <a:r>
                <a:rPr lang="zh-CN" sz="710" dirty="0">
                  <a:solidFill>
                    <a:srgbClr val="9AA1B8"/>
                  </a:solidFill>
                  <a:latin typeface="+mn-lt"/>
                  <a:ea typeface="+mn-ea"/>
                  <a:cs typeface="+mn-cs"/>
                </a:rPr>
                <a:t>0​​</a:t>
              </a:r>
            </a:p>
          </p:txBody>
        </p:sp>
        <p:sp>
          <p:nvSpPr>
            <p:cNvPr id="52" name="Rectangle 52"/>
            <p:cNvSpPr/>
            <p:nvPr/>
          </p:nvSpPr>
          <p:spPr>
            <a:xfrm>
              <a:off x="1076325" y="4143375"/>
              <a:ext cx="228600" cy="2219325"/>
            </a:xfrm>
            <a:prstGeom prst="rect">
              <a:avLst/>
            </a:prstGeom>
            <a:solidFill>
              <a:srgbClr val="E0998A"/>
            </a:solidFill>
            <a:ln>
              <a:noFill/>
            </a:ln>
          </p:spPr>
        </p:sp>
        <p:sp>
          <p:nvSpPr>
            <p:cNvPr id="53" name="Rectangle 53"/>
            <p:cNvSpPr/>
            <p:nvPr/>
          </p:nvSpPr>
          <p:spPr>
            <a:xfrm>
              <a:off x="1343025" y="4248150"/>
              <a:ext cx="228600" cy="2114550"/>
            </a:xfrm>
            <a:prstGeom prst="rect">
              <a:avLst/>
            </a:prstGeom>
            <a:solidFill>
              <a:srgbClr val="C45F4A"/>
            </a:solidFill>
            <a:ln>
              <a:noFill/>
            </a:ln>
          </p:spPr>
        </p:sp>
        <p:sp>
          <p:nvSpPr>
            <p:cNvPr id="54" name="Rectangle 54"/>
            <p:cNvSpPr/>
            <p:nvPr/>
          </p:nvSpPr>
          <p:spPr>
            <a:xfrm>
              <a:off x="1609725" y="4438650"/>
              <a:ext cx="228600" cy="1924050"/>
            </a:xfrm>
            <a:prstGeom prst="rect">
              <a:avLst/>
            </a:prstGeom>
            <a:solidFill>
              <a:srgbClr val="E8634C"/>
            </a:solidFill>
            <a:ln>
              <a:noFill/>
            </a:ln>
          </p:spPr>
        </p:sp>
        <p:sp>
          <p:nvSpPr>
            <p:cNvPr id="55" name="TextBox 55"/>
            <p:cNvSpPr txBox="1"/>
            <p:nvPr/>
          </p:nvSpPr>
          <p:spPr>
            <a:xfrm>
              <a:off x="1040094" y="3995738"/>
              <a:ext cx="301061" cy="147638"/>
            </a:xfrm>
            <a:prstGeom prst="rect">
              <a:avLst/>
            </a:prstGeom>
            <a:noFill/>
            <a:ln>
              <a:noFill/>
            </a:ln>
          </p:spPr>
          <p:txBody>
            <a:bodyPr wrap="none" lIns="0" tIns="0" rIns="0" bIns="0" anchor="t" anchorCtr="0">
              <a:spAutoFit/>
            </a:bodyPr>
            <a:lstStyle/>
            <a:p>
              <a:pPr algn="ctr"/>
              <a:r>
                <a:rPr lang="zh-CN" sz="750" b="1" dirty="0">
                  <a:solidFill>
                    <a:srgbClr val="C45F4A"/>
                  </a:solidFill>
                  <a:latin typeface="+mn-lt"/>
                  <a:ea typeface="+mn-ea"/>
                  <a:cs typeface="+mn-cs"/>
                </a:rPr>
                <a:t>600​​</a:t>
              </a:r>
            </a:p>
          </p:txBody>
        </p:sp>
        <p:sp>
          <p:nvSpPr>
            <p:cNvPr id="56" name="TextBox 56"/>
            <p:cNvSpPr txBox="1"/>
            <p:nvPr/>
          </p:nvSpPr>
          <p:spPr>
            <a:xfrm>
              <a:off x="1306794" y="4100512"/>
              <a:ext cx="301061" cy="147638"/>
            </a:xfrm>
            <a:prstGeom prst="rect">
              <a:avLst/>
            </a:prstGeom>
            <a:noFill/>
            <a:ln>
              <a:noFill/>
            </a:ln>
          </p:spPr>
          <p:txBody>
            <a:bodyPr wrap="none" lIns="0" tIns="0" rIns="0" bIns="0" anchor="t" anchorCtr="0">
              <a:spAutoFit/>
            </a:bodyPr>
            <a:lstStyle/>
            <a:p>
              <a:pPr algn="ctr"/>
              <a:r>
                <a:rPr lang="zh-CN" sz="750" b="1" dirty="0">
                  <a:solidFill>
                    <a:srgbClr val="C45F4A"/>
                  </a:solidFill>
                  <a:latin typeface="+mn-lt"/>
                  <a:ea typeface="+mn-ea"/>
                  <a:cs typeface="+mn-cs"/>
                </a:rPr>
                <a:t>570​​</a:t>
              </a:r>
            </a:p>
          </p:txBody>
        </p:sp>
        <p:sp>
          <p:nvSpPr>
            <p:cNvPr id="57" name="TextBox 57"/>
            <p:cNvSpPr txBox="1"/>
            <p:nvPr/>
          </p:nvSpPr>
          <p:spPr>
            <a:xfrm>
              <a:off x="1573494" y="4291012"/>
              <a:ext cx="301061" cy="147638"/>
            </a:xfrm>
            <a:prstGeom prst="rect">
              <a:avLst/>
            </a:prstGeom>
            <a:noFill/>
            <a:ln>
              <a:noFill/>
            </a:ln>
          </p:spPr>
          <p:txBody>
            <a:bodyPr wrap="none" lIns="0" tIns="0" rIns="0" bIns="0" anchor="t" anchorCtr="0">
              <a:spAutoFit/>
            </a:bodyPr>
            <a:lstStyle/>
            <a:p>
              <a:pPr algn="ctr"/>
              <a:r>
                <a:rPr lang="zh-CN" sz="750" b="1" dirty="0">
                  <a:solidFill>
                    <a:srgbClr val="E8634C"/>
                  </a:solidFill>
                  <a:latin typeface="+mn-lt"/>
                  <a:ea typeface="+mn-ea"/>
                  <a:cs typeface="+mn-cs"/>
                </a:rPr>
                <a:t>520​​</a:t>
              </a:r>
            </a:p>
          </p:txBody>
        </p:sp>
        <p:sp>
          <p:nvSpPr>
            <p:cNvPr id="58" name="Rectangle 58"/>
            <p:cNvSpPr/>
            <p:nvPr/>
          </p:nvSpPr>
          <p:spPr>
            <a:xfrm>
              <a:off x="2409825" y="4505325"/>
              <a:ext cx="228600" cy="1857375"/>
            </a:xfrm>
            <a:prstGeom prst="rect">
              <a:avLst/>
            </a:prstGeom>
            <a:solidFill>
              <a:srgbClr val="E0998A"/>
            </a:solidFill>
            <a:ln>
              <a:noFill/>
            </a:ln>
          </p:spPr>
        </p:sp>
        <p:sp>
          <p:nvSpPr>
            <p:cNvPr id="59" name="Rectangle 59"/>
            <p:cNvSpPr/>
            <p:nvPr/>
          </p:nvSpPr>
          <p:spPr>
            <a:xfrm>
              <a:off x="2676525" y="3771900"/>
              <a:ext cx="228600" cy="2590800"/>
            </a:xfrm>
            <a:prstGeom prst="rect">
              <a:avLst/>
            </a:prstGeom>
            <a:solidFill>
              <a:srgbClr val="C45F4A"/>
            </a:solidFill>
            <a:ln>
              <a:noFill/>
            </a:ln>
          </p:spPr>
        </p:sp>
        <p:sp>
          <p:nvSpPr>
            <p:cNvPr id="60" name="Rectangle 60"/>
            <p:cNvSpPr/>
            <p:nvPr/>
          </p:nvSpPr>
          <p:spPr>
            <a:xfrm>
              <a:off x="2943225" y="3400425"/>
              <a:ext cx="228600" cy="2962275"/>
            </a:xfrm>
            <a:prstGeom prst="rect">
              <a:avLst/>
            </a:prstGeom>
            <a:solidFill>
              <a:srgbClr val="E8634C"/>
            </a:solidFill>
            <a:ln>
              <a:noFill/>
            </a:ln>
          </p:spPr>
        </p:sp>
        <p:sp>
          <p:nvSpPr>
            <p:cNvPr id="61" name="TextBox 61"/>
            <p:cNvSpPr txBox="1"/>
            <p:nvPr/>
          </p:nvSpPr>
          <p:spPr>
            <a:xfrm>
              <a:off x="2373594" y="4357688"/>
              <a:ext cx="301061" cy="147638"/>
            </a:xfrm>
            <a:prstGeom prst="rect">
              <a:avLst/>
            </a:prstGeom>
            <a:noFill/>
            <a:ln>
              <a:noFill/>
            </a:ln>
          </p:spPr>
          <p:txBody>
            <a:bodyPr wrap="none" lIns="0" tIns="0" rIns="0" bIns="0" anchor="t" anchorCtr="0">
              <a:spAutoFit/>
            </a:bodyPr>
            <a:lstStyle/>
            <a:p>
              <a:pPr algn="ctr"/>
              <a:r>
                <a:rPr lang="zh-CN" sz="750" b="1" dirty="0">
                  <a:solidFill>
                    <a:srgbClr val="C45F4A"/>
                  </a:solidFill>
                  <a:latin typeface="+mn-lt"/>
                  <a:ea typeface="+mn-ea"/>
                  <a:cs typeface="+mn-cs"/>
                </a:rPr>
                <a:t>500​​</a:t>
              </a:r>
            </a:p>
          </p:txBody>
        </p:sp>
        <p:sp>
          <p:nvSpPr>
            <p:cNvPr id="62" name="TextBox 62"/>
            <p:cNvSpPr txBox="1"/>
            <p:nvPr/>
          </p:nvSpPr>
          <p:spPr>
            <a:xfrm>
              <a:off x="2640294" y="3624262"/>
              <a:ext cx="301061" cy="147638"/>
            </a:xfrm>
            <a:prstGeom prst="rect">
              <a:avLst/>
            </a:prstGeom>
            <a:noFill/>
            <a:ln>
              <a:noFill/>
            </a:ln>
          </p:spPr>
          <p:txBody>
            <a:bodyPr wrap="none" lIns="0" tIns="0" rIns="0" bIns="0" anchor="t" anchorCtr="0">
              <a:spAutoFit/>
            </a:bodyPr>
            <a:lstStyle/>
            <a:p>
              <a:pPr algn="ctr"/>
              <a:r>
                <a:rPr lang="zh-CN" sz="750" b="1" dirty="0">
                  <a:solidFill>
                    <a:srgbClr val="C45F4A"/>
                  </a:solidFill>
                  <a:latin typeface="+mn-lt"/>
                  <a:ea typeface="+mn-ea"/>
                  <a:cs typeface="+mn-cs"/>
                </a:rPr>
                <a:t>700​​</a:t>
              </a:r>
            </a:p>
          </p:txBody>
        </p:sp>
        <p:sp>
          <p:nvSpPr>
            <p:cNvPr id="63" name="TextBox 63"/>
            <p:cNvSpPr txBox="1"/>
            <p:nvPr/>
          </p:nvSpPr>
          <p:spPr>
            <a:xfrm>
              <a:off x="2906994" y="3252788"/>
              <a:ext cx="301061" cy="147638"/>
            </a:xfrm>
            <a:prstGeom prst="rect">
              <a:avLst/>
            </a:prstGeom>
            <a:noFill/>
            <a:ln>
              <a:noFill/>
            </a:ln>
          </p:spPr>
          <p:txBody>
            <a:bodyPr wrap="none" lIns="0" tIns="0" rIns="0" bIns="0" anchor="t" anchorCtr="0">
              <a:spAutoFit/>
            </a:bodyPr>
            <a:lstStyle/>
            <a:p>
              <a:pPr algn="ctr"/>
              <a:r>
                <a:rPr lang="zh-CN" sz="750" b="1" dirty="0">
                  <a:solidFill>
                    <a:srgbClr val="E8634C"/>
                  </a:solidFill>
                  <a:latin typeface="+mn-lt"/>
                  <a:ea typeface="+mn-ea"/>
                  <a:cs typeface="+mn-cs"/>
                </a:rPr>
                <a:t>800​​</a:t>
              </a:r>
            </a:p>
          </p:txBody>
        </p:sp>
        <p:sp>
          <p:nvSpPr>
            <p:cNvPr id="64" name="Rectangle 64"/>
            <p:cNvSpPr/>
            <p:nvPr/>
          </p:nvSpPr>
          <p:spPr>
            <a:xfrm>
              <a:off x="3743325" y="4876800"/>
              <a:ext cx="228600" cy="1485900"/>
            </a:xfrm>
            <a:prstGeom prst="rect">
              <a:avLst/>
            </a:prstGeom>
            <a:solidFill>
              <a:srgbClr val="E0998A"/>
            </a:solidFill>
            <a:ln>
              <a:noFill/>
            </a:ln>
          </p:spPr>
        </p:sp>
        <p:sp>
          <p:nvSpPr>
            <p:cNvPr id="65" name="Rectangle 65"/>
            <p:cNvSpPr/>
            <p:nvPr/>
          </p:nvSpPr>
          <p:spPr>
            <a:xfrm>
              <a:off x="4010025" y="4648200"/>
              <a:ext cx="228600" cy="1714500"/>
            </a:xfrm>
            <a:prstGeom prst="rect">
              <a:avLst/>
            </a:prstGeom>
            <a:solidFill>
              <a:srgbClr val="C45F4A"/>
            </a:solidFill>
            <a:ln>
              <a:noFill/>
            </a:ln>
          </p:spPr>
        </p:sp>
        <p:sp>
          <p:nvSpPr>
            <p:cNvPr id="66" name="Rectangle 66"/>
            <p:cNvSpPr/>
            <p:nvPr/>
          </p:nvSpPr>
          <p:spPr>
            <a:xfrm>
              <a:off x="4276725" y="4810125"/>
              <a:ext cx="228600" cy="1552575"/>
            </a:xfrm>
            <a:prstGeom prst="rect">
              <a:avLst/>
            </a:prstGeom>
            <a:solidFill>
              <a:srgbClr val="E8634C"/>
            </a:solidFill>
            <a:ln>
              <a:noFill/>
            </a:ln>
          </p:spPr>
        </p:sp>
        <p:sp>
          <p:nvSpPr>
            <p:cNvPr id="67" name="TextBox 67"/>
            <p:cNvSpPr txBox="1"/>
            <p:nvPr/>
          </p:nvSpPr>
          <p:spPr>
            <a:xfrm>
              <a:off x="3707094" y="4729162"/>
              <a:ext cx="301061" cy="147638"/>
            </a:xfrm>
            <a:prstGeom prst="rect">
              <a:avLst/>
            </a:prstGeom>
            <a:noFill/>
            <a:ln>
              <a:noFill/>
            </a:ln>
          </p:spPr>
          <p:txBody>
            <a:bodyPr wrap="none" lIns="0" tIns="0" rIns="0" bIns="0" anchor="t" anchorCtr="0">
              <a:spAutoFit/>
            </a:bodyPr>
            <a:lstStyle/>
            <a:p>
              <a:pPr algn="ctr"/>
              <a:r>
                <a:rPr lang="zh-CN" sz="750" b="1" dirty="0">
                  <a:solidFill>
                    <a:srgbClr val="C45F4A"/>
                  </a:solidFill>
                  <a:latin typeface="+mn-lt"/>
                  <a:ea typeface="+mn-ea"/>
                  <a:cs typeface="+mn-cs"/>
                </a:rPr>
                <a:t>400​​</a:t>
              </a:r>
            </a:p>
          </p:txBody>
        </p:sp>
        <p:sp>
          <p:nvSpPr>
            <p:cNvPr id="68" name="TextBox 68"/>
            <p:cNvSpPr txBox="1"/>
            <p:nvPr/>
          </p:nvSpPr>
          <p:spPr>
            <a:xfrm>
              <a:off x="3973794" y="4500562"/>
              <a:ext cx="301061" cy="147638"/>
            </a:xfrm>
            <a:prstGeom prst="rect">
              <a:avLst/>
            </a:prstGeom>
            <a:noFill/>
            <a:ln>
              <a:noFill/>
            </a:ln>
          </p:spPr>
          <p:txBody>
            <a:bodyPr wrap="none" lIns="0" tIns="0" rIns="0" bIns="0" anchor="t" anchorCtr="0">
              <a:spAutoFit/>
            </a:bodyPr>
            <a:lstStyle/>
            <a:p>
              <a:pPr algn="ctr"/>
              <a:r>
                <a:rPr lang="zh-CN" sz="750" b="1" dirty="0">
                  <a:solidFill>
                    <a:srgbClr val="C45F4A"/>
                  </a:solidFill>
                  <a:latin typeface="+mn-lt"/>
                  <a:ea typeface="+mn-ea"/>
                  <a:cs typeface="+mn-cs"/>
                </a:rPr>
                <a:t>462​​</a:t>
              </a:r>
            </a:p>
          </p:txBody>
        </p:sp>
        <p:sp>
          <p:nvSpPr>
            <p:cNvPr id="69" name="TextBox 69"/>
            <p:cNvSpPr txBox="1"/>
            <p:nvPr/>
          </p:nvSpPr>
          <p:spPr>
            <a:xfrm>
              <a:off x="4240494" y="4662488"/>
              <a:ext cx="301061" cy="147638"/>
            </a:xfrm>
            <a:prstGeom prst="rect">
              <a:avLst/>
            </a:prstGeom>
            <a:noFill/>
            <a:ln>
              <a:noFill/>
            </a:ln>
          </p:spPr>
          <p:txBody>
            <a:bodyPr wrap="none" lIns="0" tIns="0" rIns="0" bIns="0" anchor="t" anchorCtr="0">
              <a:spAutoFit/>
            </a:bodyPr>
            <a:lstStyle/>
            <a:p>
              <a:pPr algn="ctr"/>
              <a:r>
                <a:rPr lang="zh-CN" sz="750" b="1" dirty="0">
                  <a:solidFill>
                    <a:srgbClr val="E8634C"/>
                  </a:solidFill>
                  <a:latin typeface="+mn-lt"/>
                  <a:ea typeface="+mn-ea"/>
                  <a:cs typeface="+mn-cs"/>
                </a:rPr>
                <a:t>420​​</a:t>
              </a:r>
            </a:p>
          </p:txBody>
        </p:sp>
        <p:sp>
          <p:nvSpPr>
            <p:cNvPr id="70" name="Rectangle 70"/>
            <p:cNvSpPr/>
            <p:nvPr/>
          </p:nvSpPr>
          <p:spPr>
            <a:xfrm>
              <a:off x="5076825" y="4429125"/>
              <a:ext cx="228600" cy="1933575"/>
            </a:xfrm>
            <a:prstGeom prst="rect">
              <a:avLst/>
            </a:prstGeom>
            <a:solidFill>
              <a:srgbClr val="E0998A"/>
            </a:solidFill>
            <a:ln>
              <a:noFill/>
            </a:ln>
          </p:spPr>
        </p:sp>
        <p:sp>
          <p:nvSpPr>
            <p:cNvPr id="71" name="Rectangle 71"/>
            <p:cNvSpPr/>
            <p:nvPr/>
          </p:nvSpPr>
          <p:spPr>
            <a:xfrm>
              <a:off x="5343525" y="3971925"/>
              <a:ext cx="228600" cy="2390775"/>
            </a:xfrm>
            <a:prstGeom prst="rect">
              <a:avLst/>
            </a:prstGeom>
            <a:solidFill>
              <a:srgbClr val="C45F4A"/>
            </a:solidFill>
            <a:ln>
              <a:noFill/>
            </a:ln>
          </p:spPr>
        </p:sp>
        <p:sp>
          <p:nvSpPr>
            <p:cNvPr id="72" name="Rectangle 72"/>
            <p:cNvSpPr/>
            <p:nvPr/>
          </p:nvSpPr>
          <p:spPr>
            <a:xfrm>
              <a:off x="5610225" y="4067175"/>
              <a:ext cx="228600" cy="2295525"/>
            </a:xfrm>
            <a:prstGeom prst="rect">
              <a:avLst/>
            </a:prstGeom>
            <a:solidFill>
              <a:srgbClr val="E8634C"/>
            </a:solidFill>
            <a:ln>
              <a:noFill/>
            </a:ln>
          </p:spPr>
        </p:sp>
        <p:sp>
          <p:nvSpPr>
            <p:cNvPr id="73" name="TextBox 73"/>
            <p:cNvSpPr txBox="1"/>
            <p:nvPr/>
          </p:nvSpPr>
          <p:spPr>
            <a:xfrm>
              <a:off x="5040594" y="4281488"/>
              <a:ext cx="301061" cy="147638"/>
            </a:xfrm>
            <a:prstGeom prst="rect">
              <a:avLst/>
            </a:prstGeom>
            <a:noFill/>
            <a:ln>
              <a:noFill/>
            </a:ln>
          </p:spPr>
          <p:txBody>
            <a:bodyPr wrap="none" lIns="0" tIns="0" rIns="0" bIns="0" anchor="t" anchorCtr="0">
              <a:spAutoFit/>
            </a:bodyPr>
            <a:lstStyle/>
            <a:p>
              <a:pPr algn="ctr"/>
              <a:r>
                <a:rPr lang="zh-CN" sz="750" b="1" dirty="0">
                  <a:solidFill>
                    <a:srgbClr val="C45F4A"/>
                  </a:solidFill>
                  <a:latin typeface="+mn-lt"/>
                  <a:ea typeface="+mn-ea"/>
                  <a:cs typeface="+mn-cs"/>
                </a:rPr>
                <a:t>523​​</a:t>
              </a:r>
            </a:p>
          </p:txBody>
        </p:sp>
        <p:sp>
          <p:nvSpPr>
            <p:cNvPr id="74" name="TextBox 74"/>
            <p:cNvSpPr txBox="1"/>
            <p:nvPr/>
          </p:nvSpPr>
          <p:spPr>
            <a:xfrm>
              <a:off x="5307294" y="3824288"/>
              <a:ext cx="301061" cy="147638"/>
            </a:xfrm>
            <a:prstGeom prst="rect">
              <a:avLst/>
            </a:prstGeom>
            <a:noFill/>
            <a:ln>
              <a:noFill/>
            </a:ln>
          </p:spPr>
          <p:txBody>
            <a:bodyPr wrap="none" lIns="0" tIns="0" rIns="0" bIns="0" anchor="t" anchorCtr="0">
              <a:spAutoFit/>
            </a:bodyPr>
            <a:lstStyle/>
            <a:p>
              <a:pPr algn="ctr"/>
              <a:r>
                <a:rPr lang="zh-CN" sz="750" b="1" dirty="0">
                  <a:solidFill>
                    <a:srgbClr val="C45F4A"/>
                  </a:solidFill>
                  <a:latin typeface="+mn-lt"/>
                  <a:ea typeface="+mn-ea"/>
                  <a:cs typeface="+mn-cs"/>
                </a:rPr>
                <a:t>644​​</a:t>
              </a:r>
            </a:p>
          </p:txBody>
        </p:sp>
        <p:sp>
          <p:nvSpPr>
            <p:cNvPr id="75" name="TextBox 75"/>
            <p:cNvSpPr txBox="1"/>
            <p:nvPr/>
          </p:nvSpPr>
          <p:spPr>
            <a:xfrm>
              <a:off x="5573994" y="3919538"/>
              <a:ext cx="301061" cy="147638"/>
            </a:xfrm>
            <a:prstGeom prst="rect">
              <a:avLst/>
            </a:prstGeom>
            <a:noFill/>
            <a:ln>
              <a:noFill/>
            </a:ln>
          </p:spPr>
          <p:txBody>
            <a:bodyPr wrap="none" lIns="0" tIns="0" rIns="0" bIns="0" anchor="t" anchorCtr="0">
              <a:spAutoFit/>
            </a:bodyPr>
            <a:lstStyle/>
            <a:p>
              <a:pPr algn="ctr"/>
              <a:r>
                <a:rPr lang="zh-CN" sz="750" b="1" dirty="0">
                  <a:solidFill>
                    <a:srgbClr val="E8634C"/>
                  </a:solidFill>
                  <a:latin typeface="+mn-lt"/>
                  <a:ea typeface="+mn-ea"/>
                  <a:cs typeface="+mn-cs"/>
                </a:rPr>
                <a:t>620​​</a:t>
              </a:r>
            </a:p>
          </p:txBody>
        </p:sp>
        <p:sp>
          <p:nvSpPr>
            <p:cNvPr id="76" name="TextBox 76"/>
            <p:cNvSpPr txBox="1"/>
            <p:nvPr/>
          </p:nvSpPr>
          <p:spPr>
            <a:xfrm>
              <a:off x="1312598" y="6502241"/>
              <a:ext cx="289453" cy="161925"/>
            </a:xfrm>
            <a:prstGeom prst="rect">
              <a:avLst/>
            </a:prstGeom>
            <a:noFill/>
            <a:ln>
              <a:noFill/>
            </a:ln>
          </p:spPr>
          <p:txBody>
            <a:bodyPr wrap="none" lIns="0" tIns="0" rIns="0" bIns="0" anchor="t" anchorCtr="0">
              <a:spAutoFit/>
            </a:bodyPr>
            <a:lstStyle/>
            <a:p>
              <a:pPr algn="ctr"/>
              <a:r>
                <a:rPr lang="en-US" sz="820" dirty="0">
                  <a:solidFill>
                    <a:srgbClr val="88706B"/>
                  </a:solidFill>
                  <a:latin typeface="+mn-lt"/>
                  <a:ea typeface="+mn-ea"/>
                  <a:cs typeface="+mn-cs"/>
                </a:rPr>
                <a:t>Q1​​</a:t>
              </a:r>
            </a:p>
          </p:txBody>
        </p:sp>
        <p:sp>
          <p:nvSpPr>
            <p:cNvPr id="77" name="TextBox 77"/>
            <p:cNvSpPr txBox="1"/>
            <p:nvPr/>
          </p:nvSpPr>
          <p:spPr>
            <a:xfrm>
              <a:off x="2646098" y="6502241"/>
              <a:ext cx="289453" cy="161925"/>
            </a:xfrm>
            <a:prstGeom prst="rect">
              <a:avLst/>
            </a:prstGeom>
            <a:noFill/>
            <a:ln>
              <a:noFill/>
            </a:ln>
          </p:spPr>
          <p:txBody>
            <a:bodyPr wrap="none" lIns="0" tIns="0" rIns="0" bIns="0" anchor="t" anchorCtr="0">
              <a:spAutoFit/>
            </a:bodyPr>
            <a:lstStyle/>
            <a:p>
              <a:pPr algn="ctr"/>
              <a:r>
                <a:rPr lang="en-US" sz="820" dirty="0">
                  <a:solidFill>
                    <a:srgbClr val="88706B"/>
                  </a:solidFill>
                  <a:latin typeface="+mn-lt"/>
                  <a:ea typeface="+mn-ea"/>
                  <a:cs typeface="+mn-cs"/>
                </a:rPr>
                <a:t>Q2​​</a:t>
              </a:r>
            </a:p>
          </p:txBody>
        </p:sp>
        <p:sp>
          <p:nvSpPr>
            <p:cNvPr id="78" name="TextBox 78"/>
            <p:cNvSpPr txBox="1"/>
            <p:nvPr/>
          </p:nvSpPr>
          <p:spPr>
            <a:xfrm>
              <a:off x="3979598" y="6502241"/>
              <a:ext cx="289453" cy="161925"/>
            </a:xfrm>
            <a:prstGeom prst="rect">
              <a:avLst/>
            </a:prstGeom>
            <a:noFill/>
            <a:ln>
              <a:noFill/>
            </a:ln>
          </p:spPr>
          <p:txBody>
            <a:bodyPr wrap="none" lIns="0" tIns="0" rIns="0" bIns="0" anchor="t" anchorCtr="0">
              <a:spAutoFit/>
            </a:bodyPr>
            <a:lstStyle/>
            <a:p>
              <a:pPr algn="ctr"/>
              <a:r>
                <a:rPr lang="en-US" sz="820" dirty="0">
                  <a:solidFill>
                    <a:srgbClr val="88706B"/>
                  </a:solidFill>
                  <a:latin typeface="+mn-lt"/>
                  <a:ea typeface="+mn-ea"/>
                  <a:cs typeface="+mn-cs"/>
                </a:rPr>
                <a:t>Q3​​</a:t>
              </a:r>
            </a:p>
          </p:txBody>
        </p:sp>
        <p:sp>
          <p:nvSpPr>
            <p:cNvPr id="79" name="TextBox 79"/>
            <p:cNvSpPr txBox="1"/>
            <p:nvPr/>
          </p:nvSpPr>
          <p:spPr>
            <a:xfrm>
              <a:off x="5313098" y="6502241"/>
              <a:ext cx="289453" cy="161925"/>
            </a:xfrm>
            <a:prstGeom prst="rect">
              <a:avLst/>
            </a:prstGeom>
            <a:noFill/>
            <a:ln>
              <a:noFill/>
            </a:ln>
          </p:spPr>
          <p:txBody>
            <a:bodyPr wrap="none" lIns="0" tIns="0" rIns="0" bIns="0" anchor="t" anchorCtr="0">
              <a:spAutoFit/>
            </a:bodyPr>
            <a:lstStyle/>
            <a:p>
              <a:pPr algn="ctr"/>
              <a:r>
                <a:rPr lang="en-US" sz="820" dirty="0">
                  <a:solidFill>
                    <a:srgbClr val="88706B"/>
                  </a:solidFill>
                  <a:latin typeface="+mn-lt"/>
                  <a:ea typeface="+mn-ea"/>
                  <a:cs typeface="+mn-cs"/>
                </a:rPr>
                <a:t>Q4​​</a:t>
              </a:r>
            </a:p>
          </p:txBody>
        </p:sp>
      </p:grpSp>
      <p:grpSp>
        <p:nvGrpSpPr>
          <p:cNvPr id="89" name="problem-panel"/>
          <p:cNvGrpSpPr/>
          <p:nvPr/>
        </p:nvGrpSpPr>
        <p:grpSpPr>
          <a:xfrm>
            <a:off x="6096000" y="838200"/>
            <a:ext cx="5772150" cy="2495550"/>
            <a:chOff x="6096000" y="838200"/>
            <a:chExt cx="5772150" cy="2495550"/>
          </a:xfrm>
        </p:grpSpPr>
        <p:sp>
          <p:nvSpPr>
            <p:cNvPr id="81" name="Rectangle 81"/>
            <p:cNvSpPr/>
            <p:nvPr/>
          </p:nvSpPr>
          <p:spPr>
            <a:xfrm>
              <a:off x="6096000" y="838200"/>
              <a:ext cx="5772150" cy="2495550"/>
            </a:xfrm>
            <a:prstGeom prst="roundRect">
              <a:avLst>
                <a:gd name="adj" fmla="val 3817"/>
              </a:avLst>
            </a:prstGeom>
            <a:solidFill>
              <a:srgbClr val="F5F7FD"/>
            </a:solidFill>
            <a:ln>
              <a:noFill/>
            </a:ln>
          </p:spPr>
        </p:sp>
        <p:sp>
          <p:nvSpPr>
            <p:cNvPr id="82" name="TextBox 82"/>
            <p:cNvSpPr txBox="1"/>
            <p:nvPr/>
          </p:nvSpPr>
          <p:spPr>
            <a:xfrm>
              <a:off x="6281547" y="980599"/>
              <a:ext cx="273761" cy="190690"/>
            </a:xfrm>
            <a:prstGeom prst="rect">
              <a:avLst/>
            </a:prstGeom>
            <a:noFill/>
            <a:ln>
              <a:noFill/>
            </a:ln>
          </p:spPr>
          <p:txBody>
            <a:bodyPr wrap="none" lIns="0" tIns="0" rIns="0" bIns="0" anchor="t" anchorCtr="0">
              <a:spAutoFit/>
            </a:bodyPr>
            <a:lstStyle/>
            <a:p>
              <a:pPr algn="l"/>
              <a:r>
                <a:rPr lang="zh-CN" sz="980" dirty="0">
                  <a:solidFill>
                    <a:srgbClr val="88706B"/>
                  </a:solidFill>
                  <a:latin typeface="+mn-lt"/>
                  <a:ea typeface="+mn-ea"/>
                  <a:cs typeface="+mn-cs"/>
                </a:rPr>
                <a:t>问题</a:t>
              </a:r>
            </a:p>
          </p:txBody>
        </p:sp>
        <p:sp>
          <p:nvSpPr>
            <p:cNvPr id="83" name="TextBox 83"/>
            <p:cNvSpPr txBox="1"/>
            <p:nvPr/>
          </p:nvSpPr>
          <p:spPr>
            <a:xfrm>
              <a:off x="6278118" y="1460182"/>
              <a:ext cx="529868"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01​​</a:t>
              </a:r>
            </a:p>
          </p:txBody>
        </p:sp>
        <p:sp>
          <p:nvSpPr>
            <p:cNvPr id="84" name="TextBox 84"/>
            <p:cNvSpPr txBox="1"/>
            <p:nvPr/>
          </p:nvSpPr>
          <p:spPr>
            <a:xfrm>
              <a:off x="6814185" y="1364456"/>
              <a:ext cx="1149350" cy="429578"/>
            </a:xfrm>
            <a:prstGeom prst="rect">
              <a:avLst/>
            </a:prstGeom>
            <a:noFill/>
            <a:ln>
              <a:noFill/>
            </a:ln>
          </p:spPr>
          <p:txBody>
            <a:bodyPr wrap="none" lIns="0" tIns="0" rIns="0" bIns="0" anchor="t" anchorCtr="0">
              <a:spAutoFit/>
            </a:bodyPr>
            <a:lstStyle/>
            <a:p>
              <a:pPr algn="l">
                <a:lnSpc>
                  <a:spcPts val="1650"/>
                </a:lnSpc>
              </a:pPr>
              <a:r>
                <a:rPr lang="zh-CN" sz="1120" b="1" dirty="0">
                  <a:solidFill>
                    <a:srgbClr val="9E402C"/>
                  </a:solidFill>
                  <a:latin typeface="+mn-lt"/>
                  <a:ea typeface="+mn-ea"/>
                  <a:cs typeface="+mn-cs"/>
                </a:rPr>
                <a:t>客户需求不断</a:t>
              </a:r>
              <a:br/>
              <a:r>
                <a:rPr lang="zh-CN" sz="1120" b="1" dirty="0">
                  <a:solidFill>
                    <a:srgbClr val="9E402C"/>
                  </a:solidFill>
                  <a:latin typeface="+mn-lt"/>
                  <a:ea typeface="+mn-ea"/>
                  <a:cs typeface="+mn-cs"/>
                </a:rPr>
                <a:t>调整开发难度增加</a:t>
              </a:r>
            </a:p>
          </p:txBody>
        </p:sp>
        <p:sp>
          <p:nvSpPr>
            <p:cNvPr id="85" name="TextBox 85"/>
            <p:cNvSpPr txBox="1"/>
            <p:nvPr/>
          </p:nvSpPr>
          <p:spPr>
            <a:xfrm>
              <a:off x="6815138" y="1968341"/>
              <a:ext cx="1155065" cy="885825"/>
            </a:xfrm>
            <a:prstGeom prst="rect">
              <a:avLst/>
            </a:prstGeom>
            <a:noFill/>
            <a:ln>
              <a:noFill/>
            </a:ln>
          </p:spPr>
          <p:txBody>
            <a:bodyPr wrap="none" lIns="0" tIns="0" rIns="0" bIns="0" anchor="t" anchorCtr="0">
              <a:spAutoFit/>
            </a:bodyPr>
            <a:lstStyle/>
            <a:p>
              <a:pPr algn="l">
                <a:lnSpc>
                  <a:spcPts val="1425"/>
                </a:lnSpc>
              </a:pPr>
              <a:r>
                <a:rPr lang="zh-CN" sz="820" dirty="0">
                  <a:solidFill>
                    <a:srgbClr val="88706B"/>
                  </a:solidFill>
                  <a:latin typeface="+mn-lt"/>
                  <a:ea typeface="+mn-ea"/>
                  <a:cs typeface="+mn-cs"/>
                </a:rPr>
                <a:t>五月客户临时要求增加特</a:t>
              </a:r>
              <a:br/>
              <a:r>
                <a:rPr lang="zh-CN" sz="820" dirty="0">
                  <a:solidFill>
                    <a:srgbClr val="88706B"/>
                  </a:solidFill>
                  <a:latin typeface="+mn-lt"/>
                  <a:ea typeface="+mn-ea"/>
                  <a:cs typeface="+mn-cs"/>
                </a:rPr>
                <a:t>定业务流程的定制功能，</a:t>
              </a:r>
              <a:br/>
              <a:r>
                <a:rPr lang="zh-CN" sz="820" dirty="0">
                  <a:solidFill>
                    <a:srgbClr val="88706B"/>
                  </a:solidFill>
                  <a:latin typeface="+mn-lt"/>
                  <a:ea typeface="+mn-ea"/>
                  <a:cs typeface="+mn-cs"/>
                </a:rPr>
                <a:t>使得原本的设计需要大幅</a:t>
              </a:r>
              <a:br/>
              <a:r>
                <a:rPr lang="zh-CN" sz="820" dirty="0">
                  <a:solidFill>
                    <a:srgbClr val="88706B"/>
                  </a:solidFill>
                  <a:latin typeface="+mn-lt"/>
                  <a:ea typeface="+mn-ea"/>
                  <a:cs typeface="+mn-cs"/>
                </a:rPr>
                <a:t>调整，导致开发计划被打</a:t>
              </a:r>
              <a:br/>
              <a:r>
                <a:rPr lang="zh-CN" sz="820" dirty="0">
                  <a:solidFill>
                    <a:srgbClr val="88706B"/>
                  </a:solidFill>
                  <a:latin typeface="+mn-lt"/>
                  <a:ea typeface="+mn-ea"/>
                  <a:cs typeface="+mn-cs"/>
                </a:rPr>
                <a:t>乱。</a:t>
              </a:r>
            </a:p>
          </p:txBody>
        </p:sp>
        <p:sp>
          <p:nvSpPr>
            <p:cNvPr id="86" name="TextBox 86"/>
            <p:cNvSpPr txBox="1"/>
            <p:nvPr/>
          </p:nvSpPr>
          <p:spPr>
            <a:xfrm>
              <a:off x="9154668" y="1460182"/>
              <a:ext cx="529868"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02​​</a:t>
              </a:r>
            </a:p>
          </p:txBody>
        </p:sp>
        <p:sp>
          <p:nvSpPr>
            <p:cNvPr id="87" name="TextBox 87"/>
            <p:cNvSpPr txBox="1"/>
            <p:nvPr/>
          </p:nvSpPr>
          <p:spPr>
            <a:xfrm>
              <a:off x="9690735" y="1364456"/>
              <a:ext cx="1149350" cy="429578"/>
            </a:xfrm>
            <a:prstGeom prst="rect">
              <a:avLst/>
            </a:prstGeom>
            <a:noFill/>
            <a:ln>
              <a:noFill/>
            </a:ln>
          </p:spPr>
          <p:txBody>
            <a:bodyPr wrap="none" lIns="0" tIns="0" rIns="0" bIns="0" anchor="t" anchorCtr="0">
              <a:spAutoFit/>
            </a:bodyPr>
            <a:lstStyle/>
            <a:p>
              <a:pPr algn="l">
                <a:lnSpc>
                  <a:spcPts val="1650"/>
                </a:lnSpc>
              </a:pPr>
              <a:r>
                <a:rPr lang="zh-CN" sz="1120" b="1" dirty="0">
                  <a:solidFill>
                    <a:srgbClr val="9E402C"/>
                  </a:solidFill>
                  <a:latin typeface="+mn-lt"/>
                  <a:ea typeface="+mn-ea"/>
                  <a:cs typeface="+mn-cs"/>
                </a:rPr>
                <a:t>遇到复杂技术</a:t>
              </a:r>
              <a:br/>
              <a:r>
                <a:rPr lang="zh-CN" sz="1120" b="1" dirty="0">
                  <a:solidFill>
                    <a:srgbClr val="9E402C"/>
                  </a:solidFill>
                  <a:latin typeface="+mn-lt"/>
                  <a:ea typeface="+mn-ea"/>
                  <a:cs typeface="+mn-cs"/>
                </a:rPr>
                <a:t>问题解决耗时较长</a:t>
              </a:r>
            </a:p>
          </p:txBody>
        </p:sp>
        <p:sp>
          <p:nvSpPr>
            <p:cNvPr id="88" name="TextBox 88"/>
            <p:cNvSpPr txBox="1"/>
            <p:nvPr/>
          </p:nvSpPr>
          <p:spPr>
            <a:xfrm>
              <a:off x="9691688" y="1968341"/>
              <a:ext cx="1259205" cy="885825"/>
            </a:xfrm>
            <a:prstGeom prst="rect">
              <a:avLst/>
            </a:prstGeom>
            <a:noFill/>
            <a:ln>
              <a:noFill/>
            </a:ln>
          </p:spPr>
          <p:txBody>
            <a:bodyPr wrap="none" lIns="0" tIns="0" rIns="0" bIns="0" anchor="t" anchorCtr="0">
              <a:spAutoFit/>
            </a:bodyPr>
            <a:lstStyle/>
            <a:p>
              <a:pPr algn="l">
                <a:lnSpc>
                  <a:spcPts val="1425"/>
                </a:lnSpc>
              </a:pPr>
              <a:r>
                <a:rPr lang="zh-CN" sz="820" dirty="0">
                  <a:solidFill>
                    <a:srgbClr val="88706B"/>
                  </a:solidFill>
                  <a:latin typeface="+mn-lt"/>
                  <a:ea typeface="+mn-ea"/>
                  <a:cs typeface="+mn-cs"/>
                </a:rPr>
                <a:t>开发过程中遭遇技术难题，</a:t>
              </a:r>
              <a:br/>
              <a:r>
                <a:rPr lang="zh-CN" sz="820" dirty="0">
                  <a:solidFill>
                    <a:srgbClr val="88706B"/>
                  </a:solidFill>
                  <a:latin typeface="+mn-lt"/>
                  <a:ea typeface="+mn-ea"/>
                  <a:cs typeface="+mn-cs"/>
                </a:rPr>
                <a:t>花费大量时间攻克，影响项</a:t>
              </a:r>
              <a:br/>
              <a:r>
                <a:rPr lang="zh-CN" sz="820" dirty="0">
                  <a:solidFill>
                    <a:srgbClr val="88706B"/>
                  </a:solidFill>
                  <a:latin typeface="+mn-lt"/>
                  <a:ea typeface="+mn-ea"/>
                  <a:cs typeface="+mn-cs"/>
                </a:rPr>
                <a:t>目进度。在数据集成方面遇</a:t>
              </a:r>
              <a:br/>
              <a:r>
                <a:rPr lang="zh-CN" sz="820" dirty="0">
                  <a:solidFill>
                    <a:srgbClr val="88706B"/>
                  </a:solidFill>
                  <a:latin typeface="+mn-lt"/>
                  <a:ea typeface="+mn-ea"/>
                  <a:cs typeface="+mn-cs"/>
                </a:rPr>
                <a:t>到兼容性问题，需不断测试</a:t>
              </a:r>
              <a:br/>
              <a:r>
                <a:rPr lang="zh-CN" sz="820" dirty="0">
                  <a:solidFill>
                    <a:srgbClr val="88706B"/>
                  </a:solidFill>
                  <a:latin typeface="+mn-lt"/>
                  <a:ea typeface="+mn-ea"/>
                  <a:cs typeface="+mn-cs"/>
                </a:rPr>
                <a:t>和优化解决方案。</a:t>
              </a:r>
            </a:p>
          </p:txBody>
        </p:sp>
      </p:grpSp>
      <p:grpSp>
        <p:nvGrpSpPr>
          <p:cNvPr id="98" name="improve-panel"/>
          <p:cNvGrpSpPr/>
          <p:nvPr/>
        </p:nvGrpSpPr>
        <p:grpSpPr>
          <a:xfrm>
            <a:off x="6096000" y="3448050"/>
            <a:ext cx="5772150" cy="3067050"/>
            <a:chOff x="6096000" y="3448050"/>
            <a:chExt cx="5772150" cy="3067050"/>
          </a:xfrm>
        </p:grpSpPr>
        <p:sp>
          <p:nvSpPr>
            <p:cNvPr id="90" name="Rectangle 90"/>
            <p:cNvSpPr/>
            <p:nvPr/>
          </p:nvSpPr>
          <p:spPr>
            <a:xfrm>
              <a:off x="6096000" y="3448050"/>
              <a:ext cx="5772150" cy="3067050"/>
            </a:xfrm>
            <a:prstGeom prst="roundRect">
              <a:avLst>
                <a:gd name="adj" fmla="val 3106"/>
              </a:avLst>
            </a:prstGeom>
            <a:solidFill>
              <a:srgbClr val="FBEDE8"/>
            </a:solidFill>
            <a:ln>
              <a:noFill/>
            </a:ln>
          </p:spPr>
        </p:sp>
        <p:sp>
          <p:nvSpPr>
            <p:cNvPr id="91" name="TextBox 91"/>
            <p:cNvSpPr txBox="1"/>
            <p:nvPr/>
          </p:nvSpPr>
          <p:spPr>
            <a:xfrm>
              <a:off x="6281547" y="3609499"/>
              <a:ext cx="273761" cy="190690"/>
            </a:xfrm>
            <a:prstGeom prst="rect">
              <a:avLst/>
            </a:prstGeom>
            <a:noFill/>
            <a:ln>
              <a:noFill/>
            </a:ln>
          </p:spPr>
          <p:txBody>
            <a:bodyPr wrap="none" lIns="0" tIns="0" rIns="0" bIns="0" anchor="t" anchorCtr="0">
              <a:spAutoFit/>
            </a:bodyPr>
            <a:lstStyle/>
            <a:p>
              <a:pPr algn="l"/>
              <a:r>
                <a:rPr lang="zh-CN" sz="980" dirty="0">
                  <a:solidFill>
                    <a:srgbClr val="88706B"/>
                  </a:solidFill>
                  <a:latin typeface="+mn-lt"/>
                  <a:ea typeface="+mn-ea"/>
                  <a:cs typeface="+mn-cs"/>
                </a:rPr>
                <a:t>改进</a:t>
              </a:r>
            </a:p>
          </p:txBody>
        </p:sp>
        <p:sp>
          <p:nvSpPr>
            <p:cNvPr id="92" name="TextBox 92"/>
            <p:cNvSpPr txBox="1"/>
            <p:nvPr/>
          </p:nvSpPr>
          <p:spPr>
            <a:xfrm>
              <a:off x="6278118" y="4260532"/>
              <a:ext cx="529868"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01​​</a:t>
              </a:r>
            </a:p>
          </p:txBody>
        </p:sp>
        <p:sp>
          <p:nvSpPr>
            <p:cNvPr id="93" name="TextBox 93"/>
            <p:cNvSpPr txBox="1"/>
            <p:nvPr/>
          </p:nvSpPr>
          <p:spPr>
            <a:xfrm>
              <a:off x="6814185" y="4164806"/>
              <a:ext cx="1149350" cy="429578"/>
            </a:xfrm>
            <a:prstGeom prst="rect">
              <a:avLst/>
            </a:prstGeom>
            <a:noFill/>
            <a:ln>
              <a:noFill/>
            </a:ln>
          </p:spPr>
          <p:txBody>
            <a:bodyPr wrap="none" lIns="0" tIns="0" rIns="0" bIns="0" anchor="t" anchorCtr="0">
              <a:spAutoFit/>
            </a:bodyPr>
            <a:lstStyle/>
            <a:p>
              <a:pPr algn="l">
                <a:lnSpc>
                  <a:spcPts val="1650"/>
                </a:lnSpc>
              </a:pPr>
              <a:r>
                <a:rPr lang="zh-CN" sz="1120" b="1" dirty="0">
                  <a:solidFill>
                    <a:srgbClr val="E8634C"/>
                  </a:solidFill>
                  <a:latin typeface="+mn-lt"/>
                  <a:ea typeface="+mn-ea"/>
                  <a:cs typeface="+mn-cs"/>
                </a:rPr>
                <a:t>与客户充分</a:t>
              </a:r>
              <a:br/>
              <a:r>
                <a:rPr lang="zh-CN" sz="1120" b="1" dirty="0">
                  <a:solidFill>
                    <a:srgbClr val="E8634C"/>
                  </a:solidFill>
                  <a:latin typeface="+mn-lt"/>
                  <a:ea typeface="+mn-ea"/>
                  <a:cs typeface="+mn-cs"/>
                </a:rPr>
                <a:t>沟通控制需求变更</a:t>
              </a:r>
            </a:p>
          </p:txBody>
        </p:sp>
        <p:sp>
          <p:nvSpPr>
            <p:cNvPr id="94" name="TextBox 94"/>
            <p:cNvSpPr txBox="1"/>
            <p:nvPr/>
          </p:nvSpPr>
          <p:spPr>
            <a:xfrm>
              <a:off x="6815138" y="4787741"/>
              <a:ext cx="1155065" cy="885825"/>
            </a:xfrm>
            <a:prstGeom prst="rect">
              <a:avLst/>
            </a:prstGeom>
            <a:noFill/>
            <a:ln>
              <a:noFill/>
            </a:ln>
          </p:spPr>
          <p:txBody>
            <a:bodyPr wrap="none" lIns="0" tIns="0" rIns="0" bIns="0" anchor="t" anchorCtr="0">
              <a:spAutoFit/>
            </a:bodyPr>
            <a:lstStyle/>
            <a:p>
              <a:pPr algn="l">
                <a:lnSpc>
                  <a:spcPts val="1425"/>
                </a:lnSpc>
              </a:pPr>
              <a:r>
                <a:rPr lang="zh-CN" sz="820" dirty="0">
                  <a:solidFill>
                    <a:srgbClr val="88706B"/>
                  </a:solidFill>
                  <a:latin typeface="+mn-lt"/>
                  <a:ea typeface="+mn-ea"/>
                  <a:cs typeface="+mn-cs"/>
                </a:rPr>
                <a:t>建立需求变更管理流程，</a:t>
              </a:r>
              <a:br/>
              <a:r>
                <a:rPr lang="zh-CN" sz="820" dirty="0">
                  <a:solidFill>
                    <a:srgbClr val="88706B"/>
                  </a:solidFill>
                  <a:latin typeface="+mn-lt"/>
                  <a:ea typeface="+mn-ea"/>
                  <a:cs typeface="+mn-cs"/>
                </a:rPr>
                <a:t>与客户协商确定变更优先</a:t>
              </a:r>
              <a:br/>
              <a:r>
                <a:rPr lang="zh-CN" sz="820" dirty="0">
                  <a:solidFill>
                    <a:srgbClr val="88706B"/>
                  </a:solidFill>
                  <a:latin typeface="+mn-lt"/>
                  <a:ea typeface="+mn-ea"/>
                  <a:cs typeface="+mn-cs"/>
                </a:rPr>
                <a:t>级，避免频繁变更影响进</a:t>
              </a:r>
              <a:br/>
              <a:r>
                <a:rPr lang="zh-CN" sz="820" dirty="0">
                  <a:solidFill>
                    <a:srgbClr val="88706B"/>
                  </a:solidFill>
                  <a:latin typeface="+mn-lt"/>
                  <a:ea typeface="+mn-ea"/>
                  <a:cs typeface="+mn-cs"/>
                </a:rPr>
                <a:t>度。非关键的需求说服客</a:t>
              </a:r>
              <a:br/>
              <a:r>
                <a:rPr lang="zh-CN" sz="820" dirty="0">
                  <a:solidFill>
                    <a:srgbClr val="88706B"/>
                  </a:solidFill>
                  <a:latin typeface="+mn-lt"/>
                  <a:ea typeface="+mn-ea"/>
                  <a:cs typeface="+mn-cs"/>
                </a:rPr>
                <a:t>户将其放在二期开发。</a:t>
              </a:r>
            </a:p>
          </p:txBody>
        </p:sp>
        <p:sp>
          <p:nvSpPr>
            <p:cNvPr id="95" name="TextBox 95"/>
            <p:cNvSpPr txBox="1"/>
            <p:nvPr/>
          </p:nvSpPr>
          <p:spPr>
            <a:xfrm>
              <a:off x="9154668" y="4260532"/>
              <a:ext cx="529868" cy="322707"/>
            </a:xfrm>
            <a:prstGeom prst="rect">
              <a:avLst/>
            </a:prstGeom>
            <a:noFill/>
            <a:ln>
              <a:noFill/>
            </a:ln>
          </p:spPr>
          <p:txBody>
            <a:bodyPr wrap="none" lIns="0" tIns="0" rIns="0" bIns="0" anchor="t" anchorCtr="0">
              <a:spAutoFit/>
            </a:bodyPr>
            <a:lstStyle/>
            <a:p>
              <a:pPr algn="l"/>
              <a:r>
                <a:rPr lang="zh-CN" sz="1650" b="1" dirty="0">
                  <a:solidFill>
                    <a:srgbClr val="1A1A1A"/>
                  </a:solidFill>
                  <a:latin typeface="+mn-lt"/>
                  <a:ea typeface="+mn-ea"/>
                  <a:cs typeface="+mn-cs"/>
                </a:rPr>
                <a:t>02​​</a:t>
              </a:r>
            </a:p>
          </p:txBody>
        </p:sp>
        <p:sp>
          <p:nvSpPr>
            <p:cNvPr id="96" name="TextBox 96"/>
            <p:cNvSpPr txBox="1"/>
            <p:nvPr/>
          </p:nvSpPr>
          <p:spPr>
            <a:xfrm>
              <a:off x="9690735" y="4164806"/>
              <a:ext cx="1149350" cy="429578"/>
            </a:xfrm>
            <a:prstGeom prst="rect">
              <a:avLst/>
            </a:prstGeom>
            <a:noFill/>
            <a:ln>
              <a:noFill/>
            </a:ln>
          </p:spPr>
          <p:txBody>
            <a:bodyPr wrap="none" lIns="0" tIns="0" rIns="0" bIns="0" anchor="t" anchorCtr="0">
              <a:spAutoFit/>
            </a:bodyPr>
            <a:lstStyle/>
            <a:p>
              <a:pPr algn="l">
                <a:lnSpc>
                  <a:spcPts val="1650"/>
                </a:lnSpc>
              </a:pPr>
              <a:r>
                <a:rPr lang="zh-CN" sz="1120" b="1" dirty="0">
                  <a:solidFill>
                    <a:srgbClr val="E8634C"/>
                  </a:solidFill>
                  <a:latin typeface="+mn-lt"/>
                  <a:ea typeface="+mn-ea"/>
                  <a:cs typeface="+mn-cs"/>
                </a:rPr>
                <a:t>组织技术专家</a:t>
              </a:r>
              <a:br/>
              <a:r>
                <a:rPr lang="zh-CN" sz="1120" b="1" dirty="0">
                  <a:solidFill>
                    <a:srgbClr val="E8634C"/>
                  </a:solidFill>
                  <a:latin typeface="+mn-lt"/>
                  <a:ea typeface="+mn-ea"/>
                  <a:cs typeface="+mn-cs"/>
                </a:rPr>
                <a:t>团队加速难题解决</a:t>
              </a:r>
            </a:p>
          </p:txBody>
        </p:sp>
        <p:sp>
          <p:nvSpPr>
            <p:cNvPr id="97" name="TextBox 97"/>
            <p:cNvSpPr txBox="1"/>
            <p:nvPr/>
          </p:nvSpPr>
          <p:spPr>
            <a:xfrm>
              <a:off x="9691688" y="4787741"/>
              <a:ext cx="1155065" cy="885825"/>
            </a:xfrm>
            <a:prstGeom prst="rect">
              <a:avLst/>
            </a:prstGeom>
            <a:noFill/>
            <a:ln>
              <a:noFill/>
            </a:ln>
          </p:spPr>
          <p:txBody>
            <a:bodyPr wrap="none" lIns="0" tIns="0" rIns="0" bIns="0" anchor="t" anchorCtr="0">
              <a:spAutoFit/>
            </a:bodyPr>
            <a:lstStyle/>
            <a:p>
              <a:pPr algn="l">
                <a:lnSpc>
                  <a:spcPts val="1425"/>
                </a:lnSpc>
              </a:pPr>
              <a:r>
                <a:rPr lang="zh-CN" sz="820" dirty="0">
                  <a:solidFill>
                    <a:srgbClr val="88706B"/>
                  </a:solidFill>
                  <a:latin typeface="+mn-lt"/>
                  <a:ea typeface="+mn-ea"/>
                  <a:cs typeface="+mn-cs"/>
                </a:rPr>
                <a:t>抽调技术骨干组成攻关小</a:t>
              </a:r>
              <a:br/>
              <a:r>
                <a:rPr lang="zh-CN" sz="820" dirty="0">
                  <a:solidFill>
                    <a:srgbClr val="88706B"/>
                  </a:solidFill>
                  <a:latin typeface="+mn-lt"/>
                  <a:ea typeface="+mn-ea"/>
                  <a:cs typeface="+mn-cs"/>
                </a:rPr>
                <a:t>组，集中力量解决技术难</a:t>
              </a:r>
              <a:br/>
              <a:r>
                <a:rPr lang="zh-CN" sz="820" dirty="0">
                  <a:solidFill>
                    <a:srgbClr val="88706B"/>
                  </a:solidFill>
                  <a:latin typeface="+mn-lt"/>
                  <a:ea typeface="+mn-ea"/>
                  <a:cs typeface="+mn-cs"/>
                </a:rPr>
                <a:t>题，制定详细时间表，定</a:t>
              </a:r>
              <a:br/>
              <a:r>
                <a:rPr lang="zh-CN" sz="820" dirty="0">
                  <a:solidFill>
                    <a:srgbClr val="88706B"/>
                  </a:solidFill>
                  <a:latin typeface="+mn-lt"/>
                  <a:ea typeface="+mn-ea"/>
                  <a:cs typeface="+mn-cs"/>
                </a:rPr>
                <a:t>期汇报进展，确保问题得</a:t>
              </a:r>
              <a:br/>
              <a:r>
                <a:rPr lang="zh-CN" sz="820" dirty="0">
                  <a:solidFill>
                    <a:srgbClr val="88706B"/>
                  </a:solidFill>
                  <a:latin typeface="+mn-lt"/>
                  <a:ea typeface="+mn-ea"/>
                  <a:cs typeface="+mn-cs"/>
                </a:rPr>
                <a:t>到及时解决。</a:t>
              </a:r>
            </a:p>
          </p:txBody>
        </p:sp>
      </p:gr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80​​</a:t>
              </a:r>
            </a:p>
          </p:txBody>
        </p:sp>
        <p:sp>
          <p:nvSpPr>
            <p:cNvPr id="4" name="TextBox 4"/>
            <p:cNvSpPr txBox="1"/>
            <p:nvPr/>
          </p:nvSpPr>
          <p:spPr>
            <a:xfrm>
              <a:off x="942594" y="151448"/>
              <a:ext cx="1844200"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项目小组架构​</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6" name="col-headers"/>
          <p:cNvGrpSpPr/>
          <p:nvPr/>
        </p:nvGrpSpPr>
        <p:grpSpPr>
          <a:xfrm>
            <a:off x="342900" y="838200"/>
            <a:ext cx="11506200" cy="533400"/>
            <a:chOff x="342900" y="838200"/>
            <a:chExt cx="11506200" cy="533400"/>
          </a:xfrm>
        </p:grpSpPr>
        <p:sp>
          <p:nvSpPr>
            <p:cNvPr id="7" name="Rectangle 7"/>
            <p:cNvSpPr/>
            <p:nvPr/>
          </p:nvSpPr>
          <p:spPr>
            <a:xfrm>
              <a:off x="342900" y="838200"/>
              <a:ext cx="5429250" cy="533400"/>
            </a:xfrm>
            <a:prstGeom prst="roundRect">
              <a:avLst>
                <a:gd name="adj" fmla="val 10714"/>
              </a:avLst>
            </a:prstGeom>
            <a:solidFill>
              <a:srgbClr val="E8EBF8"/>
            </a:solidFill>
            <a:ln>
              <a:noFill/>
            </a:ln>
          </p:spPr>
        </p:sp>
        <p:sp>
          <p:nvSpPr>
            <p:cNvPr id="8" name="TextBox 8"/>
            <p:cNvSpPr txBox="1"/>
            <p:nvPr/>
          </p:nvSpPr>
          <p:spPr>
            <a:xfrm>
              <a:off x="565404" y="956310"/>
              <a:ext cx="981456" cy="234696"/>
            </a:xfrm>
            <a:prstGeom prst="rect">
              <a:avLst/>
            </a:prstGeom>
            <a:noFill/>
            <a:ln>
              <a:noFill/>
            </a:ln>
          </p:spPr>
          <p:txBody>
            <a:bodyPr wrap="none" lIns="0" tIns="0" rIns="0" bIns="0" anchor="t" anchorCtr="0">
              <a:spAutoFit/>
            </a:bodyPr>
            <a:lstStyle/>
            <a:p>
              <a:pPr algn="l"/>
              <a:r>
                <a:rPr lang="zh-CN" sz="1200" b="1" dirty="0">
                  <a:solidFill>
                    <a:srgbClr val="543E3A"/>
                  </a:solidFill>
                  <a:latin typeface="+mn-lt"/>
                  <a:ea typeface="+mn-ea"/>
                  <a:cs typeface="+mn-cs"/>
                </a:rPr>
                <a:t>项目组织架构</a:t>
              </a:r>
            </a:p>
          </p:txBody>
        </p:sp>
        <p:sp>
          <p:nvSpPr>
            <p:cNvPr id="9" name="TextBox 9"/>
            <p:cNvSpPr txBox="1"/>
            <p:nvPr/>
          </p:nvSpPr>
          <p:spPr>
            <a:xfrm>
              <a:off x="566738" y="1203484"/>
              <a:ext cx="1251419" cy="133350"/>
            </a:xfrm>
            <a:prstGeom prst="rect">
              <a:avLst/>
            </a:prstGeom>
            <a:noFill/>
            <a:ln>
              <a:noFill/>
            </a:ln>
          </p:spPr>
          <p:txBody>
            <a:bodyPr wrap="none" lIns="0" tIns="0" rIns="0" bIns="0" anchor="t" anchorCtr="0">
              <a:spAutoFit/>
            </a:bodyPr>
            <a:lstStyle/>
            <a:p>
              <a:pPr algn="l"/>
              <a:r>
                <a:rPr lang="en-US" sz="680" dirty="0">
                  <a:solidFill>
                    <a:srgbClr val="B4918A"/>
                  </a:solidFill>
                  <a:latin typeface="+mn-lt"/>
                  <a:ea typeface="+mn-ea"/>
                  <a:cs typeface="+mn-cs"/>
                </a:rPr>
                <a:t>Organizational Structure​​</a:t>
              </a:r>
            </a:p>
          </p:txBody>
        </p:sp>
        <p:sp>
          <p:nvSpPr>
            <p:cNvPr id="10" name="Rectangle 10"/>
            <p:cNvSpPr/>
            <p:nvPr/>
          </p:nvSpPr>
          <p:spPr>
            <a:xfrm>
              <a:off x="5867400" y="838200"/>
              <a:ext cx="2857500" cy="533400"/>
            </a:xfrm>
            <a:prstGeom prst="roundRect">
              <a:avLst>
                <a:gd name="adj" fmla="val 10714"/>
              </a:avLst>
            </a:prstGeom>
            <a:solidFill>
              <a:srgbClr val="FBEDE8"/>
            </a:solidFill>
            <a:ln>
              <a:noFill/>
            </a:ln>
          </p:spPr>
        </p:sp>
        <p:sp>
          <p:nvSpPr>
            <p:cNvPr id="11" name="TextBox 11"/>
            <p:cNvSpPr txBox="1"/>
            <p:nvPr/>
          </p:nvSpPr>
          <p:spPr>
            <a:xfrm>
              <a:off x="6089904" y="956310"/>
              <a:ext cx="658368" cy="234696"/>
            </a:xfrm>
            <a:prstGeom prst="rect">
              <a:avLst/>
            </a:prstGeom>
            <a:noFill/>
            <a:ln>
              <a:noFill/>
            </a:ln>
          </p:spPr>
          <p:txBody>
            <a:bodyPr wrap="none" lIns="0" tIns="0" rIns="0" bIns="0" anchor="t" anchorCtr="0">
              <a:spAutoFit/>
            </a:bodyPr>
            <a:lstStyle/>
            <a:p>
              <a:pPr algn="l"/>
              <a:r>
                <a:rPr lang="zh-CN" sz="1200" b="1" dirty="0">
                  <a:solidFill>
                    <a:srgbClr val="E8634C"/>
                  </a:solidFill>
                  <a:latin typeface="+mn-lt"/>
                  <a:ea typeface="+mn-ea"/>
                  <a:cs typeface="+mn-cs"/>
                </a:rPr>
                <a:t>项目主题</a:t>
              </a:r>
            </a:p>
          </p:txBody>
        </p:sp>
        <p:sp>
          <p:nvSpPr>
            <p:cNvPr id="12" name="TextBox 12"/>
            <p:cNvSpPr txBox="1"/>
            <p:nvPr/>
          </p:nvSpPr>
          <p:spPr>
            <a:xfrm>
              <a:off x="6091238" y="1203484"/>
              <a:ext cx="744146" cy="133350"/>
            </a:xfrm>
            <a:prstGeom prst="rect">
              <a:avLst/>
            </a:prstGeom>
            <a:noFill/>
            <a:ln>
              <a:noFill/>
            </a:ln>
          </p:spPr>
          <p:txBody>
            <a:bodyPr wrap="none" lIns="0" tIns="0" rIns="0" bIns="0" anchor="t" anchorCtr="0">
              <a:spAutoFit/>
            </a:bodyPr>
            <a:lstStyle/>
            <a:p>
              <a:pPr algn="l"/>
              <a:r>
                <a:rPr lang="en-US" sz="680" dirty="0">
                  <a:solidFill>
                    <a:srgbClr val="E89B8E"/>
                  </a:solidFill>
                  <a:latin typeface="+mn-lt"/>
                  <a:ea typeface="+mn-ea"/>
                  <a:cs typeface="+mn-cs"/>
                </a:rPr>
                <a:t>Project Theme​​</a:t>
              </a:r>
            </a:p>
          </p:txBody>
        </p:sp>
        <p:sp>
          <p:nvSpPr>
            <p:cNvPr id="13" name="Rectangle 13"/>
            <p:cNvSpPr/>
            <p:nvPr/>
          </p:nvSpPr>
          <p:spPr>
            <a:xfrm>
              <a:off x="8820150" y="838200"/>
              <a:ext cx="3028950" cy="533400"/>
            </a:xfrm>
            <a:prstGeom prst="roundRect">
              <a:avLst>
                <a:gd name="adj" fmla="val 10714"/>
              </a:avLst>
            </a:prstGeom>
            <a:solidFill>
              <a:srgbClr val="E8EBF8"/>
            </a:solidFill>
            <a:ln>
              <a:noFill/>
            </a:ln>
          </p:spPr>
        </p:sp>
        <p:sp>
          <p:nvSpPr>
            <p:cNvPr id="14" name="TextBox 14"/>
            <p:cNvSpPr txBox="1"/>
            <p:nvPr/>
          </p:nvSpPr>
          <p:spPr>
            <a:xfrm>
              <a:off x="9042654" y="956310"/>
              <a:ext cx="658368" cy="234696"/>
            </a:xfrm>
            <a:prstGeom prst="rect">
              <a:avLst/>
            </a:prstGeom>
            <a:noFill/>
            <a:ln>
              <a:noFill/>
            </a:ln>
          </p:spPr>
          <p:txBody>
            <a:bodyPr wrap="none" lIns="0" tIns="0" rIns="0" bIns="0" anchor="t" anchorCtr="0">
              <a:spAutoFit/>
            </a:bodyPr>
            <a:lstStyle/>
            <a:p>
              <a:pPr algn="l"/>
              <a:r>
                <a:rPr lang="zh-CN" sz="1200" b="1" dirty="0">
                  <a:solidFill>
                    <a:srgbClr val="543E3A"/>
                  </a:solidFill>
                  <a:latin typeface="+mn-lt"/>
                  <a:ea typeface="+mn-ea"/>
                  <a:cs typeface="+mn-cs"/>
                </a:rPr>
                <a:t>执行内容</a:t>
              </a:r>
            </a:p>
          </p:txBody>
        </p:sp>
        <p:sp>
          <p:nvSpPr>
            <p:cNvPr id="15" name="TextBox 15"/>
            <p:cNvSpPr txBox="1"/>
            <p:nvPr/>
          </p:nvSpPr>
          <p:spPr>
            <a:xfrm>
              <a:off x="9043988" y="1203484"/>
              <a:ext cx="926809" cy="133350"/>
            </a:xfrm>
            <a:prstGeom prst="rect">
              <a:avLst/>
            </a:prstGeom>
            <a:noFill/>
            <a:ln>
              <a:noFill/>
            </a:ln>
          </p:spPr>
          <p:txBody>
            <a:bodyPr wrap="none" lIns="0" tIns="0" rIns="0" bIns="0" anchor="t" anchorCtr="0">
              <a:spAutoFit/>
            </a:bodyPr>
            <a:lstStyle/>
            <a:p>
              <a:pPr algn="l"/>
              <a:r>
                <a:rPr lang="en-US" sz="680" dirty="0">
                  <a:solidFill>
                    <a:srgbClr val="B4918A"/>
                  </a:solidFill>
                  <a:latin typeface="+mn-lt"/>
                  <a:ea typeface="+mn-ea"/>
                  <a:cs typeface="+mn-cs"/>
                </a:rPr>
                <a:t>Execution Content​​</a:t>
              </a:r>
            </a:p>
          </p:txBody>
        </p:sp>
      </p:grpSp>
      <p:grpSp>
        <p:nvGrpSpPr>
          <p:cNvPr id="40" name="org-group-1"/>
          <p:cNvGrpSpPr/>
          <p:nvPr/>
        </p:nvGrpSpPr>
        <p:grpSpPr>
          <a:xfrm>
            <a:off x="476250" y="1598295"/>
            <a:ext cx="4000500" cy="1583055"/>
            <a:chOff x="476250" y="1598295"/>
            <a:chExt cx="4000500" cy="1583055"/>
          </a:xfrm>
        </p:grpSpPr>
        <p:sp>
          <p:nvSpPr>
            <p:cNvPr id="17" name="Ellipse 17"/>
            <p:cNvSpPr/>
            <p:nvPr/>
          </p:nvSpPr>
          <p:spPr>
            <a:xfrm>
              <a:off x="762000" y="1619250"/>
              <a:ext cx="571500" cy="571500"/>
            </a:xfrm>
            <a:prstGeom prst="ellipse">
              <a:avLst/>
            </a:prstGeom>
            <a:solidFill>
              <a:srgbClr val="D8DEF2"/>
            </a:solidFill>
            <a:ln>
              <a:noFill/>
            </a:ln>
          </p:spPr>
        </p:sp>
        <p:grpSp>
          <p:nvGrpSpPr>
            <p:cNvPr id="22" name="Group 22"/>
            <p:cNvGrpSpPr/>
            <p:nvPr/>
          </p:nvGrpSpPr>
          <p:grpSpPr>
            <a:xfrm>
              <a:off x="919162" y="1776412"/>
              <a:ext cx="257175" cy="257176"/>
              <a:chOff x="919162" y="1776412"/>
              <a:chExt cx="257175" cy="257176"/>
            </a:xfrm>
          </p:grpSpPr>
          <p:sp>
            <p:nvSpPr>
              <p:cNvPr id="18" name="Freeform 18"/>
              <p:cNvSpPr/>
              <p:nvPr/>
            </p:nvSpPr>
            <p:spPr>
              <a:xfrm>
                <a:off x="947738" y="177641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C45F4A"/>
                </a:solidFill>
              </a:ln>
            </p:spPr>
          </p:sp>
          <p:sp>
            <p:nvSpPr>
              <p:cNvPr id="19" name="Freeform 19"/>
              <p:cNvSpPr/>
              <p:nvPr/>
            </p:nvSpPr>
            <p:spPr>
              <a:xfrm>
                <a:off x="919162" y="194786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C45F4A"/>
                </a:solidFill>
              </a:ln>
            </p:spPr>
          </p:sp>
          <p:sp>
            <p:nvSpPr>
              <p:cNvPr id="20" name="Freeform 20"/>
              <p:cNvSpPr/>
              <p:nvPr/>
            </p:nvSpPr>
            <p:spPr>
              <a:xfrm>
                <a:off x="1104900" y="177827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C45F4A"/>
                </a:solidFill>
              </a:ln>
            </p:spPr>
          </p:sp>
          <p:sp>
            <p:nvSpPr>
              <p:cNvPr id="21" name="Freeform 21"/>
              <p:cNvSpPr/>
              <p:nvPr/>
            </p:nvSpPr>
            <p:spPr>
              <a:xfrm>
                <a:off x="1133475" y="195000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C45F4A"/>
                </a:solidFill>
              </a:ln>
            </p:spPr>
          </p:sp>
        </p:grpSp>
        <p:sp>
          <p:nvSpPr>
            <p:cNvPr id="23" name="Rectangle 23"/>
            <p:cNvSpPr/>
            <p:nvPr/>
          </p:nvSpPr>
          <p:spPr>
            <a:xfrm>
              <a:off x="476250" y="2286000"/>
              <a:ext cx="1524000" cy="342900"/>
            </a:xfrm>
            <a:prstGeom prst="roundRect">
              <a:avLst>
                <a:gd name="adj" fmla="val 50000"/>
              </a:avLst>
            </a:prstGeom>
            <a:solidFill>
              <a:srgbClr val="C45F4A"/>
            </a:solidFill>
            <a:ln>
              <a:noFill/>
            </a:ln>
          </p:spPr>
        </p:sp>
        <p:sp>
          <p:nvSpPr>
            <p:cNvPr id="24" name="TextBox 24"/>
            <p:cNvSpPr txBox="1"/>
            <p:nvPr/>
          </p:nvSpPr>
          <p:spPr>
            <a:xfrm>
              <a:off x="814671" y="2405301"/>
              <a:ext cx="847159"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组长：(行长)</a:t>
              </a:r>
            </a:p>
          </p:txBody>
        </p:sp>
        <p:sp>
          <p:nvSpPr>
            <p:cNvPr id="25" name="TextBox 25"/>
            <p:cNvSpPr txBox="1"/>
            <p:nvPr/>
          </p:nvSpPr>
          <p:spPr>
            <a:xfrm>
              <a:off x="2194750" y="1598295"/>
              <a:ext cx="372999" cy="176212"/>
            </a:xfrm>
            <a:prstGeom prst="rect">
              <a:avLst/>
            </a:prstGeom>
            <a:noFill/>
            <a:ln>
              <a:noFill/>
            </a:ln>
          </p:spPr>
          <p:txBody>
            <a:bodyPr wrap="none" lIns="0" tIns="0" rIns="0" bIns="0" anchor="t" anchorCtr="0">
              <a:spAutoFit/>
            </a:bodyPr>
            <a:lstStyle/>
            <a:p>
              <a:pPr algn="ctr"/>
              <a:r>
                <a:rPr lang="zh-CN" sz="900" b="1" dirty="0">
                  <a:solidFill>
                    <a:srgbClr val="543E3A"/>
                  </a:solidFill>
                  <a:latin typeface="+mn-lt"/>
                  <a:ea typeface="+mn-ea"/>
                  <a:cs typeface="+mn-cs"/>
                </a:rPr>
                <a:t>副组长</a:t>
              </a:r>
            </a:p>
          </p:txBody>
        </p:sp>
        <p:sp>
          <p:nvSpPr>
            <p:cNvPr id="26" name="Freeform 26"/>
            <p:cNvSpPr/>
            <p:nvPr/>
          </p:nvSpPr>
          <p:spPr>
            <a:xfrm>
              <a:off x="2000250" y="2000250"/>
              <a:ext cx="381000" cy="914400"/>
            </a:xfrm>
            <a:custGeom>
              <a:avLst/>
              <a:gdLst/>
              <a:ahLst/>
              <a:cxnLst/>
              <a:rect l="l" t="t" r="r" b="b"/>
              <a:pathLst>
                <a:path w="381000" h="914400">
                  <a:moveTo>
                    <a:pt x="0" y="457200"/>
                  </a:moveTo>
                  <a:lnTo>
                    <a:pt x="381000" y="457200"/>
                  </a:lnTo>
                  <a:lnTo>
                    <a:pt x="381000" y="0"/>
                  </a:lnTo>
                  <a:moveTo>
                    <a:pt x="381000" y="457200"/>
                  </a:moveTo>
                  <a:lnTo>
                    <a:pt x="381000" y="914400"/>
                  </a:lnTo>
                </a:path>
              </a:pathLst>
            </a:custGeom>
            <a:noFill/>
            <a:ln w="12382">
              <a:solidFill>
                <a:srgbClr val="ECC1B8"/>
              </a:solidFill>
            </a:ln>
          </p:spPr>
        </p:sp>
        <p:sp>
          <p:nvSpPr>
            <p:cNvPr id="27" name="Rectangle 27"/>
            <p:cNvSpPr/>
            <p:nvPr/>
          </p:nvSpPr>
          <p:spPr>
            <a:xfrm>
              <a:off x="1857375" y="1790700"/>
              <a:ext cx="1047750" cy="285750"/>
            </a:xfrm>
            <a:prstGeom prst="roundRect">
              <a:avLst>
                <a:gd name="adj" fmla="val 50000"/>
              </a:avLst>
            </a:prstGeom>
            <a:solidFill>
              <a:srgbClr val="FFFFFF"/>
            </a:solidFill>
            <a:ln w="11430">
              <a:solidFill>
                <a:srgbClr val="C45F4A"/>
              </a:solidFill>
            </a:ln>
          </p:spPr>
        </p:sp>
        <p:sp>
          <p:nvSpPr>
            <p:cNvPr id="28" name="TextBox 28"/>
            <p:cNvSpPr txBox="1"/>
            <p:nvPr/>
          </p:nvSpPr>
          <p:spPr>
            <a:xfrm>
              <a:off x="2134172" y="1884045"/>
              <a:ext cx="49415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（副行）</a:t>
              </a:r>
            </a:p>
          </p:txBody>
        </p:sp>
        <p:sp>
          <p:nvSpPr>
            <p:cNvPr id="29" name="Rectangle 29"/>
            <p:cNvSpPr/>
            <p:nvPr/>
          </p:nvSpPr>
          <p:spPr>
            <a:xfrm>
              <a:off x="1857375" y="2781300"/>
              <a:ext cx="1047750" cy="285750"/>
            </a:xfrm>
            <a:prstGeom prst="roundRect">
              <a:avLst>
                <a:gd name="adj" fmla="val 50000"/>
              </a:avLst>
            </a:prstGeom>
            <a:solidFill>
              <a:srgbClr val="FFFFFF"/>
            </a:solidFill>
            <a:ln w="11430">
              <a:solidFill>
                <a:srgbClr val="C45F4A"/>
              </a:solidFill>
            </a:ln>
          </p:spPr>
        </p:sp>
        <p:sp>
          <p:nvSpPr>
            <p:cNvPr id="30" name="TextBox 30"/>
            <p:cNvSpPr txBox="1"/>
            <p:nvPr/>
          </p:nvSpPr>
          <p:spPr>
            <a:xfrm>
              <a:off x="2134172" y="2874645"/>
              <a:ext cx="49415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（副行）</a:t>
              </a:r>
            </a:p>
          </p:txBody>
        </p:sp>
        <p:sp>
          <p:nvSpPr>
            <p:cNvPr id="31" name="Freeform 31"/>
            <p:cNvSpPr/>
            <p:nvPr/>
          </p:nvSpPr>
          <p:spPr>
            <a:xfrm>
              <a:off x="2905125" y="1733550"/>
              <a:ext cx="409575" cy="1447800"/>
            </a:xfrm>
            <a:custGeom>
              <a:avLst/>
              <a:gdLst/>
              <a:ahLst/>
              <a:cxnLst/>
              <a:rect l="l" t="t" r="r" b="b"/>
              <a:pathLst>
                <a:path w="409575" h="1447800">
                  <a:moveTo>
                    <a:pt x="0" y="723900"/>
                  </a:moveTo>
                  <a:lnTo>
                    <a:pt x="161925" y="723900"/>
                  </a:lnTo>
                  <a:moveTo>
                    <a:pt x="161925" y="0"/>
                  </a:moveTo>
                  <a:lnTo>
                    <a:pt x="161925" y="1447800"/>
                  </a:lnTo>
                  <a:moveTo>
                    <a:pt x="161925" y="0"/>
                  </a:moveTo>
                  <a:lnTo>
                    <a:pt x="409575" y="0"/>
                  </a:lnTo>
                  <a:moveTo>
                    <a:pt x="161925" y="419100"/>
                  </a:moveTo>
                  <a:lnTo>
                    <a:pt x="409575" y="419100"/>
                  </a:lnTo>
                  <a:moveTo>
                    <a:pt x="161925" y="838200"/>
                  </a:moveTo>
                  <a:lnTo>
                    <a:pt x="409575" y="838200"/>
                  </a:lnTo>
                  <a:moveTo>
                    <a:pt x="161925" y="1257300"/>
                  </a:moveTo>
                  <a:lnTo>
                    <a:pt x="409575" y="1257300"/>
                  </a:lnTo>
                </a:path>
              </a:pathLst>
            </a:custGeom>
            <a:noFill/>
            <a:ln w="12382">
              <a:solidFill>
                <a:srgbClr val="ECC1B8"/>
              </a:solidFill>
            </a:ln>
          </p:spPr>
        </p:sp>
        <p:sp>
          <p:nvSpPr>
            <p:cNvPr id="32" name="Rectangle 32"/>
            <p:cNvSpPr/>
            <p:nvPr/>
          </p:nvSpPr>
          <p:spPr>
            <a:xfrm>
              <a:off x="3333750" y="1600200"/>
              <a:ext cx="1143000" cy="266700"/>
            </a:xfrm>
            <a:prstGeom prst="roundRect">
              <a:avLst>
                <a:gd name="adj" fmla="val 50000"/>
              </a:avLst>
            </a:prstGeom>
            <a:solidFill>
              <a:srgbClr val="FFFFFF"/>
            </a:solidFill>
            <a:ln w="11430">
              <a:solidFill>
                <a:srgbClr val="C45F4A"/>
              </a:solidFill>
            </a:ln>
          </p:spPr>
        </p:sp>
        <p:sp>
          <p:nvSpPr>
            <p:cNvPr id="33" name="TextBox 33"/>
            <p:cNvSpPr txBox="1"/>
            <p:nvPr/>
          </p:nvSpPr>
          <p:spPr>
            <a:xfrm>
              <a:off x="3673716" y="1684020"/>
              <a:ext cx="46306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主管A​​</a:t>
              </a:r>
            </a:p>
          </p:txBody>
        </p:sp>
        <p:sp>
          <p:nvSpPr>
            <p:cNvPr id="34" name="Rectangle 34"/>
            <p:cNvSpPr/>
            <p:nvPr/>
          </p:nvSpPr>
          <p:spPr>
            <a:xfrm>
              <a:off x="3333750" y="2019300"/>
              <a:ext cx="1143000" cy="266700"/>
            </a:xfrm>
            <a:prstGeom prst="roundRect">
              <a:avLst>
                <a:gd name="adj" fmla="val 50000"/>
              </a:avLst>
            </a:prstGeom>
            <a:solidFill>
              <a:srgbClr val="FFFFFF"/>
            </a:solidFill>
            <a:ln w="11430">
              <a:solidFill>
                <a:srgbClr val="C45F4A"/>
              </a:solidFill>
            </a:ln>
          </p:spPr>
        </p:sp>
        <p:sp>
          <p:nvSpPr>
            <p:cNvPr id="35" name="TextBox 35"/>
            <p:cNvSpPr txBox="1"/>
            <p:nvPr/>
          </p:nvSpPr>
          <p:spPr>
            <a:xfrm>
              <a:off x="3673716" y="2103120"/>
              <a:ext cx="46306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主管B​​</a:t>
              </a:r>
            </a:p>
          </p:txBody>
        </p:sp>
        <p:sp>
          <p:nvSpPr>
            <p:cNvPr id="36" name="Rectangle 36"/>
            <p:cNvSpPr/>
            <p:nvPr/>
          </p:nvSpPr>
          <p:spPr>
            <a:xfrm>
              <a:off x="3333750" y="2438400"/>
              <a:ext cx="1143000" cy="266700"/>
            </a:xfrm>
            <a:prstGeom prst="roundRect">
              <a:avLst>
                <a:gd name="adj" fmla="val 50000"/>
              </a:avLst>
            </a:prstGeom>
            <a:solidFill>
              <a:srgbClr val="FFFFFF"/>
            </a:solidFill>
            <a:ln w="11430">
              <a:solidFill>
                <a:srgbClr val="C45F4A"/>
              </a:solidFill>
            </a:ln>
          </p:spPr>
        </p:sp>
        <p:sp>
          <p:nvSpPr>
            <p:cNvPr id="37" name="TextBox 37"/>
            <p:cNvSpPr txBox="1"/>
            <p:nvPr/>
          </p:nvSpPr>
          <p:spPr>
            <a:xfrm>
              <a:off x="3673716" y="2522220"/>
              <a:ext cx="46306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主管C​​</a:t>
              </a:r>
            </a:p>
          </p:txBody>
        </p:sp>
        <p:sp>
          <p:nvSpPr>
            <p:cNvPr id="38" name="Rectangle 38"/>
            <p:cNvSpPr/>
            <p:nvPr/>
          </p:nvSpPr>
          <p:spPr>
            <a:xfrm>
              <a:off x="3333750" y="2857500"/>
              <a:ext cx="1143000" cy="266700"/>
            </a:xfrm>
            <a:prstGeom prst="roundRect">
              <a:avLst>
                <a:gd name="adj" fmla="val 50000"/>
              </a:avLst>
            </a:prstGeom>
            <a:solidFill>
              <a:srgbClr val="FFFFFF"/>
            </a:solidFill>
            <a:ln w="11430">
              <a:solidFill>
                <a:srgbClr val="C45F4A"/>
              </a:solidFill>
            </a:ln>
          </p:spPr>
        </p:sp>
        <p:sp>
          <p:nvSpPr>
            <p:cNvPr id="39" name="TextBox 39"/>
            <p:cNvSpPr txBox="1"/>
            <p:nvPr/>
          </p:nvSpPr>
          <p:spPr>
            <a:xfrm>
              <a:off x="3673716" y="2941320"/>
              <a:ext cx="463067"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主管D​​</a:t>
              </a:r>
            </a:p>
          </p:txBody>
        </p:sp>
      </p:grpSp>
      <p:grpSp>
        <p:nvGrpSpPr>
          <p:cNvPr id="45" name="theme-1"/>
          <p:cNvGrpSpPr/>
          <p:nvPr/>
        </p:nvGrpSpPr>
        <p:grpSpPr>
          <a:xfrm>
            <a:off x="6053138" y="1543050"/>
            <a:ext cx="1621875" cy="1850707"/>
            <a:chOff x="6053138" y="1543050"/>
            <a:chExt cx="1621875" cy="1850707"/>
          </a:xfrm>
        </p:grpSpPr>
        <p:sp>
          <p:nvSpPr>
            <p:cNvPr id="41" name="Rectangle 41"/>
            <p:cNvSpPr/>
            <p:nvPr/>
          </p:nvSpPr>
          <p:spPr>
            <a:xfrm>
              <a:off x="6057900" y="1543050"/>
              <a:ext cx="1333500" cy="285750"/>
            </a:xfrm>
            <a:prstGeom prst="roundRect">
              <a:avLst>
                <a:gd name="adj" fmla="val 50000"/>
              </a:avLst>
            </a:prstGeom>
            <a:solidFill>
              <a:srgbClr val="E8634C"/>
            </a:solidFill>
            <a:ln>
              <a:noFill/>
            </a:ln>
          </p:spPr>
        </p:sp>
        <p:sp>
          <p:nvSpPr>
            <p:cNvPr id="42" name="TextBox 42"/>
            <p:cNvSpPr txBox="1"/>
            <p:nvPr/>
          </p:nvSpPr>
          <p:spPr>
            <a:xfrm>
              <a:off x="6311608" y="1633776"/>
              <a:ext cx="82608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青年人才培养</a:t>
              </a:r>
            </a:p>
          </p:txBody>
        </p:sp>
        <p:sp>
          <p:nvSpPr>
            <p:cNvPr id="43" name="TextBox 43"/>
            <p:cNvSpPr txBox="1"/>
            <p:nvPr/>
          </p:nvSpPr>
          <p:spPr>
            <a:xfrm>
              <a:off x="6053138" y="2002393"/>
              <a:ext cx="1423924" cy="931069"/>
            </a:xfrm>
            <a:prstGeom prst="rect">
              <a:avLst/>
            </a:prstGeom>
            <a:noFill/>
            <a:ln>
              <a:noFill/>
            </a:ln>
          </p:spPr>
          <p:txBody>
            <a:bodyPr wrap="none" lIns="0" tIns="0" rIns="0" bIns="0" anchor="t" anchorCtr="0">
              <a:spAutoFit/>
            </a:bodyPr>
            <a:lstStyle/>
            <a:p>
              <a:pPr algn="l">
                <a:lnSpc>
                  <a:spcPts val="1500"/>
                </a:lnSpc>
              </a:pPr>
              <a:r>
                <a:rPr lang="zh-CN" sz="860" dirty="0">
                  <a:solidFill>
                    <a:srgbClr val="543E3A"/>
                  </a:solidFill>
                  <a:latin typeface="+mn-lt"/>
                  <a:ea typeface="+mn-ea"/>
                  <a:cs typeface="+mn-cs"/>
                </a:rPr>
                <a:t>通过项目培养，选拔出30%​​</a:t>
              </a:r>
              <a:br/>
              <a:r>
                <a:rPr lang="zh-CN" sz="860" dirty="0">
                  <a:solidFill>
                    <a:srgbClr val="543E3A"/>
                  </a:solidFill>
                  <a:latin typeface="+mn-lt"/>
                  <a:ea typeface="+mn-ea"/>
                  <a:cs typeface="+mn-cs"/>
                </a:rPr>
                <a:t>的优秀青年人才作为银行未</a:t>
              </a:r>
              <a:br/>
              <a:r>
                <a:rPr lang="zh-CN" sz="860" dirty="0">
                  <a:solidFill>
                    <a:srgbClr val="543E3A"/>
                  </a:solidFill>
                  <a:latin typeface="+mn-lt"/>
                  <a:ea typeface="+mn-ea"/>
                  <a:cs typeface="+mn-cs"/>
                </a:rPr>
                <a:t>来业务发展的骨干力量，为</a:t>
              </a:r>
              <a:br/>
              <a:r>
                <a:rPr lang="zh-CN" sz="860" dirty="0">
                  <a:solidFill>
                    <a:srgbClr val="543E3A"/>
                  </a:solidFill>
                  <a:latin typeface="+mn-lt"/>
                  <a:ea typeface="+mn-ea"/>
                  <a:cs typeface="+mn-cs"/>
                </a:rPr>
                <a:t>其制定个性化的职业发展规</a:t>
              </a:r>
              <a:br/>
              <a:r>
                <a:rPr lang="zh-CN" sz="860" dirty="0">
                  <a:solidFill>
                    <a:srgbClr val="543E3A"/>
                  </a:solidFill>
                  <a:latin typeface="+mn-lt"/>
                  <a:ea typeface="+mn-ea"/>
                  <a:cs typeface="+mn-cs"/>
                </a:rPr>
                <a:t>划，加速其晋升通道。</a:t>
              </a:r>
            </a:p>
          </p:txBody>
        </p:sp>
        <p:sp>
          <p:nvSpPr>
            <p:cNvPr id="44" name="TextBox 44"/>
            <p:cNvSpPr txBox="1"/>
            <p:nvPr/>
          </p:nvSpPr>
          <p:spPr>
            <a:xfrm>
              <a:off x="6053138" y="3217545"/>
              <a:ext cx="1621875" cy="176212"/>
            </a:xfrm>
            <a:prstGeom prst="rect">
              <a:avLst/>
            </a:prstGeom>
            <a:noFill/>
            <a:ln>
              <a:noFill/>
            </a:ln>
          </p:spPr>
          <p:txBody>
            <a:bodyPr wrap="none" lIns="0" tIns="0" rIns="0" bIns="0" anchor="t" anchorCtr="0">
              <a:spAutoFit/>
            </a:bodyPr>
            <a:lstStyle/>
            <a:p>
              <a:pPr algn="l"/>
              <a:r>
                <a:rPr lang="zh-CN" sz="900" b="1" dirty="0">
                  <a:solidFill>
                    <a:srgbClr val="543E3A"/>
                  </a:solidFill>
                  <a:latin typeface="+mn-lt"/>
                  <a:ea typeface="+mn-ea"/>
                  <a:cs typeface="+mn-cs"/>
                </a:rPr>
                <a:t>周期：</a:t>
              </a:r>
              <a:r>
                <a:rPr lang="en-US" sz="900" b="1" dirty="0">
                  <a:solidFill>
                    <a:srgbClr val="E8634C"/>
                  </a:solidFill>
                  <a:latin typeface="+mn-lt"/>
                  <a:ea typeface="+mn-ea"/>
                  <a:cs typeface="+mn-cs"/>
                </a:rPr>
                <a:t>202X.03-202X.06</a:t>
              </a:r>
              <a:r>
                <a:rPr lang="zh-CN" sz="900" b="1" dirty="0">
                  <a:solidFill>
                    <a:srgbClr val="543E3A"/>
                  </a:solidFill>
                  <a:latin typeface="+mn-lt"/>
                  <a:ea typeface="+mn-ea"/>
                  <a:cs typeface="+mn-cs"/>
                </a:rPr>
                <a:t>​​</a:t>
              </a:r>
            </a:p>
          </p:txBody>
        </p:sp>
      </p:grpSp>
      <p:grpSp>
        <p:nvGrpSpPr>
          <p:cNvPr id="52" name="exec-1"/>
          <p:cNvGrpSpPr/>
          <p:nvPr/>
        </p:nvGrpSpPr>
        <p:grpSpPr>
          <a:xfrm>
            <a:off x="8911628" y="1562100"/>
            <a:ext cx="1828445" cy="1387316"/>
            <a:chOff x="8911628" y="1562100"/>
            <a:chExt cx="1828445" cy="1387316"/>
          </a:xfrm>
        </p:grpSpPr>
        <p:sp>
          <p:nvSpPr>
            <p:cNvPr id="46" name="Rectangle 46"/>
            <p:cNvSpPr/>
            <p:nvPr/>
          </p:nvSpPr>
          <p:spPr>
            <a:xfrm>
              <a:off x="8915400" y="1562100"/>
              <a:ext cx="247650" cy="190500"/>
            </a:xfrm>
            <a:prstGeom prst="roundRect">
              <a:avLst>
                <a:gd name="adj" fmla="val 20000"/>
              </a:avLst>
            </a:prstGeom>
            <a:solidFill>
              <a:srgbClr val="C45F4A"/>
            </a:solidFill>
            <a:ln>
              <a:noFill/>
            </a:ln>
          </p:spPr>
        </p:sp>
        <p:sp>
          <p:nvSpPr>
            <p:cNvPr id="47" name="TextBox 47"/>
            <p:cNvSpPr txBox="1"/>
            <p:nvPr/>
          </p:nvSpPr>
          <p:spPr>
            <a:xfrm>
              <a:off x="8911628" y="1619964"/>
              <a:ext cx="25519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01​​</a:t>
              </a:r>
            </a:p>
          </p:txBody>
        </p:sp>
        <p:sp>
          <p:nvSpPr>
            <p:cNvPr id="48" name="TextBox 48"/>
            <p:cNvSpPr txBox="1"/>
            <p:nvPr/>
          </p:nvSpPr>
          <p:spPr>
            <a:xfrm>
              <a:off x="9272588" y="1625441"/>
              <a:ext cx="1467485" cy="523875"/>
            </a:xfrm>
            <a:prstGeom prst="rect">
              <a:avLst/>
            </a:prstGeom>
            <a:noFill/>
            <a:ln>
              <a:noFill/>
            </a:ln>
          </p:spPr>
          <p:txBody>
            <a:bodyPr wrap="none" lIns="0" tIns="0" rIns="0" bIns="0" anchor="t" anchorCtr="0">
              <a:spAutoFit/>
            </a:bodyPr>
            <a:lstStyle/>
            <a:p>
              <a:pPr algn="l">
                <a:lnSpc>
                  <a:spcPts val="1425"/>
                </a:lnSpc>
              </a:pPr>
              <a:r>
                <a:rPr lang="zh-CN" sz="820" dirty="0">
                  <a:solidFill>
                    <a:srgbClr val="543E3A"/>
                  </a:solidFill>
                  <a:latin typeface="+mn-lt"/>
                  <a:ea typeface="+mn-ea"/>
                  <a:cs typeface="+mn-cs"/>
                </a:rPr>
                <a:t>领导小组不定期召开会议，研究</a:t>
              </a:r>
              <a:br/>
              <a:r>
                <a:rPr lang="zh-CN" sz="820" dirty="0">
                  <a:solidFill>
                    <a:srgbClr val="543E3A"/>
                  </a:solidFill>
                  <a:latin typeface="+mn-lt"/>
                  <a:ea typeface="+mn-ea"/>
                  <a:cs typeface="+mn-cs"/>
                </a:rPr>
                <a:t>分行人才队伍建设工作中遇到的</a:t>
              </a:r>
              <a:br/>
              <a:r>
                <a:rPr lang="zh-CN" sz="820" dirty="0">
                  <a:solidFill>
                    <a:srgbClr val="543E3A"/>
                  </a:solidFill>
                  <a:latin typeface="+mn-lt"/>
                  <a:ea typeface="+mn-ea"/>
                  <a:cs typeface="+mn-cs"/>
                </a:rPr>
                <a:t>重要问题和事项</a:t>
              </a:r>
            </a:p>
          </p:txBody>
        </p:sp>
        <p:sp>
          <p:nvSpPr>
            <p:cNvPr id="49" name="Rectangle 49"/>
            <p:cNvSpPr/>
            <p:nvPr/>
          </p:nvSpPr>
          <p:spPr>
            <a:xfrm>
              <a:off x="8915400" y="2362200"/>
              <a:ext cx="247650" cy="190500"/>
            </a:xfrm>
            <a:prstGeom prst="roundRect">
              <a:avLst>
                <a:gd name="adj" fmla="val 20000"/>
              </a:avLst>
            </a:prstGeom>
            <a:solidFill>
              <a:srgbClr val="C45F4A"/>
            </a:solidFill>
            <a:ln>
              <a:noFill/>
            </a:ln>
          </p:spPr>
        </p:sp>
        <p:sp>
          <p:nvSpPr>
            <p:cNvPr id="50" name="TextBox 50"/>
            <p:cNvSpPr txBox="1"/>
            <p:nvPr/>
          </p:nvSpPr>
          <p:spPr>
            <a:xfrm>
              <a:off x="8911628" y="2420064"/>
              <a:ext cx="25519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02​​</a:t>
              </a:r>
            </a:p>
          </p:txBody>
        </p:sp>
        <p:sp>
          <p:nvSpPr>
            <p:cNvPr id="51" name="TextBox 51"/>
            <p:cNvSpPr txBox="1"/>
            <p:nvPr/>
          </p:nvSpPr>
          <p:spPr>
            <a:xfrm>
              <a:off x="9272588" y="2425541"/>
              <a:ext cx="1467485" cy="523875"/>
            </a:xfrm>
            <a:prstGeom prst="rect">
              <a:avLst/>
            </a:prstGeom>
            <a:noFill/>
            <a:ln>
              <a:noFill/>
            </a:ln>
          </p:spPr>
          <p:txBody>
            <a:bodyPr wrap="none" lIns="0" tIns="0" rIns="0" bIns="0" anchor="t" anchorCtr="0">
              <a:spAutoFit/>
            </a:bodyPr>
            <a:lstStyle/>
            <a:p>
              <a:pPr algn="l">
                <a:lnSpc>
                  <a:spcPts val="1425"/>
                </a:lnSpc>
              </a:pPr>
              <a:r>
                <a:rPr lang="zh-CN" sz="820" dirty="0">
                  <a:solidFill>
                    <a:srgbClr val="543E3A"/>
                  </a:solidFill>
                  <a:latin typeface="+mn-lt"/>
                  <a:ea typeface="+mn-ea"/>
                  <a:cs typeface="+mn-cs"/>
                </a:rPr>
                <a:t>人力资源部作为牵头部门协调</a:t>
              </a:r>
              <a:br/>
              <a:r>
                <a:rPr lang="zh-CN" sz="820" dirty="0">
                  <a:solidFill>
                    <a:srgbClr val="543E3A"/>
                  </a:solidFill>
                  <a:latin typeface="+mn-lt"/>
                  <a:ea typeface="+mn-ea"/>
                  <a:cs typeface="+mn-cs"/>
                </a:rPr>
                <a:t>解决队伍建设过程中遇到的各</a:t>
              </a:r>
              <a:br/>
              <a:r>
                <a:rPr lang="zh-CN" sz="820" dirty="0">
                  <a:solidFill>
                    <a:srgbClr val="543E3A"/>
                  </a:solidFill>
                  <a:latin typeface="+mn-lt"/>
                  <a:ea typeface="+mn-ea"/>
                  <a:cs typeface="+mn-cs"/>
                </a:rPr>
                <a:t>类具体问题，并引领小组报告。</a:t>
              </a:r>
            </a:p>
          </p:txBody>
        </p:sp>
      </p:grpSp>
      <p:grpSp>
        <p:nvGrpSpPr>
          <p:cNvPr id="109" name="org-group-2"/>
          <p:cNvGrpSpPr/>
          <p:nvPr/>
        </p:nvGrpSpPr>
        <p:grpSpPr>
          <a:xfrm>
            <a:off x="409918" y="3743325"/>
            <a:ext cx="4559054" cy="1943100"/>
            <a:chOff x="409918" y="3743325"/>
            <a:chExt cx="4559054" cy="1943100"/>
          </a:xfrm>
        </p:grpSpPr>
        <p:sp>
          <p:nvSpPr>
            <p:cNvPr id="53" name="Freeform 53"/>
            <p:cNvSpPr/>
            <p:nvPr/>
          </p:nvSpPr>
          <p:spPr>
            <a:xfrm>
              <a:off x="1276350" y="3981450"/>
              <a:ext cx="2686050" cy="1466850"/>
            </a:xfrm>
            <a:custGeom>
              <a:avLst/>
              <a:gdLst/>
              <a:ahLst/>
              <a:cxnLst/>
              <a:rect l="l" t="t" r="r" b="b"/>
              <a:pathLst>
                <a:path w="2686050" h="1466850">
                  <a:moveTo>
                    <a:pt x="1581150" y="133350"/>
                  </a:moveTo>
                  <a:lnTo>
                    <a:pt x="857250" y="0"/>
                  </a:lnTo>
                  <a:moveTo>
                    <a:pt x="1581150" y="381000"/>
                  </a:moveTo>
                  <a:lnTo>
                    <a:pt x="857250" y="1466850"/>
                  </a:lnTo>
                  <a:moveTo>
                    <a:pt x="1504950" y="285750"/>
                  </a:moveTo>
                  <a:lnTo>
                    <a:pt x="0" y="704850"/>
                  </a:lnTo>
                  <a:moveTo>
                    <a:pt x="1962150" y="133350"/>
                  </a:moveTo>
                  <a:lnTo>
                    <a:pt x="2686050" y="0"/>
                  </a:lnTo>
                  <a:moveTo>
                    <a:pt x="2038350" y="285750"/>
                  </a:moveTo>
                  <a:lnTo>
                    <a:pt x="2686050" y="704850"/>
                  </a:lnTo>
                  <a:moveTo>
                    <a:pt x="1962150" y="381000"/>
                  </a:moveTo>
                  <a:lnTo>
                    <a:pt x="2686050" y="1466850"/>
                  </a:lnTo>
                </a:path>
              </a:pathLst>
            </a:custGeom>
            <a:noFill/>
            <a:ln w="12382">
              <a:solidFill>
                <a:srgbClr val="C7CDF0"/>
              </a:solidFill>
            </a:ln>
          </p:spPr>
        </p:sp>
        <p:sp>
          <p:nvSpPr>
            <p:cNvPr id="54" name="Ellipse 54"/>
            <p:cNvSpPr/>
            <p:nvPr/>
          </p:nvSpPr>
          <p:spPr>
            <a:xfrm>
              <a:off x="2781300" y="3971925"/>
              <a:ext cx="533400" cy="533400"/>
            </a:xfrm>
            <a:prstGeom prst="ellipse">
              <a:avLst/>
            </a:prstGeom>
            <a:solidFill>
              <a:srgbClr val="D8DEF2"/>
            </a:solidFill>
            <a:ln>
              <a:noFill/>
            </a:ln>
          </p:spPr>
        </p:sp>
        <p:grpSp>
          <p:nvGrpSpPr>
            <p:cNvPr id="59" name="Group 59"/>
            <p:cNvGrpSpPr/>
            <p:nvPr/>
          </p:nvGrpSpPr>
          <p:grpSpPr>
            <a:xfrm>
              <a:off x="2933700" y="4124325"/>
              <a:ext cx="228599" cy="228600"/>
              <a:chOff x="2933700" y="4124325"/>
              <a:chExt cx="228599" cy="228600"/>
            </a:xfrm>
          </p:grpSpPr>
          <p:sp>
            <p:nvSpPr>
              <p:cNvPr id="55" name="Freeform 55"/>
              <p:cNvSpPr/>
              <p:nvPr/>
            </p:nvSpPr>
            <p:spPr>
              <a:xfrm>
                <a:off x="2959100" y="4124325"/>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rgbClr val="C45F4A"/>
                </a:solidFill>
              </a:ln>
            </p:spPr>
          </p:sp>
          <p:sp>
            <p:nvSpPr>
              <p:cNvPr id="56" name="Freeform 56"/>
              <p:cNvSpPr/>
              <p:nvPr/>
            </p:nvSpPr>
            <p:spPr>
              <a:xfrm>
                <a:off x="2933700" y="4276725"/>
                <a:ext cx="152400" cy="76200"/>
              </a:xfrm>
              <a:custGeom>
                <a:avLst/>
                <a:gdLst/>
                <a:ahLst/>
                <a:cxnLst/>
                <a:rect l="l" t="t" r="r" b="b"/>
                <a:pathLst>
                  <a:path w="152400" h="76200">
                    <a:moveTo>
                      <a:pt x="0" y="76200"/>
                    </a:moveTo>
                    <a:lnTo>
                      <a:pt x="0" y="50800"/>
                    </a:lnTo>
                    <a:cubicBezTo>
                      <a:pt x="0" y="22744"/>
                      <a:pt x="22744" y="0"/>
                      <a:pt x="50800" y="0"/>
                    </a:cubicBezTo>
                    <a:lnTo>
                      <a:pt x="101600" y="0"/>
                    </a:lnTo>
                    <a:cubicBezTo>
                      <a:pt x="129656" y="0"/>
                      <a:pt x="152400" y="22744"/>
                      <a:pt x="152400" y="50800"/>
                    </a:cubicBezTo>
                    <a:lnTo>
                      <a:pt x="152400" y="76200"/>
                    </a:lnTo>
                  </a:path>
                </a:pathLst>
              </a:custGeom>
              <a:noFill/>
              <a:ln w="25400">
                <a:solidFill>
                  <a:srgbClr val="C45F4A"/>
                </a:solidFill>
              </a:ln>
            </p:spPr>
          </p:sp>
          <p:sp>
            <p:nvSpPr>
              <p:cNvPr id="57" name="Freeform 57"/>
              <p:cNvSpPr/>
              <p:nvPr/>
            </p:nvSpPr>
            <p:spPr>
              <a:xfrm>
                <a:off x="3098799" y="4125976"/>
                <a:ext cx="38200" cy="98425"/>
              </a:xfrm>
              <a:custGeom>
                <a:avLst/>
                <a:gdLst/>
                <a:ahLst/>
                <a:cxnLst/>
                <a:rect l="l" t="t" r="r" b="b"/>
                <a:pathLst>
                  <a:path w="38200" h="98425">
                    <a:moveTo>
                      <a:pt x="0" y="0"/>
                    </a:moveTo>
                    <a:cubicBezTo>
                      <a:pt x="22478" y="5755"/>
                      <a:pt x="38200" y="26009"/>
                      <a:pt x="38200" y="49212"/>
                    </a:cubicBezTo>
                    <a:cubicBezTo>
                      <a:pt x="38200" y="72415"/>
                      <a:pt x="22478" y="92670"/>
                      <a:pt x="0" y="98425"/>
                    </a:cubicBezTo>
                  </a:path>
                </a:pathLst>
              </a:custGeom>
              <a:noFill/>
              <a:ln w="25400">
                <a:solidFill>
                  <a:srgbClr val="C45F4A"/>
                </a:solidFill>
              </a:ln>
            </p:spPr>
          </p:sp>
          <p:sp>
            <p:nvSpPr>
              <p:cNvPr id="58" name="Freeform 58"/>
              <p:cNvSpPr/>
              <p:nvPr/>
            </p:nvSpPr>
            <p:spPr>
              <a:xfrm>
                <a:off x="3124199" y="4278630"/>
                <a:ext cx="38100" cy="74295"/>
              </a:xfrm>
              <a:custGeom>
                <a:avLst/>
                <a:gdLst/>
                <a:ahLst/>
                <a:cxnLst/>
                <a:rect l="l" t="t" r="r" b="b"/>
                <a:pathLst>
                  <a:path w="38100" h="74295">
                    <a:moveTo>
                      <a:pt x="38100" y="74295"/>
                    </a:moveTo>
                    <a:lnTo>
                      <a:pt x="38100" y="48895"/>
                    </a:lnTo>
                    <a:cubicBezTo>
                      <a:pt x="37967" y="25839"/>
                      <a:pt x="22324" y="5764"/>
                      <a:pt x="0" y="0"/>
                    </a:cubicBezTo>
                  </a:path>
                </a:pathLst>
              </a:custGeom>
              <a:noFill/>
              <a:ln w="25400">
                <a:solidFill>
                  <a:srgbClr val="C45F4A"/>
                </a:solidFill>
              </a:ln>
            </p:spPr>
          </p:sp>
        </p:grpSp>
        <p:sp>
          <p:nvSpPr>
            <p:cNvPr id="60" name="Rectangle 60"/>
            <p:cNvSpPr/>
            <p:nvPr/>
          </p:nvSpPr>
          <p:spPr>
            <a:xfrm>
              <a:off x="2381250" y="4629150"/>
              <a:ext cx="1333500" cy="323850"/>
            </a:xfrm>
            <a:prstGeom prst="roundRect">
              <a:avLst>
                <a:gd name="adj" fmla="val 50000"/>
              </a:avLst>
            </a:prstGeom>
            <a:solidFill>
              <a:srgbClr val="C45F4A"/>
            </a:solidFill>
            <a:ln>
              <a:noFill/>
            </a:ln>
          </p:spPr>
        </p:sp>
        <p:sp>
          <p:nvSpPr>
            <p:cNvPr id="61" name="TextBox 61"/>
            <p:cNvSpPr txBox="1"/>
            <p:nvPr/>
          </p:nvSpPr>
          <p:spPr>
            <a:xfrm>
              <a:off x="2838907" y="4738926"/>
              <a:ext cx="418186"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组长：</a:t>
              </a:r>
            </a:p>
          </p:txBody>
        </p:sp>
        <p:sp>
          <p:nvSpPr>
            <p:cNvPr id="62" name="TextBox 62"/>
            <p:cNvSpPr txBox="1"/>
            <p:nvPr/>
          </p:nvSpPr>
          <p:spPr>
            <a:xfrm>
              <a:off x="2790152" y="5118497"/>
              <a:ext cx="515696" cy="183356"/>
            </a:xfrm>
            <a:prstGeom prst="rect">
              <a:avLst/>
            </a:prstGeom>
            <a:noFill/>
            <a:ln>
              <a:noFill/>
            </a:ln>
          </p:spPr>
          <p:txBody>
            <a:bodyPr wrap="none" lIns="0" tIns="0" rIns="0" bIns="0" anchor="t" anchorCtr="0">
              <a:spAutoFit/>
            </a:bodyPr>
            <a:lstStyle/>
            <a:p>
              <a:pPr algn="ctr"/>
              <a:r>
                <a:rPr lang="zh-CN" sz="940" b="1" dirty="0">
                  <a:solidFill>
                    <a:srgbClr val="543E3A"/>
                  </a:solidFill>
                  <a:latin typeface="+mn-lt"/>
                  <a:ea typeface="+mn-ea"/>
                  <a:cs typeface="+mn-cs"/>
                </a:rPr>
                <a:t>人事经理</a:t>
              </a:r>
            </a:p>
          </p:txBody>
        </p:sp>
        <p:sp>
          <p:nvSpPr>
            <p:cNvPr id="63" name="Ellipse 63"/>
            <p:cNvSpPr/>
            <p:nvPr/>
          </p:nvSpPr>
          <p:spPr>
            <a:xfrm>
              <a:off x="1695450" y="3743325"/>
              <a:ext cx="419100" cy="419100"/>
            </a:xfrm>
            <a:prstGeom prst="ellipse">
              <a:avLst/>
            </a:prstGeom>
            <a:solidFill>
              <a:srgbClr val="D8DEF2"/>
            </a:solidFill>
            <a:ln>
              <a:noFill/>
            </a:ln>
          </p:spPr>
        </p:sp>
        <p:grpSp>
          <p:nvGrpSpPr>
            <p:cNvPr id="68" name="Group 68"/>
            <p:cNvGrpSpPr/>
            <p:nvPr/>
          </p:nvGrpSpPr>
          <p:grpSpPr>
            <a:xfrm>
              <a:off x="1804988" y="3852863"/>
              <a:ext cx="200026" cy="200025"/>
              <a:chOff x="1804988" y="3852863"/>
              <a:chExt cx="200026" cy="200025"/>
            </a:xfrm>
          </p:grpSpPr>
          <p:sp>
            <p:nvSpPr>
              <p:cNvPr id="64" name="Freeform 64"/>
              <p:cNvSpPr/>
              <p:nvPr/>
            </p:nvSpPr>
            <p:spPr>
              <a:xfrm>
                <a:off x="1827213" y="385286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E08C7B"/>
                </a:solidFill>
              </a:ln>
            </p:spPr>
          </p:sp>
          <p:sp>
            <p:nvSpPr>
              <p:cNvPr id="65" name="Freeform 65"/>
              <p:cNvSpPr/>
              <p:nvPr/>
            </p:nvSpPr>
            <p:spPr>
              <a:xfrm>
                <a:off x="1804988" y="3986213"/>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E08C7B"/>
                </a:solidFill>
              </a:ln>
            </p:spPr>
          </p:sp>
          <p:sp>
            <p:nvSpPr>
              <p:cNvPr id="66" name="Freeform 66"/>
              <p:cNvSpPr/>
              <p:nvPr/>
            </p:nvSpPr>
            <p:spPr>
              <a:xfrm>
                <a:off x="1949451" y="3854307"/>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E08C7B"/>
                </a:solidFill>
              </a:ln>
            </p:spPr>
          </p:sp>
          <p:sp>
            <p:nvSpPr>
              <p:cNvPr id="67" name="Freeform 67"/>
              <p:cNvSpPr/>
              <p:nvPr/>
            </p:nvSpPr>
            <p:spPr>
              <a:xfrm>
                <a:off x="1971676" y="3987880"/>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E08C7B"/>
                </a:solidFill>
              </a:ln>
            </p:spPr>
          </p:sp>
        </p:grpSp>
        <p:sp>
          <p:nvSpPr>
            <p:cNvPr id="69" name="TextBox 69"/>
            <p:cNvSpPr txBox="1"/>
            <p:nvPr/>
          </p:nvSpPr>
          <p:spPr>
            <a:xfrm>
              <a:off x="1171011" y="3754993"/>
              <a:ext cx="453002" cy="169069"/>
            </a:xfrm>
            <a:prstGeom prst="rect">
              <a:avLst/>
            </a:prstGeom>
            <a:noFill/>
            <a:ln>
              <a:noFill/>
            </a:ln>
          </p:spPr>
          <p:txBody>
            <a:bodyPr wrap="none" lIns="0" tIns="0" rIns="0" bIns="0" anchor="t" anchorCtr="0">
              <a:spAutoFit/>
            </a:bodyPr>
            <a:lstStyle/>
            <a:p>
              <a:pPr algn="r"/>
              <a:r>
                <a:rPr lang="zh-CN" sz="860" b="1" dirty="0">
                  <a:solidFill>
                    <a:srgbClr val="543E3A"/>
                  </a:solidFill>
                  <a:latin typeface="+mn-lt"/>
                  <a:ea typeface="+mn-ea"/>
                  <a:cs typeface="+mn-cs"/>
                </a:rPr>
                <a:t>导师A​​</a:t>
              </a:r>
            </a:p>
          </p:txBody>
        </p:sp>
        <p:sp>
          <p:nvSpPr>
            <p:cNvPr id="70" name="TextBox 70"/>
            <p:cNvSpPr txBox="1"/>
            <p:nvPr/>
          </p:nvSpPr>
          <p:spPr>
            <a:xfrm>
              <a:off x="1127028" y="3923586"/>
              <a:ext cx="496984" cy="140494"/>
            </a:xfrm>
            <a:prstGeom prst="rect">
              <a:avLst/>
            </a:prstGeom>
            <a:noFill/>
            <a:ln>
              <a:noFill/>
            </a:ln>
          </p:spPr>
          <p:txBody>
            <a:bodyPr wrap="none" lIns="0" tIns="0" rIns="0" bIns="0" anchor="t" anchorCtr="0">
              <a:spAutoFit/>
            </a:bodyPr>
            <a:lstStyle/>
            <a:p>
              <a:pPr algn="r"/>
              <a:r>
                <a:rPr lang="zh-CN" sz="710" dirty="0">
                  <a:solidFill>
                    <a:srgbClr val="88706B"/>
                  </a:solidFill>
                  <a:latin typeface="+mn-lt"/>
                  <a:ea typeface="+mn-ea"/>
                  <a:cs typeface="+mn-cs"/>
                </a:rPr>
                <a:t>(分行主管)</a:t>
              </a:r>
            </a:p>
          </p:txBody>
        </p:sp>
        <p:sp>
          <p:nvSpPr>
            <p:cNvPr id="71" name="Ellipse 71"/>
            <p:cNvSpPr/>
            <p:nvPr/>
          </p:nvSpPr>
          <p:spPr>
            <a:xfrm>
              <a:off x="1695450" y="5267325"/>
              <a:ext cx="419100" cy="419100"/>
            </a:xfrm>
            <a:prstGeom prst="ellipse">
              <a:avLst/>
            </a:prstGeom>
            <a:solidFill>
              <a:srgbClr val="D8DEF2"/>
            </a:solidFill>
            <a:ln>
              <a:noFill/>
            </a:ln>
          </p:spPr>
        </p:sp>
        <p:grpSp>
          <p:nvGrpSpPr>
            <p:cNvPr id="76" name="Group 76"/>
            <p:cNvGrpSpPr/>
            <p:nvPr/>
          </p:nvGrpSpPr>
          <p:grpSpPr>
            <a:xfrm>
              <a:off x="1804988" y="5376863"/>
              <a:ext cx="200026" cy="200025"/>
              <a:chOff x="1804988" y="5376863"/>
              <a:chExt cx="200026" cy="200025"/>
            </a:xfrm>
          </p:grpSpPr>
          <p:sp>
            <p:nvSpPr>
              <p:cNvPr id="72" name="Freeform 72"/>
              <p:cNvSpPr/>
              <p:nvPr/>
            </p:nvSpPr>
            <p:spPr>
              <a:xfrm>
                <a:off x="1827213" y="537686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E08C7B"/>
                </a:solidFill>
              </a:ln>
            </p:spPr>
          </p:sp>
          <p:sp>
            <p:nvSpPr>
              <p:cNvPr id="73" name="Freeform 73"/>
              <p:cNvSpPr/>
              <p:nvPr/>
            </p:nvSpPr>
            <p:spPr>
              <a:xfrm>
                <a:off x="1804988" y="5510213"/>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E08C7B"/>
                </a:solidFill>
              </a:ln>
            </p:spPr>
          </p:sp>
          <p:sp>
            <p:nvSpPr>
              <p:cNvPr id="74" name="Freeform 74"/>
              <p:cNvSpPr/>
              <p:nvPr/>
            </p:nvSpPr>
            <p:spPr>
              <a:xfrm>
                <a:off x="1949451" y="5378307"/>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E08C7B"/>
                </a:solidFill>
              </a:ln>
            </p:spPr>
          </p:sp>
          <p:sp>
            <p:nvSpPr>
              <p:cNvPr id="75" name="Freeform 75"/>
              <p:cNvSpPr/>
              <p:nvPr/>
            </p:nvSpPr>
            <p:spPr>
              <a:xfrm>
                <a:off x="1971676" y="5511880"/>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E08C7B"/>
                </a:solidFill>
              </a:ln>
            </p:spPr>
          </p:sp>
        </p:grpSp>
        <p:sp>
          <p:nvSpPr>
            <p:cNvPr id="77" name="TextBox 77"/>
            <p:cNvSpPr txBox="1"/>
            <p:nvPr/>
          </p:nvSpPr>
          <p:spPr>
            <a:xfrm>
              <a:off x="1171011" y="5278993"/>
              <a:ext cx="453002" cy="169069"/>
            </a:xfrm>
            <a:prstGeom prst="rect">
              <a:avLst/>
            </a:prstGeom>
            <a:noFill/>
            <a:ln>
              <a:noFill/>
            </a:ln>
          </p:spPr>
          <p:txBody>
            <a:bodyPr wrap="none" lIns="0" tIns="0" rIns="0" bIns="0" anchor="t" anchorCtr="0">
              <a:spAutoFit/>
            </a:bodyPr>
            <a:lstStyle/>
            <a:p>
              <a:pPr algn="r"/>
              <a:r>
                <a:rPr lang="zh-CN" sz="860" b="1" dirty="0">
                  <a:solidFill>
                    <a:srgbClr val="543E3A"/>
                  </a:solidFill>
                  <a:latin typeface="+mn-lt"/>
                  <a:ea typeface="+mn-ea"/>
                  <a:cs typeface="+mn-cs"/>
                </a:rPr>
                <a:t>导师B​​</a:t>
              </a:r>
            </a:p>
          </p:txBody>
        </p:sp>
        <p:sp>
          <p:nvSpPr>
            <p:cNvPr id="78" name="TextBox 78"/>
            <p:cNvSpPr txBox="1"/>
            <p:nvPr/>
          </p:nvSpPr>
          <p:spPr>
            <a:xfrm>
              <a:off x="1127028" y="5447586"/>
              <a:ext cx="496984" cy="140494"/>
            </a:xfrm>
            <a:prstGeom prst="rect">
              <a:avLst/>
            </a:prstGeom>
            <a:noFill/>
            <a:ln>
              <a:noFill/>
            </a:ln>
          </p:spPr>
          <p:txBody>
            <a:bodyPr wrap="none" lIns="0" tIns="0" rIns="0" bIns="0" anchor="t" anchorCtr="0">
              <a:spAutoFit/>
            </a:bodyPr>
            <a:lstStyle/>
            <a:p>
              <a:pPr algn="r"/>
              <a:r>
                <a:rPr lang="zh-CN" sz="710" dirty="0">
                  <a:solidFill>
                    <a:srgbClr val="88706B"/>
                  </a:solidFill>
                  <a:latin typeface="+mn-lt"/>
                  <a:ea typeface="+mn-ea"/>
                  <a:cs typeface="+mn-cs"/>
                </a:rPr>
                <a:t>(分行主管)</a:t>
              </a:r>
            </a:p>
          </p:txBody>
        </p:sp>
        <p:sp>
          <p:nvSpPr>
            <p:cNvPr id="79" name="Ellipse 79"/>
            <p:cNvSpPr/>
            <p:nvPr/>
          </p:nvSpPr>
          <p:spPr>
            <a:xfrm>
              <a:off x="838200" y="4505325"/>
              <a:ext cx="419100" cy="419100"/>
            </a:xfrm>
            <a:prstGeom prst="ellipse">
              <a:avLst/>
            </a:prstGeom>
            <a:solidFill>
              <a:srgbClr val="D8DEF2"/>
            </a:solidFill>
            <a:ln>
              <a:noFill/>
            </a:ln>
          </p:spPr>
        </p:sp>
        <p:grpSp>
          <p:nvGrpSpPr>
            <p:cNvPr id="84" name="Group 84"/>
            <p:cNvGrpSpPr/>
            <p:nvPr/>
          </p:nvGrpSpPr>
          <p:grpSpPr>
            <a:xfrm>
              <a:off x="947738" y="4614863"/>
              <a:ext cx="200026" cy="200025"/>
              <a:chOff x="947738" y="4614863"/>
              <a:chExt cx="200026" cy="200025"/>
            </a:xfrm>
          </p:grpSpPr>
          <p:sp>
            <p:nvSpPr>
              <p:cNvPr id="80" name="Freeform 80"/>
              <p:cNvSpPr/>
              <p:nvPr/>
            </p:nvSpPr>
            <p:spPr>
              <a:xfrm>
                <a:off x="969963" y="461486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E08C7B"/>
                </a:solidFill>
              </a:ln>
            </p:spPr>
          </p:sp>
          <p:sp>
            <p:nvSpPr>
              <p:cNvPr id="81" name="Freeform 81"/>
              <p:cNvSpPr/>
              <p:nvPr/>
            </p:nvSpPr>
            <p:spPr>
              <a:xfrm>
                <a:off x="947738" y="4748213"/>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E08C7B"/>
                </a:solidFill>
              </a:ln>
            </p:spPr>
          </p:sp>
          <p:sp>
            <p:nvSpPr>
              <p:cNvPr id="82" name="Freeform 82"/>
              <p:cNvSpPr/>
              <p:nvPr/>
            </p:nvSpPr>
            <p:spPr>
              <a:xfrm>
                <a:off x="1092201" y="4616307"/>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E08C7B"/>
                </a:solidFill>
              </a:ln>
            </p:spPr>
          </p:sp>
          <p:sp>
            <p:nvSpPr>
              <p:cNvPr id="83" name="Freeform 83"/>
              <p:cNvSpPr/>
              <p:nvPr/>
            </p:nvSpPr>
            <p:spPr>
              <a:xfrm>
                <a:off x="1114426" y="4749880"/>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E08C7B"/>
                </a:solidFill>
              </a:ln>
            </p:spPr>
          </p:sp>
        </p:grpSp>
        <p:sp>
          <p:nvSpPr>
            <p:cNvPr id="85" name="TextBox 85"/>
            <p:cNvSpPr txBox="1"/>
            <p:nvPr/>
          </p:nvSpPr>
          <p:spPr>
            <a:xfrm>
              <a:off x="409918" y="4402693"/>
              <a:ext cx="356845" cy="169069"/>
            </a:xfrm>
            <a:prstGeom prst="rect">
              <a:avLst/>
            </a:prstGeom>
            <a:noFill/>
            <a:ln>
              <a:noFill/>
            </a:ln>
          </p:spPr>
          <p:txBody>
            <a:bodyPr wrap="none" lIns="0" tIns="0" rIns="0" bIns="0" anchor="t" anchorCtr="0">
              <a:spAutoFit/>
            </a:bodyPr>
            <a:lstStyle/>
            <a:p>
              <a:pPr algn="r"/>
              <a:r>
                <a:rPr lang="zh-CN" sz="860" b="1" dirty="0">
                  <a:solidFill>
                    <a:srgbClr val="543E3A"/>
                  </a:solidFill>
                  <a:latin typeface="+mn-lt"/>
                  <a:ea typeface="+mn-ea"/>
                  <a:cs typeface="+mn-cs"/>
                </a:rPr>
                <a:t>联络员</a:t>
              </a:r>
            </a:p>
          </p:txBody>
        </p:sp>
        <p:sp>
          <p:nvSpPr>
            <p:cNvPr id="86" name="Ellipse 86"/>
            <p:cNvSpPr/>
            <p:nvPr/>
          </p:nvSpPr>
          <p:spPr>
            <a:xfrm>
              <a:off x="3981450" y="3743325"/>
              <a:ext cx="419100" cy="419100"/>
            </a:xfrm>
            <a:prstGeom prst="ellipse">
              <a:avLst/>
            </a:prstGeom>
            <a:solidFill>
              <a:srgbClr val="D8DEF2"/>
            </a:solidFill>
            <a:ln>
              <a:noFill/>
            </a:ln>
          </p:spPr>
        </p:sp>
        <p:grpSp>
          <p:nvGrpSpPr>
            <p:cNvPr id="91" name="Group 91"/>
            <p:cNvGrpSpPr/>
            <p:nvPr/>
          </p:nvGrpSpPr>
          <p:grpSpPr>
            <a:xfrm>
              <a:off x="4090988" y="3852863"/>
              <a:ext cx="200026" cy="200025"/>
              <a:chOff x="4090988" y="3852863"/>
              <a:chExt cx="200026" cy="200025"/>
            </a:xfrm>
          </p:grpSpPr>
          <p:sp>
            <p:nvSpPr>
              <p:cNvPr id="87" name="Freeform 87"/>
              <p:cNvSpPr/>
              <p:nvPr/>
            </p:nvSpPr>
            <p:spPr>
              <a:xfrm>
                <a:off x="4113213" y="385286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E08C7B"/>
                </a:solidFill>
              </a:ln>
            </p:spPr>
          </p:sp>
          <p:sp>
            <p:nvSpPr>
              <p:cNvPr id="88" name="Freeform 88"/>
              <p:cNvSpPr/>
              <p:nvPr/>
            </p:nvSpPr>
            <p:spPr>
              <a:xfrm>
                <a:off x="4090988" y="3986213"/>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E08C7B"/>
                </a:solidFill>
              </a:ln>
            </p:spPr>
          </p:sp>
          <p:sp>
            <p:nvSpPr>
              <p:cNvPr id="89" name="Freeform 89"/>
              <p:cNvSpPr/>
              <p:nvPr/>
            </p:nvSpPr>
            <p:spPr>
              <a:xfrm>
                <a:off x="4235451" y="3854307"/>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E08C7B"/>
                </a:solidFill>
              </a:ln>
            </p:spPr>
          </p:sp>
          <p:sp>
            <p:nvSpPr>
              <p:cNvPr id="90" name="Freeform 90"/>
              <p:cNvSpPr/>
              <p:nvPr/>
            </p:nvSpPr>
            <p:spPr>
              <a:xfrm>
                <a:off x="4257676" y="3987880"/>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E08C7B"/>
                </a:solidFill>
              </a:ln>
            </p:spPr>
          </p:sp>
        </p:grpSp>
        <p:sp>
          <p:nvSpPr>
            <p:cNvPr id="92" name="TextBox 92"/>
            <p:cNvSpPr txBox="1"/>
            <p:nvPr/>
          </p:nvSpPr>
          <p:spPr>
            <a:xfrm>
              <a:off x="4471988" y="3754993"/>
              <a:ext cx="453002" cy="169069"/>
            </a:xfrm>
            <a:prstGeom prst="rect">
              <a:avLst/>
            </a:prstGeom>
            <a:noFill/>
            <a:ln>
              <a:noFill/>
            </a:ln>
          </p:spPr>
          <p:txBody>
            <a:bodyPr wrap="none" lIns="0" tIns="0" rIns="0" bIns="0" anchor="t" anchorCtr="0">
              <a:spAutoFit/>
            </a:bodyPr>
            <a:lstStyle/>
            <a:p>
              <a:pPr algn="l"/>
              <a:r>
                <a:rPr lang="zh-CN" sz="860" b="1" dirty="0">
                  <a:solidFill>
                    <a:srgbClr val="543E3A"/>
                  </a:solidFill>
                  <a:latin typeface="+mn-lt"/>
                  <a:ea typeface="+mn-ea"/>
                  <a:cs typeface="+mn-cs"/>
                </a:rPr>
                <a:t>导师C​​</a:t>
              </a:r>
            </a:p>
          </p:txBody>
        </p:sp>
        <p:sp>
          <p:nvSpPr>
            <p:cNvPr id="93" name="TextBox 93"/>
            <p:cNvSpPr txBox="1"/>
            <p:nvPr/>
          </p:nvSpPr>
          <p:spPr>
            <a:xfrm>
              <a:off x="4471988" y="3923586"/>
              <a:ext cx="496984"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(分行主管)</a:t>
              </a:r>
            </a:p>
          </p:txBody>
        </p:sp>
        <p:sp>
          <p:nvSpPr>
            <p:cNvPr id="94" name="Ellipse 94"/>
            <p:cNvSpPr/>
            <p:nvPr/>
          </p:nvSpPr>
          <p:spPr>
            <a:xfrm>
              <a:off x="3981450" y="4505325"/>
              <a:ext cx="419100" cy="419100"/>
            </a:xfrm>
            <a:prstGeom prst="ellipse">
              <a:avLst/>
            </a:prstGeom>
            <a:solidFill>
              <a:srgbClr val="D8DEF2"/>
            </a:solidFill>
            <a:ln>
              <a:noFill/>
            </a:ln>
          </p:spPr>
        </p:sp>
        <p:grpSp>
          <p:nvGrpSpPr>
            <p:cNvPr id="99" name="Group 99"/>
            <p:cNvGrpSpPr/>
            <p:nvPr/>
          </p:nvGrpSpPr>
          <p:grpSpPr>
            <a:xfrm>
              <a:off x="4090988" y="4614863"/>
              <a:ext cx="200026" cy="200025"/>
              <a:chOff x="4090988" y="4614863"/>
              <a:chExt cx="200026" cy="200025"/>
            </a:xfrm>
          </p:grpSpPr>
          <p:sp>
            <p:nvSpPr>
              <p:cNvPr id="95" name="Freeform 95"/>
              <p:cNvSpPr/>
              <p:nvPr/>
            </p:nvSpPr>
            <p:spPr>
              <a:xfrm>
                <a:off x="4113213" y="461486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E08C7B"/>
                </a:solidFill>
              </a:ln>
            </p:spPr>
          </p:sp>
          <p:sp>
            <p:nvSpPr>
              <p:cNvPr id="96" name="Freeform 96"/>
              <p:cNvSpPr/>
              <p:nvPr/>
            </p:nvSpPr>
            <p:spPr>
              <a:xfrm>
                <a:off x="4090988" y="4748213"/>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E08C7B"/>
                </a:solidFill>
              </a:ln>
            </p:spPr>
          </p:sp>
          <p:sp>
            <p:nvSpPr>
              <p:cNvPr id="97" name="Freeform 97"/>
              <p:cNvSpPr/>
              <p:nvPr/>
            </p:nvSpPr>
            <p:spPr>
              <a:xfrm>
                <a:off x="4235451" y="4616307"/>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E08C7B"/>
                </a:solidFill>
              </a:ln>
            </p:spPr>
          </p:sp>
          <p:sp>
            <p:nvSpPr>
              <p:cNvPr id="98" name="Freeform 98"/>
              <p:cNvSpPr/>
              <p:nvPr/>
            </p:nvSpPr>
            <p:spPr>
              <a:xfrm>
                <a:off x="4257676" y="4749880"/>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E08C7B"/>
                </a:solidFill>
              </a:ln>
            </p:spPr>
          </p:sp>
        </p:grpSp>
        <p:sp>
          <p:nvSpPr>
            <p:cNvPr id="100" name="TextBox 100"/>
            <p:cNvSpPr txBox="1"/>
            <p:nvPr/>
          </p:nvSpPr>
          <p:spPr>
            <a:xfrm>
              <a:off x="4471988" y="4516993"/>
              <a:ext cx="356845" cy="169069"/>
            </a:xfrm>
            <a:prstGeom prst="rect">
              <a:avLst/>
            </a:prstGeom>
            <a:noFill/>
            <a:ln>
              <a:noFill/>
            </a:ln>
          </p:spPr>
          <p:txBody>
            <a:bodyPr wrap="none" lIns="0" tIns="0" rIns="0" bIns="0" anchor="t" anchorCtr="0">
              <a:spAutoFit/>
            </a:bodyPr>
            <a:lstStyle/>
            <a:p>
              <a:pPr algn="l"/>
              <a:r>
                <a:rPr lang="zh-CN" sz="860" b="1" dirty="0">
                  <a:solidFill>
                    <a:srgbClr val="543E3A"/>
                  </a:solidFill>
                  <a:latin typeface="+mn-lt"/>
                  <a:ea typeface="+mn-ea"/>
                  <a:cs typeface="+mn-cs"/>
                </a:rPr>
                <a:t>联络员</a:t>
              </a:r>
            </a:p>
          </p:txBody>
        </p:sp>
        <p:sp>
          <p:nvSpPr>
            <p:cNvPr id="101" name="Ellipse 101"/>
            <p:cNvSpPr/>
            <p:nvPr/>
          </p:nvSpPr>
          <p:spPr>
            <a:xfrm>
              <a:off x="3981450" y="5267325"/>
              <a:ext cx="419100" cy="419100"/>
            </a:xfrm>
            <a:prstGeom prst="ellipse">
              <a:avLst/>
            </a:prstGeom>
            <a:solidFill>
              <a:srgbClr val="D8DEF2"/>
            </a:solidFill>
            <a:ln>
              <a:noFill/>
            </a:ln>
          </p:spPr>
        </p:sp>
        <p:grpSp>
          <p:nvGrpSpPr>
            <p:cNvPr id="106" name="Group 106"/>
            <p:cNvGrpSpPr/>
            <p:nvPr/>
          </p:nvGrpSpPr>
          <p:grpSpPr>
            <a:xfrm>
              <a:off x="4090988" y="5376863"/>
              <a:ext cx="200026" cy="200025"/>
              <a:chOff x="4090988" y="5376863"/>
              <a:chExt cx="200026" cy="200025"/>
            </a:xfrm>
          </p:grpSpPr>
          <p:sp>
            <p:nvSpPr>
              <p:cNvPr id="102" name="Freeform 102"/>
              <p:cNvSpPr/>
              <p:nvPr/>
            </p:nvSpPr>
            <p:spPr>
              <a:xfrm>
                <a:off x="4113213" y="5376863"/>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E08C7B"/>
                </a:solidFill>
              </a:ln>
            </p:spPr>
          </p:sp>
          <p:sp>
            <p:nvSpPr>
              <p:cNvPr id="103" name="Freeform 103"/>
              <p:cNvSpPr/>
              <p:nvPr/>
            </p:nvSpPr>
            <p:spPr>
              <a:xfrm>
                <a:off x="4090988" y="5510213"/>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E08C7B"/>
                </a:solidFill>
              </a:ln>
            </p:spPr>
          </p:sp>
          <p:sp>
            <p:nvSpPr>
              <p:cNvPr id="104" name="Freeform 104"/>
              <p:cNvSpPr/>
              <p:nvPr/>
            </p:nvSpPr>
            <p:spPr>
              <a:xfrm>
                <a:off x="4235451" y="5378307"/>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E08C7B"/>
                </a:solidFill>
              </a:ln>
            </p:spPr>
          </p:sp>
          <p:sp>
            <p:nvSpPr>
              <p:cNvPr id="105" name="Freeform 105"/>
              <p:cNvSpPr/>
              <p:nvPr/>
            </p:nvSpPr>
            <p:spPr>
              <a:xfrm>
                <a:off x="4257676" y="5511880"/>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E08C7B"/>
                </a:solidFill>
              </a:ln>
            </p:spPr>
          </p:sp>
        </p:grpSp>
        <p:sp>
          <p:nvSpPr>
            <p:cNvPr id="107" name="TextBox 107"/>
            <p:cNvSpPr txBox="1"/>
            <p:nvPr/>
          </p:nvSpPr>
          <p:spPr>
            <a:xfrm>
              <a:off x="4471988" y="5278993"/>
              <a:ext cx="453002" cy="169069"/>
            </a:xfrm>
            <a:prstGeom prst="rect">
              <a:avLst/>
            </a:prstGeom>
            <a:noFill/>
            <a:ln>
              <a:noFill/>
            </a:ln>
          </p:spPr>
          <p:txBody>
            <a:bodyPr wrap="none" lIns="0" tIns="0" rIns="0" bIns="0" anchor="t" anchorCtr="0">
              <a:spAutoFit/>
            </a:bodyPr>
            <a:lstStyle/>
            <a:p>
              <a:pPr algn="l"/>
              <a:r>
                <a:rPr lang="zh-CN" sz="860" b="1" dirty="0">
                  <a:solidFill>
                    <a:srgbClr val="543E3A"/>
                  </a:solidFill>
                  <a:latin typeface="+mn-lt"/>
                  <a:ea typeface="+mn-ea"/>
                  <a:cs typeface="+mn-cs"/>
                </a:rPr>
                <a:t>导师D​​</a:t>
              </a:r>
            </a:p>
          </p:txBody>
        </p:sp>
        <p:sp>
          <p:nvSpPr>
            <p:cNvPr id="108" name="TextBox 108"/>
            <p:cNvSpPr txBox="1"/>
            <p:nvPr/>
          </p:nvSpPr>
          <p:spPr>
            <a:xfrm>
              <a:off x="4471988" y="5447586"/>
              <a:ext cx="496984" cy="140494"/>
            </a:xfrm>
            <a:prstGeom prst="rect">
              <a:avLst/>
            </a:prstGeom>
            <a:noFill/>
            <a:ln>
              <a:noFill/>
            </a:ln>
          </p:spPr>
          <p:txBody>
            <a:bodyPr wrap="none" lIns="0" tIns="0" rIns="0" bIns="0" anchor="t" anchorCtr="0">
              <a:spAutoFit/>
            </a:bodyPr>
            <a:lstStyle/>
            <a:p>
              <a:pPr algn="l"/>
              <a:r>
                <a:rPr lang="zh-CN" sz="710" dirty="0">
                  <a:solidFill>
                    <a:srgbClr val="88706B"/>
                  </a:solidFill>
                  <a:latin typeface="+mn-lt"/>
                  <a:ea typeface="+mn-ea"/>
                  <a:cs typeface="+mn-cs"/>
                </a:rPr>
                <a:t>(分行主管)</a:t>
              </a:r>
            </a:p>
          </p:txBody>
        </p:sp>
      </p:grpSp>
      <p:grpSp>
        <p:nvGrpSpPr>
          <p:cNvPr id="114" name="theme-2"/>
          <p:cNvGrpSpPr/>
          <p:nvPr/>
        </p:nvGrpSpPr>
        <p:grpSpPr>
          <a:xfrm>
            <a:off x="6053138" y="3657600"/>
            <a:ext cx="1621875" cy="2136457"/>
            <a:chOff x="6053138" y="3657600"/>
            <a:chExt cx="1621875" cy="2136457"/>
          </a:xfrm>
        </p:grpSpPr>
        <p:sp>
          <p:nvSpPr>
            <p:cNvPr id="110" name="Rectangle 110"/>
            <p:cNvSpPr/>
            <p:nvPr/>
          </p:nvSpPr>
          <p:spPr>
            <a:xfrm>
              <a:off x="6057900" y="3657600"/>
              <a:ext cx="1333500" cy="285750"/>
            </a:xfrm>
            <a:prstGeom prst="roundRect">
              <a:avLst>
                <a:gd name="adj" fmla="val 50000"/>
              </a:avLst>
            </a:prstGeom>
            <a:solidFill>
              <a:srgbClr val="E8634C"/>
            </a:solidFill>
            <a:ln>
              <a:noFill/>
            </a:ln>
          </p:spPr>
        </p:sp>
        <p:sp>
          <p:nvSpPr>
            <p:cNvPr id="111" name="TextBox 111"/>
            <p:cNvSpPr txBox="1"/>
            <p:nvPr/>
          </p:nvSpPr>
          <p:spPr>
            <a:xfrm>
              <a:off x="6259588" y="3748326"/>
              <a:ext cx="930124"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X行产品学习​​</a:t>
              </a:r>
            </a:p>
          </p:txBody>
        </p:sp>
        <p:sp>
          <p:nvSpPr>
            <p:cNvPr id="112" name="TextBox 112"/>
            <p:cNvSpPr txBox="1"/>
            <p:nvPr/>
          </p:nvSpPr>
          <p:spPr>
            <a:xfrm>
              <a:off x="6053138" y="4116943"/>
              <a:ext cx="1500378" cy="931069"/>
            </a:xfrm>
            <a:prstGeom prst="rect">
              <a:avLst/>
            </a:prstGeom>
            <a:noFill/>
            <a:ln>
              <a:noFill/>
            </a:ln>
          </p:spPr>
          <p:txBody>
            <a:bodyPr wrap="none" lIns="0" tIns="0" rIns="0" bIns="0" anchor="t" anchorCtr="0">
              <a:spAutoFit/>
            </a:bodyPr>
            <a:lstStyle/>
            <a:p>
              <a:pPr algn="l">
                <a:lnSpc>
                  <a:spcPts val="1500"/>
                </a:lnSpc>
              </a:pPr>
              <a:r>
                <a:rPr lang="zh-CN" sz="860" dirty="0">
                  <a:solidFill>
                    <a:srgbClr val="543E3A"/>
                  </a:solidFill>
                  <a:latin typeface="+mn-lt"/>
                  <a:ea typeface="+mn-ea"/>
                  <a:cs typeface="+mn-cs"/>
                </a:rPr>
                <a:t>为每位青年人才配备一位导</a:t>
              </a:r>
              <a:br/>
              <a:r>
                <a:rPr lang="zh-CN" sz="860" dirty="0">
                  <a:solidFill>
                    <a:srgbClr val="543E3A"/>
                  </a:solidFill>
                  <a:latin typeface="+mn-lt"/>
                  <a:ea typeface="+mn-ea"/>
                  <a:cs typeface="+mn-cs"/>
                </a:rPr>
                <a:t>师，导师定期与学员进行一</a:t>
              </a:r>
              <a:br/>
              <a:r>
                <a:rPr lang="zh-CN" sz="860" dirty="0">
                  <a:solidFill>
                    <a:srgbClr val="543E3A"/>
                  </a:solidFill>
                  <a:latin typeface="+mn-lt"/>
                  <a:ea typeface="+mn-ea"/>
                  <a:cs typeface="+mn-cs"/>
                </a:rPr>
                <a:t>对一沟通，每月不少于4次，​​</a:t>
              </a:r>
              <a:br/>
              <a:r>
                <a:rPr lang="zh-CN" sz="860" dirty="0">
                  <a:solidFill>
                    <a:srgbClr val="543E3A"/>
                  </a:solidFill>
                  <a:latin typeface="+mn-lt"/>
                  <a:ea typeface="+mn-ea"/>
                  <a:cs typeface="+mn-cs"/>
                </a:rPr>
                <a:t>了解学员学习与工作进展，</a:t>
              </a:r>
              <a:br/>
              <a:r>
                <a:rPr lang="zh-CN" sz="860" dirty="0">
                  <a:solidFill>
                    <a:srgbClr val="543E3A"/>
                  </a:solidFill>
                  <a:latin typeface="+mn-lt"/>
                  <a:ea typeface="+mn-ea"/>
                  <a:cs typeface="+mn-cs"/>
                </a:rPr>
                <a:t>解答疑问。</a:t>
              </a:r>
            </a:p>
          </p:txBody>
        </p:sp>
        <p:sp>
          <p:nvSpPr>
            <p:cNvPr id="113" name="TextBox 113"/>
            <p:cNvSpPr txBox="1"/>
            <p:nvPr/>
          </p:nvSpPr>
          <p:spPr>
            <a:xfrm>
              <a:off x="6053138" y="5617845"/>
              <a:ext cx="1621875" cy="176212"/>
            </a:xfrm>
            <a:prstGeom prst="rect">
              <a:avLst/>
            </a:prstGeom>
            <a:noFill/>
            <a:ln>
              <a:noFill/>
            </a:ln>
          </p:spPr>
          <p:txBody>
            <a:bodyPr wrap="none" lIns="0" tIns="0" rIns="0" bIns="0" anchor="t" anchorCtr="0">
              <a:spAutoFit/>
            </a:bodyPr>
            <a:lstStyle/>
            <a:p>
              <a:pPr algn="l"/>
              <a:r>
                <a:rPr lang="zh-CN" sz="900" b="1" dirty="0">
                  <a:solidFill>
                    <a:srgbClr val="543E3A"/>
                  </a:solidFill>
                  <a:latin typeface="+mn-lt"/>
                  <a:ea typeface="+mn-ea"/>
                  <a:cs typeface="+mn-cs"/>
                </a:rPr>
                <a:t>周期：</a:t>
              </a:r>
              <a:r>
                <a:rPr lang="en-US" sz="900" b="1" dirty="0">
                  <a:solidFill>
                    <a:srgbClr val="E8634C"/>
                  </a:solidFill>
                  <a:latin typeface="+mn-lt"/>
                  <a:ea typeface="+mn-ea"/>
                  <a:cs typeface="+mn-cs"/>
                </a:rPr>
                <a:t>202X.01-202X.06</a:t>
              </a:r>
              <a:r>
                <a:rPr lang="zh-CN" sz="900" b="1" dirty="0">
                  <a:solidFill>
                    <a:srgbClr val="543E3A"/>
                  </a:solidFill>
                  <a:latin typeface="+mn-lt"/>
                  <a:ea typeface="+mn-ea"/>
                  <a:cs typeface="+mn-cs"/>
                </a:rPr>
                <a:t>​​</a:t>
              </a:r>
            </a:p>
          </p:txBody>
        </p:sp>
      </p:grpSp>
      <p:grpSp>
        <p:nvGrpSpPr>
          <p:cNvPr id="124" name="exec-2"/>
          <p:cNvGrpSpPr/>
          <p:nvPr/>
        </p:nvGrpSpPr>
        <p:grpSpPr>
          <a:xfrm>
            <a:off x="8911628" y="3714750"/>
            <a:ext cx="1828445" cy="2082641"/>
            <a:chOff x="8911628" y="3714750"/>
            <a:chExt cx="1828445" cy="2082641"/>
          </a:xfrm>
        </p:grpSpPr>
        <p:sp>
          <p:nvSpPr>
            <p:cNvPr id="115" name="Rectangle 115"/>
            <p:cNvSpPr/>
            <p:nvPr/>
          </p:nvSpPr>
          <p:spPr>
            <a:xfrm>
              <a:off x="8915400" y="3714750"/>
              <a:ext cx="247650" cy="190500"/>
            </a:xfrm>
            <a:prstGeom prst="roundRect">
              <a:avLst>
                <a:gd name="adj" fmla="val 20000"/>
              </a:avLst>
            </a:prstGeom>
            <a:solidFill>
              <a:srgbClr val="C45F4A"/>
            </a:solidFill>
            <a:ln>
              <a:noFill/>
            </a:ln>
          </p:spPr>
        </p:sp>
        <p:sp>
          <p:nvSpPr>
            <p:cNvPr id="116" name="TextBox 116"/>
            <p:cNvSpPr txBox="1"/>
            <p:nvPr/>
          </p:nvSpPr>
          <p:spPr>
            <a:xfrm>
              <a:off x="8911628" y="3772614"/>
              <a:ext cx="25519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01​​</a:t>
              </a:r>
            </a:p>
          </p:txBody>
        </p:sp>
        <p:sp>
          <p:nvSpPr>
            <p:cNvPr id="117" name="TextBox 117"/>
            <p:cNvSpPr txBox="1"/>
            <p:nvPr/>
          </p:nvSpPr>
          <p:spPr>
            <a:xfrm>
              <a:off x="9272588" y="3778091"/>
              <a:ext cx="1467485" cy="342900"/>
            </a:xfrm>
            <a:prstGeom prst="rect">
              <a:avLst/>
            </a:prstGeom>
            <a:noFill/>
            <a:ln>
              <a:noFill/>
            </a:ln>
          </p:spPr>
          <p:txBody>
            <a:bodyPr wrap="none" lIns="0" tIns="0" rIns="0" bIns="0" anchor="t" anchorCtr="0">
              <a:spAutoFit/>
            </a:bodyPr>
            <a:lstStyle/>
            <a:p>
              <a:pPr algn="l">
                <a:lnSpc>
                  <a:spcPts val="1425"/>
                </a:lnSpc>
              </a:pPr>
              <a:r>
                <a:rPr lang="zh-CN" sz="820" dirty="0">
                  <a:solidFill>
                    <a:srgbClr val="543E3A"/>
                  </a:solidFill>
                  <a:latin typeface="+mn-lt"/>
                  <a:ea typeface="+mn-ea"/>
                  <a:cs typeface="+mn-cs"/>
                </a:rPr>
                <a:t>开展产品知识系列培训课程，由</a:t>
              </a:r>
              <a:br/>
              <a:r>
                <a:rPr lang="zh-CN" sz="820" dirty="0">
                  <a:solidFill>
                    <a:srgbClr val="543E3A"/>
                  </a:solidFill>
                  <a:latin typeface="+mn-lt"/>
                  <a:ea typeface="+mn-ea"/>
                  <a:cs typeface="+mn-cs"/>
                </a:rPr>
                <a:t>导师采用一对一讲授</a:t>
              </a:r>
            </a:p>
          </p:txBody>
        </p:sp>
        <p:sp>
          <p:nvSpPr>
            <p:cNvPr id="118" name="Rectangle 118"/>
            <p:cNvSpPr/>
            <p:nvPr/>
          </p:nvSpPr>
          <p:spPr>
            <a:xfrm>
              <a:off x="8915400" y="4552950"/>
              <a:ext cx="247650" cy="190500"/>
            </a:xfrm>
            <a:prstGeom prst="roundRect">
              <a:avLst>
                <a:gd name="adj" fmla="val 20000"/>
              </a:avLst>
            </a:prstGeom>
            <a:solidFill>
              <a:srgbClr val="C45F4A"/>
            </a:solidFill>
            <a:ln>
              <a:noFill/>
            </a:ln>
          </p:spPr>
        </p:sp>
        <p:sp>
          <p:nvSpPr>
            <p:cNvPr id="119" name="TextBox 119"/>
            <p:cNvSpPr txBox="1"/>
            <p:nvPr/>
          </p:nvSpPr>
          <p:spPr>
            <a:xfrm>
              <a:off x="8911628" y="4610814"/>
              <a:ext cx="25519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02​​</a:t>
              </a:r>
            </a:p>
          </p:txBody>
        </p:sp>
        <p:sp>
          <p:nvSpPr>
            <p:cNvPr id="120" name="TextBox 120"/>
            <p:cNvSpPr txBox="1"/>
            <p:nvPr/>
          </p:nvSpPr>
          <p:spPr>
            <a:xfrm>
              <a:off x="9272588" y="4616291"/>
              <a:ext cx="1467485" cy="342900"/>
            </a:xfrm>
            <a:prstGeom prst="rect">
              <a:avLst/>
            </a:prstGeom>
            <a:noFill/>
            <a:ln>
              <a:noFill/>
            </a:ln>
          </p:spPr>
          <p:txBody>
            <a:bodyPr wrap="none" lIns="0" tIns="0" rIns="0" bIns="0" anchor="t" anchorCtr="0">
              <a:spAutoFit/>
            </a:bodyPr>
            <a:lstStyle/>
            <a:p>
              <a:pPr algn="l">
                <a:lnSpc>
                  <a:spcPts val="1425"/>
                </a:lnSpc>
              </a:pPr>
              <a:r>
                <a:rPr lang="zh-CN" sz="820" dirty="0">
                  <a:solidFill>
                    <a:srgbClr val="543E3A"/>
                  </a:solidFill>
                  <a:latin typeface="+mn-lt"/>
                  <a:ea typeface="+mn-ea"/>
                  <a:cs typeface="+mn-cs"/>
                </a:rPr>
                <a:t>安排学员参与实际业务项目，在</a:t>
              </a:r>
              <a:br/>
              <a:r>
                <a:rPr lang="zh-CN" sz="820" dirty="0">
                  <a:solidFill>
                    <a:srgbClr val="543E3A"/>
                  </a:solidFill>
                  <a:latin typeface="+mn-lt"/>
                  <a:ea typeface="+mn-ea"/>
                  <a:cs typeface="+mn-cs"/>
                </a:rPr>
                <a:t>实践中加深对产品的理解。</a:t>
              </a:r>
            </a:p>
          </p:txBody>
        </p:sp>
        <p:sp>
          <p:nvSpPr>
            <p:cNvPr id="121" name="Rectangle 121"/>
            <p:cNvSpPr/>
            <p:nvPr/>
          </p:nvSpPr>
          <p:spPr>
            <a:xfrm>
              <a:off x="8915400" y="5391150"/>
              <a:ext cx="247650" cy="190500"/>
            </a:xfrm>
            <a:prstGeom prst="roundRect">
              <a:avLst>
                <a:gd name="adj" fmla="val 20000"/>
              </a:avLst>
            </a:prstGeom>
            <a:solidFill>
              <a:srgbClr val="C45F4A"/>
            </a:solidFill>
            <a:ln>
              <a:noFill/>
            </a:ln>
          </p:spPr>
        </p:sp>
        <p:sp>
          <p:nvSpPr>
            <p:cNvPr id="122" name="TextBox 122"/>
            <p:cNvSpPr txBox="1"/>
            <p:nvPr/>
          </p:nvSpPr>
          <p:spPr>
            <a:xfrm>
              <a:off x="8911628" y="5449014"/>
              <a:ext cx="25519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03​​</a:t>
              </a:r>
            </a:p>
          </p:txBody>
        </p:sp>
        <p:sp>
          <p:nvSpPr>
            <p:cNvPr id="123" name="TextBox 123"/>
            <p:cNvSpPr txBox="1"/>
            <p:nvPr/>
          </p:nvSpPr>
          <p:spPr>
            <a:xfrm>
              <a:off x="9272588" y="5454491"/>
              <a:ext cx="1467485" cy="342900"/>
            </a:xfrm>
            <a:prstGeom prst="rect">
              <a:avLst/>
            </a:prstGeom>
            <a:noFill/>
            <a:ln>
              <a:noFill/>
            </a:ln>
          </p:spPr>
          <p:txBody>
            <a:bodyPr wrap="none" lIns="0" tIns="0" rIns="0" bIns="0" anchor="t" anchorCtr="0">
              <a:spAutoFit/>
            </a:bodyPr>
            <a:lstStyle/>
            <a:p>
              <a:pPr algn="l">
                <a:lnSpc>
                  <a:spcPts val="1425"/>
                </a:lnSpc>
              </a:pPr>
              <a:r>
                <a:rPr lang="zh-CN" sz="820" dirty="0">
                  <a:solidFill>
                    <a:srgbClr val="543E3A"/>
                  </a:solidFill>
                  <a:latin typeface="+mn-lt"/>
                  <a:ea typeface="+mn-ea"/>
                  <a:cs typeface="+mn-cs"/>
                </a:rPr>
                <a:t>根据评估结果及时向学员反馈学</a:t>
              </a:r>
              <a:br/>
              <a:r>
                <a:rPr lang="zh-CN" sz="820" dirty="0">
                  <a:solidFill>
                    <a:srgbClr val="543E3A"/>
                  </a:solidFill>
                  <a:latin typeface="+mn-lt"/>
                  <a:ea typeface="+mn-ea"/>
                  <a:cs typeface="+mn-cs"/>
                </a:rPr>
                <a:t>习情况，指出存在的问题与不足</a:t>
              </a:r>
            </a:p>
          </p:txBody>
        </p:sp>
      </p:gr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5905500" cy="542925"/>
            <a:chOff x="0" y="0"/>
            <a:chExt cx="5905500" cy="542925"/>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3" name="TextBox 3"/>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81​​</a:t>
              </a:r>
            </a:p>
          </p:txBody>
        </p:sp>
        <p:sp>
          <p:nvSpPr>
            <p:cNvPr id="4" name="TextBox 4"/>
            <p:cNvSpPr txBox="1"/>
            <p:nvPr/>
          </p:nvSpPr>
          <p:spPr>
            <a:xfrm>
              <a:off x="942594" y="151448"/>
              <a:ext cx="212156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工作阶段性成果​</a:t>
              </a:r>
            </a:p>
          </p:txBody>
        </p:sp>
        <p:sp>
          <p:nvSpPr>
            <p:cNvPr id="5" name="Line 5"/>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sp>
        <p:nvSpPr>
          <p:cNvPr id="7" name="phase-arrow"/>
          <p:cNvSpPr/>
          <p:nvPr/>
        </p:nvSpPr>
        <p:spPr>
          <a:xfrm>
            <a:off x="4476750" y="2343150"/>
            <a:ext cx="552450" cy="571500"/>
          </a:xfrm>
          <a:custGeom>
            <a:avLst/>
            <a:gdLst/>
            <a:ahLst/>
            <a:cxnLst/>
            <a:rect l="l" t="t" r="r" b="b"/>
            <a:pathLst>
              <a:path w="552450" h="571500">
                <a:moveTo>
                  <a:pt x="0" y="152400"/>
                </a:moveTo>
                <a:lnTo>
                  <a:pt x="304800" y="152400"/>
                </a:lnTo>
                <a:lnTo>
                  <a:pt x="304800" y="0"/>
                </a:lnTo>
                <a:lnTo>
                  <a:pt x="552450" y="285750"/>
                </a:lnTo>
                <a:lnTo>
                  <a:pt x="304800" y="571500"/>
                </a:lnTo>
                <a:lnTo>
                  <a:pt x="304800" y="419100"/>
                </a:lnTo>
                <a:lnTo>
                  <a:pt x="0" y="419100"/>
                </a:lnTo>
                <a:close/>
              </a:path>
            </a:pathLst>
          </a:custGeom>
          <a:solidFill>
            <a:srgbClr val="D8DEF2"/>
          </a:solidFill>
          <a:ln>
            <a:noFill/>
          </a:ln>
        </p:spPr>
      </p:sp>
      <p:grpSp>
        <p:nvGrpSpPr>
          <p:cNvPr id="12" name="row-axis"/>
          <p:cNvGrpSpPr/>
          <p:nvPr/>
        </p:nvGrpSpPr>
        <p:grpSpPr>
          <a:xfrm>
            <a:off x="337566" y="1333500"/>
            <a:ext cx="293370" cy="3429000"/>
            <a:chOff x="337566" y="1333500"/>
            <a:chExt cx="293370" cy="3429000"/>
          </a:xfrm>
        </p:grpSpPr>
        <p:sp>
          <p:nvSpPr>
            <p:cNvPr id="8" name="Line 8"/>
            <p:cNvSpPr/>
            <p:nvPr/>
          </p:nvSpPr>
          <p:spPr>
            <a:xfrm>
              <a:off x="628650" y="1333500"/>
              <a:ext cx="1" cy="3429000"/>
            </a:xfrm>
            <a:prstGeom prst="line">
              <a:avLst/>
            </a:prstGeom>
            <a:noFill/>
            <a:ln w="11430">
              <a:solidFill>
                <a:srgbClr val="ECC1B8"/>
              </a:solidFill>
              <a:tailEnd type="triangle" w="lg" len="lg"/>
            </a:ln>
          </p:spPr>
        </p:sp>
        <p:sp>
          <p:nvSpPr>
            <p:cNvPr id="9" name="TextBox 9"/>
            <p:cNvSpPr txBox="1"/>
            <p:nvPr/>
          </p:nvSpPr>
          <p:spPr>
            <a:xfrm>
              <a:off x="337566" y="1524952"/>
              <a:ext cx="293370"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目标</a:t>
              </a:r>
            </a:p>
          </p:txBody>
        </p:sp>
        <p:sp>
          <p:nvSpPr>
            <p:cNvPr id="10" name="TextBox 10"/>
            <p:cNvSpPr txBox="1"/>
            <p:nvPr/>
          </p:nvSpPr>
          <p:spPr>
            <a:xfrm>
              <a:off x="337566" y="2248852"/>
              <a:ext cx="293370"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执行</a:t>
              </a:r>
            </a:p>
          </p:txBody>
        </p:sp>
        <p:sp>
          <p:nvSpPr>
            <p:cNvPr id="11" name="TextBox 11"/>
            <p:cNvSpPr txBox="1"/>
            <p:nvPr/>
          </p:nvSpPr>
          <p:spPr>
            <a:xfrm>
              <a:off x="337566" y="3391852"/>
              <a:ext cx="293370" cy="205359"/>
            </a:xfrm>
            <a:prstGeom prst="rect">
              <a:avLst/>
            </a:prstGeom>
            <a:noFill/>
            <a:ln>
              <a:noFill/>
            </a:ln>
          </p:spPr>
          <p:txBody>
            <a:bodyPr wrap="none" lIns="0" tIns="0" rIns="0" bIns="0" anchor="t" anchorCtr="0">
              <a:spAutoFit/>
            </a:bodyPr>
            <a:lstStyle/>
            <a:p>
              <a:pPr algn="l"/>
              <a:r>
                <a:rPr lang="zh-CN" sz="1050" b="1" dirty="0">
                  <a:solidFill>
                    <a:srgbClr val="543E3A"/>
                  </a:solidFill>
                  <a:latin typeface="+mn-lt"/>
                  <a:ea typeface="+mn-ea"/>
                  <a:cs typeface="+mn-cs"/>
                </a:rPr>
                <a:t>成果</a:t>
              </a:r>
            </a:p>
          </p:txBody>
        </p:sp>
      </p:grpSp>
      <p:grpSp>
        <p:nvGrpSpPr>
          <p:cNvPr id="31" name="phase-1"/>
          <p:cNvGrpSpPr/>
          <p:nvPr/>
        </p:nvGrpSpPr>
        <p:grpSpPr>
          <a:xfrm>
            <a:off x="809625" y="1263968"/>
            <a:ext cx="3810000" cy="3431857"/>
            <a:chOff x="809625" y="1263968"/>
            <a:chExt cx="3810000" cy="3431857"/>
          </a:xfrm>
        </p:grpSpPr>
        <p:sp>
          <p:nvSpPr>
            <p:cNvPr id="13" name="TextBox 13"/>
            <p:cNvSpPr txBox="1"/>
            <p:nvPr/>
          </p:nvSpPr>
          <p:spPr>
            <a:xfrm>
              <a:off x="2344293" y="1263968"/>
              <a:ext cx="740664" cy="264033"/>
            </a:xfrm>
            <a:prstGeom prst="rect">
              <a:avLst/>
            </a:prstGeom>
            <a:noFill/>
            <a:ln>
              <a:noFill/>
            </a:ln>
          </p:spPr>
          <p:txBody>
            <a:bodyPr wrap="none" lIns="0" tIns="0" rIns="0" bIns="0" anchor="t" anchorCtr="0">
              <a:spAutoFit/>
            </a:bodyPr>
            <a:lstStyle/>
            <a:p>
              <a:pPr algn="ctr"/>
              <a:r>
                <a:rPr lang="zh-CN" sz="1350" b="1" dirty="0">
                  <a:solidFill>
                    <a:srgbClr val="C45F4A"/>
                  </a:solidFill>
                  <a:latin typeface="+mn-lt"/>
                  <a:ea typeface="+mn-ea"/>
                  <a:cs typeface="+mn-cs"/>
                </a:rPr>
                <a:t>项目一期</a:t>
              </a:r>
            </a:p>
          </p:txBody>
        </p:sp>
        <p:sp>
          <p:nvSpPr>
            <p:cNvPr id="14" name="TextBox 14"/>
            <p:cNvSpPr txBox="1"/>
            <p:nvPr/>
          </p:nvSpPr>
          <p:spPr>
            <a:xfrm>
              <a:off x="1195388" y="1560195"/>
              <a:ext cx="3038475" cy="176212"/>
            </a:xfrm>
            <a:prstGeom prst="rect">
              <a:avLst/>
            </a:prstGeom>
            <a:noFill/>
            <a:ln>
              <a:noFill/>
            </a:ln>
          </p:spPr>
          <p:txBody>
            <a:bodyPr wrap="none" lIns="0" tIns="0" rIns="0" bIns="0" anchor="t" anchorCtr="0">
              <a:spAutoFit/>
            </a:bodyPr>
            <a:lstStyle/>
            <a:p>
              <a:pPr algn="ctr"/>
              <a:r>
                <a:rPr lang="zh-CN" sz="900" dirty="0">
                  <a:solidFill>
                    <a:srgbClr val="88706B"/>
                  </a:solidFill>
                  <a:latin typeface="+mn-lt"/>
                  <a:ea typeface="+mn-ea"/>
                  <a:cs typeface="+mn-cs"/>
                </a:rPr>
                <a:t>建设符合企业税务运营诉求的数据池，实现数据质量提升</a:t>
              </a:r>
            </a:p>
          </p:txBody>
        </p:sp>
        <p:sp>
          <p:nvSpPr>
            <p:cNvPr id="15" name="Rectangle 15"/>
            <p:cNvSpPr/>
            <p:nvPr/>
          </p:nvSpPr>
          <p:spPr>
            <a:xfrm>
              <a:off x="809625" y="1809750"/>
              <a:ext cx="3810000" cy="1000125"/>
            </a:xfrm>
            <a:prstGeom prst="roundRect">
              <a:avLst>
                <a:gd name="adj" fmla="val 5714"/>
              </a:avLst>
            </a:prstGeom>
            <a:solidFill>
              <a:srgbClr val="E8EBF8"/>
            </a:solidFill>
            <a:ln>
              <a:noFill/>
            </a:ln>
          </p:spPr>
        </p:sp>
        <p:sp>
          <p:nvSpPr>
            <p:cNvPr id="16" name="TextBox 16"/>
            <p:cNvSpPr txBox="1"/>
            <p:nvPr/>
          </p:nvSpPr>
          <p:spPr>
            <a:xfrm>
              <a:off x="919162" y="1979295"/>
              <a:ext cx="3095625" cy="595312"/>
            </a:xfrm>
            <a:prstGeom prst="rect">
              <a:avLst/>
            </a:prstGeom>
            <a:noFill/>
            <a:ln>
              <a:noFill/>
            </a:ln>
          </p:spPr>
          <p:txBody>
            <a:bodyPr wrap="none" lIns="0" tIns="0" rIns="0" bIns="0" anchor="t" anchorCtr="0">
              <a:spAutoFit/>
            </a:bodyPr>
            <a:lstStyle/>
            <a:p>
              <a:pPr algn="l">
                <a:lnSpc>
                  <a:spcPts val="1650"/>
                </a:lnSpc>
              </a:pPr>
              <a:r>
                <a:rPr lang="zh-CN" sz="900" dirty="0">
                  <a:solidFill>
                    <a:srgbClr val="543E3A"/>
                  </a:solidFill>
                  <a:latin typeface="+mn-lt"/>
                  <a:ea typeface="+mn-ea"/>
                  <a:cs typeface="+mn-cs"/>
                </a:rPr>
                <a:t>从集团内多个业务系统中抽取税务相关数据，包括发票信息、</a:t>
              </a:r>
              <a:br/>
              <a:r>
                <a:rPr lang="zh-CN" sz="900" dirty="0">
                  <a:solidFill>
                    <a:srgbClr val="543E3A"/>
                  </a:solidFill>
                  <a:latin typeface="+mn-lt"/>
                  <a:ea typeface="+mn-ea"/>
                  <a:cs typeface="+mn-cs"/>
                </a:rPr>
                <a:t>交易明细、财务报表数据等。运用代码，去除重复、错误和</a:t>
              </a:r>
              <a:br/>
              <a:r>
                <a:rPr lang="zh-CN" sz="900" dirty="0">
                  <a:solidFill>
                    <a:srgbClr val="543E3A"/>
                  </a:solidFill>
                  <a:latin typeface="+mn-lt"/>
                  <a:ea typeface="+mn-ea"/>
                  <a:cs typeface="+mn-cs"/>
                </a:rPr>
                <a:t>不完整的数据记录，确保数据的准确性和一致性。</a:t>
              </a:r>
            </a:p>
          </p:txBody>
        </p:sp>
        <p:sp>
          <p:nvSpPr>
            <p:cNvPr id="17" name="Rectangle 17"/>
            <p:cNvSpPr/>
            <p:nvPr/>
          </p:nvSpPr>
          <p:spPr>
            <a:xfrm>
              <a:off x="809625" y="3286125"/>
              <a:ext cx="3810000" cy="285750"/>
            </a:xfrm>
            <a:prstGeom prst="roundRect">
              <a:avLst>
                <a:gd name="adj" fmla="val 13333"/>
              </a:avLst>
            </a:prstGeom>
            <a:solidFill>
              <a:srgbClr val="C45F4A"/>
            </a:solidFill>
            <a:ln>
              <a:noFill/>
            </a:ln>
          </p:spPr>
        </p:sp>
        <p:sp>
          <p:nvSpPr>
            <p:cNvPr id="18" name="TextBox 18"/>
            <p:cNvSpPr txBox="1"/>
            <p:nvPr/>
          </p:nvSpPr>
          <p:spPr>
            <a:xfrm>
              <a:off x="2050034" y="3380899"/>
              <a:ext cx="13291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第一阶段上线主要内容</a:t>
              </a:r>
            </a:p>
          </p:txBody>
        </p:sp>
        <p:sp>
          <p:nvSpPr>
            <p:cNvPr id="19" name="Rectangle 19"/>
            <p:cNvSpPr/>
            <p:nvPr/>
          </p:nvSpPr>
          <p:spPr>
            <a:xfrm>
              <a:off x="838200" y="3667125"/>
              <a:ext cx="1828800" cy="304800"/>
            </a:xfrm>
            <a:prstGeom prst="roundRect">
              <a:avLst>
                <a:gd name="adj" fmla="val 12500"/>
              </a:avLst>
            </a:prstGeom>
            <a:solidFill>
              <a:srgbClr val="FFFFFF"/>
            </a:solidFill>
            <a:ln w="9525">
              <a:solidFill>
                <a:srgbClr val="ECC1B8"/>
              </a:solidFill>
            </a:ln>
          </p:spPr>
        </p:sp>
        <p:sp>
          <p:nvSpPr>
            <p:cNvPr id="20" name="TextBox 20"/>
            <p:cNvSpPr txBox="1"/>
            <p:nvPr/>
          </p:nvSpPr>
          <p:spPr>
            <a:xfrm>
              <a:off x="1251090" y="3769995"/>
              <a:ext cx="100302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1.税务基础管理​​</a:t>
              </a:r>
            </a:p>
          </p:txBody>
        </p:sp>
        <p:sp>
          <p:nvSpPr>
            <p:cNvPr id="21" name="Rectangle 21"/>
            <p:cNvSpPr/>
            <p:nvPr/>
          </p:nvSpPr>
          <p:spPr>
            <a:xfrm>
              <a:off x="2743200" y="3667125"/>
              <a:ext cx="1828800" cy="304800"/>
            </a:xfrm>
            <a:prstGeom prst="roundRect">
              <a:avLst>
                <a:gd name="adj" fmla="val 12500"/>
              </a:avLst>
            </a:prstGeom>
            <a:solidFill>
              <a:srgbClr val="FFFFFF"/>
            </a:solidFill>
            <a:ln w="9525">
              <a:solidFill>
                <a:srgbClr val="ECC1B8"/>
              </a:solidFill>
            </a:ln>
          </p:spPr>
        </p:sp>
        <p:sp>
          <p:nvSpPr>
            <p:cNvPr id="22" name="TextBox 22"/>
            <p:cNvSpPr txBox="1"/>
            <p:nvPr/>
          </p:nvSpPr>
          <p:spPr>
            <a:xfrm>
              <a:off x="3216669" y="3769995"/>
              <a:ext cx="88186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4.增值税管理​​</a:t>
              </a:r>
            </a:p>
          </p:txBody>
        </p:sp>
        <p:sp>
          <p:nvSpPr>
            <p:cNvPr id="23" name="Rectangle 23"/>
            <p:cNvSpPr/>
            <p:nvPr/>
          </p:nvSpPr>
          <p:spPr>
            <a:xfrm>
              <a:off x="838200" y="4029075"/>
              <a:ext cx="1828800" cy="304800"/>
            </a:xfrm>
            <a:prstGeom prst="roundRect">
              <a:avLst>
                <a:gd name="adj" fmla="val 12500"/>
              </a:avLst>
            </a:prstGeom>
            <a:solidFill>
              <a:srgbClr val="FFFFFF"/>
            </a:solidFill>
            <a:ln w="9525">
              <a:solidFill>
                <a:srgbClr val="ECC1B8"/>
              </a:solidFill>
            </a:ln>
          </p:spPr>
        </p:sp>
        <p:sp>
          <p:nvSpPr>
            <p:cNvPr id="24" name="TextBox 24"/>
            <p:cNvSpPr txBox="1"/>
            <p:nvPr/>
          </p:nvSpPr>
          <p:spPr>
            <a:xfrm>
              <a:off x="1251090" y="4131945"/>
              <a:ext cx="100302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2.销项发票管理​​</a:t>
              </a:r>
            </a:p>
          </p:txBody>
        </p:sp>
        <p:sp>
          <p:nvSpPr>
            <p:cNvPr id="25" name="Rectangle 25"/>
            <p:cNvSpPr/>
            <p:nvPr/>
          </p:nvSpPr>
          <p:spPr>
            <a:xfrm>
              <a:off x="2743200" y="4029075"/>
              <a:ext cx="1828800" cy="304800"/>
            </a:xfrm>
            <a:prstGeom prst="roundRect">
              <a:avLst>
                <a:gd name="adj" fmla="val 12500"/>
              </a:avLst>
            </a:prstGeom>
            <a:solidFill>
              <a:srgbClr val="FFFFFF"/>
            </a:solidFill>
            <a:ln w="9525">
              <a:solidFill>
                <a:srgbClr val="ECC1B8"/>
              </a:solidFill>
            </a:ln>
          </p:spPr>
        </p:sp>
        <p:sp>
          <p:nvSpPr>
            <p:cNvPr id="26" name="TextBox 26"/>
            <p:cNvSpPr txBox="1"/>
            <p:nvPr/>
          </p:nvSpPr>
          <p:spPr>
            <a:xfrm>
              <a:off x="3216669" y="4131945"/>
              <a:ext cx="88186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5.消费税管理​​</a:t>
              </a:r>
            </a:p>
          </p:txBody>
        </p:sp>
        <p:sp>
          <p:nvSpPr>
            <p:cNvPr id="27" name="Rectangle 27"/>
            <p:cNvSpPr/>
            <p:nvPr/>
          </p:nvSpPr>
          <p:spPr>
            <a:xfrm>
              <a:off x="838200" y="4391025"/>
              <a:ext cx="1828800" cy="304800"/>
            </a:xfrm>
            <a:prstGeom prst="roundRect">
              <a:avLst>
                <a:gd name="adj" fmla="val 12500"/>
              </a:avLst>
            </a:prstGeom>
            <a:solidFill>
              <a:srgbClr val="FFFFFF"/>
            </a:solidFill>
            <a:ln w="9525">
              <a:solidFill>
                <a:srgbClr val="ECC1B8"/>
              </a:solidFill>
            </a:ln>
          </p:spPr>
        </p:sp>
        <p:sp>
          <p:nvSpPr>
            <p:cNvPr id="28" name="TextBox 28"/>
            <p:cNvSpPr txBox="1"/>
            <p:nvPr/>
          </p:nvSpPr>
          <p:spPr>
            <a:xfrm>
              <a:off x="1251090" y="4493895"/>
              <a:ext cx="1003021"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3.进项发票管理​​</a:t>
              </a:r>
            </a:p>
          </p:txBody>
        </p:sp>
        <p:sp>
          <p:nvSpPr>
            <p:cNvPr id="29" name="Rectangle 29"/>
            <p:cNvSpPr/>
            <p:nvPr/>
          </p:nvSpPr>
          <p:spPr>
            <a:xfrm>
              <a:off x="2743200" y="4391025"/>
              <a:ext cx="1828800" cy="304800"/>
            </a:xfrm>
            <a:prstGeom prst="roundRect">
              <a:avLst>
                <a:gd name="adj" fmla="val 12500"/>
              </a:avLst>
            </a:prstGeom>
            <a:solidFill>
              <a:srgbClr val="FFFFFF"/>
            </a:solidFill>
            <a:ln w="9525">
              <a:solidFill>
                <a:srgbClr val="ECC1B8"/>
              </a:solidFill>
            </a:ln>
          </p:spPr>
        </p:sp>
        <p:sp>
          <p:nvSpPr>
            <p:cNvPr id="30" name="TextBox 30"/>
            <p:cNvSpPr txBox="1"/>
            <p:nvPr/>
          </p:nvSpPr>
          <p:spPr>
            <a:xfrm>
              <a:off x="3095511" y="4493895"/>
              <a:ext cx="1124179"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6.所得税预缴管理​​</a:t>
              </a:r>
            </a:p>
          </p:txBody>
        </p:sp>
      </p:grpSp>
      <p:grpSp>
        <p:nvGrpSpPr>
          <p:cNvPr id="54" name="phase-2"/>
          <p:cNvGrpSpPr/>
          <p:nvPr/>
        </p:nvGrpSpPr>
        <p:grpSpPr>
          <a:xfrm>
            <a:off x="4905375" y="1073468"/>
            <a:ext cx="3771900" cy="3603307"/>
            <a:chOff x="4905375" y="1073468"/>
            <a:chExt cx="3771900" cy="3603307"/>
          </a:xfrm>
        </p:grpSpPr>
        <p:sp>
          <p:nvSpPr>
            <p:cNvPr id="32" name="TextBox 32"/>
            <p:cNvSpPr txBox="1"/>
            <p:nvPr/>
          </p:nvSpPr>
          <p:spPr>
            <a:xfrm>
              <a:off x="6440043" y="1073468"/>
              <a:ext cx="740664" cy="264033"/>
            </a:xfrm>
            <a:prstGeom prst="rect">
              <a:avLst/>
            </a:prstGeom>
            <a:noFill/>
            <a:ln>
              <a:noFill/>
            </a:ln>
          </p:spPr>
          <p:txBody>
            <a:bodyPr wrap="none" lIns="0" tIns="0" rIns="0" bIns="0" anchor="t" anchorCtr="0">
              <a:spAutoFit/>
            </a:bodyPr>
            <a:lstStyle/>
            <a:p>
              <a:pPr algn="ctr"/>
              <a:r>
                <a:rPr lang="zh-CN" sz="1350" b="1" dirty="0">
                  <a:solidFill>
                    <a:srgbClr val="E8634C"/>
                  </a:solidFill>
                  <a:latin typeface="+mn-lt"/>
                  <a:ea typeface="+mn-ea"/>
                  <a:cs typeface="+mn-cs"/>
                </a:rPr>
                <a:t>项目二期</a:t>
              </a:r>
            </a:p>
          </p:txBody>
        </p:sp>
        <p:sp>
          <p:nvSpPr>
            <p:cNvPr id="33" name="TextBox 33"/>
            <p:cNvSpPr txBox="1"/>
            <p:nvPr/>
          </p:nvSpPr>
          <p:spPr>
            <a:xfrm>
              <a:off x="5594032" y="1369695"/>
              <a:ext cx="2432685" cy="176212"/>
            </a:xfrm>
            <a:prstGeom prst="rect">
              <a:avLst/>
            </a:prstGeom>
            <a:noFill/>
            <a:ln>
              <a:noFill/>
            </a:ln>
          </p:spPr>
          <p:txBody>
            <a:bodyPr wrap="none" lIns="0" tIns="0" rIns="0" bIns="0" anchor="t" anchorCtr="0">
              <a:spAutoFit/>
            </a:bodyPr>
            <a:lstStyle/>
            <a:p>
              <a:pPr algn="ctr"/>
              <a:r>
                <a:rPr lang="zh-CN" sz="900" dirty="0">
                  <a:solidFill>
                    <a:srgbClr val="88706B"/>
                  </a:solidFill>
                  <a:latin typeface="+mn-lt"/>
                  <a:ea typeface="+mn-ea"/>
                  <a:cs typeface="+mn-cs"/>
                </a:rPr>
                <a:t>深化财务应用、全面支持全税管理和风险分析</a:t>
              </a:r>
            </a:p>
          </p:txBody>
        </p:sp>
        <p:sp>
          <p:nvSpPr>
            <p:cNvPr id="34" name="Rectangle 34"/>
            <p:cNvSpPr/>
            <p:nvPr/>
          </p:nvSpPr>
          <p:spPr>
            <a:xfrm>
              <a:off x="4905375" y="1581150"/>
              <a:ext cx="3771900" cy="952500"/>
            </a:xfrm>
            <a:prstGeom prst="roundRect">
              <a:avLst>
                <a:gd name="adj" fmla="val 6000"/>
              </a:avLst>
            </a:prstGeom>
            <a:solidFill>
              <a:srgbClr val="FBEDE8"/>
            </a:solidFill>
            <a:ln>
              <a:noFill/>
            </a:ln>
          </p:spPr>
        </p:sp>
        <p:sp>
          <p:nvSpPr>
            <p:cNvPr id="35" name="TextBox 35"/>
            <p:cNvSpPr txBox="1"/>
            <p:nvPr/>
          </p:nvSpPr>
          <p:spPr>
            <a:xfrm>
              <a:off x="5014912" y="1750695"/>
              <a:ext cx="2981325" cy="595312"/>
            </a:xfrm>
            <a:prstGeom prst="rect">
              <a:avLst/>
            </a:prstGeom>
            <a:noFill/>
            <a:ln>
              <a:noFill/>
            </a:ln>
          </p:spPr>
          <p:txBody>
            <a:bodyPr wrap="none" lIns="0" tIns="0" rIns="0" bIns="0" anchor="t" anchorCtr="0">
              <a:spAutoFit/>
            </a:bodyPr>
            <a:lstStyle/>
            <a:p>
              <a:pPr algn="l">
                <a:lnSpc>
                  <a:spcPts val="1650"/>
                </a:lnSpc>
              </a:pPr>
              <a:r>
                <a:rPr lang="zh-CN" sz="900" dirty="0">
                  <a:solidFill>
                    <a:srgbClr val="543E3A"/>
                  </a:solidFill>
                  <a:latin typeface="+mn-lt"/>
                  <a:ea typeface="+mn-ea"/>
                  <a:cs typeface="+mn-cs"/>
                </a:rPr>
                <a:t>对集团的税务风险和税务分析实现基础应用，深度分析资金</a:t>
              </a:r>
              <a:br/>
              <a:r>
                <a:rPr lang="zh-CN" sz="900" dirty="0">
                  <a:solidFill>
                    <a:srgbClr val="543E3A"/>
                  </a:solidFill>
                  <a:latin typeface="+mn-lt"/>
                  <a:ea typeface="+mn-ea"/>
                  <a:cs typeface="+mn-cs"/>
                </a:rPr>
                <a:t>流、发票流等，监测指标异动，建立集团税务法规库查询，</a:t>
              </a:r>
              <a:br/>
              <a:r>
                <a:rPr lang="zh-CN" sz="900" dirty="0">
                  <a:solidFill>
                    <a:srgbClr val="543E3A"/>
                  </a:solidFill>
                  <a:latin typeface="+mn-lt"/>
                  <a:ea typeface="+mn-ea"/>
                  <a:cs typeface="+mn-cs"/>
                </a:rPr>
                <a:t>强化税务政策研究，赋能业务发展和管理决策。</a:t>
              </a:r>
            </a:p>
          </p:txBody>
        </p:sp>
        <p:sp>
          <p:nvSpPr>
            <p:cNvPr id="36" name="Rectangle 36"/>
            <p:cNvSpPr/>
            <p:nvPr/>
          </p:nvSpPr>
          <p:spPr>
            <a:xfrm>
              <a:off x="4905375" y="2905125"/>
              <a:ext cx="3771900" cy="285750"/>
            </a:xfrm>
            <a:prstGeom prst="roundRect">
              <a:avLst>
                <a:gd name="adj" fmla="val 13333"/>
              </a:avLst>
            </a:prstGeom>
            <a:solidFill>
              <a:srgbClr val="E8634C"/>
            </a:solidFill>
            <a:ln>
              <a:noFill/>
            </a:ln>
          </p:spPr>
        </p:sp>
        <p:sp>
          <p:nvSpPr>
            <p:cNvPr id="37" name="TextBox 37"/>
            <p:cNvSpPr txBox="1"/>
            <p:nvPr/>
          </p:nvSpPr>
          <p:spPr>
            <a:xfrm>
              <a:off x="6145784" y="2999899"/>
              <a:ext cx="13291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第二阶段上线主要内容</a:t>
              </a:r>
            </a:p>
          </p:txBody>
        </p:sp>
        <p:sp>
          <p:nvSpPr>
            <p:cNvPr id="38" name="Rectangle 38"/>
            <p:cNvSpPr/>
            <p:nvPr/>
          </p:nvSpPr>
          <p:spPr>
            <a:xfrm>
              <a:off x="4933950" y="3286125"/>
              <a:ext cx="1828800" cy="304800"/>
            </a:xfrm>
            <a:prstGeom prst="roundRect">
              <a:avLst>
                <a:gd name="adj" fmla="val 12500"/>
              </a:avLst>
            </a:prstGeom>
            <a:solidFill>
              <a:srgbClr val="FFFFFF"/>
            </a:solidFill>
            <a:ln w="9525">
              <a:solidFill>
                <a:srgbClr val="E89B8E"/>
              </a:solidFill>
            </a:ln>
          </p:spPr>
        </p:sp>
        <p:sp>
          <p:nvSpPr>
            <p:cNvPr id="39" name="TextBox 39"/>
            <p:cNvSpPr txBox="1"/>
            <p:nvPr/>
          </p:nvSpPr>
          <p:spPr>
            <a:xfrm>
              <a:off x="5165103" y="3388995"/>
              <a:ext cx="1366495"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7.财税及其他税费管理​​</a:t>
              </a:r>
            </a:p>
          </p:txBody>
        </p:sp>
        <p:sp>
          <p:nvSpPr>
            <p:cNvPr id="40" name="Rectangle 40"/>
            <p:cNvSpPr/>
            <p:nvPr/>
          </p:nvSpPr>
          <p:spPr>
            <a:xfrm>
              <a:off x="6838950" y="3286125"/>
              <a:ext cx="1828800" cy="304800"/>
            </a:xfrm>
            <a:prstGeom prst="roundRect">
              <a:avLst>
                <a:gd name="adj" fmla="val 12500"/>
              </a:avLst>
            </a:prstGeom>
            <a:solidFill>
              <a:srgbClr val="FFFFFF"/>
            </a:solidFill>
            <a:ln w="9525">
              <a:solidFill>
                <a:srgbClr val="E89B8E"/>
              </a:solidFill>
            </a:ln>
          </p:spPr>
        </p:sp>
        <p:sp>
          <p:nvSpPr>
            <p:cNvPr id="41" name="TextBox 41"/>
            <p:cNvSpPr txBox="1"/>
            <p:nvPr/>
          </p:nvSpPr>
          <p:spPr>
            <a:xfrm>
              <a:off x="7339679" y="3388995"/>
              <a:ext cx="827342"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11.风险管理​​</a:t>
              </a:r>
            </a:p>
          </p:txBody>
        </p:sp>
        <p:sp>
          <p:nvSpPr>
            <p:cNvPr id="42" name="Rectangle 42"/>
            <p:cNvSpPr/>
            <p:nvPr/>
          </p:nvSpPr>
          <p:spPr>
            <a:xfrm>
              <a:off x="4933950" y="3648075"/>
              <a:ext cx="1828800" cy="304800"/>
            </a:xfrm>
            <a:prstGeom prst="roundRect">
              <a:avLst>
                <a:gd name="adj" fmla="val 12500"/>
              </a:avLst>
            </a:prstGeom>
            <a:solidFill>
              <a:srgbClr val="FFFFFF"/>
            </a:solidFill>
            <a:ln w="9525">
              <a:solidFill>
                <a:srgbClr val="E89B8E"/>
              </a:solidFill>
            </a:ln>
          </p:spPr>
        </p:sp>
        <p:sp>
          <p:nvSpPr>
            <p:cNvPr id="43" name="TextBox 43"/>
            <p:cNvSpPr txBox="1"/>
            <p:nvPr/>
          </p:nvSpPr>
          <p:spPr>
            <a:xfrm>
              <a:off x="5104524" y="3750945"/>
              <a:ext cx="1487653"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8.财报、重点税源和千户​​</a:t>
              </a:r>
            </a:p>
          </p:txBody>
        </p:sp>
        <p:sp>
          <p:nvSpPr>
            <p:cNvPr id="44" name="Rectangle 44"/>
            <p:cNvSpPr/>
            <p:nvPr/>
          </p:nvSpPr>
          <p:spPr>
            <a:xfrm>
              <a:off x="6838950" y="3648075"/>
              <a:ext cx="1828800" cy="304800"/>
            </a:xfrm>
            <a:prstGeom prst="roundRect">
              <a:avLst>
                <a:gd name="adj" fmla="val 12500"/>
              </a:avLst>
            </a:prstGeom>
            <a:solidFill>
              <a:srgbClr val="FFFFFF"/>
            </a:solidFill>
            <a:ln w="9525">
              <a:solidFill>
                <a:srgbClr val="E89B8E"/>
              </a:solidFill>
            </a:ln>
          </p:spPr>
        </p:sp>
        <p:sp>
          <p:nvSpPr>
            <p:cNvPr id="45" name="TextBox 45"/>
            <p:cNvSpPr txBox="1"/>
            <p:nvPr/>
          </p:nvSpPr>
          <p:spPr>
            <a:xfrm>
              <a:off x="7218521" y="3750945"/>
              <a:ext cx="1069658"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12.资金流向分析​​</a:t>
              </a:r>
            </a:p>
          </p:txBody>
        </p:sp>
        <p:sp>
          <p:nvSpPr>
            <p:cNvPr id="46" name="Rectangle 46"/>
            <p:cNvSpPr/>
            <p:nvPr/>
          </p:nvSpPr>
          <p:spPr>
            <a:xfrm>
              <a:off x="4933950" y="4010025"/>
              <a:ext cx="1828800" cy="304800"/>
            </a:xfrm>
            <a:prstGeom prst="roundRect">
              <a:avLst>
                <a:gd name="adj" fmla="val 12500"/>
              </a:avLst>
            </a:prstGeom>
            <a:solidFill>
              <a:srgbClr val="FFFFFF"/>
            </a:solidFill>
            <a:ln w="9525">
              <a:solidFill>
                <a:srgbClr val="E89B8E"/>
              </a:solidFill>
            </a:ln>
          </p:spPr>
        </p:sp>
        <p:sp>
          <p:nvSpPr>
            <p:cNvPr id="47" name="TextBox 47"/>
            <p:cNvSpPr txBox="1"/>
            <p:nvPr/>
          </p:nvSpPr>
          <p:spPr>
            <a:xfrm>
              <a:off x="5467998" y="4112895"/>
              <a:ext cx="760705"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9.电子报税​​</a:t>
              </a:r>
            </a:p>
          </p:txBody>
        </p:sp>
        <p:sp>
          <p:nvSpPr>
            <p:cNvPr id="48" name="Rectangle 48"/>
            <p:cNvSpPr/>
            <p:nvPr/>
          </p:nvSpPr>
          <p:spPr>
            <a:xfrm>
              <a:off x="6838950" y="4010025"/>
              <a:ext cx="1828800" cy="304800"/>
            </a:xfrm>
            <a:prstGeom prst="roundRect">
              <a:avLst>
                <a:gd name="adj" fmla="val 12500"/>
              </a:avLst>
            </a:prstGeom>
            <a:solidFill>
              <a:srgbClr val="FFFFFF"/>
            </a:solidFill>
            <a:ln w="9525">
              <a:solidFill>
                <a:srgbClr val="E89B8E"/>
              </a:solidFill>
            </a:ln>
          </p:spPr>
        </p:sp>
        <p:sp>
          <p:nvSpPr>
            <p:cNvPr id="49" name="TextBox 49"/>
            <p:cNvSpPr txBox="1"/>
            <p:nvPr/>
          </p:nvSpPr>
          <p:spPr>
            <a:xfrm>
              <a:off x="7279100" y="4112895"/>
              <a:ext cx="948500"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13.税务法规库​​</a:t>
              </a:r>
            </a:p>
          </p:txBody>
        </p:sp>
        <p:sp>
          <p:nvSpPr>
            <p:cNvPr id="50" name="Rectangle 50"/>
            <p:cNvSpPr/>
            <p:nvPr/>
          </p:nvSpPr>
          <p:spPr>
            <a:xfrm>
              <a:off x="4933950" y="4371975"/>
              <a:ext cx="1828800" cy="304800"/>
            </a:xfrm>
            <a:prstGeom prst="roundRect">
              <a:avLst>
                <a:gd name="adj" fmla="val 12500"/>
              </a:avLst>
            </a:prstGeom>
            <a:solidFill>
              <a:srgbClr val="FFFFFF"/>
            </a:solidFill>
            <a:ln w="9525">
              <a:solidFill>
                <a:srgbClr val="E89B8E"/>
              </a:solidFill>
            </a:ln>
          </p:spPr>
        </p:sp>
        <p:sp>
          <p:nvSpPr>
            <p:cNvPr id="51" name="TextBox 51"/>
            <p:cNvSpPr txBox="1"/>
            <p:nvPr/>
          </p:nvSpPr>
          <p:spPr>
            <a:xfrm>
              <a:off x="5313521" y="4474845"/>
              <a:ext cx="1069658"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10.研发加计管理​​</a:t>
              </a:r>
            </a:p>
          </p:txBody>
        </p:sp>
        <p:sp>
          <p:nvSpPr>
            <p:cNvPr id="52" name="Rectangle 52"/>
            <p:cNvSpPr/>
            <p:nvPr/>
          </p:nvSpPr>
          <p:spPr>
            <a:xfrm>
              <a:off x="6838950" y="4371975"/>
              <a:ext cx="1828800" cy="304800"/>
            </a:xfrm>
            <a:prstGeom prst="roundRect">
              <a:avLst>
                <a:gd name="adj" fmla="val 12500"/>
              </a:avLst>
            </a:prstGeom>
            <a:solidFill>
              <a:srgbClr val="FFFFFF"/>
            </a:solidFill>
            <a:ln w="9525">
              <a:solidFill>
                <a:srgbClr val="E89B8E"/>
              </a:solidFill>
            </a:ln>
          </p:spPr>
        </p:sp>
        <p:sp>
          <p:nvSpPr>
            <p:cNvPr id="53" name="TextBox 53"/>
            <p:cNvSpPr txBox="1"/>
            <p:nvPr/>
          </p:nvSpPr>
          <p:spPr>
            <a:xfrm>
              <a:off x="7218521" y="4474845"/>
              <a:ext cx="1069658" cy="176212"/>
            </a:xfrm>
            <a:prstGeom prst="rect">
              <a:avLst/>
            </a:prstGeom>
            <a:noFill/>
            <a:ln>
              <a:noFill/>
            </a:ln>
          </p:spPr>
          <p:txBody>
            <a:bodyPr wrap="none" lIns="0" tIns="0" rIns="0" bIns="0" anchor="t" anchorCtr="0">
              <a:spAutoFit/>
            </a:bodyPr>
            <a:lstStyle/>
            <a:p>
              <a:pPr algn="ctr"/>
              <a:r>
                <a:rPr lang="zh-CN" sz="900" dirty="0">
                  <a:solidFill>
                    <a:srgbClr val="543E3A"/>
                  </a:solidFill>
                  <a:latin typeface="+mn-lt"/>
                  <a:ea typeface="+mn-ea"/>
                  <a:cs typeface="+mn-cs"/>
                </a:rPr>
                <a:t>14.个税代扣代缴​​</a:t>
              </a:r>
            </a:p>
          </p:txBody>
        </p:sp>
      </p:grpSp>
      <p:grpSp>
        <p:nvGrpSpPr>
          <p:cNvPr id="64" name="milestone-bar"/>
          <p:cNvGrpSpPr/>
          <p:nvPr/>
        </p:nvGrpSpPr>
        <p:grpSpPr>
          <a:xfrm>
            <a:off x="809625" y="4905375"/>
            <a:ext cx="7858125" cy="387191"/>
            <a:chOff x="809625" y="4905375"/>
            <a:chExt cx="7858125" cy="387191"/>
          </a:xfrm>
        </p:grpSpPr>
        <p:sp>
          <p:nvSpPr>
            <p:cNvPr id="55" name="Line 55"/>
            <p:cNvSpPr/>
            <p:nvPr/>
          </p:nvSpPr>
          <p:spPr>
            <a:xfrm>
              <a:off x="809625" y="4953000"/>
              <a:ext cx="7858125" cy="9525"/>
            </a:xfrm>
            <a:custGeom>
              <a:avLst/>
              <a:gdLst/>
              <a:ahLst/>
              <a:cxnLst/>
              <a:rect l="l" t="t" r="r" b="b"/>
              <a:pathLst>
                <a:path w="7858125" h="9525">
                  <a:moveTo>
                    <a:pt x="0" y="0"/>
                  </a:moveTo>
                  <a:lnTo>
                    <a:pt x="7858125" y="0"/>
                  </a:lnTo>
                </a:path>
              </a:pathLst>
            </a:custGeom>
            <a:noFill/>
            <a:ln w="14288">
              <a:solidFill>
                <a:srgbClr val="ECC1B8"/>
              </a:solidFill>
            </a:ln>
          </p:spPr>
        </p:sp>
        <p:sp>
          <p:nvSpPr>
            <p:cNvPr id="56" name="Ellipse 56"/>
            <p:cNvSpPr/>
            <p:nvPr/>
          </p:nvSpPr>
          <p:spPr>
            <a:xfrm>
              <a:off x="2381250" y="4905375"/>
              <a:ext cx="95250" cy="95250"/>
            </a:xfrm>
            <a:prstGeom prst="ellipse">
              <a:avLst/>
            </a:prstGeom>
            <a:solidFill>
              <a:srgbClr val="C45F4A"/>
            </a:solidFill>
            <a:ln>
              <a:noFill/>
            </a:ln>
          </p:spPr>
        </p:sp>
        <p:sp>
          <p:nvSpPr>
            <p:cNvPr id="57" name="TextBox 57"/>
            <p:cNvSpPr txBox="1"/>
            <p:nvPr/>
          </p:nvSpPr>
          <p:spPr>
            <a:xfrm>
              <a:off x="1885969" y="5130641"/>
              <a:ext cx="1085812"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一期项目试运行2.4​​</a:t>
              </a:r>
            </a:p>
          </p:txBody>
        </p:sp>
        <p:sp>
          <p:nvSpPr>
            <p:cNvPr id="58" name="Ellipse 58"/>
            <p:cNvSpPr/>
            <p:nvPr/>
          </p:nvSpPr>
          <p:spPr>
            <a:xfrm>
              <a:off x="4333875" y="4905375"/>
              <a:ext cx="95250" cy="95250"/>
            </a:xfrm>
            <a:prstGeom prst="ellipse">
              <a:avLst/>
            </a:prstGeom>
            <a:solidFill>
              <a:srgbClr val="C45F4A"/>
            </a:solidFill>
            <a:ln>
              <a:noFill/>
            </a:ln>
          </p:spPr>
        </p:sp>
        <p:sp>
          <p:nvSpPr>
            <p:cNvPr id="59" name="TextBox 59"/>
            <p:cNvSpPr txBox="1"/>
            <p:nvPr/>
          </p:nvSpPr>
          <p:spPr>
            <a:xfrm>
              <a:off x="3973820" y="5130641"/>
              <a:ext cx="815360"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正式推广3.10​​</a:t>
              </a:r>
            </a:p>
          </p:txBody>
        </p:sp>
        <p:sp>
          <p:nvSpPr>
            <p:cNvPr id="60" name="Ellipse 60"/>
            <p:cNvSpPr/>
            <p:nvPr/>
          </p:nvSpPr>
          <p:spPr>
            <a:xfrm>
              <a:off x="5905500" y="4905375"/>
              <a:ext cx="95250" cy="95250"/>
            </a:xfrm>
            <a:prstGeom prst="ellipse">
              <a:avLst/>
            </a:prstGeom>
            <a:solidFill>
              <a:srgbClr val="E8634C"/>
            </a:solidFill>
            <a:ln>
              <a:noFill/>
            </a:ln>
          </p:spPr>
        </p:sp>
        <p:sp>
          <p:nvSpPr>
            <p:cNvPr id="61" name="TextBox 61"/>
            <p:cNvSpPr txBox="1"/>
            <p:nvPr/>
          </p:nvSpPr>
          <p:spPr>
            <a:xfrm>
              <a:off x="5410219" y="5130641"/>
              <a:ext cx="1085812"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二期项目试运行5.6​​</a:t>
              </a:r>
            </a:p>
          </p:txBody>
        </p:sp>
        <p:sp>
          <p:nvSpPr>
            <p:cNvPr id="62" name="Ellipse 62"/>
            <p:cNvSpPr/>
            <p:nvPr/>
          </p:nvSpPr>
          <p:spPr>
            <a:xfrm>
              <a:off x="7762875" y="4905375"/>
              <a:ext cx="95250" cy="95250"/>
            </a:xfrm>
            <a:prstGeom prst="ellipse">
              <a:avLst/>
            </a:prstGeom>
            <a:solidFill>
              <a:srgbClr val="E8634C"/>
            </a:solidFill>
            <a:ln>
              <a:noFill/>
            </a:ln>
          </p:spPr>
        </p:sp>
        <p:sp>
          <p:nvSpPr>
            <p:cNvPr id="63" name="TextBox 63"/>
            <p:cNvSpPr txBox="1"/>
            <p:nvPr/>
          </p:nvSpPr>
          <p:spPr>
            <a:xfrm>
              <a:off x="7402820" y="5130641"/>
              <a:ext cx="815360"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正式推广9.27​​</a:t>
              </a:r>
            </a:p>
          </p:txBody>
        </p:sp>
      </p:grpSp>
      <p:grpSp>
        <p:nvGrpSpPr>
          <p:cNvPr id="77" name="kpi-banner"/>
          <p:cNvGrpSpPr/>
          <p:nvPr/>
        </p:nvGrpSpPr>
        <p:grpSpPr>
          <a:xfrm>
            <a:off x="8763000" y="666750"/>
            <a:ext cx="3048000" cy="6019800"/>
            <a:chOff x="8763000" y="666750"/>
            <a:chExt cx="3048000" cy="6019800"/>
          </a:xfrm>
        </p:grpSpPr>
        <p:sp>
          <p:nvSpPr>
            <p:cNvPr id="65" name="Rectangle 65"/>
            <p:cNvSpPr/>
            <p:nvPr/>
          </p:nvSpPr>
          <p:spPr>
            <a:xfrm>
              <a:off x="8763000" y="666750"/>
              <a:ext cx="3048000" cy="6019800"/>
            </a:xfrm>
            <a:prstGeom prst="roundRect">
              <a:avLst>
                <a:gd name="adj" fmla="val 3125"/>
              </a:avLst>
            </a:prstGeom>
            <a:gradFill>
              <a:gsLst>
                <a:gs pos="0">
                  <a:srgbClr val="B8503B"/>
                </a:gs>
                <a:gs pos="100000">
                  <a:srgbClr val="CC6955"/>
                </a:gs>
              </a:gsLst>
              <a:lin ang="5400000" scaled="1"/>
            </a:gradFill>
            <a:ln>
              <a:noFill/>
            </a:ln>
          </p:spPr>
        </p:sp>
        <p:grpSp>
          <p:nvGrpSpPr>
            <p:cNvPr id="68" name="Group 68"/>
            <p:cNvGrpSpPr/>
            <p:nvPr/>
          </p:nvGrpSpPr>
          <p:grpSpPr>
            <a:xfrm>
              <a:off x="10153650" y="1030496"/>
              <a:ext cx="266700" cy="341104"/>
              <a:chOff x="10153650" y="1030496"/>
              <a:chExt cx="266700" cy="341104"/>
            </a:xfrm>
          </p:grpSpPr>
          <p:sp>
            <p:nvSpPr>
              <p:cNvPr id="66" name="Freeform 66"/>
              <p:cNvSpPr/>
              <p:nvPr/>
            </p:nvSpPr>
            <p:spPr>
              <a:xfrm>
                <a:off x="10153650" y="1030496"/>
                <a:ext cx="266700" cy="244058"/>
              </a:xfrm>
              <a:custGeom>
                <a:avLst/>
                <a:gdLst/>
                <a:ahLst/>
                <a:cxnLst/>
                <a:rect l="l" t="t" r="r" b="b"/>
                <a:pathLst>
                  <a:path w="266700" h="244058">
                    <a:moveTo>
                      <a:pt x="0" y="36304"/>
                    </a:moveTo>
                    <a:cubicBezTo>
                      <a:pt x="37037" y="0"/>
                      <a:pt x="96313" y="0"/>
                      <a:pt x="133350" y="36304"/>
                    </a:cubicBezTo>
                    <a:cubicBezTo>
                      <a:pt x="170387" y="72608"/>
                      <a:pt x="229663" y="72608"/>
                      <a:pt x="266700" y="36304"/>
                    </a:cubicBezTo>
                    <a:lnTo>
                      <a:pt x="266700" y="207754"/>
                    </a:lnTo>
                    <a:cubicBezTo>
                      <a:pt x="229663" y="244058"/>
                      <a:pt x="170387" y="244058"/>
                      <a:pt x="133350" y="207754"/>
                    </a:cubicBezTo>
                    <a:cubicBezTo>
                      <a:pt x="96313" y="171450"/>
                      <a:pt x="37037" y="171450"/>
                      <a:pt x="0" y="207754"/>
                    </a:cubicBezTo>
                    <a:lnTo>
                      <a:pt x="0" y="36304"/>
                    </a:lnTo>
                  </a:path>
                </a:pathLst>
              </a:custGeom>
              <a:noFill/>
              <a:ln w="38100">
                <a:solidFill>
                  <a:srgbClr val="FFFFFF"/>
                </a:solidFill>
              </a:ln>
            </p:spPr>
          </p:sp>
          <p:sp>
            <p:nvSpPr>
              <p:cNvPr id="67" name="Freeform 67"/>
              <p:cNvSpPr/>
              <p:nvPr/>
            </p:nvSpPr>
            <p:spPr>
              <a:xfrm>
                <a:off x="10153650" y="1238250"/>
                <a:ext cx="9525" cy="133350"/>
              </a:xfrm>
              <a:custGeom>
                <a:avLst/>
                <a:gdLst/>
                <a:ahLst/>
                <a:cxnLst/>
                <a:rect l="l" t="t" r="r" b="b"/>
                <a:pathLst>
                  <a:path w="9525" h="133350">
                    <a:moveTo>
                      <a:pt x="0" y="133350"/>
                    </a:moveTo>
                    <a:lnTo>
                      <a:pt x="0" y="0"/>
                    </a:lnTo>
                  </a:path>
                </a:pathLst>
              </a:custGeom>
              <a:noFill/>
              <a:ln w="38100">
                <a:solidFill>
                  <a:srgbClr val="FFFFFF"/>
                </a:solidFill>
              </a:ln>
            </p:spPr>
          </p:sp>
        </p:grpSp>
        <p:sp>
          <p:nvSpPr>
            <p:cNvPr id="69" name="TextBox 69"/>
            <p:cNvSpPr txBox="1"/>
            <p:nvPr/>
          </p:nvSpPr>
          <p:spPr>
            <a:xfrm>
              <a:off x="10009924" y="2005251"/>
              <a:ext cx="554152" cy="198025"/>
            </a:xfrm>
            <a:prstGeom prst="rect">
              <a:avLst/>
            </a:prstGeom>
            <a:noFill/>
            <a:ln>
              <a:noFill/>
            </a:ln>
          </p:spPr>
          <p:txBody>
            <a:bodyPr wrap="none" lIns="0" tIns="0" rIns="0" bIns="0" anchor="t" anchorCtr="0">
              <a:spAutoFit/>
            </a:bodyPr>
            <a:lstStyle/>
            <a:p>
              <a:pPr algn="ctr"/>
              <a:r>
                <a:rPr lang="zh-CN" sz="1010" dirty="0">
                  <a:solidFill>
                    <a:srgbClr val="D8DEF2"/>
                  </a:solidFill>
                  <a:latin typeface="+mn-lt"/>
                  <a:ea typeface="+mn-ea"/>
                  <a:cs typeface="+mn-cs"/>
                </a:rPr>
                <a:t>新增功能</a:t>
              </a:r>
            </a:p>
          </p:txBody>
        </p:sp>
        <p:sp>
          <p:nvSpPr>
            <p:cNvPr id="70" name="TextBox 70"/>
            <p:cNvSpPr txBox="1"/>
            <p:nvPr/>
          </p:nvSpPr>
          <p:spPr>
            <a:xfrm>
              <a:off x="9697662" y="2220278"/>
              <a:ext cx="1178676" cy="498729"/>
            </a:xfrm>
            <a:prstGeom prst="rect">
              <a:avLst/>
            </a:prstGeom>
            <a:noFill/>
            <a:ln>
              <a:noFill/>
            </a:ln>
          </p:spPr>
          <p:txBody>
            <a:bodyPr wrap="none" lIns="0" tIns="0" rIns="0" bIns="0" anchor="t" anchorCtr="0">
              <a:spAutoFit/>
            </a:bodyPr>
            <a:lstStyle/>
            <a:p>
              <a:pPr algn="ctr"/>
              <a:r>
                <a:rPr lang="zh-CN" sz="2550" b="1" dirty="0">
                  <a:solidFill>
                    <a:srgbClr val="FFFFFF"/>
                  </a:solidFill>
                  <a:latin typeface="+mn-lt"/>
                  <a:ea typeface="+mn-ea"/>
                  <a:cs typeface="+mn-cs"/>
                </a:rPr>
                <a:t>152</a:t>
              </a:r>
              <a:r>
                <a:rPr lang="zh-CN" sz="1200" b="1" dirty="0">
                  <a:solidFill>
                    <a:srgbClr val="FFFFFF"/>
                  </a:solidFill>
                  <a:latin typeface="+mn-lt"/>
                  <a:ea typeface="+mn-ea"/>
                  <a:cs typeface="+mn-cs"/>
                </a:rPr>
                <a:t>项</a:t>
              </a:r>
              <a:r>
                <a:rPr lang="zh-CN" sz="2550" b="1" dirty="0">
                  <a:solidFill>
                    <a:srgbClr val="FFFFFF"/>
                  </a:solidFill>
                  <a:latin typeface="+mn-lt"/>
                  <a:ea typeface="+mn-ea"/>
                  <a:cs typeface="+mn-cs"/>
                </a:rPr>
                <a:t>​​</a:t>
              </a:r>
            </a:p>
          </p:txBody>
        </p:sp>
        <p:sp>
          <p:nvSpPr>
            <p:cNvPr id="71" name="Line 71"/>
            <p:cNvSpPr/>
            <p:nvPr/>
          </p:nvSpPr>
          <p:spPr>
            <a:xfrm>
              <a:off x="9525000" y="2781300"/>
              <a:ext cx="1524000" cy="9525"/>
            </a:xfrm>
            <a:custGeom>
              <a:avLst/>
              <a:gdLst/>
              <a:ahLst/>
              <a:cxnLst/>
              <a:rect l="l" t="t" r="r" b="b"/>
              <a:pathLst>
                <a:path w="1524000" h="9525">
                  <a:moveTo>
                    <a:pt x="0" y="0"/>
                  </a:moveTo>
                  <a:lnTo>
                    <a:pt x="1524000" y="0"/>
                  </a:lnTo>
                </a:path>
              </a:pathLst>
            </a:custGeom>
            <a:noFill/>
            <a:ln w="9525">
              <a:solidFill>
                <a:srgbClr val="E08C7B"/>
              </a:solidFill>
            </a:ln>
          </p:spPr>
        </p:sp>
        <p:sp>
          <p:nvSpPr>
            <p:cNvPr id="72" name="TextBox 72"/>
            <p:cNvSpPr txBox="1"/>
            <p:nvPr/>
          </p:nvSpPr>
          <p:spPr>
            <a:xfrm>
              <a:off x="10009924" y="3033951"/>
              <a:ext cx="554152" cy="198025"/>
            </a:xfrm>
            <a:prstGeom prst="rect">
              <a:avLst/>
            </a:prstGeom>
            <a:noFill/>
            <a:ln>
              <a:noFill/>
            </a:ln>
          </p:spPr>
          <p:txBody>
            <a:bodyPr wrap="none" lIns="0" tIns="0" rIns="0" bIns="0" anchor="t" anchorCtr="0">
              <a:spAutoFit/>
            </a:bodyPr>
            <a:lstStyle/>
            <a:p>
              <a:pPr algn="ctr"/>
              <a:r>
                <a:rPr lang="zh-CN" sz="1010" dirty="0">
                  <a:solidFill>
                    <a:srgbClr val="D8DEF2"/>
                  </a:solidFill>
                  <a:latin typeface="+mn-lt"/>
                  <a:ea typeface="+mn-ea"/>
                  <a:cs typeface="+mn-cs"/>
                </a:rPr>
                <a:t>优化功能</a:t>
              </a:r>
            </a:p>
          </p:txBody>
        </p:sp>
        <p:sp>
          <p:nvSpPr>
            <p:cNvPr id="73" name="TextBox 73"/>
            <p:cNvSpPr txBox="1"/>
            <p:nvPr/>
          </p:nvSpPr>
          <p:spPr>
            <a:xfrm>
              <a:off x="9796784" y="3248978"/>
              <a:ext cx="980431" cy="498729"/>
            </a:xfrm>
            <a:prstGeom prst="rect">
              <a:avLst/>
            </a:prstGeom>
            <a:noFill/>
            <a:ln>
              <a:noFill/>
            </a:ln>
          </p:spPr>
          <p:txBody>
            <a:bodyPr wrap="none" lIns="0" tIns="0" rIns="0" bIns="0" anchor="t" anchorCtr="0">
              <a:spAutoFit/>
            </a:bodyPr>
            <a:lstStyle/>
            <a:p>
              <a:pPr algn="ctr"/>
              <a:r>
                <a:rPr lang="zh-CN" sz="2550" b="1" dirty="0">
                  <a:solidFill>
                    <a:srgbClr val="FFFFFF"/>
                  </a:solidFill>
                  <a:latin typeface="+mn-lt"/>
                  <a:ea typeface="+mn-ea"/>
                  <a:cs typeface="+mn-cs"/>
                </a:rPr>
                <a:t>63</a:t>
              </a:r>
              <a:r>
                <a:rPr lang="zh-CN" sz="1200" b="1" dirty="0">
                  <a:solidFill>
                    <a:srgbClr val="FFFFFF"/>
                  </a:solidFill>
                  <a:latin typeface="+mn-lt"/>
                  <a:ea typeface="+mn-ea"/>
                  <a:cs typeface="+mn-cs"/>
                </a:rPr>
                <a:t>项</a:t>
              </a:r>
              <a:r>
                <a:rPr lang="zh-CN" sz="2550" b="1" dirty="0">
                  <a:solidFill>
                    <a:srgbClr val="FFFFFF"/>
                  </a:solidFill>
                  <a:latin typeface="+mn-lt"/>
                  <a:ea typeface="+mn-ea"/>
                  <a:cs typeface="+mn-cs"/>
                </a:rPr>
                <a:t>​​</a:t>
              </a:r>
            </a:p>
          </p:txBody>
        </p:sp>
        <p:sp>
          <p:nvSpPr>
            <p:cNvPr id="74" name="Line 74"/>
            <p:cNvSpPr/>
            <p:nvPr/>
          </p:nvSpPr>
          <p:spPr>
            <a:xfrm>
              <a:off x="9525000" y="3810000"/>
              <a:ext cx="1524000" cy="9525"/>
            </a:xfrm>
            <a:custGeom>
              <a:avLst/>
              <a:gdLst/>
              <a:ahLst/>
              <a:cxnLst/>
              <a:rect l="l" t="t" r="r" b="b"/>
              <a:pathLst>
                <a:path w="1524000" h="9525">
                  <a:moveTo>
                    <a:pt x="0" y="0"/>
                  </a:moveTo>
                  <a:lnTo>
                    <a:pt x="1524000" y="0"/>
                  </a:lnTo>
                </a:path>
              </a:pathLst>
            </a:custGeom>
            <a:noFill/>
            <a:ln w="9525">
              <a:solidFill>
                <a:srgbClr val="E08C7B"/>
              </a:solidFill>
            </a:ln>
          </p:spPr>
        </p:sp>
        <p:sp>
          <p:nvSpPr>
            <p:cNvPr id="75" name="TextBox 75"/>
            <p:cNvSpPr txBox="1"/>
            <p:nvPr/>
          </p:nvSpPr>
          <p:spPr>
            <a:xfrm>
              <a:off x="10009924" y="4062651"/>
              <a:ext cx="554152" cy="198025"/>
            </a:xfrm>
            <a:prstGeom prst="rect">
              <a:avLst/>
            </a:prstGeom>
            <a:noFill/>
            <a:ln>
              <a:noFill/>
            </a:ln>
          </p:spPr>
          <p:txBody>
            <a:bodyPr wrap="none" lIns="0" tIns="0" rIns="0" bIns="0" anchor="t" anchorCtr="0">
              <a:spAutoFit/>
            </a:bodyPr>
            <a:lstStyle/>
            <a:p>
              <a:pPr algn="ctr"/>
              <a:r>
                <a:rPr lang="zh-CN" sz="1010" dirty="0">
                  <a:solidFill>
                    <a:srgbClr val="D8DEF2"/>
                  </a:solidFill>
                  <a:latin typeface="+mn-lt"/>
                  <a:ea typeface="+mn-ea"/>
                  <a:cs typeface="+mn-cs"/>
                </a:rPr>
                <a:t>版本迭代</a:t>
              </a:r>
            </a:p>
          </p:txBody>
        </p:sp>
        <p:sp>
          <p:nvSpPr>
            <p:cNvPr id="76" name="TextBox 76"/>
            <p:cNvSpPr txBox="1"/>
            <p:nvPr/>
          </p:nvSpPr>
          <p:spPr>
            <a:xfrm>
              <a:off x="9895907" y="4277678"/>
              <a:ext cx="782186" cy="498729"/>
            </a:xfrm>
            <a:prstGeom prst="rect">
              <a:avLst/>
            </a:prstGeom>
            <a:noFill/>
            <a:ln>
              <a:noFill/>
            </a:ln>
          </p:spPr>
          <p:txBody>
            <a:bodyPr wrap="none" lIns="0" tIns="0" rIns="0" bIns="0" anchor="t" anchorCtr="0">
              <a:spAutoFit/>
            </a:bodyPr>
            <a:lstStyle/>
            <a:p>
              <a:pPr algn="ctr"/>
              <a:r>
                <a:rPr lang="zh-CN" sz="2550" b="1" dirty="0">
                  <a:solidFill>
                    <a:srgbClr val="FFFFFF"/>
                  </a:solidFill>
                  <a:latin typeface="+mn-lt"/>
                  <a:ea typeface="+mn-ea"/>
                  <a:cs typeface="+mn-cs"/>
                </a:rPr>
                <a:t>2</a:t>
              </a:r>
              <a:r>
                <a:rPr lang="zh-CN" sz="1200" b="1" dirty="0">
                  <a:solidFill>
                    <a:srgbClr val="FFFFFF"/>
                  </a:solidFill>
                  <a:latin typeface="+mn-lt"/>
                  <a:ea typeface="+mn-ea"/>
                  <a:cs typeface="+mn-cs"/>
                </a:rPr>
                <a:t>次</a:t>
              </a:r>
              <a:r>
                <a:rPr lang="zh-CN" sz="2550" b="1" dirty="0">
                  <a:solidFill>
                    <a:srgbClr val="FFFFFF"/>
                  </a:solidFill>
                  <a:latin typeface="+mn-lt"/>
                  <a:ea typeface="+mn-ea"/>
                  <a:cs typeface="+mn-cs"/>
                </a:rPr>
                <a:t>​​</a:t>
              </a:r>
            </a:p>
          </p:txBody>
        </p:sp>
      </p:gr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arrow-ev1"/>
          <p:cNvSpPr/>
          <p:nvPr/>
        </p:nvSpPr>
        <p:spPr>
          <a:xfrm>
            <a:off x="3219450" y="2019300"/>
            <a:ext cx="704850" cy="533400"/>
          </a:xfrm>
          <a:custGeom>
            <a:avLst/>
            <a:gdLst/>
            <a:ahLst/>
            <a:cxnLst/>
            <a:rect l="l" t="t" r="r" b="b"/>
            <a:pathLst>
              <a:path w="704850" h="533400">
                <a:moveTo>
                  <a:pt x="0" y="0"/>
                </a:moveTo>
                <a:lnTo>
                  <a:pt x="704850" y="266700"/>
                </a:lnTo>
                <a:lnTo>
                  <a:pt x="0" y="533400"/>
                </a:lnTo>
                <a:close/>
              </a:path>
            </a:pathLst>
          </a:custGeom>
          <a:solidFill>
            <a:srgbClr val="C7CDF0"/>
          </a:solidFill>
          <a:ln>
            <a:noFill/>
          </a:ln>
        </p:spPr>
      </p:sp>
      <p:sp>
        <p:nvSpPr>
          <p:cNvPr id="3" name="arrow-ev2"/>
          <p:cNvSpPr/>
          <p:nvPr/>
        </p:nvSpPr>
        <p:spPr>
          <a:xfrm>
            <a:off x="3219450" y="4629150"/>
            <a:ext cx="704850" cy="533400"/>
          </a:xfrm>
          <a:custGeom>
            <a:avLst/>
            <a:gdLst/>
            <a:ahLst/>
            <a:cxnLst/>
            <a:rect l="l" t="t" r="r" b="b"/>
            <a:pathLst>
              <a:path w="704850" h="533400">
                <a:moveTo>
                  <a:pt x="0" y="0"/>
                </a:moveTo>
                <a:lnTo>
                  <a:pt x="704850" y="266700"/>
                </a:lnTo>
                <a:lnTo>
                  <a:pt x="0" y="533400"/>
                </a:lnTo>
                <a:close/>
              </a:path>
            </a:pathLst>
          </a:custGeom>
          <a:solidFill>
            <a:srgbClr val="C7CDF0"/>
          </a:solidFill>
          <a:ln>
            <a:noFill/>
          </a:ln>
        </p:spPr>
      </p:sp>
      <p:sp>
        <p:nvSpPr>
          <p:cNvPr id="4" name="arrow-result"/>
          <p:cNvSpPr/>
          <p:nvPr/>
        </p:nvSpPr>
        <p:spPr>
          <a:xfrm>
            <a:off x="7734300" y="3257550"/>
            <a:ext cx="533400" cy="533400"/>
          </a:xfrm>
          <a:custGeom>
            <a:avLst/>
            <a:gdLst/>
            <a:ahLst/>
            <a:cxnLst/>
            <a:rect l="l" t="t" r="r" b="b"/>
            <a:pathLst>
              <a:path w="533400" h="533400">
                <a:moveTo>
                  <a:pt x="533400" y="0"/>
                </a:moveTo>
                <a:lnTo>
                  <a:pt x="0" y="266700"/>
                </a:lnTo>
                <a:lnTo>
                  <a:pt x="533400" y="533400"/>
                </a:lnTo>
                <a:close/>
              </a:path>
            </a:pathLst>
          </a:custGeom>
          <a:solidFill>
            <a:srgbClr val="F2ACA0"/>
          </a:solidFill>
          <a:ln>
            <a:noFill/>
          </a:ln>
        </p:spPr>
      </p:sp>
      <p:grpSp>
        <p:nvGrpSpPr>
          <p:cNvPr id="9" name="page-header"/>
          <p:cNvGrpSpPr/>
          <p:nvPr/>
        </p:nvGrpSpPr>
        <p:grpSpPr>
          <a:xfrm>
            <a:off x="0" y="0"/>
            <a:ext cx="5905500" cy="542925"/>
            <a:chOff x="0" y="0"/>
            <a:chExt cx="5905500" cy="542925"/>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45F4A"/>
            </a:solidFill>
            <a:ln>
              <a:noFill/>
            </a:ln>
          </p:spPr>
        </p:sp>
        <p:sp>
          <p:nvSpPr>
            <p:cNvPr id="6" name="TextBox 6"/>
            <p:cNvSpPr txBox="1"/>
            <p:nvPr/>
          </p:nvSpPr>
          <p:spPr>
            <a:xfrm>
              <a:off x="123063" y="143351"/>
              <a:ext cx="68429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82​​</a:t>
              </a:r>
            </a:p>
          </p:txBody>
        </p:sp>
        <p:sp>
          <p:nvSpPr>
            <p:cNvPr id="7" name="TextBox 7"/>
            <p:cNvSpPr txBox="1"/>
            <p:nvPr/>
          </p:nvSpPr>
          <p:spPr>
            <a:xfrm>
              <a:off x="942594" y="151448"/>
              <a:ext cx="212156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mj-lt"/>
                  <a:ea typeface="+mj-ea"/>
                  <a:cs typeface="+mj-cs"/>
                </a:rPr>
                <a:t>下半年活动复盘​</a:t>
              </a:r>
            </a:p>
          </p:txBody>
        </p:sp>
        <p:sp>
          <p:nvSpPr>
            <p:cNvPr id="8" name="Line 8"/>
            <p:cNvSpPr/>
            <p:nvPr/>
          </p:nvSpPr>
          <p:spPr>
            <a:xfrm>
              <a:off x="952500" y="533400"/>
              <a:ext cx="4953000" cy="9525"/>
            </a:xfrm>
            <a:custGeom>
              <a:avLst/>
              <a:gdLst/>
              <a:ahLst/>
              <a:cxnLst/>
              <a:rect l="l" t="t" r="r" b="b"/>
              <a:pathLst>
                <a:path w="4953000" h="9525">
                  <a:moveTo>
                    <a:pt x="0" y="0"/>
                  </a:moveTo>
                  <a:lnTo>
                    <a:pt x="4953000" y="0"/>
                  </a:lnTo>
                </a:path>
              </a:pathLst>
            </a:custGeom>
            <a:noFill/>
            <a:ln w="14288">
              <a:solidFill>
                <a:srgbClr val="C45F4A"/>
              </a:solidFill>
            </a:ln>
          </p:spPr>
        </p:sp>
      </p:grpSp>
      <p:grpSp>
        <p:nvGrpSpPr>
          <p:cNvPr id="18" name="evidence-1"/>
          <p:cNvGrpSpPr/>
          <p:nvPr/>
        </p:nvGrpSpPr>
        <p:grpSpPr>
          <a:xfrm>
            <a:off x="381000" y="952500"/>
            <a:ext cx="2762250" cy="2381250"/>
            <a:chOff x="381000" y="952500"/>
            <a:chExt cx="2762250" cy="2381250"/>
          </a:xfrm>
        </p:grpSpPr>
        <p:sp>
          <p:nvSpPr>
            <p:cNvPr id="10" name="Rectangle 10"/>
            <p:cNvSpPr/>
            <p:nvPr/>
          </p:nvSpPr>
          <p:spPr>
            <a:xfrm>
              <a:off x="381000" y="952500"/>
              <a:ext cx="2762250" cy="2381250"/>
            </a:xfrm>
            <a:prstGeom prst="roundRect">
              <a:avLst>
                <a:gd name="adj" fmla="val 4000"/>
              </a:avLst>
            </a:prstGeom>
            <a:solidFill>
              <a:srgbClr val="FFFFFF"/>
            </a:solidFill>
            <a:ln w="14288">
              <a:solidFill>
                <a:srgbClr val="E2E6F7"/>
              </a:solidFill>
            </a:ln>
          </p:spPr>
        </p:sp>
        <p:sp>
          <p:nvSpPr>
            <p:cNvPr id="11" name="Rectangle 11"/>
            <p:cNvSpPr/>
            <p:nvPr/>
          </p:nvSpPr>
          <p:spPr>
            <a:xfrm>
              <a:off x="533400" y="1085850"/>
              <a:ext cx="2286000" cy="304800"/>
            </a:xfrm>
            <a:prstGeom prst="roundRect">
              <a:avLst>
                <a:gd name="adj" fmla="val 12500"/>
              </a:avLst>
            </a:prstGeom>
            <a:solidFill>
              <a:srgbClr val="C45F4A"/>
            </a:solidFill>
            <a:ln>
              <a:noFill/>
            </a:ln>
          </p:spPr>
        </p:sp>
        <p:sp>
          <p:nvSpPr>
            <p:cNvPr id="12" name="TextBox 12"/>
            <p:cNvSpPr txBox="1"/>
            <p:nvPr/>
          </p:nvSpPr>
          <p:spPr>
            <a:xfrm>
              <a:off x="999074" y="1186101"/>
              <a:ext cx="1354653"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内容曝光量达900万​​</a:t>
              </a:r>
            </a:p>
          </p:txBody>
        </p:sp>
        <p:sp>
          <p:nvSpPr>
            <p:cNvPr id="13" name="Rectangle 13"/>
            <p:cNvSpPr/>
            <p:nvPr/>
          </p:nvSpPr>
          <p:spPr>
            <a:xfrm>
              <a:off x="533400" y="1504950"/>
              <a:ext cx="2286000" cy="1143000"/>
            </a:xfrm>
            <a:prstGeom prst="roundRect">
              <a:avLst>
                <a:gd name="adj" fmla="val 3333"/>
              </a:avLst>
            </a:prstGeom>
            <a:solidFill>
              <a:srgbClr val="D7E3F5"/>
            </a:solidFill>
            <a:ln>
              <a:noFill/>
            </a:ln>
          </p:spPr>
        </p:sp>
        <p:sp>
          <p:nvSpPr>
            <p:cNvPr id="14" name="Polygon 14"/>
            <p:cNvSpPr/>
            <p:nvPr/>
          </p:nvSpPr>
          <p:spPr>
            <a:xfrm>
              <a:off x="533400" y="1905000"/>
              <a:ext cx="1257300" cy="742950"/>
            </a:xfrm>
            <a:custGeom>
              <a:avLst/>
              <a:gdLst/>
              <a:ahLst/>
              <a:cxnLst/>
              <a:rect l="l" t="t" r="r" b="b"/>
              <a:pathLst>
                <a:path w="1257300" h="742950">
                  <a:moveTo>
                    <a:pt x="0" y="742950"/>
                  </a:moveTo>
                  <a:lnTo>
                    <a:pt x="685800" y="0"/>
                  </a:lnTo>
                  <a:lnTo>
                    <a:pt x="1257300" y="742950"/>
                  </a:lnTo>
                  <a:close/>
                </a:path>
              </a:pathLst>
            </a:custGeom>
            <a:solidFill>
              <a:srgbClr val="E8C1B9"/>
            </a:solidFill>
            <a:ln>
              <a:noFill/>
            </a:ln>
          </p:spPr>
        </p:sp>
        <p:sp>
          <p:nvSpPr>
            <p:cNvPr id="15" name="Polygon 15"/>
            <p:cNvSpPr/>
            <p:nvPr/>
          </p:nvSpPr>
          <p:spPr>
            <a:xfrm>
              <a:off x="1447800" y="1790700"/>
              <a:ext cx="1371600" cy="857250"/>
            </a:xfrm>
            <a:custGeom>
              <a:avLst/>
              <a:gdLst/>
              <a:ahLst/>
              <a:cxnLst/>
              <a:rect l="l" t="t" r="r" b="b"/>
              <a:pathLst>
                <a:path w="1371600" h="857250">
                  <a:moveTo>
                    <a:pt x="0" y="857250"/>
                  </a:moveTo>
                  <a:lnTo>
                    <a:pt x="685800" y="0"/>
                  </a:lnTo>
                  <a:lnTo>
                    <a:pt x="1371600" y="857250"/>
                  </a:lnTo>
                  <a:close/>
                </a:path>
              </a:pathLst>
            </a:custGeom>
            <a:solidFill>
              <a:srgbClr val="C9D8F0"/>
            </a:solidFill>
            <a:ln>
              <a:noFill/>
            </a:ln>
          </p:spPr>
        </p:sp>
        <p:sp>
          <p:nvSpPr>
            <p:cNvPr id="16" name="Polygon 16"/>
            <p:cNvSpPr/>
            <p:nvPr/>
          </p:nvSpPr>
          <p:spPr>
            <a:xfrm>
              <a:off x="1952625" y="1790700"/>
              <a:ext cx="361950" cy="228600"/>
            </a:xfrm>
            <a:custGeom>
              <a:avLst/>
              <a:gdLst/>
              <a:ahLst/>
              <a:cxnLst/>
              <a:rect l="l" t="t" r="r" b="b"/>
              <a:pathLst>
                <a:path w="361950" h="228600">
                  <a:moveTo>
                    <a:pt x="0" y="228600"/>
                  </a:moveTo>
                  <a:lnTo>
                    <a:pt x="180975" y="0"/>
                  </a:lnTo>
                  <a:lnTo>
                    <a:pt x="361950" y="228600"/>
                  </a:lnTo>
                  <a:close/>
                </a:path>
              </a:pathLst>
            </a:custGeom>
            <a:solidFill>
              <a:srgbClr val="FFFFFF"/>
            </a:solidFill>
            <a:ln>
              <a:noFill/>
            </a:ln>
          </p:spPr>
        </p:sp>
        <p:sp>
          <p:nvSpPr>
            <p:cNvPr id="17" name="TextBox 17"/>
            <p:cNvSpPr txBox="1"/>
            <p:nvPr/>
          </p:nvSpPr>
          <p:spPr>
            <a:xfrm>
              <a:off x="528638" y="2973943"/>
              <a:ext cx="1485633"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活动话题浏览量超200万。​​</a:t>
              </a:r>
            </a:p>
          </p:txBody>
        </p:sp>
      </p:grpSp>
      <p:grpSp>
        <p:nvGrpSpPr>
          <p:cNvPr id="27" name="evidence-2"/>
          <p:cNvGrpSpPr/>
          <p:nvPr/>
        </p:nvGrpSpPr>
        <p:grpSpPr>
          <a:xfrm>
            <a:off x="381000" y="3810000"/>
            <a:ext cx="2762250" cy="2381250"/>
            <a:chOff x="381000" y="3810000"/>
            <a:chExt cx="2762250" cy="2381250"/>
          </a:xfrm>
        </p:grpSpPr>
        <p:sp>
          <p:nvSpPr>
            <p:cNvPr id="19" name="Rectangle 19"/>
            <p:cNvSpPr/>
            <p:nvPr/>
          </p:nvSpPr>
          <p:spPr>
            <a:xfrm>
              <a:off x="381000" y="3810000"/>
              <a:ext cx="2762250" cy="2381250"/>
            </a:xfrm>
            <a:prstGeom prst="roundRect">
              <a:avLst>
                <a:gd name="adj" fmla="val 4000"/>
              </a:avLst>
            </a:prstGeom>
            <a:solidFill>
              <a:srgbClr val="FFFFFF"/>
            </a:solidFill>
            <a:ln w="14288">
              <a:solidFill>
                <a:srgbClr val="E2E6F7"/>
              </a:solidFill>
            </a:ln>
          </p:spPr>
        </p:sp>
        <p:sp>
          <p:nvSpPr>
            <p:cNvPr id="20" name="Rectangle 20"/>
            <p:cNvSpPr/>
            <p:nvPr/>
          </p:nvSpPr>
          <p:spPr>
            <a:xfrm>
              <a:off x="533400" y="3943350"/>
              <a:ext cx="2286000" cy="304800"/>
            </a:xfrm>
            <a:prstGeom prst="roundRect">
              <a:avLst>
                <a:gd name="adj" fmla="val 12500"/>
              </a:avLst>
            </a:prstGeom>
            <a:solidFill>
              <a:srgbClr val="C45F4A"/>
            </a:solidFill>
            <a:ln>
              <a:noFill/>
            </a:ln>
          </p:spPr>
        </p:sp>
        <p:sp>
          <p:nvSpPr>
            <p:cNvPr id="21" name="TextBox 21"/>
            <p:cNvSpPr txBox="1"/>
            <p:nvPr/>
          </p:nvSpPr>
          <p:spPr>
            <a:xfrm>
              <a:off x="863107" y="4043601"/>
              <a:ext cx="1626585"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活动话题浏览量超200万​​</a:t>
              </a:r>
            </a:p>
          </p:txBody>
        </p:sp>
        <p:sp>
          <p:nvSpPr>
            <p:cNvPr id="22" name="Rectangle 22"/>
            <p:cNvSpPr/>
            <p:nvPr/>
          </p:nvSpPr>
          <p:spPr>
            <a:xfrm>
              <a:off x="533400" y="4362450"/>
              <a:ext cx="2286000" cy="1143000"/>
            </a:xfrm>
            <a:prstGeom prst="roundRect">
              <a:avLst>
                <a:gd name="adj" fmla="val 3333"/>
              </a:avLst>
            </a:prstGeom>
            <a:solidFill>
              <a:srgbClr val="D7E3F5"/>
            </a:solidFill>
            <a:ln>
              <a:noFill/>
            </a:ln>
          </p:spPr>
        </p:sp>
        <p:sp>
          <p:nvSpPr>
            <p:cNvPr id="23" name="Polygon 23"/>
            <p:cNvSpPr/>
            <p:nvPr/>
          </p:nvSpPr>
          <p:spPr>
            <a:xfrm>
              <a:off x="533400" y="4686300"/>
              <a:ext cx="1371600" cy="819150"/>
            </a:xfrm>
            <a:custGeom>
              <a:avLst/>
              <a:gdLst/>
              <a:ahLst/>
              <a:cxnLst/>
              <a:rect l="l" t="t" r="r" b="b"/>
              <a:pathLst>
                <a:path w="1371600" h="819150">
                  <a:moveTo>
                    <a:pt x="0" y="819150"/>
                  </a:moveTo>
                  <a:lnTo>
                    <a:pt x="800100" y="0"/>
                  </a:lnTo>
                  <a:lnTo>
                    <a:pt x="1371600" y="819150"/>
                  </a:lnTo>
                  <a:close/>
                </a:path>
              </a:pathLst>
            </a:custGeom>
            <a:solidFill>
              <a:srgbClr val="E8C1B9"/>
            </a:solidFill>
            <a:ln>
              <a:noFill/>
            </a:ln>
          </p:spPr>
        </p:sp>
        <p:sp>
          <p:nvSpPr>
            <p:cNvPr id="24" name="Polygon 24"/>
            <p:cNvSpPr/>
            <p:nvPr/>
          </p:nvSpPr>
          <p:spPr>
            <a:xfrm>
              <a:off x="1524000" y="4648200"/>
              <a:ext cx="1295400" cy="857250"/>
            </a:xfrm>
            <a:custGeom>
              <a:avLst/>
              <a:gdLst/>
              <a:ahLst/>
              <a:cxnLst/>
              <a:rect l="l" t="t" r="r" b="b"/>
              <a:pathLst>
                <a:path w="1295400" h="857250">
                  <a:moveTo>
                    <a:pt x="0" y="857250"/>
                  </a:moveTo>
                  <a:lnTo>
                    <a:pt x="666750" y="0"/>
                  </a:lnTo>
                  <a:lnTo>
                    <a:pt x="1295400" y="857250"/>
                  </a:lnTo>
                  <a:close/>
                </a:path>
              </a:pathLst>
            </a:custGeom>
            <a:solidFill>
              <a:srgbClr val="C9D8F0"/>
            </a:solidFill>
            <a:ln>
              <a:noFill/>
            </a:ln>
          </p:spPr>
        </p:sp>
        <p:sp>
          <p:nvSpPr>
            <p:cNvPr id="25" name="Polygon 25"/>
            <p:cNvSpPr/>
            <p:nvPr/>
          </p:nvSpPr>
          <p:spPr>
            <a:xfrm>
              <a:off x="2019300" y="4648200"/>
              <a:ext cx="342900" cy="228600"/>
            </a:xfrm>
            <a:custGeom>
              <a:avLst/>
              <a:gdLst/>
              <a:ahLst/>
              <a:cxnLst/>
              <a:rect l="l" t="t" r="r" b="b"/>
              <a:pathLst>
                <a:path w="342900" h="228600">
                  <a:moveTo>
                    <a:pt x="0" y="228600"/>
                  </a:moveTo>
                  <a:lnTo>
                    <a:pt x="171450" y="0"/>
                  </a:lnTo>
                  <a:lnTo>
                    <a:pt x="342900" y="228600"/>
                  </a:lnTo>
                  <a:close/>
                </a:path>
              </a:pathLst>
            </a:custGeom>
            <a:solidFill>
              <a:srgbClr val="FFFFFF"/>
            </a:solidFill>
            <a:ln>
              <a:noFill/>
            </a:ln>
          </p:spPr>
        </p:sp>
        <p:sp>
          <p:nvSpPr>
            <p:cNvPr id="26" name="TextBox 26"/>
            <p:cNvSpPr txBox="1"/>
            <p:nvPr/>
          </p:nvSpPr>
          <p:spPr>
            <a:xfrm>
              <a:off x="528638" y="5831443"/>
              <a:ext cx="1717180" cy="169069"/>
            </a:xfrm>
            <a:prstGeom prst="rect">
              <a:avLst/>
            </a:prstGeom>
            <a:noFill/>
            <a:ln>
              <a:noFill/>
            </a:ln>
          </p:spPr>
          <p:txBody>
            <a:bodyPr wrap="none" lIns="0" tIns="0" rIns="0" bIns="0" anchor="t" anchorCtr="0">
              <a:spAutoFit/>
            </a:bodyPr>
            <a:lstStyle/>
            <a:p>
              <a:pPr algn="l"/>
              <a:r>
                <a:rPr lang="zh-CN" sz="860" dirty="0">
                  <a:solidFill>
                    <a:srgbClr val="543E3A"/>
                  </a:solidFill>
                  <a:latin typeface="+mn-lt"/>
                  <a:ea typeface="+mn-ea"/>
                  <a:cs typeface="+mn-cs"/>
                </a:rPr>
                <a:t>活动期间直播观看量均达80万+​​</a:t>
              </a:r>
            </a:p>
          </p:txBody>
        </p:sp>
      </p:grpSp>
      <p:grpSp>
        <p:nvGrpSpPr>
          <p:cNvPr id="30" name="activity-title"/>
          <p:cNvGrpSpPr/>
          <p:nvPr/>
        </p:nvGrpSpPr>
        <p:grpSpPr>
          <a:xfrm>
            <a:off x="4476750" y="990600"/>
            <a:ext cx="2762250" cy="419100"/>
            <a:chOff x="4476750" y="990600"/>
            <a:chExt cx="2762250" cy="419100"/>
          </a:xfrm>
        </p:grpSpPr>
        <p:sp>
          <p:nvSpPr>
            <p:cNvPr id="28" name="Rectangle 28"/>
            <p:cNvSpPr/>
            <p:nvPr/>
          </p:nvSpPr>
          <p:spPr>
            <a:xfrm>
              <a:off x="4476750" y="990600"/>
              <a:ext cx="2762250" cy="419100"/>
            </a:xfrm>
            <a:prstGeom prst="roundRect">
              <a:avLst>
                <a:gd name="adj" fmla="val 18182"/>
              </a:avLst>
            </a:prstGeom>
            <a:solidFill>
              <a:srgbClr val="E8634C"/>
            </a:solidFill>
            <a:ln>
              <a:noFill/>
            </a:ln>
          </p:spPr>
        </p:sp>
        <p:sp>
          <p:nvSpPr>
            <p:cNvPr id="29" name="TextBox 29"/>
            <p:cNvSpPr txBox="1"/>
            <p:nvPr/>
          </p:nvSpPr>
          <p:spPr>
            <a:xfrm>
              <a:off x="5487543" y="1130618"/>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三大活动</a:t>
              </a:r>
            </a:p>
          </p:txBody>
        </p:sp>
      </p:grpSp>
      <p:grpSp>
        <p:nvGrpSpPr>
          <p:cNvPr id="48" name="activity-list"/>
          <p:cNvGrpSpPr/>
          <p:nvPr/>
        </p:nvGrpSpPr>
        <p:grpSpPr>
          <a:xfrm>
            <a:off x="3981450" y="1524000"/>
            <a:ext cx="3667125" cy="3924300"/>
            <a:chOff x="3981450" y="1524000"/>
            <a:chExt cx="3667125" cy="3924300"/>
          </a:xfrm>
        </p:grpSpPr>
        <p:sp>
          <p:nvSpPr>
            <p:cNvPr id="31" name="Line 31"/>
            <p:cNvSpPr/>
            <p:nvPr/>
          </p:nvSpPr>
          <p:spPr>
            <a:xfrm>
              <a:off x="3981450" y="1524000"/>
              <a:ext cx="9525" cy="3924300"/>
            </a:xfrm>
            <a:custGeom>
              <a:avLst/>
              <a:gdLst/>
              <a:ahLst/>
              <a:cxnLst/>
              <a:rect l="l" t="t" r="r" b="b"/>
              <a:pathLst>
                <a:path w="9525" h="3924300">
                  <a:moveTo>
                    <a:pt x="0" y="0"/>
                  </a:moveTo>
                  <a:lnTo>
                    <a:pt x="0" y="3924300"/>
                  </a:lnTo>
                </a:path>
              </a:pathLst>
            </a:custGeom>
            <a:noFill/>
            <a:ln w="9525">
              <a:solidFill>
                <a:srgbClr val="E4E8F6"/>
              </a:solidFill>
            </a:ln>
          </p:spPr>
        </p:sp>
        <p:sp>
          <p:nvSpPr>
            <p:cNvPr id="32" name="Line 32"/>
            <p:cNvSpPr/>
            <p:nvPr/>
          </p:nvSpPr>
          <p:spPr>
            <a:xfrm>
              <a:off x="7639050" y="1524000"/>
              <a:ext cx="9525" cy="3924300"/>
            </a:xfrm>
            <a:custGeom>
              <a:avLst/>
              <a:gdLst/>
              <a:ahLst/>
              <a:cxnLst/>
              <a:rect l="l" t="t" r="r" b="b"/>
              <a:pathLst>
                <a:path w="9525" h="3924300">
                  <a:moveTo>
                    <a:pt x="0" y="0"/>
                  </a:moveTo>
                  <a:lnTo>
                    <a:pt x="0" y="3924300"/>
                  </a:lnTo>
                </a:path>
              </a:pathLst>
            </a:custGeom>
            <a:noFill/>
            <a:ln w="9525">
              <a:solidFill>
                <a:srgbClr val="E4E8F6"/>
              </a:solidFill>
            </a:ln>
          </p:spPr>
        </p:sp>
        <p:sp>
          <p:nvSpPr>
            <p:cNvPr id="33" name="Rectangle 33"/>
            <p:cNvSpPr/>
            <p:nvPr/>
          </p:nvSpPr>
          <p:spPr>
            <a:xfrm>
              <a:off x="4019550" y="1600200"/>
              <a:ext cx="3581400" cy="1238250"/>
            </a:xfrm>
            <a:prstGeom prst="roundRect">
              <a:avLst>
                <a:gd name="adj" fmla="val 4615"/>
              </a:avLst>
            </a:prstGeom>
            <a:solidFill>
              <a:srgbClr val="E8EBF8"/>
            </a:solidFill>
            <a:ln>
              <a:noFill/>
            </a:ln>
          </p:spPr>
        </p:sp>
        <p:sp>
          <p:nvSpPr>
            <p:cNvPr id="34" name="Ellipse 34"/>
            <p:cNvSpPr/>
            <p:nvPr/>
          </p:nvSpPr>
          <p:spPr>
            <a:xfrm>
              <a:off x="4200525" y="1847850"/>
              <a:ext cx="266700" cy="266700"/>
            </a:xfrm>
            <a:prstGeom prst="ellipse">
              <a:avLst/>
            </a:prstGeom>
            <a:solidFill>
              <a:srgbClr val="C45F4A"/>
            </a:solidFill>
            <a:ln>
              <a:noFill/>
            </a:ln>
          </p:spPr>
        </p:sp>
        <p:sp>
          <p:nvSpPr>
            <p:cNvPr id="35" name="TextBox 35"/>
            <p:cNvSpPr txBox="1"/>
            <p:nvPr/>
          </p:nvSpPr>
          <p:spPr>
            <a:xfrm>
              <a:off x="4206096" y="191547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1​​</a:t>
              </a:r>
            </a:p>
          </p:txBody>
        </p:sp>
        <p:sp>
          <p:nvSpPr>
            <p:cNvPr id="36" name="TextBox 36"/>
            <p:cNvSpPr txBox="1"/>
            <p:nvPr/>
          </p:nvSpPr>
          <p:spPr>
            <a:xfrm>
              <a:off x="4566666" y="1848802"/>
              <a:ext cx="1000125" cy="205359"/>
            </a:xfrm>
            <a:prstGeom prst="rect">
              <a:avLst/>
            </a:prstGeom>
            <a:noFill/>
            <a:ln>
              <a:noFill/>
            </a:ln>
          </p:spPr>
          <p:txBody>
            <a:bodyPr wrap="none" lIns="0" tIns="0" rIns="0" bIns="0" anchor="t" anchorCtr="0">
              <a:spAutoFit/>
            </a:bodyPr>
            <a:lstStyle/>
            <a:p>
              <a:pPr algn="l"/>
              <a:r>
                <a:rPr lang="zh-CN" sz="1050" b="1" dirty="0">
                  <a:solidFill>
                    <a:srgbClr val="C45F4A"/>
                  </a:solidFill>
                  <a:latin typeface="+mn-lt"/>
                  <a:ea typeface="+mn-ea"/>
                  <a:cs typeface="+mn-cs"/>
                </a:rPr>
                <a:t>线下快闪店活动</a:t>
              </a:r>
            </a:p>
          </p:txBody>
        </p:sp>
        <p:sp>
          <p:nvSpPr>
            <p:cNvPr id="37" name="TextBox 37"/>
            <p:cNvSpPr txBox="1"/>
            <p:nvPr/>
          </p:nvSpPr>
          <p:spPr>
            <a:xfrm>
              <a:off x="4567238" y="2097643"/>
              <a:ext cx="1757045" cy="511969"/>
            </a:xfrm>
            <a:prstGeom prst="rect">
              <a:avLst/>
            </a:prstGeom>
            <a:noFill/>
            <a:ln>
              <a:noFill/>
            </a:ln>
          </p:spPr>
          <p:txBody>
            <a:bodyPr wrap="none" lIns="0" tIns="0" rIns="0" bIns="0" anchor="t" anchorCtr="0">
              <a:spAutoFit/>
            </a:bodyPr>
            <a:lstStyle/>
            <a:p>
              <a:pPr algn="l">
                <a:lnSpc>
                  <a:spcPts val="1350"/>
                </a:lnSpc>
              </a:pPr>
              <a:r>
                <a:rPr lang="zh-CN" sz="860" dirty="0">
                  <a:solidFill>
                    <a:srgbClr val="543E3A"/>
                  </a:solidFill>
                  <a:latin typeface="+mn-lt"/>
                  <a:ea typeface="+mn-ea"/>
                  <a:cs typeface="+mn-cs"/>
                </a:rPr>
                <a:t>推出全国夏日快闪巡场。以“破冰”</a:t>
              </a:r>
              <a:br/>
              <a:r>
                <a:rPr lang="zh-CN" sz="860" dirty="0">
                  <a:solidFill>
                    <a:srgbClr val="543E3A"/>
                  </a:solidFill>
                  <a:latin typeface="+mn-lt"/>
                  <a:ea typeface="+mn-ea"/>
                  <a:cs typeface="+mn-cs"/>
                </a:rPr>
                <a:t>为核心灵感，联动全国各重点城市，</a:t>
              </a:r>
              <a:br/>
              <a:r>
                <a:rPr lang="zh-CN" sz="860" dirty="0">
                  <a:solidFill>
                    <a:srgbClr val="543E3A"/>
                  </a:solidFill>
                  <a:latin typeface="+mn-lt"/>
                  <a:ea typeface="+mn-ea"/>
                  <a:cs typeface="+mn-cs"/>
                </a:rPr>
                <a:t>设置了氛围打卡</a:t>
              </a:r>
            </a:p>
          </p:txBody>
        </p:sp>
        <p:sp>
          <p:nvSpPr>
            <p:cNvPr id="38" name="Rectangle 38"/>
            <p:cNvSpPr/>
            <p:nvPr/>
          </p:nvSpPr>
          <p:spPr>
            <a:xfrm>
              <a:off x="4019550" y="2933700"/>
              <a:ext cx="3581400" cy="1143000"/>
            </a:xfrm>
            <a:prstGeom prst="roundRect">
              <a:avLst>
                <a:gd name="adj" fmla="val 5000"/>
              </a:avLst>
            </a:prstGeom>
            <a:solidFill>
              <a:srgbClr val="FBEDE8"/>
            </a:solidFill>
            <a:ln>
              <a:noFill/>
            </a:ln>
          </p:spPr>
        </p:sp>
        <p:sp>
          <p:nvSpPr>
            <p:cNvPr id="39" name="Ellipse 39"/>
            <p:cNvSpPr/>
            <p:nvPr/>
          </p:nvSpPr>
          <p:spPr>
            <a:xfrm>
              <a:off x="4200525" y="3181350"/>
              <a:ext cx="266700" cy="266700"/>
            </a:xfrm>
            <a:prstGeom prst="ellipse">
              <a:avLst/>
            </a:prstGeom>
            <a:solidFill>
              <a:srgbClr val="E8634C"/>
            </a:solidFill>
            <a:ln>
              <a:noFill/>
            </a:ln>
          </p:spPr>
        </p:sp>
        <p:sp>
          <p:nvSpPr>
            <p:cNvPr id="40" name="TextBox 40"/>
            <p:cNvSpPr txBox="1"/>
            <p:nvPr/>
          </p:nvSpPr>
          <p:spPr>
            <a:xfrm>
              <a:off x="4206096" y="324897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a:t>
              </a:r>
            </a:p>
          </p:txBody>
        </p:sp>
        <p:sp>
          <p:nvSpPr>
            <p:cNvPr id="41" name="TextBox 41"/>
            <p:cNvSpPr txBox="1"/>
            <p:nvPr/>
          </p:nvSpPr>
          <p:spPr>
            <a:xfrm>
              <a:off x="4566666" y="3182302"/>
              <a:ext cx="576072" cy="205359"/>
            </a:xfrm>
            <a:prstGeom prst="rect">
              <a:avLst/>
            </a:prstGeom>
            <a:noFill/>
            <a:ln>
              <a:noFill/>
            </a:ln>
          </p:spPr>
          <p:txBody>
            <a:bodyPr wrap="none" lIns="0" tIns="0" rIns="0" bIns="0" anchor="t" anchorCtr="0">
              <a:spAutoFit/>
            </a:bodyPr>
            <a:lstStyle/>
            <a:p>
              <a:pPr algn="l"/>
              <a:r>
                <a:rPr lang="zh-CN" sz="1050" b="1" dirty="0">
                  <a:solidFill>
                    <a:srgbClr val="E8634C"/>
                  </a:solidFill>
                  <a:latin typeface="+mn-lt"/>
                  <a:ea typeface="+mn-ea"/>
                  <a:cs typeface="+mn-cs"/>
                </a:rPr>
                <a:t>跨界营销</a:t>
              </a:r>
            </a:p>
          </p:txBody>
        </p:sp>
        <p:sp>
          <p:nvSpPr>
            <p:cNvPr id="42" name="TextBox 42"/>
            <p:cNvSpPr txBox="1"/>
            <p:nvPr/>
          </p:nvSpPr>
          <p:spPr>
            <a:xfrm>
              <a:off x="4567238" y="3431143"/>
              <a:ext cx="1757045" cy="340519"/>
            </a:xfrm>
            <a:prstGeom prst="rect">
              <a:avLst/>
            </a:prstGeom>
            <a:noFill/>
            <a:ln>
              <a:noFill/>
            </a:ln>
          </p:spPr>
          <p:txBody>
            <a:bodyPr wrap="none" lIns="0" tIns="0" rIns="0" bIns="0" anchor="t" anchorCtr="0">
              <a:spAutoFit/>
            </a:bodyPr>
            <a:lstStyle/>
            <a:p>
              <a:pPr algn="l">
                <a:lnSpc>
                  <a:spcPts val="1350"/>
                </a:lnSpc>
              </a:pPr>
              <a:r>
                <a:rPr lang="zh-CN" sz="860" dirty="0">
                  <a:solidFill>
                    <a:srgbClr val="543E3A"/>
                  </a:solidFill>
                  <a:latin typeface="+mn-lt"/>
                  <a:ea typeface="+mn-ea"/>
                  <a:cs typeface="+mn-cs"/>
                </a:rPr>
                <a:t>该活动精准地吸引了游戏玩家群体，</a:t>
              </a:r>
              <a:br/>
              <a:r>
                <a:rPr lang="zh-CN" sz="860" dirty="0">
                  <a:solidFill>
                    <a:srgbClr val="543E3A"/>
                  </a:solidFill>
                  <a:latin typeface="+mn-lt"/>
                  <a:ea typeface="+mn-ea"/>
                  <a:cs typeface="+mn-cs"/>
                </a:rPr>
                <a:t>提升了品牌在目标受众中的知名度。</a:t>
              </a:r>
            </a:p>
          </p:txBody>
        </p:sp>
        <p:sp>
          <p:nvSpPr>
            <p:cNvPr id="43" name="Rectangle 43"/>
            <p:cNvSpPr/>
            <p:nvPr/>
          </p:nvSpPr>
          <p:spPr>
            <a:xfrm>
              <a:off x="4019550" y="4171950"/>
              <a:ext cx="3581400" cy="1143000"/>
            </a:xfrm>
            <a:prstGeom prst="roundRect">
              <a:avLst>
                <a:gd name="adj" fmla="val 5000"/>
              </a:avLst>
            </a:prstGeom>
            <a:solidFill>
              <a:srgbClr val="E8EBF8"/>
            </a:solidFill>
            <a:ln>
              <a:noFill/>
            </a:ln>
          </p:spPr>
        </p:sp>
        <p:sp>
          <p:nvSpPr>
            <p:cNvPr id="44" name="Ellipse 44"/>
            <p:cNvSpPr/>
            <p:nvPr/>
          </p:nvSpPr>
          <p:spPr>
            <a:xfrm>
              <a:off x="4200525" y="4419600"/>
              <a:ext cx="266700" cy="266700"/>
            </a:xfrm>
            <a:prstGeom prst="ellipse">
              <a:avLst/>
            </a:prstGeom>
            <a:solidFill>
              <a:srgbClr val="C45F4A"/>
            </a:solidFill>
            <a:ln>
              <a:noFill/>
            </a:ln>
          </p:spPr>
        </p:sp>
        <p:sp>
          <p:nvSpPr>
            <p:cNvPr id="45" name="TextBox 45"/>
            <p:cNvSpPr txBox="1"/>
            <p:nvPr/>
          </p:nvSpPr>
          <p:spPr>
            <a:xfrm>
              <a:off x="4206096" y="4487228"/>
              <a:ext cx="255559"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3​​</a:t>
              </a:r>
            </a:p>
          </p:txBody>
        </p:sp>
        <p:sp>
          <p:nvSpPr>
            <p:cNvPr id="46" name="TextBox 46"/>
            <p:cNvSpPr txBox="1"/>
            <p:nvPr/>
          </p:nvSpPr>
          <p:spPr>
            <a:xfrm>
              <a:off x="4566666" y="4420552"/>
              <a:ext cx="858774" cy="205359"/>
            </a:xfrm>
            <a:prstGeom prst="rect">
              <a:avLst/>
            </a:prstGeom>
            <a:noFill/>
            <a:ln>
              <a:noFill/>
            </a:ln>
          </p:spPr>
          <p:txBody>
            <a:bodyPr wrap="none" lIns="0" tIns="0" rIns="0" bIns="0" anchor="t" anchorCtr="0">
              <a:spAutoFit/>
            </a:bodyPr>
            <a:lstStyle/>
            <a:p>
              <a:pPr algn="l"/>
              <a:r>
                <a:rPr lang="zh-CN" sz="1050" b="1" dirty="0">
                  <a:solidFill>
                    <a:srgbClr val="C45F4A"/>
                  </a:solidFill>
                  <a:latin typeface="+mn-lt"/>
                  <a:ea typeface="+mn-ea"/>
                  <a:cs typeface="+mn-cs"/>
                </a:rPr>
                <a:t>体育商赛赞助</a:t>
              </a:r>
            </a:p>
          </p:txBody>
        </p:sp>
        <p:sp>
          <p:nvSpPr>
            <p:cNvPr id="47" name="TextBox 47"/>
            <p:cNvSpPr txBox="1"/>
            <p:nvPr/>
          </p:nvSpPr>
          <p:spPr>
            <a:xfrm>
              <a:off x="4567238" y="4669393"/>
              <a:ext cx="1838960" cy="340519"/>
            </a:xfrm>
            <a:prstGeom prst="rect">
              <a:avLst/>
            </a:prstGeom>
            <a:noFill/>
            <a:ln>
              <a:noFill/>
            </a:ln>
          </p:spPr>
          <p:txBody>
            <a:bodyPr wrap="none" lIns="0" tIns="0" rIns="0" bIns="0" anchor="t" anchorCtr="0">
              <a:spAutoFit/>
            </a:bodyPr>
            <a:lstStyle/>
            <a:p>
              <a:pPr algn="l">
                <a:lnSpc>
                  <a:spcPts val="1350"/>
                </a:lnSpc>
              </a:pPr>
              <a:r>
                <a:rPr lang="zh-CN" sz="860" dirty="0">
                  <a:solidFill>
                    <a:srgbClr val="543E3A"/>
                  </a:solidFill>
                  <a:latin typeface="+mn-lt"/>
                  <a:ea typeface="+mn-ea"/>
                  <a:cs typeface="+mn-cs"/>
                </a:rPr>
                <a:t>场地的360度视图增强了品牌与消费​​</a:t>
              </a:r>
              <a:br/>
              <a:r>
                <a:rPr lang="zh-CN" sz="860" dirty="0">
                  <a:solidFill>
                    <a:srgbClr val="543E3A"/>
                  </a:solidFill>
                  <a:latin typeface="+mn-lt"/>
                  <a:ea typeface="+mn-ea"/>
                  <a:cs typeface="+mn-cs"/>
                </a:rPr>
                <a:t>者之间的连接</a:t>
              </a:r>
            </a:p>
          </p:txBody>
        </p:sp>
      </p:grpSp>
      <p:grpSp>
        <p:nvGrpSpPr>
          <p:cNvPr id="59" name="kpi-dau"/>
          <p:cNvGrpSpPr/>
          <p:nvPr/>
        </p:nvGrpSpPr>
        <p:grpSpPr>
          <a:xfrm>
            <a:off x="8620125" y="1619250"/>
            <a:ext cx="2952750" cy="762000"/>
            <a:chOff x="8620125" y="1619250"/>
            <a:chExt cx="2952750" cy="762000"/>
          </a:xfrm>
        </p:grpSpPr>
        <p:sp>
          <p:nvSpPr>
            <p:cNvPr id="49" name="Rectangle 49"/>
            <p:cNvSpPr/>
            <p:nvPr/>
          </p:nvSpPr>
          <p:spPr>
            <a:xfrm>
              <a:off x="8620125" y="1619250"/>
              <a:ext cx="1238250" cy="762000"/>
            </a:xfrm>
            <a:prstGeom prst="roundRect">
              <a:avLst>
                <a:gd name="adj" fmla="val 7500"/>
              </a:avLst>
            </a:prstGeom>
            <a:solidFill>
              <a:srgbClr val="C45F4A"/>
            </a:solidFill>
            <a:ln>
              <a:noFill/>
            </a:ln>
          </p:spPr>
        </p:sp>
        <p:grpSp>
          <p:nvGrpSpPr>
            <p:cNvPr id="54" name="Group 54"/>
            <p:cNvGrpSpPr/>
            <p:nvPr/>
          </p:nvGrpSpPr>
          <p:grpSpPr>
            <a:xfrm>
              <a:off x="9139238" y="1758950"/>
              <a:ext cx="200025" cy="187326"/>
              <a:chOff x="9139238" y="1758950"/>
              <a:chExt cx="200025" cy="187326"/>
            </a:xfrm>
          </p:grpSpPr>
          <p:sp>
            <p:nvSpPr>
              <p:cNvPr id="50" name="Freeform 50"/>
              <p:cNvSpPr/>
              <p:nvPr/>
            </p:nvSpPr>
            <p:spPr>
              <a:xfrm>
                <a:off x="9139238" y="184785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FFFFFF"/>
                </a:solidFill>
              </a:ln>
            </p:spPr>
          </p:sp>
          <p:sp>
            <p:nvSpPr>
              <p:cNvPr id="51" name="Freeform 51"/>
              <p:cNvSpPr/>
              <p:nvPr/>
            </p:nvSpPr>
            <p:spPr>
              <a:xfrm>
                <a:off x="9272588" y="180340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FFFFFF"/>
                </a:solidFill>
              </a:ln>
            </p:spPr>
          </p:sp>
          <p:sp>
            <p:nvSpPr>
              <p:cNvPr id="52" name="Freeform 52"/>
              <p:cNvSpPr/>
              <p:nvPr/>
            </p:nvSpPr>
            <p:spPr>
              <a:xfrm>
                <a:off x="9205913" y="175895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FFFFFF"/>
                </a:solidFill>
              </a:ln>
            </p:spPr>
          </p:sp>
          <p:sp>
            <p:nvSpPr>
              <p:cNvPr id="53" name="Freeform 53"/>
              <p:cNvSpPr/>
              <p:nvPr/>
            </p:nvSpPr>
            <p:spPr>
              <a:xfrm>
                <a:off x="9150350" y="1936751"/>
                <a:ext cx="155575" cy="9525"/>
              </a:xfrm>
              <a:custGeom>
                <a:avLst/>
                <a:gdLst/>
                <a:ahLst/>
                <a:cxnLst/>
                <a:rect l="l" t="t" r="r" b="b"/>
                <a:pathLst>
                  <a:path w="155575" h="9525">
                    <a:moveTo>
                      <a:pt x="0" y="0"/>
                    </a:moveTo>
                    <a:lnTo>
                      <a:pt x="155575" y="0"/>
                    </a:lnTo>
                  </a:path>
                </a:pathLst>
              </a:custGeom>
              <a:noFill/>
              <a:ln w="22225">
                <a:solidFill>
                  <a:srgbClr val="FFFFFF"/>
                </a:solidFill>
              </a:ln>
            </p:spPr>
          </p:sp>
        </p:grpSp>
        <p:sp>
          <p:nvSpPr>
            <p:cNvPr id="55" name="TextBox 55"/>
            <p:cNvSpPr txBox="1"/>
            <p:nvPr/>
          </p:nvSpPr>
          <p:spPr>
            <a:xfrm>
              <a:off x="8871014" y="216979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日活用户增长</a:t>
              </a:r>
            </a:p>
          </p:txBody>
        </p:sp>
        <p:sp>
          <p:nvSpPr>
            <p:cNvPr id="56" name="Rectangle 56"/>
            <p:cNvSpPr/>
            <p:nvPr/>
          </p:nvSpPr>
          <p:spPr>
            <a:xfrm>
              <a:off x="9858375" y="1619250"/>
              <a:ext cx="1714500" cy="762000"/>
            </a:xfrm>
            <a:prstGeom prst="roundRect">
              <a:avLst>
                <a:gd name="adj" fmla="val 7500"/>
              </a:avLst>
            </a:prstGeom>
            <a:solidFill>
              <a:srgbClr val="F0F3FB"/>
            </a:solidFill>
            <a:ln>
              <a:noFill/>
            </a:ln>
          </p:spPr>
        </p:sp>
        <p:sp>
          <p:nvSpPr>
            <p:cNvPr id="57" name="TextBox 57"/>
            <p:cNvSpPr txBox="1"/>
            <p:nvPr/>
          </p:nvSpPr>
          <p:spPr>
            <a:xfrm>
              <a:off x="10235086" y="1795462"/>
              <a:ext cx="961077" cy="440055"/>
            </a:xfrm>
            <a:prstGeom prst="rect">
              <a:avLst/>
            </a:prstGeom>
            <a:noFill/>
            <a:ln>
              <a:noFill/>
            </a:ln>
          </p:spPr>
          <p:txBody>
            <a:bodyPr wrap="none" lIns="0" tIns="0" rIns="0" bIns="0" anchor="t" anchorCtr="0">
              <a:spAutoFit/>
            </a:bodyPr>
            <a:lstStyle/>
            <a:p>
              <a:pPr algn="ctr"/>
              <a:r>
                <a:rPr lang="zh-CN" sz="2250" b="1" dirty="0">
                  <a:solidFill>
                    <a:srgbClr val="C45F4A"/>
                  </a:solidFill>
                  <a:latin typeface="+mn-lt"/>
                  <a:ea typeface="+mn-ea"/>
                  <a:cs typeface="+mn-cs"/>
                </a:rPr>
                <a:t>40%​​</a:t>
              </a:r>
            </a:p>
          </p:txBody>
        </p:sp>
        <p:sp>
          <p:nvSpPr>
            <p:cNvPr id="58" name="TextBox 58"/>
            <p:cNvSpPr txBox="1"/>
            <p:nvPr/>
          </p:nvSpPr>
          <p:spPr>
            <a:xfrm>
              <a:off x="10437651" y="2177891"/>
              <a:ext cx="555948" cy="161925"/>
            </a:xfrm>
            <a:prstGeom prst="rect">
              <a:avLst/>
            </a:prstGeom>
            <a:noFill/>
            <a:ln>
              <a:noFill/>
            </a:ln>
          </p:spPr>
          <p:txBody>
            <a:bodyPr wrap="none" lIns="0" tIns="0" rIns="0" bIns="0" anchor="t" anchorCtr="0">
              <a:spAutoFit/>
            </a:bodyPr>
            <a:lstStyle/>
            <a:p>
              <a:pPr algn="ctr"/>
              <a:r>
                <a:rPr lang="zh-CN" sz="820" dirty="0">
                  <a:solidFill>
                    <a:srgbClr val="88706B"/>
                  </a:solidFill>
                  <a:latin typeface="+mn-lt"/>
                  <a:ea typeface="+mn-ea"/>
                  <a:cs typeface="+mn-cs"/>
                </a:rPr>
                <a:t>同比+5%​​</a:t>
              </a:r>
            </a:p>
          </p:txBody>
        </p:sp>
      </p:grpSp>
      <p:grpSp>
        <p:nvGrpSpPr>
          <p:cNvPr id="69" name="result-card"/>
          <p:cNvGrpSpPr/>
          <p:nvPr/>
        </p:nvGrpSpPr>
        <p:grpSpPr>
          <a:xfrm>
            <a:off x="8343900" y="2590800"/>
            <a:ext cx="3333750" cy="3429000"/>
            <a:chOff x="8343900" y="2590800"/>
            <a:chExt cx="3333750" cy="3429000"/>
          </a:xfrm>
        </p:grpSpPr>
        <p:sp>
          <p:nvSpPr>
            <p:cNvPr id="60" name="Rectangle 60"/>
            <p:cNvSpPr/>
            <p:nvPr/>
          </p:nvSpPr>
          <p:spPr>
            <a:xfrm>
              <a:off x="8343900" y="2590800"/>
              <a:ext cx="3333750" cy="3429000"/>
            </a:xfrm>
            <a:prstGeom prst="roundRect">
              <a:avLst>
                <a:gd name="adj" fmla="val 2857"/>
              </a:avLst>
            </a:prstGeom>
            <a:solidFill>
              <a:srgbClr val="FFFFFF"/>
            </a:solidFill>
            <a:ln w="14288">
              <a:solidFill>
                <a:srgbClr val="E2E6F7"/>
              </a:solidFill>
            </a:ln>
          </p:spPr>
        </p:sp>
        <p:sp>
          <p:nvSpPr>
            <p:cNvPr id="61" name="Rectangle 61"/>
            <p:cNvSpPr/>
            <p:nvPr/>
          </p:nvSpPr>
          <p:spPr>
            <a:xfrm>
              <a:off x="8496300" y="2724150"/>
              <a:ext cx="3028950" cy="304800"/>
            </a:xfrm>
            <a:prstGeom prst="roundRect">
              <a:avLst>
                <a:gd name="adj" fmla="val 12500"/>
              </a:avLst>
            </a:prstGeom>
            <a:solidFill>
              <a:srgbClr val="E8634C"/>
            </a:solidFill>
            <a:ln>
              <a:noFill/>
            </a:ln>
          </p:spPr>
        </p:sp>
        <p:sp>
          <p:nvSpPr>
            <p:cNvPr id="62" name="TextBox 62"/>
            <p:cNvSpPr txBox="1"/>
            <p:nvPr/>
          </p:nvSpPr>
          <p:spPr>
            <a:xfrm>
              <a:off x="9304726" y="2824401"/>
              <a:ext cx="1412099"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话题参与人数达80万​​</a:t>
              </a:r>
            </a:p>
          </p:txBody>
        </p:sp>
        <p:sp>
          <p:nvSpPr>
            <p:cNvPr id="63" name="Rectangle 63"/>
            <p:cNvSpPr/>
            <p:nvPr/>
          </p:nvSpPr>
          <p:spPr>
            <a:xfrm>
              <a:off x="8496300" y="3143250"/>
              <a:ext cx="3028950" cy="1809750"/>
            </a:xfrm>
            <a:prstGeom prst="roundRect">
              <a:avLst>
                <a:gd name="adj" fmla="val 2105"/>
              </a:avLst>
            </a:prstGeom>
            <a:solidFill>
              <a:srgbClr val="D7E3F5"/>
            </a:solidFill>
            <a:ln>
              <a:noFill/>
            </a:ln>
          </p:spPr>
        </p:sp>
        <p:sp>
          <p:nvSpPr>
            <p:cNvPr id="64" name="Polygon 64"/>
            <p:cNvSpPr/>
            <p:nvPr/>
          </p:nvSpPr>
          <p:spPr>
            <a:xfrm>
              <a:off x="8496300" y="3695700"/>
              <a:ext cx="1790700" cy="1257300"/>
            </a:xfrm>
            <a:custGeom>
              <a:avLst/>
              <a:gdLst/>
              <a:ahLst/>
              <a:cxnLst/>
              <a:rect l="l" t="t" r="r" b="b"/>
              <a:pathLst>
                <a:path w="1790700" h="1257300">
                  <a:moveTo>
                    <a:pt x="0" y="1257300"/>
                  </a:moveTo>
                  <a:lnTo>
                    <a:pt x="933450" y="0"/>
                  </a:lnTo>
                  <a:lnTo>
                    <a:pt x="1790700" y="1257300"/>
                  </a:lnTo>
                  <a:close/>
                </a:path>
              </a:pathLst>
            </a:custGeom>
            <a:solidFill>
              <a:srgbClr val="E8C1B9"/>
            </a:solidFill>
            <a:ln>
              <a:noFill/>
            </a:ln>
          </p:spPr>
        </p:sp>
        <p:sp>
          <p:nvSpPr>
            <p:cNvPr id="65" name="Polygon 65"/>
            <p:cNvSpPr/>
            <p:nvPr/>
          </p:nvSpPr>
          <p:spPr>
            <a:xfrm>
              <a:off x="9810750" y="3543300"/>
              <a:ext cx="1714500" cy="1409700"/>
            </a:xfrm>
            <a:custGeom>
              <a:avLst/>
              <a:gdLst/>
              <a:ahLst/>
              <a:cxnLst/>
              <a:rect l="l" t="t" r="r" b="b"/>
              <a:pathLst>
                <a:path w="1714500" h="1409700">
                  <a:moveTo>
                    <a:pt x="0" y="1409700"/>
                  </a:moveTo>
                  <a:lnTo>
                    <a:pt x="876300" y="0"/>
                  </a:lnTo>
                  <a:lnTo>
                    <a:pt x="1714500" y="1409700"/>
                  </a:lnTo>
                  <a:close/>
                </a:path>
              </a:pathLst>
            </a:custGeom>
            <a:solidFill>
              <a:srgbClr val="C9D8F0"/>
            </a:solidFill>
            <a:ln>
              <a:noFill/>
            </a:ln>
          </p:spPr>
        </p:sp>
        <p:sp>
          <p:nvSpPr>
            <p:cNvPr id="66" name="Polygon 66"/>
            <p:cNvSpPr/>
            <p:nvPr/>
          </p:nvSpPr>
          <p:spPr>
            <a:xfrm>
              <a:off x="10477500" y="3543300"/>
              <a:ext cx="419100" cy="342900"/>
            </a:xfrm>
            <a:custGeom>
              <a:avLst/>
              <a:gdLst/>
              <a:ahLst/>
              <a:cxnLst/>
              <a:rect l="l" t="t" r="r" b="b"/>
              <a:pathLst>
                <a:path w="419100" h="342900">
                  <a:moveTo>
                    <a:pt x="0" y="342900"/>
                  </a:moveTo>
                  <a:lnTo>
                    <a:pt x="209550" y="0"/>
                  </a:lnTo>
                  <a:lnTo>
                    <a:pt x="419100" y="342900"/>
                  </a:lnTo>
                  <a:close/>
                </a:path>
              </a:pathLst>
            </a:custGeom>
            <a:solidFill>
              <a:srgbClr val="FFFFFF"/>
            </a:solidFill>
            <a:ln>
              <a:noFill/>
            </a:ln>
          </p:spPr>
        </p:sp>
        <p:sp>
          <p:nvSpPr>
            <p:cNvPr id="67" name="Polygon 67"/>
            <p:cNvSpPr/>
            <p:nvPr/>
          </p:nvSpPr>
          <p:spPr>
            <a:xfrm>
              <a:off x="9258300" y="3695700"/>
              <a:ext cx="342900" cy="228600"/>
            </a:xfrm>
            <a:custGeom>
              <a:avLst/>
              <a:gdLst/>
              <a:ahLst/>
              <a:cxnLst/>
              <a:rect l="l" t="t" r="r" b="b"/>
              <a:pathLst>
                <a:path w="342900" h="228600">
                  <a:moveTo>
                    <a:pt x="0" y="228600"/>
                  </a:moveTo>
                  <a:lnTo>
                    <a:pt x="171450" y="0"/>
                  </a:lnTo>
                  <a:lnTo>
                    <a:pt x="342900" y="228600"/>
                  </a:lnTo>
                  <a:close/>
                </a:path>
              </a:pathLst>
            </a:custGeom>
            <a:solidFill>
              <a:srgbClr val="FFFFFF"/>
            </a:solidFill>
            <a:ln>
              <a:noFill/>
            </a:ln>
          </p:spPr>
        </p:sp>
        <p:sp>
          <p:nvSpPr>
            <p:cNvPr id="68" name="TextBox 68"/>
            <p:cNvSpPr txBox="1"/>
            <p:nvPr/>
          </p:nvSpPr>
          <p:spPr>
            <a:xfrm>
              <a:off x="8491538" y="5202793"/>
              <a:ext cx="2139315"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543E3A"/>
                  </a:solidFill>
                  <a:latin typeface="+mn-lt"/>
                  <a:ea typeface="+mn-ea"/>
                  <a:cs typeface="+mn-cs"/>
                </a:rPr>
                <a:t>通过跨界合作，进入小众但极具潜力的</a:t>
              </a:r>
              <a:br/>
              <a:r>
                <a:rPr lang="zh-CN" sz="860" dirty="0">
                  <a:solidFill>
                    <a:srgbClr val="543E3A"/>
                  </a:solidFill>
                  <a:latin typeface="+mn-lt"/>
                  <a:ea typeface="+mn-ea"/>
                  <a:cs typeface="+mn-cs"/>
                </a:rPr>
                <a:t>游戏市场，游戏直播互动量100万+。​​​​​​</a:t>
              </a:r>
            </a:p>
          </p:txBody>
        </p:sp>
      </p:gr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arc-left"/>
          <p:cNvSpPr/>
          <p:nvPr/>
        </p:nvSpPr>
        <p:spPr>
          <a:xfrm>
            <a:off x="571500" y="1809750"/>
            <a:ext cx="762000" cy="3810000"/>
          </a:xfrm>
          <a:custGeom>
            <a:avLst/>
            <a:gdLst/>
            <a:ahLst/>
            <a:cxnLst/>
            <a:rect l="l" t="t" r="r" b="b"/>
            <a:pathLst>
              <a:path w="762000" h="3810000">
                <a:moveTo>
                  <a:pt x="762000" y="0"/>
                </a:moveTo>
                <a:cubicBezTo>
                  <a:pt x="0" y="1047750"/>
                  <a:pt x="0" y="2762250"/>
                  <a:pt x="762000" y="3810000"/>
                </a:cubicBezTo>
              </a:path>
            </a:pathLst>
          </a:custGeom>
          <a:noFill/>
          <a:ln w="19050">
            <a:solidFill>
              <a:srgbClr val="F2AC9E"/>
            </a:solidFill>
          </a:ln>
        </p:spPr>
      </p:sp>
      <p:sp>
        <p:nvSpPr>
          <p:cNvPr id="3" name="arc-right"/>
          <p:cNvSpPr/>
          <p:nvPr/>
        </p:nvSpPr>
        <p:spPr>
          <a:xfrm>
            <a:off x="10953750" y="1809750"/>
            <a:ext cx="714375" cy="3810000"/>
          </a:xfrm>
          <a:custGeom>
            <a:avLst/>
            <a:gdLst/>
            <a:ahLst/>
            <a:cxnLst/>
            <a:rect l="l" t="t" r="r" b="b"/>
            <a:pathLst>
              <a:path w="714375" h="3810000">
                <a:moveTo>
                  <a:pt x="0" y="0"/>
                </a:moveTo>
                <a:cubicBezTo>
                  <a:pt x="714375" y="1047750"/>
                  <a:pt x="714375" y="2762250"/>
                  <a:pt x="0" y="3810000"/>
                </a:cubicBezTo>
              </a:path>
            </a:pathLst>
          </a:custGeom>
          <a:noFill/>
          <a:ln w="19050">
            <a:solidFill>
              <a:srgbClr val="F2AC9E"/>
            </a:solidFill>
          </a:ln>
        </p:spPr>
      </p:sp>
      <p:grpSp>
        <p:nvGrpSpPr>
          <p:cNvPr id="8" name="page-header"/>
          <p:cNvGrpSpPr/>
          <p:nvPr/>
        </p:nvGrpSpPr>
        <p:grpSpPr>
          <a:xfrm>
            <a:off x="0" y="0"/>
            <a:ext cx="11811000" cy="561404"/>
            <a:chOff x="0" y="0"/>
            <a:chExt cx="11811000" cy="561404"/>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5" name="TextBox 5"/>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01</a:t>
              </a:r>
            </a:p>
          </p:txBody>
        </p:sp>
        <p:sp>
          <p:nvSpPr>
            <p:cNvPr id="6" name="TextBox 6"/>
            <p:cNvSpPr txBox="1"/>
            <p:nvPr/>
          </p:nvSpPr>
          <p:spPr>
            <a:xfrm>
              <a:off x="904494" y="180023"/>
              <a:ext cx="1129284"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教培机构</a:t>
              </a:r>
            </a:p>
          </p:txBody>
        </p:sp>
        <p:sp>
          <p:nvSpPr>
            <p:cNvPr id="7" name="Line 7"/>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3" name="column-heads"/>
          <p:cNvGrpSpPr/>
          <p:nvPr/>
        </p:nvGrpSpPr>
        <p:grpSpPr>
          <a:xfrm>
            <a:off x="1992046" y="872014"/>
            <a:ext cx="8312683" cy="249364"/>
            <a:chOff x="1992046" y="872014"/>
            <a:chExt cx="8312683" cy="249364"/>
          </a:xfrm>
        </p:grpSpPr>
        <p:sp>
          <p:nvSpPr>
            <p:cNvPr id="9" name="TextBox 9"/>
            <p:cNvSpPr txBox="1"/>
            <p:nvPr/>
          </p:nvSpPr>
          <p:spPr>
            <a:xfrm>
              <a:off x="1992046" y="872014"/>
              <a:ext cx="702208"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传播裂变</a:t>
              </a:r>
            </a:p>
          </p:txBody>
        </p:sp>
        <p:sp>
          <p:nvSpPr>
            <p:cNvPr id="10" name="TextBox 10"/>
            <p:cNvSpPr txBox="1"/>
            <p:nvPr/>
          </p:nvSpPr>
          <p:spPr>
            <a:xfrm>
              <a:off x="4278046" y="872014"/>
              <a:ext cx="702208"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网校管理</a:t>
              </a:r>
            </a:p>
          </p:txBody>
        </p:sp>
        <p:sp>
          <p:nvSpPr>
            <p:cNvPr id="11" name="TextBox 11"/>
            <p:cNvSpPr txBox="1"/>
            <p:nvPr/>
          </p:nvSpPr>
          <p:spPr>
            <a:xfrm>
              <a:off x="6983146" y="872014"/>
              <a:ext cx="702208"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互动教学</a:t>
              </a:r>
            </a:p>
          </p:txBody>
        </p:sp>
        <p:sp>
          <p:nvSpPr>
            <p:cNvPr id="12" name="TextBox 12"/>
            <p:cNvSpPr txBox="1"/>
            <p:nvPr/>
          </p:nvSpPr>
          <p:spPr>
            <a:xfrm>
              <a:off x="9602521" y="872014"/>
              <a:ext cx="702208"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用户运营</a:t>
              </a:r>
            </a:p>
          </p:txBody>
        </p:sp>
      </p:grpSp>
      <p:grpSp>
        <p:nvGrpSpPr>
          <p:cNvPr id="23" name="flow-axis"/>
          <p:cNvGrpSpPr/>
          <p:nvPr/>
        </p:nvGrpSpPr>
        <p:grpSpPr>
          <a:xfrm>
            <a:off x="1266152" y="1194197"/>
            <a:ext cx="9516821" cy="183356"/>
            <a:chOff x="1266152" y="1194197"/>
            <a:chExt cx="9516821" cy="183356"/>
          </a:xfrm>
        </p:grpSpPr>
        <p:sp>
          <p:nvSpPr>
            <p:cNvPr id="14" name="TextBox 14"/>
            <p:cNvSpPr txBox="1"/>
            <p:nvPr/>
          </p:nvSpPr>
          <p:spPr>
            <a:xfrm>
              <a:off x="1266152" y="1194197"/>
              <a:ext cx="515696" cy="183356"/>
            </a:xfrm>
            <a:prstGeom prst="rect">
              <a:avLst/>
            </a:prstGeom>
            <a:noFill/>
            <a:ln>
              <a:noFill/>
            </a:ln>
          </p:spPr>
          <p:txBody>
            <a:bodyPr wrap="none" lIns="0" tIns="0" rIns="0" bIns="0" anchor="t" anchorCtr="0">
              <a:spAutoFit/>
            </a:bodyPr>
            <a:lstStyle/>
            <a:p>
              <a:pPr algn="ctr"/>
              <a:r>
                <a:rPr lang="zh-CN" sz="940" dirty="0">
                  <a:solidFill>
                    <a:srgbClr val="E94B2B"/>
                  </a:solidFill>
                  <a:latin typeface="+mn-lt"/>
                  <a:ea typeface="+mn-ea"/>
                  <a:cs typeface="+mn-cs"/>
                </a:rPr>
                <a:t>流量入口</a:t>
              </a:r>
            </a:p>
          </p:txBody>
        </p:sp>
        <p:sp>
          <p:nvSpPr>
            <p:cNvPr id="15" name="Line 15"/>
            <p:cNvSpPr/>
            <p:nvPr/>
          </p:nvSpPr>
          <p:spPr>
            <a:xfrm>
              <a:off x="1905000" y="1257300"/>
              <a:ext cx="666750" cy="1"/>
            </a:xfrm>
            <a:prstGeom prst="line">
              <a:avLst/>
            </a:prstGeom>
            <a:noFill/>
            <a:ln w="14288">
              <a:solidFill>
                <a:srgbClr val="F5927E"/>
              </a:solidFill>
              <a:tailEnd type="triangle" w="lg" len="lg"/>
            </a:ln>
          </p:spPr>
        </p:sp>
        <p:sp>
          <p:nvSpPr>
            <p:cNvPr id="16" name="TextBox 16"/>
            <p:cNvSpPr txBox="1"/>
            <p:nvPr/>
          </p:nvSpPr>
          <p:spPr>
            <a:xfrm>
              <a:off x="2752052" y="1194197"/>
              <a:ext cx="515696" cy="183356"/>
            </a:xfrm>
            <a:prstGeom prst="rect">
              <a:avLst/>
            </a:prstGeom>
            <a:noFill/>
            <a:ln>
              <a:noFill/>
            </a:ln>
          </p:spPr>
          <p:txBody>
            <a:bodyPr wrap="none" lIns="0" tIns="0" rIns="0" bIns="0" anchor="t" anchorCtr="0">
              <a:spAutoFit/>
            </a:bodyPr>
            <a:lstStyle/>
            <a:p>
              <a:pPr algn="ctr"/>
              <a:r>
                <a:rPr lang="zh-CN" sz="940" dirty="0">
                  <a:solidFill>
                    <a:srgbClr val="E94B2B"/>
                  </a:solidFill>
                  <a:latin typeface="+mn-lt"/>
                  <a:ea typeface="+mn-ea"/>
                  <a:cs typeface="+mn-cs"/>
                </a:rPr>
                <a:t>转化裂变</a:t>
              </a:r>
            </a:p>
          </p:txBody>
        </p:sp>
        <p:sp>
          <p:nvSpPr>
            <p:cNvPr id="17" name="Line 17"/>
            <p:cNvSpPr/>
            <p:nvPr/>
          </p:nvSpPr>
          <p:spPr>
            <a:xfrm>
              <a:off x="3390900" y="1257300"/>
              <a:ext cx="609600" cy="1"/>
            </a:xfrm>
            <a:prstGeom prst="line">
              <a:avLst/>
            </a:prstGeom>
            <a:noFill/>
            <a:ln w="14288">
              <a:solidFill>
                <a:srgbClr val="F5927E"/>
              </a:solidFill>
              <a:tailEnd type="triangle" w="lg" len="lg"/>
            </a:ln>
          </p:spPr>
        </p:sp>
        <p:sp>
          <p:nvSpPr>
            <p:cNvPr id="18" name="TextBox 18"/>
            <p:cNvSpPr txBox="1"/>
            <p:nvPr/>
          </p:nvSpPr>
          <p:spPr>
            <a:xfrm>
              <a:off x="4282859" y="1194197"/>
              <a:ext cx="768782" cy="183356"/>
            </a:xfrm>
            <a:prstGeom prst="rect">
              <a:avLst/>
            </a:prstGeom>
            <a:noFill/>
            <a:ln>
              <a:noFill/>
            </a:ln>
          </p:spPr>
          <p:txBody>
            <a:bodyPr wrap="none" lIns="0" tIns="0" rIns="0" bIns="0" anchor="t" anchorCtr="0">
              <a:spAutoFit/>
            </a:bodyPr>
            <a:lstStyle/>
            <a:p>
              <a:pPr algn="ctr"/>
              <a:r>
                <a:rPr lang="zh-CN" sz="940" dirty="0">
                  <a:solidFill>
                    <a:srgbClr val="E94B2B"/>
                  </a:solidFill>
                  <a:latin typeface="+mn-lt"/>
                  <a:ea typeface="+mn-ea"/>
                  <a:cs typeface="+mn-cs"/>
                </a:rPr>
                <a:t>教务教学管理</a:t>
              </a:r>
            </a:p>
          </p:txBody>
        </p:sp>
        <p:sp>
          <p:nvSpPr>
            <p:cNvPr id="19" name="Line 19"/>
            <p:cNvSpPr/>
            <p:nvPr/>
          </p:nvSpPr>
          <p:spPr>
            <a:xfrm>
              <a:off x="5219700" y="1257300"/>
              <a:ext cx="1590675" cy="1"/>
            </a:xfrm>
            <a:prstGeom prst="line">
              <a:avLst/>
            </a:prstGeom>
            <a:noFill/>
            <a:ln w="14288">
              <a:solidFill>
                <a:srgbClr val="F5927E"/>
              </a:solidFill>
              <a:tailEnd type="triangle" w="lg" len="lg"/>
            </a:ln>
          </p:spPr>
        </p:sp>
        <p:sp>
          <p:nvSpPr>
            <p:cNvPr id="20" name="TextBox 20"/>
            <p:cNvSpPr txBox="1"/>
            <p:nvPr/>
          </p:nvSpPr>
          <p:spPr>
            <a:xfrm>
              <a:off x="7076402" y="1194197"/>
              <a:ext cx="515696" cy="183356"/>
            </a:xfrm>
            <a:prstGeom prst="rect">
              <a:avLst/>
            </a:prstGeom>
            <a:noFill/>
            <a:ln>
              <a:noFill/>
            </a:ln>
          </p:spPr>
          <p:txBody>
            <a:bodyPr wrap="none" lIns="0" tIns="0" rIns="0" bIns="0" anchor="t" anchorCtr="0">
              <a:spAutoFit/>
            </a:bodyPr>
            <a:lstStyle/>
            <a:p>
              <a:pPr algn="ctr"/>
              <a:r>
                <a:rPr lang="zh-CN" sz="940" dirty="0">
                  <a:solidFill>
                    <a:srgbClr val="E94B2B"/>
                  </a:solidFill>
                  <a:latin typeface="+mn-lt"/>
                  <a:ea typeface="+mn-ea"/>
                  <a:cs typeface="+mn-cs"/>
                </a:rPr>
                <a:t>学生服务</a:t>
              </a:r>
            </a:p>
          </p:txBody>
        </p:sp>
        <p:sp>
          <p:nvSpPr>
            <p:cNvPr id="21" name="Line 21"/>
            <p:cNvSpPr/>
            <p:nvPr/>
          </p:nvSpPr>
          <p:spPr>
            <a:xfrm>
              <a:off x="7715250" y="1257300"/>
              <a:ext cx="2286000" cy="1"/>
            </a:xfrm>
            <a:prstGeom prst="line">
              <a:avLst/>
            </a:prstGeom>
            <a:noFill/>
            <a:ln w="14288">
              <a:solidFill>
                <a:srgbClr val="F5927E"/>
              </a:solidFill>
              <a:tailEnd type="triangle" w="lg" len="lg"/>
            </a:ln>
          </p:spPr>
        </p:sp>
        <p:sp>
          <p:nvSpPr>
            <p:cNvPr id="22" name="TextBox 22"/>
            <p:cNvSpPr txBox="1"/>
            <p:nvPr/>
          </p:nvSpPr>
          <p:spPr>
            <a:xfrm>
              <a:off x="10267277" y="1194197"/>
              <a:ext cx="515696" cy="183356"/>
            </a:xfrm>
            <a:prstGeom prst="rect">
              <a:avLst/>
            </a:prstGeom>
            <a:noFill/>
            <a:ln>
              <a:noFill/>
            </a:ln>
          </p:spPr>
          <p:txBody>
            <a:bodyPr wrap="none" lIns="0" tIns="0" rIns="0" bIns="0" anchor="t" anchorCtr="0">
              <a:spAutoFit/>
            </a:bodyPr>
            <a:lstStyle/>
            <a:p>
              <a:pPr algn="ctr"/>
              <a:r>
                <a:rPr lang="zh-CN" sz="940" dirty="0">
                  <a:solidFill>
                    <a:srgbClr val="E94B2B"/>
                  </a:solidFill>
                  <a:latin typeface="+mn-lt"/>
                  <a:ea typeface="+mn-ea"/>
                  <a:cs typeface="+mn-cs"/>
                </a:rPr>
                <a:t>转化留存</a:t>
              </a:r>
            </a:p>
          </p:txBody>
        </p:sp>
      </p:grpSp>
      <p:grpSp>
        <p:nvGrpSpPr>
          <p:cNvPr id="25" name="v-public-traffic"/>
          <p:cNvGrpSpPr/>
          <p:nvPr/>
        </p:nvGrpSpPr>
        <p:grpSpPr>
          <a:xfrm>
            <a:off x="770890" y="3174206"/>
            <a:ext cx="153670" cy="848678"/>
            <a:chOff x="770890" y="3174206"/>
            <a:chExt cx="153670" cy="848678"/>
          </a:xfrm>
        </p:grpSpPr>
        <p:sp>
          <p:nvSpPr>
            <p:cNvPr id="24" name="TextBox 24"/>
            <p:cNvSpPr txBox="1"/>
            <p:nvPr/>
          </p:nvSpPr>
          <p:spPr>
            <a:xfrm>
              <a:off x="770890" y="3174206"/>
              <a:ext cx="153670" cy="848678"/>
            </a:xfrm>
            <a:prstGeom prst="rect">
              <a:avLst/>
            </a:prstGeom>
            <a:noFill/>
            <a:ln>
              <a:noFill/>
            </a:ln>
          </p:spPr>
          <p:txBody>
            <a:bodyPr wrap="none" lIns="0" tIns="0" rIns="0" bIns="0" anchor="t" anchorCtr="0">
              <a:spAutoFit/>
            </a:bodyPr>
            <a:lstStyle/>
            <a:p>
              <a:pPr algn="ctr">
                <a:lnSpc>
                  <a:spcPts val="1650"/>
                </a:lnSpc>
              </a:pPr>
              <a:r>
                <a:rPr lang="zh-CN" sz="1120" dirty="0">
                  <a:solidFill>
                    <a:srgbClr val="C83B1E"/>
                  </a:solidFill>
                  <a:latin typeface="+mn-lt"/>
                  <a:ea typeface="+mn-ea"/>
                  <a:cs typeface="+mn-cs"/>
                </a:rPr>
                <a:t>公</a:t>
              </a:r>
              <a:br/>
              <a:r>
                <a:rPr lang="zh-CN" sz="1120" dirty="0">
                  <a:solidFill>
                    <a:srgbClr val="C83B1E"/>
                  </a:solidFill>
                  <a:latin typeface="+mn-lt"/>
                  <a:ea typeface="+mn-ea"/>
                  <a:cs typeface="+mn-cs"/>
                </a:rPr>
                <a:t>域</a:t>
              </a:r>
              <a:br/>
              <a:r>
                <a:rPr lang="zh-CN" sz="1120" dirty="0">
                  <a:solidFill>
                    <a:srgbClr val="C83B1E"/>
                  </a:solidFill>
                  <a:latin typeface="+mn-lt"/>
                  <a:ea typeface="+mn-ea"/>
                  <a:cs typeface="+mn-cs"/>
                </a:rPr>
                <a:t>流</a:t>
              </a:r>
              <a:br/>
              <a:r>
                <a:rPr lang="zh-CN" sz="1120" dirty="0">
                  <a:solidFill>
                    <a:srgbClr val="C83B1E"/>
                  </a:solidFill>
                  <a:latin typeface="+mn-lt"/>
                  <a:ea typeface="+mn-ea"/>
                  <a:cs typeface="+mn-cs"/>
                </a:rPr>
                <a:t>量</a:t>
              </a:r>
            </a:p>
          </p:txBody>
        </p:sp>
      </p:grpSp>
      <p:grpSp>
        <p:nvGrpSpPr>
          <p:cNvPr id="35" name="public-channels"/>
          <p:cNvGrpSpPr/>
          <p:nvPr/>
        </p:nvGrpSpPr>
        <p:grpSpPr>
          <a:xfrm>
            <a:off x="1104900" y="2895600"/>
            <a:ext cx="933450" cy="1492091"/>
            <a:chOff x="1104900" y="2895600"/>
            <a:chExt cx="933450" cy="1492091"/>
          </a:xfrm>
        </p:grpSpPr>
        <p:sp>
          <p:nvSpPr>
            <p:cNvPr id="26" name="Rectangle 26"/>
            <p:cNvSpPr/>
            <p:nvPr/>
          </p:nvSpPr>
          <p:spPr>
            <a:xfrm>
              <a:off x="1104900" y="2895600"/>
              <a:ext cx="781050" cy="228600"/>
            </a:xfrm>
            <a:prstGeom prst="roundRect">
              <a:avLst>
                <a:gd name="adj" fmla="val 16667"/>
              </a:avLst>
            </a:prstGeom>
            <a:solidFill>
              <a:srgbClr val="F5927E"/>
            </a:solidFill>
            <a:ln>
              <a:noFill/>
            </a:ln>
          </p:spPr>
        </p:sp>
        <p:sp>
          <p:nvSpPr>
            <p:cNvPr id="27" name="TextBox 27"/>
            <p:cNvSpPr txBox="1"/>
            <p:nvPr/>
          </p:nvSpPr>
          <p:spPr>
            <a:xfrm>
              <a:off x="1269886" y="29684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个人微信</a:t>
              </a:r>
            </a:p>
          </p:txBody>
        </p:sp>
        <p:sp>
          <p:nvSpPr>
            <p:cNvPr id="28" name="Rectangle 28"/>
            <p:cNvSpPr/>
            <p:nvPr/>
          </p:nvSpPr>
          <p:spPr>
            <a:xfrm>
              <a:off x="1104900" y="3314700"/>
              <a:ext cx="781050" cy="228600"/>
            </a:xfrm>
            <a:prstGeom prst="roundRect">
              <a:avLst>
                <a:gd name="adj" fmla="val 16667"/>
              </a:avLst>
            </a:prstGeom>
            <a:solidFill>
              <a:srgbClr val="F5927E"/>
            </a:solidFill>
            <a:ln>
              <a:noFill/>
            </a:ln>
          </p:spPr>
        </p:sp>
        <p:sp>
          <p:nvSpPr>
            <p:cNvPr id="29" name="TextBox 29"/>
            <p:cNvSpPr txBox="1"/>
            <p:nvPr/>
          </p:nvSpPr>
          <p:spPr>
            <a:xfrm>
              <a:off x="1214692" y="3387566"/>
              <a:ext cx="561467"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机构公众号</a:t>
              </a:r>
            </a:p>
          </p:txBody>
        </p:sp>
        <p:sp>
          <p:nvSpPr>
            <p:cNvPr id="30" name="Rectangle 30"/>
            <p:cNvSpPr/>
            <p:nvPr/>
          </p:nvSpPr>
          <p:spPr>
            <a:xfrm>
              <a:off x="1104900" y="3733800"/>
              <a:ext cx="781050" cy="228600"/>
            </a:xfrm>
            <a:prstGeom prst="roundRect">
              <a:avLst>
                <a:gd name="adj" fmla="val 16667"/>
              </a:avLst>
            </a:prstGeom>
            <a:solidFill>
              <a:srgbClr val="F5927E"/>
            </a:solidFill>
            <a:ln>
              <a:noFill/>
            </a:ln>
          </p:spPr>
        </p:sp>
        <p:sp>
          <p:nvSpPr>
            <p:cNvPr id="31" name="TextBox 31"/>
            <p:cNvSpPr txBox="1"/>
            <p:nvPr/>
          </p:nvSpPr>
          <p:spPr>
            <a:xfrm>
              <a:off x="1269886" y="38066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微信社群</a:t>
              </a:r>
            </a:p>
          </p:txBody>
        </p:sp>
        <p:sp>
          <p:nvSpPr>
            <p:cNvPr id="32" name="Rectangle 32"/>
            <p:cNvSpPr/>
            <p:nvPr/>
          </p:nvSpPr>
          <p:spPr>
            <a:xfrm>
              <a:off x="1104900" y="4152900"/>
              <a:ext cx="781050" cy="228600"/>
            </a:xfrm>
            <a:prstGeom prst="roundRect">
              <a:avLst>
                <a:gd name="adj" fmla="val 16667"/>
              </a:avLst>
            </a:prstGeom>
            <a:solidFill>
              <a:srgbClr val="F5927E"/>
            </a:solidFill>
            <a:ln>
              <a:noFill/>
            </a:ln>
          </p:spPr>
        </p:sp>
        <p:sp>
          <p:nvSpPr>
            <p:cNvPr id="33" name="TextBox 33"/>
            <p:cNvSpPr txBox="1"/>
            <p:nvPr/>
          </p:nvSpPr>
          <p:spPr>
            <a:xfrm>
              <a:off x="1214692" y="4225766"/>
              <a:ext cx="561467"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微信朋友圈</a:t>
              </a:r>
            </a:p>
          </p:txBody>
        </p:sp>
        <p:sp>
          <p:nvSpPr>
            <p:cNvPr id="34" name="Line 34"/>
            <p:cNvSpPr/>
            <p:nvPr/>
          </p:nvSpPr>
          <p:spPr>
            <a:xfrm>
              <a:off x="1905000" y="3638550"/>
              <a:ext cx="133350" cy="1"/>
            </a:xfrm>
            <a:prstGeom prst="line">
              <a:avLst/>
            </a:prstGeom>
            <a:noFill/>
            <a:ln w="28575">
              <a:solidFill>
                <a:srgbClr val="E94B2B"/>
              </a:solidFill>
              <a:tailEnd type="triangle" w="lg" len="lg"/>
            </a:ln>
          </p:spPr>
        </p:sp>
      </p:grpSp>
      <p:grpSp>
        <p:nvGrpSpPr>
          <p:cNvPr id="45" name="marketing-tools"/>
          <p:cNvGrpSpPr/>
          <p:nvPr/>
        </p:nvGrpSpPr>
        <p:grpSpPr>
          <a:xfrm>
            <a:off x="2133600" y="2305050"/>
            <a:ext cx="838200" cy="2819400"/>
            <a:chOff x="2133600" y="2305050"/>
            <a:chExt cx="838200" cy="2819400"/>
          </a:xfrm>
        </p:grpSpPr>
        <p:sp>
          <p:nvSpPr>
            <p:cNvPr id="36" name="Rectangle 36"/>
            <p:cNvSpPr/>
            <p:nvPr/>
          </p:nvSpPr>
          <p:spPr>
            <a:xfrm>
              <a:off x="2133600" y="2305050"/>
              <a:ext cx="838200" cy="2819400"/>
            </a:xfrm>
            <a:prstGeom prst="roundRect">
              <a:avLst>
                <a:gd name="adj" fmla="val 9091"/>
              </a:avLst>
            </a:prstGeom>
            <a:solidFill>
              <a:srgbClr val="FFFFFF"/>
            </a:solidFill>
            <a:ln w="9525">
              <a:solidFill>
                <a:srgbClr val="C9DDF5"/>
              </a:solidFill>
            </a:ln>
          </p:spPr>
        </p:sp>
        <p:sp>
          <p:nvSpPr>
            <p:cNvPr id="37" name="Rectangle 37"/>
            <p:cNvSpPr/>
            <p:nvPr/>
          </p:nvSpPr>
          <p:spPr>
            <a:xfrm>
              <a:off x="2209800" y="2495550"/>
              <a:ext cx="685800" cy="323850"/>
            </a:xfrm>
            <a:prstGeom prst="roundRect">
              <a:avLst>
                <a:gd name="adj" fmla="val 11765"/>
              </a:avLst>
            </a:prstGeom>
            <a:solidFill>
              <a:srgbClr val="EEF2F8"/>
            </a:solidFill>
            <a:ln>
              <a:noFill/>
            </a:ln>
          </p:spPr>
        </p:sp>
        <p:sp>
          <p:nvSpPr>
            <p:cNvPr id="38" name="TextBox 38"/>
            <p:cNvSpPr txBox="1"/>
            <p:nvPr/>
          </p:nvSpPr>
          <p:spPr>
            <a:xfrm>
              <a:off x="2327161" y="261604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机构官网</a:t>
              </a:r>
            </a:p>
          </p:txBody>
        </p:sp>
        <p:sp>
          <p:nvSpPr>
            <p:cNvPr id="39" name="Rectangle 39"/>
            <p:cNvSpPr/>
            <p:nvPr/>
          </p:nvSpPr>
          <p:spPr>
            <a:xfrm>
              <a:off x="2209800" y="3124200"/>
              <a:ext cx="685800" cy="323850"/>
            </a:xfrm>
            <a:prstGeom prst="roundRect">
              <a:avLst>
                <a:gd name="adj" fmla="val 11765"/>
              </a:avLst>
            </a:prstGeom>
            <a:solidFill>
              <a:srgbClr val="EEF2F8"/>
            </a:solidFill>
            <a:ln>
              <a:noFill/>
            </a:ln>
          </p:spPr>
        </p:sp>
        <p:sp>
          <p:nvSpPr>
            <p:cNvPr id="40" name="TextBox 40"/>
            <p:cNvSpPr txBox="1"/>
            <p:nvPr/>
          </p:nvSpPr>
          <p:spPr>
            <a:xfrm>
              <a:off x="2347278" y="3172539"/>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营销裂变</a:t>
              </a:r>
              <a:br/>
              <a:r>
                <a:rPr lang="zh-CN" sz="790" dirty="0">
                  <a:solidFill>
                    <a:srgbClr val="333333"/>
                  </a:solidFill>
                  <a:latin typeface="+mn-lt"/>
                  <a:ea typeface="+mn-ea"/>
                  <a:cs typeface="+mn-cs"/>
                </a:rPr>
                <a:t>模板</a:t>
              </a:r>
            </a:p>
          </p:txBody>
        </p:sp>
        <p:sp>
          <p:nvSpPr>
            <p:cNvPr id="41" name="Rectangle 41"/>
            <p:cNvSpPr/>
            <p:nvPr/>
          </p:nvSpPr>
          <p:spPr>
            <a:xfrm>
              <a:off x="2209800" y="3752850"/>
              <a:ext cx="685800" cy="323850"/>
            </a:xfrm>
            <a:prstGeom prst="roundRect">
              <a:avLst>
                <a:gd name="adj" fmla="val 11765"/>
              </a:avLst>
            </a:prstGeom>
            <a:solidFill>
              <a:srgbClr val="EEF2F8"/>
            </a:solidFill>
            <a:ln>
              <a:noFill/>
            </a:ln>
          </p:spPr>
        </p:sp>
        <p:sp>
          <p:nvSpPr>
            <p:cNvPr id="42" name="TextBox 42"/>
            <p:cNvSpPr txBox="1"/>
            <p:nvPr/>
          </p:nvSpPr>
          <p:spPr>
            <a:xfrm>
              <a:off x="2347278" y="3801189"/>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线上营销</a:t>
              </a:r>
              <a:br/>
              <a:r>
                <a:rPr lang="zh-CN" sz="790" dirty="0">
                  <a:solidFill>
                    <a:srgbClr val="333333"/>
                  </a:solidFill>
                  <a:latin typeface="+mn-lt"/>
                  <a:ea typeface="+mn-ea"/>
                  <a:cs typeface="+mn-cs"/>
                </a:rPr>
                <a:t>活动</a:t>
              </a:r>
            </a:p>
          </p:txBody>
        </p:sp>
        <p:sp>
          <p:nvSpPr>
            <p:cNvPr id="43" name="Rectangle 43"/>
            <p:cNvSpPr/>
            <p:nvPr/>
          </p:nvSpPr>
          <p:spPr>
            <a:xfrm>
              <a:off x="2209800" y="4381500"/>
              <a:ext cx="685800" cy="323850"/>
            </a:xfrm>
            <a:prstGeom prst="roundRect">
              <a:avLst>
                <a:gd name="adj" fmla="val 11765"/>
              </a:avLst>
            </a:prstGeom>
            <a:solidFill>
              <a:srgbClr val="EEF2F8"/>
            </a:solidFill>
            <a:ln>
              <a:noFill/>
            </a:ln>
          </p:spPr>
        </p:sp>
        <p:sp>
          <p:nvSpPr>
            <p:cNvPr id="44" name="TextBox 44"/>
            <p:cNvSpPr txBox="1"/>
            <p:nvPr/>
          </p:nvSpPr>
          <p:spPr>
            <a:xfrm>
              <a:off x="2347278" y="4429839"/>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机构电子</a:t>
              </a:r>
              <a:br/>
              <a:r>
                <a:rPr lang="zh-CN" sz="790" dirty="0">
                  <a:solidFill>
                    <a:srgbClr val="333333"/>
                  </a:solidFill>
                  <a:latin typeface="+mn-lt"/>
                  <a:ea typeface="+mn-ea"/>
                  <a:cs typeface="+mn-cs"/>
                </a:rPr>
                <a:t>名片</a:t>
              </a:r>
            </a:p>
          </p:txBody>
        </p:sp>
      </p:grpSp>
      <p:grpSp>
        <p:nvGrpSpPr>
          <p:cNvPr id="47" name="v-deal"/>
          <p:cNvGrpSpPr/>
          <p:nvPr/>
        </p:nvGrpSpPr>
        <p:grpSpPr>
          <a:xfrm>
            <a:off x="3114040" y="3174206"/>
            <a:ext cx="153670" cy="848678"/>
            <a:chOff x="3114040" y="3174206"/>
            <a:chExt cx="153670" cy="848678"/>
          </a:xfrm>
        </p:grpSpPr>
        <p:sp>
          <p:nvSpPr>
            <p:cNvPr id="46" name="TextBox 46"/>
            <p:cNvSpPr txBox="1"/>
            <p:nvPr/>
          </p:nvSpPr>
          <p:spPr>
            <a:xfrm>
              <a:off x="3114040" y="3174206"/>
              <a:ext cx="153670" cy="848678"/>
            </a:xfrm>
            <a:prstGeom prst="rect">
              <a:avLst/>
            </a:prstGeom>
            <a:noFill/>
            <a:ln>
              <a:noFill/>
            </a:ln>
          </p:spPr>
          <p:txBody>
            <a:bodyPr wrap="none" lIns="0" tIns="0" rIns="0" bIns="0" anchor="t" anchorCtr="0">
              <a:spAutoFit/>
            </a:bodyPr>
            <a:lstStyle/>
            <a:p>
              <a:pPr algn="ctr">
                <a:lnSpc>
                  <a:spcPts val="1650"/>
                </a:lnSpc>
              </a:pPr>
              <a:r>
                <a:rPr lang="zh-CN" sz="1120" dirty="0">
                  <a:solidFill>
                    <a:srgbClr val="C83B1E"/>
                  </a:solidFill>
                  <a:latin typeface="+mn-lt"/>
                  <a:ea typeface="+mn-ea"/>
                  <a:cs typeface="+mn-cs"/>
                </a:rPr>
                <a:t>成</a:t>
              </a:r>
              <a:br/>
              <a:r>
                <a:rPr lang="zh-CN" sz="1120" dirty="0">
                  <a:solidFill>
                    <a:srgbClr val="C83B1E"/>
                  </a:solidFill>
                  <a:latin typeface="+mn-lt"/>
                  <a:ea typeface="+mn-ea"/>
                  <a:cs typeface="+mn-cs"/>
                </a:rPr>
                <a:t>交</a:t>
              </a:r>
              <a:br/>
              <a:r>
                <a:rPr lang="zh-CN" sz="1120" dirty="0">
                  <a:solidFill>
                    <a:srgbClr val="C83B1E"/>
                  </a:solidFill>
                  <a:latin typeface="+mn-lt"/>
                  <a:ea typeface="+mn-ea"/>
                  <a:cs typeface="+mn-cs"/>
                </a:rPr>
                <a:t>变</a:t>
              </a:r>
              <a:br/>
              <a:r>
                <a:rPr lang="zh-CN" sz="1120" dirty="0">
                  <a:solidFill>
                    <a:srgbClr val="C83B1E"/>
                  </a:solidFill>
                  <a:latin typeface="+mn-lt"/>
                  <a:ea typeface="+mn-ea"/>
                  <a:cs typeface="+mn-cs"/>
                </a:rPr>
                <a:t>现</a:t>
              </a:r>
            </a:p>
          </p:txBody>
        </p:sp>
      </p:grpSp>
      <p:grpSp>
        <p:nvGrpSpPr>
          <p:cNvPr id="68" name="lane-school"/>
          <p:cNvGrpSpPr/>
          <p:nvPr/>
        </p:nvGrpSpPr>
        <p:grpSpPr>
          <a:xfrm>
            <a:off x="3505200" y="2305050"/>
            <a:ext cx="2209800" cy="2800350"/>
            <a:chOff x="3505200" y="2305050"/>
            <a:chExt cx="2209800" cy="2800350"/>
          </a:xfrm>
        </p:grpSpPr>
        <p:sp>
          <p:nvSpPr>
            <p:cNvPr id="48" name="Rectangle 48"/>
            <p:cNvSpPr/>
            <p:nvPr/>
          </p:nvSpPr>
          <p:spPr>
            <a:xfrm>
              <a:off x="3505200" y="2305050"/>
              <a:ext cx="2209800" cy="781050"/>
            </a:xfrm>
            <a:prstGeom prst="roundRect">
              <a:avLst>
                <a:gd name="adj" fmla="val 7317"/>
              </a:avLst>
            </a:prstGeom>
            <a:solidFill>
              <a:srgbClr val="FFFFFF"/>
            </a:solidFill>
            <a:ln w="9525">
              <a:solidFill>
                <a:srgbClr val="C9DDF5"/>
              </a:solidFill>
            </a:ln>
          </p:spPr>
        </p:sp>
        <p:sp>
          <p:nvSpPr>
            <p:cNvPr id="49" name="Rectangle 49"/>
            <p:cNvSpPr/>
            <p:nvPr/>
          </p:nvSpPr>
          <p:spPr>
            <a:xfrm>
              <a:off x="3505200" y="2305050"/>
              <a:ext cx="2209800" cy="266700"/>
            </a:xfrm>
            <a:prstGeom prst="roundRect">
              <a:avLst>
                <a:gd name="adj" fmla="val 21429"/>
              </a:avLst>
            </a:prstGeom>
            <a:gradFill>
              <a:gsLst>
                <a:gs pos="0">
                  <a:srgbClr val="FF5B3A"/>
                </a:gs>
                <a:gs pos="100000">
                  <a:srgbClr val="E94B2B"/>
                </a:gs>
              </a:gsLst>
              <a:lin ang="0" scaled="1"/>
            </a:gradFill>
            <a:ln>
              <a:noFill/>
            </a:ln>
          </p:spPr>
        </p:sp>
        <p:sp>
          <p:nvSpPr>
            <p:cNvPr id="50" name="TextBox 50"/>
            <p:cNvSpPr txBox="1"/>
            <p:nvPr/>
          </p:nvSpPr>
          <p:spPr>
            <a:xfrm>
              <a:off x="4341292" y="23902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创课入班</a:t>
              </a:r>
            </a:p>
          </p:txBody>
        </p:sp>
        <p:sp>
          <p:nvSpPr>
            <p:cNvPr id="51" name="TextBox 51"/>
            <p:cNvSpPr txBox="1"/>
            <p:nvPr/>
          </p:nvSpPr>
          <p:spPr>
            <a:xfrm>
              <a:off x="3762057" y="2696289"/>
              <a:ext cx="21018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开班</a:t>
              </a:r>
              <a:br/>
              <a:r>
                <a:rPr lang="zh-CN" sz="790" dirty="0">
                  <a:solidFill>
                    <a:srgbClr val="333333"/>
                  </a:solidFill>
                  <a:latin typeface="+mn-lt"/>
                  <a:ea typeface="+mn-ea"/>
                  <a:cs typeface="+mn-cs"/>
                </a:rPr>
                <a:t>排课</a:t>
              </a:r>
            </a:p>
          </p:txBody>
        </p:sp>
        <p:sp>
          <p:nvSpPr>
            <p:cNvPr id="52" name="Line 52"/>
            <p:cNvSpPr/>
            <p:nvPr/>
          </p:nvSpPr>
          <p:spPr>
            <a:xfrm>
              <a:off x="4238625" y="2686050"/>
              <a:ext cx="9525" cy="323850"/>
            </a:xfrm>
            <a:custGeom>
              <a:avLst/>
              <a:gdLst/>
              <a:ahLst/>
              <a:cxnLst/>
              <a:rect l="l" t="t" r="r" b="b"/>
              <a:pathLst>
                <a:path w="9525" h="323850">
                  <a:moveTo>
                    <a:pt x="0" y="0"/>
                  </a:moveTo>
                  <a:lnTo>
                    <a:pt x="0" y="323850"/>
                  </a:lnTo>
                </a:path>
              </a:pathLst>
            </a:custGeom>
            <a:noFill/>
            <a:ln w="9525">
              <a:solidFill>
                <a:srgbClr val="DCE6F3"/>
              </a:solidFill>
            </a:ln>
          </p:spPr>
        </p:sp>
        <p:sp>
          <p:nvSpPr>
            <p:cNvPr id="53" name="TextBox 53"/>
            <p:cNvSpPr txBox="1"/>
            <p:nvPr/>
          </p:nvSpPr>
          <p:spPr>
            <a:xfrm>
              <a:off x="4454842" y="26962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课程资</a:t>
              </a:r>
              <a:br/>
              <a:r>
                <a:rPr lang="zh-CN" sz="790" dirty="0">
                  <a:solidFill>
                    <a:srgbClr val="333333"/>
                  </a:solidFill>
                  <a:latin typeface="+mn-lt"/>
                  <a:ea typeface="+mn-ea"/>
                  <a:cs typeface="+mn-cs"/>
                </a:rPr>
                <a:t>源管理</a:t>
              </a:r>
            </a:p>
          </p:txBody>
        </p:sp>
        <p:sp>
          <p:nvSpPr>
            <p:cNvPr id="54" name="Line 54"/>
            <p:cNvSpPr/>
            <p:nvPr/>
          </p:nvSpPr>
          <p:spPr>
            <a:xfrm>
              <a:off x="4981575" y="2686050"/>
              <a:ext cx="9525" cy="323850"/>
            </a:xfrm>
            <a:custGeom>
              <a:avLst/>
              <a:gdLst/>
              <a:ahLst/>
              <a:cxnLst/>
              <a:rect l="l" t="t" r="r" b="b"/>
              <a:pathLst>
                <a:path w="9525" h="323850">
                  <a:moveTo>
                    <a:pt x="0" y="0"/>
                  </a:moveTo>
                  <a:lnTo>
                    <a:pt x="0" y="323850"/>
                  </a:lnTo>
                </a:path>
              </a:pathLst>
            </a:custGeom>
            <a:noFill/>
            <a:ln w="9525">
              <a:solidFill>
                <a:srgbClr val="DCE6F3"/>
              </a:solidFill>
            </a:ln>
          </p:spPr>
        </p:sp>
        <p:sp>
          <p:nvSpPr>
            <p:cNvPr id="55" name="TextBox 55"/>
            <p:cNvSpPr txBox="1"/>
            <p:nvPr/>
          </p:nvSpPr>
          <p:spPr>
            <a:xfrm>
              <a:off x="5197792" y="26962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学生入</a:t>
              </a:r>
              <a:br/>
              <a:r>
                <a:rPr lang="zh-CN" sz="790" dirty="0">
                  <a:solidFill>
                    <a:srgbClr val="333333"/>
                  </a:solidFill>
                  <a:latin typeface="+mn-lt"/>
                  <a:ea typeface="+mn-ea"/>
                  <a:cs typeface="+mn-cs"/>
                </a:rPr>
                <a:t>班管理</a:t>
              </a:r>
            </a:p>
          </p:txBody>
        </p:sp>
        <p:sp>
          <p:nvSpPr>
            <p:cNvPr id="56" name="Line 56"/>
            <p:cNvSpPr/>
            <p:nvPr/>
          </p:nvSpPr>
          <p:spPr>
            <a:xfrm>
              <a:off x="4610100" y="3162300"/>
              <a:ext cx="1" cy="285750"/>
            </a:xfrm>
            <a:prstGeom prst="line">
              <a:avLst/>
            </a:prstGeom>
            <a:noFill/>
            <a:ln w="28575">
              <a:solidFill>
                <a:srgbClr val="F5927E"/>
              </a:solidFill>
              <a:tailEnd type="triangle" w="lg" len="lg"/>
            </a:ln>
          </p:spPr>
        </p:sp>
        <p:sp>
          <p:nvSpPr>
            <p:cNvPr id="57" name="Rectangle 57"/>
            <p:cNvSpPr/>
            <p:nvPr/>
          </p:nvSpPr>
          <p:spPr>
            <a:xfrm>
              <a:off x="3505200" y="3562350"/>
              <a:ext cx="2209800" cy="781050"/>
            </a:xfrm>
            <a:prstGeom prst="roundRect">
              <a:avLst>
                <a:gd name="adj" fmla="val 7317"/>
              </a:avLst>
            </a:prstGeom>
            <a:solidFill>
              <a:srgbClr val="FFFFFF"/>
            </a:solidFill>
            <a:ln w="9525">
              <a:solidFill>
                <a:srgbClr val="C9DDF5"/>
              </a:solidFill>
            </a:ln>
          </p:spPr>
        </p:sp>
        <p:sp>
          <p:nvSpPr>
            <p:cNvPr id="58" name="Rectangle 58"/>
            <p:cNvSpPr/>
            <p:nvPr/>
          </p:nvSpPr>
          <p:spPr>
            <a:xfrm>
              <a:off x="3505200" y="3562350"/>
              <a:ext cx="2209800" cy="266700"/>
            </a:xfrm>
            <a:prstGeom prst="roundRect">
              <a:avLst>
                <a:gd name="adj" fmla="val 21429"/>
              </a:avLst>
            </a:prstGeom>
            <a:gradFill>
              <a:gsLst>
                <a:gs pos="0">
                  <a:srgbClr val="FF5B3A"/>
                </a:gs>
                <a:gs pos="100000">
                  <a:srgbClr val="E94B2B"/>
                </a:gs>
              </a:gsLst>
              <a:lin ang="0" scaled="1"/>
            </a:gradFill>
            <a:ln>
              <a:noFill/>
            </a:ln>
          </p:spPr>
        </p:sp>
        <p:sp>
          <p:nvSpPr>
            <p:cNvPr id="59" name="TextBox 59"/>
            <p:cNvSpPr txBox="1"/>
            <p:nvPr/>
          </p:nvSpPr>
          <p:spPr>
            <a:xfrm>
              <a:off x="4341292" y="36475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学情监督</a:t>
              </a:r>
            </a:p>
          </p:txBody>
        </p:sp>
        <p:sp>
          <p:nvSpPr>
            <p:cNvPr id="60" name="TextBox 60"/>
            <p:cNvSpPr txBox="1"/>
            <p:nvPr/>
          </p:nvSpPr>
          <p:spPr>
            <a:xfrm>
              <a:off x="3711892" y="39535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日活</a:t>
              </a:r>
              <a:br/>
              <a:r>
                <a:rPr lang="zh-CN" sz="790" dirty="0">
                  <a:solidFill>
                    <a:srgbClr val="333333"/>
                  </a:solidFill>
                  <a:latin typeface="+mn-lt"/>
                  <a:ea typeface="+mn-ea"/>
                  <a:cs typeface="+mn-cs"/>
                </a:rPr>
                <a:t>学生数</a:t>
              </a:r>
            </a:p>
          </p:txBody>
        </p:sp>
        <p:sp>
          <p:nvSpPr>
            <p:cNvPr id="61" name="Line 61"/>
            <p:cNvSpPr/>
            <p:nvPr/>
          </p:nvSpPr>
          <p:spPr>
            <a:xfrm>
              <a:off x="4238625" y="3943350"/>
              <a:ext cx="9525" cy="323850"/>
            </a:xfrm>
            <a:custGeom>
              <a:avLst/>
              <a:gdLst/>
              <a:ahLst/>
              <a:cxnLst/>
              <a:rect l="l" t="t" r="r" b="b"/>
              <a:pathLst>
                <a:path w="9525" h="323850">
                  <a:moveTo>
                    <a:pt x="0" y="0"/>
                  </a:moveTo>
                  <a:lnTo>
                    <a:pt x="0" y="323850"/>
                  </a:lnTo>
                </a:path>
              </a:pathLst>
            </a:custGeom>
            <a:noFill/>
            <a:ln w="9525">
              <a:solidFill>
                <a:srgbClr val="DCE6F3"/>
              </a:solidFill>
            </a:ln>
          </p:spPr>
        </p:sp>
        <p:sp>
          <p:nvSpPr>
            <p:cNvPr id="62" name="TextBox 62"/>
            <p:cNvSpPr txBox="1"/>
            <p:nvPr/>
          </p:nvSpPr>
          <p:spPr>
            <a:xfrm>
              <a:off x="4354512" y="3953589"/>
              <a:ext cx="51117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直播／录播</a:t>
              </a:r>
              <a:br/>
              <a:r>
                <a:rPr lang="zh-CN" sz="790" dirty="0">
                  <a:solidFill>
                    <a:srgbClr val="333333"/>
                  </a:solidFill>
                  <a:latin typeface="+mn-lt"/>
                  <a:ea typeface="+mn-ea"/>
                  <a:cs typeface="+mn-cs"/>
                </a:rPr>
                <a:t>学习时长</a:t>
              </a:r>
            </a:p>
          </p:txBody>
        </p:sp>
        <p:sp>
          <p:nvSpPr>
            <p:cNvPr id="63" name="Line 63"/>
            <p:cNvSpPr/>
            <p:nvPr/>
          </p:nvSpPr>
          <p:spPr>
            <a:xfrm>
              <a:off x="4981575" y="3943350"/>
              <a:ext cx="9525" cy="323850"/>
            </a:xfrm>
            <a:custGeom>
              <a:avLst/>
              <a:gdLst/>
              <a:ahLst/>
              <a:cxnLst/>
              <a:rect l="l" t="t" r="r" b="b"/>
              <a:pathLst>
                <a:path w="9525" h="323850">
                  <a:moveTo>
                    <a:pt x="0" y="0"/>
                  </a:moveTo>
                  <a:lnTo>
                    <a:pt x="0" y="323850"/>
                  </a:lnTo>
                </a:path>
              </a:pathLst>
            </a:custGeom>
            <a:noFill/>
            <a:ln w="9525">
              <a:solidFill>
                <a:srgbClr val="DCE6F3"/>
              </a:solidFill>
            </a:ln>
          </p:spPr>
        </p:sp>
        <p:sp>
          <p:nvSpPr>
            <p:cNvPr id="64" name="TextBox 64"/>
            <p:cNvSpPr txBox="1"/>
            <p:nvPr/>
          </p:nvSpPr>
          <p:spPr>
            <a:xfrm>
              <a:off x="5097462" y="3953589"/>
              <a:ext cx="51117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作业／考试</a:t>
              </a:r>
              <a:br/>
              <a:r>
                <a:rPr lang="zh-CN" sz="790" dirty="0">
                  <a:solidFill>
                    <a:srgbClr val="333333"/>
                  </a:solidFill>
                  <a:latin typeface="+mn-lt"/>
                  <a:ea typeface="+mn-ea"/>
                  <a:cs typeface="+mn-cs"/>
                </a:rPr>
                <a:t>成绩</a:t>
              </a:r>
            </a:p>
          </p:txBody>
        </p:sp>
        <p:sp>
          <p:nvSpPr>
            <p:cNvPr id="65" name="Line 65"/>
            <p:cNvSpPr/>
            <p:nvPr/>
          </p:nvSpPr>
          <p:spPr>
            <a:xfrm>
              <a:off x="4610100" y="4419600"/>
              <a:ext cx="1" cy="285750"/>
            </a:xfrm>
            <a:prstGeom prst="line">
              <a:avLst/>
            </a:prstGeom>
            <a:noFill/>
            <a:ln w="28575">
              <a:solidFill>
                <a:srgbClr val="F5927E"/>
              </a:solidFill>
              <a:tailEnd type="triangle" w="lg" len="lg"/>
            </a:ln>
          </p:spPr>
        </p:sp>
        <p:sp>
          <p:nvSpPr>
            <p:cNvPr id="66" name="Rectangle 66"/>
            <p:cNvSpPr/>
            <p:nvPr/>
          </p:nvSpPr>
          <p:spPr>
            <a:xfrm>
              <a:off x="3505200" y="4819650"/>
              <a:ext cx="2209800" cy="285750"/>
            </a:xfrm>
            <a:prstGeom prst="roundRect">
              <a:avLst>
                <a:gd name="adj" fmla="val 20000"/>
              </a:avLst>
            </a:prstGeom>
            <a:gradFill>
              <a:gsLst>
                <a:gs pos="0">
                  <a:srgbClr val="FF5B3A"/>
                </a:gs>
                <a:gs pos="100000">
                  <a:srgbClr val="E94B2B"/>
                </a:gs>
              </a:gsLst>
              <a:lin ang="0" scaled="1"/>
            </a:gradFill>
            <a:ln>
              <a:noFill/>
            </a:ln>
          </p:spPr>
        </p:sp>
        <p:sp>
          <p:nvSpPr>
            <p:cNvPr id="67" name="TextBox 67"/>
            <p:cNvSpPr txBox="1"/>
            <p:nvPr/>
          </p:nvSpPr>
          <p:spPr>
            <a:xfrm>
              <a:off x="4341292" y="491442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学生服务</a:t>
              </a:r>
            </a:p>
          </p:txBody>
        </p:sp>
      </p:grpSp>
      <p:grpSp>
        <p:nvGrpSpPr>
          <p:cNvPr id="70" name="v-efficient"/>
          <p:cNvGrpSpPr/>
          <p:nvPr/>
        </p:nvGrpSpPr>
        <p:grpSpPr>
          <a:xfrm>
            <a:off x="5876290" y="3174206"/>
            <a:ext cx="153670" cy="848678"/>
            <a:chOff x="5876290" y="3174206"/>
            <a:chExt cx="153670" cy="848678"/>
          </a:xfrm>
        </p:grpSpPr>
        <p:sp>
          <p:nvSpPr>
            <p:cNvPr id="69" name="TextBox 69"/>
            <p:cNvSpPr txBox="1"/>
            <p:nvPr/>
          </p:nvSpPr>
          <p:spPr>
            <a:xfrm>
              <a:off x="5876290" y="3174206"/>
              <a:ext cx="153670" cy="848678"/>
            </a:xfrm>
            <a:prstGeom prst="rect">
              <a:avLst/>
            </a:prstGeom>
            <a:noFill/>
            <a:ln>
              <a:noFill/>
            </a:ln>
          </p:spPr>
          <p:txBody>
            <a:bodyPr wrap="none" lIns="0" tIns="0" rIns="0" bIns="0" anchor="t" anchorCtr="0">
              <a:spAutoFit/>
            </a:bodyPr>
            <a:lstStyle/>
            <a:p>
              <a:pPr algn="ctr">
                <a:lnSpc>
                  <a:spcPts val="1650"/>
                </a:lnSpc>
              </a:pPr>
              <a:r>
                <a:rPr lang="zh-CN" sz="1120" dirty="0">
                  <a:solidFill>
                    <a:srgbClr val="C83B1E"/>
                  </a:solidFill>
                  <a:latin typeface="+mn-lt"/>
                  <a:ea typeface="+mn-ea"/>
                  <a:cs typeface="+mn-cs"/>
                </a:rPr>
                <a:t>高</a:t>
              </a:r>
              <a:br/>
              <a:r>
                <a:rPr lang="zh-CN" sz="1120" dirty="0">
                  <a:solidFill>
                    <a:srgbClr val="C83B1E"/>
                  </a:solidFill>
                  <a:latin typeface="+mn-lt"/>
                  <a:ea typeface="+mn-ea"/>
                  <a:cs typeface="+mn-cs"/>
                </a:rPr>
                <a:t>效</a:t>
              </a:r>
              <a:br/>
              <a:r>
                <a:rPr lang="zh-CN" sz="1120" dirty="0">
                  <a:solidFill>
                    <a:srgbClr val="C83B1E"/>
                  </a:solidFill>
                  <a:latin typeface="+mn-lt"/>
                  <a:ea typeface="+mn-ea"/>
                  <a:cs typeface="+mn-cs"/>
                </a:rPr>
                <a:t>管</a:t>
              </a:r>
              <a:br/>
              <a:r>
                <a:rPr lang="zh-CN" sz="1120" dirty="0">
                  <a:solidFill>
                    <a:srgbClr val="C83B1E"/>
                  </a:solidFill>
                  <a:latin typeface="+mn-lt"/>
                  <a:ea typeface="+mn-ea"/>
                  <a:cs typeface="+mn-cs"/>
                </a:rPr>
                <a:t>理</a:t>
              </a:r>
            </a:p>
          </p:txBody>
        </p:sp>
      </p:grpSp>
      <p:grpSp>
        <p:nvGrpSpPr>
          <p:cNvPr id="100" name="lane-teaching"/>
          <p:cNvGrpSpPr/>
          <p:nvPr/>
        </p:nvGrpSpPr>
        <p:grpSpPr>
          <a:xfrm>
            <a:off x="6248400" y="2305050"/>
            <a:ext cx="2247900" cy="2819400"/>
            <a:chOff x="6248400" y="2305050"/>
            <a:chExt cx="2247900" cy="2819400"/>
          </a:xfrm>
        </p:grpSpPr>
        <p:sp>
          <p:nvSpPr>
            <p:cNvPr id="71" name="Rectangle 71"/>
            <p:cNvSpPr/>
            <p:nvPr/>
          </p:nvSpPr>
          <p:spPr>
            <a:xfrm>
              <a:off x="6248400" y="2305050"/>
              <a:ext cx="2247900" cy="1257300"/>
            </a:xfrm>
            <a:prstGeom prst="roundRect">
              <a:avLst>
                <a:gd name="adj" fmla="val 4545"/>
              </a:avLst>
            </a:prstGeom>
            <a:solidFill>
              <a:srgbClr val="FFFFFF"/>
            </a:solidFill>
            <a:ln w="9525">
              <a:solidFill>
                <a:srgbClr val="C9DDF5"/>
              </a:solidFill>
            </a:ln>
          </p:spPr>
        </p:sp>
        <p:sp>
          <p:nvSpPr>
            <p:cNvPr id="72" name="Rectangle 72"/>
            <p:cNvSpPr/>
            <p:nvPr/>
          </p:nvSpPr>
          <p:spPr>
            <a:xfrm>
              <a:off x="6248400" y="2305050"/>
              <a:ext cx="2247900" cy="266700"/>
            </a:xfrm>
            <a:prstGeom prst="roundRect">
              <a:avLst>
                <a:gd name="adj" fmla="val 21429"/>
              </a:avLst>
            </a:prstGeom>
            <a:gradFill>
              <a:gsLst>
                <a:gs pos="0">
                  <a:srgbClr val="FF5B3A"/>
                </a:gs>
                <a:gs pos="100000">
                  <a:srgbClr val="E94B2B"/>
                </a:gs>
              </a:gsLst>
              <a:lin ang="0" scaled="1"/>
            </a:gradFill>
            <a:ln>
              <a:noFill/>
            </a:ln>
          </p:spPr>
        </p:sp>
        <p:sp>
          <p:nvSpPr>
            <p:cNvPr id="73" name="TextBox 73"/>
            <p:cNvSpPr txBox="1"/>
            <p:nvPr/>
          </p:nvSpPr>
          <p:spPr>
            <a:xfrm>
              <a:off x="6669665" y="2390299"/>
              <a:ext cx="140537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高清直播/录播系列课程</a:t>
              </a:r>
            </a:p>
          </p:txBody>
        </p:sp>
        <p:sp>
          <p:nvSpPr>
            <p:cNvPr id="74" name="TextBox 74"/>
            <p:cNvSpPr txBox="1"/>
            <p:nvPr/>
          </p:nvSpPr>
          <p:spPr>
            <a:xfrm>
              <a:off x="6391370" y="2696289"/>
              <a:ext cx="476060"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PPT／人像</a:t>
              </a:r>
              <a:br/>
              <a:r>
                <a:rPr lang="zh-CN" sz="790" dirty="0">
                  <a:solidFill>
                    <a:srgbClr val="333333"/>
                  </a:solidFill>
                  <a:latin typeface="+mn-lt"/>
                  <a:ea typeface="+mn-ea"/>
                  <a:cs typeface="+mn-cs"/>
                </a:rPr>
                <a:t>双屏显示</a:t>
              </a:r>
            </a:p>
          </p:txBody>
        </p:sp>
        <p:sp>
          <p:nvSpPr>
            <p:cNvPr id="75" name="Line 75"/>
            <p:cNvSpPr/>
            <p:nvPr/>
          </p:nvSpPr>
          <p:spPr>
            <a:xfrm>
              <a:off x="7000875" y="2686050"/>
              <a:ext cx="9525" cy="323850"/>
            </a:xfrm>
            <a:custGeom>
              <a:avLst/>
              <a:gdLst/>
              <a:ahLst/>
              <a:cxnLst/>
              <a:rect l="l" t="t" r="r" b="b"/>
              <a:pathLst>
                <a:path w="9525" h="323850">
                  <a:moveTo>
                    <a:pt x="0" y="0"/>
                  </a:moveTo>
                  <a:lnTo>
                    <a:pt x="0" y="323850"/>
                  </a:lnTo>
                </a:path>
              </a:pathLst>
            </a:custGeom>
            <a:noFill/>
            <a:ln w="9525">
              <a:solidFill>
                <a:srgbClr val="DCE6F3"/>
              </a:solidFill>
            </a:ln>
          </p:spPr>
        </p:sp>
        <p:sp>
          <p:nvSpPr>
            <p:cNvPr id="76" name="TextBox 76"/>
            <p:cNvSpPr txBox="1"/>
            <p:nvPr/>
          </p:nvSpPr>
          <p:spPr>
            <a:xfrm>
              <a:off x="7217092" y="26962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直播互</a:t>
              </a:r>
              <a:br/>
              <a:r>
                <a:rPr lang="zh-CN" sz="790" dirty="0">
                  <a:solidFill>
                    <a:srgbClr val="333333"/>
                  </a:solidFill>
                  <a:latin typeface="+mn-lt"/>
                  <a:ea typeface="+mn-ea"/>
                  <a:cs typeface="+mn-cs"/>
                </a:rPr>
                <a:t>动答疑</a:t>
              </a:r>
            </a:p>
          </p:txBody>
        </p:sp>
        <p:sp>
          <p:nvSpPr>
            <p:cNvPr id="77" name="Line 77"/>
            <p:cNvSpPr/>
            <p:nvPr/>
          </p:nvSpPr>
          <p:spPr>
            <a:xfrm>
              <a:off x="7743825" y="2686050"/>
              <a:ext cx="9525" cy="323850"/>
            </a:xfrm>
            <a:custGeom>
              <a:avLst/>
              <a:gdLst/>
              <a:ahLst/>
              <a:cxnLst/>
              <a:rect l="l" t="t" r="r" b="b"/>
              <a:pathLst>
                <a:path w="9525" h="323850">
                  <a:moveTo>
                    <a:pt x="0" y="0"/>
                  </a:moveTo>
                  <a:lnTo>
                    <a:pt x="0" y="323850"/>
                  </a:lnTo>
                </a:path>
              </a:pathLst>
            </a:custGeom>
            <a:noFill/>
            <a:ln w="9525">
              <a:solidFill>
                <a:srgbClr val="DCE6F3"/>
              </a:solidFill>
            </a:ln>
          </p:spPr>
        </p:sp>
        <p:sp>
          <p:nvSpPr>
            <p:cNvPr id="78" name="TextBox 78"/>
            <p:cNvSpPr txBox="1"/>
            <p:nvPr/>
          </p:nvSpPr>
          <p:spPr>
            <a:xfrm>
              <a:off x="7960042" y="26962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师生在</a:t>
              </a:r>
              <a:br/>
              <a:r>
                <a:rPr lang="zh-CN" sz="790" dirty="0">
                  <a:solidFill>
                    <a:srgbClr val="333333"/>
                  </a:solidFill>
                  <a:latin typeface="+mn-lt"/>
                  <a:ea typeface="+mn-ea"/>
                  <a:cs typeface="+mn-cs"/>
                </a:rPr>
                <a:t>线讨论</a:t>
              </a:r>
            </a:p>
          </p:txBody>
        </p:sp>
        <p:sp>
          <p:nvSpPr>
            <p:cNvPr id="79" name="Line 79"/>
            <p:cNvSpPr/>
            <p:nvPr/>
          </p:nvSpPr>
          <p:spPr>
            <a:xfrm>
              <a:off x="6362700" y="3086100"/>
              <a:ext cx="2019300" cy="9525"/>
            </a:xfrm>
            <a:custGeom>
              <a:avLst/>
              <a:gdLst/>
              <a:ahLst/>
              <a:cxnLst/>
              <a:rect l="l" t="t" r="r" b="b"/>
              <a:pathLst>
                <a:path w="2019300" h="9525">
                  <a:moveTo>
                    <a:pt x="0" y="0"/>
                  </a:moveTo>
                  <a:lnTo>
                    <a:pt x="2019300" y="0"/>
                  </a:lnTo>
                </a:path>
              </a:pathLst>
            </a:custGeom>
            <a:noFill/>
            <a:ln w="9525">
              <a:solidFill>
                <a:srgbClr val="DCE6F3"/>
              </a:solidFill>
            </a:ln>
          </p:spPr>
        </p:sp>
        <p:sp>
          <p:nvSpPr>
            <p:cNvPr id="80" name="TextBox 80"/>
            <p:cNvSpPr txBox="1"/>
            <p:nvPr/>
          </p:nvSpPr>
          <p:spPr>
            <a:xfrm>
              <a:off x="6423977" y="3191589"/>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师生语言</a:t>
              </a:r>
              <a:br/>
              <a:r>
                <a:rPr lang="zh-CN" sz="790" dirty="0">
                  <a:solidFill>
                    <a:srgbClr val="333333"/>
                  </a:solidFill>
                  <a:latin typeface="+mn-lt"/>
                  <a:ea typeface="+mn-ea"/>
                  <a:cs typeface="+mn-cs"/>
                </a:rPr>
                <a:t>连麦</a:t>
              </a:r>
            </a:p>
          </p:txBody>
        </p:sp>
        <p:sp>
          <p:nvSpPr>
            <p:cNvPr id="81" name="Line 81"/>
            <p:cNvSpPr/>
            <p:nvPr/>
          </p:nvSpPr>
          <p:spPr>
            <a:xfrm>
              <a:off x="7000875" y="3181350"/>
              <a:ext cx="9525" cy="304800"/>
            </a:xfrm>
            <a:custGeom>
              <a:avLst/>
              <a:gdLst/>
              <a:ahLst/>
              <a:cxnLst/>
              <a:rect l="l" t="t" r="r" b="b"/>
              <a:pathLst>
                <a:path w="9525" h="304800">
                  <a:moveTo>
                    <a:pt x="0" y="0"/>
                  </a:moveTo>
                  <a:lnTo>
                    <a:pt x="0" y="304800"/>
                  </a:lnTo>
                </a:path>
              </a:pathLst>
            </a:custGeom>
            <a:noFill/>
            <a:ln w="9525">
              <a:solidFill>
                <a:srgbClr val="DCE6F3"/>
              </a:solidFill>
            </a:ln>
          </p:spPr>
        </p:sp>
        <p:sp>
          <p:nvSpPr>
            <p:cNvPr id="82" name="TextBox 82"/>
            <p:cNvSpPr txBox="1"/>
            <p:nvPr/>
          </p:nvSpPr>
          <p:spPr>
            <a:xfrm>
              <a:off x="7217092" y="31915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白板涂</a:t>
              </a:r>
              <a:br/>
              <a:r>
                <a:rPr lang="zh-CN" sz="790" dirty="0">
                  <a:solidFill>
                    <a:srgbClr val="333333"/>
                  </a:solidFill>
                  <a:latin typeface="+mn-lt"/>
                  <a:ea typeface="+mn-ea"/>
                  <a:cs typeface="+mn-cs"/>
                </a:rPr>
                <a:t>鸦工具</a:t>
              </a:r>
            </a:p>
          </p:txBody>
        </p:sp>
        <p:sp>
          <p:nvSpPr>
            <p:cNvPr id="83" name="Line 83"/>
            <p:cNvSpPr/>
            <p:nvPr/>
          </p:nvSpPr>
          <p:spPr>
            <a:xfrm>
              <a:off x="7743825" y="3181350"/>
              <a:ext cx="9525" cy="304800"/>
            </a:xfrm>
            <a:custGeom>
              <a:avLst/>
              <a:gdLst/>
              <a:ahLst/>
              <a:cxnLst/>
              <a:rect l="l" t="t" r="r" b="b"/>
              <a:pathLst>
                <a:path w="9525" h="304800">
                  <a:moveTo>
                    <a:pt x="0" y="0"/>
                  </a:moveTo>
                  <a:lnTo>
                    <a:pt x="0" y="304800"/>
                  </a:lnTo>
                </a:path>
              </a:pathLst>
            </a:custGeom>
            <a:noFill/>
            <a:ln w="9525">
              <a:solidFill>
                <a:srgbClr val="DCE6F3"/>
              </a:solidFill>
            </a:ln>
          </p:spPr>
        </p:sp>
        <p:sp>
          <p:nvSpPr>
            <p:cNvPr id="84" name="TextBox 84"/>
            <p:cNvSpPr txBox="1"/>
            <p:nvPr/>
          </p:nvSpPr>
          <p:spPr>
            <a:xfrm>
              <a:off x="7960042" y="31915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课件资</a:t>
              </a:r>
              <a:br/>
              <a:r>
                <a:rPr lang="zh-CN" sz="790" dirty="0">
                  <a:solidFill>
                    <a:srgbClr val="333333"/>
                  </a:solidFill>
                  <a:latin typeface="+mn-lt"/>
                  <a:ea typeface="+mn-ea"/>
                  <a:cs typeface="+mn-cs"/>
                </a:rPr>
                <a:t>料上传</a:t>
              </a:r>
            </a:p>
          </p:txBody>
        </p:sp>
        <p:sp>
          <p:nvSpPr>
            <p:cNvPr id="85" name="Line 85"/>
            <p:cNvSpPr/>
            <p:nvPr/>
          </p:nvSpPr>
          <p:spPr>
            <a:xfrm>
              <a:off x="7372350" y="3638550"/>
              <a:ext cx="1" cy="133350"/>
            </a:xfrm>
            <a:prstGeom prst="line">
              <a:avLst/>
            </a:prstGeom>
            <a:noFill/>
            <a:ln w="28575">
              <a:solidFill>
                <a:srgbClr val="F5927E"/>
              </a:solidFill>
              <a:tailEnd type="triangle" w="lg" len="lg"/>
            </a:ln>
          </p:spPr>
        </p:sp>
        <p:sp>
          <p:nvSpPr>
            <p:cNvPr id="86" name="Rectangle 86"/>
            <p:cNvSpPr/>
            <p:nvPr/>
          </p:nvSpPr>
          <p:spPr>
            <a:xfrm>
              <a:off x="6248400" y="3867150"/>
              <a:ext cx="2247900" cy="1257300"/>
            </a:xfrm>
            <a:prstGeom prst="roundRect">
              <a:avLst>
                <a:gd name="adj" fmla="val 4545"/>
              </a:avLst>
            </a:prstGeom>
            <a:solidFill>
              <a:srgbClr val="FFFFFF"/>
            </a:solidFill>
            <a:ln w="9525">
              <a:solidFill>
                <a:srgbClr val="C9DDF5"/>
              </a:solidFill>
            </a:ln>
          </p:spPr>
        </p:sp>
        <p:sp>
          <p:nvSpPr>
            <p:cNvPr id="87" name="Rectangle 87"/>
            <p:cNvSpPr/>
            <p:nvPr/>
          </p:nvSpPr>
          <p:spPr>
            <a:xfrm>
              <a:off x="6248400" y="3867150"/>
              <a:ext cx="2247900" cy="266700"/>
            </a:xfrm>
            <a:prstGeom prst="roundRect">
              <a:avLst>
                <a:gd name="adj" fmla="val 21429"/>
              </a:avLst>
            </a:prstGeom>
            <a:gradFill>
              <a:gsLst>
                <a:gs pos="0">
                  <a:srgbClr val="FF5B3A"/>
                </a:gs>
                <a:gs pos="100000">
                  <a:srgbClr val="E94B2B"/>
                </a:gs>
              </a:gsLst>
              <a:lin ang="0" scaled="1"/>
            </a:gradFill>
            <a:ln>
              <a:noFill/>
            </a:ln>
          </p:spPr>
        </p:sp>
        <p:sp>
          <p:nvSpPr>
            <p:cNvPr id="88" name="TextBox 88"/>
            <p:cNvSpPr txBox="1"/>
            <p:nvPr/>
          </p:nvSpPr>
          <p:spPr>
            <a:xfrm>
              <a:off x="6971614" y="395239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课后讨论学习</a:t>
              </a:r>
            </a:p>
          </p:txBody>
        </p:sp>
        <p:sp>
          <p:nvSpPr>
            <p:cNvPr id="89" name="TextBox 89"/>
            <p:cNvSpPr txBox="1"/>
            <p:nvPr/>
          </p:nvSpPr>
          <p:spPr>
            <a:xfrm>
              <a:off x="6423977" y="4258389"/>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班级互动</a:t>
              </a:r>
              <a:br/>
              <a:r>
                <a:rPr lang="zh-CN" sz="790" dirty="0">
                  <a:solidFill>
                    <a:srgbClr val="333333"/>
                  </a:solidFill>
                  <a:latin typeface="+mn-lt"/>
                  <a:ea typeface="+mn-ea"/>
                  <a:cs typeface="+mn-cs"/>
                </a:rPr>
                <a:t>交流</a:t>
              </a:r>
            </a:p>
          </p:txBody>
        </p:sp>
        <p:sp>
          <p:nvSpPr>
            <p:cNvPr id="90" name="Line 90"/>
            <p:cNvSpPr/>
            <p:nvPr/>
          </p:nvSpPr>
          <p:spPr>
            <a:xfrm>
              <a:off x="7000875" y="4248150"/>
              <a:ext cx="9525" cy="323850"/>
            </a:xfrm>
            <a:custGeom>
              <a:avLst/>
              <a:gdLst/>
              <a:ahLst/>
              <a:cxnLst/>
              <a:rect l="l" t="t" r="r" b="b"/>
              <a:pathLst>
                <a:path w="9525" h="323850">
                  <a:moveTo>
                    <a:pt x="0" y="0"/>
                  </a:moveTo>
                  <a:lnTo>
                    <a:pt x="0" y="323850"/>
                  </a:lnTo>
                </a:path>
              </a:pathLst>
            </a:custGeom>
            <a:noFill/>
            <a:ln w="9525">
              <a:solidFill>
                <a:srgbClr val="DCE6F3"/>
              </a:solidFill>
            </a:ln>
          </p:spPr>
        </p:sp>
        <p:sp>
          <p:nvSpPr>
            <p:cNvPr id="91" name="TextBox 91"/>
            <p:cNvSpPr txBox="1"/>
            <p:nvPr/>
          </p:nvSpPr>
          <p:spPr>
            <a:xfrm>
              <a:off x="7217092" y="42583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倍数高</a:t>
              </a:r>
              <a:br/>
              <a:r>
                <a:rPr lang="zh-CN" sz="790" dirty="0">
                  <a:solidFill>
                    <a:srgbClr val="333333"/>
                  </a:solidFill>
                  <a:latin typeface="+mn-lt"/>
                  <a:ea typeface="+mn-ea"/>
                  <a:cs typeface="+mn-cs"/>
                </a:rPr>
                <a:t>清回放</a:t>
              </a:r>
            </a:p>
          </p:txBody>
        </p:sp>
        <p:sp>
          <p:nvSpPr>
            <p:cNvPr id="92" name="Line 92"/>
            <p:cNvSpPr/>
            <p:nvPr/>
          </p:nvSpPr>
          <p:spPr>
            <a:xfrm>
              <a:off x="7743825" y="4248150"/>
              <a:ext cx="9525" cy="323850"/>
            </a:xfrm>
            <a:custGeom>
              <a:avLst/>
              <a:gdLst/>
              <a:ahLst/>
              <a:cxnLst/>
              <a:rect l="l" t="t" r="r" b="b"/>
              <a:pathLst>
                <a:path w="9525" h="323850">
                  <a:moveTo>
                    <a:pt x="0" y="0"/>
                  </a:moveTo>
                  <a:lnTo>
                    <a:pt x="0" y="323850"/>
                  </a:lnTo>
                </a:path>
              </a:pathLst>
            </a:custGeom>
            <a:noFill/>
            <a:ln w="9525">
              <a:solidFill>
                <a:srgbClr val="DCE6F3"/>
              </a:solidFill>
            </a:ln>
          </p:spPr>
        </p:sp>
        <p:sp>
          <p:nvSpPr>
            <p:cNvPr id="93" name="TextBox 93"/>
            <p:cNvSpPr txBox="1"/>
            <p:nvPr/>
          </p:nvSpPr>
          <p:spPr>
            <a:xfrm>
              <a:off x="7960042" y="42583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课后智</a:t>
              </a:r>
              <a:br/>
              <a:r>
                <a:rPr lang="zh-CN" sz="790" dirty="0">
                  <a:solidFill>
                    <a:srgbClr val="333333"/>
                  </a:solidFill>
                  <a:latin typeface="+mn-lt"/>
                  <a:ea typeface="+mn-ea"/>
                  <a:cs typeface="+mn-cs"/>
                </a:rPr>
                <a:t>能刷题</a:t>
              </a:r>
            </a:p>
          </p:txBody>
        </p:sp>
        <p:sp>
          <p:nvSpPr>
            <p:cNvPr id="94" name="Line 94"/>
            <p:cNvSpPr/>
            <p:nvPr/>
          </p:nvSpPr>
          <p:spPr>
            <a:xfrm>
              <a:off x="6362700" y="4648200"/>
              <a:ext cx="2019300" cy="9525"/>
            </a:xfrm>
            <a:custGeom>
              <a:avLst/>
              <a:gdLst/>
              <a:ahLst/>
              <a:cxnLst/>
              <a:rect l="l" t="t" r="r" b="b"/>
              <a:pathLst>
                <a:path w="2019300" h="9525">
                  <a:moveTo>
                    <a:pt x="0" y="0"/>
                  </a:moveTo>
                  <a:lnTo>
                    <a:pt x="2019300" y="0"/>
                  </a:lnTo>
                </a:path>
              </a:pathLst>
            </a:custGeom>
            <a:noFill/>
            <a:ln w="9525">
              <a:solidFill>
                <a:srgbClr val="DCE6F3"/>
              </a:solidFill>
            </a:ln>
          </p:spPr>
        </p:sp>
        <p:sp>
          <p:nvSpPr>
            <p:cNvPr id="95" name="TextBox 95"/>
            <p:cNvSpPr txBox="1"/>
            <p:nvPr/>
          </p:nvSpPr>
          <p:spPr>
            <a:xfrm>
              <a:off x="6423977" y="4753689"/>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教学资料</a:t>
              </a:r>
              <a:br/>
              <a:r>
                <a:rPr lang="zh-CN" sz="790" dirty="0">
                  <a:solidFill>
                    <a:srgbClr val="333333"/>
                  </a:solidFill>
                  <a:latin typeface="+mn-lt"/>
                  <a:ea typeface="+mn-ea"/>
                  <a:cs typeface="+mn-cs"/>
                </a:rPr>
                <a:t>下载</a:t>
              </a:r>
            </a:p>
          </p:txBody>
        </p:sp>
        <p:sp>
          <p:nvSpPr>
            <p:cNvPr id="96" name="Line 96"/>
            <p:cNvSpPr/>
            <p:nvPr/>
          </p:nvSpPr>
          <p:spPr>
            <a:xfrm>
              <a:off x="7000875" y="4743450"/>
              <a:ext cx="9525" cy="304800"/>
            </a:xfrm>
            <a:custGeom>
              <a:avLst/>
              <a:gdLst/>
              <a:ahLst/>
              <a:cxnLst/>
              <a:rect l="l" t="t" r="r" b="b"/>
              <a:pathLst>
                <a:path w="9525" h="304800">
                  <a:moveTo>
                    <a:pt x="0" y="0"/>
                  </a:moveTo>
                  <a:lnTo>
                    <a:pt x="0" y="304800"/>
                  </a:lnTo>
                </a:path>
              </a:pathLst>
            </a:custGeom>
            <a:noFill/>
            <a:ln w="9525">
              <a:solidFill>
                <a:srgbClr val="DCE6F3"/>
              </a:solidFill>
            </a:ln>
          </p:spPr>
        </p:sp>
        <p:sp>
          <p:nvSpPr>
            <p:cNvPr id="97" name="TextBox 97"/>
            <p:cNvSpPr txBox="1"/>
            <p:nvPr/>
          </p:nvSpPr>
          <p:spPr>
            <a:xfrm>
              <a:off x="7217092" y="47536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作业自</a:t>
              </a:r>
              <a:br/>
              <a:r>
                <a:rPr lang="zh-CN" sz="790" dirty="0">
                  <a:solidFill>
                    <a:srgbClr val="333333"/>
                  </a:solidFill>
                  <a:latin typeface="+mn-lt"/>
                  <a:ea typeface="+mn-ea"/>
                  <a:cs typeface="+mn-cs"/>
                </a:rPr>
                <a:t>动批改</a:t>
              </a:r>
            </a:p>
          </p:txBody>
        </p:sp>
        <p:sp>
          <p:nvSpPr>
            <p:cNvPr id="98" name="Line 98"/>
            <p:cNvSpPr/>
            <p:nvPr/>
          </p:nvSpPr>
          <p:spPr>
            <a:xfrm>
              <a:off x="7743825" y="4743450"/>
              <a:ext cx="9525" cy="304800"/>
            </a:xfrm>
            <a:custGeom>
              <a:avLst/>
              <a:gdLst/>
              <a:ahLst/>
              <a:cxnLst/>
              <a:rect l="l" t="t" r="r" b="b"/>
              <a:pathLst>
                <a:path w="9525" h="304800">
                  <a:moveTo>
                    <a:pt x="0" y="0"/>
                  </a:moveTo>
                  <a:lnTo>
                    <a:pt x="0" y="304800"/>
                  </a:lnTo>
                </a:path>
              </a:pathLst>
            </a:custGeom>
            <a:noFill/>
            <a:ln w="9525">
              <a:solidFill>
                <a:srgbClr val="DCE6F3"/>
              </a:solidFill>
            </a:ln>
          </p:spPr>
        </p:sp>
        <p:sp>
          <p:nvSpPr>
            <p:cNvPr id="99" name="TextBox 99"/>
            <p:cNvSpPr txBox="1"/>
            <p:nvPr/>
          </p:nvSpPr>
          <p:spPr>
            <a:xfrm>
              <a:off x="7960042" y="4753689"/>
              <a:ext cx="31051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在线考</a:t>
              </a:r>
              <a:br/>
              <a:r>
                <a:rPr lang="zh-CN" sz="790" dirty="0">
                  <a:solidFill>
                    <a:srgbClr val="333333"/>
                  </a:solidFill>
                  <a:latin typeface="+mn-lt"/>
                  <a:ea typeface="+mn-ea"/>
                  <a:cs typeface="+mn-cs"/>
                </a:rPr>
                <a:t>试阅读</a:t>
              </a:r>
            </a:p>
          </p:txBody>
        </p:sp>
      </p:grpSp>
      <p:grpSp>
        <p:nvGrpSpPr>
          <p:cNvPr id="102" name="v-reputation"/>
          <p:cNvGrpSpPr/>
          <p:nvPr/>
        </p:nvGrpSpPr>
        <p:grpSpPr>
          <a:xfrm>
            <a:off x="8638540" y="3174206"/>
            <a:ext cx="153670" cy="848678"/>
            <a:chOff x="8638540" y="3174206"/>
            <a:chExt cx="153670" cy="848678"/>
          </a:xfrm>
        </p:grpSpPr>
        <p:sp>
          <p:nvSpPr>
            <p:cNvPr id="101" name="TextBox 101"/>
            <p:cNvSpPr txBox="1"/>
            <p:nvPr/>
          </p:nvSpPr>
          <p:spPr>
            <a:xfrm>
              <a:off x="8638540" y="3174206"/>
              <a:ext cx="153670" cy="848678"/>
            </a:xfrm>
            <a:prstGeom prst="rect">
              <a:avLst/>
            </a:prstGeom>
            <a:noFill/>
            <a:ln>
              <a:noFill/>
            </a:ln>
          </p:spPr>
          <p:txBody>
            <a:bodyPr wrap="none" lIns="0" tIns="0" rIns="0" bIns="0" anchor="t" anchorCtr="0">
              <a:spAutoFit/>
            </a:bodyPr>
            <a:lstStyle/>
            <a:p>
              <a:pPr algn="ctr">
                <a:lnSpc>
                  <a:spcPts val="1650"/>
                </a:lnSpc>
              </a:pPr>
              <a:r>
                <a:rPr lang="zh-CN" sz="1120" dirty="0">
                  <a:solidFill>
                    <a:srgbClr val="C83B1E"/>
                  </a:solidFill>
                  <a:latin typeface="+mn-lt"/>
                  <a:ea typeface="+mn-ea"/>
                  <a:cs typeface="+mn-cs"/>
                </a:rPr>
                <a:t>口</a:t>
              </a:r>
              <a:br/>
              <a:r>
                <a:rPr lang="zh-CN" sz="1120" dirty="0">
                  <a:solidFill>
                    <a:srgbClr val="C83B1E"/>
                  </a:solidFill>
                  <a:latin typeface="+mn-lt"/>
                  <a:ea typeface="+mn-ea"/>
                  <a:cs typeface="+mn-cs"/>
                </a:rPr>
                <a:t>碑</a:t>
              </a:r>
              <a:br/>
              <a:r>
                <a:rPr lang="zh-CN" sz="1120" dirty="0">
                  <a:solidFill>
                    <a:srgbClr val="C83B1E"/>
                  </a:solidFill>
                  <a:latin typeface="+mn-lt"/>
                  <a:ea typeface="+mn-ea"/>
                  <a:cs typeface="+mn-cs"/>
                </a:rPr>
                <a:t>提</a:t>
              </a:r>
              <a:br/>
              <a:r>
                <a:rPr lang="zh-CN" sz="1120" dirty="0">
                  <a:solidFill>
                    <a:srgbClr val="C83B1E"/>
                  </a:solidFill>
                  <a:latin typeface="+mn-lt"/>
                  <a:ea typeface="+mn-ea"/>
                  <a:cs typeface="+mn-cs"/>
                </a:rPr>
                <a:t>升</a:t>
              </a:r>
            </a:p>
          </p:txBody>
        </p:sp>
      </p:grpSp>
      <p:grpSp>
        <p:nvGrpSpPr>
          <p:cNvPr id="114" name="lane-leads"/>
          <p:cNvGrpSpPr/>
          <p:nvPr/>
        </p:nvGrpSpPr>
        <p:grpSpPr>
          <a:xfrm>
            <a:off x="8934450" y="2305050"/>
            <a:ext cx="971550" cy="2819400"/>
            <a:chOff x="8934450" y="2305050"/>
            <a:chExt cx="971550" cy="2819400"/>
          </a:xfrm>
        </p:grpSpPr>
        <p:sp>
          <p:nvSpPr>
            <p:cNvPr id="103" name="Rectangle 103"/>
            <p:cNvSpPr/>
            <p:nvPr/>
          </p:nvSpPr>
          <p:spPr>
            <a:xfrm>
              <a:off x="8934450" y="2305050"/>
              <a:ext cx="971550" cy="2819400"/>
            </a:xfrm>
            <a:prstGeom prst="roundRect">
              <a:avLst>
                <a:gd name="adj" fmla="val 7843"/>
              </a:avLst>
            </a:prstGeom>
            <a:solidFill>
              <a:srgbClr val="FFFFFF"/>
            </a:solidFill>
            <a:ln w="9525">
              <a:solidFill>
                <a:srgbClr val="C9DDF5"/>
              </a:solidFill>
            </a:ln>
          </p:spPr>
        </p:sp>
        <p:sp>
          <p:nvSpPr>
            <p:cNvPr id="104" name="Rectangle 104"/>
            <p:cNvSpPr/>
            <p:nvPr/>
          </p:nvSpPr>
          <p:spPr>
            <a:xfrm>
              <a:off x="8934450" y="2305050"/>
              <a:ext cx="971550" cy="266700"/>
            </a:xfrm>
            <a:prstGeom prst="roundRect">
              <a:avLst>
                <a:gd name="adj" fmla="val 28571"/>
              </a:avLst>
            </a:prstGeom>
            <a:gradFill>
              <a:gsLst>
                <a:gs pos="0">
                  <a:srgbClr val="FF5B3A"/>
                </a:gs>
                <a:gs pos="100000">
                  <a:srgbClr val="E94B2B"/>
                </a:gs>
              </a:gsLst>
              <a:lin ang="0" scaled="1"/>
            </a:gradFill>
            <a:ln>
              <a:noFill/>
            </a:ln>
          </p:spPr>
        </p:sp>
        <p:sp>
          <p:nvSpPr>
            <p:cNvPr id="105" name="TextBox 105"/>
            <p:cNvSpPr txBox="1"/>
            <p:nvPr/>
          </p:nvSpPr>
          <p:spPr>
            <a:xfrm>
              <a:off x="9051988" y="239839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线索维护管理</a:t>
              </a:r>
            </a:p>
          </p:txBody>
        </p:sp>
        <p:sp>
          <p:nvSpPr>
            <p:cNvPr id="106" name="Rectangle 106"/>
            <p:cNvSpPr/>
            <p:nvPr/>
          </p:nvSpPr>
          <p:spPr>
            <a:xfrm>
              <a:off x="9029700" y="2762250"/>
              <a:ext cx="781050" cy="342900"/>
            </a:xfrm>
            <a:prstGeom prst="roundRect">
              <a:avLst>
                <a:gd name="adj" fmla="val 11111"/>
              </a:avLst>
            </a:prstGeom>
            <a:solidFill>
              <a:srgbClr val="EEF2F8"/>
            </a:solidFill>
            <a:ln>
              <a:noFill/>
            </a:ln>
          </p:spPr>
        </p:sp>
        <p:sp>
          <p:nvSpPr>
            <p:cNvPr id="107" name="TextBox 107"/>
            <p:cNvSpPr txBox="1"/>
            <p:nvPr/>
          </p:nvSpPr>
          <p:spPr>
            <a:xfrm>
              <a:off x="9214802" y="2820114"/>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线索信息</a:t>
              </a:r>
              <a:br/>
              <a:r>
                <a:rPr lang="zh-CN" sz="790" dirty="0">
                  <a:solidFill>
                    <a:srgbClr val="333333"/>
                  </a:solidFill>
                  <a:latin typeface="+mn-lt"/>
                  <a:ea typeface="+mn-ea"/>
                  <a:cs typeface="+mn-cs"/>
                </a:rPr>
                <a:t>获取</a:t>
              </a:r>
            </a:p>
          </p:txBody>
        </p:sp>
        <p:sp>
          <p:nvSpPr>
            <p:cNvPr id="108" name="Rectangle 108"/>
            <p:cNvSpPr/>
            <p:nvPr/>
          </p:nvSpPr>
          <p:spPr>
            <a:xfrm>
              <a:off x="9029700" y="3314700"/>
              <a:ext cx="781050" cy="342900"/>
            </a:xfrm>
            <a:prstGeom prst="roundRect">
              <a:avLst>
                <a:gd name="adj" fmla="val 11111"/>
              </a:avLst>
            </a:prstGeom>
            <a:solidFill>
              <a:srgbClr val="EEF2F8"/>
            </a:solidFill>
            <a:ln>
              <a:noFill/>
            </a:ln>
          </p:spPr>
        </p:sp>
        <p:sp>
          <p:nvSpPr>
            <p:cNvPr id="109" name="TextBox 109"/>
            <p:cNvSpPr txBox="1"/>
            <p:nvPr/>
          </p:nvSpPr>
          <p:spPr>
            <a:xfrm>
              <a:off x="9214802" y="3372564"/>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线索数据</a:t>
              </a:r>
              <a:br/>
              <a:r>
                <a:rPr lang="zh-CN" sz="790" dirty="0">
                  <a:solidFill>
                    <a:srgbClr val="333333"/>
                  </a:solidFill>
                  <a:latin typeface="+mn-lt"/>
                  <a:ea typeface="+mn-ea"/>
                  <a:cs typeface="+mn-cs"/>
                </a:rPr>
                <a:t>分析</a:t>
              </a:r>
            </a:p>
          </p:txBody>
        </p:sp>
        <p:sp>
          <p:nvSpPr>
            <p:cNvPr id="110" name="Rectangle 110"/>
            <p:cNvSpPr/>
            <p:nvPr/>
          </p:nvSpPr>
          <p:spPr>
            <a:xfrm>
              <a:off x="9029700" y="3867150"/>
              <a:ext cx="781050" cy="342900"/>
            </a:xfrm>
            <a:prstGeom prst="roundRect">
              <a:avLst>
                <a:gd name="adj" fmla="val 11111"/>
              </a:avLst>
            </a:prstGeom>
            <a:solidFill>
              <a:srgbClr val="EEF2F8"/>
            </a:solidFill>
            <a:ln>
              <a:noFill/>
            </a:ln>
          </p:spPr>
        </p:sp>
        <p:sp>
          <p:nvSpPr>
            <p:cNvPr id="111" name="TextBox 111"/>
            <p:cNvSpPr txBox="1"/>
            <p:nvPr/>
          </p:nvSpPr>
          <p:spPr>
            <a:xfrm>
              <a:off x="9214802" y="3925014"/>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线索维护</a:t>
              </a:r>
              <a:br/>
              <a:r>
                <a:rPr lang="zh-CN" sz="790" dirty="0">
                  <a:solidFill>
                    <a:srgbClr val="333333"/>
                  </a:solidFill>
                  <a:latin typeface="+mn-lt"/>
                  <a:ea typeface="+mn-ea"/>
                  <a:cs typeface="+mn-cs"/>
                </a:rPr>
                <a:t>跟进</a:t>
              </a:r>
            </a:p>
          </p:txBody>
        </p:sp>
        <p:sp>
          <p:nvSpPr>
            <p:cNvPr id="112" name="Rectangle 112"/>
            <p:cNvSpPr/>
            <p:nvPr/>
          </p:nvSpPr>
          <p:spPr>
            <a:xfrm>
              <a:off x="9029700" y="4419600"/>
              <a:ext cx="781050" cy="342900"/>
            </a:xfrm>
            <a:prstGeom prst="roundRect">
              <a:avLst>
                <a:gd name="adj" fmla="val 11111"/>
              </a:avLst>
            </a:prstGeom>
            <a:solidFill>
              <a:srgbClr val="EEF2F8"/>
            </a:solidFill>
            <a:ln>
              <a:noFill/>
            </a:ln>
          </p:spPr>
        </p:sp>
        <p:sp>
          <p:nvSpPr>
            <p:cNvPr id="113" name="TextBox 113"/>
            <p:cNvSpPr txBox="1"/>
            <p:nvPr/>
          </p:nvSpPr>
          <p:spPr>
            <a:xfrm>
              <a:off x="9214802" y="4477464"/>
              <a:ext cx="410845" cy="278606"/>
            </a:xfrm>
            <a:prstGeom prst="rect">
              <a:avLst/>
            </a:prstGeom>
            <a:noFill/>
            <a:ln>
              <a:noFill/>
            </a:ln>
          </p:spPr>
          <p:txBody>
            <a:bodyPr wrap="none" lIns="0" tIns="0" rIns="0" bIns="0" anchor="t" anchorCtr="0">
              <a:spAutoFit/>
            </a:bodyPr>
            <a:lstStyle/>
            <a:p>
              <a:pPr algn="ctr">
                <a:lnSpc>
                  <a:spcPts val="975"/>
                </a:lnSpc>
              </a:pPr>
              <a:r>
                <a:rPr lang="zh-CN" sz="790" dirty="0">
                  <a:solidFill>
                    <a:srgbClr val="333333"/>
                  </a:solidFill>
                  <a:latin typeface="+mn-lt"/>
                  <a:ea typeface="+mn-ea"/>
                  <a:cs typeface="+mn-cs"/>
                </a:rPr>
                <a:t>线索状态</a:t>
              </a:r>
              <a:br/>
              <a:r>
                <a:rPr lang="zh-CN" sz="790" dirty="0">
                  <a:solidFill>
                    <a:srgbClr val="333333"/>
                  </a:solidFill>
                  <a:latin typeface="+mn-lt"/>
                  <a:ea typeface="+mn-ea"/>
                  <a:cs typeface="+mn-cs"/>
                </a:rPr>
                <a:t>变更</a:t>
              </a:r>
            </a:p>
          </p:txBody>
        </p:sp>
      </p:grpSp>
      <p:grpSp>
        <p:nvGrpSpPr>
          <p:cNvPr id="124" name="private-growth"/>
          <p:cNvGrpSpPr/>
          <p:nvPr/>
        </p:nvGrpSpPr>
        <p:grpSpPr>
          <a:xfrm>
            <a:off x="10001250" y="2895600"/>
            <a:ext cx="1047750" cy="1492091"/>
            <a:chOff x="10001250" y="2895600"/>
            <a:chExt cx="1047750" cy="1492091"/>
          </a:xfrm>
        </p:grpSpPr>
        <p:sp>
          <p:nvSpPr>
            <p:cNvPr id="115" name="Line 115"/>
            <p:cNvSpPr/>
            <p:nvPr/>
          </p:nvSpPr>
          <p:spPr>
            <a:xfrm>
              <a:off x="10001250" y="3638550"/>
              <a:ext cx="133350" cy="1"/>
            </a:xfrm>
            <a:prstGeom prst="line">
              <a:avLst/>
            </a:prstGeom>
            <a:noFill/>
            <a:ln w="28575">
              <a:solidFill>
                <a:srgbClr val="E94B2B"/>
              </a:solidFill>
              <a:tailEnd type="triangle" w="lg" len="lg"/>
            </a:ln>
          </p:spPr>
        </p:sp>
        <p:sp>
          <p:nvSpPr>
            <p:cNvPr id="116" name="Rectangle 116"/>
            <p:cNvSpPr/>
            <p:nvPr/>
          </p:nvSpPr>
          <p:spPr>
            <a:xfrm>
              <a:off x="10229850" y="2895600"/>
              <a:ext cx="819150" cy="228600"/>
            </a:xfrm>
            <a:prstGeom prst="roundRect">
              <a:avLst>
                <a:gd name="adj" fmla="val 16667"/>
              </a:avLst>
            </a:prstGeom>
            <a:solidFill>
              <a:srgbClr val="F5927E"/>
            </a:solidFill>
            <a:ln>
              <a:noFill/>
            </a:ln>
          </p:spPr>
        </p:sp>
        <p:sp>
          <p:nvSpPr>
            <p:cNvPr id="117" name="TextBox 117"/>
            <p:cNvSpPr txBox="1"/>
            <p:nvPr/>
          </p:nvSpPr>
          <p:spPr>
            <a:xfrm>
              <a:off x="10413886" y="29684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持续运营</a:t>
              </a:r>
            </a:p>
          </p:txBody>
        </p:sp>
        <p:sp>
          <p:nvSpPr>
            <p:cNvPr id="118" name="Rectangle 118"/>
            <p:cNvSpPr/>
            <p:nvPr/>
          </p:nvSpPr>
          <p:spPr>
            <a:xfrm>
              <a:off x="10229850" y="3314700"/>
              <a:ext cx="819150" cy="228600"/>
            </a:xfrm>
            <a:prstGeom prst="roundRect">
              <a:avLst>
                <a:gd name="adj" fmla="val 16667"/>
              </a:avLst>
            </a:prstGeom>
            <a:solidFill>
              <a:srgbClr val="F5927E"/>
            </a:solidFill>
            <a:ln>
              <a:noFill/>
            </a:ln>
          </p:spPr>
        </p:sp>
        <p:sp>
          <p:nvSpPr>
            <p:cNvPr id="119" name="TextBox 119"/>
            <p:cNvSpPr txBox="1"/>
            <p:nvPr/>
          </p:nvSpPr>
          <p:spPr>
            <a:xfrm>
              <a:off x="10413886" y="33875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增购复购</a:t>
              </a:r>
            </a:p>
          </p:txBody>
        </p:sp>
        <p:sp>
          <p:nvSpPr>
            <p:cNvPr id="120" name="Rectangle 120"/>
            <p:cNvSpPr/>
            <p:nvPr/>
          </p:nvSpPr>
          <p:spPr>
            <a:xfrm>
              <a:off x="10229850" y="3733800"/>
              <a:ext cx="819150" cy="228600"/>
            </a:xfrm>
            <a:prstGeom prst="roundRect">
              <a:avLst>
                <a:gd name="adj" fmla="val 16667"/>
              </a:avLst>
            </a:prstGeom>
            <a:solidFill>
              <a:srgbClr val="F5927E"/>
            </a:solidFill>
            <a:ln>
              <a:noFill/>
            </a:ln>
          </p:spPr>
        </p:sp>
        <p:sp>
          <p:nvSpPr>
            <p:cNvPr id="121" name="TextBox 121"/>
            <p:cNvSpPr txBox="1"/>
            <p:nvPr/>
          </p:nvSpPr>
          <p:spPr>
            <a:xfrm>
              <a:off x="10413886" y="38066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口碑传播</a:t>
              </a:r>
            </a:p>
          </p:txBody>
        </p:sp>
        <p:sp>
          <p:nvSpPr>
            <p:cNvPr id="122" name="Rectangle 122"/>
            <p:cNvSpPr/>
            <p:nvPr/>
          </p:nvSpPr>
          <p:spPr>
            <a:xfrm>
              <a:off x="10229850" y="4152900"/>
              <a:ext cx="819150" cy="228600"/>
            </a:xfrm>
            <a:prstGeom prst="roundRect">
              <a:avLst>
                <a:gd name="adj" fmla="val 16667"/>
              </a:avLst>
            </a:prstGeom>
            <a:solidFill>
              <a:srgbClr val="F5927E"/>
            </a:solidFill>
            <a:ln>
              <a:noFill/>
            </a:ln>
          </p:spPr>
        </p:sp>
        <p:sp>
          <p:nvSpPr>
            <p:cNvPr id="123" name="TextBox 123"/>
            <p:cNvSpPr txBox="1"/>
            <p:nvPr/>
          </p:nvSpPr>
          <p:spPr>
            <a:xfrm>
              <a:off x="10358692" y="4225766"/>
              <a:ext cx="561467"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老带新裂变</a:t>
              </a:r>
            </a:p>
          </p:txBody>
        </p:sp>
      </p:grpSp>
      <p:grpSp>
        <p:nvGrpSpPr>
          <p:cNvPr id="126" name="v-private-traffic"/>
          <p:cNvGrpSpPr/>
          <p:nvPr/>
        </p:nvGrpSpPr>
        <p:grpSpPr>
          <a:xfrm>
            <a:off x="11191240" y="2888456"/>
            <a:ext cx="153670" cy="1477328"/>
            <a:chOff x="11191240" y="2888456"/>
            <a:chExt cx="153670" cy="1477328"/>
          </a:xfrm>
        </p:grpSpPr>
        <p:sp>
          <p:nvSpPr>
            <p:cNvPr id="125" name="TextBox 125"/>
            <p:cNvSpPr txBox="1"/>
            <p:nvPr/>
          </p:nvSpPr>
          <p:spPr>
            <a:xfrm>
              <a:off x="11191240" y="2888456"/>
              <a:ext cx="153670" cy="1477328"/>
            </a:xfrm>
            <a:prstGeom prst="rect">
              <a:avLst/>
            </a:prstGeom>
            <a:noFill/>
            <a:ln>
              <a:noFill/>
            </a:ln>
          </p:spPr>
          <p:txBody>
            <a:bodyPr wrap="none" lIns="0" tIns="0" rIns="0" bIns="0" anchor="t" anchorCtr="0">
              <a:spAutoFit/>
            </a:bodyPr>
            <a:lstStyle/>
            <a:p>
              <a:pPr algn="ctr">
                <a:lnSpc>
                  <a:spcPts val="1650"/>
                </a:lnSpc>
              </a:pPr>
              <a:r>
                <a:rPr lang="zh-CN" sz="1120" dirty="0">
                  <a:solidFill>
                    <a:srgbClr val="C83B1E"/>
                  </a:solidFill>
                  <a:latin typeface="+mn-lt"/>
                  <a:ea typeface="+mn-ea"/>
                  <a:cs typeface="+mn-cs"/>
                </a:rPr>
                <a:t>高</a:t>
              </a:r>
              <a:br/>
              <a:r>
                <a:rPr lang="zh-CN" sz="1120" dirty="0">
                  <a:solidFill>
                    <a:srgbClr val="C83B1E"/>
                  </a:solidFill>
                  <a:latin typeface="+mn-lt"/>
                  <a:ea typeface="+mn-ea"/>
                  <a:cs typeface="+mn-cs"/>
                </a:rPr>
                <a:t>质</a:t>
              </a:r>
              <a:br/>
              <a:r>
                <a:rPr lang="zh-CN" sz="1120" dirty="0">
                  <a:solidFill>
                    <a:srgbClr val="C83B1E"/>
                  </a:solidFill>
                  <a:latin typeface="+mn-lt"/>
                  <a:ea typeface="+mn-ea"/>
                  <a:cs typeface="+mn-cs"/>
                </a:rPr>
                <a:t>量</a:t>
              </a:r>
              <a:br/>
              <a:r>
                <a:rPr lang="zh-CN" sz="1120" dirty="0">
                  <a:solidFill>
                    <a:srgbClr val="C83B1E"/>
                  </a:solidFill>
                  <a:latin typeface="+mn-lt"/>
                  <a:ea typeface="+mn-ea"/>
                  <a:cs typeface="+mn-cs"/>
                </a:rPr>
                <a:t>私</a:t>
              </a:r>
              <a:br/>
              <a:r>
                <a:rPr lang="zh-CN" sz="1120" dirty="0">
                  <a:solidFill>
                    <a:srgbClr val="C83B1E"/>
                  </a:solidFill>
                  <a:latin typeface="+mn-lt"/>
                  <a:ea typeface="+mn-ea"/>
                  <a:cs typeface="+mn-cs"/>
                </a:rPr>
                <a:t>域</a:t>
              </a:r>
              <a:br/>
              <a:r>
                <a:rPr lang="zh-CN" sz="1120" dirty="0">
                  <a:solidFill>
                    <a:srgbClr val="C83B1E"/>
                  </a:solidFill>
                  <a:latin typeface="+mn-lt"/>
                  <a:ea typeface="+mn-ea"/>
                  <a:cs typeface="+mn-cs"/>
                </a:rPr>
                <a:t>流</a:t>
              </a:r>
              <a:br/>
              <a:r>
                <a:rPr lang="zh-CN" sz="1120" dirty="0">
                  <a:solidFill>
                    <a:srgbClr val="C83B1E"/>
                  </a:solidFill>
                  <a:latin typeface="+mn-lt"/>
                  <a:ea typeface="+mn-ea"/>
                  <a:cs typeface="+mn-cs"/>
                </a:rPr>
                <a:t>量</a:t>
              </a:r>
            </a:p>
          </p:txBody>
        </p:sp>
      </p:grpSp>
      <p:grpSp>
        <p:nvGrpSpPr>
          <p:cNvPr id="143" name="lane-captions"/>
          <p:cNvGrpSpPr/>
          <p:nvPr/>
        </p:nvGrpSpPr>
        <p:grpSpPr>
          <a:xfrm>
            <a:off x="1143000" y="5238750"/>
            <a:ext cx="9934575" cy="364807"/>
            <a:chOff x="1143000" y="5238750"/>
            <a:chExt cx="9934575" cy="364807"/>
          </a:xfrm>
        </p:grpSpPr>
        <p:sp>
          <p:nvSpPr>
            <p:cNvPr id="127" name="Line 127"/>
            <p:cNvSpPr/>
            <p:nvPr/>
          </p:nvSpPr>
          <p:spPr>
            <a:xfrm>
              <a:off x="1143000" y="5295900"/>
              <a:ext cx="2000250" cy="9525"/>
            </a:xfrm>
            <a:custGeom>
              <a:avLst/>
              <a:gdLst/>
              <a:ahLst/>
              <a:cxnLst/>
              <a:rect l="l" t="t" r="r" b="b"/>
              <a:pathLst>
                <a:path w="2000250" h="9525">
                  <a:moveTo>
                    <a:pt x="0" y="0"/>
                  </a:moveTo>
                  <a:lnTo>
                    <a:pt x="2000250" y="0"/>
                  </a:lnTo>
                </a:path>
              </a:pathLst>
            </a:custGeom>
            <a:noFill/>
            <a:ln w="9525">
              <a:solidFill>
                <a:srgbClr val="F5927E"/>
              </a:solidFill>
            </a:ln>
          </p:spPr>
        </p:sp>
        <p:sp>
          <p:nvSpPr>
            <p:cNvPr id="128" name="Line 128"/>
            <p:cNvSpPr/>
            <p:nvPr/>
          </p:nvSpPr>
          <p:spPr>
            <a:xfrm>
              <a:off x="1143000" y="5238750"/>
              <a:ext cx="9525" cy="57150"/>
            </a:xfrm>
            <a:custGeom>
              <a:avLst/>
              <a:gdLst/>
              <a:ahLst/>
              <a:cxnLst/>
              <a:rect l="l" t="t" r="r" b="b"/>
              <a:pathLst>
                <a:path w="9525" h="57150">
                  <a:moveTo>
                    <a:pt x="0" y="57150"/>
                  </a:moveTo>
                  <a:lnTo>
                    <a:pt x="0" y="0"/>
                  </a:lnTo>
                </a:path>
              </a:pathLst>
            </a:custGeom>
            <a:noFill/>
            <a:ln w="9525">
              <a:solidFill>
                <a:srgbClr val="F5927E"/>
              </a:solidFill>
            </a:ln>
          </p:spPr>
        </p:sp>
        <p:sp>
          <p:nvSpPr>
            <p:cNvPr id="129" name="Line 129"/>
            <p:cNvSpPr/>
            <p:nvPr/>
          </p:nvSpPr>
          <p:spPr>
            <a:xfrm>
              <a:off x="3143250" y="5238750"/>
              <a:ext cx="9525" cy="57150"/>
            </a:xfrm>
            <a:custGeom>
              <a:avLst/>
              <a:gdLst/>
              <a:ahLst/>
              <a:cxnLst/>
              <a:rect l="l" t="t" r="r" b="b"/>
              <a:pathLst>
                <a:path w="9525" h="57150">
                  <a:moveTo>
                    <a:pt x="0" y="57150"/>
                  </a:moveTo>
                  <a:lnTo>
                    <a:pt x="0" y="0"/>
                  </a:lnTo>
                </a:path>
              </a:pathLst>
            </a:custGeom>
            <a:noFill/>
            <a:ln w="9525">
              <a:solidFill>
                <a:srgbClr val="F5927E"/>
              </a:solidFill>
            </a:ln>
          </p:spPr>
        </p:sp>
        <p:sp>
          <p:nvSpPr>
            <p:cNvPr id="130" name="TextBox 130"/>
            <p:cNvSpPr txBox="1"/>
            <p:nvPr/>
          </p:nvSpPr>
          <p:spPr>
            <a:xfrm>
              <a:off x="1714310" y="5427345"/>
              <a:ext cx="857631" cy="176212"/>
            </a:xfrm>
            <a:prstGeom prst="rect">
              <a:avLst/>
            </a:prstGeom>
            <a:noFill/>
            <a:ln>
              <a:noFill/>
            </a:ln>
          </p:spPr>
          <p:txBody>
            <a:bodyPr wrap="none" lIns="0" tIns="0" rIns="0" bIns="0" anchor="t" anchorCtr="0">
              <a:spAutoFit/>
            </a:bodyPr>
            <a:lstStyle/>
            <a:p>
              <a:pPr algn="ctr"/>
              <a:r>
                <a:rPr lang="zh-CN" sz="900" dirty="0">
                  <a:solidFill>
                    <a:srgbClr val="E94B2B"/>
                  </a:solidFill>
                  <a:latin typeface="+mn-lt"/>
                  <a:ea typeface="+mn-ea"/>
                  <a:cs typeface="+mn-cs"/>
                </a:rPr>
                <a:t>营销方案、模板</a:t>
              </a:r>
            </a:p>
          </p:txBody>
        </p:sp>
        <p:sp>
          <p:nvSpPr>
            <p:cNvPr id="131" name="Line 131"/>
            <p:cNvSpPr/>
            <p:nvPr/>
          </p:nvSpPr>
          <p:spPr>
            <a:xfrm>
              <a:off x="3486150" y="5295900"/>
              <a:ext cx="2247900" cy="9525"/>
            </a:xfrm>
            <a:custGeom>
              <a:avLst/>
              <a:gdLst/>
              <a:ahLst/>
              <a:cxnLst/>
              <a:rect l="l" t="t" r="r" b="b"/>
              <a:pathLst>
                <a:path w="2247900" h="9525">
                  <a:moveTo>
                    <a:pt x="0" y="0"/>
                  </a:moveTo>
                  <a:lnTo>
                    <a:pt x="2247900" y="0"/>
                  </a:lnTo>
                </a:path>
              </a:pathLst>
            </a:custGeom>
            <a:noFill/>
            <a:ln w="9525">
              <a:solidFill>
                <a:srgbClr val="F5927E"/>
              </a:solidFill>
            </a:ln>
          </p:spPr>
        </p:sp>
        <p:sp>
          <p:nvSpPr>
            <p:cNvPr id="132" name="Line 132"/>
            <p:cNvSpPr/>
            <p:nvPr/>
          </p:nvSpPr>
          <p:spPr>
            <a:xfrm>
              <a:off x="3486150" y="5238750"/>
              <a:ext cx="9525" cy="57150"/>
            </a:xfrm>
            <a:custGeom>
              <a:avLst/>
              <a:gdLst/>
              <a:ahLst/>
              <a:cxnLst/>
              <a:rect l="l" t="t" r="r" b="b"/>
              <a:pathLst>
                <a:path w="9525" h="57150">
                  <a:moveTo>
                    <a:pt x="0" y="57150"/>
                  </a:moveTo>
                  <a:lnTo>
                    <a:pt x="0" y="0"/>
                  </a:lnTo>
                </a:path>
              </a:pathLst>
            </a:custGeom>
            <a:noFill/>
            <a:ln w="9525">
              <a:solidFill>
                <a:srgbClr val="F5927E"/>
              </a:solidFill>
            </a:ln>
          </p:spPr>
        </p:sp>
        <p:sp>
          <p:nvSpPr>
            <p:cNvPr id="133" name="Line 133"/>
            <p:cNvSpPr/>
            <p:nvPr/>
          </p:nvSpPr>
          <p:spPr>
            <a:xfrm>
              <a:off x="5734050" y="5238750"/>
              <a:ext cx="9525" cy="57150"/>
            </a:xfrm>
            <a:custGeom>
              <a:avLst/>
              <a:gdLst/>
              <a:ahLst/>
              <a:cxnLst/>
              <a:rect l="l" t="t" r="r" b="b"/>
              <a:pathLst>
                <a:path w="9525" h="57150">
                  <a:moveTo>
                    <a:pt x="0" y="57150"/>
                  </a:moveTo>
                  <a:lnTo>
                    <a:pt x="0" y="0"/>
                  </a:lnTo>
                </a:path>
              </a:pathLst>
            </a:custGeom>
            <a:noFill/>
            <a:ln w="9525">
              <a:solidFill>
                <a:srgbClr val="F5927E"/>
              </a:solidFill>
            </a:ln>
          </p:spPr>
        </p:sp>
        <p:sp>
          <p:nvSpPr>
            <p:cNvPr id="134" name="TextBox 134"/>
            <p:cNvSpPr txBox="1"/>
            <p:nvPr/>
          </p:nvSpPr>
          <p:spPr>
            <a:xfrm>
              <a:off x="4241864" y="5427345"/>
              <a:ext cx="736473" cy="176212"/>
            </a:xfrm>
            <a:prstGeom prst="rect">
              <a:avLst/>
            </a:prstGeom>
            <a:noFill/>
            <a:ln>
              <a:noFill/>
            </a:ln>
          </p:spPr>
          <p:txBody>
            <a:bodyPr wrap="none" lIns="0" tIns="0" rIns="0" bIns="0" anchor="t" anchorCtr="0">
              <a:spAutoFit/>
            </a:bodyPr>
            <a:lstStyle/>
            <a:p>
              <a:pPr algn="ctr"/>
              <a:r>
                <a:rPr lang="zh-CN" sz="900" dirty="0">
                  <a:solidFill>
                    <a:srgbClr val="E94B2B"/>
                  </a:solidFill>
                  <a:latin typeface="+mn-lt"/>
                  <a:ea typeface="+mn-ea"/>
                  <a:cs typeface="+mn-cs"/>
                </a:rPr>
                <a:t>数据服务支持</a:t>
              </a:r>
            </a:p>
          </p:txBody>
        </p:sp>
        <p:sp>
          <p:nvSpPr>
            <p:cNvPr id="135" name="Line 135"/>
            <p:cNvSpPr/>
            <p:nvPr/>
          </p:nvSpPr>
          <p:spPr>
            <a:xfrm>
              <a:off x="6229350" y="5295900"/>
              <a:ext cx="2286000" cy="9525"/>
            </a:xfrm>
            <a:custGeom>
              <a:avLst/>
              <a:gdLst/>
              <a:ahLst/>
              <a:cxnLst/>
              <a:rect l="l" t="t" r="r" b="b"/>
              <a:pathLst>
                <a:path w="2286000" h="9525">
                  <a:moveTo>
                    <a:pt x="0" y="0"/>
                  </a:moveTo>
                  <a:lnTo>
                    <a:pt x="2286000" y="0"/>
                  </a:lnTo>
                </a:path>
              </a:pathLst>
            </a:custGeom>
            <a:noFill/>
            <a:ln w="9525">
              <a:solidFill>
                <a:srgbClr val="F5927E"/>
              </a:solidFill>
            </a:ln>
          </p:spPr>
        </p:sp>
        <p:sp>
          <p:nvSpPr>
            <p:cNvPr id="136" name="Line 136"/>
            <p:cNvSpPr/>
            <p:nvPr/>
          </p:nvSpPr>
          <p:spPr>
            <a:xfrm>
              <a:off x="6229350" y="5238750"/>
              <a:ext cx="9525" cy="57150"/>
            </a:xfrm>
            <a:custGeom>
              <a:avLst/>
              <a:gdLst/>
              <a:ahLst/>
              <a:cxnLst/>
              <a:rect l="l" t="t" r="r" b="b"/>
              <a:pathLst>
                <a:path w="9525" h="57150">
                  <a:moveTo>
                    <a:pt x="0" y="57150"/>
                  </a:moveTo>
                  <a:lnTo>
                    <a:pt x="0" y="0"/>
                  </a:lnTo>
                </a:path>
              </a:pathLst>
            </a:custGeom>
            <a:noFill/>
            <a:ln w="9525">
              <a:solidFill>
                <a:srgbClr val="F5927E"/>
              </a:solidFill>
            </a:ln>
          </p:spPr>
        </p:sp>
        <p:sp>
          <p:nvSpPr>
            <p:cNvPr id="137" name="Line 137"/>
            <p:cNvSpPr/>
            <p:nvPr/>
          </p:nvSpPr>
          <p:spPr>
            <a:xfrm>
              <a:off x="8515350" y="5238750"/>
              <a:ext cx="9525" cy="57150"/>
            </a:xfrm>
            <a:custGeom>
              <a:avLst/>
              <a:gdLst/>
              <a:ahLst/>
              <a:cxnLst/>
              <a:rect l="l" t="t" r="r" b="b"/>
              <a:pathLst>
                <a:path w="9525" h="57150">
                  <a:moveTo>
                    <a:pt x="0" y="57150"/>
                  </a:moveTo>
                  <a:lnTo>
                    <a:pt x="0" y="0"/>
                  </a:lnTo>
                </a:path>
              </a:pathLst>
            </a:custGeom>
            <a:noFill/>
            <a:ln w="9525">
              <a:solidFill>
                <a:srgbClr val="F5927E"/>
              </a:solidFill>
            </a:ln>
          </p:spPr>
        </p:sp>
        <p:sp>
          <p:nvSpPr>
            <p:cNvPr id="138" name="TextBox 138"/>
            <p:cNvSpPr txBox="1"/>
            <p:nvPr/>
          </p:nvSpPr>
          <p:spPr>
            <a:xfrm>
              <a:off x="7004114" y="5427345"/>
              <a:ext cx="736473" cy="176212"/>
            </a:xfrm>
            <a:prstGeom prst="rect">
              <a:avLst/>
            </a:prstGeom>
            <a:noFill/>
            <a:ln>
              <a:noFill/>
            </a:ln>
          </p:spPr>
          <p:txBody>
            <a:bodyPr wrap="none" lIns="0" tIns="0" rIns="0" bIns="0" anchor="t" anchorCtr="0">
              <a:spAutoFit/>
            </a:bodyPr>
            <a:lstStyle/>
            <a:p>
              <a:pPr algn="ctr"/>
              <a:r>
                <a:rPr lang="zh-CN" sz="900" dirty="0">
                  <a:solidFill>
                    <a:srgbClr val="E94B2B"/>
                  </a:solidFill>
                  <a:latin typeface="+mn-lt"/>
                  <a:ea typeface="+mn-ea"/>
                  <a:cs typeface="+mn-cs"/>
                </a:rPr>
                <a:t>海量精选课程</a:t>
              </a:r>
            </a:p>
          </p:txBody>
        </p:sp>
        <p:sp>
          <p:nvSpPr>
            <p:cNvPr id="139" name="Line 139"/>
            <p:cNvSpPr/>
            <p:nvPr/>
          </p:nvSpPr>
          <p:spPr>
            <a:xfrm>
              <a:off x="8915400" y="5295900"/>
              <a:ext cx="2152650" cy="9525"/>
            </a:xfrm>
            <a:custGeom>
              <a:avLst/>
              <a:gdLst/>
              <a:ahLst/>
              <a:cxnLst/>
              <a:rect l="l" t="t" r="r" b="b"/>
              <a:pathLst>
                <a:path w="2152650" h="9525">
                  <a:moveTo>
                    <a:pt x="0" y="0"/>
                  </a:moveTo>
                  <a:lnTo>
                    <a:pt x="2152650" y="0"/>
                  </a:lnTo>
                </a:path>
              </a:pathLst>
            </a:custGeom>
            <a:noFill/>
            <a:ln w="9525">
              <a:solidFill>
                <a:srgbClr val="F5927E"/>
              </a:solidFill>
            </a:ln>
          </p:spPr>
        </p:sp>
        <p:sp>
          <p:nvSpPr>
            <p:cNvPr id="140" name="Line 140"/>
            <p:cNvSpPr/>
            <p:nvPr/>
          </p:nvSpPr>
          <p:spPr>
            <a:xfrm>
              <a:off x="8915400" y="5238750"/>
              <a:ext cx="9525" cy="57150"/>
            </a:xfrm>
            <a:custGeom>
              <a:avLst/>
              <a:gdLst/>
              <a:ahLst/>
              <a:cxnLst/>
              <a:rect l="l" t="t" r="r" b="b"/>
              <a:pathLst>
                <a:path w="9525" h="57150">
                  <a:moveTo>
                    <a:pt x="0" y="57150"/>
                  </a:moveTo>
                  <a:lnTo>
                    <a:pt x="0" y="0"/>
                  </a:lnTo>
                </a:path>
              </a:pathLst>
            </a:custGeom>
            <a:noFill/>
            <a:ln w="9525">
              <a:solidFill>
                <a:srgbClr val="F5927E"/>
              </a:solidFill>
            </a:ln>
          </p:spPr>
        </p:sp>
        <p:sp>
          <p:nvSpPr>
            <p:cNvPr id="141" name="Line 141"/>
            <p:cNvSpPr/>
            <p:nvPr/>
          </p:nvSpPr>
          <p:spPr>
            <a:xfrm>
              <a:off x="11068050" y="5238750"/>
              <a:ext cx="9525" cy="57150"/>
            </a:xfrm>
            <a:custGeom>
              <a:avLst/>
              <a:gdLst/>
              <a:ahLst/>
              <a:cxnLst/>
              <a:rect l="l" t="t" r="r" b="b"/>
              <a:pathLst>
                <a:path w="9525" h="57150">
                  <a:moveTo>
                    <a:pt x="0" y="57150"/>
                  </a:moveTo>
                  <a:lnTo>
                    <a:pt x="0" y="0"/>
                  </a:lnTo>
                </a:path>
              </a:pathLst>
            </a:custGeom>
            <a:noFill/>
            <a:ln w="9525">
              <a:solidFill>
                <a:srgbClr val="F5927E"/>
              </a:solidFill>
            </a:ln>
          </p:spPr>
        </p:sp>
        <p:sp>
          <p:nvSpPr>
            <p:cNvPr id="142" name="TextBox 142"/>
            <p:cNvSpPr txBox="1"/>
            <p:nvPr/>
          </p:nvSpPr>
          <p:spPr>
            <a:xfrm>
              <a:off x="9592913" y="5427345"/>
              <a:ext cx="797624" cy="176212"/>
            </a:xfrm>
            <a:prstGeom prst="rect">
              <a:avLst/>
            </a:prstGeom>
            <a:noFill/>
            <a:ln>
              <a:noFill/>
            </a:ln>
          </p:spPr>
          <p:txBody>
            <a:bodyPr wrap="none" lIns="0" tIns="0" rIns="0" bIns="0" anchor="t" anchorCtr="0">
              <a:spAutoFit/>
            </a:bodyPr>
            <a:lstStyle/>
            <a:p>
              <a:pPr algn="ctr"/>
              <a:r>
                <a:rPr lang="zh-CN" sz="900" dirty="0">
                  <a:solidFill>
                    <a:srgbClr val="E94B2B"/>
                  </a:solidFill>
                  <a:latin typeface="+mn-lt"/>
                  <a:ea typeface="+mn-ea"/>
                  <a:cs typeface="+mn-cs"/>
                </a:rPr>
                <a:t>KOL分析复盘​</a:t>
              </a:r>
            </a:p>
          </p:txBody>
        </p:sp>
      </p:grpSp>
      <p:grpSp>
        <p:nvGrpSpPr>
          <p:cNvPr id="146" name="bottom-slogan"/>
          <p:cNvGrpSpPr/>
          <p:nvPr/>
        </p:nvGrpSpPr>
        <p:grpSpPr>
          <a:xfrm>
            <a:off x="0" y="5810250"/>
            <a:ext cx="12192000" cy="781050"/>
            <a:chOff x="0" y="5810250"/>
            <a:chExt cx="12192000" cy="781050"/>
          </a:xfrm>
        </p:grpSpPr>
        <p:sp>
          <p:nvSpPr>
            <p:cNvPr id="144" name="Rectangle 144"/>
            <p:cNvSpPr/>
            <p:nvPr/>
          </p:nvSpPr>
          <p:spPr>
            <a:xfrm>
              <a:off x="0" y="5810250"/>
              <a:ext cx="12192000" cy="781050"/>
            </a:xfrm>
            <a:prstGeom prst="rect">
              <a:avLst/>
            </a:prstGeom>
            <a:gradFill>
              <a:gsLst>
                <a:gs pos="0">
                  <a:srgbClr val="DCEBFB"/>
                </a:gs>
                <a:gs pos="50000">
                  <a:srgbClr val="F7CDC4"/>
                </a:gs>
                <a:gs pos="100000">
                  <a:srgbClr val="DCEBFB"/>
                </a:gs>
              </a:gsLst>
              <a:lin ang="0" scaled="1"/>
            </a:gradFill>
            <a:ln>
              <a:noFill/>
            </a:ln>
          </p:spPr>
        </p:sp>
        <p:sp>
          <p:nvSpPr>
            <p:cNvPr id="145" name="TextBox 145"/>
            <p:cNvSpPr txBox="1"/>
            <p:nvPr/>
          </p:nvSpPr>
          <p:spPr>
            <a:xfrm>
              <a:off x="4310634" y="6098858"/>
              <a:ext cx="3570732" cy="322707"/>
            </a:xfrm>
            <a:prstGeom prst="rect">
              <a:avLst/>
            </a:prstGeom>
            <a:noFill/>
            <a:ln>
              <a:noFill/>
            </a:ln>
          </p:spPr>
          <p:txBody>
            <a:bodyPr wrap="none" lIns="0" tIns="0" rIns="0" bIns="0" anchor="t" anchorCtr="0">
              <a:spAutoFit/>
            </a:bodyPr>
            <a:lstStyle/>
            <a:p>
              <a:pPr algn="ctr"/>
              <a:r>
                <a:rPr lang="zh-CN" sz="1650" b="1" dirty="0">
                  <a:solidFill>
                    <a:srgbClr val="C83B1E"/>
                  </a:solidFill>
                  <a:latin typeface="+mn-lt"/>
                  <a:ea typeface="+mn-ea"/>
                  <a:cs typeface="+mn-cs"/>
                </a:rPr>
                <a:t>数字生态，赋能机构，助力机构成长</a:t>
              </a:r>
            </a:p>
          </p:txBody>
        </p:sp>
      </p:gr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arc-left-dec"/>
          <p:cNvSpPr/>
          <p:nvPr/>
        </p:nvSpPr>
        <p:spPr>
          <a:xfrm>
            <a:off x="571500" y="1714500"/>
            <a:ext cx="857250" cy="3619500"/>
          </a:xfrm>
          <a:custGeom>
            <a:avLst/>
            <a:gdLst/>
            <a:ahLst/>
            <a:cxnLst/>
            <a:rect l="l" t="t" r="r" b="b"/>
            <a:pathLst>
              <a:path w="857250" h="3619500">
                <a:moveTo>
                  <a:pt x="857250" y="0"/>
                </a:moveTo>
                <a:cubicBezTo>
                  <a:pt x="0" y="1143000"/>
                  <a:pt x="0" y="2476500"/>
                  <a:pt x="857250" y="3619500"/>
                </a:cubicBezTo>
              </a:path>
            </a:pathLst>
          </a:custGeom>
          <a:noFill/>
          <a:ln w="19050">
            <a:solidFill>
              <a:srgbClr val="F2AC9E"/>
            </a:solidFill>
          </a:ln>
        </p:spPr>
      </p:sp>
      <p:sp>
        <p:nvSpPr>
          <p:cNvPr id="3" name="arc-right-dec"/>
          <p:cNvSpPr/>
          <p:nvPr/>
        </p:nvSpPr>
        <p:spPr>
          <a:xfrm>
            <a:off x="10763250" y="1714500"/>
            <a:ext cx="857250" cy="3619500"/>
          </a:xfrm>
          <a:custGeom>
            <a:avLst/>
            <a:gdLst/>
            <a:ahLst/>
            <a:cxnLst/>
            <a:rect l="l" t="t" r="r" b="b"/>
            <a:pathLst>
              <a:path w="857250" h="3619500">
                <a:moveTo>
                  <a:pt x="0" y="0"/>
                </a:moveTo>
                <a:cubicBezTo>
                  <a:pt x="857250" y="1143000"/>
                  <a:pt x="857250" y="2476500"/>
                  <a:pt x="0" y="3619500"/>
                </a:cubicBezTo>
              </a:path>
            </a:pathLst>
          </a:custGeom>
          <a:noFill/>
          <a:ln w="19050">
            <a:solidFill>
              <a:srgbClr val="F2AC9E"/>
            </a:solidFill>
          </a:ln>
        </p:spPr>
      </p:sp>
      <p:grpSp>
        <p:nvGrpSpPr>
          <p:cNvPr id="8" name="page-header"/>
          <p:cNvGrpSpPr/>
          <p:nvPr/>
        </p:nvGrpSpPr>
        <p:grpSpPr>
          <a:xfrm>
            <a:off x="0" y="0"/>
            <a:ext cx="11811000" cy="561404"/>
            <a:chOff x="0" y="0"/>
            <a:chExt cx="11811000" cy="561404"/>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5" name="TextBox 5"/>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02</a:t>
              </a:r>
            </a:p>
          </p:txBody>
        </p:sp>
        <p:sp>
          <p:nvSpPr>
            <p:cNvPr id="6" name="TextBox 6"/>
            <p:cNvSpPr txBox="1"/>
            <p:nvPr/>
          </p:nvSpPr>
          <p:spPr>
            <a:xfrm>
              <a:off x="904494" y="180023"/>
              <a:ext cx="1129284"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组织结构</a:t>
              </a:r>
            </a:p>
          </p:txBody>
        </p:sp>
        <p:sp>
          <p:nvSpPr>
            <p:cNvPr id="7" name="Line 7"/>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8" name="left-axis"/>
          <p:cNvGrpSpPr/>
          <p:nvPr/>
        </p:nvGrpSpPr>
        <p:grpSpPr>
          <a:xfrm>
            <a:off x="655117" y="1723549"/>
            <a:ext cx="1516583" cy="2362676"/>
            <a:chOff x="655117" y="1723549"/>
            <a:chExt cx="1516583" cy="2362676"/>
          </a:xfrm>
        </p:grpSpPr>
        <p:sp>
          <p:nvSpPr>
            <p:cNvPr id="9" name="TextBox 9"/>
            <p:cNvSpPr txBox="1"/>
            <p:nvPr/>
          </p:nvSpPr>
          <p:spPr>
            <a:xfrm>
              <a:off x="655117" y="17235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人力规划</a:t>
              </a:r>
            </a:p>
          </p:txBody>
        </p:sp>
        <p:sp>
          <p:nvSpPr>
            <p:cNvPr id="10" name="Line 10"/>
            <p:cNvSpPr/>
            <p:nvPr/>
          </p:nvSpPr>
          <p:spPr>
            <a:xfrm>
              <a:off x="685800" y="1905000"/>
              <a:ext cx="476250" cy="9525"/>
            </a:xfrm>
            <a:custGeom>
              <a:avLst/>
              <a:gdLst/>
              <a:ahLst/>
              <a:cxnLst/>
              <a:rect l="l" t="t" r="r" b="b"/>
              <a:pathLst>
                <a:path w="476250" h="9525">
                  <a:moveTo>
                    <a:pt x="0" y="0"/>
                  </a:moveTo>
                  <a:lnTo>
                    <a:pt x="476250" y="0"/>
                  </a:lnTo>
                </a:path>
              </a:pathLst>
            </a:custGeom>
            <a:noFill/>
            <a:ln w="9525">
              <a:solidFill>
                <a:srgbClr val="F5927E"/>
              </a:solidFill>
            </a:ln>
          </p:spPr>
        </p:sp>
        <p:sp>
          <p:nvSpPr>
            <p:cNvPr id="11" name="TextBox 11"/>
            <p:cNvSpPr txBox="1"/>
            <p:nvPr/>
          </p:nvSpPr>
          <p:spPr>
            <a:xfrm>
              <a:off x="655117" y="24474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招聘需求</a:t>
              </a:r>
            </a:p>
          </p:txBody>
        </p:sp>
        <p:sp>
          <p:nvSpPr>
            <p:cNvPr id="12" name="Line 12"/>
            <p:cNvSpPr/>
            <p:nvPr/>
          </p:nvSpPr>
          <p:spPr>
            <a:xfrm>
              <a:off x="685800" y="2628900"/>
              <a:ext cx="476250" cy="9525"/>
            </a:xfrm>
            <a:custGeom>
              <a:avLst/>
              <a:gdLst/>
              <a:ahLst/>
              <a:cxnLst/>
              <a:rect l="l" t="t" r="r" b="b"/>
              <a:pathLst>
                <a:path w="476250" h="9525">
                  <a:moveTo>
                    <a:pt x="0" y="0"/>
                  </a:moveTo>
                  <a:lnTo>
                    <a:pt x="476250" y="0"/>
                  </a:lnTo>
                </a:path>
              </a:pathLst>
            </a:custGeom>
            <a:noFill/>
            <a:ln w="9525">
              <a:solidFill>
                <a:srgbClr val="F5927E"/>
              </a:solidFill>
            </a:ln>
          </p:spPr>
        </p:sp>
        <p:sp>
          <p:nvSpPr>
            <p:cNvPr id="13" name="TextBox 13"/>
            <p:cNvSpPr txBox="1"/>
            <p:nvPr/>
          </p:nvSpPr>
          <p:spPr>
            <a:xfrm>
              <a:off x="655117" y="31713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测评报告</a:t>
              </a:r>
            </a:p>
          </p:txBody>
        </p:sp>
        <p:sp>
          <p:nvSpPr>
            <p:cNvPr id="14" name="Line 14"/>
            <p:cNvSpPr/>
            <p:nvPr/>
          </p:nvSpPr>
          <p:spPr>
            <a:xfrm>
              <a:off x="685800" y="3352800"/>
              <a:ext cx="476250" cy="9525"/>
            </a:xfrm>
            <a:custGeom>
              <a:avLst/>
              <a:gdLst/>
              <a:ahLst/>
              <a:cxnLst/>
              <a:rect l="l" t="t" r="r" b="b"/>
              <a:pathLst>
                <a:path w="476250" h="9525">
                  <a:moveTo>
                    <a:pt x="0" y="0"/>
                  </a:moveTo>
                  <a:lnTo>
                    <a:pt x="476250" y="0"/>
                  </a:lnTo>
                </a:path>
              </a:pathLst>
            </a:custGeom>
            <a:noFill/>
            <a:ln w="9525">
              <a:solidFill>
                <a:srgbClr val="F5927E"/>
              </a:solidFill>
            </a:ln>
          </p:spPr>
        </p:sp>
        <p:sp>
          <p:nvSpPr>
            <p:cNvPr id="15" name="TextBox 15"/>
            <p:cNvSpPr txBox="1"/>
            <p:nvPr/>
          </p:nvSpPr>
          <p:spPr>
            <a:xfrm>
              <a:off x="655117" y="38952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培训计划</a:t>
              </a:r>
            </a:p>
          </p:txBody>
        </p:sp>
        <p:sp>
          <p:nvSpPr>
            <p:cNvPr id="16" name="Line 16"/>
            <p:cNvSpPr/>
            <p:nvPr/>
          </p:nvSpPr>
          <p:spPr>
            <a:xfrm>
              <a:off x="685800" y="4076700"/>
              <a:ext cx="476250" cy="9525"/>
            </a:xfrm>
            <a:custGeom>
              <a:avLst/>
              <a:gdLst/>
              <a:ahLst/>
              <a:cxnLst/>
              <a:rect l="l" t="t" r="r" b="b"/>
              <a:pathLst>
                <a:path w="476250" h="9525">
                  <a:moveTo>
                    <a:pt x="0" y="0"/>
                  </a:moveTo>
                  <a:lnTo>
                    <a:pt x="476250" y="0"/>
                  </a:lnTo>
                </a:path>
              </a:pathLst>
            </a:custGeom>
            <a:noFill/>
            <a:ln w="9525">
              <a:solidFill>
                <a:srgbClr val="F5927E"/>
              </a:solidFill>
            </a:ln>
          </p:spPr>
        </p:sp>
        <p:sp>
          <p:nvSpPr>
            <p:cNvPr id="17" name="Line 17"/>
            <p:cNvSpPr/>
            <p:nvPr/>
          </p:nvSpPr>
          <p:spPr>
            <a:xfrm>
              <a:off x="1333500" y="2952750"/>
              <a:ext cx="838200" cy="1"/>
            </a:xfrm>
            <a:prstGeom prst="line">
              <a:avLst/>
            </a:prstGeom>
            <a:noFill/>
            <a:ln w="38100">
              <a:solidFill>
                <a:srgbClr val="E94B2B"/>
              </a:solidFill>
              <a:tailEnd type="triangle" w="lg" len="lg"/>
            </a:ln>
          </p:spPr>
        </p:sp>
      </p:grpSp>
      <p:grpSp>
        <p:nvGrpSpPr>
          <p:cNvPr id="32" name="right-axis"/>
          <p:cNvGrpSpPr/>
          <p:nvPr/>
        </p:nvGrpSpPr>
        <p:grpSpPr>
          <a:xfrm>
            <a:off x="9944100" y="1418749"/>
            <a:ext cx="1611833" cy="2857976"/>
            <a:chOff x="9944100" y="1418749"/>
            <a:chExt cx="1611833" cy="2857976"/>
          </a:xfrm>
        </p:grpSpPr>
        <p:sp>
          <p:nvSpPr>
            <p:cNvPr id="19" name="Line 19"/>
            <p:cNvSpPr/>
            <p:nvPr/>
          </p:nvSpPr>
          <p:spPr>
            <a:xfrm>
              <a:off x="9944100" y="2857500"/>
              <a:ext cx="838200" cy="1"/>
            </a:xfrm>
            <a:prstGeom prst="line">
              <a:avLst/>
            </a:prstGeom>
            <a:noFill/>
            <a:ln w="38100">
              <a:solidFill>
                <a:srgbClr val="E94B2B"/>
              </a:solidFill>
              <a:tailEnd type="triangle" w="lg" len="lg"/>
            </a:ln>
          </p:spPr>
        </p:sp>
        <p:sp>
          <p:nvSpPr>
            <p:cNvPr id="20" name="TextBox 20"/>
            <p:cNvSpPr txBox="1"/>
            <p:nvPr/>
          </p:nvSpPr>
          <p:spPr>
            <a:xfrm>
              <a:off x="11018317" y="14187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考勤休假</a:t>
              </a:r>
            </a:p>
          </p:txBody>
        </p:sp>
        <p:sp>
          <p:nvSpPr>
            <p:cNvPr id="21" name="Line 21"/>
            <p:cNvSpPr/>
            <p:nvPr/>
          </p:nvSpPr>
          <p:spPr>
            <a:xfrm>
              <a:off x="11049000" y="1600200"/>
              <a:ext cx="476250" cy="9525"/>
            </a:xfrm>
            <a:custGeom>
              <a:avLst/>
              <a:gdLst/>
              <a:ahLst/>
              <a:cxnLst/>
              <a:rect l="l" t="t" r="r" b="b"/>
              <a:pathLst>
                <a:path w="476250" h="9525">
                  <a:moveTo>
                    <a:pt x="0" y="0"/>
                  </a:moveTo>
                  <a:lnTo>
                    <a:pt x="476250" y="0"/>
                  </a:lnTo>
                </a:path>
              </a:pathLst>
            </a:custGeom>
            <a:noFill/>
            <a:ln w="9525">
              <a:solidFill>
                <a:srgbClr val="F5927E"/>
              </a:solidFill>
            </a:ln>
          </p:spPr>
        </p:sp>
        <p:sp>
          <p:nvSpPr>
            <p:cNvPr id="22" name="TextBox 22"/>
            <p:cNvSpPr txBox="1"/>
            <p:nvPr/>
          </p:nvSpPr>
          <p:spPr>
            <a:xfrm>
              <a:off x="11084281" y="1952149"/>
              <a:ext cx="40568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定调薪</a:t>
              </a:r>
            </a:p>
          </p:txBody>
        </p:sp>
        <p:sp>
          <p:nvSpPr>
            <p:cNvPr id="23" name="Line 23"/>
            <p:cNvSpPr/>
            <p:nvPr/>
          </p:nvSpPr>
          <p:spPr>
            <a:xfrm>
              <a:off x="11049000" y="2133600"/>
              <a:ext cx="476250" cy="9525"/>
            </a:xfrm>
            <a:custGeom>
              <a:avLst/>
              <a:gdLst/>
              <a:ahLst/>
              <a:cxnLst/>
              <a:rect l="l" t="t" r="r" b="b"/>
              <a:pathLst>
                <a:path w="476250" h="9525">
                  <a:moveTo>
                    <a:pt x="0" y="0"/>
                  </a:moveTo>
                  <a:lnTo>
                    <a:pt x="476250" y="0"/>
                  </a:lnTo>
                </a:path>
              </a:pathLst>
            </a:custGeom>
            <a:noFill/>
            <a:ln w="9525">
              <a:solidFill>
                <a:srgbClr val="F5927E"/>
              </a:solidFill>
            </a:ln>
          </p:spPr>
        </p:sp>
        <p:sp>
          <p:nvSpPr>
            <p:cNvPr id="24" name="TextBox 24"/>
            <p:cNvSpPr txBox="1"/>
            <p:nvPr/>
          </p:nvSpPr>
          <p:spPr>
            <a:xfrm>
              <a:off x="11018317" y="24855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绩效考核</a:t>
              </a:r>
            </a:p>
          </p:txBody>
        </p:sp>
        <p:sp>
          <p:nvSpPr>
            <p:cNvPr id="25" name="Line 25"/>
            <p:cNvSpPr/>
            <p:nvPr/>
          </p:nvSpPr>
          <p:spPr>
            <a:xfrm>
              <a:off x="11049000" y="2667000"/>
              <a:ext cx="476250" cy="9525"/>
            </a:xfrm>
            <a:custGeom>
              <a:avLst/>
              <a:gdLst/>
              <a:ahLst/>
              <a:cxnLst/>
              <a:rect l="l" t="t" r="r" b="b"/>
              <a:pathLst>
                <a:path w="476250" h="9525">
                  <a:moveTo>
                    <a:pt x="0" y="0"/>
                  </a:moveTo>
                  <a:lnTo>
                    <a:pt x="476250" y="0"/>
                  </a:lnTo>
                </a:path>
              </a:pathLst>
            </a:custGeom>
            <a:noFill/>
            <a:ln w="9525">
              <a:solidFill>
                <a:srgbClr val="F5927E"/>
              </a:solidFill>
            </a:ln>
          </p:spPr>
        </p:sp>
        <p:sp>
          <p:nvSpPr>
            <p:cNvPr id="26" name="TextBox 26"/>
            <p:cNvSpPr txBox="1"/>
            <p:nvPr/>
          </p:nvSpPr>
          <p:spPr>
            <a:xfrm>
              <a:off x="11018317" y="30189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目标制定</a:t>
              </a:r>
            </a:p>
          </p:txBody>
        </p:sp>
        <p:sp>
          <p:nvSpPr>
            <p:cNvPr id="27" name="Line 27"/>
            <p:cNvSpPr/>
            <p:nvPr/>
          </p:nvSpPr>
          <p:spPr>
            <a:xfrm>
              <a:off x="11049000" y="3200400"/>
              <a:ext cx="476250" cy="9525"/>
            </a:xfrm>
            <a:custGeom>
              <a:avLst/>
              <a:gdLst/>
              <a:ahLst/>
              <a:cxnLst/>
              <a:rect l="l" t="t" r="r" b="b"/>
              <a:pathLst>
                <a:path w="476250" h="9525">
                  <a:moveTo>
                    <a:pt x="0" y="0"/>
                  </a:moveTo>
                  <a:lnTo>
                    <a:pt x="476250" y="0"/>
                  </a:lnTo>
                </a:path>
              </a:pathLst>
            </a:custGeom>
            <a:noFill/>
            <a:ln w="9525">
              <a:solidFill>
                <a:srgbClr val="F5927E"/>
              </a:solidFill>
            </a:ln>
          </p:spPr>
        </p:sp>
        <p:sp>
          <p:nvSpPr>
            <p:cNvPr id="28" name="TextBox 28"/>
            <p:cNvSpPr txBox="1"/>
            <p:nvPr/>
          </p:nvSpPr>
          <p:spPr>
            <a:xfrm>
              <a:off x="11018317" y="35523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岗位学习</a:t>
              </a:r>
            </a:p>
          </p:txBody>
        </p:sp>
        <p:sp>
          <p:nvSpPr>
            <p:cNvPr id="29" name="Line 29"/>
            <p:cNvSpPr/>
            <p:nvPr/>
          </p:nvSpPr>
          <p:spPr>
            <a:xfrm>
              <a:off x="11049000" y="3733800"/>
              <a:ext cx="476250" cy="9525"/>
            </a:xfrm>
            <a:custGeom>
              <a:avLst/>
              <a:gdLst/>
              <a:ahLst/>
              <a:cxnLst/>
              <a:rect l="l" t="t" r="r" b="b"/>
              <a:pathLst>
                <a:path w="476250" h="9525">
                  <a:moveTo>
                    <a:pt x="0" y="0"/>
                  </a:moveTo>
                  <a:lnTo>
                    <a:pt x="476250" y="0"/>
                  </a:lnTo>
                </a:path>
              </a:pathLst>
            </a:custGeom>
            <a:noFill/>
            <a:ln w="9525">
              <a:solidFill>
                <a:srgbClr val="F5927E"/>
              </a:solidFill>
            </a:ln>
          </p:spPr>
        </p:sp>
        <p:sp>
          <p:nvSpPr>
            <p:cNvPr id="30" name="TextBox 30"/>
            <p:cNvSpPr txBox="1"/>
            <p:nvPr/>
          </p:nvSpPr>
          <p:spPr>
            <a:xfrm>
              <a:off x="11018317" y="40857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人才盘点</a:t>
              </a:r>
            </a:p>
          </p:txBody>
        </p:sp>
        <p:sp>
          <p:nvSpPr>
            <p:cNvPr id="31" name="Line 31"/>
            <p:cNvSpPr/>
            <p:nvPr/>
          </p:nvSpPr>
          <p:spPr>
            <a:xfrm>
              <a:off x="11049000" y="4267200"/>
              <a:ext cx="476250" cy="9525"/>
            </a:xfrm>
            <a:custGeom>
              <a:avLst/>
              <a:gdLst/>
              <a:ahLst/>
              <a:cxnLst/>
              <a:rect l="l" t="t" r="r" b="b"/>
              <a:pathLst>
                <a:path w="476250" h="9525">
                  <a:moveTo>
                    <a:pt x="0" y="0"/>
                  </a:moveTo>
                  <a:lnTo>
                    <a:pt x="476250" y="0"/>
                  </a:lnTo>
                </a:path>
              </a:pathLst>
            </a:custGeom>
            <a:noFill/>
            <a:ln w="9525">
              <a:solidFill>
                <a:srgbClr val="F5927E"/>
              </a:solidFill>
            </a:ln>
          </p:spPr>
        </p:sp>
      </p:grpSp>
      <p:grpSp>
        <p:nvGrpSpPr>
          <p:cNvPr id="122" name="org-frame"/>
          <p:cNvGrpSpPr/>
          <p:nvPr/>
        </p:nvGrpSpPr>
        <p:grpSpPr>
          <a:xfrm>
            <a:off x="2400300" y="1104900"/>
            <a:ext cx="7410450" cy="4114800"/>
            <a:chOff x="2400300" y="1104900"/>
            <a:chExt cx="7410450" cy="4114800"/>
          </a:xfrm>
        </p:grpSpPr>
        <p:sp>
          <p:nvSpPr>
            <p:cNvPr id="33" name="Rectangle 33"/>
            <p:cNvSpPr/>
            <p:nvPr/>
          </p:nvSpPr>
          <p:spPr>
            <a:xfrm>
              <a:off x="2400300" y="1104900"/>
              <a:ext cx="7410450" cy="4114800"/>
            </a:xfrm>
            <a:prstGeom prst="roundRect">
              <a:avLst>
                <a:gd name="adj" fmla="val 3241"/>
              </a:avLst>
            </a:prstGeom>
            <a:solidFill>
              <a:srgbClr val="FFFFFF"/>
            </a:solidFill>
            <a:ln w="14288">
              <a:solidFill>
                <a:srgbClr val="F5927E"/>
              </a:solidFill>
              <a:custDash>
                <a:ds d="400000" sp="266667"/>
              </a:custDash>
            </a:ln>
          </p:spPr>
        </p:sp>
        <p:grpSp>
          <p:nvGrpSpPr>
            <p:cNvPr id="50" name="blk-role"/>
            <p:cNvGrpSpPr/>
            <p:nvPr/>
          </p:nvGrpSpPr>
          <p:grpSpPr>
            <a:xfrm>
              <a:off x="2590800" y="1314450"/>
              <a:ext cx="3028950" cy="723900"/>
              <a:chOff x="2590800" y="1314450"/>
              <a:chExt cx="3028950" cy="723900"/>
            </a:xfrm>
          </p:grpSpPr>
          <p:sp>
            <p:nvSpPr>
              <p:cNvPr id="34" name="Rectangle 34"/>
              <p:cNvSpPr/>
              <p:nvPr/>
            </p:nvSpPr>
            <p:spPr>
              <a:xfrm>
                <a:off x="3009900" y="1314450"/>
                <a:ext cx="2190750" cy="285750"/>
              </a:xfrm>
              <a:prstGeom prst="roundRect">
                <a:avLst>
                  <a:gd name="adj" fmla="val 50000"/>
                </a:avLst>
              </a:prstGeom>
              <a:gradFill>
                <a:gsLst>
                  <a:gs pos="0">
                    <a:srgbClr val="FF5B3A"/>
                  </a:gs>
                  <a:gs pos="100000">
                    <a:srgbClr val="E94B2B"/>
                  </a:gs>
                </a:gsLst>
                <a:lin ang="0" scaled="1"/>
              </a:gradFill>
              <a:ln>
                <a:noFill/>
              </a:ln>
            </p:spPr>
          </p:sp>
          <p:grpSp>
            <p:nvGrpSpPr>
              <p:cNvPr id="39" name="Group 39"/>
              <p:cNvGrpSpPr/>
              <p:nvPr/>
            </p:nvGrpSpPr>
            <p:grpSpPr>
              <a:xfrm>
                <a:off x="3164681" y="1393031"/>
                <a:ext cx="128588" cy="128588"/>
                <a:chOff x="3164681" y="1393031"/>
                <a:chExt cx="128588" cy="128588"/>
              </a:xfrm>
            </p:grpSpPr>
            <p:sp>
              <p:nvSpPr>
                <p:cNvPr id="35" name="Freeform 35"/>
                <p:cNvSpPr/>
                <p:nvPr/>
              </p:nvSpPr>
              <p:spPr>
                <a:xfrm>
                  <a:off x="3178969" y="13930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36" name="Freeform 36"/>
                <p:cNvSpPr/>
                <p:nvPr/>
              </p:nvSpPr>
              <p:spPr>
                <a:xfrm>
                  <a:off x="3164681" y="14787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37" name="Freeform 37"/>
                <p:cNvSpPr/>
                <p:nvPr/>
              </p:nvSpPr>
              <p:spPr>
                <a:xfrm>
                  <a:off x="3257550" y="139396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38" name="Freeform 38"/>
                <p:cNvSpPr/>
                <p:nvPr/>
              </p:nvSpPr>
              <p:spPr>
                <a:xfrm>
                  <a:off x="3271838" y="147982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40" name="TextBox 40"/>
              <p:cNvSpPr txBox="1"/>
              <p:nvPr/>
            </p:nvSpPr>
            <p:spPr>
              <a:xfrm>
                <a:off x="3818763" y="140112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提升角色体验</a:t>
                </a:r>
              </a:p>
            </p:txBody>
          </p:sp>
          <p:sp>
            <p:nvSpPr>
              <p:cNvPr id="41" name="Rectangle 41"/>
              <p:cNvSpPr/>
              <p:nvPr/>
            </p:nvSpPr>
            <p:spPr>
              <a:xfrm>
                <a:off x="2590800" y="1638300"/>
                <a:ext cx="3028950" cy="400050"/>
              </a:xfrm>
              <a:prstGeom prst="roundRect">
                <a:avLst>
                  <a:gd name="adj" fmla="val 14286"/>
                </a:avLst>
              </a:prstGeom>
              <a:solidFill>
                <a:srgbClr val="F6F9FE"/>
              </a:solidFill>
              <a:ln w="9525">
                <a:solidFill>
                  <a:srgbClr val="C9DDF5"/>
                </a:solidFill>
              </a:ln>
            </p:spPr>
          </p:sp>
          <p:sp>
            <p:nvSpPr>
              <p:cNvPr id="42" name="Rectangle 42"/>
              <p:cNvSpPr/>
              <p:nvPr/>
            </p:nvSpPr>
            <p:spPr>
              <a:xfrm>
                <a:off x="2686050" y="1733550"/>
                <a:ext cx="628650" cy="209550"/>
              </a:xfrm>
              <a:prstGeom prst="roundRect">
                <a:avLst>
                  <a:gd name="adj" fmla="val 13636"/>
                </a:avLst>
              </a:prstGeom>
              <a:solidFill>
                <a:srgbClr val="FFFFFF"/>
              </a:solidFill>
              <a:ln w="9525">
                <a:solidFill>
                  <a:srgbClr val="C9DDF5"/>
                </a:solidFill>
              </a:ln>
            </p:spPr>
          </p:sp>
          <p:sp>
            <p:nvSpPr>
              <p:cNvPr id="43" name="TextBox 43"/>
              <p:cNvSpPr txBox="1"/>
              <p:nvPr/>
            </p:nvSpPr>
            <p:spPr>
              <a:xfrm>
                <a:off x="2774836" y="17968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员工自助</a:t>
                </a:r>
              </a:p>
            </p:txBody>
          </p:sp>
          <p:sp>
            <p:nvSpPr>
              <p:cNvPr id="44" name="Rectangle 44"/>
              <p:cNvSpPr/>
              <p:nvPr/>
            </p:nvSpPr>
            <p:spPr>
              <a:xfrm>
                <a:off x="3390900" y="1733550"/>
                <a:ext cx="571500" cy="209550"/>
              </a:xfrm>
              <a:prstGeom prst="roundRect">
                <a:avLst>
                  <a:gd name="adj" fmla="val 13636"/>
                </a:avLst>
              </a:prstGeom>
              <a:solidFill>
                <a:srgbClr val="FFFFFF"/>
              </a:solidFill>
              <a:ln w="9525">
                <a:solidFill>
                  <a:srgbClr val="C9DDF5"/>
                </a:solidFill>
              </a:ln>
            </p:spPr>
          </p:sp>
          <p:sp>
            <p:nvSpPr>
              <p:cNvPr id="45" name="TextBox 45"/>
              <p:cNvSpPr txBox="1"/>
              <p:nvPr/>
            </p:nvSpPr>
            <p:spPr>
              <a:xfrm>
                <a:off x="3506305" y="1796891"/>
                <a:ext cx="34069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工作台</a:t>
                </a:r>
              </a:p>
            </p:txBody>
          </p:sp>
          <p:sp>
            <p:nvSpPr>
              <p:cNvPr id="46" name="Rectangle 46"/>
              <p:cNvSpPr/>
              <p:nvPr/>
            </p:nvSpPr>
            <p:spPr>
              <a:xfrm>
                <a:off x="4038600" y="1733550"/>
                <a:ext cx="762000" cy="209550"/>
              </a:xfrm>
              <a:prstGeom prst="roundRect">
                <a:avLst>
                  <a:gd name="adj" fmla="val 13636"/>
                </a:avLst>
              </a:prstGeom>
              <a:solidFill>
                <a:srgbClr val="FFFFFF"/>
              </a:solidFill>
              <a:ln w="9525">
                <a:solidFill>
                  <a:srgbClr val="C9DDF5"/>
                </a:solidFill>
              </a:ln>
            </p:spPr>
          </p:sp>
          <p:sp>
            <p:nvSpPr>
              <p:cNvPr id="47" name="TextBox 47"/>
              <p:cNvSpPr txBox="1"/>
              <p:nvPr/>
            </p:nvSpPr>
            <p:spPr>
              <a:xfrm>
                <a:off x="4138866" y="1796891"/>
                <a:ext cx="561467"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管理工作台</a:t>
                </a:r>
              </a:p>
            </p:txBody>
          </p:sp>
          <p:sp>
            <p:nvSpPr>
              <p:cNvPr id="48" name="Rectangle 48"/>
              <p:cNvSpPr/>
              <p:nvPr/>
            </p:nvSpPr>
            <p:spPr>
              <a:xfrm>
                <a:off x="4876800" y="1733550"/>
                <a:ext cx="666750" cy="209550"/>
              </a:xfrm>
              <a:prstGeom prst="roundRect">
                <a:avLst>
                  <a:gd name="adj" fmla="val 13636"/>
                </a:avLst>
              </a:prstGeom>
              <a:solidFill>
                <a:srgbClr val="FFFFFF"/>
              </a:solidFill>
              <a:ln w="9525">
                <a:solidFill>
                  <a:srgbClr val="C9DDF5"/>
                </a:solidFill>
              </a:ln>
            </p:spPr>
          </p:sp>
          <p:sp>
            <p:nvSpPr>
              <p:cNvPr id="49" name="TextBox 49"/>
              <p:cNvSpPr txBox="1"/>
              <p:nvPr/>
            </p:nvSpPr>
            <p:spPr>
              <a:xfrm>
                <a:off x="4929442" y="1796891"/>
                <a:ext cx="561467"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高管工作台</a:t>
                </a:r>
              </a:p>
            </p:txBody>
          </p:sp>
        </p:grpSp>
        <p:grpSp>
          <p:nvGrpSpPr>
            <p:cNvPr id="69" name="blk-decision"/>
            <p:cNvGrpSpPr/>
            <p:nvPr/>
          </p:nvGrpSpPr>
          <p:grpSpPr>
            <a:xfrm>
              <a:off x="6591300" y="1314450"/>
              <a:ext cx="3162300" cy="723900"/>
              <a:chOff x="6591300" y="1314450"/>
              <a:chExt cx="3162300" cy="723900"/>
            </a:xfrm>
          </p:grpSpPr>
          <p:sp>
            <p:nvSpPr>
              <p:cNvPr id="51" name="Rectangle 51"/>
              <p:cNvSpPr/>
              <p:nvPr/>
            </p:nvSpPr>
            <p:spPr>
              <a:xfrm>
                <a:off x="6896100" y="1314450"/>
                <a:ext cx="2190750" cy="285750"/>
              </a:xfrm>
              <a:prstGeom prst="roundRect">
                <a:avLst>
                  <a:gd name="adj" fmla="val 50000"/>
                </a:avLst>
              </a:prstGeom>
              <a:gradFill>
                <a:gsLst>
                  <a:gs pos="0">
                    <a:srgbClr val="FF5B3A"/>
                  </a:gs>
                  <a:gs pos="100000">
                    <a:srgbClr val="E94B2B"/>
                  </a:gs>
                </a:gsLst>
                <a:lin ang="0" scaled="1"/>
              </a:gradFill>
              <a:ln>
                <a:noFill/>
              </a:ln>
            </p:spPr>
          </p:sp>
          <p:grpSp>
            <p:nvGrpSpPr>
              <p:cNvPr id="56" name="Group 56"/>
              <p:cNvGrpSpPr/>
              <p:nvPr/>
            </p:nvGrpSpPr>
            <p:grpSpPr>
              <a:xfrm>
                <a:off x="7050881" y="1393031"/>
                <a:ext cx="128588" cy="121444"/>
                <a:chOff x="7050881" y="1393031"/>
                <a:chExt cx="128588" cy="121444"/>
              </a:xfrm>
            </p:grpSpPr>
            <p:sp>
              <p:nvSpPr>
                <p:cNvPr id="52" name="Freeform 52"/>
                <p:cNvSpPr/>
                <p:nvPr/>
              </p:nvSpPr>
              <p:spPr>
                <a:xfrm>
                  <a:off x="7050881" y="1421606"/>
                  <a:ext cx="128588" cy="92869"/>
                </a:xfrm>
                <a:custGeom>
                  <a:avLst/>
                  <a:gdLst/>
                  <a:ahLst/>
                  <a:cxnLst/>
                  <a:rect l="l" t="t" r="r" b="b"/>
                  <a:pathLst>
                    <a:path w="128588" h="92869">
                      <a:moveTo>
                        <a:pt x="0" y="14288"/>
                      </a:moveTo>
                      <a:cubicBezTo>
                        <a:pt x="0" y="6397"/>
                        <a:pt x="6397" y="0"/>
                        <a:pt x="14288" y="0"/>
                      </a:cubicBezTo>
                      <a:lnTo>
                        <a:pt x="114300" y="0"/>
                      </a:lnTo>
                      <a:cubicBezTo>
                        <a:pt x="122191" y="0"/>
                        <a:pt x="128588" y="6397"/>
                        <a:pt x="128588" y="14288"/>
                      </a:cubicBezTo>
                      <a:lnTo>
                        <a:pt x="128588" y="78581"/>
                      </a:lnTo>
                      <a:cubicBezTo>
                        <a:pt x="128588" y="86472"/>
                        <a:pt x="122191" y="92869"/>
                        <a:pt x="114300" y="92869"/>
                      </a:cubicBezTo>
                      <a:lnTo>
                        <a:pt x="14288" y="92869"/>
                      </a:lnTo>
                      <a:cubicBezTo>
                        <a:pt x="6397" y="92869"/>
                        <a:pt x="0" y="86472"/>
                        <a:pt x="0" y="78581"/>
                      </a:cubicBezTo>
                      <a:lnTo>
                        <a:pt x="0" y="14288"/>
                      </a:lnTo>
                    </a:path>
                  </a:pathLst>
                </a:custGeom>
                <a:noFill/>
                <a:ln w="14288">
                  <a:solidFill>
                    <a:srgbClr val="FFFFFF"/>
                  </a:solidFill>
                </a:ln>
              </p:spPr>
            </p:sp>
            <p:sp>
              <p:nvSpPr>
                <p:cNvPr id="53" name="Freeform 53"/>
                <p:cNvSpPr/>
                <p:nvPr/>
              </p:nvSpPr>
              <p:spPr>
                <a:xfrm>
                  <a:off x="7086600" y="1393031"/>
                  <a:ext cx="57150" cy="28575"/>
                </a:xfrm>
                <a:custGeom>
                  <a:avLst/>
                  <a:gdLst/>
                  <a:ahLst/>
                  <a:cxnLst/>
                  <a:rect l="l" t="t" r="r" b="b"/>
                  <a:pathLst>
                    <a:path w="57150" h="28575">
                      <a:moveTo>
                        <a:pt x="0" y="28575"/>
                      </a:moveTo>
                      <a:lnTo>
                        <a:pt x="0" y="14288"/>
                      </a:lnTo>
                      <a:cubicBezTo>
                        <a:pt x="0" y="6397"/>
                        <a:pt x="6397" y="0"/>
                        <a:pt x="14288" y="0"/>
                      </a:cubicBezTo>
                      <a:lnTo>
                        <a:pt x="42862" y="0"/>
                      </a:lnTo>
                      <a:cubicBezTo>
                        <a:pt x="50753" y="0"/>
                        <a:pt x="57150" y="6397"/>
                        <a:pt x="57150" y="14288"/>
                      </a:cubicBezTo>
                      <a:lnTo>
                        <a:pt x="57150" y="28575"/>
                      </a:lnTo>
                    </a:path>
                  </a:pathLst>
                </a:custGeom>
                <a:noFill/>
                <a:ln w="14288">
                  <a:solidFill>
                    <a:srgbClr val="FFFFFF"/>
                  </a:solidFill>
                </a:ln>
              </p:spPr>
            </p:sp>
            <p:sp>
              <p:nvSpPr>
                <p:cNvPr id="54" name="Freeform 54"/>
                <p:cNvSpPr/>
                <p:nvPr/>
              </p:nvSpPr>
              <p:spPr>
                <a:xfrm>
                  <a:off x="7115175" y="1457325"/>
                  <a:ext cx="9525" cy="9525"/>
                </a:xfrm>
                <a:custGeom>
                  <a:avLst/>
                  <a:gdLst/>
                  <a:ahLst/>
                  <a:cxnLst/>
                  <a:rect l="l" t="t" r="r" b="b"/>
                  <a:pathLst>
                    <a:path w="9525" h="9525">
                      <a:moveTo>
                        <a:pt x="0" y="0"/>
                      </a:moveTo>
                      <a:lnTo>
                        <a:pt x="0" y="71"/>
                      </a:lnTo>
                    </a:path>
                  </a:pathLst>
                </a:custGeom>
                <a:noFill/>
                <a:ln w="14288">
                  <a:solidFill>
                    <a:srgbClr val="FFFFFF"/>
                  </a:solidFill>
                </a:ln>
              </p:spPr>
            </p:sp>
            <p:sp>
              <p:nvSpPr>
                <p:cNvPr id="55" name="Freeform 55"/>
                <p:cNvSpPr/>
                <p:nvPr/>
              </p:nvSpPr>
              <p:spPr>
                <a:xfrm>
                  <a:off x="7050881" y="1464469"/>
                  <a:ext cx="128588" cy="20378"/>
                </a:xfrm>
                <a:custGeom>
                  <a:avLst/>
                  <a:gdLst/>
                  <a:ahLst/>
                  <a:cxnLst/>
                  <a:rect l="l" t="t" r="r" b="b"/>
                  <a:pathLst>
                    <a:path w="128588" h="20378">
                      <a:moveTo>
                        <a:pt x="0" y="0"/>
                      </a:moveTo>
                      <a:cubicBezTo>
                        <a:pt x="40440" y="20378"/>
                        <a:pt x="88147" y="20378"/>
                        <a:pt x="128588" y="0"/>
                      </a:cubicBezTo>
                    </a:path>
                  </a:pathLst>
                </a:custGeom>
                <a:noFill/>
                <a:ln w="14288">
                  <a:solidFill>
                    <a:srgbClr val="FFFFFF"/>
                  </a:solidFill>
                </a:ln>
              </p:spPr>
            </p:sp>
          </p:grpSp>
          <p:sp>
            <p:nvSpPr>
              <p:cNvPr id="57" name="TextBox 57"/>
              <p:cNvSpPr txBox="1"/>
              <p:nvPr/>
            </p:nvSpPr>
            <p:spPr>
              <a:xfrm>
                <a:off x="7704963" y="140112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赋能人事决策</a:t>
                </a:r>
              </a:p>
            </p:txBody>
          </p:sp>
          <p:sp>
            <p:nvSpPr>
              <p:cNvPr id="58" name="Rectangle 58"/>
              <p:cNvSpPr/>
              <p:nvPr/>
            </p:nvSpPr>
            <p:spPr>
              <a:xfrm>
                <a:off x="6591300" y="1638300"/>
                <a:ext cx="3028950" cy="400050"/>
              </a:xfrm>
              <a:prstGeom prst="roundRect">
                <a:avLst>
                  <a:gd name="adj" fmla="val 14286"/>
                </a:avLst>
              </a:prstGeom>
              <a:solidFill>
                <a:srgbClr val="F6F9FE"/>
              </a:solidFill>
              <a:ln w="9525">
                <a:solidFill>
                  <a:srgbClr val="C9DDF5"/>
                </a:solidFill>
              </a:ln>
            </p:spPr>
          </p:sp>
          <p:sp>
            <p:nvSpPr>
              <p:cNvPr id="59" name="Rectangle 59"/>
              <p:cNvSpPr/>
              <p:nvPr/>
            </p:nvSpPr>
            <p:spPr>
              <a:xfrm>
                <a:off x="6667500" y="1733550"/>
                <a:ext cx="571500" cy="209550"/>
              </a:xfrm>
              <a:prstGeom prst="roundRect">
                <a:avLst>
                  <a:gd name="adj" fmla="val 13636"/>
                </a:avLst>
              </a:prstGeom>
              <a:solidFill>
                <a:srgbClr val="FFFFFF"/>
              </a:solidFill>
              <a:ln w="9525">
                <a:solidFill>
                  <a:srgbClr val="C9DDF5"/>
                </a:solidFill>
              </a:ln>
            </p:spPr>
          </p:sp>
          <p:sp>
            <p:nvSpPr>
              <p:cNvPr id="60" name="TextBox 60"/>
              <p:cNvSpPr txBox="1"/>
              <p:nvPr/>
            </p:nvSpPr>
            <p:spPr>
              <a:xfrm>
                <a:off x="6727711" y="17968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组织效能</a:t>
                </a:r>
              </a:p>
            </p:txBody>
          </p:sp>
          <p:sp>
            <p:nvSpPr>
              <p:cNvPr id="61" name="Rectangle 61"/>
              <p:cNvSpPr/>
              <p:nvPr/>
            </p:nvSpPr>
            <p:spPr>
              <a:xfrm>
                <a:off x="7296150" y="1733550"/>
                <a:ext cx="571500" cy="209550"/>
              </a:xfrm>
              <a:prstGeom prst="roundRect">
                <a:avLst>
                  <a:gd name="adj" fmla="val 13636"/>
                </a:avLst>
              </a:prstGeom>
              <a:solidFill>
                <a:srgbClr val="FFFFFF"/>
              </a:solidFill>
              <a:ln w="9525">
                <a:solidFill>
                  <a:srgbClr val="C9DDF5"/>
                </a:solidFill>
              </a:ln>
            </p:spPr>
          </p:sp>
          <p:sp>
            <p:nvSpPr>
              <p:cNvPr id="62" name="TextBox 62"/>
              <p:cNvSpPr txBox="1"/>
              <p:nvPr/>
            </p:nvSpPr>
            <p:spPr>
              <a:xfrm>
                <a:off x="7356361" y="17968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组织评估</a:t>
                </a:r>
              </a:p>
            </p:txBody>
          </p:sp>
          <p:sp>
            <p:nvSpPr>
              <p:cNvPr id="63" name="Rectangle 63"/>
              <p:cNvSpPr/>
              <p:nvPr/>
            </p:nvSpPr>
            <p:spPr>
              <a:xfrm>
                <a:off x="7924800" y="1733550"/>
                <a:ext cx="571500" cy="209550"/>
              </a:xfrm>
              <a:prstGeom prst="roundRect">
                <a:avLst>
                  <a:gd name="adj" fmla="val 13636"/>
                </a:avLst>
              </a:prstGeom>
              <a:solidFill>
                <a:srgbClr val="FFFFFF"/>
              </a:solidFill>
              <a:ln w="9525">
                <a:solidFill>
                  <a:srgbClr val="C9DDF5"/>
                </a:solidFill>
              </a:ln>
            </p:spPr>
          </p:sp>
          <p:sp>
            <p:nvSpPr>
              <p:cNvPr id="64" name="TextBox 64"/>
              <p:cNvSpPr txBox="1"/>
              <p:nvPr/>
            </p:nvSpPr>
            <p:spPr>
              <a:xfrm>
                <a:off x="7985011" y="17968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人才规划</a:t>
                </a:r>
              </a:p>
            </p:txBody>
          </p:sp>
          <p:sp>
            <p:nvSpPr>
              <p:cNvPr id="65" name="Rectangle 65"/>
              <p:cNvSpPr/>
              <p:nvPr/>
            </p:nvSpPr>
            <p:spPr>
              <a:xfrm>
                <a:off x="8553450" y="1733550"/>
                <a:ext cx="571500" cy="209550"/>
              </a:xfrm>
              <a:prstGeom prst="roundRect">
                <a:avLst>
                  <a:gd name="adj" fmla="val 13636"/>
                </a:avLst>
              </a:prstGeom>
              <a:solidFill>
                <a:srgbClr val="FFFFFF"/>
              </a:solidFill>
              <a:ln w="9525">
                <a:solidFill>
                  <a:srgbClr val="C9DDF5"/>
                </a:solidFill>
              </a:ln>
            </p:spPr>
          </p:sp>
          <p:sp>
            <p:nvSpPr>
              <p:cNvPr id="66" name="TextBox 66"/>
              <p:cNvSpPr txBox="1"/>
              <p:nvPr/>
            </p:nvSpPr>
            <p:spPr>
              <a:xfrm>
                <a:off x="8613661" y="17968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人才总量</a:t>
                </a:r>
              </a:p>
            </p:txBody>
          </p:sp>
          <p:sp>
            <p:nvSpPr>
              <p:cNvPr id="67" name="Rectangle 67"/>
              <p:cNvSpPr/>
              <p:nvPr/>
            </p:nvSpPr>
            <p:spPr>
              <a:xfrm>
                <a:off x="9182100" y="1733550"/>
                <a:ext cx="571500" cy="209550"/>
              </a:xfrm>
              <a:prstGeom prst="roundRect">
                <a:avLst>
                  <a:gd name="adj" fmla="val 13636"/>
                </a:avLst>
              </a:prstGeom>
              <a:solidFill>
                <a:srgbClr val="FFFFFF"/>
              </a:solidFill>
              <a:ln w="9525">
                <a:solidFill>
                  <a:srgbClr val="C9DDF5"/>
                </a:solidFill>
              </a:ln>
            </p:spPr>
          </p:sp>
          <p:sp>
            <p:nvSpPr>
              <p:cNvPr id="68" name="TextBox 68"/>
              <p:cNvSpPr txBox="1"/>
              <p:nvPr/>
            </p:nvSpPr>
            <p:spPr>
              <a:xfrm>
                <a:off x="9242311" y="17968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人才地图</a:t>
                </a:r>
              </a:p>
            </p:txBody>
          </p:sp>
        </p:grpSp>
        <p:grpSp>
          <p:nvGrpSpPr>
            <p:cNvPr id="93" name="blk-lifecycle"/>
            <p:cNvGrpSpPr/>
            <p:nvPr/>
          </p:nvGrpSpPr>
          <p:grpSpPr>
            <a:xfrm>
              <a:off x="2590800" y="2286000"/>
              <a:ext cx="7029450" cy="762000"/>
              <a:chOff x="2590800" y="2286000"/>
              <a:chExt cx="7029450" cy="762000"/>
            </a:xfrm>
          </p:grpSpPr>
          <p:sp>
            <p:nvSpPr>
              <p:cNvPr id="70" name="Rectangle 70"/>
              <p:cNvSpPr/>
              <p:nvPr/>
            </p:nvSpPr>
            <p:spPr>
              <a:xfrm>
                <a:off x="4972050" y="2286000"/>
                <a:ext cx="2286000" cy="285750"/>
              </a:xfrm>
              <a:prstGeom prst="roundRect">
                <a:avLst>
                  <a:gd name="adj" fmla="val 50000"/>
                </a:avLst>
              </a:prstGeom>
              <a:gradFill>
                <a:gsLst>
                  <a:gs pos="0">
                    <a:srgbClr val="FF5B3A"/>
                  </a:gs>
                  <a:gs pos="100000">
                    <a:srgbClr val="E94B2B"/>
                  </a:gs>
                </a:gsLst>
                <a:lin ang="0" scaled="1"/>
              </a:gradFill>
              <a:ln>
                <a:noFill/>
              </a:ln>
            </p:spPr>
          </p:sp>
          <p:grpSp>
            <p:nvGrpSpPr>
              <p:cNvPr id="76" name="Group 76"/>
              <p:cNvGrpSpPr/>
              <p:nvPr/>
            </p:nvGrpSpPr>
            <p:grpSpPr>
              <a:xfrm>
                <a:off x="5126831" y="2364581"/>
                <a:ext cx="128587" cy="128587"/>
                <a:chOff x="5126831" y="2364581"/>
                <a:chExt cx="128587" cy="128587"/>
              </a:xfrm>
            </p:grpSpPr>
            <p:sp>
              <p:nvSpPr>
                <p:cNvPr id="71" name="Freeform 71"/>
                <p:cNvSpPr/>
                <p:nvPr/>
              </p:nvSpPr>
              <p:spPr>
                <a:xfrm>
                  <a:off x="5126831" y="245030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FFFFFF"/>
                  </a:solidFill>
                </a:ln>
              </p:spPr>
            </p:sp>
            <p:sp>
              <p:nvSpPr>
                <p:cNvPr id="72" name="Freeform 72"/>
                <p:cNvSpPr/>
                <p:nvPr/>
              </p:nvSpPr>
              <p:spPr>
                <a:xfrm>
                  <a:off x="5212556" y="2450306"/>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FFFFFF"/>
                  </a:solidFill>
                </a:ln>
              </p:spPr>
            </p:sp>
            <p:sp>
              <p:nvSpPr>
                <p:cNvPr id="73" name="Freeform 73"/>
                <p:cNvSpPr/>
                <p:nvPr/>
              </p:nvSpPr>
              <p:spPr>
                <a:xfrm>
                  <a:off x="5169694" y="2364581"/>
                  <a:ext cx="42862" cy="42862"/>
                </a:xfrm>
                <a:custGeom>
                  <a:avLst/>
                  <a:gdLst/>
                  <a:ahLst/>
                  <a:cxnLst/>
                  <a:rect l="l" t="t" r="r" b="b"/>
                  <a:pathLst>
                    <a:path w="42862" h="42862">
                      <a:moveTo>
                        <a:pt x="0" y="14288"/>
                      </a:moveTo>
                      <a:cubicBezTo>
                        <a:pt x="0" y="6397"/>
                        <a:pt x="6397" y="0"/>
                        <a:pt x="14288" y="0"/>
                      </a:cubicBezTo>
                      <a:lnTo>
                        <a:pt x="28575" y="0"/>
                      </a:lnTo>
                      <a:cubicBezTo>
                        <a:pt x="36466" y="0"/>
                        <a:pt x="42862" y="6397"/>
                        <a:pt x="42862" y="14288"/>
                      </a:cubicBezTo>
                      <a:lnTo>
                        <a:pt x="42862" y="28575"/>
                      </a:lnTo>
                      <a:cubicBezTo>
                        <a:pt x="42862" y="36466"/>
                        <a:pt x="36466" y="42862"/>
                        <a:pt x="28575" y="42862"/>
                      </a:cubicBezTo>
                      <a:lnTo>
                        <a:pt x="14288" y="42862"/>
                      </a:lnTo>
                      <a:cubicBezTo>
                        <a:pt x="6397" y="42862"/>
                        <a:pt x="0" y="36466"/>
                        <a:pt x="0" y="28575"/>
                      </a:cubicBezTo>
                      <a:lnTo>
                        <a:pt x="0" y="14288"/>
                      </a:lnTo>
                    </a:path>
                  </a:pathLst>
                </a:custGeom>
                <a:noFill/>
                <a:ln w="14288">
                  <a:solidFill>
                    <a:srgbClr val="FFFFFF"/>
                  </a:solidFill>
                </a:ln>
              </p:spPr>
            </p:sp>
            <p:sp>
              <p:nvSpPr>
                <p:cNvPr id="74" name="Freeform 74"/>
                <p:cNvSpPr/>
                <p:nvPr/>
              </p:nvSpPr>
              <p:spPr>
                <a:xfrm>
                  <a:off x="5148262" y="2428875"/>
                  <a:ext cx="85725" cy="21431"/>
                </a:xfrm>
                <a:custGeom>
                  <a:avLst/>
                  <a:gdLst/>
                  <a:ahLst/>
                  <a:cxnLst/>
                  <a:rect l="l" t="t" r="r" b="b"/>
                  <a:pathLst>
                    <a:path w="85725" h="21431">
                      <a:moveTo>
                        <a:pt x="0" y="21431"/>
                      </a:moveTo>
                      <a:lnTo>
                        <a:pt x="0" y="14288"/>
                      </a:lnTo>
                      <a:cubicBezTo>
                        <a:pt x="0" y="6397"/>
                        <a:pt x="6397" y="0"/>
                        <a:pt x="14288" y="0"/>
                      </a:cubicBezTo>
                      <a:lnTo>
                        <a:pt x="71438" y="0"/>
                      </a:lnTo>
                      <a:cubicBezTo>
                        <a:pt x="79328" y="0"/>
                        <a:pt x="85725" y="6397"/>
                        <a:pt x="85725" y="14288"/>
                      </a:cubicBezTo>
                      <a:lnTo>
                        <a:pt x="85725" y="21431"/>
                      </a:lnTo>
                    </a:path>
                  </a:pathLst>
                </a:custGeom>
                <a:noFill/>
                <a:ln w="14288">
                  <a:solidFill>
                    <a:srgbClr val="FFFFFF"/>
                  </a:solidFill>
                </a:ln>
              </p:spPr>
            </p:sp>
            <p:sp>
              <p:nvSpPr>
                <p:cNvPr id="75" name="Freeform 75"/>
                <p:cNvSpPr/>
                <p:nvPr/>
              </p:nvSpPr>
              <p:spPr>
                <a:xfrm>
                  <a:off x="5191125" y="2407444"/>
                  <a:ext cx="9525" cy="21431"/>
                </a:xfrm>
                <a:custGeom>
                  <a:avLst/>
                  <a:gdLst/>
                  <a:ahLst/>
                  <a:cxnLst/>
                  <a:rect l="l" t="t" r="r" b="b"/>
                  <a:pathLst>
                    <a:path w="9525" h="21431">
                      <a:moveTo>
                        <a:pt x="0" y="0"/>
                      </a:moveTo>
                      <a:lnTo>
                        <a:pt x="0" y="21431"/>
                      </a:lnTo>
                    </a:path>
                  </a:pathLst>
                </a:custGeom>
                <a:noFill/>
                <a:ln w="14288">
                  <a:solidFill>
                    <a:srgbClr val="FFFFFF"/>
                  </a:solidFill>
                </a:ln>
              </p:spPr>
            </p:sp>
          </p:grpSp>
          <p:sp>
            <p:nvSpPr>
              <p:cNvPr id="77" name="TextBox 77"/>
              <p:cNvSpPr txBox="1"/>
              <p:nvPr/>
            </p:nvSpPr>
            <p:spPr>
              <a:xfrm>
                <a:off x="5606987" y="2372678"/>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覆盖员工全生命周期</a:t>
                </a:r>
              </a:p>
            </p:txBody>
          </p:sp>
          <p:sp>
            <p:nvSpPr>
              <p:cNvPr id="78" name="Rectangle 78"/>
              <p:cNvSpPr/>
              <p:nvPr/>
            </p:nvSpPr>
            <p:spPr>
              <a:xfrm>
                <a:off x="2590800" y="2609850"/>
                <a:ext cx="7029450" cy="438150"/>
              </a:xfrm>
              <a:prstGeom prst="roundRect">
                <a:avLst>
                  <a:gd name="adj" fmla="val 13043"/>
                </a:avLst>
              </a:prstGeom>
              <a:solidFill>
                <a:srgbClr val="F6F9FE"/>
              </a:solidFill>
              <a:ln w="9525">
                <a:solidFill>
                  <a:srgbClr val="C9DDF5"/>
                </a:solidFill>
              </a:ln>
            </p:spPr>
          </p:sp>
          <p:sp>
            <p:nvSpPr>
              <p:cNvPr id="79" name="Rectangle 79"/>
              <p:cNvSpPr/>
              <p:nvPr/>
            </p:nvSpPr>
            <p:spPr>
              <a:xfrm>
                <a:off x="2819400" y="2724150"/>
                <a:ext cx="971550" cy="228600"/>
              </a:xfrm>
              <a:prstGeom prst="roundRect">
                <a:avLst>
                  <a:gd name="adj" fmla="val 12500"/>
                </a:avLst>
              </a:prstGeom>
              <a:solidFill>
                <a:srgbClr val="FFFFFF"/>
              </a:solidFill>
              <a:ln w="9525">
                <a:solidFill>
                  <a:srgbClr val="C9DDF5"/>
                </a:solidFill>
              </a:ln>
            </p:spPr>
          </p:sp>
          <p:sp>
            <p:nvSpPr>
              <p:cNvPr id="80" name="TextBox 80"/>
              <p:cNvSpPr txBox="1"/>
              <p:nvPr/>
            </p:nvSpPr>
            <p:spPr>
              <a:xfrm>
                <a:off x="2980103" y="2792968"/>
                <a:ext cx="650144"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Offer管理​</a:t>
                </a:r>
              </a:p>
            </p:txBody>
          </p:sp>
          <p:sp>
            <p:nvSpPr>
              <p:cNvPr id="81" name="Line 81"/>
              <p:cNvSpPr/>
              <p:nvPr/>
            </p:nvSpPr>
            <p:spPr>
              <a:xfrm>
                <a:off x="3848100" y="2838450"/>
                <a:ext cx="228600" cy="1"/>
              </a:xfrm>
              <a:prstGeom prst="line">
                <a:avLst/>
              </a:prstGeom>
              <a:noFill/>
              <a:ln w="23812">
                <a:solidFill>
                  <a:srgbClr val="F5927E"/>
                </a:solidFill>
                <a:tailEnd type="triangle" w="lg" len="lg"/>
              </a:ln>
            </p:spPr>
          </p:sp>
          <p:sp>
            <p:nvSpPr>
              <p:cNvPr id="82" name="Rectangle 82"/>
              <p:cNvSpPr/>
              <p:nvPr/>
            </p:nvSpPr>
            <p:spPr>
              <a:xfrm>
                <a:off x="4133850" y="2724150"/>
                <a:ext cx="971550" cy="228600"/>
              </a:xfrm>
              <a:prstGeom prst="roundRect">
                <a:avLst>
                  <a:gd name="adj" fmla="val 12500"/>
                </a:avLst>
              </a:prstGeom>
              <a:solidFill>
                <a:srgbClr val="FFFFFF"/>
              </a:solidFill>
              <a:ln w="9525">
                <a:solidFill>
                  <a:srgbClr val="C9DDF5"/>
                </a:solidFill>
              </a:ln>
            </p:spPr>
          </p:sp>
          <p:sp>
            <p:nvSpPr>
              <p:cNvPr id="83" name="TextBox 83"/>
              <p:cNvSpPr txBox="1"/>
              <p:nvPr/>
            </p:nvSpPr>
            <p:spPr>
              <a:xfrm>
                <a:off x="4383316" y="279296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极速入职</a:t>
                </a:r>
              </a:p>
            </p:txBody>
          </p:sp>
          <p:sp>
            <p:nvSpPr>
              <p:cNvPr id="84" name="Line 84"/>
              <p:cNvSpPr/>
              <p:nvPr/>
            </p:nvSpPr>
            <p:spPr>
              <a:xfrm>
                <a:off x="5162550" y="2838450"/>
                <a:ext cx="228600" cy="1"/>
              </a:xfrm>
              <a:prstGeom prst="line">
                <a:avLst/>
              </a:prstGeom>
              <a:noFill/>
              <a:ln w="23812">
                <a:solidFill>
                  <a:srgbClr val="F5927E"/>
                </a:solidFill>
                <a:tailEnd type="triangle" w="lg" len="lg"/>
              </a:ln>
            </p:spPr>
          </p:sp>
          <p:sp>
            <p:nvSpPr>
              <p:cNvPr id="85" name="Rectangle 85"/>
              <p:cNvSpPr/>
              <p:nvPr/>
            </p:nvSpPr>
            <p:spPr>
              <a:xfrm>
                <a:off x="5448300" y="2724150"/>
                <a:ext cx="971550" cy="228600"/>
              </a:xfrm>
              <a:prstGeom prst="roundRect">
                <a:avLst>
                  <a:gd name="adj" fmla="val 12500"/>
                </a:avLst>
              </a:prstGeom>
              <a:solidFill>
                <a:srgbClr val="FFFFFF"/>
              </a:solidFill>
              <a:ln w="9525">
                <a:solidFill>
                  <a:srgbClr val="C9DDF5"/>
                </a:solidFill>
              </a:ln>
            </p:spPr>
          </p:sp>
          <p:sp>
            <p:nvSpPr>
              <p:cNvPr id="86" name="TextBox 86"/>
              <p:cNvSpPr txBox="1"/>
              <p:nvPr/>
            </p:nvSpPr>
            <p:spPr>
              <a:xfrm>
                <a:off x="5639880" y="2792968"/>
                <a:ext cx="58839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试用期融入</a:t>
                </a:r>
              </a:p>
            </p:txBody>
          </p:sp>
          <p:sp>
            <p:nvSpPr>
              <p:cNvPr id="87" name="Line 87"/>
              <p:cNvSpPr/>
              <p:nvPr/>
            </p:nvSpPr>
            <p:spPr>
              <a:xfrm>
                <a:off x="6477000" y="2838450"/>
                <a:ext cx="228600" cy="1"/>
              </a:xfrm>
              <a:prstGeom prst="line">
                <a:avLst/>
              </a:prstGeom>
              <a:noFill/>
              <a:ln w="23812">
                <a:solidFill>
                  <a:srgbClr val="F5927E"/>
                </a:solidFill>
                <a:tailEnd type="triangle" w="lg" len="lg"/>
              </a:ln>
            </p:spPr>
          </p:sp>
          <p:sp>
            <p:nvSpPr>
              <p:cNvPr id="88" name="Rectangle 88"/>
              <p:cNvSpPr/>
              <p:nvPr/>
            </p:nvSpPr>
            <p:spPr>
              <a:xfrm>
                <a:off x="6762750" y="2724150"/>
                <a:ext cx="971550" cy="228600"/>
              </a:xfrm>
              <a:prstGeom prst="roundRect">
                <a:avLst>
                  <a:gd name="adj" fmla="val 12500"/>
                </a:avLst>
              </a:prstGeom>
              <a:solidFill>
                <a:srgbClr val="FFFFFF"/>
              </a:solidFill>
              <a:ln w="9525">
                <a:solidFill>
                  <a:srgbClr val="C9DDF5"/>
                </a:solidFill>
              </a:ln>
            </p:spPr>
          </p:sp>
          <p:sp>
            <p:nvSpPr>
              <p:cNvPr id="89" name="TextBox 89"/>
              <p:cNvSpPr txBox="1"/>
              <p:nvPr/>
            </p:nvSpPr>
            <p:spPr>
              <a:xfrm>
                <a:off x="6948541" y="2792968"/>
                <a:ext cx="59996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调动/晋升​</a:t>
                </a:r>
              </a:p>
            </p:txBody>
          </p:sp>
          <p:sp>
            <p:nvSpPr>
              <p:cNvPr id="90" name="Line 90"/>
              <p:cNvSpPr/>
              <p:nvPr/>
            </p:nvSpPr>
            <p:spPr>
              <a:xfrm>
                <a:off x="7791450" y="2838450"/>
                <a:ext cx="228600" cy="1"/>
              </a:xfrm>
              <a:prstGeom prst="line">
                <a:avLst/>
              </a:prstGeom>
              <a:noFill/>
              <a:ln w="23812">
                <a:solidFill>
                  <a:srgbClr val="F5927E"/>
                </a:solidFill>
                <a:tailEnd type="triangle" w="lg" len="lg"/>
              </a:ln>
            </p:spPr>
          </p:sp>
          <p:sp>
            <p:nvSpPr>
              <p:cNvPr id="91" name="Rectangle 91"/>
              <p:cNvSpPr/>
              <p:nvPr/>
            </p:nvSpPr>
            <p:spPr>
              <a:xfrm>
                <a:off x="8077200" y="2724150"/>
                <a:ext cx="971550" cy="228600"/>
              </a:xfrm>
              <a:prstGeom prst="roundRect">
                <a:avLst>
                  <a:gd name="adj" fmla="val 12500"/>
                </a:avLst>
              </a:prstGeom>
              <a:solidFill>
                <a:srgbClr val="FFFFFF"/>
              </a:solidFill>
              <a:ln w="9525">
                <a:solidFill>
                  <a:srgbClr val="C9DDF5"/>
                </a:solidFill>
              </a:ln>
            </p:spPr>
          </p:sp>
          <p:sp>
            <p:nvSpPr>
              <p:cNvPr id="92" name="TextBox 92"/>
              <p:cNvSpPr txBox="1"/>
              <p:nvPr/>
            </p:nvSpPr>
            <p:spPr>
              <a:xfrm>
                <a:off x="8262991" y="2792968"/>
                <a:ext cx="59996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离职/退休​</a:t>
                </a:r>
              </a:p>
            </p:txBody>
          </p:sp>
        </p:grpSp>
        <p:grpSp>
          <p:nvGrpSpPr>
            <p:cNvPr id="107" name="blk-plan"/>
            <p:cNvGrpSpPr/>
            <p:nvPr/>
          </p:nvGrpSpPr>
          <p:grpSpPr>
            <a:xfrm>
              <a:off x="2590800" y="3276600"/>
              <a:ext cx="3028950" cy="723900"/>
              <a:chOff x="2590800" y="3276600"/>
              <a:chExt cx="3028950" cy="723900"/>
            </a:xfrm>
          </p:grpSpPr>
          <p:sp>
            <p:nvSpPr>
              <p:cNvPr id="94" name="Rectangle 94"/>
              <p:cNvSpPr/>
              <p:nvPr/>
            </p:nvSpPr>
            <p:spPr>
              <a:xfrm>
                <a:off x="3009900" y="3276600"/>
                <a:ext cx="2190750" cy="285750"/>
              </a:xfrm>
              <a:prstGeom prst="roundRect">
                <a:avLst>
                  <a:gd name="adj" fmla="val 50000"/>
                </a:avLst>
              </a:prstGeom>
              <a:gradFill>
                <a:gsLst>
                  <a:gs pos="0">
                    <a:srgbClr val="FF5B3A"/>
                  </a:gs>
                  <a:gs pos="100000">
                    <a:srgbClr val="E94B2B"/>
                  </a:gs>
                </a:gsLst>
                <a:lin ang="0" scaled="1"/>
              </a:gradFill>
              <a:ln>
                <a:noFill/>
              </a:ln>
            </p:spPr>
          </p:sp>
          <p:grpSp>
            <p:nvGrpSpPr>
              <p:cNvPr id="98" name="Group 98"/>
              <p:cNvGrpSpPr/>
              <p:nvPr/>
            </p:nvGrpSpPr>
            <p:grpSpPr>
              <a:xfrm>
                <a:off x="3171825" y="3355181"/>
                <a:ext cx="114300" cy="128588"/>
                <a:chOff x="3171825" y="3355181"/>
                <a:chExt cx="114300" cy="128588"/>
              </a:xfrm>
            </p:grpSpPr>
            <p:sp>
              <p:nvSpPr>
                <p:cNvPr id="95" name="Freeform 95"/>
                <p:cNvSpPr/>
                <p:nvPr/>
              </p:nvSpPr>
              <p:spPr>
                <a:xfrm>
                  <a:off x="3171825" y="3355181"/>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FFFFFF"/>
                  </a:solidFill>
                </a:ln>
              </p:spPr>
            </p:sp>
            <p:sp>
              <p:nvSpPr>
                <p:cNvPr id="96" name="Freeform 96"/>
                <p:cNvSpPr/>
                <p:nvPr/>
              </p:nvSpPr>
              <p:spPr>
                <a:xfrm>
                  <a:off x="3171825" y="3376612"/>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sp>
              <p:nvSpPr>
                <p:cNvPr id="97" name="Freeform 97"/>
                <p:cNvSpPr/>
                <p:nvPr/>
              </p:nvSpPr>
              <p:spPr>
                <a:xfrm>
                  <a:off x="3171825" y="3419475"/>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FFFFFF"/>
                  </a:solidFill>
                </a:ln>
              </p:spPr>
            </p:sp>
          </p:grpSp>
          <p:sp>
            <p:nvSpPr>
              <p:cNvPr id="99" name="TextBox 99"/>
              <p:cNvSpPr txBox="1"/>
              <p:nvPr/>
            </p:nvSpPr>
            <p:spPr>
              <a:xfrm>
                <a:off x="3818763" y="336327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落地人力规划</a:t>
                </a:r>
              </a:p>
            </p:txBody>
          </p:sp>
          <p:sp>
            <p:nvSpPr>
              <p:cNvPr id="100" name="Rectangle 100"/>
              <p:cNvSpPr/>
              <p:nvPr/>
            </p:nvSpPr>
            <p:spPr>
              <a:xfrm>
                <a:off x="2590800" y="3600450"/>
                <a:ext cx="3028950" cy="400050"/>
              </a:xfrm>
              <a:prstGeom prst="roundRect">
                <a:avLst>
                  <a:gd name="adj" fmla="val 14286"/>
                </a:avLst>
              </a:prstGeom>
              <a:solidFill>
                <a:srgbClr val="F6F9FE"/>
              </a:solidFill>
              <a:ln w="9525">
                <a:solidFill>
                  <a:srgbClr val="C9DDF5"/>
                </a:solidFill>
              </a:ln>
            </p:spPr>
          </p:sp>
          <p:sp>
            <p:nvSpPr>
              <p:cNvPr id="101" name="Rectangle 101"/>
              <p:cNvSpPr/>
              <p:nvPr/>
            </p:nvSpPr>
            <p:spPr>
              <a:xfrm>
                <a:off x="2762250" y="3695700"/>
                <a:ext cx="762000" cy="209550"/>
              </a:xfrm>
              <a:prstGeom prst="roundRect">
                <a:avLst>
                  <a:gd name="adj" fmla="val 13636"/>
                </a:avLst>
              </a:prstGeom>
              <a:solidFill>
                <a:srgbClr val="FFFFFF"/>
              </a:solidFill>
              <a:ln w="9525">
                <a:solidFill>
                  <a:srgbClr val="C9DDF5"/>
                </a:solidFill>
              </a:ln>
            </p:spPr>
          </p:sp>
          <p:sp>
            <p:nvSpPr>
              <p:cNvPr id="102" name="TextBox 102"/>
              <p:cNvSpPr txBox="1"/>
              <p:nvPr/>
            </p:nvSpPr>
            <p:spPr>
              <a:xfrm>
                <a:off x="2917711" y="375904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组织架构</a:t>
                </a:r>
              </a:p>
            </p:txBody>
          </p:sp>
          <p:sp>
            <p:nvSpPr>
              <p:cNvPr id="103" name="Rectangle 103"/>
              <p:cNvSpPr/>
              <p:nvPr/>
            </p:nvSpPr>
            <p:spPr>
              <a:xfrm>
                <a:off x="3676650" y="3695700"/>
                <a:ext cx="762000" cy="209550"/>
              </a:xfrm>
              <a:prstGeom prst="roundRect">
                <a:avLst>
                  <a:gd name="adj" fmla="val 13636"/>
                </a:avLst>
              </a:prstGeom>
              <a:solidFill>
                <a:srgbClr val="FFFFFF"/>
              </a:solidFill>
              <a:ln w="9525">
                <a:solidFill>
                  <a:srgbClr val="C9DDF5"/>
                </a:solidFill>
              </a:ln>
            </p:spPr>
          </p:sp>
          <p:sp>
            <p:nvSpPr>
              <p:cNvPr id="104" name="TextBox 104"/>
              <p:cNvSpPr txBox="1"/>
              <p:nvPr/>
            </p:nvSpPr>
            <p:spPr>
              <a:xfrm>
                <a:off x="3832111" y="375904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控制管理</a:t>
                </a:r>
              </a:p>
            </p:txBody>
          </p:sp>
          <p:sp>
            <p:nvSpPr>
              <p:cNvPr id="105" name="Rectangle 105"/>
              <p:cNvSpPr/>
              <p:nvPr/>
            </p:nvSpPr>
            <p:spPr>
              <a:xfrm>
                <a:off x="4591050" y="3695700"/>
                <a:ext cx="819150" cy="209550"/>
              </a:xfrm>
              <a:prstGeom prst="roundRect">
                <a:avLst>
                  <a:gd name="adj" fmla="val 13636"/>
                </a:avLst>
              </a:prstGeom>
              <a:solidFill>
                <a:srgbClr val="FFFFFF"/>
              </a:solidFill>
              <a:ln w="9525">
                <a:solidFill>
                  <a:srgbClr val="C9DDF5"/>
                </a:solidFill>
              </a:ln>
            </p:spPr>
          </p:sp>
          <p:sp>
            <p:nvSpPr>
              <p:cNvPr id="106" name="TextBox 106"/>
              <p:cNvSpPr txBox="1"/>
              <p:nvPr/>
            </p:nvSpPr>
            <p:spPr>
              <a:xfrm>
                <a:off x="4719892" y="3759041"/>
                <a:ext cx="561467"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岗职务体系</a:t>
                </a:r>
              </a:p>
            </p:txBody>
          </p:sp>
        </p:grpSp>
        <p:grpSp>
          <p:nvGrpSpPr>
            <p:cNvPr id="121" name="blk-archive"/>
            <p:cNvGrpSpPr/>
            <p:nvPr/>
          </p:nvGrpSpPr>
          <p:grpSpPr>
            <a:xfrm>
              <a:off x="6591300" y="3276600"/>
              <a:ext cx="3028950" cy="723900"/>
              <a:chOff x="6591300" y="3276600"/>
              <a:chExt cx="3028950" cy="723900"/>
            </a:xfrm>
          </p:grpSpPr>
          <p:sp>
            <p:nvSpPr>
              <p:cNvPr id="108" name="Rectangle 108"/>
              <p:cNvSpPr/>
              <p:nvPr/>
            </p:nvSpPr>
            <p:spPr>
              <a:xfrm>
                <a:off x="6896100" y="3276600"/>
                <a:ext cx="2190750" cy="285750"/>
              </a:xfrm>
              <a:prstGeom prst="roundRect">
                <a:avLst>
                  <a:gd name="adj" fmla="val 50000"/>
                </a:avLst>
              </a:prstGeom>
              <a:gradFill>
                <a:gsLst>
                  <a:gs pos="0">
                    <a:srgbClr val="FF5B3A"/>
                  </a:gs>
                  <a:gs pos="100000">
                    <a:srgbClr val="E94B2B"/>
                  </a:gs>
                </a:gsLst>
                <a:lin ang="0" scaled="1"/>
              </a:gradFill>
              <a:ln>
                <a:noFill/>
              </a:ln>
            </p:spPr>
          </p:sp>
          <p:grpSp>
            <p:nvGrpSpPr>
              <p:cNvPr id="114" name="Group 114"/>
              <p:cNvGrpSpPr/>
              <p:nvPr/>
            </p:nvGrpSpPr>
            <p:grpSpPr>
              <a:xfrm>
                <a:off x="7065169" y="3355181"/>
                <a:ext cx="100012" cy="128588"/>
                <a:chOff x="7065169" y="3355181"/>
                <a:chExt cx="100012" cy="128588"/>
              </a:xfrm>
            </p:grpSpPr>
            <p:sp>
              <p:nvSpPr>
                <p:cNvPr id="109" name="Freeform 109"/>
                <p:cNvSpPr/>
                <p:nvPr/>
              </p:nvSpPr>
              <p:spPr>
                <a:xfrm>
                  <a:off x="7129462" y="33551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FFFFFF"/>
                  </a:solidFill>
                </a:ln>
              </p:spPr>
            </p:sp>
            <p:sp>
              <p:nvSpPr>
                <p:cNvPr id="110" name="Freeform 110"/>
                <p:cNvSpPr/>
                <p:nvPr/>
              </p:nvSpPr>
              <p:spPr>
                <a:xfrm>
                  <a:off x="7065169" y="33551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FFFFFF"/>
                  </a:solidFill>
                </a:ln>
              </p:spPr>
            </p:sp>
            <p:sp>
              <p:nvSpPr>
                <p:cNvPr id="111" name="Freeform 111"/>
                <p:cNvSpPr/>
                <p:nvPr/>
              </p:nvSpPr>
              <p:spPr>
                <a:xfrm>
                  <a:off x="7093744" y="3398044"/>
                  <a:ext cx="9525" cy="9525"/>
                </a:xfrm>
                <a:custGeom>
                  <a:avLst/>
                  <a:gdLst/>
                  <a:ahLst/>
                  <a:cxnLst/>
                  <a:rect l="l" t="t" r="r" b="b"/>
                  <a:pathLst>
                    <a:path w="9525" h="9525">
                      <a:moveTo>
                        <a:pt x="0" y="0"/>
                      </a:moveTo>
                      <a:lnTo>
                        <a:pt x="7144" y="0"/>
                      </a:lnTo>
                    </a:path>
                  </a:pathLst>
                </a:custGeom>
                <a:noFill/>
                <a:ln w="14288">
                  <a:solidFill>
                    <a:srgbClr val="FFFFFF"/>
                  </a:solidFill>
                </a:ln>
              </p:spPr>
            </p:sp>
            <p:sp>
              <p:nvSpPr>
                <p:cNvPr id="112" name="Freeform 112"/>
                <p:cNvSpPr/>
                <p:nvPr/>
              </p:nvSpPr>
              <p:spPr>
                <a:xfrm>
                  <a:off x="7093744" y="3426619"/>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113" name="Freeform 113"/>
                <p:cNvSpPr/>
                <p:nvPr/>
              </p:nvSpPr>
              <p:spPr>
                <a:xfrm>
                  <a:off x="7093744" y="3455194"/>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115" name="TextBox 115"/>
              <p:cNvSpPr txBox="1"/>
              <p:nvPr/>
            </p:nvSpPr>
            <p:spPr>
              <a:xfrm>
                <a:off x="7704963" y="336327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全面档案管理</a:t>
                </a:r>
              </a:p>
            </p:txBody>
          </p:sp>
          <p:sp>
            <p:nvSpPr>
              <p:cNvPr id="116" name="Rectangle 116"/>
              <p:cNvSpPr/>
              <p:nvPr/>
            </p:nvSpPr>
            <p:spPr>
              <a:xfrm>
                <a:off x="6591300" y="3600450"/>
                <a:ext cx="3028950" cy="400050"/>
              </a:xfrm>
              <a:prstGeom prst="roundRect">
                <a:avLst>
                  <a:gd name="adj" fmla="val 14286"/>
                </a:avLst>
              </a:prstGeom>
              <a:solidFill>
                <a:srgbClr val="F6F9FE"/>
              </a:solidFill>
              <a:ln w="9525">
                <a:solidFill>
                  <a:srgbClr val="C9DDF5"/>
                </a:solidFill>
              </a:ln>
            </p:spPr>
          </p:sp>
          <p:sp>
            <p:nvSpPr>
              <p:cNvPr id="117" name="Rectangle 117"/>
              <p:cNvSpPr/>
              <p:nvPr/>
            </p:nvSpPr>
            <p:spPr>
              <a:xfrm>
                <a:off x="6953250" y="3695700"/>
                <a:ext cx="952500" cy="209550"/>
              </a:xfrm>
              <a:prstGeom prst="roundRect">
                <a:avLst>
                  <a:gd name="adj" fmla="val 13636"/>
                </a:avLst>
              </a:prstGeom>
              <a:solidFill>
                <a:srgbClr val="FFFFFF"/>
              </a:solidFill>
              <a:ln w="9525">
                <a:solidFill>
                  <a:srgbClr val="C9DDF5"/>
                </a:solidFill>
              </a:ln>
            </p:spPr>
          </p:sp>
          <p:sp>
            <p:nvSpPr>
              <p:cNvPr id="118" name="TextBox 118"/>
              <p:cNvSpPr txBox="1"/>
              <p:nvPr/>
            </p:nvSpPr>
            <p:spPr>
              <a:xfrm>
                <a:off x="7093572" y="3759041"/>
                <a:ext cx="671855"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员工全景档案</a:t>
                </a:r>
              </a:p>
            </p:txBody>
          </p:sp>
          <p:sp>
            <p:nvSpPr>
              <p:cNvPr id="119" name="Rectangle 119"/>
              <p:cNvSpPr/>
              <p:nvPr/>
            </p:nvSpPr>
            <p:spPr>
              <a:xfrm>
                <a:off x="8153400" y="3695700"/>
                <a:ext cx="952500" cy="209550"/>
              </a:xfrm>
              <a:prstGeom prst="roundRect">
                <a:avLst>
                  <a:gd name="adj" fmla="val 13636"/>
                </a:avLst>
              </a:prstGeom>
              <a:solidFill>
                <a:srgbClr val="FFFFFF"/>
              </a:solidFill>
              <a:ln w="9525">
                <a:solidFill>
                  <a:srgbClr val="C9DDF5"/>
                </a:solidFill>
              </a:ln>
            </p:spPr>
          </p:sp>
          <p:sp>
            <p:nvSpPr>
              <p:cNvPr id="120" name="TextBox 120"/>
              <p:cNvSpPr txBox="1"/>
              <p:nvPr/>
            </p:nvSpPr>
            <p:spPr>
              <a:xfrm>
                <a:off x="8293722" y="3759041"/>
                <a:ext cx="671855"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合同协议管理</a:t>
                </a:r>
              </a:p>
            </p:txBody>
          </p:sp>
        </p:grpSp>
      </p:grpSp>
      <p:grpSp>
        <p:nvGrpSpPr>
          <p:cNvPr id="141" name="platform-arc"/>
          <p:cNvGrpSpPr/>
          <p:nvPr/>
        </p:nvGrpSpPr>
        <p:grpSpPr>
          <a:xfrm>
            <a:off x="0" y="4972050"/>
            <a:ext cx="12192000" cy="1885950"/>
            <a:chOff x="0" y="4972050"/>
            <a:chExt cx="12192000" cy="1885950"/>
          </a:xfrm>
        </p:grpSpPr>
        <p:sp>
          <p:nvSpPr>
            <p:cNvPr id="123" name="Freeform 123"/>
            <p:cNvSpPr/>
            <p:nvPr/>
          </p:nvSpPr>
          <p:spPr>
            <a:xfrm>
              <a:off x="0" y="4972050"/>
              <a:ext cx="12192000" cy="1885950"/>
            </a:xfrm>
            <a:custGeom>
              <a:avLst/>
              <a:gdLst/>
              <a:ahLst/>
              <a:cxnLst/>
              <a:rect l="l" t="t" r="r" b="b"/>
              <a:pathLst>
                <a:path w="12192000" h="1885950">
                  <a:moveTo>
                    <a:pt x="0" y="1885950"/>
                  </a:moveTo>
                  <a:lnTo>
                    <a:pt x="0" y="1562100"/>
                  </a:lnTo>
                  <a:cubicBezTo>
                    <a:pt x="4064000" y="0"/>
                    <a:pt x="8128000" y="0"/>
                    <a:pt x="12192000" y="1562100"/>
                  </a:cubicBezTo>
                  <a:lnTo>
                    <a:pt x="12192000" y="1885950"/>
                  </a:lnTo>
                  <a:close/>
                </a:path>
              </a:pathLst>
            </a:custGeom>
            <a:solidFill>
              <a:srgbClr val="F5C8BF"/>
            </a:solidFill>
            <a:ln>
              <a:noFill/>
            </a:ln>
          </p:spPr>
        </p:sp>
        <p:sp>
          <p:nvSpPr>
            <p:cNvPr id="124" name="Freeform 124"/>
            <p:cNvSpPr/>
            <p:nvPr/>
          </p:nvSpPr>
          <p:spPr>
            <a:xfrm>
              <a:off x="0" y="5143500"/>
              <a:ext cx="12192000" cy="1714500"/>
            </a:xfrm>
            <a:custGeom>
              <a:avLst/>
              <a:gdLst/>
              <a:ahLst/>
              <a:cxnLst/>
              <a:rect l="l" t="t" r="r" b="b"/>
              <a:pathLst>
                <a:path w="12192000" h="1714500">
                  <a:moveTo>
                    <a:pt x="0" y="1714500"/>
                  </a:moveTo>
                  <a:lnTo>
                    <a:pt x="0" y="1524000"/>
                  </a:lnTo>
                  <a:cubicBezTo>
                    <a:pt x="4064000" y="0"/>
                    <a:pt x="8128000" y="0"/>
                    <a:pt x="12192000" y="1524000"/>
                  </a:cubicBezTo>
                  <a:lnTo>
                    <a:pt x="12192000" y="1714500"/>
                  </a:lnTo>
                  <a:close/>
                </a:path>
              </a:pathLst>
            </a:custGeom>
            <a:gradFill>
              <a:gsLst>
                <a:gs pos="0">
                  <a:srgbClr val="EAF2FD"/>
                </a:gs>
                <a:gs pos="100000">
                  <a:srgbClr val="CBDEF7"/>
                </a:gs>
              </a:gsLst>
              <a:lin ang="5400000" scaled="1"/>
            </a:gradFill>
            <a:ln>
              <a:noFill/>
            </a:ln>
          </p:spPr>
        </p:sp>
        <p:sp>
          <p:nvSpPr>
            <p:cNvPr id="125" name="Rectangle 125"/>
            <p:cNvSpPr/>
            <p:nvPr/>
          </p:nvSpPr>
          <p:spPr>
            <a:xfrm>
              <a:off x="5219700" y="5200650"/>
              <a:ext cx="1752600" cy="323850"/>
            </a:xfrm>
            <a:prstGeom prst="roundRect">
              <a:avLst>
                <a:gd name="adj" fmla="val 50000"/>
              </a:avLst>
            </a:prstGeom>
            <a:gradFill>
              <a:gsLst>
                <a:gs pos="0">
                  <a:srgbClr val="FF5B3A"/>
                </a:gs>
                <a:gs pos="100000">
                  <a:srgbClr val="E94B2B"/>
                </a:gs>
              </a:gsLst>
              <a:lin ang="0" scaled="1"/>
            </a:gradFill>
            <a:ln>
              <a:noFill/>
            </a:ln>
          </p:spPr>
        </p:sp>
        <p:sp>
          <p:nvSpPr>
            <p:cNvPr id="126" name="TextBox 126"/>
            <p:cNvSpPr txBox="1"/>
            <p:nvPr/>
          </p:nvSpPr>
          <p:spPr>
            <a:xfrm>
              <a:off x="5637962" y="529828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北森鲁班平台</a:t>
              </a:r>
            </a:p>
          </p:txBody>
        </p:sp>
        <p:sp>
          <p:nvSpPr>
            <p:cNvPr id="127" name="Ellipse 127"/>
            <p:cNvSpPr/>
            <p:nvPr/>
          </p:nvSpPr>
          <p:spPr>
            <a:xfrm>
              <a:off x="1185862" y="5986462"/>
              <a:ext cx="66675" cy="66675"/>
            </a:xfrm>
            <a:prstGeom prst="ellipse">
              <a:avLst/>
            </a:prstGeom>
            <a:solidFill>
              <a:srgbClr val="E94B2B"/>
            </a:solidFill>
            <a:ln>
              <a:noFill/>
            </a:ln>
          </p:spPr>
        </p:sp>
        <p:sp>
          <p:nvSpPr>
            <p:cNvPr id="128" name="TextBox 128"/>
            <p:cNvSpPr txBox="1"/>
            <p:nvPr/>
          </p:nvSpPr>
          <p:spPr>
            <a:xfrm>
              <a:off x="961352" y="6185297"/>
              <a:ext cx="515696" cy="183356"/>
            </a:xfrm>
            <a:prstGeom prst="rect">
              <a:avLst/>
            </a:prstGeom>
            <a:noFill/>
            <a:ln>
              <a:noFill/>
            </a:ln>
          </p:spPr>
          <p:txBody>
            <a:bodyPr wrap="none" lIns="0" tIns="0" rIns="0" bIns="0" anchor="t" anchorCtr="0">
              <a:spAutoFit/>
            </a:bodyPr>
            <a:lstStyle/>
            <a:p>
              <a:pPr algn="ctr"/>
              <a:r>
                <a:rPr lang="zh-CN" sz="940" dirty="0">
                  <a:solidFill>
                    <a:srgbClr val="C83B1E"/>
                  </a:solidFill>
                  <a:latin typeface="+mn-lt"/>
                  <a:ea typeface="+mn-ea"/>
                  <a:cs typeface="+mn-cs"/>
                </a:rPr>
                <a:t>集团管控</a:t>
              </a:r>
            </a:p>
          </p:txBody>
        </p:sp>
        <p:sp>
          <p:nvSpPr>
            <p:cNvPr id="129" name="Ellipse 129"/>
            <p:cNvSpPr/>
            <p:nvPr/>
          </p:nvSpPr>
          <p:spPr>
            <a:xfrm>
              <a:off x="2843212" y="6205538"/>
              <a:ext cx="66675" cy="66675"/>
            </a:xfrm>
            <a:prstGeom prst="ellipse">
              <a:avLst/>
            </a:prstGeom>
            <a:solidFill>
              <a:srgbClr val="E94B2B"/>
            </a:solidFill>
            <a:ln>
              <a:noFill/>
            </a:ln>
          </p:spPr>
        </p:sp>
        <p:sp>
          <p:nvSpPr>
            <p:cNvPr id="130" name="TextBox 130"/>
            <p:cNvSpPr txBox="1"/>
            <p:nvPr/>
          </p:nvSpPr>
          <p:spPr>
            <a:xfrm>
              <a:off x="2618702" y="6404372"/>
              <a:ext cx="515696" cy="183356"/>
            </a:xfrm>
            <a:prstGeom prst="rect">
              <a:avLst/>
            </a:prstGeom>
            <a:noFill/>
            <a:ln>
              <a:noFill/>
            </a:ln>
          </p:spPr>
          <p:txBody>
            <a:bodyPr wrap="none" lIns="0" tIns="0" rIns="0" bIns="0" anchor="t" anchorCtr="0">
              <a:spAutoFit/>
            </a:bodyPr>
            <a:lstStyle/>
            <a:p>
              <a:pPr algn="ctr"/>
              <a:r>
                <a:rPr lang="zh-CN" sz="940" dirty="0">
                  <a:solidFill>
                    <a:srgbClr val="C83B1E"/>
                  </a:solidFill>
                  <a:latin typeface="+mn-lt"/>
                  <a:ea typeface="+mn-ea"/>
                  <a:cs typeface="+mn-cs"/>
                </a:rPr>
                <a:t>权限体系</a:t>
              </a:r>
            </a:p>
          </p:txBody>
        </p:sp>
        <p:sp>
          <p:nvSpPr>
            <p:cNvPr id="131" name="Ellipse 131"/>
            <p:cNvSpPr/>
            <p:nvPr/>
          </p:nvSpPr>
          <p:spPr>
            <a:xfrm>
              <a:off x="4500562" y="6386512"/>
              <a:ext cx="66675" cy="66675"/>
            </a:xfrm>
            <a:prstGeom prst="ellipse">
              <a:avLst/>
            </a:prstGeom>
            <a:solidFill>
              <a:srgbClr val="E94B2B"/>
            </a:solidFill>
            <a:ln>
              <a:noFill/>
            </a:ln>
          </p:spPr>
        </p:sp>
        <p:sp>
          <p:nvSpPr>
            <p:cNvPr id="132" name="TextBox 132"/>
            <p:cNvSpPr txBox="1"/>
            <p:nvPr/>
          </p:nvSpPr>
          <p:spPr>
            <a:xfrm>
              <a:off x="4339323" y="6585347"/>
              <a:ext cx="389153" cy="183356"/>
            </a:xfrm>
            <a:prstGeom prst="rect">
              <a:avLst/>
            </a:prstGeom>
            <a:noFill/>
            <a:ln>
              <a:noFill/>
            </a:ln>
          </p:spPr>
          <p:txBody>
            <a:bodyPr wrap="none" lIns="0" tIns="0" rIns="0" bIns="0" anchor="t" anchorCtr="0">
              <a:spAutoFit/>
            </a:bodyPr>
            <a:lstStyle/>
            <a:p>
              <a:pPr algn="ctr"/>
              <a:r>
                <a:rPr lang="zh-CN" sz="940" dirty="0">
                  <a:solidFill>
                    <a:srgbClr val="C83B1E"/>
                  </a:solidFill>
                  <a:latin typeface="+mn-lt"/>
                  <a:ea typeface="+mn-ea"/>
                  <a:cs typeface="+mn-cs"/>
                </a:rPr>
                <a:t>元数据</a:t>
              </a:r>
            </a:p>
          </p:txBody>
        </p:sp>
        <p:sp>
          <p:nvSpPr>
            <p:cNvPr id="133" name="Ellipse 133"/>
            <p:cNvSpPr/>
            <p:nvPr/>
          </p:nvSpPr>
          <p:spPr>
            <a:xfrm>
              <a:off x="6062662" y="6443662"/>
              <a:ext cx="66675" cy="66675"/>
            </a:xfrm>
            <a:prstGeom prst="ellipse">
              <a:avLst/>
            </a:prstGeom>
            <a:solidFill>
              <a:srgbClr val="E94B2B"/>
            </a:solidFill>
            <a:ln>
              <a:noFill/>
            </a:ln>
          </p:spPr>
        </p:sp>
        <p:sp>
          <p:nvSpPr>
            <p:cNvPr id="134" name="TextBox 134"/>
            <p:cNvSpPr txBox="1"/>
            <p:nvPr/>
          </p:nvSpPr>
          <p:spPr>
            <a:xfrm>
              <a:off x="5838152" y="6642497"/>
              <a:ext cx="515696" cy="183356"/>
            </a:xfrm>
            <a:prstGeom prst="rect">
              <a:avLst/>
            </a:prstGeom>
            <a:noFill/>
            <a:ln>
              <a:noFill/>
            </a:ln>
          </p:spPr>
          <p:txBody>
            <a:bodyPr wrap="none" lIns="0" tIns="0" rIns="0" bIns="0" anchor="t" anchorCtr="0">
              <a:spAutoFit/>
            </a:bodyPr>
            <a:lstStyle/>
            <a:p>
              <a:pPr algn="ctr"/>
              <a:r>
                <a:rPr lang="zh-CN" sz="940" dirty="0">
                  <a:solidFill>
                    <a:srgbClr val="C83B1E"/>
                  </a:solidFill>
                  <a:latin typeface="+mn-lt"/>
                  <a:ea typeface="+mn-ea"/>
                  <a:cs typeface="+mn-cs"/>
                </a:rPr>
                <a:t>流程引擎</a:t>
              </a:r>
            </a:p>
          </p:txBody>
        </p:sp>
        <p:sp>
          <p:nvSpPr>
            <p:cNvPr id="135" name="Ellipse 135"/>
            <p:cNvSpPr/>
            <p:nvPr/>
          </p:nvSpPr>
          <p:spPr>
            <a:xfrm>
              <a:off x="7643812" y="6386512"/>
              <a:ext cx="66675" cy="66675"/>
            </a:xfrm>
            <a:prstGeom prst="ellipse">
              <a:avLst/>
            </a:prstGeom>
            <a:solidFill>
              <a:srgbClr val="E94B2B"/>
            </a:solidFill>
            <a:ln>
              <a:noFill/>
            </a:ln>
          </p:spPr>
        </p:sp>
        <p:sp>
          <p:nvSpPr>
            <p:cNvPr id="136" name="TextBox 136"/>
            <p:cNvSpPr txBox="1"/>
            <p:nvPr/>
          </p:nvSpPr>
          <p:spPr>
            <a:xfrm>
              <a:off x="7445088" y="6585347"/>
              <a:ext cx="464124" cy="183356"/>
            </a:xfrm>
            <a:prstGeom prst="rect">
              <a:avLst/>
            </a:prstGeom>
            <a:noFill/>
            <a:ln>
              <a:noFill/>
            </a:ln>
          </p:spPr>
          <p:txBody>
            <a:bodyPr wrap="none" lIns="0" tIns="0" rIns="0" bIns="0" anchor="t" anchorCtr="0">
              <a:spAutoFit/>
            </a:bodyPr>
            <a:lstStyle/>
            <a:p>
              <a:pPr algn="ctr"/>
              <a:r>
                <a:rPr lang="en-US" sz="940" dirty="0">
                  <a:solidFill>
                    <a:srgbClr val="C83B1E"/>
                  </a:solidFill>
                  <a:latin typeface="+mn-lt"/>
                  <a:ea typeface="+mn-ea"/>
                  <a:cs typeface="+mn-cs"/>
                </a:rPr>
                <a:t>AI &amp; BI​</a:t>
              </a:r>
            </a:p>
          </p:txBody>
        </p:sp>
        <p:sp>
          <p:nvSpPr>
            <p:cNvPr id="137" name="Ellipse 137"/>
            <p:cNvSpPr/>
            <p:nvPr/>
          </p:nvSpPr>
          <p:spPr>
            <a:xfrm>
              <a:off x="9282112" y="6205538"/>
              <a:ext cx="66675" cy="66675"/>
            </a:xfrm>
            <a:prstGeom prst="ellipse">
              <a:avLst/>
            </a:prstGeom>
            <a:solidFill>
              <a:srgbClr val="E94B2B"/>
            </a:solidFill>
            <a:ln>
              <a:noFill/>
            </a:ln>
          </p:spPr>
        </p:sp>
        <p:sp>
          <p:nvSpPr>
            <p:cNvPr id="138" name="TextBox 138"/>
            <p:cNvSpPr txBox="1"/>
            <p:nvPr/>
          </p:nvSpPr>
          <p:spPr>
            <a:xfrm>
              <a:off x="9057602" y="6404372"/>
              <a:ext cx="515696" cy="183356"/>
            </a:xfrm>
            <a:prstGeom prst="rect">
              <a:avLst/>
            </a:prstGeom>
            <a:noFill/>
            <a:ln>
              <a:noFill/>
            </a:ln>
          </p:spPr>
          <p:txBody>
            <a:bodyPr wrap="none" lIns="0" tIns="0" rIns="0" bIns="0" anchor="t" anchorCtr="0">
              <a:spAutoFit/>
            </a:bodyPr>
            <a:lstStyle/>
            <a:p>
              <a:pPr algn="ctr"/>
              <a:r>
                <a:rPr lang="zh-CN" sz="940" dirty="0">
                  <a:solidFill>
                    <a:srgbClr val="C83B1E"/>
                  </a:solidFill>
                  <a:latin typeface="+mn-lt"/>
                  <a:ea typeface="+mn-ea"/>
                  <a:cs typeface="+mn-cs"/>
                </a:rPr>
                <a:t>集成中心</a:t>
              </a:r>
            </a:p>
          </p:txBody>
        </p:sp>
        <p:sp>
          <p:nvSpPr>
            <p:cNvPr id="139" name="Ellipse 139"/>
            <p:cNvSpPr/>
            <p:nvPr/>
          </p:nvSpPr>
          <p:spPr>
            <a:xfrm>
              <a:off x="10939462" y="5986462"/>
              <a:ext cx="66675" cy="66675"/>
            </a:xfrm>
            <a:prstGeom prst="ellipse">
              <a:avLst/>
            </a:prstGeom>
            <a:solidFill>
              <a:srgbClr val="E94B2B"/>
            </a:solidFill>
            <a:ln>
              <a:noFill/>
            </a:ln>
          </p:spPr>
        </p:sp>
        <p:sp>
          <p:nvSpPr>
            <p:cNvPr id="140" name="TextBox 140"/>
            <p:cNvSpPr txBox="1"/>
            <p:nvPr/>
          </p:nvSpPr>
          <p:spPr>
            <a:xfrm>
              <a:off x="10714952" y="6185297"/>
              <a:ext cx="515696" cy="183356"/>
            </a:xfrm>
            <a:prstGeom prst="rect">
              <a:avLst/>
            </a:prstGeom>
            <a:noFill/>
            <a:ln>
              <a:noFill/>
            </a:ln>
          </p:spPr>
          <p:txBody>
            <a:bodyPr wrap="none" lIns="0" tIns="0" rIns="0" bIns="0" anchor="t" anchorCtr="0">
              <a:spAutoFit/>
            </a:bodyPr>
            <a:lstStyle/>
            <a:p>
              <a:pPr algn="ctr"/>
              <a:r>
                <a:rPr lang="zh-CN" sz="940" dirty="0">
                  <a:solidFill>
                    <a:srgbClr val="C83B1E"/>
                  </a:solidFill>
                  <a:latin typeface="+mn-lt"/>
                  <a:ea typeface="+mn-ea"/>
                  <a:cs typeface="+mn-cs"/>
                </a:rPr>
                <a:t>集团管控</a:t>
              </a:r>
            </a:p>
          </p:txBody>
        </p:sp>
      </p:gr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arc-left-dec"/>
          <p:cNvSpPr/>
          <p:nvPr/>
        </p:nvSpPr>
        <p:spPr>
          <a:xfrm>
            <a:off x="190500" y="1047750"/>
            <a:ext cx="1238250" cy="5143500"/>
          </a:xfrm>
          <a:custGeom>
            <a:avLst/>
            <a:gdLst/>
            <a:ahLst/>
            <a:cxnLst/>
            <a:rect l="l" t="t" r="r" b="b"/>
            <a:pathLst>
              <a:path w="1238250" h="5143500">
                <a:moveTo>
                  <a:pt x="1238250" y="0"/>
                </a:moveTo>
                <a:cubicBezTo>
                  <a:pt x="0" y="1428750"/>
                  <a:pt x="0" y="3714750"/>
                  <a:pt x="1238250" y="5143500"/>
                </a:cubicBezTo>
              </a:path>
            </a:pathLst>
          </a:custGeom>
          <a:noFill/>
          <a:ln w="19050">
            <a:solidFill>
              <a:srgbClr val="F2AC9E"/>
            </a:solidFill>
          </a:ln>
        </p:spPr>
      </p:sp>
      <p:sp>
        <p:nvSpPr>
          <p:cNvPr id="3" name="arc-right-dec"/>
          <p:cNvSpPr/>
          <p:nvPr/>
        </p:nvSpPr>
        <p:spPr>
          <a:xfrm>
            <a:off x="10763250" y="1047750"/>
            <a:ext cx="1238250" cy="5143500"/>
          </a:xfrm>
          <a:custGeom>
            <a:avLst/>
            <a:gdLst/>
            <a:ahLst/>
            <a:cxnLst/>
            <a:rect l="l" t="t" r="r" b="b"/>
            <a:pathLst>
              <a:path w="1238250" h="5143500">
                <a:moveTo>
                  <a:pt x="0" y="0"/>
                </a:moveTo>
                <a:cubicBezTo>
                  <a:pt x="1238250" y="1428750"/>
                  <a:pt x="1238250" y="3714750"/>
                  <a:pt x="0" y="5143500"/>
                </a:cubicBezTo>
              </a:path>
            </a:pathLst>
          </a:custGeom>
          <a:noFill/>
          <a:ln w="19050">
            <a:solidFill>
              <a:srgbClr val="F2AC9E"/>
            </a:solidFill>
          </a:ln>
        </p:spPr>
      </p:sp>
      <p:sp>
        <p:nvSpPr>
          <p:cNvPr id="4" name="base-dec"/>
          <p:cNvSpPr/>
          <p:nvPr/>
        </p:nvSpPr>
        <p:spPr>
          <a:xfrm>
            <a:off x="1143000" y="6302375"/>
            <a:ext cx="9906000" cy="412750"/>
          </a:xfrm>
          <a:custGeom>
            <a:avLst/>
            <a:gdLst/>
            <a:ahLst/>
            <a:cxnLst/>
            <a:rect l="l" t="t" r="r" b="b"/>
            <a:pathLst>
              <a:path w="9906000" h="412750">
                <a:moveTo>
                  <a:pt x="0" y="412750"/>
                </a:moveTo>
                <a:cubicBezTo>
                  <a:pt x="3302000" y="0"/>
                  <a:pt x="6604000" y="0"/>
                  <a:pt x="9906000" y="412750"/>
                </a:cubicBezTo>
              </a:path>
            </a:pathLst>
          </a:custGeom>
          <a:noFill/>
          <a:ln w="19050">
            <a:solidFill>
              <a:srgbClr val="F2AC9E"/>
            </a:solidFill>
          </a:ln>
        </p:spPr>
      </p:sp>
      <p:grpSp>
        <p:nvGrpSpPr>
          <p:cNvPr id="9" name="page-header"/>
          <p:cNvGrpSpPr/>
          <p:nvPr/>
        </p:nvGrpSpPr>
        <p:grpSpPr>
          <a:xfrm>
            <a:off x="0" y="0"/>
            <a:ext cx="11811000" cy="561404"/>
            <a:chOff x="0" y="0"/>
            <a:chExt cx="11811000" cy="561404"/>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6" name="TextBox 6"/>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03</a:t>
              </a:r>
            </a:p>
          </p:txBody>
        </p:sp>
        <p:sp>
          <p:nvSpPr>
            <p:cNvPr id="7" name="TextBox 7"/>
            <p:cNvSpPr txBox="1"/>
            <p:nvPr/>
          </p:nvSpPr>
          <p:spPr>
            <a:xfrm>
              <a:off x="904494" y="180023"/>
              <a:ext cx="307086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实现精益化设计管理目标</a:t>
              </a:r>
            </a:p>
          </p:txBody>
        </p:sp>
        <p:sp>
          <p:nvSpPr>
            <p:cNvPr id="8" name="Line 8"/>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22" name="left-axis"/>
          <p:cNvGrpSpPr/>
          <p:nvPr/>
        </p:nvGrpSpPr>
        <p:grpSpPr>
          <a:xfrm>
            <a:off x="552450" y="857250"/>
            <a:ext cx="723900" cy="4524375"/>
            <a:chOff x="552450" y="857250"/>
            <a:chExt cx="723900" cy="4524375"/>
          </a:xfrm>
        </p:grpSpPr>
        <p:sp>
          <p:nvSpPr>
            <p:cNvPr id="10" name="Rectangle 10"/>
            <p:cNvSpPr/>
            <p:nvPr/>
          </p:nvSpPr>
          <p:spPr>
            <a:xfrm>
              <a:off x="552450" y="857250"/>
              <a:ext cx="723900" cy="381000"/>
            </a:xfrm>
            <a:prstGeom prst="roundRect">
              <a:avLst>
                <a:gd name="adj" fmla="val 20000"/>
              </a:avLst>
            </a:prstGeom>
            <a:solidFill>
              <a:srgbClr val="FFFFFF"/>
            </a:solidFill>
            <a:ln w="11430">
              <a:solidFill>
                <a:srgbClr val="F5927E"/>
              </a:solidFill>
            </a:ln>
          </p:spPr>
        </p:sp>
        <p:sp>
          <p:nvSpPr>
            <p:cNvPr id="11" name="TextBox 11"/>
            <p:cNvSpPr txBox="1"/>
            <p:nvPr/>
          </p:nvSpPr>
          <p:spPr>
            <a:xfrm>
              <a:off x="745808" y="916543"/>
              <a:ext cx="337185" cy="302419"/>
            </a:xfrm>
            <a:prstGeom prst="rect">
              <a:avLst/>
            </a:prstGeom>
            <a:noFill/>
            <a:ln>
              <a:noFill/>
            </a:ln>
          </p:spPr>
          <p:txBody>
            <a:bodyPr wrap="none" lIns="0" tIns="0" rIns="0" bIns="0" anchor="t" anchorCtr="0">
              <a:spAutoFit/>
            </a:bodyPr>
            <a:lstStyle/>
            <a:p>
              <a:pPr algn="ctr">
                <a:lnSpc>
                  <a:spcPts val="1050"/>
                </a:lnSpc>
              </a:pPr>
              <a:r>
                <a:rPr lang="zh-CN" sz="860" dirty="0">
                  <a:solidFill>
                    <a:srgbClr val="C83B1E"/>
                  </a:solidFill>
                  <a:latin typeface="+mn-lt"/>
                  <a:ea typeface="+mn-ea"/>
                  <a:cs typeface="+mn-cs"/>
                </a:rPr>
                <a:t>全参与</a:t>
              </a:r>
              <a:br/>
              <a:r>
                <a:rPr lang="zh-CN" sz="860" dirty="0">
                  <a:solidFill>
                    <a:srgbClr val="C83B1E"/>
                  </a:solidFill>
                  <a:latin typeface="+mn-lt"/>
                  <a:ea typeface="+mn-ea"/>
                  <a:cs typeface="+mn-cs"/>
                </a:rPr>
                <a:t>方应用</a:t>
              </a:r>
            </a:p>
          </p:txBody>
        </p:sp>
        <p:sp>
          <p:nvSpPr>
            <p:cNvPr id="12" name="TextBox 12"/>
            <p:cNvSpPr txBox="1"/>
            <p:nvPr/>
          </p:nvSpPr>
          <p:spPr>
            <a:xfrm>
              <a:off x="777519" y="1990249"/>
              <a:ext cx="273761"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集团</a:t>
              </a:r>
            </a:p>
          </p:txBody>
        </p:sp>
        <p:sp>
          <p:nvSpPr>
            <p:cNvPr id="13" name="Line 13"/>
            <p:cNvSpPr/>
            <p:nvPr/>
          </p:nvSpPr>
          <p:spPr>
            <a:xfrm>
              <a:off x="704850" y="217170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14" name="TextBox 14"/>
            <p:cNvSpPr txBox="1"/>
            <p:nvPr/>
          </p:nvSpPr>
          <p:spPr>
            <a:xfrm>
              <a:off x="711556" y="2790349"/>
              <a:ext cx="40568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子公司</a:t>
              </a:r>
            </a:p>
          </p:txBody>
        </p:sp>
        <p:sp>
          <p:nvSpPr>
            <p:cNvPr id="15" name="Line 15"/>
            <p:cNvSpPr/>
            <p:nvPr/>
          </p:nvSpPr>
          <p:spPr>
            <a:xfrm>
              <a:off x="704850" y="297180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16" name="TextBox 16"/>
            <p:cNvSpPr txBox="1"/>
            <p:nvPr/>
          </p:nvSpPr>
          <p:spPr>
            <a:xfrm>
              <a:off x="777519" y="3590449"/>
              <a:ext cx="273761"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项目</a:t>
              </a:r>
            </a:p>
          </p:txBody>
        </p:sp>
        <p:sp>
          <p:nvSpPr>
            <p:cNvPr id="17" name="Line 17"/>
            <p:cNvSpPr/>
            <p:nvPr/>
          </p:nvSpPr>
          <p:spPr>
            <a:xfrm>
              <a:off x="704850" y="377190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18" name="TextBox 18"/>
            <p:cNvSpPr txBox="1"/>
            <p:nvPr/>
          </p:nvSpPr>
          <p:spPr>
            <a:xfrm>
              <a:off x="645592" y="43905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设计供方</a:t>
              </a:r>
            </a:p>
          </p:txBody>
        </p:sp>
        <p:sp>
          <p:nvSpPr>
            <p:cNvPr id="19" name="Line 19"/>
            <p:cNvSpPr/>
            <p:nvPr/>
          </p:nvSpPr>
          <p:spPr>
            <a:xfrm>
              <a:off x="704850" y="457200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20" name="TextBox 20"/>
            <p:cNvSpPr txBox="1"/>
            <p:nvPr/>
          </p:nvSpPr>
          <p:spPr>
            <a:xfrm>
              <a:off x="645592" y="51906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授权用户</a:t>
              </a:r>
            </a:p>
          </p:txBody>
        </p:sp>
        <p:sp>
          <p:nvSpPr>
            <p:cNvPr id="21" name="Line 21"/>
            <p:cNvSpPr/>
            <p:nvPr/>
          </p:nvSpPr>
          <p:spPr>
            <a:xfrm>
              <a:off x="704850" y="5372100"/>
              <a:ext cx="419100" cy="9525"/>
            </a:xfrm>
            <a:custGeom>
              <a:avLst/>
              <a:gdLst/>
              <a:ahLst/>
              <a:cxnLst/>
              <a:rect l="l" t="t" r="r" b="b"/>
              <a:pathLst>
                <a:path w="419100" h="9525">
                  <a:moveTo>
                    <a:pt x="0" y="0"/>
                  </a:moveTo>
                  <a:lnTo>
                    <a:pt x="419100" y="0"/>
                  </a:lnTo>
                </a:path>
              </a:pathLst>
            </a:custGeom>
            <a:noFill/>
            <a:ln w="9525">
              <a:solidFill>
                <a:srgbClr val="F5927E"/>
              </a:solidFill>
            </a:ln>
          </p:spPr>
        </p:sp>
      </p:grpSp>
      <p:grpSp>
        <p:nvGrpSpPr>
          <p:cNvPr id="39" name="right-axis"/>
          <p:cNvGrpSpPr/>
          <p:nvPr/>
        </p:nvGrpSpPr>
        <p:grpSpPr>
          <a:xfrm>
            <a:off x="10915650" y="857250"/>
            <a:ext cx="723900" cy="4600575"/>
            <a:chOff x="10915650" y="857250"/>
            <a:chExt cx="723900" cy="4600575"/>
          </a:xfrm>
        </p:grpSpPr>
        <p:sp>
          <p:nvSpPr>
            <p:cNvPr id="23" name="Rectangle 23"/>
            <p:cNvSpPr/>
            <p:nvPr/>
          </p:nvSpPr>
          <p:spPr>
            <a:xfrm>
              <a:off x="10915650" y="857250"/>
              <a:ext cx="723900" cy="381000"/>
            </a:xfrm>
            <a:prstGeom prst="roundRect">
              <a:avLst>
                <a:gd name="adj" fmla="val 20000"/>
              </a:avLst>
            </a:prstGeom>
            <a:solidFill>
              <a:srgbClr val="FFFFFF"/>
            </a:solidFill>
            <a:ln w="11430">
              <a:solidFill>
                <a:srgbClr val="F5927E"/>
              </a:solidFill>
            </a:ln>
          </p:spPr>
        </p:sp>
        <p:sp>
          <p:nvSpPr>
            <p:cNvPr id="24" name="TextBox 24"/>
            <p:cNvSpPr txBox="1"/>
            <p:nvPr/>
          </p:nvSpPr>
          <p:spPr>
            <a:xfrm>
              <a:off x="11109008" y="916543"/>
              <a:ext cx="337185" cy="302419"/>
            </a:xfrm>
            <a:prstGeom prst="rect">
              <a:avLst/>
            </a:prstGeom>
            <a:noFill/>
            <a:ln>
              <a:noFill/>
            </a:ln>
          </p:spPr>
          <p:txBody>
            <a:bodyPr wrap="none" lIns="0" tIns="0" rIns="0" bIns="0" anchor="t" anchorCtr="0">
              <a:spAutoFit/>
            </a:bodyPr>
            <a:lstStyle/>
            <a:p>
              <a:pPr algn="ctr">
                <a:lnSpc>
                  <a:spcPts val="1050"/>
                </a:lnSpc>
              </a:pPr>
              <a:r>
                <a:rPr lang="zh-CN" sz="860" dirty="0">
                  <a:solidFill>
                    <a:srgbClr val="C83B1E"/>
                  </a:solidFill>
                  <a:latin typeface="+mn-lt"/>
                  <a:ea typeface="+mn-ea"/>
                  <a:cs typeface="+mn-cs"/>
                </a:rPr>
                <a:t>系统交</a:t>
              </a:r>
              <a:br/>
              <a:r>
                <a:rPr lang="zh-CN" sz="860" dirty="0">
                  <a:solidFill>
                    <a:srgbClr val="C83B1E"/>
                  </a:solidFill>
                  <a:latin typeface="+mn-lt"/>
                  <a:ea typeface="+mn-ea"/>
                  <a:cs typeface="+mn-cs"/>
                </a:rPr>
                <a:t>圈应用</a:t>
              </a:r>
            </a:p>
          </p:txBody>
        </p:sp>
        <p:sp>
          <p:nvSpPr>
            <p:cNvPr id="25" name="TextBox 25"/>
            <p:cNvSpPr txBox="1"/>
            <p:nvPr/>
          </p:nvSpPr>
          <p:spPr>
            <a:xfrm>
              <a:off x="11074756" y="1723549"/>
              <a:ext cx="40568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主数据</a:t>
              </a:r>
            </a:p>
          </p:txBody>
        </p:sp>
        <p:sp>
          <p:nvSpPr>
            <p:cNvPr id="26" name="Line 26"/>
            <p:cNvSpPr/>
            <p:nvPr/>
          </p:nvSpPr>
          <p:spPr>
            <a:xfrm>
              <a:off x="11068050" y="190500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27" name="TextBox 27"/>
            <p:cNvSpPr txBox="1"/>
            <p:nvPr/>
          </p:nvSpPr>
          <p:spPr>
            <a:xfrm>
              <a:off x="11157646" y="2314099"/>
              <a:ext cx="239908" cy="190690"/>
            </a:xfrm>
            <a:prstGeom prst="rect">
              <a:avLst/>
            </a:prstGeom>
            <a:noFill/>
            <a:ln>
              <a:noFill/>
            </a:ln>
          </p:spPr>
          <p:txBody>
            <a:bodyPr wrap="none" lIns="0" tIns="0" rIns="0" bIns="0" anchor="t" anchorCtr="0">
              <a:spAutoFit/>
            </a:bodyPr>
            <a:lstStyle/>
            <a:p>
              <a:pPr algn="ctr"/>
              <a:r>
                <a:rPr lang="en-US" sz="980" dirty="0">
                  <a:solidFill>
                    <a:srgbClr val="333333"/>
                  </a:solidFill>
                  <a:latin typeface="+mn-lt"/>
                  <a:ea typeface="+mn-ea"/>
                  <a:cs typeface="+mn-cs"/>
                </a:rPr>
                <a:t>DA​</a:t>
              </a:r>
            </a:p>
          </p:txBody>
        </p:sp>
        <p:sp>
          <p:nvSpPr>
            <p:cNvPr id="28" name="Line 28"/>
            <p:cNvSpPr/>
            <p:nvPr/>
          </p:nvSpPr>
          <p:spPr>
            <a:xfrm>
              <a:off x="11068050" y="249555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29" name="TextBox 29"/>
            <p:cNvSpPr txBox="1"/>
            <p:nvPr/>
          </p:nvSpPr>
          <p:spPr>
            <a:xfrm>
              <a:off x="11105373" y="2904649"/>
              <a:ext cx="344454" cy="190690"/>
            </a:xfrm>
            <a:prstGeom prst="rect">
              <a:avLst/>
            </a:prstGeom>
            <a:noFill/>
            <a:ln>
              <a:noFill/>
            </a:ln>
          </p:spPr>
          <p:txBody>
            <a:bodyPr wrap="none" lIns="0" tIns="0" rIns="0" bIns="0" anchor="t" anchorCtr="0">
              <a:spAutoFit/>
            </a:bodyPr>
            <a:lstStyle/>
            <a:p>
              <a:pPr algn="ctr"/>
              <a:r>
                <a:rPr lang="en-US" sz="980" dirty="0">
                  <a:solidFill>
                    <a:srgbClr val="333333"/>
                  </a:solidFill>
                  <a:latin typeface="+mn-lt"/>
                  <a:ea typeface="+mn-ea"/>
                  <a:cs typeface="+mn-cs"/>
                </a:rPr>
                <a:t>BPM​</a:t>
              </a:r>
            </a:p>
          </p:txBody>
        </p:sp>
        <p:sp>
          <p:nvSpPr>
            <p:cNvPr id="30" name="Line 30"/>
            <p:cNvSpPr/>
            <p:nvPr/>
          </p:nvSpPr>
          <p:spPr>
            <a:xfrm>
              <a:off x="11068050" y="308610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31" name="TextBox 31"/>
            <p:cNvSpPr txBox="1"/>
            <p:nvPr/>
          </p:nvSpPr>
          <p:spPr>
            <a:xfrm>
              <a:off x="11008792" y="349519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计划系统</a:t>
              </a:r>
            </a:p>
          </p:txBody>
        </p:sp>
        <p:sp>
          <p:nvSpPr>
            <p:cNvPr id="32" name="Line 32"/>
            <p:cNvSpPr/>
            <p:nvPr/>
          </p:nvSpPr>
          <p:spPr>
            <a:xfrm>
              <a:off x="11068050" y="367665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33" name="TextBox 33"/>
            <p:cNvSpPr txBox="1"/>
            <p:nvPr/>
          </p:nvSpPr>
          <p:spPr>
            <a:xfrm>
              <a:off x="11008792" y="40857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工程系统</a:t>
              </a:r>
            </a:p>
          </p:txBody>
        </p:sp>
        <p:sp>
          <p:nvSpPr>
            <p:cNvPr id="34" name="Line 34"/>
            <p:cNvSpPr/>
            <p:nvPr/>
          </p:nvSpPr>
          <p:spPr>
            <a:xfrm>
              <a:off x="11068050" y="426720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35" name="TextBox 35"/>
            <p:cNvSpPr txBox="1"/>
            <p:nvPr/>
          </p:nvSpPr>
          <p:spPr>
            <a:xfrm>
              <a:off x="11008792" y="467629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成本系统</a:t>
              </a:r>
            </a:p>
          </p:txBody>
        </p:sp>
        <p:sp>
          <p:nvSpPr>
            <p:cNvPr id="36" name="Line 36"/>
            <p:cNvSpPr/>
            <p:nvPr/>
          </p:nvSpPr>
          <p:spPr>
            <a:xfrm>
              <a:off x="11068050" y="4857750"/>
              <a:ext cx="419100" cy="9525"/>
            </a:xfrm>
            <a:custGeom>
              <a:avLst/>
              <a:gdLst/>
              <a:ahLst/>
              <a:cxnLst/>
              <a:rect l="l" t="t" r="r" b="b"/>
              <a:pathLst>
                <a:path w="419100" h="9525">
                  <a:moveTo>
                    <a:pt x="0" y="0"/>
                  </a:moveTo>
                  <a:lnTo>
                    <a:pt x="419100" y="0"/>
                  </a:lnTo>
                </a:path>
              </a:pathLst>
            </a:custGeom>
            <a:noFill/>
            <a:ln w="9525">
              <a:solidFill>
                <a:srgbClr val="F5927E"/>
              </a:solidFill>
            </a:ln>
          </p:spPr>
        </p:sp>
        <p:sp>
          <p:nvSpPr>
            <p:cNvPr id="37" name="TextBox 37"/>
            <p:cNvSpPr txBox="1"/>
            <p:nvPr/>
          </p:nvSpPr>
          <p:spPr>
            <a:xfrm>
              <a:off x="11008792" y="526684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招采系统</a:t>
              </a:r>
            </a:p>
          </p:txBody>
        </p:sp>
        <p:sp>
          <p:nvSpPr>
            <p:cNvPr id="38" name="Line 38"/>
            <p:cNvSpPr/>
            <p:nvPr/>
          </p:nvSpPr>
          <p:spPr>
            <a:xfrm>
              <a:off x="11068050" y="5448300"/>
              <a:ext cx="419100" cy="9525"/>
            </a:xfrm>
            <a:custGeom>
              <a:avLst/>
              <a:gdLst/>
              <a:ahLst/>
              <a:cxnLst/>
              <a:rect l="l" t="t" r="r" b="b"/>
              <a:pathLst>
                <a:path w="419100" h="9525">
                  <a:moveTo>
                    <a:pt x="0" y="0"/>
                  </a:moveTo>
                  <a:lnTo>
                    <a:pt x="419100" y="0"/>
                  </a:lnTo>
                </a:path>
              </a:pathLst>
            </a:custGeom>
            <a:noFill/>
            <a:ln w="9525">
              <a:solidFill>
                <a:srgbClr val="F5927E"/>
              </a:solidFill>
            </a:ln>
          </p:spPr>
        </p:sp>
      </p:grpSp>
      <p:grpSp>
        <p:nvGrpSpPr>
          <p:cNvPr id="52" name="layer-enterprise-app"/>
          <p:cNvGrpSpPr/>
          <p:nvPr/>
        </p:nvGrpSpPr>
        <p:grpSpPr>
          <a:xfrm>
            <a:off x="1714500" y="885349"/>
            <a:ext cx="8763000" cy="933926"/>
            <a:chOff x="1714500" y="885349"/>
            <a:chExt cx="8763000" cy="933926"/>
          </a:xfrm>
        </p:grpSpPr>
        <p:sp>
          <p:nvSpPr>
            <p:cNvPr id="40" name="TextBox 40"/>
            <p:cNvSpPr txBox="1"/>
            <p:nvPr/>
          </p:nvSpPr>
          <p:spPr>
            <a:xfrm>
              <a:off x="4244061" y="885349"/>
              <a:ext cx="3703879"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核心数据实时智能分析，建立企业数字决策中心、数字风控中心</a:t>
              </a:r>
            </a:p>
          </p:txBody>
        </p:sp>
        <p:sp>
          <p:nvSpPr>
            <p:cNvPr id="41" name="TextBox 41"/>
            <p:cNvSpPr txBox="1"/>
            <p:nvPr/>
          </p:nvSpPr>
          <p:spPr>
            <a:xfrm>
              <a:off x="5561076" y="1122998"/>
              <a:ext cx="1069848"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企业应用</a:t>
              </a:r>
            </a:p>
          </p:txBody>
        </p:sp>
        <p:sp>
          <p:nvSpPr>
            <p:cNvPr id="42" name="Freeform 42"/>
            <p:cNvSpPr/>
            <p:nvPr/>
          </p:nvSpPr>
          <p:spPr>
            <a:xfrm>
              <a:off x="1714500" y="1657350"/>
              <a:ext cx="8763000" cy="95250"/>
            </a:xfrm>
            <a:custGeom>
              <a:avLst/>
              <a:gdLst/>
              <a:ahLst/>
              <a:cxnLst/>
              <a:rect l="l" t="t" r="r" b="b"/>
              <a:pathLst>
                <a:path w="8763000" h="95250">
                  <a:moveTo>
                    <a:pt x="190500" y="0"/>
                  </a:moveTo>
                  <a:lnTo>
                    <a:pt x="8572500" y="0"/>
                  </a:lnTo>
                  <a:lnTo>
                    <a:pt x="8763000" y="95250"/>
                  </a:lnTo>
                  <a:lnTo>
                    <a:pt x="0" y="95250"/>
                  </a:lnTo>
                  <a:close/>
                </a:path>
              </a:pathLst>
            </a:custGeom>
            <a:gradFill>
              <a:gsLst>
                <a:gs pos="0">
                  <a:srgbClr val="DCEBFB"/>
                </a:gs>
                <a:gs pos="100000">
                  <a:srgbClr val="F6C2B7"/>
                </a:gs>
              </a:gsLst>
              <a:lin ang="5400000" scaled="1"/>
            </a:gradFill>
            <a:ln>
              <a:noFill/>
            </a:ln>
          </p:spPr>
        </p:sp>
        <p:sp>
          <p:nvSpPr>
            <p:cNvPr id="43" name="Rectangle 43"/>
            <p:cNvSpPr/>
            <p:nvPr/>
          </p:nvSpPr>
          <p:spPr>
            <a:xfrm>
              <a:off x="1714500" y="1752600"/>
              <a:ext cx="8763000" cy="66675"/>
            </a:xfrm>
            <a:prstGeom prst="rect">
              <a:avLst/>
            </a:prstGeom>
            <a:gradFill>
              <a:gsLst>
                <a:gs pos="0">
                  <a:srgbClr val="F5927E"/>
                </a:gs>
                <a:gs pos="50000">
                  <a:srgbClr val="E94B2B"/>
                </a:gs>
                <a:gs pos="100000">
                  <a:srgbClr val="F5927E"/>
                </a:gs>
              </a:gsLst>
              <a:lin ang="0" scaled="1"/>
            </a:gradFill>
            <a:ln>
              <a:noFill/>
            </a:ln>
          </p:spPr>
        </p:sp>
        <p:sp>
          <p:nvSpPr>
            <p:cNvPr id="44" name="Rectangle 44"/>
            <p:cNvSpPr/>
            <p:nvPr/>
          </p:nvSpPr>
          <p:spPr>
            <a:xfrm>
              <a:off x="1905000" y="1390650"/>
              <a:ext cx="666750" cy="228600"/>
            </a:xfrm>
            <a:prstGeom prst="roundRect">
              <a:avLst>
                <a:gd name="adj" fmla="val 16667"/>
              </a:avLst>
            </a:prstGeom>
            <a:gradFill>
              <a:gsLst>
                <a:gs pos="0">
                  <a:srgbClr val="FF5B3A"/>
                </a:gs>
                <a:gs pos="100000">
                  <a:srgbClr val="E94B2B"/>
                </a:gs>
              </a:gsLst>
              <a:lin ang="5400000" scaled="1"/>
            </a:gradFill>
            <a:ln>
              <a:noFill/>
            </a:ln>
          </p:spPr>
        </p:sp>
        <p:sp>
          <p:nvSpPr>
            <p:cNvPr id="45" name="TextBox 45"/>
            <p:cNvSpPr txBox="1"/>
            <p:nvPr/>
          </p:nvSpPr>
          <p:spPr>
            <a:xfrm>
              <a:off x="2002066" y="1459468"/>
              <a:ext cx="472618"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进度监测</a:t>
              </a:r>
            </a:p>
          </p:txBody>
        </p:sp>
        <p:sp>
          <p:nvSpPr>
            <p:cNvPr id="46" name="Rectangle 46"/>
            <p:cNvSpPr/>
            <p:nvPr/>
          </p:nvSpPr>
          <p:spPr>
            <a:xfrm>
              <a:off x="2724150" y="1390650"/>
              <a:ext cx="666750" cy="228600"/>
            </a:xfrm>
            <a:prstGeom prst="roundRect">
              <a:avLst>
                <a:gd name="adj" fmla="val 16667"/>
              </a:avLst>
            </a:prstGeom>
            <a:gradFill>
              <a:gsLst>
                <a:gs pos="0">
                  <a:srgbClr val="FF5B3A"/>
                </a:gs>
                <a:gs pos="100000">
                  <a:srgbClr val="E94B2B"/>
                </a:gs>
              </a:gsLst>
              <a:lin ang="5400000" scaled="1"/>
            </a:gradFill>
            <a:ln>
              <a:noFill/>
            </a:ln>
          </p:spPr>
        </p:sp>
        <p:sp>
          <p:nvSpPr>
            <p:cNvPr id="47" name="TextBox 47"/>
            <p:cNvSpPr txBox="1"/>
            <p:nvPr/>
          </p:nvSpPr>
          <p:spPr>
            <a:xfrm>
              <a:off x="2821216" y="1459468"/>
              <a:ext cx="472618"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质量监测</a:t>
              </a:r>
            </a:p>
          </p:txBody>
        </p:sp>
        <p:sp>
          <p:nvSpPr>
            <p:cNvPr id="48" name="Rectangle 48"/>
            <p:cNvSpPr/>
            <p:nvPr/>
          </p:nvSpPr>
          <p:spPr>
            <a:xfrm>
              <a:off x="8801100" y="1390650"/>
              <a:ext cx="666750" cy="228600"/>
            </a:xfrm>
            <a:prstGeom prst="roundRect">
              <a:avLst>
                <a:gd name="adj" fmla="val 16667"/>
              </a:avLst>
            </a:prstGeom>
            <a:gradFill>
              <a:gsLst>
                <a:gs pos="0">
                  <a:srgbClr val="FF5B3A"/>
                </a:gs>
                <a:gs pos="100000">
                  <a:srgbClr val="E94B2B"/>
                </a:gs>
              </a:gsLst>
              <a:lin ang="5400000" scaled="1"/>
            </a:gradFill>
            <a:ln>
              <a:noFill/>
            </a:ln>
          </p:spPr>
        </p:sp>
        <p:sp>
          <p:nvSpPr>
            <p:cNvPr id="49" name="TextBox 49"/>
            <p:cNvSpPr txBox="1"/>
            <p:nvPr/>
          </p:nvSpPr>
          <p:spPr>
            <a:xfrm>
              <a:off x="8898166" y="1459468"/>
              <a:ext cx="472618"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成果监测</a:t>
              </a:r>
            </a:p>
          </p:txBody>
        </p:sp>
        <p:sp>
          <p:nvSpPr>
            <p:cNvPr id="50" name="Rectangle 50"/>
            <p:cNvSpPr/>
            <p:nvPr/>
          </p:nvSpPr>
          <p:spPr>
            <a:xfrm>
              <a:off x="9620250" y="1390650"/>
              <a:ext cx="666750" cy="228600"/>
            </a:xfrm>
            <a:prstGeom prst="roundRect">
              <a:avLst>
                <a:gd name="adj" fmla="val 16667"/>
              </a:avLst>
            </a:prstGeom>
            <a:gradFill>
              <a:gsLst>
                <a:gs pos="0">
                  <a:srgbClr val="FF5B3A"/>
                </a:gs>
                <a:gs pos="100000">
                  <a:srgbClr val="E94B2B"/>
                </a:gs>
              </a:gsLst>
              <a:lin ang="5400000" scaled="1"/>
            </a:gradFill>
            <a:ln>
              <a:noFill/>
            </a:ln>
          </p:spPr>
        </p:sp>
        <p:sp>
          <p:nvSpPr>
            <p:cNvPr id="51" name="TextBox 51"/>
            <p:cNvSpPr txBox="1"/>
            <p:nvPr/>
          </p:nvSpPr>
          <p:spPr>
            <a:xfrm>
              <a:off x="9717316" y="1459468"/>
              <a:ext cx="472618"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质量监测</a:t>
              </a:r>
            </a:p>
          </p:txBody>
        </p:sp>
      </p:grpSp>
      <p:grpSp>
        <p:nvGrpSpPr>
          <p:cNvPr id="69" name="layer-enterprise-store"/>
          <p:cNvGrpSpPr/>
          <p:nvPr/>
        </p:nvGrpSpPr>
        <p:grpSpPr>
          <a:xfrm>
            <a:off x="1714500" y="1962150"/>
            <a:ext cx="8763000" cy="981075"/>
            <a:chOff x="1714500" y="1962150"/>
            <a:chExt cx="8763000" cy="981075"/>
          </a:xfrm>
        </p:grpSpPr>
        <p:sp>
          <p:nvSpPr>
            <p:cNvPr id="53" name="Line 53"/>
            <p:cNvSpPr/>
            <p:nvPr/>
          </p:nvSpPr>
          <p:spPr>
            <a:xfrm flipV="1">
              <a:off x="3810000" y="1981200"/>
              <a:ext cx="1" cy="266700"/>
            </a:xfrm>
            <a:prstGeom prst="line">
              <a:avLst/>
            </a:prstGeom>
            <a:noFill/>
            <a:ln w="47625">
              <a:solidFill>
                <a:srgbClr val="E94B2B"/>
              </a:solidFill>
              <a:tailEnd type="triangle" w="lg" len="lg"/>
            </a:ln>
          </p:spPr>
        </p:sp>
        <p:sp>
          <p:nvSpPr>
            <p:cNvPr id="54" name="Line 54"/>
            <p:cNvSpPr/>
            <p:nvPr/>
          </p:nvSpPr>
          <p:spPr>
            <a:xfrm>
              <a:off x="8382000" y="1962150"/>
              <a:ext cx="1" cy="266700"/>
            </a:xfrm>
            <a:prstGeom prst="line">
              <a:avLst/>
            </a:prstGeom>
            <a:noFill/>
            <a:ln w="47625">
              <a:solidFill>
                <a:srgbClr val="F5927E"/>
              </a:solidFill>
              <a:tailEnd type="triangle" w="lg" len="lg"/>
            </a:ln>
          </p:spPr>
        </p:sp>
        <p:sp>
          <p:nvSpPr>
            <p:cNvPr id="55" name="TextBox 55"/>
            <p:cNvSpPr txBox="1"/>
            <p:nvPr/>
          </p:nvSpPr>
          <p:spPr>
            <a:xfrm>
              <a:off x="5035626" y="2009299"/>
              <a:ext cx="2120748"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多项目数据沉淀，建立企业项目仓库</a:t>
              </a:r>
            </a:p>
          </p:txBody>
        </p:sp>
        <p:sp>
          <p:nvSpPr>
            <p:cNvPr id="56" name="TextBox 56"/>
            <p:cNvSpPr txBox="1"/>
            <p:nvPr/>
          </p:nvSpPr>
          <p:spPr>
            <a:xfrm>
              <a:off x="5561076" y="2246948"/>
              <a:ext cx="1069848"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企业厂库</a:t>
              </a:r>
            </a:p>
          </p:txBody>
        </p:sp>
        <p:sp>
          <p:nvSpPr>
            <p:cNvPr id="57" name="Freeform 57"/>
            <p:cNvSpPr/>
            <p:nvPr/>
          </p:nvSpPr>
          <p:spPr>
            <a:xfrm>
              <a:off x="1714500" y="2781300"/>
              <a:ext cx="8763000" cy="95250"/>
            </a:xfrm>
            <a:custGeom>
              <a:avLst/>
              <a:gdLst/>
              <a:ahLst/>
              <a:cxnLst/>
              <a:rect l="l" t="t" r="r" b="b"/>
              <a:pathLst>
                <a:path w="8763000" h="95250">
                  <a:moveTo>
                    <a:pt x="190500" y="0"/>
                  </a:moveTo>
                  <a:lnTo>
                    <a:pt x="8572500" y="0"/>
                  </a:lnTo>
                  <a:lnTo>
                    <a:pt x="8763000" y="95250"/>
                  </a:lnTo>
                  <a:lnTo>
                    <a:pt x="0" y="95250"/>
                  </a:lnTo>
                  <a:close/>
                </a:path>
              </a:pathLst>
            </a:custGeom>
            <a:gradFill>
              <a:gsLst>
                <a:gs pos="0">
                  <a:srgbClr val="DCEBFB"/>
                </a:gs>
                <a:gs pos="100000">
                  <a:srgbClr val="F6C2B7"/>
                </a:gs>
              </a:gsLst>
              <a:lin ang="5400000" scaled="1"/>
            </a:gradFill>
            <a:ln>
              <a:noFill/>
            </a:ln>
          </p:spPr>
        </p:sp>
        <p:sp>
          <p:nvSpPr>
            <p:cNvPr id="58" name="Rectangle 58"/>
            <p:cNvSpPr/>
            <p:nvPr/>
          </p:nvSpPr>
          <p:spPr>
            <a:xfrm>
              <a:off x="1714500" y="2876550"/>
              <a:ext cx="8763000" cy="66675"/>
            </a:xfrm>
            <a:prstGeom prst="rect">
              <a:avLst/>
            </a:prstGeom>
            <a:gradFill>
              <a:gsLst>
                <a:gs pos="0">
                  <a:srgbClr val="F5927E"/>
                </a:gs>
                <a:gs pos="50000">
                  <a:srgbClr val="E94B2B"/>
                </a:gs>
                <a:gs pos="100000">
                  <a:srgbClr val="F5927E"/>
                </a:gs>
              </a:gsLst>
              <a:lin ang="0" scaled="1"/>
            </a:gradFill>
            <a:ln>
              <a:noFill/>
            </a:ln>
          </p:spPr>
        </p:sp>
        <p:sp>
          <p:nvSpPr>
            <p:cNvPr id="59" name="Rectangle 59"/>
            <p:cNvSpPr/>
            <p:nvPr/>
          </p:nvSpPr>
          <p:spPr>
            <a:xfrm>
              <a:off x="1905000" y="2514600"/>
              <a:ext cx="781050" cy="228600"/>
            </a:xfrm>
            <a:prstGeom prst="roundRect">
              <a:avLst>
                <a:gd name="adj" fmla="val 16667"/>
              </a:avLst>
            </a:prstGeom>
            <a:gradFill>
              <a:gsLst>
                <a:gs pos="0">
                  <a:srgbClr val="FF5B3A"/>
                </a:gs>
                <a:gs pos="100000">
                  <a:srgbClr val="E94B2B"/>
                </a:gs>
              </a:gsLst>
              <a:lin ang="5400000" scaled="1"/>
            </a:gradFill>
            <a:ln>
              <a:noFill/>
            </a:ln>
          </p:spPr>
        </p:sp>
        <p:sp>
          <p:nvSpPr>
            <p:cNvPr id="60" name="TextBox 60"/>
            <p:cNvSpPr txBox="1"/>
            <p:nvPr/>
          </p:nvSpPr>
          <p:spPr>
            <a:xfrm>
              <a:off x="2001330" y="2583418"/>
              <a:ext cx="588391"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历史工程库</a:t>
              </a:r>
            </a:p>
          </p:txBody>
        </p:sp>
        <p:sp>
          <p:nvSpPr>
            <p:cNvPr id="61" name="Rectangle 61"/>
            <p:cNvSpPr/>
            <p:nvPr/>
          </p:nvSpPr>
          <p:spPr>
            <a:xfrm>
              <a:off x="2838450" y="2514600"/>
              <a:ext cx="781050" cy="228600"/>
            </a:xfrm>
            <a:prstGeom prst="roundRect">
              <a:avLst>
                <a:gd name="adj" fmla="val 16667"/>
              </a:avLst>
            </a:prstGeom>
            <a:gradFill>
              <a:gsLst>
                <a:gs pos="0">
                  <a:srgbClr val="FF5B3A"/>
                </a:gs>
                <a:gs pos="100000">
                  <a:srgbClr val="E94B2B"/>
                </a:gs>
              </a:gsLst>
              <a:lin ang="5400000" scaled="1"/>
            </a:gradFill>
            <a:ln>
              <a:noFill/>
            </a:ln>
          </p:spPr>
        </p:sp>
        <p:sp>
          <p:nvSpPr>
            <p:cNvPr id="62" name="TextBox 62"/>
            <p:cNvSpPr txBox="1"/>
            <p:nvPr/>
          </p:nvSpPr>
          <p:spPr>
            <a:xfrm>
              <a:off x="2934780" y="2583418"/>
              <a:ext cx="588391"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设计成果库</a:t>
              </a:r>
            </a:p>
          </p:txBody>
        </p:sp>
        <p:sp>
          <p:nvSpPr>
            <p:cNvPr id="63" name="Rectangle 63"/>
            <p:cNvSpPr/>
            <p:nvPr/>
          </p:nvSpPr>
          <p:spPr>
            <a:xfrm>
              <a:off x="7639050" y="2514600"/>
              <a:ext cx="781050" cy="228600"/>
            </a:xfrm>
            <a:prstGeom prst="roundRect">
              <a:avLst>
                <a:gd name="adj" fmla="val 16667"/>
              </a:avLst>
            </a:prstGeom>
            <a:gradFill>
              <a:gsLst>
                <a:gs pos="0">
                  <a:srgbClr val="FF5B3A"/>
                </a:gs>
                <a:gs pos="100000">
                  <a:srgbClr val="E94B2B"/>
                </a:gs>
              </a:gsLst>
              <a:lin ang="5400000" scaled="1"/>
            </a:gradFill>
            <a:ln>
              <a:noFill/>
            </a:ln>
          </p:spPr>
        </p:sp>
        <p:sp>
          <p:nvSpPr>
            <p:cNvPr id="64" name="TextBox 64"/>
            <p:cNvSpPr txBox="1"/>
            <p:nvPr/>
          </p:nvSpPr>
          <p:spPr>
            <a:xfrm>
              <a:off x="7735380" y="2583418"/>
              <a:ext cx="588391"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设计质量库</a:t>
              </a:r>
            </a:p>
          </p:txBody>
        </p:sp>
        <p:sp>
          <p:nvSpPr>
            <p:cNvPr id="65" name="Rectangle 65"/>
            <p:cNvSpPr/>
            <p:nvPr/>
          </p:nvSpPr>
          <p:spPr>
            <a:xfrm>
              <a:off x="8572500" y="2514600"/>
              <a:ext cx="781050" cy="228600"/>
            </a:xfrm>
            <a:prstGeom prst="roundRect">
              <a:avLst>
                <a:gd name="adj" fmla="val 16667"/>
              </a:avLst>
            </a:prstGeom>
            <a:gradFill>
              <a:gsLst>
                <a:gs pos="0">
                  <a:srgbClr val="FF5B3A"/>
                </a:gs>
                <a:gs pos="100000">
                  <a:srgbClr val="E94B2B"/>
                </a:gs>
              </a:gsLst>
              <a:lin ang="5400000" scaled="1"/>
            </a:gradFill>
            <a:ln>
              <a:noFill/>
            </a:ln>
          </p:spPr>
        </p:sp>
        <p:sp>
          <p:nvSpPr>
            <p:cNvPr id="66" name="TextBox 66"/>
            <p:cNvSpPr txBox="1"/>
            <p:nvPr/>
          </p:nvSpPr>
          <p:spPr>
            <a:xfrm>
              <a:off x="8668830" y="2583418"/>
              <a:ext cx="588391"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设计指标库</a:t>
              </a:r>
            </a:p>
          </p:txBody>
        </p:sp>
        <p:sp>
          <p:nvSpPr>
            <p:cNvPr id="67" name="Rectangle 67"/>
            <p:cNvSpPr/>
            <p:nvPr/>
          </p:nvSpPr>
          <p:spPr>
            <a:xfrm>
              <a:off x="9505950" y="2514600"/>
              <a:ext cx="781050" cy="228600"/>
            </a:xfrm>
            <a:prstGeom prst="roundRect">
              <a:avLst>
                <a:gd name="adj" fmla="val 16667"/>
              </a:avLst>
            </a:prstGeom>
            <a:gradFill>
              <a:gsLst>
                <a:gs pos="0">
                  <a:srgbClr val="FF5B3A"/>
                </a:gs>
                <a:gs pos="100000">
                  <a:srgbClr val="E94B2B"/>
                </a:gs>
              </a:gsLst>
              <a:lin ang="5400000" scaled="1"/>
            </a:gradFill>
            <a:ln>
              <a:noFill/>
            </a:ln>
          </p:spPr>
        </p:sp>
        <p:sp>
          <p:nvSpPr>
            <p:cNvPr id="68" name="TextBox 68"/>
            <p:cNvSpPr txBox="1"/>
            <p:nvPr/>
          </p:nvSpPr>
          <p:spPr>
            <a:xfrm>
              <a:off x="9602280" y="2583418"/>
              <a:ext cx="588391"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设计缺陷库</a:t>
              </a:r>
            </a:p>
          </p:txBody>
        </p:sp>
      </p:grpSp>
      <p:grpSp>
        <p:nvGrpSpPr>
          <p:cNvPr id="90" name="layer-project-app"/>
          <p:cNvGrpSpPr/>
          <p:nvPr/>
        </p:nvGrpSpPr>
        <p:grpSpPr>
          <a:xfrm>
            <a:off x="1714500" y="3086100"/>
            <a:ext cx="8763000" cy="981075"/>
            <a:chOff x="1714500" y="3086100"/>
            <a:chExt cx="8763000" cy="981075"/>
          </a:xfrm>
        </p:grpSpPr>
        <p:sp>
          <p:nvSpPr>
            <p:cNvPr id="70" name="Line 70"/>
            <p:cNvSpPr/>
            <p:nvPr/>
          </p:nvSpPr>
          <p:spPr>
            <a:xfrm flipV="1">
              <a:off x="3810000" y="3105150"/>
              <a:ext cx="1" cy="266700"/>
            </a:xfrm>
            <a:prstGeom prst="line">
              <a:avLst/>
            </a:prstGeom>
            <a:noFill/>
            <a:ln w="47625">
              <a:solidFill>
                <a:srgbClr val="E94B2B"/>
              </a:solidFill>
              <a:tailEnd type="triangle" w="lg" len="lg"/>
            </a:ln>
          </p:spPr>
        </p:sp>
        <p:sp>
          <p:nvSpPr>
            <p:cNvPr id="71" name="Line 71"/>
            <p:cNvSpPr/>
            <p:nvPr/>
          </p:nvSpPr>
          <p:spPr>
            <a:xfrm>
              <a:off x="8382000" y="3086100"/>
              <a:ext cx="1" cy="266700"/>
            </a:xfrm>
            <a:prstGeom prst="line">
              <a:avLst/>
            </a:prstGeom>
            <a:noFill/>
            <a:ln w="47625">
              <a:solidFill>
                <a:srgbClr val="F5927E"/>
              </a:solidFill>
              <a:tailEnd type="triangle" w="lg" len="lg"/>
            </a:ln>
          </p:spPr>
        </p:sp>
        <p:sp>
          <p:nvSpPr>
            <p:cNvPr id="72" name="TextBox 72"/>
            <p:cNvSpPr txBox="1"/>
            <p:nvPr/>
          </p:nvSpPr>
          <p:spPr>
            <a:xfrm>
              <a:off x="4837735" y="3133249"/>
              <a:ext cx="2516530"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项目全过程应用，协同办公、数据在线留痕</a:t>
              </a:r>
            </a:p>
          </p:txBody>
        </p:sp>
        <p:sp>
          <p:nvSpPr>
            <p:cNvPr id="73" name="TextBox 73"/>
            <p:cNvSpPr txBox="1"/>
            <p:nvPr/>
          </p:nvSpPr>
          <p:spPr>
            <a:xfrm>
              <a:off x="5561076" y="3370898"/>
              <a:ext cx="1069848"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项目应用</a:t>
              </a:r>
            </a:p>
          </p:txBody>
        </p:sp>
        <p:sp>
          <p:nvSpPr>
            <p:cNvPr id="74" name="Freeform 74"/>
            <p:cNvSpPr/>
            <p:nvPr/>
          </p:nvSpPr>
          <p:spPr>
            <a:xfrm>
              <a:off x="1714500" y="3905250"/>
              <a:ext cx="8763000" cy="95250"/>
            </a:xfrm>
            <a:custGeom>
              <a:avLst/>
              <a:gdLst/>
              <a:ahLst/>
              <a:cxnLst/>
              <a:rect l="l" t="t" r="r" b="b"/>
              <a:pathLst>
                <a:path w="8763000" h="95250">
                  <a:moveTo>
                    <a:pt x="190500" y="0"/>
                  </a:moveTo>
                  <a:lnTo>
                    <a:pt x="8572500" y="0"/>
                  </a:lnTo>
                  <a:lnTo>
                    <a:pt x="8763000" y="95250"/>
                  </a:lnTo>
                  <a:lnTo>
                    <a:pt x="0" y="95250"/>
                  </a:lnTo>
                  <a:close/>
                </a:path>
              </a:pathLst>
            </a:custGeom>
            <a:gradFill>
              <a:gsLst>
                <a:gs pos="0">
                  <a:srgbClr val="DCEBFB"/>
                </a:gs>
                <a:gs pos="100000">
                  <a:srgbClr val="F6C2B7"/>
                </a:gs>
              </a:gsLst>
              <a:lin ang="5400000" scaled="1"/>
            </a:gradFill>
            <a:ln>
              <a:noFill/>
            </a:ln>
          </p:spPr>
        </p:sp>
        <p:sp>
          <p:nvSpPr>
            <p:cNvPr id="75" name="Rectangle 75"/>
            <p:cNvSpPr/>
            <p:nvPr/>
          </p:nvSpPr>
          <p:spPr>
            <a:xfrm>
              <a:off x="1714500" y="4000500"/>
              <a:ext cx="8763000" cy="66675"/>
            </a:xfrm>
            <a:prstGeom prst="rect">
              <a:avLst/>
            </a:prstGeom>
            <a:gradFill>
              <a:gsLst>
                <a:gs pos="0">
                  <a:srgbClr val="F5927E"/>
                </a:gs>
                <a:gs pos="50000">
                  <a:srgbClr val="E94B2B"/>
                </a:gs>
                <a:gs pos="100000">
                  <a:srgbClr val="F5927E"/>
                </a:gs>
              </a:gsLst>
              <a:lin ang="0" scaled="1"/>
            </a:gradFill>
            <a:ln>
              <a:noFill/>
            </a:ln>
          </p:spPr>
        </p:sp>
        <p:sp>
          <p:nvSpPr>
            <p:cNvPr id="76" name="Rectangle 76"/>
            <p:cNvSpPr/>
            <p:nvPr/>
          </p:nvSpPr>
          <p:spPr>
            <a:xfrm>
              <a:off x="1905000" y="3638550"/>
              <a:ext cx="666750" cy="228600"/>
            </a:xfrm>
            <a:prstGeom prst="roundRect">
              <a:avLst>
                <a:gd name="adj" fmla="val 16667"/>
              </a:avLst>
            </a:prstGeom>
            <a:gradFill>
              <a:gsLst>
                <a:gs pos="0">
                  <a:srgbClr val="FF5B3A"/>
                </a:gs>
                <a:gs pos="100000">
                  <a:srgbClr val="E94B2B"/>
                </a:gs>
              </a:gsLst>
              <a:lin ang="5400000" scaled="1"/>
            </a:gradFill>
            <a:ln>
              <a:noFill/>
            </a:ln>
          </p:spPr>
        </p:sp>
        <p:sp>
          <p:nvSpPr>
            <p:cNvPr id="77" name="TextBox 77"/>
            <p:cNvSpPr txBox="1"/>
            <p:nvPr/>
          </p:nvSpPr>
          <p:spPr>
            <a:xfrm>
              <a:off x="2002066" y="3707368"/>
              <a:ext cx="472618"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项目管理</a:t>
              </a:r>
            </a:p>
          </p:txBody>
        </p:sp>
        <p:sp>
          <p:nvSpPr>
            <p:cNvPr id="78" name="Rectangle 78"/>
            <p:cNvSpPr/>
            <p:nvPr/>
          </p:nvSpPr>
          <p:spPr>
            <a:xfrm>
              <a:off x="2724150" y="3638550"/>
              <a:ext cx="895350" cy="228600"/>
            </a:xfrm>
            <a:prstGeom prst="roundRect">
              <a:avLst>
                <a:gd name="adj" fmla="val 16667"/>
              </a:avLst>
            </a:prstGeom>
            <a:gradFill>
              <a:gsLst>
                <a:gs pos="0">
                  <a:srgbClr val="FF5B3A"/>
                </a:gs>
                <a:gs pos="100000">
                  <a:srgbClr val="E94B2B"/>
                </a:gs>
              </a:gsLst>
              <a:lin ang="5400000" scaled="1"/>
            </a:gradFill>
            <a:ln>
              <a:noFill/>
            </a:ln>
          </p:spPr>
        </p:sp>
        <p:sp>
          <p:nvSpPr>
            <p:cNvPr id="79" name="TextBox 79"/>
            <p:cNvSpPr txBox="1"/>
            <p:nvPr/>
          </p:nvSpPr>
          <p:spPr>
            <a:xfrm>
              <a:off x="2819743" y="3707368"/>
              <a:ext cx="704164"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设计计划管理</a:t>
              </a:r>
            </a:p>
          </p:txBody>
        </p:sp>
        <p:sp>
          <p:nvSpPr>
            <p:cNvPr id="80" name="Rectangle 80"/>
            <p:cNvSpPr/>
            <p:nvPr/>
          </p:nvSpPr>
          <p:spPr>
            <a:xfrm>
              <a:off x="3771900" y="3638550"/>
              <a:ext cx="895350" cy="228600"/>
            </a:xfrm>
            <a:prstGeom prst="roundRect">
              <a:avLst>
                <a:gd name="adj" fmla="val 16667"/>
              </a:avLst>
            </a:prstGeom>
            <a:gradFill>
              <a:gsLst>
                <a:gs pos="0">
                  <a:srgbClr val="FF5B3A"/>
                </a:gs>
                <a:gs pos="100000">
                  <a:srgbClr val="E94B2B"/>
                </a:gs>
              </a:gsLst>
              <a:lin ang="5400000" scaled="1"/>
            </a:gradFill>
            <a:ln>
              <a:noFill/>
            </a:ln>
          </p:spPr>
        </p:sp>
        <p:sp>
          <p:nvSpPr>
            <p:cNvPr id="81" name="TextBox 81"/>
            <p:cNvSpPr txBox="1"/>
            <p:nvPr/>
          </p:nvSpPr>
          <p:spPr>
            <a:xfrm>
              <a:off x="3867493" y="3707368"/>
              <a:ext cx="704164"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设计成果管理</a:t>
              </a:r>
            </a:p>
          </p:txBody>
        </p:sp>
        <p:sp>
          <p:nvSpPr>
            <p:cNvPr id="82" name="Rectangle 82"/>
            <p:cNvSpPr/>
            <p:nvPr/>
          </p:nvSpPr>
          <p:spPr>
            <a:xfrm>
              <a:off x="6477000" y="3638550"/>
              <a:ext cx="895350" cy="228600"/>
            </a:xfrm>
            <a:prstGeom prst="roundRect">
              <a:avLst>
                <a:gd name="adj" fmla="val 16667"/>
              </a:avLst>
            </a:prstGeom>
            <a:gradFill>
              <a:gsLst>
                <a:gs pos="0">
                  <a:srgbClr val="FF5B3A"/>
                </a:gs>
                <a:gs pos="100000">
                  <a:srgbClr val="E94B2B"/>
                </a:gs>
              </a:gsLst>
              <a:lin ang="5400000" scaled="1"/>
            </a:gradFill>
            <a:ln>
              <a:noFill/>
            </a:ln>
          </p:spPr>
        </p:sp>
        <p:sp>
          <p:nvSpPr>
            <p:cNvPr id="83" name="TextBox 83"/>
            <p:cNvSpPr txBox="1"/>
            <p:nvPr/>
          </p:nvSpPr>
          <p:spPr>
            <a:xfrm>
              <a:off x="6572593" y="3707368"/>
              <a:ext cx="704164"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设计质量管理</a:t>
              </a:r>
            </a:p>
          </p:txBody>
        </p:sp>
        <p:sp>
          <p:nvSpPr>
            <p:cNvPr id="84" name="Rectangle 84"/>
            <p:cNvSpPr/>
            <p:nvPr/>
          </p:nvSpPr>
          <p:spPr>
            <a:xfrm>
              <a:off x="7524750" y="3638550"/>
              <a:ext cx="895350" cy="228600"/>
            </a:xfrm>
            <a:prstGeom prst="roundRect">
              <a:avLst>
                <a:gd name="adj" fmla="val 16667"/>
              </a:avLst>
            </a:prstGeom>
            <a:gradFill>
              <a:gsLst>
                <a:gs pos="0">
                  <a:srgbClr val="FF5B3A"/>
                </a:gs>
                <a:gs pos="100000">
                  <a:srgbClr val="E94B2B"/>
                </a:gs>
              </a:gsLst>
              <a:lin ang="5400000" scaled="1"/>
            </a:gradFill>
            <a:ln>
              <a:noFill/>
            </a:ln>
          </p:spPr>
        </p:sp>
        <p:sp>
          <p:nvSpPr>
            <p:cNvPr id="85" name="TextBox 85"/>
            <p:cNvSpPr txBox="1"/>
            <p:nvPr/>
          </p:nvSpPr>
          <p:spPr>
            <a:xfrm>
              <a:off x="7620343" y="3707368"/>
              <a:ext cx="704164"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设计变更管理</a:t>
              </a:r>
            </a:p>
          </p:txBody>
        </p:sp>
        <p:sp>
          <p:nvSpPr>
            <p:cNvPr id="86" name="Rectangle 86"/>
            <p:cNvSpPr/>
            <p:nvPr/>
          </p:nvSpPr>
          <p:spPr>
            <a:xfrm>
              <a:off x="8572500" y="3638550"/>
              <a:ext cx="895350" cy="228600"/>
            </a:xfrm>
            <a:prstGeom prst="roundRect">
              <a:avLst>
                <a:gd name="adj" fmla="val 16667"/>
              </a:avLst>
            </a:prstGeom>
            <a:gradFill>
              <a:gsLst>
                <a:gs pos="0">
                  <a:srgbClr val="FF5B3A"/>
                </a:gs>
                <a:gs pos="100000">
                  <a:srgbClr val="E94B2B"/>
                </a:gs>
              </a:gsLst>
              <a:lin ang="5400000" scaled="1"/>
            </a:gradFill>
            <a:ln>
              <a:noFill/>
            </a:ln>
          </p:spPr>
        </p:sp>
        <p:sp>
          <p:nvSpPr>
            <p:cNvPr id="87" name="TextBox 87"/>
            <p:cNvSpPr txBox="1"/>
            <p:nvPr/>
          </p:nvSpPr>
          <p:spPr>
            <a:xfrm>
              <a:off x="8668093" y="3707368"/>
              <a:ext cx="704164"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设计巡检管理</a:t>
              </a:r>
            </a:p>
          </p:txBody>
        </p:sp>
        <p:sp>
          <p:nvSpPr>
            <p:cNvPr id="88" name="Rectangle 88"/>
            <p:cNvSpPr/>
            <p:nvPr/>
          </p:nvSpPr>
          <p:spPr>
            <a:xfrm>
              <a:off x="9620250" y="3638550"/>
              <a:ext cx="666750" cy="228600"/>
            </a:xfrm>
            <a:prstGeom prst="roundRect">
              <a:avLst>
                <a:gd name="adj" fmla="val 16667"/>
              </a:avLst>
            </a:prstGeom>
            <a:gradFill>
              <a:gsLst>
                <a:gs pos="0">
                  <a:srgbClr val="FF5B3A"/>
                </a:gs>
                <a:gs pos="100000">
                  <a:srgbClr val="E94B2B"/>
                </a:gs>
              </a:gsLst>
              <a:lin ang="5400000" scaled="1"/>
            </a:gradFill>
            <a:ln>
              <a:noFill/>
            </a:ln>
          </p:spPr>
        </p:sp>
        <p:sp>
          <p:nvSpPr>
            <p:cNvPr id="89" name="TextBox 89"/>
            <p:cNvSpPr txBox="1"/>
            <p:nvPr/>
          </p:nvSpPr>
          <p:spPr>
            <a:xfrm>
              <a:off x="9717316" y="3707368"/>
              <a:ext cx="472618"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项目管理</a:t>
              </a:r>
            </a:p>
          </p:txBody>
        </p:sp>
      </p:grpSp>
      <p:grpSp>
        <p:nvGrpSpPr>
          <p:cNvPr id="105" name="layer-enterprise-asset"/>
          <p:cNvGrpSpPr/>
          <p:nvPr/>
        </p:nvGrpSpPr>
        <p:grpSpPr>
          <a:xfrm>
            <a:off x="1714500" y="4210050"/>
            <a:ext cx="8763000" cy="981075"/>
            <a:chOff x="1714500" y="4210050"/>
            <a:chExt cx="8763000" cy="981075"/>
          </a:xfrm>
        </p:grpSpPr>
        <p:sp>
          <p:nvSpPr>
            <p:cNvPr id="91" name="Line 91"/>
            <p:cNvSpPr/>
            <p:nvPr/>
          </p:nvSpPr>
          <p:spPr>
            <a:xfrm flipV="1">
              <a:off x="3810000" y="4229100"/>
              <a:ext cx="1" cy="266700"/>
            </a:xfrm>
            <a:prstGeom prst="line">
              <a:avLst/>
            </a:prstGeom>
            <a:noFill/>
            <a:ln w="47625">
              <a:solidFill>
                <a:srgbClr val="E94B2B"/>
              </a:solidFill>
              <a:tailEnd type="triangle" w="lg" len="lg"/>
            </a:ln>
          </p:spPr>
        </p:sp>
        <p:sp>
          <p:nvSpPr>
            <p:cNvPr id="92" name="Line 92"/>
            <p:cNvSpPr/>
            <p:nvPr/>
          </p:nvSpPr>
          <p:spPr>
            <a:xfrm>
              <a:off x="8382000" y="4210050"/>
              <a:ext cx="1" cy="266700"/>
            </a:xfrm>
            <a:prstGeom prst="line">
              <a:avLst/>
            </a:prstGeom>
            <a:noFill/>
            <a:ln w="47625">
              <a:solidFill>
                <a:srgbClr val="F5927E"/>
              </a:solidFill>
              <a:tailEnd type="triangle" w="lg" len="lg"/>
            </a:ln>
          </p:spPr>
        </p:sp>
        <p:sp>
          <p:nvSpPr>
            <p:cNvPr id="93" name="TextBox 93"/>
            <p:cNvSpPr txBox="1"/>
            <p:nvPr/>
          </p:nvSpPr>
          <p:spPr>
            <a:xfrm>
              <a:off x="4903699" y="4257199"/>
              <a:ext cx="2384603"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企业数字赋能中心，建立企业核心竞争力</a:t>
              </a:r>
            </a:p>
          </p:txBody>
        </p:sp>
        <p:sp>
          <p:nvSpPr>
            <p:cNvPr id="94" name="TextBox 94"/>
            <p:cNvSpPr txBox="1"/>
            <p:nvPr/>
          </p:nvSpPr>
          <p:spPr>
            <a:xfrm>
              <a:off x="5561076" y="4494848"/>
              <a:ext cx="1069848"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企业资产</a:t>
              </a:r>
            </a:p>
          </p:txBody>
        </p:sp>
        <p:sp>
          <p:nvSpPr>
            <p:cNvPr id="95" name="Freeform 95"/>
            <p:cNvSpPr/>
            <p:nvPr/>
          </p:nvSpPr>
          <p:spPr>
            <a:xfrm>
              <a:off x="1714500" y="5029200"/>
              <a:ext cx="8763000" cy="95250"/>
            </a:xfrm>
            <a:custGeom>
              <a:avLst/>
              <a:gdLst/>
              <a:ahLst/>
              <a:cxnLst/>
              <a:rect l="l" t="t" r="r" b="b"/>
              <a:pathLst>
                <a:path w="8763000" h="95250">
                  <a:moveTo>
                    <a:pt x="190500" y="0"/>
                  </a:moveTo>
                  <a:lnTo>
                    <a:pt x="8572500" y="0"/>
                  </a:lnTo>
                  <a:lnTo>
                    <a:pt x="8763000" y="95250"/>
                  </a:lnTo>
                  <a:lnTo>
                    <a:pt x="0" y="95250"/>
                  </a:lnTo>
                  <a:close/>
                </a:path>
              </a:pathLst>
            </a:custGeom>
            <a:gradFill>
              <a:gsLst>
                <a:gs pos="0">
                  <a:srgbClr val="DCEBFB"/>
                </a:gs>
                <a:gs pos="100000">
                  <a:srgbClr val="F6C2B7"/>
                </a:gs>
              </a:gsLst>
              <a:lin ang="5400000" scaled="1"/>
            </a:gradFill>
            <a:ln>
              <a:noFill/>
            </a:ln>
          </p:spPr>
        </p:sp>
        <p:sp>
          <p:nvSpPr>
            <p:cNvPr id="96" name="Rectangle 96"/>
            <p:cNvSpPr/>
            <p:nvPr/>
          </p:nvSpPr>
          <p:spPr>
            <a:xfrm>
              <a:off x="1714500" y="5124450"/>
              <a:ext cx="8763000" cy="66675"/>
            </a:xfrm>
            <a:prstGeom prst="rect">
              <a:avLst/>
            </a:prstGeom>
            <a:gradFill>
              <a:gsLst>
                <a:gs pos="0">
                  <a:srgbClr val="F5927E"/>
                </a:gs>
                <a:gs pos="50000">
                  <a:srgbClr val="E94B2B"/>
                </a:gs>
                <a:gs pos="100000">
                  <a:srgbClr val="F5927E"/>
                </a:gs>
              </a:gsLst>
              <a:lin ang="0" scaled="1"/>
            </a:gradFill>
            <a:ln>
              <a:noFill/>
            </a:ln>
          </p:spPr>
        </p:sp>
        <p:sp>
          <p:nvSpPr>
            <p:cNvPr id="97" name="Rectangle 97"/>
            <p:cNvSpPr/>
            <p:nvPr/>
          </p:nvSpPr>
          <p:spPr>
            <a:xfrm>
              <a:off x="1905000" y="4762500"/>
              <a:ext cx="781050" cy="228600"/>
            </a:xfrm>
            <a:prstGeom prst="roundRect">
              <a:avLst>
                <a:gd name="adj" fmla="val 16667"/>
              </a:avLst>
            </a:prstGeom>
            <a:gradFill>
              <a:gsLst>
                <a:gs pos="0">
                  <a:srgbClr val="FF5B3A"/>
                </a:gs>
                <a:gs pos="100000">
                  <a:srgbClr val="E94B2B"/>
                </a:gs>
              </a:gsLst>
              <a:lin ang="5400000" scaled="1"/>
            </a:gradFill>
            <a:ln>
              <a:noFill/>
            </a:ln>
          </p:spPr>
        </p:sp>
        <p:sp>
          <p:nvSpPr>
            <p:cNvPr id="98" name="TextBox 98"/>
            <p:cNvSpPr txBox="1"/>
            <p:nvPr/>
          </p:nvSpPr>
          <p:spPr>
            <a:xfrm>
              <a:off x="2001330" y="4831318"/>
              <a:ext cx="588391"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作业模板库</a:t>
              </a:r>
            </a:p>
          </p:txBody>
        </p:sp>
        <p:sp>
          <p:nvSpPr>
            <p:cNvPr id="99" name="Rectangle 99"/>
            <p:cNvSpPr/>
            <p:nvPr/>
          </p:nvSpPr>
          <p:spPr>
            <a:xfrm>
              <a:off x="2838450" y="4762500"/>
              <a:ext cx="895350" cy="228600"/>
            </a:xfrm>
            <a:prstGeom prst="roundRect">
              <a:avLst>
                <a:gd name="adj" fmla="val 16667"/>
              </a:avLst>
            </a:prstGeom>
            <a:gradFill>
              <a:gsLst>
                <a:gs pos="0">
                  <a:srgbClr val="FF5B3A"/>
                </a:gs>
                <a:gs pos="100000">
                  <a:srgbClr val="E94B2B"/>
                </a:gs>
              </a:gsLst>
              <a:lin ang="5400000" scaled="1"/>
            </a:gradFill>
            <a:ln>
              <a:noFill/>
            </a:ln>
          </p:spPr>
        </p:sp>
        <p:sp>
          <p:nvSpPr>
            <p:cNvPr id="100" name="TextBox 100"/>
            <p:cNvSpPr txBox="1"/>
            <p:nvPr/>
          </p:nvSpPr>
          <p:spPr>
            <a:xfrm>
              <a:off x="2934043" y="4831318"/>
              <a:ext cx="704164"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质量审查清单</a:t>
              </a:r>
            </a:p>
          </p:txBody>
        </p:sp>
        <p:sp>
          <p:nvSpPr>
            <p:cNvPr id="101" name="Rectangle 101"/>
            <p:cNvSpPr/>
            <p:nvPr/>
          </p:nvSpPr>
          <p:spPr>
            <a:xfrm>
              <a:off x="8801100" y="4762500"/>
              <a:ext cx="781050" cy="228600"/>
            </a:xfrm>
            <a:prstGeom prst="roundRect">
              <a:avLst>
                <a:gd name="adj" fmla="val 16667"/>
              </a:avLst>
            </a:prstGeom>
            <a:gradFill>
              <a:gsLst>
                <a:gs pos="0">
                  <a:srgbClr val="FF5B3A"/>
                </a:gs>
                <a:gs pos="100000">
                  <a:srgbClr val="E94B2B"/>
                </a:gs>
              </a:gsLst>
              <a:lin ang="5400000" scaled="1"/>
            </a:gradFill>
            <a:ln>
              <a:noFill/>
            </a:ln>
          </p:spPr>
        </p:sp>
        <p:sp>
          <p:nvSpPr>
            <p:cNvPr id="102" name="TextBox 102"/>
            <p:cNvSpPr txBox="1"/>
            <p:nvPr/>
          </p:nvSpPr>
          <p:spPr>
            <a:xfrm>
              <a:off x="8897430" y="4831318"/>
              <a:ext cx="588391"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标准产品库</a:t>
              </a:r>
            </a:p>
          </p:txBody>
        </p:sp>
        <p:sp>
          <p:nvSpPr>
            <p:cNvPr id="103" name="Rectangle 103"/>
            <p:cNvSpPr/>
            <p:nvPr/>
          </p:nvSpPr>
          <p:spPr>
            <a:xfrm>
              <a:off x="9734550" y="4762500"/>
              <a:ext cx="552450" cy="228600"/>
            </a:xfrm>
            <a:prstGeom prst="roundRect">
              <a:avLst>
                <a:gd name="adj" fmla="val 16667"/>
              </a:avLst>
            </a:prstGeom>
            <a:gradFill>
              <a:gsLst>
                <a:gs pos="0">
                  <a:srgbClr val="FF5B3A"/>
                </a:gs>
                <a:gs pos="100000">
                  <a:srgbClr val="E94B2B"/>
                </a:gs>
              </a:gsLst>
              <a:lin ang="5400000" scaled="1"/>
            </a:gradFill>
            <a:ln>
              <a:noFill/>
            </a:ln>
          </p:spPr>
        </p:sp>
        <p:sp>
          <p:nvSpPr>
            <p:cNvPr id="104" name="TextBox 104"/>
            <p:cNvSpPr txBox="1"/>
            <p:nvPr/>
          </p:nvSpPr>
          <p:spPr>
            <a:xfrm>
              <a:off x="9832353" y="4831318"/>
              <a:ext cx="356845"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知识库</a:t>
              </a:r>
            </a:p>
          </p:txBody>
        </p:sp>
      </p:grpSp>
      <p:grpSp>
        <p:nvGrpSpPr>
          <p:cNvPr id="120" name="layer-core-tech"/>
          <p:cNvGrpSpPr/>
          <p:nvPr/>
        </p:nvGrpSpPr>
        <p:grpSpPr>
          <a:xfrm>
            <a:off x="1714500" y="5334000"/>
            <a:ext cx="8763000" cy="981075"/>
            <a:chOff x="1714500" y="5334000"/>
            <a:chExt cx="8763000" cy="981075"/>
          </a:xfrm>
        </p:grpSpPr>
        <p:sp>
          <p:nvSpPr>
            <p:cNvPr id="106" name="Line 106"/>
            <p:cNvSpPr/>
            <p:nvPr/>
          </p:nvSpPr>
          <p:spPr>
            <a:xfrm flipV="1">
              <a:off x="3810000" y="5353050"/>
              <a:ext cx="1" cy="266700"/>
            </a:xfrm>
            <a:prstGeom prst="line">
              <a:avLst/>
            </a:prstGeom>
            <a:noFill/>
            <a:ln w="47625">
              <a:solidFill>
                <a:srgbClr val="E94B2B"/>
              </a:solidFill>
              <a:tailEnd type="triangle" w="lg" len="lg"/>
            </a:ln>
          </p:spPr>
        </p:sp>
        <p:sp>
          <p:nvSpPr>
            <p:cNvPr id="107" name="Line 107"/>
            <p:cNvSpPr/>
            <p:nvPr/>
          </p:nvSpPr>
          <p:spPr>
            <a:xfrm>
              <a:off x="8382000" y="5334000"/>
              <a:ext cx="1" cy="266700"/>
            </a:xfrm>
            <a:prstGeom prst="line">
              <a:avLst/>
            </a:prstGeom>
            <a:noFill/>
            <a:ln w="47625">
              <a:solidFill>
                <a:srgbClr val="F5927E"/>
              </a:solidFill>
              <a:tailEnd type="triangle" w="lg" len="lg"/>
            </a:ln>
          </p:spPr>
        </p:sp>
        <p:sp>
          <p:nvSpPr>
            <p:cNvPr id="108" name="TextBox 108"/>
            <p:cNvSpPr txBox="1"/>
            <p:nvPr/>
          </p:nvSpPr>
          <p:spPr>
            <a:xfrm>
              <a:off x="4140003" y="5381149"/>
              <a:ext cx="3911995"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支撑在线浏览、在线审图;数据云端存档、协同办公、数据智能分析</a:t>
              </a:r>
            </a:p>
          </p:txBody>
        </p:sp>
        <p:sp>
          <p:nvSpPr>
            <p:cNvPr id="109" name="TextBox 109"/>
            <p:cNvSpPr txBox="1"/>
            <p:nvPr/>
          </p:nvSpPr>
          <p:spPr>
            <a:xfrm>
              <a:off x="5561076" y="5618798"/>
              <a:ext cx="1069848"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核心技术</a:t>
              </a:r>
            </a:p>
          </p:txBody>
        </p:sp>
        <p:sp>
          <p:nvSpPr>
            <p:cNvPr id="110" name="Freeform 110"/>
            <p:cNvSpPr/>
            <p:nvPr/>
          </p:nvSpPr>
          <p:spPr>
            <a:xfrm>
              <a:off x="1714500" y="6153150"/>
              <a:ext cx="8763000" cy="95250"/>
            </a:xfrm>
            <a:custGeom>
              <a:avLst/>
              <a:gdLst/>
              <a:ahLst/>
              <a:cxnLst/>
              <a:rect l="l" t="t" r="r" b="b"/>
              <a:pathLst>
                <a:path w="8763000" h="95250">
                  <a:moveTo>
                    <a:pt x="190500" y="0"/>
                  </a:moveTo>
                  <a:lnTo>
                    <a:pt x="8572500" y="0"/>
                  </a:lnTo>
                  <a:lnTo>
                    <a:pt x="8763000" y="95250"/>
                  </a:lnTo>
                  <a:lnTo>
                    <a:pt x="0" y="95250"/>
                  </a:lnTo>
                  <a:close/>
                </a:path>
              </a:pathLst>
            </a:custGeom>
            <a:gradFill>
              <a:gsLst>
                <a:gs pos="0">
                  <a:srgbClr val="DCEBFB"/>
                </a:gs>
                <a:gs pos="100000">
                  <a:srgbClr val="F6C2B7"/>
                </a:gs>
              </a:gsLst>
              <a:lin ang="5400000" scaled="1"/>
            </a:gradFill>
            <a:ln>
              <a:noFill/>
            </a:ln>
          </p:spPr>
        </p:sp>
        <p:sp>
          <p:nvSpPr>
            <p:cNvPr id="111" name="Rectangle 111"/>
            <p:cNvSpPr/>
            <p:nvPr/>
          </p:nvSpPr>
          <p:spPr>
            <a:xfrm>
              <a:off x="1714500" y="6248400"/>
              <a:ext cx="8763000" cy="66675"/>
            </a:xfrm>
            <a:prstGeom prst="rect">
              <a:avLst/>
            </a:prstGeom>
            <a:gradFill>
              <a:gsLst>
                <a:gs pos="0">
                  <a:srgbClr val="F5927E"/>
                </a:gs>
                <a:gs pos="50000">
                  <a:srgbClr val="E94B2B"/>
                </a:gs>
                <a:gs pos="100000">
                  <a:srgbClr val="F5927E"/>
                </a:gs>
              </a:gsLst>
              <a:lin ang="0" scaled="1"/>
            </a:gradFill>
            <a:ln>
              <a:noFill/>
            </a:ln>
          </p:spPr>
        </p:sp>
        <p:sp>
          <p:nvSpPr>
            <p:cNvPr id="112" name="Rectangle 112"/>
            <p:cNvSpPr/>
            <p:nvPr/>
          </p:nvSpPr>
          <p:spPr>
            <a:xfrm>
              <a:off x="1905000" y="5886450"/>
              <a:ext cx="666750" cy="228600"/>
            </a:xfrm>
            <a:prstGeom prst="roundRect">
              <a:avLst>
                <a:gd name="adj" fmla="val 16667"/>
              </a:avLst>
            </a:prstGeom>
            <a:gradFill>
              <a:gsLst>
                <a:gs pos="0">
                  <a:srgbClr val="FF5B3A"/>
                </a:gs>
                <a:gs pos="100000">
                  <a:srgbClr val="E94B2B"/>
                </a:gs>
              </a:gsLst>
              <a:lin ang="5400000" scaled="1"/>
            </a:gradFill>
            <a:ln>
              <a:noFill/>
            </a:ln>
          </p:spPr>
        </p:sp>
        <p:sp>
          <p:nvSpPr>
            <p:cNvPr id="113" name="TextBox 113"/>
            <p:cNvSpPr txBox="1"/>
            <p:nvPr/>
          </p:nvSpPr>
          <p:spPr>
            <a:xfrm>
              <a:off x="2002066" y="5955268"/>
              <a:ext cx="472618"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圆形技术</a:t>
              </a:r>
            </a:p>
          </p:txBody>
        </p:sp>
        <p:sp>
          <p:nvSpPr>
            <p:cNvPr id="114" name="Rectangle 114"/>
            <p:cNvSpPr/>
            <p:nvPr/>
          </p:nvSpPr>
          <p:spPr>
            <a:xfrm>
              <a:off x="2724150" y="5886450"/>
              <a:ext cx="638175" cy="228600"/>
            </a:xfrm>
            <a:prstGeom prst="roundRect">
              <a:avLst>
                <a:gd name="adj" fmla="val 16667"/>
              </a:avLst>
            </a:prstGeom>
            <a:gradFill>
              <a:gsLst>
                <a:gs pos="0">
                  <a:srgbClr val="FF5B3A"/>
                </a:gs>
                <a:gs pos="100000">
                  <a:srgbClr val="E94B2B"/>
                </a:gs>
              </a:gsLst>
              <a:lin ang="5400000" scaled="1"/>
            </a:gradFill>
            <a:ln>
              <a:noFill/>
            </a:ln>
          </p:spPr>
        </p:sp>
        <p:sp>
          <p:nvSpPr>
            <p:cNvPr id="115" name="TextBox 115"/>
            <p:cNvSpPr txBox="1"/>
            <p:nvPr/>
          </p:nvSpPr>
          <p:spPr>
            <a:xfrm>
              <a:off x="2797766" y="5955268"/>
              <a:ext cx="500469"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BIM技术​</a:t>
              </a:r>
            </a:p>
          </p:txBody>
        </p:sp>
        <p:sp>
          <p:nvSpPr>
            <p:cNvPr id="116" name="Rectangle 116"/>
            <p:cNvSpPr/>
            <p:nvPr/>
          </p:nvSpPr>
          <p:spPr>
            <a:xfrm>
              <a:off x="8801100" y="5886450"/>
              <a:ext cx="552450" cy="228600"/>
            </a:xfrm>
            <a:prstGeom prst="roundRect">
              <a:avLst>
                <a:gd name="adj" fmla="val 16667"/>
              </a:avLst>
            </a:prstGeom>
            <a:gradFill>
              <a:gsLst>
                <a:gs pos="0">
                  <a:srgbClr val="FF5B3A"/>
                </a:gs>
                <a:gs pos="100000">
                  <a:srgbClr val="E94B2B"/>
                </a:gs>
              </a:gsLst>
              <a:lin ang="5400000" scaled="1"/>
            </a:gradFill>
            <a:ln>
              <a:noFill/>
            </a:ln>
          </p:spPr>
        </p:sp>
        <p:sp>
          <p:nvSpPr>
            <p:cNvPr id="117" name="TextBox 117"/>
            <p:cNvSpPr txBox="1"/>
            <p:nvPr/>
          </p:nvSpPr>
          <p:spPr>
            <a:xfrm>
              <a:off x="8898903" y="5955268"/>
              <a:ext cx="356845"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云技术</a:t>
              </a:r>
            </a:p>
          </p:txBody>
        </p:sp>
        <p:sp>
          <p:nvSpPr>
            <p:cNvPr id="118" name="Rectangle 118"/>
            <p:cNvSpPr/>
            <p:nvPr/>
          </p:nvSpPr>
          <p:spPr>
            <a:xfrm>
              <a:off x="9505950" y="5886450"/>
              <a:ext cx="781050" cy="228600"/>
            </a:xfrm>
            <a:prstGeom prst="roundRect">
              <a:avLst>
                <a:gd name="adj" fmla="val 16667"/>
              </a:avLst>
            </a:prstGeom>
            <a:gradFill>
              <a:gsLst>
                <a:gs pos="0">
                  <a:srgbClr val="FF5B3A"/>
                </a:gs>
                <a:gs pos="100000">
                  <a:srgbClr val="E94B2B"/>
                </a:gs>
              </a:gsLst>
              <a:lin ang="5400000" scaled="1"/>
            </a:gradFill>
            <a:ln>
              <a:noFill/>
            </a:ln>
          </p:spPr>
        </p:sp>
        <p:sp>
          <p:nvSpPr>
            <p:cNvPr id="119" name="TextBox 119"/>
            <p:cNvSpPr txBox="1"/>
            <p:nvPr/>
          </p:nvSpPr>
          <p:spPr>
            <a:xfrm>
              <a:off x="9602280" y="5955268"/>
              <a:ext cx="588391"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大数据技术</a:t>
              </a:r>
            </a:p>
          </p:txBody>
        </p:sp>
      </p:gr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04</a:t>
              </a:r>
            </a:p>
          </p:txBody>
        </p:sp>
        <p:sp>
          <p:nvSpPr>
            <p:cNvPr id="4" name="TextBox 4"/>
            <p:cNvSpPr txBox="1"/>
            <p:nvPr/>
          </p:nvSpPr>
          <p:spPr>
            <a:xfrm>
              <a:off x="904494" y="180023"/>
              <a:ext cx="2793492"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产品生产项目管理运营</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36" name="top-disc"/>
          <p:cNvGrpSpPr/>
          <p:nvPr/>
        </p:nvGrpSpPr>
        <p:grpSpPr>
          <a:xfrm>
            <a:off x="666750" y="876300"/>
            <a:ext cx="10858500" cy="1822450"/>
            <a:chOff x="666750" y="876300"/>
            <a:chExt cx="10858500" cy="1822450"/>
          </a:xfrm>
        </p:grpSpPr>
        <p:sp>
          <p:nvSpPr>
            <p:cNvPr id="7" name="Ellipse 7"/>
            <p:cNvSpPr/>
            <p:nvPr/>
          </p:nvSpPr>
          <p:spPr>
            <a:xfrm>
              <a:off x="666750" y="876300"/>
              <a:ext cx="10858500" cy="1104900"/>
            </a:xfrm>
            <a:prstGeom prst="ellipse">
              <a:avLst/>
            </a:prstGeom>
            <a:gradFill>
              <a:gsLst>
                <a:gs pos="0">
                  <a:srgbClr val="EAF3FD"/>
                </a:gs>
                <a:gs pos="55000">
                  <a:srgbClr val="F8D1C9"/>
                </a:gs>
                <a:gs pos="100000">
                  <a:srgbClr val="F8B6A9"/>
                </a:gs>
              </a:gsLst>
              <a:lin ang="5400000" scaled="1"/>
            </a:gradFill>
            <a:ln>
              <a:noFill/>
            </a:ln>
          </p:spPr>
        </p:sp>
        <p:sp>
          <p:nvSpPr>
            <p:cNvPr id="8" name="Ellipse 8"/>
            <p:cNvSpPr/>
            <p:nvPr/>
          </p:nvSpPr>
          <p:spPr>
            <a:xfrm>
              <a:off x="952500" y="952500"/>
              <a:ext cx="10287000" cy="876300"/>
            </a:xfrm>
            <a:prstGeom prst="ellipse">
              <a:avLst/>
            </a:prstGeom>
            <a:solidFill>
              <a:srgbClr val="F3F8FE">
                <a:alpha val="70000"/>
              </a:srgbClr>
            </a:solidFill>
            <a:ln>
              <a:noFill/>
            </a:ln>
          </p:spPr>
        </p:sp>
        <p:sp>
          <p:nvSpPr>
            <p:cNvPr id="9" name="Rectangle 9"/>
            <p:cNvSpPr/>
            <p:nvPr/>
          </p:nvSpPr>
          <p:spPr>
            <a:xfrm>
              <a:off x="3733800" y="1200150"/>
              <a:ext cx="285750" cy="76200"/>
            </a:xfrm>
            <a:prstGeom prst="rect">
              <a:avLst/>
            </a:prstGeom>
            <a:solidFill>
              <a:srgbClr val="F5927E"/>
            </a:solidFill>
            <a:ln>
              <a:noFill/>
            </a:ln>
          </p:spPr>
        </p:sp>
        <p:sp>
          <p:nvSpPr>
            <p:cNvPr id="10" name="Rectangle 10"/>
            <p:cNvSpPr/>
            <p:nvPr/>
          </p:nvSpPr>
          <p:spPr>
            <a:xfrm>
              <a:off x="3676650" y="1314450"/>
              <a:ext cx="342900" cy="76200"/>
            </a:xfrm>
            <a:prstGeom prst="rect">
              <a:avLst/>
            </a:prstGeom>
            <a:solidFill>
              <a:srgbClr val="E94B2B"/>
            </a:solidFill>
            <a:ln>
              <a:noFill/>
            </a:ln>
          </p:spPr>
        </p:sp>
        <p:sp>
          <p:nvSpPr>
            <p:cNvPr id="11" name="Rectangle 11"/>
            <p:cNvSpPr/>
            <p:nvPr/>
          </p:nvSpPr>
          <p:spPr>
            <a:xfrm>
              <a:off x="8172450" y="1200150"/>
              <a:ext cx="285750" cy="76200"/>
            </a:xfrm>
            <a:prstGeom prst="rect">
              <a:avLst/>
            </a:prstGeom>
            <a:solidFill>
              <a:srgbClr val="F5927E"/>
            </a:solidFill>
            <a:ln>
              <a:noFill/>
            </a:ln>
          </p:spPr>
        </p:sp>
        <p:sp>
          <p:nvSpPr>
            <p:cNvPr id="12" name="Rectangle 12"/>
            <p:cNvSpPr/>
            <p:nvPr/>
          </p:nvSpPr>
          <p:spPr>
            <a:xfrm>
              <a:off x="8172450" y="1314450"/>
              <a:ext cx="342900" cy="76200"/>
            </a:xfrm>
            <a:prstGeom prst="rect">
              <a:avLst/>
            </a:prstGeom>
            <a:solidFill>
              <a:srgbClr val="E94B2B"/>
            </a:solidFill>
            <a:ln>
              <a:noFill/>
            </a:ln>
          </p:spPr>
        </p:sp>
        <p:sp>
          <p:nvSpPr>
            <p:cNvPr id="13" name="TextBox 13"/>
            <p:cNvSpPr txBox="1"/>
            <p:nvPr/>
          </p:nvSpPr>
          <p:spPr>
            <a:xfrm>
              <a:off x="4875276" y="1158240"/>
              <a:ext cx="2441448" cy="352044"/>
            </a:xfrm>
            <a:prstGeom prst="rect">
              <a:avLst/>
            </a:prstGeom>
            <a:noFill/>
            <a:ln>
              <a:noFill/>
            </a:ln>
          </p:spPr>
          <p:txBody>
            <a:bodyPr wrap="none" lIns="0" tIns="0" rIns="0" bIns="0" anchor="t" anchorCtr="0">
              <a:spAutoFit/>
            </a:bodyPr>
            <a:lstStyle/>
            <a:p>
              <a:pPr algn="ctr"/>
              <a:r>
                <a:rPr lang="zh-CN" sz="1800" b="1" dirty="0">
                  <a:solidFill>
                    <a:srgbClr val="E94B2B"/>
                  </a:solidFill>
                  <a:latin typeface="+mn-lt"/>
                  <a:ea typeface="+mn-ea"/>
                  <a:cs typeface="+mn-cs"/>
                </a:rPr>
                <a:t>产品生产项目管理运营</a:t>
              </a:r>
            </a:p>
          </p:txBody>
        </p:sp>
        <p:sp>
          <p:nvSpPr>
            <p:cNvPr id="14" name="Ellipse 14"/>
            <p:cNvSpPr/>
            <p:nvPr/>
          </p:nvSpPr>
          <p:spPr>
            <a:xfrm>
              <a:off x="1485900" y="1390650"/>
              <a:ext cx="647700" cy="6477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15" name="TextBox 15"/>
            <p:cNvSpPr txBox="1"/>
            <p:nvPr/>
          </p:nvSpPr>
          <p:spPr>
            <a:xfrm>
              <a:off x="1653261" y="16502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产品</a:t>
              </a:r>
            </a:p>
          </p:txBody>
        </p:sp>
        <p:sp>
          <p:nvSpPr>
            <p:cNvPr id="16" name="Ellipse 16"/>
            <p:cNvSpPr/>
            <p:nvPr/>
          </p:nvSpPr>
          <p:spPr>
            <a:xfrm>
              <a:off x="4295775" y="1619250"/>
              <a:ext cx="647700" cy="6477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17" name="TextBox 17"/>
            <p:cNvSpPr txBox="1"/>
            <p:nvPr/>
          </p:nvSpPr>
          <p:spPr>
            <a:xfrm>
              <a:off x="4463136" y="18788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技术</a:t>
              </a:r>
            </a:p>
          </p:txBody>
        </p:sp>
        <p:sp>
          <p:nvSpPr>
            <p:cNvPr id="18" name="Ellipse 18"/>
            <p:cNvSpPr/>
            <p:nvPr/>
          </p:nvSpPr>
          <p:spPr>
            <a:xfrm>
              <a:off x="7153275" y="1619250"/>
              <a:ext cx="647700" cy="6477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19" name="TextBox 19"/>
            <p:cNvSpPr txBox="1"/>
            <p:nvPr/>
          </p:nvSpPr>
          <p:spPr>
            <a:xfrm>
              <a:off x="7320636" y="18788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市场</a:t>
              </a:r>
            </a:p>
          </p:txBody>
        </p:sp>
        <p:sp>
          <p:nvSpPr>
            <p:cNvPr id="20" name="Ellipse 20"/>
            <p:cNvSpPr/>
            <p:nvPr/>
          </p:nvSpPr>
          <p:spPr>
            <a:xfrm>
              <a:off x="9963150" y="1390650"/>
              <a:ext cx="647700" cy="6477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21" name="TextBox 21"/>
            <p:cNvSpPr txBox="1"/>
            <p:nvPr/>
          </p:nvSpPr>
          <p:spPr>
            <a:xfrm>
              <a:off x="10130511" y="16502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运营</a:t>
              </a:r>
            </a:p>
          </p:txBody>
        </p:sp>
        <p:sp>
          <p:nvSpPr>
            <p:cNvPr id="22" name="Freeform 22"/>
            <p:cNvSpPr/>
            <p:nvPr/>
          </p:nvSpPr>
          <p:spPr>
            <a:xfrm>
              <a:off x="2857500" y="1790700"/>
              <a:ext cx="152400" cy="209550"/>
            </a:xfrm>
            <a:prstGeom prst="chevron">
              <a:avLst/>
            </a:prstGeom>
            <a:solidFill>
              <a:srgbClr val="F5927E"/>
            </a:solidFill>
            <a:ln>
              <a:noFill/>
            </a:ln>
          </p:spPr>
        </p:sp>
        <p:sp>
          <p:nvSpPr>
            <p:cNvPr id="23" name="Freeform 23"/>
            <p:cNvSpPr/>
            <p:nvPr/>
          </p:nvSpPr>
          <p:spPr>
            <a:xfrm>
              <a:off x="3028950" y="1790700"/>
              <a:ext cx="152400" cy="209550"/>
            </a:xfrm>
            <a:prstGeom prst="chevron">
              <a:avLst/>
            </a:prstGeom>
            <a:solidFill>
              <a:srgbClr val="F2745A"/>
            </a:solidFill>
            <a:ln>
              <a:noFill/>
            </a:ln>
          </p:spPr>
        </p:sp>
        <p:sp>
          <p:nvSpPr>
            <p:cNvPr id="24" name="Freeform 24"/>
            <p:cNvSpPr/>
            <p:nvPr/>
          </p:nvSpPr>
          <p:spPr>
            <a:xfrm>
              <a:off x="3200400" y="1790700"/>
              <a:ext cx="152400" cy="209550"/>
            </a:xfrm>
            <a:prstGeom prst="chevron">
              <a:avLst/>
            </a:prstGeom>
            <a:solidFill>
              <a:srgbClr val="E94B2B"/>
            </a:solidFill>
            <a:ln>
              <a:noFill/>
            </a:ln>
          </p:spPr>
        </p:sp>
        <p:sp>
          <p:nvSpPr>
            <p:cNvPr id="25" name="TextBox 25"/>
            <p:cNvSpPr txBox="1"/>
            <p:nvPr/>
          </p:nvSpPr>
          <p:spPr>
            <a:xfrm>
              <a:off x="2847302" y="2108597"/>
              <a:ext cx="515696" cy="183356"/>
            </a:xfrm>
            <a:prstGeom prst="rect">
              <a:avLst/>
            </a:prstGeom>
            <a:noFill/>
            <a:ln>
              <a:noFill/>
            </a:ln>
          </p:spPr>
          <p:txBody>
            <a:bodyPr wrap="none" lIns="0" tIns="0" rIns="0" bIns="0" anchor="t" anchorCtr="0">
              <a:spAutoFit/>
            </a:bodyPr>
            <a:lstStyle/>
            <a:p>
              <a:pPr algn="ctr"/>
              <a:r>
                <a:rPr lang="zh-CN" sz="940" dirty="0">
                  <a:solidFill>
                    <a:srgbClr val="333333"/>
                  </a:solidFill>
                  <a:latin typeface="+mn-lt"/>
                  <a:ea typeface="+mn-ea"/>
                  <a:cs typeface="+mn-cs"/>
                </a:rPr>
                <a:t>加强宣传</a:t>
              </a:r>
            </a:p>
          </p:txBody>
        </p:sp>
        <p:grpSp>
          <p:nvGrpSpPr>
            <p:cNvPr id="29" name="Group 29"/>
            <p:cNvGrpSpPr/>
            <p:nvPr/>
          </p:nvGrpSpPr>
          <p:grpSpPr>
            <a:xfrm>
              <a:off x="8858250" y="1790700"/>
              <a:ext cx="495300" cy="209550"/>
              <a:chOff x="8858250" y="1790700"/>
              <a:chExt cx="495300" cy="209550"/>
            </a:xfrm>
          </p:grpSpPr>
          <p:sp>
            <p:nvSpPr>
              <p:cNvPr id="26" name="Freeform 26"/>
              <p:cNvSpPr/>
              <p:nvPr/>
            </p:nvSpPr>
            <p:spPr>
              <a:xfrm rot="10800000">
                <a:off x="9201150" y="1790700"/>
                <a:ext cx="152400" cy="209550"/>
              </a:xfrm>
              <a:prstGeom prst="chevron">
                <a:avLst/>
              </a:prstGeom>
              <a:solidFill>
                <a:srgbClr val="E94B2B"/>
              </a:solidFill>
              <a:ln>
                <a:noFill/>
              </a:ln>
            </p:spPr>
          </p:sp>
          <p:sp>
            <p:nvSpPr>
              <p:cNvPr id="27" name="Freeform 27"/>
              <p:cNvSpPr/>
              <p:nvPr/>
            </p:nvSpPr>
            <p:spPr>
              <a:xfrm rot="10800000">
                <a:off x="9029700" y="1790700"/>
                <a:ext cx="152400" cy="209550"/>
              </a:xfrm>
              <a:prstGeom prst="chevron">
                <a:avLst/>
              </a:prstGeom>
              <a:solidFill>
                <a:srgbClr val="F2745A"/>
              </a:solidFill>
              <a:ln>
                <a:noFill/>
              </a:ln>
            </p:spPr>
          </p:sp>
          <p:sp>
            <p:nvSpPr>
              <p:cNvPr id="28" name="Freeform 28"/>
              <p:cNvSpPr/>
              <p:nvPr/>
            </p:nvSpPr>
            <p:spPr>
              <a:xfrm rot="10800000">
                <a:off x="8858250" y="1790700"/>
                <a:ext cx="152400" cy="209550"/>
              </a:xfrm>
              <a:prstGeom prst="chevron">
                <a:avLst/>
              </a:prstGeom>
              <a:solidFill>
                <a:srgbClr val="F5927E"/>
              </a:solidFill>
              <a:ln>
                <a:noFill/>
              </a:ln>
            </p:spPr>
          </p:sp>
        </p:grpSp>
        <p:sp>
          <p:nvSpPr>
            <p:cNvPr id="30" name="TextBox 30"/>
            <p:cNvSpPr txBox="1"/>
            <p:nvPr/>
          </p:nvSpPr>
          <p:spPr>
            <a:xfrm>
              <a:off x="8848052" y="2108597"/>
              <a:ext cx="515696" cy="183356"/>
            </a:xfrm>
            <a:prstGeom prst="rect">
              <a:avLst/>
            </a:prstGeom>
            <a:noFill/>
            <a:ln>
              <a:noFill/>
            </a:ln>
          </p:spPr>
          <p:txBody>
            <a:bodyPr wrap="none" lIns="0" tIns="0" rIns="0" bIns="0" anchor="t" anchorCtr="0">
              <a:spAutoFit/>
            </a:bodyPr>
            <a:lstStyle/>
            <a:p>
              <a:pPr algn="ctr"/>
              <a:r>
                <a:rPr lang="zh-CN" sz="940" dirty="0">
                  <a:solidFill>
                    <a:srgbClr val="333333"/>
                  </a:solidFill>
                  <a:latin typeface="+mn-lt"/>
                  <a:ea typeface="+mn-ea"/>
                  <a:cs typeface="+mn-cs"/>
                </a:rPr>
                <a:t>扩大经营</a:t>
              </a:r>
            </a:p>
          </p:txBody>
        </p:sp>
        <p:sp>
          <p:nvSpPr>
            <p:cNvPr id="31" name="Freeform 31"/>
            <p:cNvSpPr/>
            <p:nvPr/>
          </p:nvSpPr>
          <p:spPr>
            <a:xfrm>
              <a:off x="1809750" y="2381250"/>
              <a:ext cx="8572500" cy="317500"/>
            </a:xfrm>
            <a:custGeom>
              <a:avLst/>
              <a:gdLst/>
              <a:ahLst/>
              <a:cxnLst/>
              <a:rect l="l" t="t" r="r" b="b"/>
              <a:pathLst>
                <a:path w="8572500" h="317500">
                  <a:moveTo>
                    <a:pt x="0" y="0"/>
                  </a:moveTo>
                  <a:cubicBezTo>
                    <a:pt x="2857500" y="317500"/>
                    <a:pt x="5715000" y="317500"/>
                    <a:pt x="8572500" y="0"/>
                  </a:cubicBezTo>
                </a:path>
              </a:pathLst>
            </a:custGeom>
            <a:noFill/>
            <a:ln w="14288">
              <a:solidFill>
                <a:srgbClr val="F5927E"/>
              </a:solidFill>
            </a:ln>
          </p:spPr>
        </p:sp>
        <p:sp>
          <p:nvSpPr>
            <p:cNvPr id="32" name="Ellipse 32"/>
            <p:cNvSpPr/>
            <p:nvPr/>
          </p:nvSpPr>
          <p:spPr>
            <a:xfrm>
              <a:off x="2066925" y="2352675"/>
              <a:ext cx="95250" cy="95250"/>
            </a:xfrm>
            <a:prstGeom prst="ellipse">
              <a:avLst/>
            </a:prstGeom>
            <a:solidFill>
              <a:srgbClr val="E94B2B"/>
            </a:solidFill>
            <a:ln>
              <a:noFill/>
            </a:ln>
          </p:spPr>
        </p:sp>
        <p:sp>
          <p:nvSpPr>
            <p:cNvPr id="33" name="Ellipse 33"/>
            <p:cNvSpPr/>
            <p:nvPr/>
          </p:nvSpPr>
          <p:spPr>
            <a:xfrm>
              <a:off x="4352925" y="2524125"/>
              <a:ext cx="95250" cy="95250"/>
            </a:xfrm>
            <a:prstGeom prst="ellipse">
              <a:avLst/>
            </a:prstGeom>
            <a:solidFill>
              <a:srgbClr val="E94B2B"/>
            </a:solidFill>
            <a:ln>
              <a:noFill/>
            </a:ln>
          </p:spPr>
        </p:sp>
        <p:sp>
          <p:nvSpPr>
            <p:cNvPr id="34" name="Ellipse 34"/>
            <p:cNvSpPr/>
            <p:nvPr/>
          </p:nvSpPr>
          <p:spPr>
            <a:xfrm>
              <a:off x="7286625" y="2543175"/>
              <a:ext cx="95250" cy="95250"/>
            </a:xfrm>
            <a:prstGeom prst="ellipse">
              <a:avLst/>
            </a:prstGeom>
            <a:solidFill>
              <a:srgbClr val="E94B2B"/>
            </a:solidFill>
            <a:ln>
              <a:noFill/>
            </a:ln>
          </p:spPr>
        </p:sp>
        <p:sp>
          <p:nvSpPr>
            <p:cNvPr id="35" name="Ellipse 35"/>
            <p:cNvSpPr/>
            <p:nvPr/>
          </p:nvSpPr>
          <p:spPr>
            <a:xfrm>
              <a:off x="9858375" y="2371725"/>
              <a:ext cx="95250" cy="95250"/>
            </a:xfrm>
            <a:prstGeom prst="ellipse">
              <a:avLst/>
            </a:prstGeom>
            <a:solidFill>
              <a:srgbClr val="E94B2B"/>
            </a:solidFill>
            <a:ln>
              <a:noFill/>
            </a:ln>
          </p:spPr>
        </p:sp>
      </p:grpSp>
      <p:grpSp>
        <p:nvGrpSpPr>
          <p:cNvPr id="39" name="note-product"/>
          <p:cNvGrpSpPr/>
          <p:nvPr/>
        </p:nvGrpSpPr>
        <p:grpSpPr>
          <a:xfrm>
            <a:off x="1899666" y="2782252"/>
            <a:ext cx="1005967" cy="636938"/>
            <a:chOff x="1899666" y="2782252"/>
            <a:chExt cx="1005967" cy="636938"/>
          </a:xfrm>
        </p:grpSpPr>
        <p:sp>
          <p:nvSpPr>
            <p:cNvPr id="37" name="TextBox 37"/>
            <p:cNvSpPr txBox="1"/>
            <p:nvPr/>
          </p:nvSpPr>
          <p:spPr>
            <a:xfrm>
              <a:off x="1899666" y="2782252"/>
              <a:ext cx="858774" cy="205359"/>
            </a:xfrm>
            <a:prstGeom prst="rect">
              <a:avLst/>
            </a:prstGeom>
            <a:noFill/>
            <a:ln>
              <a:noFill/>
            </a:ln>
          </p:spPr>
          <p:txBody>
            <a:bodyPr wrap="none" lIns="0" tIns="0" rIns="0" bIns="0" anchor="t" anchorCtr="0">
              <a:spAutoFit/>
            </a:bodyPr>
            <a:lstStyle/>
            <a:p>
              <a:pPr algn="l"/>
              <a:r>
                <a:rPr lang="zh-CN" sz="1050" b="1" dirty="0">
                  <a:solidFill>
                    <a:srgbClr val="E94B2B"/>
                  </a:solidFill>
                  <a:latin typeface="+mn-lt"/>
                  <a:ea typeface="+mn-ea"/>
                  <a:cs typeface="+mn-cs"/>
                </a:rPr>
                <a:t>加强市场宣传</a:t>
              </a:r>
            </a:p>
          </p:txBody>
        </p:sp>
        <p:sp>
          <p:nvSpPr>
            <p:cNvPr id="38" name="TextBox 38"/>
            <p:cNvSpPr txBox="1"/>
            <p:nvPr/>
          </p:nvSpPr>
          <p:spPr>
            <a:xfrm>
              <a:off x="1900047" y="3018949"/>
              <a:ext cx="1005586"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33333"/>
                  </a:solidFill>
                  <a:latin typeface="+mn-lt"/>
                  <a:ea typeface="+mn-ea"/>
                  <a:cs typeface="+mn-cs"/>
                </a:rPr>
                <a:t>单击输入正文文字</a:t>
              </a:r>
              <a:br/>
              <a:r>
                <a:rPr lang="zh-CN" sz="980" dirty="0">
                  <a:solidFill>
                    <a:srgbClr val="333333"/>
                  </a:solidFill>
                  <a:latin typeface="+mn-lt"/>
                  <a:ea typeface="+mn-ea"/>
                  <a:cs typeface="+mn-cs"/>
                </a:rPr>
                <a:t>是您思想的提炼</a:t>
              </a:r>
            </a:p>
          </p:txBody>
        </p:sp>
      </p:grpSp>
      <p:grpSp>
        <p:nvGrpSpPr>
          <p:cNvPr id="42" name="note-tech"/>
          <p:cNvGrpSpPr/>
          <p:nvPr/>
        </p:nvGrpSpPr>
        <p:grpSpPr>
          <a:xfrm>
            <a:off x="4328541" y="2953702"/>
            <a:ext cx="1005967" cy="636938"/>
            <a:chOff x="4328541" y="2953702"/>
            <a:chExt cx="1005967" cy="636938"/>
          </a:xfrm>
        </p:grpSpPr>
        <p:sp>
          <p:nvSpPr>
            <p:cNvPr id="40" name="TextBox 40"/>
            <p:cNvSpPr txBox="1"/>
            <p:nvPr/>
          </p:nvSpPr>
          <p:spPr>
            <a:xfrm>
              <a:off x="4328541" y="2953702"/>
              <a:ext cx="858774" cy="205359"/>
            </a:xfrm>
            <a:prstGeom prst="rect">
              <a:avLst/>
            </a:prstGeom>
            <a:noFill/>
            <a:ln>
              <a:noFill/>
            </a:ln>
          </p:spPr>
          <p:txBody>
            <a:bodyPr wrap="none" lIns="0" tIns="0" rIns="0" bIns="0" anchor="t" anchorCtr="0">
              <a:spAutoFit/>
            </a:bodyPr>
            <a:lstStyle/>
            <a:p>
              <a:pPr algn="l"/>
              <a:r>
                <a:rPr lang="zh-CN" sz="1050" b="1" dirty="0">
                  <a:solidFill>
                    <a:srgbClr val="E94B2B"/>
                  </a:solidFill>
                  <a:latin typeface="+mn-lt"/>
                  <a:ea typeface="+mn-ea"/>
                  <a:cs typeface="+mn-cs"/>
                </a:rPr>
                <a:t>加强引进交流</a:t>
              </a:r>
            </a:p>
          </p:txBody>
        </p:sp>
        <p:sp>
          <p:nvSpPr>
            <p:cNvPr id="41" name="TextBox 41"/>
            <p:cNvSpPr txBox="1"/>
            <p:nvPr/>
          </p:nvSpPr>
          <p:spPr>
            <a:xfrm>
              <a:off x="4328922" y="3190399"/>
              <a:ext cx="1005586"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33333"/>
                  </a:solidFill>
                  <a:latin typeface="+mn-lt"/>
                  <a:ea typeface="+mn-ea"/>
                  <a:cs typeface="+mn-cs"/>
                </a:rPr>
                <a:t>单击输入正文文字</a:t>
              </a:r>
              <a:br/>
              <a:r>
                <a:rPr lang="zh-CN" sz="980" dirty="0">
                  <a:solidFill>
                    <a:srgbClr val="333333"/>
                  </a:solidFill>
                  <a:latin typeface="+mn-lt"/>
                  <a:ea typeface="+mn-ea"/>
                  <a:cs typeface="+mn-cs"/>
                </a:rPr>
                <a:t>是您思想的提炼</a:t>
              </a:r>
            </a:p>
          </p:txBody>
        </p:sp>
      </p:grpSp>
      <p:grpSp>
        <p:nvGrpSpPr>
          <p:cNvPr id="45" name="note-market"/>
          <p:cNvGrpSpPr/>
          <p:nvPr/>
        </p:nvGrpSpPr>
        <p:grpSpPr>
          <a:xfrm>
            <a:off x="7214616" y="2953702"/>
            <a:ext cx="1005967" cy="636938"/>
            <a:chOff x="7214616" y="2953702"/>
            <a:chExt cx="1005967" cy="636938"/>
          </a:xfrm>
        </p:grpSpPr>
        <p:sp>
          <p:nvSpPr>
            <p:cNvPr id="43" name="TextBox 43"/>
            <p:cNvSpPr txBox="1"/>
            <p:nvPr/>
          </p:nvSpPr>
          <p:spPr>
            <a:xfrm>
              <a:off x="7214616" y="2953702"/>
              <a:ext cx="858774" cy="205359"/>
            </a:xfrm>
            <a:prstGeom prst="rect">
              <a:avLst/>
            </a:prstGeom>
            <a:noFill/>
            <a:ln>
              <a:noFill/>
            </a:ln>
          </p:spPr>
          <p:txBody>
            <a:bodyPr wrap="none" lIns="0" tIns="0" rIns="0" bIns="0" anchor="t" anchorCtr="0">
              <a:spAutoFit/>
            </a:bodyPr>
            <a:lstStyle/>
            <a:p>
              <a:pPr algn="l"/>
              <a:r>
                <a:rPr lang="zh-CN" sz="1050" b="1" dirty="0">
                  <a:solidFill>
                    <a:srgbClr val="E94B2B"/>
                  </a:solidFill>
                  <a:latin typeface="+mn-lt"/>
                  <a:ea typeface="+mn-ea"/>
                  <a:cs typeface="+mn-cs"/>
                </a:rPr>
                <a:t>深入市场探索</a:t>
              </a:r>
            </a:p>
          </p:txBody>
        </p:sp>
        <p:sp>
          <p:nvSpPr>
            <p:cNvPr id="44" name="TextBox 44"/>
            <p:cNvSpPr txBox="1"/>
            <p:nvPr/>
          </p:nvSpPr>
          <p:spPr>
            <a:xfrm>
              <a:off x="7214997" y="3190399"/>
              <a:ext cx="1005586"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33333"/>
                  </a:solidFill>
                  <a:latin typeface="+mn-lt"/>
                  <a:ea typeface="+mn-ea"/>
                  <a:cs typeface="+mn-cs"/>
                </a:rPr>
                <a:t>单击输入正文文字</a:t>
              </a:r>
              <a:br/>
              <a:r>
                <a:rPr lang="zh-CN" sz="980" dirty="0">
                  <a:solidFill>
                    <a:srgbClr val="333333"/>
                  </a:solidFill>
                  <a:latin typeface="+mn-lt"/>
                  <a:ea typeface="+mn-ea"/>
                  <a:cs typeface="+mn-cs"/>
                </a:rPr>
                <a:t>是您思想的提炼</a:t>
              </a:r>
            </a:p>
          </p:txBody>
        </p:sp>
      </p:grpSp>
      <p:grpSp>
        <p:nvGrpSpPr>
          <p:cNvPr id="48" name="note-operation"/>
          <p:cNvGrpSpPr/>
          <p:nvPr/>
        </p:nvGrpSpPr>
        <p:grpSpPr>
          <a:xfrm>
            <a:off x="9757791" y="2782252"/>
            <a:ext cx="1005967" cy="636938"/>
            <a:chOff x="9757791" y="2782252"/>
            <a:chExt cx="1005967" cy="636938"/>
          </a:xfrm>
        </p:grpSpPr>
        <p:sp>
          <p:nvSpPr>
            <p:cNvPr id="46" name="TextBox 46"/>
            <p:cNvSpPr txBox="1"/>
            <p:nvPr/>
          </p:nvSpPr>
          <p:spPr>
            <a:xfrm>
              <a:off x="9757791" y="2782252"/>
              <a:ext cx="717423" cy="205359"/>
            </a:xfrm>
            <a:prstGeom prst="rect">
              <a:avLst/>
            </a:prstGeom>
            <a:noFill/>
            <a:ln>
              <a:noFill/>
            </a:ln>
          </p:spPr>
          <p:txBody>
            <a:bodyPr wrap="none" lIns="0" tIns="0" rIns="0" bIns="0" anchor="t" anchorCtr="0">
              <a:spAutoFit/>
            </a:bodyPr>
            <a:lstStyle/>
            <a:p>
              <a:pPr algn="l"/>
              <a:r>
                <a:rPr lang="zh-CN" sz="1050" b="1" dirty="0">
                  <a:solidFill>
                    <a:srgbClr val="E94B2B"/>
                  </a:solidFill>
                  <a:latin typeface="+mn-lt"/>
                  <a:ea typeface="+mn-ea"/>
                  <a:cs typeface="+mn-cs"/>
                </a:rPr>
                <a:t>多方面运营</a:t>
              </a:r>
            </a:p>
          </p:txBody>
        </p:sp>
        <p:sp>
          <p:nvSpPr>
            <p:cNvPr id="47" name="TextBox 47"/>
            <p:cNvSpPr txBox="1"/>
            <p:nvPr/>
          </p:nvSpPr>
          <p:spPr>
            <a:xfrm>
              <a:off x="9758172" y="3018949"/>
              <a:ext cx="1005586"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33333"/>
                  </a:solidFill>
                  <a:latin typeface="+mn-lt"/>
                  <a:ea typeface="+mn-ea"/>
                  <a:cs typeface="+mn-cs"/>
                </a:rPr>
                <a:t>单击输入正文文字</a:t>
              </a:r>
              <a:br/>
              <a:r>
                <a:rPr lang="zh-CN" sz="980" dirty="0">
                  <a:solidFill>
                    <a:srgbClr val="333333"/>
                  </a:solidFill>
                  <a:latin typeface="+mn-lt"/>
                  <a:ea typeface="+mn-ea"/>
                  <a:cs typeface="+mn-cs"/>
                </a:rPr>
                <a:t>是您思想的提炼</a:t>
              </a:r>
            </a:p>
          </p:txBody>
        </p:sp>
      </p:grpSp>
      <p:grpSp>
        <p:nvGrpSpPr>
          <p:cNvPr id="96" name="middle-ring"/>
          <p:cNvGrpSpPr/>
          <p:nvPr/>
        </p:nvGrpSpPr>
        <p:grpSpPr>
          <a:xfrm>
            <a:off x="1619250" y="3905250"/>
            <a:ext cx="8953500" cy="1631632"/>
            <a:chOff x="1619250" y="3905250"/>
            <a:chExt cx="8953500" cy="1631632"/>
          </a:xfrm>
        </p:grpSpPr>
        <p:sp>
          <p:nvSpPr>
            <p:cNvPr id="49" name="Ellipse 49"/>
            <p:cNvSpPr/>
            <p:nvPr/>
          </p:nvSpPr>
          <p:spPr>
            <a:xfrm>
              <a:off x="1619250" y="4076700"/>
              <a:ext cx="8953500" cy="1181100"/>
            </a:xfrm>
            <a:prstGeom prst="ellipse">
              <a:avLst/>
            </a:prstGeom>
            <a:gradFill>
              <a:gsLst>
                <a:gs pos="0">
                  <a:srgbClr val="DCEBFB"/>
                </a:gs>
                <a:gs pos="100000">
                  <a:srgbClr val="F2AC9E"/>
                </a:gs>
              </a:gsLst>
              <a:lin ang="5400000" scaled="1"/>
            </a:gradFill>
            <a:ln>
              <a:noFill/>
            </a:ln>
          </p:spPr>
        </p:sp>
        <p:sp>
          <p:nvSpPr>
            <p:cNvPr id="50" name="Ellipse 50"/>
            <p:cNvSpPr/>
            <p:nvPr/>
          </p:nvSpPr>
          <p:spPr>
            <a:xfrm>
              <a:off x="1905000" y="4171950"/>
              <a:ext cx="8382000" cy="914400"/>
            </a:xfrm>
            <a:prstGeom prst="ellipse">
              <a:avLst/>
            </a:prstGeom>
            <a:solidFill>
              <a:srgbClr val="F3F8FE">
                <a:alpha val="60000"/>
              </a:srgbClr>
            </a:solidFill>
            <a:ln>
              <a:noFill/>
            </a:ln>
          </p:spPr>
        </p:sp>
        <p:sp>
          <p:nvSpPr>
            <p:cNvPr id="51" name="Ellipse 51"/>
            <p:cNvSpPr/>
            <p:nvPr/>
          </p:nvSpPr>
          <p:spPr>
            <a:xfrm>
              <a:off x="2333625" y="390525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54" name="Group 54"/>
            <p:cNvGrpSpPr/>
            <p:nvPr/>
          </p:nvGrpSpPr>
          <p:grpSpPr>
            <a:xfrm>
              <a:off x="2501535" y="4078884"/>
              <a:ext cx="229599" cy="229956"/>
              <a:chOff x="2501535" y="4078884"/>
              <a:chExt cx="229599" cy="229956"/>
            </a:xfrm>
          </p:grpSpPr>
          <p:sp>
            <p:nvSpPr>
              <p:cNvPr id="52" name="Freeform 52"/>
              <p:cNvSpPr/>
              <p:nvPr/>
            </p:nvSpPr>
            <p:spPr>
              <a:xfrm>
                <a:off x="2501535" y="4078884"/>
                <a:ext cx="229599" cy="229956"/>
              </a:xfrm>
              <a:custGeom>
                <a:avLst/>
                <a:gdLst/>
                <a:ahLst/>
                <a:cxnLst/>
                <a:rect l="l" t="t" r="r" b="b"/>
                <a:pathLst>
                  <a:path w="229599" h="229956">
                    <a:moveTo>
                      <a:pt x="92440" y="356"/>
                    </a:moveTo>
                    <a:cubicBezTo>
                      <a:pt x="37449" y="13104"/>
                      <a:pt x="0" y="64088"/>
                      <a:pt x="4282" y="120374"/>
                    </a:cubicBezTo>
                    <a:cubicBezTo>
                      <a:pt x="8564" y="176660"/>
                      <a:pt x="53295" y="221391"/>
                      <a:pt x="109582" y="225673"/>
                    </a:cubicBezTo>
                    <a:cubicBezTo>
                      <a:pt x="165868" y="229956"/>
                      <a:pt x="216851" y="192507"/>
                      <a:pt x="229599" y="137516"/>
                    </a:cubicBezTo>
                    <a:cubicBezTo>
                      <a:pt x="229599" y="130502"/>
                      <a:pt x="223913" y="124816"/>
                      <a:pt x="216899" y="124816"/>
                    </a:cubicBezTo>
                    <a:lnTo>
                      <a:pt x="130540" y="124816"/>
                    </a:lnTo>
                    <a:cubicBezTo>
                      <a:pt x="116512" y="124816"/>
                      <a:pt x="105140" y="113444"/>
                      <a:pt x="105140" y="99416"/>
                    </a:cubicBezTo>
                    <a:lnTo>
                      <a:pt x="105140" y="10516"/>
                    </a:lnTo>
                    <a:cubicBezTo>
                      <a:pt x="104821" y="7477"/>
                      <a:pt x="103299" y="4692"/>
                      <a:pt x="100912" y="2783"/>
                    </a:cubicBezTo>
                    <a:cubicBezTo>
                      <a:pt x="98526" y="874"/>
                      <a:pt x="95475" y="0"/>
                      <a:pt x="92440" y="356"/>
                    </a:cubicBezTo>
                  </a:path>
                </a:pathLst>
              </a:custGeom>
              <a:noFill/>
              <a:ln w="25400">
                <a:solidFill>
                  <a:srgbClr val="FFFFFF"/>
                </a:solidFill>
              </a:ln>
            </p:spPr>
          </p:sp>
          <p:sp>
            <p:nvSpPr>
              <p:cNvPr id="53" name="Freeform 53"/>
              <p:cNvSpPr/>
              <p:nvPr/>
            </p:nvSpPr>
            <p:spPr>
              <a:xfrm>
                <a:off x="2657475" y="4083050"/>
                <a:ext cx="69850" cy="69850"/>
              </a:xfrm>
              <a:custGeom>
                <a:avLst/>
                <a:gdLst/>
                <a:ahLst/>
                <a:cxnLst/>
                <a:rect l="l" t="t" r="r" b="b"/>
                <a:pathLst>
                  <a:path w="69850" h="69850">
                    <a:moveTo>
                      <a:pt x="0" y="0"/>
                    </a:moveTo>
                    <a:cubicBezTo>
                      <a:pt x="32662" y="11501"/>
                      <a:pt x="58349" y="37188"/>
                      <a:pt x="69850" y="69850"/>
                    </a:cubicBezTo>
                    <a:lnTo>
                      <a:pt x="12700" y="69850"/>
                    </a:lnTo>
                    <a:cubicBezTo>
                      <a:pt x="5686" y="69850"/>
                      <a:pt x="0" y="64164"/>
                      <a:pt x="0" y="57150"/>
                    </a:cubicBezTo>
                    <a:lnTo>
                      <a:pt x="0" y="0"/>
                    </a:lnTo>
                  </a:path>
                </a:pathLst>
              </a:custGeom>
              <a:noFill/>
              <a:ln w="25400">
                <a:solidFill>
                  <a:srgbClr val="FFFFFF"/>
                </a:solidFill>
              </a:ln>
            </p:spPr>
          </p:sp>
        </p:grpSp>
        <p:sp>
          <p:nvSpPr>
            <p:cNvPr id="55" name="Ellipse 55"/>
            <p:cNvSpPr/>
            <p:nvPr/>
          </p:nvSpPr>
          <p:spPr>
            <a:xfrm>
              <a:off x="3724275" y="411480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58" name="Group 58"/>
            <p:cNvGrpSpPr/>
            <p:nvPr/>
          </p:nvGrpSpPr>
          <p:grpSpPr>
            <a:xfrm>
              <a:off x="3895725" y="4286250"/>
              <a:ext cx="228599" cy="228599"/>
              <a:chOff x="3895725" y="4286250"/>
              <a:chExt cx="228599" cy="228599"/>
            </a:xfrm>
          </p:grpSpPr>
          <p:sp>
            <p:nvSpPr>
              <p:cNvPr id="56" name="Freeform 56"/>
              <p:cNvSpPr/>
              <p:nvPr/>
            </p:nvSpPr>
            <p:spPr>
              <a:xfrm>
                <a:off x="3895725" y="428625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FFFFFF"/>
                </a:solidFill>
              </a:ln>
            </p:spPr>
          </p:sp>
          <p:sp>
            <p:nvSpPr>
              <p:cNvPr id="57" name="Freeform 57"/>
              <p:cNvSpPr/>
              <p:nvPr/>
            </p:nvSpPr>
            <p:spPr>
              <a:xfrm>
                <a:off x="4010025" y="4337050"/>
                <a:ext cx="38100" cy="101600"/>
              </a:xfrm>
              <a:custGeom>
                <a:avLst/>
                <a:gdLst/>
                <a:ahLst/>
                <a:cxnLst/>
                <a:rect l="l" t="t" r="r" b="b"/>
                <a:pathLst>
                  <a:path w="38100" h="101600">
                    <a:moveTo>
                      <a:pt x="0" y="0"/>
                    </a:moveTo>
                    <a:lnTo>
                      <a:pt x="0" y="63500"/>
                    </a:lnTo>
                    <a:lnTo>
                      <a:pt x="38100" y="101600"/>
                    </a:lnTo>
                  </a:path>
                </a:pathLst>
              </a:custGeom>
              <a:noFill/>
              <a:ln w="25400">
                <a:solidFill>
                  <a:srgbClr val="FFFFFF"/>
                </a:solidFill>
              </a:ln>
            </p:spPr>
          </p:sp>
        </p:grpSp>
        <p:sp>
          <p:nvSpPr>
            <p:cNvPr id="59" name="Ellipse 59"/>
            <p:cNvSpPr/>
            <p:nvPr/>
          </p:nvSpPr>
          <p:spPr>
            <a:xfrm>
              <a:off x="5133975" y="419100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60" name="Freeform 60"/>
            <p:cNvSpPr/>
            <p:nvPr/>
          </p:nvSpPr>
          <p:spPr>
            <a:xfrm>
              <a:off x="5292420" y="4365307"/>
              <a:ext cx="253542" cy="224751"/>
            </a:xfrm>
            <a:custGeom>
              <a:avLst/>
              <a:gdLst/>
              <a:ahLst/>
              <a:cxnLst/>
              <a:rect l="l" t="t" r="r" b="b"/>
              <a:pathLst>
                <a:path w="253542" h="224751">
                  <a:moveTo>
                    <a:pt x="13005" y="213042"/>
                  </a:moveTo>
                  <a:lnTo>
                    <a:pt x="29515" y="163512"/>
                  </a:lnTo>
                  <a:cubicBezTo>
                    <a:pt x="0" y="119862"/>
                    <a:pt x="11405" y="63538"/>
                    <a:pt x="56185" y="31763"/>
                  </a:cubicBezTo>
                  <a:cubicBezTo>
                    <a:pt x="100965" y="0"/>
                    <a:pt x="165277" y="2603"/>
                    <a:pt x="206616" y="37859"/>
                  </a:cubicBezTo>
                  <a:cubicBezTo>
                    <a:pt x="247954" y="73126"/>
                    <a:pt x="253542" y="130137"/>
                    <a:pt x="219684" y="171221"/>
                  </a:cubicBezTo>
                  <a:cubicBezTo>
                    <a:pt x="185826" y="212305"/>
                    <a:pt x="122974" y="224751"/>
                    <a:pt x="72695" y="200342"/>
                  </a:cubicBezTo>
                  <a:lnTo>
                    <a:pt x="13005" y="213042"/>
                  </a:lnTo>
                </a:path>
              </a:pathLst>
            </a:custGeom>
            <a:noFill/>
            <a:ln w="25400">
              <a:solidFill>
                <a:srgbClr val="FFFFFF"/>
              </a:solidFill>
            </a:ln>
          </p:spPr>
        </p:sp>
        <p:sp>
          <p:nvSpPr>
            <p:cNvPr id="61" name="Ellipse 61"/>
            <p:cNvSpPr/>
            <p:nvPr/>
          </p:nvSpPr>
          <p:spPr>
            <a:xfrm>
              <a:off x="6486525" y="419100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66" name="Group 66"/>
            <p:cNvGrpSpPr/>
            <p:nvPr/>
          </p:nvGrpSpPr>
          <p:grpSpPr>
            <a:xfrm>
              <a:off x="6657975" y="4362450"/>
              <a:ext cx="228599" cy="228600"/>
              <a:chOff x="6657975" y="4362450"/>
              <a:chExt cx="228599" cy="228600"/>
            </a:xfrm>
          </p:grpSpPr>
          <p:sp>
            <p:nvSpPr>
              <p:cNvPr id="62" name="Freeform 62"/>
              <p:cNvSpPr/>
              <p:nvPr/>
            </p:nvSpPr>
            <p:spPr>
              <a:xfrm>
                <a:off x="6683375" y="436245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rgbClr val="FFFFFF"/>
                </a:solidFill>
              </a:ln>
            </p:spPr>
          </p:sp>
          <p:sp>
            <p:nvSpPr>
              <p:cNvPr id="63" name="Freeform 63"/>
              <p:cNvSpPr/>
              <p:nvPr/>
            </p:nvSpPr>
            <p:spPr>
              <a:xfrm>
                <a:off x="6657975" y="4514850"/>
                <a:ext cx="152400" cy="76200"/>
              </a:xfrm>
              <a:custGeom>
                <a:avLst/>
                <a:gdLst/>
                <a:ahLst/>
                <a:cxnLst/>
                <a:rect l="l" t="t" r="r" b="b"/>
                <a:pathLst>
                  <a:path w="152400" h="76200">
                    <a:moveTo>
                      <a:pt x="0" y="76200"/>
                    </a:moveTo>
                    <a:lnTo>
                      <a:pt x="0" y="50800"/>
                    </a:lnTo>
                    <a:cubicBezTo>
                      <a:pt x="0" y="22744"/>
                      <a:pt x="22744" y="0"/>
                      <a:pt x="50800" y="0"/>
                    </a:cubicBezTo>
                    <a:lnTo>
                      <a:pt x="101600" y="0"/>
                    </a:lnTo>
                    <a:cubicBezTo>
                      <a:pt x="129656" y="0"/>
                      <a:pt x="152400" y="22744"/>
                      <a:pt x="152400" y="50800"/>
                    </a:cubicBezTo>
                    <a:lnTo>
                      <a:pt x="152400" y="76200"/>
                    </a:lnTo>
                  </a:path>
                </a:pathLst>
              </a:custGeom>
              <a:noFill/>
              <a:ln w="25400">
                <a:solidFill>
                  <a:srgbClr val="FFFFFF"/>
                </a:solidFill>
              </a:ln>
            </p:spPr>
          </p:sp>
          <p:sp>
            <p:nvSpPr>
              <p:cNvPr id="64" name="Freeform 64"/>
              <p:cNvSpPr/>
              <p:nvPr/>
            </p:nvSpPr>
            <p:spPr>
              <a:xfrm>
                <a:off x="6823074" y="4364101"/>
                <a:ext cx="38200" cy="98425"/>
              </a:xfrm>
              <a:custGeom>
                <a:avLst/>
                <a:gdLst/>
                <a:ahLst/>
                <a:cxnLst/>
                <a:rect l="l" t="t" r="r" b="b"/>
                <a:pathLst>
                  <a:path w="38200" h="98425">
                    <a:moveTo>
                      <a:pt x="0" y="0"/>
                    </a:moveTo>
                    <a:cubicBezTo>
                      <a:pt x="22478" y="5755"/>
                      <a:pt x="38200" y="26009"/>
                      <a:pt x="38200" y="49212"/>
                    </a:cubicBezTo>
                    <a:cubicBezTo>
                      <a:pt x="38200" y="72415"/>
                      <a:pt x="22478" y="92670"/>
                      <a:pt x="0" y="98425"/>
                    </a:cubicBezTo>
                  </a:path>
                </a:pathLst>
              </a:custGeom>
              <a:noFill/>
              <a:ln w="25400">
                <a:solidFill>
                  <a:srgbClr val="FFFFFF"/>
                </a:solidFill>
              </a:ln>
            </p:spPr>
          </p:sp>
          <p:sp>
            <p:nvSpPr>
              <p:cNvPr id="65" name="Freeform 65"/>
              <p:cNvSpPr/>
              <p:nvPr/>
            </p:nvSpPr>
            <p:spPr>
              <a:xfrm>
                <a:off x="6848474" y="4516755"/>
                <a:ext cx="38100" cy="74295"/>
              </a:xfrm>
              <a:custGeom>
                <a:avLst/>
                <a:gdLst/>
                <a:ahLst/>
                <a:cxnLst/>
                <a:rect l="l" t="t" r="r" b="b"/>
                <a:pathLst>
                  <a:path w="38100" h="74295">
                    <a:moveTo>
                      <a:pt x="38100" y="74295"/>
                    </a:moveTo>
                    <a:lnTo>
                      <a:pt x="38100" y="48895"/>
                    </a:lnTo>
                    <a:cubicBezTo>
                      <a:pt x="37967" y="25839"/>
                      <a:pt x="22324" y="5764"/>
                      <a:pt x="0" y="0"/>
                    </a:cubicBezTo>
                  </a:path>
                </a:pathLst>
              </a:custGeom>
              <a:noFill/>
              <a:ln w="25400">
                <a:solidFill>
                  <a:srgbClr val="FFFFFF"/>
                </a:solidFill>
              </a:ln>
            </p:spPr>
          </p:sp>
        </p:grpSp>
        <p:sp>
          <p:nvSpPr>
            <p:cNvPr id="67" name="Ellipse 67"/>
            <p:cNvSpPr/>
            <p:nvPr/>
          </p:nvSpPr>
          <p:spPr>
            <a:xfrm>
              <a:off x="7839075" y="411480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73" name="Group 73"/>
            <p:cNvGrpSpPr/>
            <p:nvPr/>
          </p:nvGrpSpPr>
          <p:grpSpPr>
            <a:xfrm>
              <a:off x="8035925" y="4286250"/>
              <a:ext cx="177800" cy="228599"/>
              <a:chOff x="8035925" y="4286250"/>
              <a:chExt cx="177800" cy="228599"/>
            </a:xfrm>
          </p:grpSpPr>
          <p:sp>
            <p:nvSpPr>
              <p:cNvPr id="68" name="Freeform 68"/>
              <p:cNvSpPr/>
              <p:nvPr/>
            </p:nvSpPr>
            <p:spPr>
              <a:xfrm>
                <a:off x="8150225" y="428625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rgbClr val="FFFFFF"/>
                </a:solidFill>
              </a:ln>
            </p:spPr>
          </p:sp>
          <p:sp>
            <p:nvSpPr>
              <p:cNvPr id="69" name="Freeform 69"/>
              <p:cNvSpPr/>
              <p:nvPr/>
            </p:nvSpPr>
            <p:spPr>
              <a:xfrm>
                <a:off x="8035925" y="428625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rgbClr val="FFFFFF"/>
                </a:solidFill>
              </a:ln>
            </p:spPr>
          </p:sp>
          <p:sp>
            <p:nvSpPr>
              <p:cNvPr id="70" name="Freeform 70"/>
              <p:cNvSpPr/>
              <p:nvPr/>
            </p:nvSpPr>
            <p:spPr>
              <a:xfrm>
                <a:off x="8086725" y="4362450"/>
                <a:ext cx="12700" cy="9525"/>
              </a:xfrm>
              <a:custGeom>
                <a:avLst/>
                <a:gdLst/>
                <a:ahLst/>
                <a:cxnLst/>
                <a:rect l="l" t="t" r="r" b="b"/>
                <a:pathLst>
                  <a:path w="12700" h="9525">
                    <a:moveTo>
                      <a:pt x="0" y="0"/>
                    </a:moveTo>
                    <a:lnTo>
                      <a:pt x="12700" y="0"/>
                    </a:lnTo>
                  </a:path>
                </a:pathLst>
              </a:custGeom>
              <a:noFill/>
              <a:ln w="25400">
                <a:solidFill>
                  <a:srgbClr val="FFFFFF"/>
                </a:solidFill>
              </a:ln>
            </p:spPr>
          </p:sp>
          <p:sp>
            <p:nvSpPr>
              <p:cNvPr id="71" name="Freeform 71"/>
              <p:cNvSpPr/>
              <p:nvPr/>
            </p:nvSpPr>
            <p:spPr>
              <a:xfrm>
                <a:off x="8086725" y="4413250"/>
                <a:ext cx="76200" cy="9525"/>
              </a:xfrm>
              <a:custGeom>
                <a:avLst/>
                <a:gdLst/>
                <a:ahLst/>
                <a:cxnLst/>
                <a:rect l="l" t="t" r="r" b="b"/>
                <a:pathLst>
                  <a:path w="76200" h="9525">
                    <a:moveTo>
                      <a:pt x="0" y="0"/>
                    </a:moveTo>
                    <a:lnTo>
                      <a:pt x="76200" y="0"/>
                    </a:lnTo>
                  </a:path>
                </a:pathLst>
              </a:custGeom>
              <a:noFill/>
              <a:ln w="25400">
                <a:solidFill>
                  <a:srgbClr val="FFFFFF"/>
                </a:solidFill>
              </a:ln>
            </p:spPr>
          </p:sp>
          <p:sp>
            <p:nvSpPr>
              <p:cNvPr id="72" name="Freeform 72"/>
              <p:cNvSpPr/>
              <p:nvPr/>
            </p:nvSpPr>
            <p:spPr>
              <a:xfrm>
                <a:off x="8086725" y="4464049"/>
                <a:ext cx="76200" cy="9525"/>
              </a:xfrm>
              <a:custGeom>
                <a:avLst/>
                <a:gdLst/>
                <a:ahLst/>
                <a:cxnLst/>
                <a:rect l="l" t="t" r="r" b="b"/>
                <a:pathLst>
                  <a:path w="76200" h="9525">
                    <a:moveTo>
                      <a:pt x="0" y="0"/>
                    </a:moveTo>
                    <a:lnTo>
                      <a:pt x="76200" y="0"/>
                    </a:lnTo>
                  </a:path>
                </a:pathLst>
              </a:custGeom>
              <a:noFill/>
              <a:ln w="25400">
                <a:solidFill>
                  <a:srgbClr val="FFFFFF"/>
                </a:solidFill>
              </a:ln>
            </p:spPr>
          </p:sp>
        </p:grpSp>
        <p:sp>
          <p:nvSpPr>
            <p:cNvPr id="74" name="Ellipse 74"/>
            <p:cNvSpPr/>
            <p:nvPr/>
          </p:nvSpPr>
          <p:spPr>
            <a:xfrm>
              <a:off x="9286875" y="390525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77" name="Group 77"/>
            <p:cNvGrpSpPr/>
            <p:nvPr/>
          </p:nvGrpSpPr>
          <p:grpSpPr>
            <a:xfrm>
              <a:off x="9458325" y="4127500"/>
              <a:ext cx="228600" cy="127000"/>
              <a:chOff x="9458325" y="4127500"/>
              <a:chExt cx="228600" cy="127000"/>
            </a:xfrm>
          </p:grpSpPr>
          <p:sp>
            <p:nvSpPr>
              <p:cNvPr id="75" name="Freeform 75"/>
              <p:cNvSpPr/>
              <p:nvPr/>
            </p:nvSpPr>
            <p:spPr>
              <a:xfrm>
                <a:off x="9458325" y="4127500"/>
                <a:ext cx="228599" cy="127000"/>
              </a:xfrm>
              <a:custGeom>
                <a:avLst/>
                <a:gdLst/>
                <a:ahLst/>
                <a:cxnLst/>
                <a:rect l="l" t="t" r="r" b="b"/>
                <a:pathLst>
                  <a:path w="228599" h="127000">
                    <a:moveTo>
                      <a:pt x="0" y="127000"/>
                    </a:moveTo>
                    <a:lnTo>
                      <a:pt x="76200" y="50800"/>
                    </a:lnTo>
                    <a:lnTo>
                      <a:pt x="127000" y="101600"/>
                    </a:lnTo>
                    <a:lnTo>
                      <a:pt x="228599" y="0"/>
                    </a:lnTo>
                  </a:path>
                </a:pathLst>
              </a:custGeom>
              <a:noFill/>
              <a:ln w="25400">
                <a:solidFill>
                  <a:srgbClr val="FFFFFF"/>
                </a:solidFill>
              </a:ln>
            </p:spPr>
          </p:sp>
          <p:sp>
            <p:nvSpPr>
              <p:cNvPr id="76" name="Freeform 76"/>
              <p:cNvSpPr/>
              <p:nvPr/>
            </p:nvSpPr>
            <p:spPr>
              <a:xfrm>
                <a:off x="9598025" y="4127500"/>
                <a:ext cx="88900" cy="88900"/>
              </a:xfrm>
              <a:custGeom>
                <a:avLst/>
                <a:gdLst/>
                <a:ahLst/>
                <a:cxnLst/>
                <a:rect l="l" t="t" r="r" b="b"/>
                <a:pathLst>
                  <a:path w="88900" h="88900">
                    <a:moveTo>
                      <a:pt x="0" y="0"/>
                    </a:moveTo>
                    <a:lnTo>
                      <a:pt x="88900" y="0"/>
                    </a:lnTo>
                    <a:lnTo>
                      <a:pt x="88900" y="88900"/>
                    </a:lnTo>
                  </a:path>
                </a:pathLst>
              </a:custGeom>
              <a:noFill/>
              <a:ln w="25400">
                <a:solidFill>
                  <a:srgbClr val="FFFFFF"/>
                </a:solidFill>
              </a:ln>
            </p:spPr>
          </p:sp>
        </p:grpSp>
        <p:sp>
          <p:nvSpPr>
            <p:cNvPr id="78" name="Ellipse 78"/>
            <p:cNvSpPr/>
            <p:nvPr/>
          </p:nvSpPr>
          <p:spPr>
            <a:xfrm>
              <a:off x="2581275" y="4838700"/>
              <a:ext cx="76200" cy="76200"/>
            </a:xfrm>
            <a:prstGeom prst="ellipse">
              <a:avLst/>
            </a:prstGeom>
            <a:solidFill>
              <a:srgbClr val="E94B2B"/>
            </a:solidFill>
            <a:ln>
              <a:noFill/>
            </a:ln>
          </p:spPr>
        </p:sp>
        <p:sp>
          <p:nvSpPr>
            <p:cNvPr id="79" name="Ellipse 79"/>
            <p:cNvSpPr/>
            <p:nvPr/>
          </p:nvSpPr>
          <p:spPr>
            <a:xfrm>
              <a:off x="3971925" y="5029200"/>
              <a:ext cx="76200" cy="76200"/>
            </a:xfrm>
            <a:prstGeom prst="ellipse">
              <a:avLst/>
            </a:prstGeom>
            <a:solidFill>
              <a:srgbClr val="E94B2B"/>
            </a:solidFill>
            <a:ln>
              <a:noFill/>
            </a:ln>
          </p:spPr>
        </p:sp>
        <p:sp>
          <p:nvSpPr>
            <p:cNvPr id="80" name="Ellipse 80"/>
            <p:cNvSpPr/>
            <p:nvPr/>
          </p:nvSpPr>
          <p:spPr>
            <a:xfrm>
              <a:off x="5381625" y="5105400"/>
              <a:ext cx="76200" cy="76200"/>
            </a:xfrm>
            <a:prstGeom prst="ellipse">
              <a:avLst/>
            </a:prstGeom>
            <a:solidFill>
              <a:srgbClr val="E94B2B"/>
            </a:solidFill>
            <a:ln>
              <a:noFill/>
            </a:ln>
          </p:spPr>
        </p:sp>
        <p:sp>
          <p:nvSpPr>
            <p:cNvPr id="81" name="Ellipse 81"/>
            <p:cNvSpPr/>
            <p:nvPr/>
          </p:nvSpPr>
          <p:spPr>
            <a:xfrm>
              <a:off x="6734175" y="5105400"/>
              <a:ext cx="76200" cy="76200"/>
            </a:xfrm>
            <a:prstGeom prst="ellipse">
              <a:avLst/>
            </a:prstGeom>
            <a:solidFill>
              <a:srgbClr val="E94B2B"/>
            </a:solidFill>
            <a:ln>
              <a:noFill/>
            </a:ln>
          </p:spPr>
        </p:sp>
        <p:sp>
          <p:nvSpPr>
            <p:cNvPr id="82" name="Ellipse 82"/>
            <p:cNvSpPr/>
            <p:nvPr/>
          </p:nvSpPr>
          <p:spPr>
            <a:xfrm>
              <a:off x="8086725" y="5029200"/>
              <a:ext cx="76200" cy="76200"/>
            </a:xfrm>
            <a:prstGeom prst="ellipse">
              <a:avLst/>
            </a:prstGeom>
            <a:solidFill>
              <a:srgbClr val="E94B2B"/>
            </a:solidFill>
            <a:ln>
              <a:noFill/>
            </a:ln>
          </p:spPr>
        </p:sp>
        <p:sp>
          <p:nvSpPr>
            <p:cNvPr id="83" name="Ellipse 83"/>
            <p:cNvSpPr/>
            <p:nvPr/>
          </p:nvSpPr>
          <p:spPr>
            <a:xfrm>
              <a:off x="9534525" y="4838700"/>
              <a:ext cx="76200" cy="76200"/>
            </a:xfrm>
            <a:prstGeom prst="ellipse">
              <a:avLst/>
            </a:prstGeom>
            <a:solidFill>
              <a:srgbClr val="E94B2B"/>
            </a:solidFill>
            <a:ln>
              <a:noFill/>
            </a:ln>
          </p:spPr>
        </p:sp>
        <p:sp>
          <p:nvSpPr>
            <p:cNvPr id="84" name="Rectangle 84"/>
            <p:cNvSpPr/>
            <p:nvPr/>
          </p:nvSpPr>
          <p:spPr>
            <a:xfrm>
              <a:off x="2200275" y="5029200"/>
              <a:ext cx="838200" cy="228600"/>
            </a:xfrm>
            <a:prstGeom prst="roundRect">
              <a:avLst>
                <a:gd name="adj" fmla="val 50000"/>
              </a:avLst>
            </a:prstGeom>
            <a:solidFill>
              <a:srgbClr val="FFFFFF"/>
            </a:solidFill>
            <a:ln w="9525">
              <a:solidFill>
                <a:srgbClr val="C9DDF5"/>
              </a:solidFill>
            </a:ln>
          </p:spPr>
        </p:sp>
        <p:sp>
          <p:nvSpPr>
            <p:cNvPr id="85" name="TextBox 85"/>
            <p:cNvSpPr txBox="1"/>
            <p:nvPr/>
          </p:nvSpPr>
          <p:spPr>
            <a:xfrm>
              <a:off x="2372296" y="50939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数据优化</a:t>
              </a:r>
            </a:p>
          </p:txBody>
        </p:sp>
        <p:sp>
          <p:nvSpPr>
            <p:cNvPr id="86" name="Rectangle 86"/>
            <p:cNvSpPr/>
            <p:nvPr/>
          </p:nvSpPr>
          <p:spPr>
            <a:xfrm>
              <a:off x="3590925" y="5219700"/>
              <a:ext cx="838200" cy="228600"/>
            </a:xfrm>
            <a:prstGeom prst="roundRect">
              <a:avLst>
                <a:gd name="adj" fmla="val 50000"/>
              </a:avLst>
            </a:prstGeom>
            <a:solidFill>
              <a:srgbClr val="FFFFFF"/>
            </a:solidFill>
            <a:ln w="9525">
              <a:solidFill>
                <a:srgbClr val="C9DDF5"/>
              </a:solidFill>
            </a:ln>
          </p:spPr>
        </p:sp>
        <p:sp>
          <p:nvSpPr>
            <p:cNvPr id="87" name="TextBox 87"/>
            <p:cNvSpPr txBox="1"/>
            <p:nvPr/>
          </p:nvSpPr>
          <p:spPr>
            <a:xfrm>
              <a:off x="3762946" y="52844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时间管理</a:t>
              </a:r>
            </a:p>
          </p:txBody>
        </p:sp>
        <p:sp>
          <p:nvSpPr>
            <p:cNvPr id="88" name="Rectangle 88"/>
            <p:cNvSpPr/>
            <p:nvPr/>
          </p:nvSpPr>
          <p:spPr>
            <a:xfrm>
              <a:off x="5000625" y="5295900"/>
              <a:ext cx="838200" cy="228600"/>
            </a:xfrm>
            <a:prstGeom prst="roundRect">
              <a:avLst>
                <a:gd name="adj" fmla="val 50000"/>
              </a:avLst>
            </a:prstGeom>
            <a:solidFill>
              <a:srgbClr val="FFFFFF"/>
            </a:solidFill>
            <a:ln w="9525">
              <a:solidFill>
                <a:srgbClr val="C9DDF5"/>
              </a:solidFill>
            </a:ln>
          </p:spPr>
        </p:sp>
        <p:sp>
          <p:nvSpPr>
            <p:cNvPr id="89" name="TextBox 89"/>
            <p:cNvSpPr txBox="1"/>
            <p:nvPr/>
          </p:nvSpPr>
          <p:spPr>
            <a:xfrm>
              <a:off x="5172646" y="53606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信息集中</a:t>
              </a:r>
            </a:p>
          </p:txBody>
        </p:sp>
        <p:sp>
          <p:nvSpPr>
            <p:cNvPr id="90" name="Rectangle 90"/>
            <p:cNvSpPr/>
            <p:nvPr/>
          </p:nvSpPr>
          <p:spPr>
            <a:xfrm>
              <a:off x="6353175" y="5295900"/>
              <a:ext cx="838200" cy="228600"/>
            </a:xfrm>
            <a:prstGeom prst="roundRect">
              <a:avLst>
                <a:gd name="adj" fmla="val 50000"/>
              </a:avLst>
            </a:prstGeom>
            <a:solidFill>
              <a:srgbClr val="FFFFFF"/>
            </a:solidFill>
            <a:ln w="9525">
              <a:solidFill>
                <a:srgbClr val="C9DDF5"/>
              </a:solidFill>
            </a:ln>
          </p:spPr>
        </p:sp>
        <p:sp>
          <p:nvSpPr>
            <p:cNvPr id="91" name="TextBox 91"/>
            <p:cNvSpPr txBox="1"/>
            <p:nvPr/>
          </p:nvSpPr>
          <p:spPr>
            <a:xfrm>
              <a:off x="6525196" y="53606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及时传递</a:t>
              </a:r>
            </a:p>
          </p:txBody>
        </p:sp>
        <p:sp>
          <p:nvSpPr>
            <p:cNvPr id="92" name="Rectangle 92"/>
            <p:cNvSpPr/>
            <p:nvPr/>
          </p:nvSpPr>
          <p:spPr>
            <a:xfrm>
              <a:off x="7705725" y="5219700"/>
              <a:ext cx="838200" cy="228600"/>
            </a:xfrm>
            <a:prstGeom prst="roundRect">
              <a:avLst>
                <a:gd name="adj" fmla="val 50000"/>
              </a:avLst>
            </a:prstGeom>
            <a:solidFill>
              <a:srgbClr val="FFFFFF"/>
            </a:solidFill>
            <a:ln w="9525">
              <a:solidFill>
                <a:srgbClr val="C9DDF5"/>
              </a:solidFill>
            </a:ln>
          </p:spPr>
        </p:sp>
        <p:sp>
          <p:nvSpPr>
            <p:cNvPr id="93" name="TextBox 93"/>
            <p:cNvSpPr txBox="1"/>
            <p:nvPr/>
          </p:nvSpPr>
          <p:spPr>
            <a:xfrm>
              <a:off x="7877746" y="52844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资料管理</a:t>
              </a:r>
            </a:p>
          </p:txBody>
        </p:sp>
        <p:sp>
          <p:nvSpPr>
            <p:cNvPr id="94" name="Rectangle 94"/>
            <p:cNvSpPr/>
            <p:nvPr/>
          </p:nvSpPr>
          <p:spPr>
            <a:xfrm>
              <a:off x="9153525" y="5029200"/>
              <a:ext cx="838200" cy="228600"/>
            </a:xfrm>
            <a:prstGeom prst="roundRect">
              <a:avLst>
                <a:gd name="adj" fmla="val 50000"/>
              </a:avLst>
            </a:prstGeom>
            <a:solidFill>
              <a:srgbClr val="FFFFFF"/>
            </a:solidFill>
            <a:ln w="9525">
              <a:solidFill>
                <a:srgbClr val="C9DDF5"/>
              </a:solidFill>
            </a:ln>
          </p:spPr>
        </p:sp>
        <p:sp>
          <p:nvSpPr>
            <p:cNvPr id="95" name="TextBox 95"/>
            <p:cNvSpPr txBox="1"/>
            <p:nvPr/>
          </p:nvSpPr>
          <p:spPr>
            <a:xfrm>
              <a:off x="9325546" y="50939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提高效率</a:t>
              </a:r>
            </a:p>
          </p:txBody>
        </p:sp>
      </p:grpSp>
      <p:grpSp>
        <p:nvGrpSpPr>
          <p:cNvPr id="99" name="cylinder-base"/>
          <p:cNvGrpSpPr/>
          <p:nvPr/>
        </p:nvGrpSpPr>
        <p:grpSpPr>
          <a:xfrm>
            <a:off x="1905000" y="5695950"/>
            <a:ext cx="8382000" cy="1162050"/>
            <a:chOff x="1905000" y="5695950"/>
            <a:chExt cx="8382000" cy="1162050"/>
          </a:xfrm>
        </p:grpSpPr>
        <p:sp>
          <p:nvSpPr>
            <p:cNvPr id="97" name="Rectangle 97"/>
            <p:cNvSpPr/>
            <p:nvPr/>
          </p:nvSpPr>
          <p:spPr>
            <a:xfrm>
              <a:off x="1905000" y="6096000"/>
              <a:ext cx="8382000" cy="762000"/>
            </a:xfrm>
            <a:prstGeom prst="rect">
              <a:avLst/>
            </a:prstGeom>
            <a:gradFill>
              <a:gsLst>
                <a:gs pos="0">
                  <a:srgbClr val="F2745A"/>
                </a:gs>
                <a:gs pos="50000">
                  <a:srgbClr val="E94B2B"/>
                </a:gs>
                <a:gs pos="100000">
                  <a:srgbClr val="F2745A"/>
                </a:gs>
              </a:gsLst>
              <a:lin ang="0" scaled="1"/>
            </a:gradFill>
            <a:ln>
              <a:noFill/>
            </a:ln>
          </p:spPr>
        </p:sp>
        <p:sp>
          <p:nvSpPr>
            <p:cNvPr id="98" name="Ellipse 98"/>
            <p:cNvSpPr/>
            <p:nvPr/>
          </p:nvSpPr>
          <p:spPr>
            <a:xfrm>
              <a:off x="1905000" y="5695950"/>
              <a:ext cx="8382000" cy="800100"/>
            </a:xfrm>
            <a:prstGeom prst="ellipse">
              <a:avLst/>
            </a:prstGeom>
            <a:gradFill>
              <a:gsLst>
                <a:gs pos="0">
                  <a:srgbClr val="EAF3FD"/>
                </a:gs>
                <a:gs pos="100000">
                  <a:srgbClr val="F6C2B7"/>
                </a:gs>
              </a:gsLst>
              <a:lin ang="5400000" scaled="1"/>
            </a:gradFill>
            <a:ln>
              <a:noFill/>
            </a:ln>
          </p:spPr>
        </p:sp>
      </p:gr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unnel-dec"/>
          <p:cNvSpPr/>
          <p:nvPr/>
        </p:nvSpPr>
        <p:spPr>
          <a:xfrm>
            <a:off x="1047750" y="1600200"/>
            <a:ext cx="10096500" cy="3733800"/>
          </a:xfrm>
          <a:custGeom>
            <a:avLst/>
            <a:gdLst/>
            <a:ahLst/>
            <a:cxnLst/>
            <a:rect l="l" t="t" r="r" b="b"/>
            <a:pathLst>
              <a:path w="10096500" h="3733800">
                <a:moveTo>
                  <a:pt x="0" y="0"/>
                </a:moveTo>
                <a:cubicBezTo>
                  <a:pt x="3365500" y="298450"/>
                  <a:pt x="6731000" y="298450"/>
                  <a:pt x="10096500" y="0"/>
                </a:cubicBezTo>
                <a:lnTo>
                  <a:pt x="5619750" y="3733800"/>
                </a:lnTo>
                <a:lnTo>
                  <a:pt x="4476750" y="3733800"/>
                </a:lnTo>
                <a:close/>
              </a:path>
            </a:pathLst>
          </a:custGeom>
          <a:gradFill>
            <a:gsLst>
              <a:gs pos="0">
                <a:srgbClr val="DCEBFB">
                  <a:alpha val="90000"/>
                </a:srgbClr>
              </a:gs>
              <a:gs pos="100000">
                <a:srgbClr val="F2AC9E">
                  <a:alpha val="35000"/>
                </a:srgbClr>
              </a:gs>
            </a:gsLst>
            <a:lin ang="5400000" scaled="1"/>
          </a:gradFill>
          <a:ln>
            <a:noFill/>
          </a:ln>
        </p:spPr>
      </p:sp>
      <p:sp>
        <p:nvSpPr>
          <p:cNvPr id="3" name="top-arc-dec"/>
          <p:cNvSpPr/>
          <p:nvPr/>
        </p:nvSpPr>
        <p:spPr>
          <a:xfrm>
            <a:off x="571500" y="1320800"/>
            <a:ext cx="11049000" cy="355600"/>
          </a:xfrm>
          <a:custGeom>
            <a:avLst/>
            <a:gdLst/>
            <a:ahLst/>
            <a:cxnLst/>
            <a:rect l="l" t="t" r="r" b="b"/>
            <a:pathLst>
              <a:path w="11049000" h="355600">
                <a:moveTo>
                  <a:pt x="0" y="355600"/>
                </a:moveTo>
                <a:cubicBezTo>
                  <a:pt x="3683000" y="0"/>
                  <a:pt x="7366000" y="0"/>
                  <a:pt x="11049000" y="355600"/>
                </a:cubicBezTo>
              </a:path>
            </a:pathLst>
          </a:custGeom>
          <a:noFill/>
          <a:ln w="19050">
            <a:solidFill>
              <a:srgbClr val="F2AC9E"/>
            </a:solidFill>
          </a:ln>
        </p:spPr>
      </p:sp>
      <p:sp>
        <p:nvSpPr>
          <p:cNvPr id="4" name="Line 4"/>
          <p:cNvSpPr/>
          <p:nvPr/>
        </p:nvSpPr>
        <p:spPr>
          <a:xfrm>
            <a:off x="6096000" y="5295900"/>
            <a:ext cx="1" cy="247650"/>
          </a:xfrm>
          <a:prstGeom prst="line">
            <a:avLst/>
          </a:prstGeom>
          <a:noFill/>
          <a:ln w="38100">
            <a:solidFill>
              <a:srgbClr val="F5927E"/>
            </a:solidFill>
            <a:tailEnd type="triangle" w="lg" len="lg"/>
          </a:ln>
        </p:spPr>
      </p:sp>
      <p:grpSp>
        <p:nvGrpSpPr>
          <p:cNvPr id="9" name="page-header"/>
          <p:cNvGrpSpPr/>
          <p:nvPr/>
        </p:nvGrpSpPr>
        <p:grpSpPr>
          <a:xfrm>
            <a:off x="0" y="0"/>
            <a:ext cx="11811000" cy="561404"/>
            <a:chOff x="0" y="0"/>
            <a:chExt cx="11811000" cy="561404"/>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6" name="TextBox 6"/>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05</a:t>
              </a:r>
            </a:p>
          </p:txBody>
        </p:sp>
        <p:sp>
          <p:nvSpPr>
            <p:cNvPr id="7" name="TextBox 7"/>
            <p:cNvSpPr txBox="1"/>
            <p:nvPr/>
          </p:nvSpPr>
          <p:spPr>
            <a:xfrm>
              <a:off x="904494" y="180023"/>
              <a:ext cx="307086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实现服务管理可视化调度</a:t>
              </a:r>
            </a:p>
          </p:txBody>
        </p:sp>
        <p:sp>
          <p:nvSpPr>
            <p:cNvPr id="8" name="Line 8"/>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9" name="skill-vision"/>
          <p:cNvGrpSpPr/>
          <p:nvPr/>
        </p:nvGrpSpPr>
        <p:grpSpPr>
          <a:xfrm>
            <a:off x="971550" y="1524000"/>
            <a:ext cx="1200150" cy="1679257"/>
            <a:chOff x="971550" y="1524000"/>
            <a:chExt cx="1200150" cy="1679257"/>
          </a:xfrm>
        </p:grpSpPr>
        <p:sp>
          <p:nvSpPr>
            <p:cNvPr id="10" name="Ellipse 10"/>
            <p:cNvSpPr/>
            <p:nvPr/>
          </p:nvSpPr>
          <p:spPr>
            <a:xfrm>
              <a:off x="1228725" y="152400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13" name="Group 13"/>
            <p:cNvGrpSpPr/>
            <p:nvPr/>
          </p:nvGrpSpPr>
          <p:grpSpPr>
            <a:xfrm>
              <a:off x="1428750" y="1771650"/>
              <a:ext cx="285751" cy="190500"/>
              <a:chOff x="1428750" y="1771650"/>
              <a:chExt cx="285751" cy="190500"/>
            </a:xfrm>
          </p:grpSpPr>
          <p:sp>
            <p:nvSpPr>
              <p:cNvPr id="11" name="Freeform 11"/>
              <p:cNvSpPr/>
              <p:nvPr/>
            </p:nvSpPr>
            <p:spPr>
              <a:xfrm>
                <a:off x="1539875" y="18351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31750">
                <a:solidFill>
                  <a:srgbClr val="FFFFFF"/>
                </a:solidFill>
              </a:ln>
            </p:spPr>
          </p:sp>
          <p:sp>
            <p:nvSpPr>
              <p:cNvPr id="12" name="Freeform 12"/>
              <p:cNvSpPr/>
              <p:nvPr/>
            </p:nvSpPr>
            <p:spPr>
              <a:xfrm>
                <a:off x="1428750" y="1771650"/>
                <a:ext cx="285751" cy="190500"/>
              </a:xfrm>
              <a:custGeom>
                <a:avLst/>
                <a:gdLst/>
                <a:ahLst/>
                <a:cxnLst/>
                <a:rect l="l" t="t" r="r" b="b"/>
                <a:pathLst>
                  <a:path w="285751" h="190500">
                    <a:moveTo>
                      <a:pt x="285751" y="95250"/>
                    </a:moveTo>
                    <a:cubicBezTo>
                      <a:pt x="247650" y="158750"/>
                      <a:pt x="200025" y="190500"/>
                      <a:pt x="142875" y="190500"/>
                    </a:cubicBezTo>
                    <a:cubicBezTo>
                      <a:pt x="85725" y="190500"/>
                      <a:pt x="38100" y="158750"/>
                      <a:pt x="0" y="95250"/>
                    </a:cubicBezTo>
                    <a:cubicBezTo>
                      <a:pt x="38100" y="31750"/>
                      <a:pt x="85725" y="0"/>
                      <a:pt x="142875" y="0"/>
                    </a:cubicBezTo>
                    <a:cubicBezTo>
                      <a:pt x="200025" y="0"/>
                      <a:pt x="247650" y="31750"/>
                      <a:pt x="285751" y="95250"/>
                    </a:cubicBezTo>
                  </a:path>
                </a:pathLst>
              </a:custGeom>
              <a:noFill/>
              <a:ln w="31750">
                <a:solidFill>
                  <a:srgbClr val="FFFFFF"/>
                </a:solidFill>
              </a:ln>
            </p:spPr>
          </p:sp>
        </p:grpSp>
        <p:sp>
          <p:nvSpPr>
            <p:cNvPr id="14" name="TextBox 14"/>
            <p:cNvSpPr txBox="1"/>
            <p:nvPr/>
          </p:nvSpPr>
          <p:spPr>
            <a:xfrm>
              <a:off x="1242441" y="2327910"/>
              <a:ext cx="658368" cy="234696"/>
            </a:xfrm>
            <a:prstGeom prst="rect">
              <a:avLst/>
            </a:prstGeom>
            <a:noFill/>
            <a:ln>
              <a:noFill/>
            </a:ln>
          </p:spPr>
          <p:txBody>
            <a:bodyPr wrap="none" lIns="0" tIns="0" rIns="0" bIns="0" anchor="t" anchorCtr="0">
              <a:spAutoFit/>
            </a:bodyPr>
            <a:lstStyle/>
            <a:p>
              <a:pPr algn="ctr"/>
              <a:r>
                <a:rPr lang="zh-CN" sz="1200" dirty="0">
                  <a:solidFill>
                    <a:srgbClr val="E94B2B"/>
                  </a:solidFill>
                  <a:latin typeface="+mn-lt"/>
                  <a:ea typeface="+mn-ea"/>
                  <a:cs typeface="+mn-cs"/>
                </a:rPr>
                <a:t>视觉技能</a:t>
              </a:r>
            </a:p>
          </p:txBody>
        </p:sp>
        <p:sp>
          <p:nvSpPr>
            <p:cNvPr id="15" name="Rectangle 15"/>
            <p:cNvSpPr/>
            <p:nvPr/>
          </p:nvSpPr>
          <p:spPr>
            <a:xfrm>
              <a:off x="971550" y="2609850"/>
              <a:ext cx="1200150" cy="247650"/>
            </a:xfrm>
            <a:prstGeom prst="roundRect">
              <a:avLst>
                <a:gd name="adj" fmla="val 50000"/>
              </a:avLst>
            </a:prstGeom>
            <a:solidFill>
              <a:srgbClr val="FFFFFF"/>
            </a:solidFill>
            <a:ln w="9525">
              <a:solidFill>
                <a:srgbClr val="C9DDF5"/>
              </a:solidFill>
            </a:ln>
          </p:spPr>
        </p:sp>
        <p:sp>
          <p:nvSpPr>
            <p:cNvPr id="16" name="TextBox 16"/>
            <p:cNvSpPr txBox="1"/>
            <p:nvPr/>
          </p:nvSpPr>
          <p:spPr>
            <a:xfrm>
              <a:off x="1324546" y="268414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客流分析</a:t>
              </a:r>
            </a:p>
          </p:txBody>
        </p:sp>
        <p:sp>
          <p:nvSpPr>
            <p:cNvPr id="17" name="Rectangle 17"/>
            <p:cNvSpPr/>
            <p:nvPr/>
          </p:nvSpPr>
          <p:spPr>
            <a:xfrm>
              <a:off x="971550" y="2952750"/>
              <a:ext cx="1200150" cy="247650"/>
            </a:xfrm>
            <a:prstGeom prst="roundRect">
              <a:avLst>
                <a:gd name="adj" fmla="val 50000"/>
              </a:avLst>
            </a:prstGeom>
            <a:solidFill>
              <a:srgbClr val="FFFFFF"/>
            </a:solidFill>
            <a:ln w="9525">
              <a:solidFill>
                <a:srgbClr val="C9DDF5"/>
              </a:solidFill>
            </a:ln>
          </p:spPr>
        </p:sp>
        <p:sp>
          <p:nvSpPr>
            <p:cNvPr id="18" name="TextBox 18"/>
            <p:cNvSpPr txBox="1"/>
            <p:nvPr/>
          </p:nvSpPr>
          <p:spPr>
            <a:xfrm>
              <a:off x="1324546" y="302704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自动签到</a:t>
              </a:r>
            </a:p>
          </p:txBody>
        </p:sp>
      </p:grpSp>
      <p:grpSp>
        <p:nvGrpSpPr>
          <p:cNvPr id="30" name="skill-voice"/>
          <p:cNvGrpSpPr/>
          <p:nvPr/>
        </p:nvGrpSpPr>
        <p:grpSpPr>
          <a:xfrm>
            <a:off x="3209925" y="1790700"/>
            <a:ext cx="1200150" cy="1679257"/>
            <a:chOff x="3209925" y="1790700"/>
            <a:chExt cx="1200150" cy="1679257"/>
          </a:xfrm>
        </p:grpSpPr>
        <p:sp>
          <p:nvSpPr>
            <p:cNvPr id="20" name="Ellipse 20"/>
            <p:cNvSpPr/>
            <p:nvPr/>
          </p:nvSpPr>
          <p:spPr>
            <a:xfrm>
              <a:off x="3467100" y="179070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24" name="Group 24"/>
            <p:cNvGrpSpPr/>
            <p:nvPr/>
          </p:nvGrpSpPr>
          <p:grpSpPr>
            <a:xfrm>
              <a:off x="3714750" y="1990725"/>
              <a:ext cx="190500" cy="285751"/>
              <a:chOff x="3714750" y="1990725"/>
              <a:chExt cx="190500" cy="285751"/>
            </a:xfrm>
          </p:grpSpPr>
          <p:sp>
            <p:nvSpPr>
              <p:cNvPr id="21" name="Freeform 21"/>
              <p:cNvSpPr/>
              <p:nvPr/>
            </p:nvSpPr>
            <p:spPr>
              <a:xfrm>
                <a:off x="3714750" y="1990725"/>
                <a:ext cx="190500" cy="285751"/>
              </a:xfrm>
              <a:custGeom>
                <a:avLst/>
                <a:gdLst/>
                <a:ahLst/>
                <a:cxnLst/>
                <a:rect l="l" t="t" r="r" b="b"/>
                <a:pathLst>
                  <a:path w="190500" h="285751">
                    <a:moveTo>
                      <a:pt x="0" y="31750"/>
                    </a:moveTo>
                    <a:cubicBezTo>
                      <a:pt x="0" y="14215"/>
                      <a:pt x="14215" y="0"/>
                      <a:pt x="31750" y="0"/>
                    </a:cubicBezTo>
                    <a:lnTo>
                      <a:pt x="158750" y="0"/>
                    </a:lnTo>
                    <a:cubicBezTo>
                      <a:pt x="176285" y="0"/>
                      <a:pt x="190500" y="14215"/>
                      <a:pt x="190500" y="31750"/>
                    </a:cubicBezTo>
                    <a:lnTo>
                      <a:pt x="190500" y="254001"/>
                    </a:lnTo>
                    <a:cubicBezTo>
                      <a:pt x="190500" y="271536"/>
                      <a:pt x="176285" y="285751"/>
                      <a:pt x="158750" y="285751"/>
                    </a:cubicBezTo>
                    <a:lnTo>
                      <a:pt x="31750" y="285751"/>
                    </a:lnTo>
                    <a:cubicBezTo>
                      <a:pt x="14215" y="285751"/>
                      <a:pt x="0" y="271536"/>
                      <a:pt x="0" y="254001"/>
                    </a:cubicBezTo>
                    <a:lnTo>
                      <a:pt x="0" y="31750"/>
                    </a:lnTo>
                  </a:path>
                </a:pathLst>
              </a:custGeom>
              <a:noFill/>
              <a:ln w="31750">
                <a:solidFill>
                  <a:srgbClr val="FFFFFF"/>
                </a:solidFill>
              </a:ln>
            </p:spPr>
          </p:sp>
          <p:sp>
            <p:nvSpPr>
              <p:cNvPr id="22" name="Freeform 22"/>
              <p:cNvSpPr/>
              <p:nvPr/>
            </p:nvSpPr>
            <p:spPr>
              <a:xfrm>
                <a:off x="3794125" y="2006600"/>
                <a:ext cx="31750" cy="9525"/>
              </a:xfrm>
              <a:custGeom>
                <a:avLst/>
                <a:gdLst/>
                <a:ahLst/>
                <a:cxnLst/>
                <a:rect l="l" t="t" r="r" b="b"/>
                <a:pathLst>
                  <a:path w="31750" h="9525">
                    <a:moveTo>
                      <a:pt x="0" y="0"/>
                    </a:moveTo>
                    <a:lnTo>
                      <a:pt x="31750" y="0"/>
                    </a:lnTo>
                  </a:path>
                </a:pathLst>
              </a:custGeom>
              <a:noFill/>
              <a:ln w="31750">
                <a:solidFill>
                  <a:srgbClr val="FFFFFF"/>
                </a:solidFill>
              </a:ln>
            </p:spPr>
          </p:sp>
          <p:sp>
            <p:nvSpPr>
              <p:cNvPr id="23" name="Freeform 23"/>
              <p:cNvSpPr/>
              <p:nvPr/>
            </p:nvSpPr>
            <p:spPr>
              <a:xfrm>
                <a:off x="3810000" y="2212976"/>
                <a:ext cx="9525" cy="9525"/>
              </a:xfrm>
              <a:custGeom>
                <a:avLst/>
                <a:gdLst/>
                <a:ahLst/>
                <a:cxnLst/>
                <a:rect l="l" t="t" r="r" b="b"/>
                <a:pathLst>
                  <a:path w="9525" h="9525">
                    <a:moveTo>
                      <a:pt x="0" y="0"/>
                    </a:moveTo>
                    <a:lnTo>
                      <a:pt x="0" y="159"/>
                    </a:lnTo>
                  </a:path>
                </a:pathLst>
              </a:custGeom>
              <a:noFill/>
              <a:ln w="31750">
                <a:solidFill>
                  <a:srgbClr val="FFFFFF"/>
                </a:solidFill>
              </a:ln>
            </p:spPr>
          </p:sp>
        </p:grpSp>
        <p:sp>
          <p:nvSpPr>
            <p:cNvPr id="25" name="TextBox 25"/>
            <p:cNvSpPr txBox="1"/>
            <p:nvPr/>
          </p:nvSpPr>
          <p:spPr>
            <a:xfrm>
              <a:off x="3480816" y="2594610"/>
              <a:ext cx="658368" cy="234696"/>
            </a:xfrm>
            <a:prstGeom prst="rect">
              <a:avLst/>
            </a:prstGeom>
            <a:noFill/>
            <a:ln>
              <a:noFill/>
            </a:ln>
          </p:spPr>
          <p:txBody>
            <a:bodyPr wrap="none" lIns="0" tIns="0" rIns="0" bIns="0" anchor="t" anchorCtr="0">
              <a:spAutoFit/>
            </a:bodyPr>
            <a:lstStyle/>
            <a:p>
              <a:pPr algn="ctr"/>
              <a:r>
                <a:rPr lang="zh-CN" sz="1200" dirty="0">
                  <a:solidFill>
                    <a:srgbClr val="E94B2B"/>
                  </a:solidFill>
                  <a:latin typeface="+mn-lt"/>
                  <a:ea typeface="+mn-ea"/>
                  <a:cs typeface="+mn-cs"/>
                </a:rPr>
                <a:t>语音技能</a:t>
              </a:r>
            </a:p>
          </p:txBody>
        </p:sp>
        <p:sp>
          <p:nvSpPr>
            <p:cNvPr id="26" name="Rectangle 26"/>
            <p:cNvSpPr/>
            <p:nvPr/>
          </p:nvSpPr>
          <p:spPr>
            <a:xfrm>
              <a:off x="3209925" y="2876550"/>
              <a:ext cx="1200150" cy="247650"/>
            </a:xfrm>
            <a:prstGeom prst="roundRect">
              <a:avLst>
                <a:gd name="adj" fmla="val 50000"/>
              </a:avLst>
            </a:prstGeom>
            <a:solidFill>
              <a:srgbClr val="FFFFFF"/>
            </a:solidFill>
            <a:ln w="9525">
              <a:solidFill>
                <a:srgbClr val="C9DDF5"/>
              </a:solidFill>
            </a:ln>
          </p:spPr>
        </p:sp>
        <p:sp>
          <p:nvSpPr>
            <p:cNvPr id="27" name="TextBox 27"/>
            <p:cNvSpPr txBox="1"/>
            <p:nvPr/>
          </p:nvSpPr>
          <p:spPr>
            <a:xfrm>
              <a:off x="3562922" y="295084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应用指令</a:t>
              </a:r>
            </a:p>
          </p:txBody>
        </p:sp>
        <p:sp>
          <p:nvSpPr>
            <p:cNvPr id="28" name="Rectangle 28"/>
            <p:cNvSpPr/>
            <p:nvPr/>
          </p:nvSpPr>
          <p:spPr>
            <a:xfrm>
              <a:off x="3209925" y="3219450"/>
              <a:ext cx="1200150" cy="247650"/>
            </a:xfrm>
            <a:prstGeom prst="roundRect">
              <a:avLst>
                <a:gd name="adj" fmla="val 50000"/>
              </a:avLst>
            </a:prstGeom>
            <a:solidFill>
              <a:srgbClr val="FFFFFF"/>
            </a:solidFill>
            <a:ln w="9525">
              <a:solidFill>
                <a:srgbClr val="C9DDF5"/>
              </a:solidFill>
            </a:ln>
          </p:spPr>
        </p:sp>
        <p:sp>
          <p:nvSpPr>
            <p:cNvPr id="29" name="TextBox 29"/>
            <p:cNvSpPr txBox="1"/>
            <p:nvPr/>
          </p:nvSpPr>
          <p:spPr>
            <a:xfrm>
              <a:off x="3562922" y="329374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智能搜索</a:t>
              </a:r>
            </a:p>
          </p:txBody>
        </p:sp>
      </p:grpSp>
      <p:grpSp>
        <p:nvGrpSpPr>
          <p:cNvPr id="40" name="skill-enterprise"/>
          <p:cNvGrpSpPr/>
          <p:nvPr/>
        </p:nvGrpSpPr>
        <p:grpSpPr>
          <a:xfrm>
            <a:off x="5495925" y="1847850"/>
            <a:ext cx="1200150" cy="1679257"/>
            <a:chOff x="5495925" y="1847850"/>
            <a:chExt cx="1200150" cy="1679257"/>
          </a:xfrm>
        </p:grpSpPr>
        <p:sp>
          <p:nvSpPr>
            <p:cNvPr id="31" name="Ellipse 31"/>
            <p:cNvSpPr/>
            <p:nvPr/>
          </p:nvSpPr>
          <p:spPr>
            <a:xfrm>
              <a:off x="5753100" y="184785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34" name="Group 34"/>
            <p:cNvGrpSpPr/>
            <p:nvPr/>
          </p:nvGrpSpPr>
          <p:grpSpPr>
            <a:xfrm>
              <a:off x="5953125" y="2095500"/>
              <a:ext cx="285750" cy="190500"/>
              <a:chOff x="5953125" y="2095500"/>
              <a:chExt cx="285750" cy="190500"/>
            </a:xfrm>
          </p:grpSpPr>
          <p:sp>
            <p:nvSpPr>
              <p:cNvPr id="32" name="Freeform 32"/>
              <p:cNvSpPr/>
              <p:nvPr/>
            </p:nvSpPr>
            <p:spPr>
              <a:xfrm>
                <a:off x="6143625" y="2120410"/>
                <a:ext cx="95250" cy="140680"/>
              </a:xfrm>
              <a:custGeom>
                <a:avLst/>
                <a:gdLst/>
                <a:ahLst/>
                <a:cxnLst/>
                <a:rect l="l" t="t" r="r" b="b"/>
                <a:pathLst>
                  <a:path w="95250" h="140680">
                    <a:moveTo>
                      <a:pt x="0" y="38590"/>
                    </a:moveTo>
                    <a:lnTo>
                      <a:pt x="72279" y="2458"/>
                    </a:lnTo>
                    <a:cubicBezTo>
                      <a:pt x="77199" y="0"/>
                      <a:pt x="83040" y="263"/>
                      <a:pt x="87719" y="3154"/>
                    </a:cubicBezTo>
                    <a:cubicBezTo>
                      <a:pt x="92398" y="6044"/>
                      <a:pt x="95247" y="11151"/>
                      <a:pt x="95250" y="16651"/>
                    </a:cubicBezTo>
                    <a:lnTo>
                      <a:pt x="95250" y="124029"/>
                    </a:lnTo>
                    <a:cubicBezTo>
                      <a:pt x="95247" y="129529"/>
                      <a:pt x="92398" y="134636"/>
                      <a:pt x="87719" y="137526"/>
                    </a:cubicBezTo>
                    <a:cubicBezTo>
                      <a:pt x="83040" y="140417"/>
                      <a:pt x="77199" y="140680"/>
                      <a:pt x="72279" y="138222"/>
                    </a:cubicBezTo>
                    <a:lnTo>
                      <a:pt x="0" y="102090"/>
                    </a:lnTo>
                    <a:lnTo>
                      <a:pt x="0" y="38590"/>
                    </a:lnTo>
                  </a:path>
                </a:pathLst>
              </a:custGeom>
              <a:noFill/>
              <a:ln w="31750">
                <a:solidFill>
                  <a:srgbClr val="FFFFFF"/>
                </a:solidFill>
              </a:ln>
            </p:spPr>
          </p:sp>
          <p:sp>
            <p:nvSpPr>
              <p:cNvPr id="33" name="Freeform 33"/>
              <p:cNvSpPr/>
              <p:nvPr/>
            </p:nvSpPr>
            <p:spPr>
              <a:xfrm>
                <a:off x="5953125" y="2095500"/>
                <a:ext cx="190500" cy="190500"/>
              </a:xfrm>
              <a:custGeom>
                <a:avLst/>
                <a:gdLst/>
                <a:ahLst/>
                <a:cxnLst/>
                <a:rect l="l" t="t" r="r" b="b"/>
                <a:pathLst>
                  <a:path w="190500" h="190500">
                    <a:moveTo>
                      <a:pt x="0" y="31750"/>
                    </a:moveTo>
                    <a:cubicBezTo>
                      <a:pt x="0" y="14215"/>
                      <a:pt x="14215" y="0"/>
                      <a:pt x="31750" y="0"/>
                    </a:cubicBezTo>
                    <a:lnTo>
                      <a:pt x="158750" y="0"/>
                    </a:lnTo>
                    <a:cubicBezTo>
                      <a:pt x="176285" y="0"/>
                      <a:pt x="190500" y="14215"/>
                      <a:pt x="190500" y="31750"/>
                    </a:cubicBezTo>
                    <a:lnTo>
                      <a:pt x="190500" y="158750"/>
                    </a:lnTo>
                    <a:cubicBezTo>
                      <a:pt x="190500" y="176285"/>
                      <a:pt x="176285" y="190500"/>
                      <a:pt x="158750" y="190500"/>
                    </a:cubicBezTo>
                    <a:lnTo>
                      <a:pt x="31750" y="190500"/>
                    </a:lnTo>
                    <a:cubicBezTo>
                      <a:pt x="14215" y="190500"/>
                      <a:pt x="0" y="176285"/>
                      <a:pt x="0" y="158750"/>
                    </a:cubicBezTo>
                    <a:lnTo>
                      <a:pt x="0" y="31750"/>
                    </a:lnTo>
                  </a:path>
                </a:pathLst>
              </a:custGeom>
              <a:noFill/>
              <a:ln w="31750">
                <a:solidFill>
                  <a:srgbClr val="FFFFFF"/>
                </a:solidFill>
              </a:ln>
            </p:spPr>
          </p:sp>
        </p:grpSp>
        <p:sp>
          <p:nvSpPr>
            <p:cNvPr id="35" name="TextBox 35"/>
            <p:cNvSpPr txBox="1"/>
            <p:nvPr/>
          </p:nvSpPr>
          <p:spPr>
            <a:xfrm>
              <a:off x="5766816" y="2651760"/>
              <a:ext cx="658368" cy="234696"/>
            </a:xfrm>
            <a:prstGeom prst="rect">
              <a:avLst/>
            </a:prstGeom>
            <a:noFill/>
            <a:ln>
              <a:noFill/>
            </a:ln>
          </p:spPr>
          <p:txBody>
            <a:bodyPr wrap="none" lIns="0" tIns="0" rIns="0" bIns="0" anchor="t" anchorCtr="0">
              <a:spAutoFit/>
            </a:bodyPr>
            <a:lstStyle/>
            <a:p>
              <a:pPr algn="ctr"/>
              <a:r>
                <a:rPr lang="zh-CN" sz="1200" dirty="0">
                  <a:solidFill>
                    <a:srgbClr val="E94B2B"/>
                  </a:solidFill>
                  <a:latin typeface="+mn-lt"/>
                  <a:ea typeface="+mn-ea"/>
                  <a:cs typeface="+mn-cs"/>
                </a:rPr>
                <a:t>企业服务</a:t>
              </a:r>
            </a:p>
          </p:txBody>
        </p:sp>
        <p:sp>
          <p:nvSpPr>
            <p:cNvPr id="36" name="Rectangle 36"/>
            <p:cNvSpPr/>
            <p:nvPr/>
          </p:nvSpPr>
          <p:spPr>
            <a:xfrm>
              <a:off x="5495925" y="2933700"/>
              <a:ext cx="1200150" cy="247650"/>
            </a:xfrm>
            <a:prstGeom prst="roundRect">
              <a:avLst>
                <a:gd name="adj" fmla="val 50000"/>
              </a:avLst>
            </a:prstGeom>
            <a:solidFill>
              <a:srgbClr val="FFFFFF"/>
            </a:solidFill>
            <a:ln w="9525">
              <a:solidFill>
                <a:srgbClr val="C9DDF5"/>
              </a:solidFill>
            </a:ln>
          </p:spPr>
        </p:sp>
        <p:sp>
          <p:nvSpPr>
            <p:cNvPr id="37" name="TextBox 37"/>
            <p:cNvSpPr txBox="1"/>
            <p:nvPr/>
          </p:nvSpPr>
          <p:spPr>
            <a:xfrm>
              <a:off x="5848921" y="30079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视频会议</a:t>
              </a:r>
            </a:p>
          </p:txBody>
        </p:sp>
        <p:sp>
          <p:nvSpPr>
            <p:cNvPr id="38" name="Rectangle 38"/>
            <p:cNvSpPr/>
            <p:nvPr/>
          </p:nvSpPr>
          <p:spPr>
            <a:xfrm>
              <a:off x="5495925" y="3276600"/>
              <a:ext cx="1200150" cy="247650"/>
            </a:xfrm>
            <a:prstGeom prst="roundRect">
              <a:avLst>
                <a:gd name="adj" fmla="val 50000"/>
              </a:avLst>
            </a:prstGeom>
            <a:solidFill>
              <a:srgbClr val="FFFFFF"/>
            </a:solidFill>
            <a:ln w="9525">
              <a:solidFill>
                <a:srgbClr val="C9DDF5"/>
              </a:solidFill>
            </a:ln>
          </p:spPr>
        </p:sp>
        <p:sp>
          <p:nvSpPr>
            <p:cNvPr id="39" name="TextBox 39"/>
            <p:cNvSpPr txBox="1"/>
            <p:nvPr/>
          </p:nvSpPr>
          <p:spPr>
            <a:xfrm>
              <a:off x="5788342" y="3350895"/>
              <a:ext cx="615315"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可视化大屏</a:t>
              </a:r>
            </a:p>
          </p:txBody>
        </p:sp>
      </p:grpSp>
      <p:grpSp>
        <p:nvGrpSpPr>
          <p:cNvPr id="50" name="skill-smart-vision"/>
          <p:cNvGrpSpPr/>
          <p:nvPr/>
        </p:nvGrpSpPr>
        <p:grpSpPr>
          <a:xfrm>
            <a:off x="7781925" y="1733550"/>
            <a:ext cx="1200150" cy="1679257"/>
            <a:chOff x="7781925" y="1733550"/>
            <a:chExt cx="1200150" cy="1679257"/>
          </a:xfrm>
        </p:grpSpPr>
        <p:sp>
          <p:nvSpPr>
            <p:cNvPr id="41" name="Ellipse 41"/>
            <p:cNvSpPr/>
            <p:nvPr/>
          </p:nvSpPr>
          <p:spPr>
            <a:xfrm>
              <a:off x="8039100" y="173355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44" name="Group 44"/>
            <p:cNvGrpSpPr/>
            <p:nvPr/>
          </p:nvGrpSpPr>
          <p:grpSpPr>
            <a:xfrm>
              <a:off x="8239125" y="1933575"/>
              <a:ext cx="285750" cy="285750"/>
              <a:chOff x="8239125" y="1933575"/>
              <a:chExt cx="285750" cy="285750"/>
            </a:xfrm>
          </p:grpSpPr>
          <p:sp>
            <p:nvSpPr>
              <p:cNvPr id="42" name="Freeform 42"/>
              <p:cNvSpPr/>
              <p:nvPr/>
            </p:nvSpPr>
            <p:spPr>
              <a:xfrm>
                <a:off x="8239125" y="1933575"/>
                <a:ext cx="222250" cy="222250"/>
              </a:xfrm>
              <a:custGeom>
                <a:avLst/>
                <a:gdLst/>
                <a:ahLst/>
                <a:cxnLst/>
                <a:rect l="l" t="t" r="r" b="b"/>
                <a:pathLst>
                  <a:path w="222250" h="222250">
                    <a:moveTo>
                      <a:pt x="0" y="111125"/>
                    </a:moveTo>
                    <a:cubicBezTo>
                      <a:pt x="0" y="172498"/>
                      <a:pt x="49752" y="222250"/>
                      <a:pt x="111125" y="222250"/>
                    </a:cubicBezTo>
                    <a:cubicBezTo>
                      <a:pt x="172498" y="222250"/>
                      <a:pt x="222250" y="172498"/>
                      <a:pt x="222250" y="111125"/>
                    </a:cubicBezTo>
                    <a:cubicBezTo>
                      <a:pt x="222250" y="49752"/>
                      <a:pt x="172498" y="0"/>
                      <a:pt x="111125" y="0"/>
                    </a:cubicBezTo>
                    <a:cubicBezTo>
                      <a:pt x="49752" y="0"/>
                      <a:pt x="0" y="49752"/>
                      <a:pt x="0" y="111125"/>
                    </a:cubicBezTo>
                  </a:path>
                </a:pathLst>
              </a:custGeom>
              <a:noFill/>
              <a:ln w="31750">
                <a:solidFill>
                  <a:srgbClr val="FFFFFF"/>
                </a:solidFill>
              </a:ln>
            </p:spPr>
          </p:sp>
          <p:sp>
            <p:nvSpPr>
              <p:cNvPr id="43" name="Freeform 43"/>
              <p:cNvSpPr/>
              <p:nvPr/>
            </p:nvSpPr>
            <p:spPr>
              <a:xfrm>
                <a:off x="8429625" y="2124075"/>
                <a:ext cx="95250" cy="95250"/>
              </a:xfrm>
              <a:custGeom>
                <a:avLst/>
                <a:gdLst/>
                <a:ahLst/>
                <a:cxnLst/>
                <a:rect l="l" t="t" r="r" b="b"/>
                <a:pathLst>
                  <a:path w="95250" h="95250">
                    <a:moveTo>
                      <a:pt x="95250" y="95250"/>
                    </a:moveTo>
                    <a:lnTo>
                      <a:pt x="0" y="0"/>
                    </a:lnTo>
                  </a:path>
                </a:pathLst>
              </a:custGeom>
              <a:noFill/>
              <a:ln w="31750">
                <a:solidFill>
                  <a:srgbClr val="FFFFFF"/>
                </a:solidFill>
              </a:ln>
            </p:spPr>
          </p:sp>
        </p:grpSp>
        <p:sp>
          <p:nvSpPr>
            <p:cNvPr id="45" name="TextBox 45"/>
            <p:cNvSpPr txBox="1"/>
            <p:nvPr/>
          </p:nvSpPr>
          <p:spPr>
            <a:xfrm>
              <a:off x="8052816" y="2537460"/>
              <a:ext cx="658368" cy="234696"/>
            </a:xfrm>
            <a:prstGeom prst="rect">
              <a:avLst/>
            </a:prstGeom>
            <a:noFill/>
            <a:ln>
              <a:noFill/>
            </a:ln>
          </p:spPr>
          <p:txBody>
            <a:bodyPr wrap="none" lIns="0" tIns="0" rIns="0" bIns="0" anchor="t" anchorCtr="0">
              <a:spAutoFit/>
            </a:bodyPr>
            <a:lstStyle/>
            <a:p>
              <a:pPr algn="ctr"/>
              <a:r>
                <a:rPr lang="zh-CN" sz="1200" dirty="0">
                  <a:solidFill>
                    <a:srgbClr val="E94B2B"/>
                  </a:solidFill>
                  <a:latin typeface="+mn-lt"/>
                  <a:ea typeface="+mn-ea"/>
                  <a:cs typeface="+mn-cs"/>
                </a:rPr>
                <a:t>智能视觉</a:t>
              </a:r>
            </a:p>
          </p:txBody>
        </p:sp>
        <p:sp>
          <p:nvSpPr>
            <p:cNvPr id="46" name="Rectangle 46"/>
            <p:cNvSpPr/>
            <p:nvPr/>
          </p:nvSpPr>
          <p:spPr>
            <a:xfrm>
              <a:off x="7781925" y="2819400"/>
              <a:ext cx="1200150" cy="247650"/>
            </a:xfrm>
            <a:prstGeom prst="roundRect">
              <a:avLst>
                <a:gd name="adj" fmla="val 50000"/>
              </a:avLst>
            </a:prstGeom>
            <a:solidFill>
              <a:srgbClr val="FFFFFF"/>
            </a:solidFill>
            <a:ln w="9525">
              <a:solidFill>
                <a:srgbClr val="C9DDF5"/>
              </a:solidFill>
            </a:ln>
          </p:spPr>
        </p:sp>
        <p:sp>
          <p:nvSpPr>
            <p:cNvPr id="47" name="TextBox 47"/>
            <p:cNvSpPr txBox="1"/>
            <p:nvPr/>
          </p:nvSpPr>
          <p:spPr>
            <a:xfrm>
              <a:off x="8134921" y="28936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图像识别</a:t>
              </a:r>
            </a:p>
          </p:txBody>
        </p:sp>
        <p:sp>
          <p:nvSpPr>
            <p:cNvPr id="48" name="Rectangle 48"/>
            <p:cNvSpPr/>
            <p:nvPr/>
          </p:nvSpPr>
          <p:spPr>
            <a:xfrm>
              <a:off x="7781925" y="3162300"/>
              <a:ext cx="1200150" cy="247650"/>
            </a:xfrm>
            <a:prstGeom prst="roundRect">
              <a:avLst>
                <a:gd name="adj" fmla="val 50000"/>
              </a:avLst>
            </a:prstGeom>
            <a:solidFill>
              <a:srgbClr val="FFFFFF"/>
            </a:solidFill>
            <a:ln w="9525">
              <a:solidFill>
                <a:srgbClr val="C9DDF5"/>
              </a:solidFill>
            </a:ln>
          </p:spPr>
        </p:sp>
        <p:sp>
          <p:nvSpPr>
            <p:cNvPr id="49" name="TextBox 49"/>
            <p:cNvSpPr txBox="1"/>
            <p:nvPr/>
          </p:nvSpPr>
          <p:spPr>
            <a:xfrm>
              <a:off x="8134921" y="323659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手势识别</a:t>
              </a:r>
            </a:p>
          </p:txBody>
        </p:sp>
      </p:grpSp>
      <p:grpSp>
        <p:nvGrpSpPr>
          <p:cNvPr id="67" name="skill-smart-voice"/>
          <p:cNvGrpSpPr/>
          <p:nvPr/>
        </p:nvGrpSpPr>
        <p:grpSpPr>
          <a:xfrm>
            <a:off x="10020300" y="1524000"/>
            <a:ext cx="1200150" cy="1679257"/>
            <a:chOff x="10020300" y="1524000"/>
            <a:chExt cx="1200150" cy="1679257"/>
          </a:xfrm>
        </p:grpSpPr>
        <p:sp>
          <p:nvSpPr>
            <p:cNvPr id="51" name="Ellipse 51"/>
            <p:cNvSpPr/>
            <p:nvPr/>
          </p:nvSpPr>
          <p:spPr>
            <a:xfrm>
              <a:off x="10277475" y="152400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61" name="Group 61"/>
            <p:cNvGrpSpPr/>
            <p:nvPr/>
          </p:nvGrpSpPr>
          <p:grpSpPr>
            <a:xfrm>
              <a:off x="10509250" y="1708150"/>
              <a:ext cx="222250" cy="301625"/>
              <a:chOff x="10509250" y="1708150"/>
              <a:chExt cx="222250" cy="301625"/>
            </a:xfrm>
          </p:grpSpPr>
          <p:sp>
            <p:nvSpPr>
              <p:cNvPr id="52" name="Freeform 52"/>
              <p:cNvSpPr/>
              <p:nvPr/>
            </p:nvSpPr>
            <p:spPr>
              <a:xfrm>
                <a:off x="10525125" y="1739900"/>
                <a:ext cx="190500" cy="127000"/>
              </a:xfrm>
              <a:custGeom>
                <a:avLst/>
                <a:gdLst/>
                <a:ahLst/>
                <a:cxnLst/>
                <a:rect l="l" t="t" r="r" b="b"/>
                <a:pathLst>
                  <a:path w="190500" h="127000">
                    <a:moveTo>
                      <a:pt x="0" y="31750"/>
                    </a:moveTo>
                    <a:cubicBezTo>
                      <a:pt x="0" y="14215"/>
                      <a:pt x="14215" y="0"/>
                      <a:pt x="31750" y="0"/>
                    </a:cubicBezTo>
                    <a:lnTo>
                      <a:pt x="158750" y="0"/>
                    </a:lnTo>
                    <a:cubicBezTo>
                      <a:pt x="176285" y="0"/>
                      <a:pt x="190500" y="14215"/>
                      <a:pt x="190500" y="31750"/>
                    </a:cubicBezTo>
                    <a:lnTo>
                      <a:pt x="190500" y="95250"/>
                    </a:lnTo>
                    <a:cubicBezTo>
                      <a:pt x="190500" y="112785"/>
                      <a:pt x="176285" y="127000"/>
                      <a:pt x="158750" y="127000"/>
                    </a:cubicBezTo>
                    <a:lnTo>
                      <a:pt x="31750" y="127000"/>
                    </a:lnTo>
                    <a:cubicBezTo>
                      <a:pt x="14215" y="127000"/>
                      <a:pt x="0" y="112785"/>
                      <a:pt x="0" y="95250"/>
                    </a:cubicBezTo>
                    <a:lnTo>
                      <a:pt x="0" y="31750"/>
                    </a:lnTo>
                  </a:path>
                </a:pathLst>
              </a:custGeom>
              <a:noFill/>
              <a:ln w="31750">
                <a:solidFill>
                  <a:srgbClr val="FFFFFF"/>
                </a:solidFill>
              </a:ln>
            </p:spPr>
          </p:sp>
          <p:sp>
            <p:nvSpPr>
              <p:cNvPr id="53" name="Freeform 53"/>
              <p:cNvSpPr/>
              <p:nvPr/>
            </p:nvSpPr>
            <p:spPr>
              <a:xfrm>
                <a:off x="10620375" y="1708150"/>
                <a:ext cx="9525" cy="31750"/>
              </a:xfrm>
              <a:custGeom>
                <a:avLst/>
                <a:gdLst/>
                <a:ahLst/>
                <a:cxnLst/>
                <a:rect l="l" t="t" r="r" b="b"/>
                <a:pathLst>
                  <a:path w="9525" h="31750">
                    <a:moveTo>
                      <a:pt x="0" y="0"/>
                    </a:moveTo>
                    <a:lnTo>
                      <a:pt x="0" y="31750"/>
                    </a:lnTo>
                  </a:path>
                </a:pathLst>
              </a:custGeom>
              <a:noFill/>
              <a:ln w="31750">
                <a:solidFill>
                  <a:srgbClr val="FFFFFF"/>
                </a:solidFill>
              </a:ln>
            </p:spPr>
          </p:sp>
          <p:sp>
            <p:nvSpPr>
              <p:cNvPr id="54" name="Freeform 54"/>
              <p:cNvSpPr/>
              <p:nvPr/>
            </p:nvSpPr>
            <p:spPr>
              <a:xfrm>
                <a:off x="10572750" y="1866900"/>
                <a:ext cx="9525" cy="142875"/>
              </a:xfrm>
              <a:custGeom>
                <a:avLst/>
                <a:gdLst/>
                <a:ahLst/>
                <a:cxnLst/>
                <a:rect l="l" t="t" r="r" b="b"/>
                <a:pathLst>
                  <a:path w="9525" h="142875">
                    <a:moveTo>
                      <a:pt x="0" y="0"/>
                    </a:moveTo>
                    <a:lnTo>
                      <a:pt x="0" y="142875"/>
                    </a:lnTo>
                  </a:path>
                </a:pathLst>
              </a:custGeom>
              <a:noFill/>
              <a:ln w="31750">
                <a:solidFill>
                  <a:srgbClr val="FFFFFF"/>
                </a:solidFill>
              </a:ln>
            </p:spPr>
          </p:sp>
          <p:sp>
            <p:nvSpPr>
              <p:cNvPr id="55" name="Freeform 55"/>
              <p:cNvSpPr/>
              <p:nvPr/>
            </p:nvSpPr>
            <p:spPr>
              <a:xfrm>
                <a:off x="10668000" y="1866900"/>
                <a:ext cx="9525" cy="142875"/>
              </a:xfrm>
              <a:custGeom>
                <a:avLst/>
                <a:gdLst/>
                <a:ahLst/>
                <a:cxnLst/>
                <a:rect l="l" t="t" r="r" b="b"/>
                <a:pathLst>
                  <a:path w="9525" h="142875">
                    <a:moveTo>
                      <a:pt x="0" y="0"/>
                    </a:moveTo>
                    <a:lnTo>
                      <a:pt x="0" y="142875"/>
                    </a:lnTo>
                  </a:path>
                </a:pathLst>
              </a:custGeom>
              <a:noFill/>
              <a:ln w="31750">
                <a:solidFill>
                  <a:srgbClr val="FFFFFF"/>
                </a:solidFill>
              </a:ln>
            </p:spPr>
          </p:sp>
          <p:sp>
            <p:nvSpPr>
              <p:cNvPr id="56" name="Freeform 56"/>
              <p:cNvSpPr/>
              <p:nvPr/>
            </p:nvSpPr>
            <p:spPr>
              <a:xfrm>
                <a:off x="10509250" y="1898650"/>
                <a:ext cx="63500" cy="31750"/>
              </a:xfrm>
              <a:custGeom>
                <a:avLst/>
                <a:gdLst/>
                <a:ahLst/>
                <a:cxnLst/>
                <a:rect l="l" t="t" r="r" b="b"/>
                <a:pathLst>
                  <a:path w="63500" h="31750">
                    <a:moveTo>
                      <a:pt x="0" y="31750"/>
                    </a:moveTo>
                    <a:lnTo>
                      <a:pt x="63500" y="0"/>
                    </a:lnTo>
                  </a:path>
                </a:pathLst>
              </a:custGeom>
              <a:noFill/>
              <a:ln w="31750">
                <a:solidFill>
                  <a:srgbClr val="FFFFFF"/>
                </a:solidFill>
              </a:ln>
            </p:spPr>
          </p:sp>
          <p:sp>
            <p:nvSpPr>
              <p:cNvPr id="57" name="Freeform 57"/>
              <p:cNvSpPr/>
              <p:nvPr/>
            </p:nvSpPr>
            <p:spPr>
              <a:xfrm>
                <a:off x="10668000" y="1898650"/>
                <a:ext cx="63500" cy="31750"/>
              </a:xfrm>
              <a:custGeom>
                <a:avLst/>
                <a:gdLst/>
                <a:ahLst/>
                <a:cxnLst/>
                <a:rect l="l" t="t" r="r" b="b"/>
                <a:pathLst>
                  <a:path w="63500" h="31750">
                    <a:moveTo>
                      <a:pt x="0" y="0"/>
                    </a:moveTo>
                    <a:lnTo>
                      <a:pt x="63500" y="31750"/>
                    </a:lnTo>
                  </a:path>
                </a:pathLst>
              </a:custGeom>
              <a:noFill/>
              <a:ln w="31750">
                <a:solidFill>
                  <a:srgbClr val="FFFFFF"/>
                </a:solidFill>
              </a:ln>
            </p:spPr>
          </p:sp>
          <p:sp>
            <p:nvSpPr>
              <p:cNvPr id="58" name="Freeform 58"/>
              <p:cNvSpPr/>
              <p:nvPr/>
            </p:nvSpPr>
            <p:spPr>
              <a:xfrm>
                <a:off x="10572750" y="1962151"/>
                <a:ext cx="95250" cy="9525"/>
              </a:xfrm>
              <a:custGeom>
                <a:avLst/>
                <a:gdLst/>
                <a:ahLst/>
                <a:cxnLst/>
                <a:rect l="l" t="t" r="r" b="b"/>
                <a:pathLst>
                  <a:path w="95250" h="9525">
                    <a:moveTo>
                      <a:pt x="0" y="0"/>
                    </a:moveTo>
                    <a:lnTo>
                      <a:pt x="95250" y="0"/>
                    </a:lnTo>
                  </a:path>
                </a:pathLst>
              </a:custGeom>
              <a:noFill/>
              <a:ln w="31750">
                <a:solidFill>
                  <a:srgbClr val="FFFFFF"/>
                </a:solidFill>
              </a:ln>
            </p:spPr>
          </p:sp>
          <p:sp>
            <p:nvSpPr>
              <p:cNvPr id="59" name="Freeform 59"/>
              <p:cNvSpPr/>
              <p:nvPr/>
            </p:nvSpPr>
            <p:spPr>
              <a:xfrm>
                <a:off x="10588625" y="1803400"/>
                <a:ext cx="9525" cy="9525"/>
              </a:xfrm>
              <a:custGeom>
                <a:avLst/>
                <a:gdLst/>
                <a:ahLst/>
                <a:cxnLst/>
                <a:rect l="l" t="t" r="r" b="b"/>
                <a:pathLst>
                  <a:path w="9525" h="9525">
                    <a:moveTo>
                      <a:pt x="0" y="0"/>
                    </a:moveTo>
                    <a:lnTo>
                      <a:pt x="0" y="159"/>
                    </a:lnTo>
                  </a:path>
                </a:pathLst>
              </a:custGeom>
              <a:noFill/>
              <a:ln w="31750">
                <a:solidFill>
                  <a:srgbClr val="FFFFFF"/>
                </a:solidFill>
              </a:ln>
            </p:spPr>
          </p:sp>
          <p:sp>
            <p:nvSpPr>
              <p:cNvPr id="60" name="Freeform 60"/>
              <p:cNvSpPr/>
              <p:nvPr/>
            </p:nvSpPr>
            <p:spPr>
              <a:xfrm>
                <a:off x="10652125" y="1803400"/>
                <a:ext cx="9525" cy="9525"/>
              </a:xfrm>
              <a:custGeom>
                <a:avLst/>
                <a:gdLst/>
                <a:ahLst/>
                <a:cxnLst/>
                <a:rect l="l" t="t" r="r" b="b"/>
                <a:pathLst>
                  <a:path w="9525" h="9525">
                    <a:moveTo>
                      <a:pt x="0" y="0"/>
                    </a:moveTo>
                    <a:lnTo>
                      <a:pt x="0" y="159"/>
                    </a:lnTo>
                  </a:path>
                </a:pathLst>
              </a:custGeom>
              <a:noFill/>
              <a:ln w="31750">
                <a:solidFill>
                  <a:srgbClr val="FFFFFF"/>
                </a:solidFill>
              </a:ln>
            </p:spPr>
          </p:sp>
        </p:grpSp>
        <p:sp>
          <p:nvSpPr>
            <p:cNvPr id="62" name="TextBox 62"/>
            <p:cNvSpPr txBox="1"/>
            <p:nvPr/>
          </p:nvSpPr>
          <p:spPr>
            <a:xfrm>
              <a:off x="10291191" y="2327910"/>
              <a:ext cx="658368" cy="234696"/>
            </a:xfrm>
            <a:prstGeom prst="rect">
              <a:avLst/>
            </a:prstGeom>
            <a:noFill/>
            <a:ln>
              <a:noFill/>
            </a:ln>
          </p:spPr>
          <p:txBody>
            <a:bodyPr wrap="none" lIns="0" tIns="0" rIns="0" bIns="0" anchor="t" anchorCtr="0">
              <a:spAutoFit/>
            </a:bodyPr>
            <a:lstStyle/>
            <a:p>
              <a:pPr algn="ctr"/>
              <a:r>
                <a:rPr lang="zh-CN" sz="1200" dirty="0">
                  <a:solidFill>
                    <a:srgbClr val="E94B2B"/>
                  </a:solidFill>
                  <a:latin typeface="+mn-lt"/>
                  <a:ea typeface="+mn-ea"/>
                  <a:cs typeface="+mn-cs"/>
                </a:rPr>
                <a:t>智能语音</a:t>
              </a:r>
            </a:p>
          </p:txBody>
        </p:sp>
        <p:sp>
          <p:nvSpPr>
            <p:cNvPr id="63" name="Rectangle 63"/>
            <p:cNvSpPr/>
            <p:nvPr/>
          </p:nvSpPr>
          <p:spPr>
            <a:xfrm>
              <a:off x="10020300" y="2609850"/>
              <a:ext cx="1200150" cy="247650"/>
            </a:xfrm>
            <a:prstGeom prst="roundRect">
              <a:avLst>
                <a:gd name="adj" fmla="val 50000"/>
              </a:avLst>
            </a:prstGeom>
            <a:solidFill>
              <a:srgbClr val="FFFFFF"/>
            </a:solidFill>
            <a:ln w="9525">
              <a:solidFill>
                <a:srgbClr val="C9DDF5"/>
              </a:solidFill>
            </a:ln>
          </p:spPr>
        </p:sp>
        <p:sp>
          <p:nvSpPr>
            <p:cNvPr id="64" name="TextBox 64"/>
            <p:cNvSpPr txBox="1"/>
            <p:nvPr/>
          </p:nvSpPr>
          <p:spPr>
            <a:xfrm>
              <a:off x="10373296" y="2684145"/>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知识图谱</a:t>
              </a:r>
            </a:p>
          </p:txBody>
        </p:sp>
        <p:sp>
          <p:nvSpPr>
            <p:cNvPr id="65" name="Rectangle 65"/>
            <p:cNvSpPr/>
            <p:nvPr/>
          </p:nvSpPr>
          <p:spPr>
            <a:xfrm>
              <a:off x="10020300" y="2952750"/>
              <a:ext cx="1200150" cy="247650"/>
            </a:xfrm>
            <a:prstGeom prst="roundRect">
              <a:avLst>
                <a:gd name="adj" fmla="val 50000"/>
              </a:avLst>
            </a:prstGeom>
            <a:solidFill>
              <a:srgbClr val="FFFFFF"/>
            </a:solidFill>
            <a:ln w="9525">
              <a:solidFill>
                <a:srgbClr val="C9DDF5"/>
              </a:solidFill>
            </a:ln>
          </p:spPr>
        </p:sp>
        <p:sp>
          <p:nvSpPr>
            <p:cNvPr id="66" name="TextBox 66"/>
            <p:cNvSpPr txBox="1"/>
            <p:nvPr/>
          </p:nvSpPr>
          <p:spPr>
            <a:xfrm>
              <a:off x="10369182" y="3027045"/>
              <a:ext cx="502387" cy="176212"/>
            </a:xfrm>
            <a:prstGeom prst="rect">
              <a:avLst/>
            </a:prstGeom>
            <a:noFill/>
            <a:ln>
              <a:noFill/>
            </a:ln>
          </p:spPr>
          <p:txBody>
            <a:bodyPr wrap="none" lIns="0" tIns="0" rIns="0" bIns="0" anchor="t" anchorCtr="0">
              <a:spAutoFit/>
            </a:bodyPr>
            <a:lstStyle/>
            <a:p>
              <a:pPr algn="ctr"/>
              <a:r>
                <a:rPr lang="en-US" sz="900" dirty="0">
                  <a:solidFill>
                    <a:srgbClr val="333333"/>
                  </a:solidFill>
                  <a:latin typeface="+mn-lt"/>
                  <a:ea typeface="+mn-ea"/>
                  <a:cs typeface="+mn-cs"/>
                </a:rPr>
                <a:t>TTS/ASR</a:t>
              </a:r>
            </a:p>
          </p:txBody>
        </p:sp>
      </p:grpSp>
      <p:grpSp>
        <p:nvGrpSpPr>
          <p:cNvPr id="78" name="app-layer"/>
          <p:cNvGrpSpPr/>
          <p:nvPr/>
        </p:nvGrpSpPr>
        <p:grpSpPr>
          <a:xfrm>
            <a:off x="1619250" y="4038600"/>
            <a:ext cx="8953500" cy="1162050"/>
            <a:chOff x="1619250" y="4038600"/>
            <a:chExt cx="8953500" cy="1162050"/>
          </a:xfrm>
        </p:grpSpPr>
        <p:sp>
          <p:nvSpPr>
            <p:cNvPr id="68" name="Ellipse 68"/>
            <p:cNvSpPr/>
            <p:nvPr/>
          </p:nvSpPr>
          <p:spPr>
            <a:xfrm>
              <a:off x="1619250" y="4057650"/>
              <a:ext cx="8953500" cy="1143000"/>
            </a:xfrm>
            <a:prstGeom prst="ellipse">
              <a:avLst/>
            </a:prstGeom>
            <a:gradFill>
              <a:gsLst>
                <a:gs pos="0">
                  <a:srgbClr val="DCEBFB"/>
                </a:gs>
                <a:gs pos="100000">
                  <a:srgbClr val="F2AC9E"/>
                </a:gs>
              </a:gsLst>
              <a:lin ang="5400000" scaled="1"/>
            </a:gradFill>
            <a:ln>
              <a:noFill/>
            </a:ln>
          </p:spPr>
        </p:sp>
        <p:sp>
          <p:nvSpPr>
            <p:cNvPr id="69" name="Ellipse 69"/>
            <p:cNvSpPr/>
            <p:nvPr/>
          </p:nvSpPr>
          <p:spPr>
            <a:xfrm>
              <a:off x="1905000" y="4133850"/>
              <a:ext cx="8382000" cy="876300"/>
            </a:xfrm>
            <a:prstGeom prst="ellipse">
              <a:avLst/>
            </a:prstGeom>
            <a:solidFill>
              <a:srgbClr val="F3F8FE">
                <a:alpha val="55000"/>
              </a:srgbClr>
            </a:solidFill>
            <a:ln>
              <a:noFill/>
            </a:ln>
          </p:spPr>
        </p:sp>
        <p:sp>
          <p:nvSpPr>
            <p:cNvPr id="70" name="Rectangle 70"/>
            <p:cNvSpPr/>
            <p:nvPr/>
          </p:nvSpPr>
          <p:spPr>
            <a:xfrm>
              <a:off x="1905000" y="4038600"/>
              <a:ext cx="1524000" cy="381000"/>
            </a:xfrm>
            <a:prstGeom prst="roundRect">
              <a:avLst>
                <a:gd name="adj" fmla="val 10000"/>
              </a:avLst>
            </a:prstGeom>
            <a:gradFill>
              <a:gsLst>
                <a:gs pos="0">
                  <a:srgbClr val="E94B2B"/>
                </a:gs>
                <a:gs pos="100000">
                  <a:srgbClr val="C83B1E"/>
                </a:gs>
              </a:gsLst>
              <a:lin ang="5400000" scaled="1"/>
            </a:gradFill>
            <a:ln>
              <a:noFill/>
            </a:ln>
          </p:spPr>
        </p:sp>
        <p:sp>
          <p:nvSpPr>
            <p:cNvPr id="71" name="TextBox 71"/>
            <p:cNvSpPr txBox="1"/>
            <p:nvPr/>
          </p:nvSpPr>
          <p:spPr>
            <a:xfrm>
              <a:off x="2315896" y="4158139"/>
              <a:ext cx="702208"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原生应用</a:t>
              </a:r>
            </a:p>
          </p:txBody>
        </p:sp>
        <p:sp>
          <p:nvSpPr>
            <p:cNvPr id="72" name="Rectangle 72"/>
            <p:cNvSpPr/>
            <p:nvPr/>
          </p:nvSpPr>
          <p:spPr>
            <a:xfrm>
              <a:off x="4191000" y="4191000"/>
              <a:ext cx="1524000" cy="381000"/>
            </a:xfrm>
            <a:prstGeom prst="roundRect">
              <a:avLst>
                <a:gd name="adj" fmla="val 10000"/>
              </a:avLst>
            </a:prstGeom>
            <a:gradFill>
              <a:gsLst>
                <a:gs pos="0">
                  <a:srgbClr val="E94B2B"/>
                </a:gs>
                <a:gs pos="100000">
                  <a:srgbClr val="C83B1E"/>
                </a:gs>
              </a:gsLst>
              <a:lin ang="5400000" scaled="1"/>
            </a:gradFill>
            <a:ln>
              <a:noFill/>
            </a:ln>
          </p:spPr>
        </p:sp>
        <p:sp>
          <p:nvSpPr>
            <p:cNvPr id="73" name="TextBox 73"/>
            <p:cNvSpPr txBox="1"/>
            <p:nvPr/>
          </p:nvSpPr>
          <p:spPr>
            <a:xfrm>
              <a:off x="4601896" y="4310539"/>
              <a:ext cx="702208"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一方应用</a:t>
              </a:r>
            </a:p>
          </p:txBody>
        </p:sp>
        <p:sp>
          <p:nvSpPr>
            <p:cNvPr id="74" name="Rectangle 74"/>
            <p:cNvSpPr/>
            <p:nvPr/>
          </p:nvSpPr>
          <p:spPr>
            <a:xfrm>
              <a:off x="6477000" y="4191000"/>
              <a:ext cx="1524000" cy="381000"/>
            </a:xfrm>
            <a:prstGeom prst="roundRect">
              <a:avLst>
                <a:gd name="adj" fmla="val 10000"/>
              </a:avLst>
            </a:prstGeom>
            <a:gradFill>
              <a:gsLst>
                <a:gs pos="0">
                  <a:srgbClr val="E94B2B"/>
                </a:gs>
                <a:gs pos="100000">
                  <a:srgbClr val="C83B1E"/>
                </a:gs>
              </a:gsLst>
              <a:lin ang="5400000" scaled="1"/>
            </a:gradFill>
            <a:ln>
              <a:noFill/>
            </a:ln>
          </p:spPr>
        </p:sp>
        <p:sp>
          <p:nvSpPr>
            <p:cNvPr id="75" name="TextBox 75"/>
            <p:cNvSpPr txBox="1"/>
            <p:nvPr/>
          </p:nvSpPr>
          <p:spPr>
            <a:xfrm>
              <a:off x="6887896" y="4310539"/>
              <a:ext cx="702208"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二方应用</a:t>
              </a:r>
            </a:p>
          </p:txBody>
        </p:sp>
        <p:sp>
          <p:nvSpPr>
            <p:cNvPr id="76" name="Rectangle 76"/>
            <p:cNvSpPr/>
            <p:nvPr/>
          </p:nvSpPr>
          <p:spPr>
            <a:xfrm>
              <a:off x="8763000" y="4038600"/>
              <a:ext cx="1524000" cy="381000"/>
            </a:xfrm>
            <a:prstGeom prst="roundRect">
              <a:avLst>
                <a:gd name="adj" fmla="val 10000"/>
              </a:avLst>
            </a:prstGeom>
            <a:gradFill>
              <a:gsLst>
                <a:gs pos="0">
                  <a:srgbClr val="E94B2B"/>
                </a:gs>
                <a:gs pos="100000">
                  <a:srgbClr val="C83B1E"/>
                </a:gs>
              </a:gsLst>
              <a:lin ang="5400000" scaled="1"/>
            </a:gradFill>
            <a:ln>
              <a:noFill/>
            </a:ln>
          </p:spPr>
        </p:sp>
        <p:sp>
          <p:nvSpPr>
            <p:cNvPr id="77" name="TextBox 77"/>
            <p:cNvSpPr txBox="1"/>
            <p:nvPr/>
          </p:nvSpPr>
          <p:spPr>
            <a:xfrm>
              <a:off x="9173896" y="4158139"/>
              <a:ext cx="702208"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三方应用</a:t>
              </a:r>
            </a:p>
          </p:txBody>
        </p:sp>
      </p:grpSp>
      <p:grpSp>
        <p:nvGrpSpPr>
          <p:cNvPr id="83" name="slogan-platform"/>
          <p:cNvGrpSpPr/>
          <p:nvPr/>
        </p:nvGrpSpPr>
        <p:grpSpPr>
          <a:xfrm>
            <a:off x="952500" y="5791200"/>
            <a:ext cx="10287000" cy="1047750"/>
            <a:chOff x="952500" y="5791200"/>
            <a:chExt cx="10287000" cy="1047750"/>
          </a:xfrm>
        </p:grpSpPr>
        <p:sp>
          <p:nvSpPr>
            <p:cNvPr id="79" name="Ellipse 79"/>
            <p:cNvSpPr/>
            <p:nvPr/>
          </p:nvSpPr>
          <p:spPr>
            <a:xfrm>
              <a:off x="952500" y="5886450"/>
              <a:ext cx="10287000" cy="952500"/>
            </a:xfrm>
            <a:prstGeom prst="ellipse">
              <a:avLst/>
            </a:prstGeom>
            <a:solidFill>
              <a:srgbClr val="F5C8BF"/>
            </a:solidFill>
            <a:ln>
              <a:noFill/>
            </a:ln>
          </p:spPr>
        </p:sp>
        <p:sp>
          <p:nvSpPr>
            <p:cNvPr id="80" name="Ellipse 80"/>
            <p:cNvSpPr/>
            <p:nvPr/>
          </p:nvSpPr>
          <p:spPr>
            <a:xfrm>
              <a:off x="1333500" y="5791200"/>
              <a:ext cx="9525000" cy="876300"/>
            </a:xfrm>
            <a:prstGeom prst="ellipse">
              <a:avLst/>
            </a:prstGeom>
            <a:gradFill>
              <a:gsLst>
                <a:gs pos="0">
                  <a:srgbClr val="DCEBFB"/>
                </a:gs>
                <a:gs pos="100000">
                  <a:srgbClr val="F2AC9E"/>
                </a:gs>
              </a:gsLst>
              <a:lin ang="5400000" scaled="1"/>
            </a:gradFill>
            <a:ln>
              <a:noFill/>
            </a:ln>
          </p:spPr>
        </p:sp>
        <p:sp>
          <p:nvSpPr>
            <p:cNvPr id="81" name="Ellipse 81"/>
            <p:cNvSpPr/>
            <p:nvPr/>
          </p:nvSpPr>
          <p:spPr>
            <a:xfrm>
              <a:off x="2286000" y="5848350"/>
              <a:ext cx="7620000" cy="571500"/>
            </a:xfrm>
            <a:prstGeom prst="ellipse">
              <a:avLst/>
            </a:prstGeom>
            <a:gradFill>
              <a:gsLst>
                <a:gs pos="0">
                  <a:srgbClr val="F8D1C9"/>
                </a:gs>
                <a:gs pos="50000">
                  <a:srgbClr val="FFFFFF"/>
                </a:gs>
                <a:gs pos="100000">
                  <a:srgbClr val="F8D1C9"/>
                </a:gs>
              </a:gsLst>
              <a:lin ang="0" scaled="1"/>
            </a:gradFill>
            <a:ln>
              <a:noFill/>
            </a:ln>
          </p:spPr>
        </p:sp>
        <p:sp>
          <p:nvSpPr>
            <p:cNvPr id="82" name="TextBox 82"/>
            <p:cNvSpPr txBox="1"/>
            <p:nvPr/>
          </p:nvSpPr>
          <p:spPr>
            <a:xfrm>
              <a:off x="3665220" y="6038850"/>
              <a:ext cx="4861560" cy="293370"/>
            </a:xfrm>
            <a:prstGeom prst="rect">
              <a:avLst/>
            </a:prstGeom>
            <a:noFill/>
            <a:ln>
              <a:noFill/>
            </a:ln>
          </p:spPr>
          <p:txBody>
            <a:bodyPr wrap="none" lIns="0" tIns="0" rIns="0" bIns="0" anchor="t" anchorCtr="0">
              <a:spAutoFit/>
            </a:bodyPr>
            <a:lstStyle/>
            <a:p>
              <a:pPr algn="ctr"/>
              <a:r>
                <a:rPr lang="zh-CN" sz="1500" b="1" dirty="0">
                  <a:solidFill>
                    <a:srgbClr val="E94B2B"/>
                  </a:solidFill>
                  <a:latin typeface="+mn-lt"/>
                  <a:ea typeface="+mn-ea"/>
                  <a:cs typeface="+mn-cs"/>
                </a:rPr>
                <a:t>不仅仅是智能会议平板，更是一种全新的信息交互方式</a:t>
              </a:r>
            </a:p>
          </p:txBody>
        </p:sp>
      </p:gr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ep-1"/>
          <p:cNvSpPr/>
          <p:nvPr/>
        </p:nvSpPr>
        <p:spPr>
          <a:xfrm>
            <a:off x="2381250" y="6667500"/>
            <a:ext cx="7429500" cy="190500"/>
          </a:xfrm>
          <a:custGeom>
            <a:avLst/>
            <a:gdLst/>
            <a:ahLst/>
            <a:cxnLst/>
            <a:rect l="l" t="t" r="r" b="b"/>
            <a:pathLst>
              <a:path w="7429500" h="190500">
                <a:moveTo>
                  <a:pt x="0" y="0"/>
                </a:moveTo>
                <a:lnTo>
                  <a:pt x="7429500" y="0"/>
                </a:lnTo>
                <a:lnTo>
                  <a:pt x="7429500" y="190500"/>
                </a:lnTo>
                <a:lnTo>
                  <a:pt x="0" y="190500"/>
                </a:lnTo>
                <a:close/>
              </a:path>
            </a:pathLst>
          </a:custGeom>
          <a:gradFill>
            <a:gsLst>
              <a:gs pos="0">
                <a:srgbClr val="DCEBFB"/>
              </a:gs>
              <a:gs pos="100000">
                <a:srgbClr val="F6C2B7"/>
              </a:gs>
            </a:gsLst>
            <a:lin ang="5400000" scaled="1"/>
          </a:gradFill>
          <a:ln>
            <a:noFill/>
          </a:ln>
        </p:spPr>
      </p:sp>
      <p:sp>
        <p:nvSpPr>
          <p:cNvPr id="3" name="step-2"/>
          <p:cNvSpPr/>
          <p:nvPr/>
        </p:nvSpPr>
        <p:spPr>
          <a:xfrm>
            <a:off x="2762250" y="6324600"/>
            <a:ext cx="6667500" cy="342900"/>
          </a:xfrm>
          <a:custGeom>
            <a:avLst/>
            <a:gdLst/>
            <a:ahLst/>
            <a:cxnLst/>
            <a:rect l="l" t="t" r="r" b="b"/>
            <a:pathLst>
              <a:path w="6667500" h="342900">
                <a:moveTo>
                  <a:pt x="0" y="0"/>
                </a:moveTo>
                <a:lnTo>
                  <a:pt x="6667500" y="0"/>
                </a:lnTo>
                <a:lnTo>
                  <a:pt x="6667500" y="342900"/>
                </a:lnTo>
                <a:lnTo>
                  <a:pt x="0" y="342900"/>
                </a:lnTo>
                <a:close/>
              </a:path>
            </a:pathLst>
          </a:custGeom>
          <a:gradFill>
            <a:gsLst>
              <a:gs pos="0">
                <a:srgbClr val="F3F8FE"/>
              </a:gs>
              <a:gs pos="100000">
                <a:srgbClr val="D6E6FA"/>
              </a:gs>
            </a:gsLst>
            <a:lin ang="5400000" scaled="1"/>
          </a:gradFill>
          <a:ln>
            <a:noFill/>
          </a:ln>
        </p:spPr>
      </p:sp>
      <p:sp>
        <p:nvSpPr>
          <p:cNvPr id="4" name="step-3"/>
          <p:cNvSpPr/>
          <p:nvPr/>
        </p:nvSpPr>
        <p:spPr>
          <a:xfrm>
            <a:off x="3143250" y="5981700"/>
            <a:ext cx="5905500" cy="342900"/>
          </a:xfrm>
          <a:custGeom>
            <a:avLst/>
            <a:gdLst/>
            <a:ahLst/>
            <a:cxnLst/>
            <a:rect l="l" t="t" r="r" b="b"/>
            <a:pathLst>
              <a:path w="5905500" h="342900">
                <a:moveTo>
                  <a:pt x="0" y="0"/>
                </a:moveTo>
                <a:lnTo>
                  <a:pt x="5905500" y="0"/>
                </a:lnTo>
                <a:lnTo>
                  <a:pt x="5905500" y="342900"/>
                </a:lnTo>
                <a:lnTo>
                  <a:pt x="0" y="342900"/>
                </a:lnTo>
                <a:close/>
              </a:path>
            </a:pathLst>
          </a:custGeom>
          <a:gradFill>
            <a:gsLst>
              <a:gs pos="0">
                <a:srgbClr val="DCEBFB"/>
              </a:gs>
              <a:gs pos="100000">
                <a:srgbClr val="F6C2B7"/>
              </a:gs>
            </a:gsLst>
            <a:lin ang="5400000" scaled="1"/>
          </a:gradFill>
          <a:ln>
            <a:noFill/>
          </a:ln>
        </p:spPr>
      </p:sp>
      <p:sp>
        <p:nvSpPr>
          <p:cNvPr id="5" name="step-4"/>
          <p:cNvSpPr/>
          <p:nvPr/>
        </p:nvSpPr>
        <p:spPr>
          <a:xfrm>
            <a:off x="3524250" y="5638800"/>
            <a:ext cx="5143500" cy="342900"/>
          </a:xfrm>
          <a:custGeom>
            <a:avLst/>
            <a:gdLst/>
            <a:ahLst/>
            <a:cxnLst/>
            <a:rect l="l" t="t" r="r" b="b"/>
            <a:pathLst>
              <a:path w="5143500" h="342900">
                <a:moveTo>
                  <a:pt x="0" y="0"/>
                </a:moveTo>
                <a:lnTo>
                  <a:pt x="5143500" y="0"/>
                </a:lnTo>
                <a:lnTo>
                  <a:pt x="5143500" y="342900"/>
                </a:lnTo>
                <a:lnTo>
                  <a:pt x="0" y="342900"/>
                </a:lnTo>
                <a:close/>
              </a:path>
            </a:pathLst>
          </a:custGeom>
          <a:gradFill>
            <a:gsLst>
              <a:gs pos="0">
                <a:srgbClr val="F3F8FE"/>
              </a:gs>
              <a:gs pos="100000">
                <a:srgbClr val="D6E6FA"/>
              </a:gs>
            </a:gsLst>
            <a:lin ang="5400000" scaled="1"/>
          </a:gradFill>
          <a:ln>
            <a:noFill/>
          </a:ln>
        </p:spPr>
      </p:sp>
      <p:sp>
        <p:nvSpPr>
          <p:cNvPr id="6" name="step-5"/>
          <p:cNvSpPr/>
          <p:nvPr/>
        </p:nvSpPr>
        <p:spPr>
          <a:xfrm>
            <a:off x="3905250" y="5295900"/>
            <a:ext cx="4381500" cy="342900"/>
          </a:xfrm>
          <a:custGeom>
            <a:avLst/>
            <a:gdLst/>
            <a:ahLst/>
            <a:cxnLst/>
            <a:rect l="l" t="t" r="r" b="b"/>
            <a:pathLst>
              <a:path w="4381500" h="342900">
                <a:moveTo>
                  <a:pt x="0" y="0"/>
                </a:moveTo>
                <a:lnTo>
                  <a:pt x="4381500" y="0"/>
                </a:lnTo>
                <a:lnTo>
                  <a:pt x="4381500" y="342900"/>
                </a:lnTo>
                <a:lnTo>
                  <a:pt x="0" y="342900"/>
                </a:lnTo>
                <a:close/>
              </a:path>
            </a:pathLst>
          </a:custGeom>
          <a:gradFill>
            <a:gsLst>
              <a:gs pos="0">
                <a:srgbClr val="DCEBFB"/>
              </a:gs>
              <a:gs pos="100000">
                <a:srgbClr val="F6C2B7"/>
              </a:gs>
            </a:gsLst>
            <a:lin ang="5400000" scaled="1"/>
          </a:gradFill>
          <a:ln>
            <a:noFill/>
          </a:ln>
        </p:spPr>
      </p:sp>
      <p:sp>
        <p:nvSpPr>
          <p:cNvPr id="7" name="step-6"/>
          <p:cNvSpPr/>
          <p:nvPr/>
        </p:nvSpPr>
        <p:spPr>
          <a:xfrm>
            <a:off x="4286250" y="4953000"/>
            <a:ext cx="3619500" cy="342900"/>
          </a:xfrm>
          <a:custGeom>
            <a:avLst/>
            <a:gdLst/>
            <a:ahLst/>
            <a:cxnLst/>
            <a:rect l="l" t="t" r="r" b="b"/>
            <a:pathLst>
              <a:path w="3619500" h="342900">
                <a:moveTo>
                  <a:pt x="0" y="0"/>
                </a:moveTo>
                <a:lnTo>
                  <a:pt x="3619500" y="0"/>
                </a:lnTo>
                <a:lnTo>
                  <a:pt x="3619500" y="342900"/>
                </a:lnTo>
                <a:lnTo>
                  <a:pt x="0" y="342900"/>
                </a:lnTo>
                <a:close/>
              </a:path>
            </a:pathLst>
          </a:custGeom>
          <a:gradFill>
            <a:gsLst>
              <a:gs pos="0">
                <a:srgbClr val="F3F8FE"/>
              </a:gs>
              <a:gs pos="100000">
                <a:srgbClr val="D6E6FA"/>
              </a:gs>
            </a:gsLst>
            <a:lin ang="5400000" scaled="1"/>
          </a:gradFill>
          <a:ln>
            <a:noFill/>
          </a:ln>
        </p:spPr>
      </p:sp>
      <p:sp>
        <p:nvSpPr>
          <p:cNvPr id="8" name="step-7"/>
          <p:cNvSpPr/>
          <p:nvPr/>
        </p:nvSpPr>
        <p:spPr>
          <a:xfrm>
            <a:off x="4667250" y="4610100"/>
            <a:ext cx="2857500" cy="342900"/>
          </a:xfrm>
          <a:custGeom>
            <a:avLst/>
            <a:gdLst/>
            <a:ahLst/>
            <a:cxnLst/>
            <a:rect l="l" t="t" r="r" b="b"/>
            <a:pathLst>
              <a:path w="2857500" h="342900">
                <a:moveTo>
                  <a:pt x="0" y="0"/>
                </a:moveTo>
                <a:lnTo>
                  <a:pt x="2857500" y="0"/>
                </a:lnTo>
                <a:lnTo>
                  <a:pt x="2857500" y="342900"/>
                </a:lnTo>
                <a:lnTo>
                  <a:pt x="0" y="342900"/>
                </a:lnTo>
                <a:close/>
              </a:path>
            </a:pathLst>
          </a:custGeom>
          <a:gradFill>
            <a:gsLst>
              <a:gs pos="0">
                <a:srgbClr val="DCEBFB"/>
              </a:gs>
              <a:gs pos="100000">
                <a:srgbClr val="F6C2B7"/>
              </a:gs>
            </a:gsLst>
            <a:lin ang="5400000" scaled="1"/>
          </a:gradFill>
          <a:ln>
            <a:noFill/>
          </a:ln>
        </p:spPr>
      </p:sp>
      <p:sp>
        <p:nvSpPr>
          <p:cNvPr id="9" name="step-8"/>
          <p:cNvSpPr/>
          <p:nvPr/>
        </p:nvSpPr>
        <p:spPr>
          <a:xfrm>
            <a:off x="5048250" y="4267200"/>
            <a:ext cx="2095500" cy="342900"/>
          </a:xfrm>
          <a:custGeom>
            <a:avLst/>
            <a:gdLst/>
            <a:ahLst/>
            <a:cxnLst/>
            <a:rect l="l" t="t" r="r" b="b"/>
            <a:pathLst>
              <a:path w="2095500" h="342900">
                <a:moveTo>
                  <a:pt x="0" y="0"/>
                </a:moveTo>
                <a:lnTo>
                  <a:pt x="2095500" y="0"/>
                </a:lnTo>
                <a:lnTo>
                  <a:pt x="2095500" y="342900"/>
                </a:lnTo>
                <a:lnTo>
                  <a:pt x="0" y="342900"/>
                </a:lnTo>
                <a:close/>
              </a:path>
            </a:pathLst>
          </a:custGeom>
          <a:gradFill>
            <a:gsLst>
              <a:gs pos="0">
                <a:srgbClr val="F3F8FE"/>
              </a:gs>
              <a:gs pos="100000">
                <a:srgbClr val="D6E6FA"/>
              </a:gs>
            </a:gsLst>
            <a:lin ang="5400000" scaled="1"/>
          </a:gradFill>
          <a:ln>
            <a:noFill/>
          </a:ln>
        </p:spPr>
      </p:sp>
      <p:sp>
        <p:nvSpPr>
          <p:cNvPr id="10" name="side-arrow-l"/>
          <p:cNvSpPr/>
          <p:nvPr/>
        </p:nvSpPr>
        <p:spPr>
          <a:xfrm>
            <a:off x="1428750" y="4095750"/>
            <a:ext cx="1143000" cy="1238250"/>
          </a:xfrm>
          <a:custGeom>
            <a:avLst/>
            <a:gdLst/>
            <a:ahLst/>
            <a:cxnLst/>
            <a:rect l="l" t="t" r="r" b="b"/>
            <a:pathLst>
              <a:path w="1143000" h="1238250">
                <a:moveTo>
                  <a:pt x="0" y="1238250"/>
                </a:moveTo>
                <a:cubicBezTo>
                  <a:pt x="317500" y="666750"/>
                  <a:pt x="698500" y="254000"/>
                  <a:pt x="1143000" y="0"/>
                </a:cubicBezTo>
              </a:path>
            </a:pathLst>
          </a:custGeom>
          <a:noFill/>
          <a:ln w="19050">
            <a:solidFill>
              <a:srgbClr val="F5927E"/>
            </a:solidFill>
            <a:tailEnd type="triangle" w="lg" len="lg"/>
          </a:ln>
        </p:spPr>
      </p:sp>
      <p:sp>
        <p:nvSpPr>
          <p:cNvPr id="11" name="side-arrow-l2"/>
          <p:cNvSpPr/>
          <p:nvPr/>
        </p:nvSpPr>
        <p:spPr>
          <a:xfrm>
            <a:off x="2095500" y="4476750"/>
            <a:ext cx="1143000" cy="1238250"/>
          </a:xfrm>
          <a:custGeom>
            <a:avLst/>
            <a:gdLst/>
            <a:ahLst/>
            <a:cxnLst/>
            <a:rect l="l" t="t" r="r" b="b"/>
            <a:pathLst>
              <a:path w="1143000" h="1238250">
                <a:moveTo>
                  <a:pt x="0" y="1238250"/>
                </a:moveTo>
                <a:cubicBezTo>
                  <a:pt x="317500" y="666750"/>
                  <a:pt x="698500" y="254000"/>
                  <a:pt x="1143000" y="0"/>
                </a:cubicBezTo>
              </a:path>
            </a:pathLst>
          </a:custGeom>
          <a:noFill/>
          <a:ln w="19050">
            <a:solidFill>
              <a:srgbClr val="F5927E"/>
            </a:solidFill>
            <a:tailEnd type="triangle" w="lg" len="lg"/>
          </a:ln>
        </p:spPr>
      </p:sp>
      <p:sp>
        <p:nvSpPr>
          <p:cNvPr id="12" name="side-arrow-r"/>
          <p:cNvSpPr/>
          <p:nvPr/>
        </p:nvSpPr>
        <p:spPr>
          <a:xfrm>
            <a:off x="9620250" y="4095750"/>
            <a:ext cx="1143000" cy="1238250"/>
          </a:xfrm>
          <a:custGeom>
            <a:avLst/>
            <a:gdLst/>
            <a:ahLst/>
            <a:cxnLst/>
            <a:rect l="l" t="t" r="r" b="b"/>
            <a:pathLst>
              <a:path w="1143000" h="1238250">
                <a:moveTo>
                  <a:pt x="1143000" y="1238250"/>
                </a:moveTo>
                <a:cubicBezTo>
                  <a:pt x="825500" y="666750"/>
                  <a:pt x="444500" y="254000"/>
                  <a:pt x="0" y="0"/>
                </a:cubicBezTo>
              </a:path>
            </a:pathLst>
          </a:custGeom>
          <a:noFill/>
          <a:ln w="19050">
            <a:solidFill>
              <a:srgbClr val="F5927E"/>
            </a:solidFill>
            <a:tailEnd type="triangle" w="lg" len="lg"/>
          </a:ln>
        </p:spPr>
      </p:sp>
      <p:sp>
        <p:nvSpPr>
          <p:cNvPr id="13" name="side-arrow-r2"/>
          <p:cNvSpPr/>
          <p:nvPr/>
        </p:nvSpPr>
        <p:spPr>
          <a:xfrm>
            <a:off x="8953500" y="4476750"/>
            <a:ext cx="1143000" cy="1238250"/>
          </a:xfrm>
          <a:custGeom>
            <a:avLst/>
            <a:gdLst/>
            <a:ahLst/>
            <a:cxnLst/>
            <a:rect l="l" t="t" r="r" b="b"/>
            <a:pathLst>
              <a:path w="1143000" h="1238250">
                <a:moveTo>
                  <a:pt x="1143000" y="1238250"/>
                </a:moveTo>
                <a:cubicBezTo>
                  <a:pt x="825500" y="666750"/>
                  <a:pt x="444500" y="254000"/>
                  <a:pt x="0" y="0"/>
                </a:cubicBezTo>
              </a:path>
            </a:pathLst>
          </a:custGeom>
          <a:noFill/>
          <a:ln w="19050">
            <a:solidFill>
              <a:srgbClr val="F5927E"/>
            </a:solidFill>
            <a:tailEnd type="triangle" w="lg" len="lg"/>
          </a:ln>
        </p:spPr>
      </p:sp>
      <p:grpSp>
        <p:nvGrpSpPr>
          <p:cNvPr id="18" name="page-header"/>
          <p:cNvGrpSpPr/>
          <p:nvPr/>
        </p:nvGrpSpPr>
        <p:grpSpPr>
          <a:xfrm>
            <a:off x="0" y="0"/>
            <a:ext cx="11811000" cy="561404"/>
            <a:chOff x="0" y="0"/>
            <a:chExt cx="11811000" cy="561404"/>
          </a:xfrm>
        </p:grpSpPr>
        <p:sp>
          <p:nvSpPr>
            <p:cNvPr id="14" name="Polygon 1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15" name="TextBox 15"/>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06</a:t>
              </a:r>
            </a:p>
          </p:txBody>
        </p:sp>
        <p:sp>
          <p:nvSpPr>
            <p:cNvPr id="16" name="TextBox 16"/>
            <p:cNvSpPr txBox="1"/>
            <p:nvPr/>
          </p:nvSpPr>
          <p:spPr>
            <a:xfrm>
              <a:off x="904494" y="180023"/>
              <a:ext cx="2238756"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市场管理战略模型</a:t>
              </a:r>
            </a:p>
          </p:txBody>
        </p:sp>
        <p:sp>
          <p:nvSpPr>
            <p:cNvPr id="17" name="Line 17"/>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45" name="hub-ring"/>
          <p:cNvGrpSpPr/>
          <p:nvPr/>
        </p:nvGrpSpPr>
        <p:grpSpPr>
          <a:xfrm>
            <a:off x="666750" y="876300"/>
            <a:ext cx="10858500" cy="2762250"/>
            <a:chOff x="666750" y="876300"/>
            <a:chExt cx="10858500" cy="2762250"/>
          </a:xfrm>
        </p:grpSpPr>
        <p:sp>
          <p:nvSpPr>
            <p:cNvPr id="19" name="Ellipse 19"/>
            <p:cNvSpPr/>
            <p:nvPr/>
          </p:nvSpPr>
          <p:spPr>
            <a:xfrm>
              <a:off x="666750" y="2076450"/>
              <a:ext cx="10858500" cy="1562100"/>
            </a:xfrm>
            <a:prstGeom prst="ellipse">
              <a:avLst/>
            </a:prstGeom>
            <a:noFill/>
            <a:ln w="11430">
              <a:solidFill>
                <a:srgbClr val="E94B2B"/>
              </a:solidFill>
              <a:custDash>
                <a:ds d="416667" sp="333333"/>
              </a:custDash>
            </a:ln>
          </p:spPr>
        </p:sp>
        <p:sp>
          <p:nvSpPr>
            <p:cNvPr id="20" name="Ellipse 20"/>
            <p:cNvSpPr/>
            <p:nvPr/>
          </p:nvSpPr>
          <p:spPr>
            <a:xfrm>
              <a:off x="1524000" y="2228850"/>
              <a:ext cx="9144000" cy="1257300"/>
            </a:xfrm>
            <a:prstGeom prst="ellipse">
              <a:avLst/>
            </a:prstGeom>
            <a:gradFill>
              <a:gsLst>
                <a:gs pos="0">
                  <a:srgbClr val="DCEBFB"/>
                </a:gs>
                <a:gs pos="100000">
                  <a:srgbClr val="F2AC9E"/>
                </a:gs>
              </a:gsLst>
              <a:lin ang="5400000" scaled="1"/>
            </a:gradFill>
            <a:ln>
              <a:noFill/>
            </a:ln>
          </p:spPr>
        </p:sp>
        <p:sp>
          <p:nvSpPr>
            <p:cNvPr id="21" name="Ellipse 21"/>
            <p:cNvSpPr/>
            <p:nvPr/>
          </p:nvSpPr>
          <p:spPr>
            <a:xfrm>
              <a:off x="2286000" y="2324100"/>
              <a:ext cx="7620000" cy="876300"/>
            </a:xfrm>
            <a:prstGeom prst="ellipse">
              <a:avLst/>
            </a:prstGeom>
            <a:solidFill>
              <a:srgbClr val="F3F8FE">
                <a:alpha val="60000"/>
              </a:srgbClr>
            </a:solidFill>
            <a:ln>
              <a:noFill/>
            </a:ln>
          </p:spPr>
        </p:sp>
        <p:sp>
          <p:nvSpPr>
            <p:cNvPr id="22" name="Ellipse 22"/>
            <p:cNvSpPr/>
            <p:nvPr/>
          </p:nvSpPr>
          <p:spPr>
            <a:xfrm>
              <a:off x="4762500" y="1885950"/>
              <a:ext cx="2667000" cy="457200"/>
            </a:xfrm>
            <a:prstGeom prst="ellipse">
              <a:avLst/>
            </a:prstGeom>
            <a:solidFill>
              <a:srgbClr val="F6C2B7"/>
            </a:solidFill>
            <a:ln>
              <a:noFill/>
            </a:ln>
          </p:spPr>
        </p:sp>
        <p:sp>
          <p:nvSpPr>
            <p:cNvPr id="23" name="Freeform 23"/>
            <p:cNvSpPr/>
            <p:nvPr/>
          </p:nvSpPr>
          <p:spPr>
            <a:xfrm>
              <a:off x="4810125" y="876300"/>
              <a:ext cx="2571750" cy="1181100"/>
            </a:xfrm>
            <a:prstGeom prst="cloud">
              <a:avLst/>
            </a:prstGeom>
            <a:solidFill>
              <a:srgbClr val="E94B2B"/>
            </a:solidFill>
            <a:ln>
              <a:noFill/>
            </a:ln>
          </p:spPr>
        </p:sp>
        <p:sp>
          <p:nvSpPr>
            <p:cNvPr id="24" name="TextBox 24"/>
            <p:cNvSpPr txBox="1"/>
            <p:nvPr/>
          </p:nvSpPr>
          <p:spPr>
            <a:xfrm>
              <a:off x="5831967" y="1263968"/>
              <a:ext cx="528066" cy="511683"/>
            </a:xfrm>
            <a:prstGeom prst="rect">
              <a:avLst/>
            </a:prstGeom>
            <a:noFill/>
            <a:ln>
              <a:noFill/>
            </a:ln>
          </p:spPr>
          <p:txBody>
            <a:bodyPr wrap="none" lIns="0" tIns="0" rIns="0" bIns="0" anchor="t" anchorCtr="0">
              <a:spAutoFit/>
            </a:bodyPr>
            <a:lstStyle/>
            <a:p>
              <a:pPr algn="ctr">
                <a:lnSpc>
                  <a:spcPts val="1950"/>
                </a:lnSpc>
              </a:pPr>
              <a:r>
                <a:rPr lang="zh-CN" sz="1350" b="1" dirty="0">
                  <a:solidFill>
                    <a:srgbClr val="FFFFFF"/>
                  </a:solidFill>
                  <a:latin typeface="+mn-lt"/>
                  <a:ea typeface="+mn-ea"/>
                  <a:cs typeface="+mn-cs"/>
                </a:rPr>
                <a:t>全方位</a:t>
              </a:r>
              <a:br/>
              <a:r>
                <a:rPr lang="zh-CN" sz="1350" b="1" dirty="0">
                  <a:solidFill>
                    <a:srgbClr val="FFFFFF"/>
                  </a:solidFill>
                  <a:latin typeface="+mn-lt"/>
                  <a:ea typeface="+mn-ea"/>
                  <a:cs typeface="+mn-cs"/>
                </a:rPr>
                <a:t>多领域</a:t>
              </a:r>
            </a:p>
          </p:txBody>
        </p:sp>
        <p:sp>
          <p:nvSpPr>
            <p:cNvPr id="25" name="Ellipse 25"/>
            <p:cNvSpPr/>
            <p:nvPr/>
          </p:nvSpPr>
          <p:spPr>
            <a:xfrm>
              <a:off x="1562100" y="201930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26" name="TextBox 26"/>
            <p:cNvSpPr txBox="1"/>
            <p:nvPr/>
          </p:nvSpPr>
          <p:spPr>
            <a:xfrm>
              <a:off x="1775587" y="2228374"/>
              <a:ext cx="258826" cy="343091"/>
            </a:xfrm>
            <a:prstGeom prst="rect">
              <a:avLst/>
            </a:prstGeom>
            <a:noFill/>
            <a:ln>
              <a:noFill/>
            </a:ln>
          </p:spPr>
          <p:txBody>
            <a:bodyPr wrap="none" lIns="0" tIns="0" rIns="0" bIns="0" anchor="t" anchorCtr="0">
              <a:spAutoFit/>
            </a:bodyPr>
            <a:lstStyle/>
            <a:p>
              <a:pPr algn="ctr">
                <a:lnSpc>
                  <a:spcPts val="1200"/>
                </a:lnSpc>
              </a:pPr>
              <a:r>
                <a:rPr lang="zh-CN" sz="980" dirty="0">
                  <a:solidFill>
                    <a:srgbClr val="FFFFFF"/>
                  </a:solidFill>
                  <a:latin typeface="+mn-lt"/>
                  <a:ea typeface="+mn-ea"/>
                  <a:cs typeface="+mn-cs"/>
                </a:rPr>
                <a:t>资源</a:t>
              </a:r>
              <a:br/>
              <a:r>
                <a:rPr lang="zh-CN" sz="980" dirty="0">
                  <a:solidFill>
                    <a:srgbClr val="FFFFFF"/>
                  </a:solidFill>
                  <a:latin typeface="+mn-lt"/>
                  <a:ea typeface="+mn-ea"/>
                  <a:cs typeface="+mn-cs"/>
                </a:rPr>
                <a:t>获取</a:t>
              </a:r>
            </a:p>
          </p:txBody>
        </p:sp>
        <p:sp>
          <p:nvSpPr>
            <p:cNvPr id="27" name="Ellipse 27"/>
            <p:cNvSpPr/>
            <p:nvPr/>
          </p:nvSpPr>
          <p:spPr>
            <a:xfrm>
              <a:off x="2305050" y="1581150"/>
              <a:ext cx="495300" cy="495300"/>
            </a:xfrm>
            <a:prstGeom prst="ellipse">
              <a:avLst/>
            </a:prstGeom>
            <a:gradFill>
              <a:gsLst>
                <a:gs pos="0">
                  <a:srgbClr val="E0563A"/>
                </a:gs>
                <a:gs pos="100000">
                  <a:srgbClr val="B03117"/>
                </a:gs>
              </a:gsLst>
              <a:path path="circle">
                <a:fillToRect l="40000" t="35000" r="60000" b="65000"/>
              </a:path>
            </a:gradFill>
            <a:ln>
              <a:noFill/>
            </a:ln>
          </p:spPr>
        </p:sp>
        <p:sp>
          <p:nvSpPr>
            <p:cNvPr id="28" name="TextBox 28"/>
            <p:cNvSpPr txBox="1"/>
            <p:nvPr/>
          </p:nvSpPr>
          <p:spPr>
            <a:xfrm>
              <a:off x="2471559" y="17711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a:t>
              </a:r>
            </a:p>
          </p:txBody>
        </p:sp>
        <p:sp>
          <p:nvSpPr>
            <p:cNvPr id="29" name="Ellipse 29"/>
            <p:cNvSpPr/>
            <p:nvPr/>
          </p:nvSpPr>
          <p:spPr>
            <a:xfrm>
              <a:off x="2705100" y="243840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30" name="TextBox 30"/>
            <p:cNvSpPr txBox="1"/>
            <p:nvPr/>
          </p:nvSpPr>
          <p:spPr>
            <a:xfrm>
              <a:off x="2918587" y="2647474"/>
              <a:ext cx="258826" cy="343091"/>
            </a:xfrm>
            <a:prstGeom prst="rect">
              <a:avLst/>
            </a:prstGeom>
            <a:noFill/>
            <a:ln>
              <a:noFill/>
            </a:ln>
          </p:spPr>
          <p:txBody>
            <a:bodyPr wrap="none" lIns="0" tIns="0" rIns="0" bIns="0" anchor="t" anchorCtr="0">
              <a:spAutoFit/>
            </a:bodyPr>
            <a:lstStyle/>
            <a:p>
              <a:pPr algn="ctr">
                <a:lnSpc>
                  <a:spcPts val="1200"/>
                </a:lnSpc>
              </a:pPr>
              <a:r>
                <a:rPr lang="zh-CN" sz="980" dirty="0">
                  <a:solidFill>
                    <a:srgbClr val="FFFFFF"/>
                  </a:solidFill>
                  <a:latin typeface="+mn-lt"/>
                  <a:ea typeface="+mn-ea"/>
                  <a:cs typeface="+mn-cs"/>
                </a:rPr>
                <a:t>资源</a:t>
              </a:r>
              <a:br/>
              <a:r>
                <a:rPr lang="zh-CN" sz="980" dirty="0">
                  <a:solidFill>
                    <a:srgbClr val="FFFFFF"/>
                  </a:solidFill>
                  <a:latin typeface="+mn-lt"/>
                  <a:ea typeface="+mn-ea"/>
                  <a:cs typeface="+mn-cs"/>
                </a:rPr>
                <a:t>获取</a:t>
              </a:r>
            </a:p>
          </p:txBody>
        </p:sp>
        <p:sp>
          <p:nvSpPr>
            <p:cNvPr id="31" name="Ellipse 31"/>
            <p:cNvSpPr/>
            <p:nvPr/>
          </p:nvSpPr>
          <p:spPr>
            <a:xfrm>
              <a:off x="3895725" y="268605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32" name="TextBox 32"/>
            <p:cNvSpPr txBox="1"/>
            <p:nvPr/>
          </p:nvSpPr>
          <p:spPr>
            <a:xfrm>
              <a:off x="4109212" y="2895124"/>
              <a:ext cx="258826" cy="343091"/>
            </a:xfrm>
            <a:prstGeom prst="rect">
              <a:avLst/>
            </a:prstGeom>
            <a:noFill/>
            <a:ln>
              <a:noFill/>
            </a:ln>
          </p:spPr>
          <p:txBody>
            <a:bodyPr wrap="none" lIns="0" tIns="0" rIns="0" bIns="0" anchor="t" anchorCtr="0">
              <a:spAutoFit/>
            </a:bodyPr>
            <a:lstStyle/>
            <a:p>
              <a:pPr algn="ctr">
                <a:lnSpc>
                  <a:spcPts val="1200"/>
                </a:lnSpc>
              </a:pPr>
              <a:r>
                <a:rPr lang="zh-CN" sz="980" dirty="0">
                  <a:solidFill>
                    <a:srgbClr val="FFFFFF"/>
                  </a:solidFill>
                  <a:latin typeface="+mn-lt"/>
                  <a:ea typeface="+mn-ea"/>
                  <a:cs typeface="+mn-cs"/>
                </a:rPr>
                <a:t>金融</a:t>
              </a:r>
              <a:br/>
              <a:r>
                <a:rPr lang="zh-CN" sz="980" dirty="0">
                  <a:solidFill>
                    <a:srgbClr val="FFFFFF"/>
                  </a:solidFill>
                  <a:latin typeface="+mn-lt"/>
                  <a:ea typeface="+mn-ea"/>
                  <a:cs typeface="+mn-cs"/>
                </a:rPr>
                <a:t>服务</a:t>
              </a:r>
            </a:p>
          </p:txBody>
        </p:sp>
        <p:sp>
          <p:nvSpPr>
            <p:cNvPr id="33" name="Ellipse 33"/>
            <p:cNvSpPr/>
            <p:nvPr/>
          </p:nvSpPr>
          <p:spPr>
            <a:xfrm>
              <a:off x="5133975" y="281940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34" name="TextBox 34"/>
            <p:cNvSpPr txBox="1"/>
            <p:nvPr/>
          </p:nvSpPr>
          <p:spPr>
            <a:xfrm>
              <a:off x="5347462" y="3028474"/>
              <a:ext cx="258826" cy="343091"/>
            </a:xfrm>
            <a:prstGeom prst="rect">
              <a:avLst/>
            </a:prstGeom>
            <a:noFill/>
            <a:ln>
              <a:noFill/>
            </a:ln>
          </p:spPr>
          <p:txBody>
            <a:bodyPr wrap="none" lIns="0" tIns="0" rIns="0" bIns="0" anchor="t" anchorCtr="0">
              <a:spAutoFit/>
            </a:bodyPr>
            <a:lstStyle/>
            <a:p>
              <a:pPr algn="ctr">
                <a:lnSpc>
                  <a:spcPts val="1200"/>
                </a:lnSpc>
              </a:pPr>
              <a:r>
                <a:rPr lang="zh-CN" sz="980" dirty="0">
                  <a:solidFill>
                    <a:srgbClr val="FFFFFF"/>
                  </a:solidFill>
                  <a:latin typeface="+mn-lt"/>
                  <a:ea typeface="+mn-ea"/>
                  <a:cs typeface="+mn-cs"/>
                </a:rPr>
                <a:t>品牌</a:t>
              </a:r>
              <a:br/>
              <a:r>
                <a:rPr lang="zh-CN" sz="980" dirty="0">
                  <a:solidFill>
                    <a:srgbClr val="FFFFFF"/>
                  </a:solidFill>
                  <a:latin typeface="+mn-lt"/>
                  <a:ea typeface="+mn-ea"/>
                  <a:cs typeface="+mn-cs"/>
                </a:rPr>
                <a:t>维护</a:t>
              </a:r>
            </a:p>
          </p:txBody>
        </p:sp>
        <p:sp>
          <p:nvSpPr>
            <p:cNvPr id="35" name="Ellipse 35"/>
            <p:cNvSpPr/>
            <p:nvPr/>
          </p:nvSpPr>
          <p:spPr>
            <a:xfrm>
              <a:off x="6372225" y="281940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36" name="TextBox 36"/>
            <p:cNvSpPr txBox="1"/>
            <p:nvPr/>
          </p:nvSpPr>
          <p:spPr>
            <a:xfrm>
              <a:off x="6585712" y="3028474"/>
              <a:ext cx="258826" cy="343091"/>
            </a:xfrm>
            <a:prstGeom prst="rect">
              <a:avLst/>
            </a:prstGeom>
            <a:noFill/>
            <a:ln>
              <a:noFill/>
            </a:ln>
          </p:spPr>
          <p:txBody>
            <a:bodyPr wrap="none" lIns="0" tIns="0" rIns="0" bIns="0" anchor="t" anchorCtr="0">
              <a:spAutoFit/>
            </a:bodyPr>
            <a:lstStyle/>
            <a:p>
              <a:pPr algn="ctr">
                <a:lnSpc>
                  <a:spcPts val="1200"/>
                </a:lnSpc>
              </a:pPr>
              <a:r>
                <a:rPr lang="zh-CN" sz="980" dirty="0">
                  <a:solidFill>
                    <a:srgbClr val="FFFFFF"/>
                  </a:solidFill>
                  <a:latin typeface="+mn-lt"/>
                  <a:ea typeface="+mn-ea"/>
                  <a:cs typeface="+mn-cs"/>
                </a:rPr>
                <a:t>产业</a:t>
              </a:r>
              <a:br/>
              <a:r>
                <a:rPr lang="zh-CN" sz="980" dirty="0">
                  <a:solidFill>
                    <a:srgbClr val="FFFFFF"/>
                  </a:solidFill>
                  <a:latin typeface="+mn-lt"/>
                  <a:ea typeface="+mn-ea"/>
                  <a:cs typeface="+mn-cs"/>
                </a:rPr>
                <a:t>投资</a:t>
              </a:r>
            </a:p>
          </p:txBody>
        </p:sp>
        <p:sp>
          <p:nvSpPr>
            <p:cNvPr id="37" name="Ellipse 37"/>
            <p:cNvSpPr/>
            <p:nvPr/>
          </p:nvSpPr>
          <p:spPr>
            <a:xfrm>
              <a:off x="7610475" y="268605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38" name="TextBox 38"/>
            <p:cNvSpPr txBox="1"/>
            <p:nvPr/>
          </p:nvSpPr>
          <p:spPr>
            <a:xfrm>
              <a:off x="7823962" y="2895124"/>
              <a:ext cx="258826" cy="343091"/>
            </a:xfrm>
            <a:prstGeom prst="rect">
              <a:avLst/>
            </a:prstGeom>
            <a:noFill/>
            <a:ln>
              <a:noFill/>
            </a:ln>
          </p:spPr>
          <p:txBody>
            <a:bodyPr wrap="none" lIns="0" tIns="0" rIns="0" bIns="0" anchor="t" anchorCtr="0">
              <a:spAutoFit/>
            </a:bodyPr>
            <a:lstStyle/>
            <a:p>
              <a:pPr algn="ctr">
                <a:lnSpc>
                  <a:spcPts val="1200"/>
                </a:lnSpc>
              </a:pPr>
              <a:r>
                <a:rPr lang="zh-CN" sz="980" dirty="0">
                  <a:solidFill>
                    <a:srgbClr val="FFFFFF"/>
                  </a:solidFill>
                  <a:latin typeface="+mn-lt"/>
                  <a:ea typeface="+mn-ea"/>
                  <a:cs typeface="+mn-cs"/>
                </a:rPr>
                <a:t>物流</a:t>
              </a:r>
              <a:br/>
              <a:r>
                <a:rPr lang="zh-CN" sz="980" dirty="0">
                  <a:solidFill>
                    <a:srgbClr val="FFFFFF"/>
                  </a:solidFill>
                  <a:latin typeface="+mn-lt"/>
                  <a:ea typeface="+mn-ea"/>
                  <a:cs typeface="+mn-cs"/>
                </a:rPr>
                <a:t>配送</a:t>
              </a:r>
            </a:p>
          </p:txBody>
        </p:sp>
        <p:sp>
          <p:nvSpPr>
            <p:cNvPr id="39" name="Ellipse 39"/>
            <p:cNvSpPr/>
            <p:nvPr/>
          </p:nvSpPr>
          <p:spPr>
            <a:xfrm>
              <a:off x="8801100" y="243840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40" name="TextBox 40"/>
            <p:cNvSpPr txBox="1"/>
            <p:nvPr/>
          </p:nvSpPr>
          <p:spPr>
            <a:xfrm>
              <a:off x="9014587" y="2647474"/>
              <a:ext cx="258826" cy="343091"/>
            </a:xfrm>
            <a:prstGeom prst="rect">
              <a:avLst/>
            </a:prstGeom>
            <a:noFill/>
            <a:ln>
              <a:noFill/>
            </a:ln>
          </p:spPr>
          <p:txBody>
            <a:bodyPr wrap="none" lIns="0" tIns="0" rIns="0" bIns="0" anchor="t" anchorCtr="0">
              <a:spAutoFit/>
            </a:bodyPr>
            <a:lstStyle/>
            <a:p>
              <a:pPr algn="ctr">
                <a:lnSpc>
                  <a:spcPts val="1200"/>
                </a:lnSpc>
              </a:pPr>
              <a:r>
                <a:rPr lang="zh-CN" sz="980" dirty="0">
                  <a:solidFill>
                    <a:srgbClr val="FFFFFF"/>
                  </a:solidFill>
                  <a:latin typeface="+mn-lt"/>
                  <a:ea typeface="+mn-ea"/>
                  <a:cs typeface="+mn-cs"/>
                </a:rPr>
                <a:t>价格</a:t>
              </a:r>
              <a:br/>
              <a:r>
                <a:rPr lang="zh-CN" sz="980" dirty="0">
                  <a:solidFill>
                    <a:srgbClr val="FFFFFF"/>
                  </a:solidFill>
                  <a:latin typeface="+mn-lt"/>
                  <a:ea typeface="+mn-ea"/>
                  <a:cs typeface="+mn-cs"/>
                </a:rPr>
                <a:t>管理</a:t>
              </a:r>
            </a:p>
          </p:txBody>
        </p:sp>
        <p:sp>
          <p:nvSpPr>
            <p:cNvPr id="41" name="Ellipse 41"/>
            <p:cNvSpPr/>
            <p:nvPr/>
          </p:nvSpPr>
          <p:spPr>
            <a:xfrm>
              <a:off x="9391650" y="1581150"/>
              <a:ext cx="495300" cy="495300"/>
            </a:xfrm>
            <a:prstGeom prst="ellipse">
              <a:avLst/>
            </a:prstGeom>
            <a:gradFill>
              <a:gsLst>
                <a:gs pos="0">
                  <a:srgbClr val="E0563A"/>
                </a:gs>
                <a:gs pos="100000">
                  <a:srgbClr val="B03117"/>
                </a:gs>
              </a:gsLst>
              <a:path path="circle">
                <a:fillToRect l="40000" t="35000" r="60000" b="65000"/>
              </a:path>
            </a:gradFill>
            <a:ln>
              <a:noFill/>
            </a:ln>
          </p:spPr>
        </p:sp>
        <p:sp>
          <p:nvSpPr>
            <p:cNvPr id="42" name="TextBox 42"/>
            <p:cNvSpPr txBox="1"/>
            <p:nvPr/>
          </p:nvSpPr>
          <p:spPr>
            <a:xfrm>
              <a:off x="9558159" y="17711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a:t>
              </a:r>
            </a:p>
          </p:txBody>
        </p:sp>
        <p:sp>
          <p:nvSpPr>
            <p:cNvPr id="43" name="Ellipse 43"/>
            <p:cNvSpPr/>
            <p:nvPr/>
          </p:nvSpPr>
          <p:spPr>
            <a:xfrm>
              <a:off x="9944100" y="2019300"/>
              <a:ext cx="685800" cy="6858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44" name="TextBox 44"/>
            <p:cNvSpPr txBox="1"/>
            <p:nvPr/>
          </p:nvSpPr>
          <p:spPr>
            <a:xfrm>
              <a:off x="10157587" y="2228374"/>
              <a:ext cx="258826" cy="343091"/>
            </a:xfrm>
            <a:prstGeom prst="rect">
              <a:avLst/>
            </a:prstGeom>
            <a:noFill/>
            <a:ln>
              <a:noFill/>
            </a:ln>
          </p:spPr>
          <p:txBody>
            <a:bodyPr wrap="none" lIns="0" tIns="0" rIns="0" bIns="0" anchor="t" anchorCtr="0">
              <a:spAutoFit/>
            </a:bodyPr>
            <a:lstStyle/>
            <a:p>
              <a:pPr algn="ctr">
                <a:lnSpc>
                  <a:spcPts val="1200"/>
                </a:lnSpc>
              </a:pPr>
              <a:r>
                <a:rPr lang="zh-CN" sz="980" dirty="0">
                  <a:solidFill>
                    <a:srgbClr val="FFFFFF"/>
                  </a:solidFill>
                  <a:latin typeface="+mn-lt"/>
                  <a:ea typeface="+mn-ea"/>
                  <a:cs typeface="+mn-cs"/>
                </a:rPr>
                <a:t>风险</a:t>
              </a:r>
              <a:br/>
              <a:r>
                <a:rPr lang="zh-CN" sz="980" dirty="0">
                  <a:solidFill>
                    <a:srgbClr val="FFFFFF"/>
                  </a:solidFill>
                  <a:latin typeface="+mn-lt"/>
                  <a:ea typeface="+mn-ea"/>
                  <a:cs typeface="+mn-cs"/>
                </a:rPr>
                <a:t>管理</a:t>
              </a:r>
            </a:p>
          </p:txBody>
        </p:sp>
      </p:grpSp>
      <p:grpSp>
        <p:nvGrpSpPr>
          <p:cNvPr id="49" name="main-arrow"/>
          <p:cNvGrpSpPr/>
          <p:nvPr/>
        </p:nvGrpSpPr>
        <p:grpSpPr>
          <a:xfrm>
            <a:off x="5476875" y="3733800"/>
            <a:ext cx="1238250" cy="2590800"/>
            <a:chOff x="5476875" y="3733800"/>
            <a:chExt cx="1238250" cy="2590800"/>
          </a:xfrm>
        </p:grpSpPr>
        <p:sp>
          <p:nvSpPr>
            <p:cNvPr id="46" name="Freeform 46"/>
            <p:cNvSpPr/>
            <p:nvPr/>
          </p:nvSpPr>
          <p:spPr>
            <a:xfrm>
              <a:off x="5476875" y="3733800"/>
              <a:ext cx="1238250" cy="2590800"/>
            </a:xfrm>
            <a:prstGeom prst="upArrow">
              <a:avLst>
                <a:gd name="adj1" fmla="val 42000"/>
                <a:gd name="adj2" fmla="val 32000"/>
              </a:avLst>
            </a:prstGeom>
            <a:solidFill>
              <a:srgbClr val="E94B2B"/>
            </a:solidFill>
            <a:ln>
              <a:noFill/>
            </a:ln>
          </p:spPr>
        </p:sp>
        <p:sp>
          <p:nvSpPr>
            <p:cNvPr id="47" name="Rectangle 47"/>
            <p:cNvSpPr/>
            <p:nvPr/>
          </p:nvSpPr>
          <p:spPr>
            <a:xfrm>
              <a:off x="5934075" y="4286250"/>
              <a:ext cx="323850" cy="1866900"/>
            </a:xfrm>
            <a:prstGeom prst="roundRect">
              <a:avLst>
                <a:gd name="adj" fmla="val 50000"/>
              </a:avLst>
            </a:prstGeom>
            <a:solidFill>
              <a:srgbClr val="FFFFFF"/>
            </a:solidFill>
            <a:ln>
              <a:noFill/>
            </a:ln>
          </p:spPr>
        </p:sp>
        <p:sp>
          <p:nvSpPr>
            <p:cNvPr id="48" name="TextBox 48"/>
            <p:cNvSpPr txBox="1"/>
            <p:nvPr/>
          </p:nvSpPr>
          <p:spPr>
            <a:xfrm>
              <a:off x="6019165" y="4431506"/>
              <a:ext cx="153670" cy="1648778"/>
            </a:xfrm>
            <a:prstGeom prst="rect">
              <a:avLst/>
            </a:prstGeom>
            <a:noFill/>
            <a:ln>
              <a:noFill/>
            </a:ln>
          </p:spPr>
          <p:txBody>
            <a:bodyPr wrap="none" lIns="0" tIns="0" rIns="0" bIns="0" anchor="t" anchorCtr="0">
              <a:spAutoFit/>
            </a:bodyPr>
            <a:lstStyle/>
            <a:p>
              <a:pPr algn="ctr">
                <a:lnSpc>
                  <a:spcPts val="1875"/>
                </a:lnSpc>
              </a:pPr>
              <a:r>
                <a:rPr lang="zh-CN" sz="1120" b="1" dirty="0">
                  <a:solidFill>
                    <a:srgbClr val="E94B2B"/>
                  </a:solidFill>
                  <a:latin typeface="+mn-lt"/>
                  <a:ea typeface="+mn-ea"/>
                  <a:cs typeface="+mn-cs"/>
                </a:rPr>
                <a:t>一</a:t>
              </a:r>
              <a:br/>
              <a:r>
                <a:rPr lang="zh-CN" sz="1120" b="1" dirty="0">
                  <a:solidFill>
                    <a:srgbClr val="E94B2B"/>
                  </a:solidFill>
                  <a:latin typeface="+mn-lt"/>
                  <a:ea typeface="+mn-ea"/>
                  <a:cs typeface="+mn-cs"/>
                </a:rPr>
                <a:t>站</a:t>
              </a:r>
              <a:br/>
              <a:r>
                <a:rPr lang="zh-CN" sz="1120" b="1" dirty="0">
                  <a:solidFill>
                    <a:srgbClr val="E94B2B"/>
                  </a:solidFill>
                  <a:latin typeface="+mn-lt"/>
                  <a:ea typeface="+mn-ea"/>
                  <a:cs typeface="+mn-cs"/>
                </a:rPr>
                <a:t>式</a:t>
              </a:r>
              <a:br/>
              <a:r>
                <a:rPr lang="zh-CN" sz="1120" b="1" dirty="0">
                  <a:solidFill>
                    <a:srgbClr val="E94B2B"/>
                  </a:solidFill>
                  <a:latin typeface="+mn-lt"/>
                  <a:ea typeface="+mn-ea"/>
                  <a:cs typeface="+mn-cs"/>
                </a:rPr>
                <a:t>综</a:t>
              </a:r>
              <a:br/>
              <a:r>
                <a:rPr lang="zh-CN" sz="1120" b="1" dirty="0">
                  <a:solidFill>
                    <a:srgbClr val="E94B2B"/>
                  </a:solidFill>
                  <a:latin typeface="+mn-lt"/>
                  <a:ea typeface="+mn-ea"/>
                  <a:cs typeface="+mn-cs"/>
                </a:rPr>
                <a:t>合</a:t>
              </a:r>
              <a:br/>
              <a:r>
                <a:rPr lang="zh-CN" sz="1120" b="1" dirty="0">
                  <a:solidFill>
                    <a:srgbClr val="E94B2B"/>
                  </a:solidFill>
                  <a:latin typeface="+mn-lt"/>
                  <a:ea typeface="+mn-ea"/>
                  <a:cs typeface="+mn-cs"/>
                </a:rPr>
                <a:t>服</a:t>
              </a:r>
              <a:br/>
              <a:r>
                <a:rPr lang="zh-CN" sz="1120" b="1" dirty="0">
                  <a:solidFill>
                    <a:srgbClr val="E94B2B"/>
                  </a:solidFill>
                  <a:latin typeface="+mn-lt"/>
                  <a:ea typeface="+mn-ea"/>
                  <a:cs typeface="+mn-cs"/>
                </a:rPr>
                <a:t>务</a:t>
              </a:r>
            </a:p>
          </p:txBody>
        </p:sp>
      </p:grpSp>
      <p:grpSp>
        <p:nvGrpSpPr>
          <p:cNvPr id="56" name="service-tags-left"/>
          <p:cNvGrpSpPr/>
          <p:nvPr/>
        </p:nvGrpSpPr>
        <p:grpSpPr>
          <a:xfrm>
            <a:off x="3581400" y="4305300"/>
            <a:ext cx="1581150" cy="1733550"/>
            <a:chOff x="3581400" y="4305300"/>
            <a:chExt cx="1581150" cy="1733550"/>
          </a:xfrm>
        </p:grpSpPr>
        <p:sp>
          <p:nvSpPr>
            <p:cNvPr id="50" name="Rectangle 50"/>
            <p:cNvSpPr/>
            <p:nvPr/>
          </p:nvSpPr>
          <p:spPr>
            <a:xfrm>
              <a:off x="3581400" y="4953000"/>
              <a:ext cx="285750" cy="685800"/>
            </a:xfrm>
            <a:prstGeom prst="roundRect">
              <a:avLst>
                <a:gd name="adj" fmla="val 50000"/>
              </a:avLst>
            </a:prstGeom>
            <a:solidFill>
              <a:srgbClr val="FFFFFF"/>
            </a:solidFill>
            <a:ln w="9525">
              <a:solidFill>
                <a:srgbClr val="C9DDF5"/>
              </a:solidFill>
            </a:ln>
          </p:spPr>
        </p:sp>
        <p:sp>
          <p:nvSpPr>
            <p:cNvPr id="51" name="TextBox 51"/>
            <p:cNvSpPr txBox="1"/>
            <p:nvPr/>
          </p:nvSpPr>
          <p:spPr>
            <a:xfrm>
              <a:off x="3657092" y="5095399"/>
              <a:ext cx="134366" cy="381191"/>
            </a:xfrm>
            <a:prstGeom prst="rect">
              <a:avLst/>
            </a:prstGeom>
            <a:noFill/>
            <a:ln>
              <a:noFill/>
            </a:ln>
          </p:spPr>
          <p:txBody>
            <a:bodyPr wrap="none" lIns="0" tIns="0" rIns="0" bIns="0" anchor="t" anchorCtr="0">
              <a:spAutoFit/>
            </a:bodyPr>
            <a:lstStyle/>
            <a:p>
              <a:pPr algn="ctr">
                <a:lnSpc>
                  <a:spcPts val="1500"/>
                </a:lnSpc>
              </a:pPr>
              <a:r>
                <a:rPr lang="zh-CN" sz="980" dirty="0">
                  <a:solidFill>
                    <a:srgbClr val="E94B2B"/>
                  </a:solidFill>
                  <a:latin typeface="+mn-lt"/>
                  <a:ea typeface="+mn-ea"/>
                  <a:cs typeface="+mn-cs"/>
                </a:rPr>
                <a:t>定</a:t>
              </a:r>
              <a:br/>
              <a:r>
                <a:rPr lang="zh-CN" sz="980" dirty="0">
                  <a:solidFill>
                    <a:srgbClr val="E94B2B"/>
                  </a:solidFill>
                  <a:latin typeface="+mn-lt"/>
                  <a:ea typeface="+mn-ea"/>
                  <a:cs typeface="+mn-cs"/>
                </a:rPr>
                <a:t>价</a:t>
              </a:r>
            </a:p>
          </p:txBody>
        </p:sp>
        <p:sp>
          <p:nvSpPr>
            <p:cNvPr id="52" name="Rectangle 52"/>
            <p:cNvSpPr/>
            <p:nvPr/>
          </p:nvSpPr>
          <p:spPr>
            <a:xfrm>
              <a:off x="4381500" y="4305300"/>
              <a:ext cx="285750" cy="685800"/>
            </a:xfrm>
            <a:prstGeom prst="roundRect">
              <a:avLst>
                <a:gd name="adj" fmla="val 50000"/>
              </a:avLst>
            </a:prstGeom>
            <a:solidFill>
              <a:srgbClr val="FFFFFF"/>
            </a:solidFill>
            <a:ln w="9525">
              <a:solidFill>
                <a:srgbClr val="C9DDF5"/>
              </a:solidFill>
            </a:ln>
          </p:spPr>
        </p:sp>
        <p:sp>
          <p:nvSpPr>
            <p:cNvPr id="53" name="TextBox 53"/>
            <p:cNvSpPr txBox="1"/>
            <p:nvPr/>
          </p:nvSpPr>
          <p:spPr>
            <a:xfrm>
              <a:off x="4457192" y="4447699"/>
              <a:ext cx="134366" cy="381191"/>
            </a:xfrm>
            <a:prstGeom prst="rect">
              <a:avLst/>
            </a:prstGeom>
            <a:noFill/>
            <a:ln>
              <a:noFill/>
            </a:ln>
          </p:spPr>
          <p:txBody>
            <a:bodyPr wrap="none" lIns="0" tIns="0" rIns="0" bIns="0" anchor="t" anchorCtr="0">
              <a:spAutoFit/>
            </a:bodyPr>
            <a:lstStyle/>
            <a:p>
              <a:pPr algn="ctr">
                <a:lnSpc>
                  <a:spcPts val="1500"/>
                </a:lnSpc>
              </a:pPr>
              <a:r>
                <a:rPr lang="zh-CN" sz="980" dirty="0">
                  <a:solidFill>
                    <a:srgbClr val="E94B2B"/>
                  </a:solidFill>
                  <a:latin typeface="+mn-lt"/>
                  <a:ea typeface="+mn-ea"/>
                  <a:cs typeface="+mn-cs"/>
                </a:rPr>
                <a:t>物</a:t>
              </a:r>
              <a:br/>
              <a:r>
                <a:rPr lang="zh-CN" sz="980" dirty="0">
                  <a:solidFill>
                    <a:srgbClr val="E94B2B"/>
                  </a:solidFill>
                  <a:latin typeface="+mn-lt"/>
                  <a:ea typeface="+mn-ea"/>
                  <a:cs typeface="+mn-cs"/>
                </a:rPr>
                <a:t>流</a:t>
              </a:r>
            </a:p>
          </p:txBody>
        </p:sp>
        <p:sp>
          <p:nvSpPr>
            <p:cNvPr id="54" name="Rectangle 54"/>
            <p:cNvSpPr/>
            <p:nvPr/>
          </p:nvSpPr>
          <p:spPr>
            <a:xfrm>
              <a:off x="4876800" y="5353050"/>
              <a:ext cx="285750" cy="685800"/>
            </a:xfrm>
            <a:prstGeom prst="roundRect">
              <a:avLst>
                <a:gd name="adj" fmla="val 50000"/>
              </a:avLst>
            </a:prstGeom>
            <a:solidFill>
              <a:srgbClr val="FFFFFF"/>
            </a:solidFill>
            <a:ln w="9525">
              <a:solidFill>
                <a:srgbClr val="C9DDF5"/>
              </a:solidFill>
            </a:ln>
          </p:spPr>
        </p:sp>
        <p:sp>
          <p:nvSpPr>
            <p:cNvPr id="55" name="TextBox 55"/>
            <p:cNvSpPr txBox="1"/>
            <p:nvPr/>
          </p:nvSpPr>
          <p:spPr>
            <a:xfrm>
              <a:off x="4952492" y="5495449"/>
              <a:ext cx="134366" cy="381191"/>
            </a:xfrm>
            <a:prstGeom prst="rect">
              <a:avLst/>
            </a:prstGeom>
            <a:noFill/>
            <a:ln>
              <a:noFill/>
            </a:ln>
          </p:spPr>
          <p:txBody>
            <a:bodyPr wrap="none" lIns="0" tIns="0" rIns="0" bIns="0" anchor="t" anchorCtr="0">
              <a:spAutoFit/>
            </a:bodyPr>
            <a:lstStyle/>
            <a:p>
              <a:pPr algn="ctr">
                <a:lnSpc>
                  <a:spcPts val="1500"/>
                </a:lnSpc>
              </a:pPr>
              <a:r>
                <a:rPr lang="zh-CN" sz="980" dirty="0">
                  <a:solidFill>
                    <a:srgbClr val="E94B2B"/>
                  </a:solidFill>
                  <a:latin typeface="+mn-lt"/>
                  <a:ea typeface="+mn-ea"/>
                  <a:cs typeface="+mn-cs"/>
                </a:rPr>
                <a:t>采</a:t>
              </a:r>
              <a:br/>
              <a:r>
                <a:rPr lang="zh-CN" sz="980" dirty="0">
                  <a:solidFill>
                    <a:srgbClr val="E94B2B"/>
                  </a:solidFill>
                  <a:latin typeface="+mn-lt"/>
                  <a:ea typeface="+mn-ea"/>
                  <a:cs typeface="+mn-cs"/>
                </a:rPr>
                <a:t>购</a:t>
              </a:r>
            </a:p>
          </p:txBody>
        </p:sp>
      </p:grpSp>
      <p:grpSp>
        <p:nvGrpSpPr>
          <p:cNvPr id="63" name="service-tags-right"/>
          <p:cNvGrpSpPr/>
          <p:nvPr/>
        </p:nvGrpSpPr>
        <p:grpSpPr>
          <a:xfrm>
            <a:off x="7029450" y="4305300"/>
            <a:ext cx="1581150" cy="1733550"/>
            <a:chOff x="7029450" y="4305300"/>
            <a:chExt cx="1581150" cy="1733550"/>
          </a:xfrm>
        </p:grpSpPr>
        <p:sp>
          <p:nvSpPr>
            <p:cNvPr id="57" name="Rectangle 57"/>
            <p:cNvSpPr/>
            <p:nvPr/>
          </p:nvSpPr>
          <p:spPr>
            <a:xfrm>
              <a:off x="7029450" y="5353050"/>
              <a:ext cx="285750" cy="685800"/>
            </a:xfrm>
            <a:prstGeom prst="roundRect">
              <a:avLst>
                <a:gd name="adj" fmla="val 50000"/>
              </a:avLst>
            </a:prstGeom>
            <a:solidFill>
              <a:srgbClr val="FFFFFF"/>
            </a:solidFill>
            <a:ln w="9525">
              <a:solidFill>
                <a:srgbClr val="C9DDF5"/>
              </a:solidFill>
            </a:ln>
          </p:spPr>
        </p:sp>
        <p:sp>
          <p:nvSpPr>
            <p:cNvPr id="58" name="TextBox 58"/>
            <p:cNvSpPr txBox="1"/>
            <p:nvPr/>
          </p:nvSpPr>
          <p:spPr>
            <a:xfrm>
              <a:off x="7105142" y="5495449"/>
              <a:ext cx="134366" cy="381191"/>
            </a:xfrm>
            <a:prstGeom prst="rect">
              <a:avLst/>
            </a:prstGeom>
            <a:noFill/>
            <a:ln>
              <a:noFill/>
            </a:ln>
          </p:spPr>
          <p:txBody>
            <a:bodyPr wrap="none" lIns="0" tIns="0" rIns="0" bIns="0" anchor="t" anchorCtr="0">
              <a:spAutoFit/>
            </a:bodyPr>
            <a:lstStyle/>
            <a:p>
              <a:pPr algn="ctr">
                <a:lnSpc>
                  <a:spcPts val="1500"/>
                </a:lnSpc>
              </a:pPr>
              <a:r>
                <a:rPr lang="zh-CN" sz="980" dirty="0">
                  <a:solidFill>
                    <a:srgbClr val="E94B2B"/>
                  </a:solidFill>
                  <a:latin typeface="+mn-lt"/>
                  <a:ea typeface="+mn-ea"/>
                  <a:cs typeface="+mn-cs"/>
                </a:rPr>
                <a:t>销</a:t>
              </a:r>
              <a:br/>
              <a:r>
                <a:rPr lang="zh-CN" sz="980" dirty="0">
                  <a:solidFill>
                    <a:srgbClr val="E94B2B"/>
                  </a:solidFill>
                  <a:latin typeface="+mn-lt"/>
                  <a:ea typeface="+mn-ea"/>
                  <a:cs typeface="+mn-cs"/>
                </a:rPr>
                <a:t>售</a:t>
              </a:r>
            </a:p>
          </p:txBody>
        </p:sp>
        <p:sp>
          <p:nvSpPr>
            <p:cNvPr id="59" name="Rectangle 59"/>
            <p:cNvSpPr/>
            <p:nvPr/>
          </p:nvSpPr>
          <p:spPr>
            <a:xfrm>
              <a:off x="7524750" y="4305300"/>
              <a:ext cx="285750" cy="685800"/>
            </a:xfrm>
            <a:prstGeom prst="roundRect">
              <a:avLst>
                <a:gd name="adj" fmla="val 50000"/>
              </a:avLst>
            </a:prstGeom>
            <a:solidFill>
              <a:srgbClr val="FFFFFF"/>
            </a:solidFill>
            <a:ln w="9525">
              <a:solidFill>
                <a:srgbClr val="C9DDF5"/>
              </a:solidFill>
            </a:ln>
          </p:spPr>
        </p:sp>
        <p:sp>
          <p:nvSpPr>
            <p:cNvPr id="60" name="TextBox 60"/>
            <p:cNvSpPr txBox="1"/>
            <p:nvPr/>
          </p:nvSpPr>
          <p:spPr>
            <a:xfrm>
              <a:off x="7600442" y="4447699"/>
              <a:ext cx="134366" cy="381191"/>
            </a:xfrm>
            <a:prstGeom prst="rect">
              <a:avLst/>
            </a:prstGeom>
            <a:noFill/>
            <a:ln>
              <a:noFill/>
            </a:ln>
          </p:spPr>
          <p:txBody>
            <a:bodyPr wrap="none" lIns="0" tIns="0" rIns="0" bIns="0" anchor="t" anchorCtr="0">
              <a:spAutoFit/>
            </a:bodyPr>
            <a:lstStyle/>
            <a:p>
              <a:pPr algn="ctr">
                <a:lnSpc>
                  <a:spcPts val="1500"/>
                </a:lnSpc>
              </a:pPr>
              <a:r>
                <a:rPr lang="zh-CN" sz="980" dirty="0">
                  <a:solidFill>
                    <a:srgbClr val="E94B2B"/>
                  </a:solidFill>
                  <a:latin typeface="+mn-lt"/>
                  <a:ea typeface="+mn-ea"/>
                  <a:cs typeface="+mn-cs"/>
                </a:rPr>
                <a:t>金</a:t>
              </a:r>
              <a:br/>
              <a:r>
                <a:rPr lang="zh-CN" sz="980" dirty="0">
                  <a:solidFill>
                    <a:srgbClr val="E94B2B"/>
                  </a:solidFill>
                  <a:latin typeface="+mn-lt"/>
                  <a:ea typeface="+mn-ea"/>
                  <a:cs typeface="+mn-cs"/>
                </a:rPr>
                <a:t>融</a:t>
              </a:r>
            </a:p>
          </p:txBody>
        </p:sp>
        <p:sp>
          <p:nvSpPr>
            <p:cNvPr id="61" name="Rectangle 61"/>
            <p:cNvSpPr/>
            <p:nvPr/>
          </p:nvSpPr>
          <p:spPr>
            <a:xfrm>
              <a:off x="8324850" y="4953000"/>
              <a:ext cx="285750" cy="685800"/>
            </a:xfrm>
            <a:prstGeom prst="roundRect">
              <a:avLst>
                <a:gd name="adj" fmla="val 50000"/>
              </a:avLst>
            </a:prstGeom>
            <a:solidFill>
              <a:srgbClr val="FFFFFF"/>
            </a:solidFill>
            <a:ln w="9525">
              <a:solidFill>
                <a:srgbClr val="C9DDF5"/>
              </a:solidFill>
            </a:ln>
          </p:spPr>
        </p:sp>
        <p:sp>
          <p:nvSpPr>
            <p:cNvPr id="62" name="TextBox 62"/>
            <p:cNvSpPr txBox="1"/>
            <p:nvPr/>
          </p:nvSpPr>
          <p:spPr>
            <a:xfrm>
              <a:off x="8400542" y="5095399"/>
              <a:ext cx="134366" cy="381191"/>
            </a:xfrm>
            <a:prstGeom prst="rect">
              <a:avLst/>
            </a:prstGeom>
            <a:noFill/>
            <a:ln>
              <a:noFill/>
            </a:ln>
          </p:spPr>
          <p:txBody>
            <a:bodyPr wrap="none" lIns="0" tIns="0" rIns="0" bIns="0" anchor="t" anchorCtr="0">
              <a:spAutoFit/>
            </a:bodyPr>
            <a:lstStyle/>
            <a:p>
              <a:pPr algn="ctr">
                <a:lnSpc>
                  <a:spcPts val="1500"/>
                </a:lnSpc>
              </a:pPr>
              <a:r>
                <a:rPr lang="zh-CN" sz="980" dirty="0">
                  <a:solidFill>
                    <a:srgbClr val="E94B2B"/>
                  </a:solidFill>
                  <a:latin typeface="+mn-lt"/>
                  <a:ea typeface="+mn-ea"/>
                  <a:cs typeface="+mn-cs"/>
                </a:rPr>
                <a:t>风</a:t>
              </a:r>
              <a:br/>
              <a:r>
                <a:rPr lang="zh-CN" sz="980" dirty="0">
                  <a:solidFill>
                    <a:srgbClr val="E94B2B"/>
                  </a:solidFill>
                  <a:latin typeface="+mn-lt"/>
                  <a:ea typeface="+mn-ea"/>
                  <a:cs typeface="+mn-cs"/>
                </a:rPr>
                <a:t>控</a:t>
              </a:r>
            </a:p>
          </p:txBody>
        </p:sp>
      </p:gr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outer"/>
          <p:cNvSpPr/>
          <p:nvPr/>
        </p:nvSpPr>
        <p:spPr>
          <a:xfrm>
            <a:off x="1381125" y="1142519"/>
            <a:ext cx="9429750" cy="2829406"/>
          </a:xfrm>
          <a:custGeom>
            <a:avLst/>
            <a:gdLst/>
            <a:ahLst/>
            <a:cxnLst/>
            <a:rect l="l" t="t" r="r" b="b"/>
            <a:pathLst>
              <a:path w="9429750" h="2829406">
                <a:moveTo>
                  <a:pt x="0" y="1953106"/>
                </a:moveTo>
                <a:cubicBezTo>
                  <a:pt x="1250418" y="702560"/>
                  <a:pt x="2946426" y="0"/>
                  <a:pt x="4714875" y="0"/>
                </a:cubicBezTo>
                <a:cubicBezTo>
                  <a:pt x="6483324" y="0"/>
                  <a:pt x="8179332" y="702560"/>
                  <a:pt x="9429750" y="1953106"/>
                </a:cubicBezTo>
                <a:lnTo>
                  <a:pt x="8553450" y="2829406"/>
                </a:lnTo>
                <a:cubicBezTo>
                  <a:pt x="6433307" y="709798"/>
                  <a:pt x="2996443" y="709798"/>
                  <a:pt x="876300" y="2829406"/>
                </a:cubicBezTo>
                <a:close/>
              </a:path>
            </a:pathLst>
          </a:custGeom>
          <a:gradFill>
            <a:gsLst>
              <a:gs pos="0">
                <a:srgbClr val="FFA28F">
                  <a:alpha val="75000"/>
                </a:srgbClr>
              </a:gs>
              <a:gs pos="100000">
                <a:srgbClr val="F6C2B7">
                  <a:alpha val="75000"/>
                </a:srgbClr>
              </a:gs>
            </a:gsLst>
            <a:lin ang="5400000" scaled="1"/>
          </a:gradFill>
          <a:ln>
            <a:noFill/>
          </a:ln>
        </p:spPr>
      </p:sp>
      <p:sp>
        <p:nvSpPr>
          <p:cNvPr id="3" name="band-mid"/>
          <p:cNvSpPr/>
          <p:nvPr/>
        </p:nvSpPr>
        <p:spPr>
          <a:xfrm>
            <a:off x="2257425" y="1852317"/>
            <a:ext cx="7677150" cy="2995908"/>
          </a:xfrm>
          <a:custGeom>
            <a:avLst/>
            <a:gdLst/>
            <a:ahLst/>
            <a:cxnLst/>
            <a:rect l="l" t="t" r="r" b="b"/>
            <a:pathLst>
              <a:path w="7677150" h="2995908">
                <a:moveTo>
                  <a:pt x="0" y="2119608"/>
                </a:moveTo>
                <a:cubicBezTo>
                  <a:pt x="2120143" y="0"/>
                  <a:pt x="5557007" y="0"/>
                  <a:pt x="7677150" y="2119608"/>
                </a:cubicBezTo>
                <a:lnTo>
                  <a:pt x="6800850" y="2995908"/>
                </a:lnTo>
                <a:cubicBezTo>
                  <a:pt x="5164440" y="1360833"/>
                  <a:pt x="2512710" y="1360833"/>
                  <a:pt x="876300" y="2995908"/>
                </a:cubicBezTo>
                <a:close/>
              </a:path>
            </a:pathLst>
          </a:custGeom>
          <a:gradFill>
            <a:gsLst>
              <a:gs pos="0">
                <a:srgbClr val="DCEBFB"/>
              </a:gs>
              <a:gs pos="100000">
                <a:srgbClr val="F3F8FE"/>
              </a:gs>
            </a:gsLst>
            <a:lin ang="5400000" scaled="1"/>
          </a:gradFill>
          <a:ln>
            <a:noFill/>
          </a:ln>
        </p:spPr>
      </p:sp>
      <p:sp>
        <p:nvSpPr>
          <p:cNvPr id="4" name="band-inner"/>
          <p:cNvSpPr/>
          <p:nvPr/>
        </p:nvSpPr>
        <p:spPr>
          <a:xfrm>
            <a:off x="3133725" y="3213150"/>
            <a:ext cx="5924550" cy="2578050"/>
          </a:xfrm>
          <a:custGeom>
            <a:avLst/>
            <a:gdLst/>
            <a:ahLst/>
            <a:cxnLst/>
            <a:rect l="l" t="t" r="r" b="b"/>
            <a:pathLst>
              <a:path w="5924550" h="2578050">
                <a:moveTo>
                  <a:pt x="0" y="1635075"/>
                </a:moveTo>
                <a:cubicBezTo>
                  <a:pt x="1636410" y="0"/>
                  <a:pt x="4288140" y="0"/>
                  <a:pt x="5924550" y="1635075"/>
                </a:cubicBezTo>
                <a:lnTo>
                  <a:pt x="4981575" y="2578050"/>
                </a:lnTo>
                <a:cubicBezTo>
                  <a:pt x="3865940" y="1463803"/>
                  <a:pt x="2058610" y="1463803"/>
                  <a:pt x="942975" y="2578050"/>
                </a:cubicBezTo>
                <a:close/>
              </a:path>
            </a:pathLst>
          </a:custGeom>
          <a:gradFill>
            <a:gsLst>
              <a:gs pos="0">
                <a:srgbClr val="F8D1C9"/>
              </a:gs>
              <a:gs pos="100000">
                <a:srgbClr val="EAF3FD"/>
              </a:gs>
            </a:gsLst>
            <a:lin ang="5400000" scaled="1"/>
          </a:gradFill>
          <a:ln>
            <a:noFill/>
          </a:ln>
        </p:spPr>
      </p:sp>
      <p:sp>
        <p:nvSpPr>
          <p:cNvPr id="5" name="band-dash"/>
          <p:cNvSpPr/>
          <p:nvPr/>
        </p:nvSpPr>
        <p:spPr>
          <a:xfrm>
            <a:off x="1162050" y="822670"/>
            <a:ext cx="9867900" cy="2053880"/>
          </a:xfrm>
          <a:custGeom>
            <a:avLst/>
            <a:gdLst/>
            <a:ahLst/>
            <a:cxnLst/>
            <a:rect l="l" t="t" r="r" b="b"/>
            <a:pathLst>
              <a:path w="9867900" h="2053880">
                <a:moveTo>
                  <a:pt x="0" y="2053880"/>
                </a:moveTo>
                <a:cubicBezTo>
                  <a:pt x="1305365" y="739302"/>
                  <a:pt x="3081359" y="0"/>
                  <a:pt x="4933950" y="0"/>
                </a:cubicBezTo>
                <a:cubicBezTo>
                  <a:pt x="6786541" y="0"/>
                  <a:pt x="8562535" y="739302"/>
                  <a:pt x="9867900" y="2053880"/>
                </a:cubicBezTo>
              </a:path>
            </a:pathLst>
          </a:custGeom>
          <a:noFill/>
          <a:ln w="11430">
            <a:solidFill>
              <a:srgbClr val="E94B2B"/>
            </a:solidFill>
            <a:custDash>
              <a:ds d="500000" sp="333333"/>
            </a:custDash>
          </a:ln>
        </p:spPr>
      </p:sp>
      <p:sp>
        <p:nvSpPr>
          <p:cNvPr id="6" name="side-arrow-l"/>
          <p:cNvSpPr/>
          <p:nvPr/>
        </p:nvSpPr>
        <p:spPr>
          <a:xfrm>
            <a:off x="1397000" y="3619500"/>
            <a:ext cx="984250" cy="2095500"/>
          </a:xfrm>
          <a:custGeom>
            <a:avLst/>
            <a:gdLst/>
            <a:ahLst/>
            <a:cxnLst/>
            <a:rect l="l" t="t" r="r" b="b"/>
            <a:pathLst>
              <a:path w="984250" h="2095500">
                <a:moveTo>
                  <a:pt x="317500" y="2095500"/>
                </a:moveTo>
                <a:cubicBezTo>
                  <a:pt x="0" y="1270000"/>
                  <a:pt x="222250" y="571500"/>
                  <a:pt x="984250" y="0"/>
                </a:cubicBezTo>
              </a:path>
            </a:pathLst>
          </a:custGeom>
          <a:noFill/>
          <a:ln w="85725">
            <a:solidFill>
              <a:srgbClr val="F2745A"/>
            </a:solidFill>
            <a:tailEnd type="triangle" w="lg" len="lg"/>
          </a:ln>
        </p:spPr>
      </p:sp>
      <p:sp>
        <p:nvSpPr>
          <p:cNvPr id="7" name="side-arrow-r"/>
          <p:cNvSpPr/>
          <p:nvPr/>
        </p:nvSpPr>
        <p:spPr>
          <a:xfrm>
            <a:off x="9810750" y="3619500"/>
            <a:ext cx="984250" cy="2095500"/>
          </a:xfrm>
          <a:custGeom>
            <a:avLst/>
            <a:gdLst/>
            <a:ahLst/>
            <a:cxnLst/>
            <a:rect l="l" t="t" r="r" b="b"/>
            <a:pathLst>
              <a:path w="984250" h="2095500">
                <a:moveTo>
                  <a:pt x="666750" y="2095500"/>
                </a:moveTo>
                <a:cubicBezTo>
                  <a:pt x="984250" y="1270000"/>
                  <a:pt x="762000" y="571500"/>
                  <a:pt x="0" y="0"/>
                </a:cubicBezTo>
              </a:path>
            </a:pathLst>
          </a:custGeom>
          <a:noFill/>
          <a:ln w="85725">
            <a:solidFill>
              <a:srgbClr val="F2745A"/>
            </a:solidFill>
            <a:tailEnd type="triangle" w="lg" len="lg"/>
          </a:ln>
        </p:spPr>
      </p:sp>
      <p:grpSp>
        <p:nvGrpSpPr>
          <p:cNvPr id="12" name="page-header"/>
          <p:cNvGrpSpPr/>
          <p:nvPr/>
        </p:nvGrpSpPr>
        <p:grpSpPr>
          <a:xfrm>
            <a:off x="0" y="0"/>
            <a:ext cx="11811000" cy="561404"/>
            <a:chOff x="0" y="0"/>
            <a:chExt cx="11811000" cy="561404"/>
          </a:xfrm>
        </p:grpSpPr>
        <p:sp>
          <p:nvSpPr>
            <p:cNvPr id="8" name="Polygon 8"/>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9" name="TextBox 9"/>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07</a:t>
              </a:r>
            </a:p>
          </p:txBody>
        </p:sp>
        <p:sp>
          <p:nvSpPr>
            <p:cNvPr id="10" name="TextBox 10"/>
            <p:cNvSpPr txBox="1"/>
            <p:nvPr/>
          </p:nvSpPr>
          <p:spPr>
            <a:xfrm>
              <a:off x="904494" y="180023"/>
              <a:ext cx="168402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首页推荐优化</a:t>
              </a:r>
            </a:p>
          </p:txBody>
        </p:sp>
        <p:sp>
          <p:nvSpPr>
            <p:cNvPr id="11" name="Line 11"/>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44" name="trend-hexes"/>
          <p:cNvGrpSpPr/>
          <p:nvPr/>
        </p:nvGrpSpPr>
        <p:grpSpPr>
          <a:xfrm>
            <a:off x="2114550" y="1171575"/>
            <a:ext cx="7962900" cy="2276475"/>
            <a:chOff x="2114550" y="1171575"/>
            <a:chExt cx="7962900" cy="2276475"/>
          </a:xfrm>
        </p:grpSpPr>
        <p:sp>
          <p:nvSpPr>
            <p:cNvPr id="13" name="Freeform 13"/>
            <p:cNvSpPr/>
            <p:nvPr/>
          </p:nvSpPr>
          <p:spPr>
            <a:xfrm>
              <a:off x="2114550" y="2266950"/>
              <a:ext cx="1028700" cy="1181100"/>
            </a:xfrm>
            <a:prstGeom prst="hexagon">
              <a:avLst/>
            </a:prstGeom>
            <a:solidFill>
              <a:srgbClr val="E94B2B"/>
            </a:solidFill>
            <a:ln w="19050">
              <a:solidFill>
                <a:srgbClr val="F8B6A9"/>
              </a:solidFill>
            </a:ln>
          </p:spPr>
        </p:sp>
        <p:grpSp>
          <p:nvGrpSpPr>
            <p:cNvPr id="18" name="Group 18"/>
            <p:cNvGrpSpPr/>
            <p:nvPr/>
          </p:nvGrpSpPr>
          <p:grpSpPr>
            <a:xfrm>
              <a:off x="2528888" y="2471738"/>
              <a:ext cx="200026" cy="200025"/>
              <a:chOff x="2528888" y="2471738"/>
              <a:chExt cx="200026" cy="200025"/>
            </a:xfrm>
          </p:grpSpPr>
          <p:sp>
            <p:nvSpPr>
              <p:cNvPr id="14" name="Freeform 14"/>
              <p:cNvSpPr/>
              <p:nvPr/>
            </p:nvSpPr>
            <p:spPr>
              <a:xfrm>
                <a:off x="2551113" y="24717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FFFFFF"/>
                </a:solidFill>
              </a:ln>
            </p:spPr>
          </p:sp>
          <p:sp>
            <p:nvSpPr>
              <p:cNvPr id="15" name="Freeform 15"/>
              <p:cNvSpPr/>
              <p:nvPr/>
            </p:nvSpPr>
            <p:spPr>
              <a:xfrm>
                <a:off x="2528888" y="26050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FFFFFF"/>
                </a:solidFill>
              </a:ln>
            </p:spPr>
          </p:sp>
          <p:sp>
            <p:nvSpPr>
              <p:cNvPr id="16" name="Freeform 16"/>
              <p:cNvSpPr/>
              <p:nvPr/>
            </p:nvSpPr>
            <p:spPr>
              <a:xfrm>
                <a:off x="2673351" y="24731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FFFFFF"/>
                </a:solidFill>
              </a:ln>
            </p:spPr>
          </p:sp>
          <p:sp>
            <p:nvSpPr>
              <p:cNvPr id="17" name="Freeform 17"/>
              <p:cNvSpPr/>
              <p:nvPr/>
            </p:nvSpPr>
            <p:spPr>
              <a:xfrm>
                <a:off x="2695576" y="26067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FFFFFF"/>
                </a:solidFill>
              </a:ln>
            </p:spPr>
          </p:sp>
        </p:grpSp>
        <p:sp>
          <p:nvSpPr>
            <p:cNvPr id="19" name="TextBox 19"/>
            <p:cNvSpPr txBox="1"/>
            <p:nvPr/>
          </p:nvSpPr>
          <p:spPr>
            <a:xfrm>
              <a:off x="2351088" y="2821543"/>
              <a:ext cx="555625"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FFFFFF"/>
                  </a:solidFill>
                  <a:latin typeface="+mn-lt"/>
                  <a:ea typeface="+mn-ea"/>
                  <a:cs typeface="+mn-cs"/>
                </a:rPr>
                <a:t>就业人群大</a:t>
              </a:r>
              <a:br/>
              <a:r>
                <a:rPr lang="zh-CN" sz="860" dirty="0">
                  <a:solidFill>
                    <a:srgbClr val="FFFFFF"/>
                  </a:solidFill>
                  <a:latin typeface="+mn-lt"/>
                  <a:ea typeface="+mn-ea"/>
                  <a:cs typeface="+mn-cs"/>
                </a:rPr>
                <a:t>规模激增</a:t>
              </a:r>
            </a:p>
          </p:txBody>
        </p:sp>
        <p:sp>
          <p:nvSpPr>
            <p:cNvPr id="20" name="Freeform 20"/>
            <p:cNvSpPr/>
            <p:nvPr/>
          </p:nvSpPr>
          <p:spPr>
            <a:xfrm>
              <a:off x="4019550" y="1381125"/>
              <a:ext cx="1028700" cy="1181100"/>
            </a:xfrm>
            <a:prstGeom prst="hexagon">
              <a:avLst/>
            </a:prstGeom>
            <a:solidFill>
              <a:srgbClr val="E94B2B"/>
            </a:solidFill>
            <a:ln w="19050">
              <a:solidFill>
                <a:srgbClr val="F8B6A9"/>
              </a:solidFill>
            </a:ln>
          </p:spPr>
        </p:sp>
        <p:grpSp>
          <p:nvGrpSpPr>
            <p:cNvPr id="23" name="Group 23"/>
            <p:cNvGrpSpPr/>
            <p:nvPr/>
          </p:nvGrpSpPr>
          <p:grpSpPr>
            <a:xfrm>
              <a:off x="4433888" y="1630363"/>
              <a:ext cx="200026" cy="111125"/>
              <a:chOff x="4433888" y="1630363"/>
              <a:chExt cx="200026" cy="111125"/>
            </a:xfrm>
          </p:grpSpPr>
          <p:sp>
            <p:nvSpPr>
              <p:cNvPr id="21" name="Freeform 21"/>
              <p:cNvSpPr/>
              <p:nvPr/>
            </p:nvSpPr>
            <p:spPr>
              <a:xfrm>
                <a:off x="4433888" y="1630363"/>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FFFFFF"/>
                </a:solidFill>
              </a:ln>
            </p:spPr>
          </p:sp>
          <p:sp>
            <p:nvSpPr>
              <p:cNvPr id="22" name="Freeform 22"/>
              <p:cNvSpPr/>
              <p:nvPr/>
            </p:nvSpPr>
            <p:spPr>
              <a:xfrm>
                <a:off x="4556125" y="1630363"/>
                <a:ext cx="77788" cy="77788"/>
              </a:xfrm>
              <a:custGeom>
                <a:avLst/>
                <a:gdLst/>
                <a:ahLst/>
                <a:cxnLst/>
                <a:rect l="l" t="t" r="r" b="b"/>
                <a:pathLst>
                  <a:path w="77788" h="77788">
                    <a:moveTo>
                      <a:pt x="0" y="0"/>
                    </a:moveTo>
                    <a:lnTo>
                      <a:pt x="77788" y="0"/>
                    </a:lnTo>
                    <a:lnTo>
                      <a:pt x="77788" y="77788"/>
                    </a:lnTo>
                  </a:path>
                </a:pathLst>
              </a:custGeom>
              <a:noFill/>
              <a:ln w="22225">
                <a:solidFill>
                  <a:srgbClr val="FFFFFF"/>
                </a:solidFill>
              </a:ln>
            </p:spPr>
          </p:sp>
        </p:grpSp>
        <p:sp>
          <p:nvSpPr>
            <p:cNvPr id="24" name="TextBox 24"/>
            <p:cNvSpPr txBox="1"/>
            <p:nvPr/>
          </p:nvSpPr>
          <p:spPr>
            <a:xfrm>
              <a:off x="4256088" y="1935718"/>
              <a:ext cx="555625"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FFFFFF"/>
                  </a:solidFill>
                  <a:latin typeface="+mn-lt"/>
                  <a:ea typeface="+mn-ea"/>
                  <a:cs typeface="+mn-cs"/>
                </a:rPr>
                <a:t>就业门槛大</a:t>
              </a:r>
              <a:br/>
              <a:r>
                <a:rPr lang="zh-CN" sz="860" dirty="0">
                  <a:solidFill>
                    <a:srgbClr val="FFFFFF"/>
                  </a:solidFill>
                  <a:latin typeface="+mn-lt"/>
                  <a:ea typeface="+mn-ea"/>
                  <a:cs typeface="+mn-cs"/>
                </a:rPr>
                <a:t>幅降低</a:t>
              </a:r>
            </a:p>
          </p:txBody>
        </p:sp>
        <p:sp>
          <p:nvSpPr>
            <p:cNvPr id="25" name="Freeform 25"/>
            <p:cNvSpPr/>
            <p:nvPr/>
          </p:nvSpPr>
          <p:spPr>
            <a:xfrm>
              <a:off x="5581650" y="1171575"/>
              <a:ext cx="1028700" cy="1181100"/>
            </a:xfrm>
            <a:prstGeom prst="hexagon">
              <a:avLst/>
            </a:prstGeom>
            <a:solidFill>
              <a:srgbClr val="E94B2B"/>
            </a:solidFill>
            <a:ln w="19050">
              <a:solidFill>
                <a:srgbClr val="F8B6A9"/>
              </a:solidFill>
            </a:ln>
          </p:spPr>
        </p:sp>
        <p:grpSp>
          <p:nvGrpSpPr>
            <p:cNvPr id="29" name="Group 29"/>
            <p:cNvGrpSpPr/>
            <p:nvPr/>
          </p:nvGrpSpPr>
          <p:grpSpPr>
            <a:xfrm>
              <a:off x="5995988" y="1376363"/>
              <a:ext cx="200026" cy="200025"/>
              <a:chOff x="5995988" y="1376363"/>
              <a:chExt cx="200026" cy="200025"/>
            </a:xfrm>
          </p:grpSpPr>
          <p:sp>
            <p:nvSpPr>
              <p:cNvPr id="26" name="Freeform 26"/>
              <p:cNvSpPr/>
              <p:nvPr/>
            </p:nvSpPr>
            <p:spPr>
              <a:xfrm>
                <a:off x="5995988" y="137636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FFFFFF"/>
                </a:solidFill>
              </a:ln>
            </p:spPr>
          </p:sp>
          <p:sp>
            <p:nvSpPr>
              <p:cNvPr id="27" name="Freeform 27"/>
              <p:cNvSpPr/>
              <p:nvPr/>
            </p:nvSpPr>
            <p:spPr>
              <a:xfrm>
                <a:off x="6035726" y="142081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FFFFFF"/>
                </a:solidFill>
              </a:ln>
            </p:spPr>
          </p:sp>
          <p:sp>
            <p:nvSpPr>
              <p:cNvPr id="28" name="Freeform 28"/>
              <p:cNvSpPr/>
              <p:nvPr/>
            </p:nvSpPr>
            <p:spPr>
              <a:xfrm>
                <a:off x="6070442" y="1531938"/>
                <a:ext cx="51118" cy="9525"/>
              </a:xfrm>
              <a:custGeom>
                <a:avLst/>
                <a:gdLst/>
                <a:ahLst/>
                <a:cxnLst/>
                <a:rect l="l" t="t" r="r" b="b"/>
                <a:pathLst>
                  <a:path w="51118" h="9525">
                    <a:moveTo>
                      <a:pt x="0" y="0"/>
                    </a:moveTo>
                    <a:lnTo>
                      <a:pt x="51118" y="0"/>
                    </a:lnTo>
                  </a:path>
                </a:pathLst>
              </a:custGeom>
              <a:noFill/>
              <a:ln w="22225">
                <a:solidFill>
                  <a:srgbClr val="FFFFFF"/>
                </a:solidFill>
              </a:ln>
            </p:spPr>
          </p:sp>
        </p:grpSp>
        <p:sp>
          <p:nvSpPr>
            <p:cNvPr id="30" name="TextBox 30"/>
            <p:cNvSpPr txBox="1"/>
            <p:nvPr/>
          </p:nvSpPr>
          <p:spPr>
            <a:xfrm>
              <a:off x="5818188" y="1726168"/>
              <a:ext cx="555625"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FFFFFF"/>
                  </a:solidFill>
                  <a:latin typeface="+mn-lt"/>
                  <a:ea typeface="+mn-ea"/>
                  <a:cs typeface="+mn-cs"/>
                </a:rPr>
                <a:t>创新创业层</a:t>
              </a:r>
              <a:br/>
              <a:r>
                <a:rPr lang="zh-CN" sz="860" dirty="0">
                  <a:solidFill>
                    <a:srgbClr val="FFFFFF"/>
                  </a:solidFill>
                  <a:latin typeface="+mn-lt"/>
                  <a:ea typeface="+mn-ea"/>
                  <a:cs typeface="+mn-cs"/>
                </a:rPr>
                <a:t>出不穷</a:t>
              </a:r>
            </a:p>
          </p:txBody>
        </p:sp>
        <p:sp>
          <p:nvSpPr>
            <p:cNvPr id="31" name="Freeform 31"/>
            <p:cNvSpPr/>
            <p:nvPr/>
          </p:nvSpPr>
          <p:spPr>
            <a:xfrm>
              <a:off x="7143750" y="1381125"/>
              <a:ext cx="1028700" cy="1181100"/>
            </a:xfrm>
            <a:prstGeom prst="hexagon">
              <a:avLst/>
            </a:prstGeom>
            <a:solidFill>
              <a:srgbClr val="E94B2B"/>
            </a:solidFill>
            <a:ln w="19050">
              <a:solidFill>
                <a:srgbClr val="F8B6A9"/>
              </a:solidFill>
            </a:ln>
          </p:spPr>
        </p:sp>
        <p:grpSp>
          <p:nvGrpSpPr>
            <p:cNvPr id="35" name="Group 35"/>
            <p:cNvGrpSpPr/>
            <p:nvPr/>
          </p:nvGrpSpPr>
          <p:grpSpPr>
            <a:xfrm>
              <a:off x="7580313" y="1597025"/>
              <a:ext cx="155575" cy="177801"/>
              <a:chOff x="7580313" y="1597025"/>
              <a:chExt cx="155575" cy="177801"/>
            </a:xfrm>
          </p:grpSpPr>
          <p:sp>
            <p:nvSpPr>
              <p:cNvPr id="32" name="Freeform 32"/>
              <p:cNvSpPr/>
              <p:nvPr/>
            </p:nvSpPr>
            <p:spPr>
              <a:xfrm>
                <a:off x="7580313" y="1597025"/>
                <a:ext cx="155575" cy="177801"/>
              </a:xfrm>
              <a:custGeom>
                <a:avLst/>
                <a:gdLst/>
                <a:ahLst/>
                <a:cxnLst/>
                <a:rect l="l" t="t" r="r" b="b"/>
                <a:pathLst>
                  <a:path w="155575" h="177801">
                    <a:moveTo>
                      <a:pt x="155575" y="0"/>
                    </a:moveTo>
                    <a:lnTo>
                      <a:pt x="155575" y="177801"/>
                    </a:lnTo>
                    <a:lnTo>
                      <a:pt x="22225" y="177801"/>
                    </a:lnTo>
                    <a:cubicBezTo>
                      <a:pt x="9950" y="177801"/>
                      <a:pt x="0" y="167850"/>
                      <a:pt x="0" y="155575"/>
                    </a:cubicBezTo>
                    <a:lnTo>
                      <a:pt x="0" y="22225"/>
                    </a:lnTo>
                    <a:cubicBezTo>
                      <a:pt x="0" y="9950"/>
                      <a:pt x="9950" y="0"/>
                      <a:pt x="22225" y="0"/>
                    </a:cubicBezTo>
                    <a:lnTo>
                      <a:pt x="155575" y="0"/>
                    </a:lnTo>
                  </a:path>
                </a:pathLst>
              </a:custGeom>
              <a:noFill/>
              <a:ln w="22225">
                <a:solidFill>
                  <a:srgbClr val="FFFFFF"/>
                </a:solidFill>
              </a:ln>
            </p:spPr>
          </p:sp>
          <p:sp>
            <p:nvSpPr>
              <p:cNvPr id="33" name="Freeform 33"/>
              <p:cNvSpPr/>
              <p:nvPr/>
            </p:nvSpPr>
            <p:spPr>
              <a:xfrm>
                <a:off x="7580313" y="1730376"/>
                <a:ext cx="155575" cy="22225"/>
              </a:xfrm>
              <a:custGeom>
                <a:avLst/>
                <a:gdLst/>
                <a:ahLst/>
                <a:cxnLst/>
                <a:rect l="l" t="t" r="r" b="b"/>
                <a:pathLst>
                  <a:path w="155575" h="22225">
                    <a:moveTo>
                      <a:pt x="155575" y="0"/>
                    </a:moveTo>
                    <a:lnTo>
                      <a:pt x="22225" y="0"/>
                    </a:lnTo>
                    <a:cubicBezTo>
                      <a:pt x="9950" y="0"/>
                      <a:pt x="0" y="9950"/>
                      <a:pt x="0" y="22225"/>
                    </a:cubicBezTo>
                  </a:path>
                </a:pathLst>
              </a:custGeom>
              <a:noFill/>
              <a:ln w="22225">
                <a:solidFill>
                  <a:srgbClr val="FFFFFF"/>
                </a:solidFill>
              </a:ln>
            </p:spPr>
          </p:sp>
          <p:sp>
            <p:nvSpPr>
              <p:cNvPr id="34" name="Freeform 34"/>
              <p:cNvSpPr/>
              <p:nvPr/>
            </p:nvSpPr>
            <p:spPr>
              <a:xfrm>
                <a:off x="7624763" y="1641475"/>
                <a:ext cx="66675" cy="9525"/>
              </a:xfrm>
              <a:custGeom>
                <a:avLst/>
                <a:gdLst/>
                <a:ahLst/>
                <a:cxnLst/>
                <a:rect l="l" t="t" r="r" b="b"/>
                <a:pathLst>
                  <a:path w="66675" h="9525">
                    <a:moveTo>
                      <a:pt x="0" y="0"/>
                    </a:moveTo>
                    <a:lnTo>
                      <a:pt x="66675" y="0"/>
                    </a:lnTo>
                  </a:path>
                </a:pathLst>
              </a:custGeom>
              <a:noFill/>
              <a:ln w="22225">
                <a:solidFill>
                  <a:srgbClr val="FFFFFF"/>
                </a:solidFill>
              </a:ln>
            </p:spPr>
          </p:sp>
        </p:grpSp>
        <p:sp>
          <p:nvSpPr>
            <p:cNvPr id="36" name="TextBox 36"/>
            <p:cNvSpPr txBox="1"/>
            <p:nvPr/>
          </p:nvSpPr>
          <p:spPr>
            <a:xfrm>
              <a:off x="7380288" y="1935718"/>
              <a:ext cx="555625"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FFFFFF"/>
                  </a:solidFill>
                  <a:latin typeface="+mn-lt"/>
                  <a:ea typeface="+mn-ea"/>
                  <a:cs typeface="+mn-cs"/>
                </a:rPr>
                <a:t>知识技能快</a:t>
              </a:r>
              <a:br/>
              <a:r>
                <a:rPr lang="zh-CN" sz="860" dirty="0">
                  <a:solidFill>
                    <a:srgbClr val="FFFFFF"/>
                  </a:solidFill>
                  <a:latin typeface="+mn-lt"/>
                  <a:ea typeface="+mn-ea"/>
                  <a:cs typeface="+mn-cs"/>
                </a:rPr>
                <a:t>速获取</a:t>
              </a:r>
            </a:p>
          </p:txBody>
        </p:sp>
        <p:sp>
          <p:nvSpPr>
            <p:cNvPr id="37" name="Freeform 37"/>
            <p:cNvSpPr/>
            <p:nvPr/>
          </p:nvSpPr>
          <p:spPr>
            <a:xfrm>
              <a:off x="9048750" y="2266950"/>
              <a:ext cx="1028700" cy="1181100"/>
            </a:xfrm>
            <a:prstGeom prst="hexagon">
              <a:avLst/>
            </a:prstGeom>
            <a:solidFill>
              <a:srgbClr val="E94B2B"/>
            </a:solidFill>
            <a:ln w="19050">
              <a:solidFill>
                <a:srgbClr val="F8B6A9"/>
              </a:solidFill>
            </a:ln>
          </p:spPr>
        </p:sp>
        <p:grpSp>
          <p:nvGrpSpPr>
            <p:cNvPr id="42" name="Group 42"/>
            <p:cNvGrpSpPr/>
            <p:nvPr/>
          </p:nvGrpSpPr>
          <p:grpSpPr>
            <a:xfrm>
              <a:off x="9463088" y="2482850"/>
              <a:ext cx="200026" cy="177800"/>
              <a:chOff x="9463088" y="2482850"/>
              <a:chExt cx="200026" cy="177800"/>
            </a:xfrm>
          </p:grpSpPr>
          <p:sp>
            <p:nvSpPr>
              <p:cNvPr id="38" name="Freeform 38"/>
              <p:cNvSpPr/>
              <p:nvPr/>
            </p:nvSpPr>
            <p:spPr>
              <a:xfrm>
                <a:off x="9463088" y="2516188"/>
                <a:ext cx="200026" cy="9525"/>
              </a:xfrm>
              <a:custGeom>
                <a:avLst/>
                <a:gdLst/>
                <a:ahLst/>
                <a:cxnLst/>
                <a:rect l="l" t="t" r="r" b="b"/>
                <a:pathLst>
                  <a:path w="200026" h="9525">
                    <a:moveTo>
                      <a:pt x="200026" y="0"/>
                    </a:moveTo>
                    <a:lnTo>
                      <a:pt x="0" y="0"/>
                    </a:lnTo>
                  </a:path>
                </a:pathLst>
              </a:custGeom>
              <a:noFill/>
              <a:ln w="22225">
                <a:solidFill>
                  <a:srgbClr val="FFFFFF"/>
                </a:solidFill>
              </a:ln>
            </p:spPr>
          </p:sp>
          <p:sp>
            <p:nvSpPr>
              <p:cNvPr id="39" name="Freeform 39"/>
              <p:cNvSpPr/>
              <p:nvPr/>
            </p:nvSpPr>
            <p:spPr>
              <a:xfrm>
                <a:off x="9629776" y="2482850"/>
                <a:ext cx="33338" cy="66675"/>
              </a:xfrm>
              <a:custGeom>
                <a:avLst/>
                <a:gdLst/>
                <a:ahLst/>
                <a:cxnLst/>
                <a:rect l="l" t="t" r="r" b="b"/>
                <a:pathLst>
                  <a:path w="33338" h="66675">
                    <a:moveTo>
                      <a:pt x="0" y="66675"/>
                    </a:moveTo>
                    <a:lnTo>
                      <a:pt x="33338" y="33338"/>
                    </a:lnTo>
                    <a:lnTo>
                      <a:pt x="0" y="0"/>
                    </a:lnTo>
                  </a:path>
                </a:pathLst>
              </a:custGeom>
              <a:noFill/>
              <a:ln w="22225">
                <a:solidFill>
                  <a:srgbClr val="FFFFFF"/>
                </a:solidFill>
              </a:ln>
            </p:spPr>
          </p:sp>
          <p:sp>
            <p:nvSpPr>
              <p:cNvPr id="40" name="Freeform 40"/>
              <p:cNvSpPr/>
              <p:nvPr/>
            </p:nvSpPr>
            <p:spPr>
              <a:xfrm>
                <a:off x="9463088" y="2593975"/>
                <a:ext cx="33338" cy="66675"/>
              </a:xfrm>
              <a:custGeom>
                <a:avLst/>
                <a:gdLst/>
                <a:ahLst/>
                <a:cxnLst/>
                <a:rect l="l" t="t" r="r" b="b"/>
                <a:pathLst>
                  <a:path w="33338" h="66675">
                    <a:moveTo>
                      <a:pt x="33338" y="66675"/>
                    </a:moveTo>
                    <a:lnTo>
                      <a:pt x="0" y="33338"/>
                    </a:lnTo>
                    <a:lnTo>
                      <a:pt x="33338" y="0"/>
                    </a:lnTo>
                  </a:path>
                </a:pathLst>
              </a:custGeom>
              <a:noFill/>
              <a:ln w="22225">
                <a:solidFill>
                  <a:srgbClr val="FFFFFF"/>
                </a:solidFill>
              </a:ln>
            </p:spPr>
          </p:sp>
          <p:sp>
            <p:nvSpPr>
              <p:cNvPr id="41" name="Freeform 41"/>
              <p:cNvSpPr/>
              <p:nvPr/>
            </p:nvSpPr>
            <p:spPr>
              <a:xfrm>
                <a:off x="9463088" y="2627313"/>
                <a:ext cx="200026" cy="9525"/>
              </a:xfrm>
              <a:custGeom>
                <a:avLst/>
                <a:gdLst/>
                <a:ahLst/>
                <a:cxnLst/>
                <a:rect l="l" t="t" r="r" b="b"/>
                <a:pathLst>
                  <a:path w="200026" h="9525">
                    <a:moveTo>
                      <a:pt x="0" y="0"/>
                    </a:moveTo>
                    <a:lnTo>
                      <a:pt x="200026" y="0"/>
                    </a:lnTo>
                  </a:path>
                </a:pathLst>
              </a:custGeom>
              <a:noFill/>
              <a:ln w="22225">
                <a:solidFill>
                  <a:srgbClr val="FFFFFF"/>
                </a:solidFill>
              </a:ln>
            </p:spPr>
          </p:sp>
        </p:grpSp>
        <p:sp>
          <p:nvSpPr>
            <p:cNvPr id="43" name="TextBox 43"/>
            <p:cNvSpPr txBox="1"/>
            <p:nvPr/>
          </p:nvSpPr>
          <p:spPr>
            <a:xfrm>
              <a:off x="9285288" y="2821543"/>
              <a:ext cx="555625" cy="311944"/>
            </a:xfrm>
            <a:prstGeom prst="rect">
              <a:avLst/>
            </a:prstGeom>
            <a:noFill/>
            <a:ln>
              <a:noFill/>
            </a:ln>
          </p:spPr>
          <p:txBody>
            <a:bodyPr wrap="none" lIns="0" tIns="0" rIns="0" bIns="0" anchor="t" anchorCtr="0">
              <a:spAutoFit/>
            </a:bodyPr>
            <a:lstStyle/>
            <a:p>
              <a:pPr algn="ctr">
                <a:lnSpc>
                  <a:spcPts val="1125"/>
                </a:lnSpc>
              </a:pPr>
              <a:r>
                <a:rPr lang="zh-CN" sz="860" dirty="0">
                  <a:solidFill>
                    <a:srgbClr val="FFFFFF"/>
                  </a:solidFill>
                  <a:latin typeface="+mn-lt"/>
                  <a:ea typeface="+mn-ea"/>
                  <a:cs typeface="+mn-cs"/>
                </a:rPr>
                <a:t>供需双方高</a:t>
              </a:r>
              <a:br/>
              <a:r>
                <a:rPr lang="zh-CN" sz="860" dirty="0">
                  <a:solidFill>
                    <a:srgbClr val="FFFFFF"/>
                  </a:solidFill>
                  <a:latin typeface="+mn-lt"/>
                  <a:ea typeface="+mn-ea"/>
                  <a:cs typeface="+mn-cs"/>
                </a:rPr>
                <a:t>效对接</a:t>
              </a:r>
            </a:p>
          </p:txBody>
        </p:sp>
      </p:grpSp>
      <p:grpSp>
        <p:nvGrpSpPr>
          <p:cNvPr id="48" name="trend-label"/>
          <p:cNvGrpSpPr/>
          <p:nvPr/>
        </p:nvGrpSpPr>
        <p:grpSpPr>
          <a:xfrm>
            <a:off x="4762500" y="3540125"/>
            <a:ext cx="2667000" cy="313928"/>
            <a:chOff x="4762500" y="3540125"/>
            <a:chExt cx="2667000" cy="313928"/>
          </a:xfrm>
        </p:grpSpPr>
        <p:sp>
          <p:nvSpPr>
            <p:cNvPr id="45" name="Freeform 45"/>
            <p:cNvSpPr/>
            <p:nvPr/>
          </p:nvSpPr>
          <p:spPr>
            <a:xfrm>
              <a:off x="4762500" y="3540125"/>
              <a:ext cx="2667000" cy="222250"/>
            </a:xfrm>
            <a:custGeom>
              <a:avLst/>
              <a:gdLst/>
              <a:ahLst/>
              <a:cxnLst/>
              <a:rect l="l" t="t" r="r" b="b"/>
              <a:pathLst>
                <a:path w="2667000" h="222250">
                  <a:moveTo>
                    <a:pt x="0" y="222250"/>
                  </a:moveTo>
                  <a:cubicBezTo>
                    <a:pt x="889000" y="0"/>
                    <a:pt x="1778000" y="0"/>
                    <a:pt x="2667000" y="222250"/>
                  </a:cubicBezTo>
                </a:path>
              </a:pathLst>
            </a:custGeom>
            <a:noFill/>
            <a:ln w="38100">
              <a:solidFill>
                <a:srgbClr val="E94B2B"/>
              </a:solidFill>
            </a:ln>
          </p:spPr>
        </p:sp>
        <p:sp>
          <p:nvSpPr>
            <p:cNvPr id="46" name="Rectangle 46"/>
            <p:cNvSpPr/>
            <p:nvPr/>
          </p:nvSpPr>
          <p:spPr>
            <a:xfrm>
              <a:off x="5619750" y="3600450"/>
              <a:ext cx="952500" cy="247650"/>
            </a:xfrm>
            <a:prstGeom prst="roundRect">
              <a:avLst>
                <a:gd name="adj" fmla="val 50000"/>
              </a:avLst>
            </a:prstGeom>
            <a:gradFill>
              <a:gsLst>
                <a:gs pos="0">
                  <a:srgbClr val="FF5B3A"/>
                </a:gs>
                <a:gs pos="100000">
                  <a:srgbClr val="E94B2B"/>
                </a:gs>
              </a:gsLst>
              <a:lin ang="0" scaled="1"/>
            </a:gradFill>
            <a:ln>
              <a:noFill/>
            </a:ln>
          </p:spPr>
        </p:sp>
        <p:sp>
          <p:nvSpPr>
            <p:cNvPr id="47" name="TextBox 47"/>
            <p:cNvSpPr txBox="1"/>
            <p:nvPr/>
          </p:nvSpPr>
          <p:spPr>
            <a:xfrm>
              <a:off x="5838152" y="36706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趋势影响</a:t>
              </a:r>
            </a:p>
          </p:txBody>
        </p:sp>
      </p:grpSp>
      <p:grpSp>
        <p:nvGrpSpPr>
          <p:cNvPr id="62" name="job-fields"/>
          <p:cNvGrpSpPr/>
          <p:nvPr/>
        </p:nvGrpSpPr>
        <p:grpSpPr>
          <a:xfrm>
            <a:off x="3962400" y="3981450"/>
            <a:ext cx="4267200" cy="1148953"/>
            <a:chOff x="3962400" y="3981450"/>
            <a:chExt cx="4267200" cy="1148953"/>
          </a:xfrm>
        </p:grpSpPr>
        <p:sp>
          <p:nvSpPr>
            <p:cNvPr id="49" name="Rectangle 49"/>
            <p:cNvSpPr/>
            <p:nvPr/>
          </p:nvSpPr>
          <p:spPr>
            <a:xfrm>
              <a:off x="4667250" y="4057650"/>
              <a:ext cx="762000" cy="304800"/>
            </a:xfrm>
            <a:prstGeom prst="roundRect">
              <a:avLst>
                <a:gd name="adj" fmla="val 50000"/>
              </a:avLst>
            </a:prstGeom>
            <a:solidFill>
              <a:srgbClr val="DCE6F5"/>
            </a:solidFill>
            <a:ln>
              <a:noFill/>
            </a:ln>
          </p:spPr>
        </p:sp>
        <p:sp>
          <p:nvSpPr>
            <p:cNvPr id="50" name="TextBox 50"/>
            <p:cNvSpPr txBox="1"/>
            <p:nvPr/>
          </p:nvSpPr>
          <p:spPr>
            <a:xfrm>
              <a:off x="4891761" y="4145756"/>
              <a:ext cx="312979" cy="220028"/>
            </a:xfrm>
            <a:prstGeom prst="rect">
              <a:avLst/>
            </a:prstGeom>
            <a:noFill/>
            <a:ln>
              <a:noFill/>
            </a:ln>
          </p:spPr>
          <p:txBody>
            <a:bodyPr wrap="none" lIns="0" tIns="0" rIns="0" bIns="0" anchor="t" anchorCtr="0">
              <a:spAutoFit/>
            </a:bodyPr>
            <a:lstStyle/>
            <a:p>
              <a:pPr algn="ctr"/>
              <a:r>
                <a:rPr lang="zh-CN" sz="1120" dirty="0">
                  <a:solidFill>
                    <a:srgbClr val="E94B2B"/>
                  </a:solidFill>
                  <a:latin typeface="+mn-lt"/>
                  <a:ea typeface="+mn-ea"/>
                  <a:cs typeface="+mn-cs"/>
                </a:rPr>
                <a:t>运营</a:t>
              </a:r>
            </a:p>
          </p:txBody>
        </p:sp>
        <p:sp>
          <p:nvSpPr>
            <p:cNvPr id="51" name="Rectangle 51"/>
            <p:cNvSpPr/>
            <p:nvPr/>
          </p:nvSpPr>
          <p:spPr>
            <a:xfrm>
              <a:off x="5715000" y="3981450"/>
              <a:ext cx="762000" cy="304800"/>
            </a:xfrm>
            <a:prstGeom prst="roundRect">
              <a:avLst>
                <a:gd name="adj" fmla="val 50000"/>
              </a:avLst>
            </a:prstGeom>
            <a:solidFill>
              <a:srgbClr val="DCE6F5"/>
            </a:solidFill>
            <a:ln>
              <a:noFill/>
            </a:ln>
          </p:spPr>
        </p:sp>
        <p:sp>
          <p:nvSpPr>
            <p:cNvPr id="52" name="TextBox 52"/>
            <p:cNvSpPr txBox="1"/>
            <p:nvPr/>
          </p:nvSpPr>
          <p:spPr>
            <a:xfrm>
              <a:off x="5939511" y="4069556"/>
              <a:ext cx="312979" cy="220028"/>
            </a:xfrm>
            <a:prstGeom prst="rect">
              <a:avLst/>
            </a:prstGeom>
            <a:noFill/>
            <a:ln>
              <a:noFill/>
            </a:ln>
          </p:spPr>
          <p:txBody>
            <a:bodyPr wrap="none" lIns="0" tIns="0" rIns="0" bIns="0" anchor="t" anchorCtr="0">
              <a:spAutoFit/>
            </a:bodyPr>
            <a:lstStyle/>
            <a:p>
              <a:pPr algn="ctr"/>
              <a:r>
                <a:rPr lang="zh-CN" sz="1120" dirty="0">
                  <a:solidFill>
                    <a:srgbClr val="E94B2B"/>
                  </a:solidFill>
                  <a:latin typeface="+mn-lt"/>
                  <a:ea typeface="+mn-ea"/>
                  <a:cs typeface="+mn-cs"/>
                </a:rPr>
                <a:t>销售</a:t>
              </a:r>
            </a:p>
          </p:txBody>
        </p:sp>
        <p:sp>
          <p:nvSpPr>
            <p:cNvPr id="53" name="Rectangle 53"/>
            <p:cNvSpPr/>
            <p:nvPr/>
          </p:nvSpPr>
          <p:spPr>
            <a:xfrm>
              <a:off x="6762750" y="4057650"/>
              <a:ext cx="762000" cy="304800"/>
            </a:xfrm>
            <a:prstGeom prst="roundRect">
              <a:avLst>
                <a:gd name="adj" fmla="val 50000"/>
              </a:avLst>
            </a:prstGeom>
            <a:solidFill>
              <a:srgbClr val="DCE6F5"/>
            </a:solidFill>
            <a:ln>
              <a:noFill/>
            </a:ln>
          </p:spPr>
        </p:sp>
        <p:sp>
          <p:nvSpPr>
            <p:cNvPr id="54" name="TextBox 54"/>
            <p:cNvSpPr txBox="1"/>
            <p:nvPr/>
          </p:nvSpPr>
          <p:spPr>
            <a:xfrm>
              <a:off x="6987261" y="4145756"/>
              <a:ext cx="312979" cy="220028"/>
            </a:xfrm>
            <a:prstGeom prst="rect">
              <a:avLst/>
            </a:prstGeom>
            <a:noFill/>
            <a:ln>
              <a:noFill/>
            </a:ln>
          </p:spPr>
          <p:txBody>
            <a:bodyPr wrap="none" lIns="0" tIns="0" rIns="0" bIns="0" anchor="t" anchorCtr="0">
              <a:spAutoFit/>
            </a:bodyPr>
            <a:lstStyle/>
            <a:p>
              <a:pPr algn="ctr"/>
              <a:r>
                <a:rPr lang="zh-CN" sz="1120" dirty="0">
                  <a:solidFill>
                    <a:srgbClr val="E94B2B"/>
                  </a:solidFill>
                  <a:latin typeface="+mn-lt"/>
                  <a:ea typeface="+mn-ea"/>
                  <a:cs typeface="+mn-cs"/>
                </a:rPr>
                <a:t>服务</a:t>
              </a:r>
            </a:p>
          </p:txBody>
        </p:sp>
        <p:sp>
          <p:nvSpPr>
            <p:cNvPr id="55" name="Rectangle 55"/>
            <p:cNvSpPr/>
            <p:nvPr/>
          </p:nvSpPr>
          <p:spPr>
            <a:xfrm>
              <a:off x="3962400" y="4476750"/>
              <a:ext cx="762000" cy="304800"/>
            </a:xfrm>
            <a:prstGeom prst="roundRect">
              <a:avLst>
                <a:gd name="adj" fmla="val 50000"/>
              </a:avLst>
            </a:prstGeom>
            <a:solidFill>
              <a:srgbClr val="DCE6F5"/>
            </a:solidFill>
            <a:ln>
              <a:noFill/>
            </a:ln>
          </p:spPr>
        </p:sp>
        <p:sp>
          <p:nvSpPr>
            <p:cNvPr id="56" name="TextBox 56"/>
            <p:cNvSpPr txBox="1"/>
            <p:nvPr/>
          </p:nvSpPr>
          <p:spPr>
            <a:xfrm>
              <a:off x="4186911" y="4564856"/>
              <a:ext cx="312979" cy="220028"/>
            </a:xfrm>
            <a:prstGeom prst="rect">
              <a:avLst/>
            </a:prstGeom>
            <a:noFill/>
            <a:ln>
              <a:noFill/>
            </a:ln>
          </p:spPr>
          <p:txBody>
            <a:bodyPr wrap="none" lIns="0" tIns="0" rIns="0" bIns="0" anchor="t" anchorCtr="0">
              <a:spAutoFit/>
            </a:bodyPr>
            <a:lstStyle/>
            <a:p>
              <a:pPr algn="ctr"/>
              <a:r>
                <a:rPr lang="zh-CN" sz="1120" dirty="0">
                  <a:solidFill>
                    <a:srgbClr val="E94B2B"/>
                  </a:solidFill>
                  <a:latin typeface="+mn-lt"/>
                  <a:ea typeface="+mn-ea"/>
                  <a:cs typeface="+mn-cs"/>
                </a:rPr>
                <a:t>开发</a:t>
              </a:r>
            </a:p>
          </p:txBody>
        </p:sp>
        <p:sp>
          <p:nvSpPr>
            <p:cNvPr id="57" name="Rectangle 57"/>
            <p:cNvSpPr/>
            <p:nvPr/>
          </p:nvSpPr>
          <p:spPr>
            <a:xfrm>
              <a:off x="7467600" y="4476750"/>
              <a:ext cx="762000" cy="304800"/>
            </a:xfrm>
            <a:prstGeom prst="roundRect">
              <a:avLst>
                <a:gd name="adj" fmla="val 50000"/>
              </a:avLst>
            </a:prstGeom>
            <a:solidFill>
              <a:srgbClr val="DCE6F5"/>
            </a:solidFill>
            <a:ln>
              <a:noFill/>
            </a:ln>
          </p:spPr>
        </p:sp>
        <p:sp>
          <p:nvSpPr>
            <p:cNvPr id="58" name="TextBox 58"/>
            <p:cNvSpPr txBox="1"/>
            <p:nvPr/>
          </p:nvSpPr>
          <p:spPr>
            <a:xfrm>
              <a:off x="7692111" y="4564856"/>
              <a:ext cx="312979" cy="220028"/>
            </a:xfrm>
            <a:prstGeom prst="rect">
              <a:avLst/>
            </a:prstGeom>
            <a:noFill/>
            <a:ln>
              <a:noFill/>
            </a:ln>
          </p:spPr>
          <p:txBody>
            <a:bodyPr wrap="none" lIns="0" tIns="0" rIns="0" bIns="0" anchor="t" anchorCtr="0">
              <a:spAutoFit/>
            </a:bodyPr>
            <a:lstStyle/>
            <a:p>
              <a:pPr algn="ctr"/>
              <a:r>
                <a:rPr lang="zh-CN" sz="1120" dirty="0">
                  <a:solidFill>
                    <a:srgbClr val="E94B2B"/>
                  </a:solidFill>
                  <a:latin typeface="+mn-lt"/>
                  <a:ea typeface="+mn-ea"/>
                  <a:cs typeface="+mn-cs"/>
                </a:rPr>
                <a:t>管理</a:t>
              </a:r>
            </a:p>
          </p:txBody>
        </p:sp>
        <p:sp>
          <p:nvSpPr>
            <p:cNvPr id="59" name="Freeform 59"/>
            <p:cNvSpPr/>
            <p:nvPr/>
          </p:nvSpPr>
          <p:spPr>
            <a:xfrm>
              <a:off x="4953000" y="4832350"/>
              <a:ext cx="2286000" cy="139700"/>
            </a:xfrm>
            <a:custGeom>
              <a:avLst/>
              <a:gdLst/>
              <a:ahLst/>
              <a:cxnLst/>
              <a:rect l="l" t="t" r="r" b="b"/>
              <a:pathLst>
                <a:path w="2286000" h="139700">
                  <a:moveTo>
                    <a:pt x="0" y="139700"/>
                  </a:moveTo>
                  <a:cubicBezTo>
                    <a:pt x="762000" y="0"/>
                    <a:pt x="1524000" y="0"/>
                    <a:pt x="2286000" y="139700"/>
                  </a:cubicBezTo>
                </a:path>
              </a:pathLst>
            </a:custGeom>
            <a:noFill/>
            <a:ln w="38100">
              <a:solidFill>
                <a:srgbClr val="E94B2B"/>
              </a:solidFill>
            </a:ln>
          </p:spPr>
        </p:sp>
        <p:sp>
          <p:nvSpPr>
            <p:cNvPr id="60" name="Rectangle 60"/>
            <p:cNvSpPr/>
            <p:nvPr/>
          </p:nvSpPr>
          <p:spPr>
            <a:xfrm>
              <a:off x="5619750" y="4876800"/>
              <a:ext cx="952500" cy="247650"/>
            </a:xfrm>
            <a:prstGeom prst="roundRect">
              <a:avLst>
                <a:gd name="adj" fmla="val 50000"/>
              </a:avLst>
            </a:prstGeom>
            <a:gradFill>
              <a:gsLst>
                <a:gs pos="0">
                  <a:srgbClr val="FF5B3A"/>
                </a:gs>
                <a:gs pos="100000">
                  <a:srgbClr val="E94B2B"/>
                </a:gs>
              </a:gsLst>
              <a:lin ang="0" scaled="1"/>
            </a:gradFill>
            <a:ln>
              <a:noFill/>
            </a:ln>
          </p:spPr>
        </p:sp>
        <p:sp>
          <p:nvSpPr>
            <p:cNvPr id="61" name="TextBox 61"/>
            <p:cNvSpPr txBox="1"/>
            <p:nvPr/>
          </p:nvSpPr>
          <p:spPr>
            <a:xfrm>
              <a:off x="5838152" y="494704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岗位领域</a:t>
              </a:r>
            </a:p>
          </p:txBody>
        </p:sp>
      </p:grpSp>
      <p:grpSp>
        <p:nvGrpSpPr>
          <p:cNvPr id="65" name="touchpoints"/>
          <p:cNvGrpSpPr/>
          <p:nvPr/>
        </p:nvGrpSpPr>
        <p:grpSpPr>
          <a:xfrm>
            <a:off x="5411800" y="5326856"/>
            <a:ext cx="1368400" cy="524828"/>
            <a:chOff x="5411800" y="5326856"/>
            <a:chExt cx="1368400" cy="524828"/>
          </a:xfrm>
        </p:grpSpPr>
        <p:sp>
          <p:nvSpPr>
            <p:cNvPr id="63" name="TextBox 63"/>
            <p:cNvSpPr txBox="1"/>
            <p:nvPr/>
          </p:nvSpPr>
          <p:spPr>
            <a:xfrm>
              <a:off x="5487187" y="5326856"/>
              <a:ext cx="1217625" cy="220028"/>
            </a:xfrm>
            <a:prstGeom prst="rect">
              <a:avLst/>
            </a:prstGeom>
            <a:noFill/>
            <a:ln>
              <a:noFill/>
            </a:ln>
          </p:spPr>
          <p:txBody>
            <a:bodyPr wrap="none" lIns="0" tIns="0" rIns="0" bIns="0" anchor="t" anchorCtr="0">
              <a:spAutoFit/>
            </a:bodyPr>
            <a:lstStyle/>
            <a:p>
              <a:pPr algn="ctr"/>
              <a:r>
                <a:rPr lang="zh-CN" sz="1120" b="1" dirty="0">
                  <a:solidFill>
                    <a:srgbClr val="333333"/>
                  </a:solidFill>
                  <a:latin typeface="+mn-lt"/>
                  <a:ea typeface="+mn-ea"/>
                  <a:cs typeface="+mn-cs"/>
                </a:rPr>
                <a:t>小程序、公众平台</a:t>
              </a:r>
            </a:p>
          </p:txBody>
        </p:sp>
        <p:sp>
          <p:nvSpPr>
            <p:cNvPr id="64" name="TextBox 64"/>
            <p:cNvSpPr txBox="1"/>
            <p:nvPr/>
          </p:nvSpPr>
          <p:spPr>
            <a:xfrm>
              <a:off x="5411800" y="5631656"/>
              <a:ext cx="1368400" cy="220028"/>
            </a:xfrm>
            <a:prstGeom prst="rect">
              <a:avLst/>
            </a:prstGeom>
            <a:noFill/>
            <a:ln>
              <a:noFill/>
            </a:ln>
          </p:spPr>
          <p:txBody>
            <a:bodyPr wrap="none" lIns="0" tIns="0" rIns="0" bIns="0" anchor="t" anchorCtr="0">
              <a:spAutoFit/>
            </a:bodyPr>
            <a:lstStyle/>
            <a:p>
              <a:pPr algn="ctr"/>
              <a:r>
                <a:rPr lang="zh-CN" sz="1120" b="1" dirty="0">
                  <a:solidFill>
                    <a:srgbClr val="333333"/>
                  </a:solidFill>
                  <a:latin typeface="+mn-lt"/>
                  <a:ea typeface="+mn-ea"/>
                  <a:cs typeface="+mn-cs"/>
                </a:rPr>
                <a:t>企业微信、微信支付</a:t>
              </a:r>
            </a:p>
          </p:txBody>
        </p:sp>
      </p:grpSp>
      <p:grpSp>
        <p:nvGrpSpPr>
          <p:cNvPr id="68" name="ecology-pill"/>
          <p:cNvGrpSpPr/>
          <p:nvPr/>
        </p:nvGrpSpPr>
        <p:grpSpPr>
          <a:xfrm>
            <a:off x="5381625" y="6153150"/>
            <a:ext cx="1428750" cy="361950"/>
            <a:chOff x="5381625" y="6153150"/>
            <a:chExt cx="1428750" cy="361950"/>
          </a:xfrm>
        </p:grpSpPr>
        <p:sp>
          <p:nvSpPr>
            <p:cNvPr id="66" name="Rectangle 66"/>
            <p:cNvSpPr/>
            <p:nvPr/>
          </p:nvSpPr>
          <p:spPr>
            <a:xfrm>
              <a:off x="5381625" y="6153150"/>
              <a:ext cx="1428750" cy="361950"/>
            </a:xfrm>
            <a:prstGeom prst="roundRect">
              <a:avLst>
                <a:gd name="adj" fmla="val 50000"/>
              </a:avLst>
            </a:prstGeom>
            <a:gradFill>
              <a:gsLst>
                <a:gs pos="0">
                  <a:srgbClr val="FF5B3A"/>
                </a:gs>
                <a:gs pos="100000">
                  <a:srgbClr val="E94B2B"/>
                </a:gs>
              </a:gsLst>
              <a:lin ang="0" scaled="1"/>
            </a:gradFill>
            <a:ln>
              <a:noFill/>
            </a:ln>
          </p:spPr>
        </p:sp>
        <p:sp>
          <p:nvSpPr>
            <p:cNvPr id="67" name="TextBox 67"/>
            <p:cNvSpPr txBox="1"/>
            <p:nvPr/>
          </p:nvSpPr>
          <p:spPr>
            <a:xfrm>
              <a:off x="5744896" y="6263164"/>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就业生态</a:t>
              </a:r>
            </a:p>
          </p:txBody>
        </p:sp>
      </p:gr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08</a:t>
              </a:r>
            </a:p>
          </p:txBody>
        </p:sp>
        <p:sp>
          <p:nvSpPr>
            <p:cNvPr id="4" name="TextBox 4"/>
            <p:cNvSpPr txBox="1"/>
            <p:nvPr/>
          </p:nvSpPr>
          <p:spPr>
            <a:xfrm>
              <a:off x="904494" y="180023"/>
              <a:ext cx="2674224"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DIS AD安全解决方案</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9" name="banner-problem"/>
          <p:cNvGrpSpPr/>
          <p:nvPr/>
        </p:nvGrpSpPr>
        <p:grpSpPr>
          <a:xfrm>
            <a:off x="666750" y="1600200"/>
            <a:ext cx="2571750" cy="343281"/>
            <a:chOff x="666750" y="1600200"/>
            <a:chExt cx="2571750" cy="343281"/>
          </a:xfrm>
        </p:grpSpPr>
        <p:sp>
          <p:nvSpPr>
            <p:cNvPr id="7" name="Rectangle 7"/>
            <p:cNvSpPr/>
            <p:nvPr/>
          </p:nvSpPr>
          <p:spPr>
            <a:xfrm>
              <a:off x="666750" y="1600200"/>
              <a:ext cx="2571750" cy="342900"/>
            </a:xfrm>
            <a:prstGeom prst="roundRect">
              <a:avLst>
                <a:gd name="adj" fmla="val 50000"/>
              </a:avLst>
            </a:prstGeom>
            <a:gradFill>
              <a:gsLst>
                <a:gs pos="0">
                  <a:srgbClr val="C83B1E"/>
                </a:gs>
                <a:gs pos="100000">
                  <a:srgbClr val="F5927E"/>
                </a:gs>
              </a:gsLst>
              <a:lin ang="0" scaled="1"/>
            </a:gradFill>
            <a:ln>
              <a:noFill/>
            </a:ln>
          </p:spPr>
        </p:sp>
        <p:sp>
          <p:nvSpPr>
            <p:cNvPr id="8" name="TextBox 8"/>
            <p:cNvSpPr txBox="1"/>
            <p:nvPr/>
          </p:nvSpPr>
          <p:spPr>
            <a:xfrm>
              <a:off x="1404366" y="1708785"/>
              <a:ext cx="1096518"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AD域安全问题​</a:t>
              </a:r>
            </a:p>
          </p:txBody>
        </p:sp>
      </p:grpSp>
      <p:grpSp>
        <p:nvGrpSpPr>
          <p:cNvPr id="11" name="center-title"/>
          <p:cNvGrpSpPr/>
          <p:nvPr/>
        </p:nvGrpSpPr>
        <p:grpSpPr>
          <a:xfrm>
            <a:off x="5298567" y="1675448"/>
            <a:ext cx="1594866" cy="381381"/>
            <a:chOff x="5298567" y="1675448"/>
            <a:chExt cx="1594866" cy="381381"/>
          </a:xfrm>
        </p:grpSpPr>
        <p:sp>
          <p:nvSpPr>
            <p:cNvPr id="10" name="TextBox 10"/>
            <p:cNvSpPr txBox="1"/>
            <p:nvPr/>
          </p:nvSpPr>
          <p:spPr>
            <a:xfrm>
              <a:off x="5298567" y="1675448"/>
              <a:ext cx="1594866"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安全解决方案</a:t>
              </a:r>
            </a:p>
          </p:txBody>
        </p:sp>
      </p:grpSp>
      <p:grpSp>
        <p:nvGrpSpPr>
          <p:cNvPr id="14" name="banner-benefit"/>
          <p:cNvGrpSpPr/>
          <p:nvPr/>
        </p:nvGrpSpPr>
        <p:grpSpPr>
          <a:xfrm>
            <a:off x="8953500" y="1600200"/>
            <a:ext cx="2571750" cy="343281"/>
            <a:chOff x="8953500" y="1600200"/>
            <a:chExt cx="2571750" cy="343281"/>
          </a:xfrm>
        </p:grpSpPr>
        <p:sp>
          <p:nvSpPr>
            <p:cNvPr id="12" name="Rectangle 12"/>
            <p:cNvSpPr/>
            <p:nvPr/>
          </p:nvSpPr>
          <p:spPr>
            <a:xfrm>
              <a:off x="8953500" y="1600200"/>
              <a:ext cx="2571750" cy="342900"/>
            </a:xfrm>
            <a:prstGeom prst="roundRect">
              <a:avLst>
                <a:gd name="adj" fmla="val 50000"/>
              </a:avLst>
            </a:prstGeom>
            <a:gradFill>
              <a:gsLst>
                <a:gs pos="0">
                  <a:srgbClr val="F5927E"/>
                </a:gs>
                <a:gs pos="100000">
                  <a:srgbClr val="C83B1E"/>
                </a:gs>
              </a:gsLst>
              <a:lin ang="0" scaled="1"/>
            </a:gradFill>
            <a:ln>
              <a:noFill/>
            </a:ln>
          </p:spPr>
        </p:sp>
        <p:sp>
          <p:nvSpPr>
            <p:cNvPr id="13" name="TextBox 13"/>
            <p:cNvSpPr txBox="1"/>
            <p:nvPr/>
          </p:nvSpPr>
          <p:spPr>
            <a:xfrm>
              <a:off x="9910191" y="1708785"/>
              <a:ext cx="658368"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安全收益</a:t>
              </a:r>
            </a:p>
          </p:txBody>
        </p:sp>
      </p:grpSp>
      <p:grpSp>
        <p:nvGrpSpPr>
          <p:cNvPr id="33" name="left-problems"/>
          <p:cNvGrpSpPr/>
          <p:nvPr/>
        </p:nvGrpSpPr>
        <p:grpSpPr>
          <a:xfrm>
            <a:off x="1238250" y="2286000"/>
            <a:ext cx="1524000" cy="3616928"/>
            <a:chOff x="1238250" y="2286000"/>
            <a:chExt cx="1524000" cy="3616928"/>
          </a:xfrm>
        </p:grpSpPr>
        <p:sp>
          <p:nvSpPr>
            <p:cNvPr id="15" name="Ellipse 15"/>
            <p:cNvSpPr/>
            <p:nvPr/>
          </p:nvSpPr>
          <p:spPr>
            <a:xfrm>
              <a:off x="1238250" y="3257550"/>
              <a:ext cx="1524000" cy="266700"/>
            </a:xfrm>
            <a:prstGeom prst="ellipse">
              <a:avLst/>
            </a:prstGeom>
            <a:solidFill>
              <a:srgbClr val="F6C2B7"/>
            </a:solidFill>
            <a:ln>
              <a:noFill/>
            </a:ln>
          </p:spPr>
        </p:sp>
        <p:sp>
          <p:nvSpPr>
            <p:cNvPr id="16" name="Ellipse 16"/>
            <p:cNvSpPr/>
            <p:nvPr/>
          </p:nvSpPr>
          <p:spPr>
            <a:xfrm>
              <a:off x="1428750" y="2286000"/>
              <a:ext cx="1143000" cy="1143000"/>
            </a:xfrm>
            <a:prstGeom prst="ellipse">
              <a:avLst/>
            </a:prstGeom>
            <a:gradFill>
              <a:gsLst>
                <a:gs pos="0">
                  <a:srgbClr val="FFFFFF"/>
                </a:gs>
                <a:gs pos="100000">
                  <a:srgbClr val="F6C2B7"/>
                </a:gs>
              </a:gsLst>
              <a:lin ang="5400000" scaled="1"/>
            </a:gradFill>
            <a:ln>
              <a:noFill/>
            </a:ln>
          </p:spPr>
        </p:sp>
        <p:sp>
          <p:nvSpPr>
            <p:cNvPr id="17" name="Rectangle 17"/>
            <p:cNvSpPr/>
            <p:nvPr/>
          </p:nvSpPr>
          <p:spPr>
            <a:xfrm>
              <a:off x="1581150" y="2533650"/>
              <a:ext cx="838200" cy="190500"/>
            </a:xfrm>
            <a:prstGeom prst="roundRect">
              <a:avLst>
                <a:gd name="adj" fmla="val 50000"/>
              </a:avLst>
            </a:prstGeom>
            <a:solidFill>
              <a:srgbClr val="FFFFFF"/>
            </a:solidFill>
            <a:ln w="9525">
              <a:solidFill>
                <a:srgbClr val="C9DDF5"/>
              </a:solidFill>
            </a:ln>
          </p:spPr>
        </p:sp>
        <p:sp>
          <p:nvSpPr>
            <p:cNvPr id="18" name="TextBox 18"/>
            <p:cNvSpPr txBox="1"/>
            <p:nvPr/>
          </p:nvSpPr>
          <p:spPr>
            <a:xfrm>
              <a:off x="1829905" y="2577941"/>
              <a:ext cx="34069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弱口令</a:t>
              </a:r>
            </a:p>
          </p:txBody>
        </p:sp>
        <p:sp>
          <p:nvSpPr>
            <p:cNvPr id="19" name="Rectangle 19"/>
            <p:cNvSpPr/>
            <p:nvPr/>
          </p:nvSpPr>
          <p:spPr>
            <a:xfrm>
              <a:off x="1581150" y="2762250"/>
              <a:ext cx="838200" cy="190500"/>
            </a:xfrm>
            <a:prstGeom prst="roundRect">
              <a:avLst>
                <a:gd name="adj" fmla="val 50000"/>
              </a:avLst>
            </a:prstGeom>
            <a:solidFill>
              <a:srgbClr val="FFFFFF"/>
            </a:solidFill>
            <a:ln w="9525">
              <a:solidFill>
                <a:srgbClr val="C9DDF5"/>
              </a:solidFill>
            </a:ln>
          </p:spPr>
        </p:sp>
        <p:sp>
          <p:nvSpPr>
            <p:cNvPr id="20" name="TextBox 20"/>
            <p:cNvSpPr txBox="1"/>
            <p:nvPr/>
          </p:nvSpPr>
          <p:spPr>
            <a:xfrm>
              <a:off x="1774711" y="280654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口令丢失</a:t>
              </a:r>
            </a:p>
          </p:txBody>
        </p:sp>
        <p:sp>
          <p:nvSpPr>
            <p:cNvPr id="21" name="Rectangle 21"/>
            <p:cNvSpPr/>
            <p:nvPr/>
          </p:nvSpPr>
          <p:spPr>
            <a:xfrm>
              <a:off x="1581150" y="2990850"/>
              <a:ext cx="838200" cy="190500"/>
            </a:xfrm>
            <a:prstGeom prst="roundRect">
              <a:avLst>
                <a:gd name="adj" fmla="val 50000"/>
              </a:avLst>
            </a:prstGeom>
            <a:solidFill>
              <a:srgbClr val="FFFFFF"/>
            </a:solidFill>
            <a:ln w="9525">
              <a:solidFill>
                <a:srgbClr val="C9DDF5"/>
              </a:solidFill>
            </a:ln>
          </p:spPr>
        </p:sp>
        <p:sp>
          <p:nvSpPr>
            <p:cNvPr id="22" name="TextBox 22"/>
            <p:cNvSpPr txBox="1"/>
            <p:nvPr/>
          </p:nvSpPr>
          <p:spPr>
            <a:xfrm>
              <a:off x="1774711" y="303514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口令爆破</a:t>
              </a:r>
            </a:p>
          </p:txBody>
        </p:sp>
        <p:sp>
          <p:nvSpPr>
            <p:cNvPr id="23" name="TextBox 23"/>
            <p:cNvSpPr txBox="1"/>
            <p:nvPr/>
          </p:nvSpPr>
          <p:spPr>
            <a:xfrm>
              <a:off x="1649146" y="3672364"/>
              <a:ext cx="702208" cy="249364"/>
            </a:xfrm>
            <a:prstGeom prst="rect">
              <a:avLst/>
            </a:prstGeom>
            <a:noFill/>
            <a:ln>
              <a:noFill/>
            </a:ln>
          </p:spPr>
          <p:txBody>
            <a:bodyPr wrap="none" lIns="0" tIns="0" rIns="0" bIns="0" anchor="t" anchorCtr="0">
              <a:spAutoFit/>
            </a:bodyPr>
            <a:lstStyle/>
            <a:p>
              <a:pPr algn="ctr"/>
              <a:r>
                <a:rPr lang="zh-CN" sz="1280" dirty="0">
                  <a:solidFill>
                    <a:srgbClr val="E94B2B"/>
                  </a:solidFill>
                  <a:latin typeface="+mn-lt"/>
                  <a:ea typeface="+mn-ea"/>
                  <a:cs typeface="+mn-cs"/>
                </a:rPr>
                <a:t>操作系统</a:t>
              </a:r>
            </a:p>
          </p:txBody>
        </p:sp>
        <p:sp>
          <p:nvSpPr>
            <p:cNvPr id="24" name="Ellipse 24"/>
            <p:cNvSpPr/>
            <p:nvPr/>
          </p:nvSpPr>
          <p:spPr>
            <a:xfrm>
              <a:off x="1238250" y="5219700"/>
              <a:ext cx="1524000" cy="266700"/>
            </a:xfrm>
            <a:prstGeom prst="ellipse">
              <a:avLst/>
            </a:prstGeom>
            <a:solidFill>
              <a:srgbClr val="F6C2B7"/>
            </a:solidFill>
            <a:ln>
              <a:noFill/>
            </a:ln>
          </p:spPr>
        </p:sp>
        <p:sp>
          <p:nvSpPr>
            <p:cNvPr id="25" name="Ellipse 25"/>
            <p:cNvSpPr/>
            <p:nvPr/>
          </p:nvSpPr>
          <p:spPr>
            <a:xfrm>
              <a:off x="1428750" y="4248150"/>
              <a:ext cx="1143000" cy="1143000"/>
            </a:xfrm>
            <a:prstGeom prst="ellipse">
              <a:avLst/>
            </a:prstGeom>
            <a:gradFill>
              <a:gsLst>
                <a:gs pos="0">
                  <a:srgbClr val="FFFFFF"/>
                </a:gs>
                <a:gs pos="100000">
                  <a:srgbClr val="F6C2B7"/>
                </a:gs>
              </a:gsLst>
              <a:lin ang="5400000" scaled="1"/>
            </a:gradFill>
            <a:ln>
              <a:noFill/>
            </a:ln>
          </p:spPr>
        </p:sp>
        <p:sp>
          <p:nvSpPr>
            <p:cNvPr id="26" name="Rectangle 26"/>
            <p:cNvSpPr/>
            <p:nvPr/>
          </p:nvSpPr>
          <p:spPr>
            <a:xfrm>
              <a:off x="1524000" y="4495800"/>
              <a:ext cx="952500" cy="190500"/>
            </a:xfrm>
            <a:prstGeom prst="roundRect">
              <a:avLst>
                <a:gd name="adj" fmla="val 50000"/>
              </a:avLst>
            </a:prstGeom>
            <a:solidFill>
              <a:srgbClr val="FFFFFF"/>
            </a:solidFill>
            <a:ln w="9525">
              <a:solidFill>
                <a:srgbClr val="C9DDF5"/>
              </a:solidFill>
            </a:ln>
          </p:spPr>
        </p:sp>
        <p:sp>
          <p:nvSpPr>
            <p:cNvPr id="27" name="TextBox 27"/>
            <p:cNvSpPr txBox="1"/>
            <p:nvPr/>
          </p:nvSpPr>
          <p:spPr>
            <a:xfrm>
              <a:off x="1664322" y="4540091"/>
              <a:ext cx="671855"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认证因子单一</a:t>
              </a:r>
            </a:p>
          </p:txBody>
        </p:sp>
        <p:sp>
          <p:nvSpPr>
            <p:cNvPr id="28" name="Rectangle 28"/>
            <p:cNvSpPr/>
            <p:nvPr/>
          </p:nvSpPr>
          <p:spPr>
            <a:xfrm>
              <a:off x="1524000" y="4724400"/>
              <a:ext cx="952500" cy="190500"/>
            </a:xfrm>
            <a:prstGeom prst="roundRect">
              <a:avLst>
                <a:gd name="adj" fmla="val 50000"/>
              </a:avLst>
            </a:prstGeom>
            <a:solidFill>
              <a:srgbClr val="FFFFFF"/>
            </a:solidFill>
            <a:ln w="9525">
              <a:solidFill>
                <a:srgbClr val="C9DDF5"/>
              </a:solidFill>
            </a:ln>
          </p:spPr>
        </p:sp>
        <p:sp>
          <p:nvSpPr>
            <p:cNvPr id="29" name="TextBox 29"/>
            <p:cNvSpPr txBox="1"/>
            <p:nvPr/>
          </p:nvSpPr>
          <p:spPr>
            <a:xfrm>
              <a:off x="1664322" y="4768691"/>
              <a:ext cx="671855"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事后追述风险</a:t>
              </a:r>
            </a:p>
          </p:txBody>
        </p:sp>
        <p:sp>
          <p:nvSpPr>
            <p:cNvPr id="30" name="Rectangle 30"/>
            <p:cNvSpPr/>
            <p:nvPr/>
          </p:nvSpPr>
          <p:spPr>
            <a:xfrm>
              <a:off x="1524000" y="4953000"/>
              <a:ext cx="952500" cy="190500"/>
            </a:xfrm>
            <a:prstGeom prst="roundRect">
              <a:avLst>
                <a:gd name="adj" fmla="val 50000"/>
              </a:avLst>
            </a:prstGeom>
            <a:solidFill>
              <a:srgbClr val="FFFFFF"/>
            </a:solidFill>
            <a:ln w="9525">
              <a:solidFill>
                <a:srgbClr val="C9DDF5"/>
              </a:solidFill>
            </a:ln>
          </p:spPr>
        </p:sp>
        <p:sp>
          <p:nvSpPr>
            <p:cNvPr id="31" name="TextBox 31"/>
            <p:cNvSpPr txBox="1"/>
            <p:nvPr/>
          </p:nvSpPr>
          <p:spPr>
            <a:xfrm>
              <a:off x="1774711" y="49972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域控漏洞</a:t>
              </a:r>
            </a:p>
          </p:txBody>
        </p:sp>
        <p:sp>
          <p:nvSpPr>
            <p:cNvPr id="32" name="TextBox 32"/>
            <p:cNvSpPr txBox="1"/>
            <p:nvPr/>
          </p:nvSpPr>
          <p:spPr>
            <a:xfrm>
              <a:off x="1649146" y="5653564"/>
              <a:ext cx="702208" cy="249364"/>
            </a:xfrm>
            <a:prstGeom prst="rect">
              <a:avLst/>
            </a:prstGeom>
            <a:noFill/>
            <a:ln>
              <a:noFill/>
            </a:ln>
          </p:spPr>
          <p:txBody>
            <a:bodyPr wrap="none" lIns="0" tIns="0" rIns="0" bIns="0" anchor="t" anchorCtr="0">
              <a:spAutoFit/>
            </a:bodyPr>
            <a:lstStyle/>
            <a:p>
              <a:pPr algn="ctr"/>
              <a:r>
                <a:rPr lang="zh-CN" sz="1280" dirty="0">
                  <a:solidFill>
                    <a:srgbClr val="E94B2B"/>
                  </a:solidFill>
                  <a:latin typeface="+mn-lt"/>
                  <a:ea typeface="+mn-ea"/>
                  <a:cs typeface="+mn-cs"/>
                </a:rPr>
                <a:t>业务应用</a:t>
              </a:r>
            </a:p>
          </p:txBody>
        </p:sp>
      </p:grpSp>
      <p:grpSp>
        <p:nvGrpSpPr>
          <p:cNvPr id="36" name="connector-left"/>
          <p:cNvGrpSpPr/>
          <p:nvPr/>
        </p:nvGrpSpPr>
        <p:grpSpPr>
          <a:xfrm>
            <a:off x="3143250" y="2857500"/>
            <a:ext cx="1809750" cy="1012984"/>
            <a:chOff x="3143250" y="2857500"/>
            <a:chExt cx="1809750" cy="1012984"/>
          </a:xfrm>
        </p:grpSpPr>
        <p:sp>
          <p:nvSpPr>
            <p:cNvPr id="34" name="Polyline 34"/>
            <p:cNvSpPr/>
            <p:nvPr/>
          </p:nvSpPr>
          <p:spPr>
            <a:xfrm>
              <a:off x="3143250" y="2857500"/>
              <a:ext cx="1809750" cy="619125"/>
            </a:xfrm>
            <a:custGeom>
              <a:avLst/>
              <a:gdLst/>
              <a:ahLst/>
              <a:cxnLst/>
              <a:rect l="l" t="t" r="r" b="b"/>
              <a:pathLst>
                <a:path w="1809750" h="619125">
                  <a:moveTo>
                    <a:pt x="0" y="428625"/>
                  </a:moveTo>
                  <a:lnTo>
                    <a:pt x="523875" y="428625"/>
                  </a:lnTo>
                  <a:lnTo>
                    <a:pt x="666750" y="285750"/>
                  </a:lnTo>
                  <a:lnTo>
                    <a:pt x="809625" y="619125"/>
                  </a:lnTo>
                  <a:lnTo>
                    <a:pt x="952500" y="0"/>
                  </a:lnTo>
                  <a:lnTo>
                    <a:pt x="1143000" y="428625"/>
                  </a:lnTo>
                  <a:lnTo>
                    <a:pt x="1809750" y="428625"/>
                  </a:lnTo>
                </a:path>
              </a:pathLst>
            </a:custGeom>
            <a:noFill/>
            <a:ln w="14288">
              <a:solidFill>
                <a:srgbClr val="E94B2B"/>
              </a:solidFill>
            </a:ln>
          </p:spPr>
        </p:sp>
        <p:sp>
          <p:nvSpPr>
            <p:cNvPr id="35" name="TextBox 35"/>
            <p:cNvSpPr txBox="1"/>
            <p:nvPr/>
          </p:nvSpPr>
          <p:spPr>
            <a:xfrm>
              <a:off x="3443961" y="3650456"/>
              <a:ext cx="312979" cy="220028"/>
            </a:xfrm>
            <a:prstGeom prst="rect">
              <a:avLst/>
            </a:prstGeom>
            <a:noFill/>
            <a:ln>
              <a:noFill/>
            </a:ln>
          </p:spPr>
          <p:txBody>
            <a:bodyPr wrap="none" lIns="0" tIns="0" rIns="0" bIns="0" anchor="t" anchorCtr="0">
              <a:spAutoFit/>
            </a:bodyPr>
            <a:lstStyle/>
            <a:p>
              <a:pPr algn="ctr"/>
              <a:r>
                <a:rPr lang="zh-CN" sz="1120" dirty="0">
                  <a:solidFill>
                    <a:srgbClr val="333333"/>
                  </a:solidFill>
                  <a:latin typeface="+mn-lt"/>
                  <a:ea typeface="+mn-ea"/>
                  <a:cs typeface="+mn-cs"/>
                </a:rPr>
                <a:t>口令</a:t>
              </a:r>
            </a:p>
          </p:txBody>
        </p:sp>
      </p:grpSp>
      <p:grpSp>
        <p:nvGrpSpPr>
          <p:cNvPr id="47" name="ring-core"/>
          <p:cNvGrpSpPr/>
          <p:nvPr/>
        </p:nvGrpSpPr>
        <p:grpSpPr>
          <a:xfrm>
            <a:off x="5067300" y="2362200"/>
            <a:ext cx="2057400" cy="2057400"/>
            <a:chOff x="5067300" y="2362200"/>
            <a:chExt cx="2057400" cy="2057400"/>
          </a:xfrm>
        </p:grpSpPr>
        <p:sp>
          <p:nvSpPr>
            <p:cNvPr id="37" name="Ellipse 37"/>
            <p:cNvSpPr/>
            <p:nvPr/>
          </p:nvSpPr>
          <p:spPr>
            <a:xfrm>
              <a:off x="5067300" y="2362200"/>
              <a:ext cx="2057400" cy="2057400"/>
            </a:xfrm>
            <a:prstGeom prst="ellipse">
              <a:avLst/>
            </a:prstGeom>
            <a:solidFill>
              <a:srgbClr val="DCEBFB"/>
            </a:solidFill>
            <a:ln>
              <a:noFill/>
            </a:ln>
          </p:spPr>
        </p:sp>
        <p:sp>
          <p:nvSpPr>
            <p:cNvPr id="38" name="Freeform 38"/>
            <p:cNvSpPr/>
            <p:nvPr/>
          </p:nvSpPr>
          <p:spPr>
            <a:xfrm>
              <a:off x="5257800" y="2518092"/>
              <a:ext cx="1676400" cy="548958"/>
            </a:xfrm>
            <a:custGeom>
              <a:avLst/>
              <a:gdLst/>
              <a:ahLst/>
              <a:cxnLst/>
              <a:rect l="l" t="t" r="r" b="b"/>
              <a:pathLst>
                <a:path w="1676400" h="548958">
                  <a:moveTo>
                    <a:pt x="0" y="548958"/>
                  </a:moveTo>
                  <a:cubicBezTo>
                    <a:pt x="145358" y="215555"/>
                    <a:pt x="474488" y="0"/>
                    <a:pt x="838200" y="0"/>
                  </a:cubicBezTo>
                  <a:cubicBezTo>
                    <a:pt x="1201912" y="0"/>
                    <a:pt x="1531042" y="215555"/>
                    <a:pt x="1676400" y="548958"/>
                  </a:cubicBezTo>
                </a:path>
              </a:pathLst>
            </a:custGeom>
            <a:noFill/>
            <a:ln w="228600">
              <a:solidFill>
                <a:srgbClr val="E94B2B"/>
              </a:solidFill>
              <a:tailEnd type="triangle" w="med" len="med"/>
            </a:ln>
          </p:spPr>
        </p:sp>
        <p:sp>
          <p:nvSpPr>
            <p:cNvPr id="39" name="Freeform 39"/>
            <p:cNvSpPr/>
            <p:nvPr/>
          </p:nvSpPr>
          <p:spPr>
            <a:xfrm>
              <a:off x="5257800" y="3714750"/>
              <a:ext cx="1676400" cy="548958"/>
            </a:xfrm>
            <a:custGeom>
              <a:avLst/>
              <a:gdLst/>
              <a:ahLst/>
              <a:cxnLst/>
              <a:rect l="l" t="t" r="r" b="b"/>
              <a:pathLst>
                <a:path w="1676400" h="548958">
                  <a:moveTo>
                    <a:pt x="1676400" y="0"/>
                  </a:moveTo>
                  <a:cubicBezTo>
                    <a:pt x="1531042" y="333402"/>
                    <a:pt x="1201912" y="548958"/>
                    <a:pt x="838200" y="548958"/>
                  </a:cubicBezTo>
                  <a:cubicBezTo>
                    <a:pt x="474488" y="548958"/>
                    <a:pt x="145358" y="333402"/>
                    <a:pt x="0" y="0"/>
                  </a:cubicBezTo>
                </a:path>
              </a:pathLst>
            </a:custGeom>
            <a:noFill/>
            <a:ln w="228600">
              <a:solidFill>
                <a:srgbClr val="F2745A"/>
              </a:solidFill>
              <a:tailEnd type="triangle" w="med" len="med"/>
            </a:ln>
          </p:spPr>
        </p:sp>
        <p:sp>
          <p:nvSpPr>
            <p:cNvPr id="40" name="Ellipse 40"/>
            <p:cNvSpPr/>
            <p:nvPr/>
          </p:nvSpPr>
          <p:spPr>
            <a:xfrm>
              <a:off x="5467350" y="2762250"/>
              <a:ext cx="1257300" cy="1257300"/>
            </a:xfrm>
            <a:prstGeom prst="ellipse">
              <a:avLst/>
            </a:prstGeom>
            <a:solidFill>
              <a:srgbClr val="FFFFFF"/>
            </a:solidFill>
            <a:ln>
              <a:noFill/>
            </a:ln>
          </p:spPr>
        </p:sp>
        <p:grpSp>
          <p:nvGrpSpPr>
            <p:cNvPr id="45" name="Group 45"/>
            <p:cNvGrpSpPr/>
            <p:nvPr/>
          </p:nvGrpSpPr>
          <p:grpSpPr>
            <a:xfrm>
              <a:off x="5967412" y="2971800"/>
              <a:ext cx="257175" cy="228600"/>
              <a:chOff x="5967412" y="2971800"/>
              <a:chExt cx="257175" cy="228600"/>
            </a:xfrm>
          </p:grpSpPr>
          <p:sp>
            <p:nvSpPr>
              <p:cNvPr id="41" name="Freeform 41"/>
              <p:cNvSpPr/>
              <p:nvPr/>
            </p:nvSpPr>
            <p:spPr>
              <a:xfrm>
                <a:off x="5967412" y="3014662"/>
                <a:ext cx="257175" cy="9525"/>
              </a:xfrm>
              <a:custGeom>
                <a:avLst/>
                <a:gdLst/>
                <a:ahLst/>
                <a:cxnLst/>
                <a:rect l="l" t="t" r="r" b="b"/>
                <a:pathLst>
                  <a:path w="257175" h="9525">
                    <a:moveTo>
                      <a:pt x="257175" y="0"/>
                    </a:moveTo>
                    <a:lnTo>
                      <a:pt x="0" y="0"/>
                    </a:lnTo>
                  </a:path>
                </a:pathLst>
              </a:custGeom>
              <a:noFill/>
              <a:ln w="28575">
                <a:solidFill>
                  <a:srgbClr val="E94B2B"/>
                </a:solidFill>
              </a:ln>
            </p:spPr>
          </p:sp>
          <p:sp>
            <p:nvSpPr>
              <p:cNvPr id="42" name="Freeform 42"/>
              <p:cNvSpPr/>
              <p:nvPr/>
            </p:nvSpPr>
            <p:spPr>
              <a:xfrm>
                <a:off x="6181725" y="2971800"/>
                <a:ext cx="42862" cy="85725"/>
              </a:xfrm>
              <a:custGeom>
                <a:avLst/>
                <a:gdLst/>
                <a:ahLst/>
                <a:cxnLst/>
                <a:rect l="l" t="t" r="r" b="b"/>
                <a:pathLst>
                  <a:path w="42862" h="85725">
                    <a:moveTo>
                      <a:pt x="0" y="85725"/>
                    </a:moveTo>
                    <a:lnTo>
                      <a:pt x="42862" y="42862"/>
                    </a:lnTo>
                    <a:lnTo>
                      <a:pt x="0" y="0"/>
                    </a:lnTo>
                  </a:path>
                </a:pathLst>
              </a:custGeom>
              <a:noFill/>
              <a:ln w="28575">
                <a:solidFill>
                  <a:srgbClr val="E94B2B"/>
                </a:solidFill>
              </a:ln>
            </p:spPr>
          </p:sp>
          <p:sp>
            <p:nvSpPr>
              <p:cNvPr id="43" name="Freeform 43"/>
              <p:cNvSpPr/>
              <p:nvPr/>
            </p:nvSpPr>
            <p:spPr>
              <a:xfrm>
                <a:off x="5967412" y="3114675"/>
                <a:ext cx="42862" cy="85725"/>
              </a:xfrm>
              <a:custGeom>
                <a:avLst/>
                <a:gdLst/>
                <a:ahLst/>
                <a:cxnLst/>
                <a:rect l="l" t="t" r="r" b="b"/>
                <a:pathLst>
                  <a:path w="42862" h="85725">
                    <a:moveTo>
                      <a:pt x="42862" y="85725"/>
                    </a:moveTo>
                    <a:lnTo>
                      <a:pt x="0" y="42862"/>
                    </a:lnTo>
                    <a:lnTo>
                      <a:pt x="42862" y="0"/>
                    </a:lnTo>
                  </a:path>
                </a:pathLst>
              </a:custGeom>
              <a:noFill/>
              <a:ln w="28575">
                <a:solidFill>
                  <a:srgbClr val="E94B2B"/>
                </a:solidFill>
              </a:ln>
            </p:spPr>
          </p:sp>
          <p:sp>
            <p:nvSpPr>
              <p:cNvPr id="44" name="Freeform 44"/>
              <p:cNvSpPr/>
              <p:nvPr/>
            </p:nvSpPr>
            <p:spPr>
              <a:xfrm>
                <a:off x="5967412" y="3157538"/>
                <a:ext cx="257175" cy="9525"/>
              </a:xfrm>
              <a:custGeom>
                <a:avLst/>
                <a:gdLst/>
                <a:ahLst/>
                <a:cxnLst/>
                <a:rect l="l" t="t" r="r" b="b"/>
                <a:pathLst>
                  <a:path w="257175" h="9525">
                    <a:moveTo>
                      <a:pt x="0" y="0"/>
                    </a:moveTo>
                    <a:lnTo>
                      <a:pt x="257175" y="0"/>
                    </a:lnTo>
                  </a:path>
                </a:pathLst>
              </a:custGeom>
              <a:noFill/>
              <a:ln w="28575">
                <a:solidFill>
                  <a:srgbClr val="E94B2B"/>
                </a:solidFill>
              </a:ln>
            </p:spPr>
          </p:sp>
        </p:grpSp>
        <p:sp>
          <p:nvSpPr>
            <p:cNvPr id="46" name="TextBox 46"/>
            <p:cNvSpPr txBox="1"/>
            <p:nvPr/>
          </p:nvSpPr>
          <p:spPr>
            <a:xfrm>
              <a:off x="5805805" y="3364706"/>
              <a:ext cx="580390" cy="410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E94B2B"/>
                  </a:solidFill>
                  <a:latin typeface="+mn-lt"/>
                  <a:ea typeface="+mn-ea"/>
                  <a:cs typeface="+mn-cs"/>
                </a:rPr>
                <a:t>密码算法</a:t>
              </a:r>
              <a:br/>
              <a:r>
                <a:rPr lang="zh-CN" sz="1120" b="1" dirty="0">
                  <a:solidFill>
                    <a:srgbClr val="E94B2B"/>
                  </a:solidFill>
                  <a:latin typeface="+mn-lt"/>
                  <a:ea typeface="+mn-ea"/>
                  <a:cs typeface="+mn-cs"/>
                </a:rPr>
                <a:t>转化能力</a:t>
              </a:r>
            </a:p>
          </p:txBody>
        </p:sp>
      </p:grpSp>
      <p:grpSp>
        <p:nvGrpSpPr>
          <p:cNvPr id="50" name="connector-right"/>
          <p:cNvGrpSpPr/>
          <p:nvPr/>
        </p:nvGrpSpPr>
        <p:grpSpPr>
          <a:xfrm>
            <a:off x="7239000" y="2857500"/>
            <a:ext cx="1790700" cy="619125"/>
            <a:chOff x="7239000" y="2857500"/>
            <a:chExt cx="1790700" cy="619125"/>
          </a:xfrm>
        </p:grpSpPr>
        <p:sp>
          <p:nvSpPr>
            <p:cNvPr id="48" name="Polyline 48"/>
            <p:cNvSpPr/>
            <p:nvPr/>
          </p:nvSpPr>
          <p:spPr>
            <a:xfrm>
              <a:off x="7239000" y="2857500"/>
              <a:ext cx="1790700" cy="619125"/>
            </a:xfrm>
            <a:custGeom>
              <a:avLst/>
              <a:gdLst/>
              <a:ahLst/>
              <a:cxnLst/>
              <a:rect l="l" t="t" r="r" b="b"/>
              <a:pathLst>
                <a:path w="1790700" h="619125">
                  <a:moveTo>
                    <a:pt x="0" y="428625"/>
                  </a:moveTo>
                  <a:lnTo>
                    <a:pt x="476250" y="428625"/>
                  </a:lnTo>
                  <a:lnTo>
                    <a:pt x="666750" y="0"/>
                  </a:lnTo>
                  <a:lnTo>
                    <a:pt x="809625" y="619125"/>
                  </a:lnTo>
                  <a:lnTo>
                    <a:pt x="952500" y="190500"/>
                  </a:lnTo>
                  <a:lnTo>
                    <a:pt x="1143000" y="428625"/>
                  </a:lnTo>
                  <a:lnTo>
                    <a:pt x="1790700" y="428625"/>
                  </a:lnTo>
                </a:path>
              </a:pathLst>
            </a:custGeom>
            <a:noFill/>
            <a:ln w="14288">
              <a:solidFill>
                <a:srgbClr val="E94B2B"/>
              </a:solidFill>
            </a:ln>
          </p:spPr>
        </p:sp>
        <p:sp>
          <p:nvSpPr>
            <p:cNvPr id="49" name="TextBox 49"/>
            <p:cNvSpPr txBox="1"/>
            <p:nvPr/>
          </p:nvSpPr>
          <p:spPr>
            <a:xfrm>
              <a:off x="8454923" y="3078956"/>
              <a:ext cx="463753" cy="220028"/>
            </a:xfrm>
            <a:prstGeom prst="rect">
              <a:avLst/>
            </a:prstGeom>
            <a:noFill/>
            <a:ln>
              <a:noFill/>
            </a:ln>
          </p:spPr>
          <p:txBody>
            <a:bodyPr wrap="none" lIns="0" tIns="0" rIns="0" bIns="0" anchor="t" anchorCtr="0">
              <a:spAutoFit/>
            </a:bodyPr>
            <a:lstStyle/>
            <a:p>
              <a:pPr algn="ctr"/>
              <a:r>
                <a:rPr lang="zh-CN" sz="1120" dirty="0">
                  <a:solidFill>
                    <a:srgbClr val="333333"/>
                  </a:solidFill>
                  <a:latin typeface="+mn-lt"/>
                  <a:ea typeface="+mn-ea"/>
                  <a:cs typeface="+mn-cs"/>
                </a:rPr>
                <a:t>密码学</a:t>
              </a:r>
            </a:p>
          </p:txBody>
        </p:sp>
      </p:grpSp>
      <p:grpSp>
        <p:nvGrpSpPr>
          <p:cNvPr id="73" name="right-benefits"/>
          <p:cNvGrpSpPr/>
          <p:nvPr/>
        </p:nvGrpSpPr>
        <p:grpSpPr>
          <a:xfrm>
            <a:off x="9429750" y="2286000"/>
            <a:ext cx="1524000" cy="3616928"/>
            <a:chOff x="9429750" y="2286000"/>
            <a:chExt cx="1524000" cy="3616928"/>
          </a:xfrm>
        </p:grpSpPr>
        <p:sp>
          <p:nvSpPr>
            <p:cNvPr id="51" name="Ellipse 51"/>
            <p:cNvSpPr/>
            <p:nvPr/>
          </p:nvSpPr>
          <p:spPr>
            <a:xfrm>
              <a:off x="9429750" y="3257550"/>
              <a:ext cx="1524000" cy="266700"/>
            </a:xfrm>
            <a:prstGeom prst="ellipse">
              <a:avLst/>
            </a:prstGeom>
            <a:solidFill>
              <a:srgbClr val="F6C2B7"/>
            </a:solidFill>
            <a:ln>
              <a:noFill/>
            </a:ln>
          </p:spPr>
        </p:sp>
        <p:sp>
          <p:nvSpPr>
            <p:cNvPr id="52" name="Ellipse 52"/>
            <p:cNvSpPr/>
            <p:nvPr/>
          </p:nvSpPr>
          <p:spPr>
            <a:xfrm>
              <a:off x="9620250" y="2286000"/>
              <a:ext cx="1143000" cy="1143000"/>
            </a:xfrm>
            <a:prstGeom prst="ellipse">
              <a:avLst/>
            </a:prstGeom>
            <a:gradFill>
              <a:gsLst>
                <a:gs pos="0">
                  <a:srgbClr val="FFFFFF"/>
                </a:gs>
                <a:gs pos="100000">
                  <a:srgbClr val="F6C2B7"/>
                </a:gs>
              </a:gsLst>
              <a:lin ang="5400000" scaled="1"/>
            </a:gradFill>
            <a:ln>
              <a:noFill/>
            </a:ln>
          </p:spPr>
        </p:sp>
        <p:sp>
          <p:nvSpPr>
            <p:cNvPr id="53" name="Rectangle 53"/>
            <p:cNvSpPr/>
            <p:nvPr/>
          </p:nvSpPr>
          <p:spPr>
            <a:xfrm>
              <a:off x="9772650" y="2457450"/>
              <a:ext cx="838200" cy="171450"/>
            </a:xfrm>
            <a:prstGeom prst="roundRect">
              <a:avLst>
                <a:gd name="adj" fmla="val 50000"/>
              </a:avLst>
            </a:prstGeom>
            <a:solidFill>
              <a:srgbClr val="FFFFFF"/>
            </a:solidFill>
            <a:ln w="9525">
              <a:solidFill>
                <a:srgbClr val="C9DDF5"/>
              </a:solidFill>
            </a:ln>
          </p:spPr>
        </p:sp>
        <p:sp>
          <p:nvSpPr>
            <p:cNvPr id="54" name="TextBox 54"/>
            <p:cNvSpPr txBox="1"/>
            <p:nvPr/>
          </p:nvSpPr>
          <p:spPr>
            <a:xfrm>
              <a:off x="10021405" y="2492216"/>
              <a:ext cx="34069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不怕丢</a:t>
              </a:r>
            </a:p>
          </p:txBody>
        </p:sp>
        <p:sp>
          <p:nvSpPr>
            <p:cNvPr id="55" name="Rectangle 55"/>
            <p:cNvSpPr/>
            <p:nvPr/>
          </p:nvSpPr>
          <p:spPr>
            <a:xfrm>
              <a:off x="9772650" y="2667000"/>
              <a:ext cx="838200" cy="171450"/>
            </a:xfrm>
            <a:prstGeom prst="roundRect">
              <a:avLst>
                <a:gd name="adj" fmla="val 50000"/>
              </a:avLst>
            </a:prstGeom>
            <a:solidFill>
              <a:srgbClr val="FFFFFF"/>
            </a:solidFill>
            <a:ln w="9525">
              <a:solidFill>
                <a:srgbClr val="C9DDF5"/>
              </a:solidFill>
            </a:ln>
          </p:spPr>
        </p:sp>
        <p:sp>
          <p:nvSpPr>
            <p:cNvPr id="56" name="TextBox 56"/>
            <p:cNvSpPr txBox="1"/>
            <p:nvPr/>
          </p:nvSpPr>
          <p:spPr>
            <a:xfrm>
              <a:off x="9966211" y="270176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不可抵赖</a:t>
              </a:r>
            </a:p>
          </p:txBody>
        </p:sp>
        <p:sp>
          <p:nvSpPr>
            <p:cNvPr id="57" name="Rectangle 57"/>
            <p:cNvSpPr/>
            <p:nvPr/>
          </p:nvSpPr>
          <p:spPr>
            <a:xfrm>
              <a:off x="9772650" y="2876550"/>
              <a:ext cx="838200" cy="171450"/>
            </a:xfrm>
            <a:prstGeom prst="roundRect">
              <a:avLst>
                <a:gd name="adj" fmla="val 50000"/>
              </a:avLst>
            </a:prstGeom>
            <a:solidFill>
              <a:srgbClr val="FFFFFF"/>
            </a:solidFill>
            <a:ln w="9525">
              <a:solidFill>
                <a:srgbClr val="C9DDF5"/>
              </a:solidFill>
            </a:ln>
          </p:spPr>
        </p:sp>
        <p:sp>
          <p:nvSpPr>
            <p:cNvPr id="58" name="TextBox 58"/>
            <p:cNvSpPr txBox="1"/>
            <p:nvPr/>
          </p:nvSpPr>
          <p:spPr>
            <a:xfrm>
              <a:off x="9966211" y="29113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国产可控</a:t>
              </a:r>
            </a:p>
          </p:txBody>
        </p:sp>
        <p:sp>
          <p:nvSpPr>
            <p:cNvPr id="59" name="Rectangle 59"/>
            <p:cNvSpPr/>
            <p:nvPr/>
          </p:nvSpPr>
          <p:spPr>
            <a:xfrm>
              <a:off x="9772650" y="3086100"/>
              <a:ext cx="838200" cy="171450"/>
            </a:xfrm>
            <a:prstGeom prst="roundRect">
              <a:avLst>
                <a:gd name="adj" fmla="val 50000"/>
              </a:avLst>
            </a:prstGeom>
            <a:solidFill>
              <a:srgbClr val="FFFFFF"/>
            </a:solidFill>
            <a:ln w="9525">
              <a:solidFill>
                <a:srgbClr val="C9DDF5"/>
              </a:solidFill>
            </a:ln>
          </p:spPr>
        </p:sp>
        <p:sp>
          <p:nvSpPr>
            <p:cNvPr id="60" name="TextBox 60"/>
            <p:cNvSpPr txBox="1"/>
            <p:nvPr/>
          </p:nvSpPr>
          <p:spPr>
            <a:xfrm>
              <a:off x="10076599" y="3120866"/>
              <a:ext cx="23030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合规</a:t>
              </a:r>
            </a:p>
          </p:txBody>
        </p:sp>
        <p:sp>
          <p:nvSpPr>
            <p:cNvPr id="61" name="TextBox 61"/>
            <p:cNvSpPr txBox="1"/>
            <p:nvPr/>
          </p:nvSpPr>
          <p:spPr>
            <a:xfrm>
              <a:off x="9840646" y="3672364"/>
              <a:ext cx="702208" cy="249364"/>
            </a:xfrm>
            <a:prstGeom prst="rect">
              <a:avLst/>
            </a:prstGeom>
            <a:noFill/>
            <a:ln>
              <a:noFill/>
            </a:ln>
          </p:spPr>
          <p:txBody>
            <a:bodyPr wrap="none" lIns="0" tIns="0" rIns="0" bIns="0" anchor="t" anchorCtr="0">
              <a:spAutoFit/>
            </a:bodyPr>
            <a:lstStyle/>
            <a:p>
              <a:pPr algn="ctr"/>
              <a:r>
                <a:rPr lang="zh-CN" sz="1280" dirty="0">
                  <a:solidFill>
                    <a:srgbClr val="E94B2B"/>
                  </a:solidFill>
                  <a:latin typeface="+mn-lt"/>
                  <a:ea typeface="+mn-ea"/>
                  <a:cs typeface="+mn-cs"/>
                </a:rPr>
                <a:t>操作系统</a:t>
              </a:r>
            </a:p>
          </p:txBody>
        </p:sp>
        <p:sp>
          <p:nvSpPr>
            <p:cNvPr id="62" name="Ellipse 62"/>
            <p:cNvSpPr/>
            <p:nvPr/>
          </p:nvSpPr>
          <p:spPr>
            <a:xfrm>
              <a:off x="9429750" y="5219700"/>
              <a:ext cx="1524000" cy="266700"/>
            </a:xfrm>
            <a:prstGeom prst="ellipse">
              <a:avLst/>
            </a:prstGeom>
            <a:solidFill>
              <a:srgbClr val="F6C2B7"/>
            </a:solidFill>
            <a:ln>
              <a:noFill/>
            </a:ln>
          </p:spPr>
        </p:sp>
        <p:sp>
          <p:nvSpPr>
            <p:cNvPr id="63" name="Ellipse 63"/>
            <p:cNvSpPr/>
            <p:nvPr/>
          </p:nvSpPr>
          <p:spPr>
            <a:xfrm>
              <a:off x="9620250" y="4248150"/>
              <a:ext cx="1143000" cy="1143000"/>
            </a:xfrm>
            <a:prstGeom prst="ellipse">
              <a:avLst/>
            </a:prstGeom>
            <a:gradFill>
              <a:gsLst>
                <a:gs pos="0">
                  <a:srgbClr val="FFFFFF"/>
                </a:gs>
                <a:gs pos="100000">
                  <a:srgbClr val="F6C2B7"/>
                </a:gs>
              </a:gsLst>
              <a:lin ang="5400000" scaled="1"/>
            </a:gradFill>
            <a:ln>
              <a:noFill/>
            </a:ln>
          </p:spPr>
        </p:sp>
        <p:sp>
          <p:nvSpPr>
            <p:cNvPr id="64" name="Rectangle 64"/>
            <p:cNvSpPr/>
            <p:nvPr/>
          </p:nvSpPr>
          <p:spPr>
            <a:xfrm>
              <a:off x="9715500" y="4419600"/>
              <a:ext cx="952500" cy="171450"/>
            </a:xfrm>
            <a:prstGeom prst="roundRect">
              <a:avLst>
                <a:gd name="adj" fmla="val 50000"/>
              </a:avLst>
            </a:prstGeom>
            <a:solidFill>
              <a:srgbClr val="FFFFFF"/>
            </a:solidFill>
            <a:ln w="9525">
              <a:solidFill>
                <a:srgbClr val="C9DDF5"/>
              </a:solidFill>
            </a:ln>
          </p:spPr>
        </p:sp>
        <p:sp>
          <p:nvSpPr>
            <p:cNvPr id="65" name="TextBox 65"/>
            <p:cNvSpPr txBox="1"/>
            <p:nvPr/>
          </p:nvSpPr>
          <p:spPr>
            <a:xfrm>
              <a:off x="10021405" y="4454366"/>
              <a:ext cx="34069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强审计</a:t>
              </a:r>
            </a:p>
          </p:txBody>
        </p:sp>
        <p:sp>
          <p:nvSpPr>
            <p:cNvPr id="66" name="Rectangle 66"/>
            <p:cNvSpPr/>
            <p:nvPr/>
          </p:nvSpPr>
          <p:spPr>
            <a:xfrm>
              <a:off x="9715500" y="4629150"/>
              <a:ext cx="952500" cy="171450"/>
            </a:xfrm>
            <a:prstGeom prst="roundRect">
              <a:avLst>
                <a:gd name="adj" fmla="val 50000"/>
              </a:avLst>
            </a:prstGeom>
            <a:solidFill>
              <a:srgbClr val="FFFFFF"/>
            </a:solidFill>
            <a:ln w="9525">
              <a:solidFill>
                <a:srgbClr val="C9DDF5"/>
              </a:solidFill>
            </a:ln>
          </p:spPr>
        </p:sp>
        <p:sp>
          <p:nvSpPr>
            <p:cNvPr id="67" name="TextBox 67"/>
            <p:cNvSpPr txBox="1"/>
            <p:nvPr/>
          </p:nvSpPr>
          <p:spPr>
            <a:xfrm>
              <a:off x="10021405" y="4663916"/>
              <a:ext cx="34069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多因子</a:t>
              </a:r>
            </a:p>
          </p:txBody>
        </p:sp>
        <p:sp>
          <p:nvSpPr>
            <p:cNvPr id="68" name="Rectangle 68"/>
            <p:cNvSpPr/>
            <p:nvPr/>
          </p:nvSpPr>
          <p:spPr>
            <a:xfrm>
              <a:off x="9715500" y="4838700"/>
              <a:ext cx="952500" cy="171450"/>
            </a:xfrm>
            <a:prstGeom prst="roundRect">
              <a:avLst>
                <a:gd name="adj" fmla="val 50000"/>
              </a:avLst>
            </a:prstGeom>
            <a:solidFill>
              <a:srgbClr val="FFFFFF"/>
            </a:solidFill>
            <a:ln w="9525">
              <a:solidFill>
                <a:srgbClr val="C9DDF5"/>
              </a:solidFill>
            </a:ln>
          </p:spPr>
        </p:sp>
        <p:sp>
          <p:nvSpPr>
            <p:cNvPr id="69" name="TextBox 69"/>
            <p:cNvSpPr txBox="1"/>
            <p:nvPr/>
          </p:nvSpPr>
          <p:spPr>
            <a:xfrm>
              <a:off x="9855822" y="4873466"/>
              <a:ext cx="671855"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安全访问态势</a:t>
              </a:r>
            </a:p>
          </p:txBody>
        </p:sp>
        <p:sp>
          <p:nvSpPr>
            <p:cNvPr id="70" name="Rectangle 70"/>
            <p:cNvSpPr/>
            <p:nvPr/>
          </p:nvSpPr>
          <p:spPr>
            <a:xfrm>
              <a:off x="9715500" y="5048250"/>
              <a:ext cx="952500" cy="171450"/>
            </a:xfrm>
            <a:prstGeom prst="roundRect">
              <a:avLst>
                <a:gd name="adj" fmla="val 50000"/>
              </a:avLst>
            </a:prstGeom>
            <a:solidFill>
              <a:srgbClr val="FFFFFF"/>
            </a:solidFill>
            <a:ln w="9525">
              <a:solidFill>
                <a:srgbClr val="C9DDF5"/>
              </a:solidFill>
            </a:ln>
          </p:spPr>
        </p:sp>
        <p:sp>
          <p:nvSpPr>
            <p:cNvPr id="71" name="TextBox 71"/>
            <p:cNvSpPr txBox="1"/>
            <p:nvPr/>
          </p:nvSpPr>
          <p:spPr>
            <a:xfrm>
              <a:off x="9966211" y="508301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密码加持</a:t>
              </a:r>
            </a:p>
          </p:txBody>
        </p:sp>
        <p:sp>
          <p:nvSpPr>
            <p:cNvPr id="72" name="TextBox 72"/>
            <p:cNvSpPr txBox="1"/>
            <p:nvPr/>
          </p:nvSpPr>
          <p:spPr>
            <a:xfrm>
              <a:off x="9840646" y="5653564"/>
              <a:ext cx="702208" cy="249364"/>
            </a:xfrm>
            <a:prstGeom prst="rect">
              <a:avLst/>
            </a:prstGeom>
            <a:noFill/>
            <a:ln>
              <a:noFill/>
            </a:ln>
          </p:spPr>
          <p:txBody>
            <a:bodyPr wrap="none" lIns="0" tIns="0" rIns="0" bIns="0" anchor="t" anchorCtr="0">
              <a:spAutoFit/>
            </a:bodyPr>
            <a:lstStyle/>
            <a:p>
              <a:pPr algn="ctr"/>
              <a:r>
                <a:rPr lang="zh-CN" sz="1280" dirty="0">
                  <a:solidFill>
                    <a:srgbClr val="E94B2B"/>
                  </a:solidFill>
                  <a:latin typeface="+mn-lt"/>
                  <a:ea typeface="+mn-ea"/>
                  <a:cs typeface="+mn-cs"/>
                </a:rPr>
                <a:t>业务应用</a:t>
              </a:r>
            </a:p>
          </p:txBody>
        </p:sp>
      </p:grpSp>
      <p:grpSp>
        <p:nvGrpSpPr>
          <p:cNvPr id="89" name="base-platform"/>
          <p:cNvGrpSpPr/>
          <p:nvPr/>
        </p:nvGrpSpPr>
        <p:grpSpPr>
          <a:xfrm>
            <a:off x="3810000" y="4933950"/>
            <a:ext cx="4572000" cy="1276350"/>
            <a:chOff x="3810000" y="4933950"/>
            <a:chExt cx="4572000" cy="1276350"/>
          </a:xfrm>
        </p:grpSpPr>
        <p:sp>
          <p:nvSpPr>
            <p:cNvPr id="74" name="Ellipse 74"/>
            <p:cNvSpPr/>
            <p:nvPr/>
          </p:nvSpPr>
          <p:spPr>
            <a:xfrm>
              <a:off x="3810000" y="5219700"/>
              <a:ext cx="4572000" cy="990600"/>
            </a:xfrm>
            <a:prstGeom prst="ellipse">
              <a:avLst/>
            </a:prstGeom>
            <a:solidFill>
              <a:srgbClr val="F5C8BF"/>
            </a:solidFill>
            <a:ln>
              <a:noFill/>
            </a:ln>
          </p:spPr>
        </p:sp>
        <p:sp>
          <p:nvSpPr>
            <p:cNvPr id="75" name="Ellipse 75"/>
            <p:cNvSpPr/>
            <p:nvPr/>
          </p:nvSpPr>
          <p:spPr>
            <a:xfrm>
              <a:off x="3905250" y="5124450"/>
              <a:ext cx="4381500" cy="914400"/>
            </a:xfrm>
            <a:prstGeom prst="ellipse">
              <a:avLst/>
            </a:prstGeom>
            <a:gradFill>
              <a:gsLst>
                <a:gs pos="0">
                  <a:srgbClr val="DCEBFB"/>
                </a:gs>
                <a:gs pos="100000">
                  <a:srgbClr val="F2AC9E"/>
                </a:gs>
              </a:gsLst>
              <a:lin ang="5400000" scaled="1"/>
            </a:gradFill>
            <a:ln>
              <a:noFill/>
            </a:ln>
          </p:spPr>
        </p:sp>
        <p:sp>
          <p:nvSpPr>
            <p:cNvPr id="76" name="Ellipse 76"/>
            <p:cNvSpPr/>
            <p:nvPr/>
          </p:nvSpPr>
          <p:spPr>
            <a:xfrm>
              <a:off x="4286250" y="5162550"/>
              <a:ext cx="3619500" cy="647700"/>
            </a:xfrm>
            <a:prstGeom prst="ellipse">
              <a:avLst/>
            </a:prstGeom>
            <a:solidFill>
              <a:srgbClr val="F3F8FE">
                <a:alpha val="60000"/>
              </a:srgbClr>
            </a:solidFill>
            <a:ln>
              <a:noFill/>
            </a:ln>
          </p:spPr>
        </p:sp>
        <p:sp>
          <p:nvSpPr>
            <p:cNvPr id="77" name="Rectangle 77"/>
            <p:cNvSpPr/>
            <p:nvPr/>
          </p:nvSpPr>
          <p:spPr>
            <a:xfrm>
              <a:off x="4762500" y="4933950"/>
              <a:ext cx="819150" cy="247650"/>
            </a:xfrm>
            <a:prstGeom prst="roundRect">
              <a:avLst>
                <a:gd name="adj" fmla="val 15385"/>
              </a:avLst>
            </a:prstGeom>
            <a:gradFill>
              <a:gsLst>
                <a:gs pos="0">
                  <a:srgbClr val="FF5B3A"/>
                </a:gs>
                <a:gs pos="100000">
                  <a:srgbClr val="C83B1E"/>
                </a:gs>
              </a:gsLst>
              <a:lin ang="5400000" scaled="1"/>
            </a:gradFill>
            <a:ln>
              <a:noFill/>
            </a:ln>
          </p:spPr>
        </p:sp>
        <p:sp>
          <p:nvSpPr>
            <p:cNvPr id="78" name="TextBox 78"/>
            <p:cNvSpPr txBox="1"/>
            <p:nvPr/>
          </p:nvSpPr>
          <p:spPr>
            <a:xfrm>
              <a:off x="4914227" y="50041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认证安全</a:t>
              </a:r>
            </a:p>
          </p:txBody>
        </p:sp>
        <p:sp>
          <p:nvSpPr>
            <p:cNvPr id="79" name="Rectangle 79"/>
            <p:cNvSpPr/>
            <p:nvPr/>
          </p:nvSpPr>
          <p:spPr>
            <a:xfrm>
              <a:off x="5686425" y="4933950"/>
              <a:ext cx="819150" cy="247650"/>
            </a:xfrm>
            <a:prstGeom prst="roundRect">
              <a:avLst>
                <a:gd name="adj" fmla="val 15385"/>
              </a:avLst>
            </a:prstGeom>
            <a:gradFill>
              <a:gsLst>
                <a:gs pos="0">
                  <a:srgbClr val="FF5B3A"/>
                </a:gs>
                <a:gs pos="100000">
                  <a:srgbClr val="C83B1E"/>
                </a:gs>
              </a:gsLst>
              <a:lin ang="5400000" scaled="1"/>
            </a:gradFill>
            <a:ln>
              <a:noFill/>
            </a:ln>
          </p:spPr>
        </p:sp>
        <p:sp>
          <p:nvSpPr>
            <p:cNvPr id="80" name="TextBox 80"/>
            <p:cNvSpPr txBox="1"/>
            <p:nvPr/>
          </p:nvSpPr>
          <p:spPr>
            <a:xfrm>
              <a:off x="5838152" y="50041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单点登录</a:t>
              </a:r>
            </a:p>
          </p:txBody>
        </p:sp>
        <p:sp>
          <p:nvSpPr>
            <p:cNvPr id="81" name="Rectangle 81"/>
            <p:cNvSpPr/>
            <p:nvPr/>
          </p:nvSpPr>
          <p:spPr>
            <a:xfrm>
              <a:off x="6610350" y="4933950"/>
              <a:ext cx="819150" cy="247650"/>
            </a:xfrm>
            <a:prstGeom prst="roundRect">
              <a:avLst>
                <a:gd name="adj" fmla="val 15385"/>
              </a:avLst>
            </a:prstGeom>
            <a:gradFill>
              <a:gsLst>
                <a:gs pos="0">
                  <a:srgbClr val="FF5B3A"/>
                </a:gs>
                <a:gs pos="100000">
                  <a:srgbClr val="C83B1E"/>
                </a:gs>
              </a:gsLst>
              <a:lin ang="5400000" scaled="1"/>
            </a:gradFill>
            <a:ln>
              <a:noFill/>
            </a:ln>
          </p:spPr>
        </p:sp>
        <p:sp>
          <p:nvSpPr>
            <p:cNvPr id="82" name="TextBox 82"/>
            <p:cNvSpPr txBox="1"/>
            <p:nvPr/>
          </p:nvSpPr>
          <p:spPr>
            <a:xfrm>
              <a:off x="6762077" y="50041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安全态势</a:t>
              </a:r>
            </a:p>
          </p:txBody>
        </p:sp>
        <p:sp>
          <p:nvSpPr>
            <p:cNvPr id="83" name="Rectangle 83"/>
            <p:cNvSpPr/>
            <p:nvPr/>
          </p:nvSpPr>
          <p:spPr>
            <a:xfrm>
              <a:off x="4762500" y="5257800"/>
              <a:ext cx="819150" cy="247650"/>
            </a:xfrm>
            <a:prstGeom prst="roundRect">
              <a:avLst>
                <a:gd name="adj" fmla="val 15385"/>
              </a:avLst>
            </a:prstGeom>
            <a:gradFill>
              <a:gsLst>
                <a:gs pos="0">
                  <a:srgbClr val="FF5B3A"/>
                </a:gs>
                <a:gs pos="100000">
                  <a:srgbClr val="C83B1E"/>
                </a:gs>
              </a:gsLst>
              <a:lin ang="5400000" scaled="1"/>
            </a:gradFill>
            <a:ln>
              <a:noFill/>
            </a:ln>
          </p:spPr>
        </p:sp>
        <p:sp>
          <p:nvSpPr>
            <p:cNvPr id="84" name="TextBox 84"/>
            <p:cNvSpPr txBox="1"/>
            <p:nvPr/>
          </p:nvSpPr>
          <p:spPr>
            <a:xfrm>
              <a:off x="4914227" y="532804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终端安全</a:t>
              </a:r>
            </a:p>
          </p:txBody>
        </p:sp>
        <p:sp>
          <p:nvSpPr>
            <p:cNvPr id="85" name="Rectangle 85"/>
            <p:cNvSpPr/>
            <p:nvPr/>
          </p:nvSpPr>
          <p:spPr>
            <a:xfrm>
              <a:off x="5686425" y="5257800"/>
              <a:ext cx="819150" cy="247650"/>
            </a:xfrm>
            <a:prstGeom prst="roundRect">
              <a:avLst>
                <a:gd name="adj" fmla="val 15385"/>
              </a:avLst>
            </a:prstGeom>
            <a:gradFill>
              <a:gsLst>
                <a:gs pos="0">
                  <a:srgbClr val="FF5B3A"/>
                </a:gs>
                <a:gs pos="100000">
                  <a:srgbClr val="C83B1E"/>
                </a:gs>
              </a:gsLst>
              <a:lin ang="5400000" scaled="1"/>
            </a:gradFill>
            <a:ln>
              <a:noFill/>
            </a:ln>
          </p:spPr>
        </p:sp>
        <p:sp>
          <p:nvSpPr>
            <p:cNvPr id="86" name="TextBox 86"/>
            <p:cNvSpPr txBox="1"/>
            <p:nvPr/>
          </p:nvSpPr>
          <p:spPr>
            <a:xfrm>
              <a:off x="5838152" y="532804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访问控制</a:t>
              </a:r>
            </a:p>
          </p:txBody>
        </p:sp>
        <p:sp>
          <p:nvSpPr>
            <p:cNvPr id="87" name="Rectangle 87"/>
            <p:cNvSpPr/>
            <p:nvPr/>
          </p:nvSpPr>
          <p:spPr>
            <a:xfrm>
              <a:off x="6610350" y="5257800"/>
              <a:ext cx="819150" cy="247650"/>
            </a:xfrm>
            <a:prstGeom prst="roundRect">
              <a:avLst>
                <a:gd name="adj" fmla="val 15385"/>
              </a:avLst>
            </a:prstGeom>
            <a:gradFill>
              <a:gsLst>
                <a:gs pos="0">
                  <a:srgbClr val="FF5B3A"/>
                </a:gs>
                <a:gs pos="100000">
                  <a:srgbClr val="C83B1E"/>
                </a:gs>
              </a:gsLst>
              <a:lin ang="5400000" scaled="1"/>
            </a:gradFill>
            <a:ln>
              <a:noFill/>
            </a:ln>
          </p:spPr>
        </p:sp>
        <p:sp>
          <p:nvSpPr>
            <p:cNvPr id="88" name="TextBox 88"/>
            <p:cNvSpPr txBox="1"/>
            <p:nvPr/>
          </p:nvSpPr>
          <p:spPr>
            <a:xfrm>
              <a:off x="6762077" y="532804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审计追述</a:t>
              </a:r>
            </a:p>
          </p:txBody>
        </p:sp>
      </p:gr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ash-ring-dec"/>
          <p:cNvSpPr/>
          <p:nvPr/>
        </p:nvSpPr>
        <p:spPr>
          <a:xfrm>
            <a:off x="3600450" y="1171575"/>
            <a:ext cx="4991100" cy="4991100"/>
          </a:xfrm>
          <a:prstGeom prst="ellipse">
            <a:avLst/>
          </a:prstGeom>
          <a:noFill/>
          <a:ln w="11430">
            <a:solidFill>
              <a:srgbClr val="F2AC9E"/>
            </a:solidFill>
            <a:custDash>
              <a:ds d="500000" sp="416667"/>
            </a:custDash>
          </a:ln>
        </p:spPr>
      </p:sp>
      <p:sp>
        <p:nvSpPr>
          <p:cNvPr id="3" name="dot-ring-dec"/>
          <p:cNvSpPr/>
          <p:nvPr/>
        </p:nvSpPr>
        <p:spPr>
          <a:xfrm>
            <a:off x="4333875" y="1905000"/>
            <a:ext cx="3524250" cy="3524250"/>
          </a:xfrm>
          <a:prstGeom prst="ellipse">
            <a:avLst/>
          </a:prstGeom>
          <a:noFill/>
          <a:ln w="66675">
            <a:solidFill>
              <a:srgbClr val="F8B6A9"/>
            </a:solidFill>
            <a:custDash>
              <a:ds d="142857" sp="200000"/>
            </a:custDash>
          </a:ln>
        </p:spPr>
      </p:sp>
      <p:sp>
        <p:nvSpPr>
          <p:cNvPr id="4" name="base-line-dec"/>
          <p:cNvSpPr/>
          <p:nvPr/>
        </p:nvSpPr>
        <p:spPr>
          <a:xfrm>
            <a:off x="3143250" y="6381750"/>
            <a:ext cx="5905500" cy="190500"/>
          </a:xfrm>
          <a:custGeom>
            <a:avLst/>
            <a:gdLst/>
            <a:ahLst/>
            <a:cxnLst/>
            <a:rect l="l" t="t" r="r" b="b"/>
            <a:pathLst>
              <a:path w="5905500" h="190500">
                <a:moveTo>
                  <a:pt x="0" y="190500"/>
                </a:moveTo>
                <a:cubicBezTo>
                  <a:pt x="1968500" y="0"/>
                  <a:pt x="3937000" y="0"/>
                  <a:pt x="5905500" y="190500"/>
                </a:cubicBezTo>
              </a:path>
            </a:pathLst>
          </a:custGeom>
          <a:noFill/>
          <a:ln w="19050">
            <a:solidFill>
              <a:srgbClr val="F2AC9E"/>
            </a:solidFill>
          </a:ln>
        </p:spPr>
      </p:sp>
      <p:sp>
        <p:nvSpPr>
          <p:cNvPr id="5" name="base-line-dec2"/>
          <p:cNvSpPr/>
          <p:nvPr/>
        </p:nvSpPr>
        <p:spPr>
          <a:xfrm>
            <a:off x="3619500" y="6556375"/>
            <a:ext cx="4953000" cy="158750"/>
          </a:xfrm>
          <a:custGeom>
            <a:avLst/>
            <a:gdLst/>
            <a:ahLst/>
            <a:cxnLst/>
            <a:rect l="l" t="t" r="r" b="b"/>
            <a:pathLst>
              <a:path w="4953000" h="158750">
                <a:moveTo>
                  <a:pt x="0" y="158750"/>
                </a:moveTo>
                <a:cubicBezTo>
                  <a:pt x="1651000" y="0"/>
                  <a:pt x="3302000" y="0"/>
                  <a:pt x="4953000" y="158750"/>
                </a:cubicBezTo>
              </a:path>
            </a:pathLst>
          </a:custGeom>
          <a:noFill/>
          <a:ln w="14288">
            <a:solidFill>
              <a:srgbClr val="F6C2B7"/>
            </a:solidFill>
          </a:ln>
        </p:spPr>
      </p:sp>
      <p:grpSp>
        <p:nvGrpSpPr>
          <p:cNvPr id="10" name="page-header"/>
          <p:cNvGrpSpPr/>
          <p:nvPr/>
        </p:nvGrpSpPr>
        <p:grpSpPr>
          <a:xfrm>
            <a:off x="0" y="0"/>
            <a:ext cx="11811000" cy="561404"/>
            <a:chOff x="0" y="0"/>
            <a:chExt cx="11811000" cy="561404"/>
          </a:xfrm>
        </p:grpSpPr>
        <p:sp>
          <p:nvSpPr>
            <p:cNvPr id="6" name="Polygon 6"/>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7" name="TextBox 7"/>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09</a:t>
              </a:r>
            </a:p>
          </p:txBody>
        </p:sp>
        <p:sp>
          <p:nvSpPr>
            <p:cNvPr id="8" name="TextBox 8"/>
            <p:cNvSpPr txBox="1"/>
            <p:nvPr/>
          </p:nvSpPr>
          <p:spPr>
            <a:xfrm>
              <a:off x="904494" y="180023"/>
              <a:ext cx="2238756"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市场管理战略模型</a:t>
              </a:r>
            </a:p>
          </p:txBody>
        </p:sp>
        <p:sp>
          <p:nvSpPr>
            <p:cNvPr id="9" name="Line 9"/>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26" name="cycle-ring"/>
          <p:cNvGrpSpPr/>
          <p:nvPr/>
        </p:nvGrpSpPr>
        <p:grpSpPr>
          <a:xfrm>
            <a:off x="4591050" y="2162175"/>
            <a:ext cx="3009900" cy="3009900"/>
            <a:chOff x="4591050" y="2162175"/>
            <a:chExt cx="3009900" cy="3009900"/>
          </a:xfrm>
        </p:grpSpPr>
        <p:sp>
          <p:nvSpPr>
            <p:cNvPr id="11" name="Ellipse 11"/>
            <p:cNvSpPr/>
            <p:nvPr/>
          </p:nvSpPr>
          <p:spPr>
            <a:xfrm>
              <a:off x="4591050" y="2162175"/>
              <a:ext cx="3009900" cy="3009900"/>
            </a:xfrm>
            <a:prstGeom prst="ellipse">
              <a:avLst/>
            </a:prstGeom>
            <a:solidFill>
              <a:srgbClr val="DCEBFB"/>
            </a:solidFill>
            <a:ln>
              <a:noFill/>
            </a:ln>
          </p:spPr>
        </p:sp>
        <p:sp>
          <p:nvSpPr>
            <p:cNvPr id="12" name="Freeform 12"/>
            <p:cNvSpPr/>
            <p:nvPr/>
          </p:nvSpPr>
          <p:spPr>
            <a:xfrm>
              <a:off x="4911090" y="2242185"/>
              <a:ext cx="1286828" cy="913448"/>
            </a:xfrm>
            <a:custGeom>
              <a:avLst/>
              <a:gdLst/>
              <a:ahLst/>
              <a:cxnLst/>
              <a:rect l="l" t="t" r="r" b="b"/>
              <a:pathLst>
                <a:path w="1286828" h="913448">
                  <a:moveTo>
                    <a:pt x="0" y="625793"/>
                  </a:moveTo>
                  <a:cubicBezTo>
                    <a:pt x="246064" y="261360"/>
                    <a:pt x="646233" y="30534"/>
                    <a:pt x="1084897" y="0"/>
                  </a:cubicBezTo>
                  <a:lnTo>
                    <a:pt x="1286828" y="258127"/>
                  </a:lnTo>
                  <a:lnTo>
                    <a:pt x="1121092" y="512445"/>
                  </a:lnTo>
                  <a:cubicBezTo>
                    <a:pt x="840245" y="532090"/>
                    <a:pt x="584103" y="680013"/>
                    <a:pt x="426720" y="913448"/>
                  </a:cubicBezTo>
                  <a:lnTo>
                    <a:pt x="327660" y="625793"/>
                  </a:lnTo>
                  <a:close/>
                </a:path>
              </a:pathLst>
            </a:custGeom>
            <a:solidFill>
              <a:srgbClr val="E94B2B"/>
            </a:solidFill>
            <a:ln>
              <a:noFill/>
            </a:ln>
          </p:spPr>
        </p:sp>
        <p:sp>
          <p:nvSpPr>
            <p:cNvPr id="13" name="TextBox 13"/>
            <p:cNvSpPr txBox="1"/>
            <p:nvPr/>
          </p:nvSpPr>
          <p:spPr>
            <a:xfrm>
              <a:off x="5323802" y="25467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理解市场</a:t>
              </a:r>
            </a:p>
          </p:txBody>
        </p:sp>
        <p:sp>
          <p:nvSpPr>
            <p:cNvPr id="14" name="Freeform 14"/>
            <p:cNvSpPr/>
            <p:nvPr/>
          </p:nvSpPr>
          <p:spPr>
            <a:xfrm>
              <a:off x="6159818" y="2242185"/>
              <a:ext cx="1121092" cy="929640"/>
            </a:xfrm>
            <a:custGeom>
              <a:avLst/>
              <a:gdLst/>
              <a:ahLst/>
              <a:cxnLst/>
              <a:rect l="l" t="t" r="r" b="b"/>
              <a:pathLst>
                <a:path w="1121092" h="929640">
                  <a:moveTo>
                    <a:pt x="36195" y="0"/>
                  </a:moveTo>
                  <a:cubicBezTo>
                    <a:pt x="474859" y="30534"/>
                    <a:pt x="875028" y="261360"/>
                    <a:pt x="1121092" y="625793"/>
                  </a:cubicBezTo>
                  <a:lnTo>
                    <a:pt x="998220" y="929640"/>
                  </a:lnTo>
                  <a:lnTo>
                    <a:pt x="694372" y="913448"/>
                  </a:lnTo>
                  <a:cubicBezTo>
                    <a:pt x="536989" y="680013"/>
                    <a:pt x="280848" y="532090"/>
                    <a:pt x="0" y="512445"/>
                  </a:cubicBezTo>
                  <a:lnTo>
                    <a:pt x="200025" y="283845"/>
                  </a:lnTo>
                  <a:close/>
                </a:path>
              </a:pathLst>
            </a:custGeom>
            <a:solidFill>
              <a:srgbClr val="FF5B3A"/>
            </a:solidFill>
            <a:ln>
              <a:noFill/>
            </a:ln>
          </p:spPr>
        </p:sp>
        <p:sp>
          <p:nvSpPr>
            <p:cNvPr id="15" name="TextBox 15"/>
            <p:cNvSpPr txBox="1"/>
            <p:nvPr/>
          </p:nvSpPr>
          <p:spPr>
            <a:xfrm>
              <a:off x="6495377" y="26324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市场细分</a:t>
              </a:r>
            </a:p>
          </p:txBody>
        </p:sp>
        <p:sp>
          <p:nvSpPr>
            <p:cNvPr id="16" name="Freeform 16"/>
            <p:cNvSpPr/>
            <p:nvPr/>
          </p:nvSpPr>
          <p:spPr>
            <a:xfrm>
              <a:off x="6918008" y="3040380"/>
              <a:ext cx="655035" cy="1298258"/>
            </a:xfrm>
            <a:custGeom>
              <a:avLst/>
              <a:gdLst/>
              <a:ahLst/>
              <a:cxnLst/>
              <a:rect l="l" t="t" r="r" b="b"/>
              <a:pathLst>
                <a:path w="655035" h="1298258">
                  <a:moveTo>
                    <a:pt x="461962" y="0"/>
                  </a:moveTo>
                  <a:cubicBezTo>
                    <a:pt x="655035" y="395526"/>
                    <a:pt x="655035" y="857964"/>
                    <a:pt x="461962" y="1253490"/>
                  </a:cubicBezTo>
                  <a:lnTo>
                    <a:pt x="138112" y="1298258"/>
                  </a:lnTo>
                  <a:lnTo>
                    <a:pt x="0" y="1027748"/>
                  </a:lnTo>
                  <a:cubicBezTo>
                    <a:pt x="123492" y="774674"/>
                    <a:pt x="123492" y="478816"/>
                    <a:pt x="0" y="225742"/>
                  </a:cubicBezTo>
                  <a:lnTo>
                    <a:pt x="298133" y="283845"/>
                  </a:lnTo>
                  <a:close/>
                </a:path>
              </a:pathLst>
            </a:custGeom>
            <a:solidFill>
              <a:srgbClr val="E94B2B"/>
            </a:solidFill>
            <a:ln>
              <a:noFill/>
            </a:ln>
          </p:spPr>
        </p:sp>
        <p:sp>
          <p:nvSpPr>
            <p:cNvPr id="17" name="TextBox 17"/>
            <p:cNvSpPr txBox="1"/>
            <p:nvPr/>
          </p:nvSpPr>
          <p:spPr>
            <a:xfrm>
              <a:off x="7009727" y="36897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组合分析</a:t>
              </a:r>
            </a:p>
          </p:txBody>
        </p:sp>
        <p:sp>
          <p:nvSpPr>
            <p:cNvPr id="18" name="Freeform 18"/>
            <p:cNvSpPr/>
            <p:nvPr/>
          </p:nvSpPr>
          <p:spPr>
            <a:xfrm>
              <a:off x="5994082" y="4178618"/>
              <a:ext cx="1286828" cy="913448"/>
            </a:xfrm>
            <a:custGeom>
              <a:avLst/>
              <a:gdLst/>
              <a:ahLst/>
              <a:cxnLst/>
              <a:rect l="l" t="t" r="r" b="b"/>
              <a:pathLst>
                <a:path w="1286828" h="913448">
                  <a:moveTo>
                    <a:pt x="1286828" y="287655"/>
                  </a:moveTo>
                  <a:cubicBezTo>
                    <a:pt x="1040763" y="652087"/>
                    <a:pt x="640594" y="882913"/>
                    <a:pt x="201930" y="913448"/>
                  </a:cubicBezTo>
                  <a:lnTo>
                    <a:pt x="0" y="655320"/>
                  </a:lnTo>
                  <a:lnTo>
                    <a:pt x="165735" y="401003"/>
                  </a:lnTo>
                  <a:cubicBezTo>
                    <a:pt x="446583" y="381357"/>
                    <a:pt x="702724" y="233435"/>
                    <a:pt x="860108" y="0"/>
                  </a:cubicBezTo>
                  <a:lnTo>
                    <a:pt x="959168" y="287655"/>
                  </a:lnTo>
                  <a:close/>
                </a:path>
              </a:pathLst>
            </a:custGeom>
            <a:solidFill>
              <a:srgbClr val="FF5B3A"/>
            </a:solidFill>
            <a:ln>
              <a:noFill/>
            </a:ln>
          </p:spPr>
        </p:sp>
        <p:sp>
          <p:nvSpPr>
            <p:cNvPr id="19" name="TextBox 19"/>
            <p:cNvSpPr txBox="1"/>
            <p:nvPr/>
          </p:nvSpPr>
          <p:spPr>
            <a:xfrm>
              <a:off x="6352502" y="466129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业务计划</a:t>
              </a:r>
            </a:p>
          </p:txBody>
        </p:sp>
        <p:sp>
          <p:nvSpPr>
            <p:cNvPr id="20" name="Freeform 20"/>
            <p:cNvSpPr/>
            <p:nvPr/>
          </p:nvSpPr>
          <p:spPr>
            <a:xfrm>
              <a:off x="4911090" y="4162425"/>
              <a:ext cx="1121093" cy="929640"/>
            </a:xfrm>
            <a:custGeom>
              <a:avLst/>
              <a:gdLst/>
              <a:ahLst/>
              <a:cxnLst/>
              <a:rect l="l" t="t" r="r" b="b"/>
              <a:pathLst>
                <a:path w="1121093" h="929640">
                  <a:moveTo>
                    <a:pt x="1084898" y="929640"/>
                  </a:moveTo>
                  <a:cubicBezTo>
                    <a:pt x="646233" y="899106"/>
                    <a:pt x="246064" y="668280"/>
                    <a:pt x="0" y="303847"/>
                  </a:cubicBezTo>
                  <a:lnTo>
                    <a:pt x="122873" y="0"/>
                  </a:lnTo>
                  <a:lnTo>
                    <a:pt x="426720" y="16192"/>
                  </a:lnTo>
                  <a:cubicBezTo>
                    <a:pt x="584103" y="249627"/>
                    <a:pt x="840245" y="397550"/>
                    <a:pt x="1121093" y="417195"/>
                  </a:cubicBezTo>
                  <a:lnTo>
                    <a:pt x="921068" y="645795"/>
                  </a:lnTo>
                  <a:close/>
                </a:path>
              </a:pathLst>
            </a:custGeom>
            <a:solidFill>
              <a:srgbClr val="E94B2B"/>
            </a:solidFill>
            <a:ln>
              <a:noFill/>
            </a:ln>
          </p:spPr>
        </p:sp>
        <p:sp>
          <p:nvSpPr>
            <p:cNvPr id="21" name="TextBox 21"/>
            <p:cNvSpPr txBox="1"/>
            <p:nvPr/>
          </p:nvSpPr>
          <p:spPr>
            <a:xfrm>
              <a:off x="5117656" y="4575572"/>
              <a:ext cx="6422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产品线规划</a:t>
              </a:r>
            </a:p>
          </p:txBody>
        </p:sp>
        <p:sp>
          <p:nvSpPr>
            <p:cNvPr id="22" name="Freeform 22"/>
            <p:cNvSpPr/>
            <p:nvPr/>
          </p:nvSpPr>
          <p:spPr>
            <a:xfrm>
              <a:off x="4618958" y="2995612"/>
              <a:ext cx="655035" cy="1298258"/>
            </a:xfrm>
            <a:custGeom>
              <a:avLst/>
              <a:gdLst/>
              <a:ahLst/>
              <a:cxnLst/>
              <a:rect l="l" t="t" r="r" b="b"/>
              <a:pathLst>
                <a:path w="655035" h="1298258">
                  <a:moveTo>
                    <a:pt x="193072" y="1298258"/>
                  </a:moveTo>
                  <a:cubicBezTo>
                    <a:pt x="0" y="902731"/>
                    <a:pt x="0" y="440294"/>
                    <a:pt x="193072" y="44767"/>
                  </a:cubicBezTo>
                  <a:lnTo>
                    <a:pt x="516922" y="0"/>
                  </a:lnTo>
                  <a:lnTo>
                    <a:pt x="655035" y="270510"/>
                  </a:lnTo>
                  <a:cubicBezTo>
                    <a:pt x="531543" y="523584"/>
                    <a:pt x="531543" y="819441"/>
                    <a:pt x="655035" y="1072515"/>
                  </a:cubicBezTo>
                  <a:lnTo>
                    <a:pt x="356902" y="1014412"/>
                  </a:lnTo>
                  <a:close/>
                </a:path>
              </a:pathLst>
            </a:custGeom>
            <a:solidFill>
              <a:srgbClr val="FF5B3A"/>
            </a:solidFill>
            <a:ln>
              <a:noFill/>
            </a:ln>
          </p:spPr>
        </p:sp>
        <p:sp>
          <p:nvSpPr>
            <p:cNvPr id="23" name="TextBox 23"/>
            <p:cNvSpPr txBox="1"/>
            <p:nvPr/>
          </p:nvSpPr>
          <p:spPr>
            <a:xfrm>
              <a:off x="4666577" y="351829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业务计划</a:t>
              </a:r>
            </a:p>
          </p:txBody>
        </p:sp>
        <p:sp>
          <p:nvSpPr>
            <p:cNvPr id="24" name="Ellipse 24"/>
            <p:cNvSpPr/>
            <p:nvPr/>
          </p:nvSpPr>
          <p:spPr>
            <a:xfrm>
              <a:off x="5314950" y="2886075"/>
              <a:ext cx="1562100" cy="1562100"/>
            </a:xfrm>
            <a:prstGeom prst="ellipse">
              <a:avLst/>
            </a:prstGeom>
            <a:gradFill>
              <a:gsLst>
                <a:gs pos="0">
                  <a:srgbClr val="F2745A"/>
                </a:gs>
                <a:gs pos="100000">
                  <a:srgbClr val="C83B1E"/>
                </a:gs>
              </a:gsLst>
              <a:path path="circle">
                <a:fillToRect l="40000" t="35000" r="60000" b="65000"/>
              </a:path>
            </a:gradFill>
            <a:ln>
              <a:noFill/>
            </a:ln>
          </p:spPr>
        </p:sp>
        <p:sp>
          <p:nvSpPr>
            <p:cNvPr id="25" name="TextBox 25"/>
            <p:cNvSpPr txBox="1"/>
            <p:nvPr/>
          </p:nvSpPr>
          <p:spPr>
            <a:xfrm>
              <a:off x="5668518" y="3422332"/>
              <a:ext cx="854964" cy="608457"/>
            </a:xfrm>
            <a:prstGeom prst="rect">
              <a:avLst/>
            </a:prstGeom>
            <a:noFill/>
            <a:ln>
              <a:noFill/>
            </a:ln>
          </p:spPr>
          <p:txBody>
            <a:bodyPr wrap="none" lIns="0" tIns="0" rIns="0" bIns="0" anchor="t" anchorCtr="0">
              <a:spAutoFit/>
            </a:bodyPr>
            <a:lstStyle/>
            <a:p>
              <a:pPr algn="ctr">
                <a:lnSpc>
                  <a:spcPts val="2250"/>
                </a:lnSpc>
              </a:pPr>
              <a:r>
                <a:rPr lang="zh-CN" sz="1650" b="1" dirty="0">
                  <a:solidFill>
                    <a:srgbClr val="FFFFFF"/>
                  </a:solidFill>
                  <a:latin typeface="+mn-lt"/>
                  <a:ea typeface="+mn-ea"/>
                  <a:cs typeface="+mn-cs"/>
                </a:rPr>
                <a:t>市场及</a:t>
              </a:r>
              <a:br/>
              <a:r>
                <a:rPr lang="zh-CN" sz="1650" b="1" dirty="0">
                  <a:solidFill>
                    <a:srgbClr val="FFFFFF"/>
                  </a:solidFill>
                  <a:latin typeface="+mn-lt"/>
                  <a:ea typeface="+mn-ea"/>
                  <a:cs typeface="+mn-cs"/>
                </a:rPr>
                <a:t>客户需求</a:t>
              </a:r>
            </a:p>
          </p:txBody>
        </p:sp>
      </p:grpSp>
      <p:grpSp>
        <p:nvGrpSpPr>
          <p:cNvPr id="37" name="note-vision"/>
          <p:cNvGrpSpPr/>
          <p:nvPr/>
        </p:nvGrpSpPr>
        <p:grpSpPr>
          <a:xfrm>
            <a:off x="876300" y="1543050"/>
            <a:ext cx="2457450" cy="682228"/>
            <a:chOff x="876300" y="1543050"/>
            <a:chExt cx="2457450" cy="682228"/>
          </a:xfrm>
        </p:grpSpPr>
        <p:sp>
          <p:nvSpPr>
            <p:cNvPr id="27" name="Ellipse 27"/>
            <p:cNvSpPr/>
            <p:nvPr/>
          </p:nvSpPr>
          <p:spPr>
            <a:xfrm>
              <a:off x="2686050" y="1543050"/>
              <a:ext cx="647700" cy="647700"/>
            </a:xfrm>
            <a:prstGeom prst="ellipse">
              <a:avLst/>
            </a:prstGeom>
            <a:solidFill>
              <a:srgbClr val="FFFFFF"/>
            </a:solidFill>
            <a:ln>
              <a:noFill/>
            </a:ln>
          </p:spPr>
        </p:sp>
        <p:grpSp>
          <p:nvGrpSpPr>
            <p:cNvPr id="30" name="Group 30"/>
            <p:cNvGrpSpPr/>
            <p:nvPr/>
          </p:nvGrpSpPr>
          <p:grpSpPr>
            <a:xfrm>
              <a:off x="2881312" y="1738312"/>
              <a:ext cx="257175" cy="257175"/>
              <a:chOff x="2881312" y="1738312"/>
              <a:chExt cx="257175" cy="257175"/>
            </a:xfrm>
          </p:grpSpPr>
          <p:sp>
            <p:nvSpPr>
              <p:cNvPr id="28" name="Freeform 28"/>
              <p:cNvSpPr/>
              <p:nvPr/>
            </p:nvSpPr>
            <p:spPr>
              <a:xfrm>
                <a:off x="2881312" y="1738312"/>
                <a:ext cx="200025" cy="200025"/>
              </a:xfrm>
              <a:custGeom>
                <a:avLst/>
                <a:gdLst/>
                <a:ahLst/>
                <a:cxnLst/>
                <a:rect l="l" t="t" r="r" b="b"/>
                <a:pathLst>
                  <a:path w="200025" h="200025">
                    <a:moveTo>
                      <a:pt x="0" y="100012"/>
                    </a:moveTo>
                    <a:cubicBezTo>
                      <a:pt x="0" y="155248"/>
                      <a:pt x="44777" y="200025"/>
                      <a:pt x="100012" y="200025"/>
                    </a:cubicBezTo>
                    <a:cubicBezTo>
                      <a:pt x="155248" y="200025"/>
                      <a:pt x="200025" y="155248"/>
                      <a:pt x="200025" y="100012"/>
                    </a:cubicBezTo>
                    <a:cubicBezTo>
                      <a:pt x="200025" y="44777"/>
                      <a:pt x="155248" y="0"/>
                      <a:pt x="100012" y="0"/>
                    </a:cubicBezTo>
                    <a:cubicBezTo>
                      <a:pt x="44777" y="0"/>
                      <a:pt x="0" y="44777"/>
                      <a:pt x="0" y="100012"/>
                    </a:cubicBezTo>
                  </a:path>
                </a:pathLst>
              </a:custGeom>
              <a:noFill/>
              <a:ln w="28575">
                <a:solidFill>
                  <a:srgbClr val="E94B2B"/>
                </a:solidFill>
              </a:ln>
            </p:spPr>
          </p:sp>
          <p:sp>
            <p:nvSpPr>
              <p:cNvPr id="29" name="Freeform 29"/>
              <p:cNvSpPr/>
              <p:nvPr/>
            </p:nvSpPr>
            <p:spPr>
              <a:xfrm>
                <a:off x="3052762" y="1909762"/>
                <a:ext cx="85725" cy="85725"/>
              </a:xfrm>
              <a:custGeom>
                <a:avLst/>
                <a:gdLst/>
                <a:ahLst/>
                <a:cxnLst/>
                <a:rect l="l" t="t" r="r" b="b"/>
                <a:pathLst>
                  <a:path w="85725" h="85725">
                    <a:moveTo>
                      <a:pt x="85725" y="85725"/>
                    </a:moveTo>
                    <a:lnTo>
                      <a:pt x="0" y="0"/>
                    </a:lnTo>
                  </a:path>
                </a:pathLst>
              </a:custGeom>
              <a:noFill/>
              <a:ln w="28575">
                <a:solidFill>
                  <a:srgbClr val="E94B2B"/>
                </a:solidFill>
              </a:ln>
            </p:spPr>
          </p:sp>
        </p:grpSp>
        <p:sp>
          <p:nvSpPr>
            <p:cNvPr id="31" name="Rectangle 31"/>
            <p:cNvSpPr/>
            <p:nvPr/>
          </p:nvSpPr>
          <p:spPr>
            <a:xfrm>
              <a:off x="876300" y="1619250"/>
              <a:ext cx="57150" cy="57150"/>
            </a:xfrm>
            <a:prstGeom prst="rect">
              <a:avLst/>
            </a:prstGeom>
            <a:solidFill>
              <a:srgbClr val="E94B2B"/>
            </a:solidFill>
            <a:ln>
              <a:noFill/>
            </a:ln>
          </p:spPr>
        </p:sp>
        <p:sp>
          <p:nvSpPr>
            <p:cNvPr id="32" name="TextBox 32"/>
            <p:cNvSpPr txBox="1"/>
            <p:nvPr/>
          </p:nvSpPr>
          <p:spPr>
            <a:xfrm>
              <a:off x="1004888" y="1584722"/>
              <a:ext cx="1274953"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设定愿景、使命和目标</a:t>
              </a:r>
            </a:p>
          </p:txBody>
        </p:sp>
        <p:sp>
          <p:nvSpPr>
            <p:cNvPr id="33" name="Rectangle 33"/>
            <p:cNvSpPr/>
            <p:nvPr/>
          </p:nvSpPr>
          <p:spPr>
            <a:xfrm>
              <a:off x="876300" y="1847850"/>
              <a:ext cx="57150" cy="57150"/>
            </a:xfrm>
            <a:prstGeom prst="rect">
              <a:avLst/>
            </a:prstGeom>
            <a:solidFill>
              <a:srgbClr val="E94B2B"/>
            </a:solidFill>
            <a:ln>
              <a:noFill/>
            </a:ln>
          </p:spPr>
        </p:sp>
        <p:sp>
          <p:nvSpPr>
            <p:cNvPr id="34" name="TextBox 34"/>
            <p:cNvSpPr txBox="1"/>
            <p:nvPr/>
          </p:nvSpPr>
          <p:spPr>
            <a:xfrm>
              <a:off x="1004888" y="1813322"/>
              <a:ext cx="1021867"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驱动对市场的分析</a:t>
              </a:r>
            </a:p>
          </p:txBody>
        </p:sp>
        <p:sp>
          <p:nvSpPr>
            <p:cNvPr id="35" name="Rectangle 35"/>
            <p:cNvSpPr/>
            <p:nvPr/>
          </p:nvSpPr>
          <p:spPr>
            <a:xfrm>
              <a:off x="876300" y="2076450"/>
              <a:ext cx="57150" cy="57150"/>
            </a:xfrm>
            <a:prstGeom prst="rect">
              <a:avLst/>
            </a:prstGeom>
            <a:solidFill>
              <a:srgbClr val="E94B2B"/>
            </a:solidFill>
            <a:ln>
              <a:noFill/>
            </a:ln>
          </p:spPr>
        </p:sp>
        <p:sp>
          <p:nvSpPr>
            <p:cNvPr id="36" name="TextBox 36"/>
            <p:cNvSpPr txBox="1"/>
            <p:nvPr/>
          </p:nvSpPr>
          <p:spPr>
            <a:xfrm>
              <a:off x="1004888" y="2041922"/>
              <a:ext cx="1274953"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确定潜在的机会和目标</a:t>
              </a:r>
            </a:p>
          </p:txBody>
        </p:sp>
      </p:grpSp>
      <p:grpSp>
        <p:nvGrpSpPr>
          <p:cNvPr id="50" name="note-segment"/>
          <p:cNvGrpSpPr/>
          <p:nvPr/>
        </p:nvGrpSpPr>
        <p:grpSpPr>
          <a:xfrm>
            <a:off x="8858250" y="1543050"/>
            <a:ext cx="2292084" cy="682228"/>
            <a:chOff x="8858250" y="1543050"/>
            <a:chExt cx="2292084" cy="682228"/>
          </a:xfrm>
        </p:grpSpPr>
        <p:sp>
          <p:nvSpPr>
            <p:cNvPr id="38" name="Ellipse 38"/>
            <p:cNvSpPr/>
            <p:nvPr/>
          </p:nvSpPr>
          <p:spPr>
            <a:xfrm>
              <a:off x="8858250" y="1543050"/>
              <a:ext cx="647700" cy="647700"/>
            </a:xfrm>
            <a:prstGeom prst="ellipse">
              <a:avLst/>
            </a:prstGeom>
            <a:solidFill>
              <a:srgbClr val="FFFFFF"/>
            </a:solidFill>
            <a:ln>
              <a:noFill/>
            </a:ln>
          </p:spPr>
        </p:sp>
        <p:grpSp>
          <p:nvGrpSpPr>
            <p:cNvPr id="43" name="Group 43"/>
            <p:cNvGrpSpPr/>
            <p:nvPr/>
          </p:nvGrpSpPr>
          <p:grpSpPr>
            <a:xfrm>
              <a:off x="9067800" y="1738312"/>
              <a:ext cx="228600" cy="257176"/>
              <a:chOff x="9067800" y="1738312"/>
              <a:chExt cx="228600" cy="257176"/>
            </a:xfrm>
          </p:grpSpPr>
          <p:sp>
            <p:nvSpPr>
              <p:cNvPr id="39" name="Freeform 39"/>
              <p:cNvSpPr/>
              <p:nvPr/>
            </p:nvSpPr>
            <p:spPr>
              <a:xfrm>
                <a:off x="9067800" y="1938338"/>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E94B2B"/>
                </a:solidFill>
              </a:ln>
            </p:spPr>
          </p:sp>
          <p:sp>
            <p:nvSpPr>
              <p:cNvPr id="40" name="Freeform 40"/>
              <p:cNvSpPr/>
              <p:nvPr/>
            </p:nvSpPr>
            <p:spPr>
              <a:xfrm>
                <a:off x="9224962" y="1938338"/>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E94B2B"/>
                </a:solidFill>
              </a:ln>
            </p:spPr>
          </p:sp>
          <p:sp>
            <p:nvSpPr>
              <p:cNvPr id="41" name="Freeform 41"/>
              <p:cNvSpPr/>
              <p:nvPr/>
            </p:nvSpPr>
            <p:spPr>
              <a:xfrm>
                <a:off x="9067800" y="1738312"/>
                <a:ext cx="185738" cy="200025"/>
              </a:xfrm>
              <a:custGeom>
                <a:avLst/>
                <a:gdLst/>
                <a:ahLst/>
                <a:cxnLst/>
                <a:rect l="l" t="t" r="r" b="b"/>
                <a:pathLst>
                  <a:path w="185738" h="200025">
                    <a:moveTo>
                      <a:pt x="185738" y="200025"/>
                    </a:moveTo>
                    <a:lnTo>
                      <a:pt x="28575" y="200025"/>
                    </a:lnTo>
                    <a:lnTo>
                      <a:pt x="28575" y="0"/>
                    </a:lnTo>
                    <a:lnTo>
                      <a:pt x="0" y="0"/>
                    </a:lnTo>
                  </a:path>
                </a:pathLst>
              </a:custGeom>
              <a:noFill/>
              <a:ln w="28575">
                <a:solidFill>
                  <a:srgbClr val="E94B2B"/>
                </a:solidFill>
              </a:ln>
            </p:spPr>
          </p:sp>
          <p:sp>
            <p:nvSpPr>
              <p:cNvPr id="42" name="Freeform 42"/>
              <p:cNvSpPr/>
              <p:nvPr/>
            </p:nvSpPr>
            <p:spPr>
              <a:xfrm>
                <a:off x="9096375" y="1766888"/>
                <a:ext cx="200025" cy="114300"/>
              </a:xfrm>
              <a:custGeom>
                <a:avLst/>
                <a:gdLst/>
                <a:ahLst/>
                <a:cxnLst/>
                <a:rect l="l" t="t" r="r" b="b"/>
                <a:pathLst>
                  <a:path w="200025" h="114300">
                    <a:moveTo>
                      <a:pt x="0" y="0"/>
                    </a:moveTo>
                    <a:lnTo>
                      <a:pt x="200025" y="14288"/>
                    </a:lnTo>
                    <a:lnTo>
                      <a:pt x="185738" y="114300"/>
                    </a:lnTo>
                    <a:lnTo>
                      <a:pt x="0" y="114300"/>
                    </a:lnTo>
                  </a:path>
                </a:pathLst>
              </a:custGeom>
              <a:noFill/>
              <a:ln w="28575">
                <a:solidFill>
                  <a:srgbClr val="E94B2B"/>
                </a:solidFill>
              </a:ln>
            </p:spPr>
          </p:sp>
        </p:grpSp>
        <p:sp>
          <p:nvSpPr>
            <p:cNvPr id="44" name="Rectangle 44"/>
            <p:cNvSpPr/>
            <p:nvPr/>
          </p:nvSpPr>
          <p:spPr>
            <a:xfrm>
              <a:off x="9620250" y="1619250"/>
              <a:ext cx="57150" cy="57150"/>
            </a:xfrm>
            <a:prstGeom prst="rect">
              <a:avLst/>
            </a:prstGeom>
            <a:solidFill>
              <a:srgbClr val="E94B2B"/>
            </a:solidFill>
            <a:ln>
              <a:noFill/>
            </a:ln>
          </p:spPr>
        </p:sp>
        <p:sp>
          <p:nvSpPr>
            <p:cNvPr id="45" name="TextBox 45"/>
            <p:cNvSpPr txBox="1"/>
            <p:nvPr/>
          </p:nvSpPr>
          <p:spPr>
            <a:xfrm>
              <a:off x="9748838" y="1584722"/>
              <a:ext cx="1021867"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确定市场细分结构</a:t>
              </a:r>
            </a:p>
          </p:txBody>
        </p:sp>
        <p:sp>
          <p:nvSpPr>
            <p:cNvPr id="46" name="Rectangle 46"/>
            <p:cNvSpPr/>
            <p:nvPr/>
          </p:nvSpPr>
          <p:spPr>
            <a:xfrm>
              <a:off x="9620250" y="1847850"/>
              <a:ext cx="57150" cy="57150"/>
            </a:xfrm>
            <a:prstGeom prst="rect">
              <a:avLst/>
            </a:prstGeom>
            <a:solidFill>
              <a:srgbClr val="E94B2B"/>
            </a:solidFill>
            <a:ln>
              <a:noFill/>
            </a:ln>
          </p:spPr>
        </p:sp>
        <p:sp>
          <p:nvSpPr>
            <p:cNvPr id="47" name="TextBox 47"/>
            <p:cNvSpPr txBox="1"/>
            <p:nvPr/>
          </p:nvSpPr>
          <p:spPr>
            <a:xfrm>
              <a:off x="9748838" y="1813322"/>
              <a:ext cx="1401496"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确定初步的目标细分市场</a:t>
              </a:r>
            </a:p>
          </p:txBody>
        </p:sp>
        <p:sp>
          <p:nvSpPr>
            <p:cNvPr id="48" name="Rectangle 48"/>
            <p:cNvSpPr/>
            <p:nvPr/>
          </p:nvSpPr>
          <p:spPr>
            <a:xfrm>
              <a:off x="9620250" y="2076450"/>
              <a:ext cx="57150" cy="57150"/>
            </a:xfrm>
            <a:prstGeom prst="rect">
              <a:avLst/>
            </a:prstGeom>
            <a:solidFill>
              <a:srgbClr val="E94B2B"/>
            </a:solidFill>
            <a:ln>
              <a:noFill/>
            </a:ln>
          </p:spPr>
        </p:sp>
        <p:sp>
          <p:nvSpPr>
            <p:cNvPr id="49" name="TextBox 49"/>
            <p:cNvSpPr txBox="1"/>
            <p:nvPr/>
          </p:nvSpPr>
          <p:spPr>
            <a:xfrm>
              <a:off x="9748838" y="2041922"/>
              <a:ext cx="768782"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目标细分市场</a:t>
              </a:r>
            </a:p>
          </p:txBody>
        </p:sp>
      </p:grpSp>
      <p:grpSp>
        <p:nvGrpSpPr>
          <p:cNvPr id="62" name="note-execute"/>
          <p:cNvGrpSpPr/>
          <p:nvPr/>
        </p:nvGrpSpPr>
        <p:grpSpPr>
          <a:xfrm>
            <a:off x="685800" y="3448050"/>
            <a:ext cx="2647950" cy="682228"/>
            <a:chOff x="685800" y="3448050"/>
            <a:chExt cx="2647950" cy="682228"/>
          </a:xfrm>
        </p:grpSpPr>
        <p:sp>
          <p:nvSpPr>
            <p:cNvPr id="51" name="Ellipse 51"/>
            <p:cNvSpPr/>
            <p:nvPr/>
          </p:nvSpPr>
          <p:spPr>
            <a:xfrm>
              <a:off x="2686050" y="3448050"/>
              <a:ext cx="647700" cy="647700"/>
            </a:xfrm>
            <a:prstGeom prst="ellipse">
              <a:avLst/>
            </a:prstGeom>
            <a:solidFill>
              <a:srgbClr val="FFFFFF"/>
            </a:solidFill>
            <a:ln>
              <a:noFill/>
            </a:ln>
          </p:spPr>
        </p:sp>
        <p:grpSp>
          <p:nvGrpSpPr>
            <p:cNvPr id="55" name="Group 55"/>
            <p:cNvGrpSpPr/>
            <p:nvPr/>
          </p:nvGrpSpPr>
          <p:grpSpPr>
            <a:xfrm>
              <a:off x="2881312" y="3643312"/>
              <a:ext cx="257175" cy="257175"/>
              <a:chOff x="2881312" y="3643312"/>
              <a:chExt cx="257175" cy="257175"/>
            </a:xfrm>
          </p:grpSpPr>
          <p:sp>
            <p:nvSpPr>
              <p:cNvPr id="52" name="Freeform 52"/>
              <p:cNvSpPr/>
              <p:nvPr/>
            </p:nvSpPr>
            <p:spPr>
              <a:xfrm>
                <a:off x="2881312" y="3643312"/>
                <a:ext cx="257175" cy="128588"/>
              </a:xfrm>
              <a:custGeom>
                <a:avLst/>
                <a:gdLst/>
                <a:ahLst/>
                <a:cxnLst/>
                <a:rect l="l" t="t" r="r" b="b"/>
                <a:pathLst>
                  <a:path w="257175" h="128588">
                    <a:moveTo>
                      <a:pt x="0" y="128588"/>
                    </a:moveTo>
                    <a:lnTo>
                      <a:pt x="14288" y="128588"/>
                    </a:lnTo>
                    <a:moveTo>
                      <a:pt x="128588" y="0"/>
                    </a:moveTo>
                    <a:lnTo>
                      <a:pt x="128588" y="14288"/>
                    </a:lnTo>
                    <a:moveTo>
                      <a:pt x="242888" y="128588"/>
                    </a:moveTo>
                    <a:lnTo>
                      <a:pt x="257175" y="128588"/>
                    </a:lnTo>
                    <a:moveTo>
                      <a:pt x="37147" y="37147"/>
                    </a:moveTo>
                    <a:lnTo>
                      <a:pt x="47149" y="47149"/>
                    </a:lnTo>
                    <a:moveTo>
                      <a:pt x="220028" y="37147"/>
                    </a:moveTo>
                    <a:lnTo>
                      <a:pt x="210026" y="47149"/>
                    </a:lnTo>
                  </a:path>
                </a:pathLst>
              </a:custGeom>
              <a:noFill/>
              <a:ln w="28575">
                <a:solidFill>
                  <a:srgbClr val="E94B2B"/>
                </a:solidFill>
              </a:ln>
            </p:spPr>
          </p:sp>
          <p:sp>
            <p:nvSpPr>
              <p:cNvPr id="53" name="Freeform 53"/>
              <p:cNvSpPr/>
              <p:nvPr/>
            </p:nvSpPr>
            <p:spPr>
              <a:xfrm>
                <a:off x="2932405" y="3700462"/>
                <a:ext cx="154990" cy="200025"/>
              </a:xfrm>
              <a:custGeom>
                <a:avLst/>
                <a:gdLst/>
                <a:ahLst/>
                <a:cxnLst/>
                <a:rect l="l" t="t" r="r" b="b"/>
                <a:pathLst>
                  <a:path w="154990" h="200025">
                    <a:moveTo>
                      <a:pt x="34633" y="128588"/>
                    </a:moveTo>
                    <a:cubicBezTo>
                      <a:pt x="10034" y="110138"/>
                      <a:pt x="0" y="78018"/>
                      <a:pt x="9724" y="48847"/>
                    </a:cubicBezTo>
                    <a:cubicBezTo>
                      <a:pt x="19447" y="19676"/>
                      <a:pt x="46746" y="0"/>
                      <a:pt x="77495" y="0"/>
                    </a:cubicBezTo>
                    <a:cubicBezTo>
                      <a:pt x="108244" y="0"/>
                      <a:pt x="135543" y="19676"/>
                      <a:pt x="145267" y="48847"/>
                    </a:cubicBezTo>
                    <a:cubicBezTo>
                      <a:pt x="154990" y="78018"/>
                      <a:pt x="144957" y="110138"/>
                      <a:pt x="120358" y="128588"/>
                    </a:cubicBezTo>
                    <a:cubicBezTo>
                      <a:pt x="109044" y="139786"/>
                      <a:pt x="103739" y="155703"/>
                      <a:pt x="106070" y="171450"/>
                    </a:cubicBezTo>
                    <a:cubicBezTo>
                      <a:pt x="106070" y="187232"/>
                      <a:pt x="93277" y="200025"/>
                      <a:pt x="77495" y="200025"/>
                    </a:cubicBezTo>
                    <a:cubicBezTo>
                      <a:pt x="61714" y="200025"/>
                      <a:pt x="48920" y="187232"/>
                      <a:pt x="48920" y="171450"/>
                    </a:cubicBezTo>
                    <a:cubicBezTo>
                      <a:pt x="51252" y="155703"/>
                      <a:pt x="45946" y="139786"/>
                      <a:pt x="34633" y="128588"/>
                    </a:cubicBezTo>
                  </a:path>
                </a:pathLst>
              </a:custGeom>
              <a:noFill/>
              <a:ln w="28575">
                <a:solidFill>
                  <a:srgbClr val="E94B2B"/>
                </a:solidFill>
              </a:ln>
            </p:spPr>
          </p:sp>
          <p:sp>
            <p:nvSpPr>
              <p:cNvPr id="54" name="Freeform 54"/>
              <p:cNvSpPr/>
              <p:nvPr/>
            </p:nvSpPr>
            <p:spPr>
              <a:xfrm>
                <a:off x="2977039" y="3843338"/>
                <a:ext cx="65722" cy="9525"/>
              </a:xfrm>
              <a:custGeom>
                <a:avLst/>
                <a:gdLst/>
                <a:ahLst/>
                <a:cxnLst/>
                <a:rect l="l" t="t" r="r" b="b"/>
                <a:pathLst>
                  <a:path w="65722" h="9525">
                    <a:moveTo>
                      <a:pt x="0" y="0"/>
                    </a:moveTo>
                    <a:lnTo>
                      <a:pt x="65722" y="0"/>
                    </a:lnTo>
                  </a:path>
                </a:pathLst>
              </a:custGeom>
              <a:noFill/>
              <a:ln w="28575">
                <a:solidFill>
                  <a:srgbClr val="E94B2B"/>
                </a:solidFill>
              </a:ln>
            </p:spPr>
          </p:sp>
        </p:grpSp>
        <p:sp>
          <p:nvSpPr>
            <p:cNvPr id="56" name="Rectangle 56"/>
            <p:cNvSpPr/>
            <p:nvPr/>
          </p:nvSpPr>
          <p:spPr>
            <a:xfrm>
              <a:off x="685800" y="3524250"/>
              <a:ext cx="57150" cy="57150"/>
            </a:xfrm>
            <a:prstGeom prst="rect">
              <a:avLst/>
            </a:prstGeom>
            <a:solidFill>
              <a:srgbClr val="E94B2B"/>
            </a:solidFill>
            <a:ln>
              <a:noFill/>
            </a:ln>
          </p:spPr>
        </p:sp>
        <p:sp>
          <p:nvSpPr>
            <p:cNvPr id="57" name="TextBox 57"/>
            <p:cNvSpPr txBox="1"/>
            <p:nvPr/>
          </p:nvSpPr>
          <p:spPr>
            <a:xfrm>
              <a:off x="814388" y="3489722"/>
              <a:ext cx="1148410"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确保业务计划的执行</a:t>
              </a:r>
            </a:p>
          </p:txBody>
        </p:sp>
        <p:sp>
          <p:nvSpPr>
            <p:cNvPr id="58" name="Rectangle 58"/>
            <p:cNvSpPr/>
            <p:nvPr/>
          </p:nvSpPr>
          <p:spPr>
            <a:xfrm>
              <a:off x="685800" y="3752850"/>
              <a:ext cx="57150" cy="57150"/>
            </a:xfrm>
            <a:prstGeom prst="rect">
              <a:avLst/>
            </a:prstGeom>
            <a:solidFill>
              <a:srgbClr val="E94B2B"/>
            </a:solidFill>
            <a:ln>
              <a:noFill/>
            </a:ln>
          </p:spPr>
        </p:sp>
        <p:sp>
          <p:nvSpPr>
            <p:cNvPr id="59" name="TextBox 59"/>
            <p:cNvSpPr txBox="1"/>
            <p:nvPr/>
          </p:nvSpPr>
          <p:spPr>
            <a:xfrm>
              <a:off x="814388" y="3718322"/>
              <a:ext cx="1274953"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评估业务和流程的表现</a:t>
              </a:r>
            </a:p>
          </p:txBody>
        </p:sp>
        <p:sp>
          <p:nvSpPr>
            <p:cNvPr id="60" name="Rectangle 60"/>
            <p:cNvSpPr/>
            <p:nvPr/>
          </p:nvSpPr>
          <p:spPr>
            <a:xfrm>
              <a:off x="685800" y="3981450"/>
              <a:ext cx="57150" cy="57150"/>
            </a:xfrm>
            <a:prstGeom prst="rect">
              <a:avLst/>
            </a:prstGeom>
            <a:solidFill>
              <a:srgbClr val="E94B2B"/>
            </a:solidFill>
            <a:ln>
              <a:noFill/>
            </a:ln>
          </p:spPr>
        </p:sp>
        <p:sp>
          <p:nvSpPr>
            <p:cNvPr id="61" name="TextBox 61"/>
            <p:cNvSpPr txBox="1"/>
            <p:nvPr/>
          </p:nvSpPr>
          <p:spPr>
            <a:xfrm>
              <a:off x="814388" y="3946922"/>
              <a:ext cx="1148410"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对业务计划进行修改</a:t>
              </a:r>
            </a:p>
          </p:txBody>
        </p:sp>
      </p:grpSp>
      <p:grpSp>
        <p:nvGrpSpPr>
          <p:cNvPr id="79" name="note-analysis"/>
          <p:cNvGrpSpPr/>
          <p:nvPr/>
        </p:nvGrpSpPr>
        <p:grpSpPr>
          <a:xfrm>
            <a:off x="8858250" y="3394472"/>
            <a:ext cx="2038998" cy="869156"/>
            <a:chOff x="8858250" y="3394472"/>
            <a:chExt cx="2038998" cy="869156"/>
          </a:xfrm>
        </p:grpSpPr>
        <p:sp>
          <p:nvSpPr>
            <p:cNvPr id="63" name="Ellipse 63"/>
            <p:cNvSpPr/>
            <p:nvPr/>
          </p:nvSpPr>
          <p:spPr>
            <a:xfrm>
              <a:off x="8858250" y="3467100"/>
              <a:ext cx="647700" cy="647700"/>
            </a:xfrm>
            <a:prstGeom prst="ellipse">
              <a:avLst/>
            </a:prstGeom>
            <a:solidFill>
              <a:srgbClr val="FFFFFF"/>
            </a:solidFill>
            <a:ln>
              <a:noFill/>
            </a:ln>
          </p:spPr>
        </p:sp>
        <p:grpSp>
          <p:nvGrpSpPr>
            <p:cNvPr id="70" name="Group 70"/>
            <p:cNvGrpSpPr/>
            <p:nvPr/>
          </p:nvGrpSpPr>
          <p:grpSpPr>
            <a:xfrm>
              <a:off x="9053512" y="3662362"/>
              <a:ext cx="257176" cy="257175"/>
              <a:chOff x="9053512" y="3662362"/>
              <a:chExt cx="257176" cy="257175"/>
            </a:xfrm>
          </p:grpSpPr>
          <p:sp>
            <p:nvSpPr>
              <p:cNvPr id="64" name="Freeform 64"/>
              <p:cNvSpPr/>
              <p:nvPr/>
            </p:nvSpPr>
            <p:spPr>
              <a:xfrm>
                <a:off x="9153525" y="37766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E94B2B"/>
                </a:solidFill>
              </a:ln>
            </p:spPr>
          </p:sp>
          <p:sp>
            <p:nvSpPr>
              <p:cNvPr id="65" name="Freeform 65"/>
              <p:cNvSpPr/>
              <p:nvPr/>
            </p:nvSpPr>
            <p:spPr>
              <a:xfrm>
                <a:off x="9124950" y="3876675"/>
                <a:ext cx="114300" cy="42862"/>
              </a:xfrm>
              <a:custGeom>
                <a:avLst/>
                <a:gdLst/>
                <a:ahLst/>
                <a:cxnLst/>
                <a:rect l="l" t="t" r="r" b="b"/>
                <a:pathLst>
                  <a:path w="114300" h="42862">
                    <a:moveTo>
                      <a:pt x="0" y="42862"/>
                    </a:moveTo>
                    <a:lnTo>
                      <a:pt x="0" y="28575"/>
                    </a:lnTo>
                    <a:cubicBezTo>
                      <a:pt x="0" y="12793"/>
                      <a:pt x="12793" y="0"/>
                      <a:pt x="28575" y="0"/>
                    </a:cubicBezTo>
                    <a:lnTo>
                      <a:pt x="85725" y="0"/>
                    </a:lnTo>
                    <a:cubicBezTo>
                      <a:pt x="101507" y="0"/>
                      <a:pt x="114300" y="12793"/>
                      <a:pt x="114300" y="28575"/>
                    </a:cubicBezTo>
                    <a:lnTo>
                      <a:pt x="114300" y="42862"/>
                    </a:lnTo>
                  </a:path>
                </a:pathLst>
              </a:custGeom>
              <a:noFill/>
              <a:ln w="28575">
                <a:solidFill>
                  <a:srgbClr val="E94B2B"/>
                </a:solidFill>
              </a:ln>
            </p:spPr>
          </p:sp>
          <p:sp>
            <p:nvSpPr>
              <p:cNvPr id="66" name="Freeform 66"/>
              <p:cNvSpPr/>
              <p:nvPr/>
            </p:nvSpPr>
            <p:spPr>
              <a:xfrm>
                <a:off x="9224962" y="36623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E94B2B"/>
                </a:solidFill>
              </a:ln>
            </p:spPr>
          </p:sp>
          <p:sp>
            <p:nvSpPr>
              <p:cNvPr id="67" name="Freeform 67"/>
              <p:cNvSpPr/>
              <p:nvPr/>
            </p:nvSpPr>
            <p:spPr>
              <a:xfrm>
                <a:off x="9253538" y="3762375"/>
                <a:ext cx="57150" cy="42862"/>
              </a:xfrm>
              <a:custGeom>
                <a:avLst/>
                <a:gdLst/>
                <a:ahLst/>
                <a:cxnLst/>
                <a:rect l="l" t="t" r="r" b="b"/>
                <a:pathLst>
                  <a:path w="57150" h="42862">
                    <a:moveTo>
                      <a:pt x="0" y="0"/>
                    </a:moveTo>
                    <a:lnTo>
                      <a:pt x="28575" y="0"/>
                    </a:lnTo>
                    <a:cubicBezTo>
                      <a:pt x="44357" y="0"/>
                      <a:pt x="57150" y="12793"/>
                      <a:pt x="57150" y="28575"/>
                    </a:cubicBezTo>
                    <a:lnTo>
                      <a:pt x="57150" y="42862"/>
                    </a:lnTo>
                  </a:path>
                </a:pathLst>
              </a:custGeom>
              <a:noFill/>
              <a:ln w="28575">
                <a:solidFill>
                  <a:srgbClr val="E94B2B"/>
                </a:solidFill>
              </a:ln>
            </p:spPr>
          </p:sp>
          <p:sp>
            <p:nvSpPr>
              <p:cNvPr id="68" name="Freeform 68"/>
              <p:cNvSpPr/>
              <p:nvPr/>
            </p:nvSpPr>
            <p:spPr>
              <a:xfrm>
                <a:off x="9082088" y="36623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E94B2B"/>
                </a:solidFill>
              </a:ln>
            </p:spPr>
          </p:sp>
          <p:sp>
            <p:nvSpPr>
              <p:cNvPr id="69" name="Freeform 69"/>
              <p:cNvSpPr/>
              <p:nvPr/>
            </p:nvSpPr>
            <p:spPr>
              <a:xfrm>
                <a:off x="9053512" y="3762375"/>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28575">
                <a:solidFill>
                  <a:srgbClr val="E94B2B"/>
                </a:solidFill>
              </a:ln>
            </p:spPr>
          </p:sp>
        </p:grpSp>
        <p:sp>
          <p:nvSpPr>
            <p:cNvPr id="71" name="Rectangle 71"/>
            <p:cNvSpPr/>
            <p:nvPr/>
          </p:nvSpPr>
          <p:spPr>
            <a:xfrm>
              <a:off x="9620250" y="3429000"/>
              <a:ext cx="57150" cy="57150"/>
            </a:xfrm>
            <a:prstGeom prst="rect">
              <a:avLst/>
            </a:prstGeom>
            <a:solidFill>
              <a:srgbClr val="E94B2B"/>
            </a:solidFill>
            <a:ln>
              <a:noFill/>
            </a:ln>
          </p:spPr>
        </p:sp>
        <p:sp>
          <p:nvSpPr>
            <p:cNvPr id="72" name="TextBox 72"/>
            <p:cNvSpPr txBox="1"/>
            <p:nvPr/>
          </p:nvSpPr>
          <p:spPr>
            <a:xfrm>
              <a:off x="9748838" y="3394472"/>
              <a:ext cx="768782"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直接竞争分析</a:t>
              </a:r>
            </a:p>
          </p:txBody>
        </p:sp>
        <p:sp>
          <p:nvSpPr>
            <p:cNvPr id="73" name="Rectangle 73"/>
            <p:cNvSpPr/>
            <p:nvPr/>
          </p:nvSpPr>
          <p:spPr>
            <a:xfrm>
              <a:off x="9620250" y="3657600"/>
              <a:ext cx="57150" cy="57150"/>
            </a:xfrm>
            <a:prstGeom prst="rect">
              <a:avLst/>
            </a:prstGeom>
            <a:solidFill>
              <a:srgbClr val="E94B2B"/>
            </a:solidFill>
            <a:ln>
              <a:noFill/>
            </a:ln>
          </p:spPr>
        </p:sp>
        <p:sp>
          <p:nvSpPr>
            <p:cNvPr id="74" name="TextBox 74"/>
            <p:cNvSpPr txBox="1"/>
            <p:nvPr/>
          </p:nvSpPr>
          <p:spPr>
            <a:xfrm>
              <a:off x="9748838" y="3623072"/>
              <a:ext cx="768782"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审视战略定位</a:t>
              </a:r>
            </a:p>
          </p:txBody>
        </p:sp>
        <p:sp>
          <p:nvSpPr>
            <p:cNvPr id="75" name="Rectangle 75"/>
            <p:cNvSpPr/>
            <p:nvPr/>
          </p:nvSpPr>
          <p:spPr>
            <a:xfrm>
              <a:off x="9620250" y="3886200"/>
              <a:ext cx="57150" cy="57150"/>
            </a:xfrm>
            <a:prstGeom prst="rect">
              <a:avLst/>
            </a:prstGeom>
            <a:solidFill>
              <a:srgbClr val="E94B2B"/>
            </a:solidFill>
            <a:ln>
              <a:noFill/>
            </a:ln>
          </p:spPr>
        </p:sp>
        <p:sp>
          <p:nvSpPr>
            <p:cNvPr id="76" name="TextBox 76"/>
            <p:cNvSpPr txBox="1"/>
            <p:nvPr/>
          </p:nvSpPr>
          <p:spPr>
            <a:xfrm>
              <a:off x="9748838" y="3851672"/>
              <a:ext cx="768782"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审视财务分析</a:t>
              </a:r>
            </a:p>
          </p:txBody>
        </p:sp>
        <p:sp>
          <p:nvSpPr>
            <p:cNvPr id="77" name="Rectangle 77"/>
            <p:cNvSpPr/>
            <p:nvPr/>
          </p:nvSpPr>
          <p:spPr>
            <a:xfrm>
              <a:off x="9620250" y="4114800"/>
              <a:ext cx="57150" cy="57150"/>
            </a:xfrm>
            <a:prstGeom prst="rect">
              <a:avLst/>
            </a:prstGeom>
            <a:solidFill>
              <a:srgbClr val="E94B2B"/>
            </a:solidFill>
            <a:ln>
              <a:noFill/>
            </a:ln>
          </p:spPr>
        </p:sp>
        <p:sp>
          <p:nvSpPr>
            <p:cNvPr id="78" name="TextBox 78"/>
            <p:cNvSpPr txBox="1"/>
            <p:nvPr/>
          </p:nvSpPr>
          <p:spPr>
            <a:xfrm>
              <a:off x="9748838" y="4080272"/>
              <a:ext cx="1148410"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选择投资机会并排序</a:t>
              </a:r>
            </a:p>
          </p:txBody>
        </p:sp>
      </p:grpSp>
      <p:grpSp>
        <p:nvGrpSpPr>
          <p:cNvPr id="90" name="note-roadmap"/>
          <p:cNvGrpSpPr/>
          <p:nvPr/>
        </p:nvGrpSpPr>
        <p:grpSpPr>
          <a:xfrm>
            <a:off x="876300" y="5375672"/>
            <a:ext cx="2457450" cy="812006"/>
            <a:chOff x="876300" y="5375672"/>
            <a:chExt cx="2457450" cy="812006"/>
          </a:xfrm>
        </p:grpSpPr>
        <p:sp>
          <p:nvSpPr>
            <p:cNvPr id="80" name="Ellipse 80"/>
            <p:cNvSpPr/>
            <p:nvPr/>
          </p:nvSpPr>
          <p:spPr>
            <a:xfrm>
              <a:off x="2686050" y="5467350"/>
              <a:ext cx="647700" cy="647700"/>
            </a:xfrm>
            <a:prstGeom prst="ellipse">
              <a:avLst/>
            </a:prstGeom>
            <a:solidFill>
              <a:srgbClr val="FFFFFF"/>
            </a:solidFill>
            <a:ln>
              <a:noFill/>
            </a:ln>
          </p:spPr>
        </p:sp>
        <p:grpSp>
          <p:nvGrpSpPr>
            <p:cNvPr id="83" name="Group 83"/>
            <p:cNvGrpSpPr/>
            <p:nvPr/>
          </p:nvGrpSpPr>
          <p:grpSpPr>
            <a:xfrm>
              <a:off x="2881312" y="5719762"/>
              <a:ext cx="257175" cy="142875"/>
              <a:chOff x="2881312" y="5719762"/>
              <a:chExt cx="257175" cy="142875"/>
            </a:xfrm>
          </p:grpSpPr>
          <p:sp>
            <p:nvSpPr>
              <p:cNvPr id="81" name="Freeform 81"/>
              <p:cNvSpPr/>
              <p:nvPr/>
            </p:nvSpPr>
            <p:spPr>
              <a:xfrm>
                <a:off x="2881312" y="5719762"/>
                <a:ext cx="257175" cy="142875"/>
              </a:xfrm>
              <a:custGeom>
                <a:avLst/>
                <a:gdLst/>
                <a:ahLst/>
                <a:cxnLst/>
                <a:rect l="l" t="t" r="r" b="b"/>
                <a:pathLst>
                  <a:path w="257175" h="142875">
                    <a:moveTo>
                      <a:pt x="0" y="142875"/>
                    </a:moveTo>
                    <a:lnTo>
                      <a:pt x="85725" y="57150"/>
                    </a:lnTo>
                    <a:lnTo>
                      <a:pt x="142875" y="114300"/>
                    </a:lnTo>
                    <a:lnTo>
                      <a:pt x="257175" y="0"/>
                    </a:lnTo>
                  </a:path>
                </a:pathLst>
              </a:custGeom>
              <a:noFill/>
              <a:ln w="28575">
                <a:solidFill>
                  <a:srgbClr val="E94B2B"/>
                </a:solidFill>
              </a:ln>
            </p:spPr>
          </p:sp>
          <p:sp>
            <p:nvSpPr>
              <p:cNvPr id="82" name="Freeform 82"/>
              <p:cNvSpPr/>
              <p:nvPr/>
            </p:nvSpPr>
            <p:spPr>
              <a:xfrm>
                <a:off x="3038475" y="5719762"/>
                <a:ext cx="100012" cy="100012"/>
              </a:xfrm>
              <a:custGeom>
                <a:avLst/>
                <a:gdLst/>
                <a:ahLst/>
                <a:cxnLst/>
                <a:rect l="l" t="t" r="r" b="b"/>
                <a:pathLst>
                  <a:path w="100012" h="100012">
                    <a:moveTo>
                      <a:pt x="0" y="0"/>
                    </a:moveTo>
                    <a:lnTo>
                      <a:pt x="100012" y="0"/>
                    </a:lnTo>
                    <a:lnTo>
                      <a:pt x="100012" y="100012"/>
                    </a:lnTo>
                  </a:path>
                </a:pathLst>
              </a:custGeom>
              <a:noFill/>
              <a:ln w="28575">
                <a:solidFill>
                  <a:srgbClr val="E94B2B"/>
                </a:solidFill>
              </a:ln>
            </p:spPr>
          </p:sp>
        </p:grpSp>
        <p:sp>
          <p:nvSpPr>
            <p:cNvPr id="84" name="Rectangle 84"/>
            <p:cNvSpPr/>
            <p:nvPr/>
          </p:nvSpPr>
          <p:spPr>
            <a:xfrm>
              <a:off x="876300" y="5410200"/>
              <a:ext cx="57150" cy="57150"/>
            </a:xfrm>
            <a:prstGeom prst="rect">
              <a:avLst/>
            </a:prstGeom>
            <a:solidFill>
              <a:srgbClr val="E94B2B"/>
            </a:solidFill>
            <a:ln>
              <a:noFill/>
            </a:ln>
          </p:spPr>
        </p:sp>
        <p:sp>
          <p:nvSpPr>
            <p:cNvPr id="85" name="TextBox 85"/>
            <p:cNvSpPr txBox="1"/>
            <p:nvPr/>
          </p:nvSpPr>
          <p:spPr>
            <a:xfrm>
              <a:off x="1004888" y="5375672"/>
              <a:ext cx="1148410"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融合和优化业务计划</a:t>
              </a:r>
            </a:p>
          </p:txBody>
        </p:sp>
        <p:sp>
          <p:nvSpPr>
            <p:cNvPr id="86" name="Rectangle 86"/>
            <p:cNvSpPr/>
            <p:nvPr/>
          </p:nvSpPr>
          <p:spPr>
            <a:xfrm>
              <a:off x="876300" y="5638800"/>
              <a:ext cx="57150" cy="57150"/>
            </a:xfrm>
            <a:prstGeom prst="rect">
              <a:avLst/>
            </a:prstGeom>
            <a:solidFill>
              <a:srgbClr val="E94B2B"/>
            </a:solidFill>
            <a:ln>
              <a:noFill/>
            </a:ln>
          </p:spPr>
        </p:sp>
        <p:sp>
          <p:nvSpPr>
            <p:cNvPr id="87" name="TextBox 87"/>
            <p:cNvSpPr txBox="1"/>
            <p:nvPr/>
          </p:nvSpPr>
          <p:spPr>
            <a:xfrm>
              <a:off x="1004888" y="5604272"/>
              <a:ext cx="1203325" cy="354806"/>
            </a:xfrm>
            <a:prstGeom prst="rect">
              <a:avLst/>
            </a:prstGeom>
            <a:noFill/>
            <a:ln>
              <a:noFill/>
            </a:ln>
          </p:spPr>
          <p:txBody>
            <a:bodyPr wrap="none" lIns="0" tIns="0" rIns="0" bIns="0" anchor="t" anchorCtr="0">
              <a:spAutoFit/>
            </a:bodyPr>
            <a:lstStyle/>
            <a:p>
              <a:pPr algn="l">
                <a:lnSpc>
                  <a:spcPts val="1350"/>
                </a:lnSpc>
              </a:pPr>
              <a:r>
                <a:rPr lang="zh-CN" sz="940" dirty="0">
                  <a:solidFill>
                    <a:srgbClr val="333333"/>
                  </a:solidFill>
                  <a:latin typeface="+mn-lt"/>
                  <a:ea typeface="+mn-ea"/>
                  <a:cs typeface="+mn-cs"/>
                </a:rPr>
                <a:t>制定整个公司和产品线</a:t>
              </a:r>
              <a:br/>
              <a:r>
                <a:rPr lang="zh-CN" sz="940" dirty="0">
                  <a:solidFill>
                    <a:srgbClr val="333333"/>
                  </a:solidFill>
                  <a:latin typeface="+mn-lt"/>
                  <a:ea typeface="+mn-ea"/>
                  <a:cs typeface="+mn-cs"/>
                </a:rPr>
                <a:t>的产品包路标</a:t>
              </a:r>
            </a:p>
          </p:txBody>
        </p:sp>
        <p:sp>
          <p:nvSpPr>
            <p:cNvPr id="88" name="Rectangle 88"/>
            <p:cNvSpPr/>
            <p:nvPr/>
          </p:nvSpPr>
          <p:spPr>
            <a:xfrm>
              <a:off x="876300" y="6038850"/>
              <a:ext cx="57150" cy="57150"/>
            </a:xfrm>
            <a:prstGeom prst="rect">
              <a:avLst/>
            </a:prstGeom>
            <a:solidFill>
              <a:srgbClr val="E94B2B"/>
            </a:solidFill>
            <a:ln>
              <a:noFill/>
            </a:ln>
          </p:spPr>
        </p:sp>
        <p:sp>
          <p:nvSpPr>
            <p:cNvPr id="89" name="TextBox 89"/>
            <p:cNvSpPr txBox="1"/>
            <p:nvPr/>
          </p:nvSpPr>
          <p:spPr>
            <a:xfrm>
              <a:off x="1004888" y="6004322"/>
              <a:ext cx="895325"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产品线规则制定</a:t>
              </a:r>
            </a:p>
          </p:txBody>
        </p:sp>
      </p:grpSp>
      <p:grpSp>
        <p:nvGrpSpPr>
          <p:cNvPr id="99" name="note-strategy"/>
          <p:cNvGrpSpPr/>
          <p:nvPr/>
        </p:nvGrpSpPr>
        <p:grpSpPr>
          <a:xfrm>
            <a:off x="8858250" y="5353050"/>
            <a:ext cx="2418627" cy="682228"/>
            <a:chOff x="8858250" y="5353050"/>
            <a:chExt cx="2418627" cy="682228"/>
          </a:xfrm>
        </p:grpSpPr>
        <p:sp>
          <p:nvSpPr>
            <p:cNvPr id="91" name="Ellipse 91"/>
            <p:cNvSpPr/>
            <p:nvPr/>
          </p:nvSpPr>
          <p:spPr>
            <a:xfrm>
              <a:off x="8858250" y="5353050"/>
              <a:ext cx="647700" cy="647700"/>
            </a:xfrm>
            <a:prstGeom prst="ellipse">
              <a:avLst/>
            </a:prstGeom>
            <a:solidFill>
              <a:srgbClr val="FFFFFF"/>
            </a:solidFill>
            <a:ln>
              <a:noFill/>
            </a:ln>
          </p:spPr>
        </p:sp>
        <p:sp>
          <p:nvSpPr>
            <p:cNvPr id="92" name="Freeform 92"/>
            <p:cNvSpPr/>
            <p:nvPr/>
          </p:nvSpPr>
          <p:spPr>
            <a:xfrm>
              <a:off x="9053512" y="5548312"/>
              <a:ext cx="257175" cy="257175"/>
            </a:xfrm>
            <a:custGeom>
              <a:avLst/>
              <a:gdLst/>
              <a:ahLst/>
              <a:cxnLst/>
              <a:rect l="l" t="t" r="r" b="b"/>
              <a:pathLst>
                <a:path w="257175" h="257175">
                  <a:moveTo>
                    <a:pt x="14288" y="57150"/>
                  </a:moveTo>
                  <a:lnTo>
                    <a:pt x="57150" y="57150"/>
                  </a:lnTo>
                  <a:cubicBezTo>
                    <a:pt x="65041" y="57150"/>
                    <a:pt x="71438" y="50753"/>
                    <a:pt x="71438" y="42862"/>
                  </a:cubicBezTo>
                  <a:lnTo>
                    <a:pt x="71438" y="28575"/>
                  </a:lnTo>
                  <a:cubicBezTo>
                    <a:pt x="71438" y="12793"/>
                    <a:pt x="84231" y="0"/>
                    <a:pt x="100012" y="0"/>
                  </a:cubicBezTo>
                  <a:cubicBezTo>
                    <a:pt x="115794" y="0"/>
                    <a:pt x="128588" y="12793"/>
                    <a:pt x="128588" y="28575"/>
                  </a:cubicBezTo>
                  <a:lnTo>
                    <a:pt x="128588" y="42862"/>
                  </a:lnTo>
                  <a:cubicBezTo>
                    <a:pt x="128588" y="50753"/>
                    <a:pt x="134984" y="57150"/>
                    <a:pt x="142875" y="57150"/>
                  </a:cubicBezTo>
                  <a:lnTo>
                    <a:pt x="185738" y="57150"/>
                  </a:lnTo>
                  <a:cubicBezTo>
                    <a:pt x="193628" y="57150"/>
                    <a:pt x="200025" y="63547"/>
                    <a:pt x="200025" y="71438"/>
                  </a:cubicBezTo>
                  <a:lnTo>
                    <a:pt x="200025" y="114300"/>
                  </a:lnTo>
                  <a:cubicBezTo>
                    <a:pt x="200025" y="122191"/>
                    <a:pt x="206422" y="128588"/>
                    <a:pt x="214312" y="128588"/>
                  </a:cubicBezTo>
                  <a:lnTo>
                    <a:pt x="228600" y="128588"/>
                  </a:lnTo>
                  <a:cubicBezTo>
                    <a:pt x="244382" y="128588"/>
                    <a:pt x="257175" y="141381"/>
                    <a:pt x="257175" y="157162"/>
                  </a:cubicBezTo>
                  <a:cubicBezTo>
                    <a:pt x="257175" y="172944"/>
                    <a:pt x="244382" y="185738"/>
                    <a:pt x="228600" y="185738"/>
                  </a:cubicBezTo>
                  <a:lnTo>
                    <a:pt x="214312" y="185738"/>
                  </a:lnTo>
                  <a:cubicBezTo>
                    <a:pt x="206422" y="185738"/>
                    <a:pt x="200025" y="192134"/>
                    <a:pt x="200025" y="200025"/>
                  </a:cubicBezTo>
                  <a:lnTo>
                    <a:pt x="200025" y="242888"/>
                  </a:lnTo>
                  <a:cubicBezTo>
                    <a:pt x="200025" y="250778"/>
                    <a:pt x="193628" y="257175"/>
                    <a:pt x="185738" y="257175"/>
                  </a:cubicBezTo>
                  <a:lnTo>
                    <a:pt x="142875" y="257175"/>
                  </a:lnTo>
                  <a:cubicBezTo>
                    <a:pt x="134984" y="257175"/>
                    <a:pt x="128588" y="250778"/>
                    <a:pt x="128588" y="242888"/>
                  </a:cubicBezTo>
                  <a:lnTo>
                    <a:pt x="128588" y="228600"/>
                  </a:lnTo>
                  <a:cubicBezTo>
                    <a:pt x="128588" y="212818"/>
                    <a:pt x="115794" y="200025"/>
                    <a:pt x="100012" y="200025"/>
                  </a:cubicBezTo>
                  <a:cubicBezTo>
                    <a:pt x="84231" y="200025"/>
                    <a:pt x="71438" y="212818"/>
                    <a:pt x="71438" y="228600"/>
                  </a:cubicBezTo>
                  <a:lnTo>
                    <a:pt x="71438" y="242888"/>
                  </a:lnTo>
                  <a:cubicBezTo>
                    <a:pt x="71438" y="250778"/>
                    <a:pt x="65041" y="257175"/>
                    <a:pt x="57150" y="257175"/>
                  </a:cubicBezTo>
                  <a:lnTo>
                    <a:pt x="14288" y="257175"/>
                  </a:lnTo>
                  <a:cubicBezTo>
                    <a:pt x="6397" y="257175"/>
                    <a:pt x="0" y="250778"/>
                    <a:pt x="0" y="242888"/>
                  </a:cubicBezTo>
                  <a:lnTo>
                    <a:pt x="0" y="200025"/>
                  </a:lnTo>
                  <a:cubicBezTo>
                    <a:pt x="0" y="192134"/>
                    <a:pt x="6397" y="185738"/>
                    <a:pt x="14288" y="185738"/>
                  </a:cubicBezTo>
                  <a:lnTo>
                    <a:pt x="28575" y="185738"/>
                  </a:lnTo>
                  <a:cubicBezTo>
                    <a:pt x="44357" y="185738"/>
                    <a:pt x="57150" y="172944"/>
                    <a:pt x="57150" y="157162"/>
                  </a:cubicBezTo>
                  <a:cubicBezTo>
                    <a:pt x="57150" y="141381"/>
                    <a:pt x="44357" y="128588"/>
                    <a:pt x="28575" y="128588"/>
                  </a:cubicBezTo>
                  <a:lnTo>
                    <a:pt x="14288" y="128588"/>
                  </a:lnTo>
                  <a:cubicBezTo>
                    <a:pt x="6397" y="128588"/>
                    <a:pt x="0" y="122191"/>
                    <a:pt x="0" y="114300"/>
                  </a:cubicBezTo>
                  <a:lnTo>
                    <a:pt x="0" y="71438"/>
                  </a:lnTo>
                  <a:cubicBezTo>
                    <a:pt x="0" y="63547"/>
                    <a:pt x="6397" y="57150"/>
                    <a:pt x="14288" y="57150"/>
                  </a:cubicBezTo>
                </a:path>
              </a:pathLst>
            </a:custGeom>
            <a:noFill/>
            <a:ln w="28575">
              <a:solidFill>
                <a:srgbClr val="E94B2B"/>
              </a:solidFill>
            </a:ln>
          </p:spPr>
        </p:sp>
        <p:sp>
          <p:nvSpPr>
            <p:cNvPr id="93" name="Rectangle 93"/>
            <p:cNvSpPr/>
            <p:nvPr/>
          </p:nvSpPr>
          <p:spPr>
            <a:xfrm>
              <a:off x="9620250" y="5429250"/>
              <a:ext cx="57150" cy="57150"/>
            </a:xfrm>
            <a:prstGeom prst="rect">
              <a:avLst/>
            </a:prstGeom>
            <a:solidFill>
              <a:srgbClr val="E94B2B"/>
            </a:solidFill>
            <a:ln>
              <a:noFill/>
            </a:ln>
          </p:spPr>
        </p:sp>
        <p:sp>
          <p:nvSpPr>
            <p:cNvPr id="94" name="TextBox 94"/>
            <p:cNvSpPr txBox="1"/>
            <p:nvPr/>
          </p:nvSpPr>
          <p:spPr>
            <a:xfrm>
              <a:off x="9748838" y="5394722"/>
              <a:ext cx="1528039"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确定细分市场的目标和策略</a:t>
              </a:r>
            </a:p>
          </p:txBody>
        </p:sp>
        <p:sp>
          <p:nvSpPr>
            <p:cNvPr id="95" name="Rectangle 95"/>
            <p:cNvSpPr/>
            <p:nvPr/>
          </p:nvSpPr>
          <p:spPr>
            <a:xfrm>
              <a:off x="9620250" y="5657850"/>
              <a:ext cx="57150" cy="57150"/>
            </a:xfrm>
            <a:prstGeom prst="rect">
              <a:avLst/>
            </a:prstGeom>
            <a:solidFill>
              <a:srgbClr val="E94B2B"/>
            </a:solidFill>
            <a:ln>
              <a:noFill/>
            </a:ln>
          </p:spPr>
        </p:sp>
        <p:sp>
          <p:nvSpPr>
            <p:cNvPr id="96" name="TextBox 96"/>
            <p:cNvSpPr txBox="1"/>
            <p:nvPr/>
          </p:nvSpPr>
          <p:spPr>
            <a:xfrm>
              <a:off x="9748838" y="5623322"/>
              <a:ext cx="1401496"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确定对客户及我方的价值</a:t>
              </a:r>
            </a:p>
          </p:txBody>
        </p:sp>
        <p:sp>
          <p:nvSpPr>
            <p:cNvPr id="97" name="Rectangle 97"/>
            <p:cNvSpPr/>
            <p:nvPr/>
          </p:nvSpPr>
          <p:spPr>
            <a:xfrm>
              <a:off x="9620250" y="5886450"/>
              <a:ext cx="57150" cy="57150"/>
            </a:xfrm>
            <a:prstGeom prst="rect">
              <a:avLst/>
            </a:prstGeom>
            <a:solidFill>
              <a:srgbClr val="E94B2B"/>
            </a:solidFill>
            <a:ln>
              <a:noFill/>
            </a:ln>
          </p:spPr>
        </p:sp>
        <p:sp>
          <p:nvSpPr>
            <p:cNvPr id="98" name="TextBox 98"/>
            <p:cNvSpPr txBox="1"/>
            <p:nvPr/>
          </p:nvSpPr>
          <p:spPr>
            <a:xfrm>
              <a:off x="9748838" y="5851922"/>
              <a:ext cx="1528039" cy="183356"/>
            </a:xfrm>
            <a:prstGeom prst="rect">
              <a:avLst/>
            </a:prstGeom>
            <a:noFill/>
            <a:ln>
              <a:noFill/>
            </a:ln>
          </p:spPr>
          <p:txBody>
            <a:bodyPr wrap="none" lIns="0" tIns="0" rIns="0" bIns="0" anchor="t" anchorCtr="0">
              <a:spAutoFit/>
            </a:bodyPr>
            <a:lstStyle/>
            <a:p>
              <a:pPr algn="l"/>
              <a:r>
                <a:rPr lang="zh-CN" sz="940" dirty="0">
                  <a:solidFill>
                    <a:srgbClr val="333333"/>
                  </a:solidFill>
                  <a:latin typeface="+mn-lt"/>
                  <a:ea typeface="+mn-ea"/>
                  <a:cs typeface="+mn-cs"/>
                </a:rPr>
                <a:t>推动多个功能部门提供信息</a:t>
              </a:r>
            </a:p>
          </p:txBody>
        </p:sp>
      </p:gr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arch-band-dec"/>
          <p:cNvSpPr/>
          <p:nvPr/>
        </p:nvSpPr>
        <p:spPr>
          <a:xfrm>
            <a:off x="381000" y="1047750"/>
            <a:ext cx="11430000" cy="5619750"/>
          </a:xfrm>
          <a:custGeom>
            <a:avLst/>
            <a:gdLst/>
            <a:ahLst/>
            <a:cxnLst/>
            <a:rect l="l" t="t" r="r" b="b"/>
            <a:pathLst>
              <a:path w="11430000" h="5619750">
                <a:moveTo>
                  <a:pt x="0" y="5619750"/>
                </a:moveTo>
                <a:cubicBezTo>
                  <a:pt x="762000" y="1333500"/>
                  <a:pt x="4000500" y="0"/>
                  <a:pt x="5715000" y="0"/>
                </a:cubicBezTo>
                <a:cubicBezTo>
                  <a:pt x="7429500" y="0"/>
                  <a:pt x="10668000" y="1333500"/>
                  <a:pt x="11430000" y="5619750"/>
                </a:cubicBezTo>
              </a:path>
            </a:pathLst>
          </a:custGeom>
          <a:noFill/>
          <a:ln w="266700">
            <a:solidFill>
              <a:srgbClr val="F8D1C9">
                <a:alpha val="50000"/>
              </a:srgbClr>
            </a:solidFill>
          </a:ln>
        </p:spPr>
      </p:sp>
      <p:sp>
        <p:nvSpPr>
          <p:cNvPr id="3" name="arch-line-dec"/>
          <p:cNvSpPr/>
          <p:nvPr/>
        </p:nvSpPr>
        <p:spPr>
          <a:xfrm>
            <a:off x="571500" y="1143000"/>
            <a:ext cx="11049000" cy="5524500"/>
          </a:xfrm>
          <a:custGeom>
            <a:avLst/>
            <a:gdLst/>
            <a:ahLst/>
            <a:cxnLst/>
            <a:rect l="l" t="t" r="r" b="b"/>
            <a:pathLst>
              <a:path w="11049000" h="5524500">
                <a:moveTo>
                  <a:pt x="0" y="5524500"/>
                </a:moveTo>
                <a:cubicBezTo>
                  <a:pt x="762000" y="1333500"/>
                  <a:pt x="3905250" y="0"/>
                  <a:pt x="5524500" y="0"/>
                </a:cubicBezTo>
                <a:cubicBezTo>
                  <a:pt x="7143750" y="0"/>
                  <a:pt x="10287000" y="1333500"/>
                  <a:pt x="11049000" y="5524500"/>
                </a:cubicBezTo>
              </a:path>
            </a:pathLst>
          </a:custGeom>
          <a:noFill/>
          <a:ln w="14288">
            <a:solidFill>
              <a:srgbClr val="F2AC9E"/>
            </a:solidFill>
          </a:ln>
        </p:spPr>
      </p:sp>
      <p:sp>
        <p:nvSpPr>
          <p:cNvPr id="4" name="side-l-dec"/>
          <p:cNvSpPr/>
          <p:nvPr/>
        </p:nvSpPr>
        <p:spPr>
          <a:xfrm>
            <a:off x="800100" y="1619250"/>
            <a:ext cx="57150" cy="1905000"/>
          </a:xfrm>
          <a:prstGeom prst="rect">
            <a:avLst/>
          </a:prstGeom>
          <a:gradFill>
            <a:gsLst>
              <a:gs pos="0">
                <a:srgbClr val="DCEBFB">
                  <a:alpha val="0"/>
                </a:srgbClr>
              </a:gs>
              <a:gs pos="100000">
                <a:srgbClr val="F2AC9E"/>
              </a:gs>
            </a:gsLst>
            <a:lin ang="5400000" scaled="1"/>
          </a:gradFill>
          <a:ln>
            <a:noFill/>
          </a:ln>
        </p:spPr>
      </p:sp>
      <p:sp>
        <p:nvSpPr>
          <p:cNvPr id="5" name="side-r-dec"/>
          <p:cNvSpPr/>
          <p:nvPr/>
        </p:nvSpPr>
        <p:spPr>
          <a:xfrm>
            <a:off x="11334750" y="1619250"/>
            <a:ext cx="57150" cy="1905000"/>
          </a:xfrm>
          <a:prstGeom prst="rect">
            <a:avLst/>
          </a:prstGeom>
          <a:gradFill>
            <a:gsLst>
              <a:gs pos="0">
                <a:srgbClr val="DCEBFB">
                  <a:alpha val="0"/>
                </a:srgbClr>
              </a:gs>
              <a:gs pos="100000">
                <a:srgbClr val="F2AC9E"/>
              </a:gs>
            </a:gsLst>
            <a:lin ang="5400000" scaled="1"/>
          </a:gradFill>
          <a:ln>
            <a:noFill/>
          </a:ln>
        </p:spPr>
      </p:sp>
      <p:sp>
        <p:nvSpPr>
          <p:cNvPr id="6" name="Freeform 6"/>
          <p:cNvSpPr/>
          <p:nvPr/>
        </p:nvSpPr>
        <p:spPr>
          <a:xfrm>
            <a:off x="2171700" y="5619750"/>
            <a:ext cx="514350" cy="1238250"/>
          </a:xfrm>
          <a:prstGeom prst="upArrow">
            <a:avLst>
              <a:gd name="adj1" fmla="val 50000"/>
              <a:gd name="adj2" fmla="val 35000"/>
            </a:avLst>
          </a:prstGeom>
          <a:solidFill>
            <a:srgbClr val="F5927E">
              <a:alpha val="60000"/>
            </a:srgbClr>
          </a:solidFill>
          <a:ln>
            <a:noFill/>
          </a:ln>
        </p:spPr>
      </p:sp>
      <p:sp>
        <p:nvSpPr>
          <p:cNvPr id="7" name="Freeform 7"/>
          <p:cNvSpPr/>
          <p:nvPr/>
        </p:nvSpPr>
        <p:spPr>
          <a:xfrm>
            <a:off x="9505950" y="5619750"/>
            <a:ext cx="514350" cy="1238250"/>
          </a:xfrm>
          <a:prstGeom prst="upArrow">
            <a:avLst>
              <a:gd name="adj1" fmla="val 50000"/>
              <a:gd name="adj2" fmla="val 35000"/>
            </a:avLst>
          </a:prstGeom>
          <a:solidFill>
            <a:srgbClr val="F5927E">
              <a:alpha val="60000"/>
            </a:srgbClr>
          </a:solidFill>
          <a:ln>
            <a:noFill/>
          </a:ln>
        </p:spPr>
      </p:sp>
      <p:grpSp>
        <p:nvGrpSpPr>
          <p:cNvPr id="12" name="page-header"/>
          <p:cNvGrpSpPr/>
          <p:nvPr/>
        </p:nvGrpSpPr>
        <p:grpSpPr>
          <a:xfrm>
            <a:off x="0" y="0"/>
            <a:ext cx="11811000" cy="561404"/>
            <a:chOff x="0" y="0"/>
            <a:chExt cx="11811000" cy="561404"/>
          </a:xfrm>
        </p:grpSpPr>
        <p:sp>
          <p:nvSpPr>
            <p:cNvPr id="8" name="Polygon 8"/>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9" name="TextBox 9"/>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10</a:t>
              </a:r>
            </a:p>
          </p:txBody>
        </p:sp>
        <p:sp>
          <p:nvSpPr>
            <p:cNvPr id="10" name="TextBox 10"/>
            <p:cNvSpPr txBox="1"/>
            <p:nvPr/>
          </p:nvSpPr>
          <p:spPr>
            <a:xfrm>
              <a:off x="904494" y="180023"/>
              <a:ext cx="2238756"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产品内容生态规模</a:t>
              </a:r>
            </a:p>
          </p:txBody>
        </p:sp>
        <p:sp>
          <p:nvSpPr>
            <p:cNvPr id="11" name="Line 11"/>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9" name="kpi-mau"/>
          <p:cNvGrpSpPr/>
          <p:nvPr/>
        </p:nvGrpSpPr>
        <p:grpSpPr>
          <a:xfrm>
            <a:off x="1114425" y="3543300"/>
            <a:ext cx="1600200" cy="1600200"/>
            <a:chOff x="1114425" y="3543300"/>
            <a:chExt cx="1600200" cy="1600200"/>
          </a:xfrm>
        </p:grpSpPr>
        <p:sp>
          <p:nvSpPr>
            <p:cNvPr id="13" name="Ellipse 13"/>
            <p:cNvSpPr/>
            <p:nvPr/>
          </p:nvSpPr>
          <p:spPr>
            <a:xfrm>
              <a:off x="1114425" y="3543300"/>
              <a:ext cx="1600200" cy="1600200"/>
            </a:xfrm>
            <a:prstGeom prst="ellipse">
              <a:avLst/>
            </a:prstGeom>
            <a:noFill/>
            <a:ln w="57150">
              <a:solidFill>
                <a:srgbClr val="DCEBFB"/>
              </a:solidFill>
            </a:ln>
          </p:spPr>
        </p:sp>
        <p:sp>
          <p:nvSpPr>
            <p:cNvPr id="14" name="Ellipse 14"/>
            <p:cNvSpPr/>
            <p:nvPr/>
          </p:nvSpPr>
          <p:spPr>
            <a:xfrm>
              <a:off x="1209675" y="3638550"/>
              <a:ext cx="1409700" cy="1409700"/>
            </a:xfrm>
            <a:prstGeom prst="ellipse">
              <a:avLst/>
            </a:prstGeom>
            <a:gradFill>
              <a:gsLst>
                <a:gs pos="0">
                  <a:srgbClr val="F0856F"/>
                </a:gs>
                <a:gs pos="70000">
                  <a:srgbClr val="E94B2B"/>
                </a:gs>
                <a:gs pos="100000">
                  <a:srgbClr val="C83B1E"/>
                </a:gs>
              </a:gsLst>
              <a:path path="circle">
                <a:fillToRect l="40000" t="30000" r="60000" b="70000"/>
              </a:path>
            </a:gradFill>
            <a:ln>
              <a:noFill/>
            </a:ln>
          </p:spPr>
        </p:sp>
        <p:sp>
          <p:nvSpPr>
            <p:cNvPr id="15" name="TextBox 15"/>
            <p:cNvSpPr txBox="1"/>
            <p:nvPr/>
          </p:nvSpPr>
          <p:spPr>
            <a:xfrm>
              <a:off x="1645717" y="4047649"/>
              <a:ext cx="537616"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全球月活</a:t>
              </a:r>
            </a:p>
          </p:txBody>
        </p:sp>
        <p:sp>
          <p:nvSpPr>
            <p:cNvPr id="16" name="TextBox 16"/>
            <p:cNvSpPr txBox="1"/>
            <p:nvPr/>
          </p:nvSpPr>
          <p:spPr>
            <a:xfrm>
              <a:off x="1535457" y="4247198"/>
              <a:ext cx="758135"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2.8</a:t>
              </a:r>
              <a:r>
                <a:rPr lang="zh-CN" sz="980" dirty="0">
                  <a:solidFill>
                    <a:srgbClr val="FFFFFF"/>
                  </a:solidFill>
                  <a:latin typeface="+mn-lt"/>
                  <a:ea typeface="+mn-ea"/>
                  <a:cs typeface="+mn-cs"/>
                </a:rPr>
                <a:t>亿</a:t>
              </a:r>
              <a:r>
                <a:rPr lang="zh-CN" sz="1950" b="1" dirty="0">
                  <a:solidFill>
                    <a:srgbClr val="FFFFFF"/>
                  </a:solidFill>
                  <a:latin typeface="+mn-lt"/>
                  <a:ea typeface="+mn-ea"/>
                  <a:cs typeface="+mn-cs"/>
                </a:rPr>
                <a:t>​</a:t>
              </a:r>
            </a:p>
          </p:txBody>
        </p:sp>
        <p:sp>
          <p:nvSpPr>
            <p:cNvPr id="17" name="Rectangle 17"/>
            <p:cNvSpPr/>
            <p:nvPr/>
          </p:nvSpPr>
          <p:spPr>
            <a:xfrm>
              <a:off x="1438275" y="4591050"/>
              <a:ext cx="952500" cy="171450"/>
            </a:xfrm>
            <a:prstGeom prst="roundRect">
              <a:avLst>
                <a:gd name="adj" fmla="val 50000"/>
              </a:avLst>
            </a:prstGeom>
            <a:solidFill>
              <a:srgbClr val="FFFFFF"/>
            </a:solidFill>
            <a:ln>
              <a:noFill/>
            </a:ln>
          </p:spPr>
        </p:sp>
        <p:sp>
          <p:nvSpPr>
            <p:cNvPr id="18" name="TextBox 18"/>
            <p:cNvSpPr txBox="1"/>
            <p:nvPr/>
          </p:nvSpPr>
          <p:spPr>
            <a:xfrm>
              <a:off x="1505902" y="4633912"/>
              <a:ext cx="817245" cy="147638"/>
            </a:xfrm>
            <a:prstGeom prst="rect">
              <a:avLst/>
            </a:prstGeom>
            <a:noFill/>
            <a:ln>
              <a:noFill/>
            </a:ln>
          </p:spPr>
          <p:txBody>
            <a:bodyPr wrap="none" lIns="0" tIns="0" rIns="0" bIns="0" anchor="t" anchorCtr="0">
              <a:spAutoFit/>
            </a:bodyPr>
            <a:lstStyle/>
            <a:p>
              <a:pPr algn="ctr"/>
              <a:r>
                <a:rPr lang="zh-CN" sz="750" dirty="0">
                  <a:solidFill>
                    <a:srgbClr val="E94B2B"/>
                  </a:solidFill>
                  <a:latin typeface="+mn-lt"/>
                  <a:ea typeface="+mn-ea"/>
                  <a:cs typeface="+mn-cs"/>
                </a:rPr>
                <a:t>用户规模全面增长</a:t>
              </a:r>
            </a:p>
          </p:txBody>
        </p:sp>
      </p:grpSp>
      <p:grpSp>
        <p:nvGrpSpPr>
          <p:cNvPr id="26" name="kpi-exposure"/>
          <p:cNvGrpSpPr/>
          <p:nvPr/>
        </p:nvGrpSpPr>
        <p:grpSpPr>
          <a:xfrm>
            <a:off x="3152775" y="2533650"/>
            <a:ext cx="1600200" cy="1600200"/>
            <a:chOff x="3152775" y="2533650"/>
            <a:chExt cx="1600200" cy="1600200"/>
          </a:xfrm>
        </p:grpSpPr>
        <p:sp>
          <p:nvSpPr>
            <p:cNvPr id="20" name="Ellipse 20"/>
            <p:cNvSpPr/>
            <p:nvPr/>
          </p:nvSpPr>
          <p:spPr>
            <a:xfrm>
              <a:off x="3152775" y="2533650"/>
              <a:ext cx="1600200" cy="1600200"/>
            </a:xfrm>
            <a:prstGeom prst="ellipse">
              <a:avLst/>
            </a:prstGeom>
            <a:noFill/>
            <a:ln w="57150">
              <a:solidFill>
                <a:srgbClr val="DCEBFB"/>
              </a:solidFill>
            </a:ln>
          </p:spPr>
        </p:sp>
        <p:sp>
          <p:nvSpPr>
            <p:cNvPr id="21" name="Ellipse 21"/>
            <p:cNvSpPr/>
            <p:nvPr/>
          </p:nvSpPr>
          <p:spPr>
            <a:xfrm>
              <a:off x="3248025" y="2628900"/>
              <a:ext cx="1409700" cy="1409700"/>
            </a:xfrm>
            <a:prstGeom prst="ellipse">
              <a:avLst/>
            </a:prstGeom>
            <a:gradFill>
              <a:gsLst>
                <a:gs pos="0">
                  <a:srgbClr val="F0856F"/>
                </a:gs>
                <a:gs pos="70000">
                  <a:srgbClr val="E94B2B"/>
                </a:gs>
                <a:gs pos="100000">
                  <a:srgbClr val="C83B1E"/>
                </a:gs>
              </a:gsLst>
              <a:path path="circle">
                <a:fillToRect l="40000" t="30000" r="60000" b="70000"/>
              </a:path>
            </a:gradFill>
            <a:ln>
              <a:noFill/>
            </a:ln>
          </p:spPr>
        </p:sp>
        <p:sp>
          <p:nvSpPr>
            <p:cNvPr id="22" name="TextBox 22"/>
            <p:cNvSpPr txBox="1"/>
            <p:nvPr/>
          </p:nvSpPr>
          <p:spPr>
            <a:xfrm>
              <a:off x="3515859" y="3037999"/>
              <a:ext cx="874032"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总曝光次数/天</a:t>
              </a:r>
            </a:p>
          </p:txBody>
        </p:sp>
        <p:sp>
          <p:nvSpPr>
            <p:cNvPr id="23" name="TextBox 23"/>
            <p:cNvSpPr txBox="1"/>
            <p:nvPr/>
          </p:nvSpPr>
          <p:spPr>
            <a:xfrm>
              <a:off x="3573807" y="3237548"/>
              <a:ext cx="758135"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100</a:t>
              </a:r>
              <a:r>
                <a:rPr lang="zh-CN" sz="980" dirty="0">
                  <a:solidFill>
                    <a:srgbClr val="FFFFFF"/>
                  </a:solidFill>
                  <a:latin typeface="+mn-lt"/>
                  <a:ea typeface="+mn-ea"/>
                  <a:cs typeface="+mn-cs"/>
                </a:rPr>
                <a:t>亿</a:t>
              </a:r>
              <a:r>
                <a:rPr lang="zh-CN" sz="1950" b="1" dirty="0">
                  <a:solidFill>
                    <a:srgbClr val="FFFFFF"/>
                  </a:solidFill>
                  <a:latin typeface="+mn-lt"/>
                  <a:ea typeface="+mn-ea"/>
                  <a:cs typeface="+mn-cs"/>
                </a:rPr>
                <a:t>​</a:t>
              </a:r>
            </a:p>
          </p:txBody>
        </p:sp>
        <p:sp>
          <p:nvSpPr>
            <p:cNvPr id="24" name="Rectangle 24"/>
            <p:cNvSpPr/>
            <p:nvPr/>
          </p:nvSpPr>
          <p:spPr>
            <a:xfrm>
              <a:off x="3476625" y="3581400"/>
              <a:ext cx="952500" cy="171450"/>
            </a:xfrm>
            <a:prstGeom prst="roundRect">
              <a:avLst>
                <a:gd name="adj" fmla="val 50000"/>
              </a:avLst>
            </a:prstGeom>
            <a:solidFill>
              <a:srgbClr val="FFFFFF"/>
            </a:solidFill>
            <a:ln>
              <a:noFill/>
            </a:ln>
          </p:spPr>
        </p:sp>
        <p:sp>
          <p:nvSpPr>
            <p:cNvPr id="25" name="TextBox 25"/>
            <p:cNvSpPr txBox="1"/>
            <p:nvPr/>
          </p:nvSpPr>
          <p:spPr>
            <a:xfrm>
              <a:off x="3544252" y="3624262"/>
              <a:ext cx="817245" cy="147638"/>
            </a:xfrm>
            <a:prstGeom prst="rect">
              <a:avLst/>
            </a:prstGeom>
            <a:noFill/>
            <a:ln>
              <a:noFill/>
            </a:ln>
          </p:spPr>
          <p:txBody>
            <a:bodyPr wrap="none" lIns="0" tIns="0" rIns="0" bIns="0" anchor="t" anchorCtr="0">
              <a:spAutoFit/>
            </a:bodyPr>
            <a:lstStyle/>
            <a:p>
              <a:pPr algn="ctr"/>
              <a:r>
                <a:rPr lang="zh-CN" sz="750" dirty="0">
                  <a:solidFill>
                    <a:srgbClr val="E94B2B"/>
                  </a:solidFill>
                  <a:latin typeface="+mn-lt"/>
                  <a:ea typeface="+mn-ea"/>
                  <a:cs typeface="+mn-cs"/>
                </a:rPr>
                <a:t>流量矩阵全景覆盖</a:t>
              </a:r>
            </a:p>
          </p:txBody>
        </p:sp>
      </p:grpSp>
      <p:grpSp>
        <p:nvGrpSpPr>
          <p:cNvPr id="33" name="kpi-distribution"/>
          <p:cNvGrpSpPr/>
          <p:nvPr/>
        </p:nvGrpSpPr>
        <p:grpSpPr>
          <a:xfrm>
            <a:off x="5295900" y="1962150"/>
            <a:ext cx="1600200" cy="1600200"/>
            <a:chOff x="5295900" y="1962150"/>
            <a:chExt cx="1600200" cy="1600200"/>
          </a:xfrm>
        </p:grpSpPr>
        <p:sp>
          <p:nvSpPr>
            <p:cNvPr id="27" name="Ellipse 27"/>
            <p:cNvSpPr/>
            <p:nvPr/>
          </p:nvSpPr>
          <p:spPr>
            <a:xfrm>
              <a:off x="5295900" y="1962150"/>
              <a:ext cx="1600200" cy="1600200"/>
            </a:xfrm>
            <a:prstGeom prst="ellipse">
              <a:avLst/>
            </a:prstGeom>
            <a:noFill/>
            <a:ln w="57150">
              <a:solidFill>
                <a:srgbClr val="DCEBFB"/>
              </a:solidFill>
            </a:ln>
          </p:spPr>
        </p:sp>
        <p:sp>
          <p:nvSpPr>
            <p:cNvPr id="28" name="Ellipse 28"/>
            <p:cNvSpPr/>
            <p:nvPr/>
          </p:nvSpPr>
          <p:spPr>
            <a:xfrm>
              <a:off x="5391150" y="2057400"/>
              <a:ext cx="1409700" cy="1409700"/>
            </a:xfrm>
            <a:prstGeom prst="ellipse">
              <a:avLst/>
            </a:prstGeom>
            <a:gradFill>
              <a:gsLst>
                <a:gs pos="0">
                  <a:srgbClr val="F0856F"/>
                </a:gs>
                <a:gs pos="70000">
                  <a:srgbClr val="E94B2B"/>
                </a:gs>
                <a:gs pos="100000">
                  <a:srgbClr val="C83B1E"/>
                </a:gs>
              </a:gsLst>
              <a:path path="circle">
                <a:fillToRect l="40000" t="30000" r="60000" b="70000"/>
              </a:path>
            </a:gradFill>
            <a:ln>
              <a:noFill/>
            </a:ln>
          </p:spPr>
        </p:sp>
        <p:sp>
          <p:nvSpPr>
            <p:cNvPr id="29" name="TextBox 29"/>
            <p:cNvSpPr txBox="1"/>
            <p:nvPr/>
          </p:nvSpPr>
          <p:spPr>
            <a:xfrm>
              <a:off x="5695264" y="2466499"/>
              <a:ext cx="801472"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内容分发次数</a:t>
              </a:r>
            </a:p>
          </p:txBody>
        </p:sp>
        <p:sp>
          <p:nvSpPr>
            <p:cNvPr id="30" name="TextBox 30"/>
            <p:cNvSpPr txBox="1"/>
            <p:nvPr/>
          </p:nvSpPr>
          <p:spPr>
            <a:xfrm>
              <a:off x="5716932" y="2666048"/>
              <a:ext cx="758135"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908</a:t>
              </a:r>
              <a:r>
                <a:rPr lang="zh-CN" sz="980" dirty="0">
                  <a:solidFill>
                    <a:srgbClr val="FFFFFF"/>
                  </a:solidFill>
                  <a:latin typeface="+mn-lt"/>
                  <a:ea typeface="+mn-ea"/>
                  <a:cs typeface="+mn-cs"/>
                </a:rPr>
                <a:t>次</a:t>
              </a:r>
              <a:r>
                <a:rPr lang="zh-CN" sz="1950" b="1" dirty="0">
                  <a:solidFill>
                    <a:srgbClr val="FFFFFF"/>
                  </a:solidFill>
                  <a:latin typeface="+mn-lt"/>
                  <a:ea typeface="+mn-ea"/>
                  <a:cs typeface="+mn-cs"/>
                </a:rPr>
                <a:t>​</a:t>
              </a:r>
            </a:p>
          </p:txBody>
        </p:sp>
        <p:sp>
          <p:nvSpPr>
            <p:cNvPr id="31" name="Rectangle 31"/>
            <p:cNvSpPr/>
            <p:nvPr/>
          </p:nvSpPr>
          <p:spPr>
            <a:xfrm>
              <a:off x="5619750" y="3009900"/>
              <a:ext cx="952500" cy="171450"/>
            </a:xfrm>
            <a:prstGeom prst="roundRect">
              <a:avLst>
                <a:gd name="adj" fmla="val 50000"/>
              </a:avLst>
            </a:prstGeom>
            <a:solidFill>
              <a:srgbClr val="FFFFFF"/>
            </a:solidFill>
            <a:ln>
              <a:noFill/>
            </a:ln>
          </p:spPr>
        </p:sp>
        <p:sp>
          <p:nvSpPr>
            <p:cNvPr id="32" name="TextBox 32"/>
            <p:cNvSpPr txBox="1"/>
            <p:nvPr/>
          </p:nvSpPr>
          <p:spPr>
            <a:xfrm>
              <a:off x="5687378" y="3052762"/>
              <a:ext cx="817245" cy="147638"/>
            </a:xfrm>
            <a:prstGeom prst="rect">
              <a:avLst/>
            </a:prstGeom>
            <a:noFill/>
            <a:ln>
              <a:noFill/>
            </a:ln>
          </p:spPr>
          <p:txBody>
            <a:bodyPr wrap="none" lIns="0" tIns="0" rIns="0" bIns="0" anchor="t" anchorCtr="0">
              <a:spAutoFit/>
            </a:bodyPr>
            <a:lstStyle/>
            <a:p>
              <a:pPr algn="ctr"/>
              <a:r>
                <a:rPr lang="zh-CN" sz="750" dirty="0">
                  <a:solidFill>
                    <a:srgbClr val="E94B2B"/>
                  </a:solidFill>
                  <a:latin typeface="+mn-lt"/>
                  <a:ea typeface="+mn-ea"/>
                  <a:cs typeface="+mn-cs"/>
                </a:rPr>
                <a:t>原生产品多端分发</a:t>
              </a:r>
            </a:p>
          </p:txBody>
        </p:sp>
      </p:grpSp>
      <p:grpSp>
        <p:nvGrpSpPr>
          <p:cNvPr id="40" name="kpi-scene"/>
          <p:cNvGrpSpPr/>
          <p:nvPr/>
        </p:nvGrpSpPr>
        <p:grpSpPr>
          <a:xfrm>
            <a:off x="7324725" y="2533650"/>
            <a:ext cx="1600200" cy="1600200"/>
            <a:chOff x="7324725" y="2533650"/>
            <a:chExt cx="1600200" cy="1600200"/>
          </a:xfrm>
        </p:grpSpPr>
        <p:sp>
          <p:nvSpPr>
            <p:cNvPr id="34" name="Ellipse 34"/>
            <p:cNvSpPr/>
            <p:nvPr/>
          </p:nvSpPr>
          <p:spPr>
            <a:xfrm>
              <a:off x="7324725" y="2533650"/>
              <a:ext cx="1600200" cy="1600200"/>
            </a:xfrm>
            <a:prstGeom prst="ellipse">
              <a:avLst/>
            </a:prstGeom>
            <a:noFill/>
            <a:ln w="57150">
              <a:solidFill>
                <a:srgbClr val="DCEBFB"/>
              </a:solidFill>
            </a:ln>
          </p:spPr>
        </p:sp>
        <p:sp>
          <p:nvSpPr>
            <p:cNvPr id="35" name="Ellipse 35"/>
            <p:cNvSpPr/>
            <p:nvPr/>
          </p:nvSpPr>
          <p:spPr>
            <a:xfrm>
              <a:off x="7419975" y="2628900"/>
              <a:ext cx="1409700" cy="1409700"/>
            </a:xfrm>
            <a:prstGeom prst="ellipse">
              <a:avLst/>
            </a:prstGeom>
            <a:gradFill>
              <a:gsLst>
                <a:gs pos="0">
                  <a:srgbClr val="F0856F"/>
                </a:gs>
                <a:gs pos="70000">
                  <a:srgbClr val="E94B2B"/>
                </a:gs>
                <a:gs pos="100000">
                  <a:srgbClr val="C83B1E"/>
                </a:gs>
              </a:gsLst>
              <a:path path="circle">
                <a:fillToRect l="40000" t="30000" r="60000" b="70000"/>
              </a:path>
            </a:gradFill>
            <a:ln>
              <a:noFill/>
            </a:ln>
          </p:spPr>
        </p:sp>
        <p:sp>
          <p:nvSpPr>
            <p:cNvPr id="36" name="TextBox 36"/>
            <p:cNvSpPr txBox="1"/>
            <p:nvPr/>
          </p:nvSpPr>
          <p:spPr>
            <a:xfrm>
              <a:off x="7724089" y="3037999"/>
              <a:ext cx="801472"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内容场景次数</a:t>
              </a:r>
            </a:p>
          </p:txBody>
        </p:sp>
        <p:sp>
          <p:nvSpPr>
            <p:cNvPr id="37" name="TextBox 37"/>
            <p:cNvSpPr txBox="1"/>
            <p:nvPr/>
          </p:nvSpPr>
          <p:spPr>
            <a:xfrm>
              <a:off x="7745757" y="3237548"/>
              <a:ext cx="758135"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806</a:t>
              </a:r>
              <a:r>
                <a:rPr lang="zh-CN" sz="980" dirty="0">
                  <a:solidFill>
                    <a:srgbClr val="FFFFFF"/>
                  </a:solidFill>
                  <a:latin typeface="+mn-lt"/>
                  <a:ea typeface="+mn-ea"/>
                  <a:cs typeface="+mn-cs"/>
                </a:rPr>
                <a:t>亿</a:t>
              </a:r>
              <a:r>
                <a:rPr lang="zh-CN" sz="1950" b="1" dirty="0">
                  <a:solidFill>
                    <a:srgbClr val="FFFFFF"/>
                  </a:solidFill>
                  <a:latin typeface="+mn-lt"/>
                  <a:ea typeface="+mn-ea"/>
                  <a:cs typeface="+mn-cs"/>
                </a:rPr>
                <a:t>​</a:t>
              </a:r>
            </a:p>
          </p:txBody>
        </p:sp>
        <p:sp>
          <p:nvSpPr>
            <p:cNvPr id="38" name="Rectangle 38"/>
            <p:cNvSpPr/>
            <p:nvPr/>
          </p:nvSpPr>
          <p:spPr>
            <a:xfrm>
              <a:off x="7648575" y="3581400"/>
              <a:ext cx="952500" cy="171450"/>
            </a:xfrm>
            <a:prstGeom prst="roundRect">
              <a:avLst>
                <a:gd name="adj" fmla="val 50000"/>
              </a:avLst>
            </a:prstGeom>
            <a:solidFill>
              <a:srgbClr val="FFFFFF"/>
            </a:solidFill>
            <a:ln>
              <a:noFill/>
            </a:ln>
          </p:spPr>
        </p:sp>
        <p:sp>
          <p:nvSpPr>
            <p:cNvPr id="39" name="TextBox 39"/>
            <p:cNvSpPr txBox="1"/>
            <p:nvPr/>
          </p:nvSpPr>
          <p:spPr>
            <a:xfrm>
              <a:off x="7716202" y="3624262"/>
              <a:ext cx="817245" cy="147638"/>
            </a:xfrm>
            <a:prstGeom prst="rect">
              <a:avLst/>
            </a:prstGeom>
            <a:noFill/>
            <a:ln>
              <a:noFill/>
            </a:ln>
          </p:spPr>
          <p:txBody>
            <a:bodyPr wrap="none" lIns="0" tIns="0" rIns="0" bIns="0" anchor="t" anchorCtr="0">
              <a:spAutoFit/>
            </a:bodyPr>
            <a:lstStyle/>
            <a:p>
              <a:pPr algn="ctr"/>
              <a:r>
                <a:rPr lang="zh-CN" sz="750" dirty="0">
                  <a:solidFill>
                    <a:srgbClr val="E94B2B"/>
                  </a:solidFill>
                  <a:latin typeface="+mn-lt"/>
                  <a:ea typeface="+mn-ea"/>
                  <a:cs typeface="+mn-cs"/>
                </a:rPr>
                <a:t>流量矩阵全景覆盖</a:t>
              </a:r>
            </a:p>
          </p:txBody>
        </p:sp>
      </p:grpSp>
      <p:grpSp>
        <p:nvGrpSpPr>
          <p:cNvPr id="47" name="kpi-cost"/>
          <p:cNvGrpSpPr/>
          <p:nvPr/>
        </p:nvGrpSpPr>
        <p:grpSpPr>
          <a:xfrm>
            <a:off x="9410700" y="3543300"/>
            <a:ext cx="1600200" cy="1600200"/>
            <a:chOff x="9410700" y="3543300"/>
            <a:chExt cx="1600200" cy="1600200"/>
          </a:xfrm>
        </p:grpSpPr>
        <p:sp>
          <p:nvSpPr>
            <p:cNvPr id="41" name="Ellipse 41"/>
            <p:cNvSpPr/>
            <p:nvPr/>
          </p:nvSpPr>
          <p:spPr>
            <a:xfrm>
              <a:off x="9410700" y="3543300"/>
              <a:ext cx="1600200" cy="1600200"/>
            </a:xfrm>
            <a:prstGeom prst="ellipse">
              <a:avLst/>
            </a:prstGeom>
            <a:noFill/>
            <a:ln w="57150">
              <a:solidFill>
                <a:srgbClr val="DCEBFB"/>
              </a:solidFill>
            </a:ln>
          </p:spPr>
        </p:sp>
        <p:sp>
          <p:nvSpPr>
            <p:cNvPr id="42" name="Ellipse 42"/>
            <p:cNvSpPr/>
            <p:nvPr/>
          </p:nvSpPr>
          <p:spPr>
            <a:xfrm>
              <a:off x="9505950" y="3638550"/>
              <a:ext cx="1409700" cy="1409700"/>
            </a:xfrm>
            <a:prstGeom prst="ellipse">
              <a:avLst/>
            </a:prstGeom>
            <a:gradFill>
              <a:gsLst>
                <a:gs pos="0">
                  <a:srgbClr val="F0856F"/>
                </a:gs>
                <a:gs pos="70000">
                  <a:srgbClr val="E94B2B"/>
                </a:gs>
                <a:gs pos="100000">
                  <a:srgbClr val="C83B1E"/>
                </a:gs>
              </a:gsLst>
              <a:path path="circle">
                <a:fillToRect l="40000" t="30000" r="60000" b="70000"/>
              </a:path>
            </a:gradFill>
            <a:ln>
              <a:noFill/>
            </a:ln>
          </p:spPr>
        </p:sp>
        <p:sp>
          <p:nvSpPr>
            <p:cNvPr id="43" name="TextBox 43"/>
            <p:cNvSpPr txBox="1"/>
            <p:nvPr/>
          </p:nvSpPr>
          <p:spPr>
            <a:xfrm>
              <a:off x="9810064" y="4047649"/>
              <a:ext cx="801472"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注册成本降低</a:t>
              </a:r>
            </a:p>
          </p:txBody>
        </p:sp>
        <p:sp>
          <p:nvSpPr>
            <p:cNvPr id="44" name="TextBox 44"/>
            <p:cNvSpPr txBox="1"/>
            <p:nvPr/>
          </p:nvSpPr>
          <p:spPr>
            <a:xfrm>
              <a:off x="9772424" y="4247198"/>
              <a:ext cx="876752"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80.6</a:t>
              </a:r>
              <a:r>
                <a:rPr lang="zh-CN" sz="980" dirty="0">
                  <a:solidFill>
                    <a:srgbClr val="FFFFFF"/>
                  </a:solidFill>
                  <a:latin typeface="+mn-lt"/>
                  <a:ea typeface="+mn-ea"/>
                  <a:cs typeface="+mn-cs"/>
                </a:rPr>
                <a:t>%</a:t>
              </a:r>
              <a:r>
                <a:rPr lang="zh-CN" sz="1950" b="1" dirty="0">
                  <a:solidFill>
                    <a:srgbClr val="FFFFFF"/>
                  </a:solidFill>
                  <a:latin typeface="+mn-lt"/>
                  <a:ea typeface="+mn-ea"/>
                  <a:cs typeface="+mn-cs"/>
                </a:rPr>
                <a:t>​</a:t>
              </a:r>
            </a:p>
          </p:txBody>
        </p:sp>
        <p:sp>
          <p:nvSpPr>
            <p:cNvPr id="45" name="Rectangle 45"/>
            <p:cNvSpPr/>
            <p:nvPr/>
          </p:nvSpPr>
          <p:spPr>
            <a:xfrm>
              <a:off x="9734550" y="4591050"/>
              <a:ext cx="952500" cy="171450"/>
            </a:xfrm>
            <a:prstGeom prst="roundRect">
              <a:avLst>
                <a:gd name="adj" fmla="val 50000"/>
              </a:avLst>
            </a:prstGeom>
            <a:solidFill>
              <a:srgbClr val="FFFFFF"/>
            </a:solidFill>
            <a:ln>
              <a:noFill/>
            </a:ln>
          </p:spPr>
        </p:sp>
        <p:sp>
          <p:nvSpPr>
            <p:cNvPr id="46" name="TextBox 46"/>
            <p:cNvSpPr txBox="1"/>
            <p:nvPr/>
          </p:nvSpPr>
          <p:spPr>
            <a:xfrm>
              <a:off x="9802178" y="4633912"/>
              <a:ext cx="817245" cy="147638"/>
            </a:xfrm>
            <a:prstGeom prst="rect">
              <a:avLst/>
            </a:prstGeom>
            <a:noFill/>
            <a:ln>
              <a:noFill/>
            </a:ln>
          </p:spPr>
          <p:txBody>
            <a:bodyPr wrap="none" lIns="0" tIns="0" rIns="0" bIns="0" anchor="t" anchorCtr="0">
              <a:spAutoFit/>
            </a:bodyPr>
            <a:lstStyle/>
            <a:p>
              <a:pPr algn="ctr"/>
              <a:r>
                <a:rPr lang="zh-CN" sz="750" dirty="0">
                  <a:solidFill>
                    <a:srgbClr val="E94B2B"/>
                  </a:solidFill>
                  <a:latin typeface="+mn-lt"/>
                  <a:ea typeface="+mn-ea"/>
                  <a:cs typeface="+mn-cs"/>
                </a:rPr>
                <a:t>数据合作增长情况</a:t>
              </a:r>
            </a:p>
          </p:txBody>
        </p:sp>
      </p:grpSp>
      <p:grpSp>
        <p:nvGrpSpPr>
          <p:cNvPr id="51" name="main-message"/>
          <p:cNvGrpSpPr/>
          <p:nvPr/>
        </p:nvGrpSpPr>
        <p:grpSpPr>
          <a:xfrm>
            <a:off x="4601388" y="4152900"/>
            <a:ext cx="2989224" cy="2705100"/>
            <a:chOff x="4601388" y="4152900"/>
            <a:chExt cx="2989224" cy="2705100"/>
          </a:xfrm>
        </p:grpSpPr>
        <p:sp>
          <p:nvSpPr>
            <p:cNvPr id="48" name="Freeform 48"/>
            <p:cNvSpPr/>
            <p:nvPr/>
          </p:nvSpPr>
          <p:spPr>
            <a:xfrm>
              <a:off x="4953000" y="4152900"/>
              <a:ext cx="2286000" cy="2705100"/>
            </a:xfrm>
            <a:prstGeom prst="upArrow">
              <a:avLst>
                <a:gd name="adj1" fmla="val 55000"/>
                <a:gd name="adj2" fmla="val 30000"/>
              </a:avLst>
            </a:prstGeom>
            <a:solidFill>
              <a:srgbClr val="F6C2B7">
                <a:alpha val="55000"/>
              </a:srgbClr>
            </a:solidFill>
            <a:ln>
              <a:noFill/>
            </a:ln>
          </p:spPr>
        </p:sp>
        <p:sp>
          <p:nvSpPr>
            <p:cNvPr id="49" name="TextBox 49"/>
            <p:cNvSpPr txBox="1"/>
            <p:nvPr/>
          </p:nvSpPr>
          <p:spPr>
            <a:xfrm>
              <a:off x="5053203" y="4944428"/>
              <a:ext cx="2085594" cy="498729"/>
            </a:xfrm>
            <a:prstGeom prst="rect">
              <a:avLst/>
            </a:prstGeom>
            <a:noFill/>
            <a:ln>
              <a:noFill/>
            </a:ln>
          </p:spPr>
          <p:txBody>
            <a:bodyPr wrap="none" lIns="0" tIns="0" rIns="0" bIns="0" anchor="t" anchorCtr="0">
              <a:spAutoFit/>
            </a:bodyPr>
            <a:lstStyle/>
            <a:p>
              <a:pPr algn="ctr"/>
              <a:r>
                <a:rPr lang="zh-CN" sz="2550" b="1" dirty="0">
                  <a:solidFill>
                    <a:srgbClr val="E94B2B"/>
                  </a:solidFill>
                  <a:latin typeface="+mn-lt"/>
                  <a:ea typeface="+mn-ea"/>
                  <a:cs typeface="+mn-cs"/>
                </a:rPr>
                <a:t>千亿消费市场</a:t>
              </a:r>
            </a:p>
          </p:txBody>
        </p:sp>
        <p:sp>
          <p:nvSpPr>
            <p:cNvPr id="50" name="TextBox 50"/>
            <p:cNvSpPr txBox="1"/>
            <p:nvPr/>
          </p:nvSpPr>
          <p:spPr>
            <a:xfrm>
              <a:off x="4601388" y="5498306"/>
              <a:ext cx="2989224" cy="220028"/>
            </a:xfrm>
            <a:prstGeom prst="rect">
              <a:avLst/>
            </a:prstGeom>
            <a:noFill/>
            <a:ln>
              <a:noFill/>
            </a:ln>
          </p:spPr>
          <p:txBody>
            <a:bodyPr wrap="none" lIns="0" tIns="0" rIns="0" bIns="0" anchor="t" anchorCtr="0">
              <a:spAutoFit/>
            </a:bodyPr>
            <a:lstStyle/>
            <a:p>
              <a:pPr algn="ctr"/>
              <a:r>
                <a:rPr lang="zh-CN" sz="1120" dirty="0">
                  <a:solidFill>
                    <a:srgbClr val="333333"/>
                  </a:solidFill>
                  <a:latin typeface="+mn-lt"/>
                  <a:ea typeface="+mn-ea"/>
                  <a:cs typeface="+mn-cs"/>
                </a:rPr>
                <a:t>2023年产品内容生态规模，数字化营销平台​</a:t>
              </a:r>
            </a:p>
          </p:txBody>
        </p:sp>
      </p:gr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11</a:t>
              </a:r>
            </a:p>
          </p:txBody>
        </p:sp>
        <p:sp>
          <p:nvSpPr>
            <p:cNvPr id="4" name="TextBox 4"/>
            <p:cNvSpPr txBox="1"/>
            <p:nvPr/>
          </p:nvSpPr>
          <p:spPr>
            <a:xfrm>
              <a:off x="904494" y="180023"/>
              <a:ext cx="2516124"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人力资源工作总蓝图</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0" name="roof-goal"/>
          <p:cNvGrpSpPr/>
          <p:nvPr/>
        </p:nvGrpSpPr>
        <p:grpSpPr>
          <a:xfrm>
            <a:off x="571500" y="952500"/>
            <a:ext cx="11049000" cy="1905000"/>
            <a:chOff x="571500" y="952500"/>
            <a:chExt cx="11049000" cy="1905000"/>
          </a:xfrm>
        </p:grpSpPr>
        <p:sp>
          <p:nvSpPr>
            <p:cNvPr id="7" name="Freeform 7"/>
            <p:cNvSpPr/>
            <p:nvPr/>
          </p:nvSpPr>
          <p:spPr>
            <a:xfrm>
              <a:off x="571500" y="952500"/>
              <a:ext cx="11049000" cy="1905000"/>
            </a:xfrm>
            <a:prstGeom prst="triangle">
              <a:avLst/>
            </a:prstGeom>
            <a:solidFill>
              <a:srgbClr val="F8D1C9"/>
            </a:solidFill>
            <a:ln w="14288">
              <a:solidFill>
                <a:srgbClr val="F8B6A9"/>
              </a:solidFill>
            </a:ln>
          </p:spPr>
        </p:sp>
        <p:sp>
          <p:nvSpPr>
            <p:cNvPr id="8" name="Freeform 8"/>
            <p:cNvSpPr/>
            <p:nvPr/>
          </p:nvSpPr>
          <p:spPr>
            <a:xfrm>
              <a:off x="2476500" y="1600200"/>
              <a:ext cx="7239000" cy="1257300"/>
            </a:xfrm>
            <a:prstGeom prst="triangle">
              <a:avLst/>
            </a:prstGeom>
            <a:solidFill>
              <a:srgbClr val="F8B6A9">
                <a:alpha val="55000"/>
              </a:srgbClr>
            </a:solidFill>
            <a:ln>
              <a:noFill/>
            </a:ln>
          </p:spPr>
        </p:sp>
        <p:sp>
          <p:nvSpPr>
            <p:cNvPr id="9" name="TextBox 9"/>
            <p:cNvSpPr txBox="1"/>
            <p:nvPr/>
          </p:nvSpPr>
          <p:spPr>
            <a:xfrm>
              <a:off x="5167312" y="2189798"/>
              <a:ext cx="1857375" cy="381381"/>
            </a:xfrm>
            <a:prstGeom prst="rect">
              <a:avLst/>
            </a:prstGeom>
            <a:noFill/>
            <a:ln>
              <a:noFill/>
            </a:ln>
          </p:spPr>
          <p:txBody>
            <a:bodyPr wrap="none" lIns="0" tIns="0" rIns="0" bIns="0" anchor="t" anchorCtr="0">
              <a:spAutoFit/>
            </a:bodyPr>
            <a:lstStyle/>
            <a:p>
              <a:pPr algn="ctr"/>
              <a:r>
                <a:rPr lang="zh-CN" sz="1950" b="1" dirty="0">
                  <a:solidFill>
                    <a:srgbClr val="C83B1E"/>
                  </a:solidFill>
                  <a:latin typeface="+mn-lt"/>
                  <a:ea typeface="+mn-ea"/>
                  <a:cs typeface="+mn-cs"/>
                </a:rPr>
                <a:t>战略与经营目标</a:t>
              </a:r>
            </a:p>
          </p:txBody>
        </p:sp>
      </p:grpSp>
      <p:grpSp>
        <p:nvGrpSpPr>
          <p:cNvPr id="17" name="path-band"/>
          <p:cNvGrpSpPr/>
          <p:nvPr/>
        </p:nvGrpSpPr>
        <p:grpSpPr>
          <a:xfrm>
            <a:off x="571500" y="2876550"/>
            <a:ext cx="11049000" cy="495300"/>
            <a:chOff x="571500" y="2876550"/>
            <a:chExt cx="11049000" cy="495300"/>
          </a:xfrm>
        </p:grpSpPr>
        <p:sp>
          <p:nvSpPr>
            <p:cNvPr id="11" name="Rectangle 11"/>
            <p:cNvSpPr/>
            <p:nvPr/>
          </p:nvSpPr>
          <p:spPr>
            <a:xfrm>
              <a:off x="571500" y="2876550"/>
              <a:ext cx="11049000" cy="495300"/>
            </a:xfrm>
            <a:prstGeom prst="rect">
              <a:avLst/>
            </a:prstGeom>
            <a:gradFill>
              <a:gsLst>
                <a:gs pos="0">
                  <a:srgbClr val="FF5B3A"/>
                </a:gs>
                <a:gs pos="50000">
                  <a:srgbClr val="E94B2B"/>
                </a:gs>
                <a:gs pos="100000">
                  <a:srgbClr val="FF5B3A"/>
                </a:gs>
              </a:gsLst>
              <a:lin ang="0" scaled="1"/>
            </a:gradFill>
            <a:ln>
              <a:noFill/>
            </a:ln>
          </p:spPr>
        </p:sp>
        <p:sp>
          <p:nvSpPr>
            <p:cNvPr id="12" name="TextBox 12"/>
            <p:cNvSpPr txBox="1"/>
            <p:nvPr/>
          </p:nvSpPr>
          <p:spPr>
            <a:xfrm>
              <a:off x="1306068" y="3054668"/>
              <a:ext cx="740664"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市场开拓</a:t>
              </a:r>
            </a:p>
          </p:txBody>
        </p:sp>
        <p:sp>
          <p:nvSpPr>
            <p:cNvPr id="13" name="TextBox 13"/>
            <p:cNvSpPr txBox="1"/>
            <p:nvPr/>
          </p:nvSpPr>
          <p:spPr>
            <a:xfrm>
              <a:off x="3515868" y="3054668"/>
              <a:ext cx="740664"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技术创新</a:t>
              </a:r>
            </a:p>
          </p:txBody>
        </p:sp>
        <p:sp>
          <p:nvSpPr>
            <p:cNvPr id="14" name="TextBox 14"/>
            <p:cNvSpPr txBox="1"/>
            <p:nvPr/>
          </p:nvSpPr>
          <p:spPr>
            <a:xfrm>
              <a:off x="5725668" y="3054668"/>
              <a:ext cx="740664"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降本节支</a:t>
              </a:r>
            </a:p>
          </p:txBody>
        </p:sp>
        <p:sp>
          <p:nvSpPr>
            <p:cNvPr id="15" name="TextBox 15"/>
            <p:cNvSpPr txBox="1"/>
            <p:nvPr/>
          </p:nvSpPr>
          <p:spPr>
            <a:xfrm>
              <a:off x="7935468" y="3054668"/>
              <a:ext cx="740664"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管理提升</a:t>
              </a:r>
            </a:p>
          </p:txBody>
        </p:sp>
        <p:sp>
          <p:nvSpPr>
            <p:cNvPr id="16" name="TextBox 16"/>
            <p:cNvSpPr txBox="1"/>
            <p:nvPr/>
          </p:nvSpPr>
          <p:spPr>
            <a:xfrm>
              <a:off x="10145268" y="3054668"/>
              <a:ext cx="740664"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智慧转型</a:t>
              </a:r>
            </a:p>
          </p:txBody>
        </p:sp>
      </p:grpSp>
      <p:grpSp>
        <p:nvGrpSpPr>
          <p:cNvPr id="36" name="body-columns"/>
          <p:cNvGrpSpPr/>
          <p:nvPr/>
        </p:nvGrpSpPr>
        <p:grpSpPr>
          <a:xfrm>
            <a:off x="571500" y="3429000"/>
            <a:ext cx="11049000" cy="1885950"/>
            <a:chOff x="571500" y="3429000"/>
            <a:chExt cx="11049000" cy="1885950"/>
          </a:xfrm>
        </p:grpSpPr>
        <p:sp>
          <p:nvSpPr>
            <p:cNvPr id="18" name="Rectangle 18"/>
            <p:cNvSpPr/>
            <p:nvPr/>
          </p:nvSpPr>
          <p:spPr>
            <a:xfrm>
              <a:off x="571500" y="3429000"/>
              <a:ext cx="11049000" cy="1885950"/>
            </a:xfrm>
            <a:prstGeom prst="rect">
              <a:avLst/>
            </a:prstGeom>
            <a:gradFill>
              <a:gsLst>
                <a:gs pos="0">
                  <a:srgbClr val="FFFFFF"/>
                </a:gs>
                <a:gs pos="100000">
                  <a:srgbClr val="D6E6FA"/>
                </a:gs>
              </a:gsLst>
              <a:lin ang="5400000" scaled="1"/>
            </a:gradFill>
            <a:ln>
              <a:noFill/>
            </a:ln>
          </p:spPr>
        </p:sp>
        <p:sp>
          <p:nvSpPr>
            <p:cNvPr id="19" name="Rectangle 19"/>
            <p:cNvSpPr/>
            <p:nvPr/>
          </p:nvSpPr>
          <p:spPr>
            <a:xfrm>
              <a:off x="571500" y="3429000"/>
              <a:ext cx="285750" cy="1885950"/>
            </a:xfrm>
            <a:prstGeom prst="rect">
              <a:avLst/>
            </a:prstGeom>
            <a:solidFill>
              <a:srgbClr val="F6C2B7">
                <a:alpha val="60000"/>
              </a:srgbClr>
            </a:solidFill>
            <a:ln>
              <a:noFill/>
            </a:ln>
          </p:spPr>
        </p:sp>
        <p:sp>
          <p:nvSpPr>
            <p:cNvPr id="20" name="Rectangle 20"/>
            <p:cNvSpPr/>
            <p:nvPr/>
          </p:nvSpPr>
          <p:spPr>
            <a:xfrm>
              <a:off x="11334750" y="3429000"/>
              <a:ext cx="285750" cy="1885950"/>
            </a:xfrm>
            <a:prstGeom prst="rect">
              <a:avLst/>
            </a:prstGeom>
            <a:solidFill>
              <a:srgbClr val="F6C2B7">
                <a:alpha val="60000"/>
              </a:srgbClr>
            </a:solidFill>
            <a:ln>
              <a:noFill/>
            </a:ln>
          </p:spPr>
        </p:sp>
        <p:sp>
          <p:nvSpPr>
            <p:cNvPr id="21" name="Line 21"/>
            <p:cNvSpPr/>
            <p:nvPr/>
          </p:nvSpPr>
          <p:spPr>
            <a:xfrm>
              <a:off x="3333750" y="3619500"/>
              <a:ext cx="9525" cy="1524000"/>
            </a:xfrm>
            <a:custGeom>
              <a:avLst/>
              <a:gdLst/>
              <a:ahLst/>
              <a:cxnLst/>
              <a:rect l="l" t="t" r="r" b="b"/>
              <a:pathLst>
                <a:path w="9525" h="1524000">
                  <a:moveTo>
                    <a:pt x="0" y="0"/>
                  </a:moveTo>
                  <a:lnTo>
                    <a:pt x="0" y="1524000"/>
                  </a:lnTo>
                </a:path>
              </a:pathLst>
            </a:custGeom>
            <a:noFill/>
            <a:ln w="14288">
              <a:solidFill>
                <a:srgbClr val="C9DDF5"/>
              </a:solidFill>
            </a:ln>
          </p:spPr>
        </p:sp>
        <p:sp>
          <p:nvSpPr>
            <p:cNvPr id="22" name="Line 22"/>
            <p:cNvSpPr/>
            <p:nvPr/>
          </p:nvSpPr>
          <p:spPr>
            <a:xfrm>
              <a:off x="6096000" y="3619500"/>
              <a:ext cx="9525" cy="1524000"/>
            </a:xfrm>
            <a:custGeom>
              <a:avLst/>
              <a:gdLst/>
              <a:ahLst/>
              <a:cxnLst/>
              <a:rect l="l" t="t" r="r" b="b"/>
              <a:pathLst>
                <a:path w="9525" h="1524000">
                  <a:moveTo>
                    <a:pt x="0" y="0"/>
                  </a:moveTo>
                  <a:lnTo>
                    <a:pt x="0" y="1524000"/>
                  </a:lnTo>
                </a:path>
              </a:pathLst>
            </a:custGeom>
            <a:noFill/>
            <a:ln w="14288">
              <a:solidFill>
                <a:srgbClr val="C9DDF5"/>
              </a:solidFill>
            </a:ln>
          </p:spPr>
        </p:sp>
        <p:sp>
          <p:nvSpPr>
            <p:cNvPr id="23" name="Line 23"/>
            <p:cNvSpPr/>
            <p:nvPr/>
          </p:nvSpPr>
          <p:spPr>
            <a:xfrm>
              <a:off x="8858250" y="3619500"/>
              <a:ext cx="9525" cy="1524000"/>
            </a:xfrm>
            <a:custGeom>
              <a:avLst/>
              <a:gdLst/>
              <a:ahLst/>
              <a:cxnLst/>
              <a:rect l="l" t="t" r="r" b="b"/>
              <a:pathLst>
                <a:path w="9525" h="1524000">
                  <a:moveTo>
                    <a:pt x="0" y="0"/>
                  </a:moveTo>
                  <a:lnTo>
                    <a:pt x="0" y="1524000"/>
                  </a:lnTo>
                </a:path>
              </a:pathLst>
            </a:custGeom>
            <a:noFill/>
            <a:ln w="14288">
              <a:solidFill>
                <a:srgbClr val="C9DDF5"/>
              </a:solidFill>
            </a:ln>
          </p:spPr>
        </p:sp>
        <p:grpSp>
          <p:nvGrpSpPr>
            <p:cNvPr id="26" name="col-mechanism"/>
            <p:cNvGrpSpPr/>
            <p:nvPr/>
          </p:nvGrpSpPr>
          <p:grpSpPr>
            <a:xfrm>
              <a:off x="1598676" y="4072890"/>
              <a:ext cx="993648" cy="976122"/>
              <a:chOff x="1598676" y="4072890"/>
              <a:chExt cx="993648" cy="976122"/>
            </a:xfrm>
          </p:grpSpPr>
          <p:sp>
            <p:nvSpPr>
              <p:cNvPr id="24" name="TextBox 24"/>
              <p:cNvSpPr txBox="1"/>
              <p:nvPr/>
            </p:nvSpPr>
            <p:spPr>
              <a:xfrm>
                <a:off x="1601724" y="4072890"/>
                <a:ext cx="987552" cy="352044"/>
              </a:xfrm>
              <a:prstGeom prst="rect">
                <a:avLst/>
              </a:prstGeom>
              <a:noFill/>
              <a:ln>
                <a:noFill/>
              </a:ln>
            </p:spPr>
            <p:txBody>
              <a:bodyPr wrap="none" lIns="0" tIns="0" rIns="0" bIns="0" anchor="t" anchorCtr="0">
                <a:spAutoFit/>
              </a:bodyPr>
              <a:lstStyle/>
              <a:p>
                <a:pPr algn="ctr"/>
                <a:r>
                  <a:rPr lang="zh-CN" sz="1800" b="1" dirty="0">
                    <a:solidFill>
                      <a:srgbClr val="333333"/>
                    </a:solidFill>
                    <a:latin typeface="+mn-lt"/>
                    <a:ea typeface="+mn-ea"/>
                    <a:cs typeface="+mn-cs"/>
                  </a:rPr>
                  <a:t>机制创新</a:t>
                </a:r>
              </a:p>
            </p:txBody>
          </p:sp>
          <p:sp>
            <p:nvSpPr>
              <p:cNvPr id="25" name="TextBox 25"/>
              <p:cNvSpPr txBox="1"/>
              <p:nvPr/>
            </p:nvSpPr>
            <p:spPr>
              <a:xfrm>
                <a:off x="1598676" y="4579620"/>
                <a:ext cx="993648" cy="469392"/>
              </a:xfrm>
              <a:prstGeom prst="rect">
                <a:avLst/>
              </a:prstGeom>
              <a:noFill/>
              <a:ln>
                <a:noFill/>
              </a:ln>
            </p:spPr>
            <p:txBody>
              <a:bodyPr wrap="none" lIns="0" tIns="0" rIns="0" bIns="0" anchor="t" anchorCtr="0">
                <a:spAutoFit/>
              </a:bodyPr>
              <a:lstStyle/>
              <a:p>
                <a:pPr algn="ctr"/>
                <a:r>
                  <a:rPr lang="zh-CN" sz="2400" dirty="0">
                    <a:solidFill>
                      <a:srgbClr val="E94B2B"/>
                    </a:solidFill>
                    <a:latin typeface="+mn-lt"/>
                    <a:ea typeface="+mn-ea"/>
                    <a:cs typeface="+mn-cs"/>
                  </a:rPr>
                  <a:t>驱动力</a:t>
                </a:r>
              </a:p>
            </p:txBody>
          </p:sp>
        </p:grpSp>
        <p:grpSp>
          <p:nvGrpSpPr>
            <p:cNvPr id="29" name="col-efficiency"/>
            <p:cNvGrpSpPr/>
            <p:nvPr/>
          </p:nvGrpSpPr>
          <p:grpSpPr>
            <a:xfrm>
              <a:off x="4218051" y="4072890"/>
              <a:ext cx="993648" cy="976122"/>
              <a:chOff x="4218051" y="4072890"/>
              <a:chExt cx="993648" cy="976122"/>
            </a:xfrm>
          </p:grpSpPr>
          <p:sp>
            <p:nvSpPr>
              <p:cNvPr id="27" name="TextBox 27"/>
              <p:cNvSpPr txBox="1"/>
              <p:nvPr/>
            </p:nvSpPr>
            <p:spPr>
              <a:xfrm>
                <a:off x="4221099" y="4072890"/>
                <a:ext cx="987552" cy="352044"/>
              </a:xfrm>
              <a:prstGeom prst="rect">
                <a:avLst/>
              </a:prstGeom>
              <a:noFill/>
              <a:ln>
                <a:noFill/>
              </a:ln>
            </p:spPr>
            <p:txBody>
              <a:bodyPr wrap="none" lIns="0" tIns="0" rIns="0" bIns="0" anchor="t" anchorCtr="0">
                <a:spAutoFit/>
              </a:bodyPr>
              <a:lstStyle/>
              <a:p>
                <a:pPr algn="ctr"/>
                <a:r>
                  <a:rPr lang="zh-CN" sz="1800" b="1" dirty="0">
                    <a:solidFill>
                      <a:srgbClr val="333333"/>
                    </a:solidFill>
                    <a:latin typeface="+mn-lt"/>
                    <a:ea typeface="+mn-ea"/>
                    <a:cs typeface="+mn-cs"/>
                  </a:rPr>
                  <a:t>优员优效</a:t>
                </a:r>
              </a:p>
            </p:txBody>
          </p:sp>
          <p:sp>
            <p:nvSpPr>
              <p:cNvPr id="28" name="TextBox 28"/>
              <p:cNvSpPr txBox="1"/>
              <p:nvPr/>
            </p:nvSpPr>
            <p:spPr>
              <a:xfrm>
                <a:off x="4218051" y="4579620"/>
                <a:ext cx="993648" cy="469392"/>
              </a:xfrm>
              <a:prstGeom prst="rect">
                <a:avLst/>
              </a:prstGeom>
              <a:noFill/>
              <a:ln>
                <a:noFill/>
              </a:ln>
            </p:spPr>
            <p:txBody>
              <a:bodyPr wrap="none" lIns="0" tIns="0" rIns="0" bIns="0" anchor="t" anchorCtr="0">
                <a:spAutoFit/>
              </a:bodyPr>
              <a:lstStyle/>
              <a:p>
                <a:pPr algn="ctr"/>
                <a:r>
                  <a:rPr lang="zh-CN" sz="2400" dirty="0">
                    <a:solidFill>
                      <a:srgbClr val="E94B2B"/>
                    </a:solidFill>
                    <a:latin typeface="+mn-lt"/>
                    <a:ea typeface="+mn-ea"/>
                    <a:cs typeface="+mn-cs"/>
                  </a:rPr>
                  <a:t>添活力</a:t>
                </a:r>
              </a:p>
            </p:txBody>
          </p:sp>
        </p:grpSp>
        <p:grpSp>
          <p:nvGrpSpPr>
            <p:cNvPr id="32" name="col-talent"/>
            <p:cNvGrpSpPr/>
            <p:nvPr/>
          </p:nvGrpSpPr>
          <p:grpSpPr>
            <a:xfrm>
              <a:off x="6980301" y="4072890"/>
              <a:ext cx="993648" cy="976122"/>
              <a:chOff x="6980301" y="4072890"/>
              <a:chExt cx="993648" cy="976122"/>
            </a:xfrm>
          </p:grpSpPr>
          <p:sp>
            <p:nvSpPr>
              <p:cNvPr id="30" name="TextBox 30"/>
              <p:cNvSpPr txBox="1"/>
              <p:nvPr/>
            </p:nvSpPr>
            <p:spPr>
              <a:xfrm>
                <a:off x="6983349" y="4072890"/>
                <a:ext cx="987552" cy="352044"/>
              </a:xfrm>
              <a:prstGeom prst="rect">
                <a:avLst/>
              </a:prstGeom>
              <a:noFill/>
              <a:ln>
                <a:noFill/>
              </a:ln>
            </p:spPr>
            <p:txBody>
              <a:bodyPr wrap="none" lIns="0" tIns="0" rIns="0" bIns="0" anchor="t" anchorCtr="0">
                <a:spAutoFit/>
              </a:bodyPr>
              <a:lstStyle/>
              <a:p>
                <a:pPr algn="ctr"/>
                <a:r>
                  <a:rPr lang="zh-CN" sz="1800" b="1" dirty="0">
                    <a:solidFill>
                      <a:srgbClr val="333333"/>
                    </a:solidFill>
                    <a:latin typeface="+mn-lt"/>
                    <a:ea typeface="+mn-ea"/>
                    <a:cs typeface="+mn-cs"/>
                  </a:rPr>
                  <a:t>人才强企</a:t>
                </a:r>
              </a:p>
            </p:txBody>
          </p:sp>
          <p:sp>
            <p:nvSpPr>
              <p:cNvPr id="31" name="TextBox 31"/>
              <p:cNvSpPr txBox="1"/>
              <p:nvPr/>
            </p:nvSpPr>
            <p:spPr>
              <a:xfrm>
                <a:off x="6980301" y="4579620"/>
                <a:ext cx="993648" cy="469392"/>
              </a:xfrm>
              <a:prstGeom prst="rect">
                <a:avLst/>
              </a:prstGeom>
              <a:noFill/>
              <a:ln>
                <a:noFill/>
              </a:ln>
            </p:spPr>
            <p:txBody>
              <a:bodyPr wrap="none" lIns="0" tIns="0" rIns="0" bIns="0" anchor="t" anchorCtr="0">
                <a:spAutoFit/>
              </a:bodyPr>
              <a:lstStyle/>
              <a:p>
                <a:pPr algn="ctr"/>
                <a:r>
                  <a:rPr lang="zh-CN" sz="2400" dirty="0">
                    <a:solidFill>
                      <a:srgbClr val="E94B2B"/>
                    </a:solidFill>
                    <a:latin typeface="+mn-lt"/>
                    <a:ea typeface="+mn-ea"/>
                    <a:cs typeface="+mn-cs"/>
                  </a:rPr>
                  <a:t>蓄潜力</a:t>
                </a:r>
              </a:p>
            </p:txBody>
          </p:sp>
        </p:grpSp>
        <p:grpSp>
          <p:nvGrpSpPr>
            <p:cNvPr id="35" name="col-digital"/>
            <p:cNvGrpSpPr/>
            <p:nvPr/>
          </p:nvGrpSpPr>
          <p:grpSpPr>
            <a:xfrm>
              <a:off x="9599676" y="4072890"/>
              <a:ext cx="993648" cy="976122"/>
              <a:chOff x="9599676" y="4072890"/>
              <a:chExt cx="993648" cy="976122"/>
            </a:xfrm>
          </p:grpSpPr>
          <p:sp>
            <p:nvSpPr>
              <p:cNvPr id="33" name="TextBox 33"/>
              <p:cNvSpPr txBox="1"/>
              <p:nvPr/>
            </p:nvSpPr>
            <p:spPr>
              <a:xfrm>
                <a:off x="9602724" y="4072890"/>
                <a:ext cx="987552" cy="352044"/>
              </a:xfrm>
              <a:prstGeom prst="rect">
                <a:avLst/>
              </a:prstGeom>
              <a:noFill/>
              <a:ln>
                <a:noFill/>
              </a:ln>
            </p:spPr>
            <p:txBody>
              <a:bodyPr wrap="none" lIns="0" tIns="0" rIns="0" bIns="0" anchor="t" anchorCtr="0">
                <a:spAutoFit/>
              </a:bodyPr>
              <a:lstStyle/>
              <a:p>
                <a:pPr algn="ctr"/>
                <a:r>
                  <a:rPr lang="zh-CN" sz="1800" b="1" dirty="0">
                    <a:solidFill>
                      <a:srgbClr val="333333"/>
                    </a:solidFill>
                    <a:latin typeface="+mn-lt"/>
                    <a:ea typeface="+mn-ea"/>
                    <a:cs typeface="+mn-cs"/>
                  </a:rPr>
                  <a:t>数智转型</a:t>
                </a:r>
              </a:p>
            </p:txBody>
          </p:sp>
          <p:sp>
            <p:nvSpPr>
              <p:cNvPr id="34" name="TextBox 34"/>
              <p:cNvSpPr txBox="1"/>
              <p:nvPr/>
            </p:nvSpPr>
            <p:spPr>
              <a:xfrm>
                <a:off x="9599676" y="4579620"/>
                <a:ext cx="993648" cy="469392"/>
              </a:xfrm>
              <a:prstGeom prst="rect">
                <a:avLst/>
              </a:prstGeom>
              <a:noFill/>
              <a:ln>
                <a:noFill/>
              </a:ln>
            </p:spPr>
            <p:txBody>
              <a:bodyPr wrap="none" lIns="0" tIns="0" rIns="0" bIns="0" anchor="t" anchorCtr="0">
                <a:spAutoFit/>
              </a:bodyPr>
              <a:lstStyle/>
              <a:p>
                <a:pPr algn="ctr"/>
                <a:r>
                  <a:rPr lang="zh-CN" sz="2400" dirty="0">
                    <a:solidFill>
                      <a:srgbClr val="E94B2B"/>
                    </a:solidFill>
                    <a:latin typeface="+mn-lt"/>
                    <a:ea typeface="+mn-ea"/>
                    <a:cs typeface="+mn-cs"/>
                  </a:rPr>
                  <a:t>增实力</a:t>
                </a:r>
              </a:p>
            </p:txBody>
          </p:sp>
        </p:grpSp>
      </p:grpSp>
      <p:grpSp>
        <p:nvGrpSpPr>
          <p:cNvPr id="40" name="slogan-band"/>
          <p:cNvGrpSpPr/>
          <p:nvPr/>
        </p:nvGrpSpPr>
        <p:grpSpPr>
          <a:xfrm>
            <a:off x="285750" y="5372100"/>
            <a:ext cx="11620500" cy="971550"/>
            <a:chOff x="285750" y="5372100"/>
            <a:chExt cx="11620500" cy="971550"/>
          </a:xfrm>
        </p:grpSpPr>
        <p:sp>
          <p:nvSpPr>
            <p:cNvPr id="37" name="Rectangle 37"/>
            <p:cNvSpPr/>
            <p:nvPr/>
          </p:nvSpPr>
          <p:spPr>
            <a:xfrm>
              <a:off x="571500" y="5372100"/>
              <a:ext cx="11049000" cy="762000"/>
            </a:xfrm>
            <a:prstGeom prst="rect">
              <a:avLst/>
            </a:prstGeom>
            <a:gradFill>
              <a:gsLst>
                <a:gs pos="0">
                  <a:srgbClr val="E94B2B"/>
                </a:gs>
                <a:gs pos="50000">
                  <a:srgbClr val="C83B1E"/>
                </a:gs>
                <a:gs pos="100000">
                  <a:srgbClr val="E94B2B"/>
                </a:gs>
              </a:gsLst>
              <a:lin ang="0" scaled="1"/>
            </a:gradFill>
            <a:ln>
              <a:noFill/>
            </a:ln>
          </p:spPr>
        </p:sp>
        <p:sp>
          <p:nvSpPr>
            <p:cNvPr id="38" name="Polygon 38"/>
            <p:cNvSpPr/>
            <p:nvPr/>
          </p:nvSpPr>
          <p:spPr>
            <a:xfrm>
              <a:off x="285750" y="6134100"/>
              <a:ext cx="11620500" cy="209550"/>
            </a:xfrm>
            <a:custGeom>
              <a:avLst/>
              <a:gdLst/>
              <a:ahLst/>
              <a:cxnLst/>
              <a:rect l="l" t="t" r="r" b="b"/>
              <a:pathLst>
                <a:path w="11620500" h="209550">
                  <a:moveTo>
                    <a:pt x="285750" y="0"/>
                  </a:moveTo>
                  <a:lnTo>
                    <a:pt x="11334750" y="0"/>
                  </a:lnTo>
                  <a:lnTo>
                    <a:pt x="11620500" y="209550"/>
                  </a:lnTo>
                  <a:lnTo>
                    <a:pt x="0" y="209550"/>
                  </a:lnTo>
                  <a:close/>
                </a:path>
              </a:pathLst>
            </a:custGeom>
            <a:solidFill>
              <a:srgbClr val="B03117"/>
            </a:solidFill>
            <a:ln>
              <a:noFill/>
            </a:ln>
          </p:spPr>
        </p:sp>
        <p:sp>
          <p:nvSpPr>
            <p:cNvPr id="39" name="TextBox 39"/>
            <p:cNvSpPr txBox="1"/>
            <p:nvPr/>
          </p:nvSpPr>
          <p:spPr>
            <a:xfrm>
              <a:off x="4027170" y="5654040"/>
              <a:ext cx="4137660"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创先争优，打造优质人力资源服务平台</a:t>
              </a:r>
            </a:p>
          </p:txBody>
        </p:sp>
      </p:gr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12</a:t>
              </a:r>
            </a:p>
          </p:txBody>
        </p:sp>
        <p:sp>
          <p:nvSpPr>
            <p:cNvPr id="4" name="TextBox 4"/>
            <p:cNvSpPr txBox="1"/>
            <p:nvPr/>
          </p:nvSpPr>
          <p:spPr>
            <a:xfrm>
              <a:off x="904494" y="180023"/>
              <a:ext cx="2516124"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人力资源工作总蓝图</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0" name="halo-title"/>
          <p:cNvGrpSpPr/>
          <p:nvPr/>
        </p:nvGrpSpPr>
        <p:grpSpPr>
          <a:xfrm>
            <a:off x="3238500" y="1700212"/>
            <a:ext cx="5715000" cy="566738"/>
            <a:chOff x="3238500" y="1700212"/>
            <a:chExt cx="5715000" cy="566738"/>
          </a:xfrm>
        </p:grpSpPr>
        <p:sp>
          <p:nvSpPr>
            <p:cNvPr id="7" name="Ellipse 7"/>
            <p:cNvSpPr/>
            <p:nvPr/>
          </p:nvSpPr>
          <p:spPr>
            <a:xfrm>
              <a:off x="3238500" y="1962150"/>
              <a:ext cx="5715000" cy="304800"/>
            </a:xfrm>
            <a:prstGeom prst="ellipse">
              <a:avLst/>
            </a:prstGeom>
            <a:gradFill>
              <a:gsLst>
                <a:gs pos="0">
                  <a:srgbClr val="F8B6A9"/>
                </a:gs>
                <a:gs pos="50000">
                  <a:srgbClr val="E94B2B"/>
                </a:gs>
                <a:gs pos="100000">
                  <a:srgbClr val="F8B6A9"/>
                </a:gs>
              </a:gsLst>
              <a:lin ang="0" scaled="1"/>
            </a:gradFill>
            <a:ln>
              <a:noFill/>
            </a:ln>
          </p:spPr>
        </p:sp>
        <p:sp>
          <p:nvSpPr>
            <p:cNvPr id="8" name="Ellipse 8"/>
            <p:cNvSpPr/>
            <p:nvPr/>
          </p:nvSpPr>
          <p:spPr>
            <a:xfrm>
              <a:off x="3524250" y="1847850"/>
              <a:ext cx="5143500" cy="342900"/>
            </a:xfrm>
            <a:prstGeom prst="ellipse">
              <a:avLst/>
            </a:prstGeom>
            <a:solidFill>
              <a:srgbClr val="DCEBFB"/>
            </a:solidFill>
            <a:ln>
              <a:noFill/>
            </a:ln>
          </p:spPr>
        </p:sp>
        <p:sp>
          <p:nvSpPr>
            <p:cNvPr id="9" name="TextBox 9"/>
            <p:cNvSpPr txBox="1"/>
            <p:nvPr/>
          </p:nvSpPr>
          <p:spPr>
            <a:xfrm>
              <a:off x="4721542" y="1700212"/>
              <a:ext cx="2748915" cy="440055"/>
            </a:xfrm>
            <a:prstGeom prst="rect">
              <a:avLst/>
            </a:prstGeom>
            <a:noFill/>
            <a:ln>
              <a:noFill/>
            </a:ln>
          </p:spPr>
          <p:txBody>
            <a:bodyPr wrap="none" lIns="0" tIns="0" rIns="0" bIns="0" anchor="t" anchorCtr="0">
              <a:spAutoFit/>
            </a:bodyPr>
            <a:lstStyle/>
            <a:p>
              <a:pPr algn="ctr"/>
              <a:r>
                <a:rPr lang="zh-CN" sz="2250" b="1" dirty="0">
                  <a:solidFill>
                    <a:srgbClr val="E94B2B"/>
                  </a:solidFill>
                  <a:latin typeface="+mn-lt"/>
                  <a:ea typeface="+mn-ea"/>
                  <a:cs typeface="+mn-cs"/>
                </a:rPr>
                <a:t>技术创新、智慧转型</a:t>
              </a:r>
            </a:p>
          </p:txBody>
        </p:sp>
      </p:grpSp>
      <p:grpSp>
        <p:nvGrpSpPr>
          <p:cNvPr id="53" name="orbit-nodes"/>
          <p:cNvGrpSpPr/>
          <p:nvPr/>
        </p:nvGrpSpPr>
        <p:grpSpPr>
          <a:xfrm>
            <a:off x="666750" y="2324100"/>
            <a:ext cx="10858500" cy="2444687"/>
            <a:chOff x="666750" y="2324100"/>
            <a:chExt cx="10858500" cy="2444687"/>
          </a:xfrm>
        </p:grpSpPr>
        <p:sp>
          <p:nvSpPr>
            <p:cNvPr id="11" name="Ellipse 11"/>
            <p:cNvSpPr/>
            <p:nvPr/>
          </p:nvSpPr>
          <p:spPr>
            <a:xfrm>
              <a:off x="666750" y="2933700"/>
              <a:ext cx="10858500" cy="1181100"/>
            </a:xfrm>
            <a:prstGeom prst="ellipse">
              <a:avLst/>
            </a:prstGeom>
            <a:gradFill>
              <a:gsLst>
                <a:gs pos="0">
                  <a:srgbClr val="F3F8FE"/>
                </a:gs>
                <a:gs pos="100000">
                  <a:srgbClr val="F8D1C9"/>
                </a:gs>
              </a:gsLst>
              <a:lin ang="5400000" scaled="1"/>
            </a:gradFill>
            <a:ln w="14288">
              <a:solidFill>
                <a:srgbClr val="F2AC9E"/>
              </a:solidFill>
            </a:ln>
          </p:spPr>
        </p:sp>
        <p:sp>
          <p:nvSpPr>
            <p:cNvPr id="12" name="Ellipse 12"/>
            <p:cNvSpPr/>
            <p:nvPr/>
          </p:nvSpPr>
          <p:spPr>
            <a:xfrm>
              <a:off x="952500" y="3009900"/>
              <a:ext cx="10287000" cy="914400"/>
            </a:xfrm>
            <a:prstGeom prst="ellipse">
              <a:avLst/>
            </a:prstGeom>
            <a:solidFill>
              <a:srgbClr val="FFFFFF">
                <a:alpha val="50000"/>
              </a:srgbClr>
            </a:solidFill>
            <a:ln>
              <a:noFill/>
            </a:ln>
          </p:spPr>
        </p:sp>
        <p:sp>
          <p:nvSpPr>
            <p:cNvPr id="13" name="Ellipse 13"/>
            <p:cNvSpPr/>
            <p:nvPr/>
          </p:nvSpPr>
          <p:spPr>
            <a:xfrm>
              <a:off x="1485900" y="2438400"/>
              <a:ext cx="647700" cy="6477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17" name="Group 17"/>
            <p:cNvGrpSpPr/>
            <p:nvPr/>
          </p:nvGrpSpPr>
          <p:grpSpPr>
            <a:xfrm>
              <a:off x="1681162" y="2633662"/>
              <a:ext cx="257175" cy="257175"/>
              <a:chOff x="1681162" y="2633662"/>
              <a:chExt cx="257175" cy="257175"/>
            </a:xfrm>
          </p:grpSpPr>
          <p:sp>
            <p:nvSpPr>
              <p:cNvPr id="14" name="Freeform 14"/>
              <p:cNvSpPr/>
              <p:nvPr/>
            </p:nvSpPr>
            <p:spPr>
              <a:xfrm>
                <a:off x="1681162" y="2633662"/>
                <a:ext cx="257175" cy="128588"/>
              </a:xfrm>
              <a:custGeom>
                <a:avLst/>
                <a:gdLst/>
                <a:ahLst/>
                <a:cxnLst/>
                <a:rect l="l" t="t" r="r" b="b"/>
                <a:pathLst>
                  <a:path w="257175" h="128588">
                    <a:moveTo>
                      <a:pt x="0" y="128588"/>
                    </a:moveTo>
                    <a:lnTo>
                      <a:pt x="14288" y="128588"/>
                    </a:lnTo>
                    <a:moveTo>
                      <a:pt x="128588" y="0"/>
                    </a:moveTo>
                    <a:lnTo>
                      <a:pt x="128588" y="14288"/>
                    </a:lnTo>
                    <a:moveTo>
                      <a:pt x="242888" y="128588"/>
                    </a:moveTo>
                    <a:lnTo>
                      <a:pt x="257175" y="128588"/>
                    </a:lnTo>
                    <a:moveTo>
                      <a:pt x="37148" y="37147"/>
                    </a:moveTo>
                    <a:lnTo>
                      <a:pt x="47149" y="47149"/>
                    </a:lnTo>
                    <a:moveTo>
                      <a:pt x="220027" y="37147"/>
                    </a:moveTo>
                    <a:lnTo>
                      <a:pt x="210026" y="47149"/>
                    </a:lnTo>
                  </a:path>
                </a:pathLst>
              </a:custGeom>
              <a:noFill/>
              <a:ln w="28575">
                <a:solidFill>
                  <a:srgbClr val="FFFFFF"/>
                </a:solidFill>
              </a:ln>
            </p:spPr>
          </p:sp>
          <p:sp>
            <p:nvSpPr>
              <p:cNvPr id="15" name="Freeform 15"/>
              <p:cNvSpPr/>
              <p:nvPr/>
            </p:nvSpPr>
            <p:spPr>
              <a:xfrm>
                <a:off x="1732255" y="2690812"/>
                <a:ext cx="154990" cy="200025"/>
              </a:xfrm>
              <a:custGeom>
                <a:avLst/>
                <a:gdLst/>
                <a:ahLst/>
                <a:cxnLst/>
                <a:rect l="l" t="t" r="r" b="b"/>
                <a:pathLst>
                  <a:path w="154990" h="200025">
                    <a:moveTo>
                      <a:pt x="34633" y="128588"/>
                    </a:moveTo>
                    <a:cubicBezTo>
                      <a:pt x="10034" y="110138"/>
                      <a:pt x="0" y="78018"/>
                      <a:pt x="9724" y="48847"/>
                    </a:cubicBezTo>
                    <a:cubicBezTo>
                      <a:pt x="19447" y="19676"/>
                      <a:pt x="46746" y="0"/>
                      <a:pt x="77495" y="0"/>
                    </a:cubicBezTo>
                    <a:cubicBezTo>
                      <a:pt x="108244" y="0"/>
                      <a:pt x="135543" y="19676"/>
                      <a:pt x="145267" y="48847"/>
                    </a:cubicBezTo>
                    <a:cubicBezTo>
                      <a:pt x="154990" y="78018"/>
                      <a:pt x="144957" y="110138"/>
                      <a:pt x="120358" y="128588"/>
                    </a:cubicBezTo>
                    <a:cubicBezTo>
                      <a:pt x="109044" y="139786"/>
                      <a:pt x="103739" y="155703"/>
                      <a:pt x="106070" y="171450"/>
                    </a:cubicBezTo>
                    <a:cubicBezTo>
                      <a:pt x="106070" y="187232"/>
                      <a:pt x="93277" y="200025"/>
                      <a:pt x="77495" y="200025"/>
                    </a:cubicBezTo>
                    <a:cubicBezTo>
                      <a:pt x="61714" y="200025"/>
                      <a:pt x="48920" y="187232"/>
                      <a:pt x="48920" y="171450"/>
                    </a:cubicBezTo>
                    <a:cubicBezTo>
                      <a:pt x="51252" y="155703"/>
                      <a:pt x="45946" y="139786"/>
                      <a:pt x="34633" y="128588"/>
                    </a:cubicBezTo>
                  </a:path>
                </a:pathLst>
              </a:custGeom>
              <a:noFill/>
              <a:ln w="28575">
                <a:solidFill>
                  <a:srgbClr val="FFFFFF"/>
                </a:solidFill>
              </a:ln>
            </p:spPr>
          </p:sp>
          <p:sp>
            <p:nvSpPr>
              <p:cNvPr id="16" name="Freeform 16"/>
              <p:cNvSpPr/>
              <p:nvPr/>
            </p:nvSpPr>
            <p:spPr>
              <a:xfrm>
                <a:off x="1776889" y="2833688"/>
                <a:ext cx="65722" cy="9525"/>
              </a:xfrm>
              <a:custGeom>
                <a:avLst/>
                <a:gdLst/>
                <a:ahLst/>
                <a:cxnLst/>
                <a:rect l="l" t="t" r="r" b="b"/>
                <a:pathLst>
                  <a:path w="65722" h="9525">
                    <a:moveTo>
                      <a:pt x="0" y="0"/>
                    </a:moveTo>
                    <a:lnTo>
                      <a:pt x="65722" y="0"/>
                    </a:lnTo>
                  </a:path>
                </a:pathLst>
              </a:custGeom>
              <a:noFill/>
              <a:ln w="28575">
                <a:solidFill>
                  <a:srgbClr val="FFFFFF"/>
                </a:solidFill>
              </a:ln>
            </p:spPr>
          </p:sp>
        </p:grpSp>
        <p:sp>
          <p:nvSpPr>
            <p:cNvPr id="18" name="Ellipse 18"/>
            <p:cNvSpPr/>
            <p:nvPr/>
          </p:nvSpPr>
          <p:spPr>
            <a:xfrm>
              <a:off x="4152900" y="2647950"/>
              <a:ext cx="647700" cy="6477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22" name="Group 22"/>
            <p:cNvGrpSpPr/>
            <p:nvPr/>
          </p:nvGrpSpPr>
          <p:grpSpPr>
            <a:xfrm>
              <a:off x="4353906" y="2843212"/>
              <a:ext cx="245659" cy="255604"/>
              <a:chOff x="4353906" y="2843212"/>
              <a:chExt cx="245659" cy="255604"/>
            </a:xfrm>
          </p:grpSpPr>
          <p:sp>
            <p:nvSpPr>
              <p:cNvPr id="19" name="Freeform 19"/>
              <p:cNvSpPr/>
              <p:nvPr/>
            </p:nvSpPr>
            <p:spPr>
              <a:xfrm>
                <a:off x="4391025" y="2843212"/>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28575">
                <a:solidFill>
                  <a:srgbClr val="FFFFFF"/>
                </a:solidFill>
              </a:ln>
            </p:spPr>
          </p:sp>
          <p:sp>
            <p:nvSpPr>
              <p:cNvPr id="20" name="Freeform 20"/>
              <p:cNvSpPr/>
              <p:nvPr/>
            </p:nvSpPr>
            <p:spPr>
              <a:xfrm>
                <a:off x="4476750" y="2971800"/>
                <a:ext cx="122815" cy="127016"/>
              </a:xfrm>
              <a:custGeom>
                <a:avLst/>
                <a:gdLst/>
                <a:ahLst/>
                <a:cxnLst/>
                <a:rect l="l" t="t" r="r" b="b"/>
                <a:pathLst>
                  <a:path w="122815" h="127016">
                    <a:moveTo>
                      <a:pt x="0" y="42862"/>
                    </a:moveTo>
                    <a:lnTo>
                      <a:pt x="48578" y="127016"/>
                    </a:lnTo>
                    <a:lnTo>
                      <a:pt x="71409" y="80824"/>
                    </a:lnTo>
                    <a:lnTo>
                      <a:pt x="122815" y="84139"/>
                    </a:lnTo>
                    <a:lnTo>
                      <a:pt x="74238" y="0"/>
                    </a:lnTo>
                  </a:path>
                </a:pathLst>
              </a:custGeom>
              <a:noFill/>
              <a:ln w="28575">
                <a:solidFill>
                  <a:srgbClr val="FFFFFF"/>
                </a:solidFill>
              </a:ln>
            </p:spPr>
          </p:sp>
          <p:sp>
            <p:nvSpPr>
              <p:cNvPr id="21" name="Freeform 21"/>
              <p:cNvSpPr/>
              <p:nvPr/>
            </p:nvSpPr>
            <p:spPr>
              <a:xfrm>
                <a:off x="4353906" y="2971800"/>
                <a:ext cx="122815" cy="127002"/>
              </a:xfrm>
              <a:custGeom>
                <a:avLst/>
                <a:gdLst/>
                <a:ahLst/>
                <a:cxnLst/>
                <a:rect l="l" t="t" r="r" b="b"/>
                <a:pathLst>
                  <a:path w="122815" h="127002">
                    <a:moveTo>
                      <a:pt x="48577" y="0"/>
                    </a:moveTo>
                    <a:lnTo>
                      <a:pt x="0" y="84153"/>
                    </a:lnTo>
                    <a:lnTo>
                      <a:pt x="51406" y="80824"/>
                    </a:lnTo>
                    <a:lnTo>
                      <a:pt x="74238" y="127002"/>
                    </a:lnTo>
                    <a:lnTo>
                      <a:pt x="122815" y="42862"/>
                    </a:lnTo>
                  </a:path>
                </a:pathLst>
              </a:custGeom>
              <a:noFill/>
              <a:ln w="28575">
                <a:solidFill>
                  <a:srgbClr val="FFFFFF"/>
                </a:solidFill>
              </a:ln>
            </p:spPr>
          </p:sp>
        </p:grpSp>
        <p:sp>
          <p:nvSpPr>
            <p:cNvPr id="23" name="Ellipse 23"/>
            <p:cNvSpPr/>
            <p:nvPr/>
          </p:nvSpPr>
          <p:spPr>
            <a:xfrm>
              <a:off x="7105650" y="2647950"/>
              <a:ext cx="647700" cy="6477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28" name="Group 28"/>
            <p:cNvGrpSpPr/>
            <p:nvPr/>
          </p:nvGrpSpPr>
          <p:grpSpPr>
            <a:xfrm>
              <a:off x="7300912" y="2843212"/>
              <a:ext cx="257175" cy="257176"/>
              <a:chOff x="7300912" y="2843212"/>
              <a:chExt cx="257175" cy="257176"/>
            </a:xfrm>
          </p:grpSpPr>
          <p:sp>
            <p:nvSpPr>
              <p:cNvPr id="24" name="Freeform 24"/>
              <p:cNvSpPr/>
              <p:nvPr/>
            </p:nvSpPr>
            <p:spPr>
              <a:xfrm>
                <a:off x="7329488" y="2843212"/>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28575">
                <a:solidFill>
                  <a:srgbClr val="FFFFFF"/>
                </a:solidFill>
              </a:ln>
            </p:spPr>
          </p:sp>
          <p:sp>
            <p:nvSpPr>
              <p:cNvPr id="25" name="Freeform 25"/>
              <p:cNvSpPr/>
              <p:nvPr/>
            </p:nvSpPr>
            <p:spPr>
              <a:xfrm>
                <a:off x="7300912" y="3014662"/>
                <a:ext cx="171450" cy="85725"/>
              </a:xfrm>
              <a:custGeom>
                <a:avLst/>
                <a:gdLst/>
                <a:ahLst/>
                <a:cxnLst/>
                <a:rect l="l" t="t" r="r" b="b"/>
                <a:pathLst>
                  <a:path w="171450" h="85725">
                    <a:moveTo>
                      <a:pt x="0" y="85725"/>
                    </a:moveTo>
                    <a:lnTo>
                      <a:pt x="0" y="57150"/>
                    </a:lnTo>
                    <a:cubicBezTo>
                      <a:pt x="0" y="25587"/>
                      <a:pt x="25587" y="0"/>
                      <a:pt x="57150" y="0"/>
                    </a:cubicBezTo>
                    <a:lnTo>
                      <a:pt x="114300" y="0"/>
                    </a:lnTo>
                    <a:cubicBezTo>
                      <a:pt x="145863" y="0"/>
                      <a:pt x="171450" y="25587"/>
                      <a:pt x="171450" y="57150"/>
                    </a:cubicBezTo>
                    <a:lnTo>
                      <a:pt x="171450" y="85725"/>
                    </a:lnTo>
                  </a:path>
                </a:pathLst>
              </a:custGeom>
              <a:noFill/>
              <a:ln w="28575">
                <a:solidFill>
                  <a:srgbClr val="FFFFFF"/>
                </a:solidFill>
              </a:ln>
            </p:spPr>
          </p:sp>
          <p:sp>
            <p:nvSpPr>
              <p:cNvPr id="26" name="Freeform 26"/>
              <p:cNvSpPr/>
              <p:nvPr/>
            </p:nvSpPr>
            <p:spPr>
              <a:xfrm>
                <a:off x="7486650" y="2845070"/>
                <a:ext cx="42975" cy="110728"/>
              </a:xfrm>
              <a:custGeom>
                <a:avLst/>
                <a:gdLst/>
                <a:ahLst/>
                <a:cxnLst/>
                <a:rect l="l" t="t" r="r" b="b"/>
                <a:pathLst>
                  <a:path w="42975" h="110728">
                    <a:moveTo>
                      <a:pt x="0" y="0"/>
                    </a:moveTo>
                    <a:cubicBezTo>
                      <a:pt x="25288" y="6475"/>
                      <a:pt x="42975" y="29261"/>
                      <a:pt x="42975" y="55364"/>
                    </a:cubicBezTo>
                    <a:cubicBezTo>
                      <a:pt x="42975" y="81467"/>
                      <a:pt x="25288" y="104253"/>
                      <a:pt x="0" y="110728"/>
                    </a:cubicBezTo>
                  </a:path>
                </a:pathLst>
              </a:custGeom>
              <a:noFill/>
              <a:ln w="28575">
                <a:solidFill>
                  <a:srgbClr val="FFFFFF"/>
                </a:solidFill>
              </a:ln>
            </p:spPr>
          </p:sp>
          <p:sp>
            <p:nvSpPr>
              <p:cNvPr id="27" name="Freeform 27"/>
              <p:cNvSpPr/>
              <p:nvPr/>
            </p:nvSpPr>
            <p:spPr>
              <a:xfrm>
                <a:off x="7515225" y="3016806"/>
                <a:ext cx="42862" cy="83582"/>
              </a:xfrm>
              <a:custGeom>
                <a:avLst/>
                <a:gdLst/>
                <a:ahLst/>
                <a:cxnLst/>
                <a:rect l="l" t="t" r="r" b="b"/>
                <a:pathLst>
                  <a:path w="42862" h="83582">
                    <a:moveTo>
                      <a:pt x="42862" y="83582"/>
                    </a:moveTo>
                    <a:lnTo>
                      <a:pt x="42862" y="55007"/>
                    </a:lnTo>
                    <a:cubicBezTo>
                      <a:pt x="42713" y="29069"/>
                      <a:pt x="25115" y="6484"/>
                      <a:pt x="0" y="0"/>
                    </a:cubicBezTo>
                  </a:path>
                </a:pathLst>
              </a:custGeom>
              <a:noFill/>
              <a:ln w="28575">
                <a:solidFill>
                  <a:srgbClr val="FFFFFF"/>
                </a:solidFill>
              </a:ln>
            </p:spPr>
          </p:sp>
        </p:grpSp>
        <p:sp>
          <p:nvSpPr>
            <p:cNvPr id="29" name="Ellipse 29"/>
            <p:cNvSpPr/>
            <p:nvPr/>
          </p:nvSpPr>
          <p:spPr>
            <a:xfrm>
              <a:off x="9963150" y="2324100"/>
              <a:ext cx="647700" cy="6477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32" name="Group 32"/>
            <p:cNvGrpSpPr/>
            <p:nvPr/>
          </p:nvGrpSpPr>
          <p:grpSpPr>
            <a:xfrm>
              <a:off x="10172700" y="2562225"/>
              <a:ext cx="228600" cy="195262"/>
              <a:chOff x="10172700" y="2562225"/>
              <a:chExt cx="228600" cy="195262"/>
            </a:xfrm>
          </p:grpSpPr>
          <p:sp>
            <p:nvSpPr>
              <p:cNvPr id="30" name="Freeform 30"/>
              <p:cNvSpPr/>
              <p:nvPr/>
            </p:nvSpPr>
            <p:spPr>
              <a:xfrm>
                <a:off x="10172700" y="2747962"/>
                <a:ext cx="228600" cy="9525"/>
              </a:xfrm>
              <a:custGeom>
                <a:avLst/>
                <a:gdLst/>
                <a:ahLst/>
                <a:cxnLst/>
                <a:rect l="l" t="t" r="r" b="b"/>
                <a:pathLst>
                  <a:path w="228600" h="9525">
                    <a:moveTo>
                      <a:pt x="0" y="0"/>
                    </a:moveTo>
                    <a:lnTo>
                      <a:pt x="228600" y="0"/>
                    </a:lnTo>
                  </a:path>
                </a:pathLst>
              </a:custGeom>
              <a:noFill/>
              <a:ln w="28575">
                <a:solidFill>
                  <a:srgbClr val="FFFFFF"/>
                </a:solidFill>
              </a:ln>
            </p:spPr>
          </p:sp>
          <p:sp>
            <p:nvSpPr>
              <p:cNvPr id="31" name="Freeform 31"/>
              <p:cNvSpPr/>
              <p:nvPr/>
            </p:nvSpPr>
            <p:spPr>
              <a:xfrm>
                <a:off x="10172700" y="2562225"/>
                <a:ext cx="228600" cy="128588"/>
              </a:xfrm>
              <a:custGeom>
                <a:avLst/>
                <a:gdLst/>
                <a:ahLst/>
                <a:cxnLst/>
                <a:rect l="l" t="t" r="r" b="b"/>
                <a:pathLst>
                  <a:path w="228600" h="128588">
                    <a:moveTo>
                      <a:pt x="0" y="128588"/>
                    </a:moveTo>
                    <a:lnTo>
                      <a:pt x="57150" y="42862"/>
                    </a:lnTo>
                    <a:lnTo>
                      <a:pt x="114300" y="71438"/>
                    </a:lnTo>
                    <a:lnTo>
                      <a:pt x="171450" y="0"/>
                    </a:lnTo>
                    <a:lnTo>
                      <a:pt x="228600" y="57150"/>
                    </a:lnTo>
                  </a:path>
                </a:pathLst>
              </a:custGeom>
              <a:noFill/>
              <a:ln w="28575">
                <a:solidFill>
                  <a:srgbClr val="FFFFFF"/>
                </a:solidFill>
              </a:ln>
            </p:spPr>
          </p:sp>
        </p:grpSp>
        <p:sp>
          <p:nvSpPr>
            <p:cNvPr id="33" name="Ellipse 33"/>
            <p:cNvSpPr/>
            <p:nvPr/>
          </p:nvSpPr>
          <p:spPr>
            <a:xfrm>
              <a:off x="1409700" y="3476625"/>
              <a:ext cx="133350" cy="133350"/>
            </a:xfrm>
            <a:prstGeom prst="ellipse">
              <a:avLst/>
            </a:prstGeom>
            <a:solidFill>
              <a:srgbClr val="E94B2B"/>
            </a:solidFill>
            <a:ln>
              <a:noFill/>
            </a:ln>
          </p:spPr>
        </p:sp>
        <p:sp>
          <p:nvSpPr>
            <p:cNvPr id="34" name="Ellipse 34"/>
            <p:cNvSpPr/>
            <p:nvPr/>
          </p:nvSpPr>
          <p:spPr>
            <a:xfrm>
              <a:off x="4457700" y="3705225"/>
              <a:ext cx="133350" cy="133350"/>
            </a:xfrm>
            <a:prstGeom prst="ellipse">
              <a:avLst/>
            </a:prstGeom>
            <a:solidFill>
              <a:srgbClr val="E94B2B"/>
            </a:solidFill>
            <a:ln>
              <a:noFill/>
            </a:ln>
          </p:spPr>
        </p:sp>
        <p:sp>
          <p:nvSpPr>
            <p:cNvPr id="35" name="Ellipse 35"/>
            <p:cNvSpPr/>
            <p:nvPr/>
          </p:nvSpPr>
          <p:spPr>
            <a:xfrm>
              <a:off x="7410450" y="3705225"/>
              <a:ext cx="133350" cy="133350"/>
            </a:xfrm>
            <a:prstGeom prst="ellipse">
              <a:avLst/>
            </a:prstGeom>
            <a:solidFill>
              <a:srgbClr val="E94B2B"/>
            </a:solidFill>
            <a:ln>
              <a:noFill/>
            </a:ln>
          </p:spPr>
        </p:sp>
        <p:sp>
          <p:nvSpPr>
            <p:cNvPr id="36" name="Ellipse 36"/>
            <p:cNvSpPr/>
            <p:nvPr/>
          </p:nvSpPr>
          <p:spPr>
            <a:xfrm>
              <a:off x="10458450" y="3476625"/>
              <a:ext cx="133350" cy="133350"/>
            </a:xfrm>
            <a:prstGeom prst="ellipse">
              <a:avLst/>
            </a:prstGeom>
            <a:solidFill>
              <a:srgbClr val="E94B2B"/>
            </a:solidFill>
            <a:ln>
              <a:noFill/>
            </a:ln>
          </p:spPr>
        </p:sp>
        <p:grpSp>
          <p:nvGrpSpPr>
            <p:cNvPr id="40" name="node-mechanism"/>
            <p:cNvGrpSpPr/>
            <p:nvPr/>
          </p:nvGrpSpPr>
          <p:grpSpPr>
            <a:xfrm>
              <a:off x="857250" y="3939064"/>
              <a:ext cx="1238250" cy="582073"/>
              <a:chOff x="857250" y="3939064"/>
              <a:chExt cx="1238250" cy="582073"/>
            </a:xfrm>
          </p:grpSpPr>
          <p:sp>
            <p:nvSpPr>
              <p:cNvPr id="37" name="TextBox 37"/>
              <p:cNvSpPr txBox="1"/>
              <p:nvPr/>
            </p:nvSpPr>
            <p:spPr>
              <a:xfrm>
                <a:off x="1125271" y="3939064"/>
                <a:ext cx="702208"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机制创新</a:t>
                </a:r>
              </a:p>
            </p:txBody>
          </p:sp>
          <p:sp>
            <p:nvSpPr>
              <p:cNvPr id="38" name="Rectangle 38"/>
              <p:cNvSpPr/>
              <p:nvPr/>
            </p:nvSpPr>
            <p:spPr>
              <a:xfrm>
                <a:off x="857250" y="4229100"/>
                <a:ext cx="1238250" cy="285750"/>
              </a:xfrm>
              <a:prstGeom prst="roundRect">
                <a:avLst>
                  <a:gd name="adj" fmla="val 50000"/>
                </a:avLst>
              </a:prstGeom>
              <a:solidFill>
                <a:srgbClr val="FFFFFF"/>
              </a:solidFill>
              <a:ln w="9525">
                <a:solidFill>
                  <a:srgbClr val="C9DDF5"/>
                </a:solidFill>
              </a:ln>
            </p:spPr>
          </p:sp>
          <p:sp>
            <p:nvSpPr>
              <p:cNvPr id="39" name="TextBox 39"/>
              <p:cNvSpPr txBox="1"/>
              <p:nvPr/>
            </p:nvSpPr>
            <p:spPr>
              <a:xfrm>
                <a:off x="1259014" y="4315778"/>
                <a:ext cx="434721"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驱动力</a:t>
                </a:r>
              </a:p>
            </p:txBody>
          </p:sp>
        </p:grpSp>
        <p:grpSp>
          <p:nvGrpSpPr>
            <p:cNvPr id="44" name="node-efficiency"/>
            <p:cNvGrpSpPr/>
            <p:nvPr/>
          </p:nvGrpSpPr>
          <p:grpSpPr>
            <a:xfrm>
              <a:off x="3905250" y="4186714"/>
              <a:ext cx="1238250" cy="582073"/>
              <a:chOff x="3905250" y="4186714"/>
              <a:chExt cx="1238250" cy="582073"/>
            </a:xfrm>
          </p:grpSpPr>
          <p:sp>
            <p:nvSpPr>
              <p:cNvPr id="41" name="TextBox 41"/>
              <p:cNvSpPr txBox="1"/>
              <p:nvPr/>
            </p:nvSpPr>
            <p:spPr>
              <a:xfrm>
                <a:off x="4173271" y="4186714"/>
                <a:ext cx="702208"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优员优效</a:t>
                </a:r>
              </a:p>
            </p:txBody>
          </p:sp>
          <p:sp>
            <p:nvSpPr>
              <p:cNvPr id="42" name="Rectangle 42"/>
              <p:cNvSpPr/>
              <p:nvPr/>
            </p:nvSpPr>
            <p:spPr>
              <a:xfrm>
                <a:off x="3905250" y="4476750"/>
                <a:ext cx="1238250" cy="285750"/>
              </a:xfrm>
              <a:prstGeom prst="roundRect">
                <a:avLst>
                  <a:gd name="adj" fmla="val 50000"/>
                </a:avLst>
              </a:prstGeom>
              <a:solidFill>
                <a:srgbClr val="FFFFFF"/>
              </a:solidFill>
              <a:ln w="9525">
                <a:solidFill>
                  <a:srgbClr val="C9DDF5"/>
                </a:solidFill>
              </a:ln>
            </p:spPr>
          </p:sp>
          <p:sp>
            <p:nvSpPr>
              <p:cNvPr id="43" name="TextBox 43"/>
              <p:cNvSpPr txBox="1"/>
              <p:nvPr/>
            </p:nvSpPr>
            <p:spPr>
              <a:xfrm>
                <a:off x="4307014" y="4563428"/>
                <a:ext cx="434721"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添活力</a:t>
                </a:r>
              </a:p>
            </p:txBody>
          </p:sp>
        </p:grpSp>
        <p:grpSp>
          <p:nvGrpSpPr>
            <p:cNvPr id="48" name="node-talent"/>
            <p:cNvGrpSpPr/>
            <p:nvPr/>
          </p:nvGrpSpPr>
          <p:grpSpPr>
            <a:xfrm>
              <a:off x="6858000" y="4186714"/>
              <a:ext cx="1238250" cy="582073"/>
              <a:chOff x="6858000" y="4186714"/>
              <a:chExt cx="1238250" cy="582073"/>
            </a:xfrm>
          </p:grpSpPr>
          <p:sp>
            <p:nvSpPr>
              <p:cNvPr id="45" name="TextBox 45"/>
              <p:cNvSpPr txBox="1"/>
              <p:nvPr/>
            </p:nvSpPr>
            <p:spPr>
              <a:xfrm>
                <a:off x="7126021" y="4186714"/>
                <a:ext cx="702208"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人才强企</a:t>
                </a:r>
              </a:p>
            </p:txBody>
          </p:sp>
          <p:sp>
            <p:nvSpPr>
              <p:cNvPr id="46" name="Rectangle 46"/>
              <p:cNvSpPr/>
              <p:nvPr/>
            </p:nvSpPr>
            <p:spPr>
              <a:xfrm>
                <a:off x="6858000" y="4476750"/>
                <a:ext cx="1238250" cy="285750"/>
              </a:xfrm>
              <a:prstGeom prst="roundRect">
                <a:avLst>
                  <a:gd name="adj" fmla="val 50000"/>
                </a:avLst>
              </a:prstGeom>
              <a:solidFill>
                <a:srgbClr val="FFFFFF"/>
              </a:solidFill>
              <a:ln w="9525">
                <a:solidFill>
                  <a:srgbClr val="C9DDF5"/>
                </a:solidFill>
              </a:ln>
            </p:spPr>
          </p:sp>
          <p:sp>
            <p:nvSpPr>
              <p:cNvPr id="47" name="TextBox 47"/>
              <p:cNvSpPr txBox="1"/>
              <p:nvPr/>
            </p:nvSpPr>
            <p:spPr>
              <a:xfrm>
                <a:off x="7259765" y="4563428"/>
                <a:ext cx="434721"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蓄潜力</a:t>
                </a:r>
              </a:p>
            </p:txBody>
          </p:sp>
        </p:grpSp>
        <p:grpSp>
          <p:nvGrpSpPr>
            <p:cNvPr id="52" name="node-digital"/>
            <p:cNvGrpSpPr/>
            <p:nvPr/>
          </p:nvGrpSpPr>
          <p:grpSpPr>
            <a:xfrm>
              <a:off x="9906000" y="3939064"/>
              <a:ext cx="1238250" cy="582073"/>
              <a:chOff x="9906000" y="3939064"/>
              <a:chExt cx="1238250" cy="582073"/>
            </a:xfrm>
          </p:grpSpPr>
          <p:sp>
            <p:nvSpPr>
              <p:cNvPr id="49" name="TextBox 49"/>
              <p:cNvSpPr txBox="1"/>
              <p:nvPr/>
            </p:nvSpPr>
            <p:spPr>
              <a:xfrm>
                <a:off x="10174021" y="3939064"/>
                <a:ext cx="702208"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数智转型</a:t>
                </a:r>
              </a:p>
            </p:txBody>
          </p:sp>
          <p:sp>
            <p:nvSpPr>
              <p:cNvPr id="50" name="Rectangle 50"/>
              <p:cNvSpPr/>
              <p:nvPr/>
            </p:nvSpPr>
            <p:spPr>
              <a:xfrm>
                <a:off x="9906000" y="4229100"/>
                <a:ext cx="1238250" cy="285750"/>
              </a:xfrm>
              <a:prstGeom prst="roundRect">
                <a:avLst>
                  <a:gd name="adj" fmla="val 50000"/>
                </a:avLst>
              </a:prstGeom>
              <a:solidFill>
                <a:srgbClr val="FFFFFF"/>
              </a:solidFill>
              <a:ln w="9525">
                <a:solidFill>
                  <a:srgbClr val="C9DDF5"/>
                </a:solidFill>
              </a:ln>
            </p:spPr>
          </p:sp>
          <p:sp>
            <p:nvSpPr>
              <p:cNvPr id="51" name="TextBox 51"/>
              <p:cNvSpPr txBox="1"/>
              <p:nvPr/>
            </p:nvSpPr>
            <p:spPr>
              <a:xfrm>
                <a:off x="10307764" y="4315778"/>
                <a:ext cx="434721" cy="205359"/>
              </a:xfrm>
              <a:prstGeom prst="rect">
                <a:avLst/>
              </a:prstGeom>
              <a:noFill/>
              <a:ln>
                <a:noFill/>
              </a:ln>
            </p:spPr>
            <p:txBody>
              <a:bodyPr wrap="none" lIns="0" tIns="0" rIns="0" bIns="0" anchor="t" anchorCtr="0">
                <a:spAutoFit/>
              </a:bodyPr>
              <a:lstStyle/>
              <a:p>
                <a:pPr algn="ctr"/>
                <a:r>
                  <a:rPr lang="zh-CN" sz="1050" dirty="0">
                    <a:solidFill>
                      <a:srgbClr val="333333"/>
                    </a:solidFill>
                    <a:latin typeface="+mn-lt"/>
                    <a:ea typeface="+mn-ea"/>
                    <a:cs typeface="+mn-cs"/>
                  </a:rPr>
                  <a:t>增实力</a:t>
                </a:r>
              </a:p>
            </p:txBody>
          </p:sp>
        </p:grpSp>
      </p:grpSp>
      <p:grpSp>
        <p:nvGrpSpPr>
          <p:cNvPr id="57" name="platform-slogan"/>
          <p:cNvGrpSpPr/>
          <p:nvPr/>
        </p:nvGrpSpPr>
        <p:grpSpPr>
          <a:xfrm>
            <a:off x="857250" y="5295900"/>
            <a:ext cx="10477500" cy="1047750"/>
            <a:chOff x="857250" y="5295900"/>
            <a:chExt cx="10477500" cy="1047750"/>
          </a:xfrm>
        </p:grpSpPr>
        <p:sp>
          <p:nvSpPr>
            <p:cNvPr id="54" name="Freeform 54"/>
            <p:cNvSpPr/>
            <p:nvPr/>
          </p:nvSpPr>
          <p:spPr>
            <a:xfrm>
              <a:off x="857250" y="5295900"/>
              <a:ext cx="10477500" cy="1047750"/>
            </a:xfrm>
            <a:prstGeom prst="trapezoid">
              <a:avLst>
                <a:gd name="adj" fmla="val 45000"/>
              </a:avLst>
            </a:prstGeom>
            <a:solidFill>
              <a:srgbClr val="DCEBFB"/>
            </a:solidFill>
            <a:ln w="14288">
              <a:solidFill>
                <a:srgbClr val="F5927E"/>
              </a:solidFill>
            </a:ln>
          </p:spPr>
        </p:sp>
        <p:sp>
          <p:nvSpPr>
            <p:cNvPr id="55" name="Freeform 55"/>
            <p:cNvSpPr/>
            <p:nvPr/>
          </p:nvSpPr>
          <p:spPr>
            <a:xfrm>
              <a:off x="1428750" y="5467350"/>
              <a:ext cx="9334500" cy="723900"/>
            </a:xfrm>
            <a:prstGeom prst="trapezoid">
              <a:avLst>
                <a:gd name="adj" fmla="val 45000"/>
              </a:avLst>
            </a:prstGeom>
            <a:solidFill>
              <a:srgbClr val="F6C2B7">
                <a:alpha val="50000"/>
              </a:srgbClr>
            </a:solidFill>
            <a:ln>
              <a:noFill/>
            </a:ln>
          </p:spPr>
        </p:sp>
        <p:sp>
          <p:nvSpPr>
            <p:cNvPr id="56" name="TextBox 56"/>
            <p:cNvSpPr txBox="1"/>
            <p:nvPr/>
          </p:nvSpPr>
          <p:spPr>
            <a:xfrm>
              <a:off x="3887233" y="5730240"/>
              <a:ext cx="4417535" cy="352044"/>
            </a:xfrm>
            <a:prstGeom prst="rect">
              <a:avLst/>
            </a:prstGeom>
            <a:noFill/>
            <a:ln>
              <a:noFill/>
            </a:ln>
          </p:spPr>
          <p:txBody>
            <a:bodyPr wrap="none" lIns="0" tIns="0" rIns="0" bIns="0" anchor="t" anchorCtr="0">
              <a:spAutoFit/>
            </a:bodyPr>
            <a:lstStyle/>
            <a:p>
              <a:pPr algn="ctr"/>
              <a:r>
                <a:rPr lang="zh-CN" sz="1800" b="1" dirty="0">
                  <a:solidFill>
                    <a:srgbClr val="E94B2B"/>
                  </a:solidFill>
                  <a:latin typeface="+mn-lt"/>
                  <a:ea typeface="+mn-ea"/>
                  <a:cs typeface="+mn-cs"/>
                </a:rPr>
                <a:t>创先争优，打造“五星”人力资源服务平台</a:t>
              </a:r>
            </a:p>
          </p:txBody>
        </p:sp>
      </p:gr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Line 2"/>
          <p:cNvSpPr/>
          <p:nvPr/>
        </p:nvSpPr>
        <p:spPr>
          <a:xfrm>
            <a:off x="1428750" y="1428750"/>
            <a:ext cx="4667250" cy="2238375"/>
          </a:xfrm>
          <a:custGeom>
            <a:avLst/>
            <a:gdLst/>
            <a:ahLst/>
            <a:cxnLst/>
            <a:rect l="l" t="t" r="r" b="b"/>
            <a:pathLst>
              <a:path w="4667250" h="2238375">
                <a:moveTo>
                  <a:pt x="4667250" y="2238375"/>
                </a:moveTo>
                <a:lnTo>
                  <a:pt x="0" y="0"/>
                </a:lnTo>
              </a:path>
            </a:pathLst>
          </a:custGeom>
          <a:noFill/>
          <a:ln w="14288">
            <a:solidFill>
              <a:srgbClr val="F8D1C9"/>
            </a:solidFill>
          </a:ln>
        </p:spPr>
      </p:sp>
      <p:sp>
        <p:nvSpPr>
          <p:cNvPr id="3" name="Line 3"/>
          <p:cNvSpPr/>
          <p:nvPr/>
        </p:nvSpPr>
        <p:spPr>
          <a:xfrm>
            <a:off x="6096000" y="1428750"/>
            <a:ext cx="4667250" cy="2238375"/>
          </a:xfrm>
          <a:custGeom>
            <a:avLst/>
            <a:gdLst/>
            <a:ahLst/>
            <a:cxnLst/>
            <a:rect l="l" t="t" r="r" b="b"/>
            <a:pathLst>
              <a:path w="4667250" h="2238375">
                <a:moveTo>
                  <a:pt x="0" y="2238375"/>
                </a:moveTo>
                <a:lnTo>
                  <a:pt x="4667250" y="0"/>
                </a:lnTo>
              </a:path>
            </a:pathLst>
          </a:custGeom>
          <a:noFill/>
          <a:ln w="14288">
            <a:solidFill>
              <a:srgbClr val="F8D1C9"/>
            </a:solidFill>
          </a:ln>
        </p:spPr>
      </p:sp>
      <p:sp>
        <p:nvSpPr>
          <p:cNvPr id="4" name="Line 4"/>
          <p:cNvSpPr/>
          <p:nvPr/>
        </p:nvSpPr>
        <p:spPr>
          <a:xfrm>
            <a:off x="1428750" y="3667125"/>
            <a:ext cx="4667250" cy="2428875"/>
          </a:xfrm>
          <a:custGeom>
            <a:avLst/>
            <a:gdLst/>
            <a:ahLst/>
            <a:cxnLst/>
            <a:rect l="l" t="t" r="r" b="b"/>
            <a:pathLst>
              <a:path w="4667250" h="2428875">
                <a:moveTo>
                  <a:pt x="4667250" y="0"/>
                </a:moveTo>
                <a:lnTo>
                  <a:pt x="0" y="2428875"/>
                </a:lnTo>
              </a:path>
            </a:pathLst>
          </a:custGeom>
          <a:noFill/>
          <a:ln w="14288">
            <a:solidFill>
              <a:srgbClr val="F8D1C9"/>
            </a:solidFill>
          </a:ln>
        </p:spPr>
      </p:sp>
      <p:sp>
        <p:nvSpPr>
          <p:cNvPr id="5" name="Line 5"/>
          <p:cNvSpPr/>
          <p:nvPr/>
        </p:nvSpPr>
        <p:spPr>
          <a:xfrm>
            <a:off x="6096000" y="3667125"/>
            <a:ext cx="4667250" cy="2428875"/>
          </a:xfrm>
          <a:custGeom>
            <a:avLst/>
            <a:gdLst/>
            <a:ahLst/>
            <a:cxnLst/>
            <a:rect l="l" t="t" r="r" b="b"/>
            <a:pathLst>
              <a:path w="4667250" h="2428875">
                <a:moveTo>
                  <a:pt x="0" y="0"/>
                </a:moveTo>
                <a:lnTo>
                  <a:pt x="4667250" y="2428875"/>
                </a:lnTo>
              </a:path>
            </a:pathLst>
          </a:custGeom>
          <a:noFill/>
          <a:ln w="14288">
            <a:solidFill>
              <a:srgbClr val="F8D1C9"/>
            </a:solidFill>
          </a:ln>
        </p:spPr>
      </p:sp>
      <p:sp>
        <p:nvSpPr>
          <p:cNvPr id="6" name="wing-left"/>
          <p:cNvSpPr/>
          <p:nvPr/>
        </p:nvSpPr>
        <p:spPr>
          <a:xfrm>
            <a:off x="1428750" y="1428750"/>
            <a:ext cx="1587500" cy="4667250"/>
          </a:xfrm>
          <a:custGeom>
            <a:avLst/>
            <a:gdLst/>
            <a:ahLst/>
            <a:cxnLst/>
            <a:rect l="l" t="t" r="r" b="b"/>
            <a:pathLst>
              <a:path w="1587500" h="4667250">
                <a:moveTo>
                  <a:pt x="0" y="0"/>
                </a:moveTo>
                <a:cubicBezTo>
                  <a:pt x="1587500" y="1492250"/>
                  <a:pt x="1587500" y="3048000"/>
                  <a:pt x="0" y="4667250"/>
                </a:cubicBezTo>
                <a:close/>
              </a:path>
            </a:pathLst>
          </a:custGeom>
          <a:solidFill>
            <a:srgbClr val="DCEBFB">
              <a:alpha val="60000"/>
            </a:srgbClr>
          </a:solidFill>
          <a:ln>
            <a:noFill/>
          </a:ln>
        </p:spPr>
      </p:sp>
      <p:sp>
        <p:nvSpPr>
          <p:cNvPr id="7" name="wing-right"/>
          <p:cNvSpPr/>
          <p:nvPr/>
        </p:nvSpPr>
        <p:spPr>
          <a:xfrm>
            <a:off x="9175750" y="1428750"/>
            <a:ext cx="1587500" cy="4667250"/>
          </a:xfrm>
          <a:custGeom>
            <a:avLst/>
            <a:gdLst/>
            <a:ahLst/>
            <a:cxnLst/>
            <a:rect l="l" t="t" r="r" b="b"/>
            <a:pathLst>
              <a:path w="1587500" h="4667250">
                <a:moveTo>
                  <a:pt x="1587500" y="0"/>
                </a:moveTo>
                <a:cubicBezTo>
                  <a:pt x="0" y="1492250"/>
                  <a:pt x="0" y="3048000"/>
                  <a:pt x="1587500" y="4667250"/>
                </a:cubicBezTo>
                <a:close/>
              </a:path>
            </a:pathLst>
          </a:custGeom>
          <a:solidFill>
            <a:srgbClr val="DCEBFB">
              <a:alpha val="60000"/>
            </a:srgbClr>
          </a:solidFill>
          <a:ln>
            <a:noFill/>
          </a:ln>
        </p:spPr>
      </p:sp>
      <p:grpSp>
        <p:nvGrpSpPr>
          <p:cNvPr id="12" name="page-header"/>
          <p:cNvGrpSpPr/>
          <p:nvPr/>
        </p:nvGrpSpPr>
        <p:grpSpPr>
          <a:xfrm>
            <a:off x="0" y="0"/>
            <a:ext cx="11811000" cy="561404"/>
            <a:chOff x="0" y="0"/>
            <a:chExt cx="11811000" cy="561404"/>
          </a:xfrm>
        </p:grpSpPr>
        <p:sp>
          <p:nvSpPr>
            <p:cNvPr id="8" name="Polygon 8"/>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9" name="TextBox 9"/>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13</a:t>
              </a:r>
            </a:p>
          </p:txBody>
        </p:sp>
        <p:sp>
          <p:nvSpPr>
            <p:cNvPr id="10" name="TextBox 10"/>
            <p:cNvSpPr txBox="1"/>
            <p:nvPr/>
          </p:nvSpPr>
          <p:spPr>
            <a:xfrm>
              <a:off x="904494" y="180023"/>
              <a:ext cx="1961388"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项目管理精益化</a:t>
              </a:r>
            </a:p>
          </p:txBody>
        </p:sp>
        <p:sp>
          <p:nvSpPr>
            <p:cNvPr id="11" name="Line 11"/>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27" name="top-band"/>
          <p:cNvGrpSpPr/>
          <p:nvPr/>
        </p:nvGrpSpPr>
        <p:grpSpPr>
          <a:xfrm>
            <a:off x="3143250" y="819150"/>
            <a:ext cx="5905500" cy="1358837"/>
            <a:chOff x="3143250" y="819150"/>
            <a:chExt cx="5905500" cy="1358837"/>
          </a:xfrm>
        </p:grpSpPr>
        <p:sp>
          <p:nvSpPr>
            <p:cNvPr id="13" name="Freeform 13"/>
            <p:cNvSpPr/>
            <p:nvPr/>
          </p:nvSpPr>
          <p:spPr>
            <a:xfrm>
              <a:off x="3143250" y="1041400"/>
              <a:ext cx="5905500" cy="254000"/>
            </a:xfrm>
            <a:custGeom>
              <a:avLst/>
              <a:gdLst/>
              <a:ahLst/>
              <a:cxnLst/>
              <a:rect l="l" t="t" r="r" b="b"/>
              <a:pathLst>
                <a:path w="5905500" h="254000">
                  <a:moveTo>
                    <a:pt x="0" y="254000"/>
                  </a:moveTo>
                  <a:cubicBezTo>
                    <a:pt x="1968500" y="0"/>
                    <a:pt x="3937000" y="0"/>
                    <a:pt x="5905500" y="254000"/>
                  </a:cubicBezTo>
                </a:path>
              </a:pathLst>
            </a:custGeom>
            <a:noFill/>
            <a:ln w="19050">
              <a:solidFill>
                <a:srgbClr val="F5927E"/>
              </a:solidFill>
            </a:ln>
          </p:spPr>
        </p:sp>
        <p:sp>
          <p:nvSpPr>
            <p:cNvPr id="14" name="Ellipse 14"/>
            <p:cNvSpPr/>
            <p:nvPr/>
          </p:nvSpPr>
          <p:spPr>
            <a:xfrm>
              <a:off x="4533900" y="1114425"/>
              <a:ext cx="76200" cy="76200"/>
            </a:xfrm>
            <a:prstGeom prst="ellipse">
              <a:avLst/>
            </a:prstGeom>
            <a:solidFill>
              <a:srgbClr val="E94B2B"/>
            </a:solidFill>
            <a:ln>
              <a:noFill/>
            </a:ln>
          </p:spPr>
        </p:sp>
        <p:sp>
          <p:nvSpPr>
            <p:cNvPr id="15" name="Ellipse 15"/>
            <p:cNvSpPr/>
            <p:nvPr/>
          </p:nvSpPr>
          <p:spPr>
            <a:xfrm>
              <a:off x="6057900" y="1066800"/>
              <a:ext cx="76200" cy="76200"/>
            </a:xfrm>
            <a:prstGeom prst="ellipse">
              <a:avLst/>
            </a:prstGeom>
            <a:solidFill>
              <a:srgbClr val="E94B2B"/>
            </a:solidFill>
            <a:ln>
              <a:noFill/>
            </a:ln>
          </p:spPr>
        </p:sp>
        <p:sp>
          <p:nvSpPr>
            <p:cNvPr id="16" name="Ellipse 16"/>
            <p:cNvSpPr/>
            <p:nvPr/>
          </p:nvSpPr>
          <p:spPr>
            <a:xfrm>
              <a:off x="7581900" y="1114425"/>
              <a:ext cx="76200" cy="76200"/>
            </a:xfrm>
            <a:prstGeom prst="ellipse">
              <a:avLst/>
            </a:prstGeom>
            <a:solidFill>
              <a:srgbClr val="E94B2B"/>
            </a:solidFill>
            <a:ln>
              <a:noFill/>
            </a:ln>
          </p:spPr>
        </p:sp>
        <p:sp>
          <p:nvSpPr>
            <p:cNvPr id="17" name="Rectangle 17"/>
            <p:cNvSpPr/>
            <p:nvPr/>
          </p:nvSpPr>
          <p:spPr>
            <a:xfrm>
              <a:off x="4143375" y="857250"/>
              <a:ext cx="857250" cy="247650"/>
            </a:xfrm>
            <a:prstGeom prst="roundRect">
              <a:avLst>
                <a:gd name="adj" fmla="val 50000"/>
              </a:avLst>
            </a:prstGeom>
            <a:gradFill>
              <a:gsLst>
                <a:gs pos="0">
                  <a:srgbClr val="FF5B3A"/>
                </a:gs>
                <a:gs pos="100000">
                  <a:srgbClr val="E94B2B"/>
                </a:gs>
              </a:gsLst>
              <a:lin ang="0" scaled="1"/>
            </a:gradFill>
            <a:ln>
              <a:noFill/>
            </a:ln>
          </p:spPr>
        </p:sp>
        <p:sp>
          <p:nvSpPr>
            <p:cNvPr id="18" name="TextBox 18"/>
            <p:cNvSpPr txBox="1"/>
            <p:nvPr/>
          </p:nvSpPr>
          <p:spPr>
            <a:xfrm>
              <a:off x="4435119" y="923449"/>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企业</a:t>
              </a:r>
            </a:p>
          </p:txBody>
        </p:sp>
        <p:sp>
          <p:nvSpPr>
            <p:cNvPr id="19" name="Rectangle 19"/>
            <p:cNvSpPr/>
            <p:nvPr/>
          </p:nvSpPr>
          <p:spPr>
            <a:xfrm>
              <a:off x="5667375" y="819150"/>
              <a:ext cx="857250" cy="247650"/>
            </a:xfrm>
            <a:prstGeom prst="roundRect">
              <a:avLst>
                <a:gd name="adj" fmla="val 50000"/>
              </a:avLst>
            </a:prstGeom>
            <a:gradFill>
              <a:gsLst>
                <a:gs pos="0">
                  <a:srgbClr val="FF5B3A"/>
                </a:gs>
                <a:gs pos="100000">
                  <a:srgbClr val="E94B2B"/>
                </a:gs>
              </a:gsLst>
              <a:lin ang="0" scaled="1"/>
            </a:gradFill>
            <a:ln>
              <a:noFill/>
            </a:ln>
          </p:spPr>
        </p:sp>
        <p:sp>
          <p:nvSpPr>
            <p:cNvPr id="20" name="TextBox 20"/>
            <p:cNvSpPr txBox="1"/>
            <p:nvPr/>
          </p:nvSpPr>
          <p:spPr>
            <a:xfrm>
              <a:off x="5959119" y="885349"/>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区域</a:t>
              </a:r>
            </a:p>
          </p:txBody>
        </p:sp>
        <p:sp>
          <p:nvSpPr>
            <p:cNvPr id="21" name="Rectangle 21"/>
            <p:cNvSpPr/>
            <p:nvPr/>
          </p:nvSpPr>
          <p:spPr>
            <a:xfrm>
              <a:off x="7191375" y="857250"/>
              <a:ext cx="857250" cy="247650"/>
            </a:xfrm>
            <a:prstGeom prst="roundRect">
              <a:avLst>
                <a:gd name="adj" fmla="val 50000"/>
              </a:avLst>
            </a:prstGeom>
            <a:gradFill>
              <a:gsLst>
                <a:gs pos="0">
                  <a:srgbClr val="FF5B3A"/>
                </a:gs>
                <a:gs pos="100000">
                  <a:srgbClr val="E94B2B"/>
                </a:gs>
              </a:gsLst>
              <a:lin ang="0" scaled="1"/>
            </a:gradFill>
            <a:ln>
              <a:noFill/>
            </a:ln>
          </p:spPr>
        </p:sp>
        <p:sp>
          <p:nvSpPr>
            <p:cNvPr id="22" name="TextBox 22"/>
            <p:cNvSpPr txBox="1"/>
            <p:nvPr/>
          </p:nvSpPr>
          <p:spPr>
            <a:xfrm>
              <a:off x="7483119" y="923449"/>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项目</a:t>
              </a:r>
            </a:p>
          </p:txBody>
        </p:sp>
        <p:sp>
          <p:nvSpPr>
            <p:cNvPr id="23" name="TextBox 23"/>
            <p:cNvSpPr txBox="1"/>
            <p:nvPr/>
          </p:nvSpPr>
          <p:spPr>
            <a:xfrm>
              <a:off x="5761228" y="1437799"/>
              <a:ext cx="669544"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纵向一体化</a:t>
              </a:r>
            </a:p>
          </p:txBody>
        </p:sp>
        <p:sp>
          <p:nvSpPr>
            <p:cNvPr id="24" name="TextBox 24"/>
            <p:cNvSpPr txBox="1"/>
            <p:nvPr/>
          </p:nvSpPr>
          <p:spPr>
            <a:xfrm>
              <a:off x="5364289" y="1636395"/>
              <a:ext cx="1463421"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管理协同和组织层级级穿透</a:t>
              </a:r>
            </a:p>
          </p:txBody>
        </p:sp>
        <p:sp>
          <p:nvSpPr>
            <p:cNvPr id="25" name="Rectangle 25"/>
            <p:cNvSpPr/>
            <p:nvPr/>
          </p:nvSpPr>
          <p:spPr>
            <a:xfrm>
              <a:off x="5429250" y="1885950"/>
              <a:ext cx="1333500" cy="285750"/>
            </a:xfrm>
            <a:prstGeom prst="roundRect">
              <a:avLst>
                <a:gd name="adj" fmla="val 50000"/>
              </a:avLst>
            </a:prstGeom>
            <a:gradFill>
              <a:gsLst>
                <a:gs pos="0">
                  <a:srgbClr val="FF5B3A"/>
                </a:gs>
                <a:gs pos="100000">
                  <a:srgbClr val="E94B2B"/>
                </a:gs>
              </a:gsLst>
              <a:lin ang="0" scaled="1"/>
            </a:gradFill>
            <a:ln>
              <a:noFill/>
            </a:ln>
          </p:spPr>
        </p:sp>
        <p:sp>
          <p:nvSpPr>
            <p:cNvPr id="26" name="TextBox 26"/>
            <p:cNvSpPr txBox="1"/>
            <p:nvPr/>
          </p:nvSpPr>
          <p:spPr>
            <a:xfrm>
              <a:off x="5807964" y="1972628"/>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企项一体</a:t>
              </a:r>
            </a:p>
          </p:txBody>
        </p:sp>
      </p:grpSp>
      <p:grpSp>
        <p:nvGrpSpPr>
          <p:cNvPr id="31" name="hub-core"/>
          <p:cNvGrpSpPr/>
          <p:nvPr/>
        </p:nvGrpSpPr>
        <p:grpSpPr>
          <a:xfrm>
            <a:off x="4914900" y="2486025"/>
            <a:ext cx="2362200" cy="2362200"/>
            <a:chOff x="4914900" y="2486025"/>
            <a:chExt cx="2362200" cy="2362200"/>
          </a:xfrm>
        </p:grpSpPr>
        <p:sp>
          <p:nvSpPr>
            <p:cNvPr id="28" name="Ellipse 28"/>
            <p:cNvSpPr/>
            <p:nvPr/>
          </p:nvSpPr>
          <p:spPr>
            <a:xfrm>
              <a:off x="4914900" y="2486025"/>
              <a:ext cx="2362200" cy="2362200"/>
            </a:xfrm>
            <a:prstGeom prst="ellipse">
              <a:avLst/>
            </a:prstGeom>
            <a:solidFill>
              <a:srgbClr val="DCEBFB"/>
            </a:solidFill>
            <a:ln>
              <a:noFill/>
            </a:ln>
          </p:spPr>
        </p:sp>
        <p:sp>
          <p:nvSpPr>
            <p:cNvPr id="29" name="Ellipse 29"/>
            <p:cNvSpPr/>
            <p:nvPr/>
          </p:nvSpPr>
          <p:spPr>
            <a:xfrm>
              <a:off x="5086350" y="2657475"/>
              <a:ext cx="2019300" cy="2019300"/>
            </a:xfrm>
            <a:prstGeom prst="ellipse">
              <a:avLst/>
            </a:prstGeom>
            <a:gradFill>
              <a:gsLst>
                <a:gs pos="0">
                  <a:srgbClr val="F2745A"/>
                </a:gs>
                <a:gs pos="100000">
                  <a:srgbClr val="C83B1E"/>
                </a:gs>
              </a:gsLst>
              <a:path path="circle">
                <a:fillToRect l="40000" t="35000" r="60000" b="65000"/>
              </a:path>
            </a:gradFill>
            <a:ln>
              <a:noFill/>
            </a:ln>
          </p:spPr>
        </p:sp>
        <p:sp>
          <p:nvSpPr>
            <p:cNvPr id="30" name="TextBox 30"/>
            <p:cNvSpPr txBox="1"/>
            <p:nvPr/>
          </p:nvSpPr>
          <p:spPr>
            <a:xfrm>
              <a:off x="5590794" y="3370898"/>
              <a:ext cx="1010412" cy="724281"/>
            </a:xfrm>
            <a:prstGeom prst="rect">
              <a:avLst/>
            </a:prstGeom>
            <a:noFill/>
            <a:ln>
              <a:noFill/>
            </a:ln>
          </p:spPr>
          <p:txBody>
            <a:bodyPr wrap="none" lIns="0" tIns="0" rIns="0" bIns="0" anchor="t" anchorCtr="0">
              <a:spAutoFit/>
            </a:bodyPr>
            <a:lstStyle/>
            <a:p>
              <a:pPr algn="ctr">
                <a:lnSpc>
                  <a:spcPts val="2700"/>
                </a:lnSpc>
              </a:pPr>
              <a:r>
                <a:rPr lang="zh-CN" sz="1950" b="1" dirty="0">
                  <a:solidFill>
                    <a:srgbClr val="FFFFFF"/>
                  </a:solidFill>
                  <a:latin typeface="+mn-lt"/>
                  <a:ea typeface="+mn-ea"/>
                  <a:cs typeface="+mn-cs"/>
                </a:rPr>
                <a:t>项目管理</a:t>
              </a:r>
              <a:br/>
              <a:r>
                <a:rPr lang="zh-CN" sz="1950" b="1" dirty="0">
                  <a:solidFill>
                    <a:srgbClr val="FFFFFF"/>
                  </a:solidFill>
                  <a:latin typeface="+mn-lt"/>
                  <a:ea typeface="+mn-ea"/>
                  <a:cs typeface="+mn-cs"/>
                </a:rPr>
                <a:t>精益化</a:t>
              </a:r>
            </a:p>
          </p:txBody>
        </p:sp>
      </p:grpSp>
      <p:grpSp>
        <p:nvGrpSpPr>
          <p:cNvPr id="47" name="left-driver"/>
          <p:cNvGrpSpPr/>
          <p:nvPr/>
        </p:nvGrpSpPr>
        <p:grpSpPr>
          <a:xfrm>
            <a:off x="838200" y="2381250"/>
            <a:ext cx="3590925" cy="2190750"/>
            <a:chOff x="838200" y="2381250"/>
            <a:chExt cx="3590925" cy="2190750"/>
          </a:xfrm>
        </p:grpSpPr>
        <p:sp>
          <p:nvSpPr>
            <p:cNvPr id="32" name="Ellipse 32"/>
            <p:cNvSpPr/>
            <p:nvPr/>
          </p:nvSpPr>
          <p:spPr>
            <a:xfrm>
              <a:off x="1143000" y="238125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33" name="TextBox 33"/>
            <p:cNvSpPr txBox="1"/>
            <p:nvPr/>
          </p:nvSpPr>
          <p:spPr>
            <a:xfrm>
              <a:off x="1291869" y="2609374"/>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客户</a:t>
              </a:r>
            </a:p>
          </p:txBody>
        </p:sp>
        <p:sp>
          <p:nvSpPr>
            <p:cNvPr id="34" name="Ellipse 34"/>
            <p:cNvSpPr/>
            <p:nvPr/>
          </p:nvSpPr>
          <p:spPr>
            <a:xfrm>
              <a:off x="1638300" y="304800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35" name="TextBox 35"/>
            <p:cNvSpPr txBox="1"/>
            <p:nvPr/>
          </p:nvSpPr>
          <p:spPr>
            <a:xfrm>
              <a:off x="1787169" y="3276124"/>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经营</a:t>
              </a:r>
            </a:p>
          </p:txBody>
        </p:sp>
        <p:sp>
          <p:nvSpPr>
            <p:cNvPr id="36" name="Ellipse 36"/>
            <p:cNvSpPr/>
            <p:nvPr/>
          </p:nvSpPr>
          <p:spPr>
            <a:xfrm>
              <a:off x="838200" y="333375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37" name="TextBox 37"/>
            <p:cNvSpPr txBox="1"/>
            <p:nvPr/>
          </p:nvSpPr>
          <p:spPr>
            <a:xfrm>
              <a:off x="987069" y="3561874"/>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产品</a:t>
              </a:r>
            </a:p>
          </p:txBody>
        </p:sp>
        <p:sp>
          <p:nvSpPr>
            <p:cNvPr id="38" name="Ellipse 38"/>
            <p:cNvSpPr/>
            <p:nvPr/>
          </p:nvSpPr>
          <p:spPr>
            <a:xfrm>
              <a:off x="1390650" y="400050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39" name="TextBox 39"/>
            <p:cNvSpPr txBox="1"/>
            <p:nvPr/>
          </p:nvSpPr>
          <p:spPr>
            <a:xfrm>
              <a:off x="1539519" y="4228624"/>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现场</a:t>
              </a:r>
            </a:p>
          </p:txBody>
        </p:sp>
        <p:sp>
          <p:nvSpPr>
            <p:cNvPr id="40" name="TextBox 40"/>
            <p:cNvSpPr txBox="1"/>
            <p:nvPr/>
          </p:nvSpPr>
          <p:spPr>
            <a:xfrm>
              <a:off x="2721928" y="2973943"/>
              <a:ext cx="118745" cy="1235869"/>
            </a:xfrm>
            <a:prstGeom prst="rect">
              <a:avLst/>
            </a:prstGeom>
            <a:noFill/>
            <a:ln>
              <a:noFill/>
            </a:ln>
          </p:spPr>
          <p:txBody>
            <a:bodyPr wrap="none" lIns="0" tIns="0" rIns="0" bIns="0" anchor="t" anchorCtr="0">
              <a:spAutoFit/>
            </a:bodyPr>
            <a:lstStyle/>
            <a:p>
              <a:pPr algn="ctr">
                <a:lnSpc>
                  <a:spcPts val="1050"/>
                </a:lnSpc>
              </a:pPr>
              <a:r>
                <a:rPr lang="zh-CN" sz="860" dirty="0">
                  <a:solidFill>
                    <a:srgbClr val="333333"/>
                  </a:solidFill>
                  <a:latin typeface="+mn-lt"/>
                  <a:ea typeface="+mn-ea"/>
                  <a:cs typeface="+mn-cs"/>
                </a:rPr>
                <a:t>数</a:t>
              </a:r>
              <a:br/>
              <a:r>
                <a:rPr lang="zh-CN" sz="860" dirty="0">
                  <a:solidFill>
                    <a:srgbClr val="333333"/>
                  </a:solidFill>
                  <a:latin typeface="+mn-lt"/>
                  <a:ea typeface="+mn-ea"/>
                  <a:cs typeface="+mn-cs"/>
                </a:rPr>
                <a:t>据</a:t>
              </a:r>
              <a:br/>
              <a:r>
                <a:rPr lang="zh-CN" sz="860" dirty="0">
                  <a:solidFill>
                    <a:srgbClr val="333333"/>
                  </a:solidFill>
                  <a:latin typeface="+mn-lt"/>
                  <a:ea typeface="+mn-ea"/>
                  <a:cs typeface="+mn-cs"/>
                </a:rPr>
                <a:t>赋</a:t>
              </a:r>
              <a:br/>
              <a:r>
                <a:rPr lang="zh-CN" sz="860" dirty="0">
                  <a:solidFill>
                    <a:srgbClr val="333333"/>
                  </a:solidFill>
                  <a:latin typeface="+mn-lt"/>
                  <a:ea typeface="+mn-ea"/>
                  <a:cs typeface="+mn-cs"/>
                </a:rPr>
                <a:t>能</a:t>
              </a:r>
              <a:br/>
              <a:r>
                <a:rPr lang="zh-CN" sz="860" dirty="0">
                  <a:solidFill>
                    <a:srgbClr val="333333"/>
                  </a:solidFill>
                  <a:latin typeface="+mn-lt"/>
                  <a:ea typeface="+mn-ea"/>
                  <a:cs typeface="+mn-cs"/>
                </a:rPr>
                <a:t>和</a:t>
              </a:r>
              <a:br/>
              <a:r>
                <a:rPr lang="zh-CN" sz="860" dirty="0">
                  <a:solidFill>
                    <a:srgbClr val="333333"/>
                  </a:solidFill>
                  <a:latin typeface="+mn-lt"/>
                  <a:ea typeface="+mn-ea"/>
                  <a:cs typeface="+mn-cs"/>
                </a:rPr>
                <a:t>创</a:t>
              </a:r>
              <a:br/>
              <a:r>
                <a:rPr lang="zh-CN" sz="860" dirty="0">
                  <a:solidFill>
                    <a:srgbClr val="333333"/>
                  </a:solidFill>
                  <a:latin typeface="+mn-lt"/>
                  <a:ea typeface="+mn-ea"/>
                  <a:cs typeface="+mn-cs"/>
                </a:rPr>
                <a:t>新</a:t>
              </a:r>
              <a:br/>
              <a:r>
                <a:rPr lang="zh-CN" sz="860" dirty="0">
                  <a:solidFill>
                    <a:srgbClr val="333333"/>
                  </a:solidFill>
                  <a:latin typeface="+mn-lt"/>
                  <a:ea typeface="+mn-ea"/>
                  <a:cs typeface="+mn-cs"/>
                </a:rPr>
                <a:t>驱</a:t>
              </a:r>
              <a:br/>
              <a:r>
                <a:rPr lang="zh-CN" sz="860" dirty="0">
                  <a:solidFill>
                    <a:srgbClr val="333333"/>
                  </a:solidFill>
                  <a:latin typeface="+mn-lt"/>
                  <a:ea typeface="+mn-ea"/>
                  <a:cs typeface="+mn-cs"/>
                </a:rPr>
                <a:t>动</a:t>
              </a:r>
            </a:p>
          </p:txBody>
        </p:sp>
        <p:sp>
          <p:nvSpPr>
            <p:cNvPr id="41" name="TextBox 41"/>
            <p:cNvSpPr txBox="1"/>
            <p:nvPr/>
          </p:nvSpPr>
          <p:spPr>
            <a:xfrm>
              <a:off x="2950528" y="3240643"/>
              <a:ext cx="118745" cy="702469"/>
            </a:xfrm>
            <a:prstGeom prst="rect">
              <a:avLst/>
            </a:prstGeom>
            <a:noFill/>
            <a:ln>
              <a:noFill/>
            </a:ln>
          </p:spPr>
          <p:txBody>
            <a:bodyPr wrap="none" lIns="0" tIns="0" rIns="0" bIns="0" anchor="t" anchorCtr="0">
              <a:spAutoFit/>
            </a:bodyPr>
            <a:lstStyle/>
            <a:p>
              <a:pPr algn="ctr">
                <a:lnSpc>
                  <a:spcPts val="1050"/>
                </a:lnSpc>
              </a:pPr>
              <a:r>
                <a:rPr lang="zh-CN" sz="860" dirty="0">
                  <a:solidFill>
                    <a:srgbClr val="333333"/>
                  </a:solidFill>
                  <a:latin typeface="+mn-lt"/>
                  <a:ea typeface="+mn-ea"/>
                  <a:cs typeface="+mn-cs"/>
                </a:rPr>
                <a:t>数</a:t>
              </a:r>
              <a:br/>
              <a:r>
                <a:rPr lang="zh-CN" sz="860" dirty="0">
                  <a:solidFill>
                    <a:srgbClr val="333333"/>
                  </a:solidFill>
                  <a:latin typeface="+mn-lt"/>
                  <a:ea typeface="+mn-ea"/>
                  <a:cs typeface="+mn-cs"/>
                </a:rPr>
                <a:t>据</a:t>
              </a:r>
              <a:br/>
              <a:r>
                <a:rPr lang="zh-CN" sz="860" dirty="0">
                  <a:solidFill>
                    <a:srgbClr val="333333"/>
                  </a:solidFill>
                  <a:latin typeface="+mn-lt"/>
                  <a:ea typeface="+mn-ea"/>
                  <a:cs typeface="+mn-cs"/>
                </a:rPr>
                <a:t>一</a:t>
              </a:r>
              <a:br/>
              <a:r>
                <a:rPr lang="zh-CN" sz="860" dirty="0">
                  <a:solidFill>
                    <a:srgbClr val="333333"/>
                  </a:solidFill>
                  <a:latin typeface="+mn-lt"/>
                  <a:ea typeface="+mn-ea"/>
                  <a:cs typeface="+mn-cs"/>
                </a:rPr>
                <a:t>体</a:t>
              </a:r>
              <a:br/>
              <a:r>
                <a:rPr lang="zh-CN" sz="860" dirty="0">
                  <a:solidFill>
                    <a:srgbClr val="333333"/>
                  </a:solidFill>
                  <a:latin typeface="+mn-lt"/>
                  <a:ea typeface="+mn-ea"/>
                  <a:cs typeface="+mn-cs"/>
                </a:rPr>
                <a:t>化</a:t>
              </a:r>
            </a:p>
          </p:txBody>
        </p:sp>
        <p:sp>
          <p:nvSpPr>
            <p:cNvPr id="42" name="Ellipse 42"/>
            <p:cNvSpPr/>
            <p:nvPr/>
          </p:nvSpPr>
          <p:spPr>
            <a:xfrm>
              <a:off x="3286125" y="3095625"/>
              <a:ext cx="1143000" cy="11430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45" name="Group 45"/>
            <p:cNvGrpSpPr/>
            <p:nvPr/>
          </p:nvGrpSpPr>
          <p:grpSpPr>
            <a:xfrm>
              <a:off x="3768725" y="3278663"/>
              <a:ext cx="177801" cy="186375"/>
              <a:chOff x="3768725" y="3278663"/>
              <a:chExt cx="177801" cy="186375"/>
            </a:xfrm>
          </p:grpSpPr>
          <p:sp>
            <p:nvSpPr>
              <p:cNvPr id="43" name="Freeform 43"/>
              <p:cNvSpPr/>
              <p:nvPr/>
            </p:nvSpPr>
            <p:spPr>
              <a:xfrm>
                <a:off x="3768725" y="3278663"/>
                <a:ext cx="177801" cy="82075"/>
              </a:xfrm>
              <a:custGeom>
                <a:avLst/>
                <a:gdLst/>
                <a:ahLst/>
                <a:cxnLst/>
                <a:rect l="l" t="t" r="r" b="b"/>
                <a:pathLst>
                  <a:path w="177801" h="82075">
                    <a:moveTo>
                      <a:pt x="177801" y="82075"/>
                    </a:moveTo>
                    <a:cubicBezTo>
                      <a:pt x="172214" y="41876"/>
                      <a:pt x="140416" y="10388"/>
                      <a:pt x="100165" y="5194"/>
                    </a:cubicBezTo>
                    <a:cubicBezTo>
                      <a:pt x="59913" y="0"/>
                      <a:pt x="21164" y="22386"/>
                      <a:pt x="5556" y="59850"/>
                    </a:cubicBezTo>
                    <a:moveTo>
                      <a:pt x="0" y="15400"/>
                    </a:moveTo>
                    <a:lnTo>
                      <a:pt x="0" y="59850"/>
                    </a:lnTo>
                    <a:lnTo>
                      <a:pt x="44450" y="59850"/>
                    </a:lnTo>
                  </a:path>
                </a:pathLst>
              </a:custGeom>
              <a:noFill/>
              <a:ln w="22225">
                <a:solidFill>
                  <a:srgbClr val="FFFFFF"/>
                </a:solidFill>
              </a:ln>
            </p:spPr>
          </p:sp>
          <p:sp>
            <p:nvSpPr>
              <p:cNvPr id="44" name="Freeform 44"/>
              <p:cNvSpPr/>
              <p:nvPr/>
            </p:nvSpPr>
            <p:spPr>
              <a:xfrm>
                <a:off x="3768725" y="3382963"/>
                <a:ext cx="177801" cy="82075"/>
              </a:xfrm>
              <a:custGeom>
                <a:avLst/>
                <a:gdLst/>
                <a:ahLst/>
                <a:cxnLst/>
                <a:rect l="l" t="t" r="r" b="b"/>
                <a:pathLst>
                  <a:path w="177801" h="82075">
                    <a:moveTo>
                      <a:pt x="0" y="0"/>
                    </a:moveTo>
                    <a:cubicBezTo>
                      <a:pt x="5587" y="40199"/>
                      <a:pt x="37384" y="71688"/>
                      <a:pt x="77636" y="76881"/>
                    </a:cubicBezTo>
                    <a:cubicBezTo>
                      <a:pt x="117888" y="82075"/>
                      <a:pt x="156637" y="59689"/>
                      <a:pt x="172244" y="22225"/>
                    </a:cubicBezTo>
                    <a:moveTo>
                      <a:pt x="177801" y="66675"/>
                    </a:moveTo>
                    <a:lnTo>
                      <a:pt x="177801" y="22225"/>
                    </a:lnTo>
                    <a:lnTo>
                      <a:pt x="133350" y="22225"/>
                    </a:lnTo>
                  </a:path>
                </a:pathLst>
              </a:custGeom>
              <a:noFill/>
              <a:ln w="22225">
                <a:solidFill>
                  <a:srgbClr val="FFFFFF"/>
                </a:solidFill>
              </a:ln>
            </p:spPr>
          </p:sp>
        </p:grpSp>
        <p:sp>
          <p:nvSpPr>
            <p:cNvPr id="46" name="TextBox 46"/>
            <p:cNvSpPr txBox="1"/>
            <p:nvPr/>
          </p:nvSpPr>
          <p:spPr>
            <a:xfrm>
              <a:off x="3506521" y="3710464"/>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数据驱动</a:t>
              </a:r>
            </a:p>
          </p:txBody>
        </p:sp>
      </p:grpSp>
      <p:grpSp>
        <p:nvGrpSpPr>
          <p:cNvPr id="67" name="right-front"/>
          <p:cNvGrpSpPr/>
          <p:nvPr/>
        </p:nvGrpSpPr>
        <p:grpSpPr>
          <a:xfrm>
            <a:off x="7762875" y="2400300"/>
            <a:ext cx="3810000" cy="2400300"/>
            <a:chOff x="7762875" y="2400300"/>
            <a:chExt cx="3810000" cy="2400300"/>
          </a:xfrm>
        </p:grpSpPr>
        <p:sp>
          <p:nvSpPr>
            <p:cNvPr id="48" name="Ellipse 48"/>
            <p:cNvSpPr/>
            <p:nvPr/>
          </p:nvSpPr>
          <p:spPr>
            <a:xfrm>
              <a:off x="7762875" y="3095625"/>
              <a:ext cx="1143000" cy="11430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53" name="Group 53"/>
            <p:cNvGrpSpPr/>
            <p:nvPr/>
          </p:nvGrpSpPr>
          <p:grpSpPr>
            <a:xfrm>
              <a:off x="8256588" y="3282950"/>
              <a:ext cx="166687" cy="188913"/>
              <a:chOff x="8256588" y="3282950"/>
              <a:chExt cx="166687" cy="188913"/>
            </a:xfrm>
          </p:grpSpPr>
          <p:sp>
            <p:nvSpPr>
              <p:cNvPr id="49" name="Freeform 49"/>
              <p:cNvSpPr/>
              <p:nvPr/>
            </p:nvSpPr>
            <p:spPr>
              <a:xfrm>
                <a:off x="8256588" y="3282950"/>
                <a:ext cx="133350" cy="177801"/>
              </a:xfrm>
              <a:custGeom>
                <a:avLst/>
                <a:gdLst/>
                <a:ahLst/>
                <a:cxnLst/>
                <a:rect l="l" t="t" r="r" b="b"/>
                <a:pathLst>
                  <a:path w="133350" h="177801">
                    <a:moveTo>
                      <a:pt x="51284" y="177801"/>
                    </a:moveTo>
                    <a:lnTo>
                      <a:pt x="22225" y="177801"/>
                    </a:lnTo>
                    <a:cubicBezTo>
                      <a:pt x="9950" y="177801"/>
                      <a:pt x="0" y="167850"/>
                      <a:pt x="0" y="155575"/>
                    </a:cubicBezTo>
                    <a:lnTo>
                      <a:pt x="0" y="22225"/>
                    </a:lnTo>
                    <a:cubicBezTo>
                      <a:pt x="0" y="9950"/>
                      <a:pt x="9950" y="0"/>
                      <a:pt x="22225" y="0"/>
                    </a:cubicBezTo>
                    <a:lnTo>
                      <a:pt x="111125" y="0"/>
                    </a:lnTo>
                    <a:cubicBezTo>
                      <a:pt x="123400" y="0"/>
                      <a:pt x="133350" y="9950"/>
                      <a:pt x="133350" y="22225"/>
                    </a:cubicBezTo>
                    <a:lnTo>
                      <a:pt x="133350" y="111125"/>
                    </a:lnTo>
                  </a:path>
                </a:pathLst>
              </a:custGeom>
              <a:noFill/>
              <a:ln w="22225">
                <a:solidFill>
                  <a:srgbClr val="FFFFFF"/>
                </a:solidFill>
              </a:ln>
            </p:spPr>
          </p:sp>
          <p:sp>
            <p:nvSpPr>
              <p:cNvPr id="50" name="Freeform 50"/>
              <p:cNvSpPr/>
              <p:nvPr/>
            </p:nvSpPr>
            <p:spPr>
              <a:xfrm>
                <a:off x="8356600" y="3427413"/>
                <a:ext cx="66675" cy="44450"/>
              </a:xfrm>
              <a:custGeom>
                <a:avLst/>
                <a:gdLst/>
                <a:ahLst/>
                <a:cxnLst/>
                <a:rect l="l" t="t" r="r" b="b"/>
                <a:pathLst>
                  <a:path w="66675" h="44450">
                    <a:moveTo>
                      <a:pt x="0" y="22225"/>
                    </a:moveTo>
                    <a:lnTo>
                      <a:pt x="22225" y="44450"/>
                    </a:lnTo>
                    <a:lnTo>
                      <a:pt x="66675" y="0"/>
                    </a:lnTo>
                  </a:path>
                </a:pathLst>
              </a:custGeom>
              <a:noFill/>
              <a:ln w="22225">
                <a:solidFill>
                  <a:srgbClr val="FFFFFF"/>
                </a:solidFill>
              </a:ln>
            </p:spPr>
          </p:sp>
          <p:sp>
            <p:nvSpPr>
              <p:cNvPr id="51" name="Freeform 51"/>
              <p:cNvSpPr/>
              <p:nvPr/>
            </p:nvSpPr>
            <p:spPr>
              <a:xfrm>
                <a:off x="8301038" y="3327400"/>
                <a:ext cx="44450" cy="9525"/>
              </a:xfrm>
              <a:custGeom>
                <a:avLst/>
                <a:gdLst/>
                <a:ahLst/>
                <a:cxnLst/>
                <a:rect l="l" t="t" r="r" b="b"/>
                <a:pathLst>
                  <a:path w="44450" h="9525">
                    <a:moveTo>
                      <a:pt x="0" y="0"/>
                    </a:moveTo>
                    <a:lnTo>
                      <a:pt x="44450" y="0"/>
                    </a:lnTo>
                  </a:path>
                </a:pathLst>
              </a:custGeom>
              <a:noFill/>
              <a:ln w="22225">
                <a:solidFill>
                  <a:srgbClr val="FFFFFF"/>
                </a:solidFill>
              </a:ln>
            </p:spPr>
          </p:sp>
          <p:sp>
            <p:nvSpPr>
              <p:cNvPr id="52" name="Freeform 52"/>
              <p:cNvSpPr/>
              <p:nvPr/>
            </p:nvSpPr>
            <p:spPr>
              <a:xfrm>
                <a:off x="8301038" y="3371850"/>
                <a:ext cx="22225" cy="9525"/>
              </a:xfrm>
              <a:custGeom>
                <a:avLst/>
                <a:gdLst/>
                <a:ahLst/>
                <a:cxnLst/>
                <a:rect l="l" t="t" r="r" b="b"/>
                <a:pathLst>
                  <a:path w="22225" h="9525">
                    <a:moveTo>
                      <a:pt x="0" y="0"/>
                    </a:moveTo>
                    <a:lnTo>
                      <a:pt x="22225" y="0"/>
                    </a:lnTo>
                  </a:path>
                </a:pathLst>
              </a:custGeom>
              <a:noFill/>
              <a:ln w="22225">
                <a:solidFill>
                  <a:srgbClr val="FFFFFF"/>
                </a:solidFill>
              </a:ln>
            </p:spPr>
          </p:sp>
        </p:grpSp>
        <p:sp>
          <p:nvSpPr>
            <p:cNvPr id="54" name="TextBox 54"/>
            <p:cNvSpPr txBox="1"/>
            <p:nvPr/>
          </p:nvSpPr>
          <p:spPr>
            <a:xfrm>
              <a:off x="7983271" y="3710464"/>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业务前置</a:t>
              </a:r>
            </a:p>
          </p:txBody>
        </p:sp>
        <p:sp>
          <p:nvSpPr>
            <p:cNvPr id="55" name="TextBox 55"/>
            <p:cNvSpPr txBox="1"/>
            <p:nvPr/>
          </p:nvSpPr>
          <p:spPr>
            <a:xfrm>
              <a:off x="9122728" y="3240643"/>
              <a:ext cx="118745" cy="702469"/>
            </a:xfrm>
            <a:prstGeom prst="rect">
              <a:avLst/>
            </a:prstGeom>
            <a:noFill/>
            <a:ln>
              <a:noFill/>
            </a:ln>
          </p:spPr>
          <p:txBody>
            <a:bodyPr wrap="none" lIns="0" tIns="0" rIns="0" bIns="0" anchor="t" anchorCtr="0">
              <a:spAutoFit/>
            </a:bodyPr>
            <a:lstStyle/>
            <a:p>
              <a:pPr algn="ctr">
                <a:lnSpc>
                  <a:spcPts val="1050"/>
                </a:lnSpc>
              </a:pPr>
              <a:r>
                <a:rPr lang="zh-CN" sz="860" dirty="0">
                  <a:solidFill>
                    <a:srgbClr val="333333"/>
                  </a:solidFill>
                  <a:latin typeface="+mn-lt"/>
                  <a:ea typeface="+mn-ea"/>
                  <a:cs typeface="+mn-cs"/>
                </a:rPr>
                <a:t>横</a:t>
              </a:r>
              <a:br/>
              <a:r>
                <a:rPr lang="zh-CN" sz="860" dirty="0">
                  <a:solidFill>
                    <a:srgbClr val="333333"/>
                  </a:solidFill>
                  <a:latin typeface="+mn-lt"/>
                  <a:ea typeface="+mn-ea"/>
                  <a:cs typeface="+mn-cs"/>
                </a:rPr>
                <a:t>向</a:t>
              </a:r>
              <a:br/>
              <a:r>
                <a:rPr lang="zh-CN" sz="860" dirty="0">
                  <a:solidFill>
                    <a:srgbClr val="333333"/>
                  </a:solidFill>
                  <a:latin typeface="+mn-lt"/>
                  <a:ea typeface="+mn-ea"/>
                  <a:cs typeface="+mn-cs"/>
                </a:rPr>
                <a:t>一</a:t>
              </a:r>
              <a:br/>
              <a:r>
                <a:rPr lang="zh-CN" sz="860" dirty="0">
                  <a:solidFill>
                    <a:srgbClr val="333333"/>
                  </a:solidFill>
                  <a:latin typeface="+mn-lt"/>
                  <a:ea typeface="+mn-ea"/>
                  <a:cs typeface="+mn-cs"/>
                </a:rPr>
                <a:t>体</a:t>
              </a:r>
              <a:br/>
              <a:r>
                <a:rPr lang="zh-CN" sz="860" dirty="0">
                  <a:solidFill>
                    <a:srgbClr val="333333"/>
                  </a:solidFill>
                  <a:latin typeface="+mn-lt"/>
                  <a:ea typeface="+mn-ea"/>
                  <a:cs typeface="+mn-cs"/>
                </a:rPr>
                <a:t>化</a:t>
              </a:r>
            </a:p>
          </p:txBody>
        </p:sp>
        <p:sp>
          <p:nvSpPr>
            <p:cNvPr id="56" name="TextBox 56"/>
            <p:cNvSpPr txBox="1"/>
            <p:nvPr/>
          </p:nvSpPr>
          <p:spPr>
            <a:xfrm>
              <a:off x="9351328" y="3107293"/>
              <a:ext cx="118745" cy="969169"/>
            </a:xfrm>
            <a:prstGeom prst="rect">
              <a:avLst/>
            </a:prstGeom>
            <a:noFill/>
            <a:ln>
              <a:noFill/>
            </a:ln>
          </p:spPr>
          <p:txBody>
            <a:bodyPr wrap="none" lIns="0" tIns="0" rIns="0" bIns="0" anchor="t" anchorCtr="0">
              <a:spAutoFit/>
            </a:bodyPr>
            <a:lstStyle/>
            <a:p>
              <a:pPr algn="ctr">
                <a:lnSpc>
                  <a:spcPts val="1050"/>
                </a:lnSpc>
              </a:pPr>
              <a:r>
                <a:rPr lang="zh-CN" sz="860" dirty="0">
                  <a:solidFill>
                    <a:srgbClr val="333333"/>
                  </a:solidFill>
                  <a:latin typeface="+mn-lt"/>
                  <a:ea typeface="+mn-ea"/>
                  <a:cs typeface="+mn-cs"/>
                </a:rPr>
                <a:t>前</a:t>
              </a:r>
              <a:br/>
              <a:r>
                <a:rPr lang="zh-CN" sz="860" dirty="0">
                  <a:solidFill>
                    <a:srgbClr val="333333"/>
                  </a:solidFill>
                  <a:latin typeface="+mn-lt"/>
                  <a:ea typeface="+mn-ea"/>
                  <a:cs typeface="+mn-cs"/>
                </a:rPr>
                <a:t>置</a:t>
              </a:r>
              <a:br/>
              <a:r>
                <a:rPr lang="zh-CN" sz="860" dirty="0">
                  <a:solidFill>
                    <a:srgbClr val="333333"/>
                  </a:solidFill>
                  <a:latin typeface="+mn-lt"/>
                  <a:ea typeface="+mn-ea"/>
                  <a:cs typeface="+mn-cs"/>
                </a:rPr>
                <a:t>和</a:t>
              </a:r>
              <a:br/>
              <a:r>
                <a:rPr lang="zh-CN" sz="860" dirty="0">
                  <a:solidFill>
                    <a:srgbClr val="333333"/>
                  </a:solidFill>
                  <a:latin typeface="+mn-lt"/>
                  <a:ea typeface="+mn-ea"/>
                  <a:cs typeface="+mn-cs"/>
                </a:rPr>
                <a:t>管</a:t>
              </a:r>
              <a:br/>
              <a:r>
                <a:rPr lang="zh-CN" sz="860" dirty="0">
                  <a:solidFill>
                    <a:srgbClr val="333333"/>
                  </a:solidFill>
                  <a:latin typeface="+mn-lt"/>
                  <a:ea typeface="+mn-ea"/>
                  <a:cs typeface="+mn-cs"/>
                </a:rPr>
                <a:t>理</a:t>
              </a:r>
              <a:br/>
              <a:r>
                <a:rPr lang="zh-CN" sz="860" dirty="0">
                  <a:solidFill>
                    <a:srgbClr val="333333"/>
                  </a:solidFill>
                  <a:latin typeface="+mn-lt"/>
                  <a:ea typeface="+mn-ea"/>
                  <a:cs typeface="+mn-cs"/>
                </a:rPr>
                <a:t>前</a:t>
              </a:r>
              <a:br/>
              <a:r>
                <a:rPr lang="zh-CN" sz="860" dirty="0">
                  <a:solidFill>
                    <a:srgbClr val="333333"/>
                  </a:solidFill>
                  <a:latin typeface="+mn-lt"/>
                  <a:ea typeface="+mn-ea"/>
                  <a:cs typeface="+mn-cs"/>
                </a:rPr>
                <a:t>移</a:t>
              </a:r>
            </a:p>
          </p:txBody>
        </p:sp>
        <p:sp>
          <p:nvSpPr>
            <p:cNvPr id="57" name="Ellipse 57"/>
            <p:cNvSpPr/>
            <p:nvPr/>
          </p:nvSpPr>
          <p:spPr>
            <a:xfrm>
              <a:off x="10829925" y="240030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58" name="TextBox 58"/>
            <p:cNvSpPr txBox="1"/>
            <p:nvPr/>
          </p:nvSpPr>
          <p:spPr>
            <a:xfrm>
              <a:off x="10978794" y="2628424"/>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招采</a:t>
              </a:r>
            </a:p>
          </p:txBody>
        </p:sp>
        <p:sp>
          <p:nvSpPr>
            <p:cNvPr id="59" name="Ellipse 59"/>
            <p:cNvSpPr/>
            <p:nvPr/>
          </p:nvSpPr>
          <p:spPr>
            <a:xfrm>
              <a:off x="10191750" y="287655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60" name="TextBox 60"/>
            <p:cNvSpPr txBox="1"/>
            <p:nvPr/>
          </p:nvSpPr>
          <p:spPr>
            <a:xfrm>
              <a:off x="10340619" y="3104674"/>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研发</a:t>
              </a:r>
            </a:p>
          </p:txBody>
        </p:sp>
        <p:sp>
          <p:nvSpPr>
            <p:cNvPr id="61" name="Ellipse 61"/>
            <p:cNvSpPr/>
            <p:nvPr/>
          </p:nvSpPr>
          <p:spPr>
            <a:xfrm>
              <a:off x="11001375" y="333375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62" name="TextBox 62"/>
            <p:cNvSpPr txBox="1"/>
            <p:nvPr/>
          </p:nvSpPr>
          <p:spPr>
            <a:xfrm>
              <a:off x="11150244" y="3561874"/>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成本</a:t>
              </a:r>
            </a:p>
          </p:txBody>
        </p:sp>
        <p:sp>
          <p:nvSpPr>
            <p:cNvPr id="63" name="Ellipse 63"/>
            <p:cNvSpPr/>
            <p:nvPr/>
          </p:nvSpPr>
          <p:spPr>
            <a:xfrm>
              <a:off x="10248900" y="373380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64" name="TextBox 64"/>
            <p:cNvSpPr txBox="1"/>
            <p:nvPr/>
          </p:nvSpPr>
          <p:spPr>
            <a:xfrm>
              <a:off x="10397769" y="3961924"/>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营销</a:t>
              </a:r>
            </a:p>
          </p:txBody>
        </p:sp>
        <p:sp>
          <p:nvSpPr>
            <p:cNvPr id="65" name="Ellipse 65"/>
            <p:cNvSpPr/>
            <p:nvPr/>
          </p:nvSpPr>
          <p:spPr>
            <a:xfrm>
              <a:off x="10829925" y="4229100"/>
              <a:ext cx="571500" cy="5715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66" name="TextBox 66"/>
            <p:cNvSpPr txBox="1"/>
            <p:nvPr/>
          </p:nvSpPr>
          <p:spPr>
            <a:xfrm>
              <a:off x="10978794" y="4457224"/>
              <a:ext cx="273761"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客服</a:t>
              </a:r>
            </a:p>
          </p:txBody>
        </p:sp>
      </p:grpSp>
      <p:grpSp>
        <p:nvGrpSpPr>
          <p:cNvPr id="88" name="bottom-band"/>
          <p:cNvGrpSpPr/>
          <p:nvPr/>
        </p:nvGrpSpPr>
        <p:grpSpPr>
          <a:xfrm>
            <a:off x="2714625" y="5086350"/>
            <a:ext cx="6762750" cy="1390650"/>
            <a:chOff x="2714625" y="5086350"/>
            <a:chExt cx="6762750" cy="1390650"/>
          </a:xfrm>
        </p:grpSpPr>
        <p:sp>
          <p:nvSpPr>
            <p:cNvPr id="68" name="Rectangle 68"/>
            <p:cNvSpPr/>
            <p:nvPr/>
          </p:nvSpPr>
          <p:spPr>
            <a:xfrm>
              <a:off x="5429250" y="5086350"/>
              <a:ext cx="1333500" cy="285750"/>
            </a:xfrm>
            <a:prstGeom prst="roundRect">
              <a:avLst>
                <a:gd name="adj" fmla="val 50000"/>
              </a:avLst>
            </a:prstGeom>
            <a:gradFill>
              <a:gsLst>
                <a:gs pos="0">
                  <a:srgbClr val="FF5B3A"/>
                </a:gs>
                <a:gs pos="100000">
                  <a:srgbClr val="E94B2B"/>
                </a:gs>
              </a:gsLst>
              <a:lin ang="0" scaled="1"/>
            </a:gradFill>
            <a:ln>
              <a:noFill/>
            </a:ln>
          </p:spPr>
        </p:sp>
        <p:sp>
          <p:nvSpPr>
            <p:cNvPr id="69" name="TextBox 69"/>
            <p:cNvSpPr txBox="1"/>
            <p:nvPr/>
          </p:nvSpPr>
          <p:spPr>
            <a:xfrm>
              <a:off x="5807964" y="5173028"/>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甲乙联动</a:t>
              </a:r>
            </a:p>
          </p:txBody>
        </p:sp>
        <p:sp>
          <p:nvSpPr>
            <p:cNvPr id="70" name="TextBox 70"/>
            <p:cNvSpPr txBox="1"/>
            <p:nvPr/>
          </p:nvSpPr>
          <p:spPr>
            <a:xfrm>
              <a:off x="5761228" y="5514499"/>
              <a:ext cx="669544"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甲乙一体化</a:t>
              </a:r>
            </a:p>
          </p:txBody>
        </p:sp>
        <p:sp>
          <p:nvSpPr>
            <p:cNvPr id="71" name="TextBox 71"/>
            <p:cNvSpPr txBox="1"/>
            <p:nvPr/>
          </p:nvSpPr>
          <p:spPr>
            <a:xfrm>
              <a:off x="5485448" y="5694045"/>
              <a:ext cx="1221105"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数据联动和价值链协同</a:t>
              </a:r>
            </a:p>
          </p:txBody>
        </p:sp>
        <p:sp>
          <p:nvSpPr>
            <p:cNvPr id="72" name="Freeform 72"/>
            <p:cNvSpPr/>
            <p:nvPr/>
          </p:nvSpPr>
          <p:spPr>
            <a:xfrm>
              <a:off x="2857500" y="6096000"/>
              <a:ext cx="6477000" cy="381000"/>
            </a:xfrm>
            <a:custGeom>
              <a:avLst/>
              <a:gdLst/>
              <a:ahLst/>
              <a:cxnLst/>
              <a:rect l="l" t="t" r="r" b="b"/>
              <a:pathLst>
                <a:path w="6477000" h="381000">
                  <a:moveTo>
                    <a:pt x="0" y="0"/>
                  </a:moveTo>
                  <a:cubicBezTo>
                    <a:pt x="2159000" y="381000"/>
                    <a:pt x="4318000" y="381000"/>
                    <a:pt x="6477000" y="0"/>
                  </a:cubicBezTo>
                </a:path>
              </a:pathLst>
            </a:custGeom>
            <a:noFill/>
            <a:ln w="19050">
              <a:solidFill>
                <a:srgbClr val="F5927E"/>
              </a:solidFill>
            </a:ln>
          </p:spPr>
        </p:sp>
        <p:sp>
          <p:nvSpPr>
            <p:cNvPr id="73" name="Ellipse 73"/>
            <p:cNvSpPr/>
            <p:nvPr/>
          </p:nvSpPr>
          <p:spPr>
            <a:xfrm>
              <a:off x="3105150" y="6115050"/>
              <a:ext cx="76200" cy="76200"/>
            </a:xfrm>
            <a:prstGeom prst="ellipse">
              <a:avLst/>
            </a:prstGeom>
            <a:solidFill>
              <a:srgbClr val="E94B2B"/>
            </a:solidFill>
            <a:ln>
              <a:noFill/>
            </a:ln>
          </p:spPr>
        </p:sp>
        <p:sp>
          <p:nvSpPr>
            <p:cNvPr id="74" name="Ellipse 74"/>
            <p:cNvSpPr/>
            <p:nvPr/>
          </p:nvSpPr>
          <p:spPr>
            <a:xfrm>
              <a:off x="4581525" y="6286500"/>
              <a:ext cx="76200" cy="76200"/>
            </a:xfrm>
            <a:prstGeom prst="ellipse">
              <a:avLst/>
            </a:prstGeom>
            <a:solidFill>
              <a:srgbClr val="E94B2B"/>
            </a:solidFill>
            <a:ln>
              <a:noFill/>
            </a:ln>
          </p:spPr>
        </p:sp>
        <p:sp>
          <p:nvSpPr>
            <p:cNvPr id="75" name="Ellipse 75"/>
            <p:cNvSpPr/>
            <p:nvPr/>
          </p:nvSpPr>
          <p:spPr>
            <a:xfrm>
              <a:off x="6057900" y="6343650"/>
              <a:ext cx="76200" cy="76200"/>
            </a:xfrm>
            <a:prstGeom prst="ellipse">
              <a:avLst/>
            </a:prstGeom>
            <a:solidFill>
              <a:srgbClr val="E94B2B"/>
            </a:solidFill>
            <a:ln>
              <a:noFill/>
            </a:ln>
          </p:spPr>
        </p:sp>
        <p:sp>
          <p:nvSpPr>
            <p:cNvPr id="76" name="Ellipse 76"/>
            <p:cNvSpPr/>
            <p:nvPr/>
          </p:nvSpPr>
          <p:spPr>
            <a:xfrm>
              <a:off x="7534275" y="6286500"/>
              <a:ext cx="76200" cy="76200"/>
            </a:xfrm>
            <a:prstGeom prst="ellipse">
              <a:avLst/>
            </a:prstGeom>
            <a:solidFill>
              <a:srgbClr val="E94B2B"/>
            </a:solidFill>
            <a:ln>
              <a:noFill/>
            </a:ln>
          </p:spPr>
        </p:sp>
        <p:sp>
          <p:nvSpPr>
            <p:cNvPr id="77" name="Ellipse 77"/>
            <p:cNvSpPr/>
            <p:nvPr/>
          </p:nvSpPr>
          <p:spPr>
            <a:xfrm>
              <a:off x="9010650" y="6115050"/>
              <a:ext cx="76200" cy="76200"/>
            </a:xfrm>
            <a:prstGeom prst="ellipse">
              <a:avLst/>
            </a:prstGeom>
            <a:solidFill>
              <a:srgbClr val="E94B2B"/>
            </a:solidFill>
            <a:ln>
              <a:noFill/>
            </a:ln>
          </p:spPr>
        </p:sp>
        <p:sp>
          <p:nvSpPr>
            <p:cNvPr id="78" name="Rectangle 78"/>
            <p:cNvSpPr/>
            <p:nvPr/>
          </p:nvSpPr>
          <p:spPr>
            <a:xfrm>
              <a:off x="2714625" y="5829300"/>
              <a:ext cx="857250" cy="247650"/>
            </a:xfrm>
            <a:prstGeom prst="roundRect">
              <a:avLst>
                <a:gd name="adj" fmla="val 50000"/>
              </a:avLst>
            </a:prstGeom>
            <a:gradFill>
              <a:gsLst>
                <a:gs pos="0">
                  <a:srgbClr val="FF5B3A"/>
                </a:gs>
                <a:gs pos="100000">
                  <a:srgbClr val="E94B2B"/>
                </a:gs>
              </a:gsLst>
              <a:lin ang="0" scaled="1"/>
            </a:gradFill>
            <a:ln>
              <a:noFill/>
            </a:ln>
          </p:spPr>
        </p:sp>
        <p:sp>
          <p:nvSpPr>
            <p:cNvPr id="79" name="TextBox 79"/>
            <p:cNvSpPr txBox="1"/>
            <p:nvPr/>
          </p:nvSpPr>
          <p:spPr>
            <a:xfrm>
              <a:off x="2940406" y="5895499"/>
              <a:ext cx="405689"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设计方</a:t>
              </a:r>
            </a:p>
          </p:txBody>
        </p:sp>
        <p:sp>
          <p:nvSpPr>
            <p:cNvPr id="80" name="Rectangle 80"/>
            <p:cNvSpPr/>
            <p:nvPr/>
          </p:nvSpPr>
          <p:spPr>
            <a:xfrm>
              <a:off x="4191000" y="5962650"/>
              <a:ext cx="857250" cy="247650"/>
            </a:xfrm>
            <a:prstGeom prst="roundRect">
              <a:avLst>
                <a:gd name="adj" fmla="val 50000"/>
              </a:avLst>
            </a:prstGeom>
            <a:gradFill>
              <a:gsLst>
                <a:gs pos="0">
                  <a:srgbClr val="FF5B3A"/>
                </a:gs>
                <a:gs pos="100000">
                  <a:srgbClr val="E94B2B"/>
                </a:gs>
              </a:gsLst>
              <a:lin ang="0" scaled="1"/>
            </a:gradFill>
            <a:ln>
              <a:noFill/>
            </a:ln>
          </p:spPr>
        </p:sp>
        <p:sp>
          <p:nvSpPr>
            <p:cNvPr id="81" name="TextBox 81"/>
            <p:cNvSpPr txBox="1"/>
            <p:nvPr/>
          </p:nvSpPr>
          <p:spPr>
            <a:xfrm>
              <a:off x="4416781" y="6028849"/>
              <a:ext cx="405689"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监理方</a:t>
              </a:r>
            </a:p>
          </p:txBody>
        </p:sp>
        <p:sp>
          <p:nvSpPr>
            <p:cNvPr id="82" name="Rectangle 82"/>
            <p:cNvSpPr/>
            <p:nvPr/>
          </p:nvSpPr>
          <p:spPr>
            <a:xfrm>
              <a:off x="5667375" y="6019800"/>
              <a:ext cx="857250" cy="247650"/>
            </a:xfrm>
            <a:prstGeom prst="roundRect">
              <a:avLst>
                <a:gd name="adj" fmla="val 50000"/>
              </a:avLst>
            </a:prstGeom>
            <a:gradFill>
              <a:gsLst>
                <a:gs pos="0">
                  <a:srgbClr val="FF5B3A"/>
                </a:gs>
                <a:gs pos="100000">
                  <a:srgbClr val="E94B2B"/>
                </a:gs>
              </a:gsLst>
              <a:lin ang="0" scaled="1"/>
            </a:gradFill>
            <a:ln>
              <a:noFill/>
            </a:ln>
          </p:spPr>
        </p:sp>
        <p:sp>
          <p:nvSpPr>
            <p:cNvPr id="83" name="TextBox 83"/>
            <p:cNvSpPr txBox="1"/>
            <p:nvPr/>
          </p:nvSpPr>
          <p:spPr>
            <a:xfrm>
              <a:off x="5893156" y="6085999"/>
              <a:ext cx="405689"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施工方</a:t>
              </a:r>
            </a:p>
          </p:txBody>
        </p:sp>
        <p:sp>
          <p:nvSpPr>
            <p:cNvPr id="84" name="Rectangle 84"/>
            <p:cNvSpPr/>
            <p:nvPr/>
          </p:nvSpPr>
          <p:spPr>
            <a:xfrm>
              <a:off x="7143750" y="5962650"/>
              <a:ext cx="857250" cy="247650"/>
            </a:xfrm>
            <a:prstGeom prst="roundRect">
              <a:avLst>
                <a:gd name="adj" fmla="val 50000"/>
              </a:avLst>
            </a:prstGeom>
            <a:gradFill>
              <a:gsLst>
                <a:gs pos="0">
                  <a:srgbClr val="FF5B3A"/>
                </a:gs>
                <a:gs pos="100000">
                  <a:srgbClr val="E94B2B"/>
                </a:gs>
              </a:gsLst>
              <a:lin ang="0" scaled="1"/>
            </a:gradFill>
            <a:ln>
              <a:noFill/>
            </a:ln>
          </p:spPr>
        </p:sp>
        <p:sp>
          <p:nvSpPr>
            <p:cNvPr id="85" name="TextBox 85"/>
            <p:cNvSpPr txBox="1"/>
            <p:nvPr/>
          </p:nvSpPr>
          <p:spPr>
            <a:xfrm>
              <a:off x="7369531" y="6028849"/>
              <a:ext cx="405689"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供应方</a:t>
              </a:r>
            </a:p>
          </p:txBody>
        </p:sp>
        <p:sp>
          <p:nvSpPr>
            <p:cNvPr id="86" name="Rectangle 86"/>
            <p:cNvSpPr/>
            <p:nvPr/>
          </p:nvSpPr>
          <p:spPr>
            <a:xfrm>
              <a:off x="8620125" y="5829300"/>
              <a:ext cx="857250" cy="247650"/>
            </a:xfrm>
            <a:prstGeom prst="roundRect">
              <a:avLst>
                <a:gd name="adj" fmla="val 50000"/>
              </a:avLst>
            </a:prstGeom>
            <a:gradFill>
              <a:gsLst>
                <a:gs pos="0">
                  <a:srgbClr val="FF5B3A"/>
                </a:gs>
                <a:gs pos="100000">
                  <a:srgbClr val="E94B2B"/>
                </a:gs>
              </a:gsLst>
              <a:lin ang="0" scaled="1"/>
            </a:gradFill>
            <a:ln>
              <a:noFill/>
            </a:ln>
          </p:spPr>
        </p:sp>
        <p:sp>
          <p:nvSpPr>
            <p:cNvPr id="87" name="TextBox 87"/>
            <p:cNvSpPr txBox="1"/>
            <p:nvPr/>
          </p:nvSpPr>
          <p:spPr>
            <a:xfrm>
              <a:off x="8845906" y="5895499"/>
              <a:ext cx="405689"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客户方</a:t>
              </a:r>
            </a:p>
          </p:txBody>
        </p:sp>
      </p:gr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Line 2"/>
          <p:cNvSpPr/>
          <p:nvPr/>
        </p:nvSpPr>
        <p:spPr>
          <a:xfrm>
            <a:off x="2686050" y="1162050"/>
            <a:ext cx="390525" cy="9525"/>
          </a:xfrm>
          <a:custGeom>
            <a:avLst/>
            <a:gdLst/>
            <a:ahLst/>
            <a:cxnLst/>
            <a:rect l="l" t="t" r="r" b="b"/>
            <a:pathLst>
              <a:path w="390525" h="9525">
                <a:moveTo>
                  <a:pt x="0" y="0"/>
                </a:moveTo>
                <a:lnTo>
                  <a:pt x="390525" y="0"/>
                </a:lnTo>
              </a:path>
            </a:pathLst>
          </a:custGeom>
          <a:noFill/>
          <a:ln w="14288">
            <a:solidFill>
              <a:srgbClr val="F5927E"/>
            </a:solidFill>
            <a:custDash>
              <a:ds d="200000" sp="200000"/>
            </a:custDash>
          </a:ln>
        </p:spPr>
      </p:sp>
      <p:sp>
        <p:nvSpPr>
          <p:cNvPr id="3" name="Line 3"/>
          <p:cNvSpPr/>
          <p:nvPr/>
        </p:nvSpPr>
        <p:spPr>
          <a:xfrm>
            <a:off x="4829175" y="1162050"/>
            <a:ext cx="390525" cy="9525"/>
          </a:xfrm>
          <a:custGeom>
            <a:avLst/>
            <a:gdLst/>
            <a:ahLst/>
            <a:cxnLst/>
            <a:rect l="l" t="t" r="r" b="b"/>
            <a:pathLst>
              <a:path w="390525" h="9525">
                <a:moveTo>
                  <a:pt x="0" y="0"/>
                </a:moveTo>
                <a:lnTo>
                  <a:pt x="390525" y="0"/>
                </a:lnTo>
              </a:path>
            </a:pathLst>
          </a:custGeom>
          <a:noFill/>
          <a:ln w="14288">
            <a:solidFill>
              <a:srgbClr val="F5927E"/>
            </a:solidFill>
            <a:custDash>
              <a:ds d="200000" sp="200000"/>
            </a:custDash>
          </a:ln>
        </p:spPr>
      </p:sp>
      <p:sp>
        <p:nvSpPr>
          <p:cNvPr id="4" name="Line 4"/>
          <p:cNvSpPr/>
          <p:nvPr/>
        </p:nvSpPr>
        <p:spPr>
          <a:xfrm>
            <a:off x="6972300" y="1162050"/>
            <a:ext cx="390525" cy="9525"/>
          </a:xfrm>
          <a:custGeom>
            <a:avLst/>
            <a:gdLst/>
            <a:ahLst/>
            <a:cxnLst/>
            <a:rect l="l" t="t" r="r" b="b"/>
            <a:pathLst>
              <a:path w="390525" h="9525">
                <a:moveTo>
                  <a:pt x="0" y="0"/>
                </a:moveTo>
                <a:lnTo>
                  <a:pt x="390525" y="0"/>
                </a:lnTo>
              </a:path>
            </a:pathLst>
          </a:custGeom>
          <a:noFill/>
          <a:ln w="14288">
            <a:solidFill>
              <a:srgbClr val="F5927E"/>
            </a:solidFill>
            <a:custDash>
              <a:ds d="200000" sp="200000"/>
            </a:custDash>
          </a:ln>
        </p:spPr>
      </p:sp>
      <p:sp>
        <p:nvSpPr>
          <p:cNvPr id="5" name="Line 5"/>
          <p:cNvSpPr/>
          <p:nvPr/>
        </p:nvSpPr>
        <p:spPr>
          <a:xfrm>
            <a:off x="9115425" y="1162050"/>
            <a:ext cx="390525" cy="9525"/>
          </a:xfrm>
          <a:custGeom>
            <a:avLst/>
            <a:gdLst/>
            <a:ahLst/>
            <a:cxnLst/>
            <a:rect l="l" t="t" r="r" b="b"/>
            <a:pathLst>
              <a:path w="390525" h="9525">
                <a:moveTo>
                  <a:pt x="0" y="0"/>
                </a:moveTo>
                <a:lnTo>
                  <a:pt x="390525" y="0"/>
                </a:lnTo>
              </a:path>
            </a:pathLst>
          </a:custGeom>
          <a:noFill/>
          <a:ln w="14288">
            <a:solidFill>
              <a:srgbClr val="F5927E"/>
            </a:solidFill>
            <a:custDash>
              <a:ds d="200000" sp="200000"/>
            </a:custDash>
          </a:ln>
        </p:spPr>
      </p:sp>
      <p:sp>
        <p:nvSpPr>
          <p:cNvPr id="6" name="base-arc-1"/>
          <p:cNvSpPr/>
          <p:nvPr/>
        </p:nvSpPr>
        <p:spPr>
          <a:xfrm>
            <a:off x="2857500" y="6286500"/>
            <a:ext cx="6477000" cy="254000"/>
          </a:xfrm>
          <a:custGeom>
            <a:avLst/>
            <a:gdLst/>
            <a:ahLst/>
            <a:cxnLst/>
            <a:rect l="l" t="t" r="r" b="b"/>
            <a:pathLst>
              <a:path w="6477000" h="254000">
                <a:moveTo>
                  <a:pt x="0" y="0"/>
                </a:moveTo>
                <a:cubicBezTo>
                  <a:pt x="2159000" y="254000"/>
                  <a:pt x="4318000" y="254000"/>
                  <a:pt x="6477000" y="0"/>
                </a:cubicBezTo>
              </a:path>
            </a:pathLst>
          </a:custGeom>
          <a:noFill/>
          <a:ln w="14288">
            <a:solidFill>
              <a:srgbClr val="F2AC9E"/>
            </a:solidFill>
          </a:ln>
        </p:spPr>
      </p:sp>
      <p:sp>
        <p:nvSpPr>
          <p:cNvPr id="7" name="base-arc-2"/>
          <p:cNvSpPr/>
          <p:nvPr/>
        </p:nvSpPr>
        <p:spPr>
          <a:xfrm>
            <a:off x="3429000" y="6477000"/>
            <a:ext cx="5334000" cy="203200"/>
          </a:xfrm>
          <a:custGeom>
            <a:avLst/>
            <a:gdLst/>
            <a:ahLst/>
            <a:cxnLst/>
            <a:rect l="l" t="t" r="r" b="b"/>
            <a:pathLst>
              <a:path w="5334000" h="203200">
                <a:moveTo>
                  <a:pt x="0" y="0"/>
                </a:moveTo>
                <a:cubicBezTo>
                  <a:pt x="1778000" y="203200"/>
                  <a:pt x="3556000" y="203200"/>
                  <a:pt x="5334000" y="0"/>
                </a:cubicBezTo>
              </a:path>
            </a:pathLst>
          </a:custGeom>
          <a:noFill/>
          <a:ln w="11430">
            <a:solidFill>
              <a:srgbClr val="F6C2B7"/>
            </a:solidFill>
          </a:ln>
        </p:spPr>
      </p:sp>
      <p:grpSp>
        <p:nvGrpSpPr>
          <p:cNvPr id="12" name="page-header"/>
          <p:cNvGrpSpPr/>
          <p:nvPr/>
        </p:nvGrpSpPr>
        <p:grpSpPr>
          <a:xfrm>
            <a:off x="0" y="0"/>
            <a:ext cx="11811000" cy="561404"/>
            <a:chOff x="0" y="0"/>
            <a:chExt cx="11811000" cy="561404"/>
          </a:xfrm>
        </p:grpSpPr>
        <p:sp>
          <p:nvSpPr>
            <p:cNvPr id="8" name="Polygon 8"/>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9" name="TextBox 9"/>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14</a:t>
              </a:r>
            </a:p>
          </p:txBody>
        </p:sp>
        <p:sp>
          <p:nvSpPr>
            <p:cNvPr id="10" name="TextBox 10"/>
            <p:cNvSpPr txBox="1"/>
            <p:nvPr/>
          </p:nvSpPr>
          <p:spPr>
            <a:xfrm>
              <a:off x="904494" y="180023"/>
              <a:ext cx="307086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助力品牌连接优质创作者</a:t>
              </a:r>
            </a:p>
          </p:txBody>
        </p:sp>
        <p:sp>
          <p:nvSpPr>
            <p:cNvPr id="11" name="Line 11"/>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26" name="stage-insight"/>
          <p:cNvGrpSpPr/>
          <p:nvPr/>
        </p:nvGrpSpPr>
        <p:grpSpPr>
          <a:xfrm>
            <a:off x="1000125" y="952500"/>
            <a:ext cx="1619250" cy="2190750"/>
            <a:chOff x="1000125" y="952500"/>
            <a:chExt cx="1619250" cy="2190750"/>
          </a:xfrm>
        </p:grpSpPr>
        <p:sp>
          <p:nvSpPr>
            <p:cNvPr id="13" name="Rectangle 13"/>
            <p:cNvSpPr/>
            <p:nvPr/>
          </p:nvSpPr>
          <p:spPr>
            <a:xfrm>
              <a:off x="1000125" y="952500"/>
              <a:ext cx="1619250" cy="419100"/>
            </a:xfrm>
            <a:prstGeom prst="roundRect">
              <a:avLst>
                <a:gd name="adj" fmla="val 13636"/>
              </a:avLst>
            </a:prstGeom>
            <a:gradFill>
              <a:gsLst>
                <a:gs pos="0">
                  <a:srgbClr val="FF5B3A"/>
                </a:gs>
                <a:gs pos="100000">
                  <a:srgbClr val="E94B2B"/>
                </a:gs>
              </a:gsLst>
              <a:lin ang="5400000" scaled="1"/>
            </a:gradFill>
            <a:ln>
              <a:noFill/>
            </a:ln>
          </p:spPr>
        </p:sp>
        <p:sp>
          <p:nvSpPr>
            <p:cNvPr id="14" name="Rectangle 14"/>
            <p:cNvSpPr/>
            <p:nvPr/>
          </p:nvSpPr>
          <p:spPr>
            <a:xfrm>
              <a:off x="1000125" y="952500"/>
              <a:ext cx="76200" cy="419100"/>
            </a:xfrm>
            <a:prstGeom prst="rect">
              <a:avLst/>
            </a:prstGeom>
            <a:solidFill>
              <a:srgbClr val="C83B1E"/>
            </a:solidFill>
            <a:ln>
              <a:noFill/>
            </a:ln>
          </p:spPr>
        </p:sp>
        <p:sp>
          <p:nvSpPr>
            <p:cNvPr id="15" name="Rectangle 15"/>
            <p:cNvSpPr/>
            <p:nvPr/>
          </p:nvSpPr>
          <p:spPr>
            <a:xfrm>
              <a:off x="2543175" y="952500"/>
              <a:ext cx="76200" cy="419100"/>
            </a:xfrm>
            <a:prstGeom prst="rect">
              <a:avLst/>
            </a:prstGeom>
            <a:solidFill>
              <a:srgbClr val="C83B1E"/>
            </a:solidFill>
            <a:ln>
              <a:noFill/>
            </a:ln>
          </p:spPr>
        </p:sp>
        <p:sp>
          <p:nvSpPr>
            <p:cNvPr id="16" name="TextBox 16"/>
            <p:cNvSpPr txBox="1"/>
            <p:nvPr/>
          </p:nvSpPr>
          <p:spPr>
            <a:xfrm>
              <a:off x="1480566" y="10991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洞察业务</a:t>
              </a:r>
            </a:p>
          </p:txBody>
        </p:sp>
        <p:sp>
          <p:nvSpPr>
            <p:cNvPr id="17" name="Line 17"/>
            <p:cNvSpPr/>
            <p:nvPr/>
          </p:nvSpPr>
          <p:spPr>
            <a:xfrm>
              <a:off x="1809750" y="1447800"/>
              <a:ext cx="1" cy="209550"/>
            </a:xfrm>
            <a:prstGeom prst="line">
              <a:avLst/>
            </a:prstGeom>
            <a:noFill/>
            <a:ln w="28575">
              <a:solidFill>
                <a:srgbClr val="F5927E"/>
              </a:solidFill>
              <a:tailEnd type="triangle" w="lg" len="lg"/>
            </a:ln>
          </p:spPr>
        </p:sp>
        <p:sp>
          <p:nvSpPr>
            <p:cNvPr id="18" name="Rectangle 18"/>
            <p:cNvSpPr/>
            <p:nvPr/>
          </p:nvSpPr>
          <p:spPr>
            <a:xfrm>
              <a:off x="1000125" y="1771650"/>
              <a:ext cx="1619250" cy="1371600"/>
            </a:xfrm>
            <a:prstGeom prst="roundRect">
              <a:avLst>
                <a:gd name="adj" fmla="val 6944"/>
              </a:avLst>
            </a:prstGeom>
            <a:solidFill>
              <a:srgbClr val="FFFFFF"/>
            </a:solidFill>
            <a:ln w="11430">
              <a:solidFill>
                <a:srgbClr val="C9DDF5"/>
              </a:solidFill>
            </a:ln>
          </p:spPr>
        </p:sp>
        <p:sp>
          <p:nvSpPr>
            <p:cNvPr id="19" name="Rectangle 19"/>
            <p:cNvSpPr/>
            <p:nvPr/>
          </p:nvSpPr>
          <p:spPr>
            <a:xfrm>
              <a:off x="1190625" y="1905000"/>
              <a:ext cx="1238250" cy="228600"/>
            </a:xfrm>
            <a:prstGeom prst="roundRect">
              <a:avLst>
                <a:gd name="adj" fmla="val 50000"/>
              </a:avLst>
            </a:prstGeom>
            <a:solidFill>
              <a:srgbClr val="F3F8FE"/>
            </a:solidFill>
            <a:ln w="9525">
              <a:solidFill>
                <a:srgbClr val="C9DDF5"/>
              </a:solidFill>
            </a:ln>
          </p:spPr>
        </p:sp>
        <p:sp>
          <p:nvSpPr>
            <p:cNvPr id="20" name="TextBox 20"/>
            <p:cNvSpPr txBox="1"/>
            <p:nvPr/>
          </p:nvSpPr>
          <p:spPr>
            <a:xfrm>
              <a:off x="1562672" y="19697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行业背景</a:t>
              </a:r>
            </a:p>
          </p:txBody>
        </p:sp>
        <p:sp>
          <p:nvSpPr>
            <p:cNvPr id="21" name="Rectangle 21"/>
            <p:cNvSpPr/>
            <p:nvPr/>
          </p:nvSpPr>
          <p:spPr>
            <a:xfrm>
              <a:off x="1190625" y="2209800"/>
              <a:ext cx="1238250" cy="228600"/>
            </a:xfrm>
            <a:prstGeom prst="roundRect">
              <a:avLst>
                <a:gd name="adj" fmla="val 50000"/>
              </a:avLst>
            </a:prstGeom>
            <a:solidFill>
              <a:srgbClr val="F3F8FE"/>
            </a:solidFill>
            <a:ln w="9525">
              <a:solidFill>
                <a:srgbClr val="C9DDF5"/>
              </a:solidFill>
            </a:ln>
          </p:spPr>
        </p:sp>
        <p:sp>
          <p:nvSpPr>
            <p:cNvPr id="22" name="TextBox 22"/>
            <p:cNvSpPr txBox="1"/>
            <p:nvPr/>
          </p:nvSpPr>
          <p:spPr>
            <a:xfrm>
              <a:off x="1562672" y="22745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业务背景</a:t>
              </a:r>
            </a:p>
          </p:txBody>
        </p:sp>
        <p:sp>
          <p:nvSpPr>
            <p:cNvPr id="23" name="Rectangle 23"/>
            <p:cNvSpPr/>
            <p:nvPr/>
          </p:nvSpPr>
          <p:spPr>
            <a:xfrm>
              <a:off x="1190625" y="2514600"/>
              <a:ext cx="1238250" cy="228600"/>
            </a:xfrm>
            <a:prstGeom prst="roundRect">
              <a:avLst>
                <a:gd name="adj" fmla="val 50000"/>
              </a:avLst>
            </a:prstGeom>
            <a:solidFill>
              <a:srgbClr val="F3F8FE"/>
            </a:solidFill>
            <a:ln w="9525">
              <a:solidFill>
                <a:srgbClr val="C9DDF5"/>
              </a:solidFill>
            </a:ln>
          </p:spPr>
        </p:sp>
        <p:sp>
          <p:nvSpPr>
            <p:cNvPr id="24" name="TextBox 24"/>
            <p:cNvSpPr txBox="1"/>
            <p:nvPr/>
          </p:nvSpPr>
          <p:spPr>
            <a:xfrm>
              <a:off x="1562672" y="25793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用户人群</a:t>
              </a:r>
            </a:p>
          </p:txBody>
        </p:sp>
        <p:sp>
          <p:nvSpPr>
            <p:cNvPr id="25" name="TextBox 25"/>
            <p:cNvSpPr txBox="1"/>
            <p:nvPr/>
          </p:nvSpPr>
          <p:spPr>
            <a:xfrm>
              <a:off x="1735019" y="2874645"/>
              <a:ext cx="14946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a:t>
              </a:r>
            </a:p>
          </p:txBody>
        </p:sp>
      </p:grpSp>
      <p:grpSp>
        <p:nvGrpSpPr>
          <p:cNvPr id="40" name="stage-experience"/>
          <p:cNvGrpSpPr/>
          <p:nvPr/>
        </p:nvGrpSpPr>
        <p:grpSpPr>
          <a:xfrm>
            <a:off x="3143250" y="952500"/>
            <a:ext cx="1619250" cy="2190750"/>
            <a:chOff x="3143250" y="952500"/>
            <a:chExt cx="1619250" cy="2190750"/>
          </a:xfrm>
        </p:grpSpPr>
        <p:sp>
          <p:nvSpPr>
            <p:cNvPr id="27" name="Rectangle 27"/>
            <p:cNvSpPr/>
            <p:nvPr/>
          </p:nvSpPr>
          <p:spPr>
            <a:xfrm>
              <a:off x="3143250" y="952500"/>
              <a:ext cx="1619250" cy="419100"/>
            </a:xfrm>
            <a:prstGeom prst="roundRect">
              <a:avLst>
                <a:gd name="adj" fmla="val 13636"/>
              </a:avLst>
            </a:prstGeom>
            <a:gradFill>
              <a:gsLst>
                <a:gs pos="0">
                  <a:srgbClr val="FF5B3A"/>
                </a:gs>
                <a:gs pos="100000">
                  <a:srgbClr val="E94B2B"/>
                </a:gs>
              </a:gsLst>
              <a:lin ang="5400000" scaled="1"/>
            </a:gradFill>
            <a:ln>
              <a:noFill/>
            </a:ln>
          </p:spPr>
        </p:sp>
        <p:sp>
          <p:nvSpPr>
            <p:cNvPr id="28" name="Rectangle 28"/>
            <p:cNvSpPr/>
            <p:nvPr/>
          </p:nvSpPr>
          <p:spPr>
            <a:xfrm>
              <a:off x="3143250" y="952500"/>
              <a:ext cx="76200" cy="419100"/>
            </a:xfrm>
            <a:prstGeom prst="rect">
              <a:avLst/>
            </a:prstGeom>
            <a:solidFill>
              <a:srgbClr val="C83B1E"/>
            </a:solidFill>
            <a:ln>
              <a:noFill/>
            </a:ln>
          </p:spPr>
        </p:sp>
        <p:sp>
          <p:nvSpPr>
            <p:cNvPr id="29" name="Rectangle 29"/>
            <p:cNvSpPr/>
            <p:nvPr/>
          </p:nvSpPr>
          <p:spPr>
            <a:xfrm>
              <a:off x="4686300" y="952500"/>
              <a:ext cx="76200" cy="419100"/>
            </a:xfrm>
            <a:prstGeom prst="rect">
              <a:avLst/>
            </a:prstGeom>
            <a:solidFill>
              <a:srgbClr val="C83B1E"/>
            </a:solidFill>
            <a:ln>
              <a:noFill/>
            </a:ln>
          </p:spPr>
        </p:sp>
        <p:sp>
          <p:nvSpPr>
            <p:cNvPr id="30" name="TextBox 30"/>
            <p:cNvSpPr txBox="1"/>
            <p:nvPr/>
          </p:nvSpPr>
          <p:spPr>
            <a:xfrm>
              <a:off x="3462147" y="109918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产品体验分析</a:t>
              </a:r>
            </a:p>
          </p:txBody>
        </p:sp>
        <p:sp>
          <p:nvSpPr>
            <p:cNvPr id="31" name="Line 31"/>
            <p:cNvSpPr/>
            <p:nvPr/>
          </p:nvSpPr>
          <p:spPr>
            <a:xfrm>
              <a:off x="3952875" y="1447800"/>
              <a:ext cx="1" cy="209550"/>
            </a:xfrm>
            <a:prstGeom prst="line">
              <a:avLst/>
            </a:prstGeom>
            <a:noFill/>
            <a:ln w="28575">
              <a:solidFill>
                <a:srgbClr val="F5927E"/>
              </a:solidFill>
              <a:tailEnd type="triangle" w="lg" len="lg"/>
            </a:ln>
          </p:spPr>
        </p:sp>
        <p:sp>
          <p:nvSpPr>
            <p:cNvPr id="32" name="Rectangle 32"/>
            <p:cNvSpPr/>
            <p:nvPr/>
          </p:nvSpPr>
          <p:spPr>
            <a:xfrm>
              <a:off x="3143250" y="1771650"/>
              <a:ext cx="1619250" cy="1371600"/>
            </a:xfrm>
            <a:prstGeom prst="roundRect">
              <a:avLst>
                <a:gd name="adj" fmla="val 6944"/>
              </a:avLst>
            </a:prstGeom>
            <a:solidFill>
              <a:srgbClr val="FFFFFF"/>
            </a:solidFill>
            <a:ln w="11430">
              <a:solidFill>
                <a:srgbClr val="C9DDF5"/>
              </a:solidFill>
            </a:ln>
          </p:spPr>
        </p:sp>
        <p:sp>
          <p:nvSpPr>
            <p:cNvPr id="33" name="Rectangle 33"/>
            <p:cNvSpPr/>
            <p:nvPr/>
          </p:nvSpPr>
          <p:spPr>
            <a:xfrm>
              <a:off x="3333750" y="1905000"/>
              <a:ext cx="1238250" cy="228600"/>
            </a:xfrm>
            <a:prstGeom prst="roundRect">
              <a:avLst>
                <a:gd name="adj" fmla="val 50000"/>
              </a:avLst>
            </a:prstGeom>
            <a:solidFill>
              <a:srgbClr val="F3F8FE"/>
            </a:solidFill>
            <a:ln w="9525">
              <a:solidFill>
                <a:srgbClr val="C9DDF5"/>
              </a:solidFill>
            </a:ln>
          </p:spPr>
        </p:sp>
        <p:sp>
          <p:nvSpPr>
            <p:cNvPr id="34" name="TextBox 34"/>
            <p:cNvSpPr txBox="1"/>
            <p:nvPr/>
          </p:nvSpPr>
          <p:spPr>
            <a:xfrm>
              <a:off x="3705796" y="19697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用户访谈</a:t>
              </a:r>
            </a:p>
          </p:txBody>
        </p:sp>
        <p:sp>
          <p:nvSpPr>
            <p:cNvPr id="35" name="Rectangle 35"/>
            <p:cNvSpPr/>
            <p:nvPr/>
          </p:nvSpPr>
          <p:spPr>
            <a:xfrm>
              <a:off x="3333750" y="2209800"/>
              <a:ext cx="1238250" cy="228600"/>
            </a:xfrm>
            <a:prstGeom prst="roundRect">
              <a:avLst>
                <a:gd name="adj" fmla="val 50000"/>
              </a:avLst>
            </a:prstGeom>
            <a:solidFill>
              <a:srgbClr val="F3F8FE"/>
            </a:solidFill>
            <a:ln w="9525">
              <a:solidFill>
                <a:srgbClr val="C9DDF5"/>
              </a:solidFill>
            </a:ln>
          </p:spPr>
        </p:sp>
        <p:sp>
          <p:nvSpPr>
            <p:cNvPr id="36" name="TextBox 36"/>
            <p:cNvSpPr txBox="1"/>
            <p:nvPr/>
          </p:nvSpPr>
          <p:spPr>
            <a:xfrm>
              <a:off x="3705796" y="22745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竞品分析</a:t>
              </a:r>
            </a:p>
          </p:txBody>
        </p:sp>
        <p:sp>
          <p:nvSpPr>
            <p:cNvPr id="37" name="Rectangle 37"/>
            <p:cNvSpPr/>
            <p:nvPr/>
          </p:nvSpPr>
          <p:spPr>
            <a:xfrm>
              <a:off x="3333750" y="2514600"/>
              <a:ext cx="1238250" cy="228600"/>
            </a:xfrm>
            <a:prstGeom prst="roundRect">
              <a:avLst>
                <a:gd name="adj" fmla="val 50000"/>
              </a:avLst>
            </a:prstGeom>
            <a:solidFill>
              <a:srgbClr val="F3F8FE"/>
            </a:solidFill>
            <a:ln w="9525">
              <a:solidFill>
                <a:srgbClr val="C9DDF5"/>
              </a:solidFill>
            </a:ln>
          </p:spPr>
        </p:sp>
        <p:sp>
          <p:nvSpPr>
            <p:cNvPr id="38" name="TextBox 38"/>
            <p:cNvSpPr txBox="1"/>
            <p:nvPr/>
          </p:nvSpPr>
          <p:spPr>
            <a:xfrm>
              <a:off x="3705796" y="25793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需求痛点</a:t>
              </a:r>
            </a:p>
          </p:txBody>
        </p:sp>
        <p:sp>
          <p:nvSpPr>
            <p:cNvPr id="39" name="TextBox 39"/>
            <p:cNvSpPr txBox="1"/>
            <p:nvPr/>
          </p:nvSpPr>
          <p:spPr>
            <a:xfrm>
              <a:off x="3878144" y="2874645"/>
              <a:ext cx="14946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a:t>
              </a:r>
            </a:p>
          </p:txBody>
        </p:sp>
      </p:grpSp>
      <p:grpSp>
        <p:nvGrpSpPr>
          <p:cNvPr id="54" name="stage-solution"/>
          <p:cNvGrpSpPr/>
          <p:nvPr/>
        </p:nvGrpSpPr>
        <p:grpSpPr>
          <a:xfrm>
            <a:off x="5286375" y="952500"/>
            <a:ext cx="1619250" cy="2190750"/>
            <a:chOff x="5286375" y="952500"/>
            <a:chExt cx="1619250" cy="2190750"/>
          </a:xfrm>
        </p:grpSpPr>
        <p:sp>
          <p:nvSpPr>
            <p:cNvPr id="41" name="Rectangle 41"/>
            <p:cNvSpPr/>
            <p:nvPr/>
          </p:nvSpPr>
          <p:spPr>
            <a:xfrm>
              <a:off x="5286375" y="952500"/>
              <a:ext cx="1619250" cy="419100"/>
            </a:xfrm>
            <a:prstGeom prst="roundRect">
              <a:avLst>
                <a:gd name="adj" fmla="val 13636"/>
              </a:avLst>
            </a:prstGeom>
            <a:gradFill>
              <a:gsLst>
                <a:gs pos="0">
                  <a:srgbClr val="FF5B3A"/>
                </a:gs>
                <a:gs pos="100000">
                  <a:srgbClr val="E94B2B"/>
                </a:gs>
              </a:gsLst>
              <a:lin ang="5400000" scaled="1"/>
            </a:gradFill>
            <a:ln>
              <a:noFill/>
            </a:ln>
          </p:spPr>
        </p:sp>
        <p:sp>
          <p:nvSpPr>
            <p:cNvPr id="42" name="Rectangle 42"/>
            <p:cNvSpPr/>
            <p:nvPr/>
          </p:nvSpPr>
          <p:spPr>
            <a:xfrm>
              <a:off x="5286375" y="952500"/>
              <a:ext cx="76200" cy="419100"/>
            </a:xfrm>
            <a:prstGeom prst="rect">
              <a:avLst/>
            </a:prstGeom>
            <a:solidFill>
              <a:srgbClr val="C83B1E"/>
            </a:solidFill>
            <a:ln>
              <a:noFill/>
            </a:ln>
          </p:spPr>
        </p:sp>
        <p:sp>
          <p:nvSpPr>
            <p:cNvPr id="43" name="Rectangle 43"/>
            <p:cNvSpPr/>
            <p:nvPr/>
          </p:nvSpPr>
          <p:spPr>
            <a:xfrm>
              <a:off x="6829425" y="952500"/>
              <a:ext cx="76200" cy="419100"/>
            </a:xfrm>
            <a:prstGeom prst="rect">
              <a:avLst/>
            </a:prstGeom>
            <a:solidFill>
              <a:srgbClr val="C83B1E"/>
            </a:solidFill>
            <a:ln>
              <a:noFill/>
            </a:ln>
          </p:spPr>
        </p:sp>
        <p:sp>
          <p:nvSpPr>
            <p:cNvPr id="44" name="TextBox 44"/>
            <p:cNvSpPr txBox="1"/>
            <p:nvPr/>
          </p:nvSpPr>
          <p:spPr>
            <a:xfrm>
              <a:off x="5605272" y="109918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确定设计方案</a:t>
              </a:r>
            </a:p>
          </p:txBody>
        </p:sp>
        <p:sp>
          <p:nvSpPr>
            <p:cNvPr id="45" name="Line 45"/>
            <p:cNvSpPr/>
            <p:nvPr/>
          </p:nvSpPr>
          <p:spPr>
            <a:xfrm>
              <a:off x="6096000" y="1447800"/>
              <a:ext cx="1" cy="209550"/>
            </a:xfrm>
            <a:prstGeom prst="line">
              <a:avLst/>
            </a:prstGeom>
            <a:noFill/>
            <a:ln w="28575">
              <a:solidFill>
                <a:srgbClr val="F5927E"/>
              </a:solidFill>
              <a:tailEnd type="triangle" w="lg" len="lg"/>
            </a:ln>
          </p:spPr>
        </p:sp>
        <p:sp>
          <p:nvSpPr>
            <p:cNvPr id="46" name="Rectangle 46"/>
            <p:cNvSpPr/>
            <p:nvPr/>
          </p:nvSpPr>
          <p:spPr>
            <a:xfrm>
              <a:off x="5286375" y="1771650"/>
              <a:ext cx="1619250" cy="1371600"/>
            </a:xfrm>
            <a:prstGeom prst="roundRect">
              <a:avLst>
                <a:gd name="adj" fmla="val 6944"/>
              </a:avLst>
            </a:prstGeom>
            <a:solidFill>
              <a:srgbClr val="FFFFFF"/>
            </a:solidFill>
            <a:ln w="11430">
              <a:solidFill>
                <a:srgbClr val="C9DDF5"/>
              </a:solidFill>
            </a:ln>
          </p:spPr>
        </p:sp>
        <p:sp>
          <p:nvSpPr>
            <p:cNvPr id="47" name="Rectangle 47"/>
            <p:cNvSpPr/>
            <p:nvPr/>
          </p:nvSpPr>
          <p:spPr>
            <a:xfrm>
              <a:off x="5476875" y="1905000"/>
              <a:ext cx="1238250" cy="228600"/>
            </a:xfrm>
            <a:prstGeom prst="roundRect">
              <a:avLst>
                <a:gd name="adj" fmla="val 50000"/>
              </a:avLst>
            </a:prstGeom>
            <a:solidFill>
              <a:srgbClr val="F3F8FE"/>
            </a:solidFill>
            <a:ln w="9525">
              <a:solidFill>
                <a:srgbClr val="C9DDF5"/>
              </a:solidFill>
            </a:ln>
          </p:spPr>
        </p:sp>
        <p:sp>
          <p:nvSpPr>
            <p:cNvPr id="48" name="TextBox 48"/>
            <p:cNvSpPr txBox="1"/>
            <p:nvPr/>
          </p:nvSpPr>
          <p:spPr>
            <a:xfrm>
              <a:off x="5727764" y="1969770"/>
              <a:ext cx="73647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行业设计方向</a:t>
              </a:r>
            </a:p>
          </p:txBody>
        </p:sp>
        <p:sp>
          <p:nvSpPr>
            <p:cNvPr id="49" name="Rectangle 49"/>
            <p:cNvSpPr/>
            <p:nvPr/>
          </p:nvSpPr>
          <p:spPr>
            <a:xfrm>
              <a:off x="5476875" y="2209800"/>
              <a:ext cx="1238250" cy="228600"/>
            </a:xfrm>
            <a:prstGeom prst="roundRect">
              <a:avLst>
                <a:gd name="adj" fmla="val 50000"/>
              </a:avLst>
            </a:prstGeom>
            <a:solidFill>
              <a:srgbClr val="F3F8FE"/>
            </a:solidFill>
            <a:ln w="9525">
              <a:solidFill>
                <a:srgbClr val="C9DDF5"/>
              </a:solidFill>
            </a:ln>
          </p:spPr>
        </p:sp>
        <p:sp>
          <p:nvSpPr>
            <p:cNvPr id="50" name="TextBox 50"/>
            <p:cNvSpPr txBox="1"/>
            <p:nvPr/>
          </p:nvSpPr>
          <p:spPr>
            <a:xfrm>
              <a:off x="5667184" y="2274570"/>
              <a:ext cx="857631"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挖掘设计发力点</a:t>
              </a:r>
            </a:p>
          </p:txBody>
        </p:sp>
        <p:sp>
          <p:nvSpPr>
            <p:cNvPr id="51" name="Rectangle 51"/>
            <p:cNvSpPr/>
            <p:nvPr/>
          </p:nvSpPr>
          <p:spPr>
            <a:xfrm>
              <a:off x="5476875" y="2514600"/>
              <a:ext cx="1238250" cy="228600"/>
            </a:xfrm>
            <a:prstGeom prst="roundRect">
              <a:avLst>
                <a:gd name="adj" fmla="val 50000"/>
              </a:avLst>
            </a:prstGeom>
            <a:solidFill>
              <a:srgbClr val="F3F8FE"/>
            </a:solidFill>
            <a:ln w="9525">
              <a:solidFill>
                <a:srgbClr val="C9DDF5"/>
              </a:solidFill>
            </a:ln>
          </p:spPr>
        </p:sp>
        <p:sp>
          <p:nvSpPr>
            <p:cNvPr id="52" name="TextBox 52"/>
            <p:cNvSpPr txBox="1"/>
            <p:nvPr/>
          </p:nvSpPr>
          <p:spPr>
            <a:xfrm>
              <a:off x="5727764" y="2579370"/>
              <a:ext cx="736473"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数据场景分析</a:t>
              </a:r>
            </a:p>
          </p:txBody>
        </p:sp>
        <p:sp>
          <p:nvSpPr>
            <p:cNvPr id="53" name="TextBox 53"/>
            <p:cNvSpPr txBox="1"/>
            <p:nvPr/>
          </p:nvSpPr>
          <p:spPr>
            <a:xfrm>
              <a:off x="6021269" y="2874645"/>
              <a:ext cx="14946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a:t>
              </a:r>
            </a:p>
          </p:txBody>
        </p:sp>
      </p:grpSp>
      <p:grpSp>
        <p:nvGrpSpPr>
          <p:cNvPr id="68" name="stage-output"/>
          <p:cNvGrpSpPr/>
          <p:nvPr/>
        </p:nvGrpSpPr>
        <p:grpSpPr>
          <a:xfrm>
            <a:off x="7429500" y="952500"/>
            <a:ext cx="1619250" cy="2190750"/>
            <a:chOff x="7429500" y="952500"/>
            <a:chExt cx="1619250" cy="2190750"/>
          </a:xfrm>
        </p:grpSpPr>
        <p:sp>
          <p:nvSpPr>
            <p:cNvPr id="55" name="Rectangle 55"/>
            <p:cNvSpPr/>
            <p:nvPr/>
          </p:nvSpPr>
          <p:spPr>
            <a:xfrm>
              <a:off x="7429500" y="952500"/>
              <a:ext cx="1619250" cy="419100"/>
            </a:xfrm>
            <a:prstGeom prst="roundRect">
              <a:avLst>
                <a:gd name="adj" fmla="val 13636"/>
              </a:avLst>
            </a:prstGeom>
            <a:gradFill>
              <a:gsLst>
                <a:gs pos="0">
                  <a:srgbClr val="FF5B3A"/>
                </a:gs>
                <a:gs pos="100000">
                  <a:srgbClr val="E94B2B"/>
                </a:gs>
              </a:gsLst>
              <a:lin ang="5400000" scaled="1"/>
            </a:gradFill>
            <a:ln>
              <a:noFill/>
            </a:ln>
          </p:spPr>
        </p:sp>
        <p:sp>
          <p:nvSpPr>
            <p:cNvPr id="56" name="Rectangle 56"/>
            <p:cNvSpPr/>
            <p:nvPr/>
          </p:nvSpPr>
          <p:spPr>
            <a:xfrm>
              <a:off x="7429500" y="952500"/>
              <a:ext cx="76200" cy="419100"/>
            </a:xfrm>
            <a:prstGeom prst="rect">
              <a:avLst/>
            </a:prstGeom>
            <a:solidFill>
              <a:srgbClr val="C83B1E"/>
            </a:solidFill>
            <a:ln>
              <a:noFill/>
            </a:ln>
          </p:spPr>
        </p:sp>
        <p:sp>
          <p:nvSpPr>
            <p:cNvPr id="57" name="Rectangle 57"/>
            <p:cNvSpPr/>
            <p:nvPr/>
          </p:nvSpPr>
          <p:spPr>
            <a:xfrm>
              <a:off x="8972550" y="952500"/>
              <a:ext cx="76200" cy="419100"/>
            </a:xfrm>
            <a:prstGeom prst="rect">
              <a:avLst/>
            </a:prstGeom>
            <a:solidFill>
              <a:srgbClr val="C83B1E"/>
            </a:solidFill>
            <a:ln>
              <a:noFill/>
            </a:ln>
          </p:spPr>
        </p:sp>
        <p:sp>
          <p:nvSpPr>
            <p:cNvPr id="58" name="TextBox 58"/>
            <p:cNvSpPr txBox="1"/>
            <p:nvPr/>
          </p:nvSpPr>
          <p:spPr>
            <a:xfrm>
              <a:off x="7909941" y="10991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设计产出</a:t>
              </a:r>
            </a:p>
          </p:txBody>
        </p:sp>
        <p:sp>
          <p:nvSpPr>
            <p:cNvPr id="59" name="Line 59"/>
            <p:cNvSpPr/>
            <p:nvPr/>
          </p:nvSpPr>
          <p:spPr>
            <a:xfrm>
              <a:off x="8239125" y="1447800"/>
              <a:ext cx="1" cy="209550"/>
            </a:xfrm>
            <a:prstGeom prst="line">
              <a:avLst/>
            </a:prstGeom>
            <a:noFill/>
            <a:ln w="28575">
              <a:solidFill>
                <a:srgbClr val="F5927E"/>
              </a:solidFill>
              <a:tailEnd type="triangle" w="lg" len="lg"/>
            </a:ln>
          </p:spPr>
        </p:sp>
        <p:sp>
          <p:nvSpPr>
            <p:cNvPr id="60" name="Rectangle 60"/>
            <p:cNvSpPr/>
            <p:nvPr/>
          </p:nvSpPr>
          <p:spPr>
            <a:xfrm>
              <a:off x="7429500" y="1771650"/>
              <a:ext cx="1619250" cy="1371600"/>
            </a:xfrm>
            <a:prstGeom prst="roundRect">
              <a:avLst>
                <a:gd name="adj" fmla="val 6944"/>
              </a:avLst>
            </a:prstGeom>
            <a:solidFill>
              <a:srgbClr val="FFFFFF"/>
            </a:solidFill>
            <a:ln w="11430">
              <a:solidFill>
                <a:srgbClr val="C9DDF5"/>
              </a:solidFill>
            </a:ln>
          </p:spPr>
        </p:sp>
        <p:sp>
          <p:nvSpPr>
            <p:cNvPr id="61" name="Rectangle 61"/>
            <p:cNvSpPr/>
            <p:nvPr/>
          </p:nvSpPr>
          <p:spPr>
            <a:xfrm>
              <a:off x="7620000" y="1905000"/>
              <a:ext cx="1238250" cy="228600"/>
            </a:xfrm>
            <a:prstGeom prst="roundRect">
              <a:avLst>
                <a:gd name="adj" fmla="val 50000"/>
              </a:avLst>
            </a:prstGeom>
            <a:solidFill>
              <a:srgbClr val="F3F8FE"/>
            </a:solidFill>
            <a:ln w="9525">
              <a:solidFill>
                <a:srgbClr val="C9DDF5"/>
              </a:solidFill>
            </a:ln>
          </p:spPr>
        </p:sp>
        <p:sp>
          <p:nvSpPr>
            <p:cNvPr id="62" name="TextBox 62"/>
            <p:cNvSpPr txBox="1"/>
            <p:nvPr/>
          </p:nvSpPr>
          <p:spPr>
            <a:xfrm>
              <a:off x="7992046" y="19697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用户探访</a:t>
              </a:r>
            </a:p>
          </p:txBody>
        </p:sp>
        <p:sp>
          <p:nvSpPr>
            <p:cNvPr id="63" name="Rectangle 63"/>
            <p:cNvSpPr/>
            <p:nvPr/>
          </p:nvSpPr>
          <p:spPr>
            <a:xfrm>
              <a:off x="7620000" y="2209800"/>
              <a:ext cx="1238250" cy="228600"/>
            </a:xfrm>
            <a:prstGeom prst="roundRect">
              <a:avLst>
                <a:gd name="adj" fmla="val 50000"/>
              </a:avLst>
            </a:prstGeom>
            <a:solidFill>
              <a:srgbClr val="F3F8FE"/>
            </a:solidFill>
            <a:ln w="9525">
              <a:solidFill>
                <a:srgbClr val="C9DDF5"/>
              </a:solidFill>
            </a:ln>
          </p:spPr>
        </p:sp>
        <p:sp>
          <p:nvSpPr>
            <p:cNvPr id="64" name="TextBox 64"/>
            <p:cNvSpPr txBox="1"/>
            <p:nvPr/>
          </p:nvSpPr>
          <p:spPr>
            <a:xfrm>
              <a:off x="7992046" y="22745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竞品分析</a:t>
              </a:r>
            </a:p>
          </p:txBody>
        </p:sp>
        <p:sp>
          <p:nvSpPr>
            <p:cNvPr id="65" name="Rectangle 65"/>
            <p:cNvSpPr/>
            <p:nvPr/>
          </p:nvSpPr>
          <p:spPr>
            <a:xfrm>
              <a:off x="7620000" y="2514600"/>
              <a:ext cx="1238250" cy="228600"/>
            </a:xfrm>
            <a:prstGeom prst="roundRect">
              <a:avLst>
                <a:gd name="adj" fmla="val 50000"/>
              </a:avLst>
            </a:prstGeom>
            <a:solidFill>
              <a:srgbClr val="F3F8FE"/>
            </a:solidFill>
            <a:ln w="9525">
              <a:solidFill>
                <a:srgbClr val="C9DDF5"/>
              </a:solidFill>
            </a:ln>
          </p:spPr>
        </p:sp>
        <p:sp>
          <p:nvSpPr>
            <p:cNvPr id="66" name="TextBox 66"/>
            <p:cNvSpPr txBox="1"/>
            <p:nvPr/>
          </p:nvSpPr>
          <p:spPr>
            <a:xfrm>
              <a:off x="7992046" y="25793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需求痛点</a:t>
              </a:r>
            </a:p>
          </p:txBody>
        </p:sp>
        <p:sp>
          <p:nvSpPr>
            <p:cNvPr id="67" name="TextBox 67"/>
            <p:cNvSpPr txBox="1"/>
            <p:nvPr/>
          </p:nvSpPr>
          <p:spPr>
            <a:xfrm>
              <a:off x="8164394" y="2874645"/>
              <a:ext cx="14946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a:t>
              </a:r>
            </a:p>
          </p:txBody>
        </p:sp>
      </p:grpSp>
      <p:grpSp>
        <p:nvGrpSpPr>
          <p:cNvPr id="82" name="stage-iterate"/>
          <p:cNvGrpSpPr/>
          <p:nvPr/>
        </p:nvGrpSpPr>
        <p:grpSpPr>
          <a:xfrm>
            <a:off x="9572625" y="952500"/>
            <a:ext cx="1619250" cy="2190750"/>
            <a:chOff x="9572625" y="952500"/>
            <a:chExt cx="1619250" cy="2190750"/>
          </a:xfrm>
        </p:grpSpPr>
        <p:sp>
          <p:nvSpPr>
            <p:cNvPr id="69" name="Rectangle 69"/>
            <p:cNvSpPr/>
            <p:nvPr/>
          </p:nvSpPr>
          <p:spPr>
            <a:xfrm>
              <a:off x="9572625" y="952500"/>
              <a:ext cx="1619250" cy="419100"/>
            </a:xfrm>
            <a:prstGeom prst="roundRect">
              <a:avLst>
                <a:gd name="adj" fmla="val 13636"/>
              </a:avLst>
            </a:prstGeom>
            <a:gradFill>
              <a:gsLst>
                <a:gs pos="0">
                  <a:srgbClr val="FF5B3A"/>
                </a:gs>
                <a:gs pos="100000">
                  <a:srgbClr val="E94B2B"/>
                </a:gs>
              </a:gsLst>
              <a:lin ang="5400000" scaled="1"/>
            </a:gradFill>
            <a:ln>
              <a:noFill/>
            </a:ln>
          </p:spPr>
        </p:sp>
        <p:sp>
          <p:nvSpPr>
            <p:cNvPr id="70" name="Rectangle 70"/>
            <p:cNvSpPr/>
            <p:nvPr/>
          </p:nvSpPr>
          <p:spPr>
            <a:xfrm>
              <a:off x="9572625" y="952500"/>
              <a:ext cx="76200" cy="419100"/>
            </a:xfrm>
            <a:prstGeom prst="rect">
              <a:avLst/>
            </a:prstGeom>
            <a:solidFill>
              <a:srgbClr val="C83B1E"/>
            </a:solidFill>
            <a:ln>
              <a:noFill/>
            </a:ln>
          </p:spPr>
        </p:sp>
        <p:sp>
          <p:nvSpPr>
            <p:cNvPr id="71" name="Rectangle 71"/>
            <p:cNvSpPr/>
            <p:nvPr/>
          </p:nvSpPr>
          <p:spPr>
            <a:xfrm>
              <a:off x="11115675" y="952500"/>
              <a:ext cx="76200" cy="419100"/>
            </a:xfrm>
            <a:prstGeom prst="rect">
              <a:avLst/>
            </a:prstGeom>
            <a:solidFill>
              <a:srgbClr val="C83B1E"/>
            </a:solidFill>
            <a:ln>
              <a:noFill/>
            </a:ln>
          </p:spPr>
        </p:sp>
        <p:sp>
          <p:nvSpPr>
            <p:cNvPr id="72" name="TextBox 72"/>
            <p:cNvSpPr txBox="1"/>
            <p:nvPr/>
          </p:nvSpPr>
          <p:spPr>
            <a:xfrm>
              <a:off x="10053066" y="109918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验证迭代</a:t>
              </a:r>
            </a:p>
          </p:txBody>
        </p:sp>
        <p:sp>
          <p:nvSpPr>
            <p:cNvPr id="73" name="Line 73"/>
            <p:cNvSpPr/>
            <p:nvPr/>
          </p:nvSpPr>
          <p:spPr>
            <a:xfrm>
              <a:off x="10382250" y="1447800"/>
              <a:ext cx="1" cy="209550"/>
            </a:xfrm>
            <a:prstGeom prst="line">
              <a:avLst/>
            </a:prstGeom>
            <a:noFill/>
            <a:ln w="28575">
              <a:solidFill>
                <a:srgbClr val="F5927E"/>
              </a:solidFill>
              <a:tailEnd type="triangle" w="lg" len="lg"/>
            </a:ln>
          </p:spPr>
        </p:sp>
        <p:sp>
          <p:nvSpPr>
            <p:cNvPr id="74" name="Rectangle 74"/>
            <p:cNvSpPr/>
            <p:nvPr/>
          </p:nvSpPr>
          <p:spPr>
            <a:xfrm>
              <a:off x="9572625" y="1771650"/>
              <a:ext cx="1619250" cy="1371600"/>
            </a:xfrm>
            <a:prstGeom prst="roundRect">
              <a:avLst>
                <a:gd name="adj" fmla="val 6944"/>
              </a:avLst>
            </a:prstGeom>
            <a:solidFill>
              <a:srgbClr val="FFFFFF"/>
            </a:solidFill>
            <a:ln w="11430">
              <a:solidFill>
                <a:srgbClr val="C9DDF5"/>
              </a:solidFill>
            </a:ln>
          </p:spPr>
        </p:sp>
        <p:sp>
          <p:nvSpPr>
            <p:cNvPr id="75" name="Rectangle 75"/>
            <p:cNvSpPr/>
            <p:nvPr/>
          </p:nvSpPr>
          <p:spPr>
            <a:xfrm>
              <a:off x="9763125" y="1905000"/>
              <a:ext cx="1238250" cy="228600"/>
            </a:xfrm>
            <a:prstGeom prst="roundRect">
              <a:avLst>
                <a:gd name="adj" fmla="val 50000"/>
              </a:avLst>
            </a:prstGeom>
            <a:solidFill>
              <a:srgbClr val="F3F8FE"/>
            </a:solidFill>
            <a:ln w="9525">
              <a:solidFill>
                <a:srgbClr val="C9DDF5"/>
              </a:solidFill>
            </a:ln>
          </p:spPr>
        </p:sp>
        <p:sp>
          <p:nvSpPr>
            <p:cNvPr id="76" name="TextBox 76"/>
            <p:cNvSpPr txBox="1"/>
            <p:nvPr/>
          </p:nvSpPr>
          <p:spPr>
            <a:xfrm>
              <a:off x="10135172" y="19697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数据跟踪</a:t>
              </a:r>
            </a:p>
          </p:txBody>
        </p:sp>
        <p:sp>
          <p:nvSpPr>
            <p:cNvPr id="77" name="Rectangle 77"/>
            <p:cNvSpPr/>
            <p:nvPr/>
          </p:nvSpPr>
          <p:spPr>
            <a:xfrm>
              <a:off x="9763125" y="2209800"/>
              <a:ext cx="1238250" cy="228600"/>
            </a:xfrm>
            <a:prstGeom prst="roundRect">
              <a:avLst>
                <a:gd name="adj" fmla="val 50000"/>
              </a:avLst>
            </a:prstGeom>
            <a:solidFill>
              <a:srgbClr val="F3F8FE"/>
            </a:solidFill>
            <a:ln w="9525">
              <a:solidFill>
                <a:srgbClr val="C9DDF5"/>
              </a:solidFill>
            </a:ln>
          </p:spPr>
        </p:sp>
        <p:sp>
          <p:nvSpPr>
            <p:cNvPr id="78" name="TextBox 78"/>
            <p:cNvSpPr txBox="1"/>
            <p:nvPr/>
          </p:nvSpPr>
          <p:spPr>
            <a:xfrm>
              <a:off x="10135172" y="22745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用户反馈</a:t>
              </a:r>
            </a:p>
          </p:txBody>
        </p:sp>
        <p:sp>
          <p:nvSpPr>
            <p:cNvPr id="79" name="Rectangle 79"/>
            <p:cNvSpPr/>
            <p:nvPr/>
          </p:nvSpPr>
          <p:spPr>
            <a:xfrm>
              <a:off x="9763125" y="2514600"/>
              <a:ext cx="1238250" cy="228600"/>
            </a:xfrm>
            <a:prstGeom prst="roundRect">
              <a:avLst>
                <a:gd name="adj" fmla="val 50000"/>
              </a:avLst>
            </a:prstGeom>
            <a:solidFill>
              <a:srgbClr val="F3F8FE"/>
            </a:solidFill>
            <a:ln w="9525">
              <a:solidFill>
                <a:srgbClr val="C9DDF5"/>
              </a:solidFill>
            </a:ln>
          </p:spPr>
        </p:sp>
        <p:sp>
          <p:nvSpPr>
            <p:cNvPr id="80" name="TextBox 80"/>
            <p:cNvSpPr txBox="1"/>
            <p:nvPr/>
          </p:nvSpPr>
          <p:spPr>
            <a:xfrm>
              <a:off x="10135172" y="2579370"/>
              <a:ext cx="494157" cy="176212"/>
            </a:xfrm>
            <a:prstGeom prst="rect">
              <a:avLst/>
            </a:prstGeom>
            <a:noFill/>
            <a:ln>
              <a:noFill/>
            </a:ln>
          </p:spPr>
          <p:txBody>
            <a:bodyPr wrap="none" lIns="0" tIns="0" rIns="0" bIns="0" anchor="t" anchorCtr="0">
              <a:spAutoFit/>
            </a:bodyPr>
            <a:lstStyle/>
            <a:p>
              <a:pPr algn="ctr"/>
              <a:r>
                <a:rPr lang="zh-CN" sz="900" dirty="0">
                  <a:solidFill>
                    <a:srgbClr val="333333"/>
                  </a:solidFill>
                  <a:latin typeface="+mn-lt"/>
                  <a:ea typeface="+mn-ea"/>
                  <a:cs typeface="+mn-cs"/>
                </a:rPr>
                <a:t>反复验证</a:t>
              </a:r>
            </a:p>
          </p:txBody>
        </p:sp>
        <p:sp>
          <p:nvSpPr>
            <p:cNvPr id="81" name="TextBox 81"/>
            <p:cNvSpPr txBox="1"/>
            <p:nvPr/>
          </p:nvSpPr>
          <p:spPr>
            <a:xfrm>
              <a:off x="10307519" y="2874645"/>
              <a:ext cx="14946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a:t>
              </a:r>
            </a:p>
          </p:txBody>
        </p:sp>
      </p:grpSp>
      <p:grpSp>
        <p:nvGrpSpPr>
          <p:cNvPr id="114" name="goals-orbit"/>
          <p:cNvGrpSpPr/>
          <p:nvPr/>
        </p:nvGrpSpPr>
        <p:grpSpPr>
          <a:xfrm>
            <a:off x="571500" y="4476750"/>
            <a:ext cx="11049000" cy="1409700"/>
            <a:chOff x="571500" y="4476750"/>
            <a:chExt cx="11049000" cy="1409700"/>
          </a:xfrm>
        </p:grpSpPr>
        <p:sp>
          <p:nvSpPr>
            <p:cNvPr id="83" name="Ellipse 83"/>
            <p:cNvSpPr/>
            <p:nvPr/>
          </p:nvSpPr>
          <p:spPr>
            <a:xfrm>
              <a:off x="952500" y="4781550"/>
              <a:ext cx="10287000" cy="1104900"/>
            </a:xfrm>
            <a:prstGeom prst="ellipse">
              <a:avLst/>
            </a:prstGeom>
            <a:gradFill>
              <a:gsLst>
                <a:gs pos="0">
                  <a:srgbClr val="F3F8FE"/>
                </a:gs>
                <a:gs pos="100000">
                  <a:srgbClr val="F8D1C9"/>
                </a:gs>
              </a:gsLst>
              <a:lin ang="5400000" scaled="1"/>
            </a:gradFill>
            <a:ln w="14288">
              <a:solidFill>
                <a:srgbClr val="F2AC9E"/>
              </a:solidFill>
            </a:ln>
          </p:spPr>
        </p:sp>
        <p:sp>
          <p:nvSpPr>
            <p:cNvPr id="84" name="Ellipse 84"/>
            <p:cNvSpPr/>
            <p:nvPr/>
          </p:nvSpPr>
          <p:spPr>
            <a:xfrm>
              <a:off x="1333500" y="4895850"/>
              <a:ext cx="9525000" cy="800100"/>
            </a:xfrm>
            <a:prstGeom prst="ellipse">
              <a:avLst/>
            </a:prstGeom>
            <a:solidFill>
              <a:srgbClr val="FFFFFF">
                <a:alpha val="50000"/>
              </a:srgbClr>
            </a:solidFill>
            <a:ln>
              <a:noFill/>
            </a:ln>
          </p:spPr>
        </p:sp>
        <p:sp>
          <p:nvSpPr>
            <p:cNvPr id="85" name="Line 85"/>
            <p:cNvSpPr/>
            <p:nvPr/>
          </p:nvSpPr>
          <p:spPr>
            <a:xfrm>
              <a:off x="571500" y="4476750"/>
              <a:ext cx="11049000" cy="9525"/>
            </a:xfrm>
            <a:custGeom>
              <a:avLst/>
              <a:gdLst/>
              <a:ahLst/>
              <a:cxnLst/>
              <a:rect l="l" t="t" r="r" b="b"/>
              <a:pathLst>
                <a:path w="11049000" h="9525">
                  <a:moveTo>
                    <a:pt x="0" y="0"/>
                  </a:moveTo>
                  <a:lnTo>
                    <a:pt x="11049000" y="0"/>
                  </a:lnTo>
                </a:path>
              </a:pathLst>
            </a:custGeom>
            <a:noFill/>
            <a:ln w="9525">
              <a:solidFill>
                <a:srgbClr val="F2AC9E"/>
              </a:solidFill>
              <a:prstDash val="dash"/>
            </a:ln>
          </p:spPr>
        </p:sp>
        <p:sp>
          <p:nvSpPr>
            <p:cNvPr id="86" name="Ellipse 86"/>
            <p:cNvSpPr/>
            <p:nvPr/>
          </p:nvSpPr>
          <p:spPr>
            <a:xfrm>
              <a:off x="1371600" y="4514850"/>
              <a:ext cx="876300" cy="8763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90" name="Group 90"/>
            <p:cNvGrpSpPr/>
            <p:nvPr/>
          </p:nvGrpSpPr>
          <p:grpSpPr>
            <a:xfrm>
              <a:off x="1709738" y="4681538"/>
              <a:ext cx="200026" cy="200026"/>
              <a:chOff x="1709738" y="4681538"/>
              <a:chExt cx="200026" cy="200026"/>
            </a:xfrm>
          </p:grpSpPr>
          <p:sp>
            <p:nvSpPr>
              <p:cNvPr id="87" name="Freeform 87"/>
              <p:cNvSpPr/>
              <p:nvPr/>
            </p:nvSpPr>
            <p:spPr>
              <a:xfrm>
                <a:off x="1798638" y="477043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FFFFFF"/>
                </a:solidFill>
              </a:ln>
            </p:spPr>
          </p:sp>
          <p:sp>
            <p:nvSpPr>
              <p:cNvPr id="88" name="Freeform 88"/>
              <p:cNvSpPr/>
              <p:nvPr/>
            </p:nvSpPr>
            <p:spPr>
              <a:xfrm>
                <a:off x="1754188" y="4725988"/>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22225">
                <a:solidFill>
                  <a:srgbClr val="FFFFFF"/>
                </a:solidFill>
              </a:ln>
            </p:spPr>
          </p:sp>
          <p:sp>
            <p:nvSpPr>
              <p:cNvPr id="89" name="Freeform 89"/>
              <p:cNvSpPr/>
              <p:nvPr/>
            </p:nvSpPr>
            <p:spPr>
              <a:xfrm>
                <a:off x="1709738" y="46815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FFFFFF"/>
                </a:solidFill>
              </a:ln>
            </p:spPr>
          </p:sp>
        </p:grpSp>
        <p:sp>
          <p:nvSpPr>
            <p:cNvPr id="91" name="TextBox 91"/>
            <p:cNvSpPr txBox="1"/>
            <p:nvPr/>
          </p:nvSpPr>
          <p:spPr>
            <a:xfrm>
              <a:off x="1540942" y="5095399"/>
              <a:ext cx="537616"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业务目标</a:t>
              </a:r>
            </a:p>
          </p:txBody>
        </p:sp>
        <p:sp>
          <p:nvSpPr>
            <p:cNvPr id="92" name="Ellipse 92"/>
            <p:cNvSpPr/>
            <p:nvPr/>
          </p:nvSpPr>
          <p:spPr>
            <a:xfrm>
              <a:off x="3514725" y="4514850"/>
              <a:ext cx="876300" cy="876300"/>
            </a:xfrm>
            <a:prstGeom prst="ellipse">
              <a:avLst/>
            </a:prstGeom>
            <a:gradFill>
              <a:gsLst>
                <a:gs pos="0">
                  <a:srgbClr val="FFA28F"/>
                </a:gs>
                <a:gs pos="60000">
                  <a:srgbClr val="E94B2B"/>
                </a:gs>
                <a:gs pos="100000">
                  <a:srgbClr val="C83B1E"/>
                </a:gs>
              </a:gsLst>
              <a:path path="circle">
                <a:fillToRect l="35000" t="30000" r="65000" b="70000"/>
              </a:path>
            </a:gradFill>
            <a:ln>
              <a:noFill/>
            </a:ln>
          </p:spPr>
        </p:sp>
        <p:sp>
          <p:nvSpPr>
            <p:cNvPr id="93" name="Freeform 93"/>
            <p:cNvSpPr/>
            <p:nvPr/>
          </p:nvSpPr>
          <p:spPr>
            <a:xfrm>
              <a:off x="3852863" y="4681538"/>
              <a:ext cx="200026" cy="200026"/>
            </a:xfrm>
            <a:custGeom>
              <a:avLst/>
              <a:gdLst/>
              <a:ahLst/>
              <a:cxnLst/>
              <a:rect l="l" t="t" r="r" b="b"/>
              <a:pathLst>
                <a:path w="200026" h="200026">
                  <a:moveTo>
                    <a:pt x="11113" y="44450"/>
                  </a:moveTo>
                  <a:lnTo>
                    <a:pt x="44450" y="44450"/>
                  </a:lnTo>
                  <a:cubicBezTo>
                    <a:pt x="50587" y="44450"/>
                    <a:pt x="55563" y="39475"/>
                    <a:pt x="55563" y="33338"/>
                  </a:cubicBezTo>
                  <a:lnTo>
                    <a:pt x="55563" y="22225"/>
                  </a:lnTo>
                  <a:cubicBezTo>
                    <a:pt x="55563" y="9950"/>
                    <a:pt x="65513" y="0"/>
                    <a:pt x="77788" y="0"/>
                  </a:cubicBezTo>
                  <a:cubicBezTo>
                    <a:pt x="90062" y="0"/>
                    <a:pt x="100013" y="9950"/>
                    <a:pt x="100013" y="22225"/>
                  </a:cubicBezTo>
                  <a:lnTo>
                    <a:pt x="100013" y="33338"/>
                  </a:lnTo>
                  <a:cubicBezTo>
                    <a:pt x="100013" y="39475"/>
                    <a:pt x="104988" y="44450"/>
                    <a:pt x="111125" y="44450"/>
                  </a:cubicBezTo>
                  <a:lnTo>
                    <a:pt x="144463" y="44450"/>
                  </a:lnTo>
                  <a:cubicBezTo>
                    <a:pt x="150600" y="44450"/>
                    <a:pt x="155575" y="49425"/>
                    <a:pt x="155575" y="55563"/>
                  </a:cubicBezTo>
                  <a:lnTo>
                    <a:pt x="155575" y="88900"/>
                  </a:lnTo>
                  <a:cubicBezTo>
                    <a:pt x="155575" y="95038"/>
                    <a:pt x="160551" y="100013"/>
                    <a:pt x="166688" y="100013"/>
                  </a:cubicBezTo>
                  <a:lnTo>
                    <a:pt x="177801" y="100013"/>
                  </a:lnTo>
                  <a:cubicBezTo>
                    <a:pt x="190075" y="100013"/>
                    <a:pt x="200026" y="109963"/>
                    <a:pt x="200026" y="122238"/>
                  </a:cubicBezTo>
                  <a:cubicBezTo>
                    <a:pt x="200026" y="134512"/>
                    <a:pt x="190075" y="144463"/>
                    <a:pt x="177801" y="144463"/>
                  </a:cubicBezTo>
                  <a:lnTo>
                    <a:pt x="166688" y="144463"/>
                  </a:lnTo>
                  <a:cubicBezTo>
                    <a:pt x="160551" y="144463"/>
                    <a:pt x="155575" y="149438"/>
                    <a:pt x="155575" y="155575"/>
                  </a:cubicBezTo>
                  <a:lnTo>
                    <a:pt x="155575" y="188913"/>
                  </a:lnTo>
                  <a:cubicBezTo>
                    <a:pt x="155575" y="195050"/>
                    <a:pt x="150600" y="200026"/>
                    <a:pt x="144463" y="200026"/>
                  </a:cubicBezTo>
                  <a:lnTo>
                    <a:pt x="111125" y="200026"/>
                  </a:lnTo>
                  <a:cubicBezTo>
                    <a:pt x="104988" y="200026"/>
                    <a:pt x="100013" y="195050"/>
                    <a:pt x="100013" y="188913"/>
                  </a:cubicBezTo>
                  <a:lnTo>
                    <a:pt x="100013" y="177801"/>
                  </a:lnTo>
                  <a:cubicBezTo>
                    <a:pt x="100013" y="165526"/>
                    <a:pt x="90062" y="155575"/>
                    <a:pt x="77788" y="155575"/>
                  </a:cubicBezTo>
                  <a:cubicBezTo>
                    <a:pt x="65513" y="155575"/>
                    <a:pt x="55563" y="165526"/>
                    <a:pt x="55563" y="177801"/>
                  </a:cubicBezTo>
                  <a:lnTo>
                    <a:pt x="55563" y="188913"/>
                  </a:lnTo>
                  <a:cubicBezTo>
                    <a:pt x="55563" y="195050"/>
                    <a:pt x="50587" y="200026"/>
                    <a:pt x="44450" y="200026"/>
                  </a:cubicBezTo>
                  <a:lnTo>
                    <a:pt x="11113" y="200026"/>
                  </a:lnTo>
                  <a:cubicBezTo>
                    <a:pt x="4975" y="200026"/>
                    <a:pt x="0" y="195050"/>
                    <a:pt x="0" y="188913"/>
                  </a:cubicBezTo>
                  <a:lnTo>
                    <a:pt x="0" y="155575"/>
                  </a:lnTo>
                  <a:cubicBezTo>
                    <a:pt x="0" y="149438"/>
                    <a:pt x="4975" y="144463"/>
                    <a:pt x="11113" y="144463"/>
                  </a:cubicBezTo>
                  <a:lnTo>
                    <a:pt x="22225" y="144463"/>
                  </a:lnTo>
                  <a:cubicBezTo>
                    <a:pt x="34500" y="144463"/>
                    <a:pt x="44450" y="134512"/>
                    <a:pt x="44450" y="122238"/>
                  </a:cubicBezTo>
                  <a:cubicBezTo>
                    <a:pt x="44450" y="109963"/>
                    <a:pt x="34500" y="100013"/>
                    <a:pt x="22225" y="100013"/>
                  </a:cubicBezTo>
                  <a:lnTo>
                    <a:pt x="11113" y="100013"/>
                  </a:lnTo>
                  <a:cubicBezTo>
                    <a:pt x="4975" y="100013"/>
                    <a:pt x="0" y="95038"/>
                    <a:pt x="0" y="88900"/>
                  </a:cubicBezTo>
                  <a:lnTo>
                    <a:pt x="0" y="55563"/>
                  </a:lnTo>
                  <a:cubicBezTo>
                    <a:pt x="0" y="49425"/>
                    <a:pt x="4975" y="44450"/>
                    <a:pt x="11113" y="44450"/>
                  </a:cubicBezTo>
                </a:path>
              </a:pathLst>
            </a:custGeom>
            <a:noFill/>
            <a:ln w="22225">
              <a:solidFill>
                <a:srgbClr val="FFFFFF"/>
              </a:solidFill>
            </a:ln>
          </p:spPr>
        </p:sp>
        <p:sp>
          <p:nvSpPr>
            <p:cNvPr id="94" name="TextBox 94"/>
            <p:cNvSpPr txBox="1"/>
            <p:nvPr/>
          </p:nvSpPr>
          <p:spPr>
            <a:xfrm>
              <a:off x="3684067" y="5095399"/>
              <a:ext cx="537616"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产品目标</a:t>
              </a:r>
            </a:p>
          </p:txBody>
        </p:sp>
        <p:sp>
          <p:nvSpPr>
            <p:cNvPr id="95" name="Ellipse 95"/>
            <p:cNvSpPr/>
            <p:nvPr/>
          </p:nvSpPr>
          <p:spPr>
            <a:xfrm>
              <a:off x="5657850" y="4514850"/>
              <a:ext cx="876300" cy="8763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99" name="Group 99"/>
            <p:cNvGrpSpPr/>
            <p:nvPr/>
          </p:nvGrpSpPr>
          <p:grpSpPr>
            <a:xfrm>
              <a:off x="5995988" y="4681538"/>
              <a:ext cx="200026" cy="200025"/>
              <a:chOff x="5995988" y="4681538"/>
              <a:chExt cx="200026" cy="200025"/>
            </a:xfrm>
          </p:grpSpPr>
          <p:sp>
            <p:nvSpPr>
              <p:cNvPr id="96" name="Freeform 96"/>
              <p:cNvSpPr/>
              <p:nvPr/>
            </p:nvSpPr>
            <p:spPr>
              <a:xfrm>
                <a:off x="5995988" y="468153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FFFFFF"/>
                </a:solidFill>
              </a:ln>
            </p:spPr>
          </p:sp>
          <p:sp>
            <p:nvSpPr>
              <p:cNvPr id="97" name="Freeform 97"/>
              <p:cNvSpPr/>
              <p:nvPr/>
            </p:nvSpPr>
            <p:spPr>
              <a:xfrm>
                <a:off x="6035726" y="472598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FFFFFF"/>
                </a:solidFill>
              </a:ln>
            </p:spPr>
          </p:sp>
          <p:sp>
            <p:nvSpPr>
              <p:cNvPr id="98" name="Freeform 98"/>
              <p:cNvSpPr/>
              <p:nvPr/>
            </p:nvSpPr>
            <p:spPr>
              <a:xfrm>
                <a:off x="6070442" y="4837113"/>
                <a:ext cx="51118" cy="9525"/>
              </a:xfrm>
              <a:custGeom>
                <a:avLst/>
                <a:gdLst/>
                <a:ahLst/>
                <a:cxnLst/>
                <a:rect l="l" t="t" r="r" b="b"/>
                <a:pathLst>
                  <a:path w="51118" h="9525">
                    <a:moveTo>
                      <a:pt x="0" y="0"/>
                    </a:moveTo>
                    <a:lnTo>
                      <a:pt x="51118" y="0"/>
                    </a:lnTo>
                  </a:path>
                </a:pathLst>
              </a:custGeom>
              <a:noFill/>
              <a:ln w="22225">
                <a:solidFill>
                  <a:srgbClr val="FFFFFF"/>
                </a:solidFill>
              </a:ln>
            </p:spPr>
          </p:sp>
        </p:grpSp>
        <p:sp>
          <p:nvSpPr>
            <p:cNvPr id="100" name="TextBox 100"/>
            <p:cNvSpPr txBox="1"/>
            <p:nvPr/>
          </p:nvSpPr>
          <p:spPr>
            <a:xfrm>
              <a:off x="5827192" y="5095399"/>
              <a:ext cx="537616"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设计目标</a:t>
              </a:r>
            </a:p>
          </p:txBody>
        </p:sp>
        <p:sp>
          <p:nvSpPr>
            <p:cNvPr id="101" name="Ellipse 101"/>
            <p:cNvSpPr/>
            <p:nvPr/>
          </p:nvSpPr>
          <p:spPr>
            <a:xfrm>
              <a:off x="7800975" y="4514850"/>
              <a:ext cx="876300" cy="8763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107" name="Group 107"/>
            <p:cNvGrpSpPr/>
            <p:nvPr/>
          </p:nvGrpSpPr>
          <p:grpSpPr>
            <a:xfrm>
              <a:off x="8161338" y="4681538"/>
              <a:ext cx="155575" cy="200026"/>
              <a:chOff x="8161338" y="4681538"/>
              <a:chExt cx="155575" cy="200026"/>
            </a:xfrm>
          </p:grpSpPr>
          <p:sp>
            <p:nvSpPr>
              <p:cNvPr id="102" name="Freeform 102"/>
              <p:cNvSpPr/>
              <p:nvPr/>
            </p:nvSpPr>
            <p:spPr>
              <a:xfrm>
                <a:off x="8261350" y="4681538"/>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22225">
                <a:solidFill>
                  <a:srgbClr val="FFFFFF"/>
                </a:solidFill>
              </a:ln>
            </p:spPr>
          </p:sp>
          <p:sp>
            <p:nvSpPr>
              <p:cNvPr id="103" name="Freeform 103"/>
              <p:cNvSpPr/>
              <p:nvPr/>
            </p:nvSpPr>
            <p:spPr>
              <a:xfrm>
                <a:off x="8161338" y="4681538"/>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22225">
                <a:solidFill>
                  <a:srgbClr val="FFFFFF"/>
                </a:solidFill>
              </a:ln>
            </p:spPr>
          </p:sp>
          <p:sp>
            <p:nvSpPr>
              <p:cNvPr id="104" name="Freeform 104"/>
              <p:cNvSpPr/>
              <p:nvPr/>
            </p:nvSpPr>
            <p:spPr>
              <a:xfrm>
                <a:off x="8205788" y="4748213"/>
                <a:ext cx="11113" cy="9525"/>
              </a:xfrm>
              <a:custGeom>
                <a:avLst/>
                <a:gdLst/>
                <a:ahLst/>
                <a:cxnLst/>
                <a:rect l="l" t="t" r="r" b="b"/>
                <a:pathLst>
                  <a:path w="11113" h="9525">
                    <a:moveTo>
                      <a:pt x="0" y="0"/>
                    </a:moveTo>
                    <a:lnTo>
                      <a:pt x="11113" y="0"/>
                    </a:lnTo>
                  </a:path>
                </a:pathLst>
              </a:custGeom>
              <a:noFill/>
              <a:ln w="22225">
                <a:solidFill>
                  <a:srgbClr val="FFFFFF"/>
                </a:solidFill>
              </a:ln>
            </p:spPr>
          </p:sp>
          <p:sp>
            <p:nvSpPr>
              <p:cNvPr id="105" name="Freeform 105"/>
              <p:cNvSpPr/>
              <p:nvPr/>
            </p:nvSpPr>
            <p:spPr>
              <a:xfrm>
                <a:off x="8205788" y="4792663"/>
                <a:ext cx="66675" cy="9525"/>
              </a:xfrm>
              <a:custGeom>
                <a:avLst/>
                <a:gdLst/>
                <a:ahLst/>
                <a:cxnLst/>
                <a:rect l="l" t="t" r="r" b="b"/>
                <a:pathLst>
                  <a:path w="66675" h="9525">
                    <a:moveTo>
                      <a:pt x="0" y="0"/>
                    </a:moveTo>
                    <a:lnTo>
                      <a:pt x="66675" y="0"/>
                    </a:lnTo>
                  </a:path>
                </a:pathLst>
              </a:custGeom>
              <a:noFill/>
              <a:ln w="22225">
                <a:solidFill>
                  <a:srgbClr val="FFFFFF"/>
                </a:solidFill>
              </a:ln>
            </p:spPr>
          </p:sp>
          <p:sp>
            <p:nvSpPr>
              <p:cNvPr id="106" name="Freeform 106"/>
              <p:cNvSpPr/>
              <p:nvPr/>
            </p:nvSpPr>
            <p:spPr>
              <a:xfrm>
                <a:off x="8205788" y="4837113"/>
                <a:ext cx="66675" cy="9525"/>
              </a:xfrm>
              <a:custGeom>
                <a:avLst/>
                <a:gdLst/>
                <a:ahLst/>
                <a:cxnLst/>
                <a:rect l="l" t="t" r="r" b="b"/>
                <a:pathLst>
                  <a:path w="66675" h="9525">
                    <a:moveTo>
                      <a:pt x="0" y="0"/>
                    </a:moveTo>
                    <a:lnTo>
                      <a:pt x="66675" y="0"/>
                    </a:lnTo>
                  </a:path>
                </a:pathLst>
              </a:custGeom>
              <a:noFill/>
              <a:ln w="22225">
                <a:solidFill>
                  <a:srgbClr val="FFFFFF"/>
                </a:solidFill>
              </a:ln>
            </p:spPr>
          </p:sp>
        </p:grpSp>
        <p:sp>
          <p:nvSpPr>
            <p:cNvPr id="108" name="TextBox 108"/>
            <p:cNvSpPr txBox="1"/>
            <p:nvPr/>
          </p:nvSpPr>
          <p:spPr>
            <a:xfrm>
              <a:off x="7970317" y="5095399"/>
              <a:ext cx="537616"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设计方案</a:t>
              </a:r>
            </a:p>
          </p:txBody>
        </p:sp>
        <p:sp>
          <p:nvSpPr>
            <p:cNvPr id="109" name="Ellipse 109"/>
            <p:cNvSpPr/>
            <p:nvPr/>
          </p:nvSpPr>
          <p:spPr>
            <a:xfrm>
              <a:off x="9944100" y="4514850"/>
              <a:ext cx="876300" cy="876300"/>
            </a:xfrm>
            <a:prstGeom prst="ellipse">
              <a:avLst/>
            </a:prstGeom>
            <a:gradFill>
              <a:gsLst>
                <a:gs pos="0">
                  <a:srgbClr val="FFA28F"/>
                </a:gs>
                <a:gs pos="60000">
                  <a:srgbClr val="E94B2B"/>
                </a:gs>
                <a:gs pos="100000">
                  <a:srgbClr val="C83B1E"/>
                </a:gs>
              </a:gsLst>
              <a:path path="circle">
                <a:fillToRect l="35000" t="30000" r="65000" b="70000"/>
              </a:path>
            </a:gradFill>
            <a:ln>
              <a:noFill/>
            </a:ln>
          </p:spPr>
        </p:sp>
        <p:grpSp>
          <p:nvGrpSpPr>
            <p:cNvPr id="112" name="Group 112"/>
            <p:cNvGrpSpPr/>
            <p:nvPr/>
          </p:nvGrpSpPr>
          <p:grpSpPr>
            <a:xfrm>
              <a:off x="10293350" y="4688363"/>
              <a:ext cx="177801" cy="186375"/>
              <a:chOff x="10293350" y="4688363"/>
              <a:chExt cx="177801" cy="186375"/>
            </a:xfrm>
          </p:grpSpPr>
          <p:sp>
            <p:nvSpPr>
              <p:cNvPr id="110" name="Freeform 110"/>
              <p:cNvSpPr/>
              <p:nvPr/>
            </p:nvSpPr>
            <p:spPr>
              <a:xfrm>
                <a:off x="10293350" y="4688363"/>
                <a:ext cx="177801" cy="82075"/>
              </a:xfrm>
              <a:custGeom>
                <a:avLst/>
                <a:gdLst/>
                <a:ahLst/>
                <a:cxnLst/>
                <a:rect l="l" t="t" r="r" b="b"/>
                <a:pathLst>
                  <a:path w="177801" h="82075">
                    <a:moveTo>
                      <a:pt x="177801" y="82075"/>
                    </a:moveTo>
                    <a:cubicBezTo>
                      <a:pt x="172214" y="41876"/>
                      <a:pt x="140416" y="10388"/>
                      <a:pt x="100165" y="5194"/>
                    </a:cubicBezTo>
                    <a:cubicBezTo>
                      <a:pt x="59913" y="0"/>
                      <a:pt x="21164" y="22386"/>
                      <a:pt x="5556" y="59850"/>
                    </a:cubicBezTo>
                    <a:moveTo>
                      <a:pt x="0" y="15400"/>
                    </a:moveTo>
                    <a:lnTo>
                      <a:pt x="0" y="59850"/>
                    </a:lnTo>
                    <a:lnTo>
                      <a:pt x="44450" y="59850"/>
                    </a:lnTo>
                  </a:path>
                </a:pathLst>
              </a:custGeom>
              <a:noFill/>
              <a:ln w="22225">
                <a:solidFill>
                  <a:srgbClr val="FFFFFF"/>
                </a:solidFill>
              </a:ln>
            </p:spPr>
          </p:sp>
          <p:sp>
            <p:nvSpPr>
              <p:cNvPr id="111" name="Freeform 111"/>
              <p:cNvSpPr/>
              <p:nvPr/>
            </p:nvSpPr>
            <p:spPr>
              <a:xfrm>
                <a:off x="10293350" y="4792663"/>
                <a:ext cx="177801" cy="82075"/>
              </a:xfrm>
              <a:custGeom>
                <a:avLst/>
                <a:gdLst/>
                <a:ahLst/>
                <a:cxnLst/>
                <a:rect l="l" t="t" r="r" b="b"/>
                <a:pathLst>
                  <a:path w="177801" h="82075">
                    <a:moveTo>
                      <a:pt x="0" y="0"/>
                    </a:moveTo>
                    <a:cubicBezTo>
                      <a:pt x="5587" y="40199"/>
                      <a:pt x="37384" y="71688"/>
                      <a:pt x="77636" y="76881"/>
                    </a:cubicBezTo>
                    <a:cubicBezTo>
                      <a:pt x="117888" y="82075"/>
                      <a:pt x="156637" y="59689"/>
                      <a:pt x="172244" y="22225"/>
                    </a:cubicBezTo>
                    <a:moveTo>
                      <a:pt x="177801" y="66675"/>
                    </a:moveTo>
                    <a:lnTo>
                      <a:pt x="177801" y="22225"/>
                    </a:lnTo>
                    <a:lnTo>
                      <a:pt x="133350" y="22225"/>
                    </a:lnTo>
                  </a:path>
                </a:pathLst>
              </a:custGeom>
              <a:noFill/>
              <a:ln w="22225">
                <a:solidFill>
                  <a:srgbClr val="FFFFFF"/>
                </a:solidFill>
              </a:ln>
            </p:spPr>
          </p:sp>
        </p:grpSp>
        <p:sp>
          <p:nvSpPr>
            <p:cNvPr id="113" name="TextBox 113"/>
            <p:cNvSpPr txBox="1"/>
            <p:nvPr/>
          </p:nvSpPr>
          <p:spPr>
            <a:xfrm>
              <a:off x="10113442" y="5095399"/>
              <a:ext cx="537616"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迭代优化</a:t>
              </a:r>
            </a:p>
          </p:txBody>
        </p:sp>
      </p:gr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unnel-dec"/>
          <p:cNvSpPr/>
          <p:nvPr/>
        </p:nvSpPr>
        <p:spPr>
          <a:xfrm>
            <a:off x="3619500" y="1276350"/>
            <a:ext cx="4953000" cy="1276350"/>
          </a:xfrm>
          <a:custGeom>
            <a:avLst/>
            <a:gdLst/>
            <a:ahLst/>
            <a:cxnLst/>
            <a:rect l="l" t="t" r="r" b="b"/>
            <a:pathLst>
              <a:path w="4953000" h="1276350">
                <a:moveTo>
                  <a:pt x="0" y="0"/>
                </a:moveTo>
                <a:lnTo>
                  <a:pt x="4953000" y="0"/>
                </a:lnTo>
                <a:lnTo>
                  <a:pt x="2476500" y="1276350"/>
                </a:lnTo>
                <a:close/>
              </a:path>
            </a:pathLst>
          </a:custGeom>
          <a:gradFill>
            <a:gsLst>
              <a:gs pos="0">
                <a:srgbClr val="DCEBFB">
                  <a:alpha val="90000"/>
                </a:srgbClr>
              </a:gs>
              <a:gs pos="100000">
                <a:srgbClr val="F6C2B7">
                  <a:alpha val="20000"/>
                </a:srgbClr>
              </a:gs>
            </a:gsLst>
            <a:lin ang="5400000" scaled="1"/>
          </a:gradFill>
          <a:ln>
            <a:noFill/>
          </a:ln>
        </p:spPr>
      </p:sp>
      <p:sp>
        <p:nvSpPr>
          <p:cNvPr id="3" name="Freeform 3"/>
          <p:cNvSpPr/>
          <p:nvPr/>
        </p:nvSpPr>
        <p:spPr>
          <a:xfrm>
            <a:off x="3619500" y="2857500"/>
            <a:ext cx="1219200" cy="762000"/>
          </a:xfrm>
          <a:prstGeom prst="rightArrow">
            <a:avLst>
              <a:gd name="adj1" fmla="val 55000"/>
              <a:gd name="adj2" fmla="val 45000"/>
            </a:avLst>
          </a:prstGeom>
          <a:solidFill>
            <a:srgbClr val="F2745A"/>
          </a:solidFill>
          <a:ln>
            <a:noFill/>
          </a:ln>
        </p:spPr>
      </p:sp>
      <p:sp>
        <p:nvSpPr>
          <p:cNvPr id="4" name="Freeform 4"/>
          <p:cNvSpPr/>
          <p:nvPr/>
        </p:nvSpPr>
        <p:spPr>
          <a:xfrm>
            <a:off x="7105650" y="2857500"/>
            <a:ext cx="1219200" cy="762000"/>
          </a:xfrm>
          <a:prstGeom prst="rightArrow">
            <a:avLst>
              <a:gd name="adj1" fmla="val 55000"/>
              <a:gd name="adj2" fmla="val 45000"/>
            </a:avLst>
          </a:prstGeom>
          <a:solidFill>
            <a:srgbClr val="F2745A"/>
          </a:solidFill>
          <a:ln>
            <a:noFill/>
          </a:ln>
        </p:spPr>
      </p:sp>
      <p:grpSp>
        <p:nvGrpSpPr>
          <p:cNvPr id="9" name="page-header"/>
          <p:cNvGrpSpPr/>
          <p:nvPr/>
        </p:nvGrpSpPr>
        <p:grpSpPr>
          <a:xfrm>
            <a:off x="0" y="0"/>
            <a:ext cx="11811000" cy="561404"/>
            <a:chOff x="0" y="0"/>
            <a:chExt cx="11811000" cy="561404"/>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6" name="TextBox 6"/>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15</a:t>
              </a:r>
            </a:p>
          </p:txBody>
        </p:sp>
        <p:sp>
          <p:nvSpPr>
            <p:cNvPr id="7" name="TextBox 7"/>
            <p:cNvSpPr txBox="1"/>
            <p:nvPr/>
          </p:nvSpPr>
          <p:spPr>
            <a:xfrm>
              <a:off x="904494" y="180023"/>
              <a:ext cx="307086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助力品牌连接优质创作者</a:t>
              </a:r>
            </a:p>
          </p:txBody>
        </p:sp>
        <p:sp>
          <p:nvSpPr>
            <p:cNvPr id="8" name="Line 8"/>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4" name="top-tags"/>
          <p:cNvGrpSpPr/>
          <p:nvPr/>
        </p:nvGrpSpPr>
        <p:grpSpPr>
          <a:xfrm>
            <a:off x="4286250" y="914400"/>
            <a:ext cx="3429000" cy="285750"/>
            <a:chOff x="4286250" y="914400"/>
            <a:chExt cx="3429000" cy="285750"/>
          </a:xfrm>
        </p:grpSpPr>
        <p:sp>
          <p:nvSpPr>
            <p:cNvPr id="10" name="Rectangle 10"/>
            <p:cNvSpPr/>
            <p:nvPr/>
          </p:nvSpPr>
          <p:spPr>
            <a:xfrm>
              <a:off x="4286250" y="914400"/>
              <a:ext cx="1676400" cy="285750"/>
            </a:xfrm>
            <a:prstGeom prst="roundRect">
              <a:avLst>
                <a:gd name="adj" fmla="val 20000"/>
              </a:avLst>
            </a:prstGeom>
            <a:solidFill>
              <a:srgbClr val="FFFFFF"/>
            </a:solidFill>
            <a:ln w="9525">
              <a:solidFill>
                <a:srgbClr val="C9DDF5"/>
              </a:solidFill>
            </a:ln>
          </p:spPr>
        </p:sp>
        <p:sp>
          <p:nvSpPr>
            <p:cNvPr id="11" name="TextBox 11"/>
            <p:cNvSpPr txBox="1"/>
            <p:nvPr/>
          </p:nvSpPr>
          <p:spPr>
            <a:xfrm>
              <a:off x="4525823" y="1009174"/>
              <a:ext cx="1197254"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能力提升、价值创造</a:t>
              </a:r>
            </a:p>
          </p:txBody>
        </p:sp>
        <p:sp>
          <p:nvSpPr>
            <p:cNvPr id="12" name="Rectangle 12"/>
            <p:cNvSpPr/>
            <p:nvPr/>
          </p:nvSpPr>
          <p:spPr>
            <a:xfrm>
              <a:off x="6191250" y="914400"/>
              <a:ext cx="1524000" cy="285750"/>
            </a:xfrm>
            <a:prstGeom prst="roundRect">
              <a:avLst>
                <a:gd name="adj" fmla="val 20000"/>
              </a:avLst>
            </a:prstGeom>
            <a:solidFill>
              <a:srgbClr val="FFFFFF"/>
            </a:solidFill>
            <a:ln w="9525">
              <a:solidFill>
                <a:srgbClr val="C9DDF5"/>
              </a:solidFill>
            </a:ln>
          </p:spPr>
        </p:sp>
        <p:sp>
          <p:nvSpPr>
            <p:cNvPr id="13" name="TextBox 13"/>
            <p:cNvSpPr txBox="1"/>
            <p:nvPr/>
          </p:nvSpPr>
          <p:spPr>
            <a:xfrm>
              <a:off x="6486550" y="1009174"/>
              <a:ext cx="93339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数值化、显性化</a:t>
              </a:r>
            </a:p>
          </p:txBody>
        </p:sp>
      </p:grpSp>
      <p:grpSp>
        <p:nvGrpSpPr>
          <p:cNvPr id="22" name="left-principles"/>
          <p:cNvGrpSpPr/>
          <p:nvPr/>
        </p:nvGrpSpPr>
        <p:grpSpPr>
          <a:xfrm>
            <a:off x="971550" y="1971675"/>
            <a:ext cx="2552700" cy="2552700"/>
            <a:chOff x="971550" y="1971675"/>
            <a:chExt cx="2552700" cy="2552700"/>
          </a:xfrm>
        </p:grpSpPr>
        <p:sp>
          <p:nvSpPr>
            <p:cNvPr id="15" name="Ellipse 15"/>
            <p:cNvSpPr/>
            <p:nvPr/>
          </p:nvSpPr>
          <p:spPr>
            <a:xfrm>
              <a:off x="971550" y="1971675"/>
              <a:ext cx="2552700" cy="2552700"/>
            </a:xfrm>
            <a:prstGeom prst="ellipse">
              <a:avLst/>
            </a:prstGeom>
            <a:solidFill>
              <a:srgbClr val="FFFFFF"/>
            </a:solidFill>
            <a:ln w="14288">
              <a:solidFill>
                <a:srgbClr val="C9DDF5"/>
              </a:solidFill>
            </a:ln>
          </p:spPr>
        </p:sp>
        <p:sp>
          <p:nvSpPr>
            <p:cNvPr id="16" name="Ellipse 16"/>
            <p:cNvSpPr/>
            <p:nvPr/>
          </p:nvSpPr>
          <p:spPr>
            <a:xfrm>
              <a:off x="1104900" y="2733675"/>
              <a:ext cx="1028700" cy="1028700"/>
            </a:xfrm>
            <a:prstGeom prst="ellipse">
              <a:avLst/>
            </a:prstGeom>
            <a:gradFill>
              <a:gsLst>
                <a:gs pos="0">
                  <a:srgbClr val="EAF3FD"/>
                </a:gs>
                <a:gs pos="100000">
                  <a:srgbClr val="F6C2B7"/>
                </a:gs>
              </a:gsLst>
              <a:path path="circle">
                <a:fillToRect l="40000" t="35000" r="60000" b="65000"/>
              </a:path>
            </a:gradFill>
            <a:ln>
              <a:noFill/>
            </a:ln>
          </p:spPr>
        </p:sp>
        <p:sp>
          <p:nvSpPr>
            <p:cNvPr id="17" name="TextBox 17"/>
            <p:cNvSpPr txBox="1"/>
            <p:nvPr/>
          </p:nvSpPr>
          <p:spPr>
            <a:xfrm>
              <a:off x="1365377" y="3104674"/>
              <a:ext cx="507746" cy="352616"/>
            </a:xfrm>
            <a:prstGeom prst="rect">
              <a:avLst/>
            </a:prstGeom>
            <a:noFill/>
            <a:ln>
              <a:noFill/>
            </a:ln>
          </p:spPr>
          <p:txBody>
            <a:bodyPr wrap="none" lIns="0" tIns="0" rIns="0" bIns="0" anchor="t" anchorCtr="0">
              <a:spAutoFit/>
            </a:bodyPr>
            <a:lstStyle/>
            <a:p>
              <a:pPr algn="ctr">
                <a:lnSpc>
                  <a:spcPts val="1275"/>
                </a:lnSpc>
              </a:pPr>
              <a:r>
                <a:rPr lang="zh-CN" sz="980" dirty="0">
                  <a:solidFill>
                    <a:srgbClr val="C83B1E"/>
                  </a:solidFill>
                  <a:latin typeface="+mn-lt"/>
                  <a:ea typeface="+mn-ea"/>
                  <a:cs typeface="+mn-cs"/>
                </a:rPr>
                <a:t>以能力变</a:t>
              </a:r>
              <a:br/>
              <a:r>
                <a:rPr lang="zh-CN" sz="980" dirty="0">
                  <a:solidFill>
                    <a:srgbClr val="C83B1E"/>
                  </a:solidFill>
                  <a:latin typeface="+mn-lt"/>
                  <a:ea typeface="+mn-ea"/>
                  <a:cs typeface="+mn-cs"/>
                </a:rPr>
                <a:t>现为目标</a:t>
              </a:r>
            </a:p>
          </p:txBody>
        </p:sp>
        <p:sp>
          <p:nvSpPr>
            <p:cNvPr id="18" name="Ellipse 18"/>
            <p:cNvSpPr/>
            <p:nvPr/>
          </p:nvSpPr>
          <p:spPr>
            <a:xfrm>
              <a:off x="2076450" y="2114550"/>
              <a:ext cx="1028700" cy="1028700"/>
            </a:xfrm>
            <a:prstGeom prst="ellipse">
              <a:avLst/>
            </a:prstGeom>
            <a:gradFill>
              <a:gsLst>
                <a:gs pos="0">
                  <a:srgbClr val="EAF3FD"/>
                </a:gs>
                <a:gs pos="100000">
                  <a:srgbClr val="F6C2B7"/>
                </a:gs>
              </a:gsLst>
              <a:path path="circle">
                <a:fillToRect l="40000" t="35000" r="60000" b="65000"/>
              </a:path>
            </a:gradFill>
            <a:ln>
              <a:noFill/>
            </a:ln>
          </p:spPr>
        </p:sp>
        <p:sp>
          <p:nvSpPr>
            <p:cNvPr id="19" name="TextBox 19"/>
            <p:cNvSpPr txBox="1"/>
            <p:nvPr/>
          </p:nvSpPr>
          <p:spPr>
            <a:xfrm>
              <a:off x="2399157" y="2485549"/>
              <a:ext cx="383286" cy="352616"/>
            </a:xfrm>
            <a:prstGeom prst="rect">
              <a:avLst/>
            </a:prstGeom>
            <a:noFill/>
            <a:ln>
              <a:noFill/>
            </a:ln>
          </p:spPr>
          <p:txBody>
            <a:bodyPr wrap="none" lIns="0" tIns="0" rIns="0" bIns="0" anchor="t" anchorCtr="0">
              <a:spAutoFit/>
            </a:bodyPr>
            <a:lstStyle/>
            <a:p>
              <a:pPr algn="ctr">
                <a:lnSpc>
                  <a:spcPts val="1275"/>
                </a:lnSpc>
              </a:pPr>
              <a:r>
                <a:rPr lang="zh-CN" sz="980" dirty="0">
                  <a:solidFill>
                    <a:srgbClr val="C83B1E"/>
                  </a:solidFill>
                  <a:latin typeface="+mn-lt"/>
                  <a:ea typeface="+mn-ea"/>
                  <a:cs typeface="+mn-cs"/>
                </a:rPr>
                <a:t>以积分</a:t>
              </a:r>
              <a:br/>
              <a:r>
                <a:rPr lang="zh-CN" sz="980" dirty="0">
                  <a:solidFill>
                    <a:srgbClr val="C83B1E"/>
                  </a:solidFill>
                  <a:latin typeface="+mn-lt"/>
                  <a:ea typeface="+mn-ea"/>
                  <a:cs typeface="+mn-cs"/>
                </a:rPr>
                <a:t>为载体</a:t>
              </a:r>
            </a:p>
          </p:txBody>
        </p:sp>
        <p:sp>
          <p:nvSpPr>
            <p:cNvPr id="20" name="Ellipse 20"/>
            <p:cNvSpPr/>
            <p:nvPr/>
          </p:nvSpPr>
          <p:spPr>
            <a:xfrm>
              <a:off x="2076450" y="3333750"/>
              <a:ext cx="1028700" cy="1028700"/>
            </a:xfrm>
            <a:prstGeom prst="ellipse">
              <a:avLst/>
            </a:prstGeom>
            <a:gradFill>
              <a:gsLst>
                <a:gs pos="0">
                  <a:srgbClr val="EAF3FD"/>
                </a:gs>
                <a:gs pos="100000">
                  <a:srgbClr val="F6C2B7"/>
                </a:gs>
              </a:gsLst>
              <a:path path="circle">
                <a:fillToRect l="40000" t="35000" r="60000" b="65000"/>
              </a:path>
            </a:gradFill>
            <a:ln>
              <a:noFill/>
            </a:ln>
          </p:spPr>
        </p:sp>
        <p:sp>
          <p:nvSpPr>
            <p:cNvPr id="21" name="TextBox 21"/>
            <p:cNvSpPr txBox="1"/>
            <p:nvPr/>
          </p:nvSpPr>
          <p:spPr>
            <a:xfrm>
              <a:off x="2399157" y="3704749"/>
              <a:ext cx="383286" cy="352616"/>
            </a:xfrm>
            <a:prstGeom prst="rect">
              <a:avLst/>
            </a:prstGeom>
            <a:noFill/>
            <a:ln>
              <a:noFill/>
            </a:ln>
          </p:spPr>
          <p:txBody>
            <a:bodyPr wrap="none" lIns="0" tIns="0" rIns="0" bIns="0" anchor="t" anchorCtr="0">
              <a:spAutoFit/>
            </a:bodyPr>
            <a:lstStyle/>
            <a:p>
              <a:pPr algn="ctr">
                <a:lnSpc>
                  <a:spcPts val="1275"/>
                </a:lnSpc>
              </a:pPr>
              <a:r>
                <a:rPr lang="zh-CN" sz="980" dirty="0">
                  <a:solidFill>
                    <a:srgbClr val="C83B1E"/>
                  </a:solidFill>
                  <a:latin typeface="+mn-lt"/>
                  <a:ea typeface="+mn-ea"/>
                  <a:cs typeface="+mn-cs"/>
                </a:rPr>
                <a:t>以贡献</a:t>
              </a:r>
              <a:br/>
              <a:r>
                <a:rPr lang="zh-CN" sz="980" dirty="0">
                  <a:solidFill>
                    <a:srgbClr val="C83B1E"/>
                  </a:solidFill>
                  <a:latin typeface="+mn-lt"/>
                  <a:ea typeface="+mn-ea"/>
                  <a:cs typeface="+mn-cs"/>
                </a:rPr>
                <a:t>为导向</a:t>
              </a:r>
            </a:p>
          </p:txBody>
        </p:sp>
      </p:grpSp>
      <p:grpSp>
        <p:nvGrpSpPr>
          <p:cNvPr id="26" name="center-system"/>
          <p:cNvGrpSpPr/>
          <p:nvPr/>
        </p:nvGrpSpPr>
        <p:grpSpPr>
          <a:xfrm>
            <a:off x="5181600" y="2324100"/>
            <a:ext cx="1828800" cy="1828800"/>
            <a:chOff x="5181600" y="2324100"/>
            <a:chExt cx="1828800" cy="1828800"/>
          </a:xfrm>
        </p:grpSpPr>
        <p:sp>
          <p:nvSpPr>
            <p:cNvPr id="23" name="Ellipse 23"/>
            <p:cNvSpPr/>
            <p:nvPr/>
          </p:nvSpPr>
          <p:spPr>
            <a:xfrm>
              <a:off x="5181600" y="2324100"/>
              <a:ext cx="1828800" cy="1828800"/>
            </a:xfrm>
            <a:prstGeom prst="ellipse">
              <a:avLst/>
            </a:prstGeom>
            <a:solidFill>
              <a:srgbClr val="DCEBFB"/>
            </a:solidFill>
            <a:ln>
              <a:noFill/>
            </a:ln>
          </p:spPr>
        </p:sp>
        <p:sp>
          <p:nvSpPr>
            <p:cNvPr id="24" name="Ellipse 24"/>
            <p:cNvSpPr/>
            <p:nvPr/>
          </p:nvSpPr>
          <p:spPr>
            <a:xfrm>
              <a:off x="5276850" y="2419350"/>
              <a:ext cx="1638300" cy="1638300"/>
            </a:xfrm>
            <a:prstGeom prst="ellipse">
              <a:avLst/>
            </a:prstGeom>
            <a:gradFill>
              <a:gsLst>
                <a:gs pos="0">
                  <a:srgbClr val="F2745A"/>
                </a:gs>
                <a:gs pos="100000">
                  <a:srgbClr val="C83B1E"/>
                </a:gs>
              </a:gsLst>
              <a:path path="circle">
                <a:fillToRect l="40000" t="35000" r="60000" b="65000"/>
              </a:path>
            </a:gradFill>
            <a:ln>
              <a:noFill/>
            </a:ln>
          </p:spPr>
        </p:sp>
        <p:sp>
          <p:nvSpPr>
            <p:cNvPr id="25" name="TextBox 25"/>
            <p:cNvSpPr txBox="1"/>
            <p:nvPr/>
          </p:nvSpPr>
          <p:spPr>
            <a:xfrm>
              <a:off x="5629656" y="2987040"/>
              <a:ext cx="932688" cy="656844"/>
            </a:xfrm>
            <a:prstGeom prst="rect">
              <a:avLst/>
            </a:prstGeom>
            <a:noFill/>
            <a:ln>
              <a:noFill/>
            </a:ln>
          </p:spPr>
          <p:txBody>
            <a:bodyPr wrap="none" lIns="0" tIns="0" rIns="0" bIns="0" anchor="t" anchorCtr="0">
              <a:spAutoFit/>
            </a:bodyPr>
            <a:lstStyle/>
            <a:p>
              <a:pPr algn="ctr">
                <a:lnSpc>
                  <a:spcPts val="2400"/>
                </a:lnSpc>
              </a:pPr>
              <a:r>
                <a:rPr lang="zh-CN" sz="1800" b="1" dirty="0">
                  <a:solidFill>
                    <a:srgbClr val="FFFFFF"/>
                  </a:solidFill>
                  <a:latin typeface="+mn-lt"/>
                  <a:ea typeface="+mn-ea"/>
                  <a:cs typeface="+mn-cs"/>
                </a:rPr>
                <a:t>积分制</a:t>
              </a:r>
              <a:br/>
              <a:r>
                <a:rPr lang="zh-CN" sz="1800" b="1" dirty="0">
                  <a:solidFill>
                    <a:srgbClr val="FFFFFF"/>
                  </a:solidFill>
                  <a:latin typeface="+mn-lt"/>
                  <a:ea typeface="+mn-ea"/>
                  <a:cs typeface="+mn-cs"/>
                </a:rPr>
                <a:t>管理系统</a:t>
              </a:r>
            </a:p>
          </p:txBody>
        </p:sp>
      </p:grpSp>
      <p:grpSp>
        <p:nvGrpSpPr>
          <p:cNvPr id="46" name="right-dimensions"/>
          <p:cNvGrpSpPr/>
          <p:nvPr/>
        </p:nvGrpSpPr>
        <p:grpSpPr>
          <a:xfrm>
            <a:off x="8620125" y="1905000"/>
            <a:ext cx="2914650" cy="2667000"/>
            <a:chOff x="8620125" y="1905000"/>
            <a:chExt cx="2914650" cy="2667000"/>
          </a:xfrm>
        </p:grpSpPr>
        <p:sp>
          <p:nvSpPr>
            <p:cNvPr id="27" name="Rectangle 27"/>
            <p:cNvSpPr/>
            <p:nvPr/>
          </p:nvSpPr>
          <p:spPr>
            <a:xfrm>
              <a:off x="8620125" y="1905000"/>
              <a:ext cx="2914650" cy="2667000"/>
            </a:xfrm>
            <a:prstGeom prst="roundRect">
              <a:avLst>
                <a:gd name="adj" fmla="val 5714"/>
              </a:avLst>
            </a:prstGeom>
            <a:solidFill>
              <a:srgbClr val="FFFFFF"/>
            </a:solidFill>
            <a:ln w="14288">
              <a:solidFill>
                <a:srgbClr val="C9DDF5"/>
              </a:solidFill>
            </a:ln>
          </p:spPr>
        </p:sp>
        <p:sp>
          <p:nvSpPr>
            <p:cNvPr id="28" name="Rectangle 28"/>
            <p:cNvSpPr/>
            <p:nvPr/>
          </p:nvSpPr>
          <p:spPr>
            <a:xfrm>
              <a:off x="8782050" y="2076450"/>
              <a:ext cx="1238250" cy="285750"/>
            </a:xfrm>
            <a:prstGeom prst="roundRect">
              <a:avLst>
                <a:gd name="adj" fmla="val 13333"/>
              </a:avLst>
            </a:prstGeom>
            <a:solidFill>
              <a:srgbClr val="E4EEFB"/>
            </a:solidFill>
            <a:ln w="9525">
              <a:solidFill>
                <a:srgbClr val="C9DDF5"/>
              </a:solidFill>
            </a:ln>
          </p:spPr>
        </p:sp>
        <p:sp>
          <p:nvSpPr>
            <p:cNvPr id="29" name="TextBox 29"/>
            <p:cNvSpPr txBox="1"/>
            <p:nvPr/>
          </p:nvSpPr>
          <p:spPr>
            <a:xfrm>
              <a:off x="9132367" y="2171224"/>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项目经验</a:t>
              </a:r>
            </a:p>
          </p:txBody>
        </p:sp>
        <p:sp>
          <p:nvSpPr>
            <p:cNvPr id="30" name="Rectangle 30"/>
            <p:cNvSpPr/>
            <p:nvPr/>
          </p:nvSpPr>
          <p:spPr>
            <a:xfrm>
              <a:off x="10134600" y="2076450"/>
              <a:ext cx="1238250" cy="285750"/>
            </a:xfrm>
            <a:prstGeom prst="roundRect">
              <a:avLst>
                <a:gd name="adj" fmla="val 13333"/>
              </a:avLst>
            </a:prstGeom>
            <a:solidFill>
              <a:srgbClr val="E4EEFB"/>
            </a:solidFill>
            <a:ln w="9525">
              <a:solidFill>
                <a:srgbClr val="C9DDF5"/>
              </a:solidFill>
            </a:ln>
          </p:spPr>
        </p:sp>
        <p:sp>
          <p:nvSpPr>
            <p:cNvPr id="31" name="TextBox 31"/>
            <p:cNvSpPr txBox="1"/>
            <p:nvPr/>
          </p:nvSpPr>
          <p:spPr>
            <a:xfrm>
              <a:off x="10484917" y="2171224"/>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个人荣誉</a:t>
              </a:r>
            </a:p>
          </p:txBody>
        </p:sp>
        <p:sp>
          <p:nvSpPr>
            <p:cNvPr id="32" name="Rectangle 32"/>
            <p:cNvSpPr/>
            <p:nvPr/>
          </p:nvSpPr>
          <p:spPr>
            <a:xfrm>
              <a:off x="8782050" y="2514600"/>
              <a:ext cx="1238250" cy="285750"/>
            </a:xfrm>
            <a:prstGeom prst="roundRect">
              <a:avLst>
                <a:gd name="adj" fmla="val 13333"/>
              </a:avLst>
            </a:prstGeom>
            <a:solidFill>
              <a:srgbClr val="E4EEFB"/>
            </a:solidFill>
            <a:ln w="9525">
              <a:solidFill>
                <a:srgbClr val="C9DDF5"/>
              </a:solidFill>
            </a:ln>
          </p:spPr>
        </p:sp>
        <p:sp>
          <p:nvSpPr>
            <p:cNvPr id="33" name="TextBox 33"/>
            <p:cNvSpPr txBox="1"/>
            <p:nvPr/>
          </p:nvSpPr>
          <p:spPr>
            <a:xfrm>
              <a:off x="9132367" y="2609374"/>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项目成果</a:t>
              </a:r>
            </a:p>
          </p:txBody>
        </p:sp>
        <p:sp>
          <p:nvSpPr>
            <p:cNvPr id="34" name="Rectangle 34"/>
            <p:cNvSpPr/>
            <p:nvPr/>
          </p:nvSpPr>
          <p:spPr>
            <a:xfrm>
              <a:off x="10134600" y="2514600"/>
              <a:ext cx="1238250" cy="285750"/>
            </a:xfrm>
            <a:prstGeom prst="roundRect">
              <a:avLst>
                <a:gd name="adj" fmla="val 13333"/>
              </a:avLst>
            </a:prstGeom>
            <a:solidFill>
              <a:srgbClr val="E4EEFB"/>
            </a:solidFill>
            <a:ln w="9525">
              <a:solidFill>
                <a:srgbClr val="C9DDF5"/>
              </a:solidFill>
            </a:ln>
          </p:spPr>
        </p:sp>
        <p:sp>
          <p:nvSpPr>
            <p:cNvPr id="35" name="TextBox 35"/>
            <p:cNvSpPr txBox="1"/>
            <p:nvPr/>
          </p:nvSpPr>
          <p:spPr>
            <a:xfrm>
              <a:off x="10484917" y="2609374"/>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人才培养</a:t>
              </a:r>
            </a:p>
          </p:txBody>
        </p:sp>
        <p:sp>
          <p:nvSpPr>
            <p:cNvPr id="36" name="Rectangle 36"/>
            <p:cNvSpPr/>
            <p:nvPr/>
          </p:nvSpPr>
          <p:spPr>
            <a:xfrm>
              <a:off x="8782050" y="2952750"/>
              <a:ext cx="1238250" cy="285750"/>
            </a:xfrm>
            <a:prstGeom prst="roundRect">
              <a:avLst>
                <a:gd name="adj" fmla="val 13333"/>
              </a:avLst>
            </a:prstGeom>
            <a:solidFill>
              <a:srgbClr val="E4EEFB"/>
            </a:solidFill>
            <a:ln w="9525">
              <a:solidFill>
                <a:srgbClr val="C9DDF5"/>
              </a:solidFill>
            </a:ln>
          </p:spPr>
        </p:sp>
        <p:sp>
          <p:nvSpPr>
            <p:cNvPr id="37" name="TextBox 37"/>
            <p:cNvSpPr txBox="1"/>
            <p:nvPr/>
          </p:nvSpPr>
          <p:spPr>
            <a:xfrm>
              <a:off x="9132367" y="3047524"/>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岗位历练</a:t>
              </a:r>
            </a:p>
          </p:txBody>
        </p:sp>
        <p:sp>
          <p:nvSpPr>
            <p:cNvPr id="38" name="Rectangle 38"/>
            <p:cNvSpPr/>
            <p:nvPr/>
          </p:nvSpPr>
          <p:spPr>
            <a:xfrm>
              <a:off x="10134600" y="2952750"/>
              <a:ext cx="1238250" cy="285750"/>
            </a:xfrm>
            <a:prstGeom prst="roundRect">
              <a:avLst>
                <a:gd name="adj" fmla="val 13333"/>
              </a:avLst>
            </a:prstGeom>
            <a:solidFill>
              <a:srgbClr val="E4EEFB"/>
            </a:solidFill>
            <a:ln w="9525">
              <a:solidFill>
                <a:srgbClr val="C9DDF5"/>
              </a:solidFill>
            </a:ln>
          </p:spPr>
        </p:sp>
        <p:sp>
          <p:nvSpPr>
            <p:cNvPr id="39" name="TextBox 39"/>
            <p:cNvSpPr txBox="1"/>
            <p:nvPr/>
          </p:nvSpPr>
          <p:spPr>
            <a:xfrm>
              <a:off x="10484917" y="3047524"/>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知识培训</a:t>
              </a:r>
            </a:p>
          </p:txBody>
        </p:sp>
        <p:sp>
          <p:nvSpPr>
            <p:cNvPr id="40" name="Rectangle 40"/>
            <p:cNvSpPr/>
            <p:nvPr/>
          </p:nvSpPr>
          <p:spPr>
            <a:xfrm>
              <a:off x="8782050" y="3390900"/>
              <a:ext cx="1238250" cy="285750"/>
            </a:xfrm>
            <a:prstGeom prst="roundRect">
              <a:avLst>
                <a:gd name="adj" fmla="val 13333"/>
              </a:avLst>
            </a:prstGeom>
            <a:solidFill>
              <a:srgbClr val="E4EEFB"/>
            </a:solidFill>
            <a:ln w="9525">
              <a:solidFill>
                <a:srgbClr val="C9DDF5"/>
              </a:solidFill>
            </a:ln>
          </p:spPr>
        </p:sp>
        <p:sp>
          <p:nvSpPr>
            <p:cNvPr id="41" name="TextBox 41"/>
            <p:cNvSpPr txBox="1"/>
            <p:nvPr/>
          </p:nvSpPr>
          <p:spPr>
            <a:xfrm>
              <a:off x="9132367" y="3485674"/>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挂职锻炼</a:t>
              </a:r>
            </a:p>
          </p:txBody>
        </p:sp>
        <p:sp>
          <p:nvSpPr>
            <p:cNvPr id="42" name="Rectangle 42"/>
            <p:cNvSpPr/>
            <p:nvPr/>
          </p:nvSpPr>
          <p:spPr>
            <a:xfrm>
              <a:off x="10134600" y="3390900"/>
              <a:ext cx="1238250" cy="285750"/>
            </a:xfrm>
            <a:prstGeom prst="roundRect">
              <a:avLst>
                <a:gd name="adj" fmla="val 13333"/>
              </a:avLst>
            </a:prstGeom>
            <a:solidFill>
              <a:srgbClr val="E4EEFB"/>
            </a:solidFill>
            <a:ln w="9525">
              <a:solidFill>
                <a:srgbClr val="C9DDF5"/>
              </a:solidFill>
            </a:ln>
          </p:spPr>
        </p:sp>
        <p:sp>
          <p:nvSpPr>
            <p:cNvPr id="43" name="TextBox 43"/>
            <p:cNvSpPr txBox="1"/>
            <p:nvPr/>
          </p:nvSpPr>
          <p:spPr>
            <a:xfrm>
              <a:off x="10484917" y="3485674"/>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绩效结果</a:t>
              </a:r>
            </a:p>
          </p:txBody>
        </p:sp>
        <p:sp>
          <p:nvSpPr>
            <p:cNvPr id="44" name="Rectangle 44"/>
            <p:cNvSpPr/>
            <p:nvPr/>
          </p:nvSpPr>
          <p:spPr>
            <a:xfrm>
              <a:off x="8782050" y="3829050"/>
              <a:ext cx="2590800" cy="285750"/>
            </a:xfrm>
            <a:prstGeom prst="roundRect">
              <a:avLst>
                <a:gd name="adj" fmla="val 13333"/>
              </a:avLst>
            </a:prstGeom>
            <a:solidFill>
              <a:srgbClr val="E4EEFB"/>
            </a:solidFill>
            <a:ln w="9525">
              <a:solidFill>
                <a:srgbClr val="C9DDF5"/>
              </a:solidFill>
            </a:ln>
          </p:spPr>
        </p:sp>
        <p:sp>
          <p:nvSpPr>
            <p:cNvPr id="45" name="TextBox 45"/>
            <p:cNvSpPr txBox="1"/>
            <p:nvPr/>
          </p:nvSpPr>
          <p:spPr>
            <a:xfrm>
              <a:off x="9808642" y="3923824"/>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课题研究</a:t>
              </a:r>
            </a:p>
          </p:txBody>
        </p:sp>
      </p:grpSp>
      <p:grpSp>
        <p:nvGrpSpPr>
          <p:cNvPr id="55" name="results-band"/>
          <p:cNvGrpSpPr/>
          <p:nvPr/>
        </p:nvGrpSpPr>
        <p:grpSpPr>
          <a:xfrm>
            <a:off x="381000" y="4819650"/>
            <a:ext cx="11430000" cy="1714500"/>
            <a:chOff x="381000" y="4819650"/>
            <a:chExt cx="11430000" cy="1714500"/>
          </a:xfrm>
        </p:grpSpPr>
        <p:sp>
          <p:nvSpPr>
            <p:cNvPr id="47" name="Polygon 47"/>
            <p:cNvSpPr/>
            <p:nvPr/>
          </p:nvSpPr>
          <p:spPr>
            <a:xfrm>
              <a:off x="381000" y="4819650"/>
              <a:ext cx="11430000" cy="152400"/>
            </a:xfrm>
            <a:custGeom>
              <a:avLst/>
              <a:gdLst/>
              <a:ahLst/>
              <a:cxnLst/>
              <a:rect l="l" t="t" r="r" b="b"/>
              <a:pathLst>
                <a:path w="11430000" h="152400">
                  <a:moveTo>
                    <a:pt x="381000" y="0"/>
                  </a:moveTo>
                  <a:lnTo>
                    <a:pt x="11049000" y="0"/>
                  </a:lnTo>
                  <a:lnTo>
                    <a:pt x="11430000" y="152400"/>
                  </a:lnTo>
                  <a:lnTo>
                    <a:pt x="0" y="152400"/>
                  </a:lnTo>
                  <a:close/>
                </a:path>
              </a:pathLst>
            </a:custGeom>
            <a:solidFill>
              <a:srgbClr val="F5927E"/>
            </a:solidFill>
            <a:ln>
              <a:noFill/>
            </a:ln>
          </p:spPr>
        </p:sp>
        <p:sp>
          <p:nvSpPr>
            <p:cNvPr id="48" name="Rectangle 48"/>
            <p:cNvSpPr/>
            <p:nvPr/>
          </p:nvSpPr>
          <p:spPr>
            <a:xfrm>
              <a:off x="381000" y="4972050"/>
              <a:ext cx="11430000" cy="1562100"/>
            </a:xfrm>
            <a:prstGeom prst="rect">
              <a:avLst/>
            </a:prstGeom>
            <a:gradFill>
              <a:gsLst>
                <a:gs pos="0">
                  <a:srgbClr val="FF5B3A"/>
                </a:gs>
                <a:gs pos="50000">
                  <a:srgbClr val="E94B2B"/>
                </a:gs>
                <a:gs pos="100000">
                  <a:srgbClr val="FF5B3A"/>
                </a:gs>
              </a:gsLst>
              <a:lin ang="0" scaled="1"/>
            </a:gradFill>
            <a:ln>
              <a:noFill/>
            </a:ln>
          </p:spPr>
        </p:sp>
        <p:sp>
          <p:nvSpPr>
            <p:cNvPr id="49" name="Ellipse 49"/>
            <p:cNvSpPr/>
            <p:nvPr/>
          </p:nvSpPr>
          <p:spPr>
            <a:xfrm>
              <a:off x="1390650" y="5314950"/>
              <a:ext cx="76200" cy="76200"/>
            </a:xfrm>
            <a:prstGeom prst="ellipse">
              <a:avLst/>
            </a:prstGeom>
            <a:solidFill>
              <a:srgbClr val="FFFFFF"/>
            </a:solidFill>
            <a:ln>
              <a:noFill/>
            </a:ln>
          </p:spPr>
        </p:sp>
        <p:sp>
          <p:nvSpPr>
            <p:cNvPr id="50" name="TextBox 50"/>
            <p:cNvSpPr txBox="1"/>
            <p:nvPr/>
          </p:nvSpPr>
          <p:spPr>
            <a:xfrm>
              <a:off x="1613535" y="5288756"/>
              <a:ext cx="4044645" cy="220028"/>
            </a:xfrm>
            <a:prstGeom prst="rect">
              <a:avLst/>
            </a:prstGeom>
            <a:noFill/>
            <a:ln>
              <a:noFill/>
            </a:ln>
          </p:spPr>
          <p:txBody>
            <a:bodyPr wrap="none" lIns="0" tIns="0" rIns="0" bIns="0" anchor="t" anchorCtr="0">
              <a:spAutoFit/>
            </a:bodyPr>
            <a:lstStyle/>
            <a:p>
              <a:pPr algn="l"/>
              <a:r>
                <a:rPr lang="zh-CN" sz="1120" dirty="0">
                  <a:solidFill>
                    <a:srgbClr val="FFFFFF"/>
                  </a:solidFill>
                  <a:latin typeface="+mn-lt"/>
                  <a:ea typeface="+mn-ea"/>
                  <a:cs typeface="+mn-cs"/>
                </a:rPr>
                <a:t>根据积分实行青年骨干动态管理：调整35人出池，增补62人​</a:t>
              </a:r>
            </a:p>
          </p:txBody>
        </p:sp>
        <p:sp>
          <p:nvSpPr>
            <p:cNvPr id="51" name="Ellipse 51"/>
            <p:cNvSpPr/>
            <p:nvPr/>
          </p:nvSpPr>
          <p:spPr>
            <a:xfrm>
              <a:off x="1390650" y="5715000"/>
              <a:ext cx="76200" cy="76200"/>
            </a:xfrm>
            <a:prstGeom prst="ellipse">
              <a:avLst/>
            </a:prstGeom>
            <a:solidFill>
              <a:srgbClr val="FFFFFF"/>
            </a:solidFill>
            <a:ln>
              <a:noFill/>
            </a:ln>
          </p:spPr>
        </p:sp>
        <p:sp>
          <p:nvSpPr>
            <p:cNvPr id="52" name="TextBox 52"/>
            <p:cNvSpPr txBox="1"/>
            <p:nvPr/>
          </p:nvSpPr>
          <p:spPr>
            <a:xfrm>
              <a:off x="1613535" y="5688806"/>
              <a:ext cx="5032218" cy="220028"/>
            </a:xfrm>
            <a:prstGeom prst="rect">
              <a:avLst/>
            </a:prstGeom>
            <a:noFill/>
            <a:ln>
              <a:noFill/>
            </a:ln>
          </p:spPr>
          <p:txBody>
            <a:bodyPr wrap="none" lIns="0" tIns="0" rIns="0" bIns="0" anchor="t" anchorCtr="0">
              <a:spAutoFit/>
            </a:bodyPr>
            <a:lstStyle/>
            <a:p>
              <a:pPr algn="l"/>
              <a:r>
                <a:rPr lang="zh-CN" sz="1120" dirty="0">
                  <a:solidFill>
                    <a:srgbClr val="FFFFFF"/>
                  </a:solidFill>
                  <a:latin typeface="+mn-lt"/>
                  <a:ea typeface="+mn-ea"/>
                  <a:cs typeface="+mn-cs"/>
                </a:rPr>
                <a:t>组织134名青年骨干开展专业培训、课题研究，98名青年骨干开展交叉挂职​</a:t>
              </a:r>
            </a:p>
          </p:txBody>
        </p:sp>
        <p:sp>
          <p:nvSpPr>
            <p:cNvPr id="53" name="Ellipse 53"/>
            <p:cNvSpPr/>
            <p:nvPr/>
          </p:nvSpPr>
          <p:spPr>
            <a:xfrm>
              <a:off x="1390650" y="6115050"/>
              <a:ext cx="76200" cy="76200"/>
            </a:xfrm>
            <a:prstGeom prst="ellipse">
              <a:avLst/>
            </a:prstGeom>
            <a:solidFill>
              <a:srgbClr val="FFFFFF"/>
            </a:solidFill>
            <a:ln>
              <a:noFill/>
            </a:ln>
          </p:spPr>
        </p:sp>
        <p:sp>
          <p:nvSpPr>
            <p:cNvPr id="54" name="TextBox 54"/>
            <p:cNvSpPr txBox="1"/>
            <p:nvPr/>
          </p:nvSpPr>
          <p:spPr>
            <a:xfrm>
              <a:off x="1613535" y="6088856"/>
              <a:ext cx="3961719" cy="220028"/>
            </a:xfrm>
            <a:prstGeom prst="rect">
              <a:avLst/>
            </a:prstGeom>
            <a:noFill/>
            <a:ln>
              <a:noFill/>
            </a:ln>
          </p:spPr>
          <p:txBody>
            <a:bodyPr wrap="none" lIns="0" tIns="0" rIns="0" bIns="0" anchor="t" anchorCtr="0">
              <a:spAutoFit/>
            </a:bodyPr>
            <a:lstStyle/>
            <a:p>
              <a:pPr algn="l"/>
              <a:r>
                <a:rPr lang="zh-CN" sz="1120" dirty="0">
                  <a:solidFill>
                    <a:srgbClr val="FFFFFF"/>
                  </a:solidFill>
                  <a:latin typeface="+mn-lt"/>
                  <a:ea typeface="+mn-ea"/>
                  <a:cs typeface="+mn-cs"/>
                </a:rPr>
                <a:t>开展新一届青年新秀选拔，选拔230人纳入新一期青年新秀​</a:t>
              </a:r>
            </a:p>
          </p:txBody>
        </p:sp>
      </p:gr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Line 2"/>
          <p:cNvSpPr/>
          <p:nvPr/>
        </p:nvSpPr>
        <p:spPr>
          <a:xfrm>
            <a:off x="1333500" y="2381250"/>
            <a:ext cx="1" cy="2095500"/>
          </a:xfrm>
          <a:prstGeom prst="line">
            <a:avLst/>
          </a:prstGeom>
          <a:noFill/>
          <a:ln w="14288">
            <a:solidFill>
              <a:srgbClr val="F5927E"/>
            </a:solidFill>
            <a:prstDash val="dash"/>
            <a:tailEnd type="triangle" w="lg" len="lg"/>
          </a:ln>
        </p:spPr>
      </p:sp>
      <p:sp>
        <p:nvSpPr>
          <p:cNvPr id="3" name="Line 3"/>
          <p:cNvSpPr/>
          <p:nvPr/>
        </p:nvSpPr>
        <p:spPr>
          <a:xfrm>
            <a:off x="3238500" y="2381250"/>
            <a:ext cx="1" cy="2095500"/>
          </a:xfrm>
          <a:prstGeom prst="line">
            <a:avLst/>
          </a:prstGeom>
          <a:noFill/>
          <a:ln w="14288">
            <a:solidFill>
              <a:srgbClr val="F5927E"/>
            </a:solidFill>
            <a:prstDash val="dash"/>
            <a:tailEnd type="triangle" w="lg" len="lg"/>
          </a:ln>
        </p:spPr>
      </p:sp>
      <p:sp>
        <p:nvSpPr>
          <p:cNvPr id="4" name="Line 4"/>
          <p:cNvSpPr/>
          <p:nvPr/>
        </p:nvSpPr>
        <p:spPr>
          <a:xfrm>
            <a:off x="5143500" y="2381250"/>
            <a:ext cx="9525" cy="209550"/>
          </a:xfrm>
          <a:custGeom>
            <a:avLst/>
            <a:gdLst/>
            <a:ahLst/>
            <a:cxnLst/>
            <a:rect l="l" t="t" r="r" b="b"/>
            <a:pathLst>
              <a:path w="9525" h="209550">
                <a:moveTo>
                  <a:pt x="0" y="0"/>
                </a:moveTo>
                <a:lnTo>
                  <a:pt x="0" y="209550"/>
                </a:lnTo>
              </a:path>
            </a:pathLst>
          </a:custGeom>
          <a:noFill/>
          <a:ln w="14288">
            <a:solidFill>
              <a:srgbClr val="F5927E"/>
            </a:solidFill>
            <a:prstDash val="dash"/>
          </a:ln>
        </p:spPr>
      </p:sp>
      <p:sp>
        <p:nvSpPr>
          <p:cNvPr id="5" name="Line 5"/>
          <p:cNvSpPr/>
          <p:nvPr/>
        </p:nvSpPr>
        <p:spPr>
          <a:xfrm>
            <a:off x="7048500" y="2381250"/>
            <a:ext cx="9525" cy="209550"/>
          </a:xfrm>
          <a:custGeom>
            <a:avLst/>
            <a:gdLst/>
            <a:ahLst/>
            <a:cxnLst/>
            <a:rect l="l" t="t" r="r" b="b"/>
            <a:pathLst>
              <a:path w="9525" h="209550">
                <a:moveTo>
                  <a:pt x="0" y="0"/>
                </a:moveTo>
                <a:lnTo>
                  <a:pt x="0" y="209550"/>
                </a:lnTo>
              </a:path>
            </a:pathLst>
          </a:custGeom>
          <a:noFill/>
          <a:ln w="14288">
            <a:solidFill>
              <a:srgbClr val="F5927E"/>
            </a:solidFill>
            <a:prstDash val="dash"/>
          </a:ln>
        </p:spPr>
      </p:sp>
      <p:sp>
        <p:nvSpPr>
          <p:cNvPr id="6" name="Line 6"/>
          <p:cNvSpPr/>
          <p:nvPr/>
        </p:nvSpPr>
        <p:spPr>
          <a:xfrm>
            <a:off x="8953500" y="2381250"/>
            <a:ext cx="1" cy="2095500"/>
          </a:xfrm>
          <a:prstGeom prst="line">
            <a:avLst/>
          </a:prstGeom>
          <a:noFill/>
          <a:ln w="14288">
            <a:solidFill>
              <a:srgbClr val="F5927E"/>
            </a:solidFill>
            <a:prstDash val="dash"/>
            <a:tailEnd type="triangle" w="lg" len="lg"/>
          </a:ln>
        </p:spPr>
      </p:sp>
      <p:sp>
        <p:nvSpPr>
          <p:cNvPr id="7" name="Line 7"/>
          <p:cNvSpPr/>
          <p:nvPr/>
        </p:nvSpPr>
        <p:spPr>
          <a:xfrm>
            <a:off x="10858500" y="2381250"/>
            <a:ext cx="1" cy="2095500"/>
          </a:xfrm>
          <a:prstGeom prst="line">
            <a:avLst/>
          </a:prstGeom>
          <a:noFill/>
          <a:ln w="14288">
            <a:solidFill>
              <a:srgbClr val="F5927E"/>
            </a:solidFill>
            <a:prstDash val="dash"/>
            <a:tailEnd type="triangle" w="lg" len="lg"/>
          </a:ln>
        </p:spPr>
      </p:sp>
      <p:sp>
        <p:nvSpPr>
          <p:cNvPr id="8" name="Line 8"/>
          <p:cNvSpPr/>
          <p:nvPr/>
        </p:nvSpPr>
        <p:spPr>
          <a:xfrm>
            <a:off x="1333500" y="3733800"/>
            <a:ext cx="3619500" cy="9525"/>
          </a:xfrm>
          <a:custGeom>
            <a:avLst/>
            <a:gdLst/>
            <a:ahLst/>
            <a:cxnLst/>
            <a:rect l="l" t="t" r="r" b="b"/>
            <a:pathLst>
              <a:path w="3619500" h="9525">
                <a:moveTo>
                  <a:pt x="0" y="0"/>
                </a:moveTo>
                <a:lnTo>
                  <a:pt x="3619500" y="0"/>
                </a:lnTo>
              </a:path>
            </a:pathLst>
          </a:custGeom>
          <a:noFill/>
          <a:ln w="14288">
            <a:solidFill>
              <a:srgbClr val="F5927E"/>
            </a:solidFill>
            <a:prstDash val="dash"/>
          </a:ln>
        </p:spPr>
      </p:sp>
      <p:sp>
        <p:nvSpPr>
          <p:cNvPr id="9" name="Line 9"/>
          <p:cNvSpPr/>
          <p:nvPr/>
        </p:nvSpPr>
        <p:spPr>
          <a:xfrm>
            <a:off x="7239000" y="3733800"/>
            <a:ext cx="3619500" cy="9525"/>
          </a:xfrm>
          <a:custGeom>
            <a:avLst/>
            <a:gdLst/>
            <a:ahLst/>
            <a:cxnLst/>
            <a:rect l="l" t="t" r="r" b="b"/>
            <a:pathLst>
              <a:path w="3619500" h="9525">
                <a:moveTo>
                  <a:pt x="0" y="0"/>
                </a:moveTo>
                <a:lnTo>
                  <a:pt x="3619500" y="0"/>
                </a:lnTo>
              </a:path>
            </a:pathLst>
          </a:custGeom>
          <a:noFill/>
          <a:ln w="14288">
            <a:solidFill>
              <a:srgbClr val="F5927E"/>
            </a:solidFill>
            <a:prstDash val="dash"/>
          </a:ln>
        </p:spPr>
      </p:sp>
      <p:grpSp>
        <p:nvGrpSpPr>
          <p:cNvPr id="14" name="page-header"/>
          <p:cNvGrpSpPr/>
          <p:nvPr/>
        </p:nvGrpSpPr>
        <p:grpSpPr>
          <a:xfrm>
            <a:off x="0" y="0"/>
            <a:ext cx="11811000" cy="561404"/>
            <a:chOff x="0" y="0"/>
            <a:chExt cx="11811000" cy="561404"/>
          </a:xfrm>
        </p:grpSpPr>
        <p:sp>
          <p:nvSpPr>
            <p:cNvPr id="10" name="Polygon 10"/>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11" name="TextBox 11"/>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16</a:t>
              </a:r>
            </a:p>
          </p:txBody>
        </p:sp>
        <p:sp>
          <p:nvSpPr>
            <p:cNvPr id="12" name="TextBox 12"/>
            <p:cNvSpPr txBox="1"/>
            <p:nvPr/>
          </p:nvSpPr>
          <p:spPr>
            <a:xfrm>
              <a:off x="904494" y="180023"/>
              <a:ext cx="2238756"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磁力引擎营销模型</a:t>
              </a:r>
            </a:p>
          </p:txBody>
        </p:sp>
        <p:sp>
          <p:nvSpPr>
            <p:cNvPr id="13" name="Line 13"/>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25" name="cap-traffic"/>
          <p:cNvGrpSpPr/>
          <p:nvPr/>
        </p:nvGrpSpPr>
        <p:grpSpPr>
          <a:xfrm>
            <a:off x="619125" y="876300"/>
            <a:ext cx="1428750" cy="1428750"/>
            <a:chOff x="619125" y="876300"/>
            <a:chExt cx="1428750" cy="1428750"/>
          </a:xfrm>
        </p:grpSpPr>
        <p:sp>
          <p:nvSpPr>
            <p:cNvPr id="15" name="Rectangle 15"/>
            <p:cNvSpPr/>
            <p:nvPr/>
          </p:nvSpPr>
          <p:spPr>
            <a:xfrm>
              <a:off x="619125" y="876300"/>
              <a:ext cx="1428750" cy="1428750"/>
            </a:xfrm>
            <a:prstGeom prst="roundRect">
              <a:avLst>
                <a:gd name="adj" fmla="val 2667"/>
              </a:avLst>
            </a:prstGeom>
            <a:gradFill>
              <a:gsLst>
                <a:gs pos="0">
                  <a:srgbClr val="EAF3FD"/>
                </a:gs>
                <a:gs pos="100000">
                  <a:srgbClr val="D0E2F8"/>
                </a:gs>
              </a:gsLst>
              <a:lin ang="5400000" scaled="1"/>
            </a:gradFill>
            <a:ln w="9525">
              <a:solidFill>
                <a:srgbClr val="C9DDF5"/>
              </a:solidFill>
            </a:ln>
          </p:spPr>
        </p:sp>
        <p:sp>
          <p:nvSpPr>
            <p:cNvPr id="16" name="Ellipse 16"/>
            <p:cNvSpPr/>
            <p:nvPr/>
          </p:nvSpPr>
          <p:spPr>
            <a:xfrm>
              <a:off x="1123950" y="1028700"/>
              <a:ext cx="419100" cy="419100"/>
            </a:xfrm>
            <a:prstGeom prst="ellipse">
              <a:avLst/>
            </a:prstGeom>
            <a:solidFill>
              <a:srgbClr val="E94B2B"/>
            </a:solidFill>
            <a:ln>
              <a:noFill/>
            </a:ln>
          </p:spPr>
        </p:sp>
        <p:grpSp>
          <p:nvGrpSpPr>
            <p:cNvPr id="22" name="Group 22"/>
            <p:cNvGrpSpPr/>
            <p:nvPr/>
          </p:nvGrpSpPr>
          <p:grpSpPr>
            <a:xfrm>
              <a:off x="1247775" y="1151249"/>
              <a:ext cx="171450" cy="172726"/>
              <a:chOff x="1247775" y="1151249"/>
              <a:chExt cx="171450" cy="172726"/>
            </a:xfrm>
          </p:grpSpPr>
          <p:sp>
            <p:nvSpPr>
              <p:cNvPr id="17" name="Freeform 17"/>
              <p:cNvSpPr/>
              <p:nvPr/>
            </p:nvSpPr>
            <p:spPr>
              <a:xfrm>
                <a:off x="1304925" y="122872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FFFFFF"/>
                </a:solidFill>
              </a:ln>
            </p:spPr>
          </p:sp>
          <p:sp>
            <p:nvSpPr>
              <p:cNvPr id="18" name="Freeform 18"/>
              <p:cNvSpPr/>
              <p:nvPr/>
            </p:nvSpPr>
            <p:spPr>
              <a:xfrm>
                <a:off x="1304925" y="125730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FFFFFF"/>
                </a:solidFill>
              </a:ln>
            </p:spPr>
          </p:sp>
          <p:sp>
            <p:nvSpPr>
              <p:cNvPr id="19" name="Freeform 19"/>
              <p:cNvSpPr/>
              <p:nvPr/>
            </p:nvSpPr>
            <p:spPr>
              <a:xfrm>
                <a:off x="1247775" y="115124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FFFFFF"/>
                </a:solidFill>
              </a:ln>
            </p:spPr>
          </p:sp>
          <p:sp>
            <p:nvSpPr>
              <p:cNvPr id="20" name="Freeform 20"/>
              <p:cNvSpPr/>
              <p:nvPr/>
            </p:nvSpPr>
            <p:spPr>
              <a:xfrm>
                <a:off x="1247775" y="118110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FFFFFF"/>
                </a:solidFill>
              </a:ln>
            </p:spPr>
          </p:sp>
          <p:sp>
            <p:nvSpPr>
              <p:cNvPr id="21" name="Freeform 21"/>
              <p:cNvSpPr/>
              <p:nvPr/>
            </p:nvSpPr>
            <p:spPr>
              <a:xfrm>
                <a:off x="1247775" y="122872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FFFFFF"/>
                </a:solidFill>
              </a:ln>
            </p:spPr>
          </p:sp>
        </p:grpSp>
        <p:sp>
          <p:nvSpPr>
            <p:cNvPr id="23" name="TextBox 23"/>
            <p:cNvSpPr txBox="1"/>
            <p:nvPr/>
          </p:nvSpPr>
          <p:spPr>
            <a:xfrm>
              <a:off x="1026236" y="1650206"/>
              <a:ext cx="614528" cy="220028"/>
            </a:xfrm>
            <a:prstGeom prst="rect">
              <a:avLst/>
            </a:prstGeom>
            <a:noFill/>
            <a:ln>
              <a:noFill/>
            </a:ln>
          </p:spPr>
          <p:txBody>
            <a:bodyPr wrap="none" lIns="0" tIns="0" rIns="0" bIns="0" anchor="t" anchorCtr="0">
              <a:spAutoFit/>
            </a:bodyPr>
            <a:lstStyle/>
            <a:p>
              <a:pPr algn="ctr"/>
              <a:r>
                <a:rPr lang="zh-CN" sz="1120" b="1" dirty="0">
                  <a:solidFill>
                    <a:srgbClr val="E94B2B"/>
                  </a:solidFill>
                  <a:latin typeface="+mn-lt"/>
                  <a:ea typeface="+mn-ea"/>
                  <a:cs typeface="+mn-cs"/>
                </a:rPr>
                <a:t>流量提效</a:t>
              </a:r>
            </a:p>
          </p:txBody>
        </p:sp>
        <p:sp>
          <p:nvSpPr>
            <p:cNvPr id="24" name="TextBox 24"/>
            <p:cNvSpPr txBox="1"/>
            <p:nvPr/>
          </p:nvSpPr>
          <p:spPr>
            <a:xfrm>
              <a:off x="923531" y="1888093"/>
              <a:ext cx="81993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全链路产品矩阵</a:t>
              </a:r>
            </a:p>
          </p:txBody>
        </p:sp>
      </p:grpSp>
      <p:grpSp>
        <p:nvGrpSpPr>
          <p:cNvPr id="34" name="cap-reach"/>
          <p:cNvGrpSpPr/>
          <p:nvPr/>
        </p:nvGrpSpPr>
        <p:grpSpPr>
          <a:xfrm>
            <a:off x="2524125" y="876300"/>
            <a:ext cx="1428750" cy="1428750"/>
            <a:chOff x="2524125" y="876300"/>
            <a:chExt cx="1428750" cy="1428750"/>
          </a:xfrm>
        </p:grpSpPr>
        <p:sp>
          <p:nvSpPr>
            <p:cNvPr id="26" name="Rectangle 26"/>
            <p:cNvSpPr/>
            <p:nvPr/>
          </p:nvSpPr>
          <p:spPr>
            <a:xfrm>
              <a:off x="2524125" y="876300"/>
              <a:ext cx="1428750" cy="1428750"/>
            </a:xfrm>
            <a:prstGeom prst="roundRect">
              <a:avLst>
                <a:gd name="adj" fmla="val 2667"/>
              </a:avLst>
            </a:prstGeom>
            <a:gradFill>
              <a:gsLst>
                <a:gs pos="0">
                  <a:srgbClr val="EAF3FD"/>
                </a:gs>
                <a:gs pos="100000">
                  <a:srgbClr val="D0E2F8"/>
                </a:gs>
              </a:gsLst>
              <a:lin ang="5400000" scaled="1"/>
            </a:gradFill>
            <a:ln w="9525">
              <a:solidFill>
                <a:srgbClr val="C9DDF5"/>
              </a:solidFill>
            </a:ln>
          </p:spPr>
        </p:sp>
        <p:sp>
          <p:nvSpPr>
            <p:cNvPr id="27" name="Ellipse 27"/>
            <p:cNvSpPr/>
            <p:nvPr/>
          </p:nvSpPr>
          <p:spPr>
            <a:xfrm>
              <a:off x="3028950" y="1028700"/>
              <a:ext cx="419100" cy="419100"/>
            </a:xfrm>
            <a:prstGeom prst="ellipse">
              <a:avLst/>
            </a:prstGeom>
            <a:solidFill>
              <a:srgbClr val="E94B2B"/>
            </a:solidFill>
            <a:ln>
              <a:noFill/>
            </a:ln>
          </p:spPr>
        </p:sp>
        <p:grpSp>
          <p:nvGrpSpPr>
            <p:cNvPr id="31" name="Group 31"/>
            <p:cNvGrpSpPr/>
            <p:nvPr/>
          </p:nvGrpSpPr>
          <p:grpSpPr>
            <a:xfrm>
              <a:off x="3181350" y="1152525"/>
              <a:ext cx="114300" cy="171450"/>
              <a:chOff x="3181350" y="1152525"/>
              <a:chExt cx="114300" cy="171450"/>
            </a:xfrm>
          </p:grpSpPr>
          <p:sp>
            <p:nvSpPr>
              <p:cNvPr id="28" name="Freeform 28"/>
              <p:cNvSpPr/>
              <p:nvPr/>
            </p:nvSpPr>
            <p:spPr>
              <a:xfrm>
                <a:off x="3181350" y="1152525"/>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9050">
                <a:solidFill>
                  <a:srgbClr val="FFFFFF"/>
                </a:solidFill>
              </a:ln>
            </p:spPr>
          </p:sp>
          <p:sp>
            <p:nvSpPr>
              <p:cNvPr id="29" name="Freeform 29"/>
              <p:cNvSpPr/>
              <p:nvPr/>
            </p:nvSpPr>
            <p:spPr>
              <a:xfrm>
                <a:off x="3228975" y="1162050"/>
                <a:ext cx="19050" cy="9525"/>
              </a:xfrm>
              <a:custGeom>
                <a:avLst/>
                <a:gdLst/>
                <a:ahLst/>
                <a:cxnLst/>
                <a:rect l="l" t="t" r="r" b="b"/>
                <a:pathLst>
                  <a:path w="19050" h="9525">
                    <a:moveTo>
                      <a:pt x="0" y="0"/>
                    </a:moveTo>
                    <a:lnTo>
                      <a:pt x="19050" y="0"/>
                    </a:lnTo>
                  </a:path>
                </a:pathLst>
              </a:custGeom>
              <a:noFill/>
              <a:ln w="19050">
                <a:solidFill>
                  <a:srgbClr val="FFFFFF"/>
                </a:solidFill>
              </a:ln>
            </p:spPr>
          </p:sp>
          <p:sp>
            <p:nvSpPr>
              <p:cNvPr id="30" name="Freeform 30"/>
              <p:cNvSpPr/>
              <p:nvPr/>
            </p:nvSpPr>
            <p:spPr>
              <a:xfrm>
                <a:off x="3238500" y="1285875"/>
                <a:ext cx="9525" cy="9525"/>
              </a:xfrm>
              <a:custGeom>
                <a:avLst/>
                <a:gdLst/>
                <a:ahLst/>
                <a:cxnLst/>
                <a:rect l="l" t="t" r="r" b="b"/>
                <a:pathLst>
                  <a:path w="9525" h="9525">
                    <a:moveTo>
                      <a:pt x="0" y="0"/>
                    </a:moveTo>
                    <a:lnTo>
                      <a:pt x="0" y="95"/>
                    </a:lnTo>
                  </a:path>
                </a:pathLst>
              </a:custGeom>
              <a:noFill/>
              <a:ln w="19050">
                <a:solidFill>
                  <a:srgbClr val="FFFFFF"/>
                </a:solidFill>
              </a:ln>
            </p:spPr>
          </p:sp>
        </p:grpSp>
        <p:sp>
          <p:nvSpPr>
            <p:cNvPr id="32" name="TextBox 32"/>
            <p:cNvSpPr txBox="1"/>
            <p:nvPr/>
          </p:nvSpPr>
          <p:spPr>
            <a:xfrm>
              <a:off x="2931236" y="1650206"/>
              <a:ext cx="614528" cy="220028"/>
            </a:xfrm>
            <a:prstGeom prst="rect">
              <a:avLst/>
            </a:prstGeom>
            <a:noFill/>
            <a:ln>
              <a:noFill/>
            </a:ln>
          </p:spPr>
          <p:txBody>
            <a:bodyPr wrap="none" lIns="0" tIns="0" rIns="0" bIns="0" anchor="t" anchorCtr="0">
              <a:spAutoFit/>
            </a:bodyPr>
            <a:lstStyle/>
            <a:p>
              <a:pPr algn="ctr"/>
              <a:r>
                <a:rPr lang="zh-CN" sz="1120" b="1" dirty="0">
                  <a:solidFill>
                    <a:srgbClr val="E94B2B"/>
                  </a:solidFill>
                  <a:latin typeface="+mn-lt"/>
                  <a:ea typeface="+mn-ea"/>
                  <a:cs typeface="+mn-cs"/>
                </a:rPr>
                <a:t>触达提效</a:t>
              </a:r>
            </a:p>
          </p:txBody>
        </p:sp>
        <p:sp>
          <p:nvSpPr>
            <p:cNvPr id="33" name="TextBox 33"/>
            <p:cNvSpPr txBox="1"/>
            <p:nvPr/>
          </p:nvSpPr>
          <p:spPr>
            <a:xfrm>
              <a:off x="2678026" y="1888093"/>
              <a:ext cx="112094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开屏 信息层 品牌管理</a:t>
              </a:r>
            </a:p>
          </p:txBody>
        </p:sp>
      </p:grpSp>
      <p:grpSp>
        <p:nvGrpSpPr>
          <p:cNvPr id="43" name="cap-inspire"/>
          <p:cNvGrpSpPr/>
          <p:nvPr/>
        </p:nvGrpSpPr>
        <p:grpSpPr>
          <a:xfrm>
            <a:off x="4429125" y="876300"/>
            <a:ext cx="1428750" cy="1428750"/>
            <a:chOff x="4429125" y="876300"/>
            <a:chExt cx="1428750" cy="1428750"/>
          </a:xfrm>
        </p:grpSpPr>
        <p:sp>
          <p:nvSpPr>
            <p:cNvPr id="35" name="Rectangle 35"/>
            <p:cNvSpPr/>
            <p:nvPr/>
          </p:nvSpPr>
          <p:spPr>
            <a:xfrm>
              <a:off x="4429125" y="876300"/>
              <a:ext cx="1428750" cy="1428750"/>
            </a:xfrm>
            <a:prstGeom prst="roundRect">
              <a:avLst>
                <a:gd name="adj" fmla="val 2667"/>
              </a:avLst>
            </a:prstGeom>
            <a:gradFill>
              <a:gsLst>
                <a:gs pos="0">
                  <a:srgbClr val="EAF3FD"/>
                </a:gs>
                <a:gs pos="100000">
                  <a:srgbClr val="D0E2F8"/>
                </a:gs>
              </a:gsLst>
              <a:lin ang="5400000" scaled="1"/>
            </a:gradFill>
            <a:ln w="9525">
              <a:solidFill>
                <a:srgbClr val="C9DDF5"/>
              </a:solidFill>
            </a:ln>
          </p:spPr>
        </p:sp>
        <p:sp>
          <p:nvSpPr>
            <p:cNvPr id="36" name="Ellipse 36"/>
            <p:cNvSpPr/>
            <p:nvPr/>
          </p:nvSpPr>
          <p:spPr>
            <a:xfrm>
              <a:off x="4933950" y="1028700"/>
              <a:ext cx="419100" cy="419100"/>
            </a:xfrm>
            <a:prstGeom prst="ellipse">
              <a:avLst/>
            </a:prstGeom>
            <a:solidFill>
              <a:srgbClr val="E94B2B"/>
            </a:solidFill>
            <a:ln>
              <a:noFill/>
            </a:ln>
          </p:spPr>
        </p:sp>
        <p:grpSp>
          <p:nvGrpSpPr>
            <p:cNvPr id="40" name="Group 40"/>
            <p:cNvGrpSpPr/>
            <p:nvPr/>
          </p:nvGrpSpPr>
          <p:grpSpPr>
            <a:xfrm>
              <a:off x="5061604" y="1152525"/>
              <a:ext cx="163773" cy="170402"/>
              <a:chOff x="5061604" y="1152525"/>
              <a:chExt cx="163773" cy="170402"/>
            </a:xfrm>
          </p:grpSpPr>
          <p:sp>
            <p:nvSpPr>
              <p:cNvPr id="37" name="Freeform 37"/>
              <p:cNvSpPr/>
              <p:nvPr/>
            </p:nvSpPr>
            <p:spPr>
              <a:xfrm>
                <a:off x="5086350" y="11525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FFFFFF"/>
                </a:solidFill>
              </a:ln>
            </p:spPr>
          </p:sp>
          <p:sp>
            <p:nvSpPr>
              <p:cNvPr id="38" name="Freeform 38"/>
              <p:cNvSpPr/>
              <p:nvPr/>
            </p:nvSpPr>
            <p:spPr>
              <a:xfrm>
                <a:off x="5143500" y="123825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FFFFFF"/>
                </a:solidFill>
              </a:ln>
            </p:spPr>
          </p:sp>
          <p:sp>
            <p:nvSpPr>
              <p:cNvPr id="39" name="Freeform 39"/>
              <p:cNvSpPr/>
              <p:nvPr/>
            </p:nvSpPr>
            <p:spPr>
              <a:xfrm>
                <a:off x="5061604" y="123825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FFFFFF"/>
                </a:solidFill>
              </a:ln>
            </p:spPr>
          </p:sp>
        </p:grpSp>
        <p:sp>
          <p:nvSpPr>
            <p:cNvPr id="41" name="TextBox 41"/>
            <p:cNvSpPr txBox="1"/>
            <p:nvPr/>
          </p:nvSpPr>
          <p:spPr>
            <a:xfrm>
              <a:off x="4836236" y="1650206"/>
              <a:ext cx="614528" cy="220028"/>
            </a:xfrm>
            <a:prstGeom prst="rect">
              <a:avLst/>
            </a:prstGeom>
            <a:noFill/>
            <a:ln>
              <a:noFill/>
            </a:ln>
          </p:spPr>
          <p:txBody>
            <a:bodyPr wrap="none" lIns="0" tIns="0" rIns="0" bIns="0" anchor="t" anchorCtr="0">
              <a:spAutoFit/>
            </a:bodyPr>
            <a:lstStyle/>
            <a:p>
              <a:pPr algn="ctr"/>
              <a:r>
                <a:rPr lang="zh-CN" sz="1120" b="1" dirty="0">
                  <a:solidFill>
                    <a:srgbClr val="E94B2B"/>
                  </a:solidFill>
                  <a:latin typeface="+mn-lt"/>
                  <a:ea typeface="+mn-ea"/>
                  <a:cs typeface="+mn-cs"/>
                </a:rPr>
                <a:t>激发提效</a:t>
              </a:r>
            </a:p>
          </p:txBody>
        </p:sp>
        <p:sp>
          <p:nvSpPr>
            <p:cNvPr id="42" name="TextBox 42"/>
            <p:cNvSpPr txBox="1"/>
            <p:nvPr/>
          </p:nvSpPr>
          <p:spPr>
            <a:xfrm>
              <a:off x="4583026" y="1888093"/>
              <a:ext cx="112094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开屏 信息层 品牌管理</a:t>
              </a:r>
            </a:p>
          </p:txBody>
        </p:sp>
      </p:grpSp>
      <p:grpSp>
        <p:nvGrpSpPr>
          <p:cNvPr id="53" name="cap-operate"/>
          <p:cNvGrpSpPr/>
          <p:nvPr/>
        </p:nvGrpSpPr>
        <p:grpSpPr>
          <a:xfrm>
            <a:off x="6334125" y="876300"/>
            <a:ext cx="1428750" cy="1428750"/>
            <a:chOff x="6334125" y="876300"/>
            <a:chExt cx="1428750" cy="1428750"/>
          </a:xfrm>
        </p:grpSpPr>
        <p:sp>
          <p:nvSpPr>
            <p:cNvPr id="44" name="Rectangle 44"/>
            <p:cNvSpPr/>
            <p:nvPr/>
          </p:nvSpPr>
          <p:spPr>
            <a:xfrm>
              <a:off x="6334125" y="876300"/>
              <a:ext cx="1428750" cy="1428750"/>
            </a:xfrm>
            <a:prstGeom prst="roundRect">
              <a:avLst>
                <a:gd name="adj" fmla="val 2667"/>
              </a:avLst>
            </a:prstGeom>
            <a:gradFill>
              <a:gsLst>
                <a:gs pos="0">
                  <a:srgbClr val="EAF3FD"/>
                </a:gs>
                <a:gs pos="100000">
                  <a:srgbClr val="D0E2F8"/>
                </a:gs>
              </a:gsLst>
              <a:lin ang="5400000" scaled="1"/>
            </a:gradFill>
            <a:ln w="9525">
              <a:solidFill>
                <a:srgbClr val="C9DDF5"/>
              </a:solidFill>
            </a:ln>
          </p:spPr>
        </p:sp>
        <p:sp>
          <p:nvSpPr>
            <p:cNvPr id="45" name="Ellipse 45"/>
            <p:cNvSpPr/>
            <p:nvPr/>
          </p:nvSpPr>
          <p:spPr>
            <a:xfrm>
              <a:off x="6838950" y="1028700"/>
              <a:ext cx="419100" cy="419100"/>
            </a:xfrm>
            <a:prstGeom prst="ellipse">
              <a:avLst/>
            </a:prstGeom>
            <a:solidFill>
              <a:srgbClr val="E94B2B"/>
            </a:solidFill>
            <a:ln>
              <a:noFill/>
            </a:ln>
          </p:spPr>
        </p:sp>
        <p:grpSp>
          <p:nvGrpSpPr>
            <p:cNvPr id="50" name="Group 50"/>
            <p:cNvGrpSpPr/>
            <p:nvPr/>
          </p:nvGrpSpPr>
          <p:grpSpPr>
            <a:xfrm>
              <a:off x="6962775" y="1162050"/>
              <a:ext cx="171450" cy="161925"/>
              <a:chOff x="6962775" y="1162050"/>
              <a:chExt cx="171450" cy="161925"/>
            </a:xfrm>
          </p:grpSpPr>
          <p:sp>
            <p:nvSpPr>
              <p:cNvPr id="46" name="Freeform 46"/>
              <p:cNvSpPr/>
              <p:nvPr/>
            </p:nvSpPr>
            <p:spPr>
              <a:xfrm>
                <a:off x="6962775" y="12382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FFFFFF"/>
                </a:solidFill>
              </a:ln>
            </p:spPr>
          </p:sp>
          <p:sp>
            <p:nvSpPr>
              <p:cNvPr id="47" name="Freeform 47"/>
              <p:cNvSpPr/>
              <p:nvPr/>
            </p:nvSpPr>
            <p:spPr>
              <a:xfrm>
                <a:off x="7077075" y="12001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FFFFFF"/>
                </a:solidFill>
              </a:ln>
            </p:spPr>
          </p:sp>
          <p:sp>
            <p:nvSpPr>
              <p:cNvPr id="48" name="Freeform 48"/>
              <p:cNvSpPr/>
              <p:nvPr/>
            </p:nvSpPr>
            <p:spPr>
              <a:xfrm>
                <a:off x="7019925" y="11620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FFFFFF"/>
                </a:solidFill>
              </a:ln>
            </p:spPr>
          </p:sp>
          <p:sp>
            <p:nvSpPr>
              <p:cNvPr id="49" name="Freeform 49"/>
              <p:cNvSpPr/>
              <p:nvPr/>
            </p:nvSpPr>
            <p:spPr>
              <a:xfrm>
                <a:off x="6972300" y="1314450"/>
                <a:ext cx="133350" cy="9525"/>
              </a:xfrm>
              <a:custGeom>
                <a:avLst/>
                <a:gdLst/>
                <a:ahLst/>
                <a:cxnLst/>
                <a:rect l="l" t="t" r="r" b="b"/>
                <a:pathLst>
                  <a:path w="133350" h="9525">
                    <a:moveTo>
                      <a:pt x="0" y="0"/>
                    </a:moveTo>
                    <a:lnTo>
                      <a:pt x="133350" y="0"/>
                    </a:lnTo>
                  </a:path>
                </a:pathLst>
              </a:custGeom>
              <a:noFill/>
              <a:ln w="19050">
                <a:solidFill>
                  <a:srgbClr val="FFFFFF"/>
                </a:solidFill>
              </a:ln>
            </p:spPr>
          </p:sp>
        </p:grpSp>
        <p:sp>
          <p:nvSpPr>
            <p:cNvPr id="51" name="TextBox 51"/>
            <p:cNvSpPr txBox="1"/>
            <p:nvPr/>
          </p:nvSpPr>
          <p:spPr>
            <a:xfrm>
              <a:off x="6741236" y="1650206"/>
              <a:ext cx="614528" cy="220028"/>
            </a:xfrm>
            <a:prstGeom prst="rect">
              <a:avLst/>
            </a:prstGeom>
            <a:noFill/>
            <a:ln>
              <a:noFill/>
            </a:ln>
          </p:spPr>
          <p:txBody>
            <a:bodyPr wrap="none" lIns="0" tIns="0" rIns="0" bIns="0" anchor="t" anchorCtr="0">
              <a:spAutoFit/>
            </a:bodyPr>
            <a:lstStyle/>
            <a:p>
              <a:pPr algn="ctr"/>
              <a:r>
                <a:rPr lang="zh-CN" sz="1120" b="1" dirty="0">
                  <a:solidFill>
                    <a:srgbClr val="E94B2B"/>
                  </a:solidFill>
                  <a:latin typeface="+mn-lt"/>
                  <a:ea typeface="+mn-ea"/>
                  <a:cs typeface="+mn-cs"/>
                </a:rPr>
                <a:t>经营沉淀</a:t>
              </a:r>
            </a:p>
          </p:txBody>
        </p:sp>
        <p:sp>
          <p:nvSpPr>
            <p:cNvPr id="52" name="TextBox 52"/>
            <p:cNvSpPr txBox="1"/>
            <p:nvPr/>
          </p:nvSpPr>
          <p:spPr>
            <a:xfrm>
              <a:off x="6638531" y="1888093"/>
              <a:ext cx="81993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全链路产品矩阵</a:t>
              </a:r>
            </a:p>
          </p:txBody>
        </p:sp>
      </p:grpSp>
      <p:grpSp>
        <p:nvGrpSpPr>
          <p:cNvPr id="65" name="cap-onsite"/>
          <p:cNvGrpSpPr/>
          <p:nvPr/>
        </p:nvGrpSpPr>
        <p:grpSpPr>
          <a:xfrm>
            <a:off x="8239125" y="876300"/>
            <a:ext cx="1428750" cy="1428750"/>
            <a:chOff x="8239125" y="876300"/>
            <a:chExt cx="1428750" cy="1428750"/>
          </a:xfrm>
        </p:grpSpPr>
        <p:sp>
          <p:nvSpPr>
            <p:cNvPr id="54" name="Rectangle 54"/>
            <p:cNvSpPr/>
            <p:nvPr/>
          </p:nvSpPr>
          <p:spPr>
            <a:xfrm>
              <a:off x="8239125" y="876300"/>
              <a:ext cx="1428750" cy="1428750"/>
            </a:xfrm>
            <a:prstGeom prst="roundRect">
              <a:avLst>
                <a:gd name="adj" fmla="val 2667"/>
              </a:avLst>
            </a:prstGeom>
            <a:gradFill>
              <a:gsLst>
                <a:gs pos="0">
                  <a:srgbClr val="EAF3FD"/>
                </a:gs>
                <a:gs pos="100000">
                  <a:srgbClr val="D0E2F8"/>
                </a:gs>
              </a:gsLst>
              <a:lin ang="5400000" scaled="1"/>
            </a:gradFill>
            <a:ln w="9525">
              <a:solidFill>
                <a:srgbClr val="C9DDF5"/>
              </a:solidFill>
            </a:ln>
          </p:spPr>
        </p:sp>
        <p:sp>
          <p:nvSpPr>
            <p:cNvPr id="55" name="Ellipse 55"/>
            <p:cNvSpPr/>
            <p:nvPr/>
          </p:nvSpPr>
          <p:spPr>
            <a:xfrm>
              <a:off x="8743950" y="1028700"/>
              <a:ext cx="419100" cy="419100"/>
            </a:xfrm>
            <a:prstGeom prst="ellipse">
              <a:avLst/>
            </a:prstGeom>
            <a:solidFill>
              <a:srgbClr val="E94B2B"/>
            </a:solidFill>
            <a:ln>
              <a:noFill/>
            </a:ln>
          </p:spPr>
        </p:sp>
        <p:grpSp>
          <p:nvGrpSpPr>
            <p:cNvPr id="62" name="Group 62"/>
            <p:cNvGrpSpPr/>
            <p:nvPr/>
          </p:nvGrpSpPr>
          <p:grpSpPr>
            <a:xfrm>
              <a:off x="8872538" y="1166812"/>
              <a:ext cx="157162" cy="138113"/>
              <a:chOff x="8872538" y="1166812"/>
              <a:chExt cx="157162" cy="138113"/>
            </a:xfrm>
          </p:grpSpPr>
          <p:sp>
            <p:nvSpPr>
              <p:cNvPr id="56" name="Freeform 56"/>
              <p:cNvSpPr/>
              <p:nvPr/>
            </p:nvSpPr>
            <p:spPr>
              <a:xfrm>
                <a:off x="8872538" y="1166812"/>
                <a:ext cx="38100" cy="23812"/>
              </a:xfrm>
              <a:custGeom>
                <a:avLst/>
                <a:gdLst/>
                <a:ahLst/>
                <a:cxnLst/>
                <a:rect l="l" t="t" r="r" b="b"/>
                <a:pathLst>
                  <a:path w="38100" h="23812">
                    <a:moveTo>
                      <a:pt x="0" y="9525"/>
                    </a:moveTo>
                    <a:lnTo>
                      <a:pt x="14288" y="23812"/>
                    </a:lnTo>
                    <a:lnTo>
                      <a:pt x="38100" y="0"/>
                    </a:lnTo>
                  </a:path>
                </a:pathLst>
              </a:custGeom>
              <a:noFill/>
              <a:ln w="19050">
                <a:solidFill>
                  <a:srgbClr val="FFFFFF"/>
                </a:solidFill>
              </a:ln>
            </p:spPr>
          </p:sp>
          <p:sp>
            <p:nvSpPr>
              <p:cNvPr id="57" name="Freeform 57"/>
              <p:cNvSpPr/>
              <p:nvPr/>
            </p:nvSpPr>
            <p:spPr>
              <a:xfrm>
                <a:off x="8872538" y="1223962"/>
                <a:ext cx="38100" cy="23812"/>
              </a:xfrm>
              <a:custGeom>
                <a:avLst/>
                <a:gdLst/>
                <a:ahLst/>
                <a:cxnLst/>
                <a:rect l="l" t="t" r="r" b="b"/>
                <a:pathLst>
                  <a:path w="38100" h="23812">
                    <a:moveTo>
                      <a:pt x="0" y="9525"/>
                    </a:moveTo>
                    <a:lnTo>
                      <a:pt x="14288" y="23812"/>
                    </a:lnTo>
                    <a:lnTo>
                      <a:pt x="38100" y="0"/>
                    </a:lnTo>
                  </a:path>
                </a:pathLst>
              </a:custGeom>
              <a:noFill/>
              <a:ln w="19050">
                <a:solidFill>
                  <a:srgbClr val="FFFFFF"/>
                </a:solidFill>
              </a:ln>
            </p:spPr>
          </p:sp>
          <p:sp>
            <p:nvSpPr>
              <p:cNvPr id="58" name="Freeform 58"/>
              <p:cNvSpPr/>
              <p:nvPr/>
            </p:nvSpPr>
            <p:spPr>
              <a:xfrm>
                <a:off x="8872538" y="1281112"/>
                <a:ext cx="38100" cy="23812"/>
              </a:xfrm>
              <a:custGeom>
                <a:avLst/>
                <a:gdLst/>
                <a:ahLst/>
                <a:cxnLst/>
                <a:rect l="l" t="t" r="r" b="b"/>
                <a:pathLst>
                  <a:path w="38100" h="23812">
                    <a:moveTo>
                      <a:pt x="0" y="9525"/>
                    </a:moveTo>
                    <a:lnTo>
                      <a:pt x="14288" y="23812"/>
                    </a:lnTo>
                    <a:lnTo>
                      <a:pt x="38100" y="0"/>
                    </a:lnTo>
                  </a:path>
                </a:pathLst>
              </a:custGeom>
              <a:noFill/>
              <a:ln w="19050">
                <a:solidFill>
                  <a:srgbClr val="FFFFFF"/>
                </a:solidFill>
              </a:ln>
            </p:spPr>
          </p:sp>
          <p:sp>
            <p:nvSpPr>
              <p:cNvPr id="59" name="Freeform 59"/>
              <p:cNvSpPr/>
              <p:nvPr/>
            </p:nvSpPr>
            <p:spPr>
              <a:xfrm>
                <a:off x="8943975" y="1181100"/>
                <a:ext cx="85725" cy="9525"/>
              </a:xfrm>
              <a:custGeom>
                <a:avLst/>
                <a:gdLst/>
                <a:ahLst/>
                <a:cxnLst/>
                <a:rect l="l" t="t" r="r" b="b"/>
                <a:pathLst>
                  <a:path w="85725" h="9525">
                    <a:moveTo>
                      <a:pt x="0" y="0"/>
                    </a:moveTo>
                    <a:lnTo>
                      <a:pt x="85725" y="0"/>
                    </a:lnTo>
                  </a:path>
                </a:pathLst>
              </a:custGeom>
              <a:noFill/>
              <a:ln w="19050">
                <a:solidFill>
                  <a:srgbClr val="FFFFFF"/>
                </a:solidFill>
              </a:ln>
            </p:spPr>
          </p:sp>
          <p:sp>
            <p:nvSpPr>
              <p:cNvPr id="60" name="Freeform 60"/>
              <p:cNvSpPr/>
              <p:nvPr/>
            </p:nvSpPr>
            <p:spPr>
              <a:xfrm>
                <a:off x="8943975" y="1238250"/>
                <a:ext cx="85725" cy="9525"/>
              </a:xfrm>
              <a:custGeom>
                <a:avLst/>
                <a:gdLst/>
                <a:ahLst/>
                <a:cxnLst/>
                <a:rect l="l" t="t" r="r" b="b"/>
                <a:pathLst>
                  <a:path w="85725" h="9525">
                    <a:moveTo>
                      <a:pt x="0" y="0"/>
                    </a:moveTo>
                    <a:lnTo>
                      <a:pt x="85725" y="0"/>
                    </a:lnTo>
                  </a:path>
                </a:pathLst>
              </a:custGeom>
              <a:noFill/>
              <a:ln w="19050">
                <a:solidFill>
                  <a:srgbClr val="FFFFFF"/>
                </a:solidFill>
              </a:ln>
            </p:spPr>
          </p:sp>
          <p:sp>
            <p:nvSpPr>
              <p:cNvPr id="61" name="Freeform 61"/>
              <p:cNvSpPr/>
              <p:nvPr/>
            </p:nvSpPr>
            <p:spPr>
              <a:xfrm>
                <a:off x="8943975" y="1295400"/>
                <a:ext cx="85725" cy="9525"/>
              </a:xfrm>
              <a:custGeom>
                <a:avLst/>
                <a:gdLst/>
                <a:ahLst/>
                <a:cxnLst/>
                <a:rect l="l" t="t" r="r" b="b"/>
                <a:pathLst>
                  <a:path w="85725" h="9525">
                    <a:moveTo>
                      <a:pt x="0" y="0"/>
                    </a:moveTo>
                    <a:lnTo>
                      <a:pt x="85725" y="0"/>
                    </a:lnTo>
                  </a:path>
                </a:pathLst>
              </a:custGeom>
              <a:noFill/>
              <a:ln w="19050">
                <a:solidFill>
                  <a:srgbClr val="FFFFFF"/>
                </a:solidFill>
              </a:ln>
            </p:spPr>
          </p:sp>
        </p:grpSp>
        <p:sp>
          <p:nvSpPr>
            <p:cNvPr id="63" name="TextBox 63"/>
            <p:cNvSpPr txBox="1"/>
            <p:nvPr/>
          </p:nvSpPr>
          <p:spPr>
            <a:xfrm>
              <a:off x="8495462" y="1650206"/>
              <a:ext cx="916076" cy="220028"/>
            </a:xfrm>
            <a:prstGeom prst="rect">
              <a:avLst/>
            </a:prstGeom>
            <a:noFill/>
            <a:ln>
              <a:noFill/>
            </a:ln>
          </p:spPr>
          <p:txBody>
            <a:bodyPr wrap="none" lIns="0" tIns="0" rIns="0" bIns="0" anchor="t" anchorCtr="0">
              <a:spAutoFit/>
            </a:bodyPr>
            <a:lstStyle/>
            <a:p>
              <a:pPr algn="ctr"/>
              <a:r>
                <a:rPr lang="zh-CN" sz="1120" b="1" dirty="0">
                  <a:solidFill>
                    <a:srgbClr val="E94B2B"/>
                  </a:solidFill>
                  <a:latin typeface="+mn-lt"/>
                  <a:ea typeface="+mn-ea"/>
                  <a:cs typeface="+mn-cs"/>
                </a:rPr>
                <a:t>站内经营闭环</a:t>
              </a:r>
            </a:p>
          </p:txBody>
        </p:sp>
        <p:sp>
          <p:nvSpPr>
            <p:cNvPr id="64" name="TextBox 64"/>
            <p:cNvSpPr txBox="1"/>
            <p:nvPr/>
          </p:nvSpPr>
          <p:spPr>
            <a:xfrm>
              <a:off x="8393026" y="1888093"/>
              <a:ext cx="112094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开屏 信息层 品牌管理</a:t>
              </a:r>
            </a:p>
          </p:txBody>
        </p:sp>
      </p:grpSp>
      <p:grpSp>
        <p:nvGrpSpPr>
          <p:cNvPr id="74" name="cap-offsite"/>
          <p:cNvGrpSpPr/>
          <p:nvPr/>
        </p:nvGrpSpPr>
        <p:grpSpPr>
          <a:xfrm>
            <a:off x="10144125" y="876300"/>
            <a:ext cx="1428750" cy="1428750"/>
            <a:chOff x="10144125" y="876300"/>
            <a:chExt cx="1428750" cy="1428750"/>
          </a:xfrm>
        </p:grpSpPr>
        <p:sp>
          <p:nvSpPr>
            <p:cNvPr id="66" name="Rectangle 66"/>
            <p:cNvSpPr/>
            <p:nvPr/>
          </p:nvSpPr>
          <p:spPr>
            <a:xfrm>
              <a:off x="10144125" y="876300"/>
              <a:ext cx="1428750" cy="1428750"/>
            </a:xfrm>
            <a:prstGeom prst="roundRect">
              <a:avLst>
                <a:gd name="adj" fmla="val 2667"/>
              </a:avLst>
            </a:prstGeom>
            <a:gradFill>
              <a:gsLst>
                <a:gs pos="0">
                  <a:srgbClr val="EAF3FD"/>
                </a:gs>
                <a:gs pos="100000">
                  <a:srgbClr val="D0E2F8"/>
                </a:gs>
              </a:gsLst>
              <a:lin ang="5400000" scaled="1"/>
            </a:gradFill>
            <a:ln w="9525">
              <a:solidFill>
                <a:srgbClr val="C9DDF5"/>
              </a:solidFill>
            </a:ln>
          </p:spPr>
        </p:sp>
        <p:sp>
          <p:nvSpPr>
            <p:cNvPr id="67" name="Ellipse 67"/>
            <p:cNvSpPr/>
            <p:nvPr/>
          </p:nvSpPr>
          <p:spPr>
            <a:xfrm>
              <a:off x="10648950" y="1028700"/>
              <a:ext cx="419100" cy="419100"/>
            </a:xfrm>
            <a:prstGeom prst="ellipse">
              <a:avLst/>
            </a:prstGeom>
            <a:solidFill>
              <a:srgbClr val="E94B2B"/>
            </a:solidFill>
            <a:ln>
              <a:noFill/>
            </a:ln>
          </p:spPr>
        </p:sp>
        <p:grpSp>
          <p:nvGrpSpPr>
            <p:cNvPr id="71" name="Group 71"/>
            <p:cNvGrpSpPr/>
            <p:nvPr/>
          </p:nvGrpSpPr>
          <p:grpSpPr>
            <a:xfrm>
              <a:off x="10791825" y="1152525"/>
              <a:ext cx="133350" cy="171450"/>
              <a:chOff x="10791825" y="1152525"/>
              <a:chExt cx="133350" cy="171450"/>
            </a:xfrm>
          </p:grpSpPr>
          <p:sp>
            <p:nvSpPr>
              <p:cNvPr id="68" name="Freeform 68"/>
              <p:cNvSpPr/>
              <p:nvPr/>
            </p:nvSpPr>
            <p:spPr>
              <a:xfrm>
                <a:off x="10791825" y="1209675"/>
                <a:ext cx="133350" cy="114300"/>
              </a:xfrm>
              <a:custGeom>
                <a:avLst/>
                <a:gdLst/>
                <a:ahLst/>
                <a:cxnLst/>
                <a:rect l="l" t="t" r="r" b="b"/>
                <a:pathLst>
                  <a:path w="133350" h="114300">
                    <a:moveTo>
                      <a:pt x="28575" y="0"/>
                    </a:moveTo>
                    <a:lnTo>
                      <a:pt x="19050" y="0"/>
                    </a:lnTo>
                    <a:cubicBezTo>
                      <a:pt x="8529" y="0"/>
                      <a:pt x="0" y="8529"/>
                      <a:pt x="0" y="19050"/>
                    </a:cubicBezTo>
                    <a:lnTo>
                      <a:pt x="0" y="95250"/>
                    </a:lnTo>
                    <a:cubicBezTo>
                      <a:pt x="0" y="105771"/>
                      <a:pt x="8529" y="114300"/>
                      <a:pt x="19050" y="114300"/>
                    </a:cubicBezTo>
                    <a:lnTo>
                      <a:pt x="114300" y="114300"/>
                    </a:lnTo>
                    <a:cubicBezTo>
                      <a:pt x="124821" y="114300"/>
                      <a:pt x="133350" y="105771"/>
                      <a:pt x="133350" y="95250"/>
                    </a:cubicBezTo>
                    <a:lnTo>
                      <a:pt x="133350" y="19050"/>
                    </a:lnTo>
                    <a:cubicBezTo>
                      <a:pt x="133350" y="8529"/>
                      <a:pt x="124821" y="0"/>
                      <a:pt x="114300" y="0"/>
                    </a:cubicBezTo>
                    <a:lnTo>
                      <a:pt x="104775" y="0"/>
                    </a:lnTo>
                  </a:path>
                </a:pathLst>
              </a:custGeom>
              <a:noFill/>
              <a:ln w="19050">
                <a:solidFill>
                  <a:srgbClr val="FFFFFF"/>
                </a:solidFill>
              </a:ln>
            </p:spPr>
          </p:sp>
          <p:sp>
            <p:nvSpPr>
              <p:cNvPr id="69" name="Freeform 69"/>
              <p:cNvSpPr/>
              <p:nvPr/>
            </p:nvSpPr>
            <p:spPr>
              <a:xfrm>
                <a:off x="10858500" y="1152525"/>
                <a:ext cx="9525" cy="104775"/>
              </a:xfrm>
              <a:custGeom>
                <a:avLst/>
                <a:gdLst/>
                <a:ahLst/>
                <a:cxnLst/>
                <a:rect l="l" t="t" r="r" b="b"/>
                <a:pathLst>
                  <a:path w="9525" h="104775">
                    <a:moveTo>
                      <a:pt x="0" y="104775"/>
                    </a:moveTo>
                    <a:lnTo>
                      <a:pt x="0" y="0"/>
                    </a:lnTo>
                  </a:path>
                </a:pathLst>
              </a:custGeom>
              <a:noFill/>
              <a:ln w="19050">
                <a:solidFill>
                  <a:srgbClr val="FFFFFF"/>
                </a:solidFill>
              </a:ln>
            </p:spPr>
          </p:sp>
          <p:sp>
            <p:nvSpPr>
              <p:cNvPr id="70" name="Freeform 70"/>
              <p:cNvSpPr/>
              <p:nvPr/>
            </p:nvSpPr>
            <p:spPr>
              <a:xfrm>
                <a:off x="10829925" y="1152525"/>
                <a:ext cx="57150" cy="28575"/>
              </a:xfrm>
              <a:custGeom>
                <a:avLst/>
                <a:gdLst/>
                <a:ahLst/>
                <a:cxnLst/>
                <a:rect l="l" t="t" r="r" b="b"/>
                <a:pathLst>
                  <a:path w="57150" h="28575">
                    <a:moveTo>
                      <a:pt x="0" y="28575"/>
                    </a:moveTo>
                    <a:lnTo>
                      <a:pt x="28575" y="0"/>
                    </a:lnTo>
                    <a:lnTo>
                      <a:pt x="57150" y="28575"/>
                    </a:lnTo>
                  </a:path>
                </a:pathLst>
              </a:custGeom>
              <a:noFill/>
              <a:ln w="19050">
                <a:solidFill>
                  <a:srgbClr val="FFFFFF"/>
                </a:solidFill>
              </a:ln>
            </p:spPr>
          </p:sp>
        </p:grpSp>
        <p:sp>
          <p:nvSpPr>
            <p:cNvPr id="72" name="TextBox 72"/>
            <p:cNvSpPr txBox="1"/>
            <p:nvPr/>
          </p:nvSpPr>
          <p:spPr>
            <a:xfrm>
              <a:off x="10400462" y="1650206"/>
              <a:ext cx="916076" cy="220028"/>
            </a:xfrm>
            <a:prstGeom prst="rect">
              <a:avLst/>
            </a:prstGeom>
            <a:noFill/>
            <a:ln>
              <a:noFill/>
            </a:ln>
          </p:spPr>
          <p:txBody>
            <a:bodyPr wrap="none" lIns="0" tIns="0" rIns="0" bIns="0" anchor="t" anchorCtr="0">
              <a:spAutoFit/>
            </a:bodyPr>
            <a:lstStyle/>
            <a:p>
              <a:pPr algn="ctr"/>
              <a:r>
                <a:rPr lang="zh-CN" sz="1120" b="1" dirty="0">
                  <a:solidFill>
                    <a:srgbClr val="E94B2B"/>
                  </a:solidFill>
                  <a:latin typeface="+mn-lt"/>
                  <a:ea typeface="+mn-ea"/>
                  <a:cs typeface="+mn-cs"/>
                </a:rPr>
                <a:t>站外品牌阵地</a:t>
              </a:r>
            </a:p>
          </p:txBody>
        </p:sp>
        <p:sp>
          <p:nvSpPr>
            <p:cNvPr id="73" name="TextBox 73"/>
            <p:cNvSpPr txBox="1"/>
            <p:nvPr/>
          </p:nvSpPr>
          <p:spPr>
            <a:xfrm>
              <a:off x="10298026" y="1888093"/>
              <a:ext cx="112094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开屏 信息层 品牌管理</a:t>
              </a:r>
            </a:p>
          </p:txBody>
        </p:sp>
      </p:grpSp>
      <p:grpSp>
        <p:nvGrpSpPr>
          <p:cNvPr id="88" name="magnet-core"/>
          <p:cNvGrpSpPr/>
          <p:nvPr/>
        </p:nvGrpSpPr>
        <p:grpSpPr>
          <a:xfrm>
            <a:off x="5029200" y="2609850"/>
            <a:ext cx="2133600" cy="2004790"/>
            <a:chOff x="5029200" y="2609850"/>
            <a:chExt cx="2133600" cy="2004790"/>
          </a:xfrm>
        </p:grpSpPr>
        <p:sp>
          <p:nvSpPr>
            <p:cNvPr id="75" name="Ellipse 75"/>
            <p:cNvSpPr/>
            <p:nvPr/>
          </p:nvSpPr>
          <p:spPr>
            <a:xfrm>
              <a:off x="5181600" y="2752725"/>
              <a:ext cx="1828800" cy="1828800"/>
            </a:xfrm>
            <a:prstGeom prst="ellipse">
              <a:avLst/>
            </a:prstGeom>
            <a:noFill/>
            <a:ln w="95250">
              <a:solidFill>
                <a:srgbClr val="F8D1C9"/>
              </a:solidFill>
            </a:ln>
          </p:spPr>
        </p:sp>
        <p:sp>
          <p:nvSpPr>
            <p:cNvPr id="76" name="Ellipse 76"/>
            <p:cNvSpPr/>
            <p:nvPr/>
          </p:nvSpPr>
          <p:spPr>
            <a:xfrm>
              <a:off x="5353050" y="2924175"/>
              <a:ext cx="1485900" cy="1485900"/>
            </a:xfrm>
            <a:prstGeom prst="ellipse">
              <a:avLst/>
            </a:prstGeom>
            <a:noFill/>
            <a:ln w="57150">
              <a:solidFill>
                <a:srgbClr val="F5927E"/>
              </a:solidFill>
            </a:ln>
          </p:spPr>
        </p:sp>
        <p:sp>
          <p:nvSpPr>
            <p:cNvPr id="77" name="Ellipse 77"/>
            <p:cNvSpPr/>
            <p:nvPr/>
          </p:nvSpPr>
          <p:spPr>
            <a:xfrm>
              <a:off x="5486400" y="3057525"/>
              <a:ext cx="1219200" cy="1219200"/>
            </a:xfrm>
            <a:prstGeom prst="ellipse">
              <a:avLst/>
            </a:prstGeom>
            <a:gradFill>
              <a:gsLst>
                <a:gs pos="0">
                  <a:srgbClr val="F2745A"/>
                </a:gs>
                <a:gs pos="100000">
                  <a:srgbClr val="C83B1E"/>
                </a:gs>
              </a:gsLst>
              <a:path path="circle">
                <a:fillToRect l="40000" t="35000" r="60000" b="65000"/>
              </a:path>
            </a:gradFill>
            <a:ln>
              <a:noFill/>
            </a:ln>
          </p:spPr>
        </p:sp>
        <p:sp>
          <p:nvSpPr>
            <p:cNvPr id="78" name="TextBox 78"/>
            <p:cNvSpPr txBox="1"/>
            <p:nvPr/>
          </p:nvSpPr>
          <p:spPr>
            <a:xfrm>
              <a:off x="5684520" y="3514725"/>
              <a:ext cx="82296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用户磁场</a:t>
              </a:r>
            </a:p>
          </p:txBody>
        </p:sp>
        <p:sp>
          <p:nvSpPr>
            <p:cNvPr id="79" name="TextBox 79"/>
            <p:cNvSpPr txBox="1"/>
            <p:nvPr/>
          </p:nvSpPr>
          <p:spPr>
            <a:xfrm>
              <a:off x="5788342" y="3789045"/>
              <a:ext cx="615315"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极致信任力</a:t>
              </a:r>
            </a:p>
          </p:txBody>
        </p:sp>
        <p:sp>
          <p:nvSpPr>
            <p:cNvPr id="80" name="Freeform 80"/>
            <p:cNvSpPr/>
            <p:nvPr/>
          </p:nvSpPr>
          <p:spPr>
            <a:xfrm>
              <a:off x="5467350" y="2763142"/>
              <a:ext cx="1257300" cy="265808"/>
            </a:xfrm>
            <a:custGeom>
              <a:avLst/>
              <a:gdLst/>
              <a:ahLst/>
              <a:cxnLst/>
              <a:rect l="l" t="t" r="r" b="b"/>
              <a:pathLst>
                <a:path w="1257300" h="265808">
                  <a:moveTo>
                    <a:pt x="0" y="265808"/>
                  </a:moveTo>
                  <a:cubicBezTo>
                    <a:pt x="165015" y="95885"/>
                    <a:pt x="391788" y="0"/>
                    <a:pt x="628650" y="0"/>
                  </a:cubicBezTo>
                  <a:cubicBezTo>
                    <a:pt x="865512" y="0"/>
                    <a:pt x="1092285" y="95885"/>
                    <a:pt x="1257300" y="265808"/>
                  </a:cubicBezTo>
                </a:path>
              </a:pathLst>
            </a:custGeom>
            <a:noFill/>
            <a:ln w="19050">
              <a:solidFill>
                <a:srgbClr val="E94B2B"/>
              </a:solidFill>
              <a:tailEnd type="triangle" w="lg" len="lg"/>
            </a:ln>
          </p:spPr>
        </p:sp>
        <p:sp>
          <p:nvSpPr>
            <p:cNvPr id="81" name="Freeform 81"/>
            <p:cNvSpPr/>
            <p:nvPr/>
          </p:nvSpPr>
          <p:spPr>
            <a:xfrm>
              <a:off x="5295900" y="4095750"/>
              <a:ext cx="1600200" cy="518890"/>
            </a:xfrm>
            <a:custGeom>
              <a:avLst/>
              <a:gdLst/>
              <a:ahLst/>
              <a:cxnLst/>
              <a:rect l="l" t="t" r="r" b="b"/>
              <a:pathLst>
                <a:path w="1600200" h="518890">
                  <a:moveTo>
                    <a:pt x="1600200" y="0"/>
                  </a:moveTo>
                  <a:cubicBezTo>
                    <a:pt x="1459200" y="315643"/>
                    <a:pt x="1145804" y="518890"/>
                    <a:pt x="800100" y="518890"/>
                  </a:cubicBezTo>
                  <a:cubicBezTo>
                    <a:pt x="454396" y="518890"/>
                    <a:pt x="141000" y="315643"/>
                    <a:pt x="0" y="0"/>
                  </a:cubicBezTo>
                </a:path>
              </a:pathLst>
            </a:custGeom>
            <a:noFill/>
            <a:ln w="19050">
              <a:solidFill>
                <a:srgbClr val="E94B2B"/>
              </a:solidFill>
              <a:tailEnd type="triangle" w="lg" len="lg"/>
            </a:ln>
          </p:spPr>
        </p:sp>
        <p:sp>
          <p:nvSpPr>
            <p:cNvPr id="82" name="Ellipse 82"/>
            <p:cNvSpPr/>
            <p:nvPr/>
          </p:nvSpPr>
          <p:spPr>
            <a:xfrm>
              <a:off x="5829300" y="2609850"/>
              <a:ext cx="533400" cy="533400"/>
            </a:xfrm>
            <a:prstGeom prst="ellipse">
              <a:avLst/>
            </a:prstGeom>
            <a:solidFill>
              <a:srgbClr val="FFFFFF"/>
            </a:solidFill>
            <a:ln w="14288">
              <a:solidFill>
                <a:srgbClr val="F5927E"/>
              </a:solidFill>
            </a:ln>
          </p:spPr>
        </p:sp>
        <p:sp>
          <p:nvSpPr>
            <p:cNvPr id="83" name="TextBox 83"/>
            <p:cNvSpPr txBox="1"/>
            <p:nvPr/>
          </p:nvSpPr>
          <p:spPr>
            <a:xfrm>
              <a:off x="5949315" y="2810828"/>
              <a:ext cx="293370" cy="205359"/>
            </a:xfrm>
            <a:prstGeom prst="rect">
              <a:avLst/>
            </a:prstGeom>
            <a:noFill/>
            <a:ln>
              <a:noFill/>
            </a:ln>
          </p:spPr>
          <p:txBody>
            <a:bodyPr wrap="none" lIns="0" tIns="0" rIns="0" bIns="0" anchor="t" anchorCtr="0">
              <a:spAutoFit/>
            </a:bodyPr>
            <a:lstStyle/>
            <a:p>
              <a:pPr algn="ctr"/>
              <a:r>
                <a:rPr lang="zh-CN" sz="1050" dirty="0">
                  <a:solidFill>
                    <a:srgbClr val="E94B2B"/>
                  </a:solidFill>
                  <a:latin typeface="+mn-lt"/>
                  <a:ea typeface="+mn-ea"/>
                  <a:cs typeface="+mn-cs"/>
                </a:rPr>
                <a:t>平台</a:t>
              </a:r>
            </a:p>
          </p:txBody>
        </p:sp>
        <p:sp>
          <p:nvSpPr>
            <p:cNvPr id="84" name="Ellipse 84"/>
            <p:cNvSpPr/>
            <p:nvPr/>
          </p:nvSpPr>
          <p:spPr>
            <a:xfrm>
              <a:off x="5029200" y="3924300"/>
              <a:ext cx="533400" cy="533400"/>
            </a:xfrm>
            <a:prstGeom prst="ellipse">
              <a:avLst/>
            </a:prstGeom>
            <a:solidFill>
              <a:srgbClr val="FFFFFF"/>
            </a:solidFill>
            <a:ln w="14288">
              <a:solidFill>
                <a:srgbClr val="F5927E"/>
              </a:solidFill>
            </a:ln>
          </p:spPr>
        </p:sp>
        <p:sp>
          <p:nvSpPr>
            <p:cNvPr id="85" name="TextBox 85"/>
            <p:cNvSpPr txBox="1"/>
            <p:nvPr/>
          </p:nvSpPr>
          <p:spPr>
            <a:xfrm>
              <a:off x="5149215" y="4125278"/>
              <a:ext cx="293370" cy="205359"/>
            </a:xfrm>
            <a:prstGeom prst="rect">
              <a:avLst/>
            </a:prstGeom>
            <a:noFill/>
            <a:ln>
              <a:noFill/>
            </a:ln>
          </p:spPr>
          <p:txBody>
            <a:bodyPr wrap="none" lIns="0" tIns="0" rIns="0" bIns="0" anchor="t" anchorCtr="0">
              <a:spAutoFit/>
            </a:bodyPr>
            <a:lstStyle/>
            <a:p>
              <a:pPr algn="ctr"/>
              <a:r>
                <a:rPr lang="zh-CN" sz="1050" dirty="0">
                  <a:solidFill>
                    <a:srgbClr val="E94B2B"/>
                  </a:solidFill>
                  <a:latin typeface="+mn-lt"/>
                  <a:ea typeface="+mn-ea"/>
                  <a:cs typeface="+mn-cs"/>
                </a:rPr>
                <a:t>品牌</a:t>
              </a:r>
            </a:p>
          </p:txBody>
        </p:sp>
        <p:sp>
          <p:nvSpPr>
            <p:cNvPr id="86" name="Ellipse 86"/>
            <p:cNvSpPr/>
            <p:nvPr/>
          </p:nvSpPr>
          <p:spPr>
            <a:xfrm>
              <a:off x="6629400" y="3924300"/>
              <a:ext cx="533400" cy="533400"/>
            </a:xfrm>
            <a:prstGeom prst="ellipse">
              <a:avLst/>
            </a:prstGeom>
            <a:solidFill>
              <a:srgbClr val="FFFFFF"/>
            </a:solidFill>
            <a:ln w="14288">
              <a:solidFill>
                <a:srgbClr val="F5927E"/>
              </a:solidFill>
            </a:ln>
          </p:spPr>
        </p:sp>
        <p:sp>
          <p:nvSpPr>
            <p:cNvPr id="87" name="TextBox 87"/>
            <p:cNvSpPr txBox="1"/>
            <p:nvPr/>
          </p:nvSpPr>
          <p:spPr>
            <a:xfrm>
              <a:off x="6678740" y="4125278"/>
              <a:ext cx="434721" cy="205359"/>
            </a:xfrm>
            <a:prstGeom prst="rect">
              <a:avLst/>
            </a:prstGeom>
            <a:noFill/>
            <a:ln>
              <a:noFill/>
            </a:ln>
          </p:spPr>
          <p:txBody>
            <a:bodyPr wrap="none" lIns="0" tIns="0" rIns="0" bIns="0" anchor="t" anchorCtr="0">
              <a:spAutoFit/>
            </a:bodyPr>
            <a:lstStyle/>
            <a:p>
              <a:pPr algn="ctr"/>
              <a:r>
                <a:rPr lang="zh-CN" sz="1050" dirty="0">
                  <a:solidFill>
                    <a:srgbClr val="E94B2B"/>
                  </a:solidFill>
                  <a:latin typeface="+mn-lt"/>
                  <a:ea typeface="+mn-ea"/>
                  <a:cs typeface="+mn-cs"/>
                </a:rPr>
                <a:t>创作者</a:t>
              </a:r>
            </a:p>
          </p:txBody>
        </p:sp>
      </p:grpSp>
      <p:grpSp>
        <p:nvGrpSpPr>
          <p:cNvPr id="105" name="ability-strips"/>
          <p:cNvGrpSpPr/>
          <p:nvPr/>
        </p:nvGrpSpPr>
        <p:grpSpPr>
          <a:xfrm>
            <a:off x="571500" y="4591050"/>
            <a:ext cx="10953750" cy="1028700"/>
            <a:chOff x="571500" y="4591050"/>
            <a:chExt cx="10953750" cy="1028700"/>
          </a:xfrm>
        </p:grpSpPr>
        <p:sp>
          <p:nvSpPr>
            <p:cNvPr id="89" name="Freeform 89"/>
            <p:cNvSpPr/>
            <p:nvPr/>
          </p:nvSpPr>
          <p:spPr>
            <a:xfrm>
              <a:off x="571500" y="4591050"/>
              <a:ext cx="2781300" cy="342900"/>
            </a:xfrm>
            <a:prstGeom prst="homePlate">
              <a:avLst>
                <a:gd name="adj" fmla="val 40000"/>
              </a:avLst>
            </a:prstGeom>
            <a:solidFill>
              <a:srgbClr val="E94B2B"/>
            </a:solidFill>
            <a:ln>
              <a:noFill/>
            </a:ln>
          </p:spPr>
        </p:sp>
        <p:sp>
          <p:nvSpPr>
            <p:cNvPr id="90" name="Freeform 90"/>
            <p:cNvSpPr/>
            <p:nvPr/>
          </p:nvSpPr>
          <p:spPr>
            <a:xfrm>
              <a:off x="3295650" y="4591050"/>
              <a:ext cx="2781300" cy="342900"/>
            </a:xfrm>
            <a:prstGeom prst="chevron">
              <a:avLst>
                <a:gd name="adj" fmla="val 40000"/>
              </a:avLst>
            </a:prstGeom>
            <a:solidFill>
              <a:srgbClr val="E94B2B"/>
            </a:solidFill>
            <a:ln>
              <a:noFill/>
            </a:ln>
          </p:spPr>
        </p:sp>
        <p:sp>
          <p:nvSpPr>
            <p:cNvPr id="91" name="Freeform 91"/>
            <p:cNvSpPr/>
            <p:nvPr/>
          </p:nvSpPr>
          <p:spPr>
            <a:xfrm>
              <a:off x="6019800" y="4591050"/>
              <a:ext cx="2781300" cy="342900"/>
            </a:xfrm>
            <a:prstGeom prst="chevron">
              <a:avLst>
                <a:gd name="adj" fmla="val 40000"/>
              </a:avLst>
            </a:prstGeom>
            <a:solidFill>
              <a:srgbClr val="E94B2B"/>
            </a:solidFill>
            <a:ln>
              <a:noFill/>
            </a:ln>
          </p:spPr>
        </p:sp>
        <p:sp>
          <p:nvSpPr>
            <p:cNvPr id="92" name="Freeform 92"/>
            <p:cNvSpPr/>
            <p:nvPr/>
          </p:nvSpPr>
          <p:spPr>
            <a:xfrm>
              <a:off x="8743950" y="4591050"/>
              <a:ext cx="2781300" cy="342900"/>
            </a:xfrm>
            <a:prstGeom prst="chevron">
              <a:avLst>
                <a:gd name="adj" fmla="val 40000"/>
              </a:avLst>
            </a:prstGeom>
            <a:solidFill>
              <a:srgbClr val="E94B2B"/>
            </a:solidFill>
            <a:ln>
              <a:noFill/>
            </a:ln>
          </p:spPr>
        </p:sp>
        <p:sp>
          <p:nvSpPr>
            <p:cNvPr id="93" name="TextBox 93"/>
            <p:cNvSpPr txBox="1"/>
            <p:nvPr/>
          </p:nvSpPr>
          <p:spPr>
            <a:xfrm>
              <a:off x="1352931" y="4673918"/>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平台赋能能力</a:t>
              </a:r>
            </a:p>
          </p:txBody>
        </p:sp>
        <p:sp>
          <p:nvSpPr>
            <p:cNvPr id="94" name="TextBox 94"/>
            <p:cNvSpPr txBox="1"/>
            <p:nvPr/>
          </p:nvSpPr>
          <p:spPr>
            <a:xfrm>
              <a:off x="4134231" y="4673918"/>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商业服务能力</a:t>
              </a:r>
            </a:p>
          </p:txBody>
        </p:sp>
        <p:sp>
          <p:nvSpPr>
            <p:cNvPr id="95" name="TextBox 95"/>
            <p:cNvSpPr txBox="1"/>
            <p:nvPr/>
          </p:nvSpPr>
          <p:spPr>
            <a:xfrm>
              <a:off x="6858381" y="4673918"/>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内容合作能力</a:t>
              </a:r>
            </a:p>
          </p:txBody>
        </p:sp>
        <p:sp>
          <p:nvSpPr>
            <p:cNvPr id="96" name="TextBox 96"/>
            <p:cNvSpPr txBox="1"/>
            <p:nvPr/>
          </p:nvSpPr>
          <p:spPr>
            <a:xfrm>
              <a:off x="9582531" y="4673918"/>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数据管理能力</a:t>
              </a:r>
            </a:p>
          </p:txBody>
        </p:sp>
        <p:sp>
          <p:nvSpPr>
            <p:cNvPr id="97" name="Rectangle 97"/>
            <p:cNvSpPr/>
            <p:nvPr/>
          </p:nvSpPr>
          <p:spPr>
            <a:xfrm>
              <a:off x="571500" y="4933950"/>
              <a:ext cx="10953750" cy="685800"/>
            </a:xfrm>
            <a:prstGeom prst="rect">
              <a:avLst/>
            </a:prstGeom>
            <a:solidFill>
              <a:srgbClr val="FFFFFF"/>
            </a:solidFill>
            <a:ln w="9525">
              <a:solidFill>
                <a:srgbClr val="C9DDF5"/>
              </a:solidFill>
            </a:ln>
          </p:spPr>
        </p:sp>
        <p:sp>
          <p:nvSpPr>
            <p:cNvPr id="98" name="Line 98"/>
            <p:cNvSpPr/>
            <p:nvPr/>
          </p:nvSpPr>
          <p:spPr>
            <a:xfrm>
              <a:off x="3295650" y="4933950"/>
              <a:ext cx="9525" cy="685800"/>
            </a:xfrm>
            <a:custGeom>
              <a:avLst/>
              <a:gdLst/>
              <a:ahLst/>
              <a:cxnLst/>
              <a:rect l="l" t="t" r="r" b="b"/>
              <a:pathLst>
                <a:path w="9525" h="685800">
                  <a:moveTo>
                    <a:pt x="0" y="0"/>
                  </a:moveTo>
                  <a:lnTo>
                    <a:pt x="0" y="685800"/>
                  </a:lnTo>
                </a:path>
              </a:pathLst>
            </a:custGeom>
            <a:noFill/>
            <a:ln w="9525">
              <a:solidFill>
                <a:srgbClr val="C9DDF5"/>
              </a:solidFill>
            </a:ln>
          </p:spPr>
        </p:sp>
        <p:sp>
          <p:nvSpPr>
            <p:cNvPr id="99" name="Line 99"/>
            <p:cNvSpPr/>
            <p:nvPr/>
          </p:nvSpPr>
          <p:spPr>
            <a:xfrm>
              <a:off x="6019800" y="4933950"/>
              <a:ext cx="9525" cy="685800"/>
            </a:xfrm>
            <a:custGeom>
              <a:avLst/>
              <a:gdLst/>
              <a:ahLst/>
              <a:cxnLst/>
              <a:rect l="l" t="t" r="r" b="b"/>
              <a:pathLst>
                <a:path w="9525" h="685800">
                  <a:moveTo>
                    <a:pt x="0" y="0"/>
                  </a:moveTo>
                  <a:lnTo>
                    <a:pt x="0" y="685800"/>
                  </a:lnTo>
                </a:path>
              </a:pathLst>
            </a:custGeom>
            <a:noFill/>
            <a:ln w="9525">
              <a:solidFill>
                <a:srgbClr val="C9DDF5"/>
              </a:solidFill>
            </a:ln>
          </p:spPr>
        </p:sp>
        <p:sp>
          <p:nvSpPr>
            <p:cNvPr id="100" name="Line 100"/>
            <p:cNvSpPr/>
            <p:nvPr/>
          </p:nvSpPr>
          <p:spPr>
            <a:xfrm>
              <a:off x="8743950" y="4933950"/>
              <a:ext cx="9525" cy="685800"/>
            </a:xfrm>
            <a:custGeom>
              <a:avLst/>
              <a:gdLst/>
              <a:ahLst/>
              <a:cxnLst/>
              <a:rect l="l" t="t" r="r" b="b"/>
              <a:pathLst>
                <a:path w="9525" h="685800">
                  <a:moveTo>
                    <a:pt x="0" y="0"/>
                  </a:moveTo>
                  <a:lnTo>
                    <a:pt x="0" y="685800"/>
                  </a:lnTo>
                </a:path>
              </a:pathLst>
            </a:custGeom>
            <a:noFill/>
            <a:ln w="9525">
              <a:solidFill>
                <a:srgbClr val="C9DDF5"/>
              </a:solidFill>
            </a:ln>
          </p:spPr>
        </p:sp>
        <p:sp>
          <p:nvSpPr>
            <p:cNvPr id="101" name="TextBox 101"/>
            <p:cNvSpPr txBox="1"/>
            <p:nvPr/>
          </p:nvSpPr>
          <p:spPr>
            <a:xfrm>
              <a:off x="1466875" y="5228749"/>
              <a:ext cx="933399"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全链路产品矩阵</a:t>
              </a:r>
            </a:p>
          </p:txBody>
        </p:sp>
        <p:sp>
          <p:nvSpPr>
            <p:cNvPr id="102" name="TextBox 102"/>
            <p:cNvSpPr txBox="1"/>
            <p:nvPr/>
          </p:nvSpPr>
          <p:spPr>
            <a:xfrm>
              <a:off x="3821628" y="5228749"/>
              <a:ext cx="1672194"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磁力巨星 磁力金牛 金牛电商</a:t>
              </a:r>
            </a:p>
          </p:txBody>
        </p:sp>
        <p:sp>
          <p:nvSpPr>
            <p:cNvPr id="103" name="TextBox 103"/>
            <p:cNvSpPr txBox="1"/>
            <p:nvPr/>
          </p:nvSpPr>
          <p:spPr>
            <a:xfrm>
              <a:off x="6961350" y="5228749"/>
              <a:ext cx="841050"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开眼快创 塑造</a:t>
              </a:r>
            </a:p>
          </p:txBody>
        </p:sp>
        <p:sp>
          <p:nvSpPr>
            <p:cNvPr id="104" name="TextBox 104"/>
            <p:cNvSpPr txBox="1"/>
            <p:nvPr/>
          </p:nvSpPr>
          <p:spPr>
            <a:xfrm>
              <a:off x="9450220" y="5228749"/>
              <a:ext cx="1368760"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磁力万象 磁力增长银行</a:t>
              </a:r>
            </a:p>
          </p:txBody>
        </p:sp>
      </p:gr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Line 2"/>
          <p:cNvSpPr/>
          <p:nvPr/>
        </p:nvSpPr>
        <p:spPr>
          <a:xfrm>
            <a:off x="1905000" y="1143000"/>
            <a:ext cx="1714500" cy="57150"/>
          </a:xfrm>
          <a:custGeom>
            <a:avLst/>
            <a:gdLst/>
            <a:ahLst/>
            <a:cxnLst/>
            <a:rect l="l" t="t" r="r" b="b"/>
            <a:pathLst>
              <a:path w="1714500" h="57150">
                <a:moveTo>
                  <a:pt x="0" y="57150"/>
                </a:moveTo>
                <a:lnTo>
                  <a:pt x="1714500" y="0"/>
                </a:lnTo>
              </a:path>
            </a:pathLst>
          </a:custGeom>
          <a:noFill/>
          <a:ln w="14288">
            <a:solidFill>
              <a:srgbClr val="F5927E"/>
            </a:solidFill>
            <a:custDash>
              <a:ds d="400000" sp="266667"/>
            </a:custDash>
          </a:ln>
        </p:spPr>
      </p:sp>
      <p:sp>
        <p:nvSpPr>
          <p:cNvPr id="3" name="Line 3"/>
          <p:cNvSpPr/>
          <p:nvPr/>
        </p:nvSpPr>
        <p:spPr>
          <a:xfrm>
            <a:off x="8572500" y="1143000"/>
            <a:ext cx="1714500" cy="57150"/>
          </a:xfrm>
          <a:custGeom>
            <a:avLst/>
            <a:gdLst/>
            <a:ahLst/>
            <a:cxnLst/>
            <a:rect l="l" t="t" r="r" b="b"/>
            <a:pathLst>
              <a:path w="1714500" h="57150">
                <a:moveTo>
                  <a:pt x="0" y="0"/>
                </a:moveTo>
                <a:lnTo>
                  <a:pt x="1714500" y="57150"/>
                </a:lnTo>
              </a:path>
            </a:pathLst>
          </a:custGeom>
          <a:noFill/>
          <a:ln w="14288">
            <a:solidFill>
              <a:srgbClr val="F5927E"/>
            </a:solidFill>
            <a:custDash>
              <a:ds d="400000" sp="266667"/>
            </a:custDash>
          </a:ln>
        </p:spPr>
      </p:sp>
      <p:grpSp>
        <p:nvGrpSpPr>
          <p:cNvPr id="8" name="page-header"/>
          <p:cNvGrpSpPr/>
          <p:nvPr/>
        </p:nvGrpSpPr>
        <p:grpSpPr>
          <a:xfrm>
            <a:off x="0" y="0"/>
            <a:ext cx="11811000" cy="561404"/>
            <a:chOff x="0" y="0"/>
            <a:chExt cx="11811000" cy="561404"/>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5" name="TextBox 5"/>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17</a:t>
              </a:r>
            </a:p>
          </p:txBody>
        </p:sp>
        <p:sp>
          <p:nvSpPr>
            <p:cNvPr id="6" name="TextBox 6"/>
            <p:cNvSpPr txBox="1"/>
            <p:nvPr/>
          </p:nvSpPr>
          <p:spPr>
            <a:xfrm>
              <a:off x="904494" y="180023"/>
              <a:ext cx="2238756"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逻辑框架逻辑排版</a:t>
              </a:r>
            </a:p>
          </p:txBody>
        </p:sp>
        <p:sp>
          <p:nvSpPr>
            <p:cNvPr id="7" name="Line 7"/>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7" name="panel-management"/>
          <p:cNvGrpSpPr/>
          <p:nvPr/>
        </p:nvGrpSpPr>
        <p:grpSpPr>
          <a:xfrm>
            <a:off x="666750" y="1596390"/>
            <a:ext cx="3790950" cy="3242310"/>
            <a:chOff x="666750" y="1596390"/>
            <a:chExt cx="3790950" cy="3242310"/>
          </a:xfrm>
        </p:grpSpPr>
        <p:sp>
          <p:nvSpPr>
            <p:cNvPr id="9" name="TextBox 9"/>
            <p:cNvSpPr txBox="1"/>
            <p:nvPr/>
          </p:nvSpPr>
          <p:spPr>
            <a:xfrm>
              <a:off x="943356" y="1596390"/>
              <a:ext cx="1956816" cy="352044"/>
            </a:xfrm>
            <a:prstGeom prst="rect">
              <a:avLst/>
            </a:prstGeom>
            <a:noFill/>
            <a:ln>
              <a:noFill/>
            </a:ln>
          </p:spPr>
          <p:txBody>
            <a:bodyPr wrap="none" lIns="0" tIns="0" rIns="0" bIns="0" anchor="t" anchorCtr="0">
              <a:spAutoFit/>
            </a:bodyPr>
            <a:lstStyle/>
            <a:p>
              <a:pPr algn="l"/>
              <a:r>
                <a:rPr lang="zh-CN" sz="1800" b="1" dirty="0">
                  <a:solidFill>
                    <a:srgbClr val="333333"/>
                  </a:solidFill>
                  <a:latin typeface="+mn-lt"/>
                  <a:ea typeface="+mn-ea"/>
                  <a:cs typeface="+mn-cs"/>
                </a:rPr>
                <a:t>更高效的</a:t>
              </a:r>
              <a:r>
                <a:rPr lang="zh-CN" sz="1800" b="1" dirty="0">
                  <a:solidFill>
                    <a:srgbClr val="E94B2B"/>
                  </a:solidFill>
                  <a:latin typeface="+mn-lt"/>
                  <a:ea typeface="+mn-ea"/>
                  <a:cs typeface="+mn-cs"/>
                </a:rPr>
                <a:t>管理制度</a:t>
              </a:r>
            </a:p>
          </p:txBody>
        </p:sp>
        <p:sp>
          <p:nvSpPr>
            <p:cNvPr id="10" name="Polygon 10"/>
            <p:cNvSpPr/>
            <p:nvPr/>
          </p:nvSpPr>
          <p:spPr>
            <a:xfrm>
              <a:off x="666750" y="2019300"/>
              <a:ext cx="3790950" cy="2819400"/>
            </a:xfrm>
            <a:custGeom>
              <a:avLst/>
              <a:gdLst/>
              <a:ahLst/>
              <a:cxnLst/>
              <a:rect l="l" t="t" r="r" b="b"/>
              <a:pathLst>
                <a:path w="3790950" h="2819400">
                  <a:moveTo>
                    <a:pt x="0" y="0"/>
                  </a:moveTo>
                  <a:lnTo>
                    <a:pt x="3790950" y="228600"/>
                  </a:lnTo>
                  <a:lnTo>
                    <a:pt x="3790950" y="2343150"/>
                  </a:lnTo>
                  <a:lnTo>
                    <a:pt x="0" y="2819400"/>
                  </a:lnTo>
                  <a:close/>
                </a:path>
              </a:pathLst>
            </a:custGeom>
            <a:solidFill>
              <a:srgbClr val="FFFFFF">
                <a:alpha val="50000"/>
              </a:srgbClr>
            </a:solidFill>
            <a:ln w="11430">
              <a:solidFill>
                <a:srgbClr val="E94B2B"/>
              </a:solidFill>
              <a:custDash>
                <a:ds d="500000" sp="333333"/>
              </a:custDash>
            </a:ln>
          </p:spPr>
        </p:sp>
        <p:sp>
          <p:nvSpPr>
            <p:cNvPr id="11" name="Polygon 11"/>
            <p:cNvSpPr/>
            <p:nvPr/>
          </p:nvSpPr>
          <p:spPr>
            <a:xfrm>
              <a:off x="914400" y="2400300"/>
              <a:ext cx="3352800" cy="495300"/>
            </a:xfrm>
            <a:custGeom>
              <a:avLst/>
              <a:gdLst/>
              <a:ahLst/>
              <a:cxnLst/>
              <a:rect l="l" t="t" r="r" b="b"/>
              <a:pathLst>
                <a:path w="3352800" h="495300">
                  <a:moveTo>
                    <a:pt x="0" y="0"/>
                  </a:moveTo>
                  <a:lnTo>
                    <a:pt x="3352800" y="114300"/>
                  </a:lnTo>
                  <a:lnTo>
                    <a:pt x="3352800" y="495300"/>
                  </a:lnTo>
                  <a:lnTo>
                    <a:pt x="0" y="419100"/>
                  </a:lnTo>
                  <a:close/>
                </a:path>
              </a:pathLst>
            </a:custGeom>
            <a:gradFill>
              <a:gsLst>
                <a:gs pos="0">
                  <a:srgbClr val="F5927E"/>
                </a:gs>
                <a:gs pos="100000">
                  <a:srgbClr val="DCEBFB"/>
                </a:gs>
              </a:gsLst>
              <a:lin ang="0" scaled="1"/>
            </a:gradFill>
            <a:ln>
              <a:noFill/>
            </a:ln>
          </p:spPr>
        </p:sp>
        <p:sp>
          <p:nvSpPr>
            <p:cNvPr id="12" name="TextBox 12"/>
            <p:cNvSpPr txBox="1"/>
            <p:nvPr/>
          </p:nvSpPr>
          <p:spPr>
            <a:xfrm>
              <a:off x="1422273" y="2586514"/>
              <a:ext cx="1046836" cy="249364"/>
            </a:xfrm>
            <a:prstGeom prst="rect">
              <a:avLst/>
            </a:prstGeom>
            <a:noFill/>
            <a:ln>
              <a:noFill/>
            </a:ln>
          </p:spPr>
          <p:txBody>
            <a:bodyPr wrap="none" lIns="0" tIns="0" rIns="0" bIns="0" anchor="t" anchorCtr="0">
              <a:spAutoFit/>
            </a:bodyPr>
            <a:lstStyle/>
            <a:p>
              <a:pPr algn="l"/>
              <a:r>
                <a:rPr lang="zh-CN" sz="1280" dirty="0">
                  <a:solidFill>
                    <a:srgbClr val="8A301E"/>
                  </a:solidFill>
                  <a:latin typeface="+mn-lt"/>
                  <a:ea typeface="+mn-ea"/>
                  <a:cs typeface="+mn-cs"/>
                </a:rPr>
                <a:t>加强自身业务</a:t>
              </a:r>
            </a:p>
          </p:txBody>
        </p:sp>
        <p:sp>
          <p:nvSpPr>
            <p:cNvPr id="13" name="Polygon 13"/>
            <p:cNvSpPr/>
            <p:nvPr/>
          </p:nvSpPr>
          <p:spPr>
            <a:xfrm>
              <a:off x="914400" y="3067050"/>
              <a:ext cx="3352800" cy="457200"/>
            </a:xfrm>
            <a:custGeom>
              <a:avLst/>
              <a:gdLst/>
              <a:ahLst/>
              <a:cxnLst/>
              <a:rect l="l" t="t" r="r" b="b"/>
              <a:pathLst>
                <a:path w="3352800" h="457200">
                  <a:moveTo>
                    <a:pt x="0" y="0"/>
                  </a:moveTo>
                  <a:lnTo>
                    <a:pt x="3352800" y="76200"/>
                  </a:lnTo>
                  <a:lnTo>
                    <a:pt x="3352800" y="457200"/>
                  </a:lnTo>
                  <a:lnTo>
                    <a:pt x="0" y="419100"/>
                  </a:lnTo>
                  <a:close/>
                </a:path>
              </a:pathLst>
            </a:custGeom>
            <a:gradFill>
              <a:gsLst>
                <a:gs pos="0">
                  <a:srgbClr val="F5927E"/>
                </a:gs>
                <a:gs pos="100000">
                  <a:srgbClr val="DCEBFB"/>
                </a:gs>
              </a:gsLst>
              <a:lin ang="0" scaled="1"/>
            </a:gradFill>
            <a:ln>
              <a:noFill/>
            </a:ln>
          </p:spPr>
        </p:sp>
        <p:sp>
          <p:nvSpPr>
            <p:cNvPr id="14" name="TextBox 14"/>
            <p:cNvSpPr txBox="1"/>
            <p:nvPr/>
          </p:nvSpPr>
          <p:spPr>
            <a:xfrm>
              <a:off x="1422273" y="3234214"/>
              <a:ext cx="1391463" cy="249364"/>
            </a:xfrm>
            <a:prstGeom prst="rect">
              <a:avLst/>
            </a:prstGeom>
            <a:noFill/>
            <a:ln>
              <a:noFill/>
            </a:ln>
          </p:spPr>
          <p:txBody>
            <a:bodyPr wrap="none" lIns="0" tIns="0" rIns="0" bIns="0" anchor="t" anchorCtr="0">
              <a:spAutoFit/>
            </a:bodyPr>
            <a:lstStyle/>
            <a:p>
              <a:pPr algn="l"/>
              <a:r>
                <a:rPr lang="zh-CN" sz="1280" dirty="0">
                  <a:solidFill>
                    <a:srgbClr val="8A301E"/>
                  </a:solidFill>
                  <a:latin typeface="+mn-lt"/>
                  <a:ea typeface="+mn-ea"/>
                  <a:cs typeface="+mn-cs"/>
                </a:rPr>
                <a:t>认真履行岗位职责</a:t>
              </a:r>
            </a:p>
          </p:txBody>
        </p:sp>
        <p:sp>
          <p:nvSpPr>
            <p:cNvPr id="15" name="Polygon 15"/>
            <p:cNvSpPr/>
            <p:nvPr/>
          </p:nvSpPr>
          <p:spPr>
            <a:xfrm>
              <a:off x="914400" y="3733800"/>
              <a:ext cx="3352800" cy="419100"/>
            </a:xfrm>
            <a:custGeom>
              <a:avLst/>
              <a:gdLst/>
              <a:ahLst/>
              <a:cxnLst/>
              <a:rect l="l" t="t" r="r" b="b"/>
              <a:pathLst>
                <a:path w="3352800" h="419100">
                  <a:moveTo>
                    <a:pt x="0" y="0"/>
                  </a:moveTo>
                  <a:lnTo>
                    <a:pt x="3352800" y="38100"/>
                  </a:lnTo>
                  <a:lnTo>
                    <a:pt x="3352800" y="419100"/>
                  </a:lnTo>
                  <a:lnTo>
                    <a:pt x="0" y="419100"/>
                  </a:lnTo>
                  <a:close/>
                </a:path>
              </a:pathLst>
            </a:custGeom>
            <a:gradFill>
              <a:gsLst>
                <a:gs pos="0">
                  <a:srgbClr val="F5927E"/>
                </a:gs>
                <a:gs pos="100000">
                  <a:srgbClr val="DCEBFB"/>
                </a:gs>
              </a:gsLst>
              <a:lin ang="0" scaled="1"/>
            </a:gradFill>
            <a:ln>
              <a:noFill/>
            </a:ln>
          </p:spPr>
        </p:sp>
        <p:sp>
          <p:nvSpPr>
            <p:cNvPr id="16" name="TextBox 16"/>
            <p:cNvSpPr txBox="1"/>
            <p:nvPr/>
          </p:nvSpPr>
          <p:spPr>
            <a:xfrm>
              <a:off x="1422273" y="3881914"/>
              <a:ext cx="1391463" cy="249364"/>
            </a:xfrm>
            <a:prstGeom prst="rect">
              <a:avLst/>
            </a:prstGeom>
            <a:noFill/>
            <a:ln>
              <a:noFill/>
            </a:ln>
          </p:spPr>
          <p:txBody>
            <a:bodyPr wrap="none" lIns="0" tIns="0" rIns="0" bIns="0" anchor="t" anchorCtr="0">
              <a:spAutoFit/>
            </a:bodyPr>
            <a:lstStyle/>
            <a:p>
              <a:pPr algn="l"/>
              <a:r>
                <a:rPr lang="zh-CN" sz="1280" dirty="0">
                  <a:solidFill>
                    <a:srgbClr val="8A301E"/>
                  </a:solidFill>
                  <a:latin typeface="+mn-lt"/>
                  <a:ea typeface="+mn-ea"/>
                  <a:cs typeface="+mn-cs"/>
                </a:rPr>
                <a:t>加强内部管理制度</a:t>
              </a:r>
            </a:p>
          </p:txBody>
        </p:sp>
      </p:grpSp>
      <p:grpSp>
        <p:nvGrpSpPr>
          <p:cNvPr id="24" name="measures-core"/>
          <p:cNvGrpSpPr/>
          <p:nvPr/>
        </p:nvGrpSpPr>
        <p:grpSpPr>
          <a:xfrm>
            <a:off x="4762500" y="1809750"/>
            <a:ext cx="2667000" cy="2667000"/>
            <a:chOff x="4762500" y="1809750"/>
            <a:chExt cx="2667000" cy="2667000"/>
          </a:xfrm>
        </p:grpSpPr>
        <p:sp>
          <p:nvSpPr>
            <p:cNvPr id="18" name="Ellipse 18"/>
            <p:cNvSpPr/>
            <p:nvPr/>
          </p:nvSpPr>
          <p:spPr>
            <a:xfrm>
              <a:off x="4762500" y="1809750"/>
              <a:ext cx="2667000" cy="2667000"/>
            </a:xfrm>
            <a:prstGeom prst="ellipse">
              <a:avLst/>
            </a:prstGeom>
            <a:solidFill>
              <a:srgbClr val="DCEBFB"/>
            </a:solidFill>
            <a:ln>
              <a:noFill/>
            </a:ln>
          </p:spPr>
        </p:sp>
        <p:sp>
          <p:nvSpPr>
            <p:cNvPr id="19" name="Freeform 19"/>
            <p:cNvSpPr/>
            <p:nvPr/>
          </p:nvSpPr>
          <p:spPr>
            <a:xfrm>
              <a:off x="4953000" y="2095500"/>
              <a:ext cx="381000" cy="762000"/>
            </a:xfrm>
            <a:custGeom>
              <a:avLst/>
              <a:gdLst/>
              <a:ahLst/>
              <a:cxnLst/>
              <a:rect l="l" t="t" r="r" b="b"/>
              <a:pathLst>
                <a:path w="381000" h="762000">
                  <a:moveTo>
                    <a:pt x="0" y="762000"/>
                  </a:moveTo>
                  <a:cubicBezTo>
                    <a:pt x="31237" y="470448"/>
                    <a:pt x="166501" y="199920"/>
                    <a:pt x="381000" y="0"/>
                  </a:cubicBezTo>
                </a:path>
              </a:pathLst>
            </a:custGeom>
            <a:noFill/>
            <a:ln w="28575">
              <a:solidFill>
                <a:srgbClr val="E94B2B"/>
              </a:solidFill>
            </a:ln>
          </p:spPr>
        </p:sp>
        <p:sp>
          <p:nvSpPr>
            <p:cNvPr id="20" name="Freeform 20"/>
            <p:cNvSpPr/>
            <p:nvPr/>
          </p:nvSpPr>
          <p:spPr>
            <a:xfrm>
              <a:off x="6858000" y="3429000"/>
              <a:ext cx="381000" cy="762000"/>
            </a:xfrm>
            <a:custGeom>
              <a:avLst/>
              <a:gdLst/>
              <a:ahLst/>
              <a:cxnLst/>
              <a:rect l="l" t="t" r="r" b="b"/>
              <a:pathLst>
                <a:path w="381000" h="762000">
                  <a:moveTo>
                    <a:pt x="381000" y="0"/>
                  </a:moveTo>
                  <a:cubicBezTo>
                    <a:pt x="349763" y="291552"/>
                    <a:pt x="214499" y="562080"/>
                    <a:pt x="0" y="762000"/>
                  </a:cubicBezTo>
                </a:path>
              </a:pathLst>
            </a:custGeom>
            <a:noFill/>
            <a:ln w="28575">
              <a:solidFill>
                <a:srgbClr val="E94B2B"/>
              </a:solidFill>
            </a:ln>
          </p:spPr>
        </p:sp>
        <p:sp>
          <p:nvSpPr>
            <p:cNvPr id="21" name="Ellipse 21"/>
            <p:cNvSpPr/>
            <p:nvPr/>
          </p:nvSpPr>
          <p:spPr>
            <a:xfrm>
              <a:off x="4972050" y="2019300"/>
              <a:ext cx="2247900" cy="2247900"/>
            </a:xfrm>
            <a:prstGeom prst="ellipse">
              <a:avLst/>
            </a:prstGeom>
            <a:gradFill>
              <a:gsLst>
                <a:gs pos="0">
                  <a:srgbClr val="F2745A"/>
                </a:gs>
                <a:gs pos="100000">
                  <a:srgbClr val="C83B1E"/>
                </a:gs>
              </a:gsLst>
              <a:path path="circle">
                <a:fillToRect l="40000" t="35000" r="60000" b="65000"/>
              </a:path>
            </a:gradFill>
            <a:ln>
              <a:noFill/>
            </a:ln>
          </p:spPr>
        </p:sp>
        <p:sp>
          <p:nvSpPr>
            <p:cNvPr id="22" name="TextBox 22"/>
            <p:cNvSpPr txBox="1"/>
            <p:nvPr/>
          </p:nvSpPr>
          <p:spPr>
            <a:xfrm>
              <a:off x="5797075" y="2575560"/>
              <a:ext cx="597850" cy="1390650"/>
            </a:xfrm>
            <a:prstGeom prst="rect">
              <a:avLst/>
            </a:prstGeom>
            <a:noFill/>
            <a:ln>
              <a:noFill/>
            </a:ln>
          </p:spPr>
          <p:txBody>
            <a:bodyPr wrap="none" lIns="0" tIns="0" rIns="0" bIns="0" anchor="t" anchorCtr="0">
              <a:spAutoFit/>
            </a:bodyPr>
            <a:lstStyle/>
            <a:p>
              <a:pPr algn="ctr"/>
              <a:r>
                <a:rPr lang="zh-CN" sz="7200" b="1" dirty="0">
                  <a:solidFill>
                    <a:srgbClr val="FFFFFF"/>
                  </a:solidFill>
                  <a:latin typeface="+mn-lt"/>
                  <a:ea typeface="+mn-ea"/>
                  <a:cs typeface="+mn-cs"/>
                </a:rPr>
                <a:t>2</a:t>
              </a:r>
            </a:p>
          </p:txBody>
        </p:sp>
        <p:sp>
          <p:nvSpPr>
            <p:cNvPr id="23" name="TextBox 23"/>
            <p:cNvSpPr txBox="1"/>
            <p:nvPr/>
          </p:nvSpPr>
          <p:spPr>
            <a:xfrm>
              <a:off x="5723382" y="3653790"/>
              <a:ext cx="745236" cy="352044"/>
            </a:xfrm>
            <a:prstGeom prst="rect">
              <a:avLst/>
            </a:prstGeom>
            <a:noFill/>
            <a:ln>
              <a:noFill/>
            </a:ln>
          </p:spPr>
          <p:txBody>
            <a:bodyPr wrap="none" lIns="0" tIns="0" rIns="0" bIns="0" anchor="t" anchorCtr="0">
              <a:spAutoFit/>
            </a:bodyPr>
            <a:lstStyle/>
            <a:p>
              <a:pPr algn="ctr"/>
              <a:r>
                <a:rPr lang="zh-CN" sz="1800" dirty="0">
                  <a:solidFill>
                    <a:srgbClr val="FFFFFF"/>
                  </a:solidFill>
                  <a:latin typeface="+mn-lt"/>
                  <a:ea typeface="+mn-ea"/>
                  <a:cs typeface="+mn-cs"/>
                </a:rPr>
                <a:t>项措施</a:t>
              </a:r>
            </a:p>
          </p:txBody>
        </p:sp>
      </p:grpSp>
      <p:grpSp>
        <p:nvGrpSpPr>
          <p:cNvPr id="33" name="panel-service"/>
          <p:cNvGrpSpPr/>
          <p:nvPr/>
        </p:nvGrpSpPr>
        <p:grpSpPr>
          <a:xfrm>
            <a:off x="7734300" y="1596390"/>
            <a:ext cx="3790950" cy="3242310"/>
            <a:chOff x="7734300" y="1596390"/>
            <a:chExt cx="3790950" cy="3242310"/>
          </a:xfrm>
        </p:grpSpPr>
        <p:sp>
          <p:nvSpPr>
            <p:cNvPr id="25" name="TextBox 25"/>
            <p:cNvSpPr txBox="1"/>
            <p:nvPr/>
          </p:nvSpPr>
          <p:spPr>
            <a:xfrm>
              <a:off x="7991856" y="1596390"/>
              <a:ext cx="1956816" cy="352044"/>
            </a:xfrm>
            <a:prstGeom prst="rect">
              <a:avLst/>
            </a:prstGeom>
            <a:noFill/>
            <a:ln>
              <a:noFill/>
            </a:ln>
          </p:spPr>
          <p:txBody>
            <a:bodyPr wrap="none" lIns="0" tIns="0" rIns="0" bIns="0" anchor="t" anchorCtr="0">
              <a:spAutoFit/>
            </a:bodyPr>
            <a:lstStyle/>
            <a:p>
              <a:pPr algn="l"/>
              <a:r>
                <a:rPr lang="zh-CN" sz="1800" b="1" dirty="0">
                  <a:solidFill>
                    <a:srgbClr val="333333"/>
                  </a:solidFill>
                  <a:latin typeface="+mn-lt"/>
                  <a:ea typeface="+mn-ea"/>
                  <a:cs typeface="+mn-cs"/>
                </a:rPr>
                <a:t>增强主动</a:t>
              </a:r>
              <a:r>
                <a:rPr lang="zh-CN" sz="1800" b="1" dirty="0">
                  <a:solidFill>
                    <a:srgbClr val="E94B2B"/>
                  </a:solidFill>
                  <a:latin typeface="+mn-lt"/>
                  <a:ea typeface="+mn-ea"/>
                  <a:cs typeface="+mn-cs"/>
                </a:rPr>
                <a:t>服务意识</a:t>
              </a:r>
            </a:p>
          </p:txBody>
        </p:sp>
        <p:sp>
          <p:nvSpPr>
            <p:cNvPr id="26" name="Polygon 26"/>
            <p:cNvSpPr/>
            <p:nvPr/>
          </p:nvSpPr>
          <p:spPr>
            <a:xfrm>
              <a:off x="7734300" y="2019300"/>
              <a:ext cx="3790950" cy="2819400"/>
            </a:xfrm>
            <a:custGeom>
              <a:avLst/>
              <a:gdLst/>
              <a:ahLst/>
              <a:cxnLst/>
              <a:rect l="l" t="t" r="r" b="b"/>
              <a:pathLst>
                <a:path w="3790950" h="2819400">
                  <a:moveTo>
                    <a:pt x="0" y="228600"/>
                  </a:moveTo>
                  <a:lnTo>
                    <a:pt x="3790950" y="0"/>
                  </a:lnTo>
                  <a:lnTo>
                    <a:pt x="3790950" y="2819400"/>
                  </a:lnTo>
                  <a:lnTo>
                    <a:pt x="0" y="2343150"/>
                  </a:lnTo>
                  <a:close/>
                </a:path>
              </a:pathLst>
            </a:custGeom>
            <a:solidFill>
              <a:srgbClr val="FFFFFF">
                <a:alpha val="50000"/>
              </a:srgbClr>
            </a:solidFill>
            <a:ln w="11430">
              <a:solidFill>
                <a:srgbClr val="E94B2B"/>
              </a:solidFill>
              <a:custDash>
                <a:ds d="500000" sp="333333"/>
              </a:custDash>
            </a:ln>
          </p:spPr>
        </p:sp>
        <p:sp>
          <p:nvSpPr>
            <p:cNvPr id="27" name="Polygon 27"/>
            <p:cNvSpPr/>
            <p:nvPr/>
          </p:nvSpPr>
          <p:spPr>
            <a:xfrm>
              <a:off x="7924800" y="2400300"/>
              <a:ext cx="3352800" cy="495300"/>
            </a:xfrm>
            <a:custGeom>
              <a:avLst/>
              <a:gdLst/>
              <a:ahLst/>
              <a:cxnLst/>
              <a:rect l="l" t="t" r="r" b="b"/>
              <a:pathLst>
                <a:path w="3352800" h="495300">
                  <a:moveTo>
                    <a:pt x="0" y="114300"/>
                  </a:moveTo>
                  <a:lnTo>
                    <a:pt x="3352800" y="0"/>
                  </a:lnTo>
                  <a:lnTo>
                    <a:pt x="3352800" y="419100"/>
                  </a:lnTo>
                  <a:lnTo>
                    <a:pt x="0" y="495300"/>
                  </a:lnTo>
                  <a:close/>
                </a:path>
              </a:pathLst>
            </a:custGeom>
            <a:gradFill>
              <a:gsLst>
                <a:gs pos="0">
                  <a:srgbClr val="DCEBFB"/>
                </a:gs>
                <a:gs pos="100000">
                  <a:srgbClr val="F5927E"/>
                </a:gs>
              </a:gsLst>
              <a:lin ang="0" scaled="1"/>
            </a:gradFill>
            <a:ln>
              <a:noFill/>
            </a:ln>
          </p:spPr>
        </p:sp>
        <p:sp>
          <p:nvSpPr>
            <p:cNvPr id="28" name="TextBox 28"/>
            <p:cNvSpPr txBox="1"/>
            <p:nvPr/>
          </p:nvSpPr>
          <p:spPr>
            <a:xfrm>
              <a:off x="9378264" y="2586514"/>
              <a:ext cx="1391463" cy="249364"/>
            </a:xfrm>
            <a:prstGeom prst="rect">
              <a:avLst/>
            </a:prstGeom>
            <a:noFill/>
            <a:ln>
              <a:noFill/>
            </a:ln>
          </p:spPr>
          <p:txBody>
            <a:bodyPr wrap="none" lIns="0" tIns="0" rIns="0" bIns="0" anchor="t" anchorCtr="0">
              <a:spAutoFit/>
            </a:bodyPr>
            <a:lstStyle/>
            <a:p>
              <a:pPr algn="r"/>
              <a:r>
                <a:rPr lang="zh-CN" sz="1280" dirty="0">
                  <a:solidFill>
                    <a:srgbClr val="8A301E"/>
                  </a:solidFill>
                  <a:latin typeface="+mn-lt"/>
                  <a:ea typeface="+mn-ea"/>
                  <a:cs typeface="+mn-cs"/>
                </a:rPr>
                <a:t>学会主动与人沟通</a:t>
              </a:r>
            </a:p>
          </p:txBody>
        </p:sp>
        <p:sp>
          <p:nvSpPr>
            <p:cNvPr id="29" name="Polygon 29"/>
            <p:cNvSpPr/>
            <p:nvPr/>
          </p:nvSpPr>
          <p:spPr>
            <a:xfrm>
              <a:off x="7924800" y="3067050"/>
              <a:ext cx="3352800" cy="457200"/>
            </a:xfrm>
            <a:custGeom>
              <a:avLst/>
              <a:gdLst/>
              <a:ahLst/>
              <a:cxnLst/>
              <a:rect l="l" t="t" r="r" b="b"/>
              <a:pathLst>
                <a:path w="3352800" h="457200">
                  <a:moveTo>
                    <a:pt x="0" y="76200"/>
                  </a:moveTo>
                  <a:lnTo>
                    <a:pt x="3352800" y="0"/>
                  </a:lnTo>
                  <a:lnTo>
                    <a:pt x="3352800" y="419100"/>
                  </a:lnTo>
                  <a:lnTo>
                    <a:pt x="0" y="457200"/>
                  </a:lnTo>
                  <a:close/>
                </a:path>
              </a:pathLst>
            </a:custGeom>
            <a:gradFill>
              <a:gsLst>
                <a:gs pos="0">
                  <a:srgbClr val="DCEBFB"/>
                </a:gs>
                <a:gs pos="100000">
                  <a:srgbClr val="F5927E"/>
                </a:gs>
              </a:gsLst>
              <a:lin ang="0" scaled="1"/>
            </a:gradFill>
            <a:ln>
              <a:noFill/>
            </a:ln>
          </p:spPr>
        </p:sp>
        <p:sp>
          <p:nvSpPr>
            <p:cNvPr id="30" name="TextBox 30"/>
            <p:cNvSpPr txBox="1"/>
            <p:nvPr/>
          </p:nvSpPr>
          <p:spPr>
            <a:xfrm>
              <a:off x="9205951" y="3234214"/>
              <a:ext cx="1563776" cy="249364"/>
            </a:xfrm>
            <a:prstGeom prst="rect">
              <a:avLst/>
            </a:prstGeom>
            <a:noFill/>
            <a:ln>
              <a:noFill/>
            </a:ln>
          </p:spPr>
          <p:txBody>
            <a:bodyPr wrap="none" lIns="0" tIns="0" rIns="0" bIns="0" anchor="t" anchorCtr="0">
              <a:spAutoFit/>
            </a:bodyPr>
            <a:lstStyle/>
            <a:p>
              <a:pPr algn="r"/>
              <a:r>
                <a:rPr lang="zh-CN" sz="1280" dirty="0">
                  <a:solidFill>
                    <a:srgbClr val="8A301E"/>
                  </a:solidFill>
                  <a:latin typeface="+mn-lt"/>
                  <a:ea typeface="+mn-ea"/>
                  <a:cs typeface="+mn-cs"/>
                </a:rPr>
                <a:t>高效精干的管理队伍</a:t>
              </a:r>
            </a:p>
          </p:txBody>
        </p:sp>
        <p:sp>
          <p:nvSpPr>
            <p:cNvPr id="31" name="Polygon 31"/>
            <p:cNvSpPr/>
            <p:nvPr/>
          </p:nvSpPr>
          <p:spPr>
            <a:xfrm>
              <a:off x="7924800" y="3733800"/>
              <a:ext cx="3352800" cy="419100"/>
            </a:xfrm>
            <a:custGeom>
              <a:avLst/>
              <a:gdLst/>
              <a:ahLst/>
              <a:cxnLst/>
              <a:rect l="l" t="t" r="r" b="b"/>
              <a:pathLst>
                <a:path w="3352800" h="419100">
                  <a:moveTo>
                    <a:pt x="0" y="38100"/>
                  </a:moveTo>
                  <a:lnTo>
                    <a:pt x="3352800" y="0"/>
                  </a:lnTo>
                  <a:lnTo>
                    <a:pt x="3352800" y="419100"/>
                  </a:lnTo>
                  <a:lnTo>
                    <a:pt x="0" y="419100"/>
                  </a:lnTo>
                  <a:close/>
                </a:path>
              </a:pathLst>
            </a:custGeom>
            <a:gradFill>
              <a:gsLst>
                <a:gs pos="0">
                  <a:srgbClr val="DCEBFB"/>
                </a:gs>
                <a:gs pos="100000">
                  <a:srgbClr val="F5927E"/>
                </a:gs>
              </a:gsLst>
              <a:lin ang="0" scaled="1"/>
            </a:gradFill>
            <a:ln>
              <a:noFill/>
            </a:ln>
          </p:spPr>
        </p:sp>
        <p:sp>
          <p:nvSpPr>
            <p:cNvPr id="32" name="TextBox 32"/>
            <p:cNvSpPr txBox="1"/>
            <p:nvPr/>
          </p:nvSpPr>
          <p:spPr>
            <a:xfrm>
              <a:off x="9033637" y="3881914"/>
              <a:ext cx="1736090" cy="249364"/>
            </a:xfrm>
            <a:prstGeom prst="rect">
              <a:avLst/>
            </a:prstGeom>
            <a:noFill/>
            <a:ln>
              <a:noFill/>
            </a:ln>
          </p:spPr>
          <p:txBody>
            <a:bodyPr wrap="none" lIns="0" tIns="0" rIns="0" bIns="0" anchor="t" anchorCtr="0">
              <a:spAutoFit/>
            </a:bodyPr>
            <a:lstStyle/>
            <a:p>
              <a:pPr algn="r"/>
              <a:r>
                <a:rPr lang="zh-CN" sz="1280" dirty="0">
                  <a:solidFill>
                    <a:srgbClr val="8A301E"/>
                  </a:solidFill>
                  <a:latin typeface="+mn-lt"/>
                  <a:ea typeface="+mn-ea"/>
                  <a:cs typeface="+mn-cs"/>
                </a:rPr>
                <a:t>完善部门流程管理制度</a:t>
              </a:r>
            </a:p>
          </p:txBody>
        </p:sp>
      </p:grpSp>
      <p:grpSp>
        <p:nvGrpSpPr>
          <p:cNvPr id="37" name="platform-goal"/>
          <p:cNvGrpSpPr/>
          <p:nvPr/>
        </p:nvGrpSpPr>
        <p:grpSpPr>
          <a:xfrm>
            <a:off x="381000" y="5295900"/>
            <a:ext cx="11430000" cy="1428750"/>
            <a:chOff x="381000" y="5295900"/>
            <a:chExt cx="11430000" cy="1428750"/>
          </a:xfrm>
        </p:grpSpPr>
        <p:sp>
          <p:nvSpPr>
            <p:cNvPr id="34" name="Polygon 34"/>
            <p:cNvSpPr/>
            <p:nvPr/>
          </p:nvSpPr>
          <p:spPr>
            <a:xfrm>
              <a:off x="381000" y="5295900"/>
              <a:ext cx="11430000" cy="800100"/>
            </a:xfrm>
            <a:custGeom>
              <a:avLst/>
              <a:gdLst/>
              <a:ahLst/>
              <a:cxnLst/>
              <a:rect l="l" t="t" r="r" b="b"/>
              <a:pathLst>
                <a:path w="11430000" h="800100">
                  <a:moveTo>
                    <a:pt x="857250" y="0"/>
                  </a:moveTo>
                  <a:lnTo>
                    <a:pt x="10572750" y="0"/>
                  </a:lnTo>
                  <a:lnTo>
                    <a:pt x="11430000" y="800100"/>
                  </a:lnTo>
                  <a:lnTo>
                    <a:pt x="0" y="800100"/>
                  </a:lnTo>
                  <a:close/>
                </a:path>
              </a:pathLst>
            </a:custGeom>
            <a:gradFill>
              <a:gsLst>
                <a:gs pos="0">
                  <a:srgbClr val="F2745A"/>
                </a:gs>
                <a:gs pos="100000">
                  <a:srgbClr val="E94B2B"/>
                </a:gs>
              </a:gsLst>
              <a:lin ang="5400000" scaled="1"/>
            </a:gradFill>
            <a:ln>
              <a:noFill/>
            </a:ln>
          </p:spPr>
        </p:sp>
        <p:sp>
          <p:nvSpPr>
            <p:cNvPr id="35" name="Rectangle 35"/>
            <p:cNvSpPr/>
            <p:nvPr/>
          </p:nvSpPr>
          <p:spPr>
            <a:xfrm>
              <a:off x="381000" y="6096000"/>
              <a:ext cx="11430000" cy="628650"/>
            </a:xfrm>
            <a:prstGeom prst="rect">
              <a:avLst/>
            </a:prstGeom>
            <a:gradFill>
              <a:gsLst>
                <a:gs pos="0">
                  <a:srgbClr val="E94B2B"/>
                </a:gs>
                <a:gs pos="50000">
                  <a:srgbClr val="C83B1E"/>
                </a:gs>
                <a:gs pos="100000">
                  <a:srgbClr val="E94B2B"/>
                </a:gs>
              </a:gsLst>
              <a:lin ang="0" scaled="1"/>
            </a:gradFill>
            <a:ln>
              <a:noFill/>
            </a:ln>
          </p:spPr>
        </p:sp>
        <p:sp>
          <p:nvSpPr>
            <p:cNvPr id="36" name="TextBox 36"/>
            <p:cNvSpPr txBox="1"/>
            <p:nvPr/>
          </p:nvSpPr>
          <p:spPr>
            <a:xfrm>
              <a:off x="4250707" y="5615940"/>
              <a:ext cx="3690587"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使部门管理实现“精细化”管理目标</a:t>
              </a:r>
            </a:p>
          </p:txBody>
        </p:sp>
      </p:gr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x-1"/>
          <p:cNvSpPr/>
          <p:nvPr/>
        </p:nvSpPr>
        <p:spPr>
          <a:xfrm>
            <a:off x="571500" y="5829300"/>
            <a:ext cx="419100" cy="95250"/>
          </a:xfrm>
          <a:prstGeom prst="rect">
            <a:avLst/>
          </a:prstGeom>
          <a:solidFill>
            <a:srgbClr val="F8D1C9"/>
          </a:solidFill>
          <a:ln>
            <a:noFill/>
          </a:ln>
        </p:spPr>
      </p:sp>
      <p:sp>
        <p:nvSpPr>
          <p:cNvPr id="3" name="px-2"/>
          <p:cNvSpPr/>
          <p:nvPr/>
        </p:nvSpPr>
        <p:spPr>
          <a:xfrm>
            <a:off x="1143000" y="6248400"/>
            <a:ext cx="609600" cy="95250"/>
          </a:xfrm>
          <a:prstGeom prst="rect">
            <a:avLst/>
          </a:prstGeom>
          <a:solidFill>
            <a:srgbClr val="F8D1C9"/>
          </a:solidFill>
          <a:ln>
            <a:noFill/>
          </a:ln>
        </p:spPr>
      </p:sp>
      <p:sp>
        <p:nvSpPr>
          <p:cNvPr id="4" name="px-3"/>
          <p:cNvSpPr/>
          <p:nvPr/>
        </p:nvSpPr>
        <p:spPr>
          <a:xfrm>
            <a:off x="10191750" y="5334000"/>
            <a:ext cx="1143000" cy="95250"/>
          </a:xfrm>
          <a:prstGeom prst="rect">
            <a:avLst/>
          </a:prstGeom>
          <a:solidFill>
            <a:srgbClr val="F8D1C9"/>
          </a:solidFill>
          <a:ln>
            <a:noFill/>
          </a:ln>
        </p:spPr>
      </p:sp>
      <p:sp>
        <p:nvSpPr>
          <p:cNvPr id="5" name="px-4"/>
          <p:cNvSpPr/>
          <p:nvPr/>
        </p:nvSpPr>
        <p:spPr>
          <a:xfrm>
            <a:off x="10668000" y="5829300"/>
            <a:ext cx="571500" cy="95250"/>
          </a:xfrm>
          <a:prstGeom prst="rect">
            <a:avLst/>
          </a:prstGeom>
          <a:solidFill>
            <a:srgbClr val="F8D1C9"/>
          </a:solidFill>
          <a:ln>
            <a:noFill/>
          </a:ln>
        </p:spPr>
      </p:sp>
      <p:sp>
        <p:nvSpPr>
          <p:cNvPr id="6" name="px-5"/>
          <p:cNvSpPr/>
          <p:nvPr/>
        </p:nvSpPr>
        <p:spPr>
          <a:xfrm>
            <a:off x="10953750" y="6248400"/>
            <a:ext cx="476250" cy="95250"/>
          </a:xfrm>
          <a:prstGeom prst="rect">
            <a:avLst/>
          </a:prstGeom>
          <a:solidFill>
            <a:srgbClr val="F8D1C9"/>
          </a:solidFill>
          <a:ln>
            <a:noFill/>
          </a:ln>
        </p:spPr>
      </p:sp>
      <p:sp>
        <p:nvSpPr>
          <p:cNvPr id="7" name="Freeform 7"/>
          <p:cNvSpPr/>
          <p:nvPr/>
        </p:nvSpPr>
        <p:spPr>
          <a:xfrm>
            <a:off x="1809750" y="5810250"/>
            <a:ext cx="723900" cy="1047750"/>
          </a:xfrm>
          <a:prstGeom prst="upArrow">
            <a:avLst>
              <a:gd name="adj1" fmla="val 50000"/>
              <a:gd name="adj2" fmla="val 40000"/>
            </a:avLst>
          </a:prstGeom>
          <a:solidFill>
            <a:srgbClr val="FF5B3A">
              <a:alpha val="85000"/>
            </a:srgbClr>
          </a:solidFill>
          <a:ln>
            <a:noFill/>
          </a:ln>
        </p:spPr>
      </p:sp>
      <p:sp>
        <p:nvSpPr>
          <p:cNvPr id="8" name="Freeform 8"/>
          <p:cNvSpPr/>
          <p:nvPr/>
        </p:nvSpPr>
        <p:spPr>
          <a:xfrm>
            <a:off x="9144000" y="4095750"/>
            <a:ext cx="857250" cy="2762250"/>
          </a:xfrm>
          <a:prstGeom prst="upArrow">
            <a:avLst>
              <a:gd name="adj1" fmla="val 50000"/>
              <a:gd name="adj2" fmla="val 22000"/>
            </a:avLst>
          </a:prstGeom>
          <a:solidFill>
            <a:srgbClr val="FF5B3A">
              <a:alpha val="85000"/>
            </a:srgbClr>
          </a:solidFill>
          <a:ln>
            <a:noFill/>
          </a:ln>
        </p:spPr>
      </p:sp>
      <p:grpSp>
        <p:nvGrpSpPr>
          <p:cNvPr id="13" name="page-header"/>
          <p:cNvGrpSpPr/>
          <p:nvPr/>
        </p:nvGrpSpPr>
        <p:grpSpPr>
          <a:xfrm>
            <a:off x="0" y="0"/>
            <a:ext cx="11811000" cy="561404"/>
            <a:chOff x="0" y="0"/>
            <a:chExt cx="11811000" cy="561404"/>
          </a:xfrm>
        </p:grpSpPr>
        <p:sp>
          <p:nvSpPr>
            <p:cNvPr id="9" name="Polygon 9"/>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10" name="TextBox 10"/>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18</a:t>
              </a:r>
            </a:p>
          </p:txBody>
        </p:sp>
        <p:sp>
          <p:nvSpPr>
            <p:cNvPr id="11" name="TextBox 11"/>
            <p:cNvSpPr txBox="1"/>
            <p:nvPr/>
          </p:nvSpPr>
          <p:spPr>
            <a:xfrm>
              <a:off x="904494" y="180023"/>
              <a:ext cx="2953672"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运营推广计划-前期工作</a:t>
              </a:r>
            </a:p>
          </p:txBody>
        </p:sp>
        <p:sp>
          <p:nvSpPr>
            <p:cNvPr id="12" name="Line 12"/>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5" name="intro-text"/>
          <p:cNvGrpSpPr/>
          <p:nvPr/>
        </p:nvGrpSpPr>
        <p:grpSpPr>
          <a:xfrm>
            <a:off x="757047" y="885349"/>
            <a:ext cx="7601966" cy="419291"/>
            <a:chOff x="757047" y="885349"/>
            <a:chExt cx="7601966" cy="419291"/>
          </a:xfrm>
        </p:grpSpPr>
        <p:sp>
          <p:nvSpPr>
            <p:cNvPr id="14" name="TextBox 14"/>
            <p:cNvSpPr txBox="1"/>
            <p:nvPr/>
          </p:nvSpPr>
          <p:spPr>
            <a:xfrm>
              <a:off x="757047" y="885349"/>
              <a:ext cx="7601966" cy="419291"/>
            </a:xfrm>
            <a:prstGeom prst="rect">
              <a:avLst/>
            </a:prstGeom>
            <a:noFill/>
            <a:ln>
              <a:noFill/>
            </a:ln>
          </p:spPr>
          <p:txBody>
            <a:bodyPr wrap="none" lIns="0" tIns="0" rIns="0" bIns="0" anchor="t" anchorCtr="0">
              <a:spAutoFit/>
            </a:bodyPr>
            <a:lstStyle/>
            <a:p>
              <a:pPr algn="l">
                <a:lnSpc>
                  <a:spcPts val="1800"/>
                </a:lnSpc>
              </a:pPr>
              <a:r>
                <a:rPr lang="zh-CN" sz="980" dirty="0">
                  <a:solidFill>
                    <a:srgbClr val="333333"/>
                  </a:solidFill>
                  <a:latin typeface="+mn-lt"/>
                  <a:ea typeface="+mn-ea"/>
                  <a:cs typeface="+mn-cs"/>
                </a:rPr>
                <a:t>单击此处输入你的正文，文字是您思想的提炼，为了最终演示发布的良好效果，请尽量言简意赅的阐述观点；根据需要可酌情增减文字，以</a:t>
              </a:r>
              <a:br/>
              <a:r>
                <a:rPr lang="zh-CN" sz="980" dirty="0">
                  <a:solidFill>
                    <a:srgbClr val="333333"/>
                  </a:solidFill>
                  <a:latin typeface="+mn-lt"/>
                  <a:ea typeface="+mn-ea"/>
                  <a:cs typeface="+mn-cs"/>
                </a:rPr>
                <a:t>便观者可以准确理解您所传达的信息。单击此处输入你的正文，文字是您思想的提炼，根据需要可酌情增减文字</a:t>
              </a:r>
            </a:p>
          </p:txBody>
        </p:sp>
      </p:grpSp>
      <p:grpSp>
        <p:nvGrpSpPr>
          <p:cNvPr id="41" name="head-illustration"/>
          <p:cNvGrpSpPr/>
          <p:nvPr/>
        </p:nvGrpSpPr>
        <p:grpSpPr>
          <a:xfrm>
            <a:off x="4076700" y="2381250"/>
            <a:ext cx="3905250" cy="4476750"/>
            <a:chOff x="4076700" y="2381250"/>
            <a:chExt cx="3905250" cy="4476750"/>
          </a:xfrm>
        </p:grpSpPr>
        <p:sp>
          <p:nvSpPr>
            <p:cNvPr id="16" name="Freeform 16"/>
            <p:cNvSpPr/>
            <p:nvPr/>
          </p:nvSpPr>
          <p:spPr>
            <a:xfrm>
              <a:off x="4076700" y="2590800"/>
              <a:ext cx="3829050" cy="4267200"/>
            </a:xfrm>
            <a:custGeom>
              <a:avLst/>
              <a:gdLst/>
              <a:ahLst/>
              <a:cxnLst/>
              <a:rect l="l" t="t" r="r" b="b"/>
              <a:pathLst>
                <a:path w="3829050" h="4267200">
                  <a:moveTo>
                    <a:pt x="400050" y="4267200"/>
                  </a:moveTo>
                  <a:cubicBezTo>
                    <a:pt x="400050" y="3219450"/>
                    <a:pt x="0" y="2457450"/>
                    <a:pt x="361950" y="1600200"/>
                  </a:cubicBezTo>
                  <a:cubicBezTo>
                    <a:pt x="666750" y="647700"/>
                    <a:pt x="1257300" y="114300"/>
                    <a:pt x="2019300" y="57150"/>
                  </a:cubicBezTo>
                  <a:cubicBezTo>
                    <a:pt x="2876550" y="0"/>
                    <a:pt x="3543300" y="476250"/>
                    <a:pt x="3638550" y="1314450"/>
                  </a:cubicBezTo>
                  <a:cubicBezTo>
                    <a:pt x="3686175" y="1676400"/>
                    <a:pt x="3543300" y="1866900"/>
                    <a:pt x="3600450" y="2152650"/>
                  </a:cubicBezTo>
                  <a:cubicBezTo>
                    <a:pt x="3657600" y="2343150"/>
                    <a:pt x="3829050" y="2438400"/>
                    <a:pt x="3790950" y="2552700"/>
                  </a:cubicBezTo>
                  <a:cubicBezTo>
                    <a:pt x="3695700" y="2667000"/>
                    <a:pt x="3543300" y="2609850"/>
                    <a:pt x="3524250" y="2762250"/>
                  </a:cubicBezTo>
                  <a:cubicBezTo>
                    <a:pt x="3505200" y="2990850"/>
                    <a:pt x="3657600" y="3143250"/>
                    <a:pt x="3467100" y="3276600"/>
                  </a:cubicBezTo>
                  <a:cubicBezTo>
                    <a:pt x="3276600" y="3409950"/>
                    <a:pt x="2990850" y="3276600"/>
                    <a:pt x="2895600" y="3505200"/>
                  </a:cubicBezTo>
                  <a:cubicBezTo>
                    <a:pt x="2800350" y="3886200"/>
                    <a:pt x="3162300" y="4076700"/>
                    <a:pt x="3257550" y="4267200"/>
                  </a:cubicBezTo>
                  <a:close/>
                </a:path>
              </a:pathLst>
            </a:custGeom>
            <a:solidFill>
              <a:srgbClr val="FFFFFF"/>
            </a:solidFill>
            <a:ln w="19050">
              <a:solidFill>
                <a:srgbClr val="DCE6F3"/>
              </a:solidFill>
            </a:ln>
          </p:spPr>
        </p:sp>
        <p:sp>
          <p:nvSpPr>
            <p:cNvPr id="17" name="Freeform 17"/>
            <p:cNvSpPr/>
            <p:nvPr/>
          </p:nvSpPr>
          <p:spPr>
            <a:xfrm>
              <a:off x="4953000" y="2819400"/>
              <a:ext cx="2571750" cy="1943100"/>
            </a:xfrm>
            <a:custGeom>
              <a:avLst/>
              <a:gdLst/>
              <a:ahLst/>
              <a:cxnLst/>
              <a:rect l="l" t="t" r="r" b="b"/>
              <a:pathLst>
                <a:path w="2571750" h="1943100">
                  <a:moveTo>
                    <a:pt x="190500" y="1181100"/>
                  </a:moveTo>
                  <a:cubicBezTo>
                    <a:pt x="0" y="800100"/>
                    <a:pt x="238125" y="381000"/>
                    <a:pt x="666750" y="323850"/>
                  </a:cubicBezTo>
                  <a:cubicBezTo>
                    <a:pt x="857250" y="38100"/>
                    <a:pt x="1333500" y="0"/>
                    <a:pt x="1619250" y="209550"/>
                  </a:cubicBezTo>
                  <a:cubicBezTo>
                    <a:pt x="2000250" y="133350"/>
                    <a:pt x="2381250" y="419100"/>
                    <a:pt x="2305050" y="800100"/>
                  </a:cubicBezTo>
                  <a:cubicBezTo>
                    <a:pt x="2571750" y="990600"/>
                    <a:pt x="2476500" y="1371600"/>
                    <a:pt x="2190750" y="1485900"/>
                  </a:cubicBezTo>
                  <a:cubicBezTo>
                    <a:pt x="2095500" y="1752600"/>
                    <a:pt x="1714500" y="1847850"/>
                    <a:pt x="1485900" y="1695450"/>
                  </a:cubicBezTo>
                  <a:cubicBezTo>
                    <a:pt x="1238250" y="1943100"/>
                    <a:pt x="819150" y="1866900"/>
                    <a:pt x="704850" y="1657350"/>
                  </a:cubicBezTo>
                  <a:cubicBezTo>
                    <a:pt x="381000" y="1676400"/>
                    <a:pt x="95250" y="1485900"/>
                    <a:pt x="190500" y="1181100"/>
                  </a:cubicBezTo>
                  <a:close/>
                </a:path>
              </a:pathLst>
            </a:custGeom>
            <a:solidFill>
              <a:srgbClr val="DCEBFB"/>
            </a:solidFill>
            <a:ln w="23812">
              <a:solidFill>
                <a:srgbClr val="333333"/>
              </a:solidFill>
            </a:ln>
          </p:spPr>
        </p:sp>
        <p:sp>
          <p:nvSpPr>
            <p:cNvPr id="18" name="Rectangle 18"/>
            <p:cNvSpPr/>
            <p:nvPr/>
          </p:nvSpPr>
          <p:spPr>
            <a:xfrm>
              <a:off x="5715000" y="3543300"/>
              <a:ext cx="457200" cy="457200"/>
            </a:xfrm>
            <a:prstGeom prst="roundRect">
              <a:avLst>
                <a:gd name="adj" fmla="val 12500"/>
              </a:avLst>
            </a:prstGeom>
            <a:solidFill>
              <a:srgbClr val="E94B2B"/>
            </a:solidFill>
            <a:ln w="19050">
              <a:solidFill>
                <a:srgbClr val="C83B1E"/>
              </a:solidFill>
            </a:ln>
          </p:spPr>
        </p:sp>
        <p:sp>
          <p:nvSpPr>
            <p:cNvPr id="19" name="Rectangle 19"/>
            <p:cNvSpPr/>
            <p:nvPr/>
          </p:nvSpPr>
          <p:spPr>
            <a:xfrm>
              <a:off x="5829300" y="3657600"/>
              <a:ext cx="228600" cy="228600"/>
            </a:xfrm>
            <a:prstGeom prst="roundRect">
              <a:avLst>
                <a:gd name="adj" fmla="val 12500"/>
              </a:avLst>
            </a:prstGeom>
            <a:solidFill>
              <a:srgbClr val="F0856F"/>
            </a:solidFill>
            <a:ln>
              <a:noFill/>
            </a:ln>
          </p:spPr>
        </p:sp>
        <p:sp>
          <p:nvSpPr>
            <p:cNvPr id="20" name="Polyline 20"/>
            <p:cNvSpPr/>
            <p:nvPr/>
          </p:nvSpPr>
          <p:spPr>
            <a:xfrm>
              <a:off x="5334000" y="3562350"/>
              <a:ext cx="381000" cy="95250"/>
            </a:xfrm>
            <a:custGeom>
              <a:avLst/>
              <a:gdLst/>
              <a:ahLst/>
              <a:cxnLst/>
              <a:rect l="l" t="t" r="r" b="b"/>
              <a:pathLst>
                <a:path w="381000" h="95250">
                  <a:moveTo>
                    <a:pt x="381000" y="95250"/>
                  </a:moveTo>
                  <a:lnTo>
                    <a:pt x="95250" y="95250"/>
                  </a:lnTo>
                  <a:lnTo>
                    <a:pt x="0" y="0"/>
                  </a:lnTo>
                </a:path>
              </a:pathLst>
            </a:custGeom>
            <a:noFill/>
            <a:ln w="14288">
              <a:solidFill>
                <a:srgbClr val="333333"/>
              </a:solidFill>
            </a:ln>
          </p:spPr>
        </p:sp>
        <p:sp>
          <p:nvSpPr>
            <p:cNvPr id="21" name="Ellipse 21"/>
            <p:cNvSpPr/>
            <p:nvPr/>
          </p:nvSpPr>
          <p:spPr>
            <a:xfrm>
              <a:off x="5281612" y="3509962"/>
              <a:ext cx="66675" cy="66675"/>
            </a:xfrm>
            <a:prstGeom prst="ellipse">
              <a:avLst/>
            </a:prstGeom>
            <a:solidFill>
              <a:srgbClr val="333333"/>
            </a:solidFill>
            <a:ln>
              <a:noFill/>
            </a:ln>
          </p:spPr>
        </p:sp>
        <p:sp>
          <p:nvSpPr>
            <p:cNvPr id="22" name="Polyline 22"/>
            <p:cNvSpPr/>
            <p:nvPr/>
          </p:nvSpPr>
          <p:spPr>
            <a:xfrm>
              <a:off x="5391150" y="3886200"/>
              <a:ext cx="323850" cy="190500"/>
            </a:xfrm>
            <a:custGeom>
              <a:avLst/>
              <a:gdLst/>
              <a:ahLst/>
              <a:cxnLst/>
              <a:rect l="l" t="t" r="r" b="b"/>
              <a:pathLst>
                <a:path w="323850" h="190500">
                  <a:moveTo>
                    <a:pt x="323850" y="0"/>
                  </a:moveTo>
                  <a:lnTo>
                    <a:pt x="85725" y="0"/>
                  </a:lnTo>
                  <a:lnTo>
                    <a:pt x="0" y="190500"/>
                  </a:lnTo>
                </a:path>
              </a:pathLst>
            </a:custGeom>
            <a:noFill/>
            <a:ln w="14288">
              <a:solidFill>
                <a:srgbClr val="333333"/>
              </a:solidFill>
            </a:ln>
          </p:spPr>
        </p:sp>
        <p:sp>
          <p:nvSpPr>
            <p:cNvPr id="23" name="Ellipse 23"/>
            <p:cNvSpPr/>
            <p:nvPr/>
          </p:nvSpPr>
          <p:spPr>
            <a:xfrm>
              <a:off x="5338762" y="4081462"/>
              <a:ext cx="66675" cy="66675"/>
            </a:xfrm>
            <a:prstGeom prst="ellipse">
              <a:avLst/>
            </a:prstGeom>
            <a:solidFill>
              <a:srgbClr val="333333"/>
            </a:solidFill>
            <a:ln>
              <a:noFill/>
            </a:ln>
          </p:spPr>
        </p:sp>
        <p:sp>
          <p:nvSpPr>
            <p:cNvPr id="24" name="Polyline 24"/>
            <p:cNvSpPr/>
            <p:nvPr/>
          </p:nvSpPr>
          <p:spPr>
            <a:xfrm>
              <a:off x="6172200" y="3429000"/>
              <a:ext cx="495300" cy="228600"/>
            </a:xfrm>
            <a:custGeom>
              <a:avLst/>
              <a:gdLst/>
              <a:ahLst/>
              <a:cxnLst/>
              <a:rect l="l" t="t" r="r" b="b"/>
              <a:pathLst>
                <a:path w="495300" h="228600">
                  <a:moveTo>
                    <a:pt x="0" y="228600"/>
                  </a:moveTo>
                  <a:lnTo>
                    <a:pt x="400050" y="228600"/>
                  </a:lnTo>
                  <a:lnTo>
                    <a:pt x="495300" y="0"/>
                  </a:lnTo>
                </a:path>
              </a:pathLst>
            </a:custGeom>
            <a:noFill/>
            <a:ln w="14288">
              <a:solidFill>
                <a:srgbClr val="333333"/>
              </a:solidFill>
            </a:ln>
          </p:spPr>
        </p:sp>
        <p:sp>
          <p:nvSpPr>
            <p:cNvPr id="25" name="Ellipse 25"/>
            <p:cNvSpPr/>
            <p:nvPr/>
          </p:nvSpPr>
          <p:spPr>
            <a:xfrm>
              <a:off x="6653212" y="3357562"/>
              <a:ext cx="66675" cy="66675"/>
            </a:xfrm>
            <a:prstGeom prst="ellipse">
              <a:avLst/>
            </a:prstGeom>
            <a:solidFill>
              <a:srgbClr val="333333"/>
            </a:solidFill>
            <a:ln>
              <a:noFill/>
            </a:ln>
          </p:spPr>
        </p:sp>
        <p:sp>
          <p:nvSpPr>
            <p:cNvPr id="26" name="Polyline 26"/>
            <p:cNvSpPr/>
            <p:nvPr/>
          </p:nvSpPr>
          <p:spPr>
            <a:xfrm>
              <a:off x="6172200" y="3810000"/>
              <a:ext cx="781050" cy="114300"/>
            </a:xfrm>
            <a:custGeom>
              <a:avLst/>
              <a:gdLst/>
              <a:ahLst/>
              <a:cxnLst/>
              <a:rect l="l" t="t" r="r" b="b"/>
              <a:pathLst>
                <a:path w="781050" h="114300">
                  <a:moveTo>
                    <a:pt x="0" y="0"/>
                  </a:moveTo>
                  <a:lnTo>
                    <a:pt x="609600" y="0"/>
                  </a:lnTo>
                  <a:lnTo>
                    <a:pt x="781050" y="114300"/>
                  </a:lnTo>
                </a:path>
              </a:pathLst>
            </a:custGeom>
            <a:noFill/>
            <a:ln w="14288">
              <a:solidFill>
                <a:srgbClr val="333333"/>
              </a:solidFill>
            </a:ln>
          </p:spPr>
        </p:sp>
        <p:sp>
          <p:nvSpPr>
            <p:cNvPr id="27" name="Ellipse 27"/>
            <p:cNvSpPr/>
            <p:nvPr/>
          </p:nvSpPr>
          <p:spPr>
            <a:xfrm>
              <a:off x="6958012" y="3910012"/>
              <a:ext cx="66675" cy="66675"/>
            </a:xfrm>
            <a:prstGeom prst="ellipse">
              <a:avLst/>
            </a:prstGeom>
            <a:solidFill>
              <a:srgbClr val="333333"/>
            </a:solidFill>
            <a:ln>
              <a:noFill/>
            </a:ln>
          </p:spPr>
        </p:sp>
        <p:sp>
          <p:nvSpPr>
            <p:cNvPr id="28" name="Polyline 28"/>
            <p:cNvSpPr/>
            <p:nvPr/>
          </p:nvSpPr>
          <p:spPr>
            <a:xfrm>
              <a:off x="6172200" y="3943350"/>
              <a:ext cx="400050" cy="304800"/>
            </a:xfrm>
            <a:custGeom>
              <a:avLst/>
              <a:gdLst/>
              <a:ahLst/>
              <a:cxnLst/>
              <a:rect l="l" t="t" r="r" b="b"/>
              <a:pathLst>
                <a:path w="400050" h="304800">
                  <a:moveTo>
                    <a:pt x="0" y="0"/>
                  </a:moveTo>
                  <a:lnTo>
                    <a:pt x="304800" y="0"/>
                  </a:lnTo>
                  <a:lnTo>
                    <a:pt x="400050" y="304800"/>
                  </a:lnTo>
                </a:path>
              </a:pathLst>
            </a:custGeom>
            <a:noFill/>
            <a:ln w="14288">
              <a:solidFill>
                <a:srgbClr val="333333"/>
              </a:solidFill>
            </a:ln>
          </p:spPr>
        </p:sp>
        <p:sp>
          <p:nvSpPr>
            <p:cNvPr id="29" name="Ellipse 29"/>
            <p:cNvSpPr/>
            <p:nvPr/>
          </p:nvSpPr>
          <p:spPr>
            <a:xfrm>
              <a:off x="6557962" y="4252912"/>
              <a:ext cx="66675" cy="66675"/>
            </a:xfrm>
            <a:prstGeom prst="ellipse">
              <a:avLst/>
            </a:prstGeom>
            <a:solidFill>
              <a:srgbClr val="333333"/>
            </a:solidFill>
            <a:ln>
              <a:noFill/>
            </a:ln>
          </p:spPr>
        </p:sp>
        <p:sp>
          <p:nvSpPr>
            <p:cNvPr id="30" name="Polyline 30"/>
            <p:cNvSpPr/>
            <p:nvPr/>
          </p:nvSpPr>
          <p:spPr>
            <a:xfrm>
              <a:off x="5943600" y="4000500"/>
              <a:ext cx="152400" cy="381000"/>
            </a:xfrm>
            <a:custGeom>
              <a:avLst/>
              <a:gdLst/>
              <a:ahLst/>
              <a:cxnLst/>
              <a:rect l="l" t="t" r="r" b="b"/>
              <a:pathLst>
                <a:path w="152400" h="381000">
                  <a:moveTo>
                    <a:pt x="0" y="0"/>
                  </a:moveTo>
                  <a:lnTo>
                    <a:pt x="0" y="285750"/>
                  </a:lnTo>
                  <a:lnTo>
                    <a:pt x="152400" y="381000"/>
                  </a:lnTo>
                </a:path>
              </a:pathLst>
            </a:custGeom>
            <a:noFill/>
            <a:ln w="14288">
              <a:solidFill>
                <a:srgbClr val="333333"/>
              </a:solidFill>
            </a:ln>
          </p:spPr>
        </p:sp>
        <p:sp>
          <p:nvSpPr>
            <p:cNvPr id="31" name="Ellipse 31"/>
            <p:cNvSpPr/>
            <p:nvPr/>
          </p:nvSpPr>
          <p:spPr>
            <a:xfrm>
              <a:off x="6100762" y="4367212"/>
              <a:ext cx="66675" cy="66675"/>
            </a:xfrm>
            <a:prstGeom prst="ellipse">
              <a:avLst/>
            </a:prstGeom>
            <a:solidFill>
              <a:srgbClr val="333333"/>
            </a:solidFill>
            <a:ln>
              <a:noFill/>
            </a:ln>
          </p:spPr>
        </p:sp>
        <p:sp>
          <p:nvSpPr>
            <p:cNvPr id="32" name="Polyline 32"/>
            <p:cNvSpPr/>
            <p:nvPr/>
          </p:nvSpPr>
          <p:spPr>
            <a:xfrm>
              <a:off x="5676900" y="3238500"/>
              <a:ext cx="152400" cy="304800"/>
            </a:xfrm>
            <a:custGeom>
              <a:avLst/>
              <a:gdLst/>
              <a:ahLst/>
              <a:cxnLst/>
              <a:rect l="l" t="t" r="r" b="b"/>
              <a:pathLst>
                <a:path w="152400" h="304800">
                  <a:moveTo>
                    <a:pt x="152400" y="304800"/>
                  </a:moveTo>
                  <a:lnTo>
                    <a:pt x="152400" y="114300"/>
                  </a:lnTo>
                  <a:lnTo>
                    <a:pt x="0" y="0"/>
                  </a:lnTo>
                </a:path>
              </a:pathLst>
            </a:custGeom>
            <a:noFill/>
            <a:ln w="14288">
              <a:solidFill>
                <a:srgbClr val="333333"/>
              </a:solidFill>
            </a:ln>
          </p:spPr>
        </p:sp>
        <p:sp>
          <p:nvSpPr>
            <p:cNvPr id="33" name="Ellipse 33"/>
            <p:cNvSpPr/>
            <p:nvPr/>
          </p:nvSpPr>
          <p:spPr>
            <a:xfrm>
              <a:off x="5605462" y="3186112"/>
              <a:ext cx="66675" cy="66675"/>
            </a:xfrm>
            <a:prstGeom prst="ellipse">
              <a:avLst/>
            </a:prstGeom>
            <a:solidFill>
              <a:srgbClr val="333333"/>
            </a:solidFill>
            <a:ln>
              <a:noFill/>
            </a:ln>
          </p:spPr>
        </p:sp>
        <p:sp>
          <p:nvSpPr>
            <p:cNvPr id="34" name="Line 34"/>
            <p:cNvSpPr/>
            <p:nvPr/>
          </p:nvSpPr>
          <p:spPr>
            <a:xfrm>
              <a:off x="4210050" y="2762250"/>
              <a:ext cx="838200" cy="9525"/>
            </a:xfrm>
            <a:custGeom>
              <a:avLst/>
              <a:gdLst/>
              <a:ahLst/>
              <a:cxnLst/>
              <a:rect l="l" t="t" r="r" b="b"/>
              <a:pathLst>
                <a:path w="838200" h="9525">
                  <a:moveTo>
                    <a:pt x="0" y="0"/>
                  </a:moveTo>
                  <a:lnTo>
                    <a:pt x="838200" y="0"/>
                  </a:lnTo>
                </a:path>
              </a:pathLst>
            </a:custGeom>
            <a:noFill/>
            <a:ln w="14288">
              <a:solidFill>
                <a:srgbClr val="E94B2B"/>
              </a:solidFill>
            </a:ln>
          </p:spPr>
        </p:sp>
        <p:sp>
          <p:nvSpPr>
            <p:cNvPr id="35" name="Ellipse 35"/>
            <p:cNvSpPr/>
            <p:nvPr/>
          </p:nvSpPr>
          <p:spPr>
            <a:xfrm>
              <a:off x="4981575" y="2695575"/>
              <a:ext cx="133350" cy="133350"/>
            </a:xfrm>
            <a:prstGeom prst="ellipse">
              <a:avLst/>
            </a:prstGeom>
            <a:solidFill>
              <a:srgbClr val="FFFFFF"/>
            </a:solidFill>
            <a:ln w="19050">
              <a:solidFill>
                <a:srgbClr val="E94B2B"/>
              </a:solidFill>
            </a:ln>
          </p:spPr>
        </p:sp>
        <p:sp>
          <p:nvSpPr>
            <p:cNvPr id="36" name="Ellipse 36"/>
            <p:cNvSpPr/>
            <p:nvPr/>
          </p:nvSpPr>
          <p:spPr>
            <a:xfrm>
              <a:off x="5019675" y="2733675"/>
              <a:ext cx="57150" cy="57150"/>
            </a:xfrm>
            <a:prstGeom prst="ellipse">
              <a:avLst/>
            </a:prstGeom>
            <a:solidFill>
              <a:srgbClr val="E94B2B"/>
            </a:solidFill>
            <a:ln>
              <a:noFill/>
            </a:ln>
          </p:spPr>
        </p:sp>
        <p:sp>
          <p:nvSpPr>
            <p:cNvPr id="37" name="Line 37"/>
            <p:cNvSpPr/>
            <p:nvPr/>
          </p:nvSpPr>
          <p:spPr>
            <a:xfrm>
              <a:off x="6667500" y="2381250"/>
              <a:ext cx="1314450" cy="9525"/>
            </a:xfrm>
            <a:custGeom>
              <a:avLst/>
              <a:gdLst/>
              <a:ahLst/>
              <a:cxnLst/>
              <a:rect l="l" t="t" r="r" b="b"/>
              <a:pathLst>
                <a:path w="1314450" h="9525">
                  <a:moveTo>
                    <a:pt x="1314450" y="0"/>
                  </a:moveTo>
                  <a:lnTo>
                    <a:pt x="0" y="0"/>
                  </a:lnTo>
                </a:path>
              </a:pathLst>
            </a:custGeom>
            <a:noFill/>
            <a:ln w="14288">
              <a:solidFill>
                <a:srgbClr val="E94B2B"/>
              </a:solidFill>
            </a:ln>
          </p:spPr>
        </p:sp>
        <p:sp>
          <p:nvSpPr>
            <p:cNvPr id="38" name="Line 38"/>
            <p:cNvSpPr/>
            <p:nvPr/>
          </p:nvSpPr>
          <p:spPr>
            <a:xfrm>
              <a:off x="6667500" y="2381250"/>
              <a:ext cx="9525" cy="266700"/>
            </a:xfrm>
            <a:custGeom>
              <a:avLst/>
              <a:gdLst/>
              <a:ahLst/>
              <a:cxnLst/>
              <a:rect l="l" t="t" r="r" b="b"/>
              <a:pathLst>
                <a:path w="9525" h="266700">
                  <a:moveTo>
                    <a:pt x="0" y="0"/>
                  </a:moveTo>
                  <a:lnTo>
                    <a:pt x="0" y="266700"/>
                  </a:lnTo>
                </a:path>
              </a:pathLst>
            </a:custGeom>
            <a:noFill/>
            <a:ln w="14288">
              <a:solidFill>
                <a:srgbClr val="E94B2B"/>
              </a:solidFill>
            </a:ln>
          </p:spPr>
        </p:sp>
        <p:sp>
          <p:nvSpPr>
            <p:cNvPr id="39" name="Ellipse 39"/>
            <p:cNvSpPr/>
            <p:nvPr/>
          </p:nvSpPr>
          <p:spPr>
            <a:xfrm>
              <a:off x="6600825" y="2638425"/>
              <a:ext cx="133350" cy="133350"/>
            </a:xfrm>
            <a:prstGeom prst="ellipse">
              <a:avLst/>
            </a:prstGeom>
            <a:solidFill>
              <a:srgbClr val="FFFFFF"/>
            </a:solidFill>
            <a:ln w="19050">
              <a:solidFill>
                <a:srgbClr val="E94B2B"/>
              </a:solidFill>
            </a:ln>
          </p:spPr>
        </p:sp>
        <p:sp>
          <p:nvSpPr>
            <p:cNvPr id="40" name="Ellipse 40"/>
            <p:cNvSpPr/>
            <p:nvPr/>
          </p:nvSpPr>
          <p:spPr>
            <a:xfrm>
              <a:off x="6638925" y="2676525"/>
              <a:ext cx="57150" cy="57150"/>
            </a:xfrm>
            <a:prstGeom prst="ellipse">
              <a:avLst/>
            </a:prstGeom>
            <a:solidFill>
              <a:srgbClr val="E94B2B"/>
            </a:solidFill>
            <a:ln>
              <a:noFill/>
            </a:ln>
          </p:spPr>
        </p:sp>
      </p:grpSp>
      <p:grpSp>
        <p:nvGrpSpPr>
          <p:cNvPr id="48" name="card-left"/>
          <p:cNvGrpSpPr/>
          <p:nvPr/>
        </p:nvGrpSpPr>
        <p:grpSpPr>
          <a:xfrm>
            <a:off x="1333500" y="2762250"/>
            <a:ext cx="2838450" cy="1971390"/>
            <a:chOff x="1333500" y="2762250"/>
            <a:chExt cx="2838450" cy="1971390"/>
          </a:xfrm>
        </p:grpSpPr>
        <p:sp>
          <p:nvSpPr>
            <p:cNvPr id="42" name="Line 42"/>
            <p:cNvSpPr/>
            <p:nvPr/>
          </p:nvSpPr>
          <p:spPr>
            <a:xfrm>
              <a:off x="2381250" y="2762250"/>
              <a:ext cx="9525" cy="266700"/>
            </a:xfrm>
            <a:custGeom>
              <a:avLst/>
              <a:gdLst/>
              <a:ahLst/>
              <a:cxnLst/>
              <a:rect l="l" t="t" r="r" b="b"/>
              <a:pathLst>
                <a:path w="9525" h="266700">
                  <a:moveTo>
                    <a:pt x="0" y="266700"/>
                  </a:moveTo>
                  <a:lnTo>
                    <a:pt x="0" y="0"/>
                  </a:lnTo>
                </a:path>
              </a:pathLst>
            </a:custGeom>
            <a:noFill/>
            <a:ln w="14288">
              <a:solidFill>
                <a:srgbClr val="E94B2B"/>
              </a:solidFill>
            </a:ln>
          </p:spPr>
        </p:sp>
        <p:sp>
          <p:nvSpPr>
            <p:cNvPr id="43" name="Line 43"/>
            <p:cNvSpPr/>
            <p:nvPr/>
          </p:nvSpPr>
          <p:spPr>
            <a:xfrm>
              <a:off x="2381250" y="2762250"/>
              <a:ext cx="1790700" cy="9525"/>
            </a:xfrm>
            <a:custGeom>
              <a:avLst/>
              <a:gdLst/>
              <a:ahLst/>
              <a:cxnLst/>
              <a:rect l="l" t="t" r="r" b="b"/>
              <a:pathLst>
                <a:path w="1790700" h="9525">
                  <a:moveTo>
                    <a:pt x="0" y="0"/>
                  </a:moveTo>
                  <a:lnTo>
                    <a:pt x="1790700" y="0"/>
                  </a:lnTo>
                </a:path>
              </a:pathLst>
            </a:custGeom>
            <a:noFill/>
            <a:ln w="14288">
              <a:solidFill>
                <a:srgbClr val="E94B2B"/>
              </a:solidFill>
            </a:ln>
          </p:spPr>
        </p:sp>
        <p:sp>
          <p:nvSpPr>
            <p:cNvPr id="44" name="Freeform 44"/>
            <p:cNvSpPr/>
            <p:nvPr/>
          </p:nvSpPr>
          <p:spPr>
            <a:xfrm>
              <a:off x="1333500" y="3028950"/>
              <a:ext cx="2286000" cy="1047750"/>
            </a:xfrm>
            <a:prstGeom prst="snip2DiagRect">
              <a:avLst>
                <a:gd name="adj1" fmla="val 0"/>
                <a:gd name="adj2" fmla="val 22000"/>
              </a:avLst>
            </a:prstGeom>
            <a:solidFill>
              <a:srgbClr val="E94B2B"/>
            </a:solidFill>
            <a:ln>
              <a:noFill/>
            </a:ln>
          </p:spPr>
        </p:sp>
        <p:sp>
          <p:nvSpPr>
            <p:cNvPr id="45" name="TextBox 45"/>
            <p:cNvSpPr txBox="1"/>
            <p:nvPr/>
          </p:nvSpPr>
          <p:spPr>
            <a:xfrm>
              <a:off x="2008937" y="3294698"/>
              <a:ext cx="935126" cy="381381"/>
            </a:xfrm>
            <a:prstGeom prst="rect">
              <a:avLst/>
            </a:prstGeom>
            <a:noFill/>
            <a:ln>
              <a:noFill/>
            </a:ln>
          </p:spPr>
          <p:txBody>
            <a:bodyPr wrap="none" lIns="0" tIns="0" rIns="0" bIns="0" anchor="t" anchorCtr="0">
              <a:spAutoFit/>
            </a:bodyPr>
            <a:lstStyle/>
            <a:p>
              <a:pPr algn="ctr"/>
              <a:r>
                <a:rPr lang="zh-CN" sz="1950" dirty="0">
                  <a:solidFill>
                    <a:srgbClr val="FFFFFF"/>
                  </a:solidFill>
                  <a:latin typeface="+mj-lt"/>
                  <a:ea typeface="+mj-ea"/>
                  <a:cs typeface="+mj-cs"/>
                </a:rPr>
                <a:t>771267</a:t>
              </a:r>
            </a:p>
          </p:txBody>
        </p:sp>
        <p:sp>
          <p:nvSpPr>
            <p:cNvPr id="46" name="TextBox 46"/>
            <p:cNvSpPr txBox="1"/>
            <p:nvPr/>
          </p:nvSpPr>
          <p:spPr>
            <a:xfrm>
              <a:off x="1905762" y="3696652"/>
              <a:ext cx="1141476"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输入您的正文内容</a:t>
              </a:r>
            </a:p>
          </p:txBody>
        </p:sp>
        <p:sp>
          <p:nvSpPr>
            <p:cNvPr id="47" name="TextBox 47"/>
            <p:cNvSpPr txBox="1"/>
            <p:nvPr/>
          </p:nvSpPr>
          <p:spPr>
            <a:xfrm>
              <a:off x="1662557" y="4333399"/>
              <a:ext cx="1627886" cy="400241"/>
            </a:xfrm>
            <a:prstGeom prst="rect">
              <a:avLst/>
            </a:prstGeom>
            <a:noFill/>
            <a:ln>
              <a:noFill/>
            </a:ln>
          </p:spPr>
          <p:txBody>
            <a:bodyPr wrap="none" lIns="0" tIns="0" rIns="0" bIns="0" anchor="t" anchorCtr="0">
              <a:spAutoFit/>
            </a:bodyPr>
            <a:lstStyle/>
            <a:p>
              <a:pPr algn="ctr">
                <a:lnSpc>
                  <a:spcPts val="1650"/>
                </a:lnSpc>
              </a:pPr>
              <a:r>
                <a:rPr lang="zh-CN" sz="980" dirty="0">
                  <a:solidFill>
                    <a:srgbClr val="333333"/>
                  </a:solidFill>
                  <a:latin typeface="+mn-lt"/>
                  <a:ea typeface="+mn-ea"/>
                  <a:cs typeface="+mn-cs"/>
                </a:rPr>
                <a:t>请单击此处输入您的正文内容</a:t>
              </a:r>
              <a:br/>
              <a:r>
                <a:rPr lang="zh-CN" sz="980" dirty="0">
                  <a:solidFill>
                    <a:srgbClr val="333333"/>
                  </a:solidFill>
                  <a:latin typeface="+mn-lt"/>
                  <a:ea typeface="+mn-ea"/>
                  <a:cs typeface="+mn-cs"/>
                </a:rPr>
                <a:t>或者复制您的文本之后</a:t>
              </a:r>
            </a:p>
          </p:txBody>
        </p:sp>
      </p:grpSp>
      <p:grpSp>
        <p:nvGrpSpPr>
          <p:cNvPr id="54" name="card-right"/>
          <p:cNvGrpSpPr/>
          <p:nvPr/>
        </p:nvGrpSpPr>
        <p:grpSpPr>
          <a:xfrm>
            <a:off x="8039100" y="2038350"/>
            <a:ext cx="2533650" cy="1704690"/>
            <a:chOff x="8039100" y="2038350"/>
            <a:chExt cx="2533650" cy="1704690"/>
          </a:xfrm>
        </p:grpSpPr>
        <p:sp>
          <p:nvSpPr>
            <p:cNvPr id="49" name="Line 49"/>
            <p:cNvSpPr/>
            <p:nvPr/>
          </p:nvSpPr>
          <p:spPr>
            <a:xfrm>
              <a:off x="8039100" y="2381250"/>
              <a:ext cx="247650" cy="9525"/>
            </a:xfrm>
            <a:custGeom>
              <a:avLst/>
              <a:gdLst/>
              <a:ahLst/>
              <a:cxnLst/>
              <a:rect l="l" t="t" r="r" b="b"/>
              <a:pathLst>
                <a:path w="247650" h="9525">
                  <a:moveTo>
                    <a:pt x="0" y="0"/>
                  </a:moveTo>
                  <a:lnTo>
                    <a:pt x="247650" y="0"/>
                  </a:lnTo>
                </a:path>
              </a:pathLst>
            </a:custGeom>
            <a:noFill/>
            <a:ln w="14288">
              <a:solidFill>
                <a:srgbClr val="E94B2B"/>
              </a:solidFill>
            </a:ln>
          </p:spPr>
        </p:sp>
        <p:sp>
          <p:nvSpPr>
            <p:cNvPr id="50" name="Freeform 50"/>
            <p:cNvSpPr/>
            <p:nvPr/>
          </p:nvSpPr>
          <p:spPr>
            <a:xfrm>
              <a:off x="8286750" y="2038350"/>
              <a:ext cx="2286000" cy="1047750"/>
            </a:xfrm>
            <a:prstGeom prst="snip2DiagRect">
              <a:avLst>
                <a:gd name="adj1" fmla="val 0"/>
                <a:gd name="adj2" fmla="val 22000"/>
              </a:avLst>
            </a:prstGeom>
            <a:solidFill>
              <a:srgbClr val="E94B2B"/>
            </a:solidFill>
            <a:ln>
              <a:noFill/>
            </a:ln>
          </p:spPr>
        </p:sp>
        <p:sp>
          <p:nvSpPr>
            <p:cNvPr id="51" name="TextBox 51"/>
            <p:cNvSpPr txBox="1"/>
            <p:nvPr/>
          </p:nvSpPr>
          <p:spPr>
            <a:xfrm>
              <a:off x="8962187" y="2304098"/>
              <a:ext cx="935126" cy="381381"/>
            </a:xfrm>
            <a:prstGeom prst="rect">
              <a:avLst/>
            </a:prstGeom>
            <a:noFill/>
            <a:ln>
              <a:noFill/>
            </a:ln>
          </p:spPr>
          <p:txBody>
            <a:bodyPr wrap="none" lIns="0" tIns="0" rIns="0" bIns="0" anchor="t" anchorCtr="0">
              <a:spAutoFit/>
            </a:bodyPr>
            <a:lstStyle/>
            <a:p>
              <a:pPr algn="ctr"/>
              <a:r>
                <a:rPr lang="zh-CN" sz="1950" dirty="0">
                  <a:solidFill>
                    <a:srgbClr val="FFFFFF"/>
                  </a:solidFill>
                  <a:latin typeface="+mj-lt"/>
                  <a:ea typeface="+mj-ea"/>
                  <a:cs typeface="+mj-cs"/>
                </a:rPr>
                <a:t>771267</a:t>
              </a:r>
            </a:p>
          </p:txBody>
        </p:sp>
        <p:sp>
          <p:nvSpPr>
            <p:cNvPr id="52" name="TextBox 52"/>
            <p:cNvSpPr txBox="1"/>
            <p:nvPr/>
          </p:nvSpPr>
          <p:spPr>
            <a:xfrm>
              <a:off x="8859012" y="2706052"/>
              <a:ext cx="1141476"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输入您的正文内容</a:t>
              </a:r>
            </a:p>
          </p:txBody>
        </p:sp>
        <p:sp>
          <p:nvSpPr>
            <p:cNvPr id="53" name="TextBox 53"/>
            <p:cNvSpPr txBox="1"/>
            <p:nvPr/>
          </p:nvSpPr>
          <p:spPr>
            <a:xfrm>
              <a:off x="8615807" y="3342799"/>
              <a:ext cx="1627886" cy="400241"/>
            </a:xfrm>
            <a:prstGeom prst="rect">
              <a:avLst/>
            </a:prstGeom>
            <a:noFill/>
            <a:ln>
              <a:noFill/>
            </a:ln>
          </p:spPr>
          <p:txBody>
            <a:bodyPr wrap="none" lIns="0" tIns="0" rIns="0" bIns="0" anchor="t" anchorCtr="0">
              <a:spAutoFit/>
            </a:bodyPr>
            <a:lstStyle/>
            <a:p>
              <a:pPr algn="ctr">
                <a:lnSpc>
                  <a:spcPts val="1650"/>
                </a:lnSpc>
              </a:pPr>
              <a:r>
                <a:rPr lang="zh-CN" sz="980" dirty="0">
                  <a:solidFill>
                    <a:srgbClr val="333333"/>
                  </a:solidFill>
                  <a:latin typeface="+mn-lt"/>
                  <a:ea typeface="+mn-ea"/>
                  <a:cs typeface="+mn-cs"/>
                </a:rPr>
                <a:t>请单击此处输入您的正文内容</a:t>
              </a:r>
              <a:br/>
              <a:r>
                <a:rPr lang="zh-CN" sz="980" dirty="0">
                  <a:solidFill>
                    <a:srgbClr val="333333"/>
                  </a:solidFill>
                  <a:latin typeface="+mn-lt"/>
                  <a:ea typeface="+mn-ea"/>
                  <a:cs typeface="+mn-cs"/>
                </a:rPr>
                <a:t>或者复制您的文本之后</a:t>
              </a:r>
            </a:p>
          </p:txBody>
        </p:sp>
      </p:gr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ibbon-dec"/>
          <p:cNvSpPr/>
          <p:nvPr/>
        </p:nvSpPr>
        <p:spPr>
          <a:xfrm>
            <a:off x="0" y="2781300"/>
            <a:ext cx="12192000" cy="971550"/>
          </a:xfrm>
          <a:custGeom>
            <a:avLst/>
            <a:gdLst/>
            <a:ahLst/>
            <a:cxnLst/>
            <a:rect l="l" t="t" r="r" b="b"/>
            <a:pathLst>
              <a:path w="12192000" h="971550">
                <a:moveTo>
                  <a:pt x="0" y="457200"/>
                </a:moveTo>
                <a:lnTo>
                  <a:pt x="12192000" y="0"/>
                </a:lnTo>
                <a:lnTo>
                  <a:pt x="12192000" y="514350"/>
                </a:lnTo>
                <a:lnTo>
                  <a:pt x="0" y="971550"/>
                </a:lnTo>
                <a:close/>
              </a:path>
            </a:pathLst>
          </a:custGeom>
          <a:gradFill>
            <a:gsLst>
              <a:gs pos="0">
                <a:srgbClr val="F5927E">
                  <a:alpha val="55000"/>
                </a:srgbClr>
              </a:gs>
              <a:gs pos="100000">
                <a:srgbClr val="FF5B3A">
                  <a:alpha val="55000"/>
                </a:srgbClr>
              </a:gs>
            </a:gsLst>
            <a:lin ang="0" scaled="1"/>
          </a:gradFill>
          <a:ln>
            <a:noFill/>
          </a:ln>
        </p:spPr>
      </p:sp>
      <p:grpSp>
        <p:nvGrpSpPr>
          <p:cNvPr id="7" name="page-header"/>
          <p:cNvGrpSpPr/>
          <p:nvPr/>
        </p:nvGrpSpPr>
        <p:grpSpPr>
          <a:xfrm>
            <a:off x="0" y="0"/>
            <a:ext cx="11811000" cy="561404"/>
            <a:chOff x="0" y="0"/>
            <a:chExt cx="11811000" cy="561404"/>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4" name="TextBox 4"/>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19</a:t>
              </a:r>
            </a:p>
          </p:txBody>
        </p:sp>
        <p:sp>
          <p:nvSpPr>
            <p:cNvPr id="5" name="TextBox 5"/>
            <p:cNvSpPr txBox="1"/>
            <p:nvPr/>
          </p:nvSpPr>
          <p:spPr>
            <a:xfrm>
              <a:off x="904494" y="180023"/>
              <a:ext cx="168402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引擎产品详情</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9" name="intro-text"/>
          <p:cNvGrpSpPr/>
          <p:nvPr/>
        </p:nvGrpSpPr>
        <p:grpSpPr>
          <a:xfrm>
            <a:off x="2855087" y="885349"/>
            <a:ext cx="6481826" cy="419291"/>
            <a:chOff x="2855087" y="885349"/>
            <a:chExt cx="6481826" cy="419291"/>
          </a:xfrm>
        </p:grpSpPr>
        <p:sp>
          <p:nvSpPr>
            <p:cNvPr id="8" name="TextBox 8"/>
            <p:cNvSpPr txBox="1"/>
            <p:nvPr/>
          </p:nvSpPr>
          <p:spPr>
            <a:xfrm>
              <a:off x="2855087" y="885349"/>
              <a:ext cx="6481826" cy="419291"/>
            </a:xfrm>
            <a:prstGeom prst="rect">
              <a:avLst/>
            </a:prstGeom>
            <a:noFill/>
            <a:ln>
              <a:noFill/>
            </a:ln>
          </p:spPr>
          <p:txBody>
            <a:bodyPr wrap="none" lIns="0" tIns="0" rIns="0" bIns="0" anchor="t" anchorCtr="0">
              <a:spAutoFit/>
            </a:bodyPr>
            <a:lstStyle/>
            <a:p>
              <a:pPr algn="ctr">
                <a:lnSpc>
                  <a:spcPts val="1800"/>
                </a:lnSpc>
              </a:pPr>
              <a:r>
                <a:rPr lang="zh-CN" sz="980" dirty="0">
                  <a:solidFill>
                    <a:srgbClr val="333333"/>
                  </a:solidFill>
                  <a:latin typeface="+mn-lt"/>
                  <a:ea typeface="+mn-ea"/>
                  <a:cs typeface="+mn-cs"/>
                </a:rPr>
                <a:t>研究、探索在互联网高速发展的时代，如何将互联网技术运用到人才培养的过程中，为高职院校提供全新的人才培养模</a:t>
              </a:r>
              <a:br/>
              <a:r>
                <a:rPr lang="zh-CN" sz="980" dirty="0">
                  <a:solidFill>
                    <a:srgbClr val="333333"/>
                  </a:solidFill>
                  <a:latin typeface="+mn-lt"/>
                  <a:ea typeface="+mn-ea"/>
                  <a:cs typeface="+mn-cs"/>
                </a:rPr>
                <a:t>式，实现真正意义上的产教融合。为企业、为社会培养更贴近实际生产的技能型人才</a:t>
              </a:r>
            </a:p>
          </p:txBody>
        </p:sp>
      </p:grpSp>
      <p:grpSp>
        <p:nvGrpSpPr>
          <p:cNvPr id="24" name="card-subject"/>
          <p:cNvGrpSpPr/>
          <p:nvPr/>
        </p:nvGrpSpPr>
        <p:grpSpPr>
          <a:xfrm>
            <a:off x="1524000" y="1543050"/>
            <a:ext cx="2667000" cy="4457700"/>
            <a:chOff x="1524000" y="1543050"/>
            <a:chExt cx="2667000" cy="4457700"/>
          </a:xfrm>
        </p:grpSpPr>
        <p:sp>
          <p:nvSpPr>
            <p:cNvPr id="10" name="Rectangle 10"/>
            <p:cNvSpPr/>
            <p:nvPr/>
          </p:nvSpPr>
          <p:spPr>
            <a:xfrm>
              <a:off x="1524000" y="1543050"/>
              <a:ext cx="2667000" cy="4457700"/>
            </a:xfrm>
            <a:prstGeom prst="roundRect">
              <a:avLst>
                <a:gd name="adj" fmla="val 5000"/>
              </a:avLst>
            </a:prstGeom>
            <a:solidFill>
              <a:srgbClr val="FFFFFF"/>
            </a:solidFill>
            <a:ln w="11430">
              <a:solidFill>
                <a:srgbClr val="C9DDF5"/>
              </a:solidFill>
            </a:ln>
          </p:spPr>
        </p:sp>
        <p:sp>
          <p:nvSpPr>
            <p:cNvPr id="11" name="Ellipse 11"/>
            <p:cNvSpPr/>
            <p:nvPr/>
          </p:nvSpPr>
          <p:spPr>
            <a:xfrm>
              <a:off x="2381250" y="1924050"/>
              <a:ext cx="952500" cy="952500"/>
            </a:xfrm>
            <a:prstGeom prst="ellipse">
              <a:avLst/>
            </a:prstGeom>
            <a:gradFill>
              <a:gsLst>
                <a:gs pos="0">
                  <a:srgbClr val="F8B6A9"/>
                </a:gs>
                <a:gs pos="100000">
                  <a:srgbClr val="E94B2B"/>
                </a:gs>
              </a:gsLst>
              <a:lin ang="5400000" scaled="1"/>
            </a:gradFill>
            <a:ln>
              <a:noFill/>
            </a:ln>
          </p:spPr>
        </p:sp>
        <p:sp>
          <p:nvSpPr>
            <p:cNvPr id="12" name="Ellipse 12"/>
            <p:cNvSpPr/>
            <p:nvPr/>
          </p:nvSpPr>
          <p:spPr>
            <a:xfrm>
              <a:off x="2514600" y="2057400"/>
              <a:ext cx="685800" cy="685800"/>
            </a:xfrm>
            <a:prstGeom prst="ellipse">
              <a:avLst/>
            </a:prstGeom>
            <a:solidFill>
              <a:srgbClr val="FFFFFF"/>
            </a:solidFill>
            <a:ln>
              <a:noFill/>
            </a:ln>
          </p:spPr>
        </p:sp>
        <p:grpSp>
          <p:nvGrpSpPr>
            <p:cNvPr id="18" name="Group 18"/>
            <p:cNvGrpSpPr/>
            <p:nvPr/>
          </p:nvGrpSpPr>
          <p:grpSpPr>
            <a:xfrm>
              <a:off x="2768600" y="2286000"/>
              <a:ext cx="177800" cy="228599"/>
              <a:chOff x="2768600" y="2286000"/>
              <a:chExt cx="177800" cy="228599"/>
            </a:xfrm>
          </p:grpSpPr>
          <p:sp>
            <p:nvSpPr>
              <p:cNvPr id="13" name="Freeform 13"/>
              <p:cNvSpPr/>
              <p:nvPr/>
            </p:nvSpPr>
            <p:spPr>
              <a:xfrm>
                <a:off x="2882900" y="22860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rgbClr val="E94B2B"/>
                </a:solidFill>
              </a:ln>
            </p:spPr>
          </p:sp>
          <p:sp>
            <p:nvSpPr>
              <p:cNvPr id="14" name="Freeform 14"/>
              <p:cNvSpPr/>
              <p:nvPr/>
            </p:nvSpPr>
            <p:spPr>
              <a:xfrm>
                <a:off x="2768600" y="22860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rgbClr val="E94B2B"/>
                </a:solidFill>
              </a:ln>
            </p:spPr>
          </p:sp>
          <p:sp>
            <p:nvSpPr>
              <p:cNvPr id="15" name="Freeform 15"/>
              <p:cNvSpPr/>
              <p:nvPr/>
            </p:nvSpPr>
            <p:spPr>
              <a:xfrm>
                <a:off x="2819400" y="2362200"/>
                <a:ext cx="12700" cy="9525"/>
              </a:xfrm>
              <a:custGeom>
                <a:avLst/>
                <a:gdLst/>
                <a:ahLst/>
                <a:cxnLst/>
                <a:rect l="l" t="t" r="r" b="b"/>
                <a:pathLst>
                  <a:path w="12700" h="9525">
                    <a:moveTo>
                      <a:pt x="0" y="0"/>
                    </a:moveTo>
                    <a:lnTo>
                      <a:pt x="12700" y="0"/>
                    </a:lnTo>
                  </a:path>
                </a:pathLst>
              </a:custGeom>
              <a:noFill/>
              <a:ln w="25400">
                <a:solidFill>
                  <a:srgbClr val="E94B2B"/>
                </a:solidFill>
              </a:ln>
            </p:spPr>
          </p:sp>
          <p:sp>
            <p:nvSpPr>
              <p:cNvPr id="16" name="Freeform 16"/>
              <p:cNvSpPr/>
              <p:nvPr/>
            </p:nvSpPr>
            <p:spPr>
              <a:xfrm>
                <a:off x="2819400" y="2413000"/>
                <a:ext cx="76200" cy="9525"/>
              </a:xfrm>
              <a:custGeom>
                <a:avLst/>
                <a:gdLst/>
                <a:ahLst/>
                <a:cxnLst/>
                <a:rect l="l" t="t" r="r" b="b"/>
                <a:pathLst>
                  <a:path w="76200" h="9525">
                    <a:moveTo>
                      <a:pt x="0" y="0"/>
                    </a:moveTo>
                    <a:lnTo>
                      <a:pt x="76200" y="0"/>
                    </a:lnTo>
                  </a:path>
                </a:pathLst>
              </a:custGeom>
              <a:noFill/>
              <a:ln w="25400">
                <a:solidFill>
                  <a:srgbClr val="E94B2B"/>
                </a:solidFill>
              </a:ln>
            </p:spPr>
          </p:sp>
          <p:sp>
            <p:nvSpPr>
              <p:cNvPr id="17" name="Freeform 17"/>
              <p:cNvSpPr/>
              <p:nvPr/>
            </p:nvSpPr>
            <p:spPr>
              <a:xfrm>
                <a:off x="2819400" y="2463799"/>
                <a:ext cx="76200" cy="9525"/>
              </a:xfrm>
              <a:custGeom>
                <a:avLst/>
                <a:gdLst/>
                <a:ahLst/>
                <a:cxnLst/>
                <a:rect l="l" t="t" r="r" b="b"/>
                <a:pathLst>
                  <a:path w="76200" h="9525">
                    <a:moveTo>
                      <a:pt x="0" y="0"/>
                    </a:moveTo>
                    <a:lnTo>
                      <a:pt x="76200" y="0"/>
                    </a:lnTo>
                  </a:path>
                </a:pathLst>
              </a:custGeom>
              <a:noFill/>
              <a:ln w="25400">
                <a:solidFill>
                  <a:srgbClr val="E94B2B"/>
                </a:solidFill>
              </a:ln>
            </p:spPr>
          </p:sp>
        </p:grpSp>
        <p:sp>
          <p:nvSpPr>
            <p:cNvPr id="19" name="Rectangle 19"/>
            <p:cNvSpPr/>
            <p:nvPr/>
          </p:nvSpPr>
          <p:spPr>
            <a:xfrm>
              <a:off x="1809750" y="3067050"/>
              <a:ext cx="2095500" cy="285750"/>
            </a:xfrm>
            <a:prstGeom prst="roundRect">
              <a:avLst>
                <a:gd name="adj" fmla="val 50000"/>
              </a:avLst>
            </a:prstGeom>
            <a:gradFill>
              <a:gsLst>
                <a:gs pos="0">
                  <a:srgbClr val="FF5B3A"/>
                </a:gs>
                <a:gs pos="100000">
                  <a:srgbClr val="E94B2B"/>
                </a:gs>
              </a:gsLst>
              <a:lin ang="0" scaled="1"/>
            </a:gradFill>
            <a:ln>
              <a:noFill/>
            </a:ln>
          </p:spPr>
        </p:sp>
        <p:sp>
          <p:nvSpPr>
            <p:cNvPr id="20" name="TextBox 20"/>
            <p:cNvSpPr txBox="1"/>
            <p:nvPr/>
          </p:nvSpPr>
          <p:spPr>
            <a:xfrm>
              <a:off x="2651570" y="3129439"/>
              <a:ext cx="411860"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主 体</a:t>
              </a:r>
            </a:p>
          </p:txBody>
        </p:sp>
        <p:sp>
          <p:nvSpPr>
            <p:cNvPr id="21" name="TextBox 21"/>
            <p:cNvSpPr txBox="1"/>
            <p:nvPr/>
          </p:nvSpPr>
          <p:spPr>
            <a:xfrm>
              <a:off x="2334082" y="3558064"/>
              <a:ext cx="1046836"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集团自办学校</a:t>
              </a:r>
            </a:p>
          </p:txBody>
        </p:sp>
        <p:sp>
          <p:nvSpPr>
            <p:cNvPr id="22" name="TextBox 22"/>
            <p:cNvSpPr txBox="1"/>
            <p:nvPr/>
          </p:nvSpPr>
          <p:spPr>
            <a:xfrm>
              <a:off x="1981327" y="3857149"/>
              <a:ext cx="1752346" cy="819340"/>
            </a:xfrm>
            <a:prstGeom prst="rect">
              <a:avLst/>
            </a:prstGeom>
            <a:noFill/>
            <a:ln>
              <a:noFill/>
            </a:ln>
          </p:spPr>
          <p:txBody>
            <a:bodyPr wrap="none" lIns="0" tIns="0" rIns="0" bIns="0" anchor="t" anchorCtr="0">
              <a:spAutoFit/>
            </a:bodyPr>
            <a:lstStyle/>
            <a:p>
              <a:pPr algn="ctr">
                <a:lnSpc>
                  <a:spcPts val="1650"/>
                </a:lnSpc>
              </a:pPr>
              <a:r>
                <a:rPr lang="zh-CN" sz="980" dirty="0">
                  <a:solidFill>
                    <a:srgbClr val="444444"/>
                  </a:solidFill>
                  <a:latin typeface="+mn-lt"/>
                  <a:ea typeface="+mn-ea"/>
                  <a:cs typeface="+mn-cs"/>
                </a:rPr>
                <a:t>主要依托长航集团自办学校，武</a:t>
              </a:r>
              <a:br/>
              <a:r>
                <a:rPr lang="zh-CN" sz="980" dirty="0">
                  <a:solidFill>
                    <a:srgbClr val="444444"/>
                  </a:solidFill>
                  <a:latin typeface="+mn-lt"/>
                  <a:ea typeface="+mn-ea"/>
                  <a:cs typeface="+mn-cs"/>
                </a:rPr>
                <a:t>汉航航职业技术学院。通过船舶</a:t>
              </a:r>
              <a:br/>
              <a:r>
                <a:rPr lang="zh-CN" sz="980" dirty="0">
                  <a:solidFill>
                    <a:srgbClr val="444444"/>
                  </a:solidFill>
                  <a:latin typeface="+mn-lt"/>
                  <a:ea typeface="+mn-ea"/>
                  <a:cs typeface="+mn-cs"/>
                </a:rPr>
                <a:t>工程专业与招商局内部相关公司</a:t>
              </a:r>
              <a:br/>
              <a:r>
                <a:rPr lang="zh-CN" sz="980" dirty="0">
                  <a:solidFill>
                    <a:srgbClr val="444444"/>
                  </a:solidFill>
                  <a:latin typeface="+mn-lt"/>
                  <a:ea typeface="+mn-ea"/>
                  <a:cs typeface="+mn-cs"/>
                </a:rPr>
                <a:t>的合作</a:t>
              </a:r>
            </a:p>
          </p:txBody>
        </p:sp>
        <p:sp>
          <p:nvSpPr>
            <p:cNvPr id="23" name="Rectangle 23"/>
            <p:cNvSpPr/>
            <p:nvPr/>
          </p:nvSpPr>
          <p:spPr>
            <a:xfrm>
              <a:off x="2724150" y="5695950"/>
              <a:ext cx="266700" cy="38100"/>
            </a:xfrm>
            <a:prstGeom prst="roundRect">
              <a:avLst>
                <a:gd name="adj" fmla="val 50000"/>
              </a:avLst>
            </a:prstGeom>
            <a:solidFill>
              <a:srgbClr val="E94B2B"/>
            </a:solidFill>
            <a:ln>
              <a:noFill/>
            </a:ln>
          </p:spPr>
        </p:sp>
      </p:grpSp>
      <p:grpSp>
        <p:nvGrpSpPr>
          <p:cNvPr id="37" name="card-method"/>
          <p:cNvGrpSpPr/>
          <p:nvPr/>
        </p:nvGrpSpPr>
        <p:grpSpPr>
          <a:xfrm>
            <a:off x="4762500" y="1676400"/>
            <a:ext cx="2667000" cy="4457700"/>
            <a:chOff x="4762500" y="1676400"/>
            <a:chExt cx="2667000" cy="4457700"/>
          </a:xfrm>
        </p:grpSpPr>
        <p:sp>
          <p:nvSpPr>
            <p:cNvPr id="25" name="Rectangle 25"/>
            <p:cNvSpPr/>
            <p:nvPr/>
          </p:nvSpPr>
          <p:spPr>
            <a:xfrm>
              <a:off x="4762500" y="1676400"/>
              <a:ext cx="2667000" cy="4457700"/>
            </a:xfrm>
            <a:prstGeom prst="roundRect">
              <a:avLst>
                <a:gd name="adj" fmla="val 5000"/>
              </a:avLst>
            </a:prstGeom>
            <a:solidFill>
              <a:srgbClr val="FFFFFF"/>
            </a:solidFill>
            <a:ln w="11430">
              <a:solidFill>
                <a:srgbClr val="C9DDF5"/>
              </a:solidFill>
            </a:ln>
          </p:spPr>
        </p:sp>
        <p:sp>
          <p:nvSpPr>
            <p:cNvPr id="26" name="Ellipse 26"/>
            <p:cNvSpPr/>
            <p:nvPr/>
          </p:nvSpPr>
          <p:spPr>
            <a:xfrm>
              <a:off x="5619750" y="2057400"/>
              <a:ext cx="952500" cy="952500"/>
            </a:xfrm>
            <a:prstGeom prst="ellipse">
              <a:avLst/>
            </a:prstGeom>
            <a:gradFill>
              <a:gsLst>
                <a:gs pos="0">
                  <a:srgbClr val="F8B6A9"/>
                </a:gs>
                <a:gs pos="100000">
                  <a:srgbClr val="E94B2B"/>
                </a:gs>
              </a:gsLst>
              <a:lin ang="5400000" scaled="1"/>
            </a:gradFill>
            <a:ln>
              <a:noFill/>
            </a:ln>
          </p:spPr>
        </p:sp>
        <p:sp>
          <p:nvSpPr>
            <p:cNvPr id="27" name="Ellipse 27"/>
            <p:cNvSpPr/>
            <p:nvPr/>
          </p:nvSpPr>
          <p:spPr>
            <a:xfrm>
              <a:off x="5753100" y="2190750"/>
              <a:ext cx="685800" cy="685800"/>
            </a:xfrm>
            <a:prstGeom prst="ellipse">
              <a:avLst/>
            </a:prstGeom>
            <a:solidFill>
              <a:srgbClr val="FFFFFF"/>
            </a:solidFill>
            <a:ln>
              <a:noFill/>
            </a:ln>
          </p:spPr>
        </p:sp>
        <p:grpSp>
          <p:nvGrpSpPr>
            <p:cNvPr id="31" name="Group 31"/>
            <p:cNvGrpSpPr/>
            <p:nvPr/>
          </p:nvGrpSpPr>
          <p:grpSpPr>
            <a:xfrm>
              <a:off x="5981700" y="2419350"/>
              <a:ext cx="228599" cy="228600"/>
              <a:chOff x="5981700" y="2419350"/>
              <a:chExt cx="228599" cy="228600"/>
            </a:xfrm>
          </p:grpSpPr>
          <p:sp>
            <p:nvSpPr>
              <p:cNvPr id="28" name="Freeform 28"/>
              <p:cNvSpPr/>
              <p:nvPr/>
            </p:nvSpPr>
            <p:spPr>
              <a:xfrm>
                <a:off x="5981700" y="2419350"/>
                <a:ext cx="228599" cy="114300"/>
              </a:xfrm>
              <a:custGeom>
                <a:avLst/>
                <a:gdLst/>
                <a:ahLst/>
                <a:cxnLst/>
                <a:rect l="l" t="t" r="r" b="b"/>
                <a:pathLst>
                  <a:path w="228599" h="114300">
                    <a:moveTo>
                      <a:pt x="0" y="114300"/>
                    </a:moveTo>
                    <a:lnTo>
                      <a:pt x="12700" y="114300"/>
                    </a:lnTo>
                    <a:moveTo>
                      <a:pt x="114300" y="0"/>
                    </a:moveTo>
                    <a:lnTo>
                      <a:pt x="114300" y="12700"/>
                    </a:lnTo>
                    <a:moveTo>
                      <a:pt x="215899" y="114300"/>
                    </a:moveTo>
                    <a:lnTo>
                      <a:pt x="228599" y="114300"/>
                    </a:lnTo>
                    <a:moveTo>
                      <a:pt x="33020" y="33020"/>
                    </a:moveTo>
                    <a:lnTo>
                      <a:pt x="41910" y="41910"/>
                    </a:lnTo>
                    <a:moveTo>
                      <a:pt x="195580" y="33020"/>
                    </a:moveTo>
                    <a:lnTo>
                      <a:pt x="186690" y="41910"/>
                    </a:lnTo>
                  </a:path>
                </a:pathLst>
              </a:custGeom>
              <a:noFill/>
              <a:ln w="25400">
                <a:solidFill>
                  <a:srgbClr val="E94B2B"/>
                </a:solidFill>
              </a:ln>
            </p:spPr>
          </p:sp>
          <p:sp>
            <p:nvSpPr>
              <p:cNvPr id="29" name="Freeform 29"/>
              <p:cNvSpPr/>
              <p:nvPr/>
            </p:nvSpPr>
            <p:spPr>
              <a:xfrm>
                <a:off x="6027115" y="2470150"/>
                <a:ext cx="137769" cy="177800"/>
              </a:xfrm>
              <a:custGeom>
                <a:avLst/>
                <a:gdLst/>
                <a:ahLst/>
                <a:cxnLst/>
                <a:rect l="l" t="t" r="r" b="b"/>
                <a:pathLst>
                  <a:path w="137769" h="177800">
                    <a:moveTo>
                      <a:pt x="30785" y="114300"/>
                    </a:moveTo>
                    <a:cubicBezTo>
                      <a:pt x="8919" y="97900"/>
                      <a:pt x="0" y="69349"/>
                      <a:pt x="8643" y="43419"/>
                    </a:cubicBezTo>
                    <a:cubicBezTo>
                      <a:pt x="17286" y="17490"/>
                      <a:pt x="41552" y="0"/>
                      <a:pt x="68884" y="0"/>
                    </a:cubicBezTo>
                    <a:cubicBezTo>
                      <a:pt x="96217" y="0"/>
                      <a:pt x="120482" y="17490"/>
                      <a:pt x="129126" y="43419"/>
                    </a:cubicBezTo>
                    <a:cubicBezTo>
                      <a:pt x="137769" y="69349"/>
                      <a:pt x="128850" y="97900"/>
                      <a:pt x="106984" y="114300"/>
                    </a:cubicBezTo>
                    <a:cubicBezTo>
                      <a:pt x="96928" y="124254"/>
                      <a:pt x="92212" y="138402"/>
                      <a:pt x="94284" y="152400"/>
                    </a:cubicBezTo>
                    <a:cubicBezTo>
                      <a:pt x="94284" y="166428"/>
                      <a:pt x="82912" y="177800"/>
                      <a:pt x="68884" y="177800"/>
                    </a:cubicBezTo>
                    <a:cubicBezTo>
                      <a:pt x="54856" y="177800"/>
                      <a:pt x="43485" y="166428"/>
                      <a:pt x="43485" y="152400"/>
                    </a:cubicBezTo>
                    <a:cubicBezTo>
                      <a:pt x="45557" y="138402"/>
                      <a:pt x="40841" y="124254"/>
                      <a:pt x="30785" y="114300"/>
                    </a:cubicBezTo>
                  </a:path>
                </a:pathLst>
              </a:custGeom>
              <a:noFill/>
              <a:ln w="25400">
                <a:solidFill>
                  <a:srgbClr val="E94B2B"/>
                </a:solidFill>
              </a:ln>
            </p:spPr>
          </p:sp>
          <p:sp>
            <p:nvSpPr>
              <p:cNvPr id="30" name="Freeform 30"/>
              <p:cNvSpPr/>
              <p:nvPr/>
            </p:nvSpPr>
            <p:spPr>
              <a:xfrm>
                <a:off x="6066790" y="2597149"/>
                <a:ext cx="58420" cy="9525"/>
              </a:xfrm>
              <a:custGeom>
                <a:avLst/>
                <a:gdLst/>
                <a:ahLst/>
                <a:cxnLst/>
                <a:rect l="l" t="t" r="r" b="b"/>
                <a:pathLst>
                  <a:path w="58420" h="9525">
                    <a:moveTo>
                      <a:pt x="0" y="0"/>
                    </a:moveTo>
                    <a:lnTo>
                      <a:pt x="58420" y="0"/>
                    </a:lnTo>
                  </a:path>
                </a:pathLst>
              </a:custGeom>
              <a:noFill/>
              <a:ln w="25400">
                <a:solidFill>
                  <a:srgbClr val="E94B2B"/>
                </a:solidFill>
              </a:ln>
            </p:spPr>
          </p:sp>
        </p:grpSp>
        <p:sp>
          <p:nvSpPr>
            <p:cNvPr id="32" name="Rectangle 32"/>
            <p:cNvSpPr/>
            <p:nvPr/>
          </p:nvSpPr>
          <p:spPr>
            <a:xfrm>
              <a:off x="5048250" y="3200400"/>
              <a:ext cx="2095500" cy="285750"/>
            </a:xfrm>
            <a:prstGeom prst="roundRect">
              <a:avLst>
                <a:gd name="adj" fmla="val 50000"/>
              </a:avLst>
            </a:prstGeom>
            <a:gradFill>
              <a:gsLst>
                <a:gs pos="0">
                  <a:srgbClr val="FF5B3A"/>
                </a:gs>
                <a:gs pos="100000">
                  <a:srgbClr val="E94B2B"/>
                </a:gs>
              </a:gsLst>
              <a:lin ang="0" scaled="1"/>
            </a:gradFill>
            <a:ln>
              <a:noFill/>
            </a:ln>
          </p:spPr>
        </p:sp>
        <p:sp>
          <p:nvSpPr>
            <p:cNvPr id="33" name="TextBox 33"/>
            <p:cNvSpPr txBox="1"/>
            <p:nvPr/>
          </p:nvSpPr>
          <p:spPr>
            <a:xfrm>
              <a:off x="5890070" y="3262789"/>
              <a:ext cx="411860"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方 法</a:t>
              </a:r>
            </a:p>
          </p:txBody>
        </p:sp>
        <p:sp>
          <p:nvSpPr>
            <p:cNvPr id="34" name="TextBox 34"/>
            <p:cNvSpPr txBox="1"/>
            <p:nvPr/>
          </p:nvSpPr>
          <p:spPr>
            <a:xfrm>
              <a:off x="5386914" y="3691414"/>
              <a:ext cx="1418171"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互联网+远程教学​</a:t>
              </a:r>
            </a:p>
          </p:txBody>
        </p:sp>
        <p:sp>
          <p:nvSpPr>
            <p:cNvPr id="35" name="TextBox 35"/>
            <p:cNvSpPr txBox="1"/>
            <p:nvPr/>
          </p:nvSpPr>
          <p:spPr>
            <a:xfrm>
              <a:off x="5344287" y="3990499"/>
              <a:ext cx="1503426" cy="819340"/>
            </a:xfrm>
            <a:prstGeom prst="rect">
              <a:avLst/>
            </a:prstGeom>
            <a:noFill/>
            <a:ln>
              <a:noFill/>
            </a:ln>
          </p:spPr>
          <p:txBody>
            <a:bodyPr wrap="none" lIns="0" tIns="0" rIns="0" bIns="0" anchor="t" anchorCtr="0">
              <a:spAutoFit/>
            </a:bodyPr>
            <a:lstStyle/>
            <a:p>
              <a:pPr algn="ctr">
                <a:lnSpc>
                  <a:spcPts val="1650"/>
                </a:lnSpc>
              </a:pPr>
              <a:r>
                <a:rPr lang="zh-CN" sz="980" dirty="0">
                  <a:solidFill>
                    <a:srgbClr val="444444"/>
                  </a:solidFill>
                  <a:latin typeface="+mn-lt"/>
                  <a:ea typeface="+mn-ea"/>
                  <a:cs typeface="+mn-cs"/>
                </a:rPr>
                <a:t>利用互联网+的远程教学方</a:t>
              </a:r>
              <a:br/>
              <a:r>
                <a:rPr lang="zh-CN" sz="980" dirty="0">
                  <a:solidFill>
                    <a:srgbClr val="444444"/>
                  </a:solidFill>
                  <a:latin typeface="+mn-lt"/>
                  <a:ea typeface="+mn-ea"/>
                  <a:cs typeface="+mn-cs"/>
                </a:rPr>
                <a:t>式方法，共同拟定人才培养</a:t>
              </a:r>
              <a:br/>
              <a:r>
                <a:rPr lang="zh-CN" sz="980" dirty="0">
                  <a:solidFill>
                    <a:srgbClr val="444444"/>
                  </a:solidFill>
                  <a:latin typeface="+mn-lt"/>
                  <a:ea typeface="+mn-ea"/>
                  <a:cs typeface="+mn-cs"/>
                </a:rPr>
                <a:t>方案，共同培养符合公司生</a:t>
              </a:r>
              <a:br/>
              <a:r>
                <a:rPr lang="zh-CN" sz="980" dirty="0">
                  <a:solidFill>
                    <a:srgbClr val="444444"/>
                  </a:solidFill>
                  <a:latin typeface="+mn-lt"/>
                  <a:ea typeface="+mn-ea"/>
                  <a:cs typeface="+mn-cs"/>
                </a:rPr>
                <a:t>产要求的技能型人才</a:t>
              </a:r>
            </a:p>
          </p:txBody>
        </p:sp>
        <p:sp>
          <p:nvSpPr>
            <p:cNvPr id="36" name="Rectangle 36"/>
            <p:cNvSpPr/>
            <p:nvPr/>
          </p:nvSpPr>
          <p:spPr>
            <a:xfrm>
              <a:off x="5962650" y="5829300"/>
              <a:ext cx="266700" cy="38100"/>
            </a:xfrm>
            <a:prstGeom prst="roundRect">
              <a:avLst>
                <a:gd name="adj" fmla="val 50000"/>
              </a:avLst>
            </a:prstGeom>
            <a:solidFill>
              <a:srgbClr val="E94B2B"/>
            </a:solidFill>
            <a:ln>
              <a:noFill/>
            </a:ln>
          </p:spPr>
        </p:sp>
      </p:grpSp>
      <p:grpSp>
        <p:nvGrpSpPr>
          <p:cNvPr id="51" name="card-goal"/>
          <p:cNvGrpSpPr/>
          <p:nvPr/>
        </p:nvGrpSpPr>
        <p:grpSpPr>
          <a:xfrm>
            <a:off x="8001000" y="1543050"/>
            <a:ext cx="2667000" cy="4457700"/>
            <a:chOff x="8001000" y="1543050"/>
            <a:chExt cx="2667000" cy="4457700"/>
          </a:xfrm>
        </p:grpSpPr>
        <p:sp>
          <p:nvSpPr>
            <p:cNvPr id="38" name="Rectangle 38"/>
            <p:cNvSpPr/>
            <p:nvPr/>
          </p:nvSpPr>
          <p:spPr>
            <a:xfrm>
              <a:off x="8001000" y="1543050"/>
              <a:ext cx="2667000" cy="4457700"/>
            </a:xfrm>
            <a:prstGeom prst="roundRect">
              <a:avLst>
                <a:gd name="adj" fmla="val 5000"/>
              </a:avLst>
            </a:prstGeom>
            <a:solidFill>
              <a:srgbClr val="FFFFFF"/>
            </a:solidFill>
            <a:ln w="11430">
              <a:solidFill>
                <a:srgbClr val="C9DDF5"/>
              </a:solidFill>
            </a:ln>
          </p:spPr>
        </p:sp>
        <p:sp>
          <p:nvSpPr>
            <p:cNvPr id="39" name="Ellipse 39"/>
            <p:cNvSpPr/>
            <p:nvPr/>
          </p:nvSpPr>
          <p:spPr>
            <a:xfrm>
              <a:off x="8858250" y="1924050"/>
              <a:ext cx="952500" cy="952500"/>
            </a:xfrm>
            <a:prstGeom prst="ellipse">
              <a:avLst/>
            </a:prstGeom>
            <a:gradFill>
              <a:gsLst>
                <a:gs pos="0">
                  <a:srgbClr val="F8B6A9"/>
                </a:gs>
                <a:gs pos="100000">
                  <a:srgbClr val="E94B2B"/>
                </a:gs>
              </a:gsLst>
              <a:lin ang="5400000" scaled="1"/>
            </a:gradFill>
            <a:ln>
              <a:noFill/>
            </a:ln>
          </p:spPr>
        </p:sp>
        <p:sp>
          <p:nvSpPr>
            <p:cNvPr id="40" name="Ellipse 40"/>
            <p:cNvSpPr/>
            <p:nvPr/>
          </p:nvSpPr>
          <p:spPr>
            <a:xfrm>
              <a:off x="8991600" y="2057400"/>
              <a:ext cx="685800" cy="685800"/>
            </a:xfrm>
            <a:prstGeom prst="ellipse">
              <a:avLst/>
            </a:prstGeom>
            <a:solidFill>
              <a:srgbClr val="FFFFFF"/>
            </a:solidFill>
            <a:ln>
              <a:noFill/>
            </a:ln>
          </p:spPr>
        </p:sp>
        <p:grpSp>
          <p:nvGrpSpPr>
            <p:cNvPr id="45" name="Group 45"/>
            <p:cNvGrpSpPr/>
            <p:nvPr/>
          </p:nvGrpSpPr>
          <p:grpSpPr>
            <a:xfrm>
              <a:off x="9245600" y="2286000"/>
              <a:ext cx="177800" cy="228599"/>
              <a:chOff x="9245600" y="2286000"/>
              <a:chExt cx="177800" cy="228599"/>
            </a:xfrm>
          </p:grpSpPr>
          <p:sp>
            <p:nvSpPr>
              <p:cNvPr id="41" name="Freeform 41"/>
              <p:cNvSpPr/>
              <p:nvPr/>
            </p:nvSpPr>
            <p:spPr>
              <a:xfrm>
                <a:off x="9245600" y="2311400"/>
                <a:ext cx="177800" cy="203199"/>
              </a:xfrm>
              <a:custGeom>
                <a:avLst/>
                <a:gdLst/>
                <a:ahLst/>
                <a:cxnLst/>
                <a:rect l="l" t="t" r="r" b="b"/>
                <a:pathLst>
                  <a:path w="177800" h="203199">
                    <a:moveTo>
                      <a:pt x="50800" y="0"/>
                    </a:moveTo>
                    <a:lnTo>
                      <a:pt x="25400" y="0"/>
                    </a:lnTo>
                    <a:cubicBezTo>
                      <a:pt x="11372" y="0"/>
                      <a:pt x="0" y="11372"/>
                      <a:pt x="0" y="25400"/>
                    </a:cubicBezTo>
                    <a:lnTo>
                      <a:pt x="0" y="177800"/>
                    </a:lnTo>
                    <a:cubicBezTo>
                      <a:pt x="0" y="191828"/>
                      <a:pt x="11372" y="203199"/>
                      <a:pt x="25400" y="203199"/>
                    </a:cubicBezTo>
                    <a:lnTo>
                      <a:pt x="152400" y="203199"/>
                    </a:lnTo>
                    <a:cubicBezTo>
                      <a:pt x="166428" y="203199"/>
                      <a:pt x="177800" y="191828"/>
                      <a:pt x="177800" y="177800"/>
                    </a:cubicBezTo>
                    <a:lnTo>
                      <a:pt x="177800" y="25400"/>
                    </a:lnTo>
                    <a:cubicBezTo>
                      <a:pt x="177800" y="11372"/>
                      <a:pt x="166428" y="0"/>
                      <a:pt x="152400" y="0"/>
                    </a:cubicBezTo>
                    <a:lnTo>
                      <a:pt x="127000" y="0"/>
                    </a:lnTo>
                  </a:path>
                </a:pathLst>
              </a:custGeom>
              <a:noFill/>
              <a:ln w="25400">
                <a:solidFill>
                  <a:srgbClr val="E94B2B"/>
                </a:solidFill>
              </a:ln>
            </p:spPr>
          </p:sp>
          <p:sp>
            <p:nvSpPr>
              <p:cNvPr id="42" name="Freeform 42"/>
              <p:cNvSpPr/>
              <p:nvPr/>
            </p:nvSpPr>
            <p:spPr>
              <a:xfrm>
                <a:off x="9296400" y="2286000"/>
                <a:ext cx="76200" cy="50800"/>
              </a:xfrm>
              <a:custGeom>
                <a:avLst/>
                <a:gdLst/>
                <a:ahLst/>
                <a:cxnLst/>
                <a:rect l="l" t="t" r="r" b="b"/>
                <a:pathLst>
                  <a:path w="76200" h="50800">
                    <a:moveTo>
                      <a:pt x="0" y="25400"/>
                    </a:moveTo>
                    <a:cubicBezTo>
                      <a:pt x="0" y="11372"/>
                      <a:pt x="11372" y="0"/>
                      <a:pt x="25400" y="0"/>
                    </a:cubicBezTo>
                    <a:lnTo>
                      <a:pt x="50800" y="0"/>
                    </a:lnTo>
                    <a:cubicBezTo>
                      <a:pt x="64828" y="0"/>
                      <a:pt x="76200" y="11372"/>
                      <a:pt x="76200" y="25400"/>
                    </a:cubicBezTo>
                    <a:cubicBezTo>
                      <a:pt x="76200" y="39428"/>
                      <a:pt x="64828" y="50800"/>
                      <a:pt x="50800" y="50800"/>
                    </a:cubicBezTo>
                    <a:lnTo>
                      <a:pt x="25400" y="50800"/>
                    </a:lnTo>
                    <a:cubicBezTo>
                      <a:pt x="11372" y="50800"/>
                      <a:pt x="0" y="39428"/>
                      <a:pt x="0" y="25400"/>
                    </a:cubicBezTo>
                  </a:path>
                </a:pathLst>
              </a:custGeom>
              <a:noFill/>
              <a:ln w="25400">
                <a:solidFill>
                  <a:srgbClr val="E94B2B"/>
                </a:solidFill>
              </a:ln>
            </p:spPr>
          </p:sp>
          <p:sp>
            <p:nvSpPr>
              <p:cNvPr id="43" name="Freeform 43"/>
              <p:cNvSpPr/>
              <p:nvPr/>
            </p:nvSpPr>
            <p:spPr>
              <a:xfrm>
                <a:off x="9309100" y="2387600"/>
                <a:ext cx="50800" cy="76200"/>
              </a:xfrm>
              <a:custGeom>
                <a:avLst/>
                <a:gdLst/>
                <a:ahLst/>
                <a:cxnLst/>
                <a:rect l="l" t="t" r="r" b="b"/>
                <a:pathLst>
                  <a:path w="50800" h="76200">
                    <a:moveTo>
                      <a:pt x="50800" y="0"/>
                    </a:moveTo>
                    <a:lnTo>
                      <a:pt x="19050" y="0"/>
                    </a:lnTo>
                    <a:cubicBezTo>
                      <a:pt x="8529" y="0"/>
                      <a:pt x="0" y="8529"/>
                      <a:pt x="0" y="19050"/>
                    </a:cubicBezTo>
                    <a:cubicBezTo>
                      <a:pt x="0" y="29571"/>
                      <a:pt x="8529" y="38100"/>
                      <a:pt x="19050" y="38100"/>
                    </a:cubicBezTo>
                    <a:lnTo>
                      <a:pt x="31750" y="38100"/>
                    </a:lnTo>
                    <a:cubicBezTo>
                      <a:pt x="42271" y="38100"/>
                      <a:pt x="50800" y="46629"/>
                      <a:pt x="50800" y="57150"/>
                    </a:cubicBezTo>
                    <a:cubicBezTo>
                      <a:pt x="50800" y="67671"/>
                      <a:pt x="42271" y="76200"/>
                      <a:pt x="31750" y="76200"/>
                    </a:cubicBezTo>
                    <a:lnTo>
                      <a:pt x="0" y="76200"/>
                    </a:lnTo>
                  </a:path>
                </a:pathLst>
              </a:custGeom>
              <a:noFill/>
              <a:ln w="25400">
                <a:solidFill>
                  <a:srgbClr val="E94B2B"/>
                </a:solidFill>
              </a:ln>
            </p:spPr>
          </p:sp>
          <p:sp>
            <p:nvSpPr>
              <p:cNvPr id="44" name="Freeform 44"/>
              <p:cNvSpPr/>
              <p:nvPr/>
            </p:nvSpPr>
            <p:spPr>
              <a:xfrm>
                <a:off x="9334500" y="2374900"/>
                <a:ext cx="9525" cy="101600"/>
              </a:xfrm>
              <a:custGeom>
                <a:avLst/>
                <a:gdLst/>
                <a:ahLst/>
                <a:cxnLst/>
                <a:rect l="l" t="t" r="r" b="b"/>
                <a:pathLst>
                  <a:path w="9525" h="101600">
                    <a:moveTo>
                      <a:pt x="0" y="88900"/>
                    </a:moveTo>
                    <a:lnTo>
                      <a:pt x="0" y="101600"/>
                    </a:lnTo>
                    <a:moveTo>
                      <a:pt x="0" y="0"/>
                    </a:moveTo>
                    <a:lnTo>
                      <a:pt x="0" y="12700"/>
                    </a:lnTo>
                  </a:path>
                </a:pathLst>
              </a:custGeom>
              <a:noFill/>
              <a:ln w="25400">
                <a:solidFill>
                  <a:srgbClr val="E94B2B"/>
                </a:solidFill>
              </a:ln>
            </p:spPr>
          </p:sp>
        </p:grpSp>
        <p:sp>
          <p:nvSpPr>
            <p:cNvPr id="46" name="Rectangle 46"/>
            <p:cNvSpPr/>
            <p:nvPr/>
          </p:nvSpPr>
          <p:spPr>
            <a:xfrm>
              <a:off x="8286750" y="3067050"/>
              <a:ext cx="2095500" cy="285750"/>
            </a:xfrm>
            <a:prstGeom prst="roundRect">
              <a:avLst>
                <a:gd name="adj" fmla="val 50000"/>
              </a:avLst>
            </a:prstGeom>
            <a:gradFill>
              <a:gsLst>
                <a:gs pos="0">
                  <a:srgbClr val="FF5B3A"/>
                </a:gs>
                <a:gs pos="100000">
                  <a:srgbClr val="E94B2B"/>
                </a:gs>
              </a:gsLst>
              <a:lin ang="0" scaled="1"/>
            </a:gradFill>
            <a:ln>
              <a:noFill/>
            </a:ln>
          </p:spPr>
        </p:sp>
        <p:sp>
          <p:nvSpPr>
            <p:cNvPr id="47" name="TextBox 47"/>
            <p:cNvSpPr txBox="1"/>
            <p:nvPr/>
          </p:nvSpPr>
          <p:spPr>
            <a:xfrm>
              <a:off x="9128570" y="3129439"/>
              <a:ext cx="411860"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目 标</a:t>
              </a:r>
            </a:p>
          </p:txBody>
        </p:sp>
        <p:sp>
          <p:nvSpPr>
            <p:cNvPr id="48" name="TextBox 48"/>
            <p:cNvSpPr txBox="1"/>
            <p:nvPr/>
          </p:nvSpPr>
          <p:spPr>
            <a:xfrm>
              <a:off x="8983396" y="3558064"/>
              <a:ext cx="702208" cy="249364"/>
            </a:xfrm>
            <a:prstGeom prst="rect">
              <a:avLst/>
            </a:prstGeom>
            <a:noFill/>
            <a:ln>
              <a:noFill/>
            </a:ln>
          </p:spPr>
          <p:txBody>
            <a:bodyPr wrap="none" lIns="0" tIns="0" rIns="0" bIns="0" anchor="t" anchorCtr="0">
              <a:spAutoFit/>
            </a:bodyPr>
            <a:lstStyle/>
            <a:p>
              <a:pPr algn="ctr"/>
              <a:r>
                <a:rPr lang="zh-CN" sz="1280" b="1" dirty="0">
                  <a:solidFill>
                    <a:srgbClr val="333333"/>
                  </a:solidFill>
                  <a:latin typeface="+mn-lt"/>
                  <a:ea typeface="+mn-ea"/>
                  <a:cs typeface="+mn-cs"/>
                </a:rPr>
                <a:t>产教融合</a:t>
              </a:r>
            </a:p>
          </p:txBody>
        </p:sp>
        <p:sp>
          <p:nvSpPr>
            <p:cNvPr id="49" name="TextBox 49"/>
            <p:cNvSpPr txBox="1"/>
            <p:nvPr/>
          </p:nvSpPr>
          <p:spPr>
            <a:xfrm>
              <a:off x="8458327" y="3857149"/>
              <a:ext cx="1752346" cy="819340"/>
            </a:xfrm>
            <a:prstGeom prst="rect">
              <a:avLst/>
            </a:prstGeom>
            <a:noFill/>
            <a:ln>
              <a:noFill/>
            </a:ln>
          </p:spPr>
          <p:txBody>
            <a:bodyPr wrap="none" lIns="0" tIns="0" rIns="0" bIns="0" anchor="t" anchorCtr="0">
              <a:spAutoFit/>
            </a:bodyPr>
            <a:lstStyle/>
            <a:p>
              <a:pPr algn="ctr">
                <a:lnSpc>
                  <a:spcPts val="1650"/>
                </a:lnSpc>
              </a:pPr>
              <a:r>
                <a:rPr lang="zh-CN" sz="980" dirty="0">
                  <a:solidFill>
                    <a:srgbClr val="444444"/>
                  </a:solidFill>
                  <a:latin typeface="+mn-lt"/>
                  <a:ea typeface="+mn-ea"/>
                  <a:cs typeface="+mn-cs"/>
                </a:rPr>
                <a:t>实现学生边学习，边参与企业实</a:t>
              </a:r>
              <a:br/>
              <a:r>
                <a:rPr lang="zh-CN" sz="980" dirty="0">
                  <a:solidFill>
                    <a:srgbClr val="444444"/>
                  </a:solidFill>
                  <a:latin typeface="+mn-lt"/>
                  <a:ea typeface="+mn-ea"/>
                  <a:cs typeface="+mn-cs"/>
                </a:rPr>
                <a:t>践，提高教育教学质量，培养出</a:t>
              </a:r>
              <a:br/>
              <a:r>
                <a:rPr lang="zh-CN" sz="980" dirty="0">
                  <a:solidFill>
                    <a:srgbClr val="444444"/>
                  </a:solidFill>
                  <a:latin typeface="+mn-lt"/>
                  <a:ea typeface="+mn-ea"/>
                  <a:cs typeface="+mn-cs"/>
                </a:rPr>
                <a:t>符合企业实际岗位需求的技能型</a:t>
              </a:r>
              <a:br/>
              <a:r>
                <a:rPr lang="zh-CN" sz="980" dirty="0">
                  <a:solidFill>
                    <a:srgbClr val="444444"/>
                  </a:solidFill>
                  <a:latin typeface="+mn-lt"/>
                  <a:ea typeface="+mn-ea"/>
                  <a:cs typeface="+mn-cs"/>
                </a:rPr>
                <a:t>人才的目的</a:t>
              </a:r>
            </a:p>
          </p:txBody>
        </p:sp>
        <p:sp>
          <p:nvSpPr>
            <p:cNvPr id="50" name="Rectangle 50"/>
            <p:cNvSpPr/>
            <p:nvPr/>
          </p:nvSpPr>
          <p:spPr>
            <a:xfrm>
              <a:off x="9201150" y="5695950"/>
              <a:ext cx="266700" cy="38100"/>
            </a:xfrm>
            <a:prstGeom prst="roundRect">
              <a:avLst>
                <a:gd name="adj" fmla="val 50000"/>
              </a:avLst>
            </a:prstGeom>
            <a:solidFill>
              <a:srgbClr val="E94B2B"/>
            </a:solidFill>
            <a:ln>
              <a:noFill/>
            </a:ln>
          </p:spPr>
        </p:sp>
      </p:gr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ab-top"/>
          <p:cNvSpPr/>
          <p:nvPr/>
        </p:nvSpPr>
        <p:spPr>
          <a:xfrm>
            <a:off x="381000" y="6324600"/>
            <a:ext cx="11430000" cy="533400"/>
          </a:xfrm>
          <a:custGeom>
            <a:avLst/>
            <a:gdLst/>
            <a:ahLst/>
            <a:cxnLst/>
            <a:rect l="l" t="t" r="r" b="b"/>
            <a:pathLst>
              <a:path w="11430000" h="533400">
                <a:moveTo>
                  <a:pt x="762000" y="0"/>
                </a:moveTo>
                <a:lnTo>
                  <a:pt x="10668000" y="0"/>
                </a:lnTo>
                <a:lnTo>
                  <a:pt x="11430000" y="533400"/>
                </a:lnTo>
                <a:lnTo>
                  <a:pt x="0" y="533400"/>
                </a:lnTo>
                <a:close/>
              </a:path>
            </a:pathLst>
          </a:custGeom>
          <a:gradFill>
            <a:gsLst>
              <a:gs pos="0">
                <a:srgbClr val="DCEBFB"/>
              </a:gs>
              <a:gs pos="100000">
                <a:srgbClr val="F5927E"/>
              </a:gs>
            </a:gsLst>
            <a:lin ang="5400000" scaled="1"/>
          </a:gradFill>
          <a:ln>
            <a:noFill/>
          </a:ln>
        </p:spPr>
      </p:sp>
      <p:grpSp>
        <p:nvGrpSpPr>
          <p:cNvPr id="7" name="page-header"/>
          <p:cNvGrpSpPr/>
          <p:nvPr/>
        </p:nvGrpSpPr>
        <p:grpSpPr>
          <a:xfrm>
            <a:off x="0" y="0"/>
            <a:ext cx="11811000" cy="561404"/>
            <a:chOff x="0" y="0"/>
            <a:chExt cx="11811000" cy="561404"/>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4" name="TextBox 4"/>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20</a:t>
              </a:r>
            </a:p>
          </p:txBody>
        </p:sp>
        <p:sp>
          <p:nvSpPr>
            <p:cNvPr id="5" name="TextBox 5"/>
            <p:cNvSpPr txBox="1"/>
            <p:nvPr/>
          </p:nvSpPr>
          <p:spPr>
            <a:xfrm>
              <a:off x="904494" y="180023"/>
              <a:ext cx="1406652"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系统架构图</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9" name="intro-text"/>
          <p:cNvGrpSpPr/>
          <p:nvPr/>
        </p:nvGrpSpPr>
        <p:grpSpPr>
          <a:xfrm>
            <a:off x="756856" y="881301"/>
            <a:ext cx="6038977" cy="426625"/>
            <a:chOff x="756856" y="881301"/>
            <a:chExt cx="6038977" cy="426625"/>
          </a:xfrm>
        </p:grpSpPr>
        <p:sp>
          <p:nvSpPr>
            <p:cNvPr id="8" name="TextBox 8"/>
            <p:cNvSpPr txBox="1"/>
            <p:nvPr/>
          </p:nvSpPr>
          <p:spPr>
            <a:xfrm>
              <a:off x="756856" y="881301"/>
              <a:ext cx="6038977" cy="426625"/>
            </a:xfrm>
            <a:prstGeom prst="rect">
              <a:avLst/>
            </a:prstGeom>
            <a:noFill/>
            <a:ln>
              <a:noFill/>
            </a:ln>
          </p:spPr>
          <p:txBody>
            <a:bodyPr wrap="none" lIns="0" tIns="0" rIns="0" bIns="0" anchor="t" anchorCtr="0">
              <a:spAutoFit/>
            </a:bodyPr>
            <a:lstStyle/>
            <a:p>
              <a:pPr algn="l">
                <a:lnSpc>
                  <a:spcPts val="1800"/>
                </a:lnSpc>
              </a:pPr>
              <a:r>
                <a:rPr lang="zh-CN" sz="1010" dirty="0">
                  <a:solidFill>
                    <a:srgbClr val="333333"/>
                  </a:solidFill>
                  <a:latin typeface="+mn-lt"/>
                  <a:ea typeface="+mn-ea"/>
                  <a:cs typeface="+mn-cs"/>
                </a:rPr>
                <a:t>公司以投融资建设一体化、工程总承包、施工总承包等模式，承揽军工工程、市政工程、工业与民用工程、</a:t>
              </a:r>
              <a:br/>
              <a:r>
                <a:rPr lang="zh-CN" sz="1010" dirty="0">
                  <a:solidFill>
                    <a:srgbClr val="333333"/>
                  </a:solidFill>
                  <a:latin typeface="+mn-lt"/>
                  <a:ea typeface="+mn-ea"/>
                  <a:cs typeface="+mn-cs"/>
                </a:rPr>
                <a:t>外资工程等工程业务</a:t>
              </a:r>
            </a:p>
          </p:txBody>
        </p:sp>
      </p:grpSp>
      <p:grpSp>
        <p:nvGrpSpPr>
          <p:cNvPr id="29" name="business-architecture"/>
          <p:cNvGrpSpPr/>
          <p:nvPr/>
        </p:nvGrpSpPr>
        <p:grpSpPr>
          <a:xfrm>
            <a:off x="762000" y="1847850"/>
            <a:ext cx="10668000" cy="4410075"/>
            <a:chOff x="762000" y="1847850"/>
            <a:chExt cx="10668000" cy="4410075"/>
          </a:xfrm>
        </p:grpSpPr>
        <p:sp>
          <p:nvSpPr>
            <p:cNvPr id="10" name="Freeform 10"/>
            <p:cNvSpPr/>
            <p:nvPr/>
          </p:nvSpPr>
          <p:spPr>
            <a:xfrm rot="10800000">
              <a:off x="762000" y="2247900"/>
              <a:ext cx="3048000" cy="800100"/>
            </a:xfrm>
            <a:prstGeom prst="trapezoid">
              <a:avLst>
                <a:gd name="adj" fmla="val 30000"/>
              </a:avLst>
            </a:prstGeom>
            <a:solidFill>
              <a:srgbClr val="F6C2B7"/>
            </a:solidFill>
            <a:ln>
              <a:noFill/>
            </a:ln>
          </p:spPr>
        </p:sp>
        <p:sp>
          <p:nvSpPr>
            <p:cNvPr id="11" name="Freeform 11"/>
            <p:cNvSpPr/>
            <p:nvPr/>
          </p:nvSpPr>
          <p:spPr>
            <a:xfrm rot="10800000">
              <a:off x="1428750" y="3352800"/>
              <a:ext cx="2857500" cy="800100"/>
            </a:xfrm>
            <a:prstGeom prst="trapezoid">
              <a:avLst>
                <a:gd name="adj" fmla="val 30000"/>
              </a:avLst>
            </a:prstGeom>
            <a:solidFill>
              <a:srgbClr val="F6C2B7"/>
            </a:solidFill>
            <a:ln>
              <a:noFill/>
            </a:ln>
          </p:spPr>
        </p:sp>
        <p:sp>
          <p:nvSpPr>
            <p:cNvPr id="12" name="Freeform 12"/>
            <p:cNvSpPr/>
            <p:nvPr/>
          </p:nvSpPr>
          <p:spPr>
            <a:xfrm rot="10800000">
              <a:off x="2190750" y="4457700"/>
              <a:ext cx="2762250" cy="800100"/>
            </a:xfrm>
            <a:prstGeom prst="trapezoid">
              <a:avLst>
                <a:gd name="adj" fmla="val 30000"/>
              </a:avLst>
            </a:prstGeom>
            <a:solidFill>
              <a:srgbClr val="F6C2B7"/>
            </a:solidFill>
            <a:ln>
              <a:noFill/>
            </a:ln>
          </p:spPr>
        </p:sp>
        <p:sp>
          <p:nvSpPr>
            <p:cNvPr id="13" name="Freeform 13"/>
            <p:cNvSpPr/>
            <p:nvPr/>
          </p:nvSpPr>
          <p:spPr>
            <a:xfrm rot="10800000">
              <a:off x="8382000" y="2247900"/>
              <a:ext cx="3048000" cy="800100"/>
            </a:xfrm>
            <a:prstGeom prst="trapezoid">
              <a:avLst>
                <a:gd name="adj" fmla="val 30000"/>
              </a:avLst>
            </a:prstGeom>
            <a:solidFill>
              <a:srgbClr val="F6C2B7"/>
            </a:solidFill>
            <a:ln>
              <a:noFill/>
            </a:ln>
          </p:spPr>
        </p:sp>
        <p:sp>
          <p:nvSpPr>
            <p:cNvPr id="14" name="Freeform 14"/>
            <p:cNvSpPr/>
            <p:nvPr/>
          </p:nvSpPr>
          <p:spPr>
            <a:xfrm rot="10800000">
              <a:off x="7905750" y="3352800"/>
              <a:ext cx="2857500" cy="800100"/>
            </a:xfrm>
            <a:prstGeom prst="trapezoid">
              <a:avLst>
                <a:gd name="adj" fmla="val 30000"/>
              </a:avLst>
            </a:prstGeom>
            <a:solidFill>
              <a:srgbClr val="F6C2B7"/>
            </a:solidFill>
            <a:ln>
              <a:noFill/>
            </a:ln>
          </p:spPr>
        </p:sp>
        <p:sp>
          <p:nvSpPr>
            <p:cNvPr id="15" name="Freeform 15"/>
            <p:cNvSpPr/>
            <p:nvPr/>
          </p:nvSpPr>
          <p:spPr>
            <a:xfrm rot="10800000">
              <a:off x="7239000" y="4457700"/>
              <a:ext cx="2762250" cy="800100"/>
            </a:xfrm>
            <a:prstGeom prst="trapezoid">
              <a:avLst>
                <a:gd name="adj" fmla="val 30000"/>
              </a:avLst>
            </a:prstGeom>
            <a:solidFill>
              <a:srgbClr val="F6C2B7"/>
            </a:solidFill>
            <a:ln>
              <a:noFill/>
            </a:ln>
          </p:spPr>
        </p:sp>
        <p:sp>
          <p:nvSpPr>
            <p:cNvPr id="16" name="Freeform 16"/>
            <p:cNvSpPr/>
            <p:nvPr/>
          </p:nvSpPr>
          <p:spPr>
            <a:xfrm rot="10800000">
              <a:off x="3905250" y="1905000"/>
              <a:ext cx="4381500" cy="4286250"/>
            </a:xfrm>
            <a:prstGeom prst="triangle">
              <a:avLst/>
            </a:prstGeom>
            <a:solidFill>
              <a:srgbClr val="F8D1C9"/>
            </a:solidFill>
            <a:ln w="14288">
              <a:solidFill>
                <a:srgbClr val="F8B6A9"/>
              </a:solidFill>
            </a:ln>
          </p:spPr>
        </p:sp>
        <p:sp>
          <p:nvSpPr>
            <p:cNvPr id="17" name="Freeform 17"/>
            <p:cNvSpPr/>
            <p:nvPr/>
          </p:nvSpPr>
          <p:spPr>
            <a:xfrm rot="10800000">
              <a:off x="4457700" y="2171700"/>
              <a:ext cx="3276600" cy="3200400"/>
            </a:xfrm>
            <a:prstGeom prst="triangle">
              <a:avLst/>
            </a:prstGeom>
            <a:solidFill>
              <a:srgbClr val="F5927E"/>
            </a:solidFill>
            <a:ln>
              <a:noFill/>
            </a:ln>
          </p:spPr>
        </p:sp>
        <p:sp>
          <p:nvSpPr>
            <p:cNvPr id="18" name="Freeform 18"/>
            <p:cNvSpPr/>
            <p:nvPr/>
          </p:nvSpPr>
          <p:spPr>
            <a:xfrm rot="10800000">
              <a:off x="5010150" y="2438400"/>
              <a:ext cx="2171700" cy="2114550"/>
            </a:xfrm>
            <a:prstGeom prst="triangle">
              <a:avLst/>
            </a:prstGeom>
            <a:solidFill>
              <a:srgbClr val="E94B2B"/>
            </a:solidFill>
            <a:ln>
              <a:noFill/>
            </a:ln>
          </p:spPr>
        </p:sp>
        <p:sp>
          <p:nvSpPr>
            <p:cNvPr id="19" name="TextBox 19"/>
            <p:cNvSpPr txBox="1"/>
            <p:nvPr/>
          </p:nvSpPr>
          <p:spPr>
            <a:xfrm>
              <a:off x="5838444" y="2799398"/>
              <a:ext cx="515112" cy="724281"/>
            </a:xfrm>
            <a:prstGeom prst="rect">
              <a:avLst/>
            </a:prstGeom>
            <a:noFill/>
            <a:ln>
              <a:noFill/>
            </a:ln>
          </p:spPr>
          <p:txBody>
            <a:bodyPr wrap="none" lIns="0" tIns="0" rIns="0" bIns="0" anchor="t" anchorCtr="0">
              <a:spAutoFit/>
            </a:bodyPr>
            <a:lstStyle/>
            <a:p>
              <a:pPr algn="ctr">
                <a:lnSpc>
                  <a:spcPts val="2700"/>
                </a:lnSpc>
              </a:pPr>
              <a:r>
                <a:rPr lang="zh-CN" sz="1950" b="1" dirty="0">
                  <a:solidFill>
                    <a:srgbClr val="FFFFFF"/>
                  </a:solidFill>
                  <a:latin typeface="+mn-lt"/>
                  <a:ea typeface="+mn-ea"/>
                  <a:cs typeface="+mn-cs"/>
                </a:rPr>
                <a:t>业务</a:t>
              </a:r>
              <a:br/>
              <a:r>
                <a:rPr lang="zh-CN" sz="1950" b="1" dirty="0">
                  <a:solidFill>
                    <a:srgbClr val="FFFFFF"/>
                  </a:solidFill>
                  <a:latin typeface="+mn-lt"/>
                  <a:ea typeface="+mn-ea"/>
                  <a:cs typeface="+mn-cs"/>
                </a:rPr>
                <a:t>板块</a:t>
              </a:r>
            </a:p>
          </p:txBody>
        </p:sp>
        <p:sp>
          <p:nvSpPr>
            <p:cNvPr id="20" name="Ellipse 20"/>
            <p:cNvSpPr/>
            <p:nvPr/>
          </p:nvSpPr>
          <p:spPr>
            <a:xfrm>
              <a:off x="3848100" y="1847850"/>
              <a:ext cx="114300" cy="114300"/>
            </a:xfrm>
            <a:prstGeom prst="ellipse">
              <a:avLst/>
            </a:prstGeom>
            <a:solidFill>
              <a:srgbClr val="FFFFFF"/>
            </a:solidFill>
            <a:ln w="19050">
              <a:solidFill>
                <a:srgbClr val="E94B2B"/>
              </a:solidFill>
            </a:ln>
          </p:spPr>
        </p:sp>
        <p:sp>
          <p:nvSpPr>
            <p:cNvPr id="21" name="Ellipse 21"/>
            <p:cNvSpPr/>
            <p:nvPr/>
          </p:nvSpPr>
          <p:spPr>
            <a:xfrm>
              <a:off x="8229600" y="1847850"/>
              <a:ext cx="114300" cy="114300"/>
            </a:xfrm>
            <a:prstGeom prst="ellipse">
              <a:avLst/>
            </a:prstGeom>
            <a:solidFill>
              <a:srgbClr val="FFFFFF"/>
            </a:solidFill>
            <a:ln w="19050">
              <a:solidFill>
                <a:srgbClr val="E94B2B"/>
              </a:solidFill>
            </a:ln>
          </p:spPr>
        </p:sp>
        <p:sp>
          <p:nvSpPr>
            <p:cNvPr id="22" name="Ellipse 22"/>
            <p:cNvSpPr/>
            <p:nvPr/>
          </p:nvSpPr>
          <p:spPr>
            <a:xfrm>
              <a:off x="6029325" y="6124575"/>
              <a:ext cx="133350" cy="133350"/>
            </a:xfrm>
            <a:prstGeom prst="ellipse">
              <a:avLst/>
            </a:prstGeom>
            <a:solidFill>
              <a:srgbClr val="FFFFFF"/>
            </a:solidFill>
            <a:ln w="19050">
              <a:solidFill>
                <a:srgbClr val="E94B2B"/>
              </a:solidFill>
            </a:ln>
          </p:spPr>
        </p:sp>
        <p:sp>
          <p:nvSpPr>
            <p:cNvPr id="23" name="TextBox 23"/>
            <p:cNvSpPr txBox="1"/>
            <p:nvPr/>
          </p:nvSpPr>
          <p:spPr>
            <a:xfrm>
              <a:off x="1738122" y="2546032"/>
              <a:ext cx="905256" cy="322707"/>
            </a:xfrm>
            <a:prstGeom prst="rect">
              <a:avLst/>
            </a:prstGeom>
            <a:noFill/>
            <a:ln>
              <a:noFill/>
            </a:ln>
          </p:spPr>
          <p:txBody>
            <a:bodyPr wrap="none" lIns="0" tIns="0" rIns="0" bIns="0" anchor="t" anchorCtr="0">
              <a:spAutoFit/>
            </a:bodyPr>
            <a:lstStyle/>
            <a:p>
              <a:pPr algn="ctr"/>
              <a:r>
                <a:rPr lang="zh-CN" sz="1650" dirty="0">
                  <a:solidFill>
                    <a:srgbClr val="C83B1E"/>
                  </a:solidFill>
                  <a:latin typeface="+mn-lt"/>
                  <a:ea typeface="+mn-ea"/>
                  <a:cs typeface="+mn-cs"/>
                </a:rPr>
                <a:t>军工工程</a:t>
              </a:r>
            </a:p>
          </p:txBody>
        </p:sp>
        <p:sp>
          <p:nvSpPr>
            <p:cNvPr id="24" name="TextBox 24"/>
            <p:cNvSpPr txBox="1"/>
            <p:nvPr/>
          </p:nvSpPr>
          <p:spPr>
            <a:xfrm>
              <a:off x="2309622" y="3650932"/>
              <a:ext cx="905256" cy="322707"/>
            </a:xfrm>
            <a:prstGeom prst="rect">
              <a:avLst/>
            </a:prstGeom>
            <a:noFill/>
            <a:ln>
              <a:noFill/>
            </a:ln>
          </p:spPr>
          <p:txBody>
            <a:bodyPr wrap="none" lIns="0" tIns="0" rIns="0" bIns="0" anchor="t" anchorCtr="0">
              <a:spAutoFit/>
            </a:bodyPr>
            <a:lstStyle/>
            <a:p>
              <a:pPr algn="ctr"/>
              <a:r>
                <a:rPr lang="zh-CN" sz="1650" dirty="0">
                  <a:solidFill>
                    <a:srgbClr val="C83B1E"/>
                  </a:solidFill>
                  <a:latin typeface="+mn-lt"/>
                  <a:ea typeface="+mn-ea"/>
                  <a:cs typeface="+mn-cs"/>
                </a:rPr>
                <a:t>市政工程</a:t>
              </a:r>
            </a:p>
          </p:txBody>
        </p:sp>
        <p:sp>
          <p:nvSpPr>
            <p:cNvPr id="25" name="TextBox 25"/>
            <p:cNvSpPr txBox="1"/>
            <p:nvPr/>
          </p:nvSpPr>
          <p:spPr>
            <a:xfrm>
              <a:off x="2643188" y="4755832"/>
              <a:ext cx="1571625" cy="322707"/>
            </a:xfrm>
            <a:prstGeom prst="rect">
              <a:avLst/>
            </a:prstGeom>
            <a:noFill/>
            <a:ln>
              <a:noFill/>
            </a:ln>
          </p:spPr>
          <p:txBody>
            <a:bodyPr wrap="none" lIns="0" tIns="0" rIns="0" bIns="0" anchor="t" anchorCtr="0">
              <a:spAutoFit/>
            </a:bodyPr>
            <a:lstStyle/>
            <a:p>
              <a:pPr algn="ctr"/>
              <a:r>
                <a:rPr lang="zh-CN" sz="1650" dirty="0">
                  <a:solidFill>
                    <a:srgbClr val="C83B1E"/>
                  </a:solidFill>
                  <a:latin typeface="+mn-lt"/>
                  <a:ea typeface="+mn-ea"/>
                  <a:cs typeface="+mn-cs"/>
                </a:rPr>
                <a:t>工业与民用工程</a:t>
              </a:r>
            </a:p>
          </p:txBody>
        </p:sp>
        <p:sp>
          <p:nvSpPr>
            <p:cNvPr id="26" name="TextBox 26"/>
            <p:cNvSpPr txBox="1"/>
            <p:nvPr/>
          </p:nvSpPr>
          <p:spPr>
            <a:xfrm>
              <a:off x="9548622" y="2546032"/>
              <a:ext cx="905256" cy="322707"/>
            </a:xfrm>
            <a:prstGeom prst="rect">
              <a:avLst/>
            </a:prstGeom>
            <a:noFill/>
            <a:ln>
              <a:noFill/>
            </a:ln>
          </p:spPr>
          <p:txBody>
            <a:bodyPr wrap="none" lIns="0" tIns="0" rIns="0" bIns="0" anchor="t" anchorCtr="0">
              <a:spAutoFit/>
            </a:bodyPr>
            <a:lstStyle/>
            <a:p>
              <a:pPr algn="ctr"/>
              <a:r>
                <a:rPr lang="zh-CN" sz="1650" dirty="0">
                  <a:solidFill>
                    <a:srgbClr val="C83B1E"/>
                  </a:solidFill>
                  <a:latin typeface="+mn-lt"/>
                  <a:ea typeface="+mn-ea"/>
                  <a:cs typeface="+mn-cs"/>
                </a:rPr>
                <a:t>外资工程</a:t>
              </a:r>
            </a:p>
          </p:txBody>
        </p:sp>
        <p:sp>
          <p:nvSpPr>
            <p:cNvPr id="27" name="TextBox 27"/>
            <p:cNvSpPr txBox="1"/>
            <p:nvPr/>
          </p:nvSpPr>
          <p:spPr>
            <a:xfrm>
              <a:off x="8977122" y="3650932"/>
              <a:ext cx="905256" cy="322707"/>
            </a:xfrm>
            <a:prstGeom prst="rect">
              <a:avLst/>
            </a:prstGeom>
            <a:noFill/>
            <a:ln>
              <a:noFill/>
            </a:ln>
          </p:spPr>
          <p:txBody>
            <a:bodyPr wrap="none" lIns="0" tIns="0" rIns="0" bIns="0" anchor="t" anchorCtr="0">
              <a:spAutoFit/>
            </a:bodyPr>
            <a:lstStyle/>
            <a:p>
              <a:pPr algn="ctr"/>
              <a:r>
                <a:rPr lang="zh-CN" sz="1650" dirty="0">
                  <a:solidFill>
                    <a:srgbClr val="C83B1E"/>
                  </a:solidFill>
                  <a:latin typeface="+mn-lt"/>
                  <a:ea typeface="+mn-ea"/>
                  <a:cs typeface="+mn-cs"/>
                </a:rPr>
                <a:t>机电安装</a:t>
              </a:r>
            </a:p>
          </p:txBody>
        </p:sp>
        <p:sp>
          <p:nvSpPr>
            <p:cNvPr id="28" name="TextBox 28"/>
            <p:cNvSpPr txBox="1"/>
            <p:nvPr/>
          </p:nvSpPr>
          <p:spPr>
            <a:xfrm>
              <a:off x="8199311" y="4755832"/>
              <a:ext cx="1127379" cy="322707"/>
            </a:xfrm>
            <a:prstGeom prst="rect">
              <a:avLst/>
            </a:prstGeom>
            <a:noFill/>
            <a:ln>
              <a:noFill/>
            </a:ln>
          </p:spPr>
          <p:txBody>
            <a:bodyPr wrap="none" lIns="0" tIns="0" rIns="0" bIns="0" anchor="t" anchorCtr="0">
              <a:spAutoFit/>
            </a:bodyPr>
            <a:lstStyle/>
            <a:p>
              <a:pPr algn="ctr"/>
              <a:r>
                <a:rPr lang="zh-CN" sz="1650" dirty="0">
                  <a:solidFill>
                    <a:srgbClr val="C83B1E"/>
                  </a:solidFill>
                  <a:latin typeface="+mn-lt"/>
                  <a:ea typeface="+mn-ea"/>
                  <a:cs typeface="+mn-cs"/>
                </a:rPr>
                <a:t>投融资业务</a:t>
              </a:r>
            </a:p>
          </p:txBody>
        </p:sp>
      </p:gr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bottom"/>
          <p:cNvSpPr/>
          <p:nvPr/>
        </p:nvSpPr>
        <p:spPr>
          <a:xfrm>
            <a:off x="0" y="5829300"/>
            <a:ext cx="12192000" cy="1028700"/>
          </a:xfrm>
          <a:custGeom>
            <a:avLst/>
            <a:gdLst/>
            <a:ahLst/>
            <a:cxnLst/>
            <a:rect l="l" t="t" r="r" b="b"/>
            <a:pathLst>
              <a:path w="12192000" h="1028700">
                <a:moveTo>
                  <a:pt x="0" y="152400"/>
                </a:moveTo>
                <a:lnTo>
                  <a:pt x="12192000" y="0"/>
                </a:lnTo>
                <a:lnTo>
                  <a:pt x="12192000" y="1028700"/>
                </a:lnTo>
                <a:lnTo>
                  <a:pt x="0" y="1028700"/>
                </a:lnTo>
                <a:close/>
              </a:path>
            </a:pathLst>
          </a:custGeom>
          <a:gradFill>
            <a:gsLst>
              <a:gs pos="0">
                <a:srgbClr val="F5927E"/>
              </a:gs>
              <a:gs pos="100000">
                <a:srgbClr val="E94B2B"/>
              </a:gs>
            </a:gsLst>
            <a:lin ang="0" scaled="1"/>
          </a:gradFill>
          <a:ln>
            <a:noFill/>
          </a:ln>
        </p:spPr>
      </p:sp>
      <p:grpSp>
        <p:nvGrpSpPr>
          <p:cNvPr id="7" name="page-header"/>
          <p:cNvGrpSpPr/>
          <p:nvPr/>
        </p:nvGrpSpPr>
        <p:grpSpPr>
          <a:xfrm>
            <a:off x="0" y="0"/>
            <a:ext cx="11811000" cy="561404"/>
            <a:chOff x="0" y="0"/>
            <a:chExt cx="11811000" cy="561404"/>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4" name="TextBox 4"/>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21</a:t>
              </a:r>
            </a:p>
          </p:txBody>
        </p:sp>
        <p:sp>
          <p:nvSpPr>
            <p:cNvPr id="5" name="TextBox 5"/>
            <p:cNvSpPr txBox="1"/>
            <p:nvPr/>
          </p:nvSpPr>
          <p:spPr>
            <a:xfrm>
              <a:off x="904494" y="180023"/>
              <a:ext cx="1129284"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工作数据</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0" name="col-fin-head"/>
          <p:cNvGrpSpPr/>
          <p:nvPr/>
        </p:nvGrpSpPr>
        <p:grpSpPr>
          <a:xfrm>
            <a:off x="457200" y="1162050"/>
            <a:ext cx="2895600" cy="361950"/>
            <a:chOff x="457200" y="1162050"/>
            <a:chExt cx="2895600" cy="361950"/>
          </a:xfrm>
        </p:grpSpPr>
        <p:sp>
          <p:nvSpPr>
            <p:cNvPr id="8" name="Rectangle 8"/>
            <p:cNvSpPr/>
            <p:nvPr/>
          </p:nvSpPr>
          <p:spPr>
            <a:xfrm>
              <a:off x="457200" y="1162050"/>
              <a:ext cx="2895600" cy="361950"/>
            </a:xfrm>
            <a:prstGeom prst="roundRect">
              <a:avLst>
                <a:gd name="adj" fmla="val 50000"/>
              </a:avLst>
            </a:prstGeom>
            <a:gradFill>
              <a:gsLst>
                <a:gs pos="0">
                  <a:srgbClr val="FF5B3A"/>
                </a:gs>
                <a:gs pos="100000">
                  <a:srgbClr val="E94B2B"/>
                </a:gs>
              </a:gsLst>
              <a:lin ang="0" scaled="1"/>
            </a:gradFill>
            <a:ln>
              <a:noFill/>
            </a:ln>
          </p:spPr>
        </p:sp>
        <p:sp>
          <p:nvSpPr>
            <p:cNvPr id="9" name="TextBox 9"/>
            <p:cNvSpPr txBox="1"/>
            <p:nvPr/>
          </p:nvSpPr>
          <p:spPr>
            <a:xfrm>
              <a:off x="1252728" y="1270635"/>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金融机构服务领域</a:t>
              </a:r>
            </a:p>
          </p:txBody>
        </p:sp>
      </p:grpSp>
      <p:grpSp>
        <p:nvGrpSpPr>
          <p:cNvPr id="25" name="col-fin-ring"/>
          <p:cNvGrpSpPr/>
          <p:nvPr/>
        </p:nvGrpSpPr>
        <p:grpSpPr>
          <a:xfrm>
            <a:off x="476250" y="1962150"/>
            <a:ext cx="2857500" cy="2857500"/>
            <a:chOff x="476250" y="1962150"/>
            <a:chExt cx="2857500" cy="2857500"/>
          </a:xfrm>
        </p:grpSpPr>
        <p:sp>
          <p:nvSpPr>
            <p:cNvPr id="11" name="Ellipse 11"/>
            <p:cNvSpPr/>
            <p:nvPr/>
          </p:nvSpPr>
          <p:spPr>
            <a:xfrm>
              <a:off x="476250" y="1962150"/>
              <a:ext cx="2857500" cy="2857500"/>
            </a:xfrm>
            <a:prstGeom prst="ellipse">
              <a:avLst/>
            </a:prstGeom>
            <a:solidFill>
              <a:srgbClr val="FFFFFF">
                <a:alpha val="75000"/>
              </a:srgbClr>
            </a:solidFill>
            <a:ln w="14288">
              <a:solidFill>
                <a:srgbClr val="C9DDF5"/>
              </a:solidFill>
            </a:ln>
          </p:spPr>
        </p:sp>
        <p:sp>
          <p:nvSpPr>
            <p:cNvPr id="12" name="Ellipse 12"/>
            <p:cNvSpPr/>
            <p:nvPr/>
          </p:nvSpPr>
          <p:spPr>
            <a:xfrm>
              <a:off x="1314450" y="2800350"/>
              <a:ext cx="1181100" cy="1181100"/>
            </a:xfrm>
            <a:prstGeom prst="ellipse">
              <a:avLst/>
            </a:prstGeom>
            <a:gradFill>
              <a:gsLst>
                <a:gs pos="0">
                  <a:srgbClr val="F2745A"/>
                </a:gs>
                <a:gs pos="100000">
                  <a:srgbClr val="C83B1E"/>
                </a:gs>
              </a:gsLst>
              <a:path path="circle">
                <a:fillToRect l="38000" t="32000" r="62000" b="68000"/>
              </a:path>
            </a:gradFill>
            <a:ln>
              <a:noFill/>
            </a:ln>
          </p:spPr>
        </p:sp>
        <p:sp>
          <p:nvSpPr>
            <p:cNvPr id="13" name="TextBox 13"/>
            <p:cNvSpPr txBox="1"/>
            <p:nvPr/>
          </p:nvSpPr>
          <p:spPr>
            <a:xfrm>
              <a:off x="1615981" y="3253740"/>
              <a:ext cx="578038"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600+</a:t>
              </a:r>
            </a:p>
          </p:txBody>
        </p:sp>
        <p:sp>
          <p:nvSpPr>
            <p:cNvPr id="14" name="TextBox 14"/>
            <p:cNvSpPr txBox="1"/>
            <p:nvPr/>
          </p:nvSpPr>
          <p:spPr>
            <a:xfrm>
              <a:off x="1569072" y="3549491"/>
              <a:ext cx="67185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各类金融机构</a:t>
              </a:r>
            </a:p>
          </p:txBody>
        </p:sp>
        <p:sp>
          <p:nvSpPr>
            <p:cNvPr id="15" name="TextBox 15"/>
            <p:cNvSpPr txBox="1"/>
            <p:nvPr/>
          </p:nvSpPr>
          <p:spPr>
            <a:xfrm>
              <a:off x="1775587" y="2009299"/>
              <a:ext cx="25882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C83B1E"/>
                  </a:solidFill>
                  <a:latin typeface="+mn-lt"/>
                  <a:ea typeface="+mn-ea"/>
                  <a:cs typeface="+mn-cs"/>
                </a:rPr>
                <a:t>商业</a:t>
              </a:r>
              <a:br/>
              <a:r>
                <a:rPr lang="zh-CN" sz="980" dirty="0">
                  <a:solidFill>
                    <a:srgbClr val="C83B1E"/>
                  </a:solidFill>
                  <a:latin typeface="+mn-lt"/>
                  <a:ea typeface="+mn-ea"/>
                  <a:cs typeface="+mn-cs"/>
                </a:rPr>
                <a:t>银行</a:t>
              </a:r>
            </a:p>
          </p:txBody>
        </p:sp>
        <p:sp>
          <p:nvSpPr>
            <p:cNvPr id="16" name="TextBox 16"/>
            <p:cNvSpPr txBox="1"/>
            <p:nvPr/>
          </p:nvSpPr>
          <p:spPr>
            <a:xfrm>
              <a:off x="880237" y="2923699"/>
              <a:ext cx="25882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C83B1E"/>
                  </a:solidFill>
                  <a:latin typeface="+mn-lt"/>
                  <a:ea typeface="+mn-ea"/>
                  <a:cs typeface="+mn-cs"/>
                </a:rPr>
                <a:t>保险</a:t>
              </a:r>
              <a:br/>
              <a:r>
                <a:rPr lang="zh-CN" sz="980" dirty="0">
                  <a:solidFill>
                    <a:srgbClr val="C83B1E"/>
                  </a:solidFill>
                  <a:latin typeface="+mn-lt"/>
                  <a:ea typeface="+mn-ea"/>
                  <a:cs typeface="+mn-cs"/>
                </a:rPr>
                <a:t>公司</a:t>
              </a:r>
            </a:p>
          </p:txBody>
        </p:sp>
        <p:sp>
          <p:nvSpPr>
            <p:cNvPr id="17" name="TextBox 17"/>
            <p:cNvSpPr txBox="1"/>
            <p:nvPr/>
          </p:nvSpPr>
          <p:spPr>
            <a:xfrm>
              <a:off x="2670937" y="2923699"/>
              <a:ext cx="25882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C83B1E"/>
                  </a:solidFill>
                  <a:latin typeface="+mn-lt"/>
                  <a:ea typeface="+mn-ea"/>
                  <a:cs typeface="+mn-cs"/>
                </a:rPr>
                <a:t>基金</a:t>
              </a:r>
              <a:br/>
              <a:r>
                <a:rPr lang="zh-CN" sz="980" dirty="0">
                  <a:solidFill>
                    <a:srgbClr val="C83B1E"/>
                  </a:solidFill>
                  <a:latin typeface="+mn-lt"/>
                  <a:ea typeface="+mn-ea"/>
                  <a:cs typeface="+mn-cs"/>
                </a:rPr>
                <a:t>公司</a:t>
              </a:r>
            </a:p>
          </p:txBody>
        </p:sp>
        <p:sp>
          <p:nvSpPr>
            <p:cNvPr id="18" name="TextBox 18"/>
            <p:cNvSpPr txBox="1"/>
            <p:nvPr/>
          </p:nvSpPr>
          <p:spPr>
            <a:xfrm>
              <a:off x="1108837" y="4085749"/>
              <a:ext cx="25882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C83B1E"/>
                  </a:solidFill>
                  <a:latin typeface="+mn-lt"/>
                  <a:ea typeface="+mn-ea"/>
                  <a:cs typeface="+mn-cs"/>
                </a:rPr>
                <a:t>信托</a:t>
              </a:r>
              <a:br/>
              <a:r>
                <a:rPr lang="zh-CN" sz="980" dirty="0">
                  <a:solidFill>
                    <a:srgbClr val="C83B1E"/>
                  </a:solidFill>
                  <a:latin typeface="+mn-lt"/>
                  <a:ea typeface="+mn-ea"/>
                  <a:cs typeface="+mn-cs"/>
                </a:rPr>
                <a:t>公司</a:t>
              </a:r>
            </a:p>
          </p:txBody>
        </p:sp>
        <p:sp>
          <p:nvSpPr>
            <p:cNvPr id="19" name="TextBox 19"/>
            <p:cNvSpPr txBox="1"/>
            <p:nvPr/>
          </p:nvSpPr>
          <p:spPr>
            <a:xfrm>
              <a:off x="2461387" y="4085749"/>
              <a:ext cx="25882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C83B1E"/>
                  </a:solidFill>
                  <a:latin typeface="+mn-lt"/>
                  <a:ea typeface="+mn-ea"/>
                  <a:cs typeface="+mn-cs"/>
                </a:rPr>
                <a:t>证券</a:t>
              </a:r>
              <a:br/>
              <a:r>
                <a:rPr lang="zh-CN" sz="980" dirty="0">
                  <a:solidFill>
                    <a:srgbClr val="C83B1E"/>
                  </a:solidFill>
                  <a:latin typeface="+mn-lt"/>
                  <a:ea typeface="+mn-ea"/>
                  <a:cs typeface="+mn-cs"/>
                </a:rPr>
                <a:t>公司</a:t>
              </a:r>
            </a:p>
          </p:txBody>
        </p:sp>
        <p:sp>
          <p:nvSpPr>
            <p:cNvPr id="20" name="Line 20"/>
            <p:cNvSpPr/>
            <p:nvPr/>
          </p:nvSpPr>
          <p:spPr>
            <a:xfrm>
              <a:off x="1905000" y="2552700"/>
              <a:ext cx="9525" cy="228600"/>
            </a:xfrm>
            <a:custGeom>
              <a:avLst/>
              <a:gdLst/>
              <a:ahLst/>
              <a:cxnLst/>
              <a:rect l="l" t="t" r="r" b="b"/>
              <a:pathLst>
                <a:path w="9525" h="228600">
                  <a:moveTo>
                    <a:pt x="0" y="0"/>
                  </a:moveTo>
                  <a:lnTo>
                    <a:pt x="0" y="228600"/>
                  </a:lnTo>
                </a:path>
              </a:pathLst>
            </a:custGeom>
            <a:noFill/>
            <a:ln w="14288">
              <a:solidFill>
                <a:srgbClr val="F8B6A9"/>
              </a:solidFill>
            </a:ln>
          </p:spPr>
        </p:sp>
        <p:sp>
          <p:nvSpPr>
            <p:cNvPr id="21" name="Line 21"/>
            <p:cNvSpPr/>
            <p:nvPr/>
          </p:nvSpPr>
          <p:spPr>
            <a:xfrm>
              <a:off x="1333500" y="3238500"/>
              <a:ext cx="57150" cy="19050"/>
            </a:xfrm>
            <a:custGeom>
              <a:avLst/>
              <a:gdLst/>
              <a:ahLst/>
              <a:cxnLst/>
              <a:rect l="l" t="t" r="r" b="b"/>
              <a:pathLst>
                <a:path w="57150" h="19050">
                  <a:moveTo>
                    <a:pt x="57150" y="0"/>
                  </a:moveTo>
                  <a:lnTo>
                    <a:pt x="0" y="19050"/>
                  </a:lnTo>
                </a:path>
              </a:pathLst>
            </a:custGeom>
            <a:noFill/>
            <a:ln w="14288">
              <a:solidFill>
                <a:srgbClr val="F8B6A9"/>
              </a:solidFill>
            </a:ln>
          </p:spPr>
        </p:sp>
        <p:sp>
          <p:nvSpPr>
            <p:cNvPr id="22" name="Line 22"/>
            <p:cNvSpPr/>
            <p:nvPr/>
          </p:nvSpPr>
          <p:spPr>
            <a:xfrm>
              <a:off x="2419350" y="3238500"/>
              <a:ext cx="57150" cy="19050"/>
            </a:xfrm>
            <a:custGeom>
              <a:avLst/>
              <a:gdLst/>
              <a:ahLst/>
              <a:cxnLst/>
              <a:rect l="l" t="t" r="r" b="b"/>
              <a:pathLst>
                <a:path w="57150" h="19050">
                  <a:moveTo>
                    <a:pt x="0" y="0"/>
                  </a:moveTo>
                  <a:lnTo>
                    <a:pt x="57150" y="19050"/>
                  </a:lnTo>
                </a:path>
              </a:pathLst>
            </a:custGeom>
            <a:noFill/>
            <a:ln w="14288">
              <a:solidFill>
                <a:srgbClr val="F8B6A9"/>
              </a:solidFill>
            </a:ln>
          </p:spPr>
        </p:sp>
        <p:sp>
          <p:nvSpPr>
            <p:cNvPr id="23" name="Line 23"/>
            <p:cNvSpPr/>
            <p:nvPr/>
          </p:nvSpPr>
          <p:spPr>
            <a:xfrm>
              <a:off x="1333500" y="3981450"/>
              <a:ext cx="171450" cy="95250"/>
            </a:xfrm>
            <a:custGeom>
              <a:avLst/>
              <a:gdLst/>
              <a:ahLst/>
              <a:cxnLst/>
              <a:rect l="l" t="t" r="r" b="b"/>
              <a:pathLst>
                <a:path w="171450" h="95250">
                  <a:moveTo>
                    <a:pt x="171450" y="0"/>
                  </a:moveTo>
                  <a:lnTo>
                    <a:pt x="0" y="95250"/>
                  </a:lnTo>
                </a:path>
              </a:pathLst>
            </a:custGeom>
            <a:noFill/>
            <a:ln w="14288">
              <a:solidFill>
                <a:srgbClr val="F8B6A9"/>
              </a:solidFill>
            </a:ln>
          </p:spPr>
        </p:sp>
        <p:sp>
          <p:nvSpPr>
            <p:cNvPr id="24" name="Line 24"/>
            <p:cNvSpPr/>
            <p:nvPr/>
          </p:nvSpPr>
          <p:spPr>
            <a:xfrm>
              <a:off x="2305050" y="3981450"/>
              <a:ext cx="171450" cy="95250"/>
            </a:xfrm>
            <a:custGeom>
              <a:avLst/>
              <a:gdLst/>
              <a:ahLst/>
              <a:cxnLst/>
              <a:rect l="l" t="t" r="r" b="b"/>
              <a:pathLst>
                <a:path w="171450" h="95250">
                  <a:moveTo>
                    <a:pt x="0" y="0"/>
                  </a:moveTo>
                  <a:lnTo>
                    <a:pt x="171450" y="95250"/>
                  </a:lnTo>
                </a:path>
              </a:pathLst>
            </a:custGeom>
            <a:noFill/>
            <a:ln w="14288">
              <a:solidFill>
                <a:srgbClr val="F8B6A9"/>
              </a:solidFill>
            </a:ln>
          </p:spPr>
        </p:sp>
      </p:grpSp>
      <p:grpSp>
        <p:nvGrpSpPr>
          <p:cNvPr id="29" name="col-fin-note"/>
          <p:cNvGrpSpPr/>
          <p:nvPr/>
        </p:nvGrpSpPr>
        <p:grpSpPr>
          <a:xfrm>
            <a:off x="476250" y="5143500"/>
            <a:ext cx="2857500" cy="495300"/>
            <a:chOff x="476250" y="5143500"/>
            <a:chExt cx="2857500" cy="495300"/>
          </a:xfrm>
        </p:grpSpPr>
        <p:sp>
          <p:nvSpPr>
            <p:cNvPr id="26" name="Ellipse 26"/>
            <p:cNvSpPr/>
            <p:nvPr/>
          </p:nvSpPr>
          <p:spPr>
            <a:xfrm>
              <a:off x="476250" y="5143500"/>
              <a:ext cx="2857500" cy="495300"/>
            </a:xfrm>
            <a:prstGeom prst="ellipse">
              <a:avLst/>
            </a:prstGeom>
            <a:gradFill>
              <a:gsLst>
                <a:gs pos="0">
                  <a:srgbClr val="F8C9BF"/>
                </a:gs>
                <a:gs pos="100000">
                  <a:srgbClr val="EAF3FD"/>
                </a:gs>
              </a:gsLst>
              <a:lin ang="5400000" scaled="1"/>
            </a:gradFill>
            <a:ln w="9525">
              <a:solidFill>
                <a:srgbClr val="F8B6A9"/>
              </a:solidFill>
            </a:ln>
          </p:spPr>
        </p:sp>
        <p:sp>
          <p:nvSpPr>
            <p:cNvPr id="27" name="TextBox 27"/>
            <p:cNvSpPr txBox="1"/>
            <p:nvPr/>
          </p:nvSpPr>
          <p:spPr>
            <a:xfrm>
              <a:off x="1504264" y="5247799"/>
              <a:ext cx="801472"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多层次全方位</a:t>
              </a:r>
            </a:p>
          </p:txBody>
        </p:sp>
        <p:sp>
          <p:nvSpPr>
            <p:cNvPr id="28" name="TextBox 28"/>
            <p:cNvSpPr txBox="1"/>
            <p:nvPr/>
          </p:nvSpPr>
          <p:spPr>
            <a:xfrm>
              <a:off x="1438300" y="5438299"/>
              <a:ext cx="933399"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数字化解决方案</a:t>
              </a:r>
            </a:p>
          </p:txBody>
        </p:sp>
      </p:grpSp>
      <p:grpSp>
        <p:nvGrpSpPr>
          <p:cNvPr id="32" name="col-mer-head"/>
          <p:cNvGrpSpPr/>
          <p:nvPr/>
        </p:nvGrpSpPr>
        <p:grpSpPr>
          <a:xfrm>
            <a:off x="4648200" y="1162050"/>
            <a:ext cx="2895600" cy="361950"/>
            <a:chOff x="4648200" y="1162050"/>
            <a:chExt cx="2895600" cy="361950"/>
          </a:xfrm>
        </p:grpSpPr>
        <p:sp>
          <p:nvSpPr>
            <p:cNvPr id="30" name="Rectangle 30"/>
            <p:cNvSpPr/>
            <p:nvPr/>
          </p:nvSpPr>
          <p:spPr>
            <a:xfrm>
              <a:off x="4648200" y="1162050"/>
              <a:ext cx="2895600" cy="361950"/>
            </a:xfrm>
            <a:prstGeom prst="roundRect">
              <a:avLst>
                <a:gd name="adj" fmla="val 50000"/>
              </a:avLst>
            </a:prstGeom>
            <a:gradFill>
              <a:gsLst>
                <a:gs pos="0">
                  <a:srgbClr val="FF5B3A"/>
                </a:gs>
                <a:gs pos="100000">
                  <a:srgbClr val="E94B2B"/>
                </a:gs>
              </a:gsLst>
              <a:lin ang="0" scaled="1"/>
            </a:gradFill>
            <a:ln>
              <a:noFill/>
            </a:ln>
          </p:spPr>
        </p:sp>
        <p:sp>
          <p:nvSpPr>
            <p:cNvPr id="31" name="TextBox 31"/>
            <p:cNvSpPr txBox="1"/>
            <p:nvPr/>
          </p:nvSpPr>
          <p:spPr>
            <a:xfrm>
              <a:off x="5362956" y="1270635"/>
              <a:ext cx="146608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商户与企业服务领域</a:t>
              </a:r>
            </a:p>
          </p:txBody>
        </p:sp>
      </p:grpSp>
      <p:grpSp>
        <p:nvGrpSpPr>
          <p:cNvPr id="46" name="col-mer-balls"/>
          <p:cNvGrpSpPr/>
          <p:nvPr/>
        </p:nvGrpSpPr>
        <p:grpSpPr>
          <a:xfrm>
            <a:off x="4495800" y="2038350"/>
            <a:ext cx="3200400" cy="2724150"/>
            <a:chOff x="4495800" y="2038350"/>
            <a:chExt cx="3200400" cy="2724150"/>
          </a:xfrm>
        </p:grpSpPr>
        <p:sp>
          <p:nvSpPr>
            <p:cNvPr id="33" name="Ellipse 33"/>
            <p:cNvSpPr/>
            <p:nvPr/>
          </p:nvSpPr>
          <p:spPr>
            <a:xfrm>
              <a:off x="4495800" y="4038600"/>
              <a:ext cx="3200400" cy="723900"/>
            </a:xfrm>
            <a:prstGeom prst="ellipse">
              <a:avLst/>
            </a:prstGeom>
            <a:gradFill>
              <a:gsLst>
                <a:gs pos="0">
                  <a:srgbClr val="DCEBFB"/>
                </a:gs>
                <a:gs pos="100000">
                  <a:srgbClr val="F5927E"/>
                </a:gs>
              </a:gsLst>
              <a:lin ang="5400000" scaled="1"/>
            </a:gradFill>
            <a:ln>
              <a:noFill/>
            </a:ln>
          </p:spPr>
        </p:sp>
        <p:sp>
          <p:nvSpPr>
            <p:cNvPr id="34" name="Ellipse 34"/>
            <p:cNvSpPr/>
            <p:nvPr/>
          </p:nvSpPr>
          <p:spPr>
            <a:xfrm>
              <a:off x="4495800" y="3981450"/>
              <a:ext cx="3200400" cy="723900"/>
            </a:xfrm>
            <a:prstGeom prst="ellipse">
              <a:avLst/>
            </a:prstGeom>
            <a:solidFill>
              <a:srgbClr val="EAF3FD"/>
            </a:solidFill>
            <a:ln w="9525">
              <a:solidFill>
                <a:srgbClr val="F8B6A9"/>
              </a:solidFill>
            </a:ln>
          </p:spPr>
        </p:sp>
        <p:sp>
          <p:nvSpPr>
            <p:cNvPr id="35" name="Ellipse 35"/>
            <p:cNvSpPr/>
            <p:nvPr/>
          </p:nvSpPr>
          <p:spPr>
            <a:xfrm>
              <a:off x="5543550" y="2038350"/>
              <a:ext cx="1104900" cy="1104900"/>
            </a:xfrm>
            <a:prstGeom prst="ellipse">
              <a:avLst/>
            </a:prstGeom>
            <a:gradFill>
              <a:gsLst>
                <a:gs pos="0">
                  <a:srgbClr val="F2745A"/>
                </a:gs>
                <a:gs pos="100000">
                  <a:srgbClr val="C83B1E"/>
                </a:gs>
              </a:gsLst>
              <a:path path="circle">
                <a:fillToRect l="38000" t="32000" r="62000" b="68000"/>
              </a:path>
            </a:gradFill>
            <a:ln>
              <a:noFill/>
            </a:ln>
          </p:spPr>
        </p:sp>
        <p:sp>
          <p:nvSpPr>
            <p:cNvPr id="36" name="TextBox 36"/>
            <p:cNvSpPr txBox="1"/>
            <p:nvPr/>
          </p:nvSpPr>
          <p:spPr>
            <a:xfrm>
              <a:off x="5720004" y="2469832"/>
              <a:ext cx="751991"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700+万</a:t>
              </a:r>
            </a:p>
          </p:txBody>
        </p:sp>
        <p:sp>
          <p:nvSpPr>
            <p:cNvPr id="37" name="TextBox 37"/>
            <p:cNvSpPr txBox="1"/>
            <p:nvPr/>
          </p:nvSpPr>
          <p:spPr>
            <a:xfrm>
              <a:off x="5760072" y="2749391"/>
              <a:ext cx="67185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大型商业中心</a:t>
              </a:r>
            </a:p>
          </p:txBody>
        </p:sp>
        <p:sp>
          <p:nvSpPr>
            <p:cNvPr id="38" name="Ellipse 38"/>
            <p:cNvSpPr/>
            <p:nvPr/>
          </p:nvSpPr>
          <p:spPr>
            <a:xfrm>
              <a:off x="5010150" y="3314700"/>
              <a:ext cx="914400" cy="914400"/>
            </a:xfrm>
            <a:prstGeom prst="ellipse">
              <a:avLst/>
            </a:prstGeom>
            <a:gradFill>
              <a:gsLst>
                <a:gs pos="0">
                  <a:srgbClr val="F2745A"/>
                </a:gs>
                <a:gs pos="100000">
                  <a:srgbClr val="C83B1E"/>
                </a:gs>
              </a:gsLst>
              <a:path path="circle">
                <a:fillToRect l="38000" t="32000" r="62000" b="68000"/>
              </a:path>
            </a:gradFill>
            <a:ln>
              <a:noFill/>
            </a:ln>
          </p:spPr>
        </p:sp>
        <p:sp>
          <p:nvSpPr>
            <p:cNvPr id="39" name="TextBox 39"/>
            <p:cNvSpPr txBox="1"/>
            <p:nvPr/>
          </p:nvSpPr>
          <p:spPr>
            <a:xfrm>
              <a:off x="5143741" y="3675221"/>
              <a:ext cx="647219"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100+万</a:t>
              </a:r>
            </a:p>
          </p:txBody>
        </p:sp>
        <p:sp>
          <p:nvSpPr>
            <p:cNvPr id="40" name="TextBox 40"/>
            <p:cNvSpPr txBox="1"/>
            <p:nvPr/>
          </p:nvSpPr>
          <p:spPr>
            <a:xfrm>
              <a:off x="5303063" y="3915489"/>
              <a:ext cx="32857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小微商</a:t>
              </a:r>
            </a:p>
          </p:txBody>
        </p:sp>
        <p:sp>
          <p:nvSpPr>
            <p:cNvPr id="41" name="Ellipse 41"/>
            <p:cNvSpPr/>
            <p:nvPr/>
          </p:nvSpPr>
          <p:spPr>
            <a:xfrm>
              <a:off x="6286500" y="3314700"/>
              <a:ext cx="914400" cy="914400"/>
            </a:xfrm>
            <a:prstGeom prst="ellipse">
              <a:avLst/>
            </a:prstGeom>
            <a:gradFill>
              <a:gsLst>
                <a:gs pos="0">
                  <a:srgbClr val="F2745A"/>
                </a:gs>
                <a:gs pos="100000">
                  <a:srgbClr val="C83B1E"/>
                </a:gs>
              </a:gsLst>
              <a:path path="circle">
                <a:fillToRect l="38000" t="32000" r="62000" b="68000"/>
              </a:path>
            </a:gradFill>
            <a:ln>
              <a:noFill/>
            </a:ln>
          </p:spPr>
        </p:sp>
        <p:sp>
          <p:nvSpPr>
            <p:cNvPr id="42" name="TextBox 42"/>
            <p:cNvSpPr txBox="1"/>
            <p:nvPr/>
          </p:nvSpPr>
          <p:spPr>
            <a:xfrm>
              <a:off x="6475288" y="3675221"/>
              <a:ext cx="536824"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20+万</a:t>
              </a:r>
            </a:p>
          </p:txBody>
        </p:sp>
        <p:sp>
          <p:nvSpPr>
            <p:cNvPr id="43" name="TextBox 43"/>
            <p:cNvSpPr txBox="1"/>
            <p:nvPr/>
          </p:nvSpPr>
          <p:spPr>
            <a:xfrm>
              <a:off x="6526238" y="3915489"/>
              <a:ext cx="434924" cy="154781"/>
            </a:xfrm>
            <a:prstGeom prst="rect">
              <a:avLst/>
            </a:prstGeom>
            <a:noFill/>
            <a:ln>
              <a:noFill/>
            </a:ln>
          </p:spPr>
          <p:txBody>
            <a:bodyPr wrap="none" lIns="0" tIns="0" rIns="0" bIns="0" anchor="t" anchorCtr="0">
              <a:spAutoFit/>
            </a:bodyPr>
            <a:lstStyle/>
            <a:p>
              <a:pPr algn="ctr"/>
              <a:r>
                <a:rPr lang="zh-CN" sz="790" dirty="0">
                  <a:solidFill>
                    <a:srgbClr val="FFFFFF"/>
                  </a:solidFill>
                  <a:latin typeface="+mn-lt"/>
                  <a:ea typeface="+mn-ea"/>
                  <a:cs typeface="+mn-cs"/>
                </a:rPr>
                <a:t>中小企业</a:t>
              </a:r>
            </a:p>
          </p:txBody>
        </p:sp>
        <p:sp>
          <p:nvSpPr>
            <p:cNvPr id="44" name="Ellipse 44"/>
            <p:cNvSpPr/>
            <p:nvPr/>
          </p:nvSpPr>
          <p:spPr>
            <a:xfrm>
              <a:off x="6915150" y="2571750"/>
              <a:ext cx="304800" cy="304800"/>
            </a:xfrm>
            <a:prstGeom prst="ellipse">
              <a:avLst/>
            </a:prstGeom>
            <a:solidFill>
              <a:srgbClr val="FFFFFF"/>
            </a:solidFill>
            <a:ln w="14288">
              <a:solidFill>
                <a:srgbClr val="F8B6A9"/>
              </a:solidFill>
            </a:ln>
          </p:spPr>
        </p:sp>
        <p:sp>
          <p:nvSpPr>
            <p:cNvPr id="45" name="Ellipse 45"/>
            <p:cNvSpPr/>
            <p:nvPr/>
          </p:nvSpPr>
          <p:spPr>
            <a:xfrm>
              <a:off x="4876800" y="3371850"/>
              <a:ext cx="228600" cy="228600"/>
            </a:xfrm>
            <a:prstGeom prst="ellipse">
              <a:avLst/>
            </a:prstGeom>
            <a:solidFill>
              <a:srgbClr val="FFFFFF"/>
            </a:solidFill>
            <a:ln w="14288">
              <a:solidFill>
                <a:srgbClr val="F8B6A9"/>
              </a:solidFill>
            </a:ln>
          </p:spPr>
        </p:sp>
      </p:grpSp>
      <p:grpSp>
        <p:nvGrpSpPr>
          <p:cNvPr id="50" name="col-mer-note"/>
          <p:cNvGrpSpPr/>
          <p:nvPr/>
        </p:nvGrpSpPr>
        <p:grpSpPr>
          <a:xfrm>
            <a:off x="4667250" y="5143500"/>
            <a:ext cx="2857500" cy="495300"/>
            <a:chOff x="4667250" y="5143500"/>
            <a:chExt cx="2857500" cy="495300"/>
          </a:xfrm>
        </p:grpSpPr>
        <p:sp>
          <p:nvSpPr>
            <p:cNvPr id="47" name="Ellipse 47"/>
            <p:cNvSpPr/>
            <p:nvPr/>
          </p:nvSpPr>
          <p:spPr>
            <a:xfrm>
              <a:off x="4667250" y="5143500"/>
              <a:ext cx="2857500" cy="495300"/>
            </a:xfrm>
            <a:prstGeom prst="ellipse">
              <a:avLst/>
            </a:prstGeom>
            <a:gradFill>
              <a:gsLst>
                <a:gs pos="0">
                  <a:srgbClr val="F8C9BF"/>
                </a:gs>
                <a:gs pos="100000">
                  <a:srgbClr val="EAF3FD"/>
                </a:gs>
              </a:gsLst>
              <a:lin ang="5400000" scaled="1"/>
            </a:gradFill>
            <a:ln w="9525">
              <a:solidFill>
                <a:srgbClr val="F8B6A9"/>
              </a:solidFill>
            </a:ln>
          </p:spPr>
        </p:sp>
        <p:sp>
          <p:nvSpPr>
            <p:cNvPr id="48" name="TextBox 48"/>
            <p:cNvSpPr txBox="1"/>
            <p:nvPr/>
          </p:nvSpPr>
          <p:spPr>
            <a:xfrm>
              <a:off x="5563337" y="5247799"/>
              <a:ext cx="1065327"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包含业务和技术的</a:t>
              </a:r>
            </a:p>
          </p:txBody>
        </p:sp>
        <p:sp>
          <p:nvSpPr>
            <p:cNvPr id="49" name="TextBox 49"/>
            <p:cNvSpPr txBox="1"/>
            <p:nvPr/>
          </p:nvSpPr>
          <p:spPr>
            <a:xfrm>
              <a:off x="5629300" y="5438299"/>
              <a:ext cx="933399"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数字化解决方案</a:t>
              </a:r>
            </a:p>
          </p:txBody>
        </p:sp>
      </p:grpSp>
      <p:grpSp>
        <p:nvGrpSpPr>
          <p:cNvPr id="53" name="col-gov-head"/>
          <p:cNvGrpSpPr/>
          <p:nvPr/>
        </p:nvGrpSpPr>
        <p:grpSpPr>
          <a:xfrm>
            <a:off x="8839200" y="1162050"/>
            <a:ext cx="2895600" cy="361950"/>
            <a:chOff x="8839200" y="1162050"/>
            <a:chExt cx="2895600" cy="361950"/>
          </a:xfrm>
        </p:grpSpPr>
        <p:sp>
          <p:nvSpPr>
            <p:cNvPr id="51" name="Rectangle 51"/>
            <p:cNvSpPr/>
            <p:nvPr/>
          </p:nvSpPr>
          <p:spPr>
            <a:xfrm>
              <a:off x="8839200" y="1162050"/>
              <a:ext cx="2895600" cy="361950"/>
            </a:xfrm>
            <a:prstGeom prst="roundRect">
              <a:avLst>
                <a:gd name="adj" fmla="val 50000"/>
              </a:avLst>
            </a:prstGeom>
            <a:gradFill>
              <a:gsLst>
                <a:gs pos="0">
                  <a:srgbClr val="FF5B3A"/>
                </a:gs>
                <a:gs pos="100000">
                  <a:srgbClr val="E94B2B"/>
                </a:gs>
              </a:gsLst>
              <a:lin ang="0" scaled="1"/>
            </a:gradFill>
            <a:ln>
              <a:noFill/>
            </a:ln>
          </p:spPr>
        </p:sp>
        <p:sp>
          <p:nvSpPr>
            <p:cNvPr id="52" name="TextBox 52"/>
            <p:cNvSpPr txBox="1"/>
            <p:nvPr/>
          </p:nvSpPr>
          <p:spPr>
            <a:xfrm>
              <a:off x="9796272" y="127063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政府服务领域</a:t>
              </a:r>
            </a:p>
          </p:txBody>
        </p:sp>
      </p:grpSp>
      <p:grpSp>
        <p:nvGrpSpPr>
          <p:cNvPr id="68" name="col-gov-num"/>
          <p:cNvGrpSpPr/>
          <p:nvPr/>
        </p:nvGrpSpPr>
        <p:grpSpPr>
          <a:xfrm>
            <a:off x="9105900" y="2095500"/>
            <a:ext cx="2514600" cy="2206561"/>
            <a:chOff x="9105900" y="2095500"/>
            <a:chExt cx="2514600" cy="2206561"/>
          </a:xfrm>
        </p:grpSpPr>
        <p:sp>
          <p:nvSpPr>
            <p:cNvPr id="54" name="Ellipse 54"/>
            <p:cNvSpPr/>
            <p:nvPr/>
          </p:nvSpPr>
          <p:spPr>
            <a:xfrm>
              <a:off x="9848850" y="2095500"/>
              <a:ext cx="876300" cy="876300"/>
            </a:xfrm>
            <a:prstGeom prst="ellipse">
              <a:avLst/>
            </a:prstGeom>
            <a:solidFill>
              <a:srgbClr val="FFFFFF"/>
            </a:solidFill>
            <a:ln w="19050">
              <a:solidFill>
                <a:srgbClr val="F5927E"/>
              </a:solidFill>
            </a:ln>
          </p:spPr>
        </p:sp>
        <p:grpSp>
          <p:nvGrpSpPr>
            <p:cNvPr id="61" name="Group 61"/>
            <p:cNvGrpSpPr/>
            <p:nvPr/>
          </p:nvGrpSpPr>
          <p:grpSpPr>
            <a:xfrm>
              <a:off x="10129837" y="2376487"/>
              <a:ext cx="314325" cy="314324"/>
              <a:chOff x="10129837" y="2376487"/>
              <a:chExt cx="314325" cy="314324"/>
            </a:xfrm>
          </p:grpSpPr>
          <p:sp>
            <p:nvSpPr>
              <p:cNvPr id="55" name="Freeform 55"/>
              <p:cNvSpPr/>
              <p:nvPr/>
            </p:nvSpPr>
            <p:spPr>
              <a:xfrm>
                <a:off x="10252075" y="25161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94B2B"/>
                </a:solidFill>
              </a:ln>
            </p:spPr>
          </p:sp>
          <p:sp>
            <p:nvSpPr>
              <p:cNvPr id="56" name="Freeform 56"/>
              <p:cNvSpPr/>
              <p:nvPr/>
            </p:nvSpPr>
            <p:spPr>
              <a:xfrm>
                <a:off x="10217150" y="2638424"/>
                <a:ext cx="139700" cy="52387"/>
              </a:xfrm>
              <a:custGeom>
                <a:avLst/>
                <a:gdLst/>
                <a:ahLst/>
                <a:cxnLst/>
                <a:rect l="l" t="t" r="r" b="b"/>
                <a:pathLst>
                  <a:path w="139700" h="52387">
                    <a:moveTo>
                      <a:pt x="0" y="52387"/>
                    </a:moveTo>
                    <a:lnTo>
                      <a:pt x="0" y="34925"/>
                    </a:lnTo>
                    <a:cubicBezTo>
                      <a:pt x="0" y="15636"/>
                      <a:pt x="15636" y="0"/>
                      <a:pt x="34925" y="0"/>
                    </a:cubicBezTo>
                    <a:lnTo>
                      <a:pt x="104775" y="0"/>
                    </a:lnTo>
                    <a:cubicBezTo>
                      <a:pt x="124063" y="0"/>
                      <a:pt x="139700" y="15636"/>
                      <a:pt x="139700" y="34925"/>
                    </a:cubicBezTo>
                    <a:lnTo>
                      <a:pt x="139700" y="52387"/>
                    </a:lnTo>
                  </a:path>
                </a:pathLst>
              </a:custGeom>
              <a:noFill/>
              <a:ln w="34925">
                <a:solidFill>
                  <a:srgbClr val="E94B2B"/>
                </a:solidFill>
              </a:ln>
            </p:spPr>
          </p:sp>
          <p:sp>
            <p:nvSpPr>
              <p:cNvPr id="57" name="Freeform 57"/>
              <p:cNvSpPr/>
              <p:nvPr/>
            </p:nvSpPr>
            <p:spPr>
              <a:xfrm>
                <a:off x="10339387" y="23764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94B2B"/>
                </a:solidFill>
              </a:ln>
            </p:spPr>
          </p:sp>
          <p:sp>
            <p:nvSpPr>
              <p:cNvPr id="58" name="Freeform 58"/>
              <p:cNvSpPr/>
              <p:nvPr/>
            </p:nvSpPr>
            <p:spPr>
              <a:xfrm>
                <a:off x="10374312" y="2498725"/>
                <a:ext cx="69850" cy="52387"/>
              </a:xfrm>
              <a:custGeom>
                <a:avLst/>
                <a:gdLst/>
                <a:ahLst/>
                <a:cxnLst/>
                <a:rect l="l" t="t" r="r" b="b"/>
                <a:pathLst>
                  <a:path w="69850" h="52387">
                    <a:moveTo>
                      <a:pt x="0" y="0"/>
                    </a:moveTo>
                    <a:lnTo>
                      <a:pt x="34925" y="0"/>
                    </a:lnTo>
                    <a:cubicBezTo>
                      <a:pt x="54213" y="0"/>
                      <a:pt x="69850" y="15636"/>
                      <a:pt x="69850" y="34925"/>
                    </a:cubicBezTo>
                    <a:lnTo>
                      <a:pt x="69850" y="52387"/>
                    </a:lnTo>
                  </a:path>
                </a:pathLst>
              </a:custGeom>
              <a:noFill/>
              <a:ln w="34925">
                <a:solidFill>
                  <a:srgbClr val="E94B2B"/>
                </a:solidFill>
              </a:ln>
            </p:spPr>
          </p:sp>
          <p:sp>
            <p:nvSpPr>
              <p:cNvPr id="59" name="Freeform 59"/>
              <p:cNvSpPr/>
              <p:nvPr/>
            </p:nvSpPr>
            <p:spPr>
              <a:xfrm>
                <a:off x="10164762" y="237648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E94B2B"/>
                </a:solidFill>
              </a:ln>
            </p:spPr>
          </p:sp>
          <p:sp>
            <p:nvSpPr>
              <p:cNvPr id="60" name="Freeform 60"/>
              <p:cNvSpPr/>
              <p:nvPr/>
            </p:nvSpPr>
            <p:spPr>
              <a:xfrm>
                <a:off x="10129837" y="2498725"/>
                <a:ext cx="69850" cy="52387"/>
              </a:xfrm>
              <a:custGeom>
                <a:avLst/>
                <a:gdLst/>
                <a:ahLst/>
                <a:cxnLst/>
                <a:rect l="l" t="t" r="r" b="b"/>
                <a:pathLst>
                  <a:path w="69850" h="52387">
                    <a:moveTo>
                      <a:pt x="0" y="52387"/>
                    </a:moveTo>
                    <a:lnTo>
                      <a:pt x="0" y="34925"/>
                    </a:lnTo>
                    <a:cubicBezTo>
                      <a:pt x="0" y="15636"/>
                      <a:pt x="15636" y="0"/>
                      <a:pt x="34925" y="0"/>
                    </a:cubicBezTo>
                    <a:lnTo>
                      <a:pt x="69850" y="0"/>
                    </a:lnTo>
                  </a:path>
                </a:pathLst>
              </a:custGeom>
              <a:noFill/>
              <a:ln w="34925">
                <a:solidFill>
                  <a:srgbClr val="E94B2B"/>
                </a:solidFill>
              </a:ln>
            </p:spPr>
          </p:sp>
        </p:grpSp>
        <p:sp>
          <p:nvSpPr>
            <p:cNvPr id="62" name="Polygon 62"/>
            <p:cNvSpPr/>
            <p:nvPr/>
          </p:nvSpPr>
          <p:spPr>
            <a:xfrm>
              <a:off x="9467850" y="3505200"/>
              <a:ext cx="457200" cy="647700"/>
            </a:xfrm>
            <a:custGeom>
              <a:avLst/>
              <a:gdLst/>
              <a:ahLst/>
              <a:cxnLst/>
              <a:rect l="l" t="t" r="r" b="b"/>
              <a:pathLst>
                <a:path w="457200" h="647700">
                  <a:moveTo>
                    <a:pt x="114300" y="647700"/>
                  </a:moveTo>
                  <a:lnTo>
                    <a:pt x="114300" y="266700"/>
                  </a:lnTo>
                  <a:lnTo>
                    <a:pt x="0" y="266700"/>
                  </a:lnTo>
                  <a:lnTo>
                    <a:pt x="228600" y="0"/>
                  </a:lnTo>
                  <a:lnTo>
                    <a:pt x="457200" y="266700"/>
                  </a:lnTo>
                  <a:lnTo>
                    <a:pt x="342900" y="266700"/>
                  </a:lnTo>
                  <a:lnTo>
                    <a:pt x="342900" y="647700"/>
                  </a:lnTo>
                  <a:close/>
                </a:path>
              </a:pathLst>
            </a:custGeom>
            <a:gradFill>
              <a:gsLst>
                <a:gs pos="0">
                  <a:srgbClr val="F8B6A9"/>
                </a:gs>
                <a:gs pos="100000">
                  <a:srgbClr val="E94B2B"/>
                </a:gs>
              </a:gsLst>
              <a:lin ang="16200000" scaled="1"/>
            </a:gradFill>
            <a:ln>
              <a:noFill/>
            </a:ln>
          </p:spPr>
        </p:sp>
        <p:sp>
          <p:nvSpPr>
            <p:cNvPr id="63" name="Polygon 63"/>
            <p:cNvSpPr/>
            <p:nvPr/>
          </p:nvSpPr>
          <p:spPr>
            <a:xfrm>
              <a:off x="10877550" y="3505200"/>
              <a:ext cx="457200" cy="647700"/>
            </a:xfrm>
            <a:custGeom>
              <a:avLst/>
              <a:gdLst/>
              <a:ahLst/>
              <a:cxnLst/>
              <a:rect l="l" t="t" r="r" b="b"/>
              <a:pathLst>
                <a:path w="457200" h="647700">
                  <a:moveTo>
                    <a:pt x="114300" y="647700"/>
                  </a:moveTo>
                  <a:lnTo>
                    <a:pt x="114300" y="266700"/>
                  </a:lnTo>
                  <a:lnTo>
                    <a:pt x="0" y="266700"/>
                  </a:lnTo>
                  <a:lnTo>
                    <a:pt x="228600" y="0"/>
                  </a:lnTo>
                  <a:lnTo>
                    <a:pt x="457200" y="266700"/>
                  </a:lnTo>
                  <a:lnTo>
                    <a:pt x="342900" y="266700"/>
                  </a:lnTo>
                  <a:lnTo>
                    <a:pt x="342900" y="647700"/>
                  </a:lnTo>
                  <a:close/>
                </a:path>
              </a:pathLst>
            </a:custGeom>
            <a:gradFill>
              <a:gsLst>
                <a:gs pos="0">
                  <a:srgbClr val="F8B6A9"/>
                </a:gs>
                <a:gs pos="100000">
                  <a:srgbClr val="E94B2B"/>
                </a:gs>
              </a:gsLst>
              <a:lin ang="16200000" scaled="1"/>
            </a:gradFill>
            <a:ln>
              <a:noFill/>
            </a:ln>
          </p:spPr>
        </p:sp>
        <p:sp>
          <p:nvSpPr>
            <p:cNvPr id="64" name="Polygon 64"/>
            <p:cNvSpPr/>
            <p:nvPr/>
          </p:nvSpPr>
          <p:spPr>
            <a:xfrm>
              <a:off x="9105900" y="3733800"/>
              <a:ext cx="304800" cy="419100"/>
            </a:xfrm>
            <a:custGeom>
              <a:avLst/>
              <a:gdLst/>
              <a:ahLst/>
              <a:cxnLst/>
              <a:rect l="l" t="t" r="r" b="b"/>
              <a:pathLst>
                <a:path w="304800" h="419100">
                  <a:moveTo>
                    <a:pt x="76200" y="419100"/>
                  </a:moveTo>
                  <a:lnTo>
                    <a:pt x="76200" y="190500"/>
                  </a:lnTo>
                  <a:lnTo>
                    <a:pt x="0" y="190500"/>
                  </a:lnTo>
                  <a:lnTo>
                    <a:pt x="152400" y="0"/>
                  </a:lnTo>
                  <a:lnTo>
                    <a:pt x="304800" y="190500"/>
                  </a:lnTo>
                  <a:lnTo>
                    <a:pt x="228600" y="190500"/>
                  </a:lnTo>
                  <a:lnTo>
                    <a:pt x="228600" y="419100"/>
                  </a:lnTo>
                  <a:close/>
                </a:path>
              </a:pathLst>
            </a:custGeom>
            <a:gradFill>
              <a:gsLst>
                <a:gs pos="0">
                  <a:srgbClr val="F8B6A9"/>
                </a:gs>
                <a:gs pos="100000">
                  <a:srgbClr val="E94B2B"/>
                </a:gs>
              </a:gsLst>
              <a:lin ang="16200000" scaled="1"/>
            </a:gradFill>
            <a:ln>
              <a:noFill/>
            </a:ln>
          </p:spPr>
        </p:sp>
        <p:sp>
          <p:nvSpPr>
            <p:cNvPr id="65" name="Polygon 65"/>
            <p:cNvSpPr/>
            <p:nvPr/>
          </p:nvSpPr>
          <p:spPr>
            <a:xfrm>
              <a:off x="11315700" y="3733800"/>
              <a:ext cx="304800" cy="419100"/>
            </a:xfrm>
            <a:custGeom>
              <a:avLst/>
              <a:gdLst/>
              <a:ahLst/>
              <a:cxnLst/>
              <a:rect l="l" t="t" r="r" b="b"/>
              <a:pathLst>
                <a:path w="304800" h="419100">
                  <a:moveTo>
                    <a:pt x="76200" y="419100"/>
                  </a:moveTo>
                  <a:lnTo>
                    <a:pt x="76200" y="190500"/>
                  </a:lnTo>
                  <a:lnTo>
                    <a:pt x="0" y="190500"/>
                  </a:lnTo>
                  <a:lnTo>
                    <a:pt x="152400" y="0"/>
                  </a:lnTo>
                  <a:lnTo>
                    <a:pt x="304800" y="190500"/>
                  </a:lnTo>
                  <a:lnTo>
                    <a:pt x="228600" y="190500"/>
                  </a:lnTo>
                  <a:lnTo>
                    <a:pt x="228600" y="419100"/>
                  </a:lnTo>
                  <a:close/>
                </a:path>
              </a:pathLst>
            </a:custGeom>
            <a:gradFill>
              <a:gsLst>
                <a:gs pos="0">
                  <a:srgbClr val="F8B6A9"/>
                </a:gs>
                <a:gs pos="100000">
                  <a:srgbClr val="E94B2B"/>
                </a:gs>
              </a:gsLst>
              <a:lin ang="16200000" scaled="1"/>
            </a:gradFill>
            <a:ln>
              <a:noFill/>
            </a:ln>
          </p:spPr>
        </p:sp>
        <p:sp>
          <p:nvSpPr>
            <p:cNvPr id="66" name="TextBox 66"/>
            <p:cNvSpPr txBox="1"/>
            <p:nvPr/>
          </p:nvSpPr>
          <p:spPr>
            <a:xfrm>
              <a:off x="9607819" y="3635692"/>
              <a:ext cx="1358362" cy="557403"/>
            </a:xfrm>
            <a:prstGeom prst="rect">
              <a:avLst/>
            </a:prstGeom>
            <a:noFill/>
            <a:ln>
              <a:noFill/>
            </a:ln>
          </p:spPr>
          <p:txBody>
            <a:bodyPr wrap="none" lIns="0" tIns="0" rIns="0" bIns="0" anchor="t" anchorCtr="0">
              <a:spAutoFit/>
            </a:bodyPr>
            <a:lstStyle/>
            <a:p>
              <a:pPr algn="ctr"/>
              <a:r>
                <a:rPr lang="zh-CN" sz="2850" b="1" dirty="0">
                  <a:solidFill>
                    <a:srgbClr val="E94B2B"/>
                  </a:solidFill>
                  <a:latin typeface="+mn-lt"/>
                  <a:ea typeface="+mn-ea"/>
                  <a:cs typeface="+mn-cs"/>
                </a:rPr>
                <a:t>20000+</a:t>
              </a:r>
            </a:p>
          </p:txBody>
        </p:sp>
        <p:sp>
          <p:nvSpPr>
            <p:cNvPr id="67" name="TextBox 67"/>
            <p:cNvSpPr txBox="1"/>
            <p:nvPr/>
          </p:nvSpPr>
          <p:spPr>
            <a:xfrm>
              <a:off x="9716262" y="4096702"/>
              <a:ext cx="1141476" cy="205359"/>
            </a:xfrm>
            <a:prstGeom prst="rect">
              <a:avLst/>
            </a:prstGeom>
            <a:noFill/>
            <a:ln>
              <a:noFill/>
            </a:ln>
          </p:spPr>
          <p:txBody>
            <a:bodyPr wrap="none" lIns="0" tIns="0" rIns="0" bIns="0" anchor="t" anchorCtr="0">
              <a:spAutoFit/>
            </a:bodyPr>
            <a:lstStyle/>
            <a:p>
              <a:pPr algn="ctr"/>
              <a:r>
                <a:rPr lang="zh-CN" sz="1050" b="1" dirty="0">
                  <a:solidFill>
                    <a:srgbClr val="C83B1E"/>
                  </a:solidFill>
                  <a:latin typeface="+mn-lt"/>
                  <a:ea typeface="+mn-ea"/>
                  <a:cs typeface="+mn-cs"/>
                </a:rPr>
                <a:t>城市公共服务机构</a:t>
              </a:r>
            </a:p>
          </p:txBody>
        </p:sp>
      </p:grpSp>
      <p:grpSp>
        <p:nvGrpSpPr>
          <p:cNvPr id="72" name="col-gov-note"/>
          <p:cNvGrpSpPr/>
          <p:nvPr/>
        </p:nvGrpSpPr>
        <p:grpSpPr>
          <a:xfrm>
            <a:off x="8858250" y="5143500"/>
            <a:ext cx="2857500" cy="495300"/>
            <a:chOff x="8858250" y="5143500"/>
            <a:chExt cx="2857500" cy="495300"/>
          </a:xfrm>
        </p:grpSpPr>
        <p:sp>
          <p:nvSpPr>
            <p:cNvPr id="69" name="Ellipse 69"/>
            <p:cNvSpPr/>
            <p:nvPr/>
          </p:nvSpPr>
          <p:spPr>
            <a:xfrm>
              <a:off x="8858250" y="5143500"/>
              <a:ext cx="2857500" cy="495300"/>
            </a:xfrm>
            <a:prstGeom prst="ellipse">
              <a:avLst/>
            </a:prstGeom>
            <a:gradFill>
              <a:gsLst>
                <a:gs pos="0">
                  <a:srgbClr val="F8C9BF"/>
                </a:gs>
                <a:gs pos="100000">
                  <a:srgbClr val="EAF3FD"/>
                </a:gs>
              </a:gsLst>
              <a:lin ang="5400000" scaled="1"/>
            </a:gradFill>
            <a:ln w="9525">
              <a:solidFill>
                <a:srgbClr val="F8B6A9"/>
              </a:solidFill>
            </a:ln>
          </p:spPr>
        </p:sp>
        <p:sp>
          <p:nvSpPr>
            <p:cNvPr id="70" name="TextBox 70"/>
            <p:cNvSpPr txBox="1"/>
            <p:nvPr/>
          </p:nvSpPr>
          <p:spPr>
            <a:xfrm>
              <a:off x="10018192" y="5247799"/>
              <a:ext cx="537616"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核心产品</a:t>
              </a:r>
            </a:p>
          </p:txBody>
        </p:sp>
        <p:sp>
          <p:nvSpPr>
            <p:cNvPr id="71" name="TextBox 71"/>
            <p:cNvSpPr txBox="1"/>
            <p:nvPr/>
          </p:nvSpPr>
          <p:spPr>
            <a:xfrm>
              <a:off x="9754337" y="5438299"/>
              <a:ext cx="1065327" cy="190690"/>
            </a:xfrm>
            <a:prstGeom prst="rect">
              <a:avLst/>
            </a:prstGeom>
            <a:noFill/>
            <a:ln>
              <a:noFill/>
            </a:ln>
          </p:spPr>
          <p:txBody>
            <a:bodyPr wrap="none" lIns="0" tIns="0" rIns="0" bIns="0" anchor="t" anchorCtr="0">
              <a:spAutoFit/>
            </a:bodyPr>
            <a:lstStyle/>
            <a:p>
              <a:pPr algn="ctr"/>
              <a:r>
                <a:rPr lang="zh-CN" sz="980" dirty="0">
                  <a:solidFill>
                    <a:srgbClr val="C83B1E"/>
                  </a:solidFill>
                  <a:latin typeface="+mn-lt"/>
                  <a:ea typeface="+mn-ea"/>
                  <a:cs typeface="+mn-cs"/>
                </a:rPr>
                <a:t>智能城市操作系统</a:t>
              </a:r>
            </a:p>
          </p:txBody>
        </p:sp>
      </p:grpSp>
      <p:grpSp>
        <p:nvGrpSpPr>
          <p:cNvPr id="74" name="bottom-band"/>
          <p:cNvGrpSpPr/>
          <p:nvPr/>
        </p:nvGrpSpPr>
        <p:grpSpPr>
          <a:xfrm>
            <a:off x="4310634" y="6413182"/>
            <a:ext cx="3570732" cy="322707"/>
            <a:chOff x="4310634" y="6413182"/>
            <a:chExt cx="3570732" cy="322707"/>
          </a:xfrm>
        </p:grpSpPr>
        <p:sp>
          <p:nvSpPr>
            <p:cNvPr id="73" name="TextBox 73"/>
            <p:cNvSpPr txBox="1"/>
            <p:nvPr/>
          </p:nvSpPr>
          <p:spPr>
            <a:xfrm>
              <a:off x="4310634" y="6413182"/>
              <a:ext cx="3570732"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为多个领域企业提供一体化解决方案</a:t>
              </a:r>
            </a:p>
          </p:txBody>
        </p:sp>
      </p:gr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22</a:t>
              </a:r>
            </a:p>
          </p:txBody>
        </p:sp>
        <p:sp>
          <p:nvSpPr>
            <p:cNvPr id="4" name="TextBox 4"/>
            <p:cNvSpPr txBox="1"/>
            <p:nvPr/>
          </p:nvSpPr>
          <p:spPr>
            <a:xfrm>
              <a:off x="904494" y="180023"/>
              <a:ext cx="1961388"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上半年财务分析</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67" name="m1-revenue"/>
          <p:cNvGrpSpPr/>
          <p:nvPr/>
        </p:nvGrpSpPr>
        <p:grpSpPr>
          <a:xfrm>
            <a:off x="571500" y="781050"/>
            <a:ext cx="3901113" cy="2971800"/>
            <a:chOff x="571500" y="781050"/>
            <a:chExt cx="3901113" cy="2971800"/>
          </a:xfrm>
        </p:grpSpPr>
        <p:sp>
          <p:nvSpPr>
            <p:cNvPr id="7" name="Rectangle 7"/>
            <p:cNvSpPr/>
            <p:nvPr/>
          </p:nvSpPr>
          <p:spPr>
            <a:xfrm>
              <a:off x="571500" y="781050"/>
              <a:ext cx="3848100" cy="2971800"/>
            </a:xfrm>
            <a:prstGeom prst="rect">
              <a:avLst/>
            </a:prstGeom>
            <a:solidFill>
              <a:srgbClr val="FFFFFF"/>
            </a:solidFill>
            <a:ln w="11430">
              <a:solidFill>
                <a:srgbClr val="C9DDF5"/>
              </a:solidFill>
            </a:ln>
          </p:spPr>
        </p:sp>
        <p:sp>
          <p:nvSpPr>
            <p:cNvPr id="8" name="Rectangle 8"/>
            <p:cNvSpPr/>
            <p:nvPr/>
          </p:nvSpPr>
          <p:spPr>
            <a:xfrm>
              <a:off x="666750" y="876300"/>
              <a:ext cx="2857500" cy="266700"/>
            </a:xfrm>
            <a:prstGeom prst="rect">
              <a:avLst/>
            </a:prstGeom>
            <a:gradFill>
              <a:gsLst>
                <a:gs pos="0">
                  <a:srgbClr val="FF5B3A"/>
                </a:gs>
                <a:gs pos="100000">
                  <a:srgbClr val="E94B2B"/>
                </a:gs>
              </a:gsLst>
              <a:lin ang="0" scaled="1"/>
            </a:gradFill>
            <a:ln>
              <a:noFill/>
            </a:ln>
          </p:spPr>
        </p:sp>
        <p:sp>
          <p:nvSpPr>
            <p:cNvPr id="9" name="Polygon 9"/>
            <p:cNvSpPr/>
            <p:nvPr/>
          </p:nvSpPr>
          <p:spPr>
            <a:xfrm>
              <a:off x="3429000" y="876300"/>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10" name="TextBox 10"/>
            <p:cNvSpPr txBox="1"/>
            <p:nvPr/>
          </p:nvSpPr>
          <p:spPr>
            <a:xfrm>
              <a:off x="775335" y="945356"/>
              <a:ext cx="1066851"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上半年营业情况</a:t>
              </a:r>
            </a:p>
          </p:txBody>
        </p:sp>
        <p:sp>
          <p:nvSpPr>
            <p:cNvPr id="11" name="Rectangle 11"/>
            <p:cNvSpPr/>
            <p:nvPr/>
          </p:nvSpPr>
          <p:spPr>
            <a:xfrm>
              <a:off x="1428750" y="1257300"/>
              <a:ext cx="104775" cy="104775"/>
            </a:xfrm>
            <a:prstGeom prst="rect">
              <a:avLst/>
            </a:prstGeom>
            <a:solidFill>
              <a:srgbClr val="C83B1E"/>
            </a:solidFill>
            <a:ln>
              <a:noFill/>
            </a:ln>
          </p:spPr>
        </p:sp>
        <p:sp>
          <p:nvSpPr>
            <p:cNvPr id="12" name="TextBox 12"/>
            <p:cNvSpPr txBox="1"/>
            <p:nvPr/>
          </p:nvSpPr>
          <p:spPr>
            <a:xfrm>
              <a:off x="1576388" y="1267539"/>
              <a:ext cx="222225"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预算</a:t>
              </a:r>
            </a:p>
          </p:txBody>
        </p:sp>
        <p:sp>
          <p:nvSpPr>
            <p:cNvPr id="13" name="Rectangle 13"/>
            <p:cNvSpPr/>
            <p:nvPr/>
          </p:nvSpPr>
          <p:spPr>
            <a:xfrm>
              <a:off x="2057400" y="1257300"/>
              <a:ext cx="104775" cy="104775"/>
            </a:xfrm>
            <a:prstGeom prst="rect">
              <a:avLst/>
            </a:prstGeom>
            <a:solidFill>
              <a:srgbClr val="F0856F"/>
            </a:solidFill>
            <a:ln>
              <a:noFill/>
            </a:ln>
          </p:spPr>
        </p:sp>
        <p:sp>
          <p:nvSpPr>
            <p:cNvPr id="14" name="TextBox 14"/>
            <p:cNvSpPr txBox="1"/>
            <p:nvPr/>
          </p:nvSpPr>
          <p:spPr>
            <a:xfrm>
              <a:off x="2205038" y="1267539"/>
              <a:ext cx="222225"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完成</a:t>
              </a:r>
            </a:p>
          </p:txBody>
        </p:sp>
        <p:sp>
          <p:nvSpPr>
            <p:cNvPr id="15" name="Line 15"/>
            <p:cNvSpPr/>
            <p:nvPr/>
          </p:nvSpPr>
          <p:spPr>
            <a:xfrm>
              <a:off x="2838450" y="1304925"/>
              <a:ext cx="228600" cy="9525"/>
            </a:xfrm>
            <a:custGeom>
              <a:avLst/>
              <a:gdLst/>
              <a:ahLst/>
              <a:cxnLst/>
              <a:rect l="l" t="t" r="r" b="b"/>
              <a:pathLst>
                <a:path w="228600" h="9525">
                  <a:moveTo>
                    <a:pt x="0" y="0"/>
                  </a:moveTo>
                  <a:lnTo>
                    <a:pt x="228600" y="0"/>
                  </a:lnTo>
                </a:path>
              </a:pathLst>
            </a:custGeom>
            <a:noFill/>
            <a:ln w="19050">
              <a:solidFill>
                <a:srgbClr val="F2563B"/>
              </a:solidFill>
            </a:ln>
          </p:spPr>
        </p:sp>
        <p:sp>
          <p:nvSpPr>
            <p:cNvPr id="16" name="Ellipse 16"/>
            <p:cNvSpPr/>
            <p:nvPr/>
          </p:nvSpPr>
          <p:spPr>
            <a:xfrm>
              <a:off x="2924175" y="1276350"/>
              <a:ext cx="57150" cy="57150"/>
            </a:xfrm>
            <a:prstGeom prst="ellipse">
              <a:avLst/>
            </a:prstGeom>
            <a:solidFill>
              <a:srgbClr val="F2563B"/>
            </a:solidFill>
            <a:ln>
              <a:noFill/>
            </a:ln>
          </p:spPr>
        </p:sp>
        <p:sp>
          <p:nvSpPr>
            <p:cNvPr id="17" name="TextBox 17"/>
            <p:cNvSpPr txBox="1"/>
            <p:nvPr/>
          </p:nvSpPr>
          <p:spPr>
            <a:xfrm>
              <a:off x="3119438" y="1267539"/>
              <a:ext cx="32857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完成率</a:t>
              </a:r>
            </a:p>
          </p:txBody>
        </p:sp>
        <p:sp>
          <p:nvSpPr>
            <p:cNvPr id="18" name="Line 18"/>
            <p:cNvSpPr/>
            <p:nvPr/>
          </p:nvSpPr>
          <p:spPr>
            <a:xfrm>
              <a:off x="1143000" y="1428750"/>
              <a:ext cx="3028950" cy="9525"/>
            </a:xfrm>
            <a:custGeom>
              <a:avLst/>
              <a:gdLst/>
              <a:ahLst/>
              <a:cxnLst/>
              <a:rect l="l" t="t" r="r" b="b"/>
              <a:pathLst>
                <a:path w="3028950" h="9525">
                  <a:moveTo>
                    <a:pt x="0" y="0"/>
                  </a:moveTo>
                  <a:lnTo>
                    <a:pt x="3028950" y="0"/>
                  </a:lnTo>
                </a:path>
              </a:pathLst>
            </a:custGeom>
            <a:noFill/>
            <a:ln w="9525">
              <a:solidFill>
                <a:srgbClr val="D8E6F8"/>
              </a:solidFill>
            </a:ln>
          </p:spPr>
        </p:sp>
        <p:sp>
          <p:nvSpPr>
            <p:cNvPr id="19" name="Line 19"/>
            <p:cNvSpPr/>
            <p:nvPr/>
          </p:nvSpPr>
          <p:spPr>
            <a:xfrm>
              <a:off x="1143000" y="1809750"/>
              <a:ext cx="3028950" cy="9525"/>
            </a:xfrm>
            <a:custGeom>
              <a:avLst/>
              <a:gdLst/>
              <a:ahLst/>
              <a:cxnLst/>
              <a:rect l="l" t="t" r="r" b="b"/>
              <a:pathLst>
                <a:path w="3028950" h="9525">
                  <a:moveTo>
                    <a:pt x="0" y="0"/>
                  </a:moveTo>
                  <a:lnTo>
                    <a:pt x="3028950" y="0"/>
                  </a:lnTo>
                </a:path>
              </a:pathLst>
            </a:custGeom>
            <a:noFill/>
            <a:ln w="9525">
              <a:solidFill>
                <a:srgbClr val="EAF2FC"/>
              </a:solidFill>
            </a:ln>
          </p:spPr>
        </p:sp>
        <p:sp>
          <p:nvSpPr>
            <p:cNvPr id="20" name="Line 20"/>
            <p:cNvSpPr/>
            <p:nvPr/>
          </p:nvSpPr>
          <p:spPr>
            <a:xfrm>
              <a:off x="1143000" y="2190750"/>
              <a:ext cx="3028950" cy="9525"/>
            </a:xfrm>
            <a:custGeom>
              <a:avLst/>
              <a:gdLst/>
              <a:ahLst/>
              <a:cxnLst/>
              <a:rect l="l" t="t" r="r" b="b"/>
              <a:pathLst>
                <a:path w="3028950" h="9525">
                  <a:moveTo>
                    <a:pt x="0" y="0"/>
                  </a:moveTo>
                  <a:lnTo>
                    <a:pt x="3028950" y="0"/>
                  </a:lnTo>
                </a:path>
              </a:pathLst>
            </a:custGeom>
            <a:noFill/>
            <a:ln w="9525">
              <a:solidFill>
                <a:srgbClr val="EAF2FC"/>
              </a:solidFill>
            </a:ln>
          </p:spPr>
        </p:sp>
        <p:sp>
          <p:nvSpPr>
            <p:cNvPr id="21" name="Line 21"/>
            <p:cNvSpPr/>
            <p:nvPr/>
          </p:nvSpPr>
          <p:spPr>
            <a:xfrm>
              <a:off x="1143000" y="2571750"/>
              <a:ext cx="3028950" cy="9525"/>
            </a:xfrm>
            <a:custGeom>
              <a:avLst/>
              <a:gdLst/>
              <a:ahLst/>
              <a:cxnLst/>
              <a:rect l="l" t="t" r="r" b="b"/>
              <a:pathLst>
                <a:path w="3028950" h="9525">
                  <a:moveTo>
                    <a:pt x="0" y="0"/>
                  </a:moveTo>
                  <a:lnTo>
                    <a:pt x="3028950" y="0"/>
                  </a:lnTo>
                </a:path>
              </a:pathLst>
            </a:custGeom>
            <a:noFill/>
            <a:ln w="9525">
              <a:solidFill>
                <a:srgbClr val="EAF2FC"/>
              </a:solidFill>
            </a:ln>
          </p:spPr>
        </p:sp>
        <p:sp>
          <p:nvSpPr>
            <p:cNvPr id="22" name="Line 22"/>
            <p:cNvSpPr/>
            <p:nvPr/>
          </p:nvSpPr>
          <p:spPr>
            <a:xfrm>
              <a:off x="1143000" y="2952750"/>
              <a:ext cx="3028950" cy="9525"/>
            </a:xfrm>
            <a:custGeom>
              <a:avLst/>
              <a:gdLst/>
              <a:ahLst/>
              <a:cxnLst/>
              <a:rect l="l" t="t" r="r" b="b"/>
              <a:pathLst>
                <a:path w="3028950" h="9525">
                  <a:moveTo>
                    <a:pt x="0" y="0"/>
                  </a:moveTo>
                  <a:lnTo>
                    <a:pt x="3028950" y="0"/>
                  </a:lnTo>
                </a:path>
              </a:pathLst>
            </a:custGeom>
            <a:noFill/>
            <a:ln w="9525">
              <a:solidFill>
                <a:srgbClr val="EAF2FC"/>
              </a:solidFill>
            </a:ln>
          </p:spPr>
        </p:sp>
        <p:sp>
          <p:nvSpPr>
            <p:cNvPr id="23" name="TextBox 23"/>
            <p:cNvSpPr txBox="1"/>
            <p:nvPr/>
          </p:nvSpPr>
          <p:spPr>
            <a:xfrm>
              <a:off x="1030740" y="3298984"/>
              <a:ext cx="59873"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0</a:t>
              </a:r>
            </a:p>
          </p:txBody>
        </p:sp>
        <p:sp>
          <p:nvSpPr>
            <p:cNvPr id="24" name="TextBox 24"/>
            <p:cNvSpPr txBox="1"/>
            <p:nvPr/>
          </p:nvSpPr>
          <p:spPr>
            <a:xfrm>
              <a:off x="930044" y="2917984"/>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100</a:t>
              </a:r>
            </a:p>
          </p:txBody>
        </p:sp>
        <p:sp>
          <p:nvSpPr>
            <p:cNvPr id="25" name="TextBox 25"/>
            <p:cNvSpPr txBox="1"/>
            <p:nvPr/>
          </p:nvSpPr>
          <p:spPr>
            <a:xfrm>
              <a:off x="930044" y="2536984"/>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200</a:t>
              </a:r>
            </a:p>
          </p:txBody>
        </p:sp>
        <p:sp>
          <p:nvSpPr>
            <p:cNvPr id="26" name="TextBox 26"/>
            <p:cNvSpPr txBox="1"/>
            <p:nvPr/>
          </p:nvSpPr>
          <p:spPr>
            <a:xfrm>
              <a:off x="930044" y="2155984"/>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300</a:t>
              </a:r>
            </a:p>
          </p:txBody>
        </p:sp>
        <p:sp>
          <p:nvSpPr>
            <p:cNvPr id="27" name="TextBox 27"/>
            <p:cNvSpPr txBox="1"/>
            <p:nvPr/>
          </p:nvSpPr>
          <p:spPr>
            <a:xfrm>
              <a:off x="930044" y="1774984"/>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400</a:t>
              </a:r>
            </a:p>
          </p:txBody>
        </p:sp>
        <p:sp>
          <p:nvSpPr>
            <p:cNvPr id="28" name="TextBox 28"/>
            <p:cNvSpPr txBox="1"/>
            <p:nvPr/>
          </p:nvSpPr>
          <p:spPr>
            <a:xfrm>
              <a:off x="930044" y="1393984"/>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500</a:t>
              </a:r>
            </a:p>
          </p:txBody>
        </p:sp>
        <p:sp>
          <p:nvSpPr>
            <p:cNvPr id="29" name="TextBox 29"/>
            <p:cNvSpPr txBox="1"/>
            <p:nvPr/>
          </p:nvSpPr>
          <p:spPr>
            <a:xfrm>
              <a:off x="4243388" y="3298984"/>
              <a:ext cx="128529" cy="133350"/>
            </a:xfrm>
            <a:prstGeom prst="rect">
              <a:avLst/>
            </a:prstGeom>
            <a:noFill/>
            <a:ln>
              <a:noFill/>
            </a:ln>
          </p:spPr>
          <p:txBody>
            <a:bodyPr wrap="none" lIns="0" tIns="0" rIns="0" bIns="0" anchor="t" anchorCtr="0">
              <a:spAutoFit/>
            </a:bodyPr>
            <a:lstStyle/>
            <a:p>
              <a:pPr algn="l"/>
              <a:r>
                <a:rPr lang="zh-CN" sz="680" dirty="0">
                  <a:solidFill>
                    <a:srgbClr val="A6817A"/>
                  </a:solidFill>
                  <a:latin typeface="+mn-lt"/>
                  <a:ea typeface="+mn-ea"/>
                  <a:cs typeface="+mn-cs"/>
                </a:rPr>
                <a:t>0%</a:t>
              </a:r>
            </a:p>
          </p:txBody>
        </p:sp>
        <p:sp>
          <p:nvSpPr>
            <p:cNvPr id="30" name="TextBox 30"/>
            <p:cNvSpPr txBox="1"/>
            <p:nvPr/>
          </p:nvSpPr>
          <p:spPr>
            <a:xfrm>
              <a:off x="4243388" y="2917984"/>
              <a:ext cx="178877" cy="133350"/>
            </a:xfrm>
            <a:prstGeom prst="rect">
              <a:avLst/>
            </a:prstGeom>
            <a:noFill/>
            <a:ln>
              <a:noFill/>
            </a:ln>
          </p:spPr>
          <p:txBody>
            <a:bodyPr wrap="none" lIns="0" tIns="0" rIns="0" bIns="0" anchor="t" anchorCtr="0">
              <a:spAutoFit/>
            </a:bodyPr>
            <a:lstStyle/>
            <a:p>
              <a:pPr algn="l"/>
              <a:r>
                <a:rPr lang="zh-CN" sz="680" dirty="0">
                  <a:solidFill>
                    <a:srgbClr val="A6817A"/>
                  </a:solidFill>
                  <a:latin typeface="+mn-lt"/>
                  <a:ea typeface="+mn-ea"/>
                  <a:cs typeface="+mn-cs"/>
                </a:rPr>
                <a:t>50%</a:t>
              </a:r>
            </a:p>
          </p:txBody>
        </p:sp>
        <p:sp>
          <p:nvSpPr>
            <p:cNvPr id="31" name="TextBox 31"/>
            <p:cNvSpPr txBox="1"/>
            <p:nvPr/>
          </p:nvSpPr>
          <p:spPr>
            <a:xfrm>
              <a:off x="4243388" y="2536984"/>
              <a:ext cx="229225" cy="133350"/>
            </a:xfrm>
            <a:prstGeom prst="rect">
              <a:avLst/>
            </a:prstGeom>
            <a:noFill/>
            <a:ln>
              <a:noFill/>
            </a:ln>
          </p:spPr>
          <p:txBody>
            <a:bodyPr wrap="none" lIns="0" tIns="0" rIns="0" bIns="0" anchor="t" anchorCtr="0">
              <a:spAutoFit/>
            </a:bodyPr>
            <a:lstStyle/>
            <a:p>
              <a:pPr algn="l"/>
              <a:r>
                <a:rPr lang="zh-CN" sz="680" dirty="0">
                  <a:solidFill>
                    <a:srgbClr val="A6817A"/>
                  </a:solidFill>
                  <a:latin typeface="+mn-lt"/>
                  <a:ea typeface="+mn-ea"/>
                  <a:cs typeface="+mn-cs"/>
                </a:rPr>
                <a:t>100%</a:t>
              </a:r>
            </a:p>
          </p:txBody>
        </p:sp>
        <p:sp>
          <p:nvSpPr>
            <p:cNvPr id="32" name="TextBox 32"/>
            <p:cNvSpPr txBox="1"/>
            <p:nvPr/>
          </p:nvSpPr>
          <p:spPr>
            <a:xfrm>
              <a:off x="4243388" y="2155984"/>
              <a:ext cx="229225" cy="133350"/>
            </a:xfrm>
            <a:prstGeom prst="rect">
              <a:avLst/>
            </a:prstGeom>
            <a:noFill/>
            <a:ln>
              <a:noFill/>
            </a:ln>
          </p:spPr>
          <p:txBody>
            <a:bodyPr wrap="none" lIns="0" tIns="0" rIns="0" bIns="0" anchor="t" anchorCtr="0">
              <a:spAutoFit/>
            </a:bodyPr>
            <a:lstStyle/>
            <a:p>
              <a:pPr algn="l"/>
              <a:r>
                <a:rPr lang="zh-CN" sz="680" dirty="0">
                  <a:solidFill>
                    <a:srgbClr val="A6817A"/>
                  </a:solidFill>
                  <a:latin typeface="+mn-lt"/>
                  <a:ea typeface="+mn-ea"/>
                  <a:cs typeface="+mn-cs"/>
                </a:rPr>
                <a:t>150%</a:t>
              </a:r>
            </a:p>
          </p:txBody>
        </p:sp>
        <p:sp>
          <p:nvSpPr>
            <p:cNvPr id="33" name="TextBox 33"/>
            <p:cNvSpPr txBox="1"/>
            <p:nvPr/>
          </p:nvSpPr>
          <p:spPr>
            <a:xfrm>
              <a:off x="4243388" y="1774984"/>
              <a:ext cx="229225" cy="133350"/>
            </a:xfrm>
            <a:prstGeom prst="rect">
              <a:avLst/>
            </a:prstGeom>
            <a:noFill/>
            <a:ln>
              <a:noFill/>
            </a:ln>
          </p:spPr>
          <p:txBody>
            <a:bodyPr wrap="none" lIns="0" tIns="0" rIns="0" bIns="0" anchor="t" anchorCtr="0">
              <a:spAutoFit/>
            </a:bodyPr>
            <a:lstStyle/>
            <a:p>
              <a:pPr algn="l"/>
              <a:r>
                <a:rPr lang="zh-CN" sz="680" dirty="0">
                  <a:solidFill>
                    <a:srgbClr val="A6817A"/>
                  </a:solidFill>
                  <a:latin typeface="+mn-lt"/>
                  <a:ea typeface="+mn-ea"/>
                  <a:cs typeface="+mn-cs"/>
                </a:rPr>
                <a:t>200%</a:t>
              </a:r>
            </a:p>
          </p:txBody>
        </p:sp>
        <p:sp>
          <p:nvSpPr>
            <p:cNvPr id="34" name="TextBox 34"/>
            <p:cNvSpPr txBox="1"/>
            <p:nvPr/>
          </p:nvSpPr>
          <p:spPr>
            <a:xfrm>
              <a:off x="4243388" y="1393984"/>
              <a:ext cx="229225" cy="133350"/>
            </a:xfrm>
            <a:prstGeom prst="rect">
              <a:avLst/>
            </a:prstGeom>
            <a:noFill/>
            <a:ln>
              <a:noFill/>
            </a:ln>
          </p:spPr>
          <p:txBody>
            <a:bodyPr wrap="none" lIns="0" tIns="0" rIns="0" bIns="0" anchor="t" anchorCtr="0">
              <a:spAutoFit/>
            </a:bodyPr>
            <a:lstStyle/>
            <a:p>
              <a:pPr algn="l"/>
              <a:r>
                <a:rPr lang="zh-CN" sz="680" dirty="0">
                  <a:solidFill>
                    <a:srgbClr val="A6817A"/>
                  </a:solidFill>
                  <a:latin typeface="+mn-lt"/>
                  <a:ea typeface="+mn-ea"/>
                  <a:cs typeface="+mn-cs"/>
                </a:rPr>
                <a:t>250%</a:t>
              </a:r>
            </a:p>
          </p:txBody>
        </p:sp>
        <p:sp>
          <p:nvSpPr>
            <p:cNvPr id="35" name="Rectangle 35"/>
            <p:cNvSpPr/>
            <p:nvPr/>
          </p:nvSpPr>
          <p:spPr>
            <a:xfrm>
              <a:off x="1285875" y="2571750"/>
              <a:ext cx="95250" cy="762000"/>
            </a:xfrm>
            <a:prstGeom prst="rect">
              <a:avLst/>
            </a:prstGeom>
            <a:solidFill>
              <a:srgbClr val="C83B1E"/>
            </a:solidFill>
            <a:ln>
              <a:noFill/>
            </a:ln>
          </p:spPr>
        </p:sp>
        <p:sp>
          <p:nvSpPr>
            <p:cNvPr id="36" name="Rectangle 36"/>
            <p:cNvSpPr/>
            <p:nvPr/>
          </p:nvSpPr>
          <p:spPr>
            <a:xfrm>
              <a:off x="1419225" y="1866900"/>
              <a:ext cx="95250" cy="1466850"/>
            </a:xfrm>
            <a:prstGeom prst="rect">
              <a:avLst/>
            </a:prstGeom>
            <a:solidFill>
              <a:srgbClr val="F0856F"/>
            </a:solidFill>
            <a:ln>
              <a:noFill/>
            </a:ln>
          </p:spPr>
        </p:sp>
        <p:sp>
          <p:nvSpPr>
            <p:cNvPr id="37" name="Rectangle 37"/>
            <p:cNvSpPr/>
            <p:nvPr/>
          </p:nvSpPr>
          <p:spPr>
            <a:xfrm>
              <a:off x="1790700" y="2026920"/>
              <a:ext cx="95250" cy="1306830"/>
            </a:xfrm>
            <a:prstGeom prst="rect">
              <a:avLst/>
            </a:prstGeom>
            <a:solidFill>
              <a:srgbClr val="C83B1E"/>
            </a:solidFill>
            <a:ln>
              <a:noFill/>
            </a:ln>
          </p:spPr>
        </p:sp>
        <p:sp>
          <p:nvSpPr>
            <p:cNvPr id="38" name="Rectangle 38"/>
            <p:cNvSpPr/>
            <p:nvPr/>
          </p:nvSpPr>
          <p:spPr>
            <a:xfrm>
              <a:off x="1924050" y="1596390"/>
              <a:ext cx="95250" cy="1737360"/>
            </a:xfrm>
            <a:prstGeom prst="rect">
              <a:avLst/>
            </a:prstGeom>
            <a:solidFill>
              <a:srgbClr val="F0856F"/>
            </a:solidFill>
            <a:ln>
              <a:noFill/>
            </a:ln>
          </p:spPr>
        </p:sp>
        <p:sp>
          <p:nvSpPr>
            <p:cNvPr id="39" name="Rectangle 39"/>
            <p:cNvSpPr/>
            <p:nvPr/>
          </p:nvSpPr>
          <p:spPr>
            <a:xfrm>
              <a:off x="2295525" y="2400300"/>
              <a:ext cx="95250" cy="933450"/>
            </a:xfrm>
            <a:prstGeom prst="rect">
              <a:avLst/>
            </a:prstGeom>
            <a:solidFill>
              <a:srgbClr val="C83B1E"/>
            </a:solidFill>
            <a:ln>
              <a:noFill/>
            </a:ln>
          </p:spPr>
        </p:sp>
        <p:sp>
          <p:nvSpPr>
            <p:cNvPr id="40" name="Rectangle 40"/>
            <p:cNvSpPr/>
            <p:nvPr/>
          </p:nvSpPr>
          <p:spPr>
            <a:xfrm>
              <a:off x="2428875" y="2320290"/>
              <a:ext cx="95250" cy="1013460"/>
            </a:xfrm>
            <a:prstGeom prst="rect">
              <a:avLst/>
            </a:prstGeom>
            <a:solidFill>
              <a:srgbClr val="F0856F"/>
            </a:solidFill>
            <a:ln>
              <a:noFill/>
            </a:ln>
          </p:spPr>
        </p:sp>
        <p:sp>
          <p:nvSpPr>
            <p:cNvPr id="41" name="Rectangle 41"/>
            <p:cNvSpPr/>
            <p:nvPr/>
          </p:nvSpPr>
          <p:spPr>
            <a:xfrm>
              <a:off x="2800350" y="2346960"/>
              <a:ext cx="95250" cy="986790"/>
            </a:xfrm>
            <a:prstGeom prst="rect">
              <a:avLst/>
            </a:prstGeom>
            <a:solidFill>
              <a:srgbClr val="C83B1E"/>
            </a:solidFill>
            <a:ln>
              <a:noFill/>
            </a:ln>
          </p:spPr>
        </p:sp>
        <p:sp>
          <p:nvSpPr>
            <p:cNvPr id="42" name="Rectangle 42"/>
            <p:cNvSpPr/>
            <p:nvPr/>
          </p:nvSpPr>
          <p:spPr>
            <a:xfrm>
              <a:off x="2933700" y="2019300"/>
              <a:ext cx="95250" cy="1314450"/>
            </a:xfrm>
            <a:prstGeom prst="rect">
              <a:avLst/>
            </a:prstGeom>
            <a:solidFill>
              <a:srgbClr val="F0856F"/>
            </a:solidFill>
            <a:ln>
              <a:noFill/>
            </a:ln>
          </p:spPr>
        </p:sp>
        <p:sp>
          <p:nvSpPr>
            <p:cNvPr id="43" name="Rectangle 43"/>
            <p:cNvSpPr/>
            <p:nvPr/>
          </p:nvSpPr>
          <p:spPr>
            <a:xfrm>
              <a:off x="3305175" y="2190750"/>
              <a:ext cx="95250" cy="1143000"/>
            </a:xfrm>
            <a:prstGeom prst="rect">
              <a:avLst/>
            </a:prstGeom>
            <a:solidFill>
              <a:srgbClr val="C83B1E"/>
            </a:solidFill>
            <a:ln>
              <a:noFill/>
            </a:ln>
          </p:spPr>
        </p:sp>
        <p:sp>
          <p:nvSpPr>
            <p:cNvPr id="44" name="Rectangle 44"/>
            <p:cNvSpPr/>
            <p:nvPr/>
          </p:nvSpPr>
          <p:spPr>
            <a:xfrm>
              <a:off x="3438525" y="1939290"/>
              <a:ext cx="95250" cy="1394460"/>
            </a:xfrm>
            <a:prstGeom prst="rect">
              <a:avLst/>
            </a:prstGeom>
            <a:solidFill>
              <a:srgbClr val="F0856F"/>
            </a:solidFill>
            <a:ln>
              <a:noFill/>
            </a:ln>
          </p:spPr>
        </p:sp>
        <p:sp>
          <p:nvSpPr>
            <p:cNvPr id="45" name="Rectangle 45"/>
            <p:cNvSpPr/>
            <p:nvPr/>
          </p:nvSpPr>
          <p:spPr>
            <a:xfrm>
              <a:off x="3810000" y="2190750"/>
              <a:ext cx="95250" cy="1143000"/>
            </a:xfrm>
            <a:prstGeom prst="rect">
              <a:avLst/>
            </a:prstGeom>
            <a:solidFill>
              <a:srgbClr val="C83B1E"/>
            </a:solidFill>
            <a:ln>
              <a:noFill/>
            </a:ln>
          </p:spPr>
        </p:sp>
        <p:sp>
          <p:nvSpPr>
            <p:cNvPr id="46" name="Rectangle 46"/>
            <p:cNvSpPr/>
            <p:nvPr/>
          </p:nvSpPr>
          <p:spPr>
            <a:xfrm>
              <a:off x="3943350" y="1531620"/>
              <a:ext cx="95250" cy="1802130"/>
            </a:xfrm>
            <a:prstGeom prst="rect">
              <a:avLst/>
            </a:prstGeom>
            <a:solidFill>
              <a:srgbClr val="F0856F"/>
            </a:solidFill>
            <a:ln>
              <a:noFill/>
            </a:ln>
          </p:spPr>
        </p:sp>
        <p:sp>
          <p:nvSpPr>
            <p:cNvPr id="47" name="Polyline 47"/>
            <p:cNvSpPr/>
            <p:nvPr/>
          </p:nvSpPr>
          <p:spPr>
            <a:xfrm>
              <a:off x="1400175" y="1870710"/>
              <a:ext cx="2524125" cy="640080"/>
            </a:xfrm>
            <a:custGeom>
              <a:avLst/>
              <a:gdLst/>
              <a:ahLst/>
              <a:cxnLst/>
              <a:rect l="l" t="t" r="r" b="b"/>
              <a:pathLst>
                <a:path w="2524125" h="640080">
                  <a:moveTo>
                    <a:pt x="0" y="0"/>
                  </a:moveTo>
                  <a:lnTo>
                    <a:pt x="504825" y="457200"/>
                  </a:lnTo>
                  <a:lnTo>
                    <a:pt x="1009650" y="640080"/>
                  </a:lnTo>
                  <a:lnTo>
                    <a:pt x="1514475" y="449580"/>
                  </a:lnTo>
                  <a:lnTo>
                    <a:pt x="2019300" y="533400"/>
                  </a:lnTo>
                  <a:lnTo>
                    <a:pt x="2524125" y="259080"/>
                  </a:lnTo>
                </a:path>
              </a:pathLst>
            </a:custGeom>
            <a:noFill/>
            <a:ln w="19050">
              <a:solidFill>
                <a:srgbClr val="F2563B"/>
              </a:solidFill>
            </a:ln>
          </p:spPr>
        </p:sp>
        <p:sp>
          <p:nvSpPr>
            <p:cNvPr id="48" name="Ellipse 48"/>
            <p:cNvSpPr/>
            <p:nvPr/>
          </p:nvSpPr>
          <p:spPr>
            <a:xfrm>
              <a:off x="1366838" y="1837372"/>
              <a:ext cx="66675" cy="66675"/>
            </a:xfrm>
            <a:prstGeom prst="ellipse">
              <a:avLst/>
            </a:prstGeom>
            <a:solidFill>
              <a:srgbClr val="FFFFFF"/>
            </a:solidFill>
            <a:ln w="14288">
              <a:solidFill>
                <a:srgbClr val="F2563B"/>
              </a:solidFill>
            </a:ln>
          </p:spPr>
        </p:sp>
        <p:sp>
          <p:nvSpPr>
            <p:cNvPr id="49" name="Ellipse 49"/>
            <p:cNvSpPr/>
            <p:nvPr/>
          </p:nvSpPr>
          <p:spPr>
            <a:xfrm>
              <a:off x="1871662" y="2294572"/>
              <a:ext cx="66675" cy="66675"/>
            </a:xfrm>
            <a:prstGeom prst="ellipse">
              <a:avLst/>
            </a:prstGeom>
            <a:solidFill>
              <a:srgbClr val="FFFFFF"/>
            </a:solidFill>
            <a:ln w="14288">
              <a:solidFill>
                <a:srgbClr val="F2563B"/>
              </a:solidFill>
            </a:ln>
          </p:spPr>
        </p:sp>
        <p:sp>
          <p:nvSpPr>
            <p:cNvPr id="50" name="Ellipse 50"/>
            <p:cNvSpPr/>
            <p:nvPr/>
          </p:nvSpPr>
          <p:spPr>
            <a:xfrm>
              <a:off x="2376488" y="2477452"/>
              <a:ext cx="66675" cy="66675"/>
            </a:xfrm>
            <a:prstGeom prst="ellipse">
              <a:avLst/>
            </a:prstGeom>
            <a:solidFill>
              <a:srgbClr val="FFFFFF"/>
            </a:solidFill>
            <a:ln w="14288">
              <a:solidFill>
                <a:srgbClr val="F2563B"/>
              </a:solidFill>
            </a:ln>
          </p:spPr>
        </p:sp>
        <p:sp>
          <p:nvSpPr>
            <p:cNvPr id="51" name="Ellipse 51"/>
            <p:cNvSpPr/>
            <p:nvPr/>
          </p:nvSpPr>
          <p:spPr>
            <a:xfrm>
              <a:off x="2881312" y="2286952"/>
              <a:ext cx="66675" cy="66675"/>
            </a:xfrm>
            <a:prstGeom prst="ellipse">
              <a:avLst/>
            </a:prstGeom>
            <a:solidFill>
              <a:srgbClr val="FFFFFF"/>
            </a:solidFill>
            <a:ln w="14288">
              <a:solidFill>
                <a:srgbClr val="F2563B"/>
              </a:solidFill>
            </a:ln>
          </p:spPr>
        </p:sp>
        <p:sp>
          <p:nvSpPr>
            <p:cNvPr id="52" name="Ellipse 52"/>
            <p:cNvSpPr/>
            <p:nvPr/>
          </p:nvSpPr>
          <p:spPr>
            <a:xfrm>
              <a:off x="3386138" y="2370772"/>
              <a:ext cx="66675" cy="66675"/>
            </a:xfrm>
            <a:prstGeom prst="ellipse">
              <a:avLst/>
            </a:prstGeom>
            <a:solidFill>
              <a:srgbClr val="FFFFFF"/>
            </a:solidFill>
            <a:ln w="14288">
              <a:solidFill>
                <a:srgbClr val="F2563B"/>
              </a:solidFill>
            </a:ln>
          </p:spPr>
        </p:sp>
        <p:sp>
          <p:nvSpPr>
            <p:cNvPr id="53" name="Ellipse 53"/>
            <p:cNvSpPr/>
            <p:nvPr/>
          </p:nvSpPr>
          <p:spPr>
            <a:xfrm>
              <a:off x="3890962" y="2096452"/>
              <a:ext cx="66675" cy="66675"/>
            </a:xfrm>
            <a:prstGeom prst="ellipse">
              <a:avLst/>
            </a:prstGeom>
            <a:solidFill>
              <a:srgbClr val="FFFFFF"/>
            </a:solidFill>
            <a:ln w="14288">
              <a:solidFill>
                <a:srgbClr val="F2563B"/>
              </a:solidFill>
            </a:ln>
          </p:spPr>
        </p:sp>
        <p:sp>
          <p:nvSpPr>
            <p:cNvPr id="54" name="TextBox 54"/>
            <p:cNvSpPr txBox="1"/>
            <p:nvPr/>
          </p:nvSpPr>
          <p:spPr>
            <a:xfrm>
              <a:off x="1386566" y="1746409"/>
              <a:ext cx="160569" cy="133350"/>
            </a:xfrm>
            <a:prstGeom prst="rect">
              <a:avLst/>
            </a:prstGeom>
            <a:noFill/>
            <a:ln>
              <a:noFill/>
            </a:ln>
          </p:spPr>
          <p:txBody>
            <a:bodyPr wrap="none" lIns="0" tIns="0" rIns="0" bIns="0" anchor="t" anchorCtr="0">
              <a:spAutoFit/>
            </a:bodyPr>
            <a:lstStyle/>
            <a:p>
              <a:pPr algn="ctr"/>
              <a:r>
                <a:rPr lang="zh-CN" sz="680" dirty="0">
                  <a:solidFill>
                    <a:srgbClr val="E94B2B"/>
                  </a:solidFill>
                  <a:latin typeface="+mn-lt"/>
                  <a:ea typeface="+mn-ea"/>
                  <a:cs typeface="+mn-cs"/>
                </a:rPr>
                <a:t>385</a:t>
              </a:r>
            </a:p>
          </p:txBody>
        </p:sp>
        <p:sp>
          <p:nvSpPr>
            <p:cNvPr id="55" name="TextBox 55"/>
            <p:cNvSpPr txBox="1"/>
            <p:nvPr/>
          </p:nvSpPr>
          <p:spPr>
            <a:xfrm>
              <a:off x="1891391" y="1475899"/>
              <a:ext cx="160569" cy="133350"/>
            </a:xfrm>
            <a:prstGeom prst="rect">
              <a:avLst/>
            </a:prstGeom>
            <a:noFill/>
            <a:ln>
              <a:noFill/>
            </a:ln>
          </p:spPr>
          <p:txBody>
            <a:bodyPr wrap="none" lIns="0" tIns="0" rIns="0" bIns="0" anchor="t" anchorCtr="0">
              <a:spAutoFit/>
            </a:bodyPr>
            <a:lstStyle/>
            <a:p>
              <a:pPr algn="ctr"/>
              <a:r>
                <a:rPr lang="zh-CN" sz="680" dirty="0">
                  <a:solidFill>
                    <a:srgbClr val="E94B2B"/>
                  </a:solidFill>
                  <a:latin typeface="+mn-lt"/>
                  <a:ea typeface="+mn-ea"/>
                  <a:cs typeface="+mn-cs"/>
                </a:rPr>
                <a:t>456</a:t>
              </a:r>
            </a:p>
          </p:txBody>
        </p:sp>
        <p:sp>
          <p:nvSpPr>
            <p:cNvPr id="56" name="TextBox 56"/>
            <p:cNvSpPr txBox="1"/>
            <p:nvPr/>
          </p:nvSpPr>
          <p:spPr>
            <a:xfrm>
              <a:off x="2396216" y="2199799"/>
              <a:ext cx="160569" cy="133350"/>
            </a:xfrm>
            <a:prstGeom prst="rect">
              <a:avLst/>
            </a:prstGeom>
            <a:noFill/>
            <a:ln>
              <a:noFill/>
            </a:ln>
          </p:spPr>
          <p:txBody>
            <a:bodyPr wrap="none" lIns="0" tIns="0" rIns="0" bIns="0" anchor="t" anchorCtr="0">
              <a:spAutoFit/>
            </a:bodyPr>
            <a:lstStyle/>
            <a:p>
              <a:pPr algn="ctr"/>
              <a:r>
                <a:rPr lang="zh-CN" sz="680" dirty="0">
                  <a:solidFill>
                    <a:srgbClr val="E94B2B"/>
                  </a:solidFill>
                  <a:latin typeface="+mn-lt"/>
                  <a:ea typeface="+mn-ea"/>
                  <a:cs typeface="+mn-cs"/>
                </a:rPr>
                <a:t>266</a:t>
              </a:r>
            </a:p>
          </p:txBody>
        </p:sp>
        <p:sp>
          <p:nvSpPr>
            <p:cNvPr id="57" name="TextBox 57"/>
            <p:cNvSpPr txBox="1"/>
            <p:nvPr/>
          </p:nvSpPr>
          <p:spPr>
            <a:xfrm>
              <a:off x="2901041" y="1898809"/>
              <a:ext cx="160569" cy="133350"/>
            </a:xfrm>
            <a:prstGeom prst="rect">
              <a:avLst/>
            </a:prstGeom>
            <a:noFill/>
            <a:ln>
              <a:noFill/>
            </a:ln>
          </p:spPr>
          <p:txBody>
            <a:bodyPr wrap="none" lIns="0" tIns="0" rIns="0" bIns="0" anchor="t" anchorCtr="0">
              <a:spAutoFit/>
            </a:bodyPr>
            <a:lstStyle/>
            <a:p>
              <a:pPr algn="ctr"/>
              <a:r>
                <a:rPr lang="zh-CN" sz="680" dirty="0">
                  <a:solidFill>
                    <a:srgbClr val="E94B2B"/>
                  </a:solidFill>
                  <a:latin typeface="+mn-lt"/>
                  <a:ea typeface="+mn-ea"/>
                  <a:cs typeface="+mn-cs"/>
                </a:rPr>
                <a:t>345</a:t>
              </a:r>
            </a:p>
          </p:txBody>
        </p:sp>
        <p:sp>
          <p:nvSpPr>
            <p:cNvPr id="58" name="TextBox 58"/>
            <p:cNvSpPr txBox="1"/>
            <p:nvPr/>
          </p:nvSpPr>
          <p:spPr>
            <a:xfrm>
              <a:off x="3405866" y="1818799"/>
              <a:ext cx="160569" cy="133350"/>
            </a:xfrm>
            <a:prstGeom prst="rect">
              <a:avLst/>
            </a:prstGeom>
            <a:noFill/>
            <a:ln>
              <a:noFill/>
            </a:ln>
          </p:spPr>
          <p:txBody>
            <a:bodyPr wrap="none" lIns="0" tIns="0" rIns="0" bIns="0" anchor="t" anchorCtr="0">
              <a:spAutoFit/>
            </a:bodyPr>
            <a:lstStyle/>
            <a:p>
              <a:pPr algn="ctr"/>
              <a:r>
                <a:rPr lang="zh-CN" sz="680" dirty="0">
                  <a:solidFill>
                    <a:srgbClr val="E94B2B"/>
                  </a:solidFill>
                  <a:latin typeface="+mn-lt"/>
                  <a:ea typeface="+mn-ea"/>
                  <a:cs typeface="+mn-cs"/>
                </a:rPr>
                <a:t>366</a:t>
              </a:r>
            </a:p>
          </p:txBody>
        </p:sp>
        <p:sp>
          <p:nvSpPr>
            <p:cNvPr id="59" name="TextBox 59"/>
            <p:cNvSpPr txBox="1"/>
            <p:nvPr/>
          </p:nvSpPr>
          <p:spPr>
            <a:xfrm>
              <a:off x="3910691" y="1411129"/>
              <a:ext cx="160569" cy="133350"/>
            </a:xfrm>
            <a:prstGeom prst="rect">
              <a:avLst/>
            </a:prstGeom>
            <a:noFill/>
            <a:ln>
              <a:noFill/>
            </a:ln>
          </p:spPr>
          <p:txBody>
            <a:bodyPr wrap="none" lIns="0" tIns="0" rIns="0" bIns="0" anchor="t" anchorCtr="0">
              <a:spAutoFit/>
            </a:bodyPr>
            <a:lstStyle/>
            <a:p>
              <a:pPr algn="ctr"/>
              <a:r>
                <a:rPr lang="zh-CN" sz="680" dirty="0">
                  <a:solidFill>
                    <a:srgbClr val="E94B2B"/>
                  </a:solidFill>
                  <a:latin typeface="+mn-lt"/>
                  <a:ea typeface="+mn-ea"/>
                  <a:cs typeface="+mn-cs"/>
                </a:rPr>
                <a:t>473</a:t>
              </a:r>
            </a:p>
          </p:txBody>
        </p:sp>
        <p:sp>
          <p:nvSpPr>
            <p:cNvPr id="60" name="Line 60"/>
            <p:cNvSpPr/>
            <p:nvPr/>
          </p:nvSpPr>
          <p:spPr>
            <a:xfrm>
              <a:off x="1143000" y="3333750"/>
              <a:ext cx="3028950" cy="9525"/>
            </a:xfrm>
            <a:custGeom>
              <a:avLst/>
              <a:gdLst/>
              <a:ahLst/>
              <a:cxnLst/>
              <a:rect l="l" t="t" r="r" b="b"/>
              <a:pathLst>
                <a:path w="3028950" h="9525">
                  <a:moveTo>
                    <a:pt x="0" y="0"/>
                  </a:moveTo>
                  <a:lnTo>
                    <a:pt x="3028950" y="0"/>
                  </a:lnTo>
                </a:path>
              </a:pathLst>
            </a:custGeom>
            <a:noFill/>
            <a:ln w="11430">
              <a:solidFill>
                <a:srgbClr val="E6C1B9"/>
              </a:solidFill>
            </a:ln>
          </p:spPr>
        </p:sp>
        <p:sp>
          <p:nvSpPr>
            <p:cNvPr id="61" name="TextBox 61"/>
            <p:cNvSpPr txBox="1"/>
            <p:nvPr/>
          </p:nvSpPr>
          <p:spPr>
            <a:xfrm>
              <a:off x="1317165" y="3424238"/>
              <a:ext cx="166021"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1月</a:t>
              </a:r>
            </a:p>
          </p:txBody>
        </p:sp>
        <p:sp>
          <p:nvSpPr>
            <p:cNvPr id="62" name="TextBox 62"/>
            <p:cNvSpPr txBox="1"/>
            <p:nvPr/>
          </p:nvSpPr>
          <p:spPr>
            <a:xfrm>
              <a:off x="1821990" y="3424238"/>
              <a:ext cx="166021"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2月</a:t>
              </a:r>
            </a:p>
          </p:txBody>
        </p:sp>
        <p:sp>
          <p:nvSpPr>
            <p:cNvPr id="63" name="TextBox 63"/>
            <p:cNvSpPr txBox="1"/>
            <p:nvPr/>
          </p:nvSpPr>
          <p:spPr>
            <a:xfrm>
              <a:off x="2326815" y="3424238"/>
              <a:ext cx="166021"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3月</a:t>
              </a:r>
            </a:p>
          </p:txBody>
        </p:sp>
        <p:sp>
          <p:nvSpPr>
            <p:cNvPr id="64" name="TextBox 64"/>
            <p:cNvSpPr txBox="1"/>
            <p:nvPr/>
          </p:nvSpPr>
          <p:spPr>
            <a:xfrm>
              <a:off x="2831640" y="3424238"/>
              <a:ext cx="166021"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4月</a:t>
              </a:r>
            </a:p>
          </p:txBody>
        </p:sp>
        <p:sp>
          <p:nvSpPr>
            <p:cNvPr id="65" name="TextBox 65"/>
            <p:cNvSpPr txBox="1"/>
            <p:nvPr/>
          </p:nvSpPr>
          <p:spPr>
            <a:xfrm>
              <a:off x="3336465" y="3424238"/>
              <a:ext cx="166021"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5月</a:t>
              </a:r>
            </a:p>
          </p:txBody>
        </p:sp>
        <p:sp>
          <p:nvSpPr>
            <p:cNvPr id="66" name="TextBox 66"/>
            <p:cNvSpPr txBox="1"/>
            <p:nvPr/>
          </p:nvSpPr>
          <p:spPr>
            <a:xfrm>
              <a:off x="3841290" y="3424238"/>
              <a:ext cx="166021"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6月</a:t>
              </a:r>
            </a:p>
          </p:txBody>
        </p:sp>
      </p:grpSp>
      <p:grpSp>
        <p:nvGrpSpPr>
          <p:cNvPr id="103" name="m2-region"/>
          <p:cNvGrpSpPr/>
          <p:nvPr/>
        </p:nvGrpSpPr>
        <p:grpSpPr>
          <a:xfrm>
            <a:off x="4552950" y="781050"/>
            <a:ext cx="3543300" cy="2971800"/>
            <a:chOff x="4552950" y="781050"/>
            <a:chExt cx="3543300" cy="2971800"/>
          </a:xfrm>
        </p:grpSpPr>
        <p:sp>
          <p:nvSpPr>
            <p:cNvPr id="68" name="Rectangle 68"/>
            <p:cNvSpPr/>
            <p:nvPr/>
          </p:nvSpPr>
          <p:spPr>
            <a:xfrm>
              <a:off x="4552950" y="781050"/>
              <a:ext cx="3543300" cy="2971800"/>
            </a:xfrm>
            <a:prstGeom prst="rect">
              <a:avLst/>
            </a:prstGeom>
            <a:solidFill>
              <a:srgbClr val="FFFFFF"/>
            </a:solidFill>
            <a:ln w="11430">
              <a:solidFill>
                <a:srgbClr val="C9DDF5"/>
              </a:solidFill>
            </a:ln>
          </p:spPr>
        </p:sp>
        <p:sp>
          <p:nvSpPr>
            <p:cNvPr id="69" name="Rectangle 69"/>
            <p:cNvSpPr/>
            <p:nvPr/>
          </p:nvSpPr>
          <p:spPr>
            <a:xfrm>
              <a:off x="4648200" y="876300"/>
              <a:ext cx="2286000" cy="266700"/>
            </a:xfrm>
            <a:prstGeom prst="rect">
              <a:avLst/>
            </a:prstGeom>
            <a:gradFill>
              <a:gsLst>
                <a:gs pos="0">
                  <a:srgbClr val="FF5B3A"/>
                </a:gs>
                <a:gs pos="100000">
                  <a:srgbClr val="E94B2B"/>
                </a:gs>
              </a:gsLst>
              <a:lin ang="0" scaled="1"/>
            </a:gradFill>
            <a:ln>
              <a:noFill/>
            </a:ln>
          </p:spPr>
        </p:sp>
        <p:sp>
          <p:nvSpPr>
            <p:cNvPr id="70" name="Polygon 70"/>
            <p:cNvSpPr/>
            <p:nvPr/>
          </p:nvSpPr>
          <p:spPr>
            <a:xfrm>
              <a:off x="6838950" y="876300"/>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71" name="TextBox 71"/>
            <p:cNvSpPr txBox="1"/>
            <p:nvPr/>
          </p:nvSpPr>
          <p:spPr>
            <a:xfrm>
              <a:off x="4756785" y="945356"/>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地区营业占比</a:t>
              </a:r>
            </a:p>
          </p:txBody>
        </p:sp>
        <p:sp>
          <p:nvSpPr>
            <p:cNvPr id="72" name="Rectangle 72"/>
            <p:cNvSpPr/>
            <p:nvPr/>
          </p:nvSpPr>
          <p:spPr>
            <a:xfrm>
              <a:off x="4724400" y="1276350"/>
              <a:ext cx="85725" cy="85725"/>
            </a:xfrm>
            <a:prstGeom prst="rect">
              <a:avLst/>
            </a:prstGeom>
            <a:solidFill>
              <a:srgbClr val="C83B1E"/>
            </a:solidFill>
            <a:ln>
              <a:noFill/>
            </a:ln>
          </p:spPr>
        </p:sp>
        <p:sp>
          <p:nvSpPr>
            <p:cNvPr id="73" name="TextBox 73"/>
            <p:cNvSpPr txBox="1"/>
            <p:nvPr/>
          </p:nvSpPr>
          <p:spPr>
            <a:xfrm>
              <a:off x="4843462" y="1276350"/>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西南</a:t>
              </a:r>
            </a:p>
          </p:txBody>
        </p:sp>
        <p:sp>
          <p:nvSpPr>
            <p:cNvPr id="74" name="Rectangle 74"/>
            <p:cNvSpPr/>
            <p:nvPr/>
          </p:nvSpPr>
          <p:spPr>
            <a:xfrm>
              <a:off x="5181600" y="1276350"/>
              <a:ext cx="85725" cy="85725"/>
            </a:xfrm>
            <a:prstGeom prst="rect">
              <a:avLst/>
            </a:prstGeom>
            <a:solidFill>
              <a:srgbClr val="F8B6A9"/>
            </a:solidFill>
            <a:ln>
              <a:noFill/>
            </a:ln>
          </p:spPr>
        </p:sp>
        <p:sp>
          <p:nvSpPr>
            <p:cNvPr id="75" name="TextBox 75"/>
            <p:cNvSpPr txBox="1"/>
            <p:nvPr/>
          </p:nvSpPr>
          <p:spPr>
            <a:xfrm>
              <a:off x="5300662" y="1276350"/>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南方</a:t>
              </a:r>
            </a:p>
          </p:txBody>
        </p:sp>
        <p:sp>
          <p:nvSpPr>
            <p:cNvPr id="76" name="Rectangle 76"/>
            <p:cNvSpPr/>
            <p:nvPr/>
          </p:nvSpPr>
          <p:spPr>
            <a:xfrm>
              <a:off x="5638800" y="1276350"/>
              <a:ext cx="85725" cy="85725"/>
            </a:xfrm>
            <a:prstGeom prst="rect">
              <a:avLst/>
            </a:prstGeom>
            <a:solidFill>
              <a:srgbClr val="F5927E"/>
            </a:solidFill>
            <a:ln>
              <a:noFill/>
            </a:ln>
          </p:spPr>
        </p:sp>
        <p:sp>
          <p:nvSpPr>
            <p:cNvPr id="77" name="TextBox 77"/>
            <p:cNvSpPr txBox="1"/>
            <p:nvPr/>
          </p:nvSpPr>
          <p:spPr>
            <a:xfrm>
              <a:off x="5757862" y="1276350"/>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北方</a:t>
              </a:r>
            </a:p>
          </p:txBody>
        </p:sp>
        <p:sp>
          <p:nvSpPr>
            <p:cNvPr id="78" name="Rectangle 78"/>
            <p:cNvSpPr/>
            <p:nvPr/>
          </p:nvSpPr>
          <p:spPr>
            <a:xfrm>
              <a:off x="6096000" y="1276350"/>
              <a:ext cx="85725" cy="85725"/>
            </a:xfrm>
            <a:prstGeom prst="rect">
              <a:avLst/>
            </a:prstGeom>
            <a:solidFill>
              <a:srgbClr val="F2563B"/>
            </a:solidFill>
            <a:ln>
              <a:noFill/>
            </a:ln>
          </p:spPr>
        </p:sp>
        <p:sp>
          <p:nvSpPr>
            <p:cNvPr id="79" name="TextBox 79"/>
            <p:cNvSpPr txBox="1"/>
            <p:nvPr/>
          </p:nvSpPr>
          <p:spPr>
            <a:xfrm>
              <a:off x="6215062" y="1276350"/>
              <a:ext cx="31242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工程户</a:t>
              </a:r>
            </a:p>
          </p:txBody>
        </p:sp>
        <p:sp>
          <p:nvSpPr>
            <p:cNvPr id="80" name="Rectangle 80"/>
            <p:cNvSpPr/>
            <p:nvPr/>
          </p:nvSpPr>
          <p:spPr>
            <a:xfrm>
              <a:off x="6819900" y="1276350"/>
              <a:ext cx="85725" cy="85725"/>
            </a:xfrm>
            <a:prstGeom prst="rect">
              <a:avLst/>
            </a:prstGeom>
            <a:solidFill>
              <a:srgbClr val="C83B1E"/>
            </a:solidFill>
            <a:ln>
              <a:noFill/>
            </a:ln>
          </p:spPr>
        </p:sp>
        <p:sp>
          <p:nvSpPr>
            <p:cNvPr id="81" name="TextBox 81"/>
            <p:cNvSpPr txBox="1"/>
            <p:nvPr/>
          </p:nvSpPr>
          <p:spPr>
            <a:xfrm>
              <a:off x="6938962" y="1276350"/>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上海</a:t>
              </a:r>
            </a:p>
          </p:txBody>
        </p:sp>
        <p:sp>
          <p:nvSpPr>
            <p:cNvPr id="82" name="Rectangle 82"/>
            <p:cNvSpPr/>
            <p:nvPr/>
          </p:nvSpPr>
          <p:spPr>
            <a:xfrm>
              <a:off x="7277100" y="1276350"/>
              <a:ext cx="85725" cy="85725"/>
            </a:xfrm>
            <a:prstGeom prst="rect">
              <a:avLst/>
            </a:prstGeom>
            <a:solidFill>
              <a:srgbClr val="E94B2B"/>
            </a:solidFill>
            <a:ln>
              <a:noFill/>
            </a:ln>
          </p:spPr>
        </p:sp>
        <p:sp>
          <p:nvSpPr>
            <p:cNvPr id="83" name="TextBox 83"/>
            <p:cNvSpPr txBox="1"/>
            <p:nvPr/>
          </p:nvSpPr>
          <p:spPr>
            <a:xfrm>
              <a:off x="7396162" y="1276350"/>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南京</a:t>
              </a:r>
            </a:p>
          </p:txBody>
        </p:sp>
        <p:sp>
          <p:nvSpPr>
            <p:cNvPr id="84" name="Rectangle 84"/>
            <p:cNvSpPr/>
            <p:nvPr/>
          </p:nvSpPr>
          <p:spPr>
            <a:xfrm>
              <a:off x="7734300" y="1276350"/>
              <a:ext cx="85725" cy="85725"/>
            </a:xfrm>
            <a:prstGeom prst="rect">
              <a:avLst/>
            </a:prstGeom>
            <a:solidFill>
              <a:srgbClr val="F2563B"/>
            </a:solidFill>
            <a:ln>
              <a:noFill/>
            </a:ln>
          </p:spPr>
        </p:sp>
        <p:sp>
          <p:nvSpPr>
            <p:cNvPr id="85" name="TextBox 85"/>
            <p:cNvSpPr txBox="1"/>
            <p:nvPr/>
          </p:nvSpPr>
          <p:spPr>
            <a:xfrm>
              <a:off x="7853362" y="1276350"/>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杭州</a:t>
              </a:r>
            </a:p>
          </p:txBody>
        </p:sp>
        <p:sp>
          <p:nvSpPr>
            <p:cNvPr id="86" name="Freeform 86"/>
            <p:cNvSpPr/>
            <p:nvPr/>
          </p:nvSpPr>
          <p:spPr>
            <a:xfrm>
              <a:off x="5572125" y="1638186"/>
              <a:ext cx="661519" cy="860222"/>
            </a:xfrm>
            <a:custGeom>
              <a:avLst/>
              <a:gdLst/>
              <a:ahLst/>
              <a:cxnLst/>
              <a:rect l="l" t="t" r="r" b="b"/>
              <a:pathLst>
                <a:path w="661519" h="860222">
                  <a:moveTo>
                    <a:pt x="0" y="628764"/>
                  </a:moveTo>
                  <a:lnTo>
                    <a:pt x="0" y="114"/>
                  </a:lnTo>
                  <a:cubicBezTo>
                    <a:pt x="208278" y="0"/>
                    <a:pt x="403092" y="103050"/>
                    <a:pt x="520203" y="275284"/>
                  </a:cubicBezTo>
                  <a:cubicBezTo>
                    <a:pt x="637315" y="447518"/>
                    <a:pt x="661519" y="666575"/>
                    <a:pt x="584835" y="860222"/>
                  </a:cubicBezTo>
                  <a:lnTo>
                    <a:pt x="300990" y="747827"/>
                  </a:lnTo>
                  <a:cubicBezTo>
                    <a:pt x="340401" y="648136"/>
                    <a:pt x="327927" y="535402"/>
                    <a:pt x="267674" y="446739"/>
                  </a:cubicBezTo>
                  <a:cubicBezTo>
                    <a:pt x="207422" y="358076"/>
                    <a:pt x="107199" y="304974"/>
                    <a:pt x="0" y="304914"/>
                  </a:cubicBezTo>
                  <a:close/>
                </a:path>
              </a:pathLst>
            </a:custGeom>
            <a:solidFill>
              <a:srgbClr val="F8B6A9"/>
            </a:solidFill>
            <a:ln>
              <a:noFill/>
            </a:ln>
          </p:spPr>
        </p:sp>
        <p:sp>
          <p:nvSpPr>
            <p:cNvPr id="87" name="Freeform 87"/>
            <p:cNvSpPr/>
            <p:nvPr/>
          </p:nvSpPr>
          <p:spPr>
            <a:xfrm>
              <a:off x="5493067" y="2266950"/>
              <a:ext cx="663893" cy="660124"/>
            </a:xfrm>
            <a:custGeom>
              <a:avLst/>
              <a:gdLst/>
              <a:ahLst/>
              <a:cxnLst/>
              <a:rect l="l" t="t" r="r" b="b"/>
              <a:pathLst>
                <a:path w="663893" h="660124">
                  <a:moveTo>
                    <a:pt x="79058" y="0"/>
                  </a:moveTo>
                  <a:lnTo>
                    <a:pt x="663893" y="231458"/>
                  </a:lnTo>
                  <a:cubicBezTo>
                    <a:pt x="558247" y="498586"/>
                    <a:pt x="284966" y="660124"/>
                    <a:pt x="0" y="623888"/>
                  </a:cubicBezTo>
                  <a:lnTo>
                    <a:pt x="38100" y="320992"/>
                  </a:lnTo>
                  <a:cubicBezTo>
                    <a:pt x="184821" y="339664"/>
                    <a:pt x="325549" y="256560"/>
                    <a:pt x="380048" y="119063"/>
                  </a:cubicBezTo>
                  <a:close/>
                </a:path>
              </a:pathLst>
            </a:custGeom>
            <a:solidFill>
              <a:srgbClr val="C83B1E"/>
            </a:solidFill>
            <a:ln>
              <a:noFill/>
            </a:ln>
          </p:spPr>
        </p:sp>
        <p:sp>
          <p:nvSpPr>
            <p:cNvPr id="88" name="Freeform 88"/>
            <p:cNvSpPr/>
            <p:nvPr/>
          </p:nvSpPr>
          <p:spPr>
            <a:xfrm>
              <a:off x="4948238" y="2266950"/>
              <a:ext cx="623888" cy="623888"/>
            </a:xfrm>
            <a:custGeom>
              <a:avLst/>
              <a:gdLst/>
              <a:ahLst/>
              <a:cxnLst/>
              <a:rect l="l" t="t" r="r" b="b"/>
              <a:pathLst>
                <a:path w="623888" h="623888">
                  <a:moveTo>
                    <a:pt x="623888" y="0"/>
                  </a:moveTo>
                  <a:lnTo>
                    <a:pt x="544830" y="623888"/>
                  </a:lnTo>
                  <a:cubicBezTo>
                    <a:pt x="260164" y="587896"/>
                    <a:pt x="35991" y="363723"/>
                    <a:pt x="0" y="79057"/>
                  </a:cubicBezTo>
                  <a:lnTo>
                    <a:pt x="302895" y="40958"/>
                  </a:lnTo>
                  <a:cubicBezTo>
                    <a:pt x="321639" y="187151"/>
                    <a:pt x="436736" y="302248"/>
                    <a:pt x="582930" y="320992"/>
                  </a:cubicBezTo>
                  <a:close/>
                </a:path>
              </a:pathLst>
            </a:custGeom>
            <a:solidFill>
              <a:srgbClr val="F5927E"/>
            </a:solidFill>
            <a:ln>
              <a:noFill/>
            </a:ln>
          </p:spPr>
        </p:sp>
        <p:sp>
          <p:nvSpPr>
            <p:cNvPr id="89" name="Freeform 89"/>
            <p:cNvSpPr/>
            <p:nvPr/>
          </p:nvSpPr>
          <p:spPr>
            <a:xfrm>
              <a:off x="4925532" y="1638234"/>
              <a:ext cx="646593" cy="707773"/>
            </a:xfrm>
            <a:custGeom>
              <a:avLst/>
              <a:gdLst/>
              <a:ahLst/>
              <a:cxnLst/>
              <a:rect l="l" t="t" r="r" b="b"/>
              <a:pathLst>
                <a:path w="646593" h="707773">
                  <a:moveTo>
                    <a:pt x="646593" y="628716"/>
                  </a:moveTo>
                  <a:lnTo>
                    <a:pt x="22705" y="707773"/>
                  </a:lnTo>
                  <a:cubicBezTo>
                    <a:pt x="0" y="528660"/>
                    <a:pt x="55400" y="348431"/>
                    <a:pt x="174794" y="212997"/>
                  </a:cubicBezTo>
                  <a:cubicBezTo>
                    <a:pt x="294187" y="77563"/>
                    <a:pt x="466046" y="0"/>
                    <a:pt x="646593" y="66"/>
                  </a:cubicBezTo>
                  <a:lnTo>
                    <a:pt x="646593" y="304866"/>
                  </a:lnTo>
                  <a:cubicBezTo>
                    <a:pt x="553609" y="304939"/>
                    <a:pt x="465142" y="344977"/>
                    <a:pt x="403719" y="414785"/>
                  </a:cubicBezTo>
                  <a:cubicBezTo>
                    <a:pt x="342295" y="484593"/>
                    <a:pt x="313840" y="577436"/>
                    <a:pt x="325600" y="669673"/>
                  </a:cubicBezTo>
                  <a:close/>
                </a:path>
              </a:pathLst>
            </a:custGeom>
            <a:solidFill>
              <a:srgbClr val="F2563B"/>
            </a:solidFill>
            <a:ln>
              <a:noFill/>
            </a:ln>
          </p:spPr>
        </p:sp>
        <p:sp>
          <p:nvSpPr>
            <p:cNvPr id="90" name="Line 90"/>
            <p:cNvSpPr/>
            <p:nvPr/>
          </p:nvSpPr>
          <p:spPr>
            <a:xfrm>
              <a:off x="6172200" y="2076450"/>
              <a:ext cx="609600" cy="95250"/>
            </a:xfrm>
            <a:custGeom>
              <a:avLst/>
              <a:gdLst/>
              <a:ahLst/>
              <a:cxnLst/>
              <a:rect l="l" t="t" r="r" b="b"/>
              <a:pathLst>
                <a:path w="609600" h="95250">
                  <a:moveTo>
                    <a:pt x="0" y="0"/>
                  </a:moveTo>
                  <a:lnTo>
                    <a:pt x="609600" y="95250"/>
                  </a:lnTo>
                </a:path>
              </a:pathLst>
            </a:custGeom>
            <a:noFill/>
            <a:ln w="9525">
              <a:solidFill>
                <a:srgbClr val="E6C1B9"/>
              </a:solidFill>
            </a:ln>
          </p:spPr>
        </p:sp>
        <p:sp>
          <p:nvSpPr>
            <p:cNvPr id="91" name="Line 91"/>
            <p:cNvSpPr/>
            <p:nvPr/>
          </p:nvSpPr>
          <p:spPr>
            <a:xfrm>
              <a:off x="6115050" y="2400300"/>
              <a:ext cx="685800" cy="152400"/>
            </a:xfrm>
            <a:custGeom>
              <a:avLst/>
              <a:gdLst/>
              <a:ahLst/>
              <a:cxnLst/>
              <a:rect l="l" t="t" r="r" b="b"/>
              <a:pathLst>
                <a:path w="685800" h="152400">
                  <a:moveTo>
                    <a:pt x="0" y="152400"/>
                  </a:moveTo>
                  <a:lnTo>
                    <a:pt x="685800" y="0"/>
                  </a:lnTo>
                </a:path>
              </a:pathLst>
            </a:custGeom>
            <a:noFill/>
            <a:ln w="9525">
              <a:solidFill>
                <a:srgbClr val="E6C1B9"/>
              </a:solidFill>
            </a:ln>
          </p:spPr>
        </p:sp>
        <p:sp>
          <p:nvSpPr>
            <p:cNvPr id="92" name="Freeform 92"/>
            <p:cNvSpPr/>
            <p:nvPr/>
          </p:nvSpPr>
          <p:spPr>
            <a:xfrm>
              <a:off x="7258050" y="1809590"/>
              <a:ext cx="435293" cy="457360"/>
            </a:xfrm>
            <a:custGeom>
              <a:avLst/>
              <a:gdLst/>
              <a:ahLst/>
              <a:cxnLst/>
              <a:rect l="l" t="t" r="r" b="b"/>
              <a:pathLst>
                <a:path w="435293" h="457360">
                  <a:moveTo>
                    <a:pt x="0" y="457360"/>
                  </a:moveTo>
                  <a:lnTo>
                    <a:pt x="0" y="160"/>
                  </a:lnTo>
                  <a:cubicBezTo>
                    <a:pt x="198328" y="0"/>
                    <a:pt x="374141" y="127725"/>
                    <a:pt x="435293" y="316390"/>
                  </a:cubicBezTo>
                  <a:lnTo>
                    <a:pt x="226695" y="384017"/>
                  </a:lnTo>
                  <a:cubicBezTo>
                    <a:pt x="194876" y="285730"/>
                    <a:pt x="103310" y="219171"/>
                    <a:pt x="0" y="219235"/>
                  </a:cubicBezTo>
                  <a:close/>
                </a:path>
              </a:pathLst>
            </a:custGeom>
            <a:solidFill>
              <a:srgbClr val="C83B1E"/>
            </a:solidFill>
            <a:ln>
              <a:noFill/>
            </a:ln>
          </p:spPr>
        </p:sp>
        <p:sp>
          <p:nvSpPr>
            <p:cNvPr id="93" name="Freeform 93"/>
            <p:cNvSpPr/>
            <p:nvPr/>
          </p:nvSpPr>
          <p:spPr>
            <a:xfrm>
              <a:off x="7258050" y="2125980"/>
              <a:ext cx="480420" cy="598288"/>
            </a:xfrm>
            <a:custGeom>
              <a:avLst/>
              <a:gdLst/>
              <a:ahLst/>
              <a:cxnLst/>
              <a:rect l="l" t="t" r="r" b="b"/>
              <a:pathLst>
                <a:path w="480420" h="598288">
                  <a:moveTo>
                    <a:pt x="0" y="140970"/>
                  </a:moveTo>
                  <a:lnTo>
                    <a:pt x="435293" y="0"/>
                  </a:lnTo>
                  <a:cubicBezTo>
                    <a:pt x="480420" y="139228"/>
                    <a:pt x="456164" y="291646"/>
                    <a:pt x="370046" y="409987"/>
                  </a:cubicBezTo>
                  <a:cubicBezTo>
                    <a:pt x="283928" y="528329"/>
                    <a:pt x="146359" y="598288"/>
                    <a:pt x="0" y="598170"/>
                  </a:cubicBezTo>
                  <a:lnTo>
                    <a:pt x="0" y="379095"/>
                  </a:lnTo>
                  <a:cubicBezTo>
                    <a:pt x="76206" y="379142"/>
                    <a:pt x="147831" y="342713"/>
                    <a:pt x="192675" y="281098"/>
                  </a:cubicBezTo>
                  <a:cubicBezTo>
                    <a:pt x="237520" y="219484"/>
                    <a:pt x="250166" y="140129"/>
                    <a:pt x="226695" y="67628"/>
                  </a:cubicBezTo>
                  <a:close/>
                </a:path>
              </a:pathLst>
            </a:custGeom>
            <a:solidFill>
              <a:srgbClr val="E94B2B"/>
            </a:solidFill>
            <a:ln>
              <a:noFill/>
            </a:ln>
          </p:spPr>
        </p:sp>
        <p:sp>
          <p:nvSpPr>
            <p:cNvPr id="94" name="Freeform 94"/>
            <p:cNvSpPr/>
            <p:nvPr/>
          </p:nvSpPr>
          <p:spPr>
            <a:xfrm>
              <a:off x="7144702" y="2266950"/>
              <a:ext cx="113347" cy="457200"/>
            </a:xfrm>
            <a:custGeom>
              <a:avLst/>
              <a:gdLst/>
              <a:ahLst/>
              <a:cxnLst/>
              <a:rect l="l" t="t" r="r" b="b"/>
              <a:pathLst>
                <a:path w="113347" h="457200">
                  <a:moveTo>
                    <a:pt x="113347" y="0"/>
                  </a:moveTo>
                  <a:lnTo>
                    <a:pt x="113347" y="457200"/>
                  </a:lnTo>
                  <a:cubicBezTo>
                    <a:pt x="75116" y="457195"/>
                    <a:pt x="37037" y="452395"/>
                    <a:pt x="0" y="442912"/>
                  </a:cubicBezTo>
                  <a:lnTo>
                    <a:pt x="54292" y="230505"/>
                  </a:lnTo>
                  <a:cubicBezTo>
                    <a:pt x="73581" y="235506"/>
                    <a:pt x="93421" y="238066"/>
                    <a:pt x="113347" y="238125"/>
                  </a:cubicBezTo>
                  <a:close/>
                </a:path>
              </a:pathLst>
            </a:custGeom>
            <a:solidFill>
              <a:srgbClr val="F2563B"/>
            </a:solidFill>
            <a:ln>
              <a:noFill/>
            </a:ln>
          </p:spPr>
        </p:sp>
        <p:sp>
          <p:nvSpPr>
            <p:cNvPr id="95" name="Freeform 95"/>
            <p:cNvSpPr/>
            <p:nvPr/>
          </p:nvSpPr>
          <p:spPr>
            <a:xfrm>
              <a:off x="6775703" y="1809750"/>
              <a:ext cx="482347" cy="900112"/>
            </a:xfrm>
            <a:custGeom>
              <a:avLst/>
              <a:gdLst/>
              <a:ahLst/>
              <a:cxnLst/>
              <a:rect l="l" t="t" r="r" b="b"/>
              <a:pathLst>
                <a:path w="482347" h="900112">
                  <a:moveTo>
                    <a:pt x="482347" y="457200"/>
                  </a:moveTo>
                  <a:lnTo>
                    <a:pt x="369000" y="900112"/>
                  </a:lnTo>
                  <a:cubicBezTo>
                    <a:pt x="145803" y="842965"/>
                    <a:pt x="0" y="628669"/>
                    <a:pt x="28786" y="400078"/>
                  </a:cubicBezTo>
                  <a:cubicBezTo>
                    <a:pt x="57571" y="171487"/>
                    <a:pt x="251951" y="28"/>
                    <a:pt x="482347" y="0"/>
                  </a:cubicBezTo>
                  <a:lnTo>
                    <a:pt x="482347" y="219075"/>
                  </a:lnTo>
                  <a:cubicBezTo>
                    <a:pt x="362612" y="219426"/>
                    <a:pt x="261759" y="308631"/>
                    <a:pt x="246789" y="427427"/>
                  </a:cubicBezTo>
                  <a:cubicBezTo>
                    <a:pt x="231819" y="546222"/>
                    <a:pt x="307388" y="657659"/>
                    <a:pt x="423292" y="687705"/>
                  </a:cubicBezTo>
                  <a:close/>
                </a:path>
              </a:pathLst>
            </a:custGeom>
            <a:solidFill>
              <a:srgbClr val="C9DDF5"/>
            </a:solidFill>
            <a:ln>
              <a:noFill/>
            </a:ln>
          </p:spPr>
        </p:sp>
        <p:sp>
          <p:nvSpPr>
            <p:cNvPr id="96" name="TextBox 96"/>
            <p:cNvSpPr txBox="1"/>
            <p:nvPr/>
          </p:nvSpPr>
          <p:spPr>
            <a:xfrm>
              <a:off x="5024438" y="1309688"/>
              <a:ext cx="200025" cy="271462"/>
            </a:xfrm>
            <a:prstGeom prst="rect">
              <a:avLst/>
            </a:prstGeom>
            <a:noFill/>
            <a:ln>
              <a:noFill/>
            </a:ln>
          </p:spPr>
          <p:txBody>
            <a:bodyPr wrap="none" lIns="0" tIns="0" rIns="0" bIns="0" anchor="t" anchorCtr="0">
              <a:spAutoFit/>
            </a:bodyPr>
            <a:lstStyle/>
            <a:p>
              <a:pPr algn="ctr">
                <a:lnSpc>
                  <a:spcPts val="975"/>
                </a:lnSpc>
              </a:pPr>
              <a:r>
                <a:rPr lang="zh-CN" sz="750" dirty="0">
                  <a:solidFill>
                    <a:srgbClr val="684F4A"/>
                  </a:solidFill>
                  <a:latin typeface="+mn-lt"/>
                  <a:ea typeface="+mn-ea"/>
                  <a:cs typeface="+mn-cs"/>
                </a:rPr>
                <a:t>南方</a:t>
              </a:r>
              <a:br/>
              <a:r>
                <a:rPr lang="zh-CN" sz="750" dirty="0">
                  <a:solidFill>
                    <a:srgbClr val="684F4A"/>
                  </a:solidFill>
                  <a:latin typeface="+mn-lt"/>
                  <a:ea typeface="+mn-ea"/>
                  <a:cs typeface="+mn-cs"/>
                </a:rPr>
                <a:t>31%</a:t>
              </a:r>
            </a:p>
          </p:txBody>
        </p:sp>
        <p:sp>
          <p:nvSpPr>
            <p:cNvPr id="97" name="TextBox 97"/>
            <p:cNvSpPr txBox="1"/>
            <p:nvPr/>
          </p:nvSpPr>
          <p:spPr>
            <a:xfrm>
              <a:off x="4691062" y="2509838"/>
              <a:ext cx="200025" cy="271462"/>
            </a:xfrm>
            <a:prstGeom prst="rect">
              <a:avLst/>
            </a:prstGeom>
            <a:noFill/>
            <a:ln>
              <a:noFill/>
            </a:ln>
          </p:spPr>
          <p:txBody>
            <a:bodyPr wrap="none" lIns="0" tIns="0" rIns="0" bIns="0" anchor="t" anchorCtr="0">
              <a:spAutoFit/>
            </a:bodyPr>
            <a:lstStyle/>
            <a:p>
              <a:pPr algn="ctr">
                <a:lnSpc>
                  <a:spcPts val="975"/>
                </a:lnSpc>
              </a:pPr>
              <a:r>
                <a:rPr lang="zh-CN" sz="750" dirty="0">
                  <a:solidFill>
                    <a:srgbClr val="684F4A"/>
                  </a:solidFill>
                  <a:latin typeface="+mn-lt"/>
                  <a:ea typeface="+mn-ea"/>
                  <a:cs typeface="+mn-cs"/>
                </a:rPr>
                <a:t>西南</a:t>
              </a:r>
              <a:br/>
              <a:r>
                <a:rPr lang="zh-CN" sz="750" dirty="0">
                  <a:solidFill>
                    <a:srgbClr val="684F4A"/>
                  </a:solidFill>
                  <a:latin typeface="+mn-lt"/>
                  <a:ea typeface="+mn-ea"/>
                  <a:cs typeface="+mn-cs"/>
                </a:rPr>
                <a:t>21%</a:t>
              </a:r>
            </a:p>
          </p:txBody>
        </p:sp>
        <p:sp>
          <p:nvSpPr>
            <p:cNvPr id="98" name="TextBox 98"/>
            <p:cNvSpPr txBox="1"/>
            <p:nvPr/>
          </p:nvSpPr>
          <p:spPr>
            <a:xfrm>
              <a:off x="5310188" y="3062288"/>
              <a:ext cx="200025" cy="271462"/>
            </a:xfrm>
            <a:prstGeom prst="rect">
              <a:avLst/>
            </a:prstGeom>
            <a:noFill/>
            <a:ln>
              <a:noFill/>
            </a:ln>
          </p:spPr>
          <p:txBody>
            <a:bodyPr wrap="none" lIns="0" tIns="0" rIns="0" bIns="0" anchor="t" anchorCtr="0">
              <a:spAutoFit/>
            </a:bodyPr>
            <a:lstStyle/>
            <a:p>
              <a:pPr algn="ctr">
                <a:lnSpc>
                  <a:spcPts val="975"/>
                </a:lnSpc>
              </a:pPr>
              <a:r>
                <a:rPr lang="zh-CN" sz="750" dirty="0">
                  <a:solidFill>
                    <a:srgbClr val="684F4A"/>
                  </a:solidFill>
                  <a:latin typeface="+mn-lt"/>
                  <a:ea typeface="+mn-ea"/>
                  <a:cs typeface="+mn-cs"/>
                </a:rPr>
                <a:t>北方</a:t>
              </a:r>
              <a:br/>
              <a:r>
                <a:rPr lang="zh-CN" sz="750" dirty="0">
                  <a:solidFill>
                    <a:srgbClr val="684F4A"/>
                  </a:solidFill>
                  <a:latin typeface="+mn-lt"/>
                  <a:ea typeface="+mn-ea"/>
                  <a:cs typeface="+mn-cs"/>
                </a:rPr>
                <a:t>21%</a:t>
              </a:r>
            </a:p>
          </p:txBody>
        </p:sp>
        <p:sp>
          <p:nvSpPr>
            <p:cNvPr id="99" name="TextBox 99"/>
            <p:cNvSpPr txBox="1"/>
            <p:nvPr/>
          </p:nvSpPr>
          <p:spPr>
            <a:xfrm>
              <a:off x="6142672" y="2224088"/>
              <a:ext cx="21145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其他</a:t>
              </a:r>
            </a:p>
          </p:txBody>
        </p:sp>
        <p:sp>
          <p:nvSpPr>
            <p:cNvPr id="100" name="TextBox 100"/>
            <p:cNvSpPr txBox="1"/>
            <p:nvPr/>
          </p:nvSpPr>
          <p:spPr>
            <a:xfrm>
              <a:off x="7710488" y="1462088"/>
              <a:ext cx="200025" cy="271462"/>
            </a:xfrm>
            <a:prstGeom prst="rect">
              <a:avLst/>
            </a:prstGeom>
            <a:noFill/>
            <a:ln>
              <a:noFill/>
            </a:ln>
          </p:spPr>
          <p:txBody>
            <a:bodyPr wrap="none" lIns="0" tIns="0" rIns="0" bIns="0" anchor="t" anchorCtr="0">
              <a:spAutoFit/>
            </a:bodyPr>
            <a:lstStyle/>
            <a:p>
              <a:pPr algn="ctr">
                <a:lnSpc>
                  <a:spcPts val="975"/>
                </a:lnSpc>
              </a:pPr>
              <a:r>
                <a:rPr lang="zh-CN" sz="750" dirty="0">
                  <a:solidFill>
                    <a:srgbClr val="684F4A"/>
                  </a:solidFill>
                  <a:latin typeface="+mn-lt"/>
                  <a:ea typeface="+mn-ea"/>
                  <a:cs typeface="+mn-cs"/>
                </a:rPr>
                <a:t>上海</a:t>
              </a:r>
              <a:br/>
              <a:r>
                <a:rPr lang="zh-CN" sz="750" dirty="0">
                  <a:solidFill>
                    <a:srgbClr val="684F4A"/>
                  </a:solidFill>
                  <a:latin typeface="+mn-lt"/>
                  <a:ea typeface="+mn-ea"/>
                  <a:cs typeface="+mn-cs"/>
                </a:rPr>
                <a:t>20%</a:t>
              </a:r>
            </a:p>
          </p:txBody>
        </p:sp>
        <p:sp>
          <p:nvSpPr>
            <p:cNvPr id="101" name="TextBox 101"/>
            <p:cNvSpPr txBox="1"/>
            <p:nvPr/>
          </p:nvSpPr>
          <p:spPr>
            <a:xfrm>
              <a:off x="7767638" y="2776538"/>
              <a:ext cx="200025" cy="271462"/>
            </a:xfrm>
            <a:prstGeom prst="rect">
              <a:avLst/>
            </a:prstGeom>
            <a:noFill/>
            <a:ln>
              <a:noFill/>
            </a:ln>
          </p:spPr>
          <p:txBody>
            <a:bodyPr wrap="none" lIns="0" tIns="0" rIns="0" bIns="0" anchor="t" anchorCtr="0">
              <a:spAutoFit/>
            </a:bodyPr>
            <a:lstStyle/>
            <a:p>
              <a:pPr algn="ctr">
                <a:lnSpc>
                  <a:spcPts val="975"/>
                </a:lnSpc>
              </a:pPr>
              <a:r>
                <a:rPr lang="zh-CN" sz="750" dirty="0">
                  <a:solidFill>
                    <a:srgbClr val="684F4A"/>
                  </a:solidFill>
                  <a:latin typeface="+mn-lt"/>
                  <a:ea typeface="+mn-ea"/>
                  <a:cs typeface="+mn-cs"/>
                </a:rPr>
                <a:t>南京</a:t>
              </a:r>
              <a:br/>
              <a:r>
                <a:rPr lang="zh-CN" sz="750" dirty="0">
                  <a:solidFill>
                    <a:srgbClr val="684F4A"/>
                  </a:solidFill>
                  <a:latin typeface="+mn-lt"/>
                  <a:ea typeface="+mn-ea"/>
                  <a:cs typeface="+mn-cs"/>
                </a:rPr>
                <a:t>30%</a:t>
              </a:r>
            </a:p>
          </p:txBody>
        </p:sp>
        <p:sp>
          <p:nvSpPr>
            <p:cNvPr id="102" name="TextBox 102"/>
            <p:cNvSpPr txBox="1"/>
            <p:nvPr/>
          </p:nvSpPr>
          <p:spPr>
            <a:xfrm>
              <a:off x="7158038" y="2947988"/>
              <a:ext cx="200025" cy="271462"/>
            </a:xfrm>
            <a:prstGeom prst="rect">
              <a:avLst/>
            </a:prstGeom>
            <a:noFill/>
            <a:ln>
              <a:noFill/>
            </a:ln>
          </p:spPr>
          <p:txBody>
            <a:bodyPr wrap="none" lIns="0" tIns="0" rIns="0" bIns="0" anchor="t" anchorCtr="0">
              <a:spAutoFit/>
            </a:bodyPr>
            <a:lstStyle/>
            <a:p>
              <a:pPr algn="ctr">
                <a:lnSpc>
                  <a:spcPts val="975"/>
                </a:lnSpc>
              </a:pPr>
              <a:r>
                <a:rPr lang="zh-CN" sz="750" dirty="0">
                  <a:solidFill>
                    <a:srgbClr val="684F4A"/>
                  </a:solidFill>
                  <a:latin typeface="+mn-lt"/>
                  <a:ea typeface="+mn-ea"/>
                  <a:cs typeface="+mn-cs"/>
                </a:rPr>
                <a:t>杭州</a:t>
              </a:r>
              <a:br/>
              <a:r>
                <a:rPr lang="zh-CN" sz="750" dirty="0">
                  <a:solidFill>
                    <a:srgbClr val="684F4A"/>
                  </a:solidFill>
                  <a:latin typeface="+mn-lt"/>
                  <a:ea typeface="+mn-ea"/>
                  <a:cs typeface="+mn-cs"/>
                </a:rPr>
                <a:t>4%</a:t>
              </a:r>
            </a:p>
          </p:txBody>
        </p:sp>
      </p:grpSp>
      <p:grpSp>
        <p:nvGrpSpPr>
          <p:cNvPr id="124" name="m3-project"/>
          <p:cNvGrpSpPr/>
          <p:nvPr/>
        </p:nvGrpSpPr>
        <p:grpSpPr>
          <a:xfrm>
            <a:off x="8210550" y="781050"/>
            <a:ext cx="3409950" cy="2971800"/>
            <a:chOff x="8210550" y="781050"/>
            <a:chExt cx="3409950" cy="2971800"/>
          </a:xfrm>
        </p:grpSpPr>
        <p:sp>
          <p:nvSpPr>
            <p:cNvPr id="104" name="Rectangle 104"/>
            <p:cNvSpPr/>
            <p:nvPr/>
          </p:nvSpPr>
          <p:spPr>
            <a:xfrm>
              <a:off x="8210550" y="781050"/>
              <a:ext cx="3409950" cy="2971800"/>
            </a:xfrm>
            <a:prstGeom prst="rect">
              <a:avLst/>
            </a:prstGeom>
            <a:solidFill>
              <a:srgbClr val="FFFFFF"/>
            </a:solidFill>
            <a:ln w="11430">
              <a:solidFill>
                <a:srgbClr val="C9DDF5"/>
              </a:solidFill>
            </a:ln>
          </p:spPr>
        </p:sp>
        <p:sp>
          <p:nvSpPr>
            <p:cNvPr id="105" name="Rectangle 105"/>
            <p:cNvSpPr/>
            <p:nvPr/>
          </p:nvSpPr>
          <p:spPr>
            <a:xfrm>
              <a:off x="8305800" y="876300"/>
              <a:ext cx="2095500" cy="266700"/>
            </a:xfrm>
            <a:prstGeom prst="rect">
              <a:avLst/>
            </a:prstGeom>
            <a:gradFill>
              <a:gsLst>
                <a:gs pos="0">
                  <a:srgbClr val="FF5B3A"/>
                </a:gs>
                <a:gs pos="100000">
                  <a:srgbClr val="E94B2B"/>
                </a:gs>
              </a:gsLst>
              <a:lin ang="0" scaled="1"/>
            </a:gradFill>
            <a:ln>
              <a:noFill/>
            </a:ln>
          </p:spPr>
        </p:sp>
        <p:sp>
          <p:nvSpPr>
            <p:cNvPr id="106" name="Polygon 106"/>
            <p:cNvSpPr/>
            <p:nvPr/>
          </p:nvSpPr>
          <p:spPr>
            <a:xfrm>
              <a:off x="10306050" y="876300"/>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107" name="TextBox 107"/>
            <p:cNvSpPr txBox="1"/>
            <p:nvPr/>
          </p:nvSpPr>
          <p:spPr>
            <a:xfrm>
              <a:off x="8414385" y="945356"/>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项目营业占比</a:t>
              </a:r>
            </a:p>
          </p:txBody>
        </p:sp>
        <p:sp>
          <p:nvSpPr>
            <p:cNvPr id="108" name="Rectangle 108"/>
            <p:cNvSpPr/>
            <p:nvPr/>
          </p:nvSpPr>
          <p:spPr>
            <a:xfrm>
              <a:off x="8439150" y="1276350"/>
              <a:ext cx="85725" cy="85725"/>
            </a:xfrm>
            <a:prstGeom prst="rect">
              <a:avLst/>
            </a:prstGeom>
            <a:solidFill>
              <a:srgbClr val="E94B2B"/>
            </a:solidFill>
            <a:ln>
              <a:noFill/>
            </a:ln>
          </p:spPr>
        </p:sp>
        <p:sp>
          <p:nvSpPr>
            <p:cNvPr id="109" name="TextBox 109"/>
            <p:cNvSpPr txBox="1"/>
            <p:nvPr/>
          </p:nvSpPr>
          <p:spPr>
            <a:xfrm>
              <a:off x="8558212" y="1276350"/>
              <a:ext cx="31242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项目一</a:t>
              </a:r>
            </a:p>
          </p:txBody>
        </p:sp>
        <p:sp>
          <p:nvSpPr>
            <p:cNvPr id="110" name="Rectangle 110"/>
            <p:cNvSpPr/>
            <p:nvPr/>
          </p:nvSpPr>
          <p:spPr>
            <a:xfrm>
              <a:off x="9124950" y="1276350"/>
              <a:ext cx="85725" cy="85725"/>
            </a:xfrm>
            <a:prstGeom prst="rect">
              <a:avLst/>
            </a:prstGeom>
            <a:solidFill>
              <a:srgbClr val="F8B6A9"/>
            </a:solidFill>
            <a:ln>
              <a:noFill/>
            </a:ln>
          </p:spPr>
        </p:sp>
        <p:sp>
          <p:nvSpPr>
            <p:cNvPr id="111" name="TextBox 111"/>
            <p:cNvSpPr txBox="1"/>
            <p:nvPr/>
          </p:nvSpPr>
          <p:spPr>
            <a:xfrm>
              <a:off x="9244012" y="1276350"/>
              <a:ext cx="31242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项目二</a:t>
              </a:r>
            </a:p>
          </p:txBody>
        </p:sp>
        <p:sp>
          <p:nvSpPr>
            <p:cNvPr id="112" name="Rectangle 112"/>
            <p:cNvSpPr/>
            <p:nvPr/>
          </p:nvSpPr>
          <p:spPr>
            <a:xfrm>
              <a:off x="9810750" y="1276350"/>
              <a:ext cx="85725" cy="85725"/>
            </a:xfrm>
            <a:prstGeom prst="rect">
              <a:avLst/>
            </a:prstGeom>
            <a:solidFill>
              <a:srgbClr val="C83B1E"/>
            </a:solidFill>
            <a:ln>
              <a:noFill/>
            </a:ln>
          </p:spPr>
        </p:sp>
        <p:sp>
          <p:nvSpPr>
            <p:cNvPr id="113" name="TextBox 113"/>
            <p:cNvSpPr txBox="1"/>
            <p:nvPr/>
          </p:nvSpPr>
          <p:spPr>
            <a:xfrm>
              <a:off x="9929812" y="1276350"/>
              <a:ext cx="31242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项目三</a:t>
              </a:r>
            </a:p>
          </p:txBody>
        </p:sp>
        <p:sp>
          <p:nvSpPr>
            <p:cNvPr id="114" name="Rectangle 114"/>
            <p:cNvSpPr/>
            <p:nvPr/>
          </p:nvSpPr>
          <p:spPr>
            <a:xfrm>
              <a:off x="10534650" y="1276350"/>
              <a:ext cx="85725" cy="85725"/>
            </a:xfrm>
            <a:prstGeom prst="rect">
              <a:avLst/>
            </a:prstGeom>
            <a:solidFill>
              <a:srgbClr val="F0856F"/>
            </a:solidFill>
            <a:ln>
              <a:noFill/>
            </a:ln>
          </p:spPr>
        </p:sp>
        <p:sp>
          <p:nvSpPr>
            <p:cNvPr id="115" name="TextBox 115"/>
            <p:cNvSpPr txBox="1"/>
            <p:nvPr/>
          </p:nvSpPr>
          <p:spPr>
            <a:xfrm>
              <a:off x="10653712" y="1276350"/>
              <a:ext cx="31242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项目四</a:t>
              </a:r>
            </a:p>
          </p:txBody>
        </p:sp>
        <p:sp>
          <p:nvSpPr>
            <p:cNvPr id="116" name="Freeform 116"/>
            <p:cNvSpPr/>
            <p:nvPr/>
          </p:nvSpPr>
          <p:spPr>
            <a:xfrm>
              <a:off x="9925050" y="1619250"/>
              <a:ext cx="666750" cy="666750"/>
            </a:xfrm>
            <a:custGeom>
              <a:avLst/>
              <a:gdLst/>
              <a:ahLst/>
              <a:cxnLst/>
              <a:rect l="l" t="t" r="r" b="b"/>
              <a:pathLst>
                <a:path w="666750" h="666750">
                  <a:moveTo>
                    <a:pt x="0" y="666750"/>
                  </a:moveTo>
                  <a:lnTo>
                    <a:pt x="0" y="0"/>
                  </a:lnTo>
                  <a:cubicBezTo>
                    <a:pt x="368236" y="0"/>
                    <a:pt x="666750" y="298514"/>
                    <a:pt x="666750" y="666750"/>
                  </a:cubicBezTo>
                  <a:lnTo>
                    <a:pt x="361950" y="666750"/>
                  </a:lnTo>
                  <a:cubicBezTo>
                    <a:pt x="361950" y="466851"/>
                    <a:pt x="199899" y="304800"/>
                    <a:pt x="0" y="304800"/>
                  </a:cubicBezTo>
                  <a:close/>
                </a:path>
              </a:pathLst>
            </a:custGeom>
            <a:solidFill>
              <a:srgbClr val="E94B2B"/>
            </a:solidFill>
            <a:ln>
              <a:noFill/>
            </a:ln>
          </p:spPr>
        </p:sp>
        <p:sp>
          <p:nvSpPr>
            <p:cNvPr id="117" name="Freeform 117"/>
            <p:cNvSpPr/>
            <p:nvPr/>
          </p:nvSpPr>
          <p:spPr>
            <a:xfrm>
              <a:off x="9290685" y="2286000"/>
              <a:ext cx="1301346" cy="710298"/>
            </a:xfrm>
            <a:custGeom>
              <a:avLst/>
              <a:gdLst/>
              <a:ahLst/>
              <a:cxnLst/>
              <a:rect l="l" t="t" r="r" b="b"/>
              <a:pathLst>
                <a:path w="1301346" h="710298">
                  <a:moveTo>
                    <a:pt x="634365" y="0"/>
                  </a:moveTo>
                  <a:lnTo>
                    <a:pt x="1301115" y="0"/>
                  </a:lnTo>
                  <a:cubicBezTo>
                    <a:pt x="1301346" y="328210"/>
                    <a:pt x="1062684" y="607774"/>
                    <a:pt x="738502" y="659036"/>
                  </a:cubicBezTo>
                  <a:cubicBezTo>
                    <a:pt x="414319" y="710298"/>
                    <a:pt x="101046" y="518009"/>
                    <a:pt x="0" y="205740"/>
                  </a:cubicBezTo>
                  <a:lnTo>
                    <a:pt x="290512" y="111442"/>
                  </a:lnTo>
                  <a:cubicBezTo>
                    <a:pt x="345936" y="280082"/>
                    <a:pt x="515478" y="383640"/>
                    <a:pt x="690819" y="355955"/>
                  </a:cubicBezTo>
                  <a:cubicBezTo>
                    <a:pt x="866160" y="328269"/>
                    <a:pt x="995547" y="177511"/>
                    <a:pt x="996315" y="0"/>
                  </a:cubicBezTo>
                  <a:close/>
                </a:path>
              </a:pathLst>
            </a:custGeom>
            <a:solidFill>
              <a:srgbClr val="F8B6A9"/>
            </a:solidFill>
            <a:ln>
              <a:noFill/>
            </a:ln>
          </p:spPr>
        </p:sp>
        <p:sp>
          <p:nvSpPr>
            <p:cNvPr id="118" name="Freeform 118"/>
            <p:cNvSpPr/>
            <p:nvPr/>
          </p:nvSpPr>
          <p:spPr>
            <a:xfrm>
              <a:off x="9238561" y="2002155"/>
              <a:ext cx="686489" cy="489585"/>
            </a:xfrm>
            <a:custGeom>
              <a:avLst/>
              <a:gdLst/>
              <a:ahLst/>
              <a:cxnLst/>
              <a:rect l="l" t="t" r="r" b="b"/>
              <a:pathLst>
                <a:path w="686489" h="489585">
                  <a:moveTo>
                    <a:pt x="686489" y="283845"/>
                  </a:moveTo>
                  <a:lnTo>
                    <a:pt x="52124" y="489585"/>
                  </a:lnTo>
                  <a:cubicBezTo>
                    <a:pt x="0" y="328326"/>
                    <a:pt x="11239" y="153270"/>
                    <a:pt x="83557" y="0"/>
                  </a:cubicBezTo>
                  <a:lnTo>
                    <a:pt x="358829" y="129540"/>
                  </a:lnTo>
                  <a:cubicBezTo>
                    <a:pt x="319865" y="212848"/>
                    <a:pt x="314076" y="307865"/>
                    <a:pt x="342637" y="395287"/>
                  </a:cubicBezTo>
                  <a:close/>
                </a:path>
              </a:pathLst>
            </a:custGeom>
            <a:solidFill>
              <a:srgbClr val="C83B1E"/>
            </a:solidFill>
            <a:ln>
              <a:noFill/>
            </a:ln>
          </p:spPr>
        </p:sp>
        <p:sp>
          <p:nvSpPr>
            <p:cNvPr id="119" name="Freeform 119"/>
            <p:cNvSpPr/>
            <p:nvPr/>
          </p:nvSpPr>
          <p:spPr>
            <a:xfrm>
              <a:off x="9322118" y="1619250"/>
              <a:ext cx="602932" cy="666750"/>
            </a:xfrm>
            <a:custGeom>
              <a:avLst/>
              <a:gdLst/>
              <a:ahLst/>
              <a:cxnLst/>
              <a:rect l="l" t="t" r="r" b="b"/>
              <a:pathLst>
                <a:path w="602932" h="666750">
                  <a:moveTo>
                    <a:pt x="602932" y="666750"/>
                  </a:moveTo>
                  <a:lnTo>
                    <a:pt x="0" y="382905"/>
                  </a:lnTo>
                  <a:cubicBezTo>
                    <a:pt x="109901" y="149309"/>
                    <a:pt x="344775" y="148"/>
                    <a:pt x="602932" y="0"/>
                  </a:cubicBezTo>
                  <a:lnTo>
                    <a:pt x="602932" y="304800"/>
                  </a:lnTo>
                  <a:cubicBezTo>
                    <a:pt x="462712" y="304703"/>
                    <a:pt x="335051" y="385605"/>
                    <a:pt x="275272" y="512445"/>
                  </a:cubicBezTo>
                  <a:close/>
                </a:path>
              </a:pathLst>
            </a:custGeom>
            <a:solidFill>
              <a:srgbClr val="F0856F"/>
            </a:solidFill>
            <a:ln>
              <a:noFill/>
            </a:ln>
          </p:spPr>
        </p:sp>
        <p:sp>
          <p:nvSpPr>
            <p:cNvPr id="120" name="TextBox 120"/>
            <p:cNvSpPr txBox="1"/>
            <p:nvPr/>
          </p:nvSpPr>
          <p:spPr>
            <a:xfrm>
              <a:off x="10758488" y="2243138"/>
              <a:ext cx="600170" cy="147638"/>
            </a:xfrm>
            <a:prstGeom prst="rect">
              <a:avLst/>
            </a:prstGeom>
            <a:noFill/>
            <a:ln>
              <a:noFill/>
            </a:ln>
          </p:spPr>
          <p:txBody>
            <a:bodyPr wrap="none" lIns="0" tIns="0" rIns="0" bIns="0" anchor="t" anchorCtr="0">
              <a:spAutoFit/>
            </a:bodyPr>
            <a:lstStyle/>
            <a:p>
              <a:pPr algn="l"/>
              <a:r>
                <a:rPr lang="zh-CN" sz="750" dirty="0">
                  <a:solidFill>
                    <a:srgbClr val="684F4A"/>
                  </a:solidFill>
                  <a:latin typeface="+mn-lt"/>
                  <a:ea typeface="+mn-ea"/>
                  <a:cs typeface="+mn-cs"/>
                </a:rPr>
                <a:t>项目一，25%</a:t>
              </a:r>
            </a:p>
          </p:txBody>
        </p:sp>
        <p:sp>
          <p:nvSpPr>
            <p:cNvPr id="121" name="TextBox 121"/>
            <p:cNvSpPr txBox="1"/>
            <p:nvPr/>
          </p:nvSpPr>
          <p:spPr>
            <a:xfrm>
              <a:off x="8767715" y="3062288"/>
              <a:ext cx="600170"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项目二，45%</a:t>
              </a:r>
            </a:p>
          </p:txBody>
        </p:sp>
        <p:sp>
          <p:nvSpPr>
            <p:cNvPr id="122" name="TextBox 122"/>
            <p:cNvSpPr txBox="1"/>
            <p:nvPr/>
          </p:nvSpPr>
          <p:spPr>
            <a:xfrm>
              <a:off x="8596265" y="1443038"/>
              <a:ext cx="600170"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项目三，12%</a:t>
              </a:r>
            </a:p>
          </p:txBody>
        </p:sp>
        <p:sp>
          <p:nvSpPr>
            <p:cNvPr id="123" name="TextBox 123"/>
            <p:cNvSpPr txBox="1"/>
            <p:nvPr/>
          </p:nvSpPr>
          <p:spPr>
            <a:xfrm>
              <a:off x="10672715" y="1347788"/>
              <a:ext cx="600170"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项目四，18%</a:t>
              </a:r>
            </a:p>
          </p:txBody>
        </p:sp>
      </p:grpSp>
      <p:grpSp>
        <p:nvGrpSpPr>
          <p:cNvPr id="181" name="m4-table"/>
          <p:cNvGrpSpPr/>
          <p:nvPr/>
        </p:nvGrpSpPr>
        <p:grpSpPr>
          <a:xfrm>
            <a:off x="571500" y="3943350"/>
            <a:ext cx="7477125" cy="2590800"/>
            <a:chOff x="571500" y="3943350"/>
            <a:chExt cx="7477125" cy="2590800"/>
          </a:xfrm>
        </p:grpSpPr>
        <p:sp>
          <p:nvSpPr>
            <p:cNvPr id="125" name="Rectangle 125"/>
            <p:cNvSpPr/>
            <p:nvPr/>
          </p:nvSpPr>
          <p:spPr>
            <a:xfrm>
              <a:off x="571500" y="3943350"/>
              <a:ext cx="7477125" cy="2590800"/>
            </a:xfrm>
            <a:prstGeom prst="rect">
              <a:avLst/>
            </a:prstGeom>
            <a:solidFill>
              <a:srgbClr val="FFFFFF"/>
            </a:solidFill>
            <a:ln w="11430">
              <a:solidFill>
                <a:srgbClr val="C9DDF5"/>
              </a:solidFill>
            </a:ln>
          </p:spPr>
        </p:sp>
        <p:sp>
          <p:nvSpPr>
            <p:cNvPr id="126" name="Rectangle 126"/>
            <p:cNvSpPr/>
            <p:nvPr/>
          </p:nvSpPr>
          <p:spPr>
            <a:xfrm>
              <a:off x="666750" y="4038600"/>
              <a:ext cx="2952750" cy="266700"/>
            </a:xfrm>
            <a:prstGeom prst="rect">
              <a:avLst/>
            </a:prstGeom>
            <a:gradFill>
              <a:gsLst>
                <a:gs pos="0">
                  <a:srgbClr val="FF5B3A"/>
                </a:gs>
                <a:gs pos="100000">
                  <a:srgbClr val="E94B2B"/>
                </a:gs>
              </a:gsLst>
              <a:lin ang="0" scaled="1"/>
            </a:gradFill>
            <a:ln>
              <a:noFill/>
            </a:ln>
          </p:spPr>
        </p:sp>
        <p:sp>
          <p:nvSpPr>
            <p:cNvPr id="127" name="Polygon 127"/>
            <p:cNvSpPr/>
            <p:nvPr/>
          </p:nvSpPr>
          <p:spPr>
            <a:xfrm>
              <a:off x="3524250" y="4038600"/>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128" name="TextBox 128"/>
            <p:cNvSpPr txBox="1"/>
            <p:nvPr/>
          </p:nvSpPr>
          <p:spPr>
            <a:xfrm>
              <a:off x="775335" y="4107656"/>
              <a:ext cx="1519174"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上半年营业数据分析表</a:t>
              </a:r>
            </a:p>
          </p:txBody>
        </p:sp>
        <p:sp>
          <p:nvSpPr>
            <p:cNvPr id="129" name="TextBox 129"/>
            <p:cNvSpPr txBox="1"/>
            <p:nvPr/>
          </p:nvSpPr>
          <p:spPr>
            <a:xfrm>
              <a:off x="1117714" y="4450318"/>
              <a:ext cx="241071"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序号</a:t>
              </a:r>
            </a:p>
          </p:txBody>
        </p:sp>
        <p:sp>
          <p:nvSpPr>
            <p:cNvPr id="130" name="TextBox 130"/>
            <p:cNvSpPr txBox="1"/>
            <p:nvPr/>
          </p:nvSpPr>
          <p:spPr>
            <a:xfrm>
              <a:off x="2228021" y="4450318"/>
              <a:ext cx="192157"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1月</a:t>
              </a:r>
            </a:p>
          </p:txBody>
        </p:sp>
        <p:sp>
          <p:nvSpPr>
            <p:cNvPr id="131" name="TextBox 131"/>
            <p:cNvSpPr txBox="1"/>
            <p:nvPr/>
          </p:nvSpPr>
          <p:spPr>
            <a:xfrm>
              <a:off x="3247196" y="4450318"/>
              <a:ext cx="192157"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2月</a:t>
              </a:r>
            </a:p>
          </p:txBody>
        </p:sp>
        <p:sp>
          <p:nvSpPr>
            <p:cNvPr id="132" name="TextBox 132"/>
            <p:cNvSpPr txBox="1"/>
            <p:nvPr/>
          </p:nvSpPr>
          <p:spPr>
            <a:xfrm>
              <a:off x="4275896" y="4450318"/>
              <a:ext cx="192157"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3月</a:t>
              </a:r>
            </a:p>
          </p:txBody>
        </p:sp>
        <p:sp>
          <p:nvSpPr>
            <p:cNvPr id="133" name="TextBox 133"/>
            <p:cNvSpPr txBox="1"/>
            <p:nvPr/>
          </p:nvSpPr>
          <p:spPr>
            <a:xfrm>
              <a:off x="5295071" y="4450318"/>
              <a:ext cx="192157"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4月</a:t>
              </a:r>
            </a:p>
          </p:txBody>
        </p:sp>
        <p:sp>
          <p:nvSpPr>
            <p:cNvPr id="134" name="TextBox 134"/>
            <p:cNvSpPr txBox="1"/>
            <p:nvPr/>
          </p:nvSpPr>
          <p:spPr>
            <a:xfrm>
              <a:off x="6323771" y="4450318"/>
              <a:ext cx="192157"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5月</a:t>
              </a:r>
            </a:p>
          </p:txBody>
        </p:sp>
        <p:sp>
          <p:nvSpPr>
            <p:cNvPr id="135" name="TextBox 135"/>
            <p:cNvSpPr txBox="1"/>
            <p:nvPr/>
          </p:nvSpPr>
          <p:spPr>
            <a:xfrm>
              <a:off x="7342946" y="4450318"/>
              <a:ext cx="192157"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6月</a:t>
              </a:r>
            </a:p>
          </p:txBody>
        </p:sp>
        <p:sp>
          <p:nvSpPr>
            <p:cNvPr id="136" name="Line 136"/>
            <p:cNvSpPr/>
            <p:nvPr/>
          </p:nvSpPr>
          <p:spPr>
            <a:xfrm>
              <a:off x="666750" y="4629150"/>
              <a:ext cx="7286625" cy="9525"/>
            </a:xfrm>
            <a:custGeom>
              <a:avLst/>
              <a:gdLst/>
              <a:ahLst/>
              <a:cxnLst/>
              <a:rect l="l" t="t" r="r" b="b"/>
              <a:pathLst>
                <a:path w="7286625" h="9525">
                  <a:moveTo>
                    <a:pt x="0" y="0"/>
                  </a:moveTo>
                  <a:lnTo>
                    <a:pt x="7286625" y="0"/>
                  </a:lnTo>
                </a:path>
              </a:pathLst>
            </a:custGeom>
            <a:noFill/>
            <a:ln w="14288">
              <a:solidFill>
                <a:srgbClr val="E94B2B"/>
              </a:solidFill>
            </a:ln>
          </p:spPr>
        </p:sp>
        <p:sp>
          <p:nvSpPr>
            <p:cNvPr id="137" name="Rectangle 137"/>
            <p:cNvSpPr/>
            <p:nvPr/>
          </p:nvSpPr>
          <p:spPr>
            <a:xfrm>
              <a:off x="666750" y="4933950"/>
              <a:ext cx="7286625" cy="304800"/>
            </a:xfrm>
            <a:prstGeom prst="rect">
              <a:avLst/>
            </a:prstGeom>
            <a:solidFill>
              <a:srgbClr val="EFF5FD"/>
            </a:solidFill>
            <a:ln>
              <a:noFill/>
            </a:ln>
          </p:spPr>
        </p:sp>
        <p:sp>
          <p:nvSpPr>
            <p:cNvPr id="138" name="Rectangle 138"/>
            <p:cNvSpPr/>
            <p:nvPr/>
          </p:nvSpPr>
          <p:spPr>
            <a:xfrm>
              <a:off x="666750" y="5848350"/>
              <a:ext cx="7286625" cy="304800"/>
            </a:xfrm>
            <a:prstGeom prst="rect">
              <a:avLst/>
            </a:prstGeom>
            <a:solidFill>
              <a:srgbClr val="EFF5FD"/>
            </a:solidFill>
            <a:ln>
              <a:noFill/>
            </a:ln>
          </p:spPr>
        </p:sp>
        <p:sp>
          <p:nvSpPr>
            <p:cNvPr id="139" name="Rectangle 139"/>
            <p:cNvSpPr/>
            <p:nvPr/>
          </p:nvSpPr>
          <p:spPr>
            <a:xfrm>
              <a:off x="666750" y="5238750"/>
              <a:ext cx="7286625" cy="304800"/>
            </a:xfrm>
            <a:prstGeom prst="rect">
              <a:avLst/>
            </a:prstGeom>
            <a:gradFill>
              <a:gsLst>
                <a:gs pos="0">
                  <a:srgbClr val="FF5B3A"/>
                </a:gs>
                <a:gs pos="100000">
                  <a:srgbClr val="E94B2B"/>
                </a:gs>
              </a:gsLst>
              <a:lin ang="0" scaled="1"/>
            </a:gradFill>
            <a:ln>
              <a:noFill/>
            </a:ln>
          </p:spPr>
        </p:sp>
        <p:sp>
          <p:nvSpPr>
            <p:cNvPr id="140" name="Line 140"/>
            <p:cNvSpPr/>
            <p:nvPr/>
          </p:nvSpPr>
          <p:spPr>
            <a:xfrm>
              <a:off x="1809750" y="4629150"/>
              <a:ext cx="9525" cy="1524000"/>
            </a:xfrm>
            <a:custGeom>
              <a:avLst/>
              <a:gdLst/>
              <a:ahLst/>
              <a:cxnLst/>
              <a:rect l="l" t="t" r="r" b="b"/>
              <a:pathLst>
                <a:path w="9525" h="1524000">
                  <a:moveTo>
                    <a:pt x="0" y="0"/>
                  </a:moveTo>
                  <a:lnTo>
                    <a:pt x="0" y="1524000"/>
                  </a:lnTo>
                </a:path>
              </a:pathLst>
            </a:custGeom>
            <a:noFill/>
            <a:ln w="9525">
              <a:solidFill>
                <a:srgbClr val="D8E6F8"/>
              </a:solidFill>
            </a:ln>
          </p:spPr>
        </p:sp>
        <p:sp>
          <p:nvSpPr>
            <p:cNvPr id="141" name="Line 141"/>
            <p:cNvSpPr/>
            <p:nvPr/>
          </p:nvSpPr>
          <p:spPr>
            <a:xfrm>
              <a:off x="2828925" y="4629150"/>
              <a:ext cx="9525" cy="1524000"/>
            </a:xfrm>
            <a:custGeom>
              <a:avLst/>
              <a:gdLst/>
              <a:ahLst/>
              <a:cxnLst/>
              <a:rect l="l" t="t" r="r" b="b"/>
              <a:pathLst>
                <a:path w="9525" h="1524000">
                  <a:moveTo>
                    <a:pt x="0" y="0"/>
                  </a:moveTo>
                  <a:lnTo>
                    <a:pt x="0" y="1524000"/>
                  </a:lnTo>
                </a:path>
              </a:pathLst>
            </a:custGeom>
            <a:noFill/>
            <a:ln w="9525">
              <a:solidFill>
                <a:srgbClr val="D8E6F8"/>
              </a:solidFill>
            </a:ln>
          </p:spPr>
        </p:sp>
        <p:sp>
          <p:nvSpPr>
            <p:cNvPr id="142" name="Line 142"/>
            <p:cNvSpPr/>
            <p:nvPr/>
          </p:nvSpPr>
          <p:spPr>
            <a:xfrm>
              <a:off x="3857625" y="4629150"/>
              <a:ext cx="9525" cy="1524000"/>
            </a:xfrm>
            <a:custGeom>
              <a:avLst/>
              <a:gdLst/>
              <a:ahLst/>
              <a:cxnLst/>
              <a:rect l="l" t="t" r="r" b="b"/>
              <a:pathLst>
                <a:path w="9525" h="1524000">
                  <a:moveTo>
                    <a:pt x="0" y="0"/>
                  </a:moveTo>
                  <a:lnTo>
                    <a:pt x="0" y="1524000"/>
                  </a:lnTo>
                </a:path>
              </a:pathLst>
            </a:custGeom>
            <a:noFill/>
            <a:ln w="9525">
              <a:solidFill>
                <a:srgbClr val="D8E6F8"/>
              </a:solidFill>
            </a:ln>
          </p:spPr>
        </p:sp>
        <p:sp>
          <p:nvSpPr>
            <p:cNvPr id="143" name="Line 143"/>
            <p:cNvSpPr/>
            <p:nvPr/>
          </p:nvSpPr>
          <p:spPr>
            <a:xfrm>
              <a:off x="4876800" y="4629150"/>
              <a:ext cx="9525" cy="1524000"/>
            </a:xfrm>
            <a:custGeom>
              <a:avLst/>
              <a:gdLst/>
              <a:ahLst/>
              <a:cxnLst/>
              <a:rect l="l" t="t" r="r" b="b"/>
              <a:pathLst>
                <a:path w="9525" h="1524000">
                  <a:moveTo>
                    <a:pt x="0" y="0"/>
                  </a:moveTo>
                  <a:lnTo>
                    <a:pt x="0" y="1524000"/>
                  </a:lnTo>
                </a:path>
              </a:pathLst>
            </a:custGeom>
            <a:noFill/>
            <a:ln w="9525">
              <a:solidFill>
                <a:srgbClr val="D8E6F8"/>
              </a:solidFill>
            </a:ln>
          </p:spPr>
        </p:sp>
        <p:sp>
          <p:nvSpPr>
            <p:cNvPr id="144" name="Line 144"/>
            <p:cNvSpPr/>
            <p:nvPr/>
          </p:nvSpPr>
          <p:spPr>
            <a:xfrm>
              <a:off x="5905500" y="4629150"/>
              <a:ext cx="9525" cy="1524000"/>
            </a:xfrm>
            <a:custGeom>
              <a:avLst/>
              <a:gdLst/>
              <a:ahLst/>
              <a:cxnLst/>
              <a:rect l="l" t="t" r="r" b="b"/>
              <a:pathLst>
                <a:path w="9525" h="1524000">
                  <a:moveTo>
                    <a:pt x="0" y="0"/>
                  </a:moveTo>
                  <a:lnTo>
                    <a:pt x="0" y="1524000"/>
                  </a:lnTo>
                </a:path>
              </a:pathLst>
            </a:custGeom>
            <a:noFill/>
            <a:ln w="9525">
              <a:solidFill>
                <a:srgbClr val="D8E6F8"/>
              </a:solidFill>
            </a:ln>
          </p:spPr>
        </p:sp>
        <p:sp>
          <p:nvSpPr>
            <p:cNvPr id="145" name="Line 145"/>
            <p:cNvSpPr/>
            <p:nvPr/>
          </p:nvSpPr>
          <p:spPr>
            <a:xfrm>
              <a:off x="6924675" y="4629150"/>
              <a:ext cx="9525" cy="1524000"/>
            </a:xfrm>
            <a:custGeom>
              <a:avLst/>
              <a:gdLst/>
              <a:ahLst/>
              <a:cxnLst/>
              <a:rect l="l" t="t" r="r" b="b"/>
              <a:pathLst>
                <a:path w="9525" h="1524000">
                  <a:moveTo>
                    <a:pt x="0" y="0"/>
                  </a:moveTo>
                  <a:lnTo>
                    <a:pt x="0" y="1524000"/>
                  </a:lnTo>
                </a:path>
              </a:pathLst>
            </a:custGeom>
            <a:noFill/>
            <a:ln w="9525">
              <a:solidFill>
                <a:srgbClr val="D8E6F8"/>
              </a:solidFill>
            </a:ln>
          </p:spPr>
        </p:sp>
        <p:sp>
          <p:nvSpPr>
            <p:cNvPr id="146" name="TextBox 146"/>
            <p:cNvSpPr txBox="1"/>
            <p:nvPr/>
          </p:nvSpPr>
          <p:spPr>
            <a:xfrm>
              <a:off x="795338" y="4736068"/>
              <a:ext cx="472618" cy="169069"/>
            </a:xfrm>
            <a:prstGeom prst="rect">
              <a:avLst/>
            </a:prstGeom>
            <a:noFill/>
            <a:ln>
              <a:noFill/>
            </a:ln>
          </p:spPr>
          <p:txBody>
            <a:bodyPr wrap="none" lIns="0" tIns="0" rIns="0" bIns="0" anchor="t" anchorCtr="0">
              <a:spAutoFit/>
            </a:bodyPr>
            <a:lstStyle/>
            <a:p>
              <a:pPr algn="l"/>
              <a:r>
                <a:rPr lang="zh-CN" sz="860" dirty="0">
                  <a:solidFill>
                    <a:srgbClr val="333333"/>
                  </a:solidFill>
                  <a:latin typeface="+mn-lt"/>
                  <a:ea typeface="+mn-ea"/>
                  <a:cs typeface="+mn-cs"/>
                </a:rPr>
                <a:t>今年预算</a:t>
              </a:r>
            </a:p>
          </p:txBody>
        </p:sp>
        <p:sp>
          <p:nvSpPr>
            <p:cNvPr id="147" name="TextBox 147"/>
            <p:cNvSpPr txBox="1"/>
            <p:nvPr/>
          </p:nvSpPr>
          <p:spPr>
            <a:xfrm>
              <a:off x="795338" y="5040868"/>
              <a:ext cx="472618" cy="169069"/>
            </a:xfrm>
            <a:prstGeom prst="rect">
              <a:avLst/>
            </a:prstGeom>
            <a:noFill/>
            <a:ln>
              <a:noFill/>
            </a:ln>
          </p:spPr>
          <p:txBody>
            <a:bodyPr wrap="none" lIns="0" tIns="0" rIns="0" bIns="0" anchor="t" anchorCtr="0">
              <a:spAutoFit/>
            </a:bodyPr>
            <a:lstStyle/>
            <a:p>
              <a:pPr algn="l"/>
              <a:r>
                <a:rPr lang="zh-CN" sz="860" dirty="0">
                  <a:solidFill>
                    <a:srgbClr val="333333"/>
                  </a:solidFill>
                  <a:latin typeface="+mn-lt"/>
                  <a:ea typeface="+mn-ea"/>
                  <a:cs typeface="+mn-cs"/>
                </a:rPr>
                <a:t>今年完成</a:t>
              </a:r>
            </a:p>
          </p:txBody>
        </p:sp>
        <p:sp>
          <p:nvSpPr>
            <p:cNvPr id="148" name="TextBox 148"/>
            <p:cNvSpPr txBox="1"/>
            <p:nvPr/>
          </p:nvSpPr>
          <p:spPr>
            <a:xfrm>
              <a:off x="795338" y="5345668"/>
              <a:ext cx="356845"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完成率</a:t>
              </a:r>
            </a:p>
          </p:txBody>
        </p:sp>
        <p:sp>
          <p:nvSpPr>
            <p:cNvPr id="149" name="TextBox 149"/>
            <p:cNvSpPr txBox="1"/>
            <p:nvPr/>
          </p:nvSpPr>
          <p:spPr>
            <a:xfrm>
              <a:off x="795338" y="5650468"/>
              <a:ext cx="472618" cy="169069"/>
            </a:xfrm>
            <a:prstGeom prst="rect">
              <a:avLst/>
            </a:prstGeom>
            <a:noFill/>
            <a:ln>
              <a:noFill/>
            </a:ln>
          </p:spPr>
          <p:txBody>
            <a:bodyPr wrap="none" lIns="0" tIns="0" rIns="0" bIns="0" anchor="t" anchorCtr="0">
              <a:spAutoFit/>
            </a:bodyPr>
            <a:lstStyle/>
            <a:p>
              <a:pPr algn="l"/>
              <a:r>
                <a:rPr lang="zh-CN" sz="860" dirty="0">
                  <a:solidFill>
                    <a:srgbClr val="333333"/>
                  </a:solidFill>
                  <a:latin typeface="+mn-lt"/>
                  <a:ea typeface="+mn-ea"/>
                  <a:cs typeface="+mn-cs"/>
                </a:rPr>
                <a:t>去年完成</a:t>
              </a:r>
            </a:p>
          </p:txBody>
        </p:sp>
        <p:sp>
          <p:nvSpPr>
            <p:cNvPr id="150" name="TextBox 150"/>
            <p:cNvSpPr txBox="1"/>
            <p:nvPr/>
          </p:nvSpPr>
          <p:spPr>
            <a:xfrm>
              <a:off x="795338" y="5955268"/>
              <a:ext cx="472618" cy="169069"/>
            </a:xfrm>
            <a:prstGeom prst="rect">
              <a:avLst/>
            </a:prstGeom>
            <a:noFill/>
            <a:ln>
              <a:noFill/>
            </a:ln>
          </p:spPr>
          <p:txBody>
            <a:bodyPr wrap="none" lIns="0" tIns="0" rIns="0" bIns="0" anchor="t" anchorCtr="0">
              <a:spAutoFit/>
            </a:bodyPr>
            <a:lstStyle/>
            <a:p>
              <a:pPr algn="l"/>
              <a:r>
                <a:rPr lang="zh-CN" sz="860" dirty="0">
                  <a:solidFill>
                    <a:srgbClr val="333333"/>
                  </a:solidFill>
                  <a:latin typeface="+mn-lt"/>
                  <a:ea typeface="+mn-ea"/>
                  <a:cs typeface="+mn-cs"/>
                </a:rPr>
                <a:t>同期差额</a:t>
              </a:r>
            </a:p>
          </p:txBody>
        </p:sp>
        <p:sp>
          <p:nvSpPr>
            <p:cNvPr id="151" name="TextBox 151"/>
            <p:cNvSpPr txBox="1"/>
            <p:nvPr/>
          </p:nvSpPr>
          <p:spPr>
            <a:xfrm>
              <a:off x="2223825" y="47360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200</a:t>
              </a:r>
            </a:p>
          </p:txBody>
        </p:sp>
        <p:sp>
          <p:nvSpPr>
            <p:cNvPr id="152" name="TextBox 152"/>
            <p:cNvSpPr txBox="1"/>
            <p:nvPr/>
          </p:nvSpPr>
          <p:spPr>
            <a:xfrm>
              <a:off x="3243000" y="47360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343</a:t>
              </a:r>
            </a:p>
          </p:txBody>
        </p:sp>
        <p:sp>
          <p:nvSpPr>
            <p:cNvPr id="153" name="TextBox 153"/>
            <p:cNvSpPr txBox="1"/>
            <p:nvPr/>
          </p:nvSpPr>
          <p:spPr>
            <a:xfrm>
              <a:off x="4271700" y="47360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245</a:t>
              </a:r>
            </a:p>
          </p:txBody>
        </p:sp>
        <p:sp>
          <p:nvSpPr>
            <p:cNvPr id="154" name="TextBox 154"/>
            <p:cNvSpPr txBox="1"/>
            <p:nvPr/>
          </p:nvSpPr>
          <p:spPr>
            <a:xfrm>
              <a:off x="5290875" y="47360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259</a:t>
              </a:r>
            </a:p>
          </p:txBody>
        </p:sp>
        <p:sp>
          <p:nvSpPr>
            <p:cNvPr id="155" name="TextBox 155"/>
            <p:cNvSpPr txBox="1"/>
            <p:nvPr/>
          </p:nvSpPr>
          <p:spPr>
            <a:xfrm>
              <a:off x="6319575" y="47360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300</a:t>
              </a:r>
            </a:p>
          </p:txBody>
        </p:sp>
        <p:sp>
          <p:nvSpPr>
            <p:cNvPr id="156" name="TextBox 156"/>
            <p:cNvSpPr txBox="1"/>
            <p:nvPr/>
          </p:nvSpPr>
          <p:spPr>
            <a:xfrm>
              <a:off x="7338750" y="47360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300</a:t>
              </a:r>
            </a:p>
          </p:txBody>
        </p:sp>
        <p:sp>
          <p:nvSpPr>
            <p:cNvPr id="157" name="TextBox 157"/>
            <p:cNvSpPr txBox="1"/>
            <p:nvPr/>
          </p:nvSpPr>
          <p:spPr>
            <a:xfrm>
              <a:off x="2223825" y="50408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385</a:t>
              </a:r>
            </a:p>
          </p:txBody>
        </p:sp>
        <p:sp>
          <p:nvSpPr>
            <p:cNvPr id="158" name="TextBox 158"/>
            <p:cNvSpPr txBox="1"/>
            <p:nvPr/>
          </p:nvSpPr>
          <p:spPr>
            <a:xfrm>
              <a:off x="3243000" y="50408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456</a:t>
              </a:r>
            </a:p>
          </p:txBody>
        </p:sp>
        <p:sp>
          <p:nvSpPr>
            <p:cNvPr id="159" name="TextBox 159"/>
            <p:cNvSpPr txBox="1"/>
            <p:nvPr/>
          </p:nvSpPr>
          <p:spPr>
            <a:xfrm>
              <a:off x="4271700" y="50408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266</a:t>
              </a:r>
            </a:p>
          </p:txBody>
        </p:sp>
        <p:sp>
          <p:nvSpPr>
            <p:cNvPr id="160" name="TextBox 160"/>
            <p:cNvSpPr txBox="1"/>
            <p:nvPr/>
          </p:nvSpPr>
          <p:spPr>
            <a:xfrm>
              <a:off x="5290875" y="50408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345</a:t>
              </a:r>
            </a:p>
          </p:txBody>
        </p:sp>
        <p:sp>
          <p:nvSpPr>
            <p:cNvPr id="161" name="TextBox 161"/>
            <p:cNvSpPr txBox="1"/>
            <p:nvPr/>
          </p:nvSpPr>
          <p:spPr>
            <a:xfrm>
              <a:off x="6319575" y="50408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366</a:t>
              </a:r>
            </a:p>
          </p:txBody>
        </p:sp>
        <p:sp>
          <p:nvSpPr>
            <p:cNvPr id="162" name="TextBox 162"/>
            <p:cNvSpPr txBox="1"/>
            <p:nvPr/>
          </p:nvSpPr>
          <p:spPr>
            <a:xfrm>
              <a:off x="7338750" y="50408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473</a:t>
              </a:r>
            </a:p>
          </p:txBody>
        </p:sp>
        <p:sp>
          <p:nvSpPr>
            <p:cNvPr id="163" name="TextBox 163"/>
            <p:cNvSpPr txBox="1"/>
            <p:nvPr/>
          </p:nvSpPr>
          <p:spPr>
            <a:xfrm>
              <a:off x="2173463" y="5345668"/>
              <a:ext cx="301273"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192%</a:t>
              </a:r>
            </a:p>
          </p:txBody>
        </p:sp>
        <p:sp>
          <p:nvSpPr>
            <p:cNvPr id="164" name="TextBox 164"/>
            <p:cNvSpPr txBox="1"/>
            <p:nvPr/>
          </p:nvSpPr>
          <p:spPr>
            <a:xfrm>
              <a:off x="3192638" y="5345668"/>
              <a:ext cx="301273"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132%</a:t>
              </a:r>
            </a:p>
          </p:txBody>
        </p:sp>
        <p:sp>
          <p:nvSpPr>
            <p:cNvPr id="165" name="TextBox 165"/>
            <p:cNvSpPr txBox="1"/>
            <p:nvPr/>
          </p:nvSpPr>
          <p:spPr>
            <a:xfrm>
              <a:off x="4221338" y="5345668"/>
              <a:ext cx="301273"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108%</a:t>
              </a:r>
            </a:p>
          </p:txBody>
        </p:sp>
        <p:sp>
          <p:nvSpPr>
            <p:cNvPr id="166" name="TextBox 166"/>
            <p:cNvSpPr txBox="1"/>
            <p:nvPr/>
          </p:nvSpPr>
          <p:spPr>
            <a:xfrm>
              <a:off x="5240513" y="5345668"/>
              <a:ext cx="301273"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133%</a:t>
              </a:r>
            </a:p>
          </p:txBody>
        </p:sp>
        <p:sp>
          <p:nvSpPr>
            <p:cNvPr id="167" name="TextBox 167"/>
            <p:cNvSpPr txBox="1"/>
            <p:nvPr/>
          </p:nvSpPr>
          <p:spPr>
            <a:xfrm>
              <a:off x="6269213" y="5345668"/>
              <a:ext cx="301273"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122%</a:t>
              </a:r>
            </a:p>
          </p:txBody>
        </p:sp>
        <p:sp>
          <p:nvSpPr>
            <p:cNvPr id="168" name="TextBox 168"/>
            <p:cNvSpPr txBox="1"/>
            <p:nvPr/>
          </p:nvSpPr>
          <p:spPr>
            <a:xfrm>
              <a:off x="7288388" y="5345668"/>
              <a:ext cx="301273"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158%</a:t>
              </a:r>
            </a:p>
          </p:txBody>
        </p:sp>
        <p:sp>
          <p:nvSpPr>
            <p:cNvPr id="169" name="TextBox 169"/>
            <p:cNvSpPr txBox="1"/>
            <p:nvPr/>
          </p:nvSpPr>
          <p:spPr>
            <a:xfrm>
              <a:off x="2223825" y="56504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300</a:t>
              </a:r>
            </a:p>
          </p:txBody>
        </p:sp>
        <p:sp>
          <p:nvSpPr>
            <p:cNvPr id="170" name="TextBox 170"/>
            <p:cNvSpPr txBox="1"/>
            <p:nvPr/>
          </p:nvSpPr>
          <p:spPr>
            <a:xfrm>
              <a:off x="3243000" y="56504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312</a:t>
              </a:r>
            </a:p>
          </p:txBody>
        </p:sp>
        <p:sp>
          <p:nvSpPr>
            <p:cNvPr id="171" name="TextBox 171"/>
            <p:cNvSpPr txBox="1"/>
            <p:nvPr/>
          </p:nvSpPr>
          <p:spPr>
            <a:xfrm>
              <a:off x="4271700" y="56504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196</a:t>
              </a:r>
            </a:p>
          </p:txBody>
        </p:sp>
        <p:sp>
          <p:nvSpPr>
            <p:cNvPr id="172" name="TextBox 172"/>
            <p:cNvSpPr txBox="1"/>
            <p:nvPr/>
          </p:nvSpPr>
          <p:spPr>
            <a:xfrm>
              <a:off x="5290875" y="56504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224</a:t>
              </a:r>
            </a:p>
          </p:txBody>
        </p:sp>
        <p:sp>
          <p:nvSpPr>
            <p:cNvPr id="173" name="TextBox 173"/>
            <p:cNvSpPr txBox="1"/>
            <p:nvPr/>
          </p:nvSpPr>
          <p:spPr>
            <a:xfrm>
              <a:off x="6319575" y="56504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159</a:t>
              </a:r>
            </a:p>
          </p:txBody>
        </p:sp>
        <p:sp>
          <p:nvSpPr>
            <p:cNvPr id="174" name="TextBox 174"/>
            <p:cNvSpPr txBox="1"/>
            <p:nvPr/>
          </p:nvSpPr>
          <p:spPr>
            <a:xfrm>
              <a:off x="7338750" y="56504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567</a:t>
              </a:r>
            </a:p>
          </p:txBody>
        </p:sp>
        <p:sp>
          <p:nvSpPr>
            <p:cNvPr id="175" name="TextBox 175"/>
            <p:cNvSpPr txBox="1"/>
            <p:nvPr/>
          </p:nvSpPr>
          <p:spPr>
            <a:xfrm>
              <a:off x="2255662" y="5955268"/>
              <a:ext cx="13687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85</a:t>
              </a:r>
            </a:p>
          </p:txBody>
        </p:sp>
        <p:sp>
          <p:nvSpPr>
            <p:cNvPr id="176" name="TextBox 176"/>
            <p:cNvSpPr txBox="1"/>
            <p:nvPr/>
          </p:nvSpPr>
          <p:spPr>
            <a:xfrm>
              <a:off x="3243000" y="59552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144</a:t>
              </a:r>
            </a:p>
          </p:txBody>
        </p:sp>
        <p:sp>
          <p:nvSpPr>
            <p:cNvPr id="177" name="TextBox 177"/>
            <p:cNvSpPr txBox="1"/>
            <p:nvPr/>
          </p:nvSpPr>
          <p:spPr>
            <a:xfrm>
              <a:off x="4303537" y="5955268"/>
              <a:ext cx="13687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70</a:t>
              </a:r>
            </a:p>
          </p:txBody>
        </p:sp>
        <p:sp>
          <p:nvSpPr>
            <p:cNvPr id="178" name="TextBox 178"/>
            <p:cNvSpPr txBox="1"/>
            <p:nvPr/>
          </p:nvSpPr>
          <p:spPr>
            <a:xfrm>
              <a:off x="5290875" y="59552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121</a:t>
              </a:r>
            </a:p>
          </p:txBody>
        </p:sp>
        <p:sp>
          <p:nvSpPr>
            <p:cNvPr id="179" name="TextBox 179"/>
            <p:cNvSpPr txBox="1"/>
            <p:nvPr/>
          </p:nvSpPr>
          <p:spPr>
            <a:xfrm>
              <a:off x="6319575" y="59552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207</a:t>
              </a:r>
            </a:p>
          </p:txBody>
        </p:sp>
        <p:sp>
          <p:nvSpPr>
            <p:cNvPr id="180" name="TextBox 180"/>
            <p:cNvSpPr txBox="1"/>
            <p:nvPr/>
          </p:nvSpPr>
          <p:spPr>
            <a:xfrm>
              <a:off x="7338750" y="595526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-94</a:t>
              </a:r>
            </a:p>
          </p:txBody>
        </p:sp>
      </p:grpSp>
      <p:grpSp>
        <p:nvGrpSpPr>
          <p:cNvPr id="207" name="m5-compare"/>
          <p:cNvGrpSpPr/>
          <p:nvPr/>
        </p:nvGrpSpPr>
        <p:grpSpPr>
          <a:xfrm>
            <a:off x="8172450" y="3943350"/>
            <a:ext cx="3448050" cy="2590800"/>
            <a:chOff x="8172450" y="3943350"/>
            <a:chExt cx="3448050" cy="2590800"/>
          </a:xfrm>
        </p:grpSpPr>
        <p:sp>
          <p:nvSpPr>
            <p:cNvPr id="182" name="Rectangle 182"/>
            <p:cNvSpPr/>
            <p:nvPr/>
          </p:nvSpPr>
          <p:spPr>
            <a:xfrm>
              <a:off x="8172450" y="3943350"/>
              <a:ext cx="3448050" cy="2590800"/>
            </a:xfrm>
            <a:prstGeom prst="rect">
              <a:avLst/>
            </a:prstGeom>
            <a:solidFill>
              <a:srgbClr val="FFFFFF"/>
            </a:solidFill>
            <a:ln w="11430">
              <a:solidFill>
                <a:srgbClr val="C9DDF5"/>
              </a:solidFill>
            </a:ln>
          </p:spPr>
        </p:sp>
        <p:sp>
          <p:nvSpPr>
            <p:cNvPr id="183" name="Rectangle 183"/>
            <p:cNvSpPr/>
            <p:nvPr/>
          </p:nvSpPr>
          <p:spPr>
            <a:xfrm>
              <a:off x="8267700" y="4038600"/>
              <a:ext cx="2190750" cy="266700"/>
            </a:xfrm>
            <a:prstGeom prst="rect">
              <a:avLst/>
            </a:prstGeom>
            <a:gradFill>
              <a:gsLst>
                <a:gs pos="0">
                  <a:srgbClr val="FF5B3A"/>
                </a:gs>
                <a:gs pos="100000">
                  <a:srgbClr val="E94B2B"/>
                </a:gs>
              </a:gsLst>
              <a:lin ang="0" scaled="1"/>
            </a:gradFill>
            <a:ln>
              <a:noFill/>
            </a:ln>
          </p:spPr>
        </p:sp>
        <p:sp>
          <p:nvSpPr>
            <p:cNvPr id="184" name="Polygon 184"/>
            <p:cNvSpPr/>
            <p:nvPr/>
          </p:nvSpPr>
          <p:spPr>
            <a:xfrm>
              <a:off x="10363200" y="4038600"/>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185" name="TextBox 185"/>
            <p:cNvSpPr txBox="1"/>
            <p:nvPr/>
          </p:nvSpPr>
          <p:spPr>
            <a:xfrm>
              <a:off x="8376285" y="4107656"/>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同期对比分析</a:t>
              </a:r>
            </a:p>
          </p:txBody>
        </p:sp>
        <p:sp>
          <p:nvSpPr>
            <p:cNvPr id="186" name="Rectangle 186"/>
            <p:cNvSpPr/>
            <p:nvPr/>
          </p:nvSpPr>
          <p:spPr>
            <a:xfrm>
              <a:off x="8572500" y="4438650"/>
              <a:ext cx="104775" cy="104775"/>
            </a:xfrm>
            <a:prstGeom prst="rect">
              <a:avLst/>
            </a:prstGeom>
            <a:solidFill>
              <a:srgbClr val="E94B2B"/>
            </a:solidFill>
            <a:ln>
              <a:noFill/>
            </a:ln>
          </p:spPr>
        </p:sp>
        <p:sp>
          <p:nvSpPr>
            <p:cNvPr id="187" name="TextBox 187"/>
            <p:cNvSpPr txBox="1"/>
            <p:nvPr/>
          </p:nvSpPr>
          <p:spPr>
            <a:xfrm>
              <a:off x="8720138" y="444888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今年完成</a:t>
              </a:r>
            </a:p>
          </p:txBody>
        </p:sp>
        <p:sp>
          <p:nvSpPr>
            <p:cNvPr id="188" name="Rectangle 188"/>
            <p:cNvSpPr/>
            <p:nvPr/>
          </p:nvSpPr>
          <p:spPr>
            <a:xfrm>
              <a:off x="9372600" y="4438650"/>
              <a:ext cx="104775" cy="104775"/>
            </a:xfrm>
            <a:prstGeom prst="rect">
              <a:avLst/>
            </a:prstGeom>
            <a:solidFill>
              <a:srgbClr val="F8B6A9"/>
            </a:solidFill>
            <a:ln>
              <a:noFill/>
            </a:ln>
          </p:spPr>
        </p:sp>
        <p:sp>
          <p:nvSpPr>
            <p:cNvPr id="189" name="TextBox 189"/>
            <p:cNvSpPr txBox="1"/>
            <p:nvPr/>
          </p:nvSpPr>
          <p:spPr>
            <a:xfrm>
              <a:off x="9520238" y="444888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去年完成</a:t>
              </a:r>
            </a:p>
          </p:txBody>
        </p:sp>
        <p:sp>
          <p:nvSpPr>
            <p:cNvPr id="190" name="Line 190"/>
            <p:cNvSpPr/>
            <p:nvPr/>
          </p:nvSpPr>
          <p:spPr>
            <a:xfrm>
              <a:off x="10191750" y="4486275"/>
              <a:ext cx="228600" cy="9525"/>
            </a:xfrm>
            <a:custGeom>
              <a:avLst/>
              <a:gdLst/>
              <a:ahLst/>
              <a:cxnLst/>
              <a:rect l="l" t="t" r="r" b="b"/>
              <a:pathLst>
                <a:path w="228600" h="9525">
                  <a:moveTo>
                    <a:pt x="0" y="0"/>
                  </a:moveTo>
                  <a:lnTo>
                    <a:pt x="228600" y="0"/>
                  </a:lnTo>
                </a:path>
              </a:pathLst>
            </a:custGeom>
            <a:noFill/>
            <a:ln w="19050">
              <a:solidFill>
                <a:srgbClr val="F2563B"/>
              </a:solidFill>
            </a:ln>
          </p:spPr>
        </p:sp>
        <p:sp>
          <p:nvSpPr>
            <p:cNvPr id="191" name="TextBox 191"/>
            <p:cNvSpPr txBox="1"/>
            <p:nvPr/>
          </p:nvSpPr>
          <p:spPr>
            <a:xfrm>
              <a:off x="10472738" y="444888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同期差额</a:t>
              </a:r>
            </a:p>
          </p:txBody>
        </p:sp>
        <p:sp>
          <p:nvSpPr>
            <p:cNvPr id="192" name="Line 192"/>
            <p:cNvSpPr/>
            <p:nvPr/>
          </p:nvSpPr>
          <p:spPr>
            <a:xfrm>
              <a:off x="8620125" y="4543425"/>
              <a:ext cx="2714625" cy="9525"/>
            </a:xfrm>
            <a:custGeom>
              <a:avLst/>
              <a:gdLst/>
              <a:ahLst/>
              <a:cxnLst/>
              <a:rect l="l" t="t" r="r" b="b"/>
              <a:pathLst>
                <a:path w="2714625" h="9525">
                  <a:moveTo>
                    <a:pt x="0" y="0"/>
                  </a:moveTo>
                  <a:lnTo>
                    <a:pt x="2714625" y="0"/>
                  </a:lnTo>
                </a:path>
              </a:pathLst>
            </a:custGeom>
            <a:noFill/>
            <a:ln w="9525">
              <a:solidFill>
                <a:srgbClr val="EAF2FC"/>
              </a:solidFill>
            </a:ln>
          </p:spPr>
        </p:sp>
        <p:sp>
          <p:nvSpPr>
            <p:cNvPr id="193" name="Line 193"/>
            <p:cNvSpPr/>
            <p:nvPr/>
          </p:nvSpPr>
          <p:spPr>
            <a:xfrm>
              <a:off x="8620125" y="5343525"/>
              <a:ext cx="2714625" cy="9525"/>
            </a:xfrm>
            <a:custGeom>
              <a:avLst/>
              <a:gdLst/>
              <a:ahLst/>
              <a:cxnLst/>
              <a:rect l="l" t="t" r="r" b="b"/>
              <a:pathLst>
                <a:path w="2714625" h="9525">
                  <a:moveTo>
                    <a:pt x="0" y="0"/>
                  </a:moveTo>
                  <a:lnTo>
                    <a:pt x="2714625" y="0"/>
                  </a:lnTo>
                </a:path>
              </a:pathLst>
            </a:custGeom>
            <a:noFill/>
            <a:ln w="9525">
              <a:solidFill>
                <a:srgbClr val="EAF2FC"/>
              </a:solidFill>
            </a:ln>
          </p:spPr>
        </p:sp>
        <p:sp>
          <p:nvSpPr>
            <p:cNvPr id="194" name="TextBox 194"/>
            <p:cNvSpPr txBox="1"/>
            <p:nvPr/>
          </p:nvSpPr>
          <p:spPr>
            <a:xfrm>
              <a:off x="8488815" y="6108859"/>
              <a:ext cx="59873"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0</a:t>
              </a:r>
            </a:p>
          </p:txBody>
        </p:sp>
        <p:sp>
          <p:nvSpPr>
            <p:cNvPr id="195" name="TextBox 195"/>
            <p:cNvSpPr txBox="1"/>
            <p:nvPr/>
          </p:nvSpPr>
          <p:spPr>
            <a:xfrm>
              <a:off x="8388119" y="5308759"/>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300</a:t>
              </a:r>
            </a:p>
          </p:txBody>
        </p:sp>
        <p:sp>
          <p:nvSpPr>
            <p:cNvPr id="196" name="TextBox 196"/>
            <p:cNvSpPr txBox="1"/>
            <p:nvPr/>
          </p:nvSpPr>
          <p:spPr>
            <a:xfrm>
              <a:off x="8388119" y="4508659"/>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600</a:t>
              </a:r>
            </a:p>
          </p:txBody>
        </p:sp>
        <p:sp>
          <p:nvSpPr>
            <p:cNvPr id="197" name="Polygon 197"/>
            <p:cNvSpPr/>
            <p:nvPr/>
          </p:nvSpPr>
          <p:spPr>
            <a:xfrm>
              <a:off x="8620125" y="4648200"/>
              <a:ext cx="2667000" cy="1495425"/>
            </a:xfrm>
            <a:custGeom>
              <a:avLst/>
              <a:gdLst/>
              <a:ahLst/>
              <a:cxnLst/>
              <a:rect l="l" t="t" r="r" b="b"/>
              <a:pathLst>
                <a:path w="2667000" h="1495425">
                  <a:moveTo>
                    <a:pt x="0" y="1495425"/>
                  </a:moveTo>
                  <a:lnTo>
                    <a:pt x="0" y="695325"/>
                  </a:lnTo>
                  <a:lnTo>
                    <a:pt x="533400" y="661035"/>
                  </a:lnTo>
                  <a:lnTo>
                    <a:pt x="1066800" y="979170"/>
                  </a:lnTo>
                  <a:lnTo>
                    <a:pt x="1600200" y="898207"/>
                  </a:lnTo>
                  <a:lnTo>
                    <a:pt x="2133600" y="1075372"/>
                  </a:lnTo>
                  <a:lnTo>
                    <a:pt x="2667000" y="0"/>
                  </a:lnTo>
                  <a:lnTo>
                    <a:pt x="2667000" y="1495425"/>
                  </a:lnTo>
                  <a:close/>
                </a:path>
              </a:pathLst>
            </a:custGeom>
            <a:solidFill>
              <a:srgbClr val="F8B6A9">
                <a:alpha val="90000"/>
              </a:srgbClr>
            </a:solidFill>
            <a:ln>
              <a:noFill/>
            </a:ln>
          </p:spPr>
        </p:sp>
        <p:sp>
          <p:nvSpPr>
            <p:cNvPr id="198" name="Polygon 198"/>
            <p:cNvSpPr/>
            <p:nvPr/>
          </p:nvSpPr>
          <p:spPr>
            <a:xfrm>
              <a:off x="8620125" y="4898708"/>
              <a:ext cx="2667000" cy="1244918"/>
            </a:xfrm>
            <a:custGeom>
              <a:avLst/>
              <a:gdLst/>
              <a:ahLst/>
              <a:cxnLst/>
              <a:rect l="l" t="t" r="r" b="b"/>
              <a:pathLst>
                <a:path w="2667000" h="1244918">
                  <a:moveTo>
                    <a:pt x="0" y="1244918"/>
                  </a:moveTo>
                  <a:lnTo>
                    <a:pt x="0" y="230505"/>
                  </a:lnTo>
                  <a:lnTo>
                    <a:pt x="533400" y="41910"/>
                  </a:lnTo>
                  <a:lnTo>
                    <a:pt x="1066800" y="541973"/>
                  </a:lnTo>
                  <a:lnTo>
                    <a:pt x="1600200" y="330518"/>
                  </a:lnTo>
                  <a:lnTo>
                    <a:pt x="2133600" y="199073"/>
                  </a:lnTo>
                  <a:lnTo>
                    <a:pt x="2667000" y="0"/>
                  </a:lnTo>
                  <a:lnTo>
                    <a:pt x="2667000" y="1244918"/>
                  </a:lnTo>
                  <a:close/>
                </a:path>
              </a:pathLst>
            </a:custGeom>
            <a:solidFill>
              <a:srgbClr val="E94B2B">
                <a:alpha val="92000"/>
              </a:srgbClr>
            </a:solidFill>
            <a:ln>
              <a:noFill/>
            </a:ln>
          </p:spPr>
        </p:sp>
        <p:sp>
          <p:nvSpPr>
            <p:cNvPr id="199" name="Polyline 199"/>
            <p:cNvSpPr/>
            <p:nvPr/>
          </p:nvSpPr>
          <p:spPr>
            <a:xfrm>
              <a:off x="8620125" y="5552122"/>
              <a:ext cx="2667000" cy="591503"/>
            </a:xfrm>
            <a:custGeom>
              <a:avLst/>
              <a:gdLst/>
              <a:ahLst/>
              <a:cxnLst/>
              <a:rect l="l" t="t" r="r" b="b"/>
              <a:pathLst>
                <a:path w="2667000" h="591503">
                  <a:moveTo>
                    <a:pt x="0" y="348615"/>
                  </a:moveTo>
                  <a:lnTo>
                    <a:pt x="533400" y="180022"/>
                  </a:lnTo>
                  <a:lnTo>
                    <a:pt x="1066800" y="391478"/>
                  </a:lnTo>
                  <a:lnTo>
                    <a:pt x="1600200" y="245745"/>
                  </a:lnTo>
                  <a:lnTo>
                    <a:pt x="2133600" y="0"/>
                  </a:lnTo>
                  <a:lnTo>
                    <a:pt x="2667000" y="591503"/>
                  </a:lnTo>
                </a:path>
              </a:pathLst>
            </a:custGeom>
            <a:noFill/>
            <a:ln w="19050">
              <a:solidFill>
                <a:srgbClr val="F2563B"/>
              </a:solidFill>
            </a:ln>
          </p:spPr>
        </p:sp>
        <p:sp>
          <p:nvSpPr>
            <p:cNvPr id="200" name="Line 200"/>
            <p:cNvSpPr/>
            <p:nvPr/>
          </p:nvSpPr>
          <p:spPr>
            <a:xfrm>
              <a:off x="8620125" y="6143625"/>
              <a:ext cx="2714625" cy="9525"/>
            </a:xfrm>
            <a:custGeom>
              <a:avLst/>
              <a:gdLst/>
              <a:ahLst/>
              <a:cxnLst/>
              <a:rect l="l" t="t" r="r" b="b"/>
              <a:pathLst>
                <a:path w="2714625" h="9525">
                  <a:moveTo>
                    <a:pt x="0" y="0"/>
                  </a:moveTo>
                  <a:lnTo>
                    <a:pt x="2714625" y="0"/>
                  </a:lnTo>
                </a:path>
              </a:pathLst>
            </a:custGeom>
            <a:noFill/>
            <a:ln w="11430">
              <a:solidFill>
                <a:srgbClr val="E6C1B9"/>
              </a:solidFill>
            </a:ln>
          </p:spPr>
        </p:sp>
        <p:sp>
          <p:nvSpPr>
            <p:cNvPr id="201" name="TextBox 201"/>
            <p:cNvSpPr txBox="1"/>
            <p:nvPr/>
          </p:nvSpPr>
          <p:spPr>
            <a:xfrm>
              <a:off x="8541288"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1月</a:t>
              </a:r>
            </a:p>
          </p:txBody>
        </p:sp>
        <p:sp>
          <p:nvSpPr>
            <p:cNvPr id="202" name="TextBox 202"/>
            <p:cNvSpPr txBox="1"/>
            <p:nvPr/>
          </p:nvSpPr>
          <p:spPr>
            <a:xfrm>
              <a:off x="9074688"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2月</a:t>
              </a:r>
            </a:p>
          </p:txBody>
        </p:sp>
        <p:sp>
          <p:nvSpPr>
            <p:cNvPr id="203" name="TextBox 203"/>
            <p:cNvSpPr txBox="1"/>
            <p:nvPr/>
          </p:nvSpPr>
          <p:spPr>
            <a:xfrm>
              <a:off x="9608088"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3月</a:t>
              </a:r>
            </a:p>
          </p:txBody>
        </p:sp>
        <p:sp>
          <p:nvSpPr>
            <p:cNvPr id="204" name="TextBox 204"/>
            <p:cNvSpPr txBox="1"/>
            <p:nvPr/>
          </p:nvSpPr>
          <p:spPr>
            <a:xfrm>
              <a:off x="10141488"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4月</a:t>
              </a:r>
            </a:p>
          </p:txBody>
        </p:sp>
        <p:sp>
          <p:nvSpPr>
            <p:cNvPr id="205" name="TextBox 205"/>
            <p:cNvSpPr txBox="1"/>
            <p:nvPr/>
          </p:nvSpPr>
          <p:spPr>
            <a:xfrm>
              <a:off x="10674888"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5月</a:t>
              </a:r>
            </a:p>
          </p:txBody>
        </p:sp>
        <p:sp>
          <p:nvSpPr>
            <p:cNvPr id="206" name="TextBox 206"/>
            <p:cNvSpPr txBox="1"/>
            <p:nvPr/>
          </p:nvSpPr>
          <p:spPr>
            <a:xfrm>
              <a:off x="11208288"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6月</a:t>
              </a:r>
            </a:p>
          </p:txBody>
        </p:sp>
      </p:gr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23</a:t>
              </a:r>
            </a:p>
          </p:txBody>
        </p:sp>
        <p:sp>
          <p:nvSpPr>
            <p:cNvPr id="4" name="TextBox 4"/>
            <p:cNvSpPr txBox="1"/>
            <p:nvPr/>
          </p:nvSpPr>
          <p:spPr>
            <a:xfrm>
              <a:off x="904494" y="180023"/>
              <a:ext cx="168402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季度财务分析</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41" name="m1-quarter-table"/>
          <p:cNvGrpSpPr/>
          <p:nvPr/>
        </p:nvGrpSpPr>
        <p:grpSpPr>
          <a:xfrm>
            <a:off x="571500" y="781050"/>
            <a:ext cx="3524250" cy="2895600"/>
            <a:chOff x="571500" y="781050"/>
            <a:chExt cx="3524250" cy="2895600"/>
          </a:xfrm>
        </p:grpSpPr>
        <p:sp>
          <p:nvSpPr>
            <p:cNvPr id="7" name="Rectangle 7"/>
            <p:cNvSpPr/>
            <p:nvPr/>
          </p:nvSpPr>
          <p:spPr>
            <a:xfrm>
              <a:off x="571500" y="781050"/>
              <a:ext cx="3524250" cy="2895600"/>
            </a:xfrm>
            <a:prstGeom prst="rect">
              <a:avLst/>
            </a:prstGeom>
            <a:solidFill>
              <a:srgbClr val="FFFFFF"/>
            </a:solidFill>
            <a:ln w="11430">
              <a:solidFill>
                <a:srgbClr val="C9DDF5"/>
              </a:solidFill>
            </a:ln>
          </p:spPr>
        </p:sp>
        <p:sp>
          <p:nvSpPr>
            <p:cNvPr id="8" name="Rectangle 8"/>
            <p:cNvSpPr/>
            <p:nvPr/>
          </p:nvSpPr>
          <p:spPr>
            <a:xfrm>
              <a:off x="666750" y="876300"/>
              <a:ext cx="2286000" cy="266700"/>
            </a:xfrm>
            <a:prstGeom prst="rect">
              <a:avLst/>
            </a:prstGeom>
            <a:gradFill>
              <a:gsLst>
                <a:gs pos="0">
                  <a:srgbClr val="FF5B3A"/>
                </a:gs>
                <a:gs pos="100000">
                  <a:srgbClr val="E94B2B"/>
                </a:gs>
              </a:gsLst>
              <a:lin ang="0" scaled="1"/>
            </a:gradFill>
            <a:ln>
              <a:noFill/>
            </a:ln>
          </p:spPr>
        </p:sp>
        <p:sp>
          <p:nvSpPr>
            <p:cNvPr id="9" name="Polygon 9"/>
            <p:cNvSpPr/>
            <p:nvPr/>
          </p:nvSpPr>
          <p:spPr>
            <a:xfrm>
              <a:off x="2857500" y="876300"/>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10" name="TextBox 10"/>
            <p:cNvSpPr txBox="1"/>
            <p:nvPr/>
          </p:nvSpPr>
          <p:spPr>
            <a:xfrm>
              <a:off x="775335" y="945356"/>
              <a:ext cx="1066851"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季度数据分析表</a:t>
              </a:r>
            </a:p>
          </p:txBody>
        </p:sp>
        <p:sp>
          <p:nvSpPr>
            <p:cNvPr id="11" name="Rectangle 11"/>
            <p:cNvSpPr/>
            <p:nvPr/>
          </p:nvSpPr>
          <p:spPr>
            <a:xfrm>
              <a:off x="723900" y="1295400"/>
              <a:ext cx="895350" cy="1981200"/>
            </a:xfrm>
            <a:prstGeom prst="rect">
              <a:avLst/>
            </a:prstGeom>
            <a:solidFill>
              <a:srgbClr val="EFF5FD"/>
            </a:solidFill>
            <a:ln>
              <a:noFill/>
            </a:ln>
          </p:spPr>
        </p:sp>
        <p:sp>
          <p:nvSpPr>
            <p:cNvPr id="12" name="Rectangle 12"/>
            <p:cNvSpPr/>
            <p:nvPr/>
          </p:nvSpPr>
          <p:spPr>
            <a:xfrm>
              <a:off x="723900" y="1295400"/>
              <a:ext cx="3219450" cy="304800"/>
            </a:xfrm>
            <a:prstGeom prst="rect">
              <a:avLst/>
            </a:prstGeom>
            <a:solidFill>
              <a:srgbClr val="EAF3FD"/>
            </a:solidFill>
            <a:ln>
              <a:noFill/>
            </a:ln>
          </p:spPr>
        </p:sp>
        <p:sp>
          <p:nvSpPr>
            <p:cNvPr id="13" name="TextBox 13"/>
            <p:cNvSpPr txBox="1"/>
            <p:nvPr/>
          </p:nvSpPr>
          <p:spPr>
            <a:xfrm>
              <a:off x="993153" y="1402318"/>
              <a:ext cx="356845"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三季度</a:t>
              </a:r>
            </a:p>
          </p:txBody>
        </p:sp>
        <p:sp>
          <p:nvSpPr>
            <p:cNvPr id="14" name="TextBox 14"/>
            <p:cNvSpPr txBox="1"/>
            <p:nvPr/>
          </p:nvSpPr>
          <p:spPr>
            <a:xfrm>
              <a:off x="1763941" y="1402318"/>
              <a:ext cx="472618"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公司盈利</a:t>
              </a:r>
            </a:p>
          </p:txBody>
        </p:sp>
        <p:sp>
          <p:nvSpPr>
            <p:cNvPr id="15" name="TextBox 15"/>
            <p:cNvSpPr txBox="1"/>
            <p:nvPr/>
          </p:nvSpPr>
          <p:spPr>
            <a:xfrm>
              <a:off x="2554516" y="1402318"/>
              <a:ext cx="472618"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公司收入</a:t>
              </a:r>
            </a:p>
          </p:txBody>
        </p:sp>
        <p:sp>
          <p:nvSpPr>
            <p:cNvPr id="16" name="TextBox 16"/>
            <p:cNvSpPr txBox="1"/>
            <p:nvPr/>
          </p:nvSpPr>
          <p:spPr>
            <a:xfrm>
              <a:off x="3326041" y="1402318"/>
              <a:ext cx="472618"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公司支出</a:t>
              </a:r>
            </a:p>
          </p:txBody>
        </p:sp>
        <p:sp>
          <p:nvSpPr>
            <p:cNvPr id="17" name="Line 17"/>
            <p:cNvSpPr/>
            <p:nvPr/>
          </p:nvSpPr>
          <p:spPr>
            <a:xfrm>
              <a:off x="723900" y="1600200"/>
              <a:ext cx="3219450" cy="9525"/>
            </a:xfrm>
            <a:custGeom>
              <a:avLst/>
              <a:gdLst/>
              <a:ahLst/>
              <a:cxnLst/>
              <a:rect l="l" t="t" r="r" b="b"/>
              <a:pathLst>
                <a:path w="3219450" h="9525">
                  <a:moveTo>
                    <a:pt x="0" y="0"/>
                  </a:moveTo>
                  <a:lnTo>
                    <a:pt x="3219450" y="0"/>
                  </a:lnTo>
                </a:path>
              </a:pathLst>
            </a:custGeom>
            <a:noFill/>
            <a:ln w="11430">
              <a:solidFill>
                <a:srgbClr val="E94B2B"/>
              </a:solidFill>
            </a:ln>
          </p:spPr>
        </p:sp>
        <p:sp>
          <p:nvSpPr>
            <p:cNvPr id="18" name="TextBox 18"/>
            <p:cNvSpPr txBox="1"/>
            <p:nvPr/>
          </p:nvSpPr>
          <p:spPr>
            <a:xfrm>
              <a:off x="1077088" y="1764268"/>
              <a:ext cx="188973"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7月</a:t>
              </a:r>
            </a:p>
          </p:txBody>
        </p:sp>
        <p:sp>
          <p:nvSpPr>
            <p:cNvPr id="19" name="TextBox 19"/>
            <p:cNvSpPr txBox="1"/>
            <p:nvPr/>
          </p:nvSpPr>
          <p:spPr>
            <a:xfrm>
              <a:off x="1804462" y="176426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701183</a:t>
              </a:r>
            </a:p>
          </p:txBody>
        </p:sp>
        <p:sp>
          <p:nvSpPr>
            <p:cNvPr id="20" name="TextBox 20"/>
            <p:cNvSpPr txBox="1"/>
            <p:nvPr/>
          </p:nvSpPr>
          <p:spPr>
            <a:xfrm>
              <a:off x="2595037" y="176426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946867</a:t>
              </a:r>
            </a:p>
          </p:txBody>
        </p:sp>
        <p:sp>
          <p:nvSpPr>
            <p:cNvPr id="21" name="TextBox 21"/>
            <p:cNvSpPr txBox="1"/>
            <p:nvPr/>
          </p:nvSpPr>
          <p:spPr>
            <a:xfrm>
              <a:off x="3366562" y="176426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245684</a:t>
              </a:r>
            </a:p>
          </p:txBody>
        </p:sp>
        <p:sp>
          <p:nvSpPr>
            <p:cNvPr id="22" name="TextBox 22"/>
            <p:cNvSpPr txBox="1"/>
            <p:nvPr/>
          </p:nvSpPr>
          <p:spPr>
            <a:xfrm>
              <a:off x="1077088" y="2183368"/>
              <a:ext cx="188973"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8月</a:t>
              </a:r>
            </a:p>
          </p:txBody>
        </p:sp>
        <p:sp>
          <p:nvSpPr>
            <p:cNvPr id="23" name="TextBox 23"/>
            <p:cNvSpPr txBox="1"/>
            <p:nvPr/>
          </p:nvSpPr>
          <p:spPr>
            <a:xfrm>
              <a:off x="1804462" y="218336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753921</a:t>
              </a:r>
            </a:p>
          </p:txBody>
        </p:sp>
        <p:sp>
          <p:nvSpPr>
            <p:cNvPr id="24" name="TextBox 24"/>
            <p:cNvSpPr txBox="1"/>
            <p:nvPr/>
          </p:nvSpPr>
          <p:spPr>
            <a:xfrm>
              <a:off x="2595037" y="218336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856485</a:t>
              </a:r>
            </a:p>
          </p:txBody>
        </p:sp>
        <p:sp>
          <p:nvSpPr>
            <p:cNvPr id="25" name="TextBox 25"/>
            <p:cNvSpPr txBox="1"/>
            <p:nvPr/>
          </p:nvSpPr>
          <p:spPr>
            <a:xfrm>
              <a:off x="3366562" y="218336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102564</a:t>
              </a:r>
            </a:p>
          </p:txBody>
        </p:sp>
        <p:sp>
          <p:nvSpPr>
            <p:cNvPr id="26" name="TextBox 26"/>
            <p:cNvSpPr txBox="1"/>
            <p:nvPr/>
          </p:nvSpPr>
          <p:spPr>
            <a:xfrm>
              <a:off x="1077088" y="2602468"/>
              <a:ext cx="188973"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9月</a:t>
              </a:r>
            </a:p>
          </p:txBody>
        </p:sp>
        <p:sp>
          <p:nvSpPr>
            <p:cNvPr id="27" name="TextBox 27"/>
            <p:cNvSpPr txBox="1"/>
            <p:nvPr/>
          </p:nvSpPr>
          <p:spPr>
            <a:xfrm>
              <a:off x="1804462" y="260246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212970</a:t>
              </a:r>
            </a:p>
          </p:txBody>
        </p:sp>
        <p:sp>
          <p:nvSpPr>
            <p:cNvPr id="28" name="TextBox 28"/>
            <p:cNvSpPr txBox="1"/>
            <p:nvPr/>
          </p:nvSpPr>
          <p:spPr>
            <a:xfrm>
              <a:off x="2595037" y="260246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453654</a:t>
              </a:r>
            </a:p>
          </p:txBody>
        </p:sp>
        <p:sp>
          <p:nvSpPr>
            <p:cNvPr id="29" name="TextBox 29"/>
            <p:cNvSpPr txBox="1"/>
            <p:nvPr/>
          </p:nvSpPr>
          <p:spPr>
            <a:xfrm>
              <a:off x="3366562" y="260246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245684</a:t>
              </a:r>
            </a:p>
          </p:txBody>
        </p:sp>
        <p:sp>
          <p:nvSpPr>
            <p:cNvPr id="30" name="TextBox 30"/>
            <p:cNvSpPr txBox="1"/>
            <p:nvPr/>
          </p:nvSpPr>
          <p:spPr>
            <a:xfrm>
              <a:off x="1051039" y="3021568"/>
              <a:ext cx="241071" cy="169069"/>
            </a:xfrm>
            <a:prstGeom prst="rect">
              <a:avLst/>
            </a:prstGeom>
            <a:noFill/>
            <a:ln>
              <a:noFill/>
            </a:ln>
          </p:spPr>
          <p:txBody>
            <a:bodyPr wrap="none" lIns="0" tIns="0" rIns="0" bIns="0" anchor="t" anchorCtr="0">
              <a:spAutoFit/>
            </a:bodyPr>
            <a:lstStyle/>
            <a:p>
              <a:pPr algn="ctr"/>
              <a:r>
                <a:rPr lang="zh-CN" sz="860" b="1" dirty="0">
                  <a:solidFill>
                    <a:srgbClr val="C83B1E"/>
                  </a:solidFill>
                  <a:latin typeface="+mn-lt"/>
                  <a:ea typeface="+mn-ea"/>
                  <a:cs typeface="+mn-cs"/>
                </a:rPr>
                <a:t>合计</a:t>
              </a:r>
            </a:p>
          </p:txBody>
        </p:sp>
        <p:sp>
          <p:nvSpPr>
            <p:cNvPr id="31" name="TextBox 31"/>
            <p:cNvSpPr txBox="1"/>
            <p:nvPr/>
          </p:nvSpPr>
          <p:spPr>
            <a:xfrm>
              <a:off x="1794910" y="3021568"/>
              <a:ext cx="410679" cy="169069"/>
            </a:xfrm>
            <a:prstGeom prst="rect">
              <a:avLst/>
            </a:prstGeom>
            <a:noFill/>
            <a:ln>
              <a:noFill/>
            </a:ln>
          </p:spPr>
          <p:txBody>
            <a:bodyPr wrap="none" lIns="0" tIns="0" rIns="0" bIns="0" anchor="t" anchorCtr="0">
              <a:spAutoFit/>
            </a:bodyPr>
            <a:lstStyle/>
            <a:p>
              <a:pPr algn="ctr"/>
              <a:r>
                <a:rPr lang="zh-CN" sz="860" b="1" dirty="0">
                  <a:solidFill>
                    <a:srgbClr val="C83B1E"/>
                  </a:solidFill>
                  <a:latin typeface="+mn-lt"/>
                  <a:ea typeface="+mn-ea"/>
                  <a:cs typeface="+mn-cs"/>
                </a:rPr>
                <a:t>292351</a:t>
              </a:r>
            </a:p>
          </p:txBody>
        </p:sp>
        <p:sp>
          <p:nvSpPr>
            <p:cNvPr id="32" name="TextBox 32"/>
            <p:cNvSpPr txBox="1"/>
            <p:nvPr/>
          </p:nvSpPr>
          <p:spPr>
            <a:xfrm>
              <a:off x="2585485" y="3021568"/>
              <a:ext cx="410679" cy="169069"/>
            </a:xfrm>
            <a:prstGeom prst="rect">
              <a:avLst/>
            </a:prstGeom>
            <a:noFill/>
            <a:ln>
              <a:noFill/>
            </a:ln>
          </p:spPr>
          <p:txBody>
            <a:bodyPr wrap="none" lIns="0" tIns="0" rIns="0" bIns="0" anchor="t" anchorCtr="0">
              <a:spAutoFit/>
            </a:bodyPr>
            <a:lstStyle/>
            <a:p>
              <a:pPr algn="ctr"/>
              <a:r>
                <a:rPr lang="zh-CN" sz="860" b="1" dirty="0">
                  <a:solidFill>
                    <a:srgbClr val="C83B1E"/>
                  </a:solidFill>
                  <a:latin typeface="+mn-lt"/>
                  <a:ea typeface="+mn-ea"/>
                  <a:cs typeface="+mn-cs"/>
                </a:rPr>
                <a:t>648568</a:t>
              </a:r>
            </a:p>
          </p:txBody>
        </p:sp>
        <p:sp>
          <p:nvSpPr>
            <p:cNvPr id="33" name="TextBox 33"/>
            <p:cNvSpPr txBox="1"/>
            <p:nvPr/>
          </p:nvSpPr>
          <p:spPr>
            <a:xfrm>
              <a:off x="3357010" y="3021568"/>
              <a:ext cx="410679" cy="169069"/>
            </a:xfrm>
            <a:prstGeom prst="rect">
              <a:avLst/>
            </a:prstGeom>
            <a:noFill/>
            <a:ln>
              <a:noFill/>
            </a:ln>
          </p:spPr>
          <p:txBody>
            <a:bodyPr wrap="none" lIns="0" tIns="0" rIns="0" bIns="0" anchor="t" anchorCtr="0">
              <a:spAutoFit/>
            </a:bodyPr>
            <a:lstStyle/>
            <a:p>
              <a:pPr algn="ctr"/>
              <a:r>
                <a:rPr lang="zh-CN" sz="860" b="1" dirty="0">
                  <a:solidFill>
                    <a:srgbClr val="C83B1E"/>
                  </a:solidFill>
                  <a:latin typeface="+mn-lt"/>
                  <a:ea typeface="+mn-ea"/>
                  <a:cs typeface="+mn-cs"/>
                </a:rPr>
                <a:t>356213</a:t>
              </a:r>
            </a:p>
          </p:txBody>
        </p:sp>
        <p:sp>
          <p:nvSpPr>
            <p:cNvPr id="34" name="Line 34"/>
            <p:cNvSpPr/>
            <p:nvPr/>
          </p:nvSpPr>
          <p:spPr>
            <a:xfrm>
              <a:off x="723900" y="2019300"/>
              <a:ext cx="3219450" cy="9525"/>
            </a:xfrm>
            <a:custGeom>
              <a:avLst/>
              <a:gdLst/>
              <a:ahLst/>
              <a:cxnLst/>
              <a:rect l="l" t="t" r="r" b="b"/>
              <a:pathLst>
                <a:path w="3219450" h="9525">
                  <a:moveTo>
                    <a:pt x="0" y="0"/>
                  </a:moveTo>
                  <a:lnTo>
                    <a:pt x="3219450" y="0"/>
                  </a:lnTo>
                </a:path>
              </a:pathLst>
            </a:custGeom>
            <a:noFill/>
            <a:ln w="9525">
              <a:solidFill>
                <a:srgbClr val="D8E6F8"/>
              </a:solidFill>
            </a:ln>
          </p:spPr>
        </p:sp>
        <p:sp>
          <p:nvSpPr>
            <p:cNvPr id="35" name="Line 35"/>
            <p:cNvSpPr/>
            <p:nvPr/>
          </p:nvSpPr>
          <p:spPr>
            <a:xfrm>
              <a:off x="723900" y="2438400"/>
              <a:ext cx="3219450" cy="9525"/>
            </a:xfrm>
            <a:custGeom>
              <a:avLst/>
              <a:gdLst/>
              <a:ahLst/>
              <a:cxnLst/>
              <a:rect l="l" t="t" r="r" b="b"/>
              <a:pathLst>
                <a:path w="3219450" h="9525">
                  <a:moveTo>
                    <a:pt x="0" y="0"/>
                  </a:moveTo>
                  <a:lnTo>
                    <a:pt x="3219450" y="0"/>
                  </a:lnTo>
                </a:path>
              </a:pathLst>
            </a:custGeom>
            <a:noFill/>
            <a:ln w="9525">
              <a:solidFill>
                <a:srgbClr val="D8E6F8"/>
              </a:solidFill>
            </a:ln>
          </p:spPr>
        </p:sp>
        <p:sp>
          <p:nvSpPr>
            <p:cNvPr id="36" name="Line 36"/>
            <p:cNvSpPr/>
            <p:nvPr/>
          </p:nvSpPr>
          <p:spPr>
            <a:xfrm>
              <a:off x="723900" y="2857500"/>
              <a:ext cx="3219450" cy="9525"/>
            </a:xfrm>
            <a:custGeom>
              <a:avLst/>
              <a:gdLst/>
              <a:ahLst/>
              <a:cxnLst/>
              <a:rect l="l" t="t" r="r" b="b"/>
              <a:pathLst>
                <a:path w="3219450" h="9525">
                  <a:moveTo>
                    <a:pt x="0" y="0"/>
                  </a:moveTo>
                  <a:lnTo>
                    <a:pt x="3219450" y="0"/>
                  </a:lnTo>
                </a:path>
              </a:pathLst>
            </a:custGeom>
            <a:noFill/>
            <a:ln w="9525">
              <a:solidFill>
                <a:srgbClr val="D8E6F8"/>
              </a:solidFill>
            </a:ln>
          </p:spPr>
        </p:sp>
        <p:sp>
          <p:nvSpPr>
            <p:cNvPr id="37" name="Line 37"/>
            <p:cNvSpPr/>
            <p:nvPr/>
          </p:nvSpPr>
          <p:spPr>
            <a:xfrm>
              <a:off x="723900" y="3276600"/>
              <a:ext cx="3219450" cy="9525"/>
            </a:xfrm>
            <a:custGeom>
              <a:avLst/>
              <a:gdLst/>
              <a:ahLst/>
              <a:cxnLst/>
              <a:rect l="l" t="t" r="r" b="b"/>
              <a:pathLst>
                <a:path w="3219450" h="9525">
                  <a:moveTo>
                    <a:pt x="0" y="0"/>
                  </a:moveTo>
                  <a:lnTo>
                    <a:pt x="3219450" y="0"/>
                  </a:lnTo>
                </a:path>
              </a:pathLst>
            </a:custGeom>
            <a:noFill/>
            <a:ln w="11430">
              <a:solidFill>
                <a:srgbClr val="E94B2B"/>
              </a:solidFill>
            </a:ln>
          </p:spPr>
        </p:sp>
        <p:sp>
          <p:nvSpPr>
            <p:cNvPr id="38" name="Line 38"/>
            <p:cNvSpPr/>
            <p:nvPr/>
          </p:nvSpPr>
          <p:spPr>
            <a:xfrm>
              <a:off x="1619250" y="1295400"/>
              <a:ext cx="9525" cy="1981200"/>
            </a:xfrm>
            <a:custGeom>
              <a:avLst/>
              <a:gdLst/>
              <a:ahLst/>
              <a:cxnLst/>
              <a:rect l="l" t="t" r="r" b="b"/>
              <a:pathLst>
                <a:path w="9525" h="1981200">
                  <a:moveTo>
                    <a:pt x="0" y="0"/>
                  </a:moveTo>
                  <a:lnTo>
                    <a:pt x="0" y="1981200"/>
                  </a:lnTo>
                </a:path>
              </a:pathLst>
            </a:custGeom>
            <a:noFill/>
            <a:ln w="9525">
              <a:solidFill>
                <a:srgbClr val="D8E6F8"/>
              </a:solidFill>
            </a:ln>
          </p:spPr>
        </p:sp>
        <p:sp>
          <p:nvSpPr>
            <p:cNvPr id="39" name="Line 39"/>
            <p:cNvSpPr/>
            <p:nvPr/>
          </p:nvSpPr>
          <p:spPr>
            <a:xfrm>
              <a:off x="2381250" y="1295400"/>
              <a:ext cx="9525" cy="1981200"/>
            </a:xfrm>
            <a:custGeom>
              <a:avLst/>
              <a:gdLst/>
              <a:ahLst/>
              <a:cxnLst/>
              <a:rect l="l" t="t" r="r" b="b"/>
              <a:pathLst>
                <a:path w="9525" h="1981200">
                  <a:moveTo>
                    <a:pt x="0" y="0"/>
                  </a:moveTo>
                  <a:lnTo>
                    <a:pt x="0" y="1981200"/>
                  </a:lnTo>
                </a:path>
              </a:pathLst>
            </a:custGeom>
            <a:noFill/>
            <a:ln w="9525">
              <a:solidFill>
                <a:srgbClr val="D8E6F8"/>
              </a:solidFill>
            </a:ln>
          </p:spPr>
        </p:sp>
        <p:sp>
          <p:nvSpPr>
            <p:cNvPr id="40" name="Line 40"/>
            <p:cNvSpPr/>
            <p:nvPr/>
          </p:nvSpPr>
          <p:spPr>
            <a:xfrm>
              <a:off x="3190875" y="1295400"/>
              <a:ext cx="9525" cy="1981200"/>
            </a:xfrm>
            <a:custGeom>
              <a:avLst/>
              <a:gdLst/>
              <a:ahLst/>
              <a:cxnLst/>
              <a:rect l="l" t="t" r="r" b="b"/>
              <a:pathLst>
                <a:path w="9525" h="1981200">
                  <a:moveTo>
                    <a:pt x="0" y="0"/>
                  </a:moveTo>
                  <a:lnTo>
                    <a:pt x="0" y="1981200"/>
                  </a:lnTo>
                </a:path>
              </a:pathLst>
            </a:custGeom>
            <a:noFill/>
            <a:ln w="9525">
              <a:solidFill>
                <a:srgbClr val="D8E6F8"/>
              </a:solidFill>
            </a:ln>
          </p:spPr>
        </p:sp>
      </p:grpSp>
      <p:grpSp>
        <p:nvGrpSpPr>
          <p:cNvPr id="71" name="m2-income-expense"/>
          <p:cNvGrpSpPr/>
          <p:nvPr/>
        </p:nvGrpSpPr>
        <p:grpSpPr>
          <a:xfrm>
            <a:off x="4238625" y="781050"/>
            <a:ext cx="3143250" cy="2895600"/>
            <a:chOff x="4238625" y="781050"/>
            <a:chExt cx="3143250" cy="2895600"/>
          </a:xfrm>
        </p:grpSpPr>
        <p:sp>
          <p:nvSpPr>
            <p:cNvPr id="42" name="Rectangle 42"/>
            <p:cNvSpPr/>
            <p:nvPr/>
          </p:nvSpPr>
          <p:spPr>
            <a:xfrm>
              <a:off x="4238625" y="781050"/>
              <a:ext cx="3143250" cy="2895600"/>
            </a:xfrm>
            <a:prstGeom prst="rect">
              <a:avLst/>
            </a:prstGeom>
            <a:solidFill>
              <a:srgbClr val="FFFFFF"/>
            </a:solidFill>
            <a:ln w="11430">
              <a:solidFill>
                <a:srgbClr val="C9DDF5"/>
              </a:solidFill>
            </a:ln>
          </p:spPr>
        </p:sp>
        <p:sp>
          <p:nvSpPr>
            <p:cNvPr id="43" name="Rectangle 43"/>
            <p:cNvSpPr/>
            <p:nvPr/>
          </p:nvSpPr>
          <p:spPr>
            <a:xfrm>
              <a:off x="4333875" y="876300"/>
              <a:ext cx="2381250" cy="266700"/>
            </a:xfrm>
            <a:prstGeom prst="rect">
              <a:avLst/>
            </a:prstGeom>
            <a:gradFill>
              <a:gsLst>
                <a:gs pos="0">
                  <a:srgbClr val="FF5B3A"/>
                </a:gs>
                <a:gs pos="100000">
                  <a:srgbClr val="E94B2B"/>
                </a:gs>
              </a:gsLst>
              <a:lin ang="0" scaled="1"/>
            </a:gradFill>
            <a:ln>
              <a:noFill/>
            </a:ln>
          </p:spPr>
        </p:sp>
        <p:sp>
          <p:nvSpPr>
            <p:cNvPr id="44" name="Polygon 44"/>
            <p:cNvSpPr/>
            <p:nvPr/>
          </p:nvSpPr>
          <p:spPr>
            <a:xfrm>
              <a:off x="6619875" y="876300"/>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45" name="TextBox 45"/>
            <p:cNvSpPr txBox="1"/>
            <p:nvPr/>
          </p:nvSpPr>
          <p:spPr>
            <a:xfrm>
              <a:off x="4442460" y="945356"/>
              <a:ext cx="13684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季度各月收入与支出</a:t>
              </a:r>
            </a:p>
          </p:txBody>
        </p:sp>
        <p:sp>
          <p:nvSpPr>
            <p:cNvPr id="46" name="Rectangle 46"/>
            <p:cNvSpPr/>
            <p:nvPr/>
          </p:nvSpPr>
          <p:spPr>
            <a:xfrm>
              <a:off x="5524500" y="1276350"/>
              <a:ext cx="95250" cy="95250"/>
            </a:xfrm>
            <a:prstGeom prst="rect">
              <a:avLst/>
            </a:prstGeom>
            <a:solidFill>
              <a:srgbClr val="C83B1E"/>
            </a:solidFill>
            <a:ln>
              <a:noFill/>
            </a:ln>
          </p:spPr>
        </p:sp>
        <p:sp>
          <p:nvSpPr>
            <p:cNvPr id="47" name="TextBox 47"/>
            <p:cNvSpPr txBox="1"/>
            <p:nvPr/>
          </p:nvSpPr>
          <p:spPr>
            <a:xfrm>
              <a:off x="5653088" y="1281112"/>
              <a:ext cx="41338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公司收入</a:t>
              </a:r>
            </a:p>
          </p:txBody>
        </p:sp>
        <p:sp>
          <p:nvSpPr>
            <p:cNvPr id="48" name="Rectangle 48"/>
            <p:cNvSpPr/>
            <p:nvPr/>
          </p:nvSpPr>
          <p:spPr>
            <a:xfrm>
              <a:off x="6362700" y="1276350"/>
              <a:ext cx="95250" cy="95250"/>
            </a:xfrm>
            <a:prstGeom prst="rect">
              <a:avLst/>
            </a:prstGeom>
            <a:solidFill>
              <a:srgbClr val="F0856F"/>
            </a:solidFill>
            <a:ln>
              <a:noFill/>
            </a:ln>
          </p:spPr>
        </p:sp>
        <p:sp>
          <p:nvSpPr>
            <p:cNvPr id="49" name="TextBox 49"/>
            <p:cNvSpPr txBox="1"/>
            <p:nvPr/>
          </p:nvSpPr>
          <p:spPr>
            <a:xfrm>
              <a:off x="6491288" y="1281112"/>
              <a:ext cx="41338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公司支出</a:t>
              </a:r>
            </a:p>
          </p:txBody>
        </p:sp>
        <p:sp>
          <p:nvSpPr>
            <p:cNvPr id="50" name="Line 50"/>
            <p:cNvSpPr/>
            <p:nvPr/>
          </p:nvSpPr>
          <p:spPr>
            <a:xfrm>
              <a:off x="4953000" y="1524000"/>
              <a:ext cx="2286000" cy="9525"/>
            </a:xfrm>
            <a:custGeom>
              <a:avLst/>
              <a:gdLst/>
              <a:ahLst/>
              <a:cxnLst/>
              <a:rect l="l" t="t" r="r" b="b"/>
              <a:pathLst>
                <a:path w="2286000" h="9525">
                  <a:moveTo>
                    <a:pt x="0" y="0"/>
                  </a:moveTo>
                  <a:lnTo>
                    <a:pt x="2286000" y="0"/>
                  </a:lnTo>
                </a:path>
              </a:pathLst>
            </a:custGeom>
            <a:noFill/>
            <a:ln w="9525">
              <a:solidFill>
                <a:srgbClr val="EAF2FC"/>
              </a:solidFill>
            </a:ln>
          </p:spPr>
        </p:sp>
        <p:sp>
          <p:nvSpPr>
            <p:cNvPr id="51" name="Line 51"/>
            <p:cNvSpPr/>
            <p:nvPr/>
          </p:nvSpPr>
          <p:spPr>
            <a:xfrm>
              <a:off x="4953000" y="1866900"/>
              <a:ext cx="2286000" cy="9525"/>
            </a:xfrm>
            <a:custGeom>
              <a:avLst/>
              <a:gdLst/>
              <a:ahLst/>
              <a:cxnLst/>
              <a:rect l="l" t="t" r="r" b="b"/>
              <a:pathLst>
                <a:path w="2286000" h="9525">
                  <a:moveTo>
                    <a:pt x="0" y="0"/>
                  </a:moveTo>
                  <a:lnTo>
                    <a:pt x="2286000" y="0"/>
                  </a:lnTo>
                </a:path>
              </a:pathLst>
            </a:custGeom>
            <a:noFill/>
            <a:ln w="9525">
              <a:solidFill>
                <a:srgbClr val="EAF2FC"/>
              </a:solidFill>
            </a:ln>
          </p:spPr>
        </p:sp>
        <p:sp>
          <p:nvSpPr>
            <p:cNvPr id="52" name="Line 52"/>
            <p:cNvSpPr/>
            <p:nvPr/>
          </p:nvSpPr>
          <p:spPr>
            <a:xfrm>
              <a:off x="4953000" y="2209800"/>
              <a:ext cx="2286000" cy="9525"/>
            </a:xfrm>
            <a:custGeom>
              <a:avLst/>
              <a:gdLst/>
              <a:ahLst/>
              <a:cxnLst/>
              <a:rect l="l" t="t" r="r" b="b"/>
              <a:pathLst>
                <a:path w="2286000" h="9525">
                  <a:moveTo>
                    <a:pt x="0" y="0"/>
                  </a:moveTo>
                  <a:lnTo>
                    <a:pt x="2286000" y="0"/>
                  </a:lnTo>
                </a:path>
              </a:pathLst>
            </a:custGeom>
            <a:noFill/>
            <a:ln w="9525">
              <a:solidFill>
                <a:srgbClr val="EAF2FC"/>
              </a:solidFill>
            </a:ln>
          </p:spPr>
        </p:sp>
        <p:sp>
          <p:nvSpPr>
            <p:cNvPr id="53" name="Line 53"/>
            <p:cNvSpPr/>
            <p:nvPr/>
          </p:nvSpPr>
          <p:spPr>
            <a:xfrm>
              <a:off x="4953000" y="2552700"/>
              <a:ext cx="2286000" cy="9525"/>
            </a:xfrm>
            <a:custGeom>
              <a:avLst/>
              <a:gdLst/>
              <a:ahLst/>
              <a:cxnLst/>
              <a:rect l="l" t="t" r="r" b="b"/>
              <a:pathLst>
                <a:path w="2286000" h="9525">
                  <a:moveTo>
                    <a:pt x="0" y="0"/>
                  </a:moveTo>
                  <a:lnTo>
                    <a:pt x="2286000" y="0"/>
                  </a:lnTo>
                </a:path>
              </a:pathLst>
            </a:custGeom>
            <a:noFill/>
            <a:ln w="9525">
              <a:solidFill>
                <a:srgbClr val="EAF2FC"/>
              </a:solidFill>
            </a:ln>
          </p:spPr>
        </p:sp>
        <p:sp>
          <p:nvSpPr>
            <p:cNvPr id="54" name="Line 54"/>
            <p:cNvSpPr/>
            <p:nvPr/>
          </p:nvSpPr>
          <p:spPr>
            <a:xfrm>
              <a:off x="4953000" y="2895600"/>
              <a:ext cx="2286000" cy="9525"/>
            </a:xfrm>
            <a:custGeom>
              <a:avLst/>
              <a:gdLst/>
              <a:ahLst/>
              <a:cxnLst/>
              <a:rect l="l" t="t" r="r" b="b"/>
              <a:pathLst>
                <a:path w="2286000" h="9525">
                  <a:moveTo>
                    <a:pt x="0" y="0"/>
                  </a:moveTo>
                  <a:lnTo>
                    <a:pt x="2286000" y="0"/>
                  </a:lnTo>
                </a:path>
              </a:pathLst>
            </a:custGeom>
            <a:noFill/>
            <a:ln w="9525">
              <a:solidFill>
                <a:srgbClr val="EAF2FC"/>
              </a:solidFill>
            </a:ln>
          </p:spPr>
        </p:sp>
        <p:sp>
          <p:nvSpPr>
            <p:cNvPr id="55" name="TextBox 55"/>
            <p:cNvSpPr txBox="1"/>
            <p:nvPr/>
          </p:nvSpPr>
          <p:spPr>
            <a:xfrm>
              <a:off x="4840740" y="3203734"/>
              <a:ext cx="59873"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0</a:t>
              </a:r>
            </a:p>
          </p:txBody>
        </p:sp>
        <p:sp>
          <p:nvSpPr>
            <p:cNvPr id="56" name="TextBox 56"/>
            <p:cNvSpPr txBox="1"/>
            <p:nvPr/>
          </p:nvSpPr>
          <p:spPr>
            <a:xfrm>
              <a:off x="4589000" y="2860834"/>
              <a:ext cx="311612"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200000</a:t>
              </a:r>
            </a:p>
          </p:txBody>
        </p:sp>
        <p:sp>
          <p:nvSpPr>
            <p:cNvPr id="57" name="TextBox 57"/>
            <p:cNvSpPr txBox="1"/>
            <p:nvPr/>
          </p:nvSpPr>
          <p:spPr>
            <a:xfrm>
              <a:off x="4589000" y="2517934"/>
              <a:ext cx="311612"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400000</a:t>
              </a:r>
            </a:p>
          </p:txBody>
        </p:sp>
        <p:sp>
          <p:nvSpPr>
            <p:cNvPr id="58" name="TextBox 58"/>
            <p:cNvSpPr txBox="1"/>
            <p:nvPr/>
          </p:nvSpPr>
          <p:spPr>
            <a:xfrm>
              <a:off x="4589000" y="2175034"/>
              <a:ext cx="311612"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600000</a:t>
              </a:r>
            </a:p>
          </p:txBody>
        </p:sp>
        <p:sp>
          <p:nvSpPr>
            <p:cNvPr id="59" name="TextBox 59"/>
            <p:cNvSpPr txBox="1"/>
            <p:nvPr/>
          </p:nvSpPr>
          <p:spPr>
            <a:xfrm>
              <a:off x="4589000" y="1832134"/>
              <a:ext cx="311612"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800000</a:t>
              </a:r>
            </a:p>
          </p:txBody>
        </p:sp>
        <p:sp>
          <p:nvSpPr>
            <p:cNvPr id="60" name="TextBox 60"/>
            <p:cNvSpPr txBox="1"/>
            <p:nvPr/>
          </p:nvSpPr>
          <p:spPr>
            <a:xfrm>
              <a:off x="4538652" y="1489234"/>
              <a:ext cx="361960"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1000000</a:t>
              </a:r>
            </a:p>
          </p:txBody>
        </p:sp>
        <p:sp>
          <p:nvSpPr>
            <p:cNvPr id="61" name="Rectangle 61"/>
            <p:cNvSpPr/>
            <p:nvPr/>
          </p:nvSpPr>
          <p:spPr>
            <a:xfrm>
              <a:off x="5267325" y="1661160"/>
              <a:ext cx="104775" cy="1577340"/>
            </a:xfrm>
            <a:prstGeom prst="rect">
              <a:avLst/>
            </a:prstGeom>
            <a:gradFill>
              <a:gsLst>
                <a:gs pos="0">
                  <a:srgbClr val="FF5B3A"/>
                </a:gs>
                <a:gs pos="100000">
                  <a:srgbClr val="C83B1E"/>
                </a:gs>
              </a:gsLst>
              <a:lin ang="5400000" scaled="1"/>
            </a:gradFill>
            <a:ln>
              <a:noFill/>
            </a:ln>
          </p:spPr>
        </p:sp>
        <p:sp>
          <p:nvSpPr>
            <p:cNvPr id="62" name="Rectangle 62"/>
            <p:cNvSpPr/>
            <p:nvPr/>
          </p:nvSpPr>
          <p:spPr>
            <a:xfrm>
              <a:off x="5400675" y="2827020"/>
              <a:ext cx="104775" cy="411480"/>
            </a:xfrm>
            <a:prstGeom prst="rect">
              <a:avLst/>
            </a:prstGeom>
            <a:solidFill>
              <a:srgbClr val="F0856F"/>
            </a:solidFill>
            <a:ln>
              <a:noFill/>
            </a:ln>
          </p:spPr>
        </p:sp>
        <p:sp>
          <p:nvSpPr>
            <p:cNvPr id="63" name="Rectangle 63"/>
            <p:cNvSpPr/>
            <p:nvPr/>
          </p:nvSpPr>
          <p:spPr>
            <a:xfrm>
              <a:off x="5981700" y="1849755"/>
              <a:ext cx="104775" cy="1388745"/>
            </a:xfrm>
            <a:prstGeom prst="rect">
              <a:avLst/>
            </a:prstGeom>
            <a:gradFill>
              <a:gsLst>
                <a:gs pos="0">
                  <a:srgbClr val="FF5B3A"/>
                </a:gs>
                <a:gs pos="100000">
                  <a:srgbClr val="C83B1E"/>
                </a:gs>
              </a:gsLst>
              <a:lin ang="5400000" scaled="1"/>
            </a:gradFill>
            <a:ln>
              <a:noFill/>
            </a:ln>
          </p:spPr>
        </p:sp>
        <p:sp>
          <p:nvSpPr>
            <p:cNvPr id="64" name="Rectangle 64"/>
            <p:cNvSpPr/>
            <p:nvPr/>
          </p:nvSpPr>
          <p:spPr>
            <a:xfrm>
              <a:off x="6115050" y="3084195"/>
              <a:ext cx="104775" cy="154305"/>
            </a:xfrm>
            <a:prstGeom prst="rect">
              <a:avLst/>
            </a:prstGeom>
            <a:solidFill>
              <a:srgbClr val="F0856F"/>
            </a:solidFill>
            <a:ln>
              <a:noFill/>
            </a:ln>
          </p:spPr>
        </p:sp>
        <p:sp>
          <p:nvSpPr>
            <p:cNvPr id="65" name="Rectangle 65"/>
            <p:cNvSpPr/>
            <p:nvPr/>
          </p:nvSpPr>
          <p:spPr>
            <a:xfrm>
              <a:off x="6696075" y="2466975"/>
              <a:ext cx="104775" cy="771525"/>
            </a:xfrm>
            <a:prstGeom prst="rect">
              <a:avLst/>
            </a:prstGeom>
            <a:gradFill>
              <a:gsLst>
                <a:gs pos="0">
                  <a:srgbClr val="FF5B3A"/>
                </a:gs>
                <a:gs pos="100000">
                  <a:srgbClr val="C83B1E"/>
                </a:gs>
              </a:gsLst>
              <a:lin ang="5400000" scaled="1"/>
            </a:gradFill>
            <a:ln>
              <a:noFill/>
            </a:ln>
          </p:spPr>
        </p:sp>
        <p:sp>
          <p:nvSpPr>
            <p:cNvPr id="66" name="Rectangle 66"/>
            <p:cNvSpPr/>
            <p:nvPr/>
          </p:nvSpPr>
          <p:spPr>
            <a:xfrm>
              <a:off x="6829425" y="2878455"/>
              <a:ext cx="104775" cy="360045"/>
            </a:xfrm>
            <a:prstGeom prst="rect">
              <a:avLst/>
            </a:prstGeom>
            <a:solidFill>
              <a:srgbClr val="F0856F"/>
            </a:solidFill>
            <a:ln>
              <a:noFill/>
            </a:ln>
          </p:spPr>
        </p:sp>
        <p:sp>
          <p:nvSpPr>
            <p:cNvPr id="67" name="Line 67"/>
            <p:cNvSpPr/>
            <p:nvPr/>
          </p:nvSpPr>
          <p:spPr>
            <a:xfrm>
              <a:off x="4953000" y="3238500"/>
              <a:ext cx="2286000" cy="9525"/>
            </a:xfrm>
            <a:custGeom>
              <a:avLst/>
              <a:gdLst/>
              <a:ahLst/>
              <a:cxnLst/>
              <a:rect l="l" t="t" r="r" b="b"/>
              <a:pathLst>
                <a:path w="2286000" h="9525">
                  <a:moveTo>
                    <a:pt x="0" y="0"/>
                  </a:moveTo>
                  <a:lnTo>
                    <a:pt x="2286000" y="0"/>
                  </a:lnTo>
                </a:path>
              </a:pathLst>
            </a:custGeom>
            <a:noFill/>
            <a:ln w="11430">
              <a:solidFill>
                <a:srgbClr val="E6C1B9"/>
              </a:solidFill>
            </a:ln>
          </p:spPr>
        </p:sp>
        <p:sp>
          <p:nvSpPr>
            <p:cNvPr id="68" name="TextBox 68"/>
            <p:cNvSpPr txBox="1"/>
            <p:nvPr/>
          </p:nvSpPr>
          <p:spPr>
            <a:xfrm>
              <a:off x="5298615" y="3328988"/>
              <a:ext cx="166021"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4月</a:t>
              </a:r>
            </a:p>
          </p:txBody>
        </p:sp>
        <p:sp>
          <p:nvSpPr>
            <p:cNvPr id="69" name="TextBox 69"/>
            <p:cNvSpPr txBox="1"/>
            <p:nvPr/>
          </p:nvSpPr>
          <p:spPr>
            <a:xfrm>
              <a:off x="6012990" y="3328988"/>
              <a:ext cx="166021"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5月</a:t>
              </a:r>
            </a:p>
          </p:txBody>
        </p:sp>
        <p:sp>
          <p:nvSpPr>
            <p:cNvPr id="70" name="TextBox 70"/>
            <p:cNvSpPr txBox="1"/>
            <p:nvPr/>
          </p:nvSpPr>
          <p:spPr>
            <a:xfrm>
              <a:off x="6727365" y="3328988"/>
              <a:ext cx="166021"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6月</a:t>
              </a:r>
            </a:p>
          </p:txBody>
        </p:sp>
      </p:grpSp>
      <p:grpSp>
        <p:nvGrpSpPr>
          <p:cNvPr id="88" name="m3-profit-donut"/>
          <p:cNvGrpSpPr/>
          <p:nvPr/>
        </p:nvGrpSpPr>
        <p:grpSpPr>
          <a:xfrm>
            <a:off x="7524750" y="781050"/>
            <a:ext cx="4095750" cy="2895600"/>
            <a:chOff x="7524750" y="781050"/>
            <a:chExt cx="4095750" cy="2895600"/>
          </a:xfrm>
        </p:grpSpPr>
        <p:sp>
          <p:nvSpPr>
            <p:cNvPr id="72" name="Rectangle 72"/>
            <p:cNvSpPr/>
            <p:nvPr/>
          </p:nvSpPr>
          <p:spPr>
            <a:xfrm>
              <a:off x="7524750" y="781050"/>
              <a:ext cx="4095750" cy="2895600"/>
            </a:xfrm>
            <a:prstGeom prst="rect">
              <a:avLst/>
            </a:prstGeom>
            <a:solidFill>
              <a:srgbClr val="FFFFFF"/>
            </a:solidFill>
            <a:ln w="11430">
              <a:solidFill>
                <a:srgbClr val="C9DDF5"/>
              </a:solidFill>
            </a:ln>
          </p:spPr>
        </p:sp>
        <p:sp>
          <p:nvSpPr>
            <p:cNvPr id="73" name="Rectangle 73"/>
            <p:cNvSpPr/>
            <p:nvPr/>
          </p:nvSpPr>
          <p:spPr>
            <a:xfrm>
              <a:off x="7620000" y="876300"/>
              <a:ext cx="2381250" cy="266700"/>
            </a:xfrm>
            <a:prstGeom prst="rect">
              <a:avLst/>
            </a:prstGeom>
            <a:gradFill>
              <a:gsLst>
                <a:gs pos="0">
                  <a:srgbClr val="FF5B3A"/>
                </a:gs>
                <a:gs pos="100000">
                  <a:srgbClr val="E94B2B"/>
                </a:gs>
              </a:gsLst>
              <a:lin ang="0" scaled="1"/>
            </a:gradFill>
            <a:ln>
              <a:noFill/>
            </a:ln>
          </p:spPr>
        </p:sp>
        <p:sp>
          <p:nvSpPr>
            <p:cNvPr id="74" name="Polygon 74"/>
            <p:cNvSpPr/>
            <p:nvPr/>
          </p:nvSpPr>
          <p:spPr>
            <a:xfrm>
              <a:off x="9906000" y="876300"/>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75" name="TextBox 75"/>
            <p:cNvSpPr txBox="1"/>
            <p:nvPr/>
          </p:nvSpPr>
          <p:spPr>
            <a:xfrm>
              <a:off x="7728585" y="945356"/>
              <a:ext cx="121762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季度各月盈利占比</a:t>
              </a:r>
            </a:p>
          </p:txBody>
        </p:sp>
        <p:sp>
          <p:nvSpPr>
            <p:cNvPr id="76" name="Rectangle 76"/>
            <p:cNvSpPr/>
            <p:nvPr/>
          </p:nvSpPr>
          <p:spPr>
            <a:xfrm>
              <a:off x="10001250" y="1276350"/>
              <a:ext cx="85725" cy="85725"/>
            </a:xfrm>
            <a:prstGeom prst="rect">
              <a:avLst/>
            </a:prstGeom>
            <a:solidFill>
              <a:srgbClr val="C83B1E"/>
            </a:solidFill>
            <a:ln>
              <a:noFill/>
            </a:ln>
          </p:spPr>
        </p:sp>
        <p:sp>
          <p:nvSpPr>
            <p:cNvPr id="77" name="TextBox 77"/>
            <p:cNvSpPr txBox="1"/>
            <p:nvPr/>
          </p:nvSpPr>
          <p:spPr>
            <a:xfrm>
              <a:off x="10120312" y="1276350"/>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四月</a:t>
              </a:r>
            </a:p>
          </p:txBody>
        </p:sp>
        <p:sp>
          <p:nvSpPr>
            <p:cNvPr id="78" name="Rectangle 78"/>
            <p:cNvSpPr/>
            <p:nvPr/>
          </p:nvSpPr>
          <p:spPr>
            <a:xfrm>
              <a:off x="10496550" y="1276350"/>
              <a:ext cx="85725" cy="85725"/>
            </a:xfrm>
            <a:prstGeom prst="rect">
              <a:avLst/>
            </a:prstGeom>
            <a:solidFill>
              <a:srgbClr val="F5927E"/>
            </a:solidFill>
            <a:ln>
              <a:noFill/>
            </a:ln>
          </p:spPr>
        </p:sp>
        <p:sp>
          <p:nvSpPr>
            <p:cNvPr id="79" name="TextBox 79"/>
            <p:cNvSpPr txBox="1"/>
            <p:nvPr/>
          </p:nvSpPr>
          <p:spPr>
            <a:xfrm>
              <a:off x="10615612" y="1276350"/>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五月</a:t>
              </a:r>
            </a:p>
          </p:txBody>
        </p:sp>
        <p:sp>
          <p:nvSpPr>
            <p:cNvPr id="80" name="Rectangle 80"/>
            <p:cNvSpPr/>
            <p:nvPr/>
          </p:nvSpPr>
          <p:spPr>
            <a:xfrm>
              <a:off x="10991850" y="1276350"/>
              <a:ext cx="85725" cy="85725"/>
            </a:xfrm>
            <a:prstGeom prst="rect">
              <a:avLst/>
            </a:prstGeom>
            <a:solidFill>
              <a:srgbClr val="F8B6A9"/>
            </a:solidFill>
            <a:ln>
              <a:noFill/>
            </a:ln>
          </p:spPr>
        </p:sp>
        <p:sp>
          <p:nvSpPr>
            <p:cNvPr id="81" name="TextBox 81"/>
            <p:cNvSpPr txBox="1"/>
            <p:nvPr/>
          </p:nvSpPr>
          <p:spPr>
            <a:xfrm>
              <a:off x="11110912" y="1276350"/>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六月</a:t>
              </a:r>
            </a:p>
          </p:txBody>
        </p:sp>
        <p:sp>
          <p:nvSpPr>
            <p:cNvPr id="82" name="Freeform 82"/>
            <p:cNvSpPr/>
            <p:nvPr/>
          </p:nvSpPr>
          <p:spPr>
            <a:xfrm>
              <a:off x="9572625" y="1581150"/>
              <a:ext cx="947642" cy="1644015"/>
            </a:xfrm>
            <a:custGeom>
              <a:avLst/>
              <a:gdLst/>
              <a:ahLst/>
              <a:cxnLst/>
              <a:rect l="l" t="t" r="r" b="b"/>
              <a:pathLst>
                <a:path w="947642" h="1644015">
                  <a:moveTo>
                    <a:pt x="0" y="876300"/>
                  </a:moveTo>
                  <a:lnTo>
                    <a:pt x="0" y="0"/>
                  </a:lnTo>
                  <a:cubicBezTo>
                    <a:pt x="399855" y="252"/>
                    <a:pt x="748830" y="271145"/>
                    <a:pt x="848236" y="658447"/>
                  </a:cubicBezTo>
                  <a:cubicBezTo>
                    <a:pt x="947642" y="1045749"/>
                    <a:pt x="772266" y="1451224"/>
                    <a:pt x="421957" y="1644015"/>
                  </a:cubicBezTo>
                  <a:lnTo>
                    <a:pt x="211455" y="1260158"/>
                  </a:lnTo>
                  <a:cubicBezTo>
                    <a:pt x="386687" y="1163719"/>
                    <a:pt x="474365" y="960853"/>
                    <a:pt x="424535" y="767143"/>
                  </a:cubicBezTo>
                  <a:cubicBezTo>
                    <a:pt x="374704" y="573433"/>
                    <a:pt x="200016" y="438059"/>
                    <a:pt x="0" y="438150"/>
                  </a:cubicBezTo>
                  <a:close/>
                </a:path>
              </a:pathLst>
            </a:custGeom>
            <a:solidFill>
              <a:srgbClr val="C83B1E"/>
            </a:solidFill>
            <a:ln>
              <a:noFill/>
            </a:ln>
          </p:spPr>
        </p:sp>
        <p:sp>
          <p:nvSpPr>
            <p:cNvPr id="83" name="Freeform 83"/>
            <p:cNvSpPr/>
            <p:nvPr/>
          </p:nvSpPr>
          <p:spPr>
            <a:xfrm>
              <a:off x="8615468" y="1857375"/>
              <a:ext cx="1379115" cy="1575645"/>
            </a:xfrm>
            <a:custGeom>
              <a:avLst/>
              <a:gdLst/>
              <a:ahLst/>
              <a:cxnLst/>
              <a:rect l="l" t="t" r="r" b="b"/>
              <a:pathLst>
                <a:path w="1379115" h="1575645">
                  <a:moveTo>
                    <a:pt x="957157" y="600075"/>
                  </a:moveTo>
                  <a:lnTo>
                    <a:pt x="1379115" y="1367790"/>
                  </a:lnTo>
                  <a:cubicBezTo>
                    <a:pt x="1001370" y="1575645"/>
                    <a:pt x="528552" y="1477837"/>
                    <a:pt x="264276" y="1137172"/>
                  </a:cubicBezTo>
                  <a:cubicBezTo>
                    <a:pt x="0" y="796507"/>
                    <a:pt x="22798" y="314217"/>
                    <a:pt x="318030" y="0"/>
                  </a:cubicBezTo>
                  <a:lnTo>
                    <a:pt x="638070" y="300038"/>
                  </a:lnTo>
                  <a:cubicBezTo>
                    <a:pt x="490454" y="457146"/>
                    <a:pt x="479055" y="698291"/>
                    <a:pt x="611193" y="868623"/>
                  </a:cubicBezTo>
                  <a:cubicBezTo>
                    <a:pt x="743331" y="1038956"/>
                    <a:pt x="979740" y="1087860"/>
                    <a:pt x="1168612" y="983932"/>
                  </a:cubicBezTo>
                  <a:close/>
                </a:path>
              </a:pathLst>
            </a:custGeom>
            <a:solidFill>
              <a:srgbClr val="F5927E"/>
            </a:solidFill>
            <a:ln>
              <a:noFill/>
            </a:ln>
          </p:spPr>
        </p:sp>
        <p:sp>
          <p:nvSpPr>
            <p:cNvPr id="84" name="Freeform 84"/>
            <p:cNvSpPr/>
            <p:nvPr/>
          </p:nvSpPr>
          <p:spPr>
            <a:xfrm>
              <a:off x="8933498" y="1581005"/>
              <a:ext cx="639128" cy="876445"/>
            </a:xfrm>
            <a:custGeom>
              <a:avLst/>
              <a:gdLst/>
              <a:ahLst/>
              <a:cxnLst/>
              <a:rect l="l" t="t" r="r" b="b"/>
              <a:pathLst>
                <a:path w="639128" h="876445">
                  <a:moveTo>
                    <a:pt x="639128" y="876445"/>
                  </a:moveTo>
                  <a:lnTo>
                    <a:pt x="0" y="276370"/>
                  </a:lnTo>
                  <a:cubicBezTo>
                    <a:pt x="165751" y="99978"/>
                    <a:pt x="397079" y="0"/>
                    <a:pt x="639128" y="145"/>
                  </a:cubicBezTo>
                  <a:lnTo>
                    <a:pt x="639128" y="438295"/>
                  </a:lnTo>
                  <a:cubicBezTo>
                    <a:pt x="518269" y="438354"/>
                    <a:pt x="402802" y="488332"/>
                    <a:pt x="320040" y="576408"/>
                  </a:cubicBezTo>
                  <a:close/>
                </a:path>
              </a:pathLst>
            </a:custGeom>
            <a:solidFill>
              <a:srgbClr val="F8B6A9"/>
            </a:solidFill>
            <a:ln>
              <a:noFill/>
            </a:ln>
          </p:spPr>
        </p:sp>
        <p:sp>
          <p:nvSpPr>
            <p:cNvPr id="85" name="TextBox 85"/>
            <p:cNvSpPr txBox="1"/>
            <p:nvPr/>
          </p:nvSpPr>
          <p:spPr>
            <a:xfrm>
              <a:off x="8314718" y="1362789"/>
              <a:ext cx="477464" cy="154781"/>
            </a:xfrm>
            <a:prstGeom prst="rect">
              <a:avLst/>
            </a:prstGeom>
            <a:noFill/>
            <a:ln>
              <a:noFill/>
            </a:ln>
          </p:spPr>
          <p:txBody>
            <a:bodyPr wrap="none" lIns="0" tIns="0" rIns="0" bIns="0" anchor="t" anchorCtr="0">
              <a:spAutoFit/>
            </a:bodyPr>
            <a:lstStyle/>
            <a:p>
              <a:pPr algn="ctr"/>
              <a:r>
                <a:rPr lang="zh-CN" sz="790" dirty="0">
                  <a:solidFill>
                    <a:srgbClr val="684F4A"/>
                  </a:solidFill>
                  <a:latin typeface="+mn-lt"/>
                  <a:ea typeface="+mn-ea"/>
                  <a:cs typeface="+mn-cs"/>
                </a:rPr>
                <a:t>6月，13%</a:t>
              </a:r>
            </a:p>
          </p:txBody>
        </p:sp>
        <p:sp>
          <p:nvSpPr>
            <p:cNvPr id="86" name="TextBox 86"/>
            <p:cNvSpPr txBox="1"/>
            <p:nvPr/>
          </p:nvSpPr>
          <p:spPr>
            <a:xfrm>
              <a:off x="8200418" y="3172539"/>
              <a:ext cx="477464" cy="154781"/>
            </a:xfrm>
            <a:prstGeom prst="rect">
              <a:avLst/>
            </a:prstGeom>
            <a:noFill/>
            <a:ln>
              <a:noFill/>
            </a:ln>
          </p:spPr>
          <p:txBody>
            <a:bodyPr wrap="none" lIns="0" tIns="0" rIns="0" bIns="0" anchor="t" anchorCtr="0">
              <a:spAutoFit/>
            </a:bodyPr>
            <a:lstStyle/>
            <a:p>
              <a:pPr algn="ctr"/>
              <a:r>
                <a:rPr lang="zh-CN" sz="790" dirty="0">
                  <a:solidFill>
                    <a:srgbClr val="684F4A"/>
                  </a:solidFill>
                  <a:latin typeface="+mn-lt"/>
                  <a:ea typeface="+mn-ea"/>
                  <a:cs typeface="+mn-cs"/>
                </a:rPr>
                <a:t>5月，45%</a:t>
              </a:r>
            </a:p>
          </p:txBody>
        </p:sp>
        <p:sp>
          <p:nvSpPr>
            <p:cNvPr id="87" name="TextBox 87"/>
            <p:cNvSpPr txBox="1"/>
            <p:nvPr/>
          </p:nvSpPr>
          <p:spPr>
            <a:xfrm>
              <a:off x="10638818" y="3267789"/>
              <a:ext cx="477464" cy="154781"/>
            </a:xfrm>
            <a:prstGeom prst="rect">
              <a:avLst/>
            </a:prstGeom>
            <a:noFill/>
            <a:ln>
              <a:noFill/>
            </a:ln>
          </p:spPr>
          <p:txBody>
            <a:bodyPr wrap="none" lIns="0" tIns="0" rIns="0" bIns="0" anchor="t" anchorCtr="0">
              <a:spAutoFit/>
            </a:bodyPr>
            <a:lstStyle/>
            <a:p>
              <a:pPr algn="ctr"/>
              <a:r>
                <a:rPr lang="zh-CN" sz="790" dirty="0">
                  <a:solidFill>
                    <a:srgbClr val="684F4A"/>
                  </a:solidFill>
                  <a:latin typeface="+mn-lt"/>
                  <a:ea typeface="+mn-ea"/>
                  <a:cs typeface="+mn-cs"/>
                </a:rPr>
                <a:t>4月，42%</a:t>
              </a:r>
            </a:p>
          </p:txBody>
        </p:sp>
      </p:grpSp>
      <p:grpSp>
        <p:nvGrpSpPr>
          <p:cNvPr id="128" name="m4-product-line"/>
          <p:cNvGrpSpPr/>
          <p:nvPr/>
        </p:nvGrpSpPr>
        <p:grpSpPr>
          <a:xfrm>
            <a:off x="571500" y="3895725"/>
            <a:ext cx="3714750" cy="2657475"/>
            <a:chOff x="571500" y="3895725"/>
            <a:chExt cx="3714750" cy="2657475"/>
          </a:xfrm>
        </p:grpSpPr>
        <p:sp>
          <p:nvSpPr>
            <p:cNvPr id="89" name="Rectangle 89"/>
            <p:cNvSpPr/>
            <p:nvPr/>
          </p:nvSpPr>
          <p:spPr>
            <a:xfrm>
              <a:off x="571500" y="3895725"/>
              <a:ext cx="3714750" cy="2657475"/>
            </a:xfrm>
            <a:prstGeom prst="rect">
              <a:avLst/>
            </a:prstGeom>
            <a:solidFill>
              <a:srgbClr val="FFFFFF"/>
            </a:solidFill>
            <a:ln w="11430">
              <a:solidFill>
                <a:srgbClr val="C9DDF5"/>
              </a:solidFill>
            </a:ln>
          </p:spPr>
        </p:sp>
        <p:sp>
          <p:nvSpPr>
            <p:cNvPr id="90" name="Rectangle 90"/>
            <p:cNvSpPr/>
            <p:nvPr/>
          </p:nvSpPr>
          <p:spPr>
            <a:xfrm>
              <a:off x="666750" y="3990975"/>
              <a:ext cx="2571750" cy="266700"/>
            </a:xfrm>
            <a:prstGeom prst="rect">
              <a:avLst/>
            </a:prstGeom>
            <a:gradFill>
              <a:gsLst>
                <a:gs pos="0">
                  <a:srgbClr val="FF5B3A"/>
                </a:gs>
                <a:gs pos="100000">
                  <a:srgbClr val="E94B2B"/>
                </a:gs>
              </a:gsLst>
              <a:lin ang="0" scaled="1"/>
            </a:gradFill>
            <a:ln>
              <a:noFill/>
            </a:ln>
          </p:spPr>
        </p:sp>
        <p:sp>
          <p:nvSpPr>
            <p:cNvPr id="91" name="Polygon 91"/>
            <p:cNvSpPr/>
            <p:nvPr/>
          </p:nvSpPr>
          <p:spPr>
            <a:xfrm>
              <a:off x="3143250" y="3990975"/>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92" name="TextBox 92"/>
            <p:cNvSpPr txBox="1"/>
            <p:nvPr/>
          </p:nvSpPr>
          <p:spPr>
            <a:xfrm>
              <a:off x="775335" y="4060031"/>
              <a:ext cx="136840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季度各产品线销售额</a:t>
              </a:r>
            </a:p>
          </p:txBody>
        </p:sp>
        <p:sp>
          <p:nvSpPr>
            <p:cNvPr id="93" name="Line 93"/>
            <p:cNvSpPr/>
            <p:nvPr/>
          </p:nvSpPr>
          <p:spPr>
            <a:xfrm>
              <a:off x="1066800" y="4419600"/>
              <a:ext cx="171450" cy="9525"/>
            </a:xfrm>
            <a:custGeom>
              <a:avLst/>
              <a:gdLst/>
              <a:ahLst/>
              <a:cxnLst/>
              <a:rect l="l" t="t" r="r" b="b"/>
              <a:pathLst>
                <a:path w="171450" h="9525">
                  <a:moveTo>
                    <a:pt x="0" y="0"/>
                  </a:moveTo>
                  <a:lnTo>
                    <a:pt x="171450" y="0"/>
                  </a:lnTo>
                </a:path>
              </a:pathLst>
            </a:custGeom>
            <a:noFill/>
            <a:ln w="23812">
              <a:solidFill>
                <a:srgbClr val="C83B1E"/>
              </a:solidFill>
            </a:ln>
          </p:spPr>
        </p:sp>
        <p:sp>
          <p:nvSpPr>
            <p:cNvPr id="94" name="Ellipse 94"/>
            <p:cNvSpPr/>
            <p:nvPr/>
          </p:nvSpPr>
          <p:spPr>
            <a:xfrm>
              <a:off x="1123950" y="4391025"/>
              <a:ext cx="57150" cy="57150"/>
            </a:xfrm>
            <a:prstGeom prst="ellipse">
              <a:avLst/>
            </a:prstGeom>
            <a:solidFill>
              <a:srgbClr val="C83B1E"/>
            </a:solidFill>
            <a:ln>
              <a:noFill/>
            </a:ln>
          </p:spPr>
        </p:sp>
        <p:sp>
          <p:nvSpPr>
            <p:cNvPr id="95" name="TextBox 95"/>
            <p:cNvSpPr txBox="1"/>
            <p:nvPr/>
          </p:nvSpPr>
          <p:spPr>
            <a:xfrm>
              <a:off x="1281112" y="4376738"/>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线下</a:t>
              </a:r>
            </a:p>
          </p:txBody>
        </p:sp>
        <p:sp>
          <p:nvSpPr>
            <p:cNvPr id="96" name="Line 96"/>
            <p:cNvSpPr/>
            <p:nvPr/>
          </p:nvSpPr>
          <p:spPr>
            <a:xfrm>
              <a:off x="1714500" y="4419600"/>
              <a:ext cx="171450" cy="9525"/>
            </a:xfrm>
            <a:custGeom>
              <a:avLst/>
              <a:gdLst/>
              <a:ahLst/>
              <a:cxnLst/>
              <a:rect l="l" t="t" r="r" b="b"/>
              <a:pathLst>
                <a:path w="171450" h="9525">
                  <a:moveTo>
                    <a:pt x="0" y="0"/>
                  </a:moveTo>
                  <a:lnTo>
                    <a:pt x="171450" y="0"/>
                  </a:lnTo>
                </a:path>
              </a:pathLst>
            </a:custGeom>
            <a:noFill/>
            <a:ln w="23812">
              <a:solidFill>
                <a:srgbClr val="F8B6A9"/>
              </a:solidFill>
            </a:ln>
          </p:spPr>
        </p:sp>
        <p:sp>
          <p:nvSpPr>
            <p:cNvPr id="97" name="Ellipse 97"/>
            <p:cNvSpPr/>
            <p:nvPr/>
          </p:nvSpPr>
          <p:spPr>
            <a:xfrm>
              <a:off x="1771650" y="4391025"/>
              <a:ext cx="57150" cy="57150"/>
            </a:xfrm>
            <a:prstGeom prst="ellipse">
              <a:avLst/>
            </a:prstGeom>
            <a:solidFill>
              <a:srgbClr val="F8B6A9"/>
            </a:solidFill>
            <a:ln>
              <a:noFill/>
            </a:ln>
          </p:spPr>
        </p:sp>
        <p:sp>
          <p:nvSpPr>
            <p:cNvPr id="98" name="TextBox 98"/>
            <p:cNvSpPr txBox="1"/>
            <p:nvPr/>
          </p:nvSpPr>
          <p:spPr>
            <a:xfrm>
              <a:off x="1928812" y="4376738"/>
              <a:ext cx="41338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自营平台</a:t>
              </a:r>
            </a:p>
          </p:txBody>
        </p:sp>
        <p:sp>
          <p:nvSpPr>
            <p:cNvPr id="99" name="Line 99"/>
            <p:cNvSpPr/>
            <p:nvPr/>
          </p:nvSpPr>
          <p:spPr>
            <a:xfrm>
              <a:off x="2647950" y="4419600"/>
              <a:ext cx="171450" cy="9525"/>
            </a:xfrm>
            <a:custGeom>
              <a:avLst/>
              <a:gdLst/>
              <a:ahLst/>
              <a:cxnLst/>
              <a:rect l="l" t="t" r="r" b="b"/>
              <a:pathLst>
                <a:path w="171450" h="9525">
                  <a:moveTo>
                    <a:pt x="0" y="0"/>
                  </a:moveTo>
                  <a:lnTo>
                    <a:pt x="171450" y="0"/>
                  </a:lnTo>
                </a:path>
              </a:pathLst>
            </a:custGeom>
            <a:noFill/>
            <a:ln w="23812">
              <a:solidFill>
                <a:srgbClr val="F2563B"/>
              </a:solidFill>
            </a:ln>
          </p:spPr>
        </p:sp>
        <p:sp>
          <p:nvSpPr>
            <p:cNvPr id="100" name="Ellipse 100"/>
            <p:cNvSpPr/>
            <p:nvPr/>
          </p:nvSpPr>
          <p:spPr>
            <a:xfrm>
              <a:off x="2705100" y="4391025"/>
              <a:ext cx="57150" cy="57150"/>
            </a:xfrm>
            <a:prstGeom prst="ellipse">
              <a:avLst/>
            </a:prstGeom>
            <a:solidFill>
              <a:srgbClr val="F2563B"/>
            </a:solidFill>
            <a:ln>
              <a:noFill/>
            </a:ln>
          </p:spPr>
        </p:sp>
        <p:sp>
          <p:nvSpPr>
            <p:cNvPr id="101" name="TextBox 101"/>
            <p:cNvSpPr txBox="1"/>
            <p:nvPr/>
          </p:nvSpPr>
          <p:spPr>
            <a:xfrm>
              <a:off x="2862262" y="4376738"/>
              <a:ext cx="41338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电商平台</a:t>
              </a:r>
            </a:p>
          </p:txBody>
        </p:sp>
        <p:sp>
          <p:nvSpPr>
            <p:cNvPr id="102" name="Line 102"/>
            <p:cNvSpPr/>
            <p:nvPr/>
          </p:nvSpPr>
          <p:spPr>
            <a:xfrm>
              <a:off x="1000125" y="4876800"/>
              <a:ext cx="3095625" cy="9525"/>
            </a:xfrm>
            <a:custGeom>
              <a:avLst/>
              <a:gdLst/>
              <a:ahLst/>
              <a:cxnLst/>
              <a:rect l="l" t="t" r="r" b="b"/>
              <a:pathLst>
                <a:path w="3095625" h="9525">
                  <a:moveTo>
                    <a:pt x="0" y="0"/>
                  </a:moveTo>
                  <a:lnTo>
                    <a:pt x="3095625" y="0"/>
                  </a:lnTo>
                </a:path>
              </a:pathLst>
            </a:custGeom>
            <a:noFill/>
            <a:ln w="9525">
              <a:solidFill>
                <a:srgbClr val="EAF2FC"/>
              </a:solidFill>
            </a:ln>
          </p:spPr>
        </p:sp>
        <p:sp>
          <p:nvSpPr>
            <p:cNvPr id="103" name="Line 103"/>
            <p:cNvSpPr/>
            <p:nvPr/>
          </p:nvSpPr>
          <p:spPr>
            <a:xfrm>
              <a:off x="1000125" y="5181600"/>
              <a:ext cx="3095625" cy="9525"/>
            </a:xfrm>
            <a:custGeom>
              <a:avLst/>
              <a:gdLst/>
              <a:ahLst/>
              <a:cxnLst/>
              <a:rect l="l" t="t" r="r" b="b"/>
              <a:pathLst>
                <a:path w="3095625" h="9525">
                  <a:moveTo>
                    <a:pt x="0" y="0"/>
                  </a:moveTo>
                  <a:lnTo>
                    <a:pt x="3095625" y="0"/>
                  </a:lnTo>
                </a:path>
              </a:pathLst>
            </a:custGeom>
            <a:noFill/>
            <a:ln w="9525">
              <a:solidFill>
                <a:srgbClr val="EAF2FC"/>
              </a:solidFill>
            </a:ln>
          </p:spPr>
        </p:sp>
        <p:sp>
          <p:nvSpPr>
            <p:cNvPr id="104" name="Line 104"/>
            <p:cNvSpPr/>
            <p:nvPr/>
          </p:nvSpPr>
          <p:spPr>
            <a:xfrm>
              <a:off x="1000125" y="5486400"/>
              <a:ext cx="3095625" cy="9525"/>
            </a:xfrm>
            <a:custGeom>
              <a:avLst/>
              <a:gdLst/>
              <a:ahLst/>
              <a:cxnLst/>
              <a:rect l="l" t="t" r="r" b="b"/>
              <a:pathLst>
                <a:path w="3095625" h="9525">
                  <a:moveTo>
                    <a:pt x="0" y="0"/>
                  </a:moveTo>
                  <a:lnTo>
                    <a:pt x="3095625" y="0"/>
                  </a:lnTo>
                </a:path>
              </a:pathLst>
            </a:custGeom>
            <a:noFill/>
            <a:ln w="9525">
              <a:solidFill>
                <a:srgbClr val="EAF2FC"/>
              </a:solidFill>
            </a:ln>
          </p:spPr>
        </p:sp>
        <p:sp>
          <p:nvSpPr>
            <p:cNvPr id="105" name="Line 105"/>
            <p:cNvSpPr/>
            <p:nvPr/>
          </p:nvSpPr>
          <p:spPr>
            <a:xfrm>
              <a:off x="1000125" y="5791200"/>
              <a:ext cx="3095625" cy="9525"/>
            </a:xfrm>
            <a:custGeom>
              <a:avLst/>
              <a:gdLst/>
              <a:ahLst/>
              <a:cxnLst/>
              <a:rect l="l" t="t" r="r" b="b"/>
              <a:pathLst>
                <a:path w="3095625" h="9525">
                  <a:moveTo>
                    <a:pt x="0" y="0"/>
                  </a:moveTo>
                  <a:lnTo>
                    <a:pt x="3095625" y="0"/>
                  </a:lnTo>
                </a:path>
              </a:pathLst>
            </a:custGeom>
            <a:noFill/>
            <a:ln w="9525">
              <a:solidFill>
                <a:srgbClr val="EAF2FC"/>
              </a:solidFill>
            </a:ln>
          </p:spPr>
        </p:sp>
        <p:sp>
          <p:nvSpPr>
            <p:cNvPr id="106" name="TextBox 106"/>
            <p:cNvSpPr txBox="1"/>
            <p:nvPr/>
          </p:nvSpPr>
          <p:spPr>
            <a:xfrm>
              <a:off x="887865" y="6061234"/>
              <a:ext cx="59873"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0</a:t>
              </a:r>
            </a:p>
          </p:txBody>
        </p:sp>
        <p:sp>
          <p:nvSpPr>
            <p:cNvPr id="107" name="TextBox 107"/>
            <p:cNvSpPr txBox="1"/>
            <p:nvPr/>
          </p:nvSpPr>
          <p:spPr>
            <a:xfrm>
              <a:off x="636125" y="5756434"/>
              <a:ext cx="311612"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100000</a:t>
              </a:r>
            </a:p>
          </p:txBody>
        </p:sp>
        <p:sp>
          <p:nvSpPr>
            <p:cNvPr id="108" name="TextBox 108"/>
            <p:cNvSpPr txBox="1"/>
            <p:nvPr/>
          </p:nvSpPr>
          <p:spPr>
            <a:xfrm>
              <a:off x="636125" y="5451634"/>
              <a:ext cx="311612"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200000</a:t>
              </a:r>
            </a:p>
          </p:txBody>
        </p:sp>
        <p:sp>
          <p:nvSpPr>
            <p:cNvPr id="109" name="TextBox 109"/>
            <p:cNvSpPr txBox="1"/>
            <p:nvPr/>
          </p:nvSpPr>
          <p:spPr>
            <a:xfrm>
              <a:off x="636125" y="5146834"/>
              <a:ext cx="311612"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300000</a:t>
              </a:r>
            </a:p>
          </p:txBody>
        </p:sp>
        <p:sp>
          <p:nvSpPr>
            <p:cNvPr id="110" name="TextBox 110"/>
            <p:cNvSpPr txBox="1"/>
            <p:nvPr/>
          </p:nvSpPr>
          <p:spPr>
            <a:xfrm>
              <a:off x="636125" y="4842034"/>
              <a:ext cx="311612"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400000</a:t>
              </a:r>
            </a:p>
          </p:txBody>
        </p:sp>
        <p:sp>
          <p:nvSpPr>
            <p:cNvPr id="111" name="TextBox 111"/>
            <p:cNvSpPr txBox="1"/>
            <p:nvPr/>
          </p:nvSpPr>
          <p:spPr>
            <a:xfrm>
              <a:off x="636125" y="4537234"/>
              <a:ext cx="311612"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500000</a:t>
              </a:r>
            </a:p>
          </p:txBody>
        </p:sp>
        <p:sp>
          <p:nvSpPr>
            <p:cNvPr id="112" name="Polyline 112"/>
            <p:cNvSpPr/>
            <p:nvPr/>
          </p:nvSpPr>
          <p:spPr>
            <a:xfrm>
              <a:off x="1571625" y="4724400"/>
              <a:ext cx="1962150" cy="914400"/>
            </a:xfrm>
            <a:custGeom>
              <a:avLst/>
              <a:gdLst/>
              <a:ahLst/>
              <a:cxnLst/>
              <a:rect l="l" t="t" r="r" b="b"/>
              <a:pathLst>
                <a:path w="1962150" h="914400">
                  <a:moveTo>
                    <a:pt x="0" y="0"/>
                  </a:moveTo>
                  <a:lnTo>
                    <a:pt x="981075" y="609600"/>
                  </a:lnTo>
                  <a:lnTo>
                    <a:pt x="1962150" y="914400"/>
                  </a:lnTo>
                </a:path>
              </a:pathLst>
            </a:custGeom>
            <a:noFill/>
            <a:ln w="23812">
              <a:solidFill>
                <a:srgbClr val="C83B1E"/>
              </a:solidFill>
            </a:ln>
          </p:spPr>
        </p:sp>
        <p:sp>
          <p:nvSpPr>
            <p:cNvPr id="113" name="Polyline 113"/>
            <p:cNvSpPr/>
            <p:nvPr/>
          </p:nvSpPr>
          <p:spPr>
            <a:xfrm>
              <a:off x="1571625" y="5303520"/>
              <a:ext cx="1962150" cy="396240"/>
            </a:xfrm>
            <a:custGeom>
              <a:avLst/>
              <a:gdLst/>
              <a:ahLst/>
              <a:cxnLst/>
              <a:rect l="l" t="t" r="r" b="b"/>
              <a:pathLst>
                <a:path w="1962150" h="396240">
                  <a:moveTo>
                    <a:pt x="0" y="0"/>
                  </a:moveTo>
                  <a:lnTo>
                    <a:pt x="981075" y="396240"/>
                  </a:lnTo>
                  <a:lnTo>
                    <a:pt x="1962150" y="60960"/>
                  </a:lnTo>
                </a:path>
              </a:pathLst>
            </a:custGeom>
            <a:noFill/>
            <a:ln w="23812">
              <a:solidFill>
                <a:srgbClr val="F8B6A9"/>
              </a:solidFill>
            </a:ln>
          </p:spPr>
        </p:sp>
        <p:sp>
          <p:nvSpPr>
            <p:cNvPr id="114" name="Polyline 114"/>
            <p:cNvSpPr/>
            <p:nvPr/>
          </p:nvSpPr>
          <p:spPr>
            <a:xfrm>
              <a:off x="1571625" y="5425440"/>
              <a:ext cx="1962150" cy="396240"/>
            </a:xfrm>
            <a:custGeom>
              <a:avLst/>
              <a:gdLst/>
              <a:ahLst/>
              <a:cxnLst/>
              <a:rect l="l" t="t" r="r" b="b"/>
              <a:pathLst>
                <a:path w="1962150" h="396240">
                  <a:moveTo>
                    <a:pt x="0" y="0"/>
                  </a:moveTo>
                  <a:lnTo>
                    <a:pt x="981075" y="396240"/>
                  </a:lnTo>
                  <a:lnTo>
                    <a:pt x="1962150" y="365760"/>
                  </a:lnTo>
                </a:path>
              </a:pathLst>
            </a:custGeom>
            <a:noFill/>
            <a:ln w="23812">
              <a:solidFill>
                <a:srgbClr val="F2563B"/>
              </a:solidFill>
            </a:ln>
          </p:spPr>
        </p:sp>
        <p:sp>
          <p:nvSpPr>
            <p:cNvPr id="115" name="Ellipse 115"/>
            <p:cNvSpPr/>
            <p:nvPr/>
          </p:nvSpPr>
          <p:spPr>
            <a:xfrm>
              <a:off x="1538288" y="4691062"/>
              <a:ext cx="66675" cy="66675"/>
            </a:xfrm>
            <a:prstGeom prst="ellipse">
              <a:avLst/>
            </a:prstGeom>
            <a:solidFill>
              <a:srgbClr val="FFFFFF"/>
            </a:solidFill>
            <a:ln w="14288">
              <a:solidFill>
                <a:srgbClr val="C83B1E"/>
              </a:solidFill>
            </a:ln>
          </p:spPr>
        </p:sp>
        <p:sp>
          <p:nvSpPr>
            <p:cNvPr id="116" name="Ellipse 116"/>
            <p:cNvSpPr/>
            <p:nvPr/>
          </p:nvSpPr>
          <p:spPr>
            <a:xfrm>
              <a:off x="2519362" y="5300662"/>
              <a:ext cx="66675" cy="66675"/>
            </a:xfrm>
            <a:prstGeom prst="ellipse">
              <a:avLst/>
            </a:prstGeom>
            <a:solidFill>
              <a:srgbClr val="FFFFFF"/>
            </a:solidFill>
            <a:ln w="14288">
              <a:solidFill>
                <a:srgbClr val="C83B1E"/>
              </a:solidFill>
            </a:ln>
          </p:spPr>
        </p:sp>
        <p:sp>
          <p:nvSpPr>
            <p:cNvPr id="117" name="Ellipse 117"/>
            <p:cNvSpPr/>
            <p:nvPr/>
          </p:nvSpPr>
          <p:spPr>
            <a:xfrm>
              <a:off x="3500438" y="5605462"/>
              <a:ext cx="66675" cy="66675"/>
            </a:xfrm>
            <a:prstGeom prst="ellipse">
              <a:avLst/>
            </a:prstGeom>
            <a:solidFill>
              <a:srgbClr val="FFFFFF"/>
            </a:solidFill>
            <a:ln w="14288">
              <a:solidFill>
                <a:srgbClr val="C83B1E"/>
              </a:solidFill>
            </a:ln>
          </p:spPr>
        </p:sp>
        <p:sp>
          <p:nvSpPr>
            <p:cNvPr id="118" name="Ellipse 118"/>
            <p:cNvSpPr/>
            <p:nvPr/>
          </p:nvSpPr>
          <p:spPr>
            <a:xfrm>
              <a:off x="1538288" y="5270182"/>
              <a:ext cx="66675" cy="66675"/>
            </a:xfrm>
            <a:prstGeom prst="ellipse">
              <a:avLst/>
            </a:prstGeom>
            <a:solidFill>
              <a:srgbClr val="FFFFFF"/>
            </a:solidFill>
            <a:ln w="14288">
              <a:solidFill>
                <a:srgbClr val="F8B6A9"/>
              </a:solidFill>
            </a:ln>
          </p:spPr>
        </p:sp>
        <p:sp>
          <p:nvSpPr>
            <p:cNvPr id="119" name="Ellipse 119"/>
            <p:cNvSpPr/>
            <p:nvPr/>
          </p:nvSpPr>
          <p:spPr>
            <a:xfrm>
              <a:off x="2519362" y="5666422"/>
              <a:ext cx="66675" cy="66675"/>
            </a:xfrm>
            <a:prstGeom prst="ellipse">
              <a:avLst/>
            </a:prstGeom>
            <a:solidFill>
              <a:srgbClr val="FFFFFF"/>
            </a:solidFill>
            <a:ln w="14288">
              <a:solidFill>
                <a:srgbClr val="F8B6A9"/>
              </a:solidFill>
            </a:ln>
          </p:spPr>
        </p:sp>
        <p:sp>
          <p:nvSpPr>
            <p:cNvPr id="120" name="Ellipse 120"/>
            <p:cNvSpPr/>
            <p:nvPr/>
          </p:nvSpPr>
          <p:spPr>
            <a:xfrm>
              <a:off x="3500438" y="5331142"/>
              <a:ext cx="66675" cy="66675"/>
            </a:xfrm>
            <a:prstGeom prst="ellipse">
              <a:avLst/>
            </a:prstGeom>
            <a:solidFill>
              <a:srgbClr val="FFFFFF"/>
            </a:solidFill>
            <a:ln w="14288">
              <a:solidFill>
                <a:srgbClr val="F8B6A9"/>
              </a:solidFill>
            </a:ln>
          </p:spPr>
        </p:sp>
        <p:sp>
          <p:nvSpPr>
            <p:cNvPr id="121" name="Ellipse 121"/>
            <p:cNvSpPr/>
            <p:nvPr/>
          </p:nvSpPr>
          <p:spPr>
            <a:xfrm>
              <a:off x="1538288" y="5392102"/>
              <a:ext cx="66675" cy="66675"/>
            </a:xfrm>
            <a:prstGeom prst="ellipse">
              <a:avLst/>
            </a:prstGeom>
            <a:solidFill>
              <a:srgbClr val="FFFFFF"/>
            </a:solidFill>
            <a:ln w="14288">
              <a:solidFill>
                <a:srgbClr val="F2563B"/>
              </a:solidFill>
            </a:ln>
          </p:spPr>
        </p:sp>
        <p:sp>
          <p:nvSpPr>
            <p:cNvPr id="122" name="Ellipse 122"/>
            <p:cNvSpPr/>
            <p:nvPr/>
          </p:nvSpPr>
          <p:spPr>
            <a:xfrm>
              <a:off x="2519362" y="5788342"/>
              <a:ext cx="66675" cy="66675"/>
            </a:xfrm>
            <a:prstGeom prst="ellipse">
              <a:avLst/>
            </a:prstGeom>
            <a:solidFill>
              <a:srgbClr val="FFFFFF"/>
            </a:solidFill>
            <a:ln w="14288">
              <a:solidFill>
                <a:srgbClr val="F2563B"/>
              </a:solidFill>
            </a:ln>
          </p:spPr>
        </p:sp>
        <p:sp>
          <p:nvSpPr>
            <p:cNvPr id="123" name="Ellipse 123"/>
            <p:cNvSpPr/>
            <p:nvPr/>
          </p:nvSpPr>
          <p:spPr>
            <a:xfrm>
              <a:off x="3500438" y="5757862"/>
              <a:ext cx="66675" cy="66675"/>
            </a:xfrm>
            <a:prstGeom prst="ellipse">
              <a:avLst/>
            </a:prstGeom>
            <a:solidFill>
              <a:srgbClr val="FFFFFF"/>
            </a:solidFill>
            <a:ln w="14288">
              <a:solidFill>
                <a:srgbClr val="F2563B"/>
              </a:solidFill>
            </a:ln>
          </p:spPr>
        </p:sp>
        <p:sp>
          <p:nvSpPr>
            <p:cNvPr id="124" name="Line 124"/>
            <p:cNvSpPr/>
            <p:nvPr/>
          </p:nvSpPr>
          <p:spPr>
            <a:xfrm>
              <a:off x="1000125" y="6096000"/>
              <a:ext cx="3095625" cy="9525"/>
            </a:xfrm>
            <a:custGeom>
              <a:avLst/>
              <a:gdLst/>
              <a:ahLst/>
              <a:cxnLst/>
              <a:rect l="l" t="t" r="r" b="b"/>
              <a:pathLst>
                <a:path w="3095625" h="9525">
                  <a:moveTo>
                    <a:pt x="0" y="0"/>
                  </a:moveTo>
                  <a:lnTo>
                    <a:pt x="3095625" y="0"/>
                  </a:lnTo>
                </a:path>
              </a:pathLst>
            </a:custGeom>
            <a:noFill/>
            <a:ln w="11430">
              <a:solidFill>
                <a:srgbClr val="E6C1B9"/>
              </a:solidFill>
            </a:ln>
          </p:spPr>
        </p:sp>
        <p:sp>
          <p:nvSpPr>
            <p:cNvPr id="125" name="TextBox 125"/>
            <p:cNvSpPr txBox="1"/>
            <p:nvPr/>
          </p:nvSpPr>
          <p:spPr>
            <a:xfrm>
              <a:off x="1465898" y="6186488"/>
              <a:ext cx="21145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四月</a:t>
              </a:r>
            </a:p>
          </p:txBody>
        </p:sp>
        <p:sp>
          <p:nvSpPr>
            <p:cNvPr id="126" name="TextBox 126"/>
            <p:cNvSpPr txBox="1"/>
            <p:nvPr/>
          </p:nvSpPr>
          <p:spPr>
            <a:xfrm>
              <a:off x="2446972" y="6186488"/>
              <a:ext cx="21145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五月</a:t>
              </a:r>
            </a:p>
          </p:txBody>
        </p:sp>
        <p:sp>
          <p:nvSpPr>
            <p:cNvPr id="127" name="TextBox 127"/>
            <p:cNvSpPr txBox="1"/>
            <p:nvPr/>
          </p:nvSpPr>
          <p:spPr>
            <a:xfrm>
              <a:off x="3428048" y="6186488"/>
              <a:ext cx="21145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六月</a:t>
              </a:r>
            </a:p>
          </p:txBody>
        </p:sp>
      </p:grpSp>
      <p:grpSp>
        <p:nvGrpSpPr>
          <p:cNvPr id="177" name="m5-dept-table"/>
          <p:cNvGrpSpPr/>
          <p:nvPr/>
        </p:nvGrpSpPr>
        <p:grpSpPr>
          <a:xfrm>
            <a:off x="4429125" y="3895725"/>
            <a:ext cx="7191375" cy="2657475"/>
            <a:chOff x="4429125" y="3895725"/>
            <a:chExt cx="7191375" cy="2657475"/>
          </a:xfrm>
        </p:grpSpPr>
        <p:sp>
          <p:nvSpPr>
            <p:cNvPr id="129" name="Rectangle 129"/>
            <p:cNvSpPr/>
            <p:nvPr/>
          </p:nvSpPr>
          <p:spPr>
            <a:xfrm>
              <a:off x="4429125" y="3895725"/>
              <a:ext cx="7191375" cy="2657475"/>
            </a:xfrm>
            <a:prstGeom prst="rect">
              <a:avLst/>
            </a:prstGeom>
            <a:solidFill>
              <a:srgbClr val="FFFFFF"/>
            </a:solidFill>
            <a:ln w="11430">
              <a:solidFill>
                <a:srgbClr val="C9DDF5"/>
              </a:solidFill>
            </a:ln>
          </p:spPr>
        </p:sp>
        <p:sp>
          <p:nvSpPr>
            <p:cNvPr id="130" name="Rectangle 130"/>
            <p:cNvSpPr/>
            <p:nvPr/>
          </p:nvSpPr>
          <p:spPr>
            <a:xfrm>
              <a:off x="4524375" y="3990975"/>
              <a:ext cx="3143250" cy="266700"/>
            </a:xfrm>
            <a:prstGeom prst="rect">
              <a:avLst/>
            </a:prstGeom>
            <a:gradFill>
              <a:gsLst>
                <a:gs pos="0">
                  <a:srgbClr val="FF5B3A"/>
                </a:gs>
                <a:gs pos="100000">
                  <a:srgbClr val="E94B2B"/>
                </a:gs>
              </a:gsLst>
              <a:lin ang="0" scaled="1"/>
            </a:gradFill>
            <a:ln>
              <a:noFill/>
            </a:ln>
          </p:spPr>
        </p:sp>
        <p:sp>
          <p:nvSpPr>
            <p:cNvPr id="131" name="Polygon 131"/>
            <p:cNvSpPr/>
            <p:nvPr/>
          </p:nvSpPr>
          <p:spPr>
            <a:xfrm>
              <a:off x="7572375" y="3990975"/>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132" name="TextBox 132"/>
            <p:cNvSpPr txBox="1"/>
            <p:nvPr/>
          </p:nvSpPr>
          <p:spPr>
            <a:xfrm>
              <a:off x="4632960" y="4060031"/>
              <a:ext cx="1519174"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各部门支出数据分析表</a:t>
              </a:r>
            </a:p>
          </p:txBody>
        </p:sp>
        <p:sp>
          <p:nvSpPr>
            <p:cNvPr id="133" name="Rectangle 133"/>
            <p:cNvSpPr/>
            <p:nvPr/>
          </p:nvSpPr>
          <p:spPr>
            <a:xfrm>
              <a:off x="4572000" y="4991100"/>
              <a:ext cx="6905625" cy="304800"/>
            </a:xfrm>
            <a:prstGeom prst="rect">
              <a:avLst/>
            </a:prstGeom>
            <a:solidFill>
              <a:srgbClr val="EFF5FD"/>
            </a:solidFill>
            <a:ln>
              <a:noFill/>
            </a:ln>
          </p:spPr>
        </p:sp>
        <p:sp>
          <p:nvSpPr>
            <p:cNvPr id="134" name="Rectangle 134"/>
            <p:cNvSpPr/>
            <p:nvPr/>
          </p:nvSpPr>
          <p:spPr>
            <a:xfrm>
              <a:off x="4572000" y="5600700"/>
              <a:ext cx="6905625" cy="342900"/>
            </a:xfrm>
            <a:prstGeom prst="roundRect">
              <a:avLst>
                <a:gd name="adj" fmla="val 50000"/>
              </a:avLst>
            </a:prstGeom>
            <a:gradFill>
              <a:gsLst>
                <a:gs pos="0">
                  <a:srgbClr val="FF5B3A"/>
                </a:gs>
                <a:gs pos="100000">
                  <a:srgbClr val="E94B2B"/>
                </a:gs>
              </a:gsLst>
              <a:lin ang="0" scaled="1"/>
            </a:gradFill>
            <a:ln>
              <a:noFill/>
            </a:ln>
          </p:spPr>
        </p:sp>
        <p:sp>
          <p:nvSpPr>
            <p:cNvPr id="135" name="TextBox 135"/>
            <p:cNvSpPr txBox="1"/>
            <p:nvPr/>
          </p:nvSpPr>
          <p:spPr>
            <a:xfrm>
              <a:off x="4927714" y="4478893"/>
              <a:ext cx="241071"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部门</a:t>
              </a:r>
            </a:p>
          </p:txBody>
        </p:sp>
        <p:sp>
          <p:nvSpPr>
            <p:cNvPr id="136" name="TextBox 136"/>
            <p:cNvSpPr txBox="1"/>
            <p:nvPr/>
          </p:nvSpPr>
          <p:spPr>
            <a:xfrm>
              <a:off x="5841378" y="4478893"/>
              <a:ext cx="356845"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行政部</a:t>
              </a:r>
            </a:p>
          </p:txBody>
        </p:sp>
        <p:sp>
          <p:nvSpPr>
            <p:cNvPr id="137" name="TextBox 137"/>
            <p:cNvSpPr txBox="1"/>
            <p:nvPr/>
          </p:nvSpPr>
          <p:spPr>
            <a:xfrm>
              <a:off x="6831978" y="4478893"/>
              <a:ext cx="356845"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财务部</a:t>
              </a:r>
            </a:p>
          </p:txBody>
        </p:sp>
        <p:sp>
          <p:nvSpPr>
            <p:cNvPr id="138" name="TextBox 138"/>
            <p:cNvSpPr txBox="1"/>
            <p:nvPr/>
          </p:nvSpPr>
          <p:spPr>
            <a:xfrm>
              <a:off x="7822578" y="4478893"/>
              <a:ext cx="356845"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营销部</a:t>
              </a:r>
            </a:p>
          </p:txBody>
        </p:sp>
        <p:sp>
          <p:nvSpPr>
            <p:cNvPr id="139" name="TextBox 139"/>
            <p:cNvSpPr txBox="1"/>
            <p:nvPr/>
          </p:nvSpPr>
          <p:spPr>
            <a:xfrm>
              <a:off x="8813178" y="4478893"/>
              <a:ext cx="356845"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开发部</a:t>
              </a:r>
            </a:p>
          </p:txBody>
        </p:sp>
        <p:sp>
          <p:nvSpPr>
            <p:cNvPr id="140" name="TextBox 140"/>
            <p:cNvSpPr txBox="1"/>
            <p:nvPr/>
          </p:nvSpPr>
          <p:spPr>
            <a:xfrm>
              <a:off x="9803778" y="4478893"/>
              <a:ext cx="356845"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设计部</a:t>
              </a:r>
            </a:p>
          </p:txBody>
        </p:sp>
        <p:sp>
          <p:nvSpPr>
            <p:cNvPr id="141" name="TextBox 141"/>
            <p:cNvSpPr txBox="1"/>
            <p:nvPr/>
          </p:nvSpPr>
          <p:spPr>
            <a:xfrm>
              <a:off x="10852264" y="4478893"/>
              <a:ext cx="241071"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运营</a:t>
              </a:r>
            </a:p>
          </p:txBody>
        </p:sp>
        <p:sp>
          <p:nvSpPr>
            <p:cNvPr id="142" name="Line 142"/>
            <p:cNvSpPr/>
            <p:nvPr/>
          </p:nvSpPr>
          <p:spPr>
            <a:xfrm>
              <a:off x="4572000" y="4686300"/>
              <a:ext cx="6905625" cy="9525"/>
            </a:xfrm>
            <a:custGeom>
              <a:avLst/>
              <a:gdLst/>
              <a:ahLst/>
              <a:cxnLst/>
              <a:rect l="l" t="t" r="r" b="b"/>
              <a:pathLst>
                <a:path w="6905625" h="9525">
                  <a:moveTo>
                    <a:pt x="0" y="0"/>
                  </a:moveTo>
                  <a:lnTo>
                    <a:pt x="6905625" y="0"/>
                  </a:lnTo>
                </a:path>
              </a:pathLst>
            </a:custGeom>
            <a:noFill/>
            <a:ln w="14288">
              <a:solidFill>
                <a:srgbClr val="E94B2B"/>
              </a:solidFill>
            </a:ln>
          </p:spPr>
        </p:sp>
        <p:sp>
          <p:nvSpPr>
            <p:cNvPr id="143" name="TextBox 143"/>
            <p:cNvSpPr txBox="1"/>
            <p:nvPr/>
          </p:nvSpPr>
          <p:spPr>
            <a:xfrm>
              <a:off x="4927714" y="4793218"/>
              <a:ext cx="24107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工资</a:t>
              </a:r>
            </a:p>
          </p:txBody>
        </p:sp>
        <p:sp>
          <p:nvSpPr>
            <p:cNvPr id="144" name="TextBox 144"/>
            <p:cNvSpPr txBox="1"/>
            <p:nvPr/>
          </p:nvSpPr>
          <p:spPr>
            <a:xfrm>
              <a:off x="5855849" y="4793218"/>
              <a:ext cx="32790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25684</a:t>
              </a:r>
            </a:p>
          </p:txBody>
        </p:sp>
        <p:sp>
          <p:nvSpPr>
            <p:cNvPr id="145" name="TextBox 145"/>
            <p:cNvSpPr txBox="1"/>
            <p:nvPr/>
          </p:nvSpPr>
          <p:spPr>
            <a:xfrm>
              <a:off x="6846449" y="4793218"/>
              <a:ext cx="32790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36589</a:t>
              </a:r>
            </a:p>
          </p:txBody>
        </p:sp>
        <p:sp>
          <p:nvSpPr>
            <p:cNvPr id="146" name="TextBox 146"/>
            <p:cNvSpPr txBox="1"/>
            <p:nvPr/>
          </p:nvSpPr>
          <p:spPr>
            <a:xfrm>
              <a:off x="7837049" y="4793218"/>
              <a:ext cx="32790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23685</a:t>
              </a:r>
            </a:p>
          </p:txBody>
        </p:sp>
        <p:sp>
          <p:nvSpPr>
            <p:cNvPr id="147" name="TextBox 147"/>
            <p:cNvSpPr txBox="1"/>
            <p:nvPr/>
          </p:nvSpPr>
          <p:spPr>
            <a:xfrm>
              <a:off x="8795812" y="4793218"/>
              <a:ext cx="39157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152685</a:t>
              </a:r>
            </a:p>
          </p:txBody>
        </p:sp>
        <p:sp>
          <p:nvSpPr>
            <p:cNvPr id="148" name="TextBox 148"/>
            <p:cNvSpPr txBox="1"/>
            <p:nvPr/>
          </p:nvSpPr>
          <p:spPr>
            <a:xfrm>
              <a:off x="9818249" y="4793218"/>
              <a:ext cx="32790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58479</a:t>
              </a:r>
            </a:p>
          </p:txBody>
        </p:sp>
        <p:sp>
          <p:nvSpPr>
            <p:cNvPr id="149" name="TextBox 149"/>
            <p:cNvSpPr txBox="1"/>
            <p:nvPr/>
          </p:nvSpPr>
          <p:spPr>
            <a:xfrm>
              <a:off x="10745174" y="4793218"/>
              <a:ext cx="455252"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2568548</a:t>
              </a:r>
            </a:p>
          </p:txBody>
        </p:sp>
        <p:sp>
          <p:nvSpPr>
            <p:cNvPr id="150" name="TextBox 150"/>
            <p:cNvSpPr txBox="1"/>
            <p:nvPr/>
          </p:nvSpPr>
          <p:spPr>
            <a:xfrm>
              <a:off x="4811941" y="50980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各项活动</a:t>
              </a:r>
            </a:p>
          </p:txBody>
        </p:sp>
        <p:sp>
          <p:nvSpPr>
            <p:cNvPr id="151" name="TextBox 151"/>
            <p:cNvSpPr txBox="1"/>
            <p:nvPr/>
          </p:nvSpPr>
          <p:spPr>
            <a:xfrm>
              <a:off x="5855849" y="5098018"/>
              <a:ext cx="32790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15236</a:t>
              </a:r>
            </a:p>
          </p:txBody>
        </p:sp>
        <p:sp>
          <p:nvSpPr>
            <p:cNvPr id="152" name="TextBox 152"/>
            <p:cNvSpPr txBox="1"/>
            <p:nvPr/>
          </p:nvSpPr>
          <p:spPr>
            <a:xfrm>
              <a:off x="6910125" y="509801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526</a:t>
              </a:r>
            </a:p>
          </p:txBody>
        </p:sp>
        <p:sp>
          <p:nvSpPr>
            <p:cNvPr id="153" name="TextBox 153"/>
            <p:cNvSpPr txBox="1"/>
            <p:nvPr/>
          </p:nvSpPr>
          <p:spPr>
            <a:xfrm>
              <a:off x="7868887" y="50980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5526</a:t>
              </a:r>
            </a:p>
          </p:txBody>
        </p:sp>
        <p:sp>
          <p:nvSpPr>
            <p:cNvPr id="154" name="TextBox 154"/>
            <p:cNvSpPr txBox="1"/>
            <p:nvPr/>
          </p:nvSpPr>
          <p:spPr>
            <a:xfrm>
              <a:off x="8827649" y="5098018"/>
              <a:ext cx="32790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58965</a:t>
              </a:r>
            </a:p>
          </p:txBody>
        </p:sp>
        <p:sp>
          <p:nvSpPr>
            <p:cNvPr id="155" name="TextBox 155"/>
            <p:cNvSpPr txBox="1"/>
            <p:nvPr/>
          </p:nvSpPr>
          <p:spPr>
            <a:xfrm>
              <a:off x="9850087" y="50980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4257</a:t>
              </a:r>
            </a:p>
          </p:txBody>
        </p:sp>
        <p:sp>
          <p:nvSpPr>
            <p:cNvPr id="156" name="TextBox 156"/>
            <p:cNvSpPr txBox="1"/>
            <p:nvPr/>
          </p:nvSpPr>
          <p:spPr>
            <a:xfrm>
              <a:off x="10840687" y="50980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4785</a:t>
              </a:r>
            </a:p>
          </p:txBody>
        </p:sp>
        <p:sp>
          <p:nvSpPr>
            <p:cNvPr id="157" name="TextBox 157"/>
            <p:cNvSpPr txBox="1"/>
            <p:nvPr/>
          </p:nvSpPr>
          <p:spPr>
            <a:xfrm>
              <a:off x="4869828" y="5402818"/>
              <a:ext cx="356845"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差旅费</a:t>
              </a:r>
            </a:p>
          </p:txBody>
        </p:sp>
        <p:sp>
          <p:nvSpPr>
            <p:cNvPr id="158" name="TextBox 158"/>
            <p:cNvSpPr txBox="1"/>
            <p:nvPr/>
          </p:nvSpPr>
          <p:spPr>
            <a:xfrm>
              <a:off x="5887687" y="54028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2685</a:t>
              </a:r>
            </a:p>
          </p:txBody>
        </p:sp>
        <p:sp>
          <p:nvSpPr>
            <p:cNvPr id="159" name="TextBox 159"/>
            <p:cNvSpPr txBox="1"/>
            <p:nvPr/>
          </p:nvSpPr>
          <p:spPr>
            <a:xfrm>
              <a:off x="6910125" y="5402818"/>
              <a:ext cx="200551"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236</a:t>
              </a:r>
            </a:p>
          </p:txBody>
        </p:sp>
        <p:sp>
          <p:nvSpPr>
            <p:cNvPr id="160" name="TextBox 160"/>
            <p:cNvSpPr txBox="1"/>
            <p:nvPr/>
          </p:nvSpPr>
          <p:spPr>
            <a:xfrm>
              <a:off x="7868887" y="54028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1256</a:t>
              </a:r>
            </a:p>
          </p:txBody>
        </p:sp>
        <p:sp>
          <p:nvSpPr>
            <p:cNvPr id="161" name="TextBox 161"/>
            <p:cNvSpPr txBox="1"/>
            <p:nvPr/>
          </p:nvSpPr>
          <p:spPr>
            <a:xfrm>
              <a:off x="8859487" y="54028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6584</a:t>
              </a:r>
            </a:p>
          </p:txBody>
        </p:sp>
        <p:sp>
          <p:nvSpPr>
            <p:cNvPr id="162" name="TextBox 162"/>
            <p:cNvSpPr txBox="1"/>
            <p:nvPr/>
          </p:nvSpPr>
          <p:spPr>
            <a:xfrm>
              <a:off x="9850087" y="54028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5085</a:t>
              </a:r>
            </a:p>
          </p:txBody>
        </p:sp>
        <p:sp>
          <p:nvSpPr>
            <p:cNvPr id="163" name="TextBox 163"/>
            <p:cNvSpPr txBox="1"/>
            <p:nvPr/>
          </p:nvSpPr>
          <p:spPr>
            <a:xfrm>
              <a:off x="10840687" y="5402818"/>
              <a:ext cx="264226"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5647</a:t>
              </a:r>
            </a:p>
          </p:txBody>
        </p:sp>
        <p:sp>
          <p:nvSpPr>
            <p:cNvPr id="164" name="TextBox 164"/>
            <p:cNvSpPr txBox="1"/>
            <p:nvPr/>
          </p:nvSpPr>
          <p:spPr>
            <a:xfrm>
              <a:off x="4927714" y="5726668"/>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合计</a:t>
              </a:r>
            </a:p>
          </p:txBody>
        </p:sp>
        <p:sp>
          <p:nvSpPr>
            <p:cNvPr id="165" name="TextBox 165"/>
            <p:cNvSpPr txBox="1"/>
            <p:nvPr/>
          </p:nvSpPr>
          <p:spPr>
            <a:xfrm>
              <a:off x="5814460" y="5726668"/>
              <a:ext cx="410679"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123546</a:t>
              </a:r>
            </a:p>
          </p:txBody>
        </p:sp>
        <p:sp>
          <p:nvSpPr>
            <p:cNvPr id="166" name="TextBox 166"/>
            <p:cNvSpPr txBox="1"/>
            <p:nvPr/>
          </p:nvSpPr>
          <p:spPr>
            <a:xfrm>
              <a:off x="6805060" y="5726668"/>
              <a:ext cx="410679"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153645</a:t>
              </a:r>
            </a:p>
          </p:txBody>
        </p:sp>
        <p:sp>
          <p:nvSpPr>
            <p:cNvPr id="167" name="TextBox 167"/>
            <p:cNvSpPr txBox="1"/>
            <p:nvPr/>
          </p:nvSpPr>
          <p:spPr>
            <a:xfrm>
              <a:off x="7829090" y="5726668"/>
              <a:ext cx="343820"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78546</a:t>
              </a:r>
            </a:p>
          </p:txBody>
        </p:sp>
        <p:sp>
          <p:nvSpPr>
            <p:cNvPr id="168" name="TextBox 168"/>
            <p:cNvSpPr txBox="1"/>
            <p:nvPr/>
          </p:nvSpPr>
          <p:spPr>
            <a:xfrm>
              <a:off x="8786260" y="5726668"/>
              <a:ext cx="410679"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456245</a:t>
              </a:r>
            </a:p>
          </p:txBody>
        </p:sp>
        <p:sp>
          <p:nvSpPr>
            <p:cNvPr id="169" name="TextBox 169"/>
            <p:cNvSpPr txBox="1"/>
            <p:nvPr/>
          </p:nvSpPr>
          <p:spPr>
            <a:xfrm>
              <a:off x="9810290" y="5726668"/>
              <a:ext cx="343820"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48564</a:t>
              </a:r>
            </a:p>
          </p:txBody>
        </p:sp>
        <p:sp>
          <p:nvSpPr>
            <p:cNvPr id="170" name="TextBox 170"/>
            <p:cNvSpPr txBox="1"/>
            <p:nvPr/>
          </p:nvSpPr>
          <p:spPr>
            <a:xfrm>
              <a:off x="10767460" y="5726668"/>
              <a:ext cx="410679"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458451</a:t>
              </a:r>
            </a:p>
          </p:txBody>
        </p:sp>
        <p:sp>
          <p:nvSpPr>
            <p:cNvPr id="171" name="Line 171"/>
            <p:cNvSpPr/>
            <p:nvPr/>
          </p:nvSpPr>
          <p:spPr>
            <a:xfrm>
              <a:off x="5524500" y="4381500"/>
              <a:ext cx="9525" cy="1219200"/>
            </a:xfrm>
            <a:custGeom>
              <a:avLst/>
              <a:gdLst/>
              <a:ahLst/>
              <a:cxnLst/>
              <a:rect l="l" t="t" r="r" b="b"/>
              <a:pathLst>
                <a:path w="9525" h="1219200">
                  <a:moveTo>
                    <a:pt x="0" y="0"/>
                  </a:moveTo>
                  <a:lnTo>
                    <a:pt x="0" y="1219200"/>
                  </a:lnTo>
                </a:path>
              </a:pathLst>
            </a:custGeom>
            <a:noFill/>
            <a:ln w="9525">
              <a:solidFill>
                <a:srgbClr val="D8E6F8"/>
              </a:solidFill>
            </a:ln>
          </p:spPr>
        </p:sp>
        <p:sp>
          <p:nvSpPr>
            <p:cNvPr id="172" name="Line 172"/>
            <p:cNvSpPr/>
            <p:nvPr/>
          </p:nvSpPr>
          <p:spPr>
            <a:xfrm>
              <a:off x="6515100" y="4381500"/>
              <a:ext cx="9525" cy="1219200"/>
            </a:xfrm>
            <a:custGeom>
              <a:avLst/>
              <a:gdLst/>
              <a:ahLst/>
              <a:cxnLst/>
              <a:rect l="l" t="t" r="r" b="b"/>
              <a:pathLst>
                <a:path w="9525" h="1219200">
                  <a:moveTo>
                    <a:pt x="0" y="0"/>
                  </a:moveTo>
                  <a:lnTo>
                    <a:pt x="0" y="1219200"/>
                  </a:lnTo>
                </a:path>
              </a:pathLst>
            </a:custGeom>
            <a:noFill/>
            <a:ln w="9525">
              <a:solidFill>
                <a:srgbClr val="D8E6F8"/>
              </a:solidFill>
            </a:ln>
          </p:spPr>
        </p:sp>
        <p:sp>
          <p:nvSpPr>
            <p:cNvPr id="173" name="Line 173"/>
            <p:cNvSpPr/>
            <p:nvPr/>
          </p:nvSpPr>
          <p:spPr>
            <a:xfrm>
              <a:off x="7505700" y="4381500"/>
              <a:ext cx="9525" cy="1219200"/>
            </a:xfrm>
            <a:custGeom>
              <a:avLst/>
              <a:gdLst/>
              <a:ahLst/>
              <a:cxnLst/>
              <a:rect l="l" t="t" r="r" b="b"/>
              <a:pathLst>
                <a:path w="9525" h="1219200">
                  <a:moveTo>
                    <a:pt x="0" y="0"/>
                  </a:moveTo>
                  <a:lnTo>
                    <a:pt x="0" y="1219200"/>
                  </a:lnTo>
                </a:path>
              </a:pathLst>
            </a:custGeom>
            <a:noFill/>
            <a:ln w="9525">
              <a:solidFill>
                <a:srgbClr val="D8E6F8"/>
              </a:solidFill>
            </a:ln>
          </p:spPr>
        </p:sp>
        <p:sp>
          <p:nvSpPr>
            <p:cNvPr id="174" name="Line 174"/>
            <p:cNvSpPr/>
            <p:nvPr/>
          </p:nvSpPr>
          <p:spPr>
            <a:xfrm>
              <a:off x="8496300" y="4381500"/>
              <a:ext cx="9525" cy="1219200"/>
            </a:xfrm>
            <a:custGeom>
              <a:avLst/>
              <a:gdLst/>
              <a:ahLst/>
              <a:cxnLst/>
              <a:rect l="l" t="t" r="r" b="b"/>
              <a:pathLst>
                <a:path w="9525" h="1219200">
                  <a:moveTo>
                    <a:pt x="0" y="0"/>
                  </a:moveTo>
                  <a:lnTo>
                    <a:pt x="0" y="1219200"/>
                  </a:lnTo>
                </a:path>
              </a:pathLst>
            </a:custGeom>
            <a:noFill/>
            <a:ln w="9525">
              <a:solidFill>
                <a:srgbClr val="D8E6F8"/>
              </a:solidFill>
            </a:ln>
          </p:spPr>
        </p:sp>
        <p:sp>
          <p:nvSpPr>
            <p:cNvPr id="175" name="Line 175"/>
            <p:cNvSpPr/>
            <p:nvPr/>
          </p:nvSpPr>
          <p:spPr>
            <a:xfrm>
              <a:off x="9486900" y="4381500"/>
              <a:ext cx="9525" cy="1219200"/>
            </a:xfrm>
            <a:custGeom>
              <a:avLst/>
              <a:gdLst/>
              <a:ahLst/>
              <a:cxnLst/>
              <a:rect l="l" t="t" r="r" b="b"/>
              <a:pathLst>
                <a:path w="9525" h="1219200">
                  <a:moveTo>
                    <a:pt x="0" y="0"/>
                  </a:moveTo>
                  <a:lnTo>
                    <a:pt x="0" y="1219200"/>
                  </a:lnTo>
                </a:path>
              </a:pathLst>
            </a:custGeom>
            <a:noFill/>
            <a:ln w="9525">
              <a:solidFill>
                <a:srgbClr val="D8E6F8"/>
              </a:solidFill>
            </a:ln>
          </p:spPr>
        </p:sp>
        <p:sp>
          <p:nvSpPr>
            <p:cNvPr id="176" name="Line 176"/>
            <p:cNvSpPr/>
            <p:nvPr/>
          </p:nvSpPr>
          <p:spPr>
            <a:xfrm>
              <a:off x="10477500" y="4381500"/>
              <a:ext cx="9525" cy="1219200"/>
            </a:xfrm>
            <a:custGeom>
              <a:avLst/>
              <a:gdLst/>
              <a:ahLst/>
              <a:cxnLst/>
              <a:rect l="l" t="t" r="r" b="b"/>
              <a:pathLst>
                <a:path w="9525" h="1219200">
                  <a:moveTo>
                    <a:pt x="0" y="0"/>
                  </a:moveTo>
                  <a:lnTo>
                    <a:pt x="0" y="1219200"/>
                  </a:lnTo>
                </a:path>
              </a:pathLst>
            </a:custGeom>
            <a:noFill/>
            <a:ln w="9525">
              <a:solidFill>
                <a:srgbClr val="D8E6F8"/>
              </a:solidFill>
            </a:ln>
          </p:spPr>
        </p:sp>
      </p:gr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24</a:t>
              </a:r>
            </a:p>
          </p:txBody>
        </p:sp>
        <p:sp>
          <p:nvSpPr>
            <p:cNvPr id="4" name="TextBox 4"/>
            <p:cNvSpPr txBox="1"/>
            <p:nvPr/>
          </p:nvSpPr>
          <p:spPr>
            <a:xfrm>
              <a:off x="904494" y="180023"/>
              <a:ext cx="2516124"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财务报表可视化看板</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7" name="kpi-revenue"/>
          <p:cNvGrpSpPr/>
          <p:nvPr/>
        </p:nvGrpSpPr>
        <p:grpSpPr>
          <a:xfrm>
            <a:off x="571500" y="838200"/>
            <a:ext cx="1562100" cy="601123"/>
            <a:chOff x="571500" y="838200"/>
            <a:chExt cx="1562100" cy="601123"/>
          </a:xfrm>
        </p:grpSpPr>
        <p:sp>
          <p:nvSpPr>
            <p:cNvPr id="7" name="Rectangle 7"/>
            <p:cNvSpPr/>
            <p:nvPr/>
          </p:nvSpPr>
          <p:spPr>
            <a:xfrm>
              <a:off x="571500" y="838200"/>
              <a:ext cx="1562100" cy="590550"/>
            </a:xfrm>
            <a:prstGeom prst="roundRect">
              <a:avLst>
                <a:gd name="adj" fmla="val 12903"/>
              </a:avLst>
            </a:prstGeom>
            <a:gradFill>
              <a:gsLst>
                <a:gs pos="0">
                  <a:srgbClr val="FF5B3A"/>
                </a:gs>
                <a:gs pos="100000">
                  <a:srgbClr val="C83B1E"/>
                </a:gs>
              </a:gsLst>
              <a:lin ang="0" scaled="1"/>
            </a:gradFill>
            <a:ln>
              <a:noFill/>
            </a:ln>
          </p:spPr>
        </p:sp>
        <p:sp>
          <p:nvSpPr>
            <p:cNvPr id="8" name="Ellipse 8"/>
            <p:cNvSpPr/>
            <p:nvPr/>
          </p:nvSpPr>
          <p:spPr>
            <a:xfrm>
              <a:off x="695325" y="990600"/>
              <a:ext cx="285750" cy="285750"/>
            </a:xfrm>
            <a:prstGeom prst="ellipse">
              <a:avLst/>
            </a:prstGeom>
            <a:solidFill>
              <a:srgbClr val="FFFFFF"/>
            </a:solidFill>
            <a:ln>
              <a:noFill/>
            </a:ln>
          </p:spPr>
        </p:sp>
        <p:grpSp>
          <p:nvGrpSpPr>
            <p:cNvPr id="14" name="Group 14"/>
            <p:cNvGrpSpPr/>
            <p:nvPr/>
          </p:nvGrpSpPr>
          <p:grpSpPr>
            <a:xfrm>
              <a:off x="766762" y="1060974"/>
              <a:ext cx="142875" cy="143938"/>
              <a:chOff x="766762" y="1060974"/>
              <a:chExt cx="142875" cy="143938"/>
            </a:xfrm>
          </p:grpSpPr>
          <p:sp>
            <p:nvSpPr>
              <p:cNvPr id="9" name="Freeform 9"/>
              <p:cNvSpPr/>
              <p:nvPr/>
            </p:nvSpPr>
            <p:spPr>
              <a:xfrm>
                <a:off x="814387" y="1125537"/>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E94B2B"/>
                </a:solidFill>
              </a:ln>
            </p:spPr>
          </p:sp>
          <p:sp>
            <p:nvSpPr>
              <p:cNvPr id="10" name="Freeform 10"/>
              <p:cNvSpPr/>
              <p:nvPr/>
            </p:nvSpPr>
            <p:spPr>
              <a:xfrm>
                <a:off x="814387" y="1149350"/>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E94B2B"/>
                </a:solidFill>
              </a:ln>
            </p:spPr>
          </p:sp>
          <p:sp>
            <p:nvSpPr>
              <p:cNvPr id="11" name="Freeform 11"/>
              <p:cNvSpPr/>
              <p:nvPr/>
            </p:nvSpPr>
            <p:spPr>
              <a:xfrm>
                <a:off x="766762" y="1060974"/>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E94B2B"/>
                </a:solidFill>
              </a:ln>
            </p:spPr>
          </p:sp>
          <p:sp>
            <p:nvSpPr>
              <p:cNvPr id="12" name="Freeform 12"/>
              <p:cNvSpPr/>
              <p:nvPr/>
            </p:nvSpPr>
            <p:spPr>
              <a:xfrm>
                <a:off x="766762" y="1085850"/>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E94B2B"/>
                </a:solidFill>
              </a:ln>
            </p:spPr>
          </p:sp>
          <p:sp>
            <p:nvSpPr>
              <p:cNvPr id="13" name="Freeform 13"/>
              <p:cNvSpPr/>
              <p:nvPr/>
            </p:nvSpPr>
            <p:spPr>
              <a:xfrm>
                <a:off x="766762" y="1125537"/>
                <a:ext cx="15875" cy="15875"/>
              </a:xfrm>
              <a:custGeom>
                <a:avLst/>
                <a:gdLst/>
                <a:ahLst/>
                <a:cxnLst/>
                <a:rect l="l" t="t" r="r" b="b"/>
                <a:pathLst>
                  <a:path w="15875" h="15875">
                    <a:moveTo>
                      <a:pt x="0" y="0"/>
                    </a:moveTo>
                    <a:cubicBezTo>
                      <a:pt x="0" y="7048"/>
                      <a:pt x="6128" y="11509"/>
                      <a:pt x="15875" y="15875"/>
                    </a:cubicBezTo>
                  </a:path>
                </a:pathLst>
              </a:custGeom>
              <a:noFill/>
              <a:ln w="15875">
                <a:solidFill>
                  <a:srgbClr val="E94B2B"/>
                </a:solidFill>
              </a:ln>
            </p:spPr>
          </p:sp>
        </p:grpSp>
        <p:sp>
          <p:nvSpPr>
            <p:cNvPr id="15" name="TextBox 15"/>
            <p:cNvSpPr txBox="1"/>
            <p:nvPr/>
          </p:nvSpPr>
          <p:spPr>
            <a:xfrm>
              <a:off x="1042988" y="972264"/>
              <a:ext cx="9666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年中总营收（万元）</a:t>
              </a:r>
            </a:p>
          </p:txBody>
        </p:sp>
        <p:sp>
          <p:nvSpPr>
            <p:cNvPr id="16" name="TextBox 16"/>
            <p:cNvSpPr txBox="1"/>
            <p:nvPr/>
          </p:nvSpPr>
          <p:spPr>
            <a:xfrm>
              <a:off x="1040511" y="1160621"/>
              <a:ext cx="456059"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2250</a:t>
              </a:r>
            </a:p>
          </p:txBody>
        </p:sp>
      </p:grpSp>
      <p:grpSp>
        <p:nvGrpSpPr>
          <p:cNvPr id="25" name="kpi-expense"/>
          <p:cNvGrpSpPr/>
          <p:nvPr/>
        </p:nvGrpSpPr>
        <p:grpSpPr>
          <a:xfrm>
            <a:off x="2247900" y="838200"/>
            <a:ext cx="1562100" cy="601123"/>
            <a:chOff x="2247900" y="838200"/>
            <a:chExt cx="1562100" cy="601123"/>
          </a:xfrm>
        </p:grpSpPr>
        <p:sp>
          <p:nvSpPr>
            <p:cNvPr id="18" name="Rectangle 18"/>
            <p:cNvSpPr/>
            <p:nvPr/>
          </p:nvSpPr>
          <p:spPr>
            <a:xfrm>
              <a:off x="2247900" y="838200"/>
              <a:ext cx="1562100" cy="590550"/>
            </a:xfrm>
            <a:prstGeom prst="roundRect">
              <a:avLst>
                <a:gd name="adj" fmla="val 12903"/>
              </a:avLst>
            </a:prstGeom>
            <a:gradFill>
              <a:gsLst>
                <a:gs pos="0">
                  <a:srgbClr val="FF5B3A"/>
                </a:gs>
                <a:gs pos="100000">
                  <a:srgbClr val="C83B1E"/>
                </a:gs>
              </a:gsLst>
              <a:lin ang="0" scaled="1"/>
            </a:gradFill>
            <a:ln>
              <a:noFill/>
            </a:ln>
          </p:spPr>
        </p:sp>
        <p:sp>
          <p:nvSpPr>
            <p:cNvPr id="19" name="Ellipse 19"/>
            <p:cNvSpPr/>
            <p:nvPr/>
          </p:nvSpPr>
          <p:spPr>
            <a:xfrm>
              <a:off x="2371725" y="990600"/>
              <a:ext cx="285750" cy="285750"/>
            </a:xfrm>
            <a:prstGeom prst="ellipse">
              <a:avLst/>
            </a:prstGeom>
            <a:solidFill>
              <a:srgbClr val="FFFFFF"/>
            </a:solidFill>
            <a:ln>
              <a:noFill/>
            </a:ln>
          </p:spPr>
        </p:sp>
        <p:grpSp>
          <p:nvGrpSpPr>
            <p:cNvPr id="22" name="Group 22"/>
            <p:cNvGrpSpPr/>
            <p:nvPr/>
          </p:nvGrpSpPr>
          <p:grpSpPr>
            <a:xfrm>
              <a:off x="2451100" y="1069975"/>
              <a:ext cx="127000" cy="127000"/>
              <a:chOff x="2451100" y="1069975"/>
              <a:chExt cx="127000" cy="127000"/>
            </a:xfrm>
          </p:grpSpPr>
          <p:sp>
            <p:nvSpPr>
              <p:cNvPr id="20" name="Freeform 20"/>
              <p:cNvSpPr/>
              <p:nvPr/>
            </p:nvSpPr>
            <p:spPr>
              <a:xfrm>
                <a:off x="2451100" y="1069975"/>
                <a:ext cx="119062" cy="127000"/>
              </a:xfrm>
              <a:custGeom>
                <a:avLst/>
                <a:gdLst/>
                <a:ahLst/>
                <a:cxnLst/>
                <a:rect l="l" t="t" r="r" b="b"/>
                <a:pathLst>
                  <a:path w="119062" h="127000">
                    <a:moveTo>
                      <a:pt x="103187" y="31750"/>
                    </a:moveTo>
                    <a:lnTo>
                      <a:pt x="103187" y="7937"/>
                    </a:lnTo>
                    <a:cubicBezTo>
                      <a:pt x="103187" y="3554"/>
                      <a:pt x="99634" y="0"/>
                      <a:pt x="95250" y="0"/>
                    </a:cubicBezTo>
                    <a:lnTo>
                      <a:pt x="15875" y="0"/>
                    </a:lnTo>
                    <a:cubicBezTo>
                      <a:pt x="7107" y="0"/>
                      <a:pt x="0" y="7107"/>
                      <a:pt x="0" y="15875"/>
                    </a:cubicBezTo>
                    <a:cubicBezTo>
                      <a:pt x="0" y="24643"/>
                      <a:pt x="7107" y="31750"/>
                      <a:pt x="15875" y="31750"/>
                    </a:cubicBezTo>
                    <a:lnTo>
                      <a:pt x="111125" y="31750"/>
                    </a:lnTo>
                    <a:cubicBezTo>
                      <a:pt x="115509" y="31750"/>
                      <a:pt x="119062" y="35304"/>
                      <a:pt x="119062" y="39687"/>
                    </a:cubicBezTo>
                    <a:lnTo>
                      <a:pt x="119062" y="63500"/>
                    </a:lnTo>
                    <a:moveTo>
                      <a:pt x="119062" y="95250"/>
                    </a:moveTo>
                    <a:lnTo>
                      <a:pt x="119062" y="119062"/>
                    </a:lnTo>
                    <a:cubicBezTo>
                      <a:pt x="119062" y="123446"/>
                      <a:pt x="115509" y="127000"/>
                      <a:pt x="111125" y="127000"/>
                    </a:cubicBezTo>
                    <a:lnTo>
                      <a:pt x="15875" y="127000"/>
                    </a:lnTo>
                    <a:cubicBezTo>
                      <a:pt x="7107" y="127000"/>
                      <a:pt x="0" y="119892"/>
                      <a:pt x="0" y="111125"/>
                    </a:cubicBezTo>
                    <a:lnTo>
                      <a:pt x="0" y="15875"/>
                    </a:lnTo>
                  </a:path>
                </a:pathLst>
              </a:custGeom>
              <a:noFill/>
              <a:ln w="15875">
                <a:solidFill>
                  <a:srgbClr val="E94B2B"/>
                </a:solidFill>
              </a:ln>
            </p:spPr>
          </p:sp>
          <p:sp>
            <p:nvSpPr>
              <p:cNvPr id="21" name="Freeform 21"/>
              <p:cNvSpPr/>
              <p:nvPr/>
            </p:nvSpPr>
            <p:spPr>
              <a:xfrm>
                <a:off x="2530475" y="1133475"/>
                <a:ext cx="47625" cy="31750"/>
              </a:xfrm>
              <a:custGeom>
                <a:avLst/>
                <a:gdLst/>
                <a:ahLst/>
                <a:cxnLst/>
                <a:rect l="l" t="t" r="r" b="b"/>
                <a:pathLst>
                  <a:path w="47625" h="31750">
                    <a:moveTo>
                      <a:pt x="47625" y="0"/>
                    </a:moveTo>
                    <a:lnTo>
                      <a:pt x="47625" y="31750"/>
                    </a:lnTo>
                    <a:lnTo>
                      <a:pt x="15875" y="31750"/>
                    </a:lnTo>
                    <a:cubicBezTo>
                      <a:pt x="7107" y="31750"/>
                      <a:pt x="0" y="24643"/>
                      <a:pt x="0" y="15875"/>
                    </a:cubicBezTo>
                    <a:cubicBezTo>
                      <a:pt x="0" y="7107"/>
                      <a:pt x="7107" y="0"/>
                      <a:pt x="15875" y="0"/>
                    </a:cubicBezTo>
                    <a:lnTo>
                      <a:pt x="47625" y="0"/>
                    </a:lnTo>
                  </a:path>
                </a:pathLst>
              </a:custGeom>
              <a:noFill/>
              <a:ln w="15875">
                <a:solidFill>
                  <a:srgbClr val="E94B2B"/>
                </a:solidFill>
              </a:ln>
            </p:spPr>
          </p:sp>
        </p:grpSp>
        <p:sp>
          <p:nvSpPr>
            <p:cNvPr id="23" name="TextBox 23"/>
            <p:cNvSpPr txBox="1"/>
            <p:nvPr/>
          </p:nvSpPr>
          <p:spPr>
            <a:xfrm>
              <a:off x="2719388" y="972264"/>
              <a:ext cx="9666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年中总支出（万元）</a:t>
              </a:r>
            </a:p>
          </p:txBody>
        </p:sp>
        <p:sp>
          <p:nvSpPr>
            <p:cNvPr id="24" name="TextBox 24"/>
            <p:cNvSpPr txBox="1"/>
            <p:nvPr/>
          </p:nvSpPr>
          <p:spPr>
            <a:xfrm>
              <a:off x="2716911" y="1160621"/>
              <a:ext cx="345663"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985</a:t>
              </a:r>
            </a:p>
          </p:txBody>
        </p:sp>
      </p:grpSp>
      <p:grpSp>
        <p:nvGrpSpPr>
          <p:cNvPr id="34" name="kpi-profit"/>
          <p:cNvGrpSpPr/>
          <p:nvPr/>
        </p:nvGrpSpPr>
        <p:grpSpPr>
          <a:xfrm>
            <a:off x="3924300" y="838200"/>
            <a:ext cx="1562100" cy="601123"/>
            <a:chOff x="3924300" y="838200"/>
            <a:chExt cx="1562100" cy="601123"/>
          </a:xfrm>
        </p:grpSpPr>
        <p:sp>
          <p:nvSpPr>
            <p:cNvPr id="26" name="Rectangle 26"/>
            <p:cNvSpPr/>
            <p:nvPr/>
          </p:nvSpPr>
          <p:spPr>
            <a:xfrm>
              <a:off x="3924300" y="838200"/>
              <a:ext cx="1562100" cy="590550"/>
            </a:xfrm>
            <a:prstGeom prst="roundRect">
              <a:avLst>
                <a:gd name="adj" fmla="val 12903"/>
              </a:avLst>
            </a:prstGeom>
            <a:gradFill>
              <a:gsLst>
                <a:gs pos="0">
                  <a:srgbClr val="FF5B3A"/>
                </a:gs>
                <a:gs pos="100000">
                  <a:srgbClr val="C83B1E"/>
                </a:gs>
              </a:gsLst>
              <a:lin ang="0" scaled="1"/>
            </a:gradFill>
            <a:ln>
              <a:noFill/>
            </a:ln>
          </p:spPr>
        </p:sp>
        <p:sp>
          <p:nvSpPr>
            <p:cNvPr id="27" name="Ellipse 27"/>
            <p:cNvSpPr/>
            <p:nvPr/>
          </p:nvSpPr>
          <p:spPr>
            <a:xfrm>
              <a:off x="4048125" y="990600"/>
              <a:ext cx="285750" cy="285750"/>
            </a:xfrm>
            <a:prstGeom prst="ellipse">
              <a:avLst/>
            </a:prstGeom>
            <a:solidFill>
              <a:srgbClr val="FFFFFF"/>
            </a:solidFill>
            <a:ln>
              <a:noFill/>
            </a:ln>
          </p:spPr>
        </p:sp>
        <p:grpSp>
          <p:nvGrpSpPr>
            <p:cNvPr id="31" name="Group 31"/>
            <p:cNvGrpSpPr/>
            <p:nvPr/>
          </p:nvGrpSpPr>
          <p:grpSpPr>
            <a:xfrm>
              <a:off x="4119562" y="1077912"/>
              <a:ext cx="142875" cy="111125"/>
              <a:chOff x="4119562" y="1077912"/>
              <a:chExt cx="142875" cy="111125"/>
            </a:xfrm>
          </p:grpSpPr>
          <p:sp>
            <p:nvSpPr>
              <p:cNvPr id="28" name="Freeform 28"/>
              <p:cNvSpPr/>
              <p:nvPr/>
            </p:nvSpPr>
            <p:spPr>
              <a:xfrm>
                <a:off x="4119562" y="1077912"/>
                <a:ext cx="111125" cy="79375"/>
              </a:xfrm>
              <a:custGeom>
                <a:avLst/>
                <a:gdLst/>
                <a:ahLst/>
                <a:cxnLst/>
                <a:rect l="l" t="t" r="r" b="b"/>
                <a:pathLst>
                  <a:path w="111125" h="79375">
                    <a:moveTo>
                      <a:pt x="31750" y="79375"/>
                    </a:moveTo>
                    <a:lnTo>
                      <a:pt x="7937" y="79375"/>
                    </a:lnTo>
                    <a:cubicBezTo>
                      <a:pt x="3554" y="79375"/>
                      <a:pt x="0" y="75821"/>
                      <a:pt x="0" y="71437"/>
                    </a:cubicBezTo>
                    <a:lnTo>
                      <a:pt x="0" y="7937"/>
                    </a:lnTo>
                    <a:cubicBezTo>
                      <a:pt x="0" y="3554"/>
                      <a:pt x="3554" y="0"/>
                      <a:pt x="7937" y="0"/>
                    </a:cubicBezTo>
                    <a:lnTo>
                      <a:pt x="103187" y="0"/>
                    </a:lnTo>
                    <a:cubicBezTo>
                      <a:pt x="107571" y="0"/>
                      <a:pt x="111125" y="3554"/>
                      <a:pt x="111125" y="7937"/>
                    </a:cubicBezTo>
                    <a:lnTo>
                      <a:pt x="111125" y="31750"/>
                    </a:lnTo>
                  </a:path>
                </a:pathLst>
              </a:custGeom>
              <a:noFill/>
              <a:ln w="15875">
                <a:solidFill>
                  <a:srgbClr val="E94B2B"/>
                </a:solidFill>
              </a:ln>
            </p:spPr>
          </p:sp>
          <p:sp>
            <p:nvSpPr>
              <p:cNvPr id="29" name="Freeform 29"/>
              <p:cNvSpPr/>
              <p:nvPr/>
            </p:nvSpPr>
            <p:spPr>
              <a:xfrm>
                <a:off x="4151312" y="1109662"/>
                <a:ext cx="111125" cy="79375"/>
              </a:xfrm>
              <a:custGeom>
                <a:avLst/>
                <a:gdLst/>
                <a:ahLst/>
                <a:cxnLst/>
                <a:rect l="l" t="t" r="r" b="b"/>
                <a:pathLst>
                  <a:path w="111125" h="79375">
                    <a:moveTo>
                      <a:pt x="0" y="7937"/>
                    </a:moveTo>
                    <a:cubicBezTo>
                      <a:pt x="0" y="3554"/>
                      <a:pt x="3554" y="0"/>
                      <a:pt x="7937" y="0"/>
                    </a:cubicBezTo>
                    <a:lnTo>
                      <a:pt x="103187" y="0"/>
                    </a:lnTo>
                    <a:cubicBezTo>
                      <a:pt x="107571" y="0"/>
                      <a:pt x="111125" y="3554"/>
                      <a:pt x="111125" y="7937"/>
                    </a:cubicBezTo>
                    <a:lnTo>
                      <a:pt x="111125" y="71437"/>
                    </a:lnTo>
                    <a:cubicBezTo>
                      <a:pt x="111125" y="75821"/>
                      <a:pt x="107571" y="79375"/>
                      <a:pt x="103187" y="79375"/>
                    </a:cubicBezTo>
                    <a:lnTo>
                      <a:pt x="7937" y="79375"/>
                    </a:lnTo>
                    <a:cubicBezTo>
                      <a:pt x="3554" y="79375"/>
                      <a:pt x="0" y="75821"/>
                      <a:pt x="0" y="71437"/>
                    </a:cubicBezTo>
                    <a:lnTo>
                      <a:pt x="0" y="7937"/>
                    </a:lnTo>
                  </a:path>
                </a:pathLst>
              </a:custGeom>
              <a:noFill/>
              <a:ln w="15875">
                <a:solidFill>
                  <a:srgbClr val="E94B2B"/>
                </a:solidFill>
              </a:ln>
            </p:spPr>
          </p:sp>
          <p:sp>
            <p:nvSpPr>
              <p:cNvPr id="30" name="Freeform 30"/>
              <p:cNvSpPr/>
              <p:nvPr/>
            </p:nvSpPr>
            <p:spPr>
              <a:xfrm>
                <a:off x="4191000" y="113347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94B2B"/>
                </a:solidFill>
              </a:ln>
            </p:spPr>
          </p:sp>
        </p:grpSp>
        <p:sp>
          <p:nvSpPr>
            <p:cNvPr id="32" name="TextBox 32"/>
            <p:cNvSpPr txBox="1"/>
            <p:nvPr/>
          </p:nvSpPr>
          <p:spPr>
            <a:xfrm>
              <a:off x="4395788" y="972264"/>
              <a:ext cx="966673"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年中总利润（万元）</a:t>
              </a:r>
            </a:p>
          </p:txBody>
        </p:sp>
        <p:sp>
          <p:nvSpPr>
            <p:cNvPr id="33" name="TextBox 33"/>
            <p:cNvSpPr txBox="1"/>
            <p:nvPr/>
          </p:nvSpPr>
          <p:spPr>
            <a:xfrm>
              <a:off x="4393311" y="1160621"/>
              <a:ext cx="456059"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1369</a:t>
              </a:r>
            </a:p>
          </p:txBody>
        </p:sp>
      </p:grpSp>
      <p:grpSp>
        <p:nvGrpSpPr>
          <p:cNvPr id="42" name="kpi-margin"/>
          <p:cNvGrpSpPr/>
          <p:nvPr/>
        </p:nvGrpSpPr>
        <p:grpSpPr>
          <a:xfrm>
            <a:off x="5600700" y="838200"/>
            <a:ext cx="1562100" cy="601123"/>
            <a:chOff x="5600700" y="838200"/>
            <a:chExt cx="1562100" cy="601123"/>
          </a:xfrm>
        </p:grpSpPr>
        <p:sp>
          <p:nvSpPr>
            <p:cNvPr id="35" name="Rectangle 35"/>
            <p:cNvSpPr/>
            <p:nvPr/>
          </p:nvSpPr>
          <p:spPr>
            <a:xfrm>
              <a:off x="5600700" y="838200"/>
              <a:ext cx="1562100" cy="590550"/>
            </a:xfrm>
            <a:prstGeom prst="roundRect">
              <a:avLst>
                <a:gd name="adj" fmla="val 12903"/>
              </a:avLst>
            </a:prstGeom>
            <a:gradFill>
              <a:gsLst>
                <a:gs pos="0">
                  <a:srgbClr val="FF5B3A"/>
                </a:gs>
                <a:gs pos="100000">
                  <a:srgbClr val="C83B1E"/>
                </a:gs>
              </a:gsLst>
              <a:lin ang="0" scaled="1"/>
            </a:gradFill>
            <a:ln>
              <a:noFill/>
            </a:ln>
          </p:spPr>
        </p:sp>
        <p:sp>
          <p:nvSpPr>
            <p:cNvPr id="36" name="Ellipse 36"/>
            <p:cNvSpPr/>
            <p:nvPr/>
          </p:nvSpPr>
          <p:spPr>
            <a:xfrm>
              <a:off x="5724525" y="990600"/>
              <a:ext cx="285750" cy="285750"/>
            </a:xfrm>
            <a:prstGeom prst="ellipse">
              <a:avLst/>
            </a:prstGeom>
            <a:solidFill>
              <a:srgbClr val="FFFFFF"/>
            </a:solidFill>
            <a:ln>
              <a:noFill/>
            </a:ln>
          </p:spPr>
        </p:sp>
        <p:grpSp>
          <p:nvGrpSpPr>
            <p:cNvPr id="39" name="Group 39"/>
            <p:cNvGrpSpPr/>
            <p:nvPr/>
          </p:nvGrpSpPr>
          <p:grpSpPr>
            <a:xfrm>
              <a:off x="5793750" y="1063402"/>
              <a:ext cx="143500" cy="143723"/>
              <a:chOff x="5793750" y="1063402"/>
              <a:chExt cx="143500" cy="143723"/>
            </a:xfrm>
          </p:grpSpPr>
          <p:sp>
            <p:nvSpPr>
              <p:cNvPr id="37" name="Freeform 37"/>
              <p:cNvSpPr/>
              <p:nvPr/>
            </p:nvSpPr>
            <p:spPr>
              <a:xfrm>
                <a:off x="5793750" y="1063402"/>
                <a:ext cx="143500" cy="143723"/>
              </a:xfrm>
              <a:custGeom>
                <a:avLst/>
                <a:gdLst/>
                <a:ahLst/>
                <a:cxnLst/>
                <a:rect l="l" t="t" r="r" b="b"/>
                <a:pathLst>
                  <a:path w="143500" h="143723">
                    <a:moveTo>
                      <a:pt x="57775" y="223"/>
                    </a:moveTo>
                    <a:cubicBezTo>
                      <a:pt x="23406" y="8190"/>
                      <a:pt x="0" y="40055"/>
                      <a:pt x="2676" y="75234"/>
                    </a:cubicBezTo>
                    <a:cubicBezTo>
                      <a:pt x="5353" y="110413"/>
                      <a:pt x="33310" y="138370"/>
                      <a:pt x="68489" y="141046"/>
                    </a:cubicBezTo>
                    <a:cubicBezTo>
                      <a:pt x="103668" y="143723"/>
                      <a:pt x="135532" y="120317"/>
                      <a:pt x="143500" y="85948"/>
                    </a:cubicBezTo>
                    <a:cubicBezTo>
                      <a:pt x="143500" y="81564"/>
                      <a:pt x="139946" y="78010"/>
                      <a:pt x="135562" y="78010"/>
                    </a:cubicBezTo>
                    <a:lnTo>
                      <a:pt x="81587" y="78010"/>
                    </a:lnTo>
                    <a:cubicBezTo>
                      <a:pt x="72820" y="78010"/>
                      <a:pt x="65712" y="70903"/>
                      <a:pt x="65712" y="62135"/>
                    </a:cubicBezTo>
                    <a:lnTo>
                      <a:pt x="65712" y="6573"/>
                    </a:lnTo>
                    <a:cubicBezTo>
                      <a:pt x="65513" y="4673"/>
                      <a:pt x="64562" y="2932"/>
                      <a:pt x="63070" y="1739"/>
                    </a:cubicBezTo>
                    <a:cubicBezTo>
                      <a:pt x="61579" y="546"/>
                      <a:pt x="59672" y="0"/>
                      <a:pt x="57775" y="223"/>
                    </a:cubicBezTo>
                  </a:path>
                </a:pathLst>
              </a:custGeom>
              <a:noFill/>
              <a:ln w="15875">
                <a:solidFill>
                  <a:srgbClr val="E94B2B"/>
                </a:solidFill>
              </a:ln>
            </p:spPr>
          </p:sp>
          <p:sp>
            <p:nvSpPr>
              <p:cNvPr id="38" name="Freeform 38"/>
              <p:cNvSpPr/>
              <p:nvPr/>
            </p:nvSpPr>
            <p:spPr>
              <a:xfrm>
                <a:off x="5891212" y="1066006"/>
                <a:ext cx="43656" cy="43656"/>
              </a:xfrm>
              <a:custGeom>
                <a:avLst/>
                <a:gdLst/>
                <a:ahLst/>
                <a:cxnLst/>
                <a:rect l="l" t="t" r="r" b="b"/>
                <a:pathLst>
                  <a:path w="43656" h="43656">
                    <a:moveTo>
                      <a:pt x="0" y="0"/>
                    </a:moveTo>
                    <a:cubicBezTo>
                      <a:pt x="20414" y="7188"/>
                      <a:pt x="36468" y="23243"/>
                      <a:pt x="43656" y="43656"/>
                    </a:cubicBezTo>
                    <a:lnTo>
                      <a:pt x="7937" y="43656"/>
                    </a:lnTo>
                    <a:cubicBezTo>
                      <a:pt x="3554" y="43656"/>
                      <a:pt x="0" y="40102"/>
                      <a:pt x="0" y="35719"/>
                    </a:cubicBezTo>
                    <a:lnTo>
                      <a:pt x="0" y="0"/>
                    </a:lnTo>
                  </a:path>
                </a:pathLst>
              </a:custGeom>
              <a:noFill/>
              <a:ln w="15875">
                <a:solidFill>
                  <a:srgbClr val="E94B2B"/>
                </a:solidFill>
              </a:ln>
            </p:spPr>
          </p:sp>
        </p:grpSp>
        <p:sp>
          <p:nvSpPr>
            <p:cNvPr id="40" name="TextBox 40"/>
            <p:cNvSpPr txBox="1"/>
            <p:nvPr/>
          </p:nvSpPr>
          <p:spPr>
            <a:xfrm>
              <a:off x="6072188" y="972264"/>
              <a:ext cx="541274" cy="154781"/>
            </a:xfrm>
            <a:prstGeom prst="rect">
              <a:avLst/>
            </a:prstGeom>
            <a:noFill/>
            <a:ln>
              <a:noFill/>
            </a:ln>
          </p:spPr>
          <p:txBody>
            <a:bodyPr wrap="none" lIns="0" tIns="0" rIns="0" bIns="0" anchor="t" anchorCtr="0">
              <a:spAutoFit/>
            </a:bodyPr>
            <a:lstStyle/>
            <a:p>
              <a:pPr algn="l"/>
              <a:r>
                <a:rPr lang="zh-CN" sz="790" dirty="0">
                  <a:solidFill>
                    <a:srgbClr val="FFFFFF"/>
                  </a:solidFill>
                  <a:latin typeface="+mn-lt"/>
                  <a:ea typeface="+mn-ea"/>
                  <a:cs typeface="+mn-cs"/>
                </a:rPr>
                <a:t>营收利润率</a:t>
              </a:r>
            </a:p>
          </p:txBody>
        </p:sp>
        <p:sp>
          <p:nvSpPr>
            <p:cNvPr id="41" name="TextBox 41"/>
            <p:cNvSpPr txBox="1"/>
            <p:nvPr/>
          </p:nvSpPr>
          <p:spPr>
            <a:xfrm>
              <a:off x="6069711" y="1160621"/>
              <a:ext cx="716992"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60.76%</a:t>
              </a:r>
            </a:p>
          </p:txBody>
        </p:sp>
      </p:grpSp>
      <p:grpSp>
        <p:nvGrpSpPr>
          <p:cNvPr id="86" name="m-revenue-stack"/>
          <p:cNvGrpSpPr/>
          <p:nvPr/>
        </p:nvGrpSpPr>
        <p:grpSpPr>
          <a:xfrm>
            <a:off x="571500" y="1581150"/>
            <a:ext cx="2857500" cy="2381250"/>
            <a:chOff x="571500" y="1581150"/>
            <a:chExt cx="2857500" cy="2381250"/>
          </a:xfrm>
        </p:grpSpPr>
        <p:sp>
          <p:nvSpPr>
            <p:cNvPr id="43" name="Rectangle 43"/>
            <p:cNvSpPr/>
            <p:nvPr/>
          </p:nvSpPr>
          <p:spPr>
            <a:xfrm>
              <a:off x="571500" y="1581150"/>
              <a:ext cx="2857500" cy="2381250"/>
            </a:xfrm>
            <a:prstGeom prst="rect">
              <a:avLst/>
            </a:prstGeom>
            <a:solidFill>
              <a:srgbClr val="FFFFFF"/>
            </a:solidFill>
            <a:ln w="11430">
              <a:solidFill>
                <a:srgbClr val="C9DDF5"/>
              </a:solidFill>
            </a:ln>
          </p:spPr>
        </p:sp>
        <p:sp>
          <p:nvSpPr>
            <p:cNvPr id="44" name="Rectangle 44"/>
            <p:cNvSpPr/>
            <p:nvPr/>
          </p:nvSpPr>
          <p:spPr>
            <a:xfrm>
              <a:off x="666750" y="1676400"/>
              <a:ext cx="2095500" cy="247650"/>
            </a:xfrm>
            <a:prstGeom prst="rect">
              <a:avLst/>
            </a:prstGeom>
            <a:gradFill>
              <a:gsLst>
                <a:gs pos="0">
                  <a:srgbClr val="FF5B3A"/>
                </a:gs>
                <a:gs pos="100000">
                  <a:srgbClr val="E94B2B"/>
                </a:gs>
              </a:gsLst>
              <a:lin ang="0" scaled="1"/>
            </a:gradFill>
            <a:ln>
              <a:noFill/>
            </a:ln>
          </p:spPr>
        </p:sp>
        <p:sp>
          <p:nvSpPr>
            <p:cNvPr id="45" name="Polygon 45"/>
            <p:cNvSpPr/>
            <p:nvPr/>
          </p:nvSpPr>
          <p:spPr>
            <a:xfrm>
              <a:off x="2667000" y="167640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sp>
          <p:nvSpPr>
            <p:cNvPr id="46" name="TextBox 46"/>
            <p:cNvSpPr txBox="1"/>
            <p:nvPr/>
          </p:nvSpPr>
          <p:spPr>
            <a:xfrm>
              <a:off x="756666" y="1734502"/>
              <a:ext cx="1000125"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营收统计分析图</a:t>
              </a:r>
            </a:p>
          </p:txBody>
        </p:sp>
        <p:sp>
          <p:nvSpPr>
            <p:cNvPr id="47" name="TextBox 47"/>
            <p:cNvSpPr txBox="1"/>
            <p:nvPr/>
          </p:nvSpPr>
          <p:spPr>
            <a:xfrm>
              <a:off x="738188" y="1988582"/>
              <a:ext cx="612623" cy="126206"/>
            </a:xfrm>
            <a:prstGeom prst="rect">
              <a:avLst/>
            </a:prstGeom>
            <a:noFill/>
            <a:ln>
              <a:noFill/>
            </a:ln>
          </p:spPr>
          <p:txBody>
            <a:bodyPr wrap="none" lIns="0" tIns="0" rIns="0" bIns="0" anchor="t" anchorCtr="0">
              <a:spAutoFit/>
            </a:bodyPr>
            <a:lstStyle/>
            <a:p>
              <a:pPr algn="l"/>
              <a:r>
                <a:rPr lang="zh-CN" sz="640" dirty="0">
                  <a:solidFill>
                    <a:srgbClr val="A6817A"/>
                  </a:solidFill>
                  <a:latin typeface="+mn-lt"/>
                  <a:ea typeface="+mn-ea"/>
                  <a:cs typeface="+mn-cs"/>
                </a:rPr>
                <a:t>（单元：万元）</a:t>
              </a:r>
            </a:p>
          </p:txBody>
        </p:sp>
        <p:sp>
          <p:nvSpPr>
            <p:cNvPr id="48" name="Rectangle 48"/>
            <p:cNvSpPr/>
            <p:nvPr/>
          </p:nvSpPr>
          <p:spPr>
            <a:xfrm>
              <a:off x="1428750" y="1981200"/>
              <a:ext cx="85725" cy="85725"/>
            </a:xfrm>
            <a:prstGeom prst="rect">
              <a:avLst/>
            </a:prstGeom>
            <a:solidFill>
              <a:srgbClr val="C83B1E"/>
            </a:solidFill>
            <a:ln>
              <a:noFill/>
            </a:ln>
          </p:spPr>
        </p:sp>
        <p:sp>
          <p:nvSpPr>
            <p:cNvPr id="49" name="TextBox 49"/>
            <p:cNvSpPr txBox="1"/>
            <p:nvPr/>
          </p:nvSpPr>
          <p:spPr>
            <a:xfrm>
              <a:off x="1538288" y="198453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投资收入</a:t>
              </a:r>
            </a:p>
          </p:txBody>
        </p:sp>
        <p:sp>
          <p:nvSpPr>
            <p:cNvPr id="50" name="Rectangle 50"/>
            <p:cNvSpPr/>
            <p:nvPr/>
          </p:nvSpPr>
          <p:spPr>
            <a:xfrm>
              <a:off x="2057400" y="1981200"/>
              <a:ext cx="85725" cy="85725"/>
            </a:xfrm>
            <a:prstGeom prst="rect">
              <a:avLst/>
            </a:prstGeom>
            <a:solidFill>
              <a:srgbClr val="F0856F"/>
            </a:solidFill>
            <a:ln>
              <a:noFill/>
            </a:ln>
          </p:spPr>
        </p:sp>
        <p:sp>
          <p:nvSpPr>
            <p:cNvPr id="51" name="TextBox 51"/>
            <p:cNvSpPr txBox="1"/>
            <p:nvPr/>
          </p:nvSpPr>
          <p:spPr>
            <a:xfrm>
              <a:off x="2166938" y="198453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零售收入</a:t>
              </a:r>
            </a:p>
          </p:txBody>
        </p:sp>
        <p:sp>
          <p:nvSpPr>
            <p:cNvPr id="52" name="Rectangle 52"/>
            <p:cNvSpPr/>
            <p:nvPr/>
          </p:nvSpPr>
          <p:spPr>
            <a:xfrm>
              <a:off x="2686050" y="1981200"/>
              <a:ext cx="85725" cy="85725"/>
            </a:xfrm>
            <a:prstGeom prst="rect">
              <a:avLst/>
            </a:prstGeom>
            <a:solidFill>
              <a:srgbClr val="F2563B"/>
            </a:solidFill>
            <a:ln>
              <a:noFill/>
            </a:ln>
          </p:spPr>
        </p:sp>
        <p:sp>
          <p:nvSpPr>
            <p:cNvPr id="53" name="TextBox 53"/>
            <p:cNvSpPr txBox="1"/>
            <p:nvPr/>
          </p:nvSpPr>
          <p:spPr>
            <a:xfrm>
              <a:off x="2795588" y="198453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销售收入</a:t>
              </a:r>
            </a:p>
          </p:txBody>
        </p:sp>
        <p:sp>
          <p:nvSpPr>
            <p:cNvPr id="54" name="Line 54"/>
            <p:cNvSpPr/>
            <p:nvPr/>
          </p:nvSpPr>
          <p:spPr>
            <a:xfrm>
              <a:off x="857250" y="3188018"/>
              <a:ext cx="2428875" cy="9525"/>
            </a:xfrm>
            <a:custGeom>
              <a:avLst/>
              <a:gdLst/>
              <a:ahLst/>
              <a:cxnLst/>
              <a:rect l="l" t="t" r="r" b="b"/>
              <a:pathLst>
                <a:path w="2428875" h="9525">
                  <a:moveTo>
                    <a:pt x="0" y="0"/>
                  </a:moveTo>
                  <a:lnTo>
                    <a:pt x="2428875" y="0"/>
                  </a:lnTo>
                </a:path>
              </a:pathLst>
            </a:custGeom>
            <a:noFill/>
            <a:ln w="9525">
              <a:solidFill>
                <a:srgbClr val="EAF2FC"/>
              </a:solidFill>
            </a:ln>
          </p:spPr>
        </p:sp>
        <p:sp>
          <p:nvSpPr>
            <p:cNvPr id="55" name="Line 55"/>
            <p:cNvSpPr/>
            <p:nvPr/>
          </p:nvSpPr>
          <p:spPr>
            <a:xfrm>
              <a:off x="857250" y="2679382"/>
              <a:ext cx="2428875" cy="9525"/>
            </a:xfrm>
            <a:custGeom>
              <a:avLst/>
              <a:gdLst/>
              <a:ahLst/>
              <a:cxnLst/>
              <a:rect l="l" t="t" r="r" b="b"/>
              <a:pathLst>
                <a:path w="2428875" h="9525">
                  <a:moveTo>
                    <a:pt x="0" y="0"/>
                  </a:moveTo>
                  <a:lnTo>
                    <a:pt x="2428875" y="0"/>
                  </a:lnTo>
                </a:path>
              </a:pathLst>
            </a:custGeom>
            <a:noFill/>
            <a:ln w="9525">
              <a:solidFill>
                <a:srgbClr val="EAF2FC"/>
              </a:solidFill>
            </a:ln>
          </p:spPr>
        </p:sp>
        <p:sp>
          <p:nvSpPr>
            <p:cNvPr id="56" name="Line 56"/>
            <p:cNvSpPr/>
            <p:nvPr/>
          </p:nvSpPr>
          <p:spPr>
            <a:xfrm>
              <a:off x="857250" y="2171700"/>
              <a:ext cx="2428875" cy="9525"/>
            </a:xfrm>
            <a:custGeom>
              <a:avLst/>
              <a:gdLst/>
              <a:ahLst/>
              <a:cxnLst/>
              <a:rect l="l" t="t" r="r" b="b"/>
              <a:pathLst>
                <a:path w="2428875" h="9525">
                  <a:moveTo>
                    <a:pt x="0" y="0"/>
                  </a:moveTo>
                  <a:lnTo>
                    <a:pt x="2428875" y="0"/>
                  </a:lnTo>
                </a:path>
              </a:pathLst>
            </a:custGeom>
            <a:noFill/>
            <a:ln w="9525">
              <a:solidFill>
                <a:srgbClr val="EAF2FC"/>
              </a:solidFill>
            </a:ln>
          </p:spPr>
        </p:sp>
        <p:sp>
          <p:nvSpPr>
            <p:cNvPr id="57" name="TextBox 57"/>
            <p:cNvSpPr txBox="1"/>
            <p:nvPr/>
          </p:nvSpPr>
          <p:spPr>
            <a:xfrm>
              <a:off x="859290" y="3660934"/>
              <a:ext cx="59873"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0</a:t>
              </a:r>
            </a:p>
          </p:txBody>
        </p:sp>
        <p:sp>
          <p:nvSpPr>
            <p:cNvPr id="58" name="TextBox 58"/>
            <p:cNvSpPr txBox="1"/>
            <p:nvPr/>
          </p:nvSpPr>
          <p:spPr>
            <a:xfrm>
              <a:off x="758594" y="3153251"/>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200</a:t>
              </a:r>
            </a:p>
          </p:txBody>
        </p:sp>
        <p:sp>
          <p:nvSpPr>
            <p:cNvPr id="59" name="TextBox 59"/>
            <p:cNvSpPr txBox="1"/>
            <p:nvPr/>
          </p:nvSpPr>
          <p:spPr>
            <a:xfrm>
              <a:off x="758594" y="2644616"/>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400</a:t>
              </a:r>
            </a:p>
          </p:txBody>
        </p:sp>
        <p:sp>
          <p:nvSpPr>
            <p:cNvPr id="60" name="TextBox 60"/>
            <p:cNvSpPr txBox="1"/>
            <p:nvPr/>
          </p:nvSpPr>
          <p:spPr>
            <a:xfrm>
              <a:off x="758594" y="2136934"/>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600</a:t>
              </a:r>
            </a:p>
          </p:txBody>
        </p:sp>
        <p:sp>
          <p:nvSpPr>
            <p:cNvPr id="61" name="Rectangle 61"/>
            <p:cNvSpPr/>
            <p:nvPr/>
          </p:nvSpPr>
          <p:spPr>
            <a:xfrm>
              <a:off x="952500" y="3188018"/>
              <a:ext cx="152400" cy="507682"/>
            </a:xfrm>
            <a:prstGeom prst="rect">
              <a:avLst/>
            </a:prstGeom>
            <a:solidFill>
              <a:srgbClr val="C83B1E"/>
            </a:solidFill>
            <a:ln>
              <a:noFill/>
            </a:ln>
          </p:spPr>
        </p:sp>
        <p:sp>
          <p:nvSpPr>
            <p:cNvPr id="62" name="Rectangle 62"/>
            <p:cNvSpPr/>
            <p:nvPr/>
          </p:nvSpPr>
          <p:spPr>
            <a:xfrm>
              <a:off x="952500" y="2933700"/>
              <a:ext cx="152400" cy="254318"/>
            </a:xfrm>
            <a:prstGeom prst="rect">
              <a:avLst/>
            </a:prstGeom>
            <a:solidFill>
              <a:srgbClr val="F0856F"/>
            </a:solidFill>
            <a:ln>
              <a:noFill/>
            </a:ln>
          </p:spPr>
        </p:sp>
        <p:sp>
          <p:nvSpPr>
            <p:cNvPr id="63" name="Rectangle 63"/>
            <p:cNvSpPr/>
            <p:nvPr/>
          </p:nvSpPr>
          <p:spPr>
            <a:xfrm>
              <a:off x="952500" y="2831782"/>
              <a:ext cx="152400" cy="101918"/>
            </a:xfrm>
            <a:prstGeom prst="rect">
              <a:avLst/>
            </a:prstGeom>
            <a:solidFill>
              <a:srgbClr val="F2563B"/>
            </a:solidFill>
            <a:ln>
              <a:noFill/>
            </a:ln>
          </p:spPr>
        </p:sp>
        <p:sp>
          <p:nvSpPr>
            <p:cNvPr id="64" name="Rectangle 64"/>
            <p:cNvSpPr/>
            <p:nvPr/>
          </p:nvSpPr>
          <p:spPr>
            <a:xfrm>
              <a:off x="1343025" y="3238500"/>
              <a:ext cx="152400" cy="457200"/>
            </a:xfrm>
            <a:prstGeom prst="rect">
              <a:avLst/>
            </a:prstGeom>
            <a:solidFill>
              <a:srgbClr val="C83B1E"/>
            </a:solidFill>
            <a:ln>
              <a:noFill/>
            </a:ln>
          </p:spPr>
        </p:sp>
        <p:sp>
          <p:nvSpPr>
            <p:cNvPr id="65" name="Rectangle 65"/>
            <p:cNvSpPr/>
            <p:nvPr/>
          </p:nvSpPr>
          <p:spPr>
            <a:xfrm>
              <a:off x="1343025" y="2857500"/>
              <a:ext cx="152400" cy="381000"/>
            </a:xfrm>
            <a:prstGeom prst="rect">
              <a:avLst/>
            </a:prstGeom>
            <a:solidFill>
              <a:srgbClr val="F0856F"/>
            </a:solidFill>
            <a:ln>
              <a:noFill/>
            </a:ln>
          </p:spPr>
        </p:sp>
        <p:sp>
          <p:nvSpPr>
            <p:cNvPr id="66" name="Rectangle 66"/>
            <p:cNvSpPr/>
            <p:nvPr/>
          </p:nvSpPr>
          <p:spPr>
            <a:xfrm>
              <a:off x="1343025" y="2679382"/>
              <a:ext cx="152400" cy="178118"/>
            </a:xfrm>
            <a:prstGeom prst="rect">
              <a:avLst/>
            </a:prstGeom>
            <a:solidFill>
              <a:srgbClr val="F2563B"/>
            </a:solidFill>
            <a:ln>
              <a:noFill/>
            </a:ln>
          </p:spPr>
        </p:sp>
        <p:sp>
          <p:nvSpPr>
            <p:cNvPr id="67" name="Rectangle 67"/>
            <p:cNvSpPr/>
            <p:nvPr/>
          </p:nvSpPr>
          <p:spPr>
            <a:xfrm>
              <a:off x="1733550" y="3314700"/>
              <a:ext cx="152400" cy="381000"/>
            </a:xfrm>
            <a:prstGeom prst="rect">
              <a:avLst/>
            </a:prstGeom>
            <a:solidFill>
              <a:srgbClr val="C83B1E"/>
            </a:solidFill>
            <a:ln>
              <a:noFill/>
            </a:ln>
          </p:spPr>
        </p:sp>
        <p:sp>
          <p:nvSpPr>
            <p:cNvPr id="68" name="Rectangle 68"/>
            <p:cNvSpPr/>
            <p:nvPr/>
          </p:nvSpPr>
          <p:spPr>
            <a:xfrm>
              <a:off x="1733550" y="2807018"/>
              <a:ext cx="152400" cy="507682"/>
            </a:xfrm>
            <a:prstGeom prst="rect">
              <a:avLst/>
            </a:prstGeom>
            <a:solidFill>
              <a:srgbClr val="F0856F"/>
            </a:solidFill>
            <a:ln>
              <a:noFill/>
            </a:ln>
          </p:spPr>
        </p:sp>
        <p:sp>
          <p:nvSpPr>
            <p:cNvPr id="69" name="Rectangle 69"/>
            <p:cNvSpPr/>
            <p:nvPr/>
          </p:nvSpPr>
          <p:spPr>
            <a:xfrm>
              <a:off x="1733550" y="2476500"/>
              <a:ext cx="152400" cy="330518"/>
            </a:xfrm>
            <a:prstGeom prst="rect">
              <a:avLst/>
            </a:prstGeom>
            <a:solidFill>
              <a:srgbClr val="F2563B"/>
            </a:solidFill>
            <a:ln>
              <a:noFill/>
            </a:ln>
          </p:spPr>
        </p:sp>
        <p:sp>
          <p:nvSpPr>
            <p:cNvPr id="70" name="Rectangle 70"/>
            <p:cNvSpPr/>
            <p:nvPr/>
          </p:nvSpPr>
          <p:spPr>
            <a:xfrm>
              <a:off x="2124075" y="2705100"/>
              <a:ext cx="152400" cy="990600"/>
            </a:xfrm>
            <a:prstGeom prst="rect">
              <a:avLst/>
            </a:prstGeom>
            <a:solidFill>
              <a:srgbClr val="C83B1E"/>
            </a:solidFill>
            <a:ln>
              <a:noFill/>
            </a:ln>
          </p:spPr>
        </p:sp>
        <p:sp>
          <p:nvSpPr>
            <p:cNvPr id="71" name="Rectangle 71"/>
            <p:cNvSpPr/>
            <p:nvPr/>
          </p:nvSpPr>
          <p:spPr>
            <a:xfrm>
              <a:off x="2124075" y="2324100"/>
              <a:ext cx="152400" cy="381000"/>
            </a:xfrm>
            <a:prstGeom prst="rect">
              <a:avLst/>
            </a:prstGeom>
            <a:solidFill>
              <a:srgbClr val="F0856F"/>
            </a:solidFill>
            <a:ln>
              <a:noFill/>
            </a:ln>
          </p:spPr>
        </p:sp>
        <p:sp>
          <p:nvSpPr>
            <p:cNvPr id="72" name="Rectangle 72"/>
            <p:cNvSpPr/>
            <p:nvPr/>
          </p:nvSpPr>
          <p:spPr>
            <a:xfrm>
              <a:off x="2124075" y="2121218"/>
              <a:ext cx="152400" cy="202882"/>
            </a:xfrm>
            <a:prstGeom prst="rect">
              <a:avLst/>
            </a:prstGeom>
            <a:solidFill>
              <a:srgbClr val="F2563B"/>
            </a:solidFill>
            <a:ln>
              <a:noFill/>
            </a:ln>
          </p:spPr>
        </p:sp>
        <p:sp>
          <p:nvSpPr>
            <p:cNvPr id="73" name="Rectangle 73"/>
            <p:cNvSpPr/>
            <p:nvPr/>
          </p:nvSpPr>
          <p:spPr>
            <a:xfrm>
              <a:off x="2514600" y="3314700"/>
              <a:ext cx="152400" cy="381000"/>
            </a:xfrm>
            <a:prstGeom prst="rect">
              <a:avLst/>
            </a:prstGeom>
            <a:solidFill>
              <a:srgbClr val="C83B1E"/>
            </a:solidFill>
            <a:ln>
              <a:noFill/>
            </a:ln>
          </p:spPr>
        </p:sp>
        <p:sp>
          <p:nvSpPr>
            <p:cNvPr id="74" name="Rectangle 74"/>
            <p:cNvSpPr/>
            <p:nvPr/>
          </p:nvSpPr>
          <p:spPr>
            <a:xfrm>
              <a:off x="2514600" y="2831782"/>
              <a:ext cx="152400" cy="482918"/>
            </a:xfrm>
            <a:prstGeom prst="rect">
              <a:avLst/>
            </a:prstGeom>
            <a:solidFill>
              <a:srgbClr val="F0856F"/>
            </a:solidFill>
            <a:ln>
              <a:noFill/>
            </a:ln>
          </p:spPr>
        </p:sp>
        <p:sp>
          <p:nvSpPr>
            <p:cNvPr id="75" name="Rectangle 75"/>
            <p:cNvSpPr/>
            <p:nvPr/>
          </p:nvSpPr>
          <p:spPr>
            <a:xfrm>
              <a:off x="2514600" y="2578418"/>
              <a:ext cx="152400" cy="254318"/>
            </a:xfrm>
            <a:prstGeom prst="rect">
              <a:avLst/>
            </a:prstGeom>
            <a:solidFill>
              <a:srgbClr val="F2563B"/>
            </a:solidFill>
            <a:ln>
              <a:noFill/>
            </a:ln>
          </p:spPr>
        </p:sp>
        <p:sp>
          <p:nvSpPr>
            <p:cNvPr id="76" name="Rectangle 76"/>
            <p:cNvSpPr/>
            <p:nvPr/>
          </p:nvSpPr>
          <p:spPr>
            <a:xfrm>
              <a:off x="2905125" y="2984182"/>
              <a:ext cx="152400" cy="711518"/>
            </a:xfrm>
            <a:prstGeom prst="rect">
              <a:avLst/>
            </a:prstGeom>
            <a:solidFill>
              <a:srgbClr val="C83B1E"/>
            </a:solidFill>
            <a:ln>
              <a:noFill/>
            </a:ln>
          </p:spPr>
        </p:sp>
        <p:sp>
          <p:nvSpPr>
            <p:cNvPr id="77" name="Rectangle 77"/>
            <p:cNvSpPr/>
            <p:nvPr/>
          </p:nvSpPr>
          <p:spPr>
            <a:xfrm>
              <a:off x="2905125" y="2400300"/>
              <a:ext cx="152400" cy="583882"/>
            </a:xfrm>
            <a:prstGeom prst="rect">
              <a:avLst/>
            </a:prstGeom>
            <a:solidFill>
              <a:srgbClr val="F0856F"/>
            </a:solidFill>
            <a:ln>
              <a:noFill/>
            </a:ln>
          </p:spPr>
        </p:sp>
        <p:sp>
          <p:nvSpPr>
            <p:cNvPr id="78" name="Rectangle 78"/>
            <p:cNvSpPr/>
            <p:nvPr/>
          </p:nvSpPr>
          <p:spPr>
            <a:xfrm>
              <a:off x="2905125" y="2145982"/>
              <a:ext cx="152400" cy="254318"/>
            </a:xfrm>
            <a:prstGeom prst="rect">
              <a:avLst/>
            </a:prstGeom>
            <a:solidFill>
              <a:srgbClr val="F2563B"/>
            </a:solidFill>
            <a:ln>
              <a:noFill/>
            </a:ln>
          </p:spPr>
        </p:sp>
        <p:sp>
          <p:nvSpPr>
            <p:cNvPr id="79" name="Line 79"/>
            <p:cNvSpPr/>
            <p:nvPr/>
          </p:nvSpPr>
          <p:spPr>
            <a:xfrm>
              <a:off x="857250" y="3695700"/>
              <a:ext cx="2428875" cy="9525"/>
            </a:xfrm>
            <a:custGeom>
              <a:avLst/>
              <a:gdLst/>
              <a:ahLst/>
              <a:cxnLst/>
              <a:rect l="l" t="t" r="r" b="b"/>
              <a:pathLst>
                <a:path w="2428875" h="9525">
                  <a:moveTo>
                    <a:pt x="0" y="0"/>
                  </a:moveTo>
                  <a:lnTo>
                    <a:pt x="2428875" y="0"/>
                  </a:lnTo>
                </a:path>
              </a:pathLst>
            </a:custGeom>
            <a:noFill/>
            <a:ln w="11430">
              <a:solidFill>
                <a:srgbClr val="E6C1B9"/>
              </a:solidFill>
            </a:ln>
          </p:spPr>
        </p:sp>
        <p:sp>
          <p:nvSpPr>
            <p:cNvPr id="80" name="TextBox 80"/>
            <p:cNvSpPr txBox="1"/>
            <p:nvPr/>
          </p:nvSpPr>
          <p:spPr>
            <a:xfrm>
              <a:off x="949863" y="3771186"/>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1月</a:t>
              </a:r>
            </a:p>
          </p:txBody>
        </p:sp>
        <p:sp>
          <p:nvSpPr>
            <p:cNvPr id="81" name="TextBox 81"/>
            <p:cNvSpPr txBox="1"/>
            <p:nvPr/>
          </p:nvSpPr>
          <p:spPr>
            <a:xfrm>
              <a:off x="1340388" y="3771186"/>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2月</a:t>
              </a:r>
            </a:p>
          </p:txBody>
        </p:sp>
        <p:sp>
          <p:nvSpPr>
            <p:cNvPr id="82" name="TextBox 82"/>
            <p:cNvSpPr txBox="1"/>
            <p:nvPr/>
          </p:nvSpPr>
          <p:spPr>
            <a:xfrm>
              <a:off x="1730913" y="3771186"/>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3月</a:t>
              </a:r>
            </a:p>
          </p:txBody>
        </p:sp>
        <p:sp>
          <p:nvSpPr>
            <p:cNvPr id="83" name="TextBox 83"/>
            <p:cNvSpPr txBox="1"/>
            <p:nvPr/>
          </p:nvSpPr>
          <p:spPr>
            <a:xfrm>
              <a:off x="2121438" y="3771186"/>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4月</a:t>
              </a:r>
            </a:p>
          </p:txBody>
        </p:sp>
        <p:sp>
          <p:nvSpPr>
            <p:cNvPr id="84" name="TextBox 84"/>
            <p:cNvSpPr txBox="1"/>
            <p:nvPr/>
          </p:nvSpPr>
          <p:spPr>
            <a:xfrm>
              <a:off x="2511963" y="3771186"/>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5月</a:t>
              </a:r>
            </a:p>
          </p:txBody>
        </p:sp>
        <p:sp>
          <p:nvSpPr>
            <p:cNvPr id="85" name="TextBox 85"/>
            <p:cNvSpPr txBox="1"/>
            <p:nvPr/>
          </p:nvSpPr>
          <p:spPr>
            <a:xfrm>
              <a:off x="2902488" y="3771186"/>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6月</a:t>
              </a:r>
            </a:p>
          </p:txBody>
        </p:sp>
      </p:grpSp>
      <p:grpSp>
        <p:nvGrpSpPr>
          <p:cNvPr id="125" name="m-expense-lines"/>
          <p:cNvGrpSpPr/>
          <p:nvPr/>
        </p:nvGrpSpPr>
        <p:grpSpPr>
          <a:xfrm>
            <a:off x="3543300" y="1581150"/>
            <a:ext cx="3562350" cy="2381250"/>
            <a:chOff x="3543300" y="1581150"/>
            <a:chExt cx="3562350" cy="2381250"/>
          </a:xfrm>
        </p:grpSpPr>
        <p:sp>
          <p:nvSpPr>
            <p:cNvPr id="87" name="Rectangle 87"/>
            <p:cNvSpPr/>
            <p:nvPr/>
          </p:nvSpPr>
          <p:spPr>
            <a:xfrm>
              <a:off x="3543300" y="1581150"/>
              <a:ext cx="3562350" cy="2381250"/>
            </a:xfrm>
            <a:prstGeom prst="rect">
              <a:avLst/>
            </a:prstGeom>
            <a:solidFill>
              <a:srgbClr val="FFFFFF"/>
            </a:solidFill>
            <a:ln w="11430">
              <a:solidFill>
                <a:srgbClr val="C9DDF5"/>
              </a:solidFill>
            </a:ln>
          </p:spPr>
        </p:sp>
        <p:sp>
          <p:nvSpPr>
            <p:cNvPr id="88" name="Rectangle 88"/>
            <p:cNvSpPr/>
            <p:nvPr/>
          </p:nvSpPr>
          <p:spPr>
            <a:xfrm>
              <a:off x="3638550" y="1676400"/>
              <a:ext cx="2286000" cy="247650"/>
            </a:xfrm>
            <a:prstGeom prst="rect">
              <a:avLst/>
            </a:prstGeom>
            <a:gradFill>
              <a:gsLst>
                <a:gs pos="0">
                  <a:srgbClr val="FF5B3A"/>
                </a:gs>
                <a:gs pos="100000">
                  <a:srgbClr val="E94B2B"/>
                </a:gs>
              </a:gsLst>
              <a:lin ang="0" scaled="1"/>
            </a:gradFill>
            <a:ln>
              <a:noFill/>
            </a:ln>
          </p:spPr>
        </p:sp>
        <p:sp>
          <p:nvSpPr>
            <p:cNvPr id="89" name="Polygon 89"/>
            <p:cNvSpPr/>
            <p:nvPr/>
          </p:nvSpPr>
          <p:spPr>
            <a:xfrm>
              <a:off x="5829300" y="167640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sp>
          <p:nvSpPr>
            <p:cNvPr id="90" name="TextBox 90"/>
            <p:cNvSpPr txBox="1"/>
            <p:nvPr/>
          </p:nvSpPr>
          <p:spPr>
            <a:xfrm>
              <a:off x="3728466" y="1734502"/>
              <a:ext cx="1000125"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支出统计分析图</a:t>
              </a:r>
            </a:p>
          </p:txBody>
        </p:sp>
        <p:sp>
          <p:nvSpPr>
            <p:cNvPr id="91" name="Line 91"/>
            <p:cNvSpPr/>
            <p:nvPr/>
          </p:nvSpPr>
          <p:spPr>
            <a:xfrm>
              <a:off x="3790950" y="2019300"/>
              <a:ext cx="133350" cy="9525"/>
            </a:xfrm>
            <a:custGeom>
              <a:avLst/>
              <a:gdLst/>
              <a:ahLst/>
              <a:cxnLst/>
              <a:rect l="l" t="t" r="r" b="b"/>
              <a:pathLst>
                <a:path w="133350" h="9525">
                  <a:moveTo>
                    <a:pt x="0" y="0"/>
                  </a:moveTo>
                  <a:lnTo>
                    <a:pt x="133350" y="0"/>
                  </a:lnTo>
                </a:path>
              </a:pathLst>
            </a:custGeom>
            <a:noFill/>
            <a:ln w="19050">
              <a:solidFill>
                <a:srgbClr val="C83B1E"/>
              </a:solidFill>
            </a:ln>
          </p:spPr>
        </p:sp>
        <p:sp>
          <p:nvSpPr>
            <p:cNvPr id="92" name="TextBox 92"/>
            <p:cNvSpPr txBox="1"/>
            <p:nvPr/>
          </p:nvSpPr>
          <p:spPr>
            <a:xfrm>
              <a:off x="3957638" y="198453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薪资五险</a:t>
              </a:r>
            </a:p>
          </p:txBody>
        </p:sp>
        <p:sp>
          <p:nvSpPr>
            <p:cNvPr id="93" name="Line 93"/>
            <p:cNvSpPr/>
            <p:nvPr/>
          </p:nvSpPr>
          <p:spPr>
            <a:xfrm>
              <a:off x="4457700" y="2019300"/>
              <a:ext cx="133350" cy="9525"/>
            </a:xfrm>
            <a:custGeom>
              <a:avLst/>
              <a:gdLst/>
              <a:ahLst/>
              <a:cxnLst/>
              <a:rect l="l" t="t" r="r" b="b"/>
              <a:pathLst>
                <a:path w="133350" h="9525">
                  <a:moveTo>
                    <a:pt x="0" y="0"/>
                  </a:moveTo>
                  <a:lnTo>
                    <a:pt x="133350" y="0"/>
                  </a:lnTo>
                </a:path>
              </a:pathLst>
            </a:custGeom>
            <a:noFill/>
            <a:ln w="19050">
              <a:solidFill>
                <a:srgbClr val="F2563B"/>
              </a:solidFill>
            </a:ln>
          </p:spPr>
        </p:sp>
        <p:sp>
          <p:nvSpPr>
            <p:cNvPr id="94" name="TextBox 94"/>
            <p:cNvSpPr txBox="1"/>
            <p:nvPr/>
          </p:nvSpPr>
          <p:spPr>
            <a:xfrm>
              <a:off x="4624388" y="198453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资产折旧</a:t>
              </a:r>
            </a:p>
          </p:txBody>
        </p:sp>
        <p:sp>
          <p:nvSpPr>
            <p:cNvPr id="95" name="Line 95"/>
            <p:cNvSpPr/>
            <p:nvPr/>
          </p:nvSpPr>
          <p:spPr>
            <a:xfrm>
              <a:off x="5124450" y="2019300"/>
              <a:ext cx="133350" cy="9525"/>
            </a:xfrm>
            <a:custGeom>
              <a:avLst/>
              <a:gdLst/>
              <a:ahLst/>
              <a:cxnLst/>
              <a:rect l="l" t="t" r="r" b="b"/>
              <a:pathLst>
                <a:path w="133350" h="9525">
                  <a:moveTo>
                    <a:pt x="0" y="0"/>
                  </a:moveTo>
                  <a:lnTo>
                    <a:pt x="133350" y="0"/>
                  </a:lnTo>
                </a:path>
              </a:pathLst>
            </a:custGeom>
            <a:noFill/>
            <a:ln w="19050">
              <a:solidFill>
                <a:srgbClr val="A86B5F"/>
              </a:solidFill>
            </a:ln>
          </p:spPr>
        </p:sp>
        <p:sp>
          <p:nvSpPr>
            <p:cNvPr id="96" name="TextBox 96"/>
            <p:cNvSpPr txBox="1"/>
            <p:nvPr/>
          </p:nvSpPr>
          <p:spPr>
            <a:xfrm>
              <a:off x="5291138" y="198453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材料成本</a:t>
              </a:r>
            </a:p>
          </p:txBody>
        </p:sp>
        <p:sp>
          <p:nvSpPr>
            <p:cNvPr id="97" name="Line 97"/>
            <p:cNvSpPr/>
            <p:nvPr/>
          </p:nvSpPr>
          <p:spPr>
            <a:xfrm>
              <a:off x="5791200" y="2019300"/>
              <a:ext cx="133350" cy="9525"/>
            </a:xfrm>
            <a:custGeom>
              <a:avLst/>
              <a:gdLst/>
              <a:ahLst/>
              <a:cxnLst/>
              <a:rect l="l" t="t" r="r" b="b"/>
              <a:pathLst>
                <a:path w="133350" h="9525">
                  <a:moveTo>
                    <a:pt x="0" y="0"/>
                  </a:moveTo>
                  <a:lnTo>
                    <a:pt x="133350" y="0"/>
                  </a:lnTo>
                </a:path>
              </a:pathLst>
            </a:custGeom>
            <a:noFill/>
            <a:ln w="19050">
              <a:solidFill>
                <a:srgbClr val="F8B6A9"/>
              </a:solidFill>
            </a:ln>
          </p:spPr>
        </p:sp>
        <p:sp>
          <p:nvSpPr>
            <p:cNvPr id="98" name="TextBox 98"/>
            <p:cNvSpPr txBox="1"/>
            <p:nvPr/>
          </p:nvSpPr>
          <p:spPr>
            <a:xfrm>
              <a:off x="5957888" y="198453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业务招待</a:t>
              </a:r>
            </a:p>
          </p:txBody>
        </p:sp>
        <p:sp>
          <p:nvSpPr>
            <p:cNvPr id="99" name="Line 99"/>
            <p:cNvSpPr/>
            <p:nvPr/>
          </p:nvSpPr>
          <p:spPr>
            <a:xfrm>
              <a:off x="3857625" y="3143250"/>
              <a:ext cx="3048000" cy="9525"/>
            </a:xfrm>
            <a:custGeom>
              <a:avLst/>
              <a:gdLst/>
              <a:ahLst/>
              <a:cxnLst/>
              <a:rect l="l" t="t" r="r" b="b"/>
              <a:pathLst>
                <a:path w="3048000" h="9525">
                  <a:moveTo>
                    <a:pt x="0" y="0"/>
                  </a:moveTo>
                  <a:lnTo>
                    <a:pt x="3048000" y="0"/>
                  </a:lnTo>
                </a:path>
              </a:pathLst>
            </a:custGeom>
            <a:noFill/>
            <a:ln w="9525">
              <a:solidFill>
                <a:srgbClr val="EAF2FC"/>
              </a:solidFill>
            </a:ln>
          </p:spPr>
        </p:sp>
        <p:sp>
          <p:nvSpPr>
            <p:cNvPr id="100" name="Line 100"/>
            <p:cNvSpPr/>
            <p:nvPr/>
          </p:nvSpPr>
          <p:spPr>
            <a:xfrm>
              <a:off x="3857625" y="2619375"/>
              <a:ext cx="3048000" cy="9525"/>
            </a:xfrm>
            <a:custGeom>
              <a:avLst/>
              <a:gdLst/>
              <a:ahLst/>
              <a:cxnLst/>
              <a:rect l="l" t="t" r="r" b="b"/>
              <a:pathLst>
                <a:path w="3048000" h="9525">
                  <a:moveTo>
                    <a:pt x="0" y="0"/>
                  </a:moveTo>
                  <a:lnTo>
                    <a:pt x="3048000" y="0"/>
                  </a:lnTo>
                </a:path>
              </a:pathLst>
            </a:custGeom>
            <a:noFill/>
            <a:ln w="9525">
              <a:solidFill>
                <a:srgbClr val="EAF2FC"/>
              </a:solidFill>
            </a:ln>
          </p:spPr>
        </p:sp>
        <p:sp>
          <p:nvSpPr>
            <p:cNvPr id="101" name="Line 101"/>
            <p:cNvSpPr/>
            <p:nvPr/>
          </p:nvSpPr>
          <p:spPr>
            <a:xfrm>
              <a:off x="3857625" y="2095500"/>
              <a:ext cx="3048000" cy="9525"/>
            </a:xfrm>
            <a:custGeom>
              <a:avLst/>
              <a:gdLst/>
              <a:ahLst/>
              <a:cxnLst/>
              <a:rect l="l" t="t" r="r" b="b"/>
              <a:pathLst>
                <a:path w="3048000" h="9525">
                  <a:moveTo>
                    <a:pt x="0" y="0"/>
                  </a:moveTo>
                  <a:lnTo>
                    <a:pt x="3048000" y="0"/>
                  </a:lnTo>
                </a:path>
              </a:pathLst>
            </a:custGeom>
            <a:noFill/>
            <a:ln w="9525">
              <a:solidFill>
                <a:srgbClr val="EAF2FC"/>
              </a:solidFill>
            </a:ln>
          </p:spPr>
        </p:sp>
        <p:sp>
          <p:nvSpPr>
            <p:cNvPr id="102" name="TextBox 102"/>
            <p:cNvSpPr txBox="1"/>
            <p:nvPr/>
          </p:nvSpPr>
          <p:spPr>
            <a:xfrm>
              <a:off x="3745365" y="3632359"/>
              <a:ext cx="59873"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0</a:t>
              </a:r>
            </a:p>
          </p:txBody>
        </p:sp>
        <p:sp>
          <p:nvSpPr>
            <p:cNvPr id="103" name="TextBox 103"/>
            <p:cNvSpPr txBox="1"/>
            <p:nvPr/>
          </p:nvSpPr>
          <p:spPr>
            <a:xfrm>
              <a:off x="3695017" y="3108484"/>
              <a:ext cx="110221"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30</a:t>
              </a:r>
            </a:p>
          </p:txBody>
        </p:sp>
        <p:sp>
          <p:nvSpPr>
            <p:cNvPr id="104" name="TextBox 104"/>
            <p:cNvSpPr txBox="1"/>
            <p:nvPr/>
          </p:nvSpPr>
          <p:spPr>
            <a:xfrm>
              <a:off x="3695017" y="2584609"/>
              <a:ext cx="110221"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60</a:t>
              </a:r>
            </a:p>
          </p:txBody>
        </p:sp>
        <p:sp>
          <p:nvSpPr>
            <p:cNvPr id="105" name="TextBox 105"/>
            <p:cNvSpPr txBox="1"/>
            <p:nvPr/>
          </p:nvSpPr>
          <p:spPr>
            <a:xfrm>
              <a:off x="3695017" y="2060734"/>
              <a:ext cx="110221"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90</a:t>
              </a:r>
            </a:p>
          </p:txBody>
        </p:sp>
        <p:sp>
          <p:nvSpPr>
            <p:cNvPr id="106" name="Polyline 106"/>
            <p:cNvSpPr/>
            <p:nvPr/>
          </p:nvSpPr>
          <p:spPr>
            <a:xfrm>
              <a:off x="4048125" y="2183130"/>
              <a:ext cx="2809875" cy="1169670"/>
            </a:xfrm>
            <a:custGeom>
              <a:avLst/>
              <a:gdLst/>
              <a:ahLst/>
              <a:cxnLst/>
              <a:rect l="l" t="t" r="r" b="b"/>
              <a:pathLst>
                <a:path w="2809875" h="1169670">
                  <a:moveTo>
                    <a:pt x="0" y="602933"/>
                  </a:moveTo>
                  <a:lnTo>
                    <a:pt x="561975" y="481012"/>
                  </a:lnTo>
                  <a:lnTo>
                    <a:pt x="1123950" y="0"/>
                  </a:lnTo>
                  <a:lnTo>
                    <a:pt x="1685925" y="820103"/>
                  </a:lnTo>
                  <a:lnTo>
                    <a:pt x="2247900" y="1047750"/>
                  </a:lnTo>
                  <a:lnTo>
                    <a:pt x="2809875" y="1169670"/>
                  </a:lnTo>
                </a:path>
              </a:pathLst>
            </a:custGeom>
            <a:noFill/>
            <a:ln w="19050">
              <a:solidFill>
                <a:srgbClr val="C83B1E"/>
              </a:solidFill>
            </a:ln>
          </p:spPr>
        </p:sp>
        <p:sp>
          <p:nvSpPr>
            <p:cNvPr id="107" name="Polyline 107"/>
            <p:cNvSpPr/>
            <p:nvPr/>
          </p:nvSpPr>
          <p:spPr>
            <a:xfrm>
              <a:off x="4048125" y="2524125"/>
              <a:ext cx="2809875" cy="793433"/>
            </a:xfrm>
            <a:custGeom>
              <a:avLst/>
              <a:gdLst/>
              <a:ahLst/>
              <a:cxnLst/>
              <a:rect l="l" t="t" r="r" b="b"/>
              <a:pathLst>
                <a:path w="2809875" h="793433">
                  <a:moveTo>
                    <a:pt x="0" y="209550"/>
                  </a:moveTo>
                  <a:lnTo>
                    <a:pt x="561975" y="87630"/>
                  </a:lnTo>
                  <a:lnTo>
                    <a:pt x="1123950" y="35242"/>
                  </a:lnTo>
                  <a:lnTo>
                    <a:pt x="1685925" y="0"/>
                  </a:lnTo>
                  <a:lnTo>
                    <a:pt x="2247900" y="793433"/>
                  </a:lnTo>
                  <a:lnTo>
                    <a:pt x="2809875" y="269558"/>
                  </a:lnTo>
                </a:path>
              </a:pathLst>
            </a:custGeom>
            <a:noFill/>
            <a:ln w="19050">
              <a:solidFill>
                <a:srgbClr val="F2563B"/>
              </a:solidFill>
            </a:ln>
          </p:spPr>
        </p:sp>
        <p:sp>
          <p:nvSpPr>
            <p:cNvPr id="108" name="Polyline 108"/>
            <p:cNvSpPr/>
            <p:nvPr/>
          </p:nvSpPr>
          <p:spPr>
            <a:xfrm>
              <a:off x="4048125" y="2933700"/>
              <a:ext cx="2809875" cy="645795"/>
            </a:xfrm>
            <a:custGeom>
              <a:avLst/>
              <a:gdLst/>
              <a:ahLst/>
              <a:cxnLst/>
              <a:rect l="l" t="t" r="r" b="b"/>
              <a:pathLst>
                <a:path w="2809875" h="645795">
                  <a:moveTo>
                    <a:pt x="0" y="471488"/>
                  </a:moveTo>
                  <a:lnTo>
                    <a:pt x="561975" y="297180"/>
                  </a:lnTo>
                  <a:lnTo>
                    <a:pt x="1123950" y="0"/>
                  </a:lnTo>
                  <a:lnTo>
                    <a:pt x="1685925" y="419100"/>
                  </a:lnTo>
                  <a:lnTo>
                    <a:pt x="2247900" y="559117"/>
                  </a:lnTo>
                  <a:lnTo>
                    <a:pt x="2809875" y="645795"/>
                  </a:lnTo>
                </a:path>
              </a:pathLst>
            </a:custGeom>
            <a:noFill/>
            <a:ln w="19050">
              <a:solidFill>
                <a:srgbClr val="A86B5F"/>
              </a:solidFill>
            </a:ln>
          </p:spPr>
        </p:sp>
        <p:sp>
          <p:nvSpPr>
            <p:cNvPr id="109" name="Polyline 109"/>
            <p:cNvSpPr/>
            <p:nvPr/>
          </p:nvSpPr>
          <p:spPr>
            <a:xfrm>
              <a:off x="4048125" y="2611755"/>
              <a:ext cx="2809875" cy="793433"/>
            </a:xfrm>
            <a:custGeom>
              <a:avLst/>
              <a:gdLst/>
              <a:ahLst/>
              <a:cxnLst/>
              <a:rect l="l" t="t" r="r" b="b"/>
              <a:pathLst>
                <a:path w="2809875" h="793433">
                  <a:moveTo>
                    <a:pt x="0" y="121920"/>
                  </a:moveTo>
                  <a:lnTo>
                    <a:pt x="561975" y="86678"/>
                  </a:lnTo>
                  <a:lnTo>
                    <a:pt x="1123950" y="0"/>
                  </a:lnTo>
                  <a:lnTo>
                    <a:pt x="1685925" y="619125"/>
                  </a:lnTo>
                  <a:lnTo>
                    <a:pt x="2247900" y="566738"/>
                  </a:lnTo>
                  <a:lnTo>
                    <a:pt x="2809875" y="793433"/>
                  </a:lnTo>
                </a:path>
              </a:pathLst>
            </a:custGeom>
            <a:noFill/>
            <a:ln w="19050">
              <a:solidFill>
                <a:srgbClr val="F8B6A9"/>
              </a:solidFill>
            </a:ln>
          </p:spPr>
        </p:sp>
        <p:sp>
          <p:nvSpPr>
            <p:cNvPr id="110" name="Ellipse 110"/>
            <p:cNvSpPr/>
            <p:nvPr/>
          </p:nvSpPr>
          <p:spPr>
            <a:xfrm>
              <a:off x="4019550" y="2757488"/>
              <a:ext cx="57150" cy="57150"/>
            </a:xfrm>
            <a:prstGeom prst="ellipse">
              <a:avLst/>
            </a:prstGeom>
            <a:solidFill>
              <a:srgbClr val="C83B1E"/>
            </a:solidFill>
            <a:ln>
              <a:noFill/>
            </a:ln>
          </p:spPr>
        </p:sp>
        <p:sp>
          <p:nvSpPr>
            <p:cNvPr id="111" name="Ellipse 111"/>
            <p:cNvSpPr/>
            <p:nvPr/>
          </p:nvSpPr>
          <p:spPr>
            <a:xfrm>
              <a:off x="5143500" y="2154555"/>
              <a:ext cx="57150" cy="57150"/>
            </a:xfrm>
            <a:prstGeom prst="ellipse">
              <a:avLst/>
            </a:prstGeom>
            <a:solidFill>
              <a:srgbClr val="C83B1E"/>
            </a:solidFill>
            <a:ln>
              <a:noFill/>
            </a:ln>
          </p:spPr>
        </p:sp>
        <p:sp>
          <p:nvSpPr>
            <p:cNvPr id="112" name="Ellipse 112"/>
            <p:cNvSpPr/>
            <p:nvPr/>
          </p:nvSpPr>
          <p:spPr>
            <a:xfrm>
              <a:off x="6829425" y="3324225"/>
              <a:ext cx="57150" cy="57150"/>
            </a:xfrm>
            <a:prstGeom prst="ellipse">
              <a:avLst/>
            </a:prstGeom>
            <a:solidFill>
              <a:srgbClr val="C83B1E"/>
            </a:solidFill>
            <a:ln>
              <a:noFill/>
            </a:ln>
          </p:spPr>
        </p:sp>
        <p:sp>
          <p:nvSpPr>
            <p:cNvPr id="113" name="Ellipse 113"/>
            <p:cNvSpPr/>
            <p:nvPr/>
          </p:nvSpPr>
          <p:spPr>
            <a:xfrm>
              <a:off x="4019550" y="2705100"/>
              <a:ext cx="57150" cy="57150"/>
            </a:xfrm>
            <a:prstGeom prst="ellipse">
              <a:avLst/>
            </a:prstGeom>
            <a:solidFill>
              <a:srgbClr val="FFFFFF"/>
            </a:solidFill>
            <a:ln w="14288">
              <a:solidFill>
                <a:srgbClr val="F2563B"/>
              </a:solidFill>
            </a:ln>
          </p:spPr>
        </p:sp>
        <p:sp>
          <p:nvSpPr>
            <p:cNvPr id="114" name="Ellipse 114"/>
            <p:cNvSpPr/>
            <p:nvPr/>
          </p:nvSpPr>
          <p:spPr>
            <a:xfrm>
              <a:off x="5705475" y="2495550"/>
              <a:ext cx="57150" cy="57150"/>
            </a:xfrm>
            <a:prstGeom prst="ellipse">
              <a:avLst/>
            </a:prstGeom>
            <a:solidFill>
              <a:srgbClr val="FFFFFF"/>
            </a:solidFill>
            <a:ln w="14288">
              <a:solidFill>
                <a:srgbClr val="F2563B"/>
              </a:solidFill>
            </a:ln>
          </p:spPr>
        </p:sp>
        <p:sp>
          <p:nvSpPr>
            <p:cNvPr id="115" name="Ellipse 115"/>
            <p:cNvSpPr/>
            <p:nvPr/>
          </p:nvSpPr>
          <p:spPr>
            <a:xfrm>
              <a:off x="4019550" y="3376612"/>
              <a:ext cx="57150" cy="57150"/>
            </a:xfrm>
            <a:prstGeom prst="ellipse">
              <a:avLst/>
            </a:prstGeom>
            <a:solidFill>
              <a:srgbClr val="FFFFFF"/>
            </a:solidFill>
            <a:ln w="14288">
              <a:solidFill>
                <a:srgbClr val="A86B5F"/>
              </a:solidFill>
            </a:ln>
          </p:spPr>
        </p:sp>
        <p:sp>
          <p:nvSpPr>
            <p:cNvPr id="116" name="Ellipse 116"/>
            <p:cNvSpPr/>
            <p:nvPr/>
          </p:nvSpPr>
          <p:spPr>
            <a:xfrm>
              <a:off x="4019550" y="2705100"/>
              <a:ext cx="57150" cy="57150"/>
            </a:xfrm>
            <a:prstGeom prst="ellipse">
              <a:avLst/>
            </a:prstGeom>
            <a:solidFill>
              <a:srgbClr val="F8B6A9"/>
            </a:solidFill>
            <a:ln>
              <a:noFill/>
            </a:ln>
          </p:spPr>
        </p:sp>
        <p:sp>
          <p:nvSpPr>
            <p:cNvPr id="117" name="Ellipse 117"/>
            <p:cNvSpPr/>
            <p:nvPr/>
          </p:nvSpPr>
          <p:spPr>
            <a:xfrm>
              <a:off x="6829425" y="3376612"/>
              <a:ext cx="57150" cy="57150"/>
            </a:xfrm>
            <a:prstGeom prst="ellipse">
              <a:avLst/>
            </a:prstGeom>
            <a:solidFill>
              <a:srgbClr val="F8B6A9"/>
            </a:solidFill>
            <a:ln>
              <a:noFill/>
            </a:ln>
          </p:spPr>
        </p:sp>
        <p:sp>
          <p:nvSpPr>
            <p:cNvPr id="118" name="Line 118"/>
            <p:cNvSpPr/>
            <p:nvPr/>
          </p:nvSpPr>
          <p:spPr>
            <a:xfrm>
              <a:off x="3857625" y="3667125"/>
              <a:ext cx="3048000" cy="9525"/>
            </a:xfrm>
            <a:custGeom>
              <a:avLst/>
              <a:gdLst/>
              <a:ahLst/>
              <a:cxnLst/>
              <a:rect l="l" t="t" r="r" b="b"/>
              <a:pathLst>
                <a:path w="3048000" h="9525">
                  <a:moveTo>
                    <a:pt x="0" y="0"/>
                  </a:moveTo>
                  <a:lnTo>
                    <a:pt x="3048000" y="0"/>
                  </a:lnTo>
                </a:path>
              </a:pathLst>
            </a:custGeom>
            <a:noFill/>
            <a:ln w="11430">
              <a:solidFill>
                <a:srgbClr val="E6C1B9"/>
              </a:solidFill>
            </a:ln>
          </p:spPr>
        </p:sp>
        <p:sp>
          <p:nvSpPr>
            <p:cNvPr id="119" name="TextBox 119"/>
            <p:cNvSpPr txBox="1"/>
            <p:nvPr/>
          </p:nvSpPr>
          <p:spPr>
            <a:xfrm>
              <a:off x="3969288" y="37426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1月</a:t>
              </a:r>
            </a:p>
          </p:txBody>
        </p:sp>
        <p:sp>
          <p:nvSpPr>
            <p:cNvPr id="120" name="TextBox 120"/>
            <p:cNvSpPr txBox="1"/>
            <p:nvPr/>
          </p:nvSpPr>
          <p:spPr>
            <a:xfrm>
              <a:off x="4531263" y="37426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2月</a:t>
              </a:r>
            </a:p>
          </p:txBody>
        </p:sp>
        <p:sp>
          <p:nvSpPr>
            <p:cNvPr id="121" name="TextBox 121"/>
            <p:cNvSpPr txBox="1"/>
            <p:nvPr/>
          </p:nvSpPr>
          <p:spPr>
            <a:xfrm>
              <a:off x="5093238" y="37426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3月</a:t>
              </a:r>
            </a:p>
          </p:txBody>
        </p:sp>
        <p:sp>
          <p:nvSpPr>
            <p:cNvPr id="122" name="TextBox 122"/>
            <p:cNvSpPr txBox="1"/>
            <p:nvPr/>
          </p:nvSpPr>
          <p:spPr>
            <a:xfrm>
              <a:off x="5655213" y="37426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4月</a:t>
              </a:r>
            </a:p>
          </p:txBody>
        </p:sp>
        <p:sp>
          <p:nvSpPr>
            <p:cNvPr id="123" name="TextBox 123"/>
            <p:cNvSpPr txBox="1"/>
            <p:nvPr/>
          </p:nvSpPr>
          <p:spPr>
            <a:xfrm>
              <a:off x="6217188" y="37426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5月</a:t>
              </a:r>
            </a:p>
          </p:txBody>
        </p:sp>
        <p:sp>
          <p:nvSpPr>
            <p:cNvPr id="124" name="TextBox 124"/>
            <p:cNvSpPr txBox="1"/>
            <p:nvPr/>
          </p:nvSpPr>
          <p:spPr>
            <a:xfrm>
              <a:off x="6779163" y="37426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6月</a:t>
              </a:r>
            </a:p>
          </p:txBody>
        </p:sp>
      </p:grpSp>
      <p:grpSp>
        <p:nvGrpSpPr>
          <p:cNvPr id="148" name="m-receivable-area"/>
          <p:cNvGrpSpPr/>
          <p:nvPr/>
        </p:nvGrpSpPr>
        <p:grpSpPr>
          <a:xfrm>
            <a:off x="571500" y="4152900"/>
            <a:ext cx="2857500" cy="2400300"/>
            <a:chOff x="571500" y="4152900"/>
            <a:chExt cx="2857500" cy="2400300"/>
          </a:xfrm>
        </p:grpSpPr>
        <p:sp>
          <p:nvSpPr>
            <p:cNvPr id="126" name="Rectangle 126"/>
            <p:cNvSpPr/>
            <p:nvPr/>
          </p:nvSpPr>
          <p:spPr>
            <a:xfrm>
              <a:off x="571500" y="4152900"/>
              <a:ext cx="2857500" cy="2400300"/>
            </a:xfrm>
            <a:prstGeom prst="rect">
              <a:avLst/>
            </a:prstGeom>
            <a:solidFill>
              <a:srgbClr val="FFFFFF"/>
            </a:solidFill>
            <a:ln w="11430">
              <a:solidFill>
                <a:srgbClr val="C9DDF5"/>
              </a:solidFill>
            </a:ln>
          </p:spPr>
        </p:sp>
        <p:sp>
          <p:nvSpPr>
            <p:cNvPr id="127" name="Rectangle 127"/>
            <p:cNvSpPr/>
            <p:nvPr/>
          </p:nvSpPr>
          <p:spPr>
            <a:xfrm>
              <a:off x="666750" y="4248150"/>
              <a:ext cx="2286000" cy="247650"/>
            </a:xfrm>
            <a:prstGeom prst="rect">
              <a:avLst/>
            </a:prstGeom>
            <a:gradFill>
              <a:gsLst>
                <a:gs pos="0">
                  <a:srgbClr val="FF5B3A"/>
                </a:gs>
                <a:gs pos="100000">
                  <a:srgbClr val="E94B2B"/>
                </a:gs>
              </a:gsLst>
              <a:lin ang="0" scaled="1"/>
            </a:gradFill>
            <a:ln>
              <a:noFill/>
            </a:ln>
          </p:spPr>
        </p:sp>
        <p:sp>
          <p:nvSpPr>
            <p:cNvPr id="128" name="Polygon 128"/>
            <p:cNvSpPr/>
            <p:nvPr/>
          </p:nvSpPr>
          <p:spPr>
            <a:xfrm>
              <a:off x="2857500" y="42481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sp>
          <p:nvSpPr>
            <p:cNvPr id="129" name="TextBox 129"/>
            <p:cNvSpPr txBox="1"/>
            <p:nvPr/>
          </p:nvSpPr>
          <p:spPr>
            <a:xfrm>
              <a:off x="756666" y="4306252"/>
              <a:ext cx="128282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应收账款统计分析图</a:t>
              </a:r>
            </a:p>
          </p:txBody>
        </p:sp>
        <p:sp>
          <p:nvSpPr>
            <p:cNvPr id="130" name="Line 130"/>
            <p:cNvSpPr/>
            <p:nvPr/>
          </p:nvSpPr>
          <p:spPr>
            <a:xfrm>
              <a:off x="809625" y="4993005"/>
              <a:ext cx="2476500" cy="9525"/>
            </a:xfrm>
            <a:custGeom>
              <a:avLst/>
              <a:gdLst/>
              <a:ahLst/>
              <a:cxnLst/>
              <a:rect l="l" t="t" r="r" b="b"/>
              <a:pathLst>
                <a:path w="2476500" h="9525">
                  <a:moveTo>
                    <a:pt x="0" y="0"/>
                  </a:moveTo>
                  <a:lnTo>
                    <a:pt x="2476500" y="0"/>
                  </a:lnTo>
                </a:path>
              </a:pathLst>
            </a:custGeom>
            <a:noFill/>
            <a:ln w="9525">
              <a:solidFill>
                <a:srgbClr val="EAF2FC"/>
              </a:solidFill>
            </a:ln>
          </p:spPr>
        </p:sp>
        <p:sp>
          <p:nvSpPr>
            <p:cNvPr id="131" name="Line 131"/>
            <p:cNvSpPr/>
            <p:nvPr/>
          </p:nvSpPr>
          <p:spPr>
            <a:xfrm>
              <a:off x="809625" y="5453062"/>
              <a:ext cx="2476500" cy="9525"/>
            </a:xfrm>
            <a:custGeom>
              <a:avLst/>
              <a:gdLst/>
              <a:ahLst/>
              <a:cxnLst/>
              <a:rect l="l" t="t" r="r" b="b"/>
              <a:pathLst>
                <a:path w="2476500" h="9525">
                  <a:moveTo>
                    <a:pt x="0" y="0"/>
                  </a:moveTo>
                  <a:lnTo>
                    <a:pt x="2476500" y="0"/>
                  </a:lnTo>
                </a:path>
              </a:pathLst>
            </a:custGeom>
            <a:noFill/>
            <a:ln w="9525">
              <a:solidFill>
                <a:srgbClr val="EAF2FC"/>
              </a:solidFill>
            </a:ln>
          </p:spPr>
        </p:sp>
        <p:sp>
          <p:nvSpPr>
            <p:cNvPr id="132" name="Line 132"/>
            <p:cNvSpPr/>
            <p:nvPr/>
          </p:nvSpPr>
          <p:spPr>
            <a:xfrm>
              <a:off x="809625" y="5913120"/>
              <a:ext cx="2476500" cy="9525"/>
            </a:xfrm>
            <a:custGeom>
              <a:avLst/>
              <a:gdLst/>
              <a:ahLst/>
              <a:cxnLst/>
              <a:rect l="l" t="t" r="r" b="b"/>
              <a:pathLst>
                <a:path w="2476500" h="9525">
                  <a:moveTo>
                    <a:pt x="0" y="0"/>
                  </a:moveTo>
                  <a:lnTo>
                    <a:pt x="2476500" y="0"/>
                  </a:lnTo>
                </a:path>
              </a:pathLst>
            </a:custGeom>
            <a:noFill/>
            <a:ln w="9525">
              <a:solidFill>
                <a:srgbClr val="EAF2FC"/>
              </a:solidFill>
            </a:ln>
          </p:spPr>
        </p:sp>
        <p:sp>
          <p:nvSpPr>
            <p:cNvPr id="133" name="TextBox 133"/>
            <p:cNvSpPr txBox="1"/>
            <p:nvPr/>
          </p:nvSpPr>
          <p:spPr>
            <a:xfrm>
              <a:off x="697365" y="6108859"/>
              <a:ext cx="59873"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0</a:t>
              </a:r>
            </a:p>
          </p:txBody>
        </p:sp>
        <p:sp>
          <p:nvSpPr>
            <p:cNvPr id="134" name="TextBox 134"/>
            <p:cNvSpPr txBox="1"/>
            <p:nvPr/>
          </p:nvSpPr>
          <p:spPr>
            <a:xfrm>
              <a:off x="647017" y="5878354"/>
              <a:ext cx="110221"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50</a:t>
              </a:r>
            </a:p>
          </p:txBody>
        </p:sp>
        <p:sp>
          <p:nvSpPr>
            <p:cNvPr id="135" name="TextBox 135"/>
            <p:cNvSpPr txBox="1"/>
            <p:nvPr/>
          </p:nvSpPr>
          <p:spPr>
            <a:xfrm>
              <a:off x="596669" y="5648801"/>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100</a:t>
              </a:r>
            </a:p>
          </p:txBody>
        </p:sp>
        <p:sp>
          <p:nvSpPr>
            <p:cNvPr id="136" name="TextBox 136"/>
            <p:cNvSpPr txBox="1"/>
            <p:nvPr/>
          </p:nvSpPr>
          <p:spPr>
            <a:xfrm>
              <a:off x="596669" y="5418296"/>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150</a:t>
              </a:r>
            </a:p>
          </p:txBody>
        </p:sp>
        <p:sp>
          <p:nvSpPr>
            <p:cNvPr id="137" name="TextBox 137"/>
            <p:cNvSpPr txBox="1"/>
            <p:nvPr/>
          </p:nvSpPr>
          <p:spPr>
            <a:xfrm>
              <a:off x="596669" y="5187791"/>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200</a:t>
              </a:r>
            </a:p>
          </p:txBody>
        </p:sp>
        <p:sp>
          <p:nvSpPr>
            <p:cNvPr id="138" name="TextBox 138"/>
            <p:cNvSpPr txBox="1"/>
            <p:nvPr/>
          </p:nvSpPr>
          <p:spPr>
            <a:xfrm>
              <a:off x="596669" y="4958239"/>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250</a:t>
              </a:r>
            </a:p>
          </p:txBody>
        </p:sp>
        <p:sp>
          <p:nvSpPr>
            <p:cNvPr id="139" name="TextBox 139"/>
            <p:cNvSpPr txBox="1"/>
            <p:nvPr/>
          </p:nvSpPr>
          <p:spPr>
            <a:xfrm>
              <a:off x="596669" y="4727734"/>
              <a:ext cx="160569" cy="133350"/>
            </a:xfrm>
            <a:prstGeom prst="rect">
              <a:avLst/>
            </a:prstGeom>
            <a:noFill/>
            <a:ln>
              <a:noFill/>
            </a:ln>
          </p:spPr>
          <p:txBody>
            <a:bodyPr wrap="none" lIns="0" tIns="0" rIns="0" bIns="0" anchor="t" anchorCtr="0">
              <a:spAutoFit/>
            </a:bodyPr>
            <a:lstStyle/>
            <a:p>
              <a:pPr algn="r"/>
              <a:r>
                <a:rPr lang="zh-CN" sz="680" dirty="0">
                  <a:solidFill>
                    <a:srgbClr val="A6817A"/>
                  </a:solidFill>
                  <a:latin typeface="+mn-lt"/>
                  <a:ea typeface="+mn-ea"/>
                  <a:cs typeface="+mn-cs"/>
                </a:rPr>
                <a:t>300</a:t>
              </a:r>
            </a:p>
          </p:txBody>
        </p:sp>
        <p:sp>
          <p:nvSpPr>
            <p:cNvPr id="140" name="Freeform 140"/>
            <p:cNvSpPr/>
            <p:nvPr/>
          </p:nvSpPr>
          <p:spPr>
            <a:xfrm>
              <a:off x="952500" y="4854892"/>
              <a:ext cx="1857375" cy="1288732"/>
            </a:xfrm>
            <a:custGeom>
              <a:avLst/>
              <a:gdLst/>
              <a:ahLst/>
              <a:cxnLst/>
              <a:rect l="l" t="t" r="r" b="b"/>
              <a:pathLst>
                <a:path w="1857375" h="1288732">
                  <a:moveTo>
                    <a:pt x="0" y="1288732"/>
                  </a:moveTo>
                  <a:lnTo>
                    <a:pt x="0" y="1012508"/>
                  </a:lnTo>
                  <a:lnTo>
                    <a:pt x="371475" y="598170"/>
                  </a:lnTo>
                  <a:lnTo>
                    <a:pt x="742950" y="782002"/>
                  </a:lnTo>
                  <a:lnTo>
                    <a:pt x="1114425" y="229552"/>
                  </a:lnTo>
                  <a:lnTo>
                    <a:pt x="1485900" y="552450"/>
                  </a:lnTo>
                  <a:lnTo>
                    <a:pt x="1857375" y="0"/>
                  </a:lnTo>
                  <a:lnTo>
                    <a:pt x="1857375" y="1288732"/>
                  </a:lnTo>
                  <a:close/>
                </a:path>
              </a:pathLst>
            </a:custGeom>
            <a:gradFill>
              <a:gsLst>
                <a:gs pos="0">
                  <a:srgbClr val="E94B2B">
                    <a:alpha val="90000"/>
                  </a:srgbClr>
                </a:gs>
                <a:gs pos="100000">
                  <a:srgbClr val="F8B6A9">
                    <a:alpha val="35000"/>
                  </a:srgbClr>
                </a:gs>
              </a:gsLst>
              <a:lin ang="5400000" scaled="1"/>
            </a:gradFill>
            <a:ln>
              <a:noFill/>
            </a:ln>
          </p:spPr>
        </p:sp>
        <p:sp>
          <p:nvSpPr>
            <p:cNvPr id="141" name="Line 141"/>
            <p:cNvSpPr/>
            <p:nvPr/>
          </p:nvSpPr>
          <p:spPr>
            <a:xfrm>
              <a:off x="809625" y="6143625"/>
              <a:ext cx="2476500" cy="9525"/>
            </a:xfrm>
            <a:custGeom>
              <a:avLst/>
              <a:gdLst/>
              <a:ahLst/>
              <a:cxnLst/>
              <a:rect l="l" t="t" r="r" b="b"/>
              <a:pathLst>
                <a:path w="2476500" h="9525">
                  <a:moveTo>
                    <a:pt x="0" y="0"/>
                  </a:moveTo>
                  <a:lnTo>
                    <a:pt x="2476500" y="0"/>
                  </a:lnTo>
                </a:path>
              </a:pathLst>
            </a:custGeom>
            <a:noFill/>
            <a:ln w="11430">
              <a:solidFill>
                <a:srgbClr val="E6C1B9"/>
              </a:solidFill>
            </a:ln>
          </p:spPr>
        </p:sp>
        <p:sp>
          <p:nvSpPr>
            <p:cNvPr id="142" name="TextBox 142"/>
            <p:cNvSpPr txBox="1"/>
            <p:nvPr/>
          </p:nvSpPr>
          <p:spPr>
            <a:xfrm>
              <a:off x="873663"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1月</a:t>
              </a:r>
            </a:p>
          </p:txBody>
        </p:sp>
        <p:sp>
          <p:nvSpPr>
            <p:cNvPr id="143" name="TextBox 143"/>
            <p:cNvSpPr txBox="1"/>
            <p:nvPr/>
          </p:nvSpPr>
          <p:spPr>
            <a:xfrm>
              <a:off x="1245138"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2月</a:t>
              </a:r>
            </a:p>
          </p:txBody>
        </p:sp>
        <p:sp>
          <p:nvSpPr>
            <p:cNvPr id="144" name="TextBox 144"/>
            <p:cNvSpPr txBox="1"/>
            <p:nvPr/>
          </p:nvSpPr>
          <p:spPr>
            <a:xfrm>
              <a:off x="1616613"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3月</a:t>
              </a:r>
            </a:p>
          </p:txBody>
        </p:sp>
        <p:sp>
          <p:nvSpPr>
            <p:cNvPr id="145" name="TextBox 145"/>
            <p:cNvSpPr txBox="1"/>
            <p:nvPr/>
          </p:nvSpPr>
          <p:spPr>
            <a:xfrm>
              <a:off x="1988088"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4月</a:t>
              </a:r>
            </a:p>
          </p:txBody>
        </p:sp>
        <p:sp>
          <p:nvSpPr>
            <p:cNvPr id="146" name="TextBox 146"/>
            <p:cNvSpPr txBox="1"/>
            <p:nvPr/>
          </p:nvSpPr>
          <p:spPr>
            <a:xfrm>
              <a:off x="2359563"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5月</a:t>
              </a:r>
            </a:p>
          </p:txBody>
        </p:sp>
        <p:sp>
          <p:nvSpPr>
            <p:cNvPr id="147" name="TextBox 147"/>
            <p:cNvSpPr txBox="1"/>
            <p:nvPr/>
          </p:nvSpPr>
          <p:spPr>
            <a:xfrm>
              <a:off x="2731038" y="62191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6月</a:t>
              </a:r>
            </a:p>
          </p:txBody>
        </p:sp>
      </p:grpSp>
      <p:grpSp>
        <p:nvGrpSpPr>
          <p:cNvPr id="169" name="m-income-donut"/>
          <p:cNvGrpSpPr/>
          <p:nvPr/>
        </p:nvGrpSpPr>
        <p:grpSpPr>
          <a:xfrm>
            <a:off x="3543300" y="4152900"/>
            <a:ext cx="1695450" cy="2400300"/>
            <a:chOff x="3543300" y="4152900"/>
            <a:chExt cx="1695450" cy="2400300"/>
          </a:xfrm>
        </p:grpSpPr>
        <p:sp>
          <p:nvSpPr>
            <p:cNvPr id="149" name="Rectangle 149"/>
            <p:cNvSpPr/>
            <p:nvPr/>
          </p:nvSpPr>
          <p:spPr>
            <a:xfrm>
              <a:off x="3543300" y="4152900"/>
              <a:ext cx="1695450" cy="2400300"/>
            </a:xfrm>
            <a:prstGeom prst="rect">
              <a:avLst/>
            </a:prstGeom>
            <a:solidFill>
              <a:srgbClr val="FFFFFF"/>
            </a:solidFill>
            <a:ln w="11430">
              <a:solidFill>
                <a:srgbClr val="C9DDF5"/>
              </a:solidFill>
            </a:ln>
          </p:spPr>
        </p:sp>
        <p:sp>
          <p:nvSpPr>
            <p:cNvPr id="150" name="Rectangle 150"/>
            <p:cNvSpPr/>
            <p:nvPr/>
          </p:nvSpPr>
          <p:spPr>
            <a:xfrm>
              <a:off x="3638550" y="4248150"/>
              <a:ext cx="1428750" cy="247650"/>
            </a:xfrm>
            <a:prstGeom prst="rect">
              <a:avLst/>
            </a:prstGeom>
            <a:gradFill>
              <a:gsLst>
                <a:gs pos="0">
                  <a:srgbClr val="FF5B3A"/>
                </a:gs>
                <a:gs pos="100000">
                  <a:srgbClr val="E94B2B"/>
                </a:gs>
              </a:gsLst>
              <a:lin ang="0" scaled="1"/>
            </a:gradFill>
            <a:ln>
              <a:noFill/>
            </a:ln>
          </p:spPr>
        </p:sp>
        <p:sp>
          <p:nvSpPr>
            <p:cNvPr id="151" name="Polygon 151"/>
            <p:cNvSpPr/>
            <p:nvPr/>
          </p:nvSpPr>
          <p:spPr>
            <a:xfrm>
              <a:off x="4972050" y="42481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sp>
          <p:nvSpPr>
            <p:cNvPr id="152" name="TextBox 152"/>
            <p:cNvSpPr txBox="1"/>
            <p:nvPr/>
          </p:nvSpPr>
          <p:spPr>
            <a:xfrm>
              <a:off x="3728466" y="4306252"/>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收入占比情况</a:t>
              </a:r>
            </a:p>
          </p:txBody>
        </p:sp>
        <p:sp>
          <p:nvSpPr>
            <p:cNvPr id="153" name="Rectangle 153"/>
            <p:cNvSpPr/>
            <p:nvPr/>
          </p:nvSpPr>
          <p:spPr>
            <a:xfrm>
              <a:off x="3676650" y="4514850"/>
              <a:ext cx="76200" cy="76200"/>
            </a:xfrm>
            <a:prstGeom prst="rect">
              <a:avLst/>
            </a:prstGeom>
            <a:solidFill>
              <a:srgbClr val="E94B2B"/>
            </a:solidFill>
            <a:ln>
              <a:noFill/>
            </a:ln>
          </p:spPr>
        </p:sp>
        <p:sp>
          <p:nvSpPr>
            <p:cNvPr id="154" name="TextBox 154"/>
            <p:cNvSpPr txBox="1"/>
            <p:nvPr/>
          </p:nvSpPr>
          <p:spPr>
            <a:xfrm>
              <a:off x="3776662" y="4518184"/>
              <a:ext cx="192608"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租赁</a:t>
              </a:r>
            </a:p>
          </p:txBody>
        </p:sp>
        <p:sp>
          <p:nvSpPr>
            <p:cNvPr id="155" name="Rectangle 155"/>
            <p:cNvSpPr/>
            <p:nvPr/>
          </p:nvSpPr>
          <p:spPr>
            <a:xfrm>
              <a:off x="4038600" y="4514850"/>
              <a:ext cx="76200" cy="76200"/>
            </a:xfrm>
            <a:prstGeom prst="rect">
              <a:avLst/>
            </a:prstGeom>
            <a:solidFill>
              <a:srgbClr val="F2563B"/>
            </a:solidFill>
            <a:ln>
              <a:noFill/>
            </a:ln>
          </p:spPr>
        </p:sp>
        <p:sp>
          <p:nvSpPr>
            <p:cNvPr id="156" name="TextBox 156"/>
            <p:cNvSpPr txBox="1"/>
            <p:nvPr/>
          </p:nvSpPr>
          <p:spPr>
            <a:xfrm>
              <a:off x="4138612" y="4518184"/>
              <a:ext cx="192608"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销售</a:t>
              </a:r>
            </a:p>
          </p:txBody>
        </p:sp>
        <p:sp>
          <p:nvSpPr>
            <p:cNvPr id="157" name="Rectangle 157"/>
            <p:cNvSpPr/>
            <p:nvPr/>
          </p:nvSpPr>
          <p:spPr>
            <a:xfrm>
              <a:off x="4400550" y="4514850"/>
              <a:ext cx="76200" cy="76200"/>
            </a:xfrm>
            <a:prstGeom prst="rect">
              <a:avLst/>
            </a:prstGeom>
            <a:solidFill>
              <a:srgbClr val="F0856F"/>
            </a:solidFill>
            <a:ln>
              <a:noFill/>
            </a:ln>
          </p:spPr>
        </p:sp>
        <p:sp>
          <p:nvSpPr>
            <p:cNvPr id="158" name="TextBox 158"/>
            <p:cNvSpPr txBox="1"/>
            <p:nvPr/>
          </p:nvSpPr>
          <p:spPr>
            <a:xfrm>
              <a:off x="4500562" y="4518184"/>
              <a:ext cx="192608"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零售</a:t>
              </a:r>
            </a:p>
          </p:txBody>
        </p:sp>
        <p:sp>
          <p:nvSpPr>
            <p:cNvPr id="159" name="Rectangle 159"/>
            <p:cNvSpPr/>
            <p:nvPr/>
          </p:nvSpPr>
          <p:spPr>
            <a:xfrm>
              <a:off x="4762500" y="4514850"/>
              <a:ext cx="76200" cy="76200"/>
            </a:xfrm>
            <a:prstGeom prst="rect">
              <a:avLst/>
            </a:prstGeom>
            <a:solidFill>
              <a:srgbClr val="C83B1E"/>
            </a:solidFill>
            <a:ln>
              <a:noFill/>
            </a:ln>
          </p:spPr>
        </p:sp>
        <p:sp>
          <p:nvSpPr>
            <p:cNvPr id="160" name="TextBox 160"/>
            <p:cNvSpPr txBox="1"/>
            <p:nvPr/>
          </p:nvSpPr>
          <p:spPr>
            <a:xfrm>
              <a:off x="4862512" y="4518184"/>
              <a:ext cx="192608"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投资</a:t>
              </a:r>
            </a:p>
          </p:txBody>
        </p:sp>
        <p:sp>
          <p:nvSpPr>
            <p:cNvPr id="161" name="Freeform 161"/>
            <p:cNvSpPr/>
            <p:nvPr/>
          </p:nvSpPr>
          <p:spPr>
            <a:xfrm>
              <a:off x="4391025" y="5105267"/>
              <a:ext cx="533400" cy="533533"/>
            </a:xfrm>
            <a:custGeom>
              <a:avLst/>
              <a:gdLst/>
              <a:ahLst/>
              <a:cxnLst/>
              <a:rect l="l" t="t" r="r" b="b"/>
              <a:pathLst>
                <a:path w="533400" h="533533">
                  <a:moveTo>
                    <a:pt x="0" y="533533"/>
                  </a:moveTo>
                  <a:lnTo>
                    <a:pt x="0" y="133"/>
                  </a:lnTo>
                  <a:cubicBezTo>
                    <a:pt x="288379" y="0"/>
                    <a:pt x="524646" y="229094"/>
                    <a:pt x="533400" y="517340"/>
                  </a:cubicBezTo>
                  <a:lnTo>
                    <a:pt x="276225" y="524960"/>
                  </a:lnTo>
                  <a:cubicBezTo>
                    <a:pt x="271593" y="375763"/>
                    <a:pt x="149269" y="257236"/>
                    <a:pt x="0" y="257308"/>
                  </a:cubicBezTo>
                  <a:close/>
                </a:path>
              </a:pathLst>
            </a:custGeom>
            <a:solidFill>
              <a:srgbClr val="E94B2B"/>
            </a:solidFill>
            <a:ln>
              <a:noFill/>
            </a:ln>
          </p:spPr>
        </p:sp>
        <p:sp>
          <p:nvSpPr>
            <p:cNvPr id="162" name="Freeform 162"/>
            <p:cNvSpPr/>
            <p:nvPr/>
          </p:nvSpPr>
          <p:spPr>
            <a:xfrm>
              <a:off x="4391025" y="5622608"/>
              <a:ext cx="536605" cy="301943"/>
            </a:xfrm>
            <a:custGeom>
              <a:avLst/>
              <a:gdLst/>
              <a:ahLst/>
              <a:cxnLst/>
              <a:rect l="l" t="t" r="r" b="b"/>
              <a:pathLst>
                <a:path w="536605" h="301943">
                  <a:moveTo>
                    <a:pt x="0" y="16193"/>
                  </a:moveTo>
                  <a:lnTo>
                    <a:pt x="533400" y="0"/>
                  </a:lnTo>
                  <a:cubicBezTo>
                    <a:pt x="536605" y="106671"/>
                    <a:pt x="507738" y="211851"/>
                    <a:pt x="450533" y="301943"/>
                  </a:cubicBezTo>
                  <a:lnTo>
                    <a:pt x="233362" y="163830"/>
                  </a:lnTo>
                  <a:cubicBezTo>
                    <a:pt x="262939" y="117213"/>
                    <a:pt x="277869" y="62803"/>
                    <a:pt x="276225" y="7620"/>
                  </a:cubicBezTo>
                  <a:close/>
                </a:path>
              </a:pathLst>
            </a:custGeom>
            <a:solidFill>
              <a:srgbClr val="F2563B"/>
            </a:solidFill>
            <a:ln>
              <a:noFill/>
            </a:ln>
          </p:spPr>
        </p:sp>
        <p:sp>
          <p:nvSpPr>
            <p:cNvPr id="163" name="Freeform 163"/>
            <p:cNvSpPr/>
            <p:nvPr/>
          </p:nvSpPr>
          <p:spPr>
            <a:xfrm>
              <a:off x="4296728" y="5638800"/>
              <a:ext cx="544830" cy="563232"/>
            </a:xfrm>
            <a:custGeom>
              <a:avLst/>
              <a:gdLst/>
              <a:ahLst/>
              <a:cxnLst/>
              <a:rect l="l" t="t" r="r" b="b"/>
              <a:pathLst>
                <a:path w="544830" h="563232">
                  <a:moveTo>
                    <a:pt x="94297" y="0"/>
                  </a:moveTo>
                  <a:lnTo>
                    <a:pt x="544830" y="285750"/>
                  </a:lnTo>
                  <a:cubicBezTo>
                    <a:pt x="428662" y="468736"/>
                    <a:pt x="213317" y="563232"/>
                    <a:pt x="0" y="524827"/>
                  </a:cubicBezTo>
                  <a:lnTo>
                    <a:pt x="45720" y="271462"/>
                  </a:lnTo>
                  <a:cubicBezTo>
                    <a:pt x="156124" y="291258"/>
                    <a:pt x="267537" y="242327"/>
                    <a:pt x="327660" y="147638"/>
                  </a:cubicBezTo>
                  <a:close/>
                </a:path>
              </a:pathLst>
            </a:custGeom>
            <a:solidFill>
              <a:srgbClr val="F0856F"/>
            </a:solidFill>
            <a:ln>
              <a:noFill/>
            </a:ln>
          </p:spPr>
        </p:sp>
        <p:sp>
          <p:nvSpPr>
            <p:cNvPr id="164" name="Freeform 164"/>
            <p:cNvSpPr/>
            <p:nvPr/>
          </p:nvSpPr>
          <p:spPr>
            <a:xfrm>
              <a:off x="3836187" y="5105400"/>
              <a:ext cx="554838" cy="1058228"/>
            </a:xfrm>
            <a:custGeom>
              <a:avLst/>
              <a:gdLst/>
              <a:ahLst/>
              <a:cxnLst/>
              <a:rect l="l" t="t" r="r" b="b"/>
              <a:pathLst>
                <a:path w="554838" h="1058228">
                  <a:moveTo>
                    <a:pt x="554838" y="533400"/>
                  </a:moveTo>
                  <a:lnTo>
                    <a:pt x="460541" y="1058228"/>
                  </a:lnTo>
                  <a:cubicBezTo>
                    <a:pt x="189094" y="1008968"/>
                    <a:pt x="0" y="760847"/>
                    <a:pt x="24486" y="486056"/>
                  </a:cubicBezTo>
                  <a:cubicBezTo>
                    <a:pt x="48973" y="211265"/>
                    <a:pt x="278959" y="488"/>
                    <a:pt x="554838" y="0"/>
                  </a:cubicBezTo>
                  <a:lnTo>
                    <a:pt x="554838" y="257175"/>
                  </a:lnTo>
                  <a:cubicBezTo>
                    <a:pt x="412681" y="258429"/>
                    <a:pt x="294690" y="367378"/>
                    <a:pt x="282131" y="508985"/>
                  </a:cubicBezTo>
                  <a:cubicBezTo>
                    <a:pt x="269571" y="650592"/>
                    <a:pt x="366543" y="778607"/>
                    <a:pt x="506261" y="804862"/>
                  </a:cubicBezTo>
                  <a:close/>
                </a:path>
              </a:pathLst>
            </a:custGeom>
            <a:solidFill>
              <a:srgbClr val="C83B1E"/>
            </a:solidFill>
            <a:ln>
              <a:noFill/>
            </a:ln>
          </p:spPr>
        </p:sp>
        <p:sp>
          <p:nvSpPr>
            <p:cNvPr id="165" name="TextBox 165"/>
            <p:cNvSpPr txBox="1"/>
            <p:nvPr/>
          </p:nvSpPr>
          <p:spPr>
            <a:xfrm>
              <a:off x="4012101" y="516183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26%</a:t>
              </a:r>
            </a:p>
          </p:txBody>
        </p:sp>
        <p:sp>
          <p:nvSpPr>
            <p:cNvPr id="166" name="TextBox 166"/>
            <p:cNvSpPr txBox="1"/>
            <p:nvPr/>
          </p:nvSpPr>
          <p:spPr>
            <a:xfrm>
              <a:off x="4621701" y="516183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10%</a:t>
              </a:r>
            </a:p>
          </p:txBody>
        </p:sp>
        <p:sp>
          <p:nvSpPr>
            <p:cNvPr id="167" name="TextBox 167"/>
            <p:cNvSpPr txBox="1"/>
            <p:nvPr/>
          </p:nvSpPr>
          <p:spPr>
            <a:xfrm>
              <a:off x="4716951" y="582858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20%</a:t>
              </a:r>
            </a:p>
          </p:txBody>
        </p:sp>
        <p:sp>
          <p:nvSpPr>
            <p:cNvPr id="168" name="TextBox 168"/>
            <p:cNvSpPr txBox="1"/>
            <p:nvPr/>
          </p:nvSpPr>
          <p:spPr>
            <a:xfrm>
              <a:off x="3821601" y="590478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50%</a:t>
              </a:r>
            </a:p>
          </p:txBody>
        </p:sp>
      </p:grpSp>
      <p:grpSp>
        <p:nvGrpSpPr>
          <p:cNvPr id="190" name="m-expense-donut"/>
          <p:cNvGrpSpPr/>
          <p:nvPr/>
        </p:nvGrpSpPr>
        <p:grpSpPr>
          <a:xfrm>
            <a:off x="5334000" y="4152900"/>
            <a:ext cx="1771650" cy="2400300"/>
            <a:chOff x="5334000" y="4152900"/>
            <a:chExt cx="1771650" cy="2400300"/>
          </a:xfrm>
        </p:grpSpPr>
        <p:sp>
          <p:nvSpPr>
            <p:cNvPr id="170" name="Rectangle 170"/>
            <p:cNvSpPr/>
            <p:nvPr/>
          </p:nvSpPr>
          <p:spPr>
            <a:xfrm>
              <a:off x="5334000" y="4152900"/>
              <a:ext cx="1771650" cy="2400300"/>
            </a:xfrm>
            <a:prstGeom prst="rect">
              <a:avLst/>
            </a:prstGeom>
            <a:solidFill>
              <a:srgbClr val="FFFFFF"/>
            </a:solidFill>
            <a:ln w="11430">
              <a:solidFill>
                <a:srgbClr val="C9DDF5"/>
              </a:solidFill>
            </a:ln>
          </p:spPr>
        </p:sp>
        <p:sp>
          <p:nvSpPr>
            <p:cNvPr id="171" name="Rectangle 171"/>
            <p:cNvSpPr/>
            <p:nvPr/>
          </p:nvSpPr>
          <p:spPr>
            <a:xfrm>
              <a:off x="5429250" y="4248150"/>
              <a:ext cx="1524000" cy="247650"/>
            </a:xfrm>
            <a:prstGeom prst="rect">
              <a:avLst/>
            </a:prstGeom>
            <a:gradFill>
              <a:gsLst>
                <a:gs pos="0">
                  <a:srgbClr val="FF5B3A"/>
                </a:gs>
                <a:gs pos="100000">
                  <a:srgbClr val="E94B2B"/>
                </a:gs>
              </a:gsLst>
              <a:lin ang="0" scaled="1"/>
            </a:gradFill>
            <a:ln>
              <a:noFill/>
            </a:ln>
          </p:spPr>
        </p:sp>
        <p:sp>
          <p:nvSpPr>
            <p:cNvPr id="172" name="Polygon 172"/>
            <p:cNvSpPr/>
            <p:nvPr/>
          </p:nvSpPr>
          <p:spPr>
            <a:xfrm>
              <a:off x="6858000" y="42481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sp>
          <p:nvSpPr>
            <p:cNvPr id="173" name="TextBox 173"/>
            <p:cNvSpPr txBox="1"/>
            <p:nvPr/>
          </p:nvSpPr>
          <p:spPr>
            <a:xfrm>
              <a:off x="5519166" y="4306252"/>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支出占比情况</a:t>
              </a:r>
            </a:p>
          </p:txBody>
        </p:sp>
        <p:sp>
          <p:nvSpPr>
            <p:cNvPr id="174" name="Rectangle 174"/>
            <p:cNvSpPr/>
            <p:nvPr/>
          </p:nvSpPr>
          <p:spPr>
            <a:xfrm>
              <a:off x="5486400" y="4514850"/>
              <a:ext cx="76200" cy="76200"/>
            </a:xfrm>
            <a:prstGeom prst="rect">
              <a:avLst/>
            </a:prstGeom>
            <a:solidFill>
              <a:srgbClr val="C83B1E"/>
            </a:solidFill>
            <a:ln>
              <a:noFill/>
            </a:ln>
          </p:spPr>
        </p:sp>
        <p:sp>
          <p:nvSpPr>
            <p:cNvPr id="175" name="TextBox 175"/>
            <p:cNvSpPr txBox="1"/>
            <p:nvPr/>
          </p:nvSpPr>
          <p:spPr>
            <a:xfrm>
              <a:off x="5586412" y="4518184"/>
              <a:ext cx="192608"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材料</a:t>
              </a:r>
            </a:p>
          </p:txBody>
        </p:sp>
        <p:sp>
          <p:nvSpPr>
            <p:cNvPr id="176" name="Rectangle 176"/>
            <p:cNvSpPr/>
            <p:nvPr/>
          </p:nvSpPr>
          <p:spPr>
            <a:xfrm>
              <a:off x="5848350" y="4514850"/>
              <a:ext cx="76200" cy="76200"/>
            </a:xfrm>
            <a:prstGeom prst="rect">
              <a:avLst/>
            </a:prstGeom>
            <a:solidFill>
              <a:srgbClr val="E94B2B"/>
            </a:solidFill>
            <a:ln>
              <a:noFill/>
            </a:ln>
          </p:spPr>
        </p:sp>
        <p:sp>
          <p:nvSpPr>
            <p:cNvPr id="177" name="TextBox 177"/>
            <p:cNvSpPr txBox="1"/>
            <p:nvPr/>
          </p:nvSpPr>
          <p:spPr>
            <a:xfrm>
              <a:off x="5948362" y="4518184"/>
              <a:ext cx="192608"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运营</a:t>
              </a:r>
            </a:p>
          </p:txBody>
        </p:sp>
        <p:sp>
          <p:nvSpPr>
            <p:cNvPr id="178" name="Rectangle 178"/>
            <p:cNvSpPr/>
            <p:nvPr/>
          </p:nvSpPr>
          <p:spPr>
            <a:xfrm>
              <a:off x="6210300" y="4514850"/>
              <a:ext cx="76200" cy="76200"/>
            </a:xfrm>
            <a:prstGeom prst="rect">
              <a:avLst/>
            </a:prstGeom>
            <a:solidFill>
              <a:srgbClr val="F2563B"/>
            </a:solidFill>
            <a:ln>
              <a:noFill/>
            </a:ln>
          </p:spPr>
        </p:sp>
        <p:sp>
          <p:nvSpPr>
            <p:cNvPr id="179" name="TextBox 179"/>
            <p:cNvSpPr txBox="1"/>
            <p:nvPr/>
          </p:nvSpPr>
          <p:spPr>
            <a:xfrm>
              <a:off x="6310312" y="4518184"/>
              <a:ext cx="192608"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融资</a:t>
              </a:r>
            </a:p>
          </p:txBody>
        </p:sp>
        <p:sp>
          <p:nvSpPr>
            <p:cNvPr id="180" name="Rectangle 180"/>
            <p:cNvSpPr/>
            <p:nvPr/>
          </p:nvSpPr>
          <p:spPr>
            <a:xfrm>
              <a:off x="6610350" y="4514850"/>
              <a:ext cx="76200" cy="76200"/>
            </a:xfrm>
            <a:prstGeom prst="rect">
              <a:avLst/>
            </a:prstGeom>
            <a:solidFill>
              <a:srgbClr val="F0856F"/>
            </a:solidFill>
            <a:ln>
              <a:noFill/>
            </a:ln>
          </p:spPr>
        </p:sp>
        <p:sp>
          <p:nvSpPr>
            <p:cNvPr id="181" name="TextBox 181"/>
            <p:cNvSpPr txBox="1"/>
            <p:nvPr/>
          </p:nvSpPr>
          <p:spPr>
            <a:xfrm>
              <a:off x="6710362" y="4518184"/>
              <a:ext cx="192608"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折旧</a:t>
              </a:r>
            </a:p>
          </p:txBody>
        </p:sp>
        <p:sp>
          <p:nvSpPr>
            <p:cNvPr id="182" name="Freeform 182"/>
            <p:cNvSpPr/>
            <p:nvPr/>
          </p:nvSpPr>
          <p:spPr>
            <a:xfrm>
              <a:off x="6219825" y="5095780"/>
              <a:ext cx="569430" cy="824007"/>
            </a:xfrm>
            <a:custGeom>
              <a:avLst/>
              <a:gdLst/>
              <a:ahLst/>
              <a:cxnLst/>
              <a:rect l="l" t="t" r="r" b="b"/>
              <a:pathLst>
                <a:path w="569430" h="824007">
                  <a:moveTo>
                    <a:pt x="0" y="543020"/>
                  </a:moveTo>
                  <a:lnTo>
                    <a:pt x="0" y="95"/>
                  </a:lnTo>
                  <a:cubicBezTo>
                    <a:pt x="195993" y="0"/>
                    <a:pt x="376823" y="105546"/>
                    <a:pt x="473127" y="276248"/>
                  </a:cubicBezTo>
                  <a:cubicBezTo>
                    <a:pt x="569430" y="446949"/>
                    <a:pt x="566255" y="656304"/>
                    <a:pt x="464820" y="824007"/>
                  </a:cubicBezTo>
                  <a:lnTo>
                    <a:pt x="244793" y="690657"/>
                  </a:lnTo>
                  <a:cubicBezTo>
                    <a:pt x="298062" y="602383"/>
                    <a:pt x="299647" y="492258"/>
                    <a:pt x="248941" y="402486"/>
                  </a:cubicBezTo>
                  <a:cubicBezTo>
                    <a:pt x="198235" y="312715"/>
                    <a:pt x="103102" y="257220"/>
                    <a:pt x="0" y="257270"/>
                  </a:cubicBezTo>
                  <a:close/>
                </a:path>
              </a:pathLst>
            </a:custGeom>
            <a:solidFill>
              <a:srgbClr val="C83B1E"/>
            </a:solidFill>
            <a:ln>
              <a:noFill/>
            </a:ln>
          </p:spPr>
        </p:sp>
        <p:sp>
          <p:nvSpPr>
            <p:cNvPr id="183" name="Freeform 183"/>
            <p:cNvSpPr/>
            <p:nvPr/>
          </p:nvSpPr>
          <p:spPr>
            <a:xfrm>
              <a:off x="6154102" y="5638800"/>
              <a:ext cx="530542" cy="565055"/>
            </a:xfrm>
            <a:custGeom>
              <a:avLst/>
              <a:gdLst/>
              <a:ahLst/>
              <a:cxnLst/>
              <a:rect l="l" t="t" r="r" b="b"/>
              <a:pathLst>
                <a:path w="530542" h="565055">
                  <a:moveTo>
                    <a:pt x="65722" y="0"/>
                  </a:moveTo>
                  <a:lnTo>
                    <a:pt x="530542" y="280988"/>
                  </a:lnTo>
                  <a:cubicBezTo>
                    <a:pt x="419956" y="463998"/>
                    <a:pt x="212248" y="565055"/>
                    <a:pt x="0" y="539115"/>
                  </a:cubicBezTo>
                  <a:lnTo>
                    <a:pt x="30480" y="283845"/>
                  </a:lnTo>
                  <a:cubicBezTo>
                    <a:pt x="142538" y="297761"/>
                    <a:pt x="252282" y="244382"/>
                    <a:pt x="310515" y="147638"/>
                  </a:cubicBezTo>
                  <a:close/>
                </a:path>
              </a:pathLst>
            </a:custGeom>
            <a:solidFill>
              <a:srgbClr val="F2563B"/>
            </a:solidFill>
            <a:ln>
              <a:noFill/>
            </a:ln>
          </p:spPr>
        </p:sp>
        <p:sp>
          <p:nvSpPr>
            <p:cNvPr id="184" name="Freeform 184"/>
            <p:cNvSpPr/>
            <p:nvPr/>
          </p:nvSpPr>
          <p:spPr>
            <a:xfrm>
              <a:off x="5693093" y="5638800"/>
              <a:ext cx="526732" cy="539115"/>
            </a:xfrm>
            <a:custGeom>
              <a:avLst/>
              <a:gdLst/>
              <a:ahLst/>
              <a:cxnLst/>
              <a:rect l="l" t="t" r="r" b="b"/>
              <a:pathLst>
                <a:path w="526732" h="539115">
                  <a:moveTo>
                    <a:pt x="526732" y="0"/>
                  </a:moveTo>
                  <a:lnTo>
                    <a:pt x="461010" y="539115"/>
                  </a:lnTo>
                  <a:cubicBezTo>
                    <a:pt x="237460" y="511713"/>
                    <a:pt x="54040" y="349136"/>
                    <a:pt x="0" y="130493"/>
                  </a:cubicBezTo>
                  <a:lnTo>
                    <a:pt x="249555" y="68580"/>
                  </a:lnTo>
                  <a:cubicBezTo>
                    <a:pt x="277833" y="183517"/>
                    <a:pt x="374044" y="269123"/>
                    <a:pt x="491490" y="283845"/>
                  </a:cubicBezTo>
                  <a:close/>
                </a:path>
              </a:pathLst>
            </a:custGeom>
            <a:solidFill>
              <a:srgbClr val="F0856F"/>
            </a:solidFill>
            <a:ln>
              <a:noFill/>
            </a:ln>
          </p:spPr>
        </p:sp>
        <p:sp>
          <p:nvSpPr>
            <p:cNvPr id="185" name="Freeform 185"/>
            <p:cNvSpPr/>
            <p:nvPr/>
          </p:nvSpPr>
          <p:spPr>
            <a:xfrm>
              <a:off x="5652972" y="5095875"/>
              <a:ext cx="566853" cy="673418"/>
            </a:xfrm>
            <a:custGeom>
              <a:avLst/>
              <a:gdLst/>
              <a:ahLst/>
              <a:cxnLst/>
              <a:rect l="l" t="t" r="r" b="b"/>
              <a:pathLst>
                <a:path w="566853" h="673418">
                  <a:moveTo>
                    <a:pt x="566853" y="542925"/>
                  </a:moveTo>
                  <a:lnTo>
                    <a:pt x="40120" y="673418"/>
                  </a:lnTo>
                  <a:cubicBezTo>
                    <a:pt x="0" y="511388"/>
                    <a:pt x="36644" y="339910"/>
                    <a:pt x="139484" y="208430"/>
                  </a:cubicBezTo>
                  <a:cubicBezTo>
                    <a:pt x="242325" y="76950"/>
                    <a:pt x="399930" y="85"/>
                    <a:pt x="566853" y="0"/>
                  </a:cubicBezTo>
                  <a:lnTo>
                    <a:pt x="566853" y="257175"/>
                  </a:lnTo>
                  <a:cubicBezTo>
                    <a:pt x="479030" y="257243"/>
                    <a:pt x="396116" y="297691"/>
                    <a:pt x="342005" y="366864"/>
                  </a:cubicBezTo>
                  <a:cubicBezTo>
                    <a:pt x="287895" y="436036"/>
                    <a:pt x="268598" y="526249"/>
                    <a:pt x="289675" y="611505"/>
                  </a:cubicBezTo>
                  <a:close/>
                </a:path>
              </a:pathLst>
            </a:custGeom>
            <a:solidFill>
              <a:srgbClr val="E94B2B"/>
            </a:solidFill>
            <a:ln>
              <a:noFill/>
            </a:ln>
          </p:spPr>
        </p:sp>
        <p:sp>
          <p:nvSpPr>
            <p:cNvPr id="186" name="TextBox 186"/>
            <p:cNvSpPr txBox="1"/>
            <p:nvPr/>
          </p:nvSpPr>
          <p:spPr>
            <a:xfrm>
              <a:off x="5821851" y="514278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35%</a:t>
              </a:r>
            </a:p>
          </p:txBody>
        </p:sp>
        <p:sp>
          <p:nvSpPr>
            <p:cNvPr id="187" name="TextBox 187"/>
            <p:cNvSpPr txBox="1"/>
            <p:nvPr/>
          </p:nvSpPr>
          <p:spPr>
            <a:xfrm>
              <a:off x="6345726" y="603813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19%</a:t>
              </a:r>
            </a:p>
          </p:txBody>
        </p:sp>
        <p:sp>
          <p:nvSpPr>
            <p:cNvPr id="188" name="TextBox 188"/>
            <p:cNvSpPr txBox="1"/>
            <p:nvPr/>
          </p:nvSpPr>
          <p:spPr>
            <a:xfrm>
              <a:off x="5678976" y="590478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20%</a:t>
              </a:r>
            </a:p>
          </p:txBody>
        </p:sp>
        <p:sp>
          <p:nvSpPr>
            <p:cNvPr id="189" name="TextBox 189"/>
            <p:cNvSpPr txBox="1"/>
            <p:nvPr/>
          </p:nvSpPr>
          <p:spPr>
            <a:xfrm>
              <a:off x="5602776" y="527613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30%</a:t>
              </a:r>
            </a:p>
          </p:txBody>
        </p:sp>
      </p:grpSp>
      <p:grpSp>
        <p:nvGrpSpPr>
          <p:cNvPr id="235" name="m-top10"/>
          <p:cNvGrpSpPr/>
          <p:nvPr/>
        </p:nvGrpSpPr>
        <p:grpSpPr>
          <a:xfrm>
            <a:off x="7277100" y="876300"/>
            <a:ext cx="4343400" cy="5676900"/>
            <a:chOff x="7277100" y="876300"/>
            <a:chExt cx="4343400" cy="5676900"/>
          </a:xfrm>
        </p:grpSpPr>
        <p:sp>
          <p:nvSpPr>
            <p:cNvPr id="191" name="Rectangle 191"/>
            <p:cNvSpPr/>
            <p:nvPr/>
          </p:nvSpPr>
          <p:spPr>
            <a:xfrm>
              <a:off x="7277100" y="876300"/>
              <a:ext cx="4343400" cy="5676900"/>
            </a:xfrm>
            <a:prstGeom prst="rect">
              <a:avLst/>
            </a:prstGeom>
            <a:solidFill>
              <a:srgbClr val="FFFFFF"/>
            </a:solidFill>
            <a:ln w="11430">
              <a:solidFill>
                <a:srgbClr val="C9DDF5"/>
              </a:solidFill>
            </a:ln>
          </p:spPr>
        </p:sp>
        <p:sp>
          <p:nvSpPr>
            <p:cNvPr id="192" name="Rectangle 192"/>
            <p:cNvSpPr/>
            <p:nvPr/>
          </p:nvSpPr>
          <p:spPr>
            <a:xfrm>
              <a:off x="7372350" y="971550"/>
              <a:ext cx="2571750" cy="266700"/>
            </a:xfrm>
            <a:prstGeom prst="rect">
              <a:avLst/>
            </a:prstGeom>
            <a:gradFill>
              <a:gsLst>
                <a:gs pos="0">
                  <a:srgbClr val="FF5B3A"/>
                </a:gs>
                <a:gs pos="100000">
                  <a:srgbClr val="E94B2B"/>
                </a:gs>
              </a:gsLst>
              <a:lin ang="0" scaled="1"/>
            </a:gradFill>
            <a:ln>
              <a:noFill/>
            </a:ln>
          </p:spPr>
        </p:sp>
        <p:sp>
          <p:nvSpPr>
            <p:cNvPr id="193" name="Polygon 193"/>
            <p:cNvSpPr/>
            <p:nvPr/>
          </p:nvSpPr>
          <p:spPr>
            <a:xfrm>
              <a:off x="9848850" y="971550"/>
              <a:ext cx="95250" cy="266700"/>
            </a:xfrm>
            <a:custGeom>
              <a:avLst/>
              <a:gdLst/>
              <a:ahLst/>
              <a:cxnLst/>
              <a:rect l="l" t="t" r="r" b="b"/>
              <a:pathLst>
                <a:path w="95250" h="266700">
                  <a:moveTo>
                    <a:pt x="0" y="0"/>
                  </a:moveTo>
                  <a:lnTo>
                    <a:pt x="95250" y="0"/>
                  </a:lnTo>
                  <a:lnTo>
                    <a:pt x="0" y="266700"/>
                  </a:lnTo>
                  <a:close/>
                </a:path>
              </a:pathLst>
            </a:custGeom>
            <a:solidFill>
              <a:srgbClr val="C83B1E"/>
            </a:solidFill>
            <a:ln>
              <a:noFill/>
            </a:ln>
          </p:spPr>
        </p:sp>
        <p:sp>
          <p:nvSpPr>
            <p:cNvPr id="194" name="TextBox 194"/>
            <p:cNvSpPr txBox="1"/>
            <p:nvPr/>
          </p:nvSpPr>
          <p:spPr>
            <a:xfrm>
              <a:off x="7480935" y="1040606"/>
              <a:ext cx="1258761"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投资回报率TOP10</a:t>
              </a:r>
            </a:p>
          </p:txBody>
        </p:sp>
        <p:sp>
          <p:nvSpPr>
            <p:cNvPr id="195" name="TextBox 195"/>
            <p:cNvSpPr txBox="1"/>
            <p:nvPr/>
          </p:nvSpPr>
          <p:spPr>
            <a:xfrm>
              <a:off x="7505197" y="1644491"/>
              <a:ext cx="291015"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基金1</a:t>
              </a:r>
            </a:p>
          </p:txBody>
        </p:sp>
        <p:sp>
          <p:nvSpPr>
            <p:cNvPr id="196" name="Rectangle 196"/>
            <p:cNvSpPr/>
            <p:nvPr/>
          </p:nvSpPr>
          <p:spPr>
            <a:xfrm>
              <a:off x="7867650" y="1628775"/>
              <a:ext cx="3429000" cy="133350"/>
            </a:xfrm>
            <a:prstGeom prst="roundRect">
              <a:avLst>
                <a:gd name="adj" fmla="val 50000"/>
              </a:avLst>
            </a:prstGeom>
            <a:solidFill>
              <a:srgbClr val="E4EEFB"/>
            </a:solidFill>
            <a:ln>
              <a:noFill/>
            </a:ln>
          </p:spPr>
        </p:sp>
        <p:sp>
          <p:nvSpPr>
            <p:cNvPr id="197" name="Rectangle 197"/>
            <p:cNvSpPr/>
            <p:nvPr/>
          </p:nvSpPr>
          <p:spPr>
            <a:xfrm>
              <a:off x="7867650" y="1628775"/>
              <a:ext cx="2743200" cy="133350"/>
            </a:xfrm>
            <a:prstGeom prst="roundRect">
              <a:avLst>
                <a:gd name="adj" fmla="val 50000"/>
              </a:avLst>
            </a:prstGeom>
            <a:gradFill>
              <a:gsLst>
                <a:gs pos="0">
                  <a:srgbClr val="FF5B3A"/>
                </a:gs>
                <a:gs pos="100000">
                  <a:srgbClr val="E94B2B"/>
                </a:gs>
              </a:gsLst>
              <a:lin ang="0" scaled="1"/>
            </a:gradFill>
            <a:ln>
              <a:noFill/>
            </a:ln>
          </p:spPr>
        </p:sp>
        <p:sp>
          <p:nvSpPr>
            <p:cNvPr id="198" name="TextBox 198"/>
            <p:cNvSpPr txBox="1"/>
            <p:nvPr/>
          </p:nvSpPr>
          <p:spPr>
            <a:xfrm>
              <a:off x="10371118" y="1660684"/>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80%</a:t>
              </a:r>
            </a:p>
          </p:txBody>
        </p:sp>
        <p:sp>
          <p:nvSpPr>
            <p:cNvPr id="199" name="TextBox 199"/>
            <p:cNvSpPr txBox="1"/>
            <p:nvPr/>
          </p:nvSpPr>
          <p:spPr>
            <a:xfrm>
              <a:off x="7505197" y="2130266"/>
              <a:ext cx="291015"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基金2</a:t>
              </a:r>
            </a:p>
          </p:txBody>
        </p:sp>
        <p:sp>
          <p:nvSpPr>
            <p:cNvPr id="200" name="Rectangle 200"/>
            <p:cNvSpPr/>
            <p:nvPr/>
          </p:nvSpPr>
          <p:spPr>
            <a:xfrm>
              <a:off x="7867650" y="2114550"/>
              <a:ext cx="3429000" cy="133350"/>
            </a:xfrm>
            <a:prstGeom prst="roundRect">
              <a:avLst>
                <a:gd name="adj" fmla="val 50000"/>
              </a:avLst>
            </a:prstGeom>
            <a:solidFill>
              <a:srgbClr val="E4EEFB"/>
            </a:solidFill>
            <a:ln>
              <a:noFill/>
            </a:ln>
          </p:spPr>
        </p:sp>
        <p:sp>
          <p:nvSpPr>
            <p:cNvPr id="201" name="Rectangle 201"/>
            <p:cNvSpPr/>
            <p:nvPr/>
          </p:nvSpPr>
          <p:spPr>
            <a:xfrm>
              <a:off x="7867650" y="2114550"/>
              <a:ext cx="2571750" cy="133350"/>
            </a:xfrm>
            <a:prstGeom prst="roundRect">
              <a:avLst>
                <a:gd name="adj" fmla="val 50000"/>
              </a:avLst>
            </a:prstGeom>
            <a:gradFill>
              <a:gsLst>
                <a:gs pos="0">
                  <a:srgbClr val="FF5B3A"/>
                </a:gs>
                <a:gs pos="100000">
                  <a:srgbClr val="E94B2B"/>
                </a:gs>
              </a:gsLst>
              <a:lin ang="0" scaled="1"/>
            </a:gradFill>
            <a:ln>
              <a:noFill/>
            </a:ln>
          </p:spPr>
        </p:sp>
        <p:sp>
          <p:nvSpPr>
            <p:cNvPr id="202" name="TextBox 202"/>
            <p:cNvSpPr txBox="1"/>
            <p:nvPr/>
          </p:nvSpPr>
          <p:spPr>
            <a:xfrm>
              <a:off x="10199668" y="2146459"/>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75%</a:t>
              </a:r>
            </a:p>
          </p:txBody>
        </p:sp>
        <p:sp>
          <p:nvSpPr>
            <p:cNvPr id="203" name="TextBox 203"/>
            <p:cNvSpPr txBox="1"/>
            <p:nvPr/>
          </p:nvSpPr>
          <p:spPr>
            <a:xfrm>
              <a:off x="7505197" y="2616041"/>
              <a:ext cx="291015"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基金3</a:t>
              </a:r>
            </a:p>
          </p:txBody>
        </p:sp>
        <p:sp>
          <p:nvSpPr>
            <p:cNvPr id="204" name="Rectangle 204"/>
            <p:cNvSpPr/>
            <p:nvPr/>
          </p:nvSpPr>
          <p:spPr>
            <a:xfrm>
              <a:off x="7867650" y="2600325"/>
              <a:ext cx="3429000" cy="133350"/>
            </a:xfrm>
            <a:prstGeom prst="roundRect">
              <a:avLst>
                <a:gd name="adj" fmla="val 50000"/>
              </a:avLst>
            </a:prstGeom>
            <a:solidFill>
              <a:srgbClr val="E4EEFB"/>
            </a:solidFill>
            <a:ln>
              <a:noFill/>
            </a:ln>
          </p:spPr>
        </p:sp>
        <p:sp>
          <p:nvSpPr>
            <p:cNvPr id="205" name="Rectangle 205"/>
            <p:cNvSpPr/>
            <p:nvPr/>
          </p:nvSpPr>
          <p:spPr>
            <a:xfrm>
              <a:off x="7867650" y="2600325"/>
              <a:ext cx="2190750" cy="133350"/>
            </a:xfrm>
            <a:prstGeom prst="roundRect">
              <a:avLst>
                <a:gd name="adj" fmla="val 50000"/>
              </a:avLst>
            </a:prstGeom>
            <a:gradFill>
              <a:gsLst>
                <a:gs pos="0">
                  <a:srgbClr val="FF5B3A"/>
                </a:gs>
                <a:gs pos="100000">
                  <a:srgbClr val="E94B2B"/>
                </a:gs>
              </a:gsLst>
              <a:lin ang="0" scaled="1"/>
            </a:gradFill>
            <a:ln>
              <a:noFill/>
            </a:ln>
          </p:spPr>
        </p:sp>
        <p:sp>
          <p:nvSpPr>
            <p:cNvPr id="206" name="TextBox 206"/>
            <p:cNvSpPr txBox="1"/>
            <p:nvPr/>
          </p:nvSpPr>
          <p:spPr>
            <a:xfrm>
              <a:off x="9818668" y="2632234"/>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64%</a:t>
              </a:r>
            </a:p>
          </p:txBody>
        </p:sp>
        <p:sp>
          <p:nvSpPr>
            <p:cNvPr id="207" name="TextBox 207"/>
            <p:cNvSpPr txBox="1"/>
            <p:nvPr/>
          </p:nvSpPr>
          <p:spPr>
            <a:xfrm>
              <a:off x="7505197" y="3101816"/>
              <a:ext cx="291015"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基金4</a:t>
              </a:r>
            </a:p>
          </p:txBody>
        </p:sp>
        <p:sp>
          <p:nvSpPr>
            <p:cNvPr id="208" name="Rectangle 208"/>
            <p:cNvSpPr/>
            <p:nvPr/>
          </p:nvSpPr>
          <p:spPr>
            <a:xfrm>
              <a:off x="7867650" y="3086100"/>
              <a:ext cx="3429000" cy="133350"/>
            </a:xfrm>
            <a:prstGeom prst="roundRect">
              <a:avLst>
                <a:gd name="adj" fmla="val 50000"/>
              </a:avLst>
            </a:prstGeom>
            <a:solidFill>
              <a:srgbClr val="E4EEFB"/>
            </a:solidFill>
            <a:ln>
              <a:noFill/>
            </a:ln>
          </p:spPr>
        </p:sp>
        <p:sp>
          <p:nvSpPr>
            <p:cNvPr id="209" name="Rectangle 209"/>
            <p:cNvSpPr/>
            <p:nvPr/>
          </p:nvSpPr>
          <p:spPr>
            <a:xfrm>
              <a:off x="7867650" y="3086100"/>
              <a:ext cx="2057400" cy="133350"/>
            </a:xfrm>
            <a:prstGeom prst="roundRect">
              <a:avLst>
                <a:gd name="adj" fmla="val 50000"/>
              </a:avLst>
            </a:prstGeom>
            <a:gradFill>
              <a:gsLst>
                <a:gs pos="0">
                  <a:srgbClr val="FF5B3A"/>
                </a:gs>
                <a:gs pos="100000">
                  <a:srgbClr val="E94B2B"/>
                </a:gs>
              </a:gsLst>
              <a:lin ang="0" scaled="1"/>
            </a:gradFill>
            <a:ln>
              <a:noFill/>
            </a:ln>
          </p:spPr>
        </p:sp>
        <p:sp>
          <p:nvSpPr>
            <p:cNvPr id="210" name="TextBox 210"/>
            <p:cNvSpPr txBox="1"/>
            <p:nvPr/>
          </p:nvSpPr>
          <p:spPr>
            <a:xfrm>
              <a:off x="9685318" y="3118009"/>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60%</a:t>
              </a:r>
            </a:p>
          </p:txBody>
        </p:sp>
        <p:sp>
          <p:nvSpPr>
            <p:cNvPr id="211" name="TextBox 211"/>
            <p:cNvSpPr txBox="1"/>
            <p:nvPr/>
          </p:nvSpPr>
          <p:spPr>
            <a:xfrm>
              <a:off x="7505197" y="3587591"/>
              <a:ext cx="291015"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基金5</a:t>
              </a:r>
            </a:p>
          </p:txBody>
        </p:sp>
        <p:sp>
          <p:nvSpPr>
            <p:cNvPr id="212" name="Rectangle 212"/>
            <p:cNvSpPr/>
            <p:nvPr/>
          </p:nvSpPr>
          <p:spPr>
            <a:xfrm>
              <a:off x="7867650" y="3571875"/>
              <a:ext cx="3429000" cy="133350"/>
            </a:xfrm>
            <a:prstGeom prst="roundRect">
              <a:avLst>
                <a:gd name="adj" fmla="val 50000"/>
              </a:avLst>
            </a:prstGeom>
            <a:solidFill>
              <a:srgbClr val="E4EEFB"/>
            </a:solidFill>
            <a:ln>
              <a:noFill/>
            </a:ln>
          </p:spPr>
        </p:sp>
        <p:sp>
          <p:nvSpPr>
            <p:cNvPr id="213" name="Rectangle 213"/>
            <p:cNvSpPr/>
            <p:nvPr/>
          </p:nvSpPr>
          <p:spPr>
            <a:xfrm>
              <a:off x="7867650" y="3571875"/>
              <a:ext cx="1885950" cy="133350"/>
            </a:xfrm>
            <a:prstGeom prst="roundRect">
              <a:avLst>
                <a:gd name="adj" fmla="val 50000"/>
              </a:avLst>
            </a:prstGeom>
            <a:gradFill>
              <a:gsLst>
                <a:gs pos="0">
                  <a:srgbClr val="FF5B3A"/>
                </a:gs>
                <a:gs pos="100000">
                  <a:srgbClr val="E94B2B"/>
                </a:gs>
              </a:gsLst>
              <a:lin ang="0" scaled="1"/>
            </a:gradFill>
            <a:ln>
              <a:noFill/>
            </a:ln>
          </p:spPr>
        </p:sp>
        <p:sp>
          <p:nvSpPr>
            <p:cNvPr id="214" name="TextBox 214"/>
            <p:cNvSpPr txBox="1"/>
            <p:nvPr/>
          </p:nvSpPr>
          <p:spPr>
            <a:xfrm>
              <a:off x="9513868" y="3603784"/>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55%</a:t>
              </a:r>
            </a:p>
          </p:txBody>
        </p:sp>
        <p:sp>
          <p:nvSpPr>
            <p:cNvPr id="215" name="TextBox 215"/>
            <p:cNvSpPr txBox="1"/>
            <p:nvPr/>
          </p:nvSpPr>
          <p:spPr>
            <a:xfrm>
              <a:off x="7505197" y="4073366"/>
              <a:ext cx="291015"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基金6</a:t>
              </a:r>
            </a:p>
          </p:txBody>
        </p:sp>
        <p:sp>
          <p:nvSpPr>
            <p:cNvPr id="216" name="Rectangle 216"/>
            <p:cNvSpPr/>
            <p:nvPr/>
          </p:nvSpPr>
          <p:spPr>
            <a:xfrm>
              <a:off x="7867650" y="4057650"/>
              <a:ext cx="3429000" cy="133350"/>
            </a:xfrm>
            <a:prstGeom prst="roundRect">
              <a:avLst>
                <a:gd name="adj" fmla="val 50000"/>
              </a:avLst>
            </a:prstGeom>
            <a:solidFill>
              <a:srgbClr val="E4EEFB"/>
            </a:solidFill>
            <a:ln>
              <a:noFill/>
            </a:ln>
          </p:spPr>
        </p:sp>
        <p:sp>
          <p:nvSpPr>
            <p:cNvPr id="217" name="Rectangle 217"/>
            <p:cNvSpPr/>
            <p:nvPr/>
          </p:nvSpPr>
          <p:spPr>
            <a:xfrm>
              <a:off x="7867650" y="4057650"/>
              <a:ext cx="1781175" cy="133350"/>
            </a:xfrm>
            <a:prstGeom prst="roundRect">
              <a:avLst>
                <a:gd name="adj" fmla="val 50000"/>
              </a:avLst>
            </a:prstGeom>
            <a:gradFill>
              <a:gsLst>
                <a:gs pos="0">
                  <a:srgbClr val="FF5B3A"/>
                </a:gs>
                <a:gs pos="100000">
                  <a:srgbClr val="E94B2B"/>
                </a:gs>
              </a:gsLst>
              <a:lin ang="0" scaled="1"/>
            </a:gradFill>
            <a:ln>
              <a:noFill/>
            </a:ln>
          </p:spPr>
        </p:sp>
        <p:sp>
          <p:nvSpPr>
            <p:cNvPr id="218" name="TextBox 218"/>
            <p:cNvSpPr txBox="1"/>
            <p:nvPr/>
          </p:nvSpPr>
          <p:spPr>
            <a:xfrm>
              <a:off x="9409093" y="4089559"/>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52%</a:t>
              </a:r>
            </a:p>
          </p:txBody>
        </p:sp>
        <p:sp>
          <p:nvSpPr>
            <p:cNvPr id="219" name="TextBox 219"/>
            <p:cNvSpPr txBox="1"/>
            <p:nvPr/>
          </p:nvSpPr>
          <p:spPr>
            <a:xfrm>
              <a:off x="7505197" y="4559141"/>
              <a:ext cx="291015"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基金7</a:t>
              </a:r>
            </a:p>
          </p:txBody>
        </p:sp>
        <p:sp>
          <p:nvSpPr>
            <p:cNvPr id="220" name="Rectangle 220"/>
            <p:cNvSpPr/>
            <p:nvPr/>
          </p:nvSpPr>
          <p:spPr>
            <a:xfrm>
              <a:off x="7867650" y="4543425"/>
              <a:ext cx="3429000" cy="133350"/>
            </a:xfrm>
            <a:prstGeom prst="roundRect">
              <a:avLst>
                <a:gd name="adj" fmla="val 50000"/>
              </a:avLst>
            </a:prstGeom>
            <a:solidFill>
              <a:srgbClr val="E4EEFB"/>
            </a:solidFill>
            <a:ln>
              <a:noFill/>
            </a:ln>
          </p:spPr>
        </p:sp>
        <p:sp>
          <p:nvSpPr>
            <p:cNvPr id="221" name="Rectangle 221"/>
            <p:cNvSpPr/>
            <p:nvPr/>
          </p:nvSpPr>
          <p:spPr>
            <a:xfrm>
              <a:off x="7867650" y="4543425"/>
              <a:ext cx="1676400" cy="133350"/>
            </a:xfrm>
            <a:prstGeom prst="roundRect">
              <a:avLst>
                <a:gd name="adj" fmla="val 50000"/>
              </a:avLst>
            </a:prstGeom>
            <a:gradFill>
              <a:gsLst>
                <a:gs pos="0">
                  <a:srgbClr val="FF5B3A"/>
                </a:gs>
                <a:gs pos="100000">
                  <a:srgbClr val="E94B2B"/>
                </a:gs>
              </a:gsLst>
              <a:lin ang="0" scaled="1"/>
            </a:gradFill>
            <a:ln>
              <a:noFill/>
            </a:ln>
          </p:spPr>
        </p:sp>
        <p:sp>
          <p:nvSpPr>
            <p:cNvPr id="222" name="TextBox 222"/>
            <p:cNvSpPr txBox="1"/>
            <p:nvPr/>
          </p:nvSpPr>
          <p:spPr>
            <a:xfrm>
              <a:off x="9304318" y="4575334"/>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49%</a:t>
              </a:r>
            </a:p>
          </p:txBody>
        </p:sp>
        <p:sp>
          <p:nvSpPr>
            <p:cNvPr id="223" name="TextBox 223"/>
            <p:cNvSpPr txBox="1"/>
            <p:nvPr/>
          </p:nvSpPr>
          <p:spPr>
            <a:xfrm>
              <a:off x="7505197" y="5044916"/>
              <a:ext cx="291015"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基金8</a:t>
              </a:r>
            </a:p>
          </p:txBody>
        </p:sp>
        <p:sp>
          <p:nvSpPr>
            <p:cNvPr id="224" name="Rectangle 224"/>
            <p:cNvSpPr/>
            <p:nvPr/>
          </p:nvSpPr>
          <p:spPr>
            <a:xfrm>
              <a:off x="7867650" y="5029200"/>
              <a:ext cx="3429000" cy="133350"/>
            </a:xfrm>
            <a:prstGeom prst="roundRect">
              <a:avLst>
                <a:gd name="adj" fmla="val 50000"/>
              </a:avLst>
            </a:prstGeom>
            <a:solidFill>
              <a:srgbClr val="E4EEFB"/>
            </a:solidFill>
            <a:ln>
              <a:noFill/>
            </a:ln>
          </p:spPr>
        </p:sp>
        <p:sp>
          <p:nvSpPr>
            <p:cNvPr id="225" name="Rectangle 225"/>
            <p:cNvSpPr/>
            <p:nvPr/>
          </p:nvSpPr>
          <p:spPr>
            <a:xfrm>
              <a:off x="7867650" y="5029200"/>
              <a:ext cx="1581150" cy="133350"/>
            </a:xfrm>
            <a:prstGeom prst="roundRect">
              <a:avLst>
                <a:gd name="adj" fmla="val 50000"/>
              </a:avLst>
            </a:prstGeom>
            <a:gradFill>
              <a:gsLst>
                <a:gs pos="0">
                  <a:srgbClr val="FF5B3A"/>
                </a:gs>
                <a:gs pos="100000">
                  <a:srgbClr val="E94B2B"/>
                </a:gs>
              </a:gsLst>
              <a:lin ang="0" scaled="1"/>
            </a:gradFill>
            <a:ln>
              <a:noFill/>
            </a:ln>
          </p:spPr>
        </p:sp>
        <p:sp>
          <p:nvSpPr>
            <p:cNvPr id="226" name="TextBox 226"/>
            <p:cNvSpPr txBox="1"/>
            <p:nvPr/>
          </p:nvSpPr>
          <p:spPr>
            <a:xfrm>
              <a:off x="9209068" y="5061109"/>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46%</a:t>
              </a:r>
            </a:p>
          </p:txBody>
        </p:sp>
        <p:sp>
          <p:nvSpPr>
            <p:cNvPr id="227" name="TextBox 227"/>
            <p:cNvSpPr txBox="1"/>
            <p:nvPr/>
          </p:nvSpPr>
          <p:spPr>
            <a:xfrm>
              <a:off x="7505197" y="5530691"/>
              <a:ext cx="291015"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基金9</a:t>
              </a:r>
            </a:p>
          </p:txBody>
        </p:sp>
        <p:sp>
          <p:nvSpPr>
            <p:cNvPr id="228" name="Rectangle 228"/>
            <p:cNvSpPr/>
            <p:nvPr/>
          </p:nvSpPr>
          <p:spPr>
            <a:xfrm>
              <a:off x="7867650" y="5514975"/>
              <a:ext cx="3429000" cy="133350"/>
            </a:xfrm>
            <a:prstGeom prst="roundRect">
              <a:avLst>
                <a:gd name="adj" fmla="val 50000"/>
              </a:avLst>
            </a:prstGeom>
            <a:solidFill>
              <a:srgbClr val="E4EEFB"/>
            </a:solidFill>
            <a:ln>
              <a:noFill/>
            </a:ln>
          </p:spPr>
        </p:sp>
        <p:sp>
          <p:nvSpPr>
            <p:cNvPr id="229" name="Rectangle 229"/>
            <p:cNvSpPr/>
            <p:nvPr/>
          </p:nvSpPr>
          <p:spPr>
            <a:xfrm>
              <a:off x="7867650" y="5514975"/>
              <a:ext cx="1028700" cy="133350"/>
            </a:xfrm>
            <a:prstGeom prst="roundRect">
              <a:avLst>
                <a:gd name="adj" fmla="val 50000"/>
              </a:avLst>
            </a:prstGeom>
            <a:gradFill>
              <a:gsLst>
                <a:gs pos="0">
                  <a:srgbClr val="FF5B3A"/>
                </a:gs>
                <a:gs pos="100000">
                  <a:srgbClr val="E94B2B"/>
                </a:gs>
              </a:gsLst>
              <a:lin ang="0" scaled="1"/>
            </a:gradFill>
            <a:ln>
              <a:noFill/>
            </a:ln>
          </p:spPr>
        </p:sp>
        <p:sp>
          <p:nvSpPr>
            <p:cNvPr id="230" name="TextBox 230"/>
            <p:cNvSpPr txBox="1"/>
            <p:nvPr/>
          </p:nvSpPr>
          <p:spPr>
            <a:xfrm>
              <a:off x="8656618" y="5546884"/>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30%</a:t>
              </a:r>
            </a:p>
          </p:txBody>
        </p:sp>
        <p:sp>
          <p:nvSpPr>
            <p:cNvPr id="231" name="TextBox 231"/>
            <p:cNvSpPr txBox="1"/>
            <p:nvPr/>
          </p:nvSpPr>
          <p:spPr>
            <a:xfrm>
              <a:off x="7444483" y="6016466"/>
              <a:ext cx="351729" cy="161925"/>
            </a:xfrm>
            <a:prstGeom prst="rect">
              <a:avLst/>
            </a:prstGeom>
            <a:noFill/>
            <a:ln>
              <a:noFill/>
            </a:ln>
          </p:spPr>
          <p:txBody>
            <a:bodyPr wrap="none" lIns="0" tIns="0" rIns="0" bIns="0" anchor="t" anchorCtr="0">
              <a:spAutoFit/>
            </a:bodyPr>
            <a:lstStyle/>
            <a:p>
              <a:pPr algn="r"/>
              <a:r>
                <a:rPr lang="zh-CN" sz="820" dirty="0">
                  <a:solidFill>
                    <a:srgbClr val="684F4A"/>
                  </a:solidFill>
                  <a:latin typeface="+mn-lt"/>
                  <a:ea typeface="+mn-ea"/>
                  <a:cs typeface="+mn-cs"/>
                </a:rPr>
                <a:t>基金10</a:t>
              </a:r>
            </a:p>
          </p:txBody>
        </p:sp>
        <p:sp>
          <p:nvSpPr>
            <p:cNvPr id="232" name="Rectangle 232"/>
            <p:cNvSpPr/>
            <p:nvPr/>
          </p:nvSpPr>
          <p:spPr>
            <a:xfrm>
              <a:off x="7867650" y="6000750"/>
              <a:ext cx="3429000" cy="133350"/>
            </a:xfrm>
            <a:prstGeom prst="roundRect">
              <a:avLst>
                <a:gd name="adj" fmla="val 50000"/>
              </a:avLst>
            </a:prstGeom>
            <a:solidFill>
              <a:srgbClr val="E4EEFB"/>
            </a:solidFill>
            <a:ln>
              <a:noFill/>
            </a:ln>
          </p:spPr>
        </p:sp>
        <p:sp>
          <p:nvSpPr>
            <p:cNvPr id="233" name="Rectangle 233"/>
            <p:cNvSpPr/>
            <p:nvPr/>
          </p:nvSpPr>
          <p:spPr>
            <a:xfrm>
              <a:off x="7867650" y="6000750"/>
              <a:ext cx="962025" cy="133350"/>
            </a:xfrm>
            <a:prstGeom prst="roundRect">
              <a:avLst>
                <a:gd name="adj" fmla="val 50000"/>
              </a:avLst>
            </a:prstGeom>
            <a:gradFill>
              <a:gsLst>
                <a:gs pos="0">
                  <a:srgbClr val="FF5B3A"/>
                </a:gs>
                <a:gs pos="100000">
                  <a:srgbClr val="E94B2B"/>
                </a:gs>
              </a:gsLst>
              <a:lin ang="0" scaled="1"/>
            </a:gradFill>
            <a:ln>
              <a:noFill/>
            </a:ln>
          </p:spPr>
        </p:sp>
        <p:sp>
          <p:nvSpPr>
            <p:cNvPr id="234" name="TextBox 234"/>
            <p:cNvSpPr txBox="1"/>
            <p:nvPr/>
          </p:nvSpPr>
          <p:spPr>
            <a:xfrm>
              <a:off x="8589943" y="6032659"/>
              <a:ext cx="187345" cy="133350"/>
            </a:xfrm>
            <a:prstGeom prst="rect">
              <a:avLst/>
            </a:prstGeom>
            <a:noFill/>
            <a:ln>
              <a:noFill/>
            </a:ln>
          </p:spPr>
          <p:txBody>
            <a:bodyPr wrap="none" lIns="0" tIns="0" rIns="0" bIns="0" anchor="t" anchorCtr="0">
              <a:spAutoFit/>
            </a:bodyPr>
            <a:lstStyle/>
            <a:p>
              <a:pPr algn="r"/>
              <a:r>
                <a:rPr lang="zh-CN" sz="680" b="1" dirty="0">
                  <a:solidFill>
                    <a:srgbClr val="FFFFFF"/>
                  </a:solidFill>
                  <a:latin typeface="+mn-lt"/>
                  <a:ea typeface="+mn-ea"/>
                  <a:cs typeface="+mn-cs"/>
                </a:rPr>
                <a:t>28%</a:t>
              </a:r>
            </a:p>
          </p:txBody>
        </p:sp>
      </p:gr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25</a:t>
              </a:r>
            </a:p>
          </p:txBody>
        </p:sp>
        <p:sp>
          <p:nvSpPr>
            <p:cNvPr id="4" name="TextBox 4"/>
            <p:cNvSpPr txBox="1"/>
            <p:nvPr/>
          </p:nvSpPr>
          <p:spPr>
            <a:xfrm>
              <a:off x="904494" y="180023"/>
              <a:ext cx="168402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年度财务分析</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11" name="m-annual-main"/>
          <p:cNvGrpSpPr/>
          <p:nvPr/>
        </p:nvGrpSpPr>
        <p:grpSpPr>
          <a:xfrm>
            <a:off x="571500" y="876300"/>
            <a:ext cx="8278543" cy="2895600"/>
            <a:chOff x="571500" y="876300"/>
            <a:chExt cx="8278543" cy="2895600"/>
          </a:xfrm>
        </p:grpSpPr>
        <p:sp>
          <p:nvSpPr>
            <p:cNvPr id="7" name="Rectangle 7"/>
            <p:cNvSpPr/>
            <p:nvPr/>
          </p:nvSpPr>
          <p:spPr>
            <a:xfrm>
              <a:off x="571500" y="876300"/>
              <a:ext cx="8267700" cy="2895600"/>
            </a:xfrm>
            <a:prstGeom prst="rect">
              <a:avLst/>
            </a:prstGeom>
            <a:solidFill>
              <a:srgbClr val="FFFFFF"/>
            </a:solidFill>
            <a:ln w="11430">
              <a:solidFill>
                <a:srgbClr val="C9DDF5"/>
              </a:solidFill>
            </a:ln>
          </p:spPr>
        </p:sp>
        <p:sp>
          <p:nvSpPr>
            <p:cNvPr id="8" name="Rectangle 8"/>
            <p:cNvSpPr/>
            <p:nvPr/>
          </p:nvSpPr>
          <p:spPr>
            <a:xfrm>
              <a:off x="666750" y="971550"/>
              <a:ext cx="2095500" cy="247650"/>
            </a:xfrm>
            <a:prstGeom prst="rect">
              <a:avLst/>
            </a:prstGeom>
            <a:gradFill>
              <a:gsLst>
                <a:gs pos="0">
                  <a:srgbClr val="FF5B3A"/>
                </a:gs>
                <a:gs pos="100000">
                  <a:srgbClr val="E94B2B"/>
                </a:gs>
              </a:gsLst>
              <a:lin ang="0" scaled="1"/>
            </a:gradFill>
            <a:ln>
              <a:noFill/>
            </a:ln>
          </p:spPr>
        </p:sp>
        <p:sp>
          <p:nvSpPr>
            <p:cNvPr id="9" name="Polygon 9"/>
            <p:cNvSpPr/>
            <p:nvPr/>
          </p:nvSpPr>
          <p:spPr>
            <a:xfrm>
              <a:off x="2667000" y="9715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sp>
          <p:nvSpPr>
            <p:cNvPr id="10" name="TextBox 10"/>
            <p:cNvSpPr txBox="1"/>
            <p:nvPr/>
          </p:nvSpPr>
          <p:spPr>
            <a:xfrm>
              <a:off x="756666" y="1029652"/>
              <a:ext cx="1141476"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年度预算完成分析</a:t>
              </a:r>
            </a:p>
          </p:txBody>
        </p:sp>
        <p:sp>
          <p:nvSpPr>
            <p:cNvPr id="11" name="Rectangle 11"/>
            <p:cNvSpPr/>
            <p:nvPr/>
          </p:nvSpPr>
          <p:spPr>
            <a:xfrm>
              <a:off x="5476875" y="1352550"/>
              <a:ext cx="85725" cy="85725"/>
            </a:xfrm>
            <a:prstGeom prst="rect">
              <a:avLst/>
            </a:prstGeom>
            <a:solidFill>
              <a:srgbClr val="F8B6A9"/>
            </a:solidFill>
            <a:ln>
              <a:noFill/>
            </a:ln>
          </p:spPr>
        </p:sp>
        <p:sp>
          <p:nvSpPr>
            <p:cNvPr id="12" name="TextBox 12"/>
            <p:cNvSpPr txBox="1"/>
            <p:nvPr/>
          </p:nvSpPr>
          <p:spPr>
            <a:xfrm>
              <a:off x="5595938" y="1351836"/>
              <a:ext cx="391846"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今年预算</a:t>
              </a:r>
            </a:p>
          </p:txBody>
        </p:sp>
        <p:sp>
          <p:nvSpPr>
            <p:cNvPr id="13" name="Rectangle 13"/>
            <p:cNvSpPr/>
            <p:nvPr/>
          </p:nvSpPr>
          <p:spPr>
            <a:xfrm>
              <a:off x="6400800" y="1352550"/>
              <a:ext cx="85725" cy="85725"/>
            </a:xfrm>
            <a:prstGeom prst="rect">
              <a:avLst/>
            </a:prstGeom>
            <a:solidFill>
              <a:srgbClr val="C83B1E"/>
            </a:solidFill>
            <a:ln>
              <a:noFill/>
            </a:ln>
          </p:spPr>
        </p:sp>
        <p:sp>
          <p:nvSpPr>
            <p:cNvPr id="14" name="TextBox 14"/>
            <p:cNvSpPr txBox="1"/>
            <p:nvPr/>
          </p:nvSpPr>
          <p:spPr>
            <a:xfrm>
              <a:off x="6519862" y="1351836"/>
              <a:ext cx="391846"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今年完成</a:t>
              </a:r>
            </a:p>
          </p:txBody>
        </p:sp>
        <p:sp>
          <p:nvSpPr>
            <p:cNvPr id="15" name="Line 15"/>
            <p:cNvSpPr/>
            <p:nvPr/>
          </p:nvSpPr>
          <p:spPr>
            <a:xfrm>
              <a:off x="7296150" y="1390650"/>
              <a:ext cx="133350" cy="9525"/>
            </a:xfrm>
            <a:custGeom>
              <a:avLst/>
              <a:gdLst/>
              <a:ahLst/>
              <a:cxnLst/>
              <a:rect l="l" t="t" r="r" b="b"/>
              <a:pathLst>
                <a:path w="133350" h="9525">
                  <a:moveTo>
                    <a:pt x="0" y="0"/>
                  </a:moveTo>
                  <a:lnTo>
                    <a:pt x="133350" y="0"/>
                  </a:lnTo>
                </a:path>
              </a:pathLst>
            </a:custGeom>
            <a:noFill/>
            <a:ln w="23812">
              <a:solidFill>
                <a:srgbClr val="F2563B"/>
              </a:solidFill>
            </a:ln>
          </p:spPr>
        </p:sp>
        <p:sp>
          <p:nvSpPr>
            <p:cNvPr id="16" name="TextBox 16"/>
            <p:cNvSpPr txBox="1"/>
            <p:nvPr/>
          </p:nvSpPr>
          <p:spPr>
            <a:xfrm>
              <a:off x="7462838" y="1351836"/>
              <a:ext cx="296266"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完成率</a:t>
              </a:r>
            </a:p>
          </p:txBody>
        </p:sp>
        <p:sp>
          <p:nvSpPr>
            <p:cNvPr id="17" name="Line 17"/>
            <p:cNvSpPr/>
            <p:nvPr/>
          </p:nvSpPr>
          <p:spPr>
            <a:xfrm>
              <a:off x="1000125" y="342900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18" name="Line 18"/>
            <p:cNvSpPr/>
            <p:nvPr/>
          </p:nvSpPr>
          <p:spPr>
            <a:xfrm>
              <a:off x="1000125" y="325755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19" name="Line 19"/>
            <p:cNvSpPr/>
            <p:nvPr/>
          </p:nvSpPr>
          <p:spPr>
            <a:xfrm>
              <a:off x="1000125" y="308610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20" name="Line 20"/>
            <p:cNvSpPr/>
            <p:nvPr/>
          </p:nvSpPr>
          <p:spPr>
            <a:xfrm>
              <a:off x="1000125" y="291465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21" name="Line 21"/>
            <p:cNvSpPr/>
            <p:nvPr/>
          </p:nvSpPr>
          <p:spPr>
            <a:xfrm>
              <a:off x="1000125" y="274320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22" name="Line 22"/>
            <p:cNvSpPr/>
            <p:nvPr/>
          </p:nvSpPr>
          <p:spPr>
            <a:xfrm>
              <a:off x="1000125" y="257175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23" name="Line 23"/>
            <p:cNvSpPr/>
            <p:nvPr/>
          </p:nvSpPr>
          <p:spPr>
            <a:xfrm>
              <a:off x="1000125" y="240030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24" name="Line 24"/>
            <p:cNvSpPr/>
            <p:nvPr/>
          </p:nvSpPr>
          <p:spPr>
            <a:xfrm>
              <a:off x="1000125" y="222885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25" name="Line 25"/>
            <p:cNvSpPr/>
            <p:nvPr/>
          </p:nvSpPr>
          <p:spPr>
            <a:xfrm>
              <a:off x="1000125" y="205740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26" name="Line 26"/>
            <p:cNvSpPr/>
            <p:nvPr/>
          </p:nvSpPr>
          <p:spPr>
            <a:xfrm>
              <a:off x="1000125" y="188595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27" name="Line 27"/>
            <p:cNvSpPr/>
            <p:nvPr/>
          </p:nvSpPr>
          <p:spPr>
            <a:xfrm>
              <a:off x="1000125" y="1714500"/>
              <a:ext cx="7620000" cy="9525"/>
            </a:xfrm>
            <a:custGeom>
              <a:avLst/>
              <a:gdLst/>
              <a:ahLst/>
              <a:cxnLst/>
              <a:rect l="l" t="t" r="r" b="b"/>
              <a:pathLst>
                <a:path w="7620000" h="9525">
                  <a:moveTo>
                    <a:pt x="0" y="0"/>
                  </a:moveTo>
                  <a:lnTo>
                    <a:pt x="7620000" y="0"/>
                  </a:lnTo>
                </a:path>
              </a:pathLst>
            </a:custGeom>
            <a:noFill/>
            <a:ln w="9525">
              <a:solidFill>
                <a:srgbClr val="EAF2FC"/>
              </a:solidFill>
            </a:ln>
          </p:spPr>
        </p:sp>
        <p:sp>
          <p:nvSpPr>
            <p:cNvPr id="28" name="TextBox 28"/>
            <p:cNvSpPr txBox="1"/>
            <p:nvPr/>
          </p:nvSpPr>
          <p:spPr>
            <a:xfrm>
              <a:off x="899711" y="3400901"/>
              <a:ext cx="48026"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0</a:t>
              </a:r>
            </a:p>
          </p:txBody>
        </p:sp>
        <p:sp>
          <p:nvSpPr>
            <p:cNvPr id="29" name="TextBox 29"/>
            <p:cNvSpPr txBox="1"/>
            <p:nvPr/>
          </p:nvSpPr>
          <p:spPr>
            <a:xfrm>
              <a:off x="822709" y="3229451"/>
              <a:ext cx="125029"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200</a:t>
              </a:r>
            </a:p>
          </p:txBody>
        </p:sp>
        <p:sp>
          <p:nvSpPr>
            <p:cNvPr id="30" name="TextBox 30"/>
            <p:cNvSpPr txBox="1"/>
            <p:nvPr/>
          </p:nvSpPr>
          <p:spPr>
            <a:xfrm>
              <a:off x="822709" y="3058001"/>
              <a:ext cx="125029"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400</a:t>
              </a:r>
            </a:p>
          </p:txBody>
        </p:sp>
        <p:sp>
          <p:nvSpPr>
            <p:cNvPr id="31" name="TextBox 31"/>
            <p:cNvSpPr txBox="1"/>
            <p:nvPr/>
          </p:nvSpPr>
          <p:spPr>
            <a:xfrm>
              <a:off x="822709" y="2886551"/>
              <a:ext cx="125029"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600</a:t>
              </a:r>
            </a:p>
          </p:txBody>
        </p:sp>
        <p:sp>
          <p:nvSpPr>
            <p:cNvPr id="32" name="TextBox 32"/>
            <p:cNvSpPr txBox="1"/>
            <p:nvPr/>
          </p:nvSpPr>
          <p:spPr>
            <a:xfrm>
              <a:off x="822709" y="2715101"/>
              <a:ext cx="125029"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800</a:t>
              </a:r>
            </a:p>
          </p:txBody>
        </p:sp>
        <p:sp>
          <p:nvSpPr>
            <p:cNvPr id="33" name="TextBox 33"/>
            <p:cNvSpPr txBox="1"/>
            <p:nvPr/>
          </p:nvSpPr>
          <p:spPr>
            <a:xfrm>
              <a:off x="784207" y="2543651"/>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1000</a:t>
              </a:r>
            </a:p>
          </p:txBody>
        </p:sp>
        <p:sp>
          <p:nvSpPr>
            <p:cNvPr id="34" name="TextBox 34"/>
            <p:cNvSpPr txBox="1"/>
            <p:nvPr/>
          </p:nvSpPr>
          <p:spPr>
            <a:xfrm>
              <a:off x="784207" y="2372201"/>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1200</a:t>
              </a:r>
            </a:p>
          </p:txBody>
        </p:sp>
        <p:sp>
          <p:nvSpPr>
            <p:cNvPr id="35" name="TextBox 35"/>
            <p:cNvSpPr txBox="1"/>
            <p:nvPr/>
          </p:nvSpPr>
          <p:spPr>
            <a:xfrm>
              <a:off x="784207" y="2200751"/>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1400</a:t>
              </a:r>
            </a:p>
          </p:txBody>
        </p:sp>
        <p:sp>
          <p:nvSpPr>
            <p:cNvPr id="36" name="TextBox 36"/>
            <p:cNvSpPr txBox="1"/>
            <p:nvPr/>
          </p:nvSpPr>
          <p:spPr>
            <a:xfrm>
              <a:off x="784207" y="2029301"/>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1600</a:t>
              </a:r>
            </a:p>
          </p:txBody>
        </p:sp>
        <p:sp>
          <p:nvSpPr>
            <p:cNvPr id="37" name="TextBox 37"/>
            <p:cNvSpPr txBox="1"/>
            <p:nvPr/>
          </p:nvSpPr>
          <p:spPr>
            <a:xfrm>
              <a:off x="784207" y="1857851"/>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1800</a:t>
              </a:r>
            </a:p>
          </p:txBody>
        </p:sp>
        <p:sp>
          <p:nvSpPr>
            <p:cNvPr id="38" name="TextBox 38"/>
            <p:cNvSpPr txBox="1"/>
            <p:nvPr/>
          </p:nvSpPr>
          <p:spPr>
            <a:xfrm>
              <a:off x="784207" y="1686401"/>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2000</a:t>
              </a:r>
            </a:p>
          </p:txBody>
        </p:sp>
        <p:sp>
          <p:nvSpPr>
            <p:cNvPr id="39" name="TextBox 39"/>
            <p:cNvSpPr txBox="1"/>
            <p:nvPr/>
          </p:nvSpPr>
          <p:spPr>
            <a:xfrm>
              <a:off x="8672512" y="3400901"/>
              <a:ext cx="100528"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0%</a:t>
              </a:r>
            </a:p>
          </p:txBody>
        </p:sp>
        <p:sp>
          <p:nvSpPr>
            <p:cNvPr id="40" name="TextBox 40"/>
            <p:cNvSpPr txBox="1"/>
            <p:nvPr/>
          </p:nvSpPr>
          <p:spPr>
            <a:xfrm>
              <a:off x="8672512" y="3229451"/>
              <a:ext cx="139029"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20%</a:t>
              </a:r>
            </a:p>
          </p:txBody>
        </p:sp>
        <p:sp>
          <p:nvSpPr>
            <p:cNvPr id="41" name="TextBox 41"/>
            <p:cNvSpPr txBox="1"/>
            <p:nvPr/>
          </p:nvSpPr>
          <p:spPr>
            <a:xfrm>
              <a:off x="8672512" y="3058001"/>
              <a:ext cx="139029"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40%</a:t>
              </a:r>
            </a:p>
          </p:txBody>
        </p:sp>
        <p:sp>
          <p:nvSpPr>
            <p:cNvPr id="42" name="TextBox 42"/>
            <p:cNvSpPr txBox="1"/>
            <p:nvPr/>
          </p:nvSpPr>
          <p:spPr>
            <a:xfrm>
              <a:off x="8672512" y="2886551"/>
              <a:ext cx="139029"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60%</a:t>
              </a:r>
            </a:p>
          </p:txBody>
        </p:sp>
        <p:sp>
          <p:nvSpPr>
            <p:cNvPr id="43" name="TextBox 43"/>
            <p:cNvSpPr txBox="1"/>
            <p:nvPr/>
          </p:nvSpPr>
          <p:spPr>
            <a:xfrm>
              <a:off x="8672512" y="2715101"/>
              <a:ext cx="139029"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80%</a:t>
              </a:r>
            </a:p>
          </p:txBody>
        </p:sp>
        <p:sp>
          <p:nvSpPr>
            <p:cNvPr id="44" name="TextBox 44"/>
            <p:cNvSpPr txBox="1"/>
            <p:nvPr/>
          </p:nvSpPr>
          <p:spPr>
            <a:xfrm>
              <a:off x="8672512" y="2543651"/>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100%</a:t>
              </a:r>
            </a:p>
          </p:txBody>
        </p:sp>
        <p:sp>
          <p:nvSpPr>
            <p:cNvPr id="45" name="TextBox 45"/>
            <p:cNvSpPr txBox="1"/>
            <p:nvPr/>
          </p:nvSpPr>
          <p:spPr>
            <a:xfrm>
              <a:off x="8672512" y="2372201"/>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120%</a:t>
              </a:r>
            </a:p>
          </p:txBody>
        </p:sp>
        <p:sp>
          <p:nvSpPr>
            <p:cNvPr id="46" name="TextBox 46"/>
            <p:cNvSpPr txBox="1"/>
            <p:nvPr/>
          </p:nvSpPr>
          <p:spPr>
            <a:xfrm>
              <a:off x="8672512" y="2200751"/>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140%</a:t>
              </a:r>
            </a:p>
          </p:txBody>
        </p:sp>
        <p:sp>
          <p:nvSpPr>
            <p:cNvPr id="47" name="TextBox 47"/>
            <p:cNvSpPr txBox="1"/>
            <p:nvPr/>
          </p:nvSpPr>
          <p:spPr>
            <a:xfrm>
              <a:off x="8672512" y="2029301"/>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160%</a:t>
              </a:r>
            </a:p>
          </p:txBody>
        </p:sp>
        <p:sp>
          <p:nvSpPr>
            <p:cNvPr id="48" name="TextBox 48"/>
            <p:cNvSpPr txBox="1"/>
            <p:nvPr/>
          </p:nvSpPr>
          <p:spPr>
            <a:xfrm>
              <a:off x="8672512" y="1857851"/>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180%</a:t>
              </a:r>
            </a:p>
          </p:txBody>
        </p:sp>
        <p:sp>
          <p:nvSpPr>
            <p:cNvPr id="49" name="Rectangle 49"/>
            <p:cNvSpPr/>
            <p:nvPr/>
          </p:nvSpPr>
          <p:spPr>
            <a:xfrm>
              <a:off x="1162050" y="2486025"/>
              <a:ext cx="133350" cy="942975"/>
            </a:xfrm>
            <a:prstGeom prst="rect">
              <a:avLst/>
            </a:prstGeom>
            <a:solidFill>
              <a:srgbClr val="F8B6A9"/>
            </a:solidFill>
            <a:ln>
              <a:noFill/>
            </a:ln>
          </p:spPr>
        </p:sp>
        <p:sp>
          <p:nvSpPr>
            <p:cNvPr id="50" name="Rectangle 50"/>
            <p:cNvSpPr/>
            <p:nvPr/>
          </p:nvSpPr>
          <p:spPr>
            <a:xfrm>
              <a:off x="1333500" y="2010728"/>
              <a:ext cx="133350" cy="1418272"/>
            </a:xfrm>
            <a:prstGeom prst="rect">
              <a:avLst/>
            </a:prstGeom>
            <a:solidFill>
              <a:srgbClr val="C83B1E"/>
            </a:solidFill>
            <a:ln>
              <a:noFill/>
            </a:ln>
          </p:spPr>
        </p:sp>
        <p:sp>
          <p:nvSpPr>
            <p:cNvPr id="51" name="Rectangle 51"/>
            <p:cNvSpPr/>
            <p:nvPr/>
          </p:nvSpPr>
          <p:spPr>
            <a:xfrm>
              <a:off x="1800225" y="2443162"/>
              <a:ext cx="133350" cy="985838"/>
            </a:xfrm>
            <a:prstGeom prst="rect">
              <a:avLst/>
            </a:prstGeom>
            <a:solidFill>
              <a:srgbClr val="F8B6A9"/>
            </a:solidFill>
            <a:ln>
              <a:noFill/>
            </a:ln>
          </p:spPr>
        </p:sp>
        <p:sp>
          <p:nvSpPr>
            <p:cNvPr id="52" name="Rectangle 52"/>
            <p:cNvSpPr/>
            <p:nvPr/>
          </p:nvSpPr>
          <p:spPr>
            <a:xfrm>
              <a:off x="1971675" y="1772602"/>
              <a:ext cx="133350" cy="1656398"/>
            </a:xfrm>
            <a:prstGeom prst="rect">
              <a:avLst/>
            </a:prstGeom>
            <a:solidFill>
              <a:srgbClr val="C83B1E"/>
            </a:solidFill>
            <a:ln>
              <a:noFill/>
            </a:ln>
          </p:spPr>
        </p:sp>
        <p:sp>
          <p:nvSpPr>
            <p:cNvPr id="53" name="Rectangle 53"/>
            <p:cNvSpPr/>
            <p:nvPr/>
          </p:nvSpPr>
          <p:spPr>
            <a:xfrm>
              <a:off x="2438400" y="2400300"/>
              <a:ext cx="133350" cy="1028700"/>
            </a:xfrm>
            <a:prstGeom prst="rect">
              <a:avLst/>
            </a:prstGeom>
            <a:solidFill>
              <a:srgbClr val="F8B6A9"/>
            </a:solidFill>
            <a:ln>
              <a:noFill/>
            </a:ln>
          </p:spPr>
        </p:sp>
        <p:sp>
          <p:nvSpPr>
            <p:cNvPr id="54" name="Rectangle 54"/>
            <p:cNvSpPr/>
            <p:nvPr/>
          </p:nvSpPr>
          <p:spPr>
            <a:xfrm>
              <a:off x="2609850" y="2515552"/>
              <a:ext cx="133350" cy="913448"/>
            </a:xfrm>
            <a:prstGeom prst="rect">
              <a:avLst/>
            </a:prstGeom>
            <a:solidFill>
              <a:srgbClr val="C83B1E"/>
            </a:solidFill>
            <a:ln>
              <a:noFill/>
            </a:ln>
          </p:spPr>
        </p:sp>
        <p:sp>
          <p:nvSpPr>
            <p:cNvPr id="55" name="Rectangle 55"/>
            <p:cNvSpPr/>
            <p:nvPr/>
          </p:nvSpPr>
          <p:spPr>
            <a:xfrm>
              <a:off x="3067050" y="2340292"/>
              <a:ext cx="133350" cy="1088708"/>
            </a:xfrm>
            <a:prstGeom prst="rect">
              <a:avLst/>
            </a:prstGeom>
            <a:solidFill>
              <a:srgbClr val="F8B6A9"/>
            </a:solidFill>
            <a:ln>
              <a:noFill/>
            </a:ln>
          </p:spPr>
        </p:sp>
        <p:sp>
          <p:nvSpPr>
            <p:cNvPr id="56" name="Rectangle 56"/>
            <p:cNvSpPr/>
            <p:nvPr/>
          </p:nvSpPr>
          <p:spPr>
            <a:xfrm>
              <a:off x="3238500" y="1898332"/>
              <a:ext cx="133350" cy="1530668"/>
            </a:xfrm>
            <a:prstGeom prst="rect">
              <a:avLst/>
            </a:prstGeom>
            <a:solidFill>
              <a:srgbClr val="C83B1E"/>
            </a:solidFill>
            <a:ln>
              <a:noFill/>
            </a:ln>
          </p:spPr>
        </p:sp>
        <p:sp>
          <p:nvSpPr>
            <p:cNvPr id="57" name="Rectangle 57"/>
            <p:cNvSpPr/>
            <p:nvPr/>
          </p:nvSpPr>
          <p:spPr>
            <a:xfrm>
              <a:off x="3705225" y="2460308"/>
              <a:ext cx="133350" cy="968692"/>
            </a:xfrm>
            <a:prstGeom prst="rect">
              <a:avLst/>
            </a:prstGeom>
            <a:solidFill>
              <a:srgbClr val="F8B6A9"/>
            </a:solidFill>
            <a:ln>
              <a:noFill/>
            </a:ln>
          </p:spPr>
        </p:sp>
        <p:sp>
          <p:nvSpPr>
            <p:cNvPr id="58" name="Rectangle 58"/>
            <p:cNvSpPr/>
            <p:nvPr/>
          </p:nvSpPr>
          <p:spPr>
            <a:xfrm>
              <a:off x="3876675" y="2106930"/>
              <a:ext cx="133350" cy="1322070"/>
            </a:xfrm>
            <a:prstGeom prst="rect">
              <a:avLst/>
            </a:prstGeom>
            <a:solidFill>
              <a:srgbClr val="C83B1E"/>
            </a:solidFill>
            <a:ln>
              <a:noFill/>
            </a:ln>
          </p:spPr>
        </p:sp>
        <p:sp>
          <p:nvSpPr>
            <p:cNvPr id="59" name="Rectangle 59"/>
            <p:cNvSpPr/>
            <p:nvPr/>
          </p:nvSpPr>
          <p:spPr>
            <a:xfrm>
              <a:off x="4343400" y="2571750"/>
              <a:ext cx="133350" cy="857250"/>
            </a:xfrm>
            <a:prstGeom prst="rect">
              <a:avLst/>
            </a:prstGeom>
            <a:solidFill>
              <a:srgbClr val="F8B6A9"/>
            </a:solidFill>
            <a:ln>
              <a:noFill/>
            </a:ln>
          </p:spPr>
        </p:sp>
        <p:sp>
          <p:nvSpPr>
            <p:cNvPr id="60" name="Rectangle 60"/>
            <p:cNvSpPr/>
            <p:nvPr/>
          </p:nvSpPr>
          <p:spPr>
            <a:xfrm>
              <a:off x="4514850" y="2476500"/>
              <a:ext cx="133350" cy="952500"/>
            </a:xfrm>
            <a:prstGeom prst="rect">
              <a:avLst/>
            </a:prstGeom>
            <a:solidFill>
              <a:srgbClr val="C83B1E"/>
            </a:solidFill>
            <a:ln>
              <a:noFill/>
            </a:ln>
          </p:spPr>
        </p:sp>
        <p:sp>
          <p:nvSpPr>
            <p:cNvPr id="61" name="Rectangle 61"/>
            <p:cNvSpPr/>
            <p:nvPr/>
          </p:nvSpPr>
          <p:spPr>
            <a:xfrm>
              <a:off x="4972050" y="2443162"/>
              <a:ext cx="133350" cy="985838"/>
            </a:xfrm>
            <a:prstGeom prst="rect">
              <a:avLst/>
            </a:prstGeom>
            <a:solidFill>
              <a:srgbClr val="F8B6A9"/>
            </a:solidFill>
            <a:ln>
              <a:noFill/>
            </a:ln>
          </p:spPr>
        </p:sp>
        <p:sp>
          <p:nvSpPr>
            <p:cNvPr id="62" name="Rectangle 62"/>
            <p:cNvSpPr/>
            <p:nvPr/>
          </p:nvSpPr>
          <p:spPr>
            <a:xfrm>
              <a:off x="5143500" y="2292668"/>
              <a:ext cx="133350" cy="1136332"/>
            </a:xfrm>
            <a:prstGeom prst="rect">
              <a:avLst/>
            </a:prstGeom>
            <a:solidFill>
              <a:srgbClr val="C83B1E"/>
            </a:solidFill>
            <a:ln>
              <a:noFill/>
            </a:ln>
          </p:spPr>
        </p:sp>
        <p:sp>
          <p:nvSpPr>
            <p:cNvPr id="63" name="Rectangle 63"/>
            <p:cNvSpPr/>
            <p:nvPr/>
          </p:nvSpPr>
          <p:spPr>
            <a:xfrm>
              <a:off x="5610225" y="2374582"/>
              <a:ext cx="133350" cy="1054418"/>
            </a:xfrm>
            <a:prstGeom prst="rect">
              <a:avLst/>
            </a:prstGeom>
            <a:solidFill>
              <a:srgbClr val="F8B6A9"/>
            </a:solidFill>
            <a:ln>
              <a:noFill/>
            </a:ln>
          </p:spPr>
        </p:sp>
        <p:sp>
          <p:nvSpPr>
            <p:cNvPr id="64" name="Rectangle 64"/>
            <p:cNvSpPr/>
            <p:nvPr/>
          </p:nvSpPr>
          <p:spPr>
            <a:xfrm>
              <a:off x="5781675" y="2438400"/>
              <a:ext cx="133350" cy="990600"/>
            </a:xfrm>
            <a:prstGeom prst="rect">
              <a:avLst/>
            </a:prstGeom>
            <a:solidFill>
              <a:srgbClr val="C83B1E"/>
            </a:solidFill>
            <a:ln>
              <a:noFill/>
            </a:ln>
          </p:spPr>
        </p:sp>
        <p:sp>
          <p:nvSpPr>
            <p:cNvPr id="65" name="Rectangle 65"/>
            <p:cNvSpPr/>
            <p:nvPr/>
          </p:nvSpPr>
          <p:spPr>
            <a:xfrm>
              <a:off x="6248400" y="2297430"/>
              <a:ext cx="133350" cy="1131570"/>
            </a:xfrm>
            <a:prstGeom prst="rect">
              <a:avLst/>
            </a:prstGeom>
            <a:solidFill>
              <a:srgbClr val="F8B6A9"/>
            </a:solidFill>
            <a:ln>
              <a:noFill/>
            </a:ln>
          </p:spPr>
        </p:sp>
        <p:sp>
          <p:nvSpPr>
            <p:cNvPr id="66" name="Rectangle 66"/>
            <p:cNvSpPr/>
            <p:nvPr/>
          </p:nvSpPr>
          <p:spPr>
            <a:xfrm>
              <a:off x="6419850" y="3218498"/>
              <a:ext cx="133350" cy="210502"/>
            </a:xfrm>
            <a:prstGeom prst="rect">
              <a:avLst/>
            </a:prstGeom>
            <a:solidFill>
              <a:srgbClr val="C83B1E"/>
            </a:solidFill>
            <a:ln>
              <a:noFill/>
            </a:ln>
          </p:spPr>
        </p:sp>
        <p:sp>
          <p:nvSpPr>
            <p:cNvPr id="67" name="Rectangle 67"/>
            <p:cNvSpPr/>
            <p:nvPr/>
          </p:nvSpPr>
          <p:spPr>
            <a:xfrm>
              <a:off x="6877050" y="2057400"/>
              <a:ext cx="133350" cy="1371600"/>
            </a:xfrm>
            <a:prstGeom prst="rect">
              <a:avLst/>
            </a:prstGeom>
            <a:solidFill>
              <a:srgbClr val="F8B6A9"/>
            </a:solidFill>
            <a:ln>
              <a:noFill/>
            </a:ln>
          </p:spPr>
        </p:sp>
        <p:sp>
          <p:nvSpPr>
            <p:cNvPr id="68" name="Rectangle 68"/>
            <p:cNvSpPr/>
            <p:nvPr/>
          </p:nvSpPr>
          <p:spPr>
            <a:xfrm>
              <a:off x="7048500" y="2832735"/>
              <a:ext cx="133350" cy="596265"/>
            </a:xfrm>
            <a:prstGeom prst="rect">
              <a:avLst/>
            </a:prstGeom>
            <a:solidFill>
              <a:srgbClr val="C83B1E"/>
            </a:solidFill>
            <a:ln>
              <a:noFill/>
            </a:ln>
          </p:spPr>
        </p:sp>
        <p:sp>
          <p:nvSpPr>
            <p:cNvPr id="69" name="Rectangle 69"/>
            <p:cNvSpPr/>
            <p:nvPr/>
          </p:nvSpPr>
          <p:spPr>
            <a:xfrm>
              <a:off x="7515225" y="2357438"/>
              <a:ext cx="133350" cy="1071562"/>
            </a:xfrm>
            <a:prstGeom prst="rect">
              <a:avLst/>
            </a:prstGeom>
            <a:solidFill>
              <a:srgbClr val="F8B6A9"/>
            </a:solidFill>
            <a:ln>
              <a:noFill/>
            </a:ln>
          </p:spPr>
        </p:sp>
        <p:sp>
          <p:nvSpPr>
            <p:cNvPr id="70" name="Rectangle 70"/>
            <p:cNvSpPr/>
            <p:nvPr/>
          </p:nvSpPr>
          <p:spPr>
            <a:xfrm>
              <a:off x="7686675" y="1804035"/>
              <a:ext cx="133350" cy="1624965"/>
            </a:xfrm>
            <a:prstGeom prst="rect">
              <a:avLst/>
            </a:prstGeom>
            <a:solidFill>
              <a:srgbClr val="C83B1E"/>
            </a:solidFill>
            <a:ln>
              <a:noFill/>
            </a:ln>
          </p:spPr>
        </p:sp>
        <p:sp>
          <p:nvSpPr>
            <p:cNvPr id="71" name="Rectangle 71"/>
            <p:cNvSpPr/>
            <p:nvPr/>
          </p:nvSpPr>
          <p:spPr>
            <a:xfrm>
              <a:off x="8153400" y="2443162"/>
              <a:ext cx="133350" cy="985838"/>
            </a:xfrm>
            <a:prstGeom prst="rect">
              <a:avLst/>
            </a:prstGeom>
            <a:solidFill>
              <a:srgbClr val="F8B6A9"/>
            </a:solidFill>
            <a:ln>
              <a:noFill/>
            </a:ln>
          </p:spPr>
        </p:sp>
        <p:sp>
          <p:nvSpPr>
            <p:cNvPr id="72" name="Rectangle 72"/>
            <p:cNvSpPr/>
            <p:nvPr/>
          </p:nvSpPr>
          <p:spPr>
            <a:xfrm>
              <a:off x="8324850" y="1821180"/>
              <a:ext cx="133350" cy="1607820"/>
            </a:xfrm>
            <a:prstGeom prst="rect">
              <a:avLst/>
            </a:prstGeom>
            <a:solidFill>
              <a:srgbClr val="C83B1E"/>
            </a:solidFill>
            <a:ln>
              <a:noFill/>
            </a:ln>
          </p:spPr>
        </p:sp>
        <p:sp>
          <p:nvSpPr>
            <p:cNvPr id="73" name="TextBox 73"/>
            <p:cNvSpPr txBox="1"/>
            <p:nvPr/>
          </p:nvSpPr>
          <p:spPr>
            <a:xfrm>
              <a:off x="1325613" y="189738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1654</a:t>
              </a:r>
            </a:p>
          </p:txBody>
        </p:sp>
        <p:sp>
          <p:nvSpPr>
            <p:cNvPr id="74" name="TextBox 74"/>
            <p:cNvSpPr txBox="1"/>
            <p:nvPr/>
          </p:nvSpPr>
          <p:spPr>
            <a:xfrm>
              <a:off x="1963788" y="1659255"/>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1932</a:t>
              </a:r>
            </a:p>
          </p:txBody>
        </p:sp>
        <p:sp>
          <p:nvSpPr>
            <p:cNvPr id="75" name="TextBox 75"/>
            <p:cNvSpPr txBox="1"/>
            <p:nvPr/>
          </p:nvSpPr>
          <p:spPr>
            <a:xfrm>
              <a:off x="2601963" y="2402205"/>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1066</a:t>
              </a:r>
            </a:p>
          </p:txBody>
        </p:sp>
        <p:sp>
          <p:nvSpPr>
            <p:cNvPr id="76" name="TextBox 76"/>
            <p:cNvSpPr txBox="1"/>
            <p:nvPr/>
          </p:nvSpPr>
          <p:spPr>
            <a:xfrm>
              <a:off x="3230613" y="178308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1785</a:t>
              </a:r>
            </a:p>
          </p:txBody>
        </p:sp>
        <p:sp>
          <p:nvSpPr>
            <p:cNvPr id="77" name="TextBox 77"/>
            <p:cNvSpPr txBox="1"/>
            <p:nvPr/>
          </p:nvSpPr>
          <p:spPr>
            <a:xfrm>
              <a:off x="3868788" y="199263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1542</a:t>
              </a:r>
            </a:p>
          </p:txBody>
        </p:sp>
        <p:sp>
          <p:nvSpPr>
            <p:cNvPr id="78" name="TextBox 78"/>
            <p:cNvSpPr txBox="1"/>
            <p:nvPr/>
          </p:nvSpPr>
          <p:spPr>
            <a:xfrm>
              <a:off x="4506963" y="2364105"/>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1111</a:t>
              </a:r>
            </a:p>
          </p:txBody>
        </p:sp>
        <p:sp>
          <p:nvSpPr>
            <p:cNvPr id="79" name="TextBox 79"/>
            <p:cNvSpPr txBox="1"/>
            <p:nvPr/>
          </p:nvSpPr>
          <p:spPr>
            <a:xfrm>
              <a:off x="5135613" y="218313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1325</a:t>
              </a:r>
            </a:p>
          </p:txBody>
        </p:sp>
        <p:sp>
          <p:nvSpPr>
            <p:cNvPr id="80" name="TextBox 80"/>
            <p:cNvSpPr txBox="1"/>
            <p:nvPr/>
          </p:nvSpPr>
          <p:spPr>
            <a:xfrm>
              <a:off x="5773788" y="2326005"/>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1156</a:t>
              </a:r>
            </a:p>
          </p:txBody>
        </p:sp>
        <p:sp>
          <p:nvSpPr>
            <p:cNvPr id="81" name="TextBox 81"/>
            <p:cNvSpPr txBox="1"/>
            <p:nvPr/>
          </p:nvSpPr>
          <p:spPr>
            <a:xfrm>
              <a:off x="6434176" y="3107055"/>
              <a:ext cx="142799"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246</a:t>
              </a:r>
            </a:p>
          </p:txBody>
        </p:sp>
        <p:sp>
          <p:nvSpPr>
            <p:cNvPr id="82" name="TextBox 82"/>
            <p:cNvSpPr txBox="1"/>
            <p:nvPr/>
          </p:nvSpPr>
          <p:spPr>
            <a:xfrm>
              <a:off x="7062826" y="2716530"/>
              <a:ext cx="142799"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696</a:t>
              </a:r>
            </a:p>
          </p:txBody>
        </p:sp>
        <p:sp>
          <p:nvSpPr>
            <p:cNvPr id="83" name="TextBox 83"/>
            <p:cNvSpPr txBox="1"/>
            <p:nvPr/>
          </p:nvSpPr>
          <p:spPr>
            <a:xfrm>
              <a:off x="7678788" y="168783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1896</a:t>
              </a:r>
            </a:p>
          </p:txBody>
        </p:sp>
        <p:sp>
          <p:nvSpPr>
            <p:cNvPr id="84" name="TextBox 84"/>
            <p:cNvSpPr txBox="1"/>
            <p:nvPr/>
          </p:nvSpPr>
          <p:spPr>
            <a:xfrm>
              <a:off x="8316963" y="170688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1875</a:t>
              </a:r>
            </a:p>
          </p:txBody>
        </p:sp>
        <p:sp>
          <p:nvSpPr>
            <p:cNvPr id="85" name="Polyline 85"/>
            <p:cNvSpPr/>
            <p:nvPr/>
          </p:nvSpPr>
          <p:spPr>
            <a:xfrm>
              <a:off x="1314450" y="1828800"/>
              <a:ext cx="6991350" cy="1419225"/>
            </a:xfrm>
            <a:custGeom>
              <a:avLst/>
              <a:gdLst/>
              <a:ahLst/>
              <a:cxnLst/>
              <a:rect l="l" t="t" r="r" b="b"/>
              <a:pathLst>
                <a:path w="6991350" h="1419225">
                  <a:moveTo>
                    <a:pt x="0" y="171450"/>
                  </a:moveTo>
                  <a:lnTo>
                    <a:pt x="638175" y="0"/>
                  </a:lnTo>
                  <a:lnTo>
                    <a:pt x="1276350" y="752475"/>
                  </a:lnTo>
                  <a:lnTo>
                    <a:pt x="1905000" y="266700"/>
                  </a:lnTo>
                  <a:lnTo>
                    <a:pt x="2543175" y="304800"/>
                  </a:lnTo>
                  <a:lnTo>
                    <a:pt x="3181350" y="542925"/>
                  </a:lnTo>
                  <a:lnTo>
                    <a:pt x="3810000" y="504825"/>
                  </a:lnTo>
                  <a:lnTo>
                    <a:pt x="4448175" y="704850"/>
                  </a:lnTo>
                  <a:lnTo>
                    <a:pt x="5086350" y="1419225"/>
                  </a:lnTo>
                  <a:lnTo>
                    <a:pt x="5715000" y="1181100"/>
                  </a:lnTo>
                  <a:lnTo>
                    <a:pt x="6353175" y="152400"/>
                  </a:lnTo>
                  <a:lnTo>
                    <a:pt x="6991350" y="47625"/>
                  </a:lnTo>
                </a:path>
              </a:pathLst>
            </a:custGeom>
            <a:noFill/>
            <a:ln w="23812">
              <a:solidFill>
                <a:srgbClr val="F2563B"/>
              </a:solidFill>
            </a:ln>
          </p:spPr>
        </p:sp>
        <p:sp>
          <p:nvSpPr>
            <p:cNvPr id="86" name="Ellipse 86"/>
            <p:cNvSpPr/>
            <p:nvPr/>
          </p:nvSpPr>
          <p:spPr>
            <a:xfrm>
              <a:off x="1290638" y="1976438"/>
              <a:ext cx="47625" cy="47625"/>
            </a:xfrm>
            <a:prstGeom prst="ellipse">
              <a:avLst/>
            </a:prstGeom>
            <a:solidFill>
              <a:srgbClr val="F2563B"/>
            </a:solidFill>
            <a:ln w="9525">
              <a:solidFill>
                <a:srgbClr val="FFFFFF"/>
              </a:solidFill>
            </a:ln>
          </p:spPr>
        </p:sp>
        <p:sp>
          <p:nvSpPr>
            <p:cNvPr id="87" name="Ellipse 87"/>
            <p:cNvSpPr/>
            <p:nvPr/>
          </p:nvSpPr>
          <p:spPr>
            <a:xfrm>
              <a:off x="1928812" y="1804988"/>
              <a:ext cx="47625" cy="47625"/>
            </a:xfrm>
            <a:prstGeom prst="ellipse">
              <a:avLst/>
            </a:prstGeom>
            <a:solidFill>
              <a:srgbClr val="F2563B"/>
            </a:solidFill>
            <a:ln w="9525">
              <a:solidFill>
                <a:srgbClr val="FFFFFF"/>
              </a:solidFill>
            </a:ln>
          </p:spPr>
        </p:sp>
        <p:sp>
          <p:nvSpPr>
            <p:cNvPr id="88" name="Ellipse 88"/>
            <p:cNvSpPr/>
            <p:nvPr/>
          </p:nvSpPr>
          <p:spPr>
            <a:xfrm>
              <a:off x="2566988" y="2557462"/>
              <a:ext cx="47625" cy="47625"/>
            </a:xfrm>
            <a:prstGeom prst="ellipse">
              <a:avLst/>
            </a:prstGeom>
            <a:solidFill>
              <a:srgbClr val="F2563B"/>
            </a:solidFill>
            <a:ln w="9525">
              <a:solidFill>
                <a:srgbClr val="FFFFFF"/>
              </a:solidFill>
            </a:ln>
          </p:spPr>
        </p:sp>
        <p:sp>
          <p:nvSpPr>
            <p:cNvPr id="89" name="Ellipse 89"/>
            <p:cNvSpPr/>
            <p:nvPr/>
          </p:nvSpPr>
          <p:spPr>
            <a:xfrm>
              <a:off x="3195638" y="2071688"/>
              <a:ext cx="47625" cy="47625"/>
            </a:xfrm>
            <a:prstGeom prst="ellipse">
              <a:avLst/>
            </a:prstGeom>
            <a:solidFill>
              <a:srgbClr val="F2563B"/>
            </a:solidFill>
            <a:ln w="9525">
              <a:solidFill>
                <a:srgbClr val="FFFFFF"/>
              </a:solidFill>
            </a:ln>
          </p:spPr>
        </p:sp>
        <p:sp>
          <p:nvSpPr>
            <p:cNvPr id="90" name="Ellipse 90"/>
            <p:cNvSpPr/>
            <p:nvPr/>
          </p:nvSpPr>
          <p:spPr>
            <a:xfrm>
              <a:off x="3833812" y="2109788"/>
              <a:ext cx="47625" cy="47625"/>
            </a:xfrm>
            <a:prstGeom prst="ellipse">
              <a:avLst/>
            </a:prstGeom>
            <a:solidFill>
              <a:srgbClr val="F2563B"/>
            </a:solidFill>
            <a:ln w="9525">
              <a:solidFill>
                <a:srgbClr val="FFFFFF"/>
              </a:solidFill>
            </a:ln>
          </p:spPr>
        </p:sp>
        <p:sp>
          <p:nvSpPr>
            <p:cNvPr id="91" name="Ellipse 91"/>
            <p:cNvSpPr/>
            <p:nvPr/>
          </p:nvSpPr>
          <p:spPr>
            <a:xfrm>
              <a:off x="4471988" y="2347912"/>
              <a:ext cx="47625" cy="47625"/>
            </a:xfrm>
            <a:prstGeom prst="ellipse">
              <a:avLst/>
            </a:prstGeom>
            <a:solidFill>
              <a:srgbClr val="F2563B"/>
            </a:solidFill>
            <a:ln w="9525">
              <a:solidFill>
                <a:srgbClr val="FFFFFF"/>
              </a:solidFill>
            </a:ln>
          </p:spPr>
        </p:sp>
        <p:sp>
          <p:nvSpPr>
            <p:cNvPr id="92" name="Ellipse 92"/>
            <p:cNvSpPr/>
            <p:nvPr/>
          </p:nvSpPr>
          <p:spPr>
            <a:xfrm>
              <a:off x="5100638" y="2309812"/>
              <a:ext cx="47625" cy="47625"/>
            </a:xfrm>
            <a:prstGeom prst="ellipse">
              <a:avLst/>
            </a:prstGeom>
            <a:solidFill>
              <a:srgbClr val="F2563B"/>
            </a:solidFill>
            <a:ln w="9525">
              <a:solidFill>
                <a:srgbClr val="FFFFFF"/>
              </a:solidFill>
            </a:ln>
          </p:spPr>
        </p:sp>
        <p:sp>
          <p:nvSpPr>
            <p:cNvPr id="93" name="Ellipse 93"/>
            <p:cNvSpPr/>
            <p:nvPr/>
          </p:nvSpPr>
          <p:spPr>
            <a:xfrm>
              <a:off x="5738812" y="2509838"/>
              <a:ext cx="47625" cy="47625"/>
            </a:xfrm>
            <a:prstGeom prst="ellipse">
              <a:avLst/>
            </a:prstGeom>
            <a:solidFill>
              <a:srgbClr val="F2563B"/>
            </a:solidFill>
            <a:ln w="9525">
              <a:solidFill>
                <a:srgbClr val="FFFFFF"/>
              </a:solidFill>
            </a:ln>
          </p:spPr>
        </p:sp>
        <p:sp>
          <p:nvSpPr>
            <p:cNvPr id="94" name="Ellipse 94"/>
            <p:cNvSpPr/>
            <p:nvPr/>
          </p:nvSpPr>
          <p:spPr>
            <a:xfrm>
              <a:off x="6376988" y="3224212"/>
              <a:ext cx="47625" cy="47625"/>
            </a:xfrm>
            <a:prstGeom prst="ellipse">
              <a:avLst/>
            </a:prstGeom>
            <a:solidFill>
              <a:srgbClr val="F2563B"/>
            </a:solidFill>
            <a:ln w="9525">
              <a:solidFill>
                <a:srgbClr val="FFFFFF"/>
              </a:solidFill>
            </a:ln>
          </p:spPr>
        </p:sp>
        <p:sp>
          <p:nvSpPr>
            <p:cNvPr id="95" name="Ellipse 95"/>
            <p:cNvSpPr/>
            <p:nvPr/>
          </p:nvSpPr>
          <p:spPr>
            <a:xfrm>
              <a:off x="7005638" y="2986088"/>
              <a:ext cx="47625" cy="47625"/>
            </a:xfrm>
            <a:prstGeom prst="ellipse">
              <a:avLst/>
            </a:prstGeom>
            <a:solidFill>
              <a:srgbClr val="F2563B"/>
            </a:solidFill>
            <a:ln w="9525">
              <a:solidFill>
                <a:srgbClr val="FFFFFF"/>
              </a:solidFill>
            </a:ln>
          </p:spPr>
        </p:sp>
        <p:sp>
          <p:nvSpPr>
            <p:cNvPr id="96" name="Ellipse 96"/>
            <p:cNvSpPr/>
            <p:nvPr/>
          </p:nvSpPr>
          <p:spPr>
            <a:xfrm>
              <a:off x="7643812" y="1957388"/>
              <a:ext cx="47625" cy="47625"/>
            </a:xfrm>
            <a:prstGeom prst="ellipse">
              <a:avLst/>
            </a:prstGeom>
            <a:solidFill>
              <a:srgbClr val="F2563B"/>
            </a:solidFill>
            <a:ln w="9525">
              <a:solidFill>
                <a:srgbClr val="FFFFFF"/>
              </a:solidFill>
            </a:ln>
          </p:spPr>
        </p:sp>
        <p:sp>
          <p:nvSpPr>
            <p:cNvPr id="97" name="Ellipse 97"/>
            <p:cNvSpPr/>
            <p:nvPr/>
          </p:nvSpPr>
          <p:spPr>
            <a:xfrm>
              <a:off x="8281988" y="1852612"/>
              <a:ext cx="47625" cy="47625"/>
            </a:xfrm>
            <a:prstGeom prst="ellipse">
              <a:avLst/>
            </a:prstGeom>
            <a:solidFill>
              <a:srgbClr val="F2563B"/>
            </a:solidFill>
            <a:ln w="9525">
              <a:solidFill>
                <a:srgbClr val="FFFFFF"/>
              </a:solidFill>
            </a:ln>
          </p:spPr>
        </p:sp>
        <p:sp>
          <p:nvSpPr>
            <p:cNvPr id="98" name="Line 98"/>
            <p:cNvSpPr/>
            <p:nvPr/>
          </p:nvSpPr>
          <p:spPr>
            <a:xfrm>
              <a:off x="1000125" y="3429000"/>
              <a:ext cx="7620000" cy="9525"/>
            </a:xfrm>
            <a:custGeom>
              <a:avLst/>
              <a:gdLst/>
              <a:ahLst/>
              <a:cxnLst/>
              <a:rect l="l" t="t" r="r" b="b"/>
              <a:pathLst>
                <a:path w="7620000" h="9525">
                  <a:moveTo>
                    <a:pt x="0" y="0"/>
                  </a:moveTo>
                  <a:lnTo>
                    <a:pt x="7620000" y="0"/>
                  </a:lnTo>
                </a:path>
              </a:pathLst>
            </a:custGeom>
            <a:noFill/>
            <a:ln w="11430">
              <a:solidFill>
                <a:srgbClr val="E6C1B9"/>
              </a:solidFill>
            </a:ln>
          </p:spPr>
        </p:sp>
        <p:sp>
          <p:nvSpPr>
            <p:cNvPr id="99" name="TextBox 99"/>
            <p:cNvSpPr txBox="1"/>
            <p:nvPr/>
          </p:nvSpPr>
          <p:spPr>
            <a:xfrm>
              <a:off x="1235613" y="35140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1月</a:t>
              </a:r>
            </a:p>
          </p:txBody>
        </p:sp>
        <p:sp>
          <p:nvSpPr>
            <p:cNvPr id="100" name="TextBox 100"/>
            <p:cNvSpPr txBox="1"/>
            <p:nvPr/>
          </p:nvSpPr>
          <p:spPr>
            <a:xfrm>
              <a:off x="1873788" y="35140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2月</a:t>
              </a:r>
            </a:p>
          </p:txBody>
        </p:sp>
        <p:sp>
          <p:nvSpPr>
            <p:cNvPr id="101" name="TextBox 101"/>
            <p:cNvSpPr txBox="1"/>
            <p:nvPr/>
          </p:nvSpPr>
          <p:spPr>
            <a:xfrm>
              <a:off x="2511963" y="35140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3月</a:t>
              </a:r>
            </a:p>
          </p:txBody>
        </p:sp>
        <p:sp>
          <p:nvSpPr>
            <p:cNvPr id="102" name="TextBox 102"/>
            <p:cNvSpPr txBox="1"/>
            <p:nvPr/>
          </p:nvSpPr>
          <p:spPr>
            <a:xfrm>
              <a:off x="3140613" y="35140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4月</a:t>
              </a:r>
            </a:p>
          </p:txBody>
        </p:sp>
        <p:sp>
          <p:nvSpPr>
            <p:cNvPr id="103" name="TextBox 103"/>
            <p:cNvSpPr txBox="1"/>
            <p:nvPr/>
          </p:nvSpPr>
          <p:spPr>
            <a:xfrm>
              <a:off x="3778788" y="35140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5月</a:t>
              </a:r>
            </a:p>
          </p:txBody>
        </p:sp>
        <p:sp>
          <p:nvSpPr>
            <p:cNvPr id="104" name="TextBox 104"/>
            <p:cNvSpPr txBox="1"/>
            <p:nvPr/>
          </p:nvSpPr>
          <p:spPr>
            <a:xfrm>
              <a:off x="4416963" y="35140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6月</a:t>
              </a:r>
            </a:p>
          </p:txBody>
        </p:sp>
        <p:sp>
          <p:nvSpPr>
            <p:cNvPr id="105" name="TextBox 105"/>
            <p:cNvSpPr txBox="1"/>
            <p:nvPr/>
          </p:nvSpPr>
          <p:spPr>
            <a:xfrm>
              <a:off x="5045613" y="35140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7月</a:t>
              </a:r>
            </a:p>
          </p:txBody>
        </p:sp>
        <p:sp>
          <p:nvSpPr>
            <p:cNvPr id="106" name="TextBox 106"/>
            <p:cNvSpPr txBox="1"/>
            <p:nvPr/>
          </p:nvSpPr>
          <p:spPr>
            <a:xfrm>
              <a:off x="5683788" y="35140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8月</a:t>
              </a:r>
            </a:p>
          </p:txBody>
        </p:sp>
        <p:sp>
          <p:nvSpPr>
            <p:cNvPr id="107" name="TextBox 107"/>
            <p:cNvSpPr txBox="1"/>
            <p:nvPr/>
          </p:nvSpPr>
          <p:spPr>
            <a:xfrm>
              <a:off x="6321963" y="3514011"/>
              <a:ext cx="157674"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9月</a:t>
              </a:r>
            </a:p>
          </p:txBody>
        </p:sp>
        <p:sp>
          <p:nvSpPr>
            <p:cNvPr id="108" name="TextBox 108"/>
            <p:cNvSpPr txBox="1"/>
            <p:nvPr/>
          </p:nvSpPr>
          <p:spPr>
            <a:xfrm>
              <a:off x="6924328" y="3514011"/>
              <a:ext cx="210243"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10月</a:t>
              </a:r>
            </a:p>
          </p:txBody>
        </p:sp>
        <p:sp>
          <p:nvSpPr>
            <p:cNvPr id="109" name="TextBox 109"/>
            <p:cNvSpPr txBox="1"/>
            <p:nvPr/>
          </p:nvSpPr>
          <p:spPr>
            <a:xfrm>
              <a:off x="7562503" y="3514011"/>
              <a:ext cx="210243"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11月</a:t>
              </a:r>
            </a:p>
          </p:txBody>
        </p:sp>
        <p:sp>
          <p:nvSpPr>
            <p:cNvPr id="110" name="TextBox 110"/>
            <p:cNvSpPr txBox="1"/>
            <p:nvPr/>
          </p:nvSpPr>
          <p:spPr>
            <a:xfrm>
              <a:off x="8200678" y="3514011"/>
              <a:ext cx="210243"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12月</a:t>
              </a:r>
            </a:p>
          </p:txBody>
        </p:sp>
      </p:grpSp>
      <p:grpSp>
        <p:nvGrpSpPr>
          <p:cNvPr id="146" name="m-annual-area"/>
          <p:cNvGrpSpPr/>
          <p:nvPr/>
        </p:nvGrpSpPr>
        <p:grpSpPr>
          <a:xfrm>
            <a:off x="571500" y="3962400"/>
            <a:ext cx="3695700" cy="2628900"/>
            <a:chOff x="571500" y="3962400"/>
            <a:chExt cx="3695700" cy="2628900"/>
          </a:xfrm>
        </p:grpSpPr>
        <p:sp>
          <p:nvSpPr>
            <p:cNvPr id="112" name="Rectangle 112"/>
            <p:cNvSpPr/>
            <p:nvPr/>
          </p:nvSpPr>
          <p:spPr>
            <a:xfrm>
              <a:off x="571500" y="3962400"/>
              <a:ext cx="3695700" cy="2628900"/>
            </a:xfrm>
            <a:prstGeom prst="rect">
              <a:avLst/>
            </a:prstGeom>
            <a:solidFill>
              <a:srgbClr val="FFFFFF"/>
            </a:solidFill>
            <a:ln w="11430">
              <a:solidFill>
                <a:srgbClr val="C9DDF5"/>
              </a:solidFill>
            </a:ln>
          </p:spPr>
        </p:sp>
        <p:sp>
          <p:nvSpPr>
            <p:cNvPr id="113" name="Rectangle 113"/>
            <p:cNvSpPr/>
            <p:nvPr/>
          </p:nvSpPr>
          <p:spPr>
            <a:xfrm>
              <a:off x="666750" y="4057650"/>
              <a:ext cx="2000250" cy="247650"/>
            </a:xfrm>
            <a:prstGeom prst="rect">
              <a:avLst/>
            </a:prstGeom>
            <a:gradFill>
              <a:gsLst>
                <a:gs pos="0">
                  <a:srgbClr val="FF5B3A"/>
                </a:gs>
                <a:gs pos="100000">
                  <a:srgbClr val="E94B2B"/>
                </a:gs>
              </a:gsLst>
              <a:lin ang="0" scaled="1"/>
            </a:gradFill>
            <a:ln>
              <a:noFill/>
            </a:ln>
          </p:spPr>
        </p:sp>
        <p:sp>
          <p:nvSpPr>
            <p:cNvPr id="114" name="Polygon 114"/>
            <p:cNvSpPr/>
            <p:nvPr/>
          </p:nvSpPr>
          <p:spPr>
            <a:xfrm>
              <a:off x="2571750" y="40576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sp>
          <p:nvSpPr>
            <p:cNvPr id="115" name="TextBox 115"/>
            <p:cNvSpPr txBox="1"/>
            <p:nvPr/>
          </p:nvSpPr>
          <p:spPr>
            <a:xfrm>
              <a:off x="756856" y="4119801"/>
              <a:ext cx="1233983"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应收账款统计分析图</a:t>
              </a:r>
            </a:p>
          </p:txBody>
        </p:sp>
        <p:sp>
          <p:nvSpPr>
            <p:cNvPr id="116" name="Rectangle 116"/>
            <p:cNvSpPr/>
            <p:nvPr/>
          </p:nvSpPr>
          <p:spPr>
            <a:xfrm>
              <a:off x="857250" y="4371975"/>
              <a:ext cx="76200" cy="76200"/>
            </a:xfrm>
            <a:prstGeom prst="rect">
              <a:avLst/>
            </a:prstGeom>
            <a:solidFill>
              <a:srgbClr val="E94B2B"/>
            </a:solidFill>
            <a:ln>
              <a:noFill/>
            </a:ln>
          </p:spPr>
        </p:sp>
        <p:sp>
          <p:nvSpPr>
            <p:cNvPr id="117" name="TextBox 117"/>
            <p:cNvSpPr txBox="1"/>
            <p:nvPr/>
          </p:nvSpPr>
          <p:spPr>
            <a:xfrm>
              <a:off x="966788" y="4369832"/>
              <a:ext cx="354152"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今年完成</a:t>
              </a:r>
            </a:p>
          </p:txBody>
        </p:sp>
        <p:sp>
          <p:nvSpPr>
            <p:cNvPr id="118" name="Rectangle 118"/>
            <p:cNvSpPr/>
            <p:nvPr/>
          </p:nvSpPr>
          <p:spPr>
            <a:xfrm>
              <a:off x="1524000" y="4371975"/>
              <a:ext cx="76200" cy="76200"/>
            </a:xfrm>
            <a:prstGeom prst="rect">
              <a:avLst/>
            </a:prstGeom>
            <a:solidFill>
              <a:srgbClr val="F8B6A9"/>
            </a:solidFill>
            <a:ln>
              <a:noFill/>
            </a:ln>
          </p:spPr>
        </p:sp>
        <p:sp>
          <p:nvSpPr>
            <p:cNvPr id="119" name="TextBox 119"/>
            <p:cNvSpPr txBox="1"/>
            <p:nvPr/>
          </p:nvSpPr>
          <p:spPr>
            <a:xfrm>
              <a:off x="1633538" y="4369832"/>
              <a:ext cx="354152"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去年完成</a:t>
              </a:r>
            </a:p>
          </p:txBody>
        </p:sp>
        <p:sp>
          <p:nvSpPr>
            <p:cNvPr id="120" name="Rectangle 120"/>
            <p:cNvSpPr/>
            <p:nvPr/>
          </p:nvSpPr>
          <p:spPr>
            <a:xfrm>
              <a:off x="2286000" y="4371975"/>
              <a:ext cx="76200" cy="76200"/>
            </a:xfrm>
            <a:prstGeom prst="rect">
              <a:avLst/>
            </a:prstGeom>
            <a:solidFill>
              <a:srgbClr val="F2563B"/>
            </a:solidFill>
            <a:ln>
              <a:noFill/>
            </a:ln>
          </p:spPr>
        </p:sp>
        <p:sp>
          <p:nvSpPr>
            <p:cNvPr id="121" name="TextBox 121"/>
            <p:cNvSpPr txBox="1"/>
            <p:nvPr/>
          </p:nvSpPr>
          <p:spPr>
            <a:xfrm>
              <a:off x="2395538" y="4369832"/>
              <a:ext cx="354152"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同期差额</a:t>
              </a:r>
            </a:p>
          </p:txBody>
        </p:sp>
        <p:sp>
          <p:nvSpPr>
            <p:cNvPr id="122" name="Line 122"/>
            <p:cNvSpPr/>
            <p:nvPr/>
          </p:nvSpPr>
          <p:spPr>
            <a:xfrm>
              <a:off x="809625" y="4762500"/>
              <a:ext cx="3238500" cy="9525"/>
            </a:xfrm>
            <a:custGeom>
              <a:avLst/>
              <a:gdLst/>
              <a:ahLst/>
              <a:cxnLst/>
              <a:rect l="l" t="t" r="r" b="b"/>
              <a:pathLst>
                <a:path w="3238500" h="9525">
                  <a:moveTo>
                    <a:pt x="0" y="0"/>
                  </a:moveTo>
                  <a:lnTo>
                    <a:pt x="3238500" y="0"/>
                  </a:lnTo>
                </a:path>
              </a:pathLst>
            </a:custGeom>
            <a:noFill/>
            <a:ln w="9525">
              <a:solidFill>
                <a:srgbClr val="EAF2FC"/>
              </a:solidFill>
            </a:ln>
          </p:spPr>
        </p:sp>
        <p:sp>
          <p:nvSpPr>
            <p:cNvPr id="123" name="Line 123"/>
            <p:cNvSpPr/>
            <p:nvPr/>
          </p:nvSpPr>
          <p:spPr>
            <a:xfrm>
              <a:off x="809625" y="5095875"/>
              <a:ext cx="3238500" cy="9525"/>
            </a:xfrm>
            <a:custGeom>
              <a:avLst/>
              <a:gdLst/>
              <a:ahLst/>
              <a:cxnLst/>
              <a:rect l="l" t="t" r="r" b="b"/>
              <a:pathLst>
                <a:path w="3238500" h="9525">
                  <a:moveTo>
                    <a:pt x="0" y="0"/>
                  </a:moveTo>
                  <a:lnTo>
                    <a:pt x="3238500" y="0"/>
                  </a:lnTo>
                </a:path>
              </a:pathLst>
            </a:custGeom>
            <a:noFill/>
            <a:ln w="9525">
              <a:solidFill>
                <a:srgbClr val="EAF2FC"/>
              </a:solidFill>
            </a:ln>
          </p:spPr>
        </p:sp>
        <p:sp>
          <p:nvSpPr>
            <p:cNvPr id="124" name="Line 124"/>
            <p:cNvSpPr/>
            <p:nvPr/>
          </p:nvSpPr>
          <p:spPr>
            <a:xfrm>
              <a:off x="809625" y="5429250"/>
              <a:ext cx="3238500" cy="9525"/>
            </a:xfrm>
            <a:custGeom>
              <a:avLst/>
              <a:gdLst/>
              <a:ahLst/>
              <a:cxnLst/>
              <a:rect l="l" t="t" r="r" b="b"/>
              <a:pathLst>
                <a:path w="3238500" h="9525">
                  <a:moveTo>
                    <a:pt x="0" y="0"/>
                  </a:moveTo>
                  <a:lnTo>
                    <a:pt x="3238500" y="0"/>
                  </a:lnTo>
                </a:path>
              </a:pathLst>
            </a:custGeom>
            <a:noFill/>
            <a:ln w="9525">
              <a:solidFill>
                <a:srgbClr val="EAF2FC"/>
              </a:solidFill>
            </a:ln>
          </p:spPr>
        </p:sp>
        <p:sp>
          <p:nvSpPr>
            <p:cNvPr id="125" name="Line 125"/>
            <p:cNvSpPr/>
            <p:nvPr/>
          </p:nvSpPr>
          <p:spPr>
            <a:xfrm>
              <a:off x="809625" y="5762625"/>
              <a:ext cx="3238500" cy="9525"/>
            </a:xfrm>
            <a:custGeom>
              <a:avLst/>
              <a:gdLst/>
              <a:ahLst/>
              <a:cxnLst/>
              <a:rect l="l" t="t" r="r" b="b"/>
              <a:pathLst>
                <a:path w="3238500" h="9525">
                  <a:moveTo>
                    <a:pt x="0" y="0"/>
                  </a:moveTo>
                  <a:lnTo>
                    <a:pt x="3238500" y="0"/>
                  </a:lnTo>
                </a:path>
              </a:pathLst>
            </a:custGeom>
            <a:noFill/>
            <a:ln w="9525">
              <a:solidFill>
                <a:srgbClr val="EAF2FC"/>
              </a:solidFill>
            </a:ln>
          </p:spPr>
        </p:sp>
        <p:sp>
          <p:nvSpPr>
            <p:cNvPr id="126" name="TextBox 126"/>
            <p:cNvSpPr txBox="1"/>
            <p:nvPr/>
          </p:nvSpPr>
          <p:spPr>
            <a:xfrm>
              <a:off x="581861" y="4730353"/>
              <a:ext cx="175377" cy="111919"/>
            </a:xfrm>
            <a:prstGeom prst="rect">
              <a:avLst/>
            </a:prstGeom>
            <a:noFill/>
            <a:ln>
              <a:noFill/>
            </a:ln>
          </p:spPr>
          <p:txBody>
            <a:bodyPr wrap="none" lIns="0" tIns="0" rIns="0" bIns="0" anchor="t" anchorCtr="0">
              <a:spAutoFit/>
            </a:bodyPr>
            <a:lstStyle/>
            <a:p>
              <a:pPr algn="r"/>
              <a:r>
                <a:rPr lang="zh-CN" sz="560" dirty="0">
                  <a:solidFill>
                    <a:srgbClr val="A6817A"/>
                  </a:solidFill>
                  <a:latin typeface="+mn-lt"/>
                  <a:ea typeface="+mn-ea"/>
                  <a:cs typeface="+mn-cs"/>
                </a:rPr>
                <a:t>2400</a:t>
              </a:r>
            </a:p>
          </p:txBody>
        </p:sp>
        <p:sp>
          <p:nvSpPr>
            <p:cNvPr id="127" name="TextBox 127"/>
            <p:cNvSpPr txBox="1"/>
            <p:nvPr/>
          </p:nvSpPr>
          <p:spPr>
            <a:xfrm>
              <a:off x="581861" y="5063728"/>
              <a:ext cx="175377" cy="111919"/>
            </a:xfrm>
            <a:prstGeom prst="rect">
              <a:avLst/>
            </a:prstGeom>
            <a:noFill/>
            <a:ln>
              <a:noFill/>
            </a:ln>
          </p:spPr>
          <p:txBody>
            <a:bodyPr wrap="none" lIns="0" tIns="0" rIns="0" bIns="0" anchor="t" anchorCtr="0">
              <a:spAutoFit/>
            </a:bodyPr>
            <a:lstStyle/>
            <a:p>
              <a:pPr algn="r"/>
              <a:r>
                <a:rPr lang="zh-CN" sz="560" dirty="0">
                  <a:solidFill>
                    <a:srgbClr val="A6817A"/>
                  </a:solidFill>
                  <a:latin typeface="+mn-lt"/>
                  <a:ea typeface="+mn-ea"/>
                  <a:cs typeface="+mn-cs"/>
                </a:rPr>
                <a:t>1800</a:t>
              </a:r>
            </a:p>
          </p:txBody>
        </p:sp>
        <p:sp>
          <p:nvSpPr>
            <p:cNvPr id="128" name="TextBox 128"/>
            <p:cNvSpPr txBox="1"/>
            <p:nvPr/>
          </p:nvSpPr>
          <p:spPr>
            <a:xfrm>
              <a:off x="581861" y="5397103"/>
              <a:ext cx="175377" cy="111919"/>
            </a:xfrm>
            <a:prstGeom prst="rect">
              <a:avLst/>
            </a:prstGeom>
            <a:noFill/>
            <a:ln>
              <a:noFill/>
            </a:ln>
          </p:spPr>
          <p:txBody>
            <a:bodyPr wrap="none" lIns="0" tIns="0" rIns="0" bIns="0" anchor="t" anchorCtr="0">
              <a:spAutoFit/>
            </a:bodyPr>
            <a:lstStyle/>
            <a:p>
              <a:pPr algn="r"/>
              <a:r>
                <a:rPr lang="zh-CN" sz="560" dirty="0">
                  <a:solidFill>
                    <a:srgbClr val="A6817A"/>
                  </a:solidFill>
                  <a:latin typeface="+mn-lt"/>
                  <a:ea typeface="+mn-ea"/>
                  <a:cs typeface="+mn-cs"/>
                </a:rPr>
                <a:t>1200</a:t>
              </a:r>
            </a:p>
          </p:txBody>
        </p:sp>
        <p:sp>
          <p:nvSpPr>
            <p:cNvPr id="129" name="TextBox 129"/>
            <p:cNvSpPr txBox="1"/>
            <p:nvPr/>
          </p:nvSpPr>
          <p:spPr>
            <a:xfrm>
              <a:off x="623324" y="5730478"/>
              <a:ext cx="133914" cy="111919"/>
            </a:xfrm>
            <a:prstGeom prst="rect">
              <a:avLst/>
            </a:prstGeom>
            <a:noFill/>
            <a:ln>
              <a:noFill/>
            </a:ln>
          </p:spPr>
          <p:txBody>
            <a:bodyPr wrap="none" lIns="0" tIns="0" rIns="0" bIns="0" anchor="t" anchorCtr="0">
              <a:spAutoFit/>
            </a:bodyPr>
            <a:lstStyle/>
            <a:p>
              <a:pPr algn="r"/>
              <a:r>
                <a:rPr lang="zh-CN" sz="560" dirty="0">
                  <a:solidFill>
                    <a:srgbClr val="A6817A"/>
                  </a:solidFill>
                  <a:latin typeface="+mn-lt"/>
                  <a:ea typeface="+mn-ea"/>
                  <a:cs typeface="+mn-cs"/>
                </a:rPr>
                <a:t>600</a:t>
              </a:r>
            </a:p>
          </p:txBody>
        </p:sp>
        <p:sp>
          <p:nvSpPr>
            <p:cNvPr id="130" name="TextBox 130"/>
            <p:cNvSpPr txBox="1"/>
            <p:nvPr/>
          </p:nvSpPr>
          <p:spPr>
            <a:xfrm>
              <a:off x="706250" y="6063853"/>
              <a:ext cx="50988" cy="111919"/>
            </a:xfrm>
            <a:prstGeom prst="rect">
              <a:avLst/>
            </a:prstGeom>
            <a:noFill/>
            <a:ln>
              <a:noFill/>
            </a:ln>
          </p:spPr>
          <p:txBody>
            <a:bodyPr wrap="none" lIns="0" tIns="0" rIns="0" bIns="0" anchor="t" anchorCtr="0">
              <a:spAutoFit/>
            </a:bodyPr>
            <a:lstStyle/>
            <a:p>
              <a:pPr algn="r"/>
              <a:r>
                <a:rPr lang="zh-CN" sz="560" dirty="0">
                  <a:solidFill>
                    <a:srgbClr val="A6817A"/>
                  </a:solidFill>
                  <a:latin typeface="+mn-lt"/>
                  <a:ea typeface="+mn-ea"/>
                  <a:cs typeface="+mn-cs"/>
                </a:rPr>
                <a:t>0</a:t>
              </a:r>
            </a:p>
          </p:txBody>
        </p:sp>
        <p:sp>
          <p:nvSpPr>
            <p:cNvPr id="131" name="Freeform 131"/>
            <p:cNvSpPr/>
            <p:nvPr/>
          </p:nvSpPr>
          <p:spPr>
            <a:xfrm>
              <a:off x="809625" y="5207318"/>
              <a:ext cx="3238500" cy="888682"/>
            </a:xfrm>
            <a:custGeom>
              <a:avLst/>
              <a:gdLst/>
              <a:ahLst/>
              <a:cxnLst/>
              <a:rect l="l" t="t" r="r" b="b"/>
              <a:pathLst>
                <a:path w="3238500" h="888682">
                  <a:moveTo>
                    <a:pt x="0" y="888682"/>
                  </a:moveTo>
                  <a:lnTo>
                    <a:pt x="0" y="277177"/>
                  </a:lnTo>
                  <a:lnTo>
                    <a:pt x="295275" y="166688"/>
                  </a:lnTo>
                  <a:lnTo>
                    <a:pt x="590550" y="388620"/>
                  </a:lnTo>
                  <a:lnTo>
                    <a:pt x="885825" y="55245"/>
                  </a:lnTo>
                  <a:lnTo>
                    <a:pt x="1181100" y="277177"/>
                  </a:lnTo>
                  <a:lnTo>
                    <a:pt x="1476375" y="110490"/>
                  </a:lnTo>
                  <a:lnTo>
                    <a:pt x="1771650" y="333375"/>
                  </a:lnTo>
                  <a:lnTo>
                    <a:pt x="2066925" y="277177"/>
                  </a:lnTo>
                  <a:lnTo>
                    <a:pt x="2362200" y="0"/>
                  </a:lnTo>
                  <a:lnTo>
                    <a:pt x="2657475" y="333375"/>
                  </a:lnTo>
                  <a:lnTo>
                    <a:pt x="2952750" y="110490"/>
                  </a:lnTo>
                  <a:lnTo>
                    <a:pt x="3238500" y="277177"/>
                  </a:lnTo>
                  <a:lnTo>
                    <a:pt x="3238500" y="888682"/>
                  </a:lnTo>
                  <a:close/>
                </a:path>
              </a:pathLst>
            </a:custGeom>
            <a:solidFill>
              <a:srgbClr val="F8B6A9">
                <a:alpha val="75000"/>
              </a:srgbClr>
            </a:solidFill>
            <a:ln>
              <a:noFill/>
            </a:ln>
          </p:spPr>
        </p:sp>
        <p:sp>
          <p:nvSpPr>
            <p:cNvPr id="132" name="Freeform 132"/>
            <p:cNvSpPr/>
            <p:nvPr/>
          </p:nvSpPr>
          <p:spPr>
            <a:xfrm>
              <a:off x="809625" y="5095875"/>
              <a:ext cx="3238500" cy="1000125"/>
            </a:xfrm>
            <a:custGeom>
              <a:avLst/>
              <a:gdLst/>
              <a:ahLst/>
              <a:cxnLst/>
              <a:rect l="l" t="t" r="r" b="b"/>
              <a:pathLst>
                <a:path w="3238500" h="1000125">
                  <a:moveTo>
                    <a:pt x="0" y="1000125"/>
                  </a:moveTo>
                  <a:lnTo>
                    <a:pt x="0" y="166688"/>
                  </a:lnTo>
                  <a:lnTo>
                    <a:pt x="295275" y="555307"/>
                  </a:lnTo>
                  <a:lnTo>
                    <a:pt x="590550" y="221932"/>
                  </a:lnTo>
                  <a:lnTo>
                    <a:pt x="885825" y="444818"/>
                  </a:lnTo>
                  <a:lnTo>
                    <a:pt x="1181100" y="55245"/>
                  </a:lnTo>
                  <a:lnTo>
                    <a:pt x="1476375" y="333375"/>
                  </a:lnTo>
                  <a:lnTo>
                    <a:pt x="1771650" y="500062"/>
                  </a:lnTo>
                  <a:lnTo>
                    <a:pt x="2066925" y="111443"/>
                  </a:lnTo>
                  <a:lnTo>
                    <a:pt x="2362200" y="221932"/>
                  </a:lnTo>
                  <a:lnTo>
                    <a:pt x="2657475" y="0"/>
                  </a:lnTo>
                  <a:lnTo>
                    <a:pt x="2952750" y="388620"/>
                  </a:lnTo>
                  <a:lnTo>
                    <a:pt x="3238500" y="166688"/>
                  </a:lnTo>
                  <a:lnTo>
                    <a:pt x="3238500" y="1000125"/>
                  </a:lnTo>
                  <a:close/>
                </a:path>
              </a:pathLst>
            </a:custGeom>
            <a:gradFill>
              <a:gsLst>
                <a:gs pos="0">
                  <a:srgbClr val="E94B2B">
                    <a:alpha val="90000"/>
                  </a:srgbClr>
                </a:gs>
                <a:gs pos="100000">
                  <a:srgbClr val="F8B6A9">
                    <a:alpha val="35000"/>
                  </a:srgbClr>
                </a:gs>
              </a:gsLst>
              <a:lin ang="5400000" scaled="1"/>
            </a:gradFill>
            <a:ln>
              <a:noFill/>
            </a:ln>
          </p:spPr>
        </p:sp>
        <p:sp>
          <p:nvSpPr>
            <p:cNvPr id="133" name="Line 133"/>
            <p:cNvSpPr/>
            <p:nvPr/>
          </p:nvSpPr>
          <p:spPr>
            <a:xfrm>
              <a:off x="809625" y="6096000"/>
              <a:ext cx="3238500" cy="9525"/>
            </a:xfrm>
            <a:custGeom>
              <a:avLst/>
              <a:gdLst/>
              <a:ahLst/>
              <a:cxnLst/>
              <a:rect l="l" t="t" r="r" b="b"/>
              <a:pathLst>
                <a:path w="3238500" h="9525">
                  <a:moveTo>
                    <a:pt x="0" y="0"/>
                  </a:moveTo>
                  <a:lnTo>
                    <a:pt x="3238500" y="0"/>
                  </a:lnTo>
                </a:path>
              </a:pathLst>
            </a:custGeom>
            <a:noFill/>
            <a:ln w="11430">
              <a:solidFill>
                <a:srgbClr val="E6C1B9"/>
              </a:solidFill>
            </a:ln>
          </p:spPr>
        </p:sp>
        <p:sp>
          <p:nvSpPr>
            <p:cNvPr id="134" name="TextBox 134"/>
            <p:cNvSpPr txBox="1"/>
            <p:nvPr/>
          </p:nvSpPr>
          <p:spPr>
            <a:xfrm>
              <a:off x="742264" y="6297930"/>
              <a:ext cx="134722"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1月</a:t>
              </a:r>
            </a:p>
          </p:txBody>
        </p:sp>
        <p:sp>
          <p:nvSpPr>
            <p:cNvPr id="135" name="TextBox 135"/>
            <p:cNvSpPr txBox="1"/>
            <p:nvPr/>
          </p:nvSpPr>
          <p:spPr>
            <a:xfrm>
              <a:off x="1037539" y="6297930"/>
              <a:ext cx="134722"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2月</a:t>
              </a:r>
            </a:p>
          </p:txBody>
        </p:sp>
        <p:sp>
          <p:nvSpPr>
            <p:cNvPr id="136" name="TextBox 136"/>
            <p:cNvSpPr txBox="1"/>
            <p:nvPr/>
          </p:nvSpPr>
          <p:spPr>
            <a:xfrm>
              <a:off x="1332814" y="6297930"/>
              <a:ext cx="134722"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3月</a:t>
              </a:r>
            </a:p>
          </p:txBody>
        </p:sp>
        <p:sp>
          <p:nvSpPr>
            <p:cNvPr id="137" name="TextBox 137"/>
            <p:cNvSpPr txBox="1"/>
            <p:nvPr/>
          </p:nvSpPr>
          <p:spPr>
            <a:xfrm>
              <a:off x="1628089" y="6297930"/>
              <a:ext cx="134722"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4月</a:t>
              </a:r>
            </a:p>
          </p:txBody>
        </p:sp>
        <p:sp>
          <p:nvSpPr>
            <p:cNvPr id="138" name="TextBox 138"/>
            <p:cNvSpPr txBox="1"/>
            <p:nvPr/>
          </p:nvSpPr>
          <p:spPr>
            <a:xfrm>
              <a:off x="1923364" y="6297930"/>
              <a:ext cx="134722"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5月</a:t>
              </a:r>
            </a:p>
          </p:txBody>
        </p:sp>
        <p:sp>
          <p:nvSpPr>
            <p:cNvPr id="139" name="TextBox 139"/>
            <p:cNvSpPr txBox="1"/>
            <p:nvPr/>
          </p:nvSpPr>
          <p:spPr>
            <a:xfrm>
              <a:off x="2218639" y="6297930"/>
              <a:ext cx="134722"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6月</a:t>
              </a:r>
            </a:p>
          </p:txBody>
        </p:sp>
        <p:sp>
          <p:nvSpPr>
            <p:cNvPr id="140" name="TextBox 140"/>
            <p:cNvSpPr txBox="1"/>
            <p:nvPr/>
          </p:nvSpPr>
          <p:spPr>
            <a:xfrm>
              <a:off x="2513914" y="6297930"/>
              <a:ext cx="134722"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7月</a:t>
              </a:r>
            </a:p>
          </p:txBody>
        </p:sp>
        <p:sp>
          <p:nvSpPr>
            <p:cNvPr id="141" name="TextBox 141"/>
            <p:cNvSpPr txBox="1"/>
            <p:nvPr/>
          </p:nvSpPr>
          <p:spPr>
            <a:xfrm>
              <a:off x="2809189" y="6297930"/>
              <a:ext cx="134722"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8月</a:t>
              </a:r>
            </a:p>
          </p:txBody>
        </p:sp>
        <p:sp>
          <p:nvSpPr>
            <p:cNvPr id="142" name="TextBox 142"/>
            <p:cNvSpPr txBox="1"/>
            <p:nvPr/>
          </p:nvSpPr>
          <p:spPr>
            <a:xfrm>
              <a:off x="3104464" y="6297930"/>
              <a:ext cx="134722"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9月</a:t>
              </a:r>
            </a:p>
          </p:txBody>
        </p:sp>
        <p:sp>
          <p:nvSpPr>
            <p:cNvPr id="143" name="TextBox 143"/>
            <p:cNvSpPr txBox="1"/>
            <p:nvPr/>
          </p:nvSpPr>
          <p:spPr>
            <a:xfrm>
              <a:off x="3377527" y="6297930"/>
              <a:ext cx="179146"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10月</a:t>
              </a:r>
            </a:p>
          </p:txBody>
        </p:sp>
        <p:sp>
          <p:nvSpPr>
            <p:cNvPr id="144" name="TextBox 144"/>
            <p:cNvSpPr txBox="1"/>
            <p:nvPr/>
          </p:nvSpPr>
          <p:spPr>
            <a:xfrm>
              <a:off x="3672802" y="6297930"/>
              <a:ext cx="179146"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11月</a:t>
              </a:r>
            </a:p>
          </p:txBody>
        </p:sp>
        <p:sp>
          <p:nvSpPr>
            <p:cNvPr id="145" name="TextBox 145"/>
            <p:cNvSpPr txBox="1"/>
            <p:nvPr/>
          </p:nvSpPr>
          <p:spPr>
            <a:xfrm>
              <a:off x="3958552" y="6297930"/>
              <a:ext cx="179146" cy="119062"/>
            </a:xfrm>
            <a:prstGeom prst="rect">
              <a:avLst/>
            </a:prstGeom>
            <a:noFill/>
            <a:ln>
              <a:noFill/>
            </a:ln>
          </p:spPr>
          <p:txBody>
            <a:bodyPr wrap="none" lIns="0" tIns="0" rIns="0" bIns="0" anchor="t" anchorCtr="0">
              <a:spAutoFit/>
            </a:bodyPr>
            <a:lstStyle/>
            <a:p>
              <a:pPr algn="ctr"/>
              <a:r>
                <a:rPr lang="zh-CN" sz="600" dirty="0">
                  <a:solidFill>
                    <a:srgbClr val="684F4A"/>
                  </a:solidFill>
                  <a:latin typeface="+mn-lt"/>
                  <a:ea typeface="+mn-ea"/>
                  <a:cs typeface="+mn-cs"/>
                </a:rPr>
                <a:t>12月</a:t>
              </a:r>
            </a:p>
          </p:txBody>
        </p:sp>
      </p:grpSp>
      <p:grpSp>
        <p:nvGrpSpPr>
          <p:cNvPr id="167" name="m-annual-donut1"/>
          <p:cNvGrpSpPr/>
          <p:nvPr/>
        </p:nvGrpSpPr>
        <p:grpSpPr>
          <a:xfrm>
            <a:off x="4476750" y="3962400"/>
            <a:ext cx="2057400" cy="2628900"/>
            <a:chOff x="4476750" y="3962400"/>
            <a:chExt cx="2057400" cy="2628900"/>
          </a:xfrm>
        </p:grpSpPr>
        <p:sp>
          <p:nvSpPr>
            <p:cNvPr id="147" name="Rectangle 147"/>
            <p:cNvSpPr/>
            <p:nvPr/>
          </p:nvSpPr>
          <p:spPr>
            <a:xfrm>
              <a:off x="4476750" y="3962400"/>
              <a:ext cx="2057400" cy="2628900"/>
            </a:xfrm>
            <a:prstGeom prst="rect">
              <a:avLst/>
            </a:prstGeom>
            <a:solidFill>
              <a:srgbClr val="FFFFFF"/>
            </a:solidFill>
            <a:ln w="11430">
              <a:solidFill>
                <a:srgbClr val="C9DDF5"/>
              </a:solidFill>
            </a:ln>
          </p:spPr>
        </p:sp>
        <p:sp>
          <p:nvSpPr>
            <p:cNvPr id="148" name="Rectangle 148"/>
            <p:cNvSpPr/>
            <p:nvPr/>
          </p:nvSpPr>
          <p:spPr>
            <a:xfrm>
              <a:off x="4572000" y="4057650"/>
              <a:ext cx="1333500" cy="228600"/>
            </a:xfrm>
            <a:prstGeom prst="rect">
              <a:avLst/>
            </a:prstGeom>
            <a:gradFill>
              <a:gsLst>
                <a:gs pos="0">
                  <a:srgbClr val="FF5B3A"/>
                </a:gs>
                <a:gs pos="100000">
                  <a:srgbClr val="E94B2B"/>
                </a:gs>
              </a:gsLst>
              <a:lin ang="0" scaled="1"/>
            </a:gradFill>
            <a:ln>
              <a:noFill/>
            </a:ln>
          </p:spPr>
        </p:sp>
        <p:sp>
          <p:nvSpPr>
            <p:cNvPr id="149" name="Polygon 149"/>
            <p:cNvSpPr/>
            <p:nvPr/>
          </p:nvSpPr>
          <p:spPr>
            <a:xfrm>
              <a:off x="5810250" y="4057650"/>
              <a:ext cx="95250" cy="228600"/>
            </a:xfrm>
            <a:custGeom>
              <a:avLst/>
              <a:gdLst/>
              <a:ahLst/>
              <a:cxnLst/>
              <a:rect l="l" t="t" r="r" b="b"/>
              <a:pathLst>
                <a:path w="95250" h="228600">
                  <a:moveTo>
                    <a:pt x="0" y="0"/>
                  </a:moveTo>
                  <a:lnTo>
                    <a:pt x="95250" y="0"/>
                  </a:lnTo>
                  <a:lnTo>
                    <a:pt x="0" y="228600"/>
                  </a:lnTo>
                  <a:close/>
                </a:path>
              </a:pathLst>
            </a:custGeom>
            <a:solidFill>
              <a:srgbClr val="C83B1E"/>
            </a:solidFill>
            <a:ln>
              <a:noFill/>
            </a:ln>
          </p:spPr>
        </p:sp>
        <p:sp>
          <p:nvSpPr>
            <p:cNvPr id="150" name="TextBox 150"/>
            <p:cNvSpPr txBox="1"/>
            <p:nvPr/>
          </p:nvSpPr>
          <p:spPr>
            <a:xfrm>
              <a:off x="4662297" y="4114324"/>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收入占比情况</a:t>
              </a:r>
            </a:p>
          </p:txBody>
        </p:sp>
        <p:sp>
          <p:nvSpPr>
            <p:cNvPr id="151" name="Rectangle 151"/>
            <p:cNvSpPr/>
            <p:nvPr/>
          </p:nvSpPr>
          <p:spPr>
            <a:xfrm>
              <a:off x="4591050" y="4476750"/>
              <a:ext cx="66675" cy="66675"/>
            </a:xfrm>
            <a:prstGeom prst="rect">
              <a:avLst/>
            </a:prstGeom>
            <a:solidFill>
              <a:srgbClr val="C83B1E"/>
            </a:solidFill>
            <a:ln>
              <a:noFill/>
            </a:ln>
          </p:spPr>
        </p:sp>
        <p:sp>
          <p:nvSpPr>
            <p:cNvPr id="152" name="TextBox 152"/>
            <p:cNvSpPr txBox="1"/>
            <p:nvPr/>
          </p:nvSpPr>
          <p:spPr>
            <a:xfrm>
              <a:off x="4681538" y="4474607"/>
              <a:ext cx="181839"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租赁</a:t>
              </a:r>
            </a:p>
          </p:txBody>
        </p:sp>
        <p:sp>
          <p:nvSpPr>
            <p:cNvPr id="153" name="Rectangle 153"/>
            <p:cNvSpPr/>
            <p:nvPr/>
          </p:nvSpPr>
          <p:spPr>
            <a:xfrm>
              <a:off x="4991100" y="4476750"/>
              <a:ext cx="66675" cy="66675"/>
            </a:xfrm>
            <a:prstGeom prst="rect">
              <a:avLst/>
            </a:prstGeom>
            <a:solidFill>
              <a:srgbClr val="F2563B"/>
            </a:solidFill>
            <a:ln>
              <a:noFill/>
            </a:ln>
          </p:spPr>
        </p:sp>
        <p:sp>
          <p:nvSpPr>
            <p:cNvPr id="154" name="TextBox 154"/>
            <p:cNvSpPr txBox="1"/>
            <p:nvPr/>
          </p:nvSpPr>
          <p:spPr>
            <a:xfrm>
              <a:off x="5081588" y="4474607"/>
              <a:ext cx="181839"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销售</a:t>
              </a:r>
            </a:p>
          </p:txBody>
        </p:sp>
        <p:sp>
          <p:nvSpPr>
            <p:cNvPr id="155" name="Rectangle 155"/>
            <p:cNvSpPr/>
            <p:nvPr/>
          </p:nvSpPr>
          <p:spPr>
            <a:xfrm>
              <a:off x="5391150" y="4476750"/>
              <a:ext cx="66675" cy="66675"/>
            </a:xfrm>
            <a:prstGeom prst="rect">
              <a:avLst/>
            </a:prstGeom>
            <a:solidFill>
              <a:srgbClr val="F0856F"/>
            </a:solidFill>
            <a:ln>
              <a:noFill/>
            </a:ln>
          </p:spPr>
        </p:sp>
        <p:sp>
          <p:nvSpPr>
            <p:cNvPr id="156" name="TextBox 156"/>
            <p:cNvSpPr txBox="1"/>
            <p:nvPr/>
          </p:nvSpPr>
          <p:spPr>
            <a:xfrm>
              <a:off x="5481638" y="4474607"/>
              <a:ext cx="181839"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零售</a:t>
              </a:r>
            </a:p>
          </p:txBody>
        </p:sp>
        <p:sp>
          <p:nvSpPr>
            <p:cNvPr id="157" name="Rectangle 157"/>
            <p:cNvSpPr/>
            <p:nvPr/>
          </p:nvSpPr>
          <p:spPr>
            <a:xfrm>
              <a:off x="5791200" y="4476750"/>
              <a:ext cx="66675" cy="66675"/>
            </a:xfrm>
            <a:prstGeom prst="rect">
              <a:avLst/>
            </a:prstGeom>
            <a:solidFill>
              <a:srgbClr val="E94B2B"/>
            </a:solidFill>
            <a:ln>
              <a:noFill/>
            </a:ln>
          </p:spPr>
        </p:sp>
        <p:sp>
          <p:nvSpPr>
            <p:cNvPr id="158" name="TextBox 158"/>
            <p:cNvSpPr txBox="1"/>
            <p:nvPr/>
          </p:nvSpPr>
          <p:spPr>
            <a:xfrm>
              <a:off x="5881688" y="4474607"/>
              <a:ext cx="181839"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投资</a:t>
              </a:r>
            </a:p>
          </p:txBody>
        </p:sp>
        <p:sp>
          <p:nvSpPr>
            <p:cNvPr id="159" name="Freeform 159"/>
            <p:cNvSpPr/>
            <p:nvPr/>
          </p:nvSpPr>
          <p:spPr>
            <a:xfrm>
              <a:off x="5419725" y="5162550"/>
              <a:ext cx="540176" cy="680085"/>
            </a:xfrm>
            <a:custGeom>
              <a:avLst/>
              <a:gdLst/>
              <a:ahLst/>
              <a:cxnLst/>
              <a:rect l="l" t="t" r="r" b="b"/>
              <a:pathLst>
                <a:path w="540176" h="680085">
                  <a:moveTo>
                    <a:pt x="0" y="514350"/>
                  </a:moveTo>
                  <a:lnTo>
                    <a:pt x="0" y="0"/>
                  </a:lnTo>
                  <a:cubicBezTo>
                    <a:pt x="165875" y="61"/>
                    <a:pt x="321540" y="80114"/>
                    <a:pt x="418077" y="215002"/>
                  </a:cubicBezTo>
                  <a:cubicBezTo>
                    <a:pt x="514615" y="349891"/>
                    <a:pt x="540176" y="523057"/>
                    <a:pt x="486728" y="680085"/>
                  </a:cubicBezTo>
                  <a:lnTo>
                    <a:pt x="252412" y="600075"/>
                  </a:lnTo>
                  <a:cubicBezTo>
                    <a:pt x="280044" y="518673"/>
                    <a:pt x="266744" y="428944"/>
                    <a:pt x="216690" y="359057"/>
                  </a:cubicBezTo>
                  <a:cubicBezTo>
                    <a:pt x="166635" y="289169"/>
                    <a:pt x="85963" y="247693"/>
                    <a:pt x="0" y="247650"/>
                  </a:cubicBezTo>
                  <a:close/>
                </a:path>
              </a:pathLst>
            </a:custGeom>
            <a:solidFill>
              <a:srgbClr val="C83B1E"/>
            </a:solidFill>
            <a:ln>
              <a:noFill/>
            </a:ln>
          </p:spPr>
        </p:sp>
        <p:sp>
          <p:nvSpPr>
            <p:cNvPr id="160" name="Freeform 160"/>
            <p:cNvSpPr/>
            <p:nvPr/>
          </p:nvSpPr>
          <p:spPr>
            <a:xfrm>
              <a:off x="5419725" y="5676900"/>
              <a:ext cx="486728" cy="449580"/>
            </a:xfrm>
            <a:custGeom>
              <a:avLst/>
              <a:gdLst/>
              <a:ahLst/>
              <a:cxnLst/>
              <a:rect l="l" t="t" r="r" b="b"/>
              <a:pathLst>
                <a:path w="486728" h="449580">
                  <a:moveTo>
                    <a:pt x="0" y="0"/>
                  </a:moveTo>
                  <a:lnTo>
                    <a:pt x="486728" y="165735"/>
                  </a:lnTo>
                  <a:cubicBezTo>
                    <a:pt x="445838" y="286328"/>
                    <a:pt x="361668" y="387467"/>
                    <a:pt x="250508" y="449580"/>
                  </a:cubicBezTo>
                  <a:lnTo>
                    <a:pt x="129540" y="233362"/>
                  </a:lnTo>
                  <a:cubicBezTo>
                    <a:pt x="187413" y="201119"/>
                    <a:pt x="231213" y="148490"/>
                    <a:pt x="252412" y="85725"/>
                  </a:cubicBezTo>
                  <a:close/>
                </a:path>
              </a:pathLst>
            </a:custGeom>
            <a:solidFill>
              <a:srgbClr val="F2563B"/>
            </a:solidFill>
            <a:ln>
              <a:noFill/>
            </a:ln>
          </p:spPr>
        </p:sp>
        <p:sp>
          <p:nvSpPr>
            <p:cNvPr id="161" name="Freeform 161"/>
            <p:cNvSpPr/>
            <p:nvPr/>
          </p:nvSpPr>
          <p:spPr>
            <a:xfrm>
              <a:off x="4886575" y="5616892"/>
              <a:ext cx="783658" cy="603555"/>
            </a:xfrm>
            <a:custGeom>
              <a:avLst/>
              <a:gdLst/>
              <a:ahLst/>
              <a:cxnLst/>
              <a:rect l="l" t="t" r="r" b="b"/>
              <a:pathLst>
                <a:path w="783658" h="603555">
                  <a:moveTo>
                    <a:pt x="533150" y="60007"/>
                  </a:moveTo>
                  <a:lnTo>
                    <a:pt x="783658" y="509588"/>
                  </a:lnTo>
                  <a:cubicBezTo>
                    <a:pt x="614910" y="603555"/>
                    <a:pt x="407742" y="595063"/>
                    <a:pt x="247250" y="487600"/>
                  </a:cubicBezTo>
                  <a:cubicBezTo>
                    <a:pt x="86759" y="380137"/>
                    <a:pt x="0" y="191819"/>
                    <a:pt x="22610" y="0"/>
                  </a:cubicBezTo>
                  <a:lnTo>
                    <a:pt x="268355" y="28575"/>
                  </a:lnTo>
                  <a:cubicBezTo>
                    <a:pt x="256464" y="128049"/>
                    <a:pt x="301321" y="225796"/>
                    <a:pt x="384492" y="281645"/>
                  </a:cubicBezTo>
                  <a:cubicBezTo>
                    <a:pt x="467662" y="337494"/>
                    <a:pt x="575115" y="342022"/>
                    <a:pt x="662690" y="293370"/>
                  </a:cubicBezTo>
                  <a:close/>
                </a:path>
              </a:pathLst>
            </a:custGeom>
            <a:solidFill>
              <a:srgbClr val="F0856F"/>
            </a:solidFill>
            <a:ln>
              <a:noFill/>
            </a:ln>
          </p:spPr>
        </p:sp>
        <p:sp>
          <p:nvSpPr>
            <p:cNvPr id="162" name="Freeform 162"/>
            <p:cNvSpPr/>
            <p:nvPr/>
          </p:nvSpPr>
          <p:spPr>
            <a:xfrm>
              <a:off x="4909185" y="5162550"/>
              <a:ext cx="510540" cy="514350"/>
            </a:xfrm>
            <a:custGeom>
              <a:avLst/>
              <a:gdLst/>
              <a:ahLst/>
              <a:cxnLst/>
              <a:rect l="l" t="t" r="r" b="b"/>
              <a:pathLst>
                <a:path w="510540" h="514350">
                  <a:moveTo>
                    <a:pt x="510540" y="514350"/>
                  </a:moveTo>
                  <a:lnTo>
                    <a:pt x="0" y="454343"/>
                  </a:lnTo>
                  <a:cubicBezTo>
                    <a:pt x="30420" y="195382"/>
                    <a:pt x="249799" y="151"/>
                    <a:pt x="510540" y="0"/>
                  </a:cubicBezTo>
                  <a:lnTo>
                    <a:pt x="510540" y="247650"/>
                  </a:lnTo>
                  <a:cubicBezTo>
                    <a:pt x="375422" y="247673"/>
                    <a:pt x="261670" y="348741"/>
                    <a:pt x="245745" y="482918"/>
                  </a:cubicBezTo>
                  <a:close/>
                </a:path>
              </a:pathLst>
            </a:custGeom>
            <a:solidFill>
              <a:srgbClr val="E94B2B"/>
            </a:solidFill>
            <a:ln>
              <a:noFill/>
            </a:ln>
          </p:spPr>
        </p:sp>
        <p:sp>
          <p:nvSpPr>
            <p:cNvPr id="163" name="TextBox 163"/>
            <p:cNvSpPr txBox="1"/>
            <p:nvPr/>
          </p:nvSpPr>
          <p:spPr>
            <a:xfrm>
              <a:off x="5778807" y="5228511"/>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26%​​</a:t>
              </a:r>
            </a:p>
          </p:txBody>
        </p:sp>
        <p:sp>
          <p:nvSpPr>
            <p:cNvPr id="164" name="TextBox 164"/>
            <p:cNvSpPr txBox="1"/>
            <p:nvPr/>
          </p:nvSpPr>
          <p:spPr>
            <a:xfrm>
              <a:off x="5759757" y="603813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10%​​</a:t>
              </a:r>
            </a:p>
          </p:txBody>
        </p:sp>
        <p:sp>
          <p:nvSpPr>
            <p:cNvPr id="165" name="TextBox 165"/>
            <p:cNvSpPr txBox="1"/>
            <p:nvPr/>
          </p:nvSpPr>
          <p:spPr>
            <a:xfrm>
              <a:off x="4931082" y="615243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30%​​</a:t>
              </a:r>
            </a:p>
          </p:txBody>
        </p:sp>
        <p:sp>
          <p:nvSpPr>
            <p:cNvPr id="166" name="TextBox 166"/>
            <p:cNvSpPr txBox="1"/>
            <p:nvPr/>
          </p:nvSpPr>
          <p:spPr>
            <a:xfrm>
              <a:off x="4854882" y="5133261"/>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20%​​</a:t>
              </a:r>
            </a:p>
          </p:txBody>
        </p:sp>
      </p:grpSp>
      <p:grpSp>
        <p:nvGrpSpPr>
          <p:cNvPr id="188" name="m-annual-donut2"/>
          <p:cNvGrpSpPr/>
          <p:nvPr/>
        </p:nvGrpSpPr>
        <p:grpSpPr>
          <a:xfrm>
            <a:off x="6724650" y="3962400"/>
            <a:ext cx="2114550" cy="2628900"/>
            <a:chOff x="6724650" y="3962400"/>
            <a:chExt cx="2114550" cy="2628900"/>
          </a:xfrm>
        </p:grpSpPr>
        <p:sp>
          <p:nvSpPr>
            <p:cNvPr id="168" name="Rectangle 168"/>
            <p:cNvSpPr/>
            <p:nvPr/>
          </p:nvSpPr>
          <p:spPr>
            <a:xfrm>
              <a:off x="6724650" y="3962400"/>
              <a:ext cx="2114550" cy="2628900"/>
            </a:xfrm>
            <a:prstGeom prst="rect">
              <a:avLst/>
            </a:prstGeom>
            <a:solidFill>
              <a:srgbClr val="FFFFFF"/>
            </a:solidFill>
            <a:ln w="11430">
              <a:solidFill>
                <a:srgbClr val="C9DDF5"/>
              </a:solidFill>
            </a:ln>
          </p:spPr>
        </p:sp>
        <p:sp>
          <p:nvSpPr>
            <p:cNvPr id="169" name="Rectangle 169"/>
            <p:cNvSpPr/>
            <p:nvPr/>
          </p:nvSpPr>
          <p:spPr>
            <a:xfrm>
              <a:off x="6819900" y="4057650"/>
              <a:ext cx="1333500" cy="228600"/>
            </a:xfrm>
            <a:prstGeom prst="rect">
              <a:avLst/>
            </a:prstGeom>
            <a:gradFill>
              <a:gsLst>
                <a:gs pos="0">
                  <a:srgbClr val="FF5B3A"/>
                </a:gs>
                <a:gs pos="100000">
                  <a:srgbClr val="E94B2B"/>
                </a:gs>
              </a:gsLst>
              <a:lin ang="0" scaled="1"/>
            </a:gradFill>
            <a:ln>
              <a:noFill/>
            </a:ln>
          </p:spPr>
        </p:sp>
        <p:sp>
          <p:nvSpPr>
            <p:cNvPr id="170" name="Polygon 170"/>
            <p:cNvSpPr/>
            <p:nvPr/>
          </p:nvSpPr>
          <p:spPr>
            <a:xfrm>
              <a:off x="8058150" y="4057650"/>
              <a:ext cx="95250" cy="228600"/>
            </a:xfrm>
            <a:custGeom>
              <a:avLst/>
              <a:gdLst/>
              <a:ahLst/>
              <a:cxnLst/>
              <a:rect l="l" t="t" r="r" b="b"/>
              <a:pathLst>
                <a:path w="95250" h="228600">
                  <a:moveTo>
                    <a:pt x="0" y="0"/>
                  </a:moveTo>
                  <a:lnTo>
                    <a:pt x="95250" y="0"/>
                  </a:lnTo>
                  <a:lnTo>
                    <a:pt x="0" y="228600"/>
                  </a:lnTo>
                  <a:close/>
                </a:path>
              </a:pathLst>
            </a:custGeom>
            <a:solidFill>
              <a:srgbClr val="C83B1E"/>
            </a:solidFill>
            <a:ln>
              <a:noFill/>
            </a:ln>
          </p:spPr>
        </p:sp>
        <p:sp>
          <p:nvSpPr>
            <p:cNvPr id="171" name="TextBox 171"/>
            <p:cNvSpPr txBox="1"/>
            <p:nvPr/>
          </p:nvSpPr>
          <p:spPr>
            <a:xfrm>
              <a:off x="6910197" y="4114324"/>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支出占比情况</a:t>
              </a:r>
            </a:p>
          </p:txBody>
        </p:sp>
        <p:sp>
          <p:nvSpPr>
            <p:cNvPr id="172" name="Rectangle 172"/>
            <p:cNvSpPr/>
            <p:nvPr/>
          </p:nvSpPr>
          <p:spPr>
            <a:xfrm>
              <a:off x="6838950" y="4476750"/>
              <a:ext cx="66675" cy="66675"/>
            </a:xfrm>
            <a:prstGeom prst="rect">
              <a:avLst/>
            </a:prstGeom>
            <a:solidFill>
              <a:srgbClr val="C83B1E"/>
            </a:solidFill>
            <a:ln>
              <a:noFill/>
            </a:ln>
          </p:spPr>
        </p:sp>
        <p:sp>
          <p:nvSpPr>
            <p:cNvPr id="173" name="TextBox 173"/>
            <p:cNvSpPr txBox="1"/>
            <p:nvPr/>
          </p:nvSpPr>
          <p:spPr>
            <a:xfrm>
              <a:off x="6929438" y="4474607"/>
              <a:ext cx="181839"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材料</a:t>
              </a:r>
            </a:p>
          </p:txBody>
        </p:sp>
        <p:sp>
          <p:nvSpPr>
            <p:cNvPr id="174" name="Rectangle 174"/>
            <p:cNvSpPr/>
            <p:nvPr/>
          </p:nvSpPr>
          <p:spPr>
            <a:xfrm>
              <a:off x="7239000" y="4476750"/>
              <a:ext cx="66675" cy="66675"/>
            </a:xfrm>
            <a:prstGeom prst="rect">
              <a:avLst/>
            </a:prstGeom>
            <a:solidFill>
              <a:srgbClr val="E94B2B"/>
            </a:solidFill>
            <a:ln>
              <a:noFill/>
            </a:ln>
          </p:spPr>
        </p:sp>
        <p:sp>
          <p:nvSpPr>
            <p:cNvPr id="175" name="TextBox 175"/>
            <p:cNvSpPr txBox="1"/>
            <p:nvPr/>
          </p:nvSpPr>
          <p:spPr>
            <a:xfrm>
              <a:off x="7329488" y="4474607"/>
              <a:ext cx="181839"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运营</a:t>
              </a:r>
            </a:p>
          </p:txBody>
        </p:sp>
        <p:sp>
          <p:nvSpPr>
            <p:cNvPr id="176" name="Rectangle 176"/>
            <p:cNvSpPr/>
            <p:nvPr/>
          </p:nvSpPr>
          <p:spPr>
            <a:xfrm>
              <a:off x="7639050" y="4476750"/>
              <a:ext cx="66675" cy="66675"/>
            </a:xfrm>
            <a:prstGeom prst="rect">
              <a:avLst/>
            </a:prstGeom>
            <a:solidFill>
              <a:srgbClr val="F2563B"/>
            </a:solidFill>
            <a:ln>
              <a:noFill/>
            </a:ln>
          </p:spPr>
        </p:sp>
        <p:sp>
          <p:nvSpPr>
            <p:cNvPr id="177" name="TextBox 177"/>
            <p:cNvSpPr txBox="1"/>
            <p:nvPr/>
          </p:nvSpPr>
          <p:spPr>
            <a:xfrm>
              <a:off x="7729538" y="4474607"/>
              <a:ext cx="181839"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融资</a:t>
              </a:r>
            </a:p>
          </p:txBody>
        </p:sp>
        <p:sp>
          <p:nvSpPr>
            <p:cNvPr id="178" name="Rectangle 178"/>
            <p:cNvSpPr/>
            <p:nvPr/>
          </p:nvSpPr>
          <p:spPr>
            <a:xfrm>
              <a:off x="8039100" y="4476750"/>
              <a:ext cx="66675" cy="66675"/>
            </a:xfrm>
            <a:prstGeom prst="rect">
              <a:avLst/>
            </a:prstGeom>
            <a:solidFill>
              <a:srgbClr val="F0856F"/>
            </a:solidFill>
            <a:ln>
              <a:noFill/>
            </a:ln>
          </p:spPr>
        </p:sp>
        <p:sp>
          <p:nvSpPr>
            <p:cNvPr id="179" name="TextBox 179"/>
            <p:cNvSpPr txBox="1"/>
            <p:nvPr/>
          </p:nvSpPr>
          <p:spPr>
            <a:xfrm>
              <a:off x="8129588" y="4474607"/>
              <a:ext cx="181839"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折旧</a:t>
              </a:r>
            </a:p>
          </p:txBody>
        </p:sp>
        <p:sp>
          <p:nvSpPr>
            <p:cNvPr id="180" name="Freeform 180"/>
            <p:cNvSpPr/>
            <p:nvPr/>
          </p:nvSpPr>
          <p:spPr>
            <a:xfrm>
              <a:off x="7781925" y="5162550"/>
              <a:ext cx="545873" cy="816293"/>
            </a:xfrm>
            <a:custGeom>
              <a:avLst/>
              <a:gdLst/>
              <a:ahLst/>
              <a:cxnLst/>
              <a:rect l="l" t="t" r="r" b="b"/>
              <a:pathLst>
                <a:path w="545873" h="816293">
                  <a:moveTo>
                    <a:pt x="0" y="514350"/>
                  </a:moveTo>
                  <a:lnTo>
                    <a:pt x="0" y="0"/>
                  </a:lnTo>
                  <a:cubicBezTo>
                    <a:pt x="193302" y="58"/>
                    <a:pt x="370251" y="108491"/>
                    <a:pt x="458062" y="280697"/>
                  </a:cubicBezTo>
                  <a:cubicBezTo>
                    <a:pt x="545873" y="452903"/>
                    <a:pt x="529718" y="659803"/>
                    <a:pt x="416243" y="816293"/>
                  </a:cubicBezTo>
                  <a:lnTo>
                    <a:pt x="216218" y="671512"/>
                  </a:lnTo>
                  <a:cubicBezTo>
                    <a:pt x="275449" y="590306"/>
                    <a:pt x="283993" y="482695"/>
                    <a:pt x="238320" y="393159"/>
                  </a:cubicBezTo>
                  <a:cubicBezTo>
                    <a:pt x="192646" y="303623"/>
                    <a:pt x="100513" y="247369"/>
                    <a:pt x="0" y="247650"/>
                  </a:cubicBezTo>
                  <a:close/>
                </a:path>
              </a:pathLst>
            </a:custGeom>
            <a:solidFill>
              <a:srgbClr val="C83B1E"/>
            </a:solidFill>
            <a:ln>
              <a:noFill/>
            </a:ln>
          </p:spPr>
        </p:sp>
        <p:sp>
          <p:nvSpPr>
            <p:cNvPr id="181" name="Freeform 181"/>
            <p:cNvSpPr/>
            <p:nvPr/>
          </p:nvSpPr>
          <p:spPr>
            <a:xfrm>
              <a:off x="7781925" y="5676900"/>
              <a:ext cx="416243" cy="514350"/>
            </a:xfrm>
            <a:custGeom>
              <a:avLst/>
              <a:gdLst/>
              <a:ahLst/>
              <a:cxnLst/>
              <a:rect l="l" t="t" r="r" b="b"/>
              <a:pathLst>
                <a:path w="416243" h="514350">
                  <a:moveTo>
                    <a:pt x="0" y="0"/>
                  </a:moveTo>
                  <a:lnTo>
                    <a:pt x="416243" y="301943"/>
                  </a:lnTo>
                  <a:cubicBezTo>
                    <a:pt x="319523" y="435325"/>
                    <a:pt x="164759" y="514300"/>
                    <a:pt x="0" y="514350"/>
                  </a:cubicBezTo>
                  <a:lnTo>
                    <a:pt x="0" y="266700"/>
                  </a:lnTo>
                  <a:cubicBezTo>
                    <a:pt x="85460" y="266938"/>
                    <a:pt x="165857" y="226208"/>
                    <a:pt x="216218" y="157162"/>
                  </a:cubicBezTo>
                  <a:close/>
                </a:path>
              </a:pathLst>
            </a:custGeom>
            <a:solidFill>
              <a:srgbClr val="F2563B"/>
            </a:solidFill>
            <a:ln>
              <a:noFill/>
            </a:ln>
          </p:spPr>
        </p:sp>
        <p:sp>
          <p:nvSpPr>
            <p:cNvPr id="182" name="Freeform 182"/>
            <p:cNvSpPr/>
            <p:nvPr/>
          </p:nvSpPr>
          <p:spPr>
            <a:xfrm>
              <a:off x="7241390" y="5517832"/>
              <a:ext cx="540535" cy="673562"/>
            </a:xfrm>
            <a:custGeom>
              <a:avLst/>
              <a:gdLst/>
              <a:ahLst/>
              <a:cxnLst/>
              <a:rect l="l" t="t" r="r" b="b"/>
              <a:pathLst>
                <a:path w="540535" h="673562">
                  <a:moveTo>
                    <a:pt x="540535" y="159068"/>
                  </a:moveTo>
                  <a:lnTo>
                    <a:pt x="540535" y="673418"/>
                  </a:lnTo>
                  <a:cubicBezTo>
                    <a:pt x="375787" y="673562"/>
                    <a:pt x="220939" y="594778"/>
                    <a:pt x="124061" y="461524"/>
                  </a:cubicBezTo>
                  <a:cubicBezTo>
                    <a:pt x="27183" y="328270"/>
                    <a:pt x="0" y="156672"/>
                    <a:pt x="50950" y="0"/>
                  </a:cubicBezTo>
                  <a:lnTo>
                    <a:pt x="287170" y="77153"/>
                  </a:lnTo>
                  <a:cubicBezTo>
                    <a:pt x="261001" y="158235"/>
                    <a:pt x="275147" y="246942"/>
                    <a:pt x="325238" y="315863"/>
                  </a:cubicBezTo>
                  <a:cubicBezTo>
                    <a:pt x="375328" y="384785"/>
                    <a:pt x="455334" y="425626"/>
                    <a:pt x="540535" y="425768"/>
                  </a:cubicBezTo>
                  <a:close/>
                </a:path>
              </a:pathLst>
            </a:custGeom>
            <a:solidFill>
              <a:srgbClr val="E94B2B"/>
            </a:solidFill>
            <a:ln>
              <a:noFill/>
            </a:ln>
          </p:spPr>
        </p:sp>
        <p:sp>
          <p:nvSpPr>
            <p:cNvPr id="183" name="Freeform 183"/>
            <p:cNvSpPr/>
            <p:nvPr/>
          </p:nvSpPr>
          <p:spPr>
            <a:xfrm>
              <a:off x="7292340" y="5162355"/>
              <a:ext cx="489585" cy="514545"/>
            </a:xfrm>
            <a:custGeom>
              <a:avLst/>
              <a:gdLst/>
              <a:ahLst/>
              <a:cxnLst/>
              <a:rect l="l" t="t" r="r" b="b"/>
              <a:pathLst>
                <a:path w="489585" h="514545">
                  <a:moveTo>
                    <a:pt x="489585" y="514545"/>
                  </a:moveTo>
                  <a:lnTo>
                    <a:pt x="0" y="355477"/>
                  </a:lnTo>
                  <a:cubicBezTo>
                    <a:pt x="68948" y="143459"/>
                    <a:pt x="266638" y="0"/>
                    <a:pt x="489585" y="195"/>
                  </a:cubicBezTo>
                  <a:lnTo>
                    <a:pt x="489585" y="247845"/>
                  </a:lnTo>
                  <a:cubicBezTo>
                    <a:pt x="374013" y="248037"/>
                    <a:pt x="271717" y="322644"/>
                    <a:pt x="236220" y="432630"/>
                  </a:cubicBezTo>
                  <a:close/>
                </a:path>
              </a:pathLst>
            </a:custGeom>
            <a:solidFill>
              <a:srgbClr val="F0856F"/>
            </a:solidFill>
            <a:ln>
              <a:noFill/>
            </a:ln>
          </p:spPr>
        </p:sp>
        <p:sp>
          <p:nvSpPr>
            <p:cNvPr id="184" name="TextBox 184"/>
            <p:cNvSpPr txBox="1"/>
            <p:nvPr/>
          </p:nvSpPr>
          <p:spPr>
            <a:xfrm>
              <a:off x="8198157" y="531423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35%​​</a:t>
              </a:r>
            </a:p>
          </p:txBody>
        </p:sp>
        <p:sp>
          <p:nvSpPr>
            <p:cNvPr id="185" name="TextBox 185"/>
            <p:cNvSpPr txBox="1"/>
            <p:nvPr/>
          </p:nvSpPr>
          <p:spPr>
            <a:xfrm>
              <a:off x="7921932" y="619053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15%​​</a:t>
              </a:r>
            </a:p>
          </p:txBody>
        </p:sp>
        <p:sp>
          <p:nvSpPr>
            <p:cNvPr id="186" name="TextBox 186"/>
            <p:cNvSpPr txBox="1"/>
            <p:nvPr/>
          </p:nvSpPr>
          <p:spPr>
            <a:xfrm>
              <a:off x="7131357" y="6009561"/>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30%​​</a:t>
              </a:r>
            </a:p>
          </p:txBody>
        </p:sp>
        <p:sp>
          <p:nvSpPr>
            <p:cNvPr id="187" name="TextBox 187"/>
            <p:cNvSpPr txBox="1"/>
            <p:nvPr/>
          </p:nvSpPr>
          <p:spPr>
            <a:xfrm>
              <a:off x="7264707" y="5095161"/>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20%​​</a:t>
              </a:r>
            </a:p>
          </p:txBody>
        </p:sp>
      </p:grpSp>
      <p:grpSp>
        <p:nvGrpSpPr>
          <p:cNvPr id="197" name="kpi-sales-income"/>
          <p:cNvGrpSpPr/>
          <p:nvPr/>
        </p:nvGrpSpPr>
        <p:grpSpPr>
          <a:xfrm>
            <a:off x="9144000" y="876300"/>
            <a:ext cx="2571750" cy="1314450"/>
            <a:chOff x="9144000" y="876300"/>
            <a:chExt cx="2571750" cy="1314450"/>
          </a:xfrm>
        </p:grpSpPr>
        <p:sp>
          <p:nvSpPr>
            <p:cNvPr id="189" name="Rectangle 189"/>
            <p:cNvSpPr/>
            <p:nvPr/>
          </p:nvSpPr>
          <p:spPr>
            <a:xfrm>
              <a:off x="9144000" y="876300"/>
              <a:ext cx="2571750" cy="1314450"/>
            </a:xfrm>
            <a:prstGeom prst="roundRect">
              <a:avLst>
                <a:gd name="adj" fmla="val 7246"/>
              </a:avLst>
            </a:prstGeom>
            <a:gradFill>
              <a:gsLst>
                <a:gs pos="0">
                  <a:srgbClr val="FF5B3A"/>
                </a:gs>
                <a:gs pos="100000">
                  <a:srgbClr val="C83B1E"/>
                </a:gs>
              </a:gsLst>
              <a:lin ang="0" scaled="1"/>
            </a:gradFill>
            <a:ln>
              <a:noFill/>
            </a:ln>
          </p:spPr>
        </p:sp>
        <p:sp>
          <p:nvSpPr>
            <p:cNvPr id="190" name="TextBox 190"/>
            <p:cNvSpPr txBox="1"/>
            <p:nvPr/>
          </p:nvSpPr>
          <p:spPr>
            <a:xfrm>
              <a:off x="9404985" y="121205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销售收入</a:t>
              </a:r>
            </a:p>
          </p:txBody>
        </p:sp>
        <p:sp>
          <p:nvSpPr>
            <p:cNvPr id="191" name="TextBox 191"/>
            <p:cNvSpPr txBox="1"/>
            <p:nvPr/>
          </p:nvSpPr>
          <p:spPr>
            <a:xfrm>
              <a:off x="9398508" y="1550670"/>
              <a:ext cx="1143884"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150513</a:t>
              </a:r>
            </a:p>
          </p:txBody>
        </p:sp>
        <p:sp>
          <p:nvSpPr>
            <p:cNvPr id="192" name="Ellipse 192"/>
            <p:cNvSpPr/>
            <p:nvPr/>
          </p:nvSpPr>
          <p:spPr>
            <a:xfrm>
              <a:off x="10706100" y="1285875"/>
              <a:ext cx="495300" cy="495300"/>
            </a:xfrm>
            <a:prstGeom prst="ellipse">
              <a:avLst/>
            </a:prstGeom>
            <a:solidFill>
              <a:srgbClr val="FFFFFF"/>
            </a:solidFill>
            <a:ln>
              <a:noFill/>
            </a:ln>
          </p:spPr>
        </p:sp>
        <p:sp>
          <p:nvSpPr>
            <p:cNvPr id="193" name="TextBox 193"/>
            <p:cNvSpPr txBox="1"/>
            <p:nvPr/>
          </p:nvSpPr>
          <p:spPr>
            <a:xfrm>
              <a:off x="10868045" y="1408748"/>
              <a:ext cx="171411"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a:t>
              </a:r>
            </a:p>
          </p:txBody>
        </p:sp>
        <p:sp>
          <p:nvSpPr>
            <p:cNvPr id="194" name="Rectangle 194"/>
            <p:cNvSpPr/>
            <p:nvPr/>
          </p:nvSpPr>
          <p:spPr>
            <a:xfrm>
              <a:off x="11296650" y="1847850"/>
              <a:ext cx="104775" cy="190500"/>
            </a:xfrm>
            <a:prstGeom prst="rect">
              <a:avLst/>
            </a:prstGeom>
            <a:solidFill>
              <a:srgbClr val="FFFFFF"/>
            </a:solidFill>
            <a:ln>
              <a:noFill/>
            </a:ln>
          </p:spPr>
        </p:sp>
        <p:sp>
          <p:nvSpPr>
            <p:cNvPr id="195" name="Rectangle 195"/>
            <p:cNvSpPr/>
            <p:nvPr/>
          </p:nvSpPr>
          <p:spPr>
            <a:xfrm>
              <a:off x="11449050" y="1714500"/>
              <a:ext cx="104775" cy="323850"/>
            </a:xfrm>
            <a:prstGeom prst="rect">
              <a:avLst/>
            </a:prstGeom>
            <a:solidFill>
              <a:srgbClr val="FFFFFF"/>
            </a:solidFill>
            <a:ln>
              <a:noFill/>
            </a:ln>
          </p:spPr>
        </p:sp>
        <p:sp>
          <p:nvSpPr>
            <p:cNvPr id="196" name="Rectangle 196"/>
            <p:cNvSpPr/>
            <p:nvPr/>
          </p:nvSpPr>
          <p:spPr>
            <a:xfrm>
              <a:off x="11601450" y="1562100"/>
              <a:ext cx="104775" cy="476250"/>
            </a:xfrm>
            <a:prstGeom prst="rect">
              <a:avLst/>
            </a:prstGeom>
            <a:solidFill>
              <a:srgbClr val="FFFFFF"/>
            </a:solidFill>
            <a:ln>
              <a:noFill/>
            </a:ln>
          </p:spPr>
        </p:sp>
      </p:grpSp>
      <p:grpSp>
        <p:nvGrpSpPr>
          <p:cNvPr id="206" name="kpi-sales-cost"/>
          <p:cNvGrpSpPr/>
          <p:nvPr/>
        </p:nvGrpSpPr>
        <p:grpSpPr>
          <a:xfrm>
            <a:off x="9144000" y="2305050"/>
            <a:ext cx="2571750" cy="1314450"/>
            <a:chOff x="9144000" y="2305050"/>
            <a:chExt cx="2571750" cy="1314450"/>
          </a:xfrm>
        </p:grpSpPr>
        <p:sp>
          <p:nvSpPr>
            <p:cNvPr id="198" name="Rectangle 198"/>
            <p:cNvSpPr/>
            <p:nvPr/>
          </p:nvSpPr>
          <p:spPr>
            <a:xfrm>
              <a:off x="9144000" y="2305050"/>
              <a:ext cx="2571750" cy="1314450"/>
            </a:xfrm>
            <a:prstGeom prst="roundRect">
              <a:avLst>
                <a:gd name="adj" fmla="val 7246"/>
              </a:avLst>
            </a:prstGeom>
            <a:gradFill>
              <a:gsLst>
                <a:gs pos="0">
                  <a:srgbClr val="FF5B3A"/>
                </a:gs>
                <a:gs pos="100000">
                  <a:srgbClr val="C83B1E"/>
                </a:gs>
              </a:gsLst>
              <a:lin ang="0" scaled="1"/>
            </a:gradFill>
            <a:ln>
              <a:noFill/>
            </a:ln>
          </p:spPr>
        </p:sp>
        <p:sp>
          <p:nvSpPr>
            <p:cNvPr id="199" name="TextBox 199"/>
            <p:cNvSpPr txBox="1"/>
            <p:nvPr/>
          </p:nvSpPr>
          <p:spPr>
            <a:xfrm>
              <a:off x="9404985" y="264080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销售成本</a:t>
              </a:r>
            </a:p>
          </p:txBody>
        </p:sp>
        <p:sp>
          <p:nvSpPr>
            <p:cNvPr id="200" name="TextBox 200"/>
            <p:cNvSpPr txBox="1"/>
            <p:nvPr/>
          </p:nvSpPr>
          <p:spPr>
            <a:xfrm>
              <a:off x="9398508" y="2979420"/>
              <a:ext cx="1143884"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180611</a:t>
              </a:r>
            </a:p>
          </p:txBody>
        </p:sp>
        <p:sp>
          <p:nvSpPr>
            <p:cNvPr id="201" name="Ellipse 201"/>
            <p:cNvSpPr/>
            <p:nvPr/>
          </p:nvSpPr>
          <p:spPr>
            <a:xfrm>
              <a:off x="10706100" y="2714625"/>
              <a:ext cx="495300" cy="495300"/>
            </a:xfrm>
            <a:prstGeom prst="ellipse">
              <a:avLst/>
            </a:prstGeom>
            <a:solidFill>
              <a:srgbClr val="FFFFFF"/>
            </a:solidFill>
            <a:ln>
              <a:noFill/>
            </a:ln>
          </p:spPr>
        </p:sp>
        <p:sp>
          <p:nvSpPr>
            <p:cNvPr id="202" name="TextBox 202"/>
            <p:cNvSpPr txBox="1"/>
            <p:nvPr/>
          </p:nvSpPr>
          <p:spPr>
            <a:xfrm>
              <a:off x="10868045" y="2837498"/>
              <a:ext cx="171411"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a:t>
              </a:r>
            </a:p>
          </p:txBody>
        </p:sp>
        <p:sp>
          <p:nvSpPr>
            <p:cNvPr id="203" name="Rectangle 203"/>
            <p:cNvSpPr/>
            <p:nvPr/>
          </p:nvSpPr>
          <p:spPr>
            <a:xfrm>
              <a:off x="11296650" y="3276600"/>
              <a:ext cx="104775" cy="190500"/>
            </a:xfrm>
            <a:prstGeom prst="rect">
              <a:avLst/>
            </a:prstGeom>
            <a:solidFill>
              <a:srgbClr val="FFFFFF"/>
            </a:solidFill>
            <a:ln>
              <a:noFill/>
            </a:ln>
          </p:spPr>
        </p:sp>
        <p:sp>
          <p:nvSpPr>
            <p:cNvPr id="204" name="Rectangle 204"/>
            <p:cNvSpPr/>
            <p:nvPr/>
          </p:nvSpPr>
          <p:spPr>
            <a:xfrm>
              <a:off x="11449050" y="3143250"/>
              <a:ext cx="104775" cy="323850"/>
            </a:xfrm>
            <a:prstGeom prst="rect">
              <a:avLst/>
            </a:prstGeom>
            <a:solidFill>
              <a:srgbClr val="FFFFFF"/>
            </a:solidFill>
            <a:ln>
              <a:noFill/>
            </a:ln>
          </p:spPr>
        </p:sp>
        <p:sp>
          <p:nvSpPr>
            <p:cNvPr id="205" name="Rectangle 205"/>
            <p:cNvSpPr/>
            <p:nvPr/>
          </p:nvSpPr>
          <p:spPr>
            <a:xfrm>
              <a:off x="11601450" y="2990850"/>
              <a:ext cx="104775" cy="476250"/>
            </a:xfrm>
            <a:prstGeom prst="rect">
              <a:avLst/>
            </a:prstGeom>
            <a:solidFill>
              <a:srgbClr val="FFFFFF"/>
            </a:solidFill>
            <a:ln>
              <a:noFill/>
            </a:ln>
          </p:spPr>
        </p:sp>
      </p:grpSp>
      <p:grpSp>
        <p:nvGrpSpPr>
          <p:cNvPr id="215" name="kpi-sales-profit"/>
          <p:cNvGrpSpPr/>
          <p:nvPr/>
        </p:nvGrpSpPr>
        <p:grpSpPr>
          <a:xfrm>
            <a:off x="9144000" y="3733800"/>
            <a:ext cx="2571750" cy="1314450"/>
            <a:chOff x="9144000" y="3733800"/>
            <a:chExt cx="2571750" cy="1314450"/>
          </a:xfrm>
        </p:grpSpPr>
        <p:sp>
          <p:nvSpPr>
            <p:cNvPr id="207" name="Rectangle 207"/>
            <p:cNvSpPr/>
            <p:nvPr/>
          </p:nvSpPr>
          <p:spPr>
            <a:xfrm>
              <a:off x="9144000" y="3733800"/>
              <a:ext cx="2571750" cy="1314450"/>
            </a:xfrm>
            <a:prstGeom prst="roundRect">
              <a:avLst>
                <a:gd name="adj" fmla="val 7246"/>
              </a:avLst>
            </a:prstGeom>
            <a:gradFill>
              <a:gsLst>
                <a:gs pos="0">
                  <a:srgbClr val="FF5B3A"/>
                </a:gs>
                <a:gs pos="100000">
                  <a:srgbClr val="C83B1E"/>
                </a:gs>
              </a:gsLst>
              <a:lin ang="0" scaled="1"/>
            </a:gradFill>
            <a:ln>
              <a:noFill/>
            </a:ln>
          </p:spPr>
        </p:sp>
        <p:sp>
          <p:nvSpPr>
            <p:cNvPr id="208" name="TextBox 208"/>
            <p:cNvSpPr txBox="1"/>
            <p:nvPr/>
          </p:nvSpPr>
          <p:spPr>
            <a:xfrm>
              <a:off x="9404985" y="406955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销售利润</a:t>
              </a:r>
            </a:p>
          </p:txBody>
        </p:sp>
        <p:sp>
          <p:nvSpPr>
            <p:cNvPr id="209" name="TextBox 209"/>
            <p:cNvSpPr txBox="1"/>
            <p:nvPr/>
          </p:nvSpPr>
          <p:spPr>
            <a:xfrm>
              <a:off x="9398508" y="4408170"/>
              <a:ext cx="957301"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13549</a:t>
              </a:r>
            </a:p>
          </p:txBody>
        </p:sp>
        <p:sp>
          <p:nvSpPr>
            <p:cNvPr id="210" name="Ellipse 210"/>
            <p:cNvSpPr/>
            <p:nvPr/>
          </p:nvSpPr>
          <p:spPr>
            <a:xfrm>
              <a:off x="10706100" y="4143375"/>
              <a:ext cx="495300" cy="495300"/>
            </a:xfrm>
            <a:prstGeom prst="ellipse">
              <a:avLst/>
            </a:prstGeom>
            <a:solidFill>
              <a:srgbClr val="FFFFFF"/>
            </a:solidFill>
            <a:ln>
              <a:noFill/>
            </a:ln>
          </p:spPr>
        </p:sp>
        <p:sp>
          <p:nvSpPr>
            <p:cNvPr id="211" name="TextBox 211"/>
            <p:cNvSpPr txBox="1"/>
            <p:nvPr/>
          </p:nvSpPr>
          <p:spPr>
            <a:xfrm>
              <a:off x="10868045" y="4266248"/>
              <a:ext cx="171411"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a:t>
              </a:r>
            </a:p>
          </p:txBody>
        </p:sp>
        <p:sp>
          <p:nvSpPr>
            <p:cNvPr id="212" name="Rectangle 212"/>
            <p:cNvSpPr/>
            <p:nvPr/>
          </p:nvSpPr>
          <p:spPr>
            <a:xfrm>
              <a:off x="11296650" y="4705350"/>
              <a:ext cx="104775" cy="190500"/>
            </a:xfrm>
            <a:prstGeom prst="rect">
              <a:avLst/>
            </a:prstGeom>
            <a:solidFill>
              <a:srgbClr val="FFFFFF"/>
            </a:solidFill>
            <a:ln>
              <a:noFill/>
            </a:ln>
          </p:spPr>
        </p:sp>
        <p:sp>
          <p:nvSpPr>
            <p:cNvPr id="213" name="Rectangle 213"/>
            <p:cNvSpPr/>
            <p:nvPr/>
          </p:nvSpPr>
          <p:spPr>
            <a:xfrm>
              <a:off x="11449050" y="4572000"/>
              <a:ext cx="104775" cy="323850"/>
            </a:xfrm>
            <a:prstGeom prst="rect">
              <a:avLst/>
            </a:prstGeom>
            <a:solidFill>
              <a:srgbClr val="FFFFFF"/>
            </a:solidFill>
            <a:ln>
              <a:noFill/>
            </a:ln>
          </p:spPr>
        </p:sp>
        <p:sp>
          <p:nvSpPr>
            <p:cNvPr id="214" name="Rectangle 214"/>
            <p:cNvSpPr/>
            <p:nvPr/>
          </p:nvSpPr>
          <p:spPr>
            <a:xfrm>
              <a:off x="11601450" y="4419600"/>
              <a:ext cx="104775" cy="476250"/>
            </a:xfrm>
            <a:prstGeom prst="rect">
              <a:avLst/>
            </a:prstGeom>
            <a:solidFill>
              <a:srgbClr val="FFFFFF"/>
            </a:solidFill>
            <a:ln>
              <a:noFill/>
            </a:ln>
          </p:spPr>
        </p:sp>
      </p:grpSp>
      <p:grpSp>
        <p:nvGrpSpPr>
          <p:cNvPr id="224" name="kpi-avg-price"/>
          <p:cNvGrpSpPr/>
          <p:nvPr/>
        </p:nvGrpSpPr>
        <p:grpSpPr>
          <a:xfrm>
            <a:off x="9144000" y="5162550"/>
            <a:ext cx="2571750" cy="1333500"/>
            <a:chOff x="9144000" y="5162550"/>
            <a:chExt cx="2571750" cy="1333500"/>
          </a:xfrm>
        </p:grpSpPr>
        <p:sp>
          <p:nvSpPr>
            <p:cNvPr id="216" name="Rectangle 216"/>
            <p:cNvSpPr/>
            <p:nvPr/>
          </p:nvSpPr>
          <p:spPr>
            <a:xfrm>
              <a:off x="9144000" y="5162550"/>
              <a:ext cx="2571750" cy="1333500"/>
            </a:xfrm>
            <a:prstGeom prst="roundRect">
              <a:avLst>
                <a:gd name="adj" fmla="val 7143"/>
              </a:avLst>
            </a:prstGeom>
            <a:gradFill>
              <a:gsLst>
                <a:gs pos="0">
                  <a:srgbClr val="FF5B3A"/>
                </a:gs>
                <a:gs pos="100000">
                  <a:srgbClr val="C83B1E"/>
                </a:gs>
              </a:gsLst>
              <a:lin ang="0" scaled="1"/>
            </a:gradFill>
            <a:ln>
              <a:noFill/>
            </a:ln>
          </p:spPr>
        </p:sp>
        <p:sp>
          <p:nvSpPr>
            <p:cNvPr id="217" name="TextBox 217"/>
            <p:cNvSpPr txBox="1"/>
            <p:nvPr/>
          </p:nvSpPr>
          <p:spPr>
            <a:xfrm>
              <a:off x="9404985" y="5498306"/>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平均单价</a:t>
              </a:r>
            </a:p>
          </p:txBody>
        </p:sp>
        <p:sp>
          <p:nvSpPr>
            <p:cNvPr id="218" name="TextBox 218"/>
            <p:cNvSpPr txBox="1"/>
            <p:nvPr/>
          </p:nvSpPr>
          <p:spPr>
            <a:xfrm>
              <a:off x="9398508" y="5855970"/>
              <a:ext cx="1143884"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143.78</a:t>
              </a:r>
            </a:p>
          </p:txBody>
        </p:sp>
        <p:sp>
          <p:nvSpPr>
            <p:cNvPr id="219" name="Ellipse 219"/>
            <p:cNvSpPr/>
            <p:nvPr/>
          </p:nvSpPr>
          <p:spPr>
            <a:xfrm>
              <a:off x="10706100" y="5581650"/>
              <a:ext cx="495300" cy="495300"/>
            </a:xfrm>
            <a:prstGeom prst="ellipse">
              <a:avLst/>
            </a:prstGeom>
            <a:solidFill>
              <a:srgbClr val="FFFFFF"/>
            </a:solidFill>
            <a:ln>
              <a:noFill/>
            </a:ln>
          </p:spPr>
        </p:sp>
        <p:sp>
          <p:nvSpPr>
            <p:cNvPr id="220" name="TextBox 220"/>
            <p:cNvSpPr txBox="1"/>
            <p:nvPr/>
          </p:nvSpPr>
          <p:spPr>
            <a:xfrm>
              <a:off x="10868045" y="5704522"/>
              <a:ext cx="171411" cy="381381"/>
            </a:xfrm>
            <a:prstGeom prst="rect">
              <a:avLst/>
            </a:prstGeom>
            <a:noFill/>
            <a:ln>
              <a:noFill/>
            </a:ln>
          </p:spPr>
          <p:txBody>
            <a:bodyPr wrap="none" lIns="0" tIns="0" rIns="0" bIns="0" anchor="t" anchorCtr="0">
              <a:spAutoFit/>
            </a:bodyPr>
            <a:lstStyle/>
            <a:p>
              <a:pPr algn="ctr"/>
              <a:r>
                <a:rPr lang="zh-CN" sz="1950" b="1" dirty="0">
                  <a:solidFill>
                    <a:srgbClr val="E94B2B"/>
                  </a:solidFill>
                  <a:latin typeface="+mn-lt"/>
                  <a:ea typeface="+mn-ea"/>
                  <a:cs typeface="+mn-cs"/>
                </a:rPr>
                <a:t>$</a:t>
              </a:r>
            </a:p>
          </p:txBody>
        </p:sp>
        <p:sp>
          <p:nvSpPr>
            <p:cNvPr id="221" name="Rectangle 221"/>
            <p:cNvSpPr/>
            <p:nvPr/>
          </p:nvSpPr>
          <p:spPr>
            <a:xfrm>
              <a:off x="11296650" y="6153150"/>
              <a:ext cx="104775" cy="190500"/>
            </a:xfrm>
            <a:prstGeom prst="rect">
              <a:avLst/>
            </a:prstGeom>
            <a:solidFill>
              <a:srgbClr val="FFFFFF"/>
            </a:solidFill>
            <a:ln>
              <a:noFill/>
            </a:ln>
          </p:spPr>
        </p:sp>
        <p:sp>
          <p:nvSpPr>
            <p:cNvPr id="222" name="Rectangle 222"/>
            <p:cNvSpPr/>
            <p:nvPr/>
          </p:nvSpPr>
          <p:spPr>
            <a:xfrm>
              <a:off x="11449050" y="6019800"/>
              <a:ext cx="104775" cy="323850"/>
            </a:xfrm>
            <a:prstGeom prst="rect">
              <a:avLst/>
            </a:prstGeom>
            <a:solidFill>
              <a:srgbClr val="FFFFFF"/>
            </a:solidFill>
            <a:ln>
              <a:noFill/>
            </a:ln>
          </p:spPr>
        </p:sp>
        <p:sp>
          <p:nvSpPr>
            <p:cNvPr id="223" name="Rectangle 223"/>
            <p:cNvSpPr/>
            <p:nvPr/>
          </p:nvSpPr>
          <p:spPr>
            <a:xfrm>
              <a:off x="11601450" y="5867400"/>
              <a:ext cx="104775" cy="476250"/>
            </a:xfrm>
            <a:prstGeom prst="rect">
              <a:avLst/>
            </a:prstGeom>
            <a:solidFill>
              <a:srgbClr val="FFFFFF"/>
            </a:solidFill>
            <a:ln>
              <a:noFill/>
            </a:ln>
          </p:spPr>
        </p:sp>
      </p:gr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26</a:t>
              </a:r>
            </a:p>
          </p:txBody>
        </p:sp>
        <p:sp>
          <p:nvSpPr>
            <p:cNvPr id="4" name="TextBox 4"/>
            <p:cNvSpPr txBox="1"/>
            <p:nvPr/>
          </p:nvSpPr>
          <p:spPr>
            <a:xfrm>
              <a:off x="904494" y="180023"/>
              <a:ext cx="2238756"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市场情况数据分析</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45" name="m-market-revenue"/>
          <p:cNvGrpSpPr/>
          <p:nvPr/>
        </p:nvGrpSpPr>
        <p:grpSpPr>
          <a:xfrm>
            <a:off x="571500" y="838200"/>
            <a:ext cx="6591300" cy="2781300"/>
            <a:chOff x="571500" y="838200"/>
            <a:chExt cx="6591300" cy="2781300"/>
          </a:xfrm>
        </p:grpSpPr>
        <p:sp>
          <p:nvSpPr>
            <p:cNvPr id="7" name="Rectangle 7"/>
            <p:cNvSpPr/>
            <p:nvPr/>
          </p:nvSpPr>
          <p:spPr>
            <a:xfrm>
              <a:off x="571500" y="838200"/>
              <a:ext cx="6591300" cy="2781300"/>
            </a:xfrm>
            <a:prstGeom prst="rect">
              <a:avLst/>
            </a:prstGeom>
            <a:solidFill>
              <a:srgbClr val="FFFFFF"/>
            </a:solidFill>
            <a:ln w="11430">
              <a:solidFill>
                <a:srgbClr val="C9DDF5"/>
              </a:solidFill>
            </a:ln>
          </p:spPr>
        </p:sp>
        <p:sp>
          <p:nvSpPr>
            <p:cNvPr id="8" name="Rectangle 8"/>
            <p:cNvSpPr/>
            <p:nvPr/>
          </p:nvSpPr>
          <p:spPr>
            <a:xfrm>
              <a:off x="685800" y="952500"/>
              <a:ext cx="2857500" cy="285750"/>
            </a:xfrm>
            <a:prstGeom prst="roundRect">
              <a:avLst>
                <a:gd name="adj" fmla="val 13333"/>
              </a:avLst>
            </a:prstGeom>
            <a:gradFill>
              <a:gsLst>
                <a:gs pos="0">
                  <a:srgbClr val="FF5B3A"/>
                </a:gs>
                <a:gs pos="100000">
                  <a:srgbClr val="C83B1E"/>
                </a:gs>
              </a:gsLst>
              <a:lin ang="0" scaled="1"/>
            </a:gradFill>
            <a:ln>
              <a:noFill/>
            </a:ln>
          </p:spPr>
        </p:sp>
        <p:grpSp>
          <p:nvGrpSpPr>
            <p:cNvPr id="13" name="Group 13"/>
            <p:cNvGrpSpPr/>
            <p:nvPr/>
          </p:nvGrpSpPr>
          <p:grpSpPr>
            <a:xfrm>
              <a:off x="840581" y="1038225"/>
              <a:ext cx="128587" cy="123825"/>
              <a:chOff x="840581" y="1038225"/>
              <a:chExt cx="128587" cy="123825"/>
            </a:xfrm>
          </p:grpSpPr>
          <p:sp>
            <p:nvSpPr>
              <p:cNvPr id="9" name="Freeform 9"/>
              <p:cNvSpPr/>
              <p:nvPr/>
            </p:nvSpPr>
            <p:spPr>
              <a:xfrm>
                <a:off x="840581" y="109537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FFFFFF"/>
                </a:solidFill>
              </a:ln>
            </p:spPr>
          </p:sp>
          <p:sp>
            <p:nvSpPr>
              <p:cNvPr id="10" name="Freeform 10"/>
              <p:cNvSpPr/>
              <p:nvPr/>
            </p:nvSpPr>
            <p:spPr>
              <a:xfrm>
                <a:off x="926306" y="106680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FFFFFF"/>
                </a:solidFill>
              </a:ln>
            </p:spPr>
          </p:sp>
          <p:sp>
            <p:nvSpPr>
              <p:cNvPr id="11" name="Freeform 11"/>
              <p:cNvSpPr/>
              <p:nvPr/>
            </p:nvSpPr>
            <p:spPr>
              <a:xfrm>
                <a:off x="883444" y="103822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FFFFFF"/>
                </a:solidFill>
              </a:ln>
            </p:spPr>
          </p:sp>
          <p:sp>
            <p:nvSpPr>
              <p:cNvPr id="12" name="Freeform 12"/>
              <p:cNvSpPr/>
              <p:nvPr/>
            </p:nvSpPr>
            <p:spPr>
              <a:xfrm>
                <a:off x="847725" y="1152525"/>
                <a:ext cx="100012" cy="9525"/>
              </a:xfrm>
              <a:custGeom>
                <a:avLst/>
                <a:gdLst/>
                <a:ahLst/>
                <a:cxnLst/>
                <a:rect l="l" t="t" r="r" b="b"/>
                <a:pathLst>
                  <a:path w="100012" h="9525">
                    <a:moveTo>
                      <a:pt x="0" y="0"/>
                    </a:moveTo>
                    <a:lnTo>
                      <a:pt x="100012" y="0"/>
                    </a:lnTo>
                  </a:path>
                </a:pathLst>
              </a:custGeom>
              <a:noFill/>
              <a:ln w="14288">
                <a:solidFill>
                  <a:srgbClr val="FFFFFF"/>
                </a:solidFill>
              </a:ln>
            </p:spPr>
          </p:sp>
        </p:grpSp>
        <p:sp>
          <p:nvSpPr>
            <p:cNvPr id="14" name="TextBox 14"/>
            <p:cNvSpPr txBox="1"/>
            <p:nvPr/>
          </p:nvSpPr>
          <p:spPr>
            <a:xfrm>
              <a:off x="1061085" y="1031081"/>
              <a:ext cx="121762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核心市场营收情况</a:t>
              </a:r>
            </a:p>
          </p:txBody>
        </p:sp>
        <p:sp>
          <p:nvSpPr>
            <p:cNvPr id="15" name="TextBox 15"/>
            <p:cNvSpPr txBox="1"/>
            <p:nvPr/>
          </p:nvSpPr>
          <p:spPr>
            <a:xfrm>
              <a:off x="5608015" y="1067514"/>
              <a:ext cx="1445247" cy="154781"/>
            </a:xfrm>
            <a:prstGeom prst="rect">
              <a:avLst/>
            </a:prstGeom>
            <a:noFill/>
            <a:ln>
              <a:noFill/>
            </a:ln>
          </p:spPr>
          <p:txBody>
            <a:bodyPr wrap="none" lIns="0" tIns="0" rIns="0" bIns="0" anchor="t" anchorCtr="0">
              <a:spAutoFit/>
            </a:bodyPr>
            <a:lstStyle/>
            <a:p>
              <a:pPr algn="r"/>
              <a:r>
                <a:rPr lang="zh-CN" sz="790" dirty="0">
                  <a:solidFill>
                    <a:srgbClr val="684F4A"/>
                  </a:solidFill>
                  <a:latin typeface="+mn-lt"/>
                  <a:ea typeface="+mn-ea"/>
                  <a:cs typeface="+mn-cs"/>
                </a:rPr>
                <a:t>数据截止：2023年6月30日​​​</a:t>
              </a:r>
            </a:p>
          </p:txBody>
        </p:sp>
        <p:sp>
          <p:nvSpPr>
            <p:cNvPr id="16" name="Rectangle 16"/>
            <p:cNvSpPr/>
            <p:nvPr/>
          </p:nvSpPr>
          <p:spPr>
            <a:xfrm>
              <a:off x="857250" y="1571625"/>
              <a:ext cx="1619250" cy="285750"/>
            </a:xfrm>
            <a:prstGeom prst="roundRect">
              <a:avLst>
                <a:gd name="adj" fmla="val 50000"/>
              </a:avLst>
            </a:prstGeom>
            <a:gradFill>
              <a:gsLst>
                <a:gs pos="0">
                  <a:srgbClr val="FF5B3A"/>
                </a:gs>
                <a:gs pos="100000">
                  <a:srgbClr val="C83B1E"/>
                </a:gs>
              </a:gsLst>
              <a:lin ang="0" scaled="1"/>
            </a:gradFill>
            <a:ln>
              <a:noFill/>
            </a:ln>
          </p:spPr>
        </p:sp>
        <p:grpSp>
          <p:nvGrpSpPr>
            <p:cNvPr id="21" name="Group 21"/>
            <p:cNvGrpSpPr/>
            <p:nvPr/>
          </p:nvGrpSpPr>
          <p:grpSpPr>
            <a:xfrm>
              <a:off x="995362" y="1651000"/>
              <a:ext cx="142875" cy="136525"/>
              <a:chOff x="995362" y="1651000"/>
              <a:chExt cx="142875" cy="136525"/>
            </a:xfrm>
          </p:grpSpPr>
          <p:sp>
            <p:nvSpPr>
              <p:cNvPr id="17" name="Freeform 17"/>
              <p:cNvSpPr/>
              <p:nvPr/>
            </p:nvSpPr>
            <p:spPr>
              <a:xfrm>
                <a:off x="995362" y="17145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18" name="Freeform 18"/>
              <p:cNvSpPr/>
              <p:nvPr/>
            </p:nvSpPr>
            <p:spPr>
              <a:xfrm>
                <a:off x="1090612" y="16827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19" name="Freeform 19"/>
              <p:cNvSpPr/>
              <p:nvPr/>
            </p:nvSpPr>
            <p:spPr>
              <a:xfrm>
                <a:off x="1042987" y="16510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20" name="Freeform 20"/>
              <p:cNvSpPr/>
              <p:nvPr/>
            </p:nvSpPr>
            <p:spPr>
              <a:xfrm>
                <a:off x="1003300" y="1778000"/>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22" name="TextBox 22"/>
            <p:cNvSpPr txBox="1"/>
            <p:nvPr/>
          </p:nvSpPr>
          <p:spPr>
            <a:xfrm>
              <a:off x="1214438" y="1660922"/>
              <a:ext cx="6422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累计总营收</a:t>
              </a:r>
            </a:p>
          </p:txBody>
        </p:sp>
        <p:sp>
          <p:nvSpPr>
            <p:cNvPr id="23" name="TextBox 23"/>
            <p:cNvSpPr txBox="1"/>
            <p:nvPr/>
          </p:nvSpPr>
          <p:spPr>
            <a:xfrm>
              <a:off x="1056555" y="2283142"/>
              <a:ext cx="1220639" cy="557403"/>
            </a:xfrm>
            <a:prstGeom prst="rect">
              <a:avLst/>
            </a:prstGeom>
            <a:noFill/>
            <a:ln>
              <a:noFill/>
            </a:ln>
          </p:spPr>
          <p:txBody>
            <a:bodyPr wrap="none" lIns="0" tIns="0" rIns="0" bIns="0" anchor="t" anchorCtr="0">
              <a:spAutoFit/>
            </a:bodyPr>
            <a:lstStyle/>
            <a:p>
              <a:pPr algn="ctr"/>
              <a:r>
                <a:rPr lang="zh-CN" sz="2850" b="1" dirty="0">
                  <a:solidFill>
                    <a:srgbClr val="E94B2B"/>
                  </a:solidFill>
                  <a:latin typeface="+mn-lt"/>
                  <a:ea typeface="+mn-ea"/>
                  <a:cs typeface="+mn-cs"/>
                </a:rPr>
                <a:t>3960</a:t>
              </a:r>
              <a:r>
                <a:rPr lang="zh-CN" sz="980" b="1" dirty="0">
                  <a:solidFill>
                    <a:srgbClr val="684F4A"/>
                  </a:solidFill>
                  <a:latin typeface="+mn-lt"/>
                  <a:ea typeface="+mn-ea"/>
                  <a:cs typeface="+mn-cs"/>
                </a:rPr>
                <a:t xml:space="preserve"> 万元</a:t>
              </a:r>
            </a:p>
          </p:txBody>
        </p:sp>
        <p:sp>
          <p:nvSpPr>
            <p:cNvPr id="24" name="TextBox 24"/>
            <p:cNvSpPr txBox="1"/>
            <p:nvPr/>
          </p:nvSpPr>
          <p:spPr>
            <a:xfrm>
              <a:off x="1149816" y="2840593"/>
              <a:ext cx="1034118"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较去年同期上升8%​</a:t>
              </a:r>
            </a:p>
          </p:txBody>
        </p:sp>
        <p:sp>
          <p:nvSpPr>
            <p:cNvPr id="25" name="Rectangle 25"/>
            <p:cNvSpPr/>
            <p:nvPr/>
          </p:nvSpPr>
          <p:spPr>
            <a:xfrm>
              <a:off x="3048000" y="1571625"/>
              <a:ext cx="1619250" cy="285750"/>
            </a:xfrm>
            <a:prstGeom prst="roundRect">
              <a:avLst>
                <a:gd name="adj" fmla="val 50000"/>
              </a:avLst>
            </a:prstGeom>
            <a:gradFill>
              <a:gsLst>
                <a:gs pos="0">
                  <a:srgbClr val="FF5B3A"/>
                </a:gs>
                <a:gs pos="100000">
                  <a:srgbClr val="C83B1E"/>
                </a:gs>
              </a:gsLst>
              <a:lin ang="0" scaled="1"/>
            </a:gradFill>
            <a:ln>
              <a:noFill/>
            </a:ln>
          </p:spPr>
        </p:sp>
        <p:grpSp>
          <p:nvGrpSpPr>
            <p:cNvPr id="31" name="Group 31"/>
            <p:cNvGrpSpPr/>
            <p:nvPr/>
          </p:nvGrpSpPr>
          <p:grpSpPr>
            <a:xfrm>
              <a:off x="3186112" y="1641999"/>
              <a:ext cx="142875" cy="143938"/>
              <a:chOff x="3186112" y="1641999"/>
              <a:chExt cx="142875" cy="143938"/>
            </a:xfrm>
          </p:grpSpPr>
          <p:sp>
            <p:nvSpPr>
              <p:cNvPr id="26" name="Freeform 26"/>
              <p:cNvSpPr/>
              <p:nvPr/>
            </p:nvSpPr>
            <p:spPr>
              <a:xfrm>
                <a:off x="3233737" y="17065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FFFFFF"/>
                </a:solidFill>
              </a:ln>
            </p:spPr>
          </p:sp>
          <p:sp>
            <p:nvSpPr>
              <p:cNvPr id="27" name="Freeform 27"/>
              <p:cNvSpPr/>
              <p:nvPr/>
            </p:nvSpPr>
            <p:spPr>
              <a:xfrm>
                <a:off x="3233737" y="17303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FFFFFF"/>
                </a:solidFill>
              </a:ln>
            </p:spPr>
          </p:sp>
          <p:sp>
            <p:nvSpPr>
              <p:cNvPr id="28" name="Freeform 28"/>
              <p:cNvSpPr/>
              <p:nvPr/>
            </p:nvSpPr>
            <p:spPr>
              <a:xfrm>
                <a:off x="3186112" y="16419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FFFFFF"/>
                </a:solidFill>
              </a:ln>
            </p:spPr>
          </p:sp>
          <p:sp>
            <p:nvSpPr>
              <p:cNvPr id="29" name="Freeform 29"/>
              <p:cNvSpPr/>
              <p:nvPr/>
            </p:nvSpPr>
            <p:spPr>
              <a:xfrm>
                <a:off x="3186112" y="16668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FFFFFF"/>
                </a:solidFill>
              </a:ln>
            </p:spPr>
          </p:sp>
          <p:sp>
            <p:nvSpPr>
              <p:cNvPr id="30" name="Freeform 30"/>
              <p:cNvSpPr/>
              <p:nvPr/>
            </p:nvSpPr>
            <p:spPr>
              <a:xfrm>
                <a:off x="3186112" y="17065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FFFFFF"/>
                </a:solidFill>
              </a:ln>
            </p:spPr>
          </p:sp>
        </p:grpSp>
        <p:sp>
          <p:nvSpPr>
            <p:cNvPr id="32" name="TextBox 32"/>
            <p:cNvSpPr txBox="1"/>
            <p:nvPr/>
          </p:nvSpPr>
          <p:spPr>
            <a:xfrm>
              <a:off x="3405188" y="1660922"/>
              <a:ext cx="6422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累计总利润</a:t>
              </a:r>
            </a:p>
          </p:txBody>
        </p:sp>
        <p:sp>
          <p:nvSpPr>
            <p:cNvPr id="33" name="TextBox 33"/>
            <p:cNvSpPr txBox="1"/>
            <p:nvPr/>
          </p:nvSpPr>
          <p:spPr>
            <a:xfrm>
              <a:off x="3247305" y="2283142"/>
              <a:ext cx="1220639" cy="557403"/>
            </a:xfrm>
            <a:prstGeom prst="rect">
              <a:avLst/>
            </a:prstGeom>
            <a:noFill/>
            <a:ln>
              <a:noFill/>
            </a:ln>
          </p:spPr>
          <p:txBody>
            <a:bodyPr wrap="none" lIns="0" tIns="0" rIns="0" bIns="0" anchor="t" anchorCtr="0">
              <a:spAutoFit/>
            </a:bodyPr>
            <a:lstStyle/>
            <a:p>
              <a:pPr algn="ctr"/>
              <a:r>
                <a:rPr lang="zh-CN" sz="2850" b="1" dirty="0">
                  <a:solidFill>
                    <a:srgbClr val="E94B2B"/>
                  </a:solidFill>
                  <a:latin typeface="+mn-lt"/>
                  <a:ea typeface="+mn-ea"/>
                  <a:cs typeface="+mn-cs"/>
                </a:rPr>
                <a:t>3960</a:t>
              </a:r>
              <a:r>
                <a:rPr lang="zh-CN" sz="980" b="1" dirty="0">
                  <a:solidFill>
                    <a:srgbClr val="684F4A"/>
                  </a:solidFill>
                  <a:latin typeface="+mn-lt"/>
                  <a:ea typeface="+mn-ea"/>
                  <a:cs typeface="+mn-cs"/>
                </a:rPr>
                <a:t xml:space="preserve"> 万元</a:t>
              </a:r>
            </a:p>
          </p:txBody>
        </p:sp>
        <p:sp>
          <p:nvSpPr>
            <p:cNvPr id="34" name="TextBox 34"/>
            <p:cNvSpPr txBox="1"/>
            <p:nvPr/>
          </p:nvSpPr>
          <p:spPr>
            <a:xfrm>
              <a:off x="3340566" y="2840593"/>
              <a:ext cx="1034118"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较去年同期上升8%​</a:t>
              </a:r>
            </a:p>
          </p:txBody>
        </p:sp>
        <p:sp>
          <p:nvSpPr>
            <p:cNvPr id="35" name="Rectangle 35"/>
            <p:cNvSpPr/>
            <p:nvPr/>
          </p:nvSpPr>
          <p:spPr>
            <a:xfrm>
              <a:off x="5238750" y="1571625"/>
              <a:ext cx="1619250" cy="285750"/>
            </a:xfrm>
            <a:prstGeom prst="roundRect">
              <a:avLst>
                <a:gd name="adj" fmla="val 50000"/>
              </a:avLst>
            </a:prstGeom>
            <a:gradFill>
              <a:gsLst>
                <a:gs pos="0">
                  <a:srgbClr val="FF5B3A"/>
                </a:gs>
                <a:gs pos="100000">
                  <a:srgbClr val="C83B1E"/>
                </a:gs>
              </a:gsLst>
              <a:lin ang="0" scaled="1"/>
            </a:gradFill>
            <a:ln>
              <a:noFill/>
            </a:ln>
          </p:spPr>
        </p:sp>
        <p:grpSp>
          <p:nvGrpSpPr>
            <p:cNvPr id="39" name="Group 39"/>
            <p:cNvGrpSpPr/>
            <p:nvPr/>
          </p:nvGrpSpPr>
          <p:grpSpPr>
            <a:xfrm>
              <a:off x="5376862" y="1658937"/>
              <a:ext cx="142875" cy="111125"/>
              <a:chOff x="5376862" y="1658937"/>
              <a:chExt cx="142875" cy="111125"/>
            </a:xfrm>
          </p:grpSpPr>
          <p:sp>
            <p:nvSpPr>
              <p:cNvPr id="36" name="Freeform 36"/>
              <p:cNvSpPr/>
              <p:nvPr/>
            </p:nvSpPr>
            <p:spPr>
              <a:xfrm>
                <a:off x="5376862" y="1658937"/>
                <a:ext cx="111125" cy="79375"/>
              </a:xfrm>
              <a:custGeom>
                <a:avLst/>
                <a:gdLst/>
                <a:ahLst/>
                <a:cxnLst/>
                <a:rect l="l" t="t" r="r" b="b"/>
                <a:pathLst>
                  <a:path w="111125" h="79375">
                    <a:moveTo>
                      <a:pt x="31750" y="79375"/>
                    </a:moveTo>
                    <a:lnTo>
                      <a:pt x="7937" y="79375"/>
                    </a:lnTo>
                    <a:cubicBezTo>
                      <a:pt x="3554" y="79375"/>
                      <a:pt x="0" y="75821"/>
                      <a:pt x="0" y="71437"/>
                    </a:cubicBezTo>
                    <a:lnTo>
                      <a:pt x="0" y="7937"/>
                    </a:lnTo>
                    <a:cubicBezTo>
                      <a:pt x="0" y="3554"/>
                      <a:pt x="3554" y="0"/>
                      <a:pt x="7937" y="0"/>
                    </a:cubicBezTo>
                    <a:lnTo>
                      <a:pt x="103187" y="0"/>
                    </a:lnTo>
                    <a:cubicBezTo>
                      <a:pt x="107571" y="0"/>
                      <a:pt x="111125" y="3554"/>
                      <a:pt x="111125" y="7937"/>
                    </a:cubicBezTo>
                    <a:lnTo>
                      <a:pt x="111125" y="31750"/>
                    </a:lnTo>
                  </a:path>
                </a:pathLst>
              </a:custGeom>
              <a:noFill/>
              <a:ln w="15875">
                <a:solidFill>
                  <a:srgbClr val="FFFFFF"/>
                </a:solidFill>
              </a:ln>
            </p:spPr>
          </p:sp>
          <p:sp>
            <p:nvSpPr>
              <p:cNvPr id="37" name="Freeform 37"/>
              <p:cNvSpPr/>
              <p:nvPr/>
            </p:nvSpPr>
            <p:spPr>
              <a:xfrm>
                <a:off x="5408612" y="1690687"/>
                <a:ext cx="111125" cy="79375"/>
              </a:xfrm>
              <a:custGeom>
                <a:avLst/>
                <a:gdLst/>
                <a:ahLst/>
                <a:cxnLst/>
                <a:rect l="l" t="t" r="r" b="b"/>
                <a:pathLst>
                  <a:path w="111125" h="79375">
                    <a:moveTo>
                      <a:pt x="0" y="7937"/>
                    </a:moveTo>
                    <a:cubicBezTo>
                      <a:pt x="0" y="3554"/>
                      <a:pt x="3554" y="0"/>
                      <a:pt x="7937" y="0"/>
                    </a:cubicBezTo>
                    <a:lnTo>
                      <a:pt x="103187" y="0"/>
                    </a:lnTo>
                    <a:cubicBezTo>
                      <a:pt x="107571" y="0"/>
                      <a:pt x="111125" y="3554"/>
                      <a:pt x="111125" y="7937"/>
                    </a:cubicBezTo>
                    <a:lnTo>
                      <a:pt x="111125" y="71437"/>
                    </a:lnTo>
                    <a:cubicBezTo>
                      <a:pt x="111125" y="75821"/>
                      <a:pt x="107571" y="79375"/>
                      <a:pt x="103187" y="79375"/>
                    </a:cubicBezTo>
                    <a:lnTo>
                      <a:pt x="7937" y="79375"/>
                    </a:lnTo>
                    <a:cubicBezTo>
                      <a:pt x="3554" y="79375"/>
                      <a:pt x="0" y="75821"/>
                      <a:pt x="0" y="71437"/>
                    </a:cubicBezTo>
                    <a:lnTo>
                      <a:pt x="0" y="7937"/>
                    </a:lnTo>
                  </a:path>
                </a:pathLst>
              </a:custGeom>
              <a:noFill/>
              <a:ln w="15875">
                <a:solidFill>
                  <a:srgbClr val="FFFFFF"/>
                </a:solidFill>
              </a:ln>
            </p:spPr>
          </p:sp>
          <p:sp>
            <p:nvSpPr>
              <p:cNvPr id="38" name="Freeform 38"/>
              <p:cNvSpPr/>
              <p:nvPr/>
            </p:nvSpPr>
            <p:spPr>
              <a:xfrm>
                <a:off x="5448300" y="17145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grpSp>
        <p:sp>
          <p:nvSpPr>
            <p:cNvPr id="40" name="TextBox 40"/>
            <p:cNvSpPr txBox="1"/>
            <p:nvPr/>
          </p:nvSpPr>
          <p:spPr>
            <a:xfrm>
              <a:off x="5595938" y="1660922"/>
              <a:ext cx="768782"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累计销售成本</a:t>
              </a:r>
            </a:p>
          </p:txBody>
        </p:sp>
        <p:sp>
          <p:nvSpPr>
            <p:cNvPr id="41" name="TextBox 41"/>
            <p:cNvSpPr txBox="1"/>
            <p:nvPr/>
          </p:nvSpPr>
          <p:spPr>
            <a:xfrm>
              <a:off x="5438055" y="2283142"/>
              <a:ext cx="1220639" cy="557403"/>
            </a:xfrm>
            <a:prstGeom prst="rect">
              <a:avLst/>
            </a:prstGeom>
            <a:noFill/>
            <a:ln>
              <a:noFill/>
            </a:ln>
          </p:spPr>
          <p:txBody>
            <a:bodyPr wrap="none" lIns="0" tIns="0" rIns="0" bIns="0" anchor="t" anchorCtr="0">
              <a:spAutoFit/>
            </a:bodyPr>
            <a:lstStyle/>
            <a:p>
              <a:pPr algn="ctr"/>
              <a:r>
                <a:rPr lang="zh-CN" sz="2850" b="1" dirty="0">
                  <a:solidFill>
                    <a:srgbClr val="E94B2B"/>
                  </a:solidFill>
                  <a:latin typeface="+mn-lt"/>
                  <a:ea typeface="+mn-ea"/>
                  <a:cs typeface="+mn-cs"/>
                </a:rPr>
                <a:t>3960</a:t>
              </a:r>
              <a:r>
                <a:rPr lang="zh-CN" sz="980" b="1" dirty="0">
                  <a:solidFill>
                    <a:srgbClr val="684F4A"/>
                  </a:solidFill>
                  <a:latin typeface="+mn-lt"/>
                  <a:ea typeface="+mn-ea"/>
                  <a:cs typeface="+mn-cs"/>
                </a:rPr>
                <a:t xml:space="preserve"> 万元</a:t>
              </a:r>
            </a:p>
          </p:txBody>
        </p:sp>
        <p:sp>
          <p:nvSpPr>
            <p:cNvPr id="42" name="TextBox 42"/>
            <p:cNvSpPr txBox="1"/>
            <p:nvPr/>
          </p:nvSpPr>
          <p:spPr>
            <a:xfrm>
              <a:off x="5531316" y="2840593"/>
              <a:ext cx="1034118"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较去年同期上升8%​</a:t>
              </a:r>
            </a:p>
          </p:txBody>
        </p:sp>
        <p:sp>
          <p:nvSpPr>
            <p:cNvPr id="43" name="Line 43"/>
            <p:cNvSpPr/>
            <p:nvPr/>
          </p:nvSpPr>
          <p:spPr>
            <a:xfrm>
              <a:off x="2762250" y="1524000"/>
              <a:ext cx="9525" cy="1524000"/>
            </a:xfrm>
            <a:custGeom>
              <a:avLst/>
              <a:gdLst/>
              <a:ahLst/>
              <a:cxnLst/>
              <a:rect l="l" t="t" r="r" b="b"/>
              <a:pathLst>
                <a:path w="9525" h="1524000">
                  <a:moveTo>
                    <a:pt x="0" y="0"/>
                  </a:moveTo>
                  <a:lnTo>
                    <a:pt x="0" y="1524000"/>
                  </a:lnTo>
                </a:path>
              </a:pathLst>
            </a:custGeom>
            <a:noFill/>
            <a:ln w="14288">
              <a:solidFill>
                <a:srgbClr val="E4EEFB"/>
              </a:solidFill>
            </a:ln>
          </p:spPr>
        </p:sp>
        <p:sp>
          <p:nvSpPr>
            <p:cNvPr id="44" name="Line 44"/>
            <p:cNvSpPr/>
            <p:nvPr/>
          </p:nvSpPr>
          <p:spPr>
            <a:xfrm>
              <a:off x="4953000" y="1524000"/>
              <a:ext cx="9525" cy="1524000"/>
            </a:xfrm>
            <a:custGeom>
              <a:avLst/>
              <a:gdLst/>
              <a:ahLst/>
              <a:cxnLst/>
              <a:rect l="l" t="t" r="r" b="b"/>
              <a:pathLst>
                <a:path w="9525" h="1524000">
                  <a:moveTo>
                    <a:pt x="0" y="0"/>
                  </a:moveTo>
                  <a:lnTo>
                    <a:pt x="0" y="1524000"/>
                  </a:lnTo>
                </a:path>
              </a:pathLst>
            </a:custGeom>
            <a:noFill/>
            <a:ln w="14288">
              <a:solidFill>
                <a:srgbClr val="E4EEFB"/>
              </a:solidFill>
            </a:ln>
          </p:spPr>
        </p:sp>
      </p:grpSp>
      <p:grpSp>
        <p:nvGrpSpPr>
          <p:cNvPr id="81" name="m-market-customer"/>
          <p:cNvGrpSpPr/>
          <p:nvPr/>
        </p:nvGrpSpPr>
        <p:grpSpPr>
          <a:xfrm>
            <a:off x="7391400" y="838200"/>
            <a:ext cx="4229100" cy="2781300"/>
            <a:chOff x="7391400" y="838200"/>
            <a:chExt cx="4229100" cy="2781300"/>
          </a:xfrm>
        </p:grpSpPr>
        <p:sp>
          <p:nvSpPr>
            <p:cNvPr id="46" name="Rectangle 46"/>
            <p:cNvSpPr/>
            <p:nvPr/>
          </p:nvSpPr>
          <p:spPr>
            <a:xfrm>
              <a:off x="7391400" y="838200"/>
              <a:ext cx="4229100" cy="2781300"/>
            </a:xfrm>
            <a:prstGeom prst="rect">
              <a:avLst/>
            </a:prstGeom>
            <a:solidFill>
              <a:srgbClr val="FFFFFF"/>
            </a:solidFill>
            <a:ln w="11430">
              <a:solidFill>
                <a:srgbClr val="C9DDF5"/>
              </a:solidFill>
            </a:ln>
          </p:spPr>
        </p:sp>
        <p:sp>
          <p:nvSpPr>
            <p:cNvPr id="47" name="Rectangle 47"/>
            <p:cNvSpPr/>
            <p:nvPr/>
          </p:nvSpPr>
          <p:spPr>
            <a:xfrm>
              <a:off x="7505700" y="952500"/>
              <a:ext cx="2381250" cy="285750"/>
            </a:xfrm>
            <a:prstGeom prst="roundRect">
              <a:avLst>
                <a:gd name="adj" fmla="val 13333"/>
              </a:avLst>
            </a:prstGeom>
            <a:gradFill>
              <a:gsLst>
                <a:gs pos="0">
                  <a:srgbClr val="FF5B3A"/>
                </a:gs>
                <a:gs pos="100000">
                  <a:srgbClr val="C83B1E"/>
                </a:gs>
              </a:gsLst>
              <a:lin ang="0" scaled="1"/>
            </a:gradFill>
            <a:ln>
              <a:noFill/>
            </a:ln>
          </p:spPr>
        </p:sp>
        <p:grpSp>
          <p:nvGrpSpPr>
            <p:cNvPr id="50" name="Group 50"/>
            <p:cNvGrpSpPr/>
            <p:nvPr/>
          </p:nvGrpSpPr>
          <p:grpSpPr>
            <a:xfrm>
              <a:off x="7641431" y="1031081"/>
              <a:ext cx="128587" cy="128587"/>
              <a:chOff x="7641431" y="1031081"/>
              <a:chExt cx="128587" cy="128587"/>
            </a:xfrm>
          </p:grpSpPr>
          <p:sp>
            <p:nvSpPr>
              <p:cNvPr id="48" name="Freeform 48"/>
              <p:cNvSpPr/>
              <p:nvPr/>
            </p:nvSpPr>
            <p:spPr>
              <a:xfrm>
                <a:off x="7641431" y="1031081"/>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FFFFFF"/>
                </a:solidFill>
              </a:ln>
            </p:spPr>
          </p:sp>
          <p:sp>
            <p:nvSpPr>
              <p:cNvPr id="49" name="Freeform 49"/>
              <p:cNvSpPr/>
              <p:nvPr/>
            </p:nvSpPr>
            <p:spPr>
              <a:xfrm>
                <a:off x="7727156" y="1116806"/>
                <a:ext cx="42862" cy="42862"/>
              </a:xfrm>
              <a:custGeom>
                <a:avLst/>
                <a:gdLst/>
                <a:ahLst/>
                <a:cxnLst/>
                <a:rect l="l" t="t" r="r" b="b"/>
                <a:pathLst>
                  <a:path w="42862" h="42862">
                    <a:moveTo>
                      <a:pt x="42862" y="42862"/>
                    </a:moveTo>
                    <a:lnTo>
                      <a:pt x="0" y="0"/>
                    </a:lnTo>
                  </a:path>
                </a:pathLst>
              </a:custGeom>
              <a:noFill/>
              <a:ln w="14288">
                <a:solidFill>
                  <a:srgbClr val="FFFFFF"/>
                </a:solidFill>
              </a:ln>
            </p:spPr>
          </p:sp>
        </p:grpSp>
        <p:sp>
          <p:nvSpPr>
            <p:cNvPr id="51" name="TextBox 51"/>
            <p:cNvSpPr txBox="1"/>
            <p:nvPr/>
          </p:nvSpPr>
          <p:spPr>
            <a:xfrm>
              <a:off x="7861935" y="1031081"/>
              <a:ext cx="121762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核心市场客户特征</a:t>
              </a:r>
            </a:p>
          </p:txBody>
        </p:sp>
        <p:sp>
          <p:nvSpPr>
            <p:cNvPr id="52" name="TextBox 52"/>
            <p:cNvSpPr txBox="1"/>
            <p:nvPr/>
          </p:nvSpPr>
          <p:spPr>
            <a:xfrm>
              <a:off x="10997755" y="1055370"/>
              <a:ext cx="494157" cy="176212"/>
            </a:xfrm>
            <a:prstGeom prst="rect">
              <a:avLst/>
            </a:prstGeom>
            <a:noFill/>
            <a:ln>
              <a:noFill/>
            </a:ln>
          </p:spPr>
          <p:txBody>
            <a:bodyPr wrap="none" lIns="0" tIns="0" rIns="0" bIns="0" anchor="t" anchorCtr="0">
              <a:spAutoFit/>
            </a:bodyPr>
            <a:lstStyle/>
            <a:p>
              <a:pPr algn="r"/>
              <a:r>
                <a:rPr lang="zh-CN" sz="900" b="1" dirty="0">
                  <a:solidFill>
                    <a:srgbClr val="E94B2B"/>
                  </a:solidFill>
                  <a:latin typeface="+mn-lt"/>
                  <a:ea typeface="+mn-ea"/>
                  <a:cs typeface="+mn-cs"/>
                </a:rPr>
                <a:t>用户分布</a:t>
              </a:r>
            </a:p>
          </p:txBody>
        </p:sp>
        <p:sp>
          <p:nvSpPr>
            <p:cNvPr id="53" name="Rectangle 53"/>
            <p:cNvSpPr/>
            <p:nvPr/>
          </p:nvSpPr>
          <p:spPr>
            <a:xfrm>
              <a:off x="7543800" y="1571625"/>
              <a:ext cx="1619250" cy="285750"/>
            </a:xfrm>
            <a:prstGeom prst="roundRect">
              <a:avLst>
                <a:gd name="adj" fmla="val 50000"/>
              </a:avLst>
            </a:prstGeom>
            <a:gradFill>
              <a:gsLst>
                <a:gs pos="0">
                  <a:srgbClr val="FF5B3A"/>
                </a:gs>
                <a:gs pos="100000">
                  <a:srgbClr val="C83B1E"/>
                </a:gs>
              </a:gsLst>
              <a:lin ang="0" scaled="1"/>
            </a:gradFill>
            <a:ln>
              <a:noFill/>
            </a:ln>
          </p:spPr>
        </p:sp>
        <p:grpSp>
          <p:nvGrpSpPr>
            <p:cNvPr id="58" name="Group 58"/>
            <p:cNvGrpSpPr/>
            <p:nvPr/>
          </p:nvGrpSpPr>
          <p:grpSpPr>
            <a:xfrm>
              <a:off x="7681912" y="1643062"/>
              <a:ext cx="142875" cy="142875"/>
              <a:chOff x="7681912" y="1643062"/>
              <a:chExt cx="142875" cy="142875"/>
            </a:xfrm>
          </p:grpSpPr>
          <p:sp>
            <p:nvSpPr>
              <p:cNvPr id="54" name="Freeform 54"/>
              <p:cNvSpPr/>
              <p:nvPr/>
            </p:nvSpPr>
            <p:spPr>
              <a:xfrm>
                <a:off x="7697787" y="16430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55" name="Freeform 55"/>
              <p:cNvSpPr/>
              <p:nvPr/>
            </p:nvSpPr>
            <p:spPr>
              <a:xfrm>
                <a:off x="7681912" y="17383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56" name="Freeform 56"/>
              <p:cNvSpPr/>
              <p:nvPr/>
            </p:nvSpPr>
            <p:spPr>
              <a:xfrm>
                <a:off x="7785100" y="16440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57" name="Freeform 57"/>
              <p:cNvSpPr/>
              <p:nvPr/>
            </p:nvSpPr>
            <p:spPr>
              <a:xfrm>
                <a:off x="7800975" y="17395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59" name="TextBox 59"/>
            <p:cNvSpPr txBox="1"/>
            <p:nvPr/>
          </p:nvSpPr>
          <p:spPr>
            <a:xfrm>
              <a:off x="7900988" y="1660922"/>
              <a:ext cx="768782"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目标客户总量</a:t>
              </a:r>
            </a:p>
          </p:txBody>
        </p:sp>
        <p:sp>
          <p:nvSpPr>
            <p:cNvPr id="60" name="TextBox 60"/>
            <p:cNvSpPr txBox="1"/>
            <p:nvPr/>
          </p:nvSpPr>
          <p:spPr>
            <a:xfrm>
              <a:off x="7529322" y="2187892"/>
              <a:ext cx="1220639" cy="557403"/>
            </a:xfrm>
            <a:prstGeom prst="rect">
              <a:avLst/>
            </a:prstGeom>
            <a:noFill/>
            <a:ln>
              <a:noFill/>
            </a:ln>
          </p:spPr>
          <p:txBody>
            <a:bodyPr wrap="none" lIns="0" tIns="0" rIns="0" bIns="0" anchor="t" anchorCtr="0">
              <a:spAutoFit/>
            </a:bodyPr>
            <a:lstStyle/>
            <a:p>
              <a:pPr algn="l"/>
              <a:r>
                <a:rPr lang="zh-CN" sz="2850" b="1" dirty="0">
                  <a:solidFill>
                    <a:srgbClr val="E94B2B"/>
                  </a:solidFill>
                  <a:latin typeface="+mn-lt"/>
                  <a:ea typeface="+mn-ea"/>
                  <a:cs typeface="+mn-cs"/>
                </a:rPr>
                <a:t>3845</a:t>
              </a:r>
              <a:r>
                <a:rPr lang="zh-CN" sz="980" b="1" dirty="0">
                  <a:solidFill>
                    <a:srgbClr val="684F4A"/>
                  </a:solidFill>
                  <a:latin typeface="+mn-lt"/>
                  <a:ea typeface="+mn-ea"/>
                  <a:cs typeface="+mn-cs"/>
                </a:rPr>
                <a:t xml:space="preserve"> 万人</a:t>
              </a:r>
            </a:p>
          </p:txBody>
        </p:sp>
        <p:sp>
          <p:nvSpPr>
            <p:cNvPr id="61" name="TextBox 61"/>
            <p:cNvSpPr txBox="1"/>
            <p:nvPr/>
          </p:nvSpPr>
          <p:spPr>
            <a:xfrm>
              <a:off x="7539038" y="2768441"/>
              <a:ext cx="1394899" cy="161925"/>
            </a:xfrm>
            <a:prstGeom prst="rect">
              <a:avLst/>
            </a:prstGeom>
            <a:noFill/>
            <a:ln>
              <a:noFill/>
            </a:ln>
          </p:spPr>
          <p:txBody>
            <a:bodyPr wrap="none" lIns="0" tIns="0" rIns="0" bIns="0" anchor="t" anchorCtr="0">
              <a:spAutoFit/>
            </a:bodyPr>
            <a:lstStyle/>
            <a:p>
              <a:pPr algn="l"/>
              <a:r>
                <a:rPr lang="zh-CN" sz="820" dirty="0">
                  <a:solidFill>
                    <a:srgbClr val="684F4A"/>
                  </a:solidFill>
                  <a:latin typeface="+mn-lt"/>
                  <a:ea typeface="+mn-ea"/>
                  <a:cs typeface="+mn-cs"/>
                </a:rPr>
                <a:t>客户消费偏好化妆品、服装​</a:t>
              </a:r>
            </a:p>
          </p:txBody>
        </p:sp>
        <p:sp>
          <p:nvSpPr>
            <p:cNvPr id="62" name="Polygon 62"/>
            <p:cNvSpPr/>
            <p:nvPr/>
          </p:nvSpPr>
          <p:spPr>
            <a:xfrm>
              <a:off x="9588818" y="1876425"/>
              <a:ext cx="1358265" cy="1292542"/>
            </a:xfrm>
            <a:custGeom>
              <a:avLst/>
              <a:gdLst/>
              <a:ahLst/>
              <a:cxnLst/>
              <a:rect l="l" t="t" r="r" b="b"/>
              <a:pathLst>
                <a:path w="1358265" h="1292542">
                  <a:moveTo>
                    <a:pt x="679132" y="0"/>
                  </a:moveTo>
                  <a:lnTo>
                    <a:pt x="1358265" y="493395"/>
                  </a:lnTo>
                  <a:lnTo>
                    <a:pt x="1099185" y="1292542"/>
                  </a:lnTo>
                  <a:lnTo>
                    <a:pt x="259080" y="1292542"/>
                  </a:lnTo>
                  <a:lnTo>
                    <a:pt x="0" y="493395"/>
                  </a:lnTo>
                  <a:close/>
                </a:path>
              </a:pathLst>
            </a:custGeom>
            <a:noFill/>
            <a:ln w="9525">
              <a:solidFill>
                <a:srgbClr val="C9DDF5"/>
              </a:solidFill>
            </a:ln>
          </p:spPr>
        </p:sp>
        <p:sp>
          <p:nvSpPr>
            <p:cNvPr id="63" name="Polygon 63"/>
            <p:cNvSpPr/>
            <p:nvPr/>
          </p:nvSpPr>
          <p:spPr>
            <a:xfrm>
              <a:off x="9942195" y="2114550"/>
              <a:ext cx="651510" cy="766762"/>
            </a:xfrm>
            <a:custGeom>
              <a:avLst/>
              <a:gdLst/>
              <a:ahLst/>
              <a:cxnLst/>
              <a:rect l="l" t="t" r="r" b="b"/>
              <a:pathLst>
                <a:path w="651510" h="766762">
                  <a:moveTo>
                    <a:pt x="325755" y="0"/>
                  </a:moveTo>
                  <a:lnTo>
                    <a:pt x="651510" y="328612"/>
                  </a:lnTo>
                  <a:lnTo>
                    <a:pt x="491490" y="766762"/>
                  </a:lnTo>
                  <a:lnTo>
                    <a:pt x="160020" y="766762"/>
                  </a:lnTo>
                  <a:lnTo>
                    <a:pt x="0" y="328612"/>
                  </a:lnTo>
                  <a:close/>
                </a:path>
              </a:pathLst>
            </a:custGeom>
            <a:noFill/>
            <a:ln w="9525">
              <a:solidFill>
                <a:srgbClr val="C9DDF5"/>
              </a:solidFill>
            </a:ln>
          </p:spPr>
        </p:sp>
        <p:sp>
          <p:nvSpPr>
            <p:cNvPr id="64" name="Polygon 64"/>
            <p:cNvSpPr/>
            <p:nvPr/>
          </p:nvSpPr>
          <p:spPr>
            <a:xfrm>
              <a:off x="10041255" y="2352675"/>
              <a:ext cx="453390" cy="430530"/>
            </a:xfrm>
            <a:custGeom>
              <a:avLst/>
              <a:gdLst/>
              <a:ahLst/>
              <a:cxnLst/>
              <a:rect l="l" t="t" r="r" b="b"/>
              <a:pathLst>
                <a:path w="453390" h="430530">
                  <a:moveTo>
                    <a:pt x="226695" y="0"/>
                  </a:moveTo>
                  <a:lnTo>
                    <a:pt x="453390" y="164783"/>
                  </a:lnTo>
                  <a:lnTo>
                    <a:pt x="366712" y="430530"/>
                  </a:lnTo>
                  <a:lnTo>
                    <a:pt x="86677" y="430530"/>
                  </a:lnTo>
                  <a:lnTo>
                    <a:pt x="0" y="164783"/>
                  </a:lnTo>
                  <a:close/>
                </a:path>
              </a:pathLst>
            </a:custGeom>
            <a:noFill/>
            <a:ln w="9525">
              <a:solidFill>
                <a:srgbClr val="C9DDF5"/>
              </a:solidFill>
            </a:ln>
          </p:spPr>
        </p:sp>
        <p:sp>
          <p:nvSpPr>
            <p:cNvPr id="65" name="Line 65"/>
            <p:cNvSpPr/>
            <p:nvPr/>
          </p:nvSpPr>
          <p:spPr>
            <a:xfrm>
              <a:off x="10267950" y="1876425"/>
              <a:ext cx="9525" cy="714375"/>
            </a:xfrm>
            <a:custGeom>
              <a:avLst/>
              <a:gdLst/>
              <a:ahLst/>
              <a:cxnLst/>
              <a:rect l="l" t="t" r="r" b="b"/>
              <a:pathLst>
                <a:path w="9525" h="714375">
                  <a:moveTo>
                    <a:pt x="0" y="714375"/>
                  </a:moveTo>
                  <a:lnTo>
                    <a:pt x="0" y="0"/>
                  </a:lnTo>
                </a:path>
              </a:pathLst>
            </a:custGeom>
            <a:noFill/>
            <a:ln w="9525">
              <a:solidFill>
                <a:srgbClr val="E4EEFB"/>
              </a:solidFill>
            </a:ln>
          </p:spPr>
        </p:sp>
        <p:sp>
          <p:nvSpPr>
            <p:cNvPr id="66" name="Line 66"/>
            <p:cNvSpPr/>
            <p:nvPr/>
          </p:nvSpPr>
          <p:spPr>
            <a:xfrm>
              <a:off x="10267950" y="2369820"/>
              <a:ext cx="679132" cy="220980"/>
            </a:xfrm>
            <a:custGeom>
              <a:avLst/>
              <a:gdLst/>
              <a:ahLst/>
              <a:cxnLst/>
              <a:rect l="l" t="t" r="r" b="b"/>
              <a:pathLst>
                <a:path w="679132" h="220980">
                  <a:moveTo>
                    <a:pt x="0" y="220980"/>
                  </a:moveTo>
                  <a:lnTo>
                    <a:pt x="679132" y="0"/>
                  </a:lnTo>
                </a:path>
              </a:pathLst>
            </a:custGeom>
            <a:noFill/>
            <a:ln w="9525">
              <a:solidFill>
                <a:srgbClr val="E4EEFB"/>
              </a:solidFill>
            </a:ln>
          </p:spPr>
        </p:sp>
        <p:sp>
          <p:nvSpPr>
            <p:cNvPr id="67" name="Line 67"/>
            <p:cNvSpPr/>
            <p:nvPr/>
          </p:nvSpPr>
          <p:spPr>
            <a:xfrm>
              <a:off x="10267950" y="2590800"/>
              <a:ext cx="420052" cy="578167"/>
            </a:xfrm>
            <a:custGeom>
              <a:avLst/>
              <a:gdLst/>
              <a:ahLst/>
              <a:cxnLst/>
              <a:rect l="l" t="t" r="r" b="b"/>
              <a:pathLst>
                <a:path w="420052" h="578167">
                  <a:moveTo>
                    <a:pt x="0" y="0"/>
                  </a:moveTo>
                  <a:lnTo>
                    <a:pt x="420052" y="578167"/>
                  </a:lnTo>
                </a:path>
              </a:pathLst>
            </a:custGeom>
            <a:noFill/>
            <a:ln w="9525">
              <a:solidFill>
                <a:srgbClr val="E4EEFB"/>
              </a:solidFill>
            </a:ln>
          </p:spPr>
        </p:sp>
        <p:sp>
          <p:nvSpPr>
            <p:cNvPr id="68" name="Line 68"/>
            <p:cNvSpPr/>
            <p:nvPr/>
          </p:nvSpPr>
          <p:spPr>
            <a:xfrm>
              <a:off x="9847898" y="2590800"/>
              <a:ext cx="420052" cy="578167"/>
            </a:xfrm>
            <a:custGeom>
              <a:avLst/>
              <a:gdLst/>
              <a:ahLst/>
              <a:cxnLst/>
              <a:rect l="l" t="t" r="r" b="b"/>
              <a:pathLst>
                <a:path w="420052" h="578167">
                  <a:moveTo>
                    <a:pt x="420052" y="0"/>
                  </a:moveTo>
                  <a:lnTo>
                    <a:pt x="0" y="578167"/>
                  </a:lnTo>
                </a:path>
              </a:pathLst>
            </a:custGeom>
            <a:noFill/>
            <a:ln w="9525">
              <a:solidFill>
                <a:srgbClr val="E4EEFB"/>
              </a:solidFill>
            </a:ln>
          </p:spPr>
        </p:sp>
        <p:sp>
          <p:nvSpPr>
            <p:cNvPr id="69" name="Line 69"/>
            <p:cNvSpPr/>
            <p:nvPr/>
          </p:nvSpPr>
          <p:spPr>
            <a:xfrm>
              <a:off x="9588818" y="2369820"/>
              <a:ext cx="679132" cy="220980"/>
            </a:xfrm>
            <a:custGeom>
              <a:avLst/>
              <a:gdLst/>
              <a:ahLst/>
              <a:cxnLst/>
              <a:rect l="l" t="t" r="r" b="b"/>
              <a:pathLst>
                <a:path w="679132" h="220980">
                  <a:moveTo>
                    <a:pt x="679132" y="220980"/>
                  </a:moveTo>
                  <a:lnTo>
                    <a:pt x="0" y="0"/>
                  </a:lnTo>
                </a:path>
              </a:pathLst>
            </a:custGeom>
            <a:noFill/>
            <a:ln w="9525">
              <a:solidFill>
                <a:srgbClr val="E4EEFB"/>
              </a:solidFill>
            </a:ln>
          </p:spPr>
        </p:sp>
        <p:sp>
          <p:nvSpPr>
            <p:cNvPr id="70" name="Polygon 70"/>
            <p:cNvSpPr/>
            <p:nvPr/>
          </p:nvSpPr>
          <p:spPr>
            <a:xfrm>
              <a:off x="10013632" y="2019300"/>
              <a:ext cx="797243" cy="976312"/>
            </a:xfrm>
            <a:custGeom>
              <a:avLst/>
              <a:gdLst/>
              <a:ahLst/>
              <a:cxnLst/>
              <a:rect l="l" t="t" r="r" b="b"/>
              <a:pathLst>
                <a:path w="797243" h="976312">
                  <a:moveTo>
                    <a:pt x="254318" y="0"/>
                  </a:moveTo>
                  <a:lnTo>
                    <a:pt x="797243" y="394335"/>
                  </a:lnTo>
                  <a:lnTo>
                    <a:pt x="548640" y="976312"/>
                  </a:lnTo>
                  <a:lnTo>
                    <a:pt x="128588" y="744855"/>
                  </a:lnTo>
                  <a:lnTo>
                    <a:pt x="0" y="488633"/>
                  </a:lnTo>
                  <a:close/>
                </a:path>
              </a:pathLst>
            </a:custGeom>
            <a:solidFill>
              <a:srgbClr val="E94B2B">
                <a:alpha val="25000"/>
              </a:srgbClr>
            </a:solidFill>
            <a:ln w="19050">
              <a:solidFill>
                <a:srgbClr val="E94B2B"/>
              </a:solidFill>
            </a:ln>
          </p:spPr>
        </p:sp>
        <p:sp>
          <p:nvSpPr>
            <p:cNvPr id="71" name="Ellipse 71"/>
            <p:cNvSpPr/>
            <p:nvPr/>
          </p:nvSpPr>
          <p:spPr>
            <a:xfrm>
              <a:off x="10239375" y="1990725"/>
              <a:ext cx="57150" cy="57150"/>
            </a:xfrm>
            <a:prstGeom prst="ellipse">
              <a:avLst/>
            </a:prstGeom>
            <a:solidFill>
              <a:srgbClr val="C83B1E"/>
            </a:solidFill>
            <a:ln>
              <a:noFill/>
            </a:ln>
          </p:spPr>
        </p:sp>
        <p:sp>
          <p:nvSpPr>
            <p:cNvPr id="72" name="Ellipse 72"/>
            <p:cNvSpPr/>
            <p:nvPr/>
          </p:nvSpPr>
          <p:spPr>
            <a:xfrm>
              <a:off x="10782300" y="2385060"/>
              <a:ext cx="57150" cy="57150"/>
            </a:xfrm>
            <a:prstGeom prst="ellipse">
              <a:avLst/>
            </a:prstGeom>
            <a:solidFill>
              <a:srgbClr val="C83B1E"/>
            </a:solidFill>
            <a:ln>
              <a:noFill/>
            </a:ln>
          </p:spPr>
        </p:sp>
        <p:sp>
          <p:nvSpPr>
            <p:cNvPr id="73" name="Ellipse 73"/>
            <p:cNvSpPr/>
            <p:nvPr/>
          </p:nvSpPr>
          <p:spPr>
            <a:xfrm>
              <a:off x="10533698" y="2967038"/>
              <a:ext cx="57150" cy="57150"/>
            </a:xfrm>
            <a:prstGeom prst="ellipse">
              <a:avLst/>
            </a:prstGeom>
            <a:solidFill>
              <a:srgbClr val="C83B1E"/>
            </a:solidFill>
            <a:ln>
              <a:noFill/>
            </a:ln>
          </p:spPr>
        </p:sp>
        <p:sp>
          <p:nvSpPr>
            <p:cNvPr id="74" name="Ellipse 74"/>
            <p:cNvSpPr/>
            <p:nvPr/>
          </p:nvSpPr>
          <p:spPr>
            <a:xfrm>
              <a:off x="10113645" y="2735580"/>
              <a:ext cx="57150" cy="57150"/>
            </a:xfrm>
            <a:prstGeom prst="ellipse">
              <a:avLst/>
            </a:prstGeom>
            <a:solidFill>
              <a:srgbClr val="C83B1E"/>
            </a:solidFill>
            <a:ln>
              <a:noFill/>
            </a:ln>
          </p:spPr>
        </p:sp>
        <p:sp>
          <p:nvSpPr>
            <p:cNvPr id="75" name="Ellipse 75"/>
            <p:cNvSpPr/>
            <p:nvPr/>
          </p:nvSpPr>
          <p:spPr>
            <a:xfrm>
              <a:off x="9985058" y="2479358"/>
              <a:ext cx="57150" cy="57150"/>
            </a:xfrm>
            <a:prstGeom prst="ellipse">
              <a:avLst/>
            </a:prstGeom>
            <a:solidFill>
              <a:srgbClr val="C83B1E"/>
            </a:solidFill>
            <a:ln>
              <a:noFill/>
            </a:ln>
          </p:spPr>
        </p:sp>
        <p:sp>
          <p:nvSpPr>
            <p:cNvPr id="76" name="TextBox 76"/>
            <p:cNvSpPr txBox="1"/>
            <p:nvPr/>
          </p:nvSpPr>
          <p:spPr>
            <a:xfrm>
              <a:off x="10036622" y="1717834"/>
              <a:ext cx="462656"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化妆品 32​</a:t>
              </a:r>
            </a:p>
          </p:txBody>
        </p:sp>
        <p:sp>
          <p:nvSpPr>
            <p:cNvPr id="77" name="TextBox 77"/>
            <p:cNvSpPr txBox="1"/>
            <p:nvPr/>
          </p:nvSpPr>
          <p:spPr>
            <a:xfrm>
              <a:off x="11006138" y="2270284"/>
              <a:ext cx="554198" cy="133350"/>
            </a:xfrm>
            <a:prstGeom prst="rect">
              <a:avLst/>
            </a:prstGeom>
            <a:noFill/>
            <a:ln>
              <a:noFill/>
            </a:ln>
          </p:spPr>
          <p:txBody>
            <a:bodyPr wrap="none" lIns="0" tIns="0" rIns="0" bIns="0" anchor="t" anchorCtr="0">
              <a:spAutoFit/>
            </a:bodyPr>
            <a:lstStyle/>
            <a:p>
              <a:pPr algn="l"/>
              <a:r>
                <a:rPr lang="zh-CN" sz="680" dirty="0">
                  <a:solidFill>
                    <a:srgbClr val="684F4A"/>
                  </a:solidFill>
                  <a:latin typeface="+mn-lt"/>
                  <a:ea typeface="+mn-ea"/>
                  <a:cs typeface="+mn-cs"/>
                </a:rPr>
                <a:t>服装服饰 32​</a:t>
              </a:r>
            </a:p>
          </p:txBody>
        </p:sp>
        <p:sp>
          <p:nvSpPr>
            <p:cNvPr id="78" name="TextBox 78"/>
            <p:cNvSpPr txBox="1"/>
            <p:nvPr/>
          </p:nvSpPr>
          <p:spPr>
            <a:xfrm>
              <a:off x="10739438" y="3260884"/>
              <a:ext cx="554198" cy="133350"/>
            </a:xfrm>
            <a:prstGeom prst="rect">
              <a:avLst/>
            </a:prstGeom>
            <a:noFill/>
            <a:ln>
              <a:noFill/>
            </a:ln>
          </p:spPr>
          <p:txBody>
            <a:bodyPr wrap="none" lIns="0" tIns="0" rIns="0" bIns="0" anchor="t" anchorCtr="0">
              <a:spAutoFit/>
            </a:bodyPr>
            <a:lstStyle/>
            <a:p>
              <a:pPr algn="l"/>
              <a:r>
                <a:rPr lang="zh-CN" sz="680" dirty="0">
                  <a:solidFill>
                    <a:srgbClr val="684F4A"/>
                  </a:solidFill>
                  <a:latin typeface="+mn-lt"/>
                  <a:ea typeface="+mn-ea"/>
                  <a:cs typeface="+mn-cs"/>
                </a:rPr>
                <a:t>母婴用品 28​</a:t>
              </a:r>
            </a:p>
          </p:txBody>
        </p:sp>
        <p:sp>
          <p:nvSpPr>
            <p:cNvPr id="79" name="TextBox 79"/>
            <p:cNvSpPr txBox="1"/>
            <p:nvPr/>
          </p:nvSpPr>
          <p:spPr>
            <a:xfrm>
              <a:off x="9242265" y="3260884"/>
              <a:ext cx="554198" cy="133350"/>
            </a:xfrm>
            <a:prstGeom prst="rect">
              <a:avLst/>
            </a:prstGeom>
            <a:noFill/>
            <a:ln>
              <a:noFill/>
            </a:ln>
          </p:spPr>
          <p:txBody>
            <a:bodyPr wrap="none" lIns="0" tIns="0" rIns="0" bIns="0" anchor="t" anchorCtr="0">
              <a:spAutoFit/>
            </a:bodyPr>
            <a:lstStyle/>
            <a:p>
              <a:pPr algn="r"/>
              <a:r>
                <a:rPr lang="zh-CN" sz="680" dirty="0">
                  <a:solidFill>
                    <a:srgbClr val="684F4A"/>
                  </a:solidFill>
                  <a:latin typeface="+mn-lt"/>
                  <a:ea typeface="+mn-ea"/>
                  <a:cs typeface="+mn-cs"/>
                </a:rPr>
                <a:t>数码产品 12​</a:t>
              </a:r>
            </a:p>
          </p:txBody>
        </p:sp>
        <p:sp>
          <p:nvSpPr>
            <p:cNvPr id="80" name="TextBox 80"/>
            <p:cNvSpPr txBox="1"/>
            <p:nvPr/>
          </p:nvSpPr>
          <p:spPr>
            <a:xfrm>
              <a:off x="8975565" y="2270284"/>
              <a:ext cx="554198" cy="133350"/>
            </a:xfrm>
            <a:prstGeom prst="rect">
              <a:avLst/>
            </a:prstGeom>
            <a:noFill/>
            <a:ln>
              <a:noFill/>
            </a:ln>
          </p:spPr>
          <p:txBody>
            <a:bodyPr wrap="none" lIns="0" tIns="0" rIns="0" bIns="0" anchor="t" anchorCtr="0">
              <a:spAutoFit/>
            </a:bodyPr>
            <a:lstStyle/>
            <a:p>
              <a:pPr algn="r"/>
              <a:r>
                <a:rPr lang="zh-CN" sz="680" dirty="0">
                  <a:solidFill>
                    <a:srgbClr val="684F4A"/>
                  </a:solidFill>
                  <a:latin typeface="+mn-lt"/>
                  <a:ea typeface="+mn-ea"/>
                  <a:cs typeface="+mn-cs"/>
                </a:rPr>
                <a:t>其他分类 15​</a:t>
              </a:r>
            </a:p>
          </p:txBody>
        </p:sp>
      </p:grpSp>
      <p:grpSp>
        <p:nvGrpSpPr>
          <p:cNvPr id="121" name="m-market-penetration"/>
          <p:cNvGrpSpPr/>
          <p:nvPr/>
        </p:nvGrpSpPr>
        <p:grpSpPr>
          <a:xfrm>
            <a:off x="571500" y="3810000"/>
            <a:ext cx="3467100" cy="2781300"/>
            <a:chOff x="571500" y="3810000"/>
            <a:chExt cx="3467100" cy="2781300"/>
          </a:xfrm>
        </p:grpSpPr>
        <p:sp>
          <p:nvSpPr>
            <p:cNvPr id="82" name="Rectangle 82"/>
            <p:cNvSpPr/>
            <p:nvPr/>
          </p:nvSpPr>
          <p:spPr>
            <a:xfrm>
              <a:off x="571500" y="3810000"/>
              <a:ext cx="3467100" cy="2781300"/>
            </a:xfrm>
            <a:prstGeom prst="rect">
              <a:avLst/>
            </a:prstGeom>
            <a:solidFill>
              <a:srgbClr val="FFFFFF"/>
            </a:solidFill>
            <a:ln w="11430">
              <a:solidFill>
                <a:srgbClr val="C9DDF5"/>
              </a:solidFill>
            </a:ln>
          </p:spPr>
        </p:sp>
        <p:sp>
          <p:nvSpPr>
            <p:cNvPr id="83" name="Rectangle 83"/>
            <p:cNvSpPr/>
            <p:nvPr/>
          </p:nvSpPr>
          <p:spPr>
            <a:xfrm>
              <a:off x="685800" y="3924300"/>
              <a:ext cx="3048000" cy="285750"/>
            </a:xfrm>
            <a:prstGeom prst="roundRect">
              <a:avLst>
                <a:gd name="adj" fmla="val 13333"/>
              </a:avLst>
            </a:prstGeom>
            <a:gradFill>
              <a:gsLst>
                <a:gs pos="0">
                  <a:srgbClr val="FF5B3A"/>
                </a:gs>
                <a:gs pos="100000">
                  <a:srgbClr val="C83B1E"/>
                </a:gs>
              </a:gsLst>
              <a:lin ang="0" scaled="1"/>
            </a:gradFill>
            <a:ln>
              <a:noFill/>
            </a:ln>
          </p:spPr>
        </p:sp>
        <p:grpSp>
          <p:nvGrpSpPr>
            <p:cNvPr id="87" name="Group 87"/>
            <p:cNvGrpSpPr/>
            <p:nvPr/>
          </p:nvGrpSpPr>
          <p:grpSpPr>
            <a:xfrm>
              <a:off x="862012" y="3995737"/>
              <a:ext cx="142875" cy="142875"/>
              <a:chOff x="862012" y="3995737"/>
              <a:chExt cx="142875" cy="142875"/>
            </a:xfrm>
          </p:grpSpPr>
          <p:sp>
            <p:nvSpPr>
              <p:cNvPr id="84" name="Freeform 84"/>
              <p:cNvSpPr/>
              <p:nvPr/>
            </p:nvSpPr>
            <p:spPr>
              <a:xfrm>
                <a:off x="925512" y="405923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85" name="Freeform 85"/>
              <p:cNvSpPr/>
              <p:nvPr/>
            </p:nvSpPr>
            <p:spPr>
              <a:xfrm>
                <a:off x="893762" y="402748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86" name="Freeform 86"/>
              <p:cNvSpPr/>
              <p:nvPr/>
            </p:nvSpPr>
            <p:spPr>
              <a:xfrm>
                <a:off x="862012" y="399573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88" name="TextBox 88"/>
            <p:cNvSpPr txBox="1"/>
            <p:nvPr/>
          </p:nvSpPr>
          <p:spPr>
            <a:xfrm>
              <a:off x="1804988" y="4001452"/>
              <a:ext cx="1000125"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核心市场参透率</a:t>
              </a:r>
            </a:p>
          </p:txBody>
        </p:sp>
        <p:sp>
          <p:nvSpPr>
            <p:cNvPr id="89" name="Rectangle 89"/>
            <p:cNvSpPr/>
            <p:nvPr/>
          </p:nvSpPr>
          <p:spPr>
            <a:xfrm>
              <a:off x="2400300" y="4362450"/>
              <a:ext cx="76200" cy="76200"/>
            </a:xfrm>
            <a:prstGeom prst="rect">
              <a:avLst/>
            </a:prstGeom>
            <a:solidFill>
              <a:srgbClr val="F0856F"/>
            </a:solidFill>
            <a:ln>
              <a:noFill/>
            </a:ln>
          </p:spPr>
        </p:sp>
        <p:sp>
          <p:nvSpPr>
            <p:cNvPr id="90" name="TextBox 90"/>
            <p:cNvSpPr txBox="1"/>
            <p:nvPr/>
          </p:nvSpPr>
          <p:spPr>
            <a:xfrm>
              <a:off x="2509838" y="4356259"/>
              <a:ext cx="35220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市场A​​</a:t>
              </a:r>
            </a:p>
          </p:txBody>
        </p:sp>
        <p:sp>
          <p:nvSpPr>
            <p:cNvPr id="91" name="Rectangle 91"/>
            <p:cNvSpPr/>
            <p:nvPr/>
          </p:nvSpPr>
          <p:spPr>
            <a:xfrm>
              <a:off x="3009900" y="4362450"/>
              <a:ext cx="76200" cy="76200"/>
            </a:xfrm>
            <a:prstGeom prst="rect">
              <a:avLst/>
            </a:prstGeom>
            <a:solidFill>
              <a:srgbClr val="C83B1E"/>
            </a:solidFill>
            <a:ln>
              <a:noFill/>
            </a:ln>
          </p:spPr>
        </p:sp>
        <p:sp>
          <p:nvSpPr>
            <p:cNvPr id="92" name="TextBox 92"/>
            <p:cNvSpPr txBox="1"/>
            <p:nvPr/>
          </p:nvSpPr>
          <p:spPr>
            <a:xfrm>
              <a:off x="3119438" y="4356259"/>
              <a:ext cx="35220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市场B​​</a:t>
              </a:r>
            </a:p>
          </p:txBody>
        </p:sp>
        <p:sp>
          <p:nvSpPr>
            <p:cNvPr id="93" name="Line 93"/>
            <p:cNvSpPr/>
            <p:nvPr/>
          </p:nvSpPr>
          <p:spPr>
            <a:xfrm>
              <a:off x="857250" y="4476750"/>
              <a:ext cx="3048000" cy="9525"/>
            </a:xfrm>
            <a:custGeom>
              <a:avLst/>
              <a:gdLst/>
              <a:ahLst/>
              <a:cxnLst/>
              <a:rect l="l" t="t" r="r" b="b"/>
              <a:pathLst>
                <a:path w="3048000" h="9525">
                  <a:moveTo>
                    <a:pt x="0" y="0"/>
                  </a:moveTo>
                  <a:lnTo>
                    <a:pt x="3048000" y="0"/>
                  </a:lnTo>
                </a:path>
              </a:pathLst>
            </a:custGeom>
            <a:noFill/>
            <a:ln w="9525">
              <a:solidFill>
                <a:srgbClr val="EAF2FC"/>
              </a:solidFill>
            </a:ln>
          </p:spPr>
        </p:sp>
        <p:sp>
          <p:nvSpPr>
            <p:cNvPr id="94" name="Line 94"/>
            <p:cNvSpPr/>
            <p:nvPr/>
          </p:nvSpPr>
          <p:spPr>
            <a:xfrm>
              <a:off x="857250" y="4893469"/>
              <a:ext cx="3048000" cy="9525"/>
            </a:xfrm>
            <a:custGeom>
              <a:avLst/>
              <a:gdLst/>
              <a:ahLst/>
              <a:cxnLst/>
              <a:rect l="l" t="t" r="r" b="b"/>
              <a:pathLst>
                <a:path w="3048000" h="9525">
                  <a:moveTo>
                    <a:pt x="0" y="0"/>
                  </a:moveTo>
                  <a:lnTo>
                    <a:pt x="3048000" y="0"/>
                  </a:lnTo>
                </a:path>
              </a:pathLst>
            </a:custGeom>
            <a:noFill/>
            <a:ln w="9525">
              <a:solidFill>
                <a:srgbClr val="EAF2FC"/>
              </a:solidFill>
            </a:ln>
          </p:spPr>
        </p:sp>
        <p:sp>
          <p:nvSpPr>
            <p:cNvPr id="95" name="Line 95"/>
            <p:cNvSpPr/>
            <p:nvPr/>
          </p:nvSpPr>
          <p:spPr>
            <a:xfrm>
              <a:off x="857250" y="5310188"/>
              <a:ext cx="3048000" cy="9525"/>
            </a:xfrm>
            <a:custGeom>
              <a:avLst/>
              <a:gdLst/>
              <a:ahLst/>
              <a:cxnLst/>
              <a:rect l="l" t="t" r="r" b="b"/>
              <a:pathLst>
                <a:path w="3048000" h="9525">
                  <a:moveTo>
                    <a:pt x="0" y="0"/>
                  </a:moveTo>
                  <a:lnTo>
                    <a:pt x="3048000" y="0"/>
                  </a:lnTo>
                </a:path>
              </a:pathLst>
            </a:custGeom>
            <a:noFill/>
            <a:ln w="9525">
              <a:solidFill>
                <a:srgbClr val="EAF2FC"/>
              </a:solidFill>
            </a:ln>
          </p:spPr>
        </p:sp>
        <p:sp>
          <p:nvSpPr>
            <p:cNvPr id="96" name="Line 96"/>
            <p:cNvSpPr/>
            <p:nvPr/>
          </p:nvSpPr>
          <p:spPr>
            <a:xfrm>
              <a:off x="857250" y="5726906"/>
              <a:ext cx="3048000" cy="9525"/>
            </a:xfrm>
            <a:custGeom>
              <a:avLst/>
              <a:gdLst/>
              <a:ahLst/>
              <a:cxnLst/>
              <a:rect l="l" t="t" r="r" b="b"/>
              <a:pathLst>
                <a:path w="3048000" h="9525">
                  <a:moveTo>
                    <a:pt x="0" y="0"/>
                  </a:moveTo>
                  <a:lnTo>
                    <a:pt x="3048000" y="0"/>
                  </a:lnTo>
                </a:path>
              </a:pathLst>
            </a:custGeom>
            <a:noFill/>
            <a:ln w="9525">
              <a:solidFill>
                <a:srgbClr val="EAF2FC"/>
              </a:solidFill>
            </a:ln>
          </p:spPr>
        </p:sp>
        <p:sp>
          <p:nvSpPr>
            <p:cNvPr id="97" name="TextBox 97"/>
            <p:cNvSpPr txBox="1"/>
            <p:nvPr/>
          </p:nvSpPr>
          <p:spPr>
            <a:xfrm>
              <a:off x="681114" y="4440555"/>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400</a:t>
              </a:r>
            </a:p>
          </p:txBody>
        </p:sp>
        <p:sp>
          <p:nvSpPr>
            <p:cNvPr id="98" name="TextBox 98"/>
            <p:cNvSpPr txBox="1"/>
            <p:nvPr/>
          </p:nvSpPr>
          <p:spPr>
            <a:xfrm>
              <a:off x="681114" y="4857274"/>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300</a:t>
              </a:r>
            </a:p>
          </p:txBody>
        </p:sp>
        <p:sp>
          <p:nvSpPr>
            <p:cNvPr id="99" name="TextBox 99"/>
            <p:cNvSpPr txBox="1"/>
            <p:nvPr/>
          </p:nvSpPr>
          <p:spPr>
            <a:xfrm>
              <a:off x="681114" y="5273992"/>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200</a:t>
              </a:r>
            </a:p>
          </p:txBody>
        </p:sp>
        <p:sp>
          <p:nvSpPr>
            <p:cNvPr id="100" name="TextBox 100"/>
            <p:cNvSpPr txBox="1"/>
            <p:nvPr/>
          </p:nvSpPr>
          <p:spPr>
            <a:xfrm>
              <a:off x="681114" y="5690711"/>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100</a:t>
              </a:r>
            </a:p>
          </p:txBody>
        </p:sp>
        <p:sp>
          <p:nvSpPr>
            <p:cNvPr id="101" name="TextBox 101"/>
            <p:cNvSpPr txBox="1"/>
            <p:nvPr/>
          </p:nvSpPr>
          <p:spPr>
            <a:xfrm>
              <a:off x="769963" y="6107430"/>
              <a:ext cx="53950"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0</a:t>
              </a:r>
            </a:p>
          </p:txBody>
        </p:sp>
        <p:sp>
          <p:nvSpPr>
            <p:cNvPr id="102" name="Rectangle 102"/>
            <p:cNvSpPr/>
            <p:nvPr/>
          </p:nvSpPr>
          <p:spPr>
            <a:xfrm>
              <a:off x="990600" y="5518785"/>
              <a:ext cx="114300" cy="624840"/>
            </a:xfrm>
            <a:prstGeom prst="rect">
              <a:avLst/>
            </a:prstGeom>
            <a:solidFill>
              <a:srgbClr val="F0856F"/>
            </a:solidFill>
            <a:ln>
              <a:noFill/>
            </a:ln>
          </p:spPr>
        </p:sp>
        <p:sp>
          <p:nvSpPr>
            <p:cNvPr id="103" name="Rectangle 103"/>
            <p:cNvSpPr/>
            <p:nvPr/>
          </p:nvSpPr>
          <p:spPr>
            <a:xfrm>
              <a:off x="1123950" y="5268278"/>
              <a:ext cx="114300" cy="875348"/>
            </a:xfrm>
            <a:prstGeom prst="rect">
              <a:avLst/>
            </a:prstGeom>
            <a:solidFill>
              <a:srgbClr val="C83B1E"/>
            </a:solidFill>
            <a:ln>
              <a:noFill/>
            </a:ln>
          </p:spPr>
        </p:sp>
        <p:sp>
          <p:nvSpPr>
            <p:cNvPr id="104" name="Rectangle 104"/>
            <p:cNvSpPr/>
            <p:nvPr/>
          </p:nvSpPr>
          <p:spPr>
            <a:xfrm>
              <a:off x="1495425" y="5226368"/>
              <a:ext cx="114300" cy="917258"/>
            </a:xfrm>
            <a:prstGeom prst="rect">
              <a:avLst/>
            </a:prstGeom>
            <a:solidFill>
              <a:srgbClr val="F0856F"/>
            </a:solidFill>
            <a:ln>
              <a:noFill/>
            </a:ln>
          </p:spPr>
        </p:sp>
        <p:sp>
          <p:nvSpPr>
            <p:cNvPr id="105" name="Rectangle 105"/>
            <p:cNvSpPr/>
            <p:nvPr/>
          </p:nvSpPr>
          <p:spPr>
            <a:xfrm>
              <a:off x="1628775" y="4726305"/>
              <a:ext cx="114300" cy="1417320"/>
            </a:xfrm>
            <a:prstGeom prst="rect">
              <a:avLst/>
            </a:prstGeom>
            <a:solidFill>
              <a:srgbClr val="C83B1E"/>
            </a:solidFill>
            <a:ln>
              <a:noFill/>
            </a:ln>
          </p:spPr>
        </p:sp>
        <p:sp>
          <p:nvSpPr>
            <p:cNvPr id="106" name="Rectangle 106"/>
            <p:cNvSpPr/>
            <p:nvPr/>
          </p:nvSpPr>
          <p:spPr>
            <a:xfrm>
              <a:off x="2000250" y="5434965"/>
              <a:ext cx="114300" cy="708660"/>
            </a:xfrm>
            <a:prstGeom prst="rect">
              <a:avLst/>
            </a:prstGeom>
            <a:solidFill>
              <a:srgbClr val="F0856F"/>
            </a:solidFill>
            <a:ln>
              <a:noFill/>
            </a:ln>
          </p:spPr>
        </p:sp>
        <p:sp>
          <p:nvSpPr>
            <p:cNvPr id="107" name="Rectangle 107"/>
            <p:cNvSpPr/>
            <p:nvPr/>
          </p:nvSpPr>
          <p:spPr>
            <a:xfrm>
              <a:off x="2133600" y="5122545"/>
              <a:ext cx="114300" cy="1021080"/>
            </a:xfrm>
            <a:prstGeom prst="rect">
              <a:avLst/>
            </a:prstGeom>
            <a:solidFill>
              <a:srgbClr val="C83B1E"/>
            </a:solidFill>
            <a:ln>
              <a:noFill/>
            </a:ln>
          </p:spPr>
        </p:sp>
        <p:sp>
          <p:nvSpPr>
            <p:cNvPr id="108" name="Rectangle 108"/>
            <p:cNvSpPr/>
            <p:nvPr/>
          </p:nvSpPr>
          <p:spPr>
            <a:xfrm>
              <a:off x="2514600" y="5685472"/>
              <a:ext cx="114300" cy="458152"/>
            </a:xfrm>
            <a:prstGeom prst="rect">
              <a:avLst/>
            </a:prstGeom>
            <a:solidFill>
              <a:srgbClr val="F0856F"/>
            </a:solidFill>
            <a:ln>
              <a:noFill/>
            </a:ln>
          </p:spPr>
        </p:sp>
        <p:sp>
          <p:nvSpPr>
            <p:cNvPr id="109" name="Rectangle 109"/>
            <p:cNvSpPr/>
            <p:nvPr/>
          </p:nvSpPr>
          <p:spPr>
            <a:xfrm>
              <a:off x="2647950" y="5476875"/>
              <a:ext cx="114300" cy="666750"/>
            </a:xfrm>
            <a:prstGeom prst="rect">
              <a:avLst/>
            </a:prstGeom>
            <a:solidFill>
              <a:srgbClr val="C83B1E"/>
            </a:solidFill>
            <a:ln>
              <a:noFill/>
            </a:ln>
          </p:spPr>
        </p:sp>
        <p:sp>
          <p:nvSpPr>
            <p:cNvPr id="110" name="Rectangle 110"/>
            <p:cNvSpPr/>
            <p:nvPr/>
          </p:nvSpPr>
          <p:spPr>
            <a:xfrm>
              <a:off x="3019425" y="5643562"/>
              <a:ext cx="114300" cy="500062"/>
            </a:xfrm>
            <a:prstGeom prst="rect">
              <a:avLst/>
            </a:prstGeom>
            <a:solidFill>
              <a:srgbClr val="F0856F"/>
            </a:solidFill>
            <a:ln>
              <a:noFill/>
            </a:ln>
          </p:spPr>
        </p:sp>
        <p:sp>
          <p:nvSpPr>
            <p:cNvPr id="111" name="Rectangle 111"/>
            <p:cNvSpPr/>
            <p:nvPr/>
          </p:nvSpPr>
          <p:spPr>
            <a:xfrm>
              <a:off x="3152775" y="5476875"/>
              <a:ext cx="114300" cy="666750"/>
            </a:xfrm>
            <a:prstGeom prst="rect">
              <a:avLst/>
            </a:prstGeom>
            <a:solidFill>
              <a:srgbClr val="C83B1E"/>
            </a:solidFill>
            <a:ln>
              <a:noFill/>
            </a:ln>
          </p:spPr>
        </p:sp>
        <p:sp>
          <p:nvSpPr>
            <p:cNvPr id="112" name="Rectangle 112"/>
            <p:cNvSpPr/>
            <p:nvPr/>
          </p:nvSpPr>
          <p:spPr>
            <a:xfrm>
              <a:off x="3524250" y="5852160"/>
              <a:ext cx="114300" cy="291465"/>
            </a:xfrm>
            <a:prstGeom prst="rect">
              <a:avLst/>
            </a:prstGeom>
            <a:solidFill>
              <a:srgbClr val="F0856F"/>
            </a:solidFill>
            <a:ln>
              <a:noFill/>
            </a:ln>
          </p:spPr>
        </p:sp>
        <p:sp>
          <p:nvSpPr>
            <p:cNvPr id="113" name="Rectangle 113"/>
            <p:cNvSpPr/>
            <p:nvPr/>
          </p:nvSpPr>
          <p:spPr>
            <a:xfrm>
              <a:off x="3657600" y="5726430"/>
              <a:ext cx="114300" cy="417195"/>
            </a:xfrm>
            <a:prstGeom prst="rect">
              <a:avLst/>
            </a:prstGeom>
            <a:solidFill>
              <a:srgbClr val="C83B1E"/>
            </a:solidFill>
            <a:ln>
              <a:noFill/>
            </a:ln>
          </p:spPr>
        </p:sp>
        <p:sp>
          <p:nvSpPr>
            <p:cNvPr id="114" name="Line 114"/>
            <p:cNvSpPr/>
            <p:nvPr/>
          </p:nvSpPr>
          <p:spPr>
            <a:xfrm>
              <a:off x="857250" y="6143625"/>
              <a:ext cx="3048000" cy="9525"/>
            </a:xfrm>
            <a:custGeom>
              <a:avLst/>
              <a:gdLst/>
              <a:ahLst/>
              <a:cxnLst/>
              <a:rect l="l" t="t" r="r" b="b"/>
              <a:pathLst>
                <a:path w="3048000" h="9525">
                  <a:moveTo>
                    <a:pt x="0" y="0"/>
                  </a:moveTo>
                  <a:lnTo>
                    <a:pt x="3048000" y="0"/>
                  </a:lnTo>
                </a:path>
              </a:pathLst>
            </a:custGeom>
            <a:noFill/>
            <a:ln w="11430">
              <a:solidFill>
                <a:srgbClr val="E6C1B9"/>
              </a:solidFill>
            </a:ln>
          </p:spPr>
        </p:sp>
        <p:sp>
          <p:nvSpPr>
            <p:cNvPr id="115" name="TextBox 115"/>
            <p:cNvSpPr txBox="1"/>
            <p:nvPr/>
          </p:nvSpPr>
          <p:spPr>
            <a:xfrm>
              <a:off x="1038718"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1月</a:t>
              </a:r>
            </a:p>
          </p:txBody>
        </p:sp>
        <p:sp>
          <p:nvSpPr>
            <p:cNvPr id="116" name="TextBox 116"/>
            <p:cNvSpPr txBox="1"/>
            <p:nvPr/>
          </p:nvSpPr>
          <p:spPr>
            <a:xfrm>
              <a:off x="1543543"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2月</a:t>
              </a:r>
            </a:p>
          </p:txBody>
        </p:sp>
        <p:sp>
          <p:nvSpPr>
            <p:cNvPr id="117" name="TextBox 117"/>
            <p:cNvSpPr txBox="1"/>
            <p:nvPr/>
          </p:nvSpPr>
          <p:spPr>
            <a:xfrm>
              <a:off x="2048368"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3月</a:t>
              </a:r>
            </a:p>
          </p:txBody>
        </p:sp>
        <p:sp>
          <p:nvSpPr>
            <p:cNvPr id="118" name="TextBox 118"/>
            <p:cNvSpPr txBox="1"/>
            <p:nvPr/>
          </p:nvSpPr>
          <p:spPr>
            <a:xfrm>
              <a:off x="2562718"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4月</a:t>
              </a:r>
            </a:p>
          </p:txBody>
        </p:sp>
        <p:sp>
          <p:nvSpPr>
            <p:cNvPr id="119" name="TextBox 119"/>
            <p:cNvSpPr txBox="1"/>
            <p:nvPr/>
          </p:nvSpPr>
          <p:spPr>
            <a:xfrm>
              <a:off x="3067543"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5月</a:t>
              </a:r>
            </a:p>
          </p:txBody>
        </p:sp>
        <p:sp>
          <p:nvSpPr>
            <p:cNvPr id="120" name="TextBox 120"/>
            <p:cNvSpPr txBox="1"/>
            <p:nvPr/>
          </p:nvSpPr>
          <p:spPr>
            <a:xfrm>
              <a:off x="3572368"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6月</a:t>
              </a:r>
            </a:p>
          </p:txBody>
        </p:sp>
      </p:grpSp>
      <p:grpSp>
        <p:nvGrpSpPr>
          <p:cNvPr id="159" name="m-market-trend"/>
          <p:cNvGrpSpPr/>
          <p:nvPr/>
        </p:nvGrpSpPr>
        <p:grpSpPr>
          <a:xfrm>
            <a:off x="4229100" y="3810000"/>
            <a:ext cx="3467100" cy="2781300"/>
            <a:chOff x="4229100" y="3810000"/>
            <a:chExt cx="3467100" cy="2781300"/>
          </a:xfrm>
        </p:grpSpPr>
        <p:sp>
          <p:nvSpPr>
            <p:cNvPr id="122" name="Rectangle 122"/>
            <p:cNvSpPr/>
            <p:nvPr/>
          </p:nvSpPr>
          <p:spPr>
            <a:xfrm>
              <a:off x="4229100" y="3810000"/>
              <a:ext cx="3467100" cy="2781300"/>
            </a:xfrm>
            <a:prstGeom prst="rect">
              <a:avLst/>
            </a:prstGeom>
            <a:solidFill>
              <a:srgbClr val="FFFFFF"/>
            </a:solidFill>
            <a:ln w="11430">
              <a:solidFill>
                <a:srgbClr val="C9DDF5"/>
              </a:solidFill>
            </a:ln>
          </p:spPr>
        </p:sp>
        <p:sp>
          <p:nvSpPr>
            <p:cNvPr id="123" name="Rectangle 123"/>
            <p:cNvSpPr/>
            <p:nvPr/>
          </p:nvSpPr>
          <p:spPr>
            <a:xfrm>
              <a:off x="4343400" y="3924300"/>
              <a:ext cx="3238500" cy="285750"/>
            </a:xfrm>
            <a:prstGeom prst="roundRect">
              <a:avLst>
                <a:gd name="adj" fmla="val 13333"/>
              </a:avLst>
            </a:prstGeom>
            <a:gradFill>
              <a:gsLst>
                <a:gs pos="0">
                  <a:srgbClr val="FF5B3A"/>
                </a:gs>
                <a:gs pos="100000">
                  <a:srgbClr val="C83B1E"/>
                </a:gs>
              </a:gsLst>
              <a:lin ang="0" scaled="1"/>
            </a:gradFill>
            <a:ln>
              <a:noFill/>
            </a:ln>
          </p:spPr>
        </p:sp>
        <p:grpSp>
          <p:nvGrpSpPr>
            <p:cNvPr id="126" name="Group 126"/>
            <p:cNvGrpSpPr/>
            <p:nvPr/>
          </p:nvGrpSpPr>
          <p:grpSpPr>
            <a:xfrm>
              <a:off x="4527550" y="4019550"/>
              <a:ext cx="127000" cy="112712"/>
              <a:chOff x="4527550" y="4019550"/>
              <a:chExt cx="127000" cy="112712"/>
            </a:xfrm>
          </p:grpSpPr>
          <p:sp>
            <p:nvSpPr>
              <p:cNvPr id="124" name="Freeform 124"/>
              <p:cNvSpPr/>
              <p:nvPr/>
            </p:nvSpPr>
            <p:spPr>
              <a:xfrm>
                <a:off x="4527550" y="4122737"/>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25" name="Freeform 125"/>
              <p:cNvSpPr/>
              <p:nvPr/>
            </p:nvSpPr>
            <p:spPr>
              <a:xfrm>
                <a:off x="4527550" y="4019550"/>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FFFFFF"/>
                </a:solidFill>
              </a:ln>
            </p:spPr>
          </p:sp>
        </p:grpSp>
        <p:sp>
          <p:nvSpPr>
            <p:cNvPr id="127" name="TextBox 127"/>
            <p:cNvSpPr txBox="1"/>
            <p:nvPr/>
          </p:nvSpPr>
          <p:spPr>
            <a:xfrm>
              <a:off x="5590413" y="400145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产品销量走势</a:t>
              </a:r>
            </a:p>
          </p:txBody>
        </p:sp>
        <p:sp>
          <p:nvSpPr>
            <p:cNvPr id="128" name="Line 128"/>
            <p:cNvSpPr/>
            <p:nvPr/>
          </p:nvSpPr>
          <p:spPr>
            <a:xfrm>
              <a:off x="5334000" y="4391025"/>
              <a:ext cx="133350" cy="9525"/>
            </a:xfrm>
            <a:custGeom>
              <a:avLst/>
              <a:gdLst/>
              <a:ahLst/>
              <a:cxnLst/>
              <a:rect l="l" t="t" r="r" b="b"/>
              <a:pathLst>
                <a:path w="133350" h="9525">
                  <a:moveTo>
                    <a:pt x="0" y="0"/>
                  </a:moveTo>
                  <a:lnTo>
                    <a:pt x="133350" y="0"/>
                  </a:lnTo>
                </a:path>
              </a:pathLst>
            </a:custGeom>
            <a:noFill/>
            <a:ln w="19050">
              <a:solidFill>
                <a:srgbClr val="C83B1E"/>
              </a:solidFill>
            </a:ln>
          </p:spPr>
        </p:sp>
        <p:sp>
          <p:nvSpPr>
            <p:cNvPr id="129" name="TextBox 129"/>
            <p:cNvSpPr txBox="1"/>
            <p:nvPr/>
          </p:nvSpPr>
          <p:spPr>
            <a:xfrm>
              <a:off x="5500688" y="4356259"/>
              <a:ext cx="35220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产品A​​</a:t>
              </a:r>
            </a:p>
          </p:txBody>
        </p:sp>
        <p:sp>
          <p:nvSpPr>
            <p:cNvPr id="130" name="Line 130"/>
            <p:cNvSpPr/>
            <p:nvPr/>
          </p:nvSpPr>
          <p:spPr>
            <a:xfrm>
              <a:off x="6038850" y="4391025"/>
              <a:ext cx="133350" cy="9525"/>
            </a:xfrm>
            <a:custGeom>
              <a:avLst/>
              <a:gdLst/>
              <a:ahLst/>
              <a:cxnLst/>
              <a:rect l="l" t="t" r="r" b="b"/>
              <a:pathLst>
                <a:path w="133350" h="9525">
                  <a:moveTo>
                    <a:pt x="0" y="0"/>
                  </a:moveTo>
                  <a:lnTo>
                    <a:pt x="133350" y="0"/>
                  </a:lnTo>
                </a:path>
              </a:pathLst>
            </a:custGeom>
            <a:noFill/>
            <a:ln w="19050">
              <a:solidFill>
                <a:srgbClr val="F2563B"/>
              </a:solidFill>
            </a:ln>
          </p:spPr>
        </p:sp>
        <p:sp>
          <p:nvSpPr>
            <p:cNvPr id="131" name="TextBox 131"/>
            <p:cNvSpPr txBox="1"/>
            <p:nvPr/>
          </p:nvSpPr>
          <p:spPr>
            <a:xfrm>
              <a:off x="6205538" y="4356259"/>
              <a:ext cx="35220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产品B​​</a:t>
              </a:r>
            </a:p>
          </p:txBody>
        </p:sp>
        <p:sp>
          <p:nvSpPr>
            <p:cNvPr id="132" name="Line 132"/>
            <p:cNvSpPr/>
            <p:nvPr/>
          </p:nvSpPr>
          <p:spPr>
            <a:xfrm>
              <a:off x="4524375" y="4476750"/>
              <a:ext cx="3000375" cy="9525"/>
            </a:xfrm>
            <a:custGeom>
              <a:avLst/>
              <a:gdLst/>
              <a:ahLst/>
              <a:cxnLst/>
              <a:rect l="l" t="t" r="r" b="b"/>
              <a:pathLst>
                <a:path w="3000375" h="9525">
                  <a:moveTo>
                    <a:pt x="0" y="0"/>
                  </a:moveTo>
                  <a:lnTo>
                    <a:pt x="3000375" y="0"/>
                  </a:lnTo>
                </a:path>
              </a:pathLst>
            </a:custGeom>
            <a:noFill/>
            <a:ln w="9525">
              <a:solidFill>
                <a:srgbClr val="EAF2FC"/>
              </a:solidFill>
            </a:ln>
          </p:spPr>
        </p:sp>
        <p:sp>
          <p:nvSpPr>
            <p:cNvPr id="133" name="Line 133"/>
            <p:cNvSpPr/>
            <p:nvPr/>
          </p:nvSpPr>
          <p:spPr>
            <a:xfrm>
              <a:off x="4524375" y="4893469"/>
              <a:ext cx="3000375" cy="9525"/>
            </a:xfrm>
            <a:custGeom>
              <a:avLst/>
              <a:gdLst/>
              <a:ahLst/>
              <a:cxnLst/>
              <a:rect l="l" t="t" r="r" b="b"/>
              <a:pathLst>
                <a:path w="3000375" h="9525">
                  <a:moveTo>
                    <a:pt x="0" y="0"/>
                  </a:moveTo>
                  <a:lnTo>
                    <a:pt x="3000375" y="0"/>
                  </a:lnTo>
                </a:path>
              </a:pathLst>
            </a:custGeom>
            <a:noFill/>
            <a:ln w="9525">
              <a:solidFill>
                <a:srgbClr val="EAF2FC"/>
              </a:solidFill>
            </a:ln>
          </p:spPr>
        </p:sp>
        <p:sp>
          <p:nvSpPr>
            <p:cNvPr id="134" name="Line 134"/>
            <p:cNvSpPr/>
            <p:nvPr/>
          </p:nvSpPr>
          <p:spPr>
            <a:xfrm>
              <a:off x="4524375" y="5310188"/>
              <a:ext cx="3000375" cy="9525"/>
            </a:xfrm>
            <a:custGeom>
              <a:avLst/>
              <a:gdLst/>
              <a:ahLst/>
              <a:cxnLst/>
              <a:rect l="l" t="t" r="r" b="b"/>
              <a:pathLst>
                <a:path w="3000375" h="9525">
                  <a:moveTo>
                    <a:pt x="0" y="0"/>
                  </a:moveTo>
                  <a:lnTo>
                    <a:pt x="3000375" y="0"/>
                  </a:lnTo>
                </a:path>
              </a:pathLst>
            </a:custGeom>
            <a:noFill/>
            <a:ln w="9525">
              <a:solidFill>
                <a:srgbClr val="EAF2FC"/>
              </a:solidFill>
            </a:ln>
          </p:spPr>
        </p:sp>
        <p:sp>
          <p:nvSpPr>
            <p:cNvPr id="135" name="Line 135"/>
            <p:cNvSpPr/>
            <p:nvPr/>
          </p:nvSpPr>
          <p:spPr>
            <a:xfrm>
              <a:off x="4524375" y="5726906"/>
              <a:ext cx="3000375" cy="9525"/>
            </a:xfrm>
            <a:custGeom>
              <a:avLst/>
              <a:gdLst/>
              <a:ahLst/>
              <a:cxnLst/>
              <a:rect l="l" t="t" r="r" b="b"/>
              <a:pathLst>
                <a:path w="3000375" h="9525">
                  <a:moveTo>
                    <a:pt x="0" y="0"/>
                  </a:moveTo>
                  <a:lnTo>
                    <a:pt x="3000375" y="0"/>
                  </a:lnTo>
                </a:path>
              </a:pathLst>
            </a:custGeom>
            <a:noFill/>
            <a:ln w="9525">
              <a:solidFill>
                <a:srgbClr val="EAF2FC"/>
              </a:solidFill>
            </a:ln>
          </p:spPr>
        </p:sp>
        <p:sp>
          <p:nvSpPr>
            <p:cNvPr id="136" name="TextBox 136"/>
            <p:cNvSpPr txBox="1"/>
            <p:nvPr/>
          </p:nvSpPr>
          <p:spPr>
            <a:xfrm>
              <a:off x="4338714" y="4440555"/>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800</a:t>
              </a:r>
            </a:p>
          </p:txBody>
        </p:sp>
        <p:sp>
          <p:nvSpPr>
            <p:cNvPr id="137" name="TextBox 137"/>
            <p:cNvSpPr txBox="1"/>
            <p:nvPr/>
          </p:nvSpPr>
          <p:spPr>
            <a:xfrm>
              <a:off x="4338714" y="4857274"/>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600</a:t>
              </a:r>
            </a:p>
          </p:txBody>
        </p:sp>
        <p:sp>
          <p:nvSpPr>
            <p:cNvPr id="138" name="TextBox 138"/>
            <p:cNvSpPr txBox="1"/>
            <p:nvPr/>
          </p:nvSpPr>
          <p:spPr>
            <a:xfrm>
              <a:off x="4338714" y="5273992"/>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400</a:t>
              </a:r>
            </a:p>
          </p:txBody>
        </p:sp>
        <p:sp>
          <p:nvSpPr>
            <p:cNvPr id="139" name="TextBox 139"/>
            <p:cNvSpPr txBox="1"/>
            <p:nvPr/>
          </p:nvSpPr>
          <p:spPr>
            <a:xfrm>
              <a:off x="4338714" y="5690711"/>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200</a:t>
              </a:r>
            </a:p>
          </p:txBody>
        </p:sp>
        <p:sp>
          <p:nvSpPr>
            <p:cNvPr id="140" name="TextBox 140"/>
            <p:cNvSpPr txBox="1"/>
            <p:nvPr/>
          </p:nvSpPr>
          <p:spPr>
            <a:xfrm>
              <a:off x="4427563" y="6107430"/>
              <a:ext cx="53950"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0</a:t>
              </a:r>
            </a:p>
          </p:txBody>
        </p:sp>
        <p:sp>
          <p:nvSpPr>
            <p:cNvPr id="141" name="Polyline 141"/>
            <p:cNvSpPr/>
            <p:nvPr/>
          </p:nvSpPr>
          <p:spPr>
            <a:xfrm>
              <a:off x="4524375" y="4679632"/>
              <a:ext cx="3000375" cy="609600"/>
            </a:xfrm>
            <a:custGeom>
              <a:avLst/>
              <a:gdLst/>
              <a:ahLst/>
              <a:cxnLst/>
              <a:rect l="l" t="t" r="r" b="b"/>
              <a:pathLst>
                <a:path w="3000375" h="609600">
                  <a:moveTo>
                    <a:pt x="0" y="0"/>
                  </a:moveTo>
                  <a:lnTo>
                    <a:pt x="600075" y="381000"/>
                  </a:lnTo>
                  <a:lnTo>
                    <a:pt x="1200150" y="463867"/>
                  </a:lnTo>
                  <a:lnTo>
                    <a:pt x="1800225" y="609600"/>
                  </a:lnTo>
                  <a:lnTo>
                    <a:pt x="2400300" y="588645"/>
                  </a:lnTo>
                  <a:lnTo>
                    <a:pt x="3000375" y="567690"/>
                  </a:lnTo>
                </a:path>
              </a:pathLst>
            </a:custGeom>
            <a:noFill/>
            <a:ln w="19050">
              <a:solidFill>
                <a:srgbClr val="C83B1E"/>
              </a:solidFill>
            </a:ln>
          </p:spPr>
        </p:sp>
        <p:sp>
          <p:nvSpPr>
            <p:cNvPr id="142" name="Polyline 142"/>
            <p:cNvSpPr/>
            <p:nvPr/>
          </p:nvSpPr>
          <p:spPr>
            <a:xfrm>
              <a:off x="4524375" y="5101590"/>
              <a:ext cx="3000375" cy="625792"/>
            </a:xfrm>
            <a:custGeom>
              <a:avLst/>
              <a:gdLst/>
              <a:ahLst/>
              <a:cxnLst/>
              <a:rect l="l" t="t" r="r" b="b"/>
              <a:pathLst>
                <a:path w="3000375" h="625792">
                  <a:moveTo>
                    <a:pt x="0" y="562928"/>
                  </a:moveTo>
                  <a:lnTo>
                    <a:pt x="600075" y="0"/>
                  </a:lnTo>
                  <a:lnTo>
                    <a:pt x="1200150" y="145732"/>
                  </a:lnTo>
                  <a:lnTo>
                    <a:pt x="1800225" y="625792"/>
                  </a:lnTo>
                  <a:lnTo>
                    <a:pt x="2400300" y="541972"/>
                  </a:lnTo>
                  <a:lnTo>
                    <a:pt x="3000375" y="333375"/>
                  </a:lnTo>
                </a:path>
              </a:pathLst>
            </a:custGeom>
            <a:noFill/>
            <a:ln w="19050">
              <a:solidFill>
                <a:srgbClr val="F2563B"/>
              </a:solidFill>
            </a:ln>
          </p:spPr>
        </p:sp>
        <p:sp>
          <p:nvSpPr>
            <p:cNvPr id="143" name="Ellipse 143"/>
            <p:cNvSpPr/>
            <p:nvPr/>
          </p:nvSpPr>
          <p:spPr>
            <a:xfrm>
              <a:off x="4500562" y="4655820"/>
              <a:ext cx="47625" cy="47625"/>
            </a:xfrm>
            <a:prstGeom prst="ellipse">
              <a:avLst/>
            </a:prstGeom>
            <a:solidFill>
              <a:srgbClr val="C83B1E"/>
            </a:solidFill>
            <a:ln>
              <a:noFill/>
            </a:ln>
          </p:spPr>
        </p:sp>
        <p:sp>
          <p:nvSpPr>
            <p:cNvPr id="144" name="Ellipse 144"/>
            <p:cNvSpPr/>
            <p:nvPr/>
          </p:nvSpPr>
          <p:spPr>
            <a:xfrm>
              <a:off x="5700712" y="5119688"/>
              <a:ext cx="47625" cy="47625"/>
            </a:xfrm>
            <a:prstGeom prst="ellipse">
              <a:avLst/>
            </a:prstGeom>
            <a:solidFill>
              <a:srgbClr val="C83B1E"/>
            </a:solidFill>
            <a:ln>
              <a:noFill/>
            </a:ln>
          </p:spPr>
        </p:sp>
        <p:sp>
          <p:nvSpPr>
            <p:cNvPr id="145" name="Ellipse 145"/>
            <p:cNvSpPr/>
            <p:nvPr/>
          </p:nvSpPr>
          <p:spPr>
            <a:xfrm>
              <a:off x="7500938" y="5223510"/>
              <a:ext cx="47625" cy="47625"/>
            </a:xfrm>
            <a:prstGeom prst="ellipse">
              <a:avLst/>
            </a:prstGeom>
            <a:solidFill>
              <a:srgbClr val="C83B1E"/>
            </a:solidFill>
            <a:ln>
              <a:noFill/>
            </a:ln>
          </p:spPr>
        </p:sp>
        <p:sp>
          <p:nvSpPr>
            <p:cNvPr id="146" name="Ellipse 146"/>
            <p:cNvSpPr/>
            <p:nvPr/>
          </p:nvSpPr>
          <p:spPr>
            <a:xfrm>
              <a:off x="4500562" y="5640705"/>
              <a:ext cx="47625" cy="47625"/>
            </a:xfrm>
            <a:prstGeom prst="ellipse">
              <a:avLst/>
            </a:prstGeom>
            <a:solidFill>
              <a:srgbClr val="FFFFFF"/>
            </a:solidFill>
            <a:ln w="14288">
              <a:solidFill>
                <a:srgbClr val="F2563B"/>
              </a:solidFill>
            </a:ln>
          </p:spPr>
        </p:sp>
        <p:sp>
          <p:nvSpPr>
            <p:cNvPr id="147" name="Ellipse 147"/>
            <p:cNvSpPr/>
            <p:nvPr/>
          </p:nvSpPr>
          <p:spPr>
            <a:xfrm>
              <a:off x="5100638" y="5077778"/>
              <a:ext cx="47625" cy="47625"/>
            </a:xfrm>
            <a:prstGeom prst="ellipse">
              <a:avLst/>
            </a:prstGeom>
            <a:solidFill>
              <a:srgbClr val="FFFFFF"/>
            </a:solidFill>
            <a:ln w="14288">
              <a:solidFill>
                <a:srgbClr val="F2563B"/>
              </a:solidFill>
            </a:ln>
          </p:spPr>
        </p:sp>
        <p:sp>
          <p:nvSpPr>
            <p:cNvPr id="148" name="Ellipse 148"/>
            <p:cNvSpPr/>
            <p:nvPr/>
          </p:nvSpPr>
          <p:spPr>
            <a:xfrm>
              <a:off x="6300788" y="5703570"/>
              <a:ext cx="47625" cy="47625"/>
            </a:xfrm>
            <a:prstGeom prst="ellipse">
              <a:avLst/>
            </a:prstGeom>
            <a:solidFill>
              <a:srgbClr val="FFFFFF"/>
            </a:solidFill>
            <a:ln w="14288">
              <a:solidFill>
                <a:srgbClr val="F2563B"/>
              </a:solidFill>
            </a:ln>
          </p:spPr>
        </p:sp>
        <p:sp>
          <p:nvSpPr>
            <p:cNvPr id="149" name="Rectangle 149"/>
            <p:cNvSpPr/>
            <p:nvPr/>
          </p:nvSpPr>
          <p:spPr>
            <a:xfrm>
              <a:off x="5905500" y="4810125"/>
              <a:ext cx="704850" cy="228600"/>
            </a:xfrm>
            <a:prstGeom prst="roundRect">
              <a:avLst>
                <a:gd name="adj" fmla="val 50000"/>
              </a:avLst>
            </a:prstGeom>
            <a:solidFill>
              <a:srgbClr val="E94B2B"/>
            </a:solidFill>
            <a:ln>
              <a:noFill/>
            </a:ln>
          </p:spPr>
        </p:sp>
        <p:sp>
          <p:nvSpPr>
            <p:cNvPr id="150" name="Polygon 150"/>
            <p:cNvSpPr/>
            <p:nvPr/>
          </p:nvSpPr>
          <p:spPr>
            <a:xfrm>
              <a:off x="6200775" y="5038725"/>
              <a:ext cx="114300" cy="85725"/>
            </a:xfrm>
            <a:custGeom>
              <a:avLst/>
              <a:gdLst/>
              <a:ahLst/>
              <a:cxnLst/>
              <a:rect l="l" t="t" r="r" b="b"/>
              <a:pathLst>
                <a:path w="114300" h="85725">
                  <a:moveTo>
                    <a:pt x="0" y="0"/>
                  </a:moveTo>
                  <a:lnTo>
                    <a:pt x="114300" y="0"/>
                  </a:lnTo>
                  <a:lnTo>
                    <a:pt x="57150" y="85725"/>
                  </a:lnTo>
                  <a:close/>
                </a:path>
              </a:pathLst>
            </a:custGeom>
            <a:solidFill>
              <a:srgbClr val="E94B2B"/>
            </a:solidFill>
            <a:ln>
              <a:noFill/>
            </a:ln>
          </p:spPr>
        </p:sp>
        <p:sp>
          <p:nvSpPr>
            <p:cNvPr id="151" name="TextBox 151"/>
            <p:cNvSpPr txBox="1"/>
            <p:nvPr/>
          </p:nvSpPr>
          <p:spPr>
            <a:xfrm>
              <a:off x="6023979" y="4877514"/>
              <a:ext cx="46789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410万元​</a:t>
              </a:r>
            </a:p>
          </p:txBody>
        </p:sp>
        <p:sp>
          <p:nvSpPr>
            <p:cNvPr id="152" name="Line 152"/>
            <p:cNvSpPr/>
            <p:nvPr/>
          </p:nvSpPr>
          <p:spPr>
            <a:xfrm>
              <a:off x="4524375" y="6143625"/>
              <a:ext cx="3000375" cy="9525"/>
            </a:xfrm>
            <a:custGeom>
              <a:avLst/>
              <a:gdLst/>
              <a:ahLst/>
              <a:cxnLst/>
              <a:rect l="l" t="t" r="r" b="b"/>
              <a:pathLst>
                <a:path w="3000375" h="9525">
                  <a:moveTo>
                    <a:pt x="0" y="0"/>
                  </a:moveTo>
                  <a:lnTo>
                    <a:pt x="3000375" y="0"/>
                  </a:lnTo>
                </a:path>
              </a:pathLst>
            </a:custGeom>
            <a:noFill/>
            <a:ln w="11430">
              <a:solidFill>
                <a:srgbClr val="E6C1B9"/>
              </a:solidFill>
            </a:ln>
          </p:spPr>
        </p:sp>
        <p:sp>
          <p:nvSpPr>
            <p:cNvPr id="153" name="TextBox 153"/>
            <p:cNvSpPr txBox="1"/>
            <p:nvPr/>
          </p:nvSpPr>
          <p:spPr>
            <a:xfrm>
              <a:off x="4448668"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1月</a:t>
              </a:r>
            </a:p>
          </p:txBody>
        </p:sp>
        <p:sp>
          <p:nvSpPr>
            <p:cNvPr id="154" name="TextBox 154"/>
            <p:cNvSpPr txBox="1"/>
            <p:nvPr/>
          </p:nvSpPr>
          <p:spPr>
            <a:xfrm>
              <a:off x="5048743"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2月</a:t>
              </a:r>
            </a:p>
          </p:txBody>
        </p:sp>
        <p:sp>
          <p:nvSpPr>
            <p:cNvPr id="155" name="TextBox 155"/>
            <p:cNvSpPr txBox="1"/>
            <p:nvPr/>
          </p:nvSpPr>
          <p:spPr>
            <a:xfrm>
              <a:off x="5648818"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3月</a:t>
              </a:r>
            </a:p>
          </p:txBody>
        </p:sp>
        <p:sp>
          <p:nvSpPr>
            <p:cNvPr id="156" name="TextBox 156"/>
            <p:cNvSpPr txBox="1"/>
            <p:nvPr/>
          </p:nvSpPr>
          <p:spPr>
            <a:xfrm>
              <a:off x="6248893"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4月</a:t>
              </a:r>
            </a:p>
          </p:txBody>
        </p:sp>
        <p:sp>
          <p:nvSpPr>
            <p:cNvPr id="157" name="TextBox 157"/>
            <p:cNvSpPr txBox="1"/>
            <p:nvPr/>
          </p:nvSpPr>
          <p:spPr>
            <a:xfrm>
              <a:off x="6848968"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5月</a:t>
              </a:r>
            </a:p>
          </p:txBody>
        </p:sp>
        <p:sp>
          <p:nvSpPr>
            <p:cNvPr id="158" name="TextBox 158"/>
            <p:cNvSpPr txBox="1"/>
            <p:nvPr/>
          </p:nvSpPr>
          <p:spPr>
            <a:xfrm>
              <a:off x="7449043" y="62326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6月</a:t>
              </a:r>
            </a:p>
          </p:txBody>
        </p:sp>
      </p:grpSp>
      <p:grpSp>
        <p:nvGrpSpPr>
          <p:cNvPr id="208" name="m-market-sales"/>
          <p:cNvGrpSpPr/>
          <p:nvPr/>
        </p:nvGrpSpPr>
        <p:grpSpPr>
          <a:xfrm>
            <a:off x="7886700" y="3810000"/>
            <a:ext cx="3733800" cy="2781300"/>
            <a:chOff x="7886700" y="3810000"/>
            <a:chExt cx="3733800" cy="2781300"/>
          </a:xfrm>
        </p:grpSpPr>
        <p:sp>
          <p:nvSpPr>
            <p:cNvPr id="160" name="Rectangle 160"/>
            <p:cNvSpPr/>
            <p:nvPr/>
          </p:nvSpPr>
          <p:spPr>
            <a:xfrm>
              <a:off x="7886700" y="3810000"/>
              <a:ext cx="3733800" cy="2781300"/>
            </a:xfrm>
            <a:prstGeom prst="rect">
              <a:avLst/>
            </a:prstGeom>
            <a:solidFill>
              <a:srgbClr val="FFFFFF"/>
            </a:solidFill>
            <a:ln w="11430">
              <a:solidFill>
                <a:srgbClr val="C9DDF5"/>
              </a:solidFill>
            </a:ln>
          </p:spPr>
        </p:sp>
        <p:sp>
          <p:nvSpPr>
            <p:cNvPr id="161" name="Rectangle 161"/>
            <p:cNvSpPr/>
            <p:nvPr/>
          </p:nvSpPr>
          <p:spPr>
            <a:xfrm>
              <a:off x="8001000" y="3924300"/>
              <a:ext cx="3505200" cy="285750"/>
            </a:xfrm>
            <a:prstGeom prst="roundRect">
              <a:avLst>
                <a:gd name="adj" fmla="val 13333"/>
              </a:avLst>
            </a:prstGeom>
            <a:gradFill>
              <a:gsLst>
                <a:gs pos="0">
                  <a:srgbClr val="FF5B3A"/>
                </a:gs>
                <a:gs pos="100000">
                  <a:srgbClr val="C83B1E"/>
                </a:gs>
              </a:gsLst>
              <a:lin ang="0" scaled="1"/>
            </a:gradFill>
            <a:ln>
              <a:noFill/>
            </a:ln>
          </p:spPr>
        </p:sp>
        <p:grpSp>
          <p:nvGrpSpPr>
            <p:cNvPr id="166" name="Group 166"/>
            <p:cNvGrpSpPr/>
            <p:nvPr/>
          </p:nvGrpSpPr>
          <p:grpSpPr>
            <a:xfrm>
              <a:off x="8193087" y="3995737"/>
              <a:ext cx="111125" cy="142875"/>
              <a:chOff x="8193087" y="3995737"/>
              <a:chExt cx="111125" cy="142875"/>
            </a:xfrm>
          </p:grpSpPr>
          <p:sp>
            <p:nvSpPr>
              <p:cNvPr id="162" name="Freeform 162"/>
              <p:cNvSpPr/>
              <p:nvPr/>
            </p:nvSpPr>
            <p:spPr>
              <a:xfrm>
                <a:off x="8193087" y="4011612"/>
                <a:ext cx="111125" cy="127000"/>
              </a:xfrm>
              <a:custGeom>
                <a:avLst/>
                <a:gdLst/>
                <a:ahLst/>
                <a:cxnLst/>
                <a:rect l="l" t="t" r="r" b="b"/>
                <a:pathLst>
                  <a:path w="111125" h="127000">
                    <a:moveTo>
                      <a:pt x="31750" y="0"/>
                    </a:moveTo>
                    <a:lnTo>
                      <a:pt x="15875" y="0"/>
                    </a:lnTo>
                    <a:cubicBezTo>
                      <a:pt x="7107" y="0"/>
                      <a:pt x="0" y="7107"/>
                      <a:pt x="0" y="15875"/>
                    </a:cubicBezTo>
                    <a:lnTo>
                      <a:pt x="0" y="111125"/>
                    </a:lnTo>
                    <a:cubicBezTo>
                      <a:pt x="0" y="119892"/>
                      <a:pt x="7107" y="127000"/>
                      <a:pt x="15875" y="127000"/>
                    </a:cubicBezTo>
                    <a:lnTo>
                      <a:pt x="95250" y="127000"/>
                    </a:lnTo>
                    <a:cubicBezTo>
                      <a:pt x="104017" y="127000"/>
                      <a:pt x="111125" y="119892"/>
                      <a:pt x="111125" y="111125"/>
                    </a:cubicBezTo>
                    <a:lnTo>
                      <a:pt x="111125" y="15875"/>
                    </a:lnTo>
                    <a:cubicBezTo>
                      <a:pt x="111125" y="7107"/>
                      <a:pt x="104017" y="0"/>
                      <a:pt x="95250" y="0"/>
                    </a:cubicBezTo>
                    <a:lnTo>
                      <a:pt x="79375" y="0"/>
                    </a:lnTo>
                  </a:path>
                </a:pathLst>
              </a:custGeom>
              <a:noFill/>
              <a:ln w="15875">
                <a:solidFill>
                  <a:srgbClr val="FFFFFF"/>
                </a:solidFill>
              </a:ln>
            </p:spPr>
          </p:sp>
          <p:sp>
            <p:nvSpPr>
              <p:cNvPr id="163" name="Freeform 163"/>
              <p:cNvSpPr/>
              <p:nvPr/>
            </p:nvSpPr>
            <p:spPr>
              <a:xfrm>
                <a:off x="8224837" y="3995737"/>
                <a:ext cx="47625" cy="31750"/>
              </a:xfrm>
              <a:custGeom>
                <a:avLst/>
                <a:gdLst/>
                <a:ahLst/>
                <a:cxnLst/>
                <a:rect l="l" t="t" r="r" b="b"/>
                <a:pathLst>
                  <a:path w="47625" h="31750">
                    <a:moveTo>
                      <a:pt x="0" y="15875"/>
                    </a:moveTo>
                    <a:cubicBezTo>
                      <a:pt x="0" y="7107"/>
                      <a:pt x="7107" y="0"/>
                      <a:pt x="15875" y="0"/>
                    </a:cubicBezTo>
                    <a:lnTo>
                      <a:pt x="31750" y="0"/>
                    </a:lnTo>
                    <a:cubicBezTo>
                      <a:pt x="40518" y="0"/>
                      <a:pt x="47625" y="7107"/>
                      <a:pt x="47625" y="15875"/>
                    </a:cubicBezTo>
                    <a:cubicBezTo>
                      <a:pt x="47625" y="24643"/>
                      <a:pt x="40518" y="31750"/>
                      <a:pt x="31750" y="31750"/>
                    </a:cubicBezTo>
                    <a:lnTo>
                      <a:pt x="15875" y="31750"/>
                    </a:lnTo>
                    <a:cubicBezTo>
                      <a:pt x="7107" y="31750"/>
                      <a:pt x="0" y="24643"/>
                      <a:pt x="0" y="15875"/>
                    </a:cubicBezTo>
                  </a:path>
                </a:pathLst>
              </a:custGeom>
              <a:noFill/>
              <a:ln w="15875">
                <a:solidFill>
                  <a:srgbClr val="FFFFFF"/>
                </a:solidFill>
              </a:ln>
            </p:spPr>
          </p:sp>
          <p:sp>
            <p:nvSpPr>
              <p:cNvPr id="164" name="Freeform 164"/>
              <p:cNvSpPr/>
              <p:nvPr/>
            </p:nvSpPr>
            <p:spPr>
              <a:xfrm>
                <a:off x="8232775" y="4059237"/>
                <a:ext cx="31750" cy="47625"/>
              </a:xfrm>
              <a:custGeom>
                <a:avLst/>
                <a:gdLst/>
                <a:ahLst/>
                <a:cxnLst/>
                <a:rect l="l" t="t" r="r" b="b"/>
                <a:pathLst>
                  <a:path w="31750" h="47625">
                    <a:moveTo>
                      <a:pt x="31750" y="0"/>
                    </a:moveTo>
                    <a:lnTo>
                      <a:pt x="11906" y="0"/>
                    </a:lnTo>
                    <a:cubicBezTo>
                      <a:pt x="5331" y="0"/>
                      <a:pt x="0" y="5331"/>
                      <a:pt x="0" y="11906"/>
                    </a:cubicBezTo>
                    <a:cubicBezTo>
                      <a:pt x="0" y="18482"/>
                      <a:pt x="5331" y="23812"/>
                      <a:pt x="11906" y="23812"/>
                    </a:cubicBezTo>
                    <a:lnTo>
                      <a:pt x="19844" y="23812"/>
                    </a:lnTo>
                    <a:cubicBezTo>
                      <a:pt x="26419" y="23812"/>
                      <a:pt x="31750" y="29143"/>
                      <a:pt x="31750" y="35719"/>
                    </a:cubicBezTo>
                    <a:cubicBezTo>
                      <a:pt x="31750" y="42294"/>
                      <a:pt x="26419" y="47625"/>
                      <a:pt x="19844" y="47625"/>
                    </a:cubicBezTo>
                    <a:lnTo>
                      <a:pt x="0" y="47625"/>
                    </a:lnTo>
                  </a:path>
                </a:pathLst>
              </a:custGeom>
              <a:noFill/>
              <a:ln w="15875">
                <a:solidFill>
                  <a:srgbClr val="FFFFFF"/>
                </a:solidFill>
              </a:ln>
            </p:spPr>
          </p:sp>
          <p:sp>
            <p:nvSpPr>
              <p:cNvPr id="165" name="Freeform 165"/>
              <p:cNvSpPr/>
              <p:nvPr/>
            </p:nvSpPr>
            <p:spPr>
              <a:xfrm>
                <a:off x="8248650" y="4051300"/>
                <a:ext cx="9525" cy="63500"/>
              </a:xfrm>
              <a:custGeom>
                <a:avLst/>
                <a:gdLst/>
                <a:ahLst/>
                <a:cxnLst/>
                <a:rect l="l" t="t" r="r" b="b"/>
                <a:pathLst>
                  <a:path w="9525" h="63500">
                    <a:moveTo>
                      <a:pt x="0" y="55562"/>
                    </a:moveTo>
                    <a:lnTo>
                      <a:pt x="0" y="63500"/>
                    </a:lnTo>
                    <a:moveTo>
                      <a:pt x="0" y="0"/>
                    </a:moveTo>
                    <a:lnTo>
                      <a:pt x="0" y="7937"/>
                    </a:lnTo>
                  </a:path>
                </a:pathLst>
              </a:custGeom>
              <a:noFill/>
              <a:ln w="15875">
                <a:solidFill>
                  <a:srgbClr val="FFFFFF"/>
                </a:solidFill>
              </a:ln>
            </p:spPr>
          </p:sp>
        </p:grpSp>
        <p:sp>
          <p:nvSpPr>
            <p:cNvPr id="167" name="TextBox 167"/>
            <p:cNvSpPr txBox="1"/>
            <p:nvPr/>
          </p:nvSpPr>
          <p:spPr>
            <a:xfrm>
              <a:off x="9452038" y="4001452"/>
              <a:ext cx="71742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市场销售额</a:t>
              </a:r>
            </a:p>
          </p:txBody>
        </p:sp>
        <p:sp>
          <p:nvSpPr>
            <p:cNvPr id="168" name="Rectangle 168"/>
            <p:cNvSpPr/>
            <p:nvPr/>
          </p:nvSpPr>
          <p:spPr>
            <a:xfrm>
              <a:off x="8096250" y="4362450"/>
              <a:ext cx="76200" cy="76200"/>
            </a:xfrm>
            <a:prstGeom prst="rect">
              <a:avLst/>
            </a:prstGeom>
            <a:solidFill>
              <a:srgbClr val="F2563B"/>
            </a:solidFill>
            <a:ln>
              <a:noFill/>
            </a:ln>
          </p:spPr>
        </p:sp>
        <p:sp>
          <p:nvSpPr>
            <p:cNvPr id="169" name="TextBox 169"/>
            <p:cNvSpPr txBox="1"/>
            <p:nvPr/>
          </p:nvSpPr>
          <p:spPr>
            <a:xfrm>
              <a:off x="8205788" y="4356259"/>
              <a:ext cx="346502"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A市场​​</a:t>
              </a:r>
            </a:p>
          </p:txBody>
        </p:sp>
        <p:sp>
          <p:nvSpPr>
            <p:cNvPr id="170" name="Rectangle 170"/>
            <p:cNvSpPr/>
            <p:nvPr/>
          </p:nvSpPr>
          <p:spPr>
            <a:xfrm>
              <a:off x="8705850" y="4362450"/>
              <a:ext cx="76200" cy="76200"/>
            </a:xfrm>
            <a:prstGeom prst="rect">
              <a:avLst/>
            </a:prstGeom>
            <a:solidFill>
              <a:srgbClr val="F0856F"/>
            </a:solidFill>
            <a:ln>
              <a:noFill/>
            </a:ln>
          </p:spPr>
        </p:sp>
        <p:sp>
          <p:nvSpPr>
            <p:cNvPr id="171" name="TextBox 171"/>
            <p:cNvSpPr txBox="1"/>
            <p:nvPr/>
          </p:nvSpPr>
          <p:spPr>
            <a:xfrm>
              <a:off x="8815388" y="4356259"/>
              <a:ext cx="346502"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B市场​​</a:t>
              </a:r>
            </a:p>
          </p:txBody>
        </p:sp>
        <p:sp>
          <p:nvSpPr>
            <p:cNvPr id="172" name="Line 172"/>
            <p:cNvSpPr/>
            <p:nvPr/>
          </p:nvSpPr>
          <p:spPr>
            <a:xfrm>
              <a:off x="8191500" y="4476750"/>
              <a:ext cx="3238500" cy="9525"/>
            </a:xfrm>
            <a:custGeom>
              <a:avLst/>
              <a:gdLst/>
              <a:ahLst/>
              <a:cxnLst/>
              <a:rect l="l" t="t" r="r" b="b"/>
              <a:pathLst>
                <a:path w="3238500" h="9525">
                  <a:moveTo>
                    <a:pt x="0" y="0"/>
                  </a:moveTo>
                  <a:lnTo>
                    <a:pt x="3238500" y="0"/>
                  </a:lnTo>
                </a:path>
              </a:pathLst>
            </a:custGeom>
            <a:noFill/>
            <a:ln w="9525">
              <a:solidFill>
                <a:srgbClr val="EAF2FC"/>
              </a:solidFill>
            </a:ln>
          </p:spPr>
        </p:sp>
        <p:sp>
          <p:nvSpPr>
            <p:cNvPr id="173" name="Line 173"/>
            <p:cNvSpPr/>
            <p:nvPr/>
          </p:nvSpPr>
          <p:spPr>
            <a:xfrm>
              <a:off x="8191500" y="4893469"/>
              <a:ext cx="3238500" cy="9525"/>
            </a:xfrm>
            <a:custGeom>
              <a:avLst/>
              <a:gdLst/>
              <a:ahLst/>
              <a:cxnLst/>
              <a:rect l="l" t="t" r="r" b="b"/>
              <a:pathLst>
                <a:path w="3238500" h="9525">
                  <a:moveTo>
                    <a:pt x="0" y="0"/>
                  </a:moveTo>
                  <a:lnTo>
                    <a:pt x="3238500" y="0"/>
                  </a:lnTo>
                </a:path>
              </a:pathLst>
            </a:custGeom>
            <a:noFill/>
            <a:ln w="9525">
              <a:solidFill>
                <a:srgbClr val="EAF2FC"/>
              </a:solidFill>
            </a:ln>
          </p:spPr>
        </p:sp>
        <p:sp>
          <p:nvSpPr>
            <p:cNvPr id="174" name="Line 174"/>
            <p:cNvSpPr/>
            <p:nvPr/>
          </p:nvSpPr>
          <p:spPr>
            <a:xfrm>
              <a:off x="8191500" y="5310188"/>
              <a:ext cx="3238500" cy="9525"/>
            </a:xfrm>
            <a:custGeom>
              <a:avLst/>
              <a:gdLst/>
              <a:ahLst/>
              <a:cxnLst/>
              <a:rect l="l" t="t" r="r" b="b"/>
              <a:pathLst>
                <a:path w="3238500" h="9525">
                  <a:moveTo>
                    <a:pt x="0" y="0"/>
                  </a:moveTo>
                  <a:lnTo>
                    <a:pt x="3238500" y="0"/>
                  </a:lnTo>
                </a:path>
              </a:pathLst>
            </a:custGeom>
            <a:noFill/>
            <a:ln w="9525">
              <a:solidFill>
                <a:srgbClr val="EAF2FC"/>
              </a:solidFill>
            </a:ln>
          </p:spPr>
        </p:sp>
        <p:sp>
          <p:nvSpPr>
            <p:cNvPr id="175" name="Line 175"/>
            <p:cNvSpPr/>
            <p:nvPr/>
          </p:nvSpPr>
          <p:spPr>
            <a:xfrm>
              <a:off x="8191500" y="5726906"/>
              <a:ext cx="3238500" cy="9525"/>
            </a:xfrm>
            <a:custGeom>
              <a:avLst/>
              <a:gdLst/>
              <a:ahLst/>
              <a:cxnLst/>
              <a:rect l="l" t="t" r="r" b="b"/>
              <a:pathLst>
                <a:path w="3238500" h="9525">
                  <a:moveTo>
                    <a:pt x="0" y="0"/>
                  </a:moveTo>
                  <a:lnTo>
                    <a:pt x="3238500" y="0"/>
                  </a:lnTo>
                </a:path>
              </a:pathLst>
            </a:custGeom>
            <a:noFill/>
            <a:ln w="9525">
              <a:solidFill>
                <a:srgbClr val="EAF2FC"/>
              </a:solidFill>
            </a:ln>
          </p:spPr>
        </p:sp>
        <p:sp>
          <p:nvSpPr>
            <p:cNvPr id="176" name="TextBox 176"/>
            <p:cNvSpPr txBox="1"/>
            <p:nvPr/>
          </p:nvSpPr>
          <p:spPr>
            <a:xfrm>
              <a:off x="7951889" y="4440555"/>
              <a:ext cx="187223"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6000</a:t>
              </a:r>
            </a:p>
          </p:txBody>
        </p:sp>
        <p:sp>
          <p:nvSpPr>
            <p:cNvPr id="177" name="TextBox 177"/>
            <p:cNvSpPr txBox="1"/>
            <p:nvPr/>
          </p:nvSpPr>
          <p:spPr>
            <a:xfrm>
              <a:off x="7951889" y="4857274"/>
              <a:ext cx="187223"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4500</a:t>
              </a:r>
            </a:p>
          </p:txBody>
        </p:sp>
        <p:sp>
          <p:nvSpPr>
            <p:cNvPr id="178" name="TextBox 178"/>
            <p:cNvSpPr txBox="1"/>
            <p:nvPr/>
          </p:nvSpPr>
          <p:spPr>
            <a:xfrm>
              <a:off x="7951889" y="5273992"/>
              <a:ext cx="187223"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3000</a:t>
              </a:r>
            </a:p>
          </p:txBody>
        </p:sp>
        <p:sp>
          <p:nvSpPr>
            <p:cNvPr id="179" name="TextBox 179"/>
            <p:cNvSpPr txBox="1"/>
            <p:nvPr/>
          </p:nvSpPr>
          <p:spPr>
            <a:xfrm>
              <a:off x="7951889" y="5690711"/>
              <a:ext cx="187223"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1500</a:t>
              </a:r>
            </a:p>
          </p:txBody>
        </p:sp>
        <p:sp>
          <p:nvSpPr>
            <p:cNvPr id="180" name="TextBox 180"/>
            <p:cNvSpPr txBox="1"/>
            <p:nvPr/>
          </p:nvSpPr>
          <p:spPr>
            <a:xfrm>
              <a:off x="8085163" y="6107430"/>
              <a:ext cx="53950"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0</a:t>
              </a:r>
            </a:p>
          </p:txBody>
        </p:sp>
        <p:sp>
          <p:nvSpPr>
            <p:cNvPr id="181" name="Rectangle 181"/>
            <p:cNvSpPr/>
            <p:nvPr/>
          </p:nvSpPr>
          <p:spPr>
            <a:xfrm>
              <a:off x="8324850" y="5282565"/>
              <a:ext cx="114300" cy="861060"/>
            </a:xfrm>
            <a:prstGeom prst="rect">
              <a:avLst/>
            </a:prstGeom>
            <a:solidFill>
              <a:srgbClr val="F2563B"/>
            </a:solidFill>
            <a:ln>
              <a:noFill/>
            </a:ln>
          </p:spPr>
        </p:sp>
        <p:sp>
          <p:nvSpPr>
            <p:cNvPr id="182" name="Rectangle 182"/>
            <p:cNvSpPr/>
            <p:nvPr/>
          </p:nvSpPr>
          <p:spPr>
            <a:xfrm>
              <a:off x="8477250" y="5294948"/>
              <a:ext cx="114300" cy="848678"/>
            </a:xfrm>
            <a:prstGeom prst="rect">
              <a:avLst/>
            </a:prstGeom>
            <a:solidFill>
              <a:srgbClr val="F0856F"/>
            </a:solidFill>
            <a:ln>
              <a:noFill/>
            </a:ln>
          </p:spPr>
        </p:sp>
        <p:sp>
          <p:nvSpPr>
            <p:cNvPr id="183" name="Rectangle 183"/>
            <p:cNvSpPr/>
            <p:nvPr/>
          </p:nvSpPr>
          <p:spPr>
            <a:xfrm>
              <a:off x="8867775" y="5949315"/>
              <a:ext cx="114300" cy="194310"/>
            </a:xfrm>
            <a:prstGeom prst="rect">
              <a:avLst/>
            </a:prstGeom>
            <a:solidFill>
              <a:srgbClr val="F2563B"/>
            </a:solidFill>
            <a:ln>
              <a:noFill/>
            </a:ln>
          </p:spPr>
        </p:sp>
        <p:sp>
          <p:nvSpPr>
            <p:cNvPr id="184" name="Rectangle 184"/>
            <p:cNvSpPr/>
            <p:nvPr/>
          </p:nvSpPr>
          <p:spPr>
            <a:xfrm>
              <a:off x="9020175" y="5875972"/>
              <a:ext cx="114300" cy="267652"/>
            </a:xfrm>
            <a:prstGeom prst="rect">
              <a:avLst/>
            </a:prstGeom>
            <a:solidFill>
              <a:srgbClr val="F0856F"/>
            </a:solidFill>
            <a:ln>
              <a:noFill/>
            </a:ln>
          </p:spPr>
        </p:sp>
        <p:sp>
          <p:nvSpPr>
            <p:cNvPr id="185" name="Rectangle 185"/>
            <p:cNvSpPr/>
            <p:nvPr/>
          </p:nvSpPr>
          <p:spPr>
            <a:xfrm>
              <a:off x="9410700" y="5379720"/>
              <a:ext cx="114300" cy="763905"/>
            </a:xfrm>
            <a:prstGeom prst="rect">
              <a:avLst/>
            </a:prstGeom>
            <a:solidFill>
              <a:srgbClr val="F2563B"/>
            </a:solidFill>
            <a:ln>
              <a:noFill/>
            </a:ln>
          </p:spPr>
        </p:sp>
        <p:sp>
          <p:nvSpPr>
            <p:cNvPr id="186" name="Rectangle 186"/>
            <p:cNvSpPr/>
            <p:nvPr/>
          </p:nvSpPr>
          <p:spPr>
            <a:xfrm>
              <a:off x="9563100" y="5128260"/>
              <a:ext cx="114300" cy="1015365"/>
            </a:xfrm>
            <a:prstGeom prst="rect">
              <a:avLst/>
            </a:prstGeom>
            <a:solidFill>
              <a:srgbClr val="F0856F"/>
            </a:solidFill>
            <a:ln>
              <a:noFill/>
            </a:ln>
          </p:spPr>
        </p:sp>
        <p:sp>
          <p:nvSpPr>
            <p:cNvPr id="187" name="Rectangle 187"/>
            <p:cNvSpPr/>
            <p:nvPr/>
          </p:nvSpPr>
          <p:spPr>
            <a:xfrm>
              <a:off x="9944100" y="5768340"/>
              <a:ext cx="114300" cy="375285"/>
            </a:xfrm>
            <a:prstGeom prst="rect">
              <a:avLst/>
            </a:prstGeom>
            <a:solidFill>
              <a:srgbClr val="F2563B"/>
            </a:solidFill>
            <a:ln>
              <a:noFill/>
            </a:ln>
          </p:spPr>
        </p:sp>
        <p:sp>
          <p:nvSpPr>
            <p:cNvPr id="188" name="Rectangle 188"/>
            <p:cNvSpPr/>
            <p:nvPr/>
          </p:nvSpPr>
          <p:spPr>
            <a:xfrm>
              <a:off x="10096500" y="5486400"/>
              <a:ext cx="114300" cy="657225"/>
            </a:xfrm>
            <a:prstGeom prst="rect">
              <a:avLst/>
            </a:prstGeom>
            <a:solidFill>
              <a:srgbClr val="F0856F"/>
            </a:solidFill>
            <a:ln>
              <a:noFill/>
            </a:ln>
          </p:spPr>
        </p:sp>
        <p:sp>
          <p:nvSpPr>
            <p:cNvPr id="189" name="Rectangle 189"/>
            <p:cNvSpPr/>
            <p:nvPr/>
          </p:nvSpPr>
          <p:spPr>
            <a:xfrm>
              <a:off x="10487025" y="4588192"/>
              <a:ext cx="114300" cy="1555432"/>
            </a:xfrm>
            <a:prstGeom prst="rect">
              <a:avLst/>
            </a:prstGeom>
            <a:solidFill>
              <a:srgbClr val="F2563B"/>
            </a:solidFill>
            <a:ln>
              <a:noFill/>
            </a:ln>
          </p:spPr>
        </p:sp>
        <p:sp>
          <p:nvSpPr>
            <p:cNvPr id="190" name="Rectangle 190"/>
            <p:cNvSpPr/>
            <p:nvPr/>
          </p:nvSpPr>
          <p:spPr>
            <a:xfrm>
              <a:off x="10639425" y="5073015"/>
              <a:ext cx="114300" cy="1070610"/>
            </a:xfrm>
            <a:prstGeom prst="rect">
              <a:avLst/>
            </a:prstGeom>
            <a:solidFill>
              <a:srgbClr val="F0856F"/>
            </a:solidFill>
            <a:ln>
              <a:noFill/>
            </a:ln>
          </p:spPr>
        </p:sp>
        <p:sp>
          <p:nvSpPr>
            <p:cNvPr id="191" name="Rectangle 191"/>
            <p:cNvSpPr/>
            <p:nvPr/>
          </p:nvSpPr>
          <p:spPr>
            <a:xfrm>
              <a:off x="11029950" y="5226368"/>
              <a:ext cx="114300" cy="917258"/>
            </a:xfrm>
            <a:prstGeom prst="rect">
              <a:avLst/>
            </a:prstGeom>
            <a:solidFill>
              <a:srgbClr val="F2563B"/>
            </a:solidFill>
            <a:ln>
              <a:noFill/>
            </a:ln>
          </p:spPr>
        </p:sp>
        <p:sp>
          <p:nvSpPr>
            <p:cNvPr id="192" name="Rectangle 192"/>
            <p:cNvSpPr/>
            <p:nvPr/>
          </p:nvSpPr>
          <p:spPr>
            <a:xfrm>
              <a:off x="11182350" y="5183505"/>
              <a:ext cx="114300" cy="960120"/>
            </a:xfrm>
            <a:prstGeom prst="rect">
              <a:avLst/>
            </a:prstGeom>
            <a:solidFill>
              <a:srgbClr val="F0856F"/>
            </a:solidFill>
            <a:ln>
              <a:noFill/>
            </a:ln>
          </p:spPr>
        </p:sp>
        <p:sp>
          <p:nvSpPr>
            <p:cNvPr id="193" name="TextBox 193"/>
            <p:cNvSpPr txBox="1"/>
            <p:nvPr/>
          </p:nvSpPr>
          <p:spPr>
            <a:xfrm>
              <a:off x="8471685" y="5191601"/>
              <a:ext cx="163530" cy="104775"/>
            </a:xfrm>
            <a:prstGeom prst="rect">
              <a:avLst/>
            </a:prstGeom>
            <a:noFill/>
            <a:ln>
              <a:noFill/>
            </a:ln>
          </p:spPr>
          <p:txBody>
            <a:bodyPr wrap="none" lIns="0" tIns="0" rIns="0" bIns="0" anchor="t" anchorCtr="0">
              <a:spAutoFit/>
            </a:bodyPr>
            <a:lstStyle/>
            <a:p>
              <a:pPr algn="ctr"/>
              <a:r>
                <a:rPr lang="zh-CN" sz="520" dirty="0">
                  <a:solidFill>
                    <a:srgbClr val="684F4A"/>
                  </a:solidFill>
                  <a:latin typeface="+mn-lt"/>
                  <a:ea typeface="+mn-ea"/>
                  <a:cs typeface="+mn-cs"/>
                </a:rPr>
                <a:t>3054</a:t>
              </a:r>
            </a:p>
          </p:txBody>
        </p:sp>
        <p:sp>
          <p:nvSpPr>
            <p:cNvPr id="194" name="TextBox 194"/>
            <p:cNvSpPr txBox="1"/>
            <p:nvPr/>
          </p:nvSpPr>
          <p:spPr>
            <a:xfrm>
              <a:off x="9033861" y="5772626"/>
              <a:ext cx="125029" cy="104775"/>
            </a:xfrm>
            <a:prstGeom prst="rect">
              <a:avLst/>
            </a:prstGeom>
            <a:noFill/>
            <a:ln>
              <a:noFill/>
            </a:ln>
          </p:spPr>
          <p:txBody>
            <a:bodyPr wrap="none" lIns="0" tIns="0" rIns="0" bIns="0" anchor="t" anchorCtr="0">
              <a:spAutoFit/>
            </a:bodyPr>
            <a:lstStyle/>
            <a:p>
              <a:pPr algn="ctr"/>
              <a:r>
                <a:rPr lang="zh-CN" sz="520" dirty="0">
                  <a:solidFill>
                    <a:srgbClr val="684F4A"/>
                  </a:solidFill>
                  <a:latin typeface="+mn-lt"/>
                  <a:ea typeface="+mn-ea"/>
                  <a:cs typeface="+mn-cs"/>
                </a:rPr>
                <a:t>965</a:t>
              </a:r>
            </a:p>
          </p:txBody>
        </p:sp>
        <p:sp>
          <p:nvSpPr>
            <p:cNvPr id="195" name="TextBox 195"/>
            <p:cNvSpPr txBox="1"/>
            <p:nvPr/>
          </p:nvSpPr>
          <p:spPr>
            <a:xfrm>
              <a:off x="9557535" y="5020151"/>
              <a:ext cx="163530" cy="104775"/>
            </a:xfrm>
            <a:prstGeom prst="rect">
              <a:avLst/>
            </a:prstGeom>
            <a:noFill/>
            <a:ln>
              <a:noFill/>
            </a:ln>
          </p:spPr>
          <p:txBody>
            <a:bodyPr wrap="none" lIns="0" tIns="0" rIns="0" bIns="0" anchor="t" anchorCtr="0">
              <a:spAutoFit/>
            </a:bodyPr>
            <a:lstStyle/>
            <a:p>
              <a:pPr algn="ctr"/>
              <a:r>
                <a:rPr lang="zh-CN" sz="520" dirty="0">
                  <a:solidFill>
                    <a:srgbClr val="684F4A"/>
                  </a:solidFill>
                  <a:latin typeface="+mn-lt"/>
                  <a:ea typeface="+mn-ea"/>
                  <a:cs typeface="+mn-cs"/>
                </a:rPr>
                <a:t>3654</a:t>
              </a:r>
            </a:p>
          </p:txBody>
        </p:sp>
        <p:sp>
          <p:nvSpPr>
            <p:cNvPr id="196" name="TextBox 196"/>
            <p:cNvSpPr txBox="1"/>
            <p:nvPr/>
          </p:nvSpPr>
          <p:spPr>
            <a:xfrm>
              <a:off x="10090935" y="5382101"/>
              <a:ext cx="163530" cy="104775"/>
            </a:xfrm>
            <a:prstGeom prst="rect">
              <a:avLst/>
            </a:prstGeom>
            <a:noFill/>
            <a:ln>
              <a:noFill/>
            </a:ln>
          </p:spPr>
          <p:txBody>
            <a:bodyPr wrap="none" lIns="0" tIns="0" rIns="0" bIns="0" anchor="t" anchorCtr="0">
              <a:spAutoFit/>
            </a:bodyPr>
            <a:lstStyle/>
            <a:p>
              <a:pPr algn="ctr"/>
              <a:r>
                <a:rPr lang="zh-CN" sz="520" dirty="0">
                  <a:solidFill>
                    <a:srgbClr val="684F4A"/>
                  </a:solidFill>
                  <a:latin typeface="+mn-lt"/>
                  <a:ea typeface="+mn-ea"/>
                  <a:cs typeface="+mn-cs"/>
                </a:rPr>
                <a:t>2365</a:t>
              </a:r>
            </a:p>
          </p:txBody>
        </p:sp>
        <p:sp>
          <p:nvSpPr>
            <p:cNvPr id="197" name="TextBox 197"/>
            <p:cNvSpPr txBox="1"/>
            <p:nvPr/>
          </p:nvSpPr>
          <p:spPr>
            <a:xfrm>
              <a:off x="11176785" y="5077301"/>
              <a:ext cx="163530" cy="104775"/>
            </a:xfrm>
            <a:prstGeom prst="rect">
              <a:avLst/>
            </a:prstGeom>
            <a:noFill/>
            <a:ln>
              <a:noFill/>
            </a:ln>
          </p:spPr>
          <p:txBody>
            <a:bodyPr wrap="none" lIns="0" tIns="0" rIns="0" bIns="0" anchor="t" anchorCtr="0">
              <a:spAutoFit/>
            </a:bodyPr>
            <a:lstStyle/>
            <a:p>
              <a:pPr algn="ctr"/>
              <a:r>
                <a:rPr lang="zh-CN" sz="520" dirty="0">
                  <a:solidFill>
                    <a:srgbClr val="684F4A"/>
                  </a:solidFill>
                  <a:latin typeface="+mn-lt"/>
                  <a:ea typeface="+mn-ea"/>
                  <a:cs typeface="+mn-cs"/>
                </a:rPr>
                <a:t>3456</a:t>
              </a:r>
            </a:p>
          </p:txBody>
        </p:sp>
        <p:sp>
          <p:nvSpPr>
            <p:cNvPr id="198" name="Rectangle 198"/>
            <p:cNvSpPr/>
            <p:nvPr/>
          </p:nvSpPr>
          <p:spPr>
            <a:xfrm>
              <a:off x="10201275" y="4381500"/>
              <a:ext cx="838200" cy="228600"/>
            </a:xfrm>
            <a:prstGeom prst="roundRect">
              <a:avLst>
                <a:gd name="adj" fmla="val 50000"/>
              </a:avLst>
            </a:prstGeom>
            <a:solidFill>
              <a:srgbClr val="E94B2B"/>
            </a:solidFill>
            <a:ln>
              <a:noFill/>
            </a:ln>
          </p:spPr>
        </p:sp>
        <p:sp>
          <p:nvSpPr>
            <p:cNvPr id="199" name="Polygon 199"/>
            <p:cNvSpPr/>
            <p:nvPr/>
          </p:nvSpPr>
          <p:spPr>
            <a:xfrm>
              <a:off x="10563225" y="4610100"/>
              <a:ext cx="114300" cy="95250"/>
            </a:xfrm>
            <a:custGeom>
              <a:avLst/>
              <a:gdLst/>
              <a:ahLst/>
              <a:cxnLst/>
              <a:rect l="l" t="t" r="r" b="b"/>
              <a:pathLst>
                <a:path w="114300" h="95250">
                  <a:moveTo>
                    <a:pt x="0" y="0"/>
                  </a:moveTo>
                  <a:lnTo>
                    <a:pt x="114300" y="0"/>
                  </a:lnTo>
                  <a:lnTo>
                    <a:pt x="57150" y="95250"/>
                  </a:lnTo>
                  <a:close/>
                </a:path>
              </a:pathLst>
            </a:custGeom>
            <a:solidFill>
              <a:srgbClr val="E94B2B"/>
            </a:solidFill>
            <a:ln>
              <a:noFill/>
            </a:ln>
          </p:spPr>
        </p:sp>
        <p:sp>
          <p:nvSpPr>
            <p:cNvPr id="200" name="TextBox 200"/>
            <p:cNvSpPr txBox="1"/>
            <p:nvPr/>
          </p:nvSpPr>
          <p:spPr>
            <a:xfrm>
              <a:off x="10368879" y="4452938"/>
              <a:ext cx="50299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3854万元​</a:t>
              </a:r>
            </a:p>
          </p:txBody>
        </p:sp>
        <p:sp>
          <p:nvSpPr>
            <p:cNvPr id="201" name="Line 201"/>
            <p:cNvSpPr/>
            <p:nvPr/>
          </p:nvSpPr>
          <p:spPr>
            <a:xfrm>
              <a:off x="8191500" y="6143625"/>
              <a:ext cx="3238500" cy="9525"/>
            </a:xfrm>
            <a:custGeom>
              <a:avLst/>
              <a:gdLst/>
              <a:ahLst/>
              <a:cxnLst/>
              <a:rect l="l" t="t" r="r" b="b"/>
              <a:pathLst>
                <a:path w="3238500" h="9525">
                  <a:moveTo>
                    <a:pt x="0" y="0"/>
                  </a:moveTo>
                  <a:lnTo>
                    <a:pt x="3238500" y="0"/>
                  </a:lnTo>
                </a:path>
              </a:pathLst>
            </a:custGeom>
            <a:noFill/>
            <a:ln w="11430">
              <a:solidFill>
                <a:srgbClr val="E6C1B9"/>
              </a:solidFill>
            </a:ln>
          </p:spPr>
        </p:sp>
        <p:sp>
          <p:nvSpPr>
            <p:cNvPr id="202" name="TextBox 202"/>
            <p:cNvSpPr txBox="1"/>
            <p:nvPr/>
          </p:nvSpPr>
          <p:spPr>
            <a:xfrm>
              <a:off x="8386666" y="6236732"/>
              <a:ext cx="143068" cy="126206"/>
            </a:xfrm>
            <a:prstGeom prst="rect">
              <a:avLst/>
            </a:prstGeom>
            <a:noFill/>
            <a:ln>
              <a:noFill/>
            </a:ln>
          </p:spPr>
          <p:txBody>
            <a:bodyPr wrap="none" lIns="0" tIns="0" rIns="0" bIns="0" anchor="t" anchorCtr="0">
              <a:spAutoFit/>
            </a:bodyPr>
            <a:lstStyle/>
            <a:p>
              <a:pPr algn="ctr"/>
              <a:r>
                <a:rPr lang="zh-CN" sz="640" dirty="0">
                  <a:solidFill>
                    <a:srgbClr val="684F4A"/>
                  </a:solidFill>
                  <a:latin typeface="+mn-lt"/>
                  <a:ea typeface="+mn-ea"/>
                  <a:cs typeface="+mn-cs"/>
                </a:rPr>
                <a:t>1月</a:t>
              </a:r>
            </a:p>
          </p:txBody>
        </p:sp>
        <p:sp>
          <p:nvSpPr>
            <p:cNvPr id="203" name="TextBox 203"/>
            <p:cNvSpPr txBox="1"/>
            <p:nvPr/>
          </p:nvSpPr>
          <p:spPr>
            <a:xfrm>
              <a:off x="8929591" y="6236732"/>
              <a:ext cx="143068" cy="126206"/>
            </a:xfrm>
            <a:prstGeom prst="rect">
              <a:avLst/>
            </a:prstGeom>
            <a:noFill/>
            <a:ln>
              <a:noFill/>
            </a:ln>
          </p:spPr>
          <p:txBody>
            <a:bodyPr wrap="none" lIns="0" tIns="0" rIns="0" bIns="0" anchor="t" anchorCtr="0">
              <a:spAutoFit/>
            </a:bodyPr>
            <a:lstStyle/>
            <a:p>
              <a:pPr algn="ctr"/>
              <a:r>
                <a:rPr lang="zh-CN" sz="640" dirty="0">
                  <a:solidFill>
                    <a:srgbClr val="684F4A"/>
                  </a:solidFill>
                  <a:latin typeface="+mn-lt"/>
                  <a:ea typeface="+mn-ea"/>
                  <a:cs typeface="+mn-cs"/>
                </a:rPr>
                <a:t>2月</a:t>
              </a:r>
            </a:p>
          </p:txBody>
        </p:sp>
        <p:sp>
          <p:nvSpPr>
            <p:cNvPr id="204" name="TextBox 204"/>
            <p:cNvSpPr txBox="1"/>
            <p:nvPr/>
          </p:nvSpPr>
          <p:spPr>
            <a:xfrm>
              <a:off x="9472516" y="6236732"/>
              <a:ext cx="143068" cy="126206"/>
            </a:xfrm>
            <a:prstGeom prst="rect">
              <a:avLst/>
            </a:prstGeom>
            <a:noFill/>
            <a:ln>
              <a:noFill/>
            </a:ln>
          </p:spPr>
          <p:txBody>
            <a:bodyPr wrap="none" lIns="0" tIns="0" rIns="0" bIns="0" anchor="t" anchorCtr="0">
              <a:spAutoFit/>
            </a:bodyPr>
            <a:lstStyle/>
            <a:p>
              <a:pPr algn="ctr"/>
              <a:r>
                <a:rPr lang="zh-CN" sz="640" dirty="0">
                  <a:solidFill>
                    <a:srgbClr val="684F4A"/>
                  </a:solidFill>
                  <a:latin typeface="+mn-lt"/>
                  <a:ea typeface="+mn-ea"/>
                  <a:cs typeface="+mn-cs"/>
                </a:rPr>
                <a:t>3月</a:t>
              </a:r>
            </a:p>
          </p:txBody>
        </p:sp>
        <p:sp>
          <p:nvSpPr>
            <p:cNvPr id="205" name="TextBox 205"/>
            <p:cNvSpPr txBox="1"/>
            <p:nvPr/>
          </p:nvSpPr>
          <p:spPr>
            <a:xfrm>
              <a:off x="10005916" y="6236732"/>
              <a:ext cx="143068" cy="126206"/>
            </a:xfrm>
            <a:prstGeom prst="rect">
              <a:avLst/>
            </a:prstGeom>
            <a:noFill/>
            <a:ln>
              <a:noFill/>
            </a:ln>
          </p:spPr>
          <p:txBody>
            <a:bodyPr wrap="none" lIns="0" tIns="0" rIns="0" bIns="0" anchor="t" anchorCtr="0">
              <a:spAutoFit/>
            </a:bodyPr>
            <a:lstStyle/>
            <a:p>
              <a:pPr algn="ctr"/>
              <a:r>
                <a:rPr lang="zh-CN" sz="640" dirty="0">
                  <a:solidFill>
                    <a:srgbClr val="684F4A"/>
                  </a:solidFill>
                  <a:latin typeface="+mn-lt"/>
                  <a:ea typeface="+mn-ea"/>
                  <a:cs typeface="+mn-cs"/>
                </a:rPr>
                <a:t>4月</a:t>
              </a:r>
            </a:p>
          </p:txBody>
        </p:sp>
        <p:sp>
          <p:nvSpPr>
            <p:cNvPr id="206" name="TextBox 206"/>
            <p:cNvSpPr txBox="1"/>
            <p:nvPr/>
          </p:nvSpPr>
          <p:spPr>
            <a:xfrm>
              <a:off x="10548841" y="6236732"/>
              <a:ext cx="143068" cy="126206"/>
            </a:xfrm>
            <a:prstGeom prst="rect">
              <a:avLst/>
            </a:prstGeom>
            <a:noFill/>
            <a:ln>
              <a:noFill/>
            </a:ln>
          </p:spPr>
          <p:txBody>
            <a:bodyPr wrap="none" lIns="0" tIns="0" rIns="0" bIns="0" anchor="t" anchorCtr="0">
              <a:spAutoFit/>
            </a:bodyPr>
            <a:lstStyle/>
            <a:p>
              <a:pPr algn="ctr"/>
              <a:r>
                <a:rPr lang="zh-CN" sz="640" dirty="0">
                  <a:solidFill>
                    <a:srgbClr val="684F4A"/>
                  </a:solidFill>
                  <a:latin typeface="+mn-lt"/>
                  <a:ea typeface="+mn-ea"/>
                  <a:cs typeface="+mn-cs"/>
                </a:rPr>
                <a:t>5月</a:t>
              </a:r>
            </a:p>
          </p:txBody>
        </p:sp>
        <p:sp>
          <p:nvSpPr>
            <p:cNvPr id="207" name="TextBox 207"/>
            <p:cNvSpPr txBox="1"/>
            <p:nvPr/>
          </p:nvSpPr>
          <p:spPr>
            <a:xfrm>
              <a:off x="11091766" y="6236732"/>
              <a:ext cx="143068" cy="126206"/>
            </a:xfrm>
            <a:prstGeom prst="rect">
              <a:avLst/>
            </a:prstGeom>
            <a:noFill/>
            <a:ln>
              <a:noFill/>
            </a:ln>
          </p:spPr>
          <p:txBody>
            <a:bodyPr wrap="none" lIns="0" tIns="0" rIns="0" bIns="0" anchor="t" anchorCtr="0">
              <a:spAutoFit/>
            </a:bodyPr>
            <a:lstStyle/>
            <a:p>
              <a:pPr algn="ctr"/>
              <a:r>
                <a:rPr lang="zh-CN" sz="640" dirty="0">
                  <a:solidFill>
                    <a:srgbClr val="684F4A"/>
                  </a:solidFill>
                  <a:latin typeface="+mn-lt"/>
                  <a:ea typeface="+mn-ea"/>
                  <a:cs typeface="+mn-cs"/>
                </a:rPr>
                <a:t>6月</a:t>
              </a:r>
            </a:p>
          </p:txBody>
        </p:sp>
      </p:gr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27</a:t>
              </a:r>
            </a:p>
          </p:txBody>
        </p:sp>
        <p:sp>
          <p:nvSpPr>
            <p:cNvPr id="4" name="TextBox 4"/>
            <p:cNvSpPr txBox="1"/>
            <p:nvPr/>
          </p:nvSpPr>
          <p:spPr>
            <a:xfrm>
              <a:off x="904494" y="180023"/>
              <a:ext cx="2238756"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市场营销数据分析</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7" name="kpi-sales"/>
          <p:cNvGrpSpPr/>
          <p:nvPr/>
        </p:nvGrpSpPr>
        <p:grpSpPr>
          <a:xfrm>
            <a:off x="571500" y="800100"/>
            <a:ext cx="2476500" cy="671418"/>
            <a:chOff x="571500" y="800100"/>
            <a:chExt cx="2476500" cy="671418"/>
          </a:xfrm>
        </p:grpSpPr>
        <p:sp>
          <p:nvSpPr>
            <p:cNvPr id="7" name="Rectangle 7"/>
            <p:cNvSpPr/>
            <p:nvPr/>
          </p:nvSpPr>
          <p:spPr>
            <a:xfrm>
              <a:off x="571500" y="800100"/>
              <a:ext cx="2476500" cy="609600"/>
            </a:xfrm>
            <a:prstGeom prst="roundRect">
              <a:avLst>
                <a:gd name="adj" fmla="val 12500"/>
              </a:avLst>
            </a:prstGeom>
            <a:gradFill>
              <a:gsLst>
                <a:gs pos="0">
                  <a:srgbClr val="FF5B3A"/>
                </a:gs>
                <a:gs pos="100000">
                  <a:srgbClr val="C83B1E"/>
                </a:gs>
              </a:gsLst>
              <a:lin ang="0" scaled="1"/>
            </a:gradFill>
            <a:ln>
              <a:noFill/>
            </a:ln>
          </p:spPr>
        </p:sp>
        <p:sp>
          <p:nvSpPr>
            <p:cNvPr id="8" name="Ellipse 8"/>
            <p:cNvSpPr/>
            <p:nvPr/>
          </p:nvSpPr>
          <p:spPr>
            <a:xfrm>
              <a:off x="752475" y="942975"/>
              <a:ext cx="323850" cy="323850"/>
            </a:xfrm>
            <a:prstGeom prst="ellipse">
              <a:avLst/>
            </a:prstGeom>
            <a:solidFill>
              <a:srgbClr val="FFFFFF"/>
            </a:solidFill>
            <a:ln>
              <a:noFill/>
            </a:ln>
          </p:spPr>
        </p:sp>
        <p:grpSp>
          <p:nvGrpSpPr>
            <p:cNvPr id="13" name="Group 13"/>
            <p:cNvGrpSpPr/>
            <p:nvPr/>
          </p:nvGrpSpPr>
          <p:grpSpPr>
            <a:xfrm>
              <a:off x="850900" y="1033462"/>
              <a:ext cx="127000" cy="142875"/>
              <a:chOff x="850900" y="1033462"/>
              <a:chExt cx="127000" cy="142875"/>
            </a:xfrm>
          </p:grpSpPr>
          <p:sp>
            <p:nvSpPr>
              <p:cNvPr id="9" name="Freeform 9"/>
              <p:cNvSpPr/>
              <p:nvPr/>
            </p:nvSpPr>
            <p:spPr>
              <a:xfrm>
                <a:off x="850900" y="11445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94B2B"/>
                </a:solidFill>
              </a:ln>
            </p:spPr>
          </p:sp>
          <p:sp>
            <p:nvSpPr>
              <p:cNvPr id="10" name="Freeform 10"/>
              <p:cNvSpPr/>
              <p:nvPr/>
            </p:nvSpPr>
            <p:spPr>
              <a:xfrm>
                <a:off x="938212" y="11445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94B2B"/>
                </a:solidFill>
              </a:ln>
            </p:spPr>
          </p:sp>
          <p:sp>
            <p:nvSpPr>
              <p:cNvPr id="11" name="Freeform 11"/>
              <p:cNvSpPr/>
              <p:nvPr/>
            </p:nvSpPr>
            <p:spPr>
              <a:xfrm>
                <a:off x="850900" y="1033462"/>
                <a:ext cx="103187" cy="111125"/>
              </a:xfrm>
              <a:custGeom>
                <a:avLst/>
                <a:gdLst/>
                <a:ahLst/>
                <a:cxnLst/>
                <a:rect l="l" t="t" r="r" b="b"/>
                <a:pathLst>
                  <a:path w="103187" h="111125">
                    <a:moveTo>
                      <a:pt x="103187" y="111125"/>
                    </a:moveTo>
                    <a:lnTo>
                      <a:pt x="15875" y="111125"/>
                    </a:lnTo>
                    <a:lnTo>
                      <a:pt x="15875" y="0"/>
                    </a:lnTo>
                    <a:lnTo>
                      <a:pt x="0" y="0"/>
                    </a:lnTo>
                  </a:path>
                </a:pathLst>
              </a:custGeom>
              <a:noFill/>
              <a:ln w="15875">
                <a:solidFill>
                  <a:srgbClr val="E94B2B"/>
                </a:solidFill>
              </a:ln>
            </p:spPr>
          </p:sp>
          <p:sp>
            <p:nvSpPr>
              <p:cNvPr id="12" name="Freeform 12"/>
              <p:cNvSpPr/>
              <p:nvPr/>
            </p:nvSpPr>
            <p:spPr>
              <a:xfrm>
                <a:off x="866775" y="1049337"/>
                <a:ext cx="111125" cy="63500"/>
              </a:xfrm>
              <a:custGeom>
                <a:avLst/>
                <a:gdLst/>
                <a:ahLst/>
                <a:cxnLst/>
                <a:rect l="l" t="t" r="r" b="b"/>
                <a:pathLst>
                  <a:path w="111125" h="63500">
                    <a:moveTo>
                      <a:pt x="0" y="0"/>
                    </a:moveTo>
                    <a:lnTo>
                      <a:pt x="111125" y="7937"/>
                    </a:lnTo>
                    <a:lnTo>
                      <a:pt x="103187" y="63500"/>
                    </a:lnTo>
                    <a:lnTo>
                      <a:pt x="0" y="63500"/>
                    </a:lnTo>
                  </a:path>
                </a:pathLst>
              </a:custGeom>
              <a:noFill/>
              <a:ln w="15875">
                <a:solidFill>
                  <a:srgbClr val="E94B2B"/>
                </a:solidFill>
              </a:ln>
            </p:spPr>
          </p:sp>
        </p:grpSp>
        <p:sp>
          <p:nvSpPr>
            <p:cNvPr id="14" name="TextBox 14"/>
            <p:cNvSpPr txBox="1"/>
            <p:nvPr/>
          </p:nvSpPr>
          <p:spPr>
            <a:xfrm>
              <a:off x="1157288" y="927497"/>
              <a:ext cx="262611"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销售</a:t>
              </a:r>
            </a:p>
          </p:txBody>
        </p:sp>
        <p:sp>
          <p:nvSpPr>
            <p:cNvPr id="15" name="TextBox 15"/>
            <p:cNvSpPr txBox="1"/>
            <p:nvPr/>
          </p:nvSpPr>
          <p:spPr>
            <a:xfrm>
              <a:off x="1154049" y="1163479"/>
              <a:ext cx="762887" cy="308039"/>
            </a:xfrm>
            <a:prstGeom prst="rect">
              <a:avLst/>
            </a:prstGeom>
            <a:noFill/>
            <a:ln>
              <a:noFill/>
            </a:ln>
          </p:spPr>
          <p:txBody>
            <a:bodyPr wrap="none" lIns="0" tIns="0" rIns="0" bIns="0" anchor="t" anchorCtr="0">
              <a:spAutoFit/>
            </a:bodyPr>
            <a:lstStyle/>
            <a:p>
              <a:pPr algn="l"/>
              <a:r>
                <a:rPr lang="zh-CN" sz="1580" b="1" dirty="0">
                  <a:solidFill>
                    <a:srgbClr val="FFFFFF"/>
                  </a:solidFill>
                  <a:latin typeface="+mn-lt"/>
                  <a:ea typeface="+mn-ea"/>
                  <a:cs typeface="+mn-cs"/>
                </a:rPr>
                <a:t>8624</a:t>
              </a:r>
              <a:r>
                <a:rPr lang="zh-CN" sz="820" b="1" dirty="0">
                  <a:solidFill>
                    <a:srgbClr val="FFFFFF"/>
                  </a:solidFill>
                  <a:latin typeface="+mn-lt"/>
                  <a:ea typeface="+mn-ea"/>
                  <a:cs typeface="+mn-cs"/>
                </a:rPr>
                <a:t xml:space="preserve"> 万吨</a:t>
              </a:r>
            </a:p>
          </p:txBody>
        </p:sp>
        <p:sp>
          <p:nvSpPr>
            <p:cNvPr id="16" name="Polygon 16"/>
            <p:cNvSpPr/>
            <p:nvPr/>
          </p:nvSpPr>
          <p:spPr>
            <a:xfrm>
              <a:off x="2343150" y="914400"/>
              <a:ext cx="266700" cy="361950"/>
            </a:xfrm>
            <a:custGeom>
              <a:avLst/>
              <a:gdLst/>
              <a:ahLst/>
              <a:cxnLst/>
              <a:rect l="l" t="t" r="r" b="b"/>
              <a:pathLst>
                <a:path w="266700" h="361950">
                  <a:moveTo>
                    <a:pt x="76200" y="361950"/>
                  </a:moveTo>
                  <a:lnTo>
                    <a:pt x="76200" y="190500"/>
                  </a:lnTo>
                  <a:lnTo>
                    <a:pt x="0" y="190500"/>
                  </a:lnTo>
                  <a:lnTo>
                    <a:pt x="133350" y="0"/>
                  </a:lnTo>
                  <a:lnTo>
                    <a:pt x="266700" y="190500"/>
                  </a:lnTo>
                  <a:lnTo>
                    <a:pt x="190500" y="190500"/>
                  </a:lnTo>
                  <a:lnTo>
                    <a:pt x="190500" y="361950"/>
                  </a:lnTo>
                  <a:close/>
                </a:path>
              </a:pathLst>
            </a:custGeom>
            <a:solidFill>
              <a:srgbClr val="FFFFFF"/>
            </a:solidFill>
            <a:ln>
              <a:noFill/>
            </a:ln>
          </p:spPr>
        </p:sp>
      </p:grpSp>
      <p:grpSp>
        <p:nvGrpSpPr>
          <p:cNvPr id="29" name="kpi-revenue"/>
          <p:cNvGrpSpPr/>
          <p:nvPr/>
        </p:nvGrpSpPr>
        <p:grpSpPr>
          <a:xfrm>
            <a:off x="3162300" y="800100"/>
            <a:ext cx="2476500" cy="671418"/>
            <a:chOff x="3162300" y="800100"/>
            <a:chExt cx="2476500" cy="671418"/>
          </a:xfrm>
        </p:grpSpPr>
        <p:sp>
          <p:nvSpPr>
            <p:cNvPr id="18" name="Rectangle 18"/>
            <p:cNvSpPr/>
            <p:nvPr/>
          </p:nvSpPr>
          <p:spPr>
            <a:xfrm>
              <a:off x="3162300" y="800100"/>
              <a:ext cx="2476500" cy="609600"/>
            </a:xfrm>
            <a:prstGeom prst="roundRect">
              <a:avLst>
                <a:gd name="adj" fmla="val 12500"/>
              </a:avLst>
            </a:prstGeom>
            <a:gradFill>
              <a:gsLst>
                <a:gs pos="0">
                  <a:srgbClr val="FF5B3A"/>
                </a:gs>
                <a:gs pos="100000">
                  <a:srgbClr val="C83B1E"/>
                </a:gs>
              </a:gsLst>
              <a:lin ang="0" scaled="1"/>
            </a:gradFill>
            <a:ln>
              <a:noFill/>
            </a:ln>
          </p:spPr>
        </p:sp>
        <p:sp>
          <p:nvSpPr>
            <p:cNvPr id="19" name="Ellipse 19"/>
            <p:cNvSpPr/>
            <p:nvPr/>
          </p:nvSpPr>
          <p:spPr>
            <a:xfrm>
              <a:off x="3343275" y="942975"/>
              <a:ext cx="323850" cy="323850"/>
            </a:xfrm>
            <a:prstGeom prst="ellipse">
              <a:avLst/>
            </a:prstGeom>
            <a:solidFill>
              <a:srgbClr val="FFFFFF"/>
            </a:solidFill>
            <a:ln>
              <a:noFill/>
            </a:ln>
          </p:spPr>
        </p:sp>
        <p:grpSp>
          <p:nvGrpSpPr>
            <p:cNvPr id="25" name="Group 25"/>
            <p:cNvGrpSpPr/>
            <p:nvPr/>
          </p:nvGrpSpPr>
          <p:grpSpPr>
            <a:xfrm>
              <a:off x="3433762" y="1032399"/>
              <a:ext cx="142875" cy="143938"/>
              <a:chOff x="3433762" y="1032399"/>
              <a:chExt cx="142875" cy="143938"/>
            </a:xfrm>
          </p:grpSpPr>
          <p:sp>
            <p:nvSpPr>
              <p:cNvPr id="20" name="Freeform 20"/>
              <p:cNvSpPr/>
              <p:nvPr/>
            </p:nvSpPr>
            <p:spPr>
              <a:xfrm>
                <a:off x="3481387" y="1096962"/>
                <a:ext cx="95250" cy="47625"/>
              </a:xfrm>
              <a:custGeom>
                <a:avLst/>
                <a:gdLst/>
                <a:ahLst/>
                <a:cxnLst/>
                <a:rect l="l" t="t" r="r" b="b"/>
                <a:pathLst>
                  <a:path w="95250" h="47625">
                    <a:moveTo>
                      <a:pt x="0" y="23812"/>
                    </a:moveTo>
                    <a:cubicBezTo>
                      <a:pt x="0" y="36965"/>
                      <a:pt x="21320" y="47625"/>
                      <a:pt x="47625" y="47625"/>
                    </a:cubicBezTo>
                    <a:cubicBezTo>
                      <a:pt x="73930" y="47625"/>
                      <a:pt x="95250" y="36965"/>
                      <a:pt x="95250" y="23812"/>
                    </a:cubicBezTo>
                    <a:cubicBezTo>
                      <a:pt x="95250" y="10660"/>
                      <a:pt x="73930" y="0"/>
                      <a:pt x="47625" y="0"/>
                    </a:cubicBezTo>
                    <a:cubicBezTo>
                      <a:pt x="21320" y="0"/>
                      <a:pt x="0" y="10660"/>
                      <a:pt x="0" y="23812"/>
                    </a:cubicBezTo>
                  </a:path>
                </a:pathLst>
              </a:custGeom>
              <a:noFill/>
              <a:ln w="15875">
                <a:solidFill>
                  <a:srgbClr val="E94B2B"/>
                </a:solidFill>
              </a:ln>
            </p:spPr>
          </p:sp>
          <p:sp>
            <p:nvSpPr>
              <p:cNvPr id="21" name="Freeform 21"/>
              <p:cNvSpPr/>
              <p:nvPr/>
            </p:nvSpPr>
            <p:spPr>
              <a:xfrm>
                <a:off x="3481387" y="1120775"/>
                <a:ext cx="95250" cy="55562"/>
              </a:xfrm>
              <a:custGeom>
                <a:avLst/>
                <a:gdLst/>
                <a:ahLst/>
                <a:cxnLst/>
                <a:rect l="l" t="t" r="r" b="b"/>
                <a:pathLst>
                  <a:path w="95250" h="55562">
                    <a:moveTo>
                      <a:pt x="0" y="0"/>
                    </a:moveTo>
                    <a:lnTo>
                      <a:pt x="0" y="31750"/>
                    </a:lnTo>
                    <a:cubicBezTo>
                      <a:pt x="0" y="44894"/>
                      <a:pt x="21320" y="55562"/>
                      <a:pt x="47625" y="55562"/>
                    </a:cubicBezTo>
                    <a:cubicBezTo>
                      <a:pt x="73930" y="55562"/>
                      <a:pt x="95250" y="44894"/>
                      <a:pt x="95250" y="31750"/>
                    </a:cubicBezTo>
                    <a:lnTo>
                      <a:pt x="95250" y="0"/>
                    </a:lnTo>
                  </a:path>
                </a:pathLst>
              </a:custGeom>
              <a:noFill/>
              <a:ln w="15875">
                <a:solidFill>
                  <a:srgbClr val="E94B2B"/>
                </a:solidFill>
              </a:ln>
            </p:spPr>
          </p:sp>
          <p:sp>
            <p:nvSpPr>
              <p:cNvPr id="22" name="Freeform 22"/>
              <p:cNvSpPr/>
              <p:nvPr/>
            </p:nvSpPr>
            <p:spPr>
              <a:xfrm>
                <a:off x="3433762" y="1032399"/>
                <a:ext cx="95250" cy="49752"/>
              </a:xfrm>
              <a:custGeom>
                <a:avLst/>
                <a:gdLst/>
                <a:ahLst/>
                <a:cxnLst/>
                <a:rect l="l" t="t" r="r" b="b"/>
                <a:pathLst>
                  <a:path w="95250" h="49752">
                    <a:moveTo>
                      <a:pt x="0" y="24876"/>
                    </a:moveTo>
                    <a:cubicBezTo>
                      <a:pt x="0" y="33385"/>
                      <a:pt x="9080" y="41243"/>
                      <a:pt x="23812" y="45498"/>
                    </a:cubicBezTo>
                    <a:cubicBezTo>
                      <a:pt x="38544" y="49752"/>
                      <a:pt x="56705" y="49752"/>
                      <a:pt x="71437" y="45498"/>
                    </a:cubicBezTo>
                    <a:cubicBezTo>
                      <a:pt x="86169" y="41243"/>
                      <a:pt x="95250" y="33385"/>
                      <a:pt x="95250" y="24876"/>
                    </a:cubicBezTo>
                    <a:cubicBezTo>
                      <a:pt x="95250" y="16367"/>
                      <a:pt x="86169" y="8509"/>
                      <a:pt x="71437" y="4254"/>
                    </a:cubicBezTo>
                    <a:cubicBezTo>
                      <a:pt x="56705" y="0"/>
                      <a:pt x="38544" y="0"/>
                      <a:pt x="23812" y="4254"/>
                    </a:cubicBezTo>
                    <a:cubicBezTo>
                      <a:pt x="9080" y="8509"/>
                      <a:pt x="0" y="16367"/>
                      <a:pt x="0" y="24876"/>
                    </a:cubicBezTo>
                  </a:path>
                </a:pathLst>
              </a:custGeom>
              <a:noFill/>
              <a:ln w="15875">
                <a:solidFill>
                  <a:srgbClr val="E94B2B"/>
                </a:solidFill>
              </a:ln>
            </p:spPr>
          </p:sp>
          <p:sp>
            <p:nvSpPr>
              <p:cNvPr id="23" name="Freeform 23"/>
              <p:cNvSpPr/>
              <p:nvPr/>
            </p:nvSpPr>
            <p:spPr>
              <a:xfrm>
                <a:off x="3433762" y="1057275"/>
                <a:ext cx="15875" cy="95250"/>
              </a:xfrm>
              <a:custGeom>
                <a:avLst/>
                <a:gdLst/>
                <a:ahLst/>
                <a:cxnLst/>
                <a:rect l="l" t="t" r="r" b="b"/>
                <a:pathLst>
                  <a:path w="15875" h="95250">
                    <a:moveTo>
                      <a:pt x="0" y="0"/>
                    </a:moveTo>
                    <a:lnTo>
                      <a:pt x="0" y="79375"/>
                    </a:lnTo>
                    <a:cubicBezTo>
                      <a:pt x="0" y="86423"/>
                      <a:pt x="6128" y="90884"/>
                      <a:pt x="15875" y="95250"/>
                    </a:cubicBezTo>
                  </a:path>
                </a:pathLst>
              </a:custGeom>
              <a:noFill/>
              <a:ln w="15875">
                <a:solidFill>
                  <a:srgbClr val="E94B2B"/>
                </a:solidFill>
              </a:ln>
            </p:spPr>
          </p:sp>
          <p:sp>
            <p:nvSpPr>
              <p:cNvPr id="24" name="Freeform 24"/>
              <p:cNvSpPr/>
              <p:nvPr/>
            </p:nvSpPr>
            <p:spPr>
              <a:xfrm>
                <a:off x="3433762" y="1096962"/>
                <a:ext cx="15875" cy="15875"/>
              </a:xfrm>
              <a:custGeom>
                <a:avLst/>
                <a:gdLst/>
                <a:ahLst/>
                <a:cxnLst/>
                <a:rect l="l" t="t" r="r" b="b"/>
                <a:pathLst>
                  <a:path w="15875" h="15875">
                    <a:moveTo>
                      <a:pt x="0" y="0"/>
                    </a:moveTo>
                    <a:cubicBezTo>
                      <a:pt x="0" y="7048"/>
                      <a:pt x="6128" y="11509"/>
                      <a:pt x="15875" y="15875"/>
                    </a:cubicBezTo>
                  </a:path>
                </a:pathLst>
              </a:custGeom>
              <a:noFill/>
              <a:ln w="15875">
                <a:solidFill>
                  <a:srgbClr val="E94B2B"/>
                </a:solidFill>
              </a:ln>
            </p:spPr>
          </p:sp>
        </p:grpSp>
        <p:sp>
          <p:nvSpPr>
            <p:cNvPr id="26" name="TextBox 26"/>
            <p:cNvSpPr txBox="1"/>
            <p:nvPr/>
          </p:nvSpPr>
          <p:spPr>
            <a:xfrm>
              <a:off x="3748088" y="927497"/>
              <a:ext cx="262611"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营收</a:t>
              </a:r>
            </a:p>
          </p:txBody>
        </p:sp>
        <p:sp>
          <p:nvSpPr>
            <p:cNvPr id="27" name="TextBox 27"/>
            <p:cNvSpPr txBox="1"/>
            <p:nvPr/>
          </p:nvSpPr>
          <p:spPr>
            <a:xfrm>
              <a:off x="3744849" y="1163479"/>
              <a:ext cx="1008555" cy="308039"/>
            </a:xfrm>
            <a:prstGeom prst="rect">
              <a:avLst/>
            </a:prstGeom>
            <a:noFill/>
            <a:ln>
              <a:noFill/>
            </a:ln>
          </p:spPr>
          <p:txBody>
            <a:bodyPr wrap="none" lIns="0" tIns="0" rIns="0" bIns="0" anchor="t" anchorCtr="0">
              <a:spAutoFit/>
            </a:bodyPr>
            <a:lstStyle/>
            <a:p>
              <a:pPr algn="l"/>
              <a:r>
                <a:rPr lang="zh-CN" sz="1580" b="1" dirty="0">
                  <a:solidFill>
                    <a:srgbClr val="FFFFFF"/>
                  </a:solidFill>
                  <a:latin typeface="+mn-lt"/>
                  <a:ea typeface="+mn-ea"/>
                  <a:cs typeface="+mn-cs"/>
                </a:rPr>
                <a:t>567.06</a:t>
              </a:r>
              <a:r>
                <a:rPr lang="zh-CN" sz="820" b="1" dirty="0">
                  <a:solidFill>
                    <a:srgbClr val="FFFFFF"/>
                  </a:solidFill>
                  <a:latin typeface="+mn-lt"/>
                  <a:ea typeface="+mn-ea"/>
                  <a:cs typeface="+mn-cs"/>
                </a:rPr>
                <a:t xml:space="preserve"> 万元</a:t>
              </a:r>
            </a:p>
          </p:txBody>
        </p:sp>
        <p:sp>
          <p:nvSpPr>
            <p:cNvPr id="28" name="Polygon 28"/>
            <p:cNvSpPr/>
            <p:nvPr/>
          </p:nvSpPr>
          <p:spPr>
            <a:xfrm>
              <a:off x="4933950" y="914400"/>
              <a:ext cx="266700" cy="361950"/>
            </a:xfrm>
            <a:custGeom>
              <a:avLst/>
              <a:gdLst/>
              <a:ahLst/>
              <a:cxnLst/>
              <a:rect l="l" t="t" r="r" b="b"/>
              <a:pathLst>
                <a:path w="266700" h="361950">
                  <a:moveTo>
                    <a:pt x="76200" y="361950"/>
                  </a:moveTo>
                  <a:lnTo>
                    <a:pt x="76200" y="190500"/>
                  </a:lnTo>
                  <a:lnTo>
                    <a:pt x="0" y="190500"/>
                  </a:lnTo>
                  <a:lnTo>
                    <a:pt x="133350" y="0"/>
                  </a:lnTo>
                  <a:lnTo>
                    <a:pt x="266700" y="190500"/>
                  </a:lnTo>
                  <a:lnTo>
                    <a:pt x="190500" y="190500"/>
                  </a:lnTo>
                  <a:lnTo>
                    <a:pt x="190500" y="361950"/>
                  </a:lnTo>
                  <a:close/>
                </a:path>
              </a:pathLst>
            </a:custGeom>
            <a:solidFill>
              <a:srgbClr val="FFFFFF"/>
            </a:solidFill>
            <a:ln>
              <a:noFill/>
            </a:ln>
          </p:spPr>
        </p:sp>
      </p:grpSp>
      <p:grpSp>
        <p:nvGrpSpPr>
          <p:cNvPr id="39" name="kpi-profit"/>
          <p:cNvGrpSpPr/>
          <p:nvPr/>
        </p:nvGrpSpPr>
        <p:grpSpPr>
          <a:xfrm>
            <a:off x="5753100" y="800100"/>
            <a:ext cx="2476500" cy="671418"/>
            <a:chOff x="5753100" y="800100"/>
            <a:chExt cx="2476500" cy="671418"/>
          </a:xfrm>
        </p:grpSpPr>
        <p:sp>
          <p:nvSpPr>
            <p:cNvPr id="30" name="Rectangle 30"/>
            <p:cNvSpPr/>
            <p:nvPr/>
          </p:nvSpPr>
          <p:spPr>
            <a:xfrm>
              <a:off x="5753100" y="800100"/>
              <a:ext cx="2476500" cy="609600"/>
            </a:xfrm>
            <a:prstGeom prst="roundRect">
              <a:avLst>
                <a:gd name="adj" fmla="val 12500"/>
              </a:avLst>
            </a:prstGeom>
            <a:gradFill>
              <a:gsLst>
                <a:gs pos="0">
                  <a:srgbClr val="FF5B3A"/>
                </a:gs>
                <a:gs pos="100000">
                  <a:srgbClr val="C83B1E"/>
                </a:gs>
              </a:gsLst>
              <a:lin ang="0" scaled="1"/>
            </a:gradFill>
            <a:ln>
              <a:noFill/>
            </a:ln>
          </p:spPr>
        </p:sp>
        <p:sp>
          <p:nvSpPr>
            <p:cNvPr id="31" name="Ellipse 31"/>
            <p:cNvSpPr/>
            <p:nvPr/>
          </p:nvSpPr>
          <p:spPr>
            <a:xfrm>
              <a:off x="5934075" y="942975"/>
              <a:ext cx="323850" cy="323850"/>
            </a:xfrm>
            <a:prstGeom prst="ellipse">
              <a:avLst/>
            </a:prstGeom>
            <a:solidFill>
              <a:srgbClr val="FFFFFF"/>
            </a:solidFill>
            <a:ln>
              <a:noFill/>
            </a:ln>
          </p:spPr>
        </p:sp>
        <p:grpSp>
          <p:nvGrpSpPr>
            <p:cNvPr id="35" name="Group 35"/>
            <p:cNvGrpSpPr/>
            <p:nvPr/>
          </p:nvGrpSpPr>
          <p:grpSpPr>
            <a:xfrm>
              <a:off x="6024562" y="1049337"/>
              <a:ext cx="142875" cy="111125"/>
              <a:chOff x="6024562" y="1049337"/>
              <a:chExt cx="142875" cy="111125"/>
            </a:xfrm>
          </p:grpSpPr>
          <p:sp>
            <p:nvSpPr>
              <p:cNvPr id="32" name="Freeform 32"/>
              <p:cNvSpPr/>
              <p:nvPr/>
            </p:nvSpPr>
            <p:spPr>
              <a:xfrm>
                <a:off x="6024562" y="1049337"/>
                <a:ext cx="111125" cy="79375"/>
              </a:xfrm>
              <a:custGeom>
                <a:avLst/>
                <a:gdLst/>
                <a:ahLst/>
                <a:cxnLst/>
                <a:rect l="l" t="t" r="r" b="b"/>
                <a:pathLst>
                  <a:path w="111125" h="79375">
                    <a:moveTo>
                      <a:pt x="31750" y="79375"/>
                    </a:moveTo>
                    <a:lnTo>
                      <a:pt x="7937" y="79375"/>
                    </a:lnTo>
                    <a:cubicBezTo>
                      <a:pt x="3554" y="79375"/>
                      <a:pt x="0" y="75821"/>
                      <a:pt x="0" y="71437"/>
                    </a:cubicBezTo>
                    <a:lnTo>
                      <a:pt x="0" y="7937"/>
                    </a:lnTo>
                    <a:cubicBezTo>
                      <a:pt x="0" y="3554"/>
                      <a:pt x="3554" y="0"/>
                      <a:pt x="7937" y="0"/>
                    </a:cubicBezTo>
                    <a:lnTo>
                      <a:pt x="103187" y="0"/>
                    </a:lnTo>
                    <a:cubicBezTo>
                      <a:pt x="107571" y="0"/>
                      <a:pt x="111125" y="3554"/>
                      <a:pt x="111125" y="7937"/>
                    </a:cubicBezTo>
                    <a:lnTo>
                      <a:pt x="111125" y="31750"/>
                    </a:lnTo>
                  </a:path>
                </a:pathLst>
              </a:custGeom>
              <a:noFill/>
              <a:ln w="15875">
                <a:solidFill>
                  <a:srgbClr val="E94B2B"/>
                </a:solidFill>
              </a:ln>
            </p:spPr>
          </p:sp>
          <p:sp>
            <p:nvSpPr>
              <p:cNvPr id="33" name="Freeform 33"/>
              <p:cNvSpPr/>
              <p:nvPr/>
            </p:nvSpPr>
            <p:spPr>
              <a:xfrm>
                <a:off x="6056312" y="1081087"/>
                <a:ext cx="111125" cy="79375"/>
              </a:xfrm>
              <a:custGeom>
                <a:avLst/>
                <a:gdLst/>
                <a:ahLst/>
                <a:cxnLst/>
                <a:rect l="l" t="t" r="r" b="b"/>
                <a:pathLst>
                  <a:path w="111125" h="79375">
                    <a:moveTo>
                      <a:pt x="0" y="7937"/>
                    </a:moveTo>
                    <a:cubicBezTo>
                      <a:pt x="0" y="3554"/>
                      <a:pt x="3554" y="0"/>
                      <a:pt x="7937" y="0"/>
                    </a:cubicBezTo>
                    <a:lnTo>
                      <a:pt x="103187" y="0"/>
                    </a:lnTo>
                    <a:cubicBezTo>
                      <a:pt x="107571" y="0"/>
                      <a:pt x="111125" y="3554"/>
                      <a:pt x="111125" y="7937"/>
                    </a:cubicBezTo>
                    <a:lnTo>
                      <a:pt x="111125" y="71437"/>
                    </a:lnTo>
                    <a:cubicBezTo>
                      <a:pt x="111125" y="75821"/>
                      <a:pt x="107571" y="79375"/>
                      <a:pt x="103187" y="79375"/>
                    </a:cubicBezTo>
                    <a:lnTo>
                      <a:pt x="7937" y="79375"/>
                    </a:lnTo>
                    <a:cubicBezTo>
                      <a:pt x="3554" y="79375"/>
                      <a:pt x="0" y="75821"/>
                      <a:pt x="0" y="71437"/>
                    </a:cubicBezTo>
                    <a:lnTo>
                      <a:pt x="0" y="7937"/>
                    </a:lnTo>
                  </a:path>
                </a:pathLst>
              </a:custGeom>
              <a:noFill/>
              <a:ln w="15875">
                <a:solidFill>
                  <a:srgbClr val="E94B2B"/>
                </a:solidFill>
              </a:ln>
            </p:spPr>
          </p:sp>
          <p:sp>
            <p:nvSpPr>
              <p:cNvPr id="34" name="Freeform 34"/>
              <p:cNvSpPr/>
              <p:nvPr/>
            </p:nvSpPr>
            <p:spPr>
              <a:xfrm>
                <a:off x="6096000" y="11049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E94B2B"/>
                </a:solidFill>
              </a:ln>
            </p:spPr>
          </p:sp>
        </p:grpSp>
        <p:sp>
          <p:nvSpPr>
            <p:cNvPr id="36" name="TextBox 36"/>
            <p:cNvSpPr txBox="1"/>
            <p:nvPr/>
          </p:nvSpPr>
          <p:spPr>
            <a:xfrm>
              <a:off x="6338888" y="927497"/>
              <a:ext cx="262611"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利润</a:t>
              </a:r>
            </a:p>
          </p:txBody>
        </p:sp>
        <p:sp>
          <p:nvSpPr>
            <p:cNvPr id="37" name="TextBox 37"/>
            <p:cNvSpPr txBox="1"/>
            <p:nvPr/>
          </p:nvSpPr>
          <p:spPr>
            <a:xfrm>
              <a:off x="6335649" y="1163479"/>
              <a:ext cx="1008555" cy="308039"/>
            </a:xfrm>
            <a:prstGeom prst="rect">
              <a:avLst/>
            </a:prstGeom>
            <a:noFill/>
            <a:ln>
              <a:noFill/>
            </a:ln>
          </p:spPr>
          <p:txBody>
            <a:bodyPr wrap="none" lIns="0" tIns="0" rIns="0" bIns="0" anchor="t" anchorCtr="0">
              <a:spAutoFit/>
            </a:bodyPr>
            <a:lstStyle/>
            <a:p>
              <a:pPr algn="l"/>
              <a:r>
                <a:rPr lang="zh-CN" sz="1580" b="1" dirty="0">
                  <a:solidFill>
                    <a:srgbClr val="FFFFFF"/>
                  </a:solidFill>
                  <a:latin typeface="+mn-lt"/>
                  <a:ea typeface="+mn-ea"/>
                  <a:cs typeface="+mn-cs"/>
                </a:rPr>
                <a:t>956.06</a:t>
              </a:r>
              <a:r>
                <a:rPr lang="zh-CN" sz="820" b="1" dirty="0">
                  <a:solidFill>
                    <a:srgbClr val="FFFFFF"/>
                  </a:solidFill>
                  <a:latin typeface="+mn-lt"/>
                  <a:ea typeface="+mn-ea"/>
                  <a:cs typeface="+mn-cs"/>
                </a:rPr>
                <a:t xml:space="preserve"> 万元</a:t>
              </a:r>
            </a:p>
          </p:txBody>
        </p:sp>
        <p:sp>
          <p:nvSpPr>
            <p:cNvPr id="38" name="Polygon 38"/>
            <p:cNvSpPr/>
            <p:nvPr/>
          </p:nvSpPr>
          <p:spPr>
            <a:xfrm>
              <a:off x="7524750" y="914400"/>
              <a:ext cx="266700" cy="361950"/>
            </a:xfrm>
            <a:custGeom>
              <a:avLst/>
              <a:gdLst/>
              <a:ahLst/>
              <a:cxnLst/>
              <a:rect l="l" t="t" r="r" b="b"/>
              <a:pathLst>
                <a:path w="266700" h="361950">
                  <a:moveTo>
                    <a:pt x="76200" y="361950"/>
                  </a:moveTo>
                  <a:lnTo>
                    <a:pt x="76200" y="190500"/>
                  </a:lnTo>
                  <a:lnTo>
                    <a:pt x="0" y="190500"/>
                  </a:lnTo>
                  <a:lnTo>
                    <a:pt x="133350" y="0"/>
                  </a:lnTo>
                  <a:lnTo>
                    <a:pt x="266700" y="190500"/>
                  </a:lnTo>
                  <a:lnTo>
                    <a:pt x="190500" y="190500"/>
                  </a:lnTo>
                  <a:lnTo>
                    <a:pt x="190500" y="361950"/>
                  </a:lnTo>
                  <a:close/>
                </a:path>
              </a:pathLst>
            </a:custGeom>
            <a:solidFill>
              <a:srgbClr val="FFFFFF"/>
            </a:solidFill>
            <a:ln>
              <a:noFill/>
            </a:ln>
          </p:spPr>
        </p:sp>
      </p:grpSp>
      <p:grpSp>
        <p:nvGrpSpPr>
          <p:cNvPr id="137" name="m-marketing-main"/>
          <p:cNvGrpSpPr/>
          <p:nvPr/>
        </p:nvGrpSpPr>
        <p:grpSpPr>
          <a:xfrm>
            <a:off x="571500" y="1562100"/>
            <a:ext cx="7707043" cy="3067050"/>
            <a:chOff x="571500" y="1562100"/>
            <a:chExt cx="7707043" cy="3067050"/>
          </a:xfrm>
        </p:grpSpPr>
        <p:sp>
          <p:nvSpPr>
            <p:cNvPr id="40" name="Rectangle 40"/>
            <p:cNvSpPr/>
            <p:nvPr/>
          </p:nvSpPr>
          <p:spPr>
            <a:xfrm>
              <a:off x="571500" y="1562100"/>
              <a:ext cx="7658100" cy="3067050"/>
            </a:xfrm>
            <a:prstGeom prst="rect">
              <a:avLst/>
            </a:prstGeom>
            <a:solidFill>
              <a:srgbClr val="FFFFFF"/>
            </a:solidFill>
            <a:ln w="11430">
              <a:solidFill>
                <a:srgbClr val="C9DDF5"/>
              </a:solidFill>
            </a:ln>
          </p:spPr>
        </p:sp>
        <p:sp>
          <p:nvSpPr>
            <p:cNvPr id="41" name="Rectangle 41"/>
            <p:cNvSpPr/>
            <p:nvPr/>
          </p:nvSpPr>
          <p:spPr>
            <a:xfrm>
              <a:off x="666750" y="1657350"/>
              <a:ext cx="2190750" cy="247650"/>
            </a:xfrm>
            <a:prstGeom prst="rect">
              <a:avLst/>
            </a:prstGeom>
            <a:gradFill>
              <a:gsLst>
                <a:gs pos="0">
                  <a:srgbClr val="FF5B3A"/>
                </a:gs>
                <a:gs pos="100000">
                  <a:srgbClr val="E94B2B"/>
                </a:gs>
              </a:gsLst>
              <a:lin ang="0" scaled="1"/>
            </a:gradFill>
            <a:ln>
              <a:noFill/>
            </a:ln>
          </p:spPr>
        </p:sp>
        <p:sp>
          <p:nvSpPr>
            <p:cNvPr id="42" name="Polygon 42"/>
            <p:cNvSpPr/>
            <p:nvPr/>
          </p:nvSpPr>
          <p:spPr>
            <a:xfrm>
              <a:off x="2762250" y="16573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sp>
          <p:nvSpPr>
            <p:cNvPr id="43" name="TextBox 43"/>
            <p:cNvSpPr txBox="1"/>
            <p:nvPr/>
          </p:nvSpPr>
          <p:spPr>
            <a:xfrm>
              <a:off x="756856" y="1719501"/>
              <a:ext cx="1369949"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业务销售额数据分析表</a:t>
              </a:r>
            </a:p>
          </p:txBody>
        </p:sp>
        <p:sp>
          <p:nvSpPr>
            <p:cNvPr id="44" name="Rectangle 44"/>
            <p:cNvSpPr/>
            <p:nvPr/>
          </p:nvSpPr>
          <p:spPr>
            <a:xfrm>
              <a:off x="5600700" y="1724025"/>
              <a:ext cx="85725" cy="85725"/>
            </a:xfrm>
            <a:prstGeom prst="rect">
              <a:avLst/>
            </a:prstGeom>
            <a:solidFill>
              <a:srgbClr val="F2563B"/>
            </a:solidFill>
            <a:ln>
              <a:noFill/>
            </a:ln>
          </p:spPr>
        </p:sp>
        <p:sp>
          <p:nvSpPr>
            <p:cNvPr id="45" name="TextBox 45"/>
            <p:cNvSpPr txBox="1"/>
            <p:nvPr/>
          </p:nvSpPr>
          <p:spPr>
            <a:xfrm>
              <a:off x="5719762" y="1723311"/>
              <a:ext cx="391846"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今年预算</a:t>
              </a:r>
            </a:p>
          </p:txBody>
        </p:sp>
        <p:sp>
          <p:nvSpPr>
            <p:cNvPr id="46" name="Rectangle 46"/>
            <p:cNvSpPr/>
            <p:nvPr/>
          </p:nvSpPr>
          <p:spPr>
            <a:xfrm>
              <a:off x="6438900" y="1724025"/>
              <a:ext cx="85725" cy="85725"/>
            </a:xfrm>
            <a:prstGeom prst="rect">
              <a:avLst/>
            </a:prstGeom>
            <a:solidFill>
              <a:srgbClr val="C83B1E"/>
            </a:solidFill>
            <a:ln>
              <a:noFill/>
            </a:ln>
          </p:spPr>
        </p:sp>
        <p:sp>
          <p:nvSpPr>
            <p:cNvPr id="47" name="TextBox 47"/>
            <p:cNvSpPr txBox="1"/>
            <p:nvPr/>
          </p:nvSpPr>
          <p:spPr>
            <a:xfrm>
              <a:off x="6557962" y="1723311"/>
              <a:ext cx="391846"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今年完成</a:t>
              </a:r>
            </a:p>
          </p:txBody>
        </p:sp>
        <p:sp>
          <p:nvSpPr>
            <p:cNvPr id="48" name="Line 48"/>
            <p:cNvSpPr/>
            <p:nvPr/>
          </p:nvSpPr>
          <p:spPr>
            <a:xfrm>
              <a:off x="7296150" y="1762125"/>
              <a:ext cx="133350" cy="9525"/>
            </a:xfrm>
            <a:custGeom>
              <a:avLst/>
              <a:gdLst/>
              <a:ahLst/>
              <a:cxnLst/>
              <a:rect l="l" t="t" r="r" b="b"/>
              <a:pathLst>
                <a:path w="133350" h="9525">
                  <a:moveTo>
                    <a:pt x="0" y="0"/>
                  </a:moveTo>
                  <a:lnTo>
                    <a:pt x="133350" y="0"/>
                  </a:lnTo>
                </a:path>
              </a:pathLst>
            </a:custGeom>
            <a:noFill/>
            <a:ln w="23812">
              <a:solidFill>
                <a:srgbClr val="F2563B"/>
              </a:solidFill>
            </a:ln>
          </p:spPr>
        </p:sp>
        <p:sp>
          <p:nvSpPr>
            <p:cNvPr id="49" name="TextBox 49"/>
            <p:cNvSpPr txBox="1"/>
            <p:nvPr/>
          </p:nvSpPr>
          <p:spPr>
            <a:xfrm>
              <a:off x="7462838" y="1723311"/>
              <a:ext cx="296266"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完成率</a:t>
              </a:r>
            </a:p>
          </p:txBody>
        </p:sp>
        <p:sp>
          <p:nvSpPr>
            <p:cNvPr id="50" name="Line 50"/>
            <p:cNvSpPr/>
            <p:nvPr/>
          </p:nvSpPr>
          <p:spPr>
            <a:xfrm>
              <a:off x="1000125" y="2076450"/>
              <a:ext cx="7048500" cy="9525"/>
            </a:xfrm>
            <a:custGeom>
              <a:avLst/>
              <a:gdLst/>
              <a:ahLst/>
              <a:cxnLst/>
              <a:rect l="l" t="t" r="r" b="b"/>
              <a:pathLst>
                <a:path w="7048500" h="9525">
                  <a:moveTo>
                    <a:pt x="0" y="0"/>
                  </a:moveTo>
                  <a:lnTo>
                    <a:pt x="7048500" y="0"/>
                  </a:lnTo>
                </a:path>
              </a:pathLst>
            </a:custGeom>
            <a:noFill/>
            <a:ln w="9525">
              <a:solidFill>
                <a:srgbClr val="EAF2FC"/>
              </a:solidFill>
            </a:ln>
          </p:spPr>
        </p:sp>
        <p:sp>
          <p:nvSpPr>
            <p:cNvPr id="51" name="Line 51"/>
            <p:cNvSpPr/>
            <p:nvPr/>
          </p:nvSpPr>
          <p:spPr>
            <a:xfrm>
              <a:off x="1000125" y="2505075"/>
              <a:ext cx="7048500" cy="9525"/>
            </a:xfrm>
            <a:custGeom>
              <a:avLst/>
              <a:gdLst/>
              <a:ahLst/>
              <a:cxnLst/>
              <a:rect l="l" t="t" r="r" b="b"/>
              <a:pathLst>
                <a:path w="7048500" h="9525">
                  <a:moveTo>
                    <a:pt x="0" y="0"/>
                  </a:moveTo>
                  <a:lnTo>
                    <a:pt x="7048500" y="0"/>
                  </a:lnTo>
                </a:path>
              </a:pathLst>
            </a:custGeom>
            <a:noFill/>
            <a:ln w="9525">
              <a:solidFill>
                <a:srgbClr val="EAF2FC"/>
              </a:solidFill>
            </a:ln>
          </p:spPr>
        </p:sp>
        <p:sp>
          <p:nvSpPr>
            <p:cNvPr id="52" name="Line 52"/>
            <p:cNvSpPr/>
            <p:nvPr/>
          </p:nvSpPr>
          <p:spPr>
            <a:xfrm>
              <a:off x="1000125" y="2933700"/>
              <a:ext cx="7048500" cy="9525"/>
            </a:xfrm>
            <a:custGeom>
              <a:avLst/>
              <a:gdLst/>
              <a:ahLst/>
              <a:cxnLst/>
              <a:rect l="l" t="t" r="r" b="b"/>
              <a:pathLst>
                <a:path w="7048500" h="9525">
                  <a:moveTo>
                    <a:pt x="0" y="0"/>
                  </a:moveTo>
                  <a:lnTo>
                    <a:pt x="7048500" y="0"/>
                  </a:lnTo>
                </a:path>
              </a:pathLst>
            </a:custGeom>
            <a:noFill/>
            <a:ln w="9525">
              <a:solidFill>
                <a:srgbClr val="EAF2FC"/>
              </a:solidFill>
            </a:ln>
          </p:spPr>
        </p:sp>
        <p:sp>
          <p:nvSpPr>
            <p:cNvPr id="53" name="Line 53"/>
            <p:cNvSpPr/>
            <p:nvPr/>
          </p:nvSpPr>
          <p:spPr>
            <a:xfrm>
              <a:off x="1000125" y="3362325"/>
              <a:ext cx="7048500" cy="9525"/>
            </a:xfrm>
            <a:custGeom>
              <a:avLst/>
              <a:gdLst/>
              <a:ahLst/>
              <a:cxnLst/>
              <a:rect l="l" t="t" r="r" b="b"/>
              <a:pathLst>
                <a:path w="7048500" h="9525">
                  <a:moveTo>
                    <a:pt x="0" y="0"/>
                  </a:moveTo>
                  <a:lnTo>
                    <a:pt x="7048500" y="0"/>
                  </a:lnTo>
                </a:path>
              </a:pathLst>
            </a:custGeom>
            <a:noFill/>
            <a:ln w="9525">
              <a:solidFill>
                <a:srgbClr val="EAF2FC"/>
              </a:solidFill>
            </a:ln>
          </p:spPr>
        </p:sp>
        <p:sp>
          <p:nvSpPr>
            <p:cNvPr id="54" name="Line 54"/>
            <p:cNvSpPr/>
            <p:nvPr/>
          </p:nvSpPr>
          <p:spPr>
            <a:xfrm>
              <a:off x="1000125" y="3790950"/>
              <a:ext cx="7048500" cy="9525"/>
            </a:xfrm>
            <a:custGeom>
              <a:avLst/>
              <a:gdLst/>
              <a:ahLst/>
              <a:cxnLst/>
              <a:rect l="l" t="t" r="r" b="b"/>
              <a:pathLst>
                <a:path w="7048500" h="9525">
                  <a:moveTo>
                    <a:pt x="0" y="0"/>
                  </a:moveTo>
                  <a:lnTo>
                    <a:pt x="7048500" y="0"/>
                  </a:lnTo>
                </a:path>
              </a:pathLst>
            </a:custGeom>
            <a:noFill/>
            <a:ln w="9525">
              <a:solidFill>
                <a:srgbClr val="EAF2FC"/>
              </a:solidFill>
            </a:ln>
          </p:spPr>
        </p:sp>
        <p:sp>
          <p:nvSpPr>
            <p:cNvPr id="55" name="TextBox 55"/>
            <p:cNvSpPr txBox="1"/>
            <p:nvPr/>
          </p:nvSpPr>
          <p:spPr>
            <a:xfrm>
              <a:off x="760514" y="2040255"/>
              <a:ext cx="187223"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2000</a:t>
              </a:r>
            </a:p>
          </p:txBody>
        </p:sp>
        <p:sp>
          <p:nvSpPr>
            <p:cNvPr id="56" name="TextBox 56"/>
            <p:cNvSpPr txBox="1"/>
            <p:nvPr/>
          </p:nvSpPr>
          <p:spPr>
            <a:xfrm>
              <a:off x="760514" y="2468880"/>
              <a:ext cx="187223"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1600</a:t>
              </a:r>
            </a:p>
          </p:txBody>
        </p:sp>
        <p:sp>
          <p:nvSpPr>
            <p:cNvPr id="57" name="TextBox 57"/>
            <p:cNvSpPr txBox="1"/>
            <p:nvPr/>
          </p:nvSpPr>
          <p:spPr>
            <a:xfrm>
              <a:off x="760514" y="2897505"/>
              <a:ext cx="187223"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1200</a:t>
              </a:r>
            </a:p>
          </p:txBody>
        </p:sp>
        <p:sp>
          <p:nvSpPr>
            <p:cNvPr id="58" name="TextBox 58"/>
            <p:cNvSpPr txBox="1"/>
            <p:nvPr/>
          </p:nvSpPr>
          <p:spPr>
            <a:xfrm>
              <a:off x="804939" y="3326130"/>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800</a:t>
              </a:r>
            </a:p>
          </p:txBody>
        </p:sp>
        <p:sp>
          <p:nvSpPr>
            <p:cNvPr id="59" name="TextBox 59"/>
            <p:cNvSpPr txBox="1"/>
            <p:nvPr/>
          </p:nvSpPr>
          <p:spPr>
            <a:xfrm>
              <a:off x="804939" y="3754755"/>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400</a:t>
              </a:r>
            </a:p>
          </p:txBody>
        </p:sp>
        <p:sp>
          <p:nvSpPr>
            <p:cNvPr id="60" name="TextBox 60"/>
            <p:cNvSpPr txBox="1"/>
            <p:nvPr/>
          </p:nvSpPr>
          <p:spPr>
            <a:xfrm>
              <a:off x="893788" y="4183380"/>
              <a:ext cx="53950"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0</a:t>
              </a:r>
            </a:p>
          </p:txBody>
        </p:sp>
        <p:sp>
          <p:nvSpPr>
            <p:cNvPr id="61" name="TextBox 61"/>
            <p:cNvSpPr txBox="1"/>
            <p:nvPr/>
          </p:nvSpPr>
          <p:spPr>
            <a:xfrm>
              <a:off x="8101012" y="2048351"/>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180%</a:t>
              </a:r>
            </a:p>
          </p:txBody>
        </p:sp>
        <p:sp>
          <p:nvSpPr>
            <p:cNvPr id="62" name="TextBox 62"/>
            <p:cNvSpPr txBox="1"/>
            <p:nvPr/>
          </p:nvSpPr>
          <p:spPr>
            <a:xfrm>
              <a:off x="8101012" y="2286476"/>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160%</a:t>
              </a:r>
            </a:p>
          </p:txBody>
        </p:sp>
        <p:sp>
          <p:nvSpPr>
            <p:cNvPr id="63" name="TextBox 63"/>
            <p:cNvSpPr txBox="1"/>
            <p:nvPr/>
          </p:nvSpPr>
          <p:spPr>
            <a:xfrm>
              <a:off x="8101012" y="2524601"/>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140%</a:t>
              </a:r>
            </a:p>
          </p:txBody>
        </p:sp>
        <p:sp>
          <p:nvSpPr>
            <p:cNvPr id="64" name="TextBox 64"/>
            <p:cNvSpPr txBox="1"/>
            <p:nvPr/>
          </p:nvSpPr>
          <p:spPr>
            <a:xfrm>
              <a:off x="8101012" y="2762726"/>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120%</a:t>
              </a:r>
            </a:p>
          </p:txBody>
        </p:sp>
        <p:sp>
          <p:nvSpPr>
            <p:cNvPr id="65" name="TextBox 65"/>
            <p:cNvSpPr txBox="1"/>
            <p:nvPr/>
          </p:nvSpPr>
          <p:spPr>
            <a:xfrm>
              <a:off x="8101012" y="3000851"/>
              <a:ext cx="177531"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100%</a:t>
              </a:r>
            </a:p>
          </p:txBody>
        </p:sp>
        <p:sp>
          <p:nvSpPr>
            <p:cNvPr id="66" name="TextBox 66"/>
            <p:cNvSpPr txBox="1"/>
            <p:nvPr/>
          </p:nvSpPr>
          <p:spPr>
            <a:xfrm>
              <a:off x="8101012" y="3238976"/>
              <a:ext cx="139029"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80%</a:t>
              </a:r>
            </a:p>
          </p:txBody>
        </p:sp>
        <p:sp>
          <p:nvSpPr>
            <p:cNvPr id="67" name="TextBox 67"/>
            <p:cNvSpPr txBox="1"/>
            <p:nvPr/>
          </p:nvSpPr>
          <p:spPr>
            <a:xfrm>
              <a:off x="8101012" y="3477101"/>
              <a:ext cx="139029"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60%</a:t>
              </a:r>
            </a:p>
          </p:txBody>
        </p:sp>
        <p:sp>
          <p:nvSpPr>
            <p:cNvPr id="68" name="TextBox 68"/>
            <p:cNvSpPr txBox="1"/>
            <p:nvPr/>
          </p:nvSpPr>
          <p:spPr>
            <a:xfrm>
              <a:off x="8101012" y="3715226"/>
              <a:ext cx="139029"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40%</a:t>
              </a:r>
            </a:p>
          </p:txBody>
        </p:sp>
        <p:sp>
          <p:nvSpPr>
            <p:cNvPr id="69" name="TextBox 69"/>
            <p:cNvSpPr txBox="1"/>
            <p:nvPr/>
          </p:nvSpPr>
          <p:spPr>
            <a:xfrm>
              <a:off x="8101012" y="3953351"/>
              <a:ext cx="139029"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20%</a:t>
              </a:r>
            </a:p>
          </p:txBody>
        </p:sp>
        <p:sp>
          <p:nvSpPr>
            <p:cNvPr id="70" name="TextBox 70"/>
            <p:cNvSpPr txBox="1"/>
            <p:nvPr/>
          </p:nvSpPr>
          <p:spPr>
            <a:xfrm>
              <a:off x="8101012" y="4191476"/>
              <a:ext cx="100528" cy="104775"/>
            </a:xfrm>
            <a:prstGeom prst="rect">
              <a:avLst/>
            </a:prstGeom>
            <a:noFill/>
            <a:ln>
              <a:noFill/>
            </a:ln>
          </p:spPr>
          <p:txBody>
            <a:bodyPr wrap="none" lIns="0" tIns="0" rIns="0" bIns="0" anchor="t" anchorCtr="0">
              <a:spAutoFit/>
            </a:bodyPr>
            <a:lstStyle/>
            <a:p>
              <a:pPr algn="l"/>
              <a:r>
                <a:rPr lang="zh-CN" sz="520" dirty="0">
                  <a:solidFill>
                    <a:srgbClr val="A6817A"/>
                  </a:solidFill>
                  <a:latin typeface="+mn-lt"/>
                  <a:ea typeface="+mn-ea"/>
                  <a:cs typeface="+mn-cs"/>
                </a:rPr>
                <a:t>0%</a:t>
              </a:r>
            </a:p>
          </p:txBody>
        </p:sp>
        <p:sp>
          <p:nvSpPr>
            <p:cNvPr id="71" name="Rectangle 71"/>
            <p:cNvSpPr/>
            <p:nvPr/>
          </p:nvSpPr>
          <p:spPr>
            <a:xfrm>
              <a:off x="1143000" y="3011805"/>
              <a:ext cx="133350" cy="1179195"/>
            </a:xfrm>
            <a:prstGeom prst="rect">
              <a:avLst/>
            </a:prstGeom>
            <a:solidFill>
              <a:srgbClr val="F2563B"/>
            </a:solidFill>
            <a:ln>
              <a:noFill/>
            </a:ln>
          </p:spPr>
        </p:sp>
        <p:sp>
          <p:nvSpPr>
            <p:cNvPr id="72" name="Rectangle 72"/>
            <p:cNvSpPr/>
            <p:nvPr/>
          </p:nvSpPr>
          <p:spPr>
            <a:xfrm>
              <a:off x="1314450" y="2418398"/>
              <a:ext cx="133350" cy="1772602"/>
            </a:xfrm>
            <a:prstGeom prst="rect">
              <a:avLst/>
            </a:prstGeom>
            <a:solidFill>
              <a:srgbClr val="C83B1E"/>
            </a:solidFill>
            <a:ln>
              <a:noFill/>
            </a:ln>
          </p:spPr>
        </p:sp>
        <p:sp>
          <p:nvSpPr>
            <p:cNvPr id="73" name="Rectangle 73"/>
            <p:cNvSpPr/>
            <p:nvPr/>
          </p:nvSpPr>
          <p:spPr>
            <a:xfrm>
              <a:off x="1733550" y="2958465"/>
              <a:ext cx="133350" cy="1232535"/>
            </a:xfrm>
            <a:prstGeom prst="rect">
              <a:avLst/>
            </a:prstGeom>
            <a:solidFill>
              <a:srgbClr val="F2563B"/>
            </a:solidFill>
            <a:ln>
              <a:noFill/>
            </a:ln>
          </p:spPr>
        </p:sp>
        <p:sp>
          <p:nvSpPr>
            <p:cNvPr id="74" name="Rectangle 74"/>
            <p:cNvSpPr/>
            <p:nvPr/>
          </p:nvSpPr>
          <p:spPr>
            <a:xfrm>
              <a:off x="1905000" y="2120265"/>
              <a:ext cx="133350" cy="2070735"/>
            </a:xfrm>
            <a:prstGeom prst="rect">
              <a:avLst/>
            </a:prstGeom>
            <a:solidFill>
              <a:srgbClr val="C83B1E"/>
            </a:solidFill>
            <a:ln>
              <a:noFill/>
            </a:ln>
          </p:spPr>
        </p:sp>
        <p:sp>
          <p:nvSpPr>
            <p:cNvPr id="75" name="Rectangle 75"/>
            <p:cNvSpPr/>
            <p:nvPr/>
          </p:nvSpPr>
          <p:spPr>
            <a:xfrm>
              <a:off x="2314575" y="2905125"/>
              <a:ext cx="133350" cy="1285875"/>
            </a:xfrm>
            <a:prstGeom prst="rect">
              <a:avLst/>
            </a:prstGeom>
            <a:solidFill>
              <a:srgbClr val="F2563B"/>
            </a:solidFill>
            <a:ln>
              <a:noFill/>
            </a:ln>
          </p:spPr>
        </p:sp>
        <p:sp>
          <p:nvSpPr>
            <p:cNvPr id="76" name="Rectangle 76"/>
            <p:cNvSpPr/>
            <p:nvPr/>
          </p:nvSpPr>
          <p:spPr>
            <a:xfrm>
              <a:off x="2486025" y="3048952"/>
              <a:ext cx="133350" cy="1142048"/>
            </a:xfrm>
            <a:prstGeom prst="rect">
              <a:avLst/>
            </a:prstGeom>
            <a:solidFill>
              <a:srgbClr val="C83B1E"/>
            </a:solidFill>
            <a:ln>
              <a:noFill/>
            </a:ln>
          </p:spPr>
        </p:sp>
        <p:sp>
          <p:nvSpPr>
            <p:cNvPr id="77" name="Rectangle 77"/>
            <p:cNvSpPr/>
            <p:nvPr/>
          </p:nvSpPr>
          <p:spPr>
            <a:xfrm>
              <a:off x="2905125" y="2829878"/>
              <a:ext cx="133350" cy="1361122"/>
            </a:xfrm>
            <a:prstGeom prst="rect">
              <a:avLst/>
            </a:prstGeom>
            <a:solidFill>
              <a:srgbClr val="F2563B"/>
            </a:solidFill>
            <a:ln>
              <a:noFill/>
            </a:ln>
          </p:spPr>
        </p:sp>
        <p:sp>
          <p:nvSpPr>
            <p:cNvPr id="78" name="Rectangle 78"/>
            <p:cNvSpPr/>
            <p:nvPr/>
          </p:nvSpPr>
          <p:spPr>
            <a:xfrm>
              <a:off x="3076575" y="2278380"/>
              <a:ext cx="133350" cy="1912620"/>
            </a:xfrm>
            <a:prstGeom prst="rect">
              <a:avLst/>
            </a:prstGeom>
            <a:solidFill>
              <a:srgbClr val="C83B1E"/>
            </a:solidFill>
            <a:ln>
              <a:noFill/>
            </a:ln>
          </p:spPr>
        </p:sp>
        <p:sp>
          <p:nvSpPr>
            <p:cNvPr id="79" name="Rectangle 79"/>
            <p:cNvSpPr/>
            <p:nvPr/>
          </p:nvSpPr>
          <p:spPr>
            <a:xfrm>
              <a:off x="3495675" y="2980372"/>
              <a:ext cx="133350" cy="1210628"/>
            </a:xfrm>
            <a:prstGeom prst="rect">
              <a:avLst/>
            </a:prstGeom>
            <a:solidFill>
              <a:srgbClr val="F2563B"/>
            </a:solidFill>
            <a:ln>
              <a:noFill/>
            </a:ln>
          </p:spPr>
        </p:sp>
        <p:sp>
          <p:nvSpPr>
            <p:cNvPr id="80" name="Rectangle 80"/>
            <p:cNvSpPr/>
            <p:nvPr/>
          </p:nvSpPr>
          <p:spPr>
            <a:xfrm>
              <a:off x="3667125" y="2538412"/>
              <a:ext cx="133350" cy="1652588"/>
            </a:xfrm>
            <a:prstGeom prst="rect">
              <a:avLst/>
            </a:prstGeom>
            <a:solidFill>
              <a:srgbClr val="C83B1E"/>
            </a:solidFill>
            <a:ln>
              <a:noFill/>
            </a:ln>
          </p:spPr>
        </p:sp>
        <p:sp>
          <p:nvSpPr>
            <p:cNvPr id="81" name="Rectangle 81"/>
            <p:cNvSpPr/>
            <p:nvPr/>
          </p:nvSpPr>
          <p:spPr>
            <a:xfrm>
              <a:off x="4076700" y="3119438"/>
              <a:ext cx="133350" cy="1071562"/>
            </a:xfrm>
            <a:prstGeom prst="rect">
              <a:avLst/>
            </a:prstGeom>
            <a:solidFill>
              <a:srgbClr val="F2563B"/>
            </a:solidFill>
            <a:ln>
              <a:noFill/>
            </a:ln>
          </p:spPr>
        </p:sp>
        <p:sp>
          <p:nvSpPr>
            <p:cNvPr id="82" name="Rectangle 82"/>
            <p:cNvSpPr/>
            <p:nvPr/>
          </p:nvSpPr>
          <p:spPr>
            <a:xfrm>
              <a:off x="4248150" y="3000375"/>
              <a:ext cx="133350" cy="1190625"/>
            </a:xfrm>
            <a:prstGeom prst="rect">
              <a:avLst/>
            </a:prstGeom>
            <a:solidFill>
              <a:srgbClr val="C83B1E"/>
            </a:solidFill>
            <a:ln>
              <a:noFill/>
            </a:ln>
          </p:spPr>
        </p:sp>
        <p:sp>
          <p:nvSpPr>
            <p:cNvPr id="83" name="Rectangle 83"/>
            <p:cNvSpPr/>
            <p:nvPr/>
          </p:nvSpPr>
          <p:spPr>
            <a:xfrm>
              <a:off x="4667250" y="2958465"/>
              <a:ext cx="133350" cy="1232535"/>
            </a:xfrm>
            <a:prstGeom prst="rect">
              <a:avLst/>
            </a:prstGeom>
            <a:solidFill>
              <a:srgbClr val="F2563B"/>
            </a:solidFill>
            <a:ln>
              <a:noFill/>
            </a:ln>
          </p:spPr>
        </p:sp>
        <p:sp>
          <p:nvSpPr>
            <p:cNvPr id="84" name="Rectangle 84"/>
            <p:cNvSpPr/>
            <p:nvPr/>
          </p:nvSpPr>
          <p:spPr>
            <a:xfrm>
              <a:off x="4838700" y="2770822"/>
              <a:ext cx="133350" cy="1420178"/>
            </a:xfrm>
            <a:prstGeom prst="rect">
              <a:avLst/>
            </a:prstGeom>
            <a:solidFill>
              <a:srgbClr val="C83B1E"/>
            </a:solidFill>
            <a:ln>
              <a:noFill/>
            </a:ln>
          </p:spPr>
        </p:sp>
        <p:sp>
          <p:nvSpPr>
            <p:cNvPr id="85" name="Rectangle 85"/>
            <p:cNvSpPr/>
            <p:nvPr/>
          </p:nvSpPr>
          <p:spPr>
            <a:xfrm>
              <a:off x="5257800" y="2872740"/>
              <a:ext cx="133350" cy="1318260"/>
            </a:xfrm>
            <a:prstGeom prst="rect">
              <a:avLst/>
            </a:prstGeom>
            <a:solidFill>
              <a:srgbClr val="F2563B"/>
            </a:solidFill>
            <a:ln>
              <a:noFill/>
            </a:ln>
          </p:spPr>
        </p:sp>
        <p:sp>
          <p:nvSpPr>
            <p:cNvPr id="86" name="Rectangle 86"/>
            <p:cNvSpPr/>
            <p:nvPr/>
          </p:nvSpPr>
          <p:spPr>
            <a:xfrm>
              <a:off x="5429250" y="2951798"/>
              <a:ext cx="133350" cy="1239202"/>
            </a:xfrm>
            <a:prstGeom prst="rect">
              <a:avLst/>
            </a:prstGeom>
            <a:solidFill>
              <a:srgbClr val="C83B1E"/>
            </a:solidFill>
            <a:ln>
              <a:noFill/>
            </a:ln>
          </p:spPr>
        </p:sp>
        <p:sp>
          <p:nvSpPr>
            <p:cNvPr id="87" name="Rectangle 87"/>
            <p:cNvSpPr/>
            <p:nvPr/>
          </p:nvSpPr>
          <p:spPr>
            <a:xfrm>
              <a:off x="5838825" y="2776538"/>
              <a:ext cx="133350" cy="1414462"/>
            </a:xfrm>
            <a:prstGeom prst="rect">
              <a:avLst/>
            </a:prstGeom>
            <a:solidFill>
              <a:srgbClr val="F2563B"/>
            </a:solidFill>
            <a:ln>
              <a:noFill/>
            </a:ln>
          </p:spPr>
        </p:sp>
        <p:sp>
          <p:nvSpPr>
            <p:cNvPr id="88" name="Rectangle 88"/>
            <p:cNvSpPr/>
            <p:nvPr/>
          </p:nvSpPr>
          <p:spPr>
            <a:xfrm>
              <a:off x="6010275" y="3927158"/>
              <a:ext cx="133350" cy="263842"/>
            </a:xfrm>
            <a:prstGeom prst="rect">
              <a:avLst/>
            </a:prstGeom>
            <a:solidFill>
              <a:srgbClr val="C83B1E"/>
            </a:solidFill>
            <a:ln>
              <a:noFill/>
            </a:ln>
          </p:spPr>
        </p:sp>
        <p:sp>
          <p:nvSpPr>
            <p:cNvPr id="89" name="Rectangle 89"/>
            <p:cNvSpPr/>
            <p:nvPr/>
          </p:nvSpPr>
          <p:spPr>
            <a:xfrm>
              <a:off x="6429375" y="2476500"/>
              <a:ext cx="133350" cy="1714500"/>
            </a:xfrm>
            <a:prstGeom prst="rect">
              <a:avLst/>
            </a:prstGeom>
            <a:solidFill>
              <a:srgbClr val="F2563B"/>
            </a:solidFill>
            <a:ln>
              <a:noFill/>
            </a:ln>
          </p:spPr>
        </p:sp>
        <p:sp>
          <p:nvSpPr>
            <p:cNvPr id="90" name="Rectangle 90"/>
            <p:cNvSpPr/>
            <p:nvPr/>
          </p:nvSpPr>
          <p:spPr>
            <a:xfrm>
              <a:off x="6600825" y="3445192"/>
              <a:ext cx="133350" cy="745808"/>
            </a:xfrm>
            <a:prstGeom prst="rect">
              <a:avLst/>
            </a:prstGeom>
            <a:solidFill>
              <a:srgbClr val="C83B1E"/>
            </a:solidFill>
            <a:ln>
              <a:noFill/>
            </a:ln>
          </p:spPr>
        </p:sp>
        <p:sp>
          <p:nvSpPr>
            <p:cNvPr id="91" name="Rectangle 91"/>
            <p:cNvSpPr/>
            <p:nvPr/>
          </p:nvSpPr>
          <p:spPr>
            <a:xfrm>
              <a:off x="7019925" y="2851785"/>
              <a:ext cx="133350" cy="1339215"/>
            </a:xfrm>
            <a:prstGeom prst="rect">
              <a:avLst/>
            </a:prstGeom>
            <a:solidFill>
              <a:srgbClr val="F2563B"/>
            </a:solidFill>
            <a:ln>
              <a:noFill/>
            </a:ln>
          </p:spPr>
        </p:sp>
        <p:sp>
          <p:nvSpPr>
            <p:cNvPr id="92" name="Rectangle 92"/>
            <p:cNvSpPr/>
            <p:nvPr/>
          </p:nvSpPr>
          <p:spPr>
            <a:xfrm>
              <a:off x="7191375" y="2159318"/>
              <a:ext cx="133350" cy="2031682"/>
            </a:xfrm>
            <a:prstGeom prst="rect">
              <a:avLst/>
            </a:prstGeom>
            <a:solidFill>
              <a:srgbClr val="C83B1E"/>
            </a:solidFill>
            <a:ln>
              <a:noFill/>
            </a:ln>
          </p:spPr>
        </p:sp>
        <p:sp>
          <p:nvSpPr>
            <p:cNvPr id="93" name="Rectangle 93"/>
            <p:cNvSpPr/>
            <p:nvPr/>
          </p:nvSpPr>
          <p:spPr>
            <a:xfrm>
              <a:off x="7620000" y="2958465"/>
              <a:ext cx="133350" cy="1232535"/>
            </a:xfrm>
            <a:prstGeom prst="rect">
              <a:avLst/>
            </a:prstGeom>
            <a:solidFill>
              <a:srgbClr val="F2563B"/>
            </a:solidFill>
            <a:ln>
              <a:noFill/>
            </a:ln>
          </p:spPr>
        </p:sp>
        <p:sp>
          <p:nvSpPr>
            <p:cNvPr id="94" name="Rectangle 94"/>
            <p:cNvSpPr/>
            <p:nvPr/>
          </p:nvSpPr>
          <p:spPr>
            <a:xfrm>
              <a:off x="7791450" y="2182178"/>
              <a:ext cx="133350" cy="2008822"/>
            </a:xfrm>
            <a:prstGeom prst="rect">
              <a:avLst/>
            </a:prstGeom>
            <a:solidFill>
              <a:srgbClr val="C83B1E"/>
            </a:solidFill>
            <a:ln>
              <a:noFill/>
            </a:ln>
          </p:spPr>
        </p:sp>
        <p:sp>
          <p:nvSpPr>
            <p:cNvPr id="95" name="TextBox 95"/>
            <p:cNvSpPr txBox="1"/>
            <p:nvPr/>
          </p:nvSpPr>
          <p:spPr>
            <a:xfrm>
              <a:off x="1325613" y="2306955"/>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1654</a:t>
              </a:r>
            </a:p>
          </p:txBody>
        </p:sp>
        <p:sp>
          <p:nvSpPr>
            <p:cNvPr id="96" name="TextBox 96"/>
            <p:cNvSpPr txBox="1"/>
            <p:nvPr/>
          </p:nvSpPr>
          <p:spPr>
            <a:xfrm>
              <a:off x="1916163" y="201168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1932</a:t>
              </a:r>
            </a:p>
          </p:txBody>
        </p:sp>
        <p:sp>
          <p:nvSpPr>
            <p:cNvPr id="97" name="TextBox 97"/>
            <p:cNvSpPr txBox="1"/>
            <p:nvPr/>
          </p:nvSpPr>
          <p:spPr>
            <a:xfrm>
              <a:off x="2497188" y="2935605"/>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1066</a:t>
              </a:r>
            </a:p>
          </p:txBody>
        </p:sp>
        <p:sp>
          <p:nvSpPr>
            <p:cNvPr id="98" name="TextBox 98"/>
            <p:cNvSpPr txBox="1"/>
            <p:nvPr/>
          </p:nvSpPr>
          <p:spPr>
            <a:xfrm>
              <a:off x="3087738" y="216408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1785</a:t>
              </a:r>
            </a:p>
          </p:txBody>
        </p:sp>
        <p:sp>
          <p:nvSpPr>
            <p:cNvPr id="99" name="TextBox 99"/>
            <p:cNvSpPr txBox="1"/>
            <p:nvPr/>
          </p:nvSpPr>
          <p:spPr>
            <a:xfrm>
              <a:off x="3678288" y="243078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1542</a:t>
              </a:r>
            </a:p>
          </p:txBody>
        </p:sp>
        <p:sp>
          <p:nvSpPr>
            <p:cNvPr id="100" name="TextBox 100"/>
            <p:cNvSpPr txBox="1"/>
            <p:nvPr/>
          </p:nvSpPr>
          <p:spPr>
            <a:xfrm>
              <a:off x="4259313" y="288798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1111</a:t>
              </a:r>
            </a:p>
          </p:txBody>
        </p:sp>
        <p:sp>
          <p:nvSpPr>
            <p:cNvPr id="101" name="TextBox 101"/>
            <p:cNvSpPr txBox="1"/>
            <p:nvPr/>
          </p:nvSpPr>
          <p:spPr>
            <a:xfrm>
              <a:off x="4849863" y="265938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1325</a:t>
              </a:r>
            </a:p>
          </p:txBody>
        </p:sp>
        <p:sp>
          <p:nvSpPr>
            <p:cNvPr id="102" name="TextBox 102"/>
            <p:cNvSpPr txBox="1"/>
            <p:nvPr/>
          </p:nvSpPr>
          <p:spPr>
            <a:xfrm>
              <a:off x="5440413" y="2840355"/>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1156</a:t>
              </a:r>
            </a:p>
          </p:txBody>
        </p:sp>
        <p:sp>
          <p:nvSpPr>
            <p:cNvPr id="103" name="TextBox 103"/>
            <p:cNvSpPr txBox="1"/>
            <p:nvPr/>
          </p:nvSpPr>
          <p:spPr>
            <a:xfrm>
              <a:off x="6043651" y="3811905"/>
              <a:ext cx="142799"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246</a:t>
              </a:r>
            </a:p>
          </p:txBody>
        </p:sp>
        <p:sp>
          <p:nvSpPr>
            <p:cNvPr id="104" name="TextBox 104"/>
            <p:cNvSpPr txBox="1"/>
            <p:nvPr/>
          </p:nvSpPr>
          <p:spPr>
            <a:xfrm>
              <a:off x="6634201" y="3335655"/>
              <a:ext cx="142799"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696</a:t>
              </a:r>
            </a:p>
          </p:txBody>
        </p:sp>
        <p:sp>
          <p:nvSpPr>
            <p:cNvPr id="105" name="TextBox 105"/>
            <p:cNvSpPr txBox="1"/>
            <p:nvPr/>
          </p:nvSpPr>
          <p:spPr>
            <a:xfrm>
              <a:off x="7202538" y="204978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1896</a:t>
              </a:r>
            </a:p>
          </p:txBody>
        </p:sp>
        <p:sp>
          <p:nvSpPr>
            <p:cNvPr id="106" name="TextBox 106"/>
            <p:cNvSpPr txBox="1"/>
            <p:nvPr/>
          </p:nvSpPr>
          <p:spPr>
            <a:xfrm>
              <a:off x="7802613" y="2068830"/>
              <a:ext cx="187223" cy="119062"/>
            </a:xfrm>
            <a:prstGeom prst="rect">
              <a:avLst/>
            </a:prstGeom>
            <a:noFill/>
            <a:ln>
              <a:noFill/>
            </a:ln>
          </p:spPr>
          <p:txBody>
            <a:bodyPr wrap="none" lIns="0" tIns="0" rIns="0" bIns="0" anchor="t" anchorCtr="0">
              <a:spAutoFit/>
            </a:bodyPr>
            <a:lstStyle/>
            <a:p>
              <a:pPr algn="ctr"/>
              <a:r>
                <a:rPr lang="zh-CN" sz="600" dirty="0">
                  <a:solidFill>
                    <a:srgbClr val="C83B1E"/>
                  </a:solidFill>
                  <a:latin typeface="+mn-lt"/>
                  <a:ea typeface="+mn-ea"/>
                  <a:cs typeface="+mn-cs"/>
                </a:rPr>
                <a:t>1875</a:t>
              </a:r>
            </a:p>
          </p:txBody>
        </p:sp>
        <p:sp>
          <p:nvSpPr>
            <p:cNvPr id="107" name="Polyline 107"/>
            <p:cNvSpPr/>
            <p:nvPr/>
          </p:nvSpPr>
          <p:spPr>
            <a:xfrm>
              <a:off x="1295400" y="2190750"/>
              <a:ext cx="6457950" cy="1774508"/>
            </a:xfrm>
            <a:custGeom>
              <a:avLst/>
              <a:gdLst/>
              <a:ahLst/>
              <a:cxnLst/>
              <a:rect l="l" t="t" r="r" b="b"/>
              <a:pathLst>
                <a:path w="6457950" h="1774508">
                  <a:moveTo>
                    <a:pt x="0" y="214312"/>
                  </a:moveTo>
                  <a:lnTo>
                    <a:pt x="590550" y="0"/>
                  </a:lnTo>
                  <a:lnTo>
                    <a:pt x="1171575" y="941070"/>
                  </a:lnTo>
                  <a:lnTo>
                    <a:pt x="1762125" y="333375"/>
                  </a:lnTo>
                  <a:lnTo>
                    <a:pt x="2352675" y="381000"/>
                  </a:lnTo>
                  <a:lnTo>
                    <a:pt x="2933700" y="679133"/>
                  </a:lnTo>
                  <a:lnTo>
                    <a:pt x="3524250" y="631508"/>
                  </a:lnTo>
                  <a:lnTo>
                    <a:pt x="4114800" y="881062"/>
                  </a:lnTo>
                  <a:lnTo>
                    <a:pt x="4695825" y="1774508"/>
                  </a:lnTo>
                  <a:lnTo>
                    <a:pt x="5286375" y="1476375"/>
                  </a:lnTo>
                  <a:lnTo>
                    <a:pt x="5876925" y="190500"/>
                  </a:lnTo>
                  <a:lnTo>
                    <a:pt x="6457950" y="60008"/>
                  </a:lnTo>
                </a:path>
              </a:pathLst>
            </a:custGeom>
            <a:noFill/>
            <a:ln w="23812">
              <a:solidFill>
                <a:srgbClr val="F2563B"/>
              </a:solidFill>
            </a:ln>
          </p:spPr>
        </p:sp>
        <p:sp>
          <p:nvSpPr>
            <p:cNvPr id="108" name="Ellipse 108"/>
            <p:cNvSpPr/>
            <p:nvPr/>
          </p:nvSpPr>
          <p:spPr>
            <a:xfrm>
              <a:off x="1271588" y="2381250"/>
              <a:ext cx="47625" cy="47625"/>
            </a:xfrm>
            <a:prstGeom prst="ellipse">
              <a:avLst/>
            </a:prstGeom>
            <a:solidFill>
              <a:srgbClr val="F2563B"/>
            </a:solidFill>
            <a:ln w="9525">
              <a:solidFill>
                <a:srgbClr val="FFFFFF"/>
              </a:solidFill>
            </a:ln>
          </p:spPr>
        </p:sp>
        <p:sp>
          <p:nvSpPr>
            <p:cNvPr id="109" name="Ellipse 109"/>
            <p:cNvSpPr/>
            <p:nvPr/>
          </p:nvSpPr>
          <p:spPr>
            <a:xfrm>
              <a:off x="1862138" y="2166938"/>
              <a:ext cx="47625" cy="47625"/>
            </a:xfrm>
            <a:prstGeom prst="ellipse">
              <a:avLst/>
            </a:prstGeom>
            <a:solidFill>
              <a:srgbClr val="F2563B"/>
            </a:solidFill>
            <a:ln w="9525">
              <a:solidFill>
                <a:srgbClr val="FFFFFF"/>
              </a:solidFill>
            </a:ln>
          </p:spPr>
        </p:sp>
        <p:sp>
          <p:nvSpPr>
            <p:cNvPr id="110" name="Ellipse 110"/>
            <p:cNvSpPr/>
            <p:nvPr/>
          </p:nvSpPr>
          <p:spPr>
            <a:xfrm>
              <a:off x="2443162" y="3108008"/>
              <a:ext cx="47625" cy="47625"/>
            </a:xfrm>
            <a:prstGeom prst="ellipse">
              <a:avLst/>
            </a:prstGeom>
            <a:solidFill>
              <a:srgbClr val="F2563B"/>
            </a:solidFill>
            <a:ln w="9525">
              <a:solidFill>
                <a:srgbClr val="FFFFFF"/>
              </a:solidFill>
            </a:ln>
          </p:spPr>
        </p:sp>
        <p:sp>
          <p:nvSpPr>
            <p:cNvPr id="111" name="Ellipse 111"/>
            <p:cNvSpPr/>
            <p:nvPr/>
          </p:nvSpPr>
          <p:spPr>
            <a:xfrm>
              <a:off x="3033712" y="2500312"/>
              <a:ext cx="47625" cy="47625"/>
            </a:xfrm>
            <a:prstGeom prst="ellipse">
              <a:avLst/>
            </a:prstGeom>
            <a:solidFill>
              <a:srgbClr val="F2563B"/>
            </a:solidFill>
            <a:ln w="9525">
              <a:solidFill>
                <a:srgbClr val="FFFFFF"/>
              </a:solidFill>
            </a:ln>
          </p:spPr>
        </p:sp>
        <p:sp>
          <p:nvSpPr>
            <p:cNvPr id="112" name="Ellipse 112"/>
            <p:cNvSpPr/>
            <p:nvPr/>
          </p:nvSpPr>
          <p:spPr>
            <a:xfrm>
              <a:off x="3624262" y="2547938"/>
              <a:ext cx="47625" cy="47625"/>
            </a:xfrm>
            <a:prstGeom prst="ellipse">
              <a:avLst/>
            </a:prstGeom>
            <a:solidFill>
              <a:srgbClr val="F2563B"/>
            </a:solidFill>
            <a:ln w="9525">
              <a:solidFill>
                <a:srgbClr val="FFFFFF"/>
              </a:solidFill>
            </a:ln>
          </p:spPr>
        </p:sp>
        <p:sp>
          <p:nvSpPr>
            <p:cNvPr id="113" name="Ellipse 113"/>
            <p:cNvSpPr/>
            <p:nvPr/>
          </p:nvSpPr>
          <p:spPr>
            <a:xfrm>
              <a:off x="4205288" y="2846070"/>
              <a:ext cx="47625" cy="47625"/>
            </a:xfrm>
            <a:prstGeom prst="ellipse">
              <a:avLst/>
            </a:prstGeom>
            <a:solidFill>
              <a:srgbClr val="F2563B"/>
            </a:solidFill>
            <a:ln w="9525">
              <a:solidFill>
                <a:srgbClr val="FFFFFF"/>
              </a:solidFill>
            </a:ln>
          </p:spPr>
        </p:sp>
        <p:sp>
          <p:nvSpPr>
            <p:cNvPr id="114" name="Ellipse 114"/>
            <p:cNvSpPr/>
            <p:nvPr/>
          </p:nvSpPr>
          <p:spPr>
            <a:xfrm>
              <a:off x="4795838" y="2798445"/>
              <a:ext cx="47625" cy="47625"/>
            </a:xfrm>
            <a:prstGeom prst="ellipse">
              <a:avLst/>
            </a:prstGeom>
            <a:solidFill>
              <a:srgbClr val="F2563B"/>
            </a:solidFill>
            <a:ln w="9525">
              <a:solidFill>
                <a:srgbClr val="FFFFFF"/>
              </a:solidFill>
            </a:ln>
          </p:spPr>
        </p:sp>
        <p:sp>
          <p:nvSpPr>
            <p:cNvPr id="115" name="Ellipse 115"/>
            <p:cNvSpPr/>
            <p:nvPr/>
          </p:nvSpPr>
          <p:spPr>
            <a:xfrm>
              <a:off x="5386388" y="3048000"/>
              <a:ext cx="47625" cy="47625"/>
            </a:xfrm>
            <a:prstGeom prst="ellipse">
              <a:avLst/>
            </a:prstGeom>
            <a:solidFill>
              <a:srgbClr val="F2563B"/>
            </a:solidFill>
            <a:ln w="9525">
              <a:solidFill>
                <a:srgbClr val="FFFFFF"/>
              </a:solidFill>
            </a:ln>
          </p:spPr>
        </p:sp>
        <p:sp>
          <p:nvSpPr>
            <p:cNvPr id="116" name="Ellipse 116"/>
            <p:cNvSpPr/>
            <p:nvPr/>
          </p:nvSpPr>
          <p:spPr>
            <a:xfrm>
              <a:off x="5967412" y="3941445"/>
              <a:ext cx="47625" cy="47625"/>
            </a:xfrm>
            <a:prstGeom prst="ellipse">
              <a:avLst/>
            </a:prstGeom>
            <a:solidFill>
              <a:srgbClr val="F2563B"/>
            </a:solidFill>
            <a:ln w="9525">
              <a:solidFill>
                <a:srgbClr val="FFFFFF"/>
              </a:solidFill>
            </a:ln>
          </p:spPr>
        </p:sp>
        <p:sp>
          <p:nvSpPr>
            <p:cNvPr id="117" name="Ellipse 117"/>
            <p:cNvSpPr/>
            <p:nvPr/>
          </p:nvSpPr>
          <p:spPr>
            <a:xfrm>
              <a:off x="6557962" y="3643312"/>
              <a:ext cx="47625" cy="47625"/>
            </a:xfrm>
            <a:prstGeom prst="ellipse">
              <a:avLst/>
            </a:prstGeom>
            <a:solidFill>
              <a:srgbClr val="F2563B"/>
            </a:solidFill>
            <a:ln w="9525">
              <a:solidFill>
                <a:srgbClr val="FFFFFF"/>
              </a:solidFill>
            </a:ln>
          </p:spPr>
        </p:sp>
        <p:sp>
          <p:nvSpPr>
            <p:cNvPr id="118" name="Ellipse 118"/>
            <p:cNvSpPr/>
            <p:nvPr/>
          </p:nvSpPr>
          <p:spPr>
            <a:xfrm>
              <a:off x="7148512" y="2357438"/>
              <a:ext cx="47625" cy="47625"/>
            </a:xfrm>
            <a:prstGeom prst="ellipse">
              <a:avLst/>
            </a:prstGeom>
            <a:solidFill>
              <a:srgbClr val="F2563B"/>
            </a:solidFill>
            <a:ln w="9525">
              <a:solidFill>
                <a:srgbClr val="FFFFFF"/>
              </a:solidFill>
            </a:ln>
          </p:spPr>
        </p:sp>
        <p:sp>
          <p:nvSpPr>
            <p:cNvPr id="119" name="Ellipse 119"/>
            <p:cNvSpPr/>
            <p:nvPr/>
          </p:nvSpPr>
          <p:spPr>
            <a:xfrm>
              <a:off x="7729538" y="2226945"/>
              <a:ext cx="47625" cy="47625"/>
            </a:xfrm>
            <a:prstGeom prst="ellipse">
              <a:avLst/>
            </a:prstGeom>
            <a:solidFill>
              <a:srgbClr val="F2563B"/>
            </a:solidFill>
            <a:ln w="9525">
              <a:solidFill>
                <a:srgbClr val="FFFFFF"/>
              </a:solidFill>
            </a:ln>
          </p:spPr>
        </p:sp>
        <p:sp>
          <p:nvSpPr>
            <p:cNvPr id="120" name="Rectangle 120"/>
            <p:cNvSpPr/>
            <p:nvPr/>
          </p:nvSpPr>
          <p:spPr>
            <a:xfrm>
              <a:off x="3238500" y="2095500"/>
              <a:ext cx="819150" cy="247650"/>
            </a:xfrm>
            <a:prstGeom prst="roundRect">
              <a:avLst>
                <a:gd name="adj" fmla="val 50000"/>
              </a:avLst>
            </a:prstGeom>
            <a:solidFill>
              <a:srgbClr val="E94B2B"/>
            </a:solidFill>
            <a:ln>
              <a:noFill/>
            </a:ln>
          </p:spPr>
        </p:sp>
        <p:sp>
          <p:nvSpPr>
            <p:cNvPr id="121" name="Polygon 121"/>
            <p:cNvSpPr/>
            <p:nvPr/>
          </p:nvSpPr>
          <p:spPr>
            <a:xfrm>
              <a:off x="3590925" y="2343150"/>
              <a:ext cx="114300" cy="76200"/>
            </a:xfrm>
            <a:custGeom>
              <a:avLst/>
              <a:gdLst/>
              <a:ahLst/>
              <a:cxnLst/>
              <a:rect l="l" t="t" r="r" b="b"/>
              <a:pathLst>
                <a:path w="114300" h="76200">
                  <a:moveTo>
                    <a:pt x="0" y="0"/>
                  </a:moveTo>
                  <a:lnTo>
                    <a:pt x="114300" y="0"/>
                  </a:lnTo>
                  <a:lnTo>
                    <a:pt x="57150" y="76200"/>
                  </a:lnTo>
                  <a:close/>
                </a:path>
              </a:pathLst>
            </a:custGeom>
            <a:solidFill>
              <a:srgbClr val="E94B2B"/>
            </a:solidFill>
            <a:ln>
              <a:noFill/>
            </a:ln>
          </p:spPr>
        </p:sp>
        <p:sp>
          <p:nvSpPr>
            <p:cNvPr id="122" name="TextBox 122"/>
            <p:cNvSpPr txBox="1"/>
            <p:nvPr/>
          </p:nvSpPr>
          <p:spPr>
            <a:xfrm>
              <a:off x="3347233" y="2169795"/>
              <a:ext cx="60168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1325万元​</a:t>
              </a:r>
            </a:p>
          </p:txBody>
        </p:sp>
        <p:sp>
          <p:nvSpPr>
            <p:cNvPr id="123" name="Line 123"/>
            <p:cNvSpPr/>
            <p:nvPr/>
          </p:nvSpPr>
          <p:spPr>
            <a:xfrm>
              <a:off x="3648075" y="2419350"/>
              <a:ext cx="9525" cy="304800"/>
            </a:xfrm>
            <a:custGeom>
              <a:avLst/>
              <a:gdLst/>
              <a:ahLst/>
              <a:cxnLst/>
              <a:rect l="l" t="t" r="r" b="b"/>
              <a:pathLst>
                <a:path w="9525" h="304800">
                  <a:moveTo>
                    <a:pt x="0" y="0"/>
                  </a:moveTo>
                  <a:lnTo>
                    <a:pt x="0" y="304800"/>
                  </a:lnTo>
                </a:path>
              </a:pathLst>
            </a:custGeom>
            <a:noFill/>
            <a:ln w="9525">
              <a:solidFill>
                <a:srgbClr val="E94B2B"/>
              </a:solidFill>
              <a:custDash>
                <a:ds d="300000" sp="200000"/>
              </a:custDash>
            </a:ln>
          </p:spPr>
        </p:sp>
        <p:sp>
          <p:nvSpPr>
            <p:cNvPr id="124" name="Line 124"/>
            <p:cNvSpPr/>
            <p:nvPr/>
          </p:nvSpPr>
          <p:spPr>
            <a:xfrm>
              <a:off x="1000125" y="4191000"/>
              <a:ext cx="7048500" cy="9525"/>
            </a:xfrm>
            <a:custGeom>
              <a:avLst/>
              <a:gdLst/>
              <a:ahLst/>
              <a:cxnLst/>
              <a:rect l="l" t="t" r="r" b="b"/>
              <a:pathLst>
                <a:path w="7048500" h="9525">
                  <a:moveTo>
                    <a:pt x="0" y="0"/>
                  </a:moveTo>
                  <a:lnTo>
                    <a:pt x="7048500" y="0"/>
                  </a:lnTo>
                </a:path>
              </a:pathLst>
            </a:custGeom>
            <a:noFill/>
            <a:ln w="11430">
              <a:solidFill>
                <a:srgbClr val="E6C1B9"/>
              </a:solidFill>
            </a:ln>
          </p:spPr>
        </p:sp>
        <p:sp>
          <p:nvSpPr>
            <p:cNvPr id="125" name="TextBox 125"/>
            <p:cNvSpPr txBox="1"/>
            <p:nvPr/>
          </p:nvSpPr>
          <p:spPr>
            <a:xfrm>
              <a:off x="1219693" y="42895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1月</a:t>
              </a:r>
            </a:p>
          </p:txBody>
        </p:sp>
        <p:sp>
          <p:nvSpPr>
            <p:cNvPr id="126" name="TextBox 126"/>
            <p:cNvSpPr txBox="1"/>
            <p:nvPr/>
          </p:nvSpPr>
          <p:spPr>
            <a:xfrm>
              <a:off x="1810243" y="42895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2月</a:t>
              </a:r>
            </a:p>
          </p:txBody>
        </p:sp>
        <p:sp>
          <p:nvSpPr>
            <p:cNvPr id="127" name="TextBox 127"/>
            <p:cNvSpPr txBox="1"/>
            <p:nvPr/>
          </p:nvSpPr>
          <p:spPr>
            <a:xfrm>
              <a:off x="2391268" y="42895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3月</a:t>
              </a:r>
            </a:p>
          </p:txBody>
        </p:sp>
        <p:sp>
          <p:nvSpPr>
            <p:cNvPr id="128" name="TextBox 128"/>
            <p:cNvSpPr txBox="1"/>
            <p:nvPr/>
          </p:nvSpPr>
          <p:spPr>
            <a:xfrm>
              <a:off x="2981818" y="42895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4月</a:t>
              </a:r>
            </a:p>
          </p:txBody>
        </p:sp>
        <p:sp>
          <p:nvSpPr>
            <p:cNvPr id="129" name="TextBox 129"/>
            <p:cNvSpPr txBox="1"/>
            <p:nvPr/>
          </p:nvSpPr>
          <p:spPr>
            <a:xfrm>
              <a:off x="3572368" y="42895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5月</a:t>
              </a:r>
            </a:p>
          </p:txBody>
        </p:sp>
        <p:sp>
          <p:nvSpPr>
            <p:cNvPr id="130" name="TextBox 130"/>
            <p:cNvSpPr txBox="1"/>
            <p:nvPr/>
          </p:nvSpPr>
          <p:spPr>
            <a:xfrm>
              <a:off x="4153393" y="42895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6月</a:t>
              </a:r>
            </a:p>
          </p:txBody>
        </p:sp>
        <p:sp>
          <p:nvSpPr>
            <p:cNvPr id="131" name="TextBox 131"/>
            <p:cNvSpPr txBox="1"/>
            <p:nvPr/>
          </p:nvSpPr>
          <p:spPr>
            <a:xfrm>
              <a:off x="4743943" y="42895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7月</a:t>
              </a:r>
            </a:p>
          </p:txBody>
        </p:sp>
        <p:sp>
          <p:nvSpPr>
            <p:cNvPr id="132" name="TextBox 132"/>
            <p:cNvSpPr txBox="1"/>
            <p:nvPr/>
          </p:nvSpPr>
          <p:spPr>
            <a:xfrm>
              <a:off x="5334493" y="42895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8月</a:t>
              </a:r>
            </a:p>
          </p:txBody>
        </p:sp>
        <p:sp>
          <p:nvSpPr>
            <p:cNvPr id="133" name="TextBox 133"/>
            <p:cNvSpPr txBox="1"/>
            <p:nvPr/>
          </p:nvSpPr>
          <p:spPr>
            <a:xfrm>
              <a:off x="5915518" y="4289584"/>
              <a:ext cx="151414"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9月</a:t>
              </a:r>
            </a:p>
          </p:txBody>
        </p:sp>
        <p:sp>
          <p:nvSpPr>
            <p:cNvPr id="134" name="TextBox 134"/>
            <p:cNvSpPr txBox="1"/>
            <p:nvPr/>
          </p:nvSpPr>
          <p:spPr>
            <a:xfrm>
              <a:off x="6480894" y="4289584"/>
              <a:ext cx="201762"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10月</a:t>
              </a:r>
            </a:p>
          </p:txBody>
        </p:sp>
        <p:sp>
          <p:nvSpPr>
            <p:cNvPr id="135" name="TextBox 135"/>
            <p:cNvSpPr txBox="1"/>
            <p:nvPr/>
          </p:nvSpPr>
          <p:spPr>
            <a:xfrm>
              <a:off x="7071444" y="4289584"/>
              <a:ext cx="201762"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11月</a:t>
              </a:r>
            </a:p>
          </p:txBody>
        </p:sp>
        <p:sp>
          <p:nvSpPr>
            <p:cNvPr id="136" name="TextBox 136"/>
            <p:cNvSpPr txBox="1"/>
            <p:nvPr/>
          </p:nvSpPr>
          <p:spPr>
            <a:xfrm>
              <a:off x="7652469" y="4289584"/>
              <a:ext cx="201762"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12月</a:t>
              </a:r>
            </a:p>
          </p:txBody>
        </p:sp>
      </p:grpSp>
      <p:grpSp>
        <p:nvGrpSpPr>
          <p:cNvPr id="180" name="m-marketing-table"/>
          <p:cNvGrpSpPr/>
          <p:nvPr/>
        </p:nvGrpSpPr>
        <p:grpSpPr>
          <a:xfrm>
            <a:off x="571500" y="4819650"/>
            <a:ext cx="7658100" cy="1733550"/>
            <a:chOff x="571500" y="4819650"/>
            <a:chExt cx="7658100" cy="1733550"/>
          </a:xfrm>
        </p:grpSpPr>
        <p:sp>
          <p:nvSpPr>
            <p:cNvPr id="138" name="Rectangle 138"/>
            <p:cNvSpPr/>
            <p:nvPr/>
          </p:nvSpPr>
          <p:spPr>
            <a:xfrm>
              <a:off x="571500" y="4819650"/>
              <a:ext cx="7658100" cy="1733550"/>
            </a:xfrm>
            <a:prstGeom prst="rect">
              <a:avLst/>
            </a:prstGeom>
            <a:solidFill>
              <a:srgbClr val="FFFFFF"/>
            </a:solidFill>
            <a:ln w="11430">
              <a:solidFill>
                <a:srgbClr val="C9DDF5"/>
              </a:solidFill>
            </a:ln>
          </p:spPr>
        </p:sp>
        <p:sp>
          <p:nvSpPr>
            <p:cNvPr id="139" name="Rectangle 139"/>
            <p:cNvSpPr/>
            <p:nvPr/>
          </p:nvSpPr>
          <p:spPr>
            <a:xfrm>
              <a:off x="666750" y="4991100"/>
              <a:ext cx="7467600" cy="342900"/>
            </a:xfrm>
            <a:prstGeom prst="rect">
              <a:avLst/>
            </a:prstGeom>
            <a:solidFill>
              <a:srgbClr val="EAF2FC"/>
            </a:solidFill>
            <a:ln>
              <a:noFill/>
            </a:ln>
          </p:spPr>
        </p:sp>
        <p:sp>
          <p:nvSpPr>
            <p:cNvPr id="140" name="TextBox 140"/>
            <p:cNvSpPr txBox="1"/>
            <p:nvPr/>
          </p:nvSpPr>
          <p:spPr>
            <a:xfrm>
              <a:off x="921830" y="5113020"/>
              <a:ext cx="251841"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年份</a:t>
              </a:r>
            </a:p>
          </p:txBody>
        </p:sp>
        <p:sp>
          <p:nvSpPr>
            <p:cNvPr id="141" name="TextBox 141"/>
            <p:cNvSpPr txBox="1"/>
            <p:nvPr/>
          </p:nvSpPr>
          <p:spPr>
            <a:xfrm>
              <a:off x="1604649" y="5113020"/>
              <a:ext cx="20065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1月</a:t>
              </a:r>
            </a:p>
          </p:txBody>
        </p:sp>
        <p:sp>
          <p:nvSpPr>
            <p:cNvPr id="142" name="TextBox 142"/>
            <p:cNvSpPr txBox="1"/>
            <p:nvPr/>
          </p:nvSpPr>
          <p:spPr>
            <a:xfrm>
              <a:off x="2166624" y="5113020"/>
              <a:ext cx="20065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2月</a:t>
              </a:r>
            </a:p>
          </p:txBody>
        </p:sp>
        <p:sp>
          <p:nvSpPr>
            <p:cNvPr id="143" name="TextBox 143"/>
            <p:cNvSpPr txBox="1"/>
            <p:nvPr/>
          </p:nvSpPr>
          <p:spPr>
            <a:xfrm>
              <a:off x="2728599" y="5113020"/>
              <a:ext cx="20065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3月</a:t>
              </a:r>
            </a:p>
          </p:txBody>
        </p:sp>
        <p:sp>
          <p:nvSpPr>
            <p:cNvPr id="144" name="TextBox 144"/>
            <p:cNvSpPr txBox="1"/>
            <p:nvPr/>
          </p:nvSpPr>
          <p:spPr>
            <a:xfrm>
              <a:off x="3281049" y="5113020"/>
              <a:ext cx="20065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4月</a:t>
              </a:r>
            </a:p>
          </p:txBody>
        </p:sp>
        <p:sp>
          <p:nvSpPr>
            <p:cNvPr id="145" name="TextBox 145"/>
            <p:cNvSpPr txBox="1"/>
            <p:nvPr/>
          </p:nvSpPr>
          <p:spPr>
            <a:xfrm>
              <a:off x="3843024" y="5113020"/>
              <a:ext cx="20065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5月</a:t>
              </a:r>
            </a:p>
          </p:txBody>
        </p:sp>
        <p:sp>
          <p:nvSpPr>
            <p:cNvPr id="146" name="TextBox 146"/>
            <p:cNvSpPr txBox="1"/>
            <p:nvPr/>
          </p:nvSpPr>
          <p:spPr>
            <a:xfrm>
              <a:off x="4404999" y="5113020"/>
              <a:ext cx="20065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6月</a:t>
              </a:r>
            </a:p>
          </p:txBody>
        </p:sp>
        <p:sp>
          <p:nvSpPr>
            <p:cNvPr id="147" name="TextBox 147"/>
            <p:cNvSpPr txBox="1"/>
            <p:nvPr/>
          </p:nvSpPr>
          <p:spPr>
            <a:xfrm>
              <a:off x="4957449" y="5113020"/>
              <a:ext cx="20065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7月</a:t>
              </a:r>
            </a:p>
          </p:txBody>
        </p:sp>
        <p:sp>
          <p:nvSpPr>
            <p:cNvPr id="148" name="TextBox 148"/>
            <p:cNvSpPr txBox="1"/>
            <p:nvPr/>
          </p:nvSpPr>
          <p:spPr>
            <a:xfrm>
              <a:off x="5519424" y="5113020"/>
              <a:ext cx="20065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8月</a:t>
              </a:r>
            </a:p>
          </p:txBody>
        </p:sp>
        <p:sp>
          <p:nvSpPr>
            <p:cNvPr id="149" name="TextBox 149"/>
            <p:cNvSpPr txBox="1"/>
            <p:nvPr/>
          </p:nvSpPr>
          <p:spPr>
            <a:xfrm>
              <a:off x="6081399" y="5113020"/>
              <a:ext cx="20065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9月</a:t>
              </a:r>
            </a:p>
          </p:txBody>
        </p:sp>
        <p:sp>
          <p:nvSpPr>
            <p:cNvPr id="150" name="TextBox 150"/>
            <p:cNvSpPr txBox="1"/>
            <p:nvPr/>
          </p:nvSpPr>
          <p:spPr>
            <a:xfrm>
              <a:off x="6598865" y="5113020"/>
              <a:ext cx="270620"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10月</a:t>
              </a:r>
            </a:p>
          </p:txBody>
        </p:sp>
        <p:sp>
          <p:nvSpPr>
            <p:cNvPr id="151" name="TextBox 151"/>
            <p:cNvSpPr txBox="1"/>
            <p:nvPr/>
          </p:nvSpPr>
          <p:spPr>
            <a:xfrm>
              <a:off x="7160840" y="5113020"/>
              <a:ext cx="270620"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11月</a:t>
              </a:r>
            </a:p>
          </p:txBody>
        </p:sp>
        <p:sp>
          <p:nvSpPr>
            <p:cNvPr id="152" name="TextBox 152"/>
            <p:cNvSpPr txBox="1"/>
            <p:nvPr/>
          </p:nvSpPr>
          <p:spPr>
            <a:xfrm>
              <a:off x="7722815" y="5113020"/>
              <a:ext cx="270620"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12月</a:t>
              </a:r>
            </a:p>
          </p:txBody>
        </p:sp>
        <p:sp>
          <p:nvSpPr>
            <p:cNvPr id="153" name="TextBox 153"/>
            <p:cNvSpPr txBox="1"/>
            <p:nvPr/>
          </p:nvSpPr>
          <p:spPr>
            <a:xfrm>
              <a:off x="903050" y="5494020"/>
              <a:ext cx="289400" cy="176212"/>
            </a:xfrm>
            <a:prstGeom prst="rect">
              <a:avLst/>
            </a:prstGeom>
            <a:noFill/>
            <a:ln>
              <a:noFill/>
            </a:ln>
          </p:spPr>
          <p:txBody>
            <a:bodyPr wrap="none" lIns="0" tIns="0" rIns="0" bIns="0" anchor="t" anchorCtr="0">
              <a:spAutoFit/>
            </a:bodyPr>
            <a:lstStyle/>
            <a:p>
              <a:pPr algn="ctr"/>
              <a:r>
                <a:rPr lang="zh-CN" sz="900" b="1" dirty="0">
                  <a:solidFill>
                    <a:srgbClr val="262626"/>
                  </a:solidFill>
                  <a:latin typeface="+mn-lt"/>
                  <a:ea typeface="+mn-ea"/>
                  <a:cs typeface="+mn-cs"/>
                </a:rPr>
                <a:t>2021</a:t>
              </a:r>
            </a:p>
          </p:txBody>
        </p:sp>
        <p:sp>
          <p:nvSpPr>
            <p:cNvPr id="154" name="TextBox 154"/>
            <p:cNvSpPr txBox="1"/>
            <p:nvPr/>
          </p:nvSpPr>
          <p:spPr>
            <a:xfrm>
              <a:off x="1604700"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632</a:t>
              </a:r>
            </a:p>
          </p:txBody>
        </p:sp>
        <p:sp>
          <p:nvSpPr>
            <p:cNvPr id="155" name="TextBox 155"/>
            <p:cNvSpPr txBox="1"/>
            <p:nvPr/>
          </p:nvSpPr>
          <p:spPr>
            <a:xfrm>
              <a:off x="2166675"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456</a:t>
              </a:r>
            </a:p>
          </p:txBody>
        </p:sp>
        <p:sp>
          <p:nvSpPr>
            <p:cNvPr id="156" name="TextBox 156"/>
            <p:cNvSpPr txBox="1"/>
            <p:nvPr/>
          </p:nvSpPr>
          <p:spPr>
            <a:xfrm>
              <a:off x="2728650"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895</a:t>
              </a:r>
            </a:p>
          </p:txBody>
        </p:sp>
        <p:sp>
          <p:nvSpPr>
            <p:cNvPr id="157" name="TextBox 157"/>
            <p:cNvSpPr txBox="1"/>
            <p:nvPr/>
          </p:nvSpPr>
          <p:spPr>
            <a:xfrm>
              <a:off x="3281100"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456</a:t>
              </a:r>
            </a:p>
          </p:txBody>
        </p:sp>
        <p:sp>
          <p:nvSpPr>
            <p:cNvPr id="158" name="TextBox 158"/>
            <p:cNvSpPr txBox="1"/>
            <p:nvPr/>
          </p:nvSpPr>
          <p:spPr>
            <a:xfrm>
              <a:off x="3843075"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123</a:t>
              </a:r>
            </a:p>
          </p:txBody>
        </p:sp>
        <p:sp>
          <p:nvSpPr>
            <p:cNvPr id="159" name="TextBox 159"/>
            <p:cNvSpPr txBox="1"/>
            <p:nvPr/>
          </p:nvSpPr>
          <p:spPr>
            <a:xfrm>
              <a:off x="4405050"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456</a:t>
              </a:r>
            </a:p>
          </p:txBody>
        </p:sp>
        <p:sp>
          <p:nvSpPr>
            <p:cNvPr id="160" name="TextBox 160"/>
            <p:cNvSpPr txBox="1"/>
            <p:nvPr/>
          </p:nvSpPr>
          <p:spPr>
            <a:xfrm>
              <a:off x="4957500"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324</a:t>
              </a:r>
            </a:p>
          </p:txBody>
        </p:sp>
        <p:sp>
          <p:nvSpPr>
            <p:cNvPr id="161" name="TextBox 161"/>
            <p:cNvSpPr txBox="1"/>
            <p:nvPr/>
          </p:nvSpPr>
          <p:spPr>
            <a:xfrm>
              <a:off x="5519475"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456</a:t>
              </a:r>
            </a:p>
          </p:txBody>
        </p:sp>
        <p:sp>
          <p:nvSpPr>
            <p:cNvPr id="162" name="TextBox 162"/>
            <p:cNvSpPr txBox="1"/>
            <p:nvPr/>
          </p:nvSpPr>
          <p:spPr>
            <a:xfrm>
              <a:off x="6081450"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698</a:t>
              </a:r>
            </a:p>
          </p:txBody>
        </p:sp>
        <p:sp>
          <p:nvSpPr>
            <p:cNvPr id="163" name="TextBox 163"/>
            <p:cNvSpPr txBox="1"/>
            <p:nvPr/>
          </p:nvSpPr>
          <p:spPr>
            <a:xfrm>
              <a:off x="6633900"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369</a:t>
              </a:r>
            </a:p>
          </p:txBody>
        </p:sp>
        <p:sp>
          <p:nvSpPr>
            <p:cNvPr id="164" name="TextBox 164"/>
            <p:cNvSpPr txBox="1"/>
            <p:nvPr/>
          </p:nvSpPr>
          <p:spPr>
            <a:xfrm>
              <a:off x="7195875"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564</a:t>
              </a:r>
            </a:p>
          </p:txBody>
        </p:sp>
        <p:sp>
          <p:nvSpPr>
            <p:cNvPr id="165" name="TextBox 165"/>
            <p:cNvSpPr txBox="1"/>
            <p:nvPr/>
          </p:nvSpPr>
          <p:spPr>
            <a:xfrm>
              <a:off x="7757850" y="5498068"/>
              <a:ext cx="200551" cy="169069"/>
            </a:xfrm>
            <a:prstGeom prst="rect">
              <a:avLst/>
            </a:prstGeom>
            <a:noFill/>
            <a:ln>
              <a:noFill/>
            </a:ln>
          </p:spPr>
          <p:txBody>
            <a:bodyPr wrap="none" lIns="0" tIns="0" rIns="0" bIns="0" anchor="t" anchorCtr="0">
              <a:spAutoFit/>
            </a:bodyPr>
            <a:lstStyle/>
            <a:p>
              <a:pPr algn="ctr"/>
              <a:r>
                <a:rPr lang="zh-CN" sz="860" dirty="0">
                  <a:solidFill>
                    <a:srgbClr val="684F4A"/>
                  </a:solidFill>
                  <a:latin typeface="+mn-lt"/>
                  <a:ea typeface="+mn-ea"/>
                  <a:cs typeface="+mn-cs"/>
                </a:rPr>
                <a:t>568</a:t>
              </a:r>
            </a:p>
          </p:txBody>
        </p:sp>
        <p:sp>
          <p:nvSpPr>
            <p:cNvPr id="166" name="Rectangle 166"/>
            <p:cNvSpPr/>
            <p:nvPr/>
          </p:nvSpPr>
          <p:spPr>
            <a:xfrm>
              <a:off x="666750" y="5753100"/>
              <a:ext cx="7467600" cy="419100"/>
            </a:xfrm>
            <a:prstGeom prst="roundRect">
              <a:avLst>
                <a:gd name="adj" fmla="val 9091"/>
              </a:avLst>
            </a:prstGeom>
            <a:gradFill>
              <a:gsLst>
                <a:gs pos="0">
                  <a:srgbClr val="FF5B3A"/>
                </a:gs>
                <a:gs pos="100000">
                  <a:srgbClr val="C83B1E"/>
                </a:gs>
              </a:gsLst>
              <a:lin ang="0" scaled="1"/>
            </a:gradFill>
            <a:ln>
              <a:noFill/>
            </a:ln>
          </p:spPr>
        </p:sp>
        <p:sp>
          <p:nvSpPr>
            <p:cNvPr id="167" name="TextBox 167"/>
            <p:cNvSpPr txBox="1"/>
            <p:nvPr/>
          </p:nvSpPr>
          <p:spPr>
            <a:xfrm>
              <a:off x="903050" y="5913120"/>
              <a:ext cx="28940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2022</a:t>
              </a:r>
            </a:p>
          </p:txBody>
        </p:sp>
        <p:sp>
          <p:nvSpPr>
            <p:cNvPr id="168" name="TextBox 168"/>
            <p:cNvSpPr txBox="1"/>
            <p:nvPr/>
          </p:nvSpPr>
          <p:spPr>
            <a:xfrm>
              <a:off x="1599924"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566</a:t>
              </a:r>
            </a:p>
          </p:txBody>
        </p:sp>
        <p:sp>
          <p:nvSpPr>
            <p:cNvPr id="169" name="TextBox 169"/>
            <p:cNvSpPr txBox="1"/>
            <p:nvPr/>
          </p:nvSpPr>
          <p:spPr>
            <a:xfrm>
              <a:off x="2161899"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290</a:t>
              </a:r>
            </a:p>
          </p:txBody>
        </p:sp>
        <p:sp>
          <p:nvSpPr>
            <p:cNvPr id="170" name="TextBox 170"/>
            <p:cNvSpPr txBox="1"/>
            <p:nvPr/>
          </p:nvSpPr>
          <p:spPr>
            <a:xfrm>
              <a:off x="2723874"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659</a:t>
              </a:r>
            </a:p>
          </p:txBody>
        </p:sp>
        <p:sp>
          <p:nvSpPr>
            <p:cNvPr id="171" name="TextBox 171"/>
            <p:cNvSpPr txBox="1"/>
            <p:nvPr/>
          </p:nvSpPr>
          <p:spPr>
            <a:xfrm>
              <a:off x="3276324"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456</a:t>
              </a:r>
            </a:p>
          </p:txBody>
        </p:sp>
        <p:sp>
          <p:nvSpPr>
            <p:cNvPr id="172" name="TextBox 172"/>
            <p:cNvSpPr txBox="1"/>
            <p:nvPr/>
          </p:nvSpPr>
          <p:spPr>
            <a:xfrm>
              <a:off x="3838299"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445</a:t>
              </a:r>
            </a:p>
          </p:txBody>
        </p:sp>
        <p:sp>
          <p:nvSpPr>
            <p:cNvPr id="173" name="TextBox 173"/>
            <p:cNvSpPr txBox="1"/>
            <p:nvPr/>
          </p:nvSpPr>
          <p:spPr>
            <a:xfrm>
              <a:off x="4400274"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455</a:t>
              </a:r>
            </a:p>
          </p:txBody>
        </p:sp>
        <p:sp>
          <p:nvSpPr>
            <p:cNvPr id="174" name="TextBox 174"/>
            <p:cNvSpPr txBox="1"/>
            <p:nvPr/>
          </p:nvSpPr>
          <p:spPr>
            <a:xfrm>
              <a:off x="4952724"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485</a:t>
              </a:r>
            </a:p>
          </p:txBody>
        </p:sp>
        <p:sp>
          <p:nvSpPr>
            <p:cNvPr id="175" name="TextBox 175"/>
            <p:cNvSpPr txBox="1"/>
            <p:nvPr/>
          </p:nvSpPr>
          <p:spPr>
            <a:xfrm>
              <a:off x="5514699"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490</a:t>
              </a:r>
            </a:p>
          </p:txBody>
        </p:sp>
        <p:sp>
          <p:nvSpPr>
            <p:cNvPr id="176" name="TextBox 176"/>
            <p:cNvSpPr txBox="1"/>
            <p:nvPr/>
          </p:nvSpPr>
          <p:spPr>
            <a:xfrm>
              <a:off x="6076674"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501</a:t>
              </a:r>
            </a:p>
          </p:txBody>
        </p:sp>
        <p:sp>
          <p:nvSpPr>
            <p:cNvPr id="177" name="TextBox 177"/>
            <p:cNvSpPr txBox="1"/>
            <p:nvPr/>
          </p:nvSpPr>
          <p:spPr>
            <a:xfrm>
              <a:off x="6629124"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518</a:t>
              </a:r>
            </a:p>
          </p:txBody>
        </p:sp>
        <p:sp>
          <p:nvSpPr>
            <p:cNvPr id="178" name="TextBox 178"/>
            <p:cNvSpPr txBox="1"/>
            <p:nvPr/>
          </p:nvSpPr>
          <p:spPr>
            <a:xfrm>
              <a:off x="7191099"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451</a:t>
              </a:r>
            </a:p>
          </p:txBody>
        </p:sp>
        <p:sp>
          <p:nvSpPr>
            <p:cNvPr id="179" name="TextBox 179"/>
            <p:cNvSpPr txBox="1"/>
            <p:nvPr/>
          </p:nvSpPr>
          <p:spPr>
            <a:xfrm>
              <a:off x="7753074" y="5917168"/>
              <a:ext cx="21010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560</a:t>
              </a:r>
            </a:p>
          </p:txBody>
        </p:sp>
      </p:grpSp>
      <p:grpSp>
        <p:nvGrpSpPr>
          <p:cNvPr id="202" name="m-marketing-pie"/>
          <p:cNvGrpSpPr/>
          <p:nvPr/>
        </p:nvGrpSpPr>
        <p:grpSpPr>
          <a:xfrm>
            <a:off x="8439150" y="838200"/>
            <a:ext cx="3276600" cy="2781300"/>
            <a:chOff x="8439150" y="838200"/>
            <a:chExt cx="3276600" cy="2781300"/>
          </a:xfrm>
        </p:grpSpPr>
        <p:sp>
          <p:nvSpPr>
            <p:cNvPr id="181" name="Rectangle 181"/>
            <p:cNvSpPr/>
            <p:nvPr/>
          </p:nvSpPr>
          <p:spPr>
            <a:xfrm>
              <a:off x="8439150" y="838200"/>
              <a:ext cx="3276600" cy="2781300"/>
            </a:xfrm>
            <a:prstGeom prst="rect">
              <a:avLst/>
            </a:prstGeom>
            <a:solidFill>
              <a:srgbClr val="FFFFFF"/>
            </a:solidFill>
            <a:ln w="11430">
              <a:solidFill>
                <a:srgbClr val="C9DDF5"/>
              </a:solidFill>
            </a:ln>
          </p:spPr>
        </p:sp>
        <p:sp>
          <p:nvSpPr>
            <p:cNvPr id="182" name="Rectangle 182"/>
            <p:cNvSpPr/>
            <p:nvPr/>
          </p:nvSpPr>
          <p:spPr>
            <a:xfrm>
              <a:off x="8534400" y="933450"/>
              <a:ext cx="1905000" cy="228600"/>
            </a:xfrm>
            <a:prstGeom prst="rect">
              <a:avLst/>
            </a:prstGeom>
            <a:gradFill>
              <a:gsLst>
                <a:gs pos="0">
                  <a:srgbClr val="FF5B3A"/>
                </a:gs>
                <a:gs pos="100000">
                  <a:srgbClr val="E94B2B"/>
                </a:gs>
              </a:gsLst>
              <a:lin ang="0" scaled="1"/>
            </a:gradFill>
            <a:ln>
              <a:noFill/>
            </a:ln>
          </p:spPr>
        </p:sp>
        <p:sp>
          <p:nvSpPr>
            <p:cNvPr id="183" name="Polygon 183"/>
            <p:cNvSpPr/>
            <p:nvPr/>
          </p:nvSpPr>
          <p:spPr>
            <a:xfrm>
              <a:off x="10344150" y="933450"/>
              <a:ext cx="95250" cy="228600"/>
            </a:xfrm>
            <a:custGeom>
              <a:avLst/>
              <a:gdLst/>
              <a:ahLst/>
              <a:cxnLst/>
              <a:rect l="l" t="t" r="r" b="b"/>
              <a:pathLst>
                <a:path w="95250" h="228600">
                  <a:moveTo>
                    <a:pt x="0" y="0"/>
                  </a:moveTo>
                  <a:lnTo>
                    <a:pt x="95250" y="0"/>
                  </a:lnTo>
                  <a:lnTo>
                    <a:pt x="0" y="228600"/>
                  </a:lnTo>
                  <a:close/>
                </a:path>
              </a:pathLst>
            </a:custGeom>
            <a:solidFill>
              <a:srgbClr val="C83B1E"/>
            </a:solidFill>
            <a:ln>
              <a:noFill/>
            </a:ln>
          </p:spPr>
        </p:sp>
        <p:sp>
          <p:nvSpPr>
            <p:cNvPr id="184" name="TextBox 184"/>
            <p:cNvSpPr txBox="1"/>
            <p:nvPr/>
          </p:nvSpPr>
          <p:spPr>
            <a:xfrm>
              <a:off x="8624697" y="990124"/>
              <a:ext cx="106532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销售渠道占比分析</a:t>
              </a:r>
            </a:p>
          </p:txBody>
        </p:sp>
        <p:sp>
          <p:nvSpPr>
            <p:cNvPr id="185" name="Ellipse 185"/>
            <p:cNvSpPr/>
            <p:nvPr/>
          </p:nvSpPr>
          <p:spPr>
            <a:xfrm>
              <a:off x="9048750" y="1876425"/>
              <a:ext cx="1905000" cy="1047750"/>
            </a:xfrm>
            <a:prstGeom prst="ellipse">
              <a:avLst/>
            </a:prstGeom>
            <a:solidFill>
              <a:srgbClr val="8C2712"/>
            </a:solidFill>
            <a:ln>
              <a:noFill/>
            </a:ln>
          </p:spPr>
        </p:sp>
        <p:sp>
          <p:nvSpPr>
            <p:cNvPr id="186" name="Freeform 186"/>
            <p:cNvSpPr/>
            <p:nvPr/>
          </p:nvSpPr>
          <p:spPr>
            <a:xfrm>
              <a:off x="9164527" y="1966912"/>
              <a:ext cx="970073" cy="318135"/>
            </a:xfrm>
            <a:custGeom>
              <a:avLst/>
              <a:gdLst/>
              <a:ahLst/>
              <a:cxnLst/>
              <a:rect l="l" t="t" r="r" b="b"/>
              <a:pathLst>
                <a:path w="970073" h="318135">
                  <a:moveTo>
                    <a:pt x="970073" y="252413"/>
                  </a:moveTo>
                  <a:lnTo>
                    <a:pt x="25193" y="318135"/>
                  </a:lnTo>
                  <a:cubicBezTo>
                    <a:pt x="0" y="208333"/>
                    <a:pt x="38679" y="96964"/>
                    <a:pt x="135683" y="0"/>
                  </a:cubicBezTo>
                  <a:close/>
                </a:path>
              </a:pathLst>
            </a:custGeom>
            <a:solidFill>
              <a:srgbClr val="E94B2B"/>
            </a:solidFill>
            <a:ln>
              <a:noFill/>
            </a:ln>
          </p:spPr>
        </p:sp>
        <p:sp>
          <p:nvSpPr>
            <p:cNvPr id="187" name="Freeform 187"/>
            <p:cNvSpPr/>
            <p:nvPr/>
          </p:nvSpPr>
          <p:spPr>
            <a:xfrm>
              <a:off x="9300210" y="1795462"/>
              <a:ext cx="834390" cy="423862"/>
            </a:xfrm>
            <a:custGeom>
              <a:avLst/>
              <a:gdLst/>
              <a:ahLst/>
              <a:cxnLst/>
              <a:rect l="l" t="t" r="r" b="b"/>
              <a:pathLst>
                <a:path w="834390" h="423862">
                  <a:moveTo>
                    <a:pt x="834390" y="423862"/>
                  </a:moveTo>
                  <a:lnTo>
                    <a:pt x="0" y="171450"/>
                  </a:lnTo>
                  <a:cubicBezTo>
                    <a:pt x="67402" y="103900"/>
                    <a:pt x="161068" y="45359"/>
                    <a:pt x="274320" y="0"/>
                  </a:cubicBezTo>
                  <a:close/>
                </a:path>
              </a:pathLst>
            </a:custGeom>
            <a:solidFill>
              <a:srgbClr val="F2563B"/>
            </a:solidFill>
            <a:ln>
              <a:noFill/>
            </a:ln>
          </p:spPr>
        </p:sp>
        <p:sp>
          <p:nvSpPr>
            <p:cNvPr id="188" name="Freeform 188"/>
            <p:cNvSpPr/>
            <p:nvPr/>
          </p:nvSpPr>
          <p:spPr>
            <a:xfrm>
              <a:off x="9574530" y="1695415"/>
              <a:ext cx="560070" cy="523910"/>
            </a:xfrm>
            <a:custGeom>
              <a:avLst/>
              <a:gdLst/>
              <a:ahLst/>
              <a:cxnLst/>
              <a:rect l="l" t="t" r="r" b="b"/>
              <a:pathLst>
                <a:path w="560070" h="523910">
                  <a:moveTo>
                    <a:pt x="560070" y="523910"/>
                  </a:moveTo>
                  <a:lnTo>
                    <a:pt x="0" y="100048"/>
                  </a:lnTo>
                  <a:cubicBezTo>
                    <a:pt x="162797" y="35011"/>
                    <a:pt x="358860" y="0"/>
                    <a:pt x="560070" y="35"/>
                  </a:cubicBezTo>
                  <a:close/>
                </a:path>
              </a:pathLst>
            </a:custGeom>
            <a:solidFill>
              <a:srgbClr val="F0856F"/>
            </a:solidFill>
            <a:ln>
              <a:noFill/>
            </a:ln>
          </p:spPr>
        </p:sp>
        <p:sp>
          <p:nvSpPr>
            <p:cNvPr id="189" name="Freeform 189"/>
            <p:cNvSpPr/>
            <p:nvPr/>
          </p:nvSpPr>
          <p:spPr>
            <a:xfrm>
              <a:off x="9056370" y="1762097"/>
              <a:ext cx="1918068" cy="1069464"/>
            </a:xfrm>
            <a:custGeom>
              <a:avLst/>
              <a:gdLst/>
              <a:ahLst/>
              <a:cxnLst/>
              <a:rect l="l" t="t" r="r" b="b"/>
              <a:pathLst>
                <a:path w="1918068" h="1069464">
                  <a:moveTo>
                    <a:pt x="944880" y="523903"/>
                  </a:moveTo>
                  <a:lnTo>
                    <a:pt x="944880" y="28"/>
                  </a:lnTo>
                  <a:cubicBezTo>
                    <a:pt x="1455414" y="0"/>
                    <a:pt x="1875201" y="221363"/>
                    <a:pt x="1896635" y="501909"/>
                  </a:cubicBezTo>
                  <a:cubicBezTo>
                    <a:pt x="1918068" y="782455"/>
                    <a:pt x="1533525" y="1022407"/>
                    <a:pt x="1024787" y="1045936"/>
                  </a:cubicBezTo>
                  <a:cubicBezTo>
                    <a:pt x="516048" y="1069464"/>
                    <a:pt x="64049" y="868201"/>
                    <a:pt x="0" y="589625"/>
                  </a:cubicBezTo>
                  <a:close/>
                </a:path>
              </a:pathLst>
            </a:custGeom>
            <a:solidFill>
              <a:srgbClr val="C83B1E"/>
            </a:solidFill>
            <a:ln>
              <a:noFill/>
            </a:ln>
          </p:spPr>
        </p:sp>
        <p:sp>
          <p:nvSpPr>
            <p:cNvPr id="190" name="TextBox 190"/>
            <p:cNvSpPr txBox="1"/>
            <p:nvPr/>
          </p:nvSpPr>
          <p:spPr>
            <a:xfrm>
              <a:off x="9189719" y="2969895"/>
              <a:ext cx="384812" cy="176212"/>
            </a:xfrm>
            <a:prstGeom prst="rect">
              <a:avLst/>
            </a:prstGeom>
            <a:noFill/>
            <a:ln>
              <a:noFill/>
            </a:ln>
          </p:spPr>
          <p:txBody>
            <a:bodyPr wrap="none" lIns="0" tIns="0" rIns="0" bIns="0" anchor="t" anchorCtr="0">
              <a:spAutoFit/>
            </a:bodyPr>
            <a:lstStyle/>
            <a:p>
              <a:pPr algn="ctr"/>
              <a:r>
                <a:rPr lang="zh-CN" sz="900" b="1" dirty="0">
                  <a:solidFill>
                    <a:srgbClr val="C83B1E"/>
                  </a:solidFill>
                  <a:latin typeface="+mn-lt"/>
                  <a:ea typeface="+mn-ea"/>
                  <a:cs typeface="+mn-cs"/>
                </a:rPr>
                <a:t>73%​​</a:t>
              </a:r>
            </a:p>
          </p:txBody>
        </p:sp>
        <p:sp>
          <p:nvSpPr>
            <p:cNvPr id="191" name="TextBox 191"/>
            <p:cNvSpPr txBox="1"/>
            <p:nvPr/>
          </p:nvSpPr>
          <p:spPr>
            <a:xfrm>
              <a:off x="8717451" y="239958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10%</a:t>
              </a:r>
            </a:p>
          </p:txBody>
        </p:sp>
        <p:sp>
          <p:nvSpPr>
            <p:cNvPr id="192" name="TextBox 192"/>
            <p:cNvSpPr txBox="1"/>
            <p:nvPr/>
          </p:nvSpPr>
          <p:spPr>
            <a:xfrm>
              <a:off x="10220110" y="1466136"/>
              <a:ext cx="133779"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7%</a:t>
              </a:r>
            </a:p>
          </p:txBody>
        </p:sp>
        <p:sp>
          <p:nvSpPr>
            <p:cNvPr id="193" name="TextBox 193"/>
            <p:cNvSpPr txBox="1"/>
            <p:nvPr/>
          </p:nvSpPr>
          <p:spPr>
            <a:xfrm>
              <a:off x="10841526" y="1656636"/>
              <a:ext cx="186348"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10%</a:t>
              </a:r>
            </a:p>
          </p:txBody>
        </p:sp>
        <p:sp>
          <p:nvSpPr>
            <p:cNvPr id="194" name="Rectangle 194"/>
            <p:cNvSpPr/>
            <p:nvPr/>
          </p:nvSpPr>
          <p:spPr>
            <a:xfrm>
              <a:off x="8629650" y="3238500"/>
              <a:ext cx="76200" cy="76200"/>
            </a:xfrm>
            <a:prstGeom prst="rect">
              <a:avLst/>
            </a:prstGeom>
            <a:solidFill>
              <a:srgbClr val="C83B1E"/>
            </a:solidFill>
            <a:ln>
              <a:noFill/>
            </a:ln>
          </p:spPr>
        </p:sp>
        <p:sp>
          <p:nvSpPr>
            <p:cNvPr id="195" name="TextBox 195"/>
            <p:cNvSpPr txBox="1"/>
            <p:nvPr/>
          </p:nvSpPr>
          <p:spPr>
            <a:xfrm>
              <a:off x="8739188" y="3233738"/>
              <a:ext cx="387477"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渠道A​​</a:t>
              </a:r>
            </a:p>
          </p:txBody>
        </p:sp>
        <p:sp>
          <p:nvSpPr>
            <p:cNvPr id="196" name="Rectangle 196"/>
            <p:cNvSpPr/>
            <p:nvPr/>
          </p:nvSpPr>
          <p:spPr>
            <a:xfrm>
              <a:off x="9296400" y="3238500"/>
              <a:ext cx="76200" cy="76200"/>
            </a:xfrm>
            <a:prstGeom prst="rect">
              <a:avLst/>
            </a:prstGeom>
            <a:solidFill>
              <a:srgbClr val="E94B2B"/>
            </a:solidFill>
            <a:ln>
              <a:noFill/>
            </a:ln>
          </p:spPr>
        </p:sp>
        <p:sp>
          <p:nvSpPr>
            <p:cNvPr id="197" name="TextBox 197"/>
            <p:cNvSpPr txBox="1"/>
            <p:nvPr/>
          </p:nvSpPr>
          <p:spPr>
            <a:xfrm>
              <a:off x="9405938" y="3233738"/>
              <a:ext cx="387477"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渠道B​​</a:t>
              </a:r>
            </a:p>
          </p:txBody>
        </p:sp>
        <p:sp>
          <p:nvSpPr>
            <p:cNvPr id="198" name="Rectangle 198"/>
            <p:cNvSpPr/>
            <p:nvPr/>
          </p:nvSpPr>
          <p:spPr>
            <a:xfrm>
              <a:off x="9963150" y="3238500"/>
              <a:ext cx="76200" cy="76200"/>
            </a:xfrm>
            <a:prstGeom prst="rect">
              <a:avLst/>
            </a:prstGeom>
            <a:solidFill>
              <a:srgbClr val="F2563B"/>
            </a:solidFill>
            <a:ln>
              <a:noFill/>
            </a:ln>
          </p:spPr>
        </p:sp>
        <p:sp>
          <p:nvSpPr>
            <p:cNvPr id="199" name="TextBox 199"/>
            <p:cNvSpPr txBox="1"/>
            <p:nvPr/>
          </p:nvSpPr>
          <p:spPr>
            <a:xfrm>
              <a:off x="10072688" y="3233738"/>
              <a:ext cx="387477"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渠道C​​</a:t>
              </a:r>
            </a:p>
          </p:txBody>
        </p:sp>
        <p:sp>
          <p:nvSpPr>
            <p:cNvPr id="200" name="Rectangle 200"/>
            <p:cNvSpPr/>
            <p:nvPr/>
          </p:nvSpPr>
          <p:spPr>
            <a:xfrm>
              <a:off x="10629900" y="3238500"/>
              <a:ext cx="76200" cy="76200"/>
            </a:xfrm>
            <a:prstGeom prst="rect">
              <a:avLst/>
            </a:prstGeom>
            <a:solidFill>
              <a:srgbClr val="F0856F"/>
            </a:solidFill>
            <a:ln>
              <a:noFill/>
            </a:ln>
          </p:spPr>
        </p:sp>
        <p:sp>
          <p:nvSpPr>
            <p:cNvPr id="201" name="TextBox 201"/>
            <p:cNvSpPr txBox="1"/>
            <p:nvPr/>
          </p:nvSpPr>
          <p:spPr>
            <a:xfrm>
              <a:off x="10739438" y="3233738"/>
              <a:ext cx="387477"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渠道D​​</a:t>
              </a:r>
            </a:p>
          </p:txBody>
        </p:sp>
      </p:grpSp>
      <p:grpSp>
        <p:nvGrpSpPr>
          <p:cNvPr id="211" name="m-channel-a"/>
          <p:cNvGrpSpPr/>
          <p:nvPr/>
        </p:nvGrpSpPr>
        <p:grpSpPr>
          <a:xfrm>
            <a:off x="8439150" y="3771900"/>
            <a:ext cx="3276600" cy="1257300"/>
            <a:chOff x="8439150" y="3771900"/>
            <a:chExt cx="3276600" cy="1257300"/>
          </a:xfrm>
        </p:grpSpPr>
        <p:sp>
          <p:nvSpPr>
            <p:cNvPr id="203" name="Rectangle 203"/>
            <p:cNvSpPr/>
            <p:nvPr/>
          </p:nvSpPr>
          <p:spPr>
            <a:xfrm>
              <a:off x="8439150" y="3771900"/>
              <a:ext cx="3276600" cy="1257300"/>
            </a:xfrm>
            <a:prstGeom prst="roundRect">
              <a:avLst>
                <a:gd name="adj" fmla="val 6061"/>
              </a:avLst>
            </a:prstGeom>
            <a:solidFill>
              <a:srgbClr val="FFFFFF"/>
            </a:solidFill>
            <a:ln w="11430">
              <a:solidFill>
                <a:srgbClr val="C9DDF5"/>
              </a:solidFill>
            </a:ln>
          </p:spPr>
        </p:sp>
        <p:sp>
          <p:nvSpPr>
            <p:cNvPr id="204" name="Rectangle 204"/>
            <p:cNvSpPr/>
            <p:nvPr/>
          </p:nvSpPr>
          <p:spPr>
            <a:xfrm>
              <a:off x="8686800" y="4133850"/>
              <a:ext cx="533400" cy="533400"/>
            </a:xfrm>
            <a:prstGeom prst="roundRect">
              <a:avLst>
                <a:gd name="adj" fmla="val 17857"/>
              </a:avLst>
            </a:prstGeom>
            <a:gradFill>
              <a:gsLst>
                <a:gs pos="0">
                  <a:srgbClr val="FF5B3A"/>
                </a:gs>
                <a:gs pos="100000">
                  <a:srgbClr val="C83B1E"/>
                </a:gs>
              </a:gsLst>
              <a:lin ang="0" scaled="1"/>
            </a:gradFill>
            <a:ln>
              <a:noFill/>
            </a:ln>
          </p:spPr>
        </p:sp>
        <p:grpSp>
          <p:nvGrpSpPr>
            <p:cNvPr id="207" name="Group 207"/>
            <p:cNvGrpSpPr/>
            <p:nvPr/>
          </p:nvGrpSpPr>
          <p:grpSpPr>
            <a:xfrm>
              <a:off x="8865120" y="4316463"/>
              <a:ext cx="172200" cy="172467"/>
              <a:chOff x="8865120" y="4316463"/>
              <a:chExt cx="172200" cy="172467"/>
            </a:xfrm>
          </p:grpSpPr>
          <p:sp>
            <p:nvSpPr>
              <p:cNvPr id="205" name="Freeform 205"/>
              <p:cNvSpPr/>
              <p:nvPr/>
            </p:nvSpPr>
            <p:spPr>
              <a:xfrm>
                <a:off x="8865120" y="4316463"/>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9050">
                <a:solidFill>
                  <a:srgbClr val="FFFFFF"/>
                </a:solidFill>
              </a:ln>
            </p:spPr>
          </p:sp>
          <p:sp>
            <p:nvSpPr>
              <p:cNvPr id="206" name="Freeform 206"/>
              <p:cNvSpPr/>
              <p:nvPr/>
            </p:nvSpPr>
            <p:spPr>
              <a:xfrm>
                <a:off x="8982075" y="4319588"/>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9050">
                <a:solidFill>
                  <a:srgbClr val="FFFFFF"/>
                </a:solidFill>
              </a:ln>
            </p:spPr>
          </p:sp>
        </p:grpSp>
        <p:sp>
          <p:nvSpPr>
            <p:cNvPr id="208" name="TextBox 208"/>
            <p:cNvSpPr txBox="1"/>
            <p:nvPr/>
          </p:nvSpPr>
          <p:spPr>
            <a:xfrm>
              <a:off x="9443085" y="4355306"/>
              <a:ext cx="588981" cy="220028"/>
            </a:xfrm>
            <a:prstGeom prst="rect">
              <a:avLst/>
            </a:prstGeom>
            <a:noFill/>
            <a:ln>
              <a:noFill/>
            </a:ln>
          </p:spPr>
          <p:txBody>
            <a:bodyPr wrap="none" lIns="0" tIns="0" rIns="0" bIns="0" anchor="t" anchorCtr="0">
              <a:spAutoFit/>
            </a:bodyPr>
            <a:lstStyle/>
            <a:p>
              <a:pPr algn="l"/>
              <a:r>
                <a:rPr lang="zh-CN" sz="1120" b="1" dirty="0">
                  <a:solidFill>
                    <a:srgbClr val="262626"/>
                  </a:solidFill>
                  <a:latin typeface="+mn-lt"/>
                  <a:ea typeface="+mn-ea"/>
                  <a:cs typeface="+mn-cs"/>
                </a:rPr>
                <a:t>渠道A​​</a:t>
              </a:r>
            </a:p>
          </p:txBody>
        </p:sp>
        <p:sp>
          <p:nvSpPr>
            <p:cNvPr id="209" name="TextBox 209"/>
            <p:cNvSpPr txBox="1"/>
            <p:nvPr/>
          </p:nvSpPr>
          <p:spPr>
            <a:xfrm>
              <a:off x="9990582" y="4288155"/>
              <a:ext cx="347857" cy="410718"/>
            </a:xfrm>
            <a:prstGeom prst="rect">
              <a:avLst/>
            </a:prstGeom>
            <a:noFill/>
            <a:ln>
              <a:noFill/>
            </a:ln>
          </p:spPr>
          <p:txBody>
            <a:bodyPr wrap="none" lIns="0" tIns="0" rIns="0" bIns="0" anchor="t" anchorCtr="0">
              <a:spAutoFit/>
            </a:bodyPr>
            <a:lstStyle/>
            <a:p>
              <a:pPr algn="l"/>
              <a:r>
                <a:rPr lang="zh-CN" sz="2100" b="1" dirty="0">
                  <a:solidFill>
                    <a:srgbClr val="E94B2B"/>
                  </a:solidFill>
                  <a:latin typeface="+mn-lt"/>
                  <a:ea typeface="+mn-ea"/>
                  <a:cs typeface="+mn-cs"/>
                </a:rPr>
                <a:t>73</a:t>
              </a:r>
            </a:p>
          </p:txBody>
        </p:sp>
        <p:sp>
          <p:nvSpPr>
            <p:cNvPr id="210" name="TextBox 210"/>
            <p:cNvSpPr txBox="1"/>
            <p:nvPr/>
          </p:nvSpPr>
          <p:spPr>
            <a:xfrm>
              <a:off x="10339197" y="4409599"/>
              <a:ext cx="113799" cy="190690"/>
            </a:xfrm>
            <a:prstGeom prst="rect">
              <a:avLst/>
            </a:prstGeom>
            <a:noFill/>
            <a:ln>
              <a:noFill/>
            </a:ln>
          </p:spPr>
          <p:txBody>
            <a:bodyPr wrap="none" lIns="0" tIns="0" rIns="0" bIns="0" anchor="t" anchorCtr="0">
              <a:spAutoFit/>
            </a:bodyPr>
            <a:lstStyle/>
            <a:p>
              <a:pPr algn="l"/>
              <a:r>
                <a:rPr lang="zh-CN" sz="980" b="1" dirty="0">
                  <a:solidFill>
                    <a:srgbClr val="E94B2B"/>
                  </a:solidFill>
                  <a:latin typeface="+mn-lt"/>
                  <a:ea typeface="+mn-ea"/>
                  <a:cs typeface="+mn-cs"/>
                </a:rPr>
                <a:t>%</a:t>
              </a:r>
            </a:p>
          </p:txBody>
        </p:sp>
      </p:grpSp>
      <p:grpSp>
        <p:nvGrpSpPr>
          <p:cNvPr id="220" name="m-channel-c"/>
          <p:cNvGrpSpPr/>
          <p:nvPr/>
        </p:nvGrpSpPr>
        <p:grpSpPr>
          <a:xfrm>
            <a:off x="8439150" y="5219700"/>
            <a:ext cx="3276600" cy="1257300"/>
            <a:chOff x="8439150" y="5219700"/>
            <a:chExt cx="3276600" cy="1257300"/>
          </a:xfrm>
        </p:grpSpPr>
        <p:sp>
          <p:nvSpPr>
            <p:cNvPr id="212" name="Rectangle 212"/>
            <p:cNvSpPr/>
            <p:nvPr/>
          </p:nvSpPr>
          <p:spPr>
            <a:xfrm>
              <a:off x="8439150" y="5219700"/>
              <a:ext cx="3276600" cy="1257300"/>
            </a:xfrm>
            <a:prstGeom prst="roundRect">
              <a:avLst>
                <a:gd name="adj" fmla="val 6061"/>
              </a:avLst>
            </a:prstGeom>
            <a:solidFill>
              <a:srgbClr val="FFFFFF"/>
            </a:solidFill>
            <a:ln w="11430">
              <a:solidFill>
                <a:srgbClr val="C9DDF5"/>
              </a:solidFill>
            </a:ln>
          </p:spPr>
        </p:sp>
        <p:sp>
          <p:nvSpPr>
            <p:cNvPr id="213" name="Rectangle 213"/>
            <p:cNvSpPr/>
            <p:nvPr/>
          </p:nvSpPr>
          <p:spPr>
            <a:xfrm>
              <a:off x="8686800" y="5581650"/>
              <a:ext cx="533400" cy="533400"/>
            </a:xfrm>
            <a:prstGeom prst="roundRect">
              <a:avLst>
                <a:gd name="adj" fmla="val 17857"/>
              </a:avLst>
            </a:prstGeom>
            <a:gradFill>
              <a:gsLst>
                <a:gs pos="0">
                  <a:srgbClr val="FF5B3A"/>
                </a:gs>
                <a:gs pos="100000">
                  <a:srgbClr val="C83B1E"/>
                </a:gs>
              </a:gsLst>
              <a:lin ang="0" scaled="1"/>
            </a:gradFill>
            <a:ln>
              <a:noFill/>
            </a:ln>
          </p:spPr>
        </p:sp>
        <p:grpSp>
          <p:nvGrpSpPr>
            <p:cNvPr id="216" name="Group 216"/>
            <p:cNvGrpSpPr/>
            <p:nvPr/>
          </p:nvGrpSpPr>
          <p:grpSpPr>
            <a:xfrm>
              <a:off x="8865120" y="5764263"/>
              <a:ext cx="172200" cy="172467"/>
              <a:chOff x="8865120" y="5764263"/>
              <a:chExt cx="172200" cy="172467"/>
            </a:xfrm>
          </p:grpSpPr>
          <p:sp>
            <p:nvSpPr>
              <p:cNvPr id="214" name="Freeform 214"/>
              <p:cNvSpPr/>
              <p:nvPr/>
            </p:nvSpPr>
            <p:spPr>
              <a:xfrm>
                <a:off x="8865120" y="5764263"/>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9050">
                <a:solidFill>
                  <a:srgbClr val="FFFFFF"/>
                </a:solidFill>
              </a:ln>
            </p:spPr>
          </p:sp>
          <p:sp>
            <p:nvSpPr>
              <p:cNvPr id="215" name="Freeform 215"/>
              <p:cNvSpPr/>
              <p:nvPr/>
            </p:nvSpPr>
            <p:spPr>
              <a:xfrm>
                <a:off x="8982075" y="5767388"/>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9050">
                <a:solidFill>
                  <a:srgbClr val="FFFFFF"/>
                </a:solidFill>
              </a:ln>
            </p:spPr>
          </p:sp>
        </p:grpSp>
        <p:sp>
          <p:nvSpPr>
            <p:cNvPr id="217" name="TextBox 217"/>
            <p:cNvSpPr txBox="1"/>
            <p:nvPr/>
          </p:nvSpPr>
          <p:spPr>
            <a:xfrm>
              <a:off x="9443085" y="5803106"/>
              <a:ext cx="588981" cy="220028"/>
            </a:xfrm>
            <a:prstGeom prst="rect">
              <a:avLst/>
            </a:prstGeom>
            <a:noFill/>
            <a:ln>
              <a:noFill/>
            </a:ln>
          </p:spPr>
          <p:txBody>
            <a:bodyPr wrap="none" lIns="0" tIns="0" rIns="0" bIns="0" anchor="t" anchorCtr="0">
              <a:spAutoFit/>
            </a:bodyPr>
            <a:lstStyle/>
            <a:p>
              <a:pPr algn="l"/>
              <a:r>
                <a:rPr lang="zh-CN" sz="1120" b="1" dirty="0">
                  <a:solidFill>
                    <a:srgbClr val="262626"/>
                  </a:solidFill>
                  <a:latin typeface="+mn-lt"/>
                  <a:ea typeface="+mn-ea"/>
                  <a:cs typeface="+mn-cs"/>
                </a:rPr>
                <a:t>渠道C​​</a:t>
              </a:r>
            </a:p>
          </p:txBody>
        </p:sp>
        <p:sp>
          <p:nvSpPr>
            <p:cNvPr id="218" name="TextBox 218"/>
            <p:cNvSpPr txBox="1"/>
            <p:nvPr/>
          </p:nvSpPr>
          <p:spPr>
            <a:xfrm>
              <a:off x="9990582" y="5735955"/>
              <a:ext cx="184596" cy="410718"/>
            </a:xfrm>
            <a:prstGeom prst="rect">
              <a:avLst/>
            </a:prstGeom>
            <a:noFill/>
            <a:ln>
              <a:noFill/>
            </a:ln>
          </p:spPr>
          <p:txBody>
            <a:bodyPr wrap="none" lIns="0" tIns="0" rIns="0" bIns="0" anchor="t" anchorCtr="0">
              <a:spAutoFit/>
            </a:bodyPr>
            <a:lstStyle/>
            <a:p>
              <a:pPr algn="l"/>
              <a:r>
                <a:rPr lang="zh-CN" sz="2100" b="1" dirty="0">
                  <a:solidFill>
                    <a:srgbClr val="E94B2B"/>
                  </a:solidFill>
                  <a:latin typeface="+mn-lt"/>
                  <a:ea typeface="+mn-ea"/>
                  <a:cs typeface="+mn-cs"/>
                </a:rPr>
                <a:t>7</a:t>
              </a:r>
            </a:p>
          </p:txBody>
        </p:sp>
        <p:sp>
          <p:nvSpPr>
            <p:cNvPr id="219" name="TextBox 219"/>
            <p:cNvSpPr txBox="1"/>
            <p:nvPr/>
          </p:nvSpPr>
          <p:spPr>
            <a:xfrm>
              <a:off x="10186797" y="5857399"/>
              <a:ext cx="113799" cy="190690"/>
            </a:xfrm>
            <a:prstGeom prst="rect">
              <a:avLst/>
            </a:prstGeom>
            <a:noFill/>
            <a:ln>
              <a:noFill/>
            </a:ln>
          </p:spPr>
          <p:txBody>
            <a:bodyPr wrap="none" lIns="0" tIns="0" rIns="0" bIns="0" anchor="t" anchorCtr="0">
              <a:spAutoFit/>
            </a:bodyPr>
            <a:lstStyle/>
            <a:p>
              <a:pPr algn="l"/>
              <a:r>
                <a:rPr lang="zh-CN" sz="980" b="1" dirty="0">
                  <a:solidFill>
                    <a:srgbClr val="E94B2B"/>
                  </a:solidFill>
                  <a:latin typeface="+mn-lt"/>
                  <a:ea typeface="+mn-ea"/>
                  <a:cs typeface="+mn-cs"/>
                </a:rPr>
                <a:t>%</a:t>
              </a:r>
            </a:p>
          </p:txBody>
        </p:sp>
      </p:gr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28</a:t>
              </a:r>
            </a:p>
          </p:txBody>
        </p:sp>
        <p:sp>
          <p:nvSpPr>
            <p:cNvPr id="4" name="TextBox 4"/>
            <p:cNvSpPr txBox="1"/>
            <p:nvPr/>
          </p:nvSpPr>
          <p:spPr>
            <a:xfrm>
              <a:off x="904494" y="180023"/>
              <a:ext cx="168402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用户数据分析</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15" name="m-user-dau"/>
          <p:cNvGrpSpPr/>
          <p:nvPr/>
        </p:nvGrpSpPr>
        <p:grpSpPr>
          <a:xfrm>
            <a:off x="628650" y="914400"/>
            <a:ext cx="1778530" cy="844867"/>
            <a:chOff x="628650" y="914400"/>
            <a:chExt cx="1778530" cy="844867"/>
          </a:xfrm>
        </p:grpSpPr>
        <p:sp>
          <p:nvSpPr>
            <p:cNvPr id="7" name="Rectangle 7"/>
            <p:cNvSpPr/>
            <p:nvPr/>
          </p:nvSpPr>
          <p:spPr>
            <a:xfrm>
              <a:off x="628650" y="914400"/>
              <a:ext cx="609600" cy="609600"/>
            </a:xfrm>
            <a:prstGeom prst="roundRect">
              <a:avLst>
                <a:gd name="adj" fmla="val 21875"/>
              </a:avLst>
            </a:prstGeom>
            <a:gradFill>
              <a:gsLst>
                <a:gs pos="0">
                  <a:srgbClr val="FF5B3A"/>
                </a:gs>
                <a:gs pos="100000">
                  <a:srgbClr val="C83B1E"/>
                </a:gs>
              </a:gsLst>
              <a:lin ang="0" scaled="1"/>
            </a:gradFill>
            <a:ln>
              <a:noFill/>
            </a:ln>
          </p:spPr>
        </p:sp>
        <p:grpSp>
          <p:nvGrpSpPr>
            <p:cNvPr id="12" name="Group 12"/>
            <p:cNvGrpSpPr/>
            <p:nvPr/>
          </p:nvGrpSpPr>
          <p:grpSpPr>
            <a:xfrm>
              <a:off x="797719" y="1083469"/>
              <a:ext cx="271462" cy="271461"/>
              <a:chOff x="797719" y="1083469"/>
              <a:chExt cx="271462" cy="271461"/>
            </a:xfrm>
          </p:grpSpPr>
          <p:sp>
            <p:nvSpPr>
              <p:cNvPr id="8" name="Freeform 8"/>
              <p:cNvSpPr/>
              <p:nvPr/>
            </p:nvSpPr>
            <p:spPr>
              <a:xfrm>
                <a:off x="827881" y="1083469"/>
                <a:ext cx="120650" cy="120650"/>
              </a:xfrm>
              <a:custGeom>
                <a:avLst/>
                <a:gdLst/>
                <a:ahLst/>
                <a:cxnLst/>
                <a:rect l="l" t="t" r="r" b="b"/>
                <a:pathLst>
                  <a:path w="120650" h="120650">
                    <a:moveTo>
                      <a:pt x="0" y="60325"/>
                    </a:moveTo>
                    <a:cubicBezTo>
                      <a:pt x="0" y="93641"/>
                      <a:pt x="27008" y="120650"/>
                      <a:pt x="60325" y="120650"/>
                    </a:cubicBezTo>
                    <a:cubicBezTo>
                      <a:pt x="93641" y="120650"/>
                      <a:pt x="120650" y="93641"/>
                      <a:pt x="120650" y="60325"/>
                    </a:cubicBezTo>
                    <a:cubicBezTo>
                      <a:pt x="120650" y="27008"/>
                      <a:pt x="93641" y="0"/>
                      <a:pt x="60325" y="0"/>
                    </a:cubicBezTo>
                    <a:cubicBezTo>
                      <a:pt x="27008" y="0"/>
                      <a:pt x="0" y="27008"/>
                      <a:pt x="0" y="60325"/>
                    </a:cubicBezTo>
                  </a:path>
                </a:pathLst>
              </a:custGeom>
              <a:noFill/>
              <a:ln w="30162">
                <a:solidFill>
                  <a:srgbClr val="FFFFFF"/>
                </a:solidFill>
              </a:ln>
            </p:spPr>
          </p:sp>
          <p:sp>
            <p:nvSpPr>
              <p:cNvPr id="9" name="Freeform 9"/>
              <p:cNvSpPr/>
              <p:nvPr/>
            </p:nvSpPr>
            <p:spPr>
              <a:xfrm>
                <a:off x="797719" y="1264443"/>
                <a:ext cx="180975" cy="90487"/>
              </a:xfrm>
              <a:custGeom>
                <a:avLst/>
                <a:gdLst/>
                <a:ahLst/>
                <a:cxnLst/>
                <a:rect l="l" t="t" r="r" b="b"/>
                <a:pathLst>
                  <a:path w="180975" h="90487">
                    <a:moveTo>
                      <a:pt x="0" y="90487"/>
                    </a:moveTo>
                    <a:lnTo>
                      <a:pt x="0" y="60325"/>
                    </a:lnTo>
                    <a:cubicBezTo>
                      <a:pt x="0" y="27008"/>
                      <a:pt x="27008" y="0"/>
                      <a:pt x="60325" y="0"/>
                    </a:cubicBezTo>
                    <a:lnTo>
                      <a:pt x="120650" y="0"/>
                    </a:lnTo>
                    <a:cubicBezTo>
                      <a:pt x="153966" y="0"/>
                      <a:pt x="180975" y="27008"/>
                      <a:pt x="180975" y="60325"/>
                    </a:cubicBezTo>
                    <a:lnTo>
                      <a:pt x="180975" y="90487"/>
                    </a:lnTo>
                  </a:path>
                </a:pathLst>
              </a:custGeom>
              <a:noFill/>
              <a:ln w="30162">
                <a:solidFill>
                  <a:srgbClr val="FFFFFF"/>
                </a:solidFill>
              </a:ln>
            </p:spPr>
          </p:sp>
          <p:sp>
            <p:nvSpPr>
              <p:cNvPr id="10" name="Freeform 10"/>
              <p:cNvSpPr/>
              <p:nvPr/>
            </p:nvSpPr>
            <p:spPr>
              <a:xfrm>
                <a:off x="993774" y="1085429"/>
                <a:ext cx="45362" cy="116879"/>
              </a:xfrm>
              <a:custGeom>
                <a:avLst/>
                <a:gdLst/>
                <a:ahLst/>
                <a:cxnLst/>
                <a:rect l="l" t="t" r="r" b="b"/>
                <a:pathLst>
                  <a:path w="45362" h="116879">
                    <a:moveTo>
                      <a:pt x="0" y="0"/>
                    </a:moveTo>
                    <a:cubicBezTo>
                      <a:pt x="26692" y="6834"/>
                      <a:pt x="45362" y="30886"/>
                      <a:pt x="45362" y="58440"/>
                    </a:cubicBezTo>
                    <a:cubicBezTo>
                      <a:pt x="45362" y="85993"/>
                      <a:pt x="26692" y="110045"/>
                      <a:pt x="0" y="116879"/>
                    </a:cubicBezTo>
                  </a:path>
                </a:pathLst>
              </a:custGeom>
              <a:noFill/>
              <a:ln w="30162">
                <a:solidFill>
                  <a:srgbClr val="FFFFFF"/>
                </a:solidFill>
              </a:ln>
            </p:spPr>
          </p:sp>
          <p:sp>
            <p:nvSpPr>
              <p:cNvPr id="11" name="Freeform 11"/>
              <p:cNvSpPr/>
              <p:nvPr/>
            </p:nvSpPr>
            <p:spPr>
              <a:xfrm>
                <a:off x="1023937" y="1266705"/>
                <a:ext cx="45244" cy="88225"/>
              </a:xfrm>
              <a:custGeom>
                <a:avLst/>
                <a:gdLst/>
                <a:ahLst/>
                <a:cxnLst/>
                <a:rect l="l" t="t" r="r" b="b"/>
                <a:pathLst>
                  <a:path w="45244" h="88225">
                    <a:moveTo>
                      <a:pt x="45244" y="88225"/>
                    </a:moveTo>
                    <a:lnTo>
                      <a:pt x="45244" y="58063"/>
                    </a:lnTo>
                    <a:cubicBezTo>
                      <a:pt x="45086" y="30684"/>
                      <a:pt x="26510" y="6844"/>
                      <a:pt x="0" y="0"/>
                    </a:cubicBezTo>
                  </a:path>
                </a:pathLst>
              </a:custGeom>
              <a:noFill/>
              <a:ln w="30162">
                <a:solidFill>
                  <a:srgbClr val="FFFFFF"/>
                </a:solidFill>
              </a:ln>
            </p:spPr>
          </p:sp>
        </p:grpSp>
        <p:sp>
          <p:nvSpPr>
            <p:cNvPr id="13" name="TextBox 13"/>
            <p:cNvSpPr txBox="1"/>
            <p:nvPr/>
          </p:nvSpPr>
          <p:spPr>
            <a:xfrm>
              <a:off x="1384935" y="1040606"/>
              <a:ext cx="765302" cy="220028"/>
            </a:xfrm>
            <a:prstGeom prst="rect">
              <a:avLst/>
            </a:prstGeom>
            <a:noFill/>
            <a:ln>
              <a:noFill/>
            </a:ln>
          </p:spPr>
          <p:txBody>
            <a:bodyPr wrap="none" lIns="0" tIns="0" rIns="0" bIns="0" anchor="t" anchorCtr="0">
              <a:spAutoFit/>
            </a:bodyPr>
            <a:lstStyle/>
            <a:p>
              <a:pPr algn="l"/>
              <a:r>
                <a:rPr lang="zh-CN" sz="1120" dirty="0">
                  <a:solidFill>
                    <a:srgbClr val="262626"/>
                  </a:solidFill>
                  <a:latin typeface="+mn-lt"/>
                  <a:ea typeface="+mn-ea"/>
                  <a:cs typeface="+mn-cs"/>
                </a:rPr>
                <a:t>日活跃用户</a:t>
              </a:r>
            </a:p>
          </p:txBody>
        </p:sp>
        <p:sp>
          <p:nvSpPr>
            <p:cNvPr id="14" name="TextBox 14"/>
            <p:cNvSpPr txBox="1"/>
            <p:nvPr/>
          </p:nvSpPr>
          <p:spPr>
            <a:xfrm>
              <a:off x="1379220" y="1319212"/>
              <a:ext cx="1027960" cy="440055"/>
            </a:xfrm>
            <a:prstGeom prst="rect">
              <a:avLst/>
            </a:prstGeom>
            <a:noFill/>
            <a:ln>
              <a:noFill/>
            </a:ln>
          </p:spPr>
          <p:txBody>
            <a:bodyPr wrap="none" lIns="0" tIns="0" rIns="0" bIns="0" anchor="t" anchorCtr="0">
              <a:spAutoFit/>
            </a:bodyPr>
            <a:lstStyle/>
            <a:p>
              <a:pPr algn="l"/>
              <a:r>
                <a:rPr lang="zh-CN" sz="2250" b="1" dirty="0">
                  <a:solidFill>
                    <a:srgbClr val="E94B2B"/>
                  </a:solidFill>
                  <a:latin typeface="+mn-lt"/>
                  <a:ea typeface="+mn-ea"/>
                  <a:cs typeface="+mn-cs"/>
                </a:rPr>
                <a:t>1.98</a:t>
              </a:r>
              <a:r>
                <a:rPr lang="zh-CN" sz="980" b="1" dirty="0">
                  <a:solidFill>
                    <a:srgbClr val="684F4A"/>
                  </a:solidFill>
                  <a:latin typeface="+mn-lt"/>
                  <a:ea typeface="+mn-ea"/>
                  <a:cs typeface="+mn-cs"/>
                </a:rPr>
                <a:t xml:space="preserve"> 亿人</a:t>
              </a:r>
            </a:p>
          </p:txBody>
        </p:sp>
      </p:grpSp>
      <p:sp>
        <p:nvSpPr>
          <p:cNvPr id="16" name="Line 16"/>
          <p:cNvSpPr/>
          <p:nvPr/>
        </p:nvSpPr>
        <p:spPr>
          <a:xfrm>
            <a:off x="628650" y="2552700"/>
            <a:ext cx="3028950" cy="9525"/>
          </a:xfrm>
          <a:custGeom>
            <a:avLst/>
            <a:gdLst/>
            <a:ahLst/>
            <a:cxnLst/>
            <a:rect l="l" t="t" r="r" b="b"/>
            <a:pathLst>
              <a:path w="3028950" h="9525">
                <a:moveTo>
                  <a:pt x="0" y="0"/>
                </a:moveTo>
                <a:lnTo>
                  <a:pt x="3028950" y="0"/>
                </a:lnTo>
              </a:path>
            </a:pathLst>
          </a:custGeom>
          <a:noFill/>
          <a:ln w="9525">
            <a:solidFill>
              <a:srgbClr val="E6C1B9"/>
            </a:solidFill>
            <a:custDash>
              <a:ds d="500000" sp="500000"/>
            </a:custDash>
          </a:ln>
        </p:spPr>
      </p:sp>
      <p:grpSp>
        <p:nvGrpSpPr>
          <p:cNvPr id="23" name="m-user-duration"/>
          <p:cNvGrpSpPr/>
          <p:nvPr/>
        </p:nvGrpSpPr>
        <p:grpSpPr>
          <a:xfrm>
            <a:off x="628650" y="2743200"/>
            <a:ext cx="1973910" cy="844867"/>
            <a:chOff x="628650" y="2743200"/>
            <a:chExt cx="1973910" cy="844867"/>
          </a:xfrm>
        </p:grpSpPr>
        <p:sp>
          <p:nvSpPr>
            <p:cNvPr id="17" name="Rectangle 17"/>
            <p:cNvSpPr/>
            <p:nvPr/>
          </p:nvSpPr>
          <p:spPr>
            <a:xfrm>
              <a:off x="628650" y="2743200"/>
              <a:ext cx="609600" cy="609600"/>
            </a:xfrm>
            <a:prstGeom prst="roundRect">
              <a:avLst>
                <a:gd name="adj" fmla="val 21875"/>
              </a:avLst>
            </a:prstGeom>
            <a:gradFill>
              <a:gsLst>
                <a:gs pos="0">
                  <a:srgbClr val="FF5B3A"/>
                </a:gs>
                <a:gs pos="100000">
                  <a:srgbClr val="C83B1E"/>
                </a:gs>
              </a:gsLst>
              <a:lin ang="0" scaled="1"/>
            </a:gradFill>
            <a:ln>
              <a:noFill/>
            </a:ln>
          </p:spPr>
        </p:sp>
        <p:grpSp>
          <p:nvGrpSpPr>
            <p:cNvPr id="20" name="Group 20"/>
            <p:cNvGrpSpPr/>
            <p:nvPr/>
          </p:nvGrpSpPr>
          <p:grpSpPr>
            <a:xfrm>
              <a:off x="797719" y="2912269"/>
              <a:ext cx="271462" cy="271462"/>
              <a:chOff x="797719" y="2912269"/>
              <a:chExt cx="271462" cy="271462"/>
            </a:xfrm>
          </p:grpSpPr>
          <p:sp>
            <p:nvSpPr>
              <p:cNvPr id="18" name="Freeform 18"/>
              <p:cNvSpPr/>
              <p:nvPr/>
            </p:nvSpPr>
            <p:spPr>
              <a:xfrm>
                <a:off x="797719" y="2912269"/>
                <a:ext cx="271462" cy="271462"/>
              </a:xfrm>
              <a:custGeom>
                <a:avLst/>
                <a:gdLst/>
                <a:ahLst/>
                <a:cxnLst/>
                <a:rect l="l" t="t" r="r" b="b"/>
                <a:pathLst>
                  <a:path w="271462" h="271462">
                    <a:moveTo>
                      <a:pt x="0" y="135731"/>
                    </a:moveTo>
                    <a:cubicBezTo>
                      <a:pt x="0" y="210693"/>
                      <a:pt x="60769" y="271462"/>
                      <a:pt x="135731" y="271462"/>
                    </a:cubicBezTo>
                    <a:cubicBezTo>
                      <a:pt x="210693" y="271462"/>
                      <a:pt x="271462" y="210693"/>
                      <a:pt x="271462" y="135731"/>
                    </a:cubicBezTo>
                    <a:cubicBezTo>
                      <a:pt x="271462" y="60769"/>
                      <a:pt x="210693" y="0"/>
                      <a:pt x="135731" y="0"/>
                    </a:cubicBezTo>
                    <a:cubicBezTo>
                      <a:pt x="60769" y="0"/>
                      <a:pt x="0" y="60769"/>
                      <a:pt x="0" y="135731"/>
                    </a:cubicBezTo>
                  </a:path>
                </a:pathLst>
              </a:custGeom>
              <a:noFill/>
              <a:ln w="30162">
                <a:solidFill>
                  <a:srgbClr val="FFFFFF"/>
                </a:solidFill>
              </a:ln>
            </p:spPr>
          </p:sp>
          <p:sp>
            <p:nvSpPr>
              <p:cNvPr id="19" name="Freeform 19"/>
              <p:cNvSpPr/>
              <p:nvPr/>
            </p:nvSpPr>
            <p:spPr>
              <a:xfrm>
                <a:off x="933450" y="2972594"/>
                <a:ext cx="45244" cy="120650"/>
              </a:xfrm>
              <a:custGeom>
                <a:avLst/>
                <a:gdLst/>
                <a:ahLst/>
                <a:cxnLst/>
                <a:rect l="l" t="t" r="r" b="b"/>
                <a:pathLst>
                  <a:path w="45244" h="120650">
                    <a:moveTo>
                      <a:pt x="0" y="0"/>
                    </a:moveTo>
                    <a:lnTo>
                      <a:pt x="0" y="75406"/>
                    </a:lnTo>
                    <a:lnTo>
                      <a:pt x="45244" y="120650"/>
                    </a:lnTo>
                  </a:path>
                </a:pathLst>
              </a:custGeom>
              <a:noFill/>
              <a:ln w="30162">
                <a:solidFill>
                  <a:srgbClr val="FFFFFF"/>
                </a:solidFill>
              </a:ln>
            </p:spPr>
          </p:sp>
        </p:grpSp>
        <p:sp>
          <p:nvSpPr>
            <p:cNvPr id="21" name="TextBox 21"/>
            <p:cNvSpPr txBox="1"/>
            <p:nvPr/>
          </p:nvSpPr>
          <p:spPr>
            <a:xfrm>
              <a:off x="1384935" y="2869406"/>
              <a:ext cx="1217625" cy="220028"/>
            </a:xfrm>
            <a:prstGeom prst="rect">
              <a:avLst/>
            </a:prstGeom>
            <a:noFill/>
            <a:ln>
              <a:noFill/>
            </a:ln>
          </p:spPr>
          <p:txBody>
            <a:bodyPr wrap="none" lIns="0" tIns="0" rIns="0" bIns="0" anchor="t" anchorCtr="0">
              <a:spAutoFit/>
            </a:bodyPr>
            <a:lstStyle/>
            <a:p>
              <a:pPr algn="l"/>
              <a:r>
                <a:rPr lang="zh-CN" sz="1120" dirty="0">
                  <a:solidFill>
                    <a:srgbClr val="262626"/>
                  </a:solidFill>
                  <a:latin typeface="+mn-lt"/>
                  <a:ea typeface="+mn-ea"/>
                  <a:cs typeface="+mn-cs"/>
                </a:rPr>
                <a:t>人均单日使用时长</a:t>
              </a:r>
            </a:p>
          </p:txBody>
        </p:sp>
        <p:sp>
          <p:nvSpPr>
            <p:cNvPr id="22" name="TextBox 22"/>
            <p:cNvSpPr txBox="1"/>
            <p:nvPr/>
          </p:nvSpPr>
          <p:spPr>
            <a:xfrm>
              <a:off x="1379220" y="3148012"/>
              <a:ext cx="1027960" cy="440055"/>
            </a:xfrm>
            <a:prstGeom prst="rect">
              <a:avLst/>
            </a:prstGeom>
            <a:noFill/>
            <a:ln>
              <a:noFill/>
            </a:ln>
          </p:spPr>
          <p:txBody>
            <a:bodyPr wrap="none" lIns="0" tIns="0" rIns="0" bIns="0" anchor="t" anchorCtr="0">
              <a:spAutoFit/>
            </a:bodyPr>
            <a:lstStyle/>
            <a:p>
              <a:pPr algn="l"/>
              <a:r>
                <a:rPr lang="zh-CN" sz="2250" b="1" dirty="0">
                  <a:solidFill>
                    <a:srgbClr val="E94B2B"/>
                  </a:solidFill>
                  <a:latin typeface="+mn-lt"/>
                  <a:ea typeface="+mn-ea"/>
                  <a:cs typeface="+mn-cs"/>
                </a:rPr>
                <a:t>0.65</a:t>
              </a:r>
              <a:r>
                <a:rPr lang="zh-CN" sz="980" b="1" dirty="0">
                  <a:solidFill>
                    <a:srgbClr val="684F4A"/>
                  </a:solidFill>
                  <a:latin typeface="+mn-lt"/>
                  <a:ea typeface="+mn-ea"/>
                  <a:cs typeface="+mn-cs"/>
                </a:rPr>
                <a:t xml:space="preserve"> 小时</a:t>
              </a:r>
            </a:p>
          </p:txBody>
        </p:sp>
      </p:grpSp>
      <p:sp>
        <p:nvSpPr>
          <p:cNvPr id="24" name="Line 24"/>
          <p:cNvSpPr/>
          <p:nvPr/>
        </p:nvSpPr>
        <p:spPr>
          <a:xfrm>
            <a:off x="628650" y="4381500"/>
            <a:ext cx="3028950" cy="9525"/>
          </a:xfrm>
          <a:custGeom>
            <a:avLst/>
            <a:gdLst/>
            <a:ahLst/>
            <a:cxnLst/>
            <a:rect l="l" t="t" r="r" b="b"/>
            <a:pathLst>
              <a:path w="3028950" h="9525">
                <a:moveTo>
                  <a:pt x="0" y="0"/>
                </a:moveTo>
                <a:lnTo>
                  <a:pt x="3028950" y="0"/>
                </a:lnTo>
              </a:path>
            </a:pathLst>
          </a:custGeom>
          <a:noFill/>
          <a:ln w="9525">
            <a:solidFill>
              <a:srgbClr val="E6C1B9"/>
            </a:solidFill>
            <a:custDash>
              <a:ds d="500000" sp="500000"/>
            </a:custDash>
          </a:ln>
        </p:spPr>
      </p:sp>
      <p:grpSp>
        <p:nvGrpSpPr>
          <p:cNvPr id="31" name="m-user-peak"/>
          <p:cNvGrpSpPr/>
          <p:nvPr/>
        </p:nvGrpSpPr>
        <p:grpSpPr>
          <a:xfrm>
            <a:off x="628650" y="4572000"/>
            <a:ext cx="2591093" cy="818579"/>
            <a:chOff x="628650" y="4572000"/>
            <a:chExt cx="2591093" cy="818579"/>
          </a:xfrm>
        </p:grpSpPr>
        <p:sp>
          <p:nvSpPr>
            <p:cNvPr id="25" name="Rectangle 25"/>
            <p:cNvSpPr/>
            <p:nvPr/>
          </p:nvSpPr>
          <p:spPr>
            <a:xfrm>
              <a:off x="628650" y="4572000"/>
              <a:ext cx="609600" cy="609600"/>
            </a:xfrm>
            <a:prstGeom prst="roundRect">
              <a:avLst>
                <a:gd name="adj" fmla="val 21875"/>
              </a:avLst>
            </a:prstGeom>
            <a:gradFill>
              <a:gsLst>
                <a:gs pos="0">
                  <a:srgbClr val="FF5B3A"/>
                </a:gs>
                <a:gs pos="100000">
                  <a:srgbClr val="C83B1E"/>
                </a:gs>
              </a:gsLst>
              <a:lin ang="0" scaled="1"/>
            </a:gradFill>
            <a:ln>
              <a:noFill/>
            </a:ln>
          </p:spPr>
        </p:sp>
        <p:grpSp>
          <p:nvGrpSpPr>
            <p:cNvPr id="28" name="Group 28"/>
            <p:cNvGrpSpPr/>
            <p:nvPr/>
          </p:nvGrpSpPr>
          <p:grpSpPr>
            <a:xfrm>
              <a:off x="797719" y="4741069"/>
              <a:ext cx="271462" cy="271462"/>
              <a:chOff x="797719" y="4741069"/>
              <a:chExt cx="271462" cy="271462"/>
            </a:xfrm>
          </p:grpSpPr>
          <p:sp>
            <p:nvSpPr>
              <p:cNvPr id="26" name="Freeform 26"/>
              <p:cNvSpPr/>
              <p:nvPr/>
            </p:nvSpPr>
            <p:spPr>
              <a:xfrm>
                <a:off x="797719" y="4741069"/>
                <a:ext cx="271462" cy="271462"/>
              </a:xfrm>
              <a:custGeom>
                <a:avLst/>
                <a:gdLst/>
                <a:ahLst/>
                <a:cxnLst/>
                <a:rect l="l" t="t" r="r" b="b"/>
                <a:pathLst>
                  <a:path w="271462" h="271462">
                    <a:moveTo>
                      <a:pt x="0" y="135731"/>
                    </a:moveTo>
                    <a:cubicBezTo>
                      <a:pt x="0" y="210693"/>
                      <a:pt x="60769" y="271462"/>
                      <a:pt x="135731" y="271462"/>
                    </a:cubicBezTo>
                    <a:cubicBezTo>
                      <a:pt x="210693" y="271462"/>
                      <a:pt x="271462" y="210693"/>
                      <a:pt x="271462" y="135731"/>
                    </a:cubicBezTo>
                    <a:cubicBezTo>
                      <a:pt x="271462" y="60769"/>
                      <a:pt x="210693" y="0"/>
                      <a:pt x="135731" y="0"/>
                    </a:cubicBezTo>
                    <a:cubicBezTo>
                      <a:pt x="60769" y="0"/>
                      <a:pt x="0" y="60769"/>
                      <a:pt x="0" y="135731"/>
                    </a:cubicBezTo>
                  </a:path>
                </a:pathLst>
              </a:custGeom>
              <a:noFill/>
              <a:ln w="30162">
                <a:solidFill>
                  <a:srgbClr val="FFFFFF"/>
                </a:solidFill>
              </a:ln>
            </p:spPr>
          </p:sp>
          <p:sp>
            <p:nvSpPr>
              <p:cNvPr id="27" name="Freeform 27"/>
              <p:cNvSpPr/>
              <p:nvPr/>
            </p:nvSpPr>
            <p:spPr>
              <a:xfrm>
                <a:off x="933450" y="4801394"/>
                <a:ext cx="45244" cy="120650"/>
              </a:xfrm>
              <a:custGeom>
                <a:avLst/>
                <a:gdLst/>
                <a:ahLst/>
                <a:cxnLst/>
                <a:rect l="l" t="t" r="r" b="b"/>
                <a:pathLst>
                  <a:path w="45244" h="120650">
                    <a:moveTo>
                      <a:pt x="0" y="0"/>
                    </a:moveTo>
                    <a:lnTo>
                      <a:pt x="0" y="75406"/>
                    </a:lnTo>
                    <a:lnTo>
                      <a:pt x="45244" y="120650"/>
                    </a:lnTo>
                  </a:path>
                </a:pathLst>
              </a:custGeom>
              <a:noFill/>
              <a:ln w="30162">
                <a:solidFill>
                  <a:srgbClr val="FFFFFF"/>
                </a:solidFill>
              </a:ln>
            </p:spPr>
          </p:sp>
        </p:grpSp>
        <p:sp>
          <p:nvSpPr>
            <p:cNvPr id="29" name="TextBox 29"/>
            <p:cNvSpPr txBox="1"/>
            <p:nvPr/>
          </p:nvSpPr>
          <p:spPr>
            <a:xfrm>
              <a:off x="1384935" y="4698206"/>
              <a:ext cx="1066851" cy="220028"/>
            </a:xfrm>
            <a:prstGeom prst="rect">
              <a:avLst/>
            </a:prstGeom>
            <a:noFill/>
            <a:ln>
              <a:noFill/>
            </a:ln>
          </p:spPr>
          <p:txBody>
            <a:bodyPr wrap="none" lIns="0" tIns="0" rIns="0" bIns="0" anchor="t" anchorCtr="0">
              <a:spAutoFit/>
            </a:bodyPr>
            <a:lstStyle/>
            <a:p>
              <a:pPr algn="l"/>
              <a:r>
                <a:rPr lang="zh-CN" sz="1120" dirty="0">
                  <a:solidFill>
                    <a:srgbClr val="262626"/>
                  </a:solidFill>
                  <a:latin typeface="+mn-lt"/>
                  <a:ea typeface="+mn-ea"/>
                  <a:cs typeface="+mn-cs"/>
                </a:rPr>
                <a:t>用户活跃高峰期</a:t>
              </a:r>
            </a:p>
          </p:txBody>
        </p:sp>
        <p:sp>
          <p:nvSpPr>
            <p:cNvPr id="30" name="TextBox 30"/>
            <p:cNvSpPr txBox="1"/>
            <p:nvPr/>
          </p:nvSpPr>
          <p:spPr>
            <a:xfrm>
              <a:off x="1380744" y="5009198"/>
              <a:ext cx="1838999" cy="381381"/>
            </a:xfrm>
            <a:prstGeom prst="rect">
              <a:avLst/>
            </a:prstGeom>
            <a:noFill/>
            <a:ln>
              <a:noFill/>
            </a:ln>
          </p:spPr>
          <p:txBody>
            <a:bodyPr wrap="none" lIns="0" tIns="0" rIns="0" bIns="0" anchor="t" anchorCtr="0">
              <a:spAutoFit/>
            </a:bodyPr>
            <a:lstStyle/>
            <a:p>
              <a:pPr algn="l"/>
              <a:r>
                <a:rPr lang="zh-CN" sz="1950" b="1" dirty="0">
                  <a:solidFill>
                    <a:srgbClr val="E94B2B"/>
                  </a:solidFill>
                  <a:latin typeface="+mn-lt"/>
                  <a:ea typeface="+mn-ea"/>
                  <a:cs typeface="+mn-cs"/>
                </a:rPr>
                <a:t>11:00-14:00​</a:t>
              </a:r>
            </a:p>
          </p:txBody>
        </p:sp>
      </p:grpSp>
      <p:grpSp>
        <p:nvGrpSpPr>
          <p:cNvPr id="53" name="m-user-gender"/>
          <p:cNvGrpSpPr/>
          <p:nvPr/>
        </p:nvGrpSpPr>
        <p:grpSpPr>
          <a:xfrm>
            <a:off x="3905250" y="838200"/>
            <a:ext cx="3143250" cy="1600200"/>
            <a:chOff x="3905250" y="838200"/>
            <a:chExt cx="3143250" cy="1600200"/>
          </a:xfrm>
        </p:grpSpPr>
        <p:sp>
          <p:nvSpPr>
            <p:cNvPr id="32" name="Rectangle 32"/>
            <p:cNvSpPr/>
            <p:nvPr/>
          </p:nvSpPr>
          <p:spPr>
            <a:xfrm>
              <a:off x="3905250" y="838200"/>
              <a:ext cx="3143250" cy="1600200"/>
            </a:xfrm>
            <a:prstGeom prst="roundRect">
              <a:avLst>
                <a:gd name="adj" fmla="val 3571"/>
              </a:avLst>
            </a:prstGeom>
            <a:solidFill>
              <a:srgbClr val="FFFFFF"/>
            </a:solidFill>
            <a:ln w="11430">
              <a:solidFill>
                <a:srgbClr val="C9DDF5"/>
              </a:solidFill>
            </a:ln>
          </p:spPr>
        </p:sp>
        <p:sp>
          <p:nvSpPr>
            <p:cNvPr id="33" name="Freeform 33"/>
            <p:cNvSpPr/>
            <p:nvPr/>
          </p:nvSpPr>
          <p:spPr>
            <a:xfrm>
              <a:off x="3905250" y="838200"/>
              <a:ext cx="3143250" cy="323850"/>
            </a:xfrm>
            <a:custGeom>
              <a:avLst/>
              <a:gdLst/>
              <a:ahLst/>
              <a:cxnLst/>
              <a:rect l="l" t="t" r="r" b="b"/>
              <a:pathLst>
                <a:path w="3143250" h="323850">
                  <a:moveTo>
                    <a:pt x="0" y="57150"/>
                  </a:moveTo>
                  <a:cubicBezTo>
                    <a:pt x="0" y="25587"/>
                    <a:pt x="25587" y="0"/>
                    <a:pt x="57150" y="0"/>
                  </a:cubicBezTo>
                  <a:lnTo>
                    <a:pt x="3086100" y="0"/>
                  </a:lnTo>
                  <a:cubicBezTo>
                    <a:pt x="3117663" y="0"/>
                    <a:pt x="3143250" y="25587"/>
                    <a:pt x="3143250" y="57150"/>
                  </a:cubicBezTo>
                  <a:lnTo>
                    <a:pt x="3143250" y="323850"/>
                  </a:lnTo>
                  <a:lnTo>
                    <a:pt x="0" y="323850"/>
                  </a:lnTo>
                  <a:close/>
                </a:path>
              </a:pathLst>
            </a:custGeom>
            <a:gradFill>
              <a:gsLst>
                <a:gs pos="0">
                  <a:srgbClr val="FF5B3A"/>
                </a:gs>
                <a:gs pos="100000">
                  <a:srgbClr val="C83B1E"/>
                </a:gs>
              </a:gsLst>
              <a:lin ang="0" scaled="1"/>
            </a:gradFill>
            <a:ln>
              <a:noFill/>
            </a:ln>
          </p:spPr>
        </p:sp>
        <p:grpSp>
          <p:nvGrpSpPr>
            <p:cNvPr id="38" name="Group 38"/>
            <p:cNvGrpSpPr/>
            <p:nvPr/>
          </p:nvGrpSpPr>
          <p:grpSpPr>
            <a:xfrm>
              <a:off x="4929187" y="928687"/>
              <a:ext cx="142875" cy="142875"/>
              <a:chOff x="4929187" y="928687"/>
              <a:chExt cx="142875" cy="142875"/>
            </a:xfrm>
          </p:grpSpPr>
          <p:sp>
            <p:nvSpPr>
              <p:cNvPr id="34" name="Freeform 34"/>
              <p:cNvSpPr/>
              <p:nvPr/>
            </p:nvSpPr>
            <p:spPr>
              <a:xfrm>
                <a:off x="4945062" y="9286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35" name="Freeform 35"/>
              <p:cNvSpPr/>
              <p:nvPr/>
            </p:nvSpPr>
            <p:spPr>
              <a:xfrm>
                <a:off x="4929187" y="102393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36" name="Freeform 36"/>
              <p:cNvSpPr/>
              <p:nvPr/>
            </p:nvSpPr>
            <p:spPr>
              <a:xfrm>
                <a:off x="5032375" y="929719"/>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37" name="Freeform 37"/>
              <p:cNvSpPr/>
              <p:nvPr/>
            </p:nvSpPr>
            <p:spPr>
              <a:xfrm>
                <a:off x="5048250" y="1025128"/>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39" name="TextBox 39"/>
            <p:cNvSpPr txBox="1"/>
            <p:nvPr/>
          </p:nvSpPr>
          <p:spPr>
            <a:xfrm>
              <a:off x="5185791" y="953452"/>
              <a:ext cx="717423"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用户性别比</a:t>
              </a:r>
            </a:p>
          </p:txBody>
        </p:sp>
        <p:sp>
          <p:nvSpPr>
            <p:cNvPr id="40" name="Ellipse 40"/>
            <p:cNvSpPr/>
            <p:nvPr/>
          </p:nvSpPr>
          <p:spPr>
            <a:xfrm>
              <a:off x="4438650" y="1419225"/>
              <a:ext cx="171450" cy="171450"/>
            </a:xfrm>
            <a:prstGeom prst="ellipse">
              <a:avLst/>
            </a:prstGeom>
            <a:solidFill>
              <a:srgbClr val="E94B2B"/>
            </a:solidFill>
            <a:ln>
              <a:noFill/>
            </a:ln>
          </p:spPr>
        </p:sp>
        <p:sp>
          <p:nvSpPr>
            <p:cNvPr id="41" name="Rectangle 41"/>
            <p:cNvSpPr/>
            <p:nvPr/>
          </p:nvSpPr>
          <p:spPr>
            <a:xfrm>
              <a:off x="4419600" y="1619250"/>
              <a:ext cx="209550" cy="247650"/>
            </a:xfrm>
            <a:prstGeom prst="roundRect">
              <a:avLst>
                <a:gd name="adj" fmla="val 40909"/>
              </a:avLst>
            </a:prstGeom>
            <a:solidFill>
              <a:srgbClr val="E94B2B"/>
            </a:solidFill>
            <a:ln>
              <a:noFill/>
            </a:ln>
          </p:spPr>
        </p:sp>
        <p:sp>
          <p:nvSpPr>
            <p:cNvPr id="42" name="Rectangle 42"/>
            <p:cNvSpPr/>
            <p:nvPr/>
          </p:nvSpPr>
          <p:spPr>
            <a:xfrm>
              <a:off x="4448175" y="1885950"/>
              <a:ext cx="66675" cy="133350"/>
            </a:xfrm>
            <a:prstGeom prst="roundRect">
              <a:avLst>
                <a:gd name="adj" fmla="val 28571"/>
              </a:avLst>
            </a:prstGeom>
            <a:solidFill>
              <a:srgbClr val="E94B2B"/>
            </a:solidFill>
            <a:ln>
              <a:noFill/>
            </a:ln>
          </p:spPr>
        </p:sp>
        <p:sp>
          <p:nvSpPr>
            <p:cNvPr id="43" name="Rectangle 43"/>
            <p:cNvSpPr/>
            <p:nvPr/>
          </p:nvSpPr>
          <p:spPr>
            <a:xfrm>
              <a:off x="4533900" y="1885950"/>
              <a:ext cx="66675" cy="133350"/>
            </a:xfrm>
            <a:prstGeom prst="roundRect">
              <a:avLst>
                <a:gd name="adj" fmla="val 28571"/>
              </a:avLst>
            </a:prstGeom>
            <a:solidFill>
              <a:srgbClr val="E94B2B"/>
            </a:solidFill>
            <a:ln>
              <a:noFill/>
            </a:ln>
          </p:spPr>
        </p:sp>
        <p:sp>
          <p:nvSpPr>
            <p:cNvPr id="44" name="TextBox 44"/>
            <p:cNvSpPr txBox="1"/>
            <p:nvPr/>
          </p:nvSpPr>
          <p:spPr>
            <a:xfrm>
              <a:off x="4804410" y="1450181"/>
              <a:ext cx="312979" cy="220028"/>
            </a:xfrm>
            <a:prstGeom prst="rect">
              <a:avLst/>
            </a:prstGeom>
            <a:noFill/>
            <a:ln>
              <a:noFill/>
            </a:ln>
          </p:spPr>
          <p:txBody>
            <a:bodyPr wrap="none" lIns="0" tIns="0" rIns="0" bIns="0" anchor="t" anchorCtr="0">
              <a:spAutoFit/>
            </a:bodyPr>
            <a:lstStyle/>
            <a:p>
              <a:pPr algn="l"/>
              <a:r>
                <a:rPr lang="zh-CN" sz="1120" b="1" dirty="0">
                  <a:solidFill>
                    <a:srgbClr val="262626"/>
                  </a:solidFill>
                  <a:latin typeface="+mn-lt"/>
                  <a:ea typeface="+mn-ea"/>
                  <a:cs typeface="+mn-cs"/>
                </a:rPr>
                <a:t>男性</a:t>
              </a:r>
            </a:p>
          </p:txBody>
        </p:sp>
        <p:sp>
          <p:nvSpPr>
            <p:cNvPr id="45" name="TextBox 45"/>
            <p:cNvSpPr txBox="1"/>
            <p:nvPr/>
          </p:nvSpPr>
          <p:spPr>
            <a:xfrm>
              <a:off x="4801743" y="1726882"/>
              <a:ext cx="704790" cy="322707"/>
            </a:xfrm>
            <a:prstGeom prst="rect">
              <a:avLst/>
            </a:prstGeom>
            <a:noFill/>
            <a:ln>
              <a:noFill/>
            </a:ln>
          </p:spPr>
          <p:txBody>
            <a:bodyPr wrap="none" lIns="0" tIns="0" rIns="0" bIns="0" anchor="t" anchorCtr="0">
              <a:spAutoFit/>
            </a:bodyPr>
            <a:lstStyle/>
            <a:p>
              <a:pPr algn="l"/>
              <a:r>
                <a:rPr lang="zh-CN" sz="1650" b="1" dirty="0">
                  <a:solidFill>
                    <a:srgbClr val="E94B2B"/>
                  </a:solidFill>
                  <a:latin typeface="+mn-lt"/>
                  <a:ea typeface="+mn-ea"/>
                  <a:cs typeface="+mn-cs"/>
                </a:rPr>
                <a:t>52%​​</a:t>
              </a:r>
            </a:p>
          </p:txBody>
        </p:sp>
        <p:sp>
          <p:nvSpPr>
            <p:cNvPr id="46" name="Line 46"/>
            <p:cNvSpPr/>
            <p:nvPr/>
          </p:nvSpPr>
          <p:spPr>
            <a:xfrm>
              <a:off x="5476875" y="1428750"/>
              <a:ext cx="9525" cy="590550"/>
            </a:xfrm>
            <a:custGeom>
              <a:avLst/>
              <a:gdLst/>
              <a:ahLst/>
              <a:cxnLst/>
              <a:rect l="l" t="t" r="r" b="b"/>
              <a:pathLst>
                <a:path w="9525" h="590550">
                  <a:moveTo>
                    <a:pt x="0" y="0"/>
                  </a:moveTo>
                  <a:lnTo>
                    <a:pt x="0" y="590550"/>
                  </a:lnTo>
                </a:path>
              </a:pathLst>
            </a:custGeom>
            <a:noFill/>
            <a:ln w="14288">
              <a:solidFill>
                <a:srgbClr val="E4EEFB"/>
              </a:solidFill>
            </a:ln>
          </p:spPr>
        </p:sp>
        <p:sp>
          <p:nvSpPr>
            <p:cNvPr id="47" name="Ellipse 47"/>
            <p:cNvSpPr/>
            <p:nvPr/>
          </p:nvSpPr>
          <p:spPr>
            <a:xfrm>
              <a:off x="5838825" y="1419225"/>
              <a:ext cx="171450" cy="171450"/>
            </a:xfrm>
            <a:prstGeom prst="ellipse">
              <a:avLst/>
            </a:prstGeom>
            <a:solidFill>
              <a:srgbClr val="E1674B"/>
            </a:solidFill>
            <a:ln>
              <a:noFill/>
            </a:ln>
          </p:spPr>
        </p:sp>
        <p:sp>
          <p:nvSpPr>
            <p:cNvPr id="48" name="Polygon 48"/>
            <p:cNvSpPr/>
            <p:nvPr/>
          </p:nvSpPr>
          <p:spPr>
            <a:xfrm>
              <a:off x="5772150" y="1619250"/>
              <a:ext cx="304800" cy="304800"/>
            </a:xfrm>
            <a:custGeom>
              <a:avLst/>
              <a:gdLst/>
              <a:ahLst/>
              <a:cxnLst/>
              <a:rect l="l" t="t" r="r" b="b"/>
              <a:pathLst>
                <a:path w="304800" h="304800">
                  <a:moveTo>
                    <a:pt x="152400" y="0"/>
                  </a:moveTo>
                  <a:lnTo>
                    <a:pt x="0" y="304800"/>
                  </a:lnTo>
                  <a:lnTo>
                    <a:pt x="304800" y="304800"/>
                  </a:lnTo>
                  <a:close/>
                </a:path>
              </a:pathLst>
            </a:custGeom>
            <a:solidFill>
              <a:srgbClr val="E1674B"/>
            </a:solidFill>
            <a:ln>
              <a:noFill/>
            </a:ln>
          </p:spPr>
        </p:sp>
        <p:sp>
          <p:nvSpPr>
            <p:cNvPr id="49" name="Rectangle 49"/>
            <p:cNvSpPr/>
            <p:nvPr/>
          </p:nvSpPr>
          <p:spPr>
            <a:xfrm>
              <a:off x="5838825" y="1924050"/>
              <a:ext cx="57150" cy="114300"/>
            </a:xfrm>
            <a:prstGeom prst="roundRect">
              <a:avLst>
                <a:gd name="adj" fmla="val 33333"/>
              </a:avLst>
            </a:prstGeom>
            <a:solidFill>
              <a:srgbClr val="E1674B"/>
            </a:solidFill>
            <a:ln>
              <a:noFill/>
            </a:ln>
          </p:spPr>
        </p:sp>
        <p:sp>
          <p:nvSpPr>
            <p:cNvPr id="50" name="Rectangle 50"/>
            <p:cNvSpPr/>
            <p:nvPr/>
          </p:nvSpPr>
          <p:spPr>
            <a:xfrm>
              <a:off x="5953125" y="1924050"/>
              <a:ext cx="57150" cy="114300"/>
            </a:xfrm>
            <a:prstGeom prst="roundRect">
              <a:avLst>
                <a:gd name="adj" fmla="val 33333"/>
              </a:avLst>
            </a:prstGeom>
            <a:solidFill>
              <a:srgbClr val="E1674B"/>
            </a:solidFill>
            <a:ln>
              <a:noFill/>
            </a:ln>
          </p:spPr>
        </p:sp>
        <p:sp>
          <p:nvSpPr>
            <p:cNvPr id="51" name="TextBox 51"/>
            <p:cNvSpPr txBox="1"/>
            <p:nvPr/>
          </p:nvSpPr>
          <p:spPr>
            <a:xfrm>
              <a:off x="6204585" y="1450181"/>
              <a:ext cx="312979" cy="220028"/>
            </a:xfrm>
            <a:prstGeom prst="rect">
              <a:avLst/>
            </a:prstGeom>
            <a:noFill/>
            <a:ln>
              <a:noFill/>
            </a:ln>
          </p:spPr>
          <p:txBody>
            <a:bodyPr wrap="none" lIns="0" tIns="0" rIns="0" bIns="0" anchor="t" anchorCtr="0">
              <a:spAutoFit/>
            </a:bodyPr>
            <a:lstStyle/>
            <a:p>
              <a:pPr algn="l"/>
              <a:r>
                <a:rPr lang="zh-CN" sz="1120" b="1" dirty="0">
                  <a:solidFill>
                    <a:srgbClr val="262626"/>
                  </a:solidFill>
                  <a:latin typeface="+mn-lt"/>
                  <a:ea typeface="+mn-ea"/>
                  <a:cs typeface="+mn-cs"/>
                </a:rPr>
                <a:t>女性</a:t>
              </a:r>
            </a:p>
          </p:txBody>
        </p:sp>
        <p:sp>
          <p:nvSpPr>
            <p:cNvPr id="52" name="TextBox 52"/>
            <p:cNvSpPr txBox="1"/>
            <p:nvPr/>
          </p:nvSpPr>
          <p:spPr>
            <a:xfrm>
              <a:off x="6201918" y="1726882"/>
              <a:ext cx="704790" cy="322707"/>
            </a:xfrm>
            <a:prstGeom prst="rect">
              <a:avLst/>
            </a:prstGeom>
            <a:noFill/>
            <a:ln>
              <a:noFill/>
            </a:ln>
          </p:spPr>
          <p:txBody>
            <a:bodyPr wrap="none" lIns="0" tIns="0" rIns="0" bIns="0" anchor="t" anchorCtr="0">
              <a:spAutoFit/>
            </a:bodyPr>
            <a:lstStyle/>
            <a:p>
              <a:pPr algn="l"/>
              <a:r>
                <a:rPr lang="zh-CN" sz="1650" b="1" dirty="0">
                  <a:solidFill>
                    <a:srgbClr val="E1674B"/>
                  </a:solidFill>
                  <a:latin typeface="+mn-lt"/>
                  <a:ea typeface="+mn-ea"/>
                  <a:cs typeface="+mn-cs"/>
                </a:rPr>
                <a:t>48%​​</a:t>
              </a:r>
            </a:p>
          </p:txBody>
        </p:sp>
      </p:grpSp>
      <p:grpSp>
        <p:nvGrpSpPr>
          <p:cNvPr id="80" name="m-user-age"/>
          <p:cNvGrpSpPr/>
          <p:nvPr/>
        </p:nvGrpSpPr>
        <p:grpSpPr>
          <a:xfrm>
            <a:off x="3905250" y="2667000"/>
            <a:ext cx="3143250" cy="3886200"/>
            <a:chOff x="3905250" y="2667000"/>
            <a:chExt cx="3143250" cy="3886200"/>
          </a:xfrm>
        </p:grpSpPr>
        <p:sp>
          <p:nvSpPr>
            <p:cNvPr id="54" name="Rectangle 54"/>
            <p:cNvSpPr/>
            <p:nvPr/>
          </p:nvSpPr>
          <p:spPr>
            <a:xfrm>
              <a:off x="3905250" y="2667000"/>
              <a:ext cx="3143250" cy="3886200"/>
            </a:xfrm>
            <a:prstGeom prst="roundRect">
              <a:avLst>
                <a:gd name="adj" fmla="val 1818"/>
              </a:avLst>
            </a:prstGeom>
            <a:solidFill>
              <a:srgbClr val="FFFFFF"/>
            </a:solidFill>
            <a:ln w="11430">
              <a:solidFill>
                <a:srgbClr val="C9DDF5"/>
              </a:solidFill>
            </a:ln>
          </p:spPr>
        </p:sp>
        <p:sp>
          <p:nvSpPr>
            <p:cNvPr id="55" name="Freeform 55"/>
            <p:cNvSpPr/>
            <p:nvPr/>
          </p:nvSpPr>
          <p:spPr>
            <a:xfrm>
              <a:off x="3905250" y="2667000"/>
              <a:ext cx="3143250" cy="323850"/>
            </a:xfrm>
            <a:custGeom>
              <a:avLst/>
              <a:gdLst/>
              <a:ahLst/>
              <a:cxnLst/>
              <a:rect l="l" t="t" r="r" b="b"/>
              <a:pathLst>
                <a:path w="3143250" h="323850">
                  <a:moveTo>
                    <a:pt x="0" y="57150"/>
                  </a:moveTo>
                  <a:cubicBezTo>
                    <a:pt x="0" y="25587"/>
                    <a:pt x="25587" y="0"/>
                    <a:pt x="57150" y="0"/>
                  </a:cubicBezTo>
                  <a:lnTo>
                    <a:pt x="3086100" y="0"/>
                  </a:lnTo>
                  <a:cubicBezTo>
                    <a:pt x="3117663" y="0"/>
                    <a:pt x="3143250" y="25587"/>
                    <a:pt x="3143250" y="57150"/>
                  </a:cubicBezTo>
                  <a:lnTo>
                    <a:pt x="3143250" y="323850"/>
                  </a:lnTo>
                  <a:lnTo>
                    <a:pt x="0" y="323850"/>
                  </a:lnTo>
                  <a:close/>
                </a:path>
              </a:pathLst>
            </a:custGeom>
            <a:gradFill>
              <a:gsLst>
                <a:gs pos="0">
                  <a:srgbClr val="FF5B3A"/>
                </a:gs>
                <a:gs pos="100000">
                  <a:srgbClr val="C83B1E"/>
                </a:gs>
              </a:gsLst>
              <a:lin ang="0" scaled="1"/>
            </a:gradFill>
            <a:ln>
              <a:noFill/>
            </a:ln>
          </p:spPr>
        </p:sp>
        <p:grpSp>
          <p:nvGrpSpPr>
            <p:cNvPr id="60" name="Group 60"/>
            <p:cNvGrpSpPr/>
            <p:nvPr/>
          </p:nvGrpSpPr>
          <p:grpSpPr>
            <a:xfrm>
              <a:off x="4929187" y="2765425"/>
              <a:ext cx="142875" cy="136525"/>
              <a:chOff x="4929187" y="2765425"/>
              <a:chExt cx="142875" cy="136525"/>
            </a:xfrm>
          </p:grpSpPr>
          <p:sp>
            <p:nvSpPr>
              <p:cNvPr id="56" name="Freeform 56"/>
              <p:cNvSpPr/>
              <p:nvPr/>
            </p:nvSpPr>
            <p:spPr>
              <a:xfrm>
                <a:off x="4929187" y="2828925"/>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57" name="Freeform 57"/>
              <p:cNvSpPr/>
              <p:nvPr/>
            </p:nvSpPr>
            <p:spPr>
              <a:xfrm>
                <a:off x="5024437" y="2797175"/>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58" name="Freeform 58"/>
              <p:cNvSpPr/>
              <p:nvPr/>
            </p:nvSpPr>
            <p:spPr>
              <a:xfrm>
                <a:off x="4976812" y="2765425"/>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59" name="Freeform 59"/>
              <p:cNvSpPr/>
              <p:nvPr/>
            </p:nvSpPr>
            <p:spPr>
              <a:xfrm>
                <a:off x="4937125" y="2892425"/>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61" name="TextBox 61"/>
            <p:cNvSpPr txBox="1"/>
            <p:nvPr/>
          </p:nvSpPr>
          <p:spPr>
            <a:xfrm>
              <a:off x="5185791" y="2782252"/>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用户年龄分布</a:t>
              </a:r>
            </a:p>
          </p:txBody>
        </p:sp>
        <p:sp>
          <p:nvSpPr>
            <p:cNvPr id="62" name="Rectangle 62"/>
            <p:cNvSpPr/>
            <p:nvPr/>
          </p:nvSpPr>
          <p:spPr>
            <a:xfrm>
              <a:off x="5143500" y="3752850"/>
              <a:ext cx="685800" cy="247650"/>
            </a:xfrm>
            <a:prstGeom prst="roundRect">
              <a:avLst>
                <a:gd name="adj" fmla="val 50000"/>
              </a:avLst>
            </a:prstGeom>
            <a:gradFill>
              <a:gsLst>
                <a:gs pos="0">
                  <a:srgbClr val="FF5B3A"/>
                </a:gs>
                <a:gs pos="100000">
                  <a:srgbClr val="C83B1E"/>
                </a:gs>
              </a:gsLst>
              <a:lin ang="0" scaled="1"/>
            </a:gradFill>
            <a:ln>
              <a:noFill/>
            </a:ln>
          </p:spPr>
        </p:sp>
        <p:sp>
          <p:nvSpPr>
            <p:cNvPr id="63" name="Polygon 63"/>
            <p:cNvSpPr/>
            <p:nvPr/>
          </p:nvSpPr>
          <p:spPr>
            <a:xfrm>
              <a:off x="5429250" y="4000500"/>
              <a:ext cx="114300" cy="95250"/>
            </a:xfrm>
            <a:custGeom>
              <a:avLst/>
              <a:gdLst/>
              <a:ahLst/>
              <a:cxnLst/>
              <a:rect l="l" t="t" r="r" b="b"/>
              <a:pathLst>
                <a:path w="114300" h="95250">
                  <a:moveTo>
                    <a:pt x="0" y="0"/>
                  </a:moveTo>
                  <a:lnTo>
                    <a:pt x="114300" y="0"/>
                  </a:lnTo>
                  <a:lnTo>
                    <a:pt x="57150" y="95250"/>
                  </a:lnTo>
                  <a:close/>
                </a:path>
              </a:pathLst>
            </a:custGeom>
            <a:solidFill>
              <a:srgbClr val="C83B1E"/>
            </a:solidFill>
            <a:ln>
              <a:noFill/>
            </a:ln>
          </p:spPr>
        </p:sp>
        <p:sp>
          <p:nvSpPr>
            <p:cNvPr id="64" name="TextBox 64"/>
            <p:cNvSpPr txBox="1"/>
            <p:nvPr/>
          </p:nvSpPr>
          <p:spPr>
            <a:xfrm>
              <a:off x="5277124" y="3819049"/>
              <a:ext cx="41855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30%​​</a:t>
              </a:r>
            </a:p>
          </p:txBody>
        </p:sp>
        <p:sp>
          <p:nvSpPr>
            <p:cNvPr id="65" name="Rectangle 65"/>
            <p:cNvSpPr/>
            <p:nvPr/>
          </p:nvSpPr>
          <p:spPr>
            <a:xfrm>
              <a:off x="4210050" y="5286375"/>
              <a:ext cx="266700" cy="809625"/>
            </a:xfrm>
            <a:prstGeom prst="rect">
              <a:avLst/>
            </a:prstGeom>
            <a:gradFill>
              <a:gsLst>
                <a:gs pos="0">
                  <a:srgbClr val="FF5B3A"/>
                </a:gs>
                <a:gs pos="100000">
                  <a:srgbClr val="E94B2B"/>
                </a:gs>
              </a:gsLst>
              <a:lin ang="0" scaled="1"/>
            </a:gradFill>
            <a:ln>
              <a:noFill/>
            </a:ln>
          </p:spPr>
        </p:sp>
        <p:sp>
          <p:nvSpPr>
            <p:cNvPr id="66" name="Rectangle 66"/>
            <p:cNvSpPr/>
            <p:nvPr/>
          </p:nvSpPr>
          <p:spPr>
            <a:xfrm>
              <a:off x="4781550" y="4962525"/>
              <a:ext cx="266700" cy="1133475"/>
            </a:xfrm>
            <a:prstGeom prst="rect">
              <a:avLst/>
            </a:prstGeom>
            <a:gradFill>
              <a:gsLst>
                <a:gs pos="0">
                  <a:srgbClr val="FF5B3A"/>
                </a:gs>
                <a:gs pos="100000">
                  <a:srgbClr val="E94B2B"/>
                </a:gs>
              </a:gsLst>
              <a:lin ang="0" scaled="1"/>
            </a:gradFill>
            <a:ln>
              <a:noFill/>
            </a:ln>
          </p:spPr>
        </p:sp>
        <p:sp>
          <p:nvSpPr>
            <p:cNvPr id="67" name="Rectangle 67"/>
            <p:cNvSpPr/>
            <p:nvPr/>
          </p:nvSpPr>
          <p:spPr>
            <a:xfrm>
              <a:off x="5353050" y="4476750"/>
              <a:ext cx="266700" cy="1619250"/>
            </a:xfrm>
            <a:prstGeom prst="rect">
              <a:avLst/>
            </a:prstGeom>
            <a:solidFill>
              <a:srgbClr val="C83B1E"/>
            </a:solidFill>
            <a:ln>
              <a:noFill/>
            </a:ln>
          </p:spPr>
        </p:sp>
        <p:sp>
          <p:nvSpPr>
            <p:cNvPr id="68" name="Rectangle 68"/>
            <p:cNvSpPr/>
            <p:nvPr/>
          </p:nvSpPr>
          <p:spPr>
            <a:xfrm>
              <a:off x="5924550" y="5070158"/>
              <a:ext cx="266700" cy="1025842"/>
            </a:xfrm>
            <a:prstGeom prst="rect">
              <a:avLst/>
            </a:prstGeom>
            <a:gradFill>
              <a:gsLst>
                <a:gs pos="0">
                  <a:srgbClr val="FF5B3A"/>
                </a:gs>
                <a:gs pos="100000">
                  <a:srgbClr val="E94B2B"/>
                </a:gs>
              </a:gsLst>
              <a:lin ang="0" scaled="1"/>
            </a:gradFill>
            <a:ln>
              <a:noFill/>
            </a:ln>
          </p:spPr>
        </p:sp>
        <p:sp>
          <p:nvSpPr>
            <p:cNvPr id="69" name="Rectangle 69"/>
            <p:cNvSpPr/>
            <p:nvPr/>
          </p:nvSpPr>
          <p:spPr>
            <a:xfrm>
              <a:off x="6496050" y="5555932"/>
              <a:ext cx="266700" cy="540068"/>
            </a:xfrm>
            <a:prstGeom prst="rect">
              <a:avLst/>
            </a:prstGeom>
            <a:gradFill>
              <a:gsLst>
                <a:gs pos="0">
                  <a:srgbClr val="FF5B3A"/>
                </a:gs>
                <a:gs pos="100000">
                  <a:srgbClr val="E94B2B"/>
                </a:gs>
              </a:gsLst>
              <a:lin ang="0" scaled="1"/>
            </a:gradFill>
            <a:ln>
              <a:noFill/>
            </a:ln>
          </p:spPr>
        </p:sp>
        <p:sp>
          <p:nvSpPr>
            <p:cNvPr id="70" name="TextBox 70"/>
            <p:cNvSpPr txBox="1"/>
            <p:nvPr/>
          </p:nvSpPr>
          <p:spPr>
            <a:xfrm>
              <a:off x="4197657" y="5114211"/>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15%​​</a:t>
              </a:r>
            </a:p>
          </p:txBody>
        </p:sp>
        <p:sp>
          <p:nvSpPr>
            <p:cNvPr id="71" name="TextBox 71"/>
            <p:cNvSpPr txBox="1"/>
            <p:nvPr/>
          </p:nvSpPr>
          <p:spPr>
            <a:xfrm>
              <a:off x="4769157" y="4790361"/>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21%​​</a:t>
              </a:r>
            </a:p>
          </p:txBody>
        </p:sp>
        <p:sp>
          <p:nvSpPr>
            <p:cNvPr id="72" name="TextBox 72"/>
            <p:cNvSpPr txBox="1"/>
            <p:nvPr/>
          </p:nvSpPr>
          <p:spPr>
            <a:xfrm>
              <a:off x="5912157" y="489513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19%​​</a:t>
              </a:r>
            </a:p>
          </p:txBody>
        </p:sp>
        <p:sp>
          <p:nvSpPr>
            <p:cNvPr id="73" name="TextBox 73"/>
            <p:cNvSpPr txBox="1"/>
            <p:nvPr/>
          </p:nvSpPr>
          <p:spPr>
            <a:xfrm>
              <a:off x="6483657" y="5380911"/>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10%​​</a:t>
              </a:r>
            </a:p>
          </p:txBody>
        </p:sp>
        <p:sp>
          <p:nvSpPr>
            <p:cNvPr id="74" name="Line 74"/>
            <p:cNvSpPr/>
            <p:nvPr/>
          </p:nvSpPr>
          <p:spPr>
            <a:xfrm>
              <a:off x="4152900" y="6096000"/>
              <a:ext cx="2667000" cy="9525"/>
            </a:xfrm>
            <a:custGeom>
              <a:avLst/>
              <a:gdLst/>
              <a:ahLst/>
              <a:cxnLst/>
              <a:rect l="l" t="t" r="r" b="b"/>
              <a:pathLst>
                <a:path w="2667000" h="9525">
                  <a:moveTo>
                    <a:pt x="0" y="0"/>
                  </a:moveTo>
                  <a:lnTo>
                    <a:pt x="2667000" y="0"/>
                  </a:lnTo>
                </a:path>
              </a:pathLst>
            </a:custGeom>
            <a:noFill/>
            <a:ln w="11430">
              <a:solidFill>
                <a:srgbClr val="E6C1B9"/>
              </a:solidFill>
            </a:ln>
          </p:spPr>
        </p:sp>
        <p:sp>
          <p:nvSpPr>
            <p:cNvPr id="75" name="TextBox 75"/>
            <p:cNvSpPr txBox="1"/>
            <p:nvPr/>
          </p:nvSpPr>
          <p:spPr>
            <a:xfrm>
              <a:off x="4159425" y="6247686"/>
              <a:ext cx="367951"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&lt;18岁​​</a:t>
              </a:r>
            </a:p>
          </p:txBody>
        </p:sp>
        <p:sp>
          <p:nvSpPr>
            <p:cNvPr id="76" name="TextBox 76"/>
            <p:cNvSpPr txBox="1"/>
            <p:nvPr/>
          </p:nvSpPr>
          <p:spPr>
            <a:xfrm>
              <a:off x="4704640" y="6247686"/>
              <a:ext cx="420520"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19-25岁​</a:t>
              </a:r>
            </a:p>
          </p:txBody>
        </p:sp>
        <p:sp>
          <p:nvSpPr>
            <p:cNvPr id="77" name="TextBox 77"/>
            <p:cNvSpPr txBox="1"/>
            <p:nvPr/>
          </p:nvSpPr>
          <p:spPr>
            <a:xfrm>
              <a:off x="5276140" y="6247686"/>
              <a:ext cx="420520"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26-35岁​</a:t>
              </a:r>
            </a:p>
          </p:txBody>
        </p:sp>
        <p:sp>
          <p:nvSpPr>
            <p:cNvPr id="78" name="TextBox 78"/>
            <p:cNvSpPr txBox="1"/>
            <p:nvPr/>
          </p:nvSpPr>
          <p:spPr>
            <a:xfrm>
              <a:off x="5847640" y="6247686"/>
              <a:ext cx="420520"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36-45岁​</a:t>
              </a:r>
            </a:p>
          </p:txBody>
        </p:sp>
        <p:sp>
          <p:nvSpPr>
            <p:cNvPr id="79" name="TextBox 79"/>
            <p:cNvSpPr txBox="1"/>
            <p:nvPr/>
          </p:nvSpPr>
          <p:spPr>
            <a:xfrm>
              <a:off x="6445425" y="6247686"/>
              <a:ext cx="367951"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&gt;46岁​​</a:t>
              </a:r>
            </a:p>
          </p:txBody>
        </p:sp>
      </p:grpSp>
      <p:grpSp>
        <p:nvGrpSpPr>
          <p:cNvPr id="119" name="m-user-city"/>
          <p:cNvGrpSpPr/>
          <p:nvPr/>
        </p:nvGrpSpPr>
        <p:grpSpPr>
          <a:xfrm>
            <a:off x="7239000" y="838200"/>
            <a:ext cx="4476750" cy="5753100"/>
            <a:chOff x="7239000" y="838200"/>
            <a:chExt cx="4476750" cy="5753100"/>
          </a:xfrm>
        </p:grpSpPr>
        <p:sp>
          <p:nvSpPr>
            <p:cNvPr id="81" name="Rectangle 81"/>
            <p:cNvSpPr/>
            <p:nvPr/>
          </p:nvSpPr>
          <p:spPr>
            <a:xfrm>
              <a:off x="7239000" y="838200"/>
              <a:ext cx="4476750" cy="5753100"/>
            </a:xfrm>
            <a:prstGeom prst="roundRect">
              <a:avLst>
                <a:gd name="adj" fmla="val 1277"/>
              </a:avLst>
            </a:prstGeom>
            <a:solidFill>
              <a:srgbClr val="FFFFFF"/>
            </a:solidFill>
            <a:ln w="11430">
              <a:solidFill>
                <a:srgbClr val="C9DDF5"/>
              </a:solidFill>
            </a:ln>
          </p:spPr>
        </p:sp>
        <p:sp>
          <p:nvSpPr>
            <p:cNvPr id="82" name="Freeform 82"/>
            <p:cNvSpPr/>
            <p:nvPr/>
          </p:nvSpPr>
          <p:spPr>
            <a:xfrm>
              <a:off x="7239000" y="838200"/>
              <a:ext cx="4476750" cy="323850"/>
            </a:xfrm>
            <a:custGeom>
              <a:avLst/>
              <a:gdLst/>
              <a:ahLst/>
              <a:cxnLst/>
              <a:rect l="l" t="t" r="r" b="b"/>
              <a:pathLst>
                <a:path w="4476750" h="323850">
                  <a:moveTo>
                    <a:pt x="0" y="57150"/>
                  </a:moveTo>
                  <a:cubicBezTo>
                    <a:pt x="0" y="25587"/>
                    <a:pt x="25587" y="0"/>
                    <a:pt x="57150" y="0"/>
                  </a:cubicBezTo>
                  <a:lnTo>
                    <a:pt x="4419600" y="0"/>
                  </a:lnTo>
                  <a:cubicBezTo>
                    <a:pt x="4451163" y="0"/>
                    <a:pt x="4476750" y="25587"/>
                    <a:pt x="4476750" y="57150"/>
                  </a:cubicBezTo>
                  <a:lnTo>
                    <a:pt x="4476750" y="323850"/>
                  </a:lnTo>
                  <a:lnTo>
                    <a:pt x="0" y="323850"/>
                  </a:lnTo>
                  <a:close/>
                </a:path>
              </a:pathLst>
            </a:custGeom>
            <a:gradFill>
              <a:gsLst>
                <a:gs pos="0">
                  <a:srgbClr val="FF5B3A"/>
                </a:gs>
                <a:gs pos="100000">
                  <a:srgbClr val="C83B1E"/>
                </a:gs>
              </a:gsLst>
              <a:lin ang="0" scaled="1"/>
            </a:gradFill>
            <a:ln>
              <a:noFill/>
            </a:ln>
          </p:spPr>
        </p:sp>
        <p:grpSp>
          <p:nvGrpSpPr>
            <p:cNvPr id="91" name="Group 91"/>
            <p:cNvGrpSpPr/>
            <p:nvPr/>
          </p:nvGrpSpPr>
          <p:grpSpPr>
            <a:xfrm>
              <a:off x="8786812" y="928687"/>
              <a:ext cx="144463" cy="152400"/>
              <a:chOff x="8786812" y="928687"/>
              <a:chExt cx="144463" cy="152400"/>
            </a:xfrm>
          </p:grpSpPr>
          <p:sp>
            <p:nvSpPr>
              <p:cNvPr id="83" name="Freeform 83"/>
              <p:cNvSpPr/>
              <p:nvPr/>
            </p:nvSpPr>
            <p:spPr>
              <a:xfrm>
                <a:off x="8786812" y="1071562"/>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84" name="Freeform 84"/>
              <p:cNvSpPr/>
              <p:nvPr/>
            </p:nvSpPr>
            <p:spPr>
              <a:xfrm>
                <a:off x="8786812" y="984250"/>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85" name="Freeform 85"/>
              <p:cNvSpPr/>
              <p:nvPr/>
            </p:nvSpPr>
            <p:spPr>
              <a:xfrm>
                <a:off x="8802687" y="928687"/>
                <a:ext cx="111125" cy="23812"/>
              </a:xfrm>
              <a:custGeom>
                <a:avLst/>
                <a:gdLst/>
                <a:ahLst/>
                <a:cxnLst/>
                <a:rect l="l" t="t" r="r" b="b"/>
                <a:pathLst>
                  <a:path w="111125" h="23812">
                    <a:moveTo>
                      <a:pt x="0" y="23812"/>
                    </a:moveTo>
                    <a:lnTo>
                      <a:pt x="55562" y="0"/>
                    </a:lnTo>
                    <a:lnTo>
                      <a:pt x="111125" y="23812"/>
                    </a:lnTo>
                  </a:path>
                </a:pathLst>
              </a:custGeom>
              <a:noFill/>
              <a:ln w="15875">
                <a:solidFill>
                  <a:srgbClr val="FFFFFF"/>
                </a:solidFill>
              </a:ln>
            </p:spPr>
          </p:sp>
          <p:sp>
            <p:nvSpPr>
              <p:cNvPr id="86" name="Freeform 86"/>
              <p:cNvSpPr/>
              <p:nvPr/>
            </p:nvSpPr>
            <p:spPr>
              <a:xfrm>
                <a:off x="8794750" y="984250"/>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87" name="Freeform 87"/>
              <p:cNvSpPr/>
              <p:nvPr/>
            </p:nvSpPr>
            <p:spPr>
              <a:xfrm>
                <a:off x="8921750" y="984250"/>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88" name="Freeform 88"/>
              <p:cNvSpPr/>
              <p:nvPr/>
            </p:nvSpPr>
            <p:spPr>
              <a:xfrm>
                <a:off x="8826500" y="1016000"/>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89" name="Freeform 89"/>
              <p:cNvSpPr/>
              <p:nvPr/>
            </p:nvSpPr>
            <p:spPr>
              <a:xfrm>
                <a:off x="8858250" y="1016000"/>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90" name="Freeform 90"/>
              <p:cNvSpPr/>
              <p:nvPr/>
            </p:nvSpPr>
            <p:spPr>
              <a:xfrm>
                <a:off x="8890000" y="1016000"/>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92" name="TextBox 92"/>
            <p:cNvSpPr txBox="1"/>
            <p:nvPr/>
          </p:nvSpPr>
          <p:spPr>
            <a:xfrm>
              <a:off x="9043416" y="953452"/>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用户城市分布</a:t>
              </a:r>
            </a:p>
          </p:txBody>
        </p:sp>
        <p:sp>
          <p:nvSpPr>
            <p:cNvPr id="93" name="Freeform 93"/>
            <p:cNvSpPr/>
            <p:nvPr/>
          </p:nvSpPr>
          <p:spPr>
            <a:xfrm>
              <a:off x="9477375" y="2619375"/>
              <a:ext cx="792480" cy="1000125"/>
            </a:xfrm>
            <a:custGeom>
              <a:avLst/>
              <a:gdLst/>
              <a:ahLst/>
              <a:cxnLst/>
              <a:rect l="l" t="t" r="r" b="b"/>
              <a:pathLst>
                <a:path w="792480" h="1000125">
                  <a:moveTo>
                    <a:pt x="0" y="1000125"/>
                  </a:moveTo>
                  <a:lnTo>
                    <a:pt x="0" y="0"/>
                  </a:lnTo>
                  <a:cubicBezTo>
                    <a:pt x="310455" y="120"/>
                    <a:pt x="603250" y="144406"/>
                    <a:pt x="792480" y="390525"/>
                  </a:cubicBezTo>
                  <a:lnTo>
                    <a:pt x="467677" y="640080"/>
                  </a:lnTo>
                  <a:cubicBezTo>
                    <a:pt x="355980" y="494860"/>
                    <a:pt x="183208" y="409706"/>
                    <a:pt x="0" y="409575"/>
                  </a:cubicBezTo>
                  <a:close/>
                </a:path>
              </a:pathLst>
            </a:custGeom>
            <a:solidFill>
              <a:srgbClr val="C83B1E"/>
            </a:solidFill>
            <a:ln>
              <a:noFill/>
            </a:ln>
          </p:spPr>
        </p:sp>
        <p:sp>
          <p:nvSpPr>
            <p:cNvPr id="94" name="Freeform 94"/>
            <p:cNvSpPr/>
            <p:nvPr/>
          </p:nvSpPr>
          <p:spPr>
            <a:xfrm>
              <a:off x="9477375" y="3009900"/>
              <a:ext cx="1052701" cy="922972"/>
            </a:xfrm>
            <a:custGeom>
              <a:avLst/>
              <a:gdLst/>
              <a:ahLst/>
              <a:cxnLst/>
              <a:rect l="l" t="t" r="r" b="b"/>
              <a:pathLst>
                <a:path w="1052701" h="922972">
                  <a:moveTo>
                    <a:pt x="0" y="609600"/>
                  </a:moveTo>
                  <a:lnTo>
                    <a:pt x="792480" y="0"/>
                  </a:lnTo>
                  <a:cubicBezTo>
                    <a:pt x="994204" y="262796"/>
                    <a:pt x="1052701" y="608432"/>
                    <a:pt x="948690" y="922972"/>
                  </a:cubicBezTo>
                  <a:lnTo>
                    <a:pt x="560070" y="794385"/>
                  </a:lnTo>
                  <a:cubicBezTo>
                    <a:pt x="621385" y="608680"/>
                    <a:pt x="586788" y="404664"/>
                    <a:pt x="467677" y="249555"/>
                  </a:cubicBezTo>
                  <a:close/>
                </a:path>
              </a:pathLst>
            </a:custGeom>
            <a:solidFill>
              <a:srgbClr val="E94B2B"/>
            </a:solidFill>
            <a:ln>
              <a:noFill/>
            </a:ln>
          </p:spPr>
        </p:sp>
        <p:sp>
          <p:nvSpPr>
            <p:cNvPr id="95" name="Freeform 95"/>
            <p:cNvSpPr/>
            <p:nvPr/>
          </p:nvSpPr>
          <p:spPr>
            <a:xfrm>
              <a:off x="9477375" y="3619500"/>
              <a:ext cx="948690" cy="977265"/>
            </a:xfrm>
            <a:custGeom>
              <a:avLst/>
              <a:gdLst/>
              <a:ahLst/>
              <a:cxnLst/>
              <a:rect l="l" t="t" r="r" b="b"/>
              <a:pathLst>
                <a:path w="948690" h="977265">
                  <a:moveTo>
                    <a:pt x="0" y="0"/>
                  </a:moveTo>
                  <a:lnTo>
                    <a:pt x="948690" y="313372"/>
                  </a:lnTo>
                  <a:cubicBezTo>
                    <a:pt x="837931" y="649301"/>
                    <a:pt x="557967" y="901739"/>
                    <a:pt x="212407" y="977265"/>
                  </a:cubicBezTo>
                  <a:lnTo>
                    <a:pt x="124778" y="577215"/>
                  </a:lnTo>
                  <a:cubicBezTo>
                    <a:pt x="329127" y="532711"/>
                    <a:pt x="494697" y="383445"/>
                    <a:pt x="560070" y="184785"/>
                  </a:cubicBezTo>
                  <a:close/>
                </a:path>
              </a:pathLst>
            </a:custGeom>
            <a:solidFill>
              <a:srgbClr val="F0856F"/>
            </a:solidFill>
            <a:ln>
              <a:noFill/>
            </a:ln>
          </p:spPr>
        </p:sp>
        <p:sp>
          <p:nvSpPr>
            <p:cNvPr id="96" name="Freeform 96"/>
            <p:cNvSpPr/>
            <p:nvPr/>
          </p:nvSpPr>
          <p:spPr>
            <a:xfrm>
              <a:off x="8510588" y="3619500"/>
              <a:ext cx="1179195" cy="1090952"/>
            </a:xfrm>
            <a:custGeom>
              <a:avLst/>
              <a:gdLst/>
              <a:ahLst/>
              <a:cxnLst/>
              <a:rect l="l" t="t" r="r" b="b"/>
              <a:pathLst>
                <a:path w="1179195" h="1090952">
                  <a:moveTo>
                    <a:pt x="966788" y="0"/>
                  </a:moveTo>
                  <a:lnTo>
                    <a:pt x="1179195" y="977265"/>
                  </a:lnTo>
                  <a:cubicBezTo>
                    <a:pt x="656851" y="1090952"/>
                    <a:pt x="137452" y="773774"/>
                    <a:pt x="0" y="257175"/>
                  </a:cubicBezTo>
                  <a:lnTo>
                    <a:pt x="396240" y="151447"/>
                  </a:lnTo>
                  <a:cubicBezTo>
                    <a:pt x="477147" y="456266"/>
                    <a:pt x="783284" y="643723"/>
                    <a:pt x="1091565" y="577215"/>
                  </a:cubicBezTo>
                  <a:close/>
                </a:path>
              </a:pathLst>
            </a:custGeom>
            <a:solidFill>
              <a:srgbClr val="DCEBFB"/>
            </a:solidFill>
            <a:ln>
              <a:noFill/>
            </a:ln>
          </p:spPr>
        </p:sp>
        <p:sp>
          <p:nvSpPr>
            <p:cNvPr id="97" name="Freeform 97"/>
            <p:cNvSpPr/>
            <p:nvPr/>
          </p:nvSpPr>
          <p:spPr>
            <a:xfrm>
              <a:off x="8419830" y="2917507"/>
              <a:ext cx="1057545" cy="959168"/>
            </a:xfrm>
            <a:custGeom>
              <a:avLst/>
              <a:gdLst/>
              <a:ahLst/>
              <a:cxnLst/>
              <a:rect l="l" t="t" r="r" b="b"/>
              <a:pathLst>
                <a:path w="1057545" h="959168">
                  <a:moveTo>
                    <a:pt x="1057545" y="701993"/>
                  </a:moveTo>
                  <a:lnTo>
                    <a:pt x="90757" y="959168"/>
                  </a:lnTo>
                  <a:cubicBezTo>
                    <a:pt x="0" y="616799"/>
                    <a:pt x="97096" y="251964"/>
                    <a:pt x="346027" y="0"/>
                  </a:cubicBezTo>
                  <a:lnTo>
                    <a:pt x="637492" y="287655"/>
                  </a:lnTo>
                  <a:cubicBezTo>
                    <a:pt x="490794" y="436361"/>
                    <a:pt x="433568" y="651502"/>
                    <a:pt x="486997" y="853440"/>
                  </a:cubicBezTo>
                  <a:close/>
                </a:path>
              </a:pathLst>
            </a:custGeom>
            <a:solidFill>
              <a:srgbClr val="F8B6A9"/>
            </a:solidFill>
            <a:ln>
              <a:noFill/>
            </a:ln>
          </p:spPr>
        </p:sp>
        <p:sp>
          <p:nvSpPr>
            <p:cNvPr id="98" name="Freeform 98"/>
            <p:cNvSpPr/>
            <p:nvPr/>
          </p:nvSpPr>
          <p:spPr>
            <a:xfrm>
              <a:off x="8765858" y="2619375"/>
              <a:ext cx="711518" cy="1000125"/>
            </a:xfrm>
            <a:custGeom>
              <a:avLst/>
              <a:gdLst/>
              <a:ahLst/>
              <a:cxnLst/>
              <a:rect l="l" t="t" r="r" b="b"/>
              <a:pathLst>
                <a:path w="711518" h="1000125">
                  <a:moveTo>
                    <a:pt x="711518" y="1000125"/>
                  </a:moveTo>
                  <a:lnTo>
                    <a:pt x="0" y="298133"/>
                  </a:lnTo>
                  <a:cubicBezTo>
                    <a:pt x="187759" y="107601"/>
                    <a:pt x="444019" y="225"/>
                    <a:pt x="711518" y="0"/>
                  </a:cubicBezTo>
                  <a:lnTo>
                    <a:pt x="711518" y="409575"/>
                  </a:lnTo>
                  <a:cubicBezTo>
                    <a:pt x="553569" y="409775"/>
                    <a:pt x="402284" y="473240"/>
                    <a:pt x="291465" y="585788"/>
                  </a:cubicBezTo>
                  <a:close/>
                </a:path>
              </a:pathLst>
            </a:custGeom>
            <a:solidFill>
              <a:srgbClr val="FF5B3A"/>
            </a:solidFill>
            <a:ln>
              <a:noFill/>
            </a:ln>
          </p:spPr>
        </p:sp>
        <p:sp>
          <p:nvSpPr>
            <p:cNvPr id="99" name="TextBox 99"/>
            <p:cNvSpPr txBox="1"/>
            <p:nvPr/>
          </p:nvSpPr>
          <p:spPr>
            <a:xfrm>
              <a:off x="9274531" y="3438049"/>
              <a:ext cx="405689" cy="190690"/>
            </a:xfrm>
            <a:prstGeom prst="rect">
              <a:avLst/>
            </a:prstGeom>
            <a:noFill/>
            <a:ln>
              <a:noFill/>
            </a:ln>
          </p:spPr>
          <p:txBody>
            <a:bodyPr wrap="none" lIns="0" tIns="0" rIns="0" bIns="0" anchor="t" anchorCtr="0">
              <a:spAutoFit/>
            </a:bodyPr>
            <a:lstStyle/>
            <a:p>
              <a:pPr algn="ctr"/>
              <a:r>
                <a:rPr lang="zh-CN" sz="980" dirty="0">
                  <a:solidFill>
                    <a:srgbClr val="684F4A"/>
                  </a:solidFill>
                  <a:latin typeface="+mn-lt"/>
                  <a:ea typeface="+mn-ea"/>
                  <a:cs typeface="+mn-cs"/>
                </a:rPr>
                <a:t>总人数</a:t>
              </a:r>
            </a:p>
          </p:txBody>
        </p:sp>
        <p:sp>
          <p:nvSpPr>
            <p:cNvPr id="100" name="TextBox 100"/>
            <p:cNvSpPr txBox="1"/>
            <p:nvPr/>
          </p:nvSpPr>
          <p:spPr>
            <a:xfrm>
              <a:off x="9098585" y="3653790"/>
              <a:ext cx="757580" cy="352044"/>
            </a:xfrm>
            <a:prstGeom prst="rect">
              <a:avLst/>
            </a:prstGeom>
            <a:noFill/>
            <a:ln>
              <a:noFill/>
            </a:ln>
          </p:spPr>
          <p:txBody>
            <a:bodyPr wrap="none" lIns="0" tIns="0" rIns="0" bIns="0" anchor="t" anchorCtr="0">
              <a:spAutoFit/>
            </a:bodyPr>
            <a:lstStyle/>
            <a:p>
              <a:pPr algn="ctr"/>
              <a:r>
                <a:rPr lang="en-US" sz="1800" b="1" dirty="0">
                  <a:solidFill>
                    <a:srgbClr val="E94B2B"/>
                  </a:solidFill>
                  <a:latin typeface="+mn-lt"/>
                  <a:ea typeface="+mn-ea"/>
                  <a:cs typeface="+mn-cs"/>
                </a:rPr>
                <a:t>1.45E</a:t>
              </a:r>
            </a:p>
          </p:txBody>
        </p:sp>
        <p:sp>
          <p:nvSpPr>
            <p:cNvPr id="101" name="TextBox 101"/>
            <p:cNvSpPr txBox="1"/>
            <p:nvPr/>
          </p:nvSpPr>
          <p:spPr>
            <a:xfrm>
              <a:off x="10046007" y="268533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15%​​</a:t>
              </a:r>
            </a:p>
          </p:txBody>
        </p:sp>
        <p:sp>
          <p:nvSpPr>
            <p:cNvPr id="102" name="TextBox 102"/>
            <p:cNvSpPr txBox="1"/>
            <p:nvPr/>
          </p:nvSpPr>
          <p:spPr>
            <a:xfrm>
              <a:off x="10484157" y="346638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16%​​</a:t>
              </a:r>
            </a:p>
          </p:txBody>
        </p:sp>
        <p:sp>
          <p:nvSpPr>
            <p:cNvPr id="103" name="TextBox 103"/>
            <p:cNvSpPr txBox="1"/>
            <p:nvPr/>
          </p:nvSpPr>
          <p:spPr>
            <a:xfrm>
              <a:off x="9836457" y="434268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17%​​</a:t>
              </a:r>
            </a:p>
          </p:txBody>
        </p:sp>
        <p:sp>
          <p:nvSpPr>
            <p:cNvPr id="104" name="TextBox 104"/>
            <p:cNvSpPr txBox="1"/>
            <p:nvPr/>
          </p:nvSpPr>
          <p:spPr>
            <a:xfrm>
              <a:off x="8655357" y="445698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25%​​</a:t>
              </a:r>
            </a:p>
          </p:txBody>
        </p:sp>
        <p:sp>
          <p:nvSpPr>
            <p:cNvPr id="105" name="TextBox 105"/>
            <p:cNvSpPr txBox="1"/>
            <p:nvPr/>
          </p:nvSpPr>
          <p:spPr>
            <a:xfrm>
              <a:off x="8388657" y="401883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17%​​</a:t>
              </a:r>
            </a:p>
          </p:txBody>
        </p:sp>
        <p:sp>
          <p:nvSpPr>
            <p:cNvPr id="106" name="TextBox 106"/>
            <p:cNvSpPr txBox="1"/>
            <p:nvPr/>
          </p:nvSpPr>
          <p:spPr>
            <a:xfrm>
              <a:off x="8674407" y="2837736"/>
              <a:ext cx="291487" cy="140494"/>
            </a:xfrm>
            <a:prstGeom prst="rect">
              <a:avLst/>
            </a:prstGeom>
            <a:noFill/>
            <a:ln>
              <a:noFill/>
            </a:ln>
          </p:spPr>
          <p:txBody>
            <a:bodyPr wrap="none" lIns="0" tIns="0" rIns="0" bIns="0" anchor="t" anchorCtr="0">
              <a:spAutoFit/>
            </a:bodyPr>
            <a:lstStyle/>
            <a:p>
              <a:pPr algn="ctr"/>
              <a:r>
                <a:rPr lang="zh-CN" sz="710" dirty="0">
                  <a:solidFill>
                    <a:srgbClr val="684F4A"/>
                  </a:solidFill>
                  <a:latin typeface="+mn-lt"/>
                  <a:ea typeface="+mn-ea"/>
                  <a:cs typeface="+mn-cs"/>
                </a:rPr>
                <a:t>13%​​</a:t>
              </a:r>
            </a:p>
          </p:txBody>
        </p:sp>
        <p:sp>
          <p:nvSpPr>
            <p:cNvPr id="107" name="Rectangle 107"/>
            <p:cNvSpPr/>
            <p:nvPr/>
          </p:nvSpPr>
          <p:spPr>
            <a:xfrm>
              <a:off x="7620000" y="5905500"/>
              <a:ext cx="76200" cy="76200"/>
            </a:xfrm>
            <a:prstGeom prst="rect">
              <a:avLst/>
            </a:prstGeom>
            <a:solidFill>
              <a:srgbClr val="C83B1E"/>
            </a:solidFill>
            <a:ln>
              <a:noFill/>
            </a:ln>
          </p:spPr>
        </p:sp>
        <p:sp>
          <p:nvSpPr>
            <p:cNvPr id="108" name="TextBox 108"/>
            <p:cNvSpPr txBox="1"/>
            <p:nvPr/>
          </p:nvSpPr>
          <p:spPr>
            <a:xfrm>
              <a:off x="7729538" y="589668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一线城市</a:t>
              </a:r>
            </a:p>
          </p:txBody>
        </p:sp>
        <p:sp>
          <p:nvSpPr>
            <p:cNvPr id="109" name="Rectangle 109"/>
            <p:cNvSpPr/>
            <p:nvPr/>
          </p:nvSpPr>
          <p:spPr>
            <a:xfrm>
              <a:off x="8858250" y="5905500"/>
              <a:ext cx="76200" cy="76200"/>
            </a:xfrm>
            <a:prstGeom prst="rect">
              <a:avLst/>
            </a:prstGeom>
            <a:solidFill>
              <a:srgbClr val="E94B2B"/>
            </a:solidFill>
            <a:ln>
              <a:noFill/>
            </a:ln>
          </p:spPr>
        </p:sp>
        <p:sp>
          <p:nvSpPr>
            <p:cNvPr id="110" name="TextBox 110"/>
            <p:cNvSpPr txBox="1"/>
            <p:nvPr/>
          </p:nvSpPr>
          <p:spPr>
            <a:xfrm>
              <a:off x="8967788" y="5896689"/>
              <a:ext cx="54127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新一线城市</a:t>
              </a:r>
            </a:p>
          </p:txBody>
        </p:sp>
        <p:sp>
          <p:nvSpPr>
            <p:cNvPr id="111" name="Rectangle 111"/>
            <p:cNvSpPr/>
            <p:nvPr/>
          </p:nvSpPr>
          <p:spPr>
            <a:xfrm>
              <a:off x="10096500" y="5905500"/>
              <a:ext cx="76200" cy="76200"/>
            </a:xfrm>
            <a:prstGeom prst="rect">
              <a:avLst/>
            </a:prstGeom>
            <a:solidFill>
              <a:srgbClr val="F0856F"/>
            </a:solidFill>
            <a:ln>
              <a:noFill/>
            </a:ln>
          </p:spPr>
        </p:sp>
        <p:sp>
          <p:nvSpPr>
            <p:cNvPr id="112" name="TextBox 112"/>
            <p:cNvSpPr txBox="1"/>
            <p:nvPr/>
          </p:nvSpPr>
          <p:spPr>
            <a:xfrm>
              <a:off x="10206038" y="589668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二线城市</a:t>
              </a:r>
            </a:p>
          </p:txBody>
        </p:sp>
        <p:sp>
          <p:nvSpPr>
            <p:cNvPr id="113" name="Rectangle 113"/>
            <p:cNvSpPr/>
            <p:nvPr/>
          </p:nvSpPr>
          <p:spPr>
            <a:xfrm>
              <a:off x="7620000" y="6172200"/>
              <a:ext cx="76200" cy="76200"/>
            </a:xfrm>
            <a:prstGeom prst="rect">
              <a:avLst/>
            </a:prstGeom>
            <a:solidFill>
              <a:srgbClr val="DCEBFB"/>
            </a:solidFill>
            <a:ln>
              <a:noFill/>
            </a:ln>
          </p:spPr>
        </p:sp>
        <p:sp>
          <p:nvSpPr>
            <p:cNvPr id="114" name="TextBox 114"/>
            <p:cNvSpPr txBox="1"/>
            <p:nvPr/>
          </p:nvSpPr>
          <p:spPr>
            <a:xfrm>
              <a:off x="7729538" y="616338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三线城市</a:t>
              </a:r>
            </a:p>
          </p:txBody>
        </p:sp>
        <p:sp>
          <p:nvSpPr>
            <p:cNvPr id="115" name="Rectangle 115"/>
            <p:cNvSpPr/>
            <p:nvPr/>
          </p:nvSpPr>
          <p:spPr>
            <a:xfrm>
              <a:off x="8858250" y="6172200"/>
              <a:ext cx="76200" cy="76200"/>
            </a:xfrm>
            <a:prstGeom prst="rect">
              <a:avLst/>
            </a:prstGeom>
            <a:solidFill>
              <a:srgbClr val="F8B6A9"/>
            </a:solidFill>
            <a:ln>
              <a:noFill/>
            </a:ln>
          </p:spPr>
        </p:sp>
        <p:sp>
          <p:nvSpPr>
            <p:cNvPr id="116" name="TextBox 116"/>
            <p:cNvSpPr txBox="1"/>
            <p:nvPr/>
          </p:nvSpPr>
          <p:spPr>
            <a:xfrm>
              <a:off x="8967788" y="616338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四线城市</a:t>
              </a:r>
            </a:p>
          </p:txBody>
        </p:sp>
        <p:sp>
          <p:nvSpPr>
            <p:cNvPr id="117" name="Rectangle 117"/>
            <p:cNvSpPr/>
            <p:nvPr/>
          </p:nvSpPr>
          <p:spPr>
            <a:xfrm>
              <a:off x="10096500" y="6172200"/>
              <a:ext cx="76200" cy="76200"/>
            </a:xfrm>
            <a:prstGeom prst="rect">
              <a:avLst/>
            </a:prstGeom>
            <a:solidFill>
              <a:srgbClr val="FF5B3A"/>
            </a:solidFill>
            <a:ln>
              <a:noFill/>
            </a:ln>
          </p:spPr>
        </p:sp>
        <p:sp>
          <p:nvSpPr>
            <p:cNvPr id="118" name="TextBox 118"/>
            <p:cNvSpPr txBox="1"/>
            <p:nvPr/>
          </p:nvSpPr>
          <p:spPr>
            <a:xfrm>
              <a:off x="10206038" y="616338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五线城市</a:t>
              </a:r>
            </a:p>
          </p:txBody>
        </p:sp>
      </p:gr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29</a:t>
              </a:r>
            </a:p>
          </p:txBody>
        </p:sp>
        <p:sp>
          <p:nvSpPr>
            <p:cNvPr id="4" name="TextBox 4"/>
            <p:cNvSpPr txBox="1"/>
            <p:nvPr/>
          </p:nvSpPr>
          <p:spPr>
            <a:xfrm>
              <a:off x="904494" y="180023"/>
              <a:ext cx="2238756"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核心产品客户洞察</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38" name="m-kpi-strip"/>
          <p:cNvGrpSpPr/>
          <p:nvPr/>
        </p:nvGrpSpPr>
        <p:grpSpPr>
          <a:xfrm>
            <a:off x="571500" y="838200"/>
            <a:ext cx="11087100" cy="1028700"/>
            <a:chOff x="571500" y="838200"/>
            <a:chExt cx="11087100" cy="1028700"/>
          </a:xfrm>
        </p:grpSpPr>
        <p:sp>
          <p:nvSpPr>
            <p:cNvPr id="7" name="Rectangle 7"/>
            <p:cNvSpPr/>
            <p:nvPr/>
          </p:nvSpPr>
          <p:spPr>
            <a:xfrm>
              <a:off x="571500" y="838200"/>
              <a:ext cx="11087100" cy="1028700"/>
            </a:xfrm>
            <a:prstGeom prst="roundRect">
              <a:avLst>
                <a:gd name="adj" fmla="val 7407"/>
              </a:avLst>
            </a:prstGeom>
            <a:solidFill>
              <a:srgbClr val="FFFFFF"/>
            </a:solidFill>
            <a:ln w="11430">
              <a:solidFill>
                <a:srgbClr val="C9DDF5"/>
              </a:solidFill>
            </a:ln>
          </p:spPr>
        </p:sp>
        <p:sp>
          <p:nvSpPr>
            <p:cNvPr id="8" name="Ellipse 8"/>
            <p:cNvSpPr/>
            <p:nvPr/>
          </p:nvSpPr>
          <p:spPr>
            <a:xfrm>
              <a:off x="1009650" y="1123950"/>
              <a:ext cx="457200" cy="457200"/>
            </a:xfrm>
            <a:prstGeom prst="ellipse">
              <a:avLst/>
            </a:prstGeom>
            <a:gradFill>
              <a:gsLst>
                <a:gs pos="0">
                  <a:srgbClr val="FF5B3A"/>
                </a:gs>
                <a:gs pos="100000">
                  <a:srgbClr val="C83B1E"/>
                </a:gs>
              </a:gsLst>
              <a:lin ang="0" scaled="1"/>
            </a:gradFill>
            <a:ln>
              <a:noFill/>
            </a:ln>
          </p:spPr>
        </p:sp>
        <p:grpSp>
          <p:nvGrpSpPr>
            <p:cNvPr id="13" name="Group 13"/>
            <p:cNvGrpSpPr/>
            <p:nvPr/>
          </p:nvGrpSpPr>
          <p:grpSpPr>
            <a:xfrm>
              <a:off x="1159669" y="1273969"/>
              <a:ext cx="157163" cy="157163"/>
              <a:chOff x="1159669" y="1273969"/>
              <a:chExt cx="157163" cy="157163"/>
            </a:xfrm>
          </p:grpSpPr>
          <p:sp>
            <p:nvSpPr>
              <p:cNvPr id="9" name="Freeform 9"/>
              <p:cNvSpPr/>
              <p:nvPr/>
            </p:nvSpPr>
            <p:spPr>
              <a:xfrm>
                <a:off x="1177131" y="127396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10" name="Freeform 10"/>
              <p:cNvSpPr/>
              <p:nvPr/>
            </p:nvSpPr>
            <p:spPr>
              <a:xfrm>
                <a:off x="1159669" y="137874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11" name="Freeform 11"/>
              <p:cNvSpPr/>
              <p:nvPr/>
            </p:nvSpPr>
            <p:spPr>
              <a:xfrm>
                <a:off x="1273175" y="127510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12" name="Freeform 12"/>
              <p:cNvSpPr/>
              <p:nvPr/>
            </p:nvSpPr>
            <p:spPr>
              <a:xfrm>
                <a:off x="1290638" y="138005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14" name="TextBox 14"/>
            <p:cNvSpPr txBox="1"/>
            <p:nvPr/>
          </p:nvSpPr>
          <p:spPr>
            <a:xfrm>
              <a:off x="1614106" y="1186101"/>
              <a:ext cx="826084" cy="198025"/>
            </a:xfrm>
            <a:prstGeom prst="rect">
              <a:avLst/>
            </a:prstGeom>
            <a:noFill/>
            <a:ln>
              <a:noFill/>
            </a:ln>
          </p:spPr>
          <p:txBody>
            <a:bodyPr wrap="none" lIns="0" tIns="0" rIns="0" bIns="0" anchor="t" anchorCtr="0">
              <a:spAutoFit/>
            </a:bodyPr>
            <a:lstStyle/>
            <a:p>
              <a:pPr algn="l"/>
              <a:r>
                <a:rPr lang="zh-CN" sz="1010" dirty="0">
                  <a:solidFill>
                    <a:srgbClr val="262626"/>
                  </a:solidFill>
                  <a:latin typeface="+mn-lt"/>
                  <a:ea typeface="+mn-ea"/>
                  <a:cs typeface="+mn-cs"/>
                </a:rPr>
                <a:t>总目标客户数</a:t>
              </a:r>
            </a:p>
          </p:txBody>
        </p:sp>
        <p:sp>
          <p:nvSpPr>
            <p:cNvPr id="15" name="TextBox 15"/>
            <p:cNvSpPr txBox="1"/>
            <p:nvPr/>
          </p:nvSpPr>
          <p:spPr>
            <a:xfrm>
              <a:off x="1610106" y="1386840"/>
              <a:ext cx="1138394" cy="352044"/>
            </a:xfrm>
            <a:prstGeom prst="rect">
              <a:avLst/>
            </a:prstGeom>
            <a:noFill/>
            <a:ln>
              <a:noFill/>
            </a:ln>
          </p:spPr>
          <p:txBody>
            <a:bodyPr wrap="none" lIns="0" tIns="0" rIns="0" bIns="0" anchor="t" anchorCtr="0">
              <a:spAutoFit/>
            </a:bodyPr>
            <a:lstStyle/>
            <a:p>
              <a:pPr algn="l"/>
              <a:r>
                <a:rPr lang="zh-CN" sz="1800" b="1" dirty="0">
                  <a:solidFill>
                    <a:srgbClr val="E94B2B"/>
                  </a:solidFill>
                  <a:latin typeface="+mn-lt"/>
                  <a:ea typeface="+mn-ea"/>
                  <a:cs typeface="+mn-cs"/>
                </a:rPr>
                <a:t>1689.8</a:t>
              </a:r>
              <a:r>
                <a:rPr lang="zh-CN" sz="900" b="1" dirty="0">
                  <a:solidFill>
                    <a:srgbClr val="684F4A"/>
                  </a:solidFill>
                  <a:latin typeface="+mn-lt"/>
                  <a:ea typeface="+mn-ea"/>
                  <a:cs typeface="+mn-cs"/>
                </a:rPr>
                <a:t xml:space="preserve"> 万人</a:t>
              </a:r>
            </a:p>
          </p:txBody>
        </p:sp>
        <p:sp>
          <p:nvSpPr>
            <p:cNvPr id="16" name="Ellipse 16"/>
            <p:cNvSpPr/>
            <p:nvPr/>
          </p:nvSpPr>
          <p:spPr>
            <a:xfrm>
              <a:off x="3819525" y="1123950"/>
              <a:ext cx="457200" cy="457200"/>
            </a:xfrm>
            <a:prstGeom prst="ellipse">
              <a:avLst/>
            </a:prstGeom>
            <a:gradFill>
              <a:gsLst>
                <a:gs pos="0">
                  <a:srgbClr val="FF5B3A"/>
                </a:gs>
                <a:gs pos="100000">
                  <a:srgbClr val="C83B1E"/>
                </a:gs>
              </a:gsLst>
              <a:lin ang="0" scaled="1"/>
            </a:gradFill>
            <a:ln>
              <a:noFill/>
            </a:ln>
          </p:spPr>
        </p:sp>
        <p:grpSp>
          <p:nvGrpSpPr>
            <p:cNvPr id="20" name="Group 20"/>
            <p:cNvGrpSpPr/>
            <p:nvPr/>
          </p:nvGrpSpPr>
          <p:grpSpPr>
            <a:xfrm>
              <a:off x="3969544" y="1291431"/>
              <a:ext cx="157163" cy="122238"/>
              <a:chOff x="3969544" y="1291431"/>
              <a:chExt cx="157163" cy="122238"/>
            </a:xfrm>
          </p:grpSpPr>
          <p:sp>
            <p:nvSpPr>
              <p:cNvPr id="17" name="Freeform 17"/>
              <p:cNvSpPr/>
              <p:nvPr/>
            </p:nvSpPr>
            <p:spPr>
              <a:xfrm>
                <a:off x="3969544" y="1291431"/>
                <a:ext cx="122238" cy="87313"/>
              </a:xfrm>
              <a:custGeom>
                <a:avLst/>
                <a:gdLst/>
                <a:ahLst/>
                <a:cxnLst/>
                <a:rect l="l" t="t" r="r" b="b"/>
                <a:pathLst>
                  <a:path w="122238" h="87313">
                    <a:moveTo>
                      <a:pt x="34925" y="87313"/>
                    </a:moveTo>
                    <a:lnTo>
                      <a:pt x="8731" y="87313"/>
                    </a:lnTo>
                    <a:cubicBezTo>
                      <a:pt x="3909" y="87313"/>
                      <a:pt x="0" y="83403"/>
                      <a:pt x="0" y="78581"/>
                    </a:cubicBezTo>
                    <a:lnTo>
                      <a:pt x="0" y="8731"/>
                    </a:lnTo>
                    <a:cubicBezTo>
                      <a:pt x="0" y="3909"/>
                      <a:pt x="3909" y="0"/>
                      <a:pt x="8731" y="0"/>
                    </a:cubicBezTo>
                    <a:lnTo>
                      <a:pt x="113506" y="0"/>
                    </a:lnTo>
                    <a:cubicBezTo>
                      <a:pt x="118328" y="0"/>
                      <a:pt x="122238" y="3909"/>
                      <a:pt x="122238" y="8731"/>
                    </a:cubicBezTo>
                    <a:lnTo>
                      <a:pt x="122238" y="34925"/>
                    </a:lnTo>
                  </a:path>
                </a:pathLst>
              </a:custGeom>
              <a:noFill/>
              <a:ln w="17463">
                <a:solidFill>
                  <a:srgbClr val="FFFFFF"/>
                </a:solidFill>
              </a:ln>
            </p:spPr>
          </p:sp>
          <p:sp>
            <p:nvSpPr>
              <p:cNvPr id="18" name="Freeform 18"/>
              <p:cNvSpPr/>
              <p:nvPr/>
            </p:nvSpPr>
            <p:spPr>
              <a:xfrm>
                <a:off x="4004469" y="1326356"/>
                <a:ext cx="122238" cy="87313"/>
              </a:xfrm>
              <a:custGeom>
                <a:avLst/>
                <a:gdLst/>
                <a:ahLst/>
                <a:cxnLst/>
                <a:rect l="l" t="t" r="r" b="b"/>
                <a:pathLst>
                  <a:path w="122238" h="87313">
                    <a:moveTo>
                      <a:pt x="0" y="8731"/>
                    </a:moveTo>
                    <a:cubicBezTo>
                      <a:pt x="0" y="3909"/>
                      <a:pt x="3909" y="0"/>
                      <a:pt x="8731" y="0"/>
                    </a:cubicBezTo>
                    <a:lnTo>
                      <a:pt x="113506" y="0"/>
                    </a:lnTo>
                    <a:cubicBezTo>
                      <a:pt x="118328" y="0"/>
                      <a:pt x="122238" y="3909"/>
                      <a:pt x="122238" y="8731"/>
                    </a:cubicBezTo>
                    <a:lnTo>
                      <a:pt x="122238" y="78581"/>
                    </a:lnTo>
                    <a:cubicBezTo>
                      <a:pt x="122238" y="83403"/>
                      <a:pt x="118328" y="87313"/>
                      <a:pt x="113506" y="87313"/>
                    </a:cubicBezTo>
                    <a:lnTo>
                      <a:pt x="8731" y="87313"/>
                    </a:lnTo>
                    <a:cubicBezTo>
                      <a:pt x="3909" y="87313"/>
                      <a:pt x="0" y="83403"/>
                      <a:pt x="0" y="78581"/>
                    </a:cubicBezTo>
                    <a:lnTo>
                      <a:pt x="0" y="8731"/>
                    </a:lnTo>
                  </a:path>
                </a:pathLst>
              </a:custGeom>
              <a:noFill/>
              <a:ln w="17463">
                <a:solidFill>
                  <a:srgbClr val="FFFFFF"/>
                </a:solidFill>
              </a:ln>
            </p:spPr>
          </p:sp>
          <p:sp>
            <p:nvSpPr>
              <p:cNvPr id="19" name="Freeform 19"/>
              <p:cNvSpPr/>
              <p:nvPr/>
            </p:nvSpPr>
            <p:spPr>
              <a:xfrm>
                <a:off x="4048125" y="1352550"/>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grpSp>
        <p:sp>
          <p:nvSpPr>
            <p:cNvPr id="21" name="TextBox 21"/>
            <p:cNvSpPr txBox="1"/>
            <p:nvPr/>
          </p:nvSpPr>
          <p:spPr>
            <a:xfrm>
              <a:off x="4423982" y="1186101"/>
              <a:ext cx="690118" cy="198025"/>
            </a:xfrm>
            <a:prstGeom prst="rect">
              <a:avLst/>
            </a:prstGeom>
            <a:noFill/>
            <a:ln>
              <a:noFill/>
            </a:ln>
          </p:spPr>
          <p:txBody>
            <a:bodyPr wrap="none" lIns="0" tIns="0" rIns="0" bIns="0" anchor="t" anchorCtr="0">
              <a:spAutoFit/>
            </a:bodyPr>
            <a:lstStyle/>
            <a:p>
              <a:pPr algn="l"/>
              <a:r>
                <a:rPr lang="zh-CN" sz="1010" dirty="0">
                  <a:solidFill>
                    <a:srgbClr val="262626"/>
                  </a:solidFill>
                  <a:latin typeface="+mn-lt"/>
                  <a:ea typeface="+mn-ea"/>
                  <a:cs typeface="+mn-cs"/>
                </a:rPr>
                <a:t>营销客户数</a:t>
              </a:r>
            </a:p>
          </p:txBody>
        </p:sp>
        <p:sp>
          <p:nvSpPr>
            <p:cNvPr id="22" name="TextBox 22"/>
            <p:cNvSpPr txBox="1"/>
            <p:nvPr/>
          </p:nvSpPr>
          <p:spPr>
            <a:xfrm>
              <a:off x="4419981" y="1386840"/>
              <a:ext cx="1017236" cy="352044"/>
            </a:xfrm>
            <a:prstGeom prst="rect">
              <a:avLst/>
            </a:prstGeom>
            <a:noFill/>
            <a:ln>
              <a:noFill/>
            </a:ln>
          </p:spPr>
          <p:txBody>
            <a:bodyPr wrap="none" lIns="0" tIns="0" rIns="0" bIns="0" anchor="t" anchorCtr="0">
              <a:spAutoFit/>
            </a:bodyPr>
            <a:lstStyle/>
            <a:p>
              <a:pPr algn="l"/>
              <a:r>
                <a:rPr lang="zh-CN" sz="1800" b="1" dirty="0">
                  <a:solidFill>
                    <a:srgbClr val="E94B2B"/>
                  </a:solidFill>
                  <a:latin typeface="+mn-lt"/>
                  <a:ea typeface="+mn-ea"/>
                  <a:cs typeface="+mn-cs"/>
                </a:rPr>
                <a:t>1689.8</a:t>
              </a:r>
              <a:r>
                <a:rPr lang="zh-CN" sz="900" b="1" dirty="0">
                  <a:solidFill>
                    <a:srgbClr val="684F4A"/>
                  </a:solidFill>
                  <a:latin typeface="+mn-lt"/>
                  <a:ea typeface="+mn-ea"/>
                  <a:cs typeface="+mn-cs"/>
                </a:rPr>
                <a:t xml:space="preserve"> 人</a:t>
              </a:r>
            </a:p>
          </p:txBody>
        </p:sp>
        <p:sp>
          <p:nvSpPr>
            <p:cNvPr id="23" name="Ellipse 23"/>
            <p:cNvSpPr/>
            <p:nvPr/>
          </p:nvSpPr>
          <p:spPr>
            <a:xfrm>
              <a:off x="6629400" y="1123950"/>
              <a:ext cx="457200" cy="457200"/>
            </a:xfrm>
            <a:prstGeom prst="ellipse">
              <a:avLst/>
            </a:prstGeom>
            <a:gradFill>
              <a:gsLst>
                <a:gs pos="0">
                  <a:srgbClr val="FF5B3A"/>
                </a:gs>
                <a:gs pos="100000">
                  <a:srgbClr val="C83B1E"/>
                </a:gs>
              </a:gsLst>
              <a:lin ang="0" scaled="1"/>
            </a:gradFill>
            <a:ln>
              <a:noFill/>
            </a:ln>
          </p:spPr>
        </p:sp>
        <p:grpSp>
          <p:nvGrpSpPr>
            <p:cNvPr id="26" name="Group 26"/>
            <p:cNvGrpSpPr/>
            <p:nvPr/>
          </p:nvGrpSpPr>
          <p:grpSpPr>
            <a:xfrm>
              <a:off x="6779419" y="1273969"/>
              <a:ext cx="157163" cy="157163"/>
              <a:chOff x="6779419" y="1273969"/>
              <a:chExt cx="157163" cy="157163"/>
            </a:xfrm>
          </p:grpSpPr>
          <p:sp>
            <p:nvSpPr>
              <p:cNvPr id="24" name="Freeform 24"/>
              <p:cNvSpPr/>
              <p:nvPr/>
            </p:nvSpPr>
            <p:spPr>
              <a:xfrm>
                <a:off x="6779419" y="12739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sp>
            <p:nvSpPr>
              <p:cNvPr id="25" name="Freeform 25"/>
              <p:cNvSpPr/>
              <p:nvPr/>
            </p:nvSpPr>
            <p:spPr>
              <a:xfrm>
                <a:off x="6831806" y="1335088"/>
                <a:ext cx="52388" cy="34925"/>
              </a:xfrm>
              <a:custGeom>
                <a:avLst/>
                <a:gdLst/>
                <a:ahLst/>
                <a:cxnLst/>
                <a:rect l="l" t="t" r="r" b="b"/>
                <a:pathLst>
                  <a:path w="52388" h="34925">
                    <a:moveTo>
                      <a:pt x="0" y="17463"/>
                    </a:moveTo>
                    <a:lnTo>
                      <a:pt x="17463" y="34925"/>
                    </a:lnTo>
                    <a:lnTo>
                      <a:pt x="52388" y="0"/>
                    </a:lnTo>
                  </a:path>
                </a:pathLst>
              </a:custGeom>
              <a:noFill/>
              <a:ln w="17463">
                <a:solidFill>
                  <a:srgbClr val="FFFFFF"/>
                </a:solidFill>
              </a:ln>
            </p:spPr>
          </p:sp>
        </p:grpSp>
        <p:sp>
          <p:nvSpPr>
            <p:cNvPr id="27" name="TextBox 27"/>
            <p:cNvSpPr txBox="1"/>
            <p:nvPr/>
          </p:nvSpPr>
          <p:spPr>
            <a:xfrm>
              <a:off x="7233856" y="1186101"/>
              <a:ext cx="690118" cy="198025"/>
            </a:xfrm>
            <a:prstGeom prst="rect">
              <a:avLst/>
            </a:prstGeom>
            <a:noFill/>
            <a:ln>
              <a:noFill/>
            </a:ln>
          </p:spPr>
          <p:txBody>
            <a:bodyPr wrap="none" lIns="0" tIns="0" rIns="0" bIns="0" anchor="t" anchorCtr="0">
              <a:spAutoFit/>
            </a:bodyPr>
            <a:lstStyle/>
            <a:p>
              <a:pPr algn="l"/>
              <a:r>
                <a:rPr lang="zh-CN" sz="1010" dirty="0">
                  <a:solidFill>
                    <a:srgbClr val="262626"/>
                  </a:solidFill>
                  <a:latin typeface="+mn-lt"/>
                  <a:ea typeface="+mn-ea"/>
                  <a:cs typeface="+mn-cs"/>
                </a:rPr>
                <a:t>成功订购数</a:t>
              </a:r>
            </a:p>
          </p:txBody>
        </p:sp>
        <p:sp>
          <p:nvSpPr>
            <p:cNvPr id="28" name="TextBox 28"/>
            <p:cNvSpPr txBox="1"/>
            <p:nvPr/>
          </p:nvSpPr>
          <p:spPr>
            <a:xfrm>
              <a:off x="7229856" y="1386840"/>
              <a:ext cx="1017236" cy="352044"/>
            </a:xfrm>
            <a:prstGeom prst="rect">
              <a:avLst/>
            </a:prstGeom>
            <a:noFill/>
            <a:ln>
              <a:noFill/>
            </a:ln>
          </p:spPr>
          <p:txBody>
            <a:bodyPr wrap="none" lIns="0" tIns="0" rIns="0" bIns="0" anchor="t" anchorCtr="0">
              <a:spAutoFit/>
            </a:bodyPr>
            <a:lstStyle/>
            <a:p>
              <a:pPr algn="l"/>
              <a:r>
                <a:rPr lang="zh-CN" sz="1800" b="1" dirty="0">
                  <a:solidFill>
                    <a:srgbClr val="E94B2B"/>
                  </a:solidFill>
                  <a:latin typeface="+mn-lt"/>
                  <a:ea typeface="+mn-ea"/>
                  <a:cs typeface="+mn-cs"/>
                </a:rPr>
                <a:t>1689.8</a:t>
              </a:r>
              <a:r>
                <a:rPr lang="zh-CN" sz="900" b="1" dirty="0">
                  <a:solidFill>
                    <a:srgbClr val="684F4A"/>
                  </a:solidFill>
                  <a:latin typeface="+mn-lt"/>
                  <a:ea typeface="+mn-ea"/>
                  <a:cs typeface="+mn-cs"/>
                </a:rPr>
                <a:t xml:space="preserve"> 人</a:t>
              </a:r>
            </a:p>
          </p:txBody>
        </p:sp>
        <p:sp>
          <p:nvSpPr>
            <p:cNvPr id="29" name="Ellipse 29"/>
            <p:cNvSpPr/>
            <p:nvPr/>
          </p:nvSpPr>
          <p:spPr>
            <a:xfrm>
              <a:off x="9439275" y="1123950"/>
              <a:ext cx="457200" cy="457200"/>
            </a:xfrm>
            <a:prstGeom prst="ellipse">
              <a:avLst/>
            </a:prstGeom>
            <a:gradFill>
              <a:gsLst>
                <a:gs pos="0">
                  <a:srgbClr val="FF5B3A"/>
                </a:gs>
                <a:gs pos="100000">
                  <a:srgbClr val="C83B1E"/>
                </a:gs>
              </a:gsLst>
              <a:lin ang="0" scaled="1"/>
            </a:gradFill>
            <a:ln>
              <a:noFill/>
            </a:ln>
          </p:spPr>
        </p:sp>
        <p:grpSp>
          <p:nvGrpSpPr>
            <p:cNvPr id="32" name="Group 32"/>
            <p:cNvGrpSpPr/>
            <p:nvPr/>
          </p:nvGrpSpPr>
          <p:grpSpPr>
            <a:xfrm>
              <a:off x="9598025" y="1282700"/>
              <a:ext cx="139701" cy="139700"/>
              <a:chOff x="9598025" y="1282700"/>
              <a:chExt cx="139701" cy="139700"/>
            </a:xfrm>
          </p:grpSpPr>
          <p:sp>
            <p:nvSpPr>
              <p:cNvPr id="30" name="Freeform 30"/>
              <p:cNvSpPr/>
              <p:nvPr/>
            </p:nvSpPr>
            <p:spPr>
              <a:xfrm>
                <a:off x="9598025" y="1282700"/>
                <a:ext cx="130969" cy="139700"/>
              </a:xfrm>
              <a:custGeom>
                <a:avLst/>
                <a:gdLst/>
                <a:ahLst/>
                <a:cxnLst/>
                <a:rect l="l" t="t" r="r" b="b"/>
                <a:pathLst>
                  <a:path w="130969" h="139700">
                    <a:moveTo>
                      <a:pt x="113506" y="34925"/>
                    </a:moveTo>
                    <a:lnTo>
                      <a:pt x="113506" y="8731"/>
                    </a:lnTo>
                    <a:cubicBezTo>
                      <a:pt x="113506" y="3909"/>
                      <a:pt x="109597" y="0"/>
                      <a:pt x="104775" y="0"/>
                    </a:cubicBezTo>
                    <a:lnTo>
                      <a:pt x="17463" y="0"/>
                    </a:lnTo>
                    <a:cubicBezTo>
                      <a:pt x="7818" y="0"/>
                      <a:pt x="0" y="7818"/>
                      <a:pt x="0" y="17463"/>
                    </a:cubicBezTo>
                    <a:cubicBezTo>
                      <a:pt x="0" y="27107"/>
                      <a:pt x="7818" y="34925"/>
                      <a:pt x="17463" y="34925"/>
                    </a:cubicBezTo>
                    <a:lnTo>
                      <a:pt x="122238" y="34925"/>
                    </a:lnTo>
                    <a:cubicBezTo>
                      <a:pt x="127060" y="34925"/>
                      <a:pt x="130969" y="38834"/>
                      <a:pt x="130969" y="43656"/>
                    </a:cubicBezTo>
                    <a:lnTo>
                      <a:pt x="130969" y="69850"/>
                    </a:lnTo>
                    <a:moveTo>
                      <a:pt x="130969" y="104775"/>
                    </a:moveTo>
                    <a:lnTo>
                      <a:pt x="130969" y="130969"/>
                    </a:lnTo>
                    <a:cubicBezTo>
                      <a:pt x="130969" y="135791"/>
                      <a:pt x="127060" y="139700"/>
                      <a:pt x="122238" y="139700"/>
                    </a:cubicBezTo>
                    <a:lnTo>
                      <a:pt x="17463" y="139700"/>
                    </a:lnTo>
                    <a:cubicBezTo>
                      <a:pt x="7818" y="139700"/>
                      <a:pt x="0" y="131882"/>
                      <a:pt x="0" y="122238"/>
                    </a:cubicBezTo>
                    <a:lnTo>
                      <a:pt x="0" y="17463"/>
                    </a:lnTo>
                  </a:path>
                </a:pathLst>
              </a:custGeom>
              <a:noFill/>
              <a:ln w="17463">
                <a:solidFill>
                  <a:srgbClr val="FFFFFF"/>
                </a:solidFill>
              </a:ln>
            </p:spPr>
          </p:sp>
          <p:sp>
            <p:nvSpPr>
              <p:cNvPr id="31" name="Freeform 31"/>
              <p:cNvSpPr/>
              <p:nvPr/>
            </p:nvSpPr>
            <p:spPr>
              <a:xfrm>
                <a:off x="9685338" y="1352550"/>
                <a:ext cx="52388" cy="34925"/>
              </a:xfrm>
              <a:custGeom>
                <a:avLst/>
                <a:gdLst/>
                <a:ahLst/>
                <a:cxnLst/>
                <a:rect l="l" t="t" r="r" b="b"/>
                <a:pathLst>
                  <a:path w="52388" h="34925">
                    <a:moveTo>
                      <a:pt x="52388" y="0"/>
                    </a:moveTo>
                    <a:lnTo>
                      <a:pt x="52388" y="34925"/>
                    </a:lnTo>
                    <a:lnTo>
                      <a:pt x="17463" y="34925"/>
                    </a:lnTo>
                    <a:cubicBezTo>
                      <a:pt x="7818" y="34925"/>
                      <a:pt x="0" y="27107"/>
                      <a:pt x="0" y="17463"/>
                    </a:cubicBezTo>
                    <a:cubicBezTo>
                      <a:pt x="0" y="7818"/>
                      <a:pt x="7818" y="0"/>
                      <a:pt x="17463" y="0"/>
                    </a:cubicBezTo>
                    <a:lnTo>
                      <a:pt x="52388" y="0"/>
                    </a:lnTo>
                  </a:path>
                </a:pathLst>
              </a:custGeom>
              <a:noFill/>
              <a:ln w="17463">
                <a:solidFill>
                  <a:srgbClr val="FFFFFF"/>
                </a:solidFill>
              </a:ln>
            </p:spPr>
          </p:sp>
        </p:grpSp>
        <p:sp>
          <p:nvSpPr>
            <p:cNvPr id="33" name="TextBox 33"/>
            <p:cNvSpPr txBox="1"/>
            <p:nvPr/>
          </p:nvSpPr>
          <p:spPr>
            <a:xfrm>
              <a:off x="10043732" y="1186101"/>
              <a:ext cx="554152" cy="198025"/>
            </a:xfrm>
            <a:prstGeom prst="rect">
              <a:avLst/>
            </a:prstGeom>
            <a:noFill/>
            <a:ln>
              <a:noFill/>
            </a:ln>
          </p:spPr>
          <p:txBody>
            <a:bodyPr wrap="none" lIns="0" tIns="0" rIns="0" bIns="0" anchor="t" anchorCtr="0">
              <a:spAutoFit/>
            </a:bodyPr>
            <a:lstStyle/>
            <a:p>
              <a:pPr algn="l"/>
              <a:r>
                <a:rPr lang="zh-CN" sz="1010" dirty="0">
                  <a:solidFill>
                    <a:srgbClr val="262626"/>
                  </a:solidFill>
                  <a:latin typeface="+mn-lt"/>
                  <a:ea typeface="+mn-ea"/>
                  <a:cs typeface="+mn-cs"/>
                </a:rPr>
                <a:t>订购金额</a:t>
              </a:r>
            </a:p>
          </p:txBody>
        </p:sp>
        <p:sp>
          <p:nvSpPr>
            <p:cNvPr id="34" name="TextBox 34"/>
            <p:cNvSpPr txBox="1"/>
            <p:nvPr/>
          </p:nvSpPr>
          <p:spPr>
            <a:xfrm>
              <a:off x="10039731" y="1386840"/>
              <a:ext cx="1017236" cy="352044"/>
            </a:xfrm>
            <a:prstGeom prst="rect">
              <a:avLst/>
            </a:prstGeom>
            <a:noFill/>
            <a:ln>
              <a:noFill/>
            </a:ln>
          </p:spPr>
          <p:txBody>
            <a:bodyPr wrap="none" lIns="0" tIns="0" rIns="0" bIns="0" anchor="t" anchorCtr="0">
              <a:spAutoFit/>
            </a:bodyPr>
            <a:lstStyle/>
            <a:p>
              <a:pPr algn="l"/>
              <a:r>
                <a:rPr lang="zh-CN" sz="1800" b="1" dirty="0">
                  <a:solidFill>
                    <a:srgbClr val="E94B2B"/>
                  </a:solidFill>
                  <a:latin typeface="+mn-lt"/>
                  <a:ea typeface="+mn-ea"/>
                  <a:cs typeface="+mn-cs"/>
                </a:rPr>
                <a:t>7689.8</a:t>
              </a:r>
              <a:r>
                <a:rPr lang="zh-CN" sz="900" b="1" dirty="0">
                  <a:solidFill>
                    <a:srgbClr val="684F4A"/>
                  </a:solidFill>
                  <a:latin typeface="+mn-lt"/>
                  <a:ea typeface="+mn-ea"/>
                  <a:cs typeface="+mn-cs"/>
                </a:rPr>
                <a:t xml:space="preserve"> 元</a:t>
              </a:r>
            </a:p>
          </p:txBody>
        </p:sp>
        <p:sp>
          <p:nvSpPr>
            <p:cNvPr id="35" name="Line 35"/>
            <p:cNvSpPr/>
            <p:nvPr/>
          </p:nvSpPr>
          <p:spPr>
            <a:xfrm>
              <a:off x="2857500" y="1047750"/>
              <a:ext cx="9525" cy="619125"/>
            </a:xfrm>
            <a:custGeom>
              <a:avLst/>
              <a:gdLst/>
              <a:ahLst/>
              <a:cxnLst/>
              <a:rect l="l" t="t" r="r" b="b"/>
              <a:pathLst>
                <a:path w="9525" h="619125">
                  <a:moveTo>
                    <a:pt x="0" y="0"/>
                  </a:moveTo>
                  <a:lnTo>
                    <a:pt x="0" y="619125"/>
                  </a:lnTo>
                </a:path>
              </a:pathLst>
            </a:custGeom>
            <a:noFill/>
            <a:ln w="14288">
              <a:solidFill>
                <a:srgbClr val="E4EEFB"/>
              </a:solidFill>
            </a:ln>
          </p:spPr>
        </p:sp>
        <p:sp>
          <p:nvSpPr>
            <p:cNvPr id="36" name="Line 36"/>
            <p:cNvSpPr/>
            <p:nvPr/>
          </p:nvSpPr>
          <p:spPr>
            <a:xfrm>
              <a:off x="5667375" y="1047750"/>
              <a:ext cx="9525" cy="619125"/>
            </a:xfrm>
            <a:custGeom>
              <a:avLst/>
              <a:gdLst/>
              <a:ahLst/>
              <a:cxnLst/>
              <a:rect l="l" t="t" r="r" b="b"/>
              <a:pathLst>
                <a:path w="9525" h="619125">
                  <a:moveTo>
                    <a:pt x="0" y="0"/>
                  </a:moveTo>
                  <a:lnTo>
                    <a:pt x="0" y="619125"/>
                  </a:lnTo>
                </a:path>
              </a:pathLst>
            </a:custGeom>
            <a:noFill/>
            <a:ln w="14288">
              <a:solidFill>
                <a:srgbClr val="E4EEFB"/>
              </a:solidFill>
            </a:ln>
          </p:spPr>
        </p:sp>
        <p:sp>
          <p:nvSpPr>
            <p:cNvPr id="37" name="Line 37"/>
            <p:cNvSpPr/>
            <p:nvPr/>
          </p:nvSpPr>
          <p:spPr>
            <a:xfrm>
              <a:off x="8477250" y="1047750"/>
              <a:ext cx="9525" cy="619125"/>
            </a:xfrm>
            <a:custGeom>
              <a:avLst/>
              <a:gdLst/>
              <a:ahLst/>
              <a:cxnLst/>
              <a:rect l="l" t="t" r="r" b="b"/>
              <a:pathLst>
                <a:path w="9525" h="619125">
                  <a:moveTo>
                    <a:pt x="0" y="0"/>
                  </a:moveTo>
                  <a:lnTo>
                    <a:pt x="0" y="619125"/>
                  </a:lnTo>
                </a:path>
              </a:pathLst>
            </a:custGeom>
            <a:noFill/>
            <a:ln w="14288">
              <a:solidFill>
                <a:srgbClr val="E4EEFB"/>
              </a:solidFill>
            </a:ln>
          </p:spPr>
        </p:sp>
      </p:grpSp>
      <p:grpSp>
        <p:nvGrpSpPr>
          <p:cNvPr id="79" name="m-flow-tree"/>
          <p:cNvGrpSpPr/>
          <p:nvPr/>
        </p:nvGrpSpPr>
        <p:grpSpPr>
          <a:xfrm>
            <a:off x="571500" y="2095500"/>
            <a:ext cx="4495800" cy="3962400"/>
            <a:chOff x="571500" y="2095500"/>
            <a:chExt cx="4495800" cy="3962400"/>
          </a:xfrm>
        </p:grpSpPr>
        <p:sp>
          <p:nvSpPr>
            <p:cNvPr id="39" name="Rectangle 39"/>
            <p:cNvSpPr/>
            <p:nvPr/>
          </p:nvSpPr>
          <p:spPr>
            <a:xfrm>
              <a:off x="571500" y="2095500"/>
              <a:ext cx="4495800" cy="3962400"/>
            </a:xfrm>
            <a:prstGeom prst="rect">
              <a:avLst/>
            </a:prstGeom>
            <a:solidFill>
              <a:srgbClr val="FFFFFF"/>
            </a:solidFill>
            <a:ln w="11430">
              <a:solidFill>
                <a:srgbClr val="C9DDF5"/>
              </a:solidFill>
            </a:ln>
          </p:spPr>
        </p:sp>
        <p:sp>
          <p:nvSpPr>
            <p:cNvPr id="40" name="Rectangle 40"/>
            <p:cNvSpPr/>
            <p:nvPr/>
          </p:nvSpPr>
          <p:spPr>
            <a:xfrm>
              <a:off x="666750" y="2190750"/>
              <a:ext cx="2857500" cy="247650"/>
            </a:xfrm>
            <a:prstGeom prst="rect">
              <a:avLst/>
            </a:prstGeom>
            <a:gradFill>
              <a:gsLst>
                <a:gs pos="0">
                  <a:srgbClr val="FF5B3A"/>
                </a:gs>
                <a:gs pos="100000">
                  <a:srgbClr val="E94B2B"/>
                </a:gs>
              </a:gsLst>
              <a:lin ang="0" scaled="1"/>
            </a:gradFill>
            <a:ln>
              <a:noFill/>
            </a:ln>
          </p:spPr>
        </p:sp>
        <p:sp>
          <p:nvSpPr>
            <p:cNvPr id="41" name="Polygon 41"/>
            <p:cNvSpPr/>
            <p:nvPr/>
          </p:nvSpPr>
          <p:spPr>
            <a:xfrm>
              <a:off x="3429000" y="21907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grpSp>
          <p:nvGrpSpPr>
            <p:cNvPr id="47" name="Group 47"/>
            <p:cNvGrpSpPr/>
            <p:nvPr/>
          </p:nvGrpSpPr>
          <p:grpSpPr>
            <a:xfrm>
              <a:off x="781050" y="2247049"/>
              <a:ext cx="114300" cy="115151"/>
              <a:chOff x="781050" y="2247049"/>
              <a:chExt cx="114300" cy="115151"/>
            </a:xfrm>
          </p:grpSpPr>
          <p:sp>
            <p:nvSpPr>
              <p:cNvPr id="42" name="Freeform 42"/>
              <p:cNvSpPr/>
              <p:nvPr/>
            </p:nvSpPr>
            <p:spPr>
              <a:xfrm>
                <a:off x="819150" y="22987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FFFFFF"/>
                </a:solidFill>
              </a:ln>
            </p:spPr>
          </p:sp>
          <p:sp>
            <p:nvSpPr>
              <p:cNvPr id="43" name="Freeform 43"/>
              <p:cNvSpPr/>
              <p:nvPr/>
            </p:nvSpPr>
            <p:spPr>
              <a:xfrm>
                <a:off x="819150" y="23177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FFFFFF"/>
                </a:solidFill>
              </a:ln>
            </p:spPr>
          </p:sp>
          <p:sp>
            <p:nvSpPr>
              <p:cNvPr id="44" name="Freeform 44"/>
              <p:cNvSpPr/>
              <p:nvPr/>
            </p:nvSpPr>
            <p:spPr>
              <a:xfrm>
                <a:off x="781050" y="22470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FFFFFF"/>
                </a:solidFill>
              </a:ln>
            </p:spPr>
          </p:sp>
          <p:sp>
            <p:nvSpPr>
              <p:cNvPr id="45" name="Freeform 45"/>
              <p:cNvSpPr/>
              <p:nvPr/>
            </p:nvSpPr>
            <p:spPr>
              <a:xfrm>
                <a:off x="781050" y="22669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FFFFFF"/>
                </a:solidFill>
              </a:ln>
            </p:spPr>
          </p:sp>
          <p:sp>
            <p:nvSpPr>
              <p:cNvPr id="46" name="Freeform 46"/>
              <p:cNvSpPr/>
              <p:nvPr/>
            </p:nvSpPr>
            <p:spPr>
              <a:xfrm>
                <a:off x="781050" y="22987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FFFFFF"/>
                </a:solidFill>
              </a:ln>
            </p:spPr>
          </p:sp>
        </p:grpSp>
        <p:sp>
          <p:nvSpPr>
            <p:cNvPr id="48" name="TextBox 48"/>
            <p:cNvSpPr txBox="1"/>
            <p:nvPr/>
          </p:nvSpPr>
          <p:spPr>
            <a:xfrm>
              <a:off x="966597" y="2256949"/>
              <a:ext cx="132918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核心产品客户消费流向</a:t>
              </a:r>
            </a:p>
          </p:txBody>
        </p:sp>
        <p:sp>
          <p:nvSpPr>
            <p:cNvPr id="49" name="Rectangle 49"/>
            <p:cNvSpPr/>
            <p:nvPr/>
          </p:nvSpPr>
          <p:spPr>
            <a:xfrm>
              <a:off x="1866900" y="2667000"/>
              <a:ext cx="1714500" cy="323850"/>
            </a:xfrm>
            <a:prstGeom prst="roundRect">
              <a:avLst>
                <a:gd name="adj" fmla="val 50000"/>
              </a:avLst>
            </a:prstGeom>
            <a:gradFill>
              <a:gsLst>
                <a:gs pos="0">
                  <a:srgbClr val="FF5B3A"/>
                </a:gs>
                <a:gs pos="100000">
                  <a:srgbClr val="C83B1E"/>
                </a:gs>
              </a:gsLst>
              <a:lin ang="0" scaled="1"/>
            </a:gradFill>
            <a:ln>
              <a:noFill/>
            </a:ln>
          </p:spPr>
        </p:sp>
        <p:sp>
          <p:nvSpPr>
            <p:cNvPr id="50" name="TextBox 50"/>
            <p:cNvSpPr txBox="1"/>
            <p:nvPr/>
          </p:nvSpPr>
          <p:spPr>
            <a:xfrm>
              <a:off x="2264871" y="2771299"/>
              <a:ext cx="91855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1259万总消费​</a:t>
              </a:r>
            </a:p>
          </p:txBody>
        </p:sp>
        <p:sp>
          <p:nvSpPr>
            <p:cNvPr id="51" name="Line 51"/>
            <p:cNvSpPr/>
            <p:nvPr/>
          </p:nvSpPr>
          <p:spPr>
            <a:xfrm>
              <a:off x="2724150" y="2990850"/>
              <a:ext cx="9525" cy="114300"/>
            </a:xfrm>
            <a:custGeom>
              <a:avLst/>
              <a:gdLst/>
              <a:ahLst/>
              <a:cxnLst/>
              <a:rect l="l" t="t" r="r" b="b"/>
              <a:pathLst>
                <a:path w="9525" h="114300">
                  <a:moveTo>
                    <a:pt x="0" y="0"/>
                  </a:moveTo>
                  <a:lnTo>
                    <a:pt x="0" y="114300"/>
                  </a:lnTo>
                </a:path>
              </a:pathLst>
            </a:custGeom>
            <a:noFill/>
            <a:ln w="11430">
              <a:solidFill>
                <a:srgbClr val="EFAC9F"/>
              </a:solidFill>
            </a:ln>
          </p:spPr>
        </p:sp>
        <p:sp>
          <p:nvSpPr>
            <p:cNvPr id="52" name="Line 52"/>
            <p:cNvSpPr/>
            <p:nvPr/>
          </p:nvSpPr>
          <p:spPr>
            <a:xfrm>
              <a:off x="1428750" y="3105150"/>
              <a:ext cx="2590800" cy="9525"/>
            </a:xfrm>
            <a:custGeom>
              <a:avLst/>
              <a:gdLst/>
              <a:ahLst/>
              <a:cxnLst/>
              <a:rect l="l" t="t" r="r" b="b"/>
              <a:pathLst>
                <a:path w="2590800" h="9525">
                  <a:moveTo>
                    <a:pt x="0" y="0"/>
                  </a:moveTo>
                  <a:lnTo>
                    <a:pt x="2590800" y="0"/>
                  </a:lnTo>
                </a:path>
              </a:pathLst>
            </a:custGeom>
            <a:noFill/>
            <a:ln w="11430">
              <a:solidFill>
                <a:srgbClr val="EFAC9F"/>
              </a:solidFill>
            </a:ln>
          </p:spPr>
        </p:sp>
        <p:sp>
          <p:nvSpPr>
            <p:cNvPr id="53" name="Line 53"/>
            <p:cNvSpPr/>
            <p:nvPr/>
          </p:nvSpPr>
          <p:spPr>
            <a:xfrm>
              <a:off x="1428750" y="3105150"/>
              <a:ext cx="9525" cy="133350"/>
            </a:xfrm>
            <a:custGeom>
              <a:avLst/>
              <a:gdLst/>
              <a:ahLst/>
              <a:cxnLst/>
              <a:rect l="l" t="t" r="r" b="b"/>
              <a:pathLst>
                <a:path w="9525" h="133350">
                  <a:moveTo>
                    <a:pt x="0" y="0"/>
                  </a:moveTo>
                  <a:lnTo>
                    <a:pt x="0" y="133350"/>
                  </a:lnTo>
                </a:path>
              </a:pathLst>
            </a:custGeom>
            <a:noFill/>
            <a:ln w="11430">
              <a:solidFill>
                <a:srgbClr val="EFAC9F"/>
              </a:solidFill>
            </a:ln>
          </p:spPr>
        </p:sp>
        <p:sp>
          <p:nvSpPr>
            <p:cNvPr id="54" name="Line 54"/>
            <p:cNvSpPr/>
            <p:nvPr/>
          </p:nvSpPr>
          <p:spPr>
            <a:xfrm>
              <a:off x="4019550" y="3105150"/>
              <a:ext cx="9525" cy="133350"/>
            </a:xfrm>
            <a:custGeom>
              <a:avLst/>
              <a:gdLst/>
              <a:ahLst/>
              <a:cxnLst/>
              <a:rect l="l" t="t" r="r" b="b"/>
              <a:pathLst>
                <a:path w="9525" h="133350">
                  <a:moveTo>
                    <a:pt x="0" y="0"/>
                  </a:moveTo>
                  <a:lnTo>
                    <a:pt x="0" y="133350"/>
                  </a:lnTo>
                </a:path>
              </a:pathLst>
            </a:custGeom>
            <a:noFill/>
            <a:ln w="11430">
              <a:solidFill>
                <a:srgbClr val="EFAC9F"/>
              </a:solidFill>
            </a:ln>
          </p:spPr>
        </p:sp>
        <p:sp>
          <p:nvSpPr>
            <p:cNvPr id="55" name="Rectangle 55"/>
            <p:cNvSpPr/>
            <p:nvPr/>
          </p:nvSpPr>
          <p:spPr>
            <a:xfrm>
              <a:off x="714375" y="3238500"/>
              <a:ext cx="1428750" cy="304800"/>
            </a:xfrm>
            <a:prstGeom prst="roundRect">
              <a:avLst>
                <a:gd name="adj" fmla="val 50000"/>
              </a:avLst>
            </a:prstGeom>
            <a:gradFill>
              <a:gsLst>
                <a:gs pos="0">
                  <a:srgbClr val="FF5B3A"/>
                </a:gs>
                <a:gs pos="100000">
                  <a:srgbClr val="C83B1E"/>
                </a:gs>
              </a:gsLst>
              <a:lin ang="0" scaled="1"/>
            </a:gradFill>
            <a:ln>
              <a:noFill/>
            </a:ln>
          </p:spPr>
        </p:sp>
        <p:sp>
          <p:nvSpPr>
            <p:cNvPr id="56" name="TextBox 56"/>
            <p:cNvSpPr txBox="1"/>
            <p:nvPr/>
          </p:nvSpPr>
          <p:spPr>
            <a:xfrm>
              <a:off x="961474" y="3337322"/>
              <a:ext cx="93455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368万保健产品​</a:t>
              </a:r>
            </a:p>
          </p:txBody>
        </p:sp>
        <p:sp>
          <p:nvSpPr>
            <p:cNvPr id="57" name="Rectangle 57"/>
            <p:cNvSpPr/>
            <p:nvPr/>
          </p:nvSpPr>
          <p:spPr>
            <a:xfrm>
              <a:off x="3305175" y="3238500"/>
              <a:ext cx="1428750" cy="304800"/>
            </a:xfrm>
            <a:prstGeom prst="roundRect">
              <a:avLst>
                <a:gd name="adj" fmla="val 50000"/>
              </a:avLst>
            </a:prstGeom>
            <a:gradFill>
              <a:gsLst>
                <a:gs pos="0">
                  <a:srgbClr val="FF5B3A"/>
                </a:gs>
                <a:gs pos="100000">
                  <a:srgbClr val="C83B1E"/>
                </a:gs>
              </a:gsLst>
              <a:lin ang="0" scaled="1"/>
            </a:gradFill>
            <a:ln>
              <a:noFill/>
            </a:ln>
          </p:spPr>
        </p:sp>
        <p:sp>
          <p:nvSpPr>
            <p:cNvPr id="58" name="TextBox 58"/>
            <p:cNvSpPr txBox="1"/>
            <p:nvPr/>
          </p:nvSpPr>
          <p:spPr>
            <a:xfrm>
              <a:off x="3552274" y="3337322"/>
              <a:ext cx="934553"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350万美妆产品​</a:t>
              </a:r>
            </a:p>
          </p:txBody>
        </p:sp>
        <p:sp>
          <p:nvSpPr>
            <p:cNvPr id="59" name="Line 59"/>
            <p:cNvSpPr/>
            <p:nvPr/>
          </p:nvSpPr>
          <p:spPr>
            <a:xfrm>
              <a:off x="1428750" y="3543300"/>
              <a:ext cx="9525" cy="133350"/>
            </a:xfrm>
            <a:custGeom>
              <a:avLst/>
              <a:gdLst/>
              <a:ahLst/>
              <a:cxnLst/>
              <a:rect l="l" t="t" r="r" b="b"/>
              <a:pathLst>
                <a:path w="9525" h="133350">
                  <a:moveTo>
                    <a:pt x="0" y="0"/>
                  </a:moveTo>
                  <a:lnTo>
                    <a:pt x="0" y="133350"/>
                  </a:lnTo>
                </a:path>
              </a:pathLst>
            </a:custGeom>
            <a:noFill/>
            <a:ln w="11430">
              <a:solidFill>
                <a:srgbClr val="EFAC9F"/>
              </a:solidFill>
            </a:ln>
          </p:spPr>
        </p:sp>
        <p:sp>
          <p:nvSpPr>
            <p:cNvPr id="60" name="Line 60"/>
            <p:cNvSpPr/>
            <p:nvPr/>
          </p:nvSpPr>
          <p:spPr>
            <a:xfrm>
              <a:off x="1200150" y="3676650"/>
              <a:ext cx="1028700" cy="9525"/>
            </a:xfrm>
            <a:custGeom>
              <a:avLst/>
              <a:gdLst/>
              <a:ahLst/>
              <a:cxnLst/>
              <a:rect l="l" t="t" r="r" b="b"/>
              <a:pathLst>
                <a:path w="1028700" h="9525">
                  <a:moveTo>
                    <a:pt x="0" y="0"/>
                  </a:moveTo>
                  <a:lnTo>
                    <a:pt x="1028700" y="0"/>
                  </a:lnTo>
                </a:path>
              </a:pathLst>
            </a:custGeom>
            <a:noFill/>
            <a:ln w="11430">
              <a:solidFill>
                <a:srgbClr val="EFAC9F"/>
              </a:solidFill>
            </a:ln>
          </p:spPr>
        </p:sp>
        <p:sp>
          <p:nvSpPr>
            <p:cNvPr id="61" name="Line 61"/>
            <p:cNvSpPr/>
            <p:nvPr/>
          </p:nvSpPr>
          <p:spPr>
            <a:xfrm>
              <a:off x="4019550" y="3543300"/>
              <a:ext cx="9525" cy="133350"/>
            </a:xfrm>
            <a:custGeom>
              <a:avLst/>
              <a:gdLst/>
              <a:ahLst/>
              <a:cxnLst/>
              <a:rect l="l" t="t" r="r" b="b"/>
              <a:pathLst>
                <a:path w="9525" h="133350">
                  <a:moveTo>
                    <a:pt x="0" y="0"/>
                  </a:moveTo>
                  <a:lnTo>
                    <a:pt x="0" y="133350"/>
                  </a:lnTo>
                </a:path>
              </a:pathLst>
            </a:custGeom>
            <a:noFill/>
            <a:ln w="11430">
              <a:solidFill>
                <a:srgbClr val="EFAC9F"/>
              </a:solidFill>
            </a:ln>
          </p:spPr>
        </p:sp>
        <p:sp>
          <p:nvSpPr>
            <p:cNvPr id="62" name="Line 62"/>
            <p:cNvSpPr/>
            <p:nvPr/>
          </p:nvSpPr>
          <p:spPr>
            <a:xfrm>
              <a:off x="3486150" y="3676650"/>
              <a:ext cx="1028700" cy="9525"/>
            </a:xfrm>
            <a:custGeom>
              <a:avLst/>
              <a:gdLst/>
              <a:ahLst/>
              <a:cxnLst/>
              <a:rect l="l" t="t" r="r" b="b"/>
              <a:pathLst>
                <a:path w="1028700" h="9525">
                  <a:moveTo>
                    <a:pt x="0" y="0"/>
                  </a:moveTo>
                  <a:lnTo>
                    <a:pt x="1028700" y="0"/>
                  </a:lnTo>
                </a:path>
              </a:pathLst>
            </a:custGeom>
            <a:noFill/>
            <a:ln w="11430">
              <a:solidFill>
                <a:srgbClr val="EFAC9F"/>
              </a:solidFill>
            </a:ln>
          </p:spPr>
        </p:sp>
        <p:sp>
          <p:nvSpPr>
            <p:cNvPr id="63" name="Line 63"/>
            <p:cNvSpPr/>
            <p:nvPr/>
          </p:nvSpPr>
          <p:spPr>
            <a:xfrm>
              <a:off x="1200150" y="3676650"/>
              <a:ext cx="9525" cy="133350"/>
            </a:xfrm>
            <a:custGeom>
              <a:avLst/>
              <a:gdLst/>
              <a:ahLst/>
              <a:cxnLst/>
              <a:rect l="l" t="t" r="r" b="b"/>
              <a:pathLst>
                <a:path w="9525" h="133350">
                  <a:moveTo>
                    <a:pt x="0" y="0"/>
                  </a:moveTo>
                  <a:lnTo>
                    <a:pt x="0" y="133350"/>
                  </a:lnTo>
                </a:path>
              </a:pathLst>
            </a:custGeom>
            <a:noFill/>
            <a:ln w="11430">
              <a:solidFill>
                <a:srgbClr val="EFAC9F"/>
              </a:solidFill>
            </a:ln>
          </p:spPr>
        </p:sp>
        <p:sp>
          <p:nvSpPr>
            <p:cNvPr id="64" name="Line 64"/>
            <p:cNvSpPr/>
            <p:nvPr/>
          </p:nvSpPr>
          <p:spPr>
            <a:xfrm>
              <a:off x="2228850" y="3676650"/>
              <a:ext cx="9525" cy="133350"/>
            </a:xfrm>
            <a:custGeom>
              <a:avLst/>
              <a:gdLst/>
              <a:ahLst/>
              <a:cxnLst/>
              <a:rect l="l" t="t" r="r" b="b"/>
              <a:pathLst>
                <a:path w="9525" h="133350">
                  <a:moveTo>
                    <a:pt x="0" y="0"/>
                  </a:moveTo>
                  <a:lnTo>
                    <a:pt x="0" y="133350"/>
                  </a:lnTo>
                </a:path>
              </a:pathLst>
            </a:custGeom>
            <a:noFill/>
            <a:ln w="11430">
              <a:solidFill>
                <a:srgbClr val="EFAC9F"/>
              </a:solidFill>
            </a:ln>
          </p:spPr>
        </p:sp>
        <p:sp>
          <p:nvSpPr>
            <p:cNvPr id="65" name="Line 65"/>
            <p:cNvSpPr/>
            <p:nvPr/>
          </p:nvSpPr>
          <p:spPr>
            <a:xfrm>
              <a:off x="3486150" y="3676650"/>
              <a:ext cx="9525" cy="133350"/>
            </a:xfrm>
            <a:custGeom>
              <a:avLst/>
              <a:gdLst/>
              <a:ahLst/>
              <a:cxnLst/>
              <a:rect l="l" t="t" r="r" b="b"/>
              <a:pathLst>
                <a:path w="9525" h="133350">
                  <a:moveTo>
                    <a:pt x="0" y="0"/>
                  </a:moveTo>
                  <a:lnTo>
                    <a:pt x="0" y="133350"/>
                  </a:lnTo>
                </a:path>
              </a:pathLst>
            </a:custGeom>
            <a:noFill/>
            <a:ln w="11430">
              <a:solidFill>
                <a:srgbClr val="EFAC9F"/>
              </a:solidFill>
            </a:ln>
          </p:spPr>
        </p:sp>
        <p:sp>
          <p:nvSpPr>
            <p:cNvPr id="66" name="Line 66"/>
            <p:cNvSpPr/>
            <p:nvPr/>
          </p:nvSpPr>
          <p:spPr>
            <a:xfrm>
              <a:off x="4514850" y="3676650"/>
              <a:ext cx="9525" cy="133350"/>
            </a:xfrm>
            <a:custGeom>
              <a:avLst/>
              <a:gdLst/>
              <a:ahLst/>
              <a:cxnLst/>
              <a:rect l="l" t="t" r="r" b="b"/>
              <a:pathLst>
                <a:path w="9525" h="133350">
                  <a:moveTo>
                    <a:pt x="0" y="0"/>
                  </a:moveTo>
                  <a:lnTo>
                    <a:pt x="0" y="133350"/>
                  </a:lnTo>
                </a:path>
              </a:pathLst>
            </a:custGeom>
            <a:noFill/>
            <a:ln w="11430">
              <a:solidFill>
                <a:srgbClr val="EFAC9F"/>
              </a:solidFill>
            </a:ln>
          </p:spPr>
        </p:sp>
        <p:sp>
          <p:nvSpPr>
            <p:cNvPr id="67" name="Rectangle 67"/>
            <p:cNvSpPr/>
            <p:nvPr/>
          </p:nvSpPr>
          <p:spPr>
            <a:xfrm>
              <a:off x="742950" y="3810000"/>
              <a:ext cx="914400" cy="533400"/>
            </a:xfrm>
            <a:prstGeom prst="roundRect">
              <a:avLst>
                <a:gd name="adj" fmla="val 10714"/>
              </a:avLst>
            </a:prstGeom>
            <a:solidFill>
              <a:srgbClr val="FFFFFF"/>
            </a:solidFill>
            <a:ln w="11430">
              <a:solidFill>
                <a:srgbClr val="E94B2B"/>
              </a:solidFill>
            </a:ln>
          </p:spPr>
        </p:sp>
        <p:sp>
          <p:nvSpPr>
            <p:cNvPr id="68" name="TextBox 68"/>
            <p:cNvSpPr txBox="1"/>
            <p:nvPr/>
          </p:nvSpPr>
          <p:spPr>
            <a:xfrm>
              <a:off x="982688" y="3953589"/>
              <a:ext cx="434924" cy="154781"/>
            </a:xfrm>
            <a:prstGeom prst="rect">
              <a:avLst/>
            </a:prstGeom>
            <a:noFill/>
            <a:ln>
              <a:noFill/>
            </a:ln>
          </p:spPr>
          <p:txBody>
            <a:bodyPr wrap="none" lIns="0" tIns="0" rIns="0" bIns="0" anchor="t" anchorCtr="0">
              <a:spAutoFit/>
            </a:bodyPr>
            <a:lstStyle/>
            <a:p>
              <a:pPr algn="ctr"/>
              <a:r>
                <a:rPr lang="zh-CN" sz="790" dirty="0">
                  <a:solidFill>
                    <a:srgbClr val="262626"/>
                  </a:solidFill>
                  <a:latin typeface="+mn-lt"/>
                  <a:ea typeface="+mn-ea"/>
                  <a:cs typeface="+mn-cs"/>
                </a:rPr>
                <a:t>旅游产品</a:t>
              </a:r>
            </a:p>
          </p:txBody>
        </p:sp>
        <p:sp>
          <p:nvSpPr>
            <p:cNvPr id="69" name="TextBox 69"/>
            <p:cNvSpPr txBox="1"/>
            <p:nvPr/>
          </p:nvSpPr>
          <p:spPr>
            <a:xfrm>
              <a:off x="970353" y="4135993"/>
              <a:ext cx="459593"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150万​​</a:t>
              </a:r>
            </a:p>
          </p:txBody>
        </p:sp>
        <p:sp>
          <p:nvSpPr>
            <p:cNvPr id="70" name="Rectangle 70"/>
            <p:cNvSpPr/>
            <p:nvPr/>
          </p:nvSpPr>
          <p:spPr>
            <a:xfrm>
              <a:off x="1771650" y="3810000"/>
              <a:ext cx="914400" cy="533400"/>
            </a:xfrm>
            <a:prstGeom prst="roundRect">
              <a:avLst>
                <a:gd name="adj" fmla="val 10714"/>
              </a:avLst>
            </a:prstGeom>
            <a:solidFill>
              <a:srgbClr val="FFFFFF"/>
            </a:solidFill>
            <a:ln w="11430">
              <a:solidFill>
                <a:srgbClr val="E94B2B"/>
              </a:solidFill>
            </a:ln>
          </p:spPr>
        </p:sp>
        <p:sp>
          <p:nvSpPr>
            <p:cNvPr id="71" name="TextBox 71"/>
            <p:cNvSpPr txBox="1"/>
            <p:nvPr/>
          </p:nvSpPr>
          <p:spPr>
            <a:xfrm>
              <a:off x="2011388" y="3953589"/>
              <a:ext cx="434924" cy="154781"/>
            </a:xfrm>
            <a:prstGeom prst="rect">
              <a:avLst/>
            </a:prstGeom>
            <a:noFill/>
            <a:ln>
              <a:noFill/>
            </a:ln>
          </p:spPr>
          <p:txBody>
            <a:bodyPr wrap="none" lIns="0" tIns="0" rIns="0" bIns="0" anchor="t" anchorCtr="0">
              <a:spAutoFit/>
            </a:bodyPr>
            <a:lstStyle/>
            <a:p>
              <a:pPr algn="ctr"/>
              <a:r>
                <a:rPr lang="zh-CN" sz="790" dirty="0">
                  <a:solidFill>
                    <a:srgbClr val="262626"/>
                  </a:solidFill>
                  <a:latin typeface="+mn-lt"/>
                  <a:ea typeface="+mn-ea"/>
                  <a:cs typeface="+mn-cs"/>
                </a:rPr>
                <a:t>旅游产品</a:t>
              </a:r>
            </a:p>
          </p:txBody>
        </p:sp>
        <p:sp>
          <p:nvSpPr>
            <p:cNvPr id="72" name="TextBox 72"/>
            <p:cNvSpPr txBox="1"/>
            <p:nvPr/>
          </p:nvSpPr>
          <p:spPr>
            <a:xfrm>
              <a:off x="1999053" y="4135993"/>
              <a:ext cx="459593"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150万​​</a:t>
              </a:r>
            </a:p>
          </p:txBody>
        </p:sp>
        <p:sp>
          <p:nvSpPr>
            <p:cNvPr id="73" name="Rectangle 73"/>
            <p:cNvSpPr/>
            <p:nvPr/>
          </p:nvSpPr>
          <p:spPr>
            <a:xfrm>
              <a:off x="3028950" y="3810000"/>
              <a:ext cx="914400" cy="533400"/>
            </a:xfrm>
            <a:prstGeom prst="roundRect">
              <a:avLst>
                <a:gd name="adj" fmla="val 10714"/>
              </a:avLst>
            </a:prstGeom>
            <a:solidFill>
              <a:srgbClr val="FFFFFF"/>
            </a:solidFill>
            <a:ln w="11430">
              <a:solidFill>
                <a:srgbClr val="E94B2B"/>
              </a:solidFill>
            </a:ln>
          </p:spPr>
        </p:sp>
        <p:sp>
          <p:nvSpPr>
            <p:cNvPr id="74" name="TextBox 74"/>
            <p:cNvSpPr txBox="1"/>
            <p:nvPr/>
          </p:nvSpPr>
          <p:spPr>
            <a:xfrm>
              <a:off x="3268688" y="3953589"/>
              <a:ext cx="434924" cy="154781"/>
            </a:xfrm>
            <a:prstGeom prst="rect">
              <a:avLst/>
            </a:prstGeom>
            <a:noFill/>
            <a:ln>
              <a:noFill/>
            </a:ln>
          </p:spPr>
          <p:txBody>
            <a:bodyPr wrap="none" lIns="0" tIns="0" rIns="0" bIns="0" anchor="t" anchorCtr="0">
              <a:spAutoFit/>
            </a:bodyPr>
            <a:lstStyle/>
            <a:p>
              <a:pPr algn="ctr"/>
              <a:r>
                <a:rPr lang="zh-CN" sz="790" dirty="0">
                  <a:solidFill>
                    <a:srgbClr val="262626"/>
                  </a:solidFill>
                  <a:latin typeface="+mn-lt"/>
                  <a:ea typeface="+mn-ea"/>
                  <a:cs typeface="+mn-cs"/>
                </a:rPr>
                <a:t>潮牌产品</a:t>
              </a:r>
            </a:p>
          </p:txBody>
        </p:sp>
        <p:sp>
          <p:nvSpPr>
            <p:cNvPr id="75" name="TextBox 75"/>
            <p:cNvSpPr txBox="1"/>
            <p:nvPr/>
          </p:nvSpPr>
          <p:spPr>
            <a:xfrm>
              <a:off x="3256353" y="4135993"/>
              <a:ext cx="459593"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150万​​</a:t>
              </a:r>
            </a:p>
          </p:txBody>
        </p:sp>
        <p:sp>
          <p:nvSpPr>
            <p:cNvPr id="76" name="Rectangle 76"/>
            <p:cNvSpPr/>
            <p:nvPr/>
          </p:nvSpPr>
          <p:spPr>
            <a:xfrm>
              <a:off x="4057650" y="3810000"/>
              <a:ext cx="914400" cy="533400"/>
            </a:xfrm>
            <a:prstGeom prst="roundRect">
              <a:avLst>
                <a:gd name="adj" fmla="val 10714"/>
              </a:avLst>
            </a:prstGeom>
            <a:solidFill>
              <a:srgbClr val="FFFFFF"/>
            </a:solidFill>
            <a:ln w="11430">
              <a:solidFill>
                <a:srgbClr val="E94B2B"/>
              </a:solidFill>
            </a:ln>
          </p:spPr>
        </p:sp>
        <p:sp>
          <p:nvSpPr>
            <p:cNvPr id="77" name="TextBox 77"/>
            <p:cNvSpPr txBox="1"/>
            <p:nvPr/>
          </p:nvSpPr>
          <p:spPr>
            <a:xfrm>
              <a:off x="4297388" y="3953589"/>
              <a:ext cx="434924" cy="154781"/>
            </a:xfrm>
            <a:prstGeom prst="rect">
              <a:avLst/>
            </a:prstGeom>
            <a:noFill/>
            <a:ln>
              <a:noFill/>
            </a:ln>
          </p:spPr>
          <p:txBody>
            <a:bodyPr wrap="none" lIns="0" tIns="0" rIns="0" bIns="0" anchor="t" anchorCtr="0">
              <a:spAutoFit/>
            </a:bodyPr>
            <a:lstStyle/>
            <a:p>
              <a:pPr algn="ctr"/>
              <a:r>
                <a:rPr lang="zh-CN" sz="790" dirty="0">
                  <a:solidFill>
                    <a:srgbClr val="262626"/>
                  </a:solidFill>
                  <a:latin typeface="+mn-lt"/>
                  <a:ea typeface="+mn-ea"/>
                  <a:cs typeface="+mn-cs"/>
                </a:rPr>
                <a:t>联名产品</a:t>
              </a:r>
            </a:p>
          </p:txBody>
        </p:sp>
        <p:sp>
          <p:nvSpPr>
            <p:cNvPr id="78" name="TextBox 78"/>
            <p:cNvSpPr txBox="1"/>
            <p:nvPr/>
          </p:nvSpPr>
          <p:spPr>
            <a:xfrm>
              <a:off x="4285053" y="4135993"/>
              <a:ext cx="459593"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150万​​</a:t>
              </a:r>
            </a:p>
          </p:txBody>
        </p:sp>
      </p:grpSp>
      <p:grpSp>
        <p:nvGrpSpPr>
          <p:cNvPr id="103" name="m-consumption-donut"/>
          <p:cNvGrpSpPr/>
          <p:nvPr/>
        </p:nvGrpSpPr>
        <p:grpSpPr>
          <a:xfrm>
            <a:off x="5295900" y="2095500"/>
            <a:ext cx="2819400" cy="3962400"/>
            <a:chOff x="5295900" y="2095500"/>
            <a:chExt cx="2819400" cy="3962400"/>
          </a:xfrm>
        </p:grpSpPr>
        <p:sp>
          <p:nvSpPr>
            <p:cNvPr id="80" name="Rectangle 80"/>
            <p:cNvSpPr/>
            <p:nvPr/>
          </p:nvSpPr>
          <p:spPr>
            <a:xfrm>
              <a:off x="5295900" y="2095500"/>
              <a:ext cx="2819400" cy="3962400"/>
            </a:xfrm>
            <a:prstGeom prst="rect">
              <a:avLst/>
            </a:prstGeom>
            <a:solidFill>
              <a:srgbClr val="FFFFFF"/>
            </a:solidFill>
            <a:ln w="11430">
              <a:solidFill>
                <a:srgbClr val="C9DDF5"/>
              </a:solidFill>
            </a:ln>
          </p:spPr>
        </p:sp>
        <p:sp>
          <p:nvSpPr>
            <p:cNvPr id="81" name="Rectangle 81"/>
            <p:cNvSpPr/>
            <p:nvPr/>
          </p:nvSpPr>
          <p:spPr>
            <a:xfrm>
              <a:off x="5391150" y="2190750"/>
              <a:ext cx="1905000" cy="247650"/>
            </a:xfrm>
            <a:prstGeom prst="rect">
              <a:avLst/>
            </a:prstGeom>
            <a:gradFill>
              <a:gsLst>
                <a:gs pos="0">
                  <a:srgbClr val="FF5B3A"/>
                </a:gs>
                <a:gs pos="100000">
                  <a:srgbClr val="E94B2B"/>
                </a:gs>
              </a:gsLst>
              <a:lin ang="0" scaled="1"/>
            </a:gradFill>
            <a:ln>
              <a:noFill/>
            </a:ln>
          </p:spPr>
        </p:sp>
        <p:sp>
          <p:nvSpPr>
            <p:cNvPr id="82" name="Polygon 82"/>
            <p:cNvSpPr/>
            <p:nvPr/>
          </p:nvSpPr>
          <p:spPr>
            <a:xfrm>
              <a:off x="7200900" y="21907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grpSp>
          <p:nvGrpSpPr>
            <p:cNvPr id="85" name="Group 85"/>
            <p:cNvGrpSpPr/>
            <p:nvPr/>
          </p:nvGrpSpPr>
          <p:grpSpPr>
            <a:xfrm>
              <a:off x="5503680" y="2248992"/>
              <a:ext cx="114800" cy="114978"/>
              <a:chOff x="5503680" y="2248992"/>
              <a:chExt cx="114800" cy="114978"/>
            </a:xfrm>
          </p:grpSpPr>
          <p:sp>
            <p:nvSpPr>
              <p:cNvPr id="83" name="Freeform 83"/>
              <p:cNvSpPr/>
              <p:nvPr/>
            </p:nvSpPr>
            <p:spPr>
              <a:xfrm>
                <a:off x="5503680" y="2248992"/>
                <a:ext cx="114800" cy="114978"/>
              </a:xfrm>
              <a:custGeom>
                <a:avLst/>
                <a:gdLst/>
                <a:ahLst/>
                <a:cxnLst/>
                <a:rect l="l" t="t" r="r" b="b"/>
                <a:pathLst>
                  <a:path w="114800" h="114978">
                    <a:moveTo>
                      <a:pt x="46220" y="178"/>
                    </a:moveTo>
                    <a:cubicBezTo>
                      <a:pt x="18725" y="6552"/>
                      <a:pt x="0" y="32044"/>
                      <a:pt x="2141" y="60187"/>
                    </a:cubicBezTo>
                    <a:cubicBezTo>
                      <a:pt x="4282" y="88330"/>
                      <a:pt x="26648" y="110696"/>
                      <a:pt x="54791" y="112837"/>
                    </a:cubicBezTo>
                    <a:cubicBezTo>
                      <a:pt x="82934" y="114978"/>
                      <a:pt x="108426" y="96254"/>
                      <a:pt x="114800" y="68758"/>
                    </a:cubicBezTo>
                    <a:cubicBezTo>
                      <a:pt x="114800" y="65251"/>
                      <a:pt x="111957" y="62408"/>
                      <a:pt x="108450" y="62408"/>
                    </a:cubicBezTo>
                    <a:lnTo>
                      <a:pt x="65270" y="62408"/>
                    </a:lnTo>
                    <a:cubicBezTo>
                      <a:pt x="58256" y="62408"/>
                      <a:pt x="52570" y="56722"/>
                      <a:pt x="52570" y="49708"/>
                    </a:cubicBezTo>
                    <a:lnTo>
                      <a:pt x="52570" y="5258"/>
                    </a:lnTo>
                    <a:cubicBezTo>
                      <a:pt x="52411" y="3738"/>
                      <a:pt x="51649" y="2346"/>
                      <a:pt x="50456" y="1391"/>
                    </a:cubicBezTo>
                    <a:cubicBezTo>
                      <a:pt x="49263" y="437"/>
                      <a:pt x="47738" y="0"/>
                      <a:pt x="46220" y="178"/>
                    </a:cubicBezTo>
                  </a:path>
                </a:pathLst>
              </a:custGeom>
              <a:noFill/>
              <a:ln w="12700">
                <a:solidFill>
                  <a:srgbClr val="FFFFFF"/>
                </a:solidFill>
              </a:ln>
            </p:spPr>
          </p:sp>
          <p:sp>
            <p:nvSpPr>
              <p:cNvPr id="84" name="Freeform 84"/>
              <p:cNvSpPr/>
              <p:nvPr/>
            </p:nvSpPr>
            <p:spPr>
              <a:xfrm>
                <a:off x="5581650" y="2251075"/>
                <a:ext cx="34925" cy="34925"/>
              </a:xfrm>
              <a:custGeom>
                <a:avLst/>
                <a:gdLst/>
                <a:ahLst/>
                <a:cxnLst/>
                <a:rect l="l" t="t" r="r" b="b"/>
                <a:pathLst>
                  <a:path w="34925" h="34925">
                    <a:moveTo>
                      <a:pt x="0" y="0"/>
                    </a:moveTo>
                    <a:cubicBezTo>
                      <a:pt x="16331" y="5750"/>
                      <a:pt x="29175" y="18594"/>
                      <a:pt x="34925" y="34925"/>
                    </a:cubicBezTo>
                    <a:lnTo>
                      <a:pt x="6350" y="34925"/>
                    </a:lnTo>
                    <a:cubicBezTo>
                      <a:pt x="2843" y="34925"/>
                      <a:pt x="0" y="32082"/>
                      <a:pt x="0" y="28575"/>
                    </a:cubicBezTo>
                    <a:lnTo>
                      <a:pt x="0" y="0"/>
                    </a:lnTo>
                  </a:path>
                </a:pathLst>
              </a:custGeom>
              <a:noFill/>
              <a:ln w="12700">
                <a:solidFill>
                  <a:srgbClr val="FFFFFF"/>
                </a:solidFill>
              </a:ln>
            </p:spPr>
          </p:sp>
        </p:grpSp>
        <p:sp>
          <p:nvSpPr>
            <p:cNvPr id="86" name="TextBox 86"/>
            <p:cNvSpPr txBox="1"/>
            <p:nvPr/>
          </p:nvSpPr>
          <p:spPr>
            <a:xfrm>
              <a:off x="5690997" y="2256949"/>
              <a:ext cx="801472"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产品消费占比</a:t>
              </a:r>
            </a:p>
          </p:txBody>
        </p:sp>
        <p:sp>
          <p:nvSpPr>
            <p:cNvPr id="87" name="Freeform 87"/>
            <p:cNvSpPr/>
            <p:nvPr/>
          </p:nvSpPr>
          <p:spPr>
            <a:xfrm>
              <a:off x="6705600" y="3638550"/>
              <a:ext cx="838200" cy="1676400"/>
            </a:xfrm>
            <a:custGeom>
              <a:avLst/>
              <a:gdLst/>
              <a:ahLst/>
              <a:cxnLst/>
              <a:rect l="l" t="t" r="r" b="b"/>
              <a:pathLst>
                <a:path w="838200" h="1676400">
                  <a:moveTo>
                    <a:pt x="0" y="838200"/>
                  </a:moveTo>
                  <a:lnTo>
                    <a:pt x="0" y="0"/>
                  </a:lnTo>
                  <a:cubicBezTo>
                    <a:pt x="462925" y="0"/>
                    <a:pt x="838200" y="375275"/>
                    <a:pt x="838200" y="838200"/>
                  </a:cubicBezTo>
                  <a:cubicBezTo>
                    <a:pt x="838200" y="1301125"/>
                    <a:pt x="462925" y="1676400"/>
                    <a:pt x="0" y="1676400"/>
                  </a:cubicBezTo>
                  <a:lnTo>
                    <a:pt x="0" y="1333500"/>
                  </a:lnTo>
                  <a:cubicBezTo>
                    <a:pt x="273547" y="1333500"/>
                    <a:pt x="495300" y="1111747"/>
                    <a:pt x="495300" y="838200"/>
                  </a:cubicBezTo>
                  <a:cubicBezTo>
                    <a:pt x="495300" y="564653"/>
                    <a:pt x="273547" y="342900"/>
                    <a:pt x="0" y="342900"/>
                  </a:cubicBezTo>
                  <a:close/>
                </a:path>
              </a:pathLst>
            </a:custGeom>
            <a:solidFill>
              <a:srgbClr val="C83B1E"/>
            </a:solidFill>
            <a:ln>
              <a:noFill/>
            </a:ln>
          </p:spPr>
        </p:sp>
        <p:sp>
          <p:nvSpPr>
            <p:cNvPr id="88" name="Freeform 88"/>
            <p:cNvSpPr/>
            <p:nvPr/>
          </p:nvSpPr>
          <p:spPr>
            <a:xfrm>
              <a:off x="5867400" y="4476750"/>
              <a:ext cx="838200" cy="838200"/>
            </a:xfrm>
            <a:custGeom>
              <a:avLst/>
              <a:gdLst/>
              <a:ahLst/>
              <a:cxnLst/>
              <a:rect l="l" t="t" r="r" b="b"/>
              <a:pathLst>
                <a:path w="838200" h="838200">
                  <a:moveTo>
                    <a:pt x="838200" y="0"/>
                  </a:moveTo>
                  <a:lnTo>
                    <a:pt x="838200" y="838200"/>
                  </a:lnTo>
                  <a:cubicBezTo>
                    <a:pt x="375275" y="838200"/>
                    <a:pt x="0" y="462925"/>
                    <a:pt x="0" y="0"/>
                  </a:cubicBezTo>
                  <a:lnTo>
                    <a:pt x="342900" y="0"/>
                  </a:lnTo>
                  <a:cubicBezTo>
                    <a:pt x="342900" y="273547"/>
                    <a:pt x="564653" y="495300"/>
                    <a:pt x="838200" y="495300"/>
                  </a:cubicBezTo>
                  <a:close/>
                </a:path>
              </a:pathLst>
            </a:custGeom>
            <a:solidFill>
              <a:srgbClr val="E94B2B"/>
            </a:solidFill>
            <a:ln>
              <a:noFill/>
            </a:ln>
          </p:spPr>
        </p:sp>
        <p:sp>
          <p:nvSpPr>
            <p:cNvPr id="89" name="Freeform 89"/>
            <p:cNvSpPr/>
            <p:nvPr/>
          </p:nvSpPr>
          <p:spPr>
            <a:xfrm>
              <a:off x="5867400" y="3798570"/>
              <a:ext cx="838200" cy="678180"/>
            </a:xfrm>
            <a:custGeom>
              <a:avLst/>
              <a:gdLst/>
              <a:ahLst/>
              <a:cxnLst/>
              <a:rect l="l" t="t" r="r" b="b"/>
              <a:pathLst>
                <a:path w="838200" h="678180">
                  <a:moveTo>
                    <a:pt x="838200" y="678180"/>
                  </a:moveTo>
                  <a:lnTo>
                    <a:pt x="0" y="678180"/>
                  </a:lnTo>
                  <a:cubicBezTo>
                    <a:pt x="36" y="409803"/>
                    <a:pt x="128580" y="157671"/>
                    <a:pt x="345757" y="0"/>
                  </a:cubicBezTo>
                  <a:lnTo>
                    <a:pt x="546735" y="277177"/>
                  </a:lnTo>
                  <a:cubicBezTo>
                    <a:pt x="418509" y="370503"/>
                    <a:pt x="342727" y="519588"/>
                    <a:pt x="342900" y="678180"/>
                  </a:cubicBezTo>
                  <a:close/>
                </a:path>
              </a:pathLst>
            </a:custGeom>
            <a:solidFill>
              <a:srgbClr val="F8B6A9"/>
            </a:solidFill>
            <a:ln>
              <a:noFill/>
            </a:ln>
          </p:spPr>
        </p:sp>
        <p:sp>
          <p:nvSpPr>
            <p:cNvPr id="90" name="Freeform 90"/>
            <p:cNvSpPr/>
            <p:nvPr/>
          </p:nvSpPr>
          <p:spPr>
            <a:xfrm>
              <a:off x="6213158" y="3638550"/>
              <a:ext cx="492443" cy="838200"/>
            </a:xfrm>
            <a:custGeom>
              <a:avLst/>
              <a:gdLst/>
              <a:ahLst/>
              <a:cxnLst/>
              <a:rect l="l" t="t" r="r" b="b"/>
              <a:pathLst>
                <a:path w="492443" h="838200">
                  <a:moveTo>
                    <a:pt x="492443" y="838200"/>
                  </a:moveTo>
                  <a:lnTo>
                    <a:pt x="0" y="160020"/>
                  </a:lnTo>
                  <a:cubicBezTo>
                    <a:pt x="143146" y="56046"/>
                    <a:pt x="315521" y="32"/>
                    <a:pt x="492443" y="0"/>
                  </a:cubicBezTo>
                  <a:lnTo>
                    <a:pt x="492443" y="342900"/>
                  </a:lnTo>
                  <a:cubicBezTo>
                    <a:pt x="387764" y="342743"/>
                    <a:pt x="285727" y="375755"/>
                    <a:pt x="200978" y="437197"/>
                  </a:cubicBezTo>
                  <a:close/>
                </a:path>
              </a:pathLst>
            </a:custGeom>
            <a:solidFill>
              <a:srgbClr val="F0856F"/>
            </a:solidFill>
            <a:ln>
              <a:noFill/>
            </a:ln>
          </p:spPr>
        </p:sp>
        <p:sp>
          <p:nvSpPr>
            <p:cNvPr id="91" name="TextBox 91"/>
            <p:cNvSpPr txBox="1"/>
            <p:nvPr/>
          </p:nvSpPr>
          <p:spPr>
            <a:xfrm>
              <a:off x="7501423" y="4425791"/>
              <a:ext cx="351453" cy="161925"/>
            </a:xfrm>
            <a:prstGeom prst="rect">
              <a:avLst/>
            </a:prstGeom>
            <a:noFill/>
            <a:ln>
              <a:noFill/>
            </a:ln>
          </p:spPr>
          <p:txBody>
            <a:bodyPr wrap="none" lIns="0" tIns="0" rIns="0" bIns="0" anchor="t" anchorCtr="0">
              <a:spAutoFit/>
            </a:bodyPr>
            <a:lstStyle/>
            <a:p>
              <a:pPr algn="ctr"/>
              <a:r>
                <a:rPr lang="zh-CN" sz="820" b="1" dirty="0">
                  <a:solidFill>
                    <a:srgbClr val="684F4A"/>
                  </a:solidFill>
                  <a:latin typeface="+mn-lt"/>
                  <a:ea typeface="+mn-ea"/>
                  <a:cs typeface="+mn-cs"/>
                </a:rPr>
                <a:t>50%​​</a:t>
              </a:r>
            </a:p>
          </p:txBody>
        </p:sp>
        <p:sp>
          <p:nvSpPr>
            <p:cNvPr id="92" name="TextBox 92"/>
            <p:cNvSpPr txBox="1"/>
            <p:nvPr/>
          </p:nvSpPr>
          <p:spPr>
            <a:xfrm>
              <a:off x="5999464" y="5043488"/>
              <a:ext cx="30737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25%​​</a:t>
              </a:r>
            </a:p>
          </p:txBody>
        </p:sp>
        <p:sp>
          <p:nvSpPr>
            <p:cNvPr id="93" name="TextBox 93"/>
            <p:cNvSpPr txBox="1"/>
            <p:nvPr/>
          </p:nvSpPr>
          <p:spPr>
            <a:xfrm>
              <a:off x="5980414" y="3843338"/>
              <a:ext cx="30737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15%​​</a:t>
              </a:r>
            </a:p>
          </p:txBody>
        </p:sp>
        <p:sp>
          <p:nvSpPr>
            <p:cNvPr id="94" name="TextBox 94"/>
            <p:cNvSpPr txBox="1"/>
            <p:nvPr/>
          </p:nvSpPr>
          <p:spPr>
            <a:xfrm>
              <a:off x="6418564" y="3500438"/>
              <a:ext cx="30737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10%​​</a:t>
              </a:r>
            </a:p>
          </p:txBody>
        </p:sp>
        <p:sp>
          <p:nvSpPr>
            <p:cNvPr id="95" name="Rectangle 95"/>
            <p:cNvSpPr/>
            <p:nvPr/>
          </p:nvSpPr>
          <p:spPr>
            <a:xfrm>
              <a:off x="5772150" y="5715000"/>
              <a:ext cx="76200" cy="76200"/>
            </a:xfrm>
            <a:prstGeom prst="rect">
              <a:avLst/>
            </a:prstGeom>
            <a:solidFill>
              <a:srgbClr val="C83B1E"/>
            </a:solidFill>
            <a:ln>
              <a:noFill/>
            </a:ln>
          </p:spPr>
        </p:sp>
        <p:sp>
          <p:nvSpPr>
            <p:cNvPr id="96" name="TextBox 96"/>
            <p:cNvSpPr txBox="1"/>
            <p:nvPr/>
          </p:nvSpPr>
          <p:spPr>
            <a:xfrm>
              <a:off x="5881688" y="5710238"/>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保健</a:t>
              </a:r>
            </a:p>
          </p:txBody>
        </p:sp>
        <p:sp>
          <p:nvSpPr>
            <p:cNvPr id="97" name="Rectangle 97"/>
            <p:cNvSpPr/>
            <p:nvPr/>
          </p:nvSpPr>
          <p:spPr>
            <a:xfrm>
              <a:off x="6324600" y="5715000"/>
              <a:ext cx="76200" cy="76200"/>
            </a:xfrm>
            <a:prstGeom prst="rect">
              <a:avLst/>
            </a:prstGeom>
            <a:solidFill>
              <a:srgbClr val="E94B2B"/>
            </a:solidFill>
            <a:ln>
              <a:noFill/>
            </a:ln>
          </p:spPr>
        </p:sp>
        <p:sp>
          <p:nvSpPr>
            <p:cNvPr id="98" name="TextBox 98"/>
            <p:cNvSpPr txBox="1"/>
            <p:nvPr/>
          </p:nvSpPr>
          <p:spPr>
            <a:xfrm>
              <a:off x="6434138" y="5710238"/>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美妆</a:t>
              </a:r>
            </a:p>
          </p:txBody>
        </p:sp>
        <p:sp>
          <p:nvSpPr>
            <p:cNvPr id="99" name="Rectangle 99"/>
            <p:cNvSpPr/>
            <p:nvPr/>
          </p:nvSpPr>
          <p:spPr>
            <a:xfrm>
              <a:off x="6877050" y="5715000"/>
              <a:ext cx="76200" cy="76200"/>
            </a:xfrm>
            <a:prstGeom prst="rect">
              <a:avLst/>
            </a:prstGeom>
            <a:solidFill>
              <a:srgbClr val="F8B6A9"/>
            </a:solidFill>
            <a:ln>
              <a:noFill/>
            </a:ln>
          </p:spPr>
        </p:sp>
        <p:sp>
          <p:nvSpPr>
            <p:cNvPr id="100" name="TextBox 100"/>
            <p:cNvSpPr txBox="1"/>
            <p:nvPr/>
          </p:nvSpPr>
          <p:spPr>
            <a:xfrm>
              <a:off x="6986588" y="5710238"/>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健身</a:t>
              </a:r>
            </a:p>
          </p:txBody>
        </p:sp>
        <p:sp>
          <p:nvSpPr>
            <p:cNvPr id="101" name="Rectangle 101"/>
            <p:cNvSpPr/>
            <p:nvPr/>
          </p:nvSpPr>
          <p:spPr>
            <a:xfrm>
              <a:off x="7429500" y="5715000"/>
              <a:ext cx="76200" cy="76200"/>
            </a:xfrm>
            <a:prstGeom prst="rect">
              <a:avLst/>
            </a:prstGeom>
            <a:solidFill>
              <a:srgbClr val="F0856F"/>
            </a:solidFill>
            <a:ln>
              <a:noFill/>
            </a:ln>
          </p:spPr>
        </p:sp>
        <p:sp>
          <p:nvSpPr>
            <p:cNvPr id="102" name="TextBox 102"/>
            <p:cNvSpPr txBox="1"/>
            <p:nvPr/>
          </p:nvSpPr>
          <p:spPr>
            <a:xfrm>
              <a:off x="7539038" y="5710238"/>
              <a:ext cx="21145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旅游</a:t>
              </a:r>
            </a:p>
          </p:txBody>
        </p:sp>
      </p:grpSp>
      <p:grpSp>
        <p:nvGrpSpPr>
          <p:cNvPr id="141" name="m-top10-table"/>
          <p:cNvGrpSpPr/>
          <p:nvPr/>
        </p:nvGrpSpPr>
        <p:grpSpPr>
          <a:xfrm>
            <a:off x="8343900" y="2095500"/>
            <a:ext cx="3371850" cy="3962400"/>
            <a:chOff x="8343900" y="2095500"/>
            <a:chExt cx="3371850" cy="3962400"/>
          </a:xfrm>
        </p:grpSpPr>
        <p:sp>
          <p:nvSpPr>
            <p:cNvPr id="104" name="Rectangle 104"/>
            <p:cNvSpPr/>
            <p:nvPr/>
          </p:nvSpPr>
          <p:spPr>
            <a:xfrm>
              <a:off x="8343900" y="2095500"/>
              <a:ext cx="3371850" cy="3962400"/>
            </a:xfrm>
            <a:prstGeom prst="rect">
              <a:avLst/>
            </a:prstGeom>
            <a:solidFill>
              <a:srgbClr val="FFFFFF"/>
            </a:solidFill>
            <a:ln w="11430">
              <a:solidFill>
                <a:srgbClr val="C9DDF5"/>
              </a:solidFill>
            </a:ln>
          </p:spPr>
        </p:sp>
        <p:sp>
          <p:nvSpPr>
            <p:cNvPr id="105" name="Rectangle 105"/>
            <p:cNvSpPr/>
            <p:nvPr/>
          </p:nvSpPr>
          <p:spPr>
            <a:xfrm>
              <a:off x="8439150" y="2190750"/>
              <a:ext cx="2286000" cy="247650"/>
            </a:xfrm>
            <a:prstGeom prst="rect">
              <a:avLst/>
            </a:prstGeom>
            <a:gradFill>
              <a:gsLst>
                <a:gs pos="0">
                  <a:srgbClr val="FF5B3A"/>
                </a:gs>
                <a:gs pos="100000">
                  <a:srgbClr val="E94B2B"/>
                </a:gs>
              </a:gsLst>
              <a:lin ang="0" scaled="1"/>
            </a:gradFill>
            <a:ln>
              <a:noFill/>
            </a:ln>
          </p:spPr>
        </p:sp>
        <p:sp>
          <p:nvSpPr>
            <p:cNvPr id="106" name="Polygon 106"/>
            <p:cNvSpPr/>
            <p:nvPr/>
          </p:nvSpPr>
          <p:spPr>
            <a:xfrm>
              <a:off x="10629900" y="21907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grpSp>
          <p:nvGrpSpPr>
            <p:cNvPr id="109" name="Group 109"/>
            <p:cNvGrpSpPr/>
            <p:nvPr/>
          </p:nvGrpSpPr>
          <p:grpSpPr>
            <a:xfrm>
              <a:off x="8553450" y="2247900"/>
              <a:ext cx="114300" cy="114300"/>
              <a:chOff x="8553450" y="2247900"/>
              <a:chExt cx="114300" cy="114300"/>
            </a:xfrm>
          </p:grpSpPr>
          <p:sp>
            <p:nvSpPr>
              <p:cNvPr id="107" name="Freeform 107"/>
              <p:cNvSpPr/>
              <p:nvPr/>
            </p:nvSpPr>
            <p:spPr>
              <a:xfrm>
                <a:off x="8553450" y="224790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FFFFFF"/>
                </a:solidFill>
              </a:ln>
            </p:spPr>
          </p:sp>
          <p:sp>
            <p:nvSpPr>
              <p:cNvPr id="108" name="Freeform 108"/>
              <p:cNvSpPr/>
              <p:nvPr/>
            </p:nvSpPr>
            <p:spPr>
              <a:xfrm>
                <a:off x="8629650" y="2324100"/>
                <a:ext cx="38100" cy="38100"/>
              </a:xfrm>
              <a:custGeom>
                <a:avLst/>
                <a:gdLst/>
                <a:ahLst/>
                <a:cxnLst/>
                <a:rect l="l" t="t" r="r" b="b"/>
                <a:pathLst>
                  <a:path w="38100" h="38100">
                    <a:moveTo>
                      <a:pt x="38100" y="38100"/>
                    </a:moveTo>
                    <a:lnTo>
                      <a:pt x="0" y="0"/>
                    </a:lnTo>
                  </a:path>
                </a:pathLst>
              </a:custGeom>
              <a:noFill/>
              <a:ln w="12700">
                <a:solidFill>
                  <a:srgbClr val="FFFFFF"/>
                </a:solidFill>
              </a:ln>
            </p:spPr>
          </p:sp>
        </p:grpSp>
        <p:sp>
          <p:nvSpPr>
            <p:cNvPr id="110" name="TextBox 110"/>
            <p:cNvSpPr txBox="1"/>
            <p:nvPr/>
          </p:nvSpPr>
          <p:spPr>
            <a:xfrm>
              <a:off x="8738997" y="2256949"/>
              <a:ext cx="1233248"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核心产品消费TOP10</a:t>
              </a:r>
            </a:p>
          </p:txBody>
        </p:sp>
        <p:sp>
          <p:nvSpPr>
            <p:cNvPr id="111" name="Rectangle 111"/>
            <p:cNvSpPr/>
            <p:nvPr/>
          </p:nvSpPr>
          <p:spPr>
            <a:xfrm>
              <a:off x="8458200" y="2590800"/>
              <a:ext cx="3143250" cy="285750"/>
            </a:xfrm>
            <a:prstGeom prst="rect">
              <a:avLst/>
            </a:prstGeom>
            <a:solidFill>
              <a:srgbClr val="EAF2FC"/>
            </a:solidFill>
            <a:ln>
              <a:noFill/>
            </a:ln>
          </p:spPr>
        </p:sp>
        <p:sp>
          <p:nvSpPr>
            <p:cNvPr id="112" name="TextBox 112"/>
            <p:cNvSpPr txBox="1"/>
            <p:nvPr/>
          </p:nvSpPr>
          <p:spPr>
            <a:xfrm>
              <a:off x="8623414" y="2688193"/>
              <a:ext cx="241071"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类型</a:t>
              </a:r>
            </a:p>
          </p:txBody>
        </p:sp>
        <p:sp>
          <p:nvSpPr>
            <p:cNvPr id="113" name="TextBox 113"/>
            <p:cNvSpPr txBox="1"/>
            <p:nvPr/>
          </p:nvSpPr>
          <p:spPr>
            <a:xfrm>
              <a:off x="9290164" y="2688193"/>
              <a:ext cx="241071"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名称</a:t>
              </a:r>
            </a:p>
          </p:txBody>
        </p:sp>
        <p:sp>
          <p:nvSpPr>
            <p:cNvPr id="114" name="TextBox 114"/>
            <p:cNvSpPr txBox="1"/>
            <p:nvPr/>
          </p:nvSpPr>
          <p:spPr>
            <a:xfrm>
              <a:off x="10041903" y="2688193"/>
              <a:ext cx="356845"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销售量</a:t>
              </a:r>
            </a:p>
          </p:txBody>
        </p:sp>
        <p:sp>
          <p:nvSpPr>
            <p:cNvPr id="115" name="TextBox 115"/>
            <p:cNvSpPr txBox="1"/>
            <p:nvPr/>
          </p:nvSpPr>
          <p:spPr>
            <a:xfrm>
              <a:off x="10888891" y="2688193"/>
              <a:ext cx="472618" cy="169069"/>
            </a:xfrm>
            <a:prstGeom prst="rect">
              <a:avLst/>
            </a:prstGeom>
            <a:noFill/>
            <a:ln>
              <a:noFill/>
            </a:ln>
          </p:spPr>
          <p:txBody>
            <a:bodyPr wrap="none" lIns="0" tIns="0" rIns="0" bIns="0" anchor="t" anchorCtr="0">
              <a:spAutoFit/>
            </a:bodyPr>
            <a:lstStyle/>
            <a:p>
              <a:pPr algn="ctr"/>
              <a:r>
                <a:rPr lang="zh-CN" sz="860" b="1" dirty="0">
                  <a:solidFill>
                    <a:srgbClr val="E94B2B"/>
                  </a:solidFill>
                  <a:latin typeface="+mn-lt"/>
                  <a:ea typeface="+mn-ea"/>
                  <a:cs typeface="+mn-cs"/>
                </a:rPr>
                <a:t>销售金额</a:t>
              </a:r>
            </a:p>
          </p:txBody>
        </p:sp>
        <p:sp>
          <p:nvSpPr>
            <p:cNvPr id="116" name="Line 116"/>
            <p:cNvSpPr/>
            <p:nvPr/>
          </p:nvSpPr>
          <p:spPr>
            <a:xfrm>
              <a:off x="8458200" y="2876550"/>
              <a:ext cx="3143250" cy="9525"/>
            </a:xfrm>
            <a:custGeom>
              <a:avLst/>
              <a:gdLst/>
              <a:ahLst/>
              <a:cxnLst/>
              <a:rect l="l" t="t" r="r" b="b"/>
              <a:pathLst>
                <a:path w="3143250" h="9525">
                  <a:moveTo>
                    <a:pt x="0" y="0"/>
                  </a:moveTo>
                  <a:lnTo>
                    <a:pt x="3143250" y="0"/>
                  </a:lnTo>
                </a:path>
              </a:pathLst>
            </a:custGeom>
            <a:noFill/>
            <a:ln w="11430">
              <a:solidFill>
                <a:srgbClr val="E94B2B"/>
              </a:solidFill>
            </a:ln>
          </p:spPr>
        </p:sp>
        <p:sp>
          <p:nvSpPr>
            <p:cNvPr id="117" name="TextBox 117"/>
            <p:cNvSpPr txBox="1"/>
            <p:nvPr/>
          </p:nvSpPr>
          <p:spPr>
            <a:xfrm>
              <a:off x="8628799" y="3025616"/>
              <a:ext cx="230302"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保健</a:t>
              </a:r>
            </a:p>
          </p:txBody>
        </p:sp>
        <p:sp>
          <p:nvSpPr>
            <p:cNvPr id="118" name="TextBox 118"/>
            <p:cNvSpPr txBox="1"/>
            <p:nvPr/>
          </p:nvSpPr>
          <p:spPr>
            <a:xfrm>
              <a:off x="9240355" y="3025616"/>
              <a:ext cx="340690" cy="161925"/>
            </a:xfrm>
            <a:prstGeom prst="rect">
              <a:avLst/>
            </a:prstGeom>
            <a:noFill/>
            <a:ln>
              <a:noFill/>
            </a:ln>
          </p:spPr>
          <p:txBody>
            <a:bodyPr wrap="none" lIns="0" tIns="0" rIns="0" bIns="0" anchor="t" anchorCtr="0">
              <a:spAutoFit/>
            </a:bodyPr>
            <a:lstStyle/>
            <a:p>
              <a:pPr algn="ctr"/>
              <a:r>
                <a:rPr lang="zh-CN" sz="820" dirty="0">
                  <a:solidFill>
                    <a:srgbClr val="E94B2B"/>
                  </a:solidFill>
                  <a:latin typeface="+mn-lt"/>
                  <a:ea typeface="+mn-ea"/>
                  <a:cs typeface="+mn-cs"/>
                </a:rPr>
                <a:t>蛋白粉</a:t>
              </a:r>
            </a:p>
          </p:txBody>
        </p:sp>
        <p:sp>
          <p:nvSpPr>
            <p:cNvPr id="119" name="TextBox 119"/>
            <p:cNvSpPr txBox="1"/>
            <p:nvPr/>
          </p:nvSpPr>
          <p:spPr>
            <a:xfrm>
              <a:off x="10094135" y="3025616"/>
              <a:ext cx="252379"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5000</a:t>
              </a:r>
            </a:p>
          </p:txBody>
        </p:sp>
        <p:sp>
          <p:nvSpPr>
            <p:cNvPr id="120" name="TextBox 120"/>
            <p:cNvSpPr txBox="1"/>
            <p:nvPr/>
          </p:nvSpPr>
          <p:spPr>
            <a:xfrm>
              <a:off x="10999010" y="3025616"/>
              <a:ext cx="252379"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9800</a:t>
              </a:r>
            </a:p>
          </p:txBody>
        </p:sp>
        <p:sp>
          <p:nvSpPr>
            <p:cNvPr id="121" name="TextBox 121"/>
            <p:cNvSpPr txBox="1"/>
            <p:nvPr/>
          </p:nvSpPr>
          <p:spPr>
            <a:xfrm>
              <a:off x="8628799" y="3406616"/>
              <a:ext cx="230302"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保健</a:t>
              </a:r>
            </a:p>
          </p:txBody>
        </p:sp>
        <p:sp>
          <p:nvSpPr>
            <p:cNvPr id="122" name="TextBox 122"/>
            <p:cNvSpPr txBox="1"/>
            <p:nvPr/>
          </p:nvSpPr>
          <p:spPr>
            <a:xfrm>
              <a:off x="9240355" y="3406616"/>
              <a:ext cx="340690" cy="161925"/>
            </a:xfrm>
            <a:prstGeom prst="rect">
              <a:avLst/>
            </a:prstGeom>
            <a:noFill/>
            <a:ln>
              <a:noFill/>
            </a:ln>
          </p:spPr>
          <p:txBody>
            <a:bodyPr wrap="none" lIns="0" tIns="0" rIns="0" bIns="0" anchor="t" anchorCtr="0">
              <a:spAutoFit/>
            </a:bodyPr>
            <a:lstStyle/>
            <a:p>
              <a:pPr algn="ctr"/>
              <a:r>
                <a:rPr lang="zh-CN" sz="820" dirty="0">
                  <a:solidFill>
                    <a:srgbClr val="E94B2B"/>
                  </a:solidFill>
                  <a:latin typeface="+mn-lt"/>
                  <a:ea typeface="+mn-ea"/>
                  <a:cs typeface="+mn-cs"/>
                </a:rPr>
                <a:t>高钙粉</a:t>
              </a:r>
            </a:p>
          </p:txBody>
        </p:sp>
        <p:sp>
          <p:nvSpPr>
            <p:cNvPr id="123" name="TextBox 123"/>
            <p:cNvSpPr txBox="1"/>
            <p:nvPr/>
          </p:nvSpPr>
          <p:spPr>
            <a:xfrm>
              <a:off x="10094135" y="3406616"/>
              <a:ext cx="252379"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4500</a:t>
              </a:r>
            </a:p>
          </p:txBody>
        </p:sp>
        <p:sp>
          <p:nvSpPr>
            <p:cNvPr id="124" name="TextBox 124"/>
            <p:cNvSpPr txBox="1"/>
            <p:nvPr/>
          </p:nvSpPr>
          <p:spPr>
            <a:xfrm>
              <a:off x="10999010" y="3406616"/>
              <a:ext cx="252379"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7800</a:t>
              </a:r>
            </a:p>
          </p:txBody>
        </p:sp>
        <p:sp>
          <p:nvSpPr>
            <p:cNvPr id="125" name="Rectangle 125"/>
            <p:cNvSpPr/>
            <p:nvPr/>
          </p:nvSpPr>
          <p:spPr>
            <a:xfrm>
              <a:off x="8458200" y="3638550"/>
              <a:ext cx="3143250" cy="381000"/>
            </a:xfrm>
            <a:prstGeom prst="rect">
              <a:avLst/>
            </a:prstGeom>
            <a:solidFill>
              <a:srgbClr val="F7FAFF"/>
            </a:solidFill>
            <a:ln>
              <a:noFill/>
            </a:ln>
          </p:spPr>
        </p:sp>
        <p:sp>
          <p:nvSpPr>
            <p:cNvPr id="126" name="TextBox 126"/>
            <p:cNvSpPr txBox="1"/>
            <p:nvPr/>
          </p:nvSpPr>
          <p:spPr>
            <a:xfrm>
              <a:off x="8628799" y="3787616"/>
              <a:ext cx="230302"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美妆</a:t>
              </a:r>
            </a:p>
          </p:txBody>
        </p:sp>
        <p:sp>
          <p:nvSpPr>
            <p:cNvPr id="127" name="TextBox 127"/>
            <p:cNvSpPr txBox="1"/>
            <p:nvPr/>
          </p:nvSpPr>
          <p:spPr>
            <a:xfrm>
              <a:off x="9240355" y="3787616"/>
              <a:ext cx="340690" cy="161925"/>
            </a:xfrm>
            <a:prstGeom prst="rect">
              <a:avLst/>
            </a:prstGeom>
            <a:noFill/>
            <a:ln>
              <a:noFill/>
            </a:ln>
          </p:spPr>
          <p:txBody>
            <a:bodyPr wrap="none" lIns="0" tIns="0" rIns="0" bIns="0" anchor="t" anchorCtr="0">
              <a:spAutoFit/>
            </a:bodyPr>
            <a:lstStyle/>
            <a:p>
              <a:pPr algn="ctr"/>
              <a:r>
                <a:rPr lang="zh-CN" sz="820" dirty="0">
                  <a:solidFill>
                    <a:srgbClr val="E94B2B"/>
                  </a:solidFill>
                  <a:latin typeface="+mn-lt"/>
                  <a:ea typeface="+mn-ea"/>
                  <a:cs typeface="+mn-cs"/>
                </a:rPr>
                <a:t>美白霜</a:t>
              </a:r>
            </a:p>
          </p:txBody>
        </p:sp>
        <p:sp>
          <p:nvSpPr>
            <p:cNvPr id="128" name="TextBox 128"/>
            <p:cNvSpPr txBox="1"/>
            <p:nvPr/>
          </p:nvSpPr>
          <p:spPr>
            <a:xfrm>
              <a:off x="10094135" y="3787616"/>
              <a:ext cx="252379"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3500</a:t>
              </a:r>
            </a:p>
          </p:txBody>
        </p:sp>
        <p:sp>
          <p:nvSpPr>
            <p:cNvPr id="129" name="TextBox 129"/>
            <p:cNvSpPr txBox="1"/>
            <p:nvPr/>
          </p:nvSpPr>
          <p:spPr>
            <a:xfrm>
              <a:off x="10999010" y="3787616"/>
              <a:ext cx="252379"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6800</a:t>
              </a:r>
            </a:p>
          </p:txBody>
        </p:sp>
        <p:sp>
          <p:nvSpPr>
            <p:cNvPr id="130" name="TextBox 130"/>
            <p:cNvSpPr txBox="1"/>
            <p:nvPr/>
          </p:nvSpPr>
          <p:spPr>
            <a:xfrm>
              <a:off x="8628799" y="4168616"/>
              <a:ext cx="230302"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美妆</a:t>
              </a:r>
            </a:p>
          </p:txBody>
        </p:sp>
        <p:sp>
          <p:nvSpPr>
            <p:cNvPr id="131" name="TextBox 131"/>
            <p:cNvSpPr txBox="1"/>
            <p:nvPr/>
          </p:nvSpPr>
          <p:spPr>
            <a:xfrm>
              <a:off x="9240355" y="4168616"/>
              <a:ext cx="340690" cy="161925"/>
            </a:xfrm>
            <a:prstGeom prst="rect">
              <a:avLst/>
            </a:prstGeom>
            <a:noFill/>
            <a:ln>
              <a:noFill/>
            </a:ln>
          </p:spPr>
          <p:txBody>
            <a:bodyPr wrap="none" lIns="0" tIns="0" rIns="0" bIns="0" anchor="t" anchorCtr="0">
              <a:spAutoFit/>
            </a:bodyPr>
            <a:lstStyle/>
            <a:p>
              <a:pPr algn="ctr"/>
              <a:r>
                <a:rPr lang="zh-CN" sz="820" dirty="0">
                  <a:solidFill>
                    <a:srgbClr val="E94B2B"/>
                  </a:solidFill>
                  <a:latin typeface="+mn-lt"/>
                  <a:ea typeface="+mn-ea"/>
                  <a:cs typeface="+mn-cs"/>
                </a:rPr>
                <a:t>爽体粉</a:t>
              </a:r>
            </a:p>
          </p:txBody>
        </p:sp>
        <p:sp>
          <p:nvSpPr>
            <p:cNvPr id="132" name="TextBox 132"/>
            <p:cNvSpPr txBox="1"/>
            <p:nvPr/>
          </p:nvSpPr>
          <p:spPr>
            <a:xfrm>
              <a:off x="10094135" y="4168616"/>
              <a:ext cx="252379"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3000</a:t>
              </a:r>
            </a:p>
          </p:txBody>
        </p:sp>
        <p:sp>
          <p:nvSpPr>
            <p:cNvPr id="133" name="TextBox 133"/>
            <p:cNvSpPr txBox="1"/>
            <p:nvPr/>
          </p:nvSpPr>
          <p:spPr>
            <a:xfrm>
              <a:off x="10999010" y="4168616"/>
              <a:ext cx="252379" cy="161925"/>
            </a:xfrm>
            <a:prstGeom prst="rect">
              <a:avLst/>
            </a:prstGeom>
            <a:noFill/>
            <a:ln>
              <a:noFill/>
            </a:ln>
          </p:spPr>
          <p:txBody>
            <a:bodyPr wrap="none" lIns="0" tIns="0" rIns="0" bIns="0" anchor="t" anchorCtr="0">
              <a:spAutoFit/>
            </a:bodyPr>
            <a:lstStyle/>
            <a:p>
              <a:pPr algn="ctr"/>
              <a:r>
                <a:rPr lang="zh-CN" sz="820" dirty="0">
                  <a:solidFill>
                    <a:srgbClr val="684F4A"/>
                  </a:solidFill>
                  <a:latin typeface="+mn-lt"/>
                  <a:ea typeface="+mn-ea"/>
                  <a:cs typeface="+mn-cs"/>
                </a:rPr>
                <a:t>4800</a:t>
              </a:r>
            </a:p>
          </p:txBody>
        </p:sp>
        <p:sp>
          <p:nvSpPr>
            <p:cNvPr id="134" name="Line 134"/>
            <p:cNvSpPr/>
            <p:nvPr/>
          </p:nvSpPr>
          <p:spPr>
            <a:xfrm>
              <a:off x="8458200" y="3257550"/>
              <a:ext cx="3143250" cy="9525"/>
            </a:xfrm>
            <a:custGeom>
              <a:avLst/>
              <a:gdLst/>
              <a:ahLst/>
              <a:cxnLst/>
              <a:rect l="l" t="t" r="r" b="b"/>
              <a:pathLst>
                <a:path w="3143250" h="9525">
                  <a:moveTo>
                    <a:pt x="0" y="0"/>
                  </a:moveTo>
                  <a:lnTo>
                    <a:pt x="3143250" y="0"/>
                  </a:lnTo>
                </a:path>
              </a:pathLst>
            </a:custGeom>
            <a:noFill/>
            <a:ln w="9525">
              <a:solidFill>
                <a:srgbClr val="C9DDF5"/>
              </a:solidFill>
            </a:ln>
          </p:spPr>
        </p:sp>
        <p:sp>
          <p:nvSpPr>
            <p:cNvPr id="135" name="Line 135"/>
            <p:cNvSpPr/>
            <p:nvPr/>
          </p:nvSpPr>
          <p:spPr>
            <a:xfrm>
              <a:off x="8458200" y="3638550"/>
              <a:ext cx="3143250" cy="9525"/>
            </a:xfrm>
            <a:custGeom>
              <a:avLst/>
              <a:gdLst/>
              <a:ahLst/>
              <a:cxnLst/>
              <a:rect l="l" t="t" r="r" b="b"/>
              <a:pathLst>
                <a:path w="3143250" h="9525">
                  <a:moveTo>
                    <a:pt x="0" y="0"/>
                  </a:moveTo>
                  <a:lnTo>
                    <a:pt x="3143250" y="0"/>
                  </a:lnTo>
                </a:path>
              </a:pathLst>
            </a:custGeom>
            <a:noFill/>
            <a:ln w="9525">
              <a:solidFill>
                <a:srgbClr val="C9DDF5"/>
              </a:solidFill>
            </a:ln>
          </p:spPr>
        </p:sp>
        <p:sp>
          <p:nvSpPr>
            <p:cNvPr id="136" name="Line 136"/>
            <p:cNvSpPr/>
            <p:nvPr/>
          </p:nvSpPr>
          <p:spPr>
            <a:xfrm>
              <a:off x="8458200" y="4019550"/>
              <a:ext cx="3143250" cy="9525"/>
            </a:xfrm>
            <a:custGeom>
              <a:avLst/>
              <a:gdLst/>
              <a:ahLst/>
              <a:cxnLst/>
              <a:rect l="l" t="t" r="r" b="b"/>
              <a:pathLst>
                <a:path w="3143250" h="9525">
                  <a:moveTo>
                    <a:pt x="0" y="0"/>
                  </a:moveTo>
                  <a:lnTo>
                    <a:pt x="3143250" y="0"/>
                  </a:lnTo>
                </a:path>
              </a:pathLst>
            </a:custGeom>
            <a:noFill/>
            <a:ln w="9525">
              <a:solidFill>
                <a:srgbClr val="C9DDF5"/>
              </a:solidFill>
            </a:ln>
          </p:spPr>
        </p:sp>
        <p:sp>
          <p:nvSpPr>
            <p:cNvPr id="137" name="Line 137"/>
            <p:cNvSpPr/>
            <p:nvPr/>
          </p:nvSpPr>
          <p:spPr>
            <a:xfrm>
              <a:off x="8458200" y="4400550"/>
              <a:ext cx="3143250" cy="9525"/>
            </a:xfrm>
            <a:custGeom>
              <a:avLst/>
              <a:gdLst/>
              <a:ahLst/>
              <a:cxnLst/>
              <a:rect l="l" t="t" r="r" b="b"/>
              <a:pathLst>
                <a:path w="3143250" h="9525">
                  <a:moveTo>
                    <a:pt x="0" y="0"/>
                  </a:moveTo>
                  <a:lnTo>
                    <a:pt x="3143250" y="0"/>
                  </a:lnTo>
                </a:path>
              </a:pathLst>
            </a:custGeom>
            <a:noFill/>
            <a:ln w="9525">
              <a:solidFill>
                <a:srgbClr val="C9DDF5"/>
              </a:solidFill>
            </a:ln>
          </p:spPr>
        </p:sp>
        <p:sp>
          <p:nvSpPr>
            <p:cNvPr id="138" name="Line 138"/>
            <p:cNvSpPr/>
            <p:nvPr/>
          </p:nvSpPr>
          <p:spPr>
            <a:xfrm>
              <a:off x="9029700" y="2590800"/>
              <a:ext cx="9525" cy="1809750"/>
            </a:xfrm>
            <a:custGeom>
              <a:avLst/>
              <a:gdLst/>
              <a:ahLst/>
              <a:cxnLst/>
              <a:rect l="l" t="t" r="r" b="b"/>
              <a:pathLst>
                <a:path w="9525" h="1809750">
                  <a:moveTo>
                    <a:pt x="0" y="0"/>
                  </a:moveTo>
                  <a:lnTo>
                    <a:pt x="0" y="1809750"/>
                  </a:lnTo>
                </a:path>
              </a:pathLst>
            </a:custGeom>
            <a:noFill/>
            <a:ln w="9525">
              <a:solidFill>
                <a:srgbClr val="E4EEFB"/>
              </a:solidFill>
            </a:ln>
          </p:spPr>
        </p:sp>
        <p:sp>
          <p:nvSpPr>
            <p:cNvPr id="139" name="Line 139"/>
            <p:cNvSpPr/>
            <p:nvPr/>
          </p:nvSpPr>
          <p:spPr>
            <a:xfrm>
              <a:off x="9791700" y="2590800"/>
              <a:ext cx="9525" cy="1809750"/>
            </a:xfrm>
            <a:custGeom>
              <a:avLst/>
              <a:gdLst/>
              <a:ahLst/>
              <a:cxnLst/>
              <a:rect l="l" t="t" r="r" b="b"/>
              <a:pathLst>
                <a:path w="9525" h="1809750">
                  <a:moveTo>
                    <a:pt x="0" y="0"/>
                  </a:moveTo>
                  <a:lnTo>
                    <a:pt x="0" y="1809750"/>
                  </a:lnTo>
                </a:path>
              </a:pathLst>
            </a:custGeom>
            <a:noFill/>
            <a:ln w="9525">
              <a:solidFill>
                <a:srgbClr val="E4EEFB"/>
              </a:solidFill>
            </a:ln>
          </p:spPr>
        </p:sp>
        <p:sp>
          <p:nvSpPr>
            <p:cNvPr id="140" name="Line 140"/>
            <p:cNvSpPr/>
            <p:nvPr/>
          </p:nvSpPr>
          <p:spPr>
            <a:xfrm>
              <a:off x="10648950" y="2590800"/>
              <a:ext cx="9525" cy="1809750"/>
            </a:xfrm>
            <a:custGeom>
              <a:avLst/>
              <a:gdLst/>
              <a:ahLst/>
              <a:cxnLst/>
              <a:rect l="l" t="t" r="r" b="b"/>
              <a:pathLst>
                <a:path w="9525" h="1809750">
                  <a:moveTo>
                    <a:pt x="0" y="0"/>
                  </a:moveTo>
                  <a:lnTo>
                    <a:pt x="0" y="1809750"/>
                  </a:lnTo>
                </a:path>
              </a:pathLst>
            </a:custGeom>
            <a:noFill/>
            <a:ln w="9525">
              <a:solidFill>
                <a:srgbClr val="E4EEFB"/>
              </a:solidFill>
            </a:ln>
          </p:spPr>
        </p:sp>
      </p:grpSp>
      <p:grpSp>
        <p:nvGrpSpPr>
          <p:cNvPr id="151" name="m-conclusion"/>
          <p:cNvGrpSpPr/>
          <p:nvPr/>
        </p:nvGrpSpPr>
        <p:grpSpPr>
          <a:xfrm>
            <a:off x="571500" y="6229350"/>
            <a:ext cx="11087100" cy="411289"/>
            <a:chOff x="571500" y="6229350"/>
            <a:chExt cx="11087100" cy="411289"/>
          </a:xfrm>
        </p:grpSpPr>
        <p:sp>
          <p:nvSpPr>
            <p:cNvPr id="142" name="Rectangle 142"/>
            <p:cNvSpPr/>
            <p:nvPr/>
          </p:nvSpPr>
          <p:spPr>
            <a:xfrm>
              <a:off x="571500" y="6229350"/>
              <a:ext cx="11087100" cy="381000"/>
            </a:xfrm>
            <a:prstGeom prst="roundRect">
              <a:avLst>
                <a:gd name="adj" fmla="val 15000"/>
              </a:avLst>
            </a:prstGeom>
            <a:gradFill>
              <a:gsLst>
                <a:gs pos="0">
                  <a:srgbClr val="FF5B3A"/>
                </a:gs>
                <a:gs pos="100000">
                  <a:srgbClr val="C83B1E"/>
                </a:gs>
              </a:gsLst>
              <a:lin ang="0" scaled="1"/>
            </a:gradFill>
            <a:ln>
              <a:noFill/>
            </a:ln>
          </p:spPr>
        </p:sp>
        <p:sp>
          <p:nvSpPr>
            <p:cNvPr id="143" name="Ellipse 143"/>
            <p:cNvSpPr/>
            <p:nvPr/>
          </p:nvSpPr>
          <p:spPr>
            <a:xfrm>
              <a:off x="752475" y="6276975"/>
              <a:ext cx="285750" cy="285750"/>
            </a:xfrm>
            <a:prstGeom prst="ellipse">
              <a:avLst/>
            </a:prstGeom>
            <a:solidFill>
              <a:srgbClr val="FFFFFF"/>
            </a:solidFill>
            <a:ln>
              <a:noFill/>
            </a:ln>
          </p:spPr>
        </p:sp>
        <p:grpSp>
          <p:nvGrpSpPr>
            <p:cNvPr id="148" name="Group 148"/>
            <p:cNvGrpSpPr/>
            <p:nvPr/>
          </p:nvGrpSpPr>
          <p:grpSpPr>
            <a:xfrm>
              <a:off x="823912" y="6348412"/>
              <a:ext cx="142875" cy="142875"/>
              <a:chOff x="823912" y="6348412"/>
              <a:chExt cx="142875" cy="142875"/>
            </a:xfrm>
          </p:grpSpPr>
          <p:sp>
            <p:nvSpPr>
              <p:cNvPr id="144" name="Freeform 144"/>
              <p:cNvSpPr/>
              <p:nvPr/>
            </p:nvSpPr>
            <p:spPr>
              <a:xfrm>
                <a:off x="839787" y="63484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E94B2B"/>
                </a:solidFill>
              </a:ln>
            </p:spPr>
          </p:sp>
          <p:sp>
            <p:nvSpPr>
              <p:cNvPr id="145" name="Freeform 145"/>
              <p:cNvSpPr/>
              <p:nvPr/>
            </p:nvSpPr>
            <p:spPr>
              <a:xfrm>
                <a:off x="823912" y="64436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E94B2B"/>
                </a:solidFill>
              </a:ln>
            </p:spPr>
          </p:sp>
          <p:sp>
            <p:nvSpPr>
              <p:cNvPr id="146" name="Freeform 146"/>
              <p:cNvSpPr/>
              <p:nvPr/>
            </p:nvSpPr>
            <p:spPr>
              <a:xfrm>
                <a:off x="927100" y="63494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E94B2B"/>
                </a:solidFill>
              </a:ln>
            </p:spPr>
          </p:sp>
          <p:sp>
            <p:nvSpPr>
              <p:cNvPr id="147" name="Freeform 147"/>
              <p:cNvSpPr/>
              <p:nvPr/>
            </p:nvSpPr>
            <p:spPr>
              <a:xfrm>
                <a:off x="942975" y="64448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E94B2B"/>
                </a:solidFill>
              </a:ln>
            </p:spPr>
          </p:sp>
        </p:grpSp>
        <p:sp>
          <p:nvSpPr>
            <p:cNvPr id="149" name="TextBox 149"/>
            <p:cNvSpPr txBox="1"/>
            <p:nvPr/>
          </p:nvSpPr>
          <p:spPr>
            <a:xfrm>
              <a:off x="1138238" y="6300788"/>
              <a:ext cx="5500688" cy="309562"/>
            </a:xfrm>
            <a:prstGeom prst="rect">
              <a:avLst/>
            </a:prstGeom>
            <a:noFill/>
            <a:ln>
              <a:noFill/>
            </a:ln>
          </p:spPr>
          <p:txBody>
            <a:bodyPr wrap="none" lIns="0" tIns="0" rIns="0" bIns="0" anchor="t" anchorCtr="0">
              <a:spAutoFit/>
            </a:bodyPr>
            <a:lstStyle/>
            <a:p>
              <a:pPr algn="l">
                <a:lnSpc>
                  <a:spcPts val="1275"/>
                </a:lnSpc>
              </a:pPr>
              <a:r>
                <a:rPr lang="zh-CN" sz="750" dirty="0">
                  <a:solidFill>
                    <a:srgbClr val="FFFFFF"/>
                  </a:solidFill>
                  <a:latin typeface="+mn-lt"/>
                  <a:ea typeface="+mn-ea"/>
                  <a:cs typeface="+mn-cs"/>
                </a:rPr>
                <a:t>输入你的正文，文字是您思想的提炼，为了最终演示发布的良好效果，请尽量言简意赅的阐述观点；根据需要可酌情增减文字以​​​</a:t>
              </a:r>
              <a:br/>
              <a:r>
                <a:rPr lang="zh-CN" sz="750" dirty="0">
                  <a:solidFill>
                    <a:srgbClr val="FFFFFF"/>
                  </a:solidFill>
                  <a:latin typeface="+mn-lt"/>
                  <a:ea typeface="+mn-ea"/>
                  <a:cs typeface="+mn-cs"/>
                </a:rPr>
                <a:t>便观者可以准确理解您所传达的信息。单击此处输入你的正文，文字是你思想的提炼，为了最终演示发布的良好效果​​​</a:t>
              </a:r>
            </a:p>
          </p:txBody>
        </p:sp>
        <p:sp>
          <p:nvSpPr>
            <p:cNvPr id="150" name="TextBox 150"/>
            <p:cNvSpPr txBox="1"/>
            <p:nvPr/>
          </p:nvSpPr>
          <p:spPr>
            <a:xfrm>
              <a:off x="10567216" y="6317932"/>
              <a:ext cx="833066" cy="322707"/>
            </a:xfrm>
            <a:prstGeom prst="rect">
              <a:avLst/>
            </a:prstGeom>
            <a:noFill/>
            <a:ln>
              <a:noFill/>
            </a:ln>
          </p:spPr>
          <p:txBody>
            <a:bodyPr wrap="none" lIns="0" tIns="0" rIns="0" bIns="0" anchor="t" anchorCtr="0">
              <a:spAutoFit/>
            </a:bodyPr>
            <a:lstStyle/>
            <a:p>
              <a:pPr algn="r"/>
              <a:r>
                <a:rPr lang="zh-CN" sz="1650" b="1" dirty="0">
                  <a:solidFill>
                    <a:srgbClr val="FFFFFF"/>
                  </a:solidFill>
                  <a:latin typeface="+mn-lt"/>
                  <a:ea typeface="+mn-ea"/>
                  <a:cs typeface="+mn-cs"/>
                </a:rPr>
                <a:t>82.64%</a:t>
              </a:r>
            </a:p>
          </p:txBody>
        </p:sp>
      </p:gr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30</a:t>
              </a:r>
            </a:p>
          </p:txBody>
        </p:sp>
        <p:sp>
          <p:nvSpPr>
            <p:cNvPr id="4" name="TextBox 4"/>
            <p:cNvSpPr txBox="1"/>
            <p:nvPr/>
          </p:nvSpPr>
          <p:spPr>
            <a:xfrm>
              <a:off x="904494" y="180023"/>
              <a:ext cx="4063144"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用户生命周期运营分析-获客分析</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73" name="m-channel-table"/>
          <p:cNvGrpSpPr/>
          <p:nvPr/>
        </p:nvGrpSpPr>
        <p:grpSpPr>
          <a:xfrm>
            <a:off x="571500" y="838200"/>
            <a:ext cx="7658100" cy="2857500"/>
            <a:chOff x="571500" y="838200"/>
            <a:chExt cx="7658100" cy="2857500"/>
          </a:xfrm>
        </p:grpSpPr>
        <p:sp>
          <p:nvSpPr>
            <p:cNvPr id="7" name="Rectangle 7"/>
            <p:cNvSpPr/>
            <p:nvPr/>
          </p:nvSpPr>
          <p:spPr>
            <a:xfrm>
              <a:off x="571500" y="838200"/>
              <a:ext cx="7658100" cy="2857500"/>
            </a:xfrm>
            <a:prstGeom prst="rect">
              <a:avLst/>
            </a:prstGeom>
            <a:solidFill>
              <a:srgbClr val="FFFFFF"/>
            </a:solidFill>
            <a:ln w="11430">
              <a:solidFill>
                <a:srgbClr val="C9DDF5"/>
              </a:solidFill>
            </a:ln>
          </p:spPr>
        </p:sp>
        <p:sp>
          <p:nvSpPr>
            <p:cNvPr id="8" name="Rectangle 8"/>
            <p:cNvSpPr/>
            <p:nvPr/>
          </p:nvSpPr>
          <p:spPr>
            <a:xfrm>
              <a:off x="666750" y="933450"/>
              <a:ext cx="2762250" cy="247650"/>
            </a:xfrm>
            <a:prstGeom prst="rect">
              <a:avLst/>
            </a:prstGeom>
            <a:gradFill>
              <a:gsLst>
                <a:gs pos="0">
                  <a:srgbClr val="FF5B3A"/>
                </a:gs>
                <a:gs pos="100000">
                  <a:srgbClr val="E94B2B"/>
                </a:gs>
              </a:gsLst>
              <a:lin ang="0" scaled="1"/>
            </a:gradFill>
            <a:ln>
              <a:noFill/>
            </a:ln>
          </p:spPr>
        </p:sp>
        <p:sp>
          <p:nvSpPr>
            <p:cNvPr id="9" name="Polygon 9"/>
            <p:cNvSpPr/>
            <p:nvPr/>
          </p:nvSpPr>
          <p:spPr>
            <a:xfrm>
              <a:off x="3333750" y="9334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grpSp>
          <p:nvGrpSpPr>
            <p:cNvPr id="12" name="Group 12"/>
            <p:cNvGrpSpPr/>
            <p:nvPr/>
          </p:nvGrpSpPr>
          <p:grpSpPr>
            <a:xfrm>
              <a:off x="781050" y="990600"/>
              <a:ext cx="114300" cy="114300"/>
              <a:chOff x="781050" y="990600"/>
              <a:chExt cx="114300" cy="114300"/>
            </a:xfrm>
          </p:grpSpPr>
          <p:sp>
            <p:nvSpPr>
              <p:cNvPr id="10" name="Freeform 10"/>
              <p:cNvSpPr/>
              <p:nvPr/>
            </p:nvSpPr>
            <p:spPr>
              <a:xfrm>
                <a:off x="781050" y="99060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FFFFFF"/>
                </a:solidFill>
              </a:ln>
            </p:spPr>
          </p:sp>
          <p:sp>
            <p:nvSpPr>
              <p:cNvPr id="11" name="Freeform 11"/>
              <p:cNvSpPr/>
              <p:nvPr/>
            </p:nvSpPr>
            <p:spPr>
              <a:xfrm>
                <a:off x="857250" y="1066800"/>
                <a:ext cx="38100" cy="38100"/>
              </a:xfrm>
              <a:custGeom>
                <a:avLst/>
                <a:gdLst/>
                <a:ahLst/>
                <a:cxnLst/>
                <a:rect l="l" t="t" r="r" b="b"/>
                <a:pathLst>
                  <a:path w="38100" h="38100">
                    <a:moveTo>
                      <a:pt x="38100" y="38100"/>
                    </a:moveTo>
                    <a:lnTo>
                      <a:pt x="0" y="0"/>
                    </a:lnTo>
                  </a:path>
                </a:pathLst>
              </a:custGeom>
              <a:noFill/>
              <a:ln w="12700">
                <a:solidFill>
                  <a:srgbClr val="FFFFFF"/>
                </a:solidFill>
              </a:ln>
            </p:spPr>
          </p:sp>
        </p:grpSp>
        <p:sp>
          <p:nvSpPr>
            <p:cNvPr id="13" name="TextBox 13"/>
            <p:cNvSpPr txBox="1"/>
            <p:nvPr/>
          </p:nvSpPr>
          <p:spPr>
            <a:xfrm>
              <a:off x="966597" y="999649"/>
              <a:ext cx="106532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获客渠道指标明细</a:t>
              </a:r>
            </a:p>
          </p:txBody>
        </p:sp>
        <p:sp>
          <p:nvSpPr>
            <p:cNvPr id="14" name="Rectangle 14"/>
            <p:cNvSpPr/>
            <p:nvPr/>
          </p:nvSpPr>
          <p:spPr>
            <a:xfrm>
              <a:off x="704850" y="1333500"/>
              <a:ext cx="7372350" cy="266700"/>
            </a:xfrm>
            <a:prstGeom prst="rect">
              <a:avLst/>
            </a:prstGeom>
            <a:solidFill>
              <a:srgbClr val="EAF2FC"/>
            </a:solidFill>
            <a:ln>
              <a:noFill/>
            </a:ln>
          </p:spPr>
        </p:sp>
        <p:sp>
          <p:nvSpPr>
            <p:cNvPr id="15" name="TextBox 15"/>
            <p:cNvSpPr txBox="1"/>
            <p:nvPr/>
          </p:nvSpPr>
          <p:spPr>
            <a:xfrm>
              <a:off x="906488" y="1429464"/>
              <a:ext cx="434924" cy="154781"/>
            </a:xfrm>
            <a:prstGeom prst="rect">
              <a:avLst/>
            </a:prstGeom>
            <a:noFill/>
            <a:ln>
              <a:noFill/>
            </a:ln>
          </p:spPr>
          <p:txBody>
            <a:bodyPr wrap="none" lIns="0" tIns="0" rIns="0" bIns="0" anchor="t" anchorCtr="0">
              <a:spAutoFit/>
            </a:bodyPr>
            <a:lstStyle/>
            <a:p>
              <a:pPr algn="ctr"/>
              <a:r>
                <a:rPr lang="zh-CN" sz="790" b="1" dirty="0">
                  <a:solidFill>
                    <a:srgbClr val="E94B2B"/>
                  </a:solidFill>
                  <a:latin typeface="+mn-lt"/>
                  <a:ea typeface="+mn-ea"/>
                  <a:cs typeface="+mn-cs"/>
                </a:rPr>
                <a:t>渠道类型</a:t>
              </a:r>
            </a:p>
          </p:txBody>
        </p:sp>
        <p:sp>
          <p:nvSpPr>
            <p:cNvPr id="16" name="TextBox 16"/>
            <p:cNvSpPr txBox="1"/>
            <p:nvPr/>
          </p:nvSpPr>
          <p:spPr>
            <a:xfrm>
              <a:off x="1906613" y="1429464"/>
              <a:ext cx="434924" cy="154781"/>
            </a:xfrm>
            <a:prstGeom prst="rect">
              <a:avLst/>
            </a:prstGeom>
            <a:noFill/>
            <a:ln>
              <a:noFill/>
            </a:ln>
          </p:spPr>
          <p:txBody>
            <a:bodyPr wrap="none" lIns="0" tIns="0" rIns="0" bIns="0" anchor="t" anchorCtr="0">
              <a:spAutoFit/>
            </a:bodyPr>
            <a:lstStyle/>
            <a:p>
              <a:pPr algn="ctr"/>
              <a:r>
                <a:rPr lang="zh-CN" sz="790" b="1" dirty="0">
                  <a:solidFill>
                    <a:srgbClr val="E94B2B"/>
                  </a:solidFill>
                  <a:latin typeface="+mn-lt"/>
                  <a:ea typeface="+mn-ea"/>
                  <a:cs typeface="+mn-cs"/>
                </a:rPr>
                <a:t>推广渠道</a:t>
              </a:r>
            </a:p>
          </p:txBody>
        </p:sp>
        <p:sp>
          <p:nvSpPr>
            <p:cNvPr id="17" name="TextBox 17"/>
            <p:cNvSpPr txBox="1"/>
            <p:nvPr/>
          </p:nvSpPr>
          <p:spPr>
            <a:xfrm>
              <a:off x="2902763" y="1429464"/>
              <a:ext cx="328574" cy="154781"/>
            </a:xfrm>
            <a:prstGeom prst="rect">
              <a:avLst/>
            </a:prstGeom>
            <a:noFill/>
            <a:ln>
              <a:noFill/>
            </a:ln>
          </p:spPr>
          <p:txBody>
            <a:bodyPr wrap="none" lIns="0" tIns="0" rIns="0" bIns="0" anchor="t" anchorCtr="0">
              <a:spAutoFit/>
            </a:bodyPr>
            <a:lstStyle/>
            <a:p>
              <a:pPr algn="ctr"/>
              <a:r>
                <a:rPr lang="zh-CN" sz="790" b="1" dirty="0">
                  <a:solidFill>
                    <a:srgbClr val="E94B2B"/>
                  </a:solidFill>
                  <a:latin typeface="+mn-lt"/>
                  <a:ea typeface="+mn-ea"/>
                  <a:cs typeface="+mn-cs"/>
                </a:rPr>
                <a:t>获客数</a:t>
              </a:r>
            </a:p>
          </p:txBody>
        </p:sp>
        <p:sp>
          <p:nvSpPr>
            <p:cNvPr id="18" name="TextBox 18"/>
            <p:cNvSpPr txBox="1"/>
            <p:nvPr/>
          </p:nvSpPr>
          <p:spPr>
            <a:xfrm>
              <a:off x="3630638" y="1429464"/>
              <a:ext cx="434924" cy="154781"/>
            </a:xfrm>
            <a:prstGeom prst="rect">
              <a:avLst/>
            </a:prstGeom>
            <a:noFill/>
            <a:ln>
              <a:noFill/>
            </a:ln>
          </p:spPr>
          <p:txBody>
            <a:bodyPr wrap="none" lIns="0" tIns="0" rIns="0" bIns="0" anchor="t" anchorCtr="0">
              <a:spAutoFit/>
            </a:bodyPr>
            <a:lstStyle/>
            <a:p>
              <a:pPr algn="ctr"/>
              <a:r>
                <a:rPr lang="zh-CN" sz="790" b="1" dirty="0">
                  <a:solidFill>
                    <a:srgbClr val="E94B2B"/>
                  </a:solidFill>
                  <a:latin typeface="+mn-lt"/>
                  <a:ea typeface="+mn-ea"/>
                  <a:cs typeface="+mn-cs"/>
                </a:rPr>
                <a:t>浏览时间</a:t>
              </a:r>
            </a:p>
          </p:txBody>
        </p:sp>
        <p:sp>
          <p:nvSpPr>
            <p:cNvPr id="19" name="TextBox 19"/>
            <p:cNvSpPr txBox="1"/>
            <p:nvPr/>
          </p:nvSpPr>
          <p:spPr>
            <a:xfrm>
              <a:off x="4472813" y="1429464"/>
              <a:ext cx="541274" cy="154781"/>
            </a:xfrm>
            <a:prstGeom prst="rect">
              <a:avLst/>
            </a:prstGeom>
            <a:noFill/>
            <a:ln>
              <a:noFill/>
            </a:ln>
          </p:spPr>
          <p:txBody>
            <a:bodyPr wrap="none" lIns="0" tIns="0" rIns="0" bIns="0" anchor="t" anchorCtr="0">
              <a:spAutoFit/>
            </a:bodyPr>
            <a:lstStyle/>
            <a:p>
              <a:pPr algn="ctr"/>
              <a:r>
                <a:rPr lang="zh-CN" sz="790" b="1" dirty="0">
                  <a:solidFill>
                    <a:srgbClr val="E94B2B"/>
                  </a:solidFill>
                  <a:latin typeface="+mn-lt"/>
                  <a:ea typeface="+mn-ea"/>
                  <a:cs typeface="+mn-cs"/>
                </a:rPr>
                <a:t>次日留存率</a:t>
              </a:r>
            </a:p>
          </p:txBody>
        </p:sp>
        <p:sp>
          <p:nvSpPr>
            <p:cNvPr id="20" name="TextBox 20"/>
            <p:cNvSpPr txBox="1"/>
            <p:nvPr/>
          </p:nvSpPr>
          <p:spPr>
            <a:xfrm>
              <a:off x="5425313" y="1429464"/>
              <a:ext cx="541274" cy="154781"/>
            </a:xfrm>
            <a:prstGeom prst="rect">
              <a:avLst/>
            </a:prstGeom>
            <a:noFill/>
            <a:ln>
              <a:noFill/>
            </a:ln>
          </p:spPr>
          <p:txBody>
            <a:bodyPr wrap="none" lIns="0" tIns="0" rIns="0" bIns="0" anchor="t" anchorCtr="0">
              <a:spAutoFit/>
            </a:bodyPr>
            <a:lstStyle/>
            <a:p>
              <a:pPr algn="ctr"/>
              <a:r>
                <a:rPr lang="zh-CN" sz="790" b="1" dirty="0">
                  <a:solidFill>
                    <a:srgbClr val="E94B2B"/>
                  </a:solidFill>
                  <a:latin typeface="+mn-lt"/>
                  <a:ea typeface="+mn-ea"/>
                  <a:cs typeface="+mn-cs"/>
                </a:rPr>
                <a:t>一周留存率</a:t>
              </a:r>
            </a:p>
          </p:txBody>
        </p:sp>
        <p:sp>
          <p:nvSpPr>
            <p:cNvPr id="21" name="TextBox 21"/>
            <p:cNvSpPr txBox="1"/>
            <p:nvPr/>
          </p:nvSpPr>
          <p:spPr>
            <a:xfrm>
              <a:off x="6377813" y="1429464"/>
              <a:ext cx="541274" cy="154781"/>
            </a:xfrm>
            <a:prstGeom prst="rect">
              <a:avLst/>
            </a:prstGeom>
            <a:noFill/>
            <a:ln>
              <a:noFill/>
            </a:ln>
          </p:spPr>
          <p:txBody>
            <a:bodyPr wrap="none" lIns="0" tIns="0" rIns="0" bIns="0" anchor="t" anchorCtr="0">
              <a:spAutoFit/>
            </a:bodyPr>
            <a:lstStyle/>
            <a:p>
              <a:pPr algn="ctr"/>
              <a:r>
                <a:rPr lang="zh-CN" sz="790" b="1" dirty="0">
                  <a:solidFill>
                    <a:srgbClr val="E94B2B"/>
                  </a:solidFill>
                  <a:latin typeface="+mn-lt"/>
                  <a:ea typeface="+mn-ea"/>
                  <a:cs typeface="+mn-cs"/>
                </a:rPr>
                <a:t>两周留存率</a:t>
              </a:r>
            </a:p>
          </p:txBody>
        </p:sp>
        <p:sp>
          <p:nvSpPr>
            <p:cNvPr id="22" name="TextBox 22"/>
            <p:cNvSpPr txBox="1"/>
            <p:nvPr/>
          </p:nvSpPr>
          <p:spPr>
            <a:xfrm>
              <a:off x="7322071" y="1429464"/>
              <a:ext cx="557758" cy="154781"/>
            </a:xfrm>
            <a:prstGeom prst="rect">
              <a:avLst/>
            </a:prstGeom>
            <a:noFill/>
            <a:ln>
              <a:noFill/>
            </a:ln>
          </p:spPr>
          <p:txBody>
            <a:bodyPr wrap="none" lIns="0" tIns="0" rIns="0" bIns="0" anchor="t" anchorCtr="0">
              <a:spAutoFit/>
            </a:bodyPr>
            <a:lstStyle/>
            <a:p>
              <a:pPr algn="ctr"/>
              <a:r>
                <a:rPr lang="zh-CN" sz="790" b="1" dirty="0">
                  <a:solidFill>
                    <a:srgbClr val="E94B2B"/>
                  </a:solidFill>
                  <a:latin typeface="+mn-lt"/>
                  <a:ea typeface="+mn-ea"/>
                  <a:cs typeface="+mn-cs"/>
                </a:rPr>
                <a:t>30天留存率</a:t>
              </a:r>
            </a:p>
          </p:txBody>
        </p:sp>
        <p:sp>
          <p:nvSpPr>
            <p:cNvPr id="23" name="Line 23"/>
            <p:cNvSpPr/>
            <p:nvPr/>
          </p:nvSpPr>
          <p:spPr>
            <a:xfrm>
              <a:off x="704850" y="1600200"/>
              <a:ext cx="7372350" cy="9525"/>
            </a:xfrm>
            <a:custGeom>
              <a:avLst/>
              <a:gdLst/>
              <a:ahLst/>
              <a:cxnLst/>
              <a:rect l="l" t="t" r="r" b="b"/>
              <a:pathLst>
                <a:path w="7372350" h="9525">
                  <a:moveTo>
                    <a:pt x="0" y="0"/>
                  </a:moveTo>
                  <a:lnTo>
                    <a:pt x="7372350" y="0"/>
                  </a:lnTo>
                </a:path>
              </a:pathLst>
            </a:custGeom>
            <a:noFill/>
            <a:ln w="9525">
              <a:solidFill>
                <a:srgbClr val="C9DDF5"/>
              </a:solidFill>
            </a:ln>
          </p:spPr>
        </p:sp>
        <p:sp>
          <p:nvSpPr>
            <p:cNvPr id="24" name="TextBox 24"/>
            <p:cNvSpPr txBox="1"/>
            <p:nvPr/>
          </p:nvSpPr>
          <p:spPr>
            <a:xfrm>
              <a:off x="917258" y="17097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线上渠道</a:t>
              </a:r>
            </a:p>
          </p:txBody>
        </p:sp>
        <p:sp>
          <p:nvSpPr>
            <p:cNvPr id="25" name="TextBox 25"/>
            <p:cNvSpPr txBox="1"/>
            <p:nvPr/>
          </p:nvSpPr>
          <p:spPr>
            <a:xfrm>
              <a:off x="1816418" y="1709738"/>
              <a:ext cx="61531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基础线上工作</a:t>
              </a:r>
            </a:p>
          </p:txBody>
        </p:sp>
        <p:sp>
          <p:nvSpPr>
            <p:cNvPr id="26" name="TextBox 26"/>
            <p:cNvSpPr txBox="1"/>
            <p:nvPr/>
          </p:nvSpPr>
          <p:spPr>
            <a:xfrm>
              <a:off x="2951226" y="1709738"/>
              <a:ext cx="231648"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1569</a:t>
              </a:r>
            </a:p>
          </p:txBody>
        </p:sp>
        <p:sp>
          <p:nvSpPr>
            <p:cNvPr id="27" name="TextBox 27"/>
            <p:cNvSpPr txBox="1"/>
            <p:nvPr/>
          </p:nvSpPr>
          <p:spPr>
            <a:xfrm>
              <a:off x="3704511" y="1709738"/>
              <a:ext cx="287179"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300.1</a:t>
              </a:r>
            </a:p>
          </p:txBody>
        </p:sp>
        <p:sp>
          <p:nvSpPr>
            <p:cNvPr id="28" name="TextBox 28"/>
            <p:cNvSpPr txBox="1"/>
            <p:nvPr/>
          </p:nvSpPr>
          <p:spPr>
            <a:xfrm>
              <a:off x="4561999" y="17097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21.26%</a:t>
              </a:r>
            </a:p>
          </p:txBody>
        </p:sp>
        <p:sp>
          <p:nvSpPr>
            <p:cNvPr id="29" name="TextBox 29"/>
            <p:cNvSpPr txBox="1"/>
            <p:nvPr/>
          </p:nvSpPr>
          <p:spPr>
            <a:xfrm>
              <a:off x="5514499" y="17097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30.06%</a:t>
              </a:r>
            </a:p>
          </p:txBody>
        </p:sp>
        <p:sp>
          <p:nvSpPr>
            <p:cNvPr id="30" name="TextBox 30"/>
            <p:cNvSpPr txBox="1"/>
            <p:nvPr/>
          </p:nvSpPr>
          <p:spPr>
            <a:xfrm>
              <a:off x="6466999" y="17097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12.00%</a:t>
              </a:r>
            </a:p>
          </p:txBody>
        </p:sp>
        <p:sp>
          <p:nvSpPr>
            <p:cNvPr id="31" name="TextBox 31"/>
            <p:cNvSpPr txBox="1"/>
            <p:nvPr/>
          </p:nvSpPr>
          <p:spPr>
            <a:xfrm>
              <a:off x="7419499" y="17097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13.45%</a:t>
              </a:r>
            </a:p>
          </p:txBody>
        </p:sp>
        <p:sp>
          <p:nvSpPr>
            <p:cNvPr id="32" name="TextBox 32"/>
            <p:cNvSpPr txBox="1"/>
            <p:nvPr/>
          </p:nvSpPr>
          <p:spPr>
            <a:xfrm>
              <a:off x="1816418" y="2014538"/>
              <a:ext cx="61531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手机厂商预装</a:t>
              </a:r>
            </a:p>
          </p:txBody>
        </p:sp>
        <p:sp>
          <p:nvSpPr>
            <p:cNvPr id="33" name="TextBox 33"/>
            <p:cNvSpPr txBox="1"/>
            <p:nvPr/>
          </p:nvSpPr>
          <p:spPr>
            <a:xfrm>
              <a:off x="2951226" y="2014538"/>
              <a:ext cx="231648"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1571</a:t>
              </a:r>
            </a:p>
          </p:txBody>
        </p:sp>
        <p:sp>
          <p:nvSpPr>
            <p:cNvPr id="34" name="TextBox 34"/>
            <p:cNvSpPr txBox="1"/>
            <p:nvPr/>
          </p:nvSpPr>
          <p:spPr>
            <a:xfrm>
              <a:off x="3704511" y="2014538"/>
              <a:ext cx="287179"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103.5</a:t>
              </a:r>
            </a:p>
          </p:txBody>
        </p:sp>
        <p:sp>
          <p:nvSpPr>
            <p:cNvPr id="35" name="TextBox 35"/>
            <p:cNvSpPr txBox="1"/>
            <p:nvPr/>
          </p:nvSpPr>
          <p:spPr>
            <a:xfrm>
              <a:off x="4561999" y="20145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19.99%</a:t>
              </a:r>
            </a:p>
          </p:txBody>
        </p:sp>
        <p:sp>
          <p:nvSpPr>
            <p:cNvPr id="36" name="TextBox 36"/>
            <p:cNvSpPr txBox="1"/>
            <p:nvPr/>
          </p:nvSpPr>
          <p:spPr>
            <a:xfrm>
              <a:off x="5514499" y="20145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30.17%</a:t>
              </a:r>
            </a:p>
          </p:txBody>
        </p:sp>
        <p:sp>
          <p:nvSpPr>
            <p:cNvPr id="37" name="TextBox 37"/>
            <p:cNvSpPr txBox="1"/>
            <p:nvPr/>
          </p:nvSpPr>
          <p:spPr>
            <a:xfrm>
              <a:off x="6466999" y="20145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10.31%</a:t>
              </a:r>
            </a:p>
          </p:txBody>
        </p:sp>
        <p:sp>
          <p:nvSpPr>
            <p:cNvPr id="38" name="TextBox 38"/>
            <p:cNvSpPr txBox="1"/>
            <p:nvPr/>
          </p:nvSpPr>
          <p:spPr>
            <a:xfrm>
              <a:off x="7419499" y="20145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13.05%</a:t>
              </a:r>
            </a:p>
          </p:txBody>
        </p:sp>
        <p:sp>
          <p:nvSpPr>
            <p:cNvPr id="39" name="Rectangle 39"/>
            <p:cNvSpPr/>
            <p:nvPr/>
          </p:nvSpPr>
          <p:spPr>
            <a:xfrm>
              <a:off x="704850" y="2209800"/>
              <a:ext cx="7372350" cy="304800"/>
            </a:xfrm>
            <a:prstGeom prst="roundRect">
              <a:avLst>
                <a:gd name="adj" fmla="val 9375"/>
              </a:avLst>
            </a:prstGeom>
            <a:gradFill>
              <a:gsLst>
                <a:gs pos="0">
                  <a:srgbClr val="FF5B3A"/>
                </a:gs>
                <a:gs pos="100000">
                  <a:srgbClr val="C83B1E"/>
                </a:gs>
              </a:gsLst>
              <a:lin ang="0" scaled="1"/>
            </a:gradFill>
            <a:ln>
              <a:noFill/>
            </a:ln>
          </p:spPr>
        </p:sp>
        <p:sp>
          <p:nvSpPr>
            <p:cNvPr id="40" name="TextBox 40"/>
            <p:cNvSpPr txBox="1"/>
            <p:nvPr/>
          </p:nvSpPr>
          <p:spPr>
            <a:xfrm>
              <a:off x="2018348" y="23193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小计</a:t>
              </a:r>
            </a:p>
          </p:txBody>
        </p:sp>
        <p:sp>
          <p:nvSpPr>
            <p:cNvPr id="41" name="TextBox 41"/>
            <p:cNvSpPr txBox="1"/>
            <p:nvPr/>
          </p:nvSpPr>
          <p:spPr>
            <a:xfrm>
              <a:off x="2945673" y="2319338"/>
              <a:ext cx="242754"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2580</a:t>
              </a:r>
            </a:p>
          </p:txBody>
        </p:sp>
        <p:sp>
          <p:nvSpPr>
            <p:cNvPr id="42" name="TextBox 42"/>
            <p:cNvSpPr txBox="1"/>
            <p:nvPr/>
          </p:nvSpPr>
          <p:spPr>
            <a:xfrm>
              <a:off x="3697569" y="2319338"/>
              <a:ext cx="30106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201.9</a:t>
              </a:r>
            </a:p>
          </p:txBody>
        </p:sp>
        <p:sp>
          <p:nvSpPr>
            <p:cNvPr id="43" name="TextBox 43"/>
            <p:cNvSpPr txBox="1"/>
            <p:nvPr/>
          </p:nvSpPr>
          <p:spPr>
            <a:xfrm>
              <a:off x="4553164" y="2319338"/>
              <a:ext cx="38057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28.42%</a:t>
              </a:r>
            </a:p>
          </p:txBody>
        </p:sp>
        <p:sp>
          <p:nvSpPr>
            <p:cNvPr id="44" name="TextBox 44"/>
            <p:cNvSpPr txBox="1"/>
            <p:nvPr/>
          </p:nvSpPr>
          <p:spPr>
            <a:xfrm>
              <a:off x="5505664" y="2319338"/>
              <a:ext cx="38057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32.97%</a:t>
              </a:r>
            </a:p>
          </p:txBody>
        </p:sp>
        <p:sp>
          <p:nvSpPr>
            <p:cNvPr id="45" name="TextBox 45"/>
            <p:cNvSpPr txBox="1"/>
            <p:nvPr/>
          </p:nvSpPr>
          <p:spPr>
            <a:xfrm>
              <a:off x="6458164" y="2319338"/>
              <a:ext cx="38057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11.95%</a:t>
              </a:r>
            </a:p>
          </p:txBody>
        </p:sp>
        <p:sp>
          <p:nvSpPr>
            <p:cNvPr id="46" name="TextBox 46"/>
            <p:cNvSpPr txBox="1"/>
            <p:nvPr/>
          </p:nvSpPr>
          <p:spPr>
            <a:xfrm>
              <a:off x="7410664" y="2319338"/>
              <a:ext cx="38057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14.08%</a:t>
              </a:r>
            </a:p>
          </p:txBody>
        </p:sp>
        <p:sp>
          <p:nvSpPr>
            <p:cNvPr id="47" name="TextBox 47"/>
            <p:cNvSpPr txBox="1"/>
            <p:nvPr/>
          </p:nvSpPr>
          <p:spPr>
            <a:xfrm>
              <a:off x="917258" y="2624138"/>
              <a:ext cx="41338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线下渠道</a:t>
              </a:r>
            </a:p>
          </p:txBody>
        </p:sp>
        <p:sp>
          <p:nvSpPr>
            <p:cNvPr id="48" name="TextBox 48"/>
            <p:cNvSpPr txBox="1"/>
            <p:nvPr/>
          </p:nvSpPr>
          <p:spPr>
            <a:xfrm>
              <a:off x="1866900" y="2624138"/>
              <a:ext cx="514350"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新媒体推广</a:t>
              </a:r>
            </a:p>
          </p:txBody>
        </p:sp>
        <p:sp>
          <p:nvSpPr>
            <p:cNvPr id="49" name="TextBox 49"/>
            <p:cNvSpPr txBox="1"/>
            <p:nvPr/>
          </p:nvSpPr>
          <p:spPr>
            <a:xfrm>
              <a:off x="2951226" y="2624138"/>
              <a:ext cx="231648"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2508</a:t>
              </a:r>
            </a:p>
          </p:txBody>
        </p:sp>
        <p:sp>
          <p:nvSpPr>
            <p:cNvPr id="50" name="TextBox 50"/>
            <p:cNvSpPr txBox="1"/>
            <p:nvPr/>
          </p:nvSpPr>
          <p:spPr>
            <a:xfrm>
              <a:off x="3704511" y="2624138"/>
              <a:ext cx="287179"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274.6</a:t>
              </a:r>
            </a:p>
          </p:txBody>
        </p:sp>
        <p:sp>
          <p:nvSpPr>
            <p:cNvPr id="51" name="TextBox 51"/>
            <p:cNvSpPr txBox="1"/>
            <p:nvPr/>
          </p:nvSpPr>
          <p:spPr>
            <a:xfrm>
              <a:off x="4561999" y="26241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21.37%</a:t>
              </a:r>
            </a:p>
          </p:txBody>
        </p:sp>
        <p:sp>
          <p:nvSpPr>
            <p:cNvPr id="52" name="TextBox 52"/>
            <p:cNvSpPr txBox="1"/>
            <p:nvPr/>
          </p:nvSpPr>
          <p:spPr>
            <a:xfrm>
              <a:off x="5514499" y="26241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31.42%</a:t>
              </a:r>
            </a:p>
          </p:txBody>
        </p:sp>
        <p:sp>
          <p:nvSpPr>
            <p:cNvPr id="53" name="TextBox 53"/>
            <p:cNvSpPr txBox="1"/>
            <p:nvPr/>
          </p:nvSpPr>
          <p:spPr>
            <a:xfrm>
              <a:off x="6466999" y="26241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12.66%</a:t>
              </a:r>
            </a:p>
          </p:txBody>
        </p:sp>
        <p:sp>
          <p:nvSpPr>
            <p:cNvPr id="54" name="TextBox 54"/>
            <p:cNvSpPr txBox="1"/>
            <p:nvPr/>
          </p:nvSpPr>
          <p:spPr>
            <a:xfrm>
              <a:off x="7419499" y="26241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14.67%</a:t>
              </a:r>
            </a:p>
          </p:txBody>
        </p:sp>
        <p:sp>
          <p:nvSpPr>
            <p:cNvPr id="55" name="TextBox 55"/>
            <p:cNvSpPr txBox="1"/>
            <p:nvPr/>
          </p:nvSpPr>
          <p:spPr>
            <a:xfrm>
              <a:off x="1816418" y="2928938"/>
              <a:ext cx="615315"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线下活动推广</a:t>
              </a:r>
            </a:p>
          </p:txBody>
        </p:sp>
        <p:sp>
          <p:nvSpPr>
            <p:cNvPr id="56" name="TextBox 56"/>
            <p:cNvSpPr txBox="1"/>
            <p:nvPr/>
          </p:nvSpPr>
          <p:spPr>
            <a:xfrm>
              <a:off x="2951226" y="2928938"/>
              <a:ext cx="231648"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3682</a:t>
              </a:r>
            </a:p>
          </p:txBody>
        </p:sp>
        <p:sp>
          <p:nvSpPr>
            <p:cNvPr id="57" name="TextBox 57"/>
            <p:cNvSpPr txBox="1"/>
            <p:nvPr/>
          </p:nvSpPr>
          <p:spPr>
            <a:xfrm>
              <a:off x="3704511" y="2928938"/>
              <a:ext cx="287179"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400.4</a:t>
              </a:r>
            </a:p>
          </p:txBody>
        </p:sp>
        <p:sp>
          <p:nvSpPr>
            <p:cNvPr id="58" name="TextBox 58"/>
            <p:cNvSpPr txBox="1"/>
            <p:nvPr/>
          </p:nvSpPr>
          <p:spPr>
            <a:xfrm>
              <a:off x="4561999" y="29289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25.50%</a:t>
              </a:r>
            </a:p>
          </p:txBody>
        </p:sp>
        <p:sp>
          <p:nvSpPr>
            <p:cNvPr id="59" name="TextBox 59"/>
            <p:cNvSpPr txBox="1"/>
            <p:nvPr/>
          </p:nvSpPr>
          <p:spPr>
            <a:xfrm>
              <a:off x="5514499" y="29289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34.28%</a:t>
              </a:r>
            </a:p>
          </p:txBody>
        </p:sp>
        <p:sp>
          <p:nvSpPr>
            <p:cNvPr id="60" name="TextBox 60"/>
            <p:cNvSpPr txBox="1"/>
            <p:nvPr/>
          </p:nvSpPr>
          <p:spPr>
            <a:xfrm>
              <a:off x="6466999" y="29289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13.66%</a:t>
              </a:r>
            </a:p>
          </p:txBody>
        </p:sp>
        <p:sp>
          <p:nvSpPr>
            <p:cNvPr id="61" name="TextBox 61"/>
            <p:cNvSpPr txBox="1"/>
            <p:nvPr/>
          </p:nvSpPr>
          <p:spPr>
            <a:xfrm>
              <a:off x="7419499" y="2928938"/>
              <a:ext cx="362902" cy="147638"/>
            </a:xfrm>
            <a:prstGeom prst="rect">
              <a:avLst/>
            </a:prstGeom>
            <a:noFill/>
            <a:ln>
              <a:noFill/>
            </a:ln>
          </p:spPr>
          <p:txBody>
            <a:bodyPr wrap="none" lIns="0" tIns="0" rIns="0" bIns="0" anchor="t" anchorCtr="0">
              <a:spAutoFit/>
            </a:bodyPr>
            <a:lstStyle/>
            <a:p>
              <a:pPr algn="ctr"/>
              <a:r>
                <a:rPr lang="zh-CN" sz="750" dirty="0">
                  <a:solidFill>
                    <a:srgbClr val="684F4A"/>
                  </a:solidFill>
                  <a:latin typeface="+mn-lt"/>
                  <a:ea typeface="+mn-ea"/>
                  <a:cs typeface="+mn-cs"/>
                </a:rPr>
                <a:t>14.53%</a:t>
              </a:r>
            </a:p>
          </p:txBody>
        </p:sp>
        <p:sp>
          <p:nvSpPr>
            <p:cNvPr id="62" name="Rectangle 62"/>
            <p:cNvSpPr/>
            <p:nvPr/>
          </p:nvSpPr>
          <p:spPr>
            <a:xfrm>
              <a:off x="704850" y="3124200"/>
              <a:ext cx="7372350" cy="304800"/>
            </a:xfrm>
            <a:prstGeom prst="roundRect">
              <a:avLst>
                <a:gd name="adj" fmla="val 9375"/>
              </a:avLst>
            </a:prstGeom>
            <a:gradFill>
              <a:gsLst>
                <a:gs pos="0">
                  <a:srgbClr val="FF5B3A"/>
                </a:gs>
                <a:gs pos="100000">
                  <a:srgbClr val="C83B1E"/>
                </a:gs>
              </a:gsLst>
              <a:lin ang="0" scaled="1"/>
            </a:gradFill>
            <a:ln>
              <a:noFill/>
            </a:ln>
          </p:spPr>
        </p:sp>
        <p:sp>
          <p:nvSpPr>
            <p:cNvPr id="63" name="TextBox 63"/>
            <p:cNvSpPr txBox="1"/>
            <p:nvPr/>
          </p:nvSpPr>
          <p:spPr>
            <a:xfrm>
              <a:off x="2018348" y="32337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小计</a:t>
              </a:r>
            </a:p>
          </p:txBody>
        </p:sp>
        <p:sp>
          <p:nvSpPr>
            <p:cNvPr id="64" name="TextBox 64"/>
            <p:cNvSpPr txBox="1"/>
            <p:nvPr/>
          </p:nvSpPr>
          <p:spPr>
            <a:xfrm>
              <a:off x="2945673" y="3233738"/>
              <a:ext cx="242754"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4731</a:t>
              </a:r>
            </a:p>
          </p:txBody>
        </p:sp>
        <p:sp>
          <p:nvSpPr>
            <p:cNvPr id="65" name="TextBox 65"/>
            <p:cNvSpPr txBox="1"/>
            <p:nvPr/>
          </p:nvSpPr>
          <p:spPr>
            <a:xfrm>
              <a:off x="3697569" y="3233738"/>
              <a:ext cx="30106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359.2</a:t>
              </a:r>
            </a:p>
          </p:txBody>
        </p:sp>
        <p:sp>
          <p:nvSpPr>
            <p:cNvPr id="66" name="TextBox 66"/>
            <p:cNvSpPr txBox="1"/>
            <p:nvPr/>
          </p:nvSpPr>
          <p:spPr>
            <a:xfrm>
              <a:off x="4553164" y="3233738"/>
              <a:ext cx="38057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26.74%</a:t>
              </a:r>
            </a:p>
          </p:txBody>
        </p:sp>
        <p:sp>
          <p:nvSpPr>
            <p:cNvPr id="67" name="TextBox 67"/>
            <p:cNvSpPr txBox="1"/>
            <p:nvPr/>
          </p:nvSpPr>
          <p:spPr>
            <a:xfrm>
              <a:off x="5505664" y="3233738"/>
              <a:ext cx="38057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35.53%</a:t>
              </a:r>
            </a:p>
          </p:txBody>
        </p:sp>
        <p:sp>
          <p:nvSpPr>
            <p:cNvPr id="68" name="TextBox 68"/>
            <p:cNvSpPr txBox="1"/>
            <p:nvPr/>
          </p:nvSpPr>
          <p:spPr>
            <a:xfrm>
              <a:off x="6458164" y="3233738"/>
              <a:ext cx="38057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13.97%</a:t>
              </a:r>
            </a:p>
          </p:txBody>
        </p:sp>
        <p:sp>
          <p:nvSpPr>
            <p:cNvPr id="69" name="TextBox 69"/>
            <p:cNvSpPr txBox="1"/>
            <p:nvPr/>
          </p:nvSpPr>
          <p:spPr>
            <a:xfrm>
              <a:off x="7410664" y="3233738"/>
              <a:ext cx="380571"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14.68%</a:t>
              </a:r>
            </a:p>
          </p:txBody>
        </p:sp>
        <p:sp>
          <p:nvSpPr>
            <p:cNvPr id="70" name="Line 70"/>
            <p:cNvSpPr/>
            <p:nvPr/>
          </p:nvSpPr>
          <p:spPr>
            <a:xfrm>
              <a:off x="704850" y="1905000"/>
              <a:ext cx="7372350" cy="9525"/>
            </a:xfrm>
            <a:custGeom>
              <a:avLst/>
              <a:gdLst/>
              <a:ahLst/>
              <a:cxnLst/>
              <a:rect l="l" t="t" r="r" b="b"/>
              <a:pathLst>
                <a:path w="7372350" h="9525">
                  <a:moveTo>
                    <a:pt x="0" y="0"/>
                  </a:moveTo>
                  <a:lnTo>
                    <a:pt x="7372350" y="0"/>
                  </a:lnTo>
                </a:path>
              </a:pathLst>
            </a:custGeom>
            <a:noFill/>
            <a:ln w="9525">
              <a:solidFill>
                <a:srgbClr val="E4EEFB"/>
              </a:solidFill>
            </a:ln>
          </p:spPr>
        </p:sp>
        <p:sp>
          <p:nvSpPr>
            <p:cNvPr id="71" name="Line 71"/>
            <p:cNvSpPr/>
            <p:nvPr/>
          </p:nvSpPr>
          <p:spPr>
            <a:xfrm>
              <a:off x="704850" y="2514600"/>
              <a:ext cx="7372350" cy="9525"/>
            </a:xfrm>
            <a:custGeom>
              <a:avLst/>
              <a:gdLst/>
              <a:ahLst/>
              <a:cxnLst/>
              <a:rect l="l" t="t" r="r" b="b"/>
              <a:pathLst>
                <a:path w="7372350" h="9525">
                  <a:moveTo>
                    <a:pt x="0" y="0"/>
                  </a:moveTo>
                  <a:lnTo>
                    <a:pt x="7372350" y="0"/>
                  </a:lnTo>
                </a:path>
              </a:pathLst>
            </a:custGeom>
            <a:noFill/>
            <a:ln w="9525">
              <a:solidFill>
                <a:srgbClr val="E4EEFB"/>
              </a:solidFill>
            </a:ln>
          </p:spPr>
        </p:sp>
        <p:sp>
          <p:nvSpPr>
            <p:cNvPr id="72" name="Line 72"/>
            <p:cNvSpPr/>
            <p:nvPr/>
          </p:nvSpPr>
          <p:spPr>
            <a:xfrm>
              <a:off x="704850" y="2819400"/>
              <a:ext cx="7372350" cy="9525"/>
            </a:xfrm>
            <a:custGeom>
              <a:avLst/>
              <a:gdLst/>
              <a:ahLst/>
              <a:cxnLst/>
              <a:rect l="l" t="t" r="r" b="b"/>
              <a:pathLst>
                <a:path w="7372350" h="9525">
                  <a:moveTo>
                    <a:pt x="0" y="0"/>
                  </a:moveTo>
                  <a:lnTo>
                    <a:pt x="7372350" y="0"/>
                  </a:lnTo>
                </a:path>
              </a:pathLst>
            </a:custGeom>
            <a:noFill/>
            <a:ln w="9525">
              <a:solidFill>
                <a:srgbClr val="E4EEFB"/>
              </a:solidFill>
            </a:ln>
          </p:spPr>
        </p:sp>
      </p:grpSp>
      <p:grpSp>
        <p:nvGrpSpPr>
          <p:cNvPr id="101" name="m-koc-funnel"/>
          <p:cNvGrpSpPr/>
          <p:nvPr/>
        </p:nvGrpSpPr>
        <p:grpSpPr>
          <a:xfrm>
            <a:off x="571500" y="3924300"/>
            <a:ext cx="2590800" cy="2667000"/>
            <a:chOff x="571500" y="3924300"/>
            <a:chExt cx="2590800" cy="2667000"/>
          </a:xfrm>
        </p:grpSpPr>
        <p:sp>
          <p:nvSpPr>
            <p:cNvPr id="74" name="Rectangle 74"/>
            <p:cNvSpPr/>
            <p:nvPr/>
          </p:nvSpPr>
          <p:spPr>
            <a:xfrm>
              <a:off x="571500" y="3924300"/>
              <a:ext cx="2590800" cy="2667000"/>
            </a:xfrm>
            <a:prstGeom prst="rect">
              <a:avLst/>
            </a:prstGeom>
            <a:solidFill>
              <a:srgbClr val="FFFFFF"/>
            </a:solidFill>
            <a:ln w="11430">
              <a:solidFill>
                <a:srgbClr val="C9DDF5"/>
              </a:solidFill>
            </a:ln>
          </p:spPr>
        </p:sp>
        <p:sp>
          <p:nvSpPr>
            <p:cNvPr id="75" name="Rectangle 75"/>
            <p:cNvSpPr/>
            <p:nvPr/>
          </p:nvSpPr>
          <p:spPr>
            <a:xfrm>
              <a:off x="666750" y="4019550"/>
              <a:ext cx="1714500" cy="228600"/>
            </a:xfrm>
            <a:prstGeom prst="rect">
              <a:avLst/>
            </a:prstGeom>
            <a:gradFill>
              <a:gsLst>
                <a:gs pos="0">
                  <a:srgbClr val="FF5B3A"/>
                </a:gs>
                <a:gs pos="100000">
                  <a:srgbClr val="E94B2B"/>
                </a:gs>
              </a:gsLst>
              <a:lin ang="0" scaled="1"/>
            </a:gradFill>
            <a:ln>
              <a:noFill/>
            </a:ln>
          </p:spPr>
        </p:sp>
        <p:sp>
          <p:nvSpPr>
            <p:cNvPr id="76" name="Polygon 76"/>
            <p:cNvSpPr/>
            <p:nvPr/>
          </p:nvSpPr>
          <p:spPr>
            <a:xfrm>
              <a:off x="2286000" y="4019550"/>
              <a:ext cx="95250" cy="228600"/>
            </a:xfrm>
            <a:custGeom>
              <a:avLst/>
              <a:gdLst/>
              <a:ahLst/>
              <a:cxnLst/>
              <a:rect l="l" t="t" r="r" b="b"/>
              <a:pathLst>
                <a:path w="95250" h="228600">
                  <a:moveTo>
                    <a:pt x="0" y="0"/>
                  </a:moveTo>
                  <a:lnTo>
                    <a:pt x="95250" y="0"/>
                  </a:lnTo>
                  <a:lnTo>
                    <a:pt x="0" y="228600"/>
                  </a:lnTo>
                  <a:close/>
                </a:path>
              </a:pathLst>
            </a:custGeom>
            <a:solidFill>
              <a:srgbClr val="C83B1E"/>
            </a:solidFill>
            <a:ln>
              <a:noFill/>
            </a:ln>
          </p:spPr>
        </p:sp>
        <p:grpSp>
          <p:nvGrpSpPr>
            <p:cNvPr id="81" name="Group 81"/>
            <p:cNvGrpSpPr/>
            <p:nvPr/>
          </p:nvGrpSpPr>
          <p:grpSpPr>
            <a:xfrm>
              <a:off x="759619" y="4074319"/>
              <a:ext cx="100012" cy="100012"/>
              <a:chOff x="759619" y="4074319"/>
              <a:chExt cx="100012" cy="100012"/>
            </a:xfrm>
          </p:grpSpPr>
          <p:sp>
            <p:nvSpPr>
              <p:cNvPr id="77" name="Freeform 77"/>
              <p:cNvSpPr/>
              <p:nvPr/>
            </p:nvSpPr>
            <p:spPr>
              <a:xfrm>
                <a:off x="770731" y="40743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FFFFFF"/>
                </a:solidFill>
              </a:ln>
            </p:spPr>
          </p:sp>
          <p:sp>
            <p:nvSpPr>
              <p:cNvPr id="78" name="Freeform 78"/>
              <p:cNvSpPr/>
              <p:nvPr/>
            </p:nvSpPr>
            <p:spPr>
              <a:xfrm>
                <a:off x="759619" y="414099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FFFFFF"/>
                </a:solidFill>
              </a:ln>
            </p:spPr>
          </p:sp>
          <p:sp>
            <p:nvSpPr>
              <p:cNvPr id="79" name="Freeform 79"/>
              <p:cNvSpPr/>
              <p:nvPr/>
            </p:nvSpPr>
            <p:spPr>
              <a:xfrm>
                <a:off x="831850" y="407504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FFFFFF"/>
                </a:solidFill>
              </a:ln>
            </p:spPr>
          </p:sp>
          <p:sp>
            <p:nvSpPr>
              <p:cNvPr id="80" name="Freeform 80"/>
              <p:cNvSpPr/>
              <p:nvPr/>
            </p:nvSpPr>
            <p:spPr>
              <a:xfrm>
                <a:off x="842962" y="414182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FFFFFF"/>
                </a:solidFill>
              </a:ln>
            </p:spPr>
          </p:sp>
        </p:grpSp>
        <p:sp>
          <p:nvSpPr>
            <p:cNvPr id="82" name="TextBox 82"/>
            <p:cNvSpPr txBox="1"/>
            <p:nvPr/>
          </p:nvSpPr>
          <p:spPr>
            <a:xfrm>
              <a:off x="928688" y="4088368"/>
              <a:ext cx="1083070"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用户量级(KOC)分析</a:t>
              </a:r>
            </a:p>
          </p:txBody>
        </p:sp>
        <p:sp>
          <p:nvSpPr>
            <p:cNvPr id="83" name="Ellipse 83"/>
            <p:cNvSpPr/>
            <p:nvPr/>
          </p:nvSpPr>
          <p:spPr>
            <a:xfrm>
              <a:off x="857250" y="5219700"/>
              <a:ext cx="952500" cy="152400"/>
            </a:xfrm>
            <a:prstGeom prst="ellipse">
              <a:avLst/>
            </a:prstGeom>
            <a:solidFill>
              <a:srgbClr val="E94B2B"/>
            </a:solidFill>
            <a:ln>
              <a:noFill/>
            </a:ln>
          </p:spPr>
        </p:sp>
        <p:sp>
          <p:nvSpPr>
            <p:cNvPr id="84" name="Polygon 84"/>
            <p:cNvSpPr/>
            <p:nvPr/>
          </p:nvSpPr>
          <p:spPr>
            <a:xfrm>
              <a:off x="857250" y="5295900"/>
              <a:ext cx="952500" cy="323850"/>
            </a:xfrm>
            <a:custGeom>
              <a:avLst/>
              <a:gdLst/>
              <a:ahLst/>
              <a:cxnLst/>
              <a:rect l="l" t="t" r="r" b="b"/>
              <a:pathLst>
                <a:path w="952500" h="323850">
                  <a:moveTo>
                    <a:pt x="0" y="0"/>
                  </a:moveTo>
                  <a:lnTo>
                    <a:pt x="952500" y="0"/>
                  </a:lnTo>
                  <a:lnTo>
                    <a:pt x="866775" y="323850"/>
                  </a:lnTo>
                  <a:lnTo>
                    <a:pt x="85725" y="323850"/>
                  </a:lnTo>
                  <a:close/>
                </a:path>
              </a:pathLst>
            </a:custGeom>
            <a:solidFill>
              <a:srgbClr val="8C2712"/>
            </a:solidFill>
            <a:ln>
              <a:noFill/>
            </a:ln>
          </p:spPr>
        </p:sp>
        <p:sp>
          <p:nvSpPr>
            <p:cNvPr id="85" name="Ellipse 85"/>
            <p:cNvSpPr/>
            <p:nvPr/>
          </p:nvSpPr>
          <p:spPr>
            <a:xfrm>
              <a:off x="742950" y="4810125"/>
              <a:ext cx="1181100" cy="171450"/>
            </a:xfrm>
            <a:prstGeom prst="ellipse">
              <a:avLst/>
            </a:prstGeom>
            <a:solidFill>
              <a:srgbClr val="FF5B3A"/>
            </a:solidFill>
            <a:ln>
              <a:noFill/>
            </a:ln>
          </p:spPr>
        </p:sp>
        <p:sp>
          <p:nvSpPr>
            <p:cNvPr id="86" name="Polygon 86"/>
            <p:cNvSpPr/>
            <p:nvPr/>
          </p:nvSpPr>
          <p:spPr>
            <a:xfrm>
              <a:off x="742950" y="4895850"/>
              <a:ext cx="1181100" cy="342900"/>
            </a:xfrm>
            <a:custGeom>
              <a:avLst/>
              <a:gdLst/>
              <a:ahLst/>
              <a:cxnLst/>
              <a:rect l="l" t="t" r="r" b="b"/>
              <a:pathLst>
                <a:path w="1181100" h="342900">
                  <a:moveTo>
                    <a:pt x="0" y="0"/>
                  </a:moveTo>
                  <a:lnTo>
                    <a:pt x="1181100" y="0"/>
                  </a:lnTo>
                  <a:lnTo>
                    <a:pt x="1066800" y="342900"/>
                  </a:lnTo>
                  <a:lnTo>
                    <a:pt x="114300" y="342900"/>
                  </a:lnTo>
                  <a:close/>
                </a:path>
              </a:pathLst>
            </a:custGeom>
            <a:solidFill>
              <a:srgbClr val="C83B1E"/>
            </a:solidFill>
            <a:ln>
              <a:noFill/>
            </a:ln>
          </p:spPr>
        </p:sp>
        <p:sp>
          <p:nvSpPr>
            <p:cNvPr id="87" name="Ellipse 87"/>
            <p:cNvSpPr/>
            <p:nvPr/>
          </p:nvSpPr>
          <p:spPr>
            <a:xfrm>
              <a:off x="590550" y="4362450"/>
              <a:ext cx="1485900" cy="190500"/>
            </a:xfrm>
            <a:prstGeom prst="ellipse">
              <a:avLst/>
            </a:prstGeom>
            <a:solidFill>
              <a:srgbClr val="F0856F"/>
            </a:solidFill>
            <a:ln>
              <a:noFill/>
            </a:ln>
          </p:spPr>
        </p:sp>
        <p:sp>
          <p:nvSpPr>
            <p:cNvPr id="88" name="Polygon 88"/>
            <p:cNvSpPr/>
            <p:nvPr/>
          </p:nvSpPr>
          <p:spPr>
            <a:xfrm>
              <a:off x="590550" y="4457700"/>
              <a:ext cx="1485900" cy="381000"/>
            </a:xfrm>
            <a:custGeom>
              <a:avLst/>
              <a:gdLst/>
              <a:ahLst/>
              <a:cxnLst/>
              <a:rect l="l" t="t" r="r" b="b"/>
              <a:pathLst>
                <a:path w="1485900" h="381000">
                  <a:moveTo>
                    <a:pt x="0" y="0"/>
                  </a:moveTo>
                  <a:lnTo>
                    <a:pt x="1485900" y="0"/>
                  </a:lnTo>
                  <a:lnTo>
                    <a:pt x="1333500" y="381000"/>
                  </a:lnTo>
                  <a:lnTo>
                    <a:pt x="152400" y="381000"/>
                  </a:lnTo>
                  <a:close/>
                </a:path>
              </a:pathLst>
            </a:custGeom>
            <a:solidFill>
              <a:srgbClr val="E94B2B"/>
            </a:solidFill>
            <a:ln>
              <a:noFill/>
            </a:ln>
          </p:spPr>
        </p:sp>
        <p:sp>
          <p:nvSpPr>
            <p:cNvPr id="89" name="TextBox 89"/>
            <p:cNvSpPr txBox="1"/>
            <p:nvPr/>
          </p:nvSpPr>
          <p:spPr>
            <a:xfrm>
              <a:off x="1132754" y="4594622"/>
              <a:ext cx="40149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75%​​</a:t>
              </a:r>
            </a:p>
          </p:txBody>
        </p:sp>
        <p:sp>
          <p:nvSpPr>
            <p:cNvPr id="90" name="TextBox 90"/>
            <p:cNvSpPr txBox="1"/>
            <p:nvPr/>
          </p:nvSpPr>
          <p:spPr>
            <a:xfrm>
              <a:off x="1132754" y="5013722"/>
              <a:ext cx="40149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13%​​</a:t>
              </a:r>
            </a:p>
          </p:txBody>
        </p:sp>
        <p:sp>
          <p:nvSpPr>
            <p:cNvPr id="91" name="TextBox 91"/>
            <p:cNvSpPr txBox="1"/>
            <p:nvPr/>
          </p:nvSpPr>
          <p:spPr>
            <a:xfrm>
              <a:off x="1132754" y="5404247"/>
              <a:ext cx="40149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22%​​</a:t>
              </a:r>
            </a:p>
          </p:txBody>
        </p:sp>
        <p:sp>
          <p:nvSpPr>
            <p:cNvPr id="92" name="Line 92"/>
            <p:cNvSpPr/>
            <p:nvPr/>
          </p:nvSpPr>
          <p:spPr>
            <a:xfrm>
              <a:off x="2000250" y="4648200"/>
              <a:ext cx="95250" cy="9525"/>
            </a:xfrm>
            <a:custGeom>
              <a:avLst/>
              <a:gdLst/>
              <a:ahLst/>
              <a:cxnLst/>
              <a:rect l="l" t="t" r="r" b="b"/>
              <a:pathLst>
                <a:path w="95250" h="9525">
                  <a:moveTo>
                    <a:pt x="0" y="0"/>
                  </a:moveTo>
                  <a:lnTo>
                    <a:pt x="95250" y="0"/>
                  </a:lnTo>
                </a:path>
              </a:pathLst>
            </a:custGeom>
            <a:noFill/>
            <a:ln w="9525">
              <a:solidFill>
                <a:srgbClr val="F0856F"/>
              </a:solidFill>
              <a:custDash>
                <a:ds d="300000" sp="200000"/>
              </a:custDash>
            </a:ln>
          </p:spPr>
        </p:sp>
        <p:sp>
          <p:nvSpPr>
            <p:cNvPr id="93" name="Line 93"/>
            <p:cNvSpPr/>
            <p:nvPr/>
          </p:nvSpPr>
          <p:spPr>
            <a:xfrm>
              <a:off x="1905000" y="5067300"/>
              <a:ext cx="190500" cy="9525"/>
            </a:xfrm>
            <a:custGeom>
              <a:avLst/>
              <a:gdLst/>
              <a:ahLst/>
              <a:cxnLst/>
              <a:rect l="l" t="t" r="r" b="b"/>
              <a:pathLst>
                <a:path w="190500" h="9525">
                  <a:moveTo>
                    <a:pt x="0" y="0"/>
                  </a:moveTo>
                  <a:lnTo>
                    <a:pt x="190500" y="0"/>
                  </a:lnTo>
                </a:path>
              </a:pathLst>
            </a:custGeom>
            <a:noFill/>
            <a:ln w="9525">
              <a:solidFill>
                <a:srgbClr val="F0856F"/>
              </a:solidFill>
              <a:custDash>
                <a:ds d="300000" sp="200000"/>
              </a:custDash>
            </a:ln>
          </p:spPr>
        </p:sp>
        <p:sp>
          <p:nvSpPr>
            <p:cNvPr id="94" name="Line 94"/>
            <p:cNvSpPr/>
            <p:nvPr/>
          </p:nvSpPr>
          <p:spPr>
            <a:xfrm>
              <a:off x="1771650" y="5467350"/>
              <a:ext cx="323850" cy="9525"/>
            </a:xfrm>
            <a:custGeom>
              <a:avLst/>
              <a:gdLst/>
              <a:ahLst/>
              <a:cxnLst/>
              <a:rect l="l" t="t" r="r" b="b"/>
              <a:pathLst>
                <a:path w="323850" h="9525">
                  <a:moveTo>
                    <a:pt x="0" y="0"/>
                  </a:moveTo>
                  <a:lnTo>
                    <a:pt x="323850" y="0"/>
                  </a:lnTo>
                </a:path>
              </a:pathLst>
            </a:custGeom>
            <a:noFill/>
            <a:ln w="9525">
              <a:solidFill>
                <a:srgbClr val="F0856F"/>
              </a:solidFill>
              <a:custDash>
                <a:ds d="300000" sp="200000"/>
              </a:custDash>
            </a:ln>
          </p:spPr>
        </p:sp>
        <p:sp>
          <p:nvSpPr>
            <p:cNvPr id="95" name="TextBox 95"/>
            <p:cNvSpPr txBox="1"/>
            <p:nvPr/>
          </p:nvSpPr>
          <p:spPr>
            <a:xfrm>
              <a:off x="2128838" y="4537234"/>
              <a:ext cx="375691" cy="133350"/>
            </a:xfrm>
            <a:prstGeom prst="rect">
              <a:avLst/>
            </a:prstGeom>
            <a:noFill/>
            <a:ln>
              <a:noFill/>
            </a:ln>
          </p:spPr>
          <p:txBody>
            <a:bodyPr wrap="none" lIns="0" tIns="0" rIns="0" bIns="0" anchor="t" anchorCtr="0">
              <a:spAutoFit/>
            </a:bodyPr>
            <a:lstStyle/>
            <a:p>
              <a:pPr algn="l"/>
              <a:r>
                <a:rPr lang="zh-CN" sz="680" dirty="0">
                  <a:solidFill>
                    <a:srgbClr val="262626"/>
                  </a:solidFill>
                  <a:latin typeface="+mn-lt"/>
                  <a:ea typeface="+mn-ea"/>
                  <a:cs typeface="+mn-cs"/>
                </a:rPr>
                <a:t>粉丝超级</a:t>
              </a:r>
            </a:p>
          </p:txBody>
        </p:sp>
        <p:sp>
          <p:nvSpPr>
            <p:cNvPr id="96" name="TextBox 96"/>
            <p:cNvSpPr txBox="1"/>
            <p:nvPr/>
          </p:nvSpPr>
          <p:spPr>
            <a:xfrm>
              <a:off x="2128838" y="4670584"/>
              <a:ext cx="462656" cy="133350"/>
            </a:xfrm>
            <a:prstGeom prst="rect">
              <a:avLst/>
            </a:prstGeom>
            <a:noFill/>
            <a:ln>
              <a:noFill/>
            </a:ln>
          </p:spPr>
          <p:txBody>
            <a:bodyPr wrap="none" lIns="0" tIns="0" rIns="0" bIns="0" anchor="t" anchorCtr="0">
              <a:spAutoFit/>
            </a:bodyPr>
            <a:lstStyle/>
            <a:p>
              <a:pPr algn="l"/>
              <a:r>
                <a:rPr lang="zh-CN" sz="680" dirty="0">
                  <a:solidFill>
                    <a:srgbClr val="684F4A"/>
                  </a:solidFill>
                  <a:latin typeface="+mn-lt"/>
                  <a:ea typeface="+mn-ea"/>
                  <a:cs typeface="+mn-cs"/>
                </a:rPr>
                <a:t>0-10000*​</a:t>
              </a:r>
            </a:p>
          </p:txBody>
        </p:sp>
        <p:sp>
          <p:nvSpPr>
            <p:cNvPr id="97" name="TextBox 97"/>
            <p:cNvSpPr txBox="1"/>
            <p:nvPr/>
          </p:nvSpPr>
          <p:spPr>
            <a:xfrm>
              <a:off x="2128838" y="4956334"/>
              <a:ext cx="375691" cy="133350"/>
            </a:xfrm>
            <a:prstGeom prst="rect">
              <a:avLst/>
            </a:prstGeom>
            <a:noFill/>
            <a:ln>
              <a:noFill/>
            </a:ln>
          </p:spPr>
          <p:txBody>
            <a:bodyPr wrap="none" lIns="0" tIns="0" rIns="0" bIns="0" anchor="t" anchorCtr="0">
              <a:spAutoFit/>
            </a:bodyPr>
            <a:lstStyle/>
            <a:p>
              <a:pPr algn="l"/>
              <a:r>
                <a:rPr lang="zh-CN" sz="680" dirty="0">
                  <a:solidFill>
                    <a:srgbClr val="262626"/>
                  </a:solidFill>
                  <a:latin typeface="+mn-lt"/>
                  <a:ea typeface="+mn-ea"/>
                  <a:cs typeface="+mn-cs"/>
                </a:rPr>
                <a:t>粉丝超级</a:t>
              </a:r>
            </a:p>
          </p:txBody>
        </p:sp>
        <p:sp>
          <p:nvSpPr>
            <p:cNvPr id="98" name="TextBox 98"/>
            <p:cNvSpPr txBox="1"/>
            <p:nvPr/>
          </p:nvSpPr>
          <p:spPr>
            <a:xfrm>
              <a:off x="2128838" y="5089684"/>
              <a:ext cx="613700" cy="133350"/>
            </a:xfrm>
            <a:prstGeom prst="rect">
              <a:avLst/>
            </a:prstGeom>
            <a:noFill/>
            <a:ln>
              <a:noFill/>
            </a:ln>
          </p:spPr>
          <p:txBody>
            <a:bodyPr wrap="none" lIns="0" tIns="0" rIns="0" bIns="0" anchor="t" anchorCtr="0">
              <a:spAutoFit/>
            </a:bodyPr>
            <a:lstStyle/>
            <a:p>
              <a:pPr algn="l"/>
              <a:r>
                <a:rPr lang="zh-CN" sz="680" dirty="0">
                  <a:solidFill>
                    <a:srgbClr val="684F4A"/>
                  </a:solidFill>
                  <a:latin typeface="+mn-lt"/>
                  <a:ea typeface="+mn-ea"/>
                  <a:cs typeface="+mn-cs"/>
                </a:rPr>
                <a:t>10000-40000​</a:t>
              </a:r>
            </a:p>
          </p:txBody>
        </p:sp>
        <p:sp>
          <p:nvSpPr>
            <p:cNvPr id="99" name="TextBox 99"/>
            <p:cNvSpPr txBox="1"/>
            <p:nvPr/>
          </p:nvSpPr>
          <p:spPr>
            <a:xfrm>
              <a:off x="2128838" y="5356384"/>
              <a:ext cx="375691" cy="133350"/>
            </a:xfrm>
            <a:prstGeom prst="rect">
              <a:avLst/>
            </a:prstGeom>
            <a:noFill/>
            <a:ln>
              <a:noFill/>
            </a:ln>
          </p:spPr>
          <p:txBody>
            <a:bodyPr wrap="none" lIns="0" tIns="0" rIns="0" bIns="0" anchor="t" anchorCtr="0">
              <a:spAutoFit/>
            </a:bodyPr>
            <a:lstStyle/>
            <a:p>
              <a:pPr algn="l"/>
              <a:r>
                <a:rPr lang="zh-CN" sz="680" dirty="0">
                  <a:solidFill>
                    <a:srgbClr val="262626"/>
                  </a:solidFill>
                  <a:latin typeface="+mn-lt"/>
                  <a:ea typeface="+mn-ea"/>
                  <a:cs typeface="+mn-cs"/>
                </a:rPr>
                <a:t>粉丝超级</a:t>
              </a:r>
            </a:p>
          </p:txBody>
        </p:sp>
        <p:sp>
          <p:nvSpPr>
            <p:cNvPr id="100" name="TextBox 100"/>
            <p:cNvSpPr txBox="1"/>
            <p:nvPr/>
          </p:nvSpPr>
          <p:spPr>
            <a:xfrm>
              <a:off x="2128838" y="5489734"/>
              <a:ext cx="361960" cy="133350"/>
            </a:xfrm>
            <a:prstGeom prst="rect">
              <a:avLst/>
            </a:prstGeom>
            <a:noFill/>
            <a:ln>
              <a:noFill/>
            </a:ln>
          </p:spPr>
          <p:txBody>
            <a:bodyPr wrap="none" lIns="0" tIns="0" rIns="0" bIns="0" anchor="t" anchorCtr="0">
              <a:spAutoFit/>
            </a:bodyPr>
            <a:lstStyle/>
            <a:p>
              <a:pPr algn="l"/>
              <a:r>
                <a:rPr lang="zh-CN" sz="680" dirty="0">
                  <a:solidFill>
                    <a:srgbClr val="684F4A"/>
                  </a:solidFill>
                  <a:latin typeface="+mn-lt"/>
                  <a:ea typeface="+mn-ea"/>
                  <a:cs typeface="+mn-cs"/>
                </a:rPr>
                <a:t>40000*​</a:t>
              </a:r>
            </a:p>
          </p:txBody>
        </p:sp>
      </p:grpSp>
      <p:grpSp>
        <p:nvGrpSpPr>
          <p:cNvPr id="123" name="m-region-map"/>
          <p:cNvGrpSpPr/>
          <p:nvPr/>
        </p:nvGrpSpPr>
        <p:grpSpPr>
          <a:xfrm>
            <a:off x="3352800" y="3924300"/>
            <a:ext cx="2628900" cy="2667000"/>
            <a:chOff x="3352800" y="3924300"/>
            <a:chExt cx="2628900" cy="2667000"/>
          </a:xfrm>
        </p:grpSpPr>
        <p:sp>
          <p:nvSpPr>
            <p:cNvPr id="102" name="Rectangle 102"/>
            <p:cNvSpPr/>
            <p:nvPr/>
          </p:nvSpPr>
          <p:spPr>
            <a:xfrm>
              <a:off x="3352800" y="3924300"/>
              <a:ext cx="2628900" cy="2667000"/>
            </a:xfrm>
            <a:prstGeom prst="rect">
              <a:avLst/>
            </a:prstGeom>
            <a:solidFill>
              <a:srgbClr val="FFFFFF"/>
            </a:solidFill>
            <a:ln w="11430">
              <a:solidFill>
                <a:srgbClr val="C9DDF5"/>
              </a:solidFill>
            </a:ln>
          </p:spPr>
        </p:sp>
        <p:sp>
          <p:nvSpPr>
            <p:cNvPr id="103" name="Rectangle 103"/>
            <p:cNvSpPr/>
            <p:nvPr/>
          </p:nvSpPr>
          <p:spPr>
            <a:xfrm>
              <a:off x="3448050" y="4019550"/>
              <a:ext cx="1905000" cy="228600"/>
            </a:xfrm>
            <a:prstGeom prst="rect">
              <a:avLst/>
            </a:prstGeom>
            <a:gradFill>
              <a:gsLst>
                <a:gs pos="0">
                  <a:srgbClr val="FF5B3A"/>
                </a:gs>
                <a:gs pos="100000">
                  <a:srgbClr val="E94B2B"/>
                </a:gs>
              </a:gsLst>
              <a:lin ang="0" scaled="1"/>
            </a:gradFill>
            <a:ln>
              <a:noFill/>
            </a:ln>
          </p:spPr>
        </p:sp>
        <p:sp>
          <p:nvSpPr>
            <p:cNvPr id="104" name="Polygon 104"/>
            <p:cNvSpPr/>
            <p:nvPr/>
          </p:nvSpPr>
          <p:spPr>
            <a:xfrm>
              <a:off x="5257800" y="4019550"/>
              <a:ext cx="95250" cy="228600"/>
            </a:xfrm>
            <a:custGeom>
              <a:avLst/>
              <a:gdLst/>
              <a:ahLst/>
              <a:cxnLst/>
              <a:rect l="l" t="t" r="r" b="b"/>
              <a:pathLst>
                <a:path w="95250" h="228600">
                  <a:moveTo>
                    <a:pt x="0" y="0"/>
                  </a:moveTo>
                  <a:lnTo>
                    <a:pt x="95250" y="0"/>
                  </a:lnTo>
                  <a:lnTo>
                    <a:pt x="0" y="228600"/>
                  </a:lnTo>
                  <a:close/>
                </a:path>
              </a:pathLst>
            </a:custGeom>
            <a:solidFill>
              <a:srgbClr val="C83B1E"/>
            </a:solidFill>
            <a:ln>
              <a:noFill/>
            </a:ln>
          </p:spPr>
        </p:sp>
        <p:grpSp>
          <p:nvGrpSpPr>
            <p:cNvPr id="108" name="Group 108"/>
            <p:cNvGrpSpPr/>
            <p:nvPr/>
          </p:nvGrpSpPr>
          <p:grpSpPr>
            <a:xfrm>
              <a:off x="3540919" y="4074319"/>
              <a:ext cx="100012" cy="100012"/>
              <a:chOff x="3540919" y="4074319"/>
              <a:chExt cx="100012" cy="100012"/>
            </a:xfrm>
          </p:grpSpPr>
          <p:sp>
            <p:nvSpPr>
              <p:cNvPr id="105" name="Freeform 105"/>
              <p:cNvSpPr/>
              <p:nvPr/>
            </p:nvSpPr>
            <p:spPr>
              <a:xfrm>
                <a:off x="3540919" y="4074319"/>
                <a:ext cx="100012" cy="50006"/>
              </a:xfrm>
              <a:custGeom>
                <a:avLst/>
                <a:gdLst/>
                <a:ahLst/>
                <a:cxnLst/>
                <a:rect l="l" t="t" r="r" b="b"/>
                <a:pathLst>
                  <a:path w="100012" h="50006">
                    <a:moveTo>
                      <a:pt x="11112" y="50006"/>
                    </a:moveTo>
                    <a:lnTo>
                      <a:pt x="0" y="50006"/>
                    </a:lnTo>
                    <a:lnTo>
                      <a:pt x="50006" y="0"/>
                    </a:lnTo>
                    <a:lnTo>
                      <a:pt x="100012" y="50006"/>
                    </a:lnTo>
                    <a:lnTo>
                      <a:pt x="88900" y="50006"/>
                    </a:lnTo>
                  </a:path>
                </a:pathLst>
              </a:custGeom>
              <a:noFill/>
              <a:ln w="11112">
                <a:solidFill>
                  <a:srgbClr val="FFFFFF"/>
                </a:solidFill>
              </a:ln>
            </p:spPr>
          </p:sp>
          <p:sp>
            <p:nvSpPr>
              <p:cNvPr id="106" name="Freeform 106"/>
              <p:cNvSpPr/>
              <p:nvPr/>
            </p:nvSpPr>
            <p:spPr>
              <a:xfrm>
                <a:off x="3552031" y="4124325"/>
                <a:ext cx="77787" cy="50006"/>
              </a:xfrm>
              <a:custGeom>
                <a:avLst/>
                <a:gdLst/>
                <a:ahLst/>
                <a:cxnLst/>
                <a:rect l="l" t="t" r="r" b="b"/>
                <a:pathLst>
                  <a:path w="77787" h="50006">
                    <a:moveTo>
                      <a:pt x="0" y="0"/>
                    </a:moveTo>
                    <a:lnTo>
                      <a:pt x="0" y="38894"/>
                    </a:lnTo>
                    <a:cubicBezTo>
                      <a:pt x="0" y="45031"/>
                      <a:pt x="4975" y="50006"/>
                      <a:pt x="11112" y="50006"/>
                    </a:cubicBezTo>
                    <a:lnTo>
                      <a:pt x="66675" y="50006"/>
                    </a:lnTo>
                    <a:cubicBezTo>
                      <a:pt x="72812" y="50006"/>
                      <a:pt x="77787" y="45031"/>
                      <a:pt x="77787" y="38894"/>
                    </a:cubicBezTo>
                    <a:lnTo>
                      <a:pt x="77787" y="0"/>
                    </a:lnTo>
                  </a:path>
                </a:pathLst>
              </a:custGeom>
              <a:noFill/>
              <a:ln w="11112">
                <a:solidFill>
                  <a:srgbClr val="FFFFFF"/>
                </a:solidFill>
              </a:ln>
            </p:spPr>
          </p:sp>
          <p:sp>
            <p:nvSpPr>
              <p:cNvPr id="107" name="Freeform 107"/>
              <p:cNvSpPr/>
              <p:nvPr/>
            </p:nvSpPr>
            <p:spPr>
              <a:xfrm>
                <a:off x="3574256" y="4129881"/>
                <a:ext cx="33337" cy="44450"/>
              </a:xfrm>
              <a:custGeom>
                <a:avLst/>
                <a:gdLst/>
                <a:ahLst/>
                <a:cxnLst/>
                <a:rect l="l" t="t" r="r" b="b"/>
                <a:pathLst>
                  <a:path w="33337" h="44450">
                    <a:moveTo>
                      <a:pt x="0" y="44450"/>
                    </a:moveTo>
                    <a:lnTo>
                      <a:pt x="0" y="11112"/>
                    </a:lnTo>
                    <a:cubicBezTo>
                      <a:pt x="0" y="4975"/>
                      <a:pt x="4975" y="0"/>
                      <a:pt x="11112" y="0"/>
                    </a:cubicBezTo>
                    <a:lnTo>
                      <a:pt x="22225" y="0"/>
                    </a:lnTo>
                    <a:cubicBezTo>
                      <a:pt x="28362" y="0"/>
                      <a:pt x="33337" y="4975"/>
                      <a:pt x="33337" y="11112"/>
                    </a:cubicBezTo>
                    <a:lnTo>
                      <a:pt x="33337" y="44450"/>
                    </a:lnTo>
                  </a:path>
                </a:pathLst>
              </a:custGeom>
              <a:noFill/>
              <a:ln w="11112">
                <a:solidFill>
                  <a:srgbClr val="FFFFFF"/>
                </a:solidFill>
              </a:ln>
            </p:spPr>
          </p:sp>
        </p:grpSp>
        <p:sp>
          <p:nvSpPr>
            <p:cNvPr id="109" name="TextBox 109"/>
            <p:cNvSpPr txBox="1"/>
            <p:nvPr/>
          </p:nvSpPr>
          <p:spPr>
            <a:xfrm>
              <a:off x="3709988" y="4084320"/>
              <a:ext cx="97878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用户来源地区分析</a:t>
              </a:r>
            </a:p>
          </p:txBody>
        </p:sp>
        <p:sp>
          <p:nvSpPr>
            <p:cNvPr id="110" name="TextBox 110"/>
            <p:cNvSpPr txBox="1"/>
            <p:nvPr/>
          </p:nvSpPr>
          <p:spPr>
            <a:xfrm>
              <a:off x="3500438" y="4361736"/>
              <a:ext cx="296266" cy="140494"/>
            </a:xfrm>
            <a:prstGeom prst="rect">
              <a:avLst/>
            </a:prstGeom>
            <a:noFill/>
            <a:ln>
              <a:noFill/>
            </a:ln>
          </p:spPr>
          <p:txBody>
            <a:bodyPr wrap="none" lIns="0" tIns="0" rIns="0" bIns="0" anchor="t" anchorCtr="0">
              <a:spAutoFit/>
            </a:bodyPr>
            <a:lstStyle/>
            <a:p>
              <a:pPr algn="l"/>
              <a:r>
                <a:rPr lang="zh-CN" sz="710" b="1" dirty="0">
                  <a:solidFill>
                    <a:srgbClr val="262626"/>
                  </a:solidFill>
                  <a:latin typeface="+mn-lt"/>
                  <a:ea typeface="+mn-ea"/>
                  <a:cs typeface="+mn-cs"/>
                </a:rPr>
                <a:t>获客数</a:t>
              </a:r>
            </a:p>
          </p:txBody>
        </p:sp>
        <p:sp>
          <p:nvSpPr>
            <p:cNvPr id="111" name="Ellipse 111"/>
            <p:cNvSpPr/>
            <p:nvPr/>
          </p:nvSpPr>
          <p:spPr>
            <a:xfrm>
              <a:off x="4019550" y="4352925"/>
              <a:ext cx="114300" cy="114300"/>
            </a:xfrm>
            <a:prstGeom prst="ellipse">
              <a:avLst/>
            </a:prstGeom>
            <a:solidFill>
              <a:srgbClr val="E94B2B">
                <a:alpha val="80000"/>
              </a:srgbClr>
            </a:solidFill>
            <a:ln>
              <a:noFill/>
            </a:ln>
          </p:spPr>
        </p:sp>
        <p:sp>
          <p:nvSpPr>
            <p:cNvPr id="112" name="TextBox 112"/>
            <p:cNvSpPr txBox="1"/>
            <p:nvPr/>
          </p:nvSpPr>
          <p:spPr>
            <a:xfrm>
              <a:off x="4167188" y="4365784"/>
              <a:ext cx="160569" cy="133350"/>
            </a:xfrm>
            <a:prstGeom prst="rect">
              <a:avLst/>
            </a:prstGeom>
            <a:noFill/>
            <a:ln>
              <a:noFill/>
            </a:ln>
          </p:spPr>
          <p:txBody>
            <a:bodyPr wrap="none" lIns="0" tIns="0" rIns="0" bIns="0" anchor="t" anchorCtr="0">
              <a:spAutoFit/>
            </a:bodyPr>
            <a:lstStyle/>
            <a:p>
              <a:pPr algn="l"/>
              <a:r>
                <a:rPr lang="zh-CN" sz="680" dirty="0">
                  <a:solidFill>
                    <a:srgbClr val="684F4A"/>
                  </a:solidFill>
                  <a:latin typeface="+mn-lt"/>
                  <a:ea typeface="+mn-ea"/>
                  <a:cs typeface="+mn-cs"/>
                </a:rPr>
                <a:t>860</a:t>
              </a:r>
            </a:p>
          </p:txBody>
        </p:sp>
        <p:sp>
          <p:nvSpPr>
            <p:cNvPr id="113" name="Ellipse 113"/>
            <p:cNvSpPr/>
            <p:nvPr/>
          </p:nvSpPr>
          <p:spPr>
            <a:xfrm>
              <a:off x="4419600" y="4371975"/>
              <a:ext cx="76200" cy="76200"/>
            </a:xfrm>
            <a:prstGeom prst="ellipse">
              <a:avLst/>
            </a:prstGeom>
            <a:solidFill>
              <a:srgbClr val="F0856F"/>
            </a:solidFill>
            <a:ln>
              <a:noFill/>
            </a:ln>
          </p:spPr>
        </p:sp>
        <p:sp>
          <p:nvSpPr>
            <p:cNvPr id="114" name="TextBox 114"/>
            <p:cNvSpPr txBox="1"/>
            <p:nvPr/>
          </p:nvSpPr>
          <p:spPr>
            <a:xfrm>
              <a:off x="4529138" y="4365784"/>
              <a:ext cx="160569" cy="133350"/>
            </a:xfrm>
            <a:prstGeom prst="rect">
              <a:avLst/>
            </a:prstGeom>
            <a:noFill/>
            <a:ln>
              <a:noFill/>
            </a:ln>
          </p:spPr>
          <p:txBody>
            <a:bodyPr wrap="none" lIns="0" tIns="0" rIns="0" bIns="0" anchor="t" anchorCtr="0">
              <a:spAutoFit/>
            </a:bodyPr>
            <a:lstStyle/>
            <a:p>
              <a:pPr algn="l"/>
              <a:r>
                <a:rPr lang="zh-CN" sz="680" dirty="0">
                  <a:solidFill>
                    <a:srgbClr val="684F4A"/>
                  </a:solidFill>
                  <a:latin typeface="+mn-lt"/>
                  <a:ea typeface="+mn-ea"/>
                  <a:cs typeface="+mn-cs"/>
                </a:rPr>
                <a:t>250</a:t>
              </a:r>
            </a:p>
          </p:txBody>
        </p:sp>
        <p:sp>
          <p:nvSpPr>
            <p:cNvPr id="115" name="Freeform 115"/>
            <p:cNvSpPr/>
            <p:nvPr/>
          </p:nvSpPr>
          <p:spPr>
            <a:xfrm>
              <a:off x="3810000" y="4514850"/>
              <a:ext cx="1695450" cy="1485900"/>
            </a:xfrm>
            <a:custGeom>
              <a:avLst/>
              <a:gdLst/>
              <a:ahLst/>
              <a:cxnLst/>
              <a:rect l="l" t="t" r="r" b="b"/>
              <a:pathLst>
                <a:path w="1695450" h="1485900">
                  <a:moveTo>
                    <a:pt x="0" y="819150"/>
                  </a:moveTo>
                  <a:lnTo>
                    <a:pt x="142875" y="561975"/>
                  </a:lnTo>
                  <a:lnTo>
                    <a:pt x="361950" y="504825"/>
                  </a:lnTo>
                  <a:lnTo>
                    <a:pt x="476250" y="323850"/>
                  </a:lnTo>
                  <a:lnTo>
                    <a:pt x="714375" y="276225"/>
                  </a:lnTo>
                  <a:lnTo>
                    <a:pt x="904875" y="85725"/>
                  </a:lnTo>
                  <a:lnTo>
                    <a:pt x="1123950" y="142875"/>
                  </a:lnTo>
                  <a:lnTo>
                    <a:pt x="1333500" y="0"/>
                  </a:lnTo>
                  <a:lnTo>
                    <a:pt x="1543050" y="57150"/>
                  </a:lnTo>
                  <a:lnTo>
                    <a:pt x="1638300" y="190500"/>
                  </a:lnTo>
                  <a:lnTo>
                    <a:pt x="1552575" y="323850"/>
                  </a:lnTo>
                  <a:lnTo>
                    <a:pt x="1695450" y="428625"/>
                  </a:lnTo>
                  <a:lnTo>
                    <a:pt x="1600200" y="609600"/>
                  </a:lnTo>
                  <a:lnTo>
                    <a:pt x="1428750" y="657225"/>
                  </a:lnTo>
                  <a:lnTo>
                    <a:pt x="1476375" y="838200"/>
                  </a:lnTo>
                  <a:lnTo>
                    <a:pt x="1362075" y="971550"/>
                  </a:lnTo>
                  <a:lnTo>
                    <a:pt x="1438275" y="1143000"/>
                  </a:lnTo>
                  <a:lnTo>
                    <a:pt x="1314450" y="1276350"/>
                  </a:lnTo>
                  <a:lnTo>
                    <a:pt x="1133475" y="1219200"/>
                  </a:lnTo>
                  <a:lnTo>
                    <a:pt x="1019175" y="1352550"/>
                  </a:lnTo>
                  <a:lnTo>
                    <a:pt x="847725" y="1285875"/>
                  </a:lnTo>
                  <a:lnTo>
                    <a:pt x="733425" y="1419225"/>
                  </a:lnTo>
                  <a:lnTo>
                    <a:pt x="561975" y="1485900"/>
                  </a:lnTo>
                  <a:lnTo>
                    <a:pt x="428625" y="1352550"/>
                  </a:lnTo>
                  <a:lnTo>
                    <a:pt x="257175" y="1266825"/>
                  </a:lnTo>
                  <a:lnTo>
                    <a:pt x="123825" y="1095375"/>
                  </a:lnTo>
                  <a:lnTo>
                    <a:pt x="19050" y="962025"/>
                  </a:lnTo>
                  <a:close/>
                </a:path>
              </a:pathLst>
            </a:custGeom>
            <a:solidFill>
              <a:srgbClr val="FFFFFF"/>
            </a:solidFill>
            <a:ln w="9525">
              <a:solidFill>
                <a:srgbClr val="EFAC9F"/>
              </a:solidFill>
            </a:ln>
          </p:spPr>
        </p:sp>
        <p:sp>
          <p:nvSpPr>
            <p:cNvPr id="116" name="Ellipse 116"/>
            <p:cNvSpPr/>
            <p:nvPr/>
          </p:nvSpPr>
          <p:spPr>
            <a:xfrm>
              <a:off x="4981575" y="4772025"/>
              <a:ext cx="95250" cy="95250"/>
            </a:xfrm>
            <a:prstGeom prst="ellipse">
              <a:avLst/>
            </a:prstGeom>
            <a:solidFill>
              <a:srgbClr val="E94B2B">
                <a:alpha val="85000"/>
              </a:srgbClr>
            </a:solidFill>
            <a:ln>
              <a:noFill/>
            </a:ln>
          </p:spPr>
        </p:sp>
        <p:sp>
          <p:nvSpPr>
            <p:cNvPr id="117" name="Ellipse 117"/>
            <p:cNvSpPr/>
            <p:nvPr/>
          </p:nvSpPr>
          <p:spPr>
            <a:xfrm>
              <a:off x="4448175" y="5133975"/>
              <a:ext cx="114300" cy="114300"/>
            </a:xfrm>
            <a:prstGeom prst="ellipse">
              <a:avLst/>
            </a:prstGeom>
            <a:solidFill>
              <a:srgbClr val="E94B2B">
                <a:alpha val="80000"/>
              </a:srgbClr>
            </a:solidFill>
            <a:ln>
              <a:noFill/>
            </a:ln>
          </p:spPr>
        </p:sp>
        <p:sp>
          <p:nvSpPr>
            <p:cNvPr id="118" name="Ellipse 118"/>
            <p:cNvSpPr/>
            <p:nvPr/>
          </p:nvSpPr>
          <p:spPr>
            <a:xfrm>
              <a:off x="4248150" y="5410200"/>
              <a:ext cx="133350" cy="133350"/>
            </a:xfrm>
            <a:prstGeom prst="ellipse">
              <a:avLst/>
            </a:prstGeom>
            <a:solidFill>
              <a:srgbClr val="E94B2B">
                <a:alpha val="80000"/>
              </a:srgbClr>
            </a:solidFill>
            <a:ln>
              <a:noFill/>
            </a:ln>
          </p:spPr>
        </p:sp>
        <p:sp>
          <p:nvSpPr>
            <p:cNvPr id="119" name="Ellipse 119"/>
            <p:cNvSpPr/>
            <p:nvPr/>
          </p:nvSpPr>
          <p:spPr>
            <a:xfrm>
              <a:off x="4114800" y="5753100"/>
              <a:ext cx="114300" cy="114300"/>
            </a:xfrm>
            <a:prstGeom prst="ellipse">
              <a:avLst/>
            </a:prstGeom>
            <a:solidFill>
              <a:srgbClr val="E94B2B">
                <a:alpha val="80000"/>
              </a:srgbClr>
            </a:solidFill>
            <a:ln>
              <a:noFill/>
            </a:ln>
          </p:spPr>
        </p:sp>
        <p:sp>
          <p:nvSpPr>
            <p:cNvPr id="120" name="Ellipse 120"/>
            <p:cNvSpPr/>
            <p:nvPr/>
          </p:nvSpPr>
          <p:spPr>
            <a:xfrm>
              <a:off x="4743450" y="5334000"/>
              <a:ext cx="95250" cy="95250"/>
            </a:xfrm>
            <a:prstGeom prst="ellipse">
              <a:avLst/>
            </a:prstGeom>
            <a:solidFill>
              <a:srgbClr val="F0856F"/>
            </a:solidFill>
            <a:ln>
              <a:noFill/>
            </a:ln>
          </p:spPr>
        </p:sp>
        <p:sp>
          <p:nvSpPr>
            <p:cNvPr id="121" name="Ellipse 121"/>
            <p:cNvSpPr/>
            <p:nvPr/>
          </p:nvSpPr>
          <p:spPr>
            <a:xfrm>
              <a:off x="5219700" y="5238750"/>
              <a:ext cx="95250" cy="95250"/>
            </a:xfrm>
            <a:prstGeom prst="ellipse">
              <a:avLst/>
            </a:prstGeom>
            <a:solidFill>
              <a:srgbClr val="F0856F"/>
            </a:solidFill>
            <a:ln>
              <a:noFill/>
            </a:ln>
          </p:spPr>
        </p:sp>
        <p:sp>
          <p:nvSpPr>
            <p:cNvPr id="122" name="Ellipse 122"/>
            <p:cNvSpPr/>
            <p:nvPr/>
          </p:nvSpPr>
          <p:spPr>
            <a:xfrm>
              <a:off x="4038600" y="5534025"/>
              <a:ext cx="76200" cy="76200"/>
            </a:xfrm>
            <a:prstGeom prst="ellipse">
              <a:avLst/>
            </a:prstGeom>
            <a:solidFill>
              <a:srgbClr val="F0856F"/>
            </a:solidFill>
            <a:ln>
              <a:noFill/>
            </a:ln>
          </p:spPr>
        </p:sp>
      </p:grpSp>
      <p:grpSp>
        <p:nvGrpSpPr>
          <p:cNvPr id="159" name="m-mining-scatter"/>
          <p:cNvGrpSpPr/>
          <p:nvPr/>
        </p:nvGrpSpPr>
        <p:grpSpPr>
          <a:xfrm>
            <a:off x="6172200" y="3924300"/>
            <a:ext cx="1981200" cy="2667000"/>
            <a:chOff x="6172200" y="3924300"/>
            <a:chExt cx="1981200" cy="2667000"/>
          </a:xfrm>
        </p:grpSpPr>
        <p:sp>
          <p:nvSpPr>
            <p:cNvPr id="124" name="Rectangle 124"/>
            <p:cNvSpPr/>
            <p:nvPr/>
          </p:nvSpPr>
          <p:spPr>
            <a:xfrm>
              <a:off x="6172200" y="3924300"/>
              <a:ext cx="1981200" cy="2667000"/>
            </a:xfrm>
            <a:prstGeom prst="rect">
              <a:avLst/>
            </a:prstGeom>
            <a:solidFill>
              <a:srgbClr val="FFFFFF"/>
            </a:solidFill>
            <a:ln w="11430">
              <a:solidFill>
                <a:srgbClr val="C9DDF5"/>
              </a:solidFill>
            </a:ln>
          </p:spPr>
        </p:sp>
        <p:sp>
          <p:nvSpPr>
            <p:cNvPr id="125" name="Rectangle 125"/>
            <p:cNvSpPr/>
            <p:nvPr/>
          </p:nvSpPr>
          <p:spPr>
            <a:xfrm>
              <a:off x="6267450" y="4019550"/>
              <a:ext cx="1524000" cy="228600"/>
            </a:xfrm>
            <a:prstGeom prst="rect">
              <a:avLst/>
            </a:prstGeom>
            <a:gradFill>
              <a:gsLst>
                <a:gs pos="0">
                  <a:srgbClr val="FF5B3A"/>
                </a:gs>
                <a:gs pos="100000">
                  <a:srgbClr val="E94B2B"/>
                </a:gs>
              </a:gsLst>
              <a:lin ang="0" scaled="1"/>
            </a:gradFill>
            <a:ln>
              <a:noFill/>
            </a:ln>
          </p:spPr>
        </p:sp>
        <p:sp>
          <p:nvSpPr>
            <p:cNvPr id="126" name="Polygon 126"/>
            <p:cNvSpPr/>
            <p:nvPr/>
          </p:nvSpPr>
          <p:spPr>
            <a:xfrm>
              <a:off x="7696200" y="4019550"/>
              <a:ext cx="95250" cy="228600"/>
            </a:xfrm>
            <a:custGeom>
              <a:avLst/>
              <a:gdLst/>
              <a:ahLst/>
              <a:cxnLst/>
              <a:rect l="l" t="t" r="r" b="b"/>
              <a:pathLst>
                <a:path w="95250" h="228600">
                  <a:moveTo>
                    <a:pt x="0" y="0"/>
                  </a:moveTo>
                  <a:lnTo>
                    <a:pt x="95250" y="0"/>
                  </a:lnTo>
                  <a:lnTo>
                    <a:pt x="0" y="228600"/>
                  </a:lnTo>
                  <a:close/>
                </a:path>
              </a:pathLst>
            </a:custGeom>
            <a:solidFill>
              <a:srgbClr val="C83B1E"/>
            </a:solidFill>
            <a:ln>
              <a:noFill/>
            </a:ln>
          </p:spPr>
        </p:sp>
        <p:grpSp>
          <p:nvGrpSpPr>
            <p:cNvPr id="130" name="Group 130"/>
            <p:cNvGrpSpPr/>
            <p:nvPr/>
          </p:nvGrpSpPr>
          <p:grpSpPr>
            <a:xfrm>
              <a:off x="6340078" y="4082653"/>
              <a:ext cx="92869" cy="92869"/>
              <a:chOff x="6340078" y="4082653"/>
              <a:chExt cx="92869" cy="92869"/>
            </a:xfrm>
          </p:grpSpPr>
          <p:sp>
            <p:nvSpPr>
              <p:cNvPr id="127" name="Freeform 127"/>
              <p:cNvSpPr/>
              <p:nvPr/>
            </p:nvSpPr>
            <p:spPr>
              <a:xfrm>
                <a:off x="6381353" y="4123928"/>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0319">
                <a:solidFill>
                  <a:srgbClr val="FFFFFF"/>
                </a:solidFill>
              </a:ln>
            </p:spPr>
          </p:sp>
          <p:sp>
            <p:nvSpPr>
              <p:cNvPr id="128" name="Freeform 128"/>
              <p:cNvSpPr/>
              <p:nvPr/>
            </p:nvSpPr>
            <p:spPr>
              <a:xfrm>
                <a:off x="6360716" y="4103291"/>
                <a:ext cx="51594" cy="51594"/>
              </a:xfrm>
              <a:custGeom>
                <a:avLst/>
                <a:gdLst/>
                <a:ahLst/>
                <a:cxnLst/>
                <a:rect l="l" t="t" r="r" b="b"/>
                <a:pathLst>
                  <a:path w="51594" h="51594">
                    <a:moveTo>
                      <a:pt x="0" y="25797"/>
                    </a:moveTo>
                    <a:cubicBezTo>
                      <a:pt x="0" y="40044"/>
                      <a:pt x="11550" y="51594"/>
                      <a:pt x="25797" y="51594"/>
                    </a:cubicBezTo>
                    <a:cubicBezTo>
                      <a:pt x="40044" y="51594"/>
                      <a:pt x="51594" y="40044"/>
                      <a:pt x="51594" y="25797"/>
                    </a:cubicBezTo>
                    <a:cubicBezTo>
                      <a:pt x="51594" y="11550"/>
                      <a:pt x="40044" y="0"/>
                      <a:pt x="25797" y="0"/>
                    </a:cubicBezTo>
                    <a:cubicBezTo>
                      <a:pt x="11550" y="0"/>
                      <a:pt x="0" y="11550"/>
                      <a:pt x="0" y="25797"/>
                    </a:cubicBezTo>
                  </a:path>
                </a:pathLst>
              </a:custGeom>
              <a:noFill/>
              <a:ln w="10319">
                <a:solidFill>
                  <a:srgbClr val="FFFFFF"/>
                </a:solidFill>
              </a:ln>
            </p:spPr>
          </p:sp>
          <p:sp>
            <p:nvSpPr>
              <p:cNvPr id="129" name="Freeform 129"/>
              <p:cNvSpPr/>
              <p:nvPr/>
            </p:nvSpPr>
            <p:spPr>
              <a:xfrm>
                <a:off x="6340078" y="4082653"/>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FFFFFF"/>
                </a:solidFill>
              </a:ln>
            </p:spPr>
          </p:sp>
        </p:grpSp>
        <p:sp>
          <p:nvSpPr>
            <p:cNvPr id="131" name="TextBox 131"/>
            <p:cNvSpPr txBox="1"/>
            <p:nvPr/>
          </p:nvSpPr>
          <p:spPr>
            <a:xfrm>
              <a:off x="6491288" y="4088368"/>
              <a:ext cx="704164" cy="169069"/>
            </a:xfrm>
            <a:prstGeom prst="rect">
              <a:avLst/>
            </a:prstGeom>
            <a:noFill/>
            <a:ln>
              <a:noFill/>
            </a:ln>
          </p:spPr>
          <p:txBody>
            <a:bodyPr wrap="none" lIns="0" tIns="0" rIns="0" bIns="0" anchor="t" anchorCtr="0">
              <a:spAutoFit/>
            </a:bodyPr>
            <a:lstStyle/>
            <a:p>
              <a:pPr algn="l"/>
              <a:r>
                <a:rPr lang="zh-CN" sz="860" b="1" dirty="0">
                  <a:solidFill>
                    <a:srgbClr val="FFFFFF"/>
                  </a:solidFill>
                  <a:latin typeface="+mn-lt"/>
                  <a:ea typeface="+mn-ea"/>
                  <a:cs typeface="+mn-cs"/>
                </a:rPr>
                <a:t>优质渠道挖掘</a:t>
              </a:r>
            </a:p>
          </p:txBody>
        </p:sp>
        <p:sp>
          <p:nvSpPr>
            <p:cNvPr id="132" name="Rectangle 132"/>
            <p:cNvSpPr/>
            <p:nvPr/>
          </p:nvSpPr>
          <p:spPr>
            <a:xfrm>
              <a:off x="7210425" y="4381500"/>
              <a:ext cx="695325" cy="857250"/>
            </a:xfrm>
            <a:prstGeom prst="rect">
              <a:avLst/>
            </a:prstGeom>
            <a:solidFill>
              <a:srgbClr val="F2563B">
                <a:alpha val="18000"/>
              </a:srgbClr>
            </a:solidFill>
            <a:ln>
              <a:noFill/>
            </a:ln>
          </p:spPr>
        </p:sp>
        <p:sp>
          <p:nvSpPr>
            <p:cNvPr id="133" name="Rectangle 133"/>
            <p:cNvSpPr/>
            <p:nvPr/>
          </p:nvSpPr>
          <p:spPr>
            <a:xfrm>
              <a:off x="6524625" y="5257800"/>
              <a:ext cx="1381125" cy="838200"/>
            </a:xfrm>
            <a:prstGeom prst="rect">
              <a:avLst/>
            </a:prstGeom>
            <a:solidFill>
              <a:srgbClr val="DCEBFB">
                <a:alpha val="40000"/>
              </a:srgbClr>
            </a:solidFill>
            <a:ln>
              <a:noFill/>
            </a:ln>
          </p:spPr>
        </p:sp>
        <p:sp>
          <p:nvSpPr>
            <p:cNvPr id="134" name="Line 134"/>
            <p:cNvSpPr/>
            <p:nvPr/>
          </p:nvSpPr>
          <p:spPr>
            <a:xfrm>
              <a:off x="6524625" y="4381500"/>
              <a:ext cx="9525" cy="1714500"/>
            </a:xfrm>
            <a:custGeom>
              <a:avLst/>
              <a:gdLst/>
              <a:ahLst/>
              <a:cxnLst/>
              <a:rect l="l" t="t" r="r" b="b"/>
              <a:pathLst>
                <a:path w="9525" h="1714500">
                  <a:moveTo>
                    <a:pt x="0" y="0"/>
                  </a:moveTo>
                  <a:lnTo>
                    <a:pt x="0" y="1714500"/>
                  </a:lnTo>
                </a:path>
              </a:pathLst>
            </a:custGeom>
            <a:noFill/>
            <a:ln w="9525">
              <a:solidFill>
                <a:srgbClr val="E6C1B9"/>
              </a:solidFill>
            </a:ln>
          </p:spPr>
        </p:sp>
        <p:sp>
          <p:nvSpPr>
            <p:cNvPr id="135" name="Line 135"/>
            <p:cNvSpPr/>
            <p:nvPr/>
          </p:nvSpPr>
          <p:spPr>
            <a:xfrm>
              <a:off x="6524625" y="6096000"/>
              <a:ext cx="1381125" cy="9525"/>
            </a:xfrm>
            <a:custGeom>
              <a:avLst/>
              <a:gdLst/>
              <a:ahLst/>
              <a:cxnLst/>
              <a:rect l="l" t="t" r="r" b="b"/>
              <a:pathLst>
                <a:path w="1381125" h="9525">
                  <a:moveTo>
                    <a:pt x="0" y="0"/>
                  </a:moveTo>
                  <a:lnTo>
                    <a:pt x="1381125" y="0"/>
                  </a:lnTo>
                </a:path>
              </a:pathLst>
            </a:custGeom>
            <a:noFill/>
            <a:ln w="9525">
              <a:solidFill>
                <a:srgbClr val="E6C1B9"/>
              </a:solidFill>
            </a:ln>
          </p:spPr>
        </p:sp>
        <p:sp>
          <p:nvSpPr>
            <p:cNvPr id="136" name="Line 136"/>
            <p:cNvSpPr/>
            <p:nvPr/>
          </p:nvSpPr>
          <p:spPr>
            <a:xfrm>
              <a:off x="6524625" y="4381500"/>
              <a:ext cx="1381125" cy="9525"/>
            </a:xfrm>
            <a:custGeom>
              <a:avLst/>
              <a:gdLst/>
              <a:ahLst/>
              <a:cxnLst/>
              <a:rect l="l" t="t" r="r" b="b"/>
              <a:pathLst>
                <a:path w="1381125" h="9525">
                  <a:moveTo>
                    <a:pt x="0" y="0"/>
                  </a:moveTo>
                  <a:lnTo>
                    <a:pt x="1381125" y="0"/>
                  </a:lnTo>
                </a:path>
              </a:pathLst>
            </a:custGeom>
            <a:noFill/>
            <a:ln w="9525">
              <a:solidFill>
                <a:srgbClr val="EAF2FC"/>
              </a:solidFill>
            </a:ln>
          </p:spPr>
        </p:sp>
        <p:sp>
          <p:nvSpPr>
            <p:cNvPr id="137" name="Line 137"/>
            <p:cNvSpPr/>
            <p:nvPr/>
          </p:nvSpPr>
          <p:spPr>
            <a:xfrm>
              <a:off x="6524625" y="4810125"/>
              <a:ext cx="1381125" cy="9525"/>
            </a:xfrm>
            <a:custGeom>
              <a:avLst/>
              <a:gdLst/>
              <a:ahLst/>
              <a:cxnLst/>
              <a:rect l="l" t="t" r="r" b="b"/>
              <a:pathLst>
                <a:path w="1381125" h="9525">
                  <a:moveTo>
                    <a:pt x="0" y="0"/>
                  </a:moveTo>
                  <a:lnTo>
                    <a:pt x="1381125" y="0"/>
                  </a:lnTo>
                </a:path>
              </a:pathLst>
            </a:custGeom>
            <a:noFill/>
            <a:ln w="9525">
              <a:solidFill>
                <a:srgbClr val="EAF2FC"/>
              </a:solidFill>
            </a:ln>
          </p:spPr>
        </p:sp>
        <p:sp>
          <p:nvSpPr>
            <p:cNvPr id="138" name="Line 138"/>
            <p:cNvSpPr/>
            <p:nvPr/>
          </p:nvSpPr>
          <p:spPr>
            <a:xfrm>
              <a:off x="6524625" y="5238750"/>
              <a:ext cx="1381125" cy="9525"/>
            </a:xfrm>
            <a:custGeom>
              <a:avLst/>
              <a:gdLst/>
              <a:ahLst/>
              <a:cxnLst/>
              <a:rect l="l" t="t" r="r" b="b"/>
              <a:pathLst>
                <a:path w="1381125" h="9525">
                  <a:moveTo>
                    <a:pt x="0" y="0"/>
                  </a:moveTo>
                  <a:lnTo>
                    <a:pt x="1381125" y="0"/>
                  </a:lnTo>
                </a:path>
              </a:pathLst>
            </a:custGeom>
            <a:noFill/>
            <a:ln w="9525">
              <a:solidFill>
                <a:srgbClr val="EAF2FC"/>
              </a:solidFill>
            </a:ln>
          </p:spPr>
        </p:sp>
        <p:sp>
          <p:nvSpPr>
            <p:cNvPr id="139" name="Line 139"/>
            <p:cNvSpPr/>
            <p:nvPr/>
          </p:nvSpPr>
          <p:spPr>
            <a:xfrm>
              <a:off x="6524625" y="5667375"/>
              <a:ext cx="1381125" cy="9525"/>
            </a:xfrm>
            <a:custGeom>
              <a:avLst/>
              <a:gdLst/>
              <a:ahLst/>
              <a:cxnLst/>
              <a:rect l="l" t="t" r="r" b="b"/>
              <a:pathLst>
                <a:path w="1381125" h="9525">
                  <a:moveTo>
                    <a:pt x="0" y="0"/>
                  </a:moveTo>
                  <a:lnTo>
                    <a:pt x="1381125" y="0"/>
                  </a:lnTo>
                </a:path>
              </a:pathLst>
            </a:custGeom>
            <a:noFill/>
            <a:ln w="9525">
              <a:solidFill>
                <a:srgbClr val="EAF2FC"/>
              </a:solidFill>
            </a:ln>
          </p:spPr>
        </p:sp>
        <p:sp>
          <p:nvSpPr>
            <p:cNvPr id="140" name="TextBox 140"/>
            <p:cNvSpPr txBox="1"/>
            <p:nvPr/>
          </p:nvSpPr>
          <p:spPr>
            <a:xfrm>
              <a:off x="6327757" y="4353401"/>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4000</a:t>
              </a:r>
            </a:p>
          </p:txBody>
        </p:sp>
        <p:sp>
          <p:nvSpPr>
            <p:cNvPr id="141" name="TextBox 141"/>
            <p:cNvSpPr txBox="1"/>
            <p:nvPr/>
          </p:nvSpPr>
          <p:spPr>
            <a:xfrm>
              <a:off x="6327757" y="4782026"/>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3000</a:t>
              </a:r>
            </a:p>
          </p:txBody>
        </p:sp>
        <p:sp>
          <p:nvSpPr>
            <p:cNvPr id="142" name="TextBox 142"/>
            <p:cNvSpPr txBox="1"/>
            <p:nvPr/>
          </p:nvSpPr>
          <p:spPr>
            <a:xfrm>
              <a:off x="6327757" y="5210651"/>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2000</a:t>
              </a:r>
            </a:p>
          </p:txBody>
        </p:sp>
        <p:sp>
          <p:nvSpPr>
            <p:cNvPr id="143" name="TextBox 143"/>
            <p:cNvSpPr txBox="1"/>
            <p:nvPr/>
          </p:nvSpPr>
          <p:spPr>
            <a:xfrm>
              <a:off x="6327757" y="5639276"/>
              <a:ext cx="163530"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1000</a:t>
              </a:r>
            </a:p>
          </p:txBody>
        </p:sp>
        <p:sp>
          <p:nvSpPr>
            <p:cNvPr id="144" name="TextBox 144"/>
            <p:cNvSpPr txBox="1"/>
            <p:nvPr/>
          </p:nvSpPr>
          <p:spPr>
            <a:xfrm>
              <a:off x="6443261" y="6067901"/>
              <a:ext cx="48026" cy="104775"/>
            </a:xfrm>
            <a:prstGeom prst="rect">
              <a:avLst/>
            </a:prstGeom>
            <a:noFill/>
            <a:ln>
              <a:noFill/>
            </a:ln>
          </p:spPr>
          <p:txBody>
            <a:bodyPr wrap="none" lIns="0" tIns="0" rIns="0" bIns="0" anchor="t" anchorCtr="0">
              <a:spAutoFit/>
            </a:bodyPr>
            <a:lstStyle/>
            <a:p>
              <a:pPr algn="r"/>
              <a:r>
                <a:rPr lang="zh-CN" sz="520" dirty="0">
                  <a:solidFill>
                    <a:srgbClr val="A6817A"/>
                  </a:solidFill>
                  <a:latin typeface="+mn-lt"/>
                  <a:ea typeface="+mn-ea"/>
                  <a:cs typeface="+mn-cs"/>
                </a:rPr>
                <a:t>0</a:t>
              </a:r>
            </a:p>
          </p:txBody>
        </p:sp>
        <p:sp>
          <p:nvSpPr>
            <p:cNvPr id="145" name="TextBox 145"/>
            <p:cNvSpPr txBox="1"/>
            <p:nvPr/>
          </p:nvSpPr>
          <p:spPr>
            <a:xfrm>
              <a:off x="6500612" y="6153626"/>
              <a:ext cx="48026" cy="104775"/>
            </a:xfrm>
            <a:prstGeom prst="rect">
              <a:avLst/>
            </a:prstGeom>
            <a:noFill/>
            <a:ln>
              <a:noFill/>
            </a:ln>
          </p:spPr>
          <p:txBody>
            <a:bodyPr wrap="none" lIns="0" tIns="0" rIns="0" bIns="0" anchor="t" anchorCtr="0">
              <a:spAutoFit/>
            </a:bodyPr>
            <a:lstStyle/>
            <a:p>
              <a:pPr algn="ctr"/>
              <a:r>
                <a:rPr lang="zh-CN" sz="520" dirty="0">
                  <a:solidFill>
                    <a:srgbClr val="A6817A"/>
                  </a:solidFill>
                  <a:latin typeface="+mn-lt"/>
                  <a:ea typeface="+mn-ea"/>
                  <a:cs typeface="+mn-cs"/>
                </a:rPr>
                <a:t>0</a:t>
              </a:r>
            </a:p>
          </p:txBody>
        </p:sp>
        <p:sp>
          <p:nvSpPr>
            <p:cNvPr id="146" name="TextBox 146"/>
            <p:cNvSpPr txBox="1"/>
            <p:nvPr/>
          </p:nvSpPr>
          <p:spPr>
            <a:xfrm>
              <a:off x="6919311" y="6153626"/>
              <a:ext cx="125029" cy="104775"/>
            </a:xfrm>
            <a:prstGeom prst="rect">
              <a:avLst/>
            </a:prstGeom>
            <a:noFill/>
            <a:ln>
              <a:noFill/>
            </a:ln>
          </p:spPr>
          <p:txBody>
            <a:bodyPr wrap="none" lIns="0" tIns="0" rIns="0" bIns="0" anchor="t" anchorCtr="0">
              <a:spAutoFit/>
            </a:bodyPr>
            <a:lstStyle/>
            <a:p>
              <a:pPr algn="ctr"/>
              <a:r>
                <a:rPr lang="zh-CN" sz="520" dirty="0">
                  <a:solidFill>
                    <a:srgbClr val="A6817A"/>
                  </a:solidFill>
                  <a:latin typeface="+mn-lt"/>
                  <a:ea typeface="+mn-ea"/>
                  <a:cs typeface="+mn-cs"/>
                </a:rPr>
                <a:t>200</a:t>
              </a:r>
            </a:p>
          </p:txBody>
        </p:sp>
        <p:sp>
          <p:nvSpPr>
            <p:cNvPr id="147" name="TextBox 147"/>
            <p:cNvSpPr txBox="1"/>
            <p:nvPr/>
          </p:nvSpPr>
          <p:spPr>
            <a:xfrm>
              <a:off x="7376511" y="6153626"/>
              <a:ext cx="125029" cy="104775"/>
            </a:xfrm>
            <a:prstGeom prst="rect">
              <a:avLst/>
            </a:prstGeom>
            <a:noFill/>
            <a:ln>
              <a:noFill/>
            </a:ln>
          </p:spPr>
          <p:txBody>
            <a:bodyPr wrap="none" lIns="0" tIns="0" rIns="0" bIns="0" anchor="t" anchorCtr="0">
              <a:spAutoFit/>
            </a:bodyPr>
            <a:lstStyle/>
            <a:p>
              <a:pPr algn="ctr"/>
              <a:r>
                <a:rPr lang="zh-CN" sz="520" dirty="0">
                  <a:solidFill>
                    <a:srgbClr val="A6817A"/>
                  </a:solidFill>
                  <a:latin typeface="+mn-lt"/>
                  <a:ea typeface="+mn-ea"/>
                  <a:cs typeface="+mn-cs"/>
                </a:rPr>
                <a:t>400</a:t>
              </a:r>
            </a:p>
          </p:txBody>
        </p:sp>
        <p:sp>
          <p:nvSpPr>
            <p:cNvPr id="148" name="TextBox 148"/>
            <p:cNvSpPr txBox="1"/>
            <p:nvPr/>
          </p:nvSpPr>
          <p:spPr>
            <a:xfrm>
              <a:off x="7833711" y="6153626"/>
              <a:ext cx="125029" cy="104775"/>
            </a:xfrm>
            <a:prstGeom prst="rect">
              <a:avLst/>
            </a:prstGeom>
            <a:noFill/>
            <a:ln>
              <a:noFill/>
            </a:ln>
          </p:spPr>
          <p:txBody>
            <a:bodyPr wrap="none" lIns="0" tIns="0" rIns="0" bIns="0" anchor="t" anchorCtr="0">
              <a:spAutoFit/>
            </a:bodyPr>
            <a:lstStyle/>
            <a:p>
              <a:pPr algn="ctr"/>
              <a:r>
                <a:rPr lang="zh-CN" sz="520" dirty="0">
                  <a:solidFill>
                    <a:srgbClr val="A6817A"/>
                  </a:solidFill>
                  <a:latin typeface="+mn-lt"/>
                  <a:ea typeface="+mn-ea"/>
                  <a:cs typeface="+mn-cs"/>
                </a:rPr>
                <a:t>600</a:t>
              </a:r>
            </a:p>
          </p:txBody>
        </p:sp>
        <p:sp>
          <p:nvSpPr>
            <p:cNvPr id="149" name="TextBox 149"/>
            <p:cNvSpPr txBox="1"/>
            <p:nvPr/>
          </p:nvSpPr>
          <p:spPr>
            <a:xfrm>
              <a:off x="6770301" y="6263878"/>
              <a:ext cx="880247"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获取用户量（浏览时间）​</a:t>
              </a:r>
            </a:p>
          </p:txBody>
        </p:sp>
        <p:sp>
          <p:nvSpPr>
            <p:cNvPr id="150" name="TextBox 150"/>
            <p:cNvSpPr txBox="1"/>
            <p:nvPr/>
          </p:nvSpPr>
          <p:spPr>
            <a:xfrm rot="-5400000">
              <a:off x="6240094" y="5182791"/>
              <a:ext cx="235687"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获客数</a:t>
              </a:r>
            </a:p>
          </p:txBody>
        </p:sp>
        <p:sp>
          <p:nvSpPr>
            <p:cNvPr id="151" name="Ellipse 151"/>
            <p:cNvSpPr/>
            <p:nvPr/>
          </p:nvSpPr>
          <p:spPr>
            <a:xfrm>
              <a:off x="7400925" y="4505325"/>
              <a:ext cx="285750" cy="285750"/>
            </a:xfrm>
            <a:prstGeom prst="ellipse">
              <a:avLst/>
            </a:prstGeom>
            <a:solidFill>
              <a:srgbClr val="F2563B">
                <a:alpha val="75000"/>
              </a:srgbClr>
            </a:solidFill>
            <a:ln>
              <a:noFill/>
            </a:ln>
          </p:spPr>
        </p:sp>
        <p:sp>
          <p:nvSpPr>
            <p:cNvPr id="152" name="TextBox 152"/>
            <p:cNvSpPr txBox="1"/>
            <p:nvPr/>
          </p:nvSpPr>
          <p:spPr>
            <a:xfrm>
              <a:off x="7309780" y="4839176"/>
              <a:ext cx="468041" cy="104775"/>
            </a:xfrm>
            <a:prstGeom prst="rect">
              <a:avLst/>
            </a:prstGeom>
            <a:noFill/>
            <a:ln>
              <a:noFill/>
            </a:ln>
          </p:spPr>
          <p:txBody>
            <a:bodyPr wrap="none" lIns="0" tIns="0" rIns="0" bIns="0" anchor="t" anchorCtr="0">
              <a:spAutoFit/>
            </a:bodyPr>
            <a:lstStyle/>
            <a:p>
              <a:pPr algn="ctr"/>
              <a:r>
                <a:rPr lang="zh-CN" sz="520" dirty="0">
                  <a:solidFill>
                    <a:srgbClr val="684F4A"/>
                  </a:solidFill>
                  <a:latin typeface="+mn-lt"/>
                  <a:ea typeface="+mn-ea"/>
                  <a:cs typeface="+mn-cs"/>
                </a:rPr>
                <a:t>线下活动推广​</a:t>
              </a:r>
            </a:p>
          </p:txBody>
        </p:sp>
        <p:sp>
          <p:nvSpPr>
            <p:cNvPr id="153" name="Ellipse 153"/>
            <p:cNvSpPr/>
            <p:nvPr/>
          </p:nvSpPr>
          <p:spPr>
            <a:xfrm>
              <a:off x="6943725" y="5038725"/>
              <a:ext cx="209550" cy="209550"/>
            </a:xfrm>
            <a:prstGeom prst="ellipse">
              <a:avLst/>
            </a:prstGeom>
            <a:solidFill>
              <a:srgbClr val="E94B2B">
                <a:alpha val="70000"/>
              </a:srgbClr>
            </a:solidFill>
            <a:ln>
              <a:noFill/>
            </a:ln>
          </p:spPr>
        </p:sp>
        <p:sp>
          <p:nvSpPr>
            <p:cNvPr id="154" name="TextBox 154"/>
            <p:cNvSpPr txBox="1"/>
            <p:nvPr/>
          </p:nvSpPr>
          <p:spPr>
            <a:xfrm>
              <a:off x="6849481" y="5296376"/>
              <a:ext cx="398038" cy="104775"/>
            </a:xfrm>
            <a:prstGeom prst="rect">
              <a:avLst/>
            </a:prstGeom>
            <a:noFill/>
            <a:ln>
              <a:noFill/>
            </a:ln>
          </p:spPr>
          <p:txBody>
            <a:bodyPr wrap="none" lIns="0" tIns="0" rIns="0" bIns="0" anchor="t" anchorCtr="0">
              <a:spAutoFit/>
            </a:bodyPr>
            <a:lstStyle/>
            <a:p>
              <a:pPr algn="ctr"/>
              <a:r>
                <a:rPr lang="zh-CN" sz="520" dirty="0">
                  <a:solidFill>
                    <a:srgbClr val="684F4A"/>
                  </a:solidFill>
                  <a:latin typeface="+mn-lt"/>
                  <a:ea typeface="+mn-ea"/>
                  <a:cs typeface="+mn-cs"/>
                </a:rPr>
                <a:t>新媒体推广​</a:t>
              </a:r>
            </a:p>
          </p:txBody>
        </p:sp>
        <p:sp>
          <p:nvSpPr>
            <p:cNvPr id="155" name="Ellipse 155"/>
            <p:cNvSpPr/>
            <p:nvPr/>
          </p:nvSpPr>
          <p:spPr>
            <a:xfrm>
              <a:off x="7067550" y="5562600"/>
              <a:ext cx="152400" cy="152400"/>
            </a:xfrm>
            <a:prstGeom prst="ellipse">
              <a:avLst/>
            </a:prstGeom>
            <a:solidFill>
              <a:srgbClr val="C83B1E">
                <a:alpha val="70000"/>
              </a:srgbClr>
            </a:solidFill>
            <a:ln>
              <a:noFill/>
            </a:ln>
          </p:spPr>
        </p:sp>
        <p:sp>
          <p:nvSpPr>
            <p:cNvPr id="156" name="TextBox 156"/>
            <p:cNvSpPr txBox="1"/>
            <p:nvPr/>
          </p:nvSpPr>
          <p:spPr>
            <a:xfrm>
              <a:off x="6909730" y="5753576"/>
              <a:ext cx="468041" cy="104775"/>
            </a:xfrm>
            <a:prstGeom prst="rect">
              <a:avLst/>
            </a:prstGeom>
            <a:noFill/>
            <a:ln>
              <a:noFill/>
            </a:ln>
          </p:spPr>
          <p:txBody>
            <a:bodyPr wrap="none" lIns="0" tIns="0" rIns="0" bIns="0" anchor="t" anchorCtr="0">
              <a:spAutoFit/>
            </a:bodyPr>
            <a:lstStyle/>
            <a:p>
              <a:pPr algn="ctr"/>
              <a:r>
                <a:rPr lang="zh-CN" sz="520" dirty="0">
                  <a:solidFill>
                    <a:srgbClr val="684F4A"/>
                  </a:solidFill>
                  <a:latin typeface="+mn-lt"/>
                  <a:ea typeface="+mn-ea"/>
                  <a:cs typeface="+mn-cs"/>
                </a:rPr>
                <a:t>手机厂商预装​</a:t>
              </a:r>
            </a:p>
          </p:txBody>
        </p:sp>
        <p:sp>
          <p:nvSpPr>
            <p:cNvPr id="157" name="Ellipse 157"/>
            <p:cNvSpPr/>
            <p:nvPr/>
          </p:nvSpPr>
          <p:spPr>
            <a:xfrm>
              <a:off x="6619875" y="5838825"/>
              <a:ext cx="133350" cy="133350"/>
            </a:xfrm>
            <a:prstGeom prst="ellipse">
              <a:avLst/>
            </a:prstGeom>
            <a:solidFill>
              <a:srgbClr val="F0856F"/>
            </a:solidFill>
            <a:ln>
              <a:noFill/>
            </a:ln>
          </p:spPr>
        </p:sp>
        <p:sp>
          <p:nvSpPr>
            <p:cNvPr id="158" name="TextBox 158"/>
            <p:cNvSpPr txBox="1"/>
            <p:nvPr/>
          </p:nvSpPr>
          <p:spPr>
            <a:xfrm>
              <a:off x="6452530" y="6001226"/>
              <a:ext cx="468041" cy="104775"/>
            </a:xfrm>
            <a:prstGeom prst="rect">
              <a:avLst/>
            </a:prstGeom>
            <a:noFill/>
            <a:ln>
              <a:noFill/>
            </a:ln>
          </p:spPr>
          <p:txBody>
            <a:bodyPr wrap="none" lIns="0" tIns="0" rIns="0" bIns="0" anchor="t" anchorCtr="0">
              <a:spAutoFit/>
            </a:bodyPr>
            <a:lstStyle/>
            <a:p>
              <a:pPr algn="ctr"/>
              <a:r>
                <a:rPr lang="zh-CN" sz="520" dirty="0">
                  <a:solidFill>
                    <a:srgbClr val="684F4A"/>
                  </a:solidFill>
                  <a:latin typeface="+mn-lt"/>
                  <a:ea typeface="+mn-ea"/>
                  <a:cs typeface="+mn-cs"/>
                </a:rPr>
                <a:t>基础线上工作​</a:t>
              </a:r>
            </a:p>
          </p:txBody>
        </p:sp>
      </p:grpSp>
      <p:grpSp>
        <p:nvGrpSpPr>
          <p:cNvPr id="201" name="m-source-channel"/>
          <p:cNvGrpSpPr/>
          <p:nvPr/>
        </p:nvGrpSpPr>
        <p:grpSpPr>
          <a:xfrm>
            <a:off x="8439150" y="838200"/>
            <a:ext cx="3276600" cy="5524500"/>
            <a:chOff x="8439150" y="838200"/>
            <a:chExt cx="3276600" cy="5524500"/>
          </a:xfrm>
        </p:grpSpPr>
        <p:sp>
          <p:nvSpPr>
            <p:cNvPr id="160" name="Rectangle 160"/>
            <p:cNvSpPr/>
            <p:nvPr/>
          </p:nvSpPr>
          <p:spPr>
            <a:xfrm>
              <a:off x="8439150" y="838200"/>
              <a:ext cx="3276600" cy="5524500"/>
            </a:xfrm>
            <a:prstGeom prst="rect">
              <a:avLst/>
            </a:prstGeom>
            <a:solidFill>
              <a:srgbClr val="FFFFFF"/>
            </a:solidFill>
            <a:ln w="11430">
              <a:solidFill>
                <a:srgbClr val="C9DDF5"/>
              </a:solidFill>
            </a:ln>
          </p:spPr>
        </p:sp>
        <p:sp>
          <p:nvSpPr>
            <p:cNvPr id="161" name="Rectangle 161"/>
            <p:cNvSpPr/>
            <p:nvPr/>
          </p:nvSpPr>
          <p:spPr>
            <a:xfrm>
              <a:off x="8534400" y="933450"/>
              <a:ext cx="2286000" cy="247650"/>
            </a:xfrm>
            <a:prstGeom prst="rect">
              <a:avLst/>
            </a:prstGeom>
            <a:gradFill>
              <a:gsLst>
                <a:gs pos="0">
                  <a:srgbClr val="FF5B3A"/>
                </a:gs>
                <a:gs pos="100000">
                  <a:srgbClr val="E94B2B"/>
                </a:gs>
              </a:gsLst>
              <a:lin ang="0" scaled="1"/>
            </a:gradFill>
            <a:ln>
              <a:noFill/>
            </a:ln>
          </p:spPr>
        </p:sp>
        <p:sp>
          <p:nvSpPr>
            <p:cNvPr id="162" name="Polygon 162"/>
            <p:cNvSpPr/>
            <p:nvPr/>
          </p:nvSpPr>
          <p:spPr>
            <a:xfrm>
              <a:off x="10725150" y="9334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grpSp>
          <p:nvGrpSpPr>
            <p:cNvPr id="167" name="Group 167"/>
            <p:cNvGrpSpPr/>
            <p:nvPr/>
          </p:nvGrpSpPr>
          <p:grpSpPr>
            <a:xfrm>
              <a:off x="8648700" y="990600"/>
              <a:ext cx="114300" cy="114301"/>
              <a:chOff x="8648700" y="990600"/>
              <a:chExt cx="114300" cy="114301"/>
            </a:xfrm>
          </p:grpSpPr>
          <p:sp>
            <p:nvSpPr>
              <p:cNvPr id="163" name="Freeform 163"/>
              <p:cNvSpPr/>
              <p:nvPr/>
            </p:nvSpPr>
            <p:spPr>
              <a:xfrm>
                <a:off x="8661400" y="9906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64" name="Freeform 164"/>
              <p:cNvSpPr/>
              <p:nvPr/>
            </p:nvSpPr>
            <p:spPr>
              <a:xfrm>
                <a:off x="8648700" y="10668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165" name="Freeform 165"/>
              <p:cNvSpPr/>
              <p:nvPr/>
            </p:nvSpPr>
            <p:spPr>
              <a:xfrm>
                <a:off x="8731250" y="9914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166" name="Freeform 166"/>
              <p:cNvSpPr/>
              <p:nvPr/>
            </p:nvSpPr>
            <p:spPr>
              <a:xfrm>
                <a:off x="8743950" y="10677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168" name="TextBox 168"/>
            <p:cNvSpPr txBox="1"/>
            <p:nvPr/>
          </p:nvSpPr>
          <p:spPr>
            <a:xfrm>
              <a:off x="8834056" y="995601"/>
              <a:ext cx="1098017"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用户来源渠道分析</a:t>
              </a:r>
            </a:p>
          </p:txBody>
        </p:sp>
        <p:sp>
          <p:nvSpPr>
            <p:cNvPr id="169" name="TextBox 169"/>
            <p:cNvSpPr txBox="1"/>
            <p:nvPr/>
          </p:nvSpPr>
          <p:spPr>
            <a:xfrm>
              <a:off x="8586788" y="1384697"/>
              <a:ext cx="895325" cy="183356"/>
            </a:xfrm>
            <a:prstGeom prst="rect">
              <a:avLst/>
            </a:prstGeom>
            <a:noFill/>
            <a:ln>
              <a:noFill/>
            </a:ln>
          </p:spPr>
          <p:txBody>
            <a:bodyPr wrap="none" lIns="0" tIns="0" rIns="0" bIns="0" anchor="t" anchorCtr="0">
              <a:spAutoFit/>
            </a:bodyPr>
            <a:lstStyle/>
            <a:p>
              <a:pPr algn="l"/>
              <a:r>
                <a:rPr lang="zh-CN" sz="940" dirty="0">
                  <a:solidFill>
                    <a:srgbClr val="262626"/>
                  </a:solidFill>
                  <a:latin typeface="+mn-lt"/>
                  <a:ea typeface="+mn-ea"/>
                  <a:cs typeface="+mn-cs"/>
                </a:rPr>
                <a:t>年度累计获客数</a:t>
              </a:r>
            </a:p>
          </p:txBody>
        </p:sp>
        <p:sp>
          <p:nvSpPr>
            <p:cNvPr id="170" name="TextBox 170"/>
            <p:cNvSpPr txBox="1"/>
            <p:nvPr/>
          </p:nvSpPr>
          <p:spPr>
            <a:xfrm>
              <a:off x="8581644" y="1618298"/>
              <a:ext cx="626208" cy="381381"/>
            </a:xfrm>
            <a:prstGeom prst="rect">
              <a:avLst/>
            </a:prstGeom>
            <a:noFill/>
            <a:ln>
              <a:noFill/>
            </a:ln>
          </p:spPr>
          <p:txBody>
            <a:bodyPr wrap="none" lIns="0" tIns="0" rIns="0" bIns="0" anchor="t" anchorCtr="0">
              <a:spAutoFit/>
            </a:bodyPr>
            <a:lstStyle/>
            <a:p>
              <a:pPr algn="l"/>
              <a:r>
                <a:rPr lang="zh-CN" sz="1950" b="1" dirty="0">
                  <a:solidFill>
                    <a:srgbClr val="E94B2B"/>
                  </a:solidFill>
                  <a:latin typeface="+mn-lt"/>
                  <a:ea typeface="+mn-ea"/>
                  <a:cs typeface="+mn-cs"/>
                </a:rPr>
                <a:t>5864</a:t>
              </a:r>
            </a:p>
          </p:txBody>
        </p:sp>
        <p:sp>
          <p:nvSpPr>
            <p:cNvPr id="171" name="Freeform 171"/>
            <p:cNvSpPr/>
            <p:nvPr/>
          </p:nvSpPr>
          <p:spPr>
            <a:xfrm>
              <a:off x="9289799" y="2366010"/>
              <a:ext cx="787651" cy="662940"/>
            </a:xfrm>
            <a:custGeom>
              <a:avLst/>
              <a:gdLst/>
              <a:ahLst/>
              <a:cxnLst/>
              <a:rect l="l" t="t" r="r" b="b"/>
              <a:pathLst>
                <a:path w="787651" h="662940">
                  <a:moveTo>
                    <a:pt x="787651" y="243840"/>
                  </a:moveTo>
                  <a:lnTo>
                    <a:pt x="787651" y="662940"/>
                  </a:lnTo>
                  <a:cubicBezTo>
                    <a:pt x="509322" y="662862"/>
                    <a:pt x="254416" y="575035"/>
                    <a:pt x="127208" y="435387"/>
                  </a:cubicBezTo>
                  <a:cubicBezTo>
                    <a:pt x="0" y="295739"/>
                    <a:pt x="21829" y="127696"/>
                    <a:pt x="183766" y="0"/>
                  </a:cubicBezTo>
                  <a:close/>
                </a:path>
              </a:pathLst>
            </a:custGeom>
            <a:solidFill>
              <a:srgbClr val="8C2712"/>
            </a:solidFill>
            <a:ln>
              <a:noFill/>
            </a:ln>
          </p:spPr>
        </p:sp>
        <p:sp>
          <p:nvSpPr>
            <p:cNvPr id="172" name="Freeform 172"/>
            <p:cNvSpPr/>
            <p:nvPr/>
          </p:nvSpPr>
          <p:spPr>
            <a:xfrm>
              <a:off x="9473565" y="2146386"/>
              <a:ext cx="1403652" cy="882663"/>
            </a:xfrm>
            <a:custGeom>
              <a:avLst/>
              <a:gdLst/>
              <a:ahLst/>
              <a:cxnLst/>
              <a:rect l="l" t="t" r="r" b="b"/>
              <a:pathLst>
                <a:path w="1403652" h="882663">
                  <a:moveTo>
                    <a:pt x="603885" y="463464"/>
                  </a:moveTo>
                  <a:lnTo>
                    <a:pt x="0" y="219624"/>
                  </a:lnTo>
                  <a:cubicBezTo>
                    <a:pt x="204521" y="58349"/>
                    <a:pt x="581418" y="0"/>
                    <a:pt x="903221" y="79794"/>
                  </a:cubicBezTo>
                  <a:cubicBezTo>
                    <a:pt x="1225024" y="159588"/>
                    <a:pt x="1403652" y="355684"/>
                    <a:pt x="1331296" y="549731"/>
                  </a:cubicBezTo>
                  <a:cubicBezTo>
                    <a:pt x="1258940" y="743778"/>
                    <a:pt x="955405" y="882663"/>
                    <a:pt x="603885" y="882564"/>
                  </a:cubicBezTo>
                  <a:close/>
                </a:path>
              </a:pathLst>
            </a:custGeom>
            <a:solidFill>
              <a:srgbClr val="DB705A"/>
            </a:solidFill>
            <a:ln>
              <a:noFill/>
            </a:ln>
          </p:spPr>
        </p:sp>
        <p:sp>
          <p:nvSpPr>
            <p:cNvPr id="173" name="Freeform 173"/>
            <p:cNvSpPr/>
            <p:nvPr/>
          </p:nvSpPr>
          <p:spPr>
            <a:xfrm>
              <a:off x="9289799" y="2251710"/>
              <a:ext cx="787651" cy="662940"/>
            </a:xfrm>
            <a:custGeom>
              <a:avLst/>
              <a:gdLst/>
              <a:ahLst/>
              <a:cxnLst/>
              <a:rect l="l" t="t" r="r" b="b"/>
              <a:pathLst>
                <a:path w="787651" h="662940">
                  <a:moveTo>
                    <a:pt x="787651" y="243840"/>
                  </a:moveTo>
                  <a:lnTo>
                    <a:pt x="787651" y="662940"/>
                  </a:lnTo>
                  <a:cubicBezTo>
                    <a:pt x="509322" y="662862"/>
                    <a:pt x="254416" y="575035"/>
                    <a:pt x="127208" y="435387"/>
                  </a:cubicBezTo>
                  <a:cubicBezTo>
                    <a:pt x="0" y="295739"/>
                    <a:pt x="21829" y="127696"/>
                    <a:pt x="183766" y="0"/>
                  </a:cubicBezTo>
                  <a:close/>
                </a:path>
              </a:pathLst>
            </a:custGeom>
            <a:solidFill>
              <a:srgbClr val="C83B1E"/>
            </a:solidFill>
            <a:ln>
              <a:noFill/>
            </a:ln>
          </p:spPr>
        </p:sp>
        <p:sp>
          <p:nvSpPr>
            <p:cNvPr id="174" name="Freeform 174"/>
            <p:cNvSpPr/>
            <p:nvPr/>
          </p:nvSpPr>
          <p:spPr>
            <a:xfrm>
              <a:off x="9473565" y="2032086"/>
              <a:ext cx="1403652" cy="882663"/>
            </a:xfrm>
            <a:custGeom>
              <a:avLst/>
              <a:gdLst/>
              <a:ahLst/>
              <a:cxnLst/>
              <a:rect l="l" t="t" r="r" b="b"/>
              <a:pathLst>
                <a:path w="1403652" h="882663">
                  <a:moveTo>
                    <a:pt x="603885" y="463464"/>
                  </a:moveTo>
                  <a:lnTo>
                    <a:pt x="0" y="219624"/>
                  </a:lnTo>
                  <a:cubicBezTo>
                    <a:pt x="204521" y="58349"/>
                    <a:pt x="581418" y="0"/>
                    <a:pt x="903221" y="79794"/>
                  </a:cubicBezTo>
                  <a:cubicBezTo>
                    <a:pt x="1225024" y="159588"/>
                    <a:pt x="1403652" y="355684"/>
                    <a:pt x="1331296" y="549731"/>
                  </a:cubicBezTo>
                  <a:cubicBezTo>
                    <a:pt x="1258940" y="743778"/>
                    <a:pt x="955405" y="882663"/>
                    <a:pt x="603885" y="882564"/>
                  </a:cubicBezTo>
                  <a:close/>
                </a:path>
              </a:pathLst>
            </a:custGeom>
            <a:solidFill>
              <a:srgbClr val="F0856F"/>
            </a:solidFill>
            <a:ln>
              <a:noFill/>
            </a:ln>
          </p:spPr>
        </p:sp>
        <p:sp>
          <p:nvSpPr>
            <p:cNvPr id="175" name="TextBox 175"/>
            <p:cNvSpPr txBox="1"/>
            <p:nvPr/>
          </p:nvSpPr>
          <p:spPr>
            <a:xfrm>
              <a:off x="8948738" y="2852738"/>
              <a:ext cx="468916" cy="147638"/>
            </a:xfrm>
            <a:prstGeom prst="rect">
              <a:avLst/>
            </a:prstGeom>
            <a:noFill/>
            <a:ln>
              <a:noFill/>
            </a:ln>
          </p:spPr>
          <p:txBody>
            <a:bodyPr wrap="none" lIns="0" tIns="0" rIns="0" bIns="0" anchor="t" anchorCtr="0">
              <a:spAutoFit/>
            </a:bodyPr>
            <a:lstStyle/>
            <a:p>
              <a:pPr algn="l"/>
              <a:r>
                <a:rPr lang="zh-CN" sz="750" dirty="0">
                  <a:solidFill>
                    <a:srgbClr val="262626"/>
                  </a:solidFill>
                  <a:latin typeface="+mn-lt"/>
                  <a:ea typeface="+mn-ea"/>
                  <a:cs typeface="+mn-cs"/>
                </a:rPr>
                <a:t>线上渠道​</a:t>
              </a:r>
            </a:p>
          </p:txBody>
        </p:sp>
        <p:sp>
          <p:nvSpPr>
            <p:cNvPr id="176" name="TextBox 176"/>
            <p:cNvSpPr txBox="1"/>
            <p:nvPr/>
          </p:nvSpPr>
          <p:spPr>
            <a:xfrm>
              <a:off x="8948738" y="2997041"/>
              <a:ext cx="415202" cy="161925"/>
            </a:xfrm>
            <a:prstGeom prst="rect">
              <a:avLst/>
            </a:prstGeom>
            <a:noFill/>
            <a:ln>
              <a:noFill/>
            </a:ln>
          </p:spPr>
          <p:txBody>
            <a:bodyPr wrap="none" lIns="0" tIns="0" rIns="0" bIns="0" anchor="t" anchorCtr="0">
              <a:spAutoFit/>
            </a:bodyPr>
            <a:lstStyle/>
            <a:p>
              <a:pPr algn="l"/>
              <a:r>
                <a:rPr lang="zh-CN" sz="820" b="1" dirty="0">
                  <a:solidFill>
                    <a:srgbClr val="C83B1E"/>
                  </a:solidFill>
                  <a:latin typeface="+mn-lt"/>
                  <a:ea typeface="+mn-ea"/>
                  <a:cs typeface="+mn-cs"/>
                </a:rPr>
                <a:t>34.90%</a:t>
              </a:r>
            </a:p>
          </p:txBody>
        </p:sp>
        <p:sp>
          <p:nvSpPr>
            <p:cNvPr id="177" name="TextBox 177"/>
            <p:cNvSpPr txBox="1"/>
            <p:nvPr/>
          </p:nvSpPr>
          <p:spPr>
            <a:xfrm>
              <a:off x="8624888" y="3458289"/>
              <a:ext cx="222225" cy="154781"/>
            </a:xfrm>
            <a:prstGeom prst="rect">
              <a:avLst/>
            </a:prstGeom>
            <a:noFill/>
            <a:ln>
              <a:noFill/>
            </a:ln>
          </p:spPr>
          <p:txBody>
            <a:bodyPr wrap="none" lIns="0" tIns="0" rIns="0" bIns="0" anchor="t" anchorCtr="0">
              <a:spAutoFit/>
            </a:bodyPr>
            <a:lstStyle/>
            <a:p>
              <a:pPr algn="l"/>
              <a:r>
                <a:rPr lang="zh-CN" sz="790" b="1" dirty="0">
                  <a:solidFill>
                    <a:srgbClr val="E94B2B"/>
                  </a:solidFill>
                  <a:latin typeface="+mn-lt"/>
                  <a:ea typeface="+mn-ea"/>
                  <a:cs typeface="+mn-cs"/>
                </a:rPr>
                <a:t>排序</a:t>
              </a:r>
            </a:p>
          </p:txBody>
        </p:sp>
        <p:sp>
          <p:nvSpPr>
            <p:cNvPr id="178" name="TextBox 178"/>
            <p:cNvSpPr txBox="1"/>
            <p:nvPr/>
          </p:nvSpPr>
          <p:spPr>
            <a:xfrm>
              <a:off x="8948738" y="3458289"/>
              <a:ext cx="434924" cy="154781"/>
            </a:xfrm>
            <a:prstGeom prst="rect">
              <a:avLst/>
            </a:prstGeom>
            <a:noFill/>
            <a:ln>
              <a:noFill/>
            </a:ln>
          </p:spPr>
          <p:txBody>
            <a:bodyPr wrap="none" lIns="0" tIns="0" rIns="0" bIns="0" anchor="t" anchorCtr="0">
              <a:spAutoFit/>
            </a:bodyPr>
            <a:lstStyle/>
            <a:p>
              <a:pPr algn="l"/>
              <a:r>
                <a:rPr lang="zh-CN" sz="790" b="1" dirty="0">
                  <a:solidFill>
                    <a:srgbClr val="E94B2B"/>
                  </a:solidFill>
                  <a:latin typeface="+mn-lt"/>
                  <a:ea typeface="+mn-ea"/>
                  <a:cs typeface="+mn-cs"/>
                </a:rPr>
                <a:t>推广渠道</a:t>
              </a:r>
            </a:p>
          </p:txBody>
        </p:sp>
        <p:sp>
          <p:nvSpPr>
            <p:cNvPr id="179" name="TextBox 179"/>
            <p:cNvSpPr txBox="1"/>
            <p:nvPr/>
          </p:nvSpPr>
          <p:spPr>
            <a:xfrm>
              <a:off x="11334788" y="3458289"/>
              <a:ext cx="328574" cy="154781"/>
            </a:xfrm>
            <a:prstGeom prst="rect">
              <a:avLst/>
            </a:prstGeom>
            <a:noFill/>
            <a:ln>
              <a:noFill/>
            </a:ln>
          </p:spPr>
          <p:txBody>
            <a:bodyPr wrap="none" lIns="0" tIns="0" rIns="0" bIns="0" anchor="t" anchorCtr="0">
              <a:spAutoFit/>
            </a:bodyPr>
            <a:lstStyle/>
            <a:p>
              <a:pPr algn="r"/>
              <a:r>
                <a:rPr lang="zh-CN" sz="790" b="1" dirty="0">
                  <a:solidFill>
                    <a:srgbClr val="E94B2B"/>
                  </a:solidFill>
                  <a:latin typeface="+mn-lt"/>
                  <a:ea typeface="+mn-ea"/>
                  <a:cs typeface="+mn-cs"/>
                </a:rPr>
                <a:t>获客数</a:t>
              </a:r>
            </a:p>
          </p:txBody>
        </p:sp>
        <p:sp>
          <p:nvSpPr>
            <p:cNvPr id="180" name="Line 180"/>
            <p:cNvSpPr/>
            <p:nvPr/>
          </p:nvSpPr>
          <p:spPr>
            <a:xfrm>
              <a:off x="8572500" y="3619500"/>
              <a:ext cx="3105150" cy="9525"/>
            </a:xfrm>
            <a:custGeom>
              <a:avLst/>
              <a:gdLst/>
              <a:ahLst/>
              <a:cxnLst/>
              <a:rect l="l" t="t" r="r" b="b"/>
              <a:pathLst>
                <a:path w="3105150" h="9525">
                  <a:moveTo>
                    <a:pt x="0" y="0"/>
                  </a:moveTo>
                  <a:lnTo>
                    <a:pt x="3105150" y="0"/>
                  </a:lnTo>
                </a:path>
              </a:pathLst>
            </a:custGeom>
            <a:noFill/>
            <a:ln w="9525">
              <a:solidFill>
                <a:srgbClr val="C9DDF5"/>
              </a:solidFill>
            </a:ln>
          </p:spPr>
        </p:sp>
        <p:sp>
          <p:nvSpPr>
            <p:cNvPr id="181" name="TextBox 181"/>
            <p:cNvSpPr txBox="1"/>
            <p:nvPr/>
          </p:nvSpPr>
          <p:spPr>
            <a:xfrm>
              <a:off x="8643938" y="3805238"/>
              <a:ext cx="67832" cy="147638"/>
            </a:xfrm>
            <a:prstGeom prst="rect">
              <a:avLst/>
            </a:prstGeom>
            <a:noFill/>
            <a:ln>
              <a:noFill/>
            </a:ln>
          </p:spPr>
          <p:txBody>
            <a:bodyPr wrap="none" lIns="0" tIns="0" rIns="0" bIns="0" anchor="t" anchorCtr="0">
              <a:spAutoFit/>
            </a:bodyPr>
            <a:lstStyle/>
            <a:p>
              <a:pPr algn="l"/>
              <a:r>
                <a:rPr lang="zh-CN" sz="750" b="1" dirty="0">
                  <a:solidFill>
                    <a:srgbClr val="684F4A"/>
                  </a:solidFill>
                  <a:latin typeface="+mn-lt"/>
                  <a:ea typeface="+mn-ea"/>
                  <a:cs typeface="+mn-cs"/>
                </a:rPr>
                <a:t>1</a:t>
              </a:r>
            </a:p>
          </p:txBody>
        </p:sp>
        <p:sp>
          <p:nvSpPr>
            <p:cNvPr id="182" name="TextBox 182"/>
            <p:cNvSpPr txBox="1"/>
            <p:nvPr/>
          </p:nvSpPr>
          <p:spPr>
            <a:xfrm>
              <a:off x="8910638" y="3801189"/>
              <a:ext cx="647624" cy="154781"/>
            </a:xfrm>
            <a:prstGeom prst="rect">
              <a:avLst/>
            </a:prstGeom>
            <a:noFill/>
            <a:ln>
              <a:noFill/>
            </a:ln>
          </p:spPr>
          <p:txBody>
            <a:bodyPr wrap="none" lIns="0" tIns="0" rIns="0" bIns="0" anchor="t" anchorCtr="0">
              <a:spAutoFit/>
            </a:bodyPr>
            <a:lstStyle/>
            <a:p>
              <a:pPr algn="l"/>
              <a:r>
                <a:rPr lang="zh-CN" sz="790" dirty="0">
                  <a:solidFill>
                    <a:srgbClr val="262626"/>
                  </a:solidFill>
                  <a:latin typeface="+mn-lt"/>
                  <a:ea typeface="+mn-ea"/>
                  <a:cs typeface="+mn-cs"/>
                </a:rPr>
                <a:t>线下活动推广</a:t>
              </a:r>
            </a:p>
          </p:txBody>
        </p:sp>
        <p:sp>
          <p:nvSpPr>
            <p:cNvPr id="183" name="Rectangle 183"/>
            <p:cNvSpPr/>
            <p:nvPr/>
          </p:nvSpPr>
          <p:spPr>
            <a:xfrm>
              <a:off x="9810750" y="3790950"/>
              <a:ext cx="1428750" cy="114300"/>
            </a:xfrm>
            <a:prstGeom prst="roundRect">
              <a:avLst>
                <a:gd name="adj" fmla="val 50000"/>
              </a:avLst>
            </a:prstGeom>
            <a:solidFill>
              <a:srgbClr val="E4EEFB"/>
            </a:solidFill>
            <a:ln>
              <a:noFill/>
            </a:ln>
          </p:spPr>
        </p:sp>
        <p:sp>
          <p:nvSpPr>
            <p:cNvPr id="184" name="Rectangle 184"/>
            <p:cNvSpPr/>
            <p:nvPr/>
          </p:nvSpPr>
          <p:spPr>
            <a:xfrm>
              <a:off x="9810750" y="3790950"/>
              <a:ext cx="1428750" cy="114300"/>
            </a:xfrm>
            <a:prstGeom prst="roundRect">
              <a:avLst>
                <a:gd name="adj" fmla="val 50000"/>
              </a:avLst>
            </a:prstGeom>
            <a:gradFill>
              <a:gsLst>
                <a:gs pos="0">
                  <a:srgbClr val="FF5B3A"/>
                </a:gs>
                <a:gs pos="100000">
                  <a:srgbClr val="E94B2B"/>
                </a:gs>
              </a:gsLst>
              <a:lin ang="0" scaled="1"/>
            </a:gradFill>
            <a:ln>
              <a:noFill/>
            </a:ln>
          </p:spPr>
        </p:sp>
        <p:sp>
          <p:nvSpPr>
            <p:cNvPr id="185" name="TextBox 185"/>
            <p:cNvSpPr txBox="1"/>
            <p:nvPr/>
          </p:nvSpPr>
          <p:spPr>
            <a:xfrm>
              <a:off x="11439658" y="3805238"/>
              <a:ext cx="242754" cy="147638"/>
            </a:xfrm>
            <a:prstGeom prst="rect">
              <a:avLst/>
            </a:prstGeom>
            <a:noFill/>
            <a:ln>
              <a:noFill/>
            </a:ln>
          </p:spPr>
          <p:txBody>
            <a:bodyPr wrap="none" lIns="0" tIns="0" rIns="0" bIns="0" anchor="t" anchorCtr="0">
              <a:spAutoFit/>
            </a:bodyPr>
            <a:lstStyle/>
            <a:p>
              <a:pPr algn="r"/>
              <a:r>
                <a:rPr lang="zh-CN" sz="750" b="1" dirty="0">
                  <a:solidFill>
                    <a:srgbClr val="E94B2B"/>
                  </a:solidFill>
                  <a:latin typeface="+mn-lt"/>
                  <a:ea typeface="+mn-ea"/>
                  <a:cs typeface="+mn-cs"/>
                </a:rPr>
                <a:t>3682</a:t>
              </a:r>
            </a:p>
          </p:txBody>
        </p:sp>
        <p:sp>
          <p:nvSpPr>
            <p:cNvPr id="186" name="TextBox 186"/>
            <p:cNvSpPr txBox="1"/>
            <p:nvPr/>
          </p:nvSpPr>
          <p:spPr>
            <a:xfrm>
              <a:off x="8643938" y="4205288"/>
              <a:ext cx="67832" cy="147638"/>
            </a:xfrm>
            <a:prstGeom prst="rect">
              <a:avLst/>
            </a:prstGeom>
            <a:noFill/>
            <a:ln>
              <a:noFill/>
            </a:ln>
          </p:spPr>
          <p:txBody>
            <a:bodyPr wrap="none" lIns="0" tIns="0" rIns="0" bIns="0" anchor="t" anchorCtr="0">
              <a:spAutoFit/>
            </a:bodyPr>
            <a:lstStyle/>
            <a:p>
              <a:pPr algn="l"/>
              <a:r>
                <a:rPr lang="zh-CN" sz="750" b="1" dirty="0">
                  <a:solidFill>
                    <a:srgbClr val="684F4A"/>
                  </a:solidFill>
                  <a:latin typeface="+mn-lt"/>
                  <a:ea typeface="+mn-ea"/>
                  <a:cs typeface="+mn-cs"/>
                </a:rPr>
                <a:t>2</a:t>
              </a:r>
            </a:p>
          </p:txBody>
        </p:sp>
        <p:sp>
          <p:nvSpPr>
            <p:cNvPr id="187" name="TextBox 187"/>
            <p:cNvSpPr txBox="1"/>
            <p:nvPr/>
          </p:nvSpPr>
          <p:spPr>
            <a:xfrm>
              <a:off x="8910638" y="4201239"/>
              <a:ext cx="541274" cy="154781"/>
            </a:xfrm>
            <a:prstGeom prst="rect">
              <a:avLst/>
            </a:prstGeom>
            <a:noFill/>
            <a:ln>
              <a:noFill/>
            </a:ln>
          </p:spPr>
          <p:txBody>
            <a:bodyPr wrap="none" lIns="0" tIns="0" rIns="0" bIns="0" anchor="t" anchorCtr="0">
              <a:spAutoFit/>
            </a:bodyPr>
            <a:lstStyle/>
            <a:p>
              <a:pPr algn="l"/>
              <a:r>
                <a:rPr lang="zh-CN" sz="790" dirty="0">
                  <a:solidFill>
                    <a:srgbClr val="262626"/>
                  </a:solidFill>
                  <a:latin typeface="+mn-lt"/>
                  <a:ea typeface="+mn-ea"/>
                  <a:cs typeface="+mn-cs"/>
                </a:rPr>
                <a:t>新媒体推广</a:t>
              </a:r>
            </a:p>
          </p:txBody>
        </p:sp>
        <p:sp>
          <p:nvSpPr>
            <p:cNvPr id="188" name="Rectangle 188"/>
            <p:cNvSpPr/>
            <p:nvPr/>
          </p:nvSpPr>
          <p:spPr>
            <a:xfrm>
              <a:off x="9810750" y="4191000"/>
              <a:ext cx="1428750" cy="114300"/>
            </a:xfrm>
            <a:prstGeom prst="roundRect">
              <a:avLst>
                <a:gd name="adj" fmla="val 50000"/>
              </a:avLst>
            </a:prstGeom>
            <a:solidFill>
              <a:srgbClr val="E4EEFB"/>
            </a:solidFill>
            <a:ln>
              <a:noFill/>
            </a:ln>
          </p:spPr>
        </p:sp>
        <p:sp>
          <p:nvSpPr>
            <p:cNvPr id="189" name="Rectangle 189"/>
            <p:cNvSpPr/>
            <p:nvPr/>
          </p:nvSpPr>
          <p:spPr>
            <a:xfrm>
              <a:off x="9810750" y="4191000"/>
              <a:ext cx="971550" cy="114300"/>
            </a:xfrm>
            <a:prstGeom prst="roundRect">
              <a:avLst>
                <a:gd name="adj" fmla="val 50000"/>
              </a:avLst>
            </a:prstGeom>
            <a:gradFill>
              <a:gsLst>
                <a:gs pos="0">
                  <a:srgbClr val="FF5B3A"/>
                </a:gs>
                <a:gs pos="100000">
                  <a:srgbClr val="E94B2B"/>
                </a:gs>
              </a:gsLst>
              <a:lin ang="0" scaled="1"/>
            </a:gradFill>
            <a:ln>
              <a:noFill/>
            </a:ln>
          </p:spPr>
        </p:sp>
        <p:sp>
          <p:nvSpPr>
            <p:cNvPr id="190" name="TextBox 190"/>
            <p:cNvSpPr txBox="1"/>
            <p:nvPr/>
          </p:nvSpPr>
          <p:spPr>
            <a:xfrm>
              <a:off x="11439658" y="4205288"/>
              <a:ext cx="242754" cy="147638"/>
            </a:xfrm>
            <a:prstGeom prst="rect">
              <a:avLst/>
            </a:prstGeom>
            <a:noFill/>
            <a:ln>
              <a:noFill/>
            </a:ln>
          </p:spPr>
          <p:txBody>
            <a:bodyPr wrap="none" lIns="0" tIns="0" rIns="0" bIns="0" anchor="t" anchorCtr="0">
              <a:spAutoFit/>
            </a:bodyPr>
            <a:lstStyle/>
            <a:p>
              <a:pPr algn="r"/>
              <a:r>
                <a:rPr lang="zh-CN" sz="750" b="1" dirty="0">
                  <a:solidFill>
                    <a:srgbClr val="E94B2B"/>
                  </a:solidFill>
                  <a:latin typeface="+mn-lt"/>
                  <a:ea typeface="+mn-ea"/>
                  <a:cs typeface="+mn-cs"/>
                </a:rPr>
                <a:t>2508</a:t>
              </a:r>
            </a:p>
          </p:txBody>
        </p:sp>
        <p:sp>
          <p:nvSpPr>
            <p:cNvPr id="191" name="TextBox 191"/>
            <p:cNvSpPr txBox="1"/>
            <p:nvPr/>
          </p:nvSpPr>
          <p:spPr>
            <a:xfrm>
              <a:off x="8643938" y="4605338"/>
              <a:ext cx="67832" cy="147638"/>
            </a:xfrm>
            <a:prstGeom prst="rect">
              <a:avLst/>
            </a:prstGeom>
            <a:noFill/>
            <a:ln>
              <a:noFill/>
            </a:ln>
          </p:spPr>
          <p:txBody>
            <a:bodyPr wrap="none" lIns="0" tIns="0" rIns="0" bIns="0" anchor="t" anchorCtr="0">
              <a:spAutoFit/>
            </a:bodyPr>
            <a:lstStyle/>
            <a:p>
              <a:pPr algn="l"/>
              <a:r>
                <a:rPr lang="zh-CN" sz="750" b="1" dirty="0">
                  <a:solidFill>
                    <a:srgbClr val="684F4A"/>
                  </a:solidFill>
                  <a:latin typeface="+mn-lt"/>
                  <a:ea typeface="+mn-ea"/>
                  <a:cs typeface="+mn-cs"/>
                </a:rPr>
                <a:t>3</a:t>
              </a:r>
            </a:p>
          </p:txBody>
        </p:sp>
        <p:sp>
          <p:nvSpPr>
            <p:cNvPr id="192" name="TextBox 192"/>
            <p:cNvSpPr txBox="1"/>
            <p:nvPr/>
          </p:nvSpPr>
          <p:spPr>
            <a:xfrm>
              <a:off x="8910638" y="4601289"/>
              <a:ext cx="647624" cy="154781"/>
            </a:xfrm>
            <a:prstGeom prst="rect">
              <a:avLst/>
            </a:prstGeom>
            <a:noFill/>
            <a:ln>
              <a:noFill/>
            </a:ln>
          </p:spPr>
          <p:txBody>
            <a:bodyPr wrap="none" lIns="0" tIns="0" rIns="0" bIns="0" anchor="t" anchorCtr="0">
              <a:spAutoFit/>
            </a:bodyPr>
            <a:lstStyle/>
            <a:p>
              <a:pPr algn="l"/>
              <a:r>
                <a:rPr lang="zh-CN" sz="790" dirty="0">
                  <a:solidFill>
                    <a:srgbClr val="262626"/>
                  </a:solidFill>
                  <a:latin typeface="+mn-lt"/>
                  <a:ea typeface="+mn-ea"/>
                  <a:cs typeface="+mn-cs"/>
                </a:rPr>
                <a:t>手机厂商预装</a:t>
              </a:r>
            </a:p>
          </p:txBody>
        </p:sp>
        <p:sp>
          <p:nvSpPr>
            <p:cNvPr id="193" name="Rectangle 193"/>
            <p:cNvSpPr/>
            <p:nvPr/>
          </p:nvSpPr>
          <p:spPr>
            <a:xfrm>
              <a:off x="9810750" y="4591050"/>
              <a:ext cx="1428750" cy="114300"/>
            </a:xfrm>
            <a:prstGeom prst="roundRect">
              <a:avLst>
                <a:gd name="adj" fmla="val 50000"/>
              </a:avLst>
            </a:prstGeom>
            <a:solidFill>
              <a:srgbClr val="E4EEFB"/>
            </a:solidFill>
            <a:ln>
              <a:noFill/>
            </a:ln>
          </p:spPr>
        </p:sp>
        <p:sp>
          <p:nvSpPr>
            <p:cNvPr id="194" name="Rectangle 194"/>
            <p:cNvSpPr/>
            <p:nvPr/>
          </p:nvSpPr>
          <p:spPr>
            <a:xfrm>
              <a:off x="9810750" y="4591050"/>
              <a:ext cx="609600" cy="114300"/>
            </a:xfrm>
            <a:prstGeom prst="roundRect">
              <a:avLst>
                <a:gd name="adj" fmla="val 50000"/>
              </a:avLst>
            </a:prstGeom>
            <a:gradFill>
              <a:gsLst>
                <a:gs pos="0">
                  <a:srgbClr val="FF5B3A"/>
                </a:gs>
                <a:gs pos="100000">
                  <a:srgbClr val="E94B2B"/>
                </a:gs>
              </a:gsLst>
              <a:lin ang="0" scaled="1"/>
            </a:gradFill>
            <a:ln>
              <a:noFill/>
            </a:ln>
          </p:spPr>
        </p:sp>
        <p:sp>
          <p:nvSpPr>
            <p:cNvPr id="195" name="TextBox 195"/>
            <p:cNvSpPr txBox="1"/>
            <p:nvPr/>
          </p:nvSpPr>
          <p:spPr>
            <a:xfrm>
              <a:off x="11439658" y="4605338"/>
              <a:ext cx="242754" cy="147638"/>
            </a:xfrm>
            <a:prstGeom prst="rect">
              <a:avLst/>
            </a:prstGeom>
            <a:noFill/>
            <a:ln>
              <a:noFill/>
            </a:ln>
          </p:spPr>
          <p:txBody>
            <a:bodyPr wrap="none" lIns="0" tIns="0" rIns="0" bIns="0" anchor="t" anchorCtr="0">
              <a:spAutoFit/>
            </a:bodyPr>
            <a:lstStyle/>
            <a:p>
              <a:pPr algn="r"/>
              <a:r>
                <a:rPr lang="zh-CN" sz="750" b="1" dirty="0">
                  <a:solidFill>
                    <a:srgbClr val="E94B2B"/>
                  </a:solidFill>
                  <a:latin typeface="+mn-lt"/>
                  <a:ea typeface="+mn-ea"/>
                  <a:cs typeface="+mn-cs"/>
                </a:rPr>
                <a:t>1571</a:t>
              </a:r>
            </a:p>
          </p:txBody>
        </p:sp>
        <p:sp>
          <p:nvSpPr>
            <p:cNvPr id="196" name="TextBox 196"/>
            <p:cNvSpPr txBox="1"/>
            <p:nvPr/>
          </p:nvSpPr>
          <p:spPr>
            <a:xfrm>
              <a:off x="8643938" y="5005388"/>
              <a:ext cx="67832" cy="147638"/>
            </a:xfrm>
            <a:prstGeom prst="rect">
              <a:avLst/>
            </a:prstGeom>
            <a:noFill/>
            <a:ln>
              <a:noFill/>
            </a:ln>
          </p:spPr>
          <p:txBody>
            <a:bodyPr wrap="none" lIns="0" tIns="0" rIns="0" bIns="0" anchor="t" anchorCtr="0">
              <a:spAutoFit/>
            </a:bodyPr>
            <a:lstStyle/>
            <a:p>
              <a:pPr algn="l"/>
              <a:r>
                <a:rPr lang="zh-CN" sz="750" b="1" dirty="0">
                  <a:solidFill>
                    <a:srgbClr val="684F4A"/>
                  </a:solidFill>
                  <a:latin typeface="+mn-lt"/>
                  <a:ea typeface="+mn-ea"/>
                  <a:cs typeface="+mn-cs"/>
                </a:rPr>
                <a:t>4</a:t>
              </a:r>
            </a:p>
          </p:txBody>
        </p:sp>
        <p:sp>
          <p:nvSpPr>
            <p:cNvPr id="197" name="TextBox 197"/>
            <p:cNvSpPr txBox="1"/>
            <p:nvPr/>
          </p:nvSpPr>
          <p:spPr>
            <a:xfrm>
              <a:off x="8910638" y="5001339"/>
              <a:ext cx="647624" cy="154781"/>
            </a:xfrm>
            <a:prstGeom prst="rect">
              <a:avLst/>
            </a:prstGeom>
            <a:noFill/>
            <a:ln>
              <a:noFill/>
            </a:ln>
          </p:spPr>
          <p:txBody>
            <a:bodyPr wrap="none" lIns="0" tIns="0" rIns="0" bIns="0" anchor="t" anchorCtr="0">
              <a:spAutoFit/>
            </a:bodyPr>
            <a:lstStyle/>
            <a:p>
              <a:pPr algn="l"/>
              <a:r>
                <a:rPr lang="zh-CN" sz="790" dirty="0">
                  <a:solidFill>
                    <a:srgbClr val="262626"/>
                  </a:solidFill>
                  <a:latin typeface="+mn-lt"/>
                  <a:ea typeface="+mn-ea"/>
                  <a:cs typeface="+mn-cs"/>
                </a:rPr>
                <a:t>基础线上工作</a:t>
              </a:r>
            </a:p>
          </p:txBody>
        </p:sp>
        <p:sp>
          <p:nvSpPr>
            <p:cNvPr id="198" name="Rectangle 198"/>
            <p:cNvSpPr/>
            <p:nvPr/>
          </p:nvSpPr>
          <p:spPr>
            <a:xfrm>
              <a:off x="9810750" y="4991100"/>
              <a:ext cx="1428750" cy="114300"/>
            </a:xfrm>
            <a:prstGeom prst="roundRect">
              <a:avLst>
                <a:gd name="adj" fmla="val 50000"/>
              </a:avLst>
            </a:prstGeom>
            <a:solidFill>
              <a:srgbClr val="E4EEFB"/>
            </a:solidFill>
            <a:ln>
              <a:noFill/>
            </a:ln>
          </p:spPr>
        </p:sp>
        <p:sp>
          <p:nvSpPr>
            <p:cNvPr id="199" name="Rectangle 199"/>
            <p:cNvSpPr/>
            <p:nvPr/>
          </p:nvSpPr>
          <p:spPr>
            <a:xfrm>
              <a:off x="9810750" y="4991100"/>
              <a:ext cx="609600" cy="114300"/>
            </a:xfrm>
            <a:prstGeom prst="roundRect">
              <a:avLst>
                <a:gd name="adj" fmla="val 50000"/>
              </a:avLst>
            </a:prstGeom>
            <a:gradFill>
              <a:gsLst>
                <a:gs pos="0">
                  <a:srgbClr val="FF5B3A"/>
                </a:gs>
                <a:gs pos="100000">
                  <a:srgbClr val="E94B2B"/>
                </a:gs>
              </a:gsLst>
              <a:lin ang="0" scaled="1"/>
            </a:gradFill>
            <a:ln>
              <a:noFill/>
            </a:ln>
          </p:spPr>
        </p:sp>
        <p:sp>
          <p:nvSpPr>
            <p:cNvPr id="200" name="TextBox 200"/>
            <p:cNvSpPr txBox="1"/>
            <p:nvPr/>
          </p:nvSpPr>
          <p:spPr>
            <a:xfrm>
              <a:off x="11439658" y="5005388"/>
              <a:ext cx="242754" cy="147638"/>
            </a:xfrm>
            <a:prstGeom prst="rect">
              <a:avLst/>
            </a:prstGeom>
            <a:noFill/>
            <a:ln>
              <a:noFill/>
            </a:ln>
          </p:spPr>
          <p:txBody>
            <a:bodyPr wrap="none" lIns="0" tIns="0" rIns="0" bIns="0" anchor="t" anchorCtr="0">
              <a:spAutoFit/>
            </a:bodyPr>
            <a:lstStyle/>
            <a:p>
              <a:pPr algn="r"/>
              <a:r>
                <a:rPr lang="zh-CN" sz="750" b="1" dirty="0">
                  <a:solidFill>
                    <a:srgbClr val="E94B2B"/>
                  </a:solidFill>
                  <a:latin typeface="+mn-lt"/>
                  <a:ea typeface="+mn-ea"/>
                  <a:cs typeface="+mn-cs"/>
                </a:rPr>
                <a:t>1569</a:t>
              </a:r>
            </a:p>
          </p:txBody>
        </p:sp>
      </p:gr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811000" cy="561404"/>
            <a:chOff x="0" y="0"/>
            <a:chExt cx="118110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E94B2B"/>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mj-lt"/>
                  <a:ea typeface="+mj-ea"/>
                  <a:cs typeface="+mj-cs"/>
                </a:rPr>
                <a:t>31</a:t>
              </a:r>
            </a:p>
          </p:txBody>
        </p:sp>
        <p:sp>
          <p:nvSpPr>
            <p:cNvPr id="4" name="TextBox 4"/>
            <p:cNvSpPr txBox="1"/>
            <p:nvPr/>
          </p:nvSpPr>
          <p:spPr>
            <a:xfrm>
              <a:off x="904494" y="180023"/>
              <a:ext cx="1684020"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j-lt"/>
                  <a:ea typeface="+mj-ea"/>
                  <a:cs typeface="+mj-cs"/>
                </a:rPr>
                <a:t>推荐转化分析</a:t>
              </a:r>
            </a:p>
          </p:txBody>
        </p:sp>
        <p:sp>
          <p:nvSpPr>
            <p:cNvPr id="5" name="Line 5"/>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E94B2B"/>
              </a:solidFill>
            </a:ln>
          </p:spPr>
        </p:sp>
      </p:grpSp>
      <p:grpSp>
        <p:nvGrpSpPr>
          <p:cNvPr id="32" name="m-convert-kpi"/>
          <p:cNvGrpSpPr/>
          <p:nvPr/>
        </p:nvGrpSpPr>
        <p:grpSpPr>
          <a:xfrm>
            <a:off x="571500" y="838200"/>
            <a:ext cx="5257800" cy="3352800"/>
            <a:chOff x="571500" y="838200"/>
            <a:chExt cx="5257800" cy="3352800"/>
          </a:xfrm>
        </p:grpSpPr>
        <p:sp>
          <p:nvSpPr>
            <p:cNvPr id="7" name="Rectangle 7"/>
            <p:cNvSpPr/>
            <p:nvPr/>
          </p:nvSpPr>
          <p:spPr>
            <a:xfrm>
              <a:off x="571500" y="838200"/>
              <a:ext cx="5257800" cy="3352800"/>
            </a:xfrm>
            <a:prstGeom prst="rect">
              <a:avLst/>
            </a:prstGeom>
            <a:solidFill>
              <a:srgbClr val="FFFFFF"/>
            </a:solidFill>
            <a:ln w="11430">
              <a:solidFill>
                <a:srgbClr val="C9DDF5"/>
              </a:solidFill>
            </a:ln>
          </p:spPr>
        </p:sp>
        <p:sp>
          <p:nvSpPr>
            <p:cNvPr id="8" name="Rectangle 8"/>
            <p:cNvSpPr/>
            <p:nvPr/>
          </p:nvSpPr>
          <p:spPr>
            <a:xfrm>
              <a:off x="723900" y="952500"/>
              <a:ext cx="1524000" cy="419100"/>
            </a:xfrm>
            <a:prstGeom prst="roundRect">
              <a:avLst>
                <a:gd name="adj" fmla="val 18182"/>
              </a:avLst>
            </a:prstGeom>
            <a:gradFill>
              <a:gsLst>
                <a:gs pos="0">
                  <a:srgbClr val="FF5B3A"/>
                </a:gs>
                <a:gs pos="100000">
                  <a:srgbClr val="C83B1E"/>
                </a:gs>
              </a:gsLst>
              <a:lin ang="0" scaled="1"/>
            </a:gradFill>
            <a:ln>
              <a:noFill/>
            </a:ln>
          </p:spPr>
        </p:sp>
        <p:sp>
          <p:nvSpPr>
            <p:cNvPr id="9" name="TextBox 9"/>
            <p:cNvSpPr txBox="1"/>
            <p:nvPr/>
          </p:nvSpPr>
          <p:spPr>
            <a:xfrm>
              <a:off x="1149972" y="1025366"/>
              <a:ext cx="67185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接受推荐人数</a:t>
              </a:r>
            </a:p>
          </p:txBody>
        </p:sp>
        <p:sp>
          <p:nvSpPr>
            <p:cNvPr id="10" name="TextBox 10"/>
            <p:cNvSpPr txBox="1"/>
            <p:nvPr/>
          </p:nvSpPr>
          <p:spPr>
            <a:xfrm>
              <a:off x="1306041" y="1183481"/>
              <a:ext cx="35971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6267</a:t>
              </a:r>
            </a:p>
          </p:txBody>
        </p:sp>
        <p:sp>
          <p:nvSpPr>
            <p:cNvPr id="11" name="Rectangle 11"/>
            <p:cNvSpPr/>
            <p:nvPr/>
          </p:nvSpPr>
          <p:spPr>
            <a:xfrm>
              <a:off x="2400300" y="952500"/>
              <a:ext cx="1524000" cy="419100"/>
            </a:xfrm>
            <a:prstGeom prst="roundRect">
              <a:avLst>
                <a:gd name="adj" fmla="val 18182"/>
              </a:avLst>
            </a:prstGeom>
            <a:gradFill>
              <a:gsLst>
                <a:gs pos="0">
                  <a:srgbClr val="FF5B3A"/>
                </a:gs>
                <a:gs pos="100000">
                  <a:srgbClr val="C83B1E"/>
                </a:gs>
              </a:gsLst>
              <a:lin ang="0" scaled="1"/>
            </a:gradFill>
            <a:ln>
              <a:noFill/>
            </a:ln>
          </p:spPr>
        </p:sp>
        <p:sp>
          <p:nvSpPr>
            <p:cNvPr id="12" name="TextBox 12"/>
            <p:cNvSpPr txBox="1"/>
            <p:nvPr/>
          </p:nvSpPr>
          <p:spPr>
            <a:xfrm>
              <a:off x="2826372" y="1025366"/>
              <a:ext cx="67185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人均推荐次数</a:t>
              </a:r>
            </a:p>
          </p:txBody>
        </p:sp>
        <p:sp>
          <p:nvSpPr>
            <p:cNvPr id="13" name="TextBox 13"/>
            <p:cNvSpPr txBox="1"/>
            <p:nvPr/>
          </p:nvSpPr>
          <p:spPr>
            <a:xfrm>
              <a:off x="2938904" y="1183481"/>
              <a:ext cx="44679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2.335</a:t>
              </a:r>
            </a:p>
          </p:txBody>
        </p:sp>
        <p:sp>
          <p:nvSpPr>
            <p:cNvPr id="14" name="Rectangle 14"/>
            <p:cNvSpPr/>
            <p:nvPr/>
          </p:nvSpPr>
          <p:spPr>
            <a:xfrm>
              <a:off x="4076700" y="952500"/>
              <a:ext cx="1524000" cy="419100"/>
            </a:xfrm>
            <a:prstGeom prst="roundRect">
              <a:avLst>
                <a:gd name="adj" fmla="val 18182"/>
              </a:avLst>
            </a:prstGeom>
            <a:gradFill>
              <a:gsLst>
                <a:gs pos="0">
                  <a:srgbClr val="FF5B3A"/>
                </a:gs>
                <a:gs pos="100000">
                  <a:srgbClr val="C83B1E"/>
                </a:gs>
              </a:gsLst>
              <a:lin ang="0" scaled="1"/>
            </a:gradFill>
            <a:ln>
              <a:noFill/>
            </a:ln>
          </p:spPr>
        </p:sp>
        <p:sp>
          <p:nvSpPr>
            <p:cNvPr id="15" name="TextBox 15"/>
            <p:cNvSpPr txBox="1"/>
            <p:nvPr/>
          </p:nvSpPr>
          <p:spPr>
            <a:xfrm>
              <a:off x="4685955" y="1025366"/>
              <a:ext cx="305491"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K值​​</a:t>
              </a:r>
            </a:p>
          </p:txBody>
        </p:sp>
        <p:sp>
          <p:nvSpPr>
            <p:cNvPr id="16" name="TextBox 16"/>
            <p:cNvSpPr txBox="1"/>
            <p:nvPr/>
          </p:nvSpPr>
          <p:spPr>
            <a:xfrm>
              <a:off x="4615304" y="1183481"/>
              <a:ext cx="44679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1.168</a:t>
              </a:r>
            </a:p>
          </p:txBody>
        </p:sp>
        <p:sp>
          <p:nvSpPr>
            <p:cNvPr id="17" name="Freeform 17"/>
            <p:cNvSpPr/>
            <p:nvPr/>
          </p:nvSpPr>
          <p:spPr>
            <a:xfrm>
              <a:off x="1905000" y="2114525"/>
              <a:ext cx="381000" cy="647725"/>
            </a:xfrm>
            <a:custGeom>
              <a:avLst/>
              <a:gdLst/>
              <a:ahLst/>
              <a:cxnLst/>
              <a:rect l="l" t="t" r="r" b="b"/>
              <a:pathLst>
                <a:path w="381000" h="647725">
                  <a:moveTo>
                    <a:pt x="0" y="647725"/>
                  </a:moveTo>
                  <a:lnTo>
                    <a:pt x="0" y="25"/>
                  </a:lnTo>
                  <a:cubicBezTo>
                    <a:pt x="136894" y="0"/>
                    <a:pt x="270277" y="43349"/>
                    <a:pt x="381000" y="123850"/>
                  </a:cubicBezTo>
                  <a:lnTo>
                    <a:pt x="201930" y="370548"/>
                  </a:lnTo>
                  <a:cubicBezTo>
                    <a:pt x="143270" y="327825"/>
                    <a:pt x="72569" y="304813"/>
                    <a:pt x="0" y="304825"/>
                  </a:cubicBezTo>
                  <a:close/>
                </a:path>
              </a:pathLst>
            </a:custGeom>
            <a:solidFill>
              <a:srgbClr val="F8B6A9"/>
            </a:solidFill>
            <a:ln>
              <a:noFill/>
            </a:ln>
          </p:spPr>
        </p:sp>
        <p:sp>
          <p:nvSpPr>
            <p:cNvPr id="18" name="Freeform 18"/>
            <p:cNvSpPr/>
            <p:nvPr/>
          </p:nvSpPr>
          <p:spPr>
            <a:xfrm>
              <a:off x="1905000" y="2238375"/>
              <a:ext cx="683715" cy="1151572"/>
            </a:xfrm>
            <a:custGeom>
              <a:avLst/>
              <a:gdLst/>
              <a:ahLst/>
              <a:cxnLst/>
              <a:rect l="l" t="t" r="r" b="b"/>
              <a:pathLst>
                <a:path w="683715" h="1151572">
                  <a:moveTo>
                    <a:pt x="0" y="523875"/>
                  </a:moveTo>
                  <a:lnTo>
                    <a:pt x="381000" y="0"/>
                  </a:lnTo>
                  <a:cubicBezTo>
                    <a:pt x="584116" y="147500"/>
                    <a:pt x="683715" y="399081"/>
                    <a:pt x="636605" y="645644"/>
                  </a:cubicBezTo>
                  <a:cubicBezTo>
                    <a:pt x="589495" y="892206"/>
                    <a:pt x="404160" y="1089346"/>
                    <a:pt x="160972" y="1151572"/>
                  </a:cubicBezTo>
                  <a:lnTo>
                    <a:pt x="85725" y="856297"/>
                  </a:lnTo>
                  <a:cubicBezTo>
                    <a:pt x="214401" y="823263"/>
                    <a:pt x="312417" y="718876"/>
                    <a:pt x="337294" y="588377"/>
                  </a:cubicBezTo>
                  <a:cubicBezTo>
                    <a:pt x="362170" y="457878"/>
                    <a:pt x="309429" y="324753"/>
                    <a:pt x="201930" y="246697"/>
                  </a:cubicBezTo>
                  <a:close/>
                </a:path>
              </a:pathLst>
            </a:custGeom>
            <a:solidFill>
              <a:srgbClr val="C83B1E"/>
            </a:solidFill>
            <a:ln>
              <a:noFill/>
            </a:ln>
          </p:spPr>
        </p:sp>
        <p:sp>
          <p:nvSpPr>
            <p:cNvPr id="19" name="Freeform 19"/>
            <p:cNvSpPr/>
            <p:nvPr/>
          </p:nvSpPr>
          <p:spPr>
            <a:xfrm>
              <a:off x="1213480" y="2114550"/>
              <a:ext cx="852493" cy="1337188"/>
            </a:xfrm>
            <a:custGeom>
              <a:avLst/>
              <a:gdLst/>
              <a:ahLst/>
              <a:cxnLst/>
              <a:rect l="l" t="t" r="r" b="b"/>
              <a:pathLst>
                <a:path w="852493" h="1337188">
                  <a:moveTo>
                    <a:pt x="691520" y="647700"/>
                  </a:moveTo>
                  <a:lnTo>
                    <a:pt x="852493" y="1275398"/>
                  </a:lnTo>
                  <a:cubicBezTo>
                    <a:pt x="609652" y="1337188"/>
                    <a:pt x="352956" y="1253362"/>
                    <a:pt x="193385" y="1060160"/>
                  </a:cubicBezTo>
                  <a:cubicBezTo>
                    <a:pt x="33814" y="866958"/>
                    <a:pt x="0" y="599047"/>
                    <a:pt x="106562" y="372256"/>
                  </a:cubicBezTo>
                  <a:cubicBezTo>
                    <a:pt x="213124" y="145464"/>
                    <a:pt x="440942" y="486"/>
                    <a:pt x="691520" y="0"/>
                  </a:cubicBezTo>
                  <a:lnTo>
                    <a:pt x="691520" y="304800"/>
                  </a:lnTo>
                  <a:cubicBezTo>
                    <a:pt x="559034" y="305427"/>
                    <a:pt x="438763" y="382321"/>
                    <a:pt x="382590" y="502310"/>
                  </a:cubicBezTo>
                  <a:cubicBezTo>
                    <a:pt x="326417" y="622300"/>
                    <a:pt x="344393" y="763914"/>
                    <a:pt x="428765" y="866063"/>
                  </a:cubicBezTo>
                  <a:cubicBezTo>
                    <a:pt x="513136" y="968212"/>
                    <a:pt x="648805" y="1012617"/>
                    <a:pt x="777245" y="980122"/>
                  </a:cubicBezTo>
                  <a:close/>
                </a:path>
              </a:pathLst>
            </a:custGeom>
            <a:solidFill>
              <a:srgbClr val="E94B2B"/>
            </a:solidFill>
            <a:ln>
              <a:noFill/>
            </a:ln>
          </p:spPr>
        </p:sp>
        <p:sp>
          <p:nvSpPr>
            <p:cNvPr id="20" name="TextBox 20"/>
            <p:cNvSpPr txBox="1"/>
            <p:nvPr/>
          </p:nvSpPr>
          <p:spPr>
            <a:xfrm>
              <a:off x="1547802" y="1879759"/>
              <a:ext cx="714395"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低活跃客户 10%​</a:t>
              </a:r>
            </a:p>
          </p:txBody>
        </p:sp>
        <p:sp>
          <p:nvSpPr>
            <p:cNvPr id="21" name="TextBox 21"/>
            <p:cNvSpPr txBox="1"/>
            <p:nvPr/>
          </p:nvSpPr>
          <p:spPr>
            <a:xfrm>
              <a:off x="2757488" y="2784634"/>
              <a:ext cx="439771" cy="133350"/>
            </a:xfrm>
            <a:prstGeom prst="rect">
              <a:avLst/>
            </a:prstGeom>
            <a:noFill/>
            <a:ln>
              <a:noFill/>
            </a:ln>
          </p:spPr>
          <p:txBody>
            <a:bodyPr wrap="none" lIns="0" tIns="0" rIns="0" bIns="0" anchor="t" anchorCtr="0">
              <a:spAutoFit/>
            </a:bodyPr>
            <a:lstStyle/>
            <a:p>
              <a:pPr algn="l"/>
              <a:r>
                <a:rPr lang="zh-CN" sz="680" dirty="0">
                  <a:solidFill>
                    <a:srgbClr val="684F4A"/>
                  </a:solidFill>
                  <a:latin typeface="+mn-lt"/>
                  <a:ea typeface="+mn-ea"/>
                  <a:cs typeface="+mn-cs"/>
                </a:rPr>
                <a:t>会员 36%​</a:t>
              </a:r>
            </a:p>
          </p:txBody>
        </p:sp>
        <p:sp>
          <p:nvSpPr>
            <p:cNvPr id="22" name="TextBox 22"/>
            <p:cNvSpPr txBox="1"/>
            <p:nvPr/>
          </p:nvSpPr>
          <p:spPr>
            <a:xfrm>
              <a:off x="966788" y="3470434"/>
              <a:ext cx="622854" cy="133350"/>
            </a:xfrm>
            <a:prstGeom prst="rect">
              <a:avLst/>
            </a:prstGeom>
            <a:noFill/>
            <a:ln>
              <a:noFill/>
            </a:ln>
          </p:spPr>
          <p:txBody>
            <a:bodyPr wrap="none" lIns="0" tIns="0" rIns="0" bIns="0" anchor="t" anchorCtr="0">
              <a:spAutoFit/>
            </a:bodyPr>
            <a:lstStyle/>
            <a:p>
              <a:pPr algn="l"/>
              <a:r>
                <a:rPr lang="zh-CN" sz="680" dirty="0">
                  <a:solidFill>
                    <a:srgbClr val="684F4A"/>
                  </a:solidFill>
                  <a:latin typeface="+mn-lt"/>
                  <a:ea typeface="+mn-ea"/>
                  <a:cs typeface="+mn-cs"/>
                </a:rPr>
                <a:t>普通用户 54%​</a:t>
              </a:r>
            </a:p>
          </p:txBody>
        </p:sp>
        <p:sp>
          <p:nvSpPr>
            <p:cNvPr id="23" name="TextBox 23"/>
            <p:cNvSpPr txBox="1"/>
            <p:nvPr/>
          </p:nvSpPr>
          <p:spPr>
            <a:xfrm>
              <a:off x="2947988" y="1886664"/>
              <a:ext cx="865641" cy="154781"/>
            </a:xfrm>
            <a:prstGeom prst="rect">
              <a:avLst/>
            </a:prstGeom>
            <a:noFill/>
            <a:ln>
              <a:noFill/>
            </a:ln>
          </p:spPr>
          <p:txBody>
            <a:bodyPr wrap="none" lIns="0" tIns="0" rIns="0" bIns="0" anchor="t" anchorCtr="0">
              <a:spAutoFit/>
            </a:bodyPr>
            <a:lstStyle/>
            <a:p>
              <a:pPr algn="l"/>
              <a:r>
                <a:rPr lang="zh-CN" sz="790" dirty="0">
                  <a:solidFill>
                    <a:srgbClr val="262626"/>
                  </a:solidFill>
                  <a:latin typeface="+mn-lt"/>
                  <a:ea typeface="+mn-ea"/>
                  <a:cs typeface="+mn-cs"/>
                </a:rPr>
                <a:t>推荐次数 1239万​</a:t>
              </a:r>
            </a:p>
          </p:txBody>
        </p:sp>
        <p:sp>
          <p:nvSpPr>
            <p:cNvPr id="24" name="TextBox 24"/>
            <p:cNvSpPr txBox="1"/>
            <p:nvPr/>
          </p:nvSpPr>
          <p:spPr>
            <a:xfrm>
              <a:off x="4471988" y="1886664"/>
              <a:ext cx="971991" cy="154781"/>
            </a:xfrm>
            <a:prstGeom prst="rect">
              <a:avLst/>
            </a:prstGeom>
            <a:noFill/>
            <a:ln>
              <a:noFill/>
            </a:ln>
          </p:spPr>
          <p:txBody>
            <a:bodyPr wrap="none" lIns="0" tIns="0" rIns="0" bIns="0" anchor="t" anchorCtr="0">
              <a:spAutoFit/>
            </a:bodyPr>
            <a:lstStyle/>
            <a:p>
              <a:pPr algn="l"/>
              <a:r>
                <a:rPr lang="zh-CN" sz="790" dirty="0">
                  <a:solidFill>
                    <a:srgbClr val="262626"/>
                  </a:solidFill>
                  <a:latin typeface="+mn-lt"/>
                  <a:ea typeface="+mn-ea"/>
                  <a:cs typeface="+mn-cs"/>
                </a:rPr>
                <a:t>接受推荐人数 6267​</a:t>
              </a:r>
            </a:p>
          </p:txBody>
        </p:sp>
        <p:sp>
          <p:nvSpPr>
            <p:cNvPr id="25" name="Rectangle 25"/>
            <p:cNvSpPr/>
            <p:nvPr/>
          </p:nvSpPr>
          <p:spPr>
            <a:xfrm>
              <a:off x="2952750" y="2047875"/>
              <a:ext cx="2000250" cy="666750"/>
            </a:xfrm>
            <a:prstGeom prst="rect">
              <a:avLst/>
            </a:prstGeom>
            <a:gradFill>
              <a:gsLst>
                <a:gs pos="0">
                  <a:srgbClr val="FF5B3A"/>
                </a:gs>
                <a:gs pos="100000">
                  <a:srgbClr val="E94B2B"/>
                </a:gs>
              </a:gsLst>
              <a:lin ang="0" scaled="1"/>
            </a:gradFill>
            <a:ln>
              <a:noFill/>
            </a:ln>
          </p:spPr>
        </p:sp>
        <p:sp>
          <p:nvSpPr>
            <p:cNvPr id="26" name="TextBox 26"/>
            <p:cNvSpPr txBox="1"/>
            <p:nvPr/>
          </p:nvSpPr>
          <p:spPr>
            <a:xfrm>
              <a:off x="3586132" y="2318385"/>
              <a:ext cx="73348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1239万​​</a:t>
              </a:r>
            </a:p>
          </p:txBody>
        </p:sp>
        <p:sp>
          <p:nvSpPr>
            <p:cNvPr id="27" name="Polygon 27"/>
            <p:cNvSpPr/>
            <p:nvPr/>
          </p:nvSpPr>
          <p:spPr>
            <a:xfrm>
              <a:off x="2952750" y="2714625"/>
              <a:ext cx="2762250" cy="666750"/>
            </a:xfrm>
            <a:custGeom>
              <a:avLst/>
              <a:gdLst/>
              <a:ahLst/>
              <a:cxnLst/>
              <a:rect l="l" t="t" r="r" b="b"/>
              <a:pathLst>
                <a:path w="2762250" h="666750">
                  <a:moveTo>
                    <a:pt x="0" y="0"/>
                  </a:moveTo>
                  <a:lnTo>
                    <a:pt x="2000250" y="0"/>
                  </a:lnTo>
                  <a:lnTo>
                    <a:pt x="2762250" y="666750"/>
                  </a:lnTo>
                  <a:lnTo>
                    <a:pt x="666750" y="666750"/>
                  </a:lnTo>
                  <a:close/>
                </a:path>
              </a:pathLst>
            </a:custGeom>
            <a:solidFill>
              <a:srgbClr val="F8B6A9">
                <a:alpha val="55000"/>
              </a:srgbClr>
            </a:solidFill>
            <a:ln>
              <a:noFill/>
            </a:ln>
          </p:spPr>
        </p:sp>
        <p:sp>
          <p:nvSpPr>
            <p:cNvPr id="28" name="Rectangle 28"/>
            <p:cNvSpPr/>
            <p:nvPr/>
          </p:nvSpPr>
          <p:spPr>
            <a:xfrm>
              <a:off x="4000500" y="2886075"/>
              <a:ext cx="609600" cy="228600"/>
            </a:xfrm>
            <a:prstGeom prst="roundRect">
              <a:avLst>
                <a:gd name="adj" fmla="val 50000"/>
              </a:avLst>
            </a:prstGeom>
            <a:solidFill>
              <a:srgbClr val="FFFFFF"/>
            </a:solidFill>
            <a:ln w="9525">
              <a:solidFill>
                <a:srgbClr val="C9DDF5"/>
              </a:solidFill>
            </a:ln>
          </p:spPr>
        </p:sp>
        <p:sp>
          <p:nvSpPr>
            <p:cNvPr id="29" name="TextBox 29"/>
            <p:cNvSpPr txBox="1"/>
            <p:nvPr/>
          </p:nvSpPr>
          <p:spPr>
            <a:xfrm>
              <a:off x="4112894" y="2950845"/>
              <a:ext cx="384812" cy="176212"/>
            </a:xfrm>
            <a:prstGeom prst="rect">
              <a:avLst/>
            </a:prstGeom>
            <a:noFill/>
            <a:ln>
              <a:noFill/>
            </a:ln>
          </p:spPr>
          <p:txBody>
            <a:bodyPr wrap="none" lIns="0" tIns="0" rIns="0" bIns="0" anchor="t" anchorCtr="0">
              <a:spAutoFit/>
            </a:bodyPr>
            <a:lstStyle/>
            <a:p>
              <a:pPr algn="ctr"/>
              <a:r>
                <a:rPr lang="zh-CN" sz="900" b="1" dirty="0">
                  <a:solidFill>
                    <a:srgbClr val="E94B2B"/>
                  </a:solidFill>
                  <a:latin typeface="+mn-lt"/>
                  <a:ea typeface="+mn-ea"/>
                  <a:cs typeface="+mn-cs"/>
                </a:rPr>
                <a:t>50.3%</a:t>
              </a:r>
            </a:p>
          </p:txBody>
        </p:sp>
        <p:sp>
          <p:nvSpPr>
            <p:cNvPr id="30" name="Rectangle 30"/>
            <p:cNvSpPr/>
            <p:nvPr/>
          </p:nvSpPr>
          <p:spPr>
            <a:xfrm>
              <a:off x="4476750" y="3381375"/>
              <a:ext cx="1238250" cy="571500"/>
            </a:xfrm>
            <a:prstGeom prst="rect">
              <a:avLst/>
            </a:prstGeom>
            <a:solidFill>
              <a:srgbClr val="C83B1E"/>
            </a:solidFill>
            <a:ln>
              <a:noFill/>
            </a:ln>
          </p:spPr>
        </p:sp>
        <p:sp>
          <p:nvSpPr>
            <p:cNvPr id="31" name="TextBox 31"/>
            <p:cNvSpPr txBox="1"/>
            <p:nvPr/>
          </p:nvSpPr>
          <p:spPr>
            <a:xfrm>
              <a:off x="4903196" y="3585210"/>
              <a:ext cx="385359"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6267</a:t>
              </a:r>
            </a:p>
          </p:txBody>
        </p:sp>
      </p:grpSp>
      <p:grpSp>
        <p:nvGrpSpPr>
          <p:cNvPr id="94" name="m-trend"/>
          <p:cNvGrpSpPr/>
          <p:nvPr/>
        </p:nvGrpSpPr>
        <p:grpSpPr>
          <a:xfrm>
            <a:off x="6057900" y="838200"/>
            <a:ext cx="5581650" cy="3352800"/>
            <a:chOff x="6057900" y="838200"/>
            <a:chExt cx="5581650" cy="3352800"/>
          </a:xfrm>
        </p:grpSpPr>
        <p:sp>
          <p:nvSpPr>
            <p:cNvPr id="33" name="Rectangle 33"/>
            <p:cNvSpPr/>
            <p:nvPr/>
          </p:nvSpPr>
          <p:spPr>
            <a:xfrm>
              <a:off x="6057900" y="838200"/>
              <a:ext cx="5581650" cy="3352800"/>
            </a:xfrm>
            <a:prstGeom prst="rect">
              <a:avLst/>
            </a:prstGeom>
            <a:solidFill>
              <a:srgbClr val="FFFFFF"/>
            </a:solidFill>
            <a:ln w="11430">
              <a:solidFill>
                <a:srgbClr val="C9DDF5"/>
              </a:solidFill>
            </a:ln>
          </p:spPr>
        </p:sp>
        <p:sp>
          <p:nvSpPr>
            <p:cNvPr id="34" name="Rectangle 34"/>
            <p:cNvSpPr/>
            <p:nvPr/>
          </p:nvSpPr>
          <p:spPr>
            <a:xfrm>
              <a:off x="6153150" y="933450"/>
              <a:ext cx="2286000" cy="247650"/>
            </a:xfrm>
            <a:prstGeom prst="rect">
              <a:avLst/>
            </a:prstGeom>
            <a:gradFill>
              <a:gsLst>
                <a:gs pos="0">
                  <a:srgbClr val="FF5B3A"/>
                </a:gs>
                <a:gs pos="100000">
                  <a:srgbClr val="E94B2B"/>
                </a:gs>
              </a:gsLst>
              <a:lin ang="0" scaled="1"/>
            </a:gradFill>
            <a:ln>
              <a:noFill/>
            </a:ln>
          </p:spPr>
        </p:sp>
        <p:sp>
          <p:nvSpPr>
            <p:cNvPr id="35" name="Polygon 35"/>
            <p:cNvSpPr/>
            <p:nvPr/>
          </p:nvSpPr>
          <p:spPr>
            <a:xfrm>
              <a:off x="8343900" y="9334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grpSp>
          <p:nvGrpSpPr>
            <p:cNvPr id="42" name="Group 42"/>
            <p:cNvGrpSpPr/>
            <p:nvPr/>
          </p:nvGrpSpPr>
          <p:grpSpPr>
            <a:xfrm>
              <a:off x="6251575" y="1000125"/>
              <a:ext cx="104775" cy="95250"/>
              <a:chOff x="6251575" y="1000125"/>
              <a:chExt cx="104775" cy="95250"/>
            </a:xfrm>
          </p:grpSpPr>
          <p:sp>
            <p:nvSpPr>
              <p:cNvPr id="36" name="Freeform 36"/>
              <p:cNvSpPr/>
              <p:nvPr/>
            </p:nvSpPr>
            <p:spPr>
              <a:xfrm>
                <a:off x="6251575" y="1000125"/>
                <a:ext cx="25400" cy="15875"/>
              </a:xfrm>
              <a:custGeom>
                <a:avLst/>
                <a:gdLst/>
                <a:ahLst/>
                <a:cxnLst/>
                <a:rect l="l" t="t" r="r" b="b"/>
                <a:pathLst>
                  <a:path w="25400" h="15875">
                    <a:moveTo>
                      <a:pt x="0" y="6350"/>
                    </a:moveTo>
                    <a:lnTo>
                      <a:pt x="9525" y="15875"/>
                    </a:lnTo>
                    <a:lnTo>
                      <a:pt x="25400" y="0"/>
                    </a:lnTo>
                  </a:path>
                </a:pathLst>
              </a:custGeom>
              <a:noFill/>
              <a:ln w="12700">
                <a:solidFill>
                  <a:srgbClr val="FFFFFF"/>
                </a:solidFill>
              </a:ln>
            </p:spPr>
          </p:sp>
          <p:sp>
            <p:nvSpPr>
              <p:cNvPr id="37" name="Freeform 37"/>
              <p:cNvSpPr/>
              <p:nvPr/>
            </p:nvSpPr>
            <p:spPr>
              <a:xfrm>
                <a:off x="6251575" y="1038225"/>
                <a:ext cx="25400" cy="15875"/>
              </a:xfrm>
              <a:custGeom>
                <a:avLst/>
                <a:gdLst/>
                <a:ahLst/>
                <a:cxnLst/>
                <a:rect l="l" t="t" r="r" b="b"/>
                <a:pathLst>
                  <a:path w="25400" h="15875">
                    <a:moveTo>
                      <a:pt x="0" y="6350"/>
                    </a:moveTo>
                    <a:lnTo>
                      <a:pt x="9525" y="15875"/>
                    </a:lnTo>
                    <a:lnTo>
                      <a:pt x="25400" y="0"/>
                    </a:lnTo>
                  </a:path>
                </a:pathLst>
              </a:custGeom>
              <a:noFill/>
              <a:ln w="12700">
                <a:solidFill>
                  <a:srgbClr val="FFFFFF"/>
                </a:solidFill>
              </a:ln>
            </p:spPr>
          </p:sp>
          <p:sp>
            <p:nvSpPr>
              <p:cNvPr id="38" name="Freeform 38"/>
              <p:cNvSpPr/>
              <p:nvPr/>
            </p:nvSpPr>
            <p:spPr>
              <a:xfrm>
                <a:off x="6251575" y="1076325"/>
                <a:ext cx="25400" cy="15875"/>
              </a:xfrm>
              <a:custGeom>
                <a:avLst/>
                <a:gdLst/>
                <a:ahLst/>
                <a:cxnLst/>
                <a:rect l="l" t="t" r="r" b="b"/>
                <a:pathLst>
                  <a:path w="25400" h="15875">
                    <a:moveTo>
                      <a:pt x="0" y="6350"/>
                    </a:moveTo>
                    <a:lnTo>
                      <a:pt x="9525" y="15875"/>
                    </a:lnTo>
                    <a:lnTo>
                      <a:pt x="25400" y="0"/>
                    </a:lnTo>
                  </a:path>
                </a:pathLst>
              </a:custGeom>
              <a:noFill/>
              <a:ln w="12700">
                <a:solidFill>
                  <a:srgbClr val="FFFFFF"/>
                </a:solidFill>
              </a:ln>
            </p:spPr>
          </p:sp>
          <p:sp>
            <p:nvSpPr>
              <p:cNvPr id="39" name="Freeform 39"/>
              <p:cNvSpPr/>
              <p:nvPr/>
            </p:nvSpPr>
            <p:spPr>
              <a:xfrm>
                <a:off x="6299200" y="1009650"/>
                <a:ext cx="57150" cy="9525"/>
              </a:xfrm>
              <a:custGeom>
                <a:avLst/>
                <a:gdLst/>
                <a:ahLst/>
                <a:cxnLst/>
                <a:rect l="l" t="t" r="r" b="b"/>
                <a:pathLst>
                  <a:path w="57150" h="9525">
                    <a:moveTo>
                      <a:pt x="0" y="0"/>
                    </a:moveTo>
                    <a:lnTo>
                      <a:pt x="57150" y="0"/>
                    </a:lnTo>
                  </a:path>
                </a:pathLst>
              </a:custGeom>
              <a:noFill/>
              <a:ln w="12700">
                <a:solidFill>
                  <a:srgbClr val="FFFFFF"/>
                </a:solidFill>
              </a:ln>
            </p:spPr>
          </p:sp>
          <p:sp>
            <p:nvSpPr>
              <p:cNvPr id="40" name="Freeform 40"/>
              <p:cNvSpPr/>
              <p:nvPr/>
            </p:nvSpPr>
            <p:spPr>
              <a:xfrm>
                <a:off x="6299200" y="1047750"/>
                <a:ext cx="57150" cy="9525"/>
              </a:xfrm>
              <a:custGeom>
                <a:avLst/>
                <a:gdLst/>
                <a:ahLst/>
                <a:cxnLst/>
                <a:rect l="l" t="t" r="r" b="b"/>
                <a:pathLst>
                  <a:path w="57150" h="9525">
                    <a:moveTo>
                      <a:pt x="0" y="0"/>
                    </a:moveTo>
                    <a:lnTo>
                      <a:pt x="57150" y="0"/>
                    </a:lnTo>
                  </a:path>
                </a:pathLst>
              </a:custGeom>
              <a:noFill/>
              <a:ln w="12700">
                <a:solidFill>
                  <a:srgbClr val="FFFFFF"/>
                </a:solidFill>
              </a:ln>
            </p:spPr>
          </p:sp>
          <p:sp>
            <p:nvSpPr>
              <p:cNvPr id="41" name="Freeform 41"/>
              <p:cNvSpPr/>
              <p:nvPr/>
            </p:nvSpPr>
            <p:spPr>
              <a:xfrm>
                <a:off x="6299200" y="1085850"/>
                <a:ext cx="57150" cy="9525"/>
              </a:xfrm>
              <a:custGeom>
                <a:avLst/>
                <a:gdLst/>
                <a:ahLst/>
                <a:cxnLst/>
                <a:rect l="l" t="t" r="r" b="b"/>
                <a:pathLst>
                  <a:path w="57150" h="9525">
                    <a:moveTo>
                      <a:pt x="0" y="0"/>
                    </a:moveTo>
                    <a:lnTo>
                      <a:pt x="57150" y="0"/>
                    </a:lnTo>
                  </a:path>
                </a:pathLst>
              </a:custGeom>
              <a:noFill/>
              <a:ln w="12700">
                <a:solidFill>
                  <a:srgbClr val="FFFFFF"/>
                </a:solidFill>
              </a:ln>
            </p:spPr>
          </p:sp>
        </p:grpSp>
        <p:sp>
          <p:nvSpPr>
            <p:cNvPr id="43" name="TextBox 43"/>
            <p:cNvSpPr txBox="1"/>
            <p:nvPr/>
          </p:nvSpPr>
          <p:spPr>
            <a:xfrm>
              <a:off x="6433756" y="995601"/>
              <a:ext cx="1098017"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传播指标趋势追踪</a:t>
              </a:r>
            </a:p>
          </p:txBody>
        </p:sp>
        <p:sp>
          <p:nvSpPr>
            <p:cNvPr id="44" name="Line 44"/>
            <p:cNvSpPr/>
            <p:nvPr/>
          </p:nvSpPr>
          <p:spPr>
            <a:xfrm>
              <a:off x="7334250" y="1304925"/>
              <a:ext cx="133350" cy="9525"/>
            </a:xfrm>
            <a:custGeom>
              <a:avLst/>
              <a:gdLst/>
              <a:ahLst/>
              <a:cxnLst/>
              <a:rect l="l" t="t" r="r" b="b"/>
              <a:pathLst>
                <a:path w="133350" h="9525">
                  <a:moveTo>
                    <a:pt x="0" y="0"/>
                  </a:moveTo>
                  <a:lnTo>
                    <a:pt x="133350" y="0"/>
                  </a:lnTo>
                </a:path>
              </a:pathLst>
            </a:custGeom>
            <a:noFill/>
            <a:ln w="19050">
              <a:solidFill>
                <a:srgbClr val="C83B1E"/>
              </a:solidFill>
            </a:ln>
          </p:spPr>
        </p:sp>
        <p:sp>
          <p:nvSpPr>
            <p:cNvPr id="45" name="TextBox 45"/>
            <p:cNvSpPr txBox="1"/>
            <p:nvPr/>
          </p:nvSpPr>
          <p:spPr>
            <a:xfrm>
              <a:off x="7500938" y="1266111"/>
              <a:ext cx="200685"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会员</a:t>
              </a:r>
            </a:p>
          </p:txBody>
        </p:sp>
        <p:sp>
          <p:nvSpPr>
            <p:cNvPr id="46" name="Line 46"/>
            <p:cNvSpPr/>
            <p:nvPr/>
          </p:nvSpPr>
          <p:spPr>
            <a:xfrm>
              <a:off x="8096250" y="1304925"/>
              <a:ext cx="133350" cy="9525"/>
            </a:xfrm>
            <a:custGeom>
              <a:avLst/>
              <a:gdLst/>
              <a:ahLst/>
              <a:cxnLst/>
              <a:rect l="l" t="t" r="r" b="b"/>
              <a:pathLst>
                <a:path w="133350" h="9525">
                  <a:moveTo>
                    <a:pt x="0" y="0"/>
                  </a:moveTo>
                  <a:lnTo>
                    <a:pt x="133350" y="0"/>
                  </a:lnTo>
                </a:path>
              </a:pathLst>
            </a:custGeom>
            <a:noFill/>
            <a:ln w="19050">
              <a:solidFill>
                <a:srgbClr val="F2563B"/>
              </a:solidFill>
            </a:ln>
          </p:spPr>
        </p:sp>
        <p:sp>
          <p:nvSpPr>
            <p:cNvPr id="47" name="TextBox 47"/>
            <p:cNvSpPr txBox="1"/>
            <p:nvPr/>
          </p:nvSpPr>
          <p:spPr>
            <a:xfrm>
              <a:off x="8262938" y="1266111"/>
              <a:ext cx="391846"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普通用户</a:t>
              </a:r>
            </a:p>
          </p:txBody>
        </p:sp>
        <p:sp>
          <p:nvSpPr>
            <p:cNvPr id="48" name="Line 48"/>
            <p:cNvSpPr/>
            <p:nvPr/>
          </p:nvSpPr>
          <p:spPr>
            <a:xfrm>
              <a:off x="9048750" y="1304925"/>
              <a:ext cx="133350" cy="9525"/>
            </a:xfrm>
            <a:custGeom>
              <a:avLst/>
              <a:gdLst/>
              <a:ahLst/>
              <a:cxnLst/>
              <a:rect l="l" t="t" r="r" b="b"/>
              <a:pathLst>
                <a:path w="133350" h="9525">
                  <a:moveTo>
                    <a:pt x="0" y="0"/>
                  </a:moveTo>
                  <a:lnTo>
                    <a:pt x="133350" y="0"/>
                  </a:lnTo>
                </a:path>
              </a:pathLst>
            </a:custGeom>
            <a:noFill/>
            <a:ln w="19050">
              <a:solidFill>
                <a:srgbClr val="F8B6A9"/>
              </a:solidFill>
            </a:ln>
          </p:spPr>
        </p:sp>
        <p:sp>
          <p:nvSpPr>
            <p:cNvPr id="49" name="TextBox 49"/>
            <p:cNvSpPr txBox="1"/>
            <p:nvPr/>
          </p:nvSpPr>
          <p:spPr>
            <a:xfrm>
              <a:off x="9215438" y="1266111"/>
              <a:ext cx="487426"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低活跃客户</a:t>
              </a:r>
            </a:p>
          </p:txBody>
        </p:sp>
        <p:sp>
          <p:nvSpPr>
            <p:cNvPr id="50" name="Line 50"/>
            <p:cNvSpPr/>
            <p:nvPr/>
          </p:nvSpPr>
          <p:spPr>
            <a:xfrm>
              <a:off x="6572250" y="2381250"/>
              <a:ext cx="4667250" cy="9525"/>
            </a:xfrm>
            <a:custGeom>
              <a:avLst/>
              <a:gdLst/>
              <a:ahLst/>
              <a:cxnLst/>
              <a:rect l="l" t="t" r="r" b="b"/>
              <a:pathLst>
                <a:path w="4667250" h="9525">
                  <a:moveTo>
                    <a:pt x="0" y="0"/>
                  </a:moveTo>
                  <a:lnTo>
                    <a:pt x="4667250" y="0"/>
                  </a:lnTo>
                </a:path>
              </a:pathLst>
            </a:custGeom>
            <a:noFill/>
            <a:ln w="9525">
              <a:solidFill>
                <a:srgbClr val="EAF2FC"/>
              </a:solidFill>
            </a:ln>
          </p:spPr>
        </p:sp>
        <p:sp>
          <p:nvSpPr>
            <p:cNvPr id="51" name="Line 51"/>
            <p:cNvSpPr/>
            <p:nvPr/>
          </p:nvSpPr>
          <p:spPr>
            <a:xfrm>
              <a:off x="6572250" y="2738438"/>
              <a:ext cx="4667250" cy="9525"/>
            </a:xfrm>
            <a:custGeom>
              <a:avLst/>
              <a:gdLst/>
              <a:ahLst/>
              <a:cxnLst/>
              <a:rect l="l" t="t" r="r" b="b"/>
              <a:pathLst>
                <a:path w="4667250" h="9525">
                  <a:moveTo>
                    <a:pt x="0" y="0"/>
                  </a:moveTo>
                  <a:lnTo>
                    <a:pt x="4667250" y="0"/>
                  </a:lnTo>
                </a:path>
              </a:pathLst>
            </a:custGeom>
            <a:noFill/>
            <a:ln w="9525">
              <a:solidFill>
                <a:srgbClr val="EAF2FC"/>
              </a:solidFill>
            </a:ln>
          </p:spPr>
        </p:sp>
        <p:sp>
          <p:nvSpPr>
            <p:cNvPr id="52" name="Line 52"/>
            <p:cNvSpPr/>
            <p:nvPr/>
          </p:nvSpPr>
          <p:spPr>
            <a:xfrm>
              <a:off x="6572250" y="3095625"/>
              <a:ext cx="4667250" cy="9525"/>
            </a:xfrm>
            <a:custGeom>
              <a:avLst/>
              <a:gdLst/>
              <a:ahLst/>
              <a:cxnLst/>
              <a:rect l="l" t="t" r="r" b="b"/>
              <a:pathLst>
                <a:path w="4667250" h="9525">
                  <a:moveTo>
                    <a:pt x="0" y="0"/>
                  </a:moveTo>
                  <a:lnTo>
                    <a:pt x="4667250" y="0"/>
                  </a:lnTo>
                </a:path>
              </a:pathLst>
            </a:custGeom>
            <a:noFill/>
            <a:ln w="9525">
              <a:solidFill>
                <a:srgbClr val="EAF2FC"/>
              </a:solidFill>
            </a:ln>
          </p:spPr>
        </p:sp>
        <p:sp>
          <p:nvSpPr>
            <p:cNvPr id="53" name="Line 53"/>
            <p:cNvSpPr/>
            <p:nvPr/>
          </p:nvSpPr>
          <p:spPr>
            <a:xfrm>
              <a:off x="6572250" y="3452812"/>
              <a:ext cx="4667250" cy="9525"/>
            </a:xfrm>
            <a:custGeom>
              <a:avLst/>
              <a:gdLst/>
              <a:ahLst/>
              <a:cxnLst/>
              <a:rect l="l" t="t" r="r" b="b"/>
              <a:pathLst>
                <a:path w="4667250" h="9525">
                  <a:moveTo>
                    <a:pt x="0" y="0"/>
                  </a:moveTo>
                  <a:lnTo>
                    <a:pt x="4667250" y="0"/>
                  </a:lnTo>
                </a:path>
              </a:pathLst>
            </a:custGeom>
            <a:noFill/>
            <a:ln w="9525">
              <a:solidFill>
                <a:srgbClr val="EAF2FC"/>
              </a:solidFill>
            </a:ln>
          </p:spPr>
        </p:sp>
        <p:sp>
          <p:nvSpPr>
            <p:cNvPr id="54" name="TextBox 54"/>
            <p:cNvSpPr txBox="1"/>
            <p:nvPr/>
          </p:nvSpPr>
          <p:spPr>
            <a:xfrm>
              <a:off x="6421488" y="2345055"/>
              <a:ext cx="98374"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10</a:t>
              </a:r>
            </a:p>
          </p:txBody>
        </p:sp>
        <p:sp>
          <p:nvSpPr>
            <p:cNvPr id="55" name="TextBox 55"/>
            <p:cNvSpPr txBox="1"/>
            <p:nvPr/>
          </p:nvSpPr>
          <p:spPr>
            <a:xfrm>
              <a:off x="6377064" y="2702242"/>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7.5</a:t>
              </a:r>
            </a:p>
          </p:txBody>
        </p:sp>
        <p:sp>
          <p:nvSpPr>
            <p:cNvPr id="56" name="TextBox 56"/>
            <p:cNvSpPr txBox="1"/>
            <p:nvPr/>
          </p:nvSpPr>
          <p:spPr>
            <a:xfrm>
              <a:off x="6465913" y="3059430"/>
              <a:ext cx="53950"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5</a:t>
              </a:r>
            </a:p>
          </p:txBody>
        </p:sp>
        <p:sp>
          <p:nvSpPr>
            <p:cNvPr id="57" name="TextBox 57"/>
            <p:cNvSpPr txBox="1"/>
            <p:nvPr/>
          </p:nvSpPr>
          <p:spPr>
            <a:xfrm>
              <a:off x="6377064" y="3416618"/>
              <a:ext cx="142799"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2.5</a:t>
              </a:r>
            </a:p>
          </p:txBody>
        </p:sp>
        <p:sp>
          <p:nvSpPr>
            <p:cNvPr id="58" name="TextBox 58"/>
            <p:cNvSpPr txBox="1"/>
            <p:nvPr/>
          </p:nvSpPr>
          <p:spPr>
            <a:xfrm>
              <a:off x="6465913" y="3773805"/>
              <a:ext cx="53950" cy="119062"/>
            </a:xfrm>
            <a:prstGeom prst="rect">
              <a:avLst/>
            </a:prstGeom>
            <a:noFill/>
            <a:ln>
              <a:noFill/>
            </a:ln>
          </p:spPr>
          <p:txBody>
            <a:bodyPr wrap="none" lIns="0" tIns="0" rIns="0" bIns="0" anchor="t" anchorCtr="0">
              <a:spAutoFit/>
            </a:bodyPr>
            <a:lstStyle/>
            <a:p>
              <a:pPr algn="r"/>
              <a:r>
                <a:rPr lang="zh-CN" sz="600" dirty="0">
                  <a:solidFill>
                    <a:srgbClr val="A6817A"/>
                  </a:solidFill>
                  <a:latin typeface="+mn-lt"/>
                  <a:ea typeface="+mn-ea"/>
                  <a:cs typeface="+mn-cs"/>
                </a:rPr>
                <a:t>0</a:t>
              </a:r>
            </a:p>
          </p:txBody>
        </p:sp>
        <p:sp>
          <p:nvSpPr>
            <p:cNvPr id="59" name="TextBox 59"/>
            <p:cNvSpPr txBox="1"/>
            <p:nvPr/>
          </p:nvSpPr>
          <p:spPr>
            <a:xfrm rot="-5400000">
              <a:off x="6171879" y="2981325"/>
              <a:ext cx="254960" cy="133350"/>
            </a:xfrm>
            <a:prstGeom prst="rect">
              <a:avLst/>
            </a:prstGeom>
            <a:noFill/>
            <a:ln>
              <a:noFill/>
            </a:ln>
          </p:spPr>
          <p:txBody>
            <a:bodyPr wrap="none" lIns="0" tIns="0" rIns="0" bIns="0" anchor="t" anchorCtr="0">
              <a:spAutoFit/>
            </a:bodyPr>
            <a:lstStyle/>
            <a:p>
              <a:pPr algn="ctr"/>
              <a:r>
                <a:rPr lang="zh-CN" sz="680" dirty="0">
                  <a:solidFill>
                    <a:srgbClr val="684F4A"/>
                  </a:solidFill>
                  <a:latin typeface="+mn-lt"/>
                  <a:ea typeface="+mn-ea"/>
                  <a:cs typeface="+mn-cs"/>
                </a:rPr>
                <a:t>K值​​</a:t>
              </a:r>
            </a:p>
          </p:txBody>
        </p:sp>
        <p:sp>
          <p:nvSpPr>
            <p:cNvPr id="60" name="Polyline 60"/>
            <p:cNvSpPr/>
            <p:nvPr/>
          </p:nvSpPr>
          <p:spPr>
            <a:xfrm>
              <a:off x="6572250" y="2438400"/>
              <a:ext cx="4667250" cy="1000125"/>
            </a:xfrm>
            <a:custGeom>
              <a:avLst/>
              <a:gdLst/>
              <a:ahLst/>
              <a:cxnLst/>
              <a:rect l="l" t="t" r="r" b="b"/>
              <a:pathLst>
                <a:path w="4667250" h="1000125">
                  <a:moveTo>
                    <a:pt x="0" y="228600"/>
                  </a:moveTo>
                  <a:lnTo>
                    <a:pt x="514350" y="585788"/>
                  </a:lnTo>
                  <a:lnTo>
                    <a:pt x="1038225" y="328612"/>
                  </a:lnTo>
                  <a:lnTo>
                    <a:pt x="1552575" y="628650"/>
                  </a:lnTo>
                  <a:lnTo>
                    <a:pt x="2076450" y="371475"/>
                  </a:lnTo>
                  <a:lnTo>
                    <a:pt x="2590800" y="314325"/>
                  </a:lnTo>
                  <a:lnTo>
                    <a:pt x="3114675" y="57150"/>
                  </a:lnTo>
                  <a:lnTo>
                    <a:pt x="3629025" y="0"/>
                  </a:lnTo>
                  <a:lnTo>
                    <a:pt x="4152900" y="285750"/>
                  </a:lnTo>
                  <a:lnTo>
                    <a:pt x="4667250" y="1000125"/>
                  </a:lnTo>
                </a:path>
              </a:pathLst>
            </a:custGeom>
            <a:noFill/>
            <a:ln w="19050">
              <a:solidFill>
                <a:srgbClr val="C83B1E"/>
              </a:solidFill>
            </a:ln>
          </p:spPr>
        </p:sp>
        <p:sp>
          <p:nvSpPr>
            <p:cNvPr id="61" name="Polyline 61"/>
            <p:cNvSpPr/>
            <p:nvPr/>
          </p:nvSpPr>
          <p:spPr>
            <a:xfrm>
              <a:off x="6572250" y="2981325"/>
              <a:ext cx="4667250" cy="485775"/>
            </a:xfrm>
            <a:custGeom>
              <a:avLst/>
              <a:gdLst/>
              <a:ahLst/>
              <a:cxnLst/>
              <a:rect l="l" t="t" r="r" b="b"/>
              <a:pathLst>
                <a:path w="4667250" h="485775">
                  <a:moveTo>
                    <a:pt x="0" y="142875"/>
                  </a:moveTo>
                  <a:lnTo>
                    <a:pt x="514350" y="185738"/>
                  </a:lnTo>
                  <a:lnTo>
                    <a:pt x="1038225" y="0"/>
                  </a:lnTo>
                  <a:lnTo>
                    <a:pt x="1552575" y="85725"/>
                  </a:lnTo>
                  <a:lnTo>
                    <a:pt x="2076450" y="200025"/>
                  </a:lnTo>
                  <a:lnTo>
                    <a:pt x="2590800" y="228600"/>
                  </a:lnTo>
                  <a:lnTo>
                    <a:pt x="3114675" y="171450"/>
                  </a:lnTo>
                  <a:lnTo>
                    <a:pt x="3629025" y="42862"/>
                  </a:lnTo>
                  <a:lnTo>
                    <a:pt x="4152900" y="371475"/>
                  </a:lnTo>
                  <a:lnTo>
                    <a:pt x="4667250" y="485775"/>
                  </a:lnTo>
                </a:path>
              </a:pathLst>
            </a:custGeom>
            <a:noFill/>
            <a:ln w="19050">
              <a:solidFill>
                <a:srgbClr val="F2563B"/>
              </a:solidFill>
            </a:ln>
          </p:spPr>
        </p:sp>
        <p:sp>
          <p:nvSpPr>
            <p:cNvPr id="62" name="Polyline 62"/>
            <p:cNvSpPr/>
            <p:nvPr/>
          </p:nvSpPr>
          <p:spPr>
            <a:xfrm>
              <a:off x="6572250" y="3124200"/>
              <a:ext cx="4667250" cy="285750"/>
            </a:xfrm>
            <a:custGeom>
              <a:avLst/>
              <a:gdLst/>
              <a:ahLst/>
              <a:cxnLst/>
              <a:rect l="l" t="t" r="r" b="b"/>
              <a:pathLst>
                <a:path w="4667250" h="285750">
                  <a:moveTo>
                    <a:pt x="0" y="28575"/>
                  </a:moveTo>
                  <a:lnTo>
                    <a:pt x="514350" y="85725"/>
                  </a:lnTo>
                  <a:lnTo>
                    <a:pt x="1038225" y="114300"/>
                  </a:lnTo>
                  <a:lnTo>
                    <a:pt x="1552575" y="171450"/>
                  </a:lnTo>
                  <a:lnTo>
                    <a:pt x="2076450" y="85725"/>
                  </a:lnTo>
                  <a:lnTo>
                    <a:pt x="2590800" y="114300"/>
                  </a:lnTo>
                  <a:lnTo>
                    <a:pt x="3114675" y="57150"/>
                  </a:lnTo>
                  <a:lnTo>
                    <a:pt x="3629025" y="28575"/>
                  </a:lnTo>
                  <a:lnTo>
                    <a:pt x="4152900" y="285750"/>
                  </a:lnTo>
                  <a:lnTo>
                    <a:pt x="4667250" y="0"/>
                  </a:lnTo>
                </a:path>
              </a:pathLst>
            </a:custGeom>
            <a:noFill/>
            <a:ln w="19050">
              <a:solidFill>
                <a:srgbClr val="F8B6A9"/>
              </a:solidFill>
            </a:ln>
          </p:spPr>
        </p:sp>
        <p:sp>
          <p:nvSpPr>
            <p:cNvPr id="63" name="Ellipse 63"/>
            <p:cNvSpPr/>
            <p:nvPr/>
          </p:nvSpPr>
          <p:spPr>
            <a:xfrm>
              <a:off x="6548438" y="2643188"/>
              <a:ext cx="47625" cy="47625"/>
            </a:xfrm>
            <a:prstGeom prst="ellipse">
              <a:avLst/>
            </a:prstGeom>
            <a:solidFill>
              <a:srgbClr val="FFFFFF"/>
            </a:solidFill>
            <a:ln w="14288">
              <a:solidFill>
                <a:srgbClr val="C83B1E"/>
              </a:solidFill>
            </a:ln>
          </p:spPr>
        </p:sp>
        <p:sp>
          <p:nvSpPr>
            <p:cNvPr id="64" name="Ellipse 64"/>
            <p:cNvSpPr/>
            <p:nvPr/>
          </p:nvSpPr>
          <p:spPr>
            <a:xfrm>
              <a:off x="7062788" y="3000375"/>
              <a:ext cx="47625" cy="47625"/>
            </a:xfrm>
            <a:prstGeom prst="ellipse">
              <a:avLst/>
            </a:prstGeom>
            <a:solidFill>
              <a:srgbClr val="FFFFFF"/>
            </a:solidFill>
            <a:ln w="14288">
              <a:solidFill>
                <a:srgbClr val="C83B1E"/>
              </a:solidFill>
            </a:ln>
          </p:spPr>
        </p:sp>
        <p:sp>
          <p:nvSpPr>
            <p:cNvPr id="65" name="Ellipse 65"/>
            <p:cNvSpPr/>
            <p:nvPr/>
          </p:nvSpPr>
          <p:spPr>
            <a:xfrm>
              <a:off x="8101012" y="3043238"/>
              <a:ext cx="47625" cy="47625"/>
            </a:xfrm>
            <a:prstGeom prst="ellipse">
              <a:avLst/>
            </a:prstGeom>
            <a:solidFill>
              <a:srgbClr val="FFFFFF"/>
            </a:solidFill>
            <a:ln w="14288">
              <a:solidFill>
                <a:srgbClr val="C83B1E"/>
              </a:solidFill>
            </a:ln>
          </p:spPr>
        </p:sp>
        <p:sp>
          <p:nvSpPr>
            <p:cNvPr id="66" name="Ellipse 66"/>
            <p:cNvSpPr/>
            <p:nvPr/>
          </p:nvSpPr>
          <p:spPr>
            <a:xfrm>
              <a:off x="8624888" y="2786062"/>
              <a:ext cx="47625" cy="47625"/>
            </a:xfrm>
            <a:prstGeom prst="ellipse">
              <a:avLst/>
            </a:prstGeom>
            <a:solidFill>
              <a:srgbClr val="FFFFFF"/>
            </a:solidFill>
            <a:ln w="14288">
              <a:solidFill>
                <a:srgbClr val="C83B1E"/>
              </a:solidFill>
            </a:ln>
          </p:spPr>
        </p:sp>
        <p:sp>
          <p:nvSpPr>
            <p:cNvPr id="67" name="Ellipse 67"/>
            <p:cNvSpPr/>
            <p:nvPr/>
          </p:nvSpPr>
          <p:spPr>
            <a:xfrm>
              <a:off x="9139238" y="2728912"/>
              <a:ext cx="47625" cy="47625"/>
            </a:xfrm>
            <a:prstGeom prst="ellipse">
              <a:avLst/>
            </a:prstGeom>
            <a:solidFill>
              <a:srgbClr val="FFFFFF"/>
            </a:solidFill>
            <a:ln w="14288">
              <a:solidFill>
                <a:srgbClr val="C83B1E"/>
              </a:solidFill>
            </a:ln>
          </p:spPr>
        </p:sp>
        <p:sp>
          <p:nvSpPr>
            <p:cNvPr id="68" name="Ellipse 68"/>
            <p:cNvSpPr/>
            <p:nvPr/>
          </p:nvSpPr>
          <p:spPr>
            <a:xfrm>
              <a:off x="9663112" y="2471738"/>
              <a:ext cx="47625" cy="47625"/>
            </a:xfrm>
            <a:prstGeom prst="ellipse">
              <a:avLst/>
            </a:prstGeom>
            <a:solidFill>
              <a:srgbClr val="FFFFFF"/>
            </a:solidFill>
            <a:ln w="14288">
              <a:solidFill>
                <a:srgbClr val="C83B1E"/>
              </a:solidFill>
            </a:ln>
          </p:spPr>
        </p:sp>
        <p:sp>
          <p:nvSpPr>
            <p:cNvPr id="69" name="Ellipse 69"/>
            <p:cNvSpPr/>
            <p:nvPr/>
          </p:nvSpPr>
          <p:spPr>
            <a:xfrm>
              <a:off x="10177462" y="2414588"/>
              <a:ext cx="47625" cy="47625"/>
            </a:xfrm>
            <a:prstGeom prst="ellipse">
              <a:avLst/>
            </a:prstGeom>
            <a:solidFill>
              <a:srgbClr val="FFFFFF"/>
            </a:solidFill>
            <a:ln w="14288">
              <a:solidFill>
                <a:srgbClr val="C83B1E"/>
              </a:solidFill>
            </a:ln>
          </p:spPr>
        </p:sp>
        <p:sp>
          <p:nvSpPr>
            <p:cNvPr id="70" name="Ellipse 70"/>
            <p:cNvSpPr/>
            <p:nvPr/>
          </p:nvSpPr>
          <p:spPr>
            <a:xfrm>
              <a:off x="10701338" y="2700338"/>
              <a:ext cx="47625" cy="47625"/>
            </a:xfrm>
            <a:prstGeom prst="ellipse">
              <a:avLst/>
            </a:prstGeom>
            <a:solidFill>
              <a:srgbClr val="FFFFFF"/>
            </a:solidFill>
            <a:ln w="14288">
              <a:solidFill>
                <a:srgbClr val="C83B1E"/>
              </a:solidFill>
            </a:ln>
          </p:spPr>
        </p:sp>
        <p:sp>
          <p:nvSpPr>
            <p:cNvPr id="71" name="Ellipse 71"/>
            <p:cNvSpPr/>
            <p:nvPr/>
          </p:nvSpPr>
          <p:spPr>
            <a:xfrm>
              <a:off x="11215688" y="3414712"/>
              <a:ext cx="47625" cy="47625"/>
            </a:xfrm>
            <a:prstGeom prst="ellipse">
              <a:avLst/>
            </a:prstGeom>
            <a:solidFill>
              <a:srgbClr val="FFFFFF"/>
            </a:solidFill>
            <a:ln w="14288">
              <a:solidFill>
                <a:srgbClr val="C83B1E"/>
              </a:solidFill>
            </a:ln>
          </p:spPr>
        </p:sp>
        <p:sp>
          <p:nvSpPr>
            <p:cNvPr id="72" name="Ellipse 72"/>
            <p:cNvSpPr/>
            <p:nvPr/>
          </p:nvSpPr>
          <p:spPr>
            <a:xfrm>
              <a:off x="6548438" y="3100388"/>
              <a:ext cx="47625" cy="47625"/>
            </a:xfrm>
            <a:prstGeom prst="ellipse">
              <a:avLst/>
            </a:prstGeom>
            <a:solidFill>
              <a:srgbClr val="FFFFFF"/>
            </a:solidFill>
            <a:ln w="14288">
              <a:solidFill>
                <a:srgbClr val="F2563B"/>
              </a:solidFill>
            </a:ln>
          </p:spPr>
        </p:sp>
        <p:sp>
          <p:nvSpPr>
            <p:cNvPr id="73" name="Ellipse 73"/>
            <p:cNvSpPr/>
            <p:nvPr/>
          </p:nvSpPr>
          <p:spPr>
            <a:xfrm>
              <a:off x="7586662" y="2957512"/>
              <a:ext cx="47625" cy="47625"/>
            </a:xfrm>
            <a:prstGeom prst="ellipse">
              <a:avLst/>
            </a:prstGeom>
            <a:solidFill>
              <a:srgbClr val="FFFFFF"/>
            </a:solidFill>
            <a:ln w="14288">
              <a:solidFill>
                <a:srgbClr val="F2563B"/>
              </a:solidFill>
            </a:ln>
          </p:spPr>
        </p:sp>
        <p:sp>
          <p:nvSpPr>
            <p:cNvPr id="74" name="Ellipse 74"/>
            <p:cNvSpPr/>
            <p:nvPr/>
          </p:nvSpPr>
          <p:spPr>
            <a:xfrm>
              <a:off x="8624888" y="3157538"/>
              <a:ext cx="47625" cy="47625"/>
            </a:xfrm>
            <a:prstGeom prst="ellipse">
              <a:avLst/>
            </a:prstGeom>
            <a:solidFill>
              <a:srgbClr val="FFFFFF"/>
            </a:solidFill>
            <a:ln w="14288">
              <a:solidFill>
                <a:srgbClr val="F2563B"/>
              </a:solidFill>
            </a:ln>
          </p:spPr>
        </p:sp>
        <p:sp>
          <p:nvSpPr>
            <p:cNvPr id="75" name="Ellipse 75"/>
            <p:cNvSpPr/>
            <p:nvPr/>
          </p:nvSpPr>
          <p:spPr>
            <a:xfrm>
              <a:off x="10177462" y="3000375"/>
              <a:ext cx="47625" cy="47625"/>
            </a:xfrm>
            <a:prstGeom prst="ellipse">
              <a:avLst/>
            </a:prstGeom>
            <a:solidFill>
              <a:srgbClr val="FFFFFF"/>
            </a:solidFill>
            <a:ln w="14288">
              <a:solidFill>
                <a:srgbClr val="F2563B"/>
              </a:solidFill>
            </a:ln>
          </p:spPr>
        </p:sp>
        <p:sp>
          <p:nvSpPr>
            <p:cNvPr id="76" name="Ellipse 76"/>
            <p:cNvSpPr/>
            <p:nvPr/>
          </p:nvSpPr>
          <p:spPr>
            <a:xfrm>
              <a:off x="6548438" y="3128962"/>
              <a:ext cx="47625" cy="47625"/>
            </a:xfrm>
            <a:prstGeom prst="ellipse">
              <a:avLst/>
            </a:prstGeom>
            <a:solidFill>
              <a:srgbClr val="FFFFFF"/>
            </a:solidFill>
            <a:ln w="14288">
              <a:solidFill>
                <a:srgbClr val="F8B6A9"/>
              </a:solidFill>
            </a:ln>
          </p:spPr>
        </p:sp>
        <p:sp>
          <p:nvSpPr>
            <p:cNvPr id="77" name="Ellipse 77"/>
            <p:cNvSpPr/>
            <p:nvPr/>
          </p:nvSpPr>
          <p:spPr>
            <a:xfrm>
              <a:off x="7586662" y="3214688"/>
              <a:ext cx="47625" cy="47625"/>
            </a:xfrm>
            <a:prstGeom prst="ellipse">
              <a:avLst/>
            </a:prstGeom>
            <a:solidFill>
              <a:srgbClr val="FFFFFF"/>
            </a:solidFill>
            <a:ln w="14288">
              <a:solidFill>
                <a:srgbClr val="F8B6A9"/>
              </a:solidFill>
            </a:ln>
          </p:spPr>
        </p:sp>
        <p:sp>
          <p:nvSpPr>
            <p:cNvPr id="78" name="Ellipse 78"/>
            <p:cNvSpPr/>
            <p:nvPr/>
          </p:nvSpPr>
          <p:spPr>
            <a:xfrm>
              <a:off x="8624888" y="3186112"/>
              <a:ext cx="47625" cy="47625"/>
            </a:xfrm>
            <a:prstGeom prst="ellipse">
              <a:avLst/>
            </a:prstGeom>
            <a:solidFill>
              <a:srgbClr val="FFFFFF"/>
            </a:solidFill>
            <a:ln w="14288">
              <a:solidFill>
                <a:srgbClr val="F8B6A9"/>
              </a:solidFill>
            </a:ln>
          </p:spPr>
        </p:sp>
        <p:sp>
          <p:nvSpPr>
            <p:cNvPr id="79" name="Ellipse 79"/>
            <p:cNvSpPr/>
            <p:nvPr/>
          </p:nvSpPr>
          <p:spPr>
            <a:xfrm>
              <a:off x="11215688" y="3100388"/>
              <a:ext cx="47625" cy="47625"/>
            </a:xfrm>
            <a:prstGeom prst="ellipse">
              <a:avLst/>
            </a:prstGeom>
            <a:solidFill>
              <a:srgbClr val="FFFFFF"/>
            </a:solidFill>
            <a:ln w="14288">
              <a:solidFill>
                <a:srgbClr val="F8B6A9"/>
              </a:solidFill>
            </a:ln>
          </p:spPr>
        </p:sp>
        <p:sp>
          <p:nvSpPr>
            <p:cNvPr id="80" name="Rectangle 80"/>
            <p:cNvSpPr/>
            <p:nvPr/>
          </p:nvSpPr>
          <p:spPr>
            <a:xfrm>
              <a:off x="7334250" y="2286000"/>
              <a:ext cx="552450" cy="228600"/>
            </a:xfrm>
            <a:prstGeom prst="roundRect">
              <a:avLst>
                <a:gd name="adj" fmla="val 50000"/>
              </a:avLst>
            </a:prstGeom>
            <a:solidFill>
              <a:srgbClr val="E94B2B"/>
            </a:solidFill>
            <a:ln>
              <a:noFill/>
            </a:ln>
          </p:spPr>
        </p:sp>
        <p:sp>
          <p:nvSpPr>
            <p:cNvPr id="81" name="Polygon 81"/>
            <p:cNvSpPr/>
            <p:nvPr/>
          </p:nvSpPr>
          <p:spPr>
            <a:xfrm>
              <a:off x="7553325" y="2514600"/>
              <a:ext cx="114300" cy="76200"/>
            </a:xfrm>
            <a:custGeom>
              <a:avLst/>
              <a:gdLst/>
              <a:ahLst/>
              <a:cxnLst/>
              <a:rect l="l" t="t" r="r" b="b"/>
              <a:pathLst>
                <a:path w="114300" h="76200">
                  <a:moveTo>
                    <a:pt x="0" y="0"/>
                  </a:moveTo>
                  <a:lnTo>
                    <a:pt x="114300" y="0"/>
                  </a:lnTo>
                  <a:lnTo>
                    <a:pt x="57150" y="76200"/>
                  </a:lnTo>
                  <a:close/>
                </a:path>
              </a:pathLst>
            </a:custGeom>
            <a:solidFill>
              <a:srgbClr val="E94B2B"/>
            </a:solidFill>
            <a:ln>
              <a:noFill/>
            </a:ln>
          </p:spPr>
        </p:sp>
        <p:sp>
          <p:nvSpPr>
            <p:cNvPr id="82" name="TextBox 82"/>
            <p:cNvSpPr txBox="1"/>
            <p:nvPr/>
          </p:nvSpPr>
          <p:spPr>
            <a:xfrm>
              <a:off x="7491240" y="2342674"/>
              <a:ext cx="23847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7.3</a:t>
              </a:r>
            </a:p>
          </p:txBody>
        </p:sp>
        <p:sp>
          <p:nvSpPr>
            <p:cNvPr id="83" name="Line 83"/>
            <p:cNvSpPr/>
            <p:nvPr/>
          </p:nvSpPr>
          <p:spPr>
            <a:xfrm>
              <a:off x="6572250" y="3810000"/>
              <a:ext cx="4667250" cy="9525"/>
            </a:xfrm>
            <a:custGeom>
              <a:avLst/>
              <a:gdLst/>
              <a:ahLst/>
              <a:cxnLst/>
              <a:rect l="l" t="t" r="r" b="b"/>
              <a:pathLst>
                <a:path w="4667250" h="9525">
                  <a:moveTo>
                    <a:pt x="0" y="0"/>
                  </a:moveTo>
                  <a:lnTo>
                    <a:pt x="4667250" y="0"/>
                  </a:lnTo>
                </a:path>
              </a:pathLst>
            </a:custGeom>
            <a:noFill/>
            <a:ln w="11430">
              <a:solidFill>
                <a:srgbClr val="E6C1B9"/>
              </a:solidFill>
            </a:ln>
          </p:spPr>
        </p:sp>
        <p:sp>
          <p:nvSpPr>
            <p:cNvPr id="84" name="TextBox 84"/>
            <p:cNvSpPr txBox="1"/>
            <p:nvPr/>
          </p:nvSpPr>
          <p:spPr>
            <a:xfrm>
              <a:off x="6443099"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202201</a:t>
              </a:r>
            </a:p>
          </p:txBody>
        </p:sp>
        <p:sp>
          <p:nvSpPr>
            <p:cNvPr id="85" name="TextBox 85"/>
            <p:cNvSpPr txBox="1"/>
            <p:nvPr/>
          </p:nvSpPr>
          <p:spPr>
            <a:xfrm>
              <a:off x="6957449"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202202</a:t>
              </a:r>
            </a:p>
          </p:txBody>
        </p:sp>
        <p:sp>
          <p:nvSpPr>
            <p:cNvPr id="86" name="TextBox 86"/>
            <p:cNvSpPr txBox="1"/>
            <p:nvPr/>
          </p:nvSpPr>
          <p:spPr>
            <a:xfrm>
              <a:off x="7481324"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202203</a:t>
              </a:r>
            </a:p>
          </p:txBody>
        </p:sp>
        <p:sp>
          <p:nvSpPr>
            <p:cNvPr id="87" name="TextBox 87"/>
            <p:cNvSpPr txBox="1"/>
            <p:nvPr/>
          </p:nvSpPr>
          <p:spPr>
            <a:xfrm>
              <a:off x="7995674"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202204</a:t>
              </a:r>
            </a:p>
          </p:txBody>
        </p:sp>
        <p:sp>
          <p:nvSpPr>
            <p:cNvPr id="88" name="TextBox 88"/>
            <p:cNvSpPr txBox="1"/>
            <p:nvPr/>
          </p:nvSpPr>
          <p:spPr>
            <a:xfrm>
              <a:off x="8519549"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202205</a:t>
              </a:r>
            </a:p>
          </p:txBody>
        </p:sp>
        <p:sp>
          <p:nvSpPr>
            <p:cNvPr id="89" name="TextBox 89"/>
            <p:cNvSpPr txBox="1"/>
            <p:nvPr/>
          </p:nvSpPr>
          <p:spPr>
            <a:xfrm>
              <a:off x="9033899"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202206</a:t>
              </a:r>
            </a:p>
          </p:txBody>
        </p:sp>
        <p:sp>
          <p:nvSpPr>
            <p:cNvPr id="90" name="TextBox 90"/>
            <p:cNvSpPr txBox="1"/>
            <p:nvPr/>
          </p:nvSpPr>
          <p:spPr>
            <a:xfrm>
              <a:off x="9557774"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202207</a:t>
              </a:r>
            </a:p>
          </p:txBody>
        </p:sp>
        <p:sp>
          <p:nvSpPr>
            <p:cNvPr id="91" name="TextBox 91"/>
            <p:cNvSpPr txBox="1"/>
            <p:nvPr/>
          </p:nvSpPr>
          <p:spPr>
            <a:xfrm>
              <a:off x="10072124"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202208</a:t>
              </a:r>
            </a:p>
          </p:txBody>
        </p:sp>
        <p:sp>
          <p:nvSpPr>
            <p:cNvPr id="92" name="TextBox 92"/>
            <p:cNvSpPr txBox="1"/>
            <p:nvPr/>
          </p:nvSpPr>
          <p:spPr>
            <a:xfrm>
              <a:off x="10595999"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202209</a:t>
              </a:r>
            </a:p>
          </p:txBody>
        </p:sp>
        <p:sp>
          <p:nvSpPr>
            <p:cNvPr id="93" name="TextBox 93"/>
            <p:cNvSpPr txBox="1"/>
            <p:nvPr/>
          </p:nvSpPr>
          <p:spPr>
            <a:xfrm>
              <a:off x="11110349" y="3939778"/>
              <a:ext cx="258303"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202210</a:t>
              </a:r>
            </a:p>
          </p:txBody>
        </p:sp>
      </p:grpSp>
      <p:grpSp>
        <p:nvGrpSpPr>
          <p:cNvPr id="151" name="m-region"/>
          <p:cNvGrpSpPr/>
          <p:nvPr/>
        </p:nvGrpSpPr>
        <p:grpSpPr>
          <a:xfrm>
            <a:off x="571500" y="4381500"/>
            <a:ext cx="5257800" cy="2209800"/>
            <a:chOff x="571500" y="4381500"/>
            <a:chExt cx="5257800" cy="2209800"/>
          </a:xfrm>
        </p:grpSpPr>
        <p:sp>
          <p:nvSpPr>
            <p:cNvPr id="95" name="Rectangle 95"/>
            <p:cNvSpPr/>
            <p:nvPr/>
          </p:nvSpPr>
          <p:spPr>
            <a:xfrm>
              <a:off x="571500" y="4381500"/>
              <a:ext cx="5257800" cy="2209800"/>
            </a:xfrm>
            <a:prstGeom prst="rect">
              <a:avLst/>
            </a:prstGeom>
            <a:solidFill>
              <a:srgbClr val="FFFFFF"/>
            </a:solidFill>
            <a:ln w="11430">
              <a:solidFill>
                <a:srgbClr val="C9DDF5"/>
              </a:solidFill>
            </a:ln>
          </p:spPr>
        </p:sp>
        <p:sp>
          <p:nvSpPr>
            <p:cNvPr id="96" name="Rectangle 96"/>
            <p:cNvSpPr/>
            <p:nvPr/>
          </p:nvSpPr>
          <p:spPr>
            <a:xfrm>
              <a:off x="666750" y="4476750"/>
              <a:ext cx="3048000" cy="247650"/>
            </a:xfrm>
            <a:prstGeom prst="rect">
              <a:avLst/>
            </a:prstGeom>
            <a:gradFill>
              <a:gsLst>
                <a:gs pos="0">
                  <a:srgbClr val="FF5B3A"/>
                </a:gs>
                <a:gs pos="100000">
                  <a:srgbClr val="E94B2B"/>
                </a:gs>
              </a:gsLst>
              <a:lin ang="0" scaled="1"/>
            </a:gradFill>
            <a:ln>
              <a:noFill/>
            </a:ln>
          </p:spPr>
        </p:sp>
        <p:sp>
          <p:nvSpPr>
            <p:cNvPr id="97" name="Polygon 97"/>
            <p:cNvSpPr/>
            <p:nvPr/>
          </p:nvSpPr>
          <p:spPr>
            <a:xfrm>
              <a:off x="3619500" y="44767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grpSp>
          <p:nvGrpSpPr>
            <p:cNvPr id="100" name="Group 100"/>
            <p:cNvGrpSpPr/>
            <p:nvPr/>
          </p:nvGrpSpPr>
          <p:grpSpPr>
            <a:xfrm>
              <a:off x="774700" y="4534499"/>
              <a:ext cx="88900" cy="113701"/>
              <a:chOff x="774700" y="4534499"/>
              <a:chExt cx="88900" cy="113701"/>
            </a:xfrm>
          </p:grpSpPr>
          <p:sp>
            <p:nvSpPr>
              <p:cNvPr id="98" name="Freeform 98"/>
              <p:cNvSpPr/>
              <p:nvPr/>
            </p:nvSpPr>
            <p:spPr>
              <a:xfrm>
                <a:off x="774700" y="4534499"/>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FFFFFF"/>
                </a:solidFill>
              </a:ln>
            </p:spPr>
          </p:sp>
          <p:sp>
            <p:nvSpPr>
              <p:cNvPr id="99" name="Freeform 99"/>
              <p:cNvSpPr/>
              <p:nvPr/>
            </p:nvSpPr>
            <p:spPr>
              <a:xfrm>
                <a:off x="774700" y="4603750"/>
                <a:ext cx="9525" cy="44450"/>
              </a:xfrm>
              <a:custGeom>
                <a:avLst/>
                <a:gdLst/>
                <a:ahLst/>
                <a:cxnLst/>
                <a:rect l="l" t="t" r="r" b="b"/>
                <a:pathLst>
                  <a:path w="9525" h="44450">
                    <a:moveTo>
                      <a:pt x="0" y="44450"/>
                    </a:moveTo>
                    <a:lnTo>
                      <a:pt x="0" y="0"/>
                    </a:lnTo>
                  </a:path>
                </a:pathLst>
              </a:custGeom>
              <a:noFill/>
              <a:ln w="12700">
                <a:solidFill>
                  <a:srgbClr val="FFFFFF"/>
                </a:solidFill>
              </a:ln>
            </p:spPr>
          </p:sp>
        </p:grpSp>
        <p:sp>
          <p:nvSpPr>
            <p:cNvPr id="101" name="TextBox 101"/>
            <p:cNvSpPr txBox="1"/>
            <p:nvPr/>
          </p:nvSpPr>
          <p:spPr>
            <a:xfrm>
              <a:off x="966597" y="4542949"/>
              <a:ext cx="1593037"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接受推荐用户来源地区分布</a:t>
              </a:r>
            </a:p>
          </p:txBody>
        </p:sp>
        <p:sp>
          <p:nvSpPr>
            <p:cNvPr id="102" name="Freeform 102"/>
            <p:cNvSpPr/>
            <p:nvPr/>
          </p:nvSpPr>
          <p:spPr>
            <a:xfrm>
              <a:off x="1047750" y="4629150"/>
              <a:ext cx="1314450" cy="1057275"/>
            </a:xfrm>
            <a:custGeom>
              <a:avLst/>
              <a:gdLst/>
              <a:ahLst/>
              <a:cxnLst/>
              <a:rect l="l" t="t" r="r" b="b"/>
              <a:pathLst>
                <a:path w="1314450" h="1057275">
                  <a:moveTo>
                    <a:pt x="0" y="561975"/>
                  </a:moveTo>
                  <a:lnTo>
                    <a:pt x="95250" y="400050"/>
                  </a:lnTo>
                  <a:lnTo>
                    <a:pt x="266700" y="352425"/>
                  </a:lnTo>
                  <a:lnTo>
                    <a:pt x="361950" y="209550"/>
                  </a:lnTo>
                  <a:lnTo>
                    <a:pt x="552450" y="180975"/>
                  </a:lnTo>
                  <a:lnTo>
                    <a:pt x="714375" y="38100"/>
                  </a:lnTo>
                  <a:lnTo>
                    <a:pt x="876300" y="85725"/>
                  </a:lnTo>
                  <a:lnTo>
                    <a:pt x="1047750" y="0"/>
                  </a:lnTo>
                  <a:lnTo>
                    <a:pt x="1219200" y="47625"/>
                  </a:lnTo>
                  <a:lnTo>
                    <a:pt x="1285875" y="161925"/>
                  </a:lnTo>
                  <a:lnTo>
                    <a:pt x="1219200" y="247650"/>
                  </a:lnTo>
                  <a:lnTo>
                    <a:pt x="1314450" y="314325"/>
                  </a:lnTo>
                  <a:lnTo>
                    <a:pt x="1257300" y="428625"/>
                  </a:lnTo>
                  <a:lnTo>
                    <a:pt x="1123950" y="457200"/>
                  </a:lnTo>
                  <a:lnTo>
                    <a:pt x="1162050" y="590550"/>
                  </a:lnTo>
                  <a:lnTo>
                    <a:pt x="1057275" y="685800"/>
                  </a:lnTo>
                  <a:lnTo>
                    <a:pt x="1123950" y="800100"/>
                  </a:lnTo>
                  <a:lnTo>
                    <a:pt x="1028700" y="895350"/>
                  </a:lnTo>
                  <a:lnTo>
                    <a:pt x="895350" y="857250"/>
                  </a:lnTo>
                  <a:lnTo>
                    <a:pt x="800100" y="952500"/>
                  </a:lnTo>
                  <a:lnTo>
                    <a:pt x="666750" y="904875"/>
                  </a:lnTo>
                  <a:lnTo>
                    <a:pt x="571500" y="1009650"/>
                  </a:lnTo>
                  <a:lnTo>
                    <a:pt x="438150" y="1057275"/>
                  </a:lnTo>
                  <a:lnTo>
                    <a:pt x="342900" y="971550"/>
                  </a:lnTo>
                  <a:lnTo>
                    <a:pt x="209550" y="904875"/>
                  </a:lnTo>
                  <a:lnTo>
                    <a:pt x="104775" y="790575"/>
                  </a:lnTo>
                  <a:lnTo>
                    <a:pt x="19050" y="704850"/>
                  </a:lnTo>
                  <a:close/>
                </a:path>
              </a:pathLst>
            </a:custGeom>
            <a:solidFill>
              <a:srgbClr val="FFFFFF"/>
            </a:solidFill>
            <a:ln w="9525">
              <a:solidFill>
                <a:srgbClr val="EFAC9F"/>
              </a:solidFill>
            </a:ln>
          </p:spPr>
        </p:sp>
        <p:sp>
          <p:nvSpPr>
            <p:cNvPr id="103" name="Ellipse 103"/>
            <p:cNvSpPr/>
            <p:nvPr/>
          </p:nvSpPr>
          <p:spPr>
            <a:xfrm>
              <a:off x="2000250" y="4876800"/>
              <a:ext cx="95250" cy="95250"/>
            </a:xfrm>
            <a:prstGeom prst="ellipse">
              <a:avLst/>
            </a:prstGeom>
            <a:solidFill>
              <a:srgbClr val="E94B2B">
                <a:alpha val="85000"/>
              </a:srgbClr>
            </a:solidFill>
            <a:ln>
              <a:noFill/>
            </a:ln>
          </p:spPr>
        </p:sp>
        <p:sp>
          <p:nvSpPr>
            <p:cNvPr id="104" name="TextBox 104"/>
            <p:cNvSpPr txBox="1"/>
            <p:nvPr/>
          </p:nvSpPr>
          <p:spPr>
            <a:xfrm>
              <a:off x="2128838" y="4844653"/>
              <a:ext cx="277150" cy="111919"/>
            </a:xfrm>
            <a:prstGeom prst="rect">
              <a:avLst/>
            </a:prstGeom>
            <a:noFill/>
            <a:ln>
              <a:noFill/>
            </a:ln>
          </p:spPr>
          <p:txBody>
            <a:bodyPr wrap="none" lIns="0" tIns="0" rIns="0" bIns="0" anchor="t" anchorCtr="0">
              <a:spAutoFit/>
            </a:bodyPr>
            <a:lstStyle/>
            <a:p>
              <a:pPr algn="l"/>
              <a:r>
                <a:rPr lang="zh-CN" sz="560" dirty="0">
                  <a:solidFill>
                    <a:srgbClr val="684F4A"/>
                  </a:solidFill>
                  <a:latin typeface="+mn-lt"/>
                  <a:ea typeface="+mn-ea"/>
                  <a:cs typeface="+mn-cs"/>
                </a:rPr>
                <a:t>北京市​</a:t>
              </a:r>
            </a:p>
          </p:txBody>
        </p:sp>
        <p:sp>
          <p:nvSpPr>
            <p:cNvPr id="105" name="Ellipse 105"/>
            <p:cNvSpPr/>
            <p:nvPr/>
          </p:nvSpPr>
          <p:spPr>
            <a:xfrm>
              <a:off x="2143125" y="5038725"/>
              <a:ext cx="95250" cy="95250"/>
            </a:xfrm>
            <a:prstGeom prst="ellipse">
              <a:avLst/>
            </a:prstGeom>
            <a:solidFill>
              <a:srgbClr val="E94B2B">
                <a:alpha val="85000"/>
              </a:srgbClr>
            </a:solidFill>
            <a:ln>
              <a:noFill/>
            </a:ln>
          </p:spPr>
        </p:sp>
        <p:sp>
          <p:nvSpPr>
            <p:cNvPr id="106" name="TextBox 106"/>
            <p:cNvSpPr txBox="1"/>
            <p:nvPr/>
          </p:nvSpPr>
          <p:spPr>
            <a:xfrm>
              <a:off x="2281238" y="5044678"/>
              <a:ext cx="277150" cy="111919"/>
            </a:xfrm>
            <a:prstGeom prst="rect">
              <a:avLst/>
            </a:prstGeom>
            <a:noFill/>
            <a:ln>
              <a:noFill/>
            </a:ln>
          </p:spPr>
          <p:txBody>
            <a:bodyPr wrap="none" lIns="0" tIns="0" rIns="0" bIns="0" anchor="t" anchorCtr="0">
              <a:spAutoFit/>
            </a:bodyPr>
            <a:lstStyle/>
            <a:p>
              <a:pPr algn="l"/>
              <a:r>
                <a:rPr lang="zh-CN" sz="560" dirty="0">
                  <a:solidFill>
                    <a:srgbClr val="684F4A"/>
                  </a:solidFill>
                  <a:latin typeface="+mn-lt"/>
                  <a:ea typeface="+mn-ea"/>
                  <a:cs typeface="+mn-cs"/>
                </a:rPr>
                <a:t>济南市​</a:t>
              </a:r>
            </a:p>
          </p:txBody>
        </p:sp>
        <p:sp>
          <p:nvSpPr>
            <p:cNvPr id="107" name="Ellipse 107"/>
            <p:cNvSpPr/>
            <p:nvPr/>
          </p:nvSpPr>
          <p:spPr>
            <a:xfrm>
              <a:off x="2247900" y="5181600"/>
              <a:ext cx="76200" cy="76200"/>
            </a:xfrm>
            <a:prstGeom prst="ellipse">
              <a:avLst/>
            </a:prstGeom>
            <a:solidFill>
              <a:srgbClr val="F0856F"/>
            </a:solidFill>
            <a:ln>
              <a:noFill/>
            </a:ln>
          </p:spPr>
        </p:sp>
        <p:sp>
          <p:nvSpPr>
            <p:cNvPr id="108" name="TextBox 108"/>
            <p:cNvSpPr txBox="1"/>
            <p:nvPr/>
          </p:nvSpPr>
          <p:spPr>
            <a:xfrm>
              <a:off x="2357438" y="5158978"/>
              <a:ext cx="277150" cy="111919"/>
            </a:xfrm>
            <a:prstGeom prst="rect">
              <a:avLst/>
            </a:prstGeom>
            <a:noFill/>
            <a:ln>
              <a:noFill/>
            </a:ln>
          </p:spPr>
          <p:txBody>
            <a:bodyPr wrap="none" lIns="0" tIns="0" rIns="0" bIns="0" anchor="t" anchorCtr="0">
              <a:spAutoFit/>
            </a:bodyPr>
            <a:lstStyle/>
            <a:p>
              <a:pPr algn="l"/>
              <a:r>
                <a:rPr lang="zh-CN" sz="560" dirty="0">
                  <a:solidFill>
                    <a:srgbClr val="684F4A"/>
                  </a:solidFill>
                  <a:latin typeface="+mn-lt"/>
                  <a:ea typeface="+mn-ea"/>
                  <a:cs typeface="+mn-cs"/>
                </a:rPr>
                <a:t>南京市​</a:t>
              </a:r>
            </a:p>
          </p:txBody>
        </p:sp>
        <p:sp>
          <p:nvSpPr>
            <p:cNvPr id="109" name="Ellipse 109"/>
            <p:cNvSpPr/>
            <p:nvPr/>
          </p:nvSpPr>
          <p:spPr>
            <a:xfrm>
              <a:off x="2381250" y="5286375"/>
              <a:ext cx="95250" cy="95250"/>
            </a:xfrm>
            <a:prstGeom prst="ellipse">
              <a:avLst/>
            </a:prstGeom>
            <a:solidFill>
              <a:srgbClr val="E94B2B">
                <a:alpha val="85000"/>
              </a:srgbClr>
            </a:solidFill>
            <a:ln>
              <a:noFill/>
            </a:ln>
          </p:spPr>
        </p:sp>
        <p:sp>
          <p:nvSpPr>
            <p:cNvPr id="110" name="TextBox 110"/>
            <p:cNvSpPr txBox="1"/>
            <p:nvPr/>
          </p:nvSpPr>
          <p:spPr>
            <a:xfrm>
              <a:off x="2509838" y="5273278"/>
              <a:ext cx="277150" cy="111919"/>
            </a:xfrm>
            <a:prstGeom prst="rect">
              <a:avLst/>
            </a:prstGeom>
            <a:noFill/>
            <a:ln>
              <a:noFill/>
            </a:ln>
          </p:spPr>
          <p:txBody>
            <a:bodyPr wrap="none" lIns="0" tIns="0" rIns="0" bIns="0" anchor="t" anchorCtr="0">
              <a:spAutoFit/>
            </a:bodyPr>
            <a:lstStyle/>
            <a:p>
              <a:pPr algn="l"/>
              <a:r>
                <a:rPr lang="zh-CN" sz="560" dirty="0">
                  <a:solidFill>
                    <a:srgbClr val="684F4A"/>
                  </a:solidFill>
                  <a:latin typeface="+mn-lt"/>
                  <a:ea typeface="+mn-ea"/>
                  <a:cs typeface="+mn-cs"/>
                </a:rPr>
                <a:t>上海市​</a:t>
              </a:r>
            </a:p>
          </p:txBody>
        </p:sp>
        <p:sp>
          <p:nvSpPr>
            <p:cNvPr id="111" name="Ellipse 111"/>
            <p:cNvSpPr/>
            <p:nvPr/>
          </p:nvSpPr>
          <p:spPr>
            <a:xfrm>
              <a:off x="2305050" y="5419725"/>
              <a:ext cx="76200" cy="76200"/>
            </a:xfrm>
            <a:prstGeom prst="ellipse">
              <a:avLst/>
            </a:prstGeom>
            <a:solidFill>
              <a:srgbClr val="F0856F"/>
            </a:solidFill>
            <a:ln>
              <a:noFill/>
            </a:ln>
          </p:spPr>
        </p:sp>
        <p:sp>
          <p:nvSpPr>
            <p:cNvPr id="112" name="TextBox 112"/>
            <p:cNvSpPr txBox="1"/>
            <p:nvPr/>
          </p:nvSpPr>
          <p:spPr>
            <a:xfrm>
              <a:off x="2433638" y="5425678"/>
              <a:ext cx="277150" cy="111919"/>
            </a:xfrm>
            <a:prstGeom prst="rect">
              <a:avLst/>
            </a:prstGeom>
            <a:noFill/>
            <a:ln>
              <a:noFill/>
            </a:ln>
          </p:spPr>
          <p:txBody>
            <a:bodyPr wrap="none" lIns="0" tIns="0" rIns="0" bIns="0" anchor="t" anchorCtr="0">
              <a:spAutoFit/>
            </a:bodyPr>
            <a:lstStyle/>
            <a:p>
              <a:pPr algn="l"/>
              <a:r>
                <a:rPr lang="zh-CN" sz="560" dirty="0">
                  <a:solidFill>
                    <a:srgbClr val="684F4A"/>
                  </a:solidFill>
                  <a:latin typeface="+mn-lt"/>
                  <a:ea typeface="+mn-ea"/>
                  <a:cs typeface="+mn-cs"/>
                </a:rPr>
                <a:t>杭州市​</a:t>
              </a:r>
            </a:p>
          </p:txBody>
        </p:sp>
        <p:sp>
          <p:nvSpPr>
            <p:cNvPr id="113" name="Ellipse 113"/>
            <p:cNvSpPr/>
            <p:nvPr/>
          </p:nvSpPr>
          <p:spPr>
            <a:xfrm>
              <a:off x="1504950" y="5162550"/>
              <a:ext cx="95250" cy="95250"/>
            </a:xfrm>
            <a:prstGeom prst="ellipse">
              <a:avLst/>
            </a:prstGeom>
            <a:solidFill>
              <a:srgbClr val="F0856F"/>
            </a:solidFill>
            <a:ln>
              <a:noFill/>
            </a:ln>
          </p:spPr>
        </p:sp>
        <p:sp>
          <p:nvSpPr>
            <p:cNvPr id="114" name="TextBox 114"/>
            <p:cNvSpPr txBox="1"/>
            <p:nvPr/>
          </p:nvSpPr>
          <p:spPr>
            <a:xfrm>
              <a:off x="1175413" y="5130403"/>
              <a:ext cx="277150" cy="111919"/>
            </a:xfrm>
            <a:prstGeom prst="rect">
              <a:avLst/>
            </a:prstGeom>
            <a:noFill/>
            <a:ln>
              <a:noFill/>
            </a:ln>
          </p:spPr>
          <p:txBody>
            <a:bodyPr wrap="none" lIns="0" tIns="0" rIns="0" bIns="0" anchor="t" anchorCtr="0">
              <a:spAutoFit/>
            </a:bodyPr>
            <a:lstStyle/>
            <a:p>
              <a:pPr algn="r"/>
              <a:r>
                <a:rPr lang="zh-CN" sz="560" dirty="0">
                  <a:solidFill>
                    <a:srgbClr val="684F4A"/>
                  </a:solidFill>
                  <a:latin typeface="+mn-lt"/>
                  <a:ea typeface="+mn-ea"/>
                  <a:cs typeface="+mn-cs"/>
                </a:rPr>
                <a:t>西安市​</a:t>
              </a:r>
            </a:p>
          </p:txBody>
        </p:sp>
        <p:sp>
          <p:nvSpPr>
            <p:cNvPr id="115" name="Ellipse 115"/>
            <p:cNvSpPr/>
            <p:nvPr/>
          </p:nvSpPr>
          <p:spPr>
            <a:xfrm>
              <a:off x="1209675" y="5314950"/>
              <a:ext cx="114300" cy="114300"/>
            </a:xfrm>
            <a:prstGeom prst="ellipse">
              <a:avLst/>
            </a:prstGeom>
            <a:solidFill>
              <a:srgbClr val="E94B2B">
                <a:alpha val="85000"/>
              </a:srgbClr>
            </a:solidFill>
            <a:ln>
              <a:noFill/>
            </a:ln>
          </p:spPr>
        </p:sp>
        <p:sp>
          <p:nvSpPr>
            <p:cNvPr id="116" name="TextBox 116"/>
            <p:cNvSpPr txBox="1"/>
            <p:nvPr/>
          </p:nvSpPr>
          <p:spPr>
            <a:xfrm>
              <a:off x="861088" y="5330428"/>
              <a:ext cx="277150" cy="111919"/>
            </a:xfrm>
            <a:prstGeom prst="rect">
              <a:avLst/>
            </a:prstGeom>
            <a:noFill/>
            <a:ln>
              <a:noFill/>
            </a:ln>
          </p:spPr>
          <p:txBody>
            <a:bodyPr wrap="none" lIns="0" tIns="0" rIns="0" bIns="0" anchor="t" anchorCtr="0">
              <a:spAutoFit/>
            </a:bodyPr>
            <a:lstStyle/>
            <a:p>
              <a:pPr algn="r"/>
              <a:r>
                <a:rPr lang="zh-CN" sz="560" dirty="0">
                  <a:solidFill>
                    <a:srgbClr val="684F4A"/>
                  </a:solidFill>
                  <a:latin typeface="+mn-lt"/>
                  <a:ea typeface="+mn-ea"/>
                  <a:cs typeface="+mn-cs"/>
                </a:rPr>
                <a:t>成都市​</a:t>
              </a:r>
            </a:p>
          </p:txBody>
        </p:sp>
        <p:sp>
          <p:nvSpPr>
            <p:cNvPr id="117" name="Ellipse 117"/>
            <p:cNvSpPr/>
            <p:nvPr/>
          </p:nvSpPr>
          <p:spPr>
            <a:xfrm>
              <a:off x="1885950" y="5286375"/>
              <a:ext cx="95250" cy="95250"/>
            </a:xfrm>
            <a:prstGeom prst="ellipse">
              <a:avLst/>
            </a:prstGeom>
            <a:solidFill>
              <a:srgbClr val="F0856F"/>
            </a:solidFill>
            <a:ln>
              <a:noFill/>
            </a:ln>
          </p:spPr>
        </p:sp>
        <p:sp>
          <p:nvSpPr>
            <p:cNvPr id="118" name="TextBox 118"/>
            <p:cNvSpPr txBox="1"/>
            <p:nvPr/>
          </p:nvSpPr>
          <p:spPr>
            <a:xfrm>
              <a:off x="1795000" y="5444728"/>
              <a:ext cx="277150"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武汉市​</a:t>
              </a:r>
            </a:p>
          </p:txBody>
        </p:sp>
        <p:sp>
          <p:nvSpPr>
            <p:cNvPr id="119" name="Ellipse 119"/>
            <p:cNvSpPr/>
            <p:nvPr/>
          </p:nvSpPr>
          <p:spPr>
            <a:xfrm>
              <a:off x="1362075" y="5553075"/>
              <a:ext cx="95250" cy="95250"/>
            </a:xfrm>
            <a:prstGeom prst="ellipse">
              <a:avLst/>
            </a:prstGeom>
            <a:solidFill>
              <a:srgbClr val="F0856F"/>
            </a:solidFill>
            <a:ln>
              <a:noFill/>
            </a:ln>
          </p:spPr>
        </p:sp>
        <p:sp>
          <p:nvSpPr>
            <p:cNvPr id="120" name="TextBox 120"/>
            <p:cNvSpPr txBox="1"/>
            <p:nvPr/>
          </p:nvSpPr>
          <p:spPr>
            <a:xfrm>
              <a:off x="1003963" y="5559028"/>
              <a:ext cx="277150" cy="111919"/>
            </a:xfrm>
            <a:prstGeom prst="rect">
              <a:avLst/>
            </a:prstGeom>
            <a:noFill/>
            <a:ln>
              <a:noFill/>
            </a:ln>
          </p:spPr>
          <p:txBody>
            <a:bodyPr wrap="none" lIns="0" tIns="0" rIns="0" bIns="0" anchor="t" anchorCtr="0">
              <a:spAutoFit/>
            </a:bodyPr>
            <a:lstStyle/>
            <a:p>
              <a:pPr algn="r"/>
              <a:r>
                <a:rPr lang="zh-CN" sz="560" dirty="0">
                  <a:solidFill>
                    <a:srgbClr val="684F4A"/>
                  </a:solidFill>
                  <a:latin typeface="+mn-lt"/>
                  <a:ea typeface="+mn-ea"/>
                  <a:cs typeface="+mn-cs"/>
                </a:rPr>
                <a:t>昆明市​</a:t>
              </a:r>
            </a:p>
          </p:txBody>
        </p:sp>
        <p:sp>
          <p:nvSpPr>
            <p:cNvPr id="121" name="Ellipse 121"/>
            <p:cNvSpPr/>
            <p:nvPr/>
          </p:nvSpPr>
          <p:spPr>
            <a:xfrm>
              <a:off x="1743075" y="5724525"/>
              <a:ext cx="171450" cy="171450"/>
            </a:xfrm>
            <a:prstGeom prst="ellipse">
              <a:avLst/>
            </a:prstGeom>
            <a:gradFill>
              <a:gsLst>
                <a:gs pos="0">
                  <a:srgbClr val="FF5B3A"/>
                </a:gs>
                <a:gs pos="100000">
                  <a:srgbClr val="E94B2B"/>
                </a:gs>
              </a:gsLst>
              <a:lin ang="0" scaled="1"/>
            </a:gradFill>
            <a:ln>
              <a:noFill/>
            </a:ln>
          </p:spPr>
        </p:sp>
        <p:sp>
          <p:nvSpPr>
            <p:cNvPr id="122" name="TextBox 122"/>
            <p:cNvSpPr txBox="1"/>
            <p:nvPr/>
          </p:nvSpPr>
          <p:spPr>
            <a:xfrm>
              <a:off x="1690225" y="5978128"/>
              <a:ext cx="277150" cy="111919"/>
            </a:xfrm>
            <a:prstGeom prst="rect">
              <a:avLst/>
            </a:prstGeom>
            <a:noFill/>
            <a:ln>
              <a:noFill/>
            </a:ln>
          </p:spPr>
          <p:txBody>
            <a:bodyPr wrap="none" lIns="0" tIns="0" rIns="0" bIns="0" anchor="t" anchorCtr="0">
              <a:spAutoFit/>
            </a:bodyPr>
            <a:lstStyle/>
            <a:p>
              <a:pPr algn="ctr"/>
              <a:r>
                <a:rPr lang="zh-CN" sz="560" dirty="0">
                  <a:solidFill>
                    <a:srgbClr val="684F4A"/>
                  </a:solidFill>
                  <a:latin typeface="+mn-lt"/>
                  <a:ea typeface="+mn-ea"/>
                  <a:cs typeface="+mn-cs"/>
                </a:rPr>
                <a:t>深圳市​</a:t>
              </a:r>
            </a:p>
          </p:txBody>
        </p:sp>
        <p:sp>
          <p:nvSpPr>
            <p:cNvPr id="123" name="TextBox 123"/>
            <p:cNvSpPr txBox="1"/>
            <p:nvPr/>
          </p:nvSpPr>
          <p:spPr>
            <a:xfrm>
              <a:off x="3061297" y="4837986"/>
              <a:ext cx="296266" cy="140494"/>
            </a:xfrm>
            <a:prstGeom prst="rect">
              <a:avLst/>
            </a:prstGeom>
            <a:noFill/>
            <a:ln>
              <a:noFill/>
            </a:ln>
          </p:spPr>
          <p:txBody>
            <a:bodyPr wrap="none" lIns="0" tIns="0" rIns="0" bIns="0" anchor="t" anchorCtr="0">
              <a:spAutoFit/>
            </a:bodyPr>
            <a:lstStyle/>
            <a:p>
              <a:pPr algn="r"/>
              <a:r>
                <a:rPr lang="zh-CN" sz="710" dirty="0">
                  <a:solidFill>
                    <a:srgbClr val="262626"/>
                  </a:solidFill>
                  <a:latin typeface="+mn-lt"/>
                  <a:ea typeface="+mn-ea"/>
                  <a:cs typeface="+mn-cs"/>
                </a:rPr>
                <a:t>深圳市</a:t>
              </a:r>
            </a:p>
          </p:txBody>
        </p:sp>
        <p:sp>
          <p:nvSpPr>
            <p:cNvPr id="124" name="Rectangle 124"/>
            <p:cNvSpPr/>
            <p:nvPr/>
          </p:nvSpPr>
          <p:spPr>
            <a:xfrm>
              <a:off x="3429000" y="4838700"/>
              <a:ext cx="1428750" cy="95250"/>
            </a:xfrm>
            <a:prstGeom prst="roundRect">
              <a:avLst>
                <a:gd name="adj" fmla="val 50000"/>
              </a:avLst>
            </a:prstGeom>
            <a:solidFill>
              <a:srgbClr val="E4EEFB"/>
            </a:solidFill>
            <a:ln>
              <a:noFill/>
            </a:ln>
          </p:spPr>
        </p:sp>
        <p:sp>
          <p:nvSpPr>
            <p:cNvPr id="125" name="Rectangle 125"/>
            <p:cNvSpPr/>
            <p:nvPr/>
          </p:nvSpPr>
          <p:spPr>
            <a:xfrm>
              <a:off x="3429000" y="4838700"/>
              <a:ext cx="1428750" cy="95250"/>
            </a:xfrm>
            <a:prstGeom prst="roundRect">
              <a:avLst>
                <a:gd name="adj" fmla="val 50000"/>
              </a:avLst>
            </a:prstGeom>
            <a:gradFill>
              <a:gsLst>
                <a:gs pos="0">
                  <a:srgbClr val="FF5B3A"/>
                </a:gs>
                <a:gs pos="100000">
                  <a:srgbClr val="E94B2B"/>
                </a:gs>
              </a:gsLst>
              <a:lin ang="0" scaled="1"/>
            </a:gradFill>
            <a:ln>
              <a:noFill/>
            </a:ln>
          </p:spPr>
        </p:sp>
        <p:sp>
          <p:nvSpPr>
            <p:cNvPr id="126" name="TextBox 126"/>
            <p:cNvSpPr txBox="1"/>
            <p:nvPr/>
          </p:nvSpPr>
          <p:spPr>
            <a:xfrm>
              <a:off x="5460676" y="4842034"/>
              <a:ext cx="220986" cy="133350"/>
            </a:xfrm>
            <a:prstGeom prst="rect">
              <a:avLst/>
            </a:prstGeom>
            <a:noFill/>
            <a:ln>
              <a:noFill/>
            </a:ln>
          </p:spPr>
          <p:txBody>
            <a:bodyPr wrap="none" lIns="0" tIns="0" rIns="0" bIns="0" anchor="t" anchorCtr="0">
              <a:spAutoFit/>
            </a:bodyPr>
            <a:lstStyle/>
            <a:p>
              <a:pPr algn="r"/>
              <a:r>
                <a:rPr lang="zh-CN" sz="680" b="1" dirty="0">
                  <a:solidFill>
                    <a:srgbClr val="E94B2B"/>
                  </a:solidFill>
                  <a:latin typeface="+mn-lt"/>
                  <a:ea typeface="+mn-ea"/>
                  <a:cs typeface="+mn-cs"/>
                </a:rPr>
                <a:t>3494</a:t>
              </a:r>
            </a:p>
          </p:txBody>
        </p:sp>
        <p:sp>
          <p:nvSpPr>
            <p:cNvPr id="127" name="TextBox 127"/>
            <p:cNvSpPr txBox="1"/>
            <p:nvPr/>
          </p:nvSpPr>
          <p:spPr>
            <a:xfrm>
              <a:off x="3061297" y="5066586"/>
              <a:ext cx="296266" cy="140494"/>
            </a:xfrm>
            <a:prstGeom prst="rect">
              <a:avLst/>
            </a:prstGeom>
            <a:noFill/>
            <a:ln>
              <a:noFill/>
            </a:ln>
          </p:spPr>
          <p:txBody>
            <a:bodyPr wrap="none" lIns="0" tIns="0" rIns="0" bIns="0" anchor="t" anchorCtr="0">
              <a:spAutoFit/>
            </a:bodyPr>
            <a:lstStyle/>
            <a:p>
              <a:pPr algn="r"/>
              <a:r>
                <a:rPr lang="zh-CN" sz="710" dirty="0">
                  <a:solidFill>
                    <a:srgbClr val="262626"/>
                  </a:solidFill>
                  <a:latin typeface="+mn-lt"/>
                  <a:ea typeface="+mn-ea"/>
                  <a:cs typeface="+mn-cs"/>
                </a:rPr>
                <a:t>济南市</a:t>
              </a:r>
            </a:p>
          </p:txBody>
        </p:sp>
        <p:sp>
          <p:nvSpPr>
            <p:cNvPr id="128" name="Rectangle 128"/>
            <p:cNvSpPr/>
            <p:nvPr/>
          </p:nvSpPr>
          <p:spPr>
            <a:xfrm>
              <a:off x="3429000" y="5067300"/>
              <a:ext cx="1428750" cy="95250"/>
            </a:xfrm>
            <a:prstGeom prst="roundRect">
              <a:avLst>
                <a:gd name="adj" fmla="val 50000"/>
              </a:avLst>
            </a:prstGeom>
            <a:solidFill>
              <a:srgbClr val="E4EEFB"/>
            </a:solidFill>
            <a:ln>
              <a:noFill/>
            </a:ln>
          </p:spPr>
        </p:sp>
        <p:sp>
          <p:nvSpPr>
            <p:cNvPr id="129" name="Rectangle 129"/>
            <p:cNvSpPr/>
            <p:nvPr/>
          </p:nvSpPr>
          <p:spPr>
            <a:xfrm>
              <a:off x="3429000" y="5067300"/>
              <a:ext cx="1028700" cy="95250"/>
            </a:xfrm>
            <a:prstGeom prst="roundRect">
              <a:avLst>
                <a:gd name="adj" fmla="val 50000"/>
              </a:avLst>
            </a:prstGeom>
            <a:gradFill>
              <a:gsLst>
                <a:gs pos="0">
                  <a:srgbClr val="FF5B3A"/>
                </a:gs>
                <a:gs pos="100000">
                  <a:srgbClr val="E94B2B"/>
                </a:gs>
              </a:gsLst>
              <a:lin ang="0" scaled="1"/>
            </a:gradFill>
            <a:ln>
              <a:noFill/>
            </a:ln>
          </p:spPr>
        </p:sp>
        <p:sp>
          <p:nvSpPr>
            <p:cNvPr id="130" name="TextBox 130"/>
            <p:cNvSpPr txBox="1"/>
            <p:nvPr/>
          </p:nvSpPr>
          <p:spPr>
            <a:xfrm>
              <a:off x="5460676" y="5070634"/>
              <a:ext cx="220986" cy="133350"/>
            </a:xfrm>
            <a:prstGeom prst="rect">
              <a:avLst/>
            </a:prstGeom>
            <a:noFill/>
            <a:ln>
              <a:noFill/>
            </a:ln>
          </p:spPr>
          <p:txBody>
            <a:bodyPr wrap="none" lIns="0" tIns="0" rIns="0" bIns="0" anchor="t" anchorCtr="0">
              <a:spAutoFit/>
            </a:bodyPr>
            <a:lstStyle/>
            <a:p>
              <a:pPr algn="r"/>
              <a:r>
                <a:rPr lang="zh-CN" sz="680" b="1" dirty="0">
                  <a:solidFill>
                    <a:srgbClr val="E94B2B"/>
                  </a:solidFill>
                  <a:latin typeface="+mn-lt"/>
                  <a:ea typeface="+mn-ea"/>
                  <a:cs typeface="+mn-cs"/>
                </a:rPr>
                <a:t>2508</a:t>
              </a:r>
            </a:p>
          </p:txBody>
        </p:sp>
        <p:sp>
          <p:nvSpPr>
            <p:cNvPr id="131" name="TextBox 131"/>
            <p:cNvSpPr txBox="1"/>
            <p:nvPr/>
          </p:nvSpPr>
          <p:spPr>
            <a:xfrm>
              <a:off x="3061297" y="5295186"/>
              <a:ext cx="296266" cy="140494"/>
            </a:xfrm>
            <a:prstGeom prst="rect">
              <a:avLst/>
            </a:prstGeom>
            <a:noFill/>
            <a:ln>
              <a:noFill/>
            </a:ln>
          </p:spPr>
          <p:txBody>
            <a:bodyPr wrap="none" lIns="0" tIns="0" rIns="0" bIns="0" anchor="t" anchorCtr="0">
              <a:spAutoFit/>
            </a:bodyPr>
            <a:lstStyle/>
            <a:p>
              <a:pPr algn="r"/>
              <a:r>
                <a:rPr lang="zh-CN" sz="710" dirty="0">
                  <a:solidFill>
                    <a:srgbClr val="262626"/>
                  </a:solidFill>
                  <a:latin typeface="+mn-lt"/>
                  <a:ea typeface="+mn-ea"/>
                  <a:cs typeface="+mn-cs"/>
                </a:rPr>
                <a:t>北京市</a:t>
              </a:r>
            </a:p>
          </p:txBody>
        </p:sp>
        <p:sp>
          <p:nvSpPr>
            <p:cNvPr id="132" name="Rectangle 132"/>
            <p:cNvSpPr/>
            <p:nvPr/>
          </p:nvSpPr>
          <p:spPr>
            <a:xfrm>
              <a:off x="3429000" y="5295900"/>
              <a:ext cx="1428750" cy="95250"/>
            </a:xfrm>
            <a:prstGeom prst="roundRect">
              <a:avLst>
                <a:gd name="adj" fmla="val 50000"/>
              </a:avLst>
            </a:prstGeom>
            <a:solidFill>
              <a:srgbClr val="E4EEFB"/>
            </a:solidFill>
            <a:ln>
              <a:noFill/>
            </a:ln>
          </p:spPr>
        </p:sp>
        <p:sp>
          <p:nvSpPr>
            <p:cNvPr id="133" name="Rectangle 133"/>
            <p:cNvSpPr/>
            <p:nvPr/>
          </p:nvSpPr>
          <p:spPr>
            <a:xfrm>
              <a:off x="3429000" y="5295900"/>
              <a:ext cx="1028700" cy="95250"/>
            </a:xfrm>
            <a:prstGeom prst="roundRect">
              <a:avLst>
                <a:gd name="adj" fmla="val 50000"/>
              </a:avLst>
            </a:prstGeom>
            <a:gradFill>
              <a:gsLst>
                <a:gs pos="0">
                  <a:srgbClr val="FF5B3A"/>
                </a:gs>
                <a:gs pos="100000">
                  <a:srgbClr val="E94B2B"/>
                </a:gs>
              </a:gsLst>
              <a:lin ang="0" scaled="1"/>
            </a:gradFill>
            <a:ln>
              <a:noFill/>
            </a:ln>
          </p:spPr>
        </p:sp>
        <p:sp>
          <p:nvSpPr>
            <p:cNvPr id="134" name="TextBox 134"/>
            <p:cNvSpPr txBox="1"/>
            <p:nvPr/>
          </p:nvSpPr>
          <p:spPr>
            <a:xfrm>
              <a:off x="5460676" y="5299234"/>
              <a:ext cx="220986" cy="133350"/>
            </a:xfrm>
            <a:prstGeom prst="rect">
              <a:avLst/>
            </a:prstGeom>
            <a:noFill/>
            <a:ln>
              <a:noFill/>
            </a:ln>
          </p:spPr>
          <p:txBody>
            <a:bodyPr wrap="none" lIns="0" tIns="0" rIns="0" bIns="0" anchor="t" anchorCtr="0">
              <a:spAutoFit/>
            </a:bodyPr>
            <a:lstStyle/>
            <a:p>
              <a:pPr algn="r"/>
              <a:r>
                <a:rPr lang="zh-CN" sz="680" b="1" dirty="0">
                  <a:solidFill>
                    <a:srgbClr val="E94B2B"/>
                  </a:solidFill>
                  <a:latin typeface="+mn-lt"/>
                  <a:ea typeface="+mn-ea"/>
                  <a:cs typeface="+mn-cs"/>
                </a:rPr>
                <a:t>2507</a:t>
              </a:r>
            </a:p>
          </p:txBody>
        </p:sp>
        <p:sp>
          <p:nvSpPr>
            <p:cNvPr id="135" name="TextBox 135"/>
            <p:cNvSpPr txBox="1"/>
            <p:nvPr/>
          </p:nvSpPr>
          <p:spPr>
            <a:xfrm>
              <a:off x="3061297" y="5523786"/>
              <a:ext cx="296266" cy="140494"/>
            </a:xfrm>
            <a:prstGeom prst="rect">
              <a:avLst/>
            </a:prstGeom>
            <a:noFill/>
            <a:ln>
              <a:noFill/>
            </a:ln>
          </p:spPr>
          <p:txBody>
            <a:bodyPr wrap="none" lIns="0" tIns="0" rIns="0" bIns="0" anchor="t" anchorCtr="0">
              <a:spAutoFit/>
            </a:bodyPr>
            <a:lstStyle/>
            <a:p>
              <a:pPr algn="r"/>
              <a:r>
                <a:rPr lang="zh-CN" sz="710" dirty="0">
                  <a:solidFill>
                    <a:srgbClr val="262626"/>
                  </a:solidFill>
                  <a:latin typeface="+mn-lt"/>
                  <a:ea typeface="+mn-ea"/>
                  <a:cs typeface="+mn-cs"/>
                </a:rPr>
                <a:t>杭州市</a:t>
              </a:r>
            </a:p>
          </p:txBody>
        </p:sp>
        <p:sp>
          <p:nvSpPr>
            <p:cNvPr id="136" name="Rectangle 136"/>
            <p:cNvSpPr/>
            <p:nvPr/>
          </p:nvSpPr>
          <p:spPr>
            <a:xfrm>
              <a:off x="3429000" y="5524500"/>
              <a:ext cx="1428750" cy="95250"/>
            </a:xfrm>
            <a:prstGeom prst="roundRect">
              <a:avLst>
                <a:gd name="adj" fmla="val 50000"/>
              </a:avLst>
            </a:prstGeom>
            <a:solidFill>
              <a:srgbClr val="E4EEFB"/>
            </a:solidFill>
            <a:ln>
              <a:noFill/>
            </a:ln>
          </p:spPr>
        </p:sp>
        <p:sp>
          <p:nvSpPr>
            <p:cNvPr id="137" name="Rectangle 137"/>
            <p:cNvSpPr/>
            <p:nvPr/>
          </p:nvSpPr>
          <p:spPr>
            <a:xfrm>
              <a:off x="3429000" y="5524500"/>
              <a:ext cx="876300" cy="95250"/>
            </a:xfrm>
            <a:prstGeom prst="roundRect">
              <a:avLst>
                <a:gd name="adj" fmla="val 50000"/>
              </a:avLst>
            </a:prstGeom>
            <a:gradFill>
              <a:gsLst>
                <a:gs pos="0">
                  <a:srgbClr val="FF5B3A"/>
                </a:gs>
                <a:gs pos="100000">
                  <a:srgbClr val="E94B2B"/>
                </a:gs>
              </a:gsLst>
              <a:lin ang="0" scaled="1"/>
            </a:gradFill>
            <a:ln>
              <a:noFill/>
            </a:ln>
          </p:spPr>
        </p:sp>
        <p:sp>
          <p:nvSpPr>
            <p:cNvPr id="138" name="TextBox 138"/>
            <p:cNvSpPr txBox="1"/>
            <p:nvPr/>
          </p:nvSpPr>
          <p:spPr>
            <a:xfrm>
              <a:off x="5460676" y="5527834"/>
              <a:ext cx="220986" cy="133350"/>
            </a:xfrm>
            <a:prstGeom prst="rect">
              <a:avLst/>
            </a:prstGeom>
            <a:noFill/>
            <a:ln>
              <a:noFill/>
            </a:ln>
          </p:spPr>
          <p:txBody>
            <a:bodyPr wrap="none" lIns="0" tIns="0" rIns="0" bIns="0" anchor="t" anchorCtr="0">
              <a:spAutoFit/>
            </a:bodyPr>
            <a:lstStyle/>
            <a:p>
              <a:pPr algn="r"/>
              <a:r>
                <a:rPr lang="zh-CN" sz="680" b="1" dirty="0">
                  <a:solidFill>
                    <a:srgbClr val="E94B2B"/>
                  </a:solidFill>
                  <a:latin typeface="+mn-lt"/>
                  <a:ea typeface="+mn-ea"/>
                  <a:cs typeface="+mn-cs"/>
                </a:rPr>
                <a:t>2140</a:t>
              </a:r>
            </a:p>
          </p:txBody>
        </p:sp>
        <p:sp>
          <p:nvSpPr>
            <p:cNvPr id="139" name="TextBox 139"/>
            <p:cNvSpPr txBox="1"/>
            <p:nvPr/>
          </p:nvSpPr>
          <p:spPr>
            <a:xfrm>
              <a:off x="3061297" y="5752386"/>
              <a:ext cx="296266" cy="140494"/>
            </a:xfrm>
            <a:prstGeom prst="rect">
              <a:avLst/>
            </a:prstGeom>
            <a:noFill/>
            <a:ln>
              <a:noFill/>
            </a:ln>
          </p:spPr>
          <p:txBody>
            <a:bodyPr wrap="none" lIns="0" tIns="0" rIns="0" bIns="0" anchor="t" anchorCtr="0">
              <a:spAutoFit/>
            </a:bodyPr>
            <a:lstStyle/>
            <a:p>
              <a:pPr algn="r"/>
              <a:r>
                <a:rPr lang="zh-CN" sz="710" dirty="0">
                  <a:solidFill>
                    <a:srgbClr val="262626"/>
                  </a:solidFill>
                  <a:latin typeface="+mn-lt"/>
                  <a:ea typeface="+mn-ea"/>
                  <a:cs typeface="+mn-cs"/>
                </a:rPr>
                <a:t>南京市</a:t>
              </a:r>
            </a:p>
          </p:txBody>
        </p:sp>
        <p:sp>
          <p:nvSpPr>
            <p:cNvPr id="140" name="Rectangle 140"/>
            <p:cNvSpPr/>
            <p:nvPr/>
          </p:nvSpPr>
          <p:spPr>
            <a:xfrm>
              <a:off x="3429000" y="5753100"/>
              <a:ext cx="1428750" cy="95250"/>
            </a:xfrm>
            <a:prstGeom prst="roundRect">
              <a:avLst>
                <a:gd name="adj" fmla="val 50000"/>
              </a:avLst>
            </a:prstGeom>
            <a:solidFill>
              <a:srgbClr val="E4EEFB"/>
            </a:solidFill>
            <a:ln>
              <a:noFill/>
            </a:ln>
          </p:spPr>
        </p:sp>
        <p:sp>
          <p:nvSpPr>
            <p:cNvPr id="141" name="Rectangle 141"/>
            <p:cNvSpPr/>
            <p:nvPr/>
          </p:nvSpPr>
          <p:spPr>
            <a:xfrm>
              <a:off x="3429000" y="5753100"/>
              <a:ext cx="781050" cy="95250"/>
            </a:xfrm>
            <a:prstGeom prst="roundRect">
              <a:avLst>
                <a:gd name="adj" fmla="val 50000"/>
              </a:avLst>
            </a:prstGeom>
            <a:gradFill>
              <a:gsLst>
                <a:gs pos="0">
                  <a:srgbClr val="FF5B3A"/>
                </a:gs>
                <a:gs pos="100000">
                  <a:srgbClr val="E94B2B"/>
                </a:gs>
              </a:gsLst>
              <a:lin ang="0" scaled="1"/>
            </a:gradFill>
            <a:ln>
              <a:noFill/>
            </a:ln>
          </p:spPr>
        </p:sp>
        <p:sp>
          <p:nvSpPr>
            <p:cNvPr id="142" name="TextBox 142"/>
            <p:cNvSpPr txBox="1"/>
            <p:nvPr/>
          </p:nvSpPr>
          <p:spPr>
            <a:xfrm>
              <a:off x="5460676" y="5756434"/>
              <a:ext cx="220986" cy="133350"/>
            </a:xfrm>
            <a:prstGeom prst="rect">
              <a:avLst/>
            </a:prstGeom>
            <a:noFill/>
            <a:ln>
              <a:noFill/>
            </a:ln>
          </p:spPr>
          <p:txBody>
            <a:bodyPr wrap="none" lIns="0" tIns="0" rIns="0" bIns="0" anchor="t" anchorCtr="0">
              <a:spAutoFit/>
            </a:bodyPr>
            <a:lstStyle/>
            <a:p>
              <a:pPr algn="r"/>
              <a:r>
                <a:rPr lang="zh-CN" sz="680" b="1" dirty="0">
                  <a:solidFill>
                    <a:srgbClr val="E94B2B"/>
                  </a:solidFill>
                  <a:latin typeface="+mn-lt"/>
                  <a:ea typeface="+mn-ea"/>
                  <a:cs typeface="+mn-cs"/>
                </a:rPr>
                <a:t>1901</a:t>
              </a:r>
            </a:p>
          </p:txBody>
        </p:sp>
        <p:sp>
          <p:nvSpPr>
            <p:cNvPr id="143" name="TextBox 143"/>
            <p:cNvSpPr txBox="1"/>
            <p:nvPr/>
          </p:nvSpPr>
          <p:spPr>
            <a:xfrm>
              <a:off x="3061297" y="5980986"/>
              <a:ext cx="296266" cy="140494"/>
            </a:xfrm>
            <a:prstGeom prst="rect">
              <a:avLst/>
            </a:prstGeom>
            <a:noFill/>
            <a:ln>
              <a:noFill/>
            </a:ln>
          </p:spPr>
          <p:txBody>
            <a:bodyPr wrap="none" lIns="0" tIns="0" rIns="0" bIns="0" anchor="t" anchorCtr="0">
              <a:spAutoFit/>
            </a:bodyPr>
            <a:lstStyle/>
            <a:p>
              <a:pPr algn="r"/>
              <a:r>
                <a:rPr lang="zh-CN" sz="710" dirty="0">
                  <a:solidFill>
                    <a:srgbClr val="262626"/>
                  </a:solidFill>
                  <a:latin typeface="+mn-lt"/>
                  <a:ea typeface="+mn-ea"/>
                  <a:cs typeface="+mn-cs"/>
                </a:rPr>
                <a:t>昆明市</a:t>
              </a:r>
            </a:p>
          </p:txBody>
        </p:sp>
        <p:sp>
          <p:nvSpPr>
            <p:cNvPr id="144" name="Rectangle 144"/>
            <p:cNvSpPr/>
            <p:nvPr/>
          </p:nvSpPr>
          <p:spPr>
            <a:xfrm>
              <a:off x="3429000" y="5981700"/>
              <a:ext cx="1428750" cy="95250"/>
            </a:xfrm>
            <a:prstGeom prst="roundRect">
              <a:avLst>
                <a:gd name="adj" fmla="val 50000"/>
              </a:avLst>
            </a:prstGeom>
            <a:solidFill>
              <a:srgbClr val="E4EEFB"/>
            </a:solidFill>
            <a:ln>
              <a:noFill/>
            </a:ln>
          </p:spPr>
        </p:sp>
        <p:sp>
          <p:nvSpPr>
            <p:cNvPr id="145" name="Rectangle 145"/>
            <p:cNvSpPr/>
            <p:nvPr/>
          </p:nvSpPr>
          <p:spPr>
            <a:xfrm>
              <a:off x="3429000" y="5981700"/>
              <a:ext cx="762000" cy="95250"/>
            </a:xfrm>
            <a:prstGeom prst="roundRect">
              <a:avLst>
                <a:gd name="adj" fmla="val 50000"/>
              </a:avLst>
            </a:prstGeom>
            <a:gradFill>
              <a:gsLst>
                <a:gs pos="0">
                  <a:srgbClr val="FF5B3A"/>
                </a:gs>
                <a:gs pos="100000">
                  <a:srgbClr val="E94B2B"/>
                </a:gs>
              </a:gsLst>
              <a:lin ang="0" scaled="1"/>
            </a:gradFill>
            <a:ln>
              <a:noFill/>
            </a:ln>
          </p:spPr>
        </p:sp>
        <p:sp>
          <p:nvSpPr>
            <p:cNvPr id="146" name="TextBox 146"/>
            <p:cNvSpPr txBox="1"/>
            <p:nvPr/>
          </p:nvSpPr>
          <p:spPr>
            <a:xfrm>
              <a:off x="5460676" y="5985034"/>
              <a:ext cx="220986" cy="133350"/>
            </a:xfrm>
            <a:prstGeom prst="rect">
              <a:avLst/>
            </a:prstGeom>
            <a:noFill/>
            <a:ln>
              <a:noFill/>
            </a:ln>
          </p:spPr>
          <p:txBody>
            <a:bodyPr wrap="none" lIns="0" tIns="0" rIns="0" bIns="0" anchor="t" anchorCtr="0">
              <a:spAutoFit/>
            </a:bodyPr>
            <a:lstStyle/>
            <a:p>
              <a:pPr algn="r"/>
              <a:r>
                <a:rPr lang="zh-CN" sz="680" b="1" dirty="0">
                  <a:solidFill>
                    <a:srgbClr val="E94B2B"/>
                  </a:solidFill>
                  <a:latin typeface="+mn-lt"/>
                  <a:ea typeface="+mn-ea"/>
                  <a:cs typeface="+mn-cs"/>
                </a:rPr>
                <a:t>1871</a:t>
              </a:r>
            </a:p>
          </p:txBody>
        </p:sp>
        <p:sp>
          <p:nvSpPr>
            <p:cNvPr id="147" name="TextBox 147"/>
            <p:cNvSpPr txBox="1"/>
            <p:nvPr/>
          </p:nvSpPr>
          <p:spPr>
            <a:xfrm>
              <a:off x="3061297" y="6209586"/>
              <a:ext cx="296266" cy="140494"/>
            </a:xfrm>
            <a:prstGeom prst="rect">
              <a:avLst/>
            </a:prstGeom>
            <a:noFill/>
            <a:ln>
              <a:noFill/>
            </a:ln>
          </p:spPr>
          <p:txBody>
            <a:bodyPr wrap="none" lIns="0" tIns="0" rIns="0" bIns="0" anchor="t" anchorCtr="0">
              <a:spAutoFit/>
            </a:bodyPr>
            <a:lstStyle/>
            <a:p>
              <a:pPr algn="r"/>
              <a:r>
                <a:rPr lang="zh-CN" sz="710" dirty="0">
                  <a:solidFill>
                    <a:srgbClr val="262626"/>
                  </a:solidFill>
                  <a:latin typeface="+mn-lt"/>
                  <a:ea typeface="+mn-ea"/>
                  <a:cs typeface="+mn-cs"/>
                </a:rPr>
                <a:t>上海市</a:t>
              </a:r>
            </a:p>
          </p:txBody>
        </p:sp>
        <p:sp>
          <p:nvSpPr>
            <p:cNvPr id="148" name="Rectangle 148"/>
            <p:cNvSpPr/>
            <p:nvPr/>
          </p:nvSpPr>
          <p:spPr>
            <a:xfrm>
              <a:off x="3429000" y="6210300"/>
              <a:ext cx="1428750" cy="95250"/>
            </a:xfrm>
            <a:prstGeom prst="roundRect">
              <a:avLst>
                <a:gd name="adj" fmla="val 50000"/>
              </a:avLst>
            </a:prstGeom>
            <a:solidFill>
              <a:srgbClr val="E4EEFB"/>
            </a:solidFill>
            <a:ln>
              <a:noFill/>
            </a:ln>
          </p:spPr>
        </p:sp>
        <p:sp>
          <p:nvSpPr>
            <p:cNvPr id="149" name="Rectangle 149"/>
            <p:cNvSpPr/>
            <p:nvPr/>
          </p:nvSpPr>
          <p:spPr>
            <a:xfrm>
              <a:off x="3429000" y="6210300"/>
              <a:ext cx="657225" cy="95250"/>
            </a:xfrm>
            <a:prstGeom prst="roundRect">
              <a:avLst>
                <a:gd name="adj" fmla="val 50000"/>
              </a:avLst>
            </a:prstGeom>
            <a:gradFill>
              <a:gsLst>
                <a:gs pos="0">
                  <a:srgbClr val="FF5B3A"/>
                </a:gs>
                <a:gs pos="100000">
                  <a:srgbClr val="E94B2B"/>
                </a:gs>
              </a:gsLst>
              <a:lin ang="0" scaled="1"/>
            </a:gradFill>
            <a:ln>
              <a:noFill/>
            </a:ln>
          </p:spPr>
        </p:sp>
        <p:sp>
          <p:nvSpPr>
            <p:cNvPr id="150" name="TextBox 150"/>
            <p:cNvSpPr txBox="1"/>
            <p:nvPr/>
          </p:nvSpPr>
          <p:spPr>
            <a:xfrm>
              <a:off x="5460676" y="6213634"/>
              <a:ext cx="220986" cy="133350"/>
            </a:xfrm>
            <a:prstGeom prst="rect">
              <a:avLst/>
            </a:prstGeom>
            <a:noFill/>
            <a:ln>
              <a:noFill/>
            </a:ln>
          </p:spPr>
          <p:txBody>
            <a:bodyPr wrap="none" lIns="0" tIns="0" rIns="0" bIns="0" anchor="t" anchorCtr="0">
              <a:spAutoFit/>
            </a:bodyPr>
            <a:lstStyle/>
            <a:p>
              <a:pPr algn="r"/>
              <a:r>
                <a:rPr lang="zh-CN" sz="680" b="1" dirty="0">
                  <a:solidFill>
                    <a:srgbClr val="E94B2B"/>
                  </a:solidFill>
                  <a:latin typeface="+mn-lt"/>
                  <a:ea typeface="+mn-ea"/>
                  <a:cs typeface="+mn-cs"/>
                </a:rPr>
                <a:t>1600</a:t>
              </a:r>
            </a:p>
          </p:txBody>
        </p:sp>
      </p:grpSp>
      <p:grpSp>
        <p:nvGrpSpPr>
          <p:cNvPr id="191" name="m-quadrant"/>
          <p:cNvGrpSpPr/>
          <p:nvPr/>
        </p:nvGrpSpPr>
        <p:grpSpPr>
          <a:xfrm>
            <a:off x="6057900" y="4381500"/>
            <a:ext cx="5581650" cy="2229088"/>
            <a:chOff x="6057900" y="4381500"/>
            <a:chExt cx="5581650" cy="2229088"/>
          </a:xfrm>
        </p:grpSpPr>
        <p:sp>
          <p:nvSpPr>
            <p:cNvPr id="152" name="Rectangle 152"/>
            <p:cNvSpPr/>
            <p:nvPr/>
          </p:nvSpPr>
          <p:spPr>
            <a:xfrm>
              <a:off x="6057900" y="4381500"/>
              <a:ext cx="5581650" cy="2209800"/>
            </a:xfrm>
            <a:prstGeom prst="rect">
              <a:avLst/>
            </a:prstGeom>
            <a:solidFill>
              <a:srgbClr val="FFFFFF"/>
            </a:solidFill>
            <a:ln w="11430">
              <a:solidFill>
                <a:srgbClr val="C9DDF5"/>
              </a:solidFill>
            </a:ln>
          </p:spPr>
        </p:sp>
        <p:sp>
          <p:nvSpPr>
            <p:cNvPr id="153" name="Rectangle 153"/>
            <p:cNvSpPr/>
            <p:nvPr/>
          </p:nvSpPr>
          <p:spPr>
            <a:xfrm>
              <a:off x="6153150" y="4476750"/>
              <a:ext cx="2381250" cy="247650"/>
            </a:xfrm>
            <a:prstGeom prst="rect">
              <a:avLst/>
            </a:prstGeom>
            <a:gradFill>
              <a:gsLst>
                <a:gs pos="0">
                  <a:srgbClr val="FF5B3A"/>
                </a:gs>
                <a:gs pos="100000">
                  <a:srgbClr val="E94B2B"/>
                </a:gs>
              </a:gsLst>
              <a:lin ang="0" scaled="1"/>
            </a:gradFill>
            <a:ln>
              <a:noFill/>
            </a:ln>
          </p:spPr>
        </p:sp>
        <p:sp>
          <p:nvSpPr>
            <p:cNvPr id="154" name="Polygon 154"/>
            <p:cNvSpPr/>
            <p:nvPr/>
          </p:nvSpPr>
          <p:spPr>
            <a:xfrm>
              <a:off x="8439150" y="4476750"/>
              <a:ext cx="95250" cy="247650"/>
            </a:xfrm>
            <a:custGeom>
              <a:avLst/>
              <a:gdLst/>
              <a:ahLst/>
              <a:cxnLst/>
              <a:rect l="l" t="t" r="r" b="b"/>
              <a:pathLst>
                <a:path w="95250" h="247650">
                  <a:moveTo>
                    <a:pt x="0" y="0"/>
                  </a:moveTo>
                  <a:lnTo>
                    <a:pt x="95250" y="0"/>
                  </a:lnTo>
                  <a:lnTo>
                    <a:pt x="0" y="247650"/>
                  </a:lnTo>
                  <a:close/>
                </a:path>
              </a:pathLst>
            </a:custGeom>
            <a:solidFill>
              <a:srgbClr val="C83B1E"/>
            </a:solidFill>
            <a:ln>
              <a:noFill/>
            </a:ln>
          </p:spPr>
        </p:sp>
        <p:grpSp>
          <p:nvGrpSpPr>
            <p:cNvPr id="161" name="Group 161"/>
            <p:cNvGrpSpPr/>
            <p:nvPr/>
          </p:nvGrpSpPr>
          <p:grpSpPr>
            <a:xfrm>
              <a:off x="6248400" y="4533900"/>
              <a:ext cx="114300" cy="114300"/>
              <a:chOff x="6248400" y="4533900"/>
              <a:chExt cx="114300" cy="114300"/>
            </a:xfrm>
          </p:grpSpPr>
          <p:sp>
            <p:nvSpPr>
              <p:cNvPr id="155" name="Freeform 155"/>
              <p:cNvSpPr/>
              <p:nvPr/>
            </p:nvSpPr>
            <p:spPr>
              <a:xfrm>
                <a:off x="6292850" y="45847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56" name="Freeform 156"/>
              <p:cNvSpPr/>
              <p:nvPr/>
            </p:nvSpPr>
            <p:spPr>
              <a:xfrm>
                <a:off x="6280150" y="46291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FFFFFF"/>
                </a:solidFill>
              </a:ln>
            </p:spPr>
          </p:sp>
          <p:sp>
            <p:nvSpPr>
              <p:cNvPr id="157" name="Freeform 157"/>
              <p:cNvSpPr/>
              <p:nvPr/>
            </p:nvSpPr>
            <p:spPr>
              <a:xfrm>
                <a:off x="6324600" y="45339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58" name="Freeform 158"/>
              <p:cNvSpPr/>
              <p:nvPr/>
            </p:nvSpPr>
            <p:spPr>
              <a:xfrm>
                <a:off x="6337300" y="45783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FFFFFF"/>
                </a:solidFill>
              </a:ln>
            </p:spPr>
          </p:sp>
          <p:sp>
            <p:nvSpPr>
              <p:cNvPr id="159" name="Freeform 159"/>
              <p:cNvSpPr/>
              <p:nvPr/>
            </p:nvSpPr>
            <p:spPr>
              <a:xfrm>
                <a:off x="6261100" y="45339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60" name="Freeform 160"/>
              <p:cNvSpPr/>
              <p:nvPr/>
            </p:nvSpPr>
            <p:spPr>
              <a:xfrm>
                <a:off x="6248400" y="45783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FFFFFF"/>
                </a:solidFill>
              </a:ln>
            </p:spPr>
          </p:sp>
        </p:grpSp>
        <p:sp>
          <p:nvSpPr>
            <p:cNvPr id="162" name="TextBox 162"/>
            <p:cNvSpPr txBox="1"/>
            <p:nvPr/>
          </p:nvSpPr>
          <p:spPr>
            <a:xfrm>
              <a:off x="6452997" y="4542949"/>
              <a:ext cx="1197254"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高粘性客户类型挖掘</a:t>
              </a:r>
            </a:p>
          </p:txBody>
        </p:sp>
        <p:sp>
          <p:nvSpPr>
            <p:cNvPr id="163" name="Rectangle 163"/>
            <p:cNvSpPr/>
            <p:nvPr/>
          </p:nvSpPr>
          <p:spPr>
            <a:xfrm>
              <a:off x="6667500" y="4762500"/>
              <a:ext cx="2381250" cy="1524000"/>
            </a:xfrm>
            <a:prstGeom prst="rect">
              <a:avLst/>
            </a:prstGeom>
            <a:solidFill>
              <a:srgbClr val="DCEBFB">
                <a:alpha val="50000"/>
              </a:srgbClr>
            </a:solidFill>
            <a:ln>
              <a:noFill/>
            </a:ln>
          </p:spPr>
        </p:sp>
        <p:sp>
          <p:nvSpPr>
            <p:cNvPr id="164" name="Rectangle 164"/>
            <p:cNvSpPr/>
            <p:nvPr/>
          </p:nvSpPr>
          <p:spPr>
            <a:xfrm>
              <a:off x="9144000" y="5191125"/>
              <a:ext cx="2095500" cy="1095375"/>
            </a:xfrm>
            <a:prstGeom prst="rect">
              <a:avLst/>
            </a:prstGeom>
            <a:solidFill>
              <a:srgbClr val="F2563B">
                <a:alpha val="18000"/>
              </a:srgbClr>
            </a:solidFill>
            <a:ln>
              <a:noFill/>
            </a:ln>
          </p:spPr>
        </p:sp>
        <p:sp>
          <p:nvSpPr>
            <p:cNvPr id="165" name="Line 165"/>
            <p:cNvSpPr/>
            <p:nvPr/>
          </p:nvSpPr>
          <p:spPr>
            <a:xfrm>
              <a:off x="6667500" y="5197792"/>
              <a:ext cx="4572000" cy="9525"/>
            </a:xfrm>
            <a:custGeom>
              <a:avLst/>
              <a:gdLst/>
              <a:ahLst/>
              <a:cxnLst/>
              <a:rect l="l" t="t" r="r" b="b"/>
              <a:pathLst>
                <a:path w="4572000" h="9525">
                  <a:moveTo>
                    <a:pt x="0" y="0"/>
                  </a:moveTo>
                  <a:lnTo>
                    <a:pt x="4572000" y="0"/>
                  </a:lnTo>
                </a:path>
              </a:pathLst>
            </a:custGeom>
            <a:noFill/>
            <a:ln w="9525">
              <a:solidFill>
                <a:srgbClr val="EAF2FC"/>
              </a:solidFill>
            </a:ln>
          </p:spPr>
        </p:sp>
        <p:sp>
          <p:nvSpPr>
            <p:cNvPr id="166" name="Line 166"/>
            <p:cNvSpPr/>
            <p:nvPr/>
          </p:nvSpPr>
          <p:spPr>
            <a:xfrm>
              <a:off x="6667500" y="5633085"/>
              <a:ext cx="4572000" cy="9525"/>
            </a:xfrm>
            <a:custGeom>
              <a:avLst/>
              <a:gdLst/>
              <a:ahLst/>
              <a:cxnLst/>
              <a:rect l="l" t="t" r="r" b="b"/>
              <a:pathLst>
                <a:path w="4572000" h="9525">
                  <a:moveTo>
                    <a:pt x="0" y="0"/>
                  </a:moveTo>
                  <a:lnTo>
                    <a:pt x="4572000" y="0"/>
                  </a:lnTo>
                </a:path>
              </a:pathLst>
            </a:custGeom>
            <a:noFill/>
            <a:ln w="9525">
              <a:solidFill>
                <a:srgbClr val="EAF2FC"/>
              </a:solidFill>
            </a:ln>
          </p:spPr>
        </p:sp>
        <p:sp>
          <p:nvSpPr>
            <p:cNvPr id="167" name="Line 167"/>
            <p:cNvSpPr/>
            <p:nvPr/>
          </p:nvSpPr>
          <p:spPr>
            <a:xfrm>
              <a:off x="6667500" y="6068378"/>
              <a:ext cx="4572000" cy="9525"/>
            </a:xfrm>
            <a:custGeom>
              <a:avLst/>
              <a:gdLst/>
              <a:ahLst/>
              <a:cxnLst/>
              <a:rect l="l" t="t" r="r" b="b"/>
              <a:pathLst>
                <a:path w="4572000" h="9525">
                  <a:moveTo>
                    <a:pt x="0" y="0"/>
                  </a:moveTo>
                  <a:lnTo>
                    <a:pt x="4572000" y="0"/>
                  </a:lnTo>
                </a:path>
              </a:pathLst>
            </a:custGeom>
            <a:noFill/>
            <a:ln w="9525">
              <a:solidFill>
                <a:srgbClr val="EAF2FC"/>
              </a:solidFill>
            </a:ln>
          </p:spPr>
        </p:sp>
        <p:sp>
          <p:nvSpPr>
            <p:cNvPr id="168" name="Line 168"/>
            <p:cNvSpPr/>
            <p:nvPr/>
          </p:nvSpPr>
          <p:spPr>
            <a:xfrm>
              <a:off x="8496300" y="4762500"/>
              <a:ext cx="9525" cy="1524000"/>
            </a:xfrm>
            <a:custGeom>
              <a:avLst/>
              <a:gdLst/>
              <a:ahLst/>
              <a:cxnLst/>
              <a:rect l="l" t="t" r="r" b="b"/>
              <a:pathLst>
                <a:path w="9525" h="1524000">
                  <a:moveTo>
                    <a:pt x="0" y="0"/>
                  </a:moveTo>
                  <a:lnTo>
                    <a:pt x="0" y="1524000"/>
                  </a:lnTo>
                </a:path>
              </a:pathLst>
            </a:custGeom>
            <a:noFill/>
            <a:ln w="9525">
              <a:solidFill>
                <a:srgbClr val="EAF2FC"/>
              </a:solidFill>
            </a:ln>
          </p:spPr>
        </p:sp>
        <p:sp>
          <p:nvSpPr>
            <p:cNvPr id="169" name="Line 169"/>
            <p:cNvSpPr/>
            <p:nvPr/>
          </p:nvSpPr>
          <p:spPr>
            <a:xfrm>
              <a:off x="9410700" y="4762500"/>
              <a:ext cx="9525" cy="1524000"/>
            </a:xfrm>
            <a:custGeom>
              <a:avLst/>
              <a:gdLst/>
              <a:ahLst/>
              <a:cxnLst/>
              <a:rect l="l" t="t" r="r" b="b"/>
              <a:pathLst>
                <a:path w="9525" h="1524000">
                  <a:moveTo>
                    <a:pt x="0" y="0"/>
                  </a:moveTo>
                  <a:lnTo>
                    <a:pt x="0" y="1524000"/>
                  </a:lnTo>
                </a:path>
              </a:pathLst>
            </a:custGeom>
            <a:noFill/>
            <a:ln w="9525">
              <a:solidFill>
                <a:srgbClr val="EAF2FC"/>
              </a:solidFill>
            </a:ln>
          </p:spPr>
        </p:sp>
        <p:sp>
          <p:nvSpPr>
            <p:cNvPr id="170" name="Line 170"/>
            <p:cNvSpPr/>
            <p:nvPr/>
          </p:nvSpPr>
          <p:spPr>
            <a:xfrm>
              <a:off x="10325100" y="4762500"/>
              <a:ext cx="9525" cy="1524000"/>
            </a:xfrm>
            <a:custGeom>
              <a:avLst/>
              <a:gdLst/>
              <a:ahLst/>
              <a:cxnLst/>
              <a:rect l="l" t="t" r="r" b="b"/>
              <a:pathLst>
                <a:path w="9525" h="1524000">
                  <a:moveTo>
                    <a:pt x="0" y="0"/>
                  </a:moveTo>
                  <a:lnTo>
                    <a:pt x="0" y="1524000"/>
                  </a:lnTo>
                </a:path>
              </a:pathLst>
            </a:custGeom>
            <a:noFill/>
            <a:ln w="9525">
              <a:solidFill>
                <a:srgbClr val="EAF2FC"/>
              </a:solidFill>
            </a:ln>
          </p:spPr>
        </p:sp>
        <p:sp>
          <p:nvSpPr>
            <p:cNvPr id="171" name="TextBox 171"/>
            <p:cNvSpPr txBox="1"/>
            <p:nvPr/>
          </p:nvSpPr>
          <p:spPr>
            <a:xfrm>
              <a:off x="6481199" y="4730353"/>
              <a:ext cx="133914" cy="111919"/>
            </a:xfrm>
            <a:prstGeom prst="rect">
              <a:avLst/>
            </a:prstGeom>
            <a:noFill/>
            <a:ln>
              <a:noFill/>
            </a:ln>
          </p:spPr>
          <p:txBody>
            <a:bodyPr wrap="none" lIns="0" tIns="0" rIns="0" bIns="0" anchor="t" anchorCtr="0">
              <a:spAutoFit/>
            </a:bodyPr>
            <a:lstStyle/>
            <a:p>
              <a:pPr algn="r"/>
              <a:r>
                <a:rPr lang="zh-CN" sz="560" dirty="0">
                  <a:solidFill>
                    <a:srgbClr val="A6817A"/>
                  </a:solidFill>
                  <a:latin typeface="+mn-lt"/>
                  <a:ea typeface="+mn-ea"/>
                  <a:cs typeface="+mn-cs"/>
                </a:rPr>
                <a:t>4.5</a:t>
              </a:r>
            </a:p>
          </p:txBody>
        </p:sp>
        <p:sp>
          <p:nvSpPr>
            <p:cNvPr id="172" name="TextBox 172"/>
            <p:cNvSpPr txBox="1"/>
            <p:nvPr/>
          </p:nvSpPr>
          <p:spPr>
            <a:xfrm>
              <a:off x="6481199" y="5168503"/>
              <a:ext cx="133914" cy="111919"/>
            </a:xfrm>
            <a:prstGeom prst="rect">
              <a:avLst/>
            </a:prstGeom>
            <a:noFill/>
            <a:ln>
              <a:noFill/>
            </a:ln>
          </p:spPr>
          <p:txBody>
            <a:bodyPr wrap="none" lIns="0" tIns="0" rIns="0" bIns="0" anchor="t" anchorCtr="0">
              <a:spAutoFit/>
            </a:bodyPr>
            <a:lstStyle/>
            <a:p>
              <a:pPr algn="r"/>
              <a:r>
                <a:rPr lang="zh-CN" sz="560" dirty="0">
                  <a:solidFill>
                    <a:srgbClr val="A6817A"/>
                  </a:solidFill>
                  <a:latin typeface="+mn-lt"/>
                  <a:ea typeface="+mn-ea"/>
                  <a:cs typeface="+mn-cs"/>
                </a:rPr>
                <a:t>3.5</a:t>
              </a:r>
            </a:p>
          </p:txBody>
        </p:sp>
        <p:sp>
          <p:nvSpPr>
            <p:cNvPr id="173" name="TextBox 173"/>
            <p:cNvSpPr txBox="1"/>
            <p:nvPr/>
          </p:nvSpPr>
          <p:spPr>
            <a:xfrm>
              <a:off x="6481199" y="5597128"/>
              <a:ext cx="133914" cy="111919"/>
            </a:xfrm>
            <a:prstGeom prst="rect">
              <a:avLst/>
            </a:prstGeom>
            <a:noFill/>
            <a:ln>
              <a:noFill/>
            </a:ln>
          </p:spPr>
          <p:txBody>
            <a:bodyPr wrap="none" lIns="0" tIns="0" rIns="0" bIns="0" anchor="t" anchorCtr="0">
              <a:spAutoFit/>
            </a:bodyPr>
            <a:lstStyle/>
            <a:p>
              <a:pPr algn="r"/>
              <a:r>
                <a:rPr lang="zh-CN" sz="560" dirty="0">
                  <a:solidFill>
                    <a:srgbClr val="A6817A"/>
                  </a:solidFill>
                  <a:latin typeface="+mn-lt"/>
                  <a:ea typeface="+mn-ea"/>
                  <a:cs typeface="+mn-cs"/>
                </a:rPr>
                <a:t>2.5</a:t>
              </a:r>
            </a:p>
          </p:txBody>
        </p:sp>
        <p:sp>
          <p:nvSpPr>
            <p:cNvPr id="174" name="TextBox 174"/>
            <p:cNvSpPr txBox="1"/>
            <p:nvPr/>
          </p:nvSpPr>
          <p:spPr>
            <a:xfrm>
              <a:off x="6481199" y="6035278"/>
              <a:ext cx="133914" cy="111919"/>
            </a:xfrm>
            <a:prstGeom prst="rect">
              <a:avLst/>
            </a:prstGeom>
            <a:noFill/>
            <a:ln>
              <a:noFill/>
            </a:ln>
          </p:spPr>
          <p:txBody>
            <a:bodyPr wrap="none" lIns="0" tIns="0" rIns="0" bIns="0" anchor="t" anchorCtr="0">
              <a:spAutoFit/>
            </a:bodyPr>
            <a:lstStyle/>
            <a:p>
              <a:pPr algn="r"/>
              <a:r>
                <a:rPr lang="zh-CN" sz="560" dirty="0">
                  <a:solidFill>
                    <a:srgbClr val="A6817A"/>
                  </a:solidFill>
                  <a:latin typeface="+mn-lt"/>
                  <a:ea typeface="+mn-ea"/>
                  <a:cs typeface="+mn-cs"/>
                </a:rPr>
                <a:t>1.5</a:t>
              </a:r>
            </a:p>
          </p:txBody>
        </p:sp>
        <p:sp>
          <p:nvSpPr>
            <p:cNvPr id="175" name="TextBox 175"/>
            <p:cNvSpPr txBox="1"/>
            <p:nvPr/>
          </p:nvSpPr>
          <p:spPr>
            <a:xfrm>
              <a:off x="6640525" y="6355080"/>
              <a:ext cx="53950" cy="119062"/>
            </a:xfrm>
            <a:prstGeom prst="rect">
              <a:avLst/>
            </a:prstGeom>
            <a:noFill/>
            <a:ln>
              <a:noFill/>
            </a:ln>
          </p:spPr>
          <p:txBody>
            <a:bodyPr wrap="none" lIns="0" tIns="0" rIns="0" bIns="0" anchor="t" anchorCtr="0">
              <a:spAutoFit/>
            </a:bodyPr>
            <a:lstStyle/>
            <a:p>
              <a:pPr algn="ctr"/>
              <a:r>
                <a:rPr lang="zh-CN" sz="600" dirty="0">
                  <a:solidFill>
                    <a:srgbClr val="A6817A"/>
                  </a:solidFill>
                  <a:latin typeface="+mn-lt"/>
                  <a:ea typeface="+mn-ea"/>
                  <a:cs typeface="+mn-cs"/>
                </a:rPr>
                <a:t>3</a:t>
              </a:r>
            </a:p>
          </p:txBody>
        </p:sp>
        <p:sp>
          <p:nvSpPr>
            <p:cNvPr id="176" name="TextBox 176"/>
            <p:cNvSpPr txBox="1"/>
            <p:nvPr/>
          </p:nvSpPr>
          <p:spPr>
            <a:xfrm>
              <a:off x="7554925" y="6355080"/>
              <a:ext cx="53950" cy="119062"/>
            </a:xfrm>
            <a:prstGeom prst="rect">
              <a:avLst/>
            </a:prstGeom>
            <a:noFill/>
            <a:ln>
              <a:noFill/>
            </a:ln>
          </p:spPr>
          <p:txBody>
            <a:bodyPr wrap="none" lIns="0" tIns="0" rIns="0" bIns="0" anchor="t" anchorCtr="0">
              <a:spAutoFit/>
            </a:bodyPr>
            <a:lstStyle/>
            <a:p>
              <a:pPr algn="ctr"/>
              <a:r>
                <a:rPr lang="zh-CN" sz="600" dirty="0">
                  <a:solidFill>
                    <a:srgbClr val="A6817A"/>
                  </a:solidFill>
                  <a:latin typeface="+mn-lt"/>
                  <a:ea typeface="+mn-ea"/>
                  <a:cs typeface="+mn-cs"/>
                </a:rPr>
                <a:t>4</a:t>
              </a:r>
            </a:p>
          </p:txBody>
        </p:sp>
        <p:sp>
          <p:nvSpPr>
            <p:cNvPr id="177" name="TextBox 177"/>
            <p:cNvSpPr txBox="1"/>
            <p:nvPr/>
          </p:nvSpPr>
          <p:spPr>
            <a:xfrm>
              <a:off x="8469325" y="6355080"/>
              <a:ext cx="53950" cy="119062"/>
            </a:xfrm>
            <a:prstGeom prst="rect">
              <a:avLst/>
            </a:prstGeom>
            <a:noFill/>
            <a:ln>
              <a:noFill/>
            </a:ln>
          </p:spPr>
          <p:txBody>
            <a:bodyPr wrap="none" lIns="0" tIns="0" rIns="0" bIns="0" anchor="t" anchorCtr="0">
              <a:spAutoFit/>
            </a:bodyPr>
            <a:lstStyle/>
            <a:p>
              <a:pPr algn="ctr"/>
              <a:r>
                <a:rPr lang="zh-CN" sz="600" dirty="0">
                  <a:solidFill>
                    <a:srgbClr val="A6817A"/>
                  </a:solidFill>
                  <a:latin typeface="+mn-lt"/>
                  <a:ea typeface="+mn-ea"/>
                  <a:cs typeface="+mn-cs"/>
                </a:rPr>
                <a:t>5</a:t>
              </a:r>
            </a:p>
          </p:txBody>
        </p:sp>
        <p:sp>
          <p:nvSpPr>
            <p:cNvPr id="178" name="TextBox 178"/>
            <p:cNvSpPr txBox="1"/>
            <p:nvPr/>
          </p:nvSpPr>
          <p:spPr>
            <a:xfrm>
              <a:off x="9383725" y="6355080"/>
              <a:ext cx="53950" cy="119062"/>
            </a:xfrm>
            <a:prstGeom prst="rect">
              <a:avLst/>
            </a:prstGeom>
            <a:noFill/>
            <a:ln>
              <a:noFill/>
            </a:ln>
          </p:spPr>
          <p:txBody>
            <a:bodyPr wrap="none" lIns="0" tIns="0" rIns="0" bIns="0" anchor="t" anchorCtr="0">
              <a:spAutoFit/>
            </a:bodyPr>
            <a:lstStyle/>
            <a:p>
              <a:pPr algn="ctr"/>
              <a:r>
                <a:rPr lang="zh-CN" sz="600" dirty="0">
                  <a:solidFill>
                    <a:srgbClr val="A6817A"/>
                  </a:solidFill>
                  <a:latin typeface="+mn-lt"/>
                  <a:ea typeface="+mn-ea"/>
                  <a:cs typeface="+mn-cs"/>
                </a:rPr>
                <a:t>6</a:t>
              </a:r>
            </a:p>
          </p:txBody>
        </p:sp>
        <p:sp>
          <p:nvSpPr>
            <p:cNvPr id="179" name="TextBox 179"/>
            <p:cNvSpPr txBox="1"/>
            <p:nvPr/>
          </p:nvSpPr>
          <p:spPr>
            <a:xfrm>
              <a:off x="10298125" y="6355080"/>
              <a:ext cx="53950" cy="119062"/>
            </a:xfrm>
            <a:prstGeom prst="rect">
              <a:avLst/>
            </a:prstGeom>
            <a:noFill/>
            <a:ln>
              <a:noFill/>
            </a:ln>
          </p:spPr>
          <p:txBody>
            <a:bodyPr wrap="none" lIns="0" tIns="0" rIns="0" bIns="0" anchor="t" anchorCtr="0">
              <a:spAutoFit/>
            </a:bodyPr>
            <a:lstStyle/>
            <a:p>
              <a:pPr algn="ctr"/>
              <a:r>
                <a:rPr lang="zh-CN" sz="600" dirty="0">
                  <a:solidFill>
                    <a:srgbClr val="A6817A"/>
                  </a:solidFill>
                  <a:latin typeface="+mn-lt"/>
                  <a:ea typeface="+mn-ea"/>
                  <a:cs typeface="+mn-cs"/>
                </a:rPr>
                <a:t>7</a:t>
              </a:r>
            </a:p>
          </p:txBody>
        </p:sp>
        <p:sp>
          <p:nvSpPr>
            <p:cNvPr id="180" name="TextBox 180"/>
            <p:cNvSpPr txBox="1"/>
            <p:nvPr/>
          </p:nvSpPr>
          <p:spPr>
            <a:xfrm>
              <a:off x="11212525" y="6355080"/>
              <a:ext cx="53950" cy="119062"/>
            </a:xfrm>
            <a:prstGeom prst="rect">
              <a:avLst/>
            </a:prstGeom>
            <a:noFill/>
            <a:ln>
              <a:noFill/>
            </a:ln>
          </p:spPr>
          <p:txBody>
            <a:bodyPr wrap="none" lIns="0" tIns="0" rIns="0" bIns="0" anchor="t" anchorCtr="0">
              <a:spAutoFit/>
            </a:bodyPr>
            <a:lstStyle/>
            <a:p>
              <a:pPr algn="ctr"/>
              <a:r>
                <a:rPr lang="zh-CN" sz="600" dirty="0">
                  <a:solidFill>
                    <a:srgbClr val="A6817A"/>
                  </a:solidFill>
                  <a:latin typeface="+mn-lt"/>
                  <a:ea typeface="+mn-ea"/>
                  <a:cs typeface="+mn-cs"/>
                </a:rPr>
                <a:t>8</a:t>
              </a:r>
            </a:p>
          </p:txBody>
        </p:sp>
        <p:sp>
          <p:nvSpPr>
            <p:cNvPr id="181" name="TextBox 181"/>
            <p:cNvSpPr txBox="1"/>
            <p:nvPr/>
          </p:nvSpPr>
          <p:spPr>
            <a:xfrm>
              <a:off x="8833239" y="6484382"/>
              <a:ext cx="240523" cy="126206"/>
            </a:xfrm>
            <a:prstGeom prst="rect">
              <a:avLst/>
            </a:prstGeom>
            <a:noFill/>
            <a:ln>
              <a:noFill/>
            </a:ln>
          </p:spPr>
          <p:txBody>
            <a:bodyPr wrap="none" lIns="0" tIns="0" rIns="0" bIns="0" anchor="t" anchorCtr="0">
              <a:spAutoFit/>
            </a:bodyPr>
            <a:lstStyle/>
            <a:p>
              <a:pPr algn="ctr"/>
              <a:r>
                <a:rPr lang="zh-CN" sz="640" dirty="0">
                  <a:solidFill>
                    <a:srgbClr val="684F4A"/>
                  </a:solidFill>
                  <a:latin typeface="+mn-lt"/>
                  <a:ea typeface="+mn-ea"/>
                  <a:cs typeface="+mn-cs"/>
                </a:rPr>
                <a:t>K值​​</a:t>
              </a:r>
            </a:p>
          </p:txBody>
        </p:sp>
        <p:sp>
          <p:nvSpPr>
            <p:cNvPr id="182" name="TextBox 182"/>
            <p:cNvSpPr txBox="1"/>
            <p:nvPr/>
          </p:nvSpPr>
          <p:spPr>
            <a:xfrm rot="-5400000">
              <a:off x="6131852" y="5461397"/>
              <a:ext cx="526466" cy="126206"/>
            </a:xfrm>
            <a:prstGeom prst="rect">
              <a:avLst/>
            </a:prstGeom>
            <a:noFill/>
            <a:ln>
              <a:noFill/>
            </a:ln>
          </p:spPr>
          <p:txBody>
            <a:bodyPr wrap="none" lIns="0" tIns="0" rIns="0" bIns="0" anchor="t" anchorCtr="0">
              <a:spAutoFit/>
            </a:bodyPr>
            <a:lstStyle/>
            <a:p>
              <a:pPr algn="ctr"/>
              <a:r>
                <a:rPr lang="zh-CN" sz="640" dirty="0">
                  <a:solidFill>
                    <a:srgbClr val="684F4A"/>
                  </a:solidFill>
                  <a:latin typeface="+mn-lt"/>
                  <a:ea typeface="+mn-ea"/>
                  <a:cs typeface="+mn-cs"/>
                </a:rPr>
                <a:t>人均推荐次数</a:t>
              </a:r>
            </a:p>
          </p:txBody>
        </p:sp>
        <p:sp>
          <p:nvSpPr>
            <p:cNvPr id="183" name="Ellipse 183"/>
            <p:cNvSpPr/>
            <p:nvPr/>
          </p:nvSpPr>
          <p:spPr>
            <a:xfrm>
              <a:off x="6943725" y="4724400"/>
              <a:ext cx="495300" cy="495300"/>
            </a:xfrm>
            <a:prstGeom prst="ellipse">
              <a:avLst/>
            </a:prstGeom>
            <a:solidFill>
              <a:srgbClr val="F0856F">
                <a:alpha val="85000"/>
              </a:srgbClr>
            </a:solidFill>
            <a:ln>
              <a:noFill/>
            </a:ln>
          </p:spPr>
        </p:sp>
        <p:sp>
          <p:nvSpPr>
            <p:cNvPr id="184" name="TextBox 184"/>
            <p:cNvSpPr txBox="1"/>
            <p:nvPr/>
          </p:nvSpPr>
          <p:spPr>
            <a:xfrm>
              <a:off x="7519988" y="4810839"/>
              <a:ext cx="599766" cy="154781"/>
            </a:xfrm>
            <a:prstGeom prst="rect">
              <a:avLst/>
            </a:prstGeom>
            <a:noFill/>
            <a:ln>
              <a:noFill/>
            </a:ln>
          </p:spPr>
          <p:txBody>
            <a:bodyPr wrap="none" lIns="0" tIns="0" rIns="0" bIns="0" anchor="t" anchorCtr="0">
              <a:spAutoFit/>
            </a:bodyPr>
            <a:lstStyle/>
            <a:p>
              <a:pPr algn="l"/>
              <a:r>
                <a:rPr lang="zh-CN" sz="790" dirty="0">
                  <a:solidFill>
                    <a:srgbClr val="C83B1E"/>
                  </a:solidFill>
                  <a:latin typeface="+mn-lt"/>
                  <a:ea typeface="+mn-ea"/>
                  <a:cs typeface="+mn-cs"/>
                </a:rPr>
                <a:t>低活跃客户​</a:t>
              </a:r>
            </a:p>
          </p:txBody>
        </p:sp>
        <p:sp>
          <p:nvSpPr>
            <p:cNvPr id="185" name="Ellipse 185"/>
            <p:cNvSpPr/>
            <p:nvPr/>
          </p:nvSpPr>
          <p:spPr>
            <a:xfrm>
              <a:off x="8382000" y="5505450"/>
              <a:ext cx="381000" cy="381000"/>
            </a:xfrm>
            <a:prstGeom prst="ellipse">
              <a:avLst/>
            </a:prstGeom>
            <a:solidFill>
              <a:srgbClr val="E94B2B">
                <a:alpha val="80000"/>
              </a:srgbClr>
            </a:solidFill>
            <a:ln>
              <a:noFill/>
            </a:ln>
          </p:spPr>
        </p:sp>
        <p:sp>
          <p:nvSpPr>
            <p:cNvPr id="186" name="TextBox 186"/>
            <p:cNvSpPr txBox="1"/>
            <p:nvPr/>
          </p:nvSpPr>
          <p:spPr>
            <a:xfrm>
              <a:off x="8325792" y="5325189"/>
              <a:ext cx="493417" cy="154781"/>
            </a:xfrm>
            <a:prstGeom prst="rect">
              <a:avLst/>
            </a:prstGeom>
            <a:noFill/>
            <a:ln>
              <a:noFill/>
            </a:ln>
          </p:spPr>
          <p:txBody>
            <a:bodyPr wrap="none" lIns="0" tIns="0" rIns="0" bIns="0" anchor="t" anchorCtr="0">
              <a:spAutoFit/>
            </a:bodyPr>
            <a:lstStyle/>
            <a:p>
              <a:pPr algn="ctr"/>
              <a:r>
                <a:rPr lang="zh-CN" sz="790" dirty="0">
                  <a:solidFill>
                    <a:srgbClr val="C83B1E"/>
                  </a:solidFill>
                  <a:latin typeface="+mn-lt"/>
                  <a:ea typeface="+mn-ea"/>
                  <a:cs typeface="+mn-cs"/>
                </a:rPr>
                <a:t>普通用户​</a:t>
              </a:r>
            </a:p>
          </p:txBody>
        </p:sp>
        <p:sp>
          <p:nvSpPr>
            <p:cNvPr id="187" name="Ellipse 187"/>
            <p:cNvSpPr/>
            <p:nvPr/>
          </p:nvSpPr>
          <p:spPr>
            <a:xfrm>
              <a:off x="10477500" y="5857875"/>
              <a:ext cx="285750" cy="285750"/>
            </a:xfrm>
            <a:prstGeom prst="ellipse">
              <a:avLst/>
            </a:prstGeom>
            <a:solidFill>
              <a:srgbClr val="F2563B">
                <a:alpha val="80000"/>
              </a:srgbClr>
            </a:solidFill>
            <a:ln>
              <a:noFill/>
            </a:ln>
          </p:spPr>
        </p:sp>
        <p:sp>
          <p:nvSpPr>
            <p:cNvPr id="188" name="TextBox 188"/>
            <p:cNvSpPr txBox="1"/>
            <p:nvPr/>
          </p:nvSpPr>
          <p:spPr>
            <a:xfrm>
              <a:off x="10509263" y="5687139"/>
              <a:ext cx="222225" cy="154781"/>
            </a:xfrm>
            <a:prstGeom prst="rect">
              <a:avLst/>
            </a:prstGeom>
            <a:noFill/>
            <a:ln>
              <a:noFill/>
            </a:ln>
          </p:spPr>
          <p:txBody>
            <a:bodyPr wrap="none" lIns="0" tIns="0" rIns="0" bIns="0" anchor="t" anchorCtr="0">
              <a:spAutoFit/>
            </a:bodyPr>
            <a:lstStyle/>
            <a:p>
              <a:pPr algn="ctr"/>
              <a:r>
                <a:rPr lang="zh-CN" sz="790" dirty="0">
                  <a:solidFill>
                    <a:srgbClr val="684F4A"/>
                  </a:solidFill>
                  <a:latin typeface="+mn-lt"/>
                  <a:ea typeface="+mn-ea"/>
                  <a:cs typeface="+mn-cs"/>
                </a:rPr>
                <a:t>会员</a:t>
              </a:r>
            </a:p>
          </p:txBody>
        </p:sp>
        <p:sp>
          <p:nvSpPr>
            <p:cNvPr id="189" name="Line 189"/>
            <p:cNvSpPr/>
            <p:nvPr/>
          </p:nvSpPr>
          <p:spPr>
            <a:xfrm>
              <a:off x="6667500" y="6286500"/>
              <a:ext cx="4572000" cy="9525"/>
            </a:xfrm>
            <a:custGeom>
              <a:avLst/>
              <a:gdLst/>
              <a:ahLst/>
              <a:cxnLst/>
              <a:rect l="l" t="t" r="r" b="b"/>
              <a:pathLst>
                <a:path w="4572000" h="9525">
                  <a:moveTo>
                    <a:pt x="0" y="0"/>
                  </a:moveTo>
                  <a:lnTo>
                    <a:pt x="4572000" y="0"/>
                  </a:lnTo>
                </a:path>
              </a:pathLst>
            </a:custGeom>
            <a:noFill/>
            <a:ln w="11430">
              <a:solidFill>
                <a:srgbClr val="E6C1B9"/>
              </a:solidFill>
            </a:ln>
          </p:spPr>
        </p:sp>
        <p:sp>
          <p:nvSpPr>
            <p:cNvPr id="190" name="Line 190"/>
            <p:cNvSpPr/>
            <p:nvPr/>
          </p:nvSpPr>
          <p:spPr>
            <a:xfrm>
              <a:off x="6667500" y="4762500"/>
              <a:ext cx="9525" cy="1524000"/>
            </a:xfrm>
            <a:custGeom>
              <a:avLst/>
              <a:gdLst/>
              <a:ahLst/>
              <a:cxnLst/>
              <a:rect l="l" t="t" r="r" b="b"/>
              <a:pathLst>
                <a:path w="9525" h="1524000">
                  <a:moveTo>
                    <a:pt x="0" y="0"/>
                  </a:moveTo>
                  <a:lnTo>
                    <a:pt x="0" y="1524000"/>
                  </a:lnTo>
                </a:path>
              </a:pathLst>
            </a:custGeom>
            <a:noFill/>
            <a:ln w="9525">
              <a:solidFill>
                <a:srgbClr val="E6C1B9"/>
              </a:solidFill>
            </a:ln>
          </p:spPr>
        </p:sp>
      </p:gr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base-left"/>
          <p:cNvSpPr/>
          <p:nvPr/>
        </p:nvSpPr>
        <p:spPr>
          <a:xfrm>
            <a:off x="371475" y="6076950"/>
            <a:ext cx="2590800" cy="266700"/>
          </a:xfrm>
          <a:prstGeom prst="ellipse">
            <a:avLst/>
          </a:prstGeom>
          <a:noFill/>
          <a:ln w="19050">
            <a:solidFill>
              <a:srgbClr val="FBAD9D"/>
            </a:solidFill>
          </a:ln>
        </p:spPr>
      </p:sp>
      <p:sp>
        <p:nvSpPr>
          <p:cNvPr id="3" name="deco-base-right"/>
          <p:cNvSpPr/>
          <p:nvPr/>
        </p:nvSpPr>
        <p:spPr>
          <a:xfrm>
            <a:off x="9210675" y="6076950"/>
            <a:ext cx="2590800" cy="266700"/>
          </a:xfrm>
          <a:prstGeom prst="ellipse">
            <a:avLst/>
          </a:prstGeom>
          <a:noFill/>
          <a:ln w="19050">
            <a:solidFill>
              <a:srgbClr val="FBAD9D"/>
            </a:solidFill>
          </a:ln>
        </p:spPr>
      </p:sp>
      <p:grpSp>
        <p:nvGrpSpPr>
          <p:cNvPr id="8" name="header"/>
          <p:cNvGrpSpPr/>
          <p:nvPr/>
        </p:nvGrpSpPr>
        <p:grpSpPr>
          <a:xfrm>
            <a:off x="0" y="0"/>
            <a:ext cx="12192000" cy="551879"/>
            <a:chOff x="0" y="0"/>
            <a:chExt cx="12192000" cy="551879"/>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5" name="TextBox 5"/>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01</a:t>
              </a:r>
            </a:p>
          </p:txBody>
        </p:sp>
        <p:sp>
          <p:nvSpPr>
            <p:cNvPr id="6" name="TextBox 6"/>
            <p:cNvSpPr txBox="1"/>
            <p:nvPr/>
          </p:nvSpPr>
          <p:spPr>
            <a:xfrm>
              <a:off x="904494" y="170498"/>
              <a:ext cx="1332357"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系统架构图</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31" name="left-chain"/>
          <p:cNvGrpSpPr/>
          <p:nvPr/>
        </p:nvGrpSpPr>
        <p:grpSpPr>
          <a:xfrm>
            <a:off x="1066800" y="1352550"/>
            <a:ext cx="1905000" cy="4562475"/>
            <a:chOff x="1066800" y="1352550"/>
            <a:chExt cx="1905000" cy="4562475"/>
          </a:xfrm>
        </p:grpSpPr>
        <p:sp>
          <p:nvSpPr>
            <p:cNvPr id="9" name="Rectangle 9"/>
            <p:cNvSpPr/>
            <p:nvPr/>
          </p:nvSpPr>
          <p:spPr>
            <a:xfrm>
              <a:off x="1066800" y="1352550"/>
              <a:ext cx="1200150" cy="609600"/>
            </a:xfrm>
            <a:prstGeom prst="roundRect">
              <a:avLst>
                <a:gd name="adj" fmla="val 12500"/>
              </a:avLst>
            </a:prstGeom>
            <a:gradFill>
              <a:gsLst>
                <a:gs pos="0">
                  <a:srgbClr val="FB684A"/>
                </a:gs>
                <a:gs pos="100000">
                  <a:srgbClr val="FA421D"/>
                </a:gs>
              </a:gsLst>
              <a:lin ang="5400000" scaled="1"/>
            </a:gradFill>
            <a:ln>
              <a:noFill/>
            </a:ln>
          </p:spPr>
        </p:sp>
        <p:sp>
          <p:nvSpPr>
            <p:cNvPr id="10" name="TextBox 10"/>
            <p:cNvSpPr txBox="1"/>
            <p:nvPr/>
          </p:nvSpPr>
          <p:spPr>
            <a:xfrm>
              <a:off x="1359611" y="1593056"/>
              <a:ext cx="614528"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数据应用</a:t>
              </a:r>
            </a:p>
          </p:txBody>
        </p:sp>
        <p:sp>
          <p:nvSpPr>
            <p:cNvPr id="11" name="Rectangle 11"/>
            <p:cNvSpPr/>
            <p:nvPr/>
          </p:nvSpPr>
          <p:spPr>
            <a:xfrm>
              <a:off x="1066800" y="2686050"/>
              <a:ext cx="1200150" cy="609600"/>
            </a:xfrm>
            <a:prstGeom prst="roundRect">
              <a:avLst>
                <a:gd name="adj" fmla="val 12500"/>
              </a:avLst>
            </a:prstGeom>
            <a:gradFill>
              <a:gsLst>
                <a:gs pos="0">
                  <a:srgbClr val="FB684A"/>
                </a:gs>
                <a:gs pos="100000">
                  <a:srgbClr val="FA421D"/>
                </a:gs>
              </a:gsLst>
              <a:lin ang="5400000" scaled="1"/>
            </a:gradFill>
            <a:ln>
              <a:noFill/>
            </a:ln>
          </p:spPr>
        </p:sp>
        <p:sp>
          <p:nvSpPr>
            <p:cNvPr id="12" name="TextBox 12"/>
            <p:cNvSpPr txBox="1"/>
            <p:nvPr/>
          </p:nvSpPr>
          <p:spPr>
            <a:xfrm>
              <a:off x="1359611" y="2926556"/>
              <a:ext cx="614528"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数据仓库</a:t>
              </a:r>
            </a:p>
          </p:txBody>
        </p:sp>
        <p:sp>
          <p:nvSpPr>
            <p:cNvPr id="13" name="Rectangle 13"/>
            <p:cNvSpPr/>
            <p:nvPr/>
          </p:nvSpPr>
          <p:spPr>
            <a:xfrm>
              <a:off x="1066800" y="3981450"/>
              <a:ext cx="1200150" cy="609600"/>
            </a:xfrm>
            <a:prstGeom prst="roundRect">
              <a:avLst>
                <a:gd name="adj" fmla="val 12500"/>
              </a:avLst>
            </a:prstGeom>
            <a:gradFill>
              <a:gsLst>
                <a:gs pos="0">
                  <a:srgbClr val="FB684A"/>
                </a:gs>
                <a:gs pos="100000">
                  <a:srgbClr val="FA421D"/>
                </a:gs>
              </a:gsLst>
              <a:lin ang="5400000" scaled="1"/>
            </a:gradFill>
            <a:ln>
              <a:noFill/>
            </a:ln>
          </p:spPr>
        </p:sp>
        <p:sp>
          <p:nvSpPr>
            <p:cNvPr id="14" name="TextBox 14"/>
            <p:cNvSpPr txBox="1"/>
            <p:nvPr/>
          </p:nvSpPr>
          <p:spPr>
            <a:xfrm>
              <a:off x="1208837" y="4221956"/>
              <a:ext cx="916076"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成本计价平台</a:t>
              </a:r>
            </a:p>
          </p:txBody>
        </p:sp>
        <p:sp>
          <p:nvSpPr>
            <p:cNvPr id="15" name="Rectangle 15"/>
            <p:cNvSpPr/>
            <p:nvPr/>
          </p:nvSpPr>
          <p:spPr>
            <a:xfrm>
              <a:off x="1066800" y="5305425"/>
              <a:ext cx="1200150" cy="609600"/>
            </a:xfrm>
            <a:prstGeom prst="roundRect">
              <a:avLst>
                <a:gd name="adj" fmla="val 12500"/>
              </a:avLst>
            </a:prstGeom>
            <a:gradFill>
              <a:gsLst>
                <a:gs pos="0">
                  <a:srgbClr val="FB684A"/>
                </a:gs>
                <a:gs pos="100000">
                  <a:srgbClr val="FA421D"/>
                </a:gs>
              </a:gsLst>
              <a:lin ang="5400000" scaled="1"/>
            </a:gradFill>
            <a:ln>
              <a:noFill/>
            </a:ln>
          </p:spPr>
        </p:sp>
        <p:sp>
          <p:nvSpPr>
            <p:cNvPr id="16" name="TextBox 16"/>
            <p:cNvSpPr txBox="1"/>
            <p:nvPr/>
          </p:nvSpPr>
          <p:spPr>
            <a:xfrm>
              <a:off x="1359611" y="5545931"/>
              <a:ext cx="614528"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数据标准</a:t>
              </a:r>
            </a:p>
          </p:txBody>
        </p:sp>
        <p:sp>
          <p:nvSpPr>
            <p:cNvPr id="17" name="Freeform 17"/>
            <p:cNvSpPr/>
            <p:nvPr/>
          </p:nvSpPr>
          <p:spPr>
            <a:xfrm>
              <a:off x="1524000" y="2076450"/>
              <a:ext cx="152400" cy="495300"/>
            </a:xfrm>
            <a:prstGeom prst="upArrow">
              <a:avLst/>
            </a:prstGeom>
            <a:solidFill>
              <a:srgbClr val="FA421D"/>
            </a:solidFill>
            <a:ln>
              <a:noFill/>
            </a:ln>
          </p:spPr>
        </p:sp>
        <p:sp>
          <p:nvSpPr>
            <p:cNvPr id="18" name="Freeform 18"/>
            <p:cNvSpPr/>
            <p:nvPr/>
          </p:nvSpPr>
          <p:spPr>
            <a:xfrm>
              <a:off x="1752600" y="2076450"/>
              <a:ext cx="152400" cy="495300"/>
            </a:xfrm>
            <a:prstGeom prst="downArrow">
              <a:avLst/>
            </a:prstGeom>
            <a:solidFill>
              <a:srgbClr val="FA421D"/>
            </a:solidFill>
            <a:ln>
              <a:noFill/>
            </a:ln>
          </p:spPr>
        </p:sp>
        <p:sp>
          <p:nvSpPr>
            <p:cNvPr id="19" name="Freeform 19"/>
            <p:cNvSpPr/>
            <p:nvPr/>
          </p:nvSpPr>
          <p:spPr>
            <a:xfrm>
              <a:off x="1524000" y="3390900"/>
              <a:ext cx="152400" cy="495300"/>
            </a:xfrm>
            <a:prstGeom prst="upArrow">
              <a:avLst/>
            </a:prstGeom>
            <a:solidFill>
              <a:srgbClr val="FA421D"/>
            </a:solidFill>
            <a:ln>
              <a:noFill/>
            </a:ln>
          </p:spPr>
        </p:sp>
        <p:sp>
          <p:nvSpPr>
            <p:cNvPr id="20" name="Freeform 20"/>
            <p:cNvSpPr/>
            <p:nvPr/>
          </p:nvSpPr>
          <p:spPr>
            <a:xfrm>
              <a:off x="1752600" y="3390900"/>
              <a:ext cx="152400" cy="495300"/>
            </a:xfrm>
            <a:prstGeom prst="downArrow">
              <a:avLst/>
            </a:prstGeom>
            <a:solidFill>
              <a:srgbClr val="FA421D"/>
            </a:solidFill>
            <a:ln>
              <a:noFill/>
            </a:ln>
          </p:spPr>
        </p:sp>
        <p:sp>
          <p:nvSpPr>
            <p:cNvPr id="21" name="Freeform 21"/>
            <p:cNvSpPr/>
            <p:nvPr/>
          </p:nvSpPr>
          <p:spPr>
            <a:xfrm>
              <a:off x="1524000" y="4695825"/>
              <a:ext cx="152400" cy="495300"/>
            </a:xfrm>
            <a:prstGeom prst="upArrow">
              <a:avLst/>
            </a:prstGeom>
            <a:solidFill>
              <a:srgbClr val="FA421D"/>
            </a:solidFill>
            <a:ln>
              <a:noFill/>
            </a:ln>
          </p:spPr>
        </p:sp>
        <p:sp>
          <p:nvSpPr>
            <p:cNvPr id="22" name="Freeform 22"/>
            <p:cNvSpPr/>
            <p:nvPr/>
          </p:nvSpPr>
          <p:spPr>
            <a:xfrm>
              <a:off x="1752600" y="4695825"/>
              <a:ext cx="152400" cy="495300"/>
            </a:xfrm>
            <a:prstGeom prst="downArrow">
              <a:avLst/>
            </a:prstGeom>
            <a:solidFill>
              <a:srgbClr val="FA421D"/>
            </a:solidFill>
            <a:ln>
              <a:noFill/>
            </a:ln>
          </p:spPr>
        </p:sp>
        <p:sp>
          <p:nvSpPr>
            <p:cNvPr id="23" name="Line 23"/>
            <p:cNvSpPr/>
            <p:nvPr/>
          </p:nvSpPr>
          <p:spPr>
            <a:xfrm>
              <a:off x="2343150" y="1657350"/>
              <a:ext cx="628650" cy="9525"/>
            </a:xfrm>
            <a:custGeom>
              <a:avLst/>
              <a:gdLst/>
              <a:ahLst/>
              <a:cxnLst/>
              <a:rect l="l" t="t" r="r" b="b"/>
              <a:pathLst>
                <a:path w="628650" h="9525">
                  <a:moveTo>
                    <a:pt x="0" y="0"/>
                  </a:moveTo>
                  <a:lnTo>
                    <a:pt x="628650" y="0"/>
                  </a:lnTo>
                </a:path>
              </a:pathLst>
            </a:custGeom>
            <a:noFill/>
            <a:ln w="14288">
              <a:solidFill>
                <a:srgbClr val="FA421D"/>
              </a:solidFill>
              <a:custDash>
                <a:ds d="200000" sp="200000"/>
              </a:custDash>
            </a:ln>
          </p:spPr>
        </p:sp>
        <p:sp>
          <p:nvSpPr>
            <p:cNvPr id="24" name="Ellipse 24"/>
            <p:cNvSpPr/>
            <p:nvPr/>
          </p:nvSpPr>
          <p:spPr>
            <a:xfrm>
              <a:off x="2300288" y="1624012"/>
              <a:ext cx="66675" cy="66675"/>
            </a:xfrm>
            <a:prstGeom prst="ellipse">
              <a:avLst/>
            </a:prstGeom>
            <a:solidFill>
              <a:srgbClr val="FA421D"/>
            </a:solidFill>
            <a:ln>
              <a:noFill/>
            </a:ln>
          </p:spPr>
        </p:sp>
        <p:sp>
          <p:nvSpPr>
            <p:cNvPr id="25" name="Line 25"/>
            <p:cNvSpPr/>
            <p:nvPr/>
          </p:nvSpPr>
          <p:spPr>
            <a:xfrm>
              <a:off x="2343150" y="2990850"/>
              <a:ext cx="628650" cy="9525"/>
            </a:xfrm>
            <a:custGeom>
              <a:avLst/>
              <a:gdLst/>
              <a:ahLst/>
              <a:cxnLst/>
              <a:rect l="l" t="t" r="r" b="b"/>
              <a:pathLst>
                <a:path w="628650" h="9525">
                  <a:moveTo>
                    <a:pt x="0" y="0"/>
                  </a:moveTo>
                  <a:lnTo>
                    <a:pt x="628650" y="0"/>
                  </a:lnTo>
                </a:path>
              </a:pathLst>
            </a:custGeom>
            <a:noFill/>
            <a:ln w="14288">
              <a:solidFill>
                <a:srgbClr val="FA421D"/>
              </a:solidFill>
              <a:custDash>
                <a:ds d="200000" sp="200000"/>
              </a:custDash>
            </a:ln>
          </p:spPr>
        </p:sp>
        <p:sp>
          <p:nvSpPr>
            <p:cNvPr id="26" name="Ellipse 26"/>
            <p:cNvSpPr/>
            <p:nvPr/>
          </p:nvSpPr>
          <p:spPr>
            <a:xfrm>
              <a:off x="2300288" y="2957512"/>
              <a:ext cx="66675" cy="66675"/>
            </a:xfrm>
            <a:prstGeom prst="ellipse">
              <a:avLst/>
            </a:prstGeom>
            <a:solidFill>
              <a:srgbClr val="FA421D"/>
            </a:solidFill>
            <a:ln>
              <a:noFill/>
            </a:ln>
          </p:spPr>
        </p:sp>
        <p:sp>
          <p:nvSpPr>
            <p:cNvPr id="27" name="Line 27"/>
            <p:cNvSpPr/>
            <p:nvPr/>
          </p:nvSpPr>
          <p:spPr>
            <a:xfrm>
              <a:off x="2343150" y="4286250"/>
              <a:ext cx="628650" cy="9525"/>
            </a:xfrm>
            <a:custGeom>
              <a:avLst/>
              <a:gdLst/>
              <a:ahLst/>
              <a:cxnLst/>
              <a:rect l="l" t="t" r="r" b="b"/>
              <a:pathLst>
                <a:path w="628650" h="9525">
                  <a:moveTo>
                    <a:pt x="0" y="0"/>
                  </a:moveTo>
                  <a:lnTo>
                    <a:pt x="628650" y="0"/>
                  </a:lnTo>
                </a:path>
              </a:pathLst>
            </a:custGeom>
            <a:noFill/>
            <a:ln w="14288">
              <a:solidFill>
                <a:srgbClr val="FA421D"/>
              </a:solidFill>
              <a:custDash>
                <a:ds d="200000" sp="200000"/>
              </a:custDash>
            </a:ln>
          </p:spPr>
        </p:sp>
        <p:sp>
          <p:nvSpPr>
            <p:cNvPr id="28" name="Ellipse 28"/>
            <p:cNvSpPr/>
            <p:nvPr/>
          </p:nvSpPr>
          <p:spPr>
            <a:xfrm>
              <a:off x="2300288" y="4252912"/>
              <a:ext cx="66675" cy="66675"/>
            </a:xfrm>
            <a:prstGeom prst="ellipse">
              <a:avLst/>
            </a:prstGeom>
            <a:solidFill>
              <a:srgbClr val="FA421D"/>
            </a:solidFill>
            <a:ln>
              <a:noFill/>
            </a:ln>
          </p:spPr>
        </p:sp>
        <p:sp>
          <p:nvSpPr>
            <p:cNvPr id="29" name="Line 29"/>
            <p:cNvSpPr/>
            <p:nvPr/>
          </p:nvSpPr>
          <p:spPr>
            <a:xfrm>
              <a:off x="2343150" y="5610225"/>
              <a:ext cx="628650" cy="9525"/>
            </a:xfrm>
            <a:custGeom>
              <a:avLst/>
              <a:gdLst/>
              <a:ahLst/>
              <a:cxnLst/>
              <a:rect l="l" t="t" r="r" b="b"/>
              <a:pathLst>
                <a:path w="628650" h="9525">
                  <a:moveTo>
                    <a:pt x="0" y="0"/>
                  </a:moveTo>
                  <a:lnTo>
                    <a:pt x="628650" y="0"/>
                  </a:lnTo>
                </a:path>
              </a:pathLst>
            </a:custGeom>
            <a:noFill/>
            <a:ln w="14288">
              <a:solidFill>
                <a:srgbClr val="FA421D"/>
              </a:solidFill>
              <a:custDash>
                <a:ds d="200000" sp="200000"/>
              </a:custDash>
            </a:ln>
          </p:spPr>
        </p:sp>
        <p:sp>
          <p:nvSpPr>
            <p:cNvPr id="30" name="Ellipse 30"/>
            <p:cNvSpPr/>
            <p:nvPr/>
          </p:nvSpPr>
          <p:spPr>
            <a:xfrm>
              <a:off x="2300288" y="5576888"/>
              <a:ext cx="66675" cy="66675"/>
            </a:xfrm>
            <a:prstGeom prst="ellipse">
              <a:avLst/>
            </a:prstGeom>
            <a:solidFill>
              <a:srgbClr val="FA421D"/>
            </a:solidFill>
            <a:ln>
              <a:noFill/>
            </a:ln>
          </p:spPr>
        </p:sp>
      </p:grpSp>
      <p:grpSp>
        <p:nvGrpSpPr>
          <p:cNvPr id="46" name="layer-1-application"/>
          <p:cNvGrpSpPr/>
          <p:nvPr/>
        </p:nvGrpSpPr>
        <p:grpSpPr>
          <a:xfrm>
            <a:off x="2990850" y="1123950"/>
            <a:ext cx="6267450" cy="1162050"/>
            <a:chOff x="2990850" y="1123950"/>
            <a:chExt cx="6267450" cy="1162050"/>
          </a:xfrm>
        </p:grpSpPr>
        <p:sp>
          <p:nvSpPr>
            <p:cNvPr id="32" name="Rectangle 32"/>
            <p:cNvSpPr/>
            <p:nvPr/>
          </p:nvSpPr>
          <p:spPr>
            <a:xfrm>
              <a:off x="2990850" y="1885950"/>
              <a:ext cx="6267450" cy="400050"/>
            </a:xfrm>
            <a:prstGeom prst="roundRect">
              <a:avLst>
                <a:gd name="adj" fmla="val 14286"/>
              </a:avLst>
            </a:prstGeom>
            <a:gradFill>
              <a:gsLst>
                <a:gs pos="0">
                  <a:srgbClr val="E4EEFD"/>
                </a:gs>
                <a:gs pos="100000">
                  <a:srgbClr val="D2E4FE"/>
                </a:gs>
              </a:gsLst>
              <a:lin ang="5400000" scaled="1"/>
            </a:gradFill>
            <a:ln>
              <a:noFill/>
            </a:ln>
          </p:spPr>
        </p:sp>
        <p:sp>
          <p:nvSpPr>
            <p:cNvPr id="33" name="TextBox 33"/>
            <p:cNvSpPr txBox="1"/>
            <p:nvPr/>
          </p:nvSpPr>
          <p:spPr>
            <a:xfrm>
              <a:off x="5229987" y="2023110"/>
              <a:ext cx="1789176" cy="234696"/>
            </a:xfrm>
            <a:prstGeom prst="rect">
              <a:avLst/>
            </a:prstGeom>
            <a:noFill/>
            <a:ln>
              <a:noFill/>
            </a:ln>
          </p:spPr>
          <p:txBody>
            <a:bodyPr wrap="none" lIns="0" tIns="0" rIns="0" bIns="0" anchor="t" anchorCtr="0">
              <a:spAutoFit/>
            </a:bodyPr>
            <a:lstStyle/>
            <a:p>
              <a:pPr algn="ctr"/>
              <a:r>
                <a:rPr lang="zh-CN" sz="1200" dirty="0">
                  <a:solidFill>
                    <a:srgbClr val="D03B1D"/>
                  </a:solidFill>
                  <a:latin typeface="+mn-lt"/>
                  <a:ea typeface="+mn-ea"/>
                  <a:cs typeface="+mn-cs"/>
                </a:rPr>
                <a:t>成果增值应用，辅助决策</a:t>
              </a:r>
            </a:p>
          </p:txBody>
        </p:sp>
        <p:sp>
          <p:nvSpPr>
            <p:cNvPr id="34" name="Ellipse 34"/>
            <p:cNvSpPr/>
            <p:nvPr/>
          </p:nvSpPr>
          <p:spPr>
            <a:xfrm>
              <a:off x="4038600" y="1123950"/>
              <a:ext cx="457200" cy="457200"/>
            </a:xfrm>
            <a:prstGeom prst="ellipse">
              <a:avLst/>
            </a:prstGeom>
            <a:solidFill>
              <a:srgbClr val="FFFFFF"/>
            </a:solidFill>
            <a:ln w="9525">
              <a:solidFill>
                <a:srgbClr val="FCC6BB"/>
              </a:solidFill>
            </a:ln>
          </p:spPr>
        </p:sp>
        <p:sp>
          <p:nvSpPr>
            <p:cNvPr id="35" name="TextBox 35"/>
            <p:cNvSpPr txBox="1"/>
            <p:nvPr/>
          </p:nvSpPr>
          <p:spPr>
            <a:xfrm>
              <a:off x="4071938" y="1252538"/>
              <a:ext cx="390525" cy="261938"/>
            </a:xfrm>
            <a:prstGeom prst="rect">
              <a:avLst/>
            </a:prstGeom>
            <a:noFill/>
            <a:ln>
              <a:noFill/>
            </a:ln>
          </p:spPr>
          <p:txBody>
            <a:bodyPr wrap="none" lIns="0" tIns="0" rIns="0" bIns="0" anchor="t" anchorCtr="0">
              <a:spAutoFit/>
            </a:bodyPr>
            <a:lstStyle/>
            <a:p>
              <a:pPr algn="ctr">
                <a:lnSpc>
                  <a:spcPts val="900"/>
                </a:lnSpc>
              </a:pPr>
              <a:r>
                <a:rPr lang="zh-CN" sz="750" dirty="0">
                  <a:solidFill>
                    <a:srgbClr val="D03B1D"/>
                  </a:solidFill>
                  <a:latin typeface="+mn-lt"/>
                  <a:ea typeface="+mn-ea"/>
                  <a:cs typeface="+mn-cs"/>
                </a:rPr>
                <a:t>价格查询</a:t>
              </a:r>
              <a:br/>
              <a:r>
                <a:rPr lang="zh-CN" sz="750" dirty="0">
                  <a:solidFill>
                    <a:srgbClr val="D03B1D"/>
                  </a:solidFill>
                  <a:latin typeface="+mn-lt"/>
                  <a:ea typeface="+mn-ea"/>
                  <a:cs typeface="+mn-cs"/>
                </a:rPr>
                <a:t>及走势</a:t>
              </a:r>
            </a:p>
          </p:txBody>
        </p:sp>
        <p:sp>
          <p:nvSpPr>
            <p:cNvPr id="36" name="Ellipse 36"/>
            <p:cNvSpPr/>
            <p:nvPr/>
          </p:nvSpPr>
          <p:spPr>
            <a:xfrm>
              <a:off x="5105400" y="1123950"/>
              <a:ext cx="457200" cy="457200"/>
            </a:xfrm>
            <a:prstGeom prst="ellipse">
              <a:avLst/>
            </a:prstGeom>
            <a:solidFill>
              <a:srgbClr val="FFFFFF"/>
            </a:solidFill>
            <a:ln w="9525">
              <a:solidFill>
                <a:srgbClr val="FCC6BB"/>
              </a:solidFill>
            </a:ln>
          </p:spPr>
        </p:sp>
        <p:sp>
          <p:nvSpPr>
            <p:cNvPr id="37" name="TextBox 37"/>
            <p:cNvSpPr txBox="1"/>
            <p:nvPr/>
          </p:nvSpPr>
          <p:spPr>
            <a:xfrm>
              <a:off x="5138738" y="1252538"/>
              <a:ext cx="390525" cy="261938"/>
            </a:xfrm>
            <a:prstGeom prst="rect">
              <a:avLst/>
            </a:prstGeom>
            <a:noFill/>
            <a:ln>
              <a:noFill/>
            </a:ln>
          </p:spPr>
          <p:txBody>
            <a:bodyPr wrap="none" lIns="0" tIns="0" rIns="0" bIns="0" anchor="t" anchorCtr="0">
              <a:spAutoFit/>
            </a:bodyPr>
            <a:lstStyle/>
            <a:p>
              <a:pPr algn="ctr">
                <a:lnSpc>
                  <a:spcPts val="900"/>
                </a:lnSpc>
              </a:pPr>
              <a:r>
                <a:rPr lang="zh-CN" sz="750" dirty="0">
                  <a:solidFill>
                    <a:srgbClr val="D03B1D"/>
                  </a:solidFill>
                  <a:latin typeface="+mn-lt"/>
                  <a:ea typeface="+mn-ea"/>
                  <a:cs typeface="+mn-cs"/>
                </a:rPr>
                <a:t>价格查询</a:t>
              </a:r>
              <a:br/>
              <a:r>
                <a:rPr lang="zh-CN" sz="750" dirty="0">
                  <a:solidFill>
                    <a:srgbClr val="D03B1D"/>
                  </a:solidFill>
                  <a:latin typeface="+mn-lt"/>
                  <a:ea typeface="+mn-ea"/>
                  <a:cs typeface="+mn-cs"/>
                </a:rPr>
                <a:t>及走势</a:t>
              </a:r>
            </a:p>
          </p:txBody>
        </p:sp>
        <p:sp>
          <p:nvSpPr>
            <p:cNvPr id="38" name="Ellipse 38"/>
            <p:cNvSpPr/>
            <p:nvPr/>
          </p:nvSpPr>
          <p:spPr>
            <a:xfrm>
              <a:off x="6629400" y="1123950"/>
              <a:ext cx="457200" cy="457200"/>
            </a:xfrm>
            <a:prstGeom prst="ellipse">
              <a:avLst/>
            </a:prstGeom>
            <a:solidFill>
              <a:srgbClr val="FFFFFF"/>
            </a:solidFill>
            <a:ln w="9525">
              <a:solidFill>
                <a:srgbClr val="FCC6BB"/>
              </a:solidFill>
            </a:ln>
          </p:spPr>
        </p:sp>
        <p:sp>
          <p:nvSpPr>
            <p:cNvPr id="39" name="TextBox 39"/>
            <p:cNvSpPr txBox="1"/>
            <p:nvPr/>
          </p:nvSpPr>
          <p:spPr>
            <a:xfrm>
              <a:off x="6662738" y="1252538"/>
              <a:ext cx="390525" cy="261938"/>
            </a:xfrm>
            <a:prstGeom prst="rect">
              <a:avLst/>
            </a:prstGeom>
            <a:noFill/>
            <a:ln>
              <a:noFill/>
            </a:ln>
          </p:spPr>
          <p:txBody>
            <a:bodyPr wrap="none" lIns="0" tIns="0" rIns="0" bIns="0" anchor="t" anchorCtr="0">
              <a:spAutoFit/>
            </a:bodyPr>
            <a:lstStyle/>
            <a:p>
              <a:pPr algn="ctr">
                <a:lnSpc>
                  <a:spcPts val="900"/>
                </a:lnSpc>
              </a:pPr>
              <a:r>
                <a:rPr lang="zh-CN" sz="750" dirty="0">
                  <a:solidFill>
                    <a:srgbClr val="D03B1D"/>
                  </a:solidFill>
                  <a:latin typeface="+mn-lt"/>
                  <a:ea typeface="+mn-ea"/>
                  <a:cs typeface="+mn-cs"/>
                </a:rPr>
                <a:t>指标对比</a:t>
              </a:r>
              <a:br/>
              <a:r>
                <a:rPr lang="zh-CN" sz="750" dirty="0">
                  <a:solidFill>
                    <a:srgbClr val="D03B1D"/>
                  </a:solidFill>
                  <a:latin typeface="+mn-lt"/>
                  <a:ea typeface="+mn-ea"/>
                  <a:cs typeface="+mn-cs"/>
                </a:rPr>
                <a:t>分析</a:t>
              </a:r>
            </a:p>
          </p:txBody>
        </p:sp>
        <p:sp>
          <p:nvSpPr>
            <p:cNvPr id="40" name="Ellipse 40"/>
            <p:cNvSpPr/>
            <p:nvPr/>
          </p:nvSpPr>
          <p:spPr>
            <a:xfrm>
              <a:off x="7696200" y="1123950"/>
              <a:ext cx="457200" cy="457200"/>
            </a:xfrm>
            <a:prstGeom prst="ellipse">
              <a:avLst/>
            </a:prstGeom>
            <a:solidFill>
              <a:srgbClr val="FFFFFF"/>
            </a:solidFill>
            <a:ln w="9525">
              <a:solidFill>
                <a:srgbClr val="FCC6BB"/>
              </a:solidFill>
            </a:ln>
          </p:spPr>
        </p:sp>
        <p:sp>
          <p:nvSpPr>
            <p:cNvPr id="41" name="TextBox 41"/>
            <p:cNvSpPr txBox="1"/>
            <p:nvPr/>
          </p:nvSpPr>
          <p:spPr>
            <a:xfrm>
              <a:off x="7729538" y="1252538"/>
              <a:ext cx="390525" cy="261938"/>
            </a:xfrm>
            <a:prstGeom prst="rect">
              <a:avLst/>
            </a:prstGeom>
            <a:noFill/>
            <a:ln>
              <a:noFill/>
            </a:ln>
          </p:spPr>
          <p:txBody>
            <a:bodyPr wrap="none" lIns="0" tIns="0" rIns="0" bIns="0" anchor="t" anchorCtr="0">
              <a:spAutoFit/>
            </a:bodyPr>
            <a:lstStyle/>
            <a:p>
              <a:pPr algn="ctr">
                <a:lnSpc>
                  <a:spcPts val="900"/>
                </a:lnSpc>
              </a:pPr>
              <a:r>
                <a:rPr lang="zh-CN" sz="750" dirty="0">
                  <a:solidFill>
                    <a:srgbClr val="D03B1D"/>
                  </a:solidFill>
                  <a:latin typeface="+mn-lt"/>
                  <a:ea typeface="+mn-ea"/>
                  <a:cs typeface="+mn-cs"/>
                </a:rPr>
                <a:t>经营分析</a:t>
              </a:r>
              <a:br/>
              <a:r>
                <a:rPr lang="en-US" sz="750" dirty="0">
                  <a:solidFill>
                    <a:srgbClr val="D03B1D"/>
                  </a:solidFill>
                  <a:latin typeface="+mn-lt"/>
                  <a:ea typeface="+mn-ea"/>
                  <a:cs typeface="+mn-cs"/>
                </a:rPr>
                <a:t>BI​</a:t>
              </a:r>
            </a:p>
          </p:txBody>
        </p:sp>
        <p:sp>
          <p:nvSpPr>
            <p:cNvPr id="42" name="Rectangle 42"/>
            <p:cNvSpPr/>
            <p:nvPr/>
          </p:nvSpPr>
          <p:spPr>
            <a:xfrm>
              <a:off x="3600450" y="1562100"/>
              <a:ext cx="2381250" cy="304800"/>
            </a:xfrm>
            <a:prstGeom prst="roundRect">
              <a:avLst>
                <a:gd name="adj" fmla="val 12500"/>
              </a:avLst>
            </a:prstGeom>
            <a:gradFill>
              <a:gsLst>
                <a:gs pos="0">
                  <a:srgbClr val="FB684A"/>
                </a:gs>
                <a:gs pos="100000">
                  <a:srgbClr val="FA421D"/>
                </a:gs>
              </a:gsLst>
              <a:lin ang="5400000" scaled="1"/>
            </a:gradFill>
            <a:ln>
              <a:noFill/>
            </a:ln>
          </p:spPr>
        </p:sp>
        <p:sp>
          <p:nvSpPr>
            <p:cNvPr id="43" name="TextBox 43"/>
            <p:cNvSpPr txBox="1"/>
            <p:nvPr/>
          </p:nvSpPr>
          <p:spPr>
            <a:xfrm>
              <a:off x="4483811" y="165020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成本测算</a:t>
              </a:r>
            </a:p>
          </p:txBody>
        </p:sp>
        <p:sp>
          <p:nvSpPr>
            <p:cNvPr id="44" name="Rectangle 44"/>
            <p:cNvSpPr/>
            <p:nvPr/>
          </p:nvSpPr>
          <p:spPr>
            <a:xfrm>
              <a:off x="6229350" y="1562100"/>
              <a:ext cx="2381250" cy="304800"/>
            </a:xfrm>
            <a:prstGeom prst="roundRect">
              <a:avLst>
                <a:gd name="adj" fmla="val 12500"/>
              </a:avLst>
            </a:prstGeom>
            <a:gradFill>
              <a:gsLst>
                <a:gs pos="0">
                  <a:srgbClr val="FB684A"/>
                </a:gs>
                <a:gs pos="100000">
                  <a:srgbClr val="FA421D"/>
                </a:gs>
              </a:gsLst>
              <a:lin ang="5400000" scaled="1"/>
            </a:gradFill>
            <a:ln>
              <a:noFill/>
            </a:ln>
          </p:spPr>
        </p:sp>
        <p:sp>
          <p:nvSpPr>
            <p:cNvPr id="45" name="TextBox 45"/>
            <p:cNvSpPr txBox="1"/>
            <p:nvPr/>
          </p:nvSpPr>
          <p:spPr>
            <a:xfrm>
              <a:off x="6961937" y="1650206"/>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动态成本监控</a:t>
              </a:r>
            </a:p>
          </p:txBody>
        </p:sp>
      </p:grpSp>
      <p:grpSp>
        <p:nvGrpSpPr>
          <p:cNvPr id="57" name="layer-2-storage"/>
          <p:cNvGrpSpPr/>
          <p:nvPr/>
        </p:nvGrpSpPr>
        <p:grpSpPr>
          <a:xfrm>
            <a:off x="2990850" y="2419350"/>
            <a:ext cx="6267450" cy="1143000"/>
            <a:chOff x="2990850" y="2419350"/>
            <a:chExt cx="6267450" cy="1143000"/>
          </a:xfrm>
        </p:grpSpPr>
        <p:sp>
          <p:nvSpPr>
            <p:cNvPr id="47" name="Rectangle 47"/>
            <p:cNvSpPr/>
            <p:nvPr/>
          </p:nvSpPr>
          <p:spPr>
            <a:xfrm>
              <a:off x="2990850" y="2419350"/>
              <a:ext cx="6267450" cy="1143000"/>
            </a:xfrm>
            <a:prstGeom prst="roundRect">
              <a:avLst>
                <a:gd name="adj" fmla="val 6667"/>
              </a:avLst>
            </a:prstGeom>
            <a:gradFill>
              <a:gsLst>
                <a:gs pos="0">
                  <a:srgbClr val="E4EEFD"/>
                </a:gs>
                <a:gs pos="100000">
                  <a:srgbClr val="D2E4FE"/>
                </a:gs>
              </a:gsLst>
              <a:lin ang="5400000" scaled="1"/>
            </a:gradFill>
            <a:ln>
              <a:noFill/>
            </a:ln>
          </p:spPr>
        </p:sp>
        <p:sp>
          <p:nvSpPr>
            <p:cNvPr id="48" name="Rectangle 48"/>
            <p:cNvSpPr/>
            <p:nvPr/>
          </p:nvSpPr>
          <p:spPr>
            <a:xfrm>
              <a:off x="3295650" y="2590800"/>
              <a:ext cx="1333500" cy="533400"/>
            </a:xfrm>
            <a:prstGeom prst="roundRect">
              <a:avLst>
                <a:gd name="adj" fmla="val 10714"/>
              </a:avLst>
            </a:prstGeom>
            <a:gradFill>
              <a:gsLst>
                <a:gs pos="0">
                  <a:srgbClr val="FB684A"/>
                </a:gs>
                <a:gs pos="100000">
                  <a:srgbClr val="FA421D"/>
                </a:gs>
              </a:gsLst>
              <a:lin ang="5400000" scaled="1"/>
            </a:gradFill>
            <a:ln>
              <a:noFill/>
            </a:ln>
          </p:spPr>
        </p:sp>
        <p:sp>
          <p:nvSpPr>
            <p:cNvPr id="49" name="TextBox 49"/>
            <p:cNvSpPr txBox="1"/>
            <p:nvPr/>
          </p:nvSpPr>
          <p:spPr>
            <a:xfrm>
              <a:off x="3579749" y="2793206"/>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历史项目库</a:t>
              </a:r>
            </a:p>
          </p:txBody>
        </p:sp>
        <p:sp>
          <p:nvSpPr>
            <p:cNvPr id="50" name="Rectangle 50"/>
            <p:cNvSpPr/>
            <p:nvPr/>
          </p:nvSpPr>
          <p:spPr>
            <a:xfrm>
              <a:off x="4743450" y="2590800"/>
              <a:ext cx="1352550" cy="533400"/>
            </a:xfrm>
            <a:prstGeom prst="roundRect">
              <a:avLst>
                <a:gd name="adj" fmla="val 10714"/>
              </a:avLst>
            </a:prstGeom>
            <a:gradFill>
              <a:gsLst>
                <a:gs pos="0">
                  <a:srgbClr val="FB684A"/>
                </a:gs>
                <a:gs pos="100000">
                  <a:srgbClr val="FA421D"/>
                </a:gs>
              </a:gsLst>
              <a:lin ang="5400000" scaled="1"/>
            </a:gradFill>
            <a:ln>
              <a:noFill/>
            </a:ln>
          </p:spPr>
        </p:sp>
        <p:sp>
          <p:nvSpPr>
            <p:cNvPr id="51" name="TextBox 51"/>
            <p:cNvSpPr txBox="1"/>
            <p:nvPr/>
          </p:nvSpPr>
          <p:spPr>
            <a:xfrm>
              <a:off x="5037074" y="2793206"/>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成本指标库</a:t>
              </a:r>
            </a:p>
          </p:txBody>
        </p:sp>
        <p:sp>
          <p:nvSpPr>
            <p:cNvPr id="52" name="Rectangle 52"/>
            <p:cNvSpPr/>
            <p:nvPr/>
          </p:nvSpPr>
          <p:spPr>
            <a:xfrm>
              <a:off x="6210300" y="2590800"/>
              <a:ext cx="1333500" cy="533400"/>
            </a:xfrm>
            <a:prstGeom prst="roundRect">
              <a:avLst>
                <a:gd name="adj" fmla="val 10714"/>
              </a:avLst>
            </a:prstGeom>
            <a:gradFill>
              <a:gsLst>
                <a:gs pos="0">
                  <a:srgbClr val="FB684A"/>
                </a:gs>
                <a:gs pos="100000">
                  <a:srgbClr val="FA421D"/>
                </a:gs>
              </a:gsLst>
              <a:lin ang="5400000" scaled="1"/>
            </a:gradFill>
            <a:ln>
              <a:noFill/>
            </a:ln>
          </p:spPr>
        </p:sp>
        <p:sp>
          <p:nvSpPr>
            <p:cNvPr id="53" name="TextBox 53"/>
            <p:cNvSpPr txBox="1"/>
            <p:nvPr/>
          </p:nvSpPr>
          <p:spPr>
            <a:xfrm>
              <a:off x="6494399" y="2793206"/>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清单价格库</a:t>
              </a:r>
            </a:p>
          </p:txBody>
        </p:sp>
        <p:sp>
          <p:nvSpPr>
            <p:cNvPr id="54" name="Rectangle 54"/>
            <p:cNvSpPr/>
            <p:nvPr/>
          </p:nvSpPr>
          <p:spPr>
            <a:xfrm>
              <a:off x="7658100" y="2590800"/>
              <a:ext cx="1295400" cy="533400"/>
            </a:xfrm>
            <a:prstGeom prst="roundRect">
              <a:avLst>
                <a:gd name="adj" fmla="val 10714"/>
              </a:avLst>
            </a:prstGeom>
            <a:gradFill>
              <a:gsLst>
                <a:gs pos="0">
                  <a:srgbClr val="FB684A"/>
                </a:gs>
                <a:gs pos="100000">
                  <a:srgbClr val="FA421D"/>
                </a:gs>
              </a:gsLst>
              <a:lin ang="5400000" scaled="1"/>
            </a:gradFill>
            <a:ln>
              <a:noFill/>
            </a:ln>
          </p:spPr>
        </p:sp>
        <p:sp>
          <p:nvSpPr>
            <p:cNvPr id="55" name="TextBox 55"/>
            <p:cNvSpPr txBox="1"/>
            <p:nvPr/>
          </p:nvSpPr>
          <p:spPr>
            <a:xfrm>
              <a:off x="7923149" y="2793206"/>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材料价格库</a:t>
              </a:r>
            </a:p>
          </p:txBody>
        </p:sp>
        <p:sp>
          <p:nvSpPr>
            <p:cNvPr id="56" name="TextBox 56"/>
            <p:cNvSpPr txBox="1"/>
            <p:nvPr/>
          </p:nvSpPr>
          <p:spPr>
            <a:xfrm>
              <a:off x="5229987" y="3280410"/>
              <a:ext cx="1789176" cy="234696"/>
            </a:xfrm>
            <a:prstGeom prst="rect">
              <a:avLst/>
            </a:prstGeom>
            <a:noFill/>
            <a:ln>
              <a:noFill/>
            </a:ln>
          </p:spPr>
          <p:txBody>
            <a:bodyPr wrap="none" lIns="0" tIns="0" rIns="0" bIns="0" anchor="t" anchorCtr="0">
              <a:spAutoFit/>
            </a:bodyPr>
            <a:lstStyle/>
            <a:p>
              <a:pPr algn="ctr"/>
              <a:r>
                <a:rPr lang="zh-CN" sz="1200" dirty="0">
                  <a:solidFill>
                    <a:srgbClr val="D03B1D"/>
                  </a:solidFill>
                  <a:latin typeface="+mn-lt"/>
                  <a:ea typeface="+mn-ea"/>
                  <a:cs typeface="+mn-cs"/>
                </a:rPr>
                <a:t>统一存储，形成数据资产</a:t>
              </a:r>
            </a:p>
          </p:txBody>
        </p:sp>
      </p:grpSp>
      <p:grpSp>
        <p:nvGrpSpPr>
          <p:cNvPr id="76" name="layer-3-process"/>
          <p:cNvGrpSpPr/>
          <p:nvPr/>
        </p:nvGrpSpPr>
        <p:grpSpPr>
          <a:xfrm>
            <a:off x="2990850" y="3695700"/>
            <a:ext cx="6267450" cy="1162050"/>
            <a:chOff x="2990850" y="3695700"/>
            <a:chExt cx="6267450" cy="1162050"/>
          </a:xfrm>
        </p:grpSpPr>
        <p:sp>
          <p:nvSpPr>
            <p:cNvPr id="58" name="Rectangle 58"/>
            <p:cNvSpPr/>
            <p:nvPr/>
          </p:nvSpPr>
          <p:spPr>
            <a:xfrm>
              <a:off x="2990850" y="3695700"/>
              <a:ext cx="3067050" cy="1162050"/>
            </a:xfrm>
            <a:prstGeom prst="roundRect">
              <a:avLst>
                <a:gd name="adj" fmla="val 6557"/>
              </a:avLst>
            </a:prstGeom>
            <a:gradFill>
              <a:gsLst>
                <a:gs pos="0">
                  <a:srgbClr val="E4EEFD"/>
                </a:gs>
                <a:gs pos="100000">
                  <a:srgbClr val="D2E4FE"/>
                </a:gs>
              </a:gsLst>
              <a:lin ang="5400000" scaled="1"/>
            </a:gradFill>
            <a:ln>
              <a:noFill/>
            </a:ln>
          </p:spPr>
        </p:sp>
        <p:sp>
          <p:nvSpPr>
            <p:cNvPr id="59" name="Rectangle 59"/>
            <p:cNvSpPr/>
            <p:nvPr/>
          </p:nvSpPr>
          <p:spPr>
            <a:xfrm>
              <a:off x="6191250" y="3695700"/>
              <a:ext cx="3067050" cy="1162050"/>
            </a:xfrm>
            <a:prstGeom prst="roundRect">
              <a:avLst>
                <a:gd name="adj" fmla="val 6557"/>
              </a:avLst>
            </a:prstGeom>
            <a:gradFill>
              <a:gsLst>
                <a:gs pos="0">
                  <a:srgbClr val="E4EEFD"/>
                </a:gs>
                <a:gs pos="100000">
                  <a:srgbClr val="D2E4FE"/>
                </a:gs>
              </a:gsLst>
              <a:lin ang="5400000" scaled="1"/>
            </a:gradFill>
            <a:ln>
              <a:noFill/>
            </a:ln>
          </p:spPr>
        </p:sp>
        <p:sp>
          <p:nvSpPr>
            <p:cNvPr id="60" name="Rectangle 60"/>
            <p:cNvSpPr/>
            <p:nvPr/>
          </p:nvSpPr>
          <p:spPr>
            <a:xfrm>
              <a:off x="3181350" y="3867150"/>
              <a:ext cx="628650" cy="514350"/>
            </a:xfrm>
            <a:prstGeom prst="roundRect">
              <a:avLst>
                <a:gd name="adj" fmla="val 9259"/>
              </a:avLst>
            </a:prstGeom>
            <a:gradFill>
              <a:gsLst>
                <a:gs pos="0">
                  <a:srgbClr val="FB684A"/>
                </a:gs>
                <a:gs pos="100000">
                  <a:srgbClr val="FA421D"/>
                </a:gs>
              </a:gsLst>
              <a:lin ang="5400000" scaled="1"/>
            </a:gradFill>
            <a:ln>
              <a:noFill/>
            </a:ln>
          </p:spPr>
        </p:sp>
        <p:sp>
          <p:nvSpPr>
            <p:cNvPr id="61" name="TextBox 61"/>
            <p:cNvSpPr txBox="1"/>
            <p:nvPr/>
          </p:nvSpPr>
          <p:spPr>
            <a:xfrm>
              <a:off x="3319462" y="3989070"/>
              <a:ext cx="352425"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FFFFFF"/>
                  </a:solidFill>
                  <a:latin typeface="+mn-lt"/>
                  <a:ea typeface="+mn-ea"/>
                  <a:cs typeface="+mn-cs"/>
                </a:rPr>
                <a:t>招投标</a:t>
              </a:r>
              <a:br/>
              <a:r>
                <a:rPr lang="zh-CN" sz="900" dirty="0">
                  <a:solidFill>
                    <a:srgbClr val="FFFFFF"/>
                  </a:solidFill>
                  <a:latin typeface="+mn-lt"/>
                  <a:ea typeface="+mn-ea"/>
                  <a:cs typeface="+mn-cs"/>
                </a:rPr>
                <a:t>计价</a:t>
              </a:r>
            </a:p>
          </p:txBody>
        </p:sp>
        <p:sp>
          <p:nvSpPr>
            <p:cNvPr id="62" name="Rectangle 62"/>
            <p:cNvSpPr/>
            <p:nvPr/>
          </p:nvSpPr>
          <p:spPr>
            <a:xfrm>
              <a:off x="3867150" y="3867150"/>
              <a:ext cx="628650" cy="514350"/>
            </a:xfrm>
            <a:prstGeom prst="roundRect">
              <a:avLst>
                <a:gd name="adj" fmla="val 9259"/>
              </a:avLst>
            </a:prstGeom>
            <a:gradFill>
              <a:gsLst>
                <a:gs pos="0">
                  <a:srgbClr val="FB684A"/>
                </a:gs>
                <a:gs pos="100000">
                  <a:srgbClr val="FA421D"/>
                </a:gs>
              </a:gsLst>
              <a:lin ang="5400000" scaled="1"/>
            </a:gradFill>
            <a:ln>
              <a:noFill/>
            </a:ln>
          </p:spPr>
        </p:sp>
        <p:sp>
          <p:nvSpPr>
            <p:cNvPr id="63" name="TextBox 63"/>
            <p:cNvSpPr txBox="1"/>
            <p:nvPr/>
          </p:nvSpPr>
          <p:spPr>
            <a:xfrm>
              <a:off x="4062412" y="3989070"/>
              <a:ext cx="238125"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FFFFFF"/>
                  </a:solidFill>
                  <a:latin typeface="+mn-lt"/>
                  <a:ea typeface="+mn-ea"/>
                  <a:cs typeface="+mn-cs"/>
                </a:rPr>
                <a:t>报价</a:t>
              </a:r>
              <a:br/>
              <a:r>
                <a:rPr lang="zh-CN" sz="900" dirty="0">
                  <a:solidFill>
                    <a:srgbClr val="FFFFFF"/>
                  </a:solidFill>
                  <a:latin typeface="+mn-lt"/>
                  <a:ea typeface="+mn-ea"/>
                  <a:cs typeface="+mn-cs"/>
                </a:rPr>
                <a:t>分析</a:t>
              </a:r>
            </a:p>
          </p:txBody>
        </p:sp>
        <p:sp>
          <p:nvSpPr>
            <p:cNvPr id="64" name="Rectangle 64"/>
            <p:cNvSpPr/>
            <p:nvPr/>
          </p:nvSpPr>
          <p:spPr>
            <a:xfrm>
              <a:off x="4552950" y="3867150"/>
              <a:ext cx="628650" cy="514350"/>
            </a:xfrm>
            <a:prstGeom prst="roundRect">
              <a:avLst>
                <a:gd name="adj" fmla="val 9259"/>
              </a:avLst>
            </a:prstGeom>
            <a:gradFill>
              <a:gsLst>
                <a:gs pos="0">
                  <a:srgbClr val="FB684A"/>
                </a:gs>
                <a:gs pos="100000">
                  <a:srgbClr val="FA421D"/>
                </a:gs>
              </a:gsLst>
              <a:lin ang="5400000" scaled="1"/>
            </a:gradFill>
            <a:ln>
              <a:noFill/>
            </a:ln>
          </p:spPr>
        </p:sp>
        <p:sp>
          <p:nvSpPr>
            <p:cNvPr id="65" name="TextBox 65"/>
            <p:cNvSpPr txBox="1"/>
            <p:nvPr/>
          </p:nvSpPr>
          <p:spPr>
            <a:xfrm>
              <a:off x="4691062" y="3989070"/>
              <a:ext cx="352425"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FFFFFF"/>
                  </a:solidFill>
                  <a:latin typeface="+mn-lt"/>
                  <a:ea typeface="+mn-ea"/>
                  <a:cs typeface="+mn-cs"/>
                </a:rPr>
                <a:t>预结算</a:t>
              </a:r>
              <a:br/>
              <a:r>
                <a:rPr lang="zh-CN" sz="900" dirty="0">
                  <a:solidFill>
                    <a:srgbClr val="FFFFFF"/>
                  </a:solidFill>
                  <a:latin typeface="+mn-lt"/>
                  <a:ea typeface="+mn-ea"/>
                  <a:cs typeface="+mn-cs"/>
                </a:rPr>
                <a:t>计价</a:t>
              </a:r>
            </a:p>
          </p:txBody>
        </p:sp>
        <p:sp>
          <p:nvSpPr>
            <p:cNvPr id="66" name="Rectangle 66"/>
            <p:cNvSpPr/>
            <p:nvPr/>
          </p:nvSpPr>
          <p:spPr>
            <a:xfrm>
              <a:off x="5238750" y="3867150"/>
              <a:ext cx="628650" cy="514350"/>
            </a:xfrm>
            <a:prstGeom prst="roundRect">
              <a:avLst>
                <a:gd name="adj" fmla="val 9259"/>
              </a:avLst>
            </a:prstGeom>
            <a:gradFill>
              <a:gsLst>
                <a:gs pos="0">
                  <a:srgbClr val="FB684A"/>
                </a:gs>
                <a:gs pos="100000">
                  <a:srgbClr val="FA421D"/>
                </a:gs>
              </a:gsLst>
              <a:lin ang="5400000" scaled="1"/>
            </a:gradFill>
            <a:ln>
              <a:noFill/>
            </a:ln>
          </p:spPr>
        </p:sp>
        <p:sp>
          <p:nvSpPr>
            <p:cNvPr id="67" name="TextBox 67"/>
            <p:cNvSpPr txBox="1"/>
            <p:nvPr/>
          </p:nvSpPr>
          <p:spPr>
            <a:xfrm>
              <a:off x="5376862" y="3989070"/>
              <a:ext cx="352425"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FFFFFF"/>
                  </a:solidFill>
                  <a:latin typeface="+mn-lt"/>
                  <a:ea typeface="+mn-ea"/>
                  <a:cs typeface="+mn-cs"/>
                </a:rPr>
                <a:t>预结算</a:t>
              </a:r>
              <a:br/>
              <a:r>
                <a:rPr lang="zh-CN" sz="900" dirty="0">
                  <a:solidFill>
                    <a:srgbClr val="FFFFFF"/>
                  </a:solidFill>
                  <a:latin typeface="+mn-lt"/>
                  <a:ea typeface="+mn-ea"/>
                  <a:cs typeface="+mn-cs"/>
                </a:rPr>
                <a:t>审核</a:t>
              </a:r>
            </a:p>
          </p:txBody>
        </p:sp>
        <p:sp>
          <p:nvSpPr>
            <p:cNvPr id="68" name="TextBox 68"/>
            <p:cNvSpPr txBox="1"/>
            <p:nvPr/>
          </p:nvSpPr>
          <p:spPr>
            <a:xfrm>
              <a:off x="3266110" y="4581049"/>
              <a:ext cx="2516530" cy="190690"/>
            </a:xfrm>
            <a:prstGeom prst="rect">
              <a:avLst/>
            </a:prstGeom>
            <a:noFill/>
            <a:ln>
              <a:noFill/>
            </a:ln>
          </p:spPr>
          <p:txBody>
            <a:bodyPr wrap="none" lIns="0" tIns="0" rIns="0" bIns="0" anchor="t" anchorCtr="0">
              <a:spAutoFit/>
            </a:bodyPr>
            <a:lstStyle/>
            <a:p>
              <a:pPr algn="ctr"/>
              <a:r>
                <a:rPr lang="zh-CN" sz="980" dirty="0">
                  <a:solidFill>
                    <a:srgbClr val="D03B1D"/>
                  </a:solidFill>
                  <a:latin typeface="+mn-lt"/>
                  <a:ea typeface="+mn-ea"/>
                  <a:cs typeface="+mn-cs"/>
                </a:rPr>
                <a:t>全过程在线，数据自动沉淀，反哺业务提效</a:t>
              </a:r>
            </a:p>
          </p:txBody>
        </p:sp>
        <p:sp>
          <p:nvSpPr>
            <p:cNvPr id="69" name="Rectangle 69"/>
            <p:cNvSpPr/>
            <p:nvPr/>
          </p:nvSpPr>
          <p:spPr>
            <a:xfrm>
              <a:off x="6486525" y="3867150"/>
              <a:ext cx="685800" cy="514350"/>
            </a:xfrm>
            <a:prstGeom prst="roundRect">
              <a:avLst>
                <a:gd name="adj" fmla="val 9259"/>
              </a:avLst>
            </a:prstGeom>
            <a:gradFill>
              <a:gsLst>
                <a:gs pos="0">
                  <a:srgbClr val="FB684A"/>
                </a:gs>
                <a:gs pos="100000">
                  <a:srgbClr val="FA421D"/>
                </a:gs>
              </a:gsLst>
              <a:lin ang="5400000" scaled="1"/>
            </a:gradFill>
            <a:ln>
              <a:noFill/>
            </a:ln>
          </p:spPr>
        </p:sp>
        <p:sp>
          <p:nvSpPr>
            <p:cNvPr id="70" name="TextBox 70"/>
            <p:cNvSpPr txBox="1"/>
            <p:nvPr/>
          </p:nvSpPr>
          <p:spPr>
            <a:xfrm>
              <a:off x="6596062" y="3989070"/>
              <a:ext cx="466725"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FFFFFF"/>
                  </a:solidFill>
                  <a:latin typeface="+mn-lt"/>
                  <a:ea typeface="+mn-ea"/>
                  <a:cs typeface="+mn-cs"/>
                </a:rPr>
                <a:t>导入指标</a:t>
              </a:r>
              <a:br/>
              <a:r>
                <a:rPr lang="zh-CN" sz="900" dirty="0">
                  <a:solidFill>
                    <a:srgbClr val="FFFFFF"/>
                  </a:solidFill>
                  <a:latin typeface="+mn-lt"/>
                  <a:ea typeface="+mn-ea"/>
                  <a:cs typeface="+mn-cs"/>
                </a:rPr>
                <a:t>数据</a:t>
              </a:r>
            </a:p>
          </p:txBody>
        </p:sp>
        <p:sp>
          <p:nvSpPr>
            <p:cNvPr id="71" name="Rectangle 71"/>
            <p:cNvSpPr/>
            <p:nvPr/>
          </p:nvSpPr>
          <p:spPr>
            <a:xfrm>
              <a:off x="7296150" y="3867150"/>
              <a:ext cx="742950" cy="514350"/>
            </a:xfrm>
            <a:prstGeom prst="roundRect">
              <a:avLst>
                <a:gd name="adj" fmla="val 9259"/>
              </a:avLst>
            </a:prstGeom>
            <a:gradFill>
              <a:gsLst>
                <a:gs pos="0">
                  <a:srgbClr val="FB684A"/>
                </a:gs>
                <a:gs pos="100000">
                  <a:srgbClr val="FA421D"/>
                </a:gs>
              </a:gsLst>
              <a:lin ang="5400000" scaled="1"/>
            </a:gradFill>
            <a:ln>
              <a:noFill/>
            </a:ln>
          </p:spPr>
        </p:sp>
        <p:sp>
          <p:nvSpPr>
            <p:cNvPr id="72" name="TextBox 72"/>
            <p:cNvSpPr txBox="1"/>
            <p:nvPr/>
          </p:nvSpPr>
          <p:spPr>
            <a:xfrm>
              <a:off x="7374255" y="3989070"/>
              <a:ext cx="586740"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FFFFFF"/>
                  </a:solidFill>
                  <a:latin typeface="+mn-lt"/>
                  <a:ea typeface="+mn-ea"/>
                  <a:cs typeface="+mn-cs"/>
                </a:rPr>
                <a:t>导入excel​</a:t>
              </a:r>
              <a:br/>
              <a:r>
                <a:rPr lang="zh-CN" sz="900" dirty="0">
                  <a:solidFill>
                    <a:srgbClr val="FFFFFF"/>
                  </a:solidFill>
                  <a:latin typeface="+mn-lt"/>
                  <a:ea typeface="+mn-ea"/>
                  <a:cs typeface="+mn-cs"/>
                </a:rPr>
                <a:t>清单</a:t>
              </a:r>
            </a:p>
          </p:txBody>
        </p:sp>
        <p:sp>
          <p:nvSpPr>
            <p:cNvPr id="73" name="Rectangle 73"/>
            <p:cNvSpPr/>
            <p:nvPr/>
          </p:nvSpPr>
          <p:spPr>
            <a:xfrm>
              <a:off x="8191500" y="3867150"/>
              <a:ext cx="762000" cy="514350"/>
            </a:xfrm>
            <a:prstGeom prst="roundRect">
              <a:avLst>
                <a:gd name="adj" fmla="val 9259"/>
              </a:avLst>
            </a:prstGeom>
            <a:gradFill>
              <a:gsLst>
                <a:gs pos="0">
                  <a:srgbClr val="FB684A"/>
                </a:gs>
                <a:gs pos="100000">
                  <a:srgbClr val="FA421D"/>
                </a:gs>
              </a:gsLst>
              <a:lin ang="5400000" scaled="1"/>
            </a:gradFill>
            <a:ln>
              <a:noFill/>
            </a:ln>
          </p:spPr>
        </p:sp>
        <p:sp>
          <p:nvSpPr>
            <p:cNvPr id="74" name="TextBox 74"/>
            <p:cNvSpPr txBox="1"/>
            <p:nvPr/>
          </p:nvSpPr>
          <p:spPr>
            <a:xfrm>
              <a:off x="8396288" y="3989070"/>
              <a:ext cx="352425"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FFFFFF"/>
                  </a:solidFill>
                  <a:latin typeface="+mn-lt"/>
                  <a:ea typeface="+mn-ea"/>
                  <a:cs typeface="+mn-cs"/>
                </a:rPr>
                <a:t>广材价</a:t>
              </a:r>
              <a:br/>
              <a:r>
                <a:rPr lang="zh-CN" sz="900" dirty="0">
                  <a:solidFill>
                    <a:srgbClr val="FFFFFF"/>
                  </a:solidFill>
                  <a:latin typeface="+mn-lt"/>
                  <a:ea typeface="+mn-ea"/>
                  <a:cs typeface="+mn-cs"/>
                </a:rPr>
                <a:t>格库</a:t>
              </a:r>
            </a:p>
          </p:txBody>
        </p:sp>
        <p:sp>
          <p:nvSpPr>
            <p:cNvPr id="75" name="TextBox 75"/>
            <p:cNvSpPr txBox="1"/>
            <p:nvPr/>
          </p:nvSpPr>
          <p:spPr>
            <a:xfrm>
              <a:off x="6657805" y="4581049"/>
              <a:ext cx="2133940" cy="190690"/>
            </a:xfrm>
            <a:prstGeom prst="rect">
              <a:avLst/>
            </a:prstGeom>
            <a:noFill/>
            <a:ln>
              <a:noFill/>
            </a:ln>
          </p:spPr>
          <p:txBody>
            <a:bodyPr wrap="none" lIns="0" tIns="0" rIns="0" bIns="0" anchor="t" anchorCtr="0">
              <a:spAutoFit/>
            </a:bodyPr>
            <a:lstStyle/>
            <a:p>
              <a:pPr algn="ctr"/>
              <a:r>
                <a:rPr lang="zh-CN" sz="980" dirty="0">
                  <a:solidFill>
                    <a:srgbClr val="D03B1D"/>
                  </a:solidFill>
                  <a:latin typeface="+mn-lt"/>
                  <a:ea typeface="+mn-ea"/>
                  <a:cs typeface="+mn-cs"/>
                </a:rPr>
                <a:t>历史/外部数据入库，快速沉淀数据​</a:t>
              </a:r>
            </a:p>
          </p:txBody>
        </p:sp>
      </p:grpSp>
      <p:grpSp>
        <p:nvGrpSpPr>
          <p:cNvPr id="87" name="layer-4-standard"/>
          <p:cNvGrpSpPr/>
          <p:nvPr/>
        </p:nvGrpSpPr>
        <p:grpSpPr>
          <a:xfrm>
            <a:off x="2990850" y="5010150"/>
            <a:ext cx="6267450" cy="1162050"/>
            <a:chOff x="2990850" y="5010150"/>
            <a:chExt cx="6267450" cy="1162050"/>
          </a:xfrm>
        </p:grpSpPr>
        <p:sp>
          <p:nvSpPr>
            <p:cNvPr id="77" name="Rectangle 77"/>
            <p:cNvSpPr/>
            <p:nvPr/>
          </p:nvSpPr>
          <p:spPr>
            <a:xfrm>
              <a:off x="2990850" y="5010150"/>
              <a:ext cx="6267450" cy="1162050"/>
            </a:xfrm>
            <a:prstGeom prst="roundRect">
              <a:avLst>
                <a:gd name="adj" fmla="val 6557"/>
              </a:avLst>
            </a:prstGeom>
            <a:gradFill>
              <a:gsLst>
                <a:gs pos="0">
                  <a:srgbClr val="E4EEFD"/>
                </a:gs>
                <a:gs pos="100000">
                  <a:srgbClr val="D2E4FE"/>
                </a:gs>
              </a:gsLst>
              <a:lin ang="5400000" scaled="1"/>
            </a:gradFill>
            <a:ln>
              <a:noFill/>
            </a:ln>
          </p:spPr>
        </p:sp>
        <p:sp>
          <p:nvSpPr>
            <p:cNvPr id="78" name="Rectangle 78"/>
            <p:cNvSpPr/>
            <p:nvPr/>
          </p:nvSpPr>
          <p:spPr>
            <a:xfrm>
              <a:off x="3295650" y="5172075"/>
              <a:ext cx="1333500" cy="533400"/>
            </a:xfrm>
            <a:prstGeom prst="roundRect">
              <a:avLst>
                <a:gd name="adj" fmla="val 10714"/>
              </a:avLst>
            </a:prstGeom>
            <a:gradFill>
              <a:gsLst>
                <a:gs pos="0">
                  <a:srgbClr val="FB684A"/>
                </a:gs>
                <a:gs pos="100000">
                  <a:srgbClr val="FA421D"/>
                </a:gs>
              </a:gsLst>
              <a:lin ang="5400000" scaled="1"/>
            </a:gradFill>
            <a:ln>
              <a:noFill/>
            </a:ln>
          </p:spPr>
        </p:sp>
        <p:sp>
          <p:nvSpPr>
            <p:cNvPr id="79" name="TextBox 79"/>
            <p:cNvSpPr txBox="1"/>
            <p:nvPr/>
          </p:nvSpPr>
          <p:spPr>
            <a:xfrm>
              <a:off x="3579749" y="5374481"/>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标准指标库</a:t>
              </a:r>
            </a:p>
          </p:txBody>
        </p:sp>
        <p:sp>
          <p:nvSpPr>
            <p:cNvPr id="80" name="Rectangle 80"/>
            <p:cNvSpPr/>
            <p:nvPr/>
          </p:nvSpPr>
          <p:spPr>
            <a:xfrm>
              <a:off x="4743450" y="5172075"/>
              <a:ext cx="1352550" cy="533400"/>
            </a:xfrm>
            <a:prstGeom prst="roundRect">
              <a:avLst>
                <a:gd name="adj" fmla="val 10714"/>
              </a:avLst>
            </a:prstGeom>
            <a:gradFill>
              <a:gsLst>
                <a:gs pos="0">
                  <a:srgbClr val="FB684A"/>
                </a:gs>
                <a:gs pos="100000">
                  <a:srgbClr val="FA421D"/>
                </a:gs>
              </a:gsLst>
              <a:lin ang="5400000" scaled="1"/>
            </a:gradFill>
            <a:ln>
              <a:noFill/>
            </a:ln>
          </p:spPr>
        </p:sp>
        <p:sp>
          <p:nvSpPr>
            <p:cNvPr id="81" name="TextBox 81"/>
            <p:cNvSpPr txBox="1"/>
            <p:nvPr/>
          </p:nvSpPr>
          <p:spPr>
            <a:xfrm>
              <a:off x="5037074" y="5374481"/>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标准清单库</a:t>
              </a:r>
            </a:p>
          </p:txBody>
        </p:sp>
        <p:sp>
          <p:nvSpPr>
            <p:cNvPr id="82" name="Rectangle 82"/>
            <p:cNvSpPr/>
            <p:nvPr/>
          </p:nvSpPr>
          <p:spPr>
            <a:xfrm>
              <a:off x="6210300" y="5172075"/>
              <a:ext cx="1333500" cy="533400"/>
            </a:xfrm>
            <a:prstGeom prst="roundRect">
              <a:avLst>
                <a:gd name="adj" fmla="val 10714"/>
              </a:avLst>
            </a:prstGeom>
            <a:gradFill>
              <a:gsLst>
                <a:gs pos="0">
                  <a:srgbClr val="FB684A"/>
                </a:gs>
                <a:gs pos="100000">
                  <a:srgbClr val="FA421D"/>
                </a:gs>
              </a:gsLst>
              <a:lin ang="5400000" scaled="1"/>
            </a:gradFill>
            <a:ln>
              <a:noFill/>
            </a:ln>
          </p:spPr>
        </p:sp>
        <p:sp>
          <p:nvSpPr>
            <p:cNvPr id="83" name="TextBox 83"/>
            <p:cNvSpPr txBox="1"/>
            <p:nvPr/>
          </p:nvSpPr>
          <p:spPr>
            <a:xfrm>
              <a:off x="6494399" y="5374481"/>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标准工料库</a:t>
              </a:r>
            </a:p>
          </p:txBody>
        </p:sp>
        <p:sp>
          <p:nvSpPr>
            <p:cNvPr id="84" name="Rectangle 84"/>
            <p:cNvSpPr/>
            <p:nvPr/>
          </p:nvSpPr>
          <p:spPr>
            <a:xfrm>
              <a:off x="7658100" y="5172075"/>
              <a:ext cx="1295400" cy="533400"/>
            </a:xfrm>
            <a:prstGeom prst="roundRect">
              <a:avLst>
                <a:gd name="adj" fmla="val 10714"/>
              </a:avLst>
            </a:prstGeom>
            <a:gradFill>
              <a:gsLst>
                <a:gs pos="0">
                  <a:srgbClr val="FB684A"/>
                </a:gs>
                <a:gs pos="100000">
                  <a:srgbClr val="FA421D"/>
                </a:gs>
              </a:gsLst>
              <a:lin ang="5400000" scaled="1"/>
            </a:gradFill>
            <a:ln>
              <a:noFill/>
            </a:ln>
          </p:spPr>
        </p:sp>
        <p:sp>
          <p:nvSpPr>
            <p:cNvPr id="85" name="TextBox 85"/>
            <p:cNvSpPr txBox="1"/>
            <p:nvPr/>
          </p:nvSpPr>
          <p:spPr>
            <a:xfrm>
              <a:off x="7923149" y="5374481"/>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作业模板库</a:t>
              </a:r>
            </a:p>
          </p:txBody>
        </p:sp>
        <p:sp>
          <p:nvSpPr>
            <p:cNvPr id="86" name="TextBox 86"/>
            <p:cNvSpPr txBox="1"/>
            <p:nvPr/>
          </p:nvSpPr>
          <p:spPr>
            <a:xfrm>
              <a:off x="4664583" y="5890260"/>
              <a:ext cx="2919984" cy="234696"/>
            </a:xfrm>
            <a:prstGeom prst="rect">
              <a:avLst/>
            </a:prstGeom>
            <a:noFill/>
            <a:ln>
              <a:noFill/>
            </a:ln>
          </p:spPr>
          <p:txBody>
            <a:bodyPr wrap="none" lIns="0" tIns="0" rIns="0" bIns="0" anchor="t" anchorCtr="0">
              <a:spAutoFit/>
            </a:bodyPr>
            <a:lstStyle/>
            <a:p>
              <a:pPr algn="ctr"/>
              <a:r>
                <a:rPr lang="zh-CN" sz="1200" dirty="0">
                  <a:solidFill>
                    <a:srgbClr val="D03B1D"/>
                  </a:solidFill>
                  <a:latin typeface="+mn-lt"/>
                  <a:ea typeface="+mn-ea"/>
                  <a:cs typeface="+mn-cs"/>
                </a:rPr>
                <a:t>企业标准建设，夯实数据聚、通、用基础</a:t>
              </a:r>
            </a:p>
          </p:txBody>
        </p:sp>
      </p:grpSp>
      <p:grpSp>
        <p:nvGrpSpPr>
          <p:cNvPr id="100" name="right-systems"/>
          <p:cNvGrpSpPr/>
          <p:nvPr/>
        </p:nvGrpSpPr>
        <p:grpSpPr>
          <a:xfrm>
            <a:off x="9315450" y="1352550"/>
            <a:ext cx="1790700" cy="4562475"/>
            <a:chOff x="9315450" y="1352550"/>
            <a:chExt cx="1790700" cy="4562475"/>
          </a:xfrm>
        </p:grpSpPr>
        <p:sp>
          <p:nvSpPr>
            <p:cNvPr id="88" name="Rectangle 88"/>
            <p:cNvSpPr/>
            <p:nvPr/>
          </p:nvSpPr>
          <p:spPr>
            <a:xfrm>
              <a:off x="9906000" y="1352550"/>
              <a:ext cx="1200150" cy="552450"/>
            </a:xfrm>
            <a:prstGeom prst="roundRect">
              <a:avLst>
                <a:gd name="adj" fmla="val 13793"/>
              </a:avLst>
            </a:prstGeom>
            <a:gradFill>
              <a:gsLst>
                <a:gs pos="0">
                  <a:srgbClr val="FB684A"/>
                </a:gs>
                <a:gs pos="100000">
                  <a:srgbClr val="FA421D"/>
                </a:gs>
              </a:gsLst>
              <a:lin ang="5400000" scaled="1"/>
            </a:gradFill>
            <a:ln>
              <a:noFill/>
            </a:ln>
          </p:spPr>
        </p:sp>
        <p:sp>
          <p:nvSpPr>
            <p:cNvPr id="89" name="TextBox 89"/>
            <p:cNvSpPr txBox="1"/>
            <p:nvPr/>
          </p:nvSpPr>
          <p:spPr>
            <a:xfrm>
              <a:off x="10180676" y="1564481"/>
              <a:ext cx="650799"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BIM平台​</a:t>
              </a:r>
            </a:p>
          </p:txBody>
        </p:sp>
        <p:sp>
          <p:nvSpPr>
            <p:cNvPr id="90" name="Rectangle 90"/>
            <p:cNvSpPr/>
            <p:nvPr/>
          </p:nvSpPr>
          <p:spPr>
            <a:xfrm>
              <a:off x="9906000" y="2343150"/>
              <a:ext cx="1200150" cy="552450"/>
            </a:xfrm>
            <a:prstGeom prst="roundRect">
              <a:avLst>
                <a:gd name="adj" fmla="val 13793"/>
              </a:avLst>
            </a:prstGeom>
            <a:gradFill>
              <a:gsLst>
                <a:gs pos="0">
                  <a:srgbClr val="FB684A"/>
                </a:gs>
                <a:gs pos="100000">
                  <a:srgbClr val="FA421D"/>
                </a:gs>
              </a:gsLst>
              <a:lin ang="5400000" scaled="1"/>
            </a:gradFill>
            <a:ln>
              <a:noFill/>
            </a:ln>
          </p:spPr>
        </p:sp>
        <p:sp>
          <p:nvSpPr>
            <p:cNvPr id="91" name="TextBox 91"/>
            <p:cNvSpPr txBox="1"/>
            <p:nvPr/>
          </p:nvSpPr>
          <p:spPr>
            <a:xfrm>
              <a:off x="10198811" y="2555081"/>
              <a:ext cx="614528"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招采系统</a:t>
              </a:r>
            </a:p>
          </p:txBody>
        </p:sp>
        <p:sp>
          <p:nvSpPr>
            <p:cNvPr id="92" name="Rectangle 92"/>
            <p:cNvSpPr/>
            <p:nvPr/>
          </p:nvSpPr>
          <p:spPr>
            <a:xfrm>
              <a:off x="9906000" y="3352800"/>
              <a:ext cx="1200150" cy="552450"/>
            </a:xfrm>
            <a:prstGeom prst="roundRect">
              <a:avLst>
                <a:gd name="adj" fmla="val 13793"/>
              </a:avLst>
            </a:prstGeom>
            <a:gradFill>
              <a:gsLst>
                <a:gs pos="0">
                  <a:srgbClr val="FB684A"/>
                </a:gs>
                <a:gs pos="100000">
                  <a:srgbClr val="FA421D"/>
                </a:gs>
              </a:gsLst>
              <a:lin ang="5400000" scaled="1"/>
            </a:gradFill>
            <a:ln>
              <a:noFill/>
            </a:ln>
          </p:spPr>
        </p:sp>
        <p:sp>
          <p:nvSpPr>
            <p:cNvPr id="93" name="TextBox 93"/>
            <p:cNvSpPr txBox="1"/>
            <p:nvPr/>
          </p:nvSpPr>
          <p:spPr>
            <a:xfrm>
              <a:off x="10048037" y="3564731"/>
              <a:ext cx="916076"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成本管理系统</a:t>
              </a:r>
            </a:p>
          </p:txBody>
        </p:sp>
        <p:sp>
          <p:nvSpPr>
            <p:cNvPr id="94" name="Rectangle 94"/>
            <p:cNvSpPr/>
            <p:nvPr/>
          </p:nvSpPr>
          <p:spPr>
            <a:xfrm>
              <a:off x="9906000" y="4343400"/>
              <a:ext cx="1200150" cy="552450"/>
            </a:xfrm>
            <a:prstGeom prst="roundRect">
              <a:avLst>
                <a:gd name="adj" fmla="val 13793"/>
              </a:avLst>
            </a:prstGeom>
            <a:gradFill>
              <a:gsLst>
                <a:gs pos="0">
                  <a:srgbClr val="FB684A"/>
                </a:gs>
                <a:gs pos="100000">
                  <a:srgbClr val="FA421D"/>
                </a:gs>
              </a:gsLst>
              <a:lin ang="5400000" scaled="1"/>
            </a:gradFill>
            <a:ln>
              <a:noFill/>
            </a:ln>
          </p:spPr>
        </p:sp>
        <p:sp>
          <p:nvSpPr>
            <p:cNvPr id="95" name="TextBox 95"/>
            <p:cNvSpPr txBox="1"/>
            <p:nvPr/>
          </p:nvSpPr>
          <p:spPr>
            <a:xfrm>
              <a:off x="10198811" y="4555331"/>
              <a:ext cx="614528"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单点登录</a:t>
              </a:r>
            </a:p>
          </p:txBody>
        </p:sp>
        <p:sp>
          <p:nvSpPr>
            <p:cNvPr id="96" name="Rectangle 96"/>
            <p:cNvSpPr/>
            <p:nvPr/>
          </p:nvSpPr>
          <p:spPr>
            <a:xfrm>
              <a:off x="9906000" y="5362575"/>
              <a:ext cx="1200150" cy="552450"/>
            </a:xfrm>
            <a:prstGeom prst="roundRect">
              <a:avLst>
                <a:gd name="adj" fmla="val 13793"/>
              </a:avLst>
            </a:prstGeom>
            <a:gradFill>
              <a:gsLst>
                <a:gs pos="0">
                  <a:srgbClr val="FB684A"/>
                </a:gs>
                <a:gs pos="100000">
                  <a:srgbClr val="FA421D"/>
                </a:gs>
              </a:gsLst>
              <a:lin ang="5400000" scaled="1"/>
            </a:gradFill>
            <a:ln>
              <a:noFill/>
            </a:ln>
          </p:spPr>
        </p:sp>
        <p:sp>
          <p:nvSpPr>
            <p:cNvPr id="97" name="TextBox 97"/>
            <p:cNvSpPr txBox="1"/>
            <p:nvPr/>
          </p:nvSpPr>
          <p:spPr>
            <a:xfrm>
              <a:off x="10417434" y="5574506"/>
              <a:ext cx="17728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a:t>
              </a:r>
            </a:p>
          </p:txBody>
        </p:sp>
        <p:sp>
          <p:nvSpPr>
            <p:cNvPr id="98" name="Freeform 98"/>
            <p:cNvSpPr/>
            <p:nvPr/>
          </p:nvSpPr>
          <p:spPr>
            <a:xfrm>
              <a:off x="9315450" y="4000500"/>
              <a:ext cx="533400" cy="133350"/>
            </a:xfrm>
            <a:prstGeom prst="rightArrow">
              <a:avLst/>
            </a:prstGeom>
            <a:solidFill>
              <a:srgbClr val="FA421D"/>
            </a:solidFill>
            <a:ln>
              <a:noFill/>
            </a:ln>
          </p:spPr>
        </p:sp>
        <p:sp>
          <p:nvSpPr>
            <p:cNvPr id="99" name="Freeform 99"/>
            <p:cNvSpPr/>
            <p:nvPr/>
          </p:nvSpPr>
          <p:spPr>
            <a:xfrm>
              <a:off x="9315450" y="4191000"/>
              <a:ext cx="533400" cy="133350"/>
            </a:xfrm>
            <a:prstGeom prst="leftArrow">
              <a:avLst/>
            </a:prstGeom>
            <a:solidFill>
              <a:srgbClr val="FA421D"/>
            </a:solidFill>
            <a:ln>
              <a:noFill/>
            </a:ln>
          </p:spPr>
        </p:sp>
      </p:gr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panel"/>
          <p:cNvSpPr/>
          <p:nvPr/>
        </p:nvSpPr>
        <p:spPr>
          <a:xfrm>
            <a:off x="171450" y="1028700"/>
            <a:ext cx="11849100" cy="5657850"/>
          </a:xfrm>
          <a:prstGeom prst="roundRect">
            <a:avLst>
              <a:gd name="adj" fmla="val 2020"/>
            </a:avLst>
          </a:prstGeom>
          <a:solidFill>
            <a:srgbClr val="FFFFFF">
              <a:alpha val="75000"/>
            </a:srgbClr>
          </a:solidFill>
          <a:ln w="14288">
            <a:solidFill>
              <a:srgbClr val="FBD2C9"/>
            </a:solidFill>
          </a:ln>
        </p:spPr>
      </p:sp>
      <p:grpSp>
        <p:nvGrpSpPr>
          <p:cNvPr id="7" name="header"/>
          <p:cNvGrpSpPr/>
          <p:nvPr/>
        </p:nvGrpSpPr>
        <p:grpSpPr>
          <a:xfrm>
            <a:off x="0" y="0"/>
            <a:ext cx="12192000" cy="551879"/>
            <a:chOff x="0" y="0"/>
            <a:chExt cx="12192000"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4" name="TextBox 4"/>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02</a:t>
              </a:r>
            </a:p>
          </p:txBody>
        </p:sp>
        <p:sp>
          <p:nvSpPr>
            <p:cNvPr id="5" name="TextBox 5"/>
            <p:cNvSpPr txBox="1"/>
            <p:nvPr/>
          </p:nvSpPr>
          <p:spPr>
            <a:xfrm>
              <a:off x="904494" y="170498"/>
              <a:ext cx="1857375"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方案系统架构图</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40" name="col-business-need"/>
          <p:cNvGrpSpPr/>
          <p:nvPr/>
        </p:nvGrpSpPr>
        <p:grpSpPr>
          <a:xfrm>
            <a:off x="390525" y="1181100"/>
            <a:ext cx="2762250" cy="4876800"/>
            <a:chOff x="390525" y="1181100"/>
            <a:chExt cx="2762250" cy="4876800"/>
          </a:xfrm>
        </p:grpSpPr>
        <p:sp>
          <p:nvSpPr>
            <p:cNvPr id="8" name="Rectangle 8"/>
            <p:cNvSpPr/>
            <p:nvPr/>
          </p:nvSpPr>
          <p:spPr>
            <a:xfrm>
              <a:off x="390525" y="1181100"/>
              <a:ext cx="2762250" cy="381000"/>
            </a:xfrm>
            <a:prstGeom prst="roundRect">
              <a:avLst>
                <a:gd name="adj" fmla="val 15000"/>
              </a:avLst>
            </a:prstGeom>
            <a:gradFill>
              <a:gsLst>
                <a:gs pos="0">
                  <a:srgbClr val="FB684A"/>
                </a:gs>
                <a:gs pos="100000">
                  <a:srgbClr val="FA421D"/>
                </a:gs>
              </a:gsLst>
              <a:lin ang="5400000" scaled="1"/>
            </a:gradFill>
            <a:ln>
              <a:noFill/>
            </a:ln>
          </p:spPr>
        </p:sp>
        <p:sp>
          <p:nvSpPr>
            <p:cNvPr id="9" name="TextBox 9"/>
            <p:cNvSpPr txBox="1"/>
            <p:nvPr/>
          </p:nvSpPr>
          <p:spPr>
            <a:xfrm>
              <a:off x="1442466" y="129921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业务需求</a:t>
              </a:r>
            </a:p>
          </p:txBody>
        </p:sp>
        <p:sp>
          <p:nvSpPr>
            <p:cNvPr id="10" name="Rectangle 10"/>
            <p:cNvSpPr/>
            <p:nvPr/>
          </p:nvSpPr>
          <p:spPr>
            <a:xfrm>
              <a:off x="457200" y="1676400"/>
              <a:ext cx="2628900" cy="1333500"/>
            </a:xfrm>
            <a:prstGeom prst="roundRect">
              <a:avLst>
                <a:gd name="adj" fmla="val 5714"/>
              </a:avLst>
            </a:prstGeom>
            <a:solidFill>
              <a:srgbClr val="EDF4FE"/>
            </a:solidFill>
            <a:ln w="9525">
              <a:solidFill>
                <a:srgbClr val="D2E4FE"/>
              </a:solidFill>
            </a:ln>
          </p:spPr>
        </p:sp>
        <p:sp>
          <p:nvSpPr>
            <p:cNvPr id="11" name="Rectangle 11"/>
            <p:cNvSpPr/>
            <p:nvPr/>
          </p:nvSpPr>
          <p:spPr>
            <a:xfrm>
              <a:off x="1200150" y="1743075"/>
              <a:ext cx="1143000" cy="247650"/>
            </a:xfrm>
            <a:prstGeom prst="roundRect">
              <a:avLst>
                <a:gd name="adj" fmla="val 50000"/>
              </a:avLst>
            </a:prstGeom>
            <a:gradFill>
              <a:gsLst>
                <a:gs pos="0">
                  <a:srgbClr val="FB684A"/>
                </a:gs>
                <a:gs pos="100000">
                  <a:srgbClr val="FA421D"/>
                </a:gs>
              </a:gsLst>
              <a:lin ang="5400000" scaled="1"/>
            </a:gradFill>
            <a:ln>
              <a:noFill/>
            </a:ln>
          </p:spPr>
        </p:sp>
        <p:sp>
          <p:nvSpPr>
            <p:cNvPr id="12" name="TextBox 12"/>
            <p:cNvSpPr txBox="1"/>
            <p:nvPr/>
          </p:nvSpPr>
          <p:spPr>
            <a:xfrm>
              <a:off x="1568806" y="1809274"/>
              <a:ext cx="405689"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按行业</a:t>
              </a:r>
            </a:p>
          </p:txBody>
        </p:sp>
        <p:sp>
          <p:nvSpPr>
            <p:cNvPr id="13" name="Rectangle 13"/>
            <p:cNvSpPr/>
            <p:nvPr/>
          </p:nvSpPr>
          <p:spPr>
            <a:xfrm>
              <a:off x="552450" y="2076450"/>
              <a:ext cx="2438400" cy="381000"/>
            </a:xfrm>
            <a:prstGeom prst="roundRect">
              <a:avLst>
                <a:gd name="adj" fmla="val 10000"/>
              </a:avLst>
            </a:prstGeom>
            <a:solidFill>
              <a:srgbClr val="FFFFFF"/>
            </a:solidFill>
            <a:ln>
              <a:noFill/>
            </a:ln>
          </p:spPr>
        </p:sp>
        <p:sp>
          <p:nvSpPr>
            <p:cNvPr id="14" name="TextBox 14"/>
            <p:cNvSpPr txBox="1"/>
            <p:nvPr/>
          </p:nvSpPr>
          <p:spPr>
            <a:xfrm>
              <a:off x="623888" y="2139791"/>
              <a:ext cx="1811147" cy="314325"/>
            </a:xfrm>
            <a:prstGeom prst="rect">
              <a:avLst/>
            </a:prstGeom>
            <a:noFill/>
            <a:ln>
              <a:noFill/>
            </a:ln>
          </p:spPr>
          <p:txBody>
            <a:bodyPr wrap="none" lIns="0" tIns="0" rIns="0" bIns="0" anchor="t" anchorCtr="0">
              <a:spAutoFit/>
            </a:bodyPr>
            <a:lstStyle/>
            <a:p>
              <a:pPr algn="l">
                <a:lnSpc>
                  <a:spcPts val="1200"/>
                </a:lnSpc>
              </a:pPr>
              <a:r>
                <a:rPr lang="zh-CN" sz="820" dirty="0">
                  <a:solidFill>
                    <a:srgbClr val="FA421D"/>
                  </a:solidFill>
                  <a:latin typeface="+mn-lt"/>
                  <a:ea typeface="+mn-ea"/>
                  <a:cs typeface="+mn-cs"/>
                </a:rPr>
                <a:t>国标分类:</a:t>
              </a:r>
              <a:r>
                <a:rPr lang="zh-CN" sz="820" dirty="0">
                  <a:solidFill>
                    <a:srgbClr val="3D241F"/>
                  </a:solidFill>
                  <a:latin typeface="+mn-lt"/>
                  <a:ea typeface="+mn-ea"/>
                  <a:cs typeface="+mn-cs"/>
                </a:rPr>
                <a:t>门类20个、大类96个、中类​</a:t>
              </a:r>
              <a:br/>
              <a:r>
                <a:rPr lang="zh-CN" sz="820" dirty="0">
                  <a:solidFill>
                    <a:srgbClr val="3D241F"/>
                  </a:solidFill>
                  <a:latin typeface="+mn-lt"/>
                  <a:ea typeface="+mn-ea"/>
                  <a:cs typeface="+mn-cs"/>
                </a:rPr>
                <a:t>425个、小类976个​</a:t>
              </a:r>
            </a:p>
          </p:txBody>
        </p:sp>
        <p:sp>
          <p:nvSpPr>
            <p:cNvPr id="15" name="Rectangle 15"/>
            <p:cNvSpPr/>
            <p:nvPr/>
          </p:nvSpPr>
          <p:spPr>
            <a:xfrm>
              <a:off x="552450" y="2514600"/>
              <a:ext cx="2438400" cy="209550"/>
            </a:xfrm>
            <a:prstGeom prst="roundRect">
              <a:avLst>
                <a:gd name="adj" fmla="val 18182"/>
              </a:avLst>
            </a:prstGeom>
            <a:solidFill>
              <a:srgbClr val="FFFFFF"/>
            </a:solidFill>
            <a:ln>
              <a:noFill/>
            </a:ln>
          </p:spPr>
        </p:sp>
        <p:sp>
          <p:nvSpPr>
            <p:cNvPr id="16" name="TextBox 16"/>
            <p:cNvSpPr txBox="1"/>
            <p:nvPr/>
          </p:nvSpPr>
          <p:spPr>
            <a:xfrm>
              <a:off x="623888" y="2577941"/>
              <a:ext cx="1577040" cy="161925"/>
            </a:xfrm>
            <a:prstGeom prst="rect">
              <a:avLst/>
            </a:prstGeom>
            <a:noFill/>
            <a:ln>
              <a:noFill/>
            </a:ln>
          </p:spPr>
          <p:txBody>
            <a:bodyPr wrap="none" lIns="0" tIns="0" rIns="0" bIns="0" anchor="t" anchorCtr="0">
              <a:spAutoFit/>
            </a:bodyPr>
            <a:lstStyle/>
            <a:p>
              <a:pPr algn="l"/>
              <a:r>
                <a:rPr lang="zh-CN" sz="820" dirty="0">
                  <a:solidFill>
                    <a:srgbClr val="FA421D"/>
                  </a:solidFill>
                  <a:latin typeface="+mn-lt"/>
                  <a:ea typeface="+mn-ea"/>
                  <a:cs typeface="+mn-cs"/>
                </a:rPr>
                <a:t>业务标签:</a:t>
              </a:r>
              <a:r>
                <a:rPr lang="zh-CN" sz="820" dirty="0">
                  <a:solidFill>
                    <a:srgbClr val="3D241F"/>
                  </a:solidFill>
                  <a:latin typeface="+mn-lt"/>
                  <a:ea typeface="+mn-ea"/>
                  <a:cs typeface="+mn-cs"/>
                </a:rPr>
                <a:t>美业、母婴、数码3c​</a:t>
              </a:r>
            </a:p>
          </p:txBody>
        </p:sp>
        <p:sp>
          <p:nvSpPr>
            <p:cNvPr id="17" name="TextBox 17"/>
            <p:cNvSpPr txBox="1"/>
            <p:nvPr/>
          </p:nvSpPr>
          <p:spPr>
            <a:xfrm>
              <a:off x="1700251" y="2817495"/>
              <a:ext cx="142799"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a:t>
              </a:r>
            </a:p>
          </p:txBody>
        </p:sp>
        <p:sp>
          <p:nvSpPr>
            <p:cNvPr id="18" name="Rectangle 18"/>
            <p:cNvSpPr/>
            <p:nvPr/>
          </p:nvSpPr>
          <p:spPr>
            <a:xfrm>
              <a:off x="457200" y="3124200"/>
              <a:ext cx="2628900" cy="1390650"/>
            </a:xfrm>
            <a:prstGeom prst="roundRect">
              <a:avLst>
                <a:gd name="adj" fmla="val 5479"/>
              </a:avLst>
            </a:prstGeom>
            <a:solidFill>
              <a:srgbClr val="EDF4FE"/>
            </a:solidFill>
            <a:ln w="9525">
              <a:solidFill>
                <a:srgbClr val="D2E4FE"/>
              </a:solidFill>
            </a:ln>
          </p:spPr>
        </p:sp>
        <p:sp>
          <p:nvSpPr>
            <p:cNvPr id="19" name="Rectangle 19"/>
            <p:cNvSpPr/>
            <p:nvPr/>
          </p:nvSpPr>
          <p:spPr>
            <a:xfrm>
              <a:off x="1200150" y="3190875"/>
              <a:ext cx="1143000" cy="247650"/>
            </a:xfrm>
            <a:prstGeom prst="roundRect">
              <a:avLst>
                <a:gd name="adj" fmla="val 50000"/>
              </a:avLst>
            </a:prstGeom>
            <a:gradFill>
              <a:gsLst>
                <a:gs pos="0">
                  <a:srgbClr val="FB684A"/>
                </a:gs>
                <a:gs pos="100000">
                  <a:srgbClr val="FA421D"/>
                </a:gs>
              </a:gsLst>
              <a:lin ang="5400000" scaled="1"/>
            </a:gradFill>
            <a:ln>
              <a:noFill/>
            </a:ln>
          </p:spPr>
        </p:sp>
        <p:sp>
          <p:nvSpPr>
            <p:cNvPr id="20" name="TextBox 20"/>
            <p:cNvSpPr txBox="1"/>
            <p:nvPr/>
          </p:nvSpPr>
          <p:spPr>
            <a:xfrm>
              <a:off x="1568806" y="3257074"/>
              <a:ext cx="405689"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按行业</a:t>
              </a:r>
            </a:p>
          </p:txBody>
        </p:sp>
        <p:sp>
          <p:nvSpPr>
            <p:cNvPr id="21" name="Rectangle 21"/>
            <p:cNvSpPr/>
            <p:nvPr/>
          </p:nvSpPr>
          <p:spPr>
            <a:xfrm>
              <a:off x="552450" y="3505200"/>
              <a:ext cx="2438400" cy="209550"/>
            </a:xfrm>
            <a:prstGeom prst="roundRect">
              <a:avLst>
                <a:gd name="adj" fmla="val 18182"/>
              </a:avLst>
            </a:prstGeom>
            <a:solidFill>
              <a:srgbClr val="FFFFFF"/>
            </a:solidFill>
            <a:ln>
              <a:noFill/>
            </a:ln>
          </p:spPr>
        </p:sp>
        <p:sp>
          <p:nvSpPr>
            <p:cNvPr id="22" name="TextBox 22"/>
            <p:cNvSpPr txBox="1"/>
            <p:nvPr/>
          </p:nvSpPr>
          <p:spPr>
            <a:xfrm>
              <a:off x="623888" y="3568541"/>
              <a:ext cx="1488730" cy="161925"/>
            </a:xfrm>
            <a:prstGeom prst="rect">
              <a:avLst/>
            </a:prstGeom>
            <a:noFill/>
            <a:ln>
              <a:noFill/>
            </a:ln>
          </p:spPr>
          <p:txBody>
            <a:bodyPr wrap="none" lIns="0" tIns="0" rIns="0" bIns="0" anchor="t" anchorCtr="0">
              <a:spAutoFit/>
            </a:bodyPr>
            <a:lstStyle/>
            <a:p>
              <a:pPr algn="l"/>
              <a:r>
                <a:rPr lang="zh-CN" sz="820" dirty="0">
                  <a:solidFill>
                    <a:srgbClr val="FA421D"/>
                  </a:solidFill>
                  <a:latin typeface="+mn-lt"/>
                  <a:ea typeface="+mn-ea"/>
                  <a:cs typeface="+mn-cs"/>
                </a:rPr>
                <a:t>省份:</a:t>
              </a:r>
              <a:r>
                <a:rPr lang="zh-CN" sz="820" dirty="0">
                  <a:solidFill>
                    <a:srgbClr val="3D241F"/>
                  </a:solidFill>
                  <a:latin typeface="+mn-lt"/>
                  <a:ea typeface="+mn-ea"/>
                  <a:cs typeface="+mn-cs"/>
                </a:rPr>
                <a:t>23省,5自治区,4直辖市​</a:t>
              </a:r>
            </a:p>
          </p:txBody>
        </p:sp>
        <p:sp>
          <p:nvSpPr>
            <p:cNvPr id="23" name="Rectangle 23"/>
            <p:cNvSpPr/>
            <p:nvPr/>
          </p:nvSpPr>
          <p:spPr>
            <a:xfrm>
              <a:off x="552450" y="3752850"/>
              <a:ext cx="2438400" cy="209550"/>
            </a:xfrm>
            <a:prstGeom prst="roundRect">
              <a:avLst>
                <a:gd name="adj" fmla="val 18182"/>
              </a:avLst>
            </a:prstGeom>
            <a:solidFill>
              <a:srgbClr val="FFFFFF"/>
            </a:solidFill>
            <a:ln>
              <a:noFill/>
            </a:ln>
          </p:spPr>
        </p:sp>
        <p:sp>
          <p:nvSpPr>
            <p:cNvPr id="24" name="TextBox 24"/>
            <p:cNvSpPr txBox="1"/>
            <p:nvPr/>
          </p:nvSpPr>
          <p:spPr>
            <a:xfrm>
              <a:off x="623888" y="3816191"/>
              <a:ext cx="1637754" cy="161925"/>
            </a:xfrm>
            <a:prstGeom prst="rect">
              <a:avLst/>
            </a:prstGeom>
            <a:noFill/>
            <a:ln>
              <a:noFill/>
            </a:ln>
          </p:spPr>
          <p:txBody>
            <a:bodyPr wrap="none" lIns="0" tIns="0" rIns="0" bIns="0" anchor="t" anchorCtr="0">
              <a:spAutoFit/>
            </a:bodyPr>
            <a:lstStyle/>
            <a:p>
              <a:pPr algn="l"/>
              <a:r>
                <a:rPr lang="zh-CN" sz="820" dirty="0">
                  <a:solidFill>
                    <a:srgbClr val="FA421D"/>
                  </a:solidFill>
                  <a:latin typeface="+mn-lt"/>
                  <a:ea typeface="+mn-ea"/>
                  <a:cs typeface="+mn-cs"/>
                </a:rPr>
                <a:t>城市:</a:t>
              </a:r>
              <a:r>
                <a:rPr lang="zh-CN" sz="820" dirty="0">
                  <a:solidFill>
                    <a:srgbClr val="3D241F"/>
                  </a:solidFill>
                  <a:latin typeface="+mn-lt"/>
                  <a:ea typeface="+mn-ea"/>
                  <a:cs typeface="+mn-cs"/>
                </a:rPr>
                <a:t>超过330个地级市、自治州​</a:t>
              </a:r>
            </a:p>
          </p:txBody>
        </p:sp>
        <p:sp>
          <p:nvSpPr>
            <p:cNvPr id="25" name="Rectangle 25"/>
            <p:cNvSpPr/>
            <p:nvPr/>
          </p:nvSpPr>
          <p:spPr>
            <a:xfrm>
              <a:off x="552450" y="4000500"/>
              <a:ext cx="2438400" cy="209550"/>
            </a:xfrm>
            <a:prstGeom prst="roundRect">
              <a:avLst>
                <a:gd name="adj" fmla="val 18182"/>
              </a:avLst>
            </a:prstGeom>
            <a:solidFill>
              <a:srgbClr val="FFFFFF"/>
            </a:solidFill>
            <a:ln>
              <a:noFill/>
            </a:ln>
          </p:spPr>
        </p:sp>
        <p:sp>
          <p:nvSpPr>
            <p:cNvPr id="26" name="TextBox 26"/>
            <p:cNvSpPr txBox="1"/>
            <p:nvPr/>
          </p:nvSpPr>
          <p:spPr>
            <a:xfrm>
              <a:off x="623888" y="4063841"/>
              <a:ext cx="1367302" cy="161925"/>
            </a:xfrm>
            <a:prstGeom prst="rect">
              <a:avLst/>
            </a:prstGeom>
            <a:noFill/>
            <a:ln>
              <a:noFill/>
            </a:ln>
          </p:spPr>
          <p:txBody>
            <a:bodyPr wrap="none" lIns="0" tIns="0" rIns="0" bIns="0" anchor="t" anchorCtr="0">
              <a:spAutoFit/>
            </a:bodyPr>
            <a:lstStyle/>
            <a:p>
              <a:pPr algn="l"/>
              <a:r>
                <a:rPr lang="zh-CN" sz="820" dirty="0">
                  <a:solidFill>
                    <a:srgbClr val="FA421D"/>
                  </a:solidFill>
                  <a:latin typeface="+mn-lt"/>
                  <a:ea typeface="+mn-ea"/>
                  <a:cs typeface="+mn-cs"/>
                </a:rPr>
                <a:t>区县:</a:t>
              </a:r>
              <a:r>
                <a:rPr lang="zh-CN" sz="820" dirty="0">
                  <a:solidFill>
                    <a:srgbClr val="3D241F"/>
                  </a:solidFill>
                  <a:latin typeface="+mn-lt"/>
                  <a:ea typeface="+mn-ea"/>
                  <a:cs typeface="+mn-cs"/>
                </a:rPr>
                <a:t>超过2800个区县、镇​</a:t>
              </a:r>
            </a:p>
          </p:txBody>
        </p:sp>
        <p:sp>
          <p:nvSpPr>
            <p:cNvPr id="27" name="Rectangle 27"/>
            <p:cNvSpPr/>
            <p:nvPr/>
          </p:nvSpPr>
          <p:spPr>
            <a:xfrm>
              <a:off x="552450" y="4248150"/>
              <a:ext cx="2438400" cy="209550"/>
            </a:xfrm>
            <a:prstGeom prst="roundRect">
              <a:avLst>
                <a:gd name="adj" fmla="val 18182"/>
              </a:avLst>
            </a:prstGeom>
            <a:solidFill>
              <a:srgbClr val="FFFFFF"/>
            </a:solidFill>
            <a:ln>
              <a:noFill/>
            </a:ln>
          </p:spPr>
        </p:sp>
        <p:sp>
          <p:nvSpPr>
            <p:cNvPr id="28" name="TextBox 28"/>
            <p:cNvSpPr txBox="1"/>
            <p:nvPr/>
          </p:nvSpPr>
          <p:spPr>
            <a:xfrm>
              <a:off x="623888" y="4311491"/>
              <a:ext cx="1135487" cy="161925"/>
            </a:xfrm>
            <a:prstGeom prst="rect">
              <a:avLst/>
            </a:prstGeom>
            <a:noFill/>
            <a:ln>
              <a:noFill/>
            </a:ln>
          </p:spPr>
          <p:txBody>
            <a:bodyPr wrap="none" lIns="0" tIns="0" rIns="0" bIns="0" anchor="t" anchorCtr="0">
              <a:spAutoFit/>
            </a:bodyPr>
            <a:lstStyle/>
            <a:p>
              <a:pPr algn="l"/>
              <a:r>
                <a:rPr lang="zh-CN" sz="820" dirty="0">
                  <a:solidFill>
                    <a:srgbClr val="FA421D"/>
                  </a:solidFill>
                  <a:latin typeface="+mn-lt"/>
                  <a:ea typeface="+mn-ea"/>
                  <a:cs typeface="+mn-cs"/>
                </a:rPr>
                <a:t>街道:</a:t>
              </a:r>
              <a:r>
                <a:rPr lang="zh-CN" sz="820" dirty="0">
                  <a:solidFill>
                    <a:srgbClr val="3D241F"/>
                  </a:solidFill>
                  <a:latin typeface="+mn-lt"/>
                  <a:ea typeface="+mn-ea"/>
                  <a:cs typeface="+mn-cs"/>
                </a:rPr>
                <a:t>超过66万条街道​</a:t>
              </a:r>
            </a:p>
          </p:txBody>
        </p:sp>
        <p:sp>
          <p:nvSpPr>
            <p:cNvPr id="29" name="Rectangle 29"/>
            <p:cNvSpPr/>
            <p:nvPr/>
          </p:nvSpPr>
          <p:spPr>
            <a:xfrm>
              <a:off x="457200" y="4629150"/>
              <a:ext cx="2628900" cy="1428750"/>
            </a:xfrm>
            <a:prstGeom prst="roundRect">
              <a:avLst>
                <a:gd name="adj" fmla="val 5333"/>
              </a:avLst>
            </a:prstGeom>
            <a:solidFill>
              <a:srgbClr val="EDF4FE"/>
            </a:solidFill>
            <a:ln w="9525">
              <a:solidFill>
                <a:srgbClr val="D2E4FE"/>
              </a:solidFill>
            </a:ln>
          </p:spPr>
        </p:sp>
        <p:sp>
          <p:nvSpPr>
            <p:cNvPr id="30" name="Rectangle 30"/>
            <p:cNvSpPr/>
            <p:nvPr/>
          </p:nvSpPr>
          <p:spPr>
            <a:xfrm>
              <a:off x="1200150" y="4695825"/>
              <a:ext cx="1143000" cy="247650"/>
            </a:xfrm>
            <a:prstGeom prst="roundRect">
              <a:avLst>
                <a:gd name="adj" fmla="val 50000"/>
              </a:avLst>
            </a:prstGeom>
            <a:gradFill>
              <a:gsLst>
                <a:gs pos="0">
                  <a:srgbClr val="FB684A"/>
                </a:gs>
                <a:gs pos="100000">
                  <a:srgbClr val="FA421D"/>
                </a:gs>
              </a:gsLst>
              <a:lin ang="5400000" scaled="1"/>
            </a:gradFill>
            <a:ln>
              <a:noFill/>
            </a:ln>
          </p:spPr>
        </p:sp>
        <p:sp>
          <p:nvSpPr>
            <p:cNvPr id="31" name="TextBox 31"/>
            <p:cNvSpPr txBox="1"/>
            <p:nvPr/>
          </p:nvSpPr>
          <p:spPr>
            <a:xfrm>
              <a:off x="1568806" y="4762024"/>
              <a:ext cx="405689"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按行业</a:t>
              </a:r>
            </a:p>
          </p:txBody>
        </p:sp>
        <p:sp>
          <p:nvSpPr>
            <p:cNvPr id="32" name="Rectangle 32"/>
            <p:cNvSpPr/>
            <p:nvPr/>
          </p:nvSpPr>
          <p:spPr>
            <a:xfrm>
              <a:off x="552450" y="5010150"/>
              <a:ext cx="1181100" cy="209550"/>
            </a:xfrm>
            <a:prstGeom prst="roundRect">
              <a:avLst>
                <a:gd name="adj" fmla="val 18182"/>
              </a:avLst>
            </a:prstGeom>
            <a:solidFill>
              <a:srgbClr val="FFFFFF"/>
            </a:solidFill>
            <a:ln>
              <a:noFill/>
            </a:ln>
          </p:spPr>
        </p:sp>
        <p:sp>
          <p:nvSpPr>
            <p:cNvPr id="33" name="TextBox 33"/>
            <p:cNvSpPr txBox="1"/>
            <p:nvPr/>
          </p:nvSpPr>
          <p:spPr>
            <a:xfrm>
              <a:off x="604838" y="5073491"/>
              <a:ext cx="732569" cy="161925"/>
            </a:xfrm>
            <a:prstGeom prst="rect">
              <a:avLst/>
            </a:prstGeom>
            <a:noFill/>
            <a:ln>
              <a:noFill/>
            </a:ln>
          </p:spPr>
          <p:txBody>
            <a:bodyPr wrap="none" lIns="0" tIns="0" rIns="0" bIns="0" anchor="t" anchorCtr="0">
              <a:spAutoFit/>
            </a:bodyPr>
            <a:lstStyle/>
            <a:p>
              <a:pPr algn="l"/>
              <a:r>
                <a:rPr lang="zh-CN" sz="820" dirty="0">
                  <a:solidFill>
                    <a:srgbClr val="FA421D"/>
                  </a:solidFill>
                  <a:latin typeface="+mn-lt"/>
                  <a:ea typeface="+mn-ea"/>
                  <a:cs typeface="+mn-cs"/>
                </a:rPr>
                <a:t>电商平台:</a:t>
              </a:r>
              <a:r>
                <a:rPr lang="zh-CN" sz="820" dirty="0">
                  <a:solidFill>
                    <a:srgbClr val="3D241F"/>
                  </a:solidFill>
                  <a:latin typeface="+mn-lt"/>
                  <a:ea typeface="+mn-ea"/>
                  <a:cs typeface="+mn-cs"/>
                </a:rPr>
                <a:t>天猫</a:t>
              </a:r>
            </a:p>
          </p:txBody>
        </p:sp>
        <p:sp>
          <p:nvSpPr>
            <p:cNvPr id="34" name="Rectangle 34"/>
            <p:cNvSpPr/>
            <p:nvPr/>
          </p:nvSpPr>
          <p:spPr>
            <a:xfrm>
              <a:off x="1809750" y="5010150"/>
              <a:ext cx="1181100" cy="209550"/>
            </a:xfrm>
            <a:prstGeom prst="roundRect">
              <a:avLst>
                <a:gd name="adj" fmla="val 18182"/>
              </a:avLst>
            </a:prstGeom>
            <a:solidFill>
              <a:srgbClr val="FFFFFF"/>
            </a:solidFill>
            <a:ln>
              <a:noFill/>
            </a:ln>
          </p:spPr>
        </p:sp>
        <p:sp>
          <p:nvSpPr>
            <p:cNvPr id="35" name="TextBox 35"/>
            <p:cNvSpPr txBox="1"/>
            <p:nvPr/>
          </p:nvSpPr>
          <p:spPr>
            <a:xfrm>
              <a:off x="1862138" y="5073491"/>
              <a:ext cx="953346" cy="161925"/>
            </a:xfrm>
            <a:prstGeom prst="rect">
              <a:avLst/>
            </a:prstGeom>
            <a:noFill/>
            <a:ln>
              <a:noFill/>
            </a:ln>
          </p:spPr>
          <p:txBody>
            <a:bodyPr wrap="none" lIns="0" tIns="0" rIns="0" bIns="0" anchor="t" anchorCtr="0">
              <a:spAutoFit/>
            </a:bodyPr>
            <a:lstStyle/>
            <a:p>
              <a:pPr algn="l"/>
              <a:r>
                <a:rPr lang="zh-CN" sz="820" dirty="0">
                  <a:solidFill>
                    <a:srgbClr val="FA421D"/>
                  </a:solidFill>
                  <a:latin typeface="+mn-lt"/>
                  <a:ea typeface="+mn-ea"/>
                  <a:cs typeface="+mn-cs"/>
                </a:rPr>
                <a:t>主营商品:</a:t>
              </a:r>
              <a:r>
                <a:rPr lang="zh-CN" sz="820" dirty="0">
                  <a:solidFill>
                    <a:srgbClr val="3D241F"/>
                  </a:solidFill>
                  <a:latin typeface="+mn-lt"/>
                  <a:ea typeface="+mn-ea"/>
                  <a:cs typeface="+mn-cs"/>
                </a:rPr>
                <a:t>手机配件</a:t>
              </a:r>
            </a:p>
          </p:txBody>
        </p:sp>
        <p:sp>
          <p:nvSpPr>
            <p:cNvPr id="36" name="Rectangle 36"/>
            <p:cNvSpPr/>
            <p:nvPr/>
          </p:nvSpPr>
          <p:spPr>
            <a:xfrm>
              <a:off x="552450" y="5276850"/>
              <a:ext cx="2438400" cy="209550"/>
            </a:xfrm>
            <a:prstGeom prst="roundRect">
              <a:avLst>
                <a:gd name="adj" fmla="val 18182"/>
              </a:avLst>
            </a:prstGeom>
            <a:solidFill>
              <a:srgbClr val="FFFFFF"/>
            </a:solidFill>
            <a:ln>
              <a:noFill/>
            </a:ln>
          </p:spPr>
        </p:sp>
        <p:sp>
          <p:nvSpPr>
            <p:cNvPr id="37" name="TextBox 37"/>
            <p:cNvSpPr txBox="1"/>
            <p:nvPr/>
          </p:nvSpPr>
          <p:spPr>
            <a:xfrm>
              <a:off x="623888" y="5340191"/>
              <a:ext cx="1096851" cy="161925"/>
            </a:xfrm>
            <a:prstGeom prst="rect">
              <a:avLst/>
            </a:prstGeom>
            <a:noFill/>
            <a:ln>
              <a:noFill/>
            </a:ln>
          </p:spPr>
          <p:txBody>
            <a:bodyPr wrap="none" lIns="0" tIns="0" rIns="0" bIns="0" anchor="t" anchorCtr="0">
              <a:spAutoFit/>
            </a:bodyPr>
            <a:lstStyle/>
            <a:p>
              <a:pPr algn="l"/>
              <a:r>
                <a:rPr lang="zh-CN" sz="820" dirty="0">
                  <a:solidFill>
                    <a:srgbClr val="FA421D"/>
                  </a:solidFill>
                  <a:latin typeface="+mn-lt"/>
                  <a:ea typeface="+mn-ea"/>
                  <a:cs typeface="+mn-cs"/>
                </a:rPr>
                <a:t>月销量:</a:t>
              </a:r>
              <a:r>
                <a:rPr lang="zh-CN" sz="820" dirty="0">
                  <a:solidFill>
                    <a:srgbClr val="3D241F"/>
                  </a:solidFill>
                  <a:latin typeface="+mn-lt"/>
                  <a:ea typeface="+mn-ea"/>
                  <a:cs typeface="+mn-cs"/>
                </a:rPr>
                <a:t>10000件以上​</a:t>
              </a:r>
            </a:p>
          </p:txBody>
        </p:sp>
        <p:sp>
          <p:nvSpPr>
            <p:cNvPr id="38" name="Rectangle 38"/>
            <p:cNvSpPr/>
            <p:nvPr/>
          </p:nvSpPr>
          <p:spPr>
            <a:xfrm>
              <a:off x="552450" y="5543550"/>
              <a:ext cx="2438400" cy="209550"/>
            </a:xfrm>
            <a:prstGeom prst="roundRect">
              <a:avLst>
                <a:gd name="adj" fmla="val 18182"/>
              </a:avLst>
            </a:prstGeom>
            <a:solidFill>
              <a:srgbClr val="FFFFFF"/>
            </a:solidFill>
            <a:ln>
              <a:noFill/>
            </a:ln>
          </p:spPr>
        </p:sp>
        <p:sp>
          <p:nvSpPr>
            <p:cNvPr id="39" name="TextBox 39"/>
            <p:cNvSpPr txBox="1"/>
            <p:nvPr/>
          </p:nvSpPr>
          <p:spPr>
            <a:xfrm>
              <a:off x="623888" y="5606891"/>
              <a:ext cx="1615676" cy="161925"/>
            </a:xfrm>
            <a:prstGeom prst="rect">
              <a:avLst/>
            </a:prstGeom>
            <a:noFill/>
            <a:ln>
              <a:noFill/>
            </a:ln>
          </p:spPr>
          <p:txBody>
            <a:bodyPr wrap="none" lIns="0" tIns="0" rIns="0" bIns="0" anchor="t" anchorCtr="0">
              <a:spAutoFit/>
            </a:bodyPr>
            <a:lstStyle/>
            <a:p>
              <a:pPr algn="l"/>
              <a:r>
                <a:rPr lang="zh-CN" sz="820" dirty="0">
                  <a:solidFill>
                    <a:srgbClr val="FA421D"/>
                  </a:solidFill>
                  <a:latin typeface="+mn-lt"/>
                  <a:ea typeface="+mn-ea"/>
                  <a:cs typeface="+mn-cs"/>
                </a:rPr>
                <a:t>招聘岗位:</a:t>
              </a:r>
              <a:r>
                <a:rPr lang="zh-CN" sz="820" dirty="0">
                  <a:solidFill>
                    <a:srgbClr val="3D241F"/>
                  </a:solidFill>
                  <a:latin typeface="+mn-lt"/>
                  <a:ea typeface="+mn-ea"/>
                  <a:cs typeface="+mn-cs"/>
                </a:rPr>
                <a:t>客服、采购、渠道经理</a:t>
              </a:r>
            </a:p>
          </p:txBody>
        </p:sp>
      </p:grpSp>
      <p:grpSp>
        <p:nvGrpSpPr>
          <p:cNvPr id="104" name="col-knowledge-graph"/>
          <p:cNvGrpSpPr/>
          <p:nvPr/>
        </p:nvGrpSpPr>
        <p:grpSpPr>
          <a:xfrm>
            <a:off x="3276600" y="1181100"/>
            <a:ext cx="2762250" cy="5372100"/>
            <a:chOff x="3276600" y="1181100"/>
            <a:chExt cx="2762250" cy="5372100"/>
          </a:xfrm>
        </p:grpSpPr>
        <p:sp>
          <p:nvSpPr>
            <p:cNvPr id="41" name="Rectangle 41"/>
            <p:cNvSpPr/>
            <p:nvPr/>
          </p:nvSpPr>
          <p:spPr>
            <a:xfrm>
              <a:off x="3276600" y="1181100"/>
              <a:ext cx="2762250" cy="381000"/>
            </a:xfrm>
            <a:prstGeom prst="roundRect">
              <a:avLst>
                <a:gd name="adj" fmla="val 15000"/>
              </a:avLst>
            </a:prstGeom>
            <a:gradFill>
              <a:gsLst>
                <a:gs pos="0">
                  <a:srgbClr val="FB684A"/>
                </a:gs>
                <a:gs pos="100000">
                  <a:srgbClr val="FA421D"/>
                </a:gs>
              </a:gsLst>
              <a:lin ang="5400000" scaled="1"/>
            </a:gradFill>
            <a:ln>
              <a:noFill/>
            </a:ln>
          </p:spPr>
        </p:sp>
        <p:sp>
          <p:nvSpPr>
            <p:cNvPr id="42" name="TextBox 42"/>
            <p:cNvSpPr txBox="1"/>
            <p:nvPr/>
          </p:nvSpPr>
          <p:spPr>
            <a:xfrm>
              <a:off x="4005453" y="1299210"/>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探迹企业知识图谱</a:t>
              </a:r>
            </a:p>
          </p:txBody>
        </p:sp>
        <p:sp>
          <p:nvSpPr>
            <p:cNvPr id="43" name="Rectangle 43"/>
            <p:cNvSpPr/>
            <p:nvPr/>
          </p:nvSpPr>
          <p:spPr>
            <a:xfrm>
              <a:off x="3343275" y="1676400"/>
              <a:ext cx="2628900" cy="1905000"/>
            </a:xfrm>
            <a:prstGeom prst="roundRect">
              <a:avLst>
                <a:gd name="adj" fmla="val 4000"/>
              </a:avLst>
            </a:prstGeom>
            <a:solidFill>
              <a:srgbClr val="EDF4FE"/>
            </a:solidFill>
            <a:ln w="9525">
              <a:solidFill>
                <a:srgbClr val="D2E4FE"/>
              </a:solidFill>
            </a:ln>
          </p:spPr>
        </p:sp>
        <p:sp>
          <p:nvSpPr>
            <p:cNvPr id="44" name="Rectangle 44"/>
            <p:cNvSpPr/>
            <p:nvPr/>
          </p:nvSpPr>
          <p:spPr>
            <a:xfrm>
              <a:off x="3438525" y="1752600"/>
              <a:ext cx="2438400" cy="266700"/>
            </a:xfrm>
            <a:prstGeom prst="roundRect">
              <a:avLst>
                <a:gd name="adj" fmla="val 21429"/>
              </a:avLst>
            </a:prstGeom>
            <a:gradFill>
              <a:gsLst>
                <a:gs pos="0">
                  <a:srgbClr val="FB684A"/>
                </a:gs>
                <a:gs pos="100000">
                  <a:srgbClr val="FA421D"/>
                </a:gs>
              </a:gsLst>
              <a:lin ang="5400000" scaled="1"/>
            </a:gradFill>
            <a:ln>
              <a:noFill/>
            </a:ln>
          </p:spPr>
        </p:sp>
        <p:sp>
          <p:nvSpPr>
            <p:cNvPr id="45" name="TextBox 45"/>
            <p:cNvSpPr txBox="1"/>
            <p:nvPr/>
          </p:nvSpPr>
          <p:spPr>
            <a:xfrm>
              <a:off x="4264410" y="1837849"/>
              <a:ext cx="78663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1.6亿+企业​</a:t>
              </a:r>
            </a:p>
          </p:txBody>
        </p:sp>
        <p:sp>
          <p:nvSpPr>
            <p:cNvPr id="46" name="TextBox 46"/>
            <p:cNvSpPr txBox="1"/>
            <p:nvPr/>
          </p:nvSpPr>
          <p:spPr>
            <a:xfrm>
              <a:off x="3855529" y="2112645"/>
              <a:ext cx="251841" cy="176212"/>
            </a:xfrm>
            <a:prstGeom prst="rect">
              <a:avLst/>
            </a:prstGeom>
            <a:noFill/>
            <a:ln>
              <a:noFill/>
            </a:ln>
          </p:spPr>
          <p:txBody>
            <a:bodyPr wrap="none" lIns="0" tIns="0" rIns="0" bIns="0" anchor="t" anchorCtr="0">
              <a:spAutoFit/>
            </a:bodyPr>
            <a:lstStyle/>
            <a:p>
              <a:pPr algn="ctr"/>
              <a:r>
                <a:rPr lang="zh-CN" sz="900" b="1" dirty="0">
                  <a:solidFill>
                    <a:srgbClr val="FA421D"/>
                  </a:solidFill>
                  <a:latin typeface="+mn-lt"/>
                  <a:ea typeface="+mn-ea"/>
                  <a:cs typeface="+mn-cs"/>
                </a:rPr>
                <a:t>地区</a:t>
              </a:r>
            </a:p>
          </p:txBody>
        </p:sp>
        <p:sp>
          <p:nvSpPr>
            <p:cNvPr id="47" name="TextBox 47"/>
            <p:cNvSpPr txBox="1"/>
            <p:nvPr/>
          </p:nvSpPr>
          <p:spPr>
            <a:xfrm>
              <a:off x="5208080" y="2112645"/>
              <a:ext cx="251841" cy="176212"/>
            </a:xfrm>
            <a:prstGeom prst="rect">
              <a:avLst/>
            </a:prstGeom>
            <a:noFill/>
            <a:ln>
              <a:noFill/>
            </a:ln>
          </p:spPr>
          <p:txBody>
            <a:bodyPr wrap="none" lIns="0" tIns="0" rIns="0" bIns="0" anchor="t" anchorCtr="0">
              <a:spAutoFit/>
            </a:bodyPr>
            <a:lstStyle/>
            <a:p>
              <a:pPr algn="ctr"/>
              <a:r>
                <a:rPr lang="zh-CN" sz="900" b="1" dirty="0">
                  <a:solidFill>
                    <a:srgbClr val="FA421D"/>
                  </a:solidFill>
                  <a:latin typeface="+mn-lt"/>
                  <a:ea typeface="+mn-ea"/>
                  <a:cs typeface="+mn-cs"/>
                </a:rPr>
                <a:t>行业</a:t>
              </a:r>
            </a:p>
          </p:txBody>
        </p:sp>
        <p:sp>
          <p:nvSpPr>
            <p:cNvPr id="48" name="Line 48"/>
            <p:cNvSpPr/>
            <p:nvPr/>
          </p:nvSpPr>
          <p:spPr>
            <a:xfrm>
              <a:off x="3438525" y="2266950"/>
              <a:ext cx="2438400" cy="9525"/>
            </a:xfrm>
            <a:custGeom>
              <a:avLst/>
              <a:gdLst/>
              <a:ahLst/>
              <a:cxnLst/>
              <a:rect l="l" t="t" r="r" b="b"/>
              <a:pathLst>
                <a:path w="2438400" h="9525">
                  <a:moveTo>
                    <a:pt x="0" y="0"/>
                  </a:moveTo>
                  <a:lnTo>
                    <a:pt x="2438400" y="0"/>
                  </a:lnTo>
                </a:path>
              </a:pathLst>
            </a:custGeom>
            <a:noFill/>
            <a:ln w="9525">
              <a:solidFill>
                <a:srgbClr val="FA421D"/>
              </a:solidFill>
            </a:ln>
          </p:spPr>
        </p:sp>
        <p:sp>
          <p:nvSpPr>
            <p:cNvPr id="49" name="Line 49"/>
            <p:cNvSpPr/>
            <p:nvPr/>
          </p:nvSpPr>
          <p:spPr>
            <a:xfrm>
              <a:off x="4657725" y="2095500"/>
              <a:ext cx="9525" cy="1390650"/>
            </a:xfrm>
            <a:custGeom>
              <a:avLst/>
              <a:gdLst/>
              <a:ahLst/>
              <a:cxnLst/>
              <a:rect l="l" t="t" r="r" b="b"/>
              <a:pathLst>
                <a:path w="9525" h="1390650">
                  <a:moveTo>
                    <a:pt x="0" y="0"/>
                  </a:moveTo>
                  <a:lnTo>
                    <a:pt x="0" y="1390650"/>
                  </a:lnTo>
                </a:path>
              </a:pathLst>
            </a:custGeom>
            <a:noFill/>
            <a:ln w="9525">
              <a:solidFill>
                <a:srgbClr val="D2E4FE"/>
              </a:solidFill>
            </a:ln>
          </p:spPr>
        </p:sp>
        <p:sp>
          <p:nvSpPr>
            <p:cNvPr id="50" name="TextBox 50"/>
            <p:cNvSpPr txBox="1"/>
            <p:nvPr/>
          </p:nvSpPr>
          <p:spPr>
            <a:xfrm>
              <a:off x="3538538" y="234934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北京</a:t>
              </a:r>
            </a:p>
          </p:txBody>
        </p:sp>
        <p:sp>
          <p:nvSpPr>
            <p:cNvPr id="51" name="TextBox 51"/>
            <p:cNvSpPr txBox="1"/>
            <p:nvPr/>
          </p:nvSpPr>
          <p:spPr>
            <a:xfrm>
              <a:off x="4043362" y="234934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245万</a:t>
              </a:r>
            </a:p>
          </p:txBody>
        </p:sp>
        <p:sp>
          <p:nvSpPr>
            <p:cNvPr id="52" name="TextBox 52"/>
            <p:cNvSpPr txBox="1"/>
            <p:nvPr/>
          </p:nvSpPr>
          <p:spPr>
            <a:xfrm>
              <a:off x="4757738" y="2349341"/>
              <a:ext cx="340690"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制造业</a:t>
              </a:r>
            </a:p>
          </p:txBody>
        </p:sp>
        <p:sp>
          <p:nvSpPr>
            <p:cNvPr id="53" name="TextBox 53"/>
            <p:cNvSpPr txBox="1"/>
            <p:nvPr/>
          </p:nvSpPr>
          <p:spPr>
            <a:xfrm>
              <a:off x="5329238" y="2349341"/>
              <a:ext cx="362768"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509万​</a:t>
              </a:r>
            </a:p>
          </p:txBody>
        </p:sp>
        <p:sp>
          <p:nvSpPr>
            <p:cNvPr id="54" name="TextBox 54"/>
            <p:cNvSpPr txBox="1"/>
            <p:nvPr/>
          </p:nvSpPr>
          <p:spPr>
            <a:xfrm>
              <a:off x="3538538" y="257794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上海</a:t>
              </a:r>
            </a:p>
          </p:txBody>
        </p:sp>
        <p:sp>
          <p:nvSpPr>
            <p:cNvPr id="55" name="TextBox 55"/>
            <p:cNvSpPr txBox="1"/>
            <p:nvPr/>
          </p:nvSpPr>
          <p:spPr>
            <a:xfrm>
              <a:off x="4043362" y="257794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296万</a:t>
              </a:r>
            </a:p>
          </p:txBody>
        </p:sp>
        <p:sp>
          <p:nvSpPr>
            <p:cNvPr id="56" name="TextBox 56"/>
            <p:cNvSpPr txBox="1"/>
            <p:nvPr/>
          </p:nvSpPr>
          <p:spPr>
            <a:xfrm>
              <a:off x="4757738" y="2577941"/>
              <a:ext cx="340690"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房地产</a:t>
              </a:r>
            </a:p>
          </p:txBody>
        </p:sp>
        <p:sp>
          <p:nvSpPr>
            <p:cNvPr id="57" name="TextBox 57"/>
            <p:cNvSpPr txBox="1"/>
            <p:nvPr/>
          </p:nvSpPr>
          <p:spPr>
            <a:xfrm>
              <a:off x="5329238" y="257794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90万​</a:t>
              </a:r>
            </a:p>
          </p:txBody>
        </p:sp>
        <p:sp>
          <p:nvSpPr>
            <p:cNvPr id="58" name="TextBox 58"/>
            <p:cNvSpPr txBox="1"/>
            <p:nvPr/>
          </p:nvSpPr>
          <p:spPr>
            <a:xfrm>
              <a:off x="3538538" y="280654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广东</a:t>
              </a:r>
            </a:p>
          </p:txBody>
        </p:sp>
        <p:sp>
          <p:nvSpPr>
            <p:cNvPr id="59" name="TextBox 59"/>
            <p:cNvSpPr txBox="1"/>
            <p:nvPr/>
          </p:nvSpPr>
          <p:spPr>
            <a:xfrm>
              <a:off x="4043362" y="2806541"/>
              <a:ext cx="362768"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1005万</a:t>
              </a:r>
            </a:p>
          </p:txBody>
        </p:sp>
        <p:sp>
          <p:nvSpPr>
            <p:cNvPr id="60" name="TextBox 60"/>
            <p:cNvSpPr txBox="1"/>
            <p:nvPr/>
          </p:nvSpPr>
          <p:spPr>
            <a:xfrm>
              <a:off x="4757738" y="2806541"/>
              <a:ext cx="340690"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互联网</a:t>
              </a:r>
            </a:p>
          </p:txBody>
        </p:sp>
        <p:sp>
          <p:nvSpPr>
            <p:cNvPr id="61" name="TextBox 61"/>
            <p:cNvSpPr txBox="1"/>
            <p:nvPr/>
          </p:nvSpPr>
          <p:spPr>
            <a:xfrm>
              <a:off x="5329238" y="2806541"/>
              <a:ext cx="362768"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133万​</a:t>
              </a:r>
            </a:p>
          </p:txBody>
        </p:sp>
        <p:sp>
          <p:nvSpPr>
            <p:cNvPr id="62" name="Rectangle 62"/>
            <p:cNvSpPr/>
            <p:nvPr/>
          </p:nvSpPr>
          <p:spPr>
            <a:xfrm>
              <a:off x="3438525" y="2971800"/>
              <a:ext cx="2438400" cy="209550"/>
            </a:xfrm>
            <a:prstGeom prst="roundRect">
              <a:avLst>
                <a:gd name="adj" fmla="val 13636"/>
              </a:avLst>
            </a:prstGeom>
            <a:gradFill>
              <a:gsLst>
                <a:gs pos="0">
                  <a:srgbClr val="FB684A"/>
                </a:gs>
                <a:gs pos="100000">
                  <a:srgbClr val="FA421D"/>
                </a:gs>
              </a:gsLst>
              <a:lin ang="5400000" scaled="1"/>
            </a:gradFill>
            <a:ln>
              <a:noFill/>
            </a:ln>
          </p:spPr>
        </p:sp>
        <p:sp>
          <p:nvSpPr>
            <p:cNvPr id="63" name="TextBox 63"/>
            <p:cNvSpPr txBox="1"/>
            <p:nvPr/>
          </p:nvSpPr>
          <p:spPr>
            <a:xfrm>
              <a:off x="3538538" y="3035141"/>
              <a:ext cx="230302"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江苏</a:t>
              </a:r>
            </a:p>
          </p:txBody>
        </p:sp>
        <p:sp>
          <p:nvSpPr>
            <p:cNvPr id="64" name="TextBox 64"/>
            <p:cNvSpPr txBox="1"/>
            <p:nvPr/>
          </p:nvSpPr>
          <p:spPr>
            <a:xfrm>
              <a:off x="4043362" y="3035141"/>
              <a:ext cx="302054"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587万</a:t>
              </a:r>
            </a:p>
          </p:txBody>
        </p:sp>
        <p:sp>
          <p:nvSpPr>
            <p:cNvPr id="65" name="TextBox 65"/>
            <p:cNvSpPr txBox="1"/>
            <p:nvPr/>
          </p:nvSpPr>
          <p:spPr>
            <a:xfrm>
              <a:off x="4757738" y="3035141"/>
              <a:ext cx="340690"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金融业</a:t>
              </a:r>
            </a:p>
          </p:txBody>
        </p:sp>
        <p:sp>
          <p:nvSpPr>
            <p:cNvPr id="66" name="TextBox 66"/>
            <p:cNvSpPr txBox="1"/>
            <p:nvPr/>
          </p:nvSpPr>
          <p:spPr>
            <a:xfrm>
              <a:off x="5329238" y="3035141"/>
              <a:ext cx="302054"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41万​</a:t>
              </a:r>
            </a:p>
          </p:txBody>
        </p:sp>
        <p:sp>
          <p:nvSpPr>
            <p:cNvPr id="67" name="TextBox 67"/>
            <p:cNvSpPr txBox="1"/>
            <p:nvPr/>
          </p:nvSpPr>
          <p:spPr>
            <a:xfrm>
              <a:off x="3538538" y="326374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浙江</a:t>
              </a:r>
            </a:p>
          </p:txBody>
        </p:sp>
        <p:sp>
          <p:nvSpPr>
            <p:cNvPr id="68" name="TextBox 68"/>
            <p:cNvSpPr txBox="1"/>
            <p:nvPr/>
          </p:nvSpPr>
          <p:spPr>
            <a:xfrm>
              <a:off x="4043362" y="326374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381万</a:t>
              </a:r>
            </a:p>
          </p:txBody>
        </p:sp>
        <p:sp>
          <p:nvSpPr>
            <p:cNvPr id="69" name="TextBox 69"/>
            <p:cNvSpPr txBox="1"/>
            <p:nvPr/>
          </p:nvSpPr>
          <p:spPr>
            <a:xfrm>
              <a:off x="4757738" y="3263741"/>
              <a:ext cx="451079"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商业服务</a:t>
              </a:r>
            </a:p>
          </p:txBody>
        </p:sp>
        <p:sp>
          <p:nvSpPr>
            <p:cNvPr id="70" name="TextBox 70"/>
            <p:cNvSpPr txBox="1"/>
            <p:nvPr/>
          </p:nvSpPr>
          <p:spPr>
            <a:xfrm>
              <a:off x="5329238" y="3263741"/>
              <a:ext cx="362768"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431万​</a:t>
              </a:r>
            </a:p>
          </p:txBody>
        </p:sp>
        <p:sp>
          <p:nvSpPr>
            <p:cNvPr id="71" name="Rectangle 71"/>
            <p:cNvSpPr/>
            <p:nvPr/>
          </p:nvSpPr>
          <p:spPr>
            <a:xfrm>
              <a:off x="3343275" y="3695700"/>
              <a:ext cx="2628900" cy="2857500"/>
            </a:xfrm>
            <a:prstGeom prst="roundRect">
              <a:avLst>
                <a:gd name="adj" fmla="val 2899"/>
              </a:avLst>
            </a:prstGeom>
            <a:solidFill>
              <a:srgbClr val="EDF4FE"/>
            </a:solidFill>
            <a:ln w="9525">
              <a:solidFill>
                <a:srgbClr val="D2E4FE"/>
              </a:solidFill>
            </a:ln>
          </p:spPr>
        </p:sp>
        <p:sp>
          <p:nvSpPr>
            <p:cNvPr id="72" name="Rectangle 72"/>
            <p:cNvSpPr/>
            <p:nvPr/>
          </p:nvSpPr>
          <p:spPr>
            <a:xfrm>
              <a:off x="3438525" y="3771900"/>
              <a:ext cx="2438400" cy="266700"/>
            </a:xfrm>
            <a:prstGeom prst="roundRect">
              <a:avLst>
                <a:gd name="adj" fmla="val 21429"/>
              </a:avLst>
            </a:prstGeom>
            <a:gradFill>
              <a:gsLst>
                <a:gs pos="0">
                  <a:srgbClr val="FB684A"/>
                </a:gs>
                <a:gs pos="100000">
                  <a:srgbClr val="FA421D"/>
                </a:gs>
              </a:gsLst>
              <a:lin ang="5400000" scaled="1"/>
            </a:gradFill>
            <a:ln>
              <a:noFill/>
            </a:ln>
          </p:spPr>
        </p:sp>
        <p:sp>
          <p:nvSpPr>
            <p:cNvPr id="73" name="TextBox 73"/>
            <p:cNvSpPr txBox="1"/>
            <p:nvPr/>
          </p:nvSpPr>
          <p:spPr>
            <a:xfrm>
              <a:off x="4254186" y="3857149"/>
              <a:ext cx="80707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10000+维度​</a:t>
              </a:r>
            </a:p>
          </p:txBody>
        </p:sp>
        <p:sp>
          <p:nvSpPr>
            <p:cNvPr id="74" name="Rectangle 74"/>
            <p:cNvSpPr/>
            <p:nvPr/>
          </p:nvSpPr>
          <p:spPr>
            <a:xfrm>
              <a:off x="3438525" y="4114800"/>
              <a:ext cx="2438400" cy="209550"/>
            </a:xfrm>
            <a:prstGeom prst="roundRect">
              <a:avLst>
                <a:gd name="adj" fmla="val 50000"/>
              </a:avLst>
            </a:prstGeom>
            <a:solidFill>
              <a:srgbClr val="FB7256"/>
            </a:solidFill>
            <a:ln>
              <a:noFill/>
            </a:ln>
          </p:spPr>
        </p:sp>
        <p:sp>
          <p:nvSpPr>
            <p:cNvPr id="75" name="TextBox 75"/>
            <p:cNvSpPr txBox="1"/>
            <p:nvPr/>
          </p:nvSpPr>
          <p:spPr>
            <a:xfrm>
              <a:off x="4410646" y="417004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工商信息</a:t>
              </a:r>
            </a:p>
          </p:txBody>
        </p:sp>
        <p:sp>
          <p:nvSpPr>
            <p:cNvPr id="76" name="TextBox 76"/>
            <p:cNvSpPr txBox="1"/>
            <p:nvPr/>
          </p:nvSpPr>
          <p:spPr>
            <a:xfrm>
              <a:off x="3538538" y="442579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北京</a:t>
              </a:r>
            </a:p>
          </p:txBody>
        </p:sp>
        <p:sp>
          <p:nvSpPr>
            <p:cNvPr id="77" name="TextBox 77"/>
            <p:cNvSpPr txBox="1"/>
            <p:nvPr/>
          </p:nvSpPr>
          <p:spPr>
            <a:xfrm>
              <a:off x="4043362" y="442579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245万</a:t>
              </a:r>
            </a:p>
          </p:txBody>
        </p:sp>
        <p:sp>
          <p:nvSpPr>
            <p:cNvPr id="78" name="TextBox 78"/>
            <p:cNvSpPr txBox="1"/>
            <p:nvPr/>
          </p:nvSpPr>
          <p:spPr>
            <a:xfrm>
              <a:off x="4757738" y="4425791"/>
              <a:ext cx="340690"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制造业</a:t>
              </a:r>
            </a:p>
          </p:txBody>
        </p:sp>
        <p:sp>
          <p:nvSpPr>
            <p:cNvPr id="79" name="TextBox 79"/>
            <p:cNvSpPr txBox="1"/>
            <p:nvPr/>
          </p:nvSpPr>
          <p:spPr>
            <a:xfrm>
              <a:off x="5329238" y="4425791"/>
              <a:ext cx="362768"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509万​</a:t>
              </a:r>
            </a:p>
          </p:txBody>
        </p:sp>
        <p:sp>
          <p:nvSpPr>
            <p:cNvPr id="80" name="TextBox 80"/>
            <p:cNvSpPr txBox="1"/>
            <p:nvPr/>
          </p:nvSpPr>
          <p:spPr>
            <a:xfrm>
              <a:off x="3538538" y="459724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上海</a:t>
              </a:r>
            </a:p>
          </p:txBody>
        </p:sp>
        <p:sp>
          <p:nvSpPr>
            <p:cNvPr id="81" name="TextBox 81"/>
            <p:cNvSpPr txBox="1"/>
            <p:nvPr/>
          </p:nvSpPr>
          <p:spPr>
            <a:xfrm>
              <a:off x="4043362" y="459724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296万</a:t>
              </a:r>
            </a:p>
          </p:txBody>
        </p:sp>
        <p:sp>
          <p:nvSpPr>
            <p:cNvPr id="82" name="TextBox 82"/>
            <p:cNvSpPr txBox="1"/>
            <p:nvPr/>
          </p:nvSpPr>
          <p:spPr>
            <a:xfrm>
              <a:off x="4757738" y="4597241"/>
              <a:ext cx="340690"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房地产</a:t>
              </a:r>
            </a:p>
          </p:txBody>
        </p:sp>
        <p:sp>
          <p:nvSpPr>
            <p:cNvPr id="83" name="TextBox 83"/>
            <p:cNvSpPr txBox="1"/>
            <p:nvPr/>
          </p:nvSpPr>
          <p:spPr>
            <a:xfrm>
              <a:off x="5329238" y="4597241"/>
              <a:ext cx="13095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a:t>
              </a:r>
            </a:p>
          </p:txBody>
        </p:sp>
        <p:sp>
          <p:nvSpPr>
            <p:cNvPr id="84" name="Rectangle 84"/>
            <p:cNvSpPr/>
            <p:nvPr/>
          </p:nvSpPr>
          <p:spPr>
            <a:xfrm>
              <a:off x="3438525" y="4800600"/>
              <a:ext cx="2438400" cy="209550"/>
            </a:xfrm>
            <a:prstGeom prst="roundRect">
              <a:avLst>
                <a:gd name="adj" fmla="val 50000"/>
              </a:avLst>
            </a:prstGeom>
            <a:solidFill>
              <a:srgbClr val="FB7256"/>
            </a:solidFill>
            <a:ln>
              <a:noFill/>
            </a:ln>
          </p:spPr>
        </p:sp>
        <p:sp>
          <p:nvSpPr>
            <p:cNvPr id="85" name="TextBox 85"/>
            <p:cNvSpPr txBox="1"/>
            <p:nvPr/>
          </p:nvSpPr>
          <p:spPr>
            <a:xfrm>
              <a:off x="4410646" y="485584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招聘信息</a:t>
              </a:r>
            </a:p>
          </p:txBody>
        </p:sp>
        <p:sp>
          <p:nvSpPr>
            <p:cNvPr id="86" name="TextBox 86"/>
            <p:cNvSpPr txBox="1"/>
            <p:nvPr/>
          </p:nvSpPr>
          <p:spPr>
            <a:xfrm>
              <a:off x="3538538" y="511159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江苏</a:t>
              </a:r>
            </a:p>
          </p:txBody>
        </p:sp>
        <p:sp>
          <p:nvSpPr>
            <p:cNvPr id="87" name="TextBox 87"/>
            <p:cNvSpPr txBox="1"/>
            <p:nvPr/>
          </p:nvSpPr>
          <p:spPr>
            <a:xfrm>
              <a:off x="4043362" y="511159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587万</a:t>
              </a:r>
            </a:p>
          </p:txBody>
        </p:sp>
        <p:sp>
          <p:nvSpPr>
            <p:cNvPr id="88" name="TextBox 88"/>
            <p:cNvSpPr txBox="1"/>
            <p:nvPr/>
          </p:nvSpPr>
          <p:spPr>
            <a:xfrm>
              <a:off x="4757738" y="5111591"/>
              <a:ext cx="340690"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金融业</a:t>
              </a:r>
            </a:p>
          </p:txBody>
        </p:sp>
        <p:sp>
          <p:nvSpPr>
            <p:cNvPr id="89" name="TextBox 89"/>
            <p:cNvSpPr txBox="1"/>
            <p:nvPr/>
          </p:nvSpPr>
          <p:spPr>
            <a:xfrm>
              <a:off x="5329238" y="511159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41万​</a:t>
              </a:r>
            </a:p>
          </p:txBody>
        </p:sp>
        <p:sp>
          <p:nvSpPr>
            <p:cNvPr id="90" name="TextBox 90"/>
            <p:cNvSpPr txBox="1"/>
            <p:nvPr/>
          </p:nvSpPr>
          <p:spPr>
            <a:xfrm>
              <a:off x="3538538" y="528304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浙江</a:t>
              </a:r>
            </a:p>
          </p:txBody>
        </p:sp>
        <p:sp>
          <p:nvSpPr>
            <p:cNvPr id="91" name="TextBox 91"/>
            <p:cNvSpPr txBox="1"/>
            <p:nvPr/>
          </p:nvSpPr>
          <p:spPr>
            <a:xfrm>
              <a:off x="4043362" y="528304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381万</a:t>
              </a:r>
            </a:p>
          </p:txBody>
        </p:sp>
        <p:sp>
          <p:nvSpPr>
            <p:cNvPr id="92" name="TextBox 92"/>
            <p:cNvSpPr txBox="1"/>
            <p:nvPr/>
          </p:nvSpPr>
          <p:spPr>
            <a:xfrm>
              <a:off x="4757738" y="5283041"/>
              <a:ext cx="451079"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商业服务</a:t>
              </a:r>
            </a:p>
          </p:txBody>
        </p:sp>
        <p:sp>
          <p:nvSpPr>
            <p:cNvPr id="93" name="TextBox 93"/>
            <p:cNvSpPr txBox="1"/>
            <p:nvPr/>
          </p:nvSpPr>
          <p:spPr>
            <a:xfrm>
              <a:off x="5329238" y="5283041"/>
              <a:ext cx="362768"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431万​</a:t>
              </a:r>
            </a:p>
          </p:txBody>
        </p:sp>
        <p:sp>
          <p:nvSpPr>
            <p:cNvPr id="94" name="Rectangle 94"/>
            <p:cNvSpPr/>
            <p:nvPr/>
          </p:nvSpPr>
          <p:spPr>
            <a:xfrm>
              <a:off x="3438525" y="5486400"/>
              <a:ext cx="2438400" cy="209550"/>
            </a:xfrm>
            <a:prstGeom prst="roundRect">
              <a:avLst>
                <a:gd name="adj" fmla="val 50000"/>
              </a:avLst>
            </a:prstGeom>
            <a:solidFill>
              <a:srgbClr val="FB7256"/>
            </a:solidFill>
            <a:ln>
              <a:noFill/>
            </a:ln>
          </p:spPr>
        </p:sp>
        <p:sp>
          <p:nvSpPr>
            <p:cNvPr id="95" name="TextBox 95"/>
            <p:cNvSpPr txBox="1"/>
            <p:nvPr/>
          </p:nvSpPr>
          <p:spPr>
            <a:xfrm>
              <a:off x="4410646" y="554164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电商信息</a:t>
              </a:r>
            </a:p>
          </p:txBody>
        </p:sp>
        <p:sp>
          <p:nvSpPr>
            <p:cNvPr id="96" name="TextBox 96"/>
            <p:cNvSpPr txBox="1"/>
            <p:nvPr/>
          </p:nvSpPr>
          <p:spPr>
            <a:xfrm>
              <a:off x="3538538" y="579739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北京</a:t>
              </a:r>
            </a:p>
          </p:txBody>
        </p:sp>
        <p:sp>
          <p:nvSpPr>
            <p:cNvPr id="97" name="TextBox 97"/>
            <p:cNvSpPr txBox="1"/>
            <p:nvPr/>
          </p:nvSpPr>
          <p:spPr>
            <a:xfrm>
              <a:off x="4043362" y="579739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245万</a:t>
              </a:r>
            </a:p>
          </p:txBody>
        </p:sp>
        <p:sp>
          <p:nvSpPr>
            <p:cNvPr id="98" name="TextBox 98"/>
            <p:cNvSpPr txBox="1"/>
            <p:nvPr/>
          </p:nvSpPr>
          <p:spPr>
            <a:xfrm>
              <a:off x="4757738" y="5797391"/>
              <a:ext cx="340690"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制造业</a:t>
              </a:r>
            </a:p>
          </p:txBody>
        </p:sp>
        <p:sp>
          <p:nvSpPr>
            <p:cNvPr id="99" name="TextBox 99"/>
            <p:cNvSpPr txBox="1"/>
            <p:nvPr/>
          </p:nvSpPr>
          <p:spPr>
            <a:xfrm>
              <a:off x="5329238" y="5797391"/>
              <a:ext cx="362768"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509万​</a:t>
              </a:r>
            </a:p>
          </p:txBody>
        </p:sp>
        <p:sp>
          <p:nvSpPr>
            <p:cNvPr id="100" name="TextBox 100"/>
            <p:cNvSpPr txBox="1"/>
            <p:nvPr/>
          </p:nvSpPr>
          <p:spPr>
            <a:xfrm>
              <a:off x="3538538" y="5968841"/>
              <a:ext cx="23030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上海</a:t>
              </a:r>
            </a:p>
          </p:txBody>
        </p:sp>
        <p:sp>
          <p:nvSpPr>
            <p:cNvPr id="101" name="TextBox 101"/>
            <p:cNvSpPr txBox="1"/>
            <p:nvPr/>
          </p:nvSpPr>
          <p:spPr>
            <a:xfrm>
              <a:off x="4043362" y="5968841"/>
              <a:ext cx="302054"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296万</a:t>
              </a:r>
            </a:p>
          </p:txBody>
        </p:sp>
        <p:sp>
          <p:nvSpPr>
            <p:cNvPr id="102" name="TextBox 102"/>
            <p:cNvSpPr txBox="1"/>
            <p:nvPr/>
          </p:nvSpPr>
          <p:spPr>
            <a:xfrm>
              <a:off x="4757738" y="5968841"/>
              <a:ext cx="340690"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房地产</a:t>
              </a:r>
            </a:p>
          </p:txBody>
        </p:sp>
        <p:sp>
          <p:nvSpPr>
            <p:cNvPr id="103" name="TextBox 103"/>
            <p:cNvSpPr txBox="1"/>
            <p:nvPr/>
          </p:nvSpPr>
          <p:spPr>
            <a:xfrm>
              <a:off x="5329238" y="5968841"/>
              <a:ext cx="130952" cy="161925"/>
            </a:xfrm>
            <a:prstGeom prst="rect">
              <a:avLst/>
            </a:prstGeom>
            <a:noFill/>
            <a:ln>
              <a:noFill/>
            </a:ln>
          </p:spPr>
          <p:txBody>
            <a:bodyPr wrap="none" lIns="0" tIns="0" rIns="0" bIns="0" anchor="t" anchorCtr="0">
              <a:spAutoFit/>
            </a:bodyPr>
            <a:lstStyle/>
            <a:p>
              <a:pPr algn="l"/>
              <a:r>
                <a:rPr lang="zh-CN" sz="820" dirty="0">
                  <a:solidFill>
                    <a:srgbClr val="3D241F"/>
                  </a:solidFill>
                  <a:latin typeface="+mn-lt"/>
                  <a:ea typeface="+mn-ea"/>
                  <a:cs typeface="+mn-cs"/>
                </a:rPr>
                <a:t>……</a:t>
              </a:r>
            </a:p>
          </p:txBody>
        </p:sp>
      </p:grpSp>
      <p:grpSp>
        <p:nvGrpSpPr>
          <p:cNvPr id="125" name="col-algorithm"/>
          <p:cNvGrpSpPr/>
          <p:nvPr/>
        </p:nvGrpSpPr>
        <p:grpSpPr>
          <a:xfrm>
            <a:off x="6153150" y="1181100"/>
            <a:ext cx="2762250" cy="5372100"/>
            <a:chOff x="6153150" y="1181100"/>
            <a:chExt cx="2762250" cy="5372100"/>
          </a:xfrm>
        </p:grpSpPr>
        <p:sp>
          <p:nvSpPr>
            <p:cNvPr id="105" name="Rectangle 105"/>
            <p:cNvSpPr/>
            <p:nvPr/>
          </p:nvSpPr>
          <p:spPr>
            <a:xfrm>
              <a:off x="6153150" y="1181100"/>
              <a:ext cx="2762250" cy="381000"/>
            </a:xfrm>
            <a:prstGeom prst="roundRect">
              <a:avLst>
                <a:gd name="adj" fmla="val 15000"/>
              </a:avLst>
            </a:prstGeom>
            <a:gradFill>
              <a:gsLst>
                <a:gs pos="0">
                  <a:srgbClr val="FB684A"/>
                </a:gs>
                <a:gs pos="100000">
                  <a:srgbClr val="FA421D"/>
                </a:gs>
              </a:gsLst>
              <a:lin ang="5400000" scaled="1"/>
            </a:gradFill>
            <a:ln>
              <a:noFill/>
            </a:ln>
          </p:spPr>
        </p:sp>
        <p:sp>
          <p:nvSpPr>
            <p:cNvPr id="106" name="TextBox 106"/>
            <p:cNvSpPr txBox="1"/>
            <p:nvPr/>
          </p:nvSpPr>
          <p:spPr>
            <a:xfrm>
              <a:off x="7205091" y="129921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算法引擎</a:t>
              </a:r>
            </a:p>
          </p:txBody>
        </p:sp>
        <p:sp>
          <p:nvSpPr>
            <p:cNvPr id="107" name="Rectangle 107"/>
            <p:cNvSpPr/>
            <p:nvPr/>
          </p:nvSpPr>
          <p:spPr>
            <a:xfrm>
              <a:off x="6219825" y="1676400"/>
              <a:ext cx="2628900" cy="2000250"/>
            </a:xfrm>
            <a:prstGeom prst="roundRect">
              <a:avLst>
                <a:gd name="adj" fmla="val 3810"/>
              </a:avLst>
            </a:prstGeom>
            <a:solidFill>
              <a:srgbClr val="EDF4FE"/>
            </a:solidFill>
            <a:ln w="9525">
              <a:solidFill>
                <a:srgbClr val="D2E4FE"/>
              </a:solidFill>
            </a:ln>
          </p:spPr>
        </p:sp>
        <p:sp>
          <p:nvSpPr>
            <p:cNvPr id="108" name="Rectangle 108"/>
            <p:cNvSpPr/>
            <p:nvPr/>
          </p:nvSpPr>
          <p:spPr>
            <a:xfrm>
              <a:off x="6867525" y="1752600"/>
              <a:ext cx="1333500" cy="247650"/>
            </a:xfrm>
            <a:prstGeom prst="roundRect">
              <a:avLst>
                <a:gd name="adj" fmla="val 50000"/>
              </a:avLst>
            </a:prstGeom>
            <a:gradFill>
              <a:gsLst>
                <a:gs pos="0">
                  <a:srgbClr val="FB684A"/>
                </a:gs>
                <a:gs pos="100000">
                  <a:srgbClr val="FA421D"/>
                </a:gs>
              </a:gsLst>
              <a:lin ang="5400000" scaled="1"/>
            </a:gradFill>
            <a:ln>
              <a:noFill/>
            </a:ln>
          </p:spPr>
        </p:sp>
        <p:sp>
          <p:nvSpPr>
            <p:cNvPr id="109" name="TextBox 109"/>
            <p:cNvSpPr txBox="1"/>
            <p:nvPr/>
          </p:nvSpPr>
          <p:spPr>
            <a:xfrm>
              <a:off x="7265467" y="1818799"/>
              <a:ext cx="537616"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商户服务</a:t>
              </a:r>
            </a:p>
          </p:txBody>
        </p:sp>
        <p:sp>
          <p:nvSpPr>
            <p:cNvPr id="110" name="Rectangle 110"/>
            <p:cNvSpPr/>
            <p:nvPr/>
          </p:nvSpPr>
          <p:spPr>
            <a:xfrm>
              <a:off x="6315075" y="2114550"/>
              <a:ext cx="2438400" cy="419100"/>
            </a:xfrm>
            <a:prstGeom prst="roundRect">
              <a:avLst>
                <a:gd name="adj" fmla="val 9091"/>
              </a:avLst>
            </a:prstGeom>
            <a:solidFill>
              <a:srgbClr val="FFFFFF"/>
            </a:solidFill>
            <a:ln>
              <a:noFill/>
            </a:ln>
          </p:spPr>
        </p:sp>
        <p:sp>
          <p:nvSpPr>
            <p:cNvPr id="111" name="TextBox 111"/>
            <p:cNvSpPr txBox="1"/>
            <p:nvPr/>
          </p:nvSpPr>
          <p:spPr>
            <a:xfrm>
              <a:off x="6386512" y="2188845"/>
              <a:ext cx="1901190" cy="338138"/>
            </a:xfrm>
            <a:prstGeom prst="rect">
              <a:avLst/>
            </a:prstGeom>
            <a:noFill/>
            <a:ln>
              <a:noFill/>
            </a:ln>
          </p:spPr>
          <p:txBody>
            <a:bodyPr wrap="none" lIns="0" tIns="0" rIns="0" bIns="0" anchor="t" anchorCtr="0">
              <a:spAutoFit/>
            </a:bodyPr>
            <a:lstStyle/>
            <a:p>
              <a:pPr algn="l">
                <a:lnSpc>
                  <a:spcPts val="1275"/>
                </a:lnSpc>
              </a:pPr>
              <a:r>
                <a:rPr lang="zh-CN" sz="900" dirty="0">
                  <a:solidFill>
                    <a:srgbClr val="FA421D"/>
                  </a:solidFill>
                  <a:latin typeface="+mn-lt"/>
                  <a:ea typeface="+mn-ea"/>
                  <a:cs typeface="+mn-cs"/>
                </a:rPr>
                <a:t>回归分析:</a:t>
              </a:r>
              <a:r>
                <a:rPr lang="zh-CN" sz="900" dirty="0">
                  <a:solidFill>
                    <a:srgbClr val="3D241F"/>
                  </a:solidFill>
                  <a:latin typeface="+mn-lt"/>
                  <a:ea typeface="+mn-ea"/>
                  <a:cs typeface="+mn-cs"/>
                </a:rPr>
                <a:t>用于计算每个关键特征的相</a:t>
              </a:r>
              <a:br/>
              <a:r>
                <a:rPr lang="zh-CN" sz="900" dirty="0">
                  <a:solidFill>
                    <a:srgbClr val="3D241F"/>
                  </a:solidFill>
                  <a:latin typeface="+mn-lt"/>
                  <a:ea typeface="+mn-ea"/>
                  <a:cs typeface="+mn-cs"/>
                </a:rPr>
                <a:t>关度,建立评分模型</a:t>
              </a:r>
            </a:p>
          </p:txBody>
        </p:sp>
        <p:sp>
          <p:nvSpPr>
            <p:cNvPr id="112" name="Rectangle 112"/>
            <p:cNvSpPr/>
            <p:nvPr/>
          </p:nvSpPr>
          <p:spPr>
            <a:xfrm>
              <a:off x="6315075" y="2609850"/>
              <a:ext cx="2438400" cy="285750"/>
            </a:xfrm>
            <a:prstGeom prst="roundRect">
              <a:avLst>
                <a:gd name="adj" fmla="val 13333"/>
              </a:avLst>
            </a:prstGeom>
            <a:solidFill>
              <a:srgbClr val="FFFFFF"/>
            </a:solidFill>
            <a:ln>
              <a:noFill/>
            </a:ln>
          </p:spPr>
        </p:sp>
        <p:sp>
          <p:nvSpPr>
            <p:cNvPr id="113" name="TextBox 113"/>
            <p:cNvSpPr txBox="1"/>
            <p:nvPr/>
          </p:nvSpPr>
          <p:spPr>
            <a:xfrm>
              <a:off x="6386512" y="2703195"/>
              <a:ext cx="1893532" cy="176212"/>
            </a:xfrm>
            <a:prstGeom prst="rect">
              <a:avLst/>
            </a:prstGeom>
            <a:noFill/>
            <a:ln>
              <a:noFill/>
            </a:ln>
          </p:spPr>
          <p:txBody>
            <a:bodyPr wrap="none" lIns="0" tIns="0" rIns="0" bIns="0" anchor="t" anchorCtr="0">
              <a:spAutoFit/>
            </a:bodyPr>
            <a:lstStyle/>
            <a:p>
              <a:pPr algn="l"/>
              <a:r>
                <a:rPr lang="zh-CN" sz="900" dirty="0">
                  <a:solidFill>
                    <a:srgbClr val="FA421D"/>
                  </a:solidFill>
                  <a:latin typeface="+mn-lt"/>
                  <a:ea typeface="+mn-ea"/>
                  <a:cs typeface="+mn-cs"/>
                </a:rPr>
                <a:t>聚类算法:</a:t>
              </a:r>
              <a:r>
                <a:rPr lang="zh-CN" sz="900" dirty="0">
                  <a:solidFill>
                    <a:srgbClr val="3D241F"/>
                  </a:solidFill>
                  <a:latin typeface="+mn-lt"/>
                  <a:ea typeface="+mn-ea"/>
                  <a:cs typeface="+mn-cs"/>
                </a:rPr>
                <a:t>用于将相似企业自动分类</a:t>
              </a:r>
            </a:p>
          </p:txBody>
        </p:sp>
        <p:sp>
          <p:nvSpPr>
            <p:cNvPr id="114" name="Rectangle 114"/>
            <p:cNvSpPr/>
            <p:nvPr/>
          </p:nvSpPr>
          <p:spPr>
            <a:xfrm>
              <a:off x="6315075" y="2971800"/>
              <a:ext cx="2438400" cy="285750"/>
            </a:xfrm>
            <a:prstGeom prst="roundRect">
              <a:avLst>
                <a:gd name="adj" fmla="val 13333"/>
              </a:avLst>
            </a:prstGeom>
            <a:solidFill>
              <a:srgbClr val="FFFFFF"/>
            </a:solidFill>
            <a:ln>
              <a:noFill/>
            </a:ln>
          </p:spPr>
        </p:sp>
        <p:sp>
          <p:nvSpPr>
            <p:cNvPr id="115" name="TextBox 115"/>
            <p:cNvSpPr txBox="1"/>
            <p:nvPr/>
          </p:nvSpPr>
          <p:spPr>
            <a:xfrm>
              <a:off x="6386512" y="3065145"/>
              <a:ext cx="2014690" cy="176212"/>
            </a:xfrm>
            <a:prstGeom prst="rect">
              <a:avLst/>
            </a:prstGeom>
            <a:noFill/>
            <a:ln>
              <a:noFill/>
            </a:ln>
          </p:spPr>
          <p:txBody>
            <a:bodyPr wrap="none" lIns="0" tIns="0" rIns="0" bIns="0" anchor="t" anchorCtr="0">
              <a:spAutoFit/>
            </a:bodyPr>
            <a:lstStyle/>
            <a:p>
              <a:pPr algn="l"/>
              <a:r>
                <a:rPr lang="zh-CN" sz="900" dirty="0">
                  <a:solidFill>
                    <a:srgbClr val="FA421D"/>
                  </a:solidFill>
                  <a:latin typeface="+mn-lt"/>
                  <a:ea typeface="+mn-ea"/>
                  <a:cs typeface="+mn-cs"/>
                </a:rPr>
                <a:t>分类算法:</a:t>
              </a:r>
              <a:r>
                <a:rPr lang="zh-CN" sz="900" dirty="0">
                  <a:solidFill>
                    <a:srgbClr val="3D241F"/>
                  </a:solidFill>
                  <a:latin typeface="+mn-lt"/>
                  <a:ea typeface="+mn-ea"/>
                  <a:cs typeface="+mn-cs"/>
                </a:rPr>
                <a:t>识别某个企业属于哪个类别</a:t>
              </a:r>
            </a:p>
          </p:txBody>
        </p:sp>
        <p:sp>
          <p:nvSpPr>
            <p:cNvPr id="116" name="Rectangle 116"/>
            <p:cNvSpPr/>
            <p:nvPr/>
          </p:nvSpPr>
          <p:spPr>
            <a:xfrm>
              <a:off x="6219825" y="3790950"/>
              <a:ext cx="2628900" cy="2762250"/>
            </a:xfrm>
            <a:prstGeom prst="roundRect">
              <a:avLst>
                <a:gd name="adj" fmla="val 2899"/>
              </a:avLst>
            </a:prstGeom>
            <a:solidFill>
              <a:srgbClr val="EDF4FE"/>
            </a:solidFill>
            <a:ln w="9525">
              <a:solidFill>
                <a:srgbClr val="D2E4FE"/>
              </a:solidFill>
            </a:ln>
          </p:spPr>
        </p:sp>
        <p:sp>
          <p:nvSpPr>
            <p:cNvPr id="117" name="Rectangle 117"/>
            <p:cNvSpPr/>
            <p:nvPr/>
          </p:nvSpPr>
          <p:spPr>
            <a:xfrm>
              <a:off x="6867525" y="3867150"/>
              <a:ext cx="1333500" cy="247650"/>
            </a:xfrm>
            <a:prstGeom prst="roundRect">
              <a:avLst>
                <a:gd name="adj" fmla="val 50000"/>
              </a:avLst>
            </a:prstGeom>
            <a:gradFill>
              <a:gsLst>
                <a:gs pos="0">
                  <a:srgbClr val="FB684A"/>
                </a:gs>
                <a:gs pos="100000">
                  <a:srgbClr val="FA421D"/>
                </a:gs>
              </a:gsLst>
              <a:lin ang="5400000" scaled="1"/>
            </a:gradFill>
            <a:ln>
              <a:noFill/>
            </a:ln>
          </p:spPr>
        </p:sp>
        <p:sp>
          <p:nvSpPr>
            <p:cNvPr id="118" name="TextBox 118"/>
            <p:cNvSpPr txBox="1"/>
            <p:nvPr/>
          </p:nvSpPr>
          <p:spPr>
            <a:xfrm>
              <a:off x="7265467" y="3933349"/>
              <a:ext cx="537616"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商户服务</a:t>
              </a:r>
            </a:p>
          </p:txBody>
        </p:sp>
        <p:sp>
          <p:nvSpPr>
            <p:cNvPr id="119" name="Rectangle 119"/>
            <p:cNvSpPr/>
            <p:nvPr/>
          </p:nvSpPr>
          <p:spPr>
            <a:xfrm>
              <a:off x="6315075" y="4229100"/>
              <a:ext cx="2438400" cy="419100"/>
            </a:xfrm>
            <a:prstGeom prst="roundRect">
              <a:avLst>
                <a:gd name="adj" fmla="val 9091"/>
              </a:avLst>
            </a:prstGeom>
            <a:solidFill>
              <a:srgbClr val="FFFFFF"/>
            </a:solidFill>
            <a:ln>
              <a:noFill/>
            </a:ln>
          </p:spPr>
        </p:sp>
        <p:sp>
          <p:nvSpPr>
            <p:cNvPr id="120" name="TextBox 120"/>
            <p:cNvSpPr txBox="1"/>
            <p:nvPr/>
          </p:nvSpPr>
          <p:spPr>
            <a:xfrm>
              <a:off x="6386512" y="4303395"/>
              <a:ext cx="1901190" cy="338138"/>
            </a:xfrm>
            <a:prstGeom prst="rect">
              <a:avLst/>
            </a:prstGeom>
            <a:noFill/>
            <a:ln>
              <a:noFill/>
            </a:ln>
          </p:spPr>
          <p:txBody>
            <a:bodyPr wrap="none" lIns="0" tIns="0" rIns="0" bIns="0" anchor="t" anchorCtr="0">
              <a:spAutoFit/>
            </a:bodyPr>
            <a:lstStyle/>
            <a:p>
              <a:pPr algn="l">
                <a:lnSpc>
                  <a:spcPts val="1275"/>
                </a:lnSpc>
              </a:pPr>
              <a:r>
                <a:rPr lang="zh-CN" sz="900" dirty="0">
                  <a:solidFill>
                    <a:srgbClr val="FA421D"/>
                  </a:solidFill>
                  <a:latin typeface="+mn-lt"/>
                  <a:ea typeface="+mn-ea"/>
                  <a:cs typeface="+mn-cs"/>
                </a:rPr>
                <a:t>主性模型:</a:t>
              </a:r>
              <a:r>
                <a:rPr lang="zh-CN" sz="900" dirty="0">
                  <a:solidFill>
                    <a:srgbClr val="3D241F"/>
                  </a:solidFill>
                  <a:latin typeface="+mn-lt"/>
                  <a:ea typeface="+mn-ea"/>
                  <a:cs typeface="+mn-cs"/>
                </a:rPr>
                <a:t>适用于自变量和因变量间线</a:t>
              </a:r>
              <a:br/>
              <a:r>
                <a:rPr lang="zh-CN" sz="900" dirty="0">
                  <a:solidFill>
                    <a:srgbClr val="3D241F"/>
                  </a:solidFill>
                  <a:latin typeface="+mn-lt"/>
                  <a:ea typeface="+mn-ea"/>
                  <a:cs typeface="+mn-cs"/>
                </a:rPr>
                <a:t>性相关的应用场景建模。</a:t>
              </a:r>
            </a:p>
          </p:txBody>
        </p:sp>
        <p:sp>
          <p:nvSpPr>
            <p:cNvPr id="121" name="Rectangle 121"/>
            <p:cNvSpPr/>
            <p:nvPr/>
          </p:nvSpPr>
          <p:spPr>
            <a:xfrm>
              <a:off x="6315075" y="4743450"/>
              <a:ext cx="2438400" cy="419100"/>
            </a:xfrm>
            <a:prstGeom prst="roundRect">
              <a:avLst>
                <a:gd name="adj" fmla="val 9091"/>
              </a:avLst>
            </a:prstGeom>
            <a:solidFill>
              <a:srgbClr val="FFFFFF"/>
            </a:solidFill>
            <a:ln>
              <a:noFill/>
            </a:ln>
          </p:spPr>
        </p:sp>
        <p:sp>
          <p:nvSpPr>
            <p:cNvPr id="122" name="TextBox 122"/>
            <p:cNvSpPr txBox="1"/>
            <p:nvPr/>
          </p:nvSpPr>
          <p:spPr>
            <a:xfrm>
              <a:off x="6386512" y="4817745"/>
              <a:ext cx="1901190" cy="338138"/>
            </a:xfrm>
            <a:prstGeom prst="rect">
              <a:avLst/>
            </a:prstGeom>
            <a:noFill/>
            <a:ln>
              <a:noFill/>
            </a:ln>
          </p:spPr>
          <p:txBody>
            <a:bodyPr wrap="none" lIns="0" tIns="0" rIns="0" bIns="0" anchor="t" anchorCtr="0">
              <a:spAutoFit/>
            </a:bodyPr>
            <a:lstStyle/>
            <a:p>
              <a:pPr algn="l">
                <a:lnSpc>
                  <a:spcPts val="1275"/>
                </a:lnSpc>
              </a:pPr>
              <a:r>
                <a:rPr lang="zh-CN" sz="900" dirty="0">
                  <a:solidFill>
                    <a:srgbClr val="FA421D"/>
                  </a:solidFill>
                  <a:latin typeface="+mn-lt"/>
                  <a:ea typeface="+mn-ea"/>
                  <a:cs typeface="+mn-cs"/>
                </a:rPr>
                <a:t>非线性模型:</a:t>
              </a:r>
              <a:r>
                <a:rPr lang="zh-CN" sz="900" dirty="0">
                  <a:solidFill>
                    <a:srgbClr val="3D241F"/>
                  </a:solidFill>
                  <a:latin typeface="+mn-lt"/>
                  <a:ea typeface="+mn-ea"/>
                  <a:cs typeface="+mn-cs"/>
                </a:rPr>
                <a:t>针对自变量和因变量非线</a:t>
              </a:r>
              <a:br/>
              <a:r>
                <a:rPr lang="zh-CN" sz="900" dirty="0">
                  <a:solidFill>
                    <a:srgbClr val="3D241F"/>
                  </a:solidFill>
                  <a:latin typeface="+mn-lt"/>
                  <a:ea typeface="+mn-ea"/>
                  <a:cs typeface="+mn-cs"/>
                </a:rPr>
                <a:t>性关系的复杂应用场景建模。</a:t>
              </a:r>
            </a:p>
          </p:txBody>
        </p:sp>
        <p:sp>
          <p:nvSpPr>
            <p:cNvPr id="123" name="Rectangle 123"/>
            <p:cNvSpPr/>
            <p:nvPr/>
          </p:nvSpPr>
          <p:spPr>
            <a:xfrm>
              <a:off x="6315075" y="5257800"/>
              <a:ext cx="2438400" cy="419100"/>
            </a:xfrm>
            <a:prstGeom prst="roundRect">
              <a:avLst>
                <a:gd name="adj" fmla="val 9091"/>
              </a:avLst>
            </a:prstGeom>
            <a:solidFill>
              <a:srgbClr val="FFFFFF"/>
            </a:solidFill>
            <a:ln>
              <a:noFill/>
            </a:ln>
          </p:spPr>
        </p:sp>
        <p:sp>
          <p:nvSpPr>
            <p:cNvPr id="124" name="TextBox 124"/>
            <p:cNvSpPr txBox="1"/>
            <p:nvPr/>
          </p:nvSpPr>
          <p:spPr>
            <a:xfrm>
              <a:off x="6386512" y="5332095"/>
              <a:ext cx="1901190" cy="338138"/>
            </a:xfrm>
            <a:prstGeom prst="rect">
              <a:avLst/>
            </a:prstGeom>
            <a:noFill/>
            <a:ln>
              <a:noFill/>
            </a:ln>
          </p:spPr>
          <p:txBody>
            <a:bodyPr wrap="none" lIns="0" tIns="0" rIns="0" bIns="0" anchor="t" anchorCtr="0">
              <a:spAutoFit/>
            </a:bodyPr>
            <a:lstStyle/>
            <a:p>
              <a:pPr algn="l">
                <a:lnSpc>
                  <a:spcPts val="1275"/>
                </a:lnSpc>
              </a:pPr>
              <a:r>
                <a:rPr lang="zh-CN" sz="900" dirty="0">
                  <a:solidFill>
                    <a:srgbClr val="FA421D"/>
                  </a:solidFill>
                  <a:latin typeface="+mn-lt"/>
                  <a:ea typeface="+mn-ea"/>
                  <a:cs typeface="+mn-cs"/>
                </a:rPr>
                <a:t>动态模型:</a:t>
              </a:r>
              <a:r>
                <a:rPr lang="zh-CN" sz="900" dirty="0">
                  <a:solidFill>
                    <a:srgbClr val="3D241F"/>
                  </a:solidFill>
                  <a:latin typeface="+mn-lt"/>
                  <a:ea typeface="+mn-ea"/>
                  <a:cs typeface="+mn-cs"/>
                </a:rPr>
                <a:t>描述企业随时间变化而变化</a:t>
              </a:r>
              <a:br/>
              <a:r>
                <a:rPr lang="zh-CN" sz="900" dirty="0">
                  <a:solidFill>
                    <a:srgbClr val="3D241F"/>
                  </a:solidFill>
                  <a:latin typeface="+mn-lt"/>
                  <a:ea typeface="+mn-ea"/>
                  <a:cs typeface="+mn-cs"/>
                </a:rPr>
                <a:t>的规律,用于预测企业的发展趋势。</a:t>
              </a:r>
            </a:p>
          </p:txBody>
        </p:sp>
      </p:grpSp>
      <p:grpSp>
        <p:nvGrpSpPr>
          <p:cNvPr id="141" name="col-market-forecast"/>
          <p:cNvGrpSpPr/>
          <p:nvPr/>
        </p:nvGrpSpPr>
        <p:grpSpPr>
          <a:xfrm>
            <a:off x="9048750" y="1181100"/>
            <a:ext cx="2743200" cy="5372100"/>
            <a:chOff x="9048750" y="1181100"/>
            <a:chExt cx="2743200" cy="5372100"/>
          </a:xfrm>
        </p:grpSpPr>
        <p:sp>
          <p:nvSpPr>
            <p:cNvPr id="126" name="Rectangle 126"/>
            <p:cNvSpPr/>
            <p:nvPr/>
          </p:nvSpPr>
          <p:spPr>
            <a:xfrm>
              <a:off x="9048750" y="1181100"/>
              <a:ext cx="2743200" cy="381000"/>
            </a:xfrm>
            <a:prstGeom prst="roundRect">
              <a:avLst>
                <a:gd name="adj" fmla="val 15000"/>
              </a:avLst>
            </a:prstGeom>
            <a:gradFill>
              <a:gsLst>
                <a:gs pos="0">
                  <a:srgbClr val="FB684A"/>
                </a:gs>
                <a:gs pos="100000">
                  <a:srgbClr val="FA421D"/>
                </a:gs>
              </a:gsLst>
              <a:lin ang="5400000" scaled="1"/>
            </a:gradFill>
            <a:ln>
              <a:noFill/>
            </a:ln>
          </p:spPr>
        </p:sp>
        <p:sp>
          <p:nvSpPr>
            <p:cNvPr id="127" name="TextBox 127"/>
            <p:cNvSpPr txBox="1"/>
            <p:nvPr/>
          </p:nvSpPr>
          <p:spPr>
            <a:xfrm>
              <a:off x="9929622" y="1299210"/>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市场规模预测</a:t>
              </a:r>
            </a:p>
          </p:txBody>
        </p:sp>
        <p:sp>
          <p:nvSpPr>
            <p:cNvPr id="128" name="Rectangle 128"/>
            <p:cNvSpPr/>
            <p:nvPr/>
          </p:nvSpPr>
          <p:spPr>
            <a:xfrm>
              <a:off x="9115425" y="1676400"/>
              <a:ext cx="2628900" cy="4876800"/>
            </a:xfrm>
            <a:prstGeom prst="roundRect">
              <a:avLst>
                <a:gd name="adj" fmla="val 2899"/>
              </a:avLst>
            </a:prstGeom>
            <a:solidFill>
              <a:srgbClr val="EDF4FE"/>
            </a:solidFill>
            <a:ln w="9525">
              <a:solidFill>
                <a:srgbClr val="D2E4FE"/>
              </a:solidFill>
            </a:ln>
          </p:spPr>
        </p:sp>
        <p:sp>
          <p:nvSpPr>
            <p:cNvPr id="129" name="Rectangle 129"/>
            <p:cNvSpPr/>
            <p:nvPr/>
          </p:nvSpPr>
          <p:spPr>
            <a:xfrm>
              <a:off x="9658350" y="1752600"/>
              <a:ext cx="1524000" cy="247650"/>
            </a:xfrm>
            <a:prstGeom prst="roundRect">
              <a:avLst>
                <a:gd name="adj" fmla="val 50000"/>
              </a:avLst>
            </a:prstGeom>
            <a:gradFill>
              <a:gsLst>
                <a:gs pos="0">
                  <a:srgbClr val="FB684A"/>
                </a:gs>
                <a:gs pos="100000">
                  <a:srgbClr val="FA421D"/>
                </a:gs>
              </a:gsLst>
              <a:lin ang="5400000" scaled="1"/>
            </a:gradFill>
            <a:ln>
              <a:noFill/>
            </a:ln>
          </p:spPr>
        </p:sp>
        <p:sp>
          <p:nvSpPr>
            <p:cNvPr id="130" name="TextBox 130"/>
            <p:cNvSpPr txBox="1"/>
            <p:nvPr/>
          </p:nvSpPr>
          <p:spPr>
            <a:xfrm>
              <a:off x="10019614" y="1818799"/>
              <a:ext cx="801472"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市场规模预测</a:t>
              </a:r>
            </a:p>
          </p:txBody>
        </p:sp>
        <p:sp>
          <p:nvSpPr>
            <p:cNvPr id="131" name="TextBox 131"/>
            <p:cNvSpPr txBox="1"/>
            <p:nvPr/>
          </p:nvSpPr>
          <p:spPr>
            <a:xfrm>
              <a:off x="9215438" y="2112645"/>
              <a:ext cx="195262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3D241F"/>
                  </a:solidFill>
                  <a:latin typeface="+mn-lt"/>
                  <a:ea typeface="+mn-ea"/>
                  <a:cs typeface="+mn-cs"/>
                </a:rPr>
                <a:t>为企业提供目标市场规模分析、产业结</a:t>
              </a:r>
              <a:br/>
              <a:r>
                <a:rPr lang="zh-CN" sz="900" dirty="0">
                  <a:solidFill>
                    <a:srgbClr val="3D241F"/>
                  </a:solidFill>
                  <a:latin typeface="+mn-lt"/>
                  <a:ea typeface="+mn-ea"/>
                  <a:cs typeface="+mn-cs"/>
                </a:rPr>
                <a:t>构深度分析等服务</a:t>
              </a:r>
            </a:p>
          </p:txBody>
        </p:sp>
        <p:sp>
          <p:nvSpPr>
            <p:cNvPr id="132" name="Polygon 132"/>
            <p:cNvSpPr/>
            <p:nvPr/>
          </p:nvSpPr>
          <p:spPr>
            <a:xfrm>
              <a:off x="9420225" y="2533650"/>
              <a:ext cx="1971675" cy="1543050"/>
            </a:xfrm>
            <a:custGeom>
              <a:avLst/>
              <a:gdLst/>
              <a:ahLst/>
              <a:cxnLst/>
              <a:rect l="l" t="t" r="r" b="b"/>
              <a:pathLst>
                <a:path w="1971675" h="1543050">
                  <a:moveTo>
                    <a:pt x="133350" y="476250"/>
                  </a:moveTo>
                  <a:lnTo>
                    <a:pt x="257175" y="342900"/>
                  </a:lnTo>
                  <a:lnTo>
                    <a:pt x="419100" y="266700"/>
                  </a:lnTo>
                  <a:lnTo>
                    <a:pt x="590550" y="304800"/>
                  </a:lnTo>
                  <a:lnTo>
                    <a:pt x="714375" y="200025"/>
                  </a:lnTo>
                  <a:lnTo>
                    <a:pt x="885825" y="133350"/>
                  </a:lnTo>
                  <a:lnTo>
                    <a:pt x="1047750" y="171450"/>
                  </a:lnTo>
                  <a:lnTo>
                    <a:pt x="1181100" y="66675"/>
                  </a:lnTo>
                  <a:lnTo>
                    <a:pt x="1343025" y="0"/>
                  </a:lnTo>
                  <a:lnTo>
                    <a:pt x="1466850" y="28575"/>
                  </a:lnTo>
                  <a:lnTo>
                    <a:pt x="1600200" y="133350"/>
                  </a:lnTo>
                  <a:lnTo>
                    <a:pt x="1724025" y="28575"/>
                  </a:lnTo>
                  <a:lnTo>
                    <a:pt x="1885950" y="66675"/>
                  </a:lnTo>
                  <a:lnTo>
                    <a:pt x="1971675" y="200025"/>
                  </a:lnTo>
                  <a:lnTo>
                    <a:pt x="1885950" y="342900"/>
                  </a:lnTo>
                  <a:lnTo>
                    <a:pt x="1762125" y="409575"/>
                  </a:lnTo>
                  <a:lnTo>
                    <a:pt x="1809750" y="514350"/>
                  </a:lnTo>
                  <a:lnTo>
                    <a:pt x="1724025" y="609600"/>
                  </a:lnTo>
                  <a:lnTo>
                    <a:pt x="1638300" y="714375"/>
                  </a:lnTo>
                  <a:lnTo>
                    <a:pt x="1552575" y="857250"/>
                  </a:lnTo>
                  <a:lnTo>
                    <a:pt x="1514475" y="990600"/>
                  </a:lnTo>
                  <a:lnTo>
                    <a:pt x="1428750" y="1095375"/>
                  </a:lnTo>
                  <a:lnTo>
                    <a:pt x="1343025" y="1162050"/>
                  </a:lnTo>
                  <a:lnTo>
                    <a:pt x="1219200" y="1200150"/>
                  </a:lnTo>
                  <a:lnTo>
                    <a:pt x="1133475" y="1295400"/>
                  </a:lnTo>
                  <a:lnTo>
                    <a:pt x="1047750" y="1400175"/>
                  </a:lnTo>
                  <a:lnTo>
                    <a:pt x="971550" y="1504950"/>
                  </a:lnTo>
                  <a:lnTo>
                    <a:pt x="838200" y="1543050"/>
                  </a:lnTo>
                  <a:lnTo>
                    <a:pt x="714375" y="1466850"/>
                  </a:lnTo>
                  <a:lnTo>
                    <a:pt x="590550" y="1371600"/>
                  </a:lnTo>
                  <a:lnTo>
                    <a:pt x="466725" y="1295400"/>
                  </a:lnTo>
                  <a:lnTo>
                    <a:pt x="342900" y="1200150"/>
                  </a:lnTo>
                  <a:lnTo>
                    <a:pt x="209550" y="1095375"/>
                  </a:lnTo>
                  <a:lnTo>
                    <a:pt x="133350" y="952500"/>
                  </a:lnTo>
                  <a:lnTo>
                    <a:pt x="47625" y="819150"/>
                  </a:lnTo>
                  <a:lnTo>
                    <a:pt x="0" y="685800"/>
                  </a:lnTo>
                  <a:lnTo>
                    <a:pt x="47625" y="542925"/>
                  </a:lnTo>
                  <a:close/>
                </a:path>
              </a:pathLst>
            </a:custGeom>
            <a:solidFill>
              <a:srgbClr val="FBD2C9"/>
            </a:solidFill>
            <a:ln w="14288">
              <a:solidFill>
                <a:srgbClr val="FBAD9D"/>
              </a:solidFill>
            </a:ln>
          </p:spPr>
        </p:sp>
        <p:sp>
          <p:nvSpPr>
            <p:cNvPr id="133" name="Ellipse 133"/>
            <p:cNvSpPr/>
            <p:nvPr/>
          </p:nvSpPr>
          <p:spPr>
            <a:xfrm>
              <a:off x="11039475" y="2657475"/>
              <a:ext cx="209550" cy="209550"/>
            </a:xfrm>
            <a:prstGeom prst="ellipse">
              <a:avLst/>
            </a:prstGeom>
            <a:solidFill>
              <a:srgbClr val="FA421D"/>
            </a:solidFill>
            <a:ln>
              <a:noFill/>
            </a:ln>
          </p:spPr>
        </p:sp>
        <p:sp>
          <p:nvSpPr>
            <p:cNvPr id="134" name="Ellipse 134"/>
            <p:cNvSpPr/>
            <p:nvPr/>
          </p:nvSpPr>
          <p:spPr>
            <a:xfrm>
              <a:off x="10267950" y="3352800"/>
              <a:ext cx="190500" cy="190500"/>
            </a:xfrm>
            <a:prstGeom prst="ellipse">
              <a:avLst/>
            </a:prstGeom>
            <a:solidFill>
              <a:srgbClr val="FA421D"/>
            </a:solidFill>
            <a:ln>
              <a:noFill/>
            </a:ln>
          </p:spPr>
        </p:sp>
        <p:sp>
          <p:nvSpPr>
            <p:cNvPr id="135" name="Rectangle 135"/>
            <p:cNvSpPr/>
            <p:nvPr/>
          </p:nvSpPr>
          <p:spPr>
            <a:xfrm>
              <a:off x="9210675" y="4343400"/>
              <a:ext cx="2438400" cy="876300"/>
            </a:xfrm>
            <a:prstGeom prst="roundRect">
              <a:avLst>
                <a:gd name="adj" fmla="val 6522"/>
              </a:avLst>
            </a:prstGeom>
            <a:solidFill>
              <a:srgbClr val="FFFFFF"/>
            </a:solidFill>
            <a:ln>
              <a:noFill/>
            </a:ln>
          </p:spPr>
        </p:sp>
        <p:sp>
          <p:nvSpPr>
            <p:cNvPr id="136" name="TextBox 136"/>
            <p:cNvSpPr txBox="1"/>
            <p:nvPr/>
          </p:nvSpPr>
          <p:spPr>
            <a:xfrm>
              <a:off x="9301162" y="4417695"/>
              <a:ext cx="372999" cy="176212"/>
            </a:xfrm>
            <a:prstGeom prst="rect">
              <a:avLst/>
            </a:prstGeom>
            <a:noFill/>
            <a:ln>
              <a:noFill/>
            </a:ln>
          </p:spPr>
          <p:txBody>
            <a:bodyPr wrap="none" lIns="0" tIns="0" rIns="0" bIns="0" anchor="t" anchorCtr="0">
              <a:spAutoFit/>
            </a:bodyPr>
            <a:lstStyle/>
            <a:p>
              <a:pPr algn="l"/>
              <a:r>
                <a:rPr lang="zh-CN" sz="900" b="1" dirty="0">
                  <a:solidFill>
                    <a:srgbClr val="FA421D"/>
                  </a:solidFill>
                  <a:latin typeface="+mn-lt"/>
                  <a:ea typeface="+mn-ea"/>
                  <a:cs typeface="+mn-cs"/>
                </a:rPr>
                <a:t>哈尔滨</a:t>
              </a:r>
            </a:p>
          </p:txBody>
        </p:sp>
        <p:sp>
          <p:nvSpPr>
            <p:cNvPr id="137" name="TextBox 137"/>
            <p:cNvSpPr txBox="1"/>
            <p:nvPr/>
          </p:nvSpPr>
          <p:spPr>
            <a:xfrm>
              <a:off x="9301162" y="4591764"/>
              <a:ext cx="1790383" cy="583406"/>
            </a:xfrm>
            <a:prstGeom prst="rect">
              <a:avLst/>
            </a:prstGeom>
            <a:noFill/>
            <a:ln>
              <a:noFill/>
            </a:ln>
          </p:spPr>
          <p:txBody>
            <a:bodyPr wrap="none" lIns="0" tIns="0" rIns="0" bIns="0" anchor="t" anchorCtr="0">
              <a:spAutoFit/>
            </a:bodyPr>
            <a:lstStyle/>
            <a:p>
              <a:pPr algn="l" marL="85280" indent="-85280">
                <a:lnSpc>
                  <a:spcPts val="1125"/>
                </a:lnSpc>
                <a:buClr>
                  <a:srgbClr val="3D241F"/>
                </a:buClr>
                <a:buSzTx/>
                <a:buFontTx/>
                <a:buChar char="•"/>
              </a:pPr>
              <a:r>
                <a:rPr lang="zh-CN" sz="790" dirty="0">
                  <a:solidFill>
                    <a:srgbClr val="3D241F"/>
                  </a:solidFill>
                  <a:latin typeface="+mn-lt"/>
                  <a:ea typeface="+mn-ea"/>
                  <a:cs typeface="+mn-cs"/>
                </a:rPr>
                <a:t>市场规模:951302家​</a:t>
              </a:r>
            </a:p>
            <a:p>
              <a:pPr algn="l" marL="85280" indent="-85280">
                <a:lnSpc>
                  <a:spcPts val="1125"/>
                </a:lnSpc>
                <a:buClr>
                  <a:srgbClr val="3D241F"/>
                </a:buClr>
                <a:buSzTx/>
                <a:buFontTx/>
                <a:buChar char="•"/>
              </a:pPr>
              <a:r>
                <a:rPr lang="zh-CN" sz="790" dirty="0">
                  <a:solidFill>
                    <a:srgbClr val="3D241F"/>
                  </a:solidFill>
                  <a:latin typeface="+mn-lt"/>
                  <a:ea typeface="+mn-ea"/>
                  <a:cs typeface="+mn-cs"/>
                </a:rPr>
                <a:t>行业分布:互联网1.4%、金融0.4%等​</a:t>
              </a:r>
            </a:p>
            <a:p>
              <a:pPr algn="l" marL="85280" indent="-85280">
                <a:lnSpc>
                  <a:spcPts val="1125"/>
                </a:lnSpc>
                <a:buClr>
                  <a:srgbClr val="3D241F"/>
                </a:buClr>
                <a:buSzTx/>
                <a:buFontTx/>
                <a:buChar char="•"/>
              </a:pPr>
              <a:r>
                <a:rPr lang="zh-CN" sz="790" dirty="0">
                  <a:solidFill>
                    <a:srgbClr val="3D241F"/>
                  </a:solidFill>
                  <a:latin typeface="+mn-lt"/>
                  <a:ea typeface="+mn-ea"/>
                  <a:cs typeface="+mn-cs"/>
                </a:rPr>
                <a:t>新增企业:互联网320家,增长率23%​</a:t>
              </a:r>
            </a:p>
            <a:p>
              <a:pPr algn="l" marL="85280" indent="-85280">
                <a:lnSpc>
                  <a:spcPts val="1125"/>
                </a:lnSpc>
                <a:buClr>
                  <a:srgbClr val="3D241F"/>
                </a:buClr>
                <a:buSzTx/>
                <a:buFontTx/>
                <a:buChar char="•"/>
              </a:pPr>
              <a:r>
                <a:rPr lang="zh-CN" sz="790" dirty="0">
                  <a:solidFill>
                    <a:srgbClr val="3D241F"/>
                  </a:solidFill>
                  <a:latin typeface="+mn-lt"/>
                  <a:ea typeface="+mn-ea"/>
                  <a:cs typeface="+mn-cs"/>
                </a:rPr>
                <a:t>产业集聚区:3​</a:t>
              </a:r>
            </a:p>
          </p:txBody>
        </p:sp>
        <p:sp>
          <p:nvSpPr>
            <p:cNvPr id="138" name="Rectangle 138"/>
            <p:cNvSpPr/>
            <p:nvPr/>
          </p:nvSpPr>
          <p:spPr>
            <a:xfrm>
              <a:off x="9210675" y="5314950"/>
              <a:ext cx="2438400" cy="876300"/>
            </a:xfrm>
            <a:prstGeom prst="roundRect">
              <a:avLst>
                <a:gd name="adj" fmla="val 6522"/>
              </a:avLst>
            </a:prstGeom>
            <a:solidFill>
              <a:srgbClr val="FFFFFF"/>
            </a:solidFill>
            <a:ln>
              <a:noFill/>
            </a:ln>
          </p:spPr>
        </p:sp>
        <p:sp>
          <p:nvSpPr>
            <p:cNvPr id="139" name="TextBox 139"/>
            <p:cNvSpPr txBox="1"/>
            <p:nvPr/>
          </p:nvSpPr>
          <p:spPr>
            <a:xfrm>
              <a:off x="9301162" y="5389245"/>
              <a:ext cx="251841" cy="176212"/>
            </a:xfrm>
            <a:prstGeom prst="rect">
              <a:avLst/>
            </a:prstGeom>
            <a:noFill/>
            <a:ln>
              <a:noFill/>
            </a:ln>
          </p:spPr>
          <p:txBody>
            <a:bodyPr wrap="none" lIns="0" tIns="0" rIns="0" bIns="0" anchor="t" anchorCtr="0">
              <a:spAutoFit/>
            </a:bodyPr>
            <a:lstStyle/>
            <a:p>
              <a:pPr algn="l"/>
              <a:r>
                <a:rPr lang="zh-CN" sz="900" b="1" dirty="0">
                  <a:solidFill>
                    <a:srgbClr val="FA421D"/>
                  </a:solidFill>
                  <a:latin typeface="+mn-lt"/>
                  <a:ea typeface="+mn-ea"/>
                  <a:cs typeface="+mn-cs"/>
                </a:rPr>
                <a:t>北京</a:t>
              </a:r>
            </a:p>
          </p:txBody>
        </p:sp>
        <p:sp>
          <p:nvSpPr>
            <p:cNvPr id="140" name="TextBox 140"/>
            <p:cNvSpPr txBox="1"/>
            <p:nvPr/>
          </p:nvSpPr>
          <p:spPr>
            <a:xfrm>
              <a:off x="9301162" y="5563314"/>
              <a:ext cx="1900746" cy="583406"/>
            </a:xfrm>
            <a:prstGeom prst="rect">
              <a:avLst/>
            </a:prstGeom>
            <a:noFill/>
            <a:ln>
              <a:noFill/>
            </a:ln>
          </p:spPr>
          <p:txBody>
            <a:bodyPr wrap="none" lIns="0" tIns="0" rIns="0" bIns="0" anchor="t" anchorCtr="0">
              <a:spAutoFit/>
            </a:bodyPr>
            <a:lstStyle/>
            <a:p>
              <a:pPr algn="l" marL="85280" indent="-85280">
                <a:lnSpc>
                  <a:spcPts val="1125"/>
                </a:lnSpc>
                <a:buClr>
                  <a:srgbClr val="3D241F"/>
                </a:buClr>
                <a:buSzTx/>
                <a:buFontTx/>
                <a:buChar char="•"/>
              </a:pPr>
              <a:r>
                <a:rPr lang="zh-CN" sz="790" dirty="0">
                  <a:solidFill>
                    <a:srgbClr val="3D241F"/>
                  </a:solidFill>
                  <a:latin typeface="+mn-lt"/>
                  <a:ea typeface="+mn-ea"/>
                  <a:cs typeface="+mn-cs"/>
                </a:rPr>
                <a:t>市场规模:2490582家​</a:t>
              </a:r>
            </a:p>
            <a:p>
              <a:pPr algn="l" marL="85280" indent="-85280">
                <a:lnSpc>
                  <a:spcPts val="1125"/>
                </a:lnSpc>
                <a:buClr>
                  <a:srgbClr val="3D241F"/>
                </a:buClr>
                <a:buSzTx/>
                <a:buFontTx/>
                <a:buChar char="•"/>
              </a:pPr>
              <a:r>
                <a:rPr lang="zh-CN" sz="790" dirty="0">
                  <a:solidFill>
                    <a:srgbClr val="3D241F"/>
                  </a:solidFill>
                  <a:latin typeface="+mn-lt"/>
                  <a:ea typeface="+mn-ea"/>
                  <a:cs typeface="+mn-cs"/>
                </a:rPr>
                <a:t>行业分布:互联网1.19%、金融0.25%等​</a:t>
              </a:r>
            </a:p>
            <a:p>
              <a:pPr algn="l" marL="85280" indent="-85280">
                <a:lnSpc>
                  <a:spcPts val="1125"/>
                </a:lnSpc>
                <a:buClr>
                  <a:srgbClr val="3D241F"/>
                </a:buClr>
                <a:buSzTx/>
                <a:buFontTx/>
                <a:buChar char="•"/>
              </a:pPr>
              <a:r>
                <a:rPr lang="zh-CN" sz="790" dirty="0">
                  <a:solidFill>
                    <a:srgbClr val="3D241F"/>
                  </a:solidFill>
                  <a:latin typeface="+mn-lt"/>
                  <a:ea typeface="+mn-ea"/>
                  <a:cs typeface="+mn-cs"/>
                </a:rPr>
                <a:t>新增企业:互联网3200家,增长率12%​</a:t>
              </a:r>
            </a:p>
            <a:p>
              <a:pPr algn="l" marL="85280" indent="-85280">
                <a:lnSpc>
                  <a:spcPts val="1125"/>
                </a:lnSpc>
                <a:buClr>
                  <a:srgbClr val="3D241F"/>
                </a:buClr>
                <a:buSzTx/>
                <a:buFontTx/>
                <a:buChar char="•"/>
              </a:pPr>
              <a:r>
                <a:rPr lang="zh-CN" sz="790" dirty="0">
                  <a:solidFill>
                    <a:srgbClr val="3D241F"/>
                  </a:solidFill>
                  <a:latin typeface="+mn-lt"/>
                  <a:ea typeface="+mn-ea"/>
                  <a:cs typeface="+mn-cs"/>
                </a:rPr>
                <a:t>产业集聚区:21​</a:t>
              </a:r>
            </a:p>
          </p:txBody>
        </p:sp>
      </p:gr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panel"/>
          <p:cNvSpPr/>
          <p:nvPr/>
        </p:nvSpPr>
        <p:spPr>
          <a:xfrm>
            <a:off x="171450" y="1009650"/>
            <a:ext cx="11849100" cy="5676900"/>
          </a:xfrm>
          <a:prstGeom prst="roundRect">
            <a:avLst>
              <a:gd name="adj" fmla="val 2013"/>
            </a:avLst>
          </a:prstGeom>
          <a:solidFill>
            <a:srgbClr val="FFFFFF">
              <a:alpha val="75000"/>
            </a:srgbClr>
          </a:solidFill>
          <a:ln w="14288">
            <a:solidFill>
              <a:srgbClr val="FBD2C9"/>
            </a:solidFill>
          </a:ln>
        </p:spPr>
      </p:sp>
      <p:grpSp>
        <p:nvGrpSpPr>
          <p:cNvPr id="7" name="header"/>
          <p:cNvGrpSpPr/>
          <p:nvPr/>
        </p:nvGrpSpPr>
        <p:grpSpPr>
          <a:xfrm>
            <a:off x="0" y="0"/>
            <a:ext cx="12192000" cy="551879"/>
            <a:chOff x="0" y="0"/>
            <a:chExt cx="12192000"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4" name="TextBox 4"/>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03</a:t>
              </a:r>
            </a:p>
          </p:txBody>
        </p:sp>
        <p:sp>
          <p:nvSpPr>
            <p:cNvPr id="5" name="TextBox 5"/>
            <p:cNvSpPr txBox="1"/>
            <p:nvPr/>
          </p:nvSpPr>
          <p:spPr>
            <a:xfrm>
              <a:off x="904494" y="170498"/>
              <a:ext cx="2036909"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IT/IDC智能运维​</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2" name="governance-band"/>
          <p:cNvGrpSpPr/>
          <p:nvPr/>
        </p:nvGrpSpPr>
        <p:grpSpPr>
          <a:xfrm>
            <a:off x="381000" y="1181100"/>
            <a:ext cx="11430000" cy="666750"/>
            <a:chOff x="381000" y="1181100"/>
            <a:chExt cx="11430000" cy="666750"/>
          </a:xfrm>
        </p:grpSpPr>
        <p:sp>
          <p:nvSpPr>
            <p:cNvPr id="8" name="Rectangle 8"/>
            <p:cNvSpPr/>
            <p:nvPr/>
          </p:nvSpPr>
          <p:spPr>
            <a:xfrm>
              <a:off x="381000" y="1600200"/>
              <a:ext cx="11430000" cy="247650"/>
            </a:xfrm>
            <a:prstGeom prst="roundRect">
              <a:avLst>
                <a:gd name="adj" fmla="val 15385"/>
              </a:avLst>
            </a:prstGeom>
            <a:solidFill>
              <a:srgbClr val="D2E4FE"/>
            </a:solidFill>
            <a:ln>
              <a:noFill/>
            </a:ln>
          </p:spPr>
        </p:sp>
        <p:sp>
          <p:nvSpPr>
            <p:cNvPr id="9" name="Rectangle 9"/>
            <p:cNvSpPr/>
            <p:nvPr/>
          </p:nvSpPr>
          <p:spPr>
            <a:xfrm>
              <a:off x="790575" y="1181100"/>
              <a:ext cx="1352550" cy="323850"/>
            </a:xfrm>
            <a:prstGeom prst="roundRect">
              <a:avLst>
                <a:gd name="adj" fmla="val 11765"/>
              </a:avLst>
            </a:prstGeom>
            <a:gradFill>
              <a:gsLst>
                <a:gs pos="0">
                  <a:srgbClr val="FB684A"/>
                </a:gs>
                <a:gs pos="100000">
                  <a:srgbClr val="FA421D"/>
                </a:gs>
              </a:gsLst>
              <a:lin ang="5400000" scaled="1"/>
            </a:gradFill>
            <a:ln>
              <a:noFill/>
            </a:ln>
          </p:spPr>
        </p:sp>
        <p:sp>
          <p:nvSpPr>
            <p:cNvPr id="10" name="TextBox 10"/>
            <p:cNvSpPr txBox="1"/>
            <p:nvPr/>
          </p:nvSpPr>
          <p:spPr>
            <a:xfrm>
              <a:off x="1178814" y="1286828"/>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安全管理</a:t>
              </a:r>
            </a:p>
          </p:txBody>
        </p:sp>
        <p:sp>
          <p:nvSpPr>
            <p:cNvPr id="11" name="Rectangle 11"/>
            <p:cNvSpPr/>
            <p:nvPr/>
          </p:nvSpPr>
          <p:spPr>
            <a:xfrm>
              <a:off x="2400300" y="1181100"/>
              <a:ext cx="1352550" cy="323850"/>
            </a:xfrm>
            <a:prstGeom prst="roundRect">
              <a:avLst>
                <a:gd name="adj" fmla="val 11765"/>
              </a:avLst>
            </a:prstGeom>
            <a:gradFill>
              <a:gsLst>
                <a:gs pos="0">
                  <a:srgbClr val="FB684A"/>
                </a:gs>
                <a:gs pos="100000">
                  <a:srgbClr val="FA421D"/>
                </a:gs>
              </a:gsLst>
              <a:lin ang="5400000" scaled="1"/>
            </a:gradFill>
            <a:ln>
              <a:noFill/>
            </a:ln>
          </p:spPr>
        </p:sp>
        <p:sp>
          <p:nvSpPr>
            <p:cNvPr id="12" name="TextBox 12"/>
            <p:cNvSpPr txBox="1"/>
            <p:nvPr/>
          </p:nvSpPr>
          <p:spPr>
            <a:xfrm>
              <a:off x="2788539" y="1286828"/>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数据管理</a:t>
              </a:r>
            </a:p>
          </p:txBody>
        </p:sp>
        <p:sp>
          <p:nvSpPr>
            <p:cNvPr id="13" name="Rectangle 13"/>
            <p:cNvSpPr/>
            <p:nvPr/>
          </p:nvSpPr>
          <p:spPr>
            <a:xfrm>
              <a:off x="3924300" y="1181100"/>
              <a:ext cx="1352550" cy="323850"/>
            </a:xfrm>
            <a:prstGeom prst="roundRect">
              <a:avLst>
                <a:gd name="adj" fmla="val 11765"/>
              </a:avLst>
            </a:prstGeom>
            <a:gradFill>
              <a:gsLst>
                <a:gs pos="0">
                  <a:srgbClr val="FB684A"/>
                </a:gs>
                <a:gs pos="100000">
                  <a:srgbClr val="FA421D"/>
                </a:gs>
              </a:gsLst>
              <a:lin ang="5400000" scaled="1"/>
            </a:gradFill>
            <a:ln>
              <a:noFill/>
            </a:ln>
          </p:spPr>
        </p:sp>
        <p:sp>
          <p:nvSpPr>
            <p:cNvPr id="14" name="TextBox 14"/>
            <p:cNvSpPr txBox="1"/>
            <p:nvPr/>
          </p:nvSpPr>
          <p:spPr>
            <a:xfrm>
              <a:off x="4312539" y="1286828"/>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权限管理</a:t>
              </a:r>
            </a:p>
          </p:txBody>
        </p:sp>
        <p:sp>
          <p:nvSpPr>
            <p:cNvPr id="15" name="TextBox 15"/>
            <p:cNvSpPr txBox="1"/>
            <p:nvPr/>
          </p:nvSpPr>
          <p:spPr>
            <a:xfrm>
              <a:off x="5725668" y="1283018"/>
              <a:ext cx="740664" cy="264033"/>
            </a:xfrm>
            <a:prstGeom prst="rect">
              <a:avLst/>
            </a:prstGeom>
            <a:noFill/>
            <a:ln>
              <a:noFill/>
            </a:ln>
          </p:spPr>
          <p:txBody>
            <a:bodyPr wrap="none" lIns="0" tIns="0" rIns="0" bIns="0" anchor="t" anchorCtr="0">
              <a:spAutoFit/>
            </a:bodyPr>
            <a:lstStyle/>
            <a:p>
              <a:pPr algn="ctr"/>
              <a:r>
                <a:rPr lang="zh-CN" sz="1350" b="1" dirty="0">
                  <a:solidFill>
                    <a:srgbClr val="FA421D"/>
                  </a:solidFill>
                  <a:latin typeface="+mn-lt"/>
                  <a:ea typeface="+mn-ea"/>
                  <a:cs typeface="+mn-cs"/>
                </a:rPr>
                <a:t>运维治理</a:t>
              </a:r>
            </a:p>
          </p:txBody>
        </p:sp>
        <p:sp>
          <p:nvSpPr>
            <p:cNvPr id="16" name="Rectangle 16"/>
            <p:cNvSpPr/>
            <p:nvPr/>
          </p:nvSpPr>
          <p:spPr>
            <a:xfrm>
              <a:off x="6943725" y="1181100"/>
              <a:ext cx="1352550" cy="323850"/>
            </a:xfrm>
            <a:prstGeom prst="roundRect">
              <a:avLst>
                <a:gd name="adj" fmla="val 11765"/>
              </a:avLst>
            </a:prstGeom>
            <a:gradFill>
              <a:gsLst>
                <a:gs pos="0">
                  <a:srgbClr val="FB684A"/>
                </a:gs>
                <a:gs pos="100000">
                  <a:srgbClr val="FA421D"/>
                </a:gs>
              </a:gsLst>
              <a:lin ang="5400000" scaled="1"/>
            </a:gradFill>
            <a:ln>
              <a:noFill/>
            </a:ln>
          </p:spPr>
        </p:sp>
        <p:sp>
          <p:nvSpPr>
            <p:cNvPr id="17" name="TextBox 17"/>
            <p:cNvSpPr txBox="1"/>
            <p:nvPr/>
          </p:nvSpPr>
          <p:spPr>
            <a:xfrm>
              <a:off x="7329897" y="1286828"/>
              <a:ext cx="580206"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API管理​</a:t>
              </a:r>
            </a:p>
          </p:txBody>
        </p:sp>
        <p:sp>
          <p:nvSpPr>
            <p:cNvPr id="18" name="Rectangle 18"/>
            <p:cNvSpPr/>
            <p:nvPr/>
          </p:nvSpPr>
          <p:spPr>
            <a:xfrm>
              <a:off x="8572500" y="1181100"/>
              <a:ext cx="1352550" cy="323850"/>
            </a:xfrm>
            <a:prstGeom prst="roundRect">
              <a:avLst>
                <a:gd name="adj" fmla="val 11765"/>
              </a:avLst>
            </a:prstGeom>
            <a:gradFill>
              <a:gsLst>
                <a:gs pos="0">
                  <a:srgbClr val="FB684A"/>
                </a:gs>
                <a:gs pos="100000">
                  <a:srgbClr val="FA421D"/>
                </a:gs>
              </a:gsLst>
              <a:lin ang="5400000" scaled="1"/>
            </a:gradFill>
            <a:ln>
              <a:noFill/>
            </a:ln>
          </p:spPr>
        </p:sp>
        <p:sp>
          <p:nvSpPr>
            <p:cNvPr id="19" name="TextBox 19"/>
            <p:cNvSpPr txBox="1"/>
            <p:nvPr/>
          </p:nvSpPr>
          <p:spPr>
            <a:xfrm>
              <a:off x="8960739" y="1286828"/>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监控管理</a:t>
              </a:r>
            </a:p>
          </p:txBody>
        </p:sp>
        <p:sp>
          <p:nvSpPr>
            <p:cNvPr id="20" name="Rectangle 20"/>
            <p:cNvSpPr/>
            <p:nvPr/>
          </p:nvSpPr>
          <p:spPr>
            <a:xfrm>
              <a:off x="10096500" y="1181100"/>
              <a:ext cx="1352550" cy="323850"/>
            </a:xfrm>
            <a:prstGeom prst="roundRect">
              <a:avLst>
                <a:gd name="adj" fmla="val 11765"/>
              </a:avLst>
            </a:prstGeom>
            <a:gradFill>
              <a:gsLst>
                <a:gs pos="0">
                  <a:srgbClr val="FB684A"/>
                </a:gs>
                <a:gs pos="100000">
                  <a:srgbClr val="FA421D"/>
                </a:gs>
              </a:gsLst>
              <a:lin ang="5400000" scaled="1"/>
            </a:gradFill>
            <a:ln>
              <a:noFill/>
            </a:ln>
          </p:spPr>
        </p:sp>
        <p:sp>
          <p:nvSpPr>
            <p:cNvPr id="21" name="TextBox 21"/>
            <p:cNvSpPr txBox="1"/>
            <p:nvPr/>
          </p:nvSpPr>
          <p:spPr>
            <a:xfrm>
              <a:off x="10484739" y="1286828"/>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流程管理</a:t>
              </a:r>
            </a:p>
          </p:txBody>
        </p:sp>
      </p:grpSp>
      <p:grpSp>
        <p:nvGrpSpPr>
          <p:cNvPr id="46" name="col-business-need"/>
          <p:cNvGrpSpPr/>
          <p:nvPr/>
        </p:nvGrpSpPr>
        <p:grpSpPr>
          <a:xfrm>
            <a:off x="447675" y="2114550"/>
            <a:ext cx="2381250" cy="3276600"/>
            <a:chOff x="447675" y="2114550"/>
            <a:chExt cx="2381250" cy="3276600"/>
          </a:xfrm>
        </p:grpSpPr>
        <p:sp>
          <p:nvSpPr>
            <p:cNvPr id="23" name="Rectangle 23"/>
            <p:cNvSpPr/>
            <p:nvPr/>
          </p:nvSpPr>
          <p:spPr>
            <a:xfrm>
              <a:off x="447675" y="2114550"/>
              <a:ext cx="2381250" cy="381000"/>
            </a:xfrm>
            <a:prstGeom prst="roundRect">
              <a:avLst>
                <a:gd name="adj" fmla="val 15000"/>
              </a:avLst>
            </a:prstGeom>
            <a:gradFill>
              <a:gsLst>
                <a:gs pos="0">
                  <a:srgbClr val="FB684A"/>
                </a:gs>
                <a:gs pos="100000">
                  <a:srgbClr val="FA421D"/>
                </a:gs>
              </a:gsLst>
              <a:lin ang="5400000" scaled="1"/>
            </a:gradFill>
            <a:ln>
              <a:noFill/>
            </a:ln>
          </p:spPr>
        </p:sp>
        <p:sp>
          <p:nvSpPr>
            <p:cNvPr id="24" name="TextBox 24"/>
            <p:cNvSpPr txBox="1"/>
            <p:nvPr/>
          </p:nvSpPr>
          <p:spPr>
            <a:xfrm>
              <a:off x="1309116" y="223266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业务需求</a:t>
              </a:r>
            </a:p>
          </p:txBody>
        </p:sp>
        <p:sp>
          <p:nvSpPr>
            <p:cNvPr id="25" name="Rectangle 25"/>
            <p:cNvSpPr/>
            <p:nvPr/>
          </p:nvSpPr>
          <p:spPr>
            <a:xfrm>
              <a:off x="447675" y="2495550"/>
              <a:ext cx="2381250" cy="2895600"/>
            </a:xfrm>
            <a:prstGeom prst="roundRect">
              <a:avLst>
                <a:gd name="adj" fmla="val 2400"/>
              </a:avLst>
            </a:prstGeom>
            <a:solidFill>
              <a:srgbClr val="EDF4FE"/>
            </a:solidFill>
            <a:ln>
              <a:noFill/>
            </a:ln>
          </p:spPr>
        </p:sp>
        <p:sp>
          <p:nvSpPr>
            <p:cNvPr id="26" name="Rectangle 26"/>
            <p:cNvSpPr/>
            <p:nvPr/>
          </p:nvSpPr>
          <p:spPr>
            <a:xfrm>
              <a:off x="523875" y="2609850"/>
              <a:ext cx="1085850" cy="400050"/>
            </a:xfrm>
            <a:prstGeom prst="roundRect">
              <a:avLst>
                <a:gd name="adj" fmla="val 9524"/>
              </a:avLst>
            </a:prstGeom>
            <a:solidFill>
              <a:srgbClr val="FFFFFF"/>
            </a:solidFill>
            <a:ln>
              <a:noFill/>
            </a:ln>
          </p:spPr>
        </p:sp>
        <p:sp>
          <p:nvSpPr>
            <p:cNvPr id="27" name="TextBox 27"/>
            <p:cNvSpPr txBox="1"/>
            <p:nvPr/>
          </p:nvSpPr>
          <p:spPr>
            <a:xfrm>
              <a:off x="778764" y="27536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网络设备</a:t>
              </a:r>
            </a:p>
          </p:txBody>
        </p:sp>
        <p:sp>
          <p:nvSpPr>
            <p:cNvPr id="28" name="Rectangle 28"/>
            <p:cNvSpPr/>
            <p:nvPr/>
          </p:nvSpPr>
          <p:spPr>
            <a:xfrm>
              <a:off x="1685925" y="2609850"/>
              <a:ext cx="1085850" cy="400050"/>
            </a:xfrm>
            <a:prstGeom prst="roundRect">
              <a:avLst>
                <a:gd name="adj" fmla="val 9524"/>
              </a:avLst>
            </a:prstGeom>
            <a:solidFill>
              <a:srgbClr val="FFFFFF"/>
            </a:solidFill>
            <a:ln>
              <a:noFill/>
            </a:ln>
          </p:spPr>
        </p:sp>
        <p:sp>
          <p:nvSpPr>
            <p:cNvPr id="29" name="TextBox 29"/>
            <p:cNvSpPr txBox="1"/>
            <p:nvPr/>
          </p:nvSpPr>
          <p:spPr>
            <a:xfrm>
              <a:off x="2011490" y="2753678"/>
              <a:ext cx="434721"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服务器</a:t>
              </a:r>
            </a:p>
          </p:txBody>
        </p:sp>
        <p:sp>
          <p:nvSpPr>
            <p:cNvPr id="30" name="Rectangle 30"/>
            <p:cNvSpPr/>
            <p:nvPr/>
          </p:nvSpPr>
          <p:spPr>
            <a:xfrm>
              <a:off x="523875" y="3105150"/>
              <a:ext cx="1085850" cy="400050"/>
            </a:xfrm>
            <a:prstGeom prst="roundRect">
              <a:avLst>
                <a:gd name="adj" fmla="val 9524"/>
              </a:avLst>
            </a:prstGeom>
            <a:solidFill>
              <a:srgbClr val="FFFFFF"/>
            </a:solidFill>
            <a:ln>
              <a:noFill/>
            </a:ln>
          </p:spPr>
        </p:sp>
        <p:sp>
          <p:nvSpPr>
            <p:cNvPr id="31" name="TextBox 31"/>
            <p:cNvSpPr txBox="1"/>
            <p:nvPr/>
          </p:nvSpPr>
          <p:spPr>
            <a:xfrm>
              <a:off x="778764" y="32489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机房设施</a:t>
              </a:r>
            </a:p>
          </p:txBody>
        </p:sp>
        <p:sp>
          <p:nvSpPr>
            <p:cNvPr id="32" name="Rectangle 32"/>
            <p:cNvSpPr/>
            <p:nvPr/>
          </p:nvSpPr>
          <p:spPr>
            <a:xfrm>
              <a:off x="1685925" y="3105150"/>
              <a:ext cx="1085850" cy="400050"/>
            </a:xfrm>
            <a:prstGeom prst="roundRect">
              <a:avLst>
                <a:gd name="adj" fmla="val 9524"/>
              </a:avLst>
            </a:prstGeom>
            <a:solidFill>
              <a:srgbClr val="FFFFFF"/>
            </a:solidFill>
            <a:ln>
              <a:noFill/>
            </a:ln>
          </p:spPr>
        </p:sp>
        <p:sp>
          <p:nvSpPr>
            <p:cNvPr id="33" name="TextBox 33"/>
            <p:cNvSpPr txBox="1"/>
            <p:nvPr/>
          </p:nvSpPr>
          <p:spPr>
            <a:xfrm>
              <a:off x="2059229" y="3248978"/>
              <a:ext cx="339242" cy="205359"/>
            </a:xfrm>
            <a:prstGeom prst="rect">
              <a:avLst/>
            </a:prstGeom>
            <a:noFill/>
            <a:ln>
              <a:noFill/>
            </a:ln>
          </p:spPr>
          <p:txBody>
            <a:bodyPr wrap="none" lIns="0" tIns="0" rIns="0" bIns="0" anchor="t" anchorCtr="0">
              <a:spAutoFit/>
            </a:bodyPr>
            <a:lstStyle/>
            <a:p>
              <a:pPr algn="ctr"/>
              <a:r>
                <a:rPr lang="en-US" sz="1050" dirty="0">
                  <a:solidFill>
                    <a:srgbClr val="3D241F"/>
                  </a:solidFill>
                  <a:latin typeface="+mn-lt"/>
                  <a:ea typeface="+mn-ea"/>
                  <a:cs typeface="+mn-cs"/>
                </a:rPr>
                <a:t>CDN​</a:t>
              </a:r>
            </a:p>
          </p:txBody>
        </p:sp>
        <p:sp>
          <p:nvSpPr>
            <p:cNvPr id="34" name="Rectangle 34"/>
            <p:cNvSpPr/>
            <p:nvPr/>
          </p:nvSpPr>
          <p:spPr>
            <a:xfrm>
              <a:off x="523875" y="3600450"/>
              <a:ext cx="1085850" cy="400050"/>
            </a:xfrm>
            <a:prstGeom prst="roundRect">
              <a:avLst>
                <a:gd name="adj" fmla="val 9524"/>
              </a:avLst>
            </a:prstGeom>
            <a:solidFill>
              <a:srgbClr val="FFFFFF"/>
            </a:solidFill>
            <a:ln>
              <a:noFill/>
            </a:ln>
          </p:spPr>
        </p:sp>
        <p:sp>
          <p:nvSpPr>
            <p:cNvPr id="35" name="TextBox 35"/>
            <p:cNvSpPr txBox="1"/>
            <p:nvPr/>
          </p:nvSpPr>
          <p:spPr>
            <a:xfrm>
              <a:off x="849439" y="3744278"/>
              <a:ext cx="434721"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虚拟化</a:t>
              </a:r>
            </a:p>
          </p:txBody>
        </p:sp>
        <p:sp>
          <p:nvSpPr>
            <p:cNvPr id="36" name="Rectangle 36"/>
            <p:cNvSpPr/>
            <p:nvPr/>
          </p:nvSpPr>
          <p:spPr>
            <a:xfrm>
              <a:off x="1685925" y="3600450"/>
              <a:ext cx="1085850" cy="400050"/>
            </a:xfrm>
            <a:prstGeom prst="roundRect">
              <a:avLst>
                <a:gd name="adj" fmla="val 9524"/>
              </a:avLst>
            </a:prstGeom>
            <a:solidFill>
              <a:srgbClr val="FFFFFF"/>
            </a:solidFill>
            <a:ln>
              <a:noFill/>
            </a:ln>
          </p:spPr>
        </p:sp>
        <p:sp>
          <p:nvSpPr>
            <p:cNvPr id="37" name="TextBox 37"/>
            <p:cNvSpPr txBox="1"/>
            <p:nvPr/>
          </p:nvSpPr>
          <p:spPr>
            <a:xfrm>
              <a:off x="1940814" y="37442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设备采购</a:t>
              </a:r>
            </a:p>
          </p:txBody>
        </p:sp>
        <p:sp>
          <p:nvSpPr>
            <p:cNvPr id="38" name="Rectangle 38"/>
            <p:cNvSpPr/>
            <p:nvPr/>
          </p:nvSpPr>
          <p:spPr>
            <a:xfrm>
              <a:off x="523875" y="4095750"/>
              <a:ext cx="1085850" cy="400050"/>
            </a:xfrm>
            <a:prstGeom prst="roundRect">
              <a:avLst>
                <a:gd name="adj" fmla="val 9524"/>
              </a:avLst>
            </a:prstGeom>
            <a:solidFill>
              <a:srgbClr val="FFFFFF"/>
            </a:solidFill>
            <a:ln>
              <a:noFill/>
            </a:ln>
          </p:spPr>
        </p:sp>
        <p:sp>
          <p:nvSpPr>
            <p:cNvPr id="39" name="TextBox 39"/>
            <p:cNvSpPr txBox="1"/>
            <p:nvPr/>
          </p:nvSpPr>
          <p:spPr>
            <a:xfrm>
              <a:off x="778764" y="42395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操作系统</a:t>
              </a:r>
            </a:p>
          </p:txBody>
        </p:sp>
        <p:sp>
          <p:nvSpPr>
            <p:cNvPr id="40" name="Rectangle 40"/>
            <p:cNvSpPr/>
            <p:nvPr/>
          </p:nvSpPr>
          <p:spPr>
            <a:xfrm>
              <a:off x="1685925" y="4095750"/>
              <a:ext cx="1085850" cy="400050"/>
            </a:xfrm>
            <a:prstGeom prst="roundRect">
              <a:avLst>
                <a:gd name="adj" fmla="val 9524"/>
              </a:avLst>
            </a:prstGeom>
            <a:solidFill>
              <a:srgbClr val="FFFFFF"/>
            </a:solidFill>
            <a:ln>
              <a:noFill/>
            </a:ln>
          </p:spPr>
        </p:sp>
        <p:sp>
          <p:nvSpPr>
            <p:cNvPr id="41" name="TextBox 41"/>
            <p:cNvSpPr txBox="1"/>
            <p:nvPr/>
          </p:nvSpPr>
          <p:spPr>
            <a:xfrm>
              <a:off x="1940814" y="42395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多云管理</a:t>
              </a:r>
            </a:p>
          </p:txBody>
        </p:sp>
        <p:sp>
          <p:nvSpPr>
            <p:cNvPr id="42" name="Rectangle 42"/>
            <p:cNvSpPr/>
            <p:nvPr/>
          </p:nvSpPr>
          <p:spPr>
            <a:xfrm>
              <a:off x="523875" y="4591050"/>
              <a:ext cx="1085850" cy="400050"/>
            </a:xfrm>
            <a:prstGeom prst="roundRect">
              <a:avLst>
                <a:gd name="adj" fmla="val 9524"/>
              </a:avLst>
            </a:prstGeom>
            <a:solidFill>
              <a:srgbClr val="FFFFFF"/>
            </a:solidFill>
            <a:ln>
              <a:noFill/>
            </a:ln>
          </p:spPr>
        </p:sp>
        <p:sp>
          <p:nvSpPr>
            <p:cNvPr id="43" name="TextBox 43"/>
            <p:cNvSpPr txBox="1"/>
            <p:nvPr/>
          </p:nvSpPr>
          <p:spPr>
            <a:xfrm>
              <a:off x="897179" y="4734878"/>
              <a:ext cx="339242" cy="205359"/>
            </a:xfrm>
            <a:prstGeom prst="rect">
              <a:avLst/>
            </a:prstGeom>
            <a:noFill/>
            <a:ln>
              <a:noFill/>
            </a:ln>
          </p:spPr>
          <p:txBody>
            <a:bodyPr wrap="none" lIns="0" tIns="0" rIns="0" bIns="0" anchor="t" anchorCtr="0">
              <a:spAutoFit/>
            </a:bodyPr>
            <a:lstStyle/>
            <a:p>
              <a:pPr algn="ctr"/>
              <a:r>
                <a:rPr lang="en-US" sz="1050" dirty="0">
                  <a:solidFill>
                    <a:srgbClr val="3D241F"/>
                  </a:solidFill>
                  <a:latin typeface="+mn-lt"/>
                  <a:ea typeface="+mn-ea"/>
                  <a:cs typeface="+mn-cs"/>
                </a:rPr>
                <a:t>LVS​</a:t>
              </a:r>
            </a:p>
          </p:txBody>
        </p:sp>
        <p:sp>
          <p:nvSpPr>
            <p:cNvPr id="44" name="Rectangle 44"/>
            <p:cNvSpPr/>
            <p:nvPr/>
          </p:nvSpPr>
          <p:spPr>
            <a:xfrm>
              <a:off x="1685925" y="4591050"/>
              <a:ext cx="1085850" cy="400050"/>
            </a:xfrm>
            <a:prstGeom prst="roundRect">
              <a:avLst>
                <a:gd name="adj" fmla="val 9524"/>
              </a:avLst>
            </a:prstGeom>
            <a:solidFill>
              <a:srgbClr val="FFFFFF"/>
            </a:solidFill>
            <a:ln>
              <a:noFill/>
            </a:ln>
          </p:spPr>
        </p:sp>
        <p:sp>
          <p:nvSpPr>
            <p:cNvPr id="45" name="TextBox 45"/>
            <p:cNvSpPr txBox="1"/>
            <p:nvPr/>
          </p:nvSpPr>
          <p:spPr>
            <a:xfrm>
              <a:off x="2059229" y="4734878"/>
              <a:ext cx="339242" cy="205359"/>
            </a:xfrm>
            <a:prstGeom prst="rect">
              <a:avLst/>
            </a:prstGeom>
            <a:noFill/>
            <a:ln>
              <a:noFill/>
            </a:ln>
          </p:spPr>
          <p:txBody>
            <a:bodyPr wrap="none" lIns="0" tIns="0" rIns="0" bIns="0" anchor="t" anchorCtr="0">
              <a:spAutoFit/>
            </a:bodyPr>
            <a:lstStyle/>
            <a:p>
              <a:pPr algn="ctr"/>
              <a:r>
                <a:rPr lang="en-US" sz="1050" dirty="0">
                  <a:solidFill>
                    <a:srgbClr val="3D241F"/>
                  </a:solidFill>
                  <a:latin typeface="+mn-lt"/>
                  <a:ea typeface="+mn-ea"/>
                  <a:cs typeface="+mn-cs"/>
                </a:rPr>
                <a:t>DNS​</a:t>
              </a:r>
            </a:p>
          </p:txBody>
        </p:sp>
      </p:grpSp>
      <p:grpSp>
        <p:nvGrpSpPr>
          <p:cNvPr id="50" name="arrow-standardize-1"/>
          <p:cNvGrpSpPr/>
          <p:nvPr/>
        </p:nvGrpSpPr>
        <p:grpSpPr>
          <a:xfrm>
            <a:off x="2933700" y="3331845"/>
            <a:ext cx="457200" cy="862012"/>
            <a:chOff x="2933700" y="3331845"/>
            <a:chExt cx="457200" cy="862012"/>
          </a:xfrm>
        </p:grpSpPr>
        <p:sp>
          <p:nvSpPr>
            <p:cNvPr id="47" name="TextBox 47"/>
            <p:cNvSpPr txBox="1"/>
            <p:nvPr/>
          </p:nvSpPr>
          <p:spPr>
            <a:xfrm>
              <a:off x="2975800" y="3331845"/>
              <a:ext cx="372999"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标准化</a:t>
              </a:r>
            </a:p>
          </p:txBody>
        </p:sp>
        <p:sp>
          <p:nvSpPr>
            <p:cNvPr id="48" name="Freeform 48"/>
            <p:cNvSpPr/>
            <p:nvPr/>
          </p:nvSpPr>
          <p:spPr>
            <a:xfrm>
              <a:off x="2933700" y="3505200"/>
              <a:ext cx="457200" cy="381000"/>
            </a:xfrm>
            <a:prstGeom prst="rightArrow">
              <a:avLst/>
            </a:prstGeom>
            <a:solidFill>
              <a:srgbClr val="FBAD9D"/>
            </a:solidFill>
            <a:ln>
              <a:noFill/>
            </a:ln>
          </p:spPr>
        </p:sp>
        <p:sp>
          <p:nvSpPr>
            <p:cNvPr id="49" name="TextBox 49"/>
            <p:cNvSpPr txBox="1"/>
            <p:nvPr/>
          </p:nvSpPr>
          <p:spPr>
            <a:xfrm>
              <a:off x="2975800" y="4017645"/>
              <a:ext cx="372999"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标准化</a:t>
              </a:r>
            </a:p>
          </p:txBody>
        </p:sp>
      </p:grpSp>
      <p:grpSp>
        <p:nvGrpSpPr>
          <p:cNvPr id="74" name="col-asset-archive"/>
          <p:cNvGrpSpPr/>
          <p:nvPr/>
        </p:nvGrpSpPr>
        <p:grpSpPr>
          <a:xfrm>
            <a:off x="3514725" y="2114550"/>
            <a:ext cx="2381250" cy="3276600"/>
            <a:chOff x="3514725" y="2114550"/>
            <a:chExt cx="2381250" cy="3276600"/>
          </a:xfrm>
        </p:grpSpPr>
        <p:sp>
          <p:nvSpPr>
            <p:cNvPr id="51" name="Rectangle 51"/>
            <p:cNvSpPr/>
            <p:nvPr/>
          </p:nvSpPr>
          <p:spPr>
            <a:xfrm>
              <a:off x="3514725" y="2114550"/>
              <a:ext cx="2381250" cy="381000"/>
            </a:xfrm>
            <a:prstGeom prst="roundRect">
              <a:avLst>
                <a:gd name="adj" fmla="val 15000"/>
              </a:avLst>
            </a:prstGeom>
            <a:gradFill>
              <a:gsLst>
                <a:gs pos="0">
                  <a:srgbClr val="FA421D"/>
                </a:gs>
                <a:gs pos="100000">
                  <a:srgbClr val="D22C0A"/>
                </a:gs>
              </a:gsLst>
              <a:lin ang="5400000" scaled="1"/>
            </a:gradFill>
            <a:ln>
              <a:noFill/>
            </a:ln>
          </p:spPr>
        </p:sp>
        <p:sp>
          <p:nvSpPr>
            <p:cNvPr id="52" name="TextBox 52"/>
            <p:cNvSpPr txBox="1"/>
            <p:nvPr/>
          </p:nvSpPr>
          <p:spPr>
            <a:xfrm>
              <a:off x="4091807" y="2232660"/>
              <a:ext cx="1227087"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IT资产档案管理​</a:t>
              </a:r>
            </a:p>
          </p:txBody>
        </p:sp>
        <p:sp>
          <p:nvSpPr>
            <p:cNvPr id="53" name="Rectangle 53"/>
            <p:cNvSpPr/>
            <p:nvPr/>
          </p:nvSpPr>
          <p:spPr>
            <a:xfrm>
              <a:off x="3514725" y="2495550"/>
              <a:ext cx="2381250" cy="2895600"/>
            </a:xfrm>
            <a:prstGeom prst="roundRect">
              <a:avLst>
                <a:gd name="adj" fmla="val 2400"/>
              </a:avLst>
            </a:prstGeom>
            <a:solidFill>
              <a:srgbClr val="EDF4FE"/>
            </a:solidFill>
            <a:ln>
              <a:noFill/>
            </a:ln>
          </p:spPr>
        </p:sp>
        <p:sp>
          <p:nvSpPr>
            <p:cNvPr id="54" name="Rectangle 54"/>
            <p:cNvSpPr/>
            <p:nvPr/>
          </p:nvSpPr>
          <p:spPr>
            <a:xfrm>
              <a:off x="3590925" y="2609850"/>
              <a:ext cx="1085850" cy="400050"/>
            </a:xfrm>
            <a:prstGeom prst="roundRect">
              <a:avLst>
                <a:gd name="adj" fmla="val 9524"/>
              </a:avLst>
            </a:prstGeom>
            <a:solidFill>
              <a:srgbClr val="FFFFFF"/>
            </a:solidFill>
            <a:ln>
              <a:noFill/>
            </a:ln>
          </p:spPr>
        </p:sp>
        <p:sp>
          <p:nvSpPr>
            <p:cNvPr id="55" name="TextBox 55"/>
            <p:cNvSpPr txBox="1"/>
            <p:nvPr/>
          </p:nvSpPr>
          <p:spPr>
            <a:xfrm>
              <a:off x="3916490" y="2753678"/>
              <a:ext cx="434721"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软件包</a:t>
              </a:r>
            </a:p>
          </p:txBody>
        </p:sp>
        <p:sp>
          <p:nvSpPr>
            <p:cNvPr id="56" name="Rectangle 56"/>
            <p:cNvSpPr/>
            <p:nvPr/>
          </p:nvSpPr>
          <p:spPr>
            <a:xfrm>
              <a:off x="4752975" y="2609850"/>
              <a:ext cx="1085850" cy="400050"/>
            </a:xfrm>
            <a:prstGeom prst="roundRect">
              <a:avLst>
                <a:gd name="adj" fmla="val 9524"/>
              </a:avLst>
            </a:prstGeom>
            <a:solidFill>
              <a:srgbClr val="FFFFFF"/>
            </a:solidFill>
            <a:ln>
              <a:noFill/>
            </a:ln>
          </p:spPr>
        </p:sp>
        <p:sp>
          <p:nvSpPr>
            <p:cNvPr id="57" name="TextBox 57"/>
            <p:cNvSpPr txBox="1"/>
            <p:nvPr/>
          </p:nvSpPr>
          <p:spPr>
            <a:xfrm>
              <a:off x="5007864" y="27536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配置文件</a:t>
              </a:r>
            </a:p>
          </p:txBody>
        </p:sp>
        <p:sp>
          <p:nvSpPr>
            <p:cNvPr id="58" name="Rectangle 58"/>
            <p:cNvSpPr/>
            <p:nvPr/>
          </p:nvSpPr>
          <p:spPr>
            <a:xfrm>
              <a:off x="3590925" y="3105150"/>
              <a:ext cx="1085850" cy="400050"/>
            </a:xfrm>
            <a:prstGeom prst="roundRect">
              <a:avLst>
                <a:gd name="adj" fmla="val 9524"/>
              </a:avLst>
            </a:prstGeom>
            <a:solidFill>
              <a:srgbClr val="FFFFFF"/>
            </a:solidFill>
            <a:ln>
              <a:noFill/>
            </a:ln>
          </p:spPr>
        </p:sp>
        <p:sp>
          <p:nvSpPr>
            <p:cNvPr id="59" name="TextBox 59"/>
            <p:cNvSpPr txBox="1"/>
            <p:nvPr/>
          </p:nvSpPr>
          <p:spPr>
            <a:xfrm>
              <a:off x="3845814" y="32489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权限记录</a:t>
              </a:r>
            </a:p>
          </p:txBody>
        </p:sp>
        <p:sp>
          <p:nvSpPr>
            <p:cNvPr id="60" name="Rectangle 60"/>
            <p:cNvSpPr/>
            <p:nvPr/>
          </p:nvSpPr>
          <p:spPr>
            <a:xfrm>
              <a:off x="4752975" y="3105150"/>
              <a:ext cx="1085850" cy="400050"/>
            </a:xfrm>
            <a:prstGeom prst="roundRect">
              <a:avLst>
                <a:gd name="adj" fmla="val 9524"/>
              </a:avLst>
            </a:prstGeom>
            <a:solidFill>
              <a:srgbClr val="FFFFFF"/>
            </a:solidFill>
            <a:ln>
              <a:noFill/>
            </a:ln>
          </p:spPr>
        </p:sp>
        <p:sp>
          <p:nvSpPr>
            <p:cNvPr id="61" name="TextBox 61"/>
            <p:cNvSpPr txBox="1"/>
            <p:nvPr/>
          </p:nvSpPr>
          <p:spPr>
            <a:xfrm>
              <a:off x="5007864" y="32489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硬件属性</a:t>
              </a:r>
            </a:p>
          </p:txBody>
        </p:sp>
        <p:sp>
          <p:nvSpPr>
            <p:cNvPr id="62" name="Rectangle 62"/>
            <p:cNvSpPr/>
            <p:nvPr/>
          </p:nvSpPr>
          <p:spPr>
            <a:xfrm>
              <a:off x="3590925" y="3600450"/>
              <a:ext cx="1085850" cy="400050"/>
            </a:xfrm>
            <a:prstGeom prst="roundRect">
              <a:avLst>
                <a:gd name="adj" fmla="val 9524"/>
              </a:avLst>
            </a:prstGeom>
            <a:solidFill>
              <a:srgbClr val="FFFFFF"/>
            </a:solidFill>
            <a:ln>
              <a:noFill/>
            </a:ln>
          </p:spPr>
        </p:sp>
        <p:sp>
          <p:nvSpPr>
            <p:cNvPr id="63" name="TextBox 63"/>
            <p:cNvSpPr txBox="1"/>
            <p:nvPr/>
          </p:nvSpPr>
          <p:spPr>
            <a:xfrm>
              <a:off x="3845814" y="37442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地域分布</a:t>
              </a:r>
            </a:p>
          </p:txBody>
        </p:sp>
        <p:sp>
          <p:nvSpPr>
            <p:cNvPr id="64" name="Rectangle 64"/>
            <p:cNvSpPr/>
            <p:nvPr/>
          </p:nvSpPr>
          <p:spPr>
            <a:xfrm>
              <a:off x="4752975" y="3600450"/>
              <a:ext cx="1085850" cy="400050"/>
            </a:xfrm>
            <a:prstGeom prst="roundRect">
              <a:avLst>
                <a:gd name="adj" fmla="val 9524"/>
              </a:avLst>
            </a:prstGeom>
            <a:solidFill>
              <a:srgbClr val="FFFFFF"/>
            </a:solidFill>
            <a:ln>
              <a:noFill/>
            </a:ln>
          </p:spPr>
        </p:sp>
        <p:sp>
          <p:nvSpPr>
            <p:cNvPr id="65" name="TextBox 65"/>
            <p:cNvSpPr txBox="1"/>
            <p:nvPr/>
          </p:nvSpPr>
          <p:spPr>
            <a:xfrm>
              <a:off x="5007864" y="37442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监控属性</a:t>
              </a:r>
            </a:p>
          </p:txBody>
        </p:sp>
        <p:sp>
          <p:nvSpPr>
            <p:cNvPr id="66" name="Rectangle 66"/>
            <p:cNvSpPr/>
            <p:nvPr/>
          </p:nvSpPr>
          <p:spPr>
            <a:xfrm>
              <a:off x="3590925" y="4095750"/>
              <a:ext cx="1085850" cy="400050"/>
            </a:xfrm>
            <a:prstGeom prst="roundRect">
              <a:avLst>
                <a:gd name="adj" fmla="val 9524"/>
              </a:avLst>
            </a:prstGeom>
            <a:solidFill>
              <a:srgbClr val="FFFFFF"/>
            </a:solidFill>
            <a:ln>
              <a:noFill/>
            </a:ln>
          </p:spPr>
        </p:sp>
        <p:sp>
          <p:nvSpPr>
            <p:cNvPr id="67" name="TextBox 67"/>
            <p:cNvSpPr txBox="1"/>
            <p:nvPr/>
          </p:nvSpPr>
          <p:spPr>
            <a:xfrm>
              <a:off x="3845814" y="42395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业务属性</a:t>
              </a:r>
            </a:p>
          </p:txBody>
        </p:sp>
        <p:sp>
          <p:nvSpPr>
            <p:cNvPr id="68" name="Rectangle 68"/>
            <p:cNvSpPr/>
            <p:nvPr/>
          </p:nvSpPr>
          <p:spPr>
            <a:xfrm>
              <a:off x="4752975" y="4095750"/>
              <a:ext cx="1085850" cy="400050"/>
            </a:xfrm>
            <a:prstGeom prst="roundRect">
              <a:avLst>
                <a:gd name="adj" fmla="val 9524"/>
              </a:avLst>
            </a:prstGeom>
            <a:solidFill>
              <a:srgbClr val="FFFFFF"/>
            </a:solidFill>
            <a:ln>
              <a:noFill/>
            </a:ln>
          </p:spPr>
        </p:sp>
        <p:sp>
          <p:nvSpPr>
            <p:cNvPr id="69" name="TextBox 69"/>
            <p:cNvSpPr txBox="1"/>
            <p:nvPr/>
          </p:nvSpPr>
          <p:spPr>
            <a:xfrm>
              <a:off x="5078540" y="4239578"/>
              <a:ext cx="434721"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架构层</a:t>
              </a:r>
            </a:p>
          </p:txBody>
        </p:sp>
        <p:sp>
          <p:nvSpPr>
            <p:cNvPr id="70" name="Rectangle 70"/>
            <p:cNvSpPr/>
            <p:nvPr/>
          </p:nvSpPr>
          <p:spPr>
            <a:xfrm>
              <a:off x="3590925" y="4591050"/>
              <a:ext cx="1085850" cy="400050"/>
            </a:xfrm>
            <a:prstGeom prst="roundRect">
              <a:avLst>
                <a:gd name="adj" fmla="val 9524"/>
              </a:avLst>
            </a:prstGeom>
            <a:solidFill>
              <a:srgbClr val="FFFFFF"/>
            </a:solidFill>
            <a:ln>
              <a:noFill/>
            </a:ln>
          </p:spPr>
        </p:sp>
        <p:sp>
          <p:nvSpPr>
            <p:cNvPr id="71" name="TextBox 71"/>
            <p:cNvSpPr txBox="1"/>
            <p:nvPr/>
          </p:nvSpPr>
          <p:spPr>
            <a:xfrm>
              <a:off x="3845814" y="47348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测试用例</a:t>
              </a:r>
            </a:p>
          </p:txBody>
        </p:sp>
        <p:sp>
          <p:nvSpPr>
            <p:cNvPr id="72" name="Rectangle 72"/>
            <p:cNvSpPr/>
            <p:nvPr/>
          </p:nvSpPr>
          <p:spPr>
            <a:xfrm>
              <a:off x="4752975" y="4591050"/>
              <a:ext cx="1085850" cy="400050"/>
            </a:xfrm>
            <a:prstGeom prst="roundRect">
              <a:avLst>
                <a:gd name="adj" fmla="val 9524"/>
              </a:avLst>
            </a:prstGeom>
            <a:solidFill>
              <a:srgbClr val="FFFFFF"/>
            </a:solidFill>
            <a:ln>
              <a:noFill/>
            </a:ln>
          </p:spPr>
        </p:sp>
        <p:sp>
          <p:nvSpPr>
            <p:cNvPr id="73" name="TextBox 73"/>
            <p:cNvSpPr txBox="1"/>
            <p:nvPr/>
          </p:nvSpPr>
          <p:spPr>
            <a:xfrm>
              <a:off x="5007864" y="473487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运营状态</a:t>
              </a:r>
            </a:p>
          </p:txBody>
        </p:sp>
      </p:grpSp>
      <p:grpSp>
        <p:nvGrpSpPr>
          <p:cNvPr id="79" name="api-pills"/>
          <p:cNvGrpSpPr/>
          <p:nvPr/>
        </p:nvGrpSpPr>
        <p:grpSpPr>
          <a:xfrm>
            <a:off x="6057900" y="2114550"/>
            <a:ext cx="342900" cy="3276600"/>
            <a:chOff x="6057900" y="2114550"/>
            <a:chExt cx="342900" cy="3276600"/>
          </a:xfrm>
        </p:grpSpPr>
        <p:sp>
          <p:nvSpPr>
            <p:cNvPr id="75" name="Rectangle 75"/>
            <p:cNvSpPr/>
            <p:nvPr/>
          </p:nvSpPr>
          <p:spPr>
            <a:xfrm>
              <a:off x="6057900" y="2114550"/>
              <a:ext cx="342900" cy="1524000"/>
            </a:xfrm>
            <a:prstGeom prst="roundRect">
              <a:avLst>
                <a:gd name="adj" fmla="val 50000"/>
              </a:avLst>
            </a:prstGeom>
            <a:gradFill>
              <a:gsLst>
                <a:gs pos="0">
                  <a:srgbClr val="FB684A"/>
                </a:gs>
                <a:gs pos="100000">
                  <a:srgbClr val="FA421D"/>
                </a:gs>
              </a:gsLst>
              <a:lin ang="5400000" scaled="1"/>
            </a:gradFill>
            <a:ln>
              <a:noFill/>
            </a:ln>
          </p:spPr>
        </p:sp>
        <p:sp>
          <p:nvSpPr>
            <p:cNvPr id="76" name="TextBox 76"/>
            <p:cNvSpPr txBox="1"/>
            <p:nvPr/>
          </p:nvSpPr>
          <p:spPr>
            <a:xfrm>
              <a:off x="6162167" y="2390299"/>
              <a:ext cx="134366" cy="838390"/>
            </a:xfrm>
            <a:prstGeom prst="rect">
              <a:avLst/>
            </a:prstGeom>
            <a:noFill/>
            <a:ln>
              <a:noFill/>
            </a:ln>
          </p:spPr>
          <p:txBody>
            <a:bodyPr wrap="none" lIns="0" tIns="0" rIns="0" bIns="0" anchor="t" anchorCtr="0">
              <a:spAutoFit/>
            </a:bodyPr>
            <a:lstStyle/>
            <a:p>
              <a:pPr algn="ctr">
                <a:lnSpc>
                  <a:spcPts val="1275"/>
                </a:lnSpc>
              </a:pPr>
              <a:r>
                <a:rPr lang="zh-CN" sz="980" dirty="0">
                  <a:solidFill>
                    <a:srgbClr val="FFFFFF"/>
                  </a:solidFill>
                  <a:latin typeface="+mn-lt"/>
                  <a:ea typeface="+mn-ea"/>
                  <a:cs typeface="+mn-cs"/>
                </a:rPr>
                <a:t>平</a:t>
              </a:r>
              <a:br/>
              <a:r>
                <a:rPr lang="zh-CN" sz="980" dirty="0">
                  <a:solidFill>
                    <a:srgbClr val="FFFFFF"/>
                  </a:solidFill>
                  <a:latin typeface="+mn-lt"/>
                  <a:ea typeface="+mn-ea"/>
                  <a:cs typeface="+mn-cs"/>
                </a:rPr>
                <a:t>台</a:t>
              </a:r>
              <a:br/>
              <a:r>
                <a:rPr lang="en-US" sz="980" dirty="0">
                  <a:solidFill>
                    <a:srgbClr val="FFFFFF"/>
                  </a:solidFill>
                  <a:latin typeface="+mn-lt"/>
                  <a:ea typeface="+mn-ea"/>
                  <a:cs typeface="+mn-cs"/>
                </a:rPr>
                <a:t>A</a:t>
              </a:r>
              <a:br/>
              <a:r>
                <a:rPr lang="en-US" sz="980" dirty="0">
                  <a:solidFill>
                    <a:srgbClr val="FFFFFF"/>
                  </a:solidFill>
                  <a:latin typeface="+mn-lt"/>
                  <a:ea typeface="+mn-ea"/>
                  <a:cs typeface="+mn-cs"/>
                </a:rPr>
                <a:t>P</a:t>
              </a:r>
              <a:br/>
              <a:r>
                <a:rPr lang="en-US" sz="980" dirty="0">
                  <a:solidFill>
                    <a:srgbClr val="FFFFFF"/>
                  </a:solidFill>
                  <a:latin typeface="+mn-lt"/>
                  <a:ea typeface="+mn-ea"/>
                  <a:cs typeface="+mn-cs"/>
                </a:rPr>
                <a:t>I</a:t>
              </a:r>
            </a:p>
          </p:txBody>
        </p:sp>
        <p:sp>
          <p:nvSpPr>
            <p:cNvPr id="77" name="Rectangle 77"/>
            <p:cNvSpPr/>
            <p:nvPr/>
          </p:nvSpPr>
          <p:spPr>
            <a:xfrm>
              <a:off x="6057900" y="3771900"/>
              <a:ext cx="342900" cy="1619250"/>
            </a:xfrm>
            <a:prstGeom prst="roundRect">
              <a:avLst>
                <a:gd name="adj" fmla="val 50000"/>
              </a:avLst>
            </a:prstGeom>
            <a:gradFill>
              <a:gsLst>
                <a:gs pos="0">
                  <a:srgbClr val="FB684A"/>
                </a:gs>
                <a:gs pos="100000">
                  <a:srgbClr val="FA421D"/>
                </a:gs>
              </a:gsLst>
              <a:lin ang="5400000" scaled="1"/>
            </a:gradFill>
            <a:ln>
              <a:noFill/>
            </a:ln>
          </p:spPr>
        </p:sp>
        <p:sp>
          <p:nvSpPr>
            <p:cNvPr id="78" name="TextBox 78"/>
            <p:cNvSpPr txBox="1"/>
            <p:nvPr/>
          </p:nvSpPr>
          <p:spPr>
            <a:xfrm>
              <a:off x="6162167" y="3990499"/>
              <a:ext cx="134366" cy="1000316"/>
            </a:xfrm>
            <a:prstGeom prst="rect">
              <a:avLst/>
            </a:prstGeom>
            <a:noFill/>
            <a:ln>
              <a:noFill/>
            </a:ln>
          </p:spPr>
          <p:txBody>
            <a:bodyPr wrap="none" lIns="0" tIns="0" rIns="0" bIns="0" anchor="t" anchorCtr="0">
              <a:spAutoFit/>
            </a:bodyPr>
            <a:lstStyle/>
            <a:p>
              <a:pPr algn="ctr">
                <a:lnSpc>
                  <a:spcPts val="1275"/>
                </a:lnSpc>
              </a:pPr>
              <a:r>
                <a:rPr lang="zh-CN" sz="980" dirty="0">
                  <a:solidFill>
                    <a:srgbClr val="FFFFFF"/>
                  </a:solidFill>
                  <a:latin typeface="+mn-lt"/>
                  <a:ea typeface="+mn-ea"/>
                  <a:cs typeface="+mn-cs"/>
                </a:rPr>
                <a:t>大</a:t>
              </a:r>
              <a:br/>
              <a:r>
                <a:rPr lang="zh-CN" sz="980" dirty="0">
                  <a:solidFill>
                    <a:srgbClr val="FFFFFF"/>
                  </a:solidFill>
                  <a:latin typeface="+mn-lt"/>
                  <a:ea typeface="+mn-ea"/>
                  <a:cs typeface="+mn-cs"/>
                </a:rPr>
                <a:t>数</a:t>
              </a:r>
              <a:br/>
              <a:r>
                <a:rPr lang="zh-CN" sz="980" dirty="0">
                  <a:solidFill>
                    <a:srgbClr val="FFFFFF"/>
                  </a:solidFill>
                  <a:latin typeface="+mn-lt"/>
                  <a:ea typeface="+mn-ea"/>
                  <a:cs typeface="+mn-cs"/>
                </a:rPr>
                <a:t>据</a:t>
              </a:r>
              <a:br/>
              <a:r>
                <a:rPr lang="en-US" sz="980" dirty="0">
                  <a:solidFill>
                    <a:srgbClr val="FFFFFF"/>
                  </a:solidFill>
                  <a:latin typeface="+mn-lt"/>
                  <a:ea typeface="+mn-ea"/>
                  <a:cs typeface="+mn-cs"/>
                </a:rPr>
                <a:t>A</a:t>
              </a:r>
              <a:br/>
              <a:r>
                <a:rPr lang="en-US" sz="980" dirty="0">
                  <a:solidFill>
                    <a:srgbClr val="FFFFFF"/>
                  </a:solidFill>
                  <a:latin typeface="+mn-lt"/>
                  <a:ea typeface="+mn-ea"/>
                  <a:cs typeface="+mn-cs"/>
                </a:rPr>
                <a:t>P</a:t>
              </a:r>
              <a:br/>
              <a:r>
                <a:rPr lang="en-US" sz="980" dirty="0">
                  <a:solidFill>
                    <a:srgbClr val="FFFFFF"/>
                  </a:solidFill>
                  <a:latin typeface="+mn-lt"/>
                  <a:ea typeface="+mn-ea"/>
                  <a:cs typeface="+mn-cs"/>
                </a:rPr>
                <a:t>I</a:t>
              </a:r>
            </a:p>
          </p:txBody>
        </p:sp>
      </p:grpSp>
      <p:grpSp>
        <p:nvGrpSpPr>
          <p:cNvPr id="98" name="col-ops-tools"/>
          <p:cNvGrpSpPr/>
          <p:nvPr/>
        </p:nvGrpSpPr>
        <p:grpSpPr>
          <a:xfrm>
            <a:off x="6572250" y="2114550"/>
            <a:ext cx="2438400" cy="3276600"/>
            <a:chOff x="6572250" y="2114550"/>
            <a:chExt cx="2438400" cy="3276600"/>
          </a:xfrm>
        </p:grpSpPr>
        <p:sp>
          <p:nvSpPr>
            <p:cNvPr id="80" name="Rectangle 80"/>
            <p:cNvSpPr/>
            <p:nvPr/>
          </p:nvSpPr>
          <p:spPr>
            <a:xfrm>
              <a:off x="6572250" y="2114550"/>
              <a:ext cx="2438400" cy="381000"/>
            </a:xfrm>
            <a:prstGeom prst="roundRect">
              <a:avLst>
                <a:gd name="adj" fmla="val 15000"/>
              </a:avLst>
            </a:prstGeom>
            <a:gradFill>
              <a:gsLst>
                <a:gs pos="0">
                  <a:srgbClr val="FA421D"/>
                </a:gs>
                <a:gs pos="100000">
                  <a:srgbClr val="D22C0A"/>
                </a:gs>
              </a:gsLst>
              <a:lin ang="5400000" scaled="1"/>
            </a:gradFill>
            <a:ln>
              <a:noFill/>
            </a:ln>
          </p:spPr>
        </p:sp>
        <p:sp>
          <p:nvSpPr>
            <p:cNvPr id="81" name="TextBox 81"/>
            <p:cNvSpPr txBox="1"/>
            <p:nvPr/>
          </p:nvSpPr>
          <p:spPr>
            <a:xfrm>
              <a:off x="7300722" y="2232660"/>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运维工具应用</a:t>
              </a:r>
            </a:p>
          </p:txBody>
        </p:sp>
        <p:sp>
          <p:nvSpPr>
            <p:cNvPr id="82" name="Rectangle 82"/>
            <p:cNvSpPr/>
            <p:nvPr/>
          </p:nvSpPr>
          <p:spPr>
            <a:xfrm>
              <a:off x="6572250" y="2495550"/>
              <a:ext cx="2438400" cy="2895600"/>
            </a:xfrm>
            <a:prstGeom prst="roundRect">
              <a:avLst>
                <a:gd name="adj" fmla="val 2344"/>
              </a:avLst>
            </a:prstGeom>
            <a:solidFill>
              <a:srgbClr val="EDF4FE"/>
            </a:solidFill>
            <a:ln>
              <a:noFill/>
            </a:ln>
          </p:spPr>
        </p:sp>
        <p:sp>
          <p:nvSpPr>
            <p:cNvPr id="83" name="Rectangle 83"/>
            <p:cNvSpPr/>
            <p:nvPr/>
          </p:nvSpPr>
          <p:spPr>
            <a:xfrm>
              <a:off x="6648450" y="2590800"/>
              <a:ext cx="1276350" cy="342900"/>
            </a:xfrm>
            <a:prstGeom prst="roundRect">
              <a:avLst>
                <a:gd name="adj" fmla="val 11111"/>
              </a:avLst>
            </a:prstGeom>
            <a:solidFill>
              <a:srgbClr val="FFFFFF"/>
            </a:solidFill>
            <a:ln>
              <a:noFill/>
            </a:ln>
          </p:spPr>
        </p:sp>
        <p:sp>
          <p:nvSpPr>
            <p:cNvPr id="84" name="TextBox 84"/>
            <p:cNvSpPr txBox="1"/>
            <p:nvPr/>
          </p:nvSpPr>
          <p:spPr>
            <a:xfrm>
              <a:off x="7017817" y="27141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基础运维</a:t>
              </a:r>
            </a:p>
          </p:txBody>
        </p:sp>
        <p:sp>
          <p:nvSpPr>
            <p:cNvPr id="85" name="Rectangle 85"/>
            <p:cNvSpPr/>
            <p:nvPr/>
          </p:nvSpPr>
          <p:spPr>
            <a:xfrm>
              <a:off x="6648450" y="3028950"/>
              <a:ext cx="1276350" cy="342900"/>
            </a:xfrm>
            <a:prstGeom prst="roundRect">
              <a:avLst>
                <a:gd name="adj" fmla="val 11111"/>
              </a:avLst>
            </a:prstGeom>
            <a:solidFill>
              <a:srgbClr val="FFFFFF"/>
            </a:solidFill>
            <a:ln>
              <a:noFill/>
            </a:ln>
          </p:spPr>
        </p:sp>
        <p:sp>
          <p:nvSpPr>
            <p:cNvPr id="86" name="TextBox 86"/>
            <p:cNvSpPr txBox="1"/>
            <p:nvPr/>
          </p:nvSpPr>
          <p:spPr>
            <a:xfrm>
              <a:off x="6885889" y="3152299"/>
              <a:ext cx="801472"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公共组件服务</a:t>
              </a:r>
            </a:p>
          </p:txBody>
        </p:sp>
        <p:sp>
          <p:nvSpPr>
            <p:cNvPr id="87" name="Rectangle 87"/>
            <p:cNvSpPr/>
            <p:nvPr/>
          </p:nvSpPr>
          <p:spPr>
            <a:xfrm>
              <a:off x="6648450" y="3467100"/>
              <a:ext cx="1276350" cy="342900"/>
            </a:xfrm>
            <a:prstGeom prst="roundRect">
              <a:avLst>
                <a:gd name="adj" fmla="val 11111"/>
              </a:avLst>
            </a:prstGeom>
            <a:solidFill>
              <a:srgbClr val="FFFFFF"/>
            </a:solidFill>
            <a:ln>
              <a:noFill/>
            </a:ln>
          </p:spPr>
        </p:sp>
        <p:sp>
          <p:nvSpPr>
            <p:cNvPr id="88" name="TextBox 88"/>
            <p:cNvSpPr txBox="1"/>
            <p:nvPr/>
          </p:nvSpPr>
          <p:spPr>
            <a:xfrm>
              <a:off x="7017817" y="35904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持续部署</a:t>
              </a:r>
            </a:p>
          </p:txBody>
        </p:sp>
        <p:sp>
          <p:nvSpPr>
            <p:cNvPr id="89" name="Rectangle 89"/>
            <p:cNvSpPr/>
            <p:nvPr/>
          </p:nvSpPr>
          <p:spPr>
            <a:xfrm>
              <a:off x="6648450" y="3905250"/>
              <a:ext cx="1276350" cy="342900"/>
            </a:xfrm>
            <a:prstGeom prst="roundRect">
              <a:avLst>
                <a:gd name="adj" fmla="val 11111"/>
              </a:avLst>
            </a:prstGeom>
            <a:solidFill>
              <a:srgbClr val="FFFFFF"/>
            </a:solidFill>
            <a:ln>
              <a:noFill/>
            </a:ln>
          </p:spPr>
        </p:sp>
        <p:sp>
          <p:nvSpPr>
            <p:cNvPr id="90" name="TextBox 90"/>
            <p:cNvSpPr txBox="1"/>
            <p:nvPr/>
          </p:nvSpPr>
          <p:spPr>
            <a:xfrm>
              <a:off x="7017817" y="402859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架构组件</a:t>
              </a:r>
            </a:p>
          </p:txBody>
        </p:sp>
        <p:sp>
          <p:nvSpPr>
            <p:cNvPr id="91" name="Rectangle 91"/>
            <p:cNvSpPr/>
            <p:nvPr/>
          </p:nvSpPr>
          <p:spPr>
            <a:xfrm>
              <a:off x="6648450" y="4343400"/>
              <a:ext cx="1276350" cy="342900"/>
            </a:xfrm>
            <a:prstGeom prst="roundRect">
              <a:avLst>
                <a:gd name="adj" fmla="val 11111"/>
              </a:avLst>
            </a:prstGeom>
            <a:solidFill>
              <a:srgbClr val="FFFFFF"/>
            </a:solidFill>
            <a:ln>
              <a:noFill/>
            </a:ln>
          </p:spPr>
        </p:sp>
        <p:sp>
          <p:nvSpPr>
            <p:cNvPr id="92" name="TextBox 92"/>
            <p:cNvSpPr txBox="1"/>
            <p:nvPr/>
          </p:nvSpPr>
          <p:spPr>
            <a:xfrm>
              <a:off x="7017817" y="44667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监控体系</a:t>
              </a:r>
            </a:p>
          </p:txBody>
        </p:sp>
        <p:sp>
          <p:nvSpPr>
            <p:cNvPr id="93" name="Rectangle 93"/>
            <p:cNvSpPr/>
            <p:nvPr/>
          </p:nvSpPr>
          <p:spPr>
            <a:xfrm>
              <a:off x="6648450" y="4781550"/>
              <a:ext cx="1276350" cy="342900"/>
            </a:xfrm>
            <a:prstGeom prst="roundRect">
              <a:avLst>
                <a:gd name="adj" fmla="val 11111"/>
              </a:avLst>
            </a:prstGeom>
            <a:solidFill>
              <a:srgbClr val="FFFFFF"/>
            </a:solidFill>
            <a:ln>
              <a:noFill/>
            </a:ln>
          </p:spPr>
        </p:sp>
        <p:sp>
          <p:nvSpPr>
            <p:cNvPr id="94" name="TextBox 94"/>
            <p:cNvSpPr txBox="1"/>
            <p:nvPr/>
          </p:nvSpPr>
          <p:spPr>
            <a:xfrm>
              <a:off x="6951853" y="4904899"/>
              <a:ext cx="669544"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流程与服务</a:t>
              </a:r>
            </a:p>
          </p:txBody>
        </p:sp>
        <p:sp>
          <p:nvSpPr>
            <p:cNvPr id="95" name="Rectangle 95"/>
            <p:cNvSpPr/>
            <p:nvPr/>
          </p:nvSpPr>
          <p:spPr>
            <a:xfrm>
              <a:off x="8020050" y="2590800"/>
              <a:ext cx="914400" cy="2533650"/>
            </a:xfrm>
            <a:prstGeom prst="roundRect">
              <a:avLst>
                <a:gd name="adj" fmla="val 4167"/>
              </a:avLst>
            </a:prstGeom>
            <a:solidFill>
              <a:srgbClr val="FFFFFF"/>
            </a:solidFill>
            <a:ln>
              <a:noFill/>
            </a:ln>
          </p:spPr>
        </p:sp>
        <p:sp>
          <p:nvSpPr>
            <p:cNvPr id="96" name="Freeform 96"/>
            <p:cNvSpPr/>
            <p:nvPr/>
          </p:nvSpPr>
          <p:spPr>
            <a:xfrm>
              <a:off x="8255000" y="3247485"/>
              <a:ext cx="444499" cy="295903"/>
            </a:xfrm>
            <a:custGeom>
              <a:avLst/>
              <a:gdLst/>
              <a:ahLst/>
              <a:cxnLst/>
              <a:rect l="l" t="t" r="r" b="b"/>
              <a:pathLst>
                <a:path w="444499" h="295903">
                  <a:moveTo>
                    <a:pt x="103502" y="295814"/>
                  </a:moveTo>
                  <a:cubicBezTo>
                    <a:pt x="46339" y="295814"/>
                    <a:pt x="0" y="251209"/>
                    <a:pt x="0" y="196180"/>
                  </a:cubicBezTo>
                  <a:cubicBezTo>
                    <a:pt x="0" y="141173"/>
                    <a:pt x="46339" y="96567"/>
                    <a:pt x="103502" y="96567"/>
                  </a:cubicBezTo>
                  <a:cubicBezTo>
                    <a:pt x="112236" y="57407"/>
                    <a:pt x="143373" y="25448"/>
                    <a:pt x="185178" y="12713"/>
                  </a:cubicBezTo>
                  <a:cubicBezTo>
                    <a:pt x="226961" y="0"/>
                    <a:pt x="273100" y="8423"/>
                    <a:pt x="306171" y="34938"/>
                  </a:cubicBezTo>
                  <a:cubicBezTo>
                    <a:pt x="339242" y="61385"/>
                    <a:pt x="354222" y="101768"/>
                    <a:pt x="345509" y="140929"/>
                  </a:cubicBezTo>
                  <a:lnTo>
                    <a:pt x="367512" y="140929"/>
                  </a:lnTo>
                  <a:cubicBezTo>
                    <a:pt x="410028" y="140929"/>
                    <a:pt x="444499" y="175599"/>
                    <a:pt x="444499" y="218405"/>
                  </a:cubicBezTo>
                  <a:cubicBezTo>
                    <a:pt x="444499" y="261232"/>
                    <a:pt x="410028" y="295903"/>
                    <a:pt x="367490" y="295903"/>
                  </a:cubicBezTo>
                  <a:lnTo>
                    <a:pt x="103502" y="295903"/>
                  </a:lnTo>
                </a:path>
              </a:pathLst>
            </a:custGeom>
            <a:noFill/>
            <a:ln w="33337">
              <a:solidFill>
                <a:srgbClr val="FA421D"/>
              </a:solidFill>
            </a:ln>
          </p:spPr>
        </p:sp>
        <p:sp>
          <p:nvSpPr>
            <p:cNvPr id="97" name="TextBox 97"/>
            <p:cNvSpPr txBox="1"/>
            <p:nvPr/>
          </p:nvSpPr>
          <p:spPr>
            <a:xfrm>
              <a:off x="8255222" y="3925252"/>
              <a:ext cx="444056" cy="395859"/>
            </a:xfrm>
            <a:prstGeom prst="rect">
              <a:avLst/>
            </a:prstGeom>
            <a:noFill/>
            <a:ln>
              <a:noFill/>
            </a:ln>
          </p:spPr>
          <p:txBody>
            <a:bodyPr wrap="none" lIns="0" tIns="0" rIns="0" bIns="0" anchor="t" anchorCtr="0">
              <a:spAutoFit/>
            </a:bodyPr>
            <a:lstStyle/>
            <a:p>
              <a:pPr algn="ctr">
                <a:lnSpc>
                  <a:spcPts val="1500"/>
                </a:lnSpc>
              </a:pPr>
              <a:r>
                <a:rPr lang="en-US" sz="1050" dirty="0">
                  <a:solidFill>
                    <a:srgbClr val="3D241F"/>
                  </a:solidFill>
                  <a:latin typeface="+mn-lt"/>
                  <a:ea typeface="+mn-ea"/>
                  <a:cs typeface="+mn-cs"/>
                </a:rPr>
                <a:t>AIOps​</a:t>
              </a:r>
              <a:br/>
              <a:r>
                <a:rPr lang="zh-CN" sz="1050" dirty="0">
                  <a:solidFill>
                    <a:srgbClr val="3D241F"/>
                  </a:solidFill>
                  <a:latin typeface="+mn-lt"/>
                  <a:ea typeface="+mn-ea"/>
                  <a:cs typeface="+mn-cs"/>
                </a:rPr>
                <a:t>大脑</a:t>
              </a:r>
            </a:p>
          </p:txBody>
        </p:sp>
      </p:grpSp>
      <p:grpSp>
        <p:nvGrpSpPr>
          <p:cNvPr id="100" name="arrow-standardize-2"/>
          <p:cNvGrpSpPr/>
          <p:nvPr/>
        </p:nvGrpSpPr>
        <p:grpSpPr>
          <a:xfrm>
            <a:off x="9144000" y="3505200"/>
            <a:ext cx="457200" cy="381000"/>
            <a:chOff x="9144000" y="3505200"/>
            <a:chExt cx="457200" cy="381000"/>
          </a:xfrm>
        </p:grpSpPr>
        <p:sp>
          <p:nvSpPr>
            <p:cNvPr id="99" name="Freeform 99"/>
            <p:cNvSpPr/>
            <p:nvPr/>
          </p:nvSpPr>
          <p:spPr>
            <a:xfrm>
              <a:off x="9144000" y="3505200"/>
              <a:ext cx="457200" cy="381000"/>
            </a:xfrm>
            <a:prstGeom prst="rightArrow">
              <a:avLst/>
            </a:prstGeom>
            <a:solidFill>
              <a:srgbClr val="FBAD9D"/>
            </a:solidFill>
            <a:ln>
              <a:noFill/>
            </a:ln>
          </p:spPr>
        </p:sp>
      </p:grpSp>
      <p:grpSp>
        <p:nvGrpSpPr>
          <p:cNvPr id="118" name="col-ops-scenes"/>
          <p:cNvGrpSpPr/>
          <p:nvPr/>
        </p:nvGrpSpPr>
        <p:grpSpPr>
          <a:xfrm>
            <a:off x="9715500" y="2114550"/>
            <a:ext cx="1866900" cy="3276600"/>
            <a:chOff x="9715500" y="2114550"/>
            <a:chExt cx="1866900" cy="3276600"/>
          </a:xfrm>
        </p:grpSpPr>
        <p:sp>
          <p:nvSpPr>
            <p:cNvPr id="101" name="Rectangle 101"/>
            <p:cNvSpPr/>
            <p:nvPr/>
          </p:nvSpPr>
          <p:spPr>
            <a:xfrm>
              <a:off x="9715500" y="2114550"/>
              <a:ext cx="1333500" cy="381000"/>
            </a:xfrm>
            <a:prstGeom prst="roundRect">
              <a:avLst>
                <a:gd name="adj" fmla="val 15000"/>
              </a:avLst>
            </a:prstGeom>
            <a:gradFill>
              <a:gsLst>
                <a:gs pos="0">
                  <a:srgbClr val="FB684A"/>
                </a:gs>
                <a:gs pos="100000">
                  <a:srgbClr val="FA421D"/>
                </a:gs>
              </a:gsLst>
              <a:lin ang="5400000" scaled="1"/>
            </a:gradFill>
            <a:ln>
              <a:noFill/>
            </a:ln>
          </p:spPr>
        </p:sp>
        <p:sp>
          <p:nvSpPr>
            <p:cNvPr id="102" name="TextBox 102"/>
            <p:cNvSpPr txBox="1"/>
            <p:nvPr/>
          </p:nvSpPr>
          <p:spPr>
            <a:xfrm>
              <a:off x="9952863" y="224885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运维作业场景</a:t>
              </a:r>
            </a:p>
          </p:txBody>
        </p:sp>
        <p:sp>
          <p:nvSpPr>
            <p:cNvPr id="103" name="Rectangle 103"/>
            <p:cNvSpPr/>
            <p:nvPr/>
          </p:nvSpPr>
          <p:spPr>
            <a:xfrm>
              <a:off x="9715500" y="2495550"/>
              <a:ext cx="1333500" cy="2895600"/>
            </a:xfrm>
            <a:prstGeom prst="roundRect">
              <a:avLst>
                <a:gd name="adj" fmla="val 4286"/>
              </a:avLst>
            </a:prstGeom>
            <a:solidFill>
              <a:srgbClr val="EDF4FE"/>
            </a:solidFill>
            <a:ln>
              <a:noFill/>
            </a:ln>
          </p:spPr>
        </p:sp>
        <p:sp>
          <p:nvSpPr>
            <p:cNvPr id="104" name="Rectangle 104"/>
            <p:cNvSpPr/>
            <p:nvPr/>
          </p:nvSpPr>
          <p:spPr>
            <a:xfrm>
              <a:off x="9791700" y="2590800"/>
              <a:ext cx="1181100" cy="342900"/>
            </a:xfrm>
            <a:prstGeom prst="roundRect">
              <a:avLst>
                <a:gd name="adj" fmla="val 11111"/>
              </a:avLst>
            </a:prstGeom>
            <a:solidFill>
              <a:srgbClr val="FFFFFF"/>
            </a:solidFill>
            <a:ln>
              <a:noFill/>
            </a:ln>
          </p:spPr>
        </p:sp>
        <p:sp>
          <p:nvSpPr>
            <p:cNvPr id="105" name="TextBox 105"/>
            <p:cNvSpPr txBox="1"/>
            <p:nvPr/>
          </p:nvSpPr>
          <p:spPr>
            <a:xfrm>
              <a:off x="10113442" y="27141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无人运维</a:t>
              </a:r>
            </a:p>
          </p:txBody>
        </p:sp>
        <p:sp>
          <p:nvSpPr>
            <p:cNvPr id="106" name="Rectangle 106"/>
            <p:cNvSpPr/>
            <p:nvPr/>
          </p:nvSpPr>
          <p:spPr>
            <a:xfrm>
              <a:off x="9791700" y="3028950"/>
              <a:ext cx="1181100" cy="342900"/>
            </a:xfrm>
            <a:prstGeom prst="roundRect">
              <a:avLst>
                <a:gd name="adj" fmla="val 11111"/>
              </a:avLst>
            </a:prstGeom>
            <a:solidFill>
              <a:srgbClr val="FFFFFF"/>
            </a:solidFill>
            <a:ln>
              <a:noFill/>
            </a:ln>
          </p:spPr>
        </p:sp>
        <p:sp>
          <p:nvSpPr>
            <p:cNvPr id="107" name="TextBox 107"/>
            <p:cNvSpPr txBox="1"/>
            <p:nvPr/>
          </p:nvSpPr>
          <p:spPr>
            <a:xfrm>
              <a:off x="10113442" y="315229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灰度发布</a:t>
              </a:r>
            </a:p>
          </p:txBody>
        </p:sp>
        <p:sp>
          <p:nvSpPr>
            <p:cNvPr id="108" name="Rectangle 108"/>
            <p:cNvSpPr/>
            <p:nvPr/>
          </p:nvSpPr>
          <p:spPr>
            <a:xfrm>
              <a:off x="9791700" y="3467100"/>
              <a:ext cx="1181100" cy="342900"/>
            </a:xfrm>
            <a:prstGeom prst="roundRect">
              <a:avLst>
                <a:gd name="adj" fmla="val 11111"/>
              </a:avLst>
            </a:prstGeom>
            <a:solidFill>
              <a:srgbClr val="FFFFFF"/>
            </a:solidFill>
            <a:ln>
              <a:noFill/>
            </a:ln>
          </p:spPr>
        </p:sp>
        <p:sp>
          <p:nvSpPr>
            <p:cNvPr id="109" name="TextBox 109"/>
            <p:cNvSpPr txBox="1"/>
            <p:nvPr/>
          </p:nvSpPr>
          <p:spPr>
            <a:xfrm>
              <a:off x="10111513" y="3590449"/>
              <a:ext cx="541475"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KPI预测​</a:t>
              </a:r>
            </a:p>
          </p:txBody>
        </p:sp>
        <p:sp>
          <p:nvSpPr>
            <p:cNvPr id="110" name="Rectangle 110"/>
            <p:cNvSpPr/>
            <p:nvPr/>
          </p:nvSpPr>
          <p:spPr>
            <a:xfrm>
              <a:off x="9791700" y="3905250"/>
              <a:ext cx="1181100" cy="342900"/>
            </a:xfrm>
            <a:prstGeom prst="roundRect">
              <a:avLst>
                <a:gd name="adj" fmla="val 11111"/>
              </a:avLst>
            </a:prstGeom>
            <a:solidFill>
              <a:srgbClr val="FFFFFF"/>
            </a:solidFill>
            <a:ln>
              <a:noFill/>
            </a:ln>
          </p:spPr>
        </p:sp>
        <p:sp>
          <p:nvSpPr>
            <p:cNvPr id="111" name="TextBox 111"/>
            <p:cNvSpPr txBox="1"/>
            <p:nvPr/>
          </p:nvSpPr>
          <p:spPr>
            <a:xfrm>
              <a:off x="10113442" y="402859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根因分析</a:t>
              </a:r>
            </a:p>
          </p:txBody>
        </p:sp>
        <p:sp>
          <p:nvSpPr>
            <p:cNvPr id="112" name="Rectangle 112"/>
            <p:cNvSpPr/>
            <p:nvPr/>
          </p:nvSpPr>
          <p:spPr>
            <a:xfrm>
              <a:off x="9791700" y="4343400"/>
              <a:ext cx="1181100" cy="342900"/>
            </a:xfrm>
            <a:prstGeom prst="roundRect">
              <a:avLst>
                <a:gd name="adj" fmla="val 11111"/>
              </a:avLst>
            </a:prstGeom>
            <a:solidFill>
              <a:srgbClr val="FFFFFF"/>
            </a:solidFill>
            <a:ln>
              <a:noFill/>
            </a:ln>
          </p:spPr>
        </p:sp>
        <p:sp>
          <p:nvSpPr>
            <p:cNvPr id="113" name="TextBox 113"/>
            <p:cNvSpPr txBox="1"/>
            <p:nvPr/>
          </p:nvSpPr>
          <p:spPr>
            <a:xfrm>
              <a:off x="10113442" y="44667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智能客服</a:t>
              </a:r>
            </a:p>
          </p:txBody>
        </p:sp>
        <p:sp>
          <p:nvSpPr>
            <p:cNvPr id="114" name="Rectangle 114"/>
            <p:cNvSpPr/>
            <p:nvPr/>
          </p:nvSpPr>
          <p:spPr>
            <a:xfrm>
              <a:off x="9791700" y="4781550"/>
              <a:ext cx="1181100" cy="342900"/>
            </a:xfrm>
            <a:prstGeom prst="roundRect">
              <a:avLst>
                <a:gd name="adj" fmla="val 11111"/>
              </a:avLst>
            </a:prstGeom>
            <a:solidFill>
              <a:srgbClr val="FFFFFF"/>
            </a:solidFill>
            <a:ln>
              <a:noFill/>
            </a:ln>
          </p:spPr>
        </p:sp>
        <p:sp>
          <p:nvSpPr>
            <p:cNvPr id="115" name="TextBox 115"/>
            <p:cNvSpPr txBox="1"/>
            <p:nvPr/>
          </p:nvSpPr>
          <p:spPr>
            <a:xfrm>
              <a:off x="10113442" y="490489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异地容灾</a:t>
              </a:r>
            </a:p>
          </p:txBody>
        </p:sp>
        <p:sp>
          <p:nvSpPr>
            <p:cNvPr id="116" name="Rectangle 116"/>
            <p:cNvSpPr/>
            <p:nvPr/>
          </p:nvSpPr>
          <p:spPr>
            <a:xfrm>
              <a:off x="11201400" y="2114550"/>
              <a:ext cx="381000" cy="3276600"/>
            </a:xfrm>
            <a:prstGeom prst="roundRect">
              <a:avLst>
                <a:gd name="adj" fmla="val 50000"/>
              </a:avLst>
            </a:prstGeom>
            <a:gradFill>
              <a:gsLst>
                <a:gs pos="0">
                  <a:srgbClr val="FB684A"/>
                </a:gs>
                <a:gs pos="100000">
                  <a:srgbClr val="FA421D"/>
                </a:gs>
              </a:gsLst>
              <a:lin ang="5400000" scaled="1"/>
            </a:gradFill>
            <a:ln>
              <a:noFill/>
            </a:ln>
          </p:spPr>
        </p:sp>
        <p:sp>
          <p:nvSpPr>
            <p:cNvPr id="117" name="TextBox 117"/>
            <p:cNvSpPr txBox="1"/>
            <p:nvPr/>
          </p:nvSpPr>
          <p:spPr>
            <a:xfrm>
              <a:off x="11319891" y="3087052"/>
              <a:ext cx="144018" cy="1253109"/>
            </a:xfrm>
            <a:prstGeom prst="rect">
              <a:avLst/>
            </a:prstGeom>
            <a:noFill/>
            <a:ln>
              <a:noFill/>
            </a:ln>
          </p:spPr>
          <p:txBody>
            <a:bodyPr wrap="none" lIns="0" tIns="0" rIns="0" bIns="0" anchor="t" anchorCtr="0">
              <a:spAutoFit/>
            </a:bodyPr>
            <a:lstStyle/>
            <a:p>
              <a:pPr algn="ctr">
                <a:lnSpc>
                  <a:spcPts val="1650"/>
                </a:lnSpc>
              </a:pPr>
              <a:r>
                <a:rPr lang="zh-CN" sz="1050" dirty="0">
                  <a:solidFill>
                    <a:srgbClr val="FFFFFF"/>
                  </a:solidFill>
                  <a:latin typeface="+mn-lt"/>
                  <a:ea typeface="+mn-ea"/>
                  <a:cs typeface="+mn-cs"/>
                </a:rPr>
                <a:t>运</a:t>
              </a:r>
              <a:br/>
              <a:r>
                <a:rPr lang="zh-CN" sz="1050" dirty="0">
                  <a:solidFill>
                    <a:srgbClr val="FFFFFF"/>
                  </a:solidFill>
                  <a:latin typeface="+mn-lt"/>
                  <a:ea typeface="+mn-ea"/>
                  <a:cs typeface="+mn-cs"/>
                </a:rPr>
                <a:t>维</a:t>
              </a:r>
              <a:br/>
              <a:r>
                <a:rPr lang="zh-CN" sz="1050" dirty="0">
                  <a:solidFill>
                    <a:srgbClr val="FFFFFF"/>
                  </a:solidFill>
                  <a:latin typeface="+mn-lt"/>
                  <a:ea typeface="+mn-ea"/>
                  <a:cs typeface="+mn-cs"/>
                </a:rPr>
                <a:t>作</a:t>
              </a:r>
              <a:br/>
              <a:r>
                <a:rPr lang="zh-CN" sz="1050" dirty="0">
                  <a:solidFill>
                    <a:srgbClr val="FFFFFF"/>
                  </a:solidFill>
                  <a:latin typeface="+mn-lt"/>
                  <a:ea typeface="+mn-ea"/>
                  <a:cs typeface="+mn-cs"/>
                </a:rPr>
                <a:t>业</a:t>
              </a:r>
              <a:br/>
              <a:r>
                <a:rPr lang="zh-CN" sz="1050" dirty="0">
                  <a:solidFill>
                    <a:srgbClr val="FFFFFF"/>
                  </a:solidFill>
                  <a:latin typeface="+mn-lt"/>
                  <a:ea typeface="+mn-ea"/>
                  <a:cs typeface="+mn-cs"/>
                </a:rPr>
                <a:t>场</a:t>
              </a:r>
              <a:br/>
              <a:r>
                <a:rPr lang="zh-CN" sz="1050" dirty="0">
                  <a:solidFill>
                    <a:srgbClr val="FFFFFF"/>
                  </a:solidFill>
                  <a:latin typeface="+mn-lt"/>
                  <a:ea typeface="+mn-ea"/>
                  <a:cs typeface="+mn-cs"/>
                </a:rPr>
                <a:t>景</a:t>
              </a:r>
            </a:p>
          </p:txBody>
        </p:sp>
      </p:grpSp>
      <p:grpSp>
        <p:nvGrpSpPr>
          <p:cNvPr id="143" name="data-sources"/>
          <p:cNvGrpSpPr/>
          <p:nvPr/>
        </p:nvGrpSpPr>
        <p:grpSpPr>
          <a:xfrm>
            <a:off x="381000" y="5581650"/>
            <a:ext cx="11430000" cy="1047750"/>
            <a:chOff x="381000" y="5581650"/>
            <a:chExt cx="11430000" cy="1047750"/>
          </a:xfrm>
        </p:grpSpPr>
        <p:sp>
          <p:nvSpPr>
            <p:cNvPr id="119" name="Rectangle 119"/>
            <p:cNvSpPr/>
            <p:nvPr/>
          </p:nvSpPr>
          <p:spPr>
            <a:xfrm>
              <a:off x="381000" y="6496050"/>
              <a:ext cx="11430000" cy="133350"/>
            </a:xfrm>
            <a:prstGeom prst="roundRect">
              <a:avLst>
                <a:gd name="adj" fmla="val 21429"/>
              </a:avLst>
            </a:prstGeom>
            <a:solidFill>
              <a:srgbClr val="D2E4FE"/>
            </a:solidFill>
            <a:ln>
              <a:noFill/>
            </a:ln>
          </p:spPr>
        </p:sp>
        <p:sp>
          <p:nvSpPr>
            <p:cNvPr id="120" name="Freeform 120"/>
            <p:cNvSpPr/>
            <p:nvPr/>
          </p:nvSpPr>
          <p:spPr>
            <a:xfrm>
              <a:off x="1524000" y="5581650"/>
              <a:ext cx="285750" cy="381000"/>
            </a:xfrm>
            <a:prstGeom prst="upArrow">
              <a:avLst/>
            </a:prstGeom>
            <a:solidFill>
              <a:srgbClr val="FBAD9D"/>
            </a:solidFill>
            <a:ln>
              <a:noFill/>
            </a:ln>
          </p:spPr>
        </p:sp>
        <p:sp>
          <p:nvSpPr>
            <p:cNvPr id="121" name="Freeform 121"/>
            <p:cNvSpPr/>
            <p:nvPr/>
          </p:nvSpPr>
          <p:spPr>
            <a:xfrm>
              <a:off x="3619500" y="5581650"/>
              <a:ext cx="285750" cy="381000"/>
            </a:xfrm>
            <a:prstGeom prst="upArrow">
              <a:avLst/>
            </a:prstGeom>
            <a:solidFill>
              <a:srgbClr val="FBAD9D"/>
            </a:solidFill>
            <a:ln>
              <a:noFill/>
            </a:ln>
          </p:spPr>
        </p:sp>
        <p:sp>
          <p:nvSpPr>
            <p:cNvPr id="122" name="Freeform 122"/>
            <p:cNvSpPr/>
            <p:nvPr/>
          </p:nvSpPr>
          <p:spPr>
            <a:xfrm>
              <a:off x="5953125" y="5581650"/>
              <a:ext cx="285750" cy="381000"/>
            </a:xfrm>
            <a:prstGeom prst="upArrow">
              <a:avLst/>
            </a:prstGeom>
            <a:solidFill>
              <a:srgbClr val="FBAD9D"/>
            </a:solidFill>
            <a:ln>
              <a:noFill/>
            </a:ln>
          </p:spPr>
        </p:sp>
        <p:sp>
          <p:nvSpPr>
            <p:cNvPr id="123" name="Freeform 123"/>
            <p:cNvSpPr/>
            <p:nvPr/>
          </p:nvSpPr>
          <p:spPr>
            <a:xfrm>
              <a:off x="7620000" y="5581650"/>
              <a:ext cx="285750" cy="381000"/>
            </a:xfrm>
            <a:prstGeom prst="upArrow">
              <a:avLst/>
            </a:prstGeom>
            <a:solidFill>
              <a:srgbClr val="FBAD9D"/>
            </a:solidFill>
            <a:ln>
              <a:noFill/>
            </a:ln>
          </p:spPr>
        </p:sp>
        <p:sp>
          <p:nvSpPr>
            <p:cNvPr id="124" name="Freeform 124"/>
            <p:cNvSpPr/>
            <p:nvPr/>
          </p:nvSpPr>
          <p:spPr>
            <a:xfrm>
              <a:off x="9763125" y="5581650"/>
              <a:ext cx="285750" cy="381000"/>
            </a:xfrm>
            <a:prstGeom prst="upArrow">
              <a:avLst/>
            </a:prstGeom>
            <a:solidFill>
              <a:srgbClr val="FBAD9D"/>
            </a:solidFill>
            <a:ln>
              <a:noFill/>
            </a:ln>
          </p:spPr>
        </p:sp>
        <p:sp>
          <p:nvSpPr>
            <p:cNvPr id="125" name="Rectangle 125"/>
            <p:cNvSpPr/>
            <p:nvPr/>
          </p:nvSpPr>
          <p:spPr>
            <a:xfrm>
              <a:off x="2447925" y="5676900"/>
              <a:ext cx="533400" cy="190500"/>
            </a:xfrm>
            <a:prstGeom prst="roundRect">
              <a:avLst>
                <a:gd name="adj" fmla="val 50000"/>
              </a:avLst>
            </a:prstGeom>
            <a:solidFill>
              <a:srgbClr val="FCC4B9"/>
            </a:solidFill>
            <a:ln>
              <a:noFill/>
            </a:ln>
          </p:spPr>
        </p:sp>
        <p:sp>
          <p:nvSpPr>
            <p:cNvPr id="126" name="TextBox 126"/>
            <p:cNvSpPr txBox="1"/>
            <p:nvPr/>
          </p:nvSpPr>
          <p:spPr>
            <a:xfrm>
              <a:off x="2599474" y="5721191"/>
              <a:ext cx="23030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抽取</a:t>
              </a:r>
            </a:p>
          </p:txBody>
        </p:sp>
        <p:sp>
          <p:nvSpPr>
            <p:cNvPr id="127" name="Rectangle 127"/>
            <p:cNvSpPr/>
            <p:nvPr/>
          </p:nvSpPr>
          <p:spPr>
            <a:xfrm>
              <a:off x="4657725" y="5676900"/>
              <a:ext cx="533400" cy="190500"/>
            </a:xfrm>
            <a:prstGeom prst="roundRect">
              <a:avLst>
                <a:gd name="adj" fmla="val 50000"/>
              </a:avLst>
            </a:prstGeom>
            <a:solidFill>
              <a:srgbClr val="FCC4B9"/>
            </a:solidFill>
            <a:ln>
              <a:noFill/>
            </a:ln>
          </p:spPr>
        </p:sp>
        <p:sp>
          <p:nvSpPr>
            <p:cNvPr id="128" name="TextBox 128"/>
            <p:cNvSpPr txBox="1"/>
            <p:nvPr/>
          </p:nvSpPr>
          <p:spPr>
            <a:xfrm>
              <a:off x="4809274" y="5721191"/>
              <a:ext cx="23030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清洗</a:t>
              </a:r>
            </a:p>
          </p:txBody>
        </p:sp>
        <p:sp>
          <p:nvSpPr>
            <p:cNvPr id="129" name="Rectangle 129"/>
            <p:cNvSpPr/>
            <p:nvPr/>
          </p:nvSpPr>
          <p:spPr>
            <a:xfrm>
              <a:off x="6657975" y="5676900"/>
              <a:ext cx="533400" cy="190500"/>
            </a:xfrm>
            <a:prstGeom prst="roundRect">
              <a:avLst>
                <a:gd name="adj" fmla="val 50000"/>
              </a:avLst>
            </a:prstGeom>
            <a:solidFill>
              <a:srgbClr val="FCC4B9"/>
            </a:solidFill>
            <a:ln>
              <a:noFill/>
            </a:ln>
          </p:spPr>
        </p:sp>
        <p:sp>
          <p:nvSpPr>
            <p:cNvPr id="130" name="TextBox 130"/>
            <p:cNvSpPr txBox="1"/>
            <p:nvPr/>
          </p:nvSpPr>
          <p:spPr>
            <a:xfrm>
              <a:off x="6809524" y="5721191"/>
              <a:ext cx="23030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融合</a:t>
              </a:r>
            </a:p>
          </p:txBody>
        </p:sp>
        <p:sp>
          <p:nvSpPr>
            <p:cNvPr id="131" name="Rectangle 131"/>
            <p:cNvSpPr/>
            <p:nvPr/>
          </p:nvSpPr>
          <p:spPr>
            <a:xfrm>
              <a:off x="8572500" y="5676900"/>
              <a:ext cx="533400" cy="190500"/>
            </a:xfrm>
            <a:prstGeom prst="roundRect">
              <a:avLst>
                <a:gd name="adj" fmla="val 50000"/>
              </a:avLst>
            </a:prstGeom>
            <a:solidFill>
              <a:srgbClr val="FCC4B9"/>
            </a:solidFill>
            <a:ln>
              <a:noFill/>
            </a:ln>
          </p:spPr>
        </p:sp>
        <p:sp>
          <p:nvSpPr>
            <p:cNvPr id="132" name="TextBox 132"/>
            <p:cNvSpPr txBox="1"/>
            <p:nvPr/>
          </p:nvSpPr>
          <p:spPr>
            <a:xfrm>
              <a:off x="8724049" y="5721191"/>
              <a:ext cx="230302"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关联</a:t>
              </a:r>
            </a:p>
          </p:txBody>
        </p:sp>
        <p:sp>
          <p:nvSpPr>
            <p:cNvPr id="133" name="Rectangle 133"/>
            <p:cNvSpPr/>
            <p:nvPr/>
          </p:nvSpPr>
          <p:spPr>
            <a:xfrm>
              <a:off x="790575" y="6057900"/>
              <a:ext cx="1905000" cy="381000"/>
            </a:xfrm>
            <a:prstGeom prst="roundRect">
              <a:avLst>
                <a:gd name="adj" fmla="val 10000"/>
              </a:avLst>
            </a:prstGeom>
            <a:gradFill>
              <a:gsLst>
                <a:gs pos="0">
                  <a:srgbClr val="FB684A"/>
                </a:gs>
                <a:gs pos="100000">
                  <a:srgbClr val="FA421D"/>
                </a:gs>
              </a:gsLst>
              <a:lin ang="5400000" scaled="1"/>
            </a:gradFill>
            <a:ln>
              <a:noFill/>
            </a:ln>
          </p:spPr>
        </p:sp>
        <p:sp>
          <p:nvSpPr>
            <p:cNvPr id="134" name="TextBox 134"/>
            <p:cNvSpPr txBox="1"/>
            <p:nvPr/>
          </p:nvSpPr>
          <p:spPr>
            <a:xfrm>
              <a:off x="1455039" y="6192202"/>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日志属性</a:t>
              </a:r>
            </a:p>
          </p:txBody>
        </p:sp>
        <p:sp>
          <p:nvSpPr>
            <p:cNvPr id="135" name="Rectangle 135"/>
            <p:cNvSpPr/>
            <p:nvPr/>
          </p:nvSpPr>
          <p:spPr>
            <a:xfrm>
              <a:off x="2990850" y="6057900"/>
              <a:ext cx="1905000" cy="381000"/>
            </a:xfrm>
            <a:prstGeom prst="roundRect">
              <a:avLst>
                <a:gd name="adj" fmla="val 10000"/>
              </a:avLst>
            </a:prstGeom>
            <a:gradFill>
              <a:gsLst>
                <a:gs pos="0">
                  <a:srgbClr val="FB684A"/>
                </a:gs>
                <a:gs pos="100000">
                  <a:srgbClr val="FA421D"/>
                </a:gs>
              </a:gsLst>
              <a:lin ang="5400000" scaled="1"/>
            </a:gradFill>
            <a:ln>
              <a:noFill/>
            </a:ln>
          </p:spPr>
        </p:sp>
        <p:sp>
          <p:nvSpPr>
            <p:cNvPr id="136" name="TextBox 136"/>
            <p:cNvSpPr txBox="1"/>
            <p:nvPr/>
          </p:nvSpPr>
          <p:spPr>
            <a:xfrm>
              <a:off x="3655314" y="6192202"/>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流式数据</a:t>
              </a:r>
            </a:p>
          </p:txBody>
        </p:sp>
        <p:sp>
          <p:nvSpPr>
            <p:cNvPr id="137" name="Rectangle 137"/>
            <p:cNvSpPr/>
            <p:nvPr/>
          </p:nvSpPr>
          <p:spPr>
            <a:xfrm>
              <a:off x="5191125" y="6057900"/>
              <a:ext cx="1905000" cy="381000"/>
            </a:xfrm>
            <a:prstGeom prst="roundRect">
              <a:avLst>
                <a:gd name="adj" fmla="val 10000"/>
              </a:avLst>
            </a:prstGeom>
            <a:gradFill>
              <a:gsLst>
                <a:gs pos="0">
                  <a:srgbClr val="FB684A"/>
                </a:gs>
                <a:gs pos="100000">
                  <a:srgbClr val="FA421D"/>
                </a:gs>
              </a:gsLst>
              <a:lin ang="5400000" scaled="1"/>
            </a:gradFill>
            <a:ln>
              <a:noFill/>
            </a:ln>
          </p:spPr>
        </p:sp>
        <p:sp>
          <p:nvSpPr>
            <p:cNvPr id="138" name="TextBox 138"/>
            <p:cNvSpPr txBox="1"/>
            <p:nvPr/>
          </p:nvSpPr>
          <p:spPr>
            <a:xfrm>
              <a:off x="5855589" y="6192202"/>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文本数据</a:t>
              </a:r>
            </a:p>
          </p:txBody>
        </p:sp>
        <p:sp>
          <p:nvSpPr>
            <p:cNvPr id="139" name="Rectangle 139"/>
            <p:cNvSpPr/>
            <p:nvPr/>
          </p:nvSpPr>
          <p:spPr>
            <a:xfrm>
              <a:off x="7391400" y="6057900"/>
              <a:ext cx="1905000" cy="381000"/>
            </a:xfrm>
            <a:prstGeom prst="roundRect">
              <a:avLst>
                <a:gd name="adj" fmla="val 10000"/>
              </a:avLst>
            </a:prstGeom>
            <a:gradFill>
              <a:gsLst>
                <a:gs pos="0">
                  <a:srgbClr val="FB684A"/>
                </a:gs>
                <a:gs pos="100000">
                  <a:srgbClr val="FA421D"/>
                </a:gs>
              </a:gsLst>
              <a:lin ang="5400000" scaled="1"/>
            </a:gradFill>
            <a:ln>
              <a:noFill/>
            </a:ln>
          </p:spPr>
        </p:sp>
        <p:sp>
          <p:nvSpPr>
            <p:cNvPr id="140" name="TextBox 140"/>
            <p:cNvSpPr txBox="1"/>
            <p:nvPr/>
          </p:nvSpPr>
          <p:spPr>
            <a:xfrm>
              <a:off x="8055864" y="6192202"/>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网络数据</a:t>
              </a:r>
            </a:p>
          </p:txBody>
        </p:sp>
        <p:sp>
          <p:nvSpPr>
            <p:cNvPr id="141" name="Rectangle 141"/>
            <p:cNvSpPr/>
            <p:nvPr/>
          </p:nvSpPr>
          <p:spPr>
            <a:xfrm>
              <a:off x="9591675" y="6057900"/>
              <a:ext cx="1905000" cy="381000"/>
            </a:xfrm>
            <a:prstGeom prst="roundRect">
              <a:avLst>
                <a:gd name="adj" fmla="val 10000"/>
              </a:avLst>
            </a:prstGeom>
            <a:gradFill>
              <a:gsLst>
                <a:gs pos="0">
                  <a:srgbClr val="FB684A"/>
                </a:gs>
                <a:gs pos="100000">
                  <a:srgbClr val="FA421D"/>
                </a:gs>
              </a:gsLst>
              <a:lin ang="5400000" scaled="1"/>
            </a:gradFill>
            <a:ln>
              <a:noFill/>
            </a:ln>
          </p:spPr>
        </p:sp>
        <p:sp>
          <p:nvSpPr>
            <p:cNvPr id="142" name="TextBox 142"/>
            <p:cNvSpPr txBox="1"/>
            <p:nvPr/>
          </p:nvSpPr>
          <p:spPr>
            <a:xfrm>
              <a:off x="10256139" y="6192202"/>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先验知识</a:t>
              </a:r>
            </a:p>
          </p:txBody>
        </p:sp>
      </p:gr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panel-upper"/>
          <p:cNvSpPr/>
          <p:nvPr/>
        </p:nvSpPr>
        <p:spPr>
          <a:xfrm>
            <a:off x="285750" y="1181100"/>
            <a:ext cx="11620500" cy="3352800"/>
          </a:xfrm>
          <a:prstGeom prst="roundRect">
            <a:avLst>
              <a:gd name="adj" fmla="val 3977"/>
            </a:avLst>
          </a:prstGeom>
          <a:solidFill>
            <a:srgbClr val="FFFFFF">
              <a:alpha val="70000"/>
            </a:srgbClr>
          </a:solidFill>
          <a:ln w="14288">
            <a:solidFill>
              <a:srgbClr val="FBD2C9"/>
            </a:solidFill>
          </a:ln>
        </p:spPr>
      </p:sp>
      <p:sp>
        <p:nvSpPr>
          <p:cNvPr id="3" name="deco-panel-lower"/>
          <p:cNvSpPr/>
          <p:nvPr/>
        </p:nvSpPr>
        <p:spPr>
          <a:xfrm>
            <a:off x="285750" y="4800600"/>
            <a:ext cx="11620500" cy="1714500"/>
          </a:xfrm>
          <a:prstGeom prst="roundRect">
            <a:avLst>
              <a:gd name="adj" fmla="val 7778"/>
            </a:avLst>
          </a:prstGeom>
          <a:solidFill>
            <a:srgbClr val="FFFFFF">
              <a:alpha val="70000"/>
            </a:srgbClr>
          </a:solidFill>
          <a:ln w="14288">
            <a:solidFill>
              <a:srgbClr val="FBD2C9"/>
            </a:solidFill>
          </a:ln>
        </p:spPr>
      </p:sp>
      <p:grpSp>
        <p:nvGrpSpPr>
          <p:cNvPr id="8" name="header"/>
          <p:cNvGrpSpPr/>
          <p:nvPr/>
        </p:nvGrpSpPr>
        <p:grpSpPr>
          <a:xfrm>
            <a:off x="0" y="0"/>
            <a:ext cx="12192000" cy="551879"/>
            <a:chOff x="0" y="0"/>
            <a:chExt cx="12192000" cy="551879"/>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5" name="TextBox 5"/>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04</a:t>
              </a:r>
            </a:p>
          </p:txBody>
        </p:sp>
        <p:sp>
          <p:nvSpPr>
            <p:cNvPr id="6" name="TextBox 6"/>
            <p:cNvSpPr txBox="1"/>
            <p:nvPr/>
          </p:nvSpPr>
          <p:spPr>
            <a:xfrm>
              <a:off x="904494" y="170498"/>
              <a:ext cx="3957447"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以内容和用户建立关系为根本目的</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1" name="card-need-left"/>
          <p:cNvGrpSpPr/>
          <p:nvPr/>
        </p:nvGrpSpPr>
        <p:grpSpPr>
          <a:xfrm>
            <a:off x="542925" y="1409700"/>
            <a:ext cx="2133600" cy="2971800"/>
            <a:chOff x="542925" y="1409700"/>
            <a:chExt cx="2133600" cy="2971800"/>
          </a:xfrm>
        </p:grpSpPr>
        <p:sp>
          <p:nvSpPr>
            <p:cNvPr id="9" name="Rectangle 9"/>
            <p:cNvSpPr/>
            <p:nvPr/>
          </p:nvSpPr>
          <p:spPr>
            <a:xfrm>
              <a:off x="542925" y="1409700"/>
              <a:ext cx="2133600" cy="381000"/>
            </a:xfrm>
            <a:prstGeom prst="roundRect">
              <a:avLst>
                <a:gd name="adj" fmla="val 15000"/>
              </a:avLst>
            </a:prstGeom>
            <a:gradFill>
              <a:gsLst>
                <a:gs pos="0">
                  <a:srgbClr val="FB684A"/>
                </a:gs>
                <a:gs pos="100000">
                  <a:srgbClr val="FA421D"/>
                </a:gs>
              </a:gsLst>
              <a:lin ang="5400000" scaled="1"/>
            </a:gradFill>
            <a:ln>
              <a:noFill/>
            </a:ln>
          </p:spPr>
        </p:sp>
        <p:sp>
          <p:nvSpPr>
            <p:cNvPr id="10" name="TextBox 10"/>
            <p:cNvSpPr txBox="1"/>
            <p:nvPr/>
          </p:nvSpPr>
          <p:spPr>
            <a:xfrm>
              <a:off x="1280541" y="152781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业务需求</a:t>
              </a:r>
            </a:p>
          </p:txBody>
        </p:sp>
        <p:sp>
          <p:nvSpPr>
            <p:cNvPr id="11" name="Rectangle 11"/>
            <p:cNvSpPr/>
            <p:nvPr/>
          </p:nvSpPr>
          <p:spPr>
            <a:xfrm>
              <a:off x="542925" y="1790700"/>
              <a:ext cx="2133600" cy="2590800"/>
            </a:xfrm>
            <a:prstGeom prst="roundRect">
              <a:avLst>
                <a:gd name="adj" fmla="val 2679"/>
              </a:avLst>
            </a:prstGeom>
            <a:solidFill>
              <a:srgbClr val="EDF4FE"/>
            </a:solidFill>
            <a:ln>
              <a:noFill/>
            </a:ln>
          </p:spPr>
        </p:sp>
        <p:sp>
          <p:nvSpPr>
            <p:cNvPr id="12" name="Rectangle 12"/>
            <p:cNvSpPr/>
            <p:nvPr/>
          </p:nvSpPr>
          <p:spPr>
            <a:xfrm>
              <a:off x="666750" y="1943100"/>
              <a:ext cx="1885950" cy="400050"/>
            </a:xfrm>
            <a:prstGeom prst="roundRect">
              <a:avLst>
                <a:gd name="adj" fmla="val 9524"/>
              </a:avLst>
            </a:prstGeom>
            <a:solidFill>
              <a:srgbClr val="FFFFFF"/>
            </a:solidFill>
            <a:ln>
              <a:noFill/>
            </a:ln>
          </p:spPr>
        </p:sp>
        <p:sp>
          <p:nvSpPr>
            <p:cNvPr id="13" name="TextBox 13"/>
            <p:cNvSpPr txBox="1"/>
            <p:nvPr/>
          </p:nvSpPr>
          <p:spPr>
            <a:xfrm>
              <a:off x="1302461" y="2078831"/>
              <a:ext cx="614528" cy="220028"/>
            </a:xfrm>
            <a:prstGeom prst="rect">
              <a:avLst/>
            </a:prstGeom>
            <a:noFill/>
            <a:ln>
              <a:noFill/>
            </a:ln>
          </p:spPr>
          <p:txBody>
            <a:bodyPr wrap="none" lIns="0" tIns="0" rIns="0" bIns="0" anchor="t" anchorCtr="0">
              <a:spAutoFit/>
            </a:bodyPr>
            <a:lstStyle/>
            <a:p>
              <a:pPr algn="ctr"/>
              <a:r>
                <a:rPr lang="zh-CN" sz="1120" dirty="0">
                  <a:solidFill>
                    <a:srgbClr val="3D241F"/>
                  </a:solidFill>
                  <a:latin typeface="+mn-lt"/>
                  <a:ea typeface="+mn-ea"/>
                  <a:cs typeface="+mn-cs"/>
                </a:rPr>
                <a:t>自然用户</a:t>
              </a:r>
            </a:p>
          </p:txBody>
        </p:sp>
        <p:sp>
          <p:nvSpPr>
            <p:cNvPr id="14" name="Rectangle 14"/>
            <p:cNvSpPr/>
            <p:nvPr/>
          </p:nvSpPr>
          <p:spPr>
            <a:xfrm>
              <a:off x="666750" y="2438400"/>
              <a:ext cx="1885950" cy="400050"/>
            </a:xfrm>
            <a:prstGeom prst="roundRect">
              <a:avLst>
                <a:gd name="adj" fmla="val 9524"/>
              </a:avLst>
            </a:prstGeom>
            <a:solidFill>
              <a:srgbClr val="FFFFFF"/>
            </a:solidFill>
            <a:ln>
              <a:noFill/>
            </a:ln>
          </p:spPr>
        </p:sp>
        <p:sp>
          <p:nvSpPr>
            <p:cNvPr id="15" name="TextBox 15"/>
            <p:cNvSpPr txBox="1"/>
            <p:nvPr/>
          </p:nvSpPr>
          <p:spPr>
            <a:xfrm>
              <a:off x="1302461" y="2574131"/>
              <a:ext cx="614528" cy="220028"/>
            </a:xfrm>
            <a:prstGeom prst="rect">
              <a:avLst/>
            </a:prstGeom>
            <a:noFill/>
            <a:ln>
              <a:noFill/>
            </a:ln>
          </p:spPr>
          <p:txBody>
            <a:bodyPr wrap="none" lIns="0" tIns="0" rIns="0" bIns="0" anchor="t" anchorCtr="0">
              <a:spAutoFit/>
            </a:bodyPr>
            <a:lstStyle/>
            <a:p>
              <a:pPr algn="ctr"/>
              <a:r>
                <a:rPr lang="zh-CN" sz="1120" dirty="0">
                  <a:solidFill>
                    <a:srgbClr val="3D241F"/>
                  </a:solidFill>
                  <a:latin typeface="+mn-lt"/>
                  <a:ea typeface="+mn-ea"/>
                  <a:cs typeface="+mn-cs"/>
                </a:rPr>
                <a:t>竞对用户</a:t>
              </a:r>
            </a:p>
          </p:txBody>
        </p:sp>
        <p:sp>
          <p:nvSpPr>
            <p:cNvPr id="16" name="Rectangle 16"/>
            <p:cNvSpPr/>
            <p:nvPr/>
          </p:nvSpPr>
          <p:spPr>
            <a:xfrm>
              <a:off x="666750" y="2933700"/>
              <a:ext cx="1885950" cy="400050"/>
            </a:xfrm>
            <a:prstGeom prst="roundRect">
              <a:avLst>
                <a:gd name="adj" fmla="val 9524"/>
              </a:avLst>
            </a:prstGeom>
            <a:solidFill>
              <a:srgbClr val="FFFFFF"/>
            </a:solidFill>
            <a:ln>
              <a:noFill/>
            </a:ln>
          </p:spPr>
        </p:sp>
        <p:sp>
          <p:nvSpPr>
            <p:cNvPr id="17" name="TextBox 17"/>
            <p:cNvSpPr txBox="1"/>
            <p:nvPr/>
          </p:nvSpPr>
          <p:spPr>
            <a:xfrm>
              <a:off x="1302461" y="3069431"/>
              <a:ext cx="614528" cy="220028"/>
            </a:xfrm>
            <a:prstGeom prst="rect">
              <a:avLst/>
            </a:prstGeom>
            <a:noFill/>
            <a:ln>
              <a:noFill/>
            </a:ln>
          </p:spPr>
          <p:txBody>
            <a:bodyPr wrap="none" lIns="0" tIns="0" rIns="0" bIns="0" anchor="t" anchorCtr="0">
              <a:spAutoFit/>
            </a:bodyPr>
            <a:lstStyle/>
            <a:p>
              <a:pPr algn="ctr"/>
              <a:r>
                <a:rPr lang="zh-CN" sz="1120" dirty="0">
                  <a:solidFill>
                    <a:srgbClr val="3D241F"/>
                  </a:solidFill>
                  <a:latin typeface="+mn-lt"/>
                  <a:ea typeface="+mn-ea"/>
                  <a:cs typeface="+mn-cs"/>
                </a:rPr>
                <a:t>渠道用户</a:t>
              </a:r>
            </a:p>
          </p:txBody>
        </p:sp>
        <p:sp>
          <p:nvSpPr>
            <p:cNvPr id="18" name="Rectangle 18"/>
            <p:cNvSpPr/>
            <p:nvPr/>
          </p:nvSpPr>
          <p:spPr>
            <a:xfrm>
              <a:off x="666750" y="3429000"/>
              <a:ext cx="1885950" cy="400050"/>
            </a:xfrm>
            <a:prstGeom prst="roundRect">
              <a:avLst>
                <a:gd name="adj" fmla="val 9524"/>
              </a:avLst>
            </a:prstGeom>
            <a:solidFill>
              <a:srgbClr val="FFFFFF"/>
            </a:solidFill>
            <a:ln>
              <a:noFill/>
            </a:ln>
          </p:spPr>
        </p:sp>
        <p:sp>
          <p:nvSpPr>
            <p:cNvPr id="19" name="TextBox 19"/>
            <p:cNvSpPr txBox="1"/>
            <p:nvPr/>
          </p:nvSpPr>
          <p:spPr>
            <a:xfrm>
              <a:off x="1302461" y="3564731"/>
              <a:ext cx="614528" cy="220028"/>
            </a:xfrm>
            <a:prstGeom prst="rect">
              <a:avLst/>
            </a:prstGeom>
            <a:noFill/>
            <a:ln>
              <a:noFill/>
            </a:ln>
          </p:spPr>
          <p:txBody>
            <a:bodyPr wrap="none" lIns="0" tIns="0" rIns="0" bIns="0" anchor="t" anchorCtr="0">
              <a:spAutoFit/>
            </a:bodyPr>
            <a:lstStyle/>
            <a:p>
              <a:pPr algn="ctr"/>
              <a:r>
                <a:rPr lang="zh-CN" sz="1120" dirty="0">
                  <a:solidFill>
                    <a:srgbClr val="3D241F"/>
                  </a:solidFill>
                  <a:latin typeface="+mn-lt"/>
                  <a:ea typeface="+mn-ea"/>
                  <a:cs typeface="+mn-cs"/>
                </a:rPr>
                <a:t>沉睡用户</a:t>
              </a:r>
            </a:p>
          </p:txBody>
        </p:sp>
        <p:sp>
          <p:nvSpPr>
            <p:cNvPr id="20" name="TextBox 20"/>
            <p:cNvSpPr txBox="1"/>
            <p:nvPr/>
          </p:nvSpPr>
          <p:spPr>
            <a:xfrm>
              <a:off x="1526648" y="4077652"/>
              <a:ext cx="166154"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a:t>
              </a:r>
            </a:p>
          </p:txBody>
        </p:sp>
      </p:grpSp>
      <p:grpSp>
        <p:nvGrpSpPr>
          <p:cNvPr id="23" name="arrow-upper-left"/>
          <p:cNvGrpSpPr/>
          <p:nvPr/>
        </p:nvGrpSpPr>
        <p:grpSpPr>
          <a:xfrm>
            <a:off x="2781300" y="2819400"/>
            <a:ext cx="381000" cy="457200"/>
            <a:chOff x="2781300" y="2819400"/>
            <a:chExt cx="381000" cy="457200"/>
          </a:xfrm>
        </p:grpSpPr>
        <p:sp>
          <p:nvSpPr>
            <p:cNvPr id="22" name="Freeform 22"/>
            <p:cNvSpPr/>
            <p:nvPr/>
          </p:nvSpPr>
          <p:spPr>
            <a:xfrm>
              <a:off x="2781300" y="2819400"/>
              <a:ext cx="381000" cy="457200"/>
            </a:xfrm>
            <a:prstGeom prst="chevron">
              <a:avLst/>
            </a:prstGeom>
            <a:solidFill>
              <a:srgbClr val="FBAD9D"/>
            </a:solidFill>
            <a:ln>
              <a:noFill/>
            </a:ln>
          </p:spPr>
        </p:sp>
      </p:grpSp>
      <p:grpSp>
        <p:nvGrpSpPr>
          <p:cNvPr id="27" name="means-band"/>
          <p:cNvGrpSpPr/>
          <p:nvPr/>
        </p:nvGrpSpPr>
        <p:grpSpPr>
          <a:xfrm>
            <a:off x="3333750" y="1409700"/>
            <a:ext cx="5543550" cy="723900"/>
            <a:chOff x="3333750" y="1409700"/>
            <a:chExt cx="5543550" cy="723900"/>
          </a:xfrm>
        </p:grpSpPr>
        <p:sp>
          <p:nvSpPr>
            <p:cNvPr id="24" name="Rectangle 24"/>
            <p:cNvSpPr/>
            <p:nvPr/>
          </p:nvSpPr>
          <p:spPr>
            <a:xfrm>
              <a:off x="3333750" y="1409700"/>
              <a:ext cx="5543550" cy="723900"/>
            </a:xfrm>
            <a:prstGeom prst="roundRect">
              <a:avLst>
                <a:gd name="adj" fmla="val 10526"/>
              </a:avLst>
            </a:prstGeom>
            <a:gradFill>
              <a:gsLst>
                <a:gs pos="0">
                  <a:srgbClr val="FB684A"/>
                </a:gs>
                <a:gs pos="100000">
                  <a:srgbClr val="FA421D"/>
                </a:gs>
              </a:gsLst>
              <a:lin ang="5400000" scaled="1"/>
            </a:gradFill>
            <a:ln>
              <a:noFill/>
            </a:ln>
          </p:spPr>
        </p:sp>
        <p:sp>
          <p:nvSpPr>
            <p:cNvPr id="25" name="TextBox 25"/>
            <p:cNvSpPr txBox="1"/>
            <p:nvPr/>
          </p:nvSpPr>
          <p:spPr>
            <a:xfrm>
              <a:off x="5130165" y="1565910"/>
              <a:ext cx="195072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用户与内容产生关系的手段</a:t>
              </a:r>
            </a:p>
          </p:txBody>
        </p:sp>
        <p:sp>
          <p:nvSpPr>
            <p:cNvPr id="26" name="TextBox 26"/>
            <p:cNvSpPr txBox="1"/>
            <p:nvPr/>
          </p:nvSpPr>
          <p:spPr>
            <a:xfrm>
              <a:off x="4149547" y="1867852"/>
              <a:ext cx="3911956"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内容宣发 | 活动营销 | 游戏玩法 | 权益引导 | 广告投放 | 渠道……</a:t>
              </a:r>
            </a:p>
          </p:txBody>
        </p:sp>
      </p:grpSp>
      <p:grpSp>
        <p:nvGrpSpPr>
          <p:cNvPr id="64" name="scene-columns"/>
          <p:cNvGrpSpPr/>
          <p:nvPr/>
        </p:nvGrpSpPr>
        <p:grpSpPr>
          <a:xfrm>
            <a:off x="3333750" y="2457450"/>
            <a:ext cx="5543550" cy="1981200"/>
            <a:chOff x="3333750" y="2457450"/>
            <a:chExt cx="5543550" cy="1981200"/>
          </a:xfrm>
        </p:grpSpPr>
        <p:sp>
          <p:nvSpPr>
            <p:cNvPr id="28" name="Rectangle 28"/>
            <p:cNvSpPr/>
            <p:nvPr/>
          </p:nvSpPr>
          <p:spPr>
            <a:xfrm>
              <a:off x="3333750" y="2457450"/>
              <a:ext cx="1733550" cy="361950"/>
            </a:xfrm>
            <a:prstGeom prst="roundRect">
              <a:avLst>
                <a:gd name="adj" fmla="val 15789"/>
              </a:avLst>
            </a:prstGeom>
            <a:gradFill>
              <a:gsLst>
                <a:gs pos="0">
                  <a:srgbClr val="FB684A"/>
                </a:gs>
                <a:gs pos="100000">
                  <a:srgbClr val="FA421D"/>
                </a:gs>
              </a:gsLst>
              <a:lin ang="5400000" scaled="1"/>
            </a:gradFill>
            <a:ln>
              <a:noFill/>
            </a:ln>
          </p:spPr>
        </p:sp>
        <p:sp>
          <p:nvSpPr>
            <p:cNvPr id="29" name="TextBox 29"/>
            <p:cNvSpPr txBox="1"/>
            <p:nvPr/>
          </p:nvSpPr>
          <p:spPr>
            <a:xfrm>
              <a:off x="3893261" y="257413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公域场景</a:t>
              </a:r>
            </a:p>
          </p:txBody>
        </p:sp>
        <p:sp>
          <p:nvSpPr>
            <p:cNvPr id="30" name="Rectangle 30"/>
            <p:cNvSpPr/>
            <p:nvPr/>
          </p:nvSpPr>
          <p:spPr>
            <a:xfrm>
              <a:off x="3333750" y="2819400"/>
              <a:ext cx="1733550" cy="1619250"/>
            </a:xfrm>
            <a:prstGeom prst="roundRect">
              <a:avLst>
                <a:gd name="adj" fmla="val 3529"/>
              </a:avLst>
            </a:prstGeom>
            <a:solidFill>
              <a:srgbClr val="EDF4FE"/>
            </a:solidFill>
            <a:ln>
              <a:noFill/>
            </a:ln>
          </p:spPr>
        </p:sp>
        <p:sp>
          <p:nvSpPr>
            <p:cNvPr id="31" name="Rectangle 31"/>
            <p:cNvSpPr/>
            <p:nvPr/>
          </p:nvSpPr>
          <p:spPr>
            <a:xfrm>
              <a:off x="3448050" y="2914650"/>
              <a:ext cx="1504950" cy="247650"/>
            </a:xfrm>
            <a:prstGeom prst="roundRect">
              <a:avLst>
                <a:gd name="adj" fmla="val 11538"/>
              </a:avLst>
            </a:prstGeom>
            <a:solidFill>
              <a:srgbClr val="FFFFFF"/>
            </a:solidFill>
            <a:ln>
              <a:noFill/>
            </a:ln>
          </p:spPr>
        </p:sp>
        <p:sp>
          <p:nvSpPr>
            <p:cNvPr id="32" name="TextBox 32"/>
            <p:cNvSpPr txBox="1"/>
            <p:nvPr/>
          </p:nvSpPr>
          <p:spPr>
            <a:xfrm>
              <a:off x="3865753" y="2980849"/>
              <a:ext cx="669544"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二三方场景</a:t>
              </a:r>
            </a:p>
          </p:txBody>
        </p:sp>
        <p:sp>
          <p:nvSpPr>
            <p:cNvPr id="33" name="Rectangle 33"/>
            <p:cNvSpPr/>
            <p:nvPr/>
          </p:nvSpPr>
          <p:spPr>
            <a:xfrm>
              <a:off x="3448050" y="3219450"/>
              <a:ext cx="1504950" cy="247650"/>
            </a:xfrm>
            <a:prstGeom prst="roundRect">
              <a:avLst>
                <a:gd name="adj" fmla="val 11538"/>
              </a:avLst>
            </a:prstGeom>
            <a:solidFill>
              <a:srgbClr val="FFFFFF"/>
            </a:solidFill>
            <a:ln>
              <a:noFill/>
            </a:ln>
          </p:spPr>
        </p:sp>
        <p:sp>
          <p:nvSpPr>
            <p:cNvPr id="34" name="TextBox 34"/>
            <p:cNvSpPr txBox="1"/>
            <p:nvPr/>
          </p:nvSpPr>
          <p:spPr>
            <a:xfrm>
              <a:off x="3931717" y="32856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应用商店</a:t>
              </a:r>
            </a:p>
          </p:txBody>
        </p:sp>
        <p:sp>
          <p:nvSpPr>
            <p:cNvPr id="35" name="Rectangle 35"/>
            <p:cNvSpPr/>
            <p:nvPr/>
          </p:nvSpPr>
          <p:spPr>
            <a:xfrm>
              <a:off x="3448050" y="3524250"/>
              <a:ext cx="1504950" cy="247650"/>
            </a:xfrm>
            <a:prstGeom prst="roundRect">
              <a:avLst>
                <a:gd name="adj" fmla="val 11538"/>
              </a:avLst>
            </a:prstGeom>
            <a:solidFill>
              <a:srgbClr val="FFFFFF"/>
            </a:solidFill>
            <a:ln>
              <a:noFill/>
            </a:ln>
          </p:spPr>
        </p:sp>
        <p:sp>
          <p:nvSpPr>
            <p:cNvPr id="36" name="TextBox 36"/>
            <p:cNvSpPr txBox="1"/>
            <p:nvPr/>
          </p:nvSpPr>
          <p:spPr>
            <a:xfrm>
              <a:off x="3931717" y="35904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厂商预装</a:t>
              </a:r>
            </a:p>
          </p:txBody>
        </p:sp>
        <p:sp>
          <p:nvSpPr>
            <p:cNvPr id="37" name="Rectangle 37"/>
            <p:cNvSpPr/>
            <p:nvPr/>
          </p:nvSpPr>
          <p:spPr>
            <a:xfrm>
              <a:off x="3448050" y="3829050"/>
              <a:ext cx="1504950" cy="247650"/>
            </a:xfrm>
            <a:prstGeom prst="roundRect">
              <a:avLst>
                <a:gd name="adj" fmla="val 11538"/>
              </a:avLst>
            </a:prstGeom>
            <a:solidFill>
              <a:srgbClr val="FFFFFF"/>
            </a:solidFill>
            <a:ln>
              <a:noFill/>
            </a:ln>
          </p:spPr>
        </p:sp>
        <p:sp>
          <p:nvSpPr>
            <p:cNvPr id="38" name="TextBox 38"/>
            <p:cNvSpPr txBox="1"/>
            <p:nvPr/>
          </p:nvSpPr>
          <p:spPr>
            <a:xfrm>
              <a:off x="3931717" y="38952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社交平台</a:t>
              </a:r>
            </a:p>
          </p:txBody>
        </p:sp>
        <p:sp>
          <p:nvSpPr>
            <p:cNvPr id="39" name="TextBox 39"/>
            <p:cNvSpPr txBox="1"/>
            <p:nvPr/>
          </p:nvSpPr>
          <p:spPr>
            <a:xfrm>
              <a:off x="4123012" y="4200049"/>
              <a:ext cx="15502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a:t>
              </a:r>
            </a:p>
          </p:txBody>
        </p:sp>
        <p:sp>
          <p:nvSpPr>
            <p:cNvPr id="40" name="Rectangle 40"/>
            <p:cNvSpPr/>
            <p:nvPr/>
          </p:nvSpPr>
          <p:spPr>
            <a:xfrm>
              <a:off x="5238750" y="2457450"/>
              <a:ext cx="1733550" cy="361950"/>
            </a:xfrm>
            <a:prstGeom prst="roundRect">
              <a:avLst>
                <a:gd name="adj" fmla="val 15789"/>
              </a:avLst>
            </a:prstGeom>
            <a:gradFill>
              <a:gsLst>
                <a:gs pos="0">
                  <a:srgbClr val="FB684A"/>
                </a:gs>
                <a:gs pos="100000">
                  <a:srgbClr val="FA421D"/>
                </a:gs>
              </a:gsLst>
              <a:lin ang="5400000" scaled="1"/>
            </a:gradFill>
            <a:ln>
              <a:noFill/>
            </a:ln>
          </p:spPr>
        </p:sp>
        <p:sp>
          <p:nvSpPr>
            <p:cNvPr id="41" name="TextBox 41"/>
            <p:cNvSpPr txBox="1"/>
            <p:nvPr/>
          </p:nvSpPr>
          <p:spPr>
            <a:xfrm>
              <a:off x="5798261" y="257413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私域场景</a:t>
              </a:r>
            </a:p>
          </p:txBody>
        </p:sp>
        <p:sp>
          <p:nvSpPr>
            <p:cNvPr id="42" name="Rectangle 42"/>
            <p:cNvSpPr/>
            <p:nvPr/>
          </p:nvSpPr>
          <p:spPr>
            <a:xfrm>
              <a:off x="5238750" y="2819400"/>
              <a:ext cx="1733550" cy="1619250"/>
            </a:xfrm>
            <a:prstGeom prst="roundRect">
              <a:avLst>
                <a:gd name="adj" fmla="val 3529"/>
              </a:avLst>
            </a:prstGeom>
            <a:solidFill>
              <a:srgbClr val="EDF4FE"/>
            </a:solidFill>
            <a:ln>
              <a:noFill/>
            </a:ln>
          </p:spPr>
        </p:sp>
        <p:sp>
          <p:nvSpPr>
            <p:cNvPr id="43" name="Rectangle 43"/>
            <p:cNvSpPr/>
            <p:nvPr/>
          </p:nvSpPr>
          <p:spPr>
            <a:xfrm>
              <a:off x="5353050" y="2914650"/>
              <a:ext cx="1504950" cy="247650"/>
            </a:xfrm>
            <a:prstGeom prst="roundRect">
              <a:avLst>
                <a:gd name="adj" fmla="val 11538"/>
              </a:avLst>
            </a:prstGeom>
            <a:solidFill>
              <a:srgbClr val="FFFFFF"/>
            </a:solidFill>
            <a:ln>
              <a:noFill/>
            </a:ln>
          </p:spPr>
        </p:sp>
        <p:sp>
          <p:nvSpPr>
            <p:cNvPr id="44" name="TextBox 44"/>
            <p:cNvSpPr txBox="1"/>
            <p:nvPr/>
          </p:nvSpPr>
          <p:spPr>
            <a:xfrm>
              <a:off x="5836717" y="29808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社群营销</a:t>
              </a:r>
            </a:p>
          </p:txBody>
        </p:sp>
        <p:sp>
          <p:nvSpPr>
            <p:cNvPr id="45" name="Rectangle 45"/>
            <p:cNvSpPr/>
            <p:nvPr/>
          </p:nvSpPr>
          <p:spPr>
            <a:xfrm>
              <a:off x="5353050" y="3219450"/>
              <a:ext cx="1504950" cy="247650"/>
            </a:xfrm>
            <a:prstGeom prst="roundRect">
              <a:avLst>
                <a:gd name="adj" fmla="val 11538"/>
              </a:avLst>
            </a:prstGeom>
            <a:solidFill>
              <a:srgbClr val="FFFFFF"/>
            </a:solidFill>
            <a:ln>
              <a:noFill/>
            </a:ln>
          </p:spPr>
        </p:sp>
        <p:sp>
          <p:nvSpPr>
            <p:cNvPr id="46" name="TextBox 46"/>
            <p:cNvSpPr txBox="1"/>
            <p:nvPr/>
          </p:nvSpPr>
          <p:spPr>
            <a:xfrm>
              <a:off x="5836717" y="32856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好友种草</a:t>
              </a:r>
            </a:p>
          </p:txBody>
        </p:sp>
        <p:sp>
          <p:nvSpPr>
            <p:cNvPr id="47" name="Rectangle 47"/>
            <p:cNvSpPr/>
            <p:nvPr/>
          </p:nvSpPr>
          <p:spPr>
            <a:xfrm>
              <a:off x="5353050" y="3524250"/>
              <a:ext cx="1504950" cy="247650"/>
            </a:xfrm>
            <a:prstGeom prst="roundRect">
              <a:avLst>
                <a:gd name="adj" fmla="val 11538"/>
              </a:avLst>
            </a:prstGeom>
            <a:solidFill>
              <a:srgbClr val="FFFFFF"/>
            </a:solidFill>
            <a:ln>
              <a:noFill/>
            </a:ln>
          </p:spPr>
        </p:sp>
        <p:sp>
          <p:nvSpPr>
            <p:cNvPr id="48" name="TextBox 48"/>
            <p:cNvSpPr txBox="1"/>
            <p:nvPr/>
          </p:nvSpPr>
          <p:spPr>
            <a:xfrm>
              <a:off x="5902681" y="3590449"/>
              <a:ext cx="405689"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公众号</a:t>
              </a:r>
            </a:p>
          </p:txBody>
        </p:sp>
        <p:sp>
          <p:nvSpPr>
            <p:cNvPr id="49" name="Rectangle 49"/>
            <p:cNvSpPr/>
            <p:nvPr/>
          </p:nvSpPr>
          <p:spPr>
            <a:xfrm>
              <a:off x="5353050" y="3829050"/>
              <a:ext cx="1504950" cy="247650"/>
            </a:xfrm>
            <a:prstGeom prst="roundRect">
              <a:avLst>
                <a:gd name="adj" fmla="val 11538"/>
              </a:avLst>
            </a:prstGeom>
            <a:solidFill>
              <a:srgbClr val="FFFFFF"/>
            </a:solidFill>
            <a:ln>
              <a:noFill/>
            </a:ln>
          </p:spPr>
        </p:sp>
        <p:sp>
          <p:nvSpPr>
            <p:cNvPr id="50" name="TextBox 50"/>
            <p:cNvSpPr txBox="1"/>
            <p:nvPr/>
          </p:nvSpPr>
          <p:spPr>
            <a:xfrm>
              <a:off x="5902681" y="3895249"/>
              <a:ext cx="405689"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小程序</a:t>
              </a:r>
            </a:p>
          </p:txBody>
        </p:sp>
        <p:sp>
          <p:nvSpPr>
            <p:cNvPr id="51" name="TextBox 51"/>
            <p:cNvSpPr txBox="1"/>
            <p:nvPr/>
          </p:nvSpPr>
          <p:spPr>
            <a:xfrm>
              <a:off x="6028012" y="4200049"/>
              <a:ext cx="15502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a:t>
              </a:r>
            </a:p>
          </p:txBody>
        </p:sp>
        <p:sp>
          <p:nvSpPr>
            <p:cNvPr id="52" name="Rectangle 52"/>
            <p:cNvSpPr/>
            <p:nvPr/>
          </p:nvSpPr>
          <p:spPr>
            <a:xfrm>
              <a:off x="7143750" y="2457450"/>
              <a:ext cx="1733550" cy="361950"/>
            </a:xfrm>
            <a:prstGeom prst="roundRect">
              <a:avLst>
                <a:gd name="adj" fmla="val 15789"/>
              </a:avLst>
            </a:prstGeom>
            <a:gradFill>
              <a:gsLst>
                <a:gs pos="0">
                  <a:srgbClr val="FB684A"/>
                </a:gs>
                <a:gs pos="100000">
                  <a:srgbClr val="FA421D"/>
                </a:gs>
              </a:gsLst>
              <a:lin ang="5400000" scaled="1"/>
            </a:gradFill>
            <a:ln>
              <a:noFill/>
            </a:ln>
          </p:spPr>
        </p:sp>
        <p:sp>
          <p:nvSpPr>
            <p:cNvPr id="53" name="TextBox 53"/>
            <p:cNvSpPr txBox="1"/>
            <p:nvPr/>
          </p:nvSpPr>
          <p:spPr>
            <a:xfrm>
              <a:off x="7703261" y="257413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商域场景</a:t>
              </a:r>
            </a:p>
          </p:txBody>
        </p:sp>
        <p:sp>
          <p:nvSpPr>
            <p:cNvPr id="54" name="Rectangle 54"/>
            <p:cNvSpPr/>
            <p:nvPr/>
          </p:nvSpPr>
          <p:spPr>
            <a:xfrm>
              <a:off x="7143750" y="2819400"/>
              <a:ext cx="1733550" cy="1619250"/>
            </a:xfrm>
            <a:prstGeom prst="roundRect">
              <a:avLst>
                <a:gd name="adj" fmla="val 3529"/>
              </a:avLst>
            </a:prstGeom>
            <a:solidFill>
              <a:srgbClr val="EDF4FE"/>
            </a:solidFill>
            <a:ln>
              <a:noFill/>
            </a:ln>
          </p:spPr>
        </p:sp>
        <p:sp>
          <p:nvSpPr>
            <p:cNvPr id="55" name="Rectangle 55"/>
            <p:cNvSpPr/>
            <p:nvPr/>
          </p:nvSpPr>
          <p:spPr>
            <a:xfrm>
              <a:off x="7258050" y="2914650"/>
              <a:ext cx="1504950" cy="247650"/>
            </a:xfrm>
            <a:prstGeom prst="roundRect">
              <a:avLst>
                <a:gd name="adj" fmla="val 11538"/>
              </a:avLst>
            </a:prstGeom>
            <a:solidFill>
              <a:srgbClr val="FFFFFF"/>
            </a:solidFill>
            <a:ln>
              <a:noFill/>
            </a:ln>
          </p:spPr>
        </p:sp>
        <p:sp>
          <p:nvSpPr>
            <p:cNvPr id="56" name="TextBox 56"/>
            <p:cNvSpPr txBox="1"/>
            <p:nvPr/>
          </p:nvSpPr>
          <p:spPr>
            <a:xfrm>
              <a:off x="7675753" y="2980849"/>
              <a:ext cx="669544"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信息流广告</a:t>
              </a:r>
            </a:p>
          </p:txBody>
        </p:sp>
        <p:sp>
          <p:nvSpPr>
            <p:cNvPr id="57" name="Rectangle 57"/>
            <p:cNvSpPr/>
            <p:nvPr/>
          </p:nvSpPr>
          <p:spPr>
            <a:xfrm>
              <a:off x="7258050" y="3219450"/>
              <a:ext cx="1504950" cy="247650"/>
            </a:xfrm>
            <a:prstGeom prst="roundRect">
              <a:avLst>
                <a:gd name="adj" fmla="val 11538"/>
              </a:avLst>
            </a:prstGeom>
            <a:solidFill>
              <a:srgbClr val="FFFFFF"/>
            </a:solidFill>
            <a:ln>
              <a:noFill/>
            </a:ln>
          </p:spPr>
        </p:sp>
        <p:sp>
          <p:nvSpPr>
            <p:cNvPr id="58" name="TextBox 58"/>
            <p:cNvSpPr txBox="1"/>
            <p:nvPr/>
          </p:nvSpPr>
          <p:spPr>
            <a:xfrm>
              <a:off x="7708424" y="3285649"/>
              <a:ext cx="604203"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KOL投放​</a:t>
              </a:r>
            </a:p>
          </p:txBody>
        </p:sp>
        <p:sp>
          <p:nvSpPr>
            <p:cNvPr id="59" name="Rectangle 59"/>
            <p:cNvSpPr/>
            <p:nvPr/>
          </p:nvSpPr>
          <p:spPr>
            <a:xfrm>
              <a:off x="7258050" y="3524250"/>
              <a:ext cx="1504950" cy="247650"/>
            </a:xfrm>
            <a:prstGeom prst="roundRect">
              <a:avLst>
                <a:gd name="adj" fmla="val 11538"/>
              </a:avLst>
            </a:prstGeom>
            <a:solidFill>
              <a:srgbClr val="FFFFFF"/>
            </a:solidFill>
            <a:ln>
              <a:noFill/>
            </a:ln>
          </p:spPr>
        </p:sp>
        <p:sp>
          <p:nvSpPr>
            <p:cNvPr id="60" name="TextBox 60"/>
            <p:cNvSpPr txBox="1"/>
            <p:nvPr/>
          </p:nvSpPr>
          <p:spPr>
            <a:xfrm>
              <a:off x="7741717" y="35904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搜索广告</a:t>
              </a:r>
            </a:p>
          </p:txBody>
        </p:sp>
        <p:sp>
          <p:nvSpPr>
            <p:cNvPr id="61" name="Rectangle 61"/>
            <p:cNvSpPr/>
            <p:nvPr/>
          </p:nvSpPr>
          <p:spPr>
            <a:xfrm>
              <a:off x="7258050" y="3829050"/>
              <a:ext cx="1504950" cy="247650"/>
            </a:xfrm>
            <a:prstGeom prst="roundRect">
              <a:avLst>
                <a:gd name="adj" fmla="val 11538"/>
              </a:avLst>
            </a:prstGeom>
            <a:solidFill>
              <a:srgbClr val="FFFFFF"/>
            </a:solidFill>
            <a:ln>
              <a:noFill/>
            </a:ln>
          </p:spPr>
        </p:sp>
        <p:sp>
          <p:nvSpPr>
            <p:cNvPr id="62" name="TextBox 62"/>
            <p:cNvSpPr txBox="1"/>
            <p:nvPr/>
          </p:nvSpPr>
          <p:spPr>
            <a:xfrm>
              <a:off x="7741717" y="3895249"/>
              <a:ext cx="53761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异业合作</a:t>
              </a:r>
            </a:p>
          </p:txBody>
        </p:sp>
        <p:sp>
          <p:nvSpPr>
            <p:cNvPr id="63" name="TextBox 63"/>
            <p:cNvSpPr txBox="1"/>
            <p:nvPr/>
          </p:nvSpPr>
          <p:spPr>
            <a:xfrm>
              <a:off x="7933012" y="4200049"/>
              <a:ext cx="155026"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a:t>
              </a:r>
            </a:p>
          </p:txBody>
        </p:sp>
      </p:grpSp>
      <p:grpSp>
        <p:nvGrpSpPr>
          <p:cNvPr id="66" name="arrow-upper-right"/>
          <p:cNvGrpSpPr/>
          <p:nvPr/>
        </p:nvGrpSpPr>
        <p:grpSpPr>
          <a:xfrm>
            <a:off x="8991600" y="2819400"/>
            <a:ext cx="381000" cy="457200"/>
            <a:chOff x="8991600" y="2819400"/>
            <a:chExt cx="381000" cy="457200"/>
          </a:xfrm>
        </p:grpSpPr>
        <p:sp>
          <p:nvSpPr>
            <p:cNvPr id="65" name="Freeform 65"/>
            <p:cNvSpPr/>
            <p:nvPr/>
          </p:nvSpPr>
          <p:spPr>
            <a:xfrm rot="10800000">
              <a:off x="8991600" y="2819400"/>
              <a:ext cx="381000" cy="457200"/>
            </a:xfrm>
            <a:prstGeom prst="chevron">
              <a:avLst/>
            </a:prstGeom>
            <a:solidFill>
              <a:srgbClr val="FBAD9D"/>
            </a:solidFill>
            <a:ln>
              <a:noFill/>
            </a:ln>
          </p:spPr>
        </p:sp>
      </p:grpSp>
      <p:grpSp>
        <p:nvGrpSpPr>
          <p:cNvPr id="79" name="card-need-right"/>
          <p:cNvGrpSpPr/>
          <p:nvPr/>
        </p:nvGrpSpPr>
        <p:grpSpPr>
          <a:xfrm>
            <a:off x="9582150" y="1409700"/>
            <a:ext cx="2076450" cy="2971800"/>
            <a:chOff x="9582150" y="1409700"/>
            <a:chExt cx="2076450" cy="2971800"/>
          </a:xfrm>
        </p:grpSpPr>
        <p:sp>
          <p:nvSpPr>
            <p:cNvPr id="67" name="Rectangle 67"/>
            <p:cNvSpPr/>
            <p:nvPr/>
          </p:nvSpPr>
          <p:spPr>
            <a:xfrm>
              <a:off x="9582150" y="1409700"/>
              <a:ext cx="2076450" cy="381000"/>
            </a:xfrm>
            <a:prstGeom prst="roundRect">
              <a:avLst>
                <a:gd name="adj" fmla="val 15000"/>
              </a:avLst>
            </a:prstGeom>
            <a:gradFill>
              <a:gsLst>
                <a:gs pos="0">
                  <a:srgbClr val="FB684A"/>
                </a:gs>
                <a:gs pos="100000">
                  <a:srgbClr val="FA421D"/>
                </a:gs>
              </a:gsLst>
              <a:lin ang="5400000" scaled="1"/>
            </a:gradFill>
            <a:ln>
              <a:noFill/>
            </a:ln>
          </p:spPr>
        </p:sp>
        <p:sp>
          <p:nvSpPr>
            <p:cNvPr id="68" name="TextBox 68"/>
            <p:cNvSpPr txBox="1"/>
            <p:nvPr/>
          </p:nvSpPr>
          <p:spPr>
            <a:xfrm>
              <a:off x="10291191" y="152781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业务需求</a:t>
              </a:r>
            </a:p>
          </p:txBody>
        </p:sp>
        <p:sp>
          <p:nvSpPr>
            <p:cNvPr id="69" name="Rectangle 69"/>
            <p:cNvSpPr/>
            <p:nvPr/>
          </p:nvSpPr>
          <p:spPr>
            <a:xfrm>
              <a:off x="9582150" y="1790700"/>
              <a:ext cx="2076450" cy="2590800"/>
            </a:xfrm>
            <a:prstGeom prst="roundRect">
              <a:avLst>
                <a:gd name="adj" fmla="val 2752"/>
              </a:avLst>
            </a:prstGeom>
            <a:solidFill>
              <a:srgbClr val="EDF4FE"/>
            </a:solidFill>
            <a:ln>
              <a:noFill/>
            </a:ln>
          </p:spPr>
        </p:sp>
        <p:sp>
          <p:nvSpPr>
            <p:cNvPr id="70" name="Rectangle 70"/>
            <p:cNvSpPr/>
            <p:nvPr/>
          </p:nvSpPr>
          <p:spPr>
            <a:xfrm>
              <a:off x="9696450" y="1943100"/>
              <a:ext cx="1847850" cy="400050"/>
            </a:xfrm>
            <a:prstGeom prst="roundRect">
              <a:avLst>
                <a:gd name="adj" fmla="val 9524"/>
              </a:avLst>
            </a:prstGeom>
            <a:solidFill>
              <a:srgbClr val="FFFFFF"/>
            </a:solidFill>
            <a:ln>
              <a:noFill/>
            </a:ln>
          </p:spPr>
        </p:sp>
        <p:sp>
          <p:nvSpPr>
            <p:cNvPr id="71" name="TextBox 71"/>
            <p:cNvSpPr txBox="1"/>
            <p:nvPr/>
          </p:nvSpPr>
          <p:spPr>
            <a:xfrm>
              <a:off x="10423489" y="2078831"/>
              <a:ext cx="393771" cy="220028"/>
            </a:xfrm>
            <a:prstGeom prst="rect">
              <a:avLst/>
            </a:prstGeom>
            <a:noFill/>
            <a:ln>
              <a:noFill/>
            </a:ln>
          </p:spPr>
          <p:txBody>
            <a:bodyPr wrap="none" lIns="0" tIns="0" rIns="0" bIns="0" anchor="t" anchorCtr="0">
              <a:spAutoFit/>
            </a:bodyPr>
            <a:lstStyle/>
            <a:p>
              <a:pPr algn="ctr"/>
              <a:r>
                <a:rPr lang="en-US" sz="1120" dirty="0">
                  <a:solidFill>
                    <a:srgbClr val="3D241F"/>
                  </a:solidFill>
                  <a:latin typeface="+mn-lt"/>
                  <a:ea typeface="+mn-ea"/>
                  <a:cs typeface="+mn-cs"/>
                </a:rPr>
                <a:t>OGC​</a:t>
              </a:r>
            </a:p>
          </p:txBody>
        </p:sp>
        <p:sp>
          <p:nvSpPr>
            <p:cNvPr id="72" name="Rectangle 72"/>
            <p:cNvSpPr/>
            <p:nvPr/>
          </p:nvSpPr>
          <p:spPr>
            <a:xfrm>
              <a:off x="9696450" y="2438400"/>
              <a:ext cx="1847850" cy="400050"/>
            </a:xfrm>
            <a:prstGeom prst="roundRect">
              <a:avLst>
                <a:gd name="adj" fmla="val 9524"/>
              </a:avLst>
            </a:prstGeom>
            <a:solidFill>
              <a:srgbClr val="FFFFFF"/>
            </a:solidFill>
            <a:ln>
              <a:noFill/>
            </a:ln>
          </p:spPr>
        </p:sp>
        <p:sp>
          <p:nvSpPr>
            <p:cNvPr id="73" name="TextBox 73"/>
            <p:cNvSpPr txBox="1"/>
            <p:nvPr/>
          </p:nvSpPr>
          <p:spPr>
            <a:xfrm>
              <a:off x="10351800" y="2574131"/>
              <a:ext cx="537149" cy="220028"/>
            </a:xfrm>
            <a:prstGeom prst="rect">
              <a:avLst/>
            </a:prstGeom>
            <a:noFill/>
            <a:ln>
              <a:noFill/>
            </a:ln>
          </p:spPr>
          <p:txBody>
            <a:bodyPr wrap="none" lIns="0" tIns="0" rIns="0" bIns="0" anchor="t" anchorCtr="0">
              <a:spAutoFit/>
            </a:bodyPr>
            <a:lstStyle/>
            <a:p>
              <a:pPr algn="ctr"/>
              <a:r>
                <a:rPr lang="en-US" sz="1120" dirty="0">
                  <a:solidFill>
                    <a:srgbClr val="3D241F"/>
                  </a:solidFill>
                  <a:latin typeface="+mn-lt"/>
                  <a:ea typeface="+mn-ea"/>
                  <a:cs typeface="+mn-cs"/>
                </a:rPr>
                <a:t>P/UGC​</a:t>
              </a:r>
            </a:p>
          </p:txBody>
        </p:sp>
        <p:sp>
          <p:nvSpPr>
            <p:cNvPr id="74" name="Rectangle 74"/>
            <p:cNvSpPr/>
            <p:nvPr/>
          </p:nvSpPr>
          <p:spPr>
            <a:xfrm>
              <a:off x="9696450" y="2933700"/>
              <a:ext cx="1847850" cy="400050"/>
            </a:xfrm>
            <a:prstGeom prst="roundRect">
              <a:avLst>
                <a:gd name="adj" fmla="val 9524"/>
              </a:avLst>
            </a:prstGeom>
            <a:solidFill>
              <a:srgbClr val="FFFFFF"/>
            </a:solidFill>
            <a:ln>
              <a:noFill/>
            </a:ln>
          </p:spPr>
        </p:sp>
        <p:sp>
          <p:nvSpPr>
            <p:cNvPr id="75" name="TextBox 75"/>
            <p:cNvSpPr txBox="1"/>
            <p:nvPr/>
          </p:nvSpPr>
          <p:spPr>
            <a:xfrm>
              <a:off x="10313111" y="3069431"/>
              <a:ext cx="614528" cy="220028"/>
            </a:xfrm>
            <a:prstGeom prst="rect">
              <a:avLst/>
            </a:prstGeom>
            <a:noFill/>
            <a:ln>
              <a:noFill/>
            </a:ln>
          </p:spPr>
          <p:txBody>
            <a:bodyPr wrap="none" lIns="0" tIns="0" rIns="0" bIns="0" anchor="t" anchorCtr="0">
              <a:spAutoFit/>
            </a:bodyPr>
            <a:lstStyle/>
            <a:p>
              <a:pPr algn="ctr"/>
              <a:r>
                <a:rPr lang="zh-CN" sz="1120" dirty="0">
                  <a:solidFill>
                    <a:srgbClr val="3D241F"/>
                  </a:solidFill>
                  <a:latin typeface="+mn-lt"/>
                  <a:ea typeface="+mn-ea"/>
                  <a:cs typeface="+mn-cs"/>
                </a:rPr>
                <a:t>周边衍生</a:t>
              </a:r>
            </a:p>
          </p:txBody>
        </p:sp>
        <p:sp>
          <p:nvSpPr>
            <p:cNvPr id="76" name="Rectangle 76"/>
            <p:cNvSpPr/>
            <p:nvPr/>
          </p:nvSpPr>
          <p:spPr>
            <a:xfrm>
              <a:off x="9696450" y="3429000"/>
              <a:ext cx="1847850" cy="400050"/>
            </a:xfrm>
            <a:prstGeom prst="roundRect">
              <a:avLst>
                <a:gd name="adj" fmla="val 9524"/>
              </a:avLst>
            </a:prstGeom>
            <a:solidFill>
              <a:srgbClr val="FFFFFF"/>
            </a:solidFill>
            <a:ln>
              <a:noFill/>
            </a:ln>
          </p:spPr>
        </p:sp>
        <p:sp>
          <p:nvSpPr>
            <p:cNvPr id="77" name="TextBox 77"/>
            <p:cNvSpPr txBox="1"/>
            <p:nvPr/>
          </p:nvSpPr>
          <p:spPr>
            <a:xfrm>
              <a:off x="10388498" y="3564731"/>
              <a:ext cx="463753" cy="220028"/>
            </a:xfrm>
            <a:prstGeom prst="rect">
              <a:avLst/>
            </a:prstGeom>
            <a:noFill/>
            <a:ln>
              <a:noFill/>
            </a:ln>
          </p:spPr>
          <p:txBody>
            <a:bodyPr wrap="none" lIns="0" tIns="0" rIns="0" bIns="0" anchor="t" anchorCtr="0">
              <a:spAutoFit/>
            </a:bodyPr>
            <a:lstStyle/>
            <a:p>
              <a:pPr algn="ctr"/>
              <a:r>
                <a:rPr lang="zh-CN" sz="1120" dirty="0">
                  <a:solidFill>
                    <a:srgbClr val="3D241F"/>
                  </a:solidFill>
                  <a:latin typeface="+mn-lt"/>
                  <a:ea typeface="+mn-ea"/>
                  <a:cs typeface="+mn-cs"/>
                </a:rPr>
                <a:t>中视频</a:t>
              </a:r>
            </a:p>
          </p:txBody>
        </p:sp>
        <p:sp>
          <p:nvSpPr>
            <p:cNvPr id="78" name="TextBox 78"/>
            <p:cNvSpPr txBox="1"/>
            <p:nvPr/>
          </p:nvSpPr>
          <p:spPr>
            <a:xfrm>
              <a:off x="10537298" y="4077652"/>
              <a:ext cx="166154"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a:t>
              </a:r>
            </a:p>
          </p:txBody>
        </p:sp>
      </p:grpSp>
      <p:grpSp>
        <p:nvGrpSpPr>
          <p:cNvPr id="82" name="flow-down-arrows"/>
          <p:cNvGrpSpPr/>
          <p:nvPr/>
        </p:nvGrpSpPr>
        <p:grpSpPr>
          <a:xfrm>
            <a:off x="1476375" y="4552950"/>
            <a:ext cx="9277350" cy="228600"/>
            <a:chOff x="1476375" y="4552950"/>
            <a:chExt cx="9277350" cy="228600"/>
          </a:xfrm>
        </p:grpSpPr>
        <p:sp>
          <p:nvSpPr>
            <p:cNvPr id="80" name="Freeform 80"/>
            <p:cNvSpPr/>
            <p:nvPr/>
          </p:nvSpPr>
          <p:spPr>
            <a:xfrm>
              <a:off x="1476375" y="4552950"/>
              <a:ext cx="266700" cy="228600"/>
            </a:xfrm>
            <a:prstGeom prst="downArrow">
              <a:avLst/>
            </a:prstGeom>
            <a:solidFill>
              <a:srgbClr val="FBAD9D"/>
            </a:solidFill>
            <a:ln>
              <a:noFill/>
            </a:ln>
          </p:spPr>
        </p:sp>
        <p:sp>
          <p:nvSpPr>
            <p:cNvPr id="81" name="Freeform 81"/>
            <p:cNvSpPr/>
            <p:nvPr/>
          </p:nvSpPr>
          <p:spPr>
            <a:xfrm>
              <a:off x="10487025" y="4552950"/>
              <a:ext cx="266700" cy="228600"/>
            </a:xfrm>
            <a:prstGeom prst="downArrow">
              <a:avLst/>
            </a:prstGeom>
            <a:solidFill>
              <a:srgbClr val="FBAD9D"/>
            </a:solidFill>
            <a:ln>
              <a:noFill/>
            </a:ln>
          </p:spPr>
        </p:sp>
      </p:grpSp>
      <p:grpSp>
        <p:nvGrpSpPr>
          <p:cNvPr id="85" name="block-trigger-left"/>
          <p:cNvGrpSpPr/>
          <p:nvPr/>
        </p:nvGrpSpPr>
        <p:grpSpPr>
          <a:xfrm>
            <a:off x="542925" y="4953000"/>
            <a:ext cx="2133600" cy="1333500"/>
            <a:chOff x="542925" y="4953000"/>
            <a:chExt cx="2133600" cy="1333500"/>
          </a:xfrm>
        </p:grpSpPr>
        <p:sp>
          <p:nvSpPr>
            <p:cNvPr id="83" name="Rectangle 83"/>
            <p:cNvSpPr/>
            <p:nvPr/>
          </p:nvSpPr>
          <p:spPr>
            <a:xfrm>
              <a:off x="542925" y="4953000"/>
              <a:ext cx="2133600" cy="1333500"/>
            </a:xfrm>
            <a:prstGeom prst="roundRect">
              <a:avLst>
                <a:gd name="adj" fmla="val 5714"/>
              </a:avLst>
            </a:prstGeom>
            <a:gradFill>
              <a:gsLst>
                <a:gs pos="0">
                  <a:srgbClr val="FB684A"/>
                </a:gs>
                <a:gs pos="100000">
                  <a:srgbClr val="FA421D"/>
                </a:gs>
              </a:gsLst>
              <a:lin ang="5400000" scaled="1"/>
            </a:gradFill>
            <a:ln>
              <a:noFill/>
            </a:ln>
          </p:spPr>
        </p:sp>
        <p:sp>
          <p:nvSpPr>
            <p:cNvPr id="84" name="TextBox 84"/>
            <p:cNvSpPr txBox="1"/>
            <p:nvPr/>
          </p:nvSpPr>
          <p:spPr>
            <a:xfrm>
              <a:off x="1030605" y="5400675"/>
              <a:ext cx="1158240" cy="579120"/>
            </a:xfrm>
            <a:prstGeom prst="rect">
              <a:avLst/>
            </a:prstGeom>
            <a:noFill/>
            <a:ln>
              <a:noFill/>
            </a:ln>
          </p:spPr>
          <p:txBody>
            <a:bodyPr wrap="none" lIns="0" tIns="0" rIns="0" bIns="0" anchor="t" anchorCtr="0">
              <a:spAutoFit/>
            </a:bodyPr>
            <a:lstStyle/>
            <a:p>
              <a:pPr algn="ctr">
                <a:lnSpc>
                  <a:spcPts val="2250"/>
                </a:lnSpc>
              </a:pPr>
              <a:r>
                <a:rPr lang="zh-CN" sz="1500" b="1" dirty="0">
                  <a:solidFill>
                    <a:srgbClr val="FFFFFF"/>
                  </a:solidFill>
                  <a:latin typeface="+mn-lt"/>
                  <a:ea typeface="+mn-ea"/>
                  <a:cs typeface="+mn-cs"/>
                </a:rPr>
                <a:t>激发用户</a:t>
              </a:r>
              <a:br/>
              <a:r>
                <a:rPr lang="zh-CN" sz="1500" b="1" dirty="0">
                  <a:solidFill>
                    <a:srgbClr val="FFFFFF"/>
                  </a:solidFill>
                  <a:latin typeface="+mn-lt"/>
                  <a:ea typeface="+mn-ea"/>
                  <a:cs typeface="+mn-cs"/>
                </a:rPr>
                <a:t>生产兴趣行动</a:t>
              </a:r>
            </a:p>
          </p:txBody>
        </p:sp>
      </p:grpSp>
      <p:grpSp>
        <p:nvGrpSpPr>
          <p:cNvPr id="87" name="arrow-lower-left"/>
          <p:cNvGrpSpPr/>
          <p:nvPr/>
        </p:nvGrpSpPr>
        <p:grpSpPr>
          <a:xfrm>
            <a:off x="2781300" y="5391150"/>
            <a:ext cx="381000" cy="457200"/>
            <a:chOff x="2781300" y="5391150"/>
            <a:chExt cx="381000" cy="457200"/>
          </a:xfrm>
        </p:grpSpPr>
        <p:sp>
          <p:nvSpPr>
            <p:cNvPr id="86" name="Freeform 86"/>
            <p:cNvSpPr/>
            <p:nvPr/>
          </p:nvSpPr>
          <p:spPr>
            <a:xfrm>
              <a:off x="2781300" y="5391150"/>
              <a:ext cx="381000" cy="457200"/>
            </a:xfrm>
            <a:prstGeom prst="chevron">
              <a:avLst/>
            </a:prstGeom>
            <a:solidFill>
              <a:srgbClr val="FBAD9D"/>
            </a:solidFill>
            <a:ln>
              <a:noFill/>
            </a:ln>
          </p:spPr>
        </p:sp>
      </p:grpSp>
      <p:grpSp>
        <p:nvGrpSpPr>
          <p:cNvPr id="97" name="conversion-chain"/>
          <p:cNvGrpSpPr/>
          <p:nvPr/>
        </p:nvGrpSpPr>
        <p:grpSpPr>
          <a:xfrm>
            <a:off x="3333750" y="4953000"/>
            <a:ext cx="5543550" cy="1333500"/>
            <a:chOff x="3333750" y="4953000"/>
            <a:chExt cx="5543550" cy="1333500"/>
          </a:xfrm>
        </p:grpSpPr>
        <p:sp>
          <p:nvSpPr>
            <p:cNvPr id="88" name="Rectangle 88"/>
            <p:cNvSpPr/>
            <p:nvPr/>
          </p:nvSpPr>
          <p:spPr>
            <a:xfrm>
              <a:off x="3333750" y="4953000"/>
              <a:ext cx="5543550" cy="1333500"/>
            </a:xfrm>
            <a:prstGeom prst="roundRect">
              <a:avLst>
                <a:gd name="adj" fmla="val 5714"/>
              </a:avLst>
            </a:prstGeom>
            <a:gradFill>
              <a:gsLst>
                <a:gs pos="0">
                  <a:srgbClr val="FB684A"/>
                </a:gs>
                <a:gs pos="100000">
                  <a:srgbClr val="FA421D"/>
                </a:gs>
              </a:gsLst>
              <a:lin ang="5400000" scaled="1"/>
            </a:gradFill>
            <a:ln>
              <a:noFill/>
            </a:ln>
          </p:spPr>
        </p:sp>
        <p:sp>
          <p:nvSpPr>
            <p:cNvPr id="89" name="TextBox 89"/>
            <p:cNvSpPr txBox="1"/>
            <p:nvPr/>
          </p:nvSpPr>
          <p:spPr>
            <a:xfrm>
              <a:off x="4012209" y="5291614"/>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触达</a:t>
              </a:r>
            </a:p>
          </p:txBody>
        </p:sp>
        <p:sp>
          <p:nvSpPr>
            <p:cNvPr id="90" name="TextBox 90"/>
            <p:cNvSpPr txBox="1"/>
            <p:nvPr/>
          </p:nvSpPr>
          <p:spPr>
            <a:xfrm>
              <a:off x="3918966" y="5582602"/>
              <a:ext cx="544068" cy="414909"/>
            </a:xfrm>
            <a:prstGeom prst="rect">
              <a:avLst/>
            </a:prstGeom>
            <a:noFill/>
            <a:ln>
              <a:noFill/>
            </a:ln>
          </p:spPr>
          <p:txBody>
            <a:bodyPr wrap="none" lIns="0" tIns="0" rIns="0" bIns="0" anchor="t" anchorCtr="0">
              <a:spAutoFit/>
            </a:bodyPr>
            <a:lstStyle/>
            <a:p>
              <a:pPr algn="ctr">
                <a:lnSpc>
                  <a:spcPts val="1650"/>
                </a:lnSpc>
              </a:pPr>
              <a:r>
                <a:rPr lang="zh-CN" sz="1050" dirty="0">
                  <a:solidFill>
                    <a:srgbClr val="FFFFFF"/>
                  </a:solidFill>
                  <a:latin typeface="+mn-lt"/>
                  <a:ea typeface="+mn-ea"/>
                  <a:cs typeface="+mn-cs"/>
                </a:rPr>
                <a:t>利用内容</a:t>
              </a:r>
              <a:br/>
              <a:r>
                <a:rPr lang="zh-CN" sz="1050" dirty="0">
                  <a:solidFill>
                    <a:srgbClr val="FFFFFF"/>
                  </a:solidFill>
                  <a:latin typeface="+mn-lt"/>
                  <a:ea typeface="+mn-ea"/>
                  <a:cs typeface="+mn-cs"/>
                </a:rPr>
                <a:t>产生关系</a:t>
              </a:r>
            </a:p>
          </p:txBody>
        </p:sp>
        <p:sp>
          <p:nvSpPr>
            <p:cNvPr id="91" name="Freeform 91"/>
            <p:cNvSpPr/>
            <p:nvPr/>
          </p:nvSpPr>
          <p:spPr>
            <a:xfrm>
              <a:off x="4972050" y="5391150"/>
              <a:ext cx="342900" cy="457200"/>
            </a:xfrm>
            <a:prstGeom prst="chevron">
              <a:avLst/>
            </a:prstGeom>
            <a:solidFill>
              <a:srgbClr val="DCE9FC"/>
            </a:solidFill>
            <a:ln>
              <a:noFill/>
            </a:ln>
          </p:spPr>
        </p:sp>
        <p:sp>
          <p:nvSpPr>
            <p:cNvPr id="92" name="TextBox 92"/>
            <p:cNvSpPr txBox="1"/>
            <p:nvPr/>
          </p:nvSpPr>
          <p:spPr>
            <a:xfrm>
              <a:off x="5926734" y="5291614"/>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吸引</a:t>
              </a:r>
            </a:p>
          </p:txBody>
        </p:sp>
        <p:sp>
          <p:nvSpPr>
            <p:cNvPr id="93" name="TextBox 93"/>
            <p:cNvSpPr txBox="1"/>
            <p:nvPr/>
          </p:nvSpPr>
          <p:spPr>
            <a:xfrm>
              <a:off x="5833491" y="5582602"/>
              <a:ext cx="544068" cy="414909"/>
            </a:xfrm>
            <a:prstGeom prst="rect">
              <a:avLst/>
            </a:prstGeom>
            <a:noFill/>
            <a:ln>
              <a:noFill/>
            </a:ln>
          </p:spPr>
          <p:txBody>
            <a:bodyPr wrap="none" lIns="0" tIns="0" rIns="0" bIns="0" anchor="t" anchorCtr="0">
              <a:spAutoFit/>
            </a:bodyPr>
            <a:lstStyle/>
            <a:p>
              <a:pPr algn="ctr">
                <a:lnSpc>
                  <a:spcPts val="1650"/>
                </a:lnSpc>
              </a:pPr>
              <a:r>
                <a:rPr lang="zh-CN" sz="1050" dirty="0">
                  <a:solidFill>
                    <a:srgbClr val="FFFFFF"/>
                  </a:solidFill>
                  <a:latin typeface="+mn-lt"/>
                  <a:ea typeface="+mn-ea"/>
                  <a:cs typeface="+mn-cs"/>
                </a:rPr>
                <a:t>价值刺激</a:t>
              </a:r>
              <a:br/>
              <a:r>
                <a:rPr lang="zh-CN" sz="1050" dirty="0">
                  <a:solidFill>
                    <a:srgbClr val="FFFFFF"/>
                  </a:solidFill>
                  <a:latin typeface="+mn-lt"/>
                  <a:ea typeface="+mn-ea"/>
                  <a:cs typeface="+mn-cs"/>
                </a:rPr>
                <a:t>行动意愿</a:t>
              </a:r>
            </a:p>
          </p:txBody>
        </p:sp>
        <p:sp>
          <p:nvSpPr>
            <p:cNvPr id="94" name="Freeform 94"/>
            <p:cNvSpPr/>
            <p:nvPr/>
          </p:nvSpPr>
          <p:spPr>
            <a:xfrm>
              <a:off x="6877050" y="5391150"/>
              <a:ext cx="342900" cy="457200"/>
            </a:xfrm>
            <a:prstGeom prst="chevron">
              <a:avLst/>
            </a:prstGeom>
            <a:solidFill>
              <a:srgbClr val="DCE9FC"/>
            </a:solidFill>
            <a:ln>
              <a:noFill/>
            </a:ln>
          </p:spPr>
        </p:sp>
        <p:sp>
          <p:nvSpPr>
            <p:cNvPr id="95" name="TextBox 95"/>
            <p:cNvSpPr txBox="1"/>
            <p:nvPr/>
          </p:nvSpPr>
          <p:spPr>
            <a:xfrm>
              <a:off x="7841259" y="5291614"/>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转化</a:t>
              </a:r>
            </a:p>
          </p:txBody>
        </p:sp>
        <p:sp>
          <p:nvSpPr>
            <p:cNvPr id="96" name="TextBox 96"/>
            <p:cNvSpPr txBox="1"/>
            <p:nvPr/>
          </p:nvSpPr>
          <p:spPr>
            <a:xfrm>
              <a:off x="7734681" y="5582602"/>
              <a:ext cx="570738" cy="414909"/>
            </a:xfrm>
            <a:prstGeom prst="rect">
              <a:avLst/>
            </a:prstGeom>
            <a:noFill/>
            <a:ln>
              <a:noFill/>
            </a:ln>
          </p:spPr>
          <p:txBody>
            <a:bodyPr wrap="none" lIns="0" tIns="0" rIns="0" bIns="0" anchor="t" anchorCtr="0">
              <a:spAutoFit/>
            </a:bodyPr>
            <a:lstStyle/>
            <a:p>
              <a:pPr algn="ctr">
                <a:lnSpc>
                  <a:spcPts val="1650"/>
                </a:lnSpc>
              </a:pPr>
              <a:r>
                <a:rPr lang="zh-CN" sz="1050" dirty="0">
                  <a:solidFill>
                    <a:srgbClr val="FFFFFF"/>
                  </a:solidFill>
                  <a:latin typeface="+mn-lt"/>
                  <a:ea typeface="+mn-ea"/>
                  <a:cs typeface="+mn-cs"/>
                </a:rPr>
                <a:t>产生意愿</a:t>
              </a:r>
              <a:br/>
              <a:r>
                <a:rPr lang="zh-CN" sz="1050" dirty="0">
                  <a:solidFill>
                    <a:srgbClr val="FFFFFF"/>
                  </a:solidFill>
                  <a:latin typeface="+mn-lt"/>
                  <a:ea typeface="+mn-ea"/>
                  <a:cs typeface="+mn-cs"/>
                </a:rPr>
                <a:t>消费PUV​</a:t>
              </a:r>
            </a:p>
          </p:txBody>
        </p:sp>
      </p:grpSp>
      <p:grpSp>
        <p:nvGrpSpPr>
          <p:cNvPr id="99" name="arrow-lower-right"/>
          <p:cNvGrpSpPr/>
          <p:nvPr/>
        </p:nvGrpSpPr>
        <p:grpSpPr>
          <a:xfrm>
            <a:off x="8991600" y="5391150"/>
            <a:ext cx="381000" cy="457200"/>
            <a:chOff x="8991600" y="5391150"/>
            <a:chExt cx="381000" cy="457200"/>
          </a:xfrm>
        </p:grpSpPr>
        <p:sp>
          <p:nvSpPr>
            <p:cNvPr id="98" name="Freeform 98"/>
            <p:cNvSpPr/>
            <p:nvPr/>
          </p:nvSpPr>
          <p:spPr>
            <a:xfrm rot="10800000">
              <a:off x="8991600" y="5391150"/>
              <a:ext cx="381000" cy="457200"/>
            </a:xfrm>
            <a:prstGeom prst="chevron">
              <a:avLst/>
            </a:prstGeom>
            <a:solidFill>
              <a:srgbClr val="FBAD9D"/>
            </a:solidFill>
            <a:ln>
              <a:noFill/>
            </a:ln>
          </p:spPr>
        </p:sp>
      </p:grpSp>
      <p:grpSp>
        <p:nvGrpSpPr>
          <p:cNvPr id="102" name="block-trigger-right"/>
          <p:cNvGrpSpPr/>
          <p:nvPr/>
        </p:nvGrpSpPr>
        <p:grpSpPr>
          <a:xfrm>
            <a:off x="9582150" y="4953000"/>
            <a:ext cx="2076450" cy="1333500"/>
            <a:chOff x="9582150" y="4953000"/>
            <a:chExt cx="2076450" cy="1333500"/>
          </a:xfrm>
        </p:grpSpPr>
        <p:sp>
          <p:nvSpPr>
            <p:cNvPr id="100" name="Rectangle 100"/>
            <p:cNvSpPr/>
            <p:nvPr/>
          </p:nvSpPr>
          <p:spPr>
            <a:xfrm>
              <a:off x="9582150" y="4953000"/>
              <a:ext cx="2076450" cy="1333500"/>
            </a:xfrm>
            <a:prstGeom prst="roundRect">
              <a:avLst>
                <a:gd name="adj" fmla="val 5714"/>
              </a:avLst>
            </a:prstGeom>
            <a:gradFill>
              <a:gsLst>
                <a:gs pos="0">
                  <a:srgbClr val="FB684A"/>
                </a:gs>
                <a:gs pos="100000">
                  <a:srgbClr val="FA421D"/>
                </a:gs>
              </a:gsLst>
              <a:lin ang="5400000" scaled="1"/>
            </a:gradFill>
            <a:ln>
              <a:noFill/>
            </a:ln>
          </p:spPr>
        </p:sp>
        <p:sp>
          <p:nvSpPr>
            <p:cNvPr id="101" name="TextBox 101"/>
            <p:cNvSpPr txBox="1"/>
            <p:nvPr/>
          </p:nvSpPr>
          <p:spPr>
            <a:xfrm>
              <a:off x="10041255" y="5400675"/>
              <a:ext cx="1158240" cy="579120"/>
            </a:xfrm>
            <a:prstGeom prst="rect">
              <a:avLst/>
            </a:prstGeom>
            <a:noFill/>
            <a:ln>
              <a:noFill/>
            </a:ln>
          </p:spPr>
          <p:txBody>
            <a:bodyPr wrap="none" lIns="0" tIns="0" rIns="0" bIns="0" anchor="t" anchorCtr="0">
              <a:spAutoFit/>
            </a:bodyPr>
            <a:lstStyle/>
            <a:p>
              <a:pPr algn="ctr">
                <a:lnSpc>
                  <a:spcPts val="2250"/>
                </a:lnSpc>
              </a:pPr>
              <a:r>
                <a:rPr lang="zh-CN" sz="1500" b="1" dirty="0">
                  <a:solidFill>
                    <a:srgbClr val="FFFFFF"/>
                  </a:solidFill>
                  <a:latin typeface="+mn-lt"/>
                  <a:ea typeface="+mn-ea"/>
                  <a:cs typeface="+mn-cs"/>
                </a:rPr>
                <a:t>激发用户</a:t>
              </a:r>
              <a:br/>
              <a:r>
                <a:rPr lang="zh-CN" sz="1500" b="1" dirty="0">
                  <a:solidFill>
                    <a:srgbClr val="FFFFFF"/>
                  </a:solidFill>
                  <a:latin typeface="+mn-lt"/>
                  <a:ea typeface="+mn-ea"/>
                  <a:cs typeface="+mn-cs"/>
                </a:rPr>
                <a:t>生产兴趣行动</a:t>
              </a:r>
            </a:p>
          </p:txBody>
        </p:sp>
      </p:gr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panel"/>
          <p:cNvSpPr/>
          <p:nvPr/>
        </p:nvSpPr>
        <p:spPr>
          <a:xfrm>
            <a:off x="228600" y="990600"/>
            <a:ext cx="11734800" cy="5715000"/>
          </a:xfrm>
          <a:prstGeom prst="roundRect">
            <a:avLst>
              <a:gd name="adj" fmla="val 2000"/>
            </a:avLst>
          </a:prstGeom>
          <a:solidFill>
            <a:srgbClr val="FFFFFF">
              <a:alpha val="70000"/>
            </a:srgbClr>
          </a:solidFill>
          <a:ln w="14288">
            <a:solidFill>
              <a:srgbClr val="FBD2C9"/>
            </a:solidFill>
          </a:ln>
        </p:spPr>
      </p:sp>
      <p:grpSp>
        <p:nvGrpSpPr>
          <p:cNvPr id="7" name="header"/>
          <p:cNvGrpSpPr/>
          <p:nvPr/>
        </p:nvGrpSpPr>
        <p:grpSpPr>
          <a:xfrm>
            <a:off x="0" y="0"/>
            <a:ext cx="12192000" cy="551879"/>
            <a:chOff x="0" y="0"/>
            <a:chExt cx="12192000"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4" name="TextBox 4"/>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05</a:t>
              </a:r>
            </a:p>
          </p:txBody>
        </p:sp>
        <p:sp>
          <p:nvSpPr>
            <p:cNvPr id="5" name="TextBox 5"/>
            <p:cNvSpPr txBox="1"/>
            <p:nvPr/>
          </p:nvSpPr>
          <p:spPr>
            <a:xfrm>
              <a:off x="904494" y="170498"/>
              <a:ext cx="1594866"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产品家族图谱</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33" name="category-column"/>
          <p:cNvGrpSpPr/>
          <p:nvPr/>
        </p:nvGrpSpPr>
        <p:grpSpPr>
          <a:xfrm>
            <a:off x="381000" y="1143000"/>
            <a:ext cx="1085850" cy="5334000"/>
            <a:chOff x="381000" y="1143000"/>
            <a:chExt cx="1085850" cy="5334000"/>
          </a:xfrm>
        </p:grpSpPr>
        <p:sp>
          <p:nvSpPr>
            <p:cNvPr id="8" name="Rectangle 8"/>
            <p:cNvSpPr/>
            <p:nvPr/>
          </p:nvSpPr>
          <p:spPr>
            <a:xfrm>
              <a:off x="381000" y="1143000"/>
              <a:ext cx="1085850" cy="1219200"/>
            </a:xfrm>
            <a:prstGeom prst="roundRect">
              <a:avLst>
                <a:gd name="adj" fmla="val 7018"/>
              </a:avLst>
            </a:prstGeom>
            <a:gradFill>
              <a:gsLst>
                <a:gs pos="0">
                  <a:srgbClr val="FB684A"/>
                </a:gs>
                <a:gs pos="100000">
                  <a:srgbClr val="FA421D"/>
                </a:gs>
              </a:gsLst>
              <a:lin ang="5400000" scaled="1"/>
            </a:gradFill>
            <a:ln>
              <a:noFill/>
            </a:ln>
          </p:spPr>
        </p:sp>
        <p:grpSp>
          <p:nvGrpSpPr>
            <p:cNvPr id="13" name="Group 13"/>
            <p:cNvGrpSpPr/>
            <p:nvPr/>
          </p:nvGrpSpPr>
          <p:grpSpPr>
            <a:xfrm>
              <a:off x="781050" y="1397000"/>
              <a:ext cx="285751" cy="254000"/>
              <a:chOff x="781050" y="1397000"/>
              <a:chExt cx="285751" cy="254000"/>
            </a:xfrm>
          </p:grpSpPr>
          <p:sp>
            <p:nvSpPr>
              <p:cNvPr id="9" name="Freeform 9"/>
              <p:cNvSpPr/>
              <p:nvPr/>
            </p:nvSpPr>
            <p:spPr>
              <a:xfrm>
                <a:off x="781050" y="1397000"/>
                <a:ext cx="285751" cy="127000"/>
              </a:xfrm>
              <a:custGeom>
                <a:avLst/>
                <a:gdLst/>
                <a:ahLst/>
                <a:cxnLst/>
                <a:rect l="l" t="t" r="r" b="b"/>
                <a:pathLst>
                  <a:path w="285751" h="127000">
                    <a:moveTo>
                      <a:pt x="0" y="47625"/>
                    </a:moveTo>
                    <a:cubicBezTo>
                      <a:pt x="0" y="21322"/>
                      <a:pt x="21322" y="0"/>
                      <a:pt x="47625" y="0"/>
                    </a:cubicBezTo>
                    <a:lnTo>
                      <a:pt x="238125" y="0"/>
                    </a:lnTo>
                    <a:cubicBezTo>
                      <a:pt x="264428" y="0"/>
                      <a:pt x="285751" y="21322"/>
                      <a:pt x="285751" y="47625"/>
                    </a:cubicBezTo>
                    <a:lnTo>
                      <a:pt x="285751" y="79375"/>
                    </a:lnTo>
                    <a:cubicBezTo>
                      <a:pt x="285751" y="105678"/>
                      <a:pt x="264428" y="127000"/>
                      <a:pt x="238125" y="127000"/>
                    </a:cubicBezTo>
                    <a:lnTo>
                      <a:pt x="47625" y="127000"/>
                    </a:lnTo>
                    <a:cubicBezTo>
                      <a:pt x="21322" y="127000"/>
                      <a:pt x="0" y="105678"/>
                      <a:pt x="0" y="79375"/>
                    </a:cubicBezTo>
                    <a:lnTo>
                      <a:pt x="0" y="47625"/>
                    </a:lnTo>
                  </a:path>
                </a:pathLst>
              </a:custGeom>
              <a:noFill/>
              <a:ln w="23813">
                <a:solidFill>
                  <a:srgbClr val="FFFFFF"/>
                </a:solidFill>
              </a:ln>
            </p:spPr>
          </p:sp>
          <p:sp>
            <p:nvSpPr>
              <p:cNvPr id="10" name="Freeform 10"/>
              <p:cNvSpPr/>
              <p:nvPr/>
            </p:nvSpPr>
            <p:spPr>
              <a:xfrm>
                <a:off x="781050" y="1524000"/>
                <a:ext cx="285751" cy="127000"/>
              </a:xfrm>
              <a:custGeom>
                <a:avLst/>
                <a:gdLst/>
                <a:ahLst/>
                <a:cxnLst/>
                <a:rect l="l" t="t" r="r" b="b"/>
                <a:pathLst>
                  <a:path w="285751" h="127000">
                    <a:moveTo>
                      <a:pt x="0" y="47625"/>
                    </a:moveTo>
                    <a:cubicBezTo>
                      <a:pt x="0" y="21322"/>
                      <a:pt x="21322" y="0"/>
                      <a:pt x="47625" y="0"/>
                    </a:cubicBezTo>
                    <a:lnTo>
                      <a:pt x="238125" y="0"/>
                    </a:lnTo>
                    <a:cubicBezTo>
                      <a:pt x="264428" y="0"/>
                      <a:pt x="285751" y="21322"/>
                      <a:pt x="285751" y="47625"/>
                    </a:cubicBezTo>
                    <a:lnTo>
                      <a:pt x="285751" y="79375"/>
                    </a:lnTo>
                    <a:cubicBezTo>
                      <a:pt x="285751" y="105678"/>
                      <a:pt x="264428" y="127000"/>
                      <a:pt x="238125" y="127000"/>
                    </a:cubicBezTo>
                    <a:lnTo>
                      <a:pt x="47625" y="127000"/>
                    </a:lnTo>
                    <a:cubicBezTo>
                      <a:pt x="21322" y="127000"/>
                      <a:pt x="0" y="105678"/>
                      <a:pt x="0" y="79375"/>
                    </a:cubicBezTo>
                    <a:lnTo>
                      <a:pt x="0" y="47625"/>
                    </a:lnTo>
                  </a:path>
                </a:pathLst>
              </a:custGeom>
              <a:noFill/>
              <a:ln w="23813">
                <a:solidFill>
                  <a:srgbClr val="FFFFFF"/>
                </a:solidFill>
              </a:ln>
            </p:spPr>
          </p:sp>
          <p:sp>
            <p:nvSpPr>
              <p:cNvPr id="11" name="Freeform 11"/>
              <p:cNvSpPr/>
              <p:nvPr/>
            </p:nvSpPr>
            <p:spPr>
              <a:xfrm>
                <a:off x="844550" y="1460500"/>
                <a:ext cx="9525" cy="9525"/>
              </a:xfrm>
              <a:custGeom>
                <a:avLst/>
                <a:gdLst/>
                <a:ahLst/>
                <a:cxnLst/>
                <a:rect l="l" t="t" r="r" b="b"/>
                <a:pathLst>
                  <a:path w="9525" h="9525">
                    <a:moveTo>
                      <a:pt x="0" y="0"/>
                    </a:moveTo>
                    <a:lnTo>
                      <a:pt x="0" y="159"/>
                    </a:lnTo>
                  </a:path>
                </a:pathLst>
              </a:custGeom>
              <a:noFill/>
              <a:ln w="23813">
                <a:solidFill>
                  <a:srgbClr val="FFFFFF"/>
                </a:solidFill>
              </a:ln>
            </p:spPr>
          </p:sp>
          <p:sp>
            <p:nvSpPr>
              <p:cNvPr id="12" name="Freeform 12"/>
              <p:cNvSpPr/>
              <p:nvPr/>
            </p:nvSpPr>
            <p:spPr>
              <a:xfrm>
                <a:off x="844550" y="1587501"/>
                <a:ext cx="9525" cy="9525"/>
              </a:xfrm>
              <a:custGeom>
                <a:avLst/>
                <a:gdLst/>
                <a:ahLst/>
                <a:cxnLst/>
                <a:rect l="l" t="t" r="r" b="b"/>
                <a:pathLst>
                  <a:path w="9525" h="9525">
                    <a:moveTo>
                      <a:pt x="0" y="0"/>
                    </a:moveTo>
                    <a:lnTo>
                      <a:pt x="0" y="159"/>
                    </a:lnTo>
                  </a:path>
                </a:pathLst>
              </a:custGeom>
              <a:noFill/>
              <a:ln w="23813">
                <a:solidFill>
                  <a:srgbClr val="FFFFFF"/>
                </a:solidFill>
              </a:ln>
            </p:spPr>
          </p:sp>
        </p:grpSp>
        <p:sp>
          <p:nvSpPr>
            <p:cNvPr id="14" name="TextBox 14"/>
            <p:cNvSpPr txBox="1"/>
            <p:nvPr/>
          </p:nvSpPr>
          <p:spPr>
            <a:xfrm>
              <a:off x="616661" y="19359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安全应用</a:t>
              </a:r>
            </a:p>
          </p:txBody>
        </p:sp>
        <p:sp>
          <p:nvSpPr>
            <p:cNvPr id="15" name="Rectangle 15"/>
            <p:cNvSpPr/>
            <p:nvPr/>
          </p:nvSpPr>
          <p:spPr>
            <a:xfrm>
              <a:off x="381000" y="2514600"/>
              <a:ext cx="1085850" cy="1219200"/>
            </a:xfrm>
            <a:prstGeom prst="roundRect">
              <a:avLst>
                <a:gd name="adj" fmla="val 7018"/>
              </a:avLst>
            </a:prstGeom>
            <a:gradFill>
              <a:gsLst>
                <a:gs pos="0">
                  <a:srgbClr val="FB684A"/>
                </a:gs>
                <a:gs pos="100000">
                  <a:srgbClr val="FA421D"/>
                </a:gs>
              </a:gsLst>
              <a:lin ang="5400000" scaled="1"/>
            </a:gradFill>
            <a:ln>
              <a:noFill/>
            </a:ln>
          </p:spPr>
        </p:sp>
        <p:grpSp>
          <p:nvGrpSpPr>
            <p:cNvPr id="19" name="Group 19"/>
            <p:cNvGrpSpPr/>
            <p:nvPr/>
          </p:nvGrpSpPr>
          <p:grpSpPr>
            <a:xfrm>
              <a:off x="796925" y="2752725"/>
              <a:ext cx="254001" cy="285750"/>
              <a:chOff x="796925" y="2752725"/>
              <a:chExt cx="254001" cy="285750"/>
            </a:xfrm>
          </p:grpSpPr>
          <p:sp>
            <p:nvSpPr>
              <p:cNvPr id="16" name="Freeform 16"/>
              <p:cNvSpPr/>
              <p:nvPr/>
            </p:nvSpPr>
            <p:spPr>
              <a:xfrm>
                <a:off x="796925" y="2752725"/>
                <a:ext cx="254001" cy="95250"/>
              </a:xfrm>
              <a:custGeom>
                <a:avLst/>
                <a:gdLst/>
                <a:ahLst/>
                <a:cxnLst/>
                <a:rect l="l" t="t" r="r" b="b"/>
                <a:pathLst>
                  <a:path w="254001" h="95250">
                    <a:moveTo>
                      <a:pt x="0" y="47625"/>
                    </a:moveTo>
                    <a:cubicBezTo>
                      <a:pt x="0" y="73928"/>
                      <a:pt x="56860" y="95250"/>
                      <a:pt x="127000" y="95250"/>
                    </a:cubicBezTo>
                    <a:cubicBezTo>
                      <a:pt x="197141" y="95250"/>
                      <a:pt x="254001" y="73928"/>
                      <a:pt x="254001" y="47625"/>
                    </a:cubicBezTo>
                    <a:cubicBezTo>
                      <a:pt x="254001" y="21322"/>
                      <a:pt x="197141" y="0"/>
                      <a:pt x="127000" y="0"/>
                    </a:cubicBezTo>
                    <a:cubicBezTo>
                      <a:pt x="56860" y="0"/>
                      <a:pt x="0" y="21322"/>
                      <a:pt x="0" y="47625"/>
                    </a:cubicBezTo>
                  </a:path>
                </a:pathLst>
              </a:custGeom>
              <a:noFill/>
              <a:ln w="23813">
                <a:solidFill>
                  <a:srgbClr val="FFFFFF"/>
                </a:solidFill>
              </a:ln>
            </p:spPr>
          </p:sp>
          <p:sp>
            <p:nvSpPr>
              <p:cNvPr id="17" name="Freeform 17"/>
              <p:cNvSpPr/>
              <p:nvPr/>
            </p:nvSpPr>
            <p:spPr>
              <a:xfrm>
                <a:off x="796925" y="2800350"/>
                <a:ext cx="254001" cy="142875"/>
              </a:xfrm>
              <a:custGeom>
                <a:avLst/>
                <a:gdLst/>
                <a:ahLst/>
                <a:cxnLst/>
                <a:rect l="l" t="t" r="r" b="b"/>
                <a:pathLst>
                  <a:path w="254001" h="142875">
                    <a:moveTo>
                      <a:pt x="0" y="0"/>
                    </a:moveTo>
                    <a:lnTo>
                      <a:pt x="0" y="95250"/>
                    </a:lnTo>
                    <a:cubicBezTo>
                      <a:pt x="0" y="121553"/>
                      <a:pt x="56860" y="142875"/>
                      <a:pt x="127000" y="142875"/>
                    </a:cubicBezTo>
                    <a:cubicBezTo>
                      <a:pt x="197141" y="142875"/>
                      <a:pt x="254001" y="121553"/>
                      <a:pt x="254001" y="95250"/>
                    </a:cubicBezTo>
                    <a:lnTo>
                      <a:pt x="254001" y="0"/>
                    </a:lnTo>
                  </a:path>
                </a:pathLst>
              </a:custGeom>
              <a:noFill/>
              <a:ln w="23813">
                <a:solidFill>
                  <a:srgbClr val="FFFFFF"/>
                </a:solidFill>
              </a:ln>
            </p:spPr>
          </p:sp>
          <p:sp>
            <p:nvSpPr>
              <p:cNvPr id="18" name="Freeform 18"/>
              <p:cNvSpPr/>
              <p:nvPr/>
            </p:nvSpPr>
            <p:spPr>
              <a:xfrm>
                <a:off x="796925" y="2895600"/>
                <a:ext cx="254001" cy="142875"/>
              </a:xfrm>
              <a:custGeom>
                <a:avLst/>
                <a:gdLst/>
                <a:ahLst/>
                <a:cxnLst/>
                <a:rect l="l" t="t" r="r" b="b"/>
                <a:pathLst>
                  <a:path w="254001" h="142875">
                    <a:moveTo>
                      <a:pt x="0" y="0"/>
                    </a:moveTo>
                    <a:lnTo>
                      <a:pt x="0" y="95250"/>
                    </a:lnTo>
                    <a:cubicBezTo>
                      <a:pt x="0" y="121553"/>
                      <a:pt x="56860" y="142875"/>
                      <a:pt x="127000" y="142875"/>
                    </a:cubicBezTo>
                    <a:cubicBezTo>
                      <a:pt x="197141" y="142875"/>
                      <a:pt x="254001" y="121553"/>
                      <a:pt x="254001" y="95250"/>
                    </a:cubicBezTo>
                    <a:lnTo>
                      <a:pt x="254001" y="0"/>
                    </a:lnTo>
                  </a:path>
                </a:pathLst>
              </a:custGeom>
              <a:noFill/>
              <a:ln w="23813">
                <a:solidFill>
                  <a:srgbClr val="FFFFFF"/>
                </a:solidFill>
              </a:ln>
            </p:spPr>
          </p:sp>
        </p:grpSp>
        <p:sp>
          <p:nvSpPr>
            <p:cNvPr id="20" name="TextBox 20"/>
            <p:cNvSpPr txBox="1"/>
            <p:nvPr/>
          </p:nvSpPr>
          <p:spPr>
            <a:xfrm>
              <a:off x="616661" y="33075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数据安全</a:t>
              </a:r>
            </a:p>
          </p:txBody>
        </p:sp>
        <p:sp>
          <p:nvSpPr>
            <p:cNvPr id="21" name="Rectangle 21"/>
            <p:cNvSpPr/>
            <p:nvPr/>
          </p:nvSpPr>
          <p:spPr>
            <a:xfrm>
              <a:off x="381000" y="3886200"/>
              <a:ext cx="1085850" cy="1219200"/>
            </a:xfrm>
            <a:prstGeom prst="roundRect">
              <a:avLst>
                <a:gd name="adj" fmla="val 7018"/>
              </a:avLst>
            </a:prstGeom>
            <a:gradFill>
              <a:gsLst>
                <a:gs pos="0">
                  <a:srgbClr val="FB684A"/>
                </a:gs>
                <a:gs pos="100000">
                  <a:srgbClr val="FA421D"/>
                </a:gs>
              </a:gsLst>
              <a:lin ang="5400000" scaled="1"/>
            </a:gradFill>
            <a:ln>
              <a:noFill/>
            </a:ln>
          </p:spPr>
        </p:sp>
        <p:grpSp>
          <p:nvGrpSpPr>
            <p:cNvPr id="25" name="Group 25"/>
            <p:cNvGrpSpPr/>
            <p:nvPr/>
          </p:nvGrpSpPr>
          <p:grpSpPr>
            <a:xfrm>
              <a:off x="828675" y="4086225"/>
              <a:ext cx="238125" cy="285751"/>
              <a:chOff x="828675" y="4086225"/>
              <a:chExt cx="238125" cy="285751"/>
            </a:xfrm>
          </p:grpSpPr>
          <p:sp>
            <p:nvSpPr>
              <p:cNvPr id="22" name="Freeform 22"/>
              <p:cNvSpPr/>
              <p:nvPr/>
            </p:nvSpPr>
            <p:spPr>
              <a:xfrm>
                <a:off x="860425" y="408622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3813">
                <a:solidFill>
                  <a:srgbClr val="FFFFFF"/>
                </a:solidFill>
              </a:ln>
            </p:spPr>
          </p:sp>
          <p:sp>
            <p:nvSpPr>
              <p:cNvPr id="23" name="Freeform 23"/>
              <p:cNvSpPr/>
              <p:nvPr/>
            </p:nvSpPr>
            <p:spPr>
              <a:xfrm>
                <a:off x="828675" y="4276725"/>
                <a:ext cx="127000" cy="95250"/>
              </a:xfrm>
              <a:custGeom>
                <a:avLst/>
                <a:gdLst/>
                <a:ahLst/>
                <a:cxnLst/>
                <a:rect l="l" t="t" r="r" b="b"/>
                <a:pathLst>
                  <a:path w="127000" h="95250">
                    <a:moveTo>
                      <a:pt x="0" y="95250"/>
                    </a:moveTo>
                    <a:lnTo>
                      <a:pt x="0" y="63500"/>
                    </a:lnTo>
                    <a:cubicBezTo>
                      <a:pt x="0" y="28430"/>
                      <a:pt x="28430" y="0"/>
                      <a:pt x="63500" y="0"/>
                    </a:cubicBezTo>
                    <a:lnTo>
                      <a:pt x="127000" y="0"/>
                    </a:lnTo>
                  </a:path>
                </a:pathLst>
              </a:custGeom>
              <a:noFill/>
              <a:ln w="23813">
                <a:solidFill>
                  <a:srgbClr val="FFFFFF"/>
                </a:solidFill>
              </a:ln>
            </p:spPr>
          </p:sp>
          <p:sp>
            <p:nvSpPr>
              <p:cNvPr id="24" name="Freeform 24"/>
              <p:cNvSpPr/>
              <p:nvPr/>
            </p:nvSpPr>
            <p:spPr>
              <a:xfrm>
                <a:off x="971550" y="4308476"/>
                <a:ext cx="95250" cy="63500"/>
              </a:xfrm>
              <a:custGeom>
                <a:avLst/>
                <a:gdLst/>
                <a:ahLst/>
                <a:cxnLst/>
                <a:rect l="l" t="t" r="r" b="b"/>
                <a:pathLst>
                  <a:path w="95250" h="63500">
                    <a:moveTo>
                      <a:pt x="0" y="31750"/>
                    </a:moveTo>
                    <a:lnTo>
                      <a:pt x="31750" y="63500"/>
                    </a:lnTo>
                    <a:lnTo>
                      <a:pt x="95250" y="0"/>
                    </a:lnTo>
                  </a:path>
                </a:pathLst>
              </a:custGeom>
              <a:noFill/>
              <a:ln w="23813">
                <a:solidFill>
                  <a:srgbClr val="FFFFFF"/>
                </a:solidFill>
              </a:ln>
            </p:spPr>
          </p:sp>
        </p:grpSp>
        <p:sp>
          <p:nvSpPr>
            <p:cNvPr id="26" name="TextBox 26"/>
            <p:cNvSpPr txBox="1"/>
            <p:nvPr/>
          </p:nvSpPr>
          <p:spPr>
            <a:xfrm>
              <a:off x="633730" y="4583906"/>
              <a:ext cx="580390" cy="410528"/>
            </a:xfrm>
            <a:prstGeom prst="rect">
              <a:avLst/>
            </a:prstGeom>
            <a:noFill/>
            <a:ln>
              <a:noFill/>
            </a:ln>
          </p:spPr>
          <p:txBody>
            <a:bodyPr wrap="none" lIns="0" tIns="0" rIns="0" bIns="0" anchor="t" anchorCtr="0">
              <a:spAutoFit/>
            </a:bodyPr>
            <a:lstStyle/>
            <a:p>
              <a:pPr algn="ctr">
                <a:lnSpc>
                  <a:spcPts val="1500"/>
                </a:lnSpc>
              </a:pPr>
              <a:r>
                <a:rPr lang="zh-CN" sz="1120" b="1" dirty="0">
                  <a:solidFill>
                    <a:srgbClr val="FFFFFF"/>
                  </a:solidFill>
                  <a:latin typeface="+mn-lt"/>
                  <a:ea typeface="+mn-ea"/>
                  <a:cs typeface="+mn-cs"/>
                </a:rPr>
                <a:t>身份与访</a:t>
              </a:r>
              <a:br/>
              <a:r>
                <a:rPr lang="zh-CN" sz="1120" b="1" dirty="0">
                  <a:solidFill>
                    <a:srgbClr val="FFFFFF"/>
                  </a:solidFill>
                  <a:latin typeface="+mn-lt"/>
                  <a:ea typeface="+mn-ea"/>
                  <a:cs typeface="+mn-cs"/>
                </a:rPr>
                <a:t>问安全</a:t>
              </a:r>
            </a:p>
          </p:txBody>
        </p:sp>
        <p:sp>
          <p:nvSpPr>
            <p:cNvPr id="27" name="Rectangle 27"/>
            <p:cNvSpPr/>
            <p:nvPr/>
          </p:nvSpPr>
          <p:spPr>
            <a:xfrm>
              <a:off x="381000" y="5257800"/>
              <a:ext cx="1085850" cy="1219200"/>
            </a:xfrm>
            <a:prstGeom prst="roundRect">
              <a:avLst>
                <a:gd name="adj" fmla="val 7018"/>
              </a:avLst>
            </a:prstGeom>
            <a:gradFill>
              <a:gsLst>
                <a:gs pos="0">
                  <a:srgbClr val="FB684A"/>
                </a:gs>
                <a:gs pos="100000">
                  <a:srgbClr val="FA421D"/>
                </a:gs>
              </a:gsLst>
              <a:lin ang="5400000" scaled="1"/>
            </a:gradFill>
            <a:ln>
              <a:noFill/>
            </a:ln>
          </p:spPr>
        </p:sp>
        <p:grpSp>
          <p:nvGrpSpPr>
            <p:cNvPr id="31" name="Group 31"/>
            <p:cNvGrpSpPr/>
            <p:nvPr/>
          </p:nvGrpSpPr>
          <p:grpSpPr>
            <a:xfrm>
              <a:off x="774439" y="5495925"/>
              <a:ext cx="298973" cy="285751"/>
              <a:chOff x="774439" y="5495925"/>
              <a:chExt cx="298973" cy="285751"/>
            </a:xfrm>
          </p:grpSpPr>
          <p:sp>
            <p:nvSpPr>
              <p:cNvPr id="28" name="Freeform 28"/>
              <p:cNvSpPr/>
              <p:nvPr/>
            </p:nvSpPr>
            <p:spPr>
              <a:xfrm>
                <a:off x="774439" y="5495925"/>
                <a:ext cx="298973" cy="285751"/>
              </a:xfrm>
              <a:custGeom>
                <a:avLst/>
                <a:gdLst/>
                <a:ahLst/>
                <a:cxnLst/>
                <a:rect l="l" t="t" r="r" b="b"/>
                <a:pathLst>
                  <a:path w="298973" h="285751">
                    <a:moveTo>
                      <a:pt x="149486" y="0"/>
                    </a:moveTo>
                    <a:cubicBezTo>
                      <a:pt x="186568" y="32807"/>
                      <a:pt x="234965" y="49888"/>
                      <a:pt x="284424" y="47625"/>
                    </a:cubicBezTo>
                    <a:cubicBezTo>
                      <a:pt x="298973" y="97116"/>
                      <a:pt x="292829" y="150391"/>
                      <a:pt x="267397" y="195271"/>
                    </a:cubicBezTo>
                    <a:cubicBezTo>
                      <a:pt x="241965" y="240151"/>
                      <a:pt x="199419" y="272799"/>
                      <a:pt x="149486" y="285751"/>
                    </a:cubicBezTo>
                    <a:cubicBezTo>
                      <a:pt x="99554" y="272799"/>
                      <a:pt x="57008" y="240151"/>
                      <a:pt x="31576" y="195271"/>
                    </a:cubicBezTo>
                    <a:cubicBezTo>
                      <a:pt x="6144" y="150391"/>
                      <a:pt x="0" y="97116"/>
                      <a:pt x="14549" y="47625"/>
                    </a:cubicBezTo>
                    <a:cubicBezTo>
                      <a:pt x="64008" y="49888"/>
                      <a:pt x="112405" y="32807"/>
                      <a:pt x="149486" y="0"/>
                    </a:cubicBezTo>
                  </a:path>
                </a:pathLst>
              </a:custGeom>
              <a:noFill/>
              <a:ln w="23813">
                <a:solidFill>
                  <a:srgbClr val="FFFFFF"/>
                </a:solidFill>
              </a:ln>
            </p:spPr>
          </p:sp>
          <p:sp>
            <p:nvSpPr>
              <p:cNvPr id="29" name="Freeform 29"/>
              <p:cNvSpPr/>
              <p:nvPr/>
            </p:nvSpPr>
            <p:spPr>
              <a:xfrm>
                <a:off x="908050" y="560705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23813">
                <a:solidFill>
                  <a:srgbClr val="FFFFFF"/>
                </a:solidFill>
              </a:ln>
            </p:spPr>
          </p:sp>
          <p:sp>
            <p:nvSpPr>
              <p:cNvPr id="30" name="Freeform 30"/>
              <p:cNvSpPr/>
              <p:nvPr/>
            </p:nvSpPr>
            <p:spPr>
              <a:xfrm>
                <a:off x="923925" y="5638800"/>
                <a:ext cx="9525" cy="39688"/>
              </a:xfrm>
              <a:custGeom>
                <a:avLst/>
                <a:gdLst/>
                <a:ahLst/>
                <a:cxnLst/>
                <a:rect l="l" t="t" r="r" b="b"/>
                <a:pathLst>
                  <a:path w="9525" h="39688">
                    <a:moveTo>
                      <a:pt x="0" y="0"/>
                    </a:moveTo>
                    <a:lnTo>
                      <a:pt x="0" y="39688"/>
                    </a:lnTo>
                  </a:path>
                </a:pathLst>
              </a:custGeom>
              <a:noFill/>
              <a:ln w="23813">
                <a:solidFill>
                  <a:srgbClr val="FFFFFF"/>
                </a:solidFill>
              </a:ln>
            </p:spPr>
          </p:sp>
        </p:grpSp>
        <p:sp>
          <p:nvSpPr>
            <p:cNvPr id="32" name="TextBox 32"/>
            <p:cNvSpPr txBox="1"/>
            <p:nvPr/>
          </p:nvSpPr>
          <p:spPr>
            <a:xfrm>
              <a:off x="616661" y="60507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密码安全</a:t>
              </a:r>
            </a:p>
          </p:txBody>
        </p:sp>
      </p:grpSp>
      <p:grpSp>
        <p:nvGrpSpPr>
          <p:cNvPr id="83" name="row-security-app"/>
          <p:cNvGrpSpPr/>
          <p:nvPr/>
        </p:nvGrpSpPr>
        <p:grpSpPr>
          <a:xfrm>
            <a:off x="1600200" y="1143000"/>
            <a:ext cx="10172700" cy="1028700"/>
            <a:chOff x="1600200" y="1143000"/>
            <a:chExt cx="10172700" cy="1028700"/>
          </a:xfrm>
        </p:grpSpPr>
        <p:sp>
          <p:nvSpPr>
            <p:cNvPr id="34" name="Rectangle 34"/>
            <p:cNvSpPr/>
            <p:nvPr/>
          </p:nvSpPr>
          <p:spPr>
            <a:xfrm>
              <a:off x="1600200" y="1143000"/>
              <a:ext cx="1619250" cy="247650"/>
            </a:xfrm>
            <a:prstGeom prst="roundRect">
              <a:avLst>
                <a:gd name="adj" fmla="val 15385"/>
              </a:avLst>
            </a:prstGeom>
            <a:gradFill>
              <a:gsLst>
                <a:gs pos="0">
                  <a:srgbClr val="FB684A"/>
                </a:gs>
                <a:gs pos="100000">
                  <a:srgbClr val="FA421D"/>
                </a:gs>
              </a:gsLst>
              <a:lin ang="5400000" scaled="1"/>
            </a:gradFill>
            <a:ln>
              <a:noFill/>
            </a:ln>
          </p:spPr>
        </p:sp>
        <p:sp>
          <p:nvSpPr>
            <p:cNvPr id="35" name="TextBox 35"/>
            <p:cNvSpPr txBox="1"/>
            <p:nvPr/>
          </p:nvSpPr>
          <p:spPr>
            <a:xfrm>
              <a:off x="2075053" y="120919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云安全服务</a:t>
              </a:r>
            </a:p>
          </p:txBody>
        </p:sp>
        <p:sp>
          <p:nvSpPr>
            <p:cNvPr id="36" name="Rectangle 36"/>
            <p:cNvSpPr/>
            <p:nvPr/>
          </p:nvSpPr>
          <p:spPr>
            <a:xfrm>
              <a:off x="1600200" y="1390650"/>
              <a:ext cx="1619250" cy="781050"/>
            </a:xfrm>
            <a:prstGeom prst="roundRect">
              <a:avLst>
                <a:gd name="adj" fmla="val 4878"/>
              </a:avLst>
            </a:prstGeom>
            <a:solidFill>
              <a:srgbClr val="EDF4FE"/>
            </a:solidFill>
            <a:ln>
              <a:noFill/>
            </a:ln>
          </p:spPr>
        </p:sp>
        <p:sp>
          <p:nvSpPr>
            <p:cNvPr id="37" name="Rectangle 37"/>
            <p:cNvSpPr/>
            <p:nvPr/>
          </p:nvSpPr>
          <p:spPr>
            <a:xfrm>
              <a:off x="1695450" y="1428750"/>
              <a:ext cx="1428750" cy="190500"/>
            </a:xfrm>
            <a:prstGeom prst="roundRect">
              <a:avLst>
                <a:gd name="adj" fmla="val 15000"/>
              </a:avLst>
            </a:prstGeom>
            <a:solidFill>
              <a:srgbClr val="FFFFFF"/>
            </a:solidFill>
            <a:ln>
              <a:noFill/>
            </a:ln>
          </p:spPr>
        </p:sp>
        <p:sp>
          <p:nvSpPr>
            <p:cNvPr id="38" name="TextBox 38"/>
            <p:cNvSpPr txBox="1"/>
            <p:nvPr/>
          </p:nvSpPr>
          <p:spPr>
            <a:xfrm>
              <a:off x="2129092" y="1473041"/>
              <a:ext cx="561467"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云密码服务</a:t>
              </a:r>
            </a:p>
          </p:txBody>
        </p:sp>
        <p:sp>
          <p:nvSpPr>
            <p:cNvPr id="39" name="Rectangle 39"/>
            <p:cNvSpPr/>
            <p:nvPr/>
          </p:nvSpPr>
          <p:spPr>
            <a:xfrm>
              <a:off x="1695450" y="1676400"/>
              <a:ext cx="1428750" cy="190500"/>
            </a:xfrm>
            <a:prstGeom prst="roundRect">
              <a:avLst>
                <a:gd name="adj" fmla="val 15000"/>
              </a:avLst>
            </a:prstGeom>
            <a:solidFill>
              <a:srgbClr val="FFFFFF"/>
            </a:solidFill>
            <a:ln>
              <a:noFill/>
            </a:ln>
          </p:spPr>
        </p:sp>
        <p:sp>
          <p:nvSpPr>
            <p:cNvPr id="40" name="TextBox 40"/>
            <p:cNvSpPr txBox="1"/>
            <p:nvPr/>
          </p:nvSpPr>
          <p:spPr>
            <a:xfrm>
              <a:off x="2129092" y="1720691"/>
              <a:ext cx="561467"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云签验服务</a:t>
              </a:r>
            </a:p>
          </p:txBody>
        </p:sp>
        <p:sp>
          <p:nvSpPr>
            <p:cNvPr id="41" name="Rectangle 41"/>
            <p:cNvSpPr/>
            <p:nvPr/>
          </p:nvSpPr>
          <p:spPr>
            <a:xfrm>
              <a:off x="1695450" y="1924050"/>
              <a:ext cx="1428750" cy="190500"/>
            </a:xfrm>
            <a:prstGeom prst="roundRect">
              <a:avLst>
                <a:gd name="adj" fmla="val 15000"/>
              </a:avLst>
            </a:prstGeom>
            <a:solidFill>
              <a:srgbClr val="FFFFFF"/>
            </a:solidFill>
            <a:ln>
              <a:noFill/>
            </a:ln>
          </p:spPr>
        </p:sp>
        <p:sp>
          <p:nvSpPr>
            <p:cNvPr id="42" name="TextBox 42"/>
            <p:cNvSpPr txBox="1"/>
            <p:nvPr/>
          </p:nvSpPr>
          <p:spPr>
            <a:xfrm>
              <a:off x="2073897" y="196834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电子合同服务</a:t>
              </a:r>
            </a:p>
          </p:txBody>
        </p:sp>
        <p:sp>
          <p:nvSpPr>
            <p:cNvPr id="43" name="Rectangle 43"/>
            <p:cNvSpPr/>
            <p:nvPr/>
          </p:nvSpPr>
          <p:spPr>
            <a:xfrm>
              <a:off x="3333750" y="1143000"/>
              <a:ext cx="5276850" cy="247650"/>
            </a:xfrm>
            <a:prstGeom prst="roundRect">
              <a:avLst>
                <a:gd name="adj" fmla="val 15385"/>
              </a:avLst>
            </a:prstGeom>
            <a:gradFill>
              <a:gsLst>
                <a:gs pos="0">
                  <a:srgbClr val="FB684A"/>
                </a:gs>
                <a:gs pos="100000">
                  <a:srgbClr val="FA421D"/>
                </a:gs>
              </a:gsLst>
              <a:lin ang="5400000" scaled="1"/>
            </a:gradFill>
            <a:ln>
              <a:noFill/>
            </a:ln>
          </p:spPr>
        </p:sp>
        <p:sp>
          <p:nvSpPr>
            <p:cNvPr id="44" name="TextBox 44"/>
            <p:cNvSpPr txBox="1"/>
            <p:nvPr/>
          </p:nvSpPr>
          <p:spPr>
            <a:xfrm>
              <a:off x="5637403" y="120919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物联网安全</a:t>
              </a:r>
            </a:p>
          </p:txBody>
        </p:sp>
        <p:sp>
          <p:nvSpPr>
            <p:cNvPr id="45" name="Rectangle 45"/>
            <p:cNvSpPr/>
            <p:nvPr/>
          </p:nvSpPr>
          <p:spPr>
            <a:xfrm>
              <a:off x="3333750" y="1390650"/>
              <a:ext cx="5276850" cy="781050"/>
            </a:xfrm>
            <a:prstGeom prst="roundRect">
              <a:avLst>
                <a:gd name="adj" fmla="val 4878"/>
              </a:avLst>
            </a:prstGeom>
            <a:solidFill>
              <a:srgbClr val="EDF4FE"/>
            </a:solidFill>
            <a:ln>
              <a:noFill/>
            </a:ln>
          </p:spPr>
        </p:sp>
        <p:sp>
          <p:nvSpPr>
            <p:cNvPr id="46" name="Rectangle 46"/>
            <p:cNvSpPr/>
            <p:nvPr/>
          </p:nvSpPr>
          <p:spPr>
            <a:xfrm>
              <a:off x="3429000" y="1428750"/>
              <a:ext cx="1238250" cy="190500"/>
            </a:xfrm>
            <a:prstGeom prst="roundRect">
              <a:avLst>
                <a:gd name="adj" fmla="val 15000"/>
              </a:avLst>
            </a:prstGeom>
            <a:solidFill>
              <a:srgbClr val="FFFFFF"/>
            </a:solidFill>
            <a:ln>
              <a:noFill/>
            </a:ln>
          </p:spPr>
        </p:sp>
        <p:sp>
          <p:nvSpPr>
            <p:cNvPr id="47" name="TextBox 47"/>
            <p:cNvSpPr txBox="1"/>
            <p:nvPr/>
          </p:nvSpPr>
          <p:spPr>
            <a:xfrm>
              <a:off x="3822586" y="1473041"/>
              <a:ext cx="451079"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信任中心</a:t>
              </a:r>
            </a:p>
          </p:txBody>
        </p:sp>
        <p:sp>
          <p:nvSpPr>
            <p:cNvPr id="48" name="Rectangle 48"/>
            <p:cNvSpPr/>
            <p:nvPr/>
          </p:nvSpPr>
          <p:spPr>
            <a:xfrm>
              <a:off x="4724400" y="1428750"/>
              <a:ext cx="1238250" cy="190500"/>
            </a:xfrm>
            <a:prstGeom prst="roundRect">
              <a:avLst>
                <a:gd name="adj" fmla="val 15000"/>
              </a:avLst>
            </a:prstGeom>
            <a:solidFill>
              <a:srgbClr val="FFFFFF"/>
            </a:solidFill>
            <a:ln>
              <a:noFill/>
            </a:ln>
          </p:spPr>
        </p:sp>
        <p:sp>
          <p:nvSpPr>
            <p:cNvPr id="49" name="TextBox 49"/>
            <p:cNvSpPr txBox="1"/>
            <p:nvPr/>
          </p:nvSpPr>
          <p:spPr>
            <a:xfrm>
              <a:off x="5111321" y="1473041"/>
              <a:ext cx="464409" cy="161925"/>
            </a:xfrm>
            <a:prstGeom prst="rect">
              <a:avLst/>
            </a:prstGeom>
            <a:noFill/>
            <a:ln>
              <a:noFill/>
            </a:ln>
          </p:spPr>
          <p:txBody>
            <a:bodyPr wrap="none" lIns="0" tIns="0" rIns="0" bIns="0" anchor="t" anchorCtr="0">
              <a:spAutoFit/>
            </a:bodyPr>
            <a:lstStyle/>
            <a:p>
              <a:pPr algn="ctr"/>
              <a:r>
                <a:rPr lang="en-US" sz="820" dirty="0">
                  <a:solidFill>
                    <a:srgbClr val="3D241F"/>
                  </a:solidFill>
                  <a:latin typeface="+mn-lt"/>
                  <a:ea typeface="+mn-ea"/>
                  <a:cs typeface="+mn-cs"/>
                </a:rPr>
                <a:t>V2X PKI​</a:t>
              </a:r>
            </a:p>
          </p:txBody>
        </p:sp>
        <p:sp>
          <p:nvSpPr>
            <p:cNvPr id="50" name="Rectangle 50"/>
            <p:cNvSpPr/>
            <p:nvPr/>
          </p:nvSpPr>
          <p:spPr>
            <a:xfrm>
              <a:off x="6019800" y="1428750"/>
              <a:ext cx="1238250" cy="190500"/>
            </a:xfrm>
            <a:prstGeom prst="roundRect">
              <a:avLst>
                <a:gd name="adj" fmla="val 15000"/>
              </a:avLst>
            </a:prstGeom>
            <a:solidFill>
              <a:srgbClr val="FFFFFF"/>
            </a:solidFill>
            <a:ln>
              <a:noFill/>
            </a:ln>
          </p:spPr>
        </p:sp>
        <p:sp>
          <p:nvSpPr>
            <p:cNvPr id="51" name="TextBox 51"/>
            <p:cNvSpPr txBox="1"/>
            <p:nvPr/>
          </p:nvSpPr>
          <p:spPr>
            <a:xfrm>
              <a:off x="6413386" y="1473041"/>
              <a:ext cx="451079"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数字钥匙</a:t>
              </a:r>
            </a:p>
          </p:txBody>
        </p:sp>
        <p:sp>
          <p:nvSpPr>
            <p:cNvPr id="52" name="Rectangle 52"/>
            <p:cNvSpPr/>
            <p:nvPr/>
          </p:nvSpPr>
          <p:spPr>
            <a:xfrm>
              <a:off x="7315200" y="1428750"/>
              <a:ext cx="1238250" cy="190500"/>
            </a:xfrm>
            <a:prstGeom prst="roundRect">
              <a:avLst>
                <a:gd name="adj" fmla="val 15000"/>
              </a:avLst>
            </a:prstGeom>
            <a:solidFill>
              <a:srgbClr val="FFFFFF"/>
            </a:solidFill>
            <a:ln>
              <a:noFill/>
            </a:ln>
          </p:spPr>
        </p:sp>
        <p:sp>
          <p:nvSpPr>
            <p:cNvPr id="53" name="TextBox 53"/>
            <p:cNvSpPr txBox="1"/>
            <p:nvPr/>
          </p:nvSpPr>
          <p:spPr>
            <a:xfrm>
              <a:off x="7653592" y="1473041"/>
              <a:ext cx="561467"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工控防火墙</a:t>
              </a:r>
            </a:p>
          </p:txBody>
        </p:sp>
        <p:sp>
          <p:nvSpPr>
            <p:cNvPr id="54" name="Rectangle 54"/>
            <p:cNvSpPr/>
            <p:nvPr/>
          </p:nvSpPr>
          <p:spPr>
            <a:xfrm>
              <a:off x="3429000" y="1676400"/>
              <a:ext cx="1238250" cy="190500"/>
            </a:xfrm>
            <a:prstGeom prst="roundRect">
              <a:avLst>
                <a:gd name="adj" fmla="val 15000"/>
              </a:avLst>
            </a:prstGeom>
            <a:solidFill>
              <a:srgbClr val="FFFFFF"/>
            </a:solidFill>
            <a:ln>
              <a:noFill/>
            </a:ln>
          </p:spPr>
        </p:sp>
        <p:sp>
          <p:nvSpPr>
            <p:cNvPr id="55" name="TextBox 55"/>
            <p:cNvSpPr txBox="1"/>
            <p:nvPr/>
          </p:nvSpPr>
          <p:spPr>
            <a:xfrm>
              <a:off x="3712197" y="172069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工控安全组件</a:t>
              </a:r>
            </a:p>
          </p:txBody>
        </p:sp>
        <p:sp>
          <p:nvSpPr>
            <p:cNvPr id="56" name="Rectangle 56"/>
            <p:cNvSpPr/>
            <p:nvPr/>
          </p:nvSpPr>
          <p:spPr>
            <a:xfrm>
              <a:off x="4724400" y="1676400"/>
              <a:ext cx="1238250" cy="190500"/>
            </a:xfrm>
            <a:prstGeom prst="roundRect">
              <a:avLst>
                <a:gd name="adj" fmla="val 15000"/>
              </a:avLst>
            </a:prstGeom>
            <a:solidFill>
              <a:srgbClr val="FFFFFF"/>
            </a:solidFill>
            <a:ln>
              <a:noFill/>
            </a:ln>
          </p:spPr>
        </p:sp>
        <p:sp>
          <p:nvSpPr>
            <p:cNvPr id="57" name="TextBox 57"/>
            <p:cNvSpPr txBox="1"/>
            <p:nvPr/>
          </p:nvSpPr>
          <p:spPr>
            <a:xfrm>
              <a:off x="5062792" y="1720691"/>
              <a:ext cx="561467"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安全转换器</a:t>
              </a:r>
            </a:p>
          </p:txBody>
        </p:sp>
        <p:sp>
          <p:nvSpPr>
            <p:cNvPr id="58" name="Rectangle 58"/>
            <p:cNvSpPr/>
            <p:nvPr/>
          </p:nvSpPr>
          <p:spPr>
            <a:xfrm>
              <a:off x="6019800" y="1676400"/>
              <a:ext cx="1238250" cy="190500"/>
            </a:xfrm>
            <a:prstGeom prst="roundRect">
              <a:avLst>
                <a:gd name="adj" fmla="val 15000"/>
              </a:avLst>
            </a:prstGeom>
            <a:solidFill>
              <a:srgbClr val="FFFFFF"/>
            </a:solidFill>
            <a:ln>
              <a:noFill/>
            </a:ln>
          </p:spPr>
        </p:sp>
        <p:sp>
          <p:nvSpPr>
            <p:cNvPr id="59" name="TextBox 59"/>
            <p:cNvSpPr txBox="1"/>
            <p:nvPr/>
          </p:nvSpPr>
          <p:spPr>
            <a:xfrm>
              <a:off x="6302997" y="172069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安全态势感知</a:t>
              </a:r>
            </a:p>
          </p:txBody>
        </p:sp>
        <p:sp>
          <p:nvSpPr>
            <p:cNvPr id="60" name="Rectangle 60"/>
            <p:cNvSpPr/>
            <p:nvPr/>
          </p:nvSpPr>
          <p:spPr>
            <a:xfrm>
              <a:off x="7315200" y="1676400"/>
              <a:ext cx="1238250" cy="190500"/>
            </a:xfrm>
            <a:prstGeom prst="roundRect">
              <a:avLst>
                <a:gd name="adj" fmla="val 15000"/>
              </a:avLst>
            </a:prstGeom>
            <a:solidFill>
              <a:srgbClr val="FFFFFF"/>
            </a:solidFill>
            <a:ln>
              <a:noFill/>
            </a:ln>
          </p:spPr>
        </p:sp>
        <p:sp>
          <p:nvSpPr>
            <p:cNvPr id="61" name="TextBox 61"/>
            <p:cNvSpPr txBox="1"/>
            <p:nvPr/>
          </p:nvSpPr>
          <p:spPr>
            <a:xfrm>
              <a:off x="7543203" y="1720691"/>
              <a:ext cx="782244"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物联网终端安全</a:t>
              </a:r>
            </a:p>
          </p:txBody>
        </p:sp>
        <p:sp>
          <p:nvSpPr>
            <p:cNvPr id="62" name="Rectangle 62"/>
            <p:cNvSpPr/>
            <p:nvPr/>
          </p:nvSpPr>
          <p:spPr>
            <a:xfrm>
              <a:off x="3429000" y="1924050"/>
              <a:ext cx="1238250" cy="190500"/>
            </a:xfrm>
            <a:prstGeom prst="roundRect">
              <a:avLst>
                <a:gd name="adj" fmla="val 15000"/>
              </a:avLst>
            </a:prstGeom>
            <a:solidFill>
              <a:srgbClr val="FFFFFF"/>
            </a:solidFill>
            <a:ln>
              <a:noFill/>
            </a:ln>
          </p:spPr>
        </p:sp>
        <p:sp>
          <p:nvSpPr>
            <p:cNvPr id="63" name="TextBox 63"/>
            <p:cNvSpPr txBox="1"/>
            <p:nvPr/>
          </p:nvSpPr>
          <p:spPr>
            <a:xfrm>
              <a:off x="3712197" y="196834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车云安全组件</a:t>
              </a:r>
            </a:p>
          </p:txBody>
        </p:sp>
        <p:sp>
          <p:nvSpPr>
            <p:cNvPr id="64" name="Rectangle 64"/>
            <p:cNvSpPr/>
            <p:nvPr/>
          </p:nvSpPr>
          <p:spPr>
            <a:xfrm>
              <a:off x="4724400" y="1924050"/>
              <a:ext cx="1238250" cy="190500"/>
            </a:xfrm>
            <a:prstGeom prst="roundRect">
              <a:avLst>
                <a:gd name="adj" fmla="val 15000"/>
              </a:avLst>
            </a:prstGeom>
            <a:solidFill>
              <a:srgbClr val="FFFFFF"/>
            </a:solidFill>
            <a:ln>
              <a:noFill/>
            </a:ln>
          </p:spPr>
        </p:sp>
        <p:sp>
          <p:nvSpPr>
            <p:cNvPr id="65" name="TextBox 65"/>
            <p:cNvSpPr txBox="1"/>
            <p:nvPr/>
          </p:nvSpPr>
          <p:spPr>
            <a:xfrm>
              <a:off x="5062792" y="1968341"/>
              <a:ext cx="561467"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车载黑匣子</a:t>
              </a:r>
            </a:p>
          </p:txBody>
        </p:sp>
        <p:sp>
          <p:nvSpPr>
            <p:cNvPr id="66" name="Rectangle 66"/>
            <p:cNvSpPr/>
            <p:nvPr/>
          </p:nvSpPr>
          <p:spPr>
            <a:xfrm>
              <a:off x="6019800" y="1924050"/>
              <a:ext cx="1238250" cy="190500"/>
            </a:xfrm>
            <a:prstGeom prst="roundRect">
              <a:avLst>
                <a:gd name="adj" fmla="val 15000"/>
              </a:avLst>
            </a:prstGeom>
            <a:solidFill>
              <a:srgbClr val="FFFFFF"/>
            </a:solidFill>
            <a:ln>
              <a:noFill/>
            </a:ln>
          </p:spPr>
        </p:sp>
        <p:sp>
          <p:nvSpPr>
            <p:cNvPr id="67" name="TextBox 67"/>
            <p:cNvSpPr txBox="1"/>
            <p:nvPr/>
          </p:nvSpPr>
          <p:spPr>
            <a:xfrm>
              <a:off x="6302997" y="196834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证书灌装工具</a:t>
              </a:r>
            </a:p>
          </p:txBody>
        </p:sp>
        <p:sp>
          <p:nvSpPr>
            <p:cNvPr id="68" name="Rectangle 68"/>
            <p:cNvSpPr/>
            <p:nvPr/>
          </p:nvSpPr>
          <p:spPr>
            <a:xfrm>
              <a:off x="7315200" y="1924050"/>
              <a:ext cx="1238250" cy="190500"/>
            </a:xfrm>
            <a:prstGeom prst="roundRect">
              <a:avLst>
                <a:gd name="adj" fmla="val 15000"/>
              </a:avLst>
            </a:prstGeom>
            <a:solidFill>
              <a:srgbClr val="FFFFFF"/>
            </a:solidFill>
            <a:ln>
              <a:noFill/>
            </a:ln>
          </p:spPr>
        </p:sp>
        <p:sp>
          <p:nvSpPr>
            <p:cNvPr id="69" name="TextBox 69"/>
            <p:cNvSpPr txBox="1"/>
            <p:nvPr/>
          </p:nvSpPr>
          <p:spPr>
            <a:xfrm>
              <a:off x="7570540" y="1968341"/>
              <a:ext cx="727570"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OTA升级平台​</a:t>
              </a:r>
            </a:p>
          </p:txBody>
        </p:sp>
        <p:sp>
          <p:nvSpPr>
            <p:cNvPr id="70" name="Rectangle 70"/>
            <p:cNvSpPr/>
            <p:nvPr/>
          </p:nvSpPr>
          <p:spPr>
            <a:xfrm>
              <a:off x="8724900" y="1143000"/>
              <a:ext cx="3048000" cy="247650"/>
            </a:xfrm>
            <a:prstGeom prst="roundRect">
              <a:avLst>
                <a:gd name="adj" fmla="val 15385"/>
              </a:avLst>
            </a:prstGeom>
            <a:gradFill>
              <a:gsLst>
                <a:gs pos="0">
                  <a:srgbClr val="FB684A"/>
                </a:gs>
                <a:gs pos="100000">
                  <a:srgbClr val="FA421D"/>
                </a:gs>
              </a:gsLst>
              <a:lin ang="5400000" scaled="1"/>
            </a:gradFill>
            <a:ln>
              <a:noFill/>
            </a:ln>
          </p:spPr>
        </p:sp>
        <p:sp>
          <p:nvSpPr>
            <p:cNvPr id="71" name="TextBox 71"/>
            <p:cNvSpPr txBox="1"/>
            <p:nvPr/>
          </p:nvSpPr>
          <p:spPr>
            <a:xfrm>
              <a:off x="9980092" y="12091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网络安全</a:t>
              </a:r>
            </a:p>
          </p:txBody>
        </p:sp>
        <p:sp>
          <p:nvSpPr>
            <p:cNvPr id="72" name="Rectangle 72"/>
            <p:cNvSpPr/>
            <p:nvPr/>
          </p:nvSpPr>
          <p:spPr>
            <a:xfrm>
              <a:off x="8724900" y="1390650"/>
              <a:ext cx="3048000" cy="781050"/>
            </a:xfrm>
            <a:prstGeom prst="roundRect">
              <a:avLst>
                <a:gd name="adj" fmla="val 4878"/>
              </a:avLst>
            </a:prstGeom>
            <a:solidFill>
              <a:srgbClr val="EDF4FE"/>
            </a:solidFill>
            <a:ln>
              <a:noFill/>
            </a:ln>
          </p:spPr>
        </p:sp>
        <p:sp>
          <p:nvSpPr>
            <p:cNvPr id="73" name="Rectangle 73"/>
            <p:cNvSpPr/>
            <p:nvPr/>
          </p:nvSpPr>
          <p:spPr>
            <a:xfrm>
              <a:off x="8820150" y="1428750"/>
              <a:ext cx="685800" cy="685800"/>
            </a:xfrm>
            <a:prstGeom prst="roundRect">
              <a:avLst>
                <a:gd name="adj" fmla="val 4167"/>
              </a:avLst>
            </a:prstGeom>
            <a:solidFill>
              <a:srgbClr val="FFFFFF"/>
            </a:solidFill>
            <a:ln>
              <a:noFill/>
            </a:ln>
          </p:spPr>
        </p:sp>
        <p:sp>
          <p:nvSpPr>
            <p:cNvPr id="74" name="TextBox 74"/>
            <p:cNvSpPr txBox="1"/>
            <p:nvPr/>
          </p:nvSpPr>
          <p:spPr>
            <a:xfrm>
              <a:off x="9002078" y="1634966"/>
              <a:ext cx="32194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网络接</a:t>
              </a:r>
              <a:br/>
              <a:r>
                <a:rPr lang="zh-CN" sz="820" dirty="0">
                  <a:solidFill>
                    <a:srgbClr val="3D241F"/>
                  </a:solidFill>
                  <a:latin typeface="+mn-lt"/>
                  <a:ea typeface="+mn-ea"/>
                  <a:cs typeface="+mn-cs"/>
                </a:rPr>
                <a:t>入控制</a:t>
              </a:r>
            </a:p>
          </p:txBody>
        </p:sp>
        <p:sp>
          <p:nvSpPr>
            <p:cNvPr id="75" name="Rectangle 75"/>
            <p:cNvSpPr/>
            <p:nvPr/>
          </p:nvSpPr>
          <p:spPr>
            <a:xfrm>
              <a:off x="9563100" y="1428750"/>
              <a:ext cx="685800" cy="685800"/>
            </a:xfrm>
            <a:prstGeom prst="roundRect">
              <a:avLst>
                <a:gd name="adj" fmla="val 4167"/>
              </a:avLst>
            </a:prstGeom>
            <a:solidFill>
              <a:srgbClr val="FFFFFF"/>
            </a:solidFill>
            <a:ln>
              <a:noFill/>
            </a:ln>
          </p:spPr>
        </p:sp>
        <p:sp>
          <p:nvSpPr>
            <p:cNvPr id="76" name="TextBox 76"/>
            <p:cNvSpPr txBox="1"/>
            <p:nvPr/>
          </p:nvSpPr>
          <p:spPr>
            <a:xfrm>
              <a:off x="9745028" y="1634966"/>
              <a:ext cx="32194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可信访</a:t>
              </a:r>
              <a:br/>
              <a:r>
                <a:rPr lang="zh-CN" sz="820" dirty="0">
                  <a:solidFill>
                    <a:srgbClr val="3D241F"/>
                  </a:solidFill>
                  <a:latin typeface="+mn-lt"/>
                  <a:ea typeface="+mn-ea"/>
                  <a:cs typeface="+mn-cs"/>
                </a:rPr>
                <a:t>问网关</a:t>
              </a:r>
            </a:p>
          </p:txBody>
        </p:sp>
        <p:sp>
          <p:nvSpPr>
            <p:cNvPr id="77" name="Rectangle 77"/>
            <p:cNvSpPr/>
            <p:nvPr/>
          </p:nvSpPr>
          <p:spPr>
            <a:xfrm>
              <a:off x="10306050" y="1428750"/>
              <a:ext cx="1390650" cy="190500"/>
            </a:xfrm>
            <a:prstGeom prst="roundRect">
              <a:avLst>
                <a:gd name="adj" fmla="val 15000"/>
              </a:avLst>
            </a:prstGeom>
            <a:solidFill>
              <a:srgbClr val="FFFFFF"/>
            </a:solidFill>
            <a:ln>
              <a:noFill/>
            </a:ln>
          </p:spPr>
        </p:sp>
        <p:sp>
          <p:nvSpPr>
            <p:cNvPr id="78" name="TextBox 78"/>
            <p:cNvSpPr txBox="1"/>
            <p:nvPr/>
          </p:nvSpPr>
          <p:spPr>
            <a:xfrm>
              <a:off x="10665447" y="147304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通道加密网关</a:t>
              </a:r>
            </a:p>
          </p:txBody>
        </p:sp>
        <p:sp>
          <p:nvSpPr>
            <p:cNvPr id="79" name="Rectangle 79"/>
            <p:cNvSpPr/>
            <p:nvPr/>
          </p:nvSpPr>
          <p:spPr>
            <a:xfrm>
              <a:off x="10306050" y="1676400"/>
              <a:ext cx="1390650" cy="190500"/>
            </a:xfrm>
            <a:prstGeom prst="roundRect">
              <a:avLst>
                <a:gd name="adj" fmla="val 15000"/>
              </a:avLst>
            </a:prstGeom>
            <a:solidFill>
              <a:srgbClr val="FFFFFF"/>
            </a:solidFill>
            <a:ln>
              <a:noFill/>
            </a:ln>
          </p:spPr>
        </p:sp>
        <p:sp>
          <p:nvSpPr>
            <p:cNvPr id="80" name="TextBox 80"/>
            <p:cNvSpPr txBox="1"/>
            <p:nvPr/>
          </p:nvSpPr>
          <p:spPr>
            <a:xfrm>
              <a:off x="10665447" y="172069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可信边界网关</a:t>
              </a:r>
            </a:p>
          </p:txBody>
        </p:sp>
        <p:sp>
          <p:nvSpPr>
            <p:cNvPr id="81" name="Rectangle 81"/>
            <p:cNvSpPr/>
            <p:nvPr/>
          </p:nvSpPr>
          <p:spPr>
            <a:xfrm>
              <a:off x="10306050" y="1924050"/>
              <a:ext cx="1390650" cy="190500"/>
            </a:xfrm>
            <a:prstGeom prst="roundRect">
              <a:avLst>
                <a:gd name="adj" fmla="val 15000"/>
              </a:avLst>
            </a:prstGeom>
            <a:solidFill>
              <a:srgbClr val="FFFFFF"/>
            </a:solidFill>
            <a:ln>
              <a:noFill/>
            </a:ln>
          </p:spPr>
        </p:sp>
        <p:sp>
          <p:nvSpPr>
            <p:cNvPr id="82" name="TextBox 82"/>
            <p:cNvSpPr txBox="1"/>
            <p:nvPr/>
          </p:nvSpPr>
          <p:spPr>
            <a:xfrm>
              <a:off x="10868312" y="1968341"/>
              <a:ext cx="266126" cy="161925"/>
            </a:xfrm>
            <a:prstGeom prst="rect">
              <a:avLst/>
            </a:prstGeom>
            <a:noFill/>
            <a:ln>
              <a:noFill/>
            </a:ln>
          </p:spPr>
          <p:txBody>
            <a:bodyPr wrap="none" lIns="0" tIns="0" rIns="0" bIns="0" anchor="t" anchorCtr="0">
              <a:spAutoFit/>
            </a:bodyPr>
            <a:lstStyle/>
            <a:p>
              <a:pPr algn="ctr"/>
              <a:r>
                <a:rPr lang="en-US" sz="820" dirty="0">
                  <a:solidFill>
                    <a:srgbClr val="3D241F"/>
                  </a:solidFill>
                  <a:latin typeface="+mn-lt"/>
                  <a:ea typeface="+mn-ea"/>
                  <a:cs typeface="+mn-cs"/>
                </a:rPr>
                <a:t>VPN​</a:t>
              </a:r>
            </a:p>
          </p:txBody>
        </p:sp>
      </p:grpSp>
      <p:grpSp>
        <p:nvGrpSpPr>
          <p:cNvPr id="120" name="row-data-security"/>
          <p:cNvGrpSpPr/>
          <p:nvPr/>
        </p:nvGrpSpPr>
        <p:grpSpPr>
          <a:xfrm>
            <a:off x="1600200" y="2343150"/>
            <a:ext cx="8458200" cy="1028700"/>
            <a:chOff x="1600200" y="2343150"/>
            <a:chExt cx="8458200" cy="1028700"/>
          </a:xfrm>
        </p:grpSpPr>
        <p:sp>
          <p:nvSpPr>
            <p:cNvPr id="84" name="Rectangle 84"/>
            <p:cNvSpPr/>
            <p:nvPr/>
          </p:nvSpPr>
          <p:spPr>
            <a:xfrm>
              <a:off x="1600200" y="2343150"/>
              <a:ext cx="1619250" cy="247650"/>
            </a:xfrm>
            <a:prstGeom prst="roundRect">
              <a:avLst>
                <a:gd name="adj" fmla="val 15385"/>
              </a:avLst>
            </a:prstGeom>
            <a:gradFill>
              <a:gsLst>
                <a:gs pos="0">
                  <a:srgbClr val="FB684A"/>
                </a:gs>
                <a:gs pos="100000">
                  <a:srgbClr val="FA421D"/>
                </a:gs>
              </a:gsLst>
              <a:lin ang="5400000" scaled="1"/>
            </a:gradFill>
            <a:ln>
              <a:noFill/>
            </a:ln>
          </p:spPr>
        </p:sp>
        <p:sp>
          <p:nvSpPr>
            <p:cNvPr id="85" name="TextBox 85"/>
            <p:cNvSpPr txBox="1"/>
            <p:nvPr/>
          </p:nvSpPr>
          <p:spPr>
            <a:xfrm>
              <a:off x="2206981" y="2409349"/>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完整性</a:t>
              </a:r>
            </a:p>
          </p:txBody>
        </p:sp>
        <p:sp>
          <p:nvSpPr>
            <p:cNvPr id="86" name="Rectangle 86"/>
            <p:cNvSpPr/>
            <p:nvPr/>
          </p:nvSpPr>
          <p:spPr>
            <a:xfrm>
              <a:off x="1600200" y="2590800"/>
              <a:ext cx="1619250" cy="781050"/>
            </a:xfrm>
            <a:prstGeom prst="roundRect">
              <a:avLst>
                <a:gd name="adj" fmla="val 4878"/>
              </a:avLst>
            </a:prstGeom>
            <a:solidFill>
              <a:srgbClr val="EDF4FE"/>
            </a:solidFill>
            <a:ln>
              <a:noFill/>
            </a:ln>
          </p:spPr>
        </p:sp>
        <p:sp>
          <p:nvSpPr>
            <p:cNvPr id="87" name="Rectangle 87"/>
            <p:cNvSpPr/>
            <p:nvPr/>
          </p:nvSpPr>
          <p:spPr>
            <a:xfrm>
              <a:off x="1695450" y="2628900"/>
              <a:ext cx="1428750" cy="190500"/>
            </a:xfrm>
            <a:prstGeom prst="roundRect">
              <a:avLst>
                <a:gd name="adj" fmla="val 15000"/>
              </a:avLst>
            </a:prstGeom>
            <a:solidFill>
              <a:srgbClr val="FFFFFF"/>
            </a:solidFill>
            <a:ln>
              <a:noFill/>
            </a:ln>
          </p:spPr>
        </p:sp>
        <p:sp>
          <p:nvSpPr>
            <p:cNvPr id="88" name="TextBox 88"/>
            <p:cNvSpPr txBox="1"/>
            <p:nvPr/>
          </p:nvSpPr>
          <p:spPr>
            <a:xfrm>
              <a:off x="2018703" y="2673191"/>
              <a:ext cx="782244"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数字签名服务器</a:t>
              </a:r>
            </a:p>
          </p:txBody>
        </p:sp>
        <p:sp>
          <p:nvSpPr>
            <p:cNvPr id="89" name="Rectangle 89"/>
            <p:cNvSpPr/>
            <p:nvPr/>
          </p:nvSpPr>
          <p:spPr>
            <a:xfrm>
              <a:off x="1695450" y="2876550"/>
              <a:ext cx="1428750" cy="190500"/>
            </a:xfrm>
            <a:prstGeom prst="roundRect">
              <a:avLst>
                <a:gd name="adj" fmla="val 15000"/>
              </a:avLst>
            </a:prstGeom>
            <a:solidFill>
              <a:srgbClr val="FFFFFF"/>
            </a:solidFill>
            <a:ln>
              <a:noFill/>
            </a:ln>
          </p:spPr>
        </p:sp>
        <p:sp>
          <p:nvSpPr>
            <p:cNvPr id="90" name="TextBox 90"/>
            <p:cNvSpPr txBox="1"/>
            <p:nvPr/>
          </p:nvSpPr>
          <p:spPr>
            <a:xfrm>
              <a:off x="2129092" y="2920841"/>
              <a:ext cx="561467"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云签验服务</a:t>
              </a:r>
            </a:p>
          </p:txBody>
        </p:sp>
        <p:sp>
          <p:nvSpPr>
            <p:cNvPr id="91" name="Rectangle 91"/>
            <p:cNvSpPr/>
            <p:nvPr/>
          </p:nvSpPr>
          <p:spPr>
            <a:xfrm>
              <a:off x="1695450" y="3124200"/>
              <a:ext cx="1428750" cy="190500"/>
            </a:xfrm>
            <a:prstGeom prst="roundRect">
              <a:avLst>
                <a:gd name="adj" fmla="val 15000"/>
              </a:avLst>
            </a:prstGeom>
            <a:solidFill>
              <a:srgbClr val="FFFFFF"/>
            </a:solidFill>
            <a:ln>
              <a:noFill/>
            </a:ln>
          </p:spPr>
        </p:sp>
        <p:sp>
          <p:nvSpPr>
            <p:cNvPr id="92" name="TextBox 92"/>
            <p:cNvSpPr txBox="1"/>
            <p:nvPr/>
          </p:nvSpPr>
          <p:spPr>
            <a:xfrm>
              <a:off x="2073897" y="316849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电子合同服务</a:t>
              </a:r>
            </a:p>
          </p:txBody>
        </p:sp>
        <p:sp>
          <p:nvSpPr>
            <p:cNvPr id="93" name="Rectangle 93"/>
            <p:cNvSpPr/>
            <p:nvPr/>
          </p:nvSpPr>
          <p:spPr>
            <a:xfrm>
              <a:off x="3333750" y="2343150"/>
              <a:ext cx="857250" cy="247650"/>
            </a:xfrm>
            <a:prstGeom prst="roundRect">
              <a:avLst>
                <a:gd name="adj" fmla="val 15385"/>
              </a:avLst>
            </a:prstGeom>
            <a:gradFill>
              <a:gsLst>
                <a:gs pos="0">
                  <a:srgbClr val="FB684A"/>
                </a:gs>
                <a:gs pos="100000">
                  <a:srgbClr val="FA421D"/>
                </a:gs>
              </a:gsLst>
              <a:lin ang="5400000" scaled="1"/>
            </a:gradFill>
            <a:ln>
              <a:noFill/>
            </a:ln>
          </p:spPr>
        </p:sp>
        <p:sp>
          <p:nvSpPr>
            <p:cNvPr id="94" name="TextBox 94"/>
            <p:cNvSpPr txBox="1"/>
            <p:nvPr/>
          </p:nvSpPr>
          <p:spPr>
            <a:xfrm>
              <a:off x="3625494" y="24093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溯源</a:t>
              </a:r>
            </a:p>
          </p:txBody>
        </p:sp>
        <p:sp>
          <p:nvSpPr>
            <p:cNvPr id="95" name="Rectangle 95"/>
            <p:cNvSpPr/>
            <p:nvPr/>
          </p:nvSpPr>
          <p:spPr>
            <a:xfrm>
              <a:off x="3333750" y="2590800"/>
              <a:ext cx="857250" cy="781050"/>
            </a:xfrm>
            <a:prstGeom prst="roundRect">
              <a:avLst>
                <a:gd name="adj" fmla="val 4878"/>
              </a:avLst>
            </a:prstGeom>
            <a:solidFill>
              <a:srgbClr val="EDF4FE"/>
            </a:solidFill>
            <a:ln>
              <a:noFill/>
            </a:ln>
          </p:spPr>
        </p:sp>
        <p:sp>
          <p:nvSpPr>
            <p:cNvPr id="96" name="Rectangle 96"/>
            <p:cNvSpPr/>
            <p:nvPr/>
          </p:nvSpPr>
          <p:spPr>
            <a:xfrm>
              <a:off x="3409950" y="2647950"/>
              <a:ext cx="704850" cy="666750"/>
            </a:xfrm>
            <a:prstGeom prst="roundRect">
              <a:avLst>
                <a:gd name="adj" fmla="val 4286"/>
              </a:avLst>
            </a:prstGeom>
            <a:solidFill>
              <a:srgbClr val="FFFFFF"/>
            </a:solidFill>
            <a:ln>
              <a:noFill/>
            </a:ln>
          </p:spPr>
        </p:sp>
        <p:sp>
          <p:nvSpPr>
            <p:cNvPr id="97" name="TextBox 97"/>
            <p:cNvSpPr txBox="1"/>
            <p:nvPr/>
          </p:nvSpPr>
          <p:spPr>
            <a:xfrm>
              <a:off x="3549332" y="2844641"/>
              <a:ext cx="42608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安全区块</a:t>
              </a:r>
              <a:br/>
              <a:r>
                <a:rPr lang="zh-CN" sz="820" dirty="0">
                  <a:solidFill>
                    <a:srgbClr val="3D241F"/>
                  </a:solidFill>
                  <a:latin typeface="+mn-lt"/>
                  <a:ea typeface="+mn-ea"/>
                  <a:cs typeface="+mn-cs"/>
                </a:rPr>
                <a:t>链平台</a:t>
              </a:r>
            </a:p>
          </p:txBody>
        </p:sp>
        <p:sp>
          <p:nvSpPr>
            <p:cNvPr id="98" name="Rectangle 98"/>
            <p:cNvSpPr/>
            <p:nvPr/>
          </p:nvSpPr>
          <p:spPr>
            <a:xfrm>
              <a:off x="4305300" y="2343150"/>
              <a:ext cx="3752850" cy="247650"/>
            </a:xfrm>
            <a:prstGeom prst="roundRect">
              <a:avLst>
                <a:gd name="adj" fmla="val 15385"/>
              </a:avLst>
            </a:prstGeom>
            <a:gradFill>
              <a:gsLst>
                <a:gs pos="0">
                  <a:srgbClr val="FB684A"/>
                </a:gs>
                <a:gs pos="100000">
                  <a:srgbClr val="FA421D"/>
                </a:gs>
              </a:gsLst>
              <a:lin ang="5400000" scaled="1"/>
            </a:gradFill>
            <a:ln>
              <a:noFill/>
            </a:ln>
          </p:spPr>
        </p:sp>
        <p:sp>
          <p:nvSpPr>
            <p:cNvPr id="99" name="TextBox 99"/>
            <p:cNvSpPr txBox="1"/>
            <p:nvPr/>
          </p:nvSpPr>
          <p:spPr>
            <a:xfrm>
              <a:off x="5846953" y="240934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数据库安全</a:t>
              </a:r>
            </a:p>
          </p:txBody>
        </p:sp>
        <p:sp>
          <p:nvSpPr>
            <p:cNvPr id="100" name="Rectangle 100"/>
            <p:cNvSpPr/>
            <p:nvPr/>
          </p:nvSpPr>
          <p:spPr>
            <a:xfrm>
              <a:off x="4305300" y="2590800"/>
              <a:ext cx="3752850" cy="781050"/>
            </a:xfrm>
            <a:prstGeom prst="roundRect">
              <a:avLst>
                <a:gd name="adj" fmla="val 4878"/>
              </a:avLst>
            </a:prstGeom>
            <a:solidFill>
              <a:srgbClr val="EDF4FE"/>
            </a:solidFill>
            <a:ln>
              <a:noFill/>
            </a:ln>
          </p:spPr>
        </p:sp>
        <p:sp>
          <p:nvSpPr>
            <p:cNvPr id="101" name="Rectangle 101"/>
            <p:cNvSpPr/>
            <p:nvPr/>
          </p:nvSpPr>
          <p:spPr>
            <a:xfrm>
              <a:off x="4400550" y="2628900"/>
              <a:ext cx="1771650" cy="190500"/>
            </a:xfrm>
            <a:prstGeom prst="roundRect">
              <a:avLst>
                <a:gd name="adj" fmla="val 15000"/>
              </a:avLst>
            </a:prstGeom>
            <a:solidFill>
              <a:srgbClr val="FFFFFF"/>
            </a:solidFill>
            <a:ln>
              <a:noFill/>
            </a:ln>
          </p:spPr>
        </p:sp>
        <p:sp>
          <p:nvSpPr>
            <p:cNvPr id="102" name="TextBox 102"/>
            <p:cNvSpPr txBox="1"/>
            <p:nvPr/>
          </p:nvSpPr>
          <p:spPr>
            <a:xfrm>
              <a:off x="4895253" y="2673191"/>
              <a:ext cx="782244"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数据库透明加密</a:t>
              </a:r>
            </a:p>
          </p:txBody>
        </p:sp>
        <p:sp>
          <p:nvSpPr>
            <p:cNvPr id="103" name="Rectangle 103"/>
            <p:cNvSpPr/>
            <p:nvPr/>
          </p:nvSpPr>
          <p:spPr>
            <a:xfrm>
              <a:off x="6267450" y="2628900"/>
              <a:ext cx="1714500" cy="190500"/>
            </a:xfrm>
            <a:prstGeom prst="roundRect">
              <a:avLst>
                <a:gd name="adj" fmla="val 15000"/>
              </a:avLst>
            </a:prstGeom>
            <a:solidFill>
              <a:srgbClr val="FFFFFF"/>
            </a:solidFill>
            <a:ln>
              <a:noFill/>
            </a:ln>
          </p:spPr>
        </p:sp>
        <p:sp>
          <p:nvSpPr>
            <p:cNvPr id="104" name="TextBox 104"/>
            <p:cNvSpPr txBox="1"/>
            <p:nvPr/>
          </p:nvSpPr>
          <p:spPr>
            <a:xfrm>
              <a:off x="6788772" y="267319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数据库防火墙</a:t>
              </a:r>
            </a:p>
          </p:txBody>
        </p:sp>
        <p:sp>
          <p:nvSpPr>
            <p:cNvPr id="105" name="Rectangle 105"/>
            <p:cNvSpPr/>
            <p:nvPr/>
          </p:nvSpPr>
          <p:spPr>
            <a:xfrm>
              <a:off x="4400550" y="2876550"/>
              <a:ext cx="1771650" cy="190500"/>
            </a:xfrm>
            <a:prstGeom prst="roundRect">
              <a:avLst>
                <a:gd name="adj" fmla="val 15000"/>
              </a:avLst>
            </a:prstGeom>
            <a:solidFill>
              <a:srgbClr val="FFFFFF"/>
            </a:solidFill>
            <a:ln>
              <a:noFill/>
            </a:ln>
          </p:spPr>
        </p:sp>
        <p:sp>
          <p:nvSpPr>
            <p:cNvPr id="106" name="TextBox 106"/>
            <p:cNvSpPr txBox="1"/>
            <p:nvPr/>
          </p:nvSpPr>
          <p:spPr>
            <a:xfrm>
              <a:off x="4950447" y="292084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静态数据脱敏</a:t>
              </a:r>
            </a:p>
          </p:txBody>
        </p:sp>
        <p:sp>
          <p:nvSpPr>
            <p:cNvPr id="107" name="Rectangle 107"/>
            <p:cNvSpPr/>
            <p:nvPr/>
          </p:nvSpPr>
          <p:spPr>
            <a:xfrm>
              <a:off x="6267450" y="2876550"/>
              <a:ext cx="1714500" cy="190500"/>
            </a:xfrm>
            <a:prstGeom prst="roundRect">
              <a:avLst>
                <a:gd name="adj" fmla="val 15000"/>
              </a:avLst>
            </a:prstGeom>
            <a:solidFill>
              <a:srgbClr val="FFFFFF"/>
            </a:solidFill>
            <a:ln>
              <a:noFill/>
            </a:ln>
          </p:spPr>
        </p:sp>
        <p:sp>
          <p:nvSpPr>
            <p:cNvPr id="108" name="TextBox 108"/>
            <p:cNvSpPr txBox="1"/>
            <p:nvPr/>
          </p:nvSpPr>
          <p:spPr>
            <a:xfrm>
              <a:off x="6843966" y="2920841"/>
              <a:ext cx="561467"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数据库审计</a:t>
              </a:r>
            </a:p>
          </p:txBody>
        </p:sp>
        <p:sp>
          <p:nvSpPr>
            <p:cNvPr id="109" name="Rectangle 109"/>
            <p:cNvSpPr/>
            <p:nvPr/>
          </p:nvSpPr>
          <p:spPr>
            <a:xfrm>
              <a:off x="4400550" y="3124200"/>
              <a:ext cx="1771650" cy="190500"/>
            </a:xfrm>
            <a:prstGeom prst="roundRect">
              <a:avLst>
                <a:gd name="adj" fmla="val 15000"/>
              </a:avLst>
            </a:prstGeom>
            <a:solidFill>
              <a:srgbClr val="FFFFFF"/>
            </a:solidFill>
            <a:ln>
              <a:noFill/>
            </a:ln>
          </p:spPr>
        </p:sp>
        <p:sp>
          <p:nvSpPr>
            <p:cNvPr id="110" name="TextBox 110"/>
            <p:cNvSpPr txBox="1"/>
            <p:nvPr/>
          </p:nvSpPr>
          <p:spPr>
            <a:xfrm>
              <a:off x="4950447" y="316849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动态数据脱敏</a:t>
              </a:r>
            </a:p>
          </p:txBody>
        </p:sp>
        <p:sp>
          <p:nvSpPr>
            <p:cNvPr id="111" name="Rectangle 111"/>
            <p:cNvSpPr/>
            <p:nvPr/>
          </p:nvSpPr>
          <p:spPr>
            <a:xfrm>
              <a:off x="6267450" y="3124200"/>
              <a:ext cx="1714500" cy="190500"/>
            </a:xfrm>
            <a:prstGeom prst="roundRect">
              <a:avLst>
                <a:gd name="adj" fmla="val 15000"/>
              </a:avLst>
            </a:prstGeom>
            <a:solidFill>
              <a:srgbClr val="FFFFFF"/>
            </a:solidFill>
            <a:ln>
              <a:noFill/>
            </a:ln>
          </p:spPr>
        </p:sp>
        <p:sp>
          <p:nvSpPr>
            <p:cNvPr id="112" name="TextBox 112"/>
            <p:cNvSpPr txBox="1"/>
            <p:nvPr/>
          </p:nvSpPr>
          <p:spPr>
            <a:xfrm>
              <a:off x="6733578" y="3168491"/>
              <a:ext cx="782244"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数据库运维管理</a:t>
              </a:r>
            </a:p>
          </p:txBody>
        </p:sp>
        <p:sp>
          <p:nvSpPr>
            <p:cNvPr id="113" name="Rectangle 113"/>
            <p:cNvSpPr/>
            <p:nvPr/>
          </p:nvSpPr>
          <p:spPr>
            <a:xfrm>
              <a:off x="8172450" y="2343150"/>
              <a:ext cx="1885950" cy="247650"/>
            </a:xfrm>
            <a:prstGeom prst="roundRect">
              <a:avLst>
                <a:gd name="adj" fmla="val 15385"/>
              </a:avLst>
            </a:prstGeom>
            <a:gradFill>
              <a:gsLst>
                <a:gs pos="0">
                  <a:srgbClr val="FB684A"/>
                </a:gs>
                <a:gs pos="100000">
                  <a:srgbClr val="FA421D"/>
                </a:gs>
              </a:gsLst>
              <a:lin ang="5400000" scaled="1"/>
            </a:gradFill>
            <a:ln>
              <a:noFill/>
            </a:ln>
          </p:spPr>
        </p:sp>
        <p:sp>
          <p:nvSpPr>
            <p:cNvPr id="114" name="TextBox 114"/>
            <p:cNvSpPr txBox="1"/>
            <p:nvPr/>
          </p:nvSpPr>
          <p:spPr>
            <a:xfrm>
              <a:off x="8780653" y="240934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数据防泄漏</a:t>
              </a:r>
            </a:p>
          </p:txBody>
        </p:sp>
        <p:sp>
          <p:nvSpPr>
            <p:cNvPr id="115" name="Rectangle 115"/>
            <p:cNvSpPr/>
            <p:nvPr/>
          </p:nvSpPr>
          <p:spPr>
            <a:xfrm>
              <a:off x="8172450" y="2590800"/>
              <a:ext cx="1885950" cy="781050"/>
            </a:xfrm>
            <a:prstGeom prst="roundRect">
              <a:avLst>
                <a:gd name="adj" fmla="val 4878"/>
              </a:avLst>
            </a:prstGeom>
            <a:solidFill>
              <a:srgbClr val="EDF4FE"/>
            </a:solidFill>
            <a:ln>
              <a:noFill/>
            </a:ln>
          </p:spPr>
        </p:sp>
        <p:sp>
          <p:nvSpPr>
            <p:cNvPr id="116" name="Rectangle 116"/>
            <p:cNvSpPr/>
            <p:nvPr/>
          </p:nvSpPr>
          <p:spPr>
            <a:xfrm>
              <a:off x="8267700" y="2686050"/>
              <a:ext cx="1695450" cy="209550"/>
            </a:xfrm>
            <a:prstGeom prst="roundRect">
              <a:avLst>
                <a:gd name="adj" fmla="val 13636"/>
              </a:avLst>
            </a:prstGeom>
            <a:solidFill>
              <a:srgbClr val="FFFFFF"/>
            </a:solidFill>
            <a:ln>
              <a:noFill/>
            </a:ln>
          </p:spPr>
        </p:sp>
        <p:sp>
          <p:nvSpPr>
            <p:cNvPr id="117" name="TextBox 117"/>
            <p:cNvSpPr txBox="1"/>
            <p:nvPr/>
          </p:nvSpPr>
          <p:spPr>
            <a:xfrm>
              <a:off x="8669109" y="2739866"/>
              <a:ext cx="892632"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电子文档安全管理</a:t>
              </a:r>
            </a:p>
          </p:txBody>
        </p:sp>
        <p:sp>
          <p:nvSpPr>
            <p:cNvPr id="118" name="Rectangle 118"/>
            <p:cNvSpPr/>
            <p:nvPr/>
          </p:nvSpPr>
          <p:spPr>
            <a:xfrm>
              <a:off x="8267700" y="3009900"/>
              <a:ext cx="1695450" cy="209550"/>
            </a:xfrm>
            <a:prstGeom prst="roundRect">
              <a:avLst>
                <a:gd name="adj" fmla="val 13636"/>
              </a:avLst>
            </a:prstGeom>
            <a:solidFill>
              <a:srgbClr val="FFFFFF"/>
            </a:solidFill>
            <a:ln>
              <a:noFill/>
            </a:ln>
          </p:spPr>
        </p:sp>
        <p:sp>
          <p:nvSpPr>
            <p:cNvPr id="119" name="TextBox 119"/>
            <p:cNvSpPr txBox="1"/>
            <p:nvPr/>
          </p:nvSpPr>
          <p:spPr>
            <a:xfrm>
              <a:off x="8834692" y="3063716"/>
              <a:ext cx="561467"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数据防泄漏</a:t>
              </a:r>
            </a:p>
          </p:txBody>
        </p:sp>
      </p:grpSp>
      <p:grpSp>
        <p:nvGrpSpPr>
          <p:cNvPr id="130" name="right-monitor"/>
          <p:cNvGrpSpPr/>
          <p:nvPr/>
        </p:nvGrpSpPr>
        <p:grpSpPr>
          <a:xfrm>
            <a:off x="10153650" y="2343150"/>
            <a:ext cx="476250" cy="4286250"/>
            <a:chOff x="10153650" y="2343150"/>
            <a:chExt cx="476250" cy="4286250"/>
          </a:xfrm>
        </p:grpSpPr>
        <p:sp>
          <p:nvSpPr>
            <p:cNvPr id="121" name="Rectangle 121"/>
            <p:cNvSpPr/>
            <p:nvPr/>
          </p:nvSpPr>
          <p:spPr>
            <a:xfrm>
              <a:off x="10153650" y="2343150"/>
              <a:ext cx="476250" cy="419100"/>
            </a:xfrm>
            <a:prstGeom prst="roundRect">
              <a:avLst>
                <a:gd name="adj" fmla="val 9091"/>
              </a:avLst>
            </a:prstGeom>
            <a:gradFill>
              <a:gsLst>
                <a:gs pos="0">
                  <a:srgbClr val="FB684A"/>
                </a:gs>
                <a:gs pos="100000">
                  <a:srgbClr val="FA421D"/>
                </a:gs>
              </a:gsLst>
              <a:lin ang="5400000" scaled="1"/>
            </a:gradFill>
            <a:ln>
              <a:noFill/>
            </a:ln>
          </p:spPr>
        </p:sp>
        <p:sp>
          <p:nvSpPr>
            <p:cNvPr id="122" name="TextBox 122"/>
            <p:cNvSpPr txBox="1"/>
            <p:nvPr/>
          </p:nvSpPr>
          <p:spPr>
            <a:xfrm>
              <a:off x="10272712" y="2426970"/>
              <a:ext cx="238125" cy="319088"/>
            </a:xfrm>
            <a:prstGeom prst="rect">
              <a:avLst/>
            </a:prstGeom>
            <a:noFill/>
            <a:ln>
              <a:noFill/>
            </a:ln>
          </p:spPr>
          <p:txBody>
            <a:bodyPr wrap="none" lIns="0" tIns="0" rIns="0" bIns="0" anchor="t" anchorCtr="0">
              <a:spAutoFit/>
            </a:bodyPr>
            <a:lstStyle/>
            <a:p>
              <a:pPr algn="ctr">
                <a:lnSpc>
                  <a:spcPts val="1125"/>
                </a:lnSpc>
              </a:pPr>
              <a:r>
                <a:rPr lang="zh-CN" sz="900" b="1" dirty="0">
                  <a:solidFill>
                    <a:srgbClr val="FFFFFF"/>
                  </a:solidFill>
                  <a:latin typeface="+mn-lt"/>
                  <a:ea typeface="+mn-ea"/>
                  <a:cs typeface="+mn-cs"/>
                </a:rPr>
                <a:t>安全</a:t>
              </a:r>
              <a:br/>
              <a:r>
                <a:rPr lang="zh-CN" sz="900" b="1" dirty="0">
                  <a:solidFill>
                    <a:srgbClr val="FFFFFF"/>
                  </a:solidFill>
                  <a:latin typeface="+mn-lt"/>
                  <a:ea typeface="+mn-ea"/>
                  <a:cs typeface="+mn-cs"/>
                </a:rPr>
                <a:t>监控</a:t>
              </a:r>
            </a:p>
          </p:txBody>
        </p:sp>
        <p:sp>
          <p:nvSpPr>
            <p:cNvPr id="123" name="Rectangle 123"/>
            <p:cNvSpPr/>
            <p:nvPr/>
          </p:nvSpPr>
          <p:spPr>
            <a:xfrm>
              <a:off x="10153650" y="2762250"/>
              <a:ext cx="476250" cy="3867150"/>
            </a:xfrm>
            <a:prstGeom prst="roundRect">
              <a:avLst>
                <a:gd name="adj" fmla="val 8000"/>
              </a:avLst>
            </a:prstGeom>
            <a:solidFill>
              <a:srgbClr val="EDF4FE"/>
            </a:solidFill>
            <a:ln>
              <a:noFill/>
            </a:ln>
          </p:spPr>
        </p:sp>
        <p:sp>
          <p:nvSpPr>
            <p:cNvPr id="124" name="Rectangle 124"/>
            <p:cNvSpPr/>
            <p:nvPr/>
          </p:nvSpPr>
          <p:spPr>
            <a:xfrm>
              <a:off x="10229850" y="2838450"/>
              <a:ext cx="323850" cy="1181100"/>
            </a:xfrm>
            <a:prstGeom prst="roundRect">
              <a:avLst>
                <a:gd name="adj" fmla="val 8824"/>
              </a:avLst>
            </a:prstGeom>
            <a:solidFill>
              <a:srgbClr val="FFFFFF"/>
            </a:solidFill>
            <a:ln>
              <a:noFill/>
            </a:ln>
          </p:spPr>
        </p:sp>
        <p:sp>
          <p:nvSpPr>
            <p:cNvPr id="125" name="TextBox 125"/>
            <p:cNvSpPr txBox="1"/>
            <p:nvPr/>
          </p:nvSpPr>
          <p:spPr>
            <a:xfrm>
              <a:off x="10334942" y="297799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集</a:t>
              </a:r>
              <a:br/>
              <a:r>
                <a:rPr lang="zh-CN" sz="820" dirty="0">
                  <a:solidFill>
                    <a:srgbClr val="3D241F"/>
                  </a:solidFill>
                  <a:latin typeface="+mn-lt"/>
                  <a:ea typeface="+mn-ea"/>
                  <a:cs typeface="+mn-cs"/>
                </a:rPr>
                <a:t>中</a:t>
              </a:r>
              <a:br/>
              <a:r>
                <a:rPr lang="zh-CN" sz="820" dirty="0">
                  <a:solidFill>
                    <a:srgbClr val="3D241F"/>
                  </a:solidFill>
                  <a:latin typeface="+mn-lt"/>
                  <a:ea typeface="+mn-ea"/>
                  <a:cs typeface="+mn-cs"/>
                </a:rPr>
                <a:t>安</a:t>
              </a:r>
              <a:br/>
              <a:r>
                <a:rPr lang="zh-CN" sz="820" dirty="0">
                  <a:solidFill>
                    <a:srgbClr val="3D241F"/>
                  </a:solidFill>
                  <a:latin typeface="+mn-lt"/>
                  <a:ea typeface="+mn-ea"/>
                  <a:cs typeface="+mn-cs"/>
                </a:rPr>
                <a:t>全</a:t>
              </a:r>
              <a:br/>
              <a:r>
                <a:rPr lang="zh-CN" sz="820" dirty="0">
                  <a:solidFill>
                    <a:srgbClr val="3D241F"/>
                  </a:solidFill>
                  <a:latin typeface="+mn-lt"/>
                  <a:ea typeface="+mn-ea"/>
                  <a:cs typeface="+mn-cs"/>
                </a:rPr>
                <a:t>管</a:t>
              </a:r>
              <a:br/>
              <a:r>
                <a:rPr lang="zh-CN" sz="820" dirty="0">
                  <a:solidFill>
                    <a:srgbClr val="3D241F"/>
                  </a:solidFill>
                  <a:latin typeface="+mn-lt"/>
                  <a:ea typeface="+mn-ea"/>
                  <a:cs typeface="+mn-cs"/>
                </a:rPr>
                <a:t>理</a:t>
              </a:r>
            </a:p>
          </p:txBody>
        </p:sp>
        <p:sp>
          <p:nvSpPr>
            <p:cNvPr id="126" name="Rectangle 126"/>
            <p:cNvSpPr/>
            <p:nvPr/>
          </p:nvSpPr>
          <p:spPr>
            <a:xfrm>
              <a:off x="10229850" y="4114800"/>
              <a:ext cx="323850" cy="1181100"/>
            </a:xfrm>
            <a:prstGeom prst="roundRect">
              <a:avLst>
                <a:gd name="adj" fmla="val 8824"/>
              </a:avLst>
            </a:prstGeom>
            <a:solidFill>
              <a:srgbClr val="FFFFFF"/>
            </a:solidFill>
            <a:ln>
              <a:noFill/>
            </a:ln>
          </p:spPr>
        </p:sp>
        <p:sp>
          <p:nvSpPr>
            <p:cNvPr id="127" name="TextBox 127"/>
            <p:cNvSpPr txBox="1"/>
            <p:nvPr/>
          </p:nvSpPr>
          <p:spPr>
            <a:xfrm>
              <a:off x="10334942" y="425434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集</a:t>
              </a:r>
              <a:br/>
              <a:r>
                <a:rPr lang="zh-CN" sz="820" dirty="0">
                  <a:solidFill>
                    <a:srgbClr val="3D241F"/>
                  </a:solidFill>
                  <a:latin typeface="+mn-lt"/>
                  <a:ea typeface="+mn-ea"/>
                  <a:cs typeface="+mn-cs"/>
                </a:rPr>
                <a:t>中</a:t>
              </a:r>
              <a:br/>
              <a:r>
                <a:rPr lang="zh-CN" sz="820" dirty="0">
                  <a:solidFill>
                    <a:srgbClr val="3D241F"/>
                  </a:solidFill>
                  <a:latin typeface="+mn-lt"/>
                  <a:ea typeface="+mn-ea"/>
                  <a:cs typeface="+mn-cs"/>
                </a:rPr>
                <a:t>监</a:t>
              </a:r>
              <a:br/>
              <a:r>
                <a:rPr lang="zh-CN" sz="820" dirty="0">
                  <a:solidFill>
                    <a:srgbClr val="3D241F"/>
                  </a:solidFill>
                  <a:latin typeface="+mn-lt"/>
                  <a:ea typeface="+mn-ea"/>
                  <a:cs typeface="+mn-cs"/>
                </a:rPr>
                <a:t>控</a:t>
              </a:r>
              <a:br/>
              <a:r>
                <a:rPr lang="zh-CN" sz="820" dirty="0">
                  <a:solidFill>
                    <a:srgbClr val="3D241F"/>
                  </a:solidFill>
                  <a:latin typeface="+mn-lt"/>
                  <a:ea typeface="+mn-ea"/>
                  <a:cs typeface="+mn-cs"/>
                </a:rPr>
                <a:t>管</a:t>
              </a:r>
              <a:br/>
              <a:r>
                <a:rPr lang="zh-CN" sz="820" dirty="0">
                  <a:solidFill>
                    <a:srgbClr val="3D241F"/>
                  </a:solidFill>
                  <a:latin typeface="+mn-lt"/>
                  <a:ea typeface="+mn-ea"/>
                  <a:cs typeface="+mn-cs"/>
                </a:rPr>
                <a:t>理</a:t>
              </a:r>
            </a:p>
          </p:txBody>
        </p:sp>
        <p:sp>
          <p:nvSpPr>
            <p:cNvPr id="128" name="Rectangle 128"/>
            <p:cNvSpPr/>
            <p:nvPr/>
          </p:nvSpPr>
          <p:spPr>
            <a:xfrm>
              <a:off x="10229850" y="5391150"/>
              <a:ext cx="323850" cy="1181100"/>
            </a:xfrm>
            <a:prstGeom prst="roundRect">
              <a:avLst>
                <a:gd name="adj" fmla="val 8824"/>
              </a:avLst>
            </a:prstGeom>
            <a:solidFill>
              <a:srgbClr val="FFFFFF"/>
            </a:solidFill>
            <a:ln>
              <a:noFill/>
            </a:ln>
          </p:spPr>
        </p:sp>
        <p:sp>
          <p:nvSpPr>
            <p:cNvPr id="129" name="TextBox 129"/>
            <p:cNvSpPr txBox="1"/>
            <p:nvPr/>
          </p:nvSpPr>
          <p:spPr>
            <a:xfrm>
              <a:off x="10334942" y="553069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集</a:t>
              </a:r>
              <a:br/>
              <a:r>
                <a:rPr lang="zh-CN" sz="820" dirty="0">
                  <a:solidFill>
                    <a:srgbClr val="3D241F"/>
                  </a:solidFill>
                  <a:latin typeface="+mn-lt"/>
                  <a:ea typeface="+mn-ea"/>
                  <a:cs typeface="+mn-cs"/>
                </a:rPr>
                <a:t>中</a:t>
              </a:r>
              <a:br/>
              <a:r>
                <a:rPr lang="zh-CN" sz="820" dirty="0">
                  <a:solidFill>
                    <a:srgbClr val="3D241F"/>
                  </a:solidFill>
                  <a:latin typeface="+mn-lt"/>
                  <a:ea typeface="+mn-ea"/>
                  <a:cs typeface="+mn-cs"/>
                </a:rPr>
                <a:t>状</a:t>
              </a:r>
              <a:br/>
              <a:r>
                <a:rPr lang="zh-CN" sz="820" dirty="0">
                  <a:solidFill>
                    <a:srgbClr val="3D241F"/>
                  </a:solidFill>
                  <a:latin typeface="+mn-lt"/>
                  <a:ea typeface="+mn-ea"/>
                  <a:cs typeface="+mn-cs"/>
                </a:rPr>
                <a:t>态</a:t>
              </a:r>
              <a:br/>
              <a:r>
                <a:rPr lang="zh-CN" sz="820" dirty="0">
                  <a:solidFill>
                    <a:srgbClr val="3D241F"/>
                  </a:solidFill>
                  <a:latin typeface="+mn-lt"/>
                  <a:ea typeface="+mn-ea"/>
                  <a:cs typeface="+mn-cs"/>
                </a:rPr>
                <a:t>展</a:t>
              </a:r>
              <a:br/>
              <a:r>
                <a:rPr lang="zh-CN" sz="820" dirty="0">
                  <a:solidFill>
                    <a:srgbClr val="3D241F"/>
                  </a:solidFill>
                  <a:latin typeface="+mn-lt"/>
                  <a:ea typeface="+mn-ea"/>
                  <a:cs typeface="+mn-cs"/>
                </a:rPr>
                <a:t>示</a:t>
              </a:r>
            </a:p>
          </p:txBody>
        </p:sp>
      </p:grpSp>
      <p:grpSp>
        <p:nvGrpSpPr>
          <p:cNvPr id="150" name="right-platform"/>
          <p:cNvGrpSpPr/>
          <p:nvPr/>
        </p:nvGrpSpPr>
        <p:grpSpPr>
          <a:xfrm>
            <a:off x="10706100" y="2343150"/>
            <a:ext cx="1104900" cy="4286250"/>
            <a:chOff x="10706100" y="2343150"/>
            <a:chExt cx="1104900" cy="4286250"/>
          </a:xfrm>
        </p:grpSpPr>
        <p:sp>
          <p:nvSpPr>
            <p:cNvPr id="131" name="Rectangle 131"/>
            <p:cNvSpPr/>
            <p:nvPr/>
          </p:nvSpPr>
          <p:spPr>
            <a:xfrm>
              <a:off x="10706100" y="2343150"/>
              <a:ext cx="1104900" cy="419100"/>
            </a:xfrm>
            <a:prstGeom prst="roundRect">
              <a:avLst>
                <a:gd name="adj" fmla="val 9091"/>
              </a:avLst>
            </a:prstGeom>
            <a:gradFill>
              <a:gsLst>
                <a:gs pos="0">
                  <a:srgbClr val="FB684A"/>
                </a:gs>
                <a:gs pos="100000">
                  <a:srgbClr val="FA421D"/>
                </a:gs>
              </a:gsLst>
              <a:lin ang="5400000" scaled="1"/>
            </a:gradFill>
            <a:ln>
              <a:noFill/>
            </a:ln>
          </p:spPr>
        </p:sp>
        <p:sp>
          <p:nvSpPr>
            <p:cNvPr id="132" name="TextBox 132"/>
            <p:cNvSpPr txBox="1"/>
            <p:nvPr/>
          </p:nvSpPr>
          <p:spPr>
            <a:xfrm>
              <a:off x="10941368" y="2425541"/>
              <a:ext cx="634365" cy="304800"/>
            </a:xfrm>
            <a:prstGeom prst="rect">
              <a:avLst/>
            </a:prstGeom>
            <a:noFill/>
            <a:ln>
              <a:noFill/>
            </a:ln>
          </p:spPr>
          <p:txBody>
            <a:bodyPr wrap="none" lIns="0" tIns="0" rIns="0" bIns="0" anchor="t" anchorCtr="0">
              <a:spAutoFit/>
            </a:bodyPr>
            <a:lstStyle/>
            <a:p>
              <a:pPr algn="ctr">
                <a:lnSpc>
                  <a:spcPts val="1125"/>
                </a:lnSpc>
              </a:pPr>
              <a:r>
                <a:rPr lang="zh-CN" sz="820" b="1" dirty="0">
                  <a:solidFill>
                    <a:srgbClr val="FFFFFF"/>
                  </a:solidFill>
                  <a:latin typeface="+mn-lt"/>
                  <a:ea typeface="+mn-ea"/>
                  <a:cs typeface="+mn-cs"/>
                </a:rPr>
                <a:t>密码综合</a:t>
              </a:r>
              <a:br/>
              <a:r>
                <a:rPr lang="zh-CN" sz="820" b="1" dirty="0">
                  <a:solidFill>
                    <a:srgbClr val="FFFFFF"/>
                  </a:solidFill>
                  <a:latin typeface="+mn-lt"/>
                  <a:ea typeface="+mn-ea"/>
                  <a:cs typeface="+mn-cs"/>
                </a:rPr>
                <a:t>服务管理平台</a:t>
              </a:r>
            </a:p>
          </p:txBody>
        </p:sp>
        <p:sp>
          <p:nvSpPr>
            <p:cNvPr id="133" name="Rectangle 133"/>
            <p:cNvSpPr/>
            <p:nvPr/>
          </p:nvSpPr>
          <p:spPr>
            <a:xfrm>
              <a:off x="10706100" y="2762250"/>
              <a:ext cx="1104900" cy="3867150"/>
            </a:xfrm>
            <a:prstGeom prst="roundRect">
              <a:avLst>
                <a:gd name="adj" fmla="val 3448"/>
              </a:avLst>
            </a:prstGeom>
            <a:solidFill>
              <a:srgbClr val="EDF4FE"/>
            </a:solidFill>
            <a:ln>
              <a:noFill/>
            </a:ln>
          </p:spPr>
        </p:sp>
        <p:sp>
          <p:nvSpPr>
            <p:cNvPr id="134" name="Rectangle 134"/>
            <p:cNvSpPr/>
            <p:nvPr/>
          </p:nvSpPr>
          <p:spPr>
            <a:xfrm>
              <a:off x="10763250" y="2838450"/>
              <a:ext cx="323850" cy="1181100"/>
            </a:xfrm>
            <a:prstGeom prst="roundRect">
              <a:avLst>
                <a:gd name="adj" fmla="val 8824"/>
              </a:avLst>
            </a:prstGeom>
            <a:solidFill>
              <a:srgbClr val="FFFFFF"/>
            </a:solidFill>
            <a:ln>
              <a:noFill/>
            </a:ln>
          </p:spPr>
        </p:sp>
        <p:sp>
          <p:nvSpPr>
            <p:cNvPr id="135" name="TextBox 135"/>
            <p:cNvSpPr txBox="1"/>
            <p:nvPr/>
          </p:nvSpPr>
          <p:spPr>
            <a:xfrm>
              <a:off x="10868342" y="297799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密</a:t>
              </a:r>
              <a:br/>
              <a:r>
                <a:rPr lang="zh-CN" sz="820" dirty="0">
                  <a:solidFill>
                    <a:srgbClr val="3D241F"/>
                  </a:solidFill>
                  <a:latin typeface="+mn-lt"/>
                  <a:ea typeface="+mn-ea"/>
                  <a:cs typeface="+mn-cs"/>
                </a:rPr>
                <a:t>码</a:t>
              </a:r>
              <a:br/>
              <a:r>
                <a:rPr lang="zh-CN" sz="820" dirty="0">
                  <a:solidFill>
                    <a:srgbClr val="3D241F"/>
                  </a:solidFill>
                  <a:latin typeface="+mn-lt"/>
                  <a:ea typeface="+mn-ea"/>
                  <a:cs typeface="+mn-cs"/>
                </a:rPr>
                <a:t>统</a:t>
              </a:r>
              <a:br/>
              <a:r>
                <a:rPr lang="zh-CN" sz="820" dirty="0">
                  <a:solidFill>
                    <a:srgbClr val="3D241F"/>
                  </a:solidFill>
                  <a:latin typeface="+mn-lt"/>
                  <a:ea typeface="+mn-ea"/>
                  <a:cs typeface="+mn-cs"/>
                </a:rPr>
                <a:t>一</a:t>
              </a:r>
              <a:br/>
              <a:r>
                <a:rPr lang="zh-CN" sz="820" dirty="0">
                  <a:solidFill>
                    <a:srgbClr val="3D241F"/>
                  </a:solidFill>
                  <a:latin typeface="+mn-lt"/>
                  <a:ea typeface="+mn-ea"/>
                  <a:cs typeface="+mn-cs"/>
                </a:rPr>
                <a:t>服</a:t>
              </a:r>
              <a:br/>
              <a:r>
                <a:rPr lang="zh-CN" sz="820" dirty="0">
                  <a:solidFill>
                    <a:srgbClr val="3D241F"/>
                  </a:solidFill>
                  <a:latin typeface="+mn-lt"/>
                  <a:ea typeface="+mn-ea"/>
                  <a:cs typeface="+mn-cs"/>
                </a:rPr>
                <a:t>务</a:t>
              </a:r>
            </a:p>
          </p:txBody>
        </p:sp>
        <p:sp>
          <p:nvSpPr>
            <p:cNvPr id="136" name="Rectangle 136"/>
            <p:cNvSpPr/>
            <p:nvPr/>
          </p:nvSpPr>
          <p:spPr>
            <a:xfrm>
              <a:off x="10763250" y="4114800"/>
              <a:ext cx="323850" cy="1181100"/>
            </a:xfrm>
            <a:prstGeom prst="roundRect">
              <a:avLst>
                <a:gd name="adj" fmla="val 8824"/>
              </a:avLst>
            </a:prstGeom>
            <a:solidFill>
              <a:srgbClr val="FFFFFF"/>
            </a:solidFill>
            <a:ln>
              <a:noFill/>
            </a:ln>
          </p:spPr>
        </p:sp>
        <p:sp>
          <p:nvSpPr>
            <p:cNvPr id="137" name="TextBox 137"/>
            <p:cNvSpPr txBox="1"/>
            <p:nvPr/>
          </p:nvSpPr>
          <p:spPr>
            <a:xfrm>
              <a:off x="10868342" y="4387691"/>
              <a:ext cx="113665" cy="59055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密</a:t>
              </a:r>
              <a:br/>
              <a:r>
                <a:rPr lang="zh-CN" sz="820" dirty="0">
                  <a:solidFill>
                    <a:srgbClr val="3D241F"/>
                  </a:solidFill>
                  <a:latin typeface="+mn-lt"/>
                  <a:ea typeface="+mn-ea"/>
                  <a:cs typeface="+mn-cs"/>
                </a:rPr>
                <a:t>钥</a:t>
              </a:r>
              <a:br/>
              <a:r>
                <a:rPr lang="zh-CN" sz="820" dirty="0">
                  <a:solidFill>
                    <a:srgbClr val="3D241F"/>
                  </a:solidFill>
                  <a:latin typeface="+mn-lt"/>
                  <a:ea typeface="+mn-ea"/>
                  <a:cs typeface="+mn-cs"/>
                </a:rPr>
                <a:t>管</a:t>
              </a:r>
              <a:br/>
              <a:r>
                <a:rPr lang="zh-CN" sz="820" dirty="0">
                  <a:solidFill>
                    <a:srgbClr val="3D241F"/>
                  </a:solidFill>
                  <a:latin typeface="+mn-lt"/>
                  <a:ea typeface="+mn-ea"/>
                  <a:cs typeface="+mn-cs"/>
                </a:rPr>
                <a:t>理</a:t>
              </a:r>
            </a:p>
          </p:txBody>
        </p:sp>
        <p:sp>
          <p:nvSpPr>
            <p:cNvPr id="138" name="Rectangle 138"/>
            <p:cNvSpPr/>
            <p:nvPr/>
          </p:nvSpPr>
          <p:spPr>
            <a:xfrm>
              <a:off x="10763250" y="5391150"/>
              <a:ext cx="323850" cy="1181100"/>
            </a:xfrm>
            <a:prstGeom prst="roundRect">
              <a:avLst>
                <a:gd name="adj" fmla="val 8824"/>
              </a:avLst>
            </a:prstGeom>
            <a:solidFill>
              <a:srgbClr val="FFFFFF"/>
            </a:solidFill>
            <a:ln>
              <a:noFill/>
            </a:ln>
          </p:spPr>
        </p:sp>
        <p:sp>
          <p:nvSpPr>
            <p:cNvPr id="139" name="TextBox 139"/>
            <p:cNvSpPr txBox="1"/>
            <p:nvPr/>
          </p:nvSpPr>
          <p:spPr>
            <a:xfrm>
              <a:off x="10868342" y="553069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基</a:t>
              </a:r>
              <a:br/>
              <a:r>
                <a:rPr lang="zh-CN" sz="820" dirty="0">
                  <a:solidFill>
                    <a:srgbClr val="3D241F"/>
                  </a:solidFill>
                  <a:latin typeface="+mn-lt"/>
                  <a:ea typeface="+mn-ea"/>
                  <a:cs typeface="+mn-cs"/>
                </a:rPr>
                <a:t>础</a:t>
              </a:r>
              <a:br/>
              <a:r>
                <a:rPr lang="zh-CN" sz="820" dirty="0">
                  <a:solidFill>
                    <a:srgbClr val="3D241F"/>
                  </a:solidFill>
                  <a:latin typeface="+mn-lt"/>
                  <a:ea typeface="+mn-ea"/>
                  <a:cs typeface="+mn-cs"/>
                </a:rPr>
                <a:t>密</a:t>
              </a:r>
              <a:br/>
              <a:r>
                <a:rPr lang="zh-CN" sz="820" dirty="0">
                  <a:solidFill>
                    <a:srgbClr val="3D241F"/>
                  </a:solidFill>
                  <a:latin typeface="+mn-lt"/>
                  <a:ea typeface="+mn-ea"/>
                  <a:cs typeface="+mn-cs"/>
                </a:rPr>
                <a:t>码</a:t>
              </a:r>
              <a:br/>
              <a:r>
                <a:rPr lang="zh-CN" sz="820" dirty="0">
                  <a:solidFill>
                    <a:srgbClr val="3D241F"/>
                  </a:solidFill>
                  <a:latin typeface="+mn-lt"/>
                  <a:ea typeface="+mn-ea"/>
                  <a:cs typeface="+mn-cs"/>
                </a:rPr>
                <a:t>服</a:t>
              </a:r>
              <a:br/>
              <a:r>
                <a:rPr lang="zh-CN" sz="820" dirty="0">
                  <a:solidFill>
                    <a:srgbClr val="3D241F"/>
                  </a:solidFill>
                  <a:latin typeface="+mn-lt"/>
                  <a:ea typeface="+mn-ea"/>
                  <a:cs typeface="+mn-cs"/>
                </a:rPr>
                <a:t>务</a:t>
              </a:r>
            </a:p>
          </p:txBody>
        </p:sp>
        <p:sp>
          <p:nvSpPr>
            <p:cNvPr id="140" name="Rectangle 140"/>
            <p:cNvSpPr/>
            <p:nvPr/>
          </p:nvSpPr>
          <p:spPr>
            <a:xfrm>
              <a:off x="11125200" y="2838450"/>
              <a:ext cx="323850" cy="1181100"/>
            </a:xfrm>
            <a:prstGeom prst="roundRect">
              <a:avLst>
                <a:gd name="adj" fmla="val 8824"/>
              </a:avLst>
            </a:prstGeom>
            <a:solidFill>
              <a:srgbClr val="FFFFFF"/>
            </a:solidFill>
            <a:ln>
              <a:noFill/>
            </a:ln>
          </p:spPr>
        </p:sp>
        <p:sp>
          <p:nvSpPr>
            <p:cNvPr id="141" name="TextBox 141"/>
            <p:cNvSpPr txBox="1"/>
            <p:nvPr/>
          </p:nvSpPr>
          <p:spPr>
            <a:xfrm>
              <a:off x="11230292" y="297799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密</a:t>
              </a:r>
              <a:br/>
              <a:r>
                <a:rPr lang="zh-CN" sz="820" dirty="0">
                  <a:solidFill>
                    <a:srgbClr val="3D241F"/>
                  </a:solidFill>
                  <a:latin typeface="+mn-lt"/>
                  <a:ea typeface="+mn-ea"/>
                  <a:cs typeface="+mn-cs"/>
                </a:rPr>
                <a:t>码</a:t>
              </a:r>
              <a:br/>
              <a:r>
                <a:rPr lang="zh-CN" sz="820" dirty="0">
                  <a:solidFill>
                    <a:srgbClr val="3D241F"/>
                  </a:solidFill>
                  <a:latin typeface="+mn-lt"/>
                  <a:ea typeface="+mn-ea"/>
                  <a:cs typeface="+mn-cs"/>
                </a:rPr>
                <a:t>业</a:t>
              </a:r>
              <a:br/>
              <a:r>
                <a:rPr lang="zh-CN" sz="820" dirty="0">
                  <a:solidFill>
                    <a:srgbClr val="3D241F"/>
                  </a:solidFill>
                  <a:latin typeface="+mn-lt"/>
                  <a:ea typeface="+mn-ea"/>
                  <a:cs typeface="+mn-cs"/>
                </a:rPr>
                <a:t>务</a:t>
              </a:r>
              <a:br/>
              <a:r>
                <a:rPr lang="zh-CN" sz="820" dirty="0">
                  <a:solidFill>
                    <a:srgbClr val="3D241F"/>
                  </a:solidFill>
                  <a:latin typeface="+mn-lt"/>
                  <a:ea typeface="+mn-ea"/>
                  <a:cs typeface="+mn-cs"/>
                </a:rPr>
                <a:t>管</a:t>
              </a:r>
              <a:br/>
              <a:r>
                <a:rPr lang="zh-CN" sz="820" dirty="0">
                  <a:solidFill>
                    <a:srgbClr val="3D241F"/>
                  </a:solidFill>
                  <a:latin typeface="+mn-lt"/>
                  <a:ea typeface="+mn-ea"/>
                  <a:cs typeface="+mn-cs"/>
                </a:rPr>
                <a:t>理</a:t>
              </a:r>
            </a:p>
          </p:txBody>
        </p:sp>
        <p:sp>
          <p:nvSpPr>
            <p:cNvPr id="142" name="Rectangle 142"/>
            <p:cNvSpPr/>
            <p:nvPr/>
          </p:nvSpPr>
          <p:spPr>
            <a:xfrm>
              <a:off x="11125200" y="4114800"/>
              <a:ext cx="323850" cy="1181100"/>
            </a:xfrm>
            <a:prstGeom prst="roundRect">
              <a:avLst>
                <a:gd name="adj" fmla="val 8824"/>
              </a:avLst>
            </a:prstGeom>
            <a:solidFill>
              <a:srgbClr val="FFFFFF"/>
            </a:solidFill>
            <a:ln>
              <a:noFill/>
            </a:ln>
          </p:spPr>
        </p:sp>
        <p:sp>
          <p:nvSpPr>
            <p:cNvPr id="143" name="TextBox 143"/>
            <p:cNvSpPr txBox="1"/>
            <p:nvPr/>
          </p:nvSpPr>
          <p:spPr>
            <a:xfrm>
              <a:off x="11230292" y="425434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密</a:t>
              </a:r>
              <a:br/>
              <a:r>
                <a:rPr lang="zh-CN" sz="820" dirty="0">
                  <a:solidFill>
                    <a:srgbClr val="3D241F"/>
                  </a:solidFill>
                  <a:latin typeface="+mn-lt"/>
                  <a:ea typeface="+mn-ea"/>
                  <a:cs typeface="+mn-cs"/>
                </a:rPr>
                <a:t>码</a:t>
              </a:r>
              <a:br/>
              <a:r>
                <a:rPr lang="zh-CN" sz="820" dirty="0">
                  <a:solidFill>
                    <a:srgbClr val="3D241F"/>
                  </a:solidFill>
                  <a:latin typeface="+mn-lt"/>
                  <a:ea typeface="+mn-ea"/>
                  <a:cs typeface="+mn-cs"/>
                </a:rPr>
                <a:t>业</a:t>
              </a:r>
              <a:br/>
              <a:r>
                <a:rPr lang="zh-CN" sz="820" dirty="0">
                  <a:solidFill>
                    <a:srgbClr val="3D241F"/>
                  </a:solidFill>
                  <a:latin typeface="+mn-lt"/>
                  <a:ea typeface="+mn-ea"/>
                  <a:cs typeface="+mn-cs"/>
                </a:rPr>
                <a:t>务</a:t>
              </a:r>
              <a:br/>
              <a:r>
                <a:rPr lang="zh-CN" sz="820" dirty="0">
                  <a:solidFill>
                    <a:srgbClr val="3D241F"/>
                  </a:solidFill>
                  <a:latin typeface="+mn-lt"/>
                  <a:ea typeface="+mn-ea"/>
                  <a:cs typeface="+mn-cs"/>
                </a:rPr>
                <a:t>监</a:t>
              </a:r>
              <a:br/>
              <a:r>
                <a:rPr lang="zh-CN" sz="820" dirty="0">
                  <a:solidFill>
                    <a:srgbClr val="3D241F"/>
                  </a:solidFill>
                  <a:latin typeface="+mn-lt"/>
                  <a:ea typeface="+mn-ea"/>
                  <a:cs typeface="+mn-cs"/>
                </a:rPr>
                <a:t>控</a:t>
              </a:r>
            </a:p>
          </p:txBody>
        </p:sp>
        <p:sp>
          <p:nvSpPr>
            <p:cNvPr id="144" name="Rectangle 144"/>
            <p:cNvSpPr/>
            <p:nvPr/>
          </p:nvSpPr>
          <p:spPr>
            <a:xfrm>
              <a:off x="11125200" y="5391150"/>
              <a:ext cx="323850" cy="1181100"/>
            </a:xfrm>
            <a:prstGeom prst="roundRect">
              <a:avLst>
                <a:gd name="adj" fmla="val 8824"/>
              </a:avLst>
            </a:prstGeom>
            <a:solidFill>
              <a:srgbClr val="FFFFFF"/>
            </a:solidFill>
            <a:ln>
              <a:noFill/>
            </a:ln>
          </p:spPr>
        </p:sp>
        <p:sp>
          <p:nvSpPr>
            <p:cNvPr id="145" name="TextBox 145"/>
            <p:cNvSpPr txBox="1"/>
            <p:nvPr/>
          </p:nvSpPr>
          <p:spPr>
            <a:xfrm>
              <a:off x="11230292" y="553069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密</a:t>
              </a:r>
              <a:br/>
              <a:r>
                <a:rPr lang="zh-CN" sz="820" dirty="0">
                  <a:solidFill>
                    <a:srgbClr val="3D241F"/>
                  </a:solidFill>
                  <a:latin typeface="+mn-lt"/>
                  <a:ea typeface="+mn-ea"/>
                  <a:cs typeface="+mn-cs"/>
                </a:rPr>
                <a:t>码</a:t>
              </a:r>
              <a:br/>
              <a:r>
                <a:rPr lang="zh-CN" sz="820" dirty="0">
                  <a:solidFill>
                    <a:srgbClr val="3D241F"/>
                  </a:solidFill>
                  <a:latin typeface="+mn-lt"/>
                  <a:ea typeface="+mn-ea"/>
                  <a:cs typeface="+mn-cs"/>
                </a:rPr>
                <a:t>业</a:t>
              </a:r>
              <a:br/>
              <a:r>
                <a:rPr lang="zh-CN" sz="820" dirty="0">
                  <a:solidFill>
                    <a:srgbClr val="3D241F"/>
                  </a:solidFill>
                  <a:latin typeface="+mn-lt"/>
                  <a:ea typeface="+mn-ea"/>
                  <a:cs typeface="+mn-cs"/>
                </a:rPr>
                <a:t>务</a:t>
              </a:r>
              <a:br/>
              <a:r>
                <a:rPr lang="zh-CN" sz="820" dirty="0">
                  <a:solidFill>
                    <a:srgbClr val="3D241F"/>
                  </a:solidFill>
                  <a:latin typeface="+mn-lt"/>
                  <a:ea typeface="+mn-ea"/>
                  <a:cs typeface="+mn-cs"/>
                </a:rPr>
                <a:t>分</a:t>
              </a:r>
              <a:br/>
              <a:r>
                <a:rPr lang="zh-CN" sz="820" dirty="0">
                  <a:solidFill>
                    <a:srgbClr val="3D241F"/>
                  </a:solidFill>
                  <a:latin typeface="+mn-lt"/>
                  <a:ea typeface="+mn-ea"/>
                  <a:cs typeface="+mn-cs"/>
                </a:rPr>
                <a:t>析</a:t>
              </a:r>
            </a:p>
          </p:txBody>
        </p:sp>
        <p:sp>
          <p:nvSpPr>
            <p:cNvPr id="146" name="Rectangle 146"/>
            <p:cNvSpPr/>
            <p:nvPr/>
          </p:nvSpPr>
          <p:spPr>
            <a:xfrm>
              <a:off x="11487150" y="2838450"/>
              <a:ext cx="266700" cy="1809750"/>
            </a:xfrm>
            <a:prstGeom prst="roundRect">
              <a:avLst>
                <a:gd name="adj" fmla="val 10714"/>
              </a:avLst>
            </a:prstGeom>
            <a:solidFill>
              <a:srgbClr val="FFFFFF"/>
            </a:solidFill>
            <a:ln>
              <a:noFill/>
            </a:ln>
          </p:spPr>
        </p:sp>
        <p:sp>
          <p:nvSpPr>
            <p:cNvPr id="147" name="TextBox 147"/>
            <p:cNvSpPr txBox="1"/>
            <p:nvPr/>
          </p:nvSpPr>
          <p:spPr>
            <a:xfrm>
              <a:off x="11563668" y="326374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密</a:t>
              </a:r>
              <a:br/>
              <a:r>
                <a:rPr lang="zh-CN" sz="820" dirty="0">
                  <a:solidFill>
                    <a:srgbClr val="3D241F"/>
                  </a:solidFill>
                  <a:latin typeface="+mn-lt"/>
                  <a:ea typeface="+mn-ea"/>
                  <a:cs typeface="+mn-cs"/>
                </a:rPr>
                <a:t>码</a:t>
              </a:r>
              <a:br/>
              <a:r>
                <a:rPr lang="zh-CN" sz="820" dirty="0">
                  <a:solidFill>
                    <a:srgbClr val="3D241F"/>
                  </a:solidFill>
                  <a:latin typeface="+mn-lt"/>
                  <a:ea typeface="+mn-ea"/>
                  <a:cs typeface="+mn-cs"/>
                </a:rPr>
                <a:t>业</a:t>
              </a:r>
              <a:br/>
              <a:r>
                <a:rPr lang="zh-CN" sz="820" dirty="0">
                  <a:solidFill>
                    <a:srgbClr val="3D241F"/>
                  </a:solidFill>
                  <a:latin typeface="+mn-lt"/>
                  <a:ea typeface="+mn-ea"/>
                  <a:cs typeface="+mn-cs"/>
                </a:rPr>
                <a:t>务</a:t>
              </a:r>
              <a:br/>
              <a:r>
                <a:rPr lang="zh-CN" sz="820" dirty="0">
                  <a:solidFill>
                    <a:srgbClr val="3D241F"/>
                  </a:solidFill>
                  <a:latin typeface="+mn-lt"/>
                  <a:ea typeface="+mn-ea"/>
                  <a:cs typeface="+mn-cs"/>
                </a:rPr>
                <a:t>考</a:t>
              </a:r>
              <a:br/>
              <a:r>
                <a:rPr lang="zh-CN" sz="820" dirty="0">
                  <a:solidFill>
                    <a:srgbClr val="3D241F"/>
                  </a:solidFill>
                  <a:latin typeface="+mn-lt"/>
                  <a:ea typeface="+mn-ea"/>
                  <a:cs typeface="+mn-cs"/>
                </a:rPr>
                <a:t>核</a:t>
              </a:r>
            </a:p>
          </p:txBody>
        </p:sp>
        <p:sp>
          <p:nvSpPr>
            <p:cNvPr id="148" name="Rectangle 148"/>
            <p:cNvSpPr/>
            <p:nvPr/>
          </p:nvSpPr>
          <p:spPr>
            <a:xfrm>
              <a:off x="11487150" y="4743450"/>
              <a:ext cx="266700" cy="1828800"/>
            </a:xfrm>
            <a:prstGeom prst="roundRect">
              <a:avLst>
                <a:gd name="adj" fmla="val 10714"/>
              </a:avLst>
            </a:prstGeom>
            <a:solidFill>
              <a:srgbClr val="FFFFFF"/>
            </a:solidFill>
            <a:ln>
              <a:noFill/>
            </a:ln>
          </p:spPr>
        </p:sp>
        <p:sp>
          <p:nvSpPr>
            <p:cNvPr id="149" name="TextBox 149"/>
            <p:cNvSpPr txBox="1"/>
            <p:nvPr/>
          </p:nvSpPr>
          <p:spPr>
            <a:xfrm>
              <a:off x="11563668" y="5168741"/>
              <a:ext cx="113665" cy="8763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密</a:t>
              </a:r>
              <a:br/>
              <a:r>
                <a:rPr lang="zh-CN" sz="820" dirty="0">
                  <a:solidFill>
                    <a:srgbClr val="3D241F"/>
                  </a:solidFill>
                  <a:latin typeface="+mn-lt"/>
                  <a:ea typeface="+mn-ea"/>
                  <a:cs typeface="+mn-cs"/>
                </a:rPr>
                <a:t>码</a:t>
              </a:r>
              <a:br/>
              <a:r>
                <a:rPr lang="zh-CN" sz="820" dirty="0">
                  <a:solidFill>
                    <a:srgbClr val="3D241F"/>
                  </a:solidFill>
                  <a:latin typeface="+mn-lt"/>
                  <a:ea typeface="+mn-ea"/>
                  <a:cs typeface="+mn-cs"/>
                </a:rPr>
                <a:t>设</a:t>
              </a:r>
              <a:br/>
              <a:r>
                <a:rPr lang="zh-CN" sz="820" dirty="0">
                  <a:solidFill>
                    <a:srgbClr val="3D241F"/>
                  </a:solidFill>
                  <a:latin typeface="+mn-lt"/>
                  <a:ea typeface="+mn-ea"/>
                  <a:cs typeface="+mn-cs"/>
                </a:rPr>
                <a:t>备</a:t>
              </a:r>
              <a:br/>
              <a:r>
                <a:rPr lang="zh-CN" sz="820" dirty="0">
                  <a:solidFill>
                    <a:srgbClr val="3D241F"/>
                  </a:solidFill>
                  <a:latin typeface="+mn-lt"/>
                  <a:ea typeface="+mn-ea"/>
                  <a:cs typeface="+mn-cs"/>
                </a:rPr>
                <a:t>管</a:t>
              </a:r>
              <a:br/>
              <a:r>
                <a:rPr lang="zh-CN" sz="820" dirty="0">
                  <a:solidFill>
                    <a:srgbClr val="3D241F"/>
                  </a:solidFill>
                  <a:latin typeface="+mn-lt"/>
                  <a:ea typeface="+mn-ea"/>
                  <a:cs typeface="+mn-cs"/>
                </a:rPr>
                <a:t>理</a:t>
              </a:r>
            </a:p>
          </p:txBody>
        </p:sp>
      </p:grpSp>
      <p:grpSp>
        <p:nvGrpSpPr>
          <p:cNvPr id="189" name="row-identity-access"/>
          <p:cNvGrpSpPr/>
          <p:nvPr/>
        </p:nvGrpSpPr>
        <p:grpSpPr>
          <a:xfrm>
            <a:off x="1600200" y="3524250"/>
            <a:ext cx="8458200" cy="1241107"/>
            <a:chOff x="1600200" y="3524250"/>
            <a:chExt cx="8458200" cy="1241107"/>
          </a:xfrm>
        </p:grpSpPr>
        <p:sp>
          <p:nvSpPr>
            <p:cNvPr id="151" name="Rectangle 151"/>
            <p:cNvSpPr/>
            <p:nvPr/>
          </p:nvSpPr>
          <p:spPr>
            <a:xfrm>
              <a:off x="1600200" y="3524250"/>
              <a:ext cx="2781300" cy="247650"/>
            </a:xfrm>
            <a:prstGeom prst="roundRect">
              <a:avLst>
                <a:gd name="adj" fmla="val 15385"/>
              </a:avLst>
            </a:prstGeom>
            <a:gradFill>
              <a:gsLst>
                <a:gs pos="0">
                  <a:srgbClr val="FB684A"/>
                </a:gs>
                <a:gs pos="100000">
                  <a:srgbClr val="FA421D"/>
                </a:gs>
              </a:gsLst>
              <a:lin ang="5400000" scaled="1"/>
            </a:gradFill>
            <a:ln>
              <a:noFill/>
            </a:ln>
          </p:spPr>
        </p:sp>
        <p:sp>
          <p:nvSpPr>
            <p:cNvPr id="152" name="TextBox 152"/>
            <p:cNvSpPr txBox="1"/>
            <p:nvPr/>
          </p:nvSpPr>
          <p:spPr>
            <a:xfrm>
              <a:off x="2828555" y="3590449"/>
              <a:ext cx="324591"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IAM​</a:t>
              </a:r>
            </a:p>
          </p:txBody>
        </p:sp>
        <p:sp>
          <p:nvSpPr>
            <p:cNvPr id="153" name="Rectangle 153"/>
            <p:cNvSpPr/>
            <p:nvPr/>
          </p:nvSpPr>
          <p:spPr>
            <a:xfrm>
              <a:off x="1600200" y="3771900"/>
              <a:ext cx="2781300" cy="704850"/>
            </a:xfrm>
            <a:prstGeom prst="roundRect">
              <a:avLst>
                <a:gd name="adj" fmla="val 5405"/>
              </a:avLst>
            </a:prstGeom>
            <a:solidFill>
              <a:srgbClr val="EDF4FE"/>
            </a:solidFill>
            <a:ln>
              <a:noFill/>
            </a:ln>
          </p:spPr>
        </p:sp>
        <p:sp>
          <p:nvSpPr>
            <p:cNvPr id="154" name="Rectangle 154"/>
            <p:cNvSpPr/>
            <p:nvPr/>
          </p:nvSpPr>
          <p:spPr>
            <a:xfrm>
              <a:off x="1695450" y="3829050"/>
              <a:ext cx="1276350" cy="190500"/>
            </a:xfrm>
            <a:prstGeom prst="roundRect">
              <a:avLst>
                <a:gd name="adj" fmla="val 15000"/>
              </a:avLst>
            </a:prstGeom>
            <a:solidFill>
              <a:srgbClr val="FFFFFF"/>
            </a:solidFill>
            <a:ln>
              <a:noFill/>
            </a:ln>
          </p:spPr>
        </p:sp>
        <p:sp>
          <p:nvSpPr>
            <p:cNvPr id="155" name="TextBox 155"/>
            <p:cNvSpPr txBox="1"/>
            <p:nvPr/>
          </p:nvSpPr>
          <p:spPr>
            <a:xfrm>
              <a:off x="1997697" y="387334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统一身份中心</a:t>
              </a:r>
            </a:p>
          </p:txBody>
        </p:sp>
        <p:sp>
          <p:nvSpPr>
            <p:cNvPr id="156" name="Rectangle 156"/>
            <p:cNvSpPr/>
            <p:nvPr/>
          </p:nvSpPr>
          <p:spPr>
            <a:xfrm>
              <a:off x="3048000" y="3829050"/>
              <a:ext cx="1257300" cy="190500"/>
            </a:xfrm>
            <a:prstGeom prst="roundRect">
              <a:avLst>
                <a:gd name="adj" fmla="val 15000"/>
              </a:avLst>
            </a:prstGeom>
            <a:solidFill>
              <a:srgbClr val="FFFFFF"/>
            </a:solidFill>
            <a:ln>
              <a:noFill/>
            </a:ln>
          </p:spPr>
        </p:sp>
        <p:sp>
          <p:nvSpPr>
            <p:cNvPr id="157" name="TextBox 157"/>
            <p:cNvSpPr txBox="1"/>
            <p:nvPr/>
          </p:nvSpPr>
          <p:spPr>
            <a:xfrm>
              <a:off x="3230334" y="3873341"/>
              <a:ext cx="892632"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统一身份认证平台</a:t>
              </a:r>
            </a:p>
          </p:txBody>
        </p:sp>
        <p:sp>
          <p:nvSpPr>
            <p:cNvPr id="158" name="Rectangle 158"/>
            <p:cNvSpPr/>
            <p:nvPr/>
          </p:nvSpPr>
          <p:spPr>
            <a:xfrm>
              <a:off x="1695450" y="4152900"/>
              <a:ext cx="1276350" cy="190500"/>
            </a:xfrm>
            <a:prstGeom prst="roundRect">
              <a:avLst>
                <a:gd name="adj" fmla="val 15000"/>
              </a:avLst>
            </a:prstGeom>
            <a:solidFill>
              <a:srgbClr val="FFFFFF"/>
            </a:solidFill>
            <a:ln>
              <a:noFill/>
            </a:ln>
          </p:spPr>
        </p:sp>
        <p:sp>
          <p:nvSpPr>
            <p:cNvPr id="159" name="TextBox 159"/>
            <p:cNvSpPr txBox="1"/>
            <p:nvPr/>
          </p:nvSpPr>
          <p:spPr>
            <a:xfrm>
              <a:off x="1997697" y="419719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统一权限中心</a:t>
              </a:r>
            </a:p>
          </p:txBody>
        </p:sp>
        <p:sp>
          <p:nvSpPr>
            <p:cNvPr id="160" name="Rectangle 160"/>
            <p:cNvSpPr/>
            <p:nvPr/>
          </p:nvSpPr>
          <p:spPr>
            <a:xfrm>
              <a:off x="3048000" y="4152900"/>
              <a:ext cx="1257300" cy="190500"/>
            </a:xfrm>
            <a:prstGeom prst="roundRect">
              <a:avLst>
                <a:gd name="adj" fmla="val 15000"/>
              </a:avLst>
            </a:prstGeom>
            <a:solidFill>
              <a:srgbClr val="FFFFFF"/>
            </a:solidFill>
            <a:ln>
              <a:noFill/>
            </a:ln>
          </p:spPr>
        </p:sp>
        <p:sp>
          <p:nvSpPr>
            <p:cNvPr id="161" name="TextBox 161"/>
            <p:cNvSpPr txBox="1"/>
            <p:nvPr/>
          </p:nvSpPr>
          <p:spPr>
            <a:xfrm>
              <a:off x="3340722" y="419719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安全审计中心</a:t>
              </a:r>
            </a:p>
          </p:txBody>
        </p:sp>
        <p:sp>
          <p:nvSpPr>
            <p:cNvPr id="162" name="Rectangle 162"/>
            <p:cNvSpPr/>
            <p:nvPr/>
          </p:nvSpPr>
          <p:spPr>
            <a:xfrm>
              <a:off x="4495800" y="3524250"/>
              <a:ext cx="1600200" cy="247650"/>
            </a:xfrm>
            <a:prstGeom prst="roundRect">
              <a:avLst>
                <a:gd name="adj" fmla="val 15385"/>
              </a:avLst>
            </a:prstGeom>
            <a:gradFill>
              <a:gsLst>
                <a:gs pos="0">
                  <a:srgbClr val="FB684A"/>
                </a:gs>
                <a:gs pos="100000">
                  <a:srgbClr val="FA421D"/>
                </a:gs>
              </a:gsLst>
              <a:lin ang="5400000" scaled="1"/>
            </a:gradFill>
            <a:ln>
              <a:noFill/>
            </a:ln>
          </p:spPr>
        </p:sp>
        <p:sp>
          <p:nvSpPr>
            <p:cNvPr id="163" name="TextBox 163"/>
            <p:cNvSpPr txBox="1"/>
            <p:nvPr/>
          </p:nvSpPr>
          <p:spPr>
            <a:xfrm>
              <a:off x="5027092" y="35904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安全大脑</a:t>
              </a:r>
            </a:p>
          </p:txBody>
        </p:sp>
        <p:sp>
          <p:nvSpPr>
            <p:cNvPr id="164" name="Rectangle 164"/>
            <p:cNvSpPr/>
            <p:nvPr/>
          </p:nvSpPr>
          <p:spPr>
            <a:xfrm>
              <a:off x="4495800" y="3771900"/>
              <a:ext cx="1600200" cy="704850"/>
            </a:xfrm>
            <a:prstGeom prst="roundRect">
              <a:avLst>
                <a:gd name="adj" fmla="val 5405"/>
              </a:avLst>
            </a:prstGeom>
            <a:solidFill>
              <a:srgbClr val="EDF4FE"/>
            </a:solidFill>
            <a:ln>
              <a:noFill/>
            </a:ln>
          </p:spPr>
        </p:sp>
        <p:sp>
          <p:nvSpPr>
            <p:cNvPr id="165" name="Rectangle 165"/>
            <p:cNvSpPr/>
            <p:nvPr/>
          </p:nvSpPr>
          <p:spPr>
            <a:xfrm>
              <a:off x="4591050" y="3810000"/>
              <a:ext cx="1409700" cy="190500"/>
            </a:xfrm>
            <a:prstGeom prst="roundRect">
              <a:avLst>
                <a:gd name="adj" fmla="val 15000"/>
              </a:avLst>
            </a:prstGeom>
            <a:solidFill>
              <a:srgbClr val="FFFFFF"/>
            </a:solidFill>
            <a:ln>
              <a:noFill/>
            </a:ln>
          </p:spPr>
        </p:sp>
        <p:sp>
          <p:nvSpPr>
            <p:cNvPr id="166" name="TextBox 166"/>
            <p:cNvSpPr txBox="1"/>
            <p:nvPr/>
          </p:nvSpPr>
          <p:spPr>
            <a:xfrm>
              <a:off x="4959972" y="385429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安全控制中心</a:t>
              </a:r>
            </a:p>
          </p:txBody>
        </p:sp>
        <p:sp>
          <p:nvSpPr>
            <p:cNvPr id="167" name="Rectangle 167"/>
            <p:cNvSpPr/>
            <p:nvPr/>
          </p:nvSpPr>
          <p:spPr>
            <a:xfrm>
              <a:off x="4591050" y="4038600"/>
              <a:ext cx="1409700" cy="190500"/>
            </a:xfrm>
            <a:prstGeom prst="roundRect">
              <a:avLst>
                <a:gd name="adj" fmla="val 15000"/>
              </a:avLst>
            </a:prstGeom>
            <a:solidFill>
              <a:srgbClr val="FFFFFF"/>
            </a:solidFill>
            <a:ln>
              <a:noFill/>
            </a:ln>
          </p:spPr>
        </p:sp>
        <p:sp>
          <p:nvSpPr>
            <p:cNvPr id="168" name="TextBox 168"/>
            <p:cNvSpPr txBox="1"/>
            <p:nvPr/>
          </p:nvSpPr>
          <p:spPr>
            <a:xfrm>
              <a:off x="4904778" y="4082891"/>
              <a:ext cx="782244"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环境监测与响应</a:t>
              </a:r>
            </a:p>
          </p:txBody>
        </p:sp>
        <p:sp>
          <p:nvSpPr>
            <p:cNvPr id="169" name="Rectangle 169"/>
            <p:cNvSpPr/>
            <p:nvPr/>
          </p:nvSpPr>
          <p:spPr>
            <a:xfrm>
              <a:off x="4591050" y="4267200"/>
              <a:ext cx="1409700" cy="190500"/>
            </a:xfrm>
            <a:prstGeom prst="roundRect">
              <a:avLst>
                <a:gd name="adj" fmla="val 15000"/>
              </a:avLst>
            </a:prstGeom>
            <a:solidFill>
              <a:srgbClr val="FFFFFF"/>
            </a:solidFill>
            <a:ln>
              <a:noFill/>
            </a:ln>
          </p:spPr>
        </p:sp>
        <p:sp>
          <p:nvSpPr>
            <p:cNvPr id="170" name="TextBox 170"/>
            <p:cNvSpPr txBox="1"/>
            <p:nvPr/>
          </p:nvSpPr>
          <p:spPr>
            <a:xfrm>
              <a:off x="4849584" y="4311491"/>
              <a:ext cx="892632"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用户实体行为分析</a:t>
              </a:r>
            </a:p>
          </p:txBody>
        </p:sp>
        <p:sp>
          <p:nvSpPr>
            <p:cNvPr id="171" name="Rectangle 171"/>
            <p:cNvSpPr/>
            <p:nvPr/>
          </p:nvSpPr>
          <p:spPr>
            <a:xfrm>
              <a:off x="6210300" y="3524250"/>
              <a:ext cx="1600200" cy="247650"/>
            </a:xfrm>
            <a:prstGeom prst="roundRect">
              <a:avLst>
                <a:gd name="adj" fmla="val 15385"/>
              </a:avLst>
            </a:prstGeom>
            <a:gradFill>
              <a:gsLst>
                <a:gs pos="0">
                  <a:srgbClr val="FB684A"/>
                </a:gs>
                <a:gs pos="100000">
                  <a:srgbClr val="FA421D"/>
                </a:gs>
              </a:gsLst>
              <a:lin ang="5400000" scaled="1"/>
            </a:gradFill>
            <a:ln>
              <a:noFill/>
            </a:ln>
          </p:spPr>
        </p:sp>
        <p:sp>
          <p:nvSpPr>
            <p:cNvPr id="172" name="TextBox 172"/>
            <p:cNvSpPr txBox="1"/>
            <p:nvPr/>
          </p:nvSpPr>
          <p:spPr>
            <a:xfrm>
              <a:off x="6741592" y="35904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终端安全</a:t>
              </a:r>
            </a:p>
          </p:txBody>
        </p:sp>
        <p:sp>
          <p:nvSpPr>
            <p:cNvPr id="173" name="Rectangle 173"/>
            <p:cNvSpPr/>
            <p:nvPr/>
          </p:nvSpPr>
          <p:spPr>
            <a:xfrm>
              <a:off x="6210300" y="3771900"/>
              <a:ext cx="1600200" cy="704850"/>
            </a:xfrm>
            <a:prstGeom prst="roundRect">
              <a:avLst>
                <a:gd name="adj" fmla="val 5405"/>
              </a:avLst>
            </a:prstGeom>
            <a:solidFill>
              <a:srgbClr val="EDF4FE"/>
            </a:solidFill>
            <a:ln>
              <a:noFill/>
            </a:ln>
          </p:spPr>
        </p:sp>
        <p:sp>
          <p:nvSpPr>
            <p:cNvPr id="174" name="Rectangle 174"/>
            <p:cNvSpPr/>
            <p:nvPr/>
          </p:nvSpPr>
          <p:spPr>
            <a:xfrm>
              <a:off x="6305550" y="3810000"/>
              <a:ext cx="1409700" cy="190500"/>
            </a:xfrm>
            <a:prstGeom prst="roundRect">
              <a:avLst>
                <a:gd name="adj" fmla="val 15000"/>
              </a:avLst>
            </a:prstGeom>
            <a:solidFill>
              <a:srgbClr val="FFFFFF"/>
            </a:solidFill>
            <a:ln>
              <a:noFill/>
            </a:ln>
          </p:spPr>
        </p:sp>
        <p:sp>
          <p:nvSpPr>
            <p:cNvPr id="175" name="TextBox 175"/>
            <p:cNvSpPr txBox="1"/>
            <p:nvPr/>
          </p:nvSpPr>
          <p:spPr>
            <a:xfrm>
              <a:off x="6564084" y="3854291"/>
              <a:ext cx="892632"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终端安全登录系统</a:t>
              </a:r>
            </a:p>
          </p:txBody>
        </p:sp>
        <p:sp>
          <p:nvSpPr>
            <p:cNvPr id="176" name="Rectangle 176"/>
            <p:cNvSpPr/>
            <p:nvPr/>
          </p:nvSpPr>
          <p:spPr>
            <a:xfrm>
              <a:off x="6305550" y="4038600"/>
              <a:ext cx="1409700" cy="190500"/>
            </a:xfrm>
            <a:prstGeom prst="roundRect">
              <a:avLst>
                <a:gd name="adj" fmla="val 15000"/>
              </a:avLst>
            </a:prstGeom>
            <a:solidFill>
              <a:srgbClr val="FFFFFF"/>
            </a:solidFill>
            <a:ln>
              <a:noFill/>
            </a:ln>
          </p:spPr>
        </p:sp>
        <p:sp>
          <p:nvSpPr>
            <p:cNvPr id="177" name="TextBox 177"/>
            <p:cNvSpPr txBox="1"/>
            <p:nvPr/>
          </p:nvSpPr>
          <p:spPr>
            <a:xfrm>
              <a:off x="6579965" y="4082891"/>
              <a:ext cx="860870"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PC终端安全模块​</a:t>
              </a:r>
            </a:p>
          </p:txBody>
        </p:sp>
        <p:sp>
          <p:nvSpPr>
            <p:cNvPr id="178" name="Rectangle 178"/>
            <p:cNvSpPr/>
            <p:nvPr/>
          </p:nvSpPr>
          <p:spPr>
            <a:xfrm>
              <a:off x="6305550" y="4267200"/>
              <a:ext cx="1409700" cy="190500"/>
            </a:xfrm>
            <a:prstGeom prst="roundRect">
              <a:avLst>
                <a:gd name="adj" fmla="val 15000"/>
              </a:avLst>
            </a:prstGeom>
            <a:solidFill>
              <a:srgbClr val="FFFFFF"/>
            </a:solidFill>
            <a:ln>
              <a:noFill/>
            </a:ln>
          </p:spPr>
        </p:sp>
        <p:sp>
          <p:nvSpPr>
            <p:cNvPr id="179" name="TextBox 179"/>
            <p:cNvSpPr txBox="1"/>
            <p:nvPr/>
          </p:nvSpPr>
          <p:spPr>
            <a:xfrm>
              <a:off x="6564084" y="4311491"/>
              <a:ext cx="892632"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移动终端安全模块</a:t>
              </a:r>
            </a:p>
          </p:txBody>
        </p:sp>
        <p:sp>
          <p:nvSpPr>
            <p:cNvPr id="180" name="Rectangle 180"/>
            <p:cNvSpPr/>
            <p:nvPr/>
          </p:nvSpPr>
          <p:spPr>
            <a:xfrm>
              <a:off x="7924800" y="3524250"/>
              <a:ext cx="2133600" cy="247650"/>
            </a:xfrm>
            <a:prstGeom prst="roundRect">
              <a:avLst>
                <a:gd name="adj" fmla="val 15385"/>
              </a:avLst>
            </a:prstGeom>
            <a:gradFill>
              <a:gsLst>
                <a:gs pos="0">
                  <a:srgbClr val="FB684A"/>
                </a:gs>
                <a:gs pos="100000">
                  <a:srgbClr val="FA421D"/>
                </a:gs>
              </a:gsLst>
              <a:lin ang="5400000" scaled="1"/>
            </a:gradFill>
            <a:ln>
              <a:noFill/>
            </a:ln>
          </p:spPr>
        </p:sp>
        <p:sp>
          <p:nvSpPr>
            <p:cNvPr id="181" name="TextBox 181"/>
            <p:cNvSpPr txBox="1"/>
            <p:nvPr/>
          </p:nvSpPr>
          <p:spPr>
            <a:xfrm>
              <a:off x="8590864" y="359044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安全访问代理</a:t>
              </a:r>
            </a:p>
          </p:txBody>
        </p:sp>
        <p:sp>
          <p:nvSpPr>
            <p:cNvPr id="182" name="Rectangle 182"/>
            <p:cNvSpPr/>
            <p:nvPr/>
          </p:nvSpPr>
          <p:spPr>
            <a:xfrm>
              <a:off x="7924800" y="3771900"/>
              <a:ext cx="2133600" cy="704850"/>
            </a:xfrm>
            <a:prstGeom prst="roundRect">
              <a:avLst>
                <a:gd name="adj" fmla="val 5405"/>
              </a:avLst>
            </a:prstGeom>
            <a:solidFill>
              <a:srgbClr val="EDF4FE"/>
            </a:solidFill>
            <a:ln>
              <a:noFill/>
            </a:ln>
          </p:spPr>
        </p:sp>
        <p:sp>
          <p:nvSpPr>
            <p:cNvPr id="183" name="Rectangle 183"/>
            <p:cNvSpPr/>
            <p:nvPr/>
          </p:nvSpPr>
          <p:spPr>
            <a:xfrm>
              <a:off x="8020050" y="3829050"/>
              <a:ext cx="1943100" cy="190500"/>
            </a:xfrm>
            <a:prstGeom prst="roundRect">
              <a:avLst>
                <a:gd name="adj" fmla="val 15000"/>
              </a:avLst>
            </a:prstGeom>
            <a:solidFill>
              <a:srgbClr val="FFFFFF"/>
            </a:solidFill>
            <a:ln>
              <a:noFill/>
            </a:ln>
          </p:spPr>
        </p:sp>
        <p:sp>
          <p:nvSpPr>
            <p:cNvPr id="184" name="TextBox 184"/>
            <p:cNvSpPr txBox="1"/>
            <p:nvPr/>
          </p:nvSpPr>
          <p:spPr>
            <a:xfrm>
              <a:off x="8655672" y="3873341"/>
              <a:ext cx="671855"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可信访问网关</a:t>
              </a:r>
            </a:p>
          </p:txBody>
        </p:sp>
        <p:sp>
          <p:nvSpPr>
            <p:cNvPr id="185" name="Rectangle 185"/>
            <p:cNvSpPr/>
            <p:nvPr/>
          </p:nvSpPr>
          <p:spPr>
            <a:xfrm>
              <a:off x="8020050" y="4152900"/>
              <a:ext cx="1943100" cy="190500"/>
            </a:xfrm>
            <a:prstGeom prst="roundRect">
              <a:avLst>
                <a:gd name="adj" fmla="val 15000"/>
              </a:avLst>
            </a:prstGeom>
            <a:solidFill>
              <a:srgbClr val="FFFFFF"/>
            </a:solidFill>
            <a:ln>
              <a:noFill/>
            </a:ln>
          </p:spPr>
        </p:sp>
        <p:sp>
          <p:nvSpPr>
            <p:cNvPr id="186" name="TextBox 186"/>
            <p:cNvSpPr txBox="1"/>
            <p:nvPr/>
          </p:nvSpPr>
          <p:spPr>
            <a:xfrm>
              <a:off x="8654058" y="4197191"/>
              <a:ext cx="675084" cy="161925"/>
            </a:xfrm>
            <a:prstGeom prst="rect">
              <a:avLst/>
            </a:prstGeom>
            <a:noFill/>
            <a:ln>
              <a:noFill/>
            </a:ln>
          </p:spPr>
          <p:txBody>
            <a:bodyPr wrap="none" lIns="0" tIns="0" rIns="0" bIns="0" anchor="t" anchorCtr="0">
              <a:spAutoFit/>
            </a:bodyPr>
            <a:lstStyle/>
            <a:p>
              <a:pPr algn="ctr"/>
              <a:r>
                <a:rPr lang="zh-CN" sz="820" dirty="0">
                  <a:solidFill>
                    <a:srgbClr val="3D241F"/>
                  </a:solidFill>
                  <a:latin typeface="+mn-lt"/>
                  <a:ea typeface="+mn-ea"/>
                  <a:cs typeface="+mn-cs"/>
                </a:rPr>
                <a:t>API代理网关​</a:t>
              </a:r>
            </a:p>
          </p:txBody>
        </p:sp>
        <p:sp>
          <p:nvSpPr>
            <p:cNvPr id="187" name="Freeform 187"/>
            <p:cNvSpPr/>
            <p:nvPr/>
          </p:nvSpPr>
          <p:spPr>
            <a:xfrm>
              <a:off x="1676400" y="4552950"/>
              <a:ext cx="8343900" cy="190500"/>
            </a:xfrm>
            <a:prstGeom prst="leftRightArrow">
              <a:avLst/>
            </a:prstGeom>
            <a:solidFill>
              <a:srgbClr val="FBAD9D"/>
            </a:solidFill>
            <a:ln>
              <a:noFill/>
            </a:ln>
          </p:spPr>
        </p:sp>
        <p:sp>
          <p:nvSpPr>
            <p:cNvPr id="188" name="TextBox 188"/>
            <p:cNvSpPr txBox="1"/>
            <p:nvPr/>
          </p:nvSpPr>
          <p:spPr>
            <a:xfrm>
              <a:off x="5623686" y="4589145"/>
              <a:ext cx="44932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零 信 任</a:t>
              </a:r>
            </a:p>
          </p:txBody>
        </p:sp>
      </p:grpSp>
      <p:grpSp>
        <p:nvGrpSpPr>
          <p:cNvPr id="221" name="row-pki"/>
          <p:cNvGrpSpPr/>
          <p:nvPr/>
        </p:nvGrpSpPr>
        <p:grpSpPr>
          <a:xfrm>
            <a:off x="1600200" y="4933950"/>
            <a:ext cx="8458200" cy="895350"/>
            <a:chOff x="1600200" y="4933950"/>
            <a:chExt cx="8458200" cy="895350"/>
          </a:xfrm>
        </p:grpSpPr>
        <p:sp>
          <p:nvSpPr>
            <p:cNvPr id="190" name="Rectangle 190"/>
            <p:cNvSpPr/>
            <p:nvPr/>
          </p:nvSpPr>
          <p:spPr>
            <a:xfrm>
              <a:off x="1600200" y="4933950"/>
              <a:ext cx="6781800" cy="247650"/>
            </a:xfrm>
            <a:prstGeom prst="roundRect">
              <a:avLst>
                <a:gd name="adj" fmla="val 15385"/>
              </a:avLst>
            </a:prstGeom>
            <a:gradFill>
              <a:gsLst>
                <a:gs pos="0">
                  <a:srgbClr val="FB684A"/>
                </a:gs>
                <a:gs pos="100000">
                  <a:srgbClr val="FA421D"/>
                </a:gs>
              </a:gsLst>
              <a:lin ang="5400000" scaled="1"/>
            </a:gradFill>
            <a:ln>
              <a:noFill/>
            </a:ln>
          </p:spPr>
        </p:sp>
        <p:sp>
          <p:nvSpPr>
            <p:cNvPr id="191" name="TextBox 191"/>
            <p:cNvSpPr txBox="1"/>
            <p:nvPr/>
          </p:nvSpPr>
          <p:spPr>
            <a:xfrm>
              <a:off x="4317887" y="5000149"/>
              <a:ext cx="134642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公钥基础设施（PKI）​</a:t>
              </a:r>
            </a:p>
          </p:txBody>
        </p:sp>
        <p:sp>
          <p:nvSpPr>
            <p:cNvPr id="192" name="Rectangle 192"/>
            <p:cNvSpPr/>
            <p:nvPr/>
          </p:nvSpPr>
          <p:spPr>
            <a:xfrm>
              <a:off x="1600200" y="5181600"/>
              <a:ext cx="6781800" cy="647700"/>
            </a:xfrm>
            <a:prstGeom prst="roundRect">
              <a:avLst>
                <a:gd name="adj" fmla="val 5882"/>
              </a:avLst>
            </a:prstGeom>
            <a:solidFill>
              <a:srgbClr val="EDF4FE"/>
            </a:solidFill>
            <a:ln>
              <a:noFill/>
            </a:ln>
          </p:spPr>
        </p:sp>
        <p:sp>
          <p:nvSpPr>
            <p:cNvPr id="193" name="Rectangle 193"/>
            <p:cNvSpPr/>
            <p:nvPr/>
          </p:nvSpPr>
          <p:spPr>
            <a:xfrm>
              <a:off x="1695450" y="5229225"/>
              <a:ext cx="1047750" cy="190500"/>
            </a:xfrm>
            <a:prstGeom prst="roundRect">
              <a:avLst>
                <a:gd name="adj" fmla="val 15000"/>
              </a:avLst>
            </a:prstGeom>
            <a:solidFill>
              <a:srgbClr val="FFFFFF"/>
            </a:solidFill>
            <a:ln>
              <a:noFill/>
            </a:ln>
          </p:spPr>
        </p:sp>
        <p:sp>
          <p:nvSpPr>
            <p:cNvPr id="194" name="TextBox 194"/>
            <p:cNvSpPr txBox="1"/>
            <p:nvPr/>
          </p:nvSpPr>
          <p:spPr>
            <a:xfrm>
              <a:off x="1789163" y="5277564"/>
              <a:ext cx="860323" cy="154781"/>
            </a:xfrm>
            <a:prstGeom prst="rect">
              <a:avLst/>
            </a:prstGeom>
            <a:noFill/>
            <a:ln>
              <a:noFill/>
            </a:ln>
          </p:spPr>
          <p:txBody>
            <a:bodyPr wrap="none" lIns="0" tIns="0" rIns="0" bIns="0" anchor="t" anchorCtr="0">
              <a:spAutoFit/>
            </a:bodyPr>
            <a:lstStyle/>
            <a:p>
              <a:pPr algn="ctr"/>
              <a:r>
                <a:rPr lang="zh-CN" sz="790" dirty="0">
                  <a:solidFill>
                    <a:srgbClr val="3D241F"/>
                  </a:solidFill>
                  <a:latin typeface="+mn-lt"/>
                  <a:ea typeface="+mn-ea"/>
                  <a:cs typeface="+mn-cs"/>
                </a:rPr>
                <a:t>证书签发管理系统</a:t>
              </a:r>
            </a:p>
          </p:txBody>
        </p:sp>
        <p:sp>
          <p:nvSpPr>
            <p:cNvPr id="195" name="Rectangle 195"/>
            <p:cNvSpPr/>
            <p:nvPr/>
          </p:nvSpPr>
          <p:spPr>
            <a:xfrm>
              <a:off x="2819400" y="5229225"/>
              <a:ext cx="1047750" cy="190500"/>
            </a:xfrm>
            <a:prstGeom prst="roundRect">
              <a:avLst>
                <a:gd name="adj" fmla="val 15000"/>
              </a:avLst>
            </a:prstGeom>
            <a:solidFill>
              <a:srgbClr val="FFFFFF"/>
            </a:solidFill>
            <a:ln>
              <a:noFill/>
            </a:ln>
          </p:spPr>
        </p:sp>
        <p:sp>
          <p:nvSpPr>
            <p:cNvPr id="196" name="TextBox 196"/>
            <p:cNvSpPr txBox="1"/>
            <p:nvPr/>
          </p:nvSpPr>
          <p:spPr>
            <a:xfrm>
              <a:off x="2913113" y="5277564"/>
              <a:ext cx="860323" cy="154781"/>
            </a:xfrm>
            <a:prstGeom prst="rect">
              <a:avLst/>
            </a:prstGeom>
            <a:noFill/>
            <a:ln>
              <a:noFill/>
            </a:ln>
          </p:spPr>
          <p:txBody>
            <a:bodyPr wrap="none" lIns="0" tIns="0" rIns="0" bIns="0" anchor="t" anchorCtr="0">
              <a:spAutoFit/>
            </a:bodyPr>
            <a:lstStyle/>
            <a:p>
              <a:pPr algn="ctr"/>
              <a:r>
                <a:rPr lang="zh-CN" sz="790" dirty="0">
                  <a:solidFill>
                    <a:srgbClr val="3D241F"/>
                  </a:solidFill>
                  <a:latin typeface="+mn-lt"/>
                  <a:ea typeface="+mn-ea"/>
                  <a:cs typeface="+mn-cs"/>
                </a:rPr>
                <a:t>证书注册管理系统</a:t>
              </a:r>
            </a:p>
          </p:txBody>
        </p:sp>
        <p:sp>
          <p:nvSpPr>
            <p:cNvPr id="197" name="Rectangle 197"/>
            <p:cNvSpPr/>
            <p:nvPr/>
          </p:nvSpPr>
          <p:spPr>
            <a:xfrm>
              <a:off x="3943350" y="5229225"/>
              <a:ext cx="990600" cy="190500"/>
            </a:xfrm>
            <a:prstGeom prst="roundRect">
              <a:avLst>
                <a:gd name="adj" fmla="val 15000"/>
              </a:avLst>
            </a:prstGeom>
            <a:solidFill>
              <a:srgbClr val="FFFFFF"/>
            </a:solidFill>
            <a:ln>
              <a:noFill/>
            </a:ln>
          </p:spPr>
        </p:sp>
        <p:sp>
          <p:nvSpPr>
            <p:cNvPr id="198" name="TextBox 198"/>
            <p:cNvSpPr txBox="1"/>
            <p:nvPr/>
          </p:nvSpPr>
          <p:spPr>
            <a:xfrm>
              <a:off x="4114838" y="5277564"/>
              <a:ext cx="647624" cy="154781"/>
            </a:xfrm>
            <a:prstGeom prst="rect">
              <a:avLst/>
            </a:prstGeom>
            <a:noFill/>
            <a:ln>
              <a:noFill/>
            </a:ln>
          </p:spPr>
          <p:txBody>
            <a:bodyPr wrap="none" lIns="0" tIns="0" rIns="0" bIns="0" anchor="t" anchorCtr="0">
              <a:spAutoFit/>
            </a:bodyPr>
            <a:lstStyle/>
            <a:p>
              <a:pPr algn="ctr"/>
              <a:r>
                <a:rPr lang="zh-CN" sz="790" dirty="0">
                  <a:solidFill>
                    <a:srgbClr val="3D241F"/>
                  </a:solidFill>
                  <a:latin typeface="+mn-lt"/>
                  <a:ea typeface="+mn-ea"/>
                  <a:cs typeface="+mn-cs"/>
                </a:rPr>
                <a:t>密钥管理系统</a:t>
              </a:r>
            </a:p>
          </p:txBody>
        </p:sp>
        <p:sp>
          <p:nvSpPr>
            <p:cNvPr id="199" name="Rectangle 199"/>
            <p:cNvSpPr/>
            <p:nvPr/>
          </p:nvSpPr>
          <p:spPr>
            <a:xfrm>
              <a:off x="1695450" y="5553075"/>
              <a:ext cx="1047750" cy="190500"/>
            </a:xfrm>
            <a:prstGeom prst="roundRect">
              <a:avLst>
                <a:gd name="adj" fmla="val 15000"/>
              </a:avLst>
            </a:prstGeom>
            <a:solidFill>
              <a:srgbClr val="FFFFFF"/>
            </a:solidFill>
            <a:ln>
              <a:noFill/>
            </a:ln>
          </p:spPr>
        </p:sp>
        <p:sp>
          <p:nvSpPr>
            <p:cNvPr id="200" name="TextBox 200"/>
            <p:cNvSpPr txBox="1"/>
            <p:nvPr/>
          </p:nvSpPr>
          <p:spPr>
            <a:xfrm>
              <a:off x="1895513" y="5601414"/>
              <a:ext cx="647624" cy="154781"/>
            </a:xfrm>
            <a:prstGeom prst="rect">
              <a:avLst/>
            </a:prstGeom>
            <a:noFill/>
            <a:ln>
              <a:noFill/>
            </a:ln>
          </p:spPr>
          <p:txBody>
            <a:bodyPr wrap="none" lIns="0" tIns="0" rIns="0" bIns="0" anchor="t" anchorCtr="0">
              <a:spAutoFit/>
            </a:bodyPr>
            <a:lstStyle/>
            <a:p>
              <a:pPr algn="ctr"/>
              <a:r>
                <a:rPr lang="zh-CN" sz="790" dirty="0">
                  <a:solidFill>
                    <a:srgbClr val="3D241F"/>
                  </a:solidFill>
                  <a:latin typeface="+mn-lt"/>
                  <a:ea typeface="+mn-ea"/>
                  <a:cs typeface="+mn-cs"/>
                </a:rPr>
                <a:t>证书注册中心</a:t>
              </a:r>
            </a:p>
          </p:txBody>
        </p:sp>
        <p:sp>
          <p:nvSpPr>
            <p:cNvPr id="201" name="Rectangle 201"/>
            <p:cNvSpPr/>
            <p:nvPr/>
          </p:nvSpPr>
          <p:spPr>
            <a:xfrm>
              <a:off x="2819400" y="5553075"/>
              <a:ext cx="1047750" cy="190500"/>
            </a:xfrm>
            <a:prstGeom prst="roundRect">
              <a:avLst>
                <a:gd name="adj" fmla="val 15000"/>
              </a:avLst>
            </a:prstGeom>
            <a:solidFill>
              <a:srgbClr val="FFFFFF"/>
            </a:solidFill>
            <a:ln>
              <a:noFill/>
            </a:ln>
          </p:spPr>
        </p:sp>
        <p:sp>
          <p:nvSpPr>
            <p:cNvPr id="202" name="TextBox 202"/>
            <p:cNvSpPr txBox="1"/>
            <p:nvPr/>
          </p:nvSpPr>
          <p:spPr>
            <a:xfrm>
              <a:off x="2913113" y="5601414"/>
              <a:ext cx="860323" cy="154781"/>
            </a:xfrm>
            <a:prstGeom prst="rect">
              <a:avLst/>
            </a:prstGeom>
            <a:noFill/>
            <a:ln>
              <a:noFill/>
            </a:ln>
          </p:spPr>
          <p:txBody>
            <a:bodyPr wrap="none" lIns="0" tIns="0" rIns="0" bIns="0" anchor="t" anchorCtr="0">
              <a:spAutoFit/>
            </a:bodyPr>
            <a:lstStyle/>
            <a:p>
              <a:pPr algn="ctr"/>
              <a:r>
                <a:rPr lang="zh-CN" sz="790" dirty="0">
                  <a:solidFill>
                    <a:srgbClr val="3D241F"/>
                  </a:solidFill>
                  <a:latin typeface="+mn-lt"/>
                  <a:ea typeface="+mn-ea"/>
                  <a:cs typeface="+mn-cs"/>
                </a:rPr>
                <a:t>证书自助服务系统</a:t>
              </a:r>
            </a:p>
          </p:txBody>
        </p:sp>
        <p:sp>
          <p:nvSpPr>
            <p:cNvPr id="203" name="Rectangle 203"/>
            <p:cNvSpPr/>
            <p:nvPr/>
          </p:nvSpPr>
          <p:spPr>
            <a:xfrm>
              <a:off x="3943350" y="5553075"/>
              <a:ext cx="990600" cy="190500"/>
            </a:xfrm>
            <a:prstGeom prst="roundRect">
              <a:avLst>
                <a:gd name="adj" fmla="val 15000"/>
              </a:avLst>
            </a:prstGeom>
            <a:solidFill>
              <a:srgbClr val="FFFFFF"/>
            </a:solidFill>
            <a:ln>
              <a:noFill/>
            </a:ln>
          </p:spPr>
        </p:sp>
        <p:sp>
          <p:nvSpPr>
            <p:cNvPr id="204" name="TextBox 204"/>
            <p:cNvSpPr txBox="1"/>
            <p:nvPr/>
          </p:nvSpPr>
          <p:spPr>
            <a:xfrm>
              <a:off x="4008488" y="5601414"/>
              <a:ext cx="860323" cy="154781"/>
            </a:xfrm>
            <a:prstGeom prst="rect">
              <a:avLst/>
            </a:prstGeom>
            <a:noFill/>
            <a:ln>
              <a:noFill/>
            </a:ln>
          </p:spPr>
          <p:txBody>
            <a:bodyPr wrap="none" lIns="0" tIns="0" rIns="0" bIns="0" anchor="t" anchorCtr="0">
              <a:spAutoFit/>
            </a:bodyPr>
            <a:lstStyle/>
            <a:p>
              <a:pPr algn="ctr"/>
              <a:r>
                <a:rPr lang="zh-CN" sz="790" dirty="0">
                  <a:solidFill>
                    <a:srgbClr val="3D241F"/>
                  </a:solidFill>
                  <a:latin typeface="+mn-lt"/>
                  <a:ea typeface="+mn-ea"/>
                  <a:cs typeface="+mn-cs"/>
                </a:rPr>
                <a:t>证书状态查询系统</a:t>
              </a:r>
            </a:p>
          </p:txBody>
        </p:sp>
        <p:sp>
          <p:nvSpPr>
            <p:cNvPr id="205" name="Rectangle 205"/>
            <p:cNvSpPr/>
            <p:nvPr/>
          </p:nvSpPr>
          <p:spPr>
            <a:xfrm>
              <a:off x="5048250" y="5229225"/>
              <a:ext cx="952500" cy="514350"/>
            </a:xfrm>
            <a:prstGeom prst="roundRect">
              <a:avLst>
                <a:gd name="adj" fmla="val 5556"/>
              </a:avLst>
            </a:prstGeom>
            <a:solidFill>
              <a:srgbClr val="FFFFFF"/>
            </a:solidFill>
            <a:ln>
              <a:noFill/>
            </a:ln>
          </p:spPr>
        </p:sp>
        <p:sp>
          <p:nvSpPr>
            <p:cNvPr id="206" name="TextBox 206"/>
            <p:cNvSpPr txBox="1"/>
            <p:nvPr/>
          </p:nvSpPr>
          <p:spPr>
            <a:xfrm>
              <a:off x="5268912" y="5372814"/>
              <a:ext cx="511175"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3D241F"/>
                  </a:solidFill>
                  <a:latin typeface="+mn-lt"/>
                  <a:ea typeface="+mn-ea"/>
                  <a:cs typeface="+mn-cs"/>
                </a:rPr>
                <a:t>证书管理开</a:t>
              </a:r>
              <a:br/>
              <a:r>
                <a:rPr lang="zh-CN" sz="790" dirty="0">
                  <a:solidFill>
                    <a:srgbClr val="3D241F"/>
                  </a:solidFill>
                  <a:latin typeface="+mn-lt"/>
                  <a:ea typeface="+mn-ea"/>
                  <a:cs typeface="+mn-cs"/>
                </a:rPr>
                <a:t>发工具包</a:t>
              </a:r>
            </a:p>
          </p:txBody>
        </p:sp>
        <p:sp>
          <p:nvSpPr>
            <p:cNvPr id="207" name="Rectangle 207"/>
            <p:cNvSpPr/>
            <p:nvPr/>
          </p:nvSpPr>
          <p:spPr>
            <a:xfrm>
              <a:off x="6096000" y="5229225"/>
              <a:ext cx="857250" cy="514350"/>
            </a:xfrm>
            <a:prstGeom prst="roundRect">
              <a:avLst>
                <a:gd name="adj" fmla="val 5556"/>
              </a:avLst>
            </a:prstGeom>
            <a:solidFill>
              <a:srgbClr val="FFFFFF"/>
            </a:solidFill>
            <a:ln>
              <a:noFill/>
            </a:ln>
          </p:spPr>
        </p:sp>
        <p:sp>
          <p:nvSpPr>
            <p:cNvPr id="208" name="TextBox 208"/>
            <p:cNvSpPr txBox="1"/>
            <p:nvPr/>
          </p:nvSpPr>
          <p:spPr>
            <a:xfrm>
              <a:off x="6336760" y="5372814"/>
              <a:ext cx="375730"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3D241F"/>
                  </a:solidFill>
                  <a:latin typeface="+mn-lt"/>
                  <a:ea typeface="+mn-ea"/>
                  <a:cs typeface="+mn-cs"/>
                </a:rPr>
                <a:t>一体化</a:t>
              </a:r>
              <a:br/>
              <a:r>
                <a:rPr lang="zh-CN" sz="790" dirty="0">
                  <a:solidFill>
                    <a:srgbClr val="3D241F"/>
                  </a:solidFill>
                  <a:latin typeface="+mn-lt"/>
                  <a:ea typeface="+mn-ea"/>
                  <a:cs typeface="+mn-cs"/>
                </a:rPr>
                <a:t>CA系统​</a:t>
              </a:r>
            </a:p>
          </p:txBody>
        </p:sp>
        <p:sp>
          <p:nvSpPr>
            <p:cNvPr id="209" name="Rectangle 209"/>
            <p:cNvSpPr/>
            <p:nvPr/>
          </p:nvSpPr>
          <p:spPr>
            <a:xfrm>
              <a:off x="7048500" y="5229225"/>
              <a:ext cx="1047750" cy="514350"/>
            </a:xfrm>
            <a:prstGeom prst="roundRect">
              <a:avLst>
                <a:gd name="adj" fmla="val 5556"/>
              </a:avLst>
            </a:prstGeom>
            <a:solidFill>
              <a:srgbClr val="FFFFFF"/>
            </a:solidFill>
            <a:ln>
              <a:noFill/>
            </a:ln>
          </p:spPr>
        </p:sp>
        <p:sp>
          <p:nvSpPr>
            <p:cNvPr id="210" name="TextBox 210"/>
            <p:cNvSpPr txBox="1"/>
            <p:nvPr/>
          </p:nvSpPr>
          <p:spPr>
            <a:xfrm>
              <a:off x="7366952" y="5372814"/>
              <a:ext cx="410845" cy="288131"/>
            </a:xfrm>
            <a:prstGeom prst="rect">
              <a:avLst/>
            </a:prstGeom>
            <a:noFill/>
            <a:ln>
              <a:noFill/>
            </a:ln>
          </p:spPr>
          <p:txBody>
            <a:bodyPr wrap="none" lIns="0" tIns="0" rIns="0" bIns="0" anchor="t" anchorCtr="0">
              <a:spAutoFit/>
            </a:bodyPr>
            <a:lstStyle/>
            <a:p>
              <a:pPr algn="ctr">
                <a:lnSpc>
                  <a:spcPts val="1050"/>
                </a:lnSpc>
              </a:pPr>
              <a:r>
                <a:rPr lang="zh-CN" sz="790" dirty="0">
                  <a:solidFill>
                    <a:srgbClr val="3D241F"/>
                  </a:solidFill>
                  <a:latin typeface="+mn-lt"/>
                  <a:ea typeface="+mn-ea"/>
                  <a:cs typeface="+mn-cs"/>
                </a:rPr>
                <a:t>统一证书</a:t>
              </a:r>
              <a:br/>
              <a:r>
                <a:rPr lang="zh-CN" sz="790" dirty="0">
                  <a:solidFill>
                    <a:srgbClr val="3D241F"/>
                  </a:solidFill>
                  <a:latin typeface="+mn-lt"/>
                  <a:ea typeface="+mn-ea"/>
                  <a:cs typeface="+mn-cs"/>
                </a:rPr>
                <a:t>服务系统</a:t>
              </a:r>
            </a:p>
          </p:txBody>
        </p:sp>
        <p:sp>
          <p:nvSpPr>
            <p:cNvPr id="211" name="Rectangle 211"/>
            <p:cNvSpPr/>
            <p:nvPr/>
          </p:nvSpPr>
          <p:spPr>
            <a:xfrm>
              <a:off x="8496300" y="4933950"/>
              <a:ext cx="762000" cy="247650"/>
            </a:xfrm>
            <a:prstGeom prst="roundRect">
              <a:avLst>
                <a:gd name="adj" fmla="val 15385"/>
              </a:avLst>
            </a:prstGeom>
            <a:gradFill>
              <a:gsLst>
                <a:gs pos="0">
                  <a:srgbClr val="FB684A"/>
                </a:gs>
                <a:gs pos="100000">
                  <a:srgbClr val="FA421D"/>
                </a:gs>
              </a:gsLst>
              <a:lin ang="5400000" scaled="1"/>
            </a:gradFill>
            <a:ln>
              <a:noFill/>
            </a:ln>
          </p:spPr>
        </p:sp>
        <p:sp>
          <p:nvSpPr>
            <p:cNvPr id="212" name="TextBox 212"/>
            <p:cNvSpPr txBox="1"/>
            <p:nvPr/>
          </p:nvSpPr>
          <p:spPr>
            <a:xfrm>
              <a:off x="8630222" y="50082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安全发布</a:t>
              </a:r>
            </a:p>
          </p:txBody>
        </p:sp>
        <p:sp>
          <p:nvSpPr>
            <p:cNvPr id="213" name="Rectangle 213"/>
            <p:cNvSpPr/>
            <p:nvPr/>
          </p:nvSpPr>
          <p:spPr>
            <a:xfrm>
              <a:off x="8496300" y="5181600"/>
              <a:ext cx="762000" cy="647700"/>
            </a:xfrm>
            <a:prstGeom prst="roundRect">
              <a:avLst>
                <a:gd name="adj" fmla="val 5882"/>
              </a:avLst>
            </a:prstGeom>
            <a:solidFill>
              <a:srgbClr val="EDF4FE"/>
            </a:solidFill>
            <a:ln>
              <a:noFill/>
            </a:ln>
          </p:spPr>
        </p:sp>
        <p:sp>
          <p:nvSpPr>
            <p:cNvPr id="214" name="Rectangle 214"/>
            <p:cNvSpPr/>
            <p:nvPr/>
          </p:nvSpPr>
          <p:spPr>
            <a:xfrm>
              <a:off x="8572500" y="5238750"/>
              <a:ext cx="609600" cy="533400"/>
            </a:xfrm>
            <a:prstGeom prst="roundRect">
              <a:avLst>
                <a:gd name="adj" fmla="val 5357"/>
              </a:avLst>
            </a:prstGeom>
            <a:solidFill>
              <a:srgbClr val="FFFFFF"/>
            </a:solidFill>
            <a:ln>
              <a:noFill/>
            </a:ln>
          </p:spPr>
        </p:sp>
        <p:sp>
          <p:nvSpPr>
            <p:cNvPr id="215" name="TextBox 215"/>
            <p:cNvSpPr txBox="1"/>
            <p:nvPr/>
          </p:nvSpPr>
          <p:spPr>
            <a:xfrm>
              <a:off x="8716328" y="5378291"/>
              <a:ext cx="32194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目录服</a:t>
              </a:r>
              <a:br/>
              <a:r>
                <a:rPr lang="zh-CN" sz="820" dirty="0">
                  <a:solidFill>
                    <a:srgbClr val="3D241F"/>
                  </a:solidFill>
                  <a:latin typeface="+mn-lt"/>
                  <a:ea typeface="+mn-ea"/>
                  <a:cs typeface="+mn-cs"/>
                </a:rPr>
                <a:t>务系统</a:t>
              </a:r>
            </a:p>
          </p:txBody>
        </p:sp>
        <p:sp>
          <p:nvSpPr>
            <p:cNvPr id="216" name="Rectangle 216"/>
            <p:cNvSpPr/>
            <p:nvPr/>
          </p:nvSpPr>
          <p:spPr>
            <a:xfrm>
              <a:off x="9372600" y="4933950"/>
              <a:ext cx="685800" cy="247650"/>
            </a:xfrm>
            <a:prstGeom prst="roundRect">
              <a:avLst>
                <a:gd name="adj" fmla="val 15385"/>
              </a:avLst>
            </a:prstGeom>
            <a:gradFill>
              <a:gsLst>
                <a:gs pos="0">
                  <a:srgbClr val="FB684A"/>
                </a:gs>
                <a:gs pos="100000">
                  <a:srgbClr val="FA421D"/>
                </a:gs>
              </a:gsLst>
              <a:lin ang="5400000" scaled="1"/>
            </a:gradFill>
            <a:ln>
              <a:noFill/>
            </a:ln>
          </p:spPr>
        </p:sp>
        <p:sp>
          <p:nvSpPr>
            <p:cNvPr id="217" name="TextBox 217"/>
            <p:cNvSpPr txBox="1"/>
            <p:nvPr/>
          </p:nvSpPr>
          <p:spPr>
            <a:xfrm>
              <a:off x="9468422" y="50082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可信时间</a:t>
              </a:r>
            </a:p>
          </p:txBody>
        </p:sp>
        <p:sp>
          <p:nvSpPr>
            <p:cNvPr id="218" name="Rectangle 218"/>
            <p:cNvSpPr/>
            <p:nvPr/>
          </p:nvSpPr>
          <p:spPr>
            <a:xfrm>
              <a:off x="9372600" y="5181600"/>
              <a:ext cx="685800" cy="647700"/>
            </a:xfrm>
            <a:prstGeom prst="roundRect">
              <a:avLst>
                <a:gd name="adj" fmla="val 5882"/>
              </a:avLst>
            </a:prstGeom>
            <a:solidFill>
              <a:srgbClr val="EDF4FE"/>
            </a:solidFill>
            <a:ln>
              <a:noFill/>
            </a:ln>
          </p:spPr>
        </p:sp>
        <p:sp>
          <p:nvSpPr>
            <p:cNvPr id="219" name="Rectangle 219"/>
            <p:cNvSpPr/>
            <p:nvPr/>
          </p:nvSpPr>
          <p:spPr>
            <a:xfrm>
              <a:off x="9429750" y="5238750"/>
              <a:ext cx="571500" cy="533400"/>
            </a:xfrm>
            <a:prstGeom prst="roundRect">
              <a:avLst>
                <a:gd name="adj" fmla="val 5357"/>
              </a:avLst>
            </a:prstGeom>
            <a:solidFill>
              <a:srgbClr val="FFFFFF"/>
            </a:solidFill>
            <a:ln>
              <a:noFill/>
            </a:ln>
          </p:spPr>
        </p:sp>
        <p:sp>
          <p:nvSpPr>
            <p:cNvPr id="220" name="TextBox 220"/>
            <p:cNvSpPr txBox="1"/>
            <p:nvPr/>
          </p:nvSpPr>
          <p:spPr>
            <a:xfrm>
              <a:off x="9554528" y="5378291"/>
              <a:ext cx="32194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3D241F"/>
                  </a:solidFill>
                  <a:latin typeface="+mn-lt"/>
                  <a:ea typeface="+mn-ea"/>
                  <a:cs typeface="+mn-cs"/>
                </a:rPr>
                <a:t>时间戳</a:t>
              </a:r>
              <a:br/>
              <a:r>
                <a:rPr lang="zh-CN" sz="820" dirty="0">
                  <a:solidFill>
                    <a:srgbClr val="3D241F"/>
                  </a:solidFill>
                  <a:latin typeface="+mn-lt"/>
                  <a:ea typeface="+mn-ea"/>
                  <a:cs typeface="+mn-cs"/>
                </a:rPr>
                <a:t>服务器</a:t>
              </a:r>
            </a:p>
          </p:txBody>
        </p:sp>
      </p:grpSp>
      <p:grpSp>
        <p:nvGrpSpPr>
          <p:cNvPr id="234" name="row-crypto-devices"/>
          <p:cNvGrpSpPr/>
          <p:nvPr/>
        </p:nvGrpSpPr>
        <p:grpSpPr>
          <a:xfrm>
            <a:off x="1600200" y="5981700"/>
            <a:ext cx="8458200" cy="590550"/>
            <a:chOff x="1600200" y="5981700"/>
            <a:chExt cx="8458200" cy="590550"/>
          </a:xfrm>
        </p:grpSpPr>
        <p:sp>
          <p:nvSpPr>
            <p:cNvPr id="222" name="Rectangle 222"/>
            <p:cNvSpPr/>
            <p:nvPr/>
          </p:nvSpPr>
          <p:spPr>
            <a:xfrm>
              <a:off x="1600200" y="5981700"/>
              <a:ext cx="8458200" cy="590550"/>
            </a:xfrm>
            <a:prstGeom prst="roundRect">
              <a:avLst>
                <a:gd name="adj" fmla="val 6452"/>
              </a:avLst>
            </a:prstGeom>
            <a:solidFill>
              <a:srgbClr val="EDF4FE"/>
            </a:solidFill>
            <a:ln>
              <a:noFill/>
            </a:ln>
          </p:spPr>
        </p:sp>
        <p:sp>
          <p:nvSpPr>
            <p:cNvPr id="223" name="TextBox 223"/>
            <p:cNvSpPr txBox="1"/>
            <p:nvPr/>
          </p:nvSpPr>
          <p:spPr>
            <a:xfrm>
              <a:off x="1803654" y="6214110"/>
              <a:ext cx="658368" cy="234696"/>
            </a:xfrm>
            <a:prstGeom prst="rect">
              <a:avLst/>
            </a:prstGeom>
            <a:noFill/>
            <a:ln>
              <a:noFill/>
            </a:ln>
          </p:spPr>
          <p:txBody>
            <a:bodyPr wrap="none" lIns="0" tIns="0" rIns="0" bIns="0" anchor="t" anchorCtr="0">
              <a:spAutoFit/>
            </a:bodyPr>
            <a:lstStyle/>
            <a:p>
              <a:pPr algn="l"/>
              <a:r>
                <a:rPr lang="zh-CN" sz="1200" b="1" dirty="0">
                  <a:solidFill>
                    <a:srgbClr val="FA421D"/>
                  </a:solidFill>
                  <a:latin typeface="+mn-lt"/>
                  <a:ea typeface="+mn-ea"/>
                  <a:cs typeface="+mn-cs"/>
                </a:rPr>
                <a:t>密码设备</a:t>
              </a:r>
            </a:p>
          </p:txBody>
        </p:sp>
        <p:sp>
          <p:nvSpPr>
            <p:cNvPr id="224" name="Rectangle 224"/>
            <p:cNvSpPr/>
            <p:nvPr/>
          </p:nvSpPr>
          <p:spPr>
            <a:xfrm>
              <a:off x="2857500" y="6143625"/>
              <a:ext cx="1333500" cy="266700"/>
            </a:xfrm>
            <a:prstGeom prst="roundRect">
              <a:avLst>
                <a:gd name="adj" fmla="val 14286"/>
              </a:avLst>
            </a:prstGeom>
            <a:gradFill>
              <a:gsLst>
                <a:gs pos="0">
                  <a:srgbClr val="FB684A"/>
                </a:gs>
                <a:gs pos="100000">
                  <a:srgbClr val="FA421D"/>
                </a:gs>
              </a:gsLst>
              <a:lin ang="5400000" scaled="1"/>
            </a:gradFill>
            <a:ln>
              <a:noFill/>
            </a:ln>
          </p:spPr>
        </p:sp>
        <p:sp>
          <p:nvSpPr>
            <p:cNvPr id="225" name="TextBox 225"/>
            <p:cNvSpPr txBox="1"/>
            <p:nvPr/>
          </p:nvSpPr>
          <p:spPr>
            <a:xfrm>
              <a:off x="3277172" y="622744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密码模块</a:t>
              </a:r>
            </a:p>
          </p:txBody>
        </p:sp>
        <p:sp>
          <p:nvSpPr>
            <p:cNvPr id="226" name="Rectangle 226"/>
            <p:cNvSpPr/>
            <p:nvPr/>
          </p:nvSpPr>
          <p:spPr>
            <a:xfrm>
              <a:off x="4286250" y="6143625"/>
              <a:ext cx="1333500" cy="266700"/>
            </a:xfrm>
            <a:prstGeom prst="roundRect">
              <a:avLst>
                <a:gd name="adj" fmla="val 14286"/>
              </a:avLst>
            </a:prstGeom>
            <a:gradFill>
              <a:gsLst>
                <a:gs pos="0">
                  <a:srgbClr val="FB684A"/>
                </a:gs>
                <a:gs pos="100000">
                  <a:srgbClr val="FA421D"/>
                </a:gs>
              </a:gsLst>
              <a:lin ang="5400000" scaled="1"/>
            </a:gradFill>
            <a:ln>
              <a:noFill/>
            </a:ln>
          </p:spPr>
        </p:sp>
        <p:sp>
          <p:nvSpPr>
            <p:cNvPr id="227" name="TextBox 227"/>
            <p:cNvSpPr txBox="1"/>
            <p:nvPr/>
          </p:nvSpPr>
          <p:spPr>
            <a:xfrm>
              <a:off x="4584764" y="6227445"/>
              <a:ext cx="73647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智能密码钥匙</a:t>
              </a:r>
            </a:p>
          </p:txBody>
        </p:sp>
        <p:sp>
          <p:nvSpPr>
            <p:cNvPr id="228" name="Rectangle 228"/>
            <p:cNvSpPr/>
            <p:nvPr/>
          </p:nvSpPr>
          <p:spPr>
            <a:xfrm>
              <a:off x="5715000" y="6143625"/>
              <a:ext cx="1333500" cy="266700"/>
            </a:xfrm>
            <a:prstGeom prst="roundRect">
              <a:avLst>
                <a:gd name="adj" fmla="val 14286"/>
              </a:avLst>
            </a:prstGeom>
            <a:gradFill>
              <a:gsLst>
                <a:gs pos="0">
                  <a:srgbClr val="FB684A"/>
                </a:gs>
                <a:gs pos="100000">
                  <a:srgbClr val="FA421D"/>
                </a:gs>
              </a:gsLst>
              <a:lin ang="5400000" scaled="1"/>
            </a:gradFill>
            <a:ln>
              <a:noFill/>
            </a:ln>
          </p:spPr>
        </p:sp>
        <p:sp>
          <p:nvSpPr>
            <p:cNvPr id="229" name="TextBox 229"/>
            <p:cNvSpPr txBox="1"/>
            <p:nvPr/>
          </p:nvSpPr>
          <p:spPr>
            <a:xfrm>
              <a:off x="6013514" y="6227445"/>
              <a:ext cx="736473"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服务器密码机</a:t>
              </a:r>
            </a:p>
          </p:txBody>
        </p:sp>
        <p:sp>
          <p:nvSpPr>
            <p:cNvPr id="230" name="Rectangle 230"/>
            <p:cNvSpPr/>
            <p:nvPr/>
          </p:nvSpPr>
          <p:spPr>
            <a:xfrm>
              <a:off x="7143750" y="6143625"/>
              <a:ext cx="1333500" cy="266700"/>
            </a:xfrm>
            <a:prstGeom prst="roundRect">
              <a:avLst>
                <a:gd name="adj" fmla="val 14286"/>
              </a:avLst>
            </a:prstGeom>
            <a:gradFill>
              <a:gsLst>
                <a:gs pos="0">
                  <a:srgbClr val="FB684A"/>
                </a:gs>
                <a:gs pos="100000">
                  <a:srgbClr val="FA421D"/>
                </a:gs>
              </a:gsLst>
              <a:lin ang="5400000" scaled="1"/>
            </a:gradFill>
            <a:ln>
              <a:noFill/>
            </a:ln>
          </p:spPr>
        </p:sp>
        <p:sp>
          <p:nvSpPr>
            <p:cNvPr id="231" name="TextBox 231"/>
            <p:cNvSpPr txBox="1"/>
            <p:nvPr/>
          </p:nvSpPr>
          <p:spPr>
            <a:xfrm>
              <a:off x="7563421" y="622744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云密码机</a:t>
              </a:r>
            </a:p>
          </p:txBody>
        </p:sp>
        <p:sp>
          <p:nvSpPr>
            <p:cNvPr id="232" name="Rectangle 232"/>
            <p:cNvSpPr/>
            <p:nvPr/>
          </p:nvSpPr>
          <p:spPr>
            <a:xfrm>
              <a:off x="8572500" y="6143625"/>
              <a:ext cx="1333500" cy="266700"/>
            </a:xfrm>
            <a:prstGeom prst="roundRect">
              <a:avLst>
                <a:gd name="adj" fmla="val 14286"/>
              </a:avLst>
            </a:prstGeom>
            <a:gradFill>
              <a:gsLst>
                <a:gs pos="0">
                  <a:srgbClr val="FB684A"/>
                </a:gs>
                <a:gs pos="100000">
                  <a:srgbClr val="FA421D"/>
                </a:gs>
              </a:gsLst>
              <a:lin ang="5400000" scaled="1"/>
            </a:gradFill>
            <a:ln>
              <a:noFill/>
            </a:ln>
          </p:spPr>
        </p:sp>
        <p:sp>
          <p:nvSpPr>
            <p:cNvPr id="233" name="TextBox 233"/>
            <p:cNvSpPr txBox="1"/>
            <p:nvPr/>
          </p:nvSpPr>
          <p:spPr>
            <a:xfrm>
              <a:off x="8931592" y="6227445"/>
              <a:ext cx="615315"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金融密码机</a:t>
              </a:r>
            </a:p>
          </p:txBody>
        </p:sp>
      </p:gr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panel"/>
          <p:cNvSpPr/>
          <p:nvPr/>
        </p:nvSpPr>
        <p:spPr>
          <a:xfrm>
            <a:off x="171450" y="1009650"/>
            <a:ext cx="11849100" cy="5676900"/>
          </a:xfrm>
          <a:prstGeom prst="roundRect">
            <a:avLst>
              <a:gd name="adj" fmla="val 2013"/>
            </a:avLst>
          </a:prstGeom>
          <a:solidFill>
            <a:srgbClr val="FFFFFF">
              <a:alpha val="70000"/>
            </a:srgbClr>
          </a:solidFill>
          <a:ln w="14288">
            <a:solidFill>
              <a:srgbClr val="FBD2C9"/>
            </a:solidFill>
          </a:ln>
        </p:spPr>
      </p:sp>
      <p:grpSp>
        <p:nvGrpSpPr>
          <p:cNvPr id="7" name="header"/>
          <p:cNvGrpSpPr/>
          <p:nvPr/>
        </p:nvGrpSpPr>
        <p:grpSpPr>
          <a:xfrm>
            <a:off x="0" y="0"/>
            <a:ext cx="12192000" cy="551879"/>
            <a:chOff x="0" y="0"/>
            <a:chExt cx="12192000"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4" name="TextBox 4"/>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06</a:t>
              </a:r>
            </a:p>
          </p:txBody>
        </p:sp>
        <p:sp>
          <p:nvSpPr>
            <p:cNvPr id="5" name="TextBox 5"/>
            <p:cNvSpPr txBox="1"/>
            <p:nvPr/>
          </p:nvSpPr>
          <p:spPr>
            <a:xfrm>
              <a:off x="904494" y="170498"/>
              <a:ext cx="1332357"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系统架构图</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0" name="ecosystem-band"/>
          <p:cNvGrpSpPr/>
          <p:nvPr/>
        </p:nvGrpSpPr>
        <p:grpSpPr>
          <a:xfrm>
            <a:off x="542925" y="1143000"/>
            <a:ext cx="10998886" cy="609600"/>
            <a:chOff x="542925" y="1143000"/>
            <a:chExt cx="10998886" cy="609600"/>
          </a:xfrm>
        </p:grpSpPr>
        <p:sp>
          <p:nvSpPr>
            <p:cNvPr id="8" name="Rectangle 8"/>
            <p:cNvSpPr/>
            <p:nvPr/>
          </p:nvSpPr>
          <p:spPr>
            <a:xfrm>
              <a:off x="542925" y="1143000"/>
              <a:ext cx="3619500" cy="419100"/>
            </a:xfrm>
            <a:prstGeom prst="roundRect">
              <a:avLst>
                <a:gd name="adj" fmla="val 9091"/>
              </a:avLst>
            </a:prstGeom>
            <a:gradFill>
              <a:gsLst>
                <a:gs pos="0">
                  <a:srgbClr val="FA421D"/>
                </a:gs>
                <a:gs pos="100000">
                  <a:srgbClr val="D22C0A"/>
                </a:gs>
              </a:gsLst>
              <a:lin ang="5400000" scaled="1"/>
            </a:gradFill>
            <a:ln>
              <a:noFill/>
            </a:ln>
          </p:spPr>
        </p:sp>
        <p:sp>
          <p:nvSpPr>
            <p:cNvPr id="9" name="TextBox 9"/>
            <p:cNvSpPr txBox="1"/>
            <p:nvPr/>
          </p:nvSpPr>
          <p:spPr>
            <a:xfrm>
              <a:off x="1538859" y="1289685"/>
              <a:ext cx="162763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融入支付宝的开发生态</a:t>
              </a:r>
            </a:p>
          </p:txBody>
        </p:sp>
        <p:sp>
          <p:nvSpPr>
            <p:cNvPr id="10" name="Rectangle 10"/>
            <p:cNvSpPr/>
            <p:nvPr/>
          </p:nvSpPr>
          <p:spPr>
            <a:xfrm>
              <a:off x="4400550" y="1143000"/>
              <a:ext cx="1981200" cy="419100"/>
            </a:xfrm>
            <a:prstGeom prst="roundRect">
              <a:avLst>
                <a:gd name="adj" fmla="val 50000"/>
              </a:avLst>
            </a:prstGeom>
            <a:solidFill>
              <a:srgbClr val="FBD2C9"/>
            </a:solidFill>
            <a:ln>
              <a:noFill/>
            </a:ln>
          </p:spPr>
        </p:sp>
        <p:sp>
          <p:nvSpPr>
            <p:cNvPr id="11" name="TextBox 11"/>
            <p:cNvSpPr txBox="1"/>
            <p:nvPr/>
          </p:nvSpPr>
          <p:spPr>
            <a:xfrm>
              <a:off x="5159273" y="1297781"/>
              <a:ext cx="463753"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小程序</a:t>
              </a:r>
            </a:p>
          </p:txBody>
        </p:sp>
        <p:sp>
          <p:nvSpPr>
            <p:cNvPr id="12" name="Rectangle 12"/>
            <p:cNvSpPr/>
            <p:nvPr/>
          </p:nvSpPr>
          <p:spPr>
            <a:xfrm>
              <a:off x="6638925" y="1143000"/>
              <a:ext cx="1981200" cy="419100"/>
            </a:xfrm>
            <a:prstGeom prst="roundRect">
              <a:avLst>
                <a:gd name="adj" fmla="val 50000"/>
              </a:avLst>
            </a:prstGeom>
            <a:solidFill>
              <a:srgbClr val="FBD2C9"/>
            </a:solidFill>
            <a:ln>
              <a:noFill/>
            </a:ln>
          </p:spPr>
        </p:sp>
        <p:sp>
          <p:nvSpPr>
            <p:cNvPr id="13" name="TextBox 13"/>
            <p:cNvSpPr txBox="1"/>
            <p:nvPr/>
          </p:nvSpPr>
          <p:spPr>
            <a:xfrm>
              <a:off x="7397648" y="1297781"/>
              <a:ext cx="463753"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生活号</a:t>
              </a:r>
            </a:p>
          </p:txBody>
        </p:sp>
        <p:sp>
          <p:nvSpPr>
            <p:cNvPr id="14" name="Rectangle 14"/>
            <p:cNvSpPr/>
            <p:nvPr/>
          </p:nvSpPr>
          <p:spPr>
            <a:xfrm>
              <a:off x="8858250" y="1143000"/>
              <a:ext cx="1981200" cy="419100"/>
            </a:xfrm>
            <a:prstGeom prst="roundRect">
              <a:avLst>
                <a:gd name="adj" fmla="val 50000"/>
              </a:avLst>
            </a:prstGeom>
            <a:solidFill>
              <a:srgbClr val="FBD2C9"/>
            </a:solidFill>
            <a:ln>
              <a:noFill/>
            </a:ln>
          </p:spPr>
        </p:sp>
        <p:sp>
          <p:nvSpPr>
            <p:cNvPr id="15" name="TextBox 15"/>
            <p:cNvSpPr txBox="1"/>
            <p:nvPr/>
          </p:nvSpPr>
          <p:spPr>
            <a:xfrm>
              <a:off x="9692361" y="1297781"/>
              <a:ext cx="312979"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线下</a:t>
              </a:r>
            </a:p>
          </p:txBody>
        </p:sp>
        <p:sp>
          <p:nvSpPr>
            <p:cNvPr id="16" name="TextBox 16"/>
            <p:cNvSpPr txBox="1"/>
            <p:nvPr/>
          </p:nvSpPr>
          <p:spPr>
            <a:xfrm>
              <a:off x="11318189" y="1263968"/>
              <a:ext cx="223622" cy="264033"/>
            </a:xfrm>
            <a:prstGeom prst="rect">
              <a:avLst/>
            </a:prstGeom>
            <a:noFill/>
            <a:ln>
              <a:noFill/>
            </a:ln>
          </p:spPr>
          <p:txBody>
            <a:bodyPr wrap="none" lIns="0" tIns="0" rIns="0" bIns="0" anchor="t" anchorCtr="0">
              <a:spAutoFit/>
            </a:bodyPr>
            <a:lstStyle/>
            <a:p>
              <a:pPr algn="ctr"/>
              <a:r>
                <a:rPr lang="zh-CN" sz="1350" b="1" dirty="0">
                  <a:solidFill>
                    <a:srgbClr val="3D241F"/>
                  </a:solidFill>
                  <a:latin typeface="+mn-lt"/>
                  <a:ea typeface="+mn-ea"/>
                  <a:cs typeface="+mn-cs"/>
                </a:rPr>
                <a:t>……</a:t>
              </a:r>
            </a:p>
          </p:txBody>
        </p:sp>
        <p:sp>
          <p:nvSpPr>
            <p:cNvPr id="17" name="Freeform 17"/>
            <p:cNvSpPr/>
            <p:nvPr/>
          </p:nvSpPr>
          <p:spPr>
            <a:xfrm>
              <a:off x="1066800" y="1638300"/>
              <a:ext cx="152400" cy="114300"/>
            </a:xfrm>
            <a:prstGeom prst="triangle">
              <a:avLst/>
            </a:prstGeom>
            <a:solidFill>
              <a:srgbClr val="FBAD9D"/>
            </a:solidFill>
            <a:ln>
              <a:noFill/>
            </a:ln>
          </p:spPr>
        </p:sp>
        <p:sp>
          <p:nvSpPr>
            <p:cNvPr id="18" name="Freeform 18"/>
            <p:cNvSpPr/>
            <p:nvPr/>
          </p:nvSpPr>
          <p:spPr>
            <a:xfrm>
              <a:off x="6019800" y="1638300"/>
              <a:ext cx="152400" cy="114300"/>
            </a:xfrm>
            <a:prstGeom prst="triangle">
              <a:avLst/>
            </a:prstGeom>
            <a:solidFill>
              <a:srgbClr val="FBAD9D"/>
            </a:solidFill>
            <a:ln>
              <a:noFill/>
            </a:ln>
          </p:spPr>
        </p:sp>
        <p:sp>
          <p:nvSpPr>
            <p:cNvPr id="19" name="Freeform 19"/>
            <p:cNvSpPr/>
            <p:nvPr/>
          </p:nvSpPr>
          <p:spPr>
            <a:xfrm>
              <a:off x="10953750" y="1638300"/>
              <a:ext cx="152400" cy="114300"/>
            </a:xfrm>
            <a:prstGeom prst="triangle">
              <a:avLst/>
            </a:prstGeom>
            <a:solidFill>
              <a:srgbClr val="FBAD9D"/>
            </a:solidFill>
            <a:ln>
              <a:noFill/>
            </a:ln>
          </p:spPr>
        </p:sp>
      </p:grpSp>
      <p:grpSp>
        <p:nvGrpSpPr>
          <p:cNvPr id="28" name="card-retail-types"/>
          <p:cNvGrpSpPr/>
          <p:nvPr/>
        </p:nvGrpSpPr>
        <p:grpSpPr>
          <a:xfrm>
            <a:off x="438150" y="1924050"/>
            <a:ext cx="1390650" cy="3657600"/>
            <a:chOff x="438150" y="1924050"/>
            <a:chExt cx="1390650" cy="3657600"/>
          </a:xfrm>
        </p:grpSpPr>
        <p:sp>
          <p:nvSpPr>
            <p:cNvPr id="21" name="Rectangle 21"/>
            <p:cNvSpPr/>
            <p:nvPr/>
          </p:nvSpPr>
          <p:spPr>
            <a:xfrm>
              <a:off x="438150" y="1924050"/>
              <a:ext cx="1390650" cy="647700"/>
            </a:xfrm>
            <a:prstGeom prst="roundRect">
              <a:avLst>
                <a:gd name="adj" fmla="val 8824"/>
              </a:avLst>
            </a:prstGeom>
            <a:gradFill>
              <a:gsLst>
                <a:gs pos="0">
                  <a:srgbClr val="FA421D"/>
                </a:gs>
                <a:gs pos="100000">
                  <a:srgbClr val="D22C0A"/>
                </a:gs>
              </a:gsLst>
              <a:lin ang="5400000" scaled="1"/>
            </a:gradFill>
            <a:ln>
              <a:noFill/>
            </a:ln>
          </p:spPr>
        </p:sp>
        <p:sp>
          <p:nvSpPr>
            <p:cNvPr id="22" name="TextBox 22"/>
            <p:cNvSpPr txBox="1"/>
            <p:nvPr/>
          </p:nvSpPr>
          <p:spPr>
            <a:xfrm>
              <a:off x="728091" y="2096452"/>
              <a:ext cx="810768" cy="414909"/>
            </a:xfrm>
            <a:prstGeom prst="rect">
              <a:avLst/>
            </a:prstGeom>
            <a:noFill/>
            <a:ln>
              <a:noFill/>
            </a:ln>
          </p:spPr>
          <p:txBody>
            <a:bodyPr wrap="none" lIns="0" tIns="0" rIns="0" bIns="0" anchor="t" anchorCtr="0">
              <a:spAutoFit/>
            </a:bodyPr>
            <a:lstStyle/>
            <a:p>
              <a:pPr algn="ctr">
                <a:lnSpc>
                  <a:spcPts val="1650"/>
                </a:lnSpc>
              </a:pPr>
              <a:r>
                <a:rPr lang="zh-CN" sz="1050" b="1" dirty="0">
                  <a:solidFill>
                    <a:srgbClr val="FFFFFF"/>
                  </a:solidFill>
                  <a:latin typeface="+mn-lt"/>
                  <a:ea typeface="+mn-ea"/>
                  <a:cs typeface="+mn-cs"/>
                </a:rPr>
                <a:t>适配机构零售</a:t>
              </a:r>
              <a:br/>
              <a:r>
                <a:rPr lang="zh-CN" sz="1050" b="1" dirty="0">
                  <a:solidFill>
                    <a:srgbClr val="FFFFFF"/>
                  </a:solidFill>
                  <a:latin typeface="+mn-lt"/>
                  <a:ea typeface="+mn-ea"/>
                  <a:cs typeface="+mn-cs"/>
                </a:rPr>
                <a:t>类业务类型</a:t>
              </a:r>
            </a:p>
          </p:txBody>
        </p:sp>
        <p:sp>
          <p:nvSpPr>
            <p:cNvPr id="23" name="Rectangle 23"/>
            <p:cNvSpPr/>
            <p:nvPr/>
          </p:nvSpPr>
          <p:spPr>
            <a:xfrm>
              <a:off x="438150" y="2571750"/>
              <a:ext cx="1390650" cy="3009900"/>
            </a:xfrm>
            <a:prstGeom prst="roundRect">
              <a:avLst>
                <a:gd name="adj" fmla="val 4110"/>
              </a:avLst>
            </a:prstGeom>
            <a:solidFill>
              <a:srgbClr val="EDF4FE"/>
            </a:solidFill>
            <a:ln>
              <a:noFill/>
            </a:ln>
          </p:spPr>
        </p:sp>
        <p:sp>
          <p:nvSpPr>
            <p:cNvPr id="24" name="Rectangle 24"/>
            <p:cNvSpPr/>
            <p:nvPr/>
          </p:nvSpPr>
          <p:spPr>
            <a:xfrm>
              <a:off x="533400" y="2724150"/>
              <a:ext cx="1200150" cy="1295400"/>
            </a:xfrm>
            <a:prstGeom prst="roundRect">
              <a:avLst>
                <a:gd name="adj" fmla="val 4762"/>
              </a:avLst>
            </a:prstGeom>
            <a:solidFill>
              <a:srgbClr val="FFFFFF"/>
            </a:solidFill>
            <a:ln>
              <a:noFill/>
            </a:ln>
          </p:spPr>
        </p:sp>
        <p:sp>
          <p:nvSpPr>
            <p:cNvPr id="25" name="TextBox 25"/>
            <p:cNvSpPr txBox="1"/>
            <p:nvPr/>
          </p:nvSpPr>
          <p:spPr>
            <a:xfrm>
              <a:off x="804291" y="3299460"/>
              <a:ext cx="658368"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财富业务</a:t>
              </a:r>
            </a:p>
          </p:txBody>
        </p:sp>
        <p:sp>
          <p:nvSpPr>
            <p:cNvPr id="26" name="Rectangle 26"/>
            <p:cNvSpPr/>
            <p:nvPr/>
          </p:nvSpPr>
          <p:spPr>
            <a:xfrm>
              <a:off x="533400" y="4152900"/>
              <a:ext cx="1200150" cy="1295400"/>
            </a:xfrm>
            <a:prstGeom prst="roundRect">
              <a:avLst>
                <a:gd name="adj" fmla="val 4762"/>
              </a:avLst>
            </a:prstGeom>
            <a:solidFill>
              <a:srgbClr val="FFFFFF"/>
            </a:solidFill>
            <a:ln>
              <a:noFill/>
            </a:ln>
          </p:spPr>
        </p:sp>
        <p:sp>
          <p:nvSpPr>
            <p:cNvPr id="27" name="TextBox 27"/>
            <p:cNvSpPr txBox="1"/>
            <p:nvPr/>
          </p:nvSpPr>
          <p:spPr>
            <a:xfrm>
              <a:off x="804291" y="4728210"/>
              <a:ext cx="658368"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信贷业务</a:t>
              </a:r>
            </a:p>
          </p:txBody>
        </p:sp>
      </p:grpSp>
      <p:grpSp>
        <p:nvGrpSpPr>
          <p:cNvPr id="30" name="arrow-left"/>
          <p:cNvGrpSpPr/>
          <p:nvPr/>
        </p:nvGrpSpPr>
        <p:grpSpPr>
          <a:xfrm>
            <a:off x="1962150" y="3429000"/>
            <a:ext cx="342900" cy="476250"/>
            <a:chOff x="1962150" y="3429000"/>
            <a:chExt cx="342900" cy="476250"/>
          </a:xfrm>
        </p:grpSpPr>
        <p:sp>
          <p:nvSpPr>
            <p:cNvPr id="29" name="Freeform 29"/>
            <p:cNvSpPr/>
            <p:nvPr/>
          </p:nvSpPr>
          <p:spPr>
            <a:xfrm>
              <a:off x="1962150" y="3429000"/>
              <a:ext cx="342900" cy="476250"/>
            </a:xfrm>
            <a:prstGeom prst="chevron">
              <a:avLst/>
            </a:prstGeom>
            <a:solidFill>
              <a:srgbClr val="FBAD9D"/>
            </a:solidFill>
            <a:ln>
              <a:noFill/>
            </a:ln>
          </p:spPr>
        </p:sp>
      </p:grpSp>
      <p:grpSp>
        <p:nvGrpSpPr>
          <p:cNvPr id="88" name="central-field"/>
          <p:cNvGrpSpPr/>
          <p:nvPr/>
        </p:nvGrpSpPr>
        <p:grpSpPr>
          <a:xfrm>
            <a:off x="2457450" y="1924050"/>
            <a:ext cx="7277100" cy="3657600"/>
            <a:chOff x="2457450" y="1924050"/>
            <a:chExt cx="7277100" cy="3657600"/>
          </a:xfrm>
        </p:grpSpPr>
        <p:sp>
          <p:nvSpPr>
            <p:cNvPr id="31" name="Rectangle 31"/>
            <p:cNvSpPr/>
            <p:nvPr/>
          </p:nvSpPr>
          <p:spPr>
            <a:xfrm>
              <a:off x="2457450" y="1924050"/>
              <a:ext cx="7277100" cy="457200"/>
            </a:xfrm>
            <a:prstGeom prst="roundRect">
              <a:avLst>
                <a:gd name="adj" fmla="val 12500"/>
              </a:avLst>
            </a:prstGeom>
            <a:gradFill>
              <a:gsLst>
                <a:gs pos="0">
                  <a:srgbClr val="FB684A"/>
                </a:gs>
                <a:gs pos="100000">
                  <a:srgbClr val="FA421D"/>
                </a:gs>
              </a:gsLst>
              <a:lin ang="5400000" scaled="1"/>
            </a:gradFill>
            <a:ln>
              <a:noFill/>
            </a:ln>
          </p:spPr>
        </p:sp>
        <p:sp>
          <p:nvSpPr>
            <p:cNvPr id="32" name="TextBox 32"/>
            <p:cNvSpPr txBox="1"/>
            <p:nvPr/>
          </p:nvSpPr>
          <p:spPr>
            <a:xfrm>
              <a:off x="5583555" y="2066925"/>
              <a:ext cx="102489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中心化的场</a:t>
              </a:r>
            </a:p>
          </p:txBody>
        </p:sp>
        <p:sp>
          <p:nvSpPr>
            <p:cNvPr id="33" name="Rectangle 33"/>
            <p:cNvSpPr/>
            <p:nvPr/>
          </p:nvSpPr>
          <p:spPr>
            <a:xfrm>
              <a:off x="2571750" y="2495550"/>
              <a:ext cx="1314450" cy="381000"/>
            </a:xfrm>
            <a:prstGeom prst="roundRect">
              <a:avLst>
                <a:gd name="adj" fmla="val 15000"/>
              </a:avLst>
            </a:prstGeom>
            <a:gradFill>
              <a:gsLst>
                <a:gs pos="0">
                  <a:srgbClr val="FB684A"/>
                </a:gs>
                <a:gs pos="100000">
                  <a:srgbClr val="FA421D"/>
                </a:gs>
              </a:gsLst>
              <a:lin ang="5400000" scaled="1"/>
            </a:gradFill>
            <a:ln>
              <a:noFill/>
            </a:ln>
          </p:spPr>
        </p:sp>
        <p:sp>
          <p:nvSpPr>
            <p:cNvPr id="34" name="TextBox 34"/>
            <p:cNvSpPr txBox="1"/>
            <p:nvPr/>
          </p:nvSpPr>
          <p:spPr>
            <a:xfrm>
              <a:off x="3072486" y="26217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主题</a:t>
              </a:r>
            </a:p>
          </p:txBody>
        </p:sp>
        <p:sp>
          <p:nvSpPr>
            <p:cNvPr id="35" name="Rectangle 35"/>
            <p:cNvSpPr/>
            <p:nvPr/>
          </p:nvSpPr>
          <p:spPr>
            <a:xfrm>
              <a:off x="2571750" y="2876550"/>
              <a:ext cx="1314450" cy="2705100"/>
            </a:xfrm>
            <a:prstGeom prst="roundRect">
              <a:avLst>
                <a:gd name="adj" fmla="val 4348"/>
              </a:avLst>
            </a:prstGeom>
            <a:solidFill>
              <a:srgbClr val="DCE9FC"/>
            </a:solidFill>
            <a:ln>
              <a:noFill/>
            </a:ln>
          </p:spPr>
        </p:sp>
        <p:sp>
          <p:nvSpPr>
            <p:cNvPr id="36" name="Rectangle 36"/>
            <p:cNvSpPr/>
            <p:nvPr/>
          </p:nvSpPr>
          <p:spPr>
            <a:xfrm>
              <a:off x="2667000" y="2971800"/>
              <a:ext cx="1123950" cy="1200150"/>
            </a:xfrm>
            <a:prstGeom prst="roundRect">
              <a:avLst>
                <a:gd name="adj" fmla="val 3390"/>
              </a:avLst>
            </a:prstGeom>
            <a:solidFill>
              <a:srgbClr val="FFFFFF"/>
            </a:solidFill>
            <a:ln>
              <a:noFill/>
            </a:ln>
          </p:spPr>
        </p:sp>
        <p:sp>
          <p:nvSpPr>
            <p:cNvPr id="37" name="TextBox 37"/>
            <p:cNvSpPr txBox="1"/>
            <p:nvPr/>
          </p:nvSpPr>
          <p:spPr>
            <a:xfrm>
              <a:off x="2956941" y="3315652"/>
              <a:ext cx="544068" cy="624459"/>
            </a:xfrm>
            <a:prstGeom prst="rect">
              <a:avLst/>
            </a:prstGeom>
            <a:noFill/>
            <a:ln>
              <a:noFill/>
            </a:ln>
          </p:spPr>
          <p:txBody>
            <a:bodyPr wrap="none" lIns="0" tIns="0" rIns="0" bIns="0" anchor="t" anchorCtr="0">
              <a:spAutoFit/>
            </a:bodyPr>
            <a:lstStyle/>
            <a:p>
              <a:pPr algn="ctr">
                <a:lnSpc>
                  <a:spcPts val="1650"/>
                </a:lnSpc>
              </a:pPr>
              <a:r>
                <a:rPr lang="zh-CN" sz="1050" dirty="0">
                  <a:solidFill>
                    <a:srgbClr val="3D241F"/>
                  </a:solidFill>
                  <a:latin typeface="+mn-lt"/>
                  <a:ea typeface="+mn-ea"/>
                  <a:cs typeface="+mn-cs"/>
                </a:rPr>
                <a:t>财富类业</a:t>
              </a:r>
              <a:br/>
              <a:r>
                <a:rPr lang="zh-CN" sz="1050" dirty="0">
                  <a:solidFill>
                    <a:srgbClr val="3D241F"/>
                  </a:solidFill>
                  <a:latin typeface="+mn-lt"/>
                  <a:ea typeface="+mn-ea"/>
                  <a:cs typeface="+mn-cs"/>
                </a:rPr>
                <a:t>务线上用</a:t>
              </a:r>
              <a:br/>
              <a:r>
                <a:rPr lang="zh-CN" sz="1050" dirty="0">
                  <a:solidFill>
                    <a:srgbClr val="3D241F"/>
                  </a:solidFill>
                  <a:latin typeface="+mn-lt"/>
                  <a:ea typeface="+mn-ea"/>
                  <a:cs typeface="+mn-cs"/>
                </a:rPr>
                <a:t>户增长</a:t>
              </a:r>
            </a:p>
          </p:txBody>
        </p:sp>
        <p:sp>
          <p:nvSpPr>
            <p:cNvPr id="38" name="Rectangle 38"/>
            <p:cNvSpPr/>
            <p:nvPr/>
          </p:nvSpPr>
          <p:spPr>
            <a:xfrm>
              <a:off x="2667000" y="4267200"/>
              <a:ext cx="1123950" cy="1200150"/>
            </a:xfrm>
            <a:prstGeom prst="roundRect">
              <a:avLst>
                <a:gd name="adj" fmla="val 3390"/>
              </a:avLst>
            </a:prstGeom>
            <a:solidFill>
              <a:srgbClr val="FFFFFF"/>
            </a:solidFill>
            <a:ln>
              <a:noFill/>
            </a:ln>
          </p:spPr>
        </p:sp>
        <p:sp>
          <p:nvSpPr>
            <p:cNvPr id="39" name="TextBox 39"/>
            <p:cNvSpPr txBox="1"/>
            <p:nvPr/>
          </p:nvSpPr>
          <p:spPr>
            <a:xfrm>
              <a:off x="2956941" y="4611052"/>
              <a:ext cx="544068" cy="624459"/>
            </a:xfrm>
            <a:prstGeom prst="rect">
              <a:avLst/>
            </a:prstGeom>
            <a:noFill/>
            <a:ln>
              <a:noFill/>
            </a:ln>
          </p:spPr>
          <p:txBody>
            <a:bodyPr wrap="none" lIns="0" tIns="0" rIns="0" bIns="0" anchor="t" anchorCtr="0">
              <a:spAutoFit/>
            </a:bodyPr>
            <a:lstStyle/>
            <a:p>
              <a:pPr algn="ctr">
                <a:lnSpc>
                  <a:spcPts val="1650"/>
                </a:lnSpc>
              </a:pPr>
              <a:r>
                <a:rPr lang="zh-CN" sz="1050" dirty="0">
                  <a:solidFill>
                    <a:srgbClr val="3D241F"/>
                  </a:solidFill>
                  <a:latin typeface="+mn-lt"/>
                  <a:ea typeface="+mn-ea"/>
                  <a:cs typeface="+mn-cs"/>
                </a:rPr>
                <a:t>信贷类业</a:t>
              </a:r>
              <a:br/>
              <a:r>
                <a:rPr lang="zh-CN" sz="1050" dirty="0">
                  <a:solidFill>
                    <a:srgbClr val="3D241F"/>
                  </a:solidFill>
                  <a:latin typeface="+mn-lt"/>
                  <a:ea typeface="+mn-ea"/>
                  <a:cs typeface="+mn-cs"/>
                </a:rPr>
                <a:t>务线上用</a:t>
              </a:r>
              <a:br/>
              <a:r>
                <a:rPr lang="zh-CN" sz="1050" dirty="0">
                  <a:solidFill>
                    <a:srgbClr val="3D241F"/>
                  </a:solidFill>
                  <a:latin typeface="+mn-lt"/>
                  <a:ea typeface="+mn-ea"/>
                  <a:cs typeface="+mn-cs"/>
                </a:rPr>
                <a:t>户增长</a:t>
              </a:r>
            </a:p>
          </p:txBody>
        </p:sp>
        <p:sp>
          <p:nvSpPr>
            <p:cNvPr id="40" name="Rectangle 40"/>
            <p:cNvSpPr/>
            <p:nvPr/>
          </p:nvSpPr>
          <p:spPr>
            <a:xfrm>
              <a:off x="4019550" y="2495550"/>
              <a:ext cx="1314450" cy="381000"/>
            </a:xfrm>
            <a:prstGeom prst="roundRect">
              <a:avLst>
                <a:gd name="adj" fmla="val 15000"/>
              </a:avLst>
            </a:prstGeom>
            <a:gradFill>
              <a:gsLst>
                <a:gs pos="0">
                  <a:srgbClr val="FB684A"/>
                </a:gs>
                <a:gs pos="100000">
                  <a:srgbClr val="FA421D"/>
                </a:gs>
              </a:gsLst>
              <a:lin ang="5400000" scaled="1"/>
            </a:gradFill>
            <a:ln>
              <a:noFill/>
            </a:ln>
          </p:spPr>
        </p:sp>
        <p:sp>
          <p:nvSpPr>
            <p:cNvPr id="41" name="TextBox 41"/>
            <p:cNvSpPr txBox="1"/>
            <p:nvPr/>
          </p:nvSpPr>
          <p:spPr>
            <a:xfrm>
              <a:off x="4520286" y="26217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阵地</a:t>
              </a:r>
            </a:p>
          </p:txBody>
        </p:sp>
        <p:sp>
          <p:nvSpPr>
            <p:cNvPr id="42" name="Rectangle 42"/>
            <p:cNvSpPr/>
            <p:nvPr/>
          </p:nvSpPr>
          <p:spPr>
            <a:xfrm>
              <a:off x="4019550" y="2876550"/>
              <a:ext cx="1314450" cy="2705100"/>
            </a:xfrm>
            <a:prstGeom prst="roundRect">
              <a:avLst>
                <a:gd name="adj" fmla="val 4348"/>
              </a:avLst>
            </a:prstGeom>
            <a:solidFill>
              <a:srgbClr val="DCE9FC"/>
            </a:solidFill>
            <a:ln>
              <a:noFill/>
            </a:ln>
          </p:spPr>
        </p:sp>
        <p:sp>
          <p:nvSpPr>
            <p:cNvPr id="43" name="Rectangle 43"/>
            <p:cNvSpPr/>
            <p:nvPr/>
          </p:nvSpPr>
          <p:spPr>
            <a:xfrm>
              <a:off x="4114800" y="2971800"/>
              <a:ext cx="1123950" cy="400050"/>
            </a:xfrm>
            <a:prstGeom prst="roundRect">
              <a:avLst>
                <a:gd name="adj" fmla="val 9524"/>
              </a:avLst>
            </a:prstGeom>
            <a:solidFill>
              <a:srgbClr val="FFFFFF"/>
            </a:solidFill>
            <a:ln>
              <a:noFill/>
            </a:ln>
          </p:spPr>
        </p:sp>
        <p:sp>
          <p:nvSpPr>
            <p:cNvPr id="44" name="TextBox 44"/>
            <p:cNvSpPr txBox="1"/>
            <p:nvPr/>
          </p:nvSpPr>
          <p:spPr>
            <a:xfrm>
              <a:off x="4388739" y="31156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首页设计</a:t>
              </a:r>
            </a:p>
          </p:txBody>
        </p:sp>
        <p:sp>
          <p:nvSpPr>
            <p:cNvPr id="45" name="Rectangle 45"/>
            <p:cNvSpPr/>
            <p:nvPr/>
          </p:nvSpPr>
          <p:spPr>
            <a:xfrm>
              <a:off x="4114800" y="3467100"/>
              <a:ext cx="1123950" cy="400050"/>
            </a:xfrm>
            <a:prstGeom prst="roundRect">
              <a:avLst>
                <a:gd name="adj" fmla="val 9524"/>
              </a:avLst>
            </a:prstGeom>
            <a:solidFill>
              <a:srgbClr val="FFFFFF"/>
            </a:solidFill>
            <a:ln>
              <a:noFill/>
            </a:ln>
          </p:spPr>
        </p:sp>
        <p:sp>
          <p:nvSpPr>
            <p:cNvPr id="46" name="TextBox 46"/>
            <p:cNvSpPr txBox="1"/>
            <p:nvPr/>
          </p:nvSpPr>
          <p:spPr>
            <a:xfrm>
              <a:off x="4388739" y="36109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导航设计</a:t>
              </a:r>
            </a:p>
          </p:txBody>
        </p:sp>
        <p:sp>
          <p:nvSpPr>
            <p:cNvPr id="47" name="Rectangle 47"/>
            <p:cNvSpPr/>
            <p:nvPr/>
          </p:nvSpPr>
          <p:spPr>
            <a:xfrm>
              <a:off x="4114800" y="3962400"/>
              <a:ext cx="1123950" cy="400050"/>
            </a:xfrm>
            <a:prstGeom prst="roundRect">
              <a:avLst>
                <a:gd name="adj" fmla="val 9524"/>
              </a:avLst>
            </a:prstGeom>
            <a:solidFill>
              <a:srgbClr val="FFFFFF"/>
            </a:solidFill>
            <a:ln>
              <a:noFill/>
            </a:ln>
          </p:spPr>
        </p:sp>
        <p:sp>
          <p:nvSpPr>
            <p:cNvPr id="48" name="TextBox 48"/>
            <p:cNvSpPr txBox="1"/>
            <p:nvPr/>
          </p:nvSpPr>
          <p:spPr>
            <a:xfrm>
              <a:off x="4388739" y="41062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产品承继</a:t>
              </a:r>
            </a:p>
          </p:txBody>
        </p:sp>
        <p:sp>
          <p:nvSpPr>
            <p:cNvPr id="49" name="Rectangle 49"/>
            <p:cNvSpPr/>
            <p:nvPr/>
          </p:nvSpPr>
          <p:spPr>
            <a:xfrm>
              <a:off x="4114800" y="4457700"/>
              <a:ext cx="1123950" cy="400050"/>
            </a:xfrm>
            <a:prstGeom prst="roundRect">
              <a:avLst>
                <a:gd name="adj" fmla="val 9524"/>
              </a:avLst>
            </a:prstGeom>
            <a:solidFill>
              <a:srgbClr val="FFFFFF"/>
            </a:solidFill>
            <a:ln>
              <a:noFill/>
            </a:ln>
          </p:spPr>
        </p:sp>
        <p:sp>
          <p:nvSpPr>
            <p:cNvPr id="50" name="TextBox 50"/>
            <p:cNvSpPr txBox="1"/>
            <p:nvPr/>
          </p:nvSpPr>
          <p:spPr>
            <a:xfrm>
              <a:off x="4388739" y="46015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开户交易</a:t>
              </a:r>
            </a:p>
          </p:txBody>
        </p:sp>
        <p:sp>
          <p:nvSpPr>
            <p:cNvPr id="51" name="Rectangle 51"/>
            <p:cNvSpPr/>
            <p:nvPr/>
          </p:nvSpPr>
          <p:spPr>
            <a:xfrm>
              <a:off x="4114800" y="4953000"/>
              <a:ext cx="1123950" cy="400050"/>
            </a:xfrm>
            <a:prstGeom prst="roundRect">
              <a:avLst>
                <a:gd name="adj" fmla="val 9524"/>
              </a:avLst>
            </a:prstGeom>
            <a:solidFill>
              <a:srgbClr val="FFFFFF"/>
            </a:solidFill>
            <a:ln>
              <a:noFill/>
            </a:ln>
          </p:spPr>
        </p:sp>
        <p:sp>
          <p:nvSpPr>
            <p:cNvPr id="52" name="TextBox 52"/>
            <p:cNvSpPr txBox="1"/>
            <p:nvPr/>
          </p:nvSpPr>
          <p:spPr>
            <a:xfrm>
              <a:off x="4388739" y="50968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服务中心</a:t>
              </a:r>
            </a:p>
          </p:txBody>
        </p:sp>
        <p:sp>
          <p:nvSpPr>
            <p:cNvPr id="53" name="Rectangle 53"/>
            <p:cNvSpPr/>
            <p:nvPr/>
          </p:nvSpPr>
          <p:spPr>
            <a:xfrm>
              <a:off x="5467350" y="2495550"/>
              <a:ext cx="1314450" cy="381000"/>
            </a:xfrm>
            <a:prstGeom prst="roundRect">
              <a:avLst>
                <a:gd name="adj" fmla="val 15000"/>
              </a:avLst>
            </a:prstGeom>
            <a:gradFill>
              <a:gsLst>
                <a:gs pos="0">
                  <a:srgbClr val="FB684A"/>
                </a:gs>
                <a:gs pos="100000">
                  <a:srgbClr val="FA421D"/>
                </a:gs>
              </a:gsLst>
              <a:lin ang="5400000" scaled="1"/>
            </a:gradFill>
            <a:ln>
              <a:noFill/>
            </a:ln>
          </p:spPr>
        </p:sp>
        <p:sp>
          <p:nvSpPr>
            <p:cNvPr id="54" name="TextBox 54"/>
            <p:cNvSpPr txBox="1"/>
            <p:nvPr/>
          </p:nvSpPr>
          <p:spPr>
            <a:xfrm>
              <a:off x="5968086" y="26217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功能</a:t>
              </a:r>
            </a:p>
          </p:txBody>
        </p:sp>
        <p:sp>
          <p:nvSpPr>
            <p:cNvPr id="55" name="Rectangle 55"/>
            <p:cNvSpPr/>
            <p:nvPr/>
          </p:nvSpPr>
          <p:spPr>
            <a:xfrm>
              <a:off x="5467350" y="2876550"/>
              <a:ext cx="1314450" cy="2705100"/>
            </a:xfrm>
            <a:prstGeom prst="roundRect">
              <a:avLst>
                <a:gd name="adj" fmla="val 4348"/>
              </a:avLst>
            </a:prstGeom>
            <a:solidFill>
              <a:srgbClr val="DCE9FC"/>
            </a:solidFill>
            <a:ln>
              <a:noFill/>
            </a:ln>
          </p:spPr>
        </p:sp>
        <p:sp>
          <p:nvSpPr>
            <p:cNvPr id="56" name="Rectangle 56"/>
            <p:cNvSpPr/>
            <p:nvPr/>
          </p:nvSpPr>
          <p:spPr>
            <a:xfrm>
              <a:off x="5562600" y="2971800"/>
              <a:ext cx="1123950" cy="400050"/>
            </a:xfrm>
            <a:prstGeom prst="roundRect">
              <a:avLst>
                <a:gd name="adj" fmla="val 9524"/>
              </a:avLst>
            </a:prstGeom>
            <a:solidFill>
              <a:srgbClr val="FFFFFF"/>
            </a:solidFill>
            <a:ln>
              <a:noFill/>
            </a:ln>
          </p:spPr>
        </p:sp>
        <p:sp>
          <p:nvSpPr>
            <p:cNvPr id="57" name="TextBox 57"/>
            <p:cNvSpPr txBox="1"/>
            <p:nvPr/>
          </p:nvSpPr>
          <p:spPr>
            <a:xfrm>
              <a:off x="5836539" y="31156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业务监控</a:t>
              </a:r>
            </a:p>
          </p:txBody>
        </p:sp>
        <p:sp>
          <p:nvSpPr>
            <p:cNvPr id="58" name="Rectangle 58"/>
            <p:cNvSpPr/>
            <p:nvPr/>
          </p:nvSpPr>
          <p:spPr>
            <a:xfrm>
              <a:off x="5562600" y="3467100"/>
              <a:ext cx="1123950" cy="400050"/>
            </a:xfrm>
            <a:prstGeom prst="roundRect">
              <a:avLst>
                <a:gd name="adj" fmla="val 9524"/>
              </a:avLst>
            </a:prstGeom>
            <a:solidFill>
              <a:srgbClr val="FFFFFF"/>
            </a:solidFill>
            <a:ln>
              <a:noFill/>
            </a:ln>
          </p:spPr>
        </p:sp>
        <p:sp>
          <p:nvSpPr>
            <p:cNvPr id="59" name="TextBox 59"/>
            <p:cNvSpPr txBox="1"/>
            <p:nvPr/>
          </p:nvSpPr>
          <p:spPr>
            <a:xfrm>
              <a:off x="5836539" y="36109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策略配置</a:t>
              </a:r>
            </a:p>
          </p:txBody>
        </p:sp>
        <p:sp>
          <p:nvSpPr>
            <p:cNvPr id="60" name="Rectangle 60"/>
            <p:cNvSpPr/>
            <p:nvPr/>
          </p:nvSpPr>
          <p:spPr>
            <a:xfrm>
              <a:off x="5562600" y="3962400"/>
              <a:ext cx="1123950" cy="400050"/>
            </a:xfrm>
            <a:prstGeom prst="roundRect">
              <a:avLst>
                <a:gd name="adj" fmla="val 9524"/>
              </a:avLst>
            </a:prstGeom>
            <a:solidFill>
              <a:srgbClr val="FFFFFF"/>
            </a:solidFill>
            <a:ln>
              <a:noFill/>
            </a:ln>
          </p:spPr>
        </p:sp>
        <p:sp>
          <p:nvSpPr>
            <p:cNvPr id="61" name="TextBox 61"/>
            <p:cNvSpPr txBox="1"/>
            <p:nvPr/>
          </p:nvSpPr>
          <p:spPr>
            <a:xfrm>
              <a:off x="5836539" y="41062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效果跟踪</a:t>
              </a:r>
            </a:p>
          </p:txBody>
        </p:sp>
        <p:sp>
          <p:nvSpPr>
            <p:cNvPr id="62" name="Rectangle 62"/>
            <p:cNvSpPr/>
            <p:nvPr/>
          </p:nvSpPr>
          <p:spPr>
            <a:xfrm>
              <a:off x="5562600" y="4457700"/>
              <a:ext cx="1123950" cy="400050"/>
            </a:xfrm>
            <a:prstGeom prst="roundRect">
              <a:avLst>
                <a:gd name="adj" fmla="val 9524"/>
              </a:avLst>
            </a:prstGeom>
            <a:solidFill>
              <a:srgbClr val="FFFFFF"/>
            </a:solidFill>
            <a:ln>
              <a:noFill/>
            </a:ln>
          </p:spPr>
        </p:sp>
        <p:sp>
          <p:nvSpPr>
            <p:cNvPr id="63" name="TextBox 63"/>
            <p:cNvSpPr txBox="1"/>
            <p:nvPr/>
          </p:nvSpPr>
          <p:spPr>
            <a:xfrm>
              <a:off x="5836539" y="46015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模版配置</a:t>
              </a:r>
            </a:p>
          </p:txBody>
        </p:sp>
        <p:sp>
          <p:nvSpPr>
            <p:cNvPr id="64" name="Rectangle 64"/>
            <p:cNvSpPr/>
            <p:nvPr/>
          </p:nvSpPr>
          <p:spPr>
            <a:xfrm>
              <a:off x="5562600" y="4953000"/>
              <a:ext cx="1123950" cy="400050"/>
            </a:xfrm>
            <a:prstGeom prst="roundRect">
              <a:avLst>
                <a:gd name="adj" fmla="val 9524"/>
              </a:avLst>
            </a:prstGeom>
            <a:solidFill>
              <a:srgbClr val="FFFFFF"/>
            </a:solidFill>
            <a:ln>
              <a:noFill/>
            </a:ln>
          </p:spPr>
        </p:sp>
        <p:sp>
          <p:nvSpPr>
            <p:cNvPr id="65" name="TextBox 65"/>
            <p:cNvSpPr txBox="1"/>
            <p:nvPr/>
          </p:nvSpPr>
          <p:spPr>
            <a:xfrm>
              <a:off x="5836539" y="5096828"/>
              <a:ext cx="576072" cy="205359"/>
            </a:xfrm>
            <a:prstGeom prst="rect">
              <a:avLst/>
            </a:prstGeom>
            <a:noFill/>
            <a:ln>
              <a:noFill/>
            </a:ln>
          </p:spPr>
          <p:txBody>
            <a:bodyPr wrap="none" lIns="0" tIns="0" rIns="0" bIns="0" anchor="t" anchorCtr="0">
              <a:spAutoFit/>
            </a:bodyPr>
            <a:lstStyle/>
            <a:p>
              <a:pPr algn="ctr"/>
              <a:r>
                <a:rPr lang="zh-CN" sz="1050" dirty="0">
                  <a:solidFill>
                    <a:srgbClr val="3D241F"/>
                  </a:solidFill>
                  <a:latin typeface="+mn-lt"/>
                  <a:ea typeface="+mn-ea"/>
                  <a:cs typeface="+mn-cs"/>
                </a:rPr>
                <a:t>基础功能</a:t>
              </a:r>
            </a:p>
          </p:txBody>
        </p:sp>
        <p:sp>
          <p:nvSpPr>
            <p:cNvPr id="66" name="Rectangle 66"/>
            <p:cNvSpPr/>
            <p:nvPr/>
          </p:nvSpPr>
          <p:spPr>
            <a:xfrm>
              <a:off x="6915150" y="2495550"/>
              <a:ext cx="1314450" cy="381000"/>
            </a:xfrm>
            <a:prstGeom prst="roundRect">
              <a:avLst>
                <a:gd name="adj" fmla="val 15000"/>
              </a:avLst>
            </a:prstGeom>
            <a:gradFill>
              <a:gsLst>
                <a:gs pos="0">
                  <a:srgbClr val="FB684A"/>
                </a:gs>
                <a:gs pos="100000">
                  <a:srgbClr val="FA421D"/>
                </a:gs>
              </a:gsLst>
              <a:lin ang="5400000" scaled="1"/>
            </a:gradFill>
            <a:ln>
              <a:noFill/>
            </a:ln>
          </p:spPr>
        </p:sp>
        <p:sp>
          <p:nvSpPr>
            <p:cNvPr id="67" name="TextBox 67"/>
            <p:cNvSpPr txBox="1"/>
            <p:nvPr/>
          </p:nvSpPr>
          <p:spPr>
            <a:xfrm>
              <a:off x="7265111" y="26217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领域模型</a:t>
              </a:r>
            </a:p>
          </p:txBody>
        </p:sp>
        <p:sp>
          <p:nvSpPr>
            <p:cNvPr id="68" name="Rectangle 68"/>
            <p:cNvSpPr/>
            <p:nvPr/>
          </p:nvSpPr>
          <p:spPr>
            <a:xfrm>
              <a:off x="6915150" y="2876550"/>
              <a:ext cx="1314450" cy="2705100"/>
            </a:xfrm>
            <a:prstGeom prst="roundRect">
              <a:avLst>
                <a:gd name="adj" fmla="val 4348"/>
              </a:avLst>
            </a:prstGeom>
            <a:solidFill>
              <a:srgbClr val="DCE9FC"/>
            </a:solidFill>
            <a:ln>
              <a:noFill/>
            </a:ln>
          </p:spPr>
        </p:sp>
        <p:sp>
          <p:nvSpPr>
            <p:cNvPr id="69" name="Rectangle 69"/>
            <p:cNvSpPr/>
            <p:nvPr/>
          </p:nvSpPr>
          <p:spPr>
            <a:xfrm>
              <a:off x="7010400" y="2971800"/>
              <a:ext cx="1123950" cy="533400"/>
            </a:xfrm>
            <a:prstGeom prst="roundRect">
              <a:avLst>
                <a:gd name="adj" fmla="val 7143"/>
              </a:avLst>
            </a:prstGeom>
            <a:solidFill>
              <a:srgbClr val="FFFFFF"/>
            </a:solidFill>
            <a:ln>
              <a:noFill/>
            </a:ln>
          </p:spPr>
        </p:sp>
        <p:sp>
          <p:nvSpPr>
            <p:cNvPr id="70" name="TextBox 70"/>
            <p:cNvSpPr txBox="1"/>
            <p:nvPr/>
          </p:nvSpPr>
          <p:spPr>
            <a:xfrm>
              <a:off x="7318502" y="3085624"/>
              <a:ext cx="50774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3D241F"/>
                  </a:solidFill>
                  <a:latin typeface="+mn-lt"/>
                  <a:ea typeface="+mn-ea"/>
                  <a:cs typeface="+mn-cs"/>
                </a:rPr>
                <a:t>KPI指标​</a:t>
              </a:r>
              <a:br/>
              <a:r>
                <a:rPr lang="zh-CN" sz="980" dirty="0">
                  <a:solidFill>
                    <a:srgbClr val="3D241F"/>
                  </a:solidFill>
                  <a:latin typeface="+mn-lt"/>
                  <a:ea typeface="+mn-ea"/>
                  <a:cs typeface="+mn-cs"/>
                </a:rPr>
                <a:t>拆解体系</a:t>
              </a:r>
            </a:p>
          </p:txBody>
        </p:sp>
        <p:sp>
          <p:nvSpPr>
            <p:cNvPr id="71" name="Rectangle 71"/>
            <p:cNvSpPr/>
            <p:nvPr/>
          </p:nvSpPr>
          <p:spPr>
            <a:xfrm>
              <a:off x="7010400" y="3600450"/>
              <a:ext cx="1123950" cy="533400"/>
            </a:xfrm>
            <a:prstGeom prst="roundRect">
              <a:avLst>
                <a:gd name="adj" fmla="val 7143"/>
              </a:avLst>
            </a:prstGeom>
            <a:solidFill>
              <a:srgbClr val="FFFFFF"/>
            </a:solidFill>
            <a:ln>
              <a:noFill/>
            </a:ln>
          </p:spPr>
        </p:sp>
        <p:sp>
          <p:nvSpPr>
            <p:cNvPr id="72" name="TextBox 72"/>
            <p:cNvSpPr txBox="1"/>
            <p:nvPr/>
          </p:nvSpPr>
          <p:spPr>
            <a:xfrm>
              <a:off x="7171639" y="3809524"/>
              <a:ext cx="801472"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用户心智画像</a:t>
              </a:r>
            </a:p>
          </p:txBody>
        </p:sp>
        <p:sp>
          <p:nvSpPr>
            <p:cNvPr id="73" name="Rectangle 73"/>
            <p:cNvSpPr/>
            <p:nvPr/>
          </p:nvSpPr>
          <p:spPr>
            <a:xfrm>
              <a:off x="7010400" y="4229100"/>
              <a:ext cx="1123950" cy="533400"/>
            </a:xfrm>
            <a:prstGeom prst="roundRect">
              <a:avLst>
                <a:gd name="adj" fmla="val 7143"/>
              </a:avLst>
            </a:prstGeom>
            <a:solidFill>
              <a:srgbClr val="FFFFFF"/>
            </a:solidFill>
            <a:ln>
              <a:noFill/>
            </a:ln>
          </p:spPr>
        </p:sp>
        <p:sp>
          <p:nvSpPr>
            <p:cNvPr id="74" name="TextBox 74"/>
            <p:cNvSpPr txBox="1"/>
            <p:nvPr/>
          </p:nvSpPr>
          <p:spPr>
            <a:xfrm>
              <a:off x="7171639" y="4438174"/>
              <a:ext cx="801472"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用户行为画像</a:t>
              </a:r>
            </a:p>
          </p:txBody>
        </p:sp>
        <p:sp>
          <p:nvSpPr>
            <p:cNvPr id="75" name="Rectangle 75"/>
            <p:cNvSpPr/>
            <p:nvPr/>
          </p:nvSpPr>
          <p:spPr>
            <a:xfrm>
              <a:off x="7010400" y="4857750"/>
              <a:ext cx="1123950" cy="533400"/>
            </a:xfrm>
            <a:prstGeom prst="roundRect">
              <a:avLst>
                <a:gd name="adj" fmla="val 7143"/>
              </a:avLst>
            </a:prstGeom>
            <a:solidFill>
              <a:srgbClr val="FFFFFF"/>
            </a:solidFill>
            <a:ln>
              <a:noFill/>
            </a:ln>
          </p:spPr>
        </p:sp>
        <p:sp>
          <p:nvSpPr>
            <p:cNvPr id="76" name="TextBox 76"/>
            <p:cNvSpPr txBox="1"/>
            <p:nvPr/>
          </p:nvSpPr>
          <p:spPr>
            <a:xfrm>
              <a:off x="7187819" y="4971574"/>
              <a:ext cx="769112"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3D241F"/>
                  </a:solidFill>
                  <a:latin typeface="+mn-lt"/>
                  <a:ea typeface="+mn-ea"/>
                  <a:cs typeface="+mn-cs"/>
                </a:rPr>
                <a:t>内容/产品/服</a:t>
              </a:r>
              <a:br/>
              <a:r>
                <a:rPr lang="zh-CN" sz="980" dirty="0">
                  <a:solidFill>
                    <a:srgbClr val="3D241F"/>
                  </a:solidFill>
                  <a:latin typeface="+mn-lt"/>
                  <a:ea typeface="+mn-ea"/>
                  <a:cs typeface="+mn-cs"/>
                </a:rPr>
                <a:t>务/渠道画像</a:t>
              </a:r>
            </a:p>
          </p:txBody>
        </p:sp>
        <p:sp>
          <p:nvSpPr>
            <p:cNvPr id="77" name="Rectangle 77"/>
            <p:cNvSpPr/>
            <p:nvPr/>
          </p:nvSpPr>
          <p:spPr>
            <a:xfrm>
              <a:off x="8362950" y="2495550"/>
              <a:ext cx="1314450" cy="381000"/>
            </a:xfrm>
            <a:prstGeom prst="roundRect">
              <a:avLst>
                <a:gd name="adj" fmla="val 15000"/>
              </a:avLst>
            </a:prstGeom>
            <a:gradFill>
              <a:gsLst>
                <a:gs pos="0">
                  <a:srgbClr val="FB684A"/>
                </a:gs>
                <a:gs pos="100000">
                  <a:srgbClr val="FA421D"/>
                </a:gs>
              </a:gsLst>
              <a:lin ang="5400000" scaled="1"/>
            </a:gradFill>
            <a:ln>
              <a:noFill/>
            </a:ln>
          </p:spPr>
        </p:sp>
        <p:sp>
          <p:nvSpPr>
            <p:cNvPr id="78" name="TextBox 78"/>
            <p:cNvSpPr txBox="1"/>
            <p:nvPr/>
          </p:nvSpPr>
          <p:spPr>
            <a:xfrm>
              <a:off x="8712911" y="26217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公域场景</a:t>
              </a:r>
            </a:p>
          </p:txBody>
        </p:sp>
        <p:sp>
          <p:nvSpPr>
            <p:cNvPr id="79" name="Rectangle 79"/>
            <p:cNvSpPr/>
            <p:nvPr/>
          </p:nvSpPr>
          <p:spPr>
            <a:xfrm>
              <a:off x="8362950" y="2876550"/>
              <a:ext cx="1314450" cy="2705100"/>
            </a:xfrm>
            <a:prstGeom prst="roundRect">
              <a:avLst>
                <a:gd name="adj" fmla="val 4348"/>
              </a:avLst>
            </a:prstGeom>
            <a:solidFill>
              <a:srgbClr val="DCE9FC"/>
            </a:solidFill>
            <a:ln>
              <a:noFill/>
            </a:ln>
          </p:spPr>
        </p:sp>
        <p:sp>
          <p:nvSpPr>
            <p:cNvPr id="80" name="Rectangle 80"/>
            <p:cNvSpPr/>
            <p:nvPr/>
          </p:nvSpPr>
          <p:spPr>
            <a:xfrm>
              <a:off x="8458200" y="2971800"/>
              <a:ext cx="1123950" cy="533400"/>
            </a:xfrm>
            <a:prstGeom prst="roundRect">
              <a:avLst>
                <a:gd name="adj" fmla="val 7143"/>
              </a:avLst>
            </a:prstGeom>
            <a:solidFill>
              <a:srgbClr val="FFFFFF"/>
            </a:solidFill>
            <a:ln>
              <a:noFill/>
            </a:ln>
          </p:spPr>
        </p:sp>
        <p:sp>
          <p:nvSpPr>
            <p:cNvPr id="81" name="TextBox 81"/>
            <p:cNvSpPr txBox="1"/>
            <p:nvPr/>
          </p:nvSpPr>
          <p:spPr>
            <a:xfrm>
              <a:off x="8704072" y="3085624"/>
              <a:ext cx="63220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3D241F"/>
                  </a:solidFill>
                  <a:latin typeface="+mn-lt"/>
                  <a:ea typeface="+mn-ea"/>
                  <a:cs typeface="+mn-cs"/>
                </a:rPr>
                <a:t>流数据埋点</a:t>
              </a:r>
              <a:br/>
              <a:r>
                <a:rPr lang="zh-CN" sz="980" dirty="0">
                  <a:solidFill>
                    <a:srgbClr val="3D241F"/>
                  </a:solidFill>
                  <a:latin typeface="+mn-lt"/>
                  <a:ea typeface="+mn-ea"/>
                  <a:cs typeface="+mn-cs"/>
                </a:rPr>
                <a:t>处理接入</a:t>
              </a:r>
            </a:p>
          </p:txBody>
        </p:sp>
        <p:sp>
          <p:nvSpPr>
            <p:cNvPr id="82" name="Rectangle 82"/>
            <p:cNvSpPr/>
            <p:nvPr/>
          </p:nvSpPr>
          <p:spPr>
            <a:xfrm>
              <a:off x="8458200" y="3600450"/>
              <a:ext cx="1123950" cy="533400"/>
            </a:xfrm>
            <a:prstGeom prst="roundRect">
              <a:avLst>
                <a:gd name="adj" fmla="val 7143"/>
              </a:avLst>
            </a:prstGeom>
            <a:solidFill>
              <a:srgbClr val="FFFFFF"/>
            </a:solidFill>
            <a:ln>
              <a:noFill/>
            </a:ln>
          </p:spPr>
        </p:sp>
        <p:sp>
          <p:nvSpPr>
            <p:cNvPr id="83" name="TextBox 83"/>
            <p:cNvSpPr txBox="1"/>
            <p:nvPr/>
          </p:nvSpPr>
          <p:spPr>
            <a:xfrm>
              <a:off x="8766302" y="3714274"/>
              <a:ext cx="50774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3D241F"/>
                  </a:solidFill>
                  <a:latin typeface="+mn-lt"/>
                  <a:ea typeface="+mn-ea"/>
                  <a:cs typeface="+mn-cs"/>
                </a:rPr>
                <a:t>客户端交</a:t>
              </a:r>
              <a:br/>
              <a:r>
                <a:rPr lang="zh-CN" sz="980" dirty="0">
                  <a:solidFill>
                    <a:srgbClr val="3D241F"/>
                  </a:solidFill>
                  <a:latin typeface="+mn-lt"/>
                  <a:ea typeface="+mn-ea"/>
                  <a:cs typeface="+mn-cs"/>
                </a:rPr>
                <a:t>易信息</a:t>
              </a:r>
            </a:p>
          </p:txBody>
        </p:sp>
        <p:sp>
          <p:nvSpPr>
            <p:cNvPr id="84" name="Rectangle 84"/>
            <p:cNvSpPr/>
            <p:nvPr/>
          </p:nvSpPr>
          <p:spPr>
            <a:xfrm>
              <a:off x="8458200" y="4229100"/>
              <a:ext cx="1123950" cy="533400"/>
            </a:xfrm>
            <a:prstGeom prst="roundRect">
              <a:avLst>
                <a:gd name="adj" fmla="val 7143"/>
              </a:avLst>
            </a:prstGeom>
            <a:solidFill>
              <a:srgbClr val="FFFFFF"/>
            </a:solidFill>
            <a:ln>
              <a:noFill/>
            </a:ln>
          </p:spPr>
        </p:sp>
        <p:sp>
          <p:nvSpPr>
            <p:cNvPr id="85" name="TextBox 85"/>
            <p:cNvSpPr txBox="1"/>
            <p:nvPr/>
          </p:nvSpPr>
          <p:spPr>
            <a:xfrm>
              <a:off x="8766302" y="4342924"/>
              <a:ext cx="50774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3D241F"/>
                  </a:solidFill>
                  <a:latin typeface="+mn-lt"/>
                  <a:ea typeface="+mn-ea"/>
                  <a:cs typeface="+mn-cs"/>
                </a:rPr>
                <a:t>用户存量</a:t>
              </a:r>
              <a:br/>
              <a:r>
                <a:rPr lang="zh-CN" sz="980" dirty="0">
                  <a:solidFill>
                    <a:srgbClr val="3D241F"/>
                  </a:solidFill>
                  <a:latin typeface="+mn-lt"/>
                  <a:ea typeface="+mn-ea"/>
                  <a:cs typeface="+mn-cs"/>
                </a:rPr>
                <a:t>账户信息</a:t>
              </a:r>
            </a:p>
          </p:txBody>
        </p:sp>
        <p:sp>
          <p:nvSpPr>
            <p:cNvPr id="86" name="Rectangle 86"/>
            <p:cNvSpPr/>
            <p:nvPr/>
          </p:nvSpPr>
          <p:spPr>
            <a:xfrm>
              <a:off x="8458200" y="4857750"/>
              <a:ext cx="1123950" cy="533400"/>
            </a:xfrm>
            <a:prstGeom prst="roundRect">
              <a:avLst>
                <a:gd name="adj" fmla="val 7143"/>
              </a:avLst>
            </a:prstGeom>
            <a:solidFill>
              <a:srgbClr val="FFFFFF"/>
            </a:solidFill>
            <a:ln>
              <a:noFill/>
            </a:ln>
          </p:spPr>
        </p:sp>
        <p:sp>
          <p:nvSpPr>
            <p:cNvPr id="87" name="TextBox 87"/>
            <p:cNvSpPr txBox="1"/>
            <p:nvPr/>
          </p:nvSpPr>
          <p:spPr>
            <a:xfrm>
              <a:off x="8766302" y="4971574"/>
              <a:ext cx="507746" cy="362141"/>
            </a:xfrm>
            <a:prstGeom prst="rect">
              <a:avLst/>
            </a:prstGeom>
            <a:noFill/>
            <a:ln>
              <a:noFill/>
            </a:ln>
          </p:spPr>
          <p:txBody>
            <a:bodyPr wrap="none" lIns="0" tIns="0" rIns="0" bIns="0" anchor="t" anchorCtr="0">
              <a:spAutoFit/>
            </a:bodyPr>
            <a:lstStyle/>
            <a:p>
              <a:pPr algn="ctr">
                <a:lnSpc>
                  <a:spcPts val="1350"/>
                </a:lnSpc>
              </a:pPr>
              <a:r>
                <a:rPr lang="zh-CN" sz="980" dirty="0">
                  <a:solidFill>
                    <a:srgbClr val="3D241F"/>
                  </a:solidFill>
                  <a:latin typeface="+mn-lt"/>
                  <a:ea typeface="+mn-ea"/>
                  <a:cs typeface="+mn-cs"/>
                </a:rPr>
                <a:t>存量业务</a:t>
              </a:r>
              <a:br/>
              <a:r>
                <a:rPr lang="zh-CN" sz="980" dirty="0">
                  <a:solidFill>
                    <a:srgbClr val="3D241F"/>
                  </a:solidFill>
                  <a:latin typeface="+mn-lt"/>
                  <a:ea typeface="+mn-ea"/>
                  <a:cs typeface="+mn-cs"/>
                </a:rPr>
                <a:t>数据融合</a:t>
              </a:r>
            </a:p>
          </p:txBody>
        </p:sp>
      </p:grpSp>
      <p:grpSp>
        <p:nvGrpSpPr>
          <p:cNvPr id="90" name="arrow-right"/>
          <p:cNvGrpSpPr/>
          <p:nvPr/>
        </p:nvGrpSpPr>
        <p:grpSpPr>
          <a:xfrm>
            <a:off x="9867900" y="3429000"/>
            <a:ext cx="342900" cy="476250"/>
            <a:chOff x="9867900" y="3429000"/>
            <a:chExt cx="342900" cy="476250"/>
          </a:xfrm>
        </p:grpSpPr>
        <p:sp>
          <p:nvSpPr>
            <p:cNvPr id="89" name="Freeform 89"/>
            <p:cNvSpPr/>
            <p:nvPr/>
          </p:nvSpPr>
          <p:spPr>
            <a:xfrm>
              <a:off x="9867900" y="3429000"/>
              <a:ext cx="342900" cy="476250"/>
            </a:xfrm>
            <a:prstGeom prst="chevron">
              <a:avLst/>
            </a:prstGeom>
            <a:solidFill>
              <a:srgbClr val="FBAD9D"/>
            </a:solidFill>
            <a:ln>
              <a:noFill/>
            </a:ln>
          </p:spPr>
        </p:sp>
      </p:grpSp>
      <p:grpSp>
        <p:nvGrpSpPr>
          <p:cNvPr id="102" name="card-iot-elements"/>
          <p:cNvGrpSpPr/>
          <p:nvPr/>
        </p:nvGrpSpPr>
        <p:grpSpPr>
          <a:xfrm>
            <a:off x="10363200" y="1924050"/>
            <a:ext cx="1390650" cy="3657600"/>
            <a:chOff x="10363200" y="1924050"/>
            <a:chExt cx="1390650" cy="3657600"/>
          </a:xfrm>
        </p:grpSpPr>
        <p:sp>
          <p:nvSpPr>
            <p:cNvPr id="91" name="Rectangle 91"/>
            <p:cNvSpPr/>
            <p:nvPr/>
          </p:nvSpPr>
          <p:spPr>
            <a:xfrm>
              <a:off x="10363200" y="1924050"/>
              <a:ext cx="1390650" cy="647700"/>
            </a:xfrm>
            <a:prstGeom prst="roundRect">
              <a:avLst>
                <a:gd name="adj" fmla="val 8824"/>
              </a:avLst>
            </a:prstGeom>
            <a:gradFill>
              <a:gsLst>
                <a:gs pos="0">
                  <a:srgbClr val="FA421D"/>
                </a:gs>
                <a:gs pos="100000">
                  <a:srgbClr val="D22C0A"/>
                </a:gs>
              </a:gsLst>
              <a:lin ang="5400000" scaled="1"/>
            </a:gradFill>
            <a:ln>
              <a:noFill/>
            </a:ln>
          </p:spPr>
        </p:sp>
        <p:sp>
          <p:nvSpPr>
            <p:cNvPr id="92" name="TextBox 92"/>
            <p:cNvSpPr txBox="1"/>
            <p:nvPr/>
          </p:nvSpPr>
          <p:spPr>
            <a:xfrm>
              <a:off x="10653141" y="2096452"/>
              <a:ext cx="810768" cy="414909"/>
            </a:xfrm>
            <a:prstGeom prst="rect">
              <a:avLst/>
            </a:prstGeom>
            <a:noFill/>
            <a:ln>
              <a:noFill/>
            </a:ln>
          </p:spPr>
          <p:txBody>
            <a:bodyPr wrap="none" lIns="0" tIns="0" rIns="0" bIns="0" anchor="t" anchorCtr="0">
              <a:spAutoFit/>
            </a:bodyPr>
            <a:lstStyle/>
            <a:p>
              <a:pPr algn="ctr">
                <a:lnSpc>
                  <a:spcPts val="1650"/>
                </a:lnSpc>
              </a:pPr>
              <a:r>
                <a:rPr lang="zh-CN" sz="1050" b="1" dirty="0">
                  <a:solidFill>
                    <a:srgbClr val="FFFFFF"/>
                  </a:solidFill>
                  <a:latin typeface="+mn-lt"/>
                  <a:ea typeface="+mn-ea"/>
                  <a:cs typeface="+mn-cs"/>
                </a:rPr>
                <a:t>接入物联网运</a:t>
              </a:r>
              <a:br/>
              <a:r>
                <a:rPr lang="zh-CN" sz="1050" b="1" dirty="0">
                  <a:solidFill>
                    <a:srgbClr val="FFFFFF"/>
                  </a:solidFill>
                  <a:latin typeface="+mn-lt"/>
                  <a:ea typeface="+mn-ea"/>
                  <a:cs typeface="+mn-cs"/>
                </a:rPr>
                <a:t>营的关键要素</a:t>
              </a:r>
            </a:p>
          </p:txBody>
        </p:sp>
        <p:sp>
          <p:nvSpPr>
            <p:cNvPr id="93" name="Rectangle 93"/>
            <p:cNvSpPr/>
            <p:nvPr/>
          </p:nvSpPr>
          <p:spPr>
            <a:xfrm>
              <a:off x="10363200" y="2571750"/>
              <a:ext cx="1390650" cy="3009900"/>
            </a:xfrm>
            <a:prstGeom prst="roundRect">
              <a:avLst>
                <a:gd name="adj" fmla="val 4110"/>
              </a:avLst>
            </a:prstGeom>
            <a:solidFill>
              <a:srgbClr val="EDF4FE"/>
            </a:solidFill>
            <a:ln>
              <a:noFill/>
            </a:ln>
          </p:spPr>
        </p:sp>
        <p:sp>
          <p:nvSpPr>
            <p:cNvPr id="94" name="Rectangle 94"/>
            <p:cNvSpPr/>
            <p:nvPr/>
          </p:nvSpPr>
          <p:spPr>
            <a:xfrm>
              <a:off x="10458450" y="2705100"/>
              <a:ext cx="1200150" cy="590550"/>
            </a:xfrm>
            <a:prstGeom prst="roundRect">
              <a:avLst>
                <a:gd name="adj" fmla="val 9677"/>
              </a:avLst>
            </a:prstGeom>
            <a:solidFill>
              <a:srgbClr val="FFFFFF"/>
            </a:solidFill>
            <a:ln>
              <a:noFill/>
            </a:ln>
          </p:spPr>
        </p:sp>
        <p:sp>
          <p:nvSpPr>
            <p:cNvPr id="95" name="TextBox 95"/>
            <p:cNvSpPr txBox="1"/>
            <p:nvPr/>
          </p:nvSpPr>
          <p:spPr>
            <a:xfrm>
              <a:off x="10890885" y="2927985"/>
              <a:ext cx="335280"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收益</a:t>
              </a:r>
            </a:p>
          </p:txBody>
        </p:sp>
        <p:sp>
          <p:nvSpPr>
            <p:cNvPr id="96" name="Rectangle 96"/>
            <p:cNvSpPr/>
            <p:nvPr/>
          </p:nvSpPr>
          <p:spPr>
            <a:xfrm>
              <a:off x="10458450" y="3409950"/>
              <a:ext cx="1200150" cy="590550"/>
            </a:xfrm>
            <a:prstGeom prst="roundRect">
              <a:avLst>
                <a:gd name="adj" fmla="val 9677"/>
              </a:avLst>
            </a:prstGeom>
            <a:solidFill>
              <a:srgbClr val="FFFFFF"/>
            </a:solidFill>
            <a:ln>
              <a:noFill/>
            </a:ln>
          </p:spPr>
        </p:sp>
        <p:sp>
          <p:nvSpPr>
            <p:cNvPr id="97" name="TextBox 97"/>
            <p:cNvSpPr txBox="1"/>
            <p:nvPr/>
          </p:nvSpPr>
          <p:spPr>
            <a:xfrm>
              <a:off x="10890885" y="3632835"/>
              <a:ext cx="335280"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内容</a:t>
              </a:r>
            </a:p>
          </p:txBody>
        </p:sp>
        <p:sp>
          <p:nvSpPr>
            <p:cNvPr id="98" name="Rectangle 98"/>
            <p:cNvSpPr/>
            <p:nvPr/>
          </p:nvSpPr>
          <p:spPr>
            <a:xfrm>
              <a:off x="10458450" y="4114800"/>
              <a:ext cx="1200150" cy="590550"/>
            </a:xfrm>
            <a:prstGeom prst="roundRect">
              <a:avLst>
                <a:gd name="adj" fmla="val 9677"/>
              </a:avLst>
            </a:prstGeom>
            <a:solidFill>
              <a:srgbClr val="FFFFFF"/>
            </a:solidFill>
            <a:ln>
              <a:noFill/>
            </a:ln>
          </p:spPr>
        </p:sp>
        <p:sp>
          <p:nvSpPr>
            <p:cNvPr id="99" name="TextBox 99"/>
            <p:cNvSpPr txBox="1"/>
            <p:nvPr/>
          </p:nvSpPr>
          <p:spPr>
            <a:xfrm>
              <a:off x="10890885" y="4337685"/>
              <a:ext cx="335280"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直播</a:t>
              </a:r>
            </a:p>
          </p:txBody>
        </p:sp>
        <p:sp>
          <p:nvSpPr>
            <p:cNvPr id="100" name="Rectangle 100"/>
            <p:cNvSpPr/>
            <p:nvPr/>
          </p:nvSpPr>
          <p:spPr>
            <a:xfrm>
              <a:off x="10458450" y="4819650"/>
              <a:ext cx="1200150" cy="590550"/>
            </a:xfrm>
            <a:prstGeom prst="roundRect">
              <a:avLst>
                <a:gd name="adj" fmla="val 9677"/>
              </a:avLst>
            </a:prstGeom>
            <a:solidFill>
              <a:srgbClr val="FFFFFF"/>
            </a:solidFill>
            <a:ln>
              <a:noFill/>
            </a:ln>
          </p:spPr>
        </p:sp>
        <p:sp>
          <p:nvSpPr>
            <p:cNvPr id="101" name="TextBox 101"/>
            <p:cNvSpPr txBox="1"/>
            <p:nvPr/>
          </p:nvSpPr>
          <p:spPr>
            <a:xfrm>
              <a:off x="10729341" y="5042535"/>
              <a:ext cx="658368"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相关业务</a:t>
              </a:r>
            </a:p>
          </p:txBody>
        </p:sp>
      </p:grpSp>
      <p:grpSp>
        <p:nvGrpSpPr>
          <p:cNvPr id="111" name="base-band"/>
          <p:cNvGrpSpPr/>
          <p:nvPr/>
        </p:nvGrpSpPr>
        <p:grpSpPr>
          <a:xfrm>
            <a:off x="542925" y="5867400"/>
            <a:ext cx="10868025" cy="419100"/>
            <a:chOff x="542925" y="5867400"/>
            <a:chExt cx="10868025" cy="419100"/>
          </a:xfrm>
        </p:grpSpPr>
        <p:sp>
          <p:nvSpPr>
            <p:cNvPr id="103" name="Rectangle 103"/>
            <p:cNvSpPr/>
            <p:nvPr/>
          </p:nvSpPr>
          <p:spPr>
            <a:xfrm>
              <a:off x="542925" y="5867400"/>
              <a:ext cx="3619500" cy="419100"/>
            </a:xfrm>
            <a:prstGeom prst="roundRect">
              <a:avLst>
                <a:gd name="adj" fmla="val 9091"/>
              </a:avLst>
            </a:prstGeom>
            <a:gradFill>
              <a:gsLst>
                <a:gs pos="0">
                  <a:srgbClr val="FA421D"/>
                </a:gs>
                <a:gs pos="100000">
                  <a:srgbClr val="D22C0A"/>
                </a:gs>
              </a:gsLst>
              <a:lin ang="5400000" scaled="1"/>
            </a:gradFill>
            <a:ln>
              <a:noFill/>
            </a:ln>
          </p:spPr>
        </p:sp>
        <p:sp>
          <p:nvSpPr>
            <p:cNvPr id="104" name="TextBox 104"/>
            <p:cNvSpPr txBox="1"/>
            <p:nvPr/>
          </p:nvSpPr>
          <p:spPr>
            <a:xfrm>
              <a:off x="1781175" y="6014085"/>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适配不同的底座</a:t>
              </a:r>
            </a:p>
          </p:txBody>
        </p:sp>
        <p:sp>
          <p:nvSpPr>
            <p:cNvPr id="105" name="Rectangle 105"/>
            <p:cNvSpPr/>
            <p:nvPr/>
          </p:nvSpPr>
          <p:spPr>
            <a:xfrm>
              <a:off x="4400550" y="5867400"/>
              <a:ext cx="1981200" cy="419100"/>
            </a:xfrm>
            <a:prstGeom prst="roundRect">
              <a:avLst>
                <a:gd name="adj" fmla="val 50000"/>
              </a:avLst>
            </a:prstGeom>
            <a:solidFill>
              <a:srgbClr val="FBD2C9"/>
            </a:solidFill>
            <a:ln>
              <a:noFill/>
            </a:ln>
          </p:spPr>
        </p:sp>
        <p:sp>
          <p:nvSpPr>
            <p:cNvPr id="106" name="TextBox 106"/>
            <p:cNvSpPr txBox="1"/>
            <p:nvPr/>
          </p:nvSpPr>
          <p:spPr>
            <a:xfrm>
              <a:off x="5159273" y="6022181"/>
              <a:ext cx="463753"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阿里云</a:t>
              </a:r>
            </a:p>
          </p:txBody>
        </p:sp>
        <p:sp>
          <p:nvSpPr>
            <p:cNvPr id="107" name="Rectangle 107"/>
            <p:cNvSpPr/>
            <p:nvPr/>
          </p:nvSpPr>
          <p:spPr>
            <a:xfrm>
              <a:off x="6877050" y="5867400"/>
              <a:ext cx="1981200" cy="419100"/>
            </a:xfrm>
            <a:prstGeom prst="roundRect">
              <a:avLst>
                <a:gd name="adj" fmla="val 50000"/>
              </a:avLst>
            </a:prstGeom>
            <a:solidFill>
              <a:srgbClr val="FBD2C9"/>
            </a:solidFill>
            <a:ln>
              <a:noFill/>
            </a:ln>
          </p:spPr>
        </p:sp>
        <p:sp>
          <p:nvSpPr>
            <p:cNvPr id="108" name="TextBox 108"/>
            <p:cNvSpPr txBox="1"/>
            <p:nvPr/>
          </p:nvSpPr>
          <p:spPr>
            <a:xfrm>
              <a:off x="7483488" y="6022181"/>
              <a:ext cx="768325" cy="220028"/>
            </a:xfrm>
            <a:prstGeom prst="rect">
              <a:avLst/>
            </a:prstGeom>
            <a:noFill/>
            <a:ln>
              <a:noFill/>
            </a:ln>
          </p:spPr>
          <p:txBody>
            <a:bodyPr wrap="none" lIns="0" tIns="0" rIns="0" bIns="0" anchor="t" anchorCtr="0">
              <a:spAutoFit/>
            </a:bodyPr>
            <a:lstStyle/>
            <a:p>
              <a:pPr algn="ctr"/>
              <a:r>
                <a:rPr lang="en-US" sz="1120" dirty="0">
                  <a:solidFill>
                    <a:srgbClr val="D03B1D"/>
                  </a:solidFill>
                  <a:latin typeface="+mn-lt"/>
                  <a:ea typeface="+mn-ea"/>
                  <a:cs typeface="+mn-cs"/>
                </a:rPr>
                <a:t>AntStack​</a:t>
              </a:r>
            </a:p>
          </p:txBody>
        </p:sp>
        <p:sp>
          <p:nvSpPr>
            <p:cNvPr id="109" name="Rectangle 109"/>
            <p:cNvSpPr/>
            <p:nvPr/>
          </p:nvSpPr>
          <p:spPr>
            <a:xfrm>
              <a:off x="9429750" y="5867400"/>
              <a:ext cx="1981200" cy="419100"/>
            </a:xfrm>
            <a:prstGeom prst="roundRect">
              <a:avLst>
                <a:gd name="adj" fmla="val 50000"/>
              </a:avLst>
            </a:prstGeom>
            <a:solidFill>
              <a:srgbClr val="FBD2C9"/>
            </a:solidFill>
            <a:ln>
              <a:noFill/>
            </a:ln>
          </p:spPr>
        </p:sp>
        <p:sp>
          <p:nvSpPr>
            <p:cNvPr id="110" name="TextBox 110"/>
            <p:cNvSpPr txBox="1"/>
            <p:nvPr/>
          </p:nvSpPr>
          <p:spPr>
            <a:xfrm>
              <a:off x="9952711" y="6022181"/>
              <a:ext cx="935279" cy="220028"/>
            </a:xfrm>
            <a:prstGeom prst="rect">
              <a:avLst/>
            </a:prstGeom>
            <a:noFill/>
            <a:ln>
              <a:noFill/>
            </a:ln>
          </p:spPr>
          <p:txBody>
            <a:bodyPr wrap="none" lIns="0" tIns="0" rIns="0" bIns="0" anchor="t" anchorCtr="0">
              <a:spAutoFit/>
            </a:bodyPr>
            <a:lstStyle/>
            <a:p>
              <a:pPr algn="ctr"/>
              <a:r>
                <a:rPr lang="en-US" sz="1120" dirty="0">
                  <a:solidFill>
                    <a:srgbClr val="D03B1D"/>
                  </a:solidFill>
                  <a:latin typeface="+mn-lt"/>
                  <a:ea typeface="+mn-ea"/>
                  <a:cs typeface="+mn-cs"/>
                </a:rPr>
                <a:t>Oracle/DB2​</a:t>
              </a:r>
            </a:p>
          </p:txBody>
        </p:sp>
      </p:gr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panel"/>
          <p:cNvSpPr/>
          <p:nvPr/>
        </p:nvSpPr>
        <p:spPr>
          <a:xfrm>
            <a:off x="171450" y="1009650"/>
            <a:ext cx="11849100" cy="5676900"/>
          </a:xfrm>
          <a:prstGeom prst="roundRect">
            <a:avLst>
              <a:gd name="adj" fmla="val 2013"/>
            </a:avLst>
          </a:prstGeom>
          <a:solidFill>
            <a:srgbClr val="FFFFFF">
              <a:alpha val="70000"/>
            </a:srgbClr>
          </a:solidFill>
          <a:ln w="14288">
            <a:solidFill>
              <a:srgbClr val="FBD2C9"/>
            </a:solidFill>
          </a:ln>
        </p:spPr>
      </p:sp>
      <p:grpSp>
        <p:nvGrpSpPr>
          <p:cNvPr id="7" name="header"/>
          <p:cNvGrpSpPr/>
          <p:nvPr/>
        </p:nvGrpSpPr>
        <p:grpSpPr>
          <a:xfrm>
            <a:off x="0" y="0"/>
            <a:ext cx="12192000" cy="551879"/>
            <a:chOff x="0" y="0"/>
            <a:chExt cx="12192000"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4" name="TextBox 4"/>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07</a:t>
              </a:r>
            </a:p>
          </p:txBody>
        </p:sp>
        <p:sp>
          <p:nvSpPr>
            <p:cNvPr id="5" name="TextBox 5"/>
            <p:cNvSpPr txBox="1"/>
            <p:nvPr/>
          </p:nvSpPr>
          <p:spPr>
            <a:xfrm>
              <a:off x="904494" y="170498"/>
              <a:ext cx="1332357"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系统架构图</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0" name="left-anchors"/>
          <p:cNvGrpSpPr/>
          <p:nvPr/>
        </p:nvGrpSpPr>
        <p:grpSpPr>
          <a:xfrm>
            <a:off x="857250" y="1257300"/>
            <a:ext cx="762000" cy="5191125"/>
            <a:chOff x="857250" y="1257300"/>
            <a:chExt cx="762000" cy="5191125"/>
          </a:xfrm>
        </p:grpSpPr>
        <p:sp>
          <p:nvSpPr>
            <p:cNvPr id="8" name="Ellipse 8"/>
            <p:cNvSpPr/>
            <p:nvPr/>
          </p:nvSpPr>
          <p:spPr>
            <a:xfrm>
              <a:off x="857250" y="1257300"/>
              <a:ext cx="762000" cy="762000"/>
            </a:xfrm>
            <a:prstGeom prst="ellipse">
              <a:avLst/>
            </a:prstGeom>
            <a:gradFill>
              <a:gsLst>
                <a:gs pos="0">
                  <a:srgbClr val="FB684A"/>
                </a:gs>
                <a:gs pos="100000">
                  <a:srgbClr val="FA421D"/>
                </a:gs>
              </a:gsLst>
              <a:lin ang="5400000" scaled="1"/>
            </a:gradFill>
            <a:ln>
              <a:noFill/>
            </a:ln>
          </p:spPr>
        </p:sp>
        <p:sp>
          <p:nvSpPr>
            <p:cNvPr id="9" name="TextBox 9"/>
            <p:cNvSpPr txBox="1"/>
            <p:nvPr/>
          </p:nvSpPr>
          <p:spPr>
            <a:xfrm>
              <a:off x="1099566" y="1486852"/>
              <a:ext cx="277368" cy="395859"/>
            </a:xfrm>
            <a:prstGeom prst="rect">
              <a:avLst/>
            </a:prstGeom>
            <a:noFill/>
            <a:ln>
              <a:noFill/>
            </a:ln>
          </p:spPr>
          <p:txBody>
            <a:bodyPr wrap="none" lIns="0" tIns="0" rIns="0" bIns="0" anchor="t" anchorCtr="0">
              <a:spAutoFit/>
            </a:bodyPr>
            <a:lstStyle/>
            <a:p>
              <a:pPr algn="ctr">
                <a:lnSpc>
                  <a:spcPts val="1500"/>
                </a:lnSpc>
              </a:pPr>
              <a:r>
                <a:rPr lang="zh-CN" sz="1050" dirty="0">
                  <a:solidFill>
                    <a:srgbClr val="FFFFFF"/>
                  </a:solidFill>
                  <a:latin typeface="+mn-lt"/>
                  <a:ea typeface="+mn-ea"/>
                  <a:cs typeface="+mn-cs"/>
                </a:rPr>
                <a:t>受众</a:t>
              </a:r>
              <a:br/>
              <a:r>
                <a:rPr lang="zh-CN" sz="1050" dirty="0">
                  <a:solidFill>
                    <a:srgbClr val="FFFFFF"/>
                  </a:solidFill>
                  <a:latin typeface="+mn-lt"/>
                  <a:ea typeface="+mn-ea"/>
                  <a:cs typeface="+mn-cs"/>
                </a:rPr>
                <a:t>用户</a:t>
              </a:r>
            </a:p>
          </p:txBody>
        </p:sp>
        <p:sp>
          <p:nvSpPr>
            <p:cNvPr id="10" name="Ellipse 10"/>
            <p:cNvSpPr/>
            <p:nvPr/>
          </p:nvSpPr>
          <p:spPr>
            <a:xfrm>
              <a:off x="895350" y="2066925"/>
              <a:ext cx="685800" cy="133350"/>
            </a:xfrm>
            <a:prstGeom prst="ellipse">
              <a:avLst/>
            </a:prstGeom>
            <a:solidFill>
              <a:srgbClr val="FBD2C9"/>
            </a:solidFill>
            <a:ln>
              <a:noFill/>
            </a:ln>
          </p:spPr>
        </p:sp>
        <p:sp>
          <p:nvSpPr>
            <p:cNvPr id="11" name="Ellipse 11"/>
            <p:cNvSpPr/>
            <p:nvPr/>
          </p:nvSpPr>
          <p:spPr>
            <a:xfrm>
              <a:off x="857250" y="2228850"/>
              <a:ext cx="762000" cy="762000"/>
            </a:xfrm>
            <a:prstGeom prst="ellipse">
              <a:avLst/>
            </a:prstGeom>
            <a:gradFill>
              <a:gsLst>
                <a:gs pos="0">
                  <a:srgbClr val="FB684A"/>
                </a:gs>
                <a:gs pos="100000">
                  <a:srgbClr val="FA421D"/>
                </a:gs>
              </a:gsLst>
              <a:lin ang="5400000" scaled="1"/>
            </a:gradFill>
            <a:ln>
              <a:noFill/>
            </a:ln>
          </p:spPr>
        </p:sp>
        <p:sp>
          <p:nvSpPr>
            <p:cNvPr id="12" name="TextBox 12"/>
            <p:cNvSpPr txBox="1"/>
            <p:nvPr/>
          </p:nvSpPr>
          <p:spPr>
            <a:xfrm>
              <a:off x="1099566" y="2458402"/>
              <a:ext cx="277368" cy="395859"/>
            </a:xfrm>
            <a:prstGeom prst="rect">
              <a:avLst/>
            </a:prstGeom>
            <a:noFill/>
            <a:ln>
              <a:noFill/>
            </a:ln>
          </p:spPr>
          <p:txBody>
            <a:bodyPr wrap="none" lIns="0" tIns="0" rIns="0" bIns="0" anchor="t" anchorCtr="0">
              <a:spAutoFit/>
            </a:bodyPr>
            <a:lstStyle/>
            <a:p>
              <a:pPr algn="ctr">
                <a:lnSpc>
                  <a:spcPts val="1500"/>
                </a:lnSpc>
              </a:pPr>
              <a:r>
                <a:rPr lang="zh-CN" sz="1050" dirty="0">
                  <a:solidFill>
                    <a:srgbClr val="FFFFFF"/>
                  </a:solidFill>
                  <a:latin typeface="+mn-lt"/>
                  <a:ea typeface="+mn-ea"/>
                  <a:cs typeface="+mn-cs"/>
                </a:rPr>
                <a:t>用户</a:t>
              </a:r>
              <a:br/>
              <a:r>
                <a:rPr lang="zh-CN" sz="1050" dirty="0">
                  <a:solidFill>
                    <a:srgbClr val="FFFFFF"/>
                  </a:solidFill>
                  <a:latin typeface="+mn-lt"/>
                  <a:ea typeface="+mn-ea"/>
                  <a:cs typeface="+mn-cs"/>
                </a:rPr>
                <a:t>触点</a:t>
              </a:r>
            </a:p>
          </p:txBody>
        </p:sp>
        <p:sp>
          <p:nvSpPr>
            <p:cNvPr id="13" name="Ellipse 13"/>
            <p:cNvSpPr/>
            <p:nvPr/>
          </p:nvSpPr>
          <p:spPr>
            <a:xfrm>
              <a:off x="895350" y="3038475"/>
              <a:ext cx="685800" cy="133350"/>
            </a:xfrm>
            <a:prstGeom prst="ellipse">
              <a:avLst/>
            </a:prstGeom>
            <a:solidFill>
              <a:srgbClr val="FBD2C9"/>
            </a:solidFill>
            <a:ln>
              <a:noFill/>
            </a:ln>
          </p:spPr>
        </p:sp>
        <p:sp>
          <p:nvSpPr>
            <p:cNvPr id="14" name="Ellipse 14"/>
            <p:cNvSpPr/>
            <p:nvPr/>
          </p:nvSpPr>
          <p:spPr>
            <a:xfrm>
              <a:off x="857250" y="3695700"/>
              <a:ext cx="762000" cy="762000"/>
            </a:xfrm>
            <a:prstGeom prst="ellipse">
              <a:avLst/>
            </a:prstGeom>
            <a:gradFill>
              <a:gsLst>
                <a:gs pos="0">
                  <a:srgbClr val="FB684A"/>
                </a:gs>
                <a:gs pos="100000">
                  <a:srgbClr val="FA421D"/>
                </a:gs>
              </a:gsLst>
              <a:lin ang="5400000" scaled="1"/>
            </a:gradFill>
            <a:ln>
              <a:noFill/>
            </a:ln>
          </p:spPr>
        </p:sp>
        <p:sp>
          <p:nvSpPr>
            <p:cNvPr id="15" name="TextBox 15"/>
            <p:cNvSpPr txBox="1"/>
            <p:nvPr/>
          </p:nvSpPr>
          <p:spPr>
            <a:xfrm>
              <a:off x="1099566" y="3925252"/>
              <a:ext cx="277368" cy="395859"/>
            </a:xfrm>
            <a:prstGeom prst="rect">
              <a:avLst/>
            </a:prstGeom>
            <a:noFill/>
            <a:ln>
              <a:noFill/>
            </a:ln>
          </p:spPr>
          <p:txBody>
            <a:bodyPr wrap="none" lIns="0" tIns="0" rIns="0" bIns="0" anchor="t" anchorCtr="0">
              <a:spAutoFit/>
            </a:bodyPr>
            <a:lstStyle/>
            <a:p>
              <a:pPr algn="ctr">
                <a:lnSpc>
                  <a:spcPts val="1500"/>
                </a:lnSpc>
              </a:pPr>
              <a:r>
                <a:rPr lang="zh-CN" sz="1050" dirty="0">
                  <a:solidFill>
                    <a:srgbClr val="FFFFFF"/>
                  </a:solidFill>
                  <a:latin typeface="+mn-lt"/>
                  <a:ea typeface="+mn-ea"/>
                  <a:cs typeface="+mn-cs"/>
                </a:rPr>
                <a:t>平台</a:t>
              </a:r>
              <a:br/>
              <a:r>
                <a:rPr lang="zh-CN" sz="1050" dirty="0">
                  <a:solidFill>
                    <a:srgbClr val="FFFFFF"/>
                  </a:solidFill>
                  <a:latin typeface="+mn-lt"/>
                  <a:ea typeface="+mn-ea"/>
                  <a:cs typeface="+mn-cs"/>
                </a:rPr>
                <a:t>能力</a:t>
              </a:r>
            </a:p>
          </p:txBody>
        </p:sp>
        <p:sp>
          <p:nvSpPr>
            <p:cNvPr id="16" name="Ellipse 16"/>
            <p:cNvSpPr/>
            <p:nvPr/>
          </p:nvSpPr>
          <p:spPr>
            <a:xfrm>
              <a:off x="895350" y="4505325"/>
              <a:ext cx="685800" cy="133350"/>
            </a:xfrm>
            <a:prstGeom prst="ellipse">
              <a:avLst/>
            </a:prstGeom>
            <a:solidFill>
              <a:srgbClr val="FBD2C9"/>
            </a:solidFill>
            <a:ln>
              <a:noFill/>
            </a:ln>
          </p:spPr>
        </p:sp>
        <p:sp>
          <p:nvSpPr>
            <p:cNvPr id="17" name="Ellipse 17"/>
            <p:cNvSpPr/>
            <p:nvPr/>
          </p:nvSpPr>
          <p:spPr>
            <a:xfrm>
              <a:off x="857250" y="5505450"/>
              <a:ext cx="762000" cy="762000"/>
            </a:xfrm>
            <a:prstGeom prst="ellipse">
              <a:avLst/>
            </a:prstGeom>
            <a:gradFill>
              <a:gsLst>
                <a:gs pos="0">
                  <a:srgbClr val="FB684A"/>
                </a:gs>
                <a:gs pos="100000">
                  <a:srgbClr val="FA421D"/>
                </a:gs>
              </a:gsLst>
              <a:lin ang="5400000" scaled="1"/>
            </a:gradFill>
            <a:ln>
              <a:noFill/>
            </a:ln>
          </p:spPr>
        </p:sp>
        <p:sp>
          <p:nvSpPr>
            <p:cNvPr id="18" name="TextBox 18"/>
            <p:cNvSpPr txBox="1"/>
            <p:nvPr/>
          </p:nvSpPr>
          <p:spPr>
            <a:xfrm>
              <a:off x="1099566" y="5735002"/>
              <a:ext cx="277368" cy="395859"/>
            </a:xfrm>
            <a:prstGeom prst="rect">
              <a:avLst/>
            </a:prstGeom>
            <a:noFill/>
            <a:ln>
              <a:noFill/>
            </a:ln>
          </p:spPr>
          <p:txBody>
            <a:bodyPr wrap="none" lIns="0" tIns="0" rIns="0" bIns="0" anchor="t" anchorCtr="0">
              <a:spAutoFit/>
            </a:bodyPr>
            <a:lstStyle/>
            <a:p>
              <a:pPr algn="ctr">
                <a:lnSpc>
                  <a:spcPts val="1500"/>
                </a:lnSpc>
              </a:pPr>
              <a:r>
                <a:rPr lang="zh-CN" sz="1050" dirty="0">
                  <a:solidFill>
                    <a:srgbClr val="FFFFFF"/>
                  </a:solidFill>
                  <a:latin typeface="+mn-lt"/>
                  <a:ea typeface="+mn-ea"/>
                  <a:cs typeface="+mn-cs"/>
                </a:rPr>
                <a:t>底层</a:t>
              </a:r>
              <a:br/>
              <a:r>
                <a:rPr lang="zh-CN" sz="1050" dirty="0">
                  <a:solidFill>
                    <a:srgbClr val="FFFFFF"/>
                  </a:solidFill>
                  <a:latin typeface="+mn-lt"/>
                  <a:ea typeface="+mn-ea"/>
                  <a:cs typeface="+mn-cs"/>
                </a:rPr>
                <a:t>资源</a:t>
              </a:r>
            </a:p>
          </p:txBody>
        </p:sp>
        <p:sp>
          <p:nvSpPr>
            <p:cNvPr id="19" name="Ellipse 19"/>
            <p:cNvSpPr/>
            <p:nvPr/>
          </p:nvSpPr>
          <p:spPr>
            <a:xfrm>
              <a:off x="895350" y="6315075"/>
              <a:ext cx="685800" cy="133350"/>
            </a:xfrm>
            <a:prstGeom prst="ellipse">
              <a:avLst/>
            </a:prstGeom>
            <a:solidFill>
              <a:srgbClr val="FBD2C9"/>
            </a:solidFill>
            <a:ln>
              <a:noFill/>
            </a:ln>
          </p:spPr>
        </p:sp>
      </p:grpSp>
      <p:grpSp>
        <p:nvGrpSpPr>
          <p:cNvPr id="61" name="row-endpoints"/>
          <p:cNvGrpSpPr/>
          <p:nvPr/>
        </p:nvGrpSpPr>
        <p:grpSpPr>
          <a:xfrm>
            <a:off x="2095500" y="1200150"/>
            <a:ext cx="9620250" cy="762000"/>
            <a:chOff x="2095500" y="1200150"/>
            <a:chExt cx="9620250" cy="762000"/>
          </a:xfrm>
        </p:grpSpPr>
        <p:sp>
          <p:nvSpPr>
            <p:cNvPr id="21" name="Rectangle 21"/>
            <p:cNvSpPr/>
            <p:nvPr/>
          </p:nvSpPr>
          <p:spPr>
            <a:xfrm>
              <a:off x="2095500" y="1200150"/>
              <a:ext cx="4667250" cy="762000"/>
            </a:xfrm>
            <a:prstGeom prst="roundRect">
              <a:avLst>
                <a:gd name="adj" fmla="val 10000"/>
              </a:avLst>
            </a:prstGeom>
            <a:solidFill>
              <a:srgbClr val="EDF4FE"/>
            </a:solidFill>
            <a:ln w="9525">
              <a:solidFill>
                <a:srgbClr val="FBD2C9"/>
              </a:solidFill>
            </a:ln>
          </p:spPr>
        </p:sp>
        <p:sp>
          <p:nvSpPr>
            <p:cNvPr id="22" name="Rectangle 22"/>
            <p:cNvSpPr/>
            <p:nvPr/>
          </p:nvSpPr>
          <p:spPr>
            <a:xfrm>
              <a:off x="2190750" y="1295400"/>
              <a:ext cx="590550" cy="571500"/>
            </a:xfrm>
            <a:prstGeom prst="roundRect">
              <a:avLst>
                <a:gd name="adj" fmla="val 6667"/>
              </a:avLst>
            </a:prstGeom>
            <a:gradFill>
              <a:gsLst>
                <a:gs pos="0">
                  <a:srgbClr val="FB684A"/>
                </a:gs>
                <a:gs pos="100000">
                  <a:srgbClr val="FA421D"/>
                </a:gs>
              </a:gsLst>
              <a:lin ang="5400000" scaled="1"/>
            </a:gradFill>
            <a:ln>
              <a:noFill/>
            </a:ln>
          </p:spPr>
        </p:sp>
        <p:sp>
          <p:nvSpPr>
            <p:cNvPr id="23" name="TextBox 23"/>
            <p:cNvSpPr txBox="1"/>
            <p:nvPr/>
          </p:nvSpPr>
          <p:spPr>
            <a:xfrm>
              <a:off x="2352218" y="1508760"/>
              <a:ext cx="267614"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C端</a:t>
              </a:r>
            </a:p>
          </p:txBody>
        </p:sp>
        <p:grpSp>
          <p:nvGrpSpPr>
            <p:cNvPr id="30" name="Group 30"/>
            <p:cNvGrpSpPr/>
            <p:nvPr/>
          </p:nvGrpSpPr>
          <p:grpSpPr>
            <a:xfrm>
              <a:off x="3071812" y="1466850"/>
              <a:ext cx="257176" cy="228600"/>
              <a:chOff x="3071812" y="1466850"/>
              <a:chExt cx="257176" cy="228600"/>
            </a:xfrm>
          </p:grpSpPr>
          <p:sp>
            <p:nvSpPr>
              <p:cNvPr id="24" name="Freeform 24"/>
              <p:cNvSpPr/>
              <p:nvPr/>
            </p:nvSpPr>
            <p:spPr>
              <a:xfrm>
                <a:off x="3071812" y="1481138"/>
                <a:ext cx="100012" cy="142875"/>
              </a:xfrm>
              <a:custGeom>
                <a:avLst/>
                <a:gdLst/>
                <a:ahLst/>
                <a:cxnLst/>
                <a:rect l="l" t="t" r="r" b="b"/>
                <a:pathLst>
                  <a:path w="100012" h="142875">
                    <a:moveTo>
                      <a:pt x="100012" y="142875"/>
                    </a:moveTo>
                    <a:lnTo>
                      <a:pt x="14288" y="142875"/>
                    </a:lnTo>
                    <a:cubicBezTo>
                      <a:pt x="6397" y="142875"/>
                      <a:pt x="0" y="136478"/>
                      <a:pt x="0" y="128588"/>
                    </a:cubicBezTo>
                    <a:lnTo>
                      <a:pt x="0" y="14288"/>
                    </a:lnTo>
                    <a:cubicBezTo>
                      <a:pt x="0" y="6397"/>
                      <a:pt x="6397" y="0"/>
                      <a:pt x="14288" y="0"/>
                    </a:cubicBezTo>
                    <a:lnTo>
                      <a:pt x="100012" y="0"/>
                    </a:lnTo>
                  </a:path>
                </a:pathLst>
              </a:custGeom>
              <a:noFill/>
              <a:ln w="21431">
                <a:solidFill>
                  <a:srgbClr val="FA421D"/>
                </a:solidFill>
              </a:ln>
            </p:spPr>
          </p:sp>
          <p:sp>
            <p:nvSpPr>
              <p:cNvPr id="25" name="Freeform 25"/>
              <p:cNvSpPr/>
              <p:nvPr/>
            </p:nvSpPr>
            <p:spPr>
              <a:xfrm>
                <a:off x="3214688" y="1466850"/>
                <a:ext cx="114300" cy="228600"/>
              </a:xfrm>
              <a:custGeom>
                <a:avLst/>
                <a:gdLst/>
                <a:ahLst/>
                <a:cxnLst/>
                <a:rect l="l" t="t" r="r" b="b"/>
                <a:pathLst>
                  <a:path w="114300" h="228600">
                    <a:moveTo>
                      <a:pt x="0" y="14288"/>
                    </a:moveTo>
                    <a:cubicBezTo>
                      <a:pt x="0" y="6397"/>
                      <a:pt x="6397" y="0"/>
                      <a:pt x="14288" y="0"/>
                    </a:cubicBezTo>
                    <a:lnTo>
                      <a:pt x="100012" y="0"/>
                    </a:lnTo>
                    <a:cubicBezTo>
                      <a:pt x="107903" y="0"/>
                      <a:pt x="114300" y="6397"/>
                      <a:pt x="114300" y="14288"/>
                    </a:cubicBezTo>
                    <a:lnTo>
                      <a:pt x="114300" y="214312"/>
                    </a:lnTo>
                    <a:cubicBezTo>
                      <a:pt x="114300" y="222203"/>
                      <a:pt x="107903" y="228600"/>
                      <a:pt x="100012" y="228600"/>
                    </a:cubicBezTo>
                    <a:lnTo>
                      <a:pt x="14288" y="228600"/>
                    </a:lnTo>
                    <a:cubicBezTo>
                      <a:pt x="6397" y="228600"/>
                      <a:pt x="0" y="222203"/>
                      <a:pt x="0" y="214312"/>
                    </a:cubicBezTo>
                    <a:lnTo>
                      <a:pt x="0" y="14288"/>
                    </a:lnTo>
                  </a:path>
                </a:pathLst>
              </a:custGeom>
              <a:noFill/>
              <a:ln w="21431">
                <a:solidFill>
                  <a:srgbClr val="FA421D"/>
                </a:solidFill>
              </a:ln>
            </p:spPr>
          </p:sp>
          <p:sp>
            <p:nvSpPr>
              <p:cNvPr id="26" name="Freeform 26"/>
              <p:cNvSpPr/>
              <p:nvPr/>
            </p:nvSpPr>
            <p:spPr>
              <a:xfrm>
                <a:off x="3128962" y="1681162"/>
                <a:ext cx="42862" cy="9525"/>
              </a:xfrm>
              <a:custGeom>
                <a:avLst/>
                <a:gdLst/>
                <a:ahLst/>
                <a:cxnLst/>
                <a:rect l="l" t="t" r="r" b="b"/>
                <a:pathLst>
                  <a:path w="42862" h="9525">
                    <a:moveTo>
                      <a:pt x="0" y="0"/>
                    </a:moveTo>
                    <a:lnTo>
                      <a:pt x="42862" y="0"/>
                    </a:lnTo>
                  </a:path>
                </a:pathLst>
              </a:custGeom>
              <a:noFill/>
              <a:ln w="21431">
                <a:solidFill>
                  <a:srgbClr val="FA421D"/>
                </a:solidFill>
              </a:ln>
            </p:spPr>
          </p:sp>
          <p:sp>
            <p:nvSpPr>
              <p:cNvPr id="27" name="Freeform 27"/>
              <p:cNvSpPr/>
              <p:nvPr/>
            </p:nvSpPr>
            <p:spPr>
              <a:xfrm>
                <a:off x="3271838" y="1524000"/>
                <a:ext cx="9525" cy="9525"/>
              </a:xfrm>
              <a:custGeom>
                <a:avLst/>
                <a:gdLst/>
                <a:ahLst/>
                <a:cxnLst/>
                <a:rect l="l" t="t" r="r" b="b"/>
                <a:pathLst>
                  <a:path w="9525" h="9525">
                    <a:moveTo>
                      <a:pt x="0" y="0"/>
                    </a:moveTo>
                    <a:lnTo>
                      <a:pt x="0" y="143"/>
                    </a:lnTo>
                  </a:path>
                </a:pathLst>
              </a:custGeom>
              <a:noFill/>
              <a:ln w="21431">
                <a:solidFill>
                  <a:srgbClr val="FA421D"/>
                </a:solidFill>
              </a:ln>
            </p:spPr>
          </p:sp>
          <p:sp>
            <p:nvSpPr>
              <p:cNvPr id="28" name="Freeform 28"/>
              <p:cNvSpPr/>
              <p:nvPr/>
            </p:nvSpPr>
            <p:spPr>
              <a:xfrm>
                <a:off x="3257550" y="16240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1431">
                <a:solidFill>
                  <a:srgbClr val="FA421D"/>
                </a:solidFill>
              </a:ln>
            </p:spPr>
          </p:sp>
          <p:sp>
            <p:nvSpPr>
              <p:cNvPr id="29" name="Freeform 29"/>
              <p:cNvSpPr/>
              <p:nvPr/>
            </p:nvSpPr>
            <p:spPr>
              <a:xfrm>
                <a:off x="3157538" y="1624012"/>
                <a:ext cx="9525" cy="57150"/>
              </a:xfrm>
              <a:custGeom>
                <a:avLst/>
                <a:gdLst/>
                <a:ahLst/>
                <a:cxnLst/>
                <a:rect l="l" t="t" r="r" b="b"/>
                <a:pathLst>
                  <a:path w="9525" h="57150">
                    <a:moveTo>
                      <a:pt x="0" y="0"/>
                    </a:moveTo>
                    <a:lnTo>
                      <a:pt x="0" y="57150"/>
                    </a:lnTo>
                  </a:path>
                </a:pathLst>
              </a:custGeom>
              <a:noFill/>
              <a:ln w="21431">
                <a:solidFill>
                  <a:srgbClr val="FA421D"/>
                </a:solidFill>
              </a:ln>
            </p:spPr>
          </p:sp>
        </p:grpSp>
        <p:sp>
          <p:nvSpPr>
            <p:cNvPr id="31" name="TextBox 31"/>
            <p:cNvSpPr txBox="1"/>
            <p:nvPr/>
          </p:nvSpPr>
          <p:spPr>
            <a:xfrm>
              <a:off x="3538347" y="1456849"/>
              <a:ext cx="258826" cy="362141"/>
            </a:xfrm>
            <a:prstGeom prst="rect">
              <a:avLst/>
            </a:prstGeom>
            <a:noFill/>
            <a:ln>
              <a:noFill/>
            </a:ln>
          </p:spPr>
          <p:txBody>
            <a:bodyPr wrap="none" lIns="0" tIns="0" rIns="0" bIns="0" anchor="t" anchorCtr="0">
              <a:spAutoFit/>
            </a:bodyPr>
            <a:lstStyle/>
            <a:p>
              <a:pPr algn="l">
                <a:lnSpc>
                  <a:spcPts val="1350"/>
                </a:lnSpc>
              </a:pPr>
              <a:r>
                <a:rPr lang="zh-CN" sz="980" dirty="0">
                  <a:solidFill>
                    <a:srgbClr val="3D241F"/>
                  </a:solidFill>
                  <a:latin typeface="+mn-lt"/>
                  <a:ea typeface="+mn-ea"/>
                  <a:cs typeface="+mn-cs"/>
                </a:rPr>
                <a:t>外部</a:t>
              </a:r>
              <a:br/>
              <a:r>
                <a:rPr lang="zh-CN" sz="980" dirty="0">
                  <a:solidFill>
                    <a:srgbClr val="3D241F"/>
                  </a:solidFill>
                  <a:latin typeface="+mn-lt"/>
                  <a:ea typeface="+mn-ea"/>
                  <a:cs typeface="+mn-cs"/>
                </a:rPr>
                <a:t>访客</a:t>
              </a:r>
            </a:p>
          </p:txBody>
        </p:sp>
        <p:grpSp>
          <p:nvGrpSpPr>
            <p:cNvPr id="38" name="Group 38"/>
            <p:cNvGrpSpPr/>
            <p:nvPr/>
          </p:nvGrpSpPr>
          <p:grpSpPr>
            <a:xfrm>
              <a:off x="4805362" y="1466850"/>
              <a:ext cx="257176" cy="228600"/>
              <a:chOff x="4805362" y="1466850"/>
              <a:chExt cx="257176" cy="228600"/>
            </a:xfrm>
          </p:grpSpPr>
          <p:sp>
            <p:nvSpPr>
              <p:cNvPr id="32" name="Freeform 32"/>
              <p:cNvSpPr/>
              <p:nvPr/>
            </p:nvSpPr>
            <p:spPr>
              <a:xfrm>
                <a:off x="4805362" y="1481138"/>
                <a:ext cx="100012" cy="142875"/>
              </a:xfrm>
              <a:custGeom>
                <a:avLst/>
                <a:gdLst/>
                <a:ahLst/>
                <a:cxnLst/>
                <a:rect l="l" t="t" r="r" b="b"/>
                <a:pathLst>
                  <a:path w="100012" h="142875">
                    <a:moveTo>
                      <a:pt x="100012" y="142875"/>
                    </a:moveTo>
                    <a:lnTo>
                      <a:pt x="14288" y="142875"/>
                    </a:lnTo>
                    <a:cubicBezTo>
                      <a:pt x="6397" y="142875"/>
                      <a:pt x="0" y="136478"/>
                      <a:pt x="0" y="128588"/>
                    </a:cubicBezTo>
                    <a:lnTo>
                      <a:pt x="0" y="14288"/>
                    </a:lnTo>
                    <a:cubicBezTo>
                      <a:pt x="0" y="6397"/>
                      <a:pt x="6397" y="0"/>
                      <a:pt x="14288" y="0"/>
                    </a:cubicBezTo>
                    <a:lnTo>
                      <a:pt x="100012" y="0"/>
                    </a:lnTo>
                  </a:path>
                </a:pathLst>
              </a:custGeom>
              <a:noFill/>
              <a:ln w="21431">
                <a:solidFill>
                  <a:srgbClr val="FA421D"/>
                </a:solidFill>
              </a:ln>
            </p:spPr>
          </p:sp>
          <p:sp>
            <p:nvSpPr>
              <p:cNvPr id="33" name="Freeform 33"/>
              <p:cNvSpPr/>
              <p:nvPr/>
            </p:nvSpPr>
            <p:spPr>
              <a:xfrm>
                <a:off x="4948238" y="1466850"/>
                <a:ext cx="114300" cy="228600"/>
              </a:xfrm>
              <a:custGeom>
                <a:avLst/>
                <a:gdLst/>
                <a:ahLst/>
                <a:cxnLst/>
                <a:rect l="l" t="t" r="r" b="b"/>
                <a:pathLst>
                  <a:path w="114300" h="228600">
                    <a:moveTo>
                      <a:pt x="0" y="14288"/>
                    </a:moveTo>
                    <a:cubicBezTo>
                      <a:pt x="0" y="6397"/>
                      <a:pt x="6397" y="0"/>
                      <a:pt x="14288" y="0"/>
                    </a:cubicBezTo>
                    <a:lnTo>
                      <a:pt x="100012" y="0"/>
                    </a:lnTo>
                    <a:cubicBezTo>
                      <a:pt x="107903" y="0"/>
                      <a:pt x="114300" y="6397"/>
                      <a:pt x="114300" y="14288"/>
                    </a:cubicBezTo>
                    <a:lnTo>
                      <a:pt x="114300" y="214312"/>
                    </a:lnTo>
                    <a:cubicBezTo>
                      <a:pt x="114300" y="222203"/>
                      <a:pt x="107903" y="228600"/>
                      <a:pt x="100012" y="228600"/>
                    </a:cubicBezTo>
                    <a:lnTo>
                      <a:pt x="14288" y="228600"/>
                    </a:lnTo>
                    <a:cubicBezTo>
                      <a:pt x="6397" y="228600"/>
                      <a:pt x="0" y="222203"/>
                      <a:pt x="0" y="214312"/>
                    </a:cubicBezTo>
                    <a:lnTo>
                      <a:pt x="0" y="14288"/>
                    </a:lnTo>
                  </a:path>
                </a:pathLst>
              </a:custGeom>
              <a:noFill/>
              <a:ln w="21431">
                <a:solidFill>
                  <a:srgbClr val="FA421D"/>
                </a:solidFill>
              </a:ln>
            </p:spPr>
          </p:sp>
          <p:sp>
            <p:nvSpPr>
              <p:cNvPr id="34" name="Freeform 34"/>
              <p:cNvSpPr/>
              <p:nvPr/>
            </p:nvSpPr>
            <p:spPr>
              <a:xfrm>
                <a:off x="4862512" y="1681162"/>
                <a:ext cx="42862" cy="9525"/>
              </a:xfrm>
              <a:custGeom>
                <a:avLst/>
                <a:gdLst/>
                <a:ahLst/>
                <a:cxnLst/>
                <a:rect l="l" t="t" r="r" b="b"/>
                <a:pathLst>
                  <a:path w="42862" h="9525">
                    <a:moveTo>
                      <a:pt x="0" y="0"/>
                    </a:moveTo>
                    <a:lnTo>
                      <a:pt x="42862" y="0"/>
                    </a:lnTo>
                  </a:path>
                </a:pathLst>
              </a:custGeom>
              <a:noFill/>
              <a:ln w="21431">
                <a:solidFill>
                  <a:srgbClr val="FA421D"/>
                </a:solidFill>
              </a:ln>
            </p:spPr>
          </p:sp>
          <p:sp>
            <p:nvSpPr>
              <p:cNvPr id="35" name="Freeform 35"/>
              <p:cNvSpPr/>
              <p:nvPr/>
            </p:nvSpPr>
            <p:spPr>
              <a:xfrm>
                <a:off x="5005388" y="1524000"/>
                <a:ext cx="9525" cy="9525"/>
              </a:xfrm>
              <a:custGeom>
                <a:avLst/>
                <a:gdLst/>
                <a:ahLst/>
                <a:cxnLst/>
                <a:rect l="l" t="t" r="r" b="b"/>
                <a:pathLst>
                  <a:path w="9525" h="9525">
                    <a:moveTo>
                      <a:pt x="0" y="0"/>
                    </a:moveTo>
                    <a:lnTo>
                      <a:pt x="0" y="143"/>
                    </a:lnTo>
                  </a:path>
                </a:pathLst>
              </a:custGeom>
              <a:noFill/>
              <a:ln w="21431">
                <a:solidFill>
                  <a:srgbClr val="FA421D"/>
                </a:solidFill>
              </a:ln>
            </p:spPr>
          </p:sp>
          <p:sp>
            <p:nvSpPr>
              <p:cNvPr id="36" name="Freeform 36"/>
              <p:cNvSpPr/>
              <p:nvPr/>
            </p:nvSpPr>
            <p:spPr>
              <a:xfrm>
                <a:off x="4991100" y="16240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1431">
                <a:solidFill>
                  <a:srgbClr val="FA421D"/>
                </a:solidFill>
              </a:ln>
            </p:spPr>
          </p:sp>
          <p:sp>
            <p:nvSpPr>
              <p:cNvPr id="37" name="Freeform 37"/>
              <p:cNvSpPr/>
              <p:nvPr/>
            </p:nvSpPr>
            <p:spPr>
              <a:xfrm>
                <a:off x="4891088" y="1624012"/>
                <a:ext cx="9525" cy="57150"/>
              </a:xfrm>
              <a:custGeom>
                <a:avLst/>
                <a:gdLst/>
                <a:ahLst/>
                <a:cxnLst/>
                <a:rect l="l" t="t" r="r" b="b"/>
                <a:pathLst>
                  <a:path w="9525" h="57150">
                    <a:moveTo>
                      <a:pt x="0" y="0"/>
                    </a:moveTo>
                    <a:lnTo>
                      <a:pt x="0" y="57150"/>
                    </a:lnTo>
                  </a:path>
                </a:pathLst>
              </a:custGeom>
              <a:noFill/>
              <a:ln w="21431">
                <a:solidFill>
                  <a:srgbClr val="FA421D"/>
                </a:solidFill>
              </a:ln>
            </p:spPr>
          </p:sp>
        </p:grpSp>
        <p:sp>
          <p:nvSpPr>
            <p:cNvPr id="39" name="TextBox 39"/>
            <p:cNvSpPr txBox="1"/>
            <p:nvPr/>
          </p:nvSpPr>
          <p:spPr>
            <a:xfrm>
              <a:off x="5271897" y="1456849"/>
              <a:ext cx="258826" cy="362141"/>
            </a:xfrm>
            <a:prstGeom prst="rect">
              <a:avLst/>
            </a:prstGeom>
            <a:noFill/>
            <a:ln>
              <a:noFill/>
            </a:ln>
          </p:spPr>
          <p:txBody>
            <a:bodyPr wrap="none" lIns="0" tIns="0" rIns="0" bIns="0" anchor="t" anchorCtr="0">
              <a:spAutoFit/>
            </a:bodyPr>
            <a:lstStyle/>
            <a:p>
              <a:pPr algn="l">
                <a:lnSpc>
                  <a:spcPts val="1350"/>
                </a:lnSpc>
              </a:pPr>
              <a:r>
                <a:rPr lang="zh-CN" sz="980" dirty="0">
                  <a:solidFill>
                    <a:srgbClr val="3D241F"/>
                  </a:solidFill>
                  <a:latin typeface="+mn-lt"/>
                  <a:ea typeface="+mn-ea"/>
                  <a:cs typeface="+mn-cs"/>
                </a:rPr>
                <a:t>小区</a:t>
              </a:r>
              <a:br/>
              <a:r>
                <a:rPr lang="zh-CN" sz="980" dirty="0">
                  <a:solidFill>
                    <a:srgbClr val="3D241F"/>
                  </a:solidFill>
                  <a:latin typeface="+mn-lt"/>
                  <a:ea typeface="+mn-ea"/>
                  <a:cs typeface="+mn-cs"/>
                </a:rPr>
                <a:t>业主</a:t>
              </a:r>
            </a:p>
          </p:txBody>
        </p:sp>
        <p:sp>
          <p:nvSpPr>
            <p:cNvPr id="40" name="TextBox 40"/>
            <p:cNvSpPr txBox="1"/>
            <p:nvPr/>
          </p:nvSpPr>
          <p:spPr>
            <a:xfrm>
              <a:off x="6301412" y="1508760"/>
              <a:ext cx="198775" cy="234696"/>
            </a:xfrm>
            <a:prstGeom prst="rect">
              <a:avLst/>
            </a:prstGeom>
            <a:noFill/>
            <a:ln>
              <a:noFill/>
            </a:ln>
          </p:spPr>
          <p:txBody>
            <a:bodyPr wrap="none" lIns="0" tIns="0" rIns="0" bIns="0" anchor="t" anchorCtr="0">
              <a:spAutoFit/>
            </a:bodyPr>
            <a:lstStyle/>
            <a:p>
              <a:pPr algn="ctr"/>
              <a:r>
                <a:rPr lang="zh-CN" sz="1200" b="1" dirty="0">
                  <a:solidFill>
                    <a:srgbClr val="3D241F"/>
                  </a:solidFill>
                  <a:latin typeface="+mn-lt"/>
                  <a:ea typeface="+mn-ea"/>
                  <a:cs typeface="+mn-cs"/>
                </a:rPr>
                <a:t>……</a:t>
              </a:r>
            </a:p>
          </p:txBody>
        </p:sp>
        <p:sp>
          <p:nvSpPr>
            <p:cNvPr id="41" name="Rectangle 41"/>
            <p:cNvSpPr/>
            <p:nvPr/>
          </p:nvSpPr>
          <p:spPr>
            <a:xfrm>
              <a:off x="7048500" y="1200150"/>
              <a:ext cx="4667250" cy="762000"/>
            </a:xfrm>
            <a:prstGeom prst="roundRect">
              <a:avLst>
                <a:gd name="adj" fmla="val 10000"/>
              </a:avLst>
            </a:prstGeom>
            <a:solidFill>
              <a:srgbClr val="EDF4FE"/>
            </a:solidFill>
            <a:ln w="9525">
              <a:solidFill>
                <a:srgbClr val="FBD2C9"/>
              </a:solidFill>
            </a:ln>
          </p:spPr>
        </p:sp>
        <p:sp>
          <p:nvSpPr>
            <p:cNvPr id="42" name="Rectangle 42"/>
            <p:cNvSpPr/>
            <p:nvPr/>
          </p:nvSpPr>
          <p:spPr>
            <a:xfrm>
              <a:off x="7143750" y="1295400"/>
              <a:ext cx="590550" cy="571500"/>
            </a:xfrm>
            <a:prstGeom prst="roundRect">
              <a:avLst>
                <a:gd name="adj" fmla="val 6667"/>
              </a:avLst>
            </a:prstGeom>
            <a:gradFill>
              <a:gsLst>
                <a:gs pos="0">
                  <a:srgbClr val="FB684A"/>
                </a:gs>
                <a:gs pos="100000">
                  <a:srgbClr val="FA421D"/>
                </a:gs>
              </a:gsLst>
              <a:lin ang="5400000" scaled="1"/>
            </a:gradFill>
            <a:ln>
              <a:noFill/>
            </a:ln>
          </p:spPr>
        </p:sp>
        <p:sp>
          <p:nvSpPr>
            <p:cNvPr id="43" name="TextBox 43"/>
            <p:cNvSpPr txBox="1"/>
            <p:nvPr/>
          </p:nvSpPr>
          <p:spPr>
            <a:xfrm>
              <a:off x="7305218" y="1508760"/>
              <a:ext cx="267614"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B端</a:t>
              </a:r>
            </a:p>
          </p:txBody>
        </p:sp>
        <p:grpSp>
          <p:nvGrpSpPr>
            <p:cNvPr id="50" name="Group 50"/>
            <p:cNvGrpSpPr/>
            <p:nvPr/>
          </p:nvGrpSpPr>
          <p:grpSpPr>
            <a:xfrm>
              <a:off x="8024812" y="1466850"/>
              <a:ext cx="257176" cy="228600"/>
              <a:chOff x="8024812" y="1466850"/>
              <a:chExt cx="257176" cy="228600"/>
            </a:xfrm>
          </p:grpSpPr>
          <p:sp>
            <p:nvSpPr>
              <p:cNvPr id="44" name="Freeform 44"/>
              <p:cNvSpPr/>
              <p:nvPr/>
            </p:nvSpPr>
            <p:spPr>
              <a:xfrm>
                <a:off x="8024812" y="1481138"/>
                <a:ext cx="100012" cy="142875"/>
              </a:xfrm>
              <a:custGeom>
                <a:avLst/>
                <a:gdLst/>
                <a:ahLst/>
                <a:cxnLst/>
                <a:rect l="l" t="t" r="r" b="b"/>
                <a:pathLst>
                  <a:path w="100012" h="142875">
                    <a:moveTo>
                      <a:pt x="100012" y="142875"/>
                    </a:moveTo>
                    <a:lnTo>
                      <a:pt x="14288" y="142875"/>
                    </a:lnTo>
                    <a:cubicBezTo>
                      <a:pt x="6397" y="142875"/>
                      <a:pt x="0" y="136478"/>
                      <a:pt x="0" y="128588"/>
                    </a:cubicBezTo>
                    <a:lnTo>
                      <a:pt x="0" y="14288"/>
                    </a:lnTo>
                    <a:cubicBezTo>
                      <a:pt x="0" y="6397"/>
                      <a:pt x="6397" y="0"/>
                      <a:pt x="14288" y="0"/>
                    </a:cubicBezTo>
                    <a:lnTo>
                      <a:pt x="100012" y="0"/>
                    </a:lnTo>
                  </a:path>
                </a:pathLst>
              </a:custGeom>
              <a:noFill/>
              <a:ln w="21431">
                <a:solidFill>
                  <a:srgbClr val="FA421D"/>
                </a:solidFill>
              </a:ln>
            </p:spPr>
          </p:sp>
          <p:sp>
            <p:nvSpPr>
              <p:cNvPr id="45" name="Freeform 45"/>
              <p:cNvSpPr/>
              <p:nvPr/>
            </p:nvSpPr>
            <p:spPr>
              <a:xfrm>
                <a:off x="8167688" y="1466850"/>
                <a:ext cx="114300" cy="228600"/>
              </a:xfrm>
              <a:custGeom>
                <a:avLst/>
                <a:gdLst/>
                <a:ahLst/>
                <a:cxnLst/>
                <a:rect l="l" t="t" r="r" b="b"/>
                <a:pathLst>
                  <a:path w="114300" h="228600">
                    <a:moveTo>
                      <a:pt x="0" y="14288"/>
                    </a:moveTo>
                    <a:cubicBezTo>
                      <a:pt x="0" y="6397"/>
                      <a:pt x="6397" y="0"/>
                      <a:pt x="14288" y="0"/>
                    </a:cubicBezTo>
                    <a:lnTo>
                      <a:pt x="100012" y="0"/>
                    </a:lnTo>
                    <a:cubicBezTo>
                      <a:pt x="107903" y="0"/>
                      <a:pt x="114300" y="6397"/>
                      <a:pt x="114300" y="14288"/>
                    </a:cubicBezTo>
                    <a:lnTo>
                      <a:pt x="114300" y="214312"/>
                    </a:lnTo>
                    <a:cubicBezTo>
                      <a:pt x="114300" y="222203"/>
                      <a:pt x="107903" y="228600"/>
                      <a:pt x="100012" y="228600"/>
                    </a:cubicBezTo>
                    <a:lnTo>
                      <a:pt x="14288" y="228600"/>
                    </a:lnTo>
                    <a:cubicBezTo>
                      <a:pt x="6397" y="228600"/>
                      <a:pt x="0" y="222203"/>
                      <a:pt x="0" y="214312"/>
                    </a:cubicBezTo>
                    <a:lnTo>
                      <a:pt x="0" y="14288"/>
                    </a:lnTo>
                  </a:path>
                </a:pathLst>
              </a:custGeom>
              <a:noFill/>
              <a:ln w="21431">
                <a:solidFill>
                  <a:srgbClr val="FA421D"/>
                </a:solidFill>
              </a:ln>
            </p:spPr>
          </p:sp>
          <p:sp>
            <p:nvSpPr>
              <p:cNvPr id="46" name="Freeform 46"/>
              <p:cNvSpPr/>
              <p:nvPr/>
            </p:nvSpPr>
            <p:spPr>
              <a:xfrm>
                <a:off x="8081962" y="1681162"/>
                <a:ext cx="42862" cy="9525"/>
              </a:xfrm>
              <a:custGeom>
                <a:avLst/>
                <a:gdLst/>
                <a:ahLst/>
                <a:cxnLst/>
                <a:rect l="l" t="t" r="r" b="b"/>
                <a:pathLst>
                  <a:path w="42862" h="9525">
                    <a:moveTo>
                      <a:pt x="0" y="0"/>
                    </a:moveTo>
                    <a:lnTo>
                      <a:pt x="42862" y="0"/>
                    </a:lnTo>
                  </a:path>
                </a:pathLst>
              </a:custGeom>
              <a:noFill/>
              <a:ln w="21431">
                <a:solidFill>
                  <a:srgbClr val="FA421D"/>
                </a:solidFill>
              </a:ln>
            </p:spPr>
          </p:sp>
          <p:sp>
            <p:nvSpPr>
              <p:cNvPr id="47" name="Freeform 47"/>
              <p:cNvSpPr/>
              <p:nvPr/>
            </p:nvSpPr>
            <p:spPr>
              <a:xfrm>
                <a:off x="8224838" y="1524000"/>
                <a:ext cx="9525" cy="9525"/>
              </a:xfrm>
              <a:custGeom>
                <a:avLst/>
                <a:gdLst/>
                <a:ahLst/>
                <a:cxnLst/>
                <a:rect l="l" t="t" r="r" b="b"/>
                <a:pathLst>
                  <a:path w="9525" h="9525">
                    <a:moveTo>
                      <a:pt x="0" y="0"/>
                    </a:moveTo>
                    <a:lnTo>
                      <a:pt x="0" y="143"/>
                    </a:lnTo>
                  </a:path>
                </a:pathLst>
              </a:custGeom>
              <a:noFill/>
              <a:ln w="21431">
                <a:solidFill>
                  <a:srgbClr val="FA421D"/>
                </a:solidFill>
              </a:ln>
            </p:spPr>
          </p:sp>
          <p:sp>
            <p:nvSpPr>
              <p:cNvPr id="48" name="Freeform 48"/>
              <p:cNvSpPr/>
              <p:nvPr/>
            </p:nvSpPr>
            <p:spPr>
              <a:xfrm>
                <a:off x="8210550" y="16240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1431">
                <a:solidFill>
                  <a:srgbClr val="FA421D"/>
                </a:solidFill>
              </a:ln>
            </p:spPr>
          </p:sp>
          <p:sp>
            <p:nvSpPr>
              <p:cNvPr id="49" name="Freeform 49"/>
              <p:cNvSpPr/>
              <p:nvPr/>
            </p:nvSpPr>
            <p:spPr>
              <a:xfrm>
                <a:off x="8110538" y="1624012"/>
                <a:ext cx="9525" cy="57150"/>
              </a:xfrm>
              <a:custGeom>
                <a:avLst/>
                <a:gdLst/>
                <a:ahLst/>
                <a:cxnLst/>
                <a:rect l="l" t="t" r="r" b="b"/>
                <a:pathLst>
                  <a:path w="9525" h="57150">
                    <a:moveTo>
                      <a:pt x="0" y="0"/>
                    </a:moveTo>
                    <a:lnTo>
                      <a:pt x="0" y="57150"/>
                    </a:lnTo>
                  </a:path>
                </a:pathLst>
              </a:custGeom>
              <a:noFill/>
              <a:ln w="21431">
                <a:solidFill>
                  <a:srgbClr val="FA421D"/>
                </a:solidFill>
              </a:ln>
            </p:spPr>
          </p:sp>
        </p:grpSp>
        <p:sp>
          <p:nvSpPr>
            <p:cNvPr id="51" name="TextBox 51"/>
            <p:cNvSpPr txBox="1"/>
            <p:nvPr/>
          </p:nvSpPr>
          <p:spPr>
            <a:xfrm>
              <a:off x="8491347" y="1456849"/>
              <a:ext cx="383286" cy="362141"/>
            </a:xfrm>
            <a:prstGeom prst="rect">
              <a:avLst/>
            </a:prstGeom>
            <a:noFill/>
            <a:ln>
              <a:noFill/>
            </a:ln>
          </p:spPr>
          <p:txBody>
            <a:bodyPr wrap="none" lIns="0" tIns="0" rIns="0" bIns="0" anchor="t" anchorCtr="0">
              <a:spAutoFit/>
            </a:bodyPr>
            <a:lstStyle/>
            <a:p>
              <a:pPr algn="l">
                <a:lnSpc>
                  <a:spcPts val="1350"/>
                </a:lnSpc>
              </a:pPr>
              <a:r>
                <a:rPr lang="zh-CN" sz="980" dirty="0">
                  <a:solidFill>
                    <a:srgbClr val="3D241F"/>
                  </a:solidFill>
                  <a:latin typeface="+mn-lt"/>
                  <a:ea typeface="+mn-ea"/>
                  <a:cs typeface="+mn-cs"/>
                </a:rPr>
                <a:t>小区</a:t>
              </a:r>
              <a:br/>
              <a:r>
                <a:rPr lang="zh-CN" sz="980" dirty="0">
                  <a:solidFill>
                    <a:srgbClr val="3D241F"/>
                  </a:solidFill>
                  <a:latin typeface="+mn-lt"/>
                  <a:ea typeface="+mn-ea"/>
                  <a:cs typeface="+mn-cs"/>
                </a:rPr>
                <a:t>管理员</a:t>
              </a:r>
            </a:p>
          </p:txBody>
        </p:sp>
        <p:grpSp>
          <p:nvGrpSpPr>
            <p:cNvPr id="58" name="Group 58"/>
            <p:cNvGrpSpPr/>
            <p:nvPr/>
          </p:nvGrpSpPr>
          <p:grpSpPr>
            <a:xfrm>
              <a:off x="9758362" y="1466850"/>
              <a:ext cx="257176" cy="228600"/>
              <a:chOff x="9758362" y="1466850"/>
              <a:chExt cx="257176" cy="228600"/>
            </a:xfrm>
          </p:grpSpPr>
          <p:sp>
            <p:nvSpPr>
              <p:cNvPr id="52" name="Freeform 52"/>
              <p:cNvSpPr/>
              <p:nvPr/>
            </p:nvSpPr>
            <p:spPr>
              <a:xfrm>
                <a:off x="9758362" y="1481138"/>
                <a:ext cx="100012" cy="142875"/>
              </a:xfrm>
              <a:custGeom>
                <a:avLst/>
                <a:gdLst/>
                <a:ahLst/>
                <a:cxnLst/>
                <a:rect l="l" t="t" r="r" b="b"/>
                <a:pathLst>
                  <a:path w="100012" h="142875">
                    <a:moveTo>
                      <a:pt x="100012" y="142875"/>
                    </a:moveTo>
                    <a:lnTo>
                      <a:pt x="14288" y="142875"/>
                    </a:lnTo>
                    <a:cubicBezTo>
                      <a:pt x="6397" y="142875"/>
                      <a:pt x="0" y="136478"/>
                      <a:pt x="0" y="128588"/>
                    </a:cubicBezTo>
                    <a:lnTo>
                      <a:pt x="0" y="14288"/>
                    </a:lnTo>
                    <a:cubicBezTo>
                      <a:pt x="0" y="6397"/>
                      <a:pt x="6397" y="0"/>
                      <a:pt x="14288" y="0"/>
                    </a:cubicBezTo>
                    <a:lnTo>
                      <a:pt x="100012" y="0"/>
                    </a:lnTo>
                  </a:path>
                </a:pathLst>
              </a:custGeom>
              <a:noFill/>
              <a:ln w="21431">
                <a:solidFill>
                  <a:srgbClr val="FA421D"/>
                </a:solidFill>
              </a:ln>
            </p:spPr>
          </p:sp>
          <p:sp>
            <p:nvSpPr>
              <p:cNvPr id="53" name="Freeform 53"/>
              <p:cNvSpPr/>
              <p:nvPr/>
            </p:nvSpPr>
            <p:spPr>
              <a:xfrm>
                <a:off x="9901238" y="1466850"/>
                <a:ext cx="114300" cy="228600"/>
              </a:xfrm>
              <a:custGeom>
                <a:avLst/>
                <a:gdLst/>
                <a:ahLst/>
                <a:cxnLst/>
                <a:rect l="l" t="t" r="r" b="b"/>
                <a:pathLst>
                  <a:path w="114300" h="228600">
                    <a:moveTo>
                      <a:pt x="0" y="14288"/>
                    </a:moveTo>
                    <a:cubicBezTo>
                      <a:pt x="0" y="6397"/>
                      <a:pt x="6397" y="0"/>
                      <a:pt x="14288" y="0"/>
                    </a:cubicBezTo>
                    <a:lnTo>
                      <a:pt x="100012" y="0"/>
                    </a:lnTo>
                    <a:cubicBezTo>
                      <a:pt x="107903" y="0"/>
                      <a:pt x="114300" y="6397"/>
                      <a:pt x="114300" y="14288"/>
                    </a:cubicBezTo>
                    <a:lnTo>
                      <a:pt x="114300" y="214312"/>
                    </a:lnTo>
                    <a:cubicBezTo>
                      <a:pt x="114300" y="222203"/>
                      <a:pt x="107903" y="228600"/>
                      <a:pt x="100012" y="228600"/>
                    </a:cubicBezTo>
                    <a:lnTo>
                      <a:pt x="14288" y="228600"/>
                    </a:lnTo>
                    <a:cubicBezTo>
                      <a:pt x="6397" y="228600"/>
                      <a:pt x="0" y="222203"/>
                      <a:pt x="0" y="214312"/>
                    </a:cubicBezTo>
                    <a:lnTo>
                      <a:pt x="0" y="14288"/>
                    </a:lnTo>
                  </a:path>
                </a:pathLst>
              </a:custGeom>
              <a:noFill/>
              <a:ln w="21431">
                <a:solidFill>
                  <a:srgbClr val="FA421D"/>
                </a:solidFill>
              </a:ln>
            </p:spPr>
          </p:sp>
          <p:sp>
            <p:nvSpPr>
              <p:cNvPr id="54" name="Freeform 54"/>
              <p:cNvSpPr/>
              <p:nvPr/>
            </p:nvSpPr>
            <p:spPr>
              <a:xfrm>
                <a:off x="9815512" y="1681162"/>
                <a:ext cx="42862" cy="9525"/>
              </a:xfrm>
              <a:custGeom>
                <a:avLst/>
                <a:gdLst/>
                <a:ahLst/>
                <a:cxnLst/>
                <a:rect l="l" t="t" r="r" b="b"/>
                <a:pathLst>
                  <a:path w="42862" h="9525">
                    <a:moveTo>
                      <a:pt x="0" y="0"/>
                    </a:moveTo>
                    <a:lnTo>
                      <a:pt x="42862" y="0"/>
                    </a:lnTo>
                  </a:path>
                </a:pathLst>
              </a:custGeom>
              <a:noFill/>
              <a:ln w="21431">
                <a:solidFill>
                  <a:srgbClr val="FA421D"/>
                </a:solidFill>
              </a:ln>
            </p:spPr>
          </p:sp>
          <p:sp>
            <p:nvSpPr>
              <p:cNvPr id="55" name="Freeform 55"/>
              <p:cNvSpPr/>
              <p:nvPr/>
            </p:nvSpPr>
            <p:spPr>
              <a:xfrm>
                <a:off x="9958388" y="1524000"/>
                <a:ext cx="9525" cy="9525"/>
              </a:xfrm>
              <a:custGeom>
                <a:avLst/>
                <a:gdLst/>
                <a:ahLst/>
                <a:cxnLst/>
                <a:rect l="l" t="t" r="r" b="b"/>
                <a:pathLst>
                  <a:path w="9525" h="9525">
                    <a:moveTo>
                      <a:pt x="0" y="0"/>
                    </a:moveTo>
                    <a:lnTo>
                      <a:pt x="0" y="143"/>
                    </a:lnTo>
                  </a:path>
                </a:pathLst>
              </a:custGeom>
              <a:noFill/>
              <a:ln w="21431">
                <a:solidFill>
                  <a:srgbClr val="FA421D"/>
                </a:solidFill>
              </a:ln>
            </p:spPr>
          </p:sp>
          <p:sp>
            <p:nvSpPr>
              <p:cNvPr id="56" name="Freeform 56"/>
              <p:cNvSpPr/>
              <p:nvPr/>
            </p:nvSpPr>
            <p:spPr>
              <a:xfrm>
                <a:off x="9944100" y="16240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1431">
                <a:solidFill>
                  <a:srgbClr val="FA421D"/>
                </a:solidFill>
              </a:ln>
            </p:spPr>
          </p:sp>
          <p:sp>
            <p:nvSpPr>
              <p:cNvPr id="57" name="Freeform 57"/>
              <p:cNvSpPr/>
              <p:nvPr/>
            </p:nvSpPr>
            <p:spPr>
              <a:xfrm>
                <a:off x="9844088" y="1624012"/>
                <a:ext cx="9525" cy="57150"/>
              </a:xfrm>
              <a:custGeom>
                <a:avLst/>
                <a:gdLst/>
                <a:ahLst/>
                <a:cxnLst/>
                <a:rect l="l" t="t" r="r" b="b"/>
                <a:pathLst>
                  <a:path w="9525" h="57150">
                    <a:moveTo>
                      <a:pt x="0" y="0"/>
                    </a:moveTo>
                    <a:lnTo>
                      <a:pt x="0" y="57150"/>
                    </a:lnTo>
                  </a:path>
                </a:pathLst>
              </a:custGeom>
              <a:noFill/>
              <a:ln w="21431">
                <a:solidFill>
                  <a:srgbClr val="FA421D"/>
                </a:solidFill>
              </a:ln>
            </p:spPr>
          </p:sp>
        </p:grpSp>
        <p:sp>
          <p:nvSpPr>
            <p:cNvPr id="59" name="TextBox 59"/>
            <p:cNvSpPr txBox="1"/>
            <p:nvPr/>
          </p:nvSpPr>
          <p:spPr>
            <a:xfrm>
              <a:off x="10224897" y="1456849"/>
              <a:ext cx="258826" cy="362141"/>
            </a:xfrm>
            <a:prstGeom prst="rect">
              <a:avLst/>
            </a:prstGeom>
            <a:noFill/>
            <a:ln>
              <a:noFill/>
            </a:ln>
          </p:spPr>
          <p:txBody>
            <a:bodyPr wrap="none" lIns="0" tIns="0" rIns="0" bIns="0" anchor="t" anchorCtr="0">
              <a:spAutoFit/>
            </a:bodyPr>
            <a:lstStyle/>
            <a:p>
              <a:pPr algn="l">
                <a:lnSpc>
                  <a:spcPts val="1350"/>
                </a:lnSpc>
              </a:pPr>
              <a:r>
                <a:rPr lang="zh-CN" sz="980" dirty="0">
                  <a:solidFill>
                    <a:srgbClr val="3D241F"/>
                  </a:solidFill>
                  <a:latin typeface="+mn-lt"/>
                  <a:ea typeface="+mn-ea"/>
                  <a:cs typeface="+mn-cs"/>
                </a:rPr>
                <a:t>服务</a:t>
              </a:r>
              <a:br/>
              <a:r>
                <a:rPr lang="zh-CN" sz="980" dirty="0">
                  <a:solidFill>
                    <a:srgbClr val="3D241F"/>
                  </a:solidFill>
                  <a:latin typeface="+mn-lt"/>
                  <a:ea typeface="+mn-ea"/>
                  <a:cs typeface="+mn-cs"/>
                </a:rPr>
                <a:t>人员</a:t>
              </a:r>
            </a:p>
          </p:txBody>
        </p:sp>
        <p:sp>
          <p:nvSpPr>
            <p:cNvPr id="60" name="TextBox 60"/>
            <p:cNvSpPr txBox="1"/>
            <p:nvPr/>
          </p:nvSpPr>
          <p:spPr>
            <a:xfrm>
              <a:off x="11254412" y="1508760"/>
              <a:ext cx="198775" cy="234696"/>
            </a:xfrm>
            <a:prstGeom prst="rect">
              <a:avLst/>
            </a:prstGeom>
            <a:noFill/>
            <a:ln>
              <a:noFill/>
            </a:ln>
          </p:spPr>
          <p:txBody>
            <a:bodyPr wrap="none" lIns="0" tIns="0" rIns="0" bIns="0" anchor="t" anchorCtr="0">
              <a:spAutoFit/>
            </a:bodyPr>
            <a:lstStyle/>
            <a:p>
              <a:pPr algn="ctr"/>
              <a:r>
                <a:rPr lang="zh-CN" sz="1200" b="1" dirty="0">
                  <a:solidFill>
                    <a:srgbClr val="3D241F"/>
                  </a:solidFill>
                  <a:latin typeface="+mn-lt"/>
                  <a:ea typeface="+mn-ea"/>
                  <a:cs typeface="+mn-cs"/>
                </a:rPr>
                <a:t>……</a:t>
              </a:r>
            </a:p>
          </p:txBody>
        </p:sp>
      </p:grpSp>
      <p:grpSp>
        <p:nvGrpSpPr>
          <p:cNvPr id="101" name="row-touchpoints"/>
          <p:cNvGrpSpPr/>
          <p:nvPr/>
        </p:nvGrpSpPr>
        <p:grpSpPr>
          <a:xfrm>
            <a:off x="2095500" y="2133600"/>
            <a:ext cx="9620250" cy="666750"/>
            <a:chOff x="2095500" y="2133600"/>
            <a:chExt cx="9620250" cy="666750"/>
          </a:xfrm>
        </p:grpSpPr>
        <p:sp>
          <p:nvSpPr>
            <p:cNvPr id="62" name="Rectangle 62"/>
            <p:cNvSpPr/>
            <p:nvPr/>
          </p:nvSpPr>
          <p:spPr>
            <a:xfrm>
              <a:off x="2095500" y="2133600"/>
              <a:ext cx="4667250" cy="666750"/>
            </a:xfrm>
            <a:prstGeom prst="roundRect">
              <a:avLst>
                <a:gd name="adj" fmla="val 11429"/>
              </a:avLst>
            </a:prstGeom>
            <a:solidFill>
              <a:srgbClr val="EDF4FE"/>
            </a:solidFill>
            <a:ln w="9525">
              <a:solidFill>
                <a:srgbClr val="FBD2C9"/>
              </a:solidFill>
            </a:ln>
          </p:spPr>
        </p:sp>
        <p:sp>
          <p:nvSpPr>
            <p:cNvPr id="63" name="Ellipse 63"/>
            <p:cNvSpPr/>
            <p:nvPr/>
          </p:nvSpPr>
          <p:spPr>
            <a:xfrm>
              <a:off x="2743200" y="2257425"/>
              <a:ext cx="419100" cy="419100"/>
            </a:xfrm>
            <a:prstGeom prst="ellipse">
              <a:avLst/>
            </a:prstGeom>
            <a:solidFill>
              <a:srgbClr val="C12507"/>
            </a:solidFill>
            <a:ln>
              <a:noFill/>
            </a:ln>
          </p:spPr>
        </p:sp>
        <p:grpSp>
          <p:nvGrpSpPr>
            <p:cNvPr id="70" name="Group 70"/>
            <p:cNvGrpSpPr/>
            <p:nvPr/>
          </p:nvGrpSpPr>
          <p:grpSpPr>
            <a:xfrm>
              <a:off x="2857500" y="2390775"/>
              <a:ext cx="190500" cy="152400"/>
              <a:chOff x="2857500" y="2390775"/>
              <a:chExt cx="190500" cy="152400"/>
            </a:xfrm>
          </p:grpSpPr>
          <p:sp>
            <p:nvSpPr>
              <p:cNvPr id="64" name="Freeform 64"/>
              <p:cNvSpPr/>
              <p:nvPr/>
            </p:nvSpPr>
            <p:spPr>
              <a:xfrm>
                <a:off x="2943225" y="2447925"/>
                <a:ext cx="104775" cy="95250"/>
              </a:xfrm>
              <a:custGeom>
                <a:avLst/>
                <a:gdLst/>
                <a:ahLst/>
                <a:cxnLst/>
                <a:rect l="l" t="t" r="r" b="b"/>
                <a:pathLst>
                  <a:path w="104775" h="95250">
                    <a:moveTo>
                      <a:pt x="52388" y="0"/>
                    </a:moveTo>
                    <a:cubicBezTo>
                      <a:pt x="81324" y="0"/>
                      <a:pt x="104775" y="19193"/>
                      <a:pt x="104775" y="42862"/>
                    </a:cubicBezTo>
                    <a:cubicBezTo>
                      <a:pt x="104775" y="56169"/>
                      <a:pt x="97365" y="68056"/>
                      <a:pt x="85725" y="75914"/>
                    </a:cubicBezTo>
                    <a:lnTo>
                      <a:pt x="85725" y="95250"/>
                    </a:lnTo>
                    <a:lnTo>
                      <a:pt x="67018" y="84030"/>
                    </a:lnTo>
                    <a:cubicBezTo>
                      <a:pt x="62224" y="85162"/>
                      <a:pt x="57314" y="85731"/>
                      <a:pt x="52388" y="85725"/>
                    </a:cubicBezTo>
                    <a:cubicBezTo>
                      <a:pt x="23451" y="85725"/>
                      <a:pt x="0" y="66532"/>
                      <a:pt x="0" y="42862"/>
                    </a:cubicBezTo>
                    <a:cubicBezTo>
                      <a:pt x="0" y="19193"/>
                      <a:pt x="23451" y="0"/>
                      <a:pt x="52388" y="0"/>
                    </a:cubicBezTo>
                  </a:path>
                </a:pathLst>
              </a:custGeom>
              <a:noFill/>
              <a:ln w="14288">
                <a:solidFill>
                  <a:srgbClr val="FFFFFF"/>
                </a:solidFill>
              </a:ln>
            </p:spPr>
          </p:sp>
          <p:sp>
            <p:nvSpPr>
              <p:cNvPr id="65" name="Freeform 65"/>
              <p:cNvSpPr/>
              <p:nvPr/>
            </p:nvSpPr>
            <p:spPr>
              <a:xfrm>
                <a:off x="2857500" y="2390775"/>
                <a:ext cx="133350" cy="123825"/>
              </a:xfrm>
              <a:custGeom>
                <a:avLst/>
                <a:gdLst/>
                <a:ahLst/>
                <a:cxnLst/>
                <a:rect l="l" t="t" r="r" b="b"/>
                <a:pathLst>
                  <a:path w="133350" h="123825">
                    <a:moveTo>
                      <a:pt x="87601" y="111423"/>
                    </a:moveTo>
                    <a:cubicBezTo>
                      <a:pt x="81029" y="113290"/>
                      <a:pt x="73981" y="114300"/>
                      <a:pt x="66675" y="114300"/>
                    </a:cubicBezTo>
                    <a:cubicBezTo>
                      <a:pt x="58211" y="114318"/>
                      <a:pt x="49803" y="112928"/>
                      <a:pt x="41796" y="110185"/>
                    </a:cubicBezTo>
                    <a:lnTo>
                      <a:pt x="19050" y="123825"/>
                    </a:lnTo>
                    <a:lnTo>
                      <a:pt x="19050" y="97145"/>
                    </a:lnTo>
                    <a:cubicBezTo>
                      <a:pt x="7268" y="86839"/>
                      <a:pt x="0" y="72723"/>
                      <a:pt x="0" y="57150"/>
                    </a:cubicBezTo>
                    <a:cubicBezTo>
                      <a:pt x="0" y="25584"/>
                      <a:pt x="29851" y="0"/>
                      <a:pt x="66675" y="0"/>
                    </a:cubicBezTo>
                    <a:cubicBezTo>
                      <a:pt x="102699" y="0"/>
                      <a:pt x="132045" y="24479"/>
                      <a:pt x="133350" y="55102"/>
                    </a:cubicBezTo>
                    <a:lnTo>
                      <a:pt x="133350" y="57321"/>
                    </a:lnTo>
                  </a:path>
                </a:pathLst>
              </a:custGeom>
              <a:noFill/>
              <a:ln w="14288">
                <a:solidFill>
                  <a:srgbClr val="FFFFFF"/>
                </a:solidFill>
              </a:ln>
            </p:spPr>
          </p:sp>
          <p:sp>
            <p:nvSpPr>
              <p:cNvPr id="66" name="Freeform 66"/>
              <p:cNvSpPr/>
              <p:nvPr/>
            </p:nvSpPr>
            <p:spPr>
              <a:xfrm>
                <a:off x="2933700" y="2428875"/>
                <a:ext cx="9525" cy="9525"/>
              </a:xfrm>
              <a:custGeom>
                <a:avLst/>
                <a:gdLst/>
                <a:ahLst/>
                <a:cxnLst/>
                <a:rect l="l" t="t" r="r" b="b"/>
                <a:pathLst>
                  <a:path w="9525" h="9525">
                    <a:moveTo>
                      <a:pt x="0" y="0"/>
                    </a:moveTo>
                    <a:lnTo>
                      <a:pt x="95" y="0"/>
                    </a:lnTo>
                  </a:path>
                </a:pathLst>
              </a:custGeom>
              <a:noFill/>
              <a:ln w="14288">
                <a:solidFill>
                  <a:srgbClr val="FFFFFF"/>
                </a:solidFill>
              </a:ln>
            </p:spPr>
          </p:sp>
          <p:sp>
            <p:nvSpPr>
              <p:cNvPr id="67" name="Freeform 67"/>
              <p:cNvSpPr/>
              <p:nvPr/>
            </p:nvSpPr>
            <p:spPr>
              <a:xfrm>
                <a:off x="2905125" y="2428875"/>
                <a:ext cx="9525" cy="9525"/>
              </a:xfrm>
              <a:custGeom>
                <a:avLst/>
                <a:gdLst/>
                <a:ahLst/>
                <a:cxnLst/>
                <a:rect l="l" t="t" r="r" b="b"/>
                <a:pathLst>
                  <a:path w="9525" h="9525">
                    <a:moveTo>
                      <a:pt x="0" y="0"/>
                    </a:moveTo>
                    <a:lnTo>
                      <a:pt x="95" y="0"/>
                    </a:lnTo>
                  </a:path>
                </a:pathLst>
              </a:custGeom>
              <a:noFill/>
              <a:ln w="14288">
                <a:solidFill>
                  <a:srgbClr val="FFFFFF"/>
                </a:solidFill>
              </a:ln>
            </p:spPr>
          </p:sp>
          <p:sp>
            <p:nvSpPr>
              <p:cNvPr id="68" name="Freeform 68"/>
              <p:cNvSpPr/>
              <p:nvPr/>
            </p:nvSpPr>
            <p:spPr>
              <a:xfrm>
                <a:off x="2981325" y="2486025"/>
                <a:ext cx="9525" cy="9525"/>
              </a:xfrm>
              <a:custGeom>
                <a:avLst/>
                <a:gdLst/>
                <a:ahLst/>
                <a:cxnLst/>
                <a:rect l="l" t="t" r="r" b="b"/>
                <a:pathLst>
                  <a:path w="9525" h="9525">
                    <a:moveTo>
                      <a:pt x="0" y="0"/>
                    </a:moveTo>
                    <a:lnTo>
                      <a:pt x="95" y="0"/>
                    </a:lnTo>
                  </a:path>
                </a:pathLst>
              </a:custGeom>
              <a:noFill/>
              <a:ln w="14288">
                <a:solidFill>
                  <a:srgbClr val="FFFFFF"/>
                </a:solidFill>
              </a:ln>
            </p:spPr>
          </p:sp>
          <p:sp>
            <p:nvSpPr>
              <p:cNvPr id="69" name="Freeform 69"/>
              <p:cNvSpPr/>
              <p:nvPr/>
            </p:nvSpPr>
            <p:spPr>
              <a:xfrm>
                <a:off x="3009900" y="2486025"/>
                <a:ext cx="9525" cy="9525"/>
              </a:xfrm>
              <a:custGeom>
                <a:avLst/>
                <a:gdLst/>
                <a:ahLst/>
                <a:cxnLst/>
                <a:rect l="l" t="t" r="r" b="b"/>
                <a:pathLst>
                  <a:path w="9525" h="9525">
                    <a:moveTo>
                      <a:pt x="0" y="0"/>
                    </a:moveTo>
                    <a:lnTo>
                      <a:pt x="95" y="0"/>
                    </a:lnTo>
                  </a:path>
                </a:pathLst>
              </a:custGeom>
              <a:noFill/>
              <a:ln w="14288">
                <a:solidFill>
                  <a:srgbClr val="FFFFFF"/>
                </a:solidFill>
              </a:ln>
            </p:spPr>
          </p:sp>
        </p:grpSp>
        <p:sp>
          <p:nvSpPr>
            <p:cNvPr id="71" name="TextBox 71"/>
            <p:cNvSpPr txBox="1"/>
            <p:nvPr/>
          </p:nvSpPr>
          <p:spPr>
            <a:xfrm>
              <a:off x="3280410" y="2402681"/>
              <a:ext cx="765302" cy="220028"/>
            </a:xfrm>
            <a:prstGeom prst="rect">
              <a:avLst/>
            </a:prstGeom>
            <a:noFill/>
            <a:ln>
              <a:noFill/>
            </a:ln>
          </p:spPr>
          <p:txBody>
            <a:bodyPr wrap="none" lIns="0" tIns="0" rIns="0" bIns="0" anchor="t" anchorCtr="0">
              <a:spAutoFit/>
            </a:bodyPr>
            <a:lstStyle/>
            <a:p>
              <a:pPr algn="l"/>
              <a:r>
                <a:rPr lang="zh-CN" sz="1120" dirty="0">
                  <a:solidFill>
                    <a:srgbClr val="3D241F"/>
                  </a:solidFill>
                  <a:latin typeface="+mn-lt"/>
                  <a:ea typeface="+mn-ea"/>
                  <a:cs typeface="+mn-cs"/>
                </a:rPr>
                <a:t>微信公众号</a:t>
              </a:r>
            </a:p>
          </p:txBody>
        </p:sp>
        <p:sp>
          <p:nvSpPr>
            <p:cNvPr id="72" name="Ellipse 72"/>
            <p:cNvSpPr/>
            <p:nvPr/>
          </p:nvSpPr>
          <p:spPr>
            <a:xfrm>
              <a:off x="4743450" y="2257425"/>
              <a:ext cx="419100" cy="419100"/>
            </a:xfrm>
            <a:prstGeom prst="ellipse">
              <a:avLst/>
            </a:prstGeom>
            <a:solidFill>
              <a:srgbClr val="C12507"/>
            </a:solidFill>
            <a:ln>
              <a:noFill/>
            </a:ln>
          </p:spPr>
        </p:sp>
        <p:grpSp>
          <p:nvGrpSpPr>
            <p:cNvPr id="76" name="Group 76"/>
            <p:cNvGrpSpPr/>
            <p:nvPr/>
          </p:nvGrpSpPr>
          <p:grpSpPr>
            <a:xfrm>
              <a:off x="4895850" y="2381250"/>
              <a:ext cx="114300" cy="171450"/>
              <a:chOff x="4895850" y="2381250"/>
              <a:chExt cx="114300" cy="171450"/>
            </a:xfrm>
          </p:grpSpPr>
          <p:sp>
            <p:nvSpPr>
              <p:cNvPr id="73" name="Freeform 73"/>
              <p:cNvSpPr/>
              <p:nvPr/>
            </p:nvSpPr>
            <p:spPr>
              <a:xfrm>
                <a:off x="4895850" y="2381250"/>
                <a:ext cx="114300" cy="171450"/>
              </a:xfrm>
              <a:custGeom>
                <a:avLst/>
                <a:gdLst/>
                <a:ahLst/>
                <a:cxnLst/>
                <a:rect l="l" t="t" r="r" b="b"/>
                <a:pathLst>
                  <a:path w="114300" h="171450">
                    <a:moveTo>
                      <a:pt x="0" y="19050"/>
                    </a:moveTo>
                    <a:cubicBezTo>
                      <a:pt x="0" y="8529"/>
                      <a:pt x="8529" y="0"/>
                      <a:pt x="19050" y="0"/>
                    </a:cubicBezTo>
                    <a:lnTo>
                      <a:pt x="95250" y="0"/>
                    </a:lnTo>
                    <a:cubicBezTo>
                      <a:pt x="105771" y="0"/>
                      <a:pt x="114300" y="8529"/>
                      <a:pt x="114300" y="19050"/>
                    </a:cubicBezTo>
                    <a:lnTo>
                      <a:pt x="114300" y="152400"/>
                    </a:lnTo>
                    <a:cubicBezTo>
                      <a:pt x="114300" y="162921"/>
                      <a:pt x="105771" y="171450"/>
                      <a:pt x="95250" y="171450"/>
                    </a:cubicBezTo>
                    <a:lnTo>
                      <a:pt x="19050" y="171450"/>
                    </a:lnTo>
                    <a:cubicBezTo>
                      <a:pt x="8529" y="171450"/>
                      <a:pt x="0" y="162921"/>
                      <a:pt x="0" y="152400"/>
                    </a:cubicBezTo>
                    <a:lnTo>
                      <a:pt x="0" y="19050"/>
                    </a:lnTo>
                  </a:path>
                </a:pathLst>
              </a:custGeom>
              <a:noFill/>
              <a:ln w="14288">
                <a:solidFill>
                  <a:srgbClr val="FFFFFF"/>
                </a:solidFill>
              </a:ln>
            </p:spPr>
          </p:sp>
          <p:sp>
            <p:nvSpPr>
              <p:cNvPr id="74" name="Freeform 74"/>
              <p:cNvSpPr/>
              <p:nvPr/>
            </p:nvSpPr>
            <p:spPr>
              <a:xfrm>
                <a:off x="4943475" y="2390775"/>
                <a:ext cx="19050" cy="9525"/>
              </a:xfrm>
              <a:custGeom>
                <a:avLst/>
                <a:gdLst/>
                <a:ahLst/>
                <a:cxnLst/>
                <a:rect l="l" t="t" r="r" b="b"/>
                <a:pathLst>
                  <a:path w="19050" h="9525">
                    <a:moveTo>
                      <a:pt x="0" y="0"/>
                    </a:moveTo>
                    <a:lnTo>
                      <a:pt x="19050" y="0"/>
                    </a:lnTo>
                  </a:path>
                </a:pathLst>
              </a:custGeom>
              <a:noFill/>
              <a:ln w="14288">
                <a:solidFill>
                  <a:srgbClr val="FFFFFF"/>
                </a:solidFill>
              </a:ln>
            </p:spPr>
          </p:sp>
          <p:sp>
            <p:nvSpPr>
              <p:cNvPr id="75" name="Freeform 75"/>
              <p:cNvSpPr/>
              <p:nvPr/>
            </p:nvSpPr>
            <p:spPr>
              <a:xfrm>
                <a:off x="4953000" y="2514600"/>
                <a:ext cx="9525" cy="9525"/>
              </a:xfrm>
              <a:custGeom>
                <a:avLst/>
                <a:gdLst/>
                <a:ahLst/>
                <a:cxnLst/>
                <a:rect l="l" t="t" r="r" b="b"/>
                <a:pathLst>
                  <a:path w="9525" h="9525">
                    <a:moveTo>
                      <a:pt x="0" y="0"/>
                    </a:moveTo>
                    <a:lnTo>
                      <a:pt x="0" y="95"/>
                    </a:lnTo>
                  </a:path>
                </a:pathLst>
              </a:custGeom>
              <a:noFill/>
              <a:ln w="14288">
                <a:solidFill>
                  <a:srgbClr val="FFFFFF"/>
                </a:solidFill>
              </a:ln>
            </p:spPr>
          </p:sp>
        </p:grpSp>
        <p:sp>
          <p:nvSpPr>
            <p:cNvPr id="77" name="TextBox 77"/>
            <p:cNvSpPr txBox="1"/>
            <p:nvPr/>
          </p:nvSpPr>
          <p:spPr>
            <a:xfrm>
              <a:off x="5280660" y="2402681"/>
              <a:ext cx="765302" cy="220028"/>
            </a:xfrm>
            <a:prstGeom prst="rect">
              <a:avLst/>
            </a:prstGeom>
            <a:noFill/>
            <a:ln>
              <a:noFill/>
            </a:ln>
          </p:spPr>
          <p:txBody>
            <a:bodyPr wrap="none" lIns="0" tIns="0" rIns="0" bIns="0" anchor="t" anchorCtr="0">
              <a:spAutoFit/>
            </a:bodyPr>
            <a:lstStyle/>
            <a:p>
              <a:pPr algn="l"/>
              <a:r>
                <a:rPr lang="zh-CN" sz="1120" dirty="0">
                  <a:solidFill>
                    <a:srgbClr val="3D241F"/>
                  </a:solidFill>
                  <a:latin typeface="+mn-lt"/>
                  <a:ea typeface="+mn-ea"/>
                  <a:cs typeface="+mn-cs"/>
                </a:rPr>
                <a:t>微信小程序</a:t>
              </a:r>
            </a:p>
          </p:txBody>
        </p:sp>
        <p:sp>
          <p:nvSpPr>
            <p:cNvPr id="78" name="Rectangle 78"/>
            <p:cNvSpPr/>
            <p:nvPr/>
          </p:nvSpPr>
          <p:spPr>
            <a:xfrm>
              <a:off x="7048500" y="2133600"/>
              <a:ext cx="4667250" cy="666750"/>
            </a:xfrm>
            <a:prstGeom prst="roundRect">
              <a:avLst>
                <a:gd name="adj" fmla="val 11429"/>
              </a:avLst>
            </a:prstGeom>
            <a:solidFill>
              <a:srgbClr val="EDF4FE"/>
            </a:solidFill>
            <a:ln w="9525">
              <a:solidFill>
                <a:srgbClr val="FBD2C9"/>
              </a:solidFill>
            </a:ln>
          </p:spPr>
        </p:sp>
        <p:sp>
          <p:nvSpPr>
            <p:cNvPr id="79" name="Ellipse 79"/>
            <p:cNvSpPr/>
            <p:nvPr/>
          </p:nvSpPr>
          <p:spPr>
            <a:xfrm>
              <a:off x="7277100" y="2257425"/>
              <a:ext cx="419100" cy="419100"/>
            </a:xfrm>
            <a:prstGeom prst="ellipse">
              <a:avLst/>
            </a:prstGeom>
            <a:solidFill>
              <a:srgbClr val="C12507"/>
            </a:solidFill>
            <a:ln>
              <a:noFill/>
            </a:ln>
          </p:spPr>
        </p:sp>
        <p:grpSp>
          <p:nvGrpSpPr>
            <p:cNvPr id="83" name="Group 83"/>
            <p:cNvGrpSpPr/>
            <p:nvPr/>
          </p:nvGrpSpPr>
          <p:grpSpPr>
            <a:xfrm>
              <a:off x="7400925" y="2390379"/>
              <a:ext cx="171450" cy="152796"/>
              <a:chOff x="7400925" y="2390379"/>
              <a:chExt cx="171450" cy="152796"/>
            </a:xfrm>
          </p:grpSpPr>
          <p:sp>
            <p:nvSpPr>
              <p:cNvPr id="80" name="Freeform 80"/>
              <p:cNvSpPr/>
              <p:nvPr/>
            </p:nvSpPr>
            <p:spPr>
              <a:xfrm>
                <a:off x="7543800" y="2428875"/>
                <a:ext cx="28575" cy="57150"/>
              </a:xfrm>
              <a:custGeom>
                <a:avLst/>
                <a:gdLst/>
                <a:ahLst/>
                <a:cxnLst/>
                <a:rect l="l" t="t" r="r" b="b"/>
                <a:pathLst>
                  <a:path w="28575" h="57150">
                    <a:moveTo>
                      <a:pt x="0" y="0"/>
                    </a:moveTo>
                    <a:cubicBezTo>
                      <a:pt x="15782" y="0"/>
                      <a:pt x="28575" y="12793"/>
                      <a:pt x="28575" y="28575"/>
                    </a:cubicBezTo>
                    <a:cubicBezTo>
                      <a:pt x="28575" y="44357"/>
                      <a:pt x="15782" y="57150"/>
                      <a:pt x="0" y="57150"/>
                    </a:cubicBezTo>
                  </a:path>
                </a:pathLst>
              </a:custGeom>
              <a:noFill/>
              <a:ln w="14288">
                <a:solidFill>
                  <a:srgbClr val="FFFFFF"/>
                </a:solidFill>
              </a:ln>
            </p:spPr>
          </p:sp>
          <p:sp>
            <p:nvSpPr>
              <p:cNvPr id="81" name="Freeform 81"/>
              <p:cNvSpPr/>
              <p:nvPr/>
            </p:nvSpPr>
            <p:spPr>
              <a:xfrm>
                <a:off x="7439025" y="2428875"/>
                <a:ext cx="28575" cy="114300"/>
              </a:xfrm>
              <a:custGeom>
                <a:avLst/>
                <a:gdLst/>
                <a:ahLst/>
                <a:cxnLst/>
                <a:rect l="l" t="t" r="r" b="b"/>
                <a:pathLst>
                  <a:path w="28575" h="114300">
                    <a:moveTo>
                      <a:pt x="28575" y="0"/>
                    </a:moveTo>
                    <a:lnTo>
                      <a:pt x="28575" y="104775"/>
                    </a:lnTo>
                    <a:cubicBezTo>
                      <a:pt x="28575" y="110036"/>
                      <a:pt x="24311" y="114300"/>
                      <a:pt x="19050" y="114300"/>
                    </a:cubicBezTo>
                    <a:lnTo>
                      <a:pt x="9525" y="114300"/>
                    </a:lnTo>
                    <a:cubicBezTo>
                      <a:pt x="4264" y="114300"/>
                      <a:pt x="0" y="110036"/>
                      <a:pt x="0" y="104775"/>
                    </a:cubicBezTo>
                    <a:lnTo>
                      <a:pt x="0" y="57150"/>
                    </a:lnTo>
                  </a:path>
                </a:pathLst>
              </a:custGeom>
              <a:noFill/>
              <a:ln w="14288">
                <a:solidFill>
                  <a:srgbClr val="FFFFFF"/>
                </a:solidFill>
              </a:ln>
            </p:spPr>
          </p:sp>
          <p:sp>
            <p:nvSpPr>
              <p:cNvPr id="82" name="Freeform 82"/>
              <p:cNvSpPr/>
              <p:nvPr/>
            </p:nvSpPr>
            <p:spPr>
              <a:xfrm>
                <a:off x="7400925" y="2390379"/>
                <a:ext cx="142877" cy="134143"/>
              </a:xfrm>
              <a:custGeom>
                <a:avLst/>
                <a:gdLst/>
                <a:ahLst/>
                <a:cxnLst/>
                <a:rect l="l" t="t" r="r" b="b"/>
                <a:pathLst>
                  <a:path w="142877" h="134143">
                    <a:moveTo>
                      <a:pt x="85725" y="38496"/>
                    </a:moveTo>
                    <a:lnTo>
                      <a:pt x="128816" y="2587"/>
                    </a:lnTo>
                    <a:cubicBezTo>
                      <a:pt x="131372" y="458"/>
                      <a:pt x="134929" y="0"/>
                      <a:pt x="137941" y="1412"/>
                    </a:cubicBezTo>
                    <a:cubicBezTo>
                      <a:pt x="140954" y="2824"/>
                      <a:pt x="142877" y="5852"/>
                      <a:pt x="142875" y="9178"/>
                    </a:cubicBezTo>
                    <a:lnTo>
                      <a:pt x="142875" y="124964"/>
                    </a:lnTo>
                    <a:cubicBezTo>
                      <a:pt x="142877" y="128291"/>
                      <a:pt x="140954" y="131318"/>
                      <a:pt x="137941" y="132730"/>
                    </a:cubicBezTo>
                    <a:cubicBezTo>
                      <a:pt x="134929" y="134143"/>
                      <a:pt x="131372" y="133685"/>
                      <a:pt x="128816" y="131556"/>
                    </a:cubicBezTo>
                    <a:lnTo>
                      <a:pt x="85725" y="95646"/>
                    </a:lnTo>
                    <a:lnTo>
                      <a:pt x="9525" y="95646"/>
                    </a:lnTo>
                    <a:cubicBezTo>
                      <a:pt x="4264" y="95646"/>
                      <a:pt x="0" y="91382"/>
                      <a:pt x="0" y="86121"/>
                    </a:cubicBezTo>
                    <a:lnTo>
                      <a:pt x="0" y="48021"/>
                    </a:lnTo>
                    <a:cubicBezTo>
                      <a:pt x="0" y="42761"/>
                      <a:pt x="4264" y="38496"/>
                      <a:pt x="9525" y="38496"/>
                    </a:cubicBezTo>
                    <a:lnTo>
                      <a:pt x="85725" y="38496"/>
                    </a:lnTo>
                  </a:path>
                </a:pathLst>
              </a:custGeom>
              <a:noFill/>
              <a:ln w="14288">
                <a:solidFill>
                  <a:srgbClr val="FFFFFF"/>
                </a:solidFill>
              </a:ln>
            </p:spPr>
          </p:sp>
        </p:grpSp>
        <p:sp>
          <p:nvSpPr>
            <p:cNvPr id="84" name="TextBox 84"/>
            <p:cNvSpPr txBox="1"/>
            <p:nvPr/>
          </p:nvSpPr>
          <p:spPr>
            <a:xfrm>
              <a:off x="7785735" y="2402681"/>
              <a:ext cx="614528" cy="220028"/>
            </a:xfrm>
            <a:prstGeom prst="rect">
              <a:avLst/>
            </a:prstGeom>
            <a:noFill/>
            <a:ln>
              <a:noFill/>
            </a:ln>
          </p:spPr>
          <p:txBody>
            <a:bodyPr wrap="none" lIns="0" tIns="0" rIns="0" bIns="0" anchor="t" anchorCtr="0">
              <a:spAutoFit/>
            </a:bodyPr>
            <a:lstStyle/>
            <a:p>
              <a:pPr algn="l"/>
              <a:r>
                <a:rPr lang="zh-CN" sz="1120" dirty="0">
                  <a:solidFill>
                    <a:srgbClr val="3D241F"/>
                  </a:solidFill>
                  <a:latin typeface="+mn-lt"/>
                  <a:ea typeface="+mn-ea"/>
                  <a:cs typeface="+mn-cs"/>
                </a:rPr>
                <a:t>管理通知</a:t>
              </a:r>
            </a:p>
          </p:txBody>
        </p:sp>
        <p:sp>
          <p:nvSpPr>
            <p:cNvPr id="85" name="Ellipse 85"/>
            <p:cNvSpPr/>
            <p:nvPr/>
          </p:nvSpPr>
          <p:spPr>
            <a:xfrm>
              <a:off x="8801100" y="2257425"/>
              <a:ext cx="419100" cy="419100"/>
            </a:xfrm>
            <a:prstGeom prst="ellipse">
              <a:avLst/>
            </a:prstGeom>
            <a:solidFill>
              <a:srgbClr val="C12507"/>
            </a:solidFill>
            <a:ln>
              <a:noFill/>
            </a:ln>
          </p:spPr>
        </p:sp>
        <p:grpSp>
          <p:nvGrpSpPr>
            <p:cNvPr id="92" name="Group 92"/>
            <p:cNvGrpSpPr/>
            <p:nvPr/>
          </p:nvGrpSpPr>
          <p:grpSpPr>
            <a:xfrm>
              <a:off x="8915400" y="2390775"/>
              <a:ext cx="190500" cy="152400"/>
              <a:chOff x="8915400" y="2390775"/>
              <a:chExt cx="190500" cy="152400"/>
            </a:xfrm>
          </p:grpSpPr>
          <p:sp>
            <p:nvSpPr>
              <p:cNvPr id="86" name="Freeform 86"/>
              <p:cNvSpPr/>
              <p:nvPr/>
            </p:nvSpPr>
            <p:spPr>
              <a:xfrm>
                <a:off x="9001125" y="2447925"/>
                <a:ext cx="104775" cy="95250"/>
              </a:xfrm>
              <a:custGeom>
                <a:avLst/>
                <a:gdLst/>
                <a:ahLst/>
                <a:cxnLst/>
                <a:rect l="l" t="t" r="r" b="b"/>
                <a:pathLst>
                  <a:path w="104775" h="95250">
                    <a:moveTo>
                      <a:pt x="52388" y="0"/>
                    </a:moveTo>
                    <a:cubicBezTo>
                      <a:pt x="81324" y="0"/>
                      <a:pt x="104775" y="19193"/>
                      <a:pt x="104775" y="42862"/>
                    </a:cubicBezTo>
                    <a:cubicBezTo>
                      <a:pt x="104775" y="56169"/>
                      <a:pt x="97365" y="68056"/>
                      <a:pt x="85725" y="75914"/>
                    </a:cubicBezTo>
                    <a:lnTo>
                      <a:pt x="85725" y="95250"/>
                    </a:lnTo>
                    <a:lnTo>
                      <a:pt x="67018" y="84030"/>
                    </a:lnTo>
                    <a:cubicBezTo>
                      <a:pt x="62224" y="85162"/>
                      <a:pt x="57314" y="85731"/>
                      <a:pt x="52388" y="85725"/>
                    </a:cubicBezTo>
                    <a:cubicBezTo>
                      <a:pt x="23451" y="85725"/>
                      <a:pt x="0" y="66532"/>
                      <a:pt x="0" y="42862"/>
                    </a:cubicBezTo>
                    <a:cubicBezTo>
                      <a:pt x="0" y="19193"/>
                      <a:pt x="23451" y="0"/>
                      <a:pt x="52388" y="0"/>
                    </a:cubicBezTo>
                  </a:path>
                </a:pathLst>
              </a:custGeom>
              <a:noFill/>
              <a:ln w="14288">
                <a:solidFill>
                  <a:srgbClr val="FFFFFF"/>
                </a:solidFill>
              </a:ln>
            </p:spPr>
          </p:sp>
          <p:sp>
            <p:nvSpPr>
              <p:cNvPr id="87" name="Freeform 87"/>
              <p:cNvSpPr/>
              <p:nvPr/>
            </p:nvSpPr>
            <p:spPr>
              <a:xfrm>
                <a:off x="8915400" y="2390775"/>
                <a:ext cx="133350" cy="123825"/>
              </a:xfrm>
              <a:custGeom>
                <a:avLst/>
                <a:gdLst/>
                <a:ahLst/>
                <a:cxnLst/>
                <a:rect l="l" t="t" r="r" b="b"/>
                <a:pathLst>
                  <a:path w="133350" h="123825">
                    <a:moveTo>
                      <a:pt x="87601" y="111423"/>
                    </a:moveTo>
                    <a:cubicBezTo>
                      <a:pt x="81029" y="113290"/>
                      <a:pt x="73981" y="114300"/>
                      <a:pt x="66675" y="114300"/>
                    </a:cubicBezTo>
                    <a:cubicBezTo>
                      <a:pt x="58211" y="114318"/>
                      <a:pt x="49803" y="112928"/>
                      <a:pt x="41796" y="110185"/>
                    </a:cubicBezTo>
                    <a:lnTo>
                      <a:pt x="19050" y="123825"/>
                    </a:lnTo>
                    <a:lnTo>
                      <a:pt x="19050" y="97145"/>
                    </a:lnTo>
                    <a:cubicBezTo>
                      <a:pt x="7268" y="86839"/>
                      <a:pt x="0" y="72723"/>
                      <a:pt x="0" y="57150"/>
                    </a:cubicBezTo>
                    <a:cubicBezTo>
                      <a:pt x="0" y="25584"/>
                      <a:pt x="29851" y="0"/>
                      <a:pt x="66675" y="0"/>
                    </a:cubicBezTo>
                    <a:cubicBezTo>
                      <a:pt x="102699" y="0"/>
                      <a:pt x="132045" y="24479"/>
                      <a:pt x="133350" y="55102"/>
                    </a:cubicBezTo>
                    <a:lnTo>
                      <a:pt x="133350" y="57321"/>
                    </a:lnTo>
                  </a:path>
                </a:pathLst>
              </a:custGeom>
              <a:noFill/>
              <a:ln w="14288">
                <a:solidFill>
                  <a:srgbClr val="FFFFFF"/>
                </a:solidFill>
              </a:ln>
            </p:spPr>
          </p:sp>
          <p:sp>
            <p:nvSpPr>
              <p:cNvPr id="88" name="Freeform 88"/>
              <p:cNvSpPr/>
              <p:nvPr/>
            </p:nvSpPr>
            <p:spPr>
              <a:xfrm>
                <a:off x="8991600" y="2428875"/>
                <a:ext cx="9525" cy="9525"/>
              </a:xfrm>
              <a:custGeom>
                <a:avLst/>
                <a:gdLst/>
                <a:ahLst/>
                <a:cxnLst/>
                <a:rect l="l" t="t" r="r" b="b"/>
                <a:pathLst>
                  <a:path w="9525" h="9525">
                    <a:moveTo>
                      <a:pt x="0" y="0"/>
                    </a:moveTo>
                    <a:lnTo>
                      <a:pt x="95" y="0"/>
                    </a:lnTo>
                  </a:path>
                </a:pathLst>
              </a:custGeom>
              <a:noFill/>
              <a:ln w="14288">
                <a:solidFill>
                  <a:srgbClr val="FFFFFF"/>
                </a:solidFill>
              </a:ln>
            </p:spPr>
          </p:sp>
          <p:sp>
            <p:nvSpPr>
              <p:cNvPr id="89" name="Freeform 89"/>
              <p:cNvSpPr/>
              <p:nvPr/>
            </p:nvSpPr>
            <p:spPr>
              <a:xfrm>
                <a:off x="8963025" y="2428875"/>
                <a:ext cx="9525" cy="9525"/>
              </a:xfrm>
              <a:custGeom>
                <a:avLst/>
                <a:gdLst/>
                <a:ahLst/>
                <a:cxnLst/>
                <a:rect l="l" t="t" r="r" b="b"/>
                <a:pathLst>
                  <a:path w="9525" h="9525">
                    <a:moveTo>
                      <a:pt x="0" y="0"/>
                    </a:moveTo>
                    <a:lnTo>
                      <a:pt x="95" y="0"/>
                    </a:lnTo>
                  </a:path>
                </a:pathLst>
              </a:custGeom>
              <a:noFill/>
              <a:ln w="14288">
                <a:solidFill>
                  <a:srgbClr val="FFFFFF"/>
                </a:solidFill>
              </a:ln>
            </p:spPr>
          </p:sp>
          <p:sp>
            <p:nvSpPr>
              <p:cNvPr id="90" name="Freeform 90"/>
              <p:cNvSpPr/>
              <p:nvPr/>
            </p:nvSpPr>
            <p:spPr>
              <a:xfrm>
                <a:off x="9039225" y="2486025"/>
                <a:ext cx="9525" cy="9525"/>
              </a:xfrm>
              <a:custGeom>
                <a:avLst/>
                <a:gdLst/>
                <a:ahLst/>
                <a:cxnLst/>
                <a:rect l="l" t="t" r="r" b="b"/>
                <a:pathLst>
                  <a:path w="9525" h="9525">
                    <a:moveTo>
                      <a:pt x="0" y="0"/>
                    </a:moveTo>
                    <a:lnTo>
                      <a:pt x="95" y="0"/>
                    </a:lnTo>
                  </a:path>
                </a:pathLst>
              </a:custGeom>
              <a:noFill/>
              <a:ln w="14288">
                <a:solidFill>
                  <a:srgbClr val="FFFFFF"/>
                </a:solidFill>
              </a:ln>
            </p:spPr>
          </p:sp>
          <p:sp>
            <p:nvSpPr>
              <p:cNvPr id="91" name="Freeform 91"/>
              <p:cNvSpPr/>
              <p:nvPr/>
            </p:nvSpPr>
            <p:spPr>
              <a:xfrm>
                <a:off x="9067800" y="2486025"/>
                <a:ext cx="9525" cy="9525"/>
              </a:xfrm>
              <a:custGeom>
                <a:avLst/>
                <a:gdLst/>
                <a:ahLst/>
                <a:cxnLst/>
                <a:rect l="l" t="t" r="r" b="b"/>
                <a:pathLst>
                  <a:path w="9525" h="9525">
                    <a:moveTo>
                      <a:pt x="0" y="0"/>
                    </a:moveTo>
                    <a:lnTo>
                      <a:pt x="95" y="0"/>
                    </a:lnTo>
                  </a:path>
                </a:pathLst>
              </a:custGeom>
              <a:noFill/>
              <a:ln w="14288">
                <a:solidFill>
                  <a:srgbClr val="FFFFFF"/>
                </a:solidFill>
              </a:ln>
            </p:spPr>
          </p:sp>
        </p:grpSp>
        <p:sp>
          <p:nvSpPr>
            <p:cNvPr id="93" name="TextBox 93"/>
            <p:cNvSpPr txBox="1"/>
            <p:nvPr/>
          </p:nvSpPr>
          <p:spPr>
            <a:xfrm>
              <a:off x="9309735" y="2402681"/>
              <a:ext cx="765302" cy="220028"/>
            </a:xfrm>
            <a:prstGeom prst="rect">
              <a:avLst/>
            </a:prstGeom>
            <a:noFill/>
            <a:ln>
              <a:noFill/>
            </a:ln>
          </p:spPr>
          <p:txBody>
            <a:bodyPr wrap="none" lIns="0" tIns="0" rIns="0" bIns="0" anchor="t" anchorCtr="0">
              <a:spAutoFit/>
            </a:bodyPr>
            <a:lstStyle/>
            <a:p>
              <a:pPr algn="l"/>
              <a:r>
                <a:rPr lang="zh-CN" sz="1120" dirty="0">
                  <a:solidFill>
                    <a:srgbClr val="3D241F"/>
                  </a:solidFill>
                  <a:latin typeface="+mn-lt"/>
                  <a:ea typeface="+mn-ea"/>
                  <a:cs typeface="+mn-cs"/>
                </a:rPr>
                <a:t>管理小程序</a:t>
              </a:r>
            </a:p>
          </p:txBody>
        </p:sp>
        <p:sp>
          <p:nvSpPr>
            <p:cNvPr id="94" name="Ellipse 94"/>
            <p:cNvSpPr/>
            <p:nvPr/>
          </p:nvSpPr>
          <p:spPr>
            <a:xfrm>
              <a:off x="10344150" y="2257425"/>
              <a:ext cx="419100" cy="419100"/>
            </a:xfrm>
            <a:prstGeom prst="ellipse">
              <a:avLst/>
            </a:prstGeom>
            <a:solidFill>
              <a:srgbClr val="C12507"/>
            </a:solidFill>
            <a:ln>
              <a:noFill/>
            </a:ln>
          </p:spPr>
        </p:sp>
        <p:grpSp>
          <p:nvGrpSpPr>
            <p:cNvPr id="99" name="Group 99"/>
            <p:cNvGrpSpPr/>
            <p:nvPr/>
          </p:nvGrpSpPr>
          <p:grpSpPr>
            <a:xfrm>
              <a:off x="10467975" y="2390775"/>
              <a:ext cx="171450" cy="161925"/>
              <a:chOff x="10467975" y="2390775"/>
              <a:chExt cx="171450" cy="161925"/>
            </a:xfrm>
          </p:grpSpPr>
          <p:sp>
            <p:nvSpPr>
              <p:cNvPr id="95" name="Freeform 95"/>
              <p:cNvSpPr/>
              <p:nvPr/>
            </p:nvSpPr>
            <p:spPr>
              <a:xfrm>
                <a:off x="10467975" y="2390775"/>
                <a:ext cx="171450" cy="114300"/>
              </a:xfrm>
              <a:custGeom>
                <a:avLst/>
                <a:gdLst/>
                <a:ahLst/>
                <a:cxnLst/>
                <a:rect l="l" t="t" r="r" b="b"/>
                <a:pathLst>
                  <a:path w="171450" h="114300">
                    <a:moveTo>
                      <a:pt x="0" y="9525"/>
                    </a:moveTo>
                    <a:cubicBezTo>
                      <a:pt x="0" y="4264"/>
                      <a:pt x="4264" y="0"/>
                      <a:pt x="9525" y="0"/>
                    </a:cubicBezTo>
                    <a:lnTo>
                      <a:pt x="161925" y="0"/>
                    </a:lnTo>
                    <a:cubicBezTo>
                      <a:pt x="167186" y="0"/>
                      <a:pt x="171450" y="4264"/>
                      <a:pt x="171450" y="9525"/>
                    </a:cubicBezTo>
                    <a:lnTo>
                      <a:pt x="171450" y="104775"/>
                    </a:lnTo>
                    <a:cubicBezTo>
                      <a:pt x="171450" y="110036"/>
                      <a:pt x="167186" y="114300"/>
                      <a:pt x="161925" y="114300"/>
                    </a:cubicBezTo>
                    <a:lnTo>
                      <a:pt x="9525" y="114300"/>
                    </a:lnTo>
                    <a:cubicBezTo>
                      <a:pt x="4264" y="114300"/>
                      <a:pt x="0" y="110036"/>
                      <a:pt x="0" y="104775"/>
                    </a:cubicBezTo>
                    <a:lnTo>
                      <a:pt x="0" y="9525"/>
                    </a:lnTo>
                  </a:path>
                </a:pathLst>
              </a:custGeom>
              <a:noFill/>
              <a:ln w="14288">
                <a:solidFill>
                  <a:srgbClr val="FFFFFF"/>
                </a:solidFill>
              </a:ln>
            </p:spPr>
          </p:sp>
          <p:sp>
            <p:nvSpPr>
              <p:cNvPr id="96" name="Freeform 96"/>
              <p:cNvSpPr/>
              <p:nvPr/>
            </p:nvSpPr>
            <p:spPr>
              <a:xfrm>
                <a:off x="10506075" y="2543175"/>
                <a:ext cx="95250" cy="9525"/>
              </a:xfrm>
              <a:custGeom>
                <a:avLst/>
                <a:gdLst/>
                <a:ahLst/>
                <a:cxnLst/>
                <a:rect l="l" t="t" r="r" b="b"/>
                <a:pathLst>
                  <a:path w="95250" h="9525">
                    <a:moveTo>
                      <a:pt x="0" y="0"/>
                    </a:moveTo>
                    <a:lnTo>
                      <a:pt x="95250" y="0"/>
                    </a:lnTo>
                  </a:path>
                </a:pathLst>
              </a:custGeom>
              <a:noFill/>
              <a:ln w="14288">
                <a:solidFill>
                  <a:srgbClr val="FFFFFF"/>
                </a:solidFill>
              </a:ln>
            </p:spPr>
          </p:sp>
          <p:sp>
            <p:nvSpPr>
              <p:cNvPr id="97" name="Freeform 97"/>
              <p:cNvSpPr/>
              <p:nvPr/>
            </p:nvSpPr>
            <p:spPr>
              <a:xfrm>
                <a:off x="10525125" y="2505075"/>
                <a:ext cx="9525" cy="38100"/>
              </a:xfrm>
              <a:custGeom>
                <a:avLst/>
                <a:gdLst/>
                <a:ahLst/>
                <a:cxnLst/>
                <a:rect l="l" t="t" r="r" b="b"/>
                <a:pathLst>
                  <a:path w="9525" h="38100">
                    <a:moveTo>
                      <a:pt x="0" y="0"/>
                    </a:moveTo>
                    <a:lnTo>
                      <a:pt x="0" y="38100"/>
                    </a:lnTo>
                  </a:path>
                </a:pathLst>
              </a:custGeom>
              <a:noFill/>
              <a:ln w="14288">
                <a:solidFill>
                  <a:srgbClr val="FFFFFF"/>
                </a:solidFill>
              </a:ln>
            </p:spPr>
          </p:sp>
          <p:sp>
            <p:nvSpPr>
              <p:cNvPr id="98" name="Freeform 98"/>
              <p:cNvSpPr/>
              <p:nvPr/>
            </p:nvSpPr>
            <p:spPr>
              <a:xfrm>
                <a:off x="10582275" y="2505075"/>
                <a:ext cx="9525" cy="38100"/>
              </a:xfrm>
              <a:custGeom>
                <a:avLst/>
                <a:gdLst/>
                <a:ahLst/>
                <a:cxnLst/>
                <a:rect l="l" t="t" r="r" b="b"/>
                <a:pathLst>
                  <a:path w="9525" h="38100">
                    <a:moveTo>
                      <a:pt x="0" y="0"/>
                    </a:moveTo>
                    <a:lnTo>
                      <a:pt x="0" y="38100"/>
                    </a:lnTo>
                  </a:path>
                </a:pathLst>
              </a:custGeom>
              <a:noFill/>
              <a:ln w="14288">
                <a:solidFill>
                  <a:srgbClr val="FFFFFF"/>
                </a:solidFill>
              </a:ln>
            </p:spPr>
          </p:sp>
        </p:grpSp>
        <p:sp>
          <p:nvSpPr>
            <p:cNvPr id="100" name="TextBox 100"/>
            <p:cNvSpPr txBox="1"/>
            <p:nvPr/>
          </p:nvSpPr>
          <p:spPr>
            <a:xfrm>
              <a:off x="10852785" y="2402681"/>
              <a:ext cx="765302" cy="220028"/>
            </a:xfrm>
            <a:prstGeom prst="rect">
              <a:avLst/>
            </a:prstGeom>
            <a:noFill/>
            <a:ln>
              <a:noFill/>
            </a:ln>
          </p:spPr>
          <p:txBody>
            <a:bodyPr wrap="none" lIns="0" tIns="0" rIns="0" bIns="0" anchor="t" anchorCtr="0">
              <a:spAutoFit/>
            </a:bodyPr>
            <a:lstStyle/>
            <a:p>
              <a:pPr algn="l"/>
              <a:r>
                <a:rPr lang="zh-CN" sz="1120" dirty="0">
                  <a:solidFill>
                    <a:srgbClr val="3D241F"/>
                  </a:solidFill>
                  <a:latin typeface="+mn-lt"/>
                  <a:ea typeface="+mn-ea"/>
                  <a:cs typeface="+mn-cs"/>
                </a:rPr>
                <a:t>管理小程序</a:t>
              </a:r>
            </a:p>
          </p:txBody>
        </p:sp>
      </p:grpSp>
      <p:grpSp>
        <p:nvGrpSpPr>
          <p:cNvPr id="169" name="row-capabilities"/>
          <p:cNvGrpSpPr/>
          <p:nvPr/>
        </p:nvGrpSpPr>
        <p:grpSpPr>
          <a:xfrm>
            <a:off x="2095500" y="2990850"/>
            <a:ext cx="9620250" cy="2260282"/>
            <a:chOff x="2095500" y="2990850"/>
            <a:chExt cx="9620250" cy="2260282"/>
          </a:xfrm>
        </p:grpSpPr>
        <p:sp>
          <p:nvSpPr>
            <p:cNvPr id="102" name="Rectangle 102"/>
            <p:cNvSpPr/>
            <p:nvPr/>
          </p:nvSpPr>
          <p:spPr>
            <a:xfrm>
              <a:off x="2095500" y="2990850"/>
              <a:ext cx="9620250" cy="2228850"/>
            </a:xfrm>
            <a:prstGeom prst="roundRect">
              <a:avLst>
                <a:gd name="adj" fmla="val 3419"/>
              </a:avLst>
            </a:prstGeom>
            <a:solidFill>
              <a:srgbClr val="EDF4FE"/>
            </a:solidFill>
            <a:ln w="9525">
              <a:solidFill>
                <a:srgbClr val="FBD2C9"/>
              </a:solidFill>
            </a:ln>
          </p:spPr>
        </p:sp>
        <p:sp>
          <p:nvSpPr>
            <p:cNvPr id="103" name="Rectangle 103"/>
            <p:cNvSpPr/>
            <p:nvPr/>
          </p:nvSpPr>
          <p:spPr>
            <a:xfrm>
              <a:off x="2381250" y="3143250"/>
              <a:ext cx="1238250" cy="857250"/>
            </a:xfrm>
            <a:prstGeom prst="roundRect">
              <a:avLst>
                <a:gd name="adj" fmla="val 6667"/>
              </a:avLst>
            </a:prstGeom>
            <a:gradFill>
              <a:gsLst>
                <a:gs pos="0">
                  <a:srgbClr val="FB684A"/>
                </a:gs>
                <a:gs pos="100000">
                  <a:srgbClr val="FA421D"/>
                </a:gs>
              </a:gsLst>
              <a:lin ang="5400000" scaled="1"/>
            </a:gradFill>
            <a:ln>
              <a:noFill/>
            </a:ln>
          </p:spPr>
        </p:sp>
        <p:sp>
          <p:nvSpPr>
            <p:cNvPr id="104" name="Rectangle 104"/>
            <p:cNvSpPr/>
            <p:nvPr/>
          </p:nvSpPr>
          <p:spPr>
            <a:xfrm>
              <a:off x="2495550" y="3257550"/>
              <a:ext cx="723900" cy="419100"/>
            </a:xfrm>
            <a:prstGeom prst="roundRect">
              <a:avLst>
                <a:gd name="adj" fmla="val 6818"/>
              </a:avLst>
            </a:prstGeom>
            <a:solidFill>
              <a:srgbClr val="FDA28F"/>
            </a:solidFill>
            <a:ln>
              <a:noFill/>
            </a:ln>
          </p:spPr>
        </p:sp>
        <p:grpSp>
          <p:nvGrpSpPr>
            <p:cNvPr id="107" name="Group 107"/>
            <p:cNvGrpSpPr/>
            <p:nvPr/>
          </p:nvGrpSpPr>
          <p:grpSpPr>
            <a:xfrm>
              <a:off x="3140869" y="3693319"/>
              <a:ext cx="214313" cy="214313"/>
              <a:chOff x="3140869" y="3693319"/>
              <a:chExt cx="214313" cy="214313"/>
            </a:xfrm>
          </p:grpSpPr>
          <p:sp>
            <p:nvSpPr>
              <p:cNvPr id="105" name="Freeform 105"/>
              <p:cNvSpPr/>
              <p:nvPr/>
            </p:nvSpPr>
            <p:spPr>
              <a:xfrm>
                <a:off x="3140869" y="3693319"/>
                <a:ext cx="166688" cy="166688"/>
              </a:xfrm>
              <a:custGeom>
                <a:avLst/>
                <a:gdLst/>
                <a:ahLst/>
                <a:cxnLst/>
                <a:rect l="l" t="t" r="r" b="b"/>
                <a:pathLst>
                  <a:path w="166688" h="166688">
                    <a:moveTo>
                      <a:pt x="0" y="83344"/>
                    </a:moveTo>
                    <a:cubicBezTo>
                      <a:pt x="0" y="129373"/>
                      <a:pt x="37314" y="166688"/>
                      <a:pt x="83344" y="166688"/>
                    </a:cubicBezTo>
                    <a:cubicBezTo>
                      <a:pt x="129373" y="166688"/>
                      <a:pt x="166688" y="129373"/>
                      <a:pt x="166688" y="83344"/>
                    </a:cubicBezTo>
                    <a:cubicBezTo>
                      <a:pt x="166688" y="37314"/>
                      <a:pt x="129373" y="0"/>
                      <a:pt x="83344" y="0"/>
                    </a:cubicBezTo>
                    <a:cubicBezTo>
                      <a:pt x="37314" y="0"/>
                      <a:pt x="0" y="37314"/>
                      <a:pt x="0" y="83344"/>
                    </a:cubicBezTo>
                  </a:path>
                </a:pathLst>
              </a:custGeom>
              <a:noFill/>
              <a:ln w="23812">
                <a:solidFill>
                  <a:srgbClr val="FFFFFF"/>
                </a:solidFill>
              </a:ln>
            </p:spPr>
          </p:sp>
          <p:sp>
            <p:nvSpPr>
              <p:cNvPr id="106" name="Freeform 106"/>
              <p:cNvSpPr/>
              <p:nvPr/>
            </p:nvSpPr>
            <p:spPr>
              <a:xfrm>
                <a:off x="3283744" y="3836194"/>
                <a:ext cx="71438" cy="71438"/>
              </a:xfrm>
              <a:custGeom>
                <a:avLst/>
                <a:gdLst/>
                <a:ahLst/>
                <a:cxnLst/>
                <a:rect l="l" t="t" r="r" b="b"/>
                <a:pathLst>
                  <a:path w="71438" h="71438">
                    <a:moveTo>
                      <a:pt x="71438" y="71438"/>
                    </a:moveTo>
                    <a:lnTo>
                      <a:pt x="0" y="0"/>
                    </a:lnTo>
                  </a:path>
                </a:pathLst>
              </a:custGeom>
              <a:noFill/>
              <a:ln w="23812">
                <a:solidFill>
                  <a:srgbClr val="FFFFFF"/>
                </a:solidFill>
              </a:ln>
            </p:spPr>
          </p:sp>
        </p:grpSp>
        <p:sp>
          <p:nvSpPr>
            <p:cNvPr id="108" name="TextBox 108"/>
            <p:cNvSpPr txBox="1"/>
            <p:nvPr/>
          </p:nvSpPr>
          <p:spPr>
            <a:xfrm>
              <a:off x="2355342" y="4331018"/>
              <a:ext cx="870966" cy="511683"/>
            </a:xfrm>
            <a:prstGeom prst="rect">
              <a:avLst/>
            </a:prstGeom>
            <a:noFill/>
            <a:ln>
              <a:noFill/>
            </a:ln>
          </p:spPr>
          <p:txBody>
            <a:bodyPr wrap="none" lIns="0" tIns="0" rIns="0" bIns="0" anchor="t" anchorCtr="0">
              <a:spAutoFit/>
            </a:bodyPr>
            <a:lstStyle/>
            <a:p>
              <a:pPr algn="l">
                <a:lnSpc>
                  <a:spcPts val="1950"/>
                </a:lnSpc>
              </a:pPr>
              <a:r>
                <a:rPr lang="zh-CN" sz="1350" b="1" dirty="0">
                  <a:solidFill>
                    <a:srgbClr val="E83F1D"/>
                  </a:solidFill>
                  <a:latin typeface="+mn-lt"/>
                  <a:ea typeface="+mn-ea"/>
                  <a:cs typeface="+mn-cs"/>
                </a:rPr>
                <a:t>小区数字化</a:t>
              </a:r>
              <a:br/>
              <a:r>
                <a:rPr lang="zh-CN" sz="1350" b="1" dirty="0">
                  <a:solidFill>
                    <a:srgbClr val="E83F1D"/>
                  </a:solidFill>
                  <a:latin typeface="+mn-lt"/>
                  <a:ea typeface="+mn-ea"/>
                  <a:cs typeface="+mn-cs"/>
                </a:rPr>
                <a:t>管理平台</a:t>
              </a:r>
            </a:p>
          </p:txBody>
        </p:sp>
        <p:sp>
          <p:nvSpPr>
            <p:cNvPr id="109" name="Rectangle 109"/>
            <p:cNvSpPr/>
            <p:nvPr/>
          </p:nvSpPr>
          <p:spPr>
            <a:xfrm>
              <a:off x="3905250" y="3105150"/>
              <a:ext cx="2667000" cy="285750"/>
            </a:xfrm>
            <a:prstGeom prst="roundRect">
              <a:avLst>
                <a:gd name="adj" fmla="val 13333"/>
              </a:avLst>
            </a:prstGeom>
            <a:gradFill>
              <a:gsLst>
                <a:gs pos="0">
                  <a:srgbClr val="FB684A"/>
                </a:gs>
                <a:gs pos="100000">
                  <a:srgbClr val="FA421D"/>
                </a:gs>
              </a:gsLst>
              <a:lin ang="5400000" scaled="1"/>
            </a:gradFill>
            <a:ln>
              <a:noFill/>
            </a:ln>
          </p:spPr>
        </p:sp>
        <p:sp>
          <p:nvSpPr>
            <p:cNvPr id="110" name="TextBox 110"/>
            <p:cNvSpPr txBox="1"/>
            <p:nvPr/>
          </p:nvSpPr>
          <p:spPr>
            <a:xfrm>
              <a:off x="4809363" y="319182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底层基础能力</a:t>
              </a:r>
            </a:p>
          </p:txBody>
        </p:sp>
        <p:sp>
          <p:nvSpPr>
            <p:cNvPr id="111" name="Rectangle 111"/>
            <p:cNvSpPr/>
            <p:nvPr/>
          </p:nvSpPr>
          <p:spPr>
            <a:xfrm>
              <a:off x="4000500" y="3486150"/>
              <a:ext cx="1200150" cy="342900"/>
            </a:xfrm>
            <a:prstGeom prst="roundRect">
              <a:avLst>
                <a:gd name="adj" fmla="val 11111"/>
              </a:avLst>
            </a:prstGeom>
            <a:solidFill>
              <a:srgbClr val="FFFFFF"/>
            </a:solidFill>
            <a:ln>
              <a:noFill/>
            </a:ln>
          </p:spPr>
        </p:sp>
        <p:sp>
          <p:nvSpPr>
            <p:cNvPr id="112" name="TextBox 112"/>
            <p:cNvSpPr txBox="1"/>
            <p:nvPr/>
          </p:nvSpPr>
          <p:spPr>
            <a:xfrm>
              <a:off x="4199839" y="3599974"/>
              <a:ext cx="801472"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统一身份中心</a:t>
              </a:r>
            </a:p>
          </p:txBody>
        </p:sp>
        <p:sp>
          <p:nvSpPr>
            <p:cNvPr id="113" name="Rectangle 113"/>
            <p:cNvSpPr/>
            <p:nvPr/>
          </p:nvSpPr>
          <p:spPr>
            <a:xfrm>
              <a:off x="5295900" y="3486150"/>
              <a:ext cx="1200150" cy="342900"/>
            </a:xfrm>
            <a:prstGeom prst="roundRect">
              <a:avLst>
                <a:gd name="adj" fmla="val 11111"/>
              </a:avLst>
            </a:prstGeom>
            <a:solidFill>
              <a:srgbClr val="FFFFFF"/>
            </a:solidFill>
            <a:ln>
              <a:noFill/>
            </a:ln>
          </p:spPr>
        </p:sp>
        <p:sp>
          <p:nvSpPr>
            <p:cNvPr id="114" name="TextBox 114"/>
            <p:cNvSpPr txBox="1"/>
            <p:nvPr/>
          </p:nvSpPr>
          <p:spPr>
            <a:xfrm>
              <a:off x="5495239" y="3599974"/>
              <a:ext cx="801472"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统一身份中心</a:t>
              </a:r>
            </a:p>
          </p:txBody>
        </p:sp>
        <p:sp>
          <p:nvSpPr>
            <p:cNvPr id="115" name="Rectangle 115"/>
            <p:cNvSpPr/>
            <p:nvPr/>
          </p:nvSpPr>
          <p:spPr>
            <a:xfrm>
              <a:off x="4000500" y="3962400"/>
              <a:ext cx="1200150" cy="342900"/>
            </a:xfrm>
            <a:prstGeom prst="roundRect">
              <a:avLst>
                <a:gd name="adj" fmla="val 11111"/>
              </a:avLst>
            </a:prstGeom>
            <a:solidFill>
              <a:srgbClr val="FFFFFF"/>
            </a:solidFill>
            <a:ln>
              <a:noFill/>
            </a:ln>
          </p:spPr>
        </p:sp>
        <p:sp>
          <p:nvSpPr>
            <p:cNvPr id="116" name="TextBox 116"/>
            <p:cNvSpPr txBox="1"/>
            <p:nvPr/>
          </p:nvSpPr>
          <p:spPr>
            <a:xfrm>
              <a:off x="4199839" y="4076224"/>
              <a:ext cx="801472"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统一身份中心</a:t>
              </a:r>
            </a:p>
          </p:txBody>
        </p:sp>
        <p:sp>
          <p:nvSpPr>
            <p:cNvPr id="117" name="Rectangle 117"/>
            <p:cNvSpPr/>
            <p:nvPr/>
          </p:nvSpPr>
          <p:spPr>
            <a:xfrm>
              <a:off x="5295900" y="3962400"/>
              <a:ext cx="1200150" cy="342900"/>
            </a:xfrm>
            <a:prstGeom prst="roundRect">
              <a:avLst>
                <a:gd name="adj" fmla="val 11111"/>
              </a:avLst>
            </a:prstGeom>
            <a:solidFill>
              <a:srgbClr val="FFFFFF"/>
            </a:solidFill>
            <a:ln>
              <a:noFill/>
            </a:ln>
          </p:spPr>
        </p:sp>
        <p:sp>
          <p:nvSpPr>
            <p:cNvPr id="118" name="TextBox 118"/>
            <p:cNvSpPr txBox="1"/>
            <p:nvPr/>
          </p:nvSpPr>
          <p:spPr>
            <a:xfrm>
              <a:off x="5495239" y="4076224"/>
              <a:ext cx="801472"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统一身份中心</a:t>
              </a:r>
            </a:p>
          </p:txBody>
        </p:sp>
        <p:sp>
          <p:nvSpPr>
            <p:cNvPr id="119" name="Rectangle 119"/>
            <p:cNvSpPr/>
            <p:nvPr/>
          </p:nvSpPr>
          <p:spPr>
            <a:xfrm>
              <a:off x="4000500" y="4438650"/>
              <a:ext cx="1200150" cy="342900"/>
            </a:xfrm>
            <a:prstGeom prst="roundRect">
              <a:avLst>
                <a:gd name="adj" fmla="val 11111"/>
              </a:avLst>
            </a:prstGeom>
            <a:solidFill>
              <a:srgbClr val="FFFFFF"/>
            </a:solidFill>
            <a:ln>
              <a:noFill/>
            </a:ln>
          </p:spPr>
        </p:sp>
        <p:sp>
          <p:nvSpPr>
            <p:cNvPr id="120" name="TextBox 120"/>
            <p:cNvSpPr txBox="1"/>
            <p:nvPr/>
          </p:nvSpPr>
          <p:spPr>
            <a:xfrm>
              <a:off x="4199839" y="4552474"/>
              <a:ext cx="801472"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统一身份中心</a:t>
              </a:r>
            </a:p>
          </p:txBody>
        </p:sp>
        <p:sp>
          <p:nvSpPr>
            <p:cNvPr id="121" name="Rectangle 121"/>
            <p:cNvSpPr/>
            <p:nvPr/>
          </p:nvSpPr>
          <p:spPr>
            <a:xfrm>
              <a:off x="5295900" y="4438650"/>
              <a:ext cx="1200150" cy="342900"/>
            </a:xfrm>
            <a:prstGeom prst="roundRect">
              <a:avLst>
                <a:gd name="adj" fmla="val 11111"/>
              </a:avLst>
            </a:prstGeom>
            <a:solidFill>
              <a:srgbClr val="FFFFFF"/>
            </a:solidFill>
            <a:ln>
              <a:noFill/>
            </a:ln>
          </p:spPr>
        </p:sp>
        <p:sp>
          <p:nvSpPr>
            <p:cNvPr id="122" name="TextBox 122"/>
            <p:cNvSpPr txBox="1"/>
            <p:nvPr/>
          </p:nvSpPr>
          <p:spPr>
            <a:xfrm>
              <a:off x="5495239" y="4552474"/>
              <a:ext cx="801472"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统一身份中心</a:t>
              </a:r>
            </a:p>
          </p:txBody>
        </p:sp>
        <p:sp>
          <p:nvSpPr>
            <p:cNvPr id="123" name="Rectangle 123"/>
            <p:cNvSpPr/>
            <p:nvPr/>
          </p:nvSpPr>
          <p:spPr>
            <a:xfrm>
              <a:off x="6724650" y="3105150"/>
              <a:ext cx="2800350" cy="285750"/>
            </a:xfrm>
            <a:prstGeom prst="roundRect">
              <a:avLst>
                <a:gd name="adj" fmla="val 13333"/>
              </a:avLst>
            </a:prstGeom>
            <a:gradFill>
              <a:gsLst>
                <a:gs pos="0">
                  <a:srgbClr val="FB684A"/>
                </a:gs>
                <a:gs pos="100000">
                  <a:srgbClr val="FA421D"/>
                </a:gs>
              </a:gsLst>
              <a:lin ang="5400000" scaled="1"/>
            </a:gradFill>
            <a:ln>
              <a:noFill/>
            </a:ln>
          </p:spPr>
        </p:sp>
        <p:sp>
          <p:nvSpPr>
            <p:cNvPr id="124" name="TextBox 124"/>
            <p:cNvSpPr txBox="1"/>
            <p:nvPr/>
          </p:nvSpPr>
          <p:spPr>
            <a:xfrm>
              <a:off x="7695438" y="319182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常规服务应用</a:t>
              </a:r>
            </a:p>
          </p:txBody>
        </p:sp>
        <p:sp>
          <p:nvSpPr>
            <p:cNvPr id="125" name="Rectangle 125"/>
            <p:cNvSpPr/>
            <p:nvPr/>
          </p:nvSpPr>
          <p:spPr>
            <a:xfrm>
              <a:off x="6819900" y="3486150"/>
              <a:ext cx="838200" cy="285750"/>
            </a:xfrm>
            <a:prstGeom prst="roundRect">
              <a:avLst>
                <a:gd name="adj" fmla="val 13333"/>
              </a:avLst>
            </a:prstGeom>
            <a:solidFill>
              <a:srgbClr val="FFFFFF"/>
            </a:solidFill>
            <a:ln>
              <a:noFill/>
            </a:ln>
          </p:spPr>
        </p:sp>
        <p:sp>
          <p:nvSpPr>
            <p:cNvPr id="126" name="TextBox 126"/>
            <p:cNvSpPr txBox="1"/>
            <p:nvPr/>
          </p:nvSpPr>
          <p:spPr>
            <a:xfrm>
              <a:off x="6991921" y="3579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业主通知</a:t>
              </a:r>
            </a:p>
          </p:txBody>
        </p:sp>
        <p:sp>
          <p:nvSpPr>
            <p:cNvPr id="127" name="Rectangle 127"/>
            <p:cNvSpPr/>
            <p:nvPr/>
          </p:nvSpPr>
          <p:spPr>
            <a:xfrm>
              <a:off x="7734300" y="3486150"/>
              <a:ext cx="838200" cy="285750"/>
            </a:xfrm>
            <a:prstGeom prst="roundRect">
              <a:avLst>
                <a:gd name="adj" fmla="val 13333"/>
              </a:avLst>
            </a:prstGeom>
            <a:solidFill>
              <a:srgbClr val="FFFFFF"/>
            </a:solidFill>
            <a:ln>
              <a:noFill/>
            </a:ln>
          </p:spPr>
        </p:sp>
        <p:sp>
          <p:nvSpPr>
            <p:cNvPr id="128" name="TextBox 128"/>
            <p:cNvSpPr txBox="1"/>
            <p:nvPr/>
          </p:nvSpPr>
          <p:spPr>
            <a:xfrm>
              <a:off x="7966900" y="3579495"/>
              <a:ext cx="372999"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公告栏</a:t>
              </a:r>
            </a:p>
          </p:txBody>
        </p:sp>
        <p:sp>
          <p:nvSpPr>
            <p:cNvPr id="129" name="Rectangle 129"/>
            <p:cNvSpPr/>
            <p:nvPr/>
          </p:nvSpPr>
          <p:spPr>
            <a:xfrm>
              <a:off x="8648700" y="3486150"/>
              <a:ext cx="838200" cy="285750"/>
            </a:xfrm>
            <a:prstGeom prst="roundRect">
              <a:avLst>
                <a:gd name="adj" fmla="val 13333"/>
              </a:avLst>
            </a:prstGeom>
            <a:solidFill>
              <a:srgbClr val="FFFFFF"/>
            </a:solidFill>
            <a:ln>
              <a:noFill/>
            </a:ln>
          </p:spPr>
        </p:sp>
        <p:sp>
          <p:nvSpPr>
            <p:cNvPr id="130" name="TextBox 130"/>
            <p:cNvSpPr txBox="1"/>
            <p:nvPr/>
          </p:nvSpPr>
          <p:spPr>
            <a:xfrm>
              <a:off x="8820722" y="3579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报事报修</a:t>
              </a:r>
            </a:p>
          </p:txBody>
        </p:sp>
        <p:sp>
          <p:nvSpPr>
            <p:cNvPr id="131" name="Rectangle 131"/>
            <p:cNvSpPr/>
            <p:nvPr/>
          </p:nvSpPr>
          <p:spPr>
            <a:xfrm>
              <a:off x="6819900" y="3867150"/>
              <a:ext cx="838200" cy="285750"/>
            </a:xfrm>
            <a:prstGeom prst="roundRect">
              <a:avLst>
                <a:gd name="adj" fmla="val 13333"/>
              </a:avLst>
            </a:prstGeom>
            <a:solidFill>
              <a:srgbClr val="FFFFFF"/>
            </a:solidFill>
            <a:ln>
              <a:noFill/>
            </a:ln>
          </p:spPr>
        </p:sp>
        <p:sp>
          <p:nvSpPr>
            <p:cNvPr id="132" name="TextBox 132"/>
            <p:cNvSpPr txBox="1"/>
            <p:nvPr/>
          </p:nvSpPr>
          <p:spPr>
            <a:xfrm>
              <a:off x="6991921" y="3960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调查问卷</a:t>
              </a:r>
            </a:p>
          </p:txBody>
        </p:sp>
        <p:sp>
          <p:nvSpPr>
            <p:cNvPr id="133" name="Rectangle 133"/>
            <p:cNvSpPr/>
            <p:nvPr/>
          </p:nvSpPr>
          <p:spPr>
            <a:xfrm>
              <a:off x="7734300" y="3867150"/>
              <a:ext cx="838200" cy="285750"/>
            </a:xfrm>
            <a:prstGeom prst="roundRect">
              <a:avLst>
                <a:gd name="adj" fmla="val 13333"/>
              </a:avLst>
            </a:prstGeom>
            <a:solidFill>
              <a:srgbClr val="FFFFFF"/>
            </a:solidFill>
            <a:ln>
              <a:noFill/>
            </a:ln>
          </p:spPr>
        </p:sp>
        <p:sp>
          <p:nvSpPr>
            <p:cNvPr id="134" name="TextBox 134"/>
            <p:cNvSpPr txBox="1"/>
            <p:nvPr/>
          </p:nvSpPr>
          <p:spPr>
            <a:xfrm>
              <a:off x="7906321" y="3960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投诉建议</a:t>
              </a:r>
            </a:p>
          </p:txBody>
        </p:sp>
        <p:sp>
          <p:nvSpPr>
            <p:cNvPr id="135" name="Rectangle 135"/>
            <p:cNvSpPr/>
            <p:nvPr/>
          </p:nvSpPr>
          <p:spPr>
            <a:xfrm>
              <a:off x="8648700" y="3867150"/>
              <a:ext cx="838200" cy="285750"/>
            </a:xfrm>
            <a:prstGeom prst="roundRect">
              <a:avLst>
                <a:gd name="adj" fmla="val 13333"/>
              </a:avLst>
            </a:prstGeom>
            <a:solidFill>
              <a:srgbClr val="FFFFFF"/>
            </a:solidFill>
            <a:ln>
              <a:noFill/>
            </a:ln>
          </p:spPr>
        </p:sp>
        <p:sp>
          <p:nvSpPr>
            <p:cNvPr id="136" name="TextBox 136"/>
            <p:cNvSpPr txBox="1"/>
            <p:nvPr/>
          </p:nvSpPr>
          <p:spPr>
            <a:xfrm>
              <a:off x="8820722" y="3960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智能门禁</a:t>
              </a:r>
            </a:p>
          </p:txBody>
        </p:sp>
        <p:sp>
          <p:nvSpPr>
            <p:cNvPr id="137" name="Rectangle 137"/>
            <p:cNvSpPr/>
            <p:nvPr/>
          </p:nvSpPr>
          <p:spPr>
            <a:xfrm>
              <a:off x="6819900" y="4248150"/>
              <a:ext cx="838200" cy="285750"/>
            </a:xfrm>
            <a:prstGeom prst="roundRect">
              <a:avLst>
                <a:gd name="adj" fmla="val 13333"/>
              </a:avLst>
            </a:prstGeom>
            <a:solidFill>
              <a:srgbClr val="FFFFFF"/>
            </a:solidFill>
            <a:ln>
              <a:noFill/>
            </a:ln>
          </p:spPr>
        </p:sp>
        <p:sp>
          <p:nvSpPr>
            <p:cNvPr id="138" name="TextBox 138"/>
            <p:cNvSpPr txBox="1"/>
            <p:nvPr/>
          </p:nvSpPr>
          <p:spPr>
            <a:xfrm>
              <a:off x="6991921" y="4341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访客管理</a:t>
              </a:r>
            </a:p>
          </p:txBody>
        </p:sp>
        <p:sp>
          <p:nvSpPr>
            <p:cNvPr id="139" name="Rectangle 139"/>
            <p:cNvSpPr/>
            <p:nvPr/>
          </p:nvSpPr>
          <p:spPr>
            <a:xfrm>
              <a:off x="7734300" y="4248150"/>
              <a:ext cx="838200" cy="285750"/>
            </a:xfrm>
            <a:prstGeom prst="roundRect">
              <a:avLst>
                <a:gd name="adj" fmla="val 13333"/>
              </a:avLst>
            </a:prstGeom>
            <a:solidFill>
              <a:srgbClr val="FFFFFF"/>
            </a:solidFill>
            <a:ln>
              <a:noFill/>
            </a:ln>
          </p:spPr>
        </p:sp>
        <p:sp>
          <p:nvSpPr>
            <p:cNvPr id="140" name="TextBox 140"/>
            <p:cNvSpPr txBox="1"/>
            <p:nvPr/>
          </p:nvSpPr>
          <p:spPr>
            <a:xfrm>
              <a:off x="7906321" y="4341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小区投票</a:t>
              </a:r>
            </a:p>
          </p:txBody>
        </p:sp>
        <p:sp>
          <p:nvSpPr>
            <p:cNvPr id="141" name="Rectangle 141"/>
            <p:cNvSpPr/>
            <p:nvPr/>
          </p:nvSpPr>
          <p:spPr>
            <a:xfrm>
              <a:off x="8648700" y="4248150"/>
              <a:ext cx="838200" cy="285750"/>
            </a:xfrm>
            <a:prstGeom prst="roundRect">
              <a:avLst>
                <a:gd name="adj" fmla="val 13333"/>
              </a:avLst>
            </a:prstGeom>
            <a:solidFill>
              <a:srgbClr val="FFFFFF"/>
            </a:solidFill>
            <a:ln>
              <a:noFill/>
            </a:ln>
          </p:spPr>
        </p:sp>
        <p:sp>
          <p:nvSpPr>
            <p:cNvPr id="142" name="TextBox 142"/>
            <p:cNvSpPr txBox="1"/>
            <p:nvPr/>
          </p:nvSpPr>
          <p:spPr>
            <a:xfrm>
              <a:off x="8820722" y="4341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业主论坛</a:t>
              </a:r>
            </a:p>
          </p:txBody>
        </p:sp>
        <p:sp>
          <p:nvSpPr>
            <p:cNvPr id="143" name="Rectangle 143"/>
            <p:cNvSpPr/>
            <p:nvPr/>
          </p:nvSpPr>
          <p:spPr>
            <a:xfrm>
              <a:off x="6819900" y="4629150"/>
              <a:ext cx="838200" cy="285750"/>
            </a:xfrm>
            <a:prstGeom prst="roundRect">
              <a:avLst>
                <a:gd name="adj" fmla="val 13333"/>
              </a:avLst>
            </a:prstGeom>
            <a:solidFill>
              <a:srgbClr val="FFFFFF"/>
            </a:solidFill>
            <a:ln>
              <a:noFill/>
            </a:ln>
          </p:spPr>
        </p:sp>
        <p:sp>
          <p:nvSpPr>
            <p:cNvPr id="144" name="TextBox 144"/>
            <p:cNvSpPr txBox="1"/>
            <p:nvPr/>
          </p:nvSpPr>
          <p:spPr>
            <a:xfrm>
              <a:off x="6991921" y="4722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访客管理</a:t>
              </a:r>
            </a:p>
          </p:txBody>
        </p:sp>
        <p:sp>
          <p:nvSpPr>
            <p:cNvPr id="145" name="Rectangle 145"/>
            <p:cNvSpPr/>
            <p:nvPr/>
          </p:nvSpPr>
          <p:spPr>
            <a:xfrm>
              <a:off x="7734300" y="4629150"/>
              <a:ext cx="838200" cy="285750"/>
            </a:xfrm>
            <a:prstGeom prst="roundRect">
              <a:avLst>
                <a:gd name="adj" fmla="val 13333"/>
              </a:avLst>
            </a:prstGeom>
            <a:solidFill>
              <a:srgbClr val="FFFFFF"/>
            </a:solidFill>
            <a:ln>
              <a:noFill/>
            </a:ln>
          </p:spPr>
        </p:sp>
        <p:sp>
          <p:nvSpPr>
            <p:cNvPr id="146" name="TextBox 146"/>
            <p:cNvSpPr txBox="1"/>
            <p:nvPr/>
          </p:nvSpPr>
          <p:spPr>
            <a:xfrm>
              <a:off x="7906321" y="4722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巡逻巡检</a:t>
              </a:r>
            </a:p>
          </p:txBody>
        </p:sp>
        <p:sp>
          <p:nvSpPr>
            <p:cNvPr id="147" name="Rectangle 147"/>
            <p:cNvSpPr/>
            <p:nvPr/>
          </p:nvSpPr>
          <p:spPr>
            <a:xfrm>
              <a:off x="8648700" y="4629150"/>
              <a:ext cx="838200" cy="285750"/>
            </a:xfrm>
            <a:prstGeom prst="roundRect">
              <a:avLst>
                <a:gd name="adj" fmla="val 13333"/>
              </a:avLst>
            </a:prstGeom>
            <a:solidFill>
              <a:srgbClr val="FFFFFF"/>
            </a:solidFill>
            <a:ln>
              <a:noFill/>
            </a:ln>
          </p:spPr>
        </p:sp>
        <p:sp>
          <p:nvSpPr>
            <p:cNvPr id="148" name="TextBox 148"/>
            <p:cNvSpPr txBox="1"/>
            <p:nvPr/>
          </p:nvSpPr>
          <p:spPr>
            <a:xfrm>
              <a:off x="8996401" y="4722495"/>
              <a:ext cx="142799"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a:t>
              </a:r>
            </a:p>
          </p:txBody>
        </p:sp>
        <p:sp>
          <p:nvSpPr>
            <p:cNvPr id="149" name="Rectangle 149"/>
            <p:cNvSpPr/>
            <p:nvPr/>
          </p:nvSpPr>
          <p:spPr>
            <a:xfrm>
              <a:off x="9677400" y="3105150"/>
              <a:ext cx="1962150" cy="285750"/>
            </a:xfrm>
            <a:prstGeom prst="roundRect">
              <a:avLst>
                <a:gd name="adj" fmla="val 13333"/>
              </a:avLst>
            </a:prstGeom>
            <a:gradFill>
              <a:gsLst>
                <a:gs pos="0">
                  <a:srgbClr val="FB684A"/>
                </a:gs>
                <a:gs pos="100000">
                  <a:srgbClr val="FA421D"/>
                </a:gs>
              </a:gsLst>
              <a:lin ang="5400000" scaled="1"/>
            </a:gradFill>
            <a:ln>
              <a:noFill/>
            </a:ln>
          </p:spPr>
        </p:sp>
        <p:sp>
          <p:nvSpPr>
            <p:cNvPr id="150" name="TextBox 150"/>
            <p:cNvSpPr txBox="1"/>
            <p:nvPr/>
          </p:nvSpPr>
          <p:spPr>
            <a:xfrm>
              <a:off x="10229088" y="319182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增值业务服务</a:t>
              </a:r>
            </a:p>
          </p:txBody>
        </p:sp>
        <p:sp>
          <p:nvSpPr>
            <p:cNvPr id="151" name="Rectangle 151"/>
            <p:cNvSpPr/>
            <p:nvPr/>
          </p:nvSpPr>
          <p:spPr>
            <a:xfrm>
              <a:off x="9753600" y="3486150"/>
              <a:ext cx="914400" cy="285750"/>
            </a:xfrm>
            <a:prstGeom prst="roundRect">
              <a:avLst>
                <a:gd name="adj" fmla="val 13333"/>
              </a:avLst>
            </a:prstGeom>
            <a:solidFill>
              <a:srgbClr val="FFFFFF"/>
            </a:solidFill>
            <a:ln>
              <a:noFill/>
            </a:ln>
          </p:spPr>
        </p:sp>
        <p:sp>
          <p:nvSpPr>
            <p:cNvPr id="152" name="TextBox 152"/>
            <p:cNvSpPr txBox="1"/>
            <p:nvPr/>
          </p:nvSpPr>
          <p:spPr>
            <a:xfrm>
              <a:off x="9963722" y="3579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社区商城</a:t>
              </a:r>
            </a:p>
          </p:txBody>
        </p:sp>
        <p:sp>
          <p:nvSpPr>
            <p:cNvPr id="153" name="Rectangle 153"/>
            <p:cNvSpPr/>
            <p:nvPr/>
          </p:nvSpPr>
          <p:spPr>
            <a:xfrm>
              <a:off x="10725150" y="3486150"/>
              <a:ext cx="914400" cy="285750"/>
            </a:xfrm>
            <a:prstGeom prst="roundRect">
              <a:avLst>
                <a:gd name="adj" fmla="val 13333"/>
              </a:avLst>
            </a:prstGeom>
            <a:solidFill>
              <a:srgbClr val="FFFFFF"/>
            </a:solidFill>
            <a:ln>
              <a:noFill/>
            </a:ln>
          </p:spPr>
        </p:sp>
        <p:sp>
          <p:nvSpPr>
            <p:cNvPr id="154" name="TextBox 154"/>
            <p:cNvSpPr txBox="1"/>
            <p:nvPr/>
          </p:nvSpPr>
          <p:spPr>
            <a:xfrm>
              <a:off x="10935272" y="3579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快递代收</a:t>
              </a:r>
            </a:p>
          </p:txBody>
        </p:sp>
        <p:sp>
          <p:nvSpPr>
            <p:cNvPr id="155" name="Rectangle 155"/>
            <p:cNvSpPr/>
            <p:nvPr/>
          </p:nvSpPr>
          <p:spPr>
            <a:xfrm>
              <a:off x="9753600" y="3867150"/>
              <a:ext cx="914400" cy="285750"/>
            </a:xfrm>
            <a:prstGeom prst="roundRect">
              <a:avLst>
                <a:gd name="adj" fmla="val 13333"/>
              </a:avLst>
            </a:prstGeom>
            <a:solidFill>
              <a:srgbClr val="FFFFFF"/>
            </a:solidFill>
            <a:ln>
              <a:noFill/>
            </a:ln>
          </p:spPr>
        </p:sp>
        <p:sp>
          <p:nvSpPr>
            <p:cNvPr id="156" name="TextBox 156"/>
            <p:cNvSpPr txBox="1"/>
            <p:nvPr/>
          </p:nvSpPr>
          <p:spPr>
            <a:xfrm>
              <a:off x="9963722" y="3960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文件存档</a:t>
              </a:r>
            </a:p>
          </p:txBody>
        </p:sp>
        <p:sp>
          <p:nvSpPr>
            <p:cNvPr id="157" name="Rectangle 157"/>
            <p:cNvSpPr/>
            <p:nvPr/>
          </p:nvSpPr>
          <p:spPr>
            <a:xfrm>
              <a:off x="10725150" y="3867150"/>
              <a:ext cx="914400" cy="285750"/>
            </a:xfrm>
            <a:prstGeom prst="roundRect">
              <a:avLst>
                <a:gd name="adj" fmla="val 13333"/>
              </a:avLst>
            </a:prstGeom>
            <a:solidFill>
              <a:srgbClr val="FFFFFF"/>
            </a:solidFill>
            <a:ln>
              <a:noFill/>
            </a:ln>
          </p:spPr>
        </p:sp>
        <p:sp>
          <p:nvSpPr>
            <p:cNvPr id="158" name="TextBox 158"/>
            <p:cNvSpPr txBox="1"/>
            <p:nvPr/>
          </p:nvSpPr>
          <p:spPr>
            <a:xfrm>
              <a:off x="10935272" y="3960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业主大会</a:t>
              </a:r>
            </a:p>
          </p:txBody>
        </p:sp>
        <p:sp>
          <p:nvSpPr>
            <p:cNvPr id="159" name="Rectangle 159"/>
            <p:cNvSpPr/>
            <p:nvPr/>
          </p:nvSpPr>
          <p:spPr>
            <a:xfrm>
              <a:off x="9753600" y="4248150"/>
              <a:ext cx="914400" cy="285750"/>
            </a:xfrm>
            <a:prstGeom prst="roundRect">
              <a:avLst>
                <a:gd name="adj" fmla="val 13333"/>
              </a:avLst>
            </a:prstGeom>
            <a:solidFill>
              <a:srgbClr val="FFFFFF"/>
            </a:solidFill>
            <a:ln>
              <a:noFill/>
            </a:ln>
          </p:spPr>
        </p:sp>
        <p:sp>
          <p:nvSpPr>
            <p:cNvPr id="160" name="TextBox 160"/>
            <p:cNvSpPr txBox="1"/>
            <p:nvPr/>
          </p:nvSpPr>
          <p:spPr>
            <a:xfrm>
              <a:off x="9963722" y="4341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在线会议</a:t>
              </a:r>
            </a:p>
          </p:txBody>
        </p:sp>
        <p:sp>
          <p:nvSpPr>
            <p:cNvPr id="161" name="Rectangle 161"/>
            <p:cNvSpPr/>
            <p:nvPr/>
          </p:nvSpPr>
          <p:spPr>
            <a:xfrm>
              <a:off x="10725150" y="4248150"/>
              <a:ext cx="914400" cy="285750"/>
            </a:xfrm>
            <a:prstGeom prst="roundRect">
              <a:avLst>
                <a:gd name="adj" fmla="val 13333"/>
              </a:avLst>
            </a:prstGeom>
            <a:solidFill>
              <a:srgbClr val="FFFFFF"/>
            </a:solidFill>
            <a:ln>
              <a:noFill/>
            </a:ln>
          </p:spPr>
        </p:sp>
        <p:sp>
          <p:nvSpPr>
            <p:cNvPr id="162" name="TextBox 162"/>
            <p:cNvSpPr txBox="1"/>
            <p:nvPr/>
          </p:nvSpPr>
          <p:spPr>
            <a:xfrm>
              <a:off x="10935272" y="4341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停车管理</a:t>
              </a:r>
            </a:p>
          </p:txBody>
        </p:sp>
        <p:sp>
          <p:nvSpPr>
            <p:cNvPr id="163" name="Rectangle 163"/>
            <p:cNvSpPr/>
            <p:nvPr/>
          </p:nvSpPr>
          <p:spPr>
            <a:xfrm>
              <a:off x="9753600" y="4629150"/>
              <a:ext cx="914400" cy="285750"/>
            </a:xfrm>
            <a:prstGeom prst="roundRect">
              <a:avLst>
                <a:gd name="adj" fmla="val 13333"/>
              </a:avLst>
            </a:prstGeom>
            <a:solidFill>
              <a:srgbClr val="FFFFFF"/>
            </a:solidFill>
            <a:ln>
              <a:noFill/>
            </a:ln>
          </p:spPr>
        </p:sp>
        <p:sp>
          <p:nvSpPr>
            <p:cNvPr id="164" name="TextBox 164"/>
            <p:cNvSpPr txBox="1"/>
            <p:nvPr/>
          </p:nvSpPr>
          <p:spPr>
            <a:xfrm>
              <a:off x="9963722" y="4722495"/>
              <a:ext cx="49415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房屋租售</a:t>
              </a:r>
            </a:p>
          </p:txBody>
        </p:sp>
        <p:sp>
          <p:nvSpPr>
            <p:cNvPr id="165" name="Rectangle 165"/>
            <p:cNvSpPr/>
            <p:nvPr/>
          </p:nvSpPr>
          <p:spPr>
            <a:xfrm>
              <a:off x="10725150" y="4629150"/>
              <a:ext cx="914400" cy="285750"/>
            </a:xfrm>
            <a:prstGeom prst="roundRect">
              <a:avLst>
                <a:gd name="adj" fmla="val 13333"/>
              </a:avLst>
            </a:prstGeom>
            <a:solidFill>
              <a:srgbClr val="FFFFFF"/>
            </a:solidFill>
            <a:ln>
              <a:noFill/>
            </a:ln>
          </p:spPr>
        </p:sp>
        <p:sp>
          <p:nvSpPr>
            <p:cNvPr id="166" name="TextBox 166"/>
            <p:cNvSpPr txBox="1"/>
            <p:nvPr/>
          </p:nvSpPr>
          <p:spPr>
            <a:xfrm>
              <a:off x="11110951" y="4722495"/>
              <a:ext cx="142799"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a:t>
              </a:r>
            </a:p>
          </p:txBody>
        </p:sp>
        <p:sp>
          <p:nvSpPr>
            <p:cNvPr id="167" name="Line 167"/>
            <p:cNvSpPr/>
            <p:nvPr/>
          </p:nvSpPr>
          <p:spPr>
            <a:xfrm>
              <a:off x="8839200" y="4953000"/>
              <a:ext cx="590550" cy="171450"/>
            </a:xfrm>
            <a:custGeom>
              <a:avLst/>
              <a:gdLst/>
              <a:ahLst/>
              <a:cxnLst/>
              <a:rect l="l" t="t" r="r" b="b"/>
              <a:pathLst>
                <a:path w="590550" h="171450">
                  <a:moveTo>
                    <a:pt x="0" y="0"/>
                  </a:moveTo>
                  <a:lnTo>
                    <a:pt x="590550" y="171450"/>
                  </a:lnTo>
                </a:path>
              </a:pathLst>
            </a:custGeom>
            <a:noFill/>
            <a:ln w="9525">
              <a:solidFill>
                <a:srgbClr val="FA421D"/>
              </a:solidFill>
            </a:ln>
          </p:spPr>
        </p:sp>
        <p:sp>
          <p:nvSpPr>
            <p:cNvPr id="168" name="TextBox 168"/>
            <p:cNvSpPr txBox="1"/>
            <p:nvPr/>
          </p:nvSpPr>
          <p:spPr>
            <a:xfrm>
              <a:off x="9520238" y="5074920"/>
              <a:ext cx="1826895" cy="176212"/>
            </a:xfrm>
            <a:prstGeom prst="rect">
              <a:avLst/>
            </a:prstGeom>
            <a:noFill/>
            <a:ln>
              <a:noFill/>
            </a:ln>
          </p:spPr>
          <p:txBody>
            <a:bodyPr wrap="none" lIns="0" tIns="0" rIns="0" bIns="0" anchor="t" anchorCtr="0">
              <a:spAutoFit/>
            </a:bodyPr>
            <a:lstStyle/>
            <a:p>
              <a:pPr algn="l"/>
              <a:r>
                <a:rPr lang="zh-CN" sz="900" dirty="0">
                  <a:solidFill>
                    <a:srgbClr val="FA421D"/>
                  </a:solidFill>
                  <a:latin typeface="+mn-lt"/>
                  <a:ea typeface="+mn-ea"/>
                  <a:cs typeface="+mn-cs"/>
                </a:rPr>
                <a:t>模块化迭代开发　新功能上线即用</a:t>
              </a:r>
            </a:p>
          </p:txBody>
        </p:sp>
      </p:grpSp>
      <p:grpSp>
        <p:nvGrpSpPr>
          <p:cNvPr id="205" name="row-cloud-resources"/>
          <p:cNvGrpSpPr/>
          <p:nvPr/>
        </p:nvGrpSpPr>
        <p:grpSpPr>
          <a:xfrm>
            <a:off x="2095500" y="5410200"/>
            <a:ext cx="9620250" cy="1162050"/>
            <a:chOff x="2095500" y="5410200"/>
            <a:chExt cx="9620250" cy="1162050"/>
          </a:xfrm>
        </p:grpSpPr>
        <p:sp>
          <p:nvSpPr>
            <p:cNvPr id="170" name="Rectangle 170"/>
            <p:cNvSpPr/>
            <p:nvPr/>
          </p:nvSpPr>
          <p:spPr>
            <a:xfrm>
              <a:off x="2095500" y="5410200"/>
              <a:ext cx="9620250" cy="1162050"/>
            </a:xfrm>
            <a:prstGeom prst="roundRect">
              <a:avLst>
                <a:gd name="adj" fmla="val 6557"/>
              </a:avLst>
            </a:prstGeom>
            <a:solidFill>
              <a:srgbClr val="EDF4FE"/>
            </a:solidFill>
            <a:ln w="9525">
              <a:solidFill>
                <a:srgbClr val="FBD2C9"/>
              </a:solidFill>
            </a:ln>
          </p:spPr>
        </p:sp>
        <p:sp>
          <p:nvSpPr>
            <p:cNvPr id="171" name="TextBox 171"/>
            <p:cNvSpPr txBox="1"/>
            <p:nvPr/>
          </p:nvSpPr>
          <p:spPr>
            <a:xfrm>
              <a:off x="2428684" y="5541645"/>
              <a:ext cx="857631"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腾讯云计算服务</a:t>
              </a:r>
            </a:p>
          </p:txBody>
        </p:sp>
        <p:sp>
          <p:nvSpPr>
            <p:cNvPr id="172" name="Freeform 172"/>
            <p:cNvSpPr/>
            <p:nvPr/>
          </p:nvSpPr>
          <p:spPr>
            <a:xfrm>
              <a:off x="2698750" y="5808504"/>
              <a:ext cx="317501" cy="211360"/>
            </a:xfrm>
            <a:custGeom>
              <a:avLst/>
              <a:gdLst/>
              <a:ahLst/>
              <a:cxnLst/>
              <a:rect l="l" t="t" r="r" b="b"/>
              <a:pathLst>
                <a:path w="317501" h="211360">
                  <a:moveTo>
                    <a:pt x="73930" y="211297"/>
                  </a:moveTo>
                  <a:cubicBezTo>
                    <a:pt x="33099" y="211297"/>
                    <a:pt x="0" y="179435"/>
                    <a:pt x="0" y="140129"/>
                  </a:cubicBezTo>
                  <a:cubicBezTo>
                    <a:pt x="0" y="100838"/>
                    <a:pt x="33099" y="68977"/>
                    <a:pt x="73930" y="68977"/>
                  </a:cubicBezTo>
                  <a:cubicBezTo>
                    <a:pt x="80169" y="41005"/>
                    <a:pt x="102410" y="18177"/>
                    <a:pt x="132271" y="9081"/>
                  </a:cubicBezTo>
                  <a:cubicBezTo>
                    <a:pt x="162116" y="0"/>
                    <a:pt x="195072" y="6017"/>
                    <a:pt x="218694" y="24956"/>
                  </a:cubicBezTo>
                  <a:cubicBezTo>
                    <a:pt x="242316" y="43847"/>
                    <a:pt x="253016" y="72692"/>
                    <a:pt x="246793" y="100664"/>
                  </a:cubicBezTo>
                  <a:lnTo>
                    <a:pt x="262510" y="100664"/>
                  </a:lnTo>
                  <a:cubicBezTo>
                    <a:pt x="292878" y="100664"/>
                    <a:pt x="317501" y="125429"/>
                    <a:pt x="317501" y="156004"/>
                  </a:cubicBezTo>
                  <a:cubicBezTo>
                    <a:pt x="317501" y="186595"/>
                    <a:pt x="292878" y="211360"/>
                    <a:pt x="262494" y="211360"/>
                  </a:cubicBezTo>
                  <a:lnTo>
                    <a:pt x="73930" y="211360"/>
                  </a:lnTo>
                </a:path>
              </a:pathLst>
            </a:custGeom>
            <a:noFill/>
            <a:ln w="23813">
              <a:solidFill>
                <a:srgbClr val="FA421D"/>
              </a:solidFill>
            </a:ln>
          </p:spPr>
        </p:sp>
        <p:sp>
          <p:nvSpPr>
            <p:cNvPr id="173" name="Ellipse 173"/>
            <p:cNvSpPr/>
            <p:nvPr/>
          </p:nvSpPr>
          <p:spPr>
            <a:xfrm>
              <a:off x="2533650" y="6210300"/>
              <a:ext cx="647700" cy="152400"/>
            </a:xfrm>
            <a:prstGeom prst="ellipse">
              <a:avLst/>
            </a:prstGeom>
            <a:solidFill>
              <a:srgbClr val="FBD2C9"/>
            </a:solidFill>
            <a:ln>
              <a:noFill/>
            </a:ln>
          </p:spPr>
        </p:sp>
        <p:sp>
          <p:nvSpPr>
            <p:cNvPr id="174" name="TextBox 174"/>
            <p:cNvSpPr txBox="1"/>
            <p:nvPr/>
          </p:nvSpPr>
          <p:spPr>
            <a:xfrm>
              <a:off x="3950532" y="5541645"/>
              <a:ext cx="1014336"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SSL数据加密通信​</a:t>
              </a:r>
            </a:p>
          </p:txBody>
        </p:sp>
        <p:grpSp>
          <p:nvGrpSpPr>
            <p:cNvPr id="178" name="Group 178"/>
            <p:cNvGrpSpPr/>
            <p:nvPr/>
          </p:nvGrpSpPr>
          <p:grpSpPr>
            <a:xfrm>
              <a:off x="4346575" y="5781675"/>
              <a:ext cx="222250" cy="285750"/>
              <a:chOff x="4346575" y="5781675"/>
              <a:chExt cx="222250" cy="285750"/>
            </a:xfrm>
          </p:grpSpPr>
          <p:sp>
            <p:nvSpPr>
              <p:cNvPr id="175" name="Freeform 175"/>
              <p:cNvSpPr/>
              <p:nvPr/>
            </p:nvSpPr>
            <p:spPr>
              <a:xfrm>
                <a:off x="4346575" y="5908675"/>
                <a:ext cx="222250" cy="158750"/>
              </a:xfrm>
              <a:custGeom>
                <a:avLst/>
                <a:gdLst/>
                <a:ahLst/>
                <a:cxnLst/>
                <a:rect l="l" t="t" r="r" b="b"/>
                <a:pathLst>
                  <a:path w="222250" h="158750">
                    <a:moveTo>
                      <a:pt x="0" y="31750"/>
                    </a:moveTo>
                    <a:cubicBezTo>
                      <a:pt x="0" y="14215"/>
                      <a:pt x="14215" y="0"/>
                      <a:pt x="31750" y="0"/>
                    </a:cubicBezTo>
                    <a:lnTo>
                      <a:pt x="190500" y="0"/>
                    </a:lnTo>
                    <a:cubicBezTo>
                      <a:pt x="208035" y="0"/>
                      <a:pt x="222250" y="14215"/>
                      <a:pt x="222250" y="31750"/>
                    </a:cubicBezTo>
                    <a:lnTo>
                      <a:pt x="222250" y="127000"/>
                    </a:lnTo>
                    <a:cubicBezTo>
                      <a:pt x="222250" y="144535"/>
                      <a:pt x="208035" y="158750"/>
                      <a:pt x="190500" y="158750"/>
                    </a:cubicBezTo>
                    <a:lnTo>
                      <a:pt x="31750" y="158750"/>
                    </a:lnTo>
                    <a:cubicBezTo>
                      <a:pt x="14215" y="158750"/>
                      <a:pt x="0" y="144535"/>
                      <a:pt x="0" y="127000"/>
                    </a:cubicBezTo>
                    <a:lnTo>
                      <a:pt x="0" y="31750"/>
                    </a:lnTo>
                  </a:path>
                </a:pathLst>
              </a:custGeom>
              <a:noFill/>
              <a:ln w="23813">
                <a:solidFill>
                  <a:srgbClr val="FA421D"/>
                </a:solidFill>
              </a:ln>
            </p:spPr>
          </p:sp>
          <p:sp>
            <p:nvSpPr>
              <p:cNvPr id="176" name="Freeform 176"/>
              <p:cNvSpPr/>
              <p:nvPr/>
            </p:nvSpPr>
            <p:spPr>
              <a:xfrm>
                <a:off x="4441825" y="597217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23813">
                <a:solidFill>
                  <a:srgbClr val="FA421D"/>
                </a:solidFill>
              </a:ln>
            </p:spPr>
          </p:sp>
          <p:sp>
            <p:nvSpPr>
              <p:cNvPr id="177" name="Freeform 177"/>
              <p:cNvSpPr/>
              <p:nvPr/>
            </p:nvSpPr>
            <p:spPr>
              <a:xfrm>
                <a:off x="4394200" y="5781675"/>
                <a:ext cx="127000" cy="127000"/>
              </a:xfrm>
              <a:custGeom>
                <a:avLst/>
                <a:gdLst/>
                <a:ahLst/>
                <a:cxnLst/>
                <a:rect l="l" t="t" r="r" b="b"/>
                <a:pathLst>
                  <a:path w="127000" h="127000">
                    <a:moveTo>
                      <a:pt x="0" y="127000"/>
                    </a:moveTo>
                    <a:lnTo>
                      <a:pt x="0" y="63500"/>
                    </a:lnTo>
                    <a:cubicBezTo>
                      <a:pt x="0" y="28430"/>
                      <a:pt x="28430" y="0"/>
                      <a:pt x="63500" y="0"/>
                    </a:cubicBezTo>
                    <a:cubicBezTo>
                      <a:pt x="98570" y="0"/>
                      <a:pt x="127000" y="28430"/>
                      <a:pt x="127000" y="63500"/>
                    </a:cubicBezTo>
                    <a:lnTo>
                      <a:pt x="127000" y="127000"/>
                    </a:lnTo>
                  </a:path>
                </a:pathLst>
              </a:custGeom>
              <a:noFill/>
              <a:ln w="23813">
                <a:solidFill>
                  <a:srgbClr val="FA421D"/>
                </a:solidFill>
              </a:ln>
            </p:spPr>
          </p:sp>
        </p:grpSp>
        <p:sp>
          <p:nvSpPr>
            <p:cNvPr id="179" name="Ellipse 179"/>
            <p:cNvSpPr/>
            <p:nvPr/>
          </p:nvSpPr>
          <p:spPr>
            <a:xfrm>
              <a:off x="4133850" y="6210300"/>
              <a:ext cx="647700" cy="152400"/>
            </a:xfrm>
            <a:prstGeom prst="ellipse">
              <a:avLst/>
            </a:prstGeom>
            <a:solidFill>
              <a:srgbClr val="FBD2C9"/>
            </a:solidFill>
            <a:ln>
              <a:noFill/>
            </a:ln>
          </p:spPr>
        </p:sp>
        <p:sp>
          <p:nvSpPr>
            <p:cNvPr id="180" name="TextBox 180"/>
            <p:cNvSpPr txBox="1"/>
            <p:nvPr/>
          </p:nvSpPr>
          <p:spPr>
            <a:xfrm>
              <a:off x="5629084" y="5541645"/>
              <a:ext cx="857631"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云服务安全堡垒</a:t>
              </a:r>
            </a:p>
          </p:txBody>
        </p:sp>
        <p:grpSp>
          <p:nvGrpSpPr>
            <p:cNvPr id="183" name="Group 183"/>
            <p:cNvGrpSpPr/>
            <p:nvPr/>
          </p:nvGrpSpPr>
          <p:grpSpPr>
            <a:xfrm>
              <a:off x="5893601" y="5781675"/>
              <a:ext cx="310011" cy="285751"/>
              <a:chOff x="5893601" y="5781675"/>
              <a:chExt cx="310011" cy="285751"/>
            </a:xfrm>
          </p:grpSpPr>
          <p:sp>
            <p:nvSpPr>
              <p:cNvPr id="181" name="Freeform 181"/>
              <p:cNvSpPr/>
              <p:nvPr/>
            </p:nvSpPr>
            <p:spPr>
              <a:xfrm>
                <a:off x="5893601" y="5781675"/>
                <a:ext cx="310011" cy="283306"/>
              </a:xfrm>
              <a:custGeom>
                <a:avLst/>
                <a:gdLst/>
                <a:ahLst/>
                <a:cxnLst/>
                <a:rect l="l" t="t" r="r" b="b"/>
                <a:pathLst>
                  <a:path w="310011" h="283306">
                    <a:moveTo>
                      <a:pt x="155727" y="283306"/>
                    </a:moveTo>
                    <a:cubicBezTo>
                      <a:pt x="56277" y="252479"/>
                      <a:pt x="0" y="147517"/>
                      <a:pt x="29362" y="47625"/>
                    </a:cubicBezTo>
                    <a:cubicBezTo>
                      <a:pt x="78821" y="49888"/>
                      <a:pt x="127218" y="32807"/>
                      <a:pt x="164299" y="0"/>
                    </a:cubicBezTo>
                    <a:cubicBezTo>
                      <a:pt x="201381" y="32807"/>
                      <a:pt x="249778" y="49888"/>
                      <a:pt x="299237" y="47625"/>
                    </a:cubicBezTo>
                    <a:cubicBezTo>
                      <a:pt x="310011" y="84282"/>
                      <a:pt x="309513" y="123332"/>
                      <a:pt x="297808" y="159703"/>
                    </a:cubicBezTo>
                  </a:path>
                </a:pathLst>
              </a:custGeom>
              <a:noFill/>
              <a:ln w="23813">
                <a:solidFill>
                  <a:srgbClr val="FA421D"/>
                </a:solidFill>
              </a:ln>
            </p:spPr>
          </p:sp>
          <p:sp>
            <p:nvSpPr>
              <p:cNvPr id="182" name="Freeform 182"/>
              <p:cNvSpPr/>
              <p:nvPr/>
            </p:nvSpPr>
            <p:spPr>
              <a:xfrm>
                <a:off x="6105525" y="6003926"/>
                <a:ext cx="95250" cy="63500"/>
              </a:xfrm>
              <a:custGeom>
                <a:avLst/>
                <a:gdLst/>
                <a:ahLst/>
                <a:cxnLst/>
                <a:rect l="l" t="t" r="r" b="b"/>
                <a:pathLst>
                  <a:path w="95250" h="63500">
                    <a:moveTo>
                      <a:pt x="0" y="31750"/>
                    </a:moveTo>
                    <a:lnTo>
                      <a:pt x="31750" y="63500"/>
                    </a:lnTo>
                    <a:lnTo>
                      <a:pt x="95250" y="0"/>
                    </a:lnTo>
                  </a:path>
                </a:pathLst>
              </a:custGeom>
              <a:noFill/>
              <a:ln w="23813">
                <a:solidFill>
                  <a:srgbClr val="FA421D"/>
                </a:solidFill>
              </a:ln>
            </p:spPr>
          </p:sp>
        </p:grpSp>
        <p:sp>
          <p:nvSpPr>
            <p:cNvPr id="184" name="Ellipse 184"/>
            <p:cNvSpPr/>
            <p:nvPr/>
          </p:nvSpPr>
          <p:spPr>
            <a:xfrm>
              <a:off x="5734050" y="6210300"/>
              <a:ext cx="647700" cy="152400"/>
            </a:xfrm>
            <a:prstGeom prst="ellipse">
              <a:avLst/>
            </a:prstGeom>
            <a:solidFill>
              <a:srgbClr val="FBD2C9"/>
            </a:solidFill>
            <a:ln>
              <a:noFill/>
            </a:ln>
          </p:spPr>
        </p:sp>
        <p:sp>
          <p:nvSpPr>
            <p:cNvPr id="185" name="TextBox 185"/>
            <p:cNvSpPr txBox="1"/>
            <p:nvPr/>
          </p:nvSpPr>
          <p:spPr>
            <a:xfrm>
              <a:off x="7229284" y="5541645"/>
              <a:ext cx="857631"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高性能数据服务</a:t>
              </a:r>
            </a:p>
          </p:txBody>
        </p:sp>
        <p:grpSp>
          <p:nvGrpSpPr>
            <p:cNvPr id="189" name="Group 189"/>
            <p:cNvGrpSpPr/>
            <p:nvPr/>
          </p:nvGrpSpPr>
          <p:grpSpPr>
            <a:xfrm>
              <a:off x="7531100" y="5781675"/>
              <a:ext cx="254001" cy="285750"/>
              <a:chOff x="7531100" y="5781675"/>
              <a:chExt cx="254001" cy="285750"/>
            </a:xfrm>
          </p:grpSpPr>
          <p:sp>
            <p:nvSpPr>
              <p:cNvPr id="186" name="Freeform 186"/>
              <p:cNvSpPr/>
              <p:nvPr/>
            </p:nvSpPr>
            <p:spPr>
              <a:xfrm>
                <a:off x="7531100" y="5781675"/>
                <a:ext cx="254001" cy="95250"/>
              </a:xfrm>
              <a:custGeom>
                <a:avLst/>
                <a:gdLst/>
                <a:ahLst/>
                <a:cxnLst/>
                <a:rect l="l" t="t" r="r" b="b"/>
                <a:pathLst>
                  <a:path w="254001" h="95250">
                    <a:moveTo>
                      <a:pt x="0" y="47625"/>
                    </a:moveTo>
                    <a:cubicBezTo>
                      <a:pt x="0" y="73928"/>
                      <a:pt x="56860" y="95250"/>
                      <a:pt x="127000" y="95250"/>
                    </a:cubicBezTo>
                    <a:cubicBezTo>
                      <a:pt x="197141" y="95250"/>
                      <a:pt x="254001" y="73928"/>
                      <a:pt x="254001" y="47625"/>
                    </a:cubicBezTo>
                    <a:cubicBezTo>
                      <a:pt x="254001" y="21322"/>
                      <a:pt x="197141" y="0"/>
                      <a:pt x="127000" y="0"/>
                    </a:cubicBezTo>
                    <a:cubicBezTo>
                      <a:pt x="56860" y="0"/>
                      <a:pt x="0" y="21322"/>
                      <a:pt x="0" y="47625"/>
                    </a:cubicBezTo>
                  </a:path>
                </a:pathLst>
              </a:custGeom>
              <a:noFill/>
              <a:ln w="23813">
                <a:solidFill>
                  <a:srgbClr val="FA421D"/>
                </a:solidFill>
              </a:ln>
            </p:spPr>
          </p:sp>
          <p:sp>
            <p:nvSpPr>
              <p:cNvPr id="187" name="Freeform 187"/>
              <p:cNvSpPr/>
              <p:nvPr/>
            </p:nvSpPr>
            <p:spPr>
              <a:xfrm>
                <a:off x="7531100" y="5829300"/>
                <a:ext cx="254001" cy="142875"/>
              </a:xfrm>
              <a:custGeom>
                <a:avLst/>
                <a:gdLst/>
                <a:ahLst/>
                <a:cxnLst/>
                <a:rect l="l" t="t" r="r" b="b"/>
                <a:pathLst>
                  <a:path w="254001" h="142875">
                    <a:moveTo>
                      <a:pt x="0" y="0"/>
                    </a:moveTo>
                    <a:lnTo>
                      <a:pt x="0" y="95250"/>
                    </a:lnTo>
                    <a:cubicBezTo>
                      <a:pt x="0" y="121553"/>
                      <a:pt x="56860" y="142875"/>
                      <a:pt x="127000" y="142875"/>
                    </a:cubicBezTo>
                    <a:cubicBezTo>
                      <a:pt x="197141" y="142875"/>
                      <a:pt x="254001" y="121553"/>
                      <a:pt x="254001" y="95250"/>
                    </a:cubicBezTo>
                    <a:lnTo>
                      <a:pt x="254001" y="0"/>
                    </a:lnTo>
                  </a:path>
                </a:pathLst>
              </a:custGeom>
              <a:noFill/>
              <a:ln w="23813">
                <a:solidFill>
                  <a:srgbClr val="FA421D"/>
                </a:solidFill>
              </a:ln>
            </p:spPr>
          </p:sp>
          <p:sp>
            <p:nvSpPr>
              <p:cNvPr id="188" name="Freeform 188"/>
              <p:cNvSpPr/>
              <p:nvPr/>
            </p:nvSpPr>
            <p:spPr>
              <a:xfrm>
                <a:off x="7531100" y="5924550"/>
                <a:ext cx="254001" cy="142875"/>
              </a:xfrm>
              <a:custGeom>
                <a:avLst/>
                <a:gdLst/>
                <a:ahLst/>
                <a:cxnLst/>
                <a:rect l="l" t="t" r="r" b="b"/>
                <a:pathLst>
                  <a:path w="254001" h="142875">
                    <a:moveTo>
                      <a:pt x="0" y="0"/>
                    </a:moveTo>
                    <a:lnTo>
                      <a:pt x="0" y="95250"/>
                    </a:lnTo>
                    <a:cubicBezTo>
                      <a:pt x="0" y="121553"/>
                      <a:pt x="56860" y="142875"/>
                      <a:pt x="127000" y="142875"/>
                    </a:cubicBezTo>
                    <a:cubicBezTo>
                      <a:pt x="197141" y="142875"/>
                      <a:pt x="254001" y="121553"/>
                      <a:pt x="254001" y="95250"/>
                    </a:cubicBezTo>
                    <a:lnTo>
                      <a:pt x="254001" y="0"/>
                    </a:lnTo>
                  </a:path>
                </a:pathLst>
              </a:custGeom>
              <a:noFill/>
              <a:ln w="23813">
                <a:solidFill>
                  <a:srgbClr val="FA421D"/>
                </a:solidFill>
              </a:ln>
            </p:spPr>
          </p:sp>
        </p:grpSp>
        <p:sp>
          <p:nvSpPr>
            <p:cNvPr id="190" name="Ellipse 190"/>
            <p:cNvSpPr/>
            <p:nvPr/>
          </p:nvSpPr>
          <p:spPr>
            <a:xfrm>
              <a:off x="7334250" y="6210300"/>
              <a:ext cx="647700" cy="152400"/>
            </a:xfrm>
            <a:prstGeom prst="ellipse">
              <a:avLst/>
            </a:prstGeom>
            <a:solidFill>
              <a:srgbClr val="FBD2C9"/>
            </a:solidFill>
            <a:ln>
              <a:noFill/>
            </a:ln>
          </p:spPr>
        </p:sp>
        <p:sp>
          <p:nvSpPr>
            <p:cNvPr id="191" name="TextBox 191"/>
            <p:cNvSpPr txBox="1"/>
            <p:nvPr/>
          </p:nvSpPr>
          <p:spPr>
            <a:xfrm>
              <a:off x="8708326" y="5541645"/>
              <a:ext cx="1099947"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隔离数据不可逆加密</a:t>
              </a:r>
            </a:p>
          </p:txBody>
        </p:sp>
        <p:grpSp>
          <p:nvGrpSpPr>
            <p:cNvPr id="195" name="Group 195"/>
            <p:cNvGrpSpPr/>
            <p:nvPr/>
          </p:nvGrpSpPr>
          <p:grpSpPr>
            <a:xfrm>
              <a:off x="9108814" y="5781675"/>
              <a:ext cx="298973" cy="285751"/>
              <a:chOff x="9108814" y="5781675"/>
              <a:chExt cx="298973" cy="285751"/>
            </a:xfrm>
          </p:grpSpPr>
          <p:sp>
            <p:nvSpPr>
              <p:cNvPr id="192" name="Freeform 192"/>
              <p:cNvSpPr/>
              <p:nvPr/>
            </p:nvSpPr>
            <p:spPr>
              <a:xfrm>
                <a:off x="9108814" y="5781675"/>
                <a:ext cx="298973" cy="285751"/>
              </a:xfrm>
              <a:custGeom>
                <a:avLst/>
                <a:gdLst/>
                <a:ahLst/>
                <a:cxnLst/>
                <a:rect l="l" t="t" r="r" b="b"/>
                <a:pathLst>
                  <a:path w="298973" h="285751">
                    <a:moveTo>
                      <a:pt x="149486" y="0"/>
                    </a:moveTo>
                    <a:cubicBezTo>
                      <a:pt x="186568" y="32807"/>
                      <a:pt x="234965" y="49888"/>
                      <a:pt x="284424" y="47625"/>
                    </a:cubicBezTo>
                    <a:cubicBezTo>
                      <a:pt x="298973" y="97116"/>
                      <a:pt x="292829" y="150391"/>
                      <a:pt x="267397" y="195271"/>
                    </a:cubicBezTo>
                    <a:cubicBezTo>
                      <a:pt x="241965" y="240151"/>
                      <a:pt x="199419" y="272799"/>
                      <a:pt x="149486" y="285751"/>
                    </a:cubicBezTo>
                    <a:cubicBezTo>
                      <a:pt x="99554" y="272799"/>
                      <a:pt x="57008" y="240151"/>
                      <a:pt x="31576" y="195271"/>
                    </a:cubicBezTo>
                    <a:cubicBezTo>
                      <a:pt x="6144" y="150391"/>
                      <a:pt x="0" y="97116"/>
                      <a:pt x="14549" y="47625"/>
                    </a:cubicBezTo>
                    <a:cubicBezTo>
                      <a:pt x="64008" y="49888"/>
                      <a:pt x="112405" y="32807"/>
                      <a:pt x="149486" y="0"/>
                    </a:cubicBezTo>
                  </a:path>
                </a:pathLst>
              </a:custGeom>
              <a:noFill/>
              <a:ln w="23813">
                <a:solidFill>
                  <a:srgbClr val="FA421D"/>
                </a:solidFill>
              </a:ln>
            </p:spPr>
          </p:sp>
          <p:sp>
            <p:nvSpPr>
              <p:cNvPr id="193" name="Freeform 193"/>
              <p:cNvSpPr/>
              <p:nvPr/>
            </p:nvSpPr>
            <p:spPr>
              <a:xfrm>
                <a:off x="9242425" y="5892800"/>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23813">
                <a:solidFill>
                  <a:srgbClr val="FA421D"/>
                </a:solidFill>
              </a:ln>
            </p:spPr>
          </p:sp>
          <p:sp>
            <p:nvSpPr>
              <p:cNvPr id="194" name="Freeform 194"/>
              <p:cNvSpPr/>
              <p:nvPr/>
            </p:nvSpPr>
            <p:spPr>
              <a:xfrm>
                <a:off x="9258300" y="5924550"/>
                <a:ext cx="9525" cy="39688"/>
              </a:xfrm>
              <a:custGeom>
                <a:avLst/>
                <a:gdLst/>
                <a:ahLst/>
                <a:cxnLst/>
                <a:rect l="l" t="t" r="r" b="b"/>
                <a:pathLst>
                  <a:path w="9525" h="39688">
                    <a:moveTo>
                      <a:pt x="0" y="0"/>
                    </a:moveTo>
                    <a:lnTo>
                      <a:pt x="0" y="39688"/>
                    </a:lnTo>
                  </a:path>
                </a:pathLst>
              </a:custGeom>
              <a:noFill/>
              <a:ln w="23813">
                <a:solidFill>
                  <a:srgbClr val="FA421D"/>
                </a:solidFill>
              </a:ln>
            </p:spPr>
          </p:sp>
        </p:grpSp>
        <p:sp>
          <p:nvSpPr>
            <p:cNvPr id="196" name="Ellipse 196"/>
            <p:cNvSpPr/>
            <p:nvPr/>
          </p:nvSpPr>
          <p:spPr>
            <a:xfrm>
              <a:off x="8934450" y="6210300"/>
              <a:ext cx="647700" cy="152400"/>
            </a:xfrm>
            <a:prstGeom prst="ellipse">
              <a:avLst/>
            </a:prstGeom>
            <a:solidFill>
              <a:srgbClr val="FBD2C9"/>
            </a:solidFill>
            <a:ln>
              <a:noFill/>
            </a:ln>
          </p:spPr>
        </p:sp>
        <p:sp>
          <p:nvSpPr>
            <p:cNvPr id="197" name="TextBox 197"/>
            <p:cNvSpPr txBox="1"/>
            <p:nvPr/>
          </p:nvSpPr>
          <p:spPr>
            <a:xfrm>
              <a:off x="10369105" y="5541645"/>
              <a:ext cx="978789" cy="176212"/>
            </a:xfrm>
            <a:prstGeom prst="rect">
              <a:avLst/>
            </a:prstGeom>
            <a:noFill/>
            <a:ln>
              <a:noFill/>
            </a:ln>
          </p:spPr>
          <p:txBody>
            <a:bodyPr wrap="none" lIns="0" tIns="0" rIns="0" bIns="0" anchor="t" anchorCtr="0">
              <a:spAutoFit/>
            </a:bodyPr>
            <a:lstStyle/>
            <a:p>
              <a:pPr algn="ctr"/>
              <a:r>
                <a:rPr lang="zh-CN" sz="900" dirty="0">
                  <a:solidFill>
                    <a:srgbClr val="3D241F"/>
                  </a:solidFill>
                  <a:latin typeface="+mn-lt"/>
                  <a:ea typeface="+mn-ea"/>
                  <a:cs typeface="+mn-cs"/>
                </a:rPr>
                <a:t>敏感文件安全存储</a:t>
              </a:r>
            </a:p>
          </p:txBody>
        </p:sp>
        <p:grpSp>
          <p:nvGrpSpPr>
            <p:cNvPr id="203" name="Group 203"/>
            <p:cNvGrpSpPr/>
            <p:nvPr/>
          </p:nvGrpSpPr>
          <p:grpSpPr>
            <a:xfrm>
              <a:off x="10747375" y="5781675"/>
              <a:ext cx="222250" cy="285751"/>
              <a:chOff x="10747375" y="5781675"/>
              <a:chExt cx="222250" cy="285751"/>
            </a:xfrm>
          </p:grpSpPr>
          <p:sp>
            <p:nvSpPr>
              <p:cNvPr id="198" name="Freeform 198"/>
              <p:cNvSpPr/>
              <p:nvPr/>
            </p:nvSpPr>
            <p:spPr>
              <a:xfrm>
                <a:off x="10890250" y="578167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23813">
                <a:solidFill>
                  <a:srgbClr val="FA421D"/>
                </a:solidFill>
              </a:ln>
            </p:spPr>
          </p:sp>
          <p:sp>
            <p:nvSpPr>
              <p:cNvPr id="199" name="Freeform 199"/>
              <p:cNvSpPr/>
              <p:nvPr/>
            </p:nvSpPr>
            <p:spPr>
              <a:xfrm>
                <a:off x="10747375" y="5781675"/>
                <a:ext cx="222250" cy="285751"/>
              </a:xfrm>
              <a:custGeom>
                <a:avLst/>
                <a:gdLst/>
                <a:ahLst/>
                <a:cxnLst/>
                <a:rect l="l" t="t" r="r" b="b"/>
                <a:pathLst>
                  <a:path w="222250" h="285751">
                    <a:moveTo>
                      <a:pt x="190500" y="285751"/>
                    </a:moveTo>
                    <a:lnTo>
                      <a:pt x="31750" y="285751"/>
                    </a:lnTo>
                    <a:cubicBezTo>
                      <a:pt x="14215" y="285751"/>
                      <a:pt x="0" y="271536"/>
                      <a:pt x="0" y="254001"/>
                    </a:cubicBezTo>
                    <a:lnTo>
                      <a:pt x="0" y="31750"/>
                    </a:lnTo>
                    <a:cubicBezTo>
                      <a:pt x="0" y="14215"/>
                      <a:pt x="14215" y="0"/>
                      <a:pt x="31750" y="0"/>
                    </a:cubicBezTo>
                    <a:lnTo>
                      <a:pt x="142875" y="0"/>
                    </a:lnTo>
                    <a:lnTo>
                      <a:pt x="222250" y="79375"/>
                    </a:lnTo>
                    <a:lnTo>
                      <a:pt x="222250" y="254001"/>
                    </a:lnTo>
                    <a:cubicBezTo>
                      <a:pt x="222250" y="271536"/>
                      <a:pt x="208035" y="285751"/>
                      <a:pt x="190500" y="285751"/>
                    </a:cubicBezTo>
                  </a:path>
                </a:pathLst>
              </a:custGeom>
              <a:noFill/>
              <a:ln w="23813">
                <a:solidFill>
                  <a:srgbClr val="FA421D"/>
                </a:solidFill>
              </a:ln>
            </p:spPr>
          </p:sp>
          <p:sp>
            <p:nvSpPr>
              <p:cNvPr id="200" name="Freeform 200"/>
              <p:cNvSpPr/>
              <p:nvPr/>
            </p:nvSpPr>
            <p:spPr>
              <a:xfrm>
                <a:off x="10810875" y="5876925"/>
                <a:ext cx="15875" cy="9525"/>
              </a:xfrm>
              <a:custGeom>
                <a:avLst/>
                <a:gdLst/>
                <a:ahLst/>
                <a:cxnLst/>
                <a:rect l="l" t="t" r="r" b="b"/>
                <a:pathLst>
                  <a:path w="15875" h="9525">
                    <a:moveTo>
                      <a:pt x="0" y="0"/>
                    </a:moveTo>
                    <a:lnTo>
                      <a:pt x="15875" y="0"/>
                    </a:lnTo>
                  </a:path>
                </a:pathLst>
              </a:custGeom>
              <a:noFill/>
              <a:ln w="23813">
                <a:solidFill>
                  <a:srgbClr val="FA421D"/>
                </a:solidFill>
              </a:ln>
            </p:spPr>
          </p:sp>
          <p:sp>
            <p:nvSpPr>
              <p:cNvPr id="201" name="Freeform 201"/>
              <p:cNvSpPr/>
              <p:nvPr/>
            </p:nvSpPr>
            <p:spPr>
              <a:xfrm>
                <a:off x="10810875" y="5940425"/>
                <a:ext cx="95250" cy="9525"/>
              </a:xfrm>
              <a:custGeom>
                <a:avLst/>
                <a:gdLst/>
                <a:ahLst/>
                <a:cxnLst/>
                <a:rect l="l" t="t" r="r" b="b"/>
                <a:pathLst>
                  <a:path w="95250" h="9525">
                    <a:moveTo>
                      <a:pt x="0" y="0"/>
                    </a:moveTo>
                    <a:lnTo>
                      <a:pt x="95250" y="0"/>
                    </a:lnTo>
                  </a:path>
                </a:pathLst>
              </a:custGeom>
              <a:noFill/>
              <a:ln w="23813">
                <a:solidFill>
                  <a:srgbClr val="FA421D"/>
                </a:solidFill>
              </a:ln>
            </p:spPr>
          </p:sp>
          <p:sp>
            <p:nvSpPr>
              <p:cNvPr id="202" name="Freeform 202"/>
              <p:cNvSpPr/>
              <p:nvPr/>
            </p:nvSpPr>
            <p:spPr>
              <a:xfrm>
                <a:off x="10810875" y="6003926"/>
                <a:ext cx="95250" cy="9525"/>
              </a:xfrm>
              <a:custGeom>
                <a:avLst/>
                <a:gdLst/>
                <a:ahLst/>
                <a:cxnLst/>
                <a:rect l="l" t="t" r="r" b="b"/>
                <a:pathLst>
                  <a:path w="95250" h="9525">
                    <a:moveTo>
                      <a:pt x="0" y="0"/>
                    </a:moveTo>
                    <a:lnTo>
                      <a:pt x="95250" y="0"/>
                    </a:lnTo>
                  </a:path>
                </a:pathLst>
              </a:custGeom>
              <a:noFill/>
              <a:ln w="23813">
                <a:solidFill>
                  <a:srgbClr val="FA421D"/>
                </a:solidFill>
              </a:ln>
            </p:spPr>
          </p:sp>
        </p:grpSp>
        <p:sp>
          <p:nvSpPr>
            <p:cNvPr id="204" name="Ellipse 204"/>
            <p:cNvSpPr/>
            <p:nvPr/>
          </p:nvSpPr>
          <p:spPr>
            <a:xfrm>
              <a:off x="10534650" y="6210300"/>
              <a:ext cx="647700" cy="152400"/>
            </a:xfrm>
            <a:prstGeom prst="ellipse">
              <a:avLst/>
            </a:prstGeom>
            <a:solidFill>
              <a:srgbClr val="FBD2C9"/>
            </a:solidFill>
            <a:ln>
              <a:noFill/>
            </a:ln>
          </p:spPr>
        </p:sp>
      </p:gr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arrow-side"/>
          <p:cNvSpPr/>
          <p:nvPr/>
        </p:nvSpPr>
        <p:spPr>
          <a:xfrm>
            <a:off x="0" y="4572000"/>
            <a:ext cx="9620250" cy="2124075"/>
          </a:xfrm>
          <a:custGeom>
            <a:avLst/>
            <a:gdLst/>
            <a:ahLst/>
            <a:cxnLst/>
            <a:rect l="l" t="t" r="r" b="b"/>
            <a:pathLst>
              <a:path w="9620250" h="2124075">
                <a:moveTo>
                  <a:pt x="0" y="1571625"/>
                </a:moveTo>
                <a:lnTo>
                  <a:pt x="2857500" y="714375"/>
                </a:lnTo>
                <a:lnTo>
                  <a:pt x="4000500" y="1857375"/>
                </a:lnTo>
                <a:lnTo>
                  <a:pt x="6667500" y="238125"/>
                </a:lnTo>
                <a:lnTo>
                  <a:pt x="7905750" y="1285875"/>
                </a:lnTo>
                <a:lnTo>
                  <a:pt x="9620250" y="0"/>
                </a:lnTo>
                <a:lnTo>
                  <a:pt x="9620250" y="266700"/>
                </a:lnTo>
                <a:lnTo>
                  <a:pt x="7905750" y="1552575"/>
                </a:lnTo>
                <a:lnTo>
                  <a:pt x="6667500" y="504825"/>
                </a:lnTo>
                <a:lnTo>
                  <a:pt x="4000500" y="2124075"/>
                </a:lnTo>
                <a:lnTo>
                  <a:pt x="2857500" y="981075"/>
                </a:lnTo>
                <a:lnTo>
                  <a:pt x="0" y="1838325"/>
                </a:lnTo>
                <a:close/>
              </a:path>
            </a:pathLst>
          </a:custGeom>
          <a:solidFill>
            <a:srgbClr val="D83B1B"/>
          </a:solidFill>
          <a:ln>
            <a:noFill/>
          </a:ln>
        </p:spPr>
      </p:sp>
      <p:sp>
        <p:nvSpPr>
          <p:cNvPr id="3" name="deco-arrow-top"/>
          <p:cNvSpPr/>
          <p:nvPr/>
        </p:nvSpPr>
        <p:spPr>
          <a:xfrm>
            <a:off x="0" y="3762375"/>
            <a:ext cx="9620250" cy="2667000"/>
          </a:xfrm>
          <a:custGeom>
            <a:avLst/>
            <a:gdLst/>
            <a:ahLst/>
            <a:cxnLst/>
            <a:rect l="l" t="t" r="r" b="b"/>
            <a:pathLst>
              <a:path w="9620250" h="2667000">
                <a:moveTo>
                  <a:pt x="0" y="1571625"/>
                </a:moveTo>
                <a:lnTo>
                  <a:pt x="2857500" y="714375"/>
                </a:lnTo>
                <a:lnTo>
                  <a:pt x="4000500" y="1857375"/>
                </a:lnTo>
                <a:lnTo>
                  <a:pt x="6667500" y="238125"/>
                </a:lnTo>
                <a:lnTo>
                  <a:pt x="7905750" y="1285875"/>
                </a:lnTo>
                <a:lnTo>
                  <a:pt x="9620250" y="0"/>
                </a:lnTo>
                <a:lnTo>
                  <a:pt x="9620250" y="809625"/>
                </a:lnTo>
                <a:lnTo>
                  <a:pt x="7905750" y="2095500"/>
                </a:lnTo>
                <a:lnTo>
                  <a:pt x="6667500" y="1047750"/>
                </a:lnTo>
                <a:lnTo>
                  <a:pt x="4000500" y="2667000"/>
                </a:lnTo>
                <a:lnTo>
                  <a:pt x="2857500" y="1524000"/>
                </a:lnTo>
                <a:lnTo>
                  <a:pt x="0" y="2381250"/>
                </a:lnTo>
                <a:close/>
              </a:path>
            </a:pathLst>
          </a:custGeom>
          <a:gradFill>
            <a:gsLst>
              <a:gs pos="0">
                <a:srgbClr val="FDB7A9"/>
              </a:gs>
              <a:gs pos="55000">
                <a:srgbClr val="FB795E"/>
              </a:gs>
              <a:gs pos="100000">
                <a:srgbClr val="FA512F"/>
              </a:gs>
            </a:gsLst>
            <a:lin ang="0" scaled="1"/>
          </a:gradFill>
          <a:ln>
            <a:noFill/>
          </a:ln>
        </p:spPr>
      </p:sp>
      <p:sp>
        <p:nvSpPr>
          <p:cNvPr id="4" name="deco-arrow-head-side"/>
          <p:cNvSpPr/>
          <p:nvPr/>
        </p:nvSpPr>
        <p:spPr>
          <a:xfrm>
            <a:off x="10306050" y="2847975"/>
            <a:ext cx="1066800" cy="2476500"/>
          </a:xfrm>
          <a:custGeom>
            <a:avLst/>
            <a:gdLst/>
            <a:ahLst/>
            <a:cxnLst/>
            <a:rect l="l" t="t" r="r" b="b"/>
            <a:pathLst>
              <a:path w="1066800" h="2476500">
                <a:moveTo>
                  <a:pt x="0" y="2228850"/>
                </a:moveTo>
                <a:lnTo>
                  <a:pt x="1066800" y="0"/>
                </a:lnTo>
                <a:lnTo>
                  <a:pt x="1066800" y="247650"/>
                </a:lnTo>
                <a:lnTo>
                  <a:pt x="0" y="2476500"/>
                </a:lnTo>
                <a:close/>
              </a:path>
            </a:pathLst>
          </a:custGeom>
          <a:solidFill>
            <a:srgbClr val="D83B1B"/>
          </a:solidFill>
          <a:ln>
            <a:noFill/>
          </a:ln>
        </p:spPr>
      </p:sp>
      <p:sp>
        <p:nvSpPr>
          <p:cNvPr id="5" name="deco-arrow-head"/>
          <p:cNvSpPr/>
          <p:nvPr/>
        </p:nvSpPr>
        <p:spPr>
          <a:xfrm>
            <a:off x="8934450" y="2847975"/>
            <a:ext cx="2438400" cy="2228850"/>
          </a:xfrm>
          <a:custGeom>
            <a:avLst/>
            <a:gdLst/>
            <a:ahLst/>
            <a:cxnLst/>
            <a:rect l="l" t="t" r="r" b="b"/>
            <a:pathLst>
              <a:path w="2438400" h="2228850">
                <a:moveTo>
                  <a:pt x="0" y="400050"/>
                </a:moveTo>
                <a:lnTo>
                  <a:pt x="2438400" y="0"/>
                </a:lnTo>
                <a:lnTo>
                  <a:pt x="1371600" y="2228850"/>
                </a:lnTo>
                <a:close/>
              </a:path>
            </a:pathLst>
          </a:custGeom>
          <a:solidFill>
            <a:srgbClr val="FB5F3F"/>
          </a:solidFill>
          <a:ln>
            <a:noFill/>
          </a:ln>
        </p:spPr>
      </p:sp>
      <p:grpSp>
        <p:nvGrpSpPr>
          <p:cNvPr id="10" name="header"/>
          <p:cNvGrpSpPr/>
          <p:nvPr/>
        </p:nvGrpSpPr>
        <p:grpSpPr>
          <a:xfrm>
            <a:off x="0" y="0"/>
            <a:ext cx="12192000" cy="551879"/>
            <a:chOff x="0" y="0"/>
            <a:chExt cx="12192000" cy="551879"/>
          </a:xfrm>
        </p:grpSpPr>
        <p:sp>
          <p:nvSpPr>
            <p:cNvPr id="6" name="Polygon 6"/>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7" name="TextBox 7"/>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08</a:t>
              </a:r>
            </a:p>
          </p:txBody>
        </p:sp>
        <p:sp>
          <p:nvSpPr>
            <p:cNvPr id="8" name="TextBox 8"/>
            <p:cNvSpPr txBox="1"/>
            <p:nvPr/>
          </p:nvSpPr>
          <p:spPr>
            <a:xfrm>
              <a:off x="904494" y="170498"/>
              <a:ext cx="2961882"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运营推广计划 - 前期工作</a:t>
              </a:r>
            </a:p>
          </p:txBody>
        </p:sp>
        <p:sp>
          <p:nvSpPr>
            <p:cNvPr id="9" name="Line 9"/>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9" name="step-1-store"/>
          <p:cNvGrpSpPr/>
          <p:nvPr/>
        </p:nvGrpSpPr>
        <p:grpSpPr>
          <a:xfrm>
            <a:off x="533400" y="3695700"/>
            <a:ext cx="1752854" cy="2400300"/>
            <a:chOff x="533400" y="3695700"/>
            <a:chExt cx="1752854" cy="2400300"/>
          </a:xfrm>
        </p:grpSpPr>
        <p:sp>
          <p:nvSpPr>
            <p:cNvPr id="11" name="Line 11"/>
            <p:cNvSpPr/>
            <p:nvPr/>
          </p:nvSpPr>
          <p:spPr>
            <a:xfrm>
              <a:off x="847725" y="4324350"/>
              <a:ext cx="9525" cy="1771650"/>
            </a:xfrm>
            <a:custGeom>
              <a:avLst/>
              <a:gdLst/>
              <a:ahLst/>
              <a:cxnLst/>
              <a:rect l="l" t="t" r="r" b="b"/>
              <a:pathLst>
                <a:path w="9525" h="1771650">
                  <a:moveTo>
                    <a:pt x="0" y="0"/>
                  </a:moveTo>
                  <a:lnTo>
                    <a:pt x="0" y="1771650"/>
                  </a:lnTo>
                </a:path>
              </a:pathLst>
            </a:custGeom>
            <a:noFill/>
            <a:ln w="9525">
              <a:solidFill>
                <a:srgbClr val="FA421D"/>
              </a:solidFill>
            </a:ln>
          </p:spPr>
        </p:sp>
        <p:sp>
          <p:nvSpPr>
            <p:cNvPr id="12" name="Ellipse 12"/>
            <p:cNvSpPr/>
            <p:nvPr/>
          </p:nvSpPr>
          <p:spPr>
            <a:xfrm>
              <a:off x="533400" y="3695700"/>
              <a:ext cx="628650" cy="628650"/>
            </a:xfrm>
            <a:prstGeom prst="ellipse">
              <a:avLst/>
            </a:prstGeom>
            <a:gradFill>
              <a:gsLst>
                <a:gs pos="0">
                  <a:srgbClr val="FB684A"/>
                </a:gs>
                <a:gs pos="100000">
                  <a:srgbClr val="FA421D"/>
                </a:gs>
              </a:gsLst>
              <a:lin ang="5400000" scaled="1"/>
            </a:gradFill>
            <a:ln>
              <a:noFill/>
            </a:ln>
          </p:spPr>
        </p:sp>
        <p:grpSp>
          <p:nvGrpSpPr>
            <p:cNvPr id="16" name="Group 16"/>
            <p:cNvGrpSpPr/>
            <p:nvPr/>
          </p:nvGrpSpPr>
          <p:grpSpPr>
            <a:xfrm>
              <a:off x="733425" y="3895725"/>
              <a:ext cx="228599" cy="228600"/>
              <a:chOff x="733425" y="3895725"/>
              <a:chExt cx="228599" cy="228600"/>
            </a:xfrm>
          </p:grpSpPr>
          <p:sp>
            <p:nvSpPr>
              <p:cNvPr id="13" name="Freeform 13"/>
              <p:cNvSpPr/>
              <p:nvPr/>
            </p:nvSpPr>
            <p:spPr>
              <a:xfrm>
                <a:off x="733425" y="3895725"/>
                <a:ext cx="228599" cy="114300"/>
              </a:xfrm>
              <a:custGeom>
                <a:avLst/>
                <a:gdLst/>
                <a:ahLst/>
                <a:cxnLst/>
                <a:rect l="l" t="t" r="r" b="b"/>
                <a:pathLst>
                  <a:path w="228599" h="114300">
                    <a:moveTo>
                      <a:pt x="25400" y="114300"/>
                    </a:moveTo>
                    <a:lnTo>
                      <a:pt x="0" y="114300"/>
                    </a:lnTo>
                    <a:lnTo>
                      <a:pt x="114300" y="0"/>
                    </a:lnTo>
                    <a:lnTo>
                      <a:pt x="228599" y="114300"/>
                    </a:lnTo>
                    <a:lnTo>
                      <a:pt x="203199" y="114300"/>
                    </a:lnTo>
                  </a:path>
                </a:pathLst>
              </a:custGeom>
              <a:noFill/>
              <a:ln w="25400">
                <a:solidFill>
                  <a:srgbClr val="FFFFFF"/>
                </a:solidFill>
              </a:ln>
            </p:spPr>
          </p:sp>
          <p:sp>
            <p:nvSpPr>
              <p:cNvPr id="14" name="Freeform 14"/>
              <p:cNvSpPr/>
              <p:nvPr/>
            </p:nvSpPr>
            <p:spPr>
              <a:xfrm>
                <a:off x="758825" y="4010025"/>
                <a:ext cx="177800" cy="114300"/>
              </a:xfrm>
              <a:custGeom>
                <a:avLst/>
                <a:gdLst/>
                <a:ahLst/>
                <a:cxnLst/>
                <a:rect l="l" t="t" r="r" b="b"/>
                <a:pathLst>
                  <a:path w="177800" h="114300">
                    <a:moveTo>
                      <a:pt x="0" y="0"/>
                    </a:moveTo>
                    <a:lnTo>
                      <a:pt x="0" y="88900"/>
                    </a:lnTo>
                    <a:cubicBezTo>
                      <a:pt x="0" y="102928"/>
                      <a:pt x="11372" y="114300"/>
                      <a:pt x="25400" y="114300"/>
                    </a:cubicBezTo>
                    <a:lnTo>
                      <a:pt x="152400" y="114300"/>
                    </a:lnTo>
                    <a:cubicBezTo>
                      <a:pt x="166428" y="114300"/>
                      <a:pt x="177800" y="102928"/>
                      <a:pt x="177800" y="88900"/>
                    </a:cubicBezTo>
                    <a:lnTo>
                      <a:pt x="177800" y="0"/>
                    </a:lnTo>
                  </a:path>
                </a:pathLst>
              </a:custGeom>
              <a:noFill/>
              <a:ln w="25400">
                <a:solidFill>
                  <a:srgbClr val="FFFFFF"/>
                </a:solidFill>
              </a:ln>
            </p:spPr>
          </p:sp>
          <p:sp>
            <p:nvSpPr>
              <p:cNvPr id="15" name="Freeform 15"/>
              <p:cNvSpPr/>
              <p:nvPr/>
            </p:nvSpPr>
            <p:spPr>
              <a:xfrm>
                <a:off x="809625" y="4022725"/>
                <a:ext cx="76200" cy="101600"/>
              </a:xfrm>
              <a:custGeom>
                <a:avLst/>
                <a:gdLst/>
                <a:ahLst/>
                <a:cxnLst/>
                <a:rect l="l" t="t" r="r" b="b"/>
                <a:pathLst>
                  <a:path w="76200" h="101600">
                    <a:moveTo>
                      <a:pt x="0" y="101600"/>
                    </a:moveTo>
                    <a:lnTo>
                      <a:pt x="0" y="25400"/>
                    </a:lnTo>
                    <a:cubicBezTo>
                      <a:pt x="0" y="11372"/>
                      <a:pt x="11372" y="0"/>
                      <a:pt x="25400" y="0"/>
                    </a:cubicBezTo>
                    <a:lnTo>
                      <a:pt x="50800" y="0"/>
                    </a:lnTo>
                    <a:cubicBezTo>
                      <a:pt x="64828" y="0"/>
                      <a:pt x="76200" y="11372"/>
                      <a:pt x="76200" y="25400"/>
                    </a:cubicBezTo>
                    <a:lnTo>
                      <a:pt x="76200" y="101600"/>
                    </a:lnTo>
                  </a:path>
                </a:pathLst>
              </a:custGeom>
              <a:noFill/>
              <a:ln w="25400">
                <a:solidFill>
                  <a:srgbClr val="FFFFFF"/>
                </a:solidFill>
              </a:ln>
            </p:spPr>
          </p:sp>
        </p:grpSp>
        <p:sp>
          <p:nvSpPr>
            <p:cNvPr id="17" name="TextBox 17"/>
            <p:cNvSpPr txBox="1"/>
            <p:nvPr/>
          </p:nvSpPr>
          <p:spPr>
            <a:xfrm>
              <a:off x="1250442" y="3930968"/>
              <a:ext cx="740664"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店铺管理</a:t>
              </a:r>
            </a:p>
          </p:txBody>
        </p:sp>
        <p:sp>
          <p:nvSpPr>
            <p:cNvPr id="18" name="TextBox 18"/>
            <p:cNvSpPr txBox="1"/>
            <p:nvPr/>
          </p:nvSpPr>
          <p:spPr>
            <a:xfrm>
              <a:off x="1423797" y="4295299"/>
              <a:ext cx="862457" cy="609790"/>
            </a:xfrm>
            <a:prstGeom prst="rect">
              <a:avLst/>
            </a:prstGeom>
            <a:noFill/>
            <a:ln>
              <a:noFill/>
            </a:ln>
          </p:spPr>
          <p:txBody>
            <a:bodyPr wrap="none" lIns="0" tIns="0" rIns="0" bIns="0" anchor="t" anchorCtr="0">
              <a:spAutoFit/>
            </a:bodyPr>
            <a:lstStyle/>
            <a:p>
              <a:pPr algn="l" marL="105791" indent="-105791">
                <a:lnSpc>
                  <a:spcPts val="1350"/>
                </a:lnSpc>
                <a:buClr>
                  <a:srgbClr val="3D241F"/>
                </a:buClr>
                <a:buSzTx/>
                <a:buFontTx/>
                <a:buChar char="•"/>
              </a:pPr>
              <a:r>
                <a:rPr lang="zh-CN" sz="980" dirty="0">
                  <a:solidFill>
                    <a:srgbClr val="3D241F"/>
                  </a:solidFill>
                  <a:latin typeface="+mn-lt"/>
                  <a:ea typeface="+mn-ea"/>
                  <a:cs typeface="+mn-cs"/>
                </a:rPr>
                <a:t>制定目标以及</a:t>
              </a:r>
              <a:br/>
              <a:r>
                <a:rPr lang="zh-CN" sz="980" dirty="0">
                  <a:solidFill>
                    <a:srgbClr val="3D241F"/>
                  </a:solidFill>
                  <a:latin typeface="+mn-lt"/>
                  <a:ea typeface="+mn-ea"/>
                  <a:cs typeface="+mn-cs"/>
                </a:rPr>
                <a:t xml:space="preserve">　管理方案</a:t>
              </a:r>
            </a:p>
            <a:p>
              <a:pPr algn="l" marL="105791" indent="-105791">
                <a:lnSpc>
                  <a:spcPts val="1350"/>
                </a:lnSpc>
                <a:spcBef>
                  <a:spcPts val="600"/>
                </a:spcBef>
                <a:buClr>
                  <a:srgbClr val="3D241F"/>
                </a:buClr>
                <a:buSzTx/>
                <a:buFontTx/>
                <a:buChar char="•"/>
              </a:pPr>
              <a:r>
                <a:rPr lang="zh-CN" sz="980" dirty="0">
                  <a:solidFill>
                    <a:srgbClr val="3D241F"/>
                  </a:solidFill>
                  <a:latin typeface="+mn-lt"/>
                  <a:ea typeface="+mn-ea"/>
                  <a:cs typeface="+mn-cs"/>
                </a:rPr>
                <a:t>明确角色分工</a:t>
              </a:r>
            </a:p>
          </p:txBody>
        </p:sp>
      </p:grpSp>
      <p:grpSp>
        <p:nvGrpSpPr>
          <p:cNvPr id="27" name="step-2-product"/>
          <p:cNvGrpSpPr/>
          <p:nvPr/>
        </p:nvGrpSpPr>
        <p:grpSpPr>
          <a:xfrm>
            <a:off x="2790825" y="2790825"/>
            <a:ext cx="1945767" cy="2924175"/>
            <a:chOff x="2790825" y="2790825"/>
            <a:chExt cx="1945767" cy="2924175"/>
          </a:xfrm>
        </p:grpSpPr>
        <p:sp>
          <p:nvSpPr>
            <p:cNvPr id="20" name="Line 20"/>
            <p:cNvSpPr/>
            <p:nvPr/>
          </p:nvSpPr>
          <p:spPr>
            <a:xfrm>
              <a:off x="3105150" y="3419475"/>
              <a:ext cx="9525" cy="2295525"/>
            </a:xfrm>
            <a:custGeom>
              <a:avLst/>
              <a:gdLst/>
              <a:ahLst/>
              <a:cxnLst/>
              <a:rect l="l" t="t" r="r" b="b"/>
              <a:pathLst>
                <a:path w="9525" h="2295525">
                  <a:moveTo>
                    <a:pt x="0" y="0"/>
                  </a:moveTo>
                  <a:lnTo>
                    <a:pt x="0" y="2295525"/>
                  </a:lnTo>
                </a:path>
              </a:pathLst>
            </a:custGeom>
            <a:noFill/>
            <a:ln w="9525">
              <a:solidFill>
                <a:srgbClr val="FA421D"/>
              </a:solidFill>
            </a:ln>
          </p:spPr>
        </p:sp>
        <p:sp>
          <p:nvSpPr>
            <p:cNvPr id="21" name="Ellipse 21"/>
            <p:cNvSpPr/>
            <p:nvPr/>
          </p:nvSpPr>
          <p:spPr>
            <a:xfrm>
              <a:off x="2790825" y="2790825"/>
              <a:ext cx="628650" cy="628650"/>
            </a:xfrm>
            <a:prstGeom prst="ellipse">
              <a:avLst/>
            </a:prstGeom>
            <a:gradFill>
              <a:gsLst>
                <a:gs pos="0">
                  <a:srgbClr val="FB684A"/>
                </a:gs>
                <a:gs pos="100000">
                  <a:srgbClr val="FA421D"/>
                </a:gs>
              </a:gsLst>
              <a:lin ang="5400000" scaled="1"/>
            </a:gradFill>
            <a:ln>
              <a:noFill/>
            </a:ln>
          </p:spPr>
        </p:sp>
        <p:grpSp>
          <p:nvGrpSpPr>
            <p:cNvPr id="24" name="Group 24"/>
            <p:cNvGrpSpPr/>
            <p:nvPr/>
          </p:nvGrpSpPr>
          <p:grpSpPr>
            <a:xfrm>
              <a:off x="3003550" y="2998650"/>
              <a:ext cx="203199" cy="213000"/>
              <a:chOff x="3003550" y="2998650"/>
              <a:chExt cx="203199" cy="213000"/>
            </a:xfrm>
          </p:grpSpPr>
          <p:sp>
            <p:nvSpPr>
              <p:cNvPr id="22" name="Freeform 22"/>
              <p:cNvSpPr/>
              <p:nvPr/>
            </p:nvSpPr>
            <p:spPr>
              <a:xfrm>
                <a:off x="3003550" y="29986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rgbClr val="FFFFFF"/>
                </a:solidFill>
              </a:ln>
            </p:spPr>
          </p:sp>
          <p:sp>
            <p:nvSpPr>
              <p:cNvPr id="23" name="Freeform 23"/>
              <p:cNvSpPr/>
              <p:nvPr/>
            </p:nvSpPr>
            <p:spPr>
              <a:xfrm>
                <a:off x="3003550" y="31178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rgbClr val="FFFFFF"/>
                </a:solidFill>
              </a:ln>
            </p:spPr>
          </p:sp>
        </p:grpSp>
        <p:sp>
          <p:nvSpPr>
            <p:cNvPr id="25" name="TextBox 25"/>
            <p:cNvSpPr txBox="1"/>
            <p:nvPr/>
          </p:nvSpPr>
          <p:spPr>
            <a:xfrm>
              <a:off x="3507867" y="3026092"/>
              <a:ext cx="740664"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产品管理</a:t>
              </a:r>
            </a:p>
          </p:txBody>
        </p:sp>
        <p:sp>
          <p:nvSpPr>
            <p:cNvPr id="26" name="TextBox 26"/>
            <p:cNvSpPr txBox="1"/>
            <p:nvPr/>
          </p:nvSpPr>
          <p:spPr>
            <a:xfrm>
              <a:off x="3681222" y="3390424"/>
              <a:ext cx="1055370" cy="362141"/>
            </a:xfrm>
            <a:prstGeom prst="rect">
              <a:avLst/>
            </a:prstGeom>
            <a:noFill/>
            <a:ln>
              <a:noFill/>
            </a:ln>
          </p:spPr>
          <p:txBody>
            <a:bodyPr wrap="none" lIns="0" tIns="0" rIns="0" bIns="0" anchor="t" anchorCtr="0">
              <a:spAutoFit/>
            </a:bodyPr>
            <a:lstStyle/>
            <a:p>
              <a:pPr algn="l" marL="105791" indent="-105791">
                <a:lnSpc>
                  <a:spcPts val="1350"/>
                </a:lnSpc>
                <a:buClr>
                  <a:srgbClr val="3D241F"/>
                </a:buClr>
                <a:buSzTx/>
                <a:buFontTx/>
                <a:buChar char="•"/>
              </a:pPr>
              <a:r>
                <a:rPr lang="zh-CN" sz="980" dirty="0">
                  <a:solidFill>
                    <a:srgbClr val="3D241F"/>
                  </a:solidFill>
                  <a:latin typeface="+mn-lt"/>
                  <a:ea typeface="+mn-ea"/>
                  <a:cs typeface="+mn-cs"/>
                </a:rPr>
                <a:t>产品管理标准化,</a:t>
              </a:r>
              <a:br/>
              <a:r>
                <a:rPr lang="zh-CN" sz="980" dirty="0">
                  <a:solidFill>
                    <a:srgbClr val="3D241F"/>
                  </a:solidFill>
                  <a:latin typeface="+mn-lt"/>
                  <a:ea typeface="+mn-ea"/>
                  <a:cs typeface="+mn-cs"/>
                </a:rPr>
                <a:t xml:space="preserve">　提高流程效率</a:t>
              </a:r>
            </a:p>
          </p:txBody>
        </p:sp>
      </p:grpSp>
      <p:grpSp>
        <p:nvGrpSpPr>
          <p:cNvPr id="37" name="step-3-service"/>
          <p:cNvGrpSpPr/>
          <p:nvPr/>
        </p:nvGrpSpPr>
        <p:grpSpPr>
          <a:xfrm>
            <a:off x="5076825" y="2114550"/>
            <a:ext cx="1752854" cy="2838450"/>
            <a:chOff x="5076825" y="2114550"/>
            <a:chExt cx="1752854" cy="2838450"/>
          </a:xfrm>
        </p:grpSpPr>
        <p:sp>
          <p:nvSpPr>
            <p:cNvPr id="28" name="Line 28"/>
            <p:cNvSpPr/>
            <p:nvPr/>
          </p:nvSpPr>
          <p:spPr>
            <a:xfrm>
              <a:off x="5391150" y="2743200"/>
              <a:ext cx="9525" cy="2209800"/>
            </a:xfrm>
            <a:custGeom>
              <a:avLst/>
              <a:gdLst/>
              <a:ahLst/>
              <a:cxnLst/>
              <a:rect l="l" t="t" r="r" b="b"/>
              <a:pathLst>
                <a:path w="9525" h="2209800">
                  <a:moveTo>
                    <a:pt x="0" y="0"/>
                  </a:moveTo>
                  <a:lnTo>
                    <a:pt x="0" y="2209800"/>
                  </a:lnTo>
                </a:path>
              </a:pathLst>
            </a:custGeom>
            <a:noFill/>
            <a:ln w="9525">
              <a:solidFill>
                <a:srgbClr val="FA421D"/>
              </a:solidFill>
            </a:ln>
          </p:spPr>
        </p:sp>
        <p:sp>
          <p:nvSpPr>
            <p:cNvPr id="29" name="Ellipse 29"/>
            <p:cNvSpPr/>
            <p:nvPr/>
          </p:nvSpPr>
          <p:spPr>
            <a:xfrm>
              <a:off x="5076825" y="2114550"/>
              <a:ext cx="628650" cy="628650"/>
            </a:xfrm>
            <a:prstGeom prst="ellipse">
              <a:avLst/>
            </a:prstGeom>
            <a:gradFill>
              <a:gsLst>
                <a:gs pos="0">
                  <a:srgbClr val="FB684A"/>
                </a:gs>
                <a:gs pos="100000">
                  <a:srgbClr val="FA421D"/>
                </a:gs>
              </a:gsLst>
              <a:lin ang="5400000" scaled="1"/>
            </a:gradFill>
            <a:ln>
              <a:noFill/>
            </a:ln>
          </p:spPr>
        </p:sp>
        <p:grpSp>
          <p:nvGrpSpPr>
            <p:cNvPr id="34" name="Group 34"/>
            <p:cNvGrpSpPr/>
            <p:nvPr/>
          </p:nvGrpSpPr>
          <p:grpSpPr>
            <a:xfrm>
              <a:off x="5289550" y="2314575"/>
              <a:ext cx="203200" cy="241299"/>
              <a:chOff x="5289550" y="2314575"/>
              <a:chExt cx="203200" cy="241299"/>
            </a:xfrm>
          </p:grpSpPr>
          <p:sp>
            <p:nvSpPr>
              <p:cNvPr id="30" name="Freeform 30"/>
              <p:cNvSpPr/>
              <p:nvPr/>
            </p:nvSpPr>
            <p:spPr>
              <a:xfrm>
                <a:off x="5289550" y="2314575"/>
                <a:ext cx="203199" cy="139700"/>
              </a:xfrm>
              <a:custGeom>
                <a:avLst/>
                <a:gdLst/>
                <a:ahLst/>
                <a:cxnLst/>
                <a:rect l="l" t="t" r="r" b="b"/>
                <a:pathLst>
                  <a:path w="203199" h="139700">
                    <a:moveTo>
                      <a:pt x="0" y="139700"/>
                    </a:moveTo>
                    <a:lnTo>
                      <a:pt x="0" y="101600"/>
                    </a:lnTo>
                    <a:cubicBezTo>
                      <a:pt x="0" y="45488"/>
                      <a:pt x="45488" y="0"/>
                      <a:pt x="101600" y="0"/>
                    </a:cubicBezTo>
                    <a:cubicBezTo>
                      <a:pt x="157712" y="0"/>
                      <a:pt x="203199" y="45488"/>
                      <a:pt x="203199" y="101600"/>
                    </a:cubicBezTo>
                    <a:lnTo>
                      <a:pt x="203199" y="139700"/>
                    </a:lnTo>
                  </a:path>
                </a:pathLst>
              </a:custGeom>
              <a:noFill/>
              <a:ln w="25400">
                <a:solidFill>
                  <a:srgbClr val="FFFFFF"/>
                </a:solidFill>
              </a:ln>
            </p:spPr>
          </p:sp>
          <p:sp>
            <p:nvSpPr>
              <p:cNvPr id="31" name="Freeform 31"/>
              <p:cNvSpPr/>
              <p:nvPr/>
            </p:nvSpPr>
            <p:spPr>
              <a:xfrm>
                <a:off x="5391150" y="2517774"/>
                <a:ext cx="76200" cy="38100"/>
              </a:xfrm>
              <a:custGeom>
                <a:avLst/>
                <a:gdLst/>
                <a:ahLst/>
                <a:cxnLst/>
                <a:rect l="l" t="t" r="r" b="b"/>
                <a:pathLst>
                  <a:path w="76200" h="38100">
                    <a:moveTo>
                      <a:pt x="76200" y="0"/>
                    </a:moveTo>
                    <a:cubicBezTo>
                      <a:pt x="76200" y="21044"/>
                      <a:pt x="42088" y="38100"/>
                      <a:pt x="0" y="38100"/>
                    </a:cubicBezTo>
                  </a:path>
                </a:pathLst>
              </a:custGeom>
              <a:noFill/>
              <a:ln w="25400">
                <a:solidFill>
                  <a:srgbClr val="FFFFFF"/>
                </a:solidFill>
              </a:ln>
            </p:spPr>
          </p:sp>
          <p:sp>
            <p:nvSpPr>
              <p:cNvPr id="32" name="Freeform 32"/>
              <p:cNvSpPr/>
              <p:nvPr/>
            </p:nvSpPr>
            <p:spPr>
              <a:xfrm>
                <a:off x="5289550" y="2428875"/>
                <a:ext cx="63500" cy="88900"/>
              </a:xfrm>
              <a:custGeom>
                <a:avLst/>
                <a:gdLst/>
                <a:ahLst/>
                <a:cxnLst/>
                <a:rect l="l" t="t" r="r" b="b"/>
                <a:pathLst>
                  <a:path w="63500" h="88900">
                    <a:moveTo>
                      <a:pt x="0" y="25400"/>
                    </a:moveTo>
                    <a:cubicBezTo>
                      <a:pt x="0" y="11372"/>
                      <a:pt x="11372" y="0"/>
                      <a:pt x="25400" y="0"/>
                    </a:cubicBezTo>
                    <a:lnTo>
                      <a:pt x="38100" y="0"/>
                    </a:lnTo>
                    <a:cubicBezTo>
                      <a:pt x="52128" y="0"/>
                      <a:pt x="63500" y="11372"/>
                      <a:pt x="63500" y="25400"/>
                    </a:cubicBezTo>
                    <a:lnTo>
                      <a:pt x="63500" y="63500"/>
                    </a:lnTo>
                    <a:cubicBezTo>
                      <a:pt x="63500" y="77528"/>
                      <a:pt x="52128" y="88900"/>
                      <a:pt x="38100" y="88900"/>
                    </a:cubicBezTo>
                    <a:lnTo>
                      <a:pt x="25400" y="88900"/>
                    </a:lnTo>
                    <a:cubicBezTo>
                      <a:pt x="11372" y="88900"/>
                      <a:pt x="0" y="77528"/>
                      <a:pt x="0" y="63500"/>
                    </a:cubicBezTo>
                    <a:lnTo>
                      <a:pt x="0" y="25400"/>
                    </a:lnTo>
                  </a:path>
                </a:pathLst>
              </a:custGeom>
              <a:noFill/>
              <a:ln w="25400">
                <a:solidFill>
                  <a:srgbClr val="FFFFFF"/>
                </a:solidFill>
              </a:ln>
            </p:spPr>
          </p:sp>
          <p:sp>
            <p:nvSpPr>
              <p:cNvPr id="33" name="Freeform 33"/>
              <p:cNvSpPr/>
              <p:nvPr/>
            </p:nvSpPr>
            <p:spPr>
              <a:xfrm>
                <a:off x="5429250" y="2428875"/>
                <a:ext cx="63500" cy="88900"/>
              </a:xfrm>
              <a:custGeom>
                <a:avLst/>
                <a:gdLst/>
                <a:ahLst/>
                <a:cxnLst/>
                <a:rect l="l" t="t" r="r" b="b"/>
                <a:pathLst>
                  <a:path w="63500" h="88900">
                    <a:moveTo>
                      <a:pt x="0" y="25400"/>
                    </a:moveTo>
                    <a:cubicBezTo>
                      <a:pt x="0" y="11372"/>
                      <a:pt x="11372" y="0"/>
                      <a:pt x="25400" y="0"/>
                    </a:cubicBezTo>
                    <a:lnTo>
                      <a:pt x="38100" y="0"/>
                    </a:lnTo>
                    <a:cubicBezTo>
                      <a:pt x="52128" y="0"/>
                      <a:pt x="63500" y="11372"/>
                      <a:pt x="63500" y="25400"/>
                    </a:cubicBezTo>
                    <a:lnTo>
                      <a:pt x="63500" y="63500"/>
                    </a:lnTo>
                    <a:cubicBezTo>
                      <a:pt x="63500" y="77528"/>
                      <a:pt x="52128" y="88900"/>
                      <a:pt x="38100" y="88900"/>
                    </a:cubicBezTo>
                    <a:lnTo>
                      <a:pt x="25400" y="88900"/>
                    </a:lnTo>
                    <a:cubicBezTo>
                      <a:pt x="11372" y="88900"/>
                      <a:pt x="0" y="77528"/>
                      <a:pt x="0" y="63500"/>
                    </a:cubicBezTo>
                    <a:lnTo>
                      <a:pt x="0" y="25400"/>
                    </a:lnTo>
                  </a:path>
                </a:pathLst>
              </a:custGeom>
              <a:noFill/>
              <a:ln w="25400">
                <a:solidFill>
                  <a:srgbClr val="FFFFFF"/>
                </a:solidFill>
              </a:ln>
            </p:spPr>
          </p:sp>
        </p:grpSp>
        <p:sp>
          <p:nvSpPr>
            <p:cNvPr id="35" name="TextBox 35"/>
            <p:cNvSpPr txBox="1"/>
            <p:nvPr/>
          </p:nvSpPr>
          <p:spPr>
            <a:xfrm>
              <a:off x="5793867" y="2349818"/>
              <a:ext cx="740664"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客服培训</a:t>
              </a:r>
            </a:p>
          </p:txBody>
        </p:sp>
        <p:sp>
          <p:nvSpPr>
            <p:cNvPr id="36" name="TextBox 36"/>
            <p:cNvSpPr txBox="1"/>
            <p:nvPr/>
          </p:nvSpPr>
          <p:spPr>
            <a:xfrm>
              <a:off x="5967222" y="2714149"/>
              <a:ext cx="862457" cy="857440"/>
            </a:xfrm>
            <a:prstGeom prst="rect">
              <a:avLst/>
            </a:prstGeom>
            <a:noFill/>
            <a:ln>
              <a:noFill/>
            </a:ln>
          </p:spPr>
          <p:txBody>
            <a:bodyPr wrap="none" lIns="0" tIns="0" rIns="0" bIns="0" anchor="t" anchorCtr="0">
              <a:spAutoFit/>
            </a:bodyPr>
            <a:lstStyle/>
            <a:p>
              <a:pPr algn="l" marL="105791" indent="-105791">
                <a:lnSpc>
                  <a:spcPts val="1350"/>
                </a:lnSpc>
                <a:buClr>
                  <a:srgbClr val="3D241F"/>
                </a:buClr>
                <a:buSzTx/>
                <a:buFontTx/>
                <a:buChar char="•"/>
              </a:pPr>
              <a:r>
                <a:rPr lang="zh-CN" sz="980" dirty="0">
                  <a:solidFill>
                    <a:srgbClr val="3D241F"/>
                  </a:solidFill>
                  <a:latin typeface="+mn-lt"/>
                  <a:ea typeface="+mn-ea"/>
                  <a:cs typeface="+mn-cs"/>
                </a:rPr>
                <a:t>做好售前售后</a:t>
              </a:r>
              <a:br/>
              <a:r>
                <a:rPr lang="zh-CN" sz="980" dirty="0">
                  <a:solidFill>
                    <a:srgbClr val="3D241F"/>
                  </a:solidFill>
                  <a:latin typeface="+mn-lt"/>
                  <a:ea typeface="+mn-ea"/>
                  <a:cs typeface="+mn-cs"/>
                </a:rPr>
                <a:t xml:space="preserve">　培训工作</a:t>
              </a:r>
            </a:p>
            <a:p>
              <a:pPr algn="l" marL="105791" indent="-105791">
                <a:lnSpc>
                  <a:spcPts val="1350"/>
                </a:lnSpc>
                <a:spcBef>
                  <a:spcPts val="600"/>
                </a:spcBef>
                <a:buClr>
                  <a:srgbClr val="3D241F"/>
                </a:buClr>
                <a:buSzTx/>
                <a:buFontTx/>
                <a:buChar char="•"/>
              </a:pPr>
              <a:r>
                <a:rPr lang="zh-CN" sz="980" dirty="0">
                  <a:solidFill>
                    <a:srgbClr val="3D241F"/>
                  </a:solidFill>
                  <a:latin typeface="+mn-lt"/>
                  <a:ea typeface="+mn-ea"/>
                  <a:cs typeface="+mn-cs"/>
                </a:rPr>
                <a:t>学习销售技巧</a:t>
              </a:r>
            </a:p>
            <a:p>
              <a:pPr algn="l" marL="105791" indent="-105791">
                <a:lnSpc>
                  <a:spcPts val="1350"/>
                </a:lnSpc>
                <a:spcBef>
                  <a:spcPts val="600"/>
                </a:spcBef>
                <a:buClr>
                  <a:srgbClr val="3D241F"/>
                </a:buClr>
                <a:buSzTx/>
                <a:buFontTx/>
                <a:buChar char="•"/>
              </a:pPr>
              <a:r>
                <a:rPr lang="zh-CN" sz="980" dirty="0">
                  <a:solidFill>
                    <a:srgbClr val="3D241F"/>
                  </a:solidFill>
                  <a:latin typeface="+mn-lt"/>
                  <a:ea typeface="+mn-ea"/>
                  <a:cs typeface="+mn-cs"/>
                </a:rPr>
                <a:t>促进订单转化</a:t>
              </a:r>
            </a:p>
          </p:txBody>
        </p:sp>
      </p:grpSp>
      <p:grpSp>
        <p:nvGrpSpPr>
          <p:cNvPr id="46" name="step-4-promotion"/>
          <p:cNvGrpSpPr/>
          <p:nvPr/>
        </p:nvGrpSpPr>
        <p:grpSpPr>
          <a:xfrm>
            <a:off x="7334250" y="1628775"/>
            <a:ext cx="1752854" cy="2562225"/>
            <a:chOff x="7334250" y="1628775"/>
            <a:chExt cx="1752854" cy="2562225"/>
          </a:xfrm>
        </p:grpSpPr>
        <p:sp>
          <p:nvSpPr>
            <p:cNvPr id="38" name="Line 38"/>
            <p:cNvSpPr/>
            <p:nvPr/>
          </p:nvSpPr>
          <p:spPr>
            <a:xfrm>
              <a:off x="7648575" y="2257425"/>
              <a:ext cx="9525" cy="1933575"/>
            </a:xfrm>
            <a:custGeom>
              <a:avLst/>
              <a:gdLst/>
              <a:ahLst/>
              <a:cxnLst/>
              <a:rect l="l" t="t" r="r" b="b"/>
              <a:pathLst>
                <a:path w="9525" h="1933575">
                  <a:moveTo>
                    <a:pt x="0" y="0"/>
                  </a:moveTo>
                  <a:lnTo>
                    <a:pt x="0" y="1933575"/>
                  </a:lnTo>
                </a:path>
              </a:pathLst>
            </a:custGeom>
            <a:noFill/>
            <a:ln w="9525">
              <a:solidFill>
                <a:srgbClr val="FA421D"/>
              </a:solidFill>
            </a:ln>
          </p:spPr>
        </p:sp>
        <p:sp>
          <p:nvSpPr>
            <p:cNvPr id="39" name="Ellipse 39"/>
            <p:cNvSpPr/>
            <p:nvPr/>
          </p:nvSpPr>
          <p:spPr>
            <a:xfrm>
              <a:off x="7334250" y="1628775"/>
              <a:ext cx="628650" cy="628650"/>
            </a:xfrm>
            <a:prstGeom prst="ellipse">
              <a:avLst/>
            </a:prstGeom>
            <a:gradFill>
              <a:gsLst>
                <a:gs pos="0">
                  <a:srgbClr val="FB684A"/>
                </a:gs>
                <a:gs pos="100000">
                  <a:srgbClr val="FA421D"/>
                </a:gs>
              </a:gsLst>
              <a:lin ang="5400000" scaled="1"/>
            </a:gradFill>
            <a:ln>
              <a:noFill/>
            </a:ln>
          </p:spPr>
        </p:sp>
        <p:grpSp>
          <p:nvGrpSpPr>
            <p:cNvPr id="43" name="Group 43"/>
            <p:cNvGrpSpPr/>
            <p:nvPr/>
          </p:nvGrpSpPr>
          <p:grpSpPr>
            <a:xfrm>
              <a:off x="7534275" y="1840971"/>
              <a:ext cx="228599" cy="203729"/>
              <a:chOff x="7534275" y="1840971"/>
              <a:chExt cx="228599" cy="203729"/>
            </a:xfrm>
          </p:grpSpPr>
          <p:sp>
            <p:nvSpPr>
              <p:cNvPr id="40" name="Freeform 40"/>
              <p:cNvSpPr/>
              <p:nvPr/>
            </p:nvSpPr>
            <p:spPr>
              <a:xfrm>
                <a:off x="7724774" y="1892300"/>
                <a:ext cx="38100" cy="76200"/>
              </a:xfrm>
              <a:custGeom>
                <a:avLst/>
                <a:gdLst/>
                <a:ahLst/>
                <a:cxnLst/>
                <a:rect l="l" t="t" r="r" b="b"/>
                <a:pathLst>
                  <a:path w="38100" h="76200">
                    <a:moveTo>
                      <a:pt x="0" y="0"/>
                    </a:moveTo>
                    <a:cubicBezTo>
                      <a:pt x="21042" y="0"/>
                      <a:pt x="38100" y="17058"/>
                      <a:pt x="38100" y="38100"/>
                    </a:cubicBezTo>
                    <a:cubicBezTo>
                      <a:pt x="38100" y="59142"/>
                      <a:pt x="21042" y="76200"/>
                      <a:pt x="0" y="76200"/>
                    </a:cubicBezTo>
                  </a:path>
                </a:pathLst>
              </a:custGeom>
              <a:noFill/>
              <a:ln w="25400">
                <a:solidFill>
                  <a:srgbClr val="FFFFFF"/>
                </a:solidFill>
              </a:ln>
            </p:spPr>
          </p:sp>
          <p:sp>
            <p:nvSpPr>
              <p:cNvPr id="41" name="Freeform 41"/>
              <p:cNvSpPr/>
              <p:nvPr/>
            </p:nvSpPr>
            <p:spPr>
              <a:xfrm>
                <a:off x="7585075" y="1892300"/>
                <a:ext cx="38100" cy="152400"/>
              </a:xfrm>
              <a:custGeom>
                <a:avLst/>
                <a:gdLst/>
                <a:ahLst/>
                <a:cxnLst/>
                <a:rect l="l" t="t" r="r" b="b"/>
                <a:pathLst>
                  <a:path w="38100" h="152400">
                    <a:moveTo>
                      <a:pt x="38100" y="0"/>
                    </a:moveTo>
                    <a:lnTo>
                      <a:pt x="38100" y="139700"/>
                    </a:lnTo>
                    <a:cubicBezTo>
                      <a:pt x="38100" y="146714"/>
                      <a:pt x="32414" y="152400"/>
                      <a:pt x="25400" y="152400"/>
                    </a:cubicBezTo>
                    <a:lnTo>
                      <a:pt x="12700" y="152400"/>
                    </a:lnTo>
                    <a:cubicBezTo>
                      <a:pt x="5686" y="152400"/>
                      <a:pt x="0" y="146714"/>
                      <a:pt x="0" y="139700"/>
                    </a:cubicBezTo>
                    <a:lnTo>
                      <a:pt x="0" y="76200"/>
                    </a:lnTo>
                  </a:path>
                </a:pathLst>
              </a:custGeom>
              <a:noFill/>
              <a:ln w="25400">
                <a:solidFill>
                  <a:srgbClr val="FFFFFF"/>
                </a:solidFill>
              </a:ln>
            </p:spPr>
          </p:sp>
          <p:sp>
            <p:nvSpPr>
              <p:cNvPr id="42" name="Freeform 42"/>
              <p:cNvSpPr/>
              <p:nvPr/>
            </p:nvSpPr>
            <p:spPr>
              <a:xfrm>
                <a:off x="7534275" y="1840971"/>
                <a:ext cx="190502" cy="178856"/>
              </a:xfrm>
              <a:custGeom>
                <a:avLst/>
                <a:gdLst/>
                <a:ahLst/>
                <a:cxnLst/>
                <a:rect l="l" t="t" r="r" b="b"/>
                <a:pathLst>
                  <a:path w="190502" h="178856">
                    <a:moveTo>
                      <a:pt x="114300" y="51328"/>
                    </a:moveTo>
                    <a:lnTo>
                      <a:pt x="171754" y="3449"/>
                    </a:lnTo>
                    <a:cubicBezTo>
                      <a:pt x="175163" y="611"/>
                      <a:pt x="179905" y="0"/>
                      <a:pt x="183922" y="1883"/>
                    </a:cubicBezTo>
                    <a:cubicBezTo>
                      <a:pt x="187938" y="3766"/>
                      <a:pt x="190502" y="7802"/>
                      <a:pt x="190500" y="12238"/>
                    </a:cubicBezTo>
                    <a:lnTo>
                      <a:pt x="190500" y="166619"/>
                    </a:lnTo>
                    <a:cubicBezTo>
                      <a:pt x="190502" y="171054"/>
                      <a:pt x="187938" y="175091"/>
                      <a:pt x="183922" y="176974"/>
                    </a:cubicBezTo>
                    <a:cubicBezTo>
                      <a:pt x="179905" y="178856"/>
                      <a:pt x="175163" y="178246"/>
                      <a:pt x="171754" y="175407"/>
                    </a:cubicBezTo>
                    <a:lnTo>
                      <a:pt x="114300" y="127528"/>
                    </a:lnTo>
                    <a:lnTo>
                      <a:pt x="12700" y="127528"/>
                    </a:lnTo>
                    <a:cubicBezTo>
                      <a:pt x="5686" y="127528"/>
                      <a:pt x="0" y="121842"/>
                      <a:pt x="0" y="114828"/>
                    </a:cubicBezTo>
                    <a:lnTo>
                      <a:pt x="0" y="64028"/>
                    </a:lnTo>
                    <a:cubicBezTo>
                      <a:pt x="0" y="57014"/>
                      <a:pt x="5686" y="51328"/>
                      <a:pt x="12700" y="51328"/>
                    </a:cubicBezTo>
                    <a:lnTo>
                      <a:pt x="114300" y="51328"/>
                    </a:lnTo>
                  </a:path>
                </a:pathLst>
              </a:custGeom>
              <a:noFill/>
              <a:ln w="25400">
                <a:solidFill>
                  <a:srgbClr val="FFFFFF"/>
                </a:solidFill>
              </a:ln>
            </p:spPr>
          </p:sp>
        </p:grpSp>
        <p:sp>
          <p:nvSpPr>
            <p:cNvPr id="44" name="TextBox 44"/>
            <p:cNvSpPr txBox="1"/>
            <p:nvPr/>
          </p:nvSpPr>
          <p:spPr>
            <a:xfrm>
              <a:off x="8051292" y="1864042"/>
              <a:ext cx="740664"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促销管理</a:t>
              </a:r>
            </a:p>
          </p:txBody>
        </p:sp>
        <p:sp>
          <p:nvSpPr>
            <p:cNvPr id="45" name="TextBox 45"/>
            <p:cNvSpPr txBox="1"/>
            <p:nvPr/>
          </p:nvSpPr>
          <p:spPr>
            <a:xfrm>
              <a:off x="8224647" y="2228374"/>
              <a:ext cx="862457" cy="685990"/>
            </a:xfrm>
            <a:prstGeom prst="rect">
              <a:avLst/>
            </a:prstGeom>
            <a:noFill/>
            <a:ln>
              <a:noFill/>
            </a:ln>
          </p:spPr>
          <p:txBody>
            <a:bodyPr wrap="none" lIns="0" tIns="0" rIns="0" bIns="0" anchor="t" anchorCtr="0">
              <a:spAutoFit/>
            </a:bodyPr>
            <a:lstStyle/>
            <a:p>
              <a:pPr algn="l" marL="105791" indent="-105791">
                <a:lnSpc>
                  <a:spcPts val="1950"/>
                </a:lnSpc>
                <a:buClr>
                  <a:srgbClr val="3D241F"/>
                </a:buClr>
                <a:buSzTx/>
                <a:buFontTx/>
                <a:buChar char="•"/>
              </a:pPr>
              <a:r>
                <a:rPr lang="zh-CN" sz="980" dirty="0">
                  <a:solidFill>
                    <a:srgbClr val="3D241F"/>
                  </a:solidFill>
                  <a:latin typeface="+mn-lt"/>
                  <a:ea typeface="+mn-ea"/>
                  <a:cs typeface="+mn-cs"/>
                </a:rPr>
                <a:t>做好节点规划</a:t>
              </a:r>
            </a:p>
            <a:p>
              <a:pPr algn="l" marL="105791" indent="-105791">
                <a:lnSpc>
                  <a:spcPts val="1950"/>
                </a:lnSpc>
                <a:buClr>
                  <a:srgbClr val="3D241F"/>
                </a:buClr>
                <a:buSzTx/>
                <a:buFontTx/>
                <a:buChar char="•"/>
              </a:pPr>
              <a:r>
                <a:rPr lang="zh-CN" sz="980" dirty="0">
                  <a:solidFill>
                    <a:srgbClr val="3D241F"/>
                  </a:solidFill>
                  <a:latin typeface="+mn-lt"/>
                  <a:ea typeface="+mn-ea"/>
                  <a:cs typeface="+mn-cs"/>
                </a:rPr>
                <a:t>提高曝光引流</a:t>
              </a:r>
            </a:p>
            <a:p>
              <a:pPr algn="l" marL="105791" indent="-105791">
                <a:lnSpc>
                  <a:spcPts val="1950"/>
                </a:lnSpc>
                <a:buClr>
                  <a:srgbClr val="3D241F"/>
                </a:buClr>
                <a:buSzTx/>
                <a:buFontTx/>
                <a:buChar char="•"/>
              </a:pPr>
              <a:r>
                <a:rPr lang="zh-CN" sz="980" dirty="0">
                  <a:solidFill>
                    <a:srgbClr val="3D241F"/>
                  </a:solidFill>
                  <a:latin typeface="+mn-lt"/>
                  <a:ea typeface="+mn-ea"/>
                  <a:cs typeface="+mn-cs"/>
                </a:rPr>
                <a:t>达到转化目标</a:t>
              </a:r>
            </a:p>
          </p:txBody>
        </p:sp>
      </p:grpSp>
      <p:grpSp>
        <p:nvGrpSpPr>
          <p:cNvPr id="54" name="step-5-strategy"/>
          <p:cNvGrpSpPr/>
          <p:nvPr/>
        </p:nvGrpSpPr>
        <p:grpSpPr>
          <a:xfrm>
            <a:off x="9620250" y="981075"/>
            <a:ext cx="1771523" cy="2162175"/>
            <a:chOff x="9620250" y="981075"/>
            <a:chExt cx="1771523" cy="2162175"/>
          </a:xfrm>
        </p:grpSpPr>
        <p:sp>
          <p:nvSpPr>
            <p:cNvPr id="47" name="Line 47"/>
            <p:cNvSpPr/>
            <p:nvPr/>
          </p:nvSpPr>
          <p:spPr>
            <a:xfrm>
              <a:off x="9934575" y="1609725"/>
              <a:ext cx="9525" cy="1533525"/>
            </a:xfrm>
            <a:custGeom>
              <a:avLst/>
              <a:gdLst/>
              <a:ahLst/>
              <a:cxnLst/>
              <a:rect l="l" t="t" r="r" b="b"/>
              <a:pathLst>
                <a:path w="9525" h="1533525">
                  <a:moveTo>
                    <a:pt x="0" y="0"/>
                  </a:moveTo>
                  <a:lnTo>
                    <a:pt x="0" y="1533525"/>
                  </a:lnTo>
                </a:path>
              </a:pathLst>
            </a:custGeom>
            <a:noFill/>
            <a:ln w="9525">
              <a:solidFill>
                <a:srgbClr val="FA421D"/>
              </a:solidFill>
            </a:ln>
          </p:spPr>
        </p:sp>
        <p:sp>
          <p:nvSpPr>
            <p:cNvPr id="48" name="Ellipse 48"/>
            <p:cNvSpPr/>
            <p:nvPr/>
          </p:nvSpPr>
          <p:spPr>
            <a:xfrm>
              <a:off x="9620250" y="981075"/>
              <a:ext cx="628650" cy="628650"/>
            </a:xfrm>
            <a:prstGeom prst="ellipse">
              <a:avLst/>
            </a:prstGeom>
            <a:gradFill>
              <a:gsLst>
                <a:gs pos="0">
                  <a:srgbClr val="FB684A"/>
                </a:gs>
                <a:gs pos="100000">
                  <a:srgbClr val="FA421D"/>
                </a:gs>
              </a:gsLst>
              <a:lin ang="5400000" scaled="1"/>
            </a:gradFill>
            <a:ln>
              <a:noFill/>
            </a:ln>
          </p:spPr>
        </p:sp>
        <p:grpSp>
          <p:nvGrpSpPr>
            <p:cNvPr id="51" name="Group 51"/>
            <p:cNvGrpSpPr/>
            <p:nvPr/>
          </p:nvGrpSpPr>
          <p:grpSpPr>
            <a:xfrm>
              <a:off x="9814700" y="1175525"/>
              <a:ext cx="239750" cy="239750"/>
              <a:chOff x="9814700" y="1175525"/>
              <a:chExt cx="239750" cy="239750"/>
            </a:xfrm>
          </p:grpSpPr>
          <p:sp>
            <p:nvSpPr>
              <p:cNvPr id="49" name="Freeform 49"/>
              <p:cNvSpPr/>
              <p:nvPr/>
            </p:nvSpPr>
            <p:spPr>
              <a:xfrm>
                <a:off x="9814700" y="1175525"/>
                <a:ext cx="239750" cy="239750"/>
              </a:xfrm>
              <a:custGeom>
                <a:avLst/>
                <a:gdLst/>
                <a:ahLst/>
                <a:cxnLst/>
                <a:rect l="l" t="t" r="r" b="b"/>
                <a:pathLst>
                  <a:path w="239750" h="239750">
                    <a:moveTo>
                      <a:pt x="98603" y="22301"/>
                    </a:moveTo>
                    <a:cubicBezTo>
                      <a:pt x="104013" y="0"/>
                      <a:pt x="135737" y="0"/>
                      <a:pt x="141147" y="22301"/>
                    </a:cubicBezTo>
                    <a:cubicBezTo>
                      <a:pt x="142794" y="29096"/>
                      <a:pt x="147587" y="34697"/>
                      <a:pt x="154046" y="37373"/>
                    </a:cubicBezTo>
                    <a:cubicBezTo>
                      <a:pt x="160506" y="40049"/>
                      <a:pt x="167855" y="39479"/>
                      <a:pt x="173824" y="35839"/>
                    </a:cubicBezTo>
                    <a:cubicBezTo>
                      <a:pt x="193421" y="23901"/>
                      <a:pt x="215861" y="46329"/>
                      <a:pt x="203923" y="65938"/>
                    </a:cubicBezTo>
                    <a:cubicBezTo>
                      <a:pt x="200289" y="71905"/>
                      <a:pt x="199720" y="79249"/>
                      <a:pt x="202393" y="85704"/>
                    </a:cubicBezTo>
                    <a:cubicBezTo>
                      <a:pt x="205066" y="92160"/>
                      <a:pt x="210660" y="96952"/>
                      <a:pt x="217449" y="98603"/>
                    </a:cubicBezTo>
                    <a:cubicBezTo>
                      <a:pt x="239750" y="104013"/>
                      <a:pt x="239750" y="135737"/>
                      <a:pt x="217449" y="141147"/>
                    </a:cubicBezTo>
                    <a:cubicBezTo>
                      <a:pt x="210654" y="142794"/>
                      <a:pt x="205053" y="147587"/>
                      <a:pt x="202377" y="154046"/>
                    </a:cubicBezTo>
                    <a:cubicBezTo>
                      <a:pt x="199701" y="160506"/>
                      <a:pt x="200271" y="167855"/>
                      <a:pt x="203911" y="173824"/>
                    </a:cubicBezTo>
                    <a:cubicBezTo>
                      <a:pt x="215849" y="193421"/>
                      <a:pt x="193421" y="215861"/>
                      <a:pt x="173812" y="203923"/>
                    </a:cubicBezTo>
                    <a:cubicBezTo>
                      <a:pt x="167845" y="200289"/>
                      <a:pt x="160501" y="199720"/>
                      <a:pt x="154046" y="202393"/>
                    </a:cubicBezTo>
                    <a:cubicBezTo>
                      <a:pt x="147590" y="205066"/>
                      <a:pt x="142798" y="210660"/>
                      <a:pt x="141147" y="217449"/>
                    </a:cubicBezTo>
                    <a:cubicBezTo>
                      <a:pt x="135737" y="239750"/>
                      <a:pt x="104013" y="239750"/>
                      <a:pt x="98603" y="217449"/>
                    </a:cubicBezTo>
                    <a:cubicBezTo>
                      <a:pt x="96956" y="210654"/>
                      <a:pt x="92163" y="205053"/>
                      <a:pt x="85704" y="202377"/>
                    </a:cubicBezTo>
                    <a:cubicBezTo>
                      <a:pt x="79244" y="199701"/>
                      <a:pt x="71895" y="200271"/>
                      <a:pt x="65926" y="203911"/>
                    </a:cubicBezTo>
                    <a:cubicBezTo>
                      <a:pt x="46329" y="215849"/>
                      <a:pt x="23889" y="193421"/>
                      <a:pt x="35827" y="173812"/>
                    </a:cubicBezTo>
                    <a:cubicBezTo>
                      <a:pt x="39461" y="167845"/>
                      <a:pt x="40030" y="160501"/>
                      <a:pt x="37357" y="154046"/>
                    </a:cubicBezTo>
                    <a:cubicBezTo>
                      <a:pt x="34684" y="147590"/>
                      <a:pt x="29090" y="142798"/>
                      <a:pt x="22301" y="141147"/>
                    </a:cubicBezTo>
                    <a:cubicBezTo>
                      <a:pt x="0" y="135737"/>
                      <a:pt x="0" y="104013"/>
                      <a:pt x="22301" y="98603"/>
                    </a:cubicBezTo>
                    <a:cubicBezTo>
                      <a:pt x="29096" y="96956"/>
                      <a:pt x="34697" y="92163"/>
                      <a:pt x="37373" y="85704"/>
                    </a:cubicBezTo>
                    <a:cubicBezTo>
                      <a:pt x="40049" y="79244"/>
                      <a:pt x="39479" y="71895"/>
                      <a:pt x="35839" y="65926"/>
                    </a:cubicBezTo>
                    <a:cubicBezTo>
                      <a:pt x="23901" y="46329"/>
                      <a:pt x="46329" y="23889"/>
                      <a:pt x="65938" y="35827"/>
                    </a:cubicBezTo>
                    <a:cubicBezTo>
                      <a:pt x="78638" y="43548"/>
                      <a:pt x="95097" y="36716"/>
                      <a:pt x="98603" y="22301"/>
                    </a:cubicBezTo>
                  </a:path>
                </a:pathLst>
              </a:custGeom>
              <a:noFill/>
              <a:ln w="25400">
                <a:solidFill>
                  <a:srgbClr val="FFFFFF"/>
                </a:solidFill>
              </a:ln>
            </p:spPr>
          </p:sp>
          <p:sp>
            <p:nvSpPr>
              <p:cNvPr id="50" name="Freeform 50"/>
              <p:cNvSpPr/>
              <p:nvPr/>
            </p:nvSpPr>
            <p:spPr>
              <a:xfrm>
                <a:off x="9896475" y="125730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5400">
                <a:solidFill>
                  <a:srgbClr val="FFFFFF"/>
                </a:solidFill>
              </a:ln>
            </p:spPr>
          </p:sp>
        </p:grpSp>
        <p:sp>
          <p:nvSpPr>
            <p:cNvPr id="52" name="TextBox 52"/>
            <p:cNvSpPr txBox="1"/>
            <p:nvPr/>
          </p:nvSpPr>
          <p:spPr>
            <a:xfrm>
              <a:off x="10337292" y="1216342"/>
              <a:ext cx="740664"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策略调整</a:t>
              </a:r>
            </a:p>
          </p:txBody>
        </p:sp>
        <p:sp>
          <p:nvSpPr>
            <p:cNvPr id="53" name="TextBox 53"/>
            <p:cNvSpPr txBox="1"/>
            <p:nvPr/>
          </p:nvSpPr>
          <p:spPr>
            <a:xfrm>
              <a:off x="10510647" y="1580674"/>
              <a:ext cx="881126" cy="781240"/>
            </a:xfrm>
            <a:prstGeom prst="rect">
              <a:avLst/>
            </a:prstGeom>
            <a:noFill/>
            <a:ln>
              <a:noFill/>
            </a:ln>
          </p:spPr>
          <p:txBody>
            <a:bodyPr wrap="none" lIns="0" tIns="0" rIns="0" bIns="0" anchor="t" anchorCtr="0">
              <a:spAutoFit/>
            </a:bodyPr>
            <a:lstStyle/>
            <a:p>
              <a:pPr algn="l" marL="105791" indent="-105791">
                <a:lnSpc>
                  <a:spcPts val="1350"/>
                </a:lnSpc>
                <a:buClr>
                  <a:srgbClr val="3D241F"/>
                </a:buClr>
                <a:buSzTx/>
                <a:buFontTx/>
                <a:buChar char="•"/>
              </a:pPr>
              <a:r>
                <a:rPr lang="zh-CN" sz="980" dirty="0">
                  <a:solidFill>
                    <a:srgbClr val="3D241F"/>
                  </a:solidFill>
                  <a:latin typeface="+mn-lt"/>
                  <a:ea typeface="+mn-ea"/>
                  <a:cs typeface="+mn-cs"/>
                </a:rPr>
                <a:t>通过活动复盘</a:t>
              </a:r>
              <a:br/>
              <a:r>
                <a:rPr lang="zh-CN" sz="980" dirty="0">
                  <a:solidFill>
                    <a:srgbClr val="3D241F"/>
                  </a:solidFill>
                  <a:latin typeface="+mn-lt"/>
                  <a:ea typeface="+mn-ea"/>
                  <a:cs typeface="+mn-cs"/>
                </a:rPr>
                <a:t xml:space="preserve">　优化运营策略</a:t>
              </a:r>
            </a:p>
            <a:p>
              <a:pPr algn="l" marL="105791" indent="-105791">
                <a:lnSpc>
                  <a:spcPts val="1350"/>
                </a:lnSpc>
                <a:spcBef>
                  <a:spcPts val="600"/>
                </a:spcBef>
                <a:buClr>
                  <a:srgbClr val="3D241F"/>
                </a:buClr>
                <a:buSzTx/>
                <a:buFontTx/>
                <a:buChar char="•"/>
              </a:pPr>
              <a:r>
                <a:rPr lang="zh-CN" sz="980" dirty="0">
                  <a:solidFill>
                    <a:srgbClr val="3D241F"/>
                  </a:solidFill>
                  <a:latin typeface="+mn-lt"/>
                  <a:ea typeface="+mn-ea"/>
                  <a:cs typeface="+mn-cs"/>
                </a:rPr>
                <a:t>不断调整提高</a:t>
              </a:r>
              <a:br/>
              <a:r>
                <a:rPr lang="zh-CN" sz="980" dirty="0">
                  <a:solidFill>
                    <a:srgbClr val="3D241F"/>
                  </a:solidFill>
                  <a:latin typeface="+mn-lt"/>
                  <a:ea typeface="+mn-ea"/>
                  <a:cs typeface="+mn-cs"/>
                </a:rPr>
                <a:t xml:space="preserve">　运营效果</a:t>
              </a:r>
            </a:p>
          </p:txBody>
        </p:sp>
      </p:gr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beam-1"/>
          <p:cNvSpPr/>
          <p:nvPr/>
        </p:nvSpPr>
        <p:spPr>
          <a:xfrm>
            <a:off x="5448300" y="4095750"/>
            <a:ext cx="419100" cy="2095500"/>
          </a:xfrm>
          <a:prstGeom prst="rect">
            <a:avLst/>
          </a:prstGeom>
          <a:gradFill>
            <a:gsLst>
              <a:gs pos="0">
                <a:srgbClr val="FA421D">
                  <a:alpha val="0"/>
                </a:srgbClr>
              </a:gs>
              <a:gs pos="100000">
                <a:srgbClr val="FA421D">
                  <a:alpha val="45000"/>
                </a:srgbClr>
              </a:gs>
            </a:gsLst>
            <a:lin ang="5400000" scaled="1"/>
          </a:gradFill>
          <a:ln>
            <a:noFill/>
          </a:ln>
        </p:spPr>
      </p:sp>
      <p:sp>
        <p:nvSpPr>
          <p:cNvPr id="3" name="deco-beam-2"/>
          <p:cNvSpPr/>
          <p:nvPr/>
        </p:nvSpPr>
        <p:spPr>
          <a:xfrm>
            <a:off x="6324600" y="4095750"/>
            <a:ext cx="419100" cy="2095500"/>
          </a:xfrm>
          <a:prstGeom prst="rect">
            <a:avLst/>
          </a:prstGeom>
          <a:gradFill>
            <a:gsLst>
              <a:gs pos="0">
                <a:srgbClr val="FA421D">
                  <a:alpha val="0"/>
                </a:srgbClr>
              </a:gs>
              <a:gs pos="100000">
                <a:srgbClr val="FA421D">
                  <a:alpha val="45000"/>
                </a:srgbClr>
              </a:gs>
            </a:gsLst>
            <a:lin ang="5400000" scaled="1"/>
          </a:gradFill>
          <a:ln>
            <a:noFill/>
          </a:ln>
        </p:spPr>
      </p:sp>
      <p:sp>
        <p:nvSpPr>
          <p:cNvPr id="4" name="deco-ring-outer"/>
          <p:cNvSpPr/>
          <p:nvPr/>
        </p:nvSpPr>
        <p:spPr>
          <a:xfrm>
            <a:off x="3333750" y="5476875"/>
            <a:ext cx="5524500" cy="1524000"/>
          </a:xfrm>
          <a:prstGeom prst="ellipse">
            <a:avLst/>
          </a:prstGeom>
          <a:gradFill>
            <a:gsLst>
              <a:gs pos="0">
                <a:srgbClr val="FBAD9D"/>
              </a:gs>
              <a:gs pos="100000">
                <a:srgbClr val="FA421D"/>
              </a:gs>
            </a:gsLst>
            <a:lin ang="5400000" scaled="1"/>
          </a:gradFill>
          <a:ln>
            <a:noFill/>
          </a:ln>
        </p:spPr>
      </p:sp>
      <p:sp>
        <p:nvSpPr>
          <p:cNvPr id="5" name="deco-ring-inner"/>
          <p:cNvSpPr/>
          <p:nvPr/>
        </p:nvSpPr>
        <p:spPr>
          <a:xfrm>
            <a:off x="4476750" y="5686425"/>
            <a:ext cx="3238500" cy="914400"/>
          </a:xfrm>
          <a:prstGeom prst="ellipse">
            <a:avLst/>
          </a:prstGeom>
          <a:solidFill>
            <a:srgbClr val="EFF5FE"/>
          </a:solidFill>
          <a:ln>
            <a:noFill/>
          </a:ln>
        </p:spPr>
      </p:sp>
      <p:sp>
        <p:nvSpPr>
          <p:cNvPr id="6" name="deco-link-ops"/>
          <p:cNvSpPr/>
          <p:nvPr/>
        </p:nvSpPr>
        <p:spPr>
          <a:xfrm>
            <a:off x="4972050" y="2857500"/>
            <a:ext cx="742950" cy="2476500"/>
          </a:xfrm>
          <a:custGeom>
            <a:avLst/>
            <a:gdLst/>
            <a:ahLst/>
            <a:cxnLst/>
            <a:rect l="l" t="t" r="r" b="b"/>
            <a:pathLst>
              <a:path w="742950" h="2476500">
                <a:moveTo>
                  <a:pt x="0" y="0"/>
                </a:moveTo>
                <a:cubicBezTo>
                  <a:pt x="742950" y="0"/>
                  <a:pt x="742950" y="1143000"/>
                  <a:pt x="742950" y="2476500"/>
                </a:cubicBezTo>
              </a:path>
            </a:pathLst>
          </a:custGeom>
          <a:noFill/>
          <a:ln w="19050">
            <a:solidFill>
              <a:srgbClr val="FA421D"/>
            </a:solidFill>
          </a:ln>
        </p:spPr>
      </p:sp>
      <p:sp>
        <p:nvSpPr>
          <p:cNvPr id="7" name="deco-link-design"/>
          <p:cNvSpPr/>
          <p:nvPr/>
        </p:nvSpPr>
        <p:spPr>
          <a:xfrm>
            <a:off x="6477000" y="2762250"/>
            <a:ext cx="742950" cy="2571750"/>
          </a:xfrm>
          <a:custGeom>
            <a:avLst/>
            <a:gdLst/>
            <a:ahLst/>
            <a:cxnLst/>
            <a:rect l="l" t="t" r="r" b="b"/>
            <a:pathLst>
              <a:path w="742950" h="2571750">
                <a:moveTo>
                  <a:pt x="742950" y="0"/>
                </a:moveTo>
                <a:cubicBezTo>
                  <a:pt x="95250" y="0"/>
                  <a:pt x="95250" y="1238250"/>
                  <a:pt x="0" y="2571750"/>
                </a:cubicBezTo>
              </a:path>
            </a:pathLst>
          </a:custGeom>
          <a:noFill/>
          <a:ln w="19050">
            <a:solidFill>
              <a:srgbClr val="FA421D"/>
            </a:solidFill>
          </a:ln>
        </p:spPr>
      </p:sp>
      <p:sp>
        <p:nvSpPr>
          <p:cNvPr id="8" name="deco-link-service"/>
          <p:cNvSpPr/>
          <p:nvPr/>
        </p:nvSpPr>
        <p:spPr>
          <a:xfrm>
            <a:off x="3619500" y="4762500"/>
            <a:ext cx="1714500" cy="952500"/>
          </a:xfrm>
          <a:custGeom>
            <a:avLst/>
            <a:gdLst/>
            <a:ahLst/>
            <a:cxnLst/>
            <a:rect l="l" t="t" r="r" b="b"/>
            <a:pathLst>
              <a:path w="1714500" h="952500">
                <a:moveTo>
                  <a:pt x="0" y="0"/>
                </a:moveTo>
                <a:cubicBezTo>
                  <a:pt x="857250" y="0"/>
                  <a:pt x="1143000" y="571500"/>
                  <a:pt x="1714500" y="952500"/>
                </a:cubicBezTo>
              </a:path>
            </a:pathLst>
          </a:custGeom>
          <a:noFill/>
          <a:ln w="19050">
            <a:solidFill>
              <a:srgbClr val="FA421D"/>
            </a:solidFill>
          </a:ln>
        </p:spPr>
      </p:sp>
      <p:sp>
        <p:nvSpPr>
          <p:cNvPr id="9" name="deco-link-logistics"/>
          <p:cNvSpPr/>
          <p:nvPr/>
        </p:nvSpPr>
        <p:spPr>
          <a:xfrm>
            <a:off x="6858000" y="4572000"/>
            <a:ext cx="1562100" cy="1143000"/>
          </a:xfrm>
          <a:custGeom>
            <a:avLst/>
            <a:gdLst/>
            <a:ahLst/>
            <a:cxnLst/>
            <a:rect l="l" t="t" r="r" b="b"/>
            <a:pathLst>
              <a:path w="1562100" h="1143000">
                <a:moveTo>
                  <a:pt x="1562100" y="0"/>
                </a:moveTo>
                <a:cubicBezTo>
                  <a:pt x="762000" y="0"/>
                  <a:pt x="381000" y="762000"/>
                  <a:pt x="0" y="1143000"/>
                </a:cubicBezTo>
              </a:path>
            </a:pathLst>
          </a:custGeom>
          <a:noFill/>
          <a:ln w="19050">
            <a:solidFill>
              <a:srgbClr val="FA421D"/>
            </a:solidFill>
          </a:ln>
        </p:spPr>
      </p:sp>
      <p:grpSp>
        <p:nvGrpSpPr>
          <p:cNvPr id="14" name="header"/>
          <p:cNvGrpSpPr/>
          <p:nvPr/>
        </p:nvGrpSpPr>
        <p:grpSpPr>
          <a:xfrm>
            <a:off x="0" y="0"/>
            <a:ext cx="12192000" cy="551879"/>
            <a:chOff x="0" y="0"/>
            <a:chExt cx="12192000" cy="551879"/>
          </a:xfrm>
        </p:grpSpPr>
        <p:sp>
          <p:nvSpPr>
            <p:cNvPr id="10" name="Polygon 10"/>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11" name="TextBox 11"/>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09</a:t>
              </a:r>
            </a:p>
          </p:txBody>
        </p:sp>
        <p:sp>
          <p:nvSpPr>
            <p:cNvPr id="12" name="TextBox 12"/>
            <p:cNvSpPr txBox="1"/>
            <p:nvPr/>
          </p:nvSpPr>
          <p:spPr>
            <a:xfrm>
              <a:off x="904494" y="170498"/>
              <a:ext cx="2699373"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团队与产品 - 团队分工</a:t>
              </a:r>
            </a:p>
          </p:txBody>
        </p:sp>
        <p:sp>
          <p:nvSpPr>
            <p:cNvPr id="13" name="Line 13"/>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6" name="lead-sentence"/>
          <p:cNvGrpSpPr/>
          <p:nvPr/>
        </p:nvGrpSpPr>
        <p:grpSpPr>
          <a:xfrm>
            <a:off x="2418055" y="1454468"/>
            <a:ext cx="7355891" cy="264033"/>
            <a:chOff x="2418055" y="1454468"/>
            <a:chExt cx="7355891" cy="264033"/>
          </a:xfrm>
        </p:grpSpPr>
        <p:sp>
          <p:nvSpPr>
            <p:cNvPr id="15" name="TextBox 15"/>
            <p:cNvSpPr txBox="1"/>
            <p:nvPr/>
          </p:nvSpPr>
          <p:spPr>
            <a:xfrm>
              <a:off x="2418055" y="1454468"/>
              <a:ext cx="7355891"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团队目前共有员工18人，包括电商运营4人、设计3人、客服4人、商务拓展3、仓储物流4人​</a:t>
              </a:r>
            </a:p>
          </p:txBody>
        </p:sp>
      </p:grpSp>
      <p:grpSp>
        <p:nvGrpSpPr>
          <p:cNvPr id="20" name="card-operations"/>
          <p:cNvGrpSpPr/>
          <p:nvPr/>
        </p:nvGrpSpPr>
        <p:grpSpPr>
          <a:xfrm>
            <a:off x="1752600" y="2314575"/>
            <a:ext cx="3219450" cy="1409700"/>
            <a:chOff x="1752600" y="2314575"/>
            <a:chExt cx="3219450" cy="1409700"/>
          </a:xfrm>
        </p:grpSpPr>
        <p:sp>
          <p:nvSpPr>
            <p:cNvPr id="17" name="Rectangle 17"/>
            <p:cNvSpPr/>
            <p:nvPr/>
          </p:nvSpPr>
          <p:spPr>
            <a:xfrm>
              <a:off x="1752600" y="2314575"/>
              <a:ext cx="3219450" cy="1409700"/>
            </a:xfrm>
            <a:prstGeom prst="roundRect">
              <a:avLst>
                <a:gd name="adj" fmla="val 9459"/>
              </a:avLst>
            </a:prstGeom>
            <a:solidFill>
              <a:srgbClr val="FFFFFF"/>
            </a:solidFill>
            <a:ln w="14288">
              <a:solidFill>
                <a:srgbClr val="FCC6BB"/>
              </a:solidFill>
            </a:ln>
          </p:spPr>
        </p:sp>
        <p:sp>
          <p:nvSpPr>
            <p:cNvPr id="18" name="TextBox 18"/>
            <p:cNvSpPr txBox="1"/>
            <p:nvPr/>
          </p:nvSpPr>
          <p:spPr>
            <a:xfrm>
              <a:off x="4217670" y="2524125"/>
              <a:ext cx="419100" cy="293370"/>
            </a:xfrm>
            <a:prstGeom prst="rect">
              <a:avLst/>
            </a:prstGeom>
            <a:noFill/>
            <a:ln>
              <a:noFill/>
            </a:ln>
          </p:spPr>
          <p:txBody>
            <a:bodyPr wrap="none" lIns="0" tIns="0" rIns="0" bIns="0" anchor="t" anchorCtr="0">
              <a:spAutoFit/>
            </a:bodyPr>
            <a:lstStyle/>
            <a:p>
              <a:pPr algn="r"/>
              <a:r>
                <a:rPr lang="zh-CN" sz="1500" b="1" dirty="0">
                  <a:solidFill>
                    <a:srgbClr val="E83F1D"/>
                  </a:solidFill>
                  <a:latin typeface="+mn-lt"/>
                  <a:ea typeface="+mn-ea"/>
                  <a:cs typeface="+mn-cs"/>
                </a:rPr>
                <a:t>运营</a:t>
              </a:r>
            </a:p>
          </p:txBody>
        </p:sp>
        <p:sp>
          <p:nvSpPr>
            <p:cNvPr id="19" name="TextBox 19"/>
            <p:cNvSpPr txBox="1"/>
            <p:nvPr/>
          </p:nvSpPr>
          <p:spPr>
            <a:xfrm>
              <a:off x="2632837" y="2923699"/>
              <a:ext cx="2001266" cy="400241"/>
            </a:xfrm>
            <a:prstGeom prst="rect">
              <a:avLst/>
            </a:prstGeom>
            <a:noFill/>
            <a:ln>
              <a:noFill/>
            </a:ln>
          </p:spPr>
          <p:txBody>
            <a:bodyPr wrap="none" lIns="0" tIns="0" rIns="0" bIns="0" anchor="t" anchorCtr="0">
              <a:spAutoFit/>
            </a:bodyPr>
            <a:lstStyle/>
            <a:p>
              <a:pPr algn="r">
                <a:lnSpc>
                  <a:spcPts val="1650"/>
                </a:lnSpc>
              </a:pPr>
              <a:r>
                <a:rPr lang="zh-CN" sz="980" dirty="0">
                  <a:solidFill>
                    <a:srgbClr val="3D241F"/>
                  </a:solidFill>
                  <a:latin typeface="+mn-lt"/>
                  <a:ea typeface="+mn-ea"/>
                  <a:cs typeface="+mn-cs"/>
                </a:rPr>
                <a:t>负责店铺整体规划、营销等工作，策</a:t>
              </a:r>
              <a:br/>
              <a:r>
                <a:rPr lang="zh-CN" sz="980" dirty="0">
                  <a:solidFill>
                    <a:srgbClr val="3D241F"/>
                  </a:solidFill>
                  <a:latin typeface="+mn-lt"/>
                  <a:ea typeface="+mn-ea"/>
                  <a:cs typeface="+mn-cs"/>
                </a:rPr>
                <a:t>划周年庆、节日营销等电商活动</a:t>
              </a:r>
            </a:p>
          </p:txBody>
        </p:sp>
      </p:grpSp>
      <p:grpSp>
        <p:nvGrpSpPr>
          <p:cNvPr id="24" name="card-design"/>
          <p:cNvGrpSpPr/>
          <p:nvPr/>
        </p:nvGrpSpPr>
        <p:grpSpPr>
          <a:xfrm>
            <a:off x="7219950" y="1809750"/>
            <a:ext cx="4076700" cy="1466850"/>
            <a:chOff x="7219950" y="1809750"/>
            <a:chExt cx="4076700" cy="1466850"/>
          </a:xfrm>
        </p:grpSpPr>
        <p:sp>
          <p:nvSpPr>
            <p:cNvPr id="21" name="Rectangle 21"/>
            <p:cNvSpPr/>
            <p:nvPr/>
          </p:nvSpPr>
          <p:spPr>
            <a:xfrm>
              <a:off x="7219950" y="1809750"/>
              <a:ext cx="4076700" cy="1466850"/>
            </a:xfrm>
            <a:prstGeom prst="roundRect">
              <a:avLst>
                <a:gd name="adj" fmla="val 9091"/>
              </a:avLst>
            </a:prstGeom>
            <a:solidFill>
              <a:srgbClr val="FFFFFF"/>
            </a:solidFill>
            <a:ln w="14288">
              <a:solidFill>
                <a:srgbClr val="FCC6BB"/>
              </a:solidFill>
            </a:ln>
          </p:spPr>
        </p:sp>
        <p:sp>
          <p:nvSpPr>
            <p:cNvPr id="22" name="TextBox 22"/>
            <p:cNvSpPr txBox="1"/>
            <p:nvPr/>
          </p:nvSpPr>
          <p:spPr>
            <a:xfrm>
              <a:off x="7459980" y="2047875"/>
              <a:ext cx="419100" cy="293370"/>
            </a:xfrm>
            <a:prstGeom prst="rect">
              <a:avLst/>
            </a:prstGeom>
            <a:noFill/>
            <a:ln>
              <a:noFill/>
            </a:ln>
          </p:spPr>
          <p:txBody>
            <a:bodyPr wrap="none" lIns="0" tIns="0" rIns="0" bIns="0" anchor="t" anchorCtr="0">
              <a:spAutoFit/>
            </a:bodyPr>
            <a:lstStyle/>
            <a:p>
              <a:pPr algn="l"/>
              <a:r>
                <a:rPr lang="zh-CN" sz="1500" b="1" dirty="0">
                  <a:solidFill>
                    <a:srgbClr val="E83F1D"/>
                  </a:solidFill>
                  <a:latin typeface="+mn-lt"/>
                  <a:ea typeface="+mn-ea"/>
                  <a:cs typeface="+mn-cs"/>
                </a:rPr>
                <a:t>设计</a:t>
              </a:r>
            </a:p>
          </p:txBody>
        </p:sp>
        <p:sp>
          <p:nvSpPr>
            <p:cNvPr id="23" name="TextBox 23"/>
            <p:cNvSpPr txBox="1"/>
            <p:nvPr/>
          </p:nvSpPr>
          <p:spPr>
            <a:xfrm>
              <a:off x="7462647" y="2466499"/>
              <a:ext cx="1876806"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D241F"/>
                  </a:solidFill>
                  <a:latin typeface="+mn-lt"/>
                  <a:ea typeface="+mn-ea"/>
                  <a:cs typeface="+mn-cs"/>
                </a:rPr>
                <a:t>电商视觉设计，对接运营策划，完</a:t>
              </a:r>
              <a:br/>
              <a:r>
                <a:rPr lang="zh-CN" sz="980" dirty="0">
                  <a:solidFill>
                    <a:srgbClr val="3D241F"/>
                  </a:solidFill>
                  <a:latin typeface="+mn-lt"/>
                  <a:ea typeface="+mn-ea"/>
                  <a:cs typeface="+mn-cs"/>
                </a:rPr>
                <a:t>成活动/详情页设计</a:t>
              </a:r>
            </a:p>
          </p:txBody>
        </p:sp>
      </p:grpSp>
      <p:grpSp>
        <p:nvGrpSpPr>
          <p:cNvPr id="28" name="card-service"/>
          <p:cNvGrpSpPr/>
          <p:nvPr/>
        </p:nvGrpSpPr>
        <p:grpSpPr>
          <a:xfrm>
            <a:off x="676275" y="4000500"/>
            <a:ext cx="2933700" cy="1524000"/>
            <a:chOff x="676275" y="4000500"/>
            <a:chExt cx="2933700" cy="1524000"/>
          </a:xfrm>
        </p:grpSpPr>
        <p:sp>
          <p:nvSpPr>
            <p:cNvPr id="25" name="Rectangle 25"/>
            <p:cNvSpPr/>
            <p:nvPr/>
          </p:nvSpPr>
          <p:spPr>
            <a:xfrm>
              <a:off x="676275" y="4000500"/>
              <a:ext cx="2933700" cy="1524000"/>
            </a:xfrm>
            <a:prstGeom prst="roundRect">
              <a:avLst>
                <a:gd name="adj" fmla="val 8750"/>
              </a:avLst>
            </a:prstGeom>
            <a:solidFill>
              <a:srgbClr val="FFFFFF"/>
            </a:solidFill>
            <a:ln w="14288">
              <a:solidFill>
                <a:srgbClr val="FCC6BB"/>
              </a:solidFill>
            </a:ln>
          </p:spPr>
        </p:sp>
        <p:sp>
          <p:nvSpPr>
            <p:cNvPr id="26" name="TextBox 26"/>
            <p:cNvSpPr txBox="1"/>
            <p:nvPr/>
          </p:nvSpPr>
          <p:spPr>
            <a:xfrm>
              <a:off x="2903220" y="4219575"/>
              <a:ext cx="419100" cy="293370"/>
            </a:xfrm>
            <a:prstGeom prst="rect">
              <a:avLst/>
            </a:prstGeom>
            <a:noFill/>
            <a:ln>
              <a:noFill/>
            </a:ln>
          </p:spPr>
          <p:txBody>
            <a:bodyPr wrap="none" lIns="0" tIns="0" rIns="0" bIns="0" anchor="t" anchorCtr="0">
              <a:spAutoFit/>
            </a:bodyPr>
            <a:lstStyle/>
            <a:p>
              <a:pPr algn="r"/>
              <a:r>
                <a:rPr lang="zh-CN" sz="1500" b="1" dirty="0">
                  <a:solidFill>
                    <a:srgbClr val="E83F1D"/>
                  </a:solidFill>
                  <a:latin typeface="+mn-lt"/>
                  <a:ea typeface="+mn-ea"/>
                  <a:cs typeface="+mn-cs"/>
                </a:rPr>
                <a:t>客服</a:t>
              </a:r>
            </a:p>
          </p:txBody>
        </p:sp>
        <p:sp>
          <p:nvSpPr>
            <p:cNvPr id="27" name="TextBox 27"/>
            <p:cNvSpPr txBox="1"/>
            <p:nvPr/>
          </p:nvSpPr>
          <p:spPr>
            <a:xfrm>
              <a:off x="1498854" y="4657249"/>
              <a:ext cx="1820799" cy="400241"/>
            </a:xfrm>
            <a:prstGeom prst="rect">
              <a:avLst/>
            </a:prstGeom>
            <a:noFill/>
            <a:ln>
              <a:noFill/>
            </a:ln>
          </p:spPr>
          <p:txBody>
            <a:bodyPr wrap="none" lIns="0" tIns="0" rIns="0" bIns="0" anchor="t" anchorCtr="0">
              <a:spAutoFit/>
            </a:bodyPr>
            <a:lstStyle/>
            <a:p>
              <a:pPr algn="r">
                <a:lnSpc>
                  <a:spcPts val="1650"/>
                </a:lnSpc>
              </a:pPr>
              <a:r>
                <a:rPr lang="zh-CN" sz="980" dirty="0">
                  <a:solidFill>
                    <a:srgbClr val="3D241F"/>
                  </a:solidFill>
                  <a:latin typeface="+mn-lt"/>
                  <a:ea typeface="+mn-ea"/>
                  <a:cs typeface="+mn-cs"/>
                </a:rPr>
                <a:t>解答用户咨询，促进订单达成;确</a:t>
              </a:r>
              <a:br/>
              <a:r>
                <a:rPr lang="zh-CN" sz="980" dirty="0">
                  <a:solidFill>
                    <a:srgbClr val="3D241F"/>
                  </a:solidFill>
                  <a:latin typeface="+mn-lt"/>
                  <a:ea typeface="+mn-ea"/>
                  <a:cs typeface="+mn-cs"/>
                </a:rPr>
                <a:t>认订单信息，及时进行沟通回复</a:t>
              </a:r>
            </a:p>
          </p:txBody>
        </p:sp>
      </p:grpSp>
      <p:grpSp>
        <p:nvGrpSpPr>
          <p:cNvPr id="32" name="card-logistics"/>
          <p:cNvGrpSpPr/>
          <p:nvPr/>
        </p:nvGrpSpPr>
        <p:grpSpPr>
          <a:xfrm>
            <a:off x="8420100" y="3619500"/>
            <a:ext cx="2876550" cy="1466850"/>
            <a:chOff x="8420100" y="3619500"/>
            <a:chExt cx="2876550" cy="1466850"/>
          </a:xfrm>
        </p:grpSpPr>
        <p:sp>
          <p:nvSpPr>
            <p:cNvPr id="29" name="Rectangle 29"/>
            <p:cNvSpPr/>
            <p:nvPr/>
          </p:nvSpPr>
          <p:spPr>
            <a:xfrm>
              <a:off x="8420100" y="3619500"/>
              <a:ext cx="2876550" cy="1466850"/>
            </a:xfrm>
            <a:prstGeom prst="roundRect">
              <a:avLst>
                <a:gd name="adj" fmla="val 9091"/>
              </a:avLst>
            </a:prstGeom>
            <a:solidFill>
              <a:srgbClr val="FFFFFF"/>
            </a:solidFill>
            <a:ln w="14288">
              <a:solidFill>
                <a:srgbClr val="FCC6BB"/>
              </a:solidFill>
            </a:ln>
          </p:spPr>
        </p:sp>
        <p:sp>
          <p:nvSpPr>
            <p:cNvPr id="30" name="TextBox 30"/>
            <p:cNvSpPr txBox="1"/>
            <p:nvPr/>
          </p:nvSpPr>
          <p:spPr>
            <a:xfrm>
              <a:off x="8641080" y="3838575"/>
              <a:ext cx="822960" cy="293370"/>
            </a:xfrm>
            <a:prstGeom prst="rect">
              <a:avLst/>
            </a:prstGeom>
            <a:noFill/>
            <a:ln>
              <a:noFill/>
            </a:ln>
          </p:spPr>
          <p:txBody>
            <a:bodyPr wrap="none" lIns="0" tIns="0" rIns="0" bIns="0" anchor="t" anchorCtr="0">
              <a:spAutoFit/>
            </a:bodyPr>
            <a:lstStyle/>
            <a:p>
              <a:pPr algn="l"/>
              <a:r>
                <a:rPr lang="zh-CN" sz="1500" b="1" dirty="0">
                  <a:solidFill>
                    <a:srgbClr val="E83F1D"/>
                  </a:solidFill>
                  <a:latin typeface="+mn-lt"/>
                  <a:ea typeface="+mn-ea"/>
                  <a:cs typeface="+mn-cs"/>
                </a:rPr>
                <a:t>仓储物流</a:t>
              </a:r>
            </a:p>
          </p:txBody>
        </p:sp>
        <p:sp>
          <p:nvSpPr>
            <p:cNvPr id="31" name="TextBox 31"/>
            <p:cNvSpPr txBox="1"/>
            <p:nvPr/>
          </p:nvSpPr>
          <p:spPr>
            <a:xfrm>
              <a:off x="8643747" y="4276249"/>
              <a:ext cx="1571879"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D241F"/>
                  </a:solidFill>
                  <a:latin typeface="+mn-lt"/>
                  <a:ea typeface="+mn-ea"/>
                  <a:cs typeface="+mn-cs"/>
                </a:rPr>
                <a:t>产品录入、入库、盘点;按订</a:t>
              </a:r>
              <a:br/>
              <a:r>
                <a:rPr lang="zh-CN" sz="980" dirty="0">
                  <a:solidFill>
                    <a:srgbClr val="3D241F"/>
                  </a:solidFill>
                  <a:latin typeface="+mn-lt"/>
                  <a:ea typeface="+mn-ea"/>
                  <a:cs typeface="+mn-cs"/>
                </a:rPr>
                <a:t>单进行商品包装和发货</a:t>
              </a:r>
            </a:p>
          </p:txBody>
        </p:sp>
      </p:gr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blue-band"/>
          <p:cNvSpPr/>
          <p:nvPr/>
        </p:nvSpPr>
        <p:spPr>
          <a:xfrm>
            <a:off x="0" y="4762500"/>
            <a:ext cx="12192000" cy="2095500"/>
          </a:xfrm>
          <a:prstGeom prst="rect">
            <a:avLst/>
          </a:prstGeom>
          <a:gradFill>
            <a:gsLst>
              <a:gs pos="0">
                <a:srgbClr val="FA421D"/>
              </a:gs>
              <a:gs pos="100000">
                <a:srgbClr val="D22C0A"/>
              </a:gs>
            </a:gsLst>
            <a:lin ang="5400000" scaled="1"/>
          </a:gradFill>
          <a:ln>
            <a:noFill/>
          </a:ln>
        </p:spPr>
      </p:sp>
      <p:sp>
        <p:nvSpPr>
          <p:cNvPr id="3" name="deco-white-sheet"/>
          <p:cNvSpPr/>
          <p:nvPr/>
        </p:nvSpPr>
        <p:spPr>
          <a:xfrm>
            <a:off x="0" y="0"/>
            <a:ext cx="12192000" cy="5219700"/>
          </a:xfrm>
          <a:prstGeom prst="roundRect">
            <a:avLst>
              <a:gd name="adj" fmla="val 8029"/>
            </a:avLst>
          </a:prstGeom>
          <a:solidFill>
            <a:srgbClr val="F3F8FE"/>
          </a:solidFill>
          <a:ln>
            <a:noFill/>
          </a:ln>
        </p:spPr>
      </p:sp>
      <p:grpSp>
        <p:nvGrpSpPr>
          <p:cNvPr id="8" name="header"/>
          <p:cNvGrpSpPr/>
          <p:nvPr/>
        </p:nvGrpSpPr>
        <p:grpSpPr>
          <a:xfrm>
            <a:off x="0" y="0"/>
            <a:ext cx="12192000" cy="551879"/>
            <a:chOff x="0" y="0"/>
            <a:chExt cx="12192000" cy="551879"/>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5" name="TextBox 5"/>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10</a:t>
              </a:r>
            </a:p>
          </p:txBody>
        </p:sp>
        <p:sp>
          <p:nvSpPr>
            <p:cNvPr id="6" name="TextBox 6"/>
            <p:cNvSpPr txBox="1"/>
            <p:nvPr/>
          </p:nvSpPr>
          <p:spPr>
            <a:xfrm>
              <a:off x="904494" y="170498"/>
              <a:ext cx="1857375"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项目预期销售额</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4" name="stage-1"/>
          <p:cNvGrpSpPr/>
          <p:nvPr/>
        </p:nvGrpSpPr>
        <p:grpSpPr>
          <a:xfrm>
            <a:off x="838200" y="1631632"/>
            <a:ext cx="3181350" cy="2768918"/>
            <a:chOff x="838200" y="1631632"/>
            <a:chExt cx="3181350" cy="2768918"/>
          </a:xfrm>
        </p:grpSpPr>
        <p:sp>
          <p:nvSpPr>
            <p:cNvPr id="9" name="TextBox 9"/>
            <p:cNvSpPr txBox="1"/>
            <p:nvPr/>
          </p:nvSpPr>
          <p:spPr>
            <a:xfrm>
              <a:off x="1976247" y="1631632"/>
              <a:ext cx="905256" cy="322707"/>
            </a:xfrm>
            <a:prstGeom prst="rect">
              <a:avLst/>
            </a:prstGeom>
            <a:noFill/>
            <a:ln>
              <a:noFill/>
            </a:ln>
          </p:spPr>
          <p:txBody>
            <a:bodyPr wrap="none" lIns="0" tIns="0" rIns="0" bIns="0" anchor="t" anchorCtr="0">
              <a:spAutoFit/>
            </a:bodyPr>
            <a:lstStyle/>
            <a:p>
              <a:pPr algn="ctr"/>
              <a:r>
                <a:rPr lang="zh-CN" sz="1650" b="1" dirty="0">
                  <a:solidFill>
                    <a:srgbClr val="E83F1D"/>
                  </a:solidFill>
                  <a:latin typeface="+mn-lt"/>
                  <a:ea typeface="+mn-ea"/>
                  <a:cs typeface="+mn-cs"/>
                </a:rPr>
                <a:t>第一阶段</a:t>
              </a:r>
            </a:p>
          </p:txBody>
        </p:sp>
        <p:sp>
          <p:nvSpPr>
            <p:cNvPr id="10" name="Line 10"/>
            <p:cNvSpPr/>
            <p:nvPr/>
          </p:nvSpPr>
          <p:spPr>
            <a:xfrm>
              <a:off x="914400" y="2209800"/>
              <a:ext cx="3028950" cy="1"/>
            </a:xfrm>
            <a:prstGeom prst="line">
              <a:avLst/>
            </a:prstGeom>
            <a:noFill/>
            <a:ln w="19050">
              <a:solidFill>
                <a:srgbClr val="FA421D"/>
              </a:solidFill>
              <a:headEnd type="triangle" w="lg" len="lg"/>
              <a:tailEnd type="triangle" w="lg" len="lg"/>
            </a:ln>
          </p:spPr>
        </p:sp>
        <p:sp>
          <p:nvSpPr>
            <p:cNvPr id="11" name="Rectangle 11"/>
            <p:cNvSpPr/>
            <p:nvPr/>
          </p:nvSpPr>
          <p:spPr>
            <a:xfrm>
              <a:off x="838200" y="2286000"/>
              <a:ext cx="3181350" cy="2114550"/>
            </a:xfrm>
            <a:prstGeom prst="roundRect">
              <a:avLst>
                <a:gd name="adj" fmla="val 3604"/>
              </a:avLst>
            </a:prstGeom>
            <a:gradFill>
              <a:gsLst>
                <a:gs pos="0">
                  <a:srgbClr val="E6EFFD"/>
                </a:gs>
                <a:gs pos="100000">
                  <a:srgbClr val="FBD2C9"/>
                </a:gs>
              </a:gsLst>
              <a:lin ang="5400000" scaled="1"/>
            </a:gradFill>
            <a:ln>
              <a:noFill/>
            </a:ln>
          </p:spPr>
        </p:sp>
        <p:sp>
          <p:nvSpPr>
            <p:cNvPr id="12" name="TextBox 12"/>
            <p:cNvSpPr txBox="1"/>
            <p:nvPr/>
          </p:nvSpPr>
          <p:spPr>
            <a:xfrm>
              <a:off x="1042797" y="2580799"/>
              <a:ext cx="2001266" cy="647890"/>
            </a:xfrm>
            <a:prstGeom prst="rect">
              <a:avLst/>
            </a:prstGeom>
            <a:noFill/>
            <a:ln>
              <a:noFill/>
            </a:ln>
          </p:spPr>
          <p:txBody>
            <a:bodyPr wrap="none" lIns="0" tIns="0" rIns="0" bIns="0" anchor="t" anchorCtr="0">
              <a:spAutoFit/>
            </a:bodyPr>
            <a:lstStyle/>
            <a:p>
              <a:pPr algn="l" marL="105791" indent="-105791">
                <a:lnSpc>
                  <a:spcPts val="1800"/>
                </a:lnSpc>
                <a:buClr>
                  <a:srgbClr val="3D241F"/>
                </a:buClr>
                <a:buSzTx/>
                <a:buFontTx/>
                <a:buChar char="•"/>
              </a:pPr>
              <a:r>
                <a:rPr lang="zh-CN" sz="980" dirty="0">
                  <a:solidFill>
                    <a:srgbClr val="3D241F"/>
                  </a:solidFill>
                  <a:latin typeface="+mn-lt"/>
                  <a:ea typeface="+mn-ea"/>
                  <a:cs typeface="+mn-cs"/>
                </a:rPr>
                <a:t>输入你的正文，文字是您思想的</a:t>
              </a:r>
              <a:br/>
              <a:r>
                <a:rPr lang="zh-CN" sz="980" dirty="0">
                  <a:solidFill>
                    <a:srgbClr val="3D241F"/>
                  </a:solidFill>
                  <a:latin typeface="+mn-lt"/>
                  <a:ea typeface="+mn-ea"/>
                  <a:cs typeface="+mn-cs"/>
                </a:rPr>
                <a:t xml:space="preserve">　提炼，为了最终演示的良好效果，</a:t>
              </a:r>
              <a:br/>
              <a:r>
                <a:rPr lang="zh-CN" sz="980" dirty="0">
                  <a:solidFill>
                    <a:srgbClr val="3D241F"/>
                  </a:solidFill>
                  <a:latin typeface="+mn-lt"/>
                  <a:ea typeface="+mn-ea"/>
                  <a:cs typeface="+mn-cs"/>
                </a:rPr>
                <a:t xml:space="preserve">　请尽量言简意赅的阐述观点</a:t>
              </a:r>
            </a:p>
          </p:txBody>
        </p:sp>
        <p:sp>
          <p:nvSpPr>
            <p:cNvPr id="13" name="TextBox 13"/>
            <p:cNvSpPr txBox="1"/>
            <p:nvPr/>
          </p:nvSpPr>
          <p:spPr>
            <a:xfrm>
              <a:off x="1042797" y="3457099"/>
              <a:ext cx="1876806" cy="419291"/>
            </a:xfrm>
            <a:prstGeom prst="rect">
              <a:avLst/>
            </a:prstGeom>
            <a:noFill/>
            <a:ln>
              <a:noFill/>
            </a:ln>
          </p:spPr>
          <p:txBody>
            <a:bodyPr wrap="none" lIns="0" tIns="0" rIns="0" bIns="0" anchor="t" anchorCtr="0">
              <a:spAutoFit/>
            </a:bodyPr>
            <a:lstStyle/>
            <a:p>
              <a:pPr algn="l" marL="105791" indent="-105791">
                <a:lnSpc>
                  <a:spcPts val="1800"/>
                </a:lnSpc>
                <a:buClr>
                  <a:srgbClr val="3D241F"/>
                </a:buClr>
                <a:buSzTx/>
                <a:buFontTx/>
                <a:buChar char="•"/>
              </a:pPr>
              <a:r>
                <a:rPr lang="zh-CN" sz="980" dirty="0">
                  <a:solidFill>
                    <a:srgbClr val="3D241F"/>
                  </a:solidFill>
                  <a:latin typeface="+mn-lt"/>
                  <a:ea typeface="+mn-ea"/>
                  <a:cs typeface="+mn-cs"/>
                </a:rPr>
                <a:t>根据需要酌情增减文字，以便观</a:t>
              </a:r>
              <a:br/>
              <a:r>
                <a:rPr lang="zh-CN" sz="980" dirty="0">
                  <a:solidFill>
                    <a:srgbClr val="3D241F"/>
                  </a:solidFill>
                  <a:latin typeface="+mn-lt"/>
                  <a:ea typeface="+mn-ea"/>
                  <a:cs typeface="+mn-cs"/>
                </a:rPr>
                <a:t xml:space="preserve">　者可以准确理解您所传达的信息</a:t>
              </a:r>
            </a:p>
          </p:txBody>
        </p:sp>
      </p:grpSp>
      <p:grpSp>
        <p:nvGrpSpPr>
          <p:cNvPr id="20" name="stage-2"/>
          <p:cNvGrpSpPr/>
          <p:nvPr/>
        </p:nvGrpSpPr>
        <p:grpSpPr>
          <a:xfrm>
            <a:off x="4505325" y="1631632"/>
            <a:ext cx="3181350" cy="2768918"/>
            <a:chOff x="4505325" y="1631632"/>
            <a:chExt cx="3181350" cy="2768918"/>
          </a:xfrm>
        </p:grpSpPr>
        <p:sp>
          <p:nvSpPr>
            <p:cNvPr id="15" name="TextBox 15"/>
            <p:cNvSpPr txBox="1"/>
            <p:nvPr/>
          </p:nvSpPr>
          <p:spPr>
            <a:xfrm>
              <a:off x="5643372" y="1631632"/>
              <a:ext cx="905256" cy="322707"/>
            </a:xfrm>
            <a:prstGeom prst="rect">
              <a:avLst/>
            </a:prstGeom>
            <a:noFill/>
            <a:ln>
              <a:noFill/>
            </a:ln>
          </p:spPr>
          <p:txBody>
            <a:bodyPr wrap="none" lIns="0" tIns="0" rIns="0" bIns="0" anchor="t" anchorCtr="0">
              <a:spAutoFit/>
            </a:bodyPr>
            <a:lstStyle/>
            <a:p>
              <a:pPr algn="ctr"/>
              <a:r>
                <a:rPr lang="zh-CN" sz="1650" b="1" dirty="0">
                  <a:solidFill>
                    <a:srgbClr val="E83F1D"/>
                  </a:solidFill>
                  <a:latin typeface="+mn-lt"/>
                  <a:ea typeface="+mn-ea"/>
                  <a:cs typeface="+mn-cs"/>
                </a:rPr>
                <a:t>第二阶段</a:t>
              </a:r>
            </a:p>
          </p:txBody>
        </p:sp>
        <p:sp>
          <p:nvSpPr>
            <p:cNvPr id="16" name="Line 16"/>
            <p:cNvSpPr/>
            <p:nvPr/>
          </p:nvSpPr>
          <p:spPr>
            <a:xfrm>
              <a:off x="4581525" y="2209800"/>
              <a:ext cx="3028950" cy="1"/>
            </a:xfrm>
            <a:prstGeom prst="line">
              <a:avLst/>
            </a:prstGeom>
            <a:noFill/>
            <a:ln w="19050">
              <a:solidFill>
                <a:srgbClr val="FA421D"/>
              </a:solidFill>
              <a:headEnd type="triangle" w="lg" len="lg"/>
              <a:tailEnd type="triangle" w="lg" len="lg"/>
            </a:ln>
          </p:spPr>
        </p:sp>
        <p:sp>
          <p:nvSpPr>
            <p:cNvPr id="17" name="Rectangle 17"/>
            <p:cNvSpPr/>
            <p:nvPr/>
          </p:nvSpPr>
          <p:spPr>
            <a:xfrm>
              <a:off x="4505325" y="2286000"/>
              <a:ext cx="3181350" cy="2114550"/>
            </a:xfrm>
            <a:prstGeom prst="roundRect">
              <a:avLst>
                <a:gd name="adj" fmla="val 3604"/>
              </a:avLst>
            </a:prstGeom>
            <a:gradFill>
              <a:gsLst>
                <a:gs pos="0">
                  <a:srgbClr val="E6EFFD"/>
                </a:gs>
                <a:gs pos="100000">
                  <a:srgbClr val="FBD2C9"/>
                </a:gs>
              </a:gsLst>
              <a:lin ang="5400000" scaled="1"/>
            </a:gradFill>
            <a:ln>
              <a:noFill/>
            </a:ln>
          </p:spPr>
        </p:sp>
        <p:sp>
          <p:nvSpPr>
            <p:cNvPr id="18" name="TextBox 18"/>
            <p:cNvSpPr txBox="1"/>
            <p:nvPr/>
          </p:nvSpPr>
          <p:spPr>
            <a:xfrm>
              <a:off x="4709922" y="2580799"/>
              <a:ext cx="2001266" cy="647890"/>
            </a:xfrm>
            <a:prstGeom prst="rect">
              <a:avLst/>
            </a:prstGeom>
            <a:noFill/>
            <a:ln>
              <a:noFill/>
            </a:ln>
          </p:spPr>
          <p:txBody>
            <a:bodyPr wrap="none" lIns="0" tIns="0" rIns="0" bIns="0" anchor="t" anchorCtr="0">
              <a:spAutoFit/>
            </a:bodyPr>
            <a:lstStyle/>
            <a:p>
              <a:pPr algn="l" marL="105791" indent="-105791">
                <a:lnSpc>
                  <a:spcPts val="1800"/>
                </a:lnSpc>
                <a:buClr>
                  <a:srgbClr val="3D241F"/>
                </a:buClr>
                <a:buSzTx/>
                <a:buFontTx/>
                <a:buChar char="•"/>
              </a:pPr>
              <a:r>
                <a:rPr lang="zh-CN" sz="980" dirty="0">
                  <a:solidFill>
                    <a:srgbClr val="3D241F"/>
                  </a:solidFill>
                  <a:latin typeface="+mn-lt"/>
                  <a:ea typeface="+mn-ea"/>
                  <a:cs typeface="+mn-cs"/>
                </a:rPr>
                <a:t>输入你的正文，文字是您思想的</a:t>
              </a:r>
              <a:br/>
              <a:r>
                <a:rPr lang="zh-CN" sz="980" dirty="0">
                  <a:solidFill>
                    <a:srgbClr val="3D241F"/>
                  </a:solidFill>
                  <a:latin typeface="+mn-lt"/>
                  <a:ea typeface="+mn-ea"/>
                  <a:cs typeface="+mn-cs"/>
                </a:rPr>
                <a:t xml:space="preserve">　提炼，为了最终演示的良好效果，</a:t>
              </a:r>
              <a:br/>
              <a:r>
                <a:rPr lang="zh-CN" sz="980" dirty="0">
                  <a:solidFill>
                    <a:srgbClr val="3D241F"/>
                  </a:solidFill>
                  <a:latin typeface="+mn-lt"/>
                  <a:ea typeface="+mn-ea"/>
                  <a:cs typeface="+mn-cs"/>
                </a:rPr>
                <a:t xml:space="preserve">　请尽量言简意赅的阐述观点</a:t>
              </a:r>
            </a:p>
          </p:txBody>
        </p:sp>
        <p:sp>
          <p:nvSpPr>
            <p:cNvPr id="19" name="TextBox 19"/>
            <p:cNvSpPr txBox="1"/>
            <p:nvPr/>
          </p:nvSpPr>
          <p:spPr>
            <a:xfrm>
              <a:off x="4709922" y="3457099"/>
              <a:ext cx="1876806" cy="419291"/>
            </a:xfrm>
            <a:prstGeom prst="rect">
              <a:avLst/>
            </a:prstGeom>
            <a:noFill/>
            <a:ln>
              <a:noFill/>
            </a:ln>
          </p:spPr>
          <p:txBody>
            <a:bodyPr wrap="none" lIns="0" tIns="0" rIns="0" bIns="0" anchor="t" anchorCtr="0">
              <a:spAutoFit/>
            </a:bodyPr>
            <a:lstStyle/>
            <a:p>
              <a:pPr algn="l" marL="105791" indent="-105791">
                <a:lnSpc>
                  <a:spcPts val="1800"/>
                </a:lnSpc>
                <a:buClr>
                  <a:srgbClr val="3D241F"/>
                </a:buClr>
                <a:buSzTx/>
                <a:buFontTx/>
                <a:buChar char="•"/>
              </a:pPr>
              <a:r>
                <a:rPr lang="zh-CN" sz="980" dirty="0">
                  <a:solidFill>
                    <a:srgbClr val="3D241F"/>
                  </a:solidFill>
                  <a:latin typeface="+mn-lt"/>
                  <a:ea typeface="+mn-ea"/>
                  <a:cs typeface="+mn-cs"/>
                </a:rPr>
                <a:t>根据需要酌情增减文字，以便观</a:t>
              </a:r>
              <a:br/>
              <a:r>
                <a:rPr lang="zh-CN" sz="980" dirty="0">
                  <a:solidFill>
                    <a:srgbClr val="3D241F"/>
                  </a:solidFill>
                  <a:latin typeface="+mn-lt"/>
                  <a:ea typeface="+mn-ea"/>
                  <a:cs typeface="+mn-cs"/>
                </a:rPr>
                <a:t xml:space="preserve">　者可以准确理解您所传达的信息</a:t>
              </a:r>
            </a:p>
          </p:txBody>
        </p:sp>
      </p:grpSp>
      <p:grpSp>
        <p:nvGrpSpPr>
          <p:cNvPr id="26" name="stage-3"/>
          <p:cNvGrpSpPr/>
          <p:nvPr/>
        </p:nvGrpSpPr>
        <p:grpSpPr>
          <a:xfrm>
            <a:off x="8172450" y="1631632"/>
            <a:ext cx="3181350" cy="2768918"/>
            <a:chOff x="8172450" y="1631632"/>
            <a:chExt cx="3181350" cy="2768918"/>
          </a:xfrm>
        </p:grpSpPr>
        <p:sp>
          <p:nvSpPr>
            <p:cNvPr id="21" name="TextBox 21"/>
            <p:cNvSpPr txBox="1"/>
            <p:nvPr/>
          </p:nvSpPr>
          <p:spPr>
            <a:xfrm>
              <a:off x="9310497" y="1631632"/>
              <a:ext cx="905256" cy="322707"/>
            </a:xfrm>
            <a:prstGeom prst="rect">
              <a:avLst/>
            </a:prstGeom>
            <a:noFill/>
            <a:ln>
              <a:noFill/>
            </a:ln>
          </p:spPr>
          <p:txBody>
            <a:bodyPr wrap="none" lIns="0" tIns="0" rIns="0" bIns="0" anchor="t" anchorCtr="0">
              <a:spAutoFit/>
            </a:bodyPr>
            <a:lstStyle/>
            <a:p>
              <a:pPr algn="ctr"/>
              <a:r>
                <a:rPr lang="zh-CN" sz="1650" b="1" dirty="0">
                  <a:solidFill>
                    <a:srgbClr val="E83F1D"/>
                  </a:solidFill>
                  <a:latin typeface="+mn-lt"/>
                  <a:ea typeface="+mn-ea"/>
                  <a:cs typeface="+mn-cs"/>
                </a:rPr>
                <a:t>第三阶段</a:t>
              </a:r>
            </a:p>
          </p:txBody>
        </p:sp>
        <p:sp>
          <p:nvSpPr>
            <p:cNvPr id="22" name="Line 22"/>
            <p:cNvSpPr/>
            <p:nvPr/>
          </p:nvSpPr>
          <p:spPr>
            <a:xfrm>
              <a:off x="8248650" y="2209800"/>
              <a:ext cx="3028950" cy="1"/>
            </a:xfrm>
            <a:prstGeom prst="line">
              <a:avLst/>
            </a:prstGeom>
            <a:noFill/>
            <a:ln w="19050">
              <a:solidFill>
                <a:srgbClr val="FA421D"/>
              </a:solidFill>
              <a:headEnd type="triangle" w="lg" len="lg"/>
              <a:tailEnd type="triangle" w="lg" len="lg"/>
            </a:ln>
          </p:spPr>
        </p:sp>
        <p:sp>
          <p:nvSpPr>
            <p:cNvPr id="23" name="Rectangle 23"/>
            <p:cNvSpPr/>
            <p:nvPr/>
          </p:nvSpPr>
          <p:spPr>
            <a:xfrm>
              <a:off x="8172450" y="2286000"/>
              <a:ext cx="3181350" cy="2114550"/>
            </a:xfrm>
            <a:prstGeom prst="roundRect">
              <a:avLst>
                <a:gd name="adj" fmla="val 3604"/>
              </a:avLst>
            </a:prstGeom>
            <a:gradFill>
              <a:gsLst>
                <a:gs pos="0">
                  <a:srgbClr val="E6EFFD"/>
                </a:gs>
                <a:gs pos="100000">
                  <a:srgbClr val="FBD2C9"/>
                </a:gs>
              </a:gsLst>
              <a:lin ang="5400000" scaled="1"/>
            </a:gradFill>
            <a:ln>
              <a:noFill/>
            </a:ln>
          </p:spPr>
        </p:sp>
        <p:sp>
          <p:nvSpPr>
            <p:cNvPr id="24" name="TextBox 24"/>
            <p:cNvSpPr txBox="1"/>
            <p:nvPr/>
          </p:nvSpPr>
          <p:spPr>
            <a:xfrm>
              <a:off x="8377047" y="2580799"/>
              <a:ext cx="2001266" cy="647890"/>
            </a:xfrm>
            <a:prstGeom prst="rect">
              <a:avLst/>
            </a:prstGeom>
            <a:noFill/>
            <a:ln>
              <a:noFill/>
            </a:ln>
          </p:spPr>
          <p:txBody>
            <a:bodyPr wrap="none" lIns="0" tIns="0" rIns="0" bIns="0" anchor="t" anchorCtr="0">
              <a:spAutoFit/>
            </a:bodyPr>
            <a:lstStyle/>
            <a:p>
              <a:pPr algn="l" marL="105791" indent="-105791">
                <a:lnSpc>
                  <a:spcPts val="1800"/>
                </a:lnSpc>
                <a:buClr>
                  <a:srgbClr val="3D241F"/>
                </a:buClr>
                <a:buSzTx/>
                <a:buFontTx/>
                <a:buChar char="•"/>
              </a:pPr>
              <a:r>
                <a:rPr lang="zh-CN" sz="980" dirty="0">
                  <a:solidFill>
                    <a:srgbClr val="3D241F"/>
                  </a:solidFill>
                  <a:latin typeface="+mn-lt"/>
                  <a:ea typeface="+mn-ea"/>
                  <a:cs typeface="+mn-cs"/>
                </a:rPr>
                <a:t>输入你的正文，文字是您思想的</a:t>
              </a:r>
              <a:br/>
              <a:r>
                <a:rPr lang="zh-CN" sz="980" dirty="0">
                  <a:solidFill>
                    <a:srgbClr val="3D241F"/>
                  </a:solidFill>
                  <a:latin typeface="+mn-lt"/>
                  <a:ea typeface="+mn-ea"/>
                  <a:cs typeface="+mn-cs"/>
                </a:rPr>
                <a:t xml:space="preserve">　提炼，为了最终演示的良好效果，</a:t>
              </a:r>
              <a:br/>
              <a:r>
                <a:rPr lang="zh-CN" sz="980" dirty="0">
                  <a:solidFill>
                    <a:srgbClr val="3D241F"/>
                  </a:solidFill>
                  <a:latin typeface="+mn-lt"/>
                  <a:ea typeface="+mn-ea"/>
                  <a:cs typeface="+mn-cs"/>
                </a:rPr>
                <a:t xml:space="preserve">　请尽量言简意赅的阐述观点</a:t>
              </a:r>
            </a:p>
          </p:txBody>
        </p:sp>
        <p:sp>
          <p:nvSpPr>
            <p:cNvPr id="25" name="TextBox 25"/>
            <p:cNvSpPr txBox="1"/>
            <p:nvPr/>
          </p:nvSpPr>
          <p:spPr>
            <a:xfrm>
              <a:off x="8377047" y="3457099"/>
              <a:ext cx="1876806" cy="419291"/>
            </a:xfrm>
            <a:prstGeom prst="rect">
              <a:avLst/>
            </a:prstGeom>
            <a:noFill/>
            <a:ln>
              <a:noFill/>
            </a:ln>
          </p:spPr>
          <p:txBody>
            <a:bodyPr wrap="none" lIns="0" tIns="0" rIns="0" bIns="0" anchor="t" anchorCtr="0">
              <a:spAutoFit/>
            </a:bodyPr>
            <a:lstStyle/>
            <a:p>
              <a:pPr algn="l" marL="105791" indent="-105791">
                <a:lnSpc>
                  <a:spcPts val="1800"/>
                </a:lnSpc>
                <a:buClr>
                  <a:srgbClr val="3D241F"/>
                </a:buClr>
                <a:buSzTx/>
                <a:buFontTx/>
                <a:buChar char="•"/>
              </a:pPr>
              <a:r>
                <a:rPr lang="zh-CN" sz="980" dirty="0">
                  <a:solidFill>
                    <a:srgbClr val="3D241F"/>
                  </a:solidFill>
                  <a:latin typeface="+mn-lt"/>
                  <a:ea typeface="+mn-ea"/>
                  <a:cs typeface="+mn-cs"/>
                </a:rPr>
                <a:t>根据需要酌情增减文字，以便观</a:t>
              </a:r>
              <a:br/>
              <a:r>
                <a:rPr lang="zh-CN" sz="980" dirty="0">
                  <a:solidFill>
                    <a:srgbClr val="3D241F"/>
                  </a:solidFill>
                  <a:latin typeface="+mn-lt"/>
                  <a:ea typeface="+mn-ea"/>
                  <a:cs typeface="+mn-cs"/>
                </a:rPr>
                <a:t xml:space="preserve">　者可以准确理解您所传达的信息</a:t>
              </a:r>
            </a:p>
          </p:txBody>
        </p:sp>
      </p:grpSp>
      <p:grpSp>
        <p:nvGrpSpPr>
          <p:cNvPr id="30" name="footer-card-1"/>
          <p:cNvGrpSpPr/>
          <p:nvPr/>
        </p:nvGrpSpPr>
        <p:grpSpPr>
          <a:xfrm>
            <a:off x="838200" y="5524500"/>
            <a:ext cx="3181350" cy="1066800"/>
            <a:chOff x="838200" y="5524500"/>
            <a:chExt cx="3181350" cy="1066800"/>
          </a:xfrm>
        </p:grpSpPr>
        <p:sp>
          <p:nvSpPr>
            <p:cNvPr id="27" name="Rectangle 27"/>
            <p:cNvSpPr/>
            <p:nvPr/>
          </p:nvSpPr>
          <p:spPr>
            <a:xfrm>
              <a:off x="838200" y="5524500"/>
              <a:ext cx="3181350" cy="1066800"/>
            </a:xfrm>
            <a:prstGeom prst="roundRect">
              <a:avLst>
                <a:gd name="adj" fmla="val 7143"/>
              </a:avLst>
            </a:prstGeom>
            <a:solidFill>
              <a:srgbClr val="FFFFFF">
                <a:alpha val="18000"/>
              </a:srgbClr>
            </a:solidFill>
            <a:ln w="9525">
              <a:solidFill>
                <a:srgbClr val="FFFFFF">
                  <a:alpha val="50000"/>
                </a:srgbClr>
              </a:solidFill>
            </a:ln>
          </p:spPr>
        </p:sp>
        <p:sp>
          <p:nvSpPr>
            <p:cNvPr id="28" name="TextBox 28"/>
            <p:cNvSpPr txBox="1"/>
            <p:nvPr/>
          </p:nvSpPr>
          <p:spPr>
            <a:xfrm>
              <a:off x="1022604" y="5718810"/>
              <a:ext cx="13045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点击输入您的标题</a:t>
              </a:r>
            </a:p>
          </p:txBody>
        </p:sp>
        <p:sp>
          <p:nvSpPr>
            <p:cNvPr id="29" name="TextBox 29"/>
            <p:cNvSpPr txBox="1"/>
            <p:nvPr/>
          </p:nvSpPr>
          <p:spPr>
            <a:xfrm>
              <a:off x="1023938" y="6045041"/>
              <a:ext cx="1884045" cy="352425"/>
            </a:xfrm>
            <a:prstGeom prst="rect">
              <a:avLst/>
            </a:prstGeom>
            <a:noFill/>
            <a:ln>
              <a:noFill/>
            </a:ln>
          </p:spPr>
          <p:txBody>
            <a:bodyPr wrap="none" lIns="0" tIns="0" rIns="0" bIns="0" anchor="t" anchorCtr="0">
              <a:spAutoFit/>
            </a:bodyPr>
            <a:lstStyle/>
            <a:p>
              <a:pPr algn="l">
                <a:lnSpc>
                  <a:spcPts val="1500"/>
                </a:lnSpc>
              </a:pPr>
              <a:r>
                <a:rPr lang="zh-CN" sz="820" dirty="0">
                  <a:solidFill>
                    <a:srgbClr val="FFFFFF"/>
                  </a:solidFill>
                  <a:latin typeface="+mn-lt"/>
                  <a:ea typeface="+mn-ea"/>
                  <a:cs typeface="+mn-cs"/>
                </a:rPr>
                <a:t>输入你的正文，文字是您思想的提炼，为</a:t>
              </a:r>
              <a:br/>
              <a:r>
                <a:rPr lang="zh-CN" sz="820" dirty="0">
                  <a:solidFill>
                    <a:srgbClr val="FFFFFF"/>
                  </a:solidFill>
                  <a:latin typeface="+mn-lt"/>
                  <a:ea typeface="+mn-ea"/>
                  <a:cs typeface="+mn-cs"/>
                </a:rPr>
                <a:t>了最终演示发布的良好效果</a:t>
              </a:r>
            </a:p>
          </p:txBody>
        </p:sp>
      </p:grpSp>
      <p:grpSp>
        <p:nvGrpSpPr>
          <p:cNvPr id="34" name="footer-card-2"/>
          <p:cNvGrpSpPr/>
          <p:nvPr/>
        </p:nvGrpSpPr>
        <p:grpSpPr>
          <a:xfrm>
            <a:off x="4505325" y="5524500"/>
            <a:ext cx="3181350" cy="1066800"/>
            <a:chOff x="4505325" y="5524500"/>
            <a:chExt cx="3181350" cy="1066800"/>
          </a:xfrm>
        </p:grpSpPr>
        <p:sp>
          <p:nvSpPr>
            <p:cNvPr id="31" name="Rectangle 31"/>
            <p:cNvSpPr/>
            <p:nvPr/>
          </p:nvSpPr>
          <p:spPr>
            <a:xfrm>
              <a:off x="4505325" y="5524500"/>
              <a:ext cx="3181350" cy="1066800"/>
            </a:xfrm>
            <a:prstGeom prst="roundRect">
              <a:avLst>
                <a:gd name="adj" fmla="val 7143"/>
              </a:avLst>
            </a:prstGeom>
            <a:solidFill>
              <a:srgbClr val="FFFFFF">
                <a:alpha val="18000"/>
              </a:srgbClr>
            </a:solidFill>
            <a:ln w="9525">
              <a:solidFill>
                <a:srgbClr val="FFFFFF">
                  <a:alpha val="50000"/>
                </a:srgbClr>
              </a:solidFill>
            </a:ln>
          </p:spPr>
        </p:sp>
        <p:sp>
          <p:nvSpPr>
            <p:cNvPr id="32" name="TextBox 32"/>
            <p:cNvSpPr txBox="1"/>
            <p:nvPr/>
          </p:nvSpPr>
          <p:spPr>
            <a:xfrm>
              <a:off x="4689729" y="5718810"/>
              <a:ext cx="13045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点击输入您的标题</a:t>
              </a:r>
            </a:p>
          </p:txBody>
        </p:sp>
        <p:sp>
          <p:nvSpPr>
            <p:cNvPr id="33" name="TextBox 33"/>
            <p:cNvSpPr txBox="1"/>
            <p:nvPr/>
          </p:nvSpPr>
          <p:spPr>
            <a:xfrm>
              <a:off x="4691062" y="6045041"/>
              <a:ext cx="1884045" cy="352425"/>
            </a:xfrm>
            <a:prstGeom prst="rect">
              <a:avLst/>
            </a:prstGeom>
            <a:noFill/>
            <a:ln>
              <a:noFill/>
            </a:ln>
          </p:spPr>
          <p:txBody>
            <a:bodyPr wrap="none" lIns="0" tIns="0" rIns="0" bIns="0" anchor="t" anchorCtr="0">
              <a:spAutoFit/>
            </a:bodyPr>
            <a:lstStyle/>
            <a:p>
              <a:pPr algn="l">
                <a:lnSpc>
                  <a:spcPts val="1500"/>
                </a:lnSpc>
              </a:pPr>
              <a:r>
                <a:rPr lang="zh-CN" sz="820" dirty="0">
                  <a:solidFill>
                    <a:srgbClr val="FFFFFF"/>
                  </a:solidFill>
                  <a:latin typeface="+mn-lt"/>
                  <a:ea typeface="+mn-ea"/>
                  <a:cs typeface="+mn-cs"/>
                </a:rPr>
                <a:t>输入你的正文，文字是您思想的提炼，为</a:t>
              </a:r>
              <a:br/>
              <a:r>
                <a:rPr lang="zh-CN" sz="820" dirty="0">
                  <a:solidFill>
                    <a:srgbClr val="FFFFFF"/>
                  </a:solidFill>
                  <a:latin typeface="+mn-lt"/>
                  <a:ea typeface="+mn-ea"/>
                  <a:cs typeface="+mn-cs"/>
                </a:rPr>
                <a:t>了最终演示发布的良好效果</a:t>
              </a:r>
            </a:p>
          </p:txBody>
        </p:sp>
      </p:grpSp>
      <p:grpSp>
        <p:nvGrpSpPr>
          <p:cNvPr id="38" name="footer-card-3"/>
          <p:cNvGrpSpPr/>
          <p:nvPr/>
        </p:nvGrpSpPr>
        <p:grpSpPr>
          <a:xfrm>
            <a:off x="8172450" y="5524500"/>
            <a:ext cx="3181350" cy="1066800"/>
            <a:chOff x="8172450" y="5524500"/>
            <a:chExt cx="3181350" cy="1066800"/>
          </a:xfrm>
        </p:grpSpPr>
        <p:sp>
          <p:nvSpPr>
            <p:cNvPr id="35" name="Rectangle 35"/>
            <p:cNvSpPr/>
            <p:nvPr/>
          </p:nvSpPr>
          <p:spPr>
            <a:xfrm>
              <a:off x="8172450" y="5524500"/>
              <a:ext cx="3181350" cy="1066800"/>
            </a:xfrm>
            <a:prstGeom prst="roundRect">
              <a:avLst>
                <a:gd name="adj" fmla="val 7143"/>
              </a:avLst>
            </a:prstGeom>
            <a:solidFill>
              <a:srgbClr val="FFFFFF">
                <a:alpha val="18000"/>
              </a:srgbClr>
            </a:solidFill>
            <a:ln w="9525">
              <a:solidFill>
                <a:srgbClr val="FFFFFF">
                  <a:alpha val="50000"/>
                </a:srgbClr>
              </a:solidFill>
            </a:ln>
          </p:spPr>
        </p:sp>
        <p:sp>
          <p:nvSpPr>
            <p:cNvPr id="36" name="TextBox 36"/>
            <p:cNvSpPr txBox="1"/>
            <p:nvPr/>
          </p:nvSpPr>
          <p:spPr>
            <a:xfrm>
              <a:off x="8356854" y="5718810"/>
              <a:ext cx="13045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点击输入您的标题</a:t>
              </a:r>
            </a:p>
          </p:txBody>
        </p:sp>
        <p:sp>
          <p:nvSpPr>
            <p:cNvPr id="37" name="TextBox 37"/>
            <p:cNvSpPr txBox="1"/>
            <p:nvPr/>
          </p:nvSpPr>
          <p:spPr>
            <a:xfrm>
              <a:off x="8358188" y="6045041"/>
              <a:ext cx="1884045" cy="352425"/>
            </a:xfrm>
            <a:prstGeom prst="rect">
              <a:avLst/>
            </a:prstGeom>
            <a:noFill/>
            <a:ln>
              <a:noFill/>
            </a:ln>
          </p:spPr>
          <p:txBody>
            <a:bodyPr wrap="none" lIns="0" tIns="0" rIns="0" bIns="0" anchor="t" anchorCtr="0">
              <a:spAutoFit/>
            </a:bodyPr>
            <a:lstStyle/>
            <a:p>
              <a:pPr algn="l">
                <a:lnSpc>
                  <a:spcPts val="1500"/>
                </a:lnSpc>
              </a:pPr>
              <a:r>
                <a:rPr lang="zh-CN" sz="820" dirty="0">
                  <a:solidFill>
                    <a:srgbClr val="FFFFFF"/>
                  </a:solidFill>
                  <a:latin typeface="+mn-lt"/>
                  <a:ea typeface="+mn-ea"/>
                  <a:cs typeface="+mn-cs"/>
                </a:rPr>
                <a:t>输入你的正文，文字是您思想的提炼，为</a:t>
              </a:r>
              <a:br/>
              <a:r>
                <a:rPr lang="zh-CN" sz="820" dirty="0">
                  <a:solidFill>
                    <a:srgbClr val="FFFFFF"/>
                  </a:solidFill>
                  <a:latin typeface="+mn-lt"/>
                  <a:ea typeface="+mn-ea"/>
                  <a:cs typeface="+mn-cs"/>
                </a:rPr>
                <a:t>了最终演示发布的良好效果</a:t>
              </a:r>
            </a:p>
          </p:txBody>
        </p:sp>
      </p:gr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ring-outer"/>
          <p:cNvSpPr/>
          <p:nvPr/>
        </p:nvSpPr>
        <p:spPr>
          <a:xfrm>
            <a:off x="762000" y="4533900"/>
            <a:ext cx="10668000" cy="1828800"/>
          </a:xfrm>
          <a:prstGeom prst="ellipse">
            <a:avLst/>
          </a:prstGeom>
          <a:gradFill>
            <a:gsLst>
              <a:gs pos="0">
                <a:srgbClr val="DCE9FC"/>
              </a:gs>
              <a:gs pos="100000">
                <a:srgbClr val="FDA28F"/>
              </a:gs>
            </a:gsLst>
            <a:lin ang="5400000" scaled="1"/>
          </a:gradFill>
          <a:ln>
            <a:noFill/>
          </a:ln>
        </p:spPr>
      </p:sp>
      <p:sp>
        <p:nvSpPr>
          <p:cNvPr id="3" name="deco-ring-inner"/>
          <p:cNvSpPr/>
          <p:nvPr/>
        </p:nvSpPr>
        <p:spPr>
          <a:xfrm>
            <a:off x="1809750" y="4762500"/>
            <a:ext cx="8572500" cy="1295400"/>
          </a:xfrm>
          <a:prstGeom prst="ellipse">
            <a:avLst/>
          </a:prstGeom>
          <a:solidFill>
            <a:srgbClr val="F0F6FE"/>
          </a:solidFill>
          <a:ln>
            <a:noFill/>
          </a:ln>
        </p:spPr>
      </p:sp>
      <p:grpSp>
        <p:nvGrpSpPr>
          <p:cNvPr id="8" name="header"/>
          <p:cNvGrpSpPr/>
          <p:nvPr/>
        </p:nvGrpSpPr>
        <p:grpSpPr>
          <a:xfrm>
            <a:off x="0" y="0"/>
            <a:ext cx="12192000" cy="551879"/>
            <a:chOff x="0" y="0"/>
            <a:chExt cx="12192000" cy="551879"/>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5" name="TextBox 5"/>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11</a:t>
              </a:r>
            </a:p>
          </p:txBody>
        </p:sp>
        <p:sp>
          <p:nvSpPr>
            <p:cNvPr id="6" name="TextBox 6"/>
            <p:cNvSpPr txBox="1"/>
            <p:nvPr/>
          </p:nvSpPr>
          <p:spPr>
            <a:xfrm>
              <a:off x="904494" y="170498"/>
              <a:ext cx="2961882"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运营推广计划 - 前期工作</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9" name="center-circle"/>
          <p:cNvGrpSpPr/>
          <p:nvPr/>
        </p:nvGrpSpPr>
        <p:grpSpPr>
          <a:xfrm>
            <a:off x="4286250" y="2667000"/>
            <a:ext cx="3619500" cy="3619500"/>
            <a:chOff x="4286250" y="2667000"/>
            <a:chExt cx="3619500" cy="3619500"/>
          </a:xfrm>
        </p:grpSpPr>
        <p:sp>
          <p:nvSpPr>
            <p:cNvPr id="9" name="Ellipse 9"/>
            <p:cNvSpPr/>
            <p:nvPr/>
          </p:nvSpPr>
          <p:spPr>
            <a:xfrm>
              <a:off x="4286250" y="2667000"/>
              <a:ext cx="3619500" cy="3619500"/>
            </a:xfrm>
            <a:prstGeom prst="ellipse">
              <a:avLst/>
            </a:prstGeom>
            <a:gradFill>
              <a:gsLst>
                <a:gs pos="0">
                  <a:srgbClr val="FC937D"/>
                </a:gs>
                <a:gs pos="100000">
                  <a:srgbClr val="FA421D"/>
                </a:gs>
              </a:gsLst>
              <a:lin ang="5400000" scaled="1"/>
            </a:gradFill>
            <a:ln>
              <a:noFill/>
            </a:ln>
          </p:spPr>
        </p:sp>
        <p:grpSp>
          <p:nvGrpSpPr>
            <p:cNvPr id="16" name="Group 16"/>
            <p:cNvGrpSpPr/>
            <p:nvPr/>
          </p:nvGrpSpPr>
          <p:grpSpPr>
            <a:xfrm>
              <a:off x="5838825" y="3324225"/>
              <a:ext cx="514350" cy="514350"/>
              <a:chOff x="5838825" y="3324225"/>
              <a:chExt cx="514350" cy="514350"/>
            </a:xfrm>
          </p:grpSpPr>
          <p:sp>
            <p:nvSpPr>
              <p:cNvPr id="10" name="Freeform 10"/>
              <p:cNvSpPr/>
              <p:nvPr/>
            </p:nvSpPr>
            <p:spPr>
              <a:xfrm>
                <a:off x="6038850" y="35528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42862">
                <a:solidFill>
                  <a:srgbClr val="FFFFFF"/>
                </a:solidFill>
              </a:ln>
            </p:spPr>
          </p:sp>
          <p:sp>
            <p:nvSpPr>
              <p:cNvPr id="11" name="Freeform 11"/>
              <p:cNvSpPr/>
              <p:nvPr/>
            </p:nvSpPr>
            <p:spPr>
              <a:xfrm>
                <a:off x="5981700" y="3752850"/>
                <a:ext cx="228600" cy="85725"/>
              </a:xfrm>
              <a:custGeom>
                <a:avLst/>
                <a:gdLst/>
                <a:ahLst/>
                <a:cxnLst/>
                <a:rect l="l" t="t" r="r" b="b"/>
                <a:pathLst>
                  <a:path w="228600" h="85725">
                    <a:moveTo>
                      <a:pt x="0" y="85725"/>
                    </a:moveTo>
                    <a:lnTo>
                      <a:pt x="0" y="57150"/>
                    </a:lnTo>
                    <a:cubicBezTo>
                      <a:pt x="0" y="25587"/>
                      <a:pt x="25587" y="0"/>
                      <a:pt x="57150" y="0"/>
                    </a:cubicBezTo>
                    <a:lnTo>
                      <a:pt x="171450" y="0"/>
                    </a:lnTo>
                    <a:cubicBezTo>
                      <a:pt x="203013" y="0"/>
                      <a:pt x="228600" y="25587"/>
                      <a:pt x="228600" y="57150"/>
                    </a:cubicBezTo>
                    <a:lnTo>
                      <a:pt x="228600" y="85725"/>
                    </a:lnTo>
                  </a:path>
                </a:pathLst>
              </a:custGeom>
              <a:noFill/>
              <a:ln w="42862">
                <a:solidFill>
                  <a:srgbClr val="FFFFFF"/>
                </a:solidFill>
              </a:ln>
            </p:spPr>
          </p:sp>
          <p:sp>
            <p:nvSpPr>
              <p:cNvPr id="12" name="Freeform 12"/>
              <p:cNvSpPr/>
              <p:nvPr/>
            </p:nvSpPr>
            <p:spPr>
              <a:xfrm>
                <a:off x="6181725" y="33242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42862">
                <a:solidFill>
                  <a:srgbClr val="FFFFFF"/>
                </a:solidFill>
              </a:ln>
            </p:spPr>
          </p:sp>
          <p:sp>
            <p:nvSpPr>
              <p:cNvPr id="13" name="Freeform 13"/>
              <p:cNvSpPr/>
              <p:nvPr/>
            </p:nvSpPr>
            <p:spPr>
              <a:xfrm>
                <a:off x="6238875" y="3524250"/>
                <a:ext cx="114300" cy="85725"/>
              </a:xfrm>
              <a:custGeom>
                <a:avLst/>
                <a:gdLst/>
                <a:ahLst/>
                <a:cxnLst/>
                <a:rect l="l" t="t" r="r" b="b"/>
                <a:pathLst>
                  <a:path w="114300" h="85725">
                    <a:moveTo>
                      <a:pt x="0" y="0"/>
                    </a:moveTo>
                    <a:lnTo>
                      <a:pt x="57150" y="0"/>
                    </a:lnTo>
                    <a:cubicBezTo>
                      <a:pt x="88713" y="0"/>
                      <a:pt x="114300" y="25587"/>
                      <a:pt x="114300" y="57150"/>
                    </a:cubicBezTo>
                    <a:lnTo>
                      <a:pt x="114300" y="85725"/>
                    </a:lnTo>
                  </a:path>
                </a:pathLst>
              </a:custGeom>
              <a:noFill/>
              <a:ln w="42862">
                <a:solidFill>
                  <a:srgbClr val="FFFFFF"/>
                </a:solidFill>
              </a:ln>
            </p:spPr>
          </p:sp>
          <p:sp>
            <p:nvSpPr>
              <p:cNvPr id="14" name="Freeform 14"/>
              <p:cNvSpPr/>
              <p:nvPr/>
            </p:nvSpPr>
            <p:spPr>
              <a:xfrm>
                <a:off x="5895975" y="33242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42862">
                <a:solidFill>
                  <a:srgbClr val="FFFFFF"/>
                </a:solidFill>
              </a:ln>
            </p:spPr>
          </p:sp>
          <p:sp>
            <p:nvSpPr>
              <p:cNvPr id="15" name="Freeform 15"/>
              <p:cNvSpPr/>
              <p:nvPr/>
            </p:nvSpPr>
            <p:spPr>
              <a:xfrm>
                <a:off x="5838825" y="3524250"/>
                <a:ext cx="114300" cy="85725"/>
              </a:xfrm>
              <a:custGeom>
                <a:avLst/>
                <a:gdLst/>
                <a:ahLst/>
                <a:cxnLst/>
                <a:rect l="l" t="t" r="r" b="b"/>
                <a:pathLst>
                  <a:path w="114300" h="85725">
                    <a:moveTo>
                      <a:pt x="0" y="85725"/>
                    </a:moveTo>
                    <a:lnTo>
                      <a:pt x="0" y="57150"/>
                    </a:lnTo>
                    <a:cubicBezTo>
                      <a:pt x="0" y="25587"/>
                      <a:pt x="25587" y="0"/>
                      <a:pt x="57150" y="0"/>
                    </a:cubicBezTo>
                    <a:lnTo>
                      <a:pt x="114300" y="0"/>
                    </a:lnTo>
                  </a:path>
                </a:pathLst>
              </a:custGeom>
              <a:noFill/>
              <a:ln w="42862">
                <a:solidFill>
                  <a:srgbClr val="FFFFFF"/>
                </a:solidFill>
              </a:ln>
            </p:spPr>
          </p:sp>
        </p:grpSp>
        <p:sp>
          <p:nvSpPr>
            <p:cNvPr id="17" name="TextBox 17"/>
            <p:cNvSpPr txBox="1"/>
            <p:nvPr/>
          </p:nvSpPr>
          <p:spPr>
            <a:xfrm>
              <a:off x="5114544" y="4408170"/>
              <a:ext cx="1962912" cy="469392"/>
            </a:xfrm>
            <a:prstGeom prst="rect">
              <a:avLst/>
            </a:prstGeom>
            <a:noFill/>
            <a:ln>
              <a:noFill/>
            </a:ln>
          </p:spPr>
          <p:txBody>
            <a:bodyPr wrap="none" lIns="0" tIns="0" rIns="0" bIns="0" anchor="t" anchorCtr="0">
              <a:spAutoFit/>
            </a:bodyPr>
            <a:lstStyle/>
            <a:p>
              <a:pPr algn="ctr"/>
              <a:r>
                <a:rPr lang="zh-CN" sz="2400" b="1" dirty="0">
                  <a:solidFill>
                    <a:srgbClr val="FFFFFF"/>
                  </a:solidFill>
                  <a:latin typeface="+mn-lt"/>
                  <a:ea typeface="+mn-ea"/>
                  <a:cs typeface="+mn-cs"/>
                </a:rPr>
                <a:t>项目人员安排</a:t>
              </a:r>
            </a:p>
          </p:txBody>
        </p:sp>
        <p:sp>
          <p:nvSpPr>
            <p:cNvPr id="18" name="TextBox 18"/>
            <p:cNvSpPr txBox="1"/>
            <p:nvPr/>
          </p:nvSpPr>
          <p:spPr>
            <a:xfrm>
              <a:off x="5411800" y="4850606"/>
              <a:ext cx="1368400"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文字是您思想的提炼</a:t>
              </a:r>
            </a:p>
          </p:txBody>
        </p:sp>
      </p:grpSp>
      <p:grpSp>
        <p:nvGrpSpPr>
          <p:cNvPr id="26" name="item-01"/>
          <p:cNvGrpSpPr/>
          <p:nvPr/>
        </p:nvGrpSpPr>
        <p:grpSpPr>
          <a:xfrm>
            <a:off x="2819400" y="1485900"/>
            <a:ext cx="2571750" cy="1180862"/>
            <a:chOff x="2819400" y="1485900"/>
            <a:chExt cx="2571750" cy="1180862"/>
          </a:xfrm>
        </p:grpSpPr>
        <p:sp>
          <p:nvSpPr>
            <p:cNvPr id="20" name="Rectangle 20"/>
            <p:cNvSpPr/>
            <p:nvPr/>
          </p:nvSpPr>
          <p:spPr>
            <a:xfrm>
              <a:off x="2819400" y="1524000"/>
              <a:ext cx="2476500" cy="495300"/>
            </a:xfrm>
            <a:prstGeom prst="roundRect">
              <a:avLst>
                <a:gd name="adj" fmla="val 50000"/>
              </a:avLst>
            </a:prstGeom>
            <a:solidFill>
              <a:srgbClr val="FFFFFF"/>
            </a:solidFill>
            <a:ln w="14288">
              <a:solidFill>
                <a:srgbClr val="FCC6BB"/>
              </a:solidFill>
            </a:ln>
          </p:spPr>
        </p:sp>
        <p:sp>
          <p:nvSpPr>
            <p:cNvPr id="21" name="TextBox 21"/>
            <p:cNvSpPr txBox="1"/>
            <p:nvPr/>
          </p:nvSpPr>
          <p:spPr>
            <a:xfrm>
              <a:off x="3123794" y="1700689"/>
              <a:ext cx="1391463" cy="249364"/>
            </a:xfrm>
            <a:prstGeom prst="rect">
              <a:avLst/>
            </a:prstGeom>
            <a:noFill/>
            <a:ln>
              <a:noFill/>
            </a:ln>
          </p:spPr>
          <p:txBody>
            <a:bodyPr wrap="none" lIns="0" tIns="0" rIns="0" bIns="0" anchor="t" anchorCtr="0">
              <a:spAutoFit/>
            </a:bodyPr>
            <a:lstStyle/>
            <a:p>
              <a:pPr algn="ctr"/>
              <a:r>
                <a:rPr lang="zh-CN" sz="1280" dirty="0">
                  <a:solidFill>
                    <a:srgbClr val="E83F1D"/>
                  </a:solidFill>
                  <a:latin typeface="+mn-lt"/>
                  <a:ea typeface="+mn-ea"/>
                  <a:cs typeface="+mn-cs"/>
                </a:rPr>
                <a:t>点击此处添加标题</a:t>
              </a:r>
            </a:p>
          </p:txBody>
        </p:sp>
        <p:sp>
          <p:nvSpPr>
            <p:cNvPr id="22" name="Ellipse 22"/>
            <p:cNvSpPr/>
            <p:nvPr/>
          </p:nvSpPr>
          <p:spPr>
            <a:xfrm>
              <a:off x="4819650" y="1485900"/>
              <a:ext cx="571500" cy="571500"/>
            </a:xfrm>
            <a:prstGeom prst="ellipse">
              <a:avLst/>
            </a:prstGeom>
            <a:gradFill>
              <a:gsLst>
                <a:gs pos="0">
                  <a:srgbClr val="FB684A"/>
                </a:gs>
                <a:gs pos="100000">
                  <a:srgbClr val="FA421D"/>
                </a:gs>
              </a:gsLst>
              <a:lin ang="5400000" scaled="1"/>
            </a:gradFill>
            <a:ln>
              <a:noFill/>
            </a:ln>
          </p:spPr>
        </p:sp>
        <p:sp>
          <p:nvSpPr>
            <p:cNvPr id="23" name="TextBox 23"/>
            <p:cNvSpPr txBox="1"/>
            <p:nvPr/>
          </p:nvSpPr>
          <p:spPr>
            <a:xfrm>
              <a:off x="4993589" y="1692592"/>
              <a:ext cx="223622"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01</a:t>
              </a:r>
            </a:p>
          </p:txBody>
        </p:sp>
        <p:sp>
          <p:nvSpPr>
            <p:cNvPr id="24" name="TextBox 24"/>
            <p:cNvSpPr txBox="1"/>
            <p:nvPr/>
          </p:nvSpPr>
          <p:spPr>
            <a:xfrm>
              <a:off x="4537481" y="2161699"/>
              <a:ext cx="801472" cy="190690"/>
            </a:xfrm>
            <a:prstGeom prst="rect">
              <a:avLst/>
            </a:prstGeom>
            <a:noFill/>
            <a:ln>
              <a:noFill/>
            </a:ln>
          </p:spPr>
          <p:txBody>
            <a:bodyPr wrap="none" lIns="0" tIns="0" rIns="0" bIns="0" anchor="t" anchorCtr="0">
              <a:spAutoFit/>
            </a:bodyPr>
            <a:lstStyle/>
            <a:p>
              <a:pPr algn="r"/>
              <a:r>
                <a:rPr lang="zh-CN" sz="980" dirty="0">
                  <a:solidFill>
                    <a:srgbClr val="80615B"/>
                  </a:solidFill>
                  <a:latin typeface="+mn-lt"/>
                  <a:ea typeface="+mn-ea"/>
                  <a:cs typeface="+mn-cs"/>
                </a:rPr>
                <a:t>点击添加标题</a:t>
              </a:r>
            </a:p>
          </p:txBody>
        </p:sp>
        <p:sp>
          <p:nvSpPr>
            <p:cNvPr id="25" name="TextBox 25"/>
            <p:cNvSpPr txBox="1"/>
            <p:nvPr/>
          </p:nvSpPr>
          <p:spPr>
            <a:xfrm>
              <a:off x="3800158" y="2345293"/>
              <a:ext cx="1538605" cy="321469"/>
            </a:xfrm>
            <a:prstGeom prst="rect">
              <a:avLst/>
            </a:prstGeom>
            <a:noFill/>
            <a:ln>
              <a:noFill/>
            </a:ln>
          </p:spPr>
          <p:txBody>
            <a:bodyPr wrap="none" lIns="0" tIns="0" rIns="0" bIns="0" anchor="t" anchorCtr="0">
              <a:spAutoFit/>
            </a:bodyPr>
            <a:lstStyle/>
            <a:p>
              <a:pPr algn="r">
                <a:lnSpc>
                  <a:spcPts val="1200"/>
                </a:lnSpc>
              </a:pPr>
              <a:r>
                <a:rPr lang="zh-CN" sz="860" dirty="0">
                  <a:solidFill>
                    <a:srgbClr val="3D241F"/>
                  </a:solidFill>
                  <a:latin typeface="+mn-lt"/>
                  <a:ea typeface="+mn-ea"/>
                  <a:cs typeface="+mn-cs"/>
                </a:rPr>
                <a:t>输入你的正文，文字是您思想的</a:t>
              </a:r>
              <a:br/>
              <a:r>
                <a:rPr lang="zh-CN" sz="860" dirty="0">
                  <a:solidFill>
                    <a:srgbClr val="3D241F"/>
                  </a:solidFill>
                  <a:latin typeface="+mn-lt"/>
                  <a:ea typeface="+mn-ea"/>
                  <a:cs typeface="+mn-cs"/>
                </a:rPr>
                <a:t>提炼，为了最终演示的良好效果</a:t>
              </a:r>
            </a:p>
          </p:txBody>
        </p:sp>
      </p:grpSp>
      <p:grpSp>
        <p:nvGrpSpPr>
          <p:cNvPr id="33" name="item-02"/>
          <p:cNvGrpSpPr/>
          <p:nvPr/>
        </p:nvGrpSpPr>
        <p:grpSpPr>
          <a:xfrm>
            <a:off x="6800850" y="1485900"/>
            <a:ext cx="2571750" cy="1180862"/>
            <a:chOff x="6800850" y="1485900"/>
            <a:chExt cx="2571750" cy="1180862"/>
          </a:xfrm>
        </p:grpSpPr>
        <p:sp>
          <p:nvSpPr>
            <p:cNvPr id="27" name="Rectangle 27"/>
            <p:cNvSpPr/>
            <p:nvPr/>
          </p:nvSpPr>
          <p:spPr>
            <a:xfrm>
              <a:off x="6896100" y="1524000"/>
              <a:ext cx="2476500" cy="495300"/>
            </a:xfrm>
            <a:prstGeom prst="roundRect">
              <a:avLst>
                <a:gd name="adj" fmla="val 50000"/>
              </a:avLst>
            </a:prstGeom>
            <a:solidFill>
              <a:srgbClr val="FFFFFF"/>
            </a:solidFill>
            <a:ln w="14288">
              <a:solidFill>
                <a:srgbClr val="FCC6BB"/>
              </a:solidFill>
            </a:ln>
          </p:spPr>
        </p:sp>
        <p:sp>
          <p:nvSpPr>
            <p:cNvPr id="28" name="TextBox 28"/>
            <p:cNvSpPr txBox="1"/>
            <p:nvPr/>
          </p:nvSpPr>
          <p:spPr>
            <a:xfrm>
              <a:off x="7676744" y="1700689"/>
              <a:ext cx="1391463" cy="249364"/>
            </a:xfrm>
            <a:prstGeom prst="rect">
              <a:avLst/>
            </a:prstGeom>
            <a:noFill/>
            <a:ln>
              <a:noFill/>
            </a:ln>
          </p:spPr>
          <p:txBody>
            <a:bodyPr wrap="none" lIns="0" tIns="0" rIns="0" bIns="0" anchor="t" anchorCtr="0">
              <a:spAutoFit/>
            </a:bodyPr>
            <a:lstStyle/>
            <a:p>
              <a:pPr algn="ctr"/>
              <a:r>
                <a:rPr lang="zh-CN" sz="1280" dirty="0">
                  <a:solidFill>
                    <a:srgbClr val="E83F1D"/>
                  </a:solidFill>
                  <a:latin typeface="+mn-lt"/>
                  <a:ea typeface="+mn-ea"/>
                  <a:cs typeface="+mn-cs"/>
                </a:rPr>
                <a:t>点击此处添加标题</a:t>
              </a:r>
            </a:p>
          </p:txBody>
        </p:sp>
        <p:sp>
          <p:nvSpPr>
            <p:cNvPr id="29" name="Ellipse 29"/>
            <p:cNvSpPr/>
            <p:nvPr/>
          </p:nvSpPr>
          <p:spPr>
            <a:xfrm>
              <a:off x="6800850" y="1485900"/>
              <a:ext cx="571500" cy="571500"/>
            </a:xfrm>
            <a:prstGeom prst="ellipse">
              <a:avLst/>
            </a:prstGeom>
            <a:gradFill>
              <a:gsLst>
                <a:gs pos="0">
                  <a:srgbClr val="FB684A"/>
                </a:gs>
                <a:gs pos="100000">
                  <a:srgbClr val="FA421D"/>
                </a:gs>
              </a:gsLst>
              <a:lin ang="5400000" scaled="1"/>
            </a:gradFill>
            <a:ln>
              <a:noFill/>
            </a:ln>
          </p:spPr>
        </p:sp>
        <p:sp>
          <p:nvSpPr>
            <p:cNvPr id="30" name="TextBox 30"/>
            <p:cNvSpPr txBox="1"/>
            <p:nvPr/>
          </p:nvSpPr>
          <p:spPr>
            <a:xfrm>
              <a:off x="6974789" y="1692592"/>
              <a:ext cx="223622"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02</a:t>
              </a:r>
            </a:p>
          </p:txBody>
        </p:sp>
        <p:sp>
          <p:nvSpPr>
            <p:cNvPr id="31" name="TextBox 31"/>
            <p:cNvSpPr txBox="1"/>
            <p:nvPr/>
          </p:nvSpPr>
          <p:spPr>
            <a:xfrm>
              <a:off x="7157847" y="2161699"/>
              <a:ext cx="801472" cy="190690"/>
            </a:xfrm>
            <a:prstGeom prst="rect">
              <a:avLst/>
            </a:prstGeom>
            <a:noFill/>
            <a:ln>
              <a:noFill/>
            </a:ln>
          </p:spPr>
          <p:txBody>
            <a:bodyPr wrap="none" lIns="0" tIns="0" rIns="0" bIns="0" anchor="t" anchorCtr="0">
              <a:spAutoFit/>
            </a:bodyPr>
            <a:lstStyle/>
            <a:p>
              <a:pPr algn="l"/>
              <a:r>
                <a:rPr lang="zh-CN" sz="980" dirty="0">
                  <a:solidFill>
                    <a:srgbClr val="80615B"/>
                  </a:solidFill>
                  <a:latin typeface="+mn-lt"/>
                  <a:ea typeface="+mn-ea"/>
                  <a:cs typeface="+mn-cs"/>
                </a:rPr>
                <a:t>点击添加标题</a:t>
              </a:r>
            </a:p>
          </p:txBody>
        </p:sp>
        <p:sp>
          <p:nvSpPr>
            <p:cNvPr id="32" name="TextBox 32"/>
            <p:cNvSpPr txBox="1"/>
            <p:nvPr/>
          </p:nvSpPr>
          <p:spPr>
            <a:xfrm>
              <a:off x="7158038" y="2345293"/>
              <a:ext cx="153860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输入你的正文，文字是您思想的</a:t>
              </a:r>
              <a:br/>
              <a:r>
                <a:rPr lang="zh-CN" sz="860" dirty="0">
                  <a:solidFill>
                    <a:srgbClr val="3D241F"/>
                  </a:solidFill>
                  <a:latin typeface="+mn-lt"/>
                  <a:ea typeface="+mn-ea"/>
                  <a:cs typeface="+mn-cs"/>
                </a:rPr>
                <a:t>提炼，为了最终演示的良好效果</a:t>
              </a:r>
            </a:p>
          </p:txBody>
        </p:sp>
      </p:grpSp>
      <p:grpSp>
        <p:nvGrpSpPr>
          <p:cNvPr id="40" name="item-03"/>
          <p:cNvGrpSpPr/>
          <p:nvPr/>
        </p:nvGrpSpPr>
        <p:grpSpPr>
          <a:xfrm>
            <a:off x="1143000" y="3105150"/>
            <a:ext cx="2571750" cy="1180862"/>
            <a:chOff x="1143000" y="3105150"/>
            <a:chExt cx="2571750" cy="1180862"/>
          </a:xfrm>
        </p:grpSpPr>
        <p:sp>
          <p:nvSpPr>
            <p:cNvPr id="34" name="Rectangle 34"/>
            <p:cNvSpPr/>
            <p:nvPr/>
          </p:nvSpPr>
          <p:spPr>
            <a:xfrm>
              <a:off x="1143000" y="3143250"/>
              <a:ext cx="2476500" cy="495300"/>
            </a:xfrm>
            <a:prstGeom prst="roundRect">
              <a:avLst>
                <a:gd name="adj" fmla="val 50000"/>
              </a:avLst>
            </a:prstGeom>
            <a:solidFill>
              <a:srgbClr val="FFFFFF"/>
            </a:solidFill>
            <a:ln w="14288">
              <a:solidFill>
                <a:srgbClr val="FCC6BB"/>
              </a:solidFill>
            </a:ln>
          </p:spPr>
        </p:sp>
        <p:sp>
          <p:nvSpPr>
            <p:cNvPr id="35" name="TextBox 35"/>
            <p:cNvSpPr txBox="1"/>
            <p:nvPr/>
          </p:nvSpPr>
          <p:spPr>
            <a:xfrm>
              <a:off x="1447394" y="3319939"/>
              <a:ext cx="1391463" cy="249364"/>
            </a:xfrm>
            <a:prstGeom prst="rect">
              <a:avLst/>
            </a:prstGeom>
            <a:noFill/>
            <a:ln>
              <a:noFill/>
            </a:ln>
          </p:spPr>
          <p:txBody>
            <a:bodyPr wrap="none" lIns="0" tIns="0" rIns="0" bIns="0" anchor="t" anchorCtr="0">
              <a:spAutoFit/>
            </a:bodyPr>
            <a:lstStyle/>
            <a:p>
              <a:pPr algn="ctr"/>
              <a:r>
                <a:rPr lang="zh-CN" sz="1280" dirty="0">
                  <a:solidFill>
                    <a:srgbClr val="E83F1D"/>
                  </a:solidFill>
                  <a:latin typeface="+mn-lt"/>
                  <a:ea typeface="+mn-ea"/>
                  <a:cs typeface="+mn-cs"/>
                </a:rPr>
                <a:t>点击此处添加标题</a:t>
              </a:r>
            </a:p>
          </p:txBody>
        </p:sp>
        <p:sp>
          <p:nvSpPr>
            <p:cNvPr id="36" name="Ellipse 36"/>
            <p:cNvSpPr/>
            <p:nvPr/>
          </p:nvSpPr>
          <p:spPr>
            <a:xfrm>
              <a:off x="3143250" y="3105150"/>
              <a:ext cx="571500" cy="571500"/>
            </a:xfrm>
            <a:prstGeom prst="ellipse">
              <a:avLst/>
            </a:prstGeom>
            <a:gradFill>
              <a:gsLst>
                <a:gs pos="0">
                  <a:srgbClr val="FB684A"/>
                </a:gs>
                <a:gs pos="100000">
                  <a:srgbClr val="FA421D"/>
                </a:gs>
              </a:gsLst>
              <a:lin ang="5400000" scaled="1"/>
            </a:gradFill>
            <a:ln>
              <a:noFill/>
            </a:ln>
          </p:spPr>
        </p:sp>
        <p:sp>
          <p:nvSpPr>
            <p:cNvPr id="37" name="TextBox 37"/>
            <p:cNvSpPr txBox="1"/>
            <p:nvPr/>
          </p:nvSpPr>
          <p:spPr>
            <a:xfrm>
              <a:off x="3317189" y="3311842"/>
              <a:ext cx="223622"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03</a:t>
              </a:r>
            </a:p>
          </p:txBody>
        </p:sp>
        <p:sp>
          <p:nvSpPr>
            <p:cNvPr id="38" name="TextBox 38"/>
            <p:cNvSpPr txBox="1"/>
            <p:nvPr/>
          </p:nvSpPr>
          <p:spPr>
            <a:xfrm>
              <a:off x="2861081" y="3780949"/>
              <a:ext cx="801472" cy="190690"/>
            </a:xfrm>
            <a:prstGeom prst="rect">
              <a:avLst/>
            </a:prstGeom>
            <a:noFill/>
            <a:ln>
              <a:noFill/>
            </a:ln>
          </p:spPr>
          <p:txBody>
            <a:bodyPr wrap="none" lIns="0" tIns="0" rIns="0" bIns="0" anchor="t" anchorCtr="0">
              <a:spAutoFit/>
            </a:bodyPr>
            <a:lstStyle/>
            <a:p>
              <a:pPr algn="r"/>
              <a:r>
                <a:rPr lang="zh-CN" sz="980" dirty="0">
                  <a:solidFill>
                    <a:srgbClr val="80615B"/>
                  </a:solidFill>
                  <a:latin typeface="+mn-lt"/>
                  <a:ea typeface="+mn-ea"/>
                  <a:cs typeface="+mn-cs"/>
                </a:rPr>
                <a:t>点击添加标题</a:t>
              </a:r>
            </a:p>
          </p:txBody>
        </p:sp>
        <p:sp>
          <p:nvSpPr>
            <p:cNvPr id="39" name="TextBox 39"/>
            <p:cNvSpPr txBox="1"/>
            <p:nvPr/>
          </p:nvSpPr>
          <p:spPr>
            <a:xfrm>
              <a:off x="2123758" y="3964543"/>
              <a:ext cx="1538605" cy="321469"/>
            </a:xfrm>
            <a:prstGeom prst="rect">
              <a:avLst/>
            </a:prstGeom>
            <a:noFill/>
            <a:ln>
              <a:noFill/>
            </a:ln>
          </p:spPr>
          <p:txBody>
            <a:bodyPr wrap="none" lIns="0" tIns="0" rIns="0" bIns="0" anchor="t" anchorCtr="0">
              <a:spAutoFit/>
            </a:bodyPr>
            <a:lstStyle/>
            <a:p>
              <a:pPr algn="r">
                <a:lnSpc>
                  <a:spcPts val="1200"/>
                </a:lnSpc>
              </a:pPr>
              <a:r>
                <a:rPr lang="zh-CN" sz="860" dirty="0">
                  <a:solidFill>
                    <a:srgbClr val="3D241F"/>
                  </a:solidFill>
                  <a:latin typeface="+mn-lt"/>
                  <a:ea typeface="+mn-ea"/>
                  <a:cs typeface="+mn-cs"/>
                </a:rPr>
                <a:t>输入你的正文，文字是您思想的</a:t>
              </a:r>
              <a:br/>
              <a:r>
                <a:rPr lang="zh-CN" sz="860" dirty="0">
                  <a:solidFill>
                    <a:srgbClr val="3D241F"/>
                  </a:solidFill>
                  <a:latin typeface="+mn-lt"/>
                  <a:ea typeface="+mn-ea"/>
                  <a:cs typeface="+mn-cs"/>
                </a:rPr>
                <a:t>提炼，为了最终演示的良好效果</a:t>
              </a:r>
            </a:p>
          </p:txBody>
        </p:sp>
      </p:grpSp>
      <p:grpSp>
        <p:nvGrpSpPr>
          <p:cNvPr id="47" name="item-04"/>
          <p:cNvGrpSpPr/>
          <p:nvPr/>
        </p:nvGrpSpPr>
        <p:grpSpPr>
          <a:xfrm>
            <a:off x="8477250" y="3105150"/>
            <a:ext cx="2571750" cy="1180862"/>
            <a:chOff x="8477250" y="3105150"/>
            <a:chExt cx="2571750" cy="1180862"/>
          </a:xfrm>
        </p:grpSpPr>
        <p:sp>
          <p:nvSpPr>
            <p:cNvPr id="41" name="Rectangle 41"/>
            <p:cNvSpPr/>
            <p:nvPr/>
          </p:nvSpPr>
          <p:spPr>
            <a:xfrm>
              <a:off x="8572500" y="3143250"/>
              <a:ext cx="2476500" cy="495300"/>
            </a:xfrm>
            <a:prstGeom prst="roundRect">
              <a:avLst>
                <a:gd name="adj" fmla="val 50000"/>
              </a:avLst>
            </a:prstGeom>
            <a:solidFill>
              <a:srgbClr val="FFFFFF"/>
            </a:solidFill>
            <a:ln w="14288">
              <a:solidFill>
                <a:srgbClr val="FCC6BB"/>
              </a:solidFill>
            </a:ln>
          </p:spPr>
        </p:sp>
        <p:sp>
          <p:nvSpPr>
            <p:cNvPr id="42" name="TextBox 42"/>
            <p:cNvSpPr txBox="1"/>
            <p:nvPr/>
          </p:nvSpPr>
          <p:spPr>
            <a:xfrm>
              <a:off x="9353144" y="3319939"/>
              <a:ext cx="1391463" cy="249364"/>
            </a:xfrm>
            <a:prstGeom prst="rect">
              <a:avLst/>
            </a:prstGeom>
            <a:noFill/>
            <a:ln>
              <a:noFill/>
            </a:ln>
          </p:spPr>
          <p:txBody>
            <a:bodyPr wrap="none" lIns="0" tIns="0" rIns="0" bIns="0" anchor="t" anchorCtr="0">
              <a:spAutoFit/>
            </a:bodyPr>
            <a:lstStyle/>
            <a:p>
              <a:pPr algn="ctr"/>
              <a:r>
                <a:rPr lang="zh-CN" sz="1280" dirty="0">
                  <a:solidFill>
                    <a:srgbClr val="E83F1D"/>
                  </a:solidFill>
                  <a:latin typeface="+mn-lt"/>
                  <a:ea typeface="+mn-ea"/>
                  <a:cs typeface="+mn-cs"/>
                </a:rPr>
                <a:t>点击此处添加标题</a:t>
              </a:r>
            </a:p>
          </p:txBody>
        </p:sp>
        <p:sp>
          <p:nvSpPr>
            <p:cNvPr id="43" name="Ellipse 43"/>
            <p:cNvSpPr/>
            <p:nvPr/>
          </p:nvSpPr>
          <p:spPr>
            <a:xfrm>
              <a:off x="8477250" y="3105150"/>
              <a:ext cx="571500" cy="571500"/>
            </a:xfrm>
            <a:prstGeom prst="ellipse">
              <a:avLst/>
            </a:prstGeom>
            <a:gradFill>
              <a:gsLst>
                <a:gs pos="0">
                  <a:srgbClr val="FB684A"/>
                </a:gs>
                <a:gs pos="100000">
                  <a:srgbClr val="FA421D"/>
                </a:gs>
              </a:gsLst>
              <a:lin ang="5400000" scaled="1"/>
            </a:gradFill>
            <a:ln>
              <a:noFill/>
            </a:ln>
          </p:spPr>
        </p:sp>
        <p:sp>
          <p:nvSpPr>
            <p:cNvPr id="44" name="TextBox 44"/>
            <p:cNvSpPr txBox="1"/>
            <p:nvPr/>
          </p:nvSpPr>
          <p:spPr>
            <a:xfrm>
              <a:off x="8651189" y="3311842"/>
              <a:ext cx="223622"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04</a:t>
              </a:r>
            </a:p>
          </p:txBody>
        </p:sp>
        <p:sp>
          <p:nvSpPr>
            <p:cNvPr id="45" name="TextBox 45"/>
            <p:cNvSpPr txBox="1"/>
            <p:nvPr/>
          </p:nvSpPr>
          <p:spPr>
            <a:xfrm>
              <a:off x="8853297" y="3780949"/>
              <a:ext cx="801472" cy="190690"/>
            </a:xfrm>
            <a:prstGeom prst="rect">
              <a:avLst/>
            </a:prstGeom>
            <a:noFill/>
            <a:ln>
              <a:noFill/>
            </a:ln>
          </p:spPr>
          <p:txBody>
            <a:bodyPr wrap="none" lIns="0" tIns="0" rIns="0" bIns="0" anchor="t" anchorCtr="0">
              <a:spAutoFit/>
            </a:bodyPr>
            <a:lstStyle/>
            <a:p>
              <a:pPr algn="l"/>
              <a:r>
                <a:rPr lang="zh-CN" sz="980" dirty="0">
                  <a:solidFill>
                    <a:srgbClr val="80615B"/>
                  </a:solidFill>
                  <a:latin typeface="+mn-lt"/>
                  <a:ea typeface="+mn-ea"/>
                  <a:cs typeface="+mn-cs"/>
                </a:rPr>
                <a:t>点击添加标题</a:t>
              </a:r>
            </a:p>
          </p:txBody>
        </p:sp>
        <p:sp>
          <p:nvSpPr>
            <p:cNvPr id="46" name="TextBox 46"/>
            <p:cNvSpPr txBox="1"/>
            <p:nvPr/>
          </p:nvSpPr>
          <p:spPr>
            <a:xfrm>
              <a:off x="8853488" y="3964543"/>
              <a:ext cx="153860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输入你的正文，文字是您思想的</a:t>
              </a:r>
              <a:br/>
              <a:r>
                <a:rPr lang="zh-CN" sz="860" dirty="0">
                  <a:solidFill>
                    <a:srgbClr val="3D241F"/>
                  </a:solidFill>
                  <a:latin typeface="+mn-lt"/>
                  <a:ea typeface="+mn-ea"/>
                  <a:cs typeface="+mn-cs"/>
                </a:rPr>
                <a:t>提炼，为了最终演示的良好效果</a:t>
              </a:r>
            </a:p>
          </p:txBody>
        </p:sp>
      </p:gr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beam-1"/>
          <p:cNvSpPr/>
          <p:nvPr/>
        </p:nvSpPr>
        <p:spPr>
          <a:xfrm>
            <a:off x="914400" y="3810000"/>
            <a:ext cx="133350" cy="2857500"/>
          </a:xfrm>
          <a:prstGeom prst="rect">
            <a:avLst/>
          </a:prstGeom>
          <a:gradFill>
            <a:gsLst>
              <a:gs pos="0">
                <a:srgbClr val="FA421D">
                  <a:alpha val="0"/>
                </a:srgbClr>
              </a:gs>
              <a:gs pos="100000">
                <a:srgbClr val="FA421D">
                  <a:alpha val="25000"/>
                </a:srgbClr>
              </a:gs>
            </a:gsLst>
            <a:lin ang="5400000" scaled="1"/>
          </a:gradFill>
          <a:ln>
            <a:noFill/>
          </a:ln>
        </p:spPr>
      </p:sp>
      <p:sp>
        <p:nvSpPr>
          <p:cNvPr id="3" name="deco-beam-2"/>
          <p:cNvSpPr/>
          <p:nvPr/>
        </p:nvSpPr>
        <p:spPr>
          <a:xfrm>
            <a:off x="3143250" y="4953000"/>
            <a:ext cx="133350" cy="1905000"/>
          </a:xfrm>
          <a:prstGeom prst="rect">
            <a:avLst/>
          </a:prstGeom>
          <a:gradFill>
            <a:gsLst>
              <a:gs pos="0">
                <a:srgbClr val="FA421D">
                  <a:alpha val="0"/>
                </a:srgbClr>
              </a:gs>
              <a:gs pos="100000">
                <a:srgbClr val="FA421D">
                  <a:alpha val="25000"/>
                </a:srgbClr>
              </a:gs>
            </a:gsLst>
            <a:lin ang="5400000" scaled="1"/>
          </a:gradFill>
          <a:ln>
            <a:noFill/>
          </a:ln>
        </p:spPr>
      </p:sp>
      <p:sp>
        <p:nvSpPr>
          <p:cNvPr id="4" name="deco-beam-3"/>
          <p:cNvSpPr/>
          <p:nvPr/>
        </p:nvSpPr>
        <p:spPr>
          <a:xfrm>
            <a:off x="6096000" y="3143250"/>
            <a:ext cx="133350" cy="3714750"/>
          </a:xfrm>
          <a:prstGeom prst="rect">
            <a:avLst/>
          </a:prstGeom>
          <a:gradFill>
            <a:gsLst>
              <a:gs pos="0">
                <a:srgbClr val="FA421D">
                  <a:alpha val="0"/>
                </a:srgbClr>
              </a:gs>
              <a:gs pos="100000">
                <a:srgbClr val="FA421D">
                  <a:alpha val="25000"/>
                </a:srgbClr>
              </a:gs>
            </a:gsLst>
            <a:lin ang="5400000" scaled="1"/>
          </a:gradFill>
          <a:ln>
            <a:noFill/>
          </a:ln>
        </p:spPr>
      </p:sp>
      <p:sp>
        <p:nvSpPr>
          <p:cNvPr id="5" name="deco-beam-4"/>
          <p:cNvSpPr/>
          <p:nvPr/>
        </p:nvSpPr>
        <p:spPr>
          <a:xfrm>
            <a:off x="9906000" y="2762250"/>
            <a:ext cx="133350" cy="4095750"/>
          </a:xfrm>
          <a:prstGeom prst="rect">
            <a:avLst/>
          </a:prstGeom>
          <a:gradFill>
            <a:gsLst>
              <a:gs pos="0">
                <a:srgbClr val="FA421D">
                  <a:alpha val="0"/>
                </a:srgbClr>
              </a:gs>
              <a:gs pos="100000">
                <a:srgbClr val="FA421D">
                  <a:alpha val="25000"/>
                </a:srgbClr>
              </a:gs>
            </a:gsLst>
            <a:lin ang="5400000" scaled="1"/>
          </a:gradFill>
          <a:ln>
            <a:noFill/>
          </a:ln>
        </p:spPr>
      </p:sp>
      <p:sp>
        <p:nvSpPr>
          <p:cNvPr id="6" name="deco-wave-back"/>
          <p:cNvSpPr/>
          <p:nvPr/>
        </p:nvSpPr>
        <p:spPr>
          <a:xfrm>
            <a:off x="0" y="3619500"/>
            <a:ext cx="12192000" cy="3238500"/>
          </a:xfrm>
          <a:custGeom>
            <a:avLst/>
            <a:gdLst/>
            <a:ahLst/>
            <a:cxnLst/>
            <a:rect l="l" t="t" r="r" b="b"/>
            <a:pathLst>
              <a:path w="12192000" h="3238500">
                <a:moveTo>
                  <a:pt x="0" y="3238500"/>
                </a:moveTo>
                <a:lnTo>
                  <a:pt x="0" y="3048000"/>
                </a:lnTo>
                <a:cubicBezTo>
                  <a:pt x="952500" y="2952750"/>
                  <a:pt x="1905000" y="2476500"/>
                  <a:pt x="2857500" y="1714500"/>
                </a:cubicBezTo>
                <a:cubicBezTo>
                  <a:pt x="3810000" y="952500"/>
                  <a:pt x="4572000" y="1143000"/>
                  <a:pt x="5334000" y="1905000"/>
                </a:cubicBezTo>
                <a:cubicBezTo>
                  <a:pt x="6096000" y="2667000"/>
                  <a:pt x="6667500" y="2476500"/>
                  <a:pt x="7429500" y="1714500"/>
                </a:cubicBezTo>
                <a:cubicBezTo>
                  <a:pt x="8191500" y="952500"/>
                  <a:pt x="9144000" y="381000"/>
                  <a:pt x="10096500" y="190500"/>
                </a:cubicBezTo>
                <a:cubicBezTo>
                  <a:pt x="11049000" y="0"/>
                  <a:pt x="11811000" y="381000"/>
                  <a:pt x="12192000" y="571500"/>
                </a:cubicBezTo>
                <a:lnTo>
                  <a:pt x="12192000" y="3238500"/>
                </a:lnTo>
                <a:close/>
              </a:path>
            </a:pathLst>
          </a:custGeom>
          <a:gradFill>
            <a:gsLst>
              <a:gs pos="0">
                <a:srgbClr val="FDA28F">
                  <a:alpha val="55000"/>
                </a:srgbClr>
              </a:gs>
              <a:gs pos="100000">
                <a:srgbClr val="DCE9FC">
                  <a:alpha val="10000"/>
                </a:srgbClr>
              </a:gs>
            </a:gsLst>
            <a:lin ang="5400000" scaled="1"/>
          </a:gradFill>
          <a:ln w="19050">
            <a:solidFill>
              <a:srgbClr val="FDA28F"/>
            </a:solidFill>
          </a:ln>
        </p:spPr>
      </p:sp>
      <p:sp>
        <p:nvSpPr>
          <p:cNvPr id="7" name="deco-wave-front"/>
          <p:cNvSpPr/>
          <p:nvPr/>
        </p:nvSpPr>
        <p:spPr>
          <a:xfrm>
            <a:off x="0" y="2762250"/>
            <a:ext cx="12192000" cy="4095750"/>
          </a:xfrm>
          <a:custGeom>
            <a:avLst/>
            <a:gdLst/>
            <a:ahLst/>
            <a:cxnLst/>
            <a:rect l="l" t="t" r="r" b="b"/>
            <a:pathLst>
              <a:path w="12192000" h="4095750">
                <a:moveTo>
                  <a:pt x="0" y="4095750"/>
                </a:moveTo>
                <a:lnTo>
                  <a:pt x="0" y="3333750"/>
                </a:lnTo>
                <a:cubicBezTo>
                  <a:pt x="762000" y="3333750"/>
                  <a:pt x="1143000" y="2857500"/>
                  <a:pt x="1524000" y="2914650"/>
                </a:cubicBezTo>
                <a:cubicBezTo>
                  <a:pt x="2476500" y="3048000"/>
                  <a:pt x="3143250" y="2571750"/>
                  <a:pt x="3810000" y="1809750"/>
                </a:cubicBezTo>
                <a:cubicBezTo>
                  <a:pt x="4476750" y="1047750"/>
                  <a:pt x="4953000" y="1238250"/>
                  <a:pt x="5305425" y="1466850"/>
                </a:cubicBezTo>
                <a:cubicBezTo>
                  <a:pt x="5905500" y="2000250"/>
                  <a:pt x="6477000" y="1714500"/>
                  <a:pt x="7048500" y="857250"/>
                </a:cubicBezTo>
                <a:cubicBezTo>
                  <a:pt x="7620000" y="95250"/>
                  <a:pt x="8382000" y="0"/>
                  <a:pt x="9029700" y="114300"/>
                </a:cubicBezTo>
                <a:cubicBezTo>
                  <a:pt x="9715500" y="285750"/>
                  <a:pt x="10477500" y="1238250"/>
                  <a:pt x="11049000" y="1809750"/>
                </a:cubicBezTo>
                <a:cubicBezTo>
                  <a:pt x="11620500" y="2381250"/>
                  <a:pt x="12001500" y="2571750"/>
                  <a:pt x="12192000" y="2571750"/>
                </a:cubicBezTo>
                <a:lnTo>
                  <a:pt x="12192000" y="4095750"/>
                </a:lnTo>
                <a:close/>
              </a:path>
            </a:pathLst>
          </a:custGeom>
          <a:gradFill>
            <a:gsLst>
              <a:gs pos="0">
                <a:srgbClr val="FCC6BB">
                  <a:alpha val="90000"/>
                </a:srgbClr>
              </a:gs>
              <a:gs pos="100000">
                <a:srgbClr val="EDF4FE">
                  <a:alpha val="20000"/>
                </a:srgbClr>
              </a:gs>
            </a:gsLst>
            <a:lin ang="5400000" scaled="1"/>
          </a:gradFill>
          <a:ln w="28575">
            <a:solidFill>
              <a:srgbClr val="FA421D"/>
            </a:solidFill>
          </a:ln>
        </p:spPr>
      </p:sp>
      <p:sp>
        <p:nvSpPr>
          <p:cNvPr id="8" name="deco-peak-1"/>
          <p:cNvSpPr/>
          <p:nvPr/>
        </p:nvSpPr>
        <p:spPr>
          <a:xfrm>
            <a:off x="1447800" y="5600700"/>
            <a:ext cx="152400" cy="152400"/>
          </a:xfrm>
          <a:prstGeom prst="ellipse">
            <a:avLst/>
          </a:prstGeom>
          <a:solidFill>
            <a:srgbClr val="FFFFFF"/>
          </a:solidFill>
          <a:ln w="28575">
            <a:solidFill>
              <a:srgbClr val="FA421D"/>
            </a:solidFill>
          </a:ln>
        </p:spPr>
      </p:sp>
      <p:sp>
        <p:nvSpPr>
          <p:cNvPr id="9" name="deco-peak-2"/>
          <p:cNvSpPr/>
          <p:nvPr/>
        </p:nvSpPr>
        <p:spPr>
          <a:xfrm>
            <a:off x="5229225" y="4152900"/>
            <a:ext cx="152400" cy="152400"/>
          </a:xfrm>
          <a:prstGeom prst="ellipse">
            <a:avLst/>
          </a:prstGeom>
          <a:solidFill>
            <a:srgbClr val="FFFFFF"/>
          </a:solidFill>
          <a:ln w="28575">
            <a:solidFill>
              <a:srgbClr val="FA421D"/>
            </a:solidFill>
          </a:ln>
        </p:spPr>
      </p:sp>
      <p:sp>
        <p:nvSpPr>
          <p:cNvPr id="10" name="deco-peak-3"/>
          <p:cNvSpPr/>
          <p:nvPr/>
        </p:nvSpPr>
        <p:spPr>
          <a:xfrm>
            <a:off x="8953500" y="2800350"/>
            <a:ext cx="152400" cy="152400"/>
          </a:xfrm>
          <a:prstGeom prst="ellipse">
            <a:avLst/>
          </a:prstGeom>
          <a:solidFill>
            <a:srgbClr val="FFFFFF"/>
          </a:solidFill>
          <a:ln w="28575">
            <a:solidFill>
              <a:srgbClr val="FA421D"/>
            </a:solidFill>
          </a:ln>
        </p:spPr>
      </p:sp>
      <p:grpSp>
        <p:nvGrpSpPr>
          <p:cNvPr id="15" name="header"/>
          <p:cNvGrpSpPr/>
          <p:nvPr/>
        </p:nvGrpSpPr>
        <p:grpSpPr>
          <a:xfrm>
            <a:off x="0" y="0"/>
            <a:ext cx="12192000" cy="551879"/>
            <a:chOff x="0" y="0"/>
            <a:chExt cx="12192000" cy="551879"/>
          </a:xfrm>
        </p:grpSpPr>
        <p:sp>
          <p:nvSpPr>
            <p:cNvPr id="11" name="Polygon 11"/>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12" name="TextBox 12"/>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12</a:t>
              </a:r>
            </a:p>
          </p:txBody>
        </p:sp>
        <p:sp>
          <p:nvSpPr>
            <p:cNvPr id="13" name="TextBox 13"/>
            <p:cNvSpPr txBox="1"/>
            <p:nvPr/>
          </p:nvSpPr>
          <p:spPr>
            <a:xfrm>
              <a:off x="904494" y="170498"/>
              <a:ext cx="1594866"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账号数据情况</a:t>
              </a:r>
            </a:p>
          </p:txBody>
        </p:sp>
        <p:sp>
          <p:nvSpPr>
            <p:cNvPr id="14" name="Line 14"/>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8" name="lead-note"/>
          <p:cNvGrpSpPr/>
          <p:nvPr/>
        </p:nvGrpSpPr>
        <p:grpSpPr>
          <a:xfrm>
            <a:off x="628650" y="1428750"/>
            <a:ext cx="2453005" cy="479584"/>
            <a:chOff x="628650" y="1428750"/>
            <a:chExt cx="2453005" cy="479584"/>
          </a:xfrm>
        </p:grpSpPr>
        <p:sp>
          <p:nvSpPr>
            <p:cNvPr id="16" name="Rectangle 16"/>
            <p:cNvSpPr/>
            <p:nvPr/>
          </p:nvSpPr>
          <p:spPr>
            <a:xfrm>
              <a:off x="628650" y="1428750"/>
              <a:ext cx="28575" cy="419100"/>
            </a:xfrm>
            <a:prstGeom prst="rect">
              <a:avLst/>
            </a:prstGeom>
            <a:solidFill>
              <a:srgbClr val="FA421D"/>
            </a:solidFill>
            <a:ln>
              <a:noFill/>
            </a:ln>
          </p:spPr>
        </p:sp>
        <p:sp>
          <p:nvSpPr>
            <p:cNvPr id="17" name="TextBox 17"/>
            <p:cNvSpPr txBox="1"/>
            <p:nvPr/>
          </p:nvSpPr>
          <p:spPr>
            <a:xfrm>
              <a:off x="794385" y="1478756"/>
              <a:ext cx="2287270" cy="429578"/>
            </a:xfrm>
            <a:prstGeom prst="rect">
              <a:avLst/>
            </a:prstGeom>
            <a:noFill/>
            <a:ln>
              <a:noFill/>
            </a:ln>
          </p:spPr>
          <p:txBody>
            <a:bodyPr wrap="none" lIns="0" tIns="0" rIns="0" bIns="0" anchor="t" anchorCtr="0">
              <a:spAutoFit/>
            </a:bodyPr>
            <a:lstStyle/>
            <a:p>
              <a:pPr algn="l">
                <a:lnSpc>
                  <a:spcPts val="1650"/>
                </a:lnSpc>
              </a:pPr>
              <a:r>
                <a:rPr lang="zh-CN" sz="1120" dirty="0">
                  <a:solidFill>
                    <a:srgbClr val="3D241F"/>
                  </a:solidFill>
                  <a:latin typeface="+mn-lt"/>
                  <a:ea typeface="+mn-ea"/>
                  <a:cs typeface="+mn-cs"/>
                </a:rPr>
                <a:t>为了最终演示发布的良好效果，请尽</a:t>
              </a:r>
              <a:br/>
              <a:r>
                <a:rPr lang="zh-CN" sz="1120" dirty="0">
                  <a:solidFill>
                    <a:srgbClr val="3D241F"/>
                  </a:solidFill>
                  <a:latin typeface="+mn-lt"/>
                  <a:ea typeface="+mn-ea"/>
                  <a:cs typeface="+mn-cs"/>
                </a:rPr>
                <a:t>量言简意赅的阐述观点</a:t>
              </a:r>
            </a:p>
          </p:txBody>
        </p:sp>
      </p:grpSp>
      <p:grpSp>
        <p:nvGrpSpPr>
          <p:cNvPr id="26" name="kpi-1"/>
          <p:cNvGrpSpPr/>
          <p:nvPr/>
        </p:nvGrpSpPr>
        <p:grpSpPr>
          <a:xfrm>
            <a:off x="238125" y="3600450"/>
            <a:ext cx="2857500" cy="1276350"/>
            <a:chOff x="238125" y="3600450"/>
            <a:chExt cx="2857500" cy="1276350"/>
          </a:xfrm>
        </p:grpSpPr>
        <p:sp>
          <p:nvSpPr>
            <p:cNvPr id="19" name="Ellipse 19"/>
            <p:cNvSpPr/>
            <p:nvPr/>
          </p:nvSpPr>
          <p:spPr>
            <a:xfrm>
              <a:off x="238125" y="4305300"/>
              <a:ext cx="2857500" cy="571500"/>
            </a:xfrm>
            <a:prstGeom prst="ellipse">
              <a:avLst/>
            </a:prstGeom>
            <a:gradFill>
              <a:gsLst>
                <a:gs pos="0">
                  <a:srgbClr val="FFFFFF"/>
                </a:gs>
                <a:gs pos="100000">
                  <a:srgbClr val="FBD2C9"/>
                </a:gs>
              </a:gsLst>
              <a:lin ang="5400000" scaled="1"/>
            </a:gradFill>
            <a:ln w="14288">
              <a:solidFill>
                <a:srgbClr val="FCC6BB"/>
              </a:solidFill>
            </a:ln>
          </p:spPr>
        </p:sp>
        <p:sp>
          <p:nvSpPr>
            <p:cNvPr id="20" name="Freeform 20"/>
            <p:cNvSpPr/>
            <p:nvPr/>
          </p:nvSpPr>
          <p:spPr>
            <a:xfrm>
              <a:off x="666750" y="3600450"/>
              <a:ext cx="419100" cy="533400"/>
            </a:xfrm>
            <a:prstGeom prst="upArrow">
              <a:avLst/>
            </a:prstGeom>
            <a:solidFill>
              <a:srgbClr val="FA512F"/>
            </a:solidFill>
            <a:ln>
              <a:noFill/>
            </a:ln>
          </p:spPr>
        </p:sp>
        <p:sp>
          <p:nvSpPr>
            <p:cNvPr id="21" name="TextBox 21"/>
            <p:cNvSpPr txBox="1"/>
            <p:nvPr/>
          </p:nvSpPr>
          <p:spPr>
            <a:xfrm>
              <a:off x="1219200" y="3677602"/>
              <a:ext cx="671779" cy="790575"/>
            </a:xfrm>
            <a:prstGeom prst="rect">
              <a:avLst/>
            </a:prstGeom>
            <a:noFill/>
            <a:ln>
              <a:noFill/>
            </a:ln>
          </p:spPr>
          <p:txBody>
            <a:bodyPr wrap="none" lIns="0" tIns="0" rIns="0" bIns="0" anchor="t" anchorCtr="0">
              <a:spAutoFit/>
            </a:bodyPr>
            <a:lstStyle/>
            <a:p>
              <a:pPr algn="l"/>
              <a:r>
                <a:rPr lang="zh-CN" sz="4050" dirty="0">
                  <a:solidFill>
                    <a:srgbClr val="FB795E"/>
                  </a:solidFill>
                  <a:latin typeface="+mj-lt"/>
                  <a:ea typeface="+mj-ea"/>
                  <a:cs typeface="+mj-cs"/>
                </a:rPr>
                <a:t>18</a:t>
              </a:r>
            </a:p>
          </p:txBody>
        </p:sp>
        <p:sp>
          <p:nvSpPr>
            <p:cNvPr id="22" name="TextBox 22"/>
            <p:cNvSpPr txBox="1"/>
            <p:nvPr/>
          </p:nvSpPr>
          <p:spPr>
            <a:xfrm>
              <a:off x="1868043" y="3936682"/>
              <a:ext cx="238887" cy="322707"/>
            </a:xfrm>
            <a:prstGeom prst="rect">
              <a:avLst/>
            </a:prstGeom>
            <a:noFill/>
            <a:ln>
              <a:noFill/>
            </a:ln>
          </p:spPr>
          <p:txBody>
            <a:bodyPr wrap="none" lIns="0" tIns="0" rIns="0" bIns="0" anchor="t" anchorCtr="0">
              <a:spAutoFit/>
            </a:bodyPr>
            <a:lstStyle/>
            <a:p>
              <a:pPr algn="l"/>
              <a:r>
                <a:rPr lang="zh-CN" sz="1650" dirty="0">
                  <a:solidFill>
                    <a:srgbClr val="FB795E"/>
                  </a:solidFill>
                  <a:latin typeface="+mn-lt"/>
                  <a:ea typeface="+mn-ea"/>
                  <a:cs typeface="+mn-cs"/>
                </a:rPr>
                <a:t>万</a:t>
              </a:r>
            </a:p>
          </p:txBody>
        </p:sp>
        <p:sp>
          <p:nvSpPr>
            <p:cNvPr id="23" name="Freeform 23"/>
            <p:cNvSpPr/>
            <p:nvPr/>
          </p:nvSpPr>
          <p:spPr>
            <a:xfrm>
              <a:off x="428625" y="4152900"/>
              <a:ext cx="171450" cy="209550"/>
            </a:xfrm>
            <a:prstGeom prst="upArrow">
              <a:avLst/>
            </a:prstGeom>
            <a:solidFill>
              <a:srgbClr val="FA421D"/>
            </a:solidFill>
            <a:ln>
              <a:noFill/>
            </a:ln>
          </p:spPr>
        </p:sp>
        <p:sp>
          <p:nvSpPr>
            <p:cNvPr id="24" name="Freeform 24"/>
            <p:cNvSpPr/>
            <p:nvPr/>
          </p:nvSpPr>
          <p:spPr>
            <a:xfrm>
              <a:off x="714375" y="4305300"/>
              <a:ext cx="171450" cy="209550"/>
            </a:xfrm>
            <a:prstGeom prst="upArrow">
              <a:avLst/>
            </a:prstGeom>
            <a:solidFill>
              <a:srgbClr val="FA421D"/>
            </a:solidFill>
            <a:ln>
              <a:noFill/>
            </a:ln>
          </p:spPr>
        </p:sp>
        <p:sp>
          <p:nvSpPr>
            <p:cNvPr id="25" name="TextBox 25"/>
            <p:cNvSpPr txBox="1"/>
            <p:nvPr/>
          </p:nvSpPr>
          <p:spPr>
            <a:xfrm>
              <a:off x="1085469" y="4304348"/>
              <a:ext cx="1069848"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变现数据</a:t>
              </a:r>
            </a:p>
          </p:txBody>
        </p:sp>
      </p:grpSp>
      <p:grpSp>
        <p:nvGrpSpPr>
          <p:cNvPr id="34" name="kpi-2"/>
          <p:cNvGrpSpPr/>
          <p:nvPr/>
        </p:nvGrpSpPr>
        <p:grpSpPr>
          <a:xfrm>
            <a:off x="3876675" y="2152650"/>
            <a:ext cx="2857500" cy="1276350"/>
            <a:chOff x="3876675" y="2152650"/>
            <a:chExt cx="2857500" cy="1276350"/>
          </a:xfrm>
        </p:grpSpPr>
        <p:sp>
          <p:nvSpPr>
            <p:cNvPr id="27" name="Ellipse 27"/>
            <p:cNvSpPr/>
            <p:nvPr/>
          </p:nvSpPr>
          <p:spPr>
            <a:xfrm>
              <a:off x="3876675" y="2857500"/>
              <a:ext cx="2857500" cy="571500"/>
            </a:xfrm>
            <a:prstGeom prst="ellipse">
              <a:avLst/>
            </a:prstGeom>
            <a:gradFill>
              <a:gsLst>
                <a:gs pos="0">
                  <a:srgbClr val="FFFFFF"/>
                </a:gs>
                <a:gs pos="100000">
                  <a:srgbClr val="FBD2C9"/>
                </a:gs>
              </a:gsLst>
              <a:lin ang="5400000" scaled="1"/>
            </a:gradFill>
            <a:ln w="14288">
              <a:solidFill>
                <a:srgbClr val="FCC6BB"/>
              </a:solidFill>
            </a:ln>
          </p:spPr>
        </p:sp>
        <p:sp>
          <p:nvSpPr>
            <p:cNvPr id="28" name="Freeform 28"/>
            <p:cNvSpPr/>
            <p:nvPr/>
          </p:nvSpPr>
          <p:spPr>
            <a:xfrm>
              <a:off x="4305300" y="2152650"/>
              <a:ext cx="419100" cy="533400"/>
            </a:xfrm>
            <a:prstGeom prst="upArrow">
              <a:avLst/>
            </a:prstGeom>
            <a:solidFill>
              <a:srgbClr val="FA512F"/>
            </a:solidFill>
            <a:ln>
              <a:noFill/>
            </a:ln>
          </p:spPr>
        </p:sp>
        <p:sp>
          <p:nvSpPr>
            <p:cNvPr id="29" name="TextBox 29"/>
            <p:cNvSpPr txBox="1"/>
            <p:nvPr/>
          </p:nvSpPr>
          <p:spPr>
            <a:xfrm>
              <a:off x="4857750" y="2229802"/>
              <a:ext cx="671779" cy="790575"/>
            </a:xfrm>
            <a:prstGeom prst="rect">
              <a:avLst/>
            </a:prstGeom>
            <a:noFill/>
            <a:ln>
              <a:noFill/>
            </a:ln>
          </p:spPr>
          <p:txBody>
            <a:bodyPr wrap="none" lIns="0" tIns="0" rIns="0" bIns="0" anchor="t" anchorCtr="0">
              <a:spAutoFit/>
            </a:bodyPr>
            <a:lstStyle/>
            <a:p>
              <a:pPr algn="l"/>
              <a:r>
                <a:rPr lang="zh-CN" sz="4050" dirty="0">
                  <a:solidFill>
                    <a:srgbClr val="FB795E"/>
                  </a:solidFill>
                  <a:latin typeface="+mj-lt"/>
                  <a:ea typeface="+mj-ea"/>
                  <a:cs typeface="+mj-cs"/>
                </a:rPr>
                <a:t>18</a:t>
              </a:r>
            </a:p>
          </p:txBody>
        </p:sp>
        <p:sp>
          <p:nvSpPr>
            <p:cNvPr id="30" name="TextBox 30"/>
            <p:cNvSpPr txBox="1"/>
            <p:nvPr/>
          </p:nvSpPr>
          <p:spPr>
            <a:xfrm>
              <a:off x="5506593" y="2488882"/>
              <a:ext cx="238887" cy="322707"/>
            </a:xfrm>
            <a:prstGeom prst="rect">
              <a:avLst/>
            </a:prstGeom>
            <a:noFill/>
            <a:ln>
              <a:noFill/>
            </a:ln>
          </p:spPr>
          <p:txBody>
            <a:bodyPr wrap="none" lIns="0" tIns="0" rIns="0" bIns="0" anchor="t" anchorCtr="0">
              <a:spAutoFit/>
            </a:bodyPr>
            <a:lstStyle/>
            <a:p>
              <a:pPr algn="l"/>
              <a:r>
                <a:rPr lang="zh-CN" sz="1650" dirty="0">
                  <a:solidFill>
                    <a:srgbClr val="FB795E"/>
                  </a:solidFill>
                  <a:latin typeface="+mn-lt"/>
                  <a:ea typeface="+mn-ea"/>
                  <a:cs typeface="+mn-cs"/>
                </a:rPr>
                <a:t>万</a:t>
              </a:r>
            </a:p>
          </p:txBody>
        </p:sp>
        <p:sp>
          <p:nvSpPr>
            <p:cNvPr id="31" name="Freeform 31"/>
            <p:cNvSpPr/>
            <p:nvPr/>
          </p:nvSpPr>
          <p:spPr>
            <a:xfrm>
              <a:off x="4067175" y="2705100"/>
              <a:ext cx="171450" cy="209550"/>
            </a:xfrm>
            <a:prstGeom prst="upArrow">
              <a:avLst/>
            </a:prstGeom>
            <a:solidFill>
              <a:srgbClr val="FA421D"/>
            </a:solidFill>
            <a:ln>
              <a:noFill/>
            </a:ln>
          </p:spPr>
        </p:sp>
        <p:sp>
          <p:nvSpPr>
            <p:cNvPr id="32" name="Freeform 32"/>
            <p:cNvSpPr/>
            <p:nvPr/>
          </p:nvSpPr>
          <p:spPr>
            <a:xfrm>
              <a:off x="4352925" y="2857500"/>
              <a:ext cx="171450" cy="209550"/>
            </a:xfrm>
            <a:prstGeom prst="upArrow">
              <a:avLst/>
            </a:prstGeom>
            <a:solidFill>
              <a:srgbClr val="FA421D"/>
            </a:solidFill>
            <a:ln>
              <a:noFill/>
            </a:ln>
          </p:spPr>
        </p:sp>
        <p:sp>
          <p:nvSpPr>
            <p:cNvPr id="33" name="TextBox 33"/>
            <p:cNvSpPr txBox="1"/>
            <p:nvPr/>
          </p:nvSpPr>
          <p:spPr>
            <a:xfrm>
              <a:off x="4724019" y="2856548"/>
              <a:ext cx="1069848"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变现数据</a:t>
              </a:r>
            </a:p>
          </p:txBody>
        </p:sp>
      </p:grpSp>
      <p:grpSp>
        <p:nvGrpSpPr>
          <p:cNvPr id="42" name="kpi-3"/>
          <p:cNvGrpSpPr/>
          <p:nvPr/>
        </p:nvGrpSpPr>
        <p:grpSpPr>
          <a:xfrm>
            <a:off x="7600950" y="914400"/>
            <a:ext cx="2857500" cy="1276350"/>
            <a:chOff x="7600950" y="914400"/>
            <a:chExt cx="2857500" cy="1276350"/>
          </a:xfrm>
        </p:grpSpPr>
        <p:sp>
          <p:nvSpPr>
            <p:cNvPr id="35" name="Ellipse 35"/>
            <p:cNvSpPr/>
            <p:nvPr/>
          </p:nvSpPr>
          <p:spPr>
            <a:xfrm>
              <a:off x="7600950" y="1619250"/>
              <a:ext cx="2857500" cy="571500"/>
            </a:xfrm>
            <a:prstGeom prst="ellipse">
              <a:avLst/>
            </a:prstGeom>
            <a:gradFill>
              <a:gsLst>
                <a:gs pos="0">
                  <a:srgbClr val="FFFFFF"/>
                </a:gs>
                <a:gs pos="100000">
                  <a:srgbClr val="FBD2C9"/>
                </a:gs>
              </a:gsLst>
              <a:lin ang="5400000" scaled="1"/>
            </a:gradFill>
            <a:ln w="14288">
              <a:solidFill>
                <a:srgbClr val="FCC6BB"/>
              </a:solidFill>
            </a:ln>
          </p:spPr>
        </p:sp>
        <p:sp>
          <p:nvSpPr>
            <p:cNvPr id="36" name="Freeform 36"/>
            <p:cNvSpPr/>
            <p:nvPr/>
          </p:nvSpPr>
          <p:spPr>
            <a:xfrm>
              <a:off x="8029575" y="914400"/>
              <a:ext cx="419100" cy="533400"/>
            </a:xfrm>
            <a:prstGeom prst="upArrow">
              <a:avLst/>
            </a:prstGeom>
            <a:solidFill>
              <a:srgbClr val="FA512F"/>
            </a:solidFill>
            <a:ln>
              <a:noFill/>
            </a:ln>
          </p:spPr>
        </p:sp>
        <p:sp>
          <p:nvSpPr>
            <p:cNvPr id="37" name="TextBox 37"/>
            <p:cNvSpPr txBox="1"/>
            <p:nvPr/>
          </p:nvSpPr>
          <p:spPr>
            <a:xfrm>
              <a:off x="8582025" y="991552"/>
              <a:ext cx="671779" cy="790575"/>
            </a:xfrm>
            <a:prstGeom prst="rect">
              <a:avLst/>
            </a:prstGeom>
            <a:noFill/>
            <a:ln>
              <a:noFill/>
            </a:ln>
          </p:spPr>
          <p:txBody>
            <a:bodyPr wrap="none" lIns="0" tIns="0" rIns="0" bIns="0" anchor="t" anchorCtr="0">
              <a:spAutoFit/>
            </a:bodyPr>
            <a:lstStyle/>
            <a:p>
              <a:pPr algn="l"/>
              <a:r>
                <a:rPr lang="zh-CN" sz="4050" dirty="0">
                  <a:solidFill>
                    <a:srgbClr val="FB795E"/>
                  </a:solidFill>
                  <a:latin typeface="+mj-lt"/>
                  <a:ea typeface="+mj-ea"/>
                  <a:cs typeface="+mj-cs"/>
                </a:rPr>
                <a:t>18</a:t>
              </a:r>
            </a:p>
          </p:txBody>
        </p:sp>
        <p:sp>
          <p:nvSpPr>
            <p:cNvPr id="38" name="TextBox 38"/>
            <p:cNvSpPr txBox="1"/>
            <p:nvPr/>
          </p:nvSpPr>
          <p:spPr>
            <a:xfrm>
              <a:off x="9230868" y="1250632"/>
              <a:ext cx="238887" cy="322707"/>
            </a:xfrm>
            <a:prstGeom prst="rect">
              <a:avLst/>
            </a:prstGeom>
            <a:noFill/>
            <a:ln>
              <a:noFill/>
            </a:ln>
          </p:spPr>
          <p:txBody>
            <a:bodyPr wrap="none" lIns="0" tIns="0" rIns="0" bIns="0" anchor="t" anchorCtr="0">
              <a:spAutoFit/>
            </a:bodyPr>
            <a:lstStyle/>
            <a:p>
              <a:pPr algn="l"/>
              <a:r>
                <a:rPr lang="zh-CN" sz="1650" dirty="0">
                  <a:solidFill>
                    <a:srgbClr val="FB795E"/>
                  </a:solidFill>
                  <a:latin typeface="+mn-lt"/>
                  <a:ea typeface="+mn-ea"/>
                  <a:cs typeface="+mn-cs"/>
                </a:rPr>
                <a:t>万</a:t>
              </a:r>
            </a:p>
          </p:txBody>
        </p:sp>
        <p:sp>
          <p:nvSpPr>
            <p:cNvPr id="39" name="Freeform 39"/>
            <p:cNvSpPr/>
            <p:nvPr/>
          </p:nvSpPr>
          <p:spPr>
            <a:xfrm>
              <a:off x="7791450" y="1466850"/>
              <a:ext cx="171450" cy="209550"/>
            </a:xfrm>
            <a:prstGeom prst="upArrow">
              <a:avLst/>
            </a:prstGeom>
            <a:solidFill>
              <a:srgbClr val="FA421D"/>
            </a:solidFill>
            <a:ln>
              <a:noFill/>
            </a:ln>
          </p:spPr>
        </p:sp>
        <p:sp>
          <p:nvSpPr>
            <p:cNvPr id="40" name="Freeform 40"/>
            <p:cNvSpPr/>
            <p:nvPr/>
          </p:nvSpPr>
          <p:spPr>
            <a:xfrm>
              <a:off x="8077200" y="1619250"/>
              <a:ext cx="171450" cy="209550"/>
            </a:xfrm>
            <a:prstGeom prst="upArrow">
              <a:avLst/>
            </a:prstGeom>
            <a:solidFill>
              <a:srgbClr val="FA421D"/>
            </a:solidFill>
            <a:ln>
              <a:noFill/>
            </a:ln>
          </p:spPr>
        </p:sp>
        <p:sp>
          <p:nvSpPr>
            <p:cNvPr id="41" name="TextBox 41"/>
            <p:cNvSpPr txBox="1"/>
            <p:nvPr/>
          </p:nvSpPr>
          <p:spPr>
            <a:xfrm>
              <a:off x="8448294" y="1618298"/>
              <a:ext cx="1069848"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变现数据</a:t>
              </a:r>
            </a:p>
          </p:txBody>
        </p:sp>
      </p:gr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Line 2"/>
          <p:cNvSpPr/>
          <p:nvPr/>
        </p:nvSpPr>
        <p:spPr>
          <a:xfrm>
            <a:off x="2000250" y="2286000"/>
            <a:ext cx="1200150" cy="571500"/>
          </a:xfrm>
          <a:custGeom>
            <a:avLst/>
            <a:gdLst/>
            <a:ahLst/>
            <a:cxnLst/>
            <a:rect l="l" t="t" r="r" b="b"/>
            <a:pathLst>
              <a:path w="1200150" h="571500">
                <a:moveTo>
                  <a:pt x="0" y="571500"/>
                </a:moveTo>
                <a:lnTo>
                  <a:pt x="1200150" y="0"/>
                </a:lnTo>
              </a:path>
            </a:pathLst>
          </a:custGeom>
          <a:noFill/>
          <a:ln w="14288">
            <a:solidFill>
              <a:srgbClr val="FA421D"/>
            </a:solidFill>
            <a:prstDash val="dash"/>
          </a:ln>
        </p:spPr>
      </p:sp>
      <p:sp>
        <p:nvSpPr>
          <p:cNvPr id="3" name="Line 3"/>
          <p:cNvSpPr/>
          <p:nvPr/>
        </p:nvSpPr>
        <p:spPr>
          <a:xfrm>
            <a:off x="4381500" y="2247900"/>
            <a:ext cx="952500" cy="323850"/>
          </a:xfrm>
          <a:custGeom>
            <a:avLst/>
            <a:gdLst/>
            <a:ahLst/>
            <a:cxnLst/>
            <a:rect l="l" t="t" r="r" b="b"/>
            <a:pathLst>
              <a:path w="952500" h="323850">
                <a:moveTo>
                  <a:pt x="0" y="0"/>
                </a:moveTo>
                <a:lnTo>
                  <a:pt x="952500" y="323850"/>
                </a:lnTo>
              </a:path>
            </a:pathLst>
          </a:custGeom>
          <a:noFill/>
          <a:ln w="14288">
            <a:solidFill>
              <a:srgbClr val="FA421D"/>
            </a:solidFill>
            <a:prstDash val="dash"/>
          </a:ln>
        </p:spPr>
      </p:sp>
      <p:sp>
        <p:nvSpPr>
          <p:cNvPr id="4" name="Line 4"/>
          <p:cNvSpPr/>
          <p:nvPr/>
        </p:nvSpPr>
        <p:spPr>
          <a:xfrm>
            <a:off x="6858000" y="2247900"/>
            <a:ext cx="914400" cy="323850"/>
          </a:xfrm>
          <a:custGeom>
            <a:avLst/>
            <a:gdLst/>
            <a:ahLst/>
            <a:cxnLst/>
            <a:rect l="l" t="t" r="r" b="b"/>
            <a:pathLst>
              <a:path w="914400" h="323850">
                <a:moveTo>
                  <a:pt x="0" y="323850"/>
                </a:moveTo>
                <a:lnTo>
                  <a:pt x="914400" y="0"/>
                </a:lnTo>
              </a:path>
            </a:pathLst>
          </a:custGeom>
          <a:noFill/>
          <a:ln w="14288">
            <a:solidFill>
              <a:srgbClr val="FA421D"/>
            </a:solidFill>
            <a:prstDash val="dash"/>
          </a:ln>
        </p:spPr>
      </p:sp>
      <p:sp>
        <p:nvSpPr>
          <p:cNvPr id="5" name="Line 5"/>
          <p:cNvSpPr/>
          <p:nvPr/>
        </p:nvSpPr>
        <p:spPr>
          <a:xfrm>
            <a:off x="8953500" y="2286000"/>
            <a:ext cx="1219200" cy="571500"/>
          </a:xfrm>
          <a:custGeom>
            <a:avLst/>
            <a:gdLst/>
            <a:ahLst/>
            <a:cxnLst/>
            <a:rect l="l" t="t" r="r" b="b"/>
            <a:pathLst>
              <a:path w="1219200" h="571500">
                <a:moveTo>
                  <a:pt x="0" y="0"/>
                </a:moveTo>
                <a:lnTo>
                  <a:pt x="1219200" y="571500"/>
                </a:lnTo>
              </a:path>
            </a:pathLst>
          </a:custGeom>
          <a:noFill/>
          <a:ln w="14288">
            <a:solidFill>
              <a:srgbClr val="FA421D"/>
            </a:solidFill>
            <a:prstDash val="dash"/>
          </a:ln>
        </p:spPr>
      </p:sp>
      <p:sp>
        <p:nvSpPr>
          <p:cNvPr id="6" name="Line 6"/>
          <p:cNvSpPr/>
          <p:nvPr/>
        </p:nvSpPr>
        <p:spPr>
          <a:xfrm>
            <a:off x="5334000" y="1143000"/>
            <a:ext cx="9525" cy="1047750"/>
          </a:xfrm>
          <a:custGeom>
            <a:avLst/>
            <a:gdLst/>
            <a:ahLst/>
            <a:cxnLst/>
            <a:rect l="l" t="t" r="r" b="b"/>
            <a:pathLst>
              <a:path w="9525" h="1047750">
                <a:moveTo>
                  <a:pt x="0" y="0"/>
                </a:moveTo>
                <a:lnTo>
                  <a:pt x="0" y="1047750"/>
                </a:lnTo>
              </a:path>
            </a:pathLst>
          </a:custGeom>
          <a:noFill/>
          <a:ln w="38100">
            <a:solidFill>
              <a:srgbClr val="FA421D">
                <a:alpha val="60000"/>
              </a:srgbClr>
            </a:solidFill>
          </a:ln>
        </p:spPr>
      </p:sp>
      <p:sp>
        <p:nvSpPr>
          <p:cNvPr id="7" name="Line 7"/>
          <p:cNvSpPr/>
          <p:nvPr/>
        </p:nvSpPr>
        <p:spPr>
          <a:xfrm>
            <a:off x="6858000" y="1333500"/>
            <a:ext cx="9525" cy="1047750"/>
          </a:xfrm>
          <a:custGeom>
            <a:avLst/>
            <a:gdLst/>
            <a:ahLst/>
            <a:cxnLst/>
            <a:rect l="l" t="t" r="r" b="b"/>
            <a:pathLst>
              <a:path w="9525" h="1047750">
                <a:moveTo>
                  <a:pt x="0" y="0"/>
                </a:moveTo>
                <a:lnTo>
                  <a:pt x="0" y="1047750"/>
                </a:lnTo>
              </a:path>
            </a:pathLst>
          </a:custGeom>
          <a:noFill/>
          <a:ln w="38100">
            <a:solidFill>
              <a:srgbClr val="FA421D">
                <a:alpha val="60000"/>
              </a:srgbClr>
            </a:solidFill>
          </a:ln>
        </p:spPr>
      </p:sp>
      <p:sp>
        <p:nvSpPr>
          <p:cNvPr id="8" name="Line 8"/>
          <p:cNvSpPr/>
          <p:nvPr/>
        </p:nvSpPr>
        <p:spPr>
          <a:xfrm>
            <a:off x="5143500" y="2857500"/>
            <a:ext cx="9525" cy="762000"/>
          </a:xfrm>
          <a:custGeom>
            <a:avLst/>
            <a:gdLst/>
            <a:ahLst/>
            <a:cxnLst/>
            <a:rect l="l" t="t" r="r" b="b"/>
            <a:pathLst>
              <a:path w="9525" h="762000">
                <a:moveTo>
                  <a:pt x="0" y="0"/>
                </a:moveTo>
                <a:lnTo>
                  <a:pt x="0" y="762000"/>
                </a:lnTo>
              </a:path>
            </a:pathLst>
          </a:custGeom>
          <a:noFill/>
          <a:ln w="28575">
            <a:solidFill>
              <a:srgbClr val="FA421D">
                <a:alpha val="40000"/>
              </a:srgbClr>
            </a:solidFill>
          </a:ln>
        </p:spPr>
      </p:sp>
      <p:sp>
        <p:nvSpPr>
          <p:cNvPr id="9" name="Line 9"/>
          <p:cNvSpPr/>
          <p:nvPr/>
        </p:nvSpPr>
        <p:spPr>
          <a:xfrm>
            <a:off x="7067550" y="3048000"/>
            <a:ext cx="9525" cy="762000"/>
          </a:xfrm>
          <a:custGeom>
            <a:avLst/>
            <a:gdLst/>
            <a:ahLst/>
            <a:cxnLst/>
            <a:rect l="l" t="t" r="r" b="b"/>
            <a:pathLst>
              <a:path w="9525" h="762000">
                <a:moveTo>
                  <a:pt x="0" y="0"/>
                </a:moveTo>
                <a:lnTo>
                  <a:pt x="0" y="762000"/>
                </a:lnTo>
              </a:path>
            </a:pathLst>
          </a:custGeom>
          <a:noFill/>
          <a:ln w="28575">
            <a:solidFill>
              <a:srgbClr val="FA421D">
                <a:alpha val="40000"/>
              </a:srgbClr>
            </a:solidFill>
          </a:ln>
        </p:spPr>
      </p:sp>
      <p:grpSp>
        <p:nvGrpSpPr>
          <p:cNvPr id="14" name="header"/>
          <p:cNvGrpSpPr/>
          <p:nvPr/>
        </p:nvGrpSpPr>
        <p:grpSpPr>
          <a:xfrm>
            <a:off x="0" y="0"/>
            <a:ext cx="12192000" cy="551879"/>
            <a:chOff x="0" y="0"/>
            <a:chExt cx="12192000" cy="551879"/>
          </a:xfrm>
        </p:grpSpPr>
        <p:sp>
          <p:nvSpPr>
            <p:cNvPr id="10" name="Polygon 10"/>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11" name="TextBox 11"/>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13</a:t>
              </a:r>
            </a:p>
          </p:txBody>
        </p:sp>
        <p:sp>
          <p:nvSpPr>
            <p:cNvPr id="12" name="TextBox 12"/>
            <p:cNvSpPr txBox="1"/>
            <p:nvPr/>
          </p:nvSpPr>
          <p:spPr>
            <a:xfrm>
              <a:off x="904494" y="170498"/>
              <a:ext cx="2119884"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创新性尝试和改变</a:t>
              </a:r>
            </a:p>
          </p:txBody>
        </p:sp>
        <p:sp>
          <p:nvSpPr>
            <p:cNvPr id="13" name="Line 13"/>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9" name="rocket"/>
          <p:cNvGrpSpPr/>
          <p:nvPr/>
        </p:nvGrpSpPr>
        <p:grpSpPr>
          <a:xfrm>
            <a:off x="5105400" y="1428750"/>
            <a:ext cx="1981200" cy="4629150"/>
            <a:chOff x="5105400" y="1428750"/>
            <a:chExt cx="1981200" cy="4629150"/>
          </a:xfrm>
        </p:grpSpPr>
        <p:sp>
          <p:nvSpPr>
            <p:cNvPr id="15" name="Polygon 15"/>
            <p:cNvSpPr/>
            <p:nvPr/>
          </p:nvSpPr>
          <p:spPr>
            <a:xfrm>
              <a:off x="5105400" y="3333750"/>
              <a:ext cx="590550" cy="857250"/>
            </a:xfrm>
            <a:custGeom>
              <a:avLst/>
              <a:gdLst/>
              <a:ahLst/>
              <a:cxnLst/>
              <a:rect l="l" t="t" r="r" b="b"/>
              <a:pathLst>
                <a:path w="590550" h="857250">
                  <a:moveTo>
                    <a:pt x="590550" y="0"/>
                  </a:moveTo>
                  <a:lnTo>
                    <a:pt x="0" y="857250"/>
                  </a:lnTo>
                  <a:lnTo>
                    <a:pt x="590550" y="857250"/>
                  </a:lnTo>
                  <a:close/>
                </a:path>
              </a:pathLst>
            </a:custGeom>
            <a:solidFill>
              <a:srgbClr val="FA512F"/>
            </a:solidFill>
            <a:ln>
              <a:noFill/>
            </a:ln>
          </p:spPr>
        </p:sp>
        <p:sp>
          <p:nvSpPr>
            <p:cNvPr id="16" name="Polygon 16"/>
            <p:cNvSpPr/>
            <p:nvPr/>
          </p:nvSpPr>
          <p:spPr>
            <a:xfrm>
              <a:off x="6496050" y="3333750"/>
              <a:ext cx="590550" cy="857250"/>
            </a:xfrm>
            <a:custGeom>
              <a:avLst/>
              <a:gdLst/>
              <a:ahLst/>
              <a:cxnLst/>
              <a:rect l="l" t="t" r="r" b="b"/>
              <a:pathLst>
                <a:path w="590550" h="857250">
                  <a:moveTo>
                    <a:pt x="0" y="0"/>
                  </a:moveTo>
                  <a:lnTo>
                    <a:pt x="590550" y="857250"/>
                  </a:lnTo>
                  <a:lnTo>
                    <a:pt x="0" y="857250"/>
                  </a:lnTo>
                  <a:close/>
                </a:path>
              </a:pathLst>
            </a:custGeom>
            <a:solidFill>
              <a:srgbClr val="D83B1B"/>
            </a:solidFill>
            <a:ln>
              <a:noFill/>
            </a:ln>
          </p:spPr>
        </p:sp>
        <p:sp>
          <p:nvSpPr>
            <p:cNvPr id="17" name="Rectangle 17"/>
            <p:cNvSpPr/>
            <p:nvPr/>
          </p:nvSpPr>
          <p:spPr>
            <a:xfrm>
              <a:off x="5467350" y="3619500"/>
              <a:ext cx="209550" cy="666750"/>
            </a:xfrm>
            <a:prstGeom prst="roundRect">
              <a:avLst>
                <a:gd name="adj" fmla="val 50000"/>
              </a:avLst>
            </a:prstGeom>
            <a:solidFill>
              <a:srgbClr val="FB684A"/>
            </a:solidFill>
            <a:ln>
              <a:noFill/>
            </a:ln>
          </p:spPr>
        </p:sp>
        <p:sp>
          <p:nvSpPr>
            <p:cNvPr id="18" name="Rectangle 18"/>
            <p:cNvSpPr/>
            <p:nvPr/>
          </p:nvSpPr>
          <p:spPr>
            <a:xfrm>
              <a:off x="6515100" y="3619500"/>
              <a:ext cx="209550" cy="666750"/>
            </a:xfrm>
            <a:prstGeom prst="roundRect">
              <a:avLst>
                <a:gd name="adj" fmla="val 50000"/>
              </a:avLst>
            </a:prstGeom>
            <a:solidFill>
              <a:srgbClr val="FA512F"/>
            </a:solidFill>
            <a:ln>
              <a:noFill/>
            </a:ln>
          </p:spPr>
        </p:sp>
        <p:sp>
          <p:nvSpPr>
            <p:cNvPr id="19" name="Freeform 19"/>
            <p:cNvSpPr/>
            <p:nvPr/>
          </p:nvSpPr>
          <p:spPr>
            <a:xfrm>
              <a:off x="5695950" y="1428750"/>
              <a:ext cx="800100" cy="857250"/>
            </a:xfrm>
            <a:prstGeom prst="triangle">
              <a:avLst/>
            </a:prstGeom>
            <a:solidFill>
              <a:srgbClr val="FB684A"/>
            </a:solidFill>
            <a:ln>
              <a:noFill/>
            </a:ln>
          </p:spPr>
        </p:sp>
        <p:sp>
          <p:nvSpPr>
            <p:cNvPr id="20" name="Rectangle 20"/>
            <p:cNvSpPr/>
            <p:nvPr/>
          </p:nvSpPr>
          <p:spPr>
            <a:xfrm>
              <a:off x="5695950" y="2190750"/>
              <a:ext cx="800100" cy="2190750"/>
            </a:xfrm>
            <a:prstGeom prst="roundRect">
              <a:avLst>
                <a:gd name="adj" fmla="val 35714"/>
              </a:avLst>
            </a:prstGeom>
            <a:gradFill>
              <a:gsLst>
                <a:gs pos="0">
                  <a:srgbClr val="FDA28F"/>
                </a:gs>
                <a:gs pos="50000">
                  <a:srgbClr val="FB684A"/>
                </a:gs>
                <a:gs pos="100000">
                  <a:srgbClr val="FA421D"/>
                </a:gs>
              </a:gsLst>
              <a:lin ang="0" scaled="1"/>
            </a:gradFill>
            <a:ln>
              <a:noFill/>
            </a:ln>
          </p:spPr>
        </p:sp>
        <p:sp>
          <p:nvSpPr>
            <p:cNvPr id="21" name="Rectangle 21"/>
            <p:cNvSpPr/>
            <p:nvPr/>
          </p:nvSpPr>
          <p:spPr>
            <a:xfrm>
              <a:off x="5886450" y="2495550"/>
              <a:ext cx="419100" cy="628650"/>
            </a:xfrm>
            <a:prstGeom prst="roundRect">
              <a:avLst>
                <a:gd name="adj" fmla="val 18182"/>
              </a:avLst>
            </a:prstGeom>
            <a:solidFill>
              <a:srgbClr val="DCE9FC"/>
            </a:solidFill>
            <a:ln w="19050">
              <a:solidFill>
                <a:srgbClr val="FA421D"/>
              </a:solidFill>
            </a:ln>
          </p:spPr>
        </p:sp>
        <p:sp>
          <p:nvSpPr>
            <p:cNvPr id="22" name="Rectangle 22"/>
            <p:cNvSpPr/>
            <p:nvPr/>
          </p:nvSpPr>
          <p:spPr>
            <a:xfrm>
              <a:off x="5829300" y="3810000"/>
              <a:ext cx="533400" cy="47625"/>
            </a:xfrm>
            <a:prstGeom prst="roundRect">
              <a:avLst>
                <a:gd name="adj" fmla="val 50000"/>
              </a:avLst>
            </a:prstGeom>
            <a:solidFill>
              <a:srgbClr val="FFFFFF"/>
            </a:solidFill>
            <a:ln>
              <a:noFill/>
            </a:ln>
          </p:spPr>
        </p:sp>
        <p:sp>
          <p:nvSpPr>
            <p:cNvPr id="23" name="Rectangle 23"/>
            <p:cNvSpPr/>
            <p:nvPr/>
          </p:nvSpPr>
          <p:spPr>
            <a:xfrm>
              <a:off x="5829300" y="3943350"/>
              <a:ext cx="533400" cy="47625"/>
            </a:xfrm>
            <a:prstGeom prst="roundRect">
              <a:avLst>
                <a:gd name="adj" fmla="val 50000"/>
              </a:avLst>
            </a:prstGeom>
            <a:solidFill>
              <a:srgbClr val="FFFFFF"/>
            </a:solidFill>
            <a:ln>
              <a:noFill/>
            </a:ln>
          </p:spPr>
        </p:sp>
        <p:sp>
          <p:nvSpPr>
            <p:cNvPr id="24" name="Rectangle 24"/>
            <p:cNvSpPr/>
            <p:nvPr/>
          </p:nvSpPr>
          <p:spPr>
            <a:xfrm>
              <a:off x="5829300" y="4076700"/>
              <a:ext cx="533400" cy="47625"/>
            </a:xfrm>
            <a:prstGeom prst="roundRect">
              <a:avLst>
                <a:gd name="adj" fmla="val 50000"/>
              </a:avLst>
            </a:prstGeom>
            <a:solidFill>
              <a:srgbClr val="FFFFFF"/>
            </a:solidFill>
            <a:ln>
              <a:noFill/>
            </a:ln>
          </p:spPr>
        </p:sp>
        <p:sp>
          <p:nvSpPr>
            <p:cNvPr id="25" name="Freeform 25"/>
            <p:cNvSpPr/>
            <p:nvPr/>
          </p:nvSpPr>
          <p:spPr>
            <a:xfrm>
              <a:off x="5562600" y="4476750"/>
              <a:ext cx="628650" cy="1581150"/>
            </a:xfrm>
            <a:custGeom>
              <a:avLst/>
              <a:gdLst/>
              <a:ahLst/>
              <a:cxnLst/>
              <a:rect l="l" t="t" r="r" b="b"/>
              <a:pathLst>
                <a:path w="628650" h="1581150">
                  <a:moveTo>
                    <a:pt x="190500" y="0"/>
                  </a:moveTo>
                  <a:cubicBezTo>
                    <a:pt x="0" y="571500"/>
                    <a:pt x="95250" y="1143000"/>
                    <a:pt x="323850" y="1581150"/>
                  </a:cubicBezTo>
                  <a:cubicBezTo>
                    <a:pt x="533400" y="1143000"/>
                    <a:pt x="628650" y="571500"/>
                    <a:pt x="476250" y="0"/>
                  </a:cubicBezTo>
                  <a:close/>
                </a:path>
              </a:pathLst>
            </a:custGeom>
            <a:gradFill>
              <a:gsLst>
                <a:gs pos="0">
                  <a:srgbClr val="F95033"/>
                </a:gs>
                <a:gs pos="100000">
                  <a:srgbClr val="F24A2D"/>
                </a:gs>
              </a:gsLst>
              <a:lin ang="5400000" scaled="1"/>
            </a:gradFill>
            <a:ln>
              <a:noFill/>
            </a:ln>
          </p:spPr>
        </p:sp>
        <p:sp>
          <p:nvSpPr>
            <p:cNvPr id="26" name="Freeform 26"/>
            <p:cNvSpPr/>
            <p:nvPr/>
          </p:nvSpPr>
          <p:spPr>
            <a:xfrm>
              <a:off x="6000750" y="4476750"/>
              <a:ext cx="628650" cy="1581150"/>
            </a:xfrm>
            <a:custGeom>
              <a:avLst/>
              <a:gdLst/>
              <a:ahLst/>
              <a:cxnLst/>
              <a:rect l="l" t="t" r="r" b="b"/>
              <a:pathLst>
                <a:path w="628650" h="1581150">
                  <a:moveTo>
                    <a:pt x="152400" y="0"/>
                  </a:moveTo>
                  <a:cubicBezTo>
                    <a:pt x="0" y="571500"/>
                    <a:pt x="95250" y="1143000"/>
                    <a:pt x="304800" y="1581150"/>
                  </a:cubicBezTo>
                  <a:cubicBezTo>
                    <a:pt x="533400" y="1143000"/>
                    <a:pt x="628650" y="571500"/>
                    <a:pt x="438150" y="0"/>
                  </a:cubicBezTo>
                  <a:close/>
                </a:path>
              </a:pathLst>
            </a:custGeom>
            <a:gradFill>
              <a:gsLst>
                <a:gs pos="0">
                  <a:srgbClr val="F95033"/>
                </a:gs>
                <a:gs pos="100000">
                  <a:srgbClr val="F24A2D"/>
                </a:gs>
              </a:gsLst>
              <a:lin ang="5400000" scaled="1"/>
            </a:gradFill>
            <a:ln>
              <a:noFill/>
            </a:ln>
          </p:spPr>
        </p:sp>
        <p:sp>
          <p:nvSpPr>
            <p:cNvPr id="27" name="Freeform 27"/>
            <p:cNvSpPr/>
            <p:nvPr/>
          </p:nvSpPr>
          <p:spPr>
            <a:xfrm>
              <a:off x="5734050" y="4572000"/>
              <a:ext cx="323850" cy="1047750"/>
            </a:xfrm>
            <a:custGeom>
              <a:avLst/>
              <a:gdLst/>
              <a:ahLst/>
              <a:cxnLst/>
              <a:rect l="l" t="t" r="r" b="b"/>
              <a:pathLst>
                <a:path w="323850" h="1047750">
                  <a:moveTo>
                    <a:pt x="95250" y="0"/>
                  </a:moveTo>
                  <a:cubicBezTo>
                    <a:pt x="0" y="381000"/>
                    <a:pt x="57150" y="762000"/>
                    <a:pt x="152400" y="1047750"/>
                  </a:cubicBezTo>
                  <a:cubicBezTo>
                    <a:pt x="266700" y="762000"/>
                    <a:pt x="323850" y="381000"/>
                    <a:pt x="228600" y="0"/>
                  </a:cubicBezTo>
                  <a:close/>
                </a:path>
              </a:pathLst>
            </a:custGeom>
            <a:solidFill>
              <a:srgbClr val="FD8B77"/>
            </a:solidFill>
            <a:ln>
              <a:noFill/>
            </a:ln>
          </p:spPr>
        </p:sp>
        <p:sp>
          <p:nvSpPr>
            <p:cNvPr id="28" name="Freeform 28"/>
            <p:cNvSpPr/>
            <p:nvPr/>
          </p:nvSpPr>
          <p:spPr>
            <a:xfrm>
              <a:off x="6134100" y="4572000"/>
              <a:ext cx="323850" cy="1047750"/>
            </a:xfrm>
            <a:custGeom>
              <a:avLst/>
              <a:gdLst/>
              <a:ahLst/>
              <a:cxnLst/>
              <a:rect l="l" t="t" r="r" b="b"/>
              <a:pathLst>
                <a:path w="323850" h="1047750">
                  <a:moveTo>
                    <a:pt x="95250" y="0"/>
                  </a:moveTo>
                  <a:cubicBezTo>
                    <a:pt x="0" y="381000"/>
                    <a:pt x="57150" y="762000"/>
                    <a:pt x="171450" y="1047750"/>
                  </a:cubicBezTo>
                  <a:cubicBezTo>
                    <a:pt x="266700" y="762000"/>
                    <a:pt x="323850" y="381000"/>
                    <a:pt x="228600" y="0"/>
                  </a:cubicBezTo>
                  <a:close/>
                </a:path>
              </a:pathLst>
            </a:custGeom>
            <a:solidFill>
              <a:srgbClr val="FD8B77"/>
            </a:solidFill>
            <a:ln>
              <a:noFill/>
            </a:ln>
          </p:spPr>
        </p:sp>
      </p:grpSp>
      <p:grpSp>
        <p:nvGrpSpPr>
          <p:cNvPr id="39" name="item-1"/>
          <p:cNvGrpSpPr/>
          <p:nvPr/>
        </p:nvGrpSpPr>
        <p:grpSpPr>
          <a:xfrm>
            <a:off x="819150" y="2509837"/>
            <a:ext cx="1181100" cy="973741"/>
            <a:chOff x="819150" y="2509837"/>
            <a:chExt cx="1181100" cy="973741"/>
          </a:xfrm>
        </p:grpSpPr>
        <p:sp>
          <p:nvSpPr>
            <p:cNvPr id="30" name="Ellipse 30"/>
            <p:cNvSpPr/>
            <p:nvPr/>
          </p:nvSpPr>
          <p:spPr>
            <a:xfrm>
              <a:off x="819150" y="2819400"/>
              <a:ext cx="1181100" cy="304800"/>
            </a:xfrm>
            <a:prstGeom prst="ellipse">
              <a:avLst/>
            </a:prstGeom>
            <a:gradFill>
              <a:gsLst>
                <a:gs pos="0">
                  <a:srgbClr val="FFFFFF"/>
                </a:gs>
                <a:gs pos="100000">
                  <a:srgbClr val="FBD2C9"/>
                </a:gs>
              </a:gsLst>
              <a:lin ang="5400000" scaled="1"/>
            </a:gradFill>
            <a:ln w="14288">
              <a:solidFill>
                <a:srgbClr val="FCC6BB"/>
              </a:solidFill>
            </a:ln>
          </p:spPr>
        </p:sp>
        <p:grpSp>
          <p:nvGrpSpPr>
            <p:cNvPr id="37" name="Group 37"/>
            <p:cNvGrpSpPr/>
            <p:nvPr/>
          </p:nvGrpSpPr>
          <p:grpSpPr>
            <a:xfrm>
              <a:off x="1252537" y="2509837"/>
              <a:ext cx="323850" cy="314325"/>
              <a:chOff x="1252537" y="2509837"/>
              <a:chExt cx="323850" cy="314325"/>
            </a:xfrm>
          </p:grpSpPr>
          <p:sp>
            <p:nvSpPr>
              <p:cNvPr id="31" name="Freeform 31"/>
              <p:cNvSpPr/>
              <p:nvPr/>
            </p:nvSpPr>
            <p:spPr>
              <a:xfrm>
                <a:off x="1252537" y="250983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26194">
                <a:solidFill>
                  <a:srgbClr val="FA421D"/>
                </a:solidFill>
              </a:ln>
            </p:spPr>
          </p:sp>
          <p:sp>
            <p:nvSpPr>
              <p:cNvPr id="32" name="Freeform 32"/>
              <p:cNvSpPr/>
              <p:nvPr/>
            </p:nvSpPr>
            <p:spPr>
              <a:xfrm>
                <a:off x="1322387" y="2509837"/>
                <a:ext cx="69850" cy="69850"/>
              </a:xfrm>
              <a:custGeom>
                <a:avLst/>
                <a:gdLst/>
                <a:ahLst/>
                <a:cxnLst/>
                <a:rect l="l" t="t" r="r" b="b"/>
                <a:pathLst>
                  <a:path w="69850" h="69850">
                    <a:moveTo>
                      <a:pt x="0" y="0"/>
                    </a:moveTo>
                    <a:lnTo>
                      <a:pt x="0" y="69850"/>
                    </a:lnTo>
                    <a:lnTo>
                      <a:pt x="69850" y="69850"/>
                    </a:lnTo>
                  </a:path>
                </a:pathLst>
              </a:custGeom>
              <a:noFill/>
              <a:ln w="26194">
                <a:solidFill>
                  <a:srgbClr val="FA421D"/>
                </a:solidFill>
              </a:ln>
            </p:spPr>
          </p:sp>
          <p:sp>
            <p:nvSpPr>
              <p:cNvPr id="33" name="Freeform 33"/>
              <p:cNvSpPr/>
              <p:nvPr/>
            </p:nvSpPr>
            <p:spPr>
              <a:xfrm>
                <a:off x="1357312" y="2754312"/>
                <a:ext cx="9525" cy="69850"/>
              </a:xfrm>
              <a:custGeom>
                <a:avLst/>
                <a:gdLst/>
                <a:ahLst/>
                <a:cxnLst/>
                <a:rect l="l" t="t" r="r" b="b"/>
                <a:pathLst>
                  <a:path w="9525" h="69850">
                    <a:moveTo>
                      <a:pt x="0" y="0"/>
                    </a:moveTo>
                    <a:lnTo>
                      <a:pt x="0" y="69850"/>
                    </a:lnTo>
                  </a:path>
                </a:pathLst>
              </a:custGeom>
              <a:noFill/>
              <a:ln w="26194">
                <a:solidFill>
                  <a:srgbClr val="FA421D"/>
                </a:solidFill>
              </a:ln>
            </p:spPr>
          </p:sp>
          <p:sp>
            <p:nvSpPr>
              <p:cNvPr id="34" name="Freeform 34"/>
              <p:cNvSpPr/>
              <p:nvPr/>
            </p:nvSpPr>
            <p:spPr>
              <a:xfrm>
                <a:off x="1497012" y="2701925"/>
                <a:ext cx="9525" cy="122237"/>
              </a:xfrm>
              <a:custGeom>
                <a:avLst/>
                <a:gdLst/>
                <a:ahLst/>
                <a:cxnLst/>
                <a:rect l="l" t="t" r="r" b="b"/>
                <a:pathLst>
                  <a:path w="9525" h="122237">
                    <a:moveTo>
                      <a:pt x="0" y="0"/>
                    </a:moveTo>
                    <a:lnTo>
                      <a:pt x="0" y="122237"/>
                    </a:lnTo>
                  </a:path>
                </a:pathLst>
              </a:custGeom>
              <a:noFill/>
              <a:ln w="26194">
                <a:solidFill>
                  <a:srgbClr val="FA421D"/>
                </a:solidFill>
              </a:ln>
            </p:spPr>
          </p:sp>
          <p:sp>
            <p:nvSpPr>
              <p:cNvPr id="35" name="Freeform 35"/>
              <p:cNvSpPr/>
              <p:nvPr/>
            </p:nvSpPr>
            <p:spPr>
              <a:xfrm>
                <a:off x="1427162" y="2684462"/>
                <a:ext cx="9525" cy="139700"/>
              </a:xfrm>
              <a:custGeom>
                <a:avLst/>
                <a:gdLst/>
                <a:ahLst/>
                <a:cxnLst/>
                <a:rect l="l" t="t" r="r" b="b"/>
                <a:pathLst>
                  <a:path w="9525" h="139700">
                    <a:moveTo>
                      <a:pt x="0" y="0"/>
                    </a:moveTo>
                    <a:lnTo>
                      <a:pt x="0" y="139700"/>
                    </a:lnTo>
                  </a:path>
                </a:pathLst>
              </a:custGeom>
              <a:noFill/>
              <a:ln w="26194">
                <a:solidFill>
                  <a:srgbClr val="FA421D"/>
                </a:solidFill>
              </a:ln>
            </p:spPr>
          </p:sp>
          <p:sp>
            <p:nvSpPr>
              <p:cNvPr id="36" name="Freeform 36"/>
              <p:cNvSpPr/>
              <p:nvPr/>
            </p:nvSpPr>
            <p:spPr>
              <a:xfrm>
                <a:off x="1566862" y="2667000"/>
                <a:ext cx="9525" cy="157162"/>
              </a:xfrm>
              <a:custGeom>
                <a:avLst/>
                <a:gdLst/>
                <a:ahLst/>
                <a:cxnLst/>
                <a:rect l="l" t="t" r="r" b="b"/>
                <a:pathLst>
                  <a:path w="9525" h="157162">
                    <a:moveTo>
                      <a:pt x="0" y="0"/>
                    </a:moveTo>
                    <a:lnTo>
                      <a:pt x="0" y="157162"/>
                    </a:lnTo>
                  </a:path>
                </a:pathLst>
              </a:custGeom>
              <a:noFill/>
              <a:ln w="26194">
                <a:solidFill>
                  <a:srgbClr val="FA421D"/>
                </a:solidFill>
              </a:ln>
            </p:spPr>
          </p:sp>
        </p:grpSp>
        <p:sp>
          <p:nvSpPr>
            <p:cNvPr id="38" name="TextBox 38"/>
            <p:cNvSpPr txBox="1"/>
            <p:nvPr/>
          </p:nvSpPr>
          <p:spPr>
            <a:xfrm>
              <a:off x="1144753" y="3234214"/>
              <a:ext cx="529895"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创新性</a:t>
              </a:r>
            </a:p>
          </p:txBody>
        </p:sp>
      </p:grpSp>
      <p:grpSp>
        <p:nvGrpSpPr>
          <p:cNvPr id="46" name="item-2"/>
          <p:cNvGrpSpPr/>
          <p:nvPr/>
        </p:nvGrpSpPr>
        <p:grpSpPr>
          <a:xfrm>
            <a:off x="3200400" y="1881187"/>
            <a:ext cx="1181100" cy="973741"/>
            <a:chOff x="3200400" y="1881187"/>
            <a:chExt cx="1181100" cy="973741"/>
          </a:xfrm>
        </p:grpSpPr>
        <p:sp>
          <p:nvSpPr>
            <p:cNvPr id="40" name="Ellipse 40"/>
            <p:cNvSpPr/>
            <p:nvPr/>
          </p:nvSpPr>
          <p:spPr>
            <a:xfrm>
              <a:off x="3200400" y="2190750"/>
              <a:ext cx="1181100" cy="304800"/>
            </a:xfrm>
            <a:prstGeom prst="ellipse">
              <a:avLst/>
            </a:prstGeom>
            <a:gradFill>
              <a:gsLst>
                <a:gs pos="0">
                  <a:srgbClr val="FFFFFF"/>
                </a:gs>
                <a:gs pos="100000">
                  <a:srgbClr val="FBD2C9"/>
                </a:gs>
              </a:gsLst>
              <a:lin ang="5400000" scaled="1"/>
            </a:gradFill>
            <a:ln w="14288">
              <a:solidFill>
                <a:srgbClr val="FCC6BB"/>
              </a:solidFill>
            </a:ln>
          </p:spPr>
        </p:sp>
        <p:grpSp>
          <p:nvGrpSpPr>
            <p:cNvPr id="44" name="Group 44"/>
            <p:cNvGrpSpPr/>
            <p:nvPr/>
          </p:nvGrpSpPr>
          <p:grpSpPr>
            <a:xfrm>
              <a:off x="3633787" y="1881187"/>
              <a:ext cx="314324" cy="314325"/>
              <a:chOff x="3633787" y="1881187"/>
              <a:chExt cx="314324" cy="314325"/>
            </a:xfrm>
          </p:grpSpPr>
          <p:sp>
            <p:nvSpPr>
              <p:cNvPr id="41" name="Freeform 41"/>
              <p:cNvSpPr/>
              <p:nvPr/>
            </p:nvSpPr>
            <p:spPr>
              <a:xfrm>
                <a:off x="3633787" y="1881187"/>
                <a:ext cx="314324" cy="157162"/>
              </a:xfrm>
              <a:custGeom>
                <a:avLst/>
                <a:gdLst/>
                <a:ahLst/>
                <a:cxnLst/>
                <a:rect l="l" t="t" r="r" b="b"/>
                <a:pathLst>
                  <a:path w="314324" h="157162">
                    <a:moveTo>
                      <a:pt x="0" y="157162"/>
                    </a:moveTo>
                    <a:lnTo>
                      <a:pt x="17462" y="157162"/>
                    </a:lnTo>
                    <a:moveTo>
                      <a:pt x="157162" y="0"/>
                    </a:moveTo>
                    <a:lnTo>
                      <a:pt x="157162" y="17462"/>
                    </a:lnTo>
                    <a:moveTo>
                      <a:pt x="296862" y="157162"/>
                    </a:moveTo>
                    <a:lnTo>
                      <a:pt x="314324" y="157162"/>
                    </a:lnTo>
                    <a:moveTo>
                      <a:pt x="45402" y="45402"/>
                    </a:moveTo>
                    <a:lnTo>
                      <a:pt x="57626" y="57626"/>
                    </a:lnTo>
                    <a:moveTo>
                      <a:pt x="268922" y="45402"/>
                    </a:moveTo>
                    <a:lnTo>
                      <a:pt x="256698" y="57626"/>
                    </a:lnTo>
                  </a:path>
                </a:pathLst>
              </a:custGeom>
              <a:noFill/>
              <a:ln w="26194">
                <a:solidFill>
                  <a:srgbClr val="FA421D"/>
                </a:solidFill>
              </a:ln>
            </p:spPr>
          </p:sp>
          <p:sp>
            <p:nvSpPr>
              <p:cNvPr id="42" name="Freeform 42"/>
              <p:cNvSpPr/>
              <p:nvPr/>
            </p:nvSpPr>
            <p:spPr>
              <a:xfrm>
                <a:off x="3696233" y="1951037"/>
                <a:ext cx="189432" cy="244475"/>
              </a:xfrm>
              <a:custGeom>
                <a:avLst/>
                <a:gdLst/>
                <a:ahLst/>
                <a:cxnLst/>
                <a:rect l="l" t="t" r="r" b="b"/>
                <a:pathLst>
                  <a:path w="189432" h="244475">
                    <a:moveTo>
                      <a:pt x="42329" y="157162"/>
                    </a:moveTo>
                    <a:cubicBezTo>
                      <a:pt x="12263" y="134613"/>
                      <a:pt x="0" y="95355"/>
                      <a:pt x="11884" y="59702"/>
                    </a:cubicBezTo>
                    <a:cubicBezTo>
                      <a:pt x="23769" y="24048"/>
                      <a:pt x="57134" y="0"/>
                      <a:pt x="94716" y="0"/>
                    </a:cubicBezTo>
                    <a:cubicBezTo>
                      <a:pt x="132298" y="0"/>
                      <a:pt x="165664" y="24048"/>
                      <a:pt x="177548" y="59702"/>
                    </a:cubicBezTo>
                    <a:cubicBezTo>
                      <a:pt x="189432" y="95355"/>
                      <a:pt x="177169" y="134613"/>
                      <a:pt x="147104" y="157162"/>
                    </a:cubicBezTo>
                    <a:cubicBezTo>
                      <a:pt x="133276" y="170850"/>
                      <a:pt x="126792" y="190303"/>
                      <a:pt x="129641" y="209550"/>
                    </a:cubicBezTo>
                    <a:cubicBezTo>
                      <a:pt x="129641" y="228838"/>
                      <a:pt x="114005" y="244475"/>
                      <a:pt x="94716" y="244475"/>
                    </a:cubicBezTo>
                    <a:cubicBezTo>
                      <a:pt x="75428" y="244475"/>
                      <a:pt x="59791" y="228838"/>
                      <a:pt x="59791" y="209550"/>
                    </a:cubicBezTo>
                    <a:cubicBezTo>
                      <a:pt x="62641" y="190303"/>
                      <a:pt x="56156" y="170850"/>
                      <a:pt x="42329" y="157162"/>
                    </a:cubicBezTo>
                  </a:path>
                </a:pathLst>
              </a:custGeom>
              <a:noFill/>
              <a:ln w="26194">
                <a:solidFill>
                  <a:srgbClr val="FA421D"/>
                </a:solidFill>
              </a:ln>
            </p:spPr>
          </p:sp>
          <p:sp>
            <p:nvSpPr>
              <p:cNvPr id="43" name="Freeform 43"/>
              <p:cNvSpPr/>
              <p:nvPr/>
            </p:nvSpPr>
            <p:spPr>
              <a:xfrm>
                <a:off x="3750786" y="2125662"/>
                <a:ext cx="80327" cy="9525"/>
              </a:xfrm>
              <a:custGeom>
                <a:avLst/>
                <a:gdLst/>
                <a:ahLst/>
                <a:cxnLst/>
                <a:rect l="l" t="t" r="r" b="b"/>
                <a:pathLst>
                  <a:path w="80327" h="9525">
                    <a:moveTo>
                      <a:pt x="0" y="0"/>
                    </a:moveTo>
                    <a:lnTo>
                      <a:pt x="80327" y="0"/>
                    </a:lnTo>
                  </a:path>
                </a:pathLst>
              </a:custGeom>
              <a:noFill/>
              <a:ln w="26194">
                <a:solidFill>
                  <a:srgbClr val="FA421D"/>
                </a:solidFill>
              </a:ln>
            </p:spPr>
          </p:sp>
        </p:grpSp>
        <p:sp>
          <p:nvSpPr>
            <p:cNvPr id="45" name="TextBox 45"/>
            <p:cNvSpPr txBox="1"/>
            <p:nvPr/>
          </p:nvSpPr>
          <p:spPr>
            <a:xfrm>
              <a:off x="3526003" y="2605564"/>
              <a:ext cx="529895"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创新性</a:t>
              </a:r>
            </a:p>
          </p:txBody>
        </p:sp>
      </p:grpSp>
      <p:grpSp>
        <p:nvGrpSpPr>
          <p:cNvPr id="53" name="item-3"/>
          <p:cNvGrpSpPr/>
          <p:nvPr/>
        </p:nvGrpSpPr>
        <p:grpSpPr>
          <a:xfrm>
            <a:off x="7772400" y="1881187"/>
            <a:ext cx="1181100" cy="973741"/>
            <a:chOff x="7772400" y="1881187"/>
            <a:chExt cx="1181100" cy="973741"/>
          </a:xfrm>
        </p:grpSpPr>
        <p:sp>
          <p:nvSpPr>
            <p:cNvPr id="47" name="Ellipse 47"/>
            <p:cNvSpPr/>
            <p:nvPr/>
          </p:nvSpPr>
          <p:spPr>
            <a:xfrm>
              <a:off x="7772400" y="2190750"/>
              <a:ext cx="1181100" cy="304800"/>
            </a:xfrm>
            <a:prstGeom prst="ellipse">
              <a:avLst/>
            </a:prstGeom>
            <a:gradFill>
              <a:gsLst>
                <a:gs pos="0">
                  <a:srgbClr val="FFFFFF"/>
                </a:gs>
                <a:gs pos="100000">
                  <a:srgbClr val="FBD2C9"/>
                </a:gs>
              </a:gsLst>
              <a:lin ang="5400000" scaled="1"/>
            </a:gradFill>
            <a:ln w="14288">
              <a:solidFill>
                <a:srgbClr val="FCC6BB"/>
              </a:solidFill>
            </a:ln>
          </p:spPr>
        </p:sp>
        <p:grpSp>
          <p:nvGrpSpPr>
            <p:cNvPr id="51" name="Group 51"/>
            <p:cNvGrpSpPr/>
            <p:nvPr/>
          </p:nvGrpSpPr>
          <p:grpSpPr>
            <a:xfrm>
              <a:off x="8212807" y="1881187"/>
              <a:ext cx="300250" cy="312404"/>
              <a:chOff x="8212807" y="1881187"/>
              <a:chExt cx="300250" cy="312404"/>
            </a:xfrm>
          </p:grpSpPr>
          <p:sp>
            <p:nvSpPr>
              <p:cNvPr id="48" name="Freeform 48"/>
              <p:cNvSpPr/>
              <p:nvPr/>
            </p:nvSpPr>
            <p:spPr>
              <a:xfrm>
                <a:off x="8258175" y="1881187"/>
                <a:ext cx="209550" cy="209550"/>
              </a:xfrm>
              <a:custGeom>
                <a:avLst/>
                <a:gdLst/>
                <a:ahLst/>
                <a:cxnLst/>
                <a:rect l="l" t="t" r="r" b="b"/>
                <a:pathLst>
                  <a:path w="209550" h="209550">
                    <a:moveTo>
                      <a:pt x="0" y="104775"/>
                    </a:moveTo>
                    <a:cubicBezTo>
                      <a:pt x="0" y="162640"/>
                      <a:pt x="46909" y="209550"/>
                      <a:pt x="104775" y="209550"/>
                    </a:cubicBezTo>
                    <a:cubicBezTo>
                      <a:pt x="162640" y="209550"/>
                      <a:pt x="209550" y="162640"/>
                      <a:pt x="209550" y="104775"/>
                    </a:cubicBezTo>
                    <a:cubicBezTo>
                      <a:pt x="209550" y="46909"/>
                      <a:pt x="162640" y="0"/>
                      <a:pt x="104775" y="0"/>
                    </a:cubicBezTo>
                    <a:cubicBezTo>
                      <a:pt x="46909" y="0"/>
                      <a:pt x="0" y="46909"/>
                      <a:pt x="0" y="104775"/>
                    </a:cubicBezTo>
                  </a:path>
                </a:pathLst>
              </a:custGeom>
              <a:noFill/>
              <a:ln w="26194">
                <a:solidFill>
                  <a:srgbClr val="FA421D"/>
                </a:solidFill>
              </a:ln>
            </p:spPr>
          </p:sp>
          <p:sp>
            <p:nvSpPr>
              <p:cNvPr id="49" name="Freeform 49"/>
              <p:cNvSpPr/>
              <p:nvPr/>
            </p:nvSpPr>
            <p:spPr>
              <a:xfrm>
                <a:off x="8362950" y="2038350"/>
                <a:ext cx="150107" cy="155241"/>
              </a:xfrm>
              <a:custGeom>
                <a:avLst/>
                <a:gdLst/>
                <a:ahLst/>
                <a:cxnLst/>
                <a:rect l="l" t="t" r="r" b="b"/>
                <a:pathLst>
                  <a:path w="150107" h="155241">
                    <a:moveTo>
                      <a:pt x="0" y="52387"/>
                    </a:moveTo>
                    <a:lnTo>
                      <a:pt x="59372" y="155241"/>
                    </a:lnTo>
                    <a:lnTo>
                      <a:pt x="87277" y="98785"/>
                    </a:lnTo>
                    <a:lnTo>
                      <a:pt x="150107" y="102836"/>
                    </a:lnTo>
                    <a:lnTo>
                      <a:pt x="90735" y="0"/>
                    </a:lnTo>
                  </a:path>
                </a:pathLst>
              </a:custGeom>
              <a:noFill/>
              <a:ln w="26194">
                <a:solidFill>
                  <a:srgbClr val="FA421D"/>
                </a:solidFill>
              </a:ln>
            </p:spPr>
          </p:sp>
          <p:sp>
            <p:nvSpPr>
              <p:cNvPr id="50" name="Freeform 50"/>
              <p:cNvSpPr/>
              <p:nvPr/>
            </p:nvSpPr>
            <p:spPr>
              <a:xfrm>
                <a:off x="8212807" y="2038350"/>
                <a:ext cx="150107" cy="155224"/>
              </a:xfrm>
              <a:custGeom>
                <a:avLst/>
                <a:gdLst/>
                <a:ahLst/>
                <a:cxnLst/>
                <a:rect l="l" t="t" r="r" b="b"/>
                <a:pathLst>
                  <a:path w="150107" h="155224">
                    <a:moveTo>
                      <a:pt x="59372" y="0"/>
                    </a:moveTo>
                    <a:lnTo>
                      <a:pt x="0" y="102854"/>
                    </a:lnTo>
                    <a:lnTo>
                      <a:pt x="62830" y="98785"/>
                    </a:lnTo>
                    <a:lnTo>
                      <a:pt x="90735" y="155224"/>
                    </a:lnTo>
                    <a:lnTo>
                      <a:pt x="150107" y="52387"/>
                    </a:lnTo>
                  </a:path>
                </a:pathLst>
              </a:custGeom>
              <a:noFill/>
              <a:ln w="26194">
                <a:solidFill>
                  <a:srgbClr val="FA421D"/>
                </a:solidFill>
              </a:ln>
            </p:spPr>
          </p:sp>
        </p:grpSp>
        <p:sp>
          <p:nvSpPr>
            <p:cNvPr id="52" name="TextBox 52"/>
            <p:cNvSpPr txBox="1"/>
            <p:nvPr/>
          </p:nvSpPr>
          <p:spPr>
            <a:xfrm>
              <a:off x="8098003" y="2605564"/>
              <a:ext cx="529895"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创新性</a:t>
              </a:r>
            </a:p>
          </p:txBody>
        </p:sp>
      </p:grpSp>
      <p:grpSp>
        <p:nvGrpSpPr>
          <p:cNvPr id="61" name="item-4"/>
          <p:cNvGrpSpPr/>
          <p:nvPr/>
        </p:nvGrpSpPr>
        <p:grpSpPr>
          <a:xfrm>
            <a:off x="10172700" y="2509837"/>
            <a:ext cx="1181100" cy="973741"/>
            <a:chOff x="10172700" y="2509837"/>
            <a:chExt cx="1181100" cy="973741"/>
          </a:xfrm>
        </p:grpSpPr>
        <p:sp>
          <p:nvSpPr>
            <p:cNvPr id="54" name="Ellipse 54"/>
            <p:cNvSpPr/>
            <p:nvPr/>
          </p:nvSpPr>
          <p:spPr>
            <a:xfrm>
              <a:off x="10172700" y="2819400"/>
              <a:ext cx="1181100" cy="304800"/>
            </a:xfrm>
            <a:prstGeom prst="ellipse">
              <a:avLst/>
            </a:prstGeom>
            <a:gradFill>
              <a:gsLst>
                <a:gs pos="0">
                  <a:srgbClr val="FFFFFF"/>
                </a:gs>
                <a:gs pos="100000">
                  <a:srgbClr val="FBD2C9"/>
                </a:gs>
              </a:gsLst>
              <a:lin ang="5400000" scaled="1"/>
            </a:gradFill>
            <a:ln w="14288">
              <a:solidFill>
                <a:srgbClr val="FCC6BB"/>
              </a:solidFill>
            </a:ln>
          </p:spPr>
        </p:sp>
        <p:grpSp>
          <p:nvGrpSpPr>
            <p:cNvPr id="59" name="Group 59"/>
            <p:cNvGrpSpPr/>
            <p:nvPr/>
          </p:nvGrpSpPr>
          <p:grpSpPr>
            <a:xfrm>
              <a:off x="10641012" y="2509837"/>
              <a:ext cx="244475" cy="314324"/>
              <a:chOff x="10641012" y="2509837"/>
              <a:chExt cx="244475" cy="314324"/>
            </a:xfrm>
          </p:grpSpPr>
          <p:sp>
            <p:nvSpPr>
              <p:cNvPr id="55" name="Freeform 55"/>
              <p:cNvSpPr/>
              <p:nvPr/>
            </p:nvSpPr>
            <p:spPr>
              <a:xfrm>
                <a:off x="10641012" y="2544762"/>
                <a:ext cx="244475" cy="279399"/>
              </a:xfrm>
              <a:custGeom>
                <a:avLst/>
                <a:gdLst/>
                <a:ahLst/>
                <a:cxnLst/>
                <a:rect l="l" t="t" r="r" b="b"/>
                <a:pathLst>
                  <a:path w="244475" h="279399">
                    <a:moveTo>
                      <a:pt x="69850" y="0"/>
                    </a:moveTo>
                    <a:lnTo>
                      <a:pt x="34925" y="0"/>
                    </a:lnTo>
                    <a:cubicBezTo>
                      <a:pt x="15636" y="0"/>
                      <a:pt x="0" y="15636"/>
                      <a:pt x="0" y="34925"/>
                    </a:cubicBezTo>
                    <a:lnTo>
                      <a:pt x="0" y="244475"/>
                    </a:lnTo>
                    <a:cubicBezTo>
                      <a:pt x="0" y="263763"/>
                      <a:pt x="15636" y="279399"/>
                      <a:pt x="34925" y="279399"/>
                    </a:cubicBezTo>
                    <a:lnTo>
                      <a:pt x="209550" y="279399"/>
                    </a:lnTo>
                    <a:cubicBezTo>
                      <a:pt x="228838" y="279399"/>
                      <a:pt x="244475" y="263763"/>
                      <a:pt x="244475" y="244475"/>
                    </a:cubicBezTo>
                    <a:lnTo>
                      <a:pt x="244475" y="34925"/>
                    </a:lnTo>
                    <a:cubicBezTo>
                      <a:pt x="244475" y="15636"/>
                      <a:pt x="228838" y="0"/>
                      <a:pt x="209550" y="0"/>
                    </a:cubicBezTo>
                    <a:lnTo>
                      <a:pt x="174625" y="0"/>
                    </a:lnTo>
                  </a:path>
                </a:pathLst>
              </a:custGeom>
              <a:noFill/>
              <a:ln w="26194">
                <a:solidFill>
                  <a:srgbClr val="FA421D"/>
                </a:solidFill>
              </a:ln>
            </p:spPr>
          </p:sp>
          <p:sp>
            <p:nvSpPr>
              <p:cNvPr id="56" name="Freeform 56"/>
              <p:cNvSpPr/>
              <p:nvPr/>
            </p:nvSpPr>
            <p:spPr>
              <a:xfrm>
                <a:off x="10710862" y="2509837"/>
                <a:ext cx="104775" cy="69850"/>
              </a:xfrm>
              <a:custGeom>
                <a:avLst/>
                <a:gdLst/>
                <a:ahLst/>
                <a:cxnLst/>
                <a:rect l="l" t="t" r="r" b="b"/>
                <a:pathLst>
                  <a:path w="104775" h="69850">
                    <a:moveTo>
                      <a:pt x="0" y="34925"/>
                    </a:moveTo>
                    <a:cubicBezTo>
                      <a:pt x="0" y="15636"/>
                      <a:pt x="15636" y="0"/>
                      <a:pt x="34925" y="0"/>
                    </a:cubicBezTo>
                    <a:lnTo>
                      <a:pt x="69850" y="0"/>
                    </a:lnTo>
                    <a:cubicBezTo>
                      <a:pt x="89138" y="0"/>
                      <a:pt x="104775" y="15636"/>
                      <a:pt x="104775" y="34925"/>
                    </a:cubicBezTo>
                    <a:cubicBezTo>
                      <a:pt x="104775" y="54213"/>
                      <a:pt x="89138" y="69850"/>
                      <a:pt x="69850" y="69850"/>
                    </a:cubicBezTo>
                    <a:lnTo>
                      <a:pt x="34925" y="69850"/>
                    </a:lnTo>
                    <a:cubicBezTo>
                      <a:pt x="15636" y="69850"/>
                      <a:pt x="0" y="54213"/>
                      <a:pt x="0" y="34925"/>
                    </a:cubicBezTo>
                  </a:path>
                </a:pathLst>
              </a:custGeom>
              <a:noFill/>
              <a:ln w="26194">
                <a:solidFill>
                  <a:srgbClr val="FA421D"/>
                </a:solidFill>
              </a:ln>
            </p:spPr>
          </p:sp>
          <p:sp>
            <p:nvSpPr>
              <p:cNvPr id="57" name="Freeform 57"/>
              <p:cNvSpPr/>
              <p:nvPr/>
            </p:nvSpPr>
            <p:spPr>
              <a:xfrm>
                <a:off x="10728325" y="2649537"/>
                <a:ext cx="69850" cy="104775"/>
              </a:xfrm>
              <a:custGeom>
                <a:avLst/>
                <a:gdLst/>
                <a:ahLst/>
                <a:cxnLst/>
                <a:rect l="l" t="t" r="r" b="b"/>
                <a:pathLst>
                  <a:path w="69850" h="104775">
                    <a:moveTo>
                      <a:pt x="69850" y="0"/>
                    </a:moveTo>
                    <a:lnTo>
                      <a:pt x="26194" y="0"/>
                    </a:lnTo>
                    <a:cubicBezTo>
                      <a:pt x="11727" y="0"/>
                      <a:pt x="0" y="11727"/>
                      <a:pt x="0" y="26194"/>
                    </a:cubicBezTo>
                    <a:cubicBezTo>
                      <a:pt x="0" y="40660"/>
                      <a:pt x="11727" y="52387"/>
                      <a:pt x="26194" y="52387"/>
                    </a:cubicBezTo>
                    <a:lnTo>
                      <a:pt x="43656" y="52387"/>
                    </a:lnTo>
                    <a:cubicBezTo>
                      <a:pt x="58123" y="52387"/>
                      <a:pt x="69850" y="64115"/>
                      <a:pt x="69850" y="78581"/>
                    </a:cubicBezTo>
                    <a:cubicBezTo>
                      <a:pt x="69850" y="93047"/>
                      <a:pt x="58123" y="104775"/>
                      <a:pt x="43656" y="104775"/>
                    </a:cubicBezTo>
                    <a:lnTo>
                      <a:pt x="0" y="104775"/>
                    </a:lnTo>
                  </a:path>
                </a:pathLst>
              </a:custGeom>
              <a:noFill/>
              <a:ln w="26194">
                <a:solidFill>
                  <a:srgbClr val="FA421D"/>
                </a:solidFill>
              </a:ln>
            </p:spPr>
          </p:sp>
          <p:sp>
            <p:nvSpPr>
              <p:cNvPr id="58" name="Freeform 58"/>
              <p:cNvSpPr/>
              <p:nvPr/>
            </p:nvSpPr>
            <p:spPr>
              <a:xfrm>
                <a:off x="10763250" y="2632075"/>
                <a:ext cx="9525" cy="139700"/>
              </a:xfrm>
              <a:custGeom>
                <a:avLst/>
                <a:gdLst/>
                <a:ahLst/>
                <a:cxnLst/>
                <a:rect l="l" t="t" r="r" b="b"/>
                <a:pathLst>
                  <a:path w="9525" h="139700">
                    <a:moveTo>
                      <a:pt x="0" y="122237"/>
                    </a:moveTo>
                    <a:lnTo>
                      <a:pt x="0" y="139700"/>
                    </a:lnTo>
                    <a:moveTo>
                      <a:pt x="0" y="0"/>
                    </a:moveTo>
                    <a:lnTo>
                      <a:pt x="0" y="17462"/>
                    </a:lnTo>
                  </a:path>
                </a:pathLst>
              </a:custGeom>
              <a:noFill/>
              <a:ln w="26194">
                <a:solidFill>
                  <a:srgbClr val="FA421D"/>
                </a:solidFill>
              </a:ln>
            </p:spPr>
          </p:sp>
        </p:grpSp>
        <p:sp>
          <p:nvSpPr>
            <p:cNvPr id="60" name="TextBox 60"/>
            <p:cNvSpPr txBox="1"/>
            <p:nvPr/>
          </p:nvSpPr>
          <p:spPr>
            <a:xfrm>
              <a:off x="10498303" y="3234214"/>
              <a:ext cx="529895"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创新性</a:t>
              </a:r>
            </a:p>
          </p:txBody>
        </p:sp>
      </p:grpSp>
      <p:grpSp>
        <p:nvGrpSpPr>
          <p:cNvPr id="65" name="card-left"/>
          <p:cNvGrpSpPr/>
          <p:nvPr/>
        </p:nvGrpSpPr>
        <p:grpSpPr>
          <a:xfrm>
            <a:off x="762000" y="4286250"/>
            <a:ext cx="3619500" cy="1619250"/>
            <a:chOff x="762000" y="4286250"/>
            <a:chExt cx="3619500" cy="1619250"/>
          </a:xfrm>
        </p:grpSpPr>
        <p:sp>
          <p:nvSpPr>
            <p:cNvPr id="62" name="Rectangle 62"/>
            <p:cNvSpPr/>
            <p:nvPr/>
          </p:nvSpPr>
          <p:spPr>
            <a:xfrm>
              <a:off x="762000" y="4286250"/>
              <a:ext cx="3619500" cy="1619250"/>
            </a:xfrm>
            <a:prstGeom prst="roundRect">
              <a:avLst>
                <a:gd name="adj" fmla="val 8235"/>
              </a:avLst>
            </a:prstGeom>
            <a:solidFill>
              <a:srgbClr val="FFFFFF"/>
            </a:solidFill>
            <a:ln w="14288">
              <a:solidFill>
                <a:srgbClr val="FCC6BB"/>
              </a:solidFill>
            </a:ln>
          </p:spPr>
        </p:sp>
        <p:sp>
          <p:nvSpPr>
            <p:cNvPr id="63" name="TextBox 63"/>
            <p:cNvSpPr txBox="1"/>
            <p:nvPr/>
          </p:nvSpPr>
          <p:spPr>
            <a:xfrm>
              <a:off x="983742" y="4559618"/>
              <a:ext cx="1467612"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点击此处添加标题</a:t>
              </a:r>
            </a:p>
          </p:txBody>
        </p:sp>
        <p:sp>
          <p:nvSpPr>
            <p:cNvPr id="64" name="TextBox 64"/>
            <p:cNvSpPr txBox="1"/>
            <p:nvPr/>
          </p:nvSpPr>
          <p:spPr>
            <a:xfrm>
              <a:off x="985266" y="4934902"/>
              <a:ext cx="2010918" cy="453009"/>
            </a:xfrm>
            <a:prstGeom prst="rect">
              <a:avLst/>
            </a:prstGeom>
            <a:noFill/>
            <a:ln>
              <a:noFill/>
            </a:ln>
          </p:spPr>
          <p:txBody>
            <a:bodyPr wrap="none" lIns="0" tIns="0" rIns="0" bIns="0" anchor="t" anchorCtr="0">
              <a:spAutoFit/>
            </a:bodyPr>
            <a:lstStyle/>
            <a:p>
              <a:pPr algn="l">
                <a:lnSpc>
                  <a:spcPts val="1950"/>
                </a:lnSpc>
              </a:pPr>
              <a:r>
                <a:rPr lang="zh-CN" sz="1050" dirty="0">
                  <a:solidFill>
                    <a:srgbClr val="3D241F"/>
                  </a:solidFill>
                  <a:latin typeface="+mn-lt"/>
                  <a:ea typeface="+mn-ea"/>
                  <a:cs typeface="+mn-cs"/>
                </a:rPr>
                <a:t>输入你的正文，文字是您思想的提</a:t>
              </a:r>
              <a:br/>
              <a:r>
                <a:rPr lang="zh-CN" sz="1050" dirty="0">
                  <a:solidFill>
                    <a:srgbClr val="3D241F"/>
                  </a:solidFill>
                  <a:latin typeface="+mn-lt"/>
                  <a:ea typeface="+mn-ea"/>
                  <a:cs typeface="+mn-cs"/>
                </a:rPr>
                <a:t>炼，为了最终演示的良好效果</a:t>
              </a:r>
            </a:p>
          </p:txBody>
        </p:sp>
      </p:grpSp>
      <p:grpSp>
        <p:nvGrpSpPr>
          <p:cNvPr id="69" name="card-right"/>
          <p:cNvGrpSpPr/>
          <p:nvPr/>
        </p:nvGrpSpPr>
        <p:grpSpPr>
          <a:xfrm>
            <a:off x="7810500" y="4286250"/>
            <a:ext cx="3619500" cy="1619250"/>
            <a:chOff x="7810500" y="4286250"/>
            <a:chExt cx="3619500" cy="1619250"/>
          </a:xfrm>
        </p:grpSpPr>
        <p:sp>
          <p:nvSpPr>
            <p:cNvPr id="66" name="Rectangle 66"/>
            <p:cNvSpPr/>
            <p:nvPr/>
          </p:nvSpPr>
          <p:spPr>
            <a:xfrm>
              <a:off x="7810500" y="4286250"/>
              <a:ext cx="3619500" cy="1619250"/>
            </a:xfrm>
            <a:prstGeom prst="roundRect">
              <a:avLst>
                <a:gd name="adj" fmla="val 8235"/>
              </a:avLst>
            </a:prstGeom>
            <a:solidFill>
              <a:srgbClr val="FFFFFF"/>
            </a:solidFill>
            <a:ln w="14288">
              <a:solidFill>
                <a:srgbClr val="FCC6BB"/>
              </a:solidFill>
            </a:ln>
          </p:spPr>
        </p:sp>
        <p:sp>
          <p:nvSpPr>
            <p:cNvPr id="67" name="TextBox 67"/>
            <p:cNvSpPr txBox="1"/>
            <p:nvPr/>
          </p:nvSpPr>
          <p:spPr>
            <a:xfrm>
              <a:off x="8032242" y="4559618"/>
              <a:ext cx="1467612"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点击此处添加标题</a:t>
              </a:r>
            </a:p>
          </p:txBody>
        </p:sp>
        <p:sp>
          <p:nvSpPr>
            <p:cNvPr id="68" name="TextBox 68"/>
            <p:cNvSpPr txBox="1"/>
            <p:nvPr/>
          </p:nvSpPr>
          <p:spPr>
            <a:xfrm>
              <a:off x="8033766" y="4934902"/>
              <a:ext cx="2010918" cy="453009"/>
            </a:xfrm>
            <a:prstGeom prst="rect">
              <a:avLst/>
            </a:prstGeom>
            <a:noFill/>
            <a:ln>
              <a:noFill/>
            </a:ln>
          </p:spPr>
          <p:txBody>
            <a:bodyPr wrap="none" lIns="0" tIns="0" rIns="0" bIns="0" anchor="t" anchorCtr="0">
              <a:spAutoFit/>
            </a:bodyPr>
            <a:lstStyle/>
            <a:p>
              <a:pPr algn="l">
                <a:lnSpc>
                  <a:spcPts val="1950"/>
                </a:lnSpc>
              </a:pPr>
              <a:r>
                <a:rPr lang="zh-CN" sz="1050" dirty="0">
                  <a:solidFill>
                    <a:srgbClr val="3D241F"/>
                  </a:solidFill>
                  <a:latin typeface="+mn-lt"/>
                  <a:ea typeface="+mn-ea"/>
                  <a:cs typeface="+mn-cs"/>
                </a:rPr>
                <a:t>输入你的正文，文字是您思想的提</a:t>
              </a:r>
              <a:br/>
              <a:r>
                <a:rPr lang="zh-CN" sz="1050" dirty="0">
                  <a:solidFill>
                    <a:srgbClr val="3D241F"/>
                  </a:solidFill>
                  <a:latin typeface="+mn-lt"/>
                  <a:ea typeface="+mn-ea"/>
                  <a:cs typeface="+mn-cs"/>
                </a:rPr>
                <a:t>炼，为了最终演示的良好效果</a:t>
              </a:r>
            </a:p>
          </p:txBody>
        </p:sp>
      </p:gr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band-1"/>
          <p:cNvSpPr/>
          <p:nvPr/>
        </p:nvSpPr>
        <p:spPr>
          <a:xfrm>
            <a:off x="619125" y="1304925"/>
            <a:ext cx="11049000" cy="666750"/>
          </a:xfrm>
          <a:prstGeom prst="rect">
            <a:avLst/>
          </a:prstGeom>
          <a:gradFill>
            <a:gsLst>
              <a:gs pos="0">
                <a:srgbClr val="FFFFFF">
                  <a:alpha val="0"/>
                </a:srgbClr>
              </a:gs>
              <a:gs pos="100000">
                <a:srgbClr val="D2E4FE"/>
              </a:gs>
            </a:gsLst>
            <a:lin ang="0" scaled="1"/>
          </a:gradFill>
          <a:ln>
            <a:noFill/>
          </a:ln>
        </p:spPr>
      </p:sp>
      <p:sp>
        <p:nvSpPr>
          <p:cNvPr id="3" name="deco-band-2"/>
          <p:cNvSpPr/>
          <p:nvPr/>
        </p:nvSpPr>
        <p:spPr>
          <a:xfrm>
            <a:off x="619125" y="2419350"/>
            <a:ext cx="11049000" cy="666750"/>
          </a:xfrm>
          <a:prstGeom prst="rect">
            <a:avLst/>
          </a:prstGeom>
          <a:gradFill>
            <a:gsLst>
              <a:gs pos="0">
                <a:srgbClr val="FFFFFF">
                  <a:alpha val="0"/>
                </a:srgbClr>
              </a:gs>
              <a:gs pos="100000">
                <a:srgbClr val="D2E4FE"/>
              </a:gs>
            </a:gsLst>
            <a:lin ang="0" scaled="1"/>
          </a:gradFill>
          <a:ln>
            <a:noFill/>
          </a:ln>
        </p:spPr>
      </p:sp>
      <p:sp>
        <p:nvSpPr>
          <p:cNvPr id="4" name="deco-band-3"/>
          <p:cNvSpPr/>
          <p:nvPr/>
        </p:nvSpPr>
        <p:spPr>
          <a:xfrm>
            <a:off x="619125" y="3562350"/>
            <a:ext cx="11049000" cy="666750"/>
          </a:xfrm>
          <a:prstGeom prst="rect">
            <a:avLst/>
          </a:prstGeom>
          <a:gradFill>
            <a:gsLst>
              <a:gs pos="0">
                <a:srgbClr val="FFFFFF">
                  <a:alpha val="0"/>
                </a:srgbClr>
              </a:gs>
              <a:gs pos="100000">
                <a:srgbClr val="D2E4FE"/>
              </a:gs>
            </a:gsLst>
            <a:lin ang="0" scaled="1"/>
          </a:gradFill>
          <a:ln>
            <a:noFill/>
          </a:ln>
        </p:spPr>
      </p:sp>
      <p:sp>
        <p:nvSpPr>
          <p:cNvPr id="5" name="deco-band-4"/>
          <p:cNvSpPr/>
          <p:nvPr/>
        </p:nvSpPr>
        <p:spPr>
          <a:xfrm>
            <a:off x="619125" y="4676775"/>
            <a:ext cx="11049000" cy="666750"/>
          </a:xfrm>
          <a:prstGeom prst="rect">
            <a:avLst/>
          </a:prstGeom>
          <a:gradFill>
            <a:gsLst>
              <a:gs pos="0">
                <a:srgbClr val="FFFFFF">
                  <a:alpha val="0"/>
                </a:srgbClr>
              </a:gs>
              <a:gs pos="100000">
                <a:srgbClr val="D2E4FE"/>
              </a:gs>
            </a:gsLst>
            <a:lin ang="0" scaled="1"/>
          </a:gradFill>
          <a:ln>
            <a:noFill/>
          </a:ln>
        </p:spPr>
      </p:sp>
      <p:sp>
        <p:nvSpPr>
          <p:cNvPr id="6" name="deco-band-5"/>
          <p:cNvSpPr/>
          <p:nvPr/>
        </p:nvSpPr>
        <p:spPr>
          <a:xfrm>
            <a:off x="619125" y="5800725"/>
            <a:ext cx="11049000" cy="666750"/>
          </a:xfrm>
          <a:prstGeom prst="rect">
            <a:avLst/>
          </a:prstGeom>
          <a:gradFill>
            <a:gsLst>
              <a:gs pos="0">
                <a:srgbClr val="FFFFFF">
                  <a:alpha val="0"/>
                </a:srgbClr>
              </a:gs>
              <a:gs pos="100000">
                <a:srgbClr val="D2E4FE"/>
              </a:gs>
            </a:gsLst>
            <a:lin ang="0" scaled="1"/>
          </a:gradFill>
          <a:ln>
            <a:noFill/>
          </a:ln>
        </p:spPr>
      </p:sp>
      <p:sp>
        <p:nvSpPr>
          <p:cNvPr id="7" name="Line 7"/>
          <p:cNvSpPr/>
          <p:nvPr/>
        </p:nvSpPr>
        <p:spPr>
          <a:xfrm flipV="1">
            <a:off x="2819400" y="1200150"/>
            <a:ext cx="2476500" cy="5372100"/>
          </a:xfrm>
          <a:prstGeom prst="line">
            <a:avLst/>
          </a:prstGeom>
          <a:noFill/>
          <a:ln w="28575">
            <a:solidFill>
              <a:srgbClr val="FFFFFF"/>
            </a:solidFill>
            <a:tailEnd type="triangle" w="lg" len="lg"/>
          </a:ln>
        </p:spPr>
      </p:sp>
      <p:grpSp>
        <p:nvGrpSpPr>
          <p:cNvPr id="12" name="header"/>
          <p:cNvGrpSpPr/>
          <p:nvPr/>
        </p:nvGrpSpPr>
        <p:grpSpPr>
          <a:xfrm>
            <a:off x="0" y="0"/>
            <a:ext cx="12192000" cy="551879"/>
            <a:chOff x="0" y="0"/>
            <a:chExt cx="12192000" cy="551879"/>
          </a:xfrm>
        </p:grpSpPr>
        <p:sp>
          <p:nvSpPr>
            <p:cNvPr id="8" name="Polygon 8"/>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9" name="TextBox 9"/>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14</a:t>
              </a:r>
            </a:p>
          </p:txBody>
        </p:sp>
        <p:sp>
          <p:nvSpPr>
            <p:cNvPr id="10" name="TextBox 10"/>
            <p:cNvSpPr txBox="1"/>
            <p:nvPr/>
          </p:nvSpPr>
          <p:spPr>
            <a:xfrm>
              <a:off x="904494" y="170498"/>
              <a:ext cx="2119884"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智能制造实施架构</a:t>
              </a:r>
            </a:p>
          </p:txBody>
        </p:sp>
        <p:sp>
          <p:nvSpPr>
            <p:cNvPr id="11" name="Line 11"/>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8" name="pyramid"/>
          <p:cNvGrpSpPr/>
          <p:nvPr/>
        </p:nvGrpSpPr>
        <p:grpSpPr>
          <a:xfrm>
            <a:off x="2324100" y="1181100"/>
            <a:ext cx="6019800" cy="5486400"/>
            <a:chOff x="2324100" y="1181100"/>
            <a:chExt cx="6019800" cy="5486400"/>
          </a:xfrm>
        </p:grpSpPr>
        <p:sp>
          <p:nvSpPr>
            <p:cNvPr id="13" name="Freeform 13"/>
            <p:cNvSpPr/>
            <p:nvPr/>
          </p:nvSpPr>
          <p:spPr>
            <a:xfrm>
              <a:off x="4806315" y="1181100"/>
              <a:ext cx="1055370" cy="962025"/>
            </a:xfrm>
            <a:prstGeom prst="triangle">
              <a:avLst/>
            </a:prstGeom>
            <a:solidFill>
              <a:srgbClr val="FC937D"/>
            </a:solidFill>
            <a:ln>
              <a:noFill/>
            </a:ln>
          </p:spPr>
        </p:sp>
        <p:sp>
          <p:nvSpPr>
            <p:cNvPr id="14" name="Freeform 14"/>
            <p:cNvSpPr/>
            <p:nvPr/>
          </p:nvSpPr>
          <p:spPr>
            <a:xfrm>
              <a:off x="4215765" y="2200275"/>
              <a:ext cx="2236470" cy="1019175"/>
            </a:xfrm>
            <a:prstGeom prst="trapezoid">
              <a:avLst>
                <a:gd name="adj" fmla="val 54870"/>
              </a:avLst>
            </a:prstGeom>
            <a:solidFill>
              <a:srgbClr val="FB795E"/>
            </a:solidFill>
            <a:ln>
              <a:noFill/>
            </a:ln>
          </p:spPr>
        </p:sp>
        <p:sp>
          <p:nvSpPr>
            <p:cNvPr id="15" name="Freeform 15"/>
            <p:cNvSpPr/>
            <p:nvPr/>
          </p:nvSpPr>
          <p:spPr>
            <a:xfrm>
              <a:off x="3661410" y="3276600"/>
              <a:ext cx="3345180" cy="952500"/>
            </a:xfrm>
            <a:prstGeom prst="trapezoid">
              <a:avLst>
                <a:gd name="adj" fmla="val 54870"/>
              </a:avLst>
            </a:prstGeom>
            <a:solidFill>
              <a:srgbClr val="FB684A"/>
            </a:solidFill>
            <a:ln>
              <a:noFill/>
            </a:ln>
          </p:spPr>
        </p:sp>
        <p:sp>
          <p:nvSpPr>
            <p:cNvPr id="16" name="Freeform 16"/>
            <p:cNvSpPr/>
            <p:nvPr/>
          </p:nvSpPr>
          <p:spPr>
            <a:xfrm>
              <a:off x="3071812" y="4286250"/>
              <a:ext cx="4524375" cy="1019175"/>
            </a:xfrm>
            <a:prstGeom prst="trapezoid">
              <a:avLst>
                <a:gd name="adj" fmla="val 54870"/>
              </a:avLst>
            </a:prstGeom>
            <a:solidFill>
              <a:srgbClr val="FA512F"/>
            </a:solidFill>
            <a:ln>
              <a:noFill/>
            </a:ln>
          </p:spPr>
        </p:sp>
        <p:sp>
          <p:nvSpPr>
            <p:cNvPr id="17" name="Freeform 17"/>
            <p:cNvSpPr/>
            <p:nvPr/>
          </p:nvSpPr>
          <p:spPr>
            <a:xfrm>
              <a:off x="2324100" y="5362575"/>
              <a:ext cx="6019800" cy="1304925"/>
            </a:xfrm>
            <a:prstGeom prst="trapezoid">
              <a:avLst>
                <a:gd name="adj" fmla="val 54870"/>
              </a:avLst>
            </a:prstGeom>
            <a:solidFill>
              <a:srgbClr val="FA421D"/>
            </a:solidFill>
            <a:ln>
              <a:noFill/>
            </a:ln>
          </p:spPr>
        </p:sp>
        <p:sp>
          <p:nvSpPr>
            <p:cNvPr id="18" name="TextBox 18"/>
            <p:cNvSpPr txBox="1"/>
            <p:nvPr/>
          </p:nvSpPr>
          <p:spPr>
            <a:xfrm>
              <a:off x="5057318" y="1761172"/>
              <a:ext cx="172364" cy="381381"/>
            </a:xfrm>
            <a:prstGeom prst="rect">
              <a:avLst/>
            </a:prstGeom>
            <a:noFill/>
            <a:ln>
              <a:noFill/>
            </a:ln>
          </p:spPr>
          <p:txBody>
            <a:bodyPr wrap="none" lIns="0" tIns="0" rIns="0" bIns="0" anchor="t" anchorCtr="0">
              <a:spAutoFit/>
            </a:bodyPr>
            <a:lstStyle/>
            <a:p>
              <a:pPr algn="ctr"/>
              <a:r>
                <a:rPr lang="zh-CN" sz="1950" i="1" dirty="0">
                  <a:solidFill>
                    <a:srgbClr val="E4EEFD"/>
                  </a:solidFill>
                  <a:latin typeface="+mj-lt"/>
                  <a:ea typeface="+mj-ea"/>
                  <a:cs typeface="+mj-cs"/>
                </a:rPr>
                <a:t>1</a:t>
              </a:r>
            </a:p>
          </p:txBody>
        </p:sp>
        <p:sp>
          <p:nvSpPr>
            <p:cNvPr id="19" name="TextBox 19"/>
            <p:cNvSpPr txBox="1"/>
            <p:nvPr/>
          </p:nvSpPr>
          <p:spPr>
            <a:xfrm>
              <a:off x="5634038" y="1911191"/>
              <a:ext cx="340690"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决策层</a:t>
              </a:r>
            </a:p>
          </p:txBody>
        </p:sp>
        <p:sp>
          <p:nvSpPr>
            <p:cNvPr id="20" name="TextBox 20"/>
            <p:cNvSpPr txBox="1"/>
            <p:nvPr/>
          </p:nvSpPr>
          <p:spPr>
            <a:xfrm>
              <a:off x="4553712" y="2571750"/>
              <a:ext cx="265176" cy="586740"/>
            </a:xfrm>
            <a:prstGeom prst="rect">
              <a:avLst/>
            </a:prstGeom>
            <a:noFill/>
            <a:ln>
              <a:noFill/>
            </a:ln>
          </p:spPr>
          <p:txBody>
            <a:bodyPr wrap="none" lIns="0" tIns="0" rIns="0" bIns="0" anchor="t" anchorCtr="0">
              <a:spAutoFit/>
            </a:bodyPr>
            <a:lstStyle/>
            <a:p>
              <a:pPr algn="ctr"/>
              <a:r>
                <a:rPr lang="zh-CN" sz="3000" i="1" dirty="0">
                  <a:solidFill>
                    <a:srgbClr val="DCE9FC"/>
                  </a:solidFill>
                  <a:latin typeface="+mj-lt"/>
                  <a:ea typeface="+mj-ea"/>
                  <a:cs typeface="+mj-cs"/>
                </a:rPr>
                <a:t>2</a:t>
              </a:r>
            </a:p>
          </p:txBody>
        </p:sp>
        <p:sp>
          <p:nvSpPr>
            <p:cNvPr id="21" name="TextBox 21"/>
            <p:cNvSpPr txBox="1"/>
            <p:nvPr/>
          </p:nvSpPr>
          <p:spPr>
            <a:xfrm>
              <a:off x="5823966" y="2782252"/>
              <a:ext cx="434721"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运营层</a:t>
              </a:r>
            </a:p>
          </p:txBody>
        </p:sp>
        <p:sp>
          <p:nvSpPr>
            <p:cNvPr id="22" name="TextBox 22"/>
            <p:cNvSpPr txBox="1"/>
            <p:nvPr/>
          </p:nvSpPr>
          <p:spPr>
            <a:xfrm>
              <a:off x="4267962" y="3619500"/>
              <a:ext cx="265176" cy="586740"/>
            </a:xfrm>
            <a:prstGeom prst="rect">
              <a:avLst/>
            </a:prstGeom>
            <a:noFill/>
            <a:ln>
              <a:noFill/>
            </a:ln>
          </p:spPr>
          <p:txBody>
            <a:bodyPr wrap="none" lIns="0" tIns="0" rIns="0" bIns="0" anchor="t" anchorCtr="0">
              <a:spAutoFit/>
            </a:bodyPr>
            <a:lstStyle/>
            <a:p>
              <a:pPr algn="ctr"/>
              <a:r>
                <a:rPr lang="zh-CN" sz="3000" i="1" dirty="0">
                  <a:solidFill>
                    <a:srgbClr val="DCE9FC"/>
                  </a:solidFill>
                  <a:latin typeface="+mj-lt"/>
                  <a:ea typeface="+mj-ea"/>
                  <a:cs typeface="+mj-cs"/>
                </a:rPr>
                <a:t>3</a:t>
              </a:r>
            </a:p>
          </p:txBody>
        </p:sp>
        <p:sp>
          <p:nvSpPr>
            <p:cNvPr id="23" name="TextBox 23"/>
            <p:cNvSpPr txBox="1"/>
            <p:nvPr/>
          </p:nvSpPr>
          <p:spPr>
            <a:xfrm>
              <a:off x="6090666" y="3810952"/>
              <a:ext cx="434721"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执行层</a:t>
              </a:r>
            </a:p>
          </p:txBody>
        </p:sp>
        <p:sp>
          <p:nvSpPr>
            <p:cNvPr id="24" name="TextBox 24"/>
            <p:cNvSpPr txBox="1"/>
            <p:nvPr/>
          </p:nvSpPr>
          <p:spPr>
            <a:xfrm>
              <a:off x="3982212" y="4648200"/>
              <a:ext cx="265176" cy="586740"/>
            </a:xfrm>
            <a:prstGeom prst="rect">
              <a:avLst/>
            </a:prstGeom>
            <a:noFill/>
            <a:ln>
              <a:noFill/>
            </a:ln>
          </p:spPr>
          <p:txBody>
            <a:bodyPr wrap="none" lIns="0" tIns="0" rIns="0" bIns="0" anchor="t" anchorCtr="0">
              <a:spAutoFit/>
            </a:bodyPr>
            <a:lstStyle/>
            <a:p>
              <a:pPr algn="ctr"/>
              <a:r>
                <a:rPr lang="zh-CN" sz="3000" i="1" dirty="0">
                  <a:solidFill>
                    <a:srgbClr val="DCE9FC"/>
                  </a:solidFill>
                  <a:latin typeface="+mj-lt"/>
                  <a:ea typeface="+mj-ea"/>
                  <a:cs typeface="+mj-cs"/>
                </a:rPr>
                <a:t>4</a:t>
              </a:r>
            </a:p>
          </p:txBody>
        </p:sp>
        <p:sp>
          <p:nvSpPr>
            <p:cNvPr id="25" name="TextBox 25"/>
            <p:cNvSpPr txBox="1"/>
            <p:nvPr/>
          </p:nvSpPr>
          <p:spPr>
            <a:xfrm>
              <a:off x="6357366" y="4820602"/>
              <a:ext cx="858774"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感知和通讯层</a:t>
              </a:r>
            </a:p>
          </p:txBody>
        </p:sp>
        <p:sp>
          <p:nvSpPr>
            <p:cNvPr id="26" name="TextBox 26"/>
            <p:cNvSpPr txBox="1"/>
            <p:nvPr/>
          </p:nvSpPr>
          <p:spPr>
            <a:xfrm>
              <a:off x="3601212" y="5905500"/>
              <a:ext cx="265176" cy="586740"/>
            </a:xfrm>
            <a:prstGeom prst="rect">
              <a:avLst/>
            </a:prstGeom>
            <a:noFill/>
            <a:ln>
              <a:noFill/>
            </a:ln>
          </p:spPr>
          <p:txBody>
            <a:bodyPr wrap="none" lIns="0" tIns="0" rIns="0" bIns="0" anchor="t" anchorCtr="0">
              <a:spAutoFit/>
            </a:bodyPr>
            <a:lstStyle/>
            <a:p>
              <a:pPr algn="ctr"/>
              <a:r>
                <a:rPr lang="zh-CN" sz="3000" i="1" dirty="0">
                  <a:solidFill>
                    <a:srgbClr val="DCE9FC"/>
                  </a:solidFill>
                  <a:latin typeface="+mj-lt"/>
                  <a:ea typeface="+mj-ea"/>
                  <a:cs typeface="+mj-cs"/>
                </a:rPr>
                <a:t>5</a:t>
              </a:r>
            </a:p>
          </p:txBody>
        </p:sp>
        <p:sp>
          <p:nvSpPr>
            <p:cNvPr id="27" name="TextBox 27"/>
            <p:cNvSpPr txBox="1"/>
            <p:nvPr/>
          </p:nvSpPr>
          <p:spPr>
            <a:xfrm>
              <a:off x="6757416" y="6077902"/>
              <a:ext cx="434721"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设备层</a:t>
              </a:r>
            </a:p>
          </p:txBody>
        </p:sp>
      </p:grpSp>
      <p:grpSp>
        <p:nvGrpSpPr>
          <p:cNvPr id="31" name="tag-data-warehouse"/>
          <p:cNvGrpSpPr/>
          <p:nvPr/>
        </p:nvGrpSpPr>
        <p:grpSpPr>
          <a:xfrm>
            <a:off x="800100" y="1409700"/>
            <a:ext cx="1333500" cy="457200"/>
            <a:chOff x="800100" y="1409700"/>
            <a:chExt cx="1333500" cy="457200"/>
          </a:xfrm>
        </p:grpSpPr>
        <p:sp>
          <p:nvSpPr>
            <p:cNvPr id="29" name="Freeform 29"/>
            <p:cNvSpPr/>
            <p:nvPr/>
          </p:nvSpPr>
          <p:spPr>
            <a:xfrm>
              <a:off x="800100" y="1409700"/>
              <a:ext cx="1333500" cy="457200"/>
            </a:xfrm>
            <a:prstGeom prst="bevel">
              <a:avLst/>
            </a:prstGeom>
            <a:solidFill>
              <a:srgbClr val="FA512F"/>
            </a:solidFill>
            <a:ln>
              <a:noFill/>
            </a:ln>
          </p:spPr>
        </p:sp>
        <p:sp>
          <p:nvSpPr>
            <p:cNvPr id="30" name="TextBox 30"/>
            <p:cNvSpPr txBox="1"/>
            <p:nvPr/>
          </p:nvSpPr>
          <p:spPr>
            <a:xfrm>
              <a:off x="1137666" y="156591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数据仓库</a:t>
              </a:r>
            </a:p>
          </p:txBody>
        </p:sp>
      </p:grpSp>
      <p:grpSp>
        <p:nvGrpSpPr>
          <p:cNvPr id="34" name="tag-relational-1"/>
          <p:cNvGrpSpPr/>
          <p:nvPr/>
        </p:nvGrpSpPr>
        <p:grpSpPr>
          <a:xfrm>
            <a:off x="800100" y="2524125"/>
            <a:ext cx="1333500" cy="457200"/>
            <a:chOff x="800100" y="2524125"/>
            <a:chExt cx="1333500" cy="457200"/>
          </a:xfrm>
        </p:grpSpPr>
        <p:sp>
          <p:nvSpPr>
            <p:cNvPr id="32" name="Freeform 32"/>
            <p:cNvSpPr/>
            <p:nvPr/>
          </p:nvSpPr>
          <p:spPr>
            <a:xfrm>
              <a:off x="800100" y="2524125"/>
              <a:ext cx="1333500" cy="457200"/>
            </a:xfrm>
            <a:prstGeom prst="bevel">
              <a:avLst/>
            </a:prstGeom>
            <a:solidFill>
              <a:srgbClr val="FA512F"/>
            </a:solidFill>
            <a:ln>
              <a:noFill/>
            </a:ln>
          </p:spPr>
        </p:sp>
        <p:sp>
          <p:nvSpPr>
            <p:cNvPr id="33" name="TextBox 33"/>
            <p:cNvSpPr txBox="1"/>
            <p:nvPr/>
          </p:nvSpPr>
          <p:spPr>
            <a:xfrm>
              <a:off x="1056894" y="2680335"/>
              <a:ext cx="81991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关系数据库</a:t>
              </a:r>
            </a:p>
          </p:txBody>
        </p:sp>
      </p:grpSp>
      <p:grpSp>
        <p:nvGrpSpPr>
          <p:cNvPr id="37" name="tag-relational-2"/>
          <p:cNvGrpSpPr/>
          <p:nvPr/>
        </p:nvGrpSpPr>
        <p:grpSpPr>
          <a:xfrm>
            <a:off x="800100" y="3667125"/>
            <a:ext cx="1333500" cy="457200"/>
            <a:chOff x="800100" y="3667125"/>
            <a:chExt cx="1333500" cy="457200"/>
          </a:xfrm>
        </p:grpSpPr>
        <p:sp>
          <p:nvSpPr>
            <p:cNvPr id="35" name="Freeform 35"/>
            <p:cNvSpPr/>
            <p:nvPr/>
          </p:nvSpPr>
          <p:spPr>
            <a:xfrm>
              <a:off x="800100" y="3667125"/>
              <a:ext cx="1333500" cy="457200"/>
            </a:xfrm>
            <a:prstGeom prst="bevel">
              <a:avLst/>
            </a:prstGeom>
            <a:solidFill>
              <a:srgbClr val="FA512F"/>
            </a:solidFill>
            <a:ln>
              <a:noFill/>
            </a:ln>
          </p:spPr>
        </p:sp>
        <p:sp>
          <p:nvSpPr>
            <p:cNvPr id="36" name="TextBox 36"/>
            <p:cNvSpPr txBox="1"/>
            <p:nvPr/>
          </p:nvSpPr>
          <p:spPr>
            <a:xfrm>
              <a:off x="1056894" y="3823335"/>
              <a:ext cx="81991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关系数据库</a:t>
              </a:r>
            </a:p>
          </p:txBody>
        </p:sp>
      </p:grpSp>
      <p:grpSp>
        <p:nvGrpSpPr>
          <p:cNvPr id="40" name="tag-realtime-db"/>
          <p:cNvGrpSpPr/>
          <p:nvPr/>
        </p:nvGrpSpPr>
        <p:grpSpPr>
          <a:xfrm>
            <a:off x="800100" y="4781550"/>
            <a:ext cx="1333500" cy="457200"/>
            <a:chOff x="800100" y="4781550"/>
            <a:chExt cx="1333500" cy="457200"/>
          </a:xfrm>
        </p:grpSpPr>
        <p:sp>
          <p:nvSpPr>
            <p:cNvPr id="38" name="Freeform 38"/>
            <p:cNvSpPr/>
            <p:nvPr/>
          </p:nvSpPr>
          <p:spPr>
            <a:xfrm>
              <a:off x="800100" y="4781550"/>
              <a:ext cx="1333500" cy="457200"/>
            </a:xfrm>
            <a:prstGeom prst="bevel">
              <a:avLst/>
            </a:prstGeom>
            <a:solidFill>
              <a:srgbClr val="FA512F"/>
            </a:solidFill>
            <a:ln>
              <a:noFill/>
            </a:ln>
          </p:spPr>
        </p:sp>
        <p:sp>
          <p:nvSpPr>
            <p:cNvPr id="39" name="TextBox 39"/>
            <p:cNvSpPr txBox="1"/>
            <p:nvPr/>
          </p:nvSpPr>
          <p:spPr>
            <a:xfrm>
              <a:off x="1056894" y="4937760"/>
              <a:ext cx="81991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实时数据库</a:t>
              </a:r>
            </a:p>
          </p:txBody>
        </p:sp>
      </p:grpSp>
      <p:grpSp>
        <p:nvGrpSpPr>
          <p:cNvPr id="43" name="tag-plc"/>
          <p:cNvGrpSpPr/>
          <p:nvPr/>
        </p:nvGrpSpPr>
        <p:grpSpPr>
          <a:xfrm>
            <a:off x="800100" y="5905500"/>
            <a:ext cx="1333500" cy="457200"/>
            <a:chOff x="800100" y="5905500"/>
            <a:chExt cx="1333500" cy="457200"/>
          </a:xfrm>
        </p:grpSpPr>
        <p:sp>
          <p:nvSpPr>
            <p:cNvPr id="41" name="Freeform 41"/>
            <p:cNvSpPr/>
            <p:nvPr/>
          </p:nvSpPr>
          <p:spPr>
            <a:xfrm>
              <a:off x="800100" y="5905500"/>
              <a:ext cx="1333500" cy="457200"/>
            </a:xfrm>
            <a:prstGeom prst="bevel">
              <a:avLst/>
            </a:prstGeom>
            <a:solidFill>
              <a:srgbClr val="FA512F"/>
            </a:solidFill>
            <a:ln>
              <a:noFill/>
            </a:ln>
          </p:spPr>
        </p:sp>
        <p:sp>
          <p:nvSpPr>
            <p:cNvPr id="42" name="TextBox 42"/>
            <p:cNvSpPr txBox="1"/>
            <p:nvPr/>
          </p:nvSpPr>
          <p:spPr>
            <a:xfrm>
              <a:off x="1263609" y="6061710"/>
              <a:ext cx="40648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PLC​</a:t>
              </a:r>
            </a:p>
          </p:txBody>
        </p:sp>
      </p:grpSp>
      <p:grpSp>
        <p:nvGrpSpPr>
          <p:cNvPr id="46" name="note-l5"/>
          <p:cNvGrpSpPr/>
          <p:nvPr/>
        </p:nvGrpSpPr>
        <p:grpSpPr>
          <a:xfrm>
            <a:off x="10103482" y="1467802"/>
            <a:ext cx="1503302" cy="443151"/>
            <a:chOff x="10103482" y="1467802"/>
            <a:chExt cx="1503302" cy="443151"/>
          </a:xfrm>
        </p:grpSpPr>
        <p:sp>
          <p:nvSpPr>
            <p:cNvPr id="44" name="TextBox 44"/>
            <p:cNvSpPr txBox="1"/>
            <p:nvPr/>
          </p:nvSpPr>
          <p:spPr>
            <a:xfrm>
              <a:off x="10521262" y="1467802"/>
              <a:ext cx="1085522" cy="205359"/>
            </a:xfrm>
            <a:prstGeom prst="rect">
              <a:avLst/>
            </a:prstGeom>
            <a:noFill/>
            <a:ln>
              <a:noFill/>
            </a:ln>
          </p:spPr>
          <p:txBody>
            <a:bodyPr wrap="none" lIns="0" tIns="0" rIns="0" bIns="0" anchor="t" anchorCtr="0">
              <a:spAutoFit/>
            </a:bodyPr>
            <a:lstStyle/>
            <a:p>
              <a:pPr algn="r"/>
              <a:r>
                <a:rPr lang="zh-CN" sz="1050" b="1" dirty="0">
                  <a:solidFill>
                    <a:srgbClr val="E83F1D"/>
                  </a:solidFill>
                  <a:latin typeface="+mn-lt"/>
                  <a:ea typeface="+mn-ea"/>
                  <a:cs typeface="+mn-cs"/>
                </a:rPr>
                <a:t>BI-决策层——L5​</a:t>
              </a:r>
            </a:p>
          </p:txBody>
        </p:sp>
        <p:sp>
          <p:nvSpPr>
            <p:cNvPr id="45" name="TextBox 45"/>
            <p:cNvSpPr txBox="1"/>
            <p:nvPr/>
          </p:nvSpPr>
          <p:spPr>
            <a:xfrm>
              <a:off x="10103482" y="1727597"/>
              <a:ext cx="1502730" cy="183356"/>
            </a:xfrm>
            <a:prstGeom prst="rect">
              <a:avLst/>
            </a:prstGeom>
            <a:noFill/>
            <a:ln>
              <a:noFill/>
            </a:ln>
          </p:spPr>
          <p:txBody>
            <a:bodyPr wrap="none" lIns="0" tIns="0" rIns="0" bIns="0" anchor="t" anchorCtr="0">
              <a:spAutoFit/>
            </a:bodyPr>
            <a:lstStyle/>
            <a:p>
              <a:pPr algn="r"/>
              <a:r>
                <a:rPr lang="zh-CN" sz="940" dirty="0">
                  <a:solidFill>
                    <a:srgbClr val="3D241F"/>
                  </a:solidFill>
                  <a:latin typeface="+mn-lt"/>
                  <a:ea typeface="+mn-ea"/>
                  <a:cs typeface="+mn-cs"/>
                </a:rPr>
                <a:t>人工智能 | 大数据 | 云计算</a:t>
              </a:r>
            </a:p>
          </p:txBody>
        </p:sp>
      </p:grpSp>
      <p:grpSp>
        <p:nvGrpSpPr>
          <p:cNvPr id="49" name="note-l4"/>
          <p:cNvGrpSpPr/>
          <p:nvPr/>
        </p:nvGrpSpPr>
        <p:grpSpPr>
          <a:xfrm>
            <a:off x="9850397" y="2582228"/>
            <a:ext cx="1756387" cy="443150"/>
            <a:chOff x="9850397" y="2582228"/>
            <a:chExt cx="1756387" cy="443150"/>
          </a:xfrm>
        </p:grpSpPr>
        <p:sp>
          <p:nvSpPr>
            <p:cNvPr id="47" name="TextBox 47"/>
            <p:cNvSpPr txBox="1"/>
            <p:nvPr/>
          </p:nvSpPr>
          <p:spPr>
            <a:xfrm>
              <a:off x="10395806" y="2582228"/>
              <a:ext cx="1210978" cy="205359"/>
            </a:xfrm>
            <a:prstGeom prst="rect">
              <a:avLst/>
            </a:prstGeom>
            <a:noFill/>
            <a:ln>
              <a:noFill/>
            </a:ln>
          </p:spPr>
          <p:txBody>
            <a:bodyPr wrap="none" lIns="0" tIns="0" rIns="0" bIns="0" anchor="t" anchorCtr="0">
              <a:spAutoFit/>
            </a:bodyPr>
            <a:lstStyle/>
            <a:p>
              <a:pPr algn="r"/>
              <a:r>
                <a:rPr lang="zh-CN" sz="1050" b="1" dirty="0">
                  <a:solidFill>
                    <a:srgbClr val="E83F1D"/>
                  </a:solidFill>
                  <a:latin typeface="+mn-lt"/>
                  <a:ea typeface="+mn-ea"/>
                  <a:cs typeface="+mn-cs"/>
                </a:rPr>
                <a:t>ERP-运营层——L4​</a:t>
              </a:r>
            </a:p>
          </p:txBody>
        </p:sp>
        <p:sp>
          <p:nvSpPr>
            <p:cNvPr id="48" name="TextBox 48"/>
            <p:cNvSpPr txBox="1"/>
            <p:nvPr/>
          </p:nvSpPr>
          <p:spPr>
            <a:xfrm>
              <a:off x="9850397" y="2842022"/>
              <a:ext cx="1755816" cy="183356"/>
            </a:xfrm>
            <a:prstGeom prst="rect">
              <a:avLst/>
            </a:prstGeom>
            <a:noFill/>
            <a:ln>
              <a:noFill/>
            </a:ln>
          </p:spPr>
          <p:txBody>
            <a:bodyPr wrap="none" lIns="0" tIns="0" rIns="0" bIns="0" anchor="t" anchorCtr="0">
              <a:spAutoFit/>
            </a:bodyPr>
            <a:lstStyle/>
            <a:p>
              <a:pPr algn="r"/>
              <a:r>
                <a:rPr lang="zh-CN" sz="940" dirty="0">
                  <a:solidFill>
                    <a:srgbClr val="3D241F"/>
                  </a:solidFill>
                  <a:latin typeface="+mn-lt"/>
                  <a:ea typeface="+mn-ea"/>
                  <a:cs typeface="+mn-cs"/>
                </a:rPr>
                <a:t>财务 | 供应商 | 物流管理信息化</a:t>
              </a:r>
            </a:p>
          </p:txBody>
        </p:sp>
      </p:grpSp>
      <p:grpSp>
        <p:nvGrpSpPr>
          <p:cNvPr id="52" name="note-l3"/>
          <p:cNvGrpSpPr/>
          <p:nvPr/>
        </p:nvGrpSpPr>
        <p:grpSpPr>
          <a:xfrm>
            <a:off x="9344226" y="3725228"/>
            <a:ext cx="2262558" cy="443150"/>
            <a:chOff x="9344226" y="3725228"/>
            <a:chExt cx="2262558" cy="443150"/>
          </a:xfrm>
        </p:grpSpPr>
        <p:sp>
          <p:nvSpPr>
            <p:cNvPr id="50" name="TextBox 50"/>
            <p:cNvSpPr txBox="1"/>
            <p:nvPr/>
          </p:nvSpPr>
          <p:spPr>
            <a:xfrm>
              <a:off x="10364442" y="3725228"/>
              <a:ext cx="1242342" cy="205359"/>
            </a:xfrm>
            <a:prstGeom prst="rect">
              <a:avLst/>
            </a:prstGeom>
            <a:noFill/>
            <a:ln>
              <a:noFill/>
            </a:ln>
          </p:spPr>
          <p:txBody>
            <a:bodyPr wrap="none" lIns="0" tIns="0" rIns="0" bIns="0" anchor="t" anchorCtr="0">
              <a:spAutoFit/>
            </a:bodyPr>
            <a:lstStyle/>
            <a:p>
              <a:pPr algn="r"/>
              <a:r>
                <a:rPr lang="zh-CN" sz="1050" b="1" dirty="0">
                  <a:solidFill>
                    <a:srgbClr val="E83F1D"/>
                  </a:solidFill>
                  <a:latin typeface="+mn-lt"/>
                  <a:ea typeface="+mn-ea"/>
                  <a:cs typeface="+mn-cs"/>
                </a:rPr>
                <a:t>MES-执行层——L3​</a:t>
              </a:r>
            </a:p>
          </p:txBody>
        </p:sp>
        <p:sp>
          <p:nvSpPr>
            <p:cNvPr id="51" name="TextBox 51"/>
            <p:cNvSpPr txBox="1"/>
            <p:nvPr/>
          </p:nvSpPr>
          <p:spPr>
            <a:xfrm>
              <a:off x="9344226" y="3985022"/>
              <a:ext cx="2261987" cy="183356"/>
            </a:xfrm>
            <a:prstGeom prst="rect">
              <a:avLst/>
            </a:prstGeom>
            <a:noFill/>
            <a:ln>
              <a:noFill/>
            </a:ln>
          </p:spPr>
          <p:txBody>
            <a:bodyPr wrap="none" lIns="0" tIns="0" rIns="0" bIns="0" anchor="t" anchorCtr="0">
              <a:spAutoFit/>
            </a:bodyPr>
            <a:lstStyle/>
            <a:p>
              <a:pPr algn="r"/>
              <a:r>
                <a:rPr lang="zh-CN" sz="940" dirty="0">
                  <a:solidFill>
                    <a:srgbClr val="3D241F"/>
                  </a:solidFill>
                  <a:latin typeface="+mn-lt"/>
                  <a:ea typeface="+mn-ea"/>
                  <a:cs typeface="+mn-cs"/>
                </a:rPr>
                <a:t>生产计划 | 过程管理质量管理 | 数据分析</a:t>
              </a:r>
            </a:p>
          </p:txBody>
        </p:sp>
      </p:grpSp>
      <p:grpSp>
        <p:nvGrpSpPr>
          <p:cNvPr id="55" name="note-l2"/>
          <p:cNvGrpSpPr/>
          <p:nvPr/>
        </p:nvGrpSpPr>
        <p:grpSpPr>
          <a:xfrm>
            <a:off x="9103794" y="4839652"/>
            <a:ext cx="2502990" cy="443151"/>
            <a:chOff x="9103794" y="4839652"/>
            <a:chExt cx="2502990" cy="443151"/>
          </a:xfrm>
        </p:grpSpPr>
        <p:sp>
          <p:nvSpPr>
            <p:cNvPr id="53" name="TextBox 53"/>
            <p:cNvSpPr txBox="1"/>
            <p:nvPr/>
          </p:nvSpPr>
          <p:spPr>
            <a:xfrm>
              <a:off x="10316756" y="4839652"/>
              <a:ext cx="1290028" cy="205359"/>
            </a:xfrm>
            <a:prstGeom prst="rect">
              <a:avLst/>
            </a:prstGeom>
            <a:noFill/>
            <a:ln>
              <a:noFill/>
            </a:ln>
          </p:spPr>
          <p:txBody>
            <a:bodyPr wrap="none" lIns="0" tIns="0" rIns="0" bIns="0" anchor="t" anchorCtr="0">
              <a:spAutoFit/>
            </a:bodyPr>
            <a:lstStyle/>
            <a:p>
              <a:pPr algn="r"/>
              <a:r>
                <a:rPr lang="zh-CN" sz="1050" b="1" dirty="0">
                  <a:solidFill>
                    <a:srgbClr val="E83F1D"/>
                  </a:solidFill>
                  <a:latin typeface="+mn-lt"/>
                  <a:ea typeface="+mn-ea"/>
                  <a:cs typeface="+mn-cs"/>
                </a:rPr>
                <a:t>感知和通讯层——L2​</a:t>
              </a:r>
            </a:p>
          </p:txBody>
        </p:sp>
        <p:sp>
          <p:nvSpPr>
            <p:cNvPr id="54" name="TextBox 54"/>
            <p:cNvSpPr txBox="1"/>
            <p:nvPr/>
          </p:nvSpPr>
          <p:spPr>
            <a:xfrm>
              <a:off x="9103794" y="5099447"/>
              <a:ext cx="2502418" cy="183356"/>
            </a:xfrm>
            <a:prstGeom prst="rect">
              <a:avLst/>
            </a:prstGeom>
            <a:noFill/>
            <a:ln>
              <a:noFill/>
            </a:ln>
          </p:spPr>
          <p:txBody>
            <a:bodyPr wrap="none" lIns="0" tIns="0" rIns="0" bIns="0" anchor="t" anchorCtr="0">
              <a:spAutoFit/>
            </a:bodyPr>
            <a:lstStyle/>
            <a:p>
              <a:pPr algn="r"/>
              <a:r>
                <a:rPr lang="zh-CN" sz="940" dirty="0">
                  <a:solidFill>
                    <a:srgbClr val="3D241F"/>
                  </a:solidFill>
                  <a:latin typeface="+mn-lt"/>
                  <a:ea typeface="+mn-ea"/>
                  <a:cs typeface="+mn-cs"/>
                </a:rPr>
                <a:t>设备互联 | 数据采集仪 | 条码设备 | 接集成等</a:t>
              </a:r>
            </a:p>
          </p:txBody>
        </p:sp>
      </p:grpSp>
      <p:grpSp>
        <p:nvGrpSpPr>
          <p:cNvPr id="58" name="note-l1"/>
          <p:cNvGrpSpPr/>
          <p:nvPr/>
        </p:nvGrpSpPr>
        <p:grpSpPr>
          <a:xfrm>
            <a:off x="9509448" y="5963602"/>
            <a:ext cx="2097336" cy="443151"/>
            <a:chOff x="9509448" y="5963602"/>
            <a:chExt cx="2097336" cy="443151"/>
          </a:xfrm>
        </p:grpSpPr>
        <p:sp>
          <p:nvSpPr>
            <p:cNvPr id="56" name="TextBox 56"/>
            <p:cNvSpPr txBox="1"/>
            <p:nvPr/>
          </p:nvSpPr>
          <p:spPr>
            <a:xfrm>
              <a:off x="10740809" y="5963602"/>
              <a:ext cx="865975" cy="205359"/>
            </a:xfrm>
            <a:prstGeom prst="rect">
              <a:avLst/>
            </a:prstGeom>
            <a:noFill/>
            <a:ln>
              <a:noFill/>
            </a:ln>
          </p:spPr>
          <p:txBody>
            <a:bodyPr wrap="none" lIns="0" tIns="0" rIns="0" bIns="0" anchor="t" anchorCtr="0">
              <a:spAutoFit/>
            </a:bodyPr>
            <a:lstStyle/>
            <a:p>
              <a:pPr algn="r"/>
              <a:r>
                <a:rPr lang="zh-CN" sz="1050" b="1" dirty="0">
                  <a:solidFill>
                    <a:srgbClr val="E83F1D"/>
                  </a:solidFill>
                  <a:latin typeface="+mn-lt"/>
                  <a:ea typeface="+mn-ea"/>
                  <a:cs typeface="+mn-cs"/>
                </a:rPr>
                <a:t>设备层——L1​</a:t>
              </a:r>
            </a:p>
          </p:txBody>
        </p:sp>
        <p:sp>
          <p:nvSpPr>
            <p:cNvPr id="57" name="TextBox 57"/>
            <p:cNvSpPr txBox="1"/>
            <p:nvPr/>
          </p:nvSpPr>
          <p:spPr>
            <a:xfrm>
              <a:off x="9509448" y="6223397"/>
              <a:ext cx="2096765" cy="183356"/>
            </a:xfrm>
            <a:prstGeom prst="rect">
              <a:avLst/>
            </a:prstGeom>
            <a:noFill/>
            <a:ln>
              <a:noFill/>
            </a:ln>
          </p:spPr>
          <p:txBody>
            <a:bodyPr wrap="none" lIns="0" tIns="0" rIns="0" bIns="0" anchor="t" anchorCtr="0">
              <a:spAutoFit/>
            </a:bodyPr>
            <a:lstStyle/>
            <a:p>
              <a:pPr algn="r"/>
              <a:r>
                <a:rPr lang="zh-CN" sz="940" dirty="0">
                  <a:solidFill>
                    <a:srgbClr val="3D241F"/>
                  </a:solidFill>
                  <a:latin typeface="+mn-lt"/>
                  <a:ea typeface="+mn-ea"/>
                  <a:cs typeface="+mn-cs"/>
                </a:rPr>
                <a:t>检测设备 | 打码设备 | 立体库 | AGV等</a:t>
              </a:r>
            </a:p>
          </p:txBody>
        </p:sp>
      </p:gr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wave-thin-1"/>
          <p:cNvSpPr/>
          <p:nvPr/>
        </p:nvSpPr>
        <p:spPr>
          <a:xfrm>
            <a:off x="0" y="2476500"/>
            <a:ext cx="12192000" cy="1333500"/>
          </a:xfrm>
          <a:custGeom>
            <a:avLst/>
            <a:gdLst/>
            <a:ahLst/>
            <a:cxnLst/>
            <a:rect l="l" t="t" r="r" b="b"/>
            <a:pathLst>
              <a:path w="12192000" h="1333500">
                <a:moveTo>
                  <a:pt x="0" y="762000"/>
                </a:moveTo>
                <a:cubicBezTo>
                  <a:pt x="1143000" y="190500"/>
                  <a:pt x="1905000" y="190500"/>
                  <a:pt x="2619375" y="685800"/>
                </a:cubicBezTo>
                <a:cubicBezTo>
                  <a:pt x="3619500" y="1333500"/>
                  <a:pt x="4572000" y="1143000"/>
                  <a:pt x="5334000" y="571500"/>
                </a:cubicBezTo>
                <a:cubicBezTo>
                  <a:pt x="6096000" y="0"/>
                  <a:pt x="6667500" y="190500"/>
                  <a:pt x="7239000" y="666750"/>
                </a:cubicBezTo>
                <a:cubicBezTo>
                  <a:pt x="7905750" y="1238250"/>
                  <a:pt x="8572500" y="1143000"/>
                  <a:pt x="9429750" y="762000"/>
                </a:cubicBezTo>
                <a:cubicBezTo>
                  <a:pt x="10287000" y="381000"/>
                  <a:pt x="11049000" y="190500"/>
                  <a:pt x="12192000" y="571500"/>
                </a:cubicBezTo>
              </a:path>
            </a:pathLst>
          </a:custGeom>
          <a:noFill/>
          <a:ln w="9525">
            <a:solidFill>
              <a:srgbClr val="FDA28F">
                <a:alpha val="70000"/>
              </a:srgbClr>
            </a:solidFill>
          </a:ln>
        </p:spPr>
      </p:sp>
      <p:sp>
        <p:nvSpPr>
          <p:cNvPr id="3" name="deco-wave-thin-2"/>
          <p:cNvSpPr/>
          <p:nvPr/>
        </p:nvSpPr>
        <p:spPr>
          <a:xfrm>
            <a:off x="0" y="2857500"/>
            <a:ext cx="12192000" cy="1333500"/>
          </a:xfrm>
          <a:custGeom>
            <a:avLst/>
            <a:gdLst/>
            <a:ahLst/>
            <a:cxnLst/>
            <a:rect l="l" t="t" r="r" b="b"/>
            <a:pathLst>
              <a:path w="12192000" h="1333500">
                <a:moveTo>
                  <a:pt x="0" y="762000"/>
                </a:moveTo>
                <a:cubicBezTo>
                  <a:pt x="1143000" y="190500"/>
                  <a:pt x="1905000" y="190500"/>
                  <a:pt x="2619375" y="685800"/>
                </a:cubicBezTo>
                <a:cubicBezTo>
                  <a:pt x="3619500" y="1333500"/>
                  <a:pt x="4572000" y="1143000"/>
                  <a:pt x="5334000" y="571500"/>
                </a:cubicBezTo>
                <a:cubicBezTo>
                  <a:pt x="6096000" y="0"/>
                  <a:pt x="6667500" y="190500"/>
                  <a:pt x="7239000" y="666750"/>
                </a:cubicBezTo>
                <a:cubicBezTo>
                  <a:pt x="7905750" y="1238250"/>
                  <a:pt x="8572500" y="1143000"/>
                  <a:pt x="9429750" y="762000"/>
                </a:cubicBezTo>
                <a:cubicBezTo>
                  <a:pt x="10287000" y="381000"/>
                  <a:pt x="11049000" y="190500"/>
                  <a:pt x="12192000" y="571500"/>
                </a:cubicBezTo>
              </a:path>
            </a:pathLst>
          </a:custGeom>
          <a:noFill/>
          <a:ln w="9525">
            <a:solidFill>
              <a:srgbClr val="FDA28F">
                <a:alpha val="70000"/>
              </a:srgbClr>
            </a:solidFill>
          </a:ln>
        </p:spPr>
      </p:sp>
      <p:sp>
        <p:nvSpPr>
          <p:cNvPr id="4" name="deco-wave-thin-3"/>
          <p:cNvSpPr/>
          <p:nvPr/>
        </p:nvSpPr>
        <p:spPr>
          <a:xfrm>
            <a:off x="0" y="2762250"/>
            <a:ext cx="12192000" cy="857250"/>
          </a:xfrm>
          <a:custGeom>
            <a:avLst/>
            <a:gdLst/>
            <a:ahLst/>
            <a:cxnLst/>
            <a:rect l="l" t="t" r="r" b="b"/>
            <a:pathLst>
              <a:path w="12192000" h="857250">
                <a:moveTo>
                  <a:pt x="0" y="285750"/>
                </a:moveTo>
                <a:cubicBezTo>
                  <a:pt x="1333500" y="476250"/>
                  <a:pt x="2095500" y="857250"/>
                  <a:pt x="2857500" y="666750"/>
                </a:cubicBezTo>
                <a:cubicBezTo>
                  <a:pt x="3810000" y="381000"/>
                  <a:pt x="4476750" y="0"/>
                  <a:pt x="5429250" y="95250"/>
                </a:cubicBezTo>
                <a:cubicBezTo>
                  <a:pt x="6286500" y="190500"/>
                  <a:pt x="6858000" y="666750"/>
                  <a:pt x="7620000" y="762000"/>
                </a:cubicBezTo>
                <a:cubicBezTo>
                  <a:pt x="8382000" y="857250"/>
                  <a:pt x="8953500" y="381000"/>
                  <a:pt x="9620250" y="190500"/>
                </a:cubicBezTo>
                <a:cubicBezTo>
                  <a:pt x="10477500" y="0"/>
                  <a:pt x="11239500" y="190500"/>
                  <a:pt x="12192000" y="95250"/>
                </a:cubicBezTo>
              </a:path>
            </a:pathLst>
          </a:custGeom>
          <a:noFill/>
          <a:ln w="9525">
            <a:solidFill>
              <a:srgbClr val="FDA28F">
                <a:alpha val="60000"/>
              </a:srgbClr>
            </a:solidFill>
          </a:ln>
        </p:spPr>
      </p:sp>
      <p:sp>
        <p:nvSpPr>
          <p:cNvPr id="5" name="deco-wave-thin-4"/>
          <p:cNvSpPr/>
          <p:nvPr/>
        </p:nvSpPr>
        <p:spPr>
          <a:xfrm>
            <a:off x="0" y="3143250"/>
            <a:ext cx="12192000" cy="857250"/>
          </a:xfrm>
          <a:custGeom>
            <a:avLst/>
            <a:gdLst/>
            <a:ahLst/>
            <a:cxnLst/>
            <a:rect l="l" t="t" r="r" b="b"/>
            <a:pathLst>
              <a:path w="12192000" h="857250">
                <a:moveTo>
                  <a:pt x="0" y="666750"/>
                </a:moveTo>
                <a:cubicBezTo>
                  <a:pt x="1333500" y="857250"/>
                  <a:pt x="2095500" y="666750"/>
                  <a:pt x="2857500" y="476250"/>
                </a:cubicBezTo>
                <a:cubicBezTo>
                  <a:pt x="3810000" y="190500"/>
                  <a:pt x="4476750" y="0"/>
                  <a:pt x="5429250" y="190500"/>
                </a:cubicBezTo>
                <a:cubicBezTo>
                  <a:pt x="6286500" y="381000"/>
                  <a:pt x="6858000" y="666750"/>
                  <a:pt x="7620000" y="762000"/>
                </a:cubicBezTo>
                <a:cubicBezTo>
                  <a:pt x="8382000" y="857250"/>
                  <a:pt x="8953500" y="666750"/>
                  <a:pt x="9620250" y="476250"/>
                </a:cubicBezTo>
                <a:cubicBezTo>
                  <a:pt x="10477500" y="285750"/>
                  <a:pt x="11239500" y="476250"/>
                  <a:pt x="12192000" y="476250"/>
                </a:cubicBezTo>
              </a:path>
            </a:pathLst>
          </a:custGeom>
          <a:noFill/>
          <a:ln w="9525">
            <a:solidFill>
              <a:srgbClr val="FDA28F">
                <a:alpha val="60000"/>
              </a:srgbClr>
            </a:solidFill>
          </a:ln>
        </p:spPr>
      </p:sp>
      <p:sp>
        <p:nvSpPr>
          <p:cNvPr id="6" name="deco-wave-main"/>
          <p:cNvSpPr/>
          <p:nvPr/>
        </p:nvSpPr>
        <p:spPr>
          <a:xfrm>
            <a:off x="0" y="2667000"/>
            <a:ext cx="12192000" cy="1333500"/>
          </a:xfrm>
          <a:custGeom>
            <a:avLst/>
            <a:gdLst/>
            <a:ahLst/>
            <a:cxnLst/>
            <a:rect l="l" t="t" r="r" b="b"/>
            <a:pathLst>
              <a:path w="12192000" h="1333500">
                <a:moveTo>
                  <a:pt x="0" y="762000"/>
                </a:moveTo>
                <a:cubicBezTo>
                  <a:pt x="1143000" y="190500"/>
                  <a:pt x="1905000" y="190500"/>
                  <a:pt x="2619375" y="685800"/>
                </a:cubicBezTo>
                <a:cubicBezTo>
                  <a:pt x="3619500" y="1333500"/>
                  <a:pt x="4572000" y="1143000"/>
                  <a:pt x="5334000" y="571500"/>
                </a:cubicBezTo>
                <a:cubicBezTo>
                  <a:pt x="6096000" y="0"/>
                  <a:pt x="6667500" y="190500"/>
                  <a:pt x="7239000" y="666750"/>
                </a:cubicBezTo>
                <a:cubicBezTo>
                  <a:pt x="7905750" y="1238250"/>
                  <a:pt x="8572500" y="1143000"/>
                  <a:pt x="9429750" y="762000"/>
                </a:cubicBezTo>
                <a:cubicBezTo>
                  <a:pt x="10287000" y="381000"/>
                  <a:pt x="11049000" y="190500"/>
                  <a:pt x="12192000" y="571500"/>
                </a:cubicBezTo>
              </a:path>
            </a:pathLst>
          </a:custGeom>
          <a:noFill/>
          <a:ln w="28575">
            <a:solidFill>
              <a:srgbClr val="FA421D"/>
            </a:solidFill>
          </a:ln>
        </p:spPr>
      </p:sp>
      <p:sp>
        <p:nvSpPr>
          <p:cNvPr id="7" name="deco-dot-1"/>
          <p:cNvSpPr/>
          <p:nvPr/>
        </p:nvSpPr>
        <p:spPr>
          <a:xfrm>
            <a:off x="1000125" y="3209925"/>
            <a:ext cx="247650" cy="247650"/>
          </a:xfrm>
          <a:prstGeom prst="ellipse">
            <a:avLst/>
          </a:prstGeom>
          <a:solidFill>
            <a:srgbClr val="FA421D"/>
          </a:solidFill>
          <a:ln>
            <a:noFill/>
          </a:ln>
        </p:spPr>
      </p:sp>
      <p:sp>
        <p:nvSpPr>
          <p:cNvPr id="8" name="deco-dot-2"/>
          <p:cNvSpPr/>
          <p:nvPr/>
        </p:nvSpPr>
        <p:spPr>
          <a:xfrm>
            <a:off x="8001000" y="3152775"/>
            <a:ext cx="247650" cy="247650"/>
          </a:xfrm>
          <a:prstGeom prst="ellipse">
            <a:avLst/>
          </a:prstGeom>
          <a:solidFill>
            <a:srgbClr val="FA421D"/>
          </a:solidFill>
          <a:ln>
            <a:noFill/>
          </a:ln>
        </p:spPr>
      </p:sp>
      <p:sp>
        <p:nvSpPr>
          <p:cNvPr id="9" name="deco-dot-3"/>
          <p:cNvSpPr/>
          <p:nvPr/>
        </p:nvSpPr>
        <p:spPr>
          <a:xfrm>
            <a:off x="11087100" y="3448050"/>
            <a:ext cx="304800" cy="304800"/>
          </a:xfrm>
          <a:prstGeom prst="ellipse">
            <a:avLst/>
          </a:prstGeom>
          <a:solidFill>
            <a:srgbClr val="FA421D"/>
          </a:solidFill>
          <a:ln>
            <a:noFill/>
          </a:ln>
        </p:spPr>
      </p:sp>
      <p:grpSp>
        <p:nvGrpSpPr>
          <p:cNvPr id="14" name="header"/>
          <p:cNvGrpSpPr/>
          <p:nvPr/>
        </p:nvGrpSpPr>
        <p:grpSpPr>
          <a:xfrm>
            <a:off x="0" y="0"/>
            <a:ext cx="12192000" cy="551879"/>
            <a:chOff x="0" y="0"/>
            <a:chExt cx="12192000" cy="551879"/>
          </a:xfrm>
        </p:grpSpPr>
        <p:sp>
          <p:nvSpPr>
            <p:cNvPr id="10" name="Polygon 10"/>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11" name="TextBox 11"/>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15</a:t>
              </a:r>
            </a:p>
          </p:txBody>
        </p:sp>
        <p:sp>
          <p:nvSpPr>
            <p:cNvPr id="12" name="TextBox 12"/>
            <p:cNvSpPr txBox="1"/>
            <p:nvPr/>
          </p:nvSpPr>
          <p:spPr>
            <a:xfrm>
              <a:off x="904494" y="170498"/>
              <a:ext cx="2119884"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智能制造实施架构</a:t>
              </a:r>
            </a:p>
          </p:txBody>
        </p:sp>
        <p:sp>
          <p:nvSpPr>
            <p:cNvPr id="13" name="Line 13"/>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5" name="node-1-early"/>
          <p:cNvGrpSpPr/>
          <p:nvPr/>
        </p:nvGrpSpPr>
        <p:grpSpPr>
          <a:xfrm>
            <a:off x="1809750" y="1809750"/>
            <a:ext cx="1619250" cy="1905000"/>
            <a:chOff x="1809750" y="1809750"/>
            <a:chExt cx="1619250" cy="1905000"/>
          </a:xfrm>
        </p:grpSpPr>
        <p:sp>
          <p:nvSpPr>
            <p:cNvPr id="15" name="Rectangle 15"/>
            <p:cNvSpPr/>
            <p:nvPr/>
          </p:nvSpPr>
          <p:spPr>
            <a:xfrm>
              <a:off x="1809750" y="1809750"/>
              <a:ext cx="1619250" cy="400050"/>
            </a:xfrm>
            <a:prstGeom prst="roundRect">
              <a:avLst>
                <a:gd name="adj" fmla="val 14286"/>
              </a:avLst>
            </a:prstGeom>
            <a:solidFill>
              <a:srgbClr val="FFFFFF"/>
            </a:solidFill>
            <a:ln w="14288">
              <a:solidFill>
                <a:srgbClr val="FA421D"/>
              </a:solidFill>
            </a:ln>
          </p:spPr>
        </p:sp>
        <p:sp>
          <p:nvSpPr>
            <p:cNvPr id="16" name="TextBox 16"/>
            <p:cNvSpPr txBox="1"/>
            <p:nvPr/>
          </p:nvSpPr>
          <p:spPr>
            <a:xfrm>
              <a:off x="2182114" y="1938814"/>
              <a:ext cx="874522"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不同于之处</a:t>
              </a:r>
            </a:p>
          </p:txBody>
        </p:sp>
        <p:sp>
          <p:nvSpPr>
            <p:cNvPr id="17" name="TextBox 17"/>
            <p:cNvSpPr txBox="1"/>
            <p:nvPr/>
          </p:nvSpPr>
          <p:spPr>
            <a:xfrm>
              <a:off x="2136953" y="2380298"/>
              <a:ext cx="964844" cy="381381"/>
            </a:xfrm>
            <a:prstGeom prst="rect">
              <a:avLst/>
            </a:prstGeom>
            <a:noFill/>
            <a:ln>
              <a:noFill/>
            </a:ln>
          </p:spPr>
          <p:txBody>
            <a:bodyPr wrap="none" lIns="0" tIns="0" rIns="0" bIns="0" anchor="t" anchorCtr="0">
              <a:spAutoFit/>
            </a:bodyPr>
            <a:lstStyle/>
            <a:p>
              <a:pPr algn="ctr"/>
              <a:r>
                <a:rPr lang="zh-CN" sz="1950" dirty="0">
                  <a:solidFill>
                    <a:srgbClr val="E83F1D"/>
                  </a:solidFill>
                  <a:latin typeface="+mn-lt"/>
                  <a:ea typeface="+mn-ea"/>
                  <a:cs typeface="+mn-cs"/>
                </a:rPr>
                <a:t>时 期 早</a:t>
              </a:r>
            </a:p>
          </p:txBody>
        </p:sp>
        <p:sp>
          <p:nvSpPr>
            <p:cNvPr id="18" name="Ellipse 18"/>
            <p:cNvSpPr/>
            <p:nvPr/>
          </p:nvSpPr>
          <p:spPr>
            <a:xfrm>
              <a:off x="2257425" y="2990850"/>
              <a:ext cx="723900" cy="723900"/>
            </a:xfrm>
            <a:prstGeom prst="ellipse">
              <a:avLst/>
            </a:prstGeom>
            <a:gradFill>
              <a:gsLst>
                <a:gs pos="0">
                  <a:srgbClr val="FB684A"/>
                </a:gs>
                <a:gs pos="100000">
                  <a:srgbClr val="FA421D"/>
                </a:gs>
              </a:gsLst>
              <a:lin ang="5400000" scaled="1"/>
            </a:gradFill>
            <a:ln>
              <a:noFill/>
            </a:ln>
          </p:spPr>
        </p:sp>
        <p:grpSp>
          <p:nvGrpSpPr>
            <p:cNvPr id="24" name="Group 24"/>
            <p:cNvGrpSpPr/>
            <p:nvPr/>
          </p:nvGrpSpPr>
          <p:grpSpPr>
            <a:xfrm>
              <a:off x="2476500" y="3209925"/>
              <a:ext cx="285751" cy="285751"/>
              <a:chOff x="2476500" y="3209925"/>
              <a:chExt cx="285751" cy="285751"/>
            </a:xfrm>
          </p:grpSpPr>
          <p:sp>
            <p:nvSpPr>
              <p:cNvPr id="19" name="Freeform 19"/>
              <p:cNvSpPr/>
              <p:nvPr/>
            </p:nvSpPr>
            <p:spPr>
              <a:xfrm>
                <a:off x="2476500" y="3209925"/>
                <a:ext cx="285751" cy="285751"/>
              </a:xfrm>
              <a:custGeom>
                <a:avLst/>
                <a:gdLst/>
                <a:ahLst/>
                <a:cxnLst/>
                <a:rect l="l" t="t" r="r" b="b"/>
                <a:pathLst>
                  <a:path w="285751" h="285751">
                    <a:moveTo>
                      <a:pt x="0" y="142875"/>
                    </a:moveTo>
                    <a:cubicBezTo>
                      <a:pt x="0" y="221783"/>
                      <a:pt x="63967" y="285751"/>
                      <a:pt x="142875" y="285751"/>
                    </a:cubicBezTo>
                    <a:cubicBezTo>
                      <a:pt x="221783" y="285751"/>
                      <a:pt x="285751" y="221783"/>
                      <a:pt x="285751" y="142875"/>
                    </a:cubicBezTo>
                    <a:cubicBezTo>
                      <a:pt x="285751" y="63967"/>
                      <a:pt x="221783" y="0"/>
                      <a:pt x="142875" y="0"/>
                    </a:cubicBezTo>
                    <a:cubicBezTo>
                      <a:pt x="63967" y="0"/>
                      <a:pt x="0" y="63967"/>
                      <a:pt x="0" y="142875"/>
                    </a:cubicBezTo>
                  </a:path>
                </a:pathLst>
              </a:custGeom>
              <a:noFill/>
              <a:ln w="23813">
                <a:solidFill>
                  <a:srgbClr val="FFFFFF"/>
                </a:solidFill>
              </a:ln>
            </p:spPr>
          </p:sp>
          <p:sp>
            <p:nvSpPr>
              <p:cNvPr id="20" name="Freeform 20"/>
              <p:cNvSpPr/>
              <p:nvPr/>
            </p:nvSpPr>
            <p:spPr>
              <a:xfrm>
                <a:off x="2486025" y="3305175"/>
                <a:ext cx="266701" cy="9525"/>
              </a:xfrm>
              <a:custGeom>
                <a:avLst/>
                <a:gdLst/>
                <a:ahLst/>
                <a:cxnLst/>
                <a:rect l="l" t="t" r="r" b="b"/>
                <a:pathLst>
                  <a:path w="266701" h="9525">
                    <a:moveTo>
                      <a:pt x="0" y="0"/>
                    </a:moveTo>
                    <a:lnTo>
                      <a:pt x="266701" y="0"/>
                    </a:lnTo>
                  </a:path>
                </a:pathLst>
              </a:custGeom>
              <a:noFill/>
              <a:ln w="23813">
                <a:solidFill>
                  <a:srgbClr val="FFFFFF"/>
                </a:solidFill>
              </a:ln>
            </p:spPr>
          </p:sp>
          <p:sp>
            <p:nvSpPr>
              <p:cNvPr id="21" name="Freeform 21"/>
              <p:cNvSpPr/>
              <p:nvPr/>
            </p:nvSpPr>
            <p:spPr>
              <a:xfrm>
                <a:off x="2486025" y="3400425"/>
                <a:ext cx="266701" cy="9525"/>
              </a:xfrm>
              <a:custGeom>
                <a:avLst/>
                <a:gdLst/>
                <a:ahLst/>
                <a:cxnLst/>
                <a:rect l="l" t="t" r="r" b="b"/>
                <a:pathLst>
                  <a:path w="266701" h="9525">
                    <a:moveTo>
                      <a:pt x="0" y="0"/>
                    </a:moveTo>
                    <a:lnTo>
                      <a:pt x="266701" y="0"/>
                    </a:lnTo>
                  </a:path>
                </a:pathLst>
              </a:custGeom>
              <a:noFill/>
              <a:ln w="23813">
                <a:solidFill>
                  <a:srgbClr val="FFFFFF"/>
                </a:solidFill>
              </a:ln>
            </p:spPr>
          </p:sp>
          <p:sp>
            <p:nvSpPr>
              <p:cNvPr id="22" name="Freeform 22"/>
              <p:cNvSpPr/>
              <p:nvPr/>
            </p:nvSpPr>
            <p:spPr>
              <a:xfrm>
                <a:off x="2556874" y="3209925"/>
                <a:ext cx="54563" cy="285751"/>
              </a:xfrm>
              <a:custGeom>
                <a:avLst/>
                <a:gdLst/>
                <a:ahLst/>
                <a:cxnLst/>
                <a:rect l="l" t="t" r="r" b="b"/>
                <a:pathLst>
                  <a:path w="54563" h="285751">
                    <a:moveTo>
                      <a:pt x="54563" y="0"/>
                    </a:moveTo>
                    <a:cubicBezTo>
                      <a:pt x="0" y="87436"/>
                      <a:pt x="0" y="198314"/>
                      <a:pt x="54563" y="285751"/>
                    </a:cubicBezTo>
                  </a:path>
                </a:pathLst>
              </a:custGeom>
              <a:noFill/>
              <a:ln w="23813">
                <a:solidFill>
                  <a:srgbClr val="FFFFFF"/>
                </a:solidFill>
              </a:ln>
            </p:spPr>
          </p:sp>
          <p:sp>
            <p:nvSpPr>
              <p:cNvPr id="23" name="Freeform 23"/>
              <p:cNvSpPr/>
              <p:nvPr/>
            </p:nvSpPr>
            <p:spPr>
              <a:xfrm>
                <a:off x="2627313" y="3209925"/>
                <a:ext cx="54563" cy="285751"/>
              </a:xfrm>
              <a:custGeom>
                <a:avLst/>
                <a:gdLst/>
                <a:ahLst/>
                <a:cxnLst/>
                <a:rect l="l" t="t" r="r" b="b"/>
                <a:pathLst>
                  <a:path w="54563" h="285751">
                    <a:moveTo>
                      <a:pt x="0" y="0"/>
                    </a:moveTo>
                    <a:cubicBezTo>
                      <a:pt x="54563" y="87436"/>
                      <a:pt x="54563" y="198314"/>
                      <a:pt x="0" y="285751"/>
                    </a:cubicBezTo>
                  </a:path>
                </a:pathLst>
              </a:custGeom>
              <a:noFill/>
              <a:ln w="23813">
                <a:solidFill>
                  <a:srgbClr val="FFFFFF"/>
                </a:solidFill>
              </a:ln>
            </p:spPr>
          </p:sp>
        </p:grpSp>
      </p:grpSp>
      <p:grpSp>
        <p:nvGrpSpPr>
          <p:cNvPr id="36" name="node-2-fast"/>
          <p:cNvGrpSpPr/>
          <p:nvPr/>
        </p:nvGrpSpPr>
        <p:grpSpPr>
          <a:xfrm>
            <a:off x="5343525" y="1581150"/>
            <a:ext cx="1619250" cy="2000250"/>
            <a:chOff x="5343525" y="1581150"/>
            <a:chExt cx="1619250" cy="2000250"/>
          </a:xfrm>
        </p:grpSpPr>
        <p:sp>
          <p:nvSpPr>
            <p:cNvPr id="26" name="Rectangle 26"/>
            <p:cNvSpPr/>
            <p:nvPr/>
          </p:nvSpPr>
          <p:spPr>
            <a:xfrm>
              <a:off x="5343525" y="1581150"/>
              <a:ext cx="1619250" cy="400050"/>
            </a:xfrm>
            <a:prstGeom prst="roundRect">
              <a:avLst>
                <a:gd name="adj" fmla="val 14286"/>
              </a:avLst>
            </a:prstGeom>
            <a:solidFill>
              <a:srgbClr val="FFFFFF"/>
            </a:solidFill>
            <a:ln w="14288">
              <a:solidFill>
                <a:srgbClr val="FA421D"/>
              </a:solidFill>
            </a:ln>
          </p:spPr>
        </p:sp>
        <p:sp>
          <p:nvSpPr>
            <p:cNvPr id="27" name="TextBox 27"/>
            <p:cNvSpPr txBox="1"/>
            <p:nvPr/>
          </p:nvSpPr>
          <p:spPr>
            <a:xfrm>
              <a:off x="5715889" y="1710214"/>
              <a:ext cx="874522"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人口基数大</a:t>
              </a:r>
            </a:p>
          </p:txBody>
        </p:sp>
        <p:sp>
          <p:nvSpPr>
            <p:cNvPr id="28" name="TextBox 28"/>
            <p:cNvSpPr txBox="1"/>
            <p:nvPr/>
          </p:nvSpPr>
          <p:spPr>
            <a:xfrm>
              <a:off x="5670728" y="2151698"/>
              <a:ext cx="964844" cy="381381"/>
            </a:xfrm>
            <a:prstGeom prst="rect">
              <a:avLst/>
            </a:prstGeom>
            <a:noFill/>
            <a:ln>
              <a:noFill/>
            </a:ln>
          </p:spPr>
          <p:txBody>
            <a:bodyPr wrap="none" lIns="0" tIns="0" rIns="0" bIns="0" anchor="t" anchorCtr="0">
              <a:spAutoFit/>
            </a:bodyPr>
            <a:lstStyle/>
            <a:p>
              <a:pPr algn="ctr"/>
              <a:r>
                <a:rPr lang="zh-CN" sz="1950" dirty="0">
                  <a:solidFill>
                    <a:srgbClr val="E83F1D"/>
                  </a:solidFill>
                  <a:latin typeface="+mn-lt"/>
                  <a:ea typeface="+mn-ea"/>
                  <a:cs typeface="+mn-cs"/>
                </a:rPr>
                <a:t>增 速 快</a:t>
              </a:r>
            </a:p>
          </p:txBody>
        </p:sp>
        <p:sp>
          <p:nvSpPr>
            <p:cNvPr id="29" name="Ellipse 29"/>
            <p:cNvSpPr/>
            <p:nvPr/>
          </p:nvSpPr>
          <p:spPr>
            <a:xfrm>
              <a:off x="5791200" y="2857500"/>
              <a:ext cx="723900" cy="723900"/>
            </a:xfrm>
            <a:prstGeom prst="ellipse">
              <a:avLst/>
            </a:prstGeom>
            <a:gradFill>
              <a:gsLst>
                <a:gs pos="0">
                  <a:srgbClr val="FB684A"/>
                </a:gs>
                <a:gs pos="100000">
                  <a:srgbClr val="FA421D"/>
                </a:gs>
              </a:gsLst>
              <a:lin ang="5400000" scaled="1"/>
            </a:gradFill>
            <a:ln>
              <a:noFill/>
            </a:ln>
          </p:spPr>
        </p:sp>
        <p:grpSp>
          <p:nvGrpSpPr>
            <p:cNvPr id="35" name="Group 35"/>
            <p:cNvGrpSpPr/>
            <p:nvPr/>
          </p:nvGrpSpPr>
          <p:grpSpPr>
            <a:xfrm>
              <a:off x="6010275" y="3098678"/>
              <a:ext cx="295276" cy="231897"/>
              <a:chOff x="6010275" y="3098678"/>
              <a:chExt cx="295276" cy="231897"/>
            </a:xfrm>
          </p:grpSpPr>
          <p:sp>
            <p:nvSpPr>
              <p:cNvPr id="30" name="Freeform 30"/>
              <p:cNvSpPr/>
              <p:nvPr/>
            </p:nvSpPr>
            <p:spPr>
              <a:xfrm>
                <a:off x="6010275" y="3305053"/>
                <a:ext cx="285751" cy="25522"/>
              </a:xfrm>
              <a:custGeom>
                <a:avLst/>
                <a:gdLst/>
                <a:ahLst/>
                <a:cxnLst/>
                <a:rect l="l" t="t" r="r" b="b"/>
                <a:pathLst>
                  <a:path w="285751" h="25522">
                    <a:moveTo>
                      <a:pt x="0" y="25522"/>
                    </a:moveTo>
                    <a:cubicBezTo>
                      <a:pt x="44206" y="0"/>
                      <a:pt x="98670" y="0"/>
                      <a:pt x="142875" y="25522"/>
                    </a:cubicBezTo>
                    <a:cubicBezTo>
                      <a:pt x="187081" y="0"/>
                      <a:pt x="241545" y="0"/>
                      <a:pt x="285751" y="25522"/>
                    </a:cubicBezTo>
                  </a:path>
                </a:pathLst>
              </a:custGeom>
              <a:noFill/>
              <a:ln w="23813">
                <a:solidFill>
                  <a:srgbClr val="FFFFFF"/>
                </a:solidFill>
              </a:ln>
            </p:spPr>
          </p:sp>
          <p:sp>
            <p:nvSpPr>
              <p:cNvPr id="31" name="Freeform 31"/>
              <p:cNvSpPr/>
              <p:nvPr/>
            </p:nvSpPr>
            <p:spPr>
              <a:xfrm>
                <a:off x="6010275" y="3098678"/>
                <a:ext cx="285751" cy="25522"/>
              </a:xfrm>
              <a:custGeom>
                <a:avLst/>
                <a:gdLst/>
                <a:ahLst/>
                <a:cxnLst/>
                <a:rect l="l" t="t" r="r" b="b"/>
                <a:pathLst>
                  <a:path w="285751" h="25522">
                    <a:moveTo>
                      <a:pt x="0" y="25522"/>
                    </a:moveTo>
                    <a:cubicBezTo>
                      <a:pt x="44206" y="0"/>
                      <a:pt x="98670" y="0"/>
                      <a:pt x="142875" y="25522"/>
                    </a:cubicBezTo>
                    <a:cubicBezTo>
                      <a:pt x="187081" y="0"/>
                      <a:pt x="241545" y="0"/>
                      <a:pt x="285751" y="25522"/>
                    </a:cubicBezTo>
                  </a:path>
                </a:pathLst>
              </a:custGeom>
              <a:noFill/>
              <a:ln w="23813">
                <a:solidFill>
                  <a:srgbClr val="FFFFFF"/>
                </a:solidFill>
              </a:ln>
            </p:spPr>
          </p:sp>
          <p:sp>
            <p:nvSpPr>
              <p:cNvPr id="32" name="Freeform 32"/>
              <p:cNvSpPr/>
              <p:nvPr/>
            </p:nvSpPr>
            <p:spPr>
              <a:xfrm>
                <a:off x="6010275" y="3124200"/>
                <a:ext cx="9525" cy="206375"/>
              </a:xfrm>
              <a:custGeom>
                <a:avLst/>
                <a:gdLst/>
                <a:ahLst/>
                <a:cxnLst/>
                <a:rect l="l" t="t" r="r" b="b"/>
                <a:pathLst>
                  <a:path w="9525" h="206375">
                    <a:moveTo>
                      <a:pt x="0" y="0"/>
                    </a:moveTo>
                    <a:lnTo>
                      <a:pt x="0" y="206375"/>
                    </a:lnTo>
                  </a:path>
                </a:pathLst>
              </a:custGeom>
              <a:noFill/>
              <a:ln w="23813">
                <a:solidFill>
                  <a:srgbClr val="FFFFFF"/>
                </a:solidFill>
              </a:ln>
            </p:spPr>
          </p:sp>
          <p:sp>
            <p:nvSpPr>
              <p:cNvPr id="33" name="Freeform 33"/>
              <p:cNvSpPr/>
              <p:nvPr/>
            </p:nvSpPr>
            <p:spPr>
              <a:xfrm>
                <a:off x="6153150" y="3124200"/>
                <a:ext cx="9525" cy="206375"/>
              </a:xfrm>
              <a:custGeom>
                <a:avLst/>
                <a:gdLst/>
                <a:ahLst/>
                <a:cxnLst/>
                <a:rect l="l" t="t" r="r" b="b"/>
                <a:pathLst>
                  <a:path w="9525" h="206375">
                    <a:moveTo>
                      <a:pt x="0" y="0"/>
                    </a:moveTo>
                    <a:lnTo>
                      <a:pt x="0" y="206375"/>
                    </a:lnTo>
                  </a:path>
                </a:pathLst>
              </a:custGeom>
              <a:noFill/>
              <a:ln w="23813">
                <a:solidFill>
                  <a:srgbClr val="FFFFFF"/>
                </a:solidFill>
              </a:ln>
            </p:spPr>
          </p:sp>
          <p:sp>
            <p:nvSpPr>
              <p:cNvPr id="34" name="Freeform 34"/>
              <p:cNvSpPr/>
              <p:nvPr/>
            </p:nvSpPr>
            <p:spPr>
              <a:xfrm>
                <a:off x="6296026" y="3124200"/>
                <a:ext cx="9525" cy="206375"/>
              </a:xfrm>
              <a:custGeom>
                <a:avLst/>
                <a:gdLst/>
                <a:ahLst/>
                <a:cxnLst/>
                <a:rect l="l" t="t" r="r" b="b"/>
                <a:pathLst>
                  <a:path w="9525" h="206375">
                    <a:moveTo>
                      <a:pt x="0" y="0"/>
                    </a:moveTo>
                    <a:lnTo>
                      <a:pt x="0" y="206375"/>
                    </a:lnTo>
                  </a:path>
                </a:pathLst>
              </a:custGeom>
              <a:noFill/>
              <a:ln w="23813">
                <a:solidFill>
                  <a:srgbClr val="FFFFFF"/>
                </a:solidFill>
              </a:ln>
            </p:spPr>
          </p:sp>
        </p:grpSp>
      </p:grpSp>
      <p:grpSp>
        <p:nvGrpSpPr>
          <p:cNvPr id="46" name="node-3-long"/>
          <p:cNvGrpSpPr/>
          <p:nvPr/>
        </p:nvGrpSpPr>
        <p:grpSpPr>
          <a:xfrm>
            <a:off x="8620125" y="2000250"/>
            <a:ext cx="1619250" cy="1981200"/>
            <a:chOff x="8620125" y="2000250"/>
            <a:chExt cx="1619250" cy="1981200"/>
          </a:xfrm>
        </p:grpSpPr>
        <p:sp>
          <p:nvSpPr>
            <p:cNvPr id="37" name="Rectangle 37"/>
            <p:cNvSpPr/>
            <p:nvPr/>
          </p:nvSpPr>
          <p:spPr>
            <a:xfrm>
              <a:off x="8620125" y="2000250"/>
              <a:ext cx="1619250" cy="400050"/>
            </a:xfrm>
            <a:prstGeom prst="roundRect">
              <a:avLst>
                <a:gd name="adj" fmla="val 14286"/>
              </a:avLst>
            </a:prstGeom>
            <a:solidFill>
              <a:srgbClr val="FFFFFF"/>
            </a:solidFill>
            <a:ln w="14288">
              <a:solidFill>
                <a:srgbClr val="FA421D"/>
              </a:solidFill>
            </a:ln>
          </p:spPr>
        </p:sp>
        <p:sp>
          <p:nvSpPr>
            <p:cNvPr id="38" name="TextBox 38"/>
            <p:cNvSpPr txBox="1"/>
            <p:nvPr/>
          </p:nvSpPr>
          <p:spPr>
            <a:xfrm>
              <a:off x="8992489" y="2129314"/>
              <a:ext cx="874522"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经历时期长</a:t>
              </a:r>
            </a:p>
          </p:txBody>
        </p:sp>
        <p:sp>
          <p:nvSpPr>
            <p:cNvPr id="39" name="TextBox 39"/>
            <p:cNvSpPr txBox="1"/>
            <p:nvPr/>
          </p:nvSpPr>
          <p:spPr>
            <a:xfrm>
              <a:off x="8947328" y="2570798"/>
              <a:ext cx="964844" cy="381381"/>
            </a:xfrm>
            <a:prstGeom prst="rect">
              <a:avLst/>
            </a:prstGeom>
            <a:noFill/>
            <a:ln>
              <a:noFill/>
            </a:ln>
          </p:spPr>
          <p:txBody>
            <a:bodyPr wrap="none" lIns="0" tIns="0" rIns="0" bIns="0" anchor="t" anchorCtr="0">
              <a:spAutoFit/>
            </a:bodyPr>
            <a:lstStyle/>
            <a:p>
              <a:pPr algn="ctr"/>
              <a:r>
                <a:rPr lang="zh-CN" sz="1950" dirty="0">
                  <a:solidFill>
                    <a:srgbClr val="E83F1D"/>
                  </a:solidFill>
                  <a:latin typeface="+mn-lt"/>
                  <a:ea typeface="+mn-ea"/>
                  <a:cs typeface="+mn-cs"/>
                </a:rPr>
                <a:t>期 间 长</a:t>
              </a:r>
            </a:p>
          </p:txBody>
        </p:sp>
        <p:sp>
          <p:nvSpPr>
            <p:cNvPr id="40" name="Ellipse 40"/>
            <p:cNvSpPr/>
            <p:nvPr/>
          </p:nvSpPr>
          <p:spPr>
            <a:xfrm>
              <a:off x="9067800" y="3257550"/>
              <a:ext cx="723900" cy="723900"/>
            </a:xfrm>
            <a:prstGeom prst="ellipse">
              <a:avLst/>
            </a:prstGeom>
            <a:gradFill>
              <a:gsLst>
                <a:gs pos="0">
                  <a:srgbClr val="FB684A"/>
                </a:gs>
                <a:gs pos="100000">
                  <a:srgbClr val="FA421D"/>
                </a:gs>
              </a:gsLst>
              <a:lin ang="5400000" scaled="1"/>
            </a:gradFill>
            <a:ln>
              <a:noFill/>
            </a:ln>
          </p:spPr>
        </p:sp>
        <p:grpSp>
          <p:nvGrpSpPr>
            <p:cNvPr id="45" name="Group 45"/>
            <p:cNvGrpSpPr/>
            <p:nvPr/>
          </p:nvGrpSpPr>
          <p:grpSpPr>
            <a:xfrm>
              <a:off x="9318625" y="3476625"/>
              <a:ext cx="222250" cy="285751"/>
              <a:chOff x="9318625" y="3476625"/>
              <a:chExt cx="222250" cy="285751"/>
            </a:xfrm>
          </p:grpSpPr>
          <p:sp>
            <p:nvSpPr>
              <p:cNvPr id="41" name="Freeform 41"/>
              <p:cNvSpPr/>
              <p:nvPr/>
            </p:nvSpPr>
            <p:spPr>
              <a:xfrm>
                <a:off x="9461500" y="3476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23813">
                <a:solidFill>
                  <a:srgbClr val="FFFFFF"/>
                </a:solidFill>
              </a:ln>
            </p:spPr>
          </p:sp>
          <p:sp>
            <p:nvSpPr>
              <p:cNvPr id="42" name="Freeform 42"/>
              <p:cNvSpPr/>
              <p:nvPr/>
            </p:nvSpPr>
            <p:spPr>
              <a:xfrm>
                <a:off x="9318625" y="3476625"/>
                <a:ext cx="222250" cy="285751"/>
              </a:xfrm>
              <a:custGeom>
                <a:avLst/>
                <a:gdLst/>
                <a:ahLst/>
                <a:cxnLst/>
                <a:rect l="l" t="t" r="r" b="b"/>
                <a:pathLst>
                  <a:path w="222250" h="285751">
                    <a:moveTo>
                      <a:pt x="190500" y="285751"/>
                    </a:moveTo>
                    <a:lnTo>
                      <a:pt x="31750" y="285751"/>
                    </a:lnTo>
                    <a:cubicBezTo>
                      <a:pt x="14215" y="285751"/>
                      <a:pt x="0" y="271536"/>
                      <a:pt x="0" y="254001"/>
                    </a:cubicBezTo>
                    <a:lnTo>
                      <a:pt x="0" y="31750"/>
                    </a:lnTo>
                    <a:cubicBezTo>
                      <a:pt x="0" y="14215"/>
                      <a:pt x="14215" y="0"/>
                      <a:pt x="31750" y="0"/>
                    </a:cubicBezTo>
                    <a:lnTo>
                      <a:pt x="142875" y="0"/>
                    </a:lnTo>
                    <a:lnTo>
                      <a:pt x="222250" y="79375"/>
                    </a:lnTo>
                    <a:lnTo>
                      <a:pt x="222250" y="254001"/>
                    </a:lnTo>
                    <a:cubicBezTo>
                      <a:pt x="222250" y="271536"/>
                      <a:pt x="208035" y="285751"/>
                      <a:pt x="190500" y="285751"/>
                    </a:cubicBezTo>
                  </a:path>
                </a:pathLst>
              </a:custGeom>
              <a:noFill/>
              <a:ln w="23813">
                <a:solidFill>
                  <a:srgbClr val="FFFFFF"/>
                </a:solidFill>
              </a:ln>
            </p:spPr>
          </p:sp>
          <p:sp>
            <p:nvSpPr>
              <p:cNvPr id="43" name="Freeform 43"/>
              <p:cNvSpPr/>
              <p:nvPr/>
            </p:nvSpPr>
            <p:spPr>
              <a:xfrm>
                <a:off x="9382125" y="3698876"/>
                <a:ext cx="95250" cy="9525"/>
              </a:xfrm>
              <a:custGeom>
                <a:avLst/>
                <a:gdLst/>
                <a:ahLst/>
                <a:cxnLst/>
                <a:rect l="l" t="t" r="r" b="b"/>
                <a:pathLst>
                  <a:path w="95250" h="9525">
                    <a:moveTo>
                      <a:pt x="0" y="0"/>
                    </a:moveTo>
                    <a:lnTo>
                      <a:pt x="95250" y="0"/>
                    </a:lnTo>
                  </a:path>
                </a:pathLst>
              </a:custGeom>
              <a:noFill/>
              <a:ln w="23813">
                <a:solidFill>
                  <a:srgbClr val="FFFFFF"/>
                </a:solidFill>
              </a:ln>
            </p:spPr>
          </p:sp>
          <p:sp>
            <p:nvSpPr>
              <p:cNvPr id="44" name="Freeform 44"/>
              <p:cNvSpPr/>
              <p:nvPr/>
            </p:nvSpPr>
            <p:spPr>
              <a:xfrm>
                <a:off x="9382125" y="3635375"/>
                <a:ext cx="95250" cy="9525"/>
              </a:xfrm>
              <a:custGeom>
                <a:avLst/>
                <a:gdLst/>
                <a:ahLst/>
                <a:cxnLst/>
                <a:rect l="l" t="t" r="r" b="b"/>
                <a:pathLst>
                  <a:path w="95250" h="9525">
                    <a:moveTo>
                      <a:pt x="0" y="0"/>
                    </a:moveTo>
                    <a:lnTo>
                      <a:pt x="95250" y="0"/>
                    </a:lnTo>
                  </a:path>
                </a:pathLst>
              </a:custGeom>
              <a:noFill/>
              <a:ln w="23813">
                <a:solidFill>
                  <a:srgbClr val="FFFFFF"/>
                </a:solidFill>
              </a:ln>
            </p:spPr>
          </p:sp>
        </p:grpSp>
      </p:grpSp>
      <p:grpSp>
        <p:nvGrpSpPr>
          <p:cNvPr id="50" name="card-1"/>
          <p:cNvGrpSpPr/>
          <p:nvPr/>
        </p:nvGrpSpPr>
        <p:grpSpPr>
          <a:xfrm>
            <a:off x="1295400" y="4400550"/>
            <a:ext cx="2667000" cy="1428750"/>
            <a:chOff x="1295400" y="4400550"/>
            <a:chExt cx="2667000" cy="1428750"/>
          </a:xfrm>
        </p:grpSpPr>
        <p:sp>
          <p:nvSpPr>
            <p:cNvPr id="47" name="Rectangle 47"/>
            <p:cNvSpPr/>
            <p:nvPr/>
          </p:nvSpPr>
          <p:spPr>
            <a:xfrm>
              <a:off x="1295400" y="4400550"/>
              <a:ext cx="2667000" cy="1428750"/>
            </a:xfrm>
            <a:prstGeom prst="roundRect">
              <a:avLst>
                <a:gd name="adj" fmla="val 8000"/>
              </a:avLst>
            </a:prstGeom>
            <a:solidFill>
              <a:srgbClr val="FFFFFF"/>
            </a:solidFill>
            <a:ln w="14288">
              <a:solidFill>
                <a:srgbClr val="FCC6BB"/>
              </a:solidFill>
            </a:ln>
          </p:spPr>
        </p:sp>
        <p:sp>
          <p:nvSpPr>
            <p:cNvPr id="48" name="TextBox 48"/>
            <p:cNvSpPr txBox="1"/>
            <p:nvPr/>
          </p:nvSpPr>
          <p:spPr>
            <a:xfrm>
              <a:off x="1517142" y="4635818"/>
              <a:ext cx="1285875"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老龄化问题概述</a:t>
              </a:r>
            </a:p>
          </p:txBody>
        </p:sp>
        <p:sp>
          <p:nvSpPr>
            <p:cNvPr id="49" name="TextBox 49"/>
            <p:cNvSpPr txBox="1"/>
            <p:nvPr/>
          </p:nvSpPr>
          <p:spPr>
            <a:xfrm>
              <a:off x="1518666" y="5030152"/>
              <a:ext cx="1477518" cy="433959"/>
            </a:xfrm>
            <a:prstGeom prst="rect">
              <a:avLst/>
            </a:prstGeom>
            <a:noFill/>
            <a:ln>
              <a:noFill/>
            </a:ln>
          </p:spPr>
          <p:txBody>
            <a:bodyPr wrap="none" lIns="0" tIns="0" rIns="0" bIns="0" anchor="t" anchorCtr="0">
              <a:spAutoFit/>
            </a:bodyPr>
            <a:lstStyle/>
            <a:p>
              <a:pPr algn="l">
                <a:lnSpc>
                  <a:spcPts val="1800"/>
                </a:lnSpc>
              </a:pPr>
              <a:r>
                <a:rPr lang="zh-CN" sz="1050" dirty="0">
                  <a:solidFill>
                    <a:srgbClr val="3D241F"/>
                  </a:solidFill>
                  <a:latin typeface="+mn-lt"/>
                  <a:ea typeface="+mn-ea"/>
                  <a:cs typeface="+mn-cs"/>
                </a:rPr>
                <a:t>了解人口的具体数目和平</a:t>
              </a:r>
              <a:br/>
              <a:r>
                <a:rPr lang="zh-CN" sz="1050" dirty="0">
                  <a:solidFill>
                    <a:srgbClr val="3D241F"/>
                  </a:solidFill>
                  <a:latin typeface="+mn-lt"/>
                  <a:ea typeface="+mn-ea"/>
                  <a:cs typeface="+mn-cs"/>
                </a:rPr>
                <a:t>均年龄，了解人</a:t>
              </a:r>
            </a:p>
          </p:txBody>
        </p:sp>
      </p:grpSp>
      <p:grpSp>
        <p:nvGrpSpPr>
          <p:cNvPr id="54" name="card-2"/>
          <p:cNvGrpSpPr/>
          <p:nvPr/>
        </p:nvGrpSpPr>
        <p:grpSpPr>
          <a:xfrm>
            <a:off x="4943475" y="4114800"/>
            <a:ext cx="2667000" cy="1428750"/>
            <a:chOff x="4943475" y="4114800"/>
            <a:chExt cx="2667000" cy="1428750"/>
          </a:xfrm>
        </p:grpSpPr>
        <p:sp>
          <p:nvSpPr>
            <p:cNvPr id="51" name="Rectangle 51"/>
            <p:cNvSpPr/>
            <p:nvPr/>
          </p:nvSpPr>
          <p:spPr>
            <a:xfrm>
              <a:off x="4943475" y="4114800"/>
              <a:ext cx="2667000" cy="1428750"/>
            </a:xfrm>
            <a:prstGeom prst="roundRect">
              <a:avLst>
                <a:gd name="adj" fmla="val 8000"/>
              </a:avLst>
            </a:prstGeom>
            <a:solidFill>
              <a:srgbClr val="FFFFFF"/>
            </a:solidFill>
            <a:ln w="14288">
              <a:solidFill>
                <a:srgbClr val="FCC6BB"/>
              </a:solidFill>
            </a:ln>
          </p:spPr>
        </p:sp>
        <p:sp>
          <p:nvSpPr>
            <p:cNvPr id="52" name="TextBox 52"/>
            <p:cNvSpPr txBox="1"/>
            <p:nvPr/>
          </p:nvSpPr>
          <p:spPr>
            <a:xfrm>
              <a:off x="5165217" y="4350068"/>
              <a:ext cx="1285875"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老龄化问题概述</a:t>
              </a:r>
            </a:p>
          </p:txBody>
        </p:sp>
        <p:sp>
          <p:nvSpPr>
            <p:cNvPr id="53" name="TextBox 53"/>
            <p:cNvSpPr txBox="1"/>
            <p:nvPr/>
          </p:nvSpPr>
          <p:spPr>
            <a:xfrm>
              <a:off x="5166741" y="4744402"/>
              <a:ext cx="1477518" cy="433959"/>
            </a:xfrm>
            <a:prstGeom prst="rect">
              <a:avLst/>
            </a:prstGeom>
            <a:noFill/>
            <a:ln>
              <a:noFill/>
            </a:ln>
          </p:spPr>
          <p:txBody>
            <a:bodyPr wrap="none" lIns="0" tIns="0" rIns="0" bIns="0" anchor="t" anchorCtr="0">
              <a:spAutoFit/>
            </a:bodyPr>
            <a:lstStyle/>
            <a:p>
              <a:pPr algn="l">
                <a:lnSpc>
                  <a:spcPts val="1800"/>
                </a:lnSpc>
              </a:pPr>
              <a:r>
                <a:rPr lang="zh-CN" sz="1050" dirty="0">
                  <a:solidFill>
                    <a:srgbClr val="3D241F"/>
                  </a:solidFill>
                  <a:latin typeface="+mn-lt"/>
                  <a:ea typeface="+mn-ea"/>
                  <a:cs typeface="+mn-cs"/>
                </a:rPr>
                <a:t>了解人口的具体数目和平</a:t>
              </a:r>
              <a:br/>
              <a:r>
                <a:rPr lang="zh-CN" sz="1050" dirty="0">
                  <a:solidFill>
                    <a:srgbClr val="3D241F"/>
                  </a:solidFill>
                  <a:latin typeface="+mn-lt"/>
                  <a:ea typeface="+mn-ea"/>
                  <a:cs typeface="+mn-cs"/>
                </a:rPr>
                <a:t>均年龄，了解人</a:t>
              </a:r>
            </a:p>
          </p:txBody>
        </p:sp>
      </p:grpSp>
      <p:grpSp>
        <p:nvGrpSpPr>
          <p:cNvPr id="58" name="card-3"/>
          <p:cNvGrpSpPr/>
          <p:nvPr/>
        </p:nvGrpSpPr>
        <p:grpSpPr>
          <a:xfrm>
            <a:off x="8172450" y="4514850"/>
            <a:ext cx="2667000" cy="1428750"/>
            <a:chOff x="8172450" y="4514850"/>
            <a:chExt cx="2667000" cy="1428750"/>
          </a:xfrm>
        </p:grpSpPr>
        <p:sp>
          <p:nvSpPr>
            <p:cNvPr id="55" name="Rectangle 55"/>
            <p:cNvSpPr/>
            <p:nvPr/>
          </p:nvSpPr>
          <p:spPr>
            <a:xfrm>
              <a:off x="8172450" y="4514850"/>
              <a:ext cx="2667000" cy="1428750"/>
            </a:xfrm>
            <a:prstGeom prst="roundRect">
              <a:avLst>
                <a:gd name="adj" fmla="val 8000"/>
              </a:avLst>
            </a:prstGeom>
            <a:solidFill>
              <a:srgbClr val="FFFFFF"/>
            </a:solidFill>
            <a:ln w="14288">
              <a:solidFill>
                <a:srgbClr val="FCC6BB"/>
              </a:solidFill>
            </a:ln>
          </p:spPr>
        </p:sp>
        <p:sp>
          <p:nvSpPr>
            <p:cNvPr id="56" name="TextBox 56"/>
            <p:cNvSpPr txBox="1"/>
            <p:nvPr/>
          </p:nvSpPr>
          <p:spPr>
            <a:xfrm>
              <a:off x="8394192" y="4750118"/>
              <a:ext cx="1285875"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老龄化问题概述</a:t>
              </a:r>
            </a:p>
          </p:txBody>
        </p:sp>
        <p:sp>
          <p:nvSpPr>
            <p:cNvPr id="57" name="TextBox 57"/>
            <p:cNvSpPr txBox="1"/>
            <p:nvPr/>
          </p:nvSpPr>
          <p:spPr>
            <a:xfrm>
              <a:off x="8395716" y="5144452"/>
              <a:ext cx="1477518" cy="433959"/>
            </a:xfrm>
            <a:prstGeom prst="rect">
              <a:avLst/>
            </a:prstGeom>
            <a:noFill/>
            <a:ln>
              <a:noFill/>
            </a:ln>
          </p:spPr>
          <p:txBody>
            <a:bodyPr wrap="none" lIns="0" tIns="0" rIns="0" bIns="0" anchor="t" anchorCtr="0">
              <a:spAutoFit/>
            </a:bodyPr>
            <a:lstStyle/>
            <a:p>
              <a:pPr algn="l">
                <a:lnSpc>
                  <a:spcPts val="1800"/>
                </a:lnSpc>
              </a:pPr>
              <a:r>
                <a:rPr lang="zh-CN" sz="1050" dirty="0">
                  <a:solidFill>
                    <a:srgbClr val="3D241F"/>
                  </a:solidFill>
                  <a:latin typeface="+mn-lt"/>
                  <a:ea typeface="+mn-ea"/>
                  <a:cs typeface="+mn-cs"/>
                </a:rPr>
                <a:t>了解人口的具体数目和平</a:t>
              </a:r>
              <a:br/>
              <a:r>
                <a:rPr lang="zh-CN" sz="1050" dirty="0">
                  <a:solidFill>
                    <a:srgbClr val="3D241F"/>
                  </a:solidFill>
                  <a:latin typeface="+mn-lt"/>
                  <a:ea typeface="+mn-ea"/>
                  <a:cs typeface="+mn-cs"/>
                </a:rPr>
                <a:t>均年龄，了解人</a:t>
              </a:r>
            </a:p>
          </p:txBody>
        </p:sp>
      </p:gr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ribbon"/>
          <p:cNvSpPr/>
          <p:nvPr/>
        </p:nvSpPr>
        <p:spPr>
          <a:xfrm>
            <a:off x="0" y="2857500"/>
            <a:ext cx="12192000" cy="4000500"/>
          </a:xfrm>
          <a:custGeom>
            <a:avLst/>
            <a:gdLst/>
            <a:ahLst/>
            <a:cxnLst/>
            <a:rect l="l" t="t" r="r" b="b"/>
            <a:pathLst>
              <a:path w="12192000" h="4000500">
                <a:moveTo>
                  <a:pt x="0" y="4000500"/>
                </a:moveTo>
                <a:lnTo>
                  <a:pt x="0" y="3238500"/>
                </a:lnTo>
                <a:cubicBezTo>
                  <a:pt x="1905000" y="3238500"/>
                  <a:pt x="3333750" y="3048000"/>
                  <a:pt x="4572000" y="2476500"/>
                </a:cubicBezTo>
                <a:cubicBezTo>
                  <a:pt x="5715000" y="1905000"/>
                  <a:pt x="6667500" y="1333500"/>
                  <a:pt x="7810500" y="952500"/>
                </a:cubicBezTo>
                <a:cubicBezTo>
                  <a:pt x="8763000" y="666750"/>
                  <a:pt x="10001250" y="285750"/>
                  <a:pt x="12192000" y="0"/>
                </a:cubicBezTo>
                <a:lnTo>
                  <a:pt x="12192000" y="762000"/>
                </a:lnTo>
                <a:cubicBezTo>
                  <a:pt x="10001250" y="952500"/>
                  <a:pt x="9048750" y="1333500"/>
                  <a:pt x="8096250" y="1714500"/>
                </a:cubicBezTo>
                <a:cubicBezTo>
                  <a:pt x="6858000" y="2190750"/>
                  <a:pt x="5905500" y="2857500"/>
                  <a:pt x="4762500" y="3238500"/>
                </a:cubicBezTo>
                <a:cubicBezTo>
                  <a:pt x="3619500" y="3619500"/>
                  <a:pt x="1905000" y="3810000"/>
                  <a:pt x="0" y="4000500"/>
                </a:cubicBezTo>
                <a:close/>
              </a:path>
            </a:pathLst>
          </a:custGeom>
          <a:gradFill>
            <a:gsLst>
              <a:gs pos="0">
                <a:srgbClr val="FDA28F"/>
              </a:gs>
              <a:gs pos="50000">
                <a:srgbClr val="FB684A"/>
              </a:gs>
              <a:gs pos="100000">
                <a:srgbClr val="FA421D"/>
              </a:gs>
            </a:gsLst>
            <a:lin ang="0" scaled="1"/>
          </a:gradFill>
          <a:ln>
            <a:noFill/>
          </a:ln>
        </p:spPr>
      </p:sp>
      <p:grpSp>
        <p:nvGrpSpPr>
          <p:cNvPr id="7" name="header"/>
          <p:cNvGrpSpPr/>
          <p:nvPr/>
        </p:nvGrpSpPr>
        <p:grpSpPr>
          <a:xfrm>
            <a:off x="0" y="0"/>
            <a:ext cx="12192000" cy="551879"/>
            <a:chOff x="0" y="0"/>
            <a:chExt cx="12192000"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4" name="TextBox 4"/>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16</a:t>
              </a:r>
            </a:p>
          </p:txBody>
        </p:sp>
        <p:sp>
          <p:nvSpPr>
            <p:cNvPr id="5" name="TextBox 5"/>
            <p:cNvSpPr txBox="1"/>
            <p:nvPr/>
          </p:nvSpPr>
          <p:spPr>
            <a:xfrm>
              <a:off x="904494" y="170498"/>
              <a:ext cx="1857375"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新电商、新增长</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0" name="intro"/>
          <p:cNvGrpSpPr/>
          <p:nvPr/>
        </p:nvGrpSpPr>
        <p:grpSpPr>
          <a:xfrm>
            <a:off x="736092" y="1378268"/>
            <a:ext cx="3079242" cy="828293"/>
            <a:chOff x="736092" y="1378268"/>
            <a:chExt cx="3079242" cy="828293"/>
          </a:xfrm>
        </p:grpSpPr>
        <p:sp>
          <p:nvSpPr>
            <p:cNvPr id="8" name="TextBox 8"/>
            <p:cNvSpPr txBox="1"/>
            <p:nvPr/>
          </p:nvSpPr>
          <p:spPr>
            <a:xfrm>
              <a:off x="736092" y="1378268"/>
              <a:ext cx="1831086" cy="264033"/>
            </a:xfrm>
            <a:prstGeom prst="rect">
              <a:avLst/>
            </a:prstGeom>
            <a:noFill/>
            <a:ln>
              <a:noFill/>
            </a:ln>
          </p:spPr>
          <p:txBody>
            <a:bodyPr wrap="none" lIns="0" tIns="0" rIns="0" bIns="0" anchor="t" anchorCtr="0">
              <a:spAutoFit/>
            </a:bodyPr>
            <a:lstStyle/>
            <a:p>
              <a:pPr algn="l"/>
              <a:r>
                <a:rPr lang="zh-CN" sz="1350" b="1" dirty="0">
                  <a:solidFill>
                    <a:srgbClr val="E83F1D"/>
                  </a:solidFill>
                  <a:latin typeface="+mn-lt"/>
                  <a:ea typeface="+mn-ea"/>
                  <a:cs typeface="+mn-cs"/>
                </a:rPr>
                <a:t>点击此处添加文本标题</a:t>
              </a:r>
            </a:p>
          </p:txBody>
        </p:sp>
        <p:sp>
          <p:nvSpPr>
            <p:cNvPr id="9" name="TextBox 9"/>
            <p:cNvSpPr txBox="1"/>
            <p:nvPr/>
          </p:nvSpPr>
          <p:spPr>
            <a:xfrm>
              <a:off x="737616" y="1753552"/>
              <a:ext cx="3077718" cy="453009"/>
            </a:xfrm>
            <a:prstGeom prst="rect">
              <a:avLst/>
            </a:prstGeom>
            <a:noFill/>
            <a:ln>
              <a:noFill/>
            </a:ln>
          </p:spPr>
          <p:txBody>
            <a:bodyPr wrap="none" lIns="0" tIns="0" rIns="0" bIns="0" anchor="t" anchorCtr="0">
              <a:spAutoFit/>
            </a:bodyPr>
            <a:lstStyle/>
            <a:p>
              <a:pPr algn="l">
                <a:lnSpc>
                  <a:spcPts val="1950"/>
                </a:lnSpc>
              </a:pPr>
              <a:r>
                <a:rPr lang="zh-CN" sz="1050" dirty="0">
                  <a:solidFill>
                    <a:srgbClr val="3D241F"/>
                  </a:solidFill>
                  <a:latin typeface="+mn-lt"/>
                  <a:ea typeface="+mn-ea"/>
                  <a:cs typeface="+mn-cs"/>
                </a:rPr>
                <a:t>单击此处输入你的正文，文字是您思想的提炼，为了</a:t>
              </a:r>
              <a:br/>
              <a:r>
                <a:rPr lang="zh-CN" sz="1050" dirty="0">
                  <a:solidFill>
                    <a:srgbClr val="3D241F"/>
                  </a:solidFill>
                  <a:latin typeface="+mn-lt"/>
                  <a:ea typeface="+mn-ea"/>
                  <a:cs typeface="+mn-cs"/>
                </a:rPr>
                <a:t>最终演示发布的良好效果，单击此处输入你的正文</a:t>
              </a:r>
            </a:p>
          </p:txBody>
        </p:sp>
      </p:grpSp>
      <p:grpSp>
        <p:nvGrpSpPr>
          <p:cNvPr id="23" name="card-01"/>
          <p:cNvGrpSpPr/>
          <p:nvPr/>
        </p:nvGrpSpPr>
        <p:grpSpPr>
          <a:xfrm>
            <a:off x="1009650" y="3838575"/>
            <a:ext cx="1809750" cy="2476500"/>
            <a:chOff x="1009650" y="3838575"/>
            <a:chExt cx="1809750" cy="2476500"/>
          </a:xfrm>
        </p:grpSpPr>
        <p:sp>
          <p:nvSpPr>
            <p:cNvPr id="11" name="Rectangle 11"/>
            <p:cNvSpPr/>
            <p:nvPr/>
          </p:nvSpPr>
          <p:spPr>
            <a:xfrm>
              <a:off x="1009650" y="3838575"/>
              <a:ext cx="1809750" cy="2476500"/>
            </a:xfrm>
            <a:prstGeom prst="roundRect">
              <a:avLst>
                <a:gd name="adj" fmla="val 4211"/>
              </a:avLst>
            </a:prstGeom>
            <a:solidFill>
              <a:srgbClr val="FFFFFF"/>
            </a:solidFill>
            <a:ln w="23812">
              <a:solidFill>
                <a:srgbClr val="FB684A"/>
              </a:solidFill>
            </a:ln>
          </p:spPr>
        </p:sp>
        <p:sp>
          <p:nvSpPr>
            <p:cNvPr id="12" name="Rectangle 12"/>
            <p:cNvSpPr/>
            <p:nvPr/>
          </p:nvSpPr>
          <p:spPr>
            <a:xfrm>
              <a:off x="1143000" y="3990975"/>
              <a:ext cx="1428750" cy="285750"/>
            </a:xfrm>
            <a:prstGeom prst="roundRect">
              <a:avLst>
                <a:gd name="adj" fmla="val 50000"/>
              </a:avLst>
            </a:prstGeom>
            <a:solidFill>
              <a:srgbClr val="FFFFFF"/>
            </a:solidFill>
            <a:ln w="14288">
              <a:solidFill>
                <a:srgbClr val="FA421D"/>
              </a:solidFill>
            </a:ln>
          </p:spPr>
        </p:sp>
        <p:sp>
          <p:nvSpPr>
            <p:cNvPr id="13" name="Ellipse 13"/>
            <p:cNvSpPr/>
            <p:nvPr/>
          </p:nvSpPr>
          <p:spPr>
            <a:xfrm>
              <a:off x="1143000" y="3990975"/>
              <a:ext cx="285750" cy="285750"/>
            </a:xfrm>
            <a:prstGeom prst="ellipse">
              <a:avLst/>
            </a:prstGeom>
            <a:gradFill>
              <a:gsLst>
                <a:gs pos="0">
                  <a:srgbClr val="FB684A"/>
                </a:gs>
                <a:gs pos="100000">
                  <a:srgbClr val="FA421D"/>
                </a:gs>
              </a:gsLst>
              <a:lin ang="5400000" scaled="1"/>
            </a:gradFill>
            <a:ln>
              <a:noFill/>
            </a:ln>
          </p:spPr>
        </p:sp>
        <p:sp>
          <p:nvSpPr>
            <p:cNvPr id="14" name="TextBox 14"/>
            <p:cNvSpPr txBox="1"/>
            <p:nvPr/>
          </p:nvSpPr>
          <p:spPr>
            <a:xfrm>
              <a:off x="1217363" y="408289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01</a:t>
              </a:r>
            </a:p>
          </p:txBody>
        </p:sp>
        <p:sp>
          <p:nvSpPr>
            <p:cNvPr id="15" name="TextBox 15"/>
            <p:cNvSpPr txBox="1"/>
            <p:nvPr/>
          </p:nvSpPr>
          <p:spPr>
            <a:xfrm>
              <a:off x="1556385" y="4060031"/>
              <a:ext cx="614528" cy="220028"/>
            </a:xfrm>
            <a:prstGeom prst="rect">
              <a:avLst/>
            </a:prstGeom>
            <a:noFill/>
            <a:ln>
              <a:noFill/>
            </a:ln>
          </p:spPr>
          <p:txBody>
            <a:bodyPr wrap="none" lIns="0" tIns="0" rIns="0" bIns="0" anchor="t" anchorCtr="0">
              <a:spAutoFit/>
            </a:bodyPr>
            <a:lstStyle/>
            <a:p>
              <a:pPr algn="l"/>
              <a:r>
                <a:rPr lang="zh-CN" sz="1120" b="1" dirty="0">
                  <a:solidFill>
                    <a:srgbClr val="E83F1D"/>
                  </a:solidFill>
                  <a:latin typeface="+mn-lt"/>
                  <a:ea typeface="+mn-ea"/>
                  <a:cs typeface="+mn-cs"/>
                </a:rPr>
                <a:t>输入标题</a:t>
              </a:r>
            </a:p>
          </p:txBody>
        </p:sp>
        <p:sp>
          <p:nvSpPr>
            <p:cNvPr id="16" name="Line 16"/>
            <p:cNvSpPr/>
            <p:nvPr/>
          </p:nvSpPr>
          <p:spPr>
            <a:xfrm>
              <a:off x="1295400" y="4467225"/>
              <a:ext cx="9525" cy="1619250"/>
            </a:xfrm>
            <a:custGeom>
              <a:avLst/>
              <a:gdLst/>
              <a:ahLst/>
              <a:cxnLst/>
              <a:rect l="l" t="t" r="r" b="b"/>
              <a:pathLst>
                <a:path w="9525" h="1619250">
                  <a:moveTo>
                    <a:pt x="0" y="0"/>
                  </a:moveTo>
                  <a:lnTo>
                    <a:pt x="0" y="1619250"/>
                  </a:lnTo>
                </a:path>
              </a:pathLst>
            </a:custGeom>
            <a:noFill/>
            <a:ln w="9525">
              <a:solidFill>
                <a:srgbClr val="FA421D"/>
              </a:solidFill>
            </a:ln>
          </p:spPr>
        </p:sp>
        <p:sp>
          <p:nvSpPr>
            <p:cNvPr id="17" name="Ellipse 17"/>
            <p:cNvSpPr/>
            <p:nvPr/>
          </p:nvSpPr>
          <p:spPr>
            <a:xfrm>
              <a:off x="1257300" y="4562475"/>
              <a:ext cx="76200" cy="76200"/>
            </a:xfrm>
            <a:prstGeom prst="ellipse">
              <a:avLst/>
            </a:prstGeom>
            <a:solidFill>
              <a:srgbClr val="FA421D"/>
            </a:solidFill>
            <a:ln>
              <a:noFill/>
            </a:ln>
          </p:spPr>
        </p:sp>
        <p:sp>
          <p:nvSpPr>
            <p:cNvPr id="18" name="Ellipse 18"/>
            <p:cNvSpPr/>
            <p:nvPr/>
          </p:nvSpPr>
          <p:spPr>
            <a:xfrm>
              <a:off x="1257300" y="5095875"/>
              <a:ext cx="76200" cy="76200"/>
            </a:xfrm>
            <a:prstGeom prst="ellipse">
              <a:avLst/>
            </a:prstGeom>
            <a:solidFill>
              <a:srgbClr val="FA421D"/>
            </a:solidFill>
            <a:ln>
              <a:noFill/>
            </a:ln>
          </p:spPr>
        </p:sp>
        <p:sp>
          <p:nvSpPr>
            <p:cNvPr id="19" name="Ellipse 19"/>
            <p:cNvSpPr/>
            <p:nvPr/>
          </p:nvSpPr>
          <p:spPr>
            <a:xfrm>
              <a:off x="1257300" y="5629275"/>
              <a:ext cx="76200" cy="76200"/>
            </a:xfrm>
            <a:prstGeom prst="ellipse">
              <a:avLst/>
            </a:prstGeom>
            <a:solidFill>
              <a:srgbClr val="FA421D"/>
            </a:solidFill>
            <a:ln>
              <a:noFill/>
            </a:ln>
          </p:spPr>
        </p:sp>
        <p:sp>
          <p:nvSpPr>
            <p:cNvPr id="20" name="TextBox 20"/>
            <p:cNvSpPr txBox="1"/>
            <p:nvPr/>
          </p:nvSpPr>
          <p:spPr>
            <a:xfrm>
              <a:off x="1423988" y="4507468"/>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21" name="TextBox 21"/>
            <p:cNvSpPr txBox="1"/>
            <p:nvPr/>
          </p:nvSpPr>
          <p:spPr>
            <a:xfrm>
              <a:off x="1423988" y="5040868"/>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22" name="TextBox 22"/>
            <p:cNvSpPr txBox="1"/>
            <p:nvPr/>
          </p:nvSpPr>
          <p:spPr>
            <a:xfrm>
              <a:off x="1423988" y="5574268"/>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grpSp>
      <p:grpSp>
        <p:nvGrpSpPr>
          <p:cNvPr id="36" name="card-02"/>
          <p:cNvGrpSpPr/>
          <p:nvPr/>
        </p:nvGrpSpPr>
        <p:grpSpPr>
          <a:xfrm>
            <a:off x="3162300" y="2933700"/>
            <a:ext cx="1809750" cy="2476500"/>
            <a:chOff x="3162300" y="2933700"/>
            <a:chExt cx="1809750" cy="2476500"/>
          </a:xfrm>
        </p:grpSpPr>
        <p:sp>
          <p:nvSpPr>
            <p:cNvPr id="24" name="Rectangle 24"/>
            <p:cNvSpPr/>
            <p:nvPr/>
          </p:nvSpPr>
          <p:spPr>
            <a:xfrm>
              <a:off x="3162300" y="2933700"/>
              <a:ext cx="1809750" cy="2476500"/>
            </a:xfrm>
            <a:prstGeom prst="roundRect">
              <a:avLst>
                <a:gd name="adj" fmla="val 4211"/>
              </a:avLst>
            </a:prstGeom>
            <a:solidFill>
              <a:srgbClr val="FFFFFF"/>
            </a:solidFill>
            <a:ln w="23812">
              <a:solidFill>
                <a:srgbClr val="FB684A"/>
              </a:solidFill>
            </a:ln>
          </p:spPr>
        </p:sp>
        <p:sp>
          <p:nvSpPr>
            <p:cNvPr id="25" name="Rectangle 25"/>
            <p:cNvSpPr/>
            <p:nvPr/>
          </p:nvSpPr>
          <p:spPr>
            <a:xfrm>
              <a:off x="3295650" y="3086100"/>
              <a:ext cx="1428750" cy="285750"/>
            </a:xfrm>
            <a:prstGeom prst="roundRect">
              <a:avLst>
                <a:gd name="adj" fmla="val 50000"/>
              </a:avLst>
            </a:prstGeom>
            <a:solidFill>
              <a:srgbClr val="FFFFFF"/>
            </a:solidFill>
            <a:ln w="14288">
              <a:solidFill>
                <a:srgbClr val="FA421D"/>
              </a:solidFill>
            </a:ln>
          </p:spPr>
        </p:sp>
        <p:sp>
          <p:nvSpPr>
            <p:cNvPr id="26" name="Ellipse 26"/>
            <p:cNvSpPr/>
            <p:nvPr/>
          </p:nvSpPr>
          <p:spPr>
            <a:xfrm>
              <a:off x="3295650" y="3086100"/>
              <a:ext cx="285750" cy="285750"/>
            </a:xfrm>
            <a:prstGeom prst="ellipse">
              <a:avLst/>
            </a:prstGeom>
            <a:gradFill>
              <a:gsLst>
                <a:gs pos="0">
                  <a:srgbClr val="FB684A"/>
                </a:gs>
                <a:gs pos="100000">
                  <a:srgbClr val="FA421D"/>
                </a:gs>
              </a:gsLst>
              <a:lin ang="5400000" scaled="1"/>
            </a:gradFill>
            <a:ln>
              <a:noFill/>
            </a:ln>
          </p:spPr>
        </p:sp>
        <p:sp>
          <p:nvSpPr>
            <p:cNvPr id="27" name="TextBox 27"/>
            <p:cNvSpPr txBox="1"/>
            <p:nvPr/>
          </p:nvSpPr>
          <p:spPr>
            <a:xfrm>
              <a:off x="3370013" y="3178016"/>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02</a:t>
              </a:r>
            </a:p>
          </p:txBody>
        </p:sp>
        <p:sp>
          <p:nvSpPr>
            <p:cNvPr id="28" name="TextBox 28"/>
            <p:cNvSpPr txBox="1"/>
            <p:nvPr/>
          </p:nvSpPr>
          <p:spPr>
            <a:xfrm>
              <a:off x="3709035" y="3155156"/>
              <a:ext cx="614528" cy="220028"/>
            </a:xfrm>
            <a:prstGeom prst="rect">
              <a:avLst/>
            </a:prstGeom>
            <a:noFill/>
            <a:ln>
              <a:noFill/>
            </a:ln>
          </p:spPr>
          <p:txBody>
            <a:bodyPr wrap="none" lIns="0" tIns="0" rIns="0" bIns="0" anchor="t" anchorCtr="0">
              <a:spAutoFit/>
            </a:bodyPr>
            <a:lstStyle/>
            <a:p>
              <a:pPr algn="l"/>
              <a:r>
                <a:rPr lang="zh-CN" sz="1120" b="1" dirty="0">
                  <a:solidFill>
                    <a:srgbClr val="E83F1D"/>
                  </a:solidFill>
                  <a:latin typeface="+mn-lt"/>
                  <a:ea typeface="+mn-ea"/>
                  <a:cs typeface="+mn-cs"/>
                </a:rPr>
                <a:t>输入标题</a:t>
              </a:r>
            </a:p>
          </p:txBody>
        </p:sp>
        <p:sp>
          <p:nvSpPr>
            <p:cNvPr id="29" name="Line 29"/>
            <p:cNvSpPr/>
            <p:nvPr/>
          </p:nvSpPr>
          <p:spPr>
            <a:xfrm>
              <a:off x="3448050" y="3562350"/>
              <a:ext cx="9525" cy="1619250"/>
            </a:xfrm>
            <a:custGeom>
              <a:avLst/>
              <a:gdLst/>
              <a:ahLst/>
              <a:cxnLst/>
              <a:rect l="l" t="t" r="r" b="b"/>
              <a:pathLst>
                <a:path w="9525" h="1619250">
                  <a:moveTo>
                    <a:pt x="0" y="0"/>
                  </a:moveTo>
                  <a:lnTo>
                    <a:pt x="0" y="1619250"/>
                  </a:lnTo>
                </a:path>
              </a:pathLst>
            </a:custGeom>
            <a:noFill/>
            <a:ln w="9525">
              <a:solidFill>
                <a:srgbClr val="FA421D"/>
              </a:solidFill>
            </a:ln>
          </p:spPr>
        </p:sp>
        <p:sp>
          <p:nvSpPr>
            <p:cNvPr id="30" name="Ellipse 30"/>
            <p:cNvSpPr/>
            <p:nvPr/>
          </p:nvSpPr>
          <p:spPr>
            <a:xfrm>
              <a:off x="3409950" y="3657600"/>
              <a:ext cx="76200" cy="76200"/>
            </a:xfrm>
            <a:prstGeom prst="ellipse">
              <a:avLst/>
            </a:prstGeom>
            <a:solidFill>
              <a:srgbClr val="FA421D"/>
            </a:solidFill>
            <a:ln>
              <a:noFill/>
            </a:ln>
          </p:spPr>
        </p:sp>
        <p:sp>
          <p:nvSpPr>
            <p:cNvPr id="31" name="Ellipse 31"/>
            <p:cNvSpPr/>
            <p:nvPr/>
          </p:nvSpPr>
          <p:spPr>
            <a:xfrm>
              <a:off x="3409950" y="4191000"/>
              <a:ext cx="76200" cy="76200"/>
            </a:xfrm>
            <a:prstGeom prst="ellipse">
              <a:avLst/>
            </a:prstGeom>
            <a:solidFill>
              <a:srgbClr val="FA421D"/>
            </a:solidFill>
            <a:ln>
              <a:noFill/>
            </a:ln>
          </p:spPr>
        </p:sp>
        <p:sp>
          <p:nvSpPr>
            <p:cNvPr id="32" name="Ellipse 32"/>
            <p:cNvSpPr/>
            <p:nvPr/>
          </p:nvSpPr>
          <p:spPr>
            <a:xfrm>
              <a:off x="3409950" y="4724400"/>
              <a:ext cx="76200" cy="76200"/>
            </a:xfrm>
            <a:prstGeom prst="ellipse">
              <a:avLst/>
            </a:prstGeom>
            <a:solidFill>
              <a:srgbClr val="FA421D"/>
            </a:solidFill>
            <a:ln>
              <a:noFill/>
            </a:ln>
          </p:spPr>
        </p:sp>
        <p:sp>
          <p:nvSpPr>
            <p:cNvPr id="33" name="TextBox 33"/>
            <p:cNvSpPr txBox="1"/>
            <p:nvPr/>
          </p:nvSpPr>
          <p:spPr>
            <a:xfrm>
              <a:off x="3576638" y="3602593"/>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34" name="TextBox 34"/>
            <p:cNvSpPr txBox="1"/>
            <p:nvPr/>
          </p:nvSpPr>
          <p:spPr>
            <a:xfrm>
              <a:off x="3576638" y="4135993"/>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35" name="TextBox 35"/>
            <p:cNvSpPr txBox="1"/>
            <p:nvPr/>
          </p:nvSpPr>
          <p:spPr>
            <a:xfrm>
              <a:off x="3576638" y="4669393"/>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grpSp>
      <p:grpSp>
        <p:nvGrpSpPr>
          <p:cNvPr id="49" name="card-03"/>
          <p:cNvGrpSpPr/>
          <p:nvPr/>
        </p:nvGrpSpPr>
        <p:grpSpPr>
          <a:xfrm>
            <a:off x="5362575" y="2314575"/>
            <a:ext cx="1809750" cy="2476500"/>
            <a:chOff x="5362575" y="2314575"/>
            <a:chExt cx="1809750" cy="2476500"/>
          </a:xfrm>
        </p:grpSpPr>
        <p:sp>
          <p:nvSpPr>
            <p:cNvPr id="37" name="Rectangle 37"/>
            <p:cNvSpPr/>
            <p:nvPr/>
          </p:nvSpPr>
          <p:spPr>
            <a:xfrm>
              <a:off x="5362575" y="2314575"/>
              <a:ext cx="1809750" cy="2476500"/>
            </a:xfrm>
            <a:prstGeom prst="roundRect">
              <a:avLst>
                <a:gd name="adj" fmla="val 4211"/>
              </a:avLst>
            </a:prstGeom>
            <a:solidFill>
              <a:srgbClr val="FFFFFF"/>
            </a:solidFill>
            <a:ln w="23812">
              <a:solidFill>
                <a:srgbClr val="FB684A"/>
              </a:solidFill>
            </a:ln>
          </p:spPr>
        </p:sp>
        <p:sp>
          <p:nvSpPr>
            <p:cNvPr id="38" name="Rectangle 38"/>
            <p:cNvSpPr/>
            <p:nvPr/>
          </p:nvSpPr>
          <p:spPr>
            <a:xfrm>
              <a:off x="5495925" y="2466975"/>
              <a:ext cx="1428750" cy="285750"/>
            </a:xfrm>
            <a:prstGeom prst="roundRect">
              <a:avLst>
                <a:gd name="adj" fmla="val 50000"/>
              </a:avLst>
            </a:prstGeom>
            <a:solidFill>
              <a:srgbClr val="FFFFFF"/>
            </a:solidFill>
            <a:ln w="14288">
              <a:solidFill>
                <a:srgbClr val="FA421D"/>
              </a:solidFill>
            </a:ln>
          </p:spPr>
        </p:sp>
        <p:sp>
          <p:nvSpPr>
            <p:cNvPr id="39" name="Ellipse 39"/>
            <p:cNvSpPr/>
            <p:nvPr/>
          </p:nvSpPr>
          <p:spPr>
            <a:xfrm>
              <a:off x="5495925" y="2466975"/>
              <a:ext cx="285750" cy="285750"/>
            </a:xfrm>
            <a:prstGeom prst="ellipse">
              <a:avLst/>
            </a:prstGeom>
            <a:gradFill>
              <a:gsLst>
                <a:gs pos="0">
                  <a:srgbClr val="FB684A"/>
                </a:gs>
                <a:gs pos="100000">
                  <a:srgbClr val="FA421D"/>
                </a:gs>
              </a:gsLst>
              <a:lin ang="5400000" scaled="1"/>
            </a:gradFill>
            <a:ln>
              <a:noFill/>
            </a:ln>
          </p:spPr>
        </p:sp>
        <p:sp>
          <p:nvSpPr>
            <p:cNvPr id="40" name="TextBox 40"/>
            <p:cNvSpPr txBox="1"/>
            <p:nvPr/>
          </p:nvSpPr>
          <p:spPr>
            <a:xfrm>
              <a:off x="5570288" y="255889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03</a:t>
              </a:r>
            </a:p>
          </p:txBody>
        </p:sp>
        <p:sp>
          <p:nvSpPr>
            <p:cNvPr id="41" name="TextBox 41"/>
            <p:cNvSpPr txBox="1"/>
            <p:nvPr/>
          </p:nvSpPr>
          <p:spPr>
            <a:xfrm>
              <a:off x="5909310" y="2536031"/>
              <a:ext cx="614528" cy="220028"/>
            </a:xfrm>
            <a:prstGeom prst="rect">
              <a:avLst/>
            </a:prstGeom>
            <a:noFill/>
            <a:ln>
              <a:noFill/>
            </a:ln>
          </p:spPr>
          <p:txBody>
            <a:bodyPr wrap="none" lIns="0" tIns="0" rIns="0" bIns="0" anchor="t" anchorCtr="0">
              <a:spAutoFit/>
            </a:bodyPr>
            <a:lstStyle/>
            <a:p>
              <a:pPr algn="l"/>
              <a:r>
                <a:rPr lang="zh-CN" sz="1120" b="1" dirty="0">
                  <a:solidFill>
                    <a:srgbClr val="E83F1D"/>
                  </a:solidFill>
                  <a:latin typeface="+mn-lt"/>
                  <a:ea typeface="+mn-ea"/>
                  <a:cs typeface="+mn-cs"/>
                </a:rPr>
                <a:t>输入标题</a:t>
              </a:r>
            </a:p>
          </p:txBody>
        </p:sp>
        <p:sp>
          <p:nvSpPr>
            <p:cNvPr id="42" name="Line 42"/>
            <p:cNvSpPr/>
            <p:nvPr/>
          </p:nvSpPr>
          <p:spPr>
            <a:xfrm>
              <a:off x="5648325" y="2943225"/>
              <a:ext cx="9525" cy="1619250"/>
            </a:xfrm>
            <a:custGeom>
              <a:avLst/>
              <a:gdLst/>
              <a:ahLst/>
              <a:cxnLst/>
              <a:rect l="l" t="t" r="r" b="b"/>
              <a:pathLst>
                <a:path w="9525" h="1619250">
                  <a:moveTo>
                    <a:pt x="0" y="0"/>
                  </a:moveTo>
                  <a:lnTo>
                    <a:pt x="0" y="1619250"/>
                  </a:lnTo>
                </a:path>
              </a:pathLst>
            </a:custGeom>
            <a:noFill/>
            <a:ln w="9525">
              <a:solidFill>
                <a:srgbClr val="FA421D"/>
              </a:solidFill>
            </a:ln>
          </p:spPr>
        </p:sp>
        <p:sp>
          <p:nvSpPr>
            <p:cNvPr id="43" name="Ellipse 43"/>
            <p:cNvSpPr/>
            <p:nvPr/>
          </p:nvSpPr>
          <p:spPr>
            <a:xfrm>
              <a:off x="5610225" y="3038475"/>
              <a:ext cx="76200" cy="76200"/>
            </a:xfrm>
            <a:prstGeom prst="ellipse">
              <a:avLst/>
            </a:prstGeom>
            <a:solidFill>
              <a:srgbClr val="FA421D"/>
            </a:solidFill>
            <a:ln>
              <a:noFill/>
            </a:ln>
          </p:spPr>
        </p:sp>
        <p:sp>
          <p:nvSpPr>
            <p:cNvPr id="44" name="Ellipse 44"/>
            <p:cNvSpPr/>
            <p:nvPr/>
          </p:nvSpPr>
          <p:spPr>
            <a:xfrm>
              <a:off x="5610225" y="3571875"/>
              <a:ext cx="76200" cy="76200"/>
            </a:xfrm>
            <a:prstGeom prst="ellipse">
              <a:avLst/>
            </a:prstGeom>
            <a:solidFill>
              <a:srgbClr val="FA421D"/>
            </a:solidFill>
            <a:ln>
              <a:noFill/>
            </a:ln>
          </p:spPr>
        </p:sp>
        <p:sp>
          <p:nvSpPr>
            <p:cNvPr id="45" name="Ellipse 45"/>
            <p:cNvSpPr/>
            <p:nvPr/>
          </p:nvSpPr>
          <p:spPr>
            <a:xfrm>
              <a:off x="5610225" y="4105275"/>
              <a:ext cx="76200" cy="76200"/>
            </a:xfrm>
            <a:prstGeom prst="ellipse">
              <a:avLst/>
            </a:prstGeom>
            <a:solidFill>
              <a:srgbClr val="FA421D"/>
            </a:solidFill>
            <a:ln>
              <a:noFill/>
            </a:ln>
          </p:spPr>
        </p:sp>
        <p:sp>
          <p:nvSpPr>
            <p:cNvPr id="46" name="TextBox 46"/>
            <p:cNvSpPr txBox="1"/>
            <p:nvPr/>
          </p:nvSpPr>
          <p:spPr>
            <a:xfrm>
              <a:off x="5776912" y="2983468"/>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47" name="TextBox 47"/>
            <p:cNvSpPr txBox="1"/>
            <p:nvPr/>
          </p:nvSpPr>
          <p:spPr>
            <a:xfrm>
              <a:off x="5776912" y="3516868"/>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48" name="TextBox 48"/>
            <p:cNvSpPr txBox="1"/>
            <p:nvPr/>
          </p:nvSpPr>
          <p:spPr>
            <a:xfrm>
              <a:off x="5776912" y="4050268"/>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grpSp>
      <p:grpSp>
        <p:nvGrpSpPr>
          <p:cNvPr id="62" name="card-04"/>
          <p:cNvGrpSpPr/>
          <p:nvPr/>
        </p:nvGrpSpPr>
        <p:grpSpPr>
          <a:xfrm>
            <a:off x="7543800" y="1695450"/>
            <a:ext cx="1809750" cy="2476500"/>
            <a:chOff x="7543800" y="1695450"/>
            <a:chExt cx="1809750" cy="2476500"/>
          </a:xfrm>
        </p:grpSpPr>
        <p:sp>
          <p:nvSpPr>
            <p:cNvPr id="50" name="Rectangle 50"/>
            <p:cNvSpPr/>
            <p:nvPr/>
          </p:nvSpPr>
          <p:spPr>
            <a:xfrm>
              <a:off x="7543800" y="1695450"/>
              <a:ext cx="1809750" cy="2476500"/>
            </a:xfrm>
            <a:prstGeom prst="roundRect">
              <a:avLst>
                <a:gd name="adj" fmla="val 4211"/>
              </a:avLst>
            </a:prstGeom>
            <a:solidFill>
              <a:srgbClr val="FFFFFF"/>
            </a:solidFill>
            <a:ln w="23812">
              <a:solidFill>
                <a:srgbClr val="FB684A"/>
              </a:solidFill>
            </a:ln>
          </p:spPr>
        </p:sp>
        <p:sp>
          <p:nvSpPr>
            <p:cNvPr id="51" name="Rectangle 51"/>
            <p:cNvSpPr/>
            <p:nvPr/>
          </p:nvSpPr>
          <p:spPr>
            <a:xfrm>
              <a:off x="7677150" y="1847850"/>
              <a:ext cx="1428750" cy="285750"/>
            </a:xfrm>
            <a:prstGeom prst="roundRect">
              <a:avLst>
                <a:gd name="adj" fmla="val 50000"/>
              </a:avLst>
            </a:prstGeom>
            <a:solidFill>
              <a:srgbClr val="FFFFFF"/>
            </a:solidFill>
            <a:ln w="14288">
              <a:solidFill>
                <a:srgbClr val="FA421D"/>
              </a:solidFill>
            </a:ln>
          </p:spPr>
        </p:sp>
        <p:sp>
          <p:nvSpPr>
            <p:cNvPr id="52" name="Ellipse 52"/>
            <p:cNvSpPr/>
            <p:nvPr/>
          </p:nvSpPr>
          <p:spPr>
            <a:xfrm>
              <a:off x="7677150" y="1847850"/>
              <a:ext cx="285750" cy="285750"/>
            </a:xfrm>
            <a:prstGeom prst="ellipse">
              <a:avLst/>
            </a:prstGeom>
            <a:gradFill>
              <a:gsLst>
                <a:gs pos="0">
                  <a:srgbClr val="FB684A"/>
                </a:gs>
                <a:gs pos="100000">
                  <a:srgbClr val="FA421D"/>
                </a:gs>
              </a:gsLst>
              <a:lin ang="5400000" scaled="1"/>
            </a:gradFill>
            <a:ln>
              <a:noFill/>
            </a:ln>
          </p:spPr>
        </p:sp>
        <p:sp>
          <p:nvSpPr>
            <p:cNvPr id="53" name="TextBox 53"/>
            <p:cNvSpPr txBox="1"/>
            <p:nvPr/>
          </p:nvSpPr>
          <p:spPr>
            <a:xfrm>
              <a:off x="7751513" y="1939766"/>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04</a:t>
              </a:r>
            </a:p>
          </p:txBody>
        </p:sp>
        <p:sp>
          <p:nvSpPr>
            <p:cNvPr id="54" name="TextBox 54"/>
            <p:cNvSpPr txBox="1"/>
            <p:nvPr/>
          </p:nvSpPr>
          <p:spPr>
            <a:xfrm>
              <a:off x="8090535" y="1916906"/>
              <a:ext cx="614528" cy="220028"/>
            </a:xfrm>
            <a:prstGeom prst="rect">
              <a:avLst/>
            </a:prstGeom>
            <a:noFill/>
            <a:ln>
              <a:noFill/>
            </a:ln>
          </p:spPr>
          <p:txBody>
            <a:bodyPr wrap="none" lIns="0" tIns="0" rIns="0" bIns="0" anchor="t" anchorCtr="0">
              <a:spAutoFit/>
            </a:bodyPr>
            <a:lstStyle/>
            <a:p>
              <a:pPr algn="l"/>
              <a:r>
                <a:rPr lang="zh-CN" sz="1120" b="1" dirty="0">
                  <a:solidFill>
                    <a:srgbClr val="E83F1D"/>
                  </a:solidFill>
                  <a:latin typeface="+mn-lt"/>
                  <a:ea typeface="+mn-ea"/>
                  <a:cs typeface="+mn-cs"/>
                </a:rPr>
                <a:t>输入标题</a:t>
              </a:r>
            </a:p>
          </p:txBody>
        </p:sp>
        <p:sp>
          <p:nvSpPr>
            <p:cNvPr id="55" name="Line 55"/>
            <p:cNvSpPr/>
            <p:nvPr/>
          </p:nvSpPr>
          <p:spPr>
            <a:xfrm>
              <a:off x="7829550" y="2324100"/>
              <a:ext cx="9525" cy="1619250"/>
            </a:xfrm>
            <a:custGeom>
              <a:avLst/>
              <a:gdLst/>
              <a:ahLst/>
              <a:cxnLst/>
              <a:rect l="l" t="t" r="r" b="b"/>
              <a:pathLst>
                <a:path w="9525" h="1619250">
                  <a:moveTo>
                    <a:pt x="0" y="0"/>
                  </a:moveTo>
                  <a:lnTo>
                    <a:pt x="0" y="1619250"/>
                  </a:lnTo>
                </a:path>
              </a:pathLst>
            </a:custGeom>
            <a:noFill/>
            <a:ln w="9525">
              <a:solidFill>
                <a:srgbClr val="FA421D"/>
              </a:solidFill>
            </a:ln>
          </p:spPr>
        </p:sp>
        <p:sp>
          <p:nvSpPr>
            <p:cNvPr id="56" name="Ellipse 56"/>
            <p:cNvSpPr/>
            <p:nvPr/>
          </p:nvSpPr>
          <p:spPr>
            <a:xfrm>
              <a:off x="7791450" y="2419350"/>
              <a:ext cx="76200" cy="76200"/>
            </a:xfrm>
            <a:prstGeom prst="ellipse">
              <a:avLst/>
            </a:prstGeom>
            <a:solidFill>
              <a:srgbClr val="FA421D"/>
            </a:solidFill>
            <a:ln>
              <a:noFill/>
            </a:ln>
          </p:spPr>
        </p:sp>
        <p:sp>
          <p:nvSpPr>
            <p:cNvPr id="57" name="Ellipse 57"/>
            <p:cNvSpPr/>
            <p:nvPr/>
          </p:nvSpPr>
          <p:spPr>
            <a:xfrm>
              <a:off x="7791450" y="2952750"/>
              <a:ext cx="76200" cy="76200"/>
            </a:xfrm>
            <a:prstGeom prst="ellipse">
              <a:avLst/>
            </a:prstGeom>
            <a:solidFill>
              <a:srgbClr val="FA421D"/>
            </a:solidFill>
            <a:ln>
              <a:noFill/>
            </a:ln>
          </p:spPr>
        </p:sp>
        <p:sp>
          <p:nvSpPr>
            <p:cNvPr id="58" name="Ellipse 58"/>
            <p:cNvSpPr/>
            <p:nvPr/>
          </p:nvSpPr>
          <p:spPr>
            <a:xfrm>
              <a:off x="7791450" y="3486150"/>
              <a:ext cx="76200" cy="76200"/>
            </a:xfrm>
            <a:prstGeom prst="ellipse">
              <a:avLst/>
            </a:prstGeom>
            <a:solidFill>
              <a:srgbClr val="FA421D"/>
            </a:solidFill>
            <a:ln>
              <a:noFill/>
            </a:ln>
          </p:spPr>
        </p:sp>
        <p:sp>
          <p:nvSpPr>
            <p:cNvPr id="59" name="TextBox 59"/>
            <p:cNvSpPr txBox="1"/>
            <p:nvPr/>
          </p:nvSpPr>
          <p:spPr>
            <a:xfrm>
              <a:off x="7958138" y="2364343"/>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60" name="TextBox 60"/>
            <p:cNvSpPr txBox="1"/>
            <p:nvPr/>
          </p:nvSpPr>
          <p:spPr>
            <a:xfrm>
              <a:off x="7958138" y="2897743"/>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61" name="TextBox 61"/>
            <p:cNvSpPr txBox="1"/>
            <p:nvPr/>
          </p:nvSpPr>
          <p:spPr>
            <a:xfrm>
              <a:off x="7958138" y="3431143"/>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grpSp>
      <p:grpSp>
        <p:nvGrpSpPr>
          <p:cNvPr id="75" name="card-05"/>
          <p:cNvGrpSpPr/>
          <p:nvPr/>
        </p:nvGrpSpPr>
        <p:grpSpPr>
          <a:xfrm>
            <a:off x="9648825" y="990600"/>
            <a:ext cx="1809750" cy="2476500"/>
            <a:chOff x="9648825" y="990600"/>
            <a:chExt cx="1809750" cy="2476500"/>
          </a:xfrm>
        </p:grpSpPr>
        <p:sp>
          <p:nvSpPr>
            <p:cNvPr id="63" name="Rectangle 63"/>
            <p:cNvSpPr/>
            <p:nvPr/>
          </p:nvSpPr>
          <p:spPr>
            <a:xfrm>
              <a:off x="9648825" y="990600"/>
              <a:ext cx="1809750" cy="2476500"/>
            </a:xfrm>
            <a:prstGeom prst="roundRect">
              <a:avLst>
                <a:gd name="adj" fmla="val 4211"/>
              </a:avLst>
            </a:prstGeom>
            <a:solidFill>
              <a:srgbClr val="FFFFFF"/>
            </a:solidFill>
            <a:ln w="23812">
              <a:solidFill>
                <a:srgbClr val="FB684A"/>
              </a:solidFill>
            </a:ln>
          </p:spPr>
        </p:sp>
        <p:sp>
          <p:nvSpPr>
            <p:cNvPr id="64" name="Rectangle 64"/>
            <p:cNvSpPr/>
            <p:nvPr/>
          </p:nvSpPr>
          <p:spPr>
            <a:xfrm>
              <a:off x="9782175" y="1143000"/>
              <a:ext cx="1428750" cy="285750"/>
            </a:xfrm>
            <a:prstGeom prst="roundRect">
              <a:avLst>
                <a:gd name="adj" fmla="val 50000"/>
              </a:avLst>
            </a:prstGeom>
            <a:solidFill>
              <a:srgbClr val="FFFFFF"/>
            </a:solidFill>
            <a:ln w="14288">
              <a:solidFill>
                <a:srgbClr val="FA421D"/>
              </a:solidFill>
            </a:ln>
          </p:spPr>
        </p:sp>
        <p:sp>
          <p:nvSpPr>
            <p:cNvPr id="65" name="Ellipse 65"/>
            <p:cNvSpPr/>
            <p:nvPr/>
          </p:nvSpPr>
          <p:spPr>
            <a:xfrm>
              <a:off x="9782175" y="1143000"/>
              <a:ext cx="285750" cy="285750"/>
            </a:xfrm>
            <a:prstGeom prst="ellipse">
              <a:avLst/>
            </a:prstGeom>
            <a:gradFill>
              <a:gsLst>
                <a:gs pos="0">
                  <a:srgbClr val="FB684A"/>
                </a:gs>
                <a:gs pos="100000">
                  <a:srgbClr val="FA421D"/>
                </a:gs>
              </a:gsLst>
              <a:lin ang="5400000" scaled="1"/>
            </a:gradFill>
            <a:ln>
              <a:noFill/>
            </a:ln>
          </p:spPr>
        </p:sp>
        <p:sp>
          <p:nvSpPr>
            <p:cNvPr id="66" name="TextBox 66"/>
            <p:cNvSpPr txBox="1"/>
            <p:nvPr/>
          </p:nvSpPr>
          <p:spPr>
            <a:xfrm>
              <a:off x="9856538" y="1234916"/>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05</a:t>
              </a:r>
            </a:p>
          </p:txBody>
        </p:sp>
        <p:sp>
          <p:nvSpPr>
            <p:cNvPr id="67" name="TextBox 67"/>
            <p:cNvSpPr txBox="1"/>
            <p:nvPr/>
          </p:nvSpPr>
          <p:spPr>
            <a:xfrm>
              <a:off x="10195560" y="1212056"/>
              <a:ext cx="614528" cy="220028"/>
            </a:xfrm>
            <a:prstGeom prst="rect">
              <a:avLst/>
            </a:prstGeom>
            <a:noFill/>
            <a:ln>
              <a:noFill/>
            </a:ln>
          </p:spPr>
          <p:txBody>
            <a:bodyPr wrap="none" lIns="0" tIns="0" rIns="0" bIns="0" anchor="t" anchorCtr="0">
              <a:spAutoFit/>
            </a:bodyPr>
            <a:lstStyle/>
            <a:p>
              <a:pPr algn="l"/>
              <a:r>
                <a:rPr lang="zh-CN" sz="1120" b="1" dirty="0">
                  <a:solidFill>
                    <a:srgbClr val="E83F1D"/>
                  </a:solidFill>
                  <a:latin typeface="+mn-lt"/>
                  <a:ea typeface="+mn-ea"/>
                  <a:cs typeface="+mn-cs"/>
                </a:rPr>
                <a:t>输入标题</a:t>
              </a:r>
            </a:p>
          </p:txBody>
        </p:sp>
        <p:sp>
          <p:nvSpPr>
            <p:cNvPr id="68" name="Line 68"/>
            <p:cNvSpPr/>
            <p:nvPr/>
          </p:nvSpPr>
          <p:spPr>
            <a:xfrm>
              <a:off x="9934575" y="1619250"/>
              <a:ext cx="9525" cy="1619250"/>
            </a:xfrm>
            <a:custGeom>
              <a:avLst/>
              <a:gdLst/>
              <a:ahLst/>
              <a:cxnLst/>
              <a:rect l="l" t="t" r="r" b="b"/>
              <a:pathLst>
                <a:path w="9525" h="1619250">
                  <a:moveTo>
                    <a:pt x="0" y="0"/>
                  </a:moveTo>
                  <a:lnTo>
                    <a:pt x="0" y="1619250"/>
                  </a:lnTo>
                </a:path>
              </a:pathLst>
            </a:custGeom>
            <a:noFill/>
            <a:ln w="9525">
              <a:solidFill>
                <a:srgbClr val="FA421D"/>
              </a:solidFill>
            </a:ln>
          </p:spPr>
        </p:sp>
        <p:sp>
          <p:nvSpPr>
            <p:cNvPr id="69" name="Ellipse 69"/>
            <p:cNvSpPr/>
            <p:nvPr/>
          </p:nvSpPr>
          <p:spPr>
            <a:xfrm>
              <a:off x="9896475" y="1714500"/>
              <a:ext cx="76200" cy="76200"/>
            </a:xfrm>
            <a:prstGeom prst="ellipse">
              <a:avLst/>
            </a:prstGeom>
            <a:solidFill>
              <a:srgbClr val="FA421D"/>
            </a:solidFill>
            <a:ln>
              <a:noFill/>
            </a:ln>
          </p:spPr>
        </p:sp>
        <p:sp>
          <p:nvSpPr>
            <p:cNvPr id="70" name="Ellipse 70"/>
            <p:cNvSpPr/>
            <p:nvPr/>
          </p:nvSpPr>
          <p:spPr>
            <a:xfrm>
              <a:off x="9896475" y="2247900"/>
              <a:ext cx="76200" cy="76200"/>
            </a:xfrm>
            <a:prstGeom prst="ellipse">
              <a:avLst/>
            </a:prstGeom>
            <a:solidFill>
              <a:srgbClr val="FA421D"/>
            </a:solidFill>
            <a:ln>
              <a:noFill/>
            </a:ln>
          </p:spPr>
        </p:sp>
        <p:sp>
          <p:nvSpPr>
            <p:cNvPr id="71" name="Ellipse 71"/>
            <p:cNvSpPr/>
            <p:nvPr/>
          </p:nvSpPr>
          <p:spPr>
            <a:xfrm>
              <a:off x="9896475" y="2781300"/>
              <a:ext cx="76200" cy="76200"/>
            </a:xfrm>
            <a:prstGeom prst="ellipse">
              <a:avLst/>
            </a:prstGeom>
            <a:solidFill>
              <a:srgbClr val="FA421D"/>
            </a:solidFill>
            <a:ln>
              <a:noFill/>
            </a:ln>
          </p:spPr>
        </p:sp>
        <p:sp>
          <p:nvSpPr>
            <p:cNvPr id="72" name="TextBox 72"/>
            <p:cNvSpPr txBox="1"/>
            <p:nvPr/>
          </p:nvSpPr>
          <p:spPr>
            <a:xfrm>
              <a:off x="10063162" y="1659493"/>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73" name="TextBox 73"/>
            <p:cNvSpPr txBox="1"/>
            <p:nvPr/>
          </p:nvSpPr>
          <p:spPr>
            <a:xfrm>
              <a:off x="10063162" y="2192893"/>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sp>
          <p:nvSpPr>
            <p:cNvPr id="74" name="TextBox 74"/>
            <p:cNvSpPr txBox="1"/>
            <p:nvPr/>
          </p:nvSpPr>
          <p:spPr>
            <a:xfrm>
              <a:off x="10063162" y="2726293"/>
              <a:ext cx="883285" cy="321469"/>
            </a:xfrm>
            <a:prstGeom prst="rect">
              <a:avLst/>
            </a:prstGeom>
            <a:noFill/>
            <a:ln>
              <a:noFill/>
            </a:ln>
          </p:spPr>
          <p:txBody>
            <a:bodyPr wrap="none" lIns="0" tIns="0" rIns="0" bIns="0" anchor="t" anchorCtr="0">
              <a:spAutoFit/>
            </a:bodyPr>
            <a:lstStyle/>
            <a:p>
              <a:pPr algn="l">
                <a:lnSpc>
                  <a:spcPts val="1200"/>
                </a:lnSpc>
              </a:pPr>
              <a:r>
                <a:rPr lang="zh-CN" sz="860" dirty="0">
                  <a:solidFill>
                    <a:srgbClr val="3D241F"/>
                  </a:solidFill>
                  <a:latin typeface="+mn-lt"/>
                  <a:ea typeface="+mn-ea"/>
                  <a:cs typeface="+mn-cs"/>
                </a:rPr>
                <a:t>单击输入正文文字</a:t>
              </a:r>
              <a:br/>
              <a:r>
                <a:rPr lang="zh-CN" sz="860" dirty="0">
                  <a:solidFill>
                    <a:srgbClr val="3D241F"/>
                  </a:solidFill>
                  <a:latin typeface="+mn-lt"/>
                  <a:ea typeface="+mn-ea"/>
                  <a:cs typeface="+mn-cs"/>
                </a:rPr>
                <a:t>是思想的提炼</a:t>
              </a:r>
            </a:p>
          </p:txBody>
        </p:sp>
      </p:gr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header"/>
          <p:cNvGrpSpPr/>
          <p:nvPr/>
        </p:nvGrpSpPr>
        <p:grpSpPr>
          <a:xfrm>
            <a:off x="0" y="0"/>
            <a:ext cx="12192000" cy="551879"/>
            <a:chOff x="0" y="0"/>
            <a:chExt cx="12192000" cy="551879"/>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3" name="TextBox 3"/>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17</a:t>
              </a:r>
            </a:p>
          </p:txBody>
        </p:sp>
        <p:sp>
          <p:nvSpPr>
            <p:cNvPr id="4" name="TextBox 4"/>
            <p:cNvSpPr txBox="1"/>
            <p:nvPr/>
          </p:nvSpPr>
          <p:spPr>
            <a:xfrm>
              <a:off x="904494" y="170498"/>
              <a:ext cx="3432429"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电子商务网站的用户转化过程</a:t>
              </a:r>
            </a:p>
          </p:txBody>
        </p:sp>
        <p:sp>
          <p:nvSpPr>
            <p:cNvPr id="5" name="Line 5"/>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2" name="funnel"/>
          <p:cNvGrpSpPr/>
          <p:nvPr/>
        </p:nvGrpSpPr>
        <p:grpSpPr>
          <a:xfrm>
            <a:off x="4476750" y="1181100"/>
            <a:ext cx="3238500" cy="4152900"/>
            <a:chOff x="4476750" y="1181100"/>
            <a:chExt cx="3238500" cy="4152900"/>
          </a:xfrm>
        </p:grpSpPr>
        <p:sp>
          <p:nvSpPr>
            <p:cNvPr id="7" name="Freeform 7"/>
            <p:cNvSpPr/>
            <p:nvPr/>
          </p:nvSpPr>
          <p:spPr>
            <a:xfrm rot="10800000">
              <a:off x="4476750" y="1857375"/>
              <a:ext cx="3238500" cy="3476625"/>
            </a:xfrm>
            <a:prstGeom prst="triangle">
              <a:avLst/>
            </a:prstGeom>
            <a:solidFill>
              <a:srgbClr val="DCE9FC"/>
            </a:solidFill>
            <a:ln>
              <a:noFill/>
            </a:ln>
          </p:spPr>
        </p:sp>
        <p:sp>
          <p:nvSpPr>
            <p:cNvPr id="8" name="Freeform 8"/>
            <p:cNvSpPr/>
            <p:nvPr/>
          </p:nvSpPr>
          <p:spPr>
            <a:xfrm rot="10800000">
              <a:off x="4667250" y="1866900"/>
              <a:ext cx="2857500" cy="1276350"/>
            </a:xfrm>
            <a:prstGeom prst="trapezoid">
              <a:avLst>
                <a:gd name="adj" fmla="val 33582"/>
              </a:avLst>
            </a:prstGeom>
            <a:solidFill>
              <a:srgbClr val="FB684A"/>
            </a:solidFill>
            <a:ln>
              <a:noFill/>
            </a:ln>
          </p:spPr>
        </p:sp>
        <p:sp>
          <p:nvSpPr>
            <p:cNvPr id="9" name="Freeform 9"/>
            <p:cNvSpPr/>
            <p:nvPr/>
          </p:nvSpPr>
          <p:spPr>
            <a:xfrm rot="10800000">
              <a:off x="5095875" y="3238500"/>
              <a:ext cx="2000250" cy="1047750"/>
            </a:xfrm>
            <a:prstGeom prst="trapezoid">
              <a:avLst>
                <a:gd name="adj" fmla="val 36364"/>
              </a:avLst>
            </a:prstGeom>
            <a:solidFill>
              <a:srgbClr val="FA512F"/>
            </a:solidFill>
            <a:ln>
              <a:noFill/>
            </a:ln>
          </p:spPr>
        </p:sp>
        <p:sp>
          <p:nvSpPr>
            <p:cNvPr id="10" name="Freeform 10"/>
            <p:cNvSpPr/>
            <p:nvPr/>
          </p:nvSpPr>
          <p:spPr>
            <a:xfrm rot="10800000">
              <a:off x="5476875" y="4381500"/>
              <a:ext cx="1238250" cy="809625"/>
            </a:xfrm>
            <a:prstGeom prst="trapezoid">
              <a:avLst>
                <a:gd name="adj" fmla="val 41176"/>
              </a:avLst>
            </a:prstGeom>
            <a:solidFill>
              <a:srgbClr val="FA421D"/>
            </a:solidFill>
            <a:ln>
              <a:noFill/>
            </a:ln>
          </p:spPr>
        </p:sp>
        <p:sp>
          <p:nvSpPr>
            <p:cNvPr id="11" name="Ellipse 11"/>
            <p:cNvSpPr/>
            <p:nvPr/>
          </p:nvSpPr>
          <p:spPr>
            <a:xfrm>
              <a:off x="4667250" y="1657350"/>
              <a:ext cx="2857500" cy="419100"/>
            </a:xfrm>
            <a:prstGeom prst="ellipse">
              <a:avLst/>
            </a:prstGeom>
            <a:solidFill>
              <a:srgbClr val="EDF4FE"/>
            </a:solidFill>
            <a:ln w="14288">
              <a:solidFill>
                <a:srgbClr val="FCC6BB"/>
              </a:solidFill>
            </a:ln>
          </p:spPr>
        </p:sp>
        <p:sp>
          <p:nvSpPr>
            <p:cNvPr id="12" name="Ellipse 12"/>
            <p:cNvSpPr/>
            <p:nvPr/>
          </p:nvSpPr>
          <p:spPr>
            <a:xfrm>
              <a:off x="5753100" y="1181100"/>
              <a:ext cx="685800" cy="685800"/>
            </a:xfrm>
            <a:prstGeom prst="ellipse">
              <a:avLst/>
            </a:prstGeom>
            <a:gradFill>
              <a:gsLst>
                <a:gs pos="0">
                  <a:srgbClr val="FB684A"/>
                </a:gs>
                <a:gs pos="100000">
                  <a:srgbClr val="FA421D"/>
                </a:gs>
              </a:gsLst>
              <a:lin ang="5400000" scaled="1"/>
            </a:gradFill>
            <a:ln>
              <a:noFill/>
            </a:ln>
          </p:spPr>
        </p:sp>
        <p:grpSp>
          <p:nvGrpSpPr>
            <p:cNvPr id="18" name="Group 18"/>
            <p:cNvGrpSpPr/>
            <p:nvPr/>
          </p:nvGrpSpPr>
          <p:grpSpPr>
            <a:xfrm>
              <a:off x="5967412" y="1395412"/>
              <a:ext cx="257175" cy="266701"/>
              <a:chOff x="5967412" y="1395412"/>
              <a:chExt cx="257175" cy="266701"/>
            </a:xfrm>
          </p:grpSpPr>
          <p:sp>
            <p:nvSpPr>
              <p:cNvPr id="13" name="Freeform 13"/>
              <p:cNvSpPr/>
              <p:nvPr/>
            </p:nvSpPr>
            <p:spPr>
              <a:xfrm>
                <a:off x="5967412" y="1652588"/>
                <a:ext cx="257175" cy="9525"/>
              </a:xfrm>
              <a:custGeom>
                <a:avLst/>
                <a:gdLst/>
                <a:ahLst/>
                <a:cxnLst/>
                <a:rect l="l" t="t" r="r" b="b"/>
                <a:pathLst>
                  <a:path w="257175" h="9525">
                    <a:moveTo>
                      <a:pt x="0" y="0"/>
                    </a:moveTo>
                    <a:lnTo>
                      <a:pt x="257175" y="0"/>
                    </a:lnTo>
                  </a:path>
                </a:pathLst>
              </a:custGeom>
              <a:noFill/>
              <a:ln w="21431">
                <a:solidFill>
                  <a:srgbClr val="FFFFFF"/>
                </a:solidFill>
              </a:ln>
            </p:spPr>
          </p:sp>
          <p:sp>
            <p:nvSpPr>
              <p:cNvPr id="14" name="Freeform 14"/>
              <p:cNvSpPr/>
              <p:nvPr/>
            </p:nvSpPr>
            <p:spPr>
              <a:xfrm>
                <a:off x="5967412" y="1395412"/>
                <a:ext cx="257175" cy="114300"/>
              </a:xfrm>
              <a:custGeom>
                <a:avLst/>
                <a:gdLst/>
                <a:ahLst/>
                <a:cxnLst/>
                <a:rect l="l" t="t" r="r" b="b"/>
                <a:pathLst>
                  <a:path w="257175" h="114300">
                    <a:moveTo>
                      <a:pt x="0" y="57150"/>
                    </a:moveTo>
                    <a:lnTo>
                      <a:pt x="0" y="71438"/>
                    </a:lnTo>
                    <a:cubicBezTo>
                      <a:pt x="0" y="95110"/>
                      <a:pt x="19190" y="114300"/>
                      <a:pt x="42862" y="114300"/>
                    </a:cubicBezTo>
                    <a:cubicBezTo>
                      <a:pt x="66535" y="114300"/>
                      <a:pt x="85725" y="95110"/>
                      <a:pt x="85725" y="71438"/>
                    </a:cubicBezTo>
                    <a:lnTo>
                      <a:pt x="85725" y="57150"/>
                    </a:lnTo>
                    <a:moveTo>
                      <a:pt x="85725" y="71438"/>
                    </a:moveTo>
                    <a:cubicBezTo>
                      <a:pt x="85725" y="95110"/>
                      <a:pt x="104915" y="114300"/>
                      <a:pt x="128588" y="114300"/>
                    </a:cubicBezTo>
                    <a:cubicBezTo>
                      <a:pt x="152260" y="114300"/>
                      <a:pt x="171450" y="95110"/>
                      <a:pt x="171450" y="71438"/>
                    </a:cubicBezTo>
                    <a:lnTo>
                      <a:pt x="171450" y="57150"/>
                    </a:lnTo>
                    <a:moveTo>
                      <a:pt x="171450" y="71438"/>
                    </a:moveTo>
                    <a:cubicBezTo>
                      <a:pt x="171450" y="95110"/>
                      <a:pt x="190640" y="114300"/>
                      <a:pt x="214312" y="114300"/>
                    </a:cubicBezTo>
                    <a:cubicBezTo>
                      <a:pt x="237985" y="114300"/>
                      <a:pt x="257175" y="95110"/>
                      <a:pt x="257175" y="71438"/>
                    </a:cubicBezTo>
                    <a:lnTo>
                      <a:pt x="257175" y="57150"/>
                    </a:lnTo>
                    <a:lnTo>
                      <a:pt x="0" y="57150"/>
                    </a:lnTo>
                    <a:lnTo>
                      <a:pt x="28575" y="0"/>
                    </a:lnTo>
                    <a:lnTo>
                      <a:pt x="228600" y="0"/>
                    </a:lnTo>
                    <a:lnTo>
                      <a:pt x="257175" y="57150"/>
                    </a:lnTo>
                  </a:path>
                </a:pathLst>
              </a:custGeom>
              <a:noFill/>
              <a:ln w="21431">
                <a:solidFill>
                  <a:srgbClr val="FFFFFF"/>
                </a:solidFill>
              </a:ln>
            </p:spPr>
          </p:sp>
          <p:sp>
            <p:nvSpPr>
              <p:cNvPr id="15" name="Freeform 15"/>
              <p:cNvSpPr/>
              <p:nvPr/>
            </p:nvSpPr>
            <p:spPr>
              <a:xfrm>
                <a:off x="5995988" y="1507569"/>
                <a:ext cx="9525" cy="145018"/>
              </a:xfrm>
              <a:custGeom>
                <a:avLst/>
                <a:gdLst/>
                <a:ahLst/>
                <a:cxnLst/>
                <a:rect l="l" t="t" r="r" b="b"/>
                <a:pathLst>
                  <a:path w="9525" h="145018">
                    <a:moveTo>
                      <a:pt x="0" y="145018"/>
                    </a:moveTo>
                    <a:lnTo>
                      <a:pt x="0" y="0"/>
                    </a:lnTo>
                  </a:path>
                </a:pathLst>
              </a:custGeom>
              <a:noFill/>
              <a:ln w="21431">
                <a:solidFill>
                  <a:srgbClr val="FFFFFF"/>
                </a:solidFill>
              </a:ln>
            </p:spPr>
          </p:sp>
          <p:sp>
            <p:nvSpPr>
              <p:cNvPr id="16" name="Freeform 16"/>
              <p:cNvSpPr/>
              <p:nvPr/>
            </p:nvSpPr>
            <p:spPr>
              <a:xfrm>
                <a:off x="6196012" y="1507569"/>
                <a:ext cx="9525" cy="145018"/>
              </a:xfrm>
              <a:custGeom>
                <a:avLst/>
                <a:gdLst/>
                <a:ahLst/>
                <a:cxnLst/>
                <a:rect l="l" t="t" r="r" b="b"/>
                <a:pathLst>
                  <a:path w="9525" h="145018">
                    <a:moveTo>
                      <a:pt x="0" y="145018"/>
                    </a:moveTo>
                    <a:lnTo>
                      <a:pt x="0" y="0"/>
                    </a:lnTo>
                  </a:path>
                </a:pathLst>
              </a:custGeom>
              <a:noFill/>
              <a:ln w="21431">
                <a:solidFill>
                  <a:srgbClr val="FFFFFF"/>
                </a:solidFill>
              </a:ln>
            </p:spPr>
          </p:sp>
          <p:sp>
            <p:nvSpPr>
              <p:cNvPr id="17" name="Freeform 17"/>
              <p:cNvSpPr/>
              <p:nvPr/>
            </p:nvSpPr>
            <p:spPr>
              <a:xfrm>
                <a:off x="6053138" y="1566862"/>
                <a:ext cx="85725" cy="85725"/>
              </a:xfrm>
              <a:custGeom>
                <a:avLst/>
                <a:gdLst/>
                <a:ahLst/>
                <a:cxnLst/>
                <a:rect l="l" t="t" r="r" b="b"/>
                <a:pathLst>
                  <a:path w="85725" h="85725">
                    <a:moveTo>
                      <a:pt x="0" y="85725"/>
                    </a:moveTo>
                    <a:lnTo>
                      <a:pt x="0" y="28575"/>
                    </a:lnTo>
                    <a:cubicBezTo>
                      <a:pt x="0" y="12793"/>
                      <a:pt x="12793" y="0"/>
                      <a:pt x="28575" y="0"/>
                    </a:cubicBezTo>
                    <a:lnTo>
                      <a:pt x="57150" y="0"/>
                    </a:lnTo>
                    <a:cubicBezTo>
                      <a:pt x="72932" y="0"/>
                      <a:pt x="85725" y="12793"/>
                      <a:pt x="85725" y="28575"/>
                    </a:cubicBezTo>
                    <a:lnTo>
                      <a:pt x="85725" y="85725"/>
                    </a:lnTo>
                  </a:path>
                </a:pathLst>
              </a:custGeom>
              <a:noFill/>
              <a:ln w="21431">
                <a:solidFill>
                  <a:srgbClr val="FFFFFF"/>
                </a:solidFill>
              </a:ln>
            </p:spPr>
          </p:sp>
        </p:grpSp>
        <p:sp>
          <p:nvSpPr>
            <p:cNvPr id="19" name="TextBox 19"/>
            <p:cNvSpPr txBox="1"/>
            <p:nvPr/>
          </p:nvSpPr>
          <p:spPr>
            <a:xfrm>
              <a:off x="5766816" y="246126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购买完成</a:t>
              </a:r>
            </a:p>
          </p:txBody>
        </p:sp>
        <p:sp>
          <p:nvSpPr>
            <p:cNvPr id="20" name="TextBox 20"/>
            <p:cNvSpPr txBox="1"/>
            <p:nvPr/>
          </p:nvSpPr>
          <p:spPr>
            <a:xfrm>
              <a:off x="5737288" y="3715702"/>
              <a:ext cx="717423"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加入购物车</a:t>
              </a:r>
            </a:p>
          </p:txBody>
        </p:sp>
        <p:sp>
          <p:nvSpPr>
            <p:cNvPr id="21" name="TextBox 21"/>
            <p:cNvSpPr txBox="1"/>
            <p:nvPr/>
          </p:nvSpPr>
          <p:spPr>
            <a:xfrm>
              <a:off x="5976938" y="4636770"/>
              <a:ext cx="238125" cy="328612"/>
            </a:xfrm>
            <a:prstGeom prst="rect">
              <a:avLst/>
            </a:prstGeom>
            <a:noFill/>
            <a:ln>
              <a:noFill/>
            </a:ln>
          </p:spPr>
          <p:txBody>
            <a:bodyPr wrap="none" lIns="0" tIns="0" rIns="0" bIns="0" anchor="t" anchorCtr="0">
              <a:spAutoFit/>
            </a:bodyPr>
            <a:lstStyle/>
            <a:p>
              <a:pPr algn="ctr">
                <a:lnSpc>
                  <a:spcPts val="1200"/>
                </a:lnSpc>
              </a:pPr>
              <a:r>
                <a:rPr lang="zh-CN" sz="900" dirty="0">
                  <a:solidFill>
                    <a:srgbClr val="FFFFFF"/>
                  </a:solidFill>
                  <a:latin typeface="+mn-lt"/>
                  <a:ea typeface="+mn-ea"/>
                  <a:cs typeface="+mn-cs"/>
                </a:rPr>
                <a:t>浏览</a:t>
              </a:r>
              <a:br/>
              <a:r>
                <a:rPr lang="zh-CN" sz="900" dirty="0">
                  <a:solidFill>
                    <a:srgbClr val="FFFFFF"/>
                  </a:solidFill>
                  <a:latin typeface="+mn-lt"/>
                  <a:ea typeface="+mn-ea"/>
                  <a:cs typeface="+mn-cs"/>
                </a:rPr>
                <a:t>商品</a:t>
              </a:r>
            </a:p>
          </p:txBody>
        </p:sp>
      </p:grpSp>
      <p:grpSp>
        <p:nvGrpSpPr>
          <p:cNvPr id="32" name="metric-purchase"/>
          <p:cNvGrpSpPr/>
          <p:nvPr/>
        </p:nvGrpSpPr>
        <p:grpSpPr>
          <a:xfrm>
            <a:off x="571500" y="1943100"/>
            <a:ext cx="3543300" cy="819150"/>
            <a:chOff x="571500" y="1943100"/>
            <a:chExt cx="3543300" cy="819150"/>
          </a:xfrm>
        </p:grpSpPr>
        <p:sp>
          <p:nvSpPr>
            <p:cNvPr id="23" name="Rectangle 23"/>
            <p:cNvSpPr/>
            <p:nvPr/>
          </p:nvSpPr>
          <p:spPr>
            <a:xfrm>
              <a:off x="571500" y="1943100"/>
              <a:ext cx="3543300" cy="819150"/>
            </a:xfrm>
            <a:prstGeom prst="roundRect">
              <a:avLst>
                <a:gd name="adj" fmla="val 11628"/>
              </a:avLst>
            </a:prstGeom>
            <a:gradFill>
              <a:gsLst>
                <a:gs pos="0">
                  <a:srgbClr val="D2E4FE"/>
                </a:gs>
                <a:gs pos="100000">
                  <a:srgbClr val="EDF4FE"/>
                </a:gs>
              </a:gsLst>
              <a:lin ang="0" scaled="1"/>
            </a:gradFill>
            <a:ln>
              <a:noFill/>
            </a:ln>
          </p:spPr>
        </p:sp>
        <p:sp>
          <p:nvSpPr>
            <p:cNvPr id="24" name="TextBox 24"/>
            <p:cNvSpPr txBox="1"/>
            <p:nvPr/>
          </p:nvSpPr>
          <p:spPr>
            <a:xfrm>
              <a:off x="908685" y="2164556"/>
              <a:ext cx="1066851" cy="220028"/>
            </a:xfrm>
            <a:prstGeom prst="rect">
              <a:avLst/>
            </a:prstGeom>
            <a:noFill/>
            <a:ln>
              <a:noFill/>
            </a:ln>
          </p:spPr>
          <p:txBody>
            <a:bodyPr wrap="none" lIns="0" tIns="0" rIns="0" bIns="0" anchor="t" anchorCtr="0">
              <a:spAutoFit/>
            </a:bodyPr>
            <a:lstStyle/>
            <a:p>
              <a:pPr algn="l"/>
              <a:r>
                <a:rPr lang="zh-CN" sz="1120" b="1" dirty="0">
                  <a:solidFill>
                    <a:srgbClr val="E83F1D"/>
                  </a:solidFill>
                  <a:latin typeface="+mn-lt"/>
                  <a:ea typeface="+mn-ea"/>
                  <a:cs typeface="+mn-cs"/>
                </a:rPr>
                <a:t>完成购买转化率</a:t>
              </a:r>
            </a:p>
          </p:txBody>
        </p:sp>
        <p:sp>
          <p:nvSpPr>
            <p:cNvPr id="25" name="TextBox 25"/>
            <p:cNvSpPr txBox="1"/>
            <p:nvPr/>
          </p:nvSpPr>
          <p:spPr>
            <a:xfrm>
              <a:off x="909638" y="2436495"/>
              <a:ext cx="1463421" cy="176212"/>
            </a:xfrm>
            <a:prstGeom prst="rect">
              <a:avLst/>
            </a:prstGeom>
            <a:noFill/>
            <a:ln>
              <a:noFill/>
            </a:ln>
          </p:spPr>
          <p:txBody>
            <a:bodyPr wrap="none" lIns="0" tIns="0" rIns="0" bIns="0" anchor="t" anchorCtr="0">
              <a:spAutoFit/>
            </a:bodyPr>
            <a:lstStyle/>
            <a:p>
              <a:pPr algn="l"/>
              <a:r>
                <a:rPr lang="zh-CN" sz="900" dirty="0">
                  <a:solidFill>
                    <a:srgbClr val="3D241F"/>
                  </a:solidFill>
                  <a:latin typeface="+mn-lt"/>
                  <a:ea typeface="+mn-ea"/>
                  <a:cs typeface="+mn-cs"/>
                </a:rPr>
                <a:t>用户进行支付成功完成订单</a:t>
              </a:r>
            </a:p>
          </p:txBody>
        </p:sp>
        <p:grpSp>
          <p:nvGrpSpPr>
            <p:cNvPr id="31" name="Group 31"/>
            <p:cNvGrpSpPr/>
            <p:nvPr/>
          </p:nvGrpSpPr>
          <p:grpSpPr>
            <a:xfrm>
              <a:off x="3813175" y="2200275"/>
              <a:ext cx="222250" cy="285751"/>
              <a:chOff x="3813175" y="2200275"/>
              <a:chExt cx="222250" cy="285751"/>
            </a:xfrm>
          </p:grpSpPr>
          <p:sp>
            <p:nvSpPr>
              <p:cNvPr id="26" name="Freeform 26"/>
              <p:cNvSpPr/>
              <p:nvPr/>
            </p:nvSpPr>
            <p:spPr>
              <a:xfrm>
                <a:off x="3956050" y="220027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23813">
                <a:solidFill>
                  <a:srgbClr val="FA421D"/>
                </a:solidFill>
              </a:ln>
            </p:spPr>
          </p:sp>
          <p:sp>
            <p:nvSpPr>
              <p:cNvPr id="27" name="Freeform 27"/>
              <p:cNvSpPr/>
              <p:nvPr/>
            </p:nvSpPr>
            <p:spPr>
              <a:xfrm>
                <a:off x="3813175" y="2200275"/>
                <a:ext cx="222250" cy="285751"/>
              </a:xfrm>
              <a:custGeom>
                <a:avLst/>
                <a:gdLst/>
                <a:ahLst/>
                <a:cxnLst/>
                <a:rect l="l" t="t" r="r" b="b"/>
                <a:pathLst>
                  <a:path w="222250" h="285751">
                    <a:moveTo>
                      <a:pt x="190500" y="285751"/>
                    </a:moveTo>
                    <a:lnTo>
                      <a:pt x="31750" y="285751"/>
                    </a:lnTo>
                    <a:cubicBezTo>
                      <a:pt x="14215" y="285751"/>
                      <a:pt x="0" y="271536"/>
                      <a:pt x="0" y="254001"/>
                    </a:cubicBezTo>
                    <a:lnTo>
                      <a:pt x="0" y="31750"/>
                    </a:lnTo>
                    <a:cubicBezTo>
                      <a:pt x="0" y="14215"/>
                      <a:pt x="14215" y="0"/>
                      <a:pt x="31750" y="0"/>
                    </a:cubicBezTo>
                    <a:lnTo>
                      <a:pt x="142875" y="0"/>
                    </a:lnTo>
                    <a:lnTo>
                      <a:pt x="222250" y="79375"/>
                    </a:lnTo>
                    <a:lnTo>
                      <a:pt x="222250" y="254001"/>
                    </a:lnTo>
                    <a:cubicBezTo>
                      <a:pt x="222250" y="271536"/>
                      <a:pt x="208035" y="285751"/>
                      <a:pt x="190500" y="285751"/>
                    </a:cubicBezTo>
                  </a:path>
                </a:pathLst>
              </a:custGeom>
              <a:noFill/>
              <a:ln w="23813">
                <a:solidFill>
                  <a:srgbClr val="FA421D"/>
                </a:solidFill>
              </a:ln>
            </p:spPr>
          </p:sp>
          <p:sp>
            <p:nvSpPr>
              <p:cNvPr id="28" name="Freeform 28"/>
              <p:cNvSpPr/>
              <p:nvPr/>
            </p:nvSpPr>
            <p:spPr>
              <a:xfrm>
                <a:off x="3876675" y="2263775"/>
                <a:ext cx="15875" cy="9525"/>
              </a:xfrm>
              <a:custGeom>
                <a:avLst/>
                <a:gdLst/>
                <a:ahLst/>
                <a:cxnLst/>
                <a:rect l="l" t="t" r="r" b="b"/>
                <a:pathLst>
                  <a:path w="15875" h="9525">
                    <a:moveTo>
                      <a:pt x="0" y="0"/>
                    </a:moveTo>
                    <a:lnTo>
                      <a:pt x="15875" y="0"/>
                    </a:lnTo>
                  </a:path>
                </a:pathLst>
              </a:custGeom>
              <a:noFill/>
              <a:ln w="23813">
                <a:solidFill>
                  <a:srgbClr val="FA421D"/>
                </a:solidFill>
              </a:ln>
            </p:spPr>
          </p:sp>
          <p:sp>
            <p:nvSpPr>
              <p:cNvPr id="29" name="Freeform 29"/>
              <p:cNvSpPr/>
              <p:nvPr/>
            </p:nvSpPr>
            <p:spPr>
              <a:xfrm>
                <a:off x="3876675" y="2359025"/>
                <a:ext cx="95250" cy="9525"/>
              </a:xfrm>
              <a:custGeom>
                <a:avLst/>
                <a:gdLst/>
                <a:ahLst/>
                <a:cxnLst/>
                <a:rect l="l" t="t" r="r" b="b"/>
                <a:pathLst>
                  <a:path w="95250" h="9525">
                    <a:moveTo>
                      <a:pt x="0" y="0"/>
                    </a:moveTo>
                    <a:lnTo>
                      <a:pt x="95250" y="0"/>
                    </a:lnTo>
                  </a:path>
                </a:pathLst>
              </a:custGeom>
              <a:noFill/>
              <a:ln w="23813">
                <a:solidFill>
                  <a:srgbClr val="FA421D"/>
                </a:solidFill>
              </a:ln>
            </p:spPr>
          </p:sp>
          <p:sp>
            <p:nvSpPr>
              <p:cNvPr id="30" name="Freeform 30"/>
              <p:cNvSpPr/>
              <p:nvPr/>
            </p:nvSpPr>
            <p:spPr>
              <a:xfrm>
                <a:off x="3940175" y="2422526"/>
                <a:ext cx="31750" cy="9525"/>
              </a:xfrm>
              <a:custGeom>
                <a:avLst/>
                <a:gdLst/>
                <a:ahLst/>
                <a:cxnLst/>
                <a:rect l="l" t="t" r="r" b="b"/>
                <a:pathLst>
                  <a:path w="31750" h="9525">
                    <a:moveTo>
                      <a:pt x="0" y="0"/>
                    </a:moveTo>
                    <a:lnTo>
                      <a:pt x="31750" y="0"/>
                    </a:lnTo>
                  </a:path>
                </a:pathLst>
              </a:custGeom>
              <a:noFill/>
              <a:ln w="23813">
                <a:solidFill>
                  <a:srgbClr val="FA421D"/>
                </a:solidFill>
              </a:ln>
            </p:spPr>
          </p:sp>
        </p:grpSp>
      </p:grpSp>
      <p:grpSp>
        <p:nvGrpSpPr>
          <p:cNvPr id="41" name="metric-cart"/>
          <p:cNvGrpSpPr/>
          <p:nvPr/>
        </p:nvGrpSpPr>
        <p:grpSpPr>
          <a:xfrm>
            <a:off x="571500" y="3200400"/>
            <a:ext cx="3543300" cy="819150"/>
            <a:chOff x="571500" y="3200400"/>
            <a:chExt cx="3543300" cy="819150"/>
          </a:xfrm>
        </p:grpSpPr>
        <p:sp>
          <p:nvSpPr>
            <p:cNvPr id="33" name="Rectangle 33"/>
            <p:cNvSpPr/>
            <p:nvPr/>
          </p:nvSpPr>
          <p:spPr>
            <a:xfrm>
              <a:off x="571500" y="3200400"/>
              <a:ext cx="3543300" cy="819150"/>
            </a:xfrm>
            <a:prstGeom prst="roundRect">
              <a:avLst>
                <a:gd name="adj" fmla="val 11628"/>
              </a:avLst>
            </a:prstGeom>
            <a:gradFill>
              <a:gsLst>
                <a:gs pos="0">
                  <a:srgbClr val="D2E4FE"/>
                </a:gs>
                <a:gs pos="100000">
                  <a:srgbClr val="EDF4FE"/>
                </a:gs>
              </a:gsLst>
              <a:lin ang="0" scaled="1"/>
            </a:gradFill>
            <a:ln>
              <a:noFill/>
            </a:ln>
          </p:spPr>
        </p:sp>
        <p:sp>
          <p:nvSpPr>
            <p:cNvPr id="34" name="TextBox 34"/>
            <p:cNvSpPr txBox="1"/>
            <p:nvPr/>
          </p:nvSpPr>
          <p:spPr>
            <a:xfrm>
              <a:off x="908685" y="3421856"/>
              <a:ext cx="1217625" cy="220028"/>
            </a:xfrm>
            <a:prstGeom prst="rect">
              <a:avLst/>
            </a:prstGeom>
            <a:noFill/>
            <a:ln>
              <a:noFill/>
            </a:ln>
          </p:spPr>
          <p:txBody>
            <a:bodyPr wrap="none" lIns="0" tIns="0" rIns="0" bIns="0" anchor="t" anchorCtr="0">
              <a:spAutoFit/>
            </a:bodyPr>
            <a:lstStyle/>
            <a:p>
              <a:pPr algn="l"/>
              <a:r>
                <a:rPr lang="zh-CN" sz="1120" b="1" dirty="0">
                  <a:solidFill>
                    <a:srgbClr val="E83F1D"/>
                  </a:solidFill>
                  <a:latin typeface="+mn-lt"/>
                  <a:ea typeface="+mn-ea"/>
                  <a:cs typeface="+mn-cs"/>
                </a:rPr>
                <a:t>加入购物车转化率</a:t>
              </a:r>
            </a:p>
          </p:txBody>
        </p:sp>
        <p:sp>
          <p:nvSpPr>
            <p:cNvPr id="35" name="TextBox 35"/>
            <p:cNvSpPr txBox="1"/>
            <p:nvPr/>
          </p:nvSpPr>
          <p:spPr>
            <a:xfrm>
              <a:off x="909638" y="3693795"/>
              <a:ext cx="1463421" cy="176212"/>
            </a:xfrm>
            <a:prstGeom prst="rect">
              <a:avLst/>
            </a:prstGeom>
            <a:noFill/>
            <a:ln>
              <a:noFill/>
            </a:ln>
          </p:spPr>
          <p:txBody>
            <a:bodyPr wrap="none" lIns="0" tIns="0" rIns="0" bIns="0" anchor="t" anchorCtr="0">
              <a:spAutoFit/>
            </a:bodyPr>
            <a:lstStyle/>
            <a:p>
              <a:pPr algn="l"/>
              <a:r>
                <a:rPr lang="zh-CN" sz="900" dirty="0">
                  <a:solidFill>
                    <a:srgbClr val="3D241F"/>
                  </a:solidFill>
                  <a:latin typeface="+mn-lt"/>
                  <a:ea typeface="+mn-ea"/>
                  <a:cs typeface="+mn-cs"/>
                </a:rPr>
                <a:t>表示用户对购买产生了兴趣</a:t>
              </a:r>
            </a:p>
          </p:txBody>
        </p:sp>
        <p:grpSp>
          <p:nvGrpSpPr>
            <p:cNvPr id="40" name="Group 40"/>
            <p:cNvGrpSpPr/>
            <p:nvPr/>
          </p:nvGrpSpPr>
          <p:grpSpPr>
            <a:xfrm>
              <a:off x="3797300" y="3457575"/>
              <a:ext cx="254000" cy="285751"/>
              <a:chOff x="3797300" y="3457575"/>
              <a:chExt cx="254000" cy="285751"/>
            </a:xfrm>
          </p:grpSpPr>
          <p:sp>
            <p:nvSpPr>
              <p:cNvPr id="36" name="Freeform 36"/>
              <p:cNvSpPr/>
              <p:nvPr/>
            </p:nvSpPr>
            <p:spPr>
              <a:xfrm>
                <a:off x="3797300" y="3679826"/>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A421D"/>
                </a:solidFill>
              </a:ln>
            </p:spPr>
          </p:sp>
          <p:sp>
            <p:nvSpPr>
              <p:cNvPr id="37" name="Freeform 37"/>
              <p:cNvSpPr/>
              <p:nvPr/>
            </p:nvSpPr>
            <p:spPr>
              <a:xfrm>
                <a:off x="3971925" y="3679826"/>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A421D"/>
                </a:solidFill>
              </a:ln>
            </p:spPr>
          </p:sp>
          <p:sp>
            <p:nvSpPr>
              <p:cNvPr id="38" name="Freeform 38"/>
              <p:cNvSpPr/>
              <p:nvPr/>
            </p:nvSpPr>
            <p:spPr>
              <a:xfrm>
                <a:off x="3797300" y="3457575"/>
                <a:ext cx="206375" cy="222250"/>
              </a:xfrm>
              <a:custGeom>
                <a:avLst/>
                <a:gdLst/>
                <a:ahLst/>
                <a:cxnLst/>
                <a:rect l="l" t="t" r="r" b="b"/>
                <a:pathLst>
                  <a:path w="206375" h="222250">
                    <a:moveTo>
                      <a:pt x="206375" y="222250"/>
                    </a:moveTo>
                    <a:lnTo>
                      <a:pt x="31750" y="222250"/>
                    </a:lnTo>
                    <a:lnTo>
                      <a:pt x="31750" y="0"/>
                    </a:lnTo>
                    <a:lnTo>
                      <a:pt x="0" y="0"/>
                    </a:lnTo>
                  </a:path>
                </a:pathLst>
              </a:custGeom>
              <a:noFill/>
              <a:ln w="23813">
                <a:solidFill>
                  <a:srgbClr val="FA421D"/>
                </a:solidFill>
              </a:ln>
            </p:spPr>
          </p:sp>
          <p:sp>
            <p:nvSpPr>
              <p:cNvPr id="39" name="Freeform 39"/>
              <p:cNvSpPr/>
              <p:nvPr/>
            </p:nvSpPr>
            <p:spPr>
              <a:xfrm>
                <a:off x="3829050" y="3489325"/>
                <a:ext cx="222250" cy="127000"/>
              </a:xfrm>
              <a:custGeom>
                <a:avLst/>
                <a:gdLst/>
                <a:ahLst/>
                <a:cxnLst/>
                <a:rect l="l" t="t" r="r" b="b"/>
                <a:pathLst>
                  <a:path w="222250" h="127000">
                    <a:moveTo>
                      <a:pt x="0" y="0"/>
                    </a:moveTo>
                    <a:lnTo>
                      <a:pt x="222250" y="15875"/>
                    </a:lnTo>
                    <a:lnTo>
                      <a:pt x="206375" y="127000"/>
                    </a:lnTo>
                    <a:lnTo>
                      <a:pt x="0" y="127000"/>
                    </a:lnTo>
                  </a:path>
                </a:pathLst>
              </a:custGeom>
              <a:noFill/>
              <a:ln w="23813">
                <a:solidFill>
                  <a:srgbClr val="FA421D"/>
                </a:solidFill>
              </a:ln>
            </p:spPr>
          </p:sp>
        </p:grpSp>
      </p:grpSp>
      <p:grpSp>
        <p:nvGrpSpPr>
          <p:cNvPr id="48" name="metric-browse"/>
          <p:cNvGrpSpPr/>
          <p:nvPr/>
        </p:nvGrpSpPr>
        <p:grpSpPr>
          <a:xfrm>
            <a:off x="571500" y="4438650"/>
            <a:ext cx="3543300" cy="819150"/>
            <a:chOff x="571500" y="4438650"/>
            <a:chExt cx="3543300" cy="819150"/>
          </a:xfrm>
        </p:grpSpPr>
        <p:sp>
          <p:nvSpPr>
            <p:cNvPr id="42" name="Rectangle 42"/>
            <p:cNvSpPr/>
            <p:nvPr/>
          </p:nvSpPr>
          <p:spPr>
            <a:xfrm>
              <a:off x="571500" y="4438650"/>
              <a:ext cx="3543300" cy="819150"/>
            </a:xfrm>
            <a:prstGeom prst="roundRect">
              <a:avLst>
                <a:gd name="adj" fmla="val 11628"/>
              </a:avLst>
            </a:prstGeom>
            <a:gradFill>
              <a:gsLst>
                <a:gs pos="0">
                  <a:srgbClr val="D2E4FE"/>
                </a:gs>
                <a:gs pos="100000">
                  <a:srgbClr val="EDF4FE"/>
                </a:gs>
              </a:gsLst>
              <a:lin ang="0" scaled="1"/>
            </a:gradFill>
            <a:ln>
              <a:noFill/>
            </a:ln>
          </p:spPr>
        </p:sp>
        <p:sp>
          <p:nvSpPr>
            <p:cNvPr id="43" name="TextBox 43"/>
            <p:cNvSpPr txBox="1"/>
            <p:nvPr/>
          </p:nvSpPr>
          <p:spPr>
            <a:xfrm>
              <a:off x="908685" y="4660106"/>
              <a:ext cx="1066851" cy="220028"/>
            </a:xfrm>
            <a:prstGeom prst="rect">
              <a:avLst/>
            </a:prstGeom>
            <a:noFill/>
            <a:ln>
              <a:noFill/>
            </a:ln>
          </p:spPr>
          <p:txBody>
            <a:bodyPr wrap="none" lIns="0" tIns="0" rIns="0" bIns="0" anchor="t" anchorCtr="0">
              <a:spAutoFit/>
            </a:bodyPr>
            <a:lstStyle/>
            <a:p>
              <a:pPr algn="l"/>
              <a:r>
                <a:rPr lang="zh-CN" sz="1120" b="1" dirty="0">
                  <a:solidFill>
                    <a:srgbClr val="E83F1D"/>
                  </a:solidFill>
                  <a:latin typeface="+mn-lt"/>
                  <a:ea typeface="+mn-ea"/>
                  <a:cs typeface="+mn-cs"/>
                </a:rPr>
                <a:t>浏览产品转化率</a:t>
              </a:r>
            </a:p>
          </p:txBody>
        </p:sp>
        <p:sp>
          <p:nvSpPr>
            <p:cNvPr id="44" name="TextBox 44"/>
            <p:cNvSpPr txBox="1"/>
            <p:nvPr/>
          </p:nvSpPr>
          <p:spPr>
            <a:xfrm>
              <a:off x="909638" y="4932045"/>
              <a:ext cx="736473" cy="176212"/>
            </a:xfrm>
            <a:prstGeom prst="rect">
              <a:avLst/>
            </a:prstGeom>
            <a:noFill/>
            <a:ln>
              <a:noFill/>
            </a:ln>
          </p:spPr>
          <p:txBody>
            <a:bodyPr wrap="none" lIns="0" tIns="0" rIns="0" bIns="0" anchor="t" anchorCtr="0">
              <a:spAutoFit/>
            </a:bodyPr>
            <a:lstStyle/>
            <a:p>
              <a:pPr algn="l"/>
              <a:r>
                <a:rPr lang="zh-CN" sz="900" dirty="0">
                  <a:solidFill>
                    <a:srgbClr val="3D241F"/>
                  </a:solidFill>
                  <a:latin typeface="+mn-lt"/>
                  <a:ea typeface="+mn-ea"/>
                  <a:cs typeface="+mn-cs"/>
                </a:rPr>
                <a:t>保护生态系统</a:t>
              </a:r>
            </a:p>
          </p:txBody>
        </p:sp>
        <p:grpSp>
          <p:nvGrpSpPr>
            <p:cNvPr id="47" name="Group 47"/>
            <p:cNvGrpSpPr/>
            <p:nvPr/>
          </p:nvGrpSpPr>
          <p:grpSpPr>
            <a:xfrm>
              <a:off x="3801512" y="4695825"/>
              <a:ext cx="245593" cy="285757"/>
              <a:chOff x="3801512" y="4695825"/>
              <a:chExt cx="245593" cy="285757"/>
            </a:xfrm>
          </p:grpSpPr>
          <p:sp>
            <p:nvSpPr>
              <p:cNvPr id="45" name="Freeform 45"/>
              <p:cNvSpPr/>
              <p:nvPr/>
            </p:nvSpPr>
            <p:spPr>
              <a:xfrm>
                <a:off x="3801512" y="4775199"/>
                <a:ext cx="245593" cy="206383"/>
              </a:xfrm>
              <a:custGeom>
                <a:avLst/>
                <a:gdLst/>
                <a:ahLst/>
                <a:cxnLst/>
                <a:rect l="l" t="t" r="r" b="b"/>
                <a:pathLst>
                  <a:path w="245593" h="206383">
                    <a:moveTo>
                      <a:pt x="32793" y="1"/>
                    </a:moveTo>
                    <a:lnTo>
                      <a:pt x="212800" y="1"/>
                    </a:lnTo>
                    <a:cubicBezTo>
                      <a:pt x="222064" y="0"/>
                      <a:pt x="230867" y="4045"/>
                      <a:pt x="236899" y="11076"/>
                    </a:cubicBezTo>
                    <a:cubicBezTo>
                      <a:pt x="242932" y="18106"/>
                      <a:pt x="245593" y="27421"/>
                      <a:pt x="244185" y="36577"/>
                    </a:cubicBezTo>
                    <a:lnTo>
                      <a:pt x="224262" y="165990"/>
                    </a:lnTo>
                    <a:cubicBezTo>
                      <a:pt x="220688" y="189230"/>
                      <a:pt x="200689" y="206383"/>
                      <a:pt x="177176" y="206377"/>
                    </a:cubicBezTo>
                    <a:lnTo>
                      <a:pt x="68401" y="206377"/>
                    </a:lnTo>
                    <a:cubicBezTo>
                      <a:pt x="44894" y="206375"/>
                      <a:pt x="24904" y="189224"/>
                      <a:pt x="21331" y="165990"/>
                    </a:cubicBezTo>
                    <a:lnTo>
                      <a:pt x="1408" y="36577"/>
                    </a:lnTo>
                    <a:cubicBezTo>
                      <a:pt x="0" y="27421"/>
                      <a:pt x="2661" y="18106"/>
                      <a:pt x="8694" y="11076"/>
                    </a:cubicBezTo>
                    <a:cubicBezTo>
                      <a:pt x="14727" y="4045"/>
                      <a:pt x="23529" y="0"/>
                      <a:pt x="32793" y="1"/>
                    </a:cubicBezTo>
                  </a:path>
                </a:pathLst>
              </a:custGeom>
              <a:noFill/>
              <a:ln w="23813">
                <a:solidFill>
                  <a:srgbClr val="FA421D"/>
                </a:solidFill>
              </a:ln>
            </p:spPr>
          </p:sp>
          <p:sp>
            <p:nvSpPr>
              <p:cNvPr id="46" name="Freeform 46"/>
              <p:cNvSpPr/>
              <p:nvPr/>
            </p:nvSpPr>
            <p:spPr>
              <a:xfrm>
                <a:off x="3876675" y="4695825"/>
                <a:ext cx="95250" cy="127000"/>
              </a:xfrm>
              <a:custGeom>
                <a:avLst/>
                <a:gdLst/>
                <a:ahLst/>
                <a:cxnLst/>
                <a:rect l="l" t="t" r="r" b="b"/>
                <a:pathLst>
                  <a:path w="95250" h="127000">
                    <a:moveTo>
                      <a:pt x="0" y="127000"/>
                    </a:moveTo>
                    <a:lnTo>
                      <a:pt x="0" y="47625"/>
                    </a:lnTo>
                    <a:cubicBezTo>
                      <a:pt x="0" y="21322"/>
                      <a:pt x="21322" y="0"/>
                      <a:pt x="47625" y="0"/>
                    </a:cubicBezTo>
                    <a:cubicBezTo>
                      <a:pt x="73928" y="0"/>
                      <a:pt x="95250" y="21322"/>
                      <a:pt x="95250" y="47625"/>
                    </a:cubicBezTo>
                    <a:lnTo>
                      <a:pt x="95250" y="127000"/>
                    </a:lnTo>
                  </a:path>
                </a:pathLst>
              </a:custGeom>
              <a:noFill/>
              <a:ln w="23813">
                <a:solidFill>
                  <a:srgbClr val="FA421D"/>
                </a:solidFill>
              </a:ln>
            </p:spPr>
          </p:sp>
        </p:grpSp>
      </p:grpSp>
      <p:grpSp>
        <p:nvGrpSpPr>
          <p:cNvPr id="58" name="step-01"/>
          <p:cNvGrpSpPr/>
          <p:nvPr/>
        </p:nvGrpSpPr>
        <p:grpSpPr>
          <a:xfrm>
            <a:off x="8077200" y="1943100"/>
            <a:ext cx="3543300" cy="819150"/>
            <a:chOff x="8077200" y="1943100"/>
            <a:chExt cx="3543300" cy="819150"/>
          </a:xfrm>
        </p:grpSpPr>
        <p:sp>
          <p:nvSpPr>
            <p:cNvPr id="49" name="Rectangle 49"/>
            <p:cNvSpPr/>
            <p:nvPr/>
          </p:nvSpPr>
          <p:spPr>
            <a:xfrm>
              <a:off x="8077200" y="1943100"/>
              <a:ext cx="3543300" cy="819150"/>
            </a:xfrm>
            <a:prstGeom prst="roundRect">
              <a:avLst>
                <a:gd name="adj" fmla="val 11628"/>
              </a:avLst>
            </a:prstGeom>
            <a:gradFill>
              <a:gsLst>
                <a:gs pos="0">
                  <a:srgbClr val="EDF4FE"/>
                </a:gs>
                <a:gs pos="100000">
                  <a:srgbClr val="D2E4FE"/>
                </a:gs>
              </a:gsLst>
              <a:lin ang="0" scaled="1"/>
            </a:gradFill>
            <a:ln>
              <a:noFill/>
            </a:ln>
          </p:spPr>
        </p:sp>
        <p:grpSp>
          <p:nvGrpSpPr>
            <p:cNvPr id="55" name="Group 55"/>
            <p:cNvGrpSpPr/>
            <p:nvPr/>
          </p:nvGrpSpPr>
          <p:grpSpPr>
            <a:xfrm>
              <a:off x="8232775" y="2200275"/>
              <a:ext cx="222250" cy="285751"/>
              <a:chOff x="8232775" y="2200275"/>
              <a:chExt cx="222250" cy="285751"/>
            </a:xfrm>
          </p:grpSpPr>
          <p:sp>
            <p:nvSpPr>
              <p:cNvPr id="50" name="Freeform 50"/>
              <p:cNvSpPr/>
              <p:nvPr/>
            </p:nvSpPr>
            <p:spPr>
              <a:xfrm>
                <a:off x="8375650" y="220027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23813">
                <a:solidFill>
                  <a:srgbClr val="FA421D"/>
                </a:solidFill>
              </a:ln>
            </p:spPr>
          </p:sp>
          <p:sp>
            <p:nvSpPr>
              <p:cNvPr id="51" name="Freeform 51"/>
              <p:cNvSpPr/>
              <p:nvPr/>
            </p:nvSpPr>
            <p:spPr>
              <a:xfrm>
                <a:off x="8232775" y="2200275"/>
                <a:ext cx="222250" cy="285751"/>
              </a:xfrm>
              <a:custGeom>
                <a:avLst/>
                <a:gdLst/>
                <a:ahLst/>
                <a:cxnLst/>
                <a:rect l="l" t="t" r="r" b="b"/>
                <a:pathLst>
                  <a:path w="222250" h="285751">
                    <a:moveTo>
                      <a:pt x="190500" y="285751"/>
                    </a:moveTo>
                    <a:lnTo>
                      <a:pt x="31750" y="285751"/>
                    </a:lnTo>
                    <a:cubicBezTo>
                      <a:pt x="14215" y="285751"/>
                      <a:pt x="0" y="271536"/>
                      <a:pt x="0" y="254001"/>
                    </a:cubicBezTo>
                    <a:lnTo>
                      <a:pt x="0" y="31750"/>
                    </a:lnTo>
                    <a:cubicBezTo>
                      <a:pt x="0" y="14215"/>
                      <a:pt x="14215" y="0"/>
                      <a:pt x="31750" y="0"/>
                    </a:cubicBezTo>
                    <a:lnTo>
                      <a:pt x="142875" y="0"/>
                    </a:lnTo>
                    <a:lnTo>
                      <a:pt x="222250" y="79375"/>
                    </a:lnTo>
                    <a:lnTo>
                      <a:pt x="222250" y="254001"/>
                    </a:lnTo>
                    <a:cubicBezTo>
                      <a:pt x="222250" y="271536"/>
                      <a:pt x="208035" y="285751"/>
                      <a:pt x="190500" y="285751"/>
                    </a:cubicBezTo>
                  </a:path>
                </a:pathLst>
              </a:custGeom>
              <a:noFill/>
              <a:ln w="23813">
                <a:solidFill>
                  <a:srgbClr val="FA421D"/>
                </a:solidFill>
              </a:ln>
            </p:spPr>
          </p:sp>
          <p:sp>
            <p:nvSpPr>
              <p:cNvPr id="52" name="Freeform 52"/>
              <p:cNvSpPr/>
              <p:nvPr/>
            </p:nvSpPr>
            <p:spPr>
              <a:xfrm>
                <a:off x="8296275" y="2263775"/>
                <a:ext cx="15875" cy="9525"/>
              </a:xfrm>
              <a:custGeom>
                <a:avLst/>
                <a:gdLst/>
                <a:ahLst/>
                <a:cxnLst/>
                <a:rect l="l" t="t" r="r" b="b"/>
                <a:pathLst>
                  <a:path w="15875" h="9525">
                    <a:moveTo>
                      <a:pt x="0" y="0"/>
                    </a:moveTo>
                    <a:lnTo>
                      <a:pt x="15875" y="0"/>
                    </a:lnTo>
                  </a:path>
                </a:pathLst>
              </a:custGeom>
              <a:noFill/>
              <a:ln w="23813">
                <a:solidFill>
                  <a:srgbClr val="FA421D"/>
                </a:solidFill>
              </a:ln>
            </p:spPr>
          </p:sp>
          <p:sp>
            <p:nvSpPr>
              <p:cNvPr id="53" name="Freeform 53"/>
              <p:cNvSpPr/>
              <p:nvPr/>
            </p:nvSpPr>
            <p:spPr>
              <a:xfrm>
                <a:off x="8296275" y="2359025"/>
                <a:ext cx="95250" cy="9525"/>
              </a:xfrm>
              <a:custGeom>
                <a:avLst/>
                <a:gdLst/>
                <a:ahLst/>
                <a:cxnLst/>
                <a:rect l="l" t="t" r="r" b="b"/>
                <a:pathLst>
                  <a:path w="95250" h="9525">
                    <a:moveTo>
                      <a:pt x="0" y="0"/>
                    </a:moveTo>
                    <a:lnTo>
                      <a:pt x="95250" y="0"/>
                    </a:lnTo>
                  </a:path>
                </a:pathLst>
              </a:custGeom>
              <a:noFill/>
              <a:ln w="23813">
                <a:solidFill>
                  <a:srgbClr val="FA421D"/>
                </a:solidFill>
              </a:ln>
            </p:spPr>
          </p:sp>
          <p:sp>
            <p:nvSpPr>
              <p:cNvPr id="54" name="Freeform 54"/>
              <p:cNvSpPr/>
              <p:nvPr/>
            </p:nvSpPr>
            <p:spPr>
              <a:xfrm>
                <a:off x="8359775" y="2422526"/>
                <a:ext cx="31750" cy="9525"/>
              </a:xfrm>
              <a:custGeom>
                <a:avLst/>
                <a:gdLst/>
                <a:ahLst/>
                <a:cxnLst/>
                <a:rect l="l" t="t" r="r" b="b"/>
                <a:pathLst>
                  <a:path w="31750" h="9525">
                    <a:moveTo>
                      <a:pt x="0" y="0"/>
                    </a:moveTo>
                    <a:lnTo>
                      <a:pt x="31750" y="0"/>
                    </a:lnTo>
                  </a:path>
                </a:pathLst>
              </a:custGeom>
              <a:noFill/>
              <a:ln w="23813">
                <a:solidFill>
                  <a:srgbClr val="FA421D"/>
                </a:solidFill>
              </a:ln>
            </p:spPr>
          </p:sp>
        </p:grpSp>
        <p:sp>
          <p:nvSpPr>
            <p:cNvPr id="56" name="TextBox 56"/>
            <p:cNvSpPr txBox="1"/>
            <p:nvPr/>
          </p:nvSpPr>
          <p:spPr>
            <a:xfrm>
              <a:off x="10944530" y="2025015"/>
              <a:ext cx="549859" cy="645414"/>
            </a:xfrm>
            <a:prstGeom prst="rect">
              <a:avLst/>
            </a:prstGeom>
            <a:noFill/>
            <a:ln>
              <a:noFill/>
            </a:ln>
          </p:spPr>
          <p:txBody>
            <a:bodyPr wrap="none" lIns="0" tIns="0" rIns="0" bIns="0" anchor="t" anchorCtr="0">
              <a:spAutoFit/>
            </a:bodyPr>
            <a:lstStyle/>
            <a:p>
              <a:pPr algn="r"/>
              <a:r>
                <a:rPr lang="zh-CN" sz="3300" dirty="0">
                  <a:solidFill>
                    <a:srgbClr val="FCC4B9"/>
                  </a:solidFill>
                  <a:latin typeface="+mj-lt"/>
                  <a:ea typeface="+mj-ea"/>
                  <a:cs typeface="+mj-cs"/>
                </a:rPr>
                <a:t>01</a:t>
              </a:r>
            </a:p>
          </p:txBody>
        </p:sp>
        <p:sp>
          <p:nvSpPr>
            <p:cNvPr id="57" name="TextBox 57"/>
            <p:cNvSpPr txBox="1"/>
            <p:nvPr/>
          </p:nvSpPr>
          <p:spPr>
            <a:xfrm>
              <a:off x="10140124" y="2531745"/>
              <a:ext cx="1342263" cy="176212"/>
            </a:xfrm>
            <a:prstGeom prst="rect">
              <a:avLst/>
            </a:prstGeom>
            <a:noFill/>
            <a:ln>
              <a:noFill/>
            </a:ln>
          </p:spPr>
          <p:txBody>
            <a:bodyPr wrap="none" lIns="0" tIns="0" rIns="0" bIns="0" anchor="t" anchorCtr="0">
              <a:spAutoFit/>
            </a:bodyPr>
            <a:lstStyle/>
            <a:p>
              <a:pPr algn="r"/>
              <a:r>
                <a:rPr lang="zh-CN" sz="900" dirty="0">
                  <a:solidFill>
                    <a:srgbClr val="3D241F"/>
                  </a:solidFill>
                  <a:latin typeface="+mn-lt"/>
                  <a:ea typeface="+mn-ea"/>
                  <a:cs typeface="+mn-cs"/>
                </a:rPr>
                <a:t>最后一个步骤是完成购买</a:t>
              </a:r>
            </a:p>
          </p:txBody>
        </p:sp>
      </p:grpSp>
      <p:grpSp>
        <p:nvGrpSpPr>
          <p:cNvPr id="67" name="step-02"/>
          <p:cNvGrpSpPr/>
          <p:nvPr/>
        </p:nvGrpSpPr>
        <p:grpSpPr>
          <a:xfrm>
            <a:off x="8077200" y="3200400"/>
            <a:ext cx="3543300" cy="819150"/>
            <a:chOff x="8077200" y="3200400"/>
            <a:chExt cx="3543300" cy="819150"/>
          </a:xfrm>
        </p:grpSpPr>
        <p:sp>
          <p:nvSpPr>
            <p:cNvPr id="59" name="Rectangle 59"/>
            <p:cNvSpPr/>
            <p:nvPr/>
          </p:nvSpPr>
          <p:spPr>
            <a:xfrm>
              <a:off x="8077200" y="3200400"/>
              <a:ext cx="3543300" cy="819150"/>
            </a:xfrm>
            <a:prstGeom prst="roundRect">
              <a:avLst>
                <a:gd name="adj" fmla="val 11628"/>
              </a:avLst>
            </a:prstGeom>
            <a:gradFill>
              <a:gsLst>
                <a:gs pos="0">
                  <a:srgbClr val="EDF4FE"/>
                </a:gs>
                <a:gs pos="100000">
                  <a:srgbClr val="D2E4FE"/>
                </a:gs>
              </a:gsLst>
              <a:lin ang="0" scaled="1"/>
            </a:gradFill>
            <a:ln>
              <a:noFill/>
            </a:ln>
          </p:spPr>
        </p:sp>
        <p:grpSp>
          <p:nvGrpSpPr>
            <p:cNvPr id="64" name="Group 64"/>
            <p:cNvGrpSpPr/>
            <p:nvPr/>
          </p:nvGrpSpPr>
          <p:grpSpPr>
            <a:xfrm>
              <a:off x="8216900" y="3457575"/>
              <a:ext cx="254000" cy="285751"/>
              <a:chOff x="8216900" y="3457575"/>
              <a:chExt cx="254000" cy="285751"/>
            </a:xfrm>
          </p:grpSpPr>
          <p:sp>
            <p:nvSpPr>
              <p:cNvPr id="60" name="Freeform 60"/>
              <p:cNvSpPr/>
              <p:nvPr/>
            </p:nvSpPr>
            <p:spPr>
              <a:xfrm>
                <a:off x="8216900" y="3679826"/>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A421D"/>
                </a:solidFill>
              </a:ln>
            </p:spPr>
          </p:sp>
          <p:sp>
            <p:nvSpPr>
              <p:cNvPr id="61" name="Freeform 61"/>
              <p:cNvSpPr/>
              <p:nvPr/>
            </p:nvSpPr>
            <p:spPr>
              <a:xfrm>
                <a:off x="8391525" y="3679826"/>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A421D"/>
                </a:solidFill>
              </a:ln>
            </p:spPr>
          </p:sp>
          <p:sp>
            <p:nvSpPr>
              <p:cNvPr id="62" name="Freeform 62"/>
              <p:cNvSpPr/>
              <p:nvPr/>
            </p:nvSpPr>
            <p:spPr>
              <a:xfrm>
                <a:off x="8216900" y="3457575"/>
                <a:ext cx="206375" cy="222250"/>
              </a:xfrm>
              <a:custGeom>
                <a:avLst/>
                <a:gdLst/>
                <a:ahLst/>
                <a:cxnLst/>
                <a:rect l="l" t="t" r="r" b="b"/>
                <a:pathLst>
                  <a:path w="206375" h="222250">
                    <a:moveTo>
                      <a:pt x="206375" y="222250"/>
                    </a:moveTo>
                    <a:lnTo>
                      <a:pt x="31750" y="222250"/>
                    </a:lnTo>
                    <a:lnTo>
                      <a:pt x="31750" y="0"/>
                    </a:lnTo>
                    <a:lnTo>
                      <a:pt x="0" y="0"/>
                    </a:lnTo>
                  </a:path>
                </a:pathLst>
              </a:custGeom>
              <a:noFill/>
              <a:ln w="23813">
                <a:solidFill>
                  <a:srgbClr val="FA421D"/>
                </a:solidFill>
              </a:ln>
            </p:spPr>
          </p:sp>
          <p:sp>
            <p:nvSpPr>
              <p:cNvPr id="63" name="Freeform 63"/>
              <p:cNvSpPr/>
              <p:nvPr/>
            </p:nvSpPr>
            <p:spPr>
              <a:xfrm>
                <a:off x="8248650" y="3489325"/>
                <a:ext cx="222250" cy="127000"/>
              </a:xfrm>
              <a:custGeom>
                <a:avLst/>
                <a:gdLst/>
                <a:ahLst/>
                <a:cxnLst/>
                <a:rect l="l" t="t" r="r" b="b"/>
                <a:pathLst>
                  <a:path w="222250" h="127000">
                    <a:moveTo>
                      <a:pt x="0" y="0"/>
                    </a:moveTo>
                    <a:lnTo>
                      <a:pt x="222250" y="15875"/>
                    </a:lnTo>
                    <a:lnTo>
                      <a:pt x="206375" y="127000"/>
                    </a:lnTo>
                    <a:lnTo>
                      <a:pt x="0" y="127000"/>
                    </a:lnTo>
                  </a:path>
                </a:pathLst>
              </a:custGeom>
              <a:noFill/>
              <a:ln w="23813">
                <a:solidFill>
                  <a:srgbClr val="FA421D"/>
                </a:solidFill>
              </a:ln>
            </p:spPr>
          </p:sp>
        </p:grpSp>
        <p:sp>
          <p:nvSpPr>
            <p:cNvPr id="65" name="TextBox 65"/>
            <p:cNvSpPr txBox="1"/>
            <p:nvPr/>
          </p:nvSpPr>
          <p:spPr>
            <a:xfrm>
              <a:off x="10944530" y="3282315"/>
              <a:ext cx="549859" cy="645414"/>
            </a:xfrm>
            <a:prstGeom prst="rect">
              <a:avLst/>
            </a:prstGeom>
            <a:noFill/>
            <a:ln>
              <a:noFill/>
            </a:ln>
          </p:spPr>
          <p:txBody>
            <a:bodyPr wrap="none" lIns="0" tIns="0" rIns="0" bIns="0" anchor="t" anchorCtr="0">
              <a:spAutoFit/>
            </a:bodyPr>
            <a:lstStyle/>
            <a:p>
              <a:pPr algn="r"/>
              <a:r>
                <a:rPr lang="zh-CN" sz="3300" dirty="0">
                  <a:solidFill>
                    <a:srgbClr val="FCC4B9"/>
                  </a:solidFill>
                  <a:latin typeface="+mj-lt"/>
                  <a:ea typeface="+mj-ea"/>
                  <a:cs typeface="+mj-cs"/>
                </a:rPr>
                <a:t>02</a:t>
              </a:r>
            </a:p>
          </p:txBody>
        </p:sp>
        <p:sp>
          <p:nvSpPr>
            <p:cNvPr id="66" name="TextBox 66"/>
            <p:cNvSpPr txBox="1"/>
            <p:nvPr/>
          </p:nvSpPr>
          <p:spPr>
            <a:xfrm>
              <a:off x="10261282" y="3789045"/>
              <a:ext cx="1221105" cy="176212"/>
            </a:xfrm>
            <a:prstGeom prst="rect">
              <a:avLst/>
            </a:prstGeom>
            <a:noFill/>
            <a:ln>
              <a:noFill/>
            </a:ln>
          </p:spPr>
          <p:txBody>
            <a:bodyPr wrap="none" lIns="0" tIns="0" rIns="0" bIns="0" anchor="t" anchorCtr="0">
              <a:spAutoFit/>
            </a:bodyPr>
            <a:lstStyle/>
            <a:p>
              <a:pPr algn="r"/>
              <a:r>
                <a:rPr lang="zh-CN" sz="900" dirty="0">
                  <a:solidFill>
                    <a:srgbClr val="3D241F"/>
                  </a:solidFill>
                  <a:latin typeface="+mn-lt"/>
                  <a:ea typeface="+mn-ea"/>
                  <a:cs typeface="+mn-cs"/>
                </a:rPr>
                <a:t>用户选择并加入购物车</a:t>
              </a:r>
            </a:p>
          </p:txBody>
        </p:sp>
      </p:grpSp>
      <p:grpSp>
        <p:nvGrpSpPr>
          <p:cNvPr id="74" name="step-03"/>
          <p:cNvGrpSpPr/>
          <p:nvPr/>
        </p:nvGrpSpPr>
        <p:grpSpPr>
          <a:xfrm>
            <a:off x="8077200" y="4438650"/>
            <a:ext cx="3543300" cy="819150"/>
            <a:chOff x="8077200" y="4438650"/>
            <a:chExt cx="3543300" cy="819150"/>
          </a:xfrm>
        </p:grpSpPr>
        <p:sp>
          <p:nvSpPr>
            <p:cNvPr id="68" name="Rectangle 68"/>
            <p:cNvSpPr/>
            <p:nvPr/>
          </p:nvSpPr>
          <p:spPr>
            <a:xfrm>
              <a:off x="8077200" y="4438650"/>
              <a:ext cx="3543300" cy="819150"/>
            </a:xfrm>
            <a:prstGeom prst="roundRect">
              <a:avLst>
                <a:gd name="adj" fmla="val 11628"/>
              </a:avLst>
            </a:prstGeom>
            <a:gradFill>
              <a:gsLst>
                <a:gs pos="0">
                  <a:srgbClr val="EDF4FE"/>
                </a:gs>
                <a:gs pos="100000">
                  <a:srgbClr val="D2E4FE"/>
                </a:gs>
              </a:gsLst>
              <a:lin ang="0" scaled="1"/>
            </a:gradFill>
            <a:ln>
              <a:noFill/>
            </a:ln>
          </p:spPr>
        </p:sp>
        <p:grpSp>
          <p:nvGrpSpPr>
            <p:cNvPr id="71" name="Group 71"/>
            <p:cNvGrpSpPr/>
            <p:nvPr/>
          </p:nvGrpSpPr>
          <p:grpSpPr>
            <a:xfrm>
              <a:off x="8221112" y="4695825"/>
              <a:ext cx="245593" cy="285757"/>
              <a:chOff x="8221112" y="4695825"/>
              <a:chExt cx="245593" cy="285757"/>
            </a:xfrm>
          </p:grpSpPr>
          <p:sp>
            <p:nvSpPr>
              <p:cNvPr id="69" name="Freeform 69"/>
              <p:cNvSpPr/>
              <p:nvPr/>
            </p:nvSpPr>
            <p:spPr>
              <a:xfrm>
                <a:off x="8221112" y="4775199"/>
                <a:ext cx="245593" cy="206383"/>
              </a:xfrm>
              <a:custGeom>
                <a:avLst/>
                <a:gdLst/>
                <a:ahLst/>
                <a:cxnLst/>
                <a:rect l="l" t="t" r="r" b="b"/>
                <a:pathLst>
                  <a:path w="245593" h="206383">
                    <a:moveTo>
                      <a:pt x="32793" y="1"/>
                    </a:moveTo>
                    <a:lnTo>
                      <a:pt x="212800" y="1"/>
                    </a:lnTo>
                    <a:cubicBezTo>
                      <a:pt x="222064" y="0"/>
                      <a:pt x="230867" y="4045"/>
                      <a:pt x="236899" y="11076"/>
                    </a:cubicBezTo>
                    <a:cubicBezTo>
                      <a:pt x="242932" y="18106"/>
                      <a:pt x="245593" y="27421"/>
                      <a:pt x="244185" y="36577"/>
                    </a:cubicBezTo>
                    <a:lnTo>
                      <a:pt x="224262" y="165990"/>
                    </a:lnTo>
                    <a:cubicBezTo>
                      <a:pt x="220688" y="189230"/>
                      <a:pt x="200689" y="206383"/>
                      <a:pt x="177176" y="206377"/>
                    </a:cubicBezTo>
                    <a:lnTo>
                      <a:pt x="68401" y="206377"/>
                    </a:lnTo>
                    <a:cubicBezTo>
                      <a:pt x="44894" y="206375"/>
                      <a:pt x="24904" y="189224"/>
                      <a:pt x="21331" y="165990"/>
                    </a:cubicBezTo>
                    <a:lnTo>
                      <a:pt x="1408" y="36577"/>
                    </a:lnTo>
                    <a:cubicBezTo>
                      <a:pt x="0" y="27421"/>
                      <a:pt x="2661" y="18106"/>
                      <a:pt x="8694" y="11076"/>
                    </a:cubicBezTo>
                    <a:cubicBezTo>
                      <a:pt x="14727" y="4045"/>
                      <a:pt x="23529" y="0"/>
                      <a:pt x="32793" y="1"/>
                    </a:cubicBezTo>
                  </a:path>
                </a:pathLst>
              </a:custGeom>
              <a:noFill/>
              <a:ln w="23813">
                <a:solidFill>
                  <a:srgbClr val="FA421D"/>
                </a:solidFill>
              </a:ln>
            </p:spPr>
          </p:sp>
          <p:sp>
            <p:nvSpPr>
              <p:cNvPr id="70" name="Freeform 70"/>
              <p:cNvSpPr/>
              <p:nvPr/>
            </p:nvSpPr>
            <p:spPr>
              <a:xfrm>
                <a:off x="8296275" y="4695825"/>
                <a:ext cx="95250" cy="127000"/>
              </a:xfrm>
              <a:custGeom>
                <a:avLst/>
                <a:gdLst/>
                <a:ahLst/>
                <a:cxnLst/>
                <a:rect l="l" t="t" r="r" b="b"/>
                <a:pathLst>
                  <a:path w="95250" h="127000">
                    <a:moveTo>
                      <a:pt x="0" y="127000"/>
                    </a:moveTo>
                    <a:lnTo>
                      <a:pt x="0" y="47625"/>
                    </a:lnTo>
                    <a:cubicBezTo>
                      <a:pt x="0" y="21322"/>
                      <a:pt x="21322" y="0"/>
                      <a:pt x="47625" y="0"/>
                    </a:cubicBezTo>
                    <a:cubicBezTo>
                      <a:pt x="73928" y="0"/>
                      <a:pt x="95250" y="21322"/>
                      <a:pt x="95250" y="47625"/>
                    </a:cubicBezTo>
                    <a:lnTo>
                      <a:pt x="95250" y="127000"/>
                    </a:lnTo>
                  </a:path>
                </a:pathLst>
              </a:custGeom>
              <a:noFill/>
              <a:ln w="23813">
                <a:solidFill>
                  <a:srgbClr val="FA421D"/>
                </a:solidFill>
              </a:ln>
            </p:spPr>
          </p:sp>
        </p:grpSp>
        <p:sp>
          <p:nvSpPr>
            <p:cNvPr id="72" name="TextBox 72"/>
            <p:cNvSpPr txBox="1"/>
            <p:nvPr/>
          </p:nvSpPr>
          <p:spPr>
            <a:xfrm>
              <a:off x="10944530" y="4520565"/>
              <a:ext cx="549859" cy="645414"/>
            </a:xfrm>
            <a:prstGeom prst="rect">
              <a:avLst/>
            </a:prstGeom>
            <a:noFill/>
            <a:ln>
              <a:noFill/>
            </a:ln>
          </p:spPr>
          <p:txBody>
            <a:bodyPr wrap="none" lIns="0" tIns="0" rIns="0" bIns="0" anchor="t" anchorCtr="0">
              <a:spAutoFit/>
            </a:bodyPr>
            <a:lstStyle/>
            <a:p>
              <a:pPr algn="r"/>
              <a:r>
                <a:rPr lang="zh-CN" sz="3300" dirty="0">
                  <a:solidFill>
                    <a:srgbClr val="FCC4B9"/>
                  </a:solidFill>
                  <a:latin typeface="+mj-lt"/>
                  <a:ea typeface="+mj-ea"/>
                  <a:cs typeface="+mj-cs"/>
                </a:rPr>
                <a:t>03</a:t>
              </a:r>
            </a:p>
          </p:txBody>
        </p:sp>
        <p:sp>
          <p:nvSpPr>
            <p:cNvPr id="73" name="TextBox 73"/>
            <p:cNvSpPr txBox="1"/>
            <p:nvPr/>
          </p:nvSpPr>
          <p:spPr>
            <a:xfrm>
              <a:off x="9776650" y="5027295"/>
              <a:ext cx="1705737" cy="176212"/>
            </a:xfrm>
            <a:prstGeom prst="rect">
              <a:avLst/>
            </a:prstGeom>
            <a:noFill/>
            <a:ln>
              <a:noFill/>
            </a:ln>
          </p:spPr>
          <p:txBody>
            <a:bodyPr wrap="none" lIns="0" tIns="0" rIns="0" bIns="0" anchor="t" anchorCtr="0">
              <a:spAutoFit/>
            </a:bodyPr>
            <a:lstStyle/>
            <a:p>
              <a:pPr algn="r"/>
              <a:r>
                <a:rPr lang="zh-CN" sz="900" dirty="0">
                  <a:solidFill>
                    <a:srgbClr val="3D241F"/>
                  </a:solidFill>
                  <a:latin typeface="+mn-lt"/>
                  <a:ea typeface="+mn-ea"/>
                  <a:cs typeface="+mn-cs"/>
                </a:rPr>
                <a:t>只有对产品感兴趣的用户会继续</a:t>
              </a:r>
            </a:p>
          </p:txBody>
        </p:sp>
      </p:grpSp>
      <p:grpSp>
        <p:nvGrpSpPr>
          <p:cNvPr id="78" name="takeaway-ribbon"/>
          <p:cNvGrpSpPr/>
          <p:nvPr/>
        </p:nvGrpSpPr>
        <p:grpSpPr>
          <a:xfrm>
            <a:off x="571500" y="5829300"/>
            <a:ext cx="11049000" cy="838200"/>
            <a:chOff x="571500" y="5829300"/>
            <a:chExt cx="11049000" cy="838200"/>
          </a:xfrm>
        </p:grpSpPr>
        <p:sp>
          <p:nvSpPr>
            <p:cNvPr id="75" name="Freeform 75"/>
            <p:cNvSpPr/>
            <p:nvPr/>
          </p:nvSpPr>
          <p:spPr>
            <a:xfrm>
              <a:off x="571500" y="6096000"/>
              <a:ext cx="11049000" cy="571500"/>
            </a:xfrm>
            <a:prstGeom prst="trapezoid">
              <a:avLst>
                <a:gd name="adj" fmla="val 50000"/>
              </a:avLst>
            </a:prstGeom>
            <a:solidFill>
              <a:srgbClr val="FBD2C9"/>
            </a:solidFill>
            <a:ln>
              <a:noFill/>
            </a:ln>
          </p:spPr>
        </p:sp>
        <p:sp>
          <p:nvSpPr>
            <p:cNvPr id="76" name="Rectangle 76"/>
            <p:cNvSpPr/>
            <p:nvPr/>
          </p:nvSpPr>
          <p:spPr>
            <a:xfrm>
              <a:off x="857250" y="5829300"/>
              <a:ext cx="10477500" cy="533400"/>
            </a:xfrm>
            <a:prstGeom prst="roundRect">
              <a:avLst>
                <a:gd name="adj" fmla="val 7143"/>
              </a:avLst>
            </a:prstGeom>
            <a:gradFill>
              <a:gsLst>
                <a:gs pos="0">
                  <a:srgbClr val="FA421D"/>
                </a:gs>
                <a:gs pos="100000">
                  <a:srgbClr val="D22C0A"/>
                </a:gs>
              </a:gsLst>
              <a:lin ang="5400000" scaled="1"/>
            </a:gradFill>
            <a:ln>
              <a:noFill/>
            </a:ln>
          </p:spPr>
        </p:sp>
        <p:sp>
          <p:nvSpPr>
            <p:cNvPr id="77" name="TextBox 77"/>
            <p:cNvSpPr txBox="1"/>
            <p:nvPr/>
          </p:nvSpPr>
          <p:spPr>
            <a:xfrm>
              <a:off x="2384781" y="6025039"/>
              <a:ext cx="7422439"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我们可以使用漏斗模型来跟踪和分析用户在每个步骤的转化率，以及发现可能存在的问题和改进点</a:t>
              </a:r>
            </a:p>
          </p:txBody>
        </p:sp>
      </p:gr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root-shadow"/>
          <p:cNvSpPr/>
          <p:nvPr/>
        </p:nvSpPr>
        <p:spPr>
          <a:xfrm>
            <a:off x="514350" y="6076950"/>
            <a:ext cx="2095500" cy="266700"/>
          </a:xfrm>
          <a:prstGeom prst="ellipse">
            <a:avLst/>
          </a:prstGeom>
          <a:solidFill>
            <a:srgbClr val="FBD2C9">
              <a:alpha val="70000"/>
            </a:srgbClr>
          </a:solidFill>
          <a:ln>
            <a:noFill/>
          </a:ln>
        </p:spPr>
      </p:sp>
      <p:sp>
        <p:nvSpPr>
          <p:cNvPr id="3" name="deco-root-port"/>
          <p:cNvSpPr/>
          <p:nvPr/>
        </p:nvSpPr>
        <p:spPr>
          <a:xfrm>
            <a:off x="2457450" y="1866900"/>
            <a:ext cx="76200" cy="76200"/>
          </a:xfrm>
          <a:prstGeom prst="ellipse">
            <a:avLst/>
          </a:prstGeom>
          <a:solidFill>
            <a:srgbClr val="FFFFFF"/>
          </a:solidFill>
          <a:ln w="14288">
            <a:solidFill>
              <a:srgbClr val="FA421D"/>
            </a:solidFill>
          </a:ln>
        </p:spPr>
      </p:sp>
      <p:sp>
        <p:nvSpPr>
          <p:cNvPr id="4" name="Line 4"/>
          <p:cNvSpPr/>
          <p:nvPr/>
        </p:nvSpPr>
        <p:spPr>
          <a:xfrm>
            <a:off x="2533650" y="1905000"/>
            <a:ext cx="723900" cy="9525"/>
          </a:xfrm>
          <a:custGeom>
            <a:avLst/>
            <a:gdLst/>
            <a:ahLst/>
            <a:cxnLst/>
            <a:rect l="l" t="t" r="r" b="b"/>
            <a:pathLst>
              <a:path w="723900" h="9525">
                <a:moveTo>
                  <a:pt x="0" y="0"/>
                </a:moveTo>
                <a:lnTo>
                  <a:pt x="723900" y="0"/>
                </a:lnTo>
              </a:path>
            </a:pathLst>
          </a:custGeom>
          <a:noFill/>
          <a:ln w="14288">
            <a:solidFill>
              <a:srgbClr val="FA421D"/>
            </a:solidFill>
            <a:custDash>
              <a:ds d="200000" sp="200000"/>
            </a:custDash>
          </a:ln>
        </p:spPr>
      </p:sp>
      <p:sp>
        <p:nvSpPr>
          <p:cNvPr id="5" name="Line 5"/>
          <p:cNvSpPr/>
          <p:nvPr/>
        </p:nvSpPr>
        <p:spPr>
          <a:xfrm>
            <a:off x="2857500" y="1905000"/>
            <a:ext cx="9525" cy="1104900"/>
          </a:xfrm>
          <a:custGeom>
            <a:avLst/>
            <a:gdLst/>
            <a:ahLst/>
            <a:cxnLst/>
            <a:rect l="l" t="t" r="r" b="b"/>
            <a:pathLst>
              <a:path w="9525" h="1104900">
                <a:moveTo>
                  <a:pt x="0" y="0"/>
                </a:moveTo>
                <a:lnTo>
                  <a:pt x="0" y="1104900"/>
                </a:lnTo>
              </a:path>
            </a:pathLst>
          </a:custGeom>
          <a:noFill/>
          <a:ln w="14288">
            <a:solidFill>
              <a:srgbClr val="FA421D"/>
            </a:solidFill>
            <a:custDash>
              <a:ds d="200000" sp="200000"/>
            </a:custDash>
          </a:ln>
        </p:spPr>
      </p:sp>
      <p:sp>
        <p:nvSpPr>
          <p:cNvPr id="6" name="Line 6"/>
          <p:cNvSpPr/>
          <p:nvPr/>
        </p:nvSpPr>
        <p:spPr>
          <a:xfrm>
            <a:off x="2857500" y="3009900"/>
            <a:ext cx="400050" cy="9525"/>
          </a:xfrm>
          <a:custGeom>
            <a:avLst/>
            <a:gdLst/>
            <a:ahLst/>
            <a:cxnLst/>
            <a:rect l="l" t="t" r="r" b="b"/>
            <a:pathLst>
              <a:path w="400050" h="9525">
                <a:moveTo>
                  <a:pt x="0" y="0"/>
                </a:moveTo>
                <a:lnTo>
                  <a:pt x="400050" y="0"/>
                </a:lnTo>
              </a:path>
            </a:pathLst>
          </a:custGeom>
          <a:noFill/>
          <a:ln w="14288">
            <a:solidFill>
              <a:srgbClr val="FA421D"/>
            </a:solidFill>
            <a:custDash>
              <a:ds d="200000" sp="200000"/>
            </a:custDash>
          </a:ln>
        </p:spPr>
      </p:sp>
      <p:sp>
        <p:nvSpPr>
          <p:cNvPr id="7" name="Line 7"/>
          <p:cNvSpPr/>
          <p:nvPr/>
        </p:nvSpPr>
        <p:spPr>
          <a:xfrm>
            <a:off x="5448300" y="3009900"/>
            <a:ext cx="9525" cy="1047750"/>
          </a:xfrm>
          <a:custGeom>
            <a:avLst/>
            <a:gdLst/>
            <a:ahLst/>
            <a:cxnLst/>
            <a:rect l="l" t="t" r="r" b="b"/>
            <a:pathLst>
              <a:path w="9525" h="1047750">
                <a:moveTo>
                  <a:pt x="0" y="0"/>
                </a:moveTo>
                <a:lnTo>
                  <a:pt x="0" y="1047750"/>
                </a:lnTo>
              </a:path>
            </a:pathLst>
          </a:custGeom>
          <a:noFill/>
          <a:ln w="14288">
            <a:solidFill>
              <a:srgbClr val="FA421D"/>
            </a:solidFill>
            <a:custDash>
              <a:ds d="200000" sp="200000"/>
            </a:custDash>
          </a:ln>
        </p:spPr>
      </p:sp>
      <p:sp>
        <p:nvSpPr>
          <p:cNvPr id="8" name="Line 8"/>
          <p:cNvSpPr/>
          <p:nvPr/>
        </p:nvSpPr>
        <p:spPr>
          <a:xfrm>
            <a:off x="5448300" y="4057650"/>
            <a:ext cx="381000" cy="9525"/>
          </a:xfrm>
          <a:custGeom>
            <a:avLst/>
            <a:gdLst/>
            <a:ahLst/>
            <a:cxnLst/>
            <a:rect l="l" t="t" r="r" b="b"/>
            <a:pathLst>
              <a:path w="381000" h="9525">
                <a:moveTo>
                  <a:pt x="0" y="0"/>
                </a:moveTo>
                <a:lnTo>
                  <a:pt x="381000" y="0"/>
                </a:lnTo>
              </a:path>
            </a:pathLst>
          </a:custGeom>
          <a:noFill/>
          <a:ln w="14288">
            <a:solidFill>
              <a:srgbClr val="FA421D"/>
            </a:solidFill>
            <a:custDash>
              <a:ds d="200000" sp="200000"/>
            </a:custDash>
          </a:ln>
        </p:spPr>
      </p:sp>
      <p:sp>
        <p:nvSpPr>
          <p:cNvPr id="9" name="Line 9"/>
          <p:cNvSpPr/>
          <p:nvPr/>
        </p:nvSpPr>
        <p:spPr>
          <a:xfrm>
            <a:off x="7762875" y="4057650"/>
            <a:ext cx="9525" cy="990600"/>
          </a:xfrm>
          <a:custGeom>
            <a:avLst/>
            <a:gdLst/>
            <a:ahLst/>
            <a:cxnLst/>
            <a:rect l="l" t="t" r="r" b="b"/>
            <a:pathLst>
              <a:path w="9525" h="990600">
                <a:moveTo>
                  <a:pt x="0" y="0"/>
                </a:moveTo>
                <a:lnTo>
                  <a:pt x="0" y="990600"/>
                </a:lnTo>
              </a:path>
            </a:pathLst>
          </a:custGeom>
          <a:noFill/>
          <a:ln w="14288">
            <a:solidFill>
              <a:srgbClr val="FA421D"/>
            </a:solidFill>
            <a:custDash>
              <a:ds d="200000" sp="200000"/>
            </a:custDash>
          </a:ln>
        </p:spPr>
      </p:sp>
      <p:sp>
        <p:nvSpPr>
          <p:cNvPr id="10" name="Line 10"/>
          <p:cNvSpPr/>
          <p:nvPr/>
        </p:nvSpPr>
        <p:spPr>
          <a:xfrm>
            <a:off x="7762875" y="5048250"/>
            <a:ext cx="352425" cy="9525"/>
          </a:xfrm>
          <a:custGeom>
            <a:avLst/>
            <a:gdLst/>
            <a:ahLst/>
            <a:cxnLst/>
            <a:rect l="l" t="t" r="r" b="b"/>
            <a:pathLst>
              <a:path w="352425" h="9525">
                <a:moveTo>
                  <a:pt x="0" y="0"/>
                </a:moveTo>
                <a:lnTo>
                  <a:pt x="352425" y="0"/>
                </a:lnTo>
              </a:path>
            </a:pathLst>
          </a:custGeom>
          <a:noFill/>
          <a:ln w="14288">
            <a:solidFill>
              <a:srgbClr val="FA421D"/>
            </a:solidFill>
            <a:custDash>
              <a:ds d="200000" sp="200000"/>
            </a:custDash>
          </a:ln>
        </p:spPr>
      </p:sp>
      <p:grpSp>
        <p:nvGrpSpPr>
          <p:cNvPr id="15" name="header"/>
          <p:cNvGrpSpPr/>
          <p:nvPr/>
        </p:nvGrpSpPr>
        <p:grpSpPr>
          <a:xfrm>
            <a:off x="0" y="0"/>
            <a:ext cx="12192000" cy="551879"/>
            <a:chOff x="0" y="0"/>
            <a:chExt cx="12192000" cy="551879"/>
          </a:xfrm>
        </p:grpSpPr>
        <p:sp>
          <p:nvSpPr>
            <p:cNvPr id="11" name="Polygon 11"/>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12" name="TextBox 12"/>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18</a:t>
              </a:r>
            </a:p>
          </p:txBody>
        </p:sp>
        <p:sp>
          <p:nvSpPr>
            <p:cNvPr id="13" name="TextBox 13"/>
            <p:cNvSpPr txBox="1"/>
            <p:nvPr/>
          </p:nvSpPr>
          <p:spPr>
            <a:xfrm>
              <a:off x="904494" y="170498"/>
              <a:ext cx="2382393"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教育培训企业架构图</a:t>
              </a:r>
            </a:p>
          </p:txBody>
        </p:sp>
        <p:sp>
          <p:nvSpPr>
            <p:cNvPr id="14" name="Line 14"/>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8" name="root-organizer"/>
          <p:cNvGrpSpPr/>
          <p:nvPr/>
        </p:nvGrpSpPr>
        <p:grpSpPr>
          <a:xfrm>
            <a:off x="704850" y="1524000"/>
            <a:ext cx="1714500" cy="4457700"/>
            <a:chOff x="704850" y="1524000"/>
            <a:chExt cx="1714500" cy="4457700"/>
          </a:xfrm>
        </p:grpSpPr>
        <p:sp>
          <p:nvSpPr>
            <p:cNvPr id="16" name="Rectangle 16"/>
            <p:cNvSpPr/>
            <p:nvPr/>
          </p:nvSpPr>
          <p:spPr>
            <a:xfrm>
              <a:off x="704850" y="1524000"/>
              <a:ext cx="1714500" cy="4457700"/>
            </a:xfrm>
            <a:prstGeom prst="roundRect">
              <a:avLst>
                <a:gd name="adj" fmla="val 7778"/>
              </a:avLst>
            </a:prstGeom>
            <a:gradFill>
              <a:gsLst>
                <a:gs pos="0">
                  <a:srgbClr val="FB684A"/>
                </a:gs>
                <a:gs pos="100000">
                  <a:srgbClr val="FA421D"/>
                </a:gs>
              </a:gsLst>
              <a:lin ang="5400000" scaled="1"/>
            </a:gradFill>
            <a:ln>
              <a:noFill/>
            </a:ln>
          </p:spPr>
        </p:sp>
        <p:sp>
          <p:nvSpPr>
            <p:cNvPr id="17" name="TextBox 17"/>
            <p:cNvSpPr txBox="1"/>
            <p:nvPr/>
          </p:nvSpPr>
          <p:spPr>
            <a:xfrm>
              <a:off x="1096328" y="3614738"/>
              <a:ext cx="931545"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n-lt"/>
                  <a:ea typeface="+mn-ea"/>
                  <a:cs typeface="+mn-cs"/>
                </a:rPr>
                <a:t>主办方</a:t>
              </a:r>
            </a:p>
          </p:txBody>
        </p:sp>
      </p:grpSp>
      <p:grpSp>
        <p:nvGrpSpPr>
          <p:cNvPr id="28" name="row-organizer"/>
          <p:cNvGrpSpPr/>
          <p:nvPr/>
        </p:nvGrpSpPr>
        <p:grpSpPr>
          <a:xfrm>
            <a:off x="3257550" y="1619250"/>
            <a:ext cx="5886450" cy="571500"/>
            <a:chOff x="3257550" y="1619250"/>
            <a:chExt cx="5886450" cy="571500"/>
          </a:xfrm>
        </p:grpSpPr>
        <p:sp>
          <p:nvSpPr>
            <p:cNvPr id="19" name="Rectangle 19"/>
            <p:cNvSpPr/>
            <p:nvPr/>
          </p:nvSpPr>
          <p:spPr>
            <a:xfrm>
              <a:off x="3257550" y="1619250"/>
              <a:ext cx="1809750" cy="571500"/>
            </a:xfrm>
            <a:prstGeom prst="roundRect">
              <a:avLst>
                <a:gd name="adj" fmla="val 50000"/>
              </a:avLst>
            </a:prstGeom>
            <a:gradFill>
              <a:gsLst>
                <a:gs pos="0">
                  <a:srgbClr val="FA421D"/>
                </a:gs>
                <a:gs pos="100000">
                  <a:srgbClr val="D22C0A"/>
                </a:gs>
              </a:gsLst>
              <a:lin ang="5400000" scaled="1"/>
            </a:gradFill>
            <a:ln>
              <a:noFill/>
            </a:ln>
          </p:spPr>
        </p:sp>
        <p:sp>
          <p:nvSpPr>
            <p:cNvPr id="20" name="TextBox 20"/>
            <p:cNvSpPr txBox="1"/>
            <p:nvPr/>
          </p:nvSpPr>
          <p:spPr>
            <a:xfrm>
              <a:off x="3897478" y="1834039"/>
              <a:ext cx="529895"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主办方</a:t>
              </a:r>
            </a:p>
          </p:txBody>
        </p:sp>
        <p:sp>
          <p:nvSpPr>
            <p:cNvPr id="21" name="Ellipse 21"/>
            <p:cNvSpPr/>
            <p:nvPr/>
          </p:nvSpPr>
          <p:spPr>
            <a:xfrm>
              <a:off x="5086350" y="1866900"/>
              <a:ext cx="76200" cy="76200"/>
            </a:xfrm>
            <a:prstGeom prst="ellipse">
              <a:avLst/>
            </a:prstGeom>
            <a:solidFill>
              <a:srgbClr val="FA421D"/>
            </a:solidFill>
            <a:ln>
              <a:noFill/>
            </a:ln>
          </p:spPr>
        </p:sp>
        <p:sp>
          <p:nvSpPr>
            <p:cNvPr id="22" name="Line 22"/>
            <p:cNvSpPr/>
            <p:nvPr/>
          </p:nvSpPr>
          <p:spPr>
            <a:xfrm>
              <a:off x="5162550" y="1905000"/>
              <a:ext cx="609600" cy="9525"/>
            </a:xfrm>
            <a:custGeom>
              <a:avLst/>
              <a:gdLst/>
              <a:ahLst/>
              <a:cxnLst/>
              <a:rect l="l" t="t" r="r" b="b"/>
              <a:pathLst>
                <a:path w="609600" h="9525">
                  <a:moveTo>
                    <a:pt x="0" y="0"/>
                  </a:moveTo>
                  <a:lnTo>
                    <a:pt x="609600" y="0"/>
                  </a:lnTo>
                </a:path>
              </a:pathLst>
            </a:custGeom>
            <a:noFill/>
            <a:ln w="14288">
              <a:solidFill>
                <a:srgbClr val="FA421D"/>
              </a:solidFill>
              <a:custDash>
                <a:ds d="200000" sp="200000"/>
              </a:custDash>
            </a:ln>
          </p:spPr>
        </p:sp>
        <p:sp>
          <p:nvSpPr>
            <p:cNvPr id="23" name="Ellipse 23"/>
            <p:cNvSpPr/>
            <p:nvPr/>
          </p:nvSpPr>
          <p:spPr>
            <a:xfrm>
              <a:off x="5734050" y="1866900"/>
              <a:ext cx="76200" cy="76200"/>
            </a:xfrm>
            <a:prstGeom prst="ellipse">
              <a:avLst/>
            </a:prstGeom>
            <a:solidFill>
              <a:srgbClr val="FFFFFF"/>
            </a:solidFill>
            <a:ln w="14288">
              <a:solidFill>
                <a:srgbClr val="FA421D"/>
              </a:solidFill>
            </a:ln>
          </p:spPr>
        </p:sp>
        <p:sp>
          <p:nvSpPr>
            <p:cNvPr id="24" name="Rectangle 24"/>
            <p:cNvSpPr/>
            <p:nvPr/>
          </p:nvSpPr>
          <p:spPr>
            <a:xfrm>
              <a:off x="5829300" y="1619250"/>
              <a:ext cx="1581150" cy="571500"/>
            </a:xfrm>
            <a:prstGeom prst="roundRect">
              <a:avLst>
                <a:gd name="adj" fmla="val 50000"/>
              </a:avLst>
            </a:prstGeom>
            <a:solidFill>
              <a:srgbClr val="FDA28F"/>
            </a:solidFill>
            <a:ln>
              <a:noFill/>
            </a:ln>
          </p:spPr>
        </p:sp>
        <p:sp>
          <p:nvSpPr>
            <p:cNvPr id="25" name="TextBox 25"/>
            <p:cNvSpPr txBox="1"/>
            <p:nvPr/>
          </p:nvSpPr>
          <p:spPr>
            <a:xfrm>
              <a:off x="6290691" y="1842135"/>
              <a:ext cx="658368"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来宾邀请</a:t>
              </a:r>
            </a:p>
          </p:txBody>
        </p:sp>
        <p:sp>
          <p:nvSpPr>
            <p:cNvPr id="26" name="Rectangle 26"/>
            <p:cNvSpPr/>
            <p:nvPr/>
          </p:nvSpPr>
          <p:spPr>
            <a:xfrm>
              <a:off x="7562850" y="1619250"/>
              <a:ext cx="1581150" cy="571500"/>
            </a:xfrm>
            <a:prstGeom prst="roundRect">
              <a:avLst>
                <a:gd name="adj" fmla="val 50000"/>
              </a:avLst>
            </a:prstGeom>
            <a:solidFill>
              <a:srgbClr val="FDA28F"/>
            </a:solidFill>
            <a:ln>
              <a:noFill/>
            </a:ln>
          </p:spPr>
        </p:sp>
        <p:sp>
          <p:nvSpPr>
            <p:cNvPr id="27" name="TextBox 27"/>
            <p:cNvSpPr txBox="1"/>
            <p:nvPr/>
          </p:nvSpPr>
          <p:spPr>
            <a:xfrm>
              <a:off x="8024241" y="1842135"/>
              <a:ext cx="658368"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统筹协调</a:t>
              </a:r>
            </a:p>
          </p:txBody>
        </p:sp>
      </p:grpSp>
      <p:grpSp>
        <p:nvGrpSpPr>
          <p:cNvPr id="43" name="row-nanjing-pr"/>
          <p:cNvGrpSpPr/>
          <p:nvPr/>
        </p:nvGrpSpPr>
        <p:grpSpPr>
          <a:xfrm>
            <a:off x="3257550" y="2724150"/>
            <a:ext cx="8172450" cy="571500"/>
            <a:chOff x="3257550" y="2724150"/>
            <a:chExt cx="8172450" cy="571500"/>
          </a:xfrm>
        </p:grpSpPr>
        <p:sp>
          <p:nvSpPr>
            <p:cNvPr id="29" name="Rectangle 29"/>
            <p:cNvSpPr/>
            <p:nvPr/>
          </p:nvSpPr>
          <p:spPr>
            <a:xfrm>
              <a:off x="3257550" y="2724150"/>
              <a:ext cx="1809750" cy="571500"/>
            </a:xfrm>
            <a:prstGeom prst="roundRect">
              <a:avLst>
                <a:gd name="adj" fmla="val 50000"/>
              </a:avLst>
            </a:prstGeom>
            <a:gradFill>
              <a:gsLst>
                <a:gs pos="0">
                  <a:srgbClr val="FA421D"/>
                </a:gs>
                <a:gs pos="100000">
                  <a:srgbClr val="D22C0A"/>
                </a:gs>
              </a:gsLst>
              <a:lin ang="5400000" scaled="1"/>
            </a:gradFill>
            <a:ln>
              <a:noFill/>
            </a:ln>
          </p:spPr>
        </p:sp>
        <p:sp>
          <p:nvSpPr>
            <p:cNvPr id="30" name="TextBox 30"/>
            <p:cNvSpPr txBox="1"/>
            <p:nvPr/>
          </p:nvSpPr>
          <p:spPr>
            <a:xfrm>
              <a:off x="3704387" y="2955131"/>
              <a:ext cx="916076"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南京合禾视觉</a:t>
              </a:r>
            </a:p>
          </p:txBody>
        </p:sp>
        <p:sp>
          <p:nvSpPr>
            <p:cNvPr id="31" name="Ellipse 31"/>
            <p:cNvSpPr/>
            <p:nvPr/>
          </p:nvSpPr>
          <p:spPr>
            <a:xfrm>
              <a:off x="5086350" y="2971800"/>
              <a:ext cx="76200" cy="76200"/>
            </a:xfrm>
            <a:prstGeom prst="ellipse">
              <a:avLst/>
            </a:prstGeom>
            <a:solidFill>
              <a:srgbClr val="FA421D"/>
            </a:solidFill>
            <a:ln>
              <a:noFill/>
            </a:ln>
          </p:spPr>
        </p:sp>
        <p:sp>
          <p:nvSpPr>
            <p:cNvPr id="32" name="Line 32"/>
            <p:cNvSpPr/>
            <p:nvPr/>
          </p:nvSpPr>
          <p:spPr>
            <a:xfrm>
              <a:off x="5162550" y="3009900"/>
              <a:ext cx="609600" cy="9525"/>
            </a:xfrm>
            <a:custGeom>
              <a:avLst/>
              <a:gdLst/>
              <a:ahLst/>
              <a:cxnLst/>
              <a:rect l="l" t="t" r="r" b="b"/>
              <a:pathLst>
                <a:path w="609600" h="9525">
                  <a:moveTo>
                    <a:pt x="0" y="0"/>
                  </a:moveTo>
                  <a:lnTo>
                    <a:pt x="609600" y="0"/>
                  </a:lnTo>
                </a:path>
              </a:pathLst>
            </a:custGeom>
            <a:noFill/>
            <a:ln w="14288">
              <a:solidFill>
                <a:srgbClr val="FA421D"/>
              </a:solidFill>
              <a:custDash>
                <a:ds d="200000" sp="200000"/>
              </a:custDash>
            </a:ln>
          </p:spPr>
        </p:sp>
        <p:sp>
          <p:nvSpPr>
            <p:cNvPr id="33" name="Ellipse 33"/>
            <p:cNvSpPr/>
            <p:nvPr/>
          </p:nvSpPr>
          <p:spPr>
            <a:xfrm>
              <a:off x="5734050" y="2971800"/>
              <a:ext cx="76200" cy="76200"/>
            </a:xfrm>
            <a:prstGeom prst="ellipse">
              <a:avLst/>
            </a:prstGeom>
            <a:solidFill>
              <a:srgbClr val="FFFFFF"/>
            </a:solidFill>
            <a:ln w="14288">
              <a:solidFill>
                <a:srgbClr val="FA421D"/>
              </a:solidFill>
            </a:ln>
          </p:spPr>
        </p:sp>
        <p:sp>
          <p:nvSpPr>
            <p:cNvPr id="34" name="Rectangle 34"/>
            <p:cNvSpPr/>
            <p:nvPr/>
          </p:nvSpPr>
          <p:spPr>
            <a:xfrm>
              <a:off x="5829300" y="2724150"/>
              <a:ext cx="1581150" cy="571500"/>
            </a:xfrm>
            <a:prstGeom prst="roundRect">
              <a:avLst>
                <a:gd name="adj" fmla="val 50000"/>
              </a:avLst>
            </a:prstGeom>
            <a:solidFill>
              <a:srgbClr val="FB684A"/>
            </a:solidFill>
            <a:ln>
              <a:noFill/>
            </a:ln>
          </p:spPr>
        </p:sp>
        <p:sp>
          <p:nvSpPr>
            <p:cNvPr id="35" name="TextBox 35"/>
            <p:cNvSpPr txBox="1"/>
            <p:nvPr/>
          </p:nvSpPr>
          <p:spPr>
            <a:xfrm>
              <a:off x="6290691" y="2947035"/>
              <a:ext cx="658368"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公关管理</a:t>
              </a:r>
            </a:p>
          </p:txBody>
        </p:sp>
        <p:sp>
          <p:nvSpPr>
            <p:cNvPr id="36" name="Ellipse 36"/>
            <p:cNvSpPr/>
            <p:nvPr/>
          </p:nvSpPr>
          <p:spPr>
            <a:xfrm>
              <a:off x="7429500" y="2971800"/>
              <a:ext cx="76200" cy="76200"/>
            </a:xfrm>
            <a:prstGeom prst="ellipse">
              <a:avLst/>
            </a:prstGeom>
            <a:solidFill>
              <a:srgbClr val="FA421D"/>
            </a:solidFill>
            <a:ln>
              <a:noFill/>
            </a:ln>
          </p:spPr>
        </p:sp>
        <p:sp>
          <p:nvSpPr>
            <p:cNvPr id="37" name="Line 37"/>
            <p:cNvSpPr/>
            <p:nvPr/>
          </p:nvSpPr>
          <p:spPr>
            <a:xfrm>
              <a:off x="7505700" y="3009900"/>
              <a:ext cx="552450" cy="9525"/>
            </a:xfrm>
            <a:custGeom>
              <a:avLst/>
              <a:gdLst/>
              <a:ahLst/>
              <a:cxnLst/>
              <a:rect l="l" t="t" r="r" b="b"/>
              <a:pathLst>
                <a:path w="552450" h="9525">
                  <a:moveTo>
                    <a:pt x="0" y="0"/>
                  </a:moveTo>
                  <a:lnTo>
                    <a:pt x="552450" y="0"/>
                  </a:lnTo>
                </a:path>
              </a:pathLst>
            </a:custGeom>
            <a:noFill/>
            <a:ln w="14288">
              <a:solidFill>
                <a:srgbClr val="FA421D"/>
              </a:solidFill>
              <a:custDash>
                <a:ds d="200000" sp="200000"/>
              </a:custDash>
            </a:ln>
          </p:spPr>
        </p:sp>
        <p:sp>
          <p:nvSpPr>
            <p:cNvPr id="38" name="Ellipse 38"/>
            <p:cNvSpPr/>
            <p:nvPr/>
          </p:nvSpPr>
          <p:spPr>
            <a:xfrm>
              <a:off x="8020050" y="2971800"/>
              <a:ext cx="76200" cy="76200"/>
            </a:xfrm>
            <a:prstGeom prst="ellipse">
              <a:avLst/>
            </a:prstGeom>
            <a:solidFill>
              <a:srgbClr val="FFFFFF"/>
            </a:solidFill>
            <a:ln w="14288">
              <a:solidFill>
                <a:srgbClr val="FA421D"/>
              </a:solidFill>
            </a:ln>
          </p:spPr>
        </p:sp>
        <p:sp>
          <p:nvSpPr>
            <p:cNvPr id="39" name="Rectangle 39"/>
            <p:cNvSpPr/>
            <p:nvPr/>
          </p:nvSpPr>
          <p:spPr>
            <a:xfrm>
              <a:off x="8115300" y="2724150"/>
              <a:ext cx="1581150" cy="571500"/>
            </a:xfrm>
            <a:prstGeom prst="roundRect">
              <a:avLst>
                <a:gd name="adj" fmla="val 50000"/>
              </a:avLst>
            </a:prstGeom>
            <a:solidFill>
              <a:srgbClr val="FBD2C9"/>
            </a:solidFill>
            <a:ln>
              <a:noFill/>
            </a:ln>
          </p:spPr>
        </p:sp>
        <p:sp>
          <p:nvSpPr>
            <p:cNvPr id="40" name="TextBox 40"/>
            <p:cNvSpPr txBox="1"/>
            <p:nvPr/>
          </p:nvSpPr>
          <p:spPr>
            <a:xfrm>
              <a:off x="8576691" y="2947035"/>
              <a:ext cx="658368" cy="234696"/>
            </a:xfrm>
            <a:prstGeom prst="rect">
              <a:avLst/>
            </a:prstGeom>
            <a:noFill/>
            <a:ln>
              <a:noFill/>
            </a:ln>
          </p:spPr>
          <p:txBody>
            <a:bodyPr wrap="none" lIns="0" tIns="0" rIns="0" bIns="0" anchor="t" anchorCtr="0">
              <a:spAutoFit/>
            </a:bodyPr>
            <a:lstStyle/>
            <a:p>
              <a:pPr algn="ctr"/>
              <a:r>
                <a:rPr lang="zh-CN" sz="1200" dirty="0">
                  <a:solidFill>
                    <a:srgbClr val="D03B1D"/>
                  </a:solidFill>
                  <a:latin typeface="+mn-lt"/>
                  <a:ea typeface="+mn-ea"/>
                  <a:cs typeface="+mn-cs"/>
                </a:rPr>
                <a:t>活动总结</a:t>
              </a:r>
            </a:p>
          </p:txBody>
        </p:sp>
        <p:sp>
          <p:nvSpPr>
            <p:cNvPr id="41" name="Rectangle 41"/>
            <p:cNvSpPr/>
            <p:nvPr/>
          </p:nvSpPr>
          <p:spPr>
            <a:xfrm>
              <a:off x="9848850" y="2724150"/>
              <a:ext cx="1581150" cy="571500"/>
            </a:xfrm>
            <a:prstGeom prst="roundRect">
              <a:avLst>
                <a:gd name="adj" fmla="val 50000"/>
              </a:avLst>
            </a:prstGeom>
            <a:solidFill>
              <a:srgbClr val="FBD2C9"/>
            </a:solidFill>
            <a:ln>
              <a:noFill/>
            </a:ln>
          </p:spPr>
        </p:sp>
        <p:sp>
          <p:nvSpPr>
            <p:cNvPr id="42" name="TextBox 42"/>
            <p:cNvSpPr txBox="1"/>
            <p:nvPr/>
          </p:nvSpPr>
          <p:spPr>
            <a:xfrm>
              <a:off x="10310241" y="2947035"/>
              <a:ext cx="658368" cy="234696"/>
            </a:xfrm>
            <a:prstGeom prst="rect">
              <a:avLst/>
            </a:prstGeom>
            <a:noFill/>
            <a:ln>
              <a:noFill/>
            </a:ln>
          </p:spPr>
          <p:txBody>
            <a:bodyPr wrap="none" lIns="0" tIns="0" rIns="0" bIns="0" anchor="t" anchorCtr="0">
              <a:spAutoFit/>
            </a:bodyPr>
            <a:lstStyle/>
            <a:p>
              <a:pPr algn="ctr"/>
              <a:r>
                <a:rPr lang="zh-CN" sz="1200" dirty="0">
                  <a:solidFill>
                    <a:srgbClr val="D03B1D"/>
                  </a:solidFill>
                  <a:latin typeface="+mn-lt"/>
                  <a:ea typeface="+mn-ea"/>
                  <a:cs typeface="+mn-cs"/>
                </a:rPr>
                <a:t>报道监测</a:t>
              </a:r>
            </a:p>
          </p:txBody>
        </p:sp>
      </p:grpSp>
      <p:grpSp>
        <p:nvGrpSpPr>
          <p:cNvPr id="53" name="row-activity-mgmt"/>
          <p:cNvGrpSpPr/>
          <p:nvPr/>
        </p:nvGrpSpPr>
        <p:grpSpPr>
          <a:xfrm>
            <a:off x="5829300" y="3771900"/>
            <a:ext cx="5600700" cy="571500"/>
            <a:chOff x="5829300" y="3771900"/>
            <a:chExt cx="5600700" cy="571500"/>
          </a:xfrm>
        </p:grpSpPr>
        <p:sp>
          <p:nvSpPr>
            <p:cNvPr id="44" name="Rectangle 44"/>
            <p:cNvSpPr/>
            <p:nvPr/>
          </p:nvSpPr>
          <p:spPr>
            <a:xfrm>
              <a:off x="5829300" y="3771900"/>
              <a:ext cx="1581150" cy="571500"/>
            </a:xfrm>
            <a:prstGeom prst="roundRect">
              <a:avLst>
                <a:gd name="adj" fmla="val 50000"/>
              </a:avLst>
            </a:prstGeom>
            <a:solidFill>
              <a:srgbClr val="FB684A"/>
            </a:solidFill>
            <a:ln>
              <a:noFill/>
            </a:ln>
          </p:spPr>
        </p:sp>
        <p:sp>
          <p:nvSpPr>
            <p:cNvPr id="45" name="TextBox 45"/>
            <p:cNvSpPr txBox="1"/>
            <p:nvPr/>
          </p:nvSpPr>
          <p:spPr>
            <a:xfrm>
              <a:off x="6290691" y="3994785"/>
              <a:ext cx="658368"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活动管理</a:t>
              </a:r>
            </a:p>
          </p:txBody>
        </p:sp>
        <p:sp>
          <p:nvSpPr>
            <p:cNvPr id="46" name="Ellipse 46"/>
            <p:cNvSpPr/>
            <p:nvPr/>
          </p:nvSpPr>
          <p:spPr>
            <a:xfrm>
              <a:off x="7429500" y="4019550"/>
              <a:ext cx="76200" cy="76200"/>
            </a:xfrm>
            <a:prstGeom prst="ellipse">
              <a:avLst/>
            </a:prstGeom>
            <a:solidFill>
              <a:srgbClr val="FA421D"/>
            </a:solidFill>
            <a:ln>
              <a:noFill/>
            </a:ln>
          </p:spPr>
        </p:sp>
        <p:sp>
          <p:nvSpPr>
            <p:cNvPr id="47" name="Line 47"/>
            <p:cNvSpPr/>
            <p:nvPr/>
          </p:nvSpPr>
          <p:spPr>
            <a:xfrm>
              <a:off x="7505700" y="4057650"/>
              <a:ext cx="552450" cy="9525"/>
            </a:xfrm>
            <a:custGeom>
              <a:avLst/>
              <a:gdLst/>
              <a:ahLst/>
              <a:cxnLst/>
              <a:rect l="l" t="t" r="r" b="b"/>
              <a:pathLst>
                <a:path w="552450" h="9525">
                  <a:moveTo>
                    <a:pt x="0" y="0"/>
                  </a:moveTo>
                  <a:lnTo>
                    <a:pt x="552450" y="0"/>
                  </a:lnTo>
                </a:path>
              </a:pathLst>
            </a:custGeom>
            <a:noFill/>
            <a:ln w="14288">
              <a:solidFill>
                <a:srgbClr val="FA421D"/>
              </a:solidFill>
              <a:custDash>
                <a:ds d="200000" sp="200000"/>
              </a:custDash>
            </a:ln>
          </p:spPr>
        </p:sp>
        <p:sp>
          <p:nvSpPr>
            <p:cNvPr id="48" name="Ellipse 48"/>
            <p:cNvSpPr/>
            <p:nvPr/>
          </p:nvSpPr>
          <p:spPr>
            <a:xfrm>
              <a:off x="8020050" y="4019550"/>
              <a:ext cx="76200" cy="76200"/>
            </a:xfrm>
            <a:prstGeom prst="ellipse">
              <a:avLst/>
            </a:prstGeom>
            <a:solidFill>
              <a:srgbClr val="FFFFFF"/>
            </a:solidFill>
            <a:ln w="14288">
              <a:solidFill>
                <a:srgbClr val="FA421D"/>
              </a:solidFill>
            </a:ln>
          </p:spPr>
        </p:sp>
        <p:sp>
          <p:nvSpPr>
            <p:cNvPr id="49" name="Rectangle 49"/>
            <p:cNvSpPr/>
            <p:nvPr/>
          </p:nvSpPr>
          <p:spPr>
            <a:xfrm>
              <a:off x="8115300" y="3771900"/>
              <a:ext cx="1581150" cy="571500"/>
            </a:xfrm>
            <a:prstGeom prst="roundRect">
              <a:avLst>
                <a:gd name="adj" fmla="val 50000"/>
              </a:avLst>
            </a:prstGeom>
            <a:solidFill>
              <a:srgbClr val="FBD2C9"/>
            </a:solidFill>
            <a:ln>
              <a:noFill/>
            </a:ln>
          </p:spPr>
        </p:sp>
        <p:sp>
          <p:nvSpPr>
            <p:cNvPr id="50" name="TextBox 50"/>
            <p:cNvSpPr txBox="1"/>
            <p:nvPr/>
          </p:nvSpPr>
          <p:spPr>
            <a:xfrm>
              <a:off x="8576691" y="3994785"/>
              <a:ext cx="658368" cy="234696"/>
            </a:xfrm>
            <a:prstGeom prst="rect">
              <a:avLst/>
            </a:prstGeom>
            <a:noFill/>
            <a:ln>
              <a:noFill/>
            </a:ln>
          </p:spPr>
          <p:txBody>
            <a:bodyPr wrap="none" lIns="0" tIns="0" rIns="0" bIns="0" anchor="t" anchorCtr="0">
              <a:spAutoFit/>
            </a:bodyPr>
            <a:lstStyle/>
            <a:p>
              <a:pPr algn="ctr"/>
              <a:r>
                <a:rPr lang="zh-CN" sz="1200" dirty="0">
                  <a:solidFill>
                    <a:srgbClr val="D03B1D"/>
                  </a:solidFill>
                  <a:latin typeface="+mn-lt"/>
                  <a:ea typeface="+mn-ea"/>
                  <a:cs typeface="+mn-cs"/>
                </a:rPr>
                <a:t>活动管理</a:t>
              </a:r>
            </a:p>
          </p:txBody>
        </p:sp>
        <p:sp>
          <p:nvSpPr>
            <p:cNvPr id="51" name="Rectangle 51"/>
            <p:cNvSpPr/>
            <p:nvPr/>
          </p:nvSpPr>
          <p:spPr>
            <a:xfrm>
              <a:off x="9848850" y="3771900"/>
              <a:ext cx="1581150" cy="571500"/>
            </a:xfrm>
            <a:prstGeom prst="roundRect">
              <a:avLst>
                <a:gd name="adj" fmla="val 50000"/>
              </a:avLst>
            </a:prstGeom>
            <a:solidFill>
              <a:srgbClr val="FBD2C9"/>
            </a:solidFill>
            <a:ln>
              <a:noFill/>
            </a:ln>
          </p:spPr>
        </p:sp>
        <p:sp>
          <p:nvSpPr>
            <p:cNvPr id="52" name="TextBox 52"/>
            <p:cNvSpPr txBox="1"/>
            <p:nvPr/>
          </p:nvSpPr>
          <p:spPr>
            <a:xfrm>
              <a:off x="10310241" y="3994785"/>
              <a:ext cx="658368" cy="234696"/>
            </a:xfrm>
            <a:prstGeom prst="rect">
              <a:avLst/>
            </a:prstGeom>
            <a:noFill/>
            <a:ln>
              <a:noFill/>
            </a:ln>
          </p:spPr>
          <p:txBody>
            <a:bodyPr wrap="none" lIns="0" tIns="0" rIns="0" bIns="0" anchor="t" anchorCtr="0">
              <a:spAutoFit/>
            </a:bodyPr>
            <a:lstStyle/>
            <a:p>
              <a:pPr algn="ctr"/>
              <a:r>
                <a:rPr lang="zh-CN" sz="1200" dirty="0">
                  <a:solidFill>
                    <a:srgbClr val="D03B1D"/>
                  </a:solidFill>
                  <a:latin typeface="+mn-lt"/>
                  <a:ea typeface="+mn-ea"/>
                  <a:cs typeface="+mn-cs"/>
                </a:rPr>
                <a:t>来宾接待</a:t>
              </a:r>
            </a:p>
          </p:txBody>
        </p:sp>
      </p:grpSp>
      <p:grpSp>
        <p:nvGrpSpPr>
          <p:cNvPr id="59" name="row-materials"/>
          <p:cNvGrpSpPr/>
          <p:nvPr/>
        </p:nvGrpSpPr>
        <p:grpSpPr>
          <a:xfrm>
            <a:off x="8020050" y="4762500"/>
            <a:ext cx="3409950" cy="571500"/>
            <a:chOff x="8020050" y="4762500"/>
            <a:chExt cx="3409950" cy="571500"/>
          </a:xfrm>
        </p:grpSpPr>
        <p:sp>
          <p:nvSpPr>
            <p:cNvPr id="54" name="Ellipse 54"/>
            <p:cNvSpPr/>
            <p:nvPr/>
          </p:nvSpPr>
          <p:spPr>
            <a:xfrm>
              <a:off x="8020050" y="5010150"/>
              <a:ext cx="76200" cy="76200"/>
            </a:xfrm>
            <a:prstGeom prst="ellipse">
              <a:avLst/>
            </a:prstGeom>
            <a:solidFill>
              <a:srgbClr val="FFFFFF"/>
            </a:solidFill>
            <a:ln w="14288">
              <a:solidFill>
                <a:srgbClr val="FA421D"/>
              </a:solidFill>
            </a:ln>
          </p:spPr>
        </p:sp>
        <p:sp>
          <p:nvSpPr>
            <p:cNvPr id="55" name="Rectangle 55"/>
            <p:cNvSpPr/>
            <p:nvPr/>
          </p:nvSpPr>
          <p:spPr>
            <a:xfrm>
              <a:off x="8115300" y="4762500"/>
              <a:ext cx="1581150" cy="571500"/>
            </a:xfrm>
            <a:prstGeom prst="roundRect">
              <a:avLst>
                <a:gd name="adj" fmla="val 50000"/>
              </a:avLst>
            </a:prstGeom>
            <a:solidFill>
              <a:srgbClr val="FBD2C9"/>
            </a:solidFill>
            <a:ln>
              <a:noFill/>
            </a:ln>
          </p:spPr>
        </p:sp>
        <p:sp>
          <p:nvSpPr>
            <p:cNvPr id="56" name="TextBox 56"/>
            <p:cNvSpPr txBox="1"/>
            <p:nvPr/>
          </p:nvSpPr>
          <p:spPr>
            <a:xfrm>
              <a:off x="8576691" y="4985385"/>
              <a:ext cx="658368" cy="234696"/>
            </a:xfrm>
            <a:prstGeom prst="rect">
              <a:avLst/>
            </a:prstGeom>
            <a:noFill/>
            <a:ln>
              <a:noFill/>
            </a:ln>
          </p:spPr>
          <p:txBody>
            <a:bodyPr wrap="none" lIns="0" tIns="0" rIns="0" bIns="0" anchor="t" anchorCtr="0">
              <a:spAutoFit/>
            </a:bodyPr>
            <a:lstStyle/>
            <a:p>
              <a:pPr algn="ctr"/>
              <a:r>
                <a:rPr lang="zh-CN" sz="1200" dirty="0">
                  <a:solidFill>
                    <a:srgbClr val="D03B1D"/>
                  </a:solidFill>
                  <a:latin typeface="+mn-lt"/>
                  <a:ea typeface="+mn-ea"/>
                  <a:cs typeface="+mn-cs"/>
                </a:rPr>
                <a:t>物料搭建</a:t>
              </a:r>
            </a:p>
          </p:txBody>
        </p:sp>
        <p:sp>
          <p:nvSpPr>
            <p:cNvPr id="57" name="Rectangle 57"/>
            <p:cNvSpPr/>
            <p:nvPr/>
          </p:nvSpPr>
          <p:spPr>
            <a:xfrm>
              <a:off x="9848850" y="4762500"/>
              <a:ext cx="1581150" cy="571500"/>
            </a:xfrm>
            <a:prstGeom prst="roundRect">
              <a:avLst>
                <a:gd name="adj" fmla="val 50000"/>
              </a:avLst>
            </a:prstGeom>
            <a:solidFill>
              <a:srgbClr val="FBD2C9"/>
            </a:solidFill>
            <a:ln>
              <a:noFill/>
            </a:ln>
          </p:spPr>
        </p:sp>
        <p:sp>
          <p:nvSpPr>
            <p:cNvPr id="58" name="TextBox 58"/>
            <p:cNvSpPr txBox="1"/>
            <p:nvPr/>
          </p:nvSpPr>
          <p:spPr>
            <a:xfrm>
              <a:off x="10310241" y="4985385"/>
              <a:ext cx="658368" cy="234696"/>
            </a:xfrm>
            <a:prstGeom prst="rect">
              <a:avLst/>
            </a:prstGeom>
            <a:noFill/>
            <a:ln>
              <a:noFill/>
            </a:ln>
          </p:spPr>
          <p:txBody>
            <a:bodyPr wrap="none" lIns="0" tIns="0" rIns="0" bIns="0" anchor="t" anchorCtr="0">
              <a:spAutoFit/>
            </a:bodyPr>
            <a:lstStyle/>
            <a:p>
              <a:pPr algn="ctr"/>
              <a:r>
                <a:rPr lang="zh-CN" sz="1200" dirty="0">
                  <a:solidFill>
                    <a:srgbClr val="D03B1D"/>
                  </a:solidFill>
                  <a:latin typeface="+mn-lt"/>
                  <a:ea typeface="+mn-ea"/>
                  <a:cs typeface="+mn-cs"/>
                </a:rPr>
                <a:t>现场执行</a:t>
              </a:r>
            </a:p>
          </p:txBody>
        </p:sp>
      </p:gr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orbit-outer"/>
          <p:cNvSpPr/>
          <p:nvPr/>
        </p:nvSpPr>
        <p:spPr>
          <a:xfrm>
            <a:off x="2000250" y="-647700"/>
            <a:ext cx="8191500" cy="8191500"/>
          </a:xfrm>
          <a:prstGeom prst="ellipse">
            <a:avLst/>
          </a:prstGeom>
          <a:noFill/>
          <a:ln w="19050">
            <a:solidFill>
              <a:srgbClr val="DCE9FC"/>
            </a:solidFill>
          </a:ln>
        </p:spPr>
      </p:sp>
      <p:sp>
        <p:nvSpPr>
          <p:cNvPr id="3" name="deco-glow-outer"/>
          <p:cNvSpPr/>
          <p:nvPr/>
        </p:nvSpPr>
        <p:spPr>
          <a:xfrm>
            <a:off x="3810000" y="1162050"/>
            <a:ext cx="4572000" cy="4572000"/>
          </a:xfrm>
          <a:prstGeom prst="ellipse">
            <a:avLst/>
          </a:prstGeom>
          <a:solidFill>
            <a:srgbClr val="DCE9FC">
              <a:alpha val="35000"/>
            </a:srgbClr>
          </a:solidFill>
          <a:ln>
            <a:noFill/>
          </a:ln>
        </p:spPr>
      </p:sp>
      <p:sp>
        <p:nvSpPr>
          <p:cNvPr id="4" name="deco-glow-inner"/>
          <p:cNvSpPr/>
          <p:nvPr/>
        </p:nvSpPr>
        <p:spPr>
          <a:xfrm>
            <a:off x="4667250" y="2019300"/>
            <a:ext cx="2857500" cy="2857500"/>
          </a:xfrm>
          <a:prstGeom prst="ellipse">
            <a:avLst/>
          </a:prstGeom>
          <a:solidFill>
            <a:srgbClr val="FBD2C9">
              <a:alpha val="50000"/>
            </a:srgbClr>
          </a:solidFill>
          <a:ln>
            <a:noFill/>
          </a:ln>
        </p:spPr>
      </p:sp>
      <p:sp>
        <p:nvSpPr>
          <p:cNvPr id="5" name="Line 5"/>
          <p:cNvSpPr/>
          <p:nvPr/>
        </p:nvSpPr>
        <p:spPr>
          <a:xfrm>
            <a:off x="6096000" y="1676400"/>
            <a:ext cx="1" cy="742950"/>
          </a:xfrm>
          <a:prstGeom prst="line">
            <a:avLst/>
          </a:prstGeom>
          <a:noFill/>
          <a:ln w="14288">
            <a:solidFill>
              <a:srgbClr val="FA421D"/>
            </a:solidFill>
            <a:custDash>
              <a:ds d="266667" sp="200000"/>
            </a:custDash>
            <a:tailEnd type="triangle" w="lg" len="lg"/>
          </a:ln>
        </p:spPr>
      </p:sp>
      <p:sp>
        <p:nvSpPr>
          <p:cNvPr id="6" name="deco-arrow-daily"/>
          <p:cNvSpPr/>
          <p:nvPr/>
        </p:nvSpPr>
        <p:spPr>
          <a:xfrm>
            <a:off x="3619500" y="1790700"/>
            <a:ext cx="1447800" cy="1066800"/>
          </a:xfrm>
          <a:custGeom>
            <a:avLst/>
            <a:gdLst/>
            <a:ahLst/>
            <a:cxnLst/>
            <a:rect l="l" t="t" r="r" b="b"/>
            <a:pathLst>
              <a:path w="1447800" h="1066800">
                <a:moveTo>
                  <a:pt x="0" y="0"/>
                </a:moveTo>
                <a:lnTo>
                  <a:pt x="762000" y="0"/>
                </a:lnTo>
                <a:lnTo>
                  <a:pt x="762000" y="1066800"/>
                </a:lnTo>
                <a:lnTo>
                  <a:pt x="1447800" y="1066800"/>
                </a:lnTo>
              </a:path>
            </a:pathLst>
          </a:custGeom>
          <a:noFill/>
          <a:ln w="14288">
            <a:solidFill>
              <a:srgbClr val="FA421D"/>
            </a:solidFill>
            <a:custDash>
              <a:ds d="266667" sp="200000"/>
            </a:custDash>
            <a:tailEnd type="triangle" w="lg" len="lg"/>
          </a:ln>
        </p:spPr>
      </p:sp>
      <p:sp>
        <p:nvSpPr>
          <p:cNvPr id="7" name="deco-arrow-control"/>
          <p:cNvSpPr/>
          <p:nvPr/>
        </p:nvSpPr>
        <p:spPr>
          <a:xfrm>
            <a:off x="7124700" y="1790700"/>
            <a:ext cx="1447800" cy="1066800"/>
          </a:xfrm>
          <a:custGeom>
            <a:avLst/>
            <a:gdLst/>
            <a:ahLst/>
            <a:cxnLst/>
            <a:rect l="l" t="t" r="r" b="b"/>
            <a:pathLst>
              <a:path w="1447800" h="1066800">
                <a:moveTo>
                  <a:pt x="1447800" y="0"/>
                </a:moveTo>
                <a:lnTo>
                  <a:pt x="685800" y="0"/>
                </a:lnTo>
                <a:lnTo>
                  <a:pt x="685800" y="1066800"/>
                </a:lnTo>
                <a:lnTo>
                  <a:pt x="0" y="1066800"/>
                </a:lnTo>
              </a:path>
            </a:pathLst>
          </a:custGeom>
          <a:noFill/>
          <a:ln w="14288">
            <a:solidFill>
              <a:srgbClr val="FA421D"/>
            </a:solidFill>
            <a:custDash>
              <a:ds d="266667" sp="200000"/>
            </a:custDash>
            <a:tailEnd type="triangle" w="lg" len="lg"/>
          </a:ln>
        </p:spPr>
      </p:sp>
      <p:sp>
        <p:nvSpPr>
          <p:cNvPr id="8" name="Line 8"/>
          <p:cNvSpPr/>
          <p:nvPr/>
        </p:nvSpPr>
        <p:spPr>
          <a:xfrm>
            <a:off x="2876550" y="3409950"/>
            <a:ext cx="2190750" cy="1"/>
          </a:xfrm>
          <a:prstGeom prst="line">
            <a:avLst/>
          </a:prstGeom>
          <a:noFill/>
          <a:ln w="14288">
            <a:solidFill>
              <a:srgbClr val="FA421D"/>
            </a:solidFill>
            <a:custDash>
              <a:ds d="266667" sp="200000"/>
            </a:custDash>
            <a:tailEnd type="triangle" w="lg" len="lg"/>
          </a:ln>
        </p:spPr>
      </p:sp>
      <p:sp>
        <p:nvSpPr>
          <p:cNvPr id="9" name="Line 9"/>
          <p:cNvSpPr/>
          <p:nvPr/>
        </p:nvSpPr>
        <p:spPr>
          <a:xfrm flipH="1">
            <a:off x="7124700" y="3409950"/>
            <a:ext cx="2190750" cy="1"/>
          </a:xfrm>
          <a:prstGeom prst="line">
            <a:avLst/>
          </a:prstGeom>
          <a:noFill/>
          <a:ln w="14288">
            <a:solidFill>
              <a:srgbClr val="FA421D"/>
            </a:solidFill>
            <a:custDash>
              <a:ds d="266667" sp="200000"/>
            </a:custDash>
            <a:tailEnd type="triangle" w="lg" len="lg"/>
          </a:ln>
        </p:spPr>
      </p:sp>
      <p:sp>
        <p:nvSpPr>
          <p:cNvPr id="10" name="deco-bracket"/>
          <p:cNvSpPr/>
          <p:nvPr/>
        </p:nvSpPr>
        <p:spPr>
          <a:xfrm>
            <a:off x="1514475" y="4419600"/>
            <a:ext cx="8953500" cy="838200"/>
          </a:xfrm>
          <a:custGeom>
            <a:avLst/>
            <a:gdLst/>
            <a:ahLst/>
            <a:cxnLst/>
            <a:rect l="l" t="t" r="r" b="b"/>
            <a:pathLst>
              <a:path w="8953500" h="838200">
                <a:moveTo>
                  <a:pt x="4581525" y="0"/>
                </a:moveTo>
                <a:lnTo>
                  <a:pt x="4581525" y="342900"/>
                </a:lnTo>
                <a:moveTo>
                  <a:pt x="0" y="342900"/>
                </a:moveTo>
                <a:lnTo>
                  <a:pt x="8953500" y="342900"/>
                </a:lnTo>
                <a:moveTo>
                  <a:pt x="0" y="342900"/>
                </a:moveTo>
                <a:lnTo>
                  <a:pt x="0" y="838200"/>
                </a:lnTo>
                <a:moveTo>
                  <a:pt x="1790700" y="342900"/>
                </a:moveTo>
                <a:lnTo>
                  <a:pt x="1790700" y="838200"/>
                </a:lnTo>
                <a:moveTo>
                  <a:pt x="3581400" y="342900"/>
                </a:moveTo>
                <a:lnTo>
                  <a:pt x="3581400" y="838200"/>
                </a:lnTo>
                <a:moveTo>
                  <a:pt x="5372100" y="342900"/>
                </a:moveTo>
                <a:lnTo>
                  <a:pt x="5372100" y="838200"/>
                </a:lnTo>
                <a:moveTo>
                  <a:pt x="7162800" y="342900"/>
                </a:moveTo>
                <a:lnTo>
                  <a:pt x="7162800" y="838200"/>
                </a:lnTo>
                <a:moveTo>
                  <a:pt x="8953500" y="342900"/>
                </a:moveTo>
                <a:lnTo>
                  <a:pt x="8953500" y="838200"/>
                </a:lnTo>
              </a:path>
            </a:pathLst>
          </a:custGeom>
          <a:noFill/>
          <a:ln w="14288">
            <a:solidFill>
              <a:srgbClr val="FA421D"/>
            </a:solidFill>
            <a:custDash>
              <a:ds d="266667" sp="200000"/>
            </a:custDash>
          </a:ln>
        </p:spPr>
      </p:sp>
      <p:grpSp>
        <p:nvGrpSpPr>
          <p:cNvPr id="15" name="header"/>
          <p:cNvGrpSpPr/>
          <p:nvPr/>
        </p:nvGrpSpPr>
        <p:grpSpPr>
          <a:xfrm>
            <a:off x="0" y="0"/>
            <a:ext cx="12192000" cy="551879"/>
            <a:chOff x="0" y="0"/>
            <a:chExt cx="12192000" cy="551879"/>
          </a:xfrm>
        </p:grpSpPr>
        <p:sp>
          <p:nvSpPr>
            <p:cNvPr id="11" name="Polygon 11"/>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12" name="TextBox 12"/>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19</a:t>
              </a:r>
            </a:p>
          </p:txBody>
        </p:sp>
        <p:sp>
          <p:nvSpPr>
            <p:cNvPr id="13" name="TextBox 13"/>
            <p:cNvSpPr txBox="1"/>
            <p:nvPr/>
          </p:nvSpPr>
          <p:spPr>
            <a:xfrm>
              <a:off x="904494" y="170498"/>
              <a:ext cx="1594866"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项目组织架构</a:t>
              </a:r>
            </a:p>
          </p:txBody>
        </p:sp>
        <p:sp>
          <p:nvSpPr>
            <p:cNvPr id="14" name="Line 14"/>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9" name="center-account-manager"/>
          <p:cNvGrpSpPr/>
          <p:nvPr/>
        </p:nvGrpSpPr>
        <p:grpSpPr>
          <a:xfrm>
            <a:off x="5143500" y="2495550"/>
            <a:ext cx="1905000" cy="1905000"/>
            <a:chOff x="5143500" y="2495550"/>
            <a:chExt cx="1905000" cy="1905000"/>
          </a:xfrm>
        </p:grpSpPr>
        <p:sp>
          <p:nvSpPr>
            <p:cNvPr id="16" name="Ellipse 16"/>
            <p:cNvSpPr/>
            <p:nvPr/>
          </p:nvSpPr>
          <p:spPr>
            <a:xfrm>
              <a:off x="5143500" y="2495550"/>
              <a:ext cx="1905000" cy="1905000"/>
            </a:xfrm>
            <a:prstGeom prst="ellipse">
              <a:avLst/>
            </a:prstGeom>
            <a:gradFill>
              <a:gsLst>
                <a:gs pos="0">
                  <a:srgbClr val="FB795E"/>
                </a:gs>
                <a:gs pos="100000">
                  <a:srgbClr val="FA421D"/>
                </a:gs>
              </a:gsLst>
              <a:lin ang="5400000" scaled="1"/>
            </a:gradFill>
            <a:ln>
              <a:noFill/>
            </a:ln>
          </p:spPr>
        </p:sp>
        <p:sp>
          <p:nvSpPr>
            <p:cNvPr id="17" name="TextBox 17"/>
            <p:cNvSpPr txBox="1"/>
            <p:nvPr/>
          </p:nvSpPr>
          <p:spPr>
            <a:xfrm>
              <a:off x="5561076" y="3256598"/>
              <a:ext cx="1069848" cy="381381"/>
            </a:xfrm>
            <a:prstGeom prst="rect">
              <a:avLst/>
            </a:prstGeom>
            <a:noFill/>
            <a:ln>
              <a:noFill/>
            </a:ln>
          </p:spPr>
          <p:txBody>
            <a:bodyPr wrap="none" lIns="0" tIns="0" rIns="0" bIns="0" anchor="t" anchorCtr="0">
              <a:spAutoFit/>
            </a:bodyPr>
            <a:lstStyle/>
            <a:p>
              <a:pPr algn="ctr"/>
              <a:r>
                <a:rPr lang="zh-CN" sz="1950" b="1" dirty="0">
                  <a:solidFill>
                    <a:srgbClr val="FFFFFF"/>
                  </a:solidFill>
                  <a:latin typeface="+mn-lt"/>
                  <a:ea typeface="+mn-ea"/>
                  <a:cs typeface="+mn-cs"/>
                </a:rPr>
                <a:t>客户经理</a:t>
              </a:r>
            </a:p>
          </p:txBody>
        </p:sp>
        <p:sp>
          <p:nvSpPr>
            <p:cNvPr id="18" name="TextBox 18"/>
            <p:cNvSpPr txBox="1"/>
            <p:nvPr/>
          </p:nvSpPr>
          <p:spPr>
            <a:xfrm>
              <a:off x="5556885" y="3636645"/>
              <a:ext cx="1078230" cy="176212"/>
            </a:xfrm>
            <a:prstGeom prst="rect">
              <a:avLst/>
            </a:prstGeom>
            <a:noFill/>
            <a:ln>
              <a:noFill/>
            </a:ln>
          </p:spPr>
          <p:txBody>
            <a:bodyPr wrap="none" lIns="0" tIns="0" rIns="0" bIns="0" anchor="t" anchorCtr="0">
              <a:spAutoFit/>
            </a:bodyPr>
            <a:lstStyle/>
            <a:p>
              <a:pPr algn="ctr"/>
              <a:r>
                <a:rPr lang="en-US" sz="900" dirty="0">
                  <a:solidFill>
                    <a:srgbClr val="FFFFFF"/>
                  </a:solidFill>
                  <a:latin typeface="+mn-lt"/>
                  <a:ea typeface="+mn-ea"/>
                  <a:cs typeface="+mn-cs"/>
                </a:rPr>
                <a:t>Account Manager​</a:t>
              </a:r>
            </a:p>
          </p:txBody>
        </p:sp>
      </p:grpSp>
      <p:grpSp>
        <p:nvGrpSpPr>
          <p:cNvPr id="22" name="pill-strategy"/>
          <p:cNvGrpSpPr/>
          <p:nvPr/>
        </p:nvGrpSpPr>
        <p:grpSpPr>
          <a:xfrm>
            <a:off x="5019675" y="990600"/>
            <a:ext cx="2152650" cy="609600"/>
            <a:chOff x="5019675" y="990600"/>
            <a:chExt cx="2152650" cy="609600"/>
          </a:xfrm>
        </p:grpSpPr>
        <p:sp>
          <p:nvSpPr>
            <p:cNvPr id="20" name="Rectangle 20"/>
            <p:cNvSpPr/>
            <p:nvPr/>
          </p:nvSpPr>
          <p:spPr>
            <a:xfrm>
              <a:off x="5019675" y="990600"/>
              <a:ext cx="2152650" cy="609600"/>
            </a:xfrm>
            <a:prstGeom prst="roundRect">
              <a:avLst>
                <a:gd name="adj" fmla="val 50000"/>
              </a:avLst>
            </a:prstGeom>
            <a:gradFill>
              <a:gsLst>
                <a:gs pos="0">
                  <a:srgbClr val="FA421D"/>
                </a:gs>
                <a:gs pos="100000">
                  <a:srgbClr val="D22C0A"/>
                </a:gs>
              </a:gsLst>
              <a:lin ang="5400000" scaled="1"/>
            </a:gradFill>
            <a:ln>
              <a:noFill/>
            </a:ln>
          </p:spPr>
        </p:sp>
        <p:sp>
          <p:nvSpPr>
            <p:cNvPr id="21" name="TextBox 21"/>
            <p:cNvSpPr txBox="1"/>
            <p:nvPr/>
          </p:nvSpPr>
          <p:spPr>
            <a:xfrm>
              <a:off x="5658739" y="1224439"/>
              <a:ext cx="874522"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项目策略组</a:t>
              </a:r>
            </a:p>
          </p:txBody>
        </p:sp>
      </p:grpSp>
      <p:grpSp>
        <p:nvGrpSpPr>
          <p:cNvPr id="25" name="pill-daily-control"/>
          <p:cNvGrpSpPr/>
          <p:nvPr/>
        </p:nvGrpSpPr>
        <p:grpSpPr>
          <a:xfrm>
            <a:off x="1352550" y="1485900"/>
            <a:ext cx="2209800" cy="609600"/>
            <a:chOff x="1352550" y="1485900"/>
            <a:chExt cx="2209800" cy="609600"/>
          </a:xfrm>
        </p:grpSpPr>
        <p:sp>
          <p:nvSpPr>
            <p:cNvPr id="23" name="Rectangle 23"/>
            <p:cNvSpPr/>
            <p:nvPr/>
          </p:nvSpPr>
          <p:spPr>
            <a:xfrm>
              <a:off x="1352550" y="1485900"/>
              <a:ext cx="2209800" cy="609600"/>
            </a:xfrm>
            <a:prstGeom prst="roundRect">
              <a:avLst>
                <a:gd name="adj" fmla="val 50000"/>
              </a:avLst>
            </a:prstGeom>
            <a:gradFill>
              <a:gsLst>
                <a:gs pos="0">
                  <a:srgbClr val="FA421D"/>
                </a:gs>
                <a:gs pos="100000">
                  <a:srgbClr val="D22C0A"/>
                </a:gs>
              </a:gsLst>
              <a:lin ang="5400000" scaled="1"/>
            </a:gradFill>
            <a:ln>
              <a:noFill/>
            </a:ln>
          </p:spPr>
        </p:sp>
        <p:sp>
          <p:nvSpPr>
            <p:cNvPr id="24" name="TextBox 24"/>
            <p:cNvSpPr txBox="1"/>
            <p:nvPr/>
          </p:nvSpPr>
          <p:spPr>
            <a:xfrm>
              <a:off x="1934032" y="1719739"/>
              <a:ext cx="1046836"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日常运作控制</a:t>
              </a:r>
            </a:p>
          </p:txBody>
        </p:sp>
      </p:grpSp>
      <p:grpSp>
        <p:nvGrpSpPr>
          <p:cNvPr id="28" name="pill-general-control"/>
          <p:cNvGrpSpPr/>
          <p:nvPr/>
        </p:nvGrpSpPr>
        <p:grpSpPr>
          <a:xfrm>
            <a:off x="8629650" y="1485900"/>
            <a:ext cx="2209800" cy="609600"/>
            <a:chOff x="8629650" y="1485900"/>
            <a:chExt cx="2209800" cy="609600"/>
          </a:xfrm>
        </p:grpSpPr>
        <p:sp>
          <p:nvSpPr>
            <p:cNvPr id="26" name="Rectangle 26"/>
            <p:cNvSpPr/>
            <p:nvPr/>
          </p:nvSpPr>
          <p:spPr>
            <a:xfrm>
              <a:off x="8629650" y="1485900"/>
              <a:ext cx="2209800" cy="609600"/>
            </a:xfrm>
            <a:prstGeom prst="roundRect">
              <a:avLst>
                <a:gd name="adj" fmla="val 50000"/>
              </a:avLst>
            </a:prstGeom>
            <a:gradFill>
              <a:gsLst>
                <a:gs pos="0">
                  <a:srgbClr val="FA421D"/>
                </a:gs>
                <a:gs pos="100000">
                  <a:srgbClr val="D22C0A"/>
                </a:gs>
              </a:gsLst>
              <a:lin ang="5400000" scaled="1"/>
            </a:gradFill>
            <a:ln>
              <a:noFill/>
            </a:ln>
          </p:spPr>
        </p:sp>
        <p:sp>
          <p:nvSpPr>
            <p:cNvPr id="27" name="TextBox 27"/>
            <p:cNvSpPr txBox="1"/>
            <p:nvPr/>
          </p:nvSpPr>
          <p:spPr>
            <a:xfrm>
              <a:off x="9374124" y="1613535"/>
              <a:ext cx="720852" cy="444246"/>
            </a:xfrm>
            <a:prstGeom prst="rect">
              <a:avLst/>
            </a:prstGeom>
            <a:noFill/>
            <a:ln>
              <a:noFill/>
            </a:ln>
          </p:spPr>
          <p:txBody>
            <a:bodyPr wrap="none" lIns="0" tIns="0" rIns="0" bIns="0" anchor="t" anchorCtr="0">
              <a:spAutoFit/>
            </a:bodyPr>
            <a:lstStyle/>
            <a:p>
              <a:pPr algn="ctr">
                <a:lnSpc>
                  <a:spcPts val="1650"/>
                </a:lnSpc>
              </a:pPr>
              <a:r>
                <a:rPr lang="zh-CN" sz="1200" dirty="0">
                  <a:solidFill>
                    <a:srgbClr val="FFFFFF"/>
                  </a:solidFill>
                  <a:latin typeface="+mn-lt"/>
                  <a:ea typeface="+mn-ea"/>
                  <a:cs typeface="+mn-cs"/>
                </a:rPr>
                <a:t>项目总控</a:t>
              </a:r>
              <a:br/>
              <a:r>
                <a:rPr lang="zh-CN" sz="1200" dirty="0">
                  <a:solidFill>
                    <a:srgbClr val="FFFFFF"/>
                  </a:solidFill>
                  <a:latin typeface="+mn-lt"/>
                  <a:ea typeface="+mn-ea"/>
                  <a:cs typeface="+mn-cs"/>
                </a:rPr>
                <a:t>（VP级）​</a:t>
              </a:r>
            </a:p>
          </p:txBody>
        </p:sp>
      </p:grpSp>
      <p:grpSp>
        <p:nvGrpSpPr>
          <p:cNvPr id="31" name="pill-writing"/>
          <p:cNvGrpSpPr/>
          <p:nvPr/>
        </p:nvGrpSpPr>
        <p:grpSpPr>
          <a:xfrm>
            <a:off x="704850" y="3105150"/>
            <a:ext cx="2114550" cy="609600"/>
            <a:chOff x="704850" y="3105150"/>
            <a:chExt cx="2114550" cy="609600"/>
          </a:xfrm>
        </p:grpSpPr>
        <p:sp>
          <p:nvSpPr>
            <p:cNvPr id="29" name="Rectangle 29"/>
            <p:cNvSpPr/>
            <p:nvPr/>
          </p:nvSpPr>
          <p:spPr>
            <a:xfrm>
              <a:off x="704850" y="3105150"/>
              <a:ext cx="2114550" cy="609600"/>
            </a:xfrm>
            <a:prstGeom prst="roundRect">
              <a:avLst>
                <a:gd name="adj" fmla="val 50000"/>
              </a:avLst>
            </a:prstGeom>
            <a:gradFill>
              <a:gsLst>
                <a:gs pos="0">
                  <a:srgbClr val="FA421D"/>
                </a:gs>
                <a:gs pos="100000">
                  <a:srgbClr val="D22C0A"/>
                </a:gs>
              </a:gsLst>
              <a:lin ang="5400000" scaled="1"/>
            </a:gradFill>
            <a:ln>
              <a:noFill/>
            </a:ln>
          </p:spPr>
        </p:sp>
        <p:sp>
          <p:nvSpPr>
            <p:cNvPr id="30" name="TextBox 30"/>
            <p:cNvSpPr txBox="1"/>
            <p:nvPr/>
          </p:nvSpPr>
          <p:spPr>
            <a:xfrm>
              <a:off x="1411021" y="3338989"/>
              <a:ext cx="702208"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撰稿支持</a:t>
              </a:r>
            </a:p>
          </p:txBody>
        </p:sp>
      </p:grpSp>
      <p:grpSp>
        <p:nvGrpSpPr>
          <p:cNvPr id="34" name="pill-client-interface"/>
          <p:cNvGrpSpPr/>
          <p:nvPr/>
        </p:nvGrpSpPr>
        <p:grpSpPr>
          <a:xfrm>
            <a:off x="9372600" y="3105150"/>
            <a:ext cx="2114550" cy="609600"/>
            <a:chOff x="9372600" y="3105150"/>
            <a:chExt cx="2114550" cy="609600"/>
          </a:xfrm>
        </p:grpSpPr>
        <p:sp>
          <p:nvSpPr>
            <p:cNvPr id="32" name="Rectangle 32"/>
            <p:cNvSpPr/>
            <p:nvPr/>
          </p:nvSpPr>
          <p:spPr>
            <a:xfrm>
              <a:off x="9372600" y="3105150"/>
              <a:ext cx="2114550" cy="609600"/>
            </a:xfrm>
            <a:prstGeom prst="roundRect">
              <a:avLst>
                <a:gd name="adj" fmla="val 50000"/>
              </a:avLst>
            </a:prstGeom>
            <a:gradFill>
              <a:gsLst>
                <a:gs pos="0">
                  <a:srgbClr val="FA421D"/>
                </a:gs>
                <a:gs pos="100000">
                  <a:srgbClr val="D22C0A"/>
                </a:gs>
              </a:gsLst>
              <a:lin ang="5400000" scaled="1"/>
            </a:gradFill>
            <a:ln>
              <a:noFill/>
            </a:ln>
          </p:spPr>
        </p:sp>
        <p:sp>
          <p:nvSpPr>
            <p:cNvPr id="33" name="TextBox 33"/>
            <p:cNvSpPr txBox="1"/>
            <p:nvPr/>
          </p:nvSpPr>
          <p:spPr>
            <a:xfrm>
              <a:off x="9992614" y="3338989"/>
              <a:ext cx="874522"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客户端接口</a:t>
              </a:r>
            </a:p>
          </p:txBody>
        </p:sp>
      </p:grpSp>
      <p:grpSp>
        <p:nvGrpSpPr>
          <p:cNvPr id="47" name="departments"/>
          <p:cNvGrpSpPr/>
          <p:nvPr/>
        </p:nvGrpSpPr>
        <p:grpSpPr>
          <a:xfrm>
            <a:off x="704850" y="5276850"/>
            <a:ext cx="10572750" cy="571500"/>
            <a:chOff x="704850" y="5276850"/>
            <a:chExt cx="10572750" cy="571500"/>
          </a:xfrm>
        </p:grpSpPr>
        <p:sp>
          <p:nvSpPr>
            <p:cNvPr id="35" name="Rectangle 35"/>
            <p:cNvSpPr/>
            <p:nvPr/>
          </p:nvSpPr>
          <p:spPr>
            <a:xfrm>
              <a:off x="704850" y="5276850"/>
              <a:ext cx="1619250" cy="571500"/>
            </a:xfrm>
            <a:prstGeom prst="roundRect">
              <a:avLst>
                <a:gd name="adj" fmla="val 50000"/>
              </a:avLst>
            </a:prstGeom>
            <a:solidFill>
              <a:srgbClr val="FFFFFF"/>
            </a:solidFill>
            <a:ln w="14288">
              <a:solidFill>
                <a:srgbClr val="FCC6BB"/>
              </a:solidFill>
            </a:ln>
          </p:spPr>
        </p:sp>
        <p:sp>
          <p:nvSpPr>
            <p:cNvPr id="36" name="TextBox 36"/>
            <p:cNvSpPr txBox="1"/>
            <p:nvPr/>
          </p:nvSpPr>
          <p:spPr>
            <a:xfrm>
              <a:off x="1104519" y="5499735"/>
              <a:ext cx="819912"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媒介关系部</a:t>
              </a:r>
            </a:p>
          </p:txBody>
        </p:sp>
        <p:sp>
          <p:nvSpPr>
            <p:cNvPr id="37" name="Rectangle 37"/>
            <p:cNvSpPr/>
            <p:nvPr/>
          </p:nvSpPr>
          <p:spPr>
            <a:xfrm>
              <a:off x="2495550" y="5276850"/>
              <a:ext cx="1619250" cy="571500"/>
            </a:xfrm>
            <a:prstGeom prst="roundRect">
              <a:avLst>
                <a:gd name="adj" fmla="val 50000"/>
              </a:avLst>
            </a:prstGeom>
            <a:solidFill>
              <a:srgbClr val="FFFFFF"/>
            </a:solidFill>
            <a:ln w="14288">
              <a:solidFill>
                <a:srgbClr val="FCC6BB"/>
              </a:solidFill>
            </a:ln>
          </p:spPr>
        </p:sp>
        <p:sp>
          <p:nvSpPr>
            <p:cNvPr id="38" name="TextBox 38"/>
            <p:cNvSpPr txBox="1"/>
            <p:nvPr/>
          </p:nvSpPr>
          <p:spPr>
            <a:xfrm>
              <a:off x="2895219" y="5499735"/>
              <a:ext cx="819912"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项目管理部</a:t>
              </a:r>
            </a:p>
          </p:txBody>
        </p:sp>
        <p:sp>
          <p:nvSpPr>
            <p:cNvPr id="39" name="Rectangle 39"/>
            <p:cNvSpPr/>
            <p:nvPr/>
          </p:nvSpPr>
          <p:spPr>
            <a:xfrm>
              <a:off x="4286250" y="5276850"/>
              <a:ext cx="1619250" cy="571500"/>
            </a:xfrm>
            <a:prstGeom prst="roundRect">
              <a:avLst>
                <a:gd name="adj" fmla="val 50000"/>
              </a:avLst>
            </a:prstGeom>
            <a:solidFill>
              <a:srgbClr val="FFFFFF"/>
            </a:solidFill>
            <a:ln w="14288">
              <a:solidFill>
                <a:srgbClr val="FCC6BB"/>
              </a:solidFill>
            </a:ln>
          </p:spPr>
        </p:sp>
        <p:sp>
          <p:nvSpPr>
            <p:cNvPr id="40" name="TextBox 40"/>
            <p:cNvSpPr txBox="1"/>
            <p:nvPr/>
          </p:nvSpPr>
          <p:spPr>
            <a:xfrm>
              <a:off x="4685919" y="5499735"/>
              <a:ext cx="819912"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市场研究部</a:t>
              </a:r>
            </a:p>
          </p:txBody>
        </p:sp>
        <p:sp>
          <p:nvSpPr>
            <p:cNvPr id="41" name="Rectangle 41"/>
            <p:cNvSpPr/>
            <p:nvPr/>
          </p:nvSpPr>
          <p:spPr>
            <a:xfrm>
              <a:off x="6076950" y="5276850"/>
              <a:ext cx="1619250" cy="571500"/>
            </a:xfrm>
            <a:prstGeom prst="roundRect">
              <a:avLst>
                <a:gd name="adj" fmla="val 50000"/>
              </a:avLst>
            </a:prstGeom>
            <a:solidFill>
              <a:srgbClr val="FFFFFF"/>
            </a:solidFill>
            <a:ln w="14288">
              <a:solidFill>
                <a:srgbClr val="FCC6BB"/>
              </a:solidFill>
            </a:ln>
          </p:spPr>
        </p:sp>
        <p:sp>
          <p:nvSpPr>
            <p:cNvPr id="42" name="TextBox 42"/>
            <p:cNvSpPr txBox="1"/>
            <p:nvPr/>
          </p:nvSpPr>
          <p:spPr>
            <a:xfrm>
              <a:off x="6557391" y="5499735"/>
              <a:ext cx="658368"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影视公关</a:t>
              </a:r>
            </a:p>
          </p:txBody>
        </p:sp>
        <p:sp>
          <p:nvSpPr>
            <p:cNvPr id="43" name="Rectangle 43"/>
            <p:cNvSpPr/>
            <p:nvPr/>
          </p:nvSpPr>
          <p:spPr>
            <a:xfrm>
              <a:off x="7867650" y="5276850"/>
              <a:ext cx="1619250" cy="571500"/>
            </a:xfrm>
            <a:prstGeom prst="roundRect">
              <a:avLst>
                <a:gd name="adj" fmla="val 50000"/>
              </a:avLst>
            </a:prstGeom>
            <a:solidFill>
              <a:srgbClr val="FFFFFF"/>
            </a:solidFill>
            <a:ln w="14288">
              <a:solidFill>
                <a:srgbClr val="FCC6BB"/>
              </a:solidFill>
            </a:ln>
          </p:spPr>
        </p:sp>
        <p:sp>
          <p:nvSpPr>
            <p:cNvPr id="44" name="TextBox 44"/>
            <p:cNvSpPr txBox="1"/>
            <p:nvPr/>
          </p:nvSpPr>
          <p:spPr>
            <a:xfrm>
              <a:off x="8509635" y="5499735"/>
              <a:ext cx="335280"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直邮</a:t>
              </a:r>
            </a:p>
          </p:txBody>
        </p:sp>
        <p:sp>
          <p:nvSpPr>
            <p:cNvPr id="45" name="Rectangle 45"/>
            <p:cNvSpPr/>
            <p:nvPr/>
          </p:nvSpPr>
          <p:spPr>
            <a:xfrm>
              <a:off x="9658350" y="5276850"/>
              <a:ext cx="1619250" cy="571500"/>
            </a:xfrm>
            <a:prstGeom prst="roundRect">
              <a:avLst>
                <a:gd name="adj" fmla="val 50000"/>
              </a:avLst>
            </a:prstGeom>
            <a:solidFill>
              <a:srgbClr val="FFFFFF"/>
            </a:solidFill>
            <a:ln w="14288">
              <a:solidFill>
                <a:srgbClr val="FCC6BB"/>
              </a:solidFill>
            </a:ln>
          </p:spPr>
        </p:sp>
        <p:sp>
          <p:nvSpPr>
            <p:cNvPr id="46" name="TextBox 46"/>
            <p:cNvSpPr txBox="1"/>
            <p:nvPr/>
          </p:nvSpPr>
          <p:spPr>
            <a:xfrm>
              <a:off x="10058019" y="5499735"/>
              <a:ext cx="819912"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各地办事处</a:t>
              </a:r>
            </a:p>
          </p:txBody>
        </p:sp>
      </p:gr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band-1"/>
          <p:cNvSpPr/>
          <p:nvPr/>
        </p:nvSpPr>
        <p:spPr>
          <a:xfrm>
            <a:off x="3048000" y="0"/>
            <a:ext cx="3048000" cy="6858000"/>
          </a:xfrm>
          <a:prstGeom prst="rect">
            <a:avLst/>
          </a:prstGeom>
          <a:solidFill>
            <a:srgbClr val="E4EEFD">
              <a:alpha val="50000"/>
            </a:srgbClr>
          </a:solidFill>
          <a:ln>
            <a:noFill/>
          </a:ln>
        </p:spPr>
      </p:sp>
      <p:sp>
        <p:nvSpPr>
          <p:cNvPr id="3" name="deco-band-2"/>
          <p:cNvSpPr/>
          <p:nvPr/>
        </p:nvSpPr>
        <p:spPr>
          <a:xfrm>
            <a:off x="9144000" y="0"/>
            <a:ext cx="3048000" cy="6858000"/>
          </a:xfrm>
          <a:prstGeom prst="rect">
            <a:avLst/>
          </a:prstGeom>
          <a:solidFill>
            <a:srgbClr val="E4EEFD">
              <a:alpha val="50000"/>
            </a:srgbClr>
          </a:solidFill>
          <a:ln>
            <a:noFill/>
          </a:ln>
        </p:spPr>
      </p:sp>
      <p:sp>
        <p:nvSpPr>
          <p:cNvPr id="4" name="deco-tree-links"/>
          <p:cNvSpPr/>
          <p:nvPr/>
        </p:nvSpPr>
        <p:spPr>
          <a:xfrm>
            <a:off x="1943100" y="1847850"/>
            <a:ext cx="8305800" cy="895350"/>
          </a:xfrm>
          <a:custGeom>
            <a:avLst/>
            <a:gdLst/>
            <a:ahLst/>
            <a:cxnLst/>
            <a:rect l="l" t="t" r="r" b="b"/>
            <a:pathLst>
              <a:path w="8305800" h="895350">
                <a:moveTo>
                  <a:pt x="4152900" y="0"/>
                </a:moveTo>
                <a:lnTo>
                  <a:pt x="4152900" y="209550"/>
                </a:lnTo>
                <a:moveTo>
                  <a:pt x="0" y="209550"/>
                </a:moveTo>
                <a:lnTo>
                  <a:pt x="8305800" y="209550"/>
                </a:lnTo>
                <a:moveTo>
                  <a:pt x="0" y="209550"/>
                </a:moveTo>
                <a:lnTo>
                  <a:pt x="0" y="895350"/>
                </a:lnTo>
                <a:moveTo>
                  <a:pt x="2762250" y="209550"/>
                </a:moveTo>
                <a:lnTo>
                  <a:pt x="2762250" y="895350"/>
                </a:lnTo>
                <a:moveTo>
                  <a:pt x="5534025" y="209550"/>
                </a:moveTo>
                <a:lnTo>
                  <a:pt x="5534025" y="895350"/>
                </a:lnTo>
                <a:moveTo>
                  <a:pt x="8305800" y="209550"/>
                </a:moveTo>
                <a:lnTo>
                  <a:pt x="8305800" y="895350"/>
                </a:lnTo>
              </a:path>
            </a:pathLst>
          </a:custGeom>
          <a:noFill/>
          <a:ln w="14288">
            <a:solidFill>
              <a:srgbClr val="FA421D"/>
            </a:solidFill>
          </a:ln>
        </p:spPr>
      </p:sp>
      <p:grpSp>
        <p:nvGrpSpPr>
          <p:cNvPr id="9" name="header"/>
          <p:cNvGrpSpPr/>
          <p:nvPr/>
        </p:nvGrpSpPr>
        <p:grpSpPr>
          <a:xfrm>
            <a:off x="0" y="0"/>
            <a:ext cx="12192000" cy="551879"/>
            <a:chOff x="0" y="0"/>
            <a:chExt cx="12192000" cy="551879"/>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6" name="TextBox 6"/>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20</a:t>
              </a:r>
            </a:p>
          </p:txBody>
        </p:sp>
        <p:sp>
          <p:nvSpPr>
            <p:cNvPr id="7" name="TextBox 7"/>
            <p:cNvSpPr txBox="1"/>
            <p:nvPr/>
          </p:nvSpPr>
          <p:spPr>
            <a:xfrm>
              <a:off x="904494" y="170498"/>
              <a:ext cx="1069848"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传播策略</a:t>
              </a:r>
            </a:p>
          </p:txBody>
        </p:sp>
        <p:sp>
          <p:nvSpPr>
            <p:cNvPr id="8" name="Line 8"/>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3" name="root-minqi-pr"/>
          <p:cNvGrpSpPr/>
          <p:nvPr/>
        </p:nvGrpSpPr>
        <p:grpSpPr>
          <a:xfrm>
            <a:off x="5410200" y="571500"/>
            <a:ext cx="1371600" cy="1371600"/>
            <a:chOff x="5410200" y="571500"/>
            <a:chExt cx="1371600" cy="1371600"/>
          </a:xfrm>
        </p:grpSpPr>
        <p:sp>
          <p:nvSpPr>
            <p:cNvPr id="10" name="Ellipse 10"/>
            <p:cNvSpPr/>
            <p:nvPr/>
          </p:nvSpPr>
          <p:spPr>
            <a:xfrm>
              <a:off x="5410200" y="571500"/>
              <a:ext cx="1371600" cy="1371600"/>
            </a:xfrm>
            <a:prstGeom prst="ellipse">
              <a:avLst/>
            </a:prstGeom>
            <a:solidFill>
              <a:srgbClr val="FBD2C9">
                <a:alpha val="60000"/>
              </a:srgbClr>
            </a:solidFill>
            <a:ln>
              <a:noFill/>
            </a:ln>
          </p:spPr>
        </p:sp>
        <p:sp>
          <p:nvSpPr>
            <p:cNvPr id="11" name="Ellipse 11"/>
            <p:cNvSpPr/>
            <p:nvPr/>
          </p:nvSpPr>
          <p:spPr>
            <a:xfrm>
              <a:off x="5505450" y="666750"/>
              <a:ext cx="1181100" cy="1181100"/>
            </a:xfrm>
            <a:prstGeom prst="ellipse">
              <a:avLst/>
            </a:prstGeom>
            <a:gradFill>
              <a:gsLst>
                <a:gs pos="0">
                  <a:srgbClr val="FB795E"/>
                </a:gs>
                <a:gs pos="100000">
                  <a:srgbClr val="FA421D"/>
                </a:gs>
              </a:gsLst>
              <a:lin ang="5400000" scaled="1"/>
            </a:gradFill>
            <a:ln>
              <a:noFill/>
            </a:ln>
          </p:spPr>
        </p:sp>
        <p:sp>
          <p:nvSpPr>
            <p:cNvPr id="12" name="TextBox 12"/>
            <p:cNvSpPr txBox="1"/>
            <p:nvPr/>
          </p:nvSpPr>
          <p:spPr>
            <a:xfrm>
              <a:off x="5897880" y="1057275"/>
              <a:ext cx="396240" cy="541020"/>
            </a:xfrm>
            <a:prstGeom prst="rect">
              <a:avLst/>
            </a:prstGeom>
            <a:noFill/>
            <a:ln>
              <a:noFill/>
            </a:ln>
          </p:spPr>
          <p:txBody>
            <a:bodyPr wrap="none" lIns="0" tIns="0" rIns="0" bIns="0" anchor="t" anchorCtr="0">
              <a:spAutoFit/>
            </a:bodyPr>
            <a:lstStyle/>
            <a:p>
              <a:pPr algn="ctr">
                <a:lnSpc>
                  <a:spcPts val="1950"/>
                </a:lnSpc>
              </a:pPr>
              <a:r>
                <a:rPr lang="zh-CN" sz="1500" dirty="0">
                  <a:solidFill>
                    <a:srgbClr val="FFFFFF"/>
                  </a:solidFill>
                  <a:latin typeface="+mn-lt"/>
                  <a:ea typeface="+mn-ea"/>
                  <a:cs typeface="+mn-cs"/>
                </a:rPr>
                <a:t>敏琪</a:t>
              </a:r>
              <a:br/>
              <a:r>
                <a:rPr lang="zh-CN" sz="1500" dirty="0">
                  <a:solidFill>
                    <a:srgbClr val="FFFFFF"/>
                  </a:solidFill>
                  <a:latin typeface="+mn-lt"/>
                  <a:ea typeface="+mn-ea"/>
                  <a:cs typeface="+mn-cs"/>
                </a:rPr>
                <a:t>公关</a:t>
              </a:r>
            </a:p>
          </p:txBody>
        </p:sp>
      </p:grpSp>
      <p:grpSp>
        <p:nvGrpSpPr>
          <p:cNvPr id="26" name="branch-admin"/>
          <p:cNvGrpSpPr/>
          <p:nvPr/>
        </p:nvGrpSpPr>
        <p:grpSpPr>
          <a:xfrm>
            <a:off x="1123950" y="2743200"/>
            <a:ext cx="1638300" cy="3124200"/>
            <a:chOff x="1123950" y="2743200"/>
            <a:chExt cx="1638300" cy="3124200"/>
          </a:xfrm>
        </p:grpSpPr>
        <p:sp>
          <p:nvSpPr>
            <p:cNvPr id="14" name="Rectangle 14"/>
            <p:cNvSpPr/>
            <p:nvPr/>
          </p:nvSpPr>
          <p:spPr>
            <a:xfrm>
              <a:off x="1123950" y="2743200"/>
              <a:ext cx="1638300" cy="685800"/>
            </a:xfrm>
            <a:prstGeom prst="roundRect">
              <a:avLst>
                <a:gd name="adj" fmla="val 50000"/>
              </a:avLst>
            </a:prstGeom>
            <a:noFill/>
            <a:ln w="38100">
              <a:solidFill>
                <a:srgbClr val="FBD2C9"/>
              </a:solidFill>
            </a:ln>
          </p:spPr>
        </p:sp>
        <p:sp>
          <p:nvSpPr>
            <p:cNvPr id="15" name="Rectangle 15"/>
            <p:cNvSpPr/>
            <p:nvPr/>
          </p:nvSpPr>
          <p:spPr>
            <a:xfrm>
              <a:off x="1181100" y="2800350"/>
              <a:ext cx="1524000" cy="571500"/>
            </a:xfrm>
            <a:prstGeom prst="roundRect">
              <a:avLst>
                <a:gd name="adj" fmla="val 50000"/>
              </a:avLst>
            </a:prstGeom>
            <a:gradFill>
              <a:gsLst>
                <a:gs pos="0">
                  <a:srgbClr val="FA421D"/>
                </a:gs>
                <a:gs pos="100000">
                  <a:srgbClr val="D22C0A"/>
                </a:gs>
              </a:gsLst>
              <a:lin ang="5400000" scaled="1"/>
            </a:gradFill>
            <a:ln>
              <a:noFill/>
            </a:ln>
          </p:spPr>
        </p:sp>
        <p:sp>
          <p:nvSpPr>
            <p:cNvPr id="16" name="TextBox 16"/>
            <p:cNvSpPr txBox="1"/>
            <p:nvPr/>
          </p:nvSpPr>
          <p:spPr>
            <a:xfrm>
              <a:off x="1663636" y="3007042"/>
              <a:ext cx="558927"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综合办</a:t>
              </a:r>
            </a:p>
          </p:txBody>
        </p:sp>
        <p:sp>
          <p:nvSpPr>
            <p:cNvPr id="17" name="Line 17"/>
            <p:cNvSpPr/>
            <p:nvPr/>
          </p:nvSpPr>
          <p:spPr>
            <a:xfrm>
              <a:off x="1943100" y="3371850"/>
              <a:ext cx="9525" cy="628650"/>
            </a:xfrm>
            <a:custGeom>
              <a:avLst/>
              <a:gdLst/>
              <a:ahLst/>
              <a:cxnLst/>
              <a:rect l="l" t="t" r="r" b="b"/>
              <a:pathLst>
                <a:path w="9525" h="628650">
                  <a:moveTo>
                    <a:pt x="0" y="0"/>
                  </a:moveTo>
                  <a:lnTo>
                    <a:pt x="0" y="628650"/>
                  </a:lnTo>
                </a:path>
              </a:pathLst>
            </a:custGeom>
            <a:noFill/>
            <a:ln w="14288">
              <a:solidFill>
                <a:srgbClr val="FA421D"/>
              </a:solidFill>
            </a:ln>
          </p:spPr>
        </p:sp>
        <p:sp>
          <p:nvSpPr>
            <p:cNvPr id="18" name="Ellipse 18"/>
            <p:cNvSpPr/>
            <p:nvPr/>
          </p:nvSpPr>
          <p:spPr>
            <a:xfrm>
              <a:off x="1914525" y="3400425"/>
              <a:ext cx="57150" cy="57150"/>
            </a:xfrm>
            <a:prstGeom prst="ellipse">
              <a:avLst/>
            </a:prstGeom>
            <a:solidFill>
              <a:srgbClr val="FA421D"/>
            </a:solidFill>
            <a:ln>
              <a:noFill/>
            </a:ln>
          </p:spPr>
        </p:sp>
        <p:sp>
          <p:nvSpPr>
            <p:cNvPr id="19" name="Ellipse 19"/>
            <p:cNvSpPr/>
            <p:nvPr/>
          </p:nvSpPr>
          <p:spPr>
            <a:xfrm>
              <a:off x="1914525" y="3933825"/>
              <a:ext cx="57150" cy="57150"/>
            </a:xfrm>
            <a:prstGeom prst="ellipse">
              <a:avLst/>
            </a:prstGeom>
            <a:solidFill>
              <a:srgbClr val="FA421D"/>
            </a:solidFill>
            <a:ln>
              <a:noFill/>
            </a:ln>
          </p:spPr>
        </p:sp>
        <p:sp>
          <p:nvSpPr>
            <p:cNvPr id="20" name="Rectangle 20"/>
            <p:cNvSpPr/>
            <p:nvPr/>
          </p:nvSpPr>
          <p:spPr>
            <a:xfrm>
              <a:off x="1200150" y="4076700"/>
              <a:ext cx="1485900" cy="457200"/>
            </a:xfrm>
            <a:prstGeom prst="roundRect">
              <a:avLst>
                <a:gd name="adj" fmla="val 50000"/>
              </a:avLst>
            </a:prstGeom>
            <a:solidFill>
              <a:srgbClr val="FBD2C9"/>
            </a:solidFill>
            <a:ln>
              <a:noFill/>
            </a:ln>
          </p:spPr>
        </p:sp>
        <p:sp>
          <p:nvSpPr>
            <p:cNvPr id="21" name="TextBox 21"/>
            <p:cNvSpPr txBox="1"/>
            <p:nvPr/>
          </p:nvSpPr>
          <p:spPr>
            <a:xfrm>
              <a:off x="1754505" y="4226242"/>
              <a:ext cx="377190"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财务</a:t>
              </a:r>
            </a:p>
          </p:txBody>
        </p:sp>
        <p:sp>
          <p:nvSpPr>
            <p:cNvPr id="22" name="Rectangle 22"/>
            <p:cNvSpPr/>
            <p:nvPr/>
          </p:nvSpPr>
          <p:spPr>
            <a:xfrm>
              <a:off x="1200150" y="4743450"/>
              <a:ext cx="1485900" cy="457200"/>
            </a:xfrm>
            <a:prstGeom prst="roundRect">
              <a:avLst>
                <a:gd name="adj" fmla="val 50000"/>
              </a:avLst>
            </a:prstGeom>
            <a:solidFill>
              <a:srgbClr val="FBD2C9"/>
            </a:solidFill>
            <a:ln>
              <a:noFill/>
            </a:ln>
          </p:spPr>
        </p:sp>
        <p:sp>
          <p:nvSpPr>
            <p:cNvPr id="23" name="TextBox 23"/>
            <p:cNvSpPr txBox="1"/>
            <p:nvPr/>
          </p:nvSpPr>
          <p:spPr>
            <a:xfrm>
              <a:off x="1754505" y="4892992"/>
              <a:ext cx="377190"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人事</a:t>
              </a:r>
            </a:p>
          </p:txBody>
        </p:sp>
        <p:sp>
          <p:nvSpPr>
            <p:cNvPr id="24" name="Rectangle 24"/>
            <p:cNvSpPr/>
            <p:nvPr/>
          </p:nvSpPr>
          <p:spPr>
            <a:xfrm>
              <a:off x="1200150" y="5410200"/>
              <a:ext cx="1485900" cy="457200"/>
            </a:xfrm>
            <a:prstGeom prst="roundRect">
              <a:avLst>
                <a:gd name="adj" fmla="val 50000"/>
              </a:avLst>
            </a:prstGeom>
            <a:solidFill>
              <a:srgbClr val="FBD2C9"/>
            </a:solidFill>
            <a:ln>
              <a:noFill/>
            </a:ln>
          </p:spPr>
        </p:sp>
        <p:sp>
          <p:nvSpPr>
            <p:cNvPr id="25" name="TextBox 25"/>
            <p:cNvSpPr txBox="1"/>
            <p:nvPr/>
          </p:nvSpPr>
          <p:spPr>
            <a:xfrm>
              <a:off x="1754505" y="5559742"/>
              <a:ext cx="377190"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法务</a:t>
              </a:r>
            </a:p>
          </p:txBody>
        </p:sp>
      </p:grpSp>
      <p:grpSp>
        <p:nvGrpSpPr>
          <p:cNvPr id="37" name="branch-resource"/>
          <p:cNvGrpSpPr/>
          <p:nvPr/>
        </p:nvGrpSpPr>
        <p:grpSpPr>
          <a:xfrm>
            <a:off x="3886200" y="2743200"/>
            <a:ext cx="1638300" cy="2457450"/>
            <a:chOff x="3886200" y="2743200"/>
            <a:chExt cx="1638300" cy="2457450"/>
          </a:xfrm>
        </p:grpSpPr>
        <p:sp>
          <p:nvSpPr>
            <p:cNvPr id="27" name="Rectangle 27"/>
            <p:cNvSpPr/>
            <p:nvPr/>
          </p:nvSpPr>
          <p:spPr>
            <a:xfrm>
              <a:off x="3886200" y="2743200"/>
              <a:ext cx="1638300" cy="685800"/>
            </a:xfrm>
            <a:prstGeom prst="roundRect">
              <a:avLst>
                <a:gd name="adj" fmla="val 50000"/>
              </a:avLst>
            </a:prstGeom>
            <a:noFill/>
            <a:ln w="38100">
              <a:solidFill>
                <a:srgbClr val="FBD2C9"/>
              </a:solidFill>
            </a:ln>
          </p:spPr>
        </p:sp>
        <p:sp>
          <p:nvSpPr>
            <p:cNvPr id="28" name="Rectangle 28"/>
            <p:cNvSpPr/>
            <p:nvPr/>
          </p:nvSpPr>
          <p:spPr>
            <a:xfrm>
              <a:off x="3943350" y="2800350"/>
              <a:ext cx="1524000" cy="571500"/>
            </a:xfrm>
            <a:prstGeom prst="roundRect">
              <a:avLst>
                <a:gd name="adj" fmla="val 50000"/>
              </a:avLst>
            </a:prstGeom>
            <a:gradFill>
              <a:gsLst>
                <a:gs pos="0">
                  <a:srgbClr val="FA421D"/>
                </a:gs>
                <a:gs pos="100000">
                  <a:srgbClr val="D22C0A"/>
                </a:gs>
              </a:gsLst>
              <a:lin ang="5400000" scaled="1"/>
            </a:gradFill>
            <a:ln>
              <a:noFill/>
            </a:ln>
          </p:spPr>
        </p:sp>
        <p:sp>
          <p:nvSpPr>
            <p:cNvPr id="29" name="TextBox 29"/>
            <p:cNvSpPr txBox="1"/>
            <p:nvPr/>
          </p:nvSpPr>
          <p:spPr>
            <a:xfrm>
              <a:off x="4425886" y="3007042"/>
              <a:ext cx="558927"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资源部</a:t>
              </a:r>
            </a:p>
          </p:txBody>
        </p:sp>
        <p:sp>
          <p:nvSpPr>
            <p:cNvPr id="30" name="Line 30"/>
            <p:cNvSpPr/>
            <p:nvPr/>
          </p:nvSpPr>
          <p:spPr>
            <a:xfrm>
              <a:off x="4705350" y="3371850"/>
              <a:ext cx="9525" cy="628650"/>
            </a:xfrm>
            <a:custGeom>
              <a:avLst/>
              <a:gdLst/>
              <a:ahLst/>
              <a:cxnLst/>
              <a:rect l="l" t="t" r="r" b="b"/>
              <a:pathLst>
                <a:path w="9525" h="628650">
                  <a:moveTo>
                    <a:pt x="0" y="0"/>
                  </a:moveTo>
                  <a:lnTo>
                    <a:pt x="0" y="628650"/>
                  </a:lnTo>
                </a:path>
              </a:pathLst>
            </a:custGeom>
            <a:noFill/>
            <a:ln w="14288">
              <a:solidFill>
                <a:srgbClr val="FA421D"/>
              </a:solidFill>
            </a:ln>
          </p:spPr>
        </p:sp>
        <p:sp>
          <p:nvSpPr>
            <p:cNvPr id="31" name="Ellipse 31"/>
            <p:cNvSpPr/>
            <p:nvPr/>
          </p:nvSpPr>
          <p:spPr>
            <a:xfrm>
              <a:off x="4676775" y="3400425"/>
              <a:ext cx="57150" cy="57150"/>
            </a:xfrm>
            <a:prstGeom prst="ellipse">
              <a:avLst/>
            </a:prstGeom>
            <a:solidFill>
              <a:srgbClr val="FA421D"/>
            </a:solidFill>
            <a:ln>
              <a:noFill/>
            </a:ln>
          </p:spPr>
        </p:sp>
        <p:sp>
          <p:nvSpPr>
            <p:cNvPr id="32" name="Ellipse 32"/>
            <p:cNvSpPr/>
            <p:nvPr/>
          </p:nvSpPr>
          <p:spPr>
            <a:xfrm>
              <a:off x="4676775" y="3933825"/>
              <a:ext cx="57150" cy="57150"/>
            </a:xfrm>
            <a:prstGeom prst="ellipse">
              <a:avLst/>
            </a:prstGeom>
            <a:solidFill>
              <a:srgbClr val="FA421D"/>
            </a:solidFill>
            <a:ln>
              <a:noFill/>
            </a:ln>
          </p:spPr>
        </p:sp>
        <p:sp>
          <p:nvSpPr>
            <p:cNvPr id="33" name="Rectangle 33"/>
            <p:cNvSpPr/>
            <p:nvPr/>
          </p:nvSpPr>
          <p:spPr>
            <a:xfrm>
              <a:off x="3962400" y="4076700"/>
              <a:ext cx="1485900" cy="457200"/>
            </a:xfrm>
            <a:prstGeom prst="roundRect">
              <a:avLst>
                <a:gd name="adj" fmla="val 50000"/>
              </a:avLst>
            </a:prstGeom>
            <a:solidFill>
              <a:srgbClr val="FBD2C9"/>
            </a:solidFill>
            <a:ln>
              <a:noFill/>
            </a:ln>
          </p:spPr>
        </p:sp>
        <p:sp>
          <p:nvSpPr>
            <p:cNvPr id="34" name="TextBox 34"/>
            <p:cNvSpPr txBox="1"/>
            <p:nvPr/>
          </p:nvSpPr>
          <p:spPr>
            <a:xfrm>
              <a:off x="4516755" y="4226242"/>
              <a:ext cx="377190"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资源</a:t>
              </a:r>
            </a:p>
          </p:txBody>
        </p:sp>
        <p:sp>
          <p:nvSpPr>
            <p:cNvPr id="35" name="Rectangle 35"/>
            <p:cNvSpPr/>
            <p:nvPr/>
          </p:nvSpPr>
          <p:spPr>
            <a:xfrm>
              <a:off x="3962400" y="4743450"/>
              <a:ext cx="1485900" cy="457200"/>
            </a:xfrm>
            <a:prstGeom prst="roundRect">
              <a:avLst>
                <a:gd name="adj" fmla="val 50000"/>
              </a:avLst>
            </a:prstGeom>
            <a:solidFill>
              <a:srgbClr val="FBD2C9"/>
            </a:solidFill>
            <a:ln>
              <a:noFill/>
            </a:ln>
          </p:spPr>
        </p:sp>
        <p:sp>
          <p:nvSpPr>
            <p:cNvPr id="36" name="TextBox 36"/>
            <p:cNvSpPr txBox="1"/>
            <p:nvPr/>
          </p:nvSpPr>
          <p:spPr>
            <a:xfrm>
              <a:off x="4516755" y="4892992"/>
              <a:ext cx="377190"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后勤</a:t>
              </a:r>
            </a:p>
          </p:txBody>
        </p:sp>
      </p:grpSp>
      <p:grpSp>
        <p:nvGrpSpPr>
          <p:cNvPr id="50" name="branch-planning"/>
          <p:cNvGrpSpPr/>
          <p:nvPr/>
        </p:nvGrpSpPr>
        <p:grpSpPr>
          <a:xfrm>
            <a:off x="6657975" y="2743200"/>
            <a:ext cx="1638300" cy="3124200"/>
            <a:chOff x="6657975" y="2743200"/>
            <a:chExt cx="1638300" cy="3124200"/>
          </a:xfrm>
        </p:grpSpPr>
        <p:sp>
          <p:nvSpPr>
            <p:cNvPr id="38" name="Rectangle 38"/>
            <p:cNvSpPr/>
            <p:nvPr/>
          </p:nvSpPr>
          <p:spPr>
            <a:xfrm>
              <a:off x="6657975" y="2743200"/>
              <a:ext cx="1638300" cy="685800"/>
            </a:xfrm>
            <a:prstGeom prst="roundRect">
              <a:avLst>
                <a:gd name="adj" fmla="val 50000"/>
              </a:avLst>
            </a:prstGeom>
            <a:noFill/>
            <a:ln w="38100">
              <a:solidFill>
                <a:srgbClr val="FBD2C9"/>
              </a:solidFill>
            </a:ln>
          </p:spPr>
        </p:sp>
        <p:sp>
          <p:nvSpPr>
            <p:cNvPr id="39" name="Rectangle 39"/>
            <p:cNvSpPr/>
            <p:nvPr/>
          </p:nvSpPr>
          <p:spPr>
            <a:xfrm>
              <a:off x="6715125" y="2800350"/>
              <a:ext cx="1524000" cy="571500"/>
            </a:xfrm>
            <a:prstGeom prst="roundRect">
              <a:avLst>
                <a:gd name="adj" fmla="val 50000"/>
              </a:avLst>
            </a:prstGeom>
            <a:gradFill>
              <a:gsLst>
                <a:gs pos="0">
                  <a:srgbClr val="FA421D"/>
                </a:gs>
                <a:gs pos="100000">
                  <a:srgbClr val="D22C0A"/>
                </a:gs>
              </a:gsLst>
              <a:lin ang="5400000" scaled="1"/>
            </a:gradFill>
            <a:ln>
              <a:noFill/>
            </a:ln>
          </p:spPr>
        </p:sp>
        <p:sp>
          <p:nvSpPr>
            <p:cNvPr id="40" name="TextBox 40"/>
            <p:cNvSpPr txBox="1"/>
            <p:nvPr/>
          </p:nvSpPr>
          <p:spPr>
            <a:xfrm>
              <a:off x="7197662" y="3007042"/>
              <a:ext cx="558927"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策划部</a:t>
              </a:r>
            </a:p>
          </p:txBody>
        </p:sp>
        <p:sp>
          <p:nvSpPr>
            <p:cNvPr id="41" name="Line 41"/>
            <p:cNvSpPr/>
            <p:nvPr/>
          </p:nvSpPr>
          <p:spPr>
            <a:xfrm>
              <a:off x="7477125" y="3371850"/>
              <a:ext cx="9525" cy="628650"/>
            </a:xfrm>
            <a:custGeom>
              <a:avLst/>
              <a:gdLst/>
              <a:ahLst/>
              <a:cxnLst/>
              <a:rect l="l" t="t" r="r" b="b"/>
              <a:pathLst>
                <a:path w="9525" h="628650">
                  <a:moveTo>
                    <a:pt x="0" y="0"/>
                  </a:moveTo>
                  <a:lnTo>
                    <a:pt x="0" y="628650"/>
                  </a:lnTo>
                </a:path>
              </a:pathLst>
            </a:custGeom>
            <a:noFill/>
            <a:ln w="14288">
              <a:solidFill>
                <a:srgbClr val="FA421D"/>
              </a:solidFill>
            </a:ln>
          </p:spPr>
        </p:sp>
        <p:sp>
          <p:nvSpPr>
            <p:cNvPr id="42" name="Ellipse 42"/>
            <p:cNvSpPr/>
            <p:nvPr/>
          </p:nvSpPr>
          <p:spPr>
            <a:xfrm>
              <a:off x="7448550" y="3400425"/>
              <a:ext cx="57150" cy="57150"/>
            </a:xfrm>
            <a:prstGeom prst="ellipse">
              <a:avLst/>
            </a:prstGeom>
            <a:solidFill>
              <a:srgbClr val="FA421D"/>
            </a:solidFill>
            <a:ln>
              <a:noFill/>
            </a:ln>
          </p:spPr>
        </p:sp>
        <p:sp>
          <p:nvSpPr>
            <p:cNvPr id="43" name="Ellipse 43"/>
            <p:cNvSpPr/>
            <p:nvPr/>
          </p:nvSpPr>
          <p:spPr>
            <a:xfrm>
              <a:off x="7448550" y="3933825"/>
              <a:ext cx="57150" cy="57150"/>
            </a:xfrm>
            <a:prstGeom prst="ellipse">
              <a:avLst/>
            </a:prstGeom>
            <a:solidFill>
              <a:srgbClr val="FA421D"/>
            </a:solidFill>
            <a:ln>
              <a:noFill/>
            </a:ln>
          </p:spPr>
        </p:sp>
        <p:sp>
          <p:nvSpPr>
            <p:cNvPr id="44" name="Rectangle 44"/>
            <p:cNvSpPr/>
            <p:nvPr/>
          </p:nvSpPr>
          <p:spPr>
            <a:xfrm>
              <a:off x="6734175" y="4076700"/>
              <a:ext cx="1485900" cy="457200"/>
            </a:xfrm>
            <a:prstGeom prst="roundRect">
              <a:avLst>
                <a:gd name="adj" fmla="val 50000"/>
              </a:avLst>
            </a:prstGeom>
            <a:solidFill>
              <a:srgbClr val="FBD2C9"/>
            </a:solidFill>
            <a:ln>
              <a:noFill/>
            </a:ln>
          </p:spPr>
        </p:sp>
        <p:sp>
          <p:nvSpPr>
            <p:cNvPr id="45" name="TextBox 45"/>
            <p:cNvSpPr txBox="1"/>
            <p:nvPr/>
          </p:nvSpPr>
          <p:spPr>
            <a:xfrm>
              <a:off x="7288530" y="4226242"/>
              <a:ext cx="377190"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策划</a:t>
              </a:r>
            </a:p>
          </p:txBody>
        </p:sp>
        <p:sp>
          <p:nvSpPr>
            <p:cNvPr id="46" name="Rectangle 46"/>
            <p:cNvSpPr/>
            <p:nvPr/>
          </p:nvSpPr>
          <p:spPr>
            <a:xfrm>
              <a:off x="6734175" y="4743450"/>
              <a:ext cx="1485900" cy="457200"/>
            </a:xfrm>
            <a:prstGeom prst="roundRect">
              <a:avLst>
                <a:gd name="adj" fmla="val 50000"/>
              </a:avLst>
            </a:prstGeom>
            <a:solidFill>
              <a:srgbClr val="FBD2C9"/>
            </a:solidFill>
            <a:ln>
              <a:noFill/>
            </a:ln>
          </p:spPr>
        </p:sp>
        <p:sp>
          <p:nvSpPr>
            <p:cNvPr id="47" name="TextBox 47"/>
            <p:cNvSpPr txBox="1"/>
            <p:nvPr/>
          </p:nvSpPr>
          <p:spPr>
            <a:xfrm>
              <a:off x="7288530" y="4892992"/>
              <a:ext cx="377190"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设计</a:t>
              </a:r>
            </a:p>
          </p:txBody>
        </p:sp>
        <p:sp>
          <p:nvSpPr>
            <p:cNvPr id="48" name="Rectangle 48"/>
            <p:cNvSpPr/>
            <p:nvPr/>
          </p:nvSpPr>
          <p:spPr>
            <a:xfrm>
              <a:off x="6734175" y="5410200"/>
              <a:ext cx="1485900" cy="457200"/>
            </a:xfrm>
            <a:prstGeom prst="roundRect">
              <a:avLst>
                <a:gd name="adj" fmla="val 50000"/>
              </a:avLst>
            </a:prstGeom>
            <a:solidFill>
              <a:srgbClr val="FBD2C9"/>
            </a:solidFill>
            <a:ln>
              <a:noFill/>
            </a:ln>
          </p:spPr>
        </p:sp>
        <p:sp>
          <p:nvSpPr>
            <p:cNvPr id="49" name="TextBox 49"/>
            <p:cNvSpPr txBox="1"/>
            <p:nvPr/>
          </p:nvSpPr>
          <p:spPr>
            <a:xfrm>
              <a:off x="7288530" y="5559742"/>
              <a:ext cx="377190"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执行</a:t>
              </a:r>
            </a:p>
          </p:txBody>
        </p:sp>
      </p:grpSp>
      <p:grpSp>
        <p:nvGrpSpPr>
          <p:cNvPr id="61" name="branch-market"/>
          <p:cNvGrpSpPr/>
          <p:nvPr/>
        </p:nvGrpSpPr>
        <p:grpSpPr>
          <a:xfrm>
            <a:off x="9429750" y="2743200"/>
            <a:ext cx="1638300" cy="2457450"/>
            <a:chOff x="9429750" y="2743200"/>
            <a:chExt cx="1638300" cy="2457450"/>
          </a:xfrm>
        </p:grpSpPr>
        <p:sp>
          <p:nvSpPr>
            <p:cNvPr id="51" name="Rectangle 51"/>
            <p:cNvSpPr/>
            <p:nvPr/>
          </p:nvSpPr>
          <p:spPr>
            <a:xfrm>
              <a:off x="9429750" y="2743200"/>
              <a:ext cx="1638300" cy="685800"/>
            </a:xfrm>
            <a:prstGeom prst="roundRect">
              <a:avLst>
                <a:gd name="adj" fmla="val 50000"/>
              </a:avLst>
            </a:prstGeom>
            <a:noFill/>
            <a:ln w="38100">
              <a:solidFill>
                <a:srgbClr val="FBD2C9"/>
              </a:solidFill>
            </a:ln>
          </p:spPr>
        </p:sp>
        <p:sp>
          <p:nvSpPr>
            <p:cNvPr id="52" name="Rectangle 52"/>
            <p:cNvSpPr/>
            <p:nvPr/>
          </p:nvSpPr>
          <p:spPr>
            <a:xfrm>
              <a:off x="9486900" y="2800350"/>
              <a:ext cx="1524000" cy="571500"/>
            </a:xfrm>
            <a:prstGeom prst="roundRect">
              <a:avLst>
                <a:gd name="adj" fmla="val 50000"/>
              </a:avLst>
            </a:prstGeom>
            <a:gradFill>
              <a:gsLst>
                <a:gs pos="0">
                  <a:srgbClr val="FA421D"/>
                </a:gs>
                <a:gs pos="100000">
                  <a:srgbClr val="D22C0A"/>
                </a:gs>
              </a:gsLst>
              <a:lin ang="5400000" scaled="1"/>
            </a:gradFill>
            <a:ln>
              <a:noFill/>
            </a:ln>
          </p:spPr>
        </p:sp>
        <p:sp>
          <p:nvSpPr>
            <p:cNvPr id="53" name="TextBox 53"/>
            <p:cNvSpPr txBox="1"/>
            <p:nvPr/>
          </p:nvSpPr>
          <p:spPr>
            <a:xfrm>
              <a:off x="9969436" y="3007042"/>
              <a:ext cx="558927"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市场部</a:t>
              </a:r>
            </a:p>
          </p:txBody>
        </p:sp>
        <p:sp>
          <p:nvSpPr>
            <p:cNvPr id="54" name="Line 54"/>
            <p:cNvSpPr/>
            <p:nvPr/>
          </p:nvSpPr>
          <p:spPr>
            <a:xfrm>
              <a:off x="10248900" y="3371850"/>
              <a:ext cx="9525" cy="628650"/>
            </a:xfrm>
            <a:custGeom>
              <a:avLst/>
              <a:gdLst/>
              <a:ahLst/>
              <a:cxnLst/>
              <a:rect l="l" t="t" r="r" b="b"/>
              <a:pathLst>
                <a:path w="9525" h="628650">
                  <a:moveTo>
                    <a:pt x="0" y="0"/>
                  </a:moveTo>
                  <a:lnTo>
                    <a:pt x="0" y="628650"/>
                  </a:lnTo>
                </a:path>
              </a:pathLst>
            </a:custGeom>
            <a:noFill/>
            <a:ln w="14288">
              <a:solidFill>
                <a:srgbClr val="FA421D"/>
              </a:solidFill>
            </a:ln>
          </p:spPr>
        </p:sp>
        <p:sp>
          <p:nvSpPr>
            <p:cNvPr id="55" name="Ellipse 55"/>
            <p:cNvSpPr/>
            <p:nvPr/>
          </p:nvSpPr>
          <p:spPr>
            <a:xfrm>
              <a:off x="10220325" y="3400425"/>
              <a:ext cx="57150" cy="57150"/>
            </a:xfrm>
            <a:prstGeom prst="ellipse">
              <a:avLst/>
            </a:prstGeom>
            <a:solidFill>
              <a:srgbClr val="FA421D"/>
            </a:solidFill>
            <a:ln>
              <a:noFill/>
            </a:ln>
          </p:spPr>
        </p:sp>
        <p:sp>
          <p:nvSpPr>
            <p:cNvPr id="56" name="Ellipse 56"/>
            <p:cNvSpPr/>
            <p:nvPr/>
          </p:nvSpPr>
          <p:spPr>
            <a:xfrm>
              <a:off x="10220325" y="3933825"/>
              <a:ext cx="57150" cy="57150"/>
            </a:xfrm>
            <a:prstGeom prst="ellipse">
              <a:avLst/>
            </a:prstGeom>
            <a:solidFill>
              <a:srgbClr val="FA421D"/>
            </a:solidFill>
            <a:ln>
              <a:noFill/>
            </a:ln>
          </p:spPr>
        </p:sp>
        <p:sp>
          <p:nvSpPr>
            <p:cNvPr id="57" name="Rectangle 57"/>
            <p:cNvSpPr/>
            <p:nvPr/>
          </p:nvSpPr>
          <p:spPr>
            <a:xfrm>
              <a:off x="9505950" y="4076700"/>
              <a:ext cx="1485900" cy="457200"/>
            </a:xfrm>
            <a:prstGeom prst="roundRect">
              <a:avLst>
                <a:gd name="adj" fmla="val 50000"/>
              </a:avLst>
            </a:prstGeom>
            <a:solidFill>
              <a:srgbClr val="FBD2C9"/>
            </a:solidFill>
            <a:ln>
              <a:noFill/>
            </a:ln>
          </p:spPr>
        </p:sp>
        <p:sp>
          <p:nvSpPr>
            <p:cNvPr id="58" name="TextBox 58"/>
            <p:cNvSpPr txBox="1"/>
            <p:nvPr/>
          </p:nvSpPr>
          <p:spPr>
            <a:xfrm>
              <a:off x="10060305" y="4226242"/>
              <a:ext cx="377190"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客服</a:t>
              </a:r>
            </a:p>
          </p:txBody>
        </p:sp>
        <p:sp>
          <p:nvSpPr>
            <p:cNvPr id="59" name="Rectangle 59"/>
            <p:cNvSpPr/>
            <p:nvPr/>
          </p:nvSpPr>
          <p:spPr>
            <a:xfrm>
              <a:off x="9505950" y="4743450"/>
              <a:ext cx="1485900" cy="457200"/>
            </a:xfrm>
            <a:prstGeom prst="roundRect">
              <a:avLst>
                <a:gd name="adj" fmla="val 50000"/>
              </a:avLst>
            </a:prstGeom>
            <a:solidFill>
              <a:srgbClr val="FBD2C9"/>
            </a:solidFill>
            <a:ln>
              <a:noFill/>
            </a:ln>
          </p:spPr>
        </p:sp>
        <p:sp>
          <p:nvSpPr>
            <p:cNvPr id="60" name="TextBox 60"/>
            <p:cNvSpPr txBox="1"/>
            <p:nvPr/>
          </p:nvSpPr>
          <p:spPr>
            <a:xfrm>
              <a:off x="10064420" y="4892992"/>
              <a:ext cx="368960" cy="264033"/>
            </a:xfrm>
            <a:prstGeom prst="rect">
              <a:avLst/>
            </a:prstGeom>
            <a:noFill/>
            <a:ln>
              <a:noFill/>
            </a:ln>
          </p:spPr>
          <p:txBody>
            <a:bodyPr wrap="none" lIns="0" tIns="0" rIns="0" bIns="0" anchor="t" anchorCtr="0">
              <a:spAutoFit/>
            </a:bodyPr>
            <a:lstStyle/>
            <a:p>
              <a:pPr algn="ctr"/>
              <a:r>
                <a:rPr lang="en-US" sz="1350" dirty="0">
                  <a:solidFill>
                    <a:srgbClr val="D03B1D"/>
                  </a:solidFill>
                  <a:latin typeface="+mn-lt"/>
                  <a:ea typeface="+mn-ea"/>
                  <a:cs typeface="+mn-cs"/>
                </a:rPr>
                <a:t>QC​</a:t>
              </a:r>
            </a:p>
          </p:txBody>
        </p:sp>
      </p:gr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Line 2"/>
          <p:cNvSpPr/>
          <p:nvPr/>
        </p:nvSpPr>
        <p:spPr>
          <a:xfrm>
            <a:off x="4962525" y="3733800"/>
            <a:ext cx="600075" cy="9525"/>
          </a:xfrm>
          <a:custGeom>
            <a:avLst/>
            <a:gdLst/>
            <a:ahLst/>
            <a:cxnLst/>
            <a:rect l="l" t="t" r="r" b="b"/>
            <a:pathLst>
              <a:path w="600075" h="9525">
                <a:moveTo>
                  <a:pt x="0" y="0"/>
                </a:moveTo>
                <a:lnTo>
                  <a:pt x="600075" y="0"/>
                </a:lnTo>
              </a:path>
            </a:pathLst>
          </a:custGeom>
          <a:noFill/>
          <a:ln w="14288">
            <a:solidFill>
              <a:srgbClr val="FA421D"/>
            </a:solidFill>
          </a:ln>
        </p:spPr>
      </p:sp>
      <p:sp>
        <p:nvSpPr>
          <p:cNvPr id="3" name="Line 3"/>
          <p:cNvSpPr/>
          <p:nvPr/>
        </p:nvSpPr>
        <p:spPr>
          <a:xfrm>
            <a:off x="7353300" y="3733800"/>
            <a:ext cx="952500" cy="9525"/>
          </a:xfrm>
          <a:custGeom>
            <a:avLst/>
            <a:gdLst/>
            <a:ahLst/>
            <a:cxnLst/>
            <a:rect l="l" t="t" r="r" b="b"/>
            <a:pathLst>
              <a:path w="952500" h="9525">
                <a:moveTo>
                  <a:pt x="0" y="0"/>
                </a:moveTo>
                <a:lnTo>
                  <a:pt x="952500" y="0"/>
                </a:lnTo>
              </a:path>
            </a:pathLst>
          </a:custGeom>
          <a:noFill/>
          <a:ln w="14288">
            <a:solidFill>
              <a:srgbClr val="FA421D"/>
            </a:solidFill>
          </a:ln>
        </p:spPr>
      </p:sp>
      <p:grpSp>
        <p:nvGrpSpPr>
          <p:cNvPr id="8" name="header"/>
          <p:cNvGrpSpPr/>
          <p:nvPr/>
        </p:nvGrpSpPr>
        <p:grpSpPr>
          <a:xfrm>
            <a:off x="0" y="0"/>
            <a:ext cx="12192000" cy="551879"/>
            <a:chOff x="0" y="0"/>
            <a:chExt cx="12192000" cy="551879"/>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5" name="TextBox 5"/>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21</a:t>
              </a:r>
            </a:p>
          </p:txBody>
        </p:sp>
        <p:sp>
          <p:nvSpPr>
            <p:cNvPr id="6" name="TextBox 6"/>
            <p:cNvSpPr txBox="1"/>
            <p:nvPr/>
          </p:nvSpPr>
          <p:spPr>
            <a:xfrm>
              <a:off x="904494" y="170498"/>
              <a:ext cx="1594866"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项目活动机构</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4" name="ruler-top"/>
          <p:cNvGrpSpPr/>
          <p:nvPr/>
        </p:nvGrpSpPr>
        <p:grpSpPr>
          <a:xfrm>
            <a:off x="733425" y="1485900"/>
            <a:ext cx="10782300" cy="289084"/>
            <a:chOff x="733425" y="1485900"/>
            <a:chExt cx="10782300" cy="289084"/>
          </a:xfrm>
        </p:grpSpPr>
        <p:sp>
          <p:nvSpPr>
            <p:cNvPr id="9" name="Line 9"/>
            <p:cNvSpPr/>
            <p:nvPr/>
          </p:nvSpPr>
          <p:spPr>
            <a:xfrm>
              <a:off x="733425" y="1619250"/>
              <a:ext cx="4400550" cy="9525"/>
            </a:xfrm>
            <a:custGeom>
              <a:avLst/>
              <a:gdLst/>
              <a:ahLst/>
              <a:cxnLst/>
              <a:rect l="l" t="t" r="r" b="b"/>
              <a:pathLst>
                <a:path w="4400550" h="9525">
                  <a:moveTo>
                    <a:pt x="0" y="0"/>
                  </a:moveTo>
                  <a:lnTo>
                    <a:pt x="4400550" y="0"/>
                  </a:lnTo>
                </a:path>
              </a:pathLst>
            </a:custGeom>
            <a:noFill/>
            <a:ln w="9525">
              <a:solidFill>
                <a:srgbClr val="FA421D"/>
              </a:solidFill>
              <a:custDash>
                <a:ds d="400000" sp="300000"/>
              </a:custDash>
            </a:ln>
          </p:spPr>
        </p:sp>
        <p:sp>
          <p:nvSpPr>
            <p:cNvPr id="10" name="Line 10"/>
            <p:cNvSpPr/>
            <p:nvPr/>
          </p:nvSpPr>
          <p:spPr>
            <a:xfrm>
              <a:off x="733425" y="152400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11" name="Line 11"/>
            <p:cNvSpPr/>
            <p:nvPr/>
          </p:nvSpPr>
          <p:spPr>
            <a:xfrm>
              <a:off x="5133975" y="152400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12" name="Rectangle 12"/>
            <p:cNvSpPr/>
            <p:nvPr/>
          </p:nvSpPr>
          <p:spPr>
            <a:xfrm>
              <a:off x="2428875" y="1485900"/>
              <a:ext cx="914400" cy="266700"/>
            </a:xfrm>
            <a:prstGeom prst="roundRect">
              <a:avLst>
                <a:gd name="adj" fmla="val 50000"/>
              </a:avLst>
            </a:prstGeom>
            <a:solidFill>
              <a:srgbClr val="FFFFFF"/>
            </a:solidFill>
            <a:ln w="9525">
              <a:solidFill>
                <a:srgbClr val="FA421D"/>
              </a:solidFill>
            </a:ln>
          </p:spPr>
        </p:sp>
        <p:sp>
          <p:nvSpPr>
            <p:cNvPr id="13" name="TextBox 13"/>
            <p:cNvSpPr txBox="1"/>
            <p:nvPr/>
          </p:nvSpPr>
          <p:spPr>
            <a:xfrm>
              <a:off x="2763510" y="1554956"/>
              <a:ext cx="245130" cy="220028"/>
            </a:xfrm>
            <a:prstGeom prst="rect">
              <a:avLst/>
            </a:prstGeom>
            <a:noFill/>
            <a:ln>
              <a:noFill/>
            </a:ln>
          </p:spPr>
          <p:txBody>
            <a:bodyPr wrap="none" lIns="0" tIns="0" rIns="0" bIns="0" anchor="t" anchorCtr="0">
              <a:spAutoFit/>
            </a:bodyPr>
            <a:lstStyle/>
            <a:p>
              <a:pPr algn="ctr"/>
              <a:r>
                <a:rPr lang="zh-CN" sz="1120" dirty="0">
                  <a:solidFill>
                    <a:srgbClr val="E83F1D"/>
                  </a:solidFill>
                  <a:latin typeface="+mn-lt"/>
                  <a:ea typeface="+mn-ea"/>
                  <a:cs typeface="+mn-cs"/>
                </a:rPr>
                <a:t>1心</a:t>
              </a:r>
            </a:p>
          </p:txBody>
        </p:sp>
        <p:sp>
          <p:nvSpPr>
            <p:cNvPr id="14" name="Line 14"/>
            <p:cNvSpPr/>
            <p:nvPr/>
          </p:nvSpPr>
          <p:spPr>
            <a:xfrm>
              <a:off x="5524500" y="1619250"/>
              <a:ext cx="1924050" cy="9525"/>
            </a:xfrm>
            <a:custGeom>
              <a:avLst/>
              <a:gdLst/>
              <a:ahLst/>
              <a:cxnLst/>
              <a:rect l="l" t="t" r="r" b="b"/>
              <a:pathLst>
                <a:path w="1924050" h="9525">
                  <a:moveTo>
                    <a:pt x="0" y="0"/>
                  </a:moveTo>
                  <a:lnTo>
                    <a:pt x="1924050" y="0"/>
                  </a:lnTo>
                </a:path>
              </a:pathLst>
            </a:custGeom>
            <a:noFill/>
            <a:ln w="9525">
              <a:solidFill>
                <a:srgbClr val="FA421D"/>
              </a:solidFill>
              <a:custDash>
                <a:ds d="400000" sp="300000"/>
              </a:custDash>
            </a:ln>
          </p:spPr>
        </p:sp>
        <p:sp>
          <p:nvSpPr>
            <p:cNvPr id="15" name="Line 15"/>
            <p:cNvSpPr/>
            <p:nvPr/>
          </p:nvSpPr>
          <p:spPr>
            <a:xfrm>
              <a:off x="5524500" y="152400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16" name="Line 16"/>
            <p:cNvSpPr/>
            <p:nvPr/>
          </p:nvSpPr>
          <p:spPr>
            <a:xfrm>
              <a:off x="7448550" y="152400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17" name="Rectangle 17"/>
            <p:cNvSpPr/>
            <p:nvPr/>
          </p:nvSpPr>
          <p:spPr>
            <a:xfrm>
              <a:off x="6038850" y="1485900"/>
              <a:ext cx="914400" cy="266700"/>
            </a:xfrm>
            <a:prstGeom prst="roundRect">
              <a:avLst>
                <a:gd name="adj" fmla="val 50000"/>
              </a:avLst>
            </a:prstGeom>
            <a:solidFill>
              <a:srgbClr val="FFFFFF"/>
            </a:solidFill>
            <a:ln w="9525">
              <a:solidFill>
                <a:srgbClr val="FA421D"/>
              </a:solidFill>
            </a:ln>
          </p:spPr>
        </p:sp>
        <p:sp>
          <p:nvSpPr>
            <p:cNvPr id="18" name="TextBox 18"/>
            <p:cNvSpPr txBox="1"/>
            <p:nvPr/>
          </p:nvSpPr>
          <p:spPr>
            <a:xfrm>
              <a:off x="6373485" y="1554956"/>
              <a:ext cx="245130" cy="220028"/>
            </a:xfrm>
            <a:prstGeom prst="rect">
              <a:avLst/>
            </a:prstGeom>
            <a:noFill/>
            <a:ln>
              <a:noFill/>
            </a:ln>
          </p:spPr>
          <p:txBody>
            <a:bodyPr wrap="none" lIns="0" tIns="0" rIns="0" bIns="0" anchor="t" anchorCtr="0">
              <a:spAutoFit/>
            </a:bodyPr>
            <a:lstStyle/>
            <a:p>
              <a:pPr algn="ctr"/>
              <a:r>
                <a:rPr lang="zh-CN" sz="1120" dirty="0">
                  <a:solidFill>
                    <a:srgbClr val="E83F1D"/>
                  </a:solidFill>
                  <a:latin typeface="+mn-lt"/>
                  <a:ea typeface="+mn-ea"/>
                  <a:cs typeface="+mn-cs"/>
                </a:rPr>
                <a:t>4组</a:t>
              </a:r>
            </a:p>
          </p:txBody>
        </p:sp>
        <p:sp>
          <p:nvSpPr>
            <p:cNvPr id="19" name="Line 19"/>
            <p:cNvSpPr/>
            <p:nvPr/>
          </p:nvSpPr>
          <p:spPr>
            <a:xfrm>
              <a:off x="8458200" y="1619250"/>
              <a:ext cx="3048000" cy="9525"/>
            </a:xfrm>
            <a:custGeom>
              <a:avLst/>
              <a:gdLst/>
              <a:ahLst/>
              <a:cxnLst/>
              <a:rect l="l" t="t" r="r" b="b"/>
              <a:pathLst>
                <a:path w="3048000" h="9525">
                  <a:moveTo>
                    <a:pt x="0" y="0"/>
                  </a:moveTo>
                  <a:lnTo>
                    <a:pt x="3048000" y="0"/>
                  </a:lnTo>
                </a:path>
              </a:pathLst>
            </a:custGeom>
            <a:noFill/>
            <a:ln w="9525">
              <a:solidFill>
                <a:srgbClr val="FA421D"/>
              </a:solidFill>
              <a:custDash>
                <a:ds d="400000" sp="300000"/>
              </a:custDash>
            </a:ln>
          </p:spPr>
        </p:sp>
        <p:sp>
          <p:nvSpPr>
            <p:cNvPr id="20" name="Line 20"/>
            <p:cNvSpPr/>
            <p:nvPr/>
          </p:nvSpPr>
          <p:spPr>
            <a:xfrm>
              <a:off x="8458200" y="152400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21" name="Line 21"/>
            <p:cNvSpPr/>
            <p:nvPr/>
          </p:nvSpPr>
          <p:spPr>
            <a:xfrm>
              <a:off x="11506200" y="152400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22" name="Rectangle 22"/>
            <p:cNvSpPr/>
            <p:nvPr/>
          </p:nvSpPr>
          <p:spPr>
            <a:xfrm>
              <a:off x="9525000" y="1485900"/>
              <a:ext cx="914400" cy="266700"/>
            </a:xfrm>
            <a:prstGeom prst="roundRect">
              <a:avLst>
                <a:gd name="adj" fmla="val 50000"/>
              </a:avLst>
            </a:prstGeom>
            <a:solidFill>
              <a:srgbClr val="FFFFFF"/>
            </a:solidFill>
            <a:ln w="9525">
              <a:solidFill>
                <a:srgbClr val="FA421D"/>
              </a:solidFill>
            </a:ln>
          </p:spPr>
        </p:sp>
        <p:sp>
          <p:nvSpPr>
            <p:cNvPr id="23" name="TextBox 23"/>
            <p:cNvSpPr txBox="1"/>
            <p:nvPr/>
          </p:nvSpPr>
          <p:spPr>
            <a:xfrm>
              <a:off x="9784248" y="1554956"/>
              <a:ext cx="395905" cy="220028"/>
            </a:xfrm>
            <a:prstGeom prst="rect">
              <a:avLst/>
            </a:prstGeom>
            <a:noFill/>
            <a:ln>
              <a:noFill/>
            </a:ln>
          </p:spPr>
          <p:txBody>
            <a:bodyPr wrap="none" lIns="0" tIns="0" rIns="0" bIns="0" anchor="t" anchorCtr="0">
              <a:spAutoFit/>
            </a:bodyPr>
            <a:lstStyle/>
            <a:p>
              <a:pPr algn="ctr"/>
              <a:r>
                <a:rPr lang="zh-CN" sz="1120" dirty="0">
                  <a:solidFill>
                    <a:srgbClr val="E83F1D"/>
                  </a:solidFill>
                  <a:latin typeface="+mn-lt"/>
                  <a:ea typeface="+mn-ea"/>
                  <a:cs typeface="+mn-cs"/>
                </a:rPr>
                <a:t>8板块</a:t>
              </a:r>
            </a:p>
          </p:txBody>
        </p:sp>
      </p:grpSp>
      <p:grpSp>
        <p:nvGrpSpPr>
          <p:cNvPr id="42" name="core-cluster"/>
          <p:cNvGrpSpPr/>
          <p:nvPr/>
        </p:nvGrpSpPr>
        <p:grpSpPr>
          <a:xfrm>
            <a:off x="762000" y="2009775"/>
            <a:ext cx="4314825" cy="3400425"/>
            <a:chOff x="762000" y="2009775"/>
            <a:chExt cx="4314825" cy="3400425"/>
          </a:xfrm>
        </p:grpSpPr>
        <p:sp>
          <p:nvSpPr>
            <p:cNvPr id="25" name="Line 25"/>
            <p:cNvSpPr/>
            <p:nvPr/>
          </p:nvSpPr>
          <p:spPr>
            <a:xfrm>
              <a:off x="2667000" y="2762250"/>
              <a:ext cx="857250" cy="571500"/>
            </a:xfrm>
            <a:custGeom>
              <a:avLst/>
              <a:gdLst/>
              <a:ahLst/>
              <a:cxnLst/>
              <a:rect l="l" t="t" r="r" b="b"/>
              <a:pathLst>
                <a:path w="857250" h="571500">
                  <a:moveTo>
                    <a:pt x="0" y="0"/>
                  </a:moveTo>
                  <a:lnTo>
                    <a:pt x="857250" y="571500"/>
                  </a:lnTo>
                </a:path>
              </a:pathLst>
            </a:custGeom>
            <a:noFill/>
            <a:ln w="14288">
              <a:solidFill>
                <a:srgbClr val="FA421D"/>
              </a:solidFill>
            </a:ln>
          </p:spPr>
        </p:sp>
        <p:sp>
          <p:nvSpPr>
            <p:cNvPr id="26" name="Line 26"/>
            <p:cNvSpPr/>
            <p:nvPr/>
          </p:nvSpPr>
          <p:spPr>
            <a:xfrm>
              <a:off x="1752600" y="3733800"/>
              <a:ext cx="1533525" cy="9525"/>
            </a:xfrm>
            <a:custGeom>
              <a:avLst/>
              <a:gdLst/>
              <a:ahLst/>
              <a:cxnLst/>
              <a:rect l="l" t="t" r="r" b="b"/>
              <a:pathLst>
                <a:path w="1533525" h="9525">
                  <a:moveTo>
                    <a:pt x="0" y="0"/>
                  </a:moveTo>
                  <a:lnTo>
                    <a:pt x="1533525" y="0"/>
                  </a:lnTo>
                </a:path>
              </a:pathLst>
            </a:custGeom>
            <a:noFill/>
            <a:ln w="14288">
              <a:solidFill>
                <a:srgbClr val="FA421D"/>
              </a:solidFill>
            </a:ln>
          </p:spPr>
        </p:sp>
        <p:sp>
          <p:nvSpPr>
            <p:cNvPr id="27" name="Line 27"/>
            <p:cNvSpPr/>
            <p:nvPr/>
          </p:nvSpPr>
          <p:spPr>
            <a:xfrm>
              <a:off x="2667000" y="4152900"/>
              <a:ext cx="857250" cy="514350"/>
            </a:xfrm>
            <a:custGeom>
              <a:avLst/>
              <a:gdLst/>
              <a:ahLst/>
              <a:cxnLst/>
              <a:rect l="l" t="t" r="r" b="b"/>
              <a:pathLst>
                <a:path w="857250" h="514350">
                  <a:moveTo>
                    <a:pt x="0" y="514350"/>
                  </a:moveTo>
                  <a:lnTo>
                    <a:pt x="857250" y="0"/>
                  </a:lnTo>
                </a:path>
              </a:pathLst>
            </a:custGeom>
            <a:noFill/>
            <a:ln w="14288">
              <a:solidFill>
                <a:srgbClr val="FA421D"/>
              </a:solidFill>
            </a:ln>
          </p:spPr>
        </p:sp>
        <p:sp>
          <p:nvSpPr>
            <p:cNvPr id="28" name="Ellipse 28"/>
            <p:cNvSpPr/>
            <p:nvPr/>
          </p:nvSpPr>
          <p:spPr>
            <a:xfrm>
              <a:off x="1762125" y="2009775"/>
              <a:ext cx="990600" cy="990600"/>
            </a:xfrm>
            <a:prstGeom prst="ellipse">
              <a:avLst/>
            </a:prstGeom>
            <a:gradFill>
              <a:gsLst>
                <a:gs pos="0">
                  <a:srgbClr val="FB684A"/>
                </a:gs>
                <a:gs pos="100000">
                  <a:srgbClr val="FA421D"/>
                </a:gs>
              </a:gsLst>
              <a:lin ang="5400000" scaled="1"/>
            </a:gradFill>
            <a:ln>
              <a:noFill/>
            </a:ln>
          </p:spPr>
        </p:sp>
        <p:sp>
          <p:nvSpPr>
            <p:cNvPr id="29" name="TextBox 29"/>
            <p:cNvSpPr txBox="1"/>
            <p:nvPr/>
          </p:nvSpPr>
          <p:spPr>
            <a:xfrm>
              <a:off x="2098929" y="2337435"/>
              <a:ext cx="316992" cy="444246"/>
            </a:xfrm>
            <a:prstGeom prst="rect">
              <a:avLst/>
            </a:prstGeom>
            <a:noFill/>
            <a:ln>
              <a:noFill/>
            </a:ln>
          </p:spPr>
          <p:txBody>
            <a:bodyPr wrap="none" lIns="0" tIns="0" rIns="0" bIns="0" anchor="t" anchorCtr="0">
              <a:spAutoFit/>
            </a:bodyPr>
            <a:lstStyle/>
            <a:p>
              <a:pPr algn="ctr">
                <a:lnSpc>
                  <a:spcPts val="1650"/>
                </a:lnSpc>
              </a:pPr>
              <a:r>
                <a:rPr lang="zh-CN" sz="1200" dirty="0">
                  <a:solidFill>
                    <a:srgbClr val="FFFFFF"/>
                  </a:solidFill>
                  <a:latin typeface="+mn-lt"/>
                  <a:ea typeface="+mn-ea"/>
                  <a:cs typeface="+mn-cs"/>
                </a:rPr>
                <a:t>专家</a:t>
              </a:r>
              <a:br/>
              <a:r>
                <a:rPr lang="zh-CN" sz="1200" dirty="0">
                  <a:solidFill>
                    <a:srgbClr val="FFFFFF"/>
                  </a:solidFill>
                  <a:latin typeface="+mn-lt"/>
                  <a:ea typeface="+mn-ea"/>
                  <a:cs typeface="+mn-cs"/>
                </a:rPr>
                <a:t>顾问</a:t>
              </a:r>
            </a:p>
          </p:txBody>
        </p:sp>
        <p:sp>
          <p:nvSpPr>
            <p:cNvPr id="30" name="Ellipse 30"/>
            <p:cNvSpPr/>
            <p:nvPr/>
          </p:nvSpPr>
          <p:spPr>
            <a:xfrm>
              <a:off x="762000" y="3238500"/>
              <a:ext cx="990600" cy="990600"/>
            </a:xfrm>
            <a:prstGeom prst="ellipse">
              <a:avLst/>
            </a:prstGeom>
            <a:gradFill>
              <a:gsLst>
                <a:gs pos="0">
                  <a:srgbClr val="FB684A"/>
                </a:gs>
                <a:gs pos="100000">
                  <a:srgbClr val="FA421D"/>
                </a:gs>
              </a:gsLst>
              <a:lin ang="5400000" scaled="1"/>
            </a:gradFill>
            <a:ln>
              <a:noFill/>
            </a:ln>
          </p:spPr>
        </p:sp>
        <p:sp>
          <p:nvSpPr>
            <p:cNvPr id="31" name="TextBox 31"/>
            <p:cNvSpPr txBox="1"/>
            <p:nvPr/>
          </p:nvSpPr>
          <p:spPr>
            <a:xfrm>
              <a:off x="1098804" y="3566160"/>
              <a:ext cx="316992" cy="444246"/>
            </a:xfrm>
            <a:prstGeom prst="rect">
              <a:avLst/>
            </a:prstGeom>
            <a:noFill/>
            <a:ln>
              <a:noFill/>
            </a:ln>
          </p:spPr>
          <p:txBody>
            <a:bodyPr wrap="none" lIns="0" tIns="0" rIns="0" bIns="0" anchor="t" anchorCtr="0">
              <a:spAutoFit/>
            </a:bodyPr>
            <a:lstStyle/>
            <a:p>
              <a:pPr algn="ctr">
                <a:lnSpc>
                  <a:spcPts val="1650"/>
                </a:lnSpc>
              </a:pPr>
              <a:r>
                <a:rPr lang="zh-CN" sz="1200" dirty="0">
                  <a:solidFill>
                    <a:srgbClr val="FFFFFF"/>
                  </a:solidFill>
                  <a:latin typeface="+mn-lt"/>
                  <a:ea typeface="+mn-ea"/>
                  <a:cs typeface="+mn-cs"/>
                </a:rPr>
                <a:t>领导</a:t>
              </a:r>
              <a:br/>
              <a:r>
                <a:rPr lang="zh-CN" sz="1200" dirty="0">
                  <a:solidFill>
                    <a:srgbClr val="FFFFFF"/>
                  </a:solidFill>
                  <a:latin typeface="+mn-lt"/>
                  <a:ea typeface="+mn-ea"/>
                  <a:cs typeface="+mn-cs"/>
                </a:rPr>
                <a:t>班子</a:t>
              </a:r>
            </a:p>
          </p:txBody>
        </p:sp>
        <p:sp>
          <p:nvSpPr>
            <p:cNvPr id="32" name="Ellipse 32"/>
            <p:cNvSpPr/>
            <p:nvPr/>
          </p:nvSpPr>
          <p:spPr>
            <a:xfrm>
              <a:off x="1762125" y="4419600"/>
              <a:ext cx="990600" cy="990600"/>
            </a:xfrm>
            <a:prstGeom prst="ellipse">
              <a:avLst/>
            </a:prstGeom>
            <a:gradFill>
              <a:gsLst>
                <a:gs pos="0">
                  <a:srgbClr val="FB684A"/>
                </a:gs>
                <a:gs pos="100000">
                  <a:srgbClr val="FA421D"/>
                </a:gs>
              </a:gsLst>
              <a:lin ang="5400000" scaled="1"/>
            </a:gradFill>
            <a:ln>
              <a:noFill/>
            </a:ln>
          </p:spPr>
        </p:sp>
        <p:sp>
          <p:nvSpPr>
            <p:cNvPr id="33" name="TextBox 33"/>
            <p:cNvSpPr txBox="1"/>
            <p:nvPr/>
          </p:nvSpPr>
          <p:spPr>
            <a:xfrm>
              <a:off x="2098929" y="4747260"/>
              <a:ext cx="316992" cy="444246"/>
            </a:xfrm>
            <a:prstGeom prst="rect">
              <a:avLst/>
            </a:prstGeom>
            <a:noFill/>
            <a:ln>
              <a:noFill/>
            </a:ln>
          </p:spPr>
          <p:txBody>
            <a:bodyPr wrap="none" lIns="0" tIns="0" rIns="0" bIns="0" anchor="t" anchorCtr="0">
              <a:spAutoFit/>
            </a:bodyPr>
            <a:lstStyle/>
            <a:p>
              <a:pPr algn="ctr">
                <a:lnSpc>
                  <a:spcPts val="1650"/>
                </a:lnSpc>
              </a:pPr>
              <a:r>
                <a:rPr lang="zh-CN" sz="1200" dirty="0">
                  <a:solidFill>
                    <a:srgbClr val="FFFFFF"/>
                  </a:solidFill>
                  <a:latin typeface="+mn-lt"/>
                  <a:ea typeface="+mn-ea"/>
                  <a:cs typeface="+mn-cs"/>
                </a:rPr>
                <a:t>监督</a:t>
              </a:r>
              <a:br/>
              <a:r>
                <a:rPr lang="zh-CN" sz="1200" dirty="0">
                  <a:solidFill>
                    <a:srgbClr val="FFFFFF"/>
                  </a:solidFill>
                  <a:latin typeface="+mn-lt"/>
                  <a:ea typeface="+mn-ea"/>
                  <a:cs typeface="+mn-cs"/>
                </a:rPr>
                <a:t>部分</a:t>
              </a:r>
            </a:p>
          </p:txBody>
        </p:sp>
        <p:sp>
          <p:nvSpPr>
            <p:cNvPr id="34" name="Ellipse 34"/>
            <p:cNvSpPr/>
            <p:nvPr/>
          </p:nvSpPr>
          <p:spPr>
            <a:xfrm>
              <a:off x="3171825" y="2781300"/>
              <a:ext cx="1905000" cy="1905000"/>
            </a:xfrm>
            <a:prstGeom prst="ellipse">
              <a:avLst/>
            </a:prstGeom>
            <a:solidFill>
              <a:srgbClr val="FBD2C9">
                <a:alpha val="60000"/>
              </a:srgbClr>
            </a:solidFill>
            <a:ln>
              <a:noFill/>
            </a:ln>
          </p:spPr>
        </p:sp>
        <p:sp>
          <p:nvSpPr>
            <p:cNvPr id="35" name="Ellipse 35"/>
            <p:cNvSpPr/>
            <p:nvPr/>
          </p:nvSpPr>
          <p:spPr>
            <a:xfrm>
              <a:off x="3286125" y="2895600"/>
              <a:ext cx="1676400" cy="1676400"/>
            </a:xfrm>
            <a:prstGeom prst="ellipse">
              <a:avLst/>
            </a:prstGeom>
            <a:gradFill>
              <a:gsLst>
                <a:gs pos="0">
                  <a:srgbClr val="FB795E"/>
                </a:gs>
                <a:gs pos="100000">
                  <a:srgbClr val="FA421D"/>
                </a:gs>
              </a:gsLst>
              <a:lin ang="5400000" scaled="1"/>
            </a:gradFill>
            <a:ln>
              <a:noFill/>
            </a:ln>
          </p:spPr>
        </p:sp>
        <p:grpSp>
          <p:nvGrpSpPr>
            <p:cNvPr id="40" name="Group 40"/>
            <p:cNvGrpSpPr/>
            <p:nvPr/>
          </p:nvGrpSpPr>
          <p:grpSpPr>
            <a:xfrm>
              <a:off x="4002087" y="3252787"/>
              <a:ext cx="244475" cy="314324"/>
              <a:chOff x="4002087" y="3252787"/>
              <a:chExt cx="244475" cy="314324"/>
            </a:xfrm>
          </p:grpSpPr>
          <p:sp>
            <p:nvSpPr>
              <p:cNvPr id="36" name="Freeform 36"/>
              <p:cNvSpPr/>
              <p:nvPr/>
            </p:nvSpPr>
            <p:spPr>
              <a:xfrm>
                <a:off x="4002087" y="3287712"/>
                <a:ext cx="244475" cy="279399"/>
              </a:xfrm>
              <a:custGeom>
                <a:avLst/>
                <a:gdLst/>
                <a:ahLst/>
                <a:cxnLst/>
                <a:rect l="l" t="t" r="r" b="b"/>
                <a:pathLst>
                  <a:path w="244475" h="279399">
                    <a:moveTo>
                      <a:pt x="69850" y="0"/>
                    </a:moveTo>
                    <a:lnTo>
                      <a:pt x="34925" y="0"/>
                    </a:lnTo>
                    <a:cubicBezTo>
                      <a:pt x="15636" y="0"/>
                      <a:pt x="0" y="15636"/>
                      <a:pt x="0" y="34925"/>
                    </a:cubicBezTo>
                    <a:lnTo>
                      <a:pt x="0" y="244475"/>
                    </a:lnTo>
                    <a:cubicBezTo>
                      <a:pt x="0" y="263763"/>
                      <a:pt x="15636" y="279399"/>
                      <a:pt x="34925" y="279399"/>
                    </a:cubicBezTo>
                    <a:lnTo>
                      <a:pt x="209550" y="279399"/>
                    </a:lnTo>
                    <a:cubicBezTo>
                      <a:pt x="228838" y="279399"/>
                      <a:pt x="244475" y="263763"/>
                      <a:pt x="244475" y="244475"/>
                    </a:cubicBezTo>
                    <a:lnTo>
                      <a:pt x="244475" y="34925"/>
                    </a:lnTo>
                    <a:cubicBezTo>
                      <a:pt x="244475" y="15636"/>
                      <a:pt x="228838" y="0"/>
                      <a:pt x="209550" y="0"/>
                    </a:cubicBezTo>
                    <a:lnTo>
                      <a:pt x="174625" y="0"/>
                    </a:lnTo>
                  </a:path>
                </a:pathLst>
              </a:custGeom>
              <a:noFill/>
              <a:ln w="26194">
                <a:solidFill>
                  <a:srgbClr val="FFFFFF"/>
                </a:solidFill>
              </a:ln>
            </p:spPr>
          </p:sp>
          <p:sp>
            <p:nvSpPr>
              <p:cNvPr id="37" name="Freeform 37"/>
              <p:cNvSpPr/>
              <p:nvPr/>
            </p:nvSpPr>
            <p:spPr>
              <a:xfrm>
                <a:off x="4071937" y="3252787"/>
                <a:ext cx="104775" cy="69850"/>
              </a:xfrm>
              <a:custGeom>
                <a:avLst/>
                <a:gdLst/>
                <a:ahLst/>
                <a:cxnLst/>
                <a:rect l="l" t="t" r="r" b="b"/>
                <a:pathLst>
                  <a:path w="104775" h="69850">
                    <a:moveTo>
                      <a:pt x="0" y="34925"/>
                    </a:moveTo>
                    <a:cubicBezTo>
                      <a:pt x="0" y="15636"/>
                      <a:pt x="15636" y="0"/>
                      <a:pt x="34925" y="0"/>
                    </a:cubicBezTo>
                    <a:lnTo>
                      <a:pt x="69850" y="0"/>
                    </a:lnTo>
                    <a:cubicBezTo>
                      <a:pt x="89138" y="0"/>
                      <a:pt x="104775" y="15636"/>
                      <a:pt x="104775" y="34925"/>
                    </a:cubicBezTo>
                    <a:cubicBezTo>
                      <a:pt x="104775" y="54213"/>
                      <a:pt x="89138" y="69850"/>
                      <a:pt x="69850" y="69850"/>
                    </a:cubicBezTo>
                    <a:lnTo>
                      <a:pt x="34925" y="69850"/>
                    </a:lnTo>
                    <a:cubicBezTo>
                      <a:pt x="15636" y="69850"/>
                      <a:pt x="0" y="54213"/>
                      <a:pt x="0" y="34925"/>
                    </a:cubicBezTo>
                  </a:path>
                </a:pathLst>
              </a:custGeom>
              <a:noFill/>
              <a:ln w="26194">
                <a:solidFill>
                  <a:srgbClr val="FFFFFF"/>
                </a:solidFill>
              </a:ln>
            </p:spPr>
          </p:sp>
          <p:sp>
            <p:nvSpPr>
              <p:cNvPr id="38" name="Freeform 38"/>
              <p:cNvSpPr/>
              <p:nvPr/>
            </p:nvSpPr>
            <p:spPr>
              <a:xfrm>
                <a:off x="4071937" y="3409950"/>
                <a:ext cx="104775" cy="9525"/>
              </a:xfrm>
              <a:custGeom>
                <a:avLst/>
                <a:gdLst/>
                <a:ahLst/>
                <a:cxnLst/>
                <a:rect l="l" t="t" r="r" b="b"/>
                <a:pathLst>
                  <a:path w="104775" h="9525">
                    <a:moveTo>
                      <a:pt x="0" y="0"/>
                    </a:moveTo>
                    <a:lnTo>
                      <a:pt x="104775" y="0"/>
                    </a:lnTo>
                  </a:path>
                </a:pathLst>
              </a:custGeom>
              <a:noFill/>
              <a:ln w="26194">
                <a:solidFill>
                  <a:srgbClr val="FFFFFF"/>
                </a:solidFill>
              </a:ln>
            </p:spPr>
          </p:sp>
          <p:sp>
            <p:nvSpPr>
              <p:cNvPr id="39" name="Freeform 39"/>
              <p:cNvSpPr/>
              <p:nvPr/>
            </p:nvSpPr>
            <p:spPr>
              <a:xfrm>
                <a:off x="4071937" y="3479799"/>
                <a:ext cx="104775" cy="9525"/>
              </a:xfrm>
              <a:custGeom>
                <a:avLst/>
                <a:gdLst/>
                <a:ahLst/>
                <a:cxnLst/>
                <a:rect l="l" t="t" r="r" b="b"/>
                <a:pathLst>
                  <a:path w="104775" h="9525">
                    <a:moveTo>
                      <a:pt x="0" y="0"/>
                    </a:moveTo>
                    <a:lnTo>
                      <a:pt x="104775" y="0"/>
                    </a:lnTo>
                  </a:path>
                </a:pathLst>
              </a:custGeom>
              <a:noFill/>
              <a:ln w="26194">
                <a:solidFill>
                  <a:srgbClr val="FFFFFF"/>
                </a:solidFill>
              </a:ln>
            </p:spPr>
          </p:sp>
        </p:grpSp>
        <p:sp>
          <p:nvSpPr>
            <p:cNvPr id="41" name="TextBox 41"/>
            <p:cNvSpPr txBox="1"/>
            <p:nvPr/>
          </p:nvSpPr>
          <p:spPr>
            <a:xfrm>
              <a:off x="3712845" y="3876675"/>
              <a:ext cx="82296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项目中心</a:t>
              </a:r>
            </a:p>
          </p:txBody>
        </p:sp>
      </p:grpSp>
      <p:grpSp>
        <p:nvGrpSpPr>
          <p:cNvPr id="56" name="four-groups"/>
          <p:cNvGrpSpPr/>
          <p:nvPr/>
        </p:nvGrpSpPr>
        <p:grpSpPr>
          <a:xfrm>
            <a:off x="5562600" y="2343150"/>
            <a:ext cx="1790700" cy="2733675"/>
            <a:chOff x="5562600" y="2343150"/>
            <a:chExt cx="1790700" cy="2733675"/>
          </a:xfrm>
        </p:grpSpPr>
        <p:sp>
          <p:nvSpPr>
            <p:cNvPr id="43" name="Line 43"/>
            <p:cNvSpPr/>
            <p:nvPr/>
          </p:nvSpPr>
          <p:spPr>
            <a:xfrm>
              <a:off x="5562600" y="2552700"/>
              <a:ext cx="9525" cy="2314575"/>
            </a:xfrm>
            <a:custGeom>
              <a:avLst/>
              <a:gdLst/>
              <a:ahLst/>
              <a:cxnLst/>
              <a:rect l="l" t="t" r="r" b="b"/>
              <a:pathLst>
                <a:path w="9525" h="2314575">
                  <a:moveTo>
                    <a:pt x="0" y="0"/>
                  </a:moveTo>
                  <a:lnTo>
                    <a:pt x="0" y="2314575"/>
                  </a:lnTo>
                </a:path>
              </a:pathLst>
            </a:custGeom>
            <a:noFill/>
            <a:ln w="14288">
              <a:solidFill>
                <a:srgbClr val="FA421D"/>
              </a:solidFill>
            </a:ln>
          </p:spPr>
        </p:sp>
        <p:sp>
          <p:nvSpPr>
            <p:cNvPr id="44" name="Line 44"/>
            <p:cNvSpPr/>
            <p:nvPr/>
          </p:nvSpPr>
          <p:spPr>
            <a:xfrm>
              <a:off x="5562600" y="2552700"/>
              <a:ext cx="114300" cy="9525"/>
            </a:xfrm>
            <a:custGeom>
              <a:avLst/>
              <a:gdLst/>
              <a:ahLst/>
              <a:cxnLst/>
              <a:rect l="l" t="t" r="r" b="b"/>
              <a:pathLst>
                <a:path w="114300" h="9525">
                  <a:moveTo>
                    <a:pt x="0" y="0"/>
                  </a:moveTo>
                  <a:lnTo>
                    <a:pt x="114300" y="0"/>
                  </a:lnTo>
                </a:path>
              </a:pathLst>
            </a:custGeom>
            <a:noFill/>
            <a:ln w="14288">
              <a:solidFill>
                <a:srgbClr val="FA421D"/>
              </a:solidFill>
            </a:ln>
          </p:spPr>
        </p:sp>
        <p:sp>
          <p:nvSpPr>
            <p:cNvPr id="45" name="Line 45"/>
            <p:cNvSpPr/>
            <p:nvPr/>
          </p:nvSpPr>
          <p:spPr>
            <a:xfrm>
              <a:off x="5562600" y="3324225"/>
              <a:ext cx="114300" cy="9525"/>
            </a:xfrm>
            <a:custGeom>
              <a:avLst/>
              <a:gdLst/>
              <a:ahLst/>
              <a:cxnLst/>
              <a:rect l="l" t="t" r="r" b="b"/>
              <a:pathLst>
                <a:path w="114300" h="9525">
                  <a:moveTo>
                    <a:pt x="0" y="0"/>
                  </a:moveTo>
                  <a:lnTo>
                    <a:pt x="114300" y="0"/>
                  </a:lnTo>
                </a:path>
              </a:pathLst>
            </a:custGeom>
            <a:noFill/>
            <a:ln w="14288">
              <a:solidFill>
                <a:srgbClr val="FA421D"/>
              </a:solidFill>
            </a:ln>
          </p:spPr>
        </p:sp>
        <p:sp>
          <p:nvSpPr>
            <p:cNvPr id="46" name="Line 46"/>
            <p:cNvSpPr/>
            <p:nvPr/>
          </p:nvSpPr>
          <p:spPr>
            <a:xfrm>
              <a:off x="5562600" y="4095750"/>
              <a:ext cx="114300" cy="9525"/>
            </a:xfrm>
            <a:custGeom>
              <a:avLst/>
              <a:gdLst/>
              <a:ahLst/>
              <a:cxnLst/>
              <a:rect l="l" t="t" r="r" b="b"/>
              <a:pathLst>
                <a:path w="114300" h="9525">
                  <a:moveTo>
                    <a:pt x="0" y="0"/>
                  </a:moveTo>
                  <a:lnTo>
                    <a:pt x="114300" y="0"/>
                  </a:lnTo>
                </a:path>
              </a:pathLst>
            </a:custGeom>
            <a:noFill/>
            <a:ln w="14288">
              <a:solidFill>
                <a:srgbClr val="FA421D"/>
              </a:solidFill>
            </a:ln>
          </p:spPr>
        </p:sp>
        <p:sp>
          <p:nvSpPr>
            <p:cNvPr id="47" name="Line 47"/>
            <p:cNvSpPr/>
            <p:nvPr/>
          </p:nvSpPr>
          <p:spPr>
            <a:xfrm>
              <a:off x="5562600" y="4867275"/>
              <a:ext cx="114300" cy="9525"/>
            </a:xfrm>
            <a:custGeom>
              <a:avLst/>
              <a:gdLst/>
              <a:ahLst/>
              <a:cxnLst/>
              <a:rect l="l" t="t" r="r" b="b"/>
              <a:pathLst>
                <a:path w="114300" h="9525">
                  <a:moveTo>
                    <a:pt x="0" y="0"/>
                  </a:moveTo>
                  <a:lnTo>
                    <a:pt x="114300" y="0"/>
                  </a:lnTo>
                </a:path>
              </a:pathLst>
            </a:custGeom>
            <a:noFill/>
            <a:ln w="14288">
              <a:solidFill>
                <a:srgbClr val="FA421D"/>
              </a:solidFill>
            </a:ln>
          </p:spPr>
        </p:sp>
        <p:sp>
          <p:nvSpPr>
            <p:cNvPr id="48" name="Rectangle 48"/>
            <p:cNvSpPr/>
            <p:nvPr/>
          </p:nvSpPr>
          <p:spPr>
            <a:xfrm>
              <a:off x="5676900" y="2343150"/>
              <a:ext cx="1676400" cy="419100"/>
            </a:xfrm>
            <a:prstGeom prst="roundRect">
              <a:avLst>
                <a:gd name="adj" fmla="val 18182"/>
              </a:avLst>
            </a:prstGeom>
            <a:gradFill>
              <a:gsLst>
                <a:gs pos="0">
                  <a:srgbClr val="FA421D"/>
                </a:gs>
                <a:gs pos="100000">
                  <a:srgbClr val="D22C0A"/>
                </a:gs>
              </a:gsLst>
              <a:lin ang="5400000" scaled="1"/>
            </a:gradFill>
            <a:ln>
              <a:noFill/>
            </a:ln>
          </p:spPr>
        </p:sp>
        <p:sp>
          <p:nvSpPr>
            <p:cNvPr id="49" name="TextBox 49"/>
            <p:cNvSpPr txBox="1"/>
            <p:nvPr/>
          </p:nvSpPr>
          <p:spPr>
            <a:xfrm>
              <a:off x="6132449" y="2488406"/>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项目策略组</a:t>
              </a:r>
            </a:p>
          </p:txBody>
        </p:sp>
        <p:sp>
          <p:nvSpPr>
            <p:cNvPr id="50" name="Rectangle 50"/>
            <p:cNvSpPr/>
            <p:nvPr/>
          </p:nvSpPr>
          <p:spPr>
            <a:xfrm>
              <a:off x="5676900" y="3114675"/>
              <a:ext cx="1676400" cy="419100"/>
            </a:xfrm>
            <a:prstGeom prst="roundRect">
              <a:avLst>
                <a:gd name="adj" fmla="val 18182"/>
              </a:avLst>
            </a:prstGeom>
            <a:gradFill>
              <a:gsLst>
                <a:gs pos="0">
                  <a:srgbClr val="FA421D"/>
                </a:gs>
                <a:gs pos="100000">
                  <a:srgbClr val="D22C0A"/>
                </a:gs>
              </a:gsLst>
              <a:lin ang="5400000" scaled="1"/>
            </a:gradFill>
            <a:ln>
              <a:noFill/>
            </a:ln>
          </p:spPr>
        </p:sp>
        <p:sp>
          <p:nvSpPr>
            <p:cNvPr id="51" name="TextBox 51"/>
            <p:cNvSpPr txBox="1"/>
            <p:nvPr/>
          </p:nvSpPr>
          <p:spPr>
            <a:xfrm>
              <a:off x="6132449" y="3259931"/>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项目管理组</a:t>
              </a:r>
            </a:p>
          </p:txBody>
        </p:sp>
        <p:sp>
          <p:nvSpPr>
            <p:cNvPr id="52" name="Rectangle 52"/>
            <p:cNvSpPr/>
            <p:nvPr/>
          </p:nvSpPr>
          <p:spPr>
            <a:xfrm>
              <a:off x="5676900" y="3886200"/>
              <a:ext cx="1676400" cy="419100"/>
            </a:xfrm>
            <a:prstGeom prst="roundRect">
              <a:avLst>
                <a:gd name="adj" fmla="val 18182"/>
              </a:avLst>
            </a:prstGeom>
            <a:gradFill>
              <a:gsLst>
                <a:gs pos="0">
                  <a:srgbClr val="FA421D"/>
                </a:gs>
                <a:gs pos="100000">
                  <a:srgbClr val="D22C0A"/>
                </a:gs>
              </a:gsLst>
              <a:lin ang="5400000" scaled="1"/>
            </a:gradFill>
            <a:ln>
              <a:noFill/>
            </a:ln>
          </p:spPr>
        </p:sp>
        <p:sp>
          <p:nvSpPr>
            <p:cNvPr id="53" name="TextBox 53"/>
            <p:cNvSpPr txBox="1"/>
            <p:nvPr/>
          </p:nvSpPr>
          <p:spPr>
            <a:xfrm>
              <a:off x="6132449" y="4031456"/>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媒介关系组</a:t>
              </a:r>
            </a:p>
          </p:txBody>
        </p:sp>
        <p:sp>
          <p:nvSpPr>
            <p:cNvPr id="54" name="Rectangle 54"/>
            <p:cNvSpPr/>
            <p:nvPr/>
          </p:nvSpPr>
          <p:spPr>
            <a:xfrm>
              <a:off x="5676900" y="4657725"/>
              <a:ext cx="1676400" cy="419100"/>
            </a:xfrm>
            <a:prstGeom prst="roundRect">
              <a:avLst>
                <a:gd name="adj" fmla="val 18182"/>
              </a:avLst>
            </a:prstGeom>
            <a:gradFill>
              <a:gsLst>
                <a:gs pos="0">
                  <a:srgbClr val="FA421D"/>
                </a:gs>
                <a:gs pos="100000">
                  <a:srgbClr val="D22C0A"/>
                </a:gs>
              </a:gsLst>
              <a:lin ang="5400000" scaled="1"/>
            </a:gradFill>
            <a:ln>
              <a:noFill/>
            </a:ln>
          </p:spPr>
        </p:sp>
        <p:sp>
          <p:nvSpPr>
            <p:cNvPr id="55" name="TextBox 55"/>
            <p:cNvSpPr txBox="1"/>
            <p:nvPr/>
          </p:nvSpPr>
          <p:spPr>
            <a:xfrm>
              <a:off x="6132449" y="4802981"/>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市场研究组</a:t>
              </a:r>
            </a:p>
          </p:txBody>
        </p:sp>
      </p:grpSp>
      <p:grpSp>
        <p:nvGrpSpPr>
          <p:cNvPr id="78" name="eight-blocks"/>
          <p:cNvGrpSpPr/>
          <p:nvPr/>
        </p:nvGrpSpPr>
        <p:grpSpPr>
          <a:xfrm>
            <a:off x="8305800" y="2590800"/>
            <a:ext cx="3200400" cy="2209800"/>
            <a:chOff x="8305800" y="2590800"/>
            <a:chExt cx="3200400" cy="2209800"/>
          </a:xfrm>
        </p:grpSpPr>
        <p:sp>
          <p:nvSpPr>
            <p:cNvPr id="57" name="Line 57"/>
            <p:cNvSpPr/>
            <p:nvPr/>
          </p:nvSpPr>
          <p:spPr>
            <a:xfrm>
              <a:off x="8305800" y="2781300"/>
              <a:ext cx="9525" cy="1828800"/>
            </a:xfrm>
            <a:custGeom>
              <a:avLst/>
              <a:gdLst/>
              <a:ahLst/>
              <a:cxnLst/>
              <a:rect l="l" t="t" r="r" b="b"/>
              <a:pathLst>
                <a:path w="9525" h="1828800">
                  <a:moveTo>
                    <a:pt x="0" y="0"/>
                  </a:moveTo>
                  <a:lnTo>
                    <a:pt x="0" y="1828800"/>
                  </a:lnTo>
                </a:path>
              </a:pathLst>
            </a:custGeom>
            <a:noFill/>
            <a:ln w="14288">
              <a:solidFill>
                <a:srgbClr val="FA421D"/>
              </a:solidFill>
            </a:ln>
          </p:spPr>
        </p:sp>
        <p:sp>
          <p:nvSpPr>
            <p:cNvPr id="58" name="Line 58"/>
            <p:cNvSpPr/>
            <p:nvPr/>
          </p:nvSpPr>
          <p:spPr>
            <a:xfrm>
              <a:off x="8305800" y="2781300"/>
              <a:ext cx="190500" cy="9525"/>
            </a:xfrm>
            <a:custGeom>
              <a:avLst/>
              <a:gdLst/>
              <a:ahLst/>
              <a:cxnLst/>
              <a:rect l="l" t="t" r="r" b="b"/>
              <a:pathLst>
                <a:path w="190500" h="9525">
                  <a:moveTo>
                    <a:pt x="0" y="0"/>
                  </a:moveTo>
                  <a:lnTo>
                    <a:pt x="190500" y="0"/>
                  </a:lnTo>
                </a:path>
              </a:pathLst>
            </a:custGeom>
            <a:noFill/>
            <a:ln w="14288">
              <a:solidFill>
                <a:srgbClr val="FA421D"/>
              </a:solidFill>
            </a:ln>
          </p:spPr>
        </p:sp>
        <p:sp>
          <p:nvSpPr>
            <p:cNvPr id="59" name="Line 59"/>
            <p:cNvSpPr/>
            <p:nvPr/>
          </p:nvSpPr>
          <p:spPr>
            <a:xfrm>
              <a:off x="8305800" y="3390900"/>
              <a:ext cx="190500" cy="9525"/>
            </a:xfrm>
            <a:custGeom>
              <a:avLst/>
              <a:gdLst/>
              <a:ahLst/>
              <a:cxnLst/>
              <a:rect l="l" t="t" r="r" b="b"/>
              <a:pathLst>
                <a:path w="190500" h="9525">
                  <a:moveTo>
                    <a:pt x="0" y="0"/>
                  </a:moveTo>
                  <a:lnTo>
                    <a:pt x="190500" y="0"/>
                  </a:lnTo>
                </a:path>
              </a:pathLst>
            </a:custGeom>
            <a:noFill/>
            <a:ln w="14288">
              <a:solidFill>
                <a:srgbClr val="FA421D"/>
              </a:solidFill>
            </a:ln>
          </p:spPr>
        </p:sp>
        <p:sp>
          <p:nvSpPr>
            <p:cNvPr id="60" name="Line 60"/>
            <p:cNvSpPr/>
            <p:nvPr/>
          </p:nvSpPr>
          <p:spPr>
            <a:xfrm>
              <a:off x="8305800" y="4000500"/>
              <a:ext cx="190500" cy="9525"/>
            </a:xfrm>
            <a:custGeom>
              <a:avLst/>
              <a:gdLst/>
              <a:ahLst/>
              <a:cxnLst/>
              <a:rect l="l" t="t" r="r" b="b"/>
              <a:pathLst>
                <a:path w="190500" h="9525">
                  <a:moveTo>
                    <a:pt x="0" y="0"/>
                  </a:moveTo>
                  <a:lnTo>
                    <a:pt x="190500" y="0"/>
                  </a:lnTo>
                </a:path>
              </a:pathLst>
            </a:custGeom>
            <a:noFill/>
            <a:ln w="14288">
              <a:solidFill>
                <a:srgbClr val="FA421D"/>
              </a:solidFill>
            </a:ln>
          </p:spPr>
        </p:sp>
        <p:sp>
          <p:nvSpPr>
            <p:cNvPr id="61" name="Line 61"/>
            <p:cNvSpPr/>
            <p:nvPr/>
          </p:nvSpPr>
          <p:spPr>
            <a:xfrm>
              <a:off x="8305800" y="4610100"/>
              <a:ext cx="190500" cy="9525"/>
            </a:xfrm>
            <a:custGeom>
              <a:avLst/>
              <a:gdLst/>
              <a:ahLst/>
              <a:cxnLst/>
              <a:rect l="l" t="t" r="r" b="b"/>
              <a:pathLst>
                <a:path w="190500" h="9525">
                  <a:moveTo>
                    <a:pt x="0" y="0"/>
                  </a:moveTo>
                  <a:lnTo>
                    <a:pt x="190500" y="0"/>
                  </a:lnTo>
                </a:path>
              </a:pathLst>
            </a:custGeom>
            <a:noFill/>
            <a:ln w="14288">
              <a:solidFill>
                <a:srgbClr val="FA421D"/>
              </a:solidFill>
            </a:ln>
          </p:spPr>
        </p:sp>
        <p:sp>
          <p:nvSpPr>
            <p:cNvPr id="62" name="Rectangle 62"/>
            <p:cNvSpPr/>
            <p:nvPr/>
          </p:nvSpPr>
          <p:spPr>
            <a:xfrm>
              <a:off x="8496300" y="2590800"/>
              <a:ext cx="1428750" cy="381000"/>
            </a:xfrm>
            <a:prstGeom prst="roundRect">
              <a:avLst>
                <a:gd name="adj" fmla="val 50000"/>
              </a:avLst>
            </a:prstGeom>
            <a:solidFill>
              <a:srgbClr val="FBD2C9"/>
            </a:solidFill>
            <a:ln>
              <a:noFill/>
            </a:ln>
          </p:spPr>
        </p:sp>
        <p:sp>
          <p:nvSpPr>
            <p:cNvPr id="63" name="TextBox 63"/>
            <p:cNvSpPr txBox="1"/>
            <p:nvPr/>
          </p:nvSpPr>
          <p:spPr>
            <a:xfrm>
              <a:off x="8903411" y="2717006"/>
              <a:ext cx="614528"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来宾邀请</a:t>
              </a:r>
            </a:p>
          </p:txBody>
        </p:sp>
        <p:sp>
          <p:nvSpPr>
            <p:cNvPr id="64" name="Rectangle 64"/>
            <p:cNvSpPr/>
            <p:nvPr/>
          </p:nvSpPr>
          <p:spPr>
            <a:xfrm>
              <a:off x="10077450" y="2590800"/>
              <a:ext cx="1428750" cy="381000"/>
            </a:xfrm>
            <a:prstGeom prst="roundRect">
              <a:avLst>
                <a:gd name="adj" fmla="val 50000"/>
              </a:avLst>
            </a:prstGeom>
            <a:solidFill>
              <a:srgbClr val="FBD2C9"/>
            </a:solidFill>
            <a:ln>
              <a:noFill/>
            </a:ln>
          </p:spPr>
        </p:sp>
        <p:sp>
          <p:nvSpPr>
            <p:cNvPr id="65" name="TextBox 65"/>
            <p:cNvSpPr txBox="1"/>
            <p:nvPr/>
          </p:nvSpPr>
          <p:spPr>
            <a:xfrm>
              <a:off x="10484561" y="2717006"/>
              <a:ext cx="614528"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统筹协调</a:t>
              </a:r>
            </a:p>
          </p:txBody>
        </p:sp>
        <p:sp>
          <p:nvSpPr>
            <p:cNvPr id="66" name="Rectangle 66"/>
            <p:cNvSpPr/>
            <p:nvPr/>
          </p:nvSpPr>
          <p:spPr>
            <a:xfrm>
              <a:off x="8496300" y="3200400"/>
              <a:ext cx="1428750" cy="381000"/>
            </a:xfrm>
            <a:prstGeom prst="roundRect">
              <a:avLst>
                <a:gd name="adj" fmla="val 50000"/>
              </a:avLst>
            </a:prstGeom>
            <a:solidFill>
              <a:srgbClr val="FBD2C9"/>
            </a:solidFill>
            <a:ln>
              <a:noFill/>
            </a:ln>
          </p:spPr>
        </p:sp>
        <p:sp>
          <p:nvSpPr>
            <p:cNvPr id="67" name="TextBox 67"/>
            <p:cNvSpPr txBox="1"/>
            <p:nvPr/>
          </p:nvSpPr>
          <p:spPr>
            <a:xfrm>
              <a:off x="8903411" y="3326606"/>
              <a:ext cx="614528"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活动总结</a:t>
              </a:r>
            </a:p>
          </p:txBody>
        </p:sp>
        <p:sp>
          <p:nvSpPr>
            <p:cNvPr id="68" name="Rectangle 68"/>
            <p:cNvSpPr/>
            <p:nvPr/>
          </p:nvSpPr>
          <p:spPr>
            <a:xfrm>
              <a:off x="10077450" y="3200400"/>
              <a:ext cx="1428750" cy="381000"/>
            </a:xfrm>
            <a:prstGeom prst="roundRect">
              <a:avLst>
                <a:gd name="adj" fmla="val 50000"/>
              </a:avLst>
            </a:prstGeom>
            <a:solidFill>
              <a:srgbClr val="FBD2C9"/>
            </a:solidFill>
            <a:ln>
              <a:noFill/>
            </a:ln>
          </p:spPr>
        </p:sp>
        <p:sp>
          <p:nvSpPr>
            <p:cNvPr id="69" name="TextBox 69"/>
            <p:cNvSpPr txBox="1"/>
            <p:nvPr/>
          </p:nvSpPr>
          <p:spPr>
            <a:xfrm>
              <a:off x="10484561" y="3326606"/>
              <a:ext cx="614528"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报道监测</a:t>
              </a:r>
            </a:p>
          </p:txBody>
        </p:sp>
        <p:sp>
          <p:nvSpPr>
            <p:cNvPr id="70" name="Rectangle 70"/>
            <p:cNvSpPr/>
            <p:nvPr/>
          </p:nvSpPr>
          <p:spPr>
            <a:xfrm>
              <a:off x="8496300" y="3810000"/>
              <a:ext cx="1428750" cy="381000"/>
            </a:xfrm>
            <a:prstGeom prst="roundRect">
              <a:avLst>
                <a:gd name="adj" fmla="val 50000"/>
              </a:avLst>
            </a:prstGeom>
            <a:solidFill>
              <a:srgbClr val="FBD2C9"/>
            </a:solidFill>
            <a:ln>
              <a:noFill/>
            </a:ln>
          </p:spPr>
        </p:sp>
        <p:sp>
          <p:nvSpPr>
            <p:cNvPr id="71" name="TextBox 71"/>
            <p:cNvSpPr txBox="1"/>
            <p:nvPr/>
          </p:nvSpPr>
          <p:spPr>
            <a:xfrm>
              <a:off x="8903411" y="3936206"/>
              <a:ext cx="614528"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活动管理</a:t>
              </a:r>
            </a:p>
          </p:txBody>
        </p:sp>
        <p:sp>
          <p:nvSpPr>
            <p:cNvPr id="72" name="Rectangle 72"/>
            <p:cNvSpPr/>
            <p:nvPr/>
          </p:nvSpPr>
          <p:spPr>
            <a:xfrm>
              <a:off x="10077450" y="3810000"/>
              <a:ext cx="1428750" cy="381000"/>
            </a:xfrm>
            <a:prstGeom prst="roundRect">
              <a:avLst>
                <a:gd name="adj" fmla="val 50000"/>
              </a:avLst>
            </a:prstGeom>
            <a:solidFill>
              <a:srgbClr val="FBD2C9"/>
            </a:solidFill>
            <a:ln>
              <a:noFill/>
            </a:ln>
          </p:spPr>
        </p:sp>
        <p:sp>
          <p:nvSpPr>
            <p:cNvPr id="73" name="TextBox 73"/>
            <p:cNvSpPr txBox="1"/>
            <p:nvPr/>
          </p:nvSpPr>
          <p:spPr>
            <a:xfrm>
              <a:off x="10484561" y="3936206"/>
              <a:ext cx="614528"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来宾接待</a:t>
              </a:r>
            </a:p>
          </p:txBody>
        </p:sp>
        <p:sp>
          <p:nvSpPr>
            <p:cNvPr id="74" name="Rectangle 74"/>
            <p:cNvSpPr/>
            <p:nvPr/>
          </p:nvSpPr>
          <p:spPr>
            <a:xfrm>
              <a:off x="8496300" y="4419600"/>
              <a:ext cx="1428750" cy="381000"/>
            </a:xfrm>
            <a:prstGeom prst="roundRect">
              <a:avLst>
                <a:gd name="adj" fmla="val 50000"/>
              </a:avLst>
            </a:prstGeom>
            <a:solidFill>
              <a:srgbClr val="FBD2C9"/>
            </a:solidFill>
            <a:ln>
              <a:noFill/>
            </a:ln>
          </p:spPr>
        </p:sp>
        <p:sp>
          <p:nvSpPr>
            <p:cNvPr id="75" name="TextBox 75"/>
            <p:cNvSpPr txBox="1"/>
            <p:nvPr/>
          </p:nvSpPr>
          <p:spPr>
            <a:xfrm>
              <a:off x="8903411" y="4545806"/>
              <a:ext cx="614528"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物料搭建</a:t>
              </a:r>
            </a:p>
          </p:txBody>
        </p:sp>
        <p:sp>
          <p:nvSpPr>
            <p:cNvPr id="76" name="Rectangle 76"/>
            <p:cNvSpPr/>
            <p:nvPr/>
          </p:nvSpPr>
          <p:spPr>
            <a:xfrm>
              <a:off x="10077450" y="4419600"/>
              <a:ext cx="1428750" cy="381000"/>
            </a:xfrm>
            <a:prstGeom prst="roundRect">
              <a:avLst>
                <a:gd name="adj" fmla="val 50000"/>
              </a:avLst>
            </a:prstGeom>
            <a:solidFill>
              <a:srgbClr val="FBD2C9"/>
            </a:solidFill>
            <a:ln>
              <a:noFill/>
            </a:ln>
          </p:spPr>
        </p:sp>
        <p:sp>
          <p:nvSpPr>
            <p:cNvPr id="77" name="TextBox 77"/>
            <p:cNvSpPr txBox="1"/>
            <p:nvPr/>
          </p:nvSpPr>
          <p:spPr>
            <a:xfrm>
              <a:off x="10484561" y="4545806"/>
              <a:ext cx="614528" cy="220028"/>
            </a:xfrm>
            <a:prstGeom prst="rect">
              <a:avLst/>
            </a:prstGeom>
            <a:noFill/>
            <a:ln>
              <a:noFill/>
            </a:ln>
          </p:spPr>
          <p:txBody>
            <a:bodyPr wrap="none" lIns="0" tIns="0" rIns="0" bIns="0" anchor="t" anchorCtr="0">
              <a:spAutoFit/>
            </a:bodyPr>
            <a:lstStyle/>
            <a:p>
              <a:pPr algn="ctr"/>
              <a:r>
                <a:rPr lang="zh-CN" sz="1120" dirty="0">
                  <a:solidFill>
                    <a:srgbClr val="D03B1D"/>
                  </a:solidFill>
                  <a:latin typeface="+mn-lt"/>
                  <a:ea typeface="+mn-ea"/>
                  <a:cs typeface="+mn-cs"/>
                </a:rPr>
                <a:t>现场执行</a:t>
              </a:r>
            </a:p>
          </p:txBody>
        </p:sp>
      </p:grpSp>
      <p:grpSp>
        <p:nvGrpSpPr>
          <p:cNvPr id="87" name="ruler-bottom"/>
          <p:cNvGrpSpPr/>
          <p:nvPr/>
        </p:nvGrpSpPr>
        <p:grpSpPr>
          <a:xfrm>
            <a:off x="733425" y="5772150"/>
            <a:ext cx="10782300" cy="524256"/>
            <a:chOff x="733425" y="5772150"/>
            <a:chExt cx="10782300" cy="524256"/>
          </a:xfrm>
        </p:grpSpPr>
        <p:sp>
          <p:nvSpPr>
            <p:cNvPr id="79" name="Line 79"/>
            <p:cNvSpPr/>
            <p:nvPr/>
          </p:nvSpPr>
          <p:spPr>
            <a:xfrm>
              <a:off x="733425" y="5867400"/>
              <a:ext cx="4400550" cy="9525"/>
            </a:xfrm>
            <a:custGeom>
              <a:avLst/>
              <a:gdLst/>
              <a:ahLst/>
              <a:cxnLst/>
              <a:rect l="l" t="t" r="r" b="b"/>
              <a:pathLst>
                <a:path w="4400550" h="9525">
                  <a:moveTo>
                    <a:pt x="0" y="0"/>
                  </a:moveTo>
                  <a:lnTo>
                    <a:pt x="4400550" y="0"/>
                  </a:lnTo>
                </a:path>
              </a:pathLst>
            </a:custGeom>
            <a:noFill/>
            <a:ln w="9525">
              <a:solidFill>
                <a:srgbClr val="FA421D"/>
              </a:solidFill>
              <a:custDash>
                <a:ds d="400000" sp="300000"/>
              </a:custDash>
            </a:ln>
          </p:spPr>
        </p:sp>
        <p:sp>
          <p:nvSpPr>
            <p:cNvPr id="80" name="Line 80"/>
            <p:cNvSpPr/>
            <p:nvPr/>
          </p:nvSpPr>
          <p:spPr>
            <a:xfrm>
              <a:off x="733425" y="577215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81" name="Line 81"/>
            <p:cNvSpPr/>
            <p:nvPr/>
          </p:nvSpPr>
          <p:spPr>
            <a:xfrm>
              <a:off x="5133975" y="577215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82" name="TextBox 82"/>
            <p:cNvSpPr txBox="1"/>
            <p:nvPr/>
          </p:nvSpPr>
          <p:spPr>
            <a:xfrm>
              <a:off x="2718435" y="6061710"/>
              <a:ext cx="335280" cy="234696"/>
            </a:xfrm>
            <a:prstGeom prst="rect">
              <a:avLst/>
            </a:prstGeom>
            <a:noFill/>
            <a:ln>
              <a:noFill/>
            </a:ln>
          </p:spPr>
          <p:txBody>
            <a:bodyPr wrap="none" lIns="0" tIns="0" rIns="0" bIns="0" anchor="t" anchorCtr="0">
              <a:spAutoFit/>
            </a:bodyPr>
            <a:lstStyle/>
            <a:p>
              <a:pPr algn="ctr"/>
              <a:r>
                <a:rPr lang="zh-CN" sz="1200" dirty="0">
                  <a:solidFill>
                    <a:srgbClr val="E83F1D"/>
                  </a:solidFill>
                  <a:latin typeface="+mn-lt"/>
                  <a:ea typeface="+mn-ea"/>
                  <a:cs typeface="+mn-cs"/>
                </a:rPr>
                <a:t>外部</a:t>
              </a:r>
            </a:p>
          </p:txBody>
        </p:sp>
        <p:sp>
          <p:nvSpPr>
            <p:cNvPr id="83" name="Line 83"/>
            <p:cNvSpPr/>
            <p:nvPr/>
          </p:nvSpPr>
          <p:spPr>
            <a:xfrm>
              <a:off x="5524500" y="5867400"/>
              <a:ext cx="5981700" cy="9525"/>
            </a:xfrm>
            <a:custGeom>
              <a:avLst/>
              <a:gdLst/>
              <a:ahLst/>
              <a:cxnLst/>
              <a:rect l="l" t="t" r="r" b="b"/>
              <a:pathLst>
                <a:path w="5981700" h="9525">
                  <a:moveTo>
                    <a:pt x="0" y="0"/>
                  </a:moveTo>
                  <a:lnTo>
                    <a:pt x="5981700" y="0"/>
                  </a:lnTo>
                </a:path>
              </a:pathLst>
            </a:custGeom>
            <a:noFill/>
            <a:ln w="9525">
              <a:solidFill>
                <a:srgbClr val="FA421D"/>
              </a:solidFill>
              <a:custDash>
                <a:ds d="400000" sp="300000"/>
              </a:custDash>
            </a:ln>
          </p:spPr>
        </p:sp>
        <p:sp>
          <p:nvSpPr>
            <p:cNvPr id="84" name="Line 84"/>
            <p:cNvSpPr/>
            <p:nvPr/>
          </p:nvSpPr>
          <p:spPr>
            <a:xfrm>
              <a:off x="5524500" y="577215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85" name="Line 85"/>
            <p:cNvSpPr/>
            <p:nvPr/>
          </p:nvSpPr>
          <p:spPr>
            <a:xfrm>
              <a:off x="11506200" y="5772150"/>
              <a:ext cx="9525" cy="190500"/>
            </a:xfrm>
            <a:custGeom>
              <a:avLst/>
              <a:gdLst/>
              <a:ahLst/>
              <a:cxnLst/>
              <a:rect l="l" t="t" r="r" b="b"/>
              <a:pathLst>
                <a:path w="9525" h="190500">
                  <a:moveTo>
                    <a:pt x="0" y="0"/>
                  </a:moveTo>
                  <a:lnTo>
                    <a:pt x="0" y="190500"/>
                  </a:lnTo>
                </a:path>
              </a:pathLst>
            </a:custGeom>
            <a:noFill/>
            <a:ln w="9525">
              <a:solidFill>
                <a:srgbClr val="FA421D"/>
              </a:solidFill>
            </a:ln>
          </p:spPr>
        </p:sp>
        <p:sp>
          <p:nvSpPr>
            <p:cNvPr id="86" name="TextBox 86"/>
            <p:cNvSpPr txBox="1"/>
            <p:nvPr/>
          </p:nvSpPr>
          <p:spPr>
            <a:xfrm>
              <a:off x="8347710" y="6061710"/>
              <a:ext cx="335280" cy="234696"/>
            </a:xfrm>
            <a:prstGeom prst="rect">
              <a:avLst/>
            </a:prstGeom>
            <a:noFill/>
            <a:ln>
              <a:noFill/>
            </a:ln>
          </p:spPr>
          <p:txBody>
            <a:bodyPr wrap="none" lIns="0" tIns="0" rIns="0" bIns="0" anchor="t" anchorCtr="0">
              <a:spAutoFit/>
            </a:bodyPr>
            <a:lstStyle/>
            <a:p>
              <a:pPr algn="ctr"/>
              <a:r>
                <a:rPr lang="zh-CN" sz="1200" dirty="0">
                  <a:solidFill>
                    <a:srgbClr val="E83F1D"/>
                  </a:solidFill>
                  <a:latin typeface="+mn-lt"/>
                  <a:ea typeface="+mn-ea"/>
                  <a:cs typeface="+mn-cs"/>
                </a:rPr>
                <a:t>内部</a:t>
              </a:r>
            </a:p>
          </p:txBody>
        </p:sp>
      </p:gr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port-root"/>
          <p:cNvSpPr/>
          <p:nvPr/>
        </p:nvSpPr>
        <p:spPr>
          <a:xfrm>
            <a:off x="2533650" y="3657600"/>
            <a:ext cx="76200" cy="76200"/>
          </a:xfrm>
          <a:prstGeom prst="ellipse">
            <a:avLst/>
          </a:prstGeom>
          <a:solidFill>
            <a:srgbClr val="FFFFFF"/>
          </a:solidFill>
          <a:ln w="14288">
            <a:solidFill>
              <a:srgbClr val="FA421D"/>
            </a:solidFill>
          </a:ln>
        </p:spPr>
      </p:sp>
      <p:sp>
        <p:nvSpPr>
          <p:cNvPr id="3" name="deco-links-root"/>
          <p:cNvSpPr/>
          <p:nvPr/>
        </p:nvSpPr>
        <p:spPr>
          <a:xfrm>
            <a:off x="2609850" y="2000250"/>
            <a:ext cx="704850" cy="3333750"/>
          </a:xfrm>
          <a:custGeom>
            <a:avLst/>
            <a:gdLst/>
            <a:ahLst/>
            <a:cxnLst/>
            <a:rect l="l" t="t" r="r" b="b"/>
            <a:pathLst>
              <a:path w="704850" h="3333750">
                <a:moveTo>
                  <a:pt x="0" y="1695450"/>
                </a:moveTo>
                <a:lnTo>
                  <a:pt x="304800" y="1695450"/>
                </a:lnTo>
                <a:moveTo>
                  <a:pt x="304800" y="0"/>
                </a:moveTo>
                <a:lnTo>
                  <a:pt x="304800" y="3333750"/>
                </a:lnTo>
                <a:moveTo>
                  <a:pt x="304800" y="0"/>
                </a:moveTo>
                <a:lnTo>
                  <a:pt x="704850" y="0"/>
                </a:lnTo>
                <a:moveTo>
                  <a:pt x="304800" y="1619250"/>
                </a:moveTo>
                <a:lnTo>
                  <a:pt x="704850" y="1619250"/>
                </a:lnTo>
                <a:moveTo>
                  <a:pt x="304800" y="3333750"/>
                </a:moveTo>
                <a:lnTo>
                  <a:pt x="704850" y="3333750"/>
                </a:lnTo>
              </a:path>
            </a:pathLst>
          </a:custGeom>
          <a:noFill/>
          <a:ln w="14288">
            <a:solidFill>
              <a:srgbClr val="FA421D"/>
            </a:solidFill>
            <a:custDash>
              <a:ds d="200000" sp="200000"/>
            </a:custDash>
          </a:ln>
        </p:spPr>
      </p:sp>
      <p:sp>
        <p:nvSpPr>
          <p:cNvPr id="4" name="deco-port-existing"/>
          <p:cNvSpPr/>
          <p:nvPr/>
        </p:nvSpPr>
        <p:spPr>
          <a:xfrm>
            <a:off x="5219700" y="1962150"/>
            <a:ext cx="76200" cy="76200"/>
          </a:xfrm>
          <a:prstGeom prst="ellipse">
            <a:avLst/>
          </a:prstGeom>
          <a:solidFill>
            <a:srgbClr val="FFFFFF"/>
          </a:solidFill>
          <a:ln w="14288">
            <a:solidFill>
              <a:srgbClr val="FA421D"/>
            </a:solidFill>
          </a:ln>
        </p:spPr>
      </p:sp>
      <p:sp>
        <p:nvSpPr>
          <p:cNvPr id="5" name="deco-links-existing"/>
          <p:cNvSpPr/>
          <p:nvPr/>
        </p:nvSpPr>
        <p:spPr>
          <a:xfrm>
            <a:off x="5295900" y="1562100"/>
            <a:ext cx="666750" cy="752475"/>
          </a:xfrm>
          <a:custGeom>
            <a:avLst/>
            <a:gdLst/>
            <a:ahLst/>
            <a:cxnLst/>
            <a:rect l="l" t="t" r="r" b="b"/>
            <a:pathLst>
              <a:path w="666750" h="752475">
                <a:moveTo>
                  <a:pt x="0" y="438150"/>
                </a:moveTo>
                <a:lnTo>
                  <a:pt x="323850" y="438150"/>
                </a:lnTo>
                <a:moveTo>
                  <a:pt x="323850" y="0"/>
                </a:moveTo>
                <a:lnTo>
                  <a:pt x="323850" y="752475"/>
                </a:lnTo>
                <a:moveTo>
                  <a:pt x="323850" y="0"/>
                </a:moveTo>
                <a:lnTo>
                  <a:pt x="666750" y="0"/>
                </a:lnTo>
                <a:moveTo>
                  <a:pt x="323850" y="752475"/>
                </a:moveTo>
                <a:lnTo>
                  <a:pt x="666750" y="752475"/>
                </a:lnTo>
              </a:path>
            </a:pathLst>
          </a:custGeom>
          <a:noFill/>
          <a:ln w="14288">
            <a:solidFill>
              <a:srgbClr val="FA421D"/>
            </a:solidFill>
            <a:custDash>
              <a:ds d="200000" sp="200000"/>
            </a:custDash>
          </a:ln>
        </p:spPr>
      </p:sp>
      <p:sp>
        <p:nvSpPr>
          <p:cNvPr id="6" name="deco-port-potential"/>
          <p:cNvSpPr/>
          <p:nvPr/>
        </p:nvSpPr>
        <p:spPr>
          <a:xfrm>
            <a:off x="5219700" y="3581400"/>
            <a:ext cx="76200" cy="76200"/>
          </a:xfrm>
          <a:prstGeom prst="ellipse">
            <a:avLst/>
          </a:prstGeom>
          <a:solidFill>
            <a:srgbClr val="FFFFFF"/>
          </a:solidFill>
          <a:ln w="14288">
            <a:solidFill>
              <a:srgbClr val="FA421D"/>
            </a:solidFill>
          </a:ln>
        </p:spPr>
      </p:sp>
      <p:sp>
        <p:nvSpPr>
          <p:cNvPr id="7" name="Line 7"/>
          <p:cNvSpPr/>
          <p:nvPr/>
        </p:nvSpPr>
        <p:spPr>
          <a:xfrm>
            <a:off x="5295900" y="3619500"/>
            <a:ext cx="666750" cy="9525"/>
          </a:xfrm>
          <a:custGeom>
            <a:avLst/>
            <a:gdLst/>
            <a:ahLst/>
            <a:cxnLst/>
            <a:rect l="l" t="t" r="r" b="b"/>
            <a:pathLst>
              <a:path w="666750" h="9525">
                <a:moveTo>
                  <a:pt x="0" y="0"/>
                </a:moveTo>
                <a:lnTo>
                  <a:pt x="666750" y="0"/>
                </a:lnTo>
              </a:path>
            </a:pathLst>
          </a:custGeom>
          <a:noFill/>
          <a:ln w="14288">
            <a:solidFill>
              <a:srgbClr val="FA421D"/>
            </a:solidFill>
            <a:custDash>
              <a:ds d="200000" sp="200000"/>
            </a:custDash>
          </a:ln>
        </p:spPr>
      </p:sp>
      <p:sp>
        <p:nvSpPr>
          <p:cNvPr id="8" name="deco-port-dealer"/>
          <p:cNvSpPr/>
          <p:nvPr/>
        </p:nvSpPr>
        <p:spPr>
          <a:xfrm>
            <a:off x="5219700" y="5295900"/>
            <a:ext cx="76200" cy="76200"/>
          </a:xfrm>
          <a:prstGeom prst="ellipse">
            <a:avLst/>
          </a:prstGeom>
          <a:solidFill>
            <a:srgbClr val="FFFFFF"/>
          </a:solidFill>
          <a:ln w="14288">
            <a:solidFill>
              <a:srgbClr val="FA421D"/>
            </a:solidFill>
          </a:ln>
        </p:spPr>
      </p:sp>
      <p:sp>
        <p:nvSpPr>
          <p:cNvPr id="9" name="deco-links-dealer"/>
          <p:cNvSpPr/>
          <p:nvPr/>
        </p:nvSpPr>
        <p:spPr>
          <a:xfrm>
            <a:off x="5295900" y="4886325"/>
            <a:ext cx="666750" cy="752475"/>
          </a:xfrm>
          <a:custGeom>
            <a:avLst/>
            <a:gdLst/>
            <a:ahLst/>
            <a:cxnLst/>
            <a:rect l="l" t="t" r="r" b="b"/>
            <a:pathLst>
              <a:path w="666750" h="752475">
                <a:moveTo>
                  <a:pt x="0" y="447675"/>
                </a:moveTo>
                <a:lnTo>
                  <a:pt x="323850" y="447675"/>
                </a:lnTo>
                <a:moveTo>
                  <a:pt x="323850" y="0"/>
                </a:moveTo>
                <a:lnTo>
                  <a:pt x="323850" y="752475"/>
                </a:lnTo>
                <a:moveTo>
                  <a:pt x="323850" y="0"/>
                </a:moveTo>
                <a:lnTo>
                  <a:pt x="666750" y="0"/>
                </a:lnTo>
                <a:moveTo>
                  <a:pt x="323850" y="752475"/>
                </a:moveTo>
                <a:lnTo>
                  <a:pt x="666750" y="752475"/>
                </a:lnTo>
              </a:path>
            </a:pathLst>
          </a:custGeom>
          <a:noFill/>
          <a:ln w="14288">
            <a:solidFill>
              <a:srgbClr val="FA421D"/>
            </a:solidFill>
            <a:custDash>
              <a:ds d="200000" sp="200000"/>
            </a:custDash>
          </a:ln>
        </p:spPr>
      </p:sp>
      <p:sp>
        <p:nvSpPr>
          <p:cNvPr id="10" name="deco-end-1"/>
          <p:cNvSpPr/>
          <p:nvPr/>
        </p:nvSpPr>
        <p:spPr>
          <a:xfrm>
            <a:off x="5934075" y="1533525"/>
            <a:ext cx="57150" cy="57150"/>
          </a:xfrm>
          <a:prstGeom prst="ellipse">
            <a:avLst/>
          </a:prstGeom>
          <a:solidFill>
            <a:srgbClr val="FFFFFF"/>
          </a:solidFill>
          <a:ln w="14288">
            <a:solidFill>
              <a:srgbClr val="FA421D"/>
            </a:solidFill>
          </a:ln>
        </p:spPr>
      </p:sp>
      <p:sp>
        <p:nvSpPr>
          <p:cNvPr id="11" name="deco-end-2"/>
          <p:cNvSpPr/>
          <p:nvPr/>
        </p:nvSpPr>
        <p:spPr>
          <a:xfrm>
            <a:off x="5934075" y="2286000"/>
            <a:ext cx="57150" cy="57150"/>
          </a:xfrm>
          <a:prstGeom prst="ellipse">
            <a:avLst/>
          </a:prstGeom>
          <a:solidFill>
            <a:srgbClr val="FFFFFF"/>
          </a:solidFill>
          <a:ln w="14288">
            <a:solidFill>
              <a:srgbClr val="FA421D"/>
            </a:solidFill>
          </a:ln>
        </p:spPr>
      </p:sp>
      <p:sp>
        <p:nvSpPr>
          <p:cNvPr id="12" name="deco-end-3"/>
          <p:cNvSpPr/>
          <p:nvPr/>
        </p:nvSpPr>
        <p:spPr>
          <a:xfrm>
            <a:off x="5934075" y="3590925"/>
            <a:ext cx="57150" cy="57150"/>
          </a:xfrm>
          <a:prstGeom prst="ellipse">
            <a:avLst/>
          </a:prstGeom>
          <a:solidFill>
            <a:srgbClr val="FFFFFF"/>
          </a:solidFill>
          <a:ln w="14288">
            <a:solidFill>
              <a:srgbClr val="FA421D"/>
            </a:solidFill>
          </a:ln>
        </p:spPr>
      </p:sp>
      <p:sp>
        <p:nvSpPr>
          <p:cNvPr id="13" name="deco-end-4"/>
          <p:cNvSpPr/>
          <p:nvPr/>
        </p:nvSpPr>
        <p:spPr>
          <a:xfrm>
            <a:off x="5934075" y="4857750"/>
            <a:ext cx="57150" cy="57150"/>
          </a:xfrm>
          <a:prstGeom prst="ellipse">
            <a:avLst/>
          </a:prstGeom>
          <a:solidFill>
            <a:srgbClr val="FFFFFF"/>
          </a:solidFill>
          <a:ln w="14288">
            <a:solidFill>
              <a:srgbClr val="FA421D"/>
            </a:solidFill>
          </a:ln>
        </p:spPr>
      </p:sp>
      <p:sp>
        <p:nvSpPr>
          <p:cNvPr id="14" name="deco-end-5"/>
          <p:cNvSpPr/>
          <p:nvPr/>
        </p:nvSpPr>
        <p:spPr>
          <a:xfrm>
            <a:off x="5934075" y="5610225"/>
            <a:ext cx="57150" cy="57150"/>
          </a:xfrm>
          <a:prstGeom prst="ellipse">
            <a:avLst/>
          </a:prstGeom>
          <a:solidFill>
            <a:srgbClr val="FFFFFF"/>
          </a:solidFill>
          <a:ln w="14288">
            <a:solidFill>
              <a:srgbClr val="FA421D"/>
            </a:solidFill>
          </a:ln>
        </p:spPr>
      </p:sp>
      <p:grpSp>
        <p:nvGrpSpPr>
          <p:cNvPr id="19" name="header"/>
          <p:cNvGrpSpPr/>
          <p:nvPr/>
        </p:nvGrpSpPr>
        <p:grpSpPr>
          <a:xfrm>
            <a:off x="0" y="0"/>
            <a:ext cx="12192000" cy="551879"/>
            <a:chOff x="0" y="0"/>
            <a:chExt cx="12192000" cy="551879"/>
          </a:xfrm>
        </p:grpSpPr>
        <p:sp>
          <p:nvSpPr>
            <p:cNvPr id="15" name="Polygon 1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16" name="TextBox 16"/>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22</a:t>
              </a:r>
            </a:p>
          </p:txBody>
        </p:sp>
        <p:sp>
          <p:nvSpPr>
            <p:cNvPr id="17" name="TextBox 17"/>
            <p:cNvSpPr txBox="1"/>
            <p:nvPr/>
          </p:nvSpPr>
          <p:spPr>
            <a:xfrm>
              <a:off x="904494" y="170498"/>
              <a:ext cx="1069848"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传播策略</a:t>
              </a:r>
            </a:p>
          </p:txBody>
        </p:sp>
        <p:sp>
          <p:nvSpPr>
            <p:cNvPr id="18" name="Line 18"/>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3" name="root-tools"/>
          <p:cNvGrpSpPr/>
          <p:nvPr/>
        </p:nvGrpSpPr>
        <p:grpSpPr>
          <a:xfrm>
            <a:off x="628650" y="3276600"/>
            <a:ext cx="1962150" cy="838200"/>
            <a:chOff x="628650" y="3276600"/>
            <a:chExt cx="1962150" cy="838200"/>
          </a:xfrm>
        </p:grpSpPr>
        <p:sp>
          <p:nvSpPr>
            <p:cNvPr id="20" name="Rectangle 20"/>
            <p:cNvSpPr/>
            <p:nvPr/>
          </p:nvSpPr>
          <p:spPr>
            <a:xfrm>
              <a:off x="628650" y="3276600"/>
              <a:ext cx="1962150" cy="838200"/>
            </a:xfrm>
            <a:prstGeom prst="roundRect">
              <a:avLst>
                <a:gd name="adj" fmla="val 50000"/>
              </a:avLst>
            </a:prstGeom>
            <a:solidFill>
              <a:srgbClr val="FBD2C9">
                <a:alpha val="60000"/>
              </a:srgbClr>
            </a:solidFill>
            <a:ln>
              <a:noFill/>
            </a:ln>
          </p:spPr>
        </p:sp>
        <p:sp>
          <p:nvSpPr>
            <p:cNvPr id="21" name="Rectangle 21"/>
            <p:cNvSpPr/>
            <p:nvPr/>
          </p:nvSpPr>
          <p:spPr>
            <a:xfrm>
              <a:off x="704850" y="3333750"/>
              <a:ext cx="1809750" cy="723900"/>
            </a:xfrm>
            <a:prstGeom prst="roundRect">
              <a:avLst>
                <a:gd name="adj" fmla="val 50000"/>
              </a:avLst>
            </a:prstGeom>
            <a:gradFill>
              <a:gsLst>
                <a:gs pos="0">
                  <a:srgbClr val="FA421D"/>
                </a:gs>
                <a:gs pos="100000">
                  <a:srgbClr val="D22C0A"/>
                </a:gs>
              </a:gsLst>
              <a:lin ang="5400000" scaled="1"/>
            </a:gradFill>
            <a:ln>
              <a:noFill/>
            </a:ln>
          </p:spPr>
        </p:sp>
        <p:sp>
          <p:nvSpPr>
            <p:cNvPr id="22" name="TextBox 22"/>
            <p:cNvSpPr txBox="1"/>
            <p:nvPr/>
          </p:nvSpPr>
          <p:spPr>
            <a:xfrm>
              <a:off x="1239393" y="3616642"/>
              <a:ext cx="740664"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传播工具</a:t>
              </a:r>
            </a:p>
          </p:txBody>
        </p:sp>
      </p:grpSp>
      <p:grpSp>
        <p:nvGrpSpPr>
          <p:cNvPr id="27" name="segment-existing"/>
          <p:cNvGrpSpPr/>
          <p:nvPr/>
        </p:nvGrpSpPr>
        <p:grpSpPr>
          <a:xfrm>
            <a:off x="3238500" y="1600200"/>
            <a:ext cx="2038350" cy="800100"/>
            <a:chOff x="3238500" y="1600200"/>
            <a:chExt cx="2038350" cy="800100"/>
          </a:xfrm>
        </p:grpSpPr>
        <p:sp>
          <p:nvSpPr>
            <p:cNvPr id="24" name="Rectangle 24"/>
            <p:cNvSpPr/>
            <p:nvPr/>
          </p:nvSpPr>
          <p:spPr>
            <a:xfrm>
              <a:off x="3238500" y="1600200"/>
              <a:ext cx="2038350" cy="800100"/>
            </a:xfrm>
            <a:prstGeom prst="roundRect">
              <a:avLst>
                <a:gd name="adj" fmla="val 50000"/>
              </a:avLst>
            </a:prstGeom>
            <a:solidFill>
              <a:srgbClr val="FBD2C9">
                <a:alpha val="60000"/>
              </a:srgbClr>
            </a:solidFill>
            <a:ln>
              <a:noFill/>
            </a:ln>
          </p:spPr>
        </p:sp>
        <p:sp>
          <p:nvSpPr>
            <p:cNvPr id="25" name="Rectangle 25"/>
            <p:cNvSpPr/>
            <p:nvPr/>
          </p:nvSpPr>
          <p:spPr>
            <a:xfrm>
              <a:off x="3314700" y="1657350"/>
              <a:ext cx="1885950" cy="685800"/>
            </a:xfrm>
            <a:prstGeom prst="roundRect">
              <a:avLst>
                <a:gd name="adj" fmla="val 50000"/>
              </a:avLst>
            </a:prstGeom>
            <a:gradFill>
              <a:gsLst>
                <a:gs pos="0">
                  <a:srgbClr val="FA421D"/>
                </a:gs>
                <a:gs pos="100000">
                  <a:srgbClr val="D22C0A"/>
                </a:gs>
              </a:gsLst>
              <a:lin ang="5400000" scaled="1"/>
            </a:gradFill>
            <a:ln>
              <a:noFill/>
            </a:ln>
          </p:spPr>
        </p:sp>
        <p:sp>
          <p:nvSpPr>
            <p:cNvPr id="26" name="TextBox 26"/>
            <p:cNvSpPr txBox="1"/>
            <p:nvPr/>
          </p:nvSpPr>
          <p:spPr>
            <a:xfrm>
              <a:off x="3887343" y="1921192"/>
              <a:ext cx="740664"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现有客户</a:t>
              </a:r>
            </a:p>
          </p:txBody>
        </p:sp>
      </p:grpSp>
      <p:grpSp>
        <p:nvGrpSpPr>
          <p:cNvPr id="31" name="segment-potential"/>
          <p:cNvGrpSpPr/>
          <p:nvPr/>
        </p:nvGrpSpPr>
        <p:grpSpPr>
          <a:xfrm>
            <a:off x="3238500" y="3219450"/>
            <a:ext cx="2038350" cy="800100"/>
            <a:chOff x="3238500" y="3219450"/>
            <a:chExt cx="2038350" cy="800100"/>
          </a:xfrm>
        </p:grpSpPr>
        <p:sp>
          <p:nvSpPr>
            <p:cNvPr id="28" name="Rectangle 28"/>
            <p:cNvSpPr/>
            <p:nvPr/>
          </p:nvSpPr>
          <p:spPr>
            <a:xfrm>
              <a:off x="3238500" y="3219450"/>
              <a:ext cx="2038350" cy="800100"/>
            </a:xfrm>
            <a:prstGeom prst="roundRect">
              <a:avLst>
                <a:gd name="adj" fmla="val 50000"/>
              </a:avLst>
            </a:prstGeom>
            <a:solidFill>
              <a:srgbClr val="FBD2C9">
                <a:alpha val="60000"/>
              </a:srgbClr>
            </a:solidFill>
            <a:ln>
              <a:noFill/>
            </a:ln>
          </p:spPr>
        </p:sp>
        <p:sp>
          <p:nvSpPr>
            <p:cNvPr id="29" name="Rectangle 29"/>
            <p:cNvSpPr/>
            <p:nvPr/>
          </p:nvSpPr>
          <p:spPr>
            <a:xfrm>
              <a:off x="3314700" y="3276600"/>
              <a:ext cx="1885950" cy="685800"/>
            </a:xfrm>
            <a:prstGeom prst="roundRect">
              <a:avLst>
                <a:gd name="adj" fmla="val 50000"/>
              </a:avLst>
            </a:prstGeom>
            <a:gradFill>
              <a:gsLst>
                <a:gs pos="0">
                  <a:srgbClr val="FA421D"/>
                </a:gs>
                <a:gs pos="100000">
                  <a:srgbClr val="D22C0A"/>
                </a:gs>
              </a:gsLst>
              <a:lin ang="5400000" scaled="1"/>
            </a:gradFill>
            <a:ln>
              <a:noFill/>
            </a:ln>
          </p:spPr>
        </p:sp>
        <p:sp>
          <p:nvSpPr>
            <p:cNvPr id="30" name="TextBox 30"/>
            <p:cNvSpPr txBox="1"/>
            <p:nvPr/>
          </p:nvSpPr>
          <p:spPr>
            <a:xfrm>
              <a:off x="3887343" y="3540442"/>
              <a:ext cx="740664"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潜在客户</a:t>
              </a:r>
            </a:p>
          </p:txBody>
        </p:sp>
      </p:grpSp>
      <p:grpSp>
        <p:nvGrpSpPr>
          <p:cNvPr id="35" name="segment-dealer"/>
          <p:cNvGrpSpPr/>
          <p:nvPr/>
        </p:nvGrpSpPr>
        <p:grpSpPr>
          <a:xfrm>
            <a:off x="3238500" y="4933950"/>
            <a:ext cx="2038350" cy="800100"/>
            <a:chOff x="3238500" y="4933950"/>
            <a:chExt cx="2038350" cy="800100"/>
          </a:xfrm>
        </p:grpSpPr>
        <p:sp>
          <p:nvSpPr>
            <p:cNvPr id="32" name="Rectangle 32"/>
            <p:cNvSpPr/>
            <p:nvPr/>
          </p:nvSpPr>
          <p:spPr>
            <a:xfrm>
              <a:off x="3238500" y="4933950"/>
              <a:ext cx="2038350" cy="800100"/>
            </a:xfrm>
            <a:prstGeom prst="roundRect">
              <a:avLst>
                <a:gd name="adj" fmla="val 50000"/>
              </a:avLst>
            </a:prstGeom>
            <a:solidFill>
              <a:srgbClr val="FBD2C9">
                <a:alpha val="60000"/>
              </a:srgbClr>
            </a:solidFill>
            <a:ln>
              <a:noFill/>
            </a:ln>
          </p:spPr>
        </p:sp>
        <p:sp>
          <p:nvSpPr>
            <p:cNvPr id="33" name="Rectangle 33"/>
            <p:cNvSpPr/>
            <p:nvPr/>
          </p:nvSpPr>
          <p:spPr>
            <a:xfrm>
              <a:off x="3314700" y="4991100"/>
              <a:ext cx="1885950" cy="685800"/>
            </a:xfrm>
            <a:prstGeom prst="roundRect">
              <a:avLst>
                <a:gd name="adj" fmla="val 50000"/>
              </a:avLst>
            </a:prstGeom>
            <a:gradFill>
              <a:gsLst>
                <a:gs pos="0">
                  <a:srgbClr val="FA421D"/>
                </a:gs>
                <a:gs pos="100000">
                  <a:srgbClr val="D22C0A"/>
                </a:gs>
              </a:gsLst>
              <a:lin ang="5400000" scaled="1"/>
            </a:gradFill>
            <a:ln>
              <a:noFill/>
            </a:ln>
          </p:spPr>
        </p:sp>
        <p:sp>
          <p:nvSpPr>
            <p:cNvPr id="34" name="TextBox 34"/>
            <p:cNvSpPr txBox="1"/>
            <p:nvPr/>
          </p:nvSpPr>
          <p:spPr>
            <a:xfrm>
              <a:off x="3978211" y="5254942"/>
              <a:ext cx="558927" cy="264033"/>
            </a:xfrm>
            <a:prstGeom prst="rect">
              <a:avLst/>
            </a:prstGeom>
            <a:noFill/>
            <a:ln>
              <a:noFill/>
            </a:ln>
          </p:spPr>
          <p:txBody>
            <a:bodyPr wrap="none" lIns="0" tIns="0" rIns="0" bIns="0" anchor="t" anchorCtr="0">
              <a:spAutoFit/>
            </a:bodyPr>
            <a:lstStyle/>
            <a:p>
              <a:pPr algn="ctr"/>
              <a:r>
                <a:rPr lang="zh-CN" sz="1350" dirty="0">
                  <a:solidFill>
                    <a:srgbClr val="FFFFFF"/>
                  </a:solidFill>
                  <a:latin typeface="+mn-lt"/>
                  <a:ea typeface="+mn-ea"/>
                  <a:cs typeface="+mn-cs"/>
                </a:rPr>
                <a:t>经销商</a:t>
              </a:r>
            </a:p>
          </p:txBody>
        </p:sp>
      </p:grpSp>
      <p:grpSp>
        <p:nvGrpSpPr>
          <p:cNvPr id="40" name="row-existing-a"/>
          <p:cNvGrpSpPr/>
          <p:nvPr/>
        </p:nvGrpSpPr>
        <p:grpSpPr>
          <a:xfrm>
            <a:off x="6019800" y="1304925"/>
            <a:ext cx="3581400" cy="514350"/>
            <a:chOff x="6019800" y="1304925"/>
            <a:chExt cx="3581400" cy="514350"/>
          </a:xfrm>
        </p:grpSpPr>
        <p:sp>
          <p:nvSpPr>
            <p:cNvPr id="36" name="Rectangle 36"/>
            <p:cNvSpPr/>
            <p:nvPr/>
          </p:nvSpPr>
          <p:spPr>
            <a:xfrm>
              <a:off x="6019800" y="1304925"/>
              <a:ext cx="1695450" cy="514350"/>
            </a:xfrm>
            <a:prstGeom prst="roundRect">
              <a:avLst>
                <a:gd name="adj" fmla="val 50000"/>
              </a:avLst>
            </a:prstGeom>
            <a:solidFill>
              <a:srgbClr val="FFFFFF"/>
            </a:solidFill>
            <a:ln w="14288">
              <a:solidFill>
                <a:srgbClr val="FCC6BB"/>
              </a:solidFill>
            </a:ln>
          </p:spPr>
        </p:sp>
        <p:sp>
          <p:nvSpPr>
            <p:cNvPr id="37" name="TextBox 37"/>
            <p:cNvSpPr txBox="1"/>
            <p:nvPr/>
          </p:nvSpPr>
          <p:spPr>
            <a:xfrm>
              <a:off x="6688734" y="1491139"/>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广告</a:t>
              </a:r>
            </a:p>
          </p:txBody>
        </p:sp>
        <p:sp>
          <p:nvSpPr>
            <p:cNvPr id="38" name="Rectangle 38"/>
            <p:cNvSpPr/>
            <p:nvPr/>
          </p:nvSpPr>
          <p:spPr>
            <a:xfrm>
              <a:off x="7905750" y="1304925"/>
              <a:ext cx="1695450" cy="514350"/>
            </a:xfrm>
            <a:prstGeom prst="roundRect">
              <a:avLst>
                <a:gd name="adj" fmla="val 50000"/>
              </a:avLst>
            </a:prstGeom>
            <a:solidFill>
              <a:srgbClr val="FFFFFF"/>
            </a:solidFill>
            <a:ln w="14288">
              <a:solidFill>
                <a:srgbClr val="FCC6BB"/>
              </a:solidFill>
            </a:ln>
          </p:spPr>
        </p:sp>
        <p:sp>
          <p:nvSpPr>
            <p:cNvPr id="39" name="TextBox 39"/>
            <p:cNvSpPr txBox="1"/>
            <p:nvPr/>
          </p:nvSpPr>
          <p:spPr>
            <a:xfrm>
              <a:off x="8574684" y="1491139"/>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促销</a:t>
              </a:r>
            </a:p>
          </p:txBody>
        </p:sp>
      </p:grpSp>
      <p:grpSp>
        <p:nvGrpSpPr>
          <p:cNvPr id="47" name="row-existing-b"/>
          <p:cNvGrpSpPr/>
          <p:nvPr/>
        </p:nvGrpSpPr>
        <p:grpSpPr>
          <a:xfrm>
            <a:off x="6019800" y="2057400"/>
            <a:ext cx="5467350" cy="514350"/>
            <a:chOff x="6019800" y="2057400"/>
            <a:chExt cx="5467350" cy="514350"/>
          </a:xfrm>
        </p:grpSpPr>
        <p:sp>
          <p:nvSpPr>
            <p:cNvPr id="41" name="Rectangle 41"/>
            <p:cNvSpPr/>
            <p:nvPr/>
          </p:nvSpPr>
          <p:spPr>
            <a:xfrm>
              <a:off x="6019800" y="2057400"/>
              <a:ext cx="1695450" cy="514350"/>
            </a:xfrm>
            <a:prstGeom prst="roundRect">
              <a:avLst>
                <a:gd name="adj" fmla="val 50000"/>
              </a:avLst>
            </a:prstGeom>
            <a:solidFill>
              <a:srgbClr val="FFFFFF"/>
            </a:solidFill>
            <a:ln w="14288">
              <a:solidFill>
                <a:srgbClr val="FCC6BB"/>
              </a:solidFill>
            </a:ln>
          </p:spPr>
        </p:sp>
        <p:sp>
          <p:nvSpPr>
            <p:cNvPr id="42" name="TextBox 42"/>
            <p:cNvSpPr txBox="1"/>
            <p:nvPr/>
          </p:nvSpPr>
          <p:spPr>
            <a:xfrm>
              <a:off x="6688734" y="2243614"/>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公关</a:t>
              </a:r>
            </a:p>
          </p:txBody>
        </p:sp>
        <p:sp>
          <p:nvSpPr>
            <p:cNvPr id="43" name="Rectangle 43"/>
            <p:cNvSpPr/>
            <p:nvPr/>
          </p:nvSpPr>
          <p:spPr>
            <a:xfrm>
              <a:off x="7905750" y="2057400"/>
              <a:ext cx="1695450" cy="514350"/>
            </a:xfrm>
            <a:prstGeom prst="roundRect">
              <a:avLst>
                <a:gd name="adj" fmla="val 50000"/>
              </a:avLst>
            </a:prstGeom>
            <a:solidFill>
              <a:srgbClr val="FFFFFF"/>
            </a:solidFill>
            <a:ln w="14288">
              <a:solidFill>
                <a:srgbClr val="FCC6BB"/>
              </a:solidFill>
            </a:ln>
          </p:spPr>
        </p:sp>
        <p:sp>
          <p:nvSpPr>
            <p:cNvPr id="44" name="TextBox 44"/>
            <p:cNvSpPr txBox="1"/>
            <p:nvPr/>
          </p:nvSpPr>
          <p:spPr>
            <a:xfrm>
              <a:off x="8574684" y="2243614"/>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终端</a:t>
              </a:r>
            </a:p>
          </p:txBody>
        </p:sp>
        <p:sp>
          <p:nvSpPr>
            <p:cNvPr id="45" name="Rectangle 45"/>
            <p:cNvSpPr/>
            <p:nvPr/>
          </p:nvSpPr>
          <p:spPr>
            <a:xfrm>
              <a:off x="9791700" y="2057400"/>
              <a:ext cx="1695450" cy="514350"/>
            </a:xfrm>
            <a:prstGeom prst="roundRect">
              <a:avLst>
                <a:gd name="adj" fmla="val 50000"/>
              </a:avLst>
            </a:prstGeom>
            <a:solidFill>
              <a:srgbClr val="FFFFFF"/>
            </a:solidFill>
            <a:ln w="14288">
              <a:solidFill>
                <a:srgbClr val="FCC6BB"/>
              </a:solidFill>
            </a:ln>
          </p:spPr>
        </p:sp>
        <p:sp>
          <p:nvSpPr>
            <p:cNvPr id="46" name="TextBox 46"/>
            <p:cNvSpPr txBox="1"/>
            <p:nvPr/>
          </p:nvSpPr>
          <p:spPr>
            <a:xfrm>
              <a:off x="10460634" y="2243614"/>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网站</a:t>
              </a:r>
            </a:p>
          </p:txBody>
        </p:sp>
      </p:grpSp>
      <p:grpSp>
        <p:nvGrpSpPr>
          <p:cNvPr id="54" name="row-potential"/>
          <p:cNvGrpSpPr/>
          <p:nvPr/>
        </p:nvGrpSpPr>
        <p:grpSpPr>
          <a:xfrm>
            <a:off x="6019800" y="3362325"/>
            <a:ext cx="5467350" cy="514350"/>
            <a:chOff x="6019800" y="3362325"/>
            <a:chExt cx="5467350" cy="514350"/>
          </a:xfrm>
        </p:grpSpPr>
        <p:sp>
          <p:nvSpPr>
            <p:cNvPr id="48" name="Rectangle 48"/>
            <p:cNvSpPr/>
            <p:nvPr/>
          </p:nvSpPr>
          <p:spPr>
            <a:xfrm>
              <a:off x="6019800" y="3362325"/>
              <a:ext cx="1695450" cy="514350"/>
            </a:xfrm>
            <a:prstGeom prst="roundRect">
              <a:avLst>
                <a:gd name="adj" fmla="val 50000"/>
              </a:avLst>
            </a:prstGeom>
            <a:solidFill>
              <a:srgbClr val="FFFFFF"/>
            </a:solidFill>
            <a:ln w="14288">
              <a:solidFill>
                <a:srgbClr val="FCC6BB"/>
              </a:solidFill>
            </a:ln>
          </p:spPr>
        </p:sp>
        <p:sp>
          <p:nvSpPr>
            <p:cNvPr id="49" name="TextBox 49"/>
            <p:cNvSpPr txBox="1"/>
            <p:nvPr/>
          </p:nvSpPr>
          <p:spPr>
            <a:xfrm>
              <a:off x="6688734" y="3548539"/>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公关</a:t>
              </a:r>
            </a:p>
          </p:txBody>
        </p:sp>
        <p:sp>
          <p:nvSpPr>
            <p:cNvPr id="50" name="Rectangle 50"/>
            <p:cNvSpPr/>
            <p:nvPr/>
          </p:nvSpPr>
          <p:spPr>
            <a:xfrm>
              <a:off x="7905750" y="3362325"/>
              <a:ext cx="1695450" cy="514350"/>
            </a:xfrm>
            <a:prstGeom prst="roundRect">
              <a:avLst>
                <a:gd name="adj" fmla="val 50000"/>
              </a:avLst>
            </a:prstGeom>
            <a:solidFill>
              <a:srgbClr val="FFFFFF"/>
            </a:solidFill>
            <a:ln w="14288">
              <a:solidFill>
                <a:srgbClr val="FCC6BB"/>
              </a:solidFill>
            </a:ln>
          </p:spPr>
        </p:sp>
        <p:sp>
          <p:nvSpPr>
            <p:cNvPr id="51" name="TextBox 51"/>
            <p:cNvSpPr txBox="1"/>
            <p:nvPr/>
          </p:nvSpPr>
          <p:spPr>
            <a:xfrm>
              <a:off x="8574684" y="3548539"/>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终端</a:t>
              </a:r>
            </a:p>
          </p:txBody>
        </p:sp>
        <p:sp>
          <p:nvSpPr>
            <p:cNvPr id="52" name="Rectangle 52"/>
            <p:cNvSpPr/>
            <p:nvPr/>
          </p:nvSpPr>
          <p:spPr>
            <a:xfrm>
              <a:off x="9791700" y="3362325"/>
              <a:ext cx="1695450" cy="514350"/>
            </a:xfrm>
            <a:prstGeom prst="roundRect">
              <a:avLst>
                <a:gd name="adj" fmla="val 50000"/>
              </a:avLst>
            </a:prstGeom>
            <a:solidFill>
              <a:srgbClr val="FFFFFF"/>
            </a:solidFill>
            <a:ln w="14288">
              <a:solidFill>
                <a:srgbClr val="FCC6BB"/>
              </a:solidFill>
            </a:ln>
          </p:spPr>
        </p:sp>
        <p:sp>
          <p:nvSpPr>
            <p:cNvPr id="53" name="TextBox 53"/>
            <p:cNvSpPr txBox="1"/>
            <p:nvPr/>
          </p:nvSpPr>
          <p:spPr>
            <a:xfrm>
              <a:off x="10460634" y="3548539"/>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网站</a:t>
              </a:r>
            </a:p>
          </p:txBody>
        </p:sp>
      </p:grpSp>
      <p:grpSp>
        <p:nvGrpSpPr>
          <p:cNvPr id="57" name="row-dealer-a"/>
          <p:cNvGrpSpPr/>
          <p:nvPr/>
        </p:nvGrpSpPr>
        <p:grpSpPr>
          <a:xfrm>
            <a:off x="6019800" y="4629150"/>
            <a:ext cx="1695450" cy="514350"/>
            <a:chOff x="6019800" y="4629150"/>
            <a:chExt cx="1695450" cy="514350"/>
          </a:xfrm>
        </p:grpSpPr>
        <p:sp>
          <p:nvSpPr>
            <p:cNvPr id="55" name="Rectangle 55"/>
            <p:cNvSpPr/>
            <p:nvPr/>
          </p:nvSpPr>
          <p:spPr>
            <a:xfrm>
              <a:off x="6019800" y="4629150"/>
              <a:ext cx="1695450" cy="514350"/>
            </a:xfrm>
            <a:prstGeom prst="roundRect">
              <a:avLst>
                <a:gd name="adj" fmla="val 50000"/>
              </a:avLst>
            </a:prstGeom>
            <a:solidFill>
              <a:srgbClr val="FFFFFF"/>
            </a:solidFill>
            <a:ln w="14288">
              <a:solidFill>
                <a:srgbClr val="FCC6BB"/>
              </a:solidFill>
            </a:ln>
          </p:spPr>
        </p:sp>
        <p:sp>
          <p:nvSpPr>
            <p:cNvPr id="56" name="TextBox 56"/>
            <p:cNvSpPr txBox="1"/>
            <p:nvPr/>
          </p:nvSpPr>
          <p:spPr>
            <a:xfrm>
              <a:off x="6688734" y="4815364"/>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公关</a:t>
              </a:r>
            </a:p>
          </p:txBody>
        </p:sp>
      </p:grpSp>
      <p:grpSp>
        <p:nvGrpSpPr>
          <p:cNvPr id="62" name="row-dealer-b"/>
          <p:cNvGrpSpPr/>
          <p:nvPr/>
        </p:nvGrpSpPr>
        <p:grpSpPr>
          <a:xfrm>
            <a:off x="6019800" y="5381625"/>
            <a:ext cx="3581400" cy="514350"/>
            <a:chOff x="6019800" y="5381625"/>
            <a:chExt cx="3581400" cy="514350"/>
          </a:xfrm>
        </p:grpSpPr>
        <p:sp>
          <p:nvSpPr>
            <p:cNvPr id="58" name="Rectangle 58"/>
            <p:cNvSpPr/>
            <p:nvPr/>
          </p:nvSpPr>
          <p:spPr>
            <a:xfrm>
              <a:off x="6019800" y="5381625"/>
              <a:ext cx="1695450" cy="514350"/>
            </a:xfrm>
            <a:prstGeom prst="roundRect">
              <a:avLst>
                <a:gd name="adj" fmla="val 50000"/>
              </a:avLst>
            </a:prstGeom>
            <a:solidFill>
              <a:srgbClr val="FFFFFF"/>
            </a:solidFill>
            <a:ln w="14288">
              <a:solidFill>
                <a:srgbClr val="FCC6BB"/>
              </a:solidFill>
            </a:ln>
          </p:spPr>
        </p:sp>
        <p:sp>
          <p:nvSpPr>
            <p:cNvPr id="59" name="TextBox 59"/>
            <p:cNvSpPr txBox="1"/>
            <p:nvPr/>
          </p:nvSpPr>
          <p:spPr>
            <a:xfrm>
              <a:off x="6688734" y="5567839"/>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终端</a:t>
              </a:r>
            </a:p>
          </p:txBody>
        </p:sp>
        <p:sp>
          <p:nvSpPr>
            <p:cNvPr id="60" name="Rectangle 60"/>
            <p:cNvSpPr/>
            <p:nvPr/>
          </p:nvSpPr>
          <p:spPr>
            <a:xfrm>
              <a:off x="7905750" y="5381625"/>
              <a:ext cx="1695450" cy="514350"/>
            </a:xfrm>
            <a:prstGeom prst="roundRect">
              <a:avLst>
                <a:gd name="adj" fmla="val 50000"/>
              </a:avLst>
            </a:prstGeom>
            <a:solidFill>
              <a:srgbClr val="FFFFFF"/>
            </a:solidFill>
            <a:ln w="14288">
              <a:solidFill>
                <a:srgbClr val="FCC6BB"/>
              </a:solidFill>
            </a:ln>
          </p:spPr>
        </p:sp>
        <p:sp>
          <p:nvSpPr>
            <p:cNvPr id="61" name="TextBox 61"/>
            <p:cNvSpPr txBox="1"/>
            <p:nvPr/>
          </p:nvSpPr>
          <p:spPr>
            <a:xfrm>
              <a:off x="8574684" y="5567839"/>
              <a:ext cx="357581" cy="249364"/>
            </a:xfrm>
            <a:prstGeom prst="rect">
              <a:avLst/>
            </a:prstGeom>
            <a:noFill/>
            <a:ln>
              <a:noFill/>
            </a:ln>
          </p:spPr>
          <p:txBody>
            <a:bodyPr wrap="none" lIns="0" tIns="0" rIns="0" bIns="0" anchor="t" anchorCtr="0">
              <a:spAutoFit/>
            </a:bodyPr>
            <a:lstStyle/>
            <a:p>
              <a:pPr algn="ctr"/>
              <a:r>
                <a:rPr lang="zh-CN" sz="1280" dirty="0">
                  <a:solidFill>
                    <a:srgbClr val="3D241F"/>
                  </a:solidFill>
                  <a:latin typeface="+mn-lt"/>
                  <a:ea typeface="+mn-ea"/>
                  <a:cs typeface="+mn-cs"/>
                </a:rPr>
                <a:t>广告</a:t>
              </a:r>
            </a:p>
          </p:txBody>
        </p:sp>
      </p:gr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Line 2"/>
          <p:cNvSpPr/>
          <p:nvPr/>
        </p:nvSpPr>
        <p:spPr>
          <a:xfrm>
            <a:off x="6096000" y="2571750"/>
            <a:ext cx="9525" cy="381000"/>
          </a:xfrm>
          <a:custGeom>
            <a:avLst/>
            <a:gdLst/>
            <a:ahLst/>
            <a:cxnLst/>
            <a:rect l="l" t="t" r="r" b="b"/>
            <a:pathLst>
              <a:path w="9525" h="381000">
                <a:moveTo>
                  <a:pt x="0" y="0"/>
                </a:moveTo>
                <a:lnTo>
                  <a:pt x="0" y="381000"/>
                </a:lnTo>
              </a:path>
            </a:pathLst>
          </a:custGeom>
          <a:noFill/>
          <a:ln w="14288">
            <a:solidFill>
              <a:srgbClr val="FA421D"/>
            </a:solidFill>
            <a:custDash>
              <a:ds d="266667" sp="200000"/>
            </a:custDash>
          </a:ln>
        </p:spPr>
      </p:sp>
      <p:sp>
        <p:nvSpPr>
          <p:cNvPr id="3" name="Line 3"/>
          <p:cNvSpPr/>
          <p:nvPr/>
        </p:nvSpPr>
        <p:spPr>
          <a:xfrm>
            <a:off x="1466850" y="2952750"/>
            <a:ext cx="9105900" cy="9525"/>
          </a:xfrm>
          <a:custGeom>
            <a:avLst/>
            <a:gdLst/>
            <a:ahLst/>
            <a:cxnLst/>
            <a:rect l="l" t="t" r="r" b="b"/>
            <a:pathLst>
              <a:path w="9105900" h="9525">
                <a:moveTo>
                  <a:pt x="0" y="0"/>
                </a:moveTo>
                <a:lnTo>
                  <a:pt x="9105900" y="0"/>
                </a:lnTo>
              </a:path>
            </a:pathLst>
          </a:custGeom>
          <a:noFill/>
          <a:ln w="14288">
            <a:solidFill>
              <a:srgbClr val="FA421D"/>
            </a:solidFill>
            <a:custDash>
              <a:ds d="266667" sp="200000"/>
            </a:custDash>
          </a:ln>
        </p:spPr>
      </p:sp>
      <p:sp>
        <p:nvSpPr>
          <p:cNvPr id="4" name="Line 4"/>
          <p:cNvSpPr/>
          <p:nvPr/>
        </p:nvSpPr>
        <p:spPr>
          <a:xfrm>
            <a:off x="1466850" y="2952750"/>
            <a:ext cx="1" cy="266700"/>
          </a:xfrm>
          <a:prstGeom prst="line">
            <a:avLst/>
          </a:prstGeom>
          <a:noFill/>
          <a:ln w="14288">
            <a:solidFill>
              <a:srgbClr val="FA421D"/>
            </a:solidFill>
            <a:custDash>
              <a:ds d="266667" sp="200000"/>
            </a:custDash>
            <a:tailEnd type="triangle" w="lg" len="lg"/>
          </a:ln>
        </p:spPr>
      </p:sp>
      <p:sp>
        <p:nvSpPr>
          <p:cNvPr id="5" name="Line 5"/>
          <p:cNvSpPr/>
          <p:nvPr/>
        </p:nvSpPr>
        <p:spPr>
          <a:xfrm>
            <a:off x="6096000" y="2952750"/>
            <a:ext cx="1" cy="266700"/>
          </a:xfrm>
          <a:prstGeom prst="line">
            <a:avLst/>
          </a:prstGeom>
          <a:noFill/>
          <a:ln w="14288">
            <a:solidFill>
              <a:srgbClr val="FA421D"/>
            </a:solidFill>
            <a:custDash>
              <a:ds d="266667" sp="200000"/>
            </a:custDash>
            <a:tailEnd type="triangle" w="lg" len="lg"/>
          </a:ln>
        </p:spPr>
      </p:sp>
      <p:sp>
        <p:nvSpPr>
          <p:cNvPr id="6" name="Line 6"/>
          <p:cNvSpPr/>
          <p:nvPr/>
        </p:nvSpPr>
        <p:spPr>
          <a:xfrm>
            <a:off x="10572750" y="2952750"/>
            <a:ext cx="1" cy="266700"/>
          </a:xfrm>
          <a:prstGeom prst="line">
            <a:avLst/>
          </a:prstGeom>
          <a:noFill/>
          <a:ln w="14288">
            <a:solidFill>
              <a:srgbClr val="FA421D"/>
            </a:solidFill>
            <a:custDash>
              <a:ds d="266667" sp="200000"/>
            </a:custDash>
            <a:tailEnd type="triangle" w="lg" len="lg"/>
          </a:ln>
        </p:spPr>
      </p:sp>
      <p:grpSp>
        <p:nvGrpSpPr>
          <p:cNvPr id="11" name="header"/>
          <p:cNvGrpSpPr/>
          <p:nvPr/>
        </p:nvGrpSpPr>
        <p:grpSpPr>
          <a:xfrm>
            <a:off x="0" y="0"/>
            <a:ext cx="12192000" cy="551879"/>
            <a:chOff x="0" y="0"/>
            <a:chExt cx="12192000" cy="551879"/>
          </a:xfrm>
        </p:grpSpPr>
        <p:sp>
          <p:nvSpPr>
            <p:cNvPr id="7" name="Polygon 7"/>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8" name="TextBox 8"/>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23</a:t>
              </a:r>
            </a:p>
          </p:txBody>
        </p:sp>
        <p:sp>
          <p:nvSpPr>
            <p:cNvPr id="9" name="TextBox 9"/>
            <p:cNvSpPr txBox="1"/>
            <p:nvPr/>
          </p:nvSpPr>
          <p:spPr>
            <a:xfrm>
              <a:off x="904494" y="170498"/>
              <a:ext cx="1332357"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人事架构图</a:t>
              </a:r>
            </a:p>
          </p:txBody>
        </p:sp>
        <p:sp>
          <p:nvSpPr>
            <p:cNvPr id="10" name="Line 10"/>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9" name="top-management"/>
          <p:cNvGrpSpPr/>
          <p:nvPr/>
        </p:nvGrpSpPr>
        <p:grpSpPr>
          <a:xfrm>
            <a:off x="5600700" y="990600"/>
            <a:ext cx="990600" cy="1638300"/>
            <a:chOff x="5600700" y="990600"/>
            <a:chExt cx="990600" cy="1638300"/>
          </a:xfrm>
        </p:grpSpPr>
        <p:sp>
          <p:nvSpPr>
            <p:cNvPr id="12" name="Rectangle 12"/>
            <p:cNvSpPr/>
            <p:nvPr/>
          </p:nvSpPr>
          <p:spPr>
            <a:xfrm>
              <a:off x="5600700" y="990600"/>
              <a:ext cx="990600" cy="685800"/>
            </a:xfrm>
            <a:prstGeom prst="roundRect">
              <a:avLst>
                <a:gd name="adj" fmla="val 13889"/>
              </a:avLst>
            </a:prstGeom>
            <a:noFill/>
            <a:ln w="28575">
              <a:solidFill>
                <a:srgbClr val="FBD2C9"/>
              </a:solidFill>
            </a:ln>
          </p:spPr>
        </p:sp>
        <p:sp>
          <p:nvSpPr>
            <p:cNvPr id="13" name="Rectangle 13"/>
            <p:cNvSpPr/>
            <p:nvPr/>
          </p:nvSpPr>
          <p:spPr>
            <a:xfrm>
              <a:off x="5657850" y="1047750"/>
              <a:ext cx="876300" cy="571500"/>
            </a:xfrm>
            <a:prstGeom prst="roundRect">
              <a:avLst>
                <a:gd name="adj" fmla="val 13333"/>
              </a:avLst>
            </a:prstGeom>
            <a:gradFill>
              <a:gsLst>
                <a:gs pos="0">
                  <a:srgbClr val="FB684A"/>
                </a:gs>
                <a:gs pos="100000">
                  <a:srgbClr val="FA421D"/>
                </a:gs>
              </a:gsLst>
              <a:lin ang="5400000" scaled="1"/>
            </a:gradFill>
            <a:ln>
              <a:noFill/>
            </a:ln>
          </p:spPr>
        </p:sp>
        <p:sp>
          <p:nvSpPr>
            <p:cNvPr id="14" name="TextBox 14"/>
            <p:cNvSpPr txBox="1"/>
            <p:nvPr/>
          </p:nvSpPr>
          <p:spPr>
            <a:xfrm>
              <a:off x="5847588" y="1261110"/>
              <a:ext cx="496824" cy="234696"/>
            </a:xfrm>
            <a:prstGeom prst="rect">
              <a:avLst/>
            </a:prstGeom>
            <a:noFill/>
            <a:ln>
              <a:noFill/>
            </a:ln>
          </p:spPr>
          <p:txBody>
            <a:bodyPr wrap="none" lIns="0" tIns="0" rIns="0" bIns="0" anchor="t" anchorCtr="0">
              <a:spAutoFit/>
            </a:bodyPr>
            <a:lstStyle/>
            <a:p>
              <a:pPr algn="ctr"/>
              <a:r>
                <a:rPr lang="zh-CN" sz="1200" dirty="0">
                  <a:solidFill>
                    <a:srgbClr val="FFFFFF"/>
                  </a:solidFill>
                  <a:latin typeface="+mn-lt"/>
                  <a:ea typeface="+mn-ea"/>
                  <a:cs typeface="+mn-cs"/>
                </a:rPr>
                <a:t>董事会</a:t>
              </a:r>
            </a:p>
          </p:txBody>
        </p:sp>
        <p:sp>
          <p:nvSpPr>
            <p:cNvPr id="15" name="Freeform 15"/>
            <p:cNvSpPr/>
            <p:nvPr/>
          </p:nvSpPr>
          <p:spPr>
            <a:xfrm>
              <a:off x="6000750" y="1676400"/>
              <a:ext cx="190500" cy="266700"/>
            </a:xfrm>
            <a:prstGeom prst="downArrow">
              <a:avLst/>
            </a:prstGeom>
            <a:solidFill>
              <a:srgbClr val="FA421D"/>
            </a:solidFill>
            <a:ln>
              <a:noFill/>
            </a:ln>
          </p:spPr>
        </p:sp>
        <p:sp>
          <p:nvSpPr>
            <p:cNvPr id="16" name="Rectangle 16"/>
            <p:cNvSpPr/>
            <p:nvPr/>
          </p:nvSpPr>
          <p:spPr>
            <a:xfrm>
              <a:off x="5600700" y="1943100"/>
              <a:ext cx="990600" cy="685800"/>
            </a:xfrm>
            <a:prstGeom prst="roundRect">
              <a:avLst>
                <a:gd name="adj" fmla="val 13889"/>
              </a:avLst>
            </a:prstGeom>
            <a:noFill/>
            <a:ln w="28575">
              <a:solidFill>
                <a:srgbClr val="FBD2C9"/>
              </a:solidFill>
            </a:ln>
          </p:spPr>
        </p:sp>
        <p:sp>
          <p:nvSpPr>
            <p:cNvPr id="17" name="Rectangle 17"/>
            <p:cNvSpPr/>
            <p:nvPr/>
          </p:nvSpPr>
          <p:spPr>
            <a:xfrm>
              <a:off x="5657850" y="2000250"/>
              <a:ext cx="876300" cy="571500"/>
            </a:xfrm>
            <a:prstGeom prst="roundRect">
              <a:avLst>
                <a:gd name="adj" fmla="val 13333"/>
              </a:avLst>
            </a:prstGeom>
            <a:gradFill>
              <a:gsLst>
                <a:gs pos="0">
                  <a:srgbClr val="FB684A"/>
                </a:gs>
                <a:gs pos="100000">
                  <a:srgbClr val="FA421D"/>
                </a:gs>
              </a:gsLst>
              <a:lin ang="5400000" scaled="1"/>
            </a:gradFill>
            <a:ln>
              <a:noFill/>
            </a:ln>
          </p:spPr>
        </p:sp>
        <p:sp>
          <p:nvSpPr>
            <p:cNvPr id="18" name="TextBox 18"/>
            <p:cNvSpPr txBox="1"/>
            <p:nvPr/>
          </p:nvSpPr>
          <p:spPr>
            <a:xfrm>
              <a:off x="5890641" y="2134552"/>
              <a:ext cx="410718" cy="376809"/>
            </a:xfrm>
            <a:prstGeom prst="rect">
              <a:avLst/>
            </a:prstGeom>
            <a:noFill/>
            <a:ln>
              <a:noFill/>
            </a:ln>
          </p:spPr>
          <p:txBody>
            <a:bodyPr wrap="none" lIns="0" tIns="0" rIns="0" bIns="0" anchor="t" anchorCtr="0">
              <a:spAutoFit/>
            </a:bodyPr>
            <a:lstStyle/>
            <a:p>
              <a:pPr algn="ctr">
                <a:lnSpc>
                  <a:spcPts val="1350"/>
                </a:lnSpc>
              </a:pPr>
              <a:r>
                <a:rPr lang="zh-CN" sz="1050" dirty="0">
                  <a:solidFill>
                    <a:srgbClr val="FFFFFF"/>
                  </a:solidFill>
                  <a:latin typeface="+mn-lt"/>
                  <a:ea typeface="+mn-ea"/>
                  <a:cs typeface="+mn-cs"/>
                </a:rPr>
                <a:t>执行总</a:t>
              </a:r>
              <a:br/>
              <a:r>
                <a:rPr lang="zh-CN" sz="1050" dirty="0">
                  <a:solidFill>
                    <a:srgbClr val="FFFFFF"/>
                  </a:solidFill>
                  <a:latin typeface="+mn-lt"/>
                  <a:ea typeface="+mn-ea"/>
                  <a:cs typeface="+mn-cs"/>
                </a:rPr>
                <a:t>经理</a:t>
              </a:r>
            </a:p>
          </p:txBody>
        </p:sp>
      </p:grpSp>
      <p:grpSp>
        <p:nvGrpSpPr>
          <p:cNvPr id="35" name="branch-business-left"/>
          <p:cNvGrpSpPr/>
          <p:nvPr/>
        </p:nvGrpSpPr>
        <p:grpSpPr>
          <a:xfrm>
            <a:off x="590550" y="3248025"/>
            <a:ext cx="1752600" cy="2943225"/>
            <a:chOff x="590550" y="3248025"/>
            <a:chExt cx="1752600" cy="2943225"/>
          </a:xfrm>
        </p:grpSpPr>
        <p:sp>
          <p:nvSpPr>
            <p:cNvPr id="20" name="Rectangle 20"/>
            <p:cNvSpPr/>
            <p:nvPr/>
          </p:nvSpPr>
          <p:spPr>
            <a:xfrm>
              <a:off x="990600" y="3248025"/>
              <a:ext cx="952500" cy="323850"/>
            </a:xfrm>
            <a:prstGeom prst="roundRect">
              <a:avLst>
                <a:gd name="adj" fmla="val 50000"/>
              </a:avLst>
            </a:prstGeom>
            <a:gradFill>
              <a:gsLst>
                <a:gs pos="0">
                  <a:srgbClr val="FB684A"/>
                </a:gs>
                <a:gs pos="100000">
                  <a:srgbClr val="FA421D"/>
                </a:gs>
              </a:gsLst>
              <a:lin ang="5400000" scaled="1"/>
            </a:gradFill>
            <a:ln>
              <a:noFill/>
            </a:ln>
          </p:spPr>
        </p:sp>
        <p:sp>
          <p:nvSpPr>
            <p:cNvPr id="21" name="TextBox 21"/>
            <p:cNvSpPr txBox="1"/>
            <p:nvPr/>
          </p:nvSpPr>
          <p:spPr>
            <a:xfrm>
              <a:off x="1178814" y="3353752"/>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业务副总</a:t>
              </a:r>
            </a:p>
          </p:txBody>
        </p:sp>
        <p:sp>
          <p:nvSpPr>
            <p:cNvPr id="22" name="Freeform 22"/>
            <p:cNvSpPr/>
            <p:nvPr/>
          </p:nvSpPr>
          <p:spPr>
            <a:xfrm>
              <a:off x="733425" y="3571875"/>
              <a:ext cx="1466850" cy="1571625"/>
            </a:xfrm>
            <a:custGeom>
              <a:avLst/>
              <a:gdLst/>
              <a:ahLst/>
              <a:cxnLst/>
              <a:rect l="l" t="t" r="r" b="b"/>
              <a:pathLst>
                <a:path w="1466850" h="1571625">
                  <a:moveTo>
                    <a:pt x="733425" y="0"/>
                  </a:moveTo>
                  <a:lnTo>
                    <a:pt x="733425" y="190500"/>
                  </a:lnTo>
                  <a:moveTo>
                    <a:pt x="0" y="190500"/>
                  </a:moveTo>
                  <a:lnTo>
                    <a:pt x="1466850" y="190500"/>
                  </a:lnTo>
                  <a:moveTo>
                    <a:pt x="0" y="190500"/>
                  </a:moveTo>
                  <a:lnTo>
                    <a:pt x="0" y="333375"/>
                  </a:lnTo>
                  <a:moveTo>
                    <a:pt x="733425" y="190500"/>
                  </a:moveTo>
                  <a:lnTo>
                    <a:pt x="733425" y="333375"/>
                  </a:lnTo>
                  <a:moveTo>
                    <a:pt x="1466850" y="190500"/>
                  </a:moveTo>
                  <a:lnTo>
                    <a:pt x="1466850" y="333375"/>
                  </a:lnTo>
                  <a:moveTo>
                    <a:pt x="0" y="1285875"/>
                  </a:moveTo>
                  <a:lnTo>
                    <a:pt x="0" y="1571625"/>
                  </a:lnTo>
                  <a:moveTo>
                    <a:pt x="733425" y="1285875"/>
                  </a:moveTo>
                  <a:lnTo>
                    <a:pt x="733425" y="1571625"/>
                  </a:lnTo>
                  <a:moveTo>
                    <a:pt x="1466850" y="1285875"/>
                  </a:moveTo>
                  <a:lnTo>
                    <a:pt x="1466850" y="1571625"/>
                  </a:lnTo>
                </a:path>
              </a:pathLst>
            </a:custGeom>
            <a:noFill/>
            <a:ln w="11430">
              <a:solidFill>
                <a:srgbClr val="FA421D"/>
              </a:solidFill>
              <a:custDash>
                <a:ds d="250000" sp="250000"/>
              </a:custDash>
            </a:ln>
          </p:spPr>
        </p:sp>
        <p:sp>
          <p:nvSpPr>
            <p:cNvPr id="23" name="Rectangle 23"/>
            <p:cNvSpPr/>
            <p:nvPr/>
          </p:nvSpPr>
          <p:spPr>
            <a:xfrm>
              <a:off x="590550"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24" name="TextBox 24"/>
            <p:cNvSpPr txBox="1"/>
            <p:nvPr/>
          </p:nvSpPr>
          <p:spPr>
            <a:xfrm>
              <a:off x="676592" y="4130516"/>
              <a:ext cx="113665"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销</a:t>
              </a:r>
              <a:br/>
              <a:r>
                <a:rPr lang="zh-CN" sz="820" dirty="0">
                  <a:solidFill>
                    <a:srgbClr val="FFFFFF"/>
                  </a:solidFill>
                  <a:latin typeface="+mn-lt"/>
                  <a:ea typeface="+mn-ea"/>
                  <a:cs typeface="+mn-cs"/>
                </a:rPr>
                <a:t>售</a:t>
              </a:r>
              <a:br/>
              <a:r>
                <a:rPr lang="zh-CN" sz="820" dirty="0">
                  <a:solidFill>
                    <a:srgbClr val="FFFFFF"/>
                  </a:solidFill>
                  <a:latin typeface="+mn-lt"/>
                  <a:ea typeface="+mn-ea"/>
                  <a:cs typeface="+mn-cs"/>
                </a:rPr>
                <a:t>经</a:t>
              </a:r>
              <a:br/>
              <a:r>
                <a:rPr lang="zh-CN" sz="820" dirty="0">
                  <a:solidFill>
                    <a:srgbClr val="FFFFFF"/>
                  </a:solidFill>
                  <a:latin typeface="+mn-lt"/>
                  <a:ea typeface="+mn-ea"/>
                  <a:cs typeface="+mn-cs"/>
                </a:rPr>
                <a:t>理</a:t>
              </a:r>
            </a:p>
          </p:txBody>
        </p:sp>
        <p:sp>
          <p:nvSpPr>
            <p:cNvPr id="25" name="Rectangle 25"/>
            <p:cNvSpPr/>
            <p:nvPr/>
          </p:nvSpPr>
          <p:spPr>
            <a:xfrm>
              <a:off x="1323975"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26" name="TextBox 26"/>
            <p:cNvSpPr txBox="1"/>
            <p:nvPr/>
          </p:nvSpPr>
          <p:spPr>
            <a:xfrm>
              <a:off x="1410018" y="4130516"/>
              <a:ext cx="113665"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模</a:t>
              </a:r>
              <a:br/>
              <a:r>
                <a:rPr lang="zh-CN" sz="820" dirty="0">
                  <a:solidFill>
                    <a:srgbClr val="FFFFFF"/>
                  </a:solidFill>
                  <a:latin typeface="+mn-lt"/>
                  <a:ea typeface="+mn-ea"/>
                  <a:cs typeface="+mn-cs"/>
                </a:rPr>
                <a:t>特</a:t>
              </a:r>
              <a:br/>
              <a:r>
                <a:rPr lang="zh-CN" sz="820" dirty="0">
                  <a:solidFill>
                    <a:srgbClr val="FFFFFF"/>
                  </a:solidFill>
                  <a:latin typeface="+mn-lt"/>
                  <a:ea typeface="+mn-ea"/>
                  <a:cs typeface="+mn-cs"/>
                </a:rPr>
                <a:t>领</a:t>
              </a:r>
              <a:br/>
              <a:r>
                <a:rPr lang="zh-CN" sz="820" dirty="0">
                  <a:solidFill>
                    <a:srgbClr val="FFFFFF"/>
                  </a:solidFill>
                  <a:latin typeface="+mn-lt"/>
                  <a:ea typeface="+mn-ea"/>
                  <a:cs typeface="+mn-cs"/>
                </a:rPr>
                <a:t>班</a:t>
              </a:r>
            </a:p>
          </p:txBody>
        </p:sp>
        <p:sp>
          <p:nvSpPr>
            <p:cNvPr id="27" name="Rectangle 27"/>
            <p:cNvSpPr/>
            <p:nvPr/>
          </p:nvSpPr>
          <p:spPr>
            <a:xfrm>
              <a:off x="2057400"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28" name="TextBox 28"/>
            <p:cNvSpPr txBox="1"/>
            <p:nvPr/>
          </p:nvSpPr>
          <p:spPr>
            <a:xfrm>
              <a:off x="2143442" y="4063841"/>
              <a:ext cx="113665" cy="69532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保</a:t>
              </a:r>
              <a:br/>
              <a:r>
                <a:rPr lang="zh-CN" sz="820" dirty="0">
                  <a:solidFill>
                    <a:srgbClr val="FFFFFF"/>
                  </a:solidFill>
                  <a:latin typeface="+mn-lt"/>
                  <a:ea typeface="+mn-ea"/>
                  <a:cs typeface="+mn-cs"/>
                </a:rPr>
                <a:t>安</a:t>
              </a:r>
              <a:br/>
              <a:r>
                <a:rPr lang="zh-CN" sz="820" dirty="0">
                  <a:solidFill>
                    <a:srgbClr val="FFFFFF"/>
                  </a:solidFill>
                  <a:latin typeface="+mn-lt"/>
                  <a:ea typeface="+mn-ea"/>
                  <a:cs typeface="+mn-cs"/>
                </a:rPr>
                <a:t>部</a:t>
              </a:r>
              <a:br/>
              <a:r>
                <a:rPr lang="zh-CN" sz="820" dirty="0">
                  <a:solidFill>
                    <a:srgbClr val="FFFFFF"/>
                  </a:solidFill>
                  <a:latin typeface="+mn-lt"/>
                  <a:ea typeface="+mn-ea"/>
                  <a:cs typeface="+mn-cs"/>
                </a:rPr>
                <a:t>经</a:t>
              </a:r>
              <a:br/>
              <a:r>
                <a:rPr lang="zh-CN" sz="820" dirty="0">
                  <a:solidFill>
                    <a:srgbClr val="FFFFFF"/>
                  </a:solidFill>
                  <a:latin typeface="+mn-lt"/>
                  <a:ea typeface="+mn-ea"/>
                  <a:cs typeface="+mn-cs"/>
                </a:rPr>
                <a:t>理</a:t>
              </a:r>
            </a:p>
          </p:txBody>
        </p:sp>
        <p:sp>
          <p:nvSpPr>
            <p:cNvPr id="29" name="Rectangle 29"/>
            <p:cNvSpPr/>
            <p:nvPr/>
          </p:nvSpPr>
          <p:spPr>
            <a:xfrm>
              <a:off x="590550" y="5143500"/>
              <a:ext cx="285750" cy="1047750"/>
            </a:xfrm>
            <a:prstGeom prst="roundRect">
              <a:avLst>
                <a:gd name="adj" fmla="val 50000"/>
              </a:avLst>
            </a:prstGeom>
            <a:solidFill>
              <a:srgbClr val="FFFFFF"/>
            </a:solidFill>
            <a:ln w="14288">
              <a:solidFill>
                <a:srgbClr val="FCC6BB"/>
              </a:solidFill>
            </a:ln>
          </p:spPr>
        </p:sp>
        <p:sp>
          <p:nvSpPr>
            <p:cNvPr id="30" name="TextBox 30"/>
            <p:cNvSpPr txBox="1"/>
            <p:nvPr/>
          </p:nvSpPr>
          <p:spPr>
            <a:xfrm>
              <a:off x="676592"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调</a:t>
              </a:r>
              <a:br/>
              <a:r>
                <a:rPr lang="zh-CN" sz="820" dirty="0">
                  <a:solidFill>
                    <a:srgbClr val="3D241F"/>
                  </a:solidFill>
                  <a:latin typeface="+mn-lt"/>
                  <a:ea typeface="+mn-ea"/>
                  <a:cs typeface="+mn-cs"/>
                </a:rPr>
                <a:t>音</a:t>
              </a:r>
              <a:br/>
              <a:r>
                <a:rPr lang="zh-CN" sz="820" dirty="0">
                  <a:solidFill>
                    <a:srgbClr val="3D241F"/>
                  </a:solidFill>
                  <a:latin typeface="+mn-lt"/>
                  <a:ea typeface="+mn-ea"/>
                  <a:cs typeface="+mn-cs"/>
                </a:rPr>
                <a:t>员</a:t>
              </a:r>
            </a:p>
          </p:txBody>
        </p:sp>
        <p:sp>
          <p:nvSpPr>
            <p:cNvPr id="31" name="Rectangle 31"/>
            <p:cNvSpPr/>
            <p:nvPr/>
          </p:nvSpPr>
          <p:spPr>
            <a:xfrm>
              <a:off x="1323975" y="5143500"/>
              <a:ext cx="285750" cy="1047750"/>
            </a:xfrm>
            <a:prstGeom prst="roundRect">
              <a:avLst>
                <a:gd name="adj" fmla="val 50000"/>
              </a:avLst>
            </a:prstGeom>
            <a:solidFill>
              <a:srgbClr val="FFFFFF"/>
            </a:solidFill>
            <a:ln w="14288">
              <a:solidFill>
                <a:srgbClr val="FCC6BB"/>
              </a:solidFill>
            </a:ln>
          </p:spPr>
        </p:sp>
        <p:sp>
          <p:nvSpPr>
            <p:cNvPr id="32" name="TextBox 32"/>
            <p:cNvSpPr txBox="1"/>
            <p:nvPr/>
          </p:nvSpPr>
          <p:spPr>
            <a:xfrm>
              <a:off x="1410018" y="5416391"/>
              <a:ext cx="113665"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模</a:t>
              </a:r>
              <a:br/>
              <a:r>
                <a:rPr lang="zh-CN" sz="820" dirty="0">
                  <a:solidFill>
                    <a:srgbClr val="3D241F"/>
                  </a:solidFill>
                  <a:latin typeface="+mn-lt"/>
                  <a:ea typeface="+mn-ea"/>
                  <a:cs typeface="+mn-cs"/>
                </a:rPr>
                <a:t>特</a:t>
              </a:r>
              <a:br/>
              <a:r>
                <a:rPr lang="zh-CN" sz="820" dirty="0">
                  <a:solidFill>
                    <a:srgbClr val="3D241F"/>
                  </a:solidFill>
                  <a:latin typeface="+mn-lt"/>
                  <a:ea typeface="+mn-ea"/>
                  <a:cs typeface="+mn-cs"/>
                </a:rPr>
                <a:t>领</a:t>
              </a:r>
              <a:br/>
              <a:r>
                <a:rPr lang="zh-CN" sz="820" dirty="0">
                  <a:solidFill>
                    <a:srgbClr val="3D241F"/>
                  </a:solidFill>
                  <a:latin typeface="+mn-lt"/>
                  <a:ea typeface="+mn-ea"/>
                  <a:cs typeface="+mn-cs"/>
                </a:rPr>
                <a:t>队</a:t>
              </a:r>
            </a:p>
          </p:txBody>
        </p:sp>
        <p:sp>
          <p:nvSpPr>
            <p:cNvPr id="33" name="Rectangle 33"/>
            <p:cNvSpPr/>
            <p:nvPr/>
          </p:nvSpPr>
          <p:spPr>
            <a:xfrm>
              <a:off x="2057400" y="5143500"/>
              <a:ext cx="285750" cy="1047750"/>
            </a:xfrm>
            <a:prstGeom prst="roundRect">
              <a:avLst>
                <a:gd name="adj" fmla="val 50000"/>
              </a:avLst>
            </a:prstGeom>
            <a:solidFill>
              <a:srgbClr val="FFFFFF"/>
            </a:solidFill>
            <a:ln w="14288">
              <a:solidFill>
                <a:srgbClr val="FCC6BB"/>
              </a:solidFill>
            </a:ln>
          </p:spPr>
        </p:sp>
        <p:sp>
          <p:nvSpPr>
            <p:cNvPr id="34" name="TextBox 34"/>
            <p:cNvSpPr txBox="1"/>
            <p:nvPr/>
          </p:nvSpPr>
          <p:spPr>
            <a:xfrm>
              <a:off x="2143442" y="5416391"/>
              <a:ext cx="113665"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保</a:t>
              </a:r>
              <a:br/>
              <a:r>
                <a:rPr lang="zh-CN" sz="820" dirty="0">
                  <a:solidFill>
                    <a:srgbClr val="3D241F"/>
                  </a:solidFill>
                  <a:latin typeface="+mn-lt"/>
                  <a:ea typeface="+mn-ea"/>
                  <a:cs typeface="+mn-cs"/>
                </a:rPr>
                <a:t>安</a:t>
              </a:r>
              <a:br/>
              <a:r>
                <a:rPr lang="zh-CN" sz="820" dirty="0">
                  <a:solidFill>
                    <a:srgbClr val="3D241F"/>
                  </a:solidFill>
                  <a:latin typeface="+mn-lt"/>
                  <a:ea typeface="+mn-ea"/>
                  <a:cs typeface="+mn-cs"/>
                </a:rPr>
                <a:t>队</a:t>
              </a:r>
              <a:br/>
              <a:r>
                <a:rPr lang="zh-CN" sz="820" dirty="0">
                  <a:solidFill>
                    <a:srgbClr val="3D241F"/>
                  </a:solidFill>
                  <a:latin typeface="+mn-lt"/>
                  <a:ea typeface="+mn-ea"/>
                  <a:cs typeface="+mn-cs"/>
                </a:rPr>
                <a:t>员</a:t>
              </a:r>
            </a:p>
          </p:txBody>
        </p:sp>
      </p:grpSp>
      <p:grpSp>
        <p:nvGrpSpPr>
          <p:cNvPr id="73" name="branch-admin"/>
          <p:cNvGrpSpPr/>
          <p:nvPr/>
        </p:nvGrpSpPr>
        <p:grpSpPr>
          <a:xfrm>
            <a:off x="3009900" y="3248025"/>
            <a:ext cx="6096000" cy="3038475"/>
            <a:chOff x="3009900" y="3248025"/>
            <a:chExt cx="6096000" cy="3038475"/>
          </a:xfrm>
        </p:grpSpPr>
        <p:sp>
          <p:nvSpPr>
            <p:cNvPr id="36" name="Rectangle 36"/>
            <p:cNvSpPr/>
            <p:nvPr/>
          </p:nvSpPr>
          <p:spPr>
            <a:xfrm>
              <a:off x="3009900" y="5048250"/>
              <a:ext cx="6096000" cy="1238250"/>
            </a:xfrm>
            <a:prstGeom prst="roundRect">
              <a:avLst>
                <a:gd name="adj" fmla="val 6154"/>
              </a:avLst>
            </a:prstGeom>
            <a:solidFill>
              <a:srgbClr val="E4EEFD"/>
            </a:solidFill>
            <a:ln>
              <a:noFill/>
            </a:ln>
          </p:spPr>
        </p:sp>
        <p:sp>
          <p:nvSpPr>
            <p:cNvPr id="37" name="Rectangle 37"/>
            <p:cNvSpPr/>
            <p:nvPr/>
          </p:nvSpPr>
          <p:spPr>
            <a:xfrm>
              <a:off x="5619750" y="3248025"/>
              <a:ext cx="952500" cy="323850"/>
            </a:xfrm>
            <a:prstGeom prst="roundRect">
              <a:avLst>
                <a:gd name="adj" fmla="val 50000"/>
              </a:avLst>
            </a:prstGeom>
            <a:gradFill>
              <a:gsLst>
                <a:gs pos="0">
                  <a:srgbClr val="FB684A"/>
                </a:gs>
                <a:gs pos="100000">
                  <a:srgbClr val="FA421D"/>
                </a:gs>
              </a:gsLst>
              <a:lin ang="5400000" scaled="1"/>
            </a:gradFill>
            <a:ln>
              <a:noFill/>
            </a:ln>
          </p:spPr>
        </p:sp>
        <p:sp>
          <p:nvSpPr>
            <p:cNvPr id="38" name="TextBox 38"/>
            <p:cNvSpPr txBox="1"/>
            <p:nvPr/>
          </p:nvSpPr>
          <p:spPr>
            <a:xfrm>
              <a:off x="5807964" y="3353752"/>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行政副总</a:t>
              </a:r>
            </a:p>
          </p:txBody>
        </p:sp>
        <p:sp>
          <p:nvSpPr>
            <p:cNvPr id="39" name="Freeform 39"/>
            <p:cNvSpPr/>
            <p:nvPr/>
          </p:nvSpPr>
          <p:spPr>
            <a:xfrm>
              <a:off x="3667125" y="3571875"/>
              <a:ext cx="4857750" cy="333375"/>
            </a:xfrm>
            <a:custGeom>
              <a:avLst/>
              <a:gdLst/>
              <a:ahLst/>
              <a:cxnLst/>
              <a:rect l="l" t="t" r="r" b="b"/>
              <a:pathLst>
                <a:path w="4857750" h="333375">
                  <a:moveTo>
                    <a:pt x="2428875" y="0"/>
                  </a:moveTo>
                  <a:lnTo>
                    <a:pt x="2428875" y="190500"/>
                  </a:lnTo>
                  <a:moveTo>
                    <a:pt x="0" y="190500"/>
                  </a:moveTo>
                  <a:lnTo>
                    <a:pt x="4857750" y="190500"/>
                  </a:lnTo>
                  <a:moveTo>
                    <a:pt x="0" y="190500"/>
                  </a:moveTo>
                  <a:lnTo>
                    <a:pt x="0" y="333375"/>
                  </a:lnTo>
                  <a:moveTo>
                    <a:pt x="1238250" y="190500"/>
                  </a:moveTo>
                  <a:lnTo>
                    <a:pt x="1238250" y="333375"/>
                  </a:lnTo>
                  <a:moveTo>
                    <a:pt x="2428875" y="190500"/>
                  </a:moveTo>
                  <a:lnTo>
                    <a:pt x="2428875" y="333375"/>
                  </a:lnTo>
                  <a:moveTo>
                    <a:pt x="3619500" y="190500"/>
                  </a:moveTo>
                  <a:lnTo>
                    <a:pt x="3619500" y="333375"/>
                  </a:lnTo>
                  <a:moveTo>
                    <a:pt x="4857750" y="190500"/>
                  </a:moveTo>
                  <a:lnTo>
                    <a:pt x="4857750" y="333375"/>
                  </a:lnTo>
                </a:path>
              </a:pathLst>
            </a:custGeom>
            <a:noFill/>
            <a:ln w="11430">
              <a:solidFill>
                <a:srgbClr val="FA421D"/>
              </a:solidFill>
              <a:custDash>
                <a:ds d="250000" sp="250000"/>
              </a:custDash>
            </a:ln>
          </p:spPr>
        </p:sp>
        <p:sp>
          <p:nvSpPr>
            <p:cNvPr id="40" name="Freeform 40"/>
            <p:cNvSpPr/>
            <p:nvPr/>
          </p:nvSpPr>
          <p:spPr>
            <a:xfrm>
              <a:off x="3190875" y="4857750"/>
              <a:ext cx="5762625" cy="285750"/>
            </a:xfrm>
            <a:custGeom>
              <a:avLst/>
              <a:gdLst/>
              <a:ahLst/>
              <a:cxnLst/>
              <a:rect l="l" t="t" r="r" b="b"/>
              <a:pathLst>
                <a:path w="5762625" h="285750">
                  <a:moveTo>
                    <a:pt x="476250" y="0"/>
                  </a:moveTo>
                  <a:lnTo>
                    <a:pt x="476250" y="142875"/>
                  </a:lnTo>
                  <a:moveTo>
                    <a:pt x="0" y="142875"/>
                  </a:moveTo>
                  <a:lnTo>
                    <a:pt x="952500" y="142875"/>
                  </a:lnTo>
                  <a:moveTo>
                    <a:pt x="0" y="142875"/>
                  </a:moveTo>
                  <a:lnTo>
                    <a:pt x="0" y="285750"/>
                  </a:lnTo>
                  <a:moveTo>
                    <a:pt x="476250" y="142875"/>
                  </a:moveTo>
                  <a:lnTo>
                    <a:pt x="476250" y="285750"/>
                  </a:lnTo>
                  <a:moveTo>
                    <a:pt x="952500" y="142875"/>
                  </a:moveTo>
                  <a:lnTo>
                    <a:pt x="952500" y="285750"/>
                  </a:lnTo>
                  <a:moveTo>
                    <a:pt x="1714500" y="0"/>
                  </a:moveTo>
                  <a:lnTo>
                    <a:pt x="1714500" y="142875"/>
                  </a:lnTo>
                  <a:moveTo>
                    <a:pt x="1524000" y="142875"/>
                  </a:moveTo>
                  <a:lnTo>
                    <a:pt x="1905000" y="142875"/>
                  </a:lnTo>
                  <a:moveTo>
                    <a:pt x="1524000" y="142875"/>
                  </a:moveTo>
                  <a:lnTo>
                    <a:pt x="1524000" y="285750"/>
                  </a:lnTo>
                  <a:moveTo>
                    <a:pt x="1905000" y="142875"/>
                  </a:moveTo>
                  <a:lnTo>
                    <a:pt x="1905000" y="285750"/>
                  </a:lnTo>
                  <a:moveTo>
                    <a:pt x="2905125" y="0"/>
                  </a:moveTo>
                  <a:lnTo>
                    <a:pt x="2905125" y="285750"/>
                  </a:lnTo>
                  <a:moveTo>
                    <a:pt x="4095750" y="0"/>
                  </a:moveTo>
                  <a:lnTo>
                    <a:pt x="4095750" y="142875"/>
                  </a:lnTo>
                  <a:moveTo>
                    <a:pt x="3905250" y="142875"/>
                  </a:moveTo>
                  <a:lnTo>
                    <a:pt x="4333875" y="142875"/>
                  </a:lnTo>
                  <a:moveTo>
                    <a:pt x="3905250" y="142875"/>
                  </a:moveTo>
                  <a:lnTo>
                    <a:pt x="3905250" y="285750"/>
                  </a:lnTo>
                  <a:moveTo>
                    <a:pt x="4333875" y="142875"/>
                  </a:moveTo>
                  <a:lnTo>
                    <a:pt x="4333875" y="285750"/>
                  </a:lnTo>
                  <a:moveTo>
                    <a:pt x="5334000" y="0"/>
                  </a:moveTo>
                  <a:lnTo>
                    <a:pt x="5334000" y="142875"/>
                  </a:lnTo>
                  <a:moveTo>
                    <a:pt x="4905375" y="142875"/>
                  </a:moveTo>
                  <a:lnTo>
                    <a:pt x="5762625" y="142875"/>
                  </a:lnTo>
                  <a:moveTo>
                    <a:pt x="4905375" y="142875"/>
                  </a:moveTo>
                  <a:lnTo>
                    <a:pt x="4905375" y="285750"/>
                  </a:lnTo>
                  <a:moveTo>
                    <a:pt x="5334000" y="142875"/>
                  </a:moveTo>
                  <a:lnTo>
                    <a:pt x="5334000" y="285750"/>
                  </a:lnTo>
                  <a:moveTo>
                    <a:pt x="5762625" y="142875"/>
                  </a:moveTo>
                  <a:lnTo>
                    <a:pt x="5762625" y="285750"/>
                  </a:lnTo>
                </a:path>
              </a:pathLst>
            </a:custGeom>
            <a:noFill/>
            <a:ln w="11430">
              <a:solidFill>
                <a:srgbClr val="FA421D"/>
              </a:solidFill>
              <a:custDash>
                <a:ds d="250000" sp="250000"/>
              </a:custDash>
            </a:ln>
          </p:spPr>
        </p:sp>
        <p:sp>
          <p:nvSpPr>
            <p:cNvPr id="41" name="Rectangle 41"/>
            <p:cNvSpPr/>
            <p:nvPr/>
          </p:nvSpPr>
          <p:spPr>
            <a:xfrm>
              <a:off x="3524250"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42" name="TextBox 42"/>
            <p:cNvSpPr txBox="1"/>
            <p:nvPr/>
          </p:nvSpPr>
          <p:spPr>
            <a:xfrm>
              <a:off x="3610293" y="4063841"/>
              <a:ext cx="113665" cy="69532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出</a:t>
              </a:r>
              <a:br/>
              <a:r>
                <a:rPr lang="zh-CN" sz="820" dirty="0">
                  <a:solidFill>
                    <a:srgbClr val="FFFFFF"/>
                  </a:solidFill>
                  <a:latin typeface="+mn-lt"/>
                  <a:ea typeface="+mn-ea"/>
                  <a:cs typeface="+mn-cs"/>
                </a:rPr>
                <a:t>品</a:t>
              </a:r>
              <a:br/>
              <a:r>
                <a:rPr lang="zh-CN" sz="820" dirty="0">
                  <a:solidFill>
                    <a:srgbClr val="FFFFFF"/>
                  </a:solidFill>
                  <a:latin typeface="+mn-lt"/>
                  <a:ea typeface="+mn-ea"/>
                  <a:cs typeface="+mn-cs"/>
                </a:rPr>
                <a:t>部</a:t>
              </a:r>
              <a:br/>
              <a:r>
                <a:rPr lang="zh-CN" sz="820" dirty="0">
                  <a:solidFill>
                    <a:srgbClr val="FFFFFF"/>
                  </a:solidFill>
                  <a:latin typeface="+mn-lt"/>
                  <a:ea typeface="+mn-ea"/>
                  <a:cs typeface="+mn-cs"/>
                </a:rPr>
                <a:t>主</a:t>
              </a:r>
              <a:br/>
              <a:r>
                <a:rPr lang="zh-CN" sz="820" dirty="0">
                  <a:solidFill>
                    <a:srgbClr val="FFFFFF"/>
                  </a:solidFill>
                  <a:latin typeface="+mn-lt"/>
                  <a:ea typeface="+mn-ea"/>
                  <a:cs typeface="+mn-cs"/>
                </a:rPr>
                <a:t>管</a:t>
              </a:r>
            </a:p>
          </p:txBody>
        </p:sp>
        <p:sp>
          <p:nvSpPr>
            <p:cNvPr id="43" name="Rectangle 43"/>
            <p:cNvSpPr/>
            <p:nvPr/>
          </p:nvSpPr>
          <p:spPr>
            <a:xfrm>
              <a:off x="4762500"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44" name="TextBox 44"/>
            <p:cNvSpPr txBox="1"/>
            <p:nvPr/>
          </p:nvSpPr>
          <p:spPr>
            <a:xfrm>
              <a:off x="4848542" y="4063841"/>
              <a:ext cx="113665" cy="695325"/>
            </a:xfrm>
            <a:prstGeom prst="rect">
              <a:avLst/>
            </a:prstGeom>
            <a:noFill/>
            <a:ln>
              <a:noFill/>
            </a:ln>
          </p:spPr>
          <p:txBody>
            <a:bodyPr wrap="none" lIns="0" tIns="0" rIns="0" bIns="0" anchor="t" anchorCtr="0">
              <a:spAutoFit/>
            </a:bodyPr>
            <a:lstStyle/>
            <a:p>
              <a:pPr algn="ctr">
                <a:lnSpc>
                  <a:spcPts val="1050"/>
                </a:lnSpc>
              </a:pPr>
              <a:r>
                <a:rPr lang="en-US" sz="820" dirty="0">
                  <a:solidFill>
                    <a:srgbClr val="FFFFFF"/>
                  </a:solidFill>
                  <a:latin typeface="+mn-lt"/>
                  <a:ea typeface="+mn-ea"/>
                  <a:cs typeface="+mn-cs"/>
                </a:rPr>
                <a:t>D</a:t>
              </a:r>
              <a:br/>
              <a:r>
                <a:rPr lang="en-US" sz="820" dirty="0">
                  <a:solidFill>
                    <a:srgbClr val="FFFFFF"/>
                  </a:solidFill>
                  <a:latin typeface="+mn-lt"/>
                  <a:ea typeface="+mn-ea"/>
                  <a:cs typeface="+mn-cs"/>
                </a:rPr>
                <a:t>J</a:t>
              </a:r>
              <a:br/>
              <a:r>
                <a:rPr lang="zh-CN" sz="820" dirty="0">
                  <a:solidFill>
                    <a:srgbClr val="FFFFFF"/>
                  </a:solidFill>
                  <a:latin typeface="+mn-lt"/>
                  <a:ea typeface="+mn-ea"/>
                  <a:cs typeface="+mn-cs"/>
                </a:rPr>
                <a:t>部</a:t>
              </a:r>
              <a:br/>
              <a:r>
                <a:rPr lang="zh-CN" sz="820" dirty="0">
                  <a:solidFill>
                    <a:srgbClr val="FFFFFF"/>
                  </a:solidFill>
                  <a:latin typeface="+mn-lt"/>
                  <a:ea typeface="+mn-ea"/>
                  <a:cs typeface="+mn-cs"/>
                </a:rPr>
                <a:t>主</a:t>
              </a:r>
              <a:br/>
              <a:r>
                <a:rPr lang="zh-CN" sz="820" dirty="0">
                  <a:solidFill>
                    <a:srgbClr val="FFFFFF"/>
                  </a:solidFill>
                  <a:latin typeface="+mn-lt"/>
                  <a:ea typeface="+mn-ea"/>
                  <a:cs typeface="+mn-cs"/>
                </a:rPr>
                <a:t>管</a:t>
              </a:r>
            </a:p>
          </p:txBody>
        </p:sp>
        <p:sp>
          <p:nvSpPr>
            <p:cNvPr id="45" name="Rectangle 45"/>
            <p:cNvSpPr/>
            <p:nvPr/>
          </p:nvSpPr>
          <p:spPr>
            <a:xfrm>
              <a:off x="5953125"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46" name="TextBox 46"/>
            <p:cNvSpPr txBox="1"/>
            <p:nvPr/>
          </p:nvSpPr>
          <p:spPr>
            <a:xfrm>
              <a:off x="6039168" y="4063841"/>
              <a:ext cx="113665" cy="69532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保</a:t>
              </a:r>
              <a:br/>
              <a:r>
                <a:rPr lang="zh-CN" sz="820" dirty="0">
                  <a:solidFill>
                    <a:srgbClr val="FFFFFF"/>
                  </a:solidFill>
                  <a:latin typeface="+mn-lt"/>
                  <a:ea typeface="+mn-ea"/>
                  <a:cs typeface="+mn-cs"/>
                </a:rPr>
                <a:t>洁</a:t>
              </a:r>
              <a:br/>
              <a:r>
                <a:rPr lang="zh-CN" sz="820" dirty="0">
                  <a:solidFill>
                    <a:srgbClr val="FFFFFF"/>
                  </a:solidFill>
                  <a:latin typeface="+mn-lt"/>
                  <a:ea typeface="+mn-ea"/>
                  <a:cs typeface="+mn-cs"/>
                </a:rPr>
                <a:t>部</a:t>
              </a:r>
              <a:br/>
              <a:r>
                <a:rPr lang="zh-CN" sz="820" dirty="0">
                  <a:solidFill>
                    <a:srgbClr val="FFFFFF"/>
                  </a:solidFill>
                  <a:latin typeface="+mn-lt"/>
                  <a:ea typeface="+mn-ea"/>
                  <a:cs typeface="+mn-cs"/>
                </a:rPr>
                <a:t>主</a:t>
              </a:r>
              <a:br/>
              <a:r>
                <a:rPr lang="zh-CN" sz="820" dirty="0">
                  <a:solidFill>
                    <a:srgbClr val="FFFFFF"/>
                  </a:solidFill>
                  <a:latin typeface="+mn-lt"/>
                  <a:ea typeface="+mn-ea"/>
                  <a:cs typeface="+mn-cs"/>
                </a:rPr>
                <a:t>管</a:t>
              </a:r>
            </a:p>
          </p:txBody>
        </p:sp>
        <p:sp>
          <p:nvSpPr>
            <p:cNvPr id="47" name="Rectangle 47"/>
            <p:cNvSpPr/>
            <p:nvPr/>
          </p:nvSpPr>
          <p:spPr>
            <a:xfrm>
              <a:off x="7143750"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48" name="TextBox 48"/>
            <p:cNvSpPr txBox="1"/>
            <p:nvPr/>
          </p:nvSpPr>
          <p:spPr>
            <a:xfrm>
              <a:off x="7229792" y="4063841"/>
              <a:ext cx="113665" cy="69532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前</a:t>
              </a:r>
              <a:br/>
              <a:r>
                <a:rPr lang="zh-CN" sz="820" dirty="0">
                  <a:solidFill>
                    <a:srgbClr val="FFFFFF"/>
                  </a:solidFill>
                  <a:latin typeface="+mn-lt"/>
                  <a:ea typeface="+mn-ea"/>
                  <a:cs typeface="+mn-cs"/>
                </a:rPr>
                <a:t>厅</a:t>
              </a:r>
              <a:br/>
              <a:r>
                <a:rPr lang="zh-CN" sz="820" dirty="0">
                  <a:solidFill>
                    <a:srgbClr val="FFFFFF"/>
                  </a:solidFill>
                  <a:latin typeface="+mn-lt"/>
                  <a:ea typeface="+mn-ea"/>
                  <a:cs typeface="+mn-cs"/>
                </a:rPr>
                <a:t>部</a:t>
              </a:r>
              <a:br/>
              <a:r>
                <a:rPr lang="zh-CN" sz="820" dirty="0">
                  <a:solidFill>
                    <a:srgbClr val="FFFFFF"/>
                  </a:solidFill>
                  <a:latin typeface="+mn-lt"/>
                  <a:ea typeface="+mn-ea"/>
                  <a:cs typeface="+mn-cs"/>
                </a:rPr>
                <a:t>主</a:t>
              </a:r>
              <a:br/>
              <a:r>
                <a:rPr lang="zh-CN" sz="820" dirty="0">
                  <a:solidFill>
                    <a:srgbClr val="FFFFFF"/>
                  </a:solidFill>
                  <a:latin typeface="+mn-lt"/>
                  <a:ea typeface="+mn-ea"/>
                  <a:cs typeface="+mn-cs"/>
                </a:rPr>
                <a:t>管</a:t>
              </a:r>
            </a:p>
          </p:txBody>
        </p:sp>
        <p:sp>
          <p:nvSpPr>
            <p:cNvPr id="49" name="Rectangle 49"/>
            <p:cNvSpPr/>
            <p:nvPr/>
          </p:nvSpPr>
          <p:spPr>
            <a:xfrm>
              <a:off x="8382000"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50" name="TextBox 50"/>
            <p:cNvSpPr txBox="1"/>
            <p:nvPr/>
          </p:nvSpPr>
          <p:spPr>
            <a:xfrm>
              <a:off x="8468042" y="4063841"/>
              <a:ext cx="113665" cy="69532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总</a:t>
              </a:r>
              <a:br/>
              <a:r>
                <a:rPr lang="zh-CN" sz="820" dirty="0">
                  <a:solidFill>
                    <a:srgbClr val="FFFFFF"/>
                  </a:solidFill>
                  <a:latin typeface="+mn-lt"/>
                  <a:ea typeface="+mn-ea"/>
                  <a:cs typeface="+mn-cs"/>
                </a:rPr>
                <a:t>控</a:t>
              </a:r>
              <a:br/>
              <a:r>
                <a:rPr lang="zh-CN" sz="820" dirty="0">
                  <a:solidFill>
                    <a:srgbClr val="FFFFFF"/>
                  </a:solidFill>
                  <a:latin typeface="+mn-lt"/>
                  <a:ea typeface="+mn-ea"/>
                  <a:cs typeface="+mn-cs"/>
                </a:rPr>
                <a:t>部</a:t>
              </a:r>
              <a:br/>
              <a:r>
                <a:rPr lang="zh-CN" sz="820" dirty="0">
                  <a:solidFill>
                    <a:srgbClr val="FFFFFF"/>
                  </a:solidFill>
                  <a:latin typeface="+mn-lt"/>
                  <a:ea typeface="+mn-ea"/>
                  <a:cs typeface="+mn-cs"/>
                </a:rPr>
                <a:t>经</a:t>
              </a:r>
              <a:br/>
              <a:r>
                <a:rPr lang="zh-CN" sz="820" dirty="0">
                  <a:solidFill>
                    <a:srgbClr val="FFFFFF"/>
                  </a:solidFill>
                  <a:latin typeface="+mn-lt"/>
                  <a:ea typeface="+mn-ea"/>
                  <a:cs typeface="+mn-cs"/>
                </a:rPr>
                <a:t>理</a:t>
              </a:r>
            </a:p>
          </p:txBody>
        </p:sp>
        <p:sp>
          <p:nvSpPr>
            <p:cNvPr id="51" name="Rectangle 51"/>
            <p:cNvSpPr/>
            <p:nvPr/>
          </p:nvSpPr>
          <p:spPr>
            <a:xfrm>
              <a:off x="3048000" y="5143500"/>
              <a:ext cx="285750" cy="1047750"/>
            </a:xfrm>
            <a:prstGeom prst="roundRect">
              <a:avLst>
                <a:gd name="adj" fmla="val 50000"/>
              </a:avLst>
            </a:prstGeom>
            <a:solidFill>
              <a:srgbClr val="FFFFFF"/>
            </a:solidFill>
            <a:ln w="14288">
              <a:solidFill>
                <a:srgbClr val="FCC6BB"/>
              </a:solidFill>
            </a:ln>
          </p:spPr>
        </p:sp>
        <p:sp>
          <p:nvSpPr>
            <p:cNvPr id="52" name="TextBox 52"/>
            <p:cNvSpPr txBox="1"/>
            <p:nvPr/>
          </p:nvSpPr>
          <p:spPr>
            <a:xfrm>
              <a:off x="3134043" y="5549741"/>
              <a:ext cx="113665"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吧</a:t>
              </a:r>
              <a:br/>
              <a:r>
                <a:rPr lang="zh-CN" sz="820" dirty="0">
                  <a:solidFill>
                    <a:srgbClr val="3D241F"/>
                  </a:solidFill>
                  <a:latin typeface="+mn-lt"/>
                  <a:ea typeface="+mn-ea"/>
                  <a:cs typeface="+mn-cs"/>
                </a:rPr>
                <a:t>员</a:t>
              </a:r>
            </a:p>
          </p:txBody>
        </p:sp>
        <p:sp>
          <p:nvSpPr>
            <p:cNvPr id="53" name="Rectangle 53"/>
            <p:cNvSpPr/>
            <p:nvPr/>
          </p:nvSpPr>
          <p:spPr>
            <a:xfrm>
              <a:off x="3524250" y="5143500"/>
              <a:ext cx="285750" cy="1047750"/>
            </a:xfrm>
            <a:prstGeom prst="roundRect">
              <a:avLst>
                <a:gd name="adj" fmla="val 50000"/>
              </a:avLst>
            </a:prstGeom>
            <a:solidFill>
              <a:srgbClr val="FFFFFF"/>
            </a:solidFill>
            <a:ln w="14288">
              <a:solidFill>
                <a:srgbClr val="FCC6BB"/>
              </a:solidFill>
            </a:ln>
          </p:spPr>
        </p:sp>
        <p:sp>
          <p:nvSpPr>
            <p:cNvPr id="54" name="TextBox 54"/>
            <p:cNvSpPr txBox="1"/>
            <p:nvPr/>
          </p:nvSpPr>
          <p:spPr>
            <a:xfrm>
              <a:off x="3610293" y="5549741"/>
              <a:ext cx="113665"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传</a:t>
              </a:r>
              <a:br/>
              <a:r>
                <a:rPr lang="zh-CN" sz="820" dirty="0">
                  <a:solidFill>
                    <a:srgbClr val="3D241F"/>
                  </a:solidFill>
                  <a:latin typeface="+mn-lt"/>
                  <a:ea typeface="+mn-ea"/>
                  <a:cs typeface="+mn-cs"/>
                </a:rPr>
                <a:t>递</a:t>
              </a:r>
            </a:p>
          </p:txBody>
        </p:sp>
        <p:sp>
          <p:nvSpPr>
            <p:cNvPr id="55" name="Rectangle 55"/>
            <p:cNvSpPr/>
            <p:nvPr/>
          </p:nvSpPr>
          <p:spPr>
            <a:xfrm>
              <a:off x="4000500" y="5143500"/>
              <a:ext cx="285750" cy="1047750"/>
            </a:xfrm>
            <a:prstGeom prst="roundRect">
              <a:avLst>
                <a:gd name="adj" fmla="val 50000"/>
              </a:avLst>
            </a:prstGeom>
            <a:solidFill>
              <a:srgbClr val="FFFFFF"/>
            </a:solidFill>
            <a:ln w="14288">
              <a:solidFill>
                <a:srgbClr val="FCC6BB"/>
              </a:solidFill>
            </a:ln>
          </p:spPr>
        </p:sp>
        <p:sp>
          <p:nvSpPr>
            <p:cNvPr id="56" name="TextBox 56"/>
            <p:cNvSpPr txBox="1"/>
            <p:nvPr/>
          </p:nvSpPr>
          <p:spPr>
            <a:xfrm>
              <a:off x="4086543"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清</a:t>
              </a:r>
              <a:br/>
              <a:r>
                <a:rPr lang="zh-CN" sz="820" dirty="0">
                  <a:solidFill>
                    <a:srgbClr val="3D241F"/>
                  </a:solidFill>
                  <a:latin typeface="+mn-lt"/>
                  <a:ea typeface="+mn-ea"/>
                  <a:cs typeface="+mn-cs"/>
                </a:rPr>
                <a:t>洗</a:t>
              </a:r>
              <a:br/>
              <a:r>
                <a:rPr lang="zh-CN" sz="820" dirty="0">
                  <a:solidFill>
                    <a:srgbClr val="3D241F"/>
                  </a:solidFill>
                  <a:latin typeface="+mn-lt"/>
                  <a:ea typeface="+mn-ea"/>
                  <a:cs typeface="+mn-cs"/>
                </a:rPr>
                <a:t>员</a:t>
              </a:r>
            </a:p>
          </p:txBody>
        </p:sp>
        <p:sp>
          <p:nvSpPr>
            <p:cNvPr id="57" name="Rectangle 57"/>
            <p:cNvSpPr/>
            <p:nvPr/>
          </p:nvSpPr>
          <p:spPr>
            <a:xfrm>
              <a:off x="4572000" y="5143500"/>
              <a:ext cx="285750" cy="1047750"/>
            </a:xfrm>
            <a:prstGeom prst="roundRect">
              <a:avLst>
                <a:gd name="adj" fmla="val 50000"/>
              </a:avLst>
            </a:prstGeom>
            <a:solidFill>
              <a:srgbClr val="FFFFFF"/>
            </a:solidFill>
            <a:ln w="14288">
              <a:solidFill>
                <a:srgbClr val="FCC6BB"/>
              </a:solidFill>
            </a:ln>
          </p:spPr>
        </p:sp>
        <p:sp>
          <p:nvSpPr>
            <p:cNvPr id="58" name="TextBox 58"/>
            <p:cNvSpPr txBox="1"/>
            <p:nvPr/>
          </p:nvSpPr>
          <p:spPr>
            <a:xfrm>
              <a:off x="4658042" y="5416391"/>
              <a:ext cx="113665" cy="561975"/>
            </a:xfrm>
            <a:prstGeom prst="rect">
              <a:avLst/>
            </a:prstGeom>
            <a:noFill/>
            <a:ln>
              <a:noFill/>
            </a:ln>
          </p:spPr>
          <p:txBody>
            <a:bodyPr wrap="none" lIns="0" tIns="0" rIns="0" bIns="0" anchor="t" anchorCtr="0">
              <a:spAutoFit/>
            </a:bodyPr>
            <a:lstStyle/>
            <a:p>
              <a:pPr algn="ctr">
                <a:lnSpc>
                  <a:spcPts val="1050"/>
                </a:lnSpc>
              </a:pPr>
              <a:r>
                <a:rPr lang="en-US" sz="820" dirty="0">
                  <a:solidFill>
                    <a:srgbClr val="3D241F"/>
                  </a:solidFill>
                  <a:latin typeface="+mn-lt"/>
                  <a:ea typeface="+mn-ea"/>
                  <a:cs typeface="+mn-cs"/>
                </a:rPr>
                <a:t>D</a:t>
              </a:r>
              <a:br/>
              <a:r>
                <a:rPr lang="en-US" sz="820" dirty="0">
                  <a:solidFill>
                    <a:srgbClr val="3D241F"/>
                  </a:solidFill>
                  <a:latin typeface="+mn-lt"/>
                  <a:ea typeface="+mn-ea"/>
                  <a:cs typeface="+mn-cs"/>
                </a:rPr>
                <a:t>J</a:t>
              </a:r>
              <a:br/>
              <a:r>
                <a:rPr lang="zh-CN" sz="820" dirty="0">
                  <a:solidFill>
                    <a:srgbClr val="3D241F"/>
                  </a:solidFill>
                  <a:latin typeface="+mn-lt"/>
                  <a:ea typeface="+mn-ea"/>
                  <a:cs typeface="+mn-cs"/>
                </a:rPr>
                <a:t>领</a:t>
              </a:r>
              <a:br/>
              <a:r>
                <a:rPr lang="zh-CN" sz="820" dirty="0">
                  <a:solidFill>
                    <a:srgbClr val="3D241F"/>
                  </a:solidFill>
                  <a:latin typeface="+mn-lt"/>
                  <a:ea typeface="+mn-ea"/>
                  <a:cs typeface="+mn-cs"/>
                </a:rPr>
                <a:t>班</a:t>
              </a:r>
            </a:p>
          </p:txBody>
        </p:sp>
        <p:sp>
          <p:nvSpPr>
            <p:cNvPr id="59" name="Rectangle 59"/>
            <p:cNvSpPr/>
            <p:nvPr/>
          </p:nvSpPr>
          <p:spPr>
            <a:xfrm>
              <a:off x="4953000" y="5143500"/>
              <a:ext cx="285750" cy="1047750"/>
            </a:xfrm>
            <a:prstGeom prst="roundRect">
              <a:avLst>
                <a:gd name="adj" fmla="val 50000"/>
              </a:avLst>
            </a:prstGeom>
            <a:solidFill>
              <a:srgbClr val="FFFFFF"/>
            </a:solidFill>
            <a:ln w="14288">
              <a:solidFill>
                <a:srgbClr val="FCC6BB"/>
              </a:solidFill>
            </a:ln>
          </p:spPr>
        </p:sp>
        <p:sp>
          <p:nvSpPr>
            <p:cNvPr id="60" name="TextBox 60"/>
            <p:cNvSpPr txBox="1"/>
            <p:nvPr/>
          </p:nvSpPr>
          <p:spPr>
            <a:xfrm>
              <a:off x="5039042" y="5349716"/>
              <a:ext cx="113665" cy="695325"/>
            </a:xfrm>
            <a:prstGeom prst="rect">
              <a:avLst/>
            </a:prstGeom>
            <a:noFill/>
            <a:ln>
              <a:noFill/>
            </a:ln>
          </p:spPr>
          <p:txBody>
            <a:bodyPr wrap="none" lIns="0" tIns="0" rIns="0" bIns="0" anchor="t" anchorCtr="0">
              <a:spAutoFit/>
            </a:bodyPr>
            <a:lstStyle/>
            <a:p>
              <a:pPr algn="ctr">
                <a:lnSpc>
                  <a:spcPts val="1050"/>
                </a:lnSpc>
              </a:pPr>
              <a:r>
                <a:rPr lang="en-US" sz="820" dirty="0">
                  <a:solidFill>
                    <a:srgbClr val="3D241F"/>
                  </a:solidFill>
                  <a:latin typeface="+mn-lt"/>
                  <a:ea typeface="+mn-ea"/>
                  <a:cs typeface="+mn-cs"/>
                </a:rPr>
                <a:t>D</a:t>
              </a:r>
              <a:br/>
              <a:r>
                <a:rPr lang="en-US" sz="820" dirty="0">
                  <a:solidFill>
                    <a:srgbClr val="3D241F"/>
                  </a:solidFill>
                  <a:latin typeface="+mn-lt"/>
                  <a:ea typeface="+mn-ea"/>
                  <a:cs typeface="+mn-cs"/>
                </a:rPr>
                <a:t>J</a:t>
              </a:r>
              <a:br/>
              <a:r>
                <a:rPr lang="zh-CN" sz="820" dirty="0">
                  <a:solidFill>
                    <a:srgbClr val="3D241F"/>
                  </a:solidFill>
                  <a:latin typeface="+mn-lt"/>
                  <a:ea typeface="+mn-ea"/>
                  <a:cs typeface="+mn-cs"/>
                </a:rPr>
                <a:t>服</a:t>
              </a:r>
              <a:br/>
              <a:r>
                <a:rPr lang="zh-CN" sz="820" dirty="0">
                  <a:solidFill>
                    <a:srgbClr val="3D241F"/>
                  </a:solidFill>
                  <a:latin typeface="+mn-lt"/>
                  <a:ea typeface="+mn-ea"/>
                  <a:cs typeface="+mn-cs"/>
                </a:rPr>
                <a:t>务</a:t>
              </a:r>
              <a:br/>
              <a:r>
                <a:rPr lang="zh-CN" sz="820" dirty="0">
                  <a:solidFill>
                    <a:srgbClr val="3D241F"/>
                  </a:solidFill>
                  <a:latin typeface="+mn-lt"/>
                  <a:ea typeface="+mn-ea"/>
                  <a:cs typeface="+mn-cs"/>
                </a:rPr>
                <a:t>员</a:t>
              </a:r>
            </a:p>
          </p:txBody>
        </p:sp>
        <p:sp>
          <p:nvSpPr>
            <p:cNvPr id="61" name="Rectangle 61"/>
            <p:cNvSpPr/>
            <p:nvPr/>
          </p:nvSpPr>
          <p:spPr>
            <a:xfrm>
              <a:off x="5953125" y="5143500"/>
              <a:ext cx="285750" cy="1047750"/>
            </a:xfrm>
            <a:prstGeom prst="roundRect">
              <a:avLst>
                <a:gd name="adj" fmla="val 50000"/>
              </a:avLst>
            </a:prstGeom>
            <a:solidFill>
              <a:srgbClr val="FFFFFF"/>
            </a:solidFill>
            <a:ln w="14288">
              <a:solidFill>
                <a:srgbClr val="FCC6BB"/>
              </a:solidFill>
            </a:ln>
          </p:spPr>
        </p:sp>
        <p:sp>
          <p:nvSpPr>
            <p:cNvPr id="62" name="TextBox 62"/>
            <p:cNvSpPr txBox="1"/>
            <p:nvPr/>
          </p:nvSpPr>
          <p:spPr>
            <a:xfrm>
              <a:off x="6039168"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保</a:t>
              </a:r>
              <a:br/>
              <a:r>
                <a:rPr lang="zh-CN" sz="820" dirty="0">
                  <a:solidFill>
                    <a:srgbClr val="3D241F"/>
                  </a:solidFill>
                  <a:latin typeface="+mn-lt"/>
                  <a:ea typeface="+mn-ea"/>
                  <a:cs typeface="+mn-cs"/>
                </a:rPr>
                <a:t>洁</a:t>
              </a:r>
              <a:br/>
              <a:r>
                <a:rPr lang="zh-CN" sz="820" dirty="0">
                  <a:solidFill>
                    <a:srgbClr val="3D241F"/>
                  </a:solidFill>
                  <a:latin typeface="+mn-lt"/>
                  <a:ea typeface="+mn-ea"/>
                  <a:cs typeface="+mn-cs"/>
                </a:rPr>
                <a:t>员</a:t>
              </a:r>
            </a:p>
          </p:txBody>
        </p:sp>
        <p:sp>
          <p:nvSpPr>
            <p:cNvPr id="63" name="Rectangle 63"/>
            <p:cNvSpPr/>
            <p:nvPr/>
          </p:nvSpPr>
          <p:spPr>
            <a:xfrm>
              <a:off x="6953250" y="5143500"/>
              <a:ext cx="285750" cy="1047750"/>
            </a:xfrm>
            <a:prstGeom prst="roundRect">
              <a:avLst>
                <a:gd name="adj" fmla="val 50000"/>
              </a:avLst>
            </a:prstGeom>
            <a:solidFill>
              <a:srgbClr val="FFFFFF"/>
            </a:solidFill>
            <a:ln w="14288">
              <a:solidFill>
                <a:srgbClr val="FCC6BB"/>
              </a:solidFill>
            </a:ln>
          </p:spPr>
        </p:sp>
        <p:sp>
          <p:nvSpPr>
            <p:cNvPr id="64" name="TextBox 64"/>
            <p:cNvSpPr txBox="1"/>
            <p:nvPr/>
          </p:nvSpPr>
          <p:spPr>
            <a:xfrm>
              <a:off x="7039292"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咨</a:t>
              </a:r>
              <a:br/>
              <a:r>
                <a:rPr lang="zh-CN" sz="820" dirty="0">
                  <a:solidFill>
                    <a:srgbClr val="3D241F"/>
                  </a:solidFill>
                  <a:latin typeface="+mn-lt"/>
                  <a:ea typeface="+mn-ea"/>
                  <a:cs typeface="+mn-cs"/>
                </a:rPr>
                <a:t>客</a:t>
              </a:r>
              <a:br/>
              <a:r>
                <a:rPr lang="zh-CN" sz="820" dirty="0">
                  <a:solidFill>
                    <a:srgbClr val="3D241F"/>
                  </a:solidFill>
                  <a:latin typeface="+mn-lt"/>
                  <a:ea typeface="+mn-ea"/>
                  <a:cs typeface="+mn-cs"/>
                </a:rPr>
                <a:t>员</a:t>
              </a:r>
            </a:p>
          </p:txBody>
        </p:sp>
        <p:sp>
          <p:nvSpPr>
            <p:cNvPr id="65" name="Rectangle 65"/>
            <p:cNvSpPr/>
            <p:nvPr/>
          </p:nvSpPr>
          <p:spPr>
            <a:xfrm>
              <a:off x="7381875" y="5143500"/>
              <a:ext cx="285750" cy="1047750"/>
            </a:xfrm>
            <a:prstGeom prst="roundRect">
              <a:avLst>
                <a:gd name="adj" fmla="val 50000"/>
              </a:avLst>
            </a:prstGeom>
            <a:solidFill>
              <a:srgbClr val="FFFFFF"/>
            </a:solidFill>
            <a:ln w="14288">
              <a:solidFill>
                <a:srgbClr val="FCC6BB"/>
              </a:solidFill>
            </a:ln>
          </p:spPr>
        </p:sp>
        <p:sp>
          <p:nvSpPr>
            <p:cNvPr id="66" name="TextBox 66"/>
            <p:cNvSpPr txBox="1"/>
            <p:nvPr/>
          </p:nvSpPr>
          <p:spPr>
            <a:xfrm>
              <a:off x="7467918"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迎</a:t>
              </a:r>
              <a:br/>
              <a:r>
                <a:rPr lang="zh-CN" sz="820" dirty="0">
                  <a:solidFill>
                    <a:srgbClr val="3D241F"/>
                  </a:solidFill>
                  <a:latin typeface="+mn-lt"/>
                  <a:ea typeface="+mn-ea"/>
                  <a:cs typeface="+mn-cs"/>
                </a:rPr>
                <a:t>宾</a:t>
              </a:r>
              <a:br/>
              <a:r>
                <a:rPr lang="zh-CN" sz="820" dirty="0">
                  <a:solidFill>
                    <a:srgbClr val="3D241F"/>
                  </a:solidFill>
                  <a:latin typeface="+mn-lt"/>
                  <a:ea typeface="+mn-ea"/>
                  <a:cs typeface="+mn-cs"/>
                </a:rPr>
                <a:t>员</a:t>
              </a:r>
            </a:p>
          </p:txBody>
        </p:sp>
        <p:sp>
          <p:nvSpPr>
            <p:cNvPr id="67" name="Rectangle 67"/>
            <p:cNvSpPr/>
            <p:nvPr/>
          </p:nvSpPr>
          <p:spPr>
            <a:xfrm>
              <a:off x="7953375" y="5143500"/>
              <a:ext cx="285750" cy="1047750"/>
            </a:xfrm>
            <a:prstGeom prst="roundRect">
              <a:avLst>
                <a:gd name="adj" fmla="val 50000"/>
              </a:avLst>
            </a:prstGeom>
            <a:solidFill>
              <a:srgbClr val="FFFFFF"/>
            </a:solidFill>
            <a:ln w="14288">
              <a:solidFill>
                <a:srgbClr val="FCC6BB"/>
              </a:solidFill>
            </a:ln>
          </p:spPr>
        </p:sp>
        <p:sp>
          <p:nvSpPr>
            <p:cNvPr id="68" name="TextBox 68"/>
            <p:cNvSpPr txBox="1"/>
            <p:nvPr/>
          </p:nvSpPr>
          <p:spPr>
            <a:xfrm>
              <a:off x="8039418"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调</a:t>
              </a:r>
              <a:br/>
              <a:r>
                <a:rPr lang="zh-CN" sz="820" dirty="0">
                  <a:solidFill>
                    <a:srgbClr val="3D241F"/>
                  </a:solidFill>
                  <a:latin typeface="+mn-lt"/>
                  <a:ea typeface="+mn-ea"/>
                  <a:cs typeface="+mn-cs"/>
                </a:rPr>
                <a:t>音</a:t>
              </a:r>
              <a:br/>
              <a:r>
                <a:rPr lang="zh-CN" sz="820" dirty="0">
                  <a:solidFill>
                    <a:srgbClr val="3D241F"/>
                  </a:solidFill>
                  <a:latin typeface="+mn-lt"/>
                  <a:ea typeface="+mn-ea"/>
                  <a:cs typeface="+mn-cs"/>
                </a:rPr>
                <a:t>员</a:t>
              </a:r>
            </a:p>
          </p:txBody>
        </p:sp>
        <p:sp>
          <p:nvSpPr>
            <p:cNvPr id="69" name="Rectangle 69"/>
            <p:cNvSpPr/>
            <p:nvPr/>
          </p:nvSpPr>
          <p:spPr>
            <a:xfrm>
              <a:off x="8382000" y="5143500"/>
              <a:ext cx="285750" cy="1047750"/>
            </a:xfrm>
            <a:prstGeom prst="roundRect">
              <a:avLst>
                <a:gd name="adj" fmla="val 50000"/>
              </a:avLst>
            </a:prstGeom>
            <a:solidFill>
              <a:srgbClr val="FFFFFF"/>
            </a:solidFill>
            <a:ln w="14288">
              <a:solidFill>
                <a:srgbClr val="FCC6BB"/>
              </a:solidFill>
            </a:ln>
          </p:spPr>
        </p:sp>
        <p:sp>
          <p:nvSpPr>
            <p:cNvPr id="70" name="TextBox 70"/>
            <p:cNvSpPr txBox="1"/>
            <p:nvPr/>
          </p:nvSpPr>
          <p:spPr>
            <a:xfrm>
              <a:off x="8468042" y="5349716"/>
              <a:ext cx="113665" cy="6953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工</a:t>
              </a:r>
              <a:br/>
              <a:r>
                <a:rPr lang="zh-CN" sz="820" dirty="0">
                  <a:solidFill>
                    <a:srgbClr val="3D241F"/>
                  </a:solidFill>
                  <a:latin typeface="+mn-lt"/>
                  <a:ea typeface="+mn-ea"/>
                  <a:cs typeface="+mn-cs"/>
                </a:rPr>
                <a:t>程</a:t>
              </a:r>
              <a:br/>
              <a:r>
                <a:rPr lang="zh-CN" sz="820" dirty="0">
                  <a:solidFill>
                    <a:srgbClr val="3D241F"/>
                  </a:solidFill>
                  <a:latin typeface="+mn-lt"/>
                  <a:ea typeface="+mn-ea"/>
                  <a:cs typeface="+mn-cs"/>
                </a:rPr>
                <a:t>维</a:t>
              </a:r>
              <a:br/>
              <a:r>
                <a:rPr lang="zh-CN" sz="820" dirty="0">
                  <a:solidFill>
                    <a:srgbClr val="3D241F"/>
                  </a:solidFill>
                  <a:latin typeface="+mn-lt"/>
                  <a:ea typeface="+mn-ea"/>
                  <a:cs typeface="+mn-cs"/>
                </a:rPr>
                <a:t>护</a:t>
              </a:r>
              <a:br/>
              <a:r>
                <a:rPr lang="zh-CN" sz="820" dirty="0">
                  <a:solidFill>
                    <a:srgbClr val="3D241F"/>
                  </a:solidFill>
                  <a:latin typeface="+mn-lt"/>
                  <a:ea typeface="+mn-ea"/>
                  <a:cs typeface="+mn-cs"/>
                </a:rPr>
                <a:t>员</a:t>
              </a:r>
            </a:p>
          </p:txBody>
        </p:sp>
        <p:sp>
          <p:nvSpPr>
            <p:cNvPr id="71" name="Rectangle 71"/>
            <p:cNvSpPr/>
            <p:nvPr/>
          </p:nvSpPr>
          <p:spPr>
            <a:xfrm>
              <a:off x="8810625" y="5143500"/>
              <a:ext cx="285750" cy="1047750"/>
            </a:xfrm>
            <a:prstGeom prst="roundRect">
              <a:avLst>
                <a:gd name="adj" fmla="val 50000"/>
              </a:avLst>
            </a:prstGeom>
            <a:solidFill>
              <a:srgbClr val="FFFFFF"/>
            </a:solidFill>
            <a:ln w="14288">
              <a:solidFill>
                <a:srgbClr val="FCC6BB"/>
              </a:solidFill>
            </a:ln>
          </p:spPr>
        </p:sp>
        <p:sp>
          <p:nvSpPr>
            <p:cNvPr id="72" name="TextBox 72"/>
            <p:cNvSpPr txBox="1"/>
            <p:nvPr/>
          </p:nvSpPr>
          <p:spPr>
            <a:xfrm>
              <a:off x="8896668"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灯</a:t>
              </a:r>
              <a:br/>
              <a:r>
                <a:rPr lang="zh-CN" sz="820" dirty="0">
                  <a:solidFill>
                    <a:srgbClr val="3D241F"/>
                  </a:solidFill>
                  <a:latin typeface="+mn-lt"/>
                  <a:ea typeface="+mn-ea"/>
                  <a:cs typeface="+mn-cs"/>
                </a:rPr>
                <a:t>光</a:t>
              </a:r>
              <a:br/>
              <a:r>
                <a:rPr lang="zh-CN" sz="820" dirty="0">
                  <a:solidFill>
                    <a:srgbClr val="3D241F"/>
                  </a:solidFill>
                  <a:latin typeface="+mn-lt"/>
                  <a:ea typeface="+mn-ea"/>
                  <a:cs typeface="+mn-cs"/>
                </a:rPr>
                <a:t>师</a:t>
              </a:r>
            </a:p>
          </p:txBody>
        </p:sp>
      </p:grpSp>
      <p:grpSp>
        <p:nvGrpSpPr>
          <p:cNvPr id="94" name="branch-business-right"/>
          <p:cNvGrpSpPr/>
          <p:nvPr/>
        </p:nvGrpSpPr>
        <p:grpSpPr>
          <a:xfrm>
            <a:off x="9686925" y="3248025"/>
            <a:ext cx="1914525" cy="3038475"/>
            <a:chOff x="9686925" y="3248025"/>
            <a:chExt cx="1914525" cy="3038475"/>
          </a:xfrm>
        </p:grpSpPr>
        <p:sp>
          <p:nvSpPr>
            <p:cNvPr id="74" name="Rectangle 74"/>
            <p:cNvSpPr/>
            <p:nvPr/>
          </p:nvSpPr>
          <p:spPr>
            <a:xfrm>
              <a:off x="9696450" y="5048250"/>
              <a:ext cx="1905000" cy="1238250"/>
            </a:xfrm>
            <a:prstGeom prst="roundRect">
              <a:avLst>
                <a:gd name="adj" fmla="val 6154"/>
              </a:avLst>
            </a:prstGeom>
            <a:solidFill>
              <a:srgbClr val="E4EEFD"/>
            </a:solidFill>
            <a:ln>
              <a:noFill/>
            </a:ln>
          </p:spPr>
        </p:sp>
        <p:sp>
          <p:nvSpPr>
            <p:cNvPr id="75" name="Rectangle 75"/>
            <p:cNvSpPr/>
            <p:nvPr/>
          </p:nvSpPr>
          <p:spPr>
            <a:xfrm>
              <a:off x="10096500" y="3248025"/>
              <a:ext cx="952500" cy="323850"/>
            </a:xfrm>
            <a:prstGeom prst="roundRect">
              <a:avLst>
                <a:gd name="adj" fmla="val 50000"/>
              </a:avLst>
            </a:prstGeom>
            <a:gradFill>
              <a:gsLst>
                <a:gs pos="0">
                  <a:srgbClr val="FB684A"/>
                </a:gs>
                <a:gs pos="100000">
                  <a:srgbClr val="FA421D"/>
                </a:gs>
              </a:gsLst>
              <a:lin ang="5400000" scaled="1"/>
            </a:gradFill>
            <a:ln>
              <a:noFill/>
            </a:ln>
          </p:spPr>
        </p:sp>
        <p:sp>
          <p:nvSpPr>
            <p:cNvPr id="76" name="TextBox 76"/>
            <p:cNvSpPr txBox="1"/>
            <p:nvPr/>
          </p:nvSpPr>
          <p:spPr>
            <a:xfrm>
              <a:off x="10284714" y="3353752"/>
              <a:ext cx="576072" cy="205359"/>
            </a:xfrm>
            <a:prstGeom prst="rect">
              <a:avLst/>
            </a:prstGeom>
            <a:noFill/>
            <a:ln>
              <a:noFill/>
            </a:ln>
          </p:spPr>
          <p:txBody>
            <a:bodyPr wrap="none" lIns="0" tIns="0" rIns="0" bIns="0" anchor="t" anchorCtr="0">
              <a:spAutoFit/>
            </a:bodyPr>
            <a:lstStyle/>
            <a:p>
              <a:pPr algn="ctr"/>
              <a:r>
                <a:rPr lang="zh-CN" sz="1050" dirty="0">
                  <a:solidFill>
                    <a:srgbClr val="FFFFFF"/>
                  </a:solidFill>
                  <a:latin typeface="+mn-lt"/>
                  <a:ea typeface="+mn-ea"/>
                  <a:cs typeface="+mn-cs"/>
                </a:rPr>
                <a:t>业务副总</a:t>
              </a:r>
            </a:p>
          </p:txBody>
        </p:sp>
        <p:sp>
          <p:nvSpPr>
            <p:cNvPr id="77" name="Freeform 77"/>
            <p:cNvSpPr/>
            <p:nvPr/>
          </p:nvSpPr>
          <p:spPr>
            <a:xfrm>
              <a:off x="9829800" y="3571875"/>
              <a:ext cx="1581150" cy="1571625"/>
            </a:xfrm>
            <a:custGeom>
              <a:avLst/>
              <a:gdLst/>
              <a:ahLst/>
              <a:cxnLst/>
              <a:rect l="l" t="t" r="r" b="b"/>
              <a:pathLst>
                <a:path w="1581150" h="1571625">
                  <a:moveTo>
                    <a:pt x="742950" y="0"/>
                  </a:moveTo>
                  <a:lnTo>
                    <a:pt x="742950" y="190500"/>
                  </a:lnTo>
                  <a:moveTo>
                    <a:pt x="171450" y="190500"/>
                  </a:moveTo>
                  <a:lnTo>
                    <a:pt x="1390650" y="190500"/>
                  </a:lnTo>
                  <a:moveTo>
                    <a:pt x="171450" y="190500"/>
                  </a:moveTo>
                  <a:lnTo>
                    <a:pt x="171450" y="333375"/>
                  </a:lnTo>
                  <a:moveTo>
                    <a:pt x="762000" y="190500"/>
                  </a:moveTo>
                  <a:lnTo>
                    <a:pt x="762000" y="333375"/>
                  </a:lnTo>
                  <a:moveTo>
                    <a:pt x="1390650" y="190500"/>
                  </a:moveTo>
                  <a:lnTo>
                    <a:pt x="1390650" y="333375"/>
                  </a:lnTo>
                  <a:moveTo>
                    <a:pt x="171450" y="1285875"/>
                  </a:moveTo>
                  <a:lnTo>
                    <a:pt x="171450" y="1428750"/>
                  </a:lnTo>
                  <a:moveTo>
                    <a:pt x="0" y="1428750"/>
                  </a:moveTo>
                  <a:lnTo>
                    <a:pt x="342900" y="1428750"/>
                  </a:lnTo>
                  <a:moveTo>
                    <a:pt x="0" y="1428750"/>
                  </a:moveTo>
                  <a:lnTo>
                    <a:pt x="0" y="1571625"/>
                  </a:lnTo>
                  <a:moveTo>
                    <a:pt x="342900" y="1428750"/>
                  </a:moveTo>
                  <a:lnTo>
                    <a:pt x="342900" y="1571625"/>
                  </a:lnTo>
                  <a:moveTo>
                    <a:pt x="762000" y="1285875"/>
                  </a:moveTo>
                  <a:lnTo>
                    <a:pt x="762000" y="1571625"/>
                  </a:lnTo>
                  <a:moveTo>
                    <a:pt x="1390650" y="1285875"/>
                  </a:moveTo>
                  <a:lnTo>
                    <a:pt x="1390650" y="1428750"/>
                  </a:lnTo>
                  <a:moveTo>
                    <a:pt x="1200150" y="1428750"/>
                  </a:moveTo>
                  <a:lnTo>
                    <a:pt x="1581150" y="1428750"/>
                  </a:lnTo>
                  <a:moveTo>
                    <a:pt x="1200150" y="1428750"/>
                  </a:moveTo>
                  <a:lnTo>
                    <a:pt x="1200150" y="1571625"/>
                  </a:lnTo>
                  <a:moveTo>
                    <a:pt x="1581150" y="1428750"/>
                  </a:moveTo>
                  <a:lnTo>
                    <a:pt x="1581150" y="1571625"/>
                  </a:lnTo>
                </a:path>
              </a:pathLst>
            </a:custGeom>
            <a:noFill/>
            <a:ln w="11430">
              <a:solidFill>
                <a:srgbClr val="FA421D"/>
              </a:solidFill>
              <a:custDash>
                <a:ds d="250000" sp="250000"/>
              </a:custDash>
            </a:ln>
          </p:spPr>
        </p:sp>
        <p:sp>
          <p:nvSpPr>
            <p:cNvPr id="78" name="Rectangle 78"/>
            <p:cNvSpPr/>
            <p:nvPr/>
          </p:nvSpPr>
          <p:spPr>
            <a:xfrm>
              <a:off x="9858375"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79" name="TextBox 79"/>
            <p:cNvSpPr txBox="1"/>
            <p:nvPr/>
          </p:nvSpPr>
          <p:spPr>
            <a:xfrm>
              <a:off x="9944418" y="4130516"/>
              <a:ext cx="113665"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财</a:t>
              </a:r>
              <a:br/>
              <a:r>
                <a:rPr lang="zh-CN" sz="820" dirty="0">
                  <a:solidFill>
                    <a:srgbClr val="FFFFFF"/>
                  </a:solidFill>
                  <a:latin typeface="+mn-lt"/>
                  <a:ea typeface="+mn-ea"/>
                  <a:cs typeface="+mn-cs"/>
                </a:rPr>
                <a:t>务</a:t>
              </a:r>
              <a:br/>
              <a:r>
                <a:rPr lang="zh-CN" sz="820" dirty="0">
                  <a:solidFill>
                    <a:srgbClr val="FFFFFF"/>
                  </a:solidFill>
                  <a:latin typeface="+mn-lt"/>
                  <a:ea typeface="+mn-ea"/>
                  <a:cs typeface="+mn-cs"/>
                </a:rPr>
                <a:t>会</a:t>
              </a:r>
              <a:br/>
              <a:r>
                <a:rPr lang="zh-CN" sz="820" dirty="0">
                  <a:solidFill>
                    <a:srgbClr val="FFFFFF"/>
                  </a:solidFill>
                  <a:latin typeface="+mn-lt"/>
                  <a:ea typeface="+mn-ea"/>
                  <a:cs typeface="+mn-cs"/>
                </a:rPr>
                <a:t>计</a:t>
              </a:r>
            </a:p>
          </p:txBody>
        </p:sp>
        <p:sp>
          <p:nvSpPr>
            <p:cNvPr id="80" name="Rectangle 80"/>
            <p:cNvSpPr/>
            <p:nvPr/>
          </p:nvSpPr>
          <p:spPr>
            <a:xfrm>
              <a:off x="10448925"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81" name="TextBox 81"/>
            <p:cNvSpPr txBox="1"/>
            <p:nvPr/>
          </p:nvSpPr>
          <p:spPr>
            <a:xfrm>
              <a:off x="10534968" y="4130516"/>
              <a:ext cx="113665" cy="56197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收</a:t>
              </a:r>
              <a:br/>
              <a:r>
                <a:rPr lang="zh-CN" sz="820" dirty="0">
                  <a:solidFill>
                    <a:srgbClr val="FFFFFF"/>
                  </a:solidFill>
                  <a:latin typeface="+mn-lt"/>
                  <a:ea typeface="+mn-ea"/>
                  <a:cs typeface="+mn-cs"/>
                </a:rPr>
                <a:t>银</a:t>
              </a:r>
              <a:br/>
              <a:r>
                <a:rPr lang="zh-CN" sz="820" dirty="0">
                  <a:solidFill>
                    <a:srgbClr val="FFFFFF"/>
                  </a:solidFill>
                  <a:latin typeface="+mn-lt"/>
                  <a:ea typeface="+mn-ea"/>
                  <a:cs typeface="+mn-cs"/>
                </a:rPr>
                <a:t>领</a:t>
              </a:r>
              <a:br/>
              <a:r>
                <a:rPr lang="zh-CN" sz="820" dirty="0">
                  <a:solidFill>
                    <a:srgbClr val="FFFFFF"/>
                  </a:solidFill>
                  <a:latin typeface="+mn-lt"/>
                  <a:ea typeface="+mn-ea"/>
                  <a:cs typeface="+mn-cs"/>
                </a:rPr>
                <a:t>班</a:t>
              </a:r>
            </a:p>
          </p:txBody>
        </p:sp>
        <p:sp>
          <p:nvSpPr>
            <p:cNvPr id="82" name="Rectangle 82"/>
            <p:cNvSpPr/>
            <p:nvPr/>
          </p:nvSpPr>
          <p:spPr>
            <a:xfrm>
              <a:off x="11077575" y="3905250"/>
              <a:ext cx="285750" cy="952500"/>
            </a:xfrm>
            <a:prstGeom prst="roundRect">
              <a:avLst>
                <a:gd name="adj" fmla="val 50000"/>
              </a:avLst>
            </a:prstGeom>
            <a:gradFill>
              <a:gsLst>
                <a:gs pos="0">
                  <a:srgbClr val="FB684A"/>
                </a:gs>
                <a:gs pos="100000">
                  <a:srgbClr val="FA421D"/>
                </a:gs>
              </a:gsLst>
              <a:lin ang="5400000" scaled="1"/>
            </a:gradFill>
            <a:ln>
              <a:noFill/>
            </a:ln>
          </p:spPr>
        </p:sp>
        <p:sp>
          <p:nvSpPr>
            <p:cNvPr id="83" name="TextBox 83"/>
            <p:cNvSpPr txBox="1"/>
            <p:nvPr/>
          </p:nvSpPr>
          <p:spPr>
            <a:xfrm>
              <a:off x="11163618" y="4197191"/>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FFFFFF"/>
                  </a:solidFill>
                  <a:latin typeface="+mn-lt"/>
                  <a:ea typeface="+mn-ea"/>
                  <a:cs typeface="+mn-cs"/>
                </a:rPr>
                <a:t>采</a:t>
              </a:r>
              <a:br/>
              <a:r>
                <a:rPr lang="zh-CN" sz="820" dirty="0">
                  <a:solidFill>
                    <a:srgbClr val="FFFFFF"/>
                  </a:solidFill>
                  <a:latin typeface="+mn-lt"/>
                  <a:ea typeface="+mn-ea"/>
                  <a:cs typeface="+mn-cs"/>
                </a:rPr>
                <a:t>购</a:t>
              </a:r>
              <a:br/>
              <a:r>
                <a:rPr lang="zh-CN" sz="820" dirty="0">
                  <a:solidFill>
                    <a:srgbClr val="FFFFFF"/>
                  </a:solidFill>
                  <a:latin typeface="+mn-lt"/>
                  <a:ea typeface="+mn-ea"/>
                  <a:cs typeface="+mn-cs"/>
                </a:rPr>
                <a:t>部</a:t>
              </a:r>
            </a:p>
          </p:txBody>
        </p:sp>
        <p:sp>
          <p:nvSpPr>
            <p:cNvPr id="84" name="Rectangle 84"/>
            <p:cNvSpPr/>
            <p:nvPr/>
          </p:nvSpPr>
          <p:spPr>
            <a:xfrm>
              <a:off x="9686925" y="5143500"/>
              <a:ext cx="285750" cy="1047750"/>
            </a:xfrm>
            <a:prstGeom prst="roundRect">
              <a:avLst>
                <a:gd name="adj" fmla="val 50000"/>
              </a:avLst>
            </a:prstGeom>
            <a:solidFill>
              <a:srgbClr val="FFFFFF"/>
            </a:solidFill>
            <a:ln w="14288">
              <a:solidFill>
                <a:srgbClr val="FCC6BB"/>
              </a:solidFill>
            </a:ln>
          </p:spPr>
        </p:sp>
        <p:sp>
          <p:nvSpPr>
            <p:cNvPr id="85" name="TextBox 85"/>
            <p:cNvSpPr txBox="1"/>
            <p:nvPr/>
          </p:nvSpPr>
          <p:spPr>
            <a:xfrm>
              <a:off x="9772968" y="5549741"/>
              <a:ext cx="113665"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出</a:t>
              </a:r>
              <a:br/>
              <a:r>
                <a:rPr lang="zh-CN" sz="820" dirty="0">
                  <a:solidFill>
                    <a:srgbClr val="3D241F"/>
                  </a:solidFill>
                  <a:latin typeface="+mn-lt"/>
                  <a:ea typeface="+mn-ea"/>
                  <a:cs typeface="+mn-cs"/>
                </a:rPr>
                <a:t>纳</a:t>
              </a:r>
            </a:p>
          </p:txBody>
        </p:sp>
        <p:sp>
          <p:nvSpPr>
            <p:cNvPr id="86" name="Rectangle 86"/>
            <p:cNvSpPr/>
            <p:nvPr/>
          </p:nvSpPr>
          <p:spPr>
            <a:xfrm>
              <a:off x="10029825" y="5143500"/>
              <a:ext cx="285750" cy="1047750"/>
            </a:xfrm>
            <a:prstGeom prst="roundRect">
              <a:avLst>
                <a:gd name="adj" fmla="val 50000"/>
              </a:avLst>
            </a:prstGeom>
            <a:solidFill>
              <a:srgbClr val="FFFFFF"/>
            </a:solidFill>
            <a:ln w="14288">
              <a:solidFill>
                <a:srgbClr val="FCC6BB"/>
              </a:solidFill>
            </a:ln>
          </p:spPr>
        </p:sp>
        <p:sp>
          <p:nvSpPr>
            <p:cNvPr id="87" name="TextBox 87"/>
            <p:cNvSpPr txBox="1"/>
            <p:nvPr/>
          </p:nvSpPr>
          <p:spPr>
            <a:xfrm>
              <a:off x="10115868" y="5549741"/>
              <a:ext cx="113665" cy="29527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统</a:t>
              </a:r>
              <a:br/>
              <a:r>
                <a:rPr lang="zh-CN" sz="820" dirty="0">
                  <a:solidFill>
                    <a:srgbClr val="3D241F"/>
                  </a:solidFill>
                  <a:latin typeface="+mn-lt"/>
                  <a:ea typeface="+mn-ea"/>
                  <a:cs typeface="+mn-cs"/>
                </a:rPr>
                <a:t>计</a:t>
              </a:r>
            </a:p>
          </p:txBody>
        </p:sp>
        <p:sp>
          <p:nvSpPr>
            <p:cNvPr id="88" name="Rectangle 88"/>
            <p:cNvSpPr/>
            <p:nvPr/>
          </p:nvSpPr>
          <p:spPr>
            <a:xfrm>
              <a:off x="10448925" y="5143500"/>
              <a:ext cx="285750" cy="1047750"/>
            </a:xfrm>
            <a:prstGeom prst="roundRect">
              <a:avLst>
                <a:gd name="adj" fmla="val 50000"/>
              </a:avLst>
            </a:prstGeom>
            <a:solidFill>
              <a:srgbClr val="FFFFFF"/>
            </a:solidFill>
            <a:ln w="14288">
              <a:solidFill>
                <a:srgbClr val="FCC6BB"/>
              </a:solidFill>
            </a:ln>
          </p:spPr>
        </p:sp>
        <p:sp>
          <p:nvSpPr>
            <p:cNvPr id="89" name="TextBox 89"/>
            <p:cNvSpPr txBox="1"/>
            <p:nvPr/>
          </p:nvSpPr>
          <p:spPr>
            <a:xfrm>
              <a:off x="10534968"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收</a:t>
              </a:r>
              <a:br/>
              <a:r>
                <a:rPr lang="zh-CN" sz="820" dirty="0">
                  <a:solidFill>
                    <a:srgbClr val="3D241F"/>
                  </a:solidFill>
                  <a:latin typeface="+mn-lt"/>
                  <a:ea typeface="+mn-ea"/>
                  <a:cs typeface="+mn-cs"/>
                </a:rPr>
                <a:t>银</a:t>
              </a:r>
              <a:br/>
              <a:r>
                <a:rPr lang="zh-CN" sz="820" dirty="0">
                  <a:solidFill>
                    <a:srgbClr val="3D241F"/>
                  </a:solidFill>
                  <a:latin typeface="+mn-lt"/>
                  <a:ea typeface="+mn-ea"/>
                  <a:cs typeface="+mn-cs"/>
                </a:rPr>
                <a:t>员</a:t>
              </a:r>
            </a:p>
          </p:txBody>
        </p:sp>
        <p:sp>
          <p:nvSpPr>
            <p:cNvPr id="90" name="Rectangle 90"/>
            <p:cNvSpPr/>
            <p:nvPr/>
          </p:nvSpPr>
          <p:spPr>
            <a:xfrm>
              <a:off x="10887075" y="5143500"/>
              <a:ext cx="285750" cy="1047750"/>
            </a:xfrm>
            <a:prstGeom prst="roundRect">
              <a:avLst>
                <a:gd name="adj" fmla="val 50000"/>
              </a:avLst>
            </a:prstGeom>
            <a:solidFill>
              <a:srgbClr val="FFFFFF"/>
            </a:solidFill>
            <a:ln w="14288">
              <a:solidFill>
                <a:srgbClr val="FCC6BB"/>
              </a:solidFill>
            </a:ln>
          </p:spPr>
        </p:sp>
        <p:sp>
          <p:nvSpPr>
            <p:cNvPr id="91" name="TextBox 91"/>
            <p:cNvSpPr txBox="1"/>
            <p:nvPr/>
          </p:nvSpPr>
          <p:spPr>
            <a:xfrm>
              <a:off x="10973118"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采</a:t>
              </a:r>
              <a:br/>
              <a:r>
                <a:rPr lang="zh-CN" sz="820" dirty="0">
                  <a:solidFill>
                    <a:srgbClr val="3D241F"/>
                  </a:solidFill>
                  <a:latin typeface="+mn-lt"/>
                  <a:ea typeface="+mn-ea"/>
                  <a:cs typeface="+mn-cs"/>
                </a:rPr>
                <a:t>购</a:t>
              </a:r>
              <a:br/>
              <a:r>
                <a:rPr lang="zh-CN" sz="820" dirty="0">
                  <a:solidFill>
                    <a:srgbClr val="3D241F"/>
                  </a:solidFill>
                  <a:latin typeface="+mn-lt"/>
                  <a:ea typeface="+mn-ea"/>
                  <a:cs typeface="+mn-cs"/>
                </a:rPr>
                <a:t>员</a:t>
              </a:r>
            </a:p>
          </p:txBody>
        </p:sp>
        <p:sp>
          <p:nvSpPr>
            <p:cNvPr id="92" name="Rectangle 92"/>
            <p:cNvSpPr/>
            <p:nvPr/>
          </p:nvSpPr>
          <p:spPr>
            <a:xfrm>
              <a:off x="11268075" y="5143500"/>
              <a:ext cx="285750" cy="1047750"/>
            </a:xfrm>
            <a:prstGeom prst="roundRect">
              <a:avLst>
                <a:gd name="adj" fmla="val 50000"/>
              </a:avLst>
            </a:prstGeom>
            <a:solidFill>
              <a:srgbClr val="FFFFFF"/>
            </a:solidFill>
            <a:ln w="14288">
              <a:solidFill>
                <a:srgbClr val="FCC6BB"/>
              </a:solidFill>
            </a:ln>
          </p:spPr>
        </p:sp>
        <p:sp>
          <p:nvSpPr>
            <p:cNvPr id="93" name="TextBox 93"/>
            <p:cNvSpPr txBox="1"/>
            <p:nvPr/>
          </p:nvSpPr>
          <p:spPr>
            <a:xfrm>
              <a:off x="11354118" y="5483066"/>
              <a:ext cx="113665" cy="428625"/>
            </a:xfrm>
            <a:prstGeom prst="rect">
              <a:avLst/>
            </a:prstGeom>
            <a:noFill/>
            <a:ln>
              <a:noFill/>
            </a:ln>
          </p:spPr>
          <p:txBody>
            <a:bodyPr wrap="none" lIns="0" tIns="0" rIns="0" bIns="0" anchor="t" anchorCtr="0">
              <a:spAutoFit/>
            </a:bodyPr>
            <a:lstStyle/>
            <a:p>
              <a:pPr algn="ctr">
                <a:lnSpc>
                  <a:spcPts val="1050"/>
                </a:lnSpc>
              </a:pPr>
              <a:r>
                <a:rPr lang="zh-CN" sz="820" dirty="0">
                  <a:solidFill>
                    <a:srgbClr val="3D241F"/>
                  </a:solidFill>
                  <a:latin typeface="+mn-lt"/>
                  <a:ea typeface="+mn-ea"/>
                  <a:cs typeface="+mn-cs"/>
                </a:rPr>
                <a:t>仓</a:t>
              </a:r>
              <a:br/>
              <a:r>
                <a:rPr lang="zh-CN" sz="820" dirty="0">
                  <a:solidFill>
                    <a:srgbClr val="3D241F"/>
                  </a:solidFill>
                  <a:latin typeface="+mn-lt"/>
                  <a:ea typeface="+mn-ea"/>
                  <a:cs typeface="+mn-cs"/>
                </a:rPr>
                <a:t>管</a:t>
              </a:r>
              <a:br/>
              <a:r>
                <a:rPr lang="zh-CN" sz="820" dirty="0">
                  <a:solidFill>
                    <a:srgbClr val="3D241F"/>
                  </a:solidFill>
                  <a:latin typeface="+mn-lt"/>
                  <a:ea typeface="+mn-ea"/>
                  <a:cs typeface="+mn-cs"/>
                </a:rPr>
                <a:t>员</a:t>
              </a:r>
            </a:p>
          </p:txBody>
        </p:sp>
      </p:gr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root-shadow"/>
          <p:cNvSpPr/>
          <p:nvPr/>
        </p:nvSpPr>
        <p:spPr>
          <a:xfrm>
            <a:off x="695325" y="4724400"/>
            <a:ext cx="1828800" cy="190500"/>
          </a:xfrm>
          <a:prstGeom prst="ellipse">
            <a:avLst/>
          </a:prstGeom>
          <a:solidFill>
            <a:srgbClr val="FBD2C9">
              <a:alpha val="70000"/>
            </a:srgbClr>
          </a:solidFill>
          <a:ln>
            <a:noFill/>
          </a:ln>
        </p:spPr>
      </p:sp>
      <p:sp>
        <p:nvSpPr>
          <p:cNvPr id="3" name="deco-port-root"/>
          <p:cNvSpPr/>
          <p:nvPr/>
        </p:nvSpPr>
        <p:spPr>
          <a:xfrm>
            <a:off x="2533650" y="3543300"/>
            <a:ext cx="76200" cy="76200"/>
          </a:xfrm>
          <a:prstGeom prst="ellipse">
            <a:avLst/>
          </a:prstGeom>
          <a:solidFill>
            <a:srgbClr val="FFFFFF"/>
          </a:solidFill>
          <a:ln w="14288">
            <a:solidFill>
              <a:srgbClr val="FA421D"/>
            </a:solidFill>
          </a:ln>
        </p:spPr>
      </p:sp>
      <p:sp>
        <p:nvSpPr>
          <p:cNvPr id="4" name="deco-links-root"/>
          <p:cNvSpPr/>
          <p:nvPr/>
        </p:nvSpPr>
        <p:spPr>
          <a:xfrm>
            <a:off x="2609850" y="2266950"/>
            <a:ext cx="723900" cy="2609850"/>
          </a:xfrm>
          <a:custGeom>
            <a:avLst/>
            <a:gdLst/>
            <a:ahLst/>
            <a:cxnLst/>
            <a:rect l="l" t="t" r="r" b="b"/>
            <a:pathLst>
              <a:path w="723900" h="2609850">
                <a:moveTo>
                  <a:pt x="0" y="1314450"/>
                </a:moveTo>
                <a:lnTo>
                  <a:pt x="247650" y="1314450"/>
                </a:lnTo>
                <a:moveTo>
                  <a:pt x="247650" y="0"/>
                </a:moveTo>
                <a:lnTo>
                  <a:pt x="247650" y="2609850"/>
                </a:lnTo>
                <a:moveTo>
                  <a:pt x="247650" y="0"/>
                </a:moveTo>
                <a:lnTo>
                  <a:pt x="723900" y="0"/>
                </a:lnTo>
                <a:moveTo>
                  <a:pt x="247650" y="2609850"/>
                </a:moveTo>
                <a:lnTo>
                  <a:pt x="723900" y="2609850"/>
                </a:lnTo>
              </a:path>
            </a:pathLst>
          </a:custGeom>
          <a:noFill/>
          <a:ln w="14288">
            <a:solidFill>
              <a:srgbClr val="FA421D"/>
            </a:solidFill>
            <a:custDash>
              <a:ds d="200000" sp="200000"/>
            </a:custDash>
          </a:ln>
        </p:spPr>
      </p:sp>
      <p:sp>
        <p:nvSpPr>
          <p:cNvPr id="5" name="deco-port-savings"/>
          <p:cNvSpPr/>
          <p:nvPr/>
        </p:nvSpPr>
        <p:spPr>
          <a:xfrm>
            <a:off x="5410200" y="2228850"/>
            <a:ext cx="76200" cy="76200"/>
          </a:xfrm>
          <a:prstGeom prst="ellipse">
            <a:avLst/>
          </a:prstGeom>
          <a:solidFill>
            <a:srgbClr val="FFFFFF"/>
          </a:solidFill>
          <a:ln w="14288">
            <a:solidFill>
              <a:srgbClr val="FA421D"/>
            </a:solidFill>
          </a:ln>
        </p:spPr>
      </p:sp>
      <p:sp>
        <p:nvSpPr>
          <p:cNvPr id="6" name="deco-links-savings"/>
          <p:cNvSpPr/>
          <p:nvPr/>
        </p:nvSpPr>
        <p:spPr>
          <a:xfrm>
            <a:off x="5486400" y="1600200"/>
            <a:ext cx="1238250" cy="1466850"/>
          </a:xfrm>
          <a:custGeom>
            <a:avLst/>
            <a:gdLst/>
            <a:ahLst/>
            <a:cxnLst/>
            <a:rect l="l" t="t" r="r" b="b"/>
            <a:pathLst>
              <a:path w="1238250" h="1466850">
                <a:moveTo>
                  <a:pt x="0" y="666750"/>
                </a:moveTo>
                <a:lnTo>
                  <a:pt x="609600" y="666750"/>
                </a:lnTo>
                <a:moveTo>
                  <a:pt x="609600" y="0"/>
                </a:moveTo>
                <a:lnTo>
                  <a:pt x="609600" y="1466850"/>
                </a:lnTo>
                <a:moveTo>
                  <a:pt x="609600" y="0"/>
                </a:moveTo>
                <a:lnTo>
                  <a:pt x="1238250" y="0"/>
                </a:lnTo>
                <a:moveTo>
                  <a:pt x="609600" y="1466850"/>
                </a:moveTo>
                <a:lnTo>
                  <a:pt x="1238250" y="1466850"/>
                </a:lnTo>
              </a:path>
            </a:pathLst>
          </a:custGeom>
          <a:noFill/>
          <a:ln w="14288">
            <a:solidFill>
              <a:srgbClr val="FA421D"/>
            </a:solidFill>
            <a:custDash>
              <a:ds d="200000" sp="200000"/>
            </a:custDash>
          </a:ln>
        </p:spPr>
      </p:sp>
      <p:sp>
        <p:nvSpPr>
          <p:cNvPr id="7" name="deco-port-wealth"/>
          <p:cNvSpPr/>
          <p:nvPr/>
        </p:nvSpPr>
        <p:spPr>
          <a:xfrm>
            <a:off x="5410200" y="4838700"/>
            <a:ext cx="76200" cy="76200"/>
          </a:xfrm>
          <a:prstGeom prst="ellipse">
            <a:avLst/>
          </a:prstGeom>
          <a:solidFill>
            <a:srgbClr val="FFFFFF"/>
          </a:solidFill>
          <a:ln w="14288">
            <a:solidFill>
              <a:srgbClr val="FA421D"/>
            </a:solidFill>
          </a:ln>
        </p:spPr>
      </p:sp>
      <p:sp>
        <p:nvSpPr>
          <p:cNvPr id="8" name="deco-links-wealth"/>
          <p:cNvSpPr/>
          <p:nvPr/>
        </p:nvSpPr>
        <p:spPr>
          <a:xfrm>
            <a:off x="5486400" y="4248150"/>
            <a:ext cx="1238250" cy="1466850"/>
          </a:xfrm>
          <a:custGeom>
            <a:avLst/>
            <a:gdLst/>
            <a:ahLst/>
            <a:cxnLst/>
            <a:rect l="l" t="t" r="r" b="b"/>
            <a:pathLst>
              <a:path w="1238250" h="1466850">
                <a:moveTo>
                  <a:pt x="0" y="628650"/>
                </a:moveTo>
                <a:lnTo>
                  <a:pt x="609600" y="628650"/>
                </a:lnTo>
                <a:moveTo>
                  <a:pt x="609600" y="0"/>
                </a:moveTo>
                <a:lnTo>
                  <a:pt x="609600" y="1466850"/>
                </a:lnTo>
                <a:moveTo>
                  <a:pt x="609600" y="0"/>
                </a:moveTo>
                <a:lnTo>
                  <a:pt x="1238250" y="0"/>
                </a:lnTo>
                <a:moveTo>
                  <a:pt x="609600" y="1466850"/>
                </a:moveTo>
                <a:lnTo>
                  <a:pt x="1238250" y="1466850"/>
                </a:lnTo>
              </a:path>
            </a:pathLst>
          </a:custGeom>
          <a:noFill/>
          <a:ln w="14288">
            <a:solidFill>
              <a:srgbClr val="FA421D"/>
            </a:solidFill>
            <a:custDash>
              <a:ds d="200000" sp="200000"/>
            </a:custDash>
          </a:ln>
        </p:spPr>
      </p:sp>
      <p:sp>
        <p:nvSpPr>
          <p:cNvPr id="9" name="deco-end-1"/>
          <p:cNvSpPr/>
          <p:nvPr/>
        </p:nvSpPr>
        <p:spPr>
          <a:xfrm>
            <a:off x="6638925" y="1571625"/>
            <a:ext cx="57150" cy="57150"/>
          </a:xfrm>
          <a:prstGeom prst="ellipse">
            <a:avLst/>
          </a:prstGeom>
          <a:solidFill>
            <a:srgbClr val="FFFFFF"/>
          </a:solidFill>
          <a:ln w="14288">
            <a:solidFill>
              <a:srgbClr val="FA421D"/>
            </a:solidFill>
          </a:ln>
        </p:spPr>
      </p:sp>
      <p:sp>
        <p:nvSpPr>
          <p:cNvPr id="10" name="deco-end-2"/>
          <p:cNvSpPr/>
          <p:nvPr/>
        </p:nvSpPr>
        <p:spPr>
          <a:xfrm>
            <a:off x="6638925" y="3038475"/>
            <a:ext cx="57150" cy="57150"/>
          </a:xfrm>
          <a:prstGeom prst="ellipse">
            <a:avLst/>
          </a:prstGeom>
          <a:solidFill>
            <a:srgbClr val="FFFFFF"/>
          </a:solidFill>
          <a:ln w="14288">
            <a:solidFill>
              <a:srgbClr val="FA421D"/>
            </a:solidFill>
          </a:ln>
        </p:spPr>
      </p:sp>
      <p:sp>
        <p:nvSpPr>
          <p:cNvPr id="11" name="deco-end-3"/>
          <p:cNvSpPr/>
          <p:nvPr/>
        </p:nvSpPr>
        <p:spPr>
          <a:xfrm>
            <a:off x="6638925" y="4219575"/>
            <a:ext cx="57150" cy="57150"/>
          </a:xfrm>
          <a:prstGeom prst="ellipse">
            <a:avLst/>
          </a:prstGeom>
          <a:solidFill>
            <a:srgbClr val="FFFFFF"/>
          </a:solidFill>
          <a:ln w="14288">
            <a:solidFill>
              <a:srgbClr val="FA421D"/>
            </a:solidFill>
          </a:ln>
        </p:spPr>
      </p:sp>
      <p:sp>
        <p:nvSpPr>
          <p:cNvPr id="12" name="deco-end-4"/>
          <p:cNvSpPr/>
          <p:nvPr/>
        </p:nvSpPr>
        <p:spPr>
          <a:xfrm>
            <a:off x="6638925" y="5686425"/>
            <a:ext cx="57150" cy="57150"/>
          </a:xfrm>
          <a:prstGeom prst="ellipse">
            <a:avLst/>
          </a:prstGeom>
          <a:solidFill>
            <a:srgbClr val="FFFFFF"/>
          </a:solidFill>
          <a:ln w="14288">
            <a:solidFill>
              <a:srgbClr val="FA421D"/>
            </a:solidFill>
          </a:ln>
        </p:spPr>
      </p:sp>
      <p:grpSp>
        <p:nvGrpSpPr>
          <p:cNvPr id="17" name="header"/>
          <p:cNvGrpSpPr/>
          <p:nvPr/>
        </p:nvGrpSpPr>
        <p:grpSpPr>
          <a:xfrm>
            <a:off x="0" y="0"/>
            <a:ext cx="12192000" cy="551879"/>
            <a:chOff x="0" y="0"/>
            <a:chExt cx="12192000" cy="551879"/>
          </a:xfrm>
        </p:grpSpPr>
        <p:sp>
          <p:nvSpPr>
            <p:cNvPr id="13" name="Polygon 1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14" name="TextBox 14"/>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24</a:t>
              </a:r>
            </a:p>
          </p:txBody>
        </p:sp>
        <p:sp>
          <p:nvSpPr>
            <p:cNvPr id="15" name="TextBox 15"/>
            <p:cNvSpPr txBox="1"/>
            <p:nvPr/>
          </p:nvSpPr>
          <p:spPr>
            <a:xfrm>
              <a:off x="904494" y="170498"/>
              <a:ext cx="2119884"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银行产品分类解读</a:t>
              </a:r>
            </a:p>
          </p:txBody>
        </p:sp>
        <p:sp>
          <p:nvSpPr>
            <p:cNvPr id="16" name="Line 16"/>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8" name="root-bank"/>
          <p:cNvGrpSpPr/>
          <p:nvPr/>
        </p:nvGrpSpPr>
        <p:grpSpPr>
          <a:xfrm>
            <a:off x="762000" y="2533650"/>
            <a:ext cx="1695450" cy="2095500"/>
            <a:chOff x="762000" y="2533650"/>
            <a:chExt cx="1695450" cy="2095500"/>
          </a:xfrm>
        </p:grpSpPr>
        <p:sp>
          <p:nvSpPr>
            <p:cNvPr id="18" name="Rectangle 18"/>
            <p:cNvSpPr/>
            <p:nvPr/>
          </p:nvSpPr>
          <p:spPr>
            <a:xfrm>
              <a:off x="762000" y="2533650"/>
              <a:ext cx="1695450" cy="2095500"/>
            </a:xfrm>
            <a:prstGeom prst="roundRect">
              <a:avLst>
                <a:gd name="adj" fmla="val 7865"/>
              </a:avLst>
            </a:prstGeom>
            <a:gradFill>
              <a:gsLst>
                <a:gs pos="0">
                  <a:srgbClr val="FB684A"/>
                </a:gs>
                <a:gs pos="100000">
                  <a:srgbClr val="FA421D"/>
                </a:gs>
              </a:gsLst>
              <a:lin ang="5400000" scaled="1"/>
            </a:gradFill>
            <a:ln>
              <a:noFill/>
            </a:ln>
          </p:spPr>
        </p:sp>
        <p:grpSp>
          <p:nvGrpSpPr>
            <p:cNvPr id="26" name="Group 26"/>
            <p:cNvGrpSpPr/>
            <p:nvPr/>
          </p:nvGrpSpPr>
          <p:grpSpPr>
            <a:xfrm>
              <a:off x="1395412" y="2890838"/>
              <a:ext cx="428625" cy="438149"/>
              <a:chOff x="1395412" y="2890838"/>
              <a:chExt cx="428625" cy="438149"/>
            </a:xfrm>
          </p:grpSpPr>
          <p:sp>
            <p:nvSpPr>
              <p:cNvPr id="19" name="Freeform 19"/>
              <p:cNvSpPr/>
              <p:nvPr/>
            </p:nvSpPr>
            <p:spPr>
              <a:xfrm>
                <a:off x="1395412" y="3319462"/>
                <a:ext cx="428625" cy="9525"/>
              </a:xfrm>
              <a:custGeom>
                <a:avLst/>
                <a:gdLst/>
                <a:ahLst/>
                <a:cxnLst/>
                <a:rect l="l" t="t" r="r" b="b"/>
                <a:pathLst>
                  <a:path w="428625" h="9525">
                    <a:moveTo>
                      <a:pt x="0" y="0"/>
                    </a:moveTo>
                    <a:lnTo>
                      <a:pt x="428625" y="0"/>
                    </a:lnTo>
                  </a:path>
                </a:pathLst>
              </a:custGeom>
              <a:noFill/>
              <a:ln w="35719">
                <a:solidFill>
                  <a:srgbClr val="FFFFFF"/>
                </a:solidFill>
              </a:ln>
            </p:spPr>
          </p:sp>
          <p:sp>
            <p:nvSpPr>
              <p:cNvPr id="20" name="Freeform 20"/>
              <p:cNvSpPr/>
              <p:nvPr/>
            </p:nvSpPr>
            <p:spPr>
              <a:xfrm>
                <a:off x="1443038" y="2890838"/>
                <a:ext cx="190500" cy="428625"/>
              </a:xfrm>
              <a:custGeom>
                <a:avLst/>
                <a:gdLst/>
                <a:ahLst/>
                <a:cxnLst/>
                <a:rect l="l" t="t" r="r" b="b"/>
                <a:pathLst>
                  <a:path w="190500" h="428625">
                    <a:moveTo>
                      <a:pt x="0" y="428625"/>
                    </a:moveTo>
                    <a:lnTo>
                      <a:pt x="0" y="95250"/>
                    </a:lnTo>
                    <a:lnTo>
                      <a:pt x="190500" y="0"/>
                    </a:lnTo>
                    <a:lnTo>
                      <a:pt x="190500" y="428625"/>
                    </a:lnTo>
                  </a:path>
                </a:pathLst>
              </a:custGeom>
              <a:noFill/>
              <a:ln w="35719">
                <a:solidFill>
                  <a:srgbClr val="FFFFFF"/>
                </a:solidFill>
              </a:ln>
            </p:spPr>
          </p:sp>
          <p:sp>
            <p:nvSpPr>
              <p:cNvPr id="21" name="Freeform 21"/>
              <p:cNvSpPr/>
              <p:nvPr/>
            </p:nvSpPr>
            <p:spPr>
              <a:xfrm>
                <a:off x="1633538" y="2986088"/>
                <a:ext cx="142875" cy="333375"/>
              </a:xfrm>
              <a:custGeom>
                <a:avLst/>
                <a:gdLst/>
                <a:ahLst/>
                <a:cxnLst/>
                <a:rect l="l" t="t" r="r" b="b"/>
                <a:pathLst>
                  <a:path w="142875" h="333375">
                    <a:moveTo>
                      <a:pt x="142875" y="333375"/>
                    </a:moveTo>
                    <a:lnTo>
                      <a:pt x="142875" y="95250"/>
                    </a:lnTo>
                    <a:lnTo>
                      <a:pt x="0" y="0"/>
                    </a:lnTo>
                  </a:path>
                </a:pathLst>
              </a:custGeom>
              <a:noFill/>
              <a:ln w="35719">
                <a:solidFill>
                  <a:srgbClr val="FFFFFF"/>
                </a:solidFill>
              </a:ln>
            </p:spPr>
          </p:sp>
          <p:sp>
            <p:nvSpPr>
              <p:cNvPr id="22" name="Freeform 22"/>
              <p:cNvSpPr/>
              <p:nvPr/>
            </p:nvSpPr>
            <p:spPr>
              <a:xfrm>
                <a:off x="1538288" y="3033712"/>
                <a:ext cx="9525" cy="9525"/>
              </a:xfrm>
              <a:custGeom>
                <a:avLst/>
                <a:gdLst/>
                <a:ahLst/>
                <a:cxnLst/>
                <a:rect l="l" t="t" r="r" b="b"/>
                <a:pathLst>
                  <a:path w="9525" h="9525">
                    <a:moveTo>
                      <a:pt x="0" y="0"/>
                    </a:moveTo>
                    <a:lnTo>
                      <a:pt x="0" y="238"/>
                    </a:lnTo>
                  </a:path>
                </a:pathLst>
              </a:custGeom>
              <a:noFill/>
              <a:ln w="35719">
                <a:solidFill>
                  <a:srgbClr val="FFFFFF"/>
                </a:solidFill>
              </a:ln>
            </p:spPr>
          </p:sp>
          <p:sp>
            <p:nvSpPr>
              <p:cNvPr id="23" name="Freeform 23"/>
              <p:cNvSpPr/>
              <p:nvPr/>
            </p:nvSpPr>
            <p:spPr>
              <a:xfrm>
                <a:off x="1538288" y="3105150"/>
                <a:ext cx="9525" cy="9525"/>
              </a:xfrm>
              <a:custGeom>
                <a:avLst/>
                <a:gdLst/>
                <a:ahLst/>
                <a:cxnLst/>
                <a:rect l="l" t="t" r="r" b="b"/>
                <a:pathLst>
                  <a:path w="9525" h="9525">
                    <a:moveTo>
                      <a:pt x="0" y="0"/>
                    </a:moveTo>
                    <a:lnTo>
                      <a:pt x="0" y="238"/>
                    </a:lnTo>
                  </a:path>
                </a:pathLst>
              </a:custGeom>
              <a:noFill/>
              <a:ln w="35719">
                <a:solidFill>
                  <a:srgbClr val="FFFFFF"/>
                </a:solidFill>
              </a:ln>
            </p:spPr>
          </p:sp>
          <p:sp>
            <p:nvSpPr>
              <p:cNvPr id="24" name="Freeform 24"/>
              <p:cNvSpPr/>
              <p:nvPr/>
            </p:nvSpPr>
            <p:spPr>
              <a:xfrm>
                <a:off x="1538288" y="3176588"/>
                <a:ext cx="9525" cy="9525"/>
              </a:xfrm>
              <a:custGeom>
                <a:avLst/>
                <a:gdLst/>
                <a:ahLst/>
                <a:cxnLst/>
                <a:rect l="l" t="t" r="r" b="b"/>
                <a:pathLst>
                  <a:path w="9525" h="9525">
                    <a:moveTo>
                      <a:pt x="0" y="0"/>
                    </a:moveTo>
                    <a:lnTo>
                      <a:pt x="0" y="238"/>
                    </a:lnTo>
                  </a:path>
                </a:pathLst>
              </a:custGeom>
              <a:noFill/>
              <a:ln w="35719">
                <a:solidFill>
                  <a:srgbClr val="FFFFFF"/>
                </a:solidFill>
              </a:ln>
            </p:spPr>
          </p:sp>
          <p:sp>
            <p:nvSpPr>
              <p:cNvPr id="25" name="Freeform 25"/>
              <p:cNvSpPr/>
              <p:nvPr/>
            </p:nvSpPr>
            <p:spPr>
              <a:xfrm>
                <a:off x="1538288" y="3248025"/>
                <a:ext cx="9525" cy="9525"/>
              </a:xfrm>
              <a:custGeom>
                <a:avLst/>
                <a:gdLst/>
                <a:ahLst/>
                <a:cxnLst/>
                <a:rect l="l" t="t" r="r" b="b"/>
                <a:pathLst>
                  <a:path w="9525" h="9525">
                    <a:moveTo>
                      <a:pt x="0" y="0"/>
                    </a:moveTo>
                    <a:lnTo>
                      <a:pt x="0" y="238"/>
                    </a:lnTo>
                  </a:path>
                </a:pathLst>
              </a:custGeom>
              <a:noFill/>
              <a:ln w="35719">
                <a:solidFill>
                  <a:srgbClr val="FFFFFF"/>
                </a:solidFill>
              </a:ln>
            </p:spPr>
          </p:sp>
        </p:grpSp>
        <p:sp>
          <p:nvSpPr>
            <p:cNvPr id="27" name="TextBox 27"/>
            <p:cNvSpPr txBox="1"/>
            <p:nvPr/>
          </p:nvSpPr>
          <p:spPr>
            <a:xfrm>
              <a:off x="1253490" y="3915728"/>
              <a:ext cx="712470" cy="498729"/>
            </a:xfrm>
            <a:prstGeom prst="rect">
              <a:avLst/>
            </a:prstGeom>
            <a:noFill/>
            <a:ln>
              <a:noFill/>
            </a:ln>
          </p:spPr>
          <p:txBody>
            <a:bodyPr wrap="none" lIns="0" tIns="0" rIns="0" bIns="0" anchor="t" anchorCtr="0">
              <a:spAutoFit/>
            </a:bodyPr>
            <a:lstStyle/>
            <a:p>
              <a:pPr algn="ctr"/>
              <a:r>
                <a:rPr lang="zh-CN" sz="2550" b="1" dirty="0">
                  <a:solidFill>
                    <a:srgbClr val="FFFFFF"/>
                  </a:solidFill>
                  <a:latin typeface="+mn-lt"/>
                  <a:ea typeface="+mn-ea"/>
                  <a:cs typeface="+mn-cs"/>
                </a:rPr>
                <a:t>银行</a:t>
              </a:r>
            </a:p>
          </p:txBody>
        </p:sp>
      </p:grpSp>
      <p:grpSp>
        <p:nvGrpSpPr>
          <p:cNvPr id="40" name="category-savings"/>
          <p:cNvGrpSpPr/>
          <p:nvPr/>
        </p:nvGrpSpPr>
        <p:grpSpPr>
          <a:xfrm>
            <a:off x="3276600" y="1924050"/>
            <a:ext cx="2171700" cy="1076039"/>
            <a:chOff x="3276600" y="1924050"/>
            <a:chExt cx="2171700" cy="1076039"/>
          </a:xfrm>
        </p:grpSpPr>
        <p:sp>
          <p:nvSpPr>
            <p:cNvPr id="29" name="Rectangle 29"/>
            <p:cNvSpPr/>
            <p:nvPr/>
          </p:nvSpPr>
          <p:spPr>
            <a:xfrm>
              <a:off x="3276600" y="1924050"/>
              <a:ext cx="2171700" cy="685800"/>
            </a:xfrm>
            <a:prstGeom prst="roundRect">
              <a:avLst>
                <a:gd name="adj" fmla="val 19444"/>
              </a:avLst>
            </a:prstGeom>
            <a:solidFill>
              <a:srgbClr val="FBD2C9">
                <a:alpha val="60000"/>
              </a:srgbClr>
            </a:solidFill>
            <a:ln>
              <a:noFill/>
            </a:ln>
          </p:spPr>
        </p:sp>
        <p:sp>
          <p:nvSpPr>
            <p:cNvPr id="30" name="Rectangle 30"/>
            <p:cNvSpPr/>
            <p:nvPr/>
          </p:nvSpPr>
          <p:spPr>
            <a:xfrm>
              <a:off x="3333750" y="1981200"/>
              <a:ext cx="2057400" cy="571500"/>
            </a:xfrm>
            <a:prstGeom prst="roundRect">
              <a:avLst>
                <a:gd name="adj" fmla="val 16667"/>
              </a:avLst>
            </a:prstGeom>
            <a:gradFill>
              <a:gsLst>
                <a:gs pos="0">
                  <a:srgbClr val="FB684A"/>
                </a:gs>
                <a:gs pos="100000">
                  <a:srgbClr val="FA421D"/>
                </a:gs>
              </a:gsLst>
              <a:lin ang="5400000" scaled="1"/>
            </a:gradFill>
            <a:ln>
              <a:noFill/>
            </a:ln>
          </p:spPr>
        </p:sp>
        <p:grpSp>
          <p:nvGrpSpPr>
            <p:cNvPr id="37" name="Group 37"/>
            <p:cNvGrpSpPr/>
            <p:nvPr/>
          </p:nvGrpSpPr>
          <p:grpSpPr>
            <a:xfrm>
              <a:off x="3771900" y="2152650"/>
              <a:ext cx="238124" cy="228600"/>
              <a:chOff x="3771900" y="2152650"/>
              <a:chExt cx="238124" cy="228600"/>
            </a:xfrm>
          </p:grpSpPr>
          <p:sp>
            <p:nvSpPr>
              <p:cNvPr id="31" name="Freeform 31"/>
              <p:cNvSpPr/>
              <p:nvPr/>
            </p:nvSpPr>
            <p:spPr>
              <a:xfrm>
                <a:off x="3771900" y="215265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19050">
                <a:solidFill>
                  <a:srgbClr val="FFFFFF"/>
                </a:solidFill>
              </a:ln>
            </p:spPr>
          </p:sp>
          <p:sp>
            <p:nvSpPr>
              <p:cNvPr id="32" name="Freeform 32"/>
              <p:cNvSpPr/>
              <p:nvPr/>
            </p:nvSpPr>
            <p:spPr>
              <a:xfrm>
                <a:off x="3822700" y="2152650"/>
                <a:ext cx="50800" cy="50800"/>
              </a:xfrm>
              <a:custGeom>
                <a:avLst/>
                <a:gdLst/>
                <a:ahLst/>
                <a:cxnLst/>
                <a:rect l="l" t="t" r="r" b="b"/>
                <a:pathLst>
                  <a:path w="50800" h="50800">
                    <a:moveTo>
                      <a:pt x="0" y="0"/>
                    </a:moveTo>
                    <a:lnTo>
                      <a:pt x="0" y="50800"/>
                    </a:lnTo>
                    <a:lnTo>
                      <a:pt x="50800" y="50800"/>
                    </a:lnTo>
                  </a:path>
                </a:pathLst>
              </a:custGeom>
              <a:noFill/>
              <a:ln w="19050">
                <a:solidFill>
                  <a:srgbClr val="FFFFFF"/>
                </a:solidFill>
              </a:ln>
            </p:spPr>
          </p:sp>
          <p:sp>
            <p:nvSpPr>
              <p:cNvPr id="33" name="Freeform 33"/>
              <p:cNvSpPr/>
              <p:nvPr/>
            </p:nvSpPr>
            <p:spPr>
              <a:xfrm>
                <a:off x="3848100" y="2330449"/>
                <a:ext cx="9525" cy="50800"/>
              </a:xfrm>
              <a:custGeom>
                <a:avLst/>
                <a:gdLst/>
                <a:ahLst/>
                <a:cxnLst/>
                <a:rect l="l" t="t" r="r" b="b"/>
                <a:pathLst>
                  <a:path w="9525" h="50800">
                    <a:moveTo>
                      <a:pt x="0" y="0"/>
                    </a:moveTo>
                    <a:lnTo>
                      <a:pt x="0" y="50800"/>
                    </a:lnTo>
                  </a:path>
                </a:pathLst>
              </a:custGeom>
              <a:noFill/>
              <a:ln w="19050">
                <a:solidFill>
                  <a:srgbClr val="FFFFFF"/>
                </a:solidFill>
              </a:ln>
            </p:spPr>
          </p:sp>
          <p:sp>
            <p:nvSpPr>
              <p:cNvPr id="34" name="Freeform 34"/>
              <p:cNvSpPr/>
              <p:nvPr/>
            </p:nvSpPr>
            <p:spPr>
              <a:xfrm>
                <a:off x="3949699" y="2292350"/>
                <a:ext cx="9525" cy="88900"/>
              </a:xfrm>
              <a:custGeom>
                <a:avLst/>
                <a:gdLst/>
                <a:ahLst/>
                <a:cxnLst/>
                <a:rect l="l" t="t" r="r" b="b"/>
                <a:pathLst>
                  <a:path w="9525" h="88900">
                    <a:moveTo>
                      <a:pt x="0" y="0"/>
                    </a:moveTo>
                    <a:lnTo>
                      <a:pt x="0" y="88900"/>
                    </a:lnTo>
                  </a:path>
                </a:pathLst>
              </a:custGeom>
              <a:noFill/>
              <a:ln w="19050">
                <a:solidFill>
                  <a:srgbClr val="FFFFFF"/>
                </a:solidFill>
              </a:ln>
            </p:spPr>
          </p:sp>
          <p:sp>
            <p:nvSpPr>
              <p:cNvPr id="35" name="Freeform 35"/>
              <p:cNvSpPr/>
              <p:nvPr/>
            </p:nvSpPr>
            <p:spPr>
              <a:xfrm>
                <a:off x="3898900" y="2279650"/>
                <a:ext cx="9525" cy="101600"/>
              </a:xfrm>
              <a:custGeom>
                <a:avLst/>
                <a:gdLst/>
                <a:ahLst/>
                <a:cxnLst/>
                <a:rect l="l" t="t" r="r" b="b"/>
                <a:pathLst>
                  <a:path w="9525" h="101600">
                    <a:moveTo>
                      <a:pt x="0" y="0"/>
                    </a:moveTo>
                    <a:lnTo>
                      <a:pt x="0" y="101600"/>
                    </a:lnTo>
                  </a:path>
                </a:pathLst>
              </a:custGeom>
              <a:noFill/>
              <a:ln w="19050">
                <a:solidFill>
                  <a:srgbClr val="FFFFFF"/>
                </a:solidFill>
              </a:ln>
            </p:spPr>
          </p:sp>
          <p:sp>
            <p:nvSpPr>
              <p:cNvPr id="36" name="Freeform 36"/>
              <p:cNvSpPr/>
              <p:nvPr/>
            </p:nvSpPr>
            <p:spPr>
              <a:xfrm>
                <a:off x="4000499" y="2266950"/>
                <a:ext cx="9525" cy="114300"/>
              </a:xfrm>
              <a:custGeom>
                <a:avLst/>
                <a:gdLst/>
                <a:ahLst/>
                <a:cxnLst/>
                <a:rect l="l" t="t" r="r" b="b"/>
                <a:pathLst>
                  <a:path w="9525" h="114300">
                    <a:moveTo>
                      <a:pt x="0" y="0"/>
                    </a:moveTo>
                    <a:lnTo>
                      <a:pt x="0" y="114300"/>
                    </a:lnTo>
                  </a:path>
                </a:pathLst>
              </a:custGeom>
              <a:noFill/>
              <a:ln w="19050">
                <a:solidFill>
                  <a:srgbClr val="FFFFFF"/>
                </a:solidFill>
              </a:ln>
            </p:spPr>
          </p:sp>
        </p:grpSp>
        <p:sp>
          <p:nvSpPr>
            <p:cNvPr id="38" name="TextBox 38"/>
            <p:cNvSpPr txBox="1"/>
            <p:nvPr/>
          </p:nvSpPr>
          <p:spPr>
            <a:xfrm>
              <a:off x="4398645" y="2174558"/>
              <a:ext cx="461010" cy="322707"/>
            </a:xfrm>
            <a:prstGeom prst="rect">
              <a:avLst/>
            </a:prstGeom>
            <a:noFill/>
            <a:ln>
              <a:noFill/>
            </a:ln>
          </p:spPr>
          <p:txBody>
            <a:bodyPr wrap="none" lIns="0" tIns="0" rIns="0" bIns="0" anchor="t" anchorCtr="0">
              <a:spAutoFit/>
            </a:bodyPr>
            <a:lstStyle/>
            <a:p>
              <a:pPr algn="ctr"/>
              <a:r>
                <a:rPr lang="zh-CN" sz="1650" dirty="0">
                  <a:solidFill>
                    <a:srgbClr val="FFFFFF"/>
                  </a:solidFill>
                  <a:latin typeface="+mn-lt"/>
                  <a:ea typeface="+mn-ea"/>
                  <a:cs typeface="+mn-cs"/>
                </a:rPr>
                <a:t>储蓄</a:t>
              </a:r>
            </a:p>
          </p:txBody>
        </p:sp>
        <p:sp>
          <p:nvSpPr>
            <p:cNvPr id="39" name="TextBox 39"/>
            <p:cNvSpPr txBox="1"/>
            <p:nvPr/>
          </p:nvSpPr>
          <p:spPr>
            <a:xfrm>
              <a:off x="3895750" y="2809399"/>
              <a:ext cx="933399" cy="190690"/>
            </a:xfrm>
            <a:prstGeom prst="rect">
              <a:avLst/>
            </a:prstGeom>
            <a:noFill/>
            <a:ln>
              <a:noFill/>
            </a:ln>
          </p:spPr>
          <p:txBody>
            <a:bodyPr wrap="none" lIns="0" tIns="0" rIns="0" bIns="0" anchor="t" anchorCtr="0">
              <a:spAutoFit/>
            </a:bodyPr>
            <a:lstStyle/>
            <a:p>
              <a:pPr algn="ctr"/>
              <a:r>
                <a:rPr lang="zh-CN" sz="980" dirty="0">
                  <a:solidFill>
                    <a:srgbClr val="3D241F"/>
                  </a:solidFill>
                  <a:latin typeface="+mn-lt"/>
                  <a:ea typeface="+mn-ea"/>
                  <a:cs typeface="+mn-cs"/>
                </a:rPr>
                <a:t>工资存放在银行</a:t>
              </a:r>
            </a:p>
          </p:txBody>
        </p:sp>
      </p:grpSp>
      <p:grpSp>
        <p:nvGrpSpPr>
          <p:cNvPr id="52" name="category-wealth"/>
          <p:cNvGrpSpPr/>
          <p:nvPr/>
        </p:nvGrpSpPr>
        <p:grpSpPr>
          <a:xfrm>
            <a:off x="3276600" y="4533900"/>
            <a:ext cx="2171700" cy="1304640"/>
            <a:chOff x="3276600" y="4533900"/>
            <a:chExt cx="2171700" cy="1304640"/>
          </a:xfrm>
        </p:grpSpPr>
        <p:sp>
          <p:nvSpPr>
            <p:cNvPr id="41" name="Rectangle 41"/>
            <p:cNvSpPr/>
            <p:nvPr/>
          </p:nvSpPr>
          <p:spPr>
            <a:xfrm>
              <a:off x="3276600" y="4533900"/>
              <a:ext cx="2171700" cy="685800"/>
            </a:xfrm>
            <a:prstGeom prst="roundRect">
              <a:avLst>
                <a:gd name="adj" fmla="val 19444"/>
              </a:avLst>
            </a:prstGeom>
            <a:solidFill>
              <a:srgbClr val="FBD2C9">
                <a:alpha val="60000"/>
              </a:srgbClr>
            </a:solidFill>
            <a:ln>
              <a:noFill/>
            </a:ln>
          </p:spPr>
        </p:sp>
        <p:sp>
          <p:nvSpPr>
            <p:cNvPr id="42" name="Rectangle 42"/>
            <p:cNvSpPr/>
            <p:nvPr/>
          </p:nvSpPr>
          <p:spPr>
            <a:xfrm>
              <a:off x="3333750" y="4591050"/>
              <a:ext cx="2057400" cy="571500"/>
            </a:xfrm>
            <a:prstGeom prst="roundRect">
              <a:avLst>
                <a:gd name="adj" fmla="val 16667"/>
              </a:avLst>
            </a:prstGeom>
            <a:gradFill>
              <a:gsLst>
                <a:gs pos="0">
                  <a:srgbClr val="FB684A"/>
                </a:gs>
                <a:gs pos="100000">
                  <a:srgbClr val="FA421D"/>
                </a:gs>
              </a:gsLst>
              <a:lin ang="5400000" scaled="1"/>
            </a:gradFill>
            <a:ln>
              <a:noFill/>
            </a:ln>
          </p:spPr>
        </p:sp>
        <p:grpSp>
          <p:nvGrpSpPr>
            <p:cNvPr id="49" name="Group 49"/>
            <p:cNvGrpSpPr/>
            <p:nvPr/>
          </p:nvGrpSpPr>
          <p:grpSpPr>
            <a:xfrm>
              <a:off x="3771900" y="4762500"/>
              <a:ext cx="238124" cy="228600"/>
              <a:chOff x="3771900" y="4762500"/>
              <a:chExt cx="238124" cy="228600"/>
            </a:xfrm>
          </p:grpSpPr>
          <p:sp>
            <p:nvSpPr>
              <p:cNvPr id="43" name="Freeform 43"/>
              <p:cNvSpPr/>
              <p:nvPr/>
            </p:nvSpPr>
            <p:spPr>
              <a:xfrm>
                <a:off x="3771900" y="476250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19050">
                <a:solidFill>
                  <a:srgbClr val="FFFFFF"/>
                </a:solidFill>
              </a:ln>
            </p:spPr>
          </p:sp>
          <p:sp>
            <p:nvSpPr>
              <p:cNvPr id="44" name="Freeform 44"/>
              <p:cNvSpPr/>
              <p:nvPr/>
            </p:nvSpPr>
            <p:spPr>
              <a:xfrm>
                <a:off x="3822700" y="4762500"/>
                <a:ext cx="50800" cy="50800"/>
              </a:xfrm>
              <a:custGeom>
                <a:avLst/>
                <a:gdLst/>
                <a:ahLst/>
                <a:cxnLst/>
                <a:rect l="l" t="t" r="r" b="b"/>
                <a:pathLst>
                  <a:path w="50800" h="50800">
                    <a:moveTo>
                      <a:pt x="0" y="0"/>
                    </a:moveTo>
                    <a:lnTo>
                      <a:pt x="0" y="50800"/>
                    </a:lnTo>
                    <a:lnTo>
                      <a:pt x="50800" y="50800"/>
                    </a:lnTo>
                  </a:path>
                </a:pathLst>
              </a:custGeom>
              <a:noFill/>
              <a:ln w="19050">
                <a:solidFill>
                  <a:srgbClr val="FFFFFF"/>
                </a:solidFill>
              </a:ln>
            </p:spPr>
          </p:sp>
          <p:sp>
            <p:nvSpPr>
              <p:cNvPr id="45" name="Freeform 45"/>
              <p:cNvSpPr/>
              <p:nvPr/>
            </p:nvSpPr>
            <p:spPr>
              <a:xfrm>
                <a:off x="3848100" y="4940299"/>
                <a:ext cx="9525" cy="50800"/>
              </a:xfrm>
              <a:custGeom>
                <a:avLst/>
                <a:gdLst/>
                <a:ahLst/>
                <a:cxnLst/>
                <a:rect l="l" t="t" r="r" b="b"/>
                <a:pathLst>
                  <a:path w="9525" h="50800">
                    <a:moveTo>
                      <a:pt x="0" y="0"/>
                    </a:moveTo>
                    <a:lnTo>
                      <a:pt x="0" y="50800"/>
                    </a:lnTo>
                  </a:path>
                </a:pathLst>
              </a:custGeom>
              <a:noFill/>
              <a:ln w="19050">
                <a:solidFill>
                  <a:srgbClr val="FFFFFF"/>
                </a:solidFill>
              </a:ln>
            </p:spPr>
          </p:sp>
          <p:sp>
            <p:nvSpPr>
              <p:cNvPr id="46" name="Freeform 46"/>
              <p:cNvSpPr/>
              <p:nvPr/>
            </p:nvSpPr>
            <p:spPr>
              <a:xfrm>
                <a:off x="3949699" y="4902200"/>
                <a:ext cx="9525" cy="88900"/>
              </a:xfrm>
              <a:custGeom>
                <a:avLst/>
                <a:gdLst/>
                <a:ahLst/>
                <a:cxnLst/>
                <a:rect l="l" t="t" r="r" b="b"/>
                <a:pathLst>
                  <a:path w="9525" h="88900">
                    <a:moveTo>
                      <a:pt x="0" y="0"/>
                    </a:moveTo>
                    <a:lnTo>
                      <a:pt x="0" y="88900"/>
                    </a:lnTo>
                  </a:path>
                </a:pathLst>
              </a:custGeom>
              <a:noFill/>
              <a:ln w="19050">
                <a:solidFill>
                  <a:srgbClr val="FFFFFF"/>
                </a:solidFill>
              </a:ln>
            </p:spPr>
          </p:sp>
          <p:sp>
            <p:nvSpPr>
              <p:cNvPr id="47" name="Freeform 47"/>
              <p:cNvSpPr/>
              <p:nvPr/>
            </p:nvSpPr>
            <p:spPr>
              <a:xfrm>
                <a:off x="3898900" y="4889500"/>
                <a:ext cx="9525" cy="101600"/>
              </a:xfrm>
              <a:custGeom>
                <a:avLst/>
                <a:gdLst/>
                <a:ahLst/>
                <a:cxnLst/>
                <a:rect l="l" t="t" r="r" b="b"/>
                <a:pathLst>
                  <a:path w="9525" h="101600">
                    <a:moveTo>
                      <a:pt x="0" y="0"/>
                    </a:moveTo>
                    <a:lnTo>
                      <a:pt x="0" y="101600"/>
                    </a:lnTo>
                  </a:path>
                </a:pathLst>
              </a:custGeom>
              <a:noFill/>
              <a:ln w="19050">
                <a:solidFill>
                  <a:srgbClr val="FFFFFF"/>
                </a:solidFill>
              </a:ln>
            </p:spPr>
          </p:sp>
          <p:sp>
            <p:nvSpPr>
              <p:cNvPr id="48" name="Freeform 48"/>
              <p:cNvSpPr/>
              <p:nvPr/>
            </p:nvSpPr>
            <p:spPr>
              <a:xfrm>
                <a:off x="4000499" y="4876800"/>
                <a:ext cx="9525" cy="114300"/>
              </a:xfrm>
              <a:custGeom>
                <a:avLst/>
                <a:gdLst/>
                <a:ahLst/>
                <a:cxnLst/>
                <a:rect l="l" t="t" r="r" b="b"/>
                <a:pathLst>
                  <a:path w="9525" h="114300">
                    <a:moveTo>
                      <a:pt x="0" y="0"/>
                    </a:moveTo>
                    <a:lnTo>
                      <a:pt x="0" y="114300"/>
                    </a:lnTo>
                  </a:path>
                </a:pathLst>
              </a:custGeom>
              <a:noFill/>
              <a:ln w="19050">
                <a:solidFill>
                  <a:srgbClr val="FFFFFF"/>
                </a:solidFill>
              </a:ln>
            </p:spPr>
          </p:sp>
        </p:grpSp>
        <p:sp>
          <p:nvSpPr>
            <p:cNvPr id="50" name="TextBox 50"/>
            <p:cNvSpPr txBox="1"/>
            <p:nvPr/>
          </p:nvSpPr>
          <p:spPr>
            <a:xfrm>
              <a:off x="4398645" y="4784408"/>
              <a:ext cx="461010" cy="322707"/>
            </a:xfrm>
            <a:prstGeom prst="rect">
              <a:avLst/>
            </a:prstGeom>
            <a:noFill/>
            <a:ln>
              <a:noFill/>
            </a:ln>
          </p:spPr>
          <p:txBody>
            <a:bodyPr wrap="none" lIns="0" tIns="0" rIns="0" bIns="0" anchor="t" anchorCtr="0">
              <a:spAutoFit/>
            </a:bodyPr>
            <a:lstStyle/>
            <a:p>
              <a:pPr algn="ctr"/>
              <a:r>
                <a:rPr lang="zh-CN" sz="1650" dirty="0">
                  <a:solidFill>
                    <a:srgbClr val="FFFFFF"/>
                  </a:solidFill>
                  <a:latin typeface="+mn-lt"/>
                  <a:ea typeface="+mn-ea"/>
                  <a:cs typeface="+mn-cs"/>
                </a:rPr>
                <a:t>理财</a:t>
              </a:r>
            </a:p>
          </p:txBody>
        </p:sp>
        <p:sp>
          <p:nvSpPr>
            <p:cNvPr id="51" name="TextBox 51"/>
            <p:cNvSpPr txBox="1"/>
            <p:nvPr/>
          </p:nvSpPr>
          <p:spPr>
            <a:xfrm>
              <a:off x="3672967" y="5438299"/>
              <a:ext cx="1378966" cy="400241"/>
            </a:xfrm>
            <a:prstGeom prst="rect">
              <a:avLst/>
            </a:prstGeom>
            <a:noFill/>
            <a:ln>
              <a:noFill/>
            </a:ln>
          </p:spPr>
          <p:txBody>
            <a:bodyPr wrap="none" lIns="0" tIns="0" rIns="0" bIns="0" anchor="t" anchorCtr="0">
              <a:spAutoFit/>
            </a:bodyPr>
            <a:lstStyle/>
            <a:p>
              <a:pPr algn="ctr">
                <a:lnSpc>
                  <a:spcPts val="1650"/>
                </a:lnSpc>
              </a:pPr>
              <a:r>
                <a:rPr lang="zh-CN" sz="980" dirty="0">
                  <a:solidFill>
                    <a:srgbClr val="3D241F"/>
                  </a:solidFill>
                  <a:latin typeface="+mn-lt"/>
                  <a:ea typeface="+mn-ea"/>
                  <a:cs typeface="+mn-cs"/>
                </a:rPr>
                <a:t>根据不同收益预期，按需</a:t>
              </a:r>
              <a:br/>
              <a:r>
                <a:rPr lang="zh-CN" sz="980" dirty="0">
                  <a:solidFill>
                    <a:srgbClr val="3D241F"/>
                  </a:solidFill>
                  <a:latin typeface="+mn-lt"/>
                  <a:ea typeface="+mn-ea"/>
                  <a:cs typeface="+mn-cs"/>
                </a:rPr>
                <a:t>选择理财产品</a:t>
              </a:r>
            </a:p>
          </p:txBody>
        </p:sp>
      </p:grpSp>
      <p:grpSp>
        <p:nvGrpSpPr>
          <p:cNvPr id="56" name="leaf-demand-deposit"/>
          <p:cNvGrpSpPr/>
          <p:nvPr/>
        </p:nvGrpSpPr>
        <p:grpSpPr>
          <a:xfrm>
            <a:off x="6724650" y="1295400"/>
            <a:ext cx="2943733" cy="609600"/>
            <a:chOff x="6724650" y="1295400"/>
            <a:chExt cx="2943733" cy="609600"/>
          </a:xfrm>
        </p:grpSpPr>
        <p:sp>
          <p:nvSpPr>
            <p:cNvPr id="53" name="Rectangle 53"/>
            <p:cNvSpPr/>
            <p:nvPr/>
          </p:nvSpPr>
          <p:spPr>
            <a:xfrm>
              <a:off x="6724650" y="1295400"/>
              <a:ext cx="1733550" cy="609600"/>
            </a:xfrm>
            <a:prstGeom prst="roundRect">
              <a:avLst>
                <a:gd name="adj" fmla="val 12500"/>
              </a:avLst>
            </a:prstGeom>
            <a:solidFill>
              <a:srgbClr val="FBD2C9"/>
            </a:solidFill>
            <a:ln>
              <a:noFill/>
            </a:ln>
          </p:spPr>
        </p:sp>
        <p:sp>
          <p:nvSpPr>
            <p:cNvPr id="54" name="TextBox 54"/>
            <p:cNvSpPr txBox="1"/>
            <p:nvPr/>
          </p:nvSpPr>
          <p:spPr>
            <a:xfrm>
              <a:off x="7221093" y="1521142"/>
              <a:ext cx="740664"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活期存款</a:t>
              </a:r>
            </a:p>
          </p:txBody>
        </p:sp>
        <p:sp>
          <p:nvSpPr>
            <p:cNvPr id="55" name="TextBox 55"/>
            <p:cNvSpPr txBox="1"/>
            <p:nvPr/>
          </p:nvSpPr>
          <p:spPr>
            <a:xfrm>
              <a:off x="8662797" y="1418749"/>
              <a:ext cx="1005586"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D241F"/>
                  </a:solidFill>
                  <a:latin typeface="+mn-lt"/>
                  <a:ea typeface="+mn-ea"/>
                  <a:cs typeface="+mn-cs"/>
                </a:rPr>
                <a:t>随时存入随时取出</a:t>
              </a:r>
              <a:br/>
              <a:r>
                <a:rPr lang="zh-CN" sz="980" dirty="0">
                  <a:solidFill>
                    <a:srgbClr val="3D241F"/>
                  </a:solidFill>
                  <a:latin typeface="+mn-lt"/>
                  <a:ea typeface="+mn-ea"/>
                  <a:cs typeface="+mn-cs"/>
                </a:rPr>
                <a:t>方式比较灵活</a:t>
              </a:r>
            </a:p>
          </p:txBody>
        </p:sp>
      </p:grpSp>
      <p:grpSp>
        <p:nvGrpSpPr>
          <p:cNvPr id="60" name="leaf-fixed-deposit"/>
          <p:cNvGrpSpPr/>
          <p:nvPr/>
        </p:nvGrpSpPr>
        <p:grpSpPr>
          <a:xfrm>
            <a:off x="6724650" y="2762250"/>
            <a:ext cx="3192653" cy="609600"/>
            <a:chOff x="6724650" y="2762250"/>
            <a:chExt cx="3192653" cy="609600"/>
          </a:xfrm>
        </p:grpSpPr>
        <p:sp>
          <p:nvSpPr>
            <p:cNvPr id="57" name="Rectangle 57"/>
            <p:cNvSpPr/>
            <p:nvPr/>
          </p:nvSpPr>
          <p:spPr>
            <a:xfrm>
              <a:off x="6724650" y="2762250"/>
              <a:ext cx="1733550" cy="609600"/>
            </a:xfrm>
            <a:prstGeom prst="roundRect">
              <a:avLst>
                <a:gd name="adj" fmla="val 12500"/>
              </a:avLst>
            </a:prstGeom>
            <a:solidFill>
              <a:srgbClr val="FBD2C9"/>
            </a:solidFill>
            <a:ln>
              <a:noFill/>
            </a:ln>
          </p:spPr>
        </p:sp>
        <p:sp>
          <p:nvSpPr>
            <p:cNvPr id="58" name="TextBox 58"/>
            <p:cNvSpPr txBox="1"/>
            <p:nvPr/>
          </p:nvSpPr>
          <p:spPr>
            <a:xfrm>
              <a:off x="7221093" y="2987992"/>
              <a:ext cx="740664"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定期存款</a:t>
              </a:r>
            </a:p>
          </p:txBody>
        </p:sp>
        <p:sp>
          <p:nvSpPr>
            <p:cNvPr id="59" name="TextBox 59"/>
            <p:cNvSpPr txBox="1"/>
            <p:nvPr/>
          </p:nvSpPr>
          <p:spPr>
            <a:xfrm>
              <a:off x="8662797" y="2885599"/>
              <a:ext cx="1254506"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D241F"/>
                  </a:solidFill>
                  <a:latin typeface="+mn-lt"/>
                  <a:ea typeface="+mn-ea"/>
                  <a:cs typeface="+mn-cs"/>
                </a:rPr>
                <a:t>整存整取</a:t>
              </a:r>
              <a:br/>
              <a:r>
                <a:rPr lang="zh-CN" sz="980" dirty="0">
                  <a:solidFill>
                    <a:srgbClr val="3D241F"/>
                  </a:solidFill>
                  <a:latin typeface="+mn-lt"/>
                  <a:ea typeface="+mn-ea"/>
                  <a:cs typeface="+mn-cs"/>
                </a:rPr>
                <a:t>本金一次存入到期取出</a:t>
              </a:r>
            </a:p>
          </p:txBody>
        </p:sp>
      </p:grpSp>
      <p:grpSp>
        <p:nvGrpSpPr>
          <p:cNvPr id="64" name="leaf-low-risk"/>
          <p:cNvGrpSpPr/>
          <p:nvPr/>
        </p:nvGrpSpPr>
        <p:grpSpPr>
          <a:xfrm>
            <a:off x="6724650" y="3943350"/>
            <a:ext cx="2943733" cy="609600"/>
            <a:chOff x="6724650" y="3943350"/>
            <a:chExt cx="2943733" cy="609600"/>
          </a:xfrm>
        </p:grpSpPr>
        <p:sp>
          <p:nvSpPr>
            <p:cNvPr id="61" name="Rectangle 61"/>
            <p:cNvSpPr/>
            <p:nvPr/>
          </p:nvSpPr>
          <p:spPr>
            <a:xfrm>
              <a:off x="6724650" y="3943350"/>
              <a:ext cx="1733550" cy="609600"/>
            </a:xfrm>
            <a:prstGeom prst="roundRect">
              <a:avLst>
                <a:gd name="adj" fmla="val 12500"/>
              </a:avLst>
            </a:prstGeom>
            <a:solidFill>
              <a:srgbClr val="FBD2C9"/>
            </a:solidFill>
            <a:ln>
              <a:noFill/>
            </a:ln>
          </p:spPr>
        </p:sp>
        <p:sp>
          <p:nvSpPr>
            <p:cNvPr id="62" name="TextBox 62"/>
            <p:cNvSpPr txBox="1"/>
            <p:nvPr/>
          </p:nvSpPr>
          <p:spPr>
            <a:xfrm>
              <a:off x="7221093" y="4169092"/>
              <a:ext cx="740664"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中低风险</a:t>
              </a:r>
            </a:p>
          </p:txBody>
        </p:sp>
        <p:sp>
          <p:nvSpPr>
            <p:cNvPr id="63" name="TextBox 63"/>
            <p:cNvSpPr txBox="1"/>
            <p:nvPr/>
          </p:nvSpPr>
          <p:spPr>
            <a:xfrm>
              <a:off x="8662797" y="4066699"/>
              <a:ext cx="1005586"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D241F"/>
                  </a:solidFill>
                  <a:latin typeface="+mn-lt"/>
                  <a:ea typeface="+mn-ea"/>
                  <a:cs typeface="+mn-cs"/>
                </a:rPr>
                <a:t>风险承受能力一般</a:t>
              </a:r>
              <a:br/>
              <a:r>
                <a:rPr lang="zh-CN" sz="980" dirty="0">
                  <a:solidFill>
                    <a:srgbClr val="3D241F"/>
                  </a:solidFill>
                  <a:latin typeface="+mn-lt"/>
                  <a:ea typeface="+mn-ea"/>
                  <a:cs typeface="+mn-cs"/>
                </a:rPr>
                <a:t>主要追求稳健投资</a:t>
              </a:r>
            </a:p>
          </p:txBody>
        </p:sp>
      </p:grpSp>
      <p:grpSp>
        <p:nvGrpSpPr>
          <p:cNvPr id="68" name="leaf-high-risk"/>
          <p:cNvGrpSpPr/>
          <p:nvPr/>
        </p:nvGrpSpPr>
        <p:grpSpPr>
          <a:xfrm>
            <a:off x="6724650" y="5410200"/>
            <a:ext cx="2943733" cy="609600"/>
            <a:chOff x="6724650" y="5410200"/>
            <a:chExt cx="2943733" cy="609600"/>
          </a:xfrm>
        </p:grpSpPr>
        <p:sp>
          <p:nvSpPr>
            <p:cNvPr id="65" name="Rectangle 65"/>
            <p:cNvSpPr/>
            <p:nvPr/>
          </p:nvSpPr>
          <p:spPr>
            <a:xfrm>
              <a:off x="6724650" y="5410200"/>
              <a:ext cx="1733550" cy="609600"/>
            </a:xfrm>
            <a:prstGeom prst="roundRect">
              <a:avLst>
                <a:gd name="adj" fmla="val 12500"/>
              </a:avLst>
            </a:prstGeom>
            <a:solidFill>
              <a:srgbClr val="FBD2C9"/>
            </a:solidFill>
            <a:ln>
              <a:noFill/>
            </a:ln>
          </p:spPr>
        </p:sp>
        <p:sp>
          <p:nvSpPr>
            <p:cNvPr id="66" name="TextBox 66"/>
            <p:cNvSpPr txBox="1"/>
            <p:nvPr/>
          </p:nvSpPr>
          <p:spPr>
            <a:xfrm>
              <a:off x="7311962" y="5635942"/>
              <a:ext cx="558927" cy="264033"/>
            </a:xfrm>
            <a:prstGeom prst="rect">
              <a:avLst/>
            </a:prstGeom>
            <a:noFill/>
            <a:ln>
              <a:noFill/>
            </a:ln>
          </p:spPr>
          <p:txBody>
            <a:bodyPr wrap="none" lIns="0" tIns="0" rIns="0" bIns="0" anchor="t" anchorCtr="0">
              <a:spAutoFit/>
            </a:bodyPr>
            <a:lstStyle/>
            <a:p>
              <a:pPr algn="ctr"/>
              <a:r>
                <a:rPr lang="zh-CN" sz="1350" dirty="0">
                  <a:solidFill>
                    <a:srgbClr val="D03B1D"/>
                  </a:solidFill>
                  <a:latin typeface="+mn-lt"/>
                  <a:ea typeface="+mn-ea"/>
                  <a:cs typeface="+mn-cs"/>
                </a:rPr>
                <a:t>高风险</a:t>
              </a:r>
            </a:p>
          </p:txBody>
        </p:sp>
        <p:sp>
          <p:nvSpPr>
            <p:cNvPr id="67" name="TextBox 67"/>
            <p:cNvSpPr txBox="1"/>
            <p:nvPr/>
          </p:nvSpPr>
          <p:spPr>
            <a:xfrm>
              <a:off x="8662797" y="5533549"/>
              <a:ext cx="1005586" cy="400241"/>
            </a:xfrm>
            <a:prstGeom prst="rect">
              <a:avLst/>
            </a:prstGeom>
            <a:noFill/>
            <a:ln>
              <a:noFill/>
            </a:ln>
          </p:spPr>
          <p:txBody>
            <a:bodyPr wrap="none" lIns="0" tIns="0" rIns="0" bIns="0" anchor="t" anchorCtr="0">
              <a:spAutoFit/>
            </a:bodyPr>
            <a:lstStyle/>
            <a:p>
              <a:pPr algn="l">
                <a:lnSpc>
                  <a:spcPts val="1650"/>
                </a:lnSpc>
              </a:pPr>
              <a:r>
                <a:rPr lang="zh-CN" sz="980" dirty="0">
                  <a:solidFill>
                    <a:srgbClr val="3D241F"/>
                  </a:solidFill>
                  <a:latin typeface="+mn-lt"/>
                  <a:ea typeface="+mn-ea"/>
                  <a:cs typeface="+mn-cs"/>
                </a:rPr>
                <a:t>风险承受能力较强</a:t>
              </a:r>
              <a:br/>
              <a:r>
                <a:rPr lang="zh-CN" sz="980" dirty="0">
                  <a:solidFill>
                    <a:srgbClr val="3D241F"/>
                  </a:solidFill>
                  <a:latin typeface="+mn-lt"/>
                  <a:ea typeface="+mn-ea"/>
                  <a:cs typeface="+mn-cs"/>
                </a:rPr>
                <a:t>主要追求激进投资</a:t>
              </a:r>
            </a:p>
          </p:txBody>
        </p:sp>
      </p:gr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center-shadow"/>
          <p:cNvSpPr/>
          <p:nvPr/>
        </p:nvSpPr>
        <p:spPr>
          <a:xfrm>
            <a:off x="5143500" y="4762500"/>
            <a:ext cx="1905000" cy="228600"/>
          </a:xfrm>
          <a:prstGeom prst="ellipse">
            <a:avLst/>
          </a:prstGeom>
          <a:solidFill>
            <a:srgbClr val="FBD2C9">
              <a:alpha val="80000"/>
            </a:srgbClr>
          </a:solidFill>
          <a:ln>
            <a:noFill/>
          </a:ln>
        </p:spPr>
      </p:sp>
      <p:grpSp>
        <p:nvGrpSpPr>
          <p:cNvPr id="7" name="header"/>
          <p:cNvGrpSpPr/>
          <p:nvPr/>
        </p:nvGrpSpPr>
        <p:grpSpPr>
          <a:xfrm>
            <a:off x="0" y="0"/>
            <a:ext cx="12192000" cy="551879"/>
            <a:chOff x="0" y="0"/>
            <a:chExt cx="12192000" cy="551879"/>
          </a:xfrm>
        </p:grpSpPr>
        <p:sp>
          <p:nvSpPr>
            <p:cNvPr id="3" name="Polygon 3"/>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4" name="TextBox 4"/>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25</a:t>
              </a:r>
            </a:p>
          </p:txBody>
        </p:sp>
        <p:sp>
          <p:nvSpPr>
            <p:cNvPr id="5" name="TextBox 5"/>
            <p:cNvSpPr txBox="1"/>
            <p:nvPr/>
          </p:nvSpPr>
          <p:spPr>
            <a:xfrm>
              <a:off x="904494" y="170498"/>
              <a:ext cx="2591843"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HR外包服务产品介绍​</a:t>
              </a:r>
            </a:p>
          </p:txBody>
        </p:sp>
        <p:sp>
          <p:nvSpPr>
            <p:cNvPr id="6" name="Line 6"/>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1" name="center-hr-service"/>
          <p:cNvGrpSpPr/>
          <p:nvPr/>
        </p:nvGrpSpPr>
        <p:grpSpPr>
          <a:xfrm>
            <a:off x="4857750" y="1352550"/>
            <a:ext cx="2476500" cy="2476500"/>
            <a:chOff x="4857750" y="1352550"/>
            <a:chExt cx="2476500" cy="2476500"/>
          </a:xfrm>
        </p:grpSpPr>
        <p:sp>
          <p:nvSpPr>
            <p:cNvPr id="8" name="Ellipse 8"/>
            <p:cNvSpPr/>
            <p:nvPr/>
          </p:nvSpPr>
          <p:spPr>
            <a:xfrm>
              <a:off x="4857750" y="1352550"/>
              <a:ext cx="2476500" cy="2476500"/>
            </a:xfrm>
            <a:prstGeom prst="ellipse">
              <a:avLst/>
            </a:prstGeom>
            <a:solidFill>
              <a:srgbClr val="FBD2C9">
                <a:alpha val="55000"/>
              </a:srgbClr>
            </a:solidFill>
            <a:ln>
              <a:noFill/>
            </a:ln>
          </p:spPr>
        </p:sp>
        <p:sp>
          <p:nvSpPr>
            <p:cNvPr id="9" name="Ellipse 9"/>
            <p:cNvSpPr/>
            <p:nvPr/>
          </p:nvSpPr>
          <p:spPr>
            <a:xfrm>
              <a:off x="5067300" y="1562100"/>
              <a:ext cx="2057400" cy="2057400"/>
            </a:xfrm>
            <a:prstGeom prst="ellipse">
              <a:avLst/>
            </a:prstGeom>
            <a:gradFill>
              <a:gsLst>
                <a:gs pos="0">
                  <a:srgbClr val="FB795E"/>
                </a:gs>
                <a:gs pos="100000">
                  <a:srgbClr val="FA421D"/>
                </a:gs>
              </a:gsLst>
              <a:lin ang="5400000" scaled="1"/>
            </a:gradFill>
            <a:ln>
              <a:noFill/>
            </a:ln>
          </p:spPr>
        </p:sp>
        <p:sp>
          <p:nvSpPr>
            <p:cNvPr id="10" name="TextBox 10"/>
            <p:cNvSpPr txBox="1"/>
            <p:nvPr/>
          </p:nvSpPr>
          <p:spPr>
            <a:xfrm>
              <a:off x="5551289" y="2309812"/>
              <a:ext cx="1089422" cy="802005"/>
            </a:xfrm>
            <a:prstGeom prst="rect">
              <a:avLst/>
            </a:prstGeom>
            <a:noFill/>
            <a:ln>
              <a:noFill/>
            </a:ln>
          </p:spPr>
          <p:txBody>
            <a:bodyPr wrap="none" lIns="0" tIns="0" rIns="0" bIns="0" anchor="t" anchorCtr="0">
              <a:spAutoFit/>
            </a:bodyPr>
            <a:lstStyle/>
            <a:p>
              <a:pPr algn="ctr">
                <a:lnSpc>
                  <a:spcPts val="2850"/>
                </a:lnSpc>
              </a:pPr>
              <a:r>
                <a:rPr lang="zh-CN" sz="2250" b="1" dirty="0">
                  <a:solidFill>
                    <a:srgbClr val="FFFFFF"/>
                  </a:solidFill>
                  <a:latin typeface="+mn-lt"/>
                  <a:ea typeface="+mn-ea"/>
                  <a:cs typeface="+mn-cs"/>
                </a:rPr>
                <a:t>HR外包​</a:t>
              </a:r>
              <a:br/>
              <a:r>
                <a:rPr lang="zh-CN" sz="2250" b="1" dirty="0">
                  <a:solidFill>
                    <a:srgbClr val="FFFFFF"/>
                  </a:solidFill>
                  <a:latin typeface="+mn-lt"/>
                  <a:ea typeface="+mn-ea"/>
                  <a:cs typeface="+mn-cs"/>
                </a:rPr>
                <a:t>服务</a:t>
              </a:r>
            </a:p>
          </p:txBody>
        </p:sp>
      </p:grpSp>
      <p:grpSp>
        <p:nvGrpSpPr>
          <p:cNvPr id="13" name="arrow-to-left"/>
          <p:cNvGrpSpPr/>
          <p:nvPr/>
        </p:nvGrpSpPr>
        <p:grpSpPr>
          <a:xfrm>
            <a:off x="4191000" y="2343150"/>
            <a:ext cx="476250" cy="533400"/>
            <a:chOff x="4191000" y="2343150"/>
            <a:chExt cx="476250" cy="533400"/>
          </a:xfrm>
        </p:grpSpPr>
        <p:sp>
          <p:nvSpPr>
            <p:cNvPr id="12" name="Freeform 12"/>
            <p:cNvSpPr/>
            <p:nvPr/>
          </p:nvSpPr>
          <p:spPr>
            <a:xfrm>
              <a:off x="4191000" y="2343150"/>
              <a:ext cx="476250" cy="533400"/>
            </a:xfrm>
            <a:prstGeom prst="leftArrow">
              <a:avLst/>
            </a:prstGeom>
            <a:solidFill>
              <a:srgbClr val="FB684A"/>
            </a:solidFill>
            <a:ln>
              <a:noFill/>
            </a:ln>
          </p:spPr>
        </p:sp>
      </p:grpSp>
      <p:grpSp>
        <p:nvGrpSpPr>
          <p:cNvPr id="15" name="arrow-to-right"/>
          <p:cNvGrpSpPr/>
          <p:nvPr/>
        </p:nvGrpSpPr>
        <p:grpSpPr>
          <a:xfrm>
            <a:off x="7524750" y="2343150"/>
            <a:ext cx="476250" cy="533400"/>
            <a:chOff x="7524750" y="2343150"/>
            <a:chExt cx="476250" cy="533400"/>
          </a:xfrm>
        </p:grpSpPr>
        <p:sp>
          <p:nvSpPr>
            <p:cNvPr id="14" name="Freeform 14"/>
            <p:cNvSpPr/>
            <p:nvPr/>
          </p:nvSpPr>
          <p:spPr>
            <a:xfrm>
              <a:off x="7524750" y="2343150"/>
              <a:ext cx="476250" cy="533400"/>
            </a:xfrm>
            <a:prstGeom prst="rightArrow">
              <a:avLst/>
            </a:prstGeom>
            <a:solidFill>
              <a:srgbClr val="FB684A"/>
            </a:solidFill>
            <a:ln>
              <a:noFill/>
            </a:ln>
          </p:spPr>
        </p:sp>
      </p:grpSp>
      <p:grpSp>
        <p:nvGrpSpPr>
          <p:cNvPr id="58" name="wing-hr-system"/>
          <p:cNvGrpSpPr/>
          <p:nvPr/>
        </p:nvGrpSpPr>
        <p:grpSpPr>
          <a:xfrm>
            <a:off x="628650" y="1714500"/>
            <a:ext cx="3429000" cy="4381500"/>
            <a:chOff x="628650" y="1714500"/>
            <a:chExt cx="3429000" cy="4381500"/>
          </a:xfrm>
        </p:grpSpPr>
        <p:sp>
          <p:nvSpPr>
            <p:cNvPr id="16" name="Polygon 16"/>
            <p:cNvSpPr/>
            <p:nvPr/>
          </p:nvSpPr>
          <p:spPr>
            <a:xfrm>
              <a:off x="819150" y="3810000"/>
              <a:ext cx="3048000" cy="1905000"/>
            </a:xfrm>
            <a:custGeom>
              <a:avLst/>
              <a:gdLst/>
              <a:ahLst/>
              <a:cxnLst/>
              <a:rect l="l" t="t" r="r" b="b"/>
              <a:pathLst>
                <a:path w="3048000" h="1905000">
                  <a:moveTo>
                    <a:pt x="1285875" y="0"/>
                  </a:moveTo>
                  <a:lnTo>
                    <a:pt x="1762125" y="0"/>
                  </a:lnTo>
                  <a:lnTo>
                    <a:pt x="3048000" y="1905000"/>
                  </a:lnTo>
                  <a:lnTo>
                    <a:pt x="0" y="1905000"/>
                  </a:lnTo>
                  <a:close/>
                </a:path>
              </a:pathLst>
            </a:custGeom>
            <a:solidFill>
              <a:srgbClr val="DCE9FC">
                <a:alpha val="60000"/>
              </a:srgbClr>
            </a:solidFill>
            <a:ln>
              <a:noFill/>
            </a:ln>
          </p:spPr>
        </p:sp>
        <p:sp>
          <p:nvSpPr>
            <p:cNvPr id="17" name="Ellipse 17"/>
            <p:cNvSpPr/>
            <p:nvPr/>
          </p:nvSpPr>
          <p:spPr>
            <a:xfrm>
              <a:off x="1466850" y="1714500"/>
              <a:ext cx="1752600" cy="1752600"/>
            </a:xfrm>
            <a:prstGeom prst="ellipse">
              <a:avLst/>
            </a:prstGeom>
            <a:solidFill>
              <a:srgbClr val="FBD2C9">
                <a:alpha val="55000"/>
              </a:srgbClr>
            </a:solidFill>
            <a:ln>
              <a:noFill/>
            </a:ln>
          </p:spPr>
        </p:sp>
        <p:sp>
          <p:nvSpPr>
            <p:cNvPr id="18" name="Ellipse 18"/>
            <p:cNvSpPr/>
            <p:nvPr/>
          </p:nvSpPr>
          <p:spPr>
            <a:xfrm>
              <a:off x="1600200" y="1847850"/>
              <a:ext cx="1485900" cy="1485900"/>
            </a:xfrm>
            <a:prstGeom prst="ellipse">
              <a:avLst/>
            </a:prstGeom>
            <a:gradFill>
              <a:gsLst>
                <a:gs pos="0">
                  <a:srgbClr val="FB684A"/>
                </a:gs>
                <a:gs pos="100000">
                  <a:srgbClr val="FA421D"/>
                </a:gs>
              </a:gsLst>
              <a:lin ang="5400000" scaled="1"/>
            </a:gradFill>
            <a:ln>
              <a:noFill/>
            </a:ln>
          </p:spPr>
        </p:sp>
        <p:grpSp>
          <p:nvGrpSpPr>
            <p:cNvPr id="28" name="Group 28"/>
            <p:cNvGrpSpPr/>
            <p:nvPr/>
          </p:nvGrpSpPr>
          <p:grpSpPr>
            <a:xfrm>
              <a:off x="2247900" y="2085975"/>
              <a:ext cx="254525" cy="309564"/>
              <a:chOff x="2247900" y="2085975"/>
              <a:chExt cx="254525" cy="309564"/>
            </a:xfrm>
          </p:grpSpPr>
          <p:sp>
            <p:nvSpPr>
              <p:cNvPr id="19" name="Freeform 19"/>
              <p:cNvSpPr/>
              <p:nvPr/>
            </p:nvSpPr>
            <p:spPr>
              <a:xfrm>
                <a:off x="2279650" y="20859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3813">
                <a:solidFill>
                  <a:srgbClr val="FFFFFF"/>
                </a:solidFill>
              </a:ln>
            </p:spPr>
          </p:sp>
          <p:sp>
            <p:nvSpPr>
              <p:cNvPr id="20" name="Freeform 20"/>
              <p:cNvSpPr/>
              <p:nvPr/>
            </p:nvSpPr>
            <p:spPr>
              <a:xfrm>
                <a:off x="2247900" y="2276475"/>
                <a:ext cx="103188" cy="95250"/>
              </a:xfrm>
              <a:custGeom>
                <a:avLst/>
                <a:gdLst/>
                <a:ahLst/>
                <a:cxnLst/>
                <a:rect l="l" t="t" r="r" b="b"/>
                <a:pathLst>
                  <a:path w="103188" h="95250">
                    <a:moveTo>
                      <a:pt x="0" y="95250"/>
                    </a:moveTo>
                    <a:lnTo>
                      <a:pt x="0" y="63500"/>
                    </a:lnTo>
                    <a:cubicBezTo>
                      <a:pt x="0" y="28430"/>
                      <a:pt x="28430" y="0"/>
                      <a:pt x="63500" y="0"/>
                    </a:cubicBezTo>
                    <a:lnTo>
                      <a:pt x="103188" y="0"/>
                    </a:lnTo>
                  </a:path>
                </a:pathLst>
              </a:custGeom>
              <a:noFill/>
              <a:ln w="23813">
                <a:solidFill>
                  <a:srgbClr val="FFFFFF"/>
                </a:solidFill>
              </a:ln>
            </p:spPr>
          </p:sp>
          <p:sp>
            <p:nvSpPr>
              <p:cNvPr id="21" name="Freeform 21"/>
              <p:cNvSpPr/>
              <p:nvPr/>
            </p:nvSpPr>
            <p:spPr>
              <a:xfrm>
                <a:off x="2422541" y="2308226"/>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FFFFF"/>
                </a:solidFill>
              </a:ln>
            </p:spPr>
          </p:sp>
          <p:sp>
            <p:nvSpPr>
              <p:cNvPr id="22" name="Freeform 22"/>
              <p:cNvSpPr/>
              <p:nvPr/>
            </p:nvSpPr>
            <p:spPr>
              <a:xfrm>
                <a:off x="2454291" y="2284413"/>
                <a:ext cx="9525" cy="23813"/>
              </a:xfrm>
              <a:custGeom>
                <a:avLst/>
                <a:gdLst/>
                <a:ahLst/>
                <a:cxnLst/>
                <a:rect l="l" t="t" r="r" b="b"/>
                <a:pathLst>
                  <a:path w="9525" h="23813">
                    <a:moveTo>
                      <a:pt x="0" y="0"/>
                    </a:moveTo>
                    <a:lnTo>
                      <a:pt x="0" y="23813"/>
                    </a:lnTo>
                  </a:path>
                </a:pathLst>
              </a:custGeom>
              <a:noFill/>
              <a:ln w="23813">
                <a:solidFill>
                  <a:srgbClr val="FFFFFF"/>
                </a:solidFill>
              </a:ln>
            </p:spPr>
          </p:sp>
          <p:sp>
            <p:nvSpPr>
              <p:cNvPr id="23" name="Freeform 23"/>
              <p:cNvSpPr/>
              <p:nvPr/>
            </p:nvSpPr>
            <p:spPr>
              <a:xfrm>
                <a:off x="2454291" y="2371726"/>
                <a:ext cx="9525" cy="23813"/>
              </a:xfrm>
              <a:custGeom>
                <a:avLst/>
                <a:gdLst/>
                <a:ahLst/>
                <a:cxnLst/>
                <a:rect l="l" t="t" r="r" b="b"/>
                <a:pathLst>
                  <a:path w="9525" h="23813">
                    <a:moveTo>
                      <a:pt x="0" y="0"/>
                    </a:moveTo>
                    <a:lnTo>
                      <a:pt x="0" y="23813"/>
                    </a:lnTo>
                  </a:path>
                </a:pathLst>
              </a:custGeom>
              <a:noFill/>
              <a:ln w="23813">
                <a:solidFill>
                  <a:srgbClr val="FFFFFF"/>
                </a:solidFill>
              </a:ln>
            </p:spPr>
          </p:sp>
          <p:sp>
            <p:nvSpPr>
              <p:cNvPr id="24" name="Freeform 24"/>
              <p:cNvSpPr/>
              <p:nvPr/>
            </p:nvSpPr>
            <p:spPr>
              <a:xfrm>
                <a:off x="2481787" y="2312194"/>
                <a:ext cx="20622" cy="11906"/>
              </a:xfrm>
              <a:custGeom>
                <a:avLst/>
                <a:gdLst/>
                <a:ahLst/>
                <a:cxnLst/>
                <a:rect l="l" t="t" r="r" b="b"/>
                <a:pathLst>
                  <a:path w="20622" h="11906">
                    <a:moveTo>
                      <a:pt x="20622" y="0"/>
                    </a:moveTo>
                    <a:lnTo>
                      <a:pt x="0" y="11906"/>
                    </a:lnTo>
                  </a:path>
                </a:pathLst>
              </a:custGeom>
              <a:noFill/>
              <a:ln w="23813">
                <a:solidFill>
                  <a:srgbClr val="FFFFFF"/>
                </a:solidFill>
              </a:ln>
            </p:spPr>
          </p:sp>
          <p:sp>
            <p:nvSpPr>
              <p:cNvPr id="25" name="Freeform 25"/>
              <p:cNvSpPr/>
              <p:nvPr/>
            </p:nvSpPr>
            <p:spPr>
              <a:xfrm>
                <a:off x="2406174" y="2355851"/>
                <a:ext cx="20638" cy="11906"/>
              </a:xfrm>
              <a:custGeom>
                <a:avLst/>
                <a:gdLst/>
                <a:ahLst/>
                <a:cxnLst/>
                <a:rect l="l" t="t" r="r" b="b"/>
                <a:pathLst>
                  <a:path w="20638" h="11906">
                    <a:moveTo>
                      <a:pt x="20638" y="0"/>
                    </a:moveTo>
                    <a:lnTo>
                      <a:pt x="0" y="11906"/>
                    </a:lnTo>
                  </a:path>
                </a:pathLst>
              </a:custGeom>
              <a:noFill/>
              <a:ln w="23813">
                <a:solidFill>
                  <a:srgbClr val="FFFFFF"/>
                </a:solidFill>
              </a:ln>
            </p:spPr>
          </p:sp>
          <p:sp>
            <p:nvSpPr>
              <p:cNvPr id="26" name="Freeform 26"/>
              <p:cNvSpPr/>
              <p:nvPr/>
            </p:nvSpPr>
            <p:spPr>
              <a:xfrm>
                <a:off x="2406174" y="2312194"/>
                <a:ext cx="20638" cy="11906"/>
              </a:xfrm>
              <a:custGeom>
                <a:avLst/>
                <a:gdLst/>
                <a:ahLst/>
                <a:cxnLst/>
                <a:rect l="l" t="t" r="r" b="b"/>
                <a:pathLst>
                  <a:path w="20638" h="11906">
                    <a:moveTo>
                      <a:pt x="0" y="0"/>
                    </a:moveTo>
                    <a:lnTo>
                      <a:pt x="20638" y="11906"/>
                    </a:lnTo>
                  </a:path>
                </a:pathLst>
              </a:custGeom>
              <a:noFill/>
              <a:ln w="23813">
                <a:solidFill>
                  <a:srgbClr val="FFFFFF"/>
                </a:solidFill>
              </a:ln>
            </p:spPr>
          </p:sp>
          <p:sp>
            <p:nvSpPr>
              <p:cNvPr id="27" name="Freeform 27"/>
              <p:cNvSpPr/>
              <p:nvPr/>
            </p:nvSpPr>
            <p:spPr>
              <a:xfrm>
                <a:off x="2481787" y="2355851"/>
                <a:ext cx="20638" cy="11906"/>
              </a:xfrm>
              <a:custGeom>
                <a:avLst/>
                <a:gdLst/>
                <a:ahLst/>
                <a:cxnLst/>
                <a:rect l="l" t="t" r="r" b="b"/>
                <a:pathLst>
                  <a:path w="20638" h="11906">
                    <a:moveTo>
                      <a:pt x="0" y="0"/>
                    </a:moveTo>
                    <a:lnTo>
                      <a:pt x="20638" y="11906"/>
                    </a:lnTo>
                  </a:path>
                </a:pathLst>
              </a:custGeom>
              <a:noFill/>
              <a:ln w="23813">
                <a:solidFill>
                  <a:srgbClr val="FFFFFF"/>
                </a:solidFill>
              </a:ln>
            </p:spPr>
          </p:sp>
        </p:grpSp>
        <p:sp>
          <p:nvSpPr>
            <p:cNvPr id="29" name="TextBox 29"/>
            <p:cNvSpPr txBox="1"/>
            <p:nvPr/>
          </p:nvSpPr>
          <p:spPr>
            <a:xfrm>
              <a:off x="1992046" y="2757964"/>
              <a:ext cx="702208"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人事系统</a:t>
              </a:r>
            </a:p>
          </p:txBody>
        </p:sp>
        <p:sp>
          <p:nvSpPr>
            <p:cNvPr id="30" name="Freeform 30"/>
            <p:cNvSpPr/>
            <p:nvPr/>
          </p:nvSpPr>
          <p:spPr>
            <a:xfrm rot="5400000">
              <a:off x="2228850" y="3467100"/>
              <a:ext cx="228600" cy="266700"/>
            </a:xfrm>
            <a:prstGeom prst="chevron">
              <a:avLst/>
            </a:prstGeom>
            <a:solidFill>
              <a:srgbClr val="FBAD9D"/>
            </a:solidFill>
            <a:ln>
              <a:noFill/>
            </a:ln>
          </p:spPr>
        </p:sp>
        <p:sp>
          <p:nvSpPr>
            <p:cNvPr id="31" name="Freeform 31"/>
            <p:cNvSpPr/>
            <p:nvPr/>
          </p:nvSpPr>
          <p:spPr>
            <a:xfrm rot="5400000">
              <a:off x="2228850" y="3695700"/>
              <a:ext cx="228600" cy="266700"/>
            </a:xfrm>
            <a:prstGeom prst="chevron">
              <a:avLst/>
            </a:prstGeom>
            <a:solidFill>
              <a:srgbClr val="FBAD9D"/>
            </a:solidFill>
            <a:ln>
              <a:noFill/>
            </a:ln>
          </p:spPr>
        </p:sp>
        <p:sp>
          <p:nvSpPr>
            <p:cNvPr id="32" name="TextBox 32"/>
            <p:cNvSpPr txBox="1"/>
            <p:nvPr/>
          </p:nvSpPr>
          <p:spPr>
            <a:xfrm>
              <a:off x="1715897" y="4371499"/>
              <a:ext cx="1254506" cy="400241"/>
            </a:xfrm>
            <a:prstGeom prst="rect">
              <a:avLst/>
            </a:prstGeom>
            <a:noFill/>
            <a:ln>
              <a:noFill/>
            </a:ln>
          </p:spPr>
          <p:txBody>
            <a:bodyPr wrap="none" lIns="0" tIns="0" rIns="0" bIns="0" anchor="t" anchorCtr="0">
              <a:spAutoFit/>
            </a:bodyPr>
            <a:lstStyle/>
            <a:p>
              <a:pPr algn="ctr">
                <a:lnSpc>
                  <a:spcPts val="1650"/>
                </a:lnSpc>
              </a:pPr>
              <a:r>
                <a:rPr lang="zh-CN" sz="980" dirty="0">
                  <a:solidFill>
                    <a:srgbClr val="3D241F"/>
                  </a:solidFill>
                  <a:latin typeface="+mn-lt"/>
                  <a:ea typeface="+mn-ea"/>
                  <a:cs typeface="+mn-cs"/>
                </a:rPr>
                <a:t>通过人事系统实现考勤</a:t>
              </a:r>
              <a:br/>
              <a:r>
                <a:rPr lang="zh-CN" sz="980" dirty="0">
                  <a:solidFill>
                    <a:srgbClr val="3D241F"/>
                  </a:solidFill>
                  <a:latin typeface="+mn-lt"/>
                  <a:ea typeface="+mn-ea"/>
                  <a:cs typeface="+mn-cs"/>
                </a:rPr>
                <a:t>等员工管理，高效便捷</a:t>
              </a:r>
            </a:p>
          </p:txBody>
        </p:sp>
        <p:sp>
          <p:nvSpPr>
            <p:cNvPr id="33" name="Ellipse 33"/>
            <p:cNvSpPr/>
            <p:nvPr/>
          </p:nvSpPr>
          <p:spPr>
            <a:xfrm>
              <a:off x="628650" y="5067300"/>
              <a:ext cx="1028700" cy="1028700"/>
            </a:xfrm>
            <a:prstGeom prst="ellipse">
              <a:avLst/>
            </a:prstGeom>
            <a:solidFill>
              <a:srgbClr val="FBD2C9">
                <a:alpha val="60000"/>
              </a:srgbClr>
            </a:solidFill>
            <a:ln>
              <a:noFill/>
            </a:ln>
          </p:spPr>
        </p:sp>
        <p:sp>
          <p:nvSpPr>
            <p:cNvPr id="34" name="Ellipse 34"/>
            <p:cNvSpPr/>
            <p:nvPr/>
          </p:nvSpPr>
          <p:spPr>
            <a:xfrm>
              <a:off x="704850" y="5143500"/>
              <a:ext cx="876300" cy="876300"/>
            </a:xfrm>
            <a:prstGeom prst="ellipse">
              <a:avLst/>
            </a:prstGeom>
            <a:gradFill>
              <a:gsLst>
                <a:gs pos="0">
                  <a:srgbClr val="FB684A"/>
                </a:gs>
                <a:gs pos="100000">
                  <a:srgbClr val="FA421D"/>
                </a:gs>
              </a:gsLst>
              <a:lin ang="5400000" scaled="1"/>
            </a:gradFill>
            <a:ln>
              <a:noFill/>
            </a:ln>
          </p:spPr>
        </p:sp>
        <p:grpSp>
          <p:nvGrpSpPr>
            <p:cNvPr id="39" name="Group 39"/>
            <p:cNvGrpSpPr/>
            <p:nvPr/>
          </p:nvGrpSpPr>
          <p:grpSpPr>
            <a:xfrm>
              <a:off x="1050131" y="5288756"/>
              <a:ext cx="185737" cy="185738"/>
              <a:chOff x="1050131" y="5288756"/>
              <a:chExt cx="185737" cy="185738"/>
            </a:xfrm>
          </p:grpSpPr>
          <p:sp>
            <p:nvSpPr>
              <p:cNvPr id="35" name="Freeform 35"/>
              <p:cNvSpPr/>
              <p:nvPr/>
            </p:nvSpPr>
            <p:spPr>
              <a:xfrm>
                <a:off x="1070769" y="52887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15478">
                <a:solidFill>
                  <a:srgbClr val="FFFFFF"/>
                </a:solidFill>
              </a:ln>
            </p:spPr>
          </p:sp>
          <p:sp>
            <p:nvSpPr>
              <p:cNvPr id="36" name="Freeform 36"/>
              <p:cNvSpPr/>
              <p:nvPr/>
            </p:nvSpPr>
            <p:spPr>
              <a:xfrm>
                <a:off x="1050131" y="54125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15478">
                <a:solidFill>
                  <a:srgbClr val="FFFFFF"/>
                </a:solidFill>
              </a:ln>
            </p:spPr>
          </p:sp>
          <p:sp>
            <p:nvSpPr>
              <p:cNvPr id="37" name="Freeform 37"/>
              <p:cNvSpPr/>
              <p:nvPr/>
            </p:nvSpPr>
            <p:spPr>
              <a:xfrm>
                <a:off x="1184274" y="52900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15478">
                <a:solidFill>
                  <a:srgbClr val="FFFFFF"/>
                </a:solidFill>
              </a:ln>
            </p:spPr>
          </p:sp>
          <p:sp>
            <p:nvSpPr>
              <p:cNvPr id="38" name="Freeform 38"/>
              <p:cNvSpPr/>
              <p:nvPr/>
            </p:nvSpPr>
            <p:spPr>
              <a:xfrm>
                <a:off x="1204912" y="54141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15478">
                <a:solidFill>
                  <a:srgbClr val="FFFFFF"/>
                </a:solidFill>
              </a:ln>
            </p:spPr>
          </p:sp>
        </p:grpSp>
        <p:sp>
          <p:nvSpPr>
            <p:cNvPr id="40" name="TextBox 40"/>
            <p:cNvSpPr txBox="1"/>
            <p:nvPr/>
          </p:nvSpPr>
          <p:spPr>
            <a:xfrm>
              <a:off x="895922" y="567499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员工管理</a:t>
              </a:r>
            </a:p>
          </p:txBody>
        </p:sp>
        <p:sp>
          <p:nvSpPr>
            <p:cNvPr id="41" name="Ellipse 41"/>
            <p:cNvSpPr/>
            <p:nvPr/>
          </p:nvSpPr>
          <p:spPr>
            <a:xfrm>
              <a:off x="1828800" y="5067300"/>
              <a:ext cx="1028700" cy="1028700"/>
            </a:xfrm>
            <a:prstGeom prst="ellipse">
              <a:avLst/>
            </a:prstGeom>
            <a:solidFill>
              <a:srgbClr val="FBD2C9">
                <a:alpha val="60000"/>
              </a:srgbClr>
            </a:solidFill>
            <a:ln>
              <a:noFill/>
            </a:ln>
          </p:spPr>
        </p:sp>
        <p:sp>
          <p:nvSpPr>
            <p:cNvPr id="42" name="Ellipse 42"/>
            <p:cNvSpPr/>
            <p:nvPr/>
          </p:nvSpPr>
          <p:spPr>
            <a:xfrm>
              <a:off x="1905000" y="5143500"/>
              <a:ext cx="876300" cy="876300"/>
            </a:xfrm>
            <a:prstGeom prst="ellipse">
              <a:avLst/>
            </a:prstGeom>
            <a:gradFill>
              <a:gsLst>
                <a:gs pos="0">
                  <a:srgbClr val="FB684A"/>
                </a:gs>
                <a:gs pos="100000">
                  <a:srgbClr val="FA421D"/>
                </a:gs>
              </a:gsLst>
              <a:lin ang="5400000" scaled="1"/>
            </a:gradFill>
            <a:ln>
              <a:noFill/>
            </a:ln>
          </p:spPr>
        </p:sp>
        <p:grpSp>
          <p:nvGrpSpPr>
            <p:cNvPr id="49" name="Group 49"/>
            <p:cNvGrpSpPr/>
            <p:nvPr/>
          </p:nvGrpSpPr>
          <p:grpSpPr>
            <a:xfrm>
              <a:off x="2260600" y="5288756"/>
              <a:ext cx="165099" cy="185737"/>
              <a:chOff x="2260600" y="5288756"/>
              <a:chExt cx="165099" cy="185737"/>
            </a:xfrm>
          </p:grpSpPr>
          <p:sp>
            <p:nvSpPr>
              <p:cNvPr id="43" name="Freeform 43"/>
              <p:cNvSpPr/>
              <p:nvPr/>
            </p:nvSpPr>
            <p:spPr>
              <a:xfrm>
                <a:off x="2260600" y="5309394"/>
                <a:ext cx="165099" cy="165099"/>
              </a:xfrm>
              <a:custGeom>
                <a:avLst/>
                <a:gdLst/>
                <a:ahLst/>
                <a:cxnLst/>
                <a:rect l="l" t="t" r="r" b="b"/>
                <a:pathLst>
                  <a:path w="165099" h="165099">
                    <a:moveTo>
                      <a:pt x="0" y="20637"/>
                    </a:moveTo>
                    <a:cubicBezTo>
                      <a:pt x="0" y="9240"/>
                      <a:pt x="9240" y="0"/>
                      <a:pt x="20637" y="0"/>
                    </a:cubicBezTo>
                    <a:lnTo>
                      <a:pt x="144462" y="0"/>
                    </a:lnTo>
                    <a:cubicBezTo>
                      <a:pt x="155860" y="0"/>
                      <a:pt x="165099" y="9240"/>
                      <a:pt x="165099" y="20637"/>
                    </a:cubicBezTo>
                    <a:lnTo>
                      <a:pt x="165099" y="144462"/>
                    </a:lnTo>
                    <a:cubicBezTo>
                      <a:pt x="165099" y="155860"/>
                      <a:pt x="155860" y="165099"/>
                      <a:pt x="144462" y="165099"/>
                    </a:cubicBezTo>
                    <a:lnTo>
                      <a:pt x="20637" y="165099"/>
                    </a:lnTo>
                    <a:cubicBezTo>
                      <a:pt x="9240" y="165099"/>
                      <a:pt x="0" y="155860"/>
                      <a:pt x="0" y="144462"/>
                    </a:cubicBezTo>
                    <a:lnTo>
                      <a:pt x="0" y="20637"/>
                    </a:lnTo>
                  </a:path>
                </a:pathLst>
              </a:custGeom>
              <a:noFill/>
              <a:ln w="15478">
                <a:solidFill>
                  <a:srgbClr val="FFFFFF"/>
                </a:solidFill>
              </a:ln>
            </p:spPr>
          </p:sp>
          <p:sp>
            <p:nvSpPr>
              <p:cNvPr id="44" name="Freeform 44"/>
              <p:cNvSpPr/>
              <p:nvPr/>
            </p:nvSpPr>
            <p:spPr>
              <a:xfrm>
                <a:off x="2384424" y="5288756"/>
                <a:ext cx="9525" cy="41275"/>
              </a:xfrm>
              <a:custGeom>
                <a:avLst/>
                <a:gdLst/>
                <a:ahLst/>
                <a:cxnLst/>
                <a:rect l="l" t="t" r="r" b="b"/>
                <a:pathLst>
                  <a:path w="9525" h="41275">
                    <a:moveTo>
                      <a:pt x="0" y="0"/>
                    </a:moveTo>
                    <a:lnTo>
                      <a:pt x="0" y="41275"/>
                    </a:lnTo>
                  </a:path>
                </a:pathLst>
              </a:custGeom>
              <a:noFill/>
              <a:ln w="15478">
                <a:solidFill>
                  <a:srgbClr val="FFFFFF"/>
                </a:solidFill>
              </a:ln>
            </p:spPr>
          </p:sp>
          <p:sp>
            <p:nvSpPr>
              <p:cNvPr id="45" name="Freeform 45"/>
              <p:cNvSpPr/>
              <p:nvPr/>
            </p:nvSpPr>
            <p:spPr>
              <a:xfrm>
                <a:off x="2301875" y="5288756"/>
                <a:ext cx="9525" cy="41275"/>
              </a:xfrm>
              <a:custGeom>
                <a:avLst/>
                <a:gdLst/>
                <a:ahLst/>
                <a:cxnLst/>
                <a:rect l="l" t="t" r="r" b="b"/>
                <a:pathLst>
                  <a:path w="9525" h="41275">
                    <a:moveTo>
                      <a:pt x="0" y="0"/>
                    </a:moveTo>
                    <a:lnTo>
                      <a:pt x="0" y="41275"/>
                    </a:lnTo>
                  </a:path>
                </a:pathLst>
              </a:custGeom>
              <a:noFill/>
              <a:ln w="15478">
                <a:solidFill>
                  <a:srgbClr val="FFFFFF"/>
                </a:solidFill>
              </a:ln>
            </p:spPr>
          </p:sp>
          <p:sp>
            <p:nvSpPr>
              <p:cNvPr id="46" name="Freeform 46"/>
              <p:cNvSpPr/>
              <p:nvPr/>
            </p:nvSpPr>
            <p:spPr>
              <a:xfrm>
                <a:off x="2260600" y="5371306"/>
                <a:ext cx="165099" cy="9525"/>
              </a:xfrm>
              <a:custGeom>
                <a:avLst/>
                <a:gdLst/>
                <a:ahLst/>
                <a:cxnLst/>
                <a:rect l="l" t="t" r="r" b="b"/>
                <a:pathLst>
                  <a:path w="165099" h="9525">
                    <a:moveTo>
                      <a:pt x="0" y="0"/>
                    </a:moveTo>
                    <a:lnTo>
                      <a:pt x="165099" y="0"/>
                    </a:lnTo>
                  </a:path>
                </a:pathLst>
              </a:custGeom>
              <a:noFill/>
              <a:ln w="15478">
                <a:solidFill>
                  <a:srgbClr val="FFFFFF"/>
                </a:solidFill>
              </a:ln>
            </p:spPr>
          </p:sp>
          <p:sp>
            <p:nvSpPr>
              <p:cNvPr id="47" name="Freeform 47"/>
              <p:cNvSpPr/>
              <p:nvPr/>
            </p:nvSpPr>
            <p:spPr>
              <a:xfrm>
                <a:off x="2332831" y="5412581"/>
                <a:ext cx="10319" cy="9525"/>
              </a:xfrm>
              <a:custGeom>
                <a:avLst/>
                <a:gdLst/>
                <a:ahLst/>
                <a:cxnLst/>
                <a:rect l="l" t="t" r="r" b="b"/>
                <a:pathLst>
                  <a:path w="10319" h="9525">
                    <a:moveTo>
                      <a:pt x="0" y="0"/>
                    </a:moveTo>
                    <a:lnTo>
                      <a:pt x="10319" y="0"/>
                    </a:lnTo>
                  </a:path>
                </a:pathLst>
              </a:custGeom>
              <a:noFill/>
              <a:ln w="15478">
                <a:solidFill>
                  <a:srgbClr val="FFFFFF"/>
                </a:solidFill>
              </a:ln>
            </p:spPr>
          </p:sp>
          <p:sp>
            <p:nvSpPr>
              <p:cNvPr id="48" name="Freeform 48"/>
              <p:cNvSpPr/>
              <p:nvPr/>
            </p:nvSpPr>
            <p:spPr>
              <a:xfrm>
                <a:off x="2343150" y="5412581"/>
                <a:ext cx="9525" cy="30956"/>
              </a:xfrm>
              <a:custGeom>
                <a:avLst/>
                <a:gdLst/>
                <a:ahLst/>
                <a:cxnLst/>
                <a:rect l="l" t="t" r="r" b="b"/>
                <a:pathLst>
                  <a:path w="9525" h="30956">
                    <a:moveTo>
                      <a:pt x="0" y="0"/>
                    </a:moveTo>
                    <a:lnTo>
                      <a:pt x="0" y="30956"/>
                    </a:lnTo>
                  </a:path>
                </a:pathLst>
              </a:custGeom>
              <a:noFill/>
              <a:ln w="15478">
                <a:solidFill>
                  <a:srgbClr val="FFFFFF"/>
                </a:solidFill>
              </a:ln>
            </p:spPr>
          </p:sp>
        </p:grpSp>
        <p:sp>
          <p:nvSpPr>
            <p:cNvPr id="50" name="TextBox 50"/>
            <p:cNvSpPr txBox="1"/>
            <p:nvPr/>
          </p:nvSpPr>
          <p:spPr>
            <a:xfrm>
              <a:off x="2096072" y="567499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考勤管理</a:t>
              </a:r>
            </a:p>
          </p:txBody>
        </p:sp>
        <p:sp>
          <p:nvSpPr>
            <p:cNvPr id="51" name="Ellipse 51"/>
            <p:cNvSpPr/>
            <p:nvPr/>
          </p:nvSpPr>
          <p:spPr>
            <a:xfrm>
              <a:off x="3028950" y="5067300"/>
              <a:ext cx="1028700" cy="1028700"/>
            </a:xfrm>
            <a:prstGeom prst="ellipse">
              <a:avLst/>
            </a:prstGeom>
            <a:solidFill>
              <a:srgbClr val="FBD2C9">
                <a:alpha val="60000"/>
              </a:srgbClr>
            </a:solidFill>
            <a:ln>
              <a:noFill/>
            </a:ln>
          </p:spPr>
        </p:sp>
        <p:sp>
          <p:nvSpPr>
            <p:cNvPr id="52" name="Ellipse 52"/>
            <p:cNvSpPr/>
            <p:nvPr/>
          </p:nvSpPr>
          <p:spPr>
            <a:xfrm>
              <a:off x="3105150" y="5143500"/>
              <a:ext cx="876300" cy="876300"/>
            </a:xfrm>
            <a:prstGeom prst="ellipse">
              <a:avLst/>
            </a:prstGeom>
            <a:gradFill>
              <a:gsLst>
                <a:gs pos="0">
                  <a:srgbClr val="FB684A"/>
                </a:gs>
                <a:gs pos="100000">
                  <a:srgbClr val="FA421D"/>
                </a:gs>
              </a:gsLst>
              <a:lin ang="5400000" scaled="1"/>
            </a:gradFill>
            <a:ln>
              <a:noFill/>
            </a:ln>
          </p:spPr>
        </p:sp>
        <p:grpSp>
          <p:nvGrpSpPr>
            <p:cNvPr id="56" name="Group 56"/>
            <p:cNvGrpSpPr/>
            <p:nvPr/>
          </p:nvGrpSpPr>
          <p:grpSpPr>
            <a:xfrm>
              <a:off x="3450431" y="5309394"/>
              <a:ext cx="185737" cy="144461"/>
              <a:chOff x="3450431" y="5309394"/>
              <a:chExt cx="185737" cy="144461"/>
            </a:xfrm>
          </p:grpSpPr>
          <p:sp>
            <p:nvSpPr>
              <p:cNvPr id="53" name="Freeform 53"/>
              <p:cNvSpPr/>
              <p:nvPr/>
            </p:nvSpPr>
            <p:spPr>
              <a:xfrm>
                <a:off x="3450431" y="5309394"/>
                <a:ext cx="144462" cy="103187"/>
              </a:xfrm>
              <a:custGeom>
                <a:avLst/>
                <a:gdLst/>
                <a:ahLst/>
                <a:cxnLst/>
                <a:rect l="l" t="t" r="r" b="b"/>
                <a:pathLst>
                  <a:path w="144462" h="103187">
                    <a:moveTo>
                      <a:pt x="41275" y="103187"/>
                    </a:moveTo>
                    <a:lnTo>
                      <a:pt x="10319" y="103187"/>
                    </a:lnTo>
                    <a:cubicBezTo>
                      <a:pt x="4620" y="103187"/>
                      <a:pt x="0" y="98567"/>
                      <a:pt x="0" y="92868"/>
                    </a:cubicBezTo>
                    <a:lnTo>
                      <a:pt x="0" y="10319"/>
                    </a:lnTo>
                    <a:cubicBezTo>
                      <a:pt x="0" y="4620"/>
                      <a:pt x="4620" y="0"/>
                      <a:pt x="10319" y="0"/>
                    </a:cubicBezTo>
                    <a:lnTo>
                      <a:pt x="134143" y="0"/>
                    </a:lnTo>
                    <a:cubicBezTo>
                      <a:pt x="139842" y="0"/>
                      <a:pt x="144462" y="4620"/>
                      <a:pt x="144462" y="10319"/>
                    </a:cubicBezTo>
                    <a:lnTo>
                      <a:pt x="144462" y="41275"/>
                    </a:lnTo>
                  </a:path>
                </a:pathLst>
              </a:custGeom>
              <a:noFill/>
              <a:ln w="15478">
                <a:solidFill>
                  <a:srgbClr val="FFFFFF"/>
                </a:solidFill>
              </a:ln>
            </p:spPr>
          </p:sp>
          <p:sp>
            <p:nvSpPr>
              <p:cNvPr id="54" name="Freeform 54"/>
              <p:cNvSpPr/>
              <p:nvPr/>
            </p:nvSpPr>
            <p:spPr>
              <a:xfrm>
                <a:off x="3491706" y="5350668"/>
                <a:ext cx="144462" cy="103187"/>
              </a:xfrm>
              <a:custGeom>
                <a:avLst/>
                <a:gdLst/>
                <a:ahLst/>
                <a:cxnLst/>
                <a:rect l="l" t="t" r="r" b="b"/>
                <a:pathLst>
                  <a:path w="144462" h="103187">
                    <a:moveTo>
                      <a:pt x="0" y="10319"/>
                    </a:moveTo>
                    <a:cubicBezTo>
                      <a:pt x="0" y="4620"/>
                      <a:pt x="4620" y="0"/>
                      <a:pt x="10319" y="0"/>
                    </a:cubicBezTo>
                    <a:lnTo>
                      <a:pt x="134143" y="0"/>
                    </a:lnTo>
                    <a:cubicBezTo>
                      <a:pt x="139842" y="0"/>
                      <a:pt x="144462" y="4620"/>
                      <a:pt x="144462" y="10319"/>
                    </a:cubicBezTo>
                    <a:lnTo>
                      <a:pt x="144462" y="92868"/>
                    </a:lnTo>
                    <a:cubicBezTo>
                      <a:pt x="144462" y="98567"/>
                      <a:pt x="139842" y="103187"/>
                      <a:pt x="134143" y="103187"/>
                    </a:cubicBezTo>
                    <a:lnTo>
                      <a:pt x="10319" y="103187"/>
                    </a:lnTo>
                    <a:cubicBezTo>
                      <a:pt x="4620" y="103187"/>
                      <a:pt x="0" y="98567"/>
                      <a:pt x="0" y="92868"/>
                    </a:cubicBezTo>
                    <a:lnTo>
                      <a:pt x="0" y="10319"/>
                    </a:lnTo>
                  </a:path>
                </a:pathLst>
              </a:custGeom>
              <a:noFill/>
              <a:ln w="15478">
                <a:solidFill>
                  <a:srgbClr val="FFFFFF"/>
                </a:solidFill>
              </a:ln>
            </p:spPr>
          </p:sp>
          <p:sp>
            <p:nvSpPr>
              <p:cNvPr id="55" name="Freeform 55"/>
              <p:cNvSpPr/>
              <p:nvPr/>
            </p:nvSpPr>
            <p:spPr>
              <a:xfrm>
                <a:off x="3543300" y="5381625"/>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15478">
                <a:solidFill>
                  <a:srgbClr val="FFFFFF"/>
                </a:solidFill>
              </a:ln>
            </p:spPr>
          </p:sp>
        </p:grpSp>
        <p:sp>
          <p:nvSpPr>
            <p:cNvPr id="57" name="TextBox 57"/>
            <p:cNvSpPr txBox="1"/>
            <p:nvPr/>
          </p:nvSpPr>
          <p:spPr>
            <a:xfrm>
              <a:off x="3296222" y="567499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薪酬福利</a:t>
              </a:r>
            </a:p>
          </p:txBody>
        </p:sp>
      </p:grpSp>
      <p:grpSp>
        <p:nvGrpSpPr>
          <p:cNvPr id="93" name="wing-hr-outsourcing"/>
          <p:cNvGrpSpPr/>
          <p:nvPr/>
        </p:nvGrpSpPr>
        <p:grpSpPr>
          <a:xfrm>
            <a:off x="8134350" y="1714500"/>
            <a:ext cx="3429000" cy="4381500"/>
            <a:chOff x="8134350" y="1714500"/>
            <a:chExt cx="3429000" cy="4381500"/>
          </a:xfrm>
        </p:grpSpPr>
        <p:sp>
          <p:nvSpPr>
            <p:cNvPr id="59" name="Polygon 59"/>
            <p:cNvSpPr/>
            <p:nvPr/>
          </p:nvSpPr>
          <p:spPr>
            <a:xfrm>
              <a:off x="8324850" y="3810000"/>
              <a:ext cx="3048000" cy="1905000"/>
            </a:xfrm>
            <a:custGeom>
              <a:avLst/>
              <a:gdLst/>
              <a:ahLst/>
              <a:cxnLst/>
              <a:rect l="l" t="t" r="r" b="b"/>
              <a:pathLst>
                <a:path w="3048000" h="1905000">
                  <a:moveTo>
                    <a:pt x="1285875" y="0"/>
                  </a:moveTo>
                  <a:lnTo>
                    <a:pt x="1762125" y="0"/>
                  </a:lnTo>
                  <a:lnTo>
                    <a:pt x="3048000" y="1905000"/>
                  </a:lnTo>
                  <a:lnTo>
                    <a:pt x="0" y="1905000"/>
                  </a:lnTo>
                  <a:close/>
                </a:path>
              </a:pathLst>
            </a:custGeom>
            <a:solidFill>
              <a:srgbClr val="DCE9FC">
                <a:alpha val="60000"/>
              </a:srgbClr>
            </a:solidFill>
            <a:ln>
              <a:noFill/>
            </a:ln>
          </p:spPr>
        </p:sp>
        <p:sp>
          <p:nvSpPr>
            <p:cNvPr id="60" name="Ellipse 60"/>
            <p:cNvSpPr/>
            <p:nvPr/>
          </p:nvSpPr>
          <p:spPr>
            <a:xfrm>
              <a:off x="8972550" y="1714500"/>
              <a:ext cx="1752600" cy="1752600"/>
            </a:xfrm>
            <a:prstGeom prst="ellipse">
              <a:avLst/>
            </a:prstGeom>
            <a:solidFill>
              <a:srgbClr val="FBD2C9">
                <a:alpha val="55000"/>
              </a:srgbClr>
            </a:solidFill>
            <a:ln>
              <a:noFill/>
            </a:ln>
          </p:spPr>
        </p:sp>
        <p:sp>
          <p:nvSpPr>
            <p:cNvPr id="61" name="Ellipse 61"/>
            <p:cNvSpPr/>
            <p:nvPr/>
          </p:nvSpPr>
          <p:spPr>
            <a:xfrm>
              <a:off x="9105900" y="1847850"/>
              <a:ext cx="1485900" cy="1485900"/>
            </a:xfrm>
            <a:prstGeom prst="ellipse">
              <a:avLst/>
            </a:prstGeom>
            <a:gradFill>
              <a:gsLst>
                <a:gs pos="0">
                  <a:srgbClr val="FB684A"/>
                </a:gs>
                <a:gs pos="100000">
                  <a:srgbClr val="FA421D"/>
                </a:gs>
              </a:gsLst>
              <a:lin ang="5400000" scaled="1"/>
            </a:gradFill>
            <a:ln>
              <a:noFill/>
            </a:ln>
          </p:spPr>
        </p:sp>
        <p:grpSp>
          <p:nvGrpSpPr>
            <p:cNvPr id="68" name="Group 68"/>
            <p:cNvGrpSpPr/>
            <p:nvPr/>
          </p:nvGrpSpPr>
          <p:grpSpPr>
            <a:xfrm>
              <a:off x="9705975" y="2085975"/>
              <a:ext cx="285751" cy="285751"/>
              <a:chOff x="9705975" y="2085975"/>
              <a:chExt cx="285751" cy="285751"/>
            </a:xfrm>
          </p:grpSpPr>
          <p:sp>
            <p:nvSpPr>
              <p:cNvPr id="62" name="Freeform 62"/>
              <p:cNvSpPr/>
              <p:nvPr/>
            </p:nvSpPr>
            <p:spPr>
              <a:xfrm>
                <a:off x="9817100" y="22129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FFFFF"/>
                </a:solidFill>
              </a:ln>
            </p:spPr>
          </p:sp>
          <p:sp>
            <p:nvSpPr>
              <p:cNvPr id="63" name="Freeform 63"/>
              <p:cNvSpPr/>
              <p:nvPr/>
            </p:nvSpPr>
            <p:spPr>
              <a:xfrm>
                <a:off x="9785350" y="2324101"/>
                <a:ext cx="127000" cy="47625"/>
              </a:xfrm>
              <a:custGeom>
                <a:avLst/>
                <a:gdLst/>
                <a:ahLst/>
                <a:cxnLst/>
                <a:rect l="l" t="t" r="r" b="b"/>
                <a:pathLst>
                  <a:path w="127000" h="47625">
                    <a:moveTo>
                      <a:pt x="0" y="47625"/>
                    </a:moveTo>
                    <a:lnTo>
                      <a:pt x="0" y="31750"/>
                    </a:lnTo>
                    <a:cubicBezTo>
                      <a:pt x="0" y="14215"/>
                      <a:pt x="14215" y="0"/>
                      <a:pt x="31750" y="0"/>
                    </a:cubicBezTo>
                    <a:lnTo>
                      <a:pt x="95250" y="0"/>
                    </a:lnTo>
                    <a:cubicBezTo>
                      <a:pt x="112785" y="0"/>
                      <a:pt x="127000" y="14215"/>
                      <a:pt x="127000" y="31750"/>
                    </a:cubicBezTo>
                    <a:lnTo>
                      <a:pt x="127000" y="47625"/>
                    </a:lnTo>
                  </a:path>
                </a:pathLst>
              </a:custGeom>
              <a:noFill/>
              <a:ln w="23813">
                <a:solidFill>
                  <a:srgbClr val="FFFFFF"/>
                </a:solidFill>
              </a:ln>
            </p:spPr>
          </p:sp>
          <p:sp>
            <p:nvSpPr>
              <p:cNvPr id="64" name="Freeform 64"/>
              <p:cNvSpPr/>
              <p:nvPr/>
            </p:nvSpPr>
            <p:spPr>
              <a:xfrm>
                <a:off x="9896475" y="20859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FFFFF"/>
                </a:solidFill>
              </a:ln>
            </p:spPr>
          </p:sp>
          <p:sp>
            <p:nvSpPr>
              <p:cNvPr id="65" name="Freeform 65"/>
              <p:cNvSpPr/>
              <p:nvPr/>
            </p:nvSpPr>
            <p:spPr>
              <a:xfrm>
                <a:off x="9928226" y="2197100"/>
                <a:ext cx="63500" cy="47625"/>
              </a:xfrm>
              <a:custGeom>
                <a:avLst/>
                <a:gdLst/>
                <a:ahLst/>
                <a:cxnLst/>
                <a:rect l="l" t="t" r="r" b="b"/>
                <a:pathLst>
                  <a:path w="63500" h="47625">
                    <a:moveTo>
                      <a:pt x="0" y="0"/>
                    </a:moveTo>
                    <a:lnTo>
                      <a:pt x="31750" y="0"/>
                    </a:lnTo>
                    <a:cubicBezTo>
                      <a:pt x="49285" y="0"/>
                      <a:pt x="63500" y="14215"/>
                      <a:pt x="63500" y="31750"/>
                    </a:cubicBezTo>
                    <a:lnTo>
                      <a:pt x="63500" y="47625"/>
                    </a:lnTo>
                  </a:path>
                </a:pathLst>
              </a:custGeom>
              <a:noFill/>
              <a:ln w="23813">
                <a:solidFill>
                  <a:srgbClr val="FFFFFF"/>
                </a:solidFill>
              </a:ln>
            </p:spPr>
          </p:sp>
          <p:sp>
            <p:nvSpPr>
              <p:cNvPr id="66" name="Freeform 66"/>
              <p:cNvSpPr/>
              <p:nvPr/>
            </p:nvSpPr>
            <p:spPr>
              <a:xfrm>
                <a:off x="9737725" y="208597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23813">
                <a:solidFill>
                  <a:srgbClr val="FFFFFF"/>
                </a:solidFill>
              </a:ln>
            </p:spPr>
          </p:sp>
          <p:sp>
            <p:nvSpPr>
              <p:cNvPr id="67" name="Freeform 67"/>
              <p:cNvSpPr/>
              <p:nvPr/>
            </p:nvSpPr>
            <p:spPr>
              <a:xfrm>
                <a:off x="9705975" y="2197100"/>
                <a:ext cx="63500" cy="47625"/>
              </a:xfrm>
              <a:custGeom>
                <a:avLst/>
                <a:gdLst/>
                <a:ahLst/>
                <a:cxnLst/>
                <a:rect l="l" t="t" r="r" b="b"/>
                <a:pathLst>
                  <a:path w="63500" h="47625">
                    <a:moveTo>
                      <a:pt x="0" y="47625"/>
                    </a:moveTo>
                    <a:lnTo>
                      <a:pt x="0" y="31750"/>
                    </a:lnTo>
                    <a:cubicBezTo>
                      <a:pt x="0" y="14215"/>
                      <a:pt x="14215" y="0"/>
                      <a:pt x="31750" y="0"/>
                    </a:cubicBezTo>
                    <a:lnTo>
                      <a:pt x="63500" y="0"/>
                    </a:lnTo>
                  </a:path>
                </a:pathLst>
              </a:custGeom>
              <a:noFill/>
              <a:ln w="23813">
                <a:solidFill>
                  <a:srgbClr val="FFFFFF"/>
                </a:solidFill>
              </a:ln>
            </p:spPr>
          </p:sp>
        </p:grpSp>
        <p:sp>
          <p:nvSpPr>
            <p:cNvPr id="69" name="TextBox 69"/>
            <p:cNvSpPr txBox="1"/>
            <p:nvPr/>
          </p:nvSpPr>
          <p:spPr>
            <a:xfrm>
              <a:off x="9497746" y="2757964"/>
              <a:ext cx="702208" cy="249364"/>
            </a:xfrm>
            <a:prstGeom prst="rect">
              <a:avLst/>
            </a:prstGeom>
            <a:noFill/>
            <a:ln>
              <a:noFill/>
            </a:ln>
          </p:spPr>
          <p:txBody>
            <a:bodyPr wrap="none" lIns="0" tIns="0" rIns="0" bIns="0" anchor="t" anchorCtr="0">
              <a:spAutoFit/>
            </a:bodyPr>
            <a:lstStyle/>
            <a:p>
              <a:pPr algn="ctr"/>
              <a:r>
                <a:rPr lang="zh-CN" sz="1280" dirty="0">
                  <a:solidFill>
                    <a:srgbClr val="FFFFFF"/>
                  </a:solidFill>
                  <a:latin typeface="+mn-lt"/>
                  <a:ea typeface="+mn-ea"/>
                  <a:cs typeface="+mn-cs"/>
                </a:rPr>
                <a:t>人事外包</a:t>
              </a:r>
            </a:p>
          </p:txBody>
        </p:sp>
        <p:sp>
          <p:nvSpPr>
            <p:cNvPr id="70" name="Freeform 70"/>
            <p:cNvSpPr/>
            <p:nvPr/>
          </p:nvSpPr>
          <p:spPr>
            <a:xfrm rot="5400000">
              <a:off x="9734550" y="3467100"/>
              <a:ext cx="228600" cy="266700"/>
            </a:xfrm>
            <a:prstGeom prst="chevron">
              <a:avLst/>
            </a:prstGeom>
            <a:solidFill>
              <a:srgbClr val="FBAD9D"/>
            </a:solidFill>
            <a:ln>
              <a:noFill/>
            </a:ln>
          </p:spPr>
        </p:sp>
        <p:sp>
          <p:nvSpPr>
            <p:cNvPr id="71" name="Freeform 71"/>
            <p:cNvSpPr/>
            <p:nvPr/>
          </p:nvSpPr>
          <p:spPr>
            <a:xfrm rot="5400000">
              <a:off x="9734550" y="3695700"/>
              <a:ext cx="228600" cy="266700"/>
            </a:xfrm>
            <a:prstGeom prst="chevron">
              <a:avLst/>
            </a:prstGeom>
            <a:solidFill>
              <a:srgbClr val="FBAD9D"/>
            </a:solidFill>
            <a:ln>
              <a:noFill/>
            </a:ln>
          </p:spPr>
        </p:sp>
        <p:sp>
          <p:nvSpPr>
            <p:cNvPr id="72" name="TextBox 72"/>
            <p:cNvSpPr txBox="1"/>
            <p:nvPr/>
          </p:nvSpPr>
          <p:spPr>
            <a:xfrm>
              <a:off x="9056688" y="4371499"/>
              <a:ext cx="1584325" cy="400241"/>
            </a:xfrm>
            <a:prstGeom prst="rect">
              <a:avLst/>
            </a:prstGeom>
            <a:noFill/>
            <a:ln>
              <a:noFill/>
            </a:ln>
          </p:spPr>
          <p:txBody>
            <a:bodyPr wrap="none" lIns="0" tIns="0" rIns="0" bIns="0" anchor="t" anchorCtr="0">
              <a:spAutoFit/>
            </a:bodyPr>
            <a:lstStyle/>
            <a:p>
              <a:pPr algn="ctr">
                <a:lnSpc>
                  <a:spcPts val="1650"/>
                </a:lnSpc>
              </a:pPr>
              <a:r>
                <a:rPr lang="zh-CN" sz="980" dirty="0">
                  <a:solidFill>
                    <a:srgbClr val="3D241F"/>
                  </a:solidFill>
                  <a:latin typeface="+mn-lt"/>
                  <a:ea typeface="+mn-ea"/>
                  <a:cs typeface="+mn-cs"/>
                </a:rPr>
                <a:t>帮助企业HR省去繁琐的工作​</a:t>
              </a:r>
              <a:br/>
              <a:r>
                <a:rPr lang="zh-CN" sz="980" dirty="0">
                  <a:solidFill>
                    <a:srgbClr val="3D241F"/>
                  </a:solidFill>
                  <a:latin typeface="+mn-lt"/>
                  <a:ea typeface="+mn-ea"/>
                  <a:cs typeface="+mn-cs"/>
                </a:rPr>
                <a:t>环节达到高效办公的目的</a:t>
              </a:r>
            </a:p>
          </p:txBody>
        </p:sp>
        <p:sp>
          <p:nvSpPr>
            <p:cNvPr id="73" name="Ellipse 73"/>
            <p:cNvSpPr/>
            <p:nvPr/>
          </p:nvSpPr>
          <p:spPr>
            <a:xfrm>
              <a:off x="8134350" y="5067300"/>
              <a:ext cx="1028700" cy="1028700"/>
            </a:xfrm>
            <a:prstGeom prst="ellipse">
              <a:avLst/>
            </a:prstGeom>
            <a:solidFill>
              <a:srgbClr val="FBD2C9">
                <a:alpha val="60000"/>
              </a:srgbClr>
            </a:solidFill>
            <a:ln>
              <a:noFill/>
            </a:ln>
          </p:spPr>
        </p:sp>
        <p:sp>
          <p:nvSpPr>
            <p:cNvPr id="74" name="Ellipse 74"/>
            <p:cNvSpPr/>
            <p:nvPr/>
          </p:nvSpPr>
          <p:spPr>
            <a:xfrm>
              <a:off x="8210550" y="5143500"/>
              <a:ext cx="876300" cy="876300"/>
            </a:xfrm>
            <a:prstGeom prst="ellipse">
              <a:avLst/>
            </a:prstGeom>
            <a:gradFill>
              <a:gsLst>
                <a:gs pos="0">
                  <a:srgbClr val="FB684A"/>
                </a:gs>
                <a:gs pos="100000">
                  <a:srgbClr val="FA421D"/>
                </a:gs>
              </a:gsLst>
              <a:lin ang="5400000" scaled="1"/>
            </a:gradFill>
            <a:ln>
              <a:noFill/>
            </a:ln>
          </p:spPr>
        </p:sp>
        <p:grpSp>
          <p:nvGrpSpPr>
            <p:cNvPr id="77" name="Group 77"/>
            <p:cNvGrpSpPr/>
            <p:nvPr/>
          </p:nvGrpSpPr>
          <p:grpSpPr>
            <a:xfrm>
              <a:off x="8566150" y="5288756"/>
              <a:ext cx="165099" cy="185737"/>
              <a:chOff x="8566150" y="5288756"/>
              <a:chExt cx="165099" cy="185737"/>
            </a:xfrm>
          </p:grpSpPr>
          <p:sp>
            <p:nvSpPr>
              <p:cNvPr id="75" name="Freeform 75"/>
              <p:cNvSpPr/>
              <p:nvPr/>
            </p:nvSpPr>
            <p:spPr>
              <a:xfrm>
                <a:off x="8607425" y="5288756"/>
                <a:ext cx="82550" cy="51594"/>
              </a:xfrm>
              <a:custGeom>
                <a:avLst/>
                <a:gdLst/>
                <a:ahLst/>
                <a:cxnLst/>
                <a:rect l="l" t="t" r="r" b="b"/>
                <a:pathLst>
                  <a:path w="82550" h="51594">
                    <a:moveTo>
                      <a:pt x="15478" y="0"/>
                    </a:moveTo>
                    <a:lnTo>
                      <a:pt x="67072" y="0"/>
                    </a:lnTo>
                    <a:cubicBezTo>
                      <a:pt x="75620" y="0"/>
                      <a:pt x="82550" y="6930"/>
                      <a:pt x="82550" y="15478"/>
                    </a:cubicBezTo>
                    <a:cubicBezTo>
                      <a:pt x="82550" y="35424"/>
                      <a:pt x="66380" y="51594"/>
                      <a:pt x="46434" y="51594"/>
                    </a:cubicBezTo>
                    <a:lnTo>
                      <a:pt x="36116" y="51594"/>
                    </a:lnTo>
                    <a:cubicBezTo>
                      <a:pt x="16169" y="51594"/>
                      <a:pt x="0" y="35424"/>
                      <a:pt x="0" y="15478"/>
                    </a:cubicBezTo>
                    <a:cubicBezTo>
                      <a:pt x="0" y="6930"/>
                      <a:pt x="6930" y="0"/>
                      <a:pt x="15478" y="0"/>
                    </a:cubicBezTo>
                  </a:path>
                </a:pathLst>
              </a:custGeom>
              <a:noFill/>
              <a:ln w="15478">
                <a:solidFill>
                  <a:srgbClr val="FFFFFF"/>
                </a:solidFill>
              </a:ln>
            </p:spPr>
          </p:sp>
          <p:sp>
            <p:nvSpPr>
              <p:cNvPr id="76" name="Freeform 76"/>
              <p:cNvSpPr/>
              <p:nvPr/>
            </p:nvSpPr>
            <p:spPr>
              <a:xfrm>
                <a:off x="8566150" y="5340350"/>
                <a:ext cx="165099" cy="134143"/>
              </a:xfrm>
              <a:custGeom>
                <a:avLst/>
                <a:gdLst/>
                <a:ahLst/>
                <a:cxnLst/>
                <a:rect l="l" t="t" r="r" b="b"/>
                <a:pathLst>
                  <a:path w="165099" h="134143">
                    <a:moveTo>
                      <a:pt x="0" y="92868"/>
                    </a:moveTo>
                    <a:lnTo>
                      <a:pt x="0" y="82550"/>
                    </a:lnTo>
                    <a:cubicBezTo>
                      <a:pt x="0" y="36959"/>
                      <a:pt x="36959" y="0"/>
                      <a:pt x="82550" y="0"/>
                    </a:cubicBezTo>
                    <a:cubicBezTo>
                      <a:pt x="128141" y="0"/>
                      <a:pt x="165099" y="36959"/>
                      <a:pt x="165099" y="82550"/>
                    </a:cubicBezTo>
                    <a:lnTo>
                      <a:pt x="165099" y="92868"/>
                    </a:lnTo>
                    <a:cubicBezTo>
                      <a:pt x="165099" y="115664"/>
                      <a:pt x="146620" y="134143"/>
                      <a:pt x="123825" y="134143"/>
                    </a:cubicBezTo>
                    <a:lnTo>
                      <a:pt x="41275" y="134143"/>
                    </a:lnTo>
                    <a:cubicBezTo>
                      <a:pt x="18479" y="134143"/>
                      <a:pt x="0" y="115664"/>
                      <a:pt x="0" y="92868"/>
                    </a:cubicBezTo>
                  </a:path>
                </a:pathLst>
              </a:custGeom>
              <a:noFill/>
              <a:ln w="15478">
                <a:solidFill>
                  <a:srgbClr val="FFFFFF"/>
                </a:solidFill>
              </a:ln>
            </p:spPr>
          </p:sp>
        </p:grpSp>
        <p:sp>
          <p:nvSpPr>
            <p:cNvPr id="78" name="TextBox 78"/>
            <p:cNvSpPr txBox="1"/>
            <p:nvPr/>
          </p:nvSpPr>
          <p:spPr>
            <a:xfrm>
              <a:off x="8401622" y="567499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代发工资</a:t>
              </a:r>
            </a:p>
          </p:txBody>
        </p:sp>
        <p:sp>
          <p:nvSpPr>
            <p:cNvPr id="79" name="Ellipse 79"/>
            <p:cNvSpPr/>
            <p:nvPr/>
          </p:nvSpPr>
          <p:spPr>
            <a:xfrm>
              <a:off x="9334500" y="5067300"/>
              <a:ext cx="1028700" cy="1028700"/>
            </a:xfrm>
            <a:prstGeom prst="ellipse">
              <a:avLst/>
            </a:prstGeom>
            <a:solidFill>
              <a:srgbClr val="FBD2C9">
                <a:alpha val="60000"/>
              </a:srgbClr>
            </a:solidFill>
            <a:ln>
              <a:noFill/>
            </a:ln>
          </p:spPr>
        </p:sp>
        <p:sp>
          <p:nvSpPr>
            <p:cNvPr id="80" name="Ellipse 80"/>
            <p:cNvSpPr/>
            <p:nvPr/>
          </p:nvSpPr>
          <p:spPr>
            <a:xfrm>
              <a:off x="9410700" y="5143500"/>
              <a:ext cx="876300" cy="876300"/>
            </a:xfrm>
            <a:prstGeom prst="ellipse">
              <a:avLst/>
            </a:prstGeom>
            <a:gradFill>
              <a:gsLst>
                <a:gs pos="0">
                  <a:srgbClr val="FB684A"/>
                </a:gs>
                <a:gs pos="100000">
                  <a:srgbClr val="FA421D"/>
                </a:gs>
              </a:gsLst>
              <a:lin ang="5400000" scaled="1"/>
            </a:gradFill>
            <a:ln>
              <a:noFill/>
            </a:ln>
          </p:spPr>
        </p:sp>
        <p:grpSp>
          <p:nvGrpSpPr>
            <p:cNvPr id="83" name="Group 83"/>
            <p:cNvGrpSpPr/>
            <p:nvPr/>
          </p:nvGrpSpPr>
          <p:grpSpPr>
            <a:xfrm>
              <a:off x="9742056" y="5288756"/>
              <a:ext cx="201506" cy="185737"/>
              <a:chOff x="9742056" y="5288756"/>
              <a:chExt cx="201506" cy="185737"/>
            </a:xfrm>
          </p:grpSpPr>
          <p:sp>
            <p:nvSpPr>
              <p:cNvPr id="81" name="Freeform 81"/>
              <p:cNvSpPr/>
              <p:nvPr/>
            </p:nvSpPr>
            <p:spPr>
              <a:xfrm>
                <a:off x="9742056" y="5288756"/>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15478">
                <a:solidFill>
                  <a:srgbClr val="FFFFFF"/>
                </a:solidFill>
              </a:ln>
            </p:spPr>
          </p:sp>
          <p:sp>
            <p:nvSpPr>
              <p:cNvPr id="82" name="Freeform 82"/>
              <p:cNvSpPr/>
              <p:nvPr/>
            </p:nvSpPr>
            <p:spPr>
              <a:xfrm>
                <a:off x="9879806" y="5433218"/>
                <a:ext cx="61912" cy="41275"/>
              </a:xfrm>
              <a:custGeom>
                <a:avLst/>
                <a:gdLst/>
                <a:ahLst/>
                <a:cxnLst/>
                <a:rect l="l" t="t" r="r" b="b"/>
                <a:pathLst>
                  <a:path w="61912" h="41275">
                    <a:moveTo>
                      <a:pt x="0" y="20637"/>
                    </a:moveTo>
                    <a:lnTo>
                      <a:pt x="20637" y="41275"/>
                    </a:lnTo>
                    <a:lnTo>
                      <a:pt x="61912" y="0"/>
                    </a:lnTo>
                  </a:path>
                </a:pathLst>
              </a:custGeom>
              <a:noFill/>
              <a:ln w="15478">
                <a:solidFill>
                  <a:srgbClr val="FFFFFF"/>
                </a:solidFill>
              </a:ln>
            </p:spPr>
          </p:sp>
        </p:grpSp>
        <p:sp>
          <p:nvSpPr>
            <p:cNvPr id="84" name="TextBox 84"/>
            <p:cNvSpPr txBox="1"/>
            <p:nvPr/>
          </p:nvSpPr>
          <p:spPr>
            <a:xfrm>
              <a:off x="9601772" y="567499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代缴社保</a:t>
              </a:r>
            </a:p>
          </p:txBody>
        </p:sp>
        <p:sp>
          <p:nvSpPr>
            <p:cNvPr id="85" name="Ellipse 85"/>
            <p:cNvSpPr/>
            <p:nvPr/>
          </p:nvSpPr>
          <p:spPr>
            <a:xfrm>
              <a:off x="10534650" y="5067300"/>
              <a:ext cx="1028700" cy="1028700"/>
            </a:xfrm>
            <a:prstGeom prst="ellipse">
              <a:avLst/>
            </a:prstGeom>
            <a:solidFill>
              <a:srgbClr val="FBD2C9">
                <a:alpha val="60000"/>
              </a:srgbClr>
            </a:solidFill>
            <a:ln>
              <a:noFill/>
            </a:ln>
          </p:spPr>
        </p:sp>
        <p:sp>
          <p:nvSpPr>
            <p:cNvPr id="86" name="Ellipse 86"/>
            <p:cNvSpPr/>
            <p:nvPr/>
          </p:nvSpPr>
          <p:spPr>
            <a:xfrm>
              <a:off x="10610850" y="5143500"/>
              <a:ext cx="876300" cy="876300"/>
            </a:xfrm>
            <a:prstGeom prst="ellipse">
              <a:avLst/>
            </a:prstGeom>
            <a:gradFill>
              <a:gsLst>
                <a:gs pos="0">
                  <a:srgbClr val="FB684A"/>
                </a:gs>
                <a:gs pos="100000">
                  <a:srgbClr val="FA421D"/>
                </a:gs>
              </a:gsLst>
              <a:lin ang="5400000" scaled="1"/>
            </a:gradFill>
            <a:ln>
              <a:noFill/>
            </a:ln>
          </p:spPr>
        </p:sp>
        <p:grpSp>
          <p:nvGrpSpPr>
            <p:cNvPr id="91" name="Group 91"/>
            <p:cNvGrpSpPr/>
            <p:nvPr/>
          </p:nvGrpSpPr>
          <p:grpSpPr>
            <a:xfrm>
              <a:off x="10976769" y="5288756"/>
              <a:ext cx="144462" cy="185737"/>
              <a:chOff x="10976769" y="5288756"/>
              <a:chExt cx="144462" cy="185737"/>
            </a:xfrm>
          </p:grpSpPr>
          <p:sp>
            <p:nvSpPr>
              <p:cNvPr id="87" name="Freeform 87"/>
              <p:cNvSpPr/>
              <p:nvPr/>
            </p:nvSpPr>
            <p:spPr>
              <a:xfrm>
                <a:off x="11018043" y="5340350"/>
                <a:ext cx="61912" cy="61912"/>
              </a:xfrm>
              <a:custGeom>
                <a:avLst/>
                <a:gdLst/>
                <a:ahLst/>
                <a:cxnLst/>
                <a:rect l="l" t="t" r="r" b="b"/>
                <a:pathLst>
                  <a:path w="61912" h="61912">
                    <a:moveTo>
                      <a:pt x="0" y="61912"/>
                    </a:moveTo>
                    <a:lnTo>
                      <a:pt x="61912" y="0"/>
                    </a:lnTo>
                  </a:path>
                </a:pathLst>
              </a:custGeom>
              <a:noFill/>
              <a:ln w="15478">
                <a:solidFill>
                  <a:srgbClr val="FFFFFF"/>
                </a:solidFill>
              </a:ln>
            </p:spPr>
          </p:sp>
          <p:sp>
            <p:nvSpPr>
              <p:cNvPr id="88" name="Freeform 88"/>
              <p:cNvSpPr/>
              <p:nvPr/>
            </p:nvSpPr>
            <p:spPr>
              <a:xfrm>
                <a:off x="11018043" y="5340350"/>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5478">
                <a:solidFill>
                  <a:srgbClr val="FFFFFF"/>
                </a:solidFill>
              </a:ln>
            </p:spPr>
          </p:sp>
          <p:sp>
            <p:nvSpPr>
              <p:cNvPr id="89" name="Freeform 89"/>
              <p:cNvSpPr/>
              <p:nvPr/>
            </p:nvSpPr>
            <p:spPr>
              <a:xfrm>
                <a:off x="11069637" y="5391943"/>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5478">
                <a:solidFill>
                  <a:srgbClr val="FFFFFF"/>
                </a:solidFill>
              </a:ln>
            </p:spPr>
          </p:sp>
          <p:sp>
            <p:nvSpPr>
              <p:cNvPr id="90" name="Freeform 90"/>
              <p:cNvSpPr/>
              <p:nvPr/>
            </p:nvSpPr>
            <p:spPr>
              <a:xfrm>
                <a:off x="10976769" y="5288756"/>
                <a:ext cx="144462" cy="185737"/>
              </a:xfrm>
              <a:custGeom>
                <a:avLst/>
                <a:gdLst/>
                <a:ahLst/>
                <a:cxnLst/>
                <a:rect l="l" t="t" r="r" b="b"/>
                <a:pathLst>
                  <a:path w="144462" h="185737">
                    <a:moveTo>
                      <a:pt x="0" y="185737"/>
                    </a:moveTo>
                    <a:lnTo>
                      <a:pt x="0" y="20637"/>
                    </a:lnTo>
                    <a:cubicBezTo>
                      <a:pt x="0" y="9240"/>
                      <a:pt x="9240" y="0"/>
                      <a:pt x="20637" y="0"/>
                    </a:cubicBezTo>
                    <a:lnTo>
                      <a:pt x="123825" y="0"/>
                    </a:lnTo>
                    <a:cubicBezTo>
                      <a:pt x="135222" y="0"/>
                      <a:pt x="144462" y="9240"/>
                      <a:pt x="144462" y="20637"/>
                    </a:cubicBezTo>
                    <a:lnTo>
                      <a:pt x="144462" y="185737"/>
                    </a:lnTo>
                    <a:lnTo>
                      <a:pt x="113506" y="165099"/>
                    </a:lnTo>
                    <a:lnTo>
                      <a:pt x="92868" y="185737"/>
                    </a:lnTo>
                    <a:lnTo>
                      <a:pt x="72231" y="165099"/>
                    </a:lnTo>
                    <a:lnTo>
                      <a:pt x="51594" y="185737"/>
                    </a:lnTo>
                    <a:lnTo>
                      <a:pt x="30956" y="165099"/>
                    </a:lnTo>
                    <a:lnTo>
                      <a:pt x="0" y="185737"/>
                    </a:lnTo>
                  </a:path>
                </a:pathLst>
              </a:custGeom>
              <a:noFill/>
              <a:ln w="15478">
                <a:solidFill>
                  <a:srgbClr val="FFFFFF"/>
                </a:solidFill>
              </a:ln>
            </p:spPr>
          </p:sp>
        </p:grpSp>
        <p:sp>
          <p:nvSpPr>
            <p:cNvPr id="92" name="TextBox 92"/>
            <p:cNvSpPr txBox="1"/>
            <p:nvPr/>
          </p:nvSpPr>
          <p:spPr>
            <a:xfrm>
              <a:off x="10801922" y="5674995"/>
              <a:ext cx="494157" cy="176212"/>
            </a:xfrm>
            <a:prstGeom prst="rect">
              <a:avLst/>
            </a:prstGeom>
            <a:noFill/>
            <a:ln>
              <a:noFill/>
            </a:ln>
          </p:spPr>
          <p:txBody>
            <a:bodyPr wrap="none" lIns="0" tIns="0" rIns="0" bIns="0" anchor="t" anchorCtr="0">
              <a:spAutoFit/>
            </a:bodyPr>
            <a:lstStyle/>
            <a:p>
              <a:pPr algn="ctr"/>
              <a:r>
                <a:rPr lang="zh-CN" sz="900" dirty="0">
                  <a:solidFill>
                    <a:srgbClr val="FFFFFF"/>
                  </a:solidFill>
                  <a:latin typeface="+mn-lt"/>
                  <a:ea typeface="+mn-ea"/>
                  <a:cs typeface="+mn-cs"/>
                </a:rPr>
                <a:t>个税申报</a:t>
              </a:r>
            </a:p>
          </p:txBody>
        </p:sp>
      </p:gr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links-top"/>
          <p:cNvSpPr/>
          <p:nvPr/>
        </p:nvSpPr>
        <p:spPr>
          <a:xfrm>
            <a:off x="2190750" y="2686050"/>
            <a:ext cx="7810500" cy="152400"/>
          </a:xfrm>
          <a:custGeom>
            <a:avLst/>
            <a:gdLst/>
            <a:ahLst/>
            <a:cxnLst/>
            <a:rect l="l" t="t" r="r" b="b"/>
            <a:pathLst>
              <a:path w="7810500" h="152400">
                <a:moveTo>
                  <a:pt x="3905250" y="0"/>
                </a:moveTo>
                <a:lnTo>
                  <a:pt x="3905250" y="76200"/>
                </a:lnTo>
                <a:moveTo>
                  <a:pt x="0" y="76200"/>
                </a:moveTo>
                <a:lnTo>
                  <a:pt x="7810500" y="76200"/>
                </a:lnTo>
                <a:moveTo>
                  <a:pt x="0" y="76200"/>
                </a:moveTo>
                <a:lnTo>
                  <a:pt x="0" y="152400"/>
                </a:lnTo>
                <a:moveTo>
                  <a:pt x="2667000" y="76200"/>
                </a:moveTo>
                <a:lnTo>
                  <a:pt x="2667000" y="152400"/>
                </a:lnTo>
                <a:moveTo>
                  <a:pt x="5143500" y="76200"/>
                </a:moveTo>
                <a:lnTo>
                  <a:pt x="5143500" y="152400"/>
                </a:lnTo>
                <a:moveTo>
                  <a:pt x="7810500" y="76200"/>
                </a:moveTo>
                <a:lnTo>
                  <a:pt x="7810500" y="152400"/>
                </a:lnTo>
              </a:path>
            </a:pathLst>
          </a:custGeom>
          <a:noFill/>
          <a:ln w="14288">
            <a:solidFill>
              <a:srgbClr val="FDA28F"/>
            </a:solidFill>
          </a:ln>
        </p:spPr>
      </p:sp>
      <p:sp>
        <p:nvSpPr>
          <p:cNvPr id="3" name="deco-links-servers"/>
          <p:cNvSpPr/>
          <p:nvPr/>
        </p:nvSpPr>
        <p:spPr>
          <a:xfrm>
            <a:off x="1352550" y="4400550"/>
            <a:ext cx="9486900" cy="838200"/>
          </a:xfrm>
          <a:custGeom>
            <a:avLst/>
            <a:gdLst/>
            <a:ahLst/>
            <a:cxnLst/>
            <a:rect l="l" t="t" r="r" b="b"/>
            <a:pathLst>
              <a:path w="9486900" h="838200">
                <a:moveTo>
                  <a:pt x="838200" y="0"/>
                </a:moveTo>
                <a:lnTo>
                  <a:pt x="838200" y="504825"/>
                </a:lnTo>
                <a:moveTo>
                  <a:pt x="0" y="504825"/>
                </a:moveTo>
                <a:lnTo>
                  <a:pt x="1676400" y="504825"/>
                </a:lnTo>
                <a:moveTo>
                  <a:pt x="0" y="504825"/>
                </a:moveTo>
                <a:lnTo>
                  <a:pt x="0" y="838200"/>
                </a:lnTo>
                <a:moveTo>
                  <a:pt x="1676400" y="504825"/>
                </a:moveTo>
                <a:lnTo>
                  <a:pt x="1676400" y="838200"/>
                </a:lnTo>
                <a:moveTo>
                  <a:pt x="3505200" y="0"/>
                </a:moveTo>
                <a:lnTo>
                  <a:pt x="3505200" y="838200"/>
                </a:lnTo>
                <a:moveTo>
                  <a:pt x="5981700" y="0"/>
                </a:moveTo>
                <a:lnTo>
                  <a:pt x="5981700" y="838200"/>
                </a:lnTo>
                <a:moveTo>
                  <a:pt x="8648700" y="0"/>
                </a:moveTo>
                <a:lnTo>
                  <a:pt x="8648700" y="504825"/>
                </a:lnTo>
                <a:moveTo>
                  <a:pt x="7810500" y="504825"/>
                </a:moveTo>
                <a:lnTo>
                  <a:pt x="9486900" y="504825"/>
                </a:lnTo>
                <a:moveTo>
                  <a:pt x="7810500" y="504825"/>
                </a:moveTo>
                <a:lnTo>
                  <a:pt x="7810500" y="838200"/>
                </a:lnTo>
                <a:moveTo>
                  <a:pt x="9486900" y="504825"/>
                </a:moveTo>
                <a:lnTo>
                  <a:pt x="9486900" y="838200"/>
                </a:lnTo>
              </a:path>
            </a:pathLst>
          </a:custGeom>
          <a:noFill/>
          <a:ln w="14288">
            <a:solidFill>
              <a:srgbClr val="FDA28F"/>
            </a:solidFill>
          </a:ln>
        </p:spPr>
      </p:sp>
      <p:grpSp>
        <p:nvGrpSpPr>
          <p:cNvPr id="8" name="header"/>
          <p:cNvGrpSpPr/>
          <p:nvPr/>
        </p:nvGrpSpPr>
        <p:grpSpPr>
          <a:xfrm>
            <a:off x="0" y="0"/>
            <a:ext cx="12192000" cy="551879"/>
            <a:chOff x="0" y="0"/>
            <a:chExt cx="12192000" cy="551879"/>
          </a:xfrm>
        </p:grpSpPr>
        <p:sp>
          <p:nvSpPr>
            <p:cNvPr id="4" name="Polygon 4"/>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5" name="TextBox 5"/>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26</a:t>
              </a:r>
            </a:p>
          </p:txBody>
        </p:sp>
        <p:sp>
          <p:nvSpPr>
            <p:cNvPr id="6" name="TextBox 6"/>
            <p:cNvSpPr txBox="1"/>
            <p:nvPr/>
          </p:nvSpPr>
          <p:spPr>
            <a:xfrm>
              <a:off x="904494" y="170498"/>
              <a:ext cx="1069848"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产品架构</a:t>
              </a:r>
            </a:p>
          </p:txBody>
        </p:sp>
        <p:sp>
          <p:nvSpPr>
            <p:cNvPr id="7" name="Line 7"/>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2" name="workstation"/>
          <p:cNvGrpSpPr/>
          <p:nvPr/>
        </p:nvGrpSpPr>
        <p:grpSpPr>
          <a:xfrm>
            <a:off x="5337810" y="933450"/>
            <a:ext cx="1634966" cy="1752600"/>
            <a:chOff x="5337810" y="933450"/>
            <a:chExt cx="1634966" cy="1752600"/>
          </a:xfrm>
        </p:grpSpPr>
        <p:sp>
          <p:nvSpPr>
            <p:cNvPr id="9" name="Freeform 9"/>
            <p:cNvSpPr/>
            <p:nvPr/>
          </p:nvSpPr>
          <p:spPr>
            <a:xfrm rot="5400000">
              <a:off x="5220176" y="1051084"/>
              <a:ext cx="1752600" cy="1517332"/>
            </a:xfrm>
            <a:prstGeom prst="hexagon">
              <a:avLst/>
            </a:prstGeom>
            <a:solidFill>
              <a:srgbClr val="DCE9FC"/>
            </a:solidFill>
            <a:ln>
              <a:noFill/>
            </a:ln>
          </p:spPr>
        </p:sp>
        <p:sp>
          <p:nvSpPr>
            <p:cNvPr id="10" name="Freeform 10"/>
            <p:cNvSpPr/>
            <p:nvPr/>
          </p:nvSpPr>
          <p:spPr>
            <a:xfrm rot="5400000">
              <a:off x="5334000" y="1149668"/>
              <a:ext cx="1524000" cy="1320165"/>
            </a:xfrm>
            <a:prstGeom prst="hexagon">
              <a:avLst/>
            </a:prstGeom>
            <a:solidFill>
              <a:srgbClr val="FA421D"/>
            </a:solidFill>
            <a:ln>
              <a:noFill/>
            </a:ln>
          </p:spPr>
        </p:sp>
        <p:sp>
          <p:nvSpPr>
            <p:cNvPr id="11" name="TextBox 11"/>
            <p:cNvSpPr txBox="1"/>
            <p:nvPr/>
          </p:nvSpPr>
          <p:spPr>
            <a:xfrm>
              <a:off x="5754434" y="1707832"/>
              <a:ext cx="683133"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工作站</a:t>
              </a:r>
            </a:p>
          </p:txBody>
        </p:sp>
      </p:grpSp>
      <p:grpSp>
        <p:nvGrpSpPr>
          <p:cNvPr id="25" name="servers-row"/>
          <p:cNvGrpSpPr/>
          <p:nvPr/>
        </p:nvGrpSpPr>
        <p:grpSpPr>
          <a:xfrm>
            <a:off x="1514475" y="2838450"/>
            <a:ext cx="9267825" cy="1562100"/>
            <a:chOff x="1514475" y="2838450"/>
            <a:chExt cx="9267825" cy="1562100"/>
          </a:xfrm>
        </p:grpSpPr>
        <p:sp>
          <p:nvSpPr>
            <p:cNvPr id="13" name="Freeform 13"/>
            <p:cNvSpPr/>
            <p:nvPr/>
          </p:nvSpPr>
          <p:spPr>
            <a:xfrm rot="5400000">
              <a:off x="1409700" y="2943225"/>
              <a:ext cx="1562100" cy="1352550"/>
            </a:xfrm>
            <a:prstGeom prst="hexagon">
              <a:avLst/>
            </a:prstGeom>
            <a:solidFill>
              <a:srgbClr val="DCE9FC"/>
            </a:solidFill>
            <a:ln>
              <a:noFill/>
            </a:ln>
          </p:spPr>
        </p:sp>
        <p:sp>
          <p:nvSpPr>
            <p:cNvPr id="14" name="Freeform 14"/>
            <p:cNvSpPr/>
            <p:nvPr/>
          </p:nvSpPr>
          <p:spPr>
            <a:xfrm rot="5400000">
              <a:off x="1505426" y="3025616"/>
              <a:ext cx="1371600" cy="1187768"/>
            </a:xfrm>
            <a:prstGeom prst="hexagon">
              <a:avLst/>
            </a:prstGeom>
            <a:solidFill>
              <a:srgbClr val="FA421D"/>
            </a:solidFill>
            <a:ln>
              <a:noFill/>
            </a:ln>
          </p:spPr>
        </p:sp>
        <p:sp>
          <p:nvSpPr>
            <p:cNvPr id="15" name="TextBox 15"/>
            <p:cNvSpPr txBox="1"/>
            <p:nvPr/>
          </p:nvSpPr>
          <p:spPr>
            <a:xfrm>
              <a:off x="1880235" y="3524250"/>
              <a:ext cx="621030" cy="293370"/>
            </a:xfrm>
            <a:prstGeom prst="rect">
              <a:avLst/>
            </a:prstGeom>
            <a:noFill/>
            <a:ln>
              <a:noFill/>
            </a:ln>
          </p:spPr>
          <p:txBody>
            <a:bodyPr wrap="none" lIns="0" tIns="0" rIns="0" bIns="0" anchor="t" anchorCtr="0">
              <a:spAutoFit/>
            </a:bodyPr>
            <a:lstStyle/>
            <a:p>
              <a:pPr algn="ctr"/>
              <a:r>
                <a:rPr lang="zh-CN" sz="1500" dirty="0">
                  <a:solidFill>
                    <a:srgbClr val="FFFFFF"/>
                  </a:solidFill>
                  <a:latin typeface="+mn-lt"/>
                  <a:ea typeface="+mn-ea"/>
                  <a:cs typeface="+mn-cs"/>
                </a:rPr>
                <a:t>服务器</a:t>
              </a:r>
            </a:p>
          </p:txBody>
        </p:sp>
        <p:sp>
          <p:nvSpPr>
            <p:cNvPr id="16" name="Freeform 16"/>
            <p:cNvSpPr/>
            <p:nvPr/>
          </p:nvSpPr>
          <p:spPr>
            <a:xfrm rot="5400000">
              <a:off x="4076700" y="2943225"/>
              <a:ext cx="1562100" cy="1352550"/>
            </a:xfrm>
            <a:prstGeom prst="hexagon">
              <a:avLst/>
            </a:prstGeom>
            <a:solidFill>
              <a:srgbClr val="DCE9FC"/>
            </a:solidFill>
            <a:ln>
              <a:noFill/>
            </a:ln>
          </p:spPr>
        </p:sp>
        <p:sp>
          <p:nvSpPr>
            <p:cNvPr id="17" name="Freeform 17"/>
            <p:cNvSpPr/>
            <p:nvPr/>
          </p:nvSpPr>
          <p:spPr>
            <a:xfrm rot="5400000">
              <a:off x="4172426" y="3025616"/>
              <a:ext cx="1371600" cy="1187768"/>
            </a:xfrm>
            <a:prstGeom prst="hexagon">
              <a:avLst/>
            </a:prstGeom>
            <a:solidFill>
              <a:srgbClr val="FA421D"/>
            </a:solidFill>
            <a:ln>
              <a:noFill/>
            </a:ln>
          </p:spPr>
        </p:sp>
        <p:sp>
          <p:nvSpPr>
            <p:cNvPr id="18" name="TextBox 18"/>
            <p:cNvSpPr txBox="1"/>
            <p:nvPr/>
          </p:nvSpPr>
          <p:spPr>
            <a:xfrm>
              <a:off x="4547235" y="3524250"/>
              <a:ext cx="621030" cy="293370"/>
            </a:xfrm>
            <a:prstGeom prst="rect">
              <a:avLst/>
            </a:prstGeom>
            <a:noFill/>
            <a:ln>
              <a:noFill/>
            </a:ln>
          </p:spPr>
          <p:txBody>
            <a:bodyPr wrap="none" lIns="0" tIns="0" rIns="0" bIns="0" anchor="t" anchorCtr="0">
              <a:spAutoFit/>
            </a:bodyPr>
            <a:lstStyle/>
            <a:p>
              <a:pPr algn="ctr"/>
              <a:r>
                <a:rPr lang="zh-CN" sz="1500" dirty="0">
                  <a:solidFill>
                    <a:srgbClr val="FFFFFF"/>
                  </a:solidFill>
                  <a:latin typeface="+mn-lt"/>
                  <a:ea typeface="+mn-ea"/>
                  <a:cs typeface="+mn-cs"/>
                </a:rPr>
                <a:t>服务器</a:t>
              </a:r>
            </a:p>
          </p:txBody>
        </p:sp>
        <p:sp>
          <p:nvSpPr>
            <p:cNvPr id="19" name="Freeform 19"/>
            <p:cNvSpPr/>
            <p:nvPr/>
          </p:nvSpPr>
          <p:spPr>
            <a:xfrm rot="5400000">
              <a:off x="6553200" y="2943225"/>
              <a:ext cx="1562100" cy="1352550"/>
            </a:xfrm>
            <a:prstGeom prst="hexagon">
              <a:avLst/>
            </a:prstGeom>
            <a:solidFill>
              <a:srgbClr val="DCE9FC"/>
            </a:solidFill>
            <a:ln>
              <a:noFill/>
            </a:ln>
          </p:spPr>
        </p:sp>
        <p:sp>
          <p:nvSpPr>
            <p:cNvPr id="20" name="Freeform 20"/>
            <p:cNvSpPr/>
            <p:nvPr/>
          </p:nvSpPr>
          <p:spPr>
            <a:xfrm rot="5400000">
              <a:off x="6648926" y="3025616"/>
              <a:ext cx="1371600" cy="1187768"/>
            </a:xfrm>
            <a:prstGeom prst="hexagon">
              <a:avLst/>
            </a:prstGeom>
            <a:solidFill>
              <a:srgbClr val="FA421D"/>
            </a:solidFill>
            <a:ln>
              <a:noFill/>
            </a:ln>
          </p:spPr>
        </p:sp>
        <p:sp>
          <p:nvSpPr>
            <p:cNvPr id="21" name="TextBox 21"/>
            <p:cNvSpPr txBox="1"/>
            <p:nvPr/>
          </p:nvSpPr>
          <p:spPr>
            <a:xfrm>
              <a:off x="7023735" y="3524250"/>
              <a:ext cx="621030" cy="293370"/>
            </a:xfrm>
            <a:prstGeom prst="rect">
              <a:avLst/>
            </a:prstGeom>
            <a:noFill/>
            <a:ln>
              <a:noFill/>
            </a:ln>
          </p:spPr>
          <p:txBody>
            <a:bodyPr wrap="none" lIns="0" tIns="0" rIns="0" bIns="0" anchor="t" anchorCtr="0">
              <a:spAutoFit/>
            </a:bodyPr>
            <a:lstStyle/>
            <a:p>
              <a:pPr algn="ctr"/>
              <a:r>
                <a:rPr lang="zh-CN" sz="1500" dirty="0">
                  <a:solidFill>
                    <a:srgbClr val="FFFFFF"/>
                  </a:solidFill>
                  <a:latin typeface="+mn-lt"/>
                  <a:ea typeface="+mn-ea"/>
                  <a:cs typeface="+mn-cs"/>
                </a:rPr>
                <a:t>服务器</a:t>
              </a:r>
            </a:p>
          </p:txBody>
        </p:sp>
        <p:sp>
          <p:nvSpPr>
            <p:cNvPr id="22" name="Freeform 22"/>
            <p:cNvSpPr/>
            <p:nvPr/>
          </p:nvSpPr>
          <p:spPr>
            <a:xfrm rot="5400000">
              <a:off x="9220200" y="2943225"/>
              <a:ext cx="1562100" cy="1352550"/>
            </a:xfrm>
            <a:prstGeom prst="hexagon">
              <a:avLst/>
            </a:prstGeom>
            <a:solidFill>
              <a:srgbClr val="DCE9FC"/>
            </a:solidFill>
            <a:ln>
              <a:noFill/>
            </a:ln>
          </p:spPr>
        </p:sp>
        <p:sp>
          <p:nvSpPr>
            <p:cNvPr id="23" name="Freeform 23"/>
            <p:cNvSpPr/>
            <p:nvPr/>
          </p:nvSpPr>
          <p:spPr>
            <a:xfrm rot="5400000">
              <a:off x="9315926" y="3025616"/>
              <a:ext cx="1371600" cy="1187768"/>
            </a:xfrm>
            <a:prstGeom prst="hexagon">
              <a:avLst/>
            </a:prstGeom>
            <a:solidFill>
              <a:srgbClr val="FA421D"/>
            </a:solidFill>
            <a:ln>
              <a:noFill/>
            </a:ln>
          </p:spPr>
        </p:sp>
        <p:sp>
          <p:nvSpPr>
            <p:cNvPr id="24" name="TextBox 24"/>
            <p:cNvSpPr txBox="1"/>
            <p:nvPr/>
          </p:nvSpPr>
          <p:spPr>
            <a:xfrm>
              <a:off x="9690735" y="3524250"/>
              <a:ext cx="621030" cy="293370"/>
            </a:xfrm>
            <a:prstGeom prst="rect">
              <a:avLst/>
            </a:prstGeom>
            <a:noFill/>
            <a:ln>
              <a:noFill/>
            </a:ln>
          </p:spPr>
          <p:txBody>
            <a:bodyPr wrap="none" lIns="0" tIns="0" rIns="0" bIns="0" anchor="t" anchorCtr="0">
              <a:spAutoFit/>
            </a:bodyPr>
            <a:lstStyle/>
            <a:p>
              <a:pPr algn="ctr"/>
              <a:r>
                <a:rPr lang="zh-CN" sz="1500" dirty="0">
                  <a:solidFill>
                    <a:srgbClr val="FFFFFF"/>
                  </a:solidFill>
                  <a:latin typeface="+mn-lt"/>
                  <a:ea typeface="+mn-ea"/>
                  <a:cs typeface="+mn-cs"/>
                </a:rPr>
                <a:t>服务器</a:t>
              </a:r>
            </a:p>
          </p:txBody>
        </p:sp>
      </p:grpSp>
      <p:grpSp>
        <p:nvGrpSpPr>
          <p:cNvPr id="38" name="leaves-row"/>
          <p:cNvGrpSpPr/>
          <p:nvPr/>
        </p:nvGrpSpPr>
        <p:grpSpPr>
          <a:xfrm>
            <a:off x="940117" y="5238750"/>
            <a:ext cx="10375583" cy="952500"/>
            <a:chOff x="940117" y="5238750"/>
            <a:chExt cx="10375583" cy="952500"/>
          </a:xfrm>
        </p:grpSpPr>
        <p:sp>
          <p:nvSpPr>
            <p:cNvPr id="26" name="Freeform 26"/>
            <p:cNvSpPr/>
            <p:nvPr/>
          </p:nvSpPr>
          <p:spPr>
            <a:xfrm rot="5400000">
              <a:off x="876300" y="5302568"/>
              <a:ext cx="952500" cy="824865"/>
            </a:xfrm>
            <a:prstGeom prst="hexagon">
              <a:avLst/>
            </a:prstGeom>
            <a:solidFill>
              <a:srgbClr val="FCC4B9"/>
            </a:solidFill>
            <a:ln>
              <a:noFill/>
            </a:ln>
          </p:spPr>
        </p:sp>
        <p:sp>
          <p:nvSpPr>
            <p:cNvPr id="27" name="TextBox 27"/>
            <p:cNvSpPr txBox="1"/>
            <p:nvPr/>
          </p:nvSpPr>
          <p:spPr>
            <a:xfrm>
              <a:off x="1135190" y="5649278"/>
              <a:ext cx="434721" cy="205359"/>
            </a:xfrm>
            <a:prstGeom prst="rect">
              <a:avLst/>
            </a:prstGeom>
            <a:noFill/>
            <a:ln>
              <a:noFill/>
            </a:ln>
          </p:spPr>
          <p:txBody>
            <a:bodyPr wrap="none" lIns="0" tIns="0" rIns="0" bIns="0" anchor="t" anchorCtr="0">
              <a:spAutoFit/>
            </a:bodyPr>
            <a:lstStyle/>
            <a:p>
              <a:pPr algn="ctr"/>
              <a:r>
                <a:rPr lang="zh-CN" sz="1050" dirty="0">
                  <a:solidFill>
                    <a:srgbClr val="D03B1D"/>
                  </a:solidFill>
                  <a:latin typeface="+mn-lt"/>
                  <a:ea typeface="+mn-ea"/>
                  <a:cs typeface="+mn-cs"/>
                </a:rPr>
                <a:t>流媒体</a:t>
              </a:r>
            </a:p>
          </p:txBody>
        </p:sp>
        <p:sp>
          <p:nvSpPr>
            <p:cNvPr id="28" name="Freeform 28"/>
            <p:cNvSpPr/>
            <p:nvPr/>
          </p:nvSpPr>
          <p:spPr>
            <a:xfrm rot="5400000">
              <a:off x="2552700" y="5302568"/>
              <a:ext cx="952500" cy="824865"/>
            </a:xfrm>
            <a:prstGeom prst="hexagon">
              <a:avLst/>
            </a:prstGeom>
            <a:solidFill>
              <a:srgbClr val="FCC4B9"/>
            </a:solidFill>
            <a:ln>
              <a:noFill/>
            </a:ln>
          </p:spPr>
        </p:sp>
        <p:sp>
          <p:nvSpPr>
            <p:cNvPr id="29" name="TextBox 29"/>
            <p:cNvSpPr txBox="1"/>
            <p:nvPr/>
          </p:nvSpPr>
          <p:spPr>
            <a:xfrm>
              <a:off x="2859329" y="5649278"/>
              <a:ext cx="339242" cy="205359"/>
            </a:xfrm>
            <a:prstGeom prst="rect">
              <a:avLst/>
            </a:prstGeom>
            <a:noFill/>
            <a:ln>
              <a:noFill/>
            </a:ln>
          </p:spPr>
          <p:txBody>
            <a:bodyPr wrap="none" lIns="0" tIns="0" rIns="0" bIns="0" anchor="t" anchorCtr="0">
              <a:spAutoFit/>
            </a:bodyPr>
            <a:lstStyle/>
            <a:p>
              <a:pPr algn="ctr"/>
              <a:r>
                <a:rPr lang="en-US" sz="1050" dirty="0">
                  <a:solidFill>
                    <a:srgbClr val="D03B1D"/>
                  </a:solidFill>
                  <a:latin typeface="+mn-lt"/>
                  <a:ea typeface="+mn-ea"/>
                  <a:cs typeface="+mn-cs"/>
                </a:rPr>
                <a:t>CRE​</a:t>
              </a:r>
            </a:p>
          </p:txBody>
        </p:sp>
        <p:sp>
          <p:nvSpPr>
            <p:cNvPr id="30" name="Freeform 30"/>
            <p:cNvSpPr/>
            <p:nvPr/>
          </p:nvSpPr>
          <p:spPr>
            <a:xfrm rot="5400000">
              <a:off x="4381500" y="5302568"/>
              <a:ext cx="952500" cy="824865"/>
            </a:xfrm>
            <a:prstGeom prst="hexagon">
              <a:avLst/>
            </a:prstGeom>
            <a:solidFill>
              <a:srgbClr val="FCC4B9"/>
            </a:solidFill>
            <a:ln>
              <a:noFill/>
            </a:ln>
          </p:spPr>
        </p:sp>
        <p:sp>
          <p:nvSpPr>
            <p:cNvPr id="31" name="TextBox 31"/>
            <p:cNvSpPr txBox="1"/>
            <p:nvPr/>
          </p:nvSpPr>
          <p:spPr>
            <a:xfrm>
              <a:off x="4719066" y="5573078"/>
              <a:ext cx="277368" cy="376809"/>
            </a:xfrm>
            <a:prstGeom prst="rect">
              <a:avLst/>
            </a:prstGeom>
            <a:noFill/>
            <a:ln>
              <a:noFill/>
            </a:ln>
          </p:spPr>
          <p:txBody>
            <a:bodyPr wrap="none" lIns="0" tIns="0" rIns="0" bIns="0" anchor="t" anchorCtr="0">
              <a:spAutoFit/>
            </a:bodyPr>
            <a:lstStyle/>
            <a:p>
              <a:pPr algn="ctr">
                <a:lnSpc>
                  <a:spcPts val="1350"/>
                </a:lnSpc>
              </a:pPr>
              <a:r>
                <a:rPr lang="zh-CN" sz="1050" dirty="0">
                  <a:solidFill>
                    <a:srgbClr val="D03B1D"/>
                  </a:solidFill>
                  <a:latin typeface="+mn-lt"/>
                  <a:ea typeface="+mn-ea"/>
                  <a:cs typeface="+mn-cs"/>
                </a:rPr>
                <a:t>资源</a:t>
              </a:r>
              <a:br/>
              <a:r>
                <a:rPr lang="zh-CN" sz="1050" dirty="0">
                  <a:solidFill>
                    <a:srgbClr val="D03B1D"/>
                  </a:solidFill>
                  <a:latin typeface="+mn-lt"/>
                  <a:ea typeface="+mn-ea"/>
                  <a:cs typeface="+mn-cs"/>
                </a:rPr>
                <a:t>门户</a:t>
              </a:r>
            </a:p>
          </p:txBody>
        </p:sp>
        <p:sp>
          <p:nvSpPr>
            <p:cNvPr id="32" name="Freeform 32"/>
            <p:cNvSpPr/>
            <p:nvPr/>
          </p:nvSpPr>
          <p:spPr>
            <a:xfrm rot="5400000">
              <a:off x="6858000" y="5302568"/>
              <a:ext cx="952500" cy="824865"/>
            </a:xfrm>
            <a:prstGeom prst="hexagon">
              <a:avLst/>
            </a:prstGeom>
            <a:solidFill>
              <a:srgbClr val="FCC4B9"/>
            </a:solidFill>
            <a:ln>
              <a:noFill/>
            </a:ln>
          </p:spPr>
        </p:sp>
        <p:sp>
          <p:nvSpPr>
            <p:cNvPr id="33" name="TextBox 33"/>
            <p:cNvSpPr txBox="1"/>
            <p:nvPr/>
          </p:nvSpPr>
          <p:spPr>
            <a:xfrm>
              <a:off x="7195566" y="5573078"/>
              <a:ext cx="277368" cy="376809"/>
            </a:xfrm>
            <a:prstGeom prst="rect">
              <a:avLst/>
            </a:prstGeom>
            <a:noFill/>
            <a:ln>
              <a:noFill/>
            </a:ln>
          </p:spPr>
          <p:txBody>
            <a:bodyPr wrap="none" lIns="0" tIns="0" rIns="0" bIns="0" anchor="t" anchorCtr="0">
              <a:spAutoFit/>
            </a:bodyPr>
            <a:lstStyle/>
            <a:p>
              <a:pPr algn="ctr">
                <a:lnSpc>
                  <a:spcPts val="1350"/>
                </a:lnSpc>
              </a:pPr>
              <a:r>
                <a:rPr lang="zh-CN" sz="1050" dirty="0">
                  <a:solidFill>
                    <a:srgbClr val="D03B1D"/>
                  </a:solidFill>
                  <a:latin typeface="+mn-lt"/>
                  <a:ea typeface="+mn-ea"/>
                  <a:cs typeface="+mn-cs"/>
                </a:rPr>
                <a:t>搜索</a:t>
              </a:r>
              <a:br/>
              <a:r>
                <a:rPr lang="zh-CN" sz="1050" dirty="0">
                  <a:solidFill>
                    <a:srgbClr val="D03B1D"/>
                  </a:solidFill>
                  <a:latin typeface="+mn-lt"/>
                  <a:ea typeface="+mn-ea"/>
                  <a:cs typeface="+mn-cs"/>
                </a:rPr>
                <a:t>引擎</a:t>
              </a:r>
            </a:p>
          </p:txBody>
        </p:sp>
        <p:sp>
          <p:nvSpPr>
            <p:cNvPr id="34" name="Freeform 34"/>
            <p:cNvSpPr/>
            <p:nvPr/>
          </p:nvSpPr>
          <p:spPr>
            <a:xfrm rot="5400000">
              <a:off x="8686800" y="5302568"/>
              <a:ext cx="952500" cy="824865"/>
            </a:xfrm>
            <a:prstGeom prst="hexagon">
              <a:avLst/>
            </a:prstGeom>
            <a:solidFill>
              <a:srgbClr val="FCC4B9"/>
            </a:solidFill>
            <a:ln>
              <a:noFill/>
            </a:ln>
          </p:spPr>
        </p:sp>
        <p:sp>
          <p:nvSpPr>
            <p:cNvPr id="35" name="TextBox 35"/>
            <p:cNvSpPr txBox="1"/>
            <p:nvPr/>
          </p:nvSpPr>
          <p:spPr>
            <a:xfrm>
              <a:off x="8945690" y="5649278"/>
              <a:ext cx="434721" cy="205359"/>
            </a:xfrm>
            <a:prstGeom prst="rect">
              <a:avLst/>
            </a:prstGeom>
            <a:noFill/>
            <a:ln>
              <a:noFill/>
            </a:ln>
          </p:spPr>
          <p:txBody>
            <a:bodyPr wrap="none" lIns="0" tIns="0" rIns="0" bIns="0" anchor="t" anchorCtr="0">
              <a:spAutoFit/>
            </a:bodyPr>
            <a:lstStyle/>
            <a:p>
              <a:pPr algn="ctr"/>
              <a:r>
                <a:rPr lang="zh-CN" sz="1050" dirty="0">
                  <a:solidFill>
                    <a:srgbClr val="D03B1D"/>
                  </a:solidFill>
                  <a:latin typeface="+mn-lt"/>
                  <a:ea typeface="+mn-ea"/>
                  <a:cs typeface="+mn-cs"/>
                </a:rPr>
                <a:t>数据库</a:t>
              </a:r>
            </a:p>
          </p:txBody>
        </p:sp>
        <p:sp>
          <p:nvSpPr>
            <p:cNvPr id="36" name="Freeform 36"/>
            <p:cNvSpPr/>
            <p:nvPr/>
          </p:nvSpPr>
          <p:spPr>
            <a:xfrm rot="5400000">
              <a:off x="10363200" y="5302567"/>
              <a:ext cx="952500" cy="824865"/>
            </a:xfrm>
            <a:prstGeom prst="hexagon">
              <a:avLst/>
            </a:prstGeom>
            <a:solidFill>
              <a:srgbClr val="FCC4B9"/>
            </a:solidFill>
            <a:ln>
              <a:noFill/>
            </a:ln>
          </p:spPr>
        </p:sp>
        <p:sp>
          <p:nvSpPr>
            <p:cNvPr id="37" name="TextBox 37"/>
            <p:cNvSpPr txBox="1"/>
            <p:nvPr/>
          </p:nvSpPr>
          <p:spPr>
            <a:xfrm>
              <a:off x="10571750" y="5649278"/>
              <a:ext cx="535400" cy="205359"/>
            </a:xfrm>
            <a:prstGeom prst="rect">
              <a:avLst/>
            </a:prstGeom>
            <a:noFill/>
            <a:ln>
              <a:noFill/>
            </a:ln>
          </p:spPr>
          <p:txBody>
            <a:bodyPr wrap="none" lIns="0" tIns="0" rIns="0" bIns="0" anchor="t" anchorCtr="0">
              <a:spAutoFit/>
            </a:bodyPr>
            <a:lstStyle/>
            <a:p>
              <a:pPr algn="ctr"/>
              <a:r>
                <a:rPr lang="zh-CN" sz="1050" dirty="0">
                  <a:solidFill>
                    <a:srgbClr val="D03B1D"/>
                  </a:solidFill>
                  <a:latin typeface="+mn-lt"/>
                  <a:ea typeface="+mn-ea"/>
                  <a:cs typeface="+mn-cs"/>
                </a:rPr>
                <a:t>LV执行​</a:t>
              </a:r>
            </a:p>
          </p:txBody>
        </p:sp>
      </p:gr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conn-l1"/>
          <p:cNvSpPr/>
          <p:nvPr/>
        </p:nvSpPr>
        <p:spPr>
          <a:xfrm>
            <a:off x="2524125" y="1943100"/>
            <a:ext cx="5486400" cy="676275"/>
          </a:xfrm>
          <a:custGeom>
            <a:avLst/>
            <a:gdLst/>
            <a:ahLst/>
            <a:cxnLst/>
            <a:rect l="l" t="t" r="r" b="b"/>
            <a:pathLst>
              <a:path w="5486400" h="676275">
                <a:moveTo>
                  <a:pt x="2781300" y="0"/>
                </a:moveTo>
                <a:lnTo>
                  <a:pt x="2781300" y="428625"/>
                </a:lnTo>
                <a:moveTo>
                  <a:pt x="0" y="428625"/>
                </a:moveTo>
                <a:lnTo>
                  <a:pt x="5486400" y="428625"/>
                </a:lnTo>
                <a:moveTo>
                  <a:pt x="0" y="428625"/>
                </a:moveTo>
                <a:lnTo>
                  <a:pt x="0" y="676275"/>
                </a:lnTo>
                <a:moveTo>
                  <a:pt x="5486400" y="428625"/>
                </a:moveTo>
                <a:lnTo>
                  <a:pt x="5486400" y="676275"/>
                </a:lnTo>
              </a:path>
            </a:pathLst>
          </a:custGeom>
          <a:noFill/>
          <a:ln w="14288">
            <a:solidFill>
              <a:srgbClr val="F5866F"/>
            </a:solidFill>
          </a:ln>
        </p:spPr>
      </p:sp>
      <p:sp>
        <p:nvSpPr>
          <p:cNvPr id="3" name="deco-conn-l2"/>
          <p:cNvSpPr/>
          <p:nvPr/>
        </p:nvSpPr>
        <p:spPr>
          <a:xfrm>
            <a:off x="1095375" y="3067050"/>
            <a:ext cx="8115300" cy="571500"/>
          </a:xfrm>
          <a:custGeom>
            <a:avLst/>
            <a:gdLst/>
            <a:ahLst/>
            <a:cxnLst/>
            <a:rect l="l" t="t" r="r" b="b"/>
            <a:pathLst>
              <a:path w="8115300" h="571500">
                <a:moveTo>
                  <a:pt x="1428750" y="0"/>
                </a:moveTo>
                <a:lnTo>
                  <a:pt x="1428750" y="371475"/>
                </a:lnTo>
                <a:moveTo>
                  <a:pt x="6915150" y="0"/>
                </a:moveTo>
                <a:lnTo>
                  <a:pt x="6915150" y="371475"/>
                </a:lnTo>
                <a:moveTo>
                  <a:pt x="0" y="371475"/>
                </a:moveTo>
                <a:lnTo>
                  <a:pt x="8115300" y="371475"/>
                </a:lnTo>
                <a:moveTo>
                  <a:pt x="0" y="371475"/>
                </a:moveTo>
                <a:lnTo>
                  <a:pt x="0" y="571500"/>
                </a:lnTo>
                <a:moveTo>
                  <a:pt x="838200" y="371475"/>
                </a:moveTo>
                <a:lnTo>
                  <a:pt x="838200" y="571500"/>
                </a:lnTo>
                <a:moveTo>
                  <a:pt x="2019300" y="371475"/>
                </a:moveTo>
                <a:lnTo>
                  <a:pt x="2019300" y="571500"/>
                </a:lnTo>
                <a:moveTo>
                  <a:pt x="3371850" y="371475"/>
                </a:moveTo>
                <a:lnTo>
                  <a:pt x="3371850" y="571500"/>
                </a:lnTo>
                <a:moveTo>
                  <a:pt x="5067300" y="371475"/>
                </a:moveTo>
                <a:lnTo>
                  <a:pt x="5067300" y="571500"/>
                </a:lnTo>
                <a:moveTo>
                  <a:pt x="6934200" y="371475"/>
                </a:moveTo>
                <a:lnTo>
                  <a:pt x="6934200" y="571500"/>
                </a:lnTo>
                <a:moveTo>
                  <a:pt x="8115300" y="371475"/>
                </a:moveTo>
                <a:lnTo>
                  <a:pt x="8115300" y="571500"/>
                </a:lnTo>
              </a:path>
            </a:pathLst>
          </a:custGeom>
          <a:noFill/>
          <a:ln w="14288">
            <a:solidFill>
              <a:srgbClr val="F5866F"/>
            </a:solidFill>
          </a:ln>
        </p:spPr>
      </p:sp>
      <p:sp>
        <p:nvSpPr>
          <p:cNvPr id="4" name="deco-conn-l3"/>
          <p:cNvSpPr/>
          <p:nvPr/>
        </p:nvSpPr>
        <p:spPr>
          <a:xfrm>
            <a:off x="923925" y="4629150"/>
            <a:ext cx="8458200" cy="581025"/>
          </a:xfrm>
          <a:custGeom>
            <a:avLst/>
            <a:gdLst/>
            <a:ahLst/>
            <a:cxnLst/>
            <a:rect l="l" t="t" r="r" b="b"/>
            <a:pathLst>
              <a:path w="8458200" h="581025">
                <a:moveTo>
                  <a:pt x="171450" y="0"/>
                </a:moveTo>
                <a:lnTo>
                  <a:pt x="171450" y="304800"/>
                </a:lnTo>
                <a:moveTo>
                  <a:pt x="0" y="304800"/>
                </a:moveTo>
                <a:lnTo>
                  <a:pt x="342900" y="304800"/>
                </a:lnTo>
                <a:moveTo>
                  <a:pt x="0" y="304800"/>
                </a:moveTo>
                <a:lnTo>
                  <a:pt x="0" y="581025"/>
                </a:lnTo>
                <a:moveTo>
                  <a:pt x="342900" y="304800"/>
                </a:moveTo>
                <a:lnTo>
                  <a:pt x="342900" y="581025"/>
                </a:lnTo>
                <a:moveTo>
                  <a:pt x="1009650" y="0"/>
                </a:moveTo>
                <a:lnTo>
                  <a:pt x="1009650" y="304800"/>
                </a:lnTo>
                <a:moveTo>
                  <a:pt x="838200" y="304800"/>
                </a:moveTo>
                <a:lnTo>
                  <a:pt x="1181100" y="304800"/>
                </a:lnTo>
                <a:moveTo>
                  <a:pt x="838200" y="304800"/>
                </a:moveTo>
                <a:lnTo>
                  <a:pt x="838200" y="581025"/>
                </a:lnTo>
                <a:moveTo>
                  <a:pt x="1181100" y="304800"/>
                </a:moveTo>
                <a:lnTo>
                  <a:pt x="1181100" y="581025"/>
                </a:lnTo>
                <a:moveTo>
                  <a:pt x="2190750" y="0"/>
                </a:moveTo>
                <a:lnTo>
                  <a:pt x="2190750" y="304800"/>
                </a:lnTo>
                <a:moveTo>
                  <a:pt x="1676400" y="304800"/>
                </a:moveTo>
                <a:lnTo>
                  <a:pt x="2705100" y="304800"/>
                </a:lnTo>
                <a:moveTo>
                  <a:pt x="1676400" y="304800"/>
                </a:moveTo>
                <a:lnTo>
                  <a:pt x="1676400" y="581025"/>
                </a:lnTo>
                <a:moveTo>
                  <a:pt x="2019300" y="304800"/>
                </a:moveTo>
                <a:lnTo>
                  <a:pt x="2019300" y="581025"/>
                </a:lnTo>
                <a:moveTo>
                  <a:pt x="2362200" y="304800"/>
                </a:moveTo>
                <a:lnTo>
                  <a:pt x="2362200" y="581025"/>
                </a:lnTo>
                <a:moveTo>
                  <a:pt x="2705100" y="304800"/>
                </a:moveTo>
                <a:lnTo>
                  <a:pt x="2705100" y="581025"/>
                </a:lnTo>
                <a:moveTo>
                  <a:pt x="3543300" y="0"/>
                </a:moveTo>
                <a:lnTo>
                  <a:pt x="3543300" y="304800"/>
                </a:lnTo>
                <a:moveTo>
                  <a:pt x="3200400" y="304800"/>
                </a:moveTo>
                <a:lnTo>
                  <a:pt x="3886200" y="304800"/>
                </a:lnTo>
                <a:moveTo>
                  <a:pt x="3200400" y="304800"/>
                </a:moveTo>
                <a:lnTo>
                  <a:pt x="3200400" y="581025"/>
                </a:lnTo>
                <a:moveTo>
                  <a:pt x="3543300" y="304800"/>
                </a:moveTo>
                <a:lnTo>
                  <a:pt x="3543300" y="581025"/>
                </a:lnTo>
                <a:moveTo>
                  <a:pt x="3886200" y="304800"/>
                </a:moveTo>
                <a:lnTo>
                  <a:pt x="3886200" y="581025"/>
                </a:lnTo>
                <a:moveTo>
                  <a:pt x="5238750" y="0"/>
                </a:moveTo>
                <a:lnTo>
                  <a:pt x="5238750" y="304800"/>
                </a:lnTo>
                <a:moveTo>
                  <a:pt x="4381500" y="304800"/>
                </a:moveTo>
                <a:lnTo>
                  <a:pt x="6096000" y="304800"/>
                </a:lnTo>
                <a:moveTo>
                  <a:pt x="4381500" y="304800"/>
                </a:moveTo>
                <a:lnTo>
                  <a:pt x="4381500" y="581025"/>
                </a:lnTo>
                <a:moveTo>
                  <a:pt x="4724400" y="304800"/>
                </a:moveTo>
                <a:lnTo>
                  <a:pt x="4724400" y="581025"/>
                </a:lnTo>
                <a:moveTo>
                  <a:pt x="5067300" y="304800"/>
                </a:moveTo>
                <a:lnTo>
                  <a:pt x="5067300" y="581025"/>
                </a:lnTo>
                <a:moveTo>
                  <a:pt x="5410200" y="304800"/>
                </a:moveTo>
                <a:lnTo>
                  <a:pt x="5410200" y="581025"/>
                </a:lnTo>
                <a:moveTo>
                  <a:pt x="5753100" y="304800"/>
                </a:moveTo>
                <a:lnTo>
                  <a:pt x="5753100" y="581025"/>
                </a:lnTo>
                <a:moveTo>
                  <a:pt x="6096000" y="304800"/>
                </a:moveTo>
                <a:lnTo>
                  <a:pt x="6096000" y="581025"/>
                </a:lnTo>
                <a:moveTo>
                  <a:pt x="7105650" y="0"/>
                </a:moveTo>
                <a:lnTo>
                  <a:pt x="7105650" y="304800"/>
                </a:lnTo>
                <a:moveTo>
                  <a:pt x="6591300" y="304800"/>
                </a:moveTo>
                <a:lnTo>
                  <a:pt x="7620000" y="304800"/>
                </a:lnTo>
                <a:moveTo>
                  <a:pt x="6591300" y="304800"/>
                </a:moveTo>
                <a:lnTo>
                  <a:pt x="6591300" y="581025"/>
                </a:lnTo>
                <a:moveTo>
                  <a:pt x="6934200" y="304800"/>
                </a:moveTo>
                <a:lnTo>
                  <a:pt x="6934200" y="581025"/>
                </a:lnTo>
                <a:moveTo>
                  <a:pt x="7277100" y="304800"/>
                </a:moveTo>
                <a:lnTo>
                  <a:pt x="7277100" y="581025"/>
                </a:lnTo>
                <a:moveTo>
                  <a:pt x="7620000" y="304800"/>
                </a:moveTo>
                <a:lnTo>
                  <a:pt x="7620000" y="581025"/>
                </a:lnTo>
                <a:moveTo>
                  <a:pt x="8286750" y="0"/>
                </a:moveTo>
                <a:lnTo>
                  <a:pt x="8286750" y="304800"/>
                </a:lnTo>
                <a:moveTo>
                  <a:pt x="8115300" y="304800"/>
                </a:moveTo>
                <a:lnTo>
                  <a:pt x="8458200" y="304800"/>
                </a:lnTo>
                <a:moveTo>
                  <a:pt x="8115300" y="304800"/>
                </a:moveTo>
                <a:lnTo>
                  <a:pt x="8115300" y="581025"/>
                </a:lnTo>
                <a:moveTo>
                  <a:pt x="8458200" y="304800"/>
                </a:moveTo>
                <a:lnTo>
                  <a:pt x="8458200" y="581025"/>
                </a:lnTo>
              </a:path>
            </a:pathLst>
          </a:custGeom>
          <a:noFill/>
          <a:ln w="14288">
            <a:solidFill>
              <a:srgbClr val="F5866F"/>
            </a:solidFill>
          </a:ln>
        </p:spPr>
      </p:sp>
      <p:grpSp>
        <p:nvGrpSpPr>
          <p:cNvPr id="9" name="header"/>
          <p:cNvGrpSpPr/>
          <p:nvPr/>
        </p:nvGrpSpPr>
        <p:grpSpPr>
          <a:xfrm>
            <a:off x="0" y="0"/>
            <a:ext cx="12192000" cy="551879"/>
            <a:chOff x="0" y="0"/>
            <a:chExt cx="12192000" cy="551879"/>
          </a:xfrm>
        </p:grpSpPr>
        <p:sp>
          <p:nvSpPr>
            <p:cNvPr id="5" name="Polygon 5"/>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6" name="TextBox 6"/>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27</a:t>
              </a:r>
            </a:p>
          </p:txBody>
        </p:sp>
        <p:sp>
          <p:nvSpPr>
            <p:cNvPr id="7" name="TextBox 7"/>
            <p:cNvSpPr txBox="1"/>
            <p:nvPr/>
          </p:nvSpPr>
          <p:spPr>
            <a:xfrm>
              <a:off x="904494" y="170498"/>
              <a:ext cx="1069848"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组织架构</a:t>
              </a:r>
            </a:p>
          </p:txBody>
        </p:sp>
        <p:sp>
          <p:nvSpPr>
            <p:cNvPr id="8" name="Line 8"/>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3" name="dean"/>
          <p:cNvGrpSpPr/>
          <p:nvPr/>
        </p:nvGrpSpPr>
        <p:grpSpPr>
          <a:xfrm>
            <a:off x="4400550" y="1276350"/>
            <a:ext cx="1809750" cy="723900"/>
            <a:chOff x="4400550" y="1276350"/>
            <a:chExt cx="1809750" cy="723900"/>
          </a:xfrm>
        </p:grpSpPr>
        <p:sp>
          <p:nvSpPr>
            <p:cNvPr id="10" name="Rectangle 10"/>
            <p:cNvSpPr/>
            <p:nvPr/>
          </p:nvSpPr>
          <p:spPr>
            <a:xfrm>
              <a:off x="4400550" y="1276350"/>
              <a:ext cx="1809750" cy="723900"/>
            </a:xfrm>
            <a:prstGeom prst="roundRect">
              <a:avLst>
                <a:gd name="adj" fmla="val 15789"/>
              </a:avLst>
            </a:prstGeom>
            <a:noFill/>
            <a:ln w="28575">
              <a:solidFill>
                <a:srgbClr val="FBD2C9"/>
              </a:solidFill>
            </a:ln>
          </p:spPr>
        </p:sp>
        <p:sp>
          <p:nvSpPr>
            <p:cNvPr id="11" name="Rectangle 11"/>
            <p:cNvSpPr/>
            <p:nvPr/>
          </p:nvSpPr>
          <p:spPr>
            <a:xfrm>
              <a:off x="4457700" y="1333500"/>
              <a:ext cx="1695450" cy="609600"/>
            </a:xfrm>
            <a:prstGeom prst="roundRect">
              <a:avLst>
                <a:gd name="adj" fmla="val 15625"/>
              </a:avLst>
            </a:prstGeom>
            <a:gradFill>
              <a:gsLst>
                <a:gs pos="0">
                  <a:srgbClr val="FB684A"/>
                </a:gs>
                <a:gs pos="100000">
                  <a:srgbClr val="FA421D"/>
                </a:gs>
              </a:gsLst>
              <a:lin ang="5400000" scaled="1"/>
            </a:gradFill>
            <a:ln>
              <a:noFill/>
            </a:ln>
          </p:spPr>
        </p:sp>
        <p:sp>
          <p:nvSpPr>
            <p:cNvPr id="12" name="TextBox 12"/>
            <p:cNvSpPr txBox="1"/>
            <p:nvPr/>
          </p:nvSpPr>
          <p:spPr>
            <a:xfrm>
              <a:off x="5074920" y="1536382"/>
              <a:ext cx="461010"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院长</a:t>
              </a:r>
            </a:p>
          </p:txBody>
        </p:sp>
      </p:grpSp>
      <p:grpSp>
        <p:nvGrpSpPr>
          <p:cNvPr id="16" name="vice-executive"/>
          <p:cNvGrpSpPr/>
          <p:nvPr/>
        </p:nvGrpSpPr>
        <p:grpSpPr>
          <a:xfrm>
            <a:off x="1866900" y="2619375"/>
            <a:ext cx="1314450" cy="447675"/>
            <a:chOff x="1866900" y="2619375"/>
            <a:chExt cx="1314450" cy="447675"/>
          </a:xfrm>
        </p:grpSpPr>
        <p:sp>
          <p:nvSpPr>
            <p:cNvPr id="14" name="Rectangle 14"/>
            <p:cNvSpPr/>
            <p:nvPr/>
          </p:nvSpPr>
          <p:spPr>
            <a:xfrm>
              <a:off x="1866900" y="2619375"/>
              <a:ext cx="1314450" cy="447675"/>
            </a:xfrm>
            <a:prstGeom prst="roundRect">
              <a:avLst>
                <a:gd name="adj" fmla="val 50000"/>
              </a:avLst>
            </a:prstGeom>
            <a:gradFill>
              <a:gsLst>
                <a:gs pos="0">
                  <a:srgbClr val="FB684A"/>
                </a:gs>
                <a:gs pos="100000">
                  <a:srgbClr val="FA421D"/>
                </a:gs>
              </a:gsLst>
              <a:lin ang="5400000" scaled="1"/>
            </a:gradFill>
            <a:ln>
              <a:noFill/>
            </a:ln>
          </p:spPr>
        </p:sp>
        <p:sp>
          <p:nvSpPr>
            <p:cNvPr id="15" name="TextBox 15"/>
            <p:cNvSpPr txBox="1"/>
            <p:nvPr/>
          </p:nvSpPr>
          <p:spPr>
            <a:xfrm>
              <a:off x="2141474" y="2774156"/>
              <a:ext cx="765302"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常务副院长</a:t>
              </a:r>
            </a:p>
          </p:txBody>
        </p:sp>
      </p:grpSp>
      <p:grpSp>
        <p:nvGrpSpPr>
          <p:cNvPr id="19" name="vice-president"/>
          <p:cNvGrpSpPr/>
          <p:nvPr/>
        </p:nvGrpSpPr>
        <p:grpSpPr>
          <a:xfrm>
            <a:off x="7362825" y="2619375"/>
            <a:ext cx="1295400" cy="447675"/>
            <a:chOff x="7362825" y="2619375"/>
            <a:chExt cx="1295400" cy="447675"/>
          </a:xfrm>
        </p:grpSpPr>
        <p:sp>
          <p:nvSpPr>
            <p:cNvPr id="17" name="Rectangle 17"/>
            <p:cNvSpPr/>
            <p:nvPr/>
          </p:nvSpPr>
          <p:spPr>
            <a:xfrm>
              <a:off x="7362825" y="2619375"/>
              <a:ext cx="1295400" cy="447675"/>
            </a:xfrm>
            <a:prstGeom prst="roundRect">
              <a:avLst>
                <a:gd name="adj" fmla="val 50000"/>
              </a:avLst>
            </a:prstGeom>
            <a:gradFill>
              <a:gsLst>
                <a:gs pos="0">
                  <a:srgbClr val="FB684A"/>
                </a:gs>
                <a:gs pos="100000">
                  <a:srgbClr val="FA421D"/>
                </a:gs>
              </a:gsLst>
              <a:lin ang="5400000" scaled="1"/>
            </a:gradFill>
            <a:ln>
              <a:noFill/>
            </a:ln>
          </p:spPr>
        </p:sp>
        <p:sp>
          <p:nvSpPr>
            <p:cNvPr id="18" name="TextBox 18"/>
            <p:cNvSpPr txBox="1"/>
            <p:nvPr/>
          </p:nvSpPr>
          <p:spPr>
            <a:xfrm>
              <a:off x="7778648" y="2774156"/>
              <a:ext cx="463753" cy="220028"/>
            </a:xfrm>
            <a:prstGeom prst="rect">
              <a:avLst/>
            </a:prstGeom>
            <a:noFill/>
            <a:ln>
              <a:noFill/>
            </a:ln>
          </p:spPr>
          <p:txBody>
            <a:bodyPr wrap="none" lIns="0" tIns="0" rIns="0" bIns="0" anchor="t" anchorCtr="0">
              <a:spAutoFit/>
            </a:bodyPr>
            <a:lstStyle/>
            <a:p>
              <a:pPr algn="ctr"/>
              <a:r>
                <a:rPr lang="zh-CN" sz="1120" dirty="0">
                  <a:solidFill>
                    <a:srgbClr val="FFFFFF"/>
                  </a:solidFill>
                  <a:latin typeface="+mn-lt"/>
                  <a:ea typeface="+mn-ea"/>
                  <a:cs typeface="+mn-cs"/>
                </a:rPr>
                <a:t>副院长</a:t>
              </a:r>
            </a:p>
          </p:txBody>
        </p:sp>
      </p:grpSp>
      <p:grpSp>
        <p:nvGrpSpPr>
          <p:cNvPr id="26" name="dept-supplies"/>
          <p:cNvGrpSpPr/>
          <p:nvPr/>
        </p:nvGrpSpPr>
        <p:grpSpPr>
          <a:xfrm>
            <a:off x="781050" y="3638550"/>
            <a:ext cx="628650" cy="2505075"/>
            <a:chOff x="781050" y="3638550"/>
            <a:chExt cx="628650" cy="2505075"/>
          </a:xfrm>
        </p:grpSpPr>
        <p:sp>
          <p:nvSpPr>
            <p:cNvPr id="20" name="Rectangle 20"/>
            <p:cNvSpPr/>
            <p:nvPr/>
          </p:nvSpPr>
          <p:spPr>
            <a:xfrm>
              <a:off x="923925" y="3638550"/>
              <a:ext cx="342900" cy="990600"/>
            </a:xfrm>
            <a:prstGeom prst="roundRect">
              <a:avLst>
                <a:gd name="adj" fmla="val 50000"/>
              </a:avLst>
            </a:prstGeom>
            <a:gradFill>
              <a:gsLst>
                <a:gs pos="0">
                  <a:srgbClr val="FB684A"/>
                </a:gs>
                <a:gs pos="100000">
                  <a:srgbClr val="FA421D"/>
                </a:gs>
              </a:gsLst>
              <a:lin ang="5400000" scaled="1"/>
            </a:gradFill>
            <a:ln>
              <a:noFill/>
            </a:ln>
          </p:spPr>
        </p:sp>
        <p:sp>
          <p:nvSpPr>
            <p:cNvPr id="21" name="TextBox 21"/>
            <p:cNvSpPr txBox="1"/>
            <p:nvPr/>
          </p:nvSpPr>
          <p:spPr>
            <a:xfrm>
              <a:off x="1028192" y="3933349"/>
              <a:ext cx="134366" cy="476441"/>
            </a:xfrm>
            <a:prstGeom prst="rect">
              <a:avLst/>
            </a:prstGeom>
            <a:noFill/>
            <a:ln>
              <a:noFill/>
            </a:ln>
          </p:spPr>
          <p:txBody>
            <a:bodyPr wrap="none" lIns="0" tIns="0" rIns="0" bIns="0" anchor="t" anchorCtr="0">
              <a:spAutoFit/>
            </a:bodyPr>
            <a:lstStyle/>
            <a:p>
              <a:pPr algn="ctr">
                <a:lnSpc>
                  <a:spcPts val="1125"/>
                </a:lnSpc>
              </a:pPr>
              <a:r>
                <a:rPr lang="zh-CN" sz="980" dirty="0">
                  <a:solidFill>
                    <a:srgbClr val="FFFFFF"/>
                  </a:solidFill>
                  <a:latin typeface="+mn-lt"/>
                  <a:ea typeface="+mn-ea"/>
                  <a:cs typeface="+mn-cs"/>
                </a:rPr>
                <a:t>物</a:t>
              </a:r>
              <a:br/>
              <a:r>
                <a:rPr lang="zh-CN" sz="980" dirty="0">
                  <a:solidFill>
                    <a:srgbClr val="FFFFFF"/>
                  </a:solidFill>
                  <a:latin typeface="+mn-lt"/>
                  <a:ea typeface="+mn-ea"/>
                  <a:cs typeface="+mn-cs"/>
                </a:rPr>
                <a:t>资</a:t>
              </a:r>
              <a:br/>
              <a:r>
                <a:rPr lang="zh-CN" sz="980" dirty="0">
                  <a:solidFill>
                    <a:srgbClr val="FFFFFF"/>
                  </a:solidFill>
                  <a:latin typeface="+mn-lt"/>
                  <a:ea typeface="+mn-ea"/>
                  <a:cs typeface="+mn-cs"/>
                </a:rPr>
                <a:t>部</a:t>
              </a:r>
            </a:p>
          </p:txBody>
        </p:sp>
        <p:sp>
          <p:nvSpPr>
            <p:cNvPr id="22" name="Rectangle 22"/>
            <p:cNvSpPr/>
            <p:nvPr/>
          </p:nvSpPr>
          <p:spPr>
            <a:xfrm>
              <a:off x="781050" y="5210175"/>
              <a:ext cx="285750" cy="933450"/>
            </a:xfrm>
            <a:prstGeom prst="roundRect">
              <a:avLst>
                <a:gd name="adj" fmla="val 50000"/>
              </a:avLst>
            </a:prstGeom>
            <a:solidFill>
              <a:srgbClr val="FFFFFF"/>
            </a:solidFill>
            <a:ln w="14288">
              <a:solidFill>
                <a:srgbClr val="FCC6BB"/>
              </a:solidFill>
            </a:ln>
          </p:spPr>
        </p:sp>
        <p:sp>
          <p:nvSpPr>
            <p:cNvPr id="23" name="TextBox 23"/>
            <p:cNvSpPr txBox="1"/>
            <p:nvPr/>
          </p:nvSpPr>
          <p:spPr>
            <a:xfrm>
              <a:off x="867092" y="5444966"/>
              <a:ext cx="113665" cy="53340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美</a:t>
              </a:r>
              <a:br/>
              <a:r>
                <a:rPr lang="zh-CN" sz="820" dirty="0">
                  <a:solidFill>
                    <a:srgbClr val="D03B1D"/>
                  </a:solidFill>
                  <a:latin typeface="+mn-lt"/>
                  <a:ea typeface="+mn-ea"/>
                  <a:cs typeface="+mn-cs"/>
                </a:rPr>
                <a:t>容</a:t>
              </a:r>
              <a:br/>
              <a:r>
                <a:rPr lang="zh-CN" sz="820" dirty="0">
                  <a:solidFill>
                    <a:srgbClr val="D03B1D"/>
                  </a:solidFill>
                  <a:latin typeface="+mn-lt"/>
                  <a:ea typeface="+mn-ea"/>
                  <a:cs typeface="+mn-cs"/>
                </a:rPr>
                <a:t>护</a:t>
              </a:r>
              <a:br/>
              <a:r>
                <a:rPr lang="zh-CN" sz="820" dirty="0">
                  <a:solidFill>
                    <a:srgbClr val="D03B1D"/>
                  </a:solidFill>
                  <a:latin typeface="+mn-lt"/>
                  <a:ea typeface="+mn-ea"/>
                  <a:cs typeface="+mn-cs"/>
                </a:rPr>
                <a:t>理</a:t>
              </a:r>
            </a:p>
          </p:txBody>
        </p:sp>
        <p:sp>
          <p:nvSpPr>
            <p:cNvPr id="24" name="Rectangle 24"/>
            <p:cNvSpPr/>
            <p:nvPr/>
          </p:nvSpPr>
          <p:spPr>
            <a:xfrm>
              <a:off x="1123950" y="5210175"/>
              <a:ext cx="285750" cy="933450"/>
            </a:xfrm>
            <a:prstGeom prst="roundRect">
              <a:avLst>
                <a:gd name="adj" fmla="val 50000"/>
              </a:avLst>
            </a:prstGeom>
            <a:solidFill>
              <a:srgbClr val="FFFFFF"/>
            </a:solidFill>
            <a:ln w="14288">
              <a:solidFill>
                <a:srgbClr val="FCC6BB"/>
              </a:solidFill>
            </a:ln>
          </p:spPr>
        </p:sp>
        <p:sp>
          <p:nvSpPr>
            <p:cNvPr id="25" name="TextBox 25"/>
            <p:cNvSpPr txBox="1"/>
            <p:nvPr/>
          </p:nvSpPr>
          <p:spPr>
            <a:xfrm>
              <a:off x="1209992" y="5511641"/>
              <a:ext cx="113665" cy="40957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医</a:t>
              </a:r>
              <a:br/>
              <a:r>
                <a:rPr lang="zh-CN" sz="820" dirty="0">
                  <a:solidFill>
                    <a:srgbClr val="D03B1D"/>
                  </a:solidFill>
                  <a:latin typeface="+mn-lt"/>
                  <a:ea typeface="+mn-ea"/>
                  <a:cs typeface="+mn-cs"/>
                </a:rPr>
                <a:t>务</a:t>
              </a:r>
              <a:br/>
              <a:r>
                <a:rPr lang="zh-CN" sz="820" dirty="0">
                  <a:solidFill>
                    <a:srgbClr val="D03B1D"/>
                  </a:solidFill>
                  <a:latin typeface="+mn-lt"/>
                  <a:ea typeface="+mn-ea"/>
                  <a:cs typeface="+mn-cs"/>
                </a:rPr>
                <a:t>部</a:t>
              </a:r>
            </a:p>
          </p:txBody>
        </p:sp>
      </p:grpSp>
      <p:grpSp>
        <p:nvGrpSpPr>
          <p:cNvPr id="33" name="dept-market"/>
          <p:cNvGrpSpPr/>
          <p:nvPr/>
        </p:nvGrpSpPr>
        <p:grpSpPr>
          <a:xfrm>
            <a:off x="1619250" y="3638550"/>
            <a:ext cx="628650" cy="2505075"/>
            <a:chOff x="1619250" y="3638550"/>
            <a:chExt cx="628650" cy="2505075"/>
          </a:xfrm>
        </p:grpSpPr>
        <p:sp>
          <p:nvSpPr>
            <p:cNvPr id="27" name="Rectangle 27"/>
            <p:cNvSpPr/>
            <p:nvPr/>
          </p:nvSpPr>
          <p:spPr>
            <a:xfrm>
              <a:off x="1762125" y="3638550"/>
              <a:ext cx="342900" cy="990600"/>
            </a:xfrm>
            <a:prstGeom prst="roundRect">
              <a:avLst>
                <a:gd name="adj" fmla="val 50000"/>
              </a:avLst>
            </a:prstGeom>
            <a:gradFill>
              <a:gsLst>
                <a:gs pos="0">
                  <a:srgbClr val="FB684A"/>
                </a:gs>
                <a:gs pos="100000">
                  <a:srgbClr val="FA421D"/>
                </a:gs>
              </a:gsLst>
              <a:lin ang="5400000" scaled="1"/>
            </a:gradFill>
            <a:ln>
              <a:noFill/>
            </a:ln>
          </p:spPr>
        </p:sp>
        <p:sp>
          <p:nvSpPr>
            <p:cNvPr id="28" name="TextBox 28"/>
            <p:cNvSpPr txBox="1"/>
            <p:nvPr/>
          </p:nvSpPr>
          <p:spPr>
            <a:xfrm>
              <a:off x="1866392" y="3933349"/>
              <a:ext cx="134366" cy="476441"/>
            </a:xfrm>
            <a:prstGeom prst="rect">
              <a:avLst/>
            </a:prstGeom>
            <a:noFill/>
            <a:ln>
              <a:noFill/>
            </a:ln>
          </p:spPr>
          <p:txBody>
            <a:bodyPr wrap="none" lIns="0" tIns="0" rIns="0" bIns="0" anchor="t" anchorCtr="0">
              <a:spAutoFit/>
            </a:bodyPr>
            <a:lstStyle/>
            <a:p>
              <a:pPr algn="ctr">
                <a:lnSpc>
                  <a:spcPts val="1125"/>
                </a:lnSpc>
              </a:pPr>
              <a:r>
                <a:rPr lang="zh-CN" sz="980" dirty="0">
                  <a:solidFill>
                    <a:srgbClr val="FFFFFF"/>
                  </a:solidFill>
                  <a:latin typeface="+mn-lt"/>
                  <a:ea typeface="+mn-ea"/>
                  <a:cs typeface="+mn-cs"/>
                </a:rPr>
                <a:t>市</a:t>
              </a:r>
              <a:br/>
              <a:r>
                <a:rPr lang="zh-CN" sz="980" dirty="0">
                  <a:solidFill>
                    <a:srgbClr val="FFFFFF"/>
                  </a:solidFill>
                  <a:latin typeface="+mn-lt"/>
                  <a:ea typeface="+mn-ea"/>
                  <a:cs typeface="+mn-cs"/>
                </a:rPr>
                <a:t>场</a:t>
              </a:r>
              <a:br/>
              <a:r>
                <a:rPr lang="zh-CN" sz="980" dirty="0">
                  <a:solidFill>
                    <a:srgbClr val="FFFFFF"/>
                  </a:solidFill>
                  <a:latin typeface="+mn-lt"/>
                  <a:ea typeface="+mn-ea"/>
                  <a:cs typeface="+mn-cs"/>
                </a:rPr>
                <a:t>部</a:t>
              </a:r>
            </a:p>
          </p:txBody>
        </p:sp>
        <p:sp>
          <p:nvSpPr>
            <p:cNvPr id="29" name="Rectangle 29"/>
            <p:cNvSpPr/>
            <p:nvPr/>
          </p:nvSpPr>
          <p:spPr>
            <a:xfrm>
              <a:off x="1619250" y="5210175"/>
              <a:ext cx="285750" cy="933450"/>
            </a:xfrm>
            <a:prstGeom prst="roundRect">
              <a:avLst>
                <a:gd name="adj" fmla="val 50000"/>
              </a:avLst>
            </a:prstGeom>
            <a:solidFill>
              <a:srgbClr val="FFFFFF"/>
            </a:solidFill>
            <a:ln w="14288">
              <a:solidFill>
                <a:srgbClr val="FCC6BB"/>
              </a:solidFill>
            </a:ln>
          </p:spPr>
        </p:sp>
        <p:sp>
          <p:nvSpPr>
            <p:cNvPr id="30" name="TextBox 30"/>
            <p:cNvSpPr txBox="1"/>
            <p:nvPr/>
          </p:nvSpPr>
          <p:spPr>
            <a:xfrm>
              <a:off x="1705292" y="5444966"/>
              <a:ext cx="113665" cy="53340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内</a:t>
              </a:r>
              <a:br/>
              <a:r>
                <a:rPr lang="zh-CN" sz="820" dirty="0">
                  <a:solidFill>
                    <a:srgbClr val="D03B1D"/>
                  </a:solidFill>
                  <a:latin typeface="+mn-lt"/>
                  <a:ea typeface="+mn-ea"/>
                  <a:cs typeface="+mn-cs"/>
                </a:rPr>
                <a:t>容</a:t>
              </a:r>
              <a:br/>
              <a:r>
                <a:rPr lang="zh-CN" sz="820" dirty="0">
                  <a:solidFill>
                    <a:srgbClr val="D03B1D"/>
                  </a:solidFill>
                  <a:latin typeface="+mn-lt"/>
                  <a:ea typeface="+mn-ea"/>
                  <a:cs typeface="+mn-cs"/>
                </a:rPr>
                <a:t>运</a:t>
              </a:r>
              <a:br/>
              <a:r>
                <a:rPr lang="zh-CN" sz="820" dirty="0">
                  <a:solidFill>
                    <a:srgbClr val="D03B1D"/>
                  </a:solidFill>
                  <a:latin typeface="+mn-lt"/>
                  <a:ea typeface="+mn-ea"/>
                  <a:cs typeface="+mn-cs"/>
                </a:rPr>
                <a:t>营</a:t>
              </a:r>
            </a:p>
          </p:txBody>
        </p:sp>
        <p:sp>
          <p:nvSpPr>
            <p:cNvPr id="31" name="Rectangle 31"/>
            <p:cNvSpPr/>
            <p:nvPr/>
          </p:nvSpPr>
          <p:spPr>
            <a:xfrm>
              <a:off x="1962150" y="5210175"/>
              <a:ext cx="285750" cy="933450"/>
            </a:xfrm>
            <a:prstGeom prst="roundRect">
              <a:avLst>
                <a:gd name="adj" fmla="val 50000"/>
              </a:avLst>
            </a:prstGeom>
            <a:solidFill>
              <a:srgbClr val="FFFFFF"/>
            </a:solidFill>
            <a:ln w="14288">
              <a:solidFill>
                <a:srgbClr val="FCC6BB"/>
              </a:solidFill>
            </a:ln>
          </p:spPr>
        </p:sp>
        <p:sp>
          <p:nvSpPr>
            <p:cNvPr id="32" name="TextBox 32"/>
            <p:cNvSpPr txBox="1"/>
            <p:nvPr/>
          </p:nvSpPr>
          <p:spPr>
            <a:xfrm>
              <a:off x="2048192" y="5444966"/>
              <a:ext cx="113665" cy="53340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用</a:t>
              </a:r>
              <a:br/>
              <a:r>
                <a:rPr lang="zh-CN" sz="820" dirty="0">
                  <a:solidFill>
                    <a:srgbClr val="D03B1D"/>
                  </a:solidFill>
                  <a:latin typeface="+mn-lt"/>
                  <a:ea typeface="+mn-ea"/>
                  <a:cs typeface="+mn-cs"/>
                </a:rPr>
                <a:t>户</a:t>
              </a:r>
              <a:br/>
              <a:r>
                <a:rPr lang="zh-CN" sz="820" dirty="0">
                  <a:solidFill>
                    <a:srgbClr val="D03B1D"/>
                  </a:solidFill>
                  <a:latin typeface="+mn-lt"/>
                  <a:ea typeface="+mn-ea"/>
                  <a:cs typeface="+mn-cs"/>
                </a:rPr>
                <a:t>运</a:t>
              </a:r>
              <a:br/>
              <a:r>
                <a:rPr lang="zh-CN" sz="820" dirty="0">
                  <a:solidFill>
                    <a:srgbClr val="D03B1D"/>
                  </a:solidFill>
                  <a:latin typeface="+mn-lt"/>
                  <a:ea typeface="+mn-ea"/>
                  <a:cs typeface="+mn-cs"/>
                </a:rPr>
                <a:t>营</a:t>
              </a:r>
            </a:p>
          </p:txBody>
        </p:sp>
      </p:grpSp>
      <p:grpSp>
        <p:nvGrpSpPr>
          <p:cNvPr id="44" name="dept-medical"/>
          <p:cNvGrpSpPr/>
          <p:nvPr/>
        </p:nvGrpSpPr>
        <p:grpSpPr>
          <a:xfrm>
            <a:off x="2457450" y="3638550"/>
            <a:ext cx="1314450" cy="2505075"/>
            <a:chOff x="2457450" y="3638550"/>
            <a:chExt cx="1314450" cy="2505075"/>
          </a:xfrm>
        </p:grpSpPr>
        <p:sp>
          <p:nvSpPr>
            <p:cNvPr id="34" name="Rectangle 34"/>
            <p:cNvSpPr/>
            <p:nvPr/>
          </p:nvSpPr>
          <p:spPr>
            <a:xfrm>
              <a:off x="2943225" y="3638550"/>
              <a:ext cx="342900" cy="990600"/>
            </a:xfrm>
            <a:prstGeom prst="roundRect">
              <a:avLst>
                <a:gd name="adj" fmla="val 50000"/>
              </a:avLst>
            </a:prstGeom>
            <a:gradFill>
              <a:gsLst>
                <a:gs pos="0">
                  <a:srgbClr val="FB684A"/>
                </a:gs>
                <a:gs pos="100000">
                  <a:srgbClr val="FA421D"/>
                </a:gs>
              </a:gsLst>
              <a:lin ang="5400000" scaled="1"/>
            </a:gradFill>
            <a:ln>
              <a:noFill/>
            </a:ln>
          </p:spPr>
        </p:sp>
        <p:sp>
          <p:nvSpPr>
            <p:cNvPr id="35" name="TextBox 35"/>
            <p:cNvSpPr txBox="1"/>
            <p:nvPr/>
          </p:nvSpPr>
          <p:spPr>
            <a:xfrm>
              <a:off x="3047492" y="3933349"/>
              <a:ext cx="134366" cy="476441"/>
            </a:xfrm>
            <a:prstGeom prst="rect">
              <a:avLst/>
            </a:prstGeom>
            <a:noFill/>
            <a:ln>
              <a:noFill/>
            </a:ln>
          </p:spPr>
          <p:txBody>
            <a:bodyPr wrap="none" lIns="0" tIns="0" rIns="0" bIns="0" anchor="t" anchorCtr="0">
              <a:spAutoFit/>
            </a:bodyPr>
            <a:lstStyle/>
            <a:p>
              <a:pPr algn="ctr">
                <a:lnSpc>
                  <a:spcPts val="1125"/>
                </a:lnSpc>
              </a:pPr>
              <a:r>
                <a:rPr lang="zh-CN" sz="980" dirty="0">
                  <a:solidFill>
                    <a:srgbClr val="FFFFFF"/>
                  </a:solidFill>
                  <a:latin typeface="+mn-lt"/>
                  <a:ea typeface="+mn-ea"/>
                  <a:cs typeface="+mn-cs"/>
                </a:rPr>
                <a:t>医</a:t>
              </a:r>
              <a:br/>
              <a:r>
                <a:rPr lang="zh-CN" sz="980" dirty="0">
                  <a:solidFill>
                    <a:srgbClr val="FFFFFF"/>
                  </a:solidFill>
                  <a:latin typeface="+mn-lt"/>
                  <a:ea typeface="+mn-ea"/>
                  <a:cs typeface="+mn-cs"/>
                </a:rPr>
                <a:t>疗</a:t>
              </a:r>
              <a:br/>
              <a:r>
                <a:rPr lang="zh-CN" sz="980" dirty="0">
                  <a:solidFill>
                    <a:srgbClr val="FFFFFF"/>
                  </a:solidFill>
                  <a:latin typeface="+mn-lt"/>
                  <a:ea typeface="+mn-ea"/>
                  <a:cs typeface="+mn-cs"/>
                </a:rPr>
                <a:t>部</a:t>
              </a:r>
            </a:p>
          </p:txBody>
        </p:sp>
        <p:sp>
          <p:nvSpPr>
            <p:cNvPr id="36" name="Rectangle 36"/>
            <p:cNvSpPr/>
            <p:nvPr/>
          </p:nvSpPr>
          <p:spPr>
            <a:xfrm>
              <a:off x="2457450" y="5210175"/>
              <a:ext cx="285750" cy="933450"/>
            </a:xfrm>
            <a:prstGeom prst="roundRect">
              <a:avLst>
                <a:gd name="adj" fmla="val 50000"/>
              </a:avLst>
            </a:prstGeom>
            <a:solidFill>
              <a:srgbClr val="FFFFFF"/>
            </a:solidFill>
            <a:ln w="14288">
              <a:solidFill>
                <a:srgbClr val="FCC6BB"/>
              </a:solidFill>
            </a:ln>
          </p:spPr>
        </p:sp>
        <p:sp>
          <p:nvSpPr>
            <p:cNvPr id="37" name="TextBox 37"/>
            <p:cNvSpPr txBox="1"/>
            <p:nvPr/>
          </p:nvSpPr>
          <p:spPr>
            <a:xfrm>
              <a:off x="2543493" y="5387816"/>
              <a:ext cx="113665" cy="65722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住</a:t>
              </a:r>
              <a:br/>
              <a:r>
                <a:rPr lang="zh-CN" sz="820" dirty="0">
                  <a:solidFill>
                    <a:srgbClr val="D03B1D"/>
                  </a:solidFill>
                  <a:latin typeface="+mn-lt"/>
                  <a:ea typeface="+mn-ea"/>
                  <a:cs typeface="+mn-cs"/>
                </a:rPr>
                <a:t>院</a:t>
              </a:r>
              <a:br/>
              <a:r>
                <a:rPr lang="zh-CN" sz="820" dirty="0">
                  <a:solidFill>
                    <a:srgbClr val="D03B1D"/>
                  </a:solidFill>
                  <a:latin typeface="+mn-lt"/>
                  <a:ea typeface="+mn-ea"/>
                  <a:cs typeface="+mn-cs"/>
                </a:rPr>
                <a:t>部</a:t>
              </a:r>
              <a:br/>
              <a:r>
                <a:rPr lang="zh-CN" sz="820" dirty="0">
                  <a:solidFill>
                    <a:srgbClr val="D03B1D"/>
                  </a:solidFill>
                  <a:latin typeface="+mn-lt"/>
                  <a:ea typeface="+mn-ea"/>
                  <a:cs typeface="+mn-cs"/>
                </a:rPr>
                <a:t>科</a:t>
              </a:r>
              <a:br/>
              <a:r>
                <a:rPr lang="zh-CN" sz="820" dirty="0">
                  <a:solidFill>
                    <a:srgbClr val="D03B1D"/>
                  </a:solidFill>
                  <a:latin typeface="+mn-lt"/>
                  <a:ea typeface="+mn-ea"/>
                  <a:cs typeface="+mn-cs"/>
                </a:rPr>
                <a:t>室</a:t>
              </a:r>
            </a:p>
          </p:txBody>
        </p:sp>
        <p:sp>
          <p:nvSpPr>
            <p:cNvPr id="38" name="Rectangle 38"/>
            <p:cNvSpPr/>
            <p:nvPr/>
          </p:nvSpPr>
          <p:spPr>
            <a:xfrm>
              <a:off x="2800350" y="5210175"/>
              <a:ext cx="285750" cy="933450"/>
            </a:xfrm>
            <a:prstGeom prst="roundRect">
              <a:avLst>
                <a:gd name="adj" fmla="val 50000"/>
              </a:avLst>
            </a:prstGeom>
            <a:solidFill>
              <a:srgbClr val="FFFFFF"/>
            </a:solidFill>
            <a:ln w="14288">
              <a:solidFill>
                <a:srgbClr val="FCC6BB"/>
              </a:solidFill>
            </a:ln>
          </p:spPr>
        </p:sp>
        <p:sp>
          <p:nvSpPr>
            <p:cNvPr id="39" name="TextBox 39"/>
            <p:cNvSpPr txBox="1"/>
            <p:nvPr/>
          </p:nvSpPr>
          <p:spPr>
            <a:xfrm>
              <a:off x="2886393" y="5511641"/>
              <a:ext cx="113665" cy="40957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信</a:t>
              </a:r>
              <a:br/>
              <a:r>
                <a:rPr lang="zh-CN" sz="820" dirty="0">
                  <a:solidFill>
                    <a:srgbClr val="D03B1D"/>
                  </a:solidFill>
                  <a:latin typeface="+mn-lt"/>
                  <a:ea typeface="+mn-ea"/>
                  <a:cs typeface="+mn-cs"/>
                </a:rPr>
                <a:t>息</a:t>
              </a:r>
              <a:br/>
              <a:r>
                <a:rPr lang="zh-CN" sz="820" dirty="0">
                  <a:solidFill>
                    <a:srgbClr val="D03B1D"/>
                  </a:solidFill>
                  <a:latin typeface="+mn-lt"/>
                  <a:ea typeface="+mn-ea"/>
                  <a:cs typeface="+mn-cs"/>
                </a:rPr>
                <a:t>科</a:t>
              </a:r>
            </a:p>
          </p:txBody>
        </p:sp>
        <p:sp>
          <p:nvSpPr>
            <p:cNvPr id="40" name="Rectangle 40"/>
            <p:cNvSpPr/>
            <p:nvPr/>
          </p:nvSpPr>
          <p:spPr>
            <a:xfrm>
              <a:off x="3143250" y="5210175"/>
              <a:ext cx="285750" cy="933450"/>
            </a:xfrm>
            <a:prstGeom prst="roundRect">
              <a:avLst>
                <a:gd name="adj" fmla="val 50000"/>
              </a:avLst>
            </a:prstGeom>
            <a:solidFill>
              <a:srgbClr val="FFFFFF"/>
            </a:solidFill>
            <a:ln w="14288">
              <a:solidFill>
                <a:srgbClr val="FCC6BB"/>
              </a:solidFill>
            </a:ln>
          </p:spPr>
        </p:sp>
        <p:sp>
          <p:nvSpPr>
            <p:cNvPr id="41" name="TextBox 41"/>
            <p:cNvSpPr txBox="1"/>
            <p:nvPr/>
          </p:nvSpPr>
          <p:spPr>
            <a:xfrm>
              <a:off x="3229293" y="5511641"/>
              <a:ext cx="113665" cy="40957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手</a:t>
              </a:r>
              <a:br/>
              <a:r>
                <a:rPr lang="zh-CN" sz="820" dirty="0">
                  <a:solidFill>
                    <a:srgbClr val="D03B1D"/>
                  </a:solidFill>
                  <a:latin typeface="+mn-lt"/>
                  <a:ea typeface="+mn-ea"/>
                  <a:cs typeface="+mn-cs"/>
                </a:rPr>
                <a:t>术</a:t>
              </a:r>
              <a:br/>
              <a:r>
                <a:rPr lang="zh-CN" sz="820" dirty="0">
                  <a:solidFill>
                    <a:srgbClr val="D03B1D"/>
                  </a:solidFill>
                  <a:latin typeface="+mn-lt"/>
                  <a:ea typeface="+mn-ea"/>
                  <a:cs typeface="+mn-cs"/>
                </a:rPr>
                <a:t>室</a:t>
              </a:r>
            </a:p>
          </p:txBody>
        </p:sp>
        <p:sp>
          <p:nvSpPr>
            <p:cNvPr id="42" name="Rectangle 42"/>
            <p:cNvSpPr/>
            <p:nvPr/>
          </p:nvSpPr>
          <p:spPr>
            <a:xfrm>
              <a:off x="3486150" y="5210175"/>
              <a:ext cx="285750" cy="933450"/>
            </a:xfrm>
            <a:prstGeom prst="roundRect">
              <a:avLst>
                <a:gd name="adj" fmla="val 50000"/>
              </a:avLst>
            </a:prstGeom>
            <a:solidFill>
              <a:srgbClr val="FFFFFF"/>
            </a:solidFill>
            <a:ln w="14288">
              <a:solidFill>
                <a:srgbClr val="FCC6BB"/>
              </a:solidFill>
            </a:ln>
          </p:spPr>
        </p:sp>
        <p:sp>
          <p:nvSpPr>
            <p:cNvPr id="43" name="TextBox 43"/>
            <p:cNvSpPr txBox="1"/>
            <p:nvPr/>
          </p:nvSpPr>
          <p:spPr>
            <a:xfrm>
              <a:off x="3572193" y="5511641"/>
              <a:ext cx="113665" cy="40957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急</a:t>
              </a:r>
              <a:br/>
              <a:r>
                <a:rPr lang="zh-CN" sz="820" dirty="0">
                  <a:solidFill>
                    <a:srgbClr val="D03B1D"/>
                  </a:solidFill>
                  <a:latin typeface="+mn-lt"/>
                  <a:ea typeface="+mn-ea"/>
                  <a:cs typeface="+mn-cs"/>
                </a:rPr>
                <a:t>诊</a:t>
              </a:r>
              <a:br/>
              <a:r>
                <a:rPr lang="zh-CN" sz="820" dirty="0">
                  <a:solidFill>
                    <a:srgbClr val="D03B1D"/>
                  </a:solidFill>
                  <a:latin typeface="+mn-lt"/>
                  <a:ea typeface="+mn-ea"/>
                  <a:cs typeface="+mn-cs"/>
                </a:rPr>
                <a:t>科</a:t>
              </a:r>
            </a:p>
          </p:txBody>
        </p:sp>
      </p:grpSp>
      <p:grpSp>
        <p:nvGrpSpPr>
          <p:cNvPr id="53" name="dept-logistics"/>
          <p:cNvGrpSpPr/>
          <p:nvPr/>
        </p:nvGrpSpPr>
        <p:grpSpPr>
          <a:xfrm>
            <a:off x="3981450" y="3638550"/>
            <a:ext cx="971550" cy="2505075"/>
            <a:chOff x="3981450" y="3638550"/>
            <a:chExt cx="971550" cy="2505075"/>
          </a:xfrm>
        </p:grpSpPr>
        <p:sp>
          <p:nvSpPr>
            <p:cNvPr id="45" name="Rectangle 45"/>
            <p:cNvSpPr/>
            <p:nvPr/>
          </p:nvSpPr>
          <p:spPr>
            <a:xfrm>
              <a:off x="4295775" y="3638550"/>
              <a:ext cx="342900" cy="990600"/>
            </a:xfrm>
            <a:prstGeom prst="roundRect">
              <a:avLst>
                <a:gd name="adj" fmla="val 50000"/>
              </a:avLst>
            </a:prstGeom>
            <a:gradFill>
              <a:gsLst>
                <a:gs pos="0">
                  <a:srgbClr val="FB684A"/>
                </a:gs>
                <a:gs pos="100000">
                  <a:srgbClr val="FA421D"/>
                </a:gs>
              </a:gsLst>
              <a:lin ang="5400000" scaled="1"/>
            </a:gradFill>
            <a:ln>
              <a:noFill/>
            </a:ln>
          </p:spPr>
        </p:sp>
        <p:sp>
          <p:nvSpPr>
            <p:cNvPr id="46" name="TextBox 46"/>
            <p:cNvSpPr txBox="1"/>
            <p:nvPr/>
          </p:nvSpPr>
          <p:spPr>
            <a:xfrm>
              <a:off x="4400042" y="3933349"/>
              <a:ext cx="134366" cy="476441"/>
            </a:xfrm>
            <a:prstGeom prst="rect">
              <a:avLst/>
            </a:prstGeom>
            <a:noFill/>
            <a:ln>
              <a:noFill/>
            </a:ln>
          </p:spPr>
          <p:txBody>
            <a:bodyPr wrap="none" lIns="0" tIns="0" rIns="0" bIns="0" anchor="t" anchorCtr="0">
              <a:spAutoFit/>
            </a:bodyPr>
            <a:lstStyle/>
            <a:p>
              <a:pPr algn="ctr">
                <a:lnSpc>
                  <a:spcPts val="1125"/>
                </a:lnSpc>
              </a:pPr>
              <a:r>
                <a:rPr lang="zh-CN" sz="980" dirty="0">
                  <a:solidFill>
                    <a:srgbClr val="FFFFFF"/>
                  </a:solidFill>
                  <a:latin typeface="+mn-lt"/>
                  <a:ea typeface="+mn-ea"/>
                  <a:cs typeface="+mn-cs"/>
                </a:rPr>
                <a:t>后</a:t>
              </a:r>
              <a:br/>
              <a:r>
                <a:rPr lang="zh-CN" sz="980" dirty="0">
                  <a:solidFill>
                    <a:srgbClr val="FFFFFF"/>
                  </a:solidFill>
                  <a:latin typeface="+mn-lt"/>
                  <a:ea typeface="+mn-ea"/>
                  <a:cs typeface="+mn-cs"/>
                </a:rPr>
                <a:t>勤</a:t>
              </a:r>
              <a:br/>
              <a:r>
                <a:rPr lang="zh-CN" sz="980" dirty="0">
                  <a:solidFill>
                    <a:srgbClr val="FFFFFF"/>
                  </a:solidFill>
                  <a:latin typeface="+mn-lt"/>
                  <a:ea typeface="+mn-ea"/>
                  <a:cs typeface="+mn-cs"/>
                </a:rPr>
                <a:t>部</a:t>
              </a:r>
            </a:p>
          </p:txBody>
        </p:sp>
        <p:sp>
          <p:nvSpPr>
            <p:cNvPr id="47" name="Rectangle 47"/>
            <p:cNvSpPr/>
            <p:nvPr/>
          </p:nvSpPr>
          <p:spPr>
            <a:xfrm>
              <a:off x="3981450" y="5210175"/>
              <a:ext cx="285750" cy="933450"/>
            </a:xfrm>
            <a:prstGeom prst="roundRect">
              <a:avLst>
                <a:gd name="adj" fmla="val 50000"/>
              </a:avLst>
            </a:prstGeom>
            <a:solidFill>
              <a:srgbClr val="FFFFFF"/>
            </a:solidFill>
            <a:ln w="14288">
              <a:solidFill>
                <a:srgbClr val="FCC6BB"/>
              </a:solidFill>
            </a:ln>
          </p:spPr>
        </p:sp>
        <p:sp>
          <p:nvSpPr>
            <p:cNvPr id="48" name="TextBox 48"/>
            <p:cNvSpPr txBox="1"/>
            <p:nvPr/>
          </p:nvSpPr>
          <p:spPr>
            <a:xfrm>
              <a:off x="4067493" y="5511641"/>
              <a:ext cx="113665" cy="40957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保</a:t>
              </a:r>
              <a:br/>
              <a:r>
                <a:rPr lang="zh-CN" sz="820" dirty="0">
                  <a:solidFill>
                    <a:srgbClr val="D03B1D"/>
                  </a:solidFill>
                  <a:latin typeface="+mn-lt"/>
                  <a:ea typeface="+mn-ea"/>
                  <a:cs typeface="+mn-cs"/>
                </a:rPr>
                <a:t>洁</a:t>
              </a:r>
              <a:br/>
              <a:r>
                <a:rPr lang="zh-CN" sz="820" dirty="0">
                  <a:solidFill>
                    <a:srgbClr val="D03B1D"/>
                  </a:solidFill>
                  <a:latin typeface="+mn-lt"/>
                  <a:ea typeface="+mn-ea"/>
                  <a:cs typeface="+mn-cs"/>
                </a:rPr>
                <a:t>部</a:t>
              </a:r>
            </a:p>
          </p:txBody>
        </p:sp>
        <p:sp>
          <p:nvSpPr>
            <p:cNvPr id="49" name="Rectangle 49"/>
            <p:cNvSpPr/>
            <p:nvPr/>
          </p:nvSpPr>
          <p:spPr>
            <a:xfrm>
              <a:off x="4324350" y="5210175"/>
              <a:ext cx="285750" cy="933450"/>
            </a:xfrm>
            <a:prstGeom prst="roundRect">
              <a:avLst>
                <a:gd name="adj" fmla="val 50000"/>
              </a:avLst>
            </a:prstGeom>
            <a:solidFill>
              <a:srgbClr val="FFFFFF"/>
            </a:solidFill>
            <a:ln w="14288">
              <a:solidFill>
                <a:srgbClr val="FCC6BB"/>
              </a:solidFill>
            </a:ln>
          </p:spPr>
        </p:sp>
        <p:sp>
          <p:nvSpPr>
            <p:cNvPr id="50" name="TextBox 50"/>
            <p:cNvSpPr txBox="1"/>
            <p:nvPr/>
          </p:nvSpPr>
          <p:spPr>
            <a:xfrm>
              <a:off x="4410392" y="5511641"/>
              <a:ext cx="113665" cy="40957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药</a:t>
              </a:r>
              <a:br/>
              <a:r>
                <a:rPr lang="zh-CN" sz="820" dirty="0">
                  <a:solidFill>
                    <a:srgbClr val="D03B1D"/>
                  </a:solidFill>
                  <a:latin typeface="+mn-lt"/>
                  <a:ea typeface="+mn-ea"/>
                  <a:cs typeface="+mn-cs"/>
                </a:rPr>
                <a:t>剂</a:t>
              </a:r>
              <a:br/>
              <a:r>
                <a:rPr lang="zh-CN" sz="820" dirty="0">
                  <a:solidFill>
                    <a:srgbClr val="D03B1D"/>
                  </a:solidFill>
                  <a:latin typeface="+mn-lt"/>
                  <a:ea typeface="+mn-ea"/>
                  <a:cs typeface="+mn-cs"/>
                </a:rPr>
                <a:t>科</a:t>
              </a:r>
            </a:p>
          </p:txBody>
        </p:sp>
        <p:sp>
          <p:nvSpPr>
            <p:cNvPr id="51" name="Rectangle 51"/>
            <p:cNvSpPr/>
            <p:nvPr/>
          </p:nvSpPr>
          <p:spPr>
            <a:xfrm>
              <a:off x="4667250" y="5210175"/>
              <a:ext cx="285750" cy="933450"/>
            </a:xfrm>
            <a:prstGeom prst="roundRect">
              <a:avLst>
                <a:gd name="adj" fmla="val 50000"/>
              </a:avLst>
            </a:prstGeom>
            <a:solidFill>
              <a:srgbClr val="FFFFFF"/>
            </a:solidFill>
            <a:ln w="14288">
              <a:solidFill>
                <a:srgbClr val="FCC6BB"/>
              </a:solidFill>
            </a:ln>
          </p:spPr>
        </p:sp>
        <p:sp>
          <p:nvSpPr>
            <p:cNvPr id="52" name="TextBox 52"/>
            <p:cNvSpPr txBox="1"/>
            <p:nvPr/>
          </p:nvSpPr>
          <p:spPr>
            <a:xfrm>
              <a:off x="4753292" y="5511641"/>
              <a:ext cx="113665" cy="40957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设</a:t>
              </a:r>
              <a:br/>
              <a:r>
                <a:rPr lang="zh-CN" sz="820" dirty="0">
                  <a:solidFill>
                    <a:srgbClr val="D03B1D"/>
                  </a:solidFill>
                  <a:latin typeface="+mn-lt"/>
                  <a:ea typeface="+mn-ea"/>
                  <a:cs typeface="+mn-cs"/>
                </a:rPr>
                <a:t>备</a:t>
              </a:r>
              <a:br/>
              <a:r>
                <a:rPr lang="zh-CN" sz="820" dirty="0">
                  <a:solidFill>
                    <a:srgbClr val="D03B1D"/>
                  </a:solidFill>
                  <a:latin typeface="+mn-lt"/>
                  <a:ea typeface="+mn-ea"/>
                  <a:cs typeface="+mn-cs"/>
                </a:rPr>
                <a:t>科</a:t>
              </a:r>
            </a:p>
          </p:txBody>
        </p:sp>
      </p:grpSp>
      <p:grpSp>
        <p:nvGrpSpPr>
          <p:cNvPr id="68" name="dept-service"/>
          <p:cNvGrpSpPr/>
          <p:nvPr/>
        </p:nvGrpSpPr>
        <p:grpSpPr>
          <a:xfrm>
            <a:off x="5162550" y="3638550"/>
            <a:ext cx="2000250" cy="2505075"/>
            <a:chOff x="5162550" y="3638550"/>
            <a:chExt cx="2000250" cy="2505075"/>
          </a:xfrm>
        </p:grpSpPr>
        <p:sp>
          <p:nvSpPr>
            <p:cNvPr id="54" name="Rectangle 54"/>
            <p:cNvSpPr/>
            <p:nvPr/>
          </p:nvSpPr>
          <p:spPr>
            <a:xfrm>
              <a:off x="5991225" y="3638550"/>
              <a:ext cx="342900" cy="990600"/>
            </a:xfrm>
            <a:prstGeom prst="roundRect">
              <a:avLst>
                <a:gd name="adj" fmla="val 50000"/>
              </a:avLst>
            </a:prstGeom>
            <a:gradFill>
              <a:gsLst>
                <a:gs pos="0">
                  <a:srgbClr val="FB684A"/>
                </a:gs>
                <a:gs pos="100000">
                  <a:srgbClr val="FA421D"/>
                </a:gs>
              </a:gsLst>
              <a:lin ang="5400000" scaled="1"/>
            </a:gradFill>
            <a:ln>
              <a:noFill/>
            </a:ln>
          </p:spPr>
        </p:sp>
        <p:sp>
          <p:nvSpPr>
            <p:cNvPr id="55" name="TextBox 55"/>
            <p:cNvSpPr txBox="1"/>
            <p:nvPr/>
          </p:nvSpPr>
          <p:spPr>
            <a:xfrm>
              <a:off x="6095492" y="3933349"/>
              <a:ext cx="134366" cy="476441"/>
            </a:xfrm>
            <a:prstGeom prst="rect">
              <a:avLst/>
            </a:prstGeom>
            <a:noFill/>
            <a:ln>
              <a:noFill/>
            </a:ln>
          </p:spPr>
          <p:txBody>
            <a:bodyPr wrap="none" lIns="0" tIns="0" rIns="0" bIns="0" anchor="t" anchorCtr="0">
              <a:spAutoFit/>
            </a:bodyPr>
            <a:lstStyle/>
            <a:p>
              <a:pPr algn="ctr">
                <a:lnSpc>
                  <a:spcPts val="1125"/>
                </a:lnSpc>
              </a:pPr>
              <a:r>
                <a:rPr lang="zh-CN" sz="980" dirty="0">
                  <a:solidFill>
                    <a:srgbClr val="FFFFFF"/>
                  </a:solidFill>
                  <a:latin typeface="+mn-lt"/>
                  <a:ea typeface="+mn-ea"/>
                  <a:cs typeface="+mn-cs"/>
                </a:rPr>
                <a:t>客</a:t>
              </a:r>
              <a:br/>
              <a:r>
                <a:rPr lang="zh-CN" sz="980" dirty="0">
                  <a:solidFill>
                    <a:srgbClr val="FFFFFF"/>
                  </a:solidFill>
                  <a:latin typeface="+mn-lt"/>
                  <a:ea typeface="+mn-ea"/>
                  <a:cs typeface="+mn-cs"/>
                </a:rPr>
                <a:t>服</a:t>
              </a:r>
              <a:br/>
              <a:r>
                <a:rPr lang="zh-CN" sz="980" dirty="0">
                  <a:solidFill>
                    <a:srgbClr val="FFFFFF"/>
                  </a:solidFill>
                  <a:latin typeface="+mn-lt"/>
                  <a:ea typeface="+mn-ea"/>
                  <a:cs typeface="+mn-cs"/>
                </a:rPr>
                <a:t>部</a:t>
              </a:r>
            </a:p>
          </p:txBody>
        </p:sp>
        <p:sp>
          <p:nvSpPr>
            <p:cNvPr id="56" name="Rectangle 56"/>
            <p:cNvSpPr/>
            <p:nvPr/>
          </p:nvSpPr>
          <p:spPr>
            <a:xfrm>
              <a:off x="5162550" y="5210175"/>
              <a:ext cx="285750" cy="933450"/>
            </a:xfrm>
            <a:prstGeom prst="roundRect">
              <a:avLst>
                <a:gd name="adj" fmla="val 50000"/>
              </a:avLst>
            </a:prstGeom>
            <a:solidFill>
              <a:srgbClr val="FFFFFF"/>
            </a:solidFill>
            <a:ln w="14288">
              <a:solidFill>
                <a:srgbClr val="FCC6BB"/>
              </a:solidFill>
            </a:ln>
          </p:spPr>
        </p:sp>
        <p:sp>
          <p:nvSpPr>
            <p:cNvPr id="57" name="TextBox 57"/>
            <p:cNvSpPr txBox="1"/>
            <p:nvPr/>
          </p:nvSpPr>
          <p:spPr>
            <a:xfrm>
              <a:off x="5248592" y="5444966"/>
              <a:ext cx="113665" cy="53340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售</a:t>
              </a:r>
              <a:br/>
              <a:r>
                <a:rPr lang="zh-CN" sz="820" dirty="0">
                  <a:solidFill>
                    <a:srgbClr val="D03B1D"/>
                  </a:solidFill>
                  <a:latin typeface="+mn-lt"/>
                  <a:ea typeface="+mn-ea"/>
                  <a:cs typeface="+mn-cs"/>
                </a:rPr>
                <a:t>前</a:t>
              </a:r>
              <a:br/>
              <a:r>
                <a:rPr lang="zh-CN" sz="820" dirty="0">
                  <a:solidFill>
                    <a:srgbClr val="D03B1D"/>
                  </a:solidFill>
                  <a:latin typeface="+mn-lt"/>
                  <a:ea typeface="+mn-ea"/>
                  <a:cs typeface="+mn-cs"/>
                </a:rPr>
                <a:t>服</a:t>
              </a:r>
              <a:br/>
              <a:r>
                <a:rPr lang="zh-CN" sz="820" dirty="0">
                  <a:solidFill>
                    <a:srgbClr val="D03B1D"/>
                  </a:solidFill>
                  <a:latin typeface="+mn-lt"/>
                  <a:ea typeface="+mn-ea"/>
                  <a:cs typeface="+mn-cs"/>
                </a:rPr>
                <a:t>务</a:t>
              </a:r>
            </a:p>
          </p:txBody>
        </p:sp>
        <p:sp>
          <p:nvSpPr>
            <p:cNvPr id="58" name="Rectangle 58"/>
            <p:cNvSpPr/>
            <p:nvPr/>
          </p:nvSpPr>
          <p:spPr>
            <a:xfrm>
              <a:off x="5505450" y="5210175"/>
              <a:ext cx="285750" cy="933450"/>
            </a:xfrm>
            <a:prstGeom prst="roundRect">
              <a:avLst>
                <a:gd name="adj" fmla="val 50000"/>
              </a:avLst>
            </a:prstGeom>
            <a:solidFill>
              <a:srgbClr val="FFFFFF"/>
            </a:solidFill>
            <a:ln w="14288">
              <a:solidFill>
                <a:srgbClr val="FCC6BB"/>
              </a:solidFill>
            </a:ln>
          </p:spPr>
        </p:sp>
        <p:sp>
          <p:nvSpPr>
            <p:cNvPr id="59" name="TextBox 59"/>
            <p:cNvSpPr txBox="1"/>
            <p:nvPr/>
          </p:nvSpPr>
          <p:spPr>
            <a:xfrm>
              <a:off x="5591492" y="5444966"/>
              <a:ext cx="113665" cy="53340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售</a:t>
              </a:r>
              <a:br/>
              <a:r>
                <a:rPr lang="zh-CN" sz="820" dirty="0">
                  <a:solidFill>
                    <a:srgbClr val="D03B1D"/>
                  </a:solidFill>
                  <a:latin typeface="+mn-lt"/>
                  <a:ea typeface="+mn-ea"/>
                  <a:cs typeface="+mn-cs"/>
                </a:rPr>
                <a:t>中</a:t>
              </a:r>
              <a:br/>
              <a:r>
                <a:rPr lang="zh-CN" sz="820" dirty="0">
                  <a:solidFill>
                    <a:srgbClr val="D03B1D"/>
                  </a:solidFill>
                  <a:latin typeface="+mn-lt"/>
                  <a:ea typeface="+mn-ea"/>
                  <a:cs typeface="+mn-cs"/>
                </a:rPr>
                <a:t>服</a:t>
              </a:r>
              <a:br/>
              <a:r>
                <a:rPr lang="zh-CN" sz="820" dirty="0">
                  <a:solidFill>
                    <a:srgbClr val="D03B1D"/>
                  </a:solidFill>
                  <a:latin typeface="+mn-lt"/>
                  <a:ea typeface="+mn-ea"/>
                  <a:cs typeface="+mn-cs"/>
                </a:rPr>
                <a:t>务</a:t>
              </a:r>
            </a:p>
          </p:txBody>
        </p:sp>
        <p:sp>
          <p:nvSpPr>
            <p:cNvPr id="60" name="Rectangle 60"/>
            <p:cNvSpPr/>
            <p:nvPr/>
          </p:nvSpPr>
          <p:spPr>
            <a:xfrm>
              <a:off x="5848350" y="5210175"/>
              <a:ext cx="285750" cy="933450"/>
            </a:xfrm>
            <a:prstGeom prst="roundRect">
              <a:avLst>
                <a:gd name="adj" fmla="val 50000"/>
              </a:avLst>
            </a:prstGeom>
            <a:solidFill>
              <a:srgbClr val="FFFFFF"/>
            </a:solidFill>
            <a:ln w="14288">
              <a:solidFill>
                <a:srgbClr val="FCC6BB"/>
              </a:solidFill>
            </a:ln>
          </p:spPr>
        </p:sp>
        <p:sp>
          <p:nvSpPr>
            <p:cNvPr id="61" name="TextBox 61"/>
            <p:cNvSpPr txBox="1"/>
            <p:nvPr/>
          </p:nvSpPr>
          <p:spPr>
            <a:xfrm>
              <a:off x="5934392" y="5444966"/>
              <a:ext cx="113665" cy="53340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售</a:t>
              </a:r>
              <a:br/>
              <a:r>
                <a:rPr lang="zh-CN" sz="820" dirty="0">
                  <a:solidFill>
                    <a:srgbClr val="D03B1D"/>
                  </a:solidFill>
                  <a:latin typeface="+mn-lt"/>
                  <a:ea typeface="+mn-ea"/>
                  <a:cs typeface="+mn-cs"/>
                </a:rPr>
                <a:t>后</a:t>
              </a:r>
              <a:br/>
              <a:r>
                <a:rPr lang="zh-CN" sz="820" dirty="0">
                  <a:solidFill>
                    <a:srgbClr val="D03B1D"/>
                  </a:solidFill>
                  <a:latin typeface="+mn-lt"/>
                  <a:ea typeface="+mn-ea"/>
                  <a:cs typeface="+mn-cs"/>
                </a:rPr>
                <a:t>服</a:t>
              </a:r>
              <a:br/>
              <a:r>
                <a:rPr lang="zh-CN" sz="820" dirty="0">
                  <a:solidFill>
                    <a:srgbClr val="D03B1D"/>
                  </a:solidFill>
                  <a:latin typeface="+mn-lt"/>
                  <a:ea typeface="+mn-ea"/>
                  <a:cs typeface="+mn-cs"/>
                </a:rPr>
                <a:t>务</a:t>
              </a:r>
            </a:p>
          </p:txBody>
        </p:sp>
        <p:sp>
          <p:nvSpPr>
            <p:cNvPr id="62" name="Rectangle 62"/>
            <p:cNvSpPr/>
            <p:nvPr/>
          </p:nvSpPr>
          <p:spPr>
            <a:xfrm>
              <a:off x="6191250" y="5210175"/>
              <a:ext cx="285750" cy="933450"/>
            </a:xfrm>
            <a:prstGeom prst="roundRect">
              <a:avLst>
                <a:gd name="adj" fmla="val 50000"/>
              </a:avLst>
            </a:prstGeom>
            <a:solidFill>
              <a:srgbClr val="FFFFFF"/>
            </a:solidFill>
            <a:ln w="14288">
              <a:solidFill>
                <a:srgbClr val="FCC6BB"/>
              </a:solidFill>
            </a:ln>
          </p:spPr>
        </p:sp>
        <p:sp>
          <p:nvSpPr>
            <p:cNvPr id="63" name="TextBox 63"/>
            <p:cNvSpPr txBox="1"/>
            <p:nvPr/>
          </p:nvSpPr>
          <p:spPr>
            <a:xfrm>
              <a:off x="6277292" y="5444966"/>
              <a:ext cx="113665" cy="533400"/>
            </a:xfrm>
            <a:prstGeom prst="rect">
              <a:avLst/>
            </a:prstGeom>
            <a:noFill/>
            <a:ln>
              <a:noFill/>
            </a:ln>
          </p:spPr>
          <p:txBody>
            <a:bodyPr wrap="none" lIns="0" tIns="0" rIns="0" bIns="0" anchor="t" anchorCtr="0">
              <a:spAutoFit/>
            </a:bodyPr>
            <a:lstStyle/>
            <a:p>
              <a:pPr algn="ctr">
                <a:lnSpc>
                  <a:spcPts val="975"/>
                </a:lnSpc>
              </a:pPr>
              <a:r>
                <a:rPr lang="en-US" sz="820" dirty="0">
                  <a:solidFill>
                    <a:srgbClr val="D03B1D"/>
                  </a:solidFill>
                  <a:latin typeface="+mn-lt"/>
                  <a:ea typeface="+mn-ea"/>
                  <a:cs typeface="+mn-cs"/>
                </a:rPr>
                <a:t>A</a:t>
              </a:r>
              <a:br/>
              <a:r>
                <a:rPr lang="en-US" sz="820" dirty="0">
                  <a:solidFill>
                    <a:srgbClr val="D03B1D"/>
                  </a:solidFill>
                  <a:latin typeface="+mn-lt"/>
                  <a:ea typeface="+mn-ea"/>
                  <a:cs typeface="+mn-cs"/>
                </a:rPr>
                <a:t>I</a:t>
              </a:r>
              <a:br/>
              <a:r>
                <a:rPr lang="zh-CN" sz="820" dirty="0">
                  <a:solidFill>
                    <a:srgbClr val="D03B1D"/>
                  </a:solidFill>
                  <a:latin typeface="+mn-lt"/>
                  <a:ea typeface="+mn-ea"/>
                  <a:cs typeface="+mn-cs"/>
                </a:rPr>
                <a:t>客</a:t>
              </a:r>
              <a:br/>
              <a:r>
                <a:rPr lang="zh-CN" sz="820" dirty="0">
                  <a:solidFill>
                    <a:srgbClr val="D03B1D"/>
                  </a:solidFill>
                  <a:latin typeface="+mn-lt"/>
                  <a:ea typeface="+mn-ea"/>
                  <a:cs typeface="+mn-cs"/>
                </a:rPr>
                <a:t>服</a:t>
              </a:r>
            </a:p>
          </p:txBody>
        </p:sp>
        <p:sp>
          <p:nvSpPr>
            <p:cNvPr id="64" name="Rectangle 64"/>
            <p:cNvSpPr/>
            <p:nvPr/>
          </p:nvSpPr>
          <p:spPr>
            <a:xfrm>
              <a:off x="6534150" y="5210175"/>
              <a:ext cx="285750" cy="933450"/>
            </a:xfrm>
            <a:prstGeom prst="roundRect">
              <a:avLst>
                <a:gd name="adj" fmla="val 50000"/>
              </a:avLst>
            </a:prstGeom>
            <a:solidFill>
              <a:srgbClr val="FFFFFF"/>
            </a:solidFill>
            <a:ln w="14288">
              <a:solidFill>
                <a:srgbClr val="FCC6BB"/>
              </a:solidFill>
            </a:ln>
          </p:spPr>
        </p:sp>
        <p:sp>
          <p:nvSpPr>
            <p:cNvPr id="65" name="TextBox 65"/>
            <p:cNvSpPr txBox="1"/>
            <p:nvPr/>
          </p:nvSpPr>
          <p:spPr>
            <a:xfrm>
              <a:off x="6620192" y="5444966"/>
              <a:ext cx="113665" cy="53340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客</a:t>
              </a:r>
              <a:br/>
              <a:r>
                <a:rPr lang="zh-CN" sz="820" dirty="0">
                  <a:solidFill>
                    <a:srgbClr val="D03B1D"/>
                  </a:solidFill>
                  <a:latin typeface="+mn-lt"/>
                  <a:ea typeface="+mn-ea"/>
                  <a:cs typeface="+mn-cs"/>
                </a:rPr>
                <a:t>户</a:t>
              </a:r>
              <a:br/>
              <a:r>
                <a:rPr lang="zh-CN" sz="820" dirty="0">
                  <a:solidFill>
                    <a:srgbClr val="D03B1D"/>
                  </a:solidFill>
                  <a:latin typeface="+mn-lt"/>
                  <a:ea typeface="+mn-ea"/>
                  <a:cs typeface="+mn-cs"/>
                </a:rPr>
                <a:t>投</a:t>
              </a:r>
              <a:br/>
              <a:r>
                <a:rPr lang="zh-CN" sz="820" dirty="0">
                  <a:solidFill>
                    <a:srgbClr val="D03B1D"/>
                  </a:solidFill>
                  <a:latin typeface="+mn-lt"/>
                  <a:ea typeface="+mn-ea"/>
                  <a:cs typeface="+mn-cs"/>
                </a:rPr>
                <a:t>诉</a:t>
              </a:r>
            </a:p>
          </p:txBody>
        </p:sp>
        <p:sp>
          <p:nvSpPr>
            <p:cNvPr id="66" name="Rectangle 66"/>
            <p:cNvSpPr/>
            <p:nvPr/>
          </p:nvSpPr>
          <p:spPr>
            <a:xfrm>
              <a:off x="6877050" y="5210175"/>
              <a:ext cx="285750" cy="933450"/>
            </a:xfrm>
            <a:prstGeom prst="roundRect">
              <a:avLst>
                <a:gd name="adj" fmla="val 50000"/>
              </a:avLst>
            </a:prstGeom>
            <a:solidFill>
              <a:srgbClr val="FFFFFF"/>
            </a:solidFill>
            <a:ln w="14288">
              <a:solidFill>
                <a:srgbClr val="FCC6BB"/>
              </a:solidFill>
            </a:ln>
          </p:spPr>
        </p:sp>
        <p:sp>
          <p:nvSpPr>
            <p:cNvPr id="67" name="TextBox 67"/>
            <p:cNvSpPr txBox="1"/>
            <p:nvPr/>
          </p:nvSpPr>
          <p:spPr>
            <a:xfrm>
              <a:off x="6963092" y="5444966"/>
              <a:ext cx="113665" cy="53340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工</a:t>
              </a:r>
              <a:br/>
              <a:r>
                <a:rPr lang="zh-CN" sz="820" dirty="0">
                  <a:solidFill>
                    <a:srgbClr val="D03B1D"/>
                  </a:solidFill>
                  <a:latin typeface="+mn-lt"/>
                  <a:ea typeface="+mn-ea"/>
                  <a:cs typeface="+mn-cs"/>
                </a:rPr>
                <a:t>单</a:t>
              </a:r>
              <a:br/>
              <a:r>
                <a:rPr lang="zh-CN" sz="820" dirty="0">
                  <a:solidFill>
                    <a:srgbClr val="D03B1D"/>
                  </a:solidFill>
                  <a:latin typeface="+mn-lt"/>
                  <a:ea typeface="+mn-ea"/>
                  <a:cs typeface="+mn-cs"/>
                </a:rPr>
                <a:t>信</a:t>
              </a:r>
              <a:br/>
              <a:r>
                <a:rPr lang="zh-CN" sz="820" dirty="0">
                  <a:solidFill>
                    <a:srgbClr val="D03B1D"/>
                  </a:solidFill>
                  <a:latin typeface="+mn-lt"/>
                  <a:ea typeface="+mn-ea"/>
                  <a:cs typeface="+mn-cs"/>
                </a:rPr>
                <a:t>息</a:t>
              </a:r>
            </a:p>
          </p:txBody>
        </p:sp>
      </p:grpSp>
      <p:grpSp>
        <p:nvGrpSpPr>
          <p:cNvPr id="79" name="dept-admin"/>
          <p:cNvGrpSpPr/>
          <p:nvPr/>
        </p:nvGrpSpPr>
        <p:grpSpPr>
          <a:xfrm>
            <a:off x="7372350" y="3638550"/>
            <a:ext cx="1314450" cy="2505075"/>
            <a:chOff x="7372350" y="3638550"/>
            <a:chExt cx="1314450" cy="2505075"/>
          </a:xfrm>
        </p:grpSpPr>
        <p:sp>
          <p:nvSpPr>
            <p:cNvPr id="69" name="Rectangle 69"/>
            <p:cNvSpPr/>
            <p:nvPr/>
          </p:nvSpPr>
          <p:spPr>
            <a:xfrm>
              <a:off x="7858125" y="3638550"/>
              <a:ext cx="342900" cy="990600"/>
            </a:xfrm>
            <a:prstGeom prst="roundRect">
              <a:avLst>
                <a:gd name="adj" fmla="val 50000"/>
              </a:avLst>
            </a:prstGeom>
            <a:gradFill>
              <a:gsLst>
                <a:gs pos="0">
                  <a:srgbClr val="FB684A"/>
                </a:gs>
                <a:gs pos="100000">
                  <a:srgbClr val="FA421D"/>
                </a:gs>
              </a:gsLst>
              <a:lin ang="5400000" scaled="1"/>
            </a:gradFill>
            <a:ln>
              <a:noFill/>
            </a:ln>
          </p:spPr>
        </p:sp>
        <p:sp>
          <p:nvSpPr>
            <p:cNvPr id="70" name="TextBox 70"/>
            <p:cNvSpPr txBox="1"/>
            <p:nvPr/>
          </p:nvSpPr>
          <p:spPr>
            <a:xfrm>
              <a:off x="7962392" y="3933349"/>
              <a:ext cx="134366" cy="476441"/>
            </a:xfrm>
            <a:prstGeom prst="rect">
              <a:avLst/>
            </a:prstGeom>
            <a:noFill/>
            <a:ln>
              <a:noFill/>
            </a:ln>
          </p:spPr>
          <p:txBody>
            <a:bodyPr wrap="none" lIns="0" tIns="0" rIns="0" bIns="0" anchor="t" anchorCtr="0">
              <a:spAutoFit/>
            </a:bodyPr>
            <a:lstStyle/>
            <a:p>
              <a:pPr algn="ctr">
                <a:lnSpc>
                  <a:spcPts val="1125"/>
                </a:lnSpc>
              </a:pPr>
              <a:r>
                <a:rPr lang="zh-CN" sz="980" dirty="0">
                  <a:solidFill>
                    <a:srgbClr val="FFFFFF"/>
                  </a:solidFill>
                  <a:latin typeface="+mn-lt"/>
                  <a:ea typeface="+mn-ea"/>
                  <a:cs typeface="+mn-cs"/>
                </a:rPr>
                <a:t>行</a:t>
              </a:r>
              <a:br/>
              <a:r>
                <a:rPr lang="zh-CN" sz="980" dirty="0">
                  <a:solidFill>
                    <a:srgbClr val="FFFFFF"/>
                  </a:solidFill>
                  <a:latin typeface="+mn-lt"/>
                  <a:ea typeface="+mn-ea"/>
                  <a:cs typeface="+mn-cs"/>
                </a:rPr>
                <a:t>政</a:t>
              </a:r>
              <a:br/>
              <a:r>
                <a:rPr lang="zh-CN" sz="980" dirty="0">
                  <a:solidFill>
                    <a:srgbClr val="FFFFFF"/>
                  </a:solidFill>
                  <a:latin typeface="+mn-lt"/>
                  <a:ea typeface="+mn-ea"/>
                  <a:cs typeface="+mn-cs"/>
                </a:rPr>
                <a:t>部</a:t>
              </a:r>
            </a:p>
          </p:txBody>
        </p:sp>
        <p:sp>
          <p:nvSpPr>
            <p:cNvPr id="71" name="Rectangle 71"/>
            <p:cNvSpPr/>
            <p:nvPr/>
          </p:nvSpPr>
          <p:spPr>
            <a:xfrm>
              <a:off x="7372350" y="5210175"/>
              <a:ext cx="285750" cy="933450"/>
            </a:xfrm>
            <a:prstGeom prst="roundRect">
              <a:avLst>
                <a:gd name="adj" fmla="val 50000"/>
              </a:avLst>
            </a:prstGeom>
            <a:solidFill>
              <a:srgbClr val="FFFFFF"/>
            </a:solidFill>
            <a:ln w="14288">
              <a:solidFill>
                <a:srgbClr val="FCC6BB"/>
              </a:solidFill>
            </a:ln>
          </p:spPr>
        </p:sp>
        <p:sp>
          <p:nvSpPr>
            <p:cNvPr id="72" name="TextBox 72"/>
            <p:cNvSpPr txBox="1"/>
            <p:nvPr/>
          </p:nvSpPr>
          <p:spPr>
            <a:xfrm>
              <a:off x="7458392" y="5387816"/>
              <a:ext cx="113665" cy="65722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考</a:t>
              </a:r>
              <a:br/>
              <a:r>
                <a:rPr lang="zh-CN" sz="820" dirty="0">
                  <a:solidFill>
                    <a:srgbClr val="D03B1D"/>
                  </a:solidFill>
                  <a:latin typeface="+mn-lt"/>
                  <a:ea typeface="+mn-ea"/>
                  <a:cs typeface="+mn-cs"/>
                </a:rPr>
                <a:t>勤</a:t>
              </a:r>
              <a:br/>
              <a:r>
                <a:rPr lang="zh-CN" sz="820" dirty="0">
                  <a:solidFill>
                    <a:srgbClr val="D03B1D"/>
                  </a:solidFill>
                  <a:latin typeface="+mn-lt"/>
                  <a:ea typeface="+mn-ea"/>
                  <a:cs typeface="+mn-cs"/>
                </a:rPr>
                <a:t>打</a:t>
              </a:r>
              <a:br/>
              <a:r>
                <a:rPr lang="zh-CN" sz="820" dirty="0">
                  <a:solidFill>
                    <a:srgbClr val="D03B1D"/>
                  </a:solidFill>
                  <a:latin typeface="+mn-lt"/>
                  <a:ea typeface="+mn-ea"/>
                  <a:cs typeface="+mn-cs"/>
                </a:rPr>
                <a:t>卡</a:t>
              </a:r>
              <a:br/>
              <a:r>
                <a:rPr lang="zh-CN" sz="820" dirty="0">
                  <a:solidFill>
                    <a:srgbClr val="D03B1D"/>
                  </a:solidFill>
                  <a:latin typeface="+mn-lt"/>
                  <a:ea typeface="+mn-ea"/>
                  <a:cs typeface="+mn-cs"/>
                </a:rPr>
                <a:t>员</a:t>
              </a:r>
            </a:p>
          </p:txBody>
        </p:sp>
        <p:sp>
          <p:nvSpPr>
            <p:cNvPr id="73" name="Rectangle 73"/>
            <p:cNvSpPr/>
            <p:nvPr/>
          </p:nvSpPr>
          <p:spPr>
            <a:xfrm>
              <a:off x="7715250" y="5210175"/>
              <a:ext cx="285750" cy="933450"/>
            </a:xfrm>
            <a:prstGeom prst="roundRect">
              <a:avLst>
                <a:gd name="adj" fmla="val 50000"/>
              </a:avLst>
            </a:prstGeom>
            <a:solidFill>
              <a:srgbClr val="FFFFFF"/>
            </a:solidFill>
            <a:ln w="14288">
              <a:solidFill>
                <a:srgbClr val="FCC6BB"/>
              </a:solidFill>
            </a:ln>
          </p:spPr>
        </p:sp>
        <p:sp>
          <p:nvSpPr>
            <p:cNvPr id="74" name="TextBox 74"/>
            <p:cNvSpPr txBox="1"/>
            <p:nvPr/>
          </p:nvSpPr>
          <p:spPr>
            <a:xfrm>
              <a:off x="7801292" y="5387816"/>
              <a:ext cx="113665" cy="65722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人</a:t>
              </a:r>
              <a:br/>
              <a:r>
                <a:rPr lang="zh-CN" sz="820" dirty="0">
                  <a:solidFill>
                    <a:srgbClr val="D03B1D"/>
                  </a:solidFill>
                  <a:latin typeface="+mn-lt"/>
                  <a:ea typeface="+mn-ea"/>
                  <a:cs typeface="+mn-cs"/>
                </a:rPr>
                <a:t>力</a:t>
              </a:r>
              <a:br/>
              <a:r>
                <a:rPr lang="zh-CN" sz="820" dirty="0">
                  <a:solidFill>
                    <a:srgbClr val="D03B1D"/>
                  </a:solidFill>
                  <a:latin typeface="+mn-lt"/>
                  <a:ea typeface="+mn-ea"/>
                  <a:cs typeface="+mn-cs"/>
                </a:rPr>
                <a:t>资</a:t>
              </a:r>
              <a:br/>
              <a:r>
                <a:rPr lang="zh-CN" sz="820" dirty="0">
                  <a:solidFill>
                    <a:srgbClr val="D03B1D"/>
                  </a:solidFill>
                  <a:latin typeface="+mn-lt"/>
                  <a:ea typeface="+mn-ea"/>
                  <a:cs typeface="+mn-cs"/>
                </a:rPr>
                <a:t>源</a:t>
              </a:r>
              <a:br/>
              <a:r>
                <a:rPr lang="zh-CN" sz="820" dirty="0">
                  <a:solidFill>
                    <a:srgbClr val="D03B1D"/>
                  </a:solidFill>
                  <a:latin typeface="+mn-lt"/>
                  <a:ea typeface="+mn-ea"/>
                  <a:cs typeface="+mn-cs"/>
                </a:rPr>
                <a:t>部</a:t>
              </a:r>
            </a:p>
          </p:txBody>
        </p:sp>
        <p:sp>
          <p:nvSpPr>
            <p:cNvPr id="75" name="Rectangle 75"/>
            <p:cNvSpPr/>
            <p:nvPr/>
          </p:nvSpPr>
          <p:spPr>
            <a:xfrm>
              <a:off x="8058150" y="5210175"/>
              <a:ext cx="285750" cy="933450"/>
            </a:xfrm>
            <a:prstGeom prst="roundRect">
              <a:avLst>
                <a:gd name="adj" fmla="val 50000"/>
              </a:avLst>
            </a:prstGeom>
            <a:solidFill>
              <a:srgbClr val="FFFFFF"/>
            </a:solidFill>
            <a:ln w="14288">
              <a:solidFill>
                <a:srgbClr val="FCC6BB"/>
              </a:solidFill>
            </a:ln>
          </p:spPr>
        </p:sp>
        <p:sp>
          <p:nvSpPr>
            <p:cNvPr id="76" name="TextBox 76"/>
            <p:cNvSpPr txBox="1"/>
            <p:nvPr/>
          </p:nvSpPr>
          <p:spPr>
            <a:xfrm>
              <a:off x="8144192" y="5511641"/>
              <a:ext cx="113665" cy="40957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后</a:t>
              </a:r>
              <a:br/>
              <a:r>
                <a:rPr lang="zh-CN" sz="820" dirty="0">
                  <a:solidFill>
                    <a:srgbClr val="D03B1D"/>
                  </a:solidFill>
                  <a:latin typeface="+mn-lt"/>
                  <a:ea typeface="+mn-ea"/>
                  <a:cs typeface="+mn-cs"/>
                </a:rPr>
                <a:t>勤</a:t>
              </a:r>
              <a:br/>
              <a:r>
                <a:rPr lang="zh-CN" sz="820" dirty="0">
                  <a:solidFill>
                    <a:srgbClr val="D03B1D"/>
                  </a:solidFill>
                  <a:latin typeface="+mn-lt"/>
                  <a:ea typeface="+mn-ea"/>
                  <a:cs typeface="+mn-cs"/>
                </a:rPr>
                <a:t>部</a:t>
              </a:r>
            </a:p>
          </p:txBody>
        </p:sp>
        <p:sp>
          <p:nvSpPr>
            <p:cNvPr id="77" name="Rectangle 77"/>
            <p:cNvSpPr/>
            <p:nvPr/>
          </p:nvSpPr>
          <p:spPr>
            <a:xfrm>
              <a:off x="8401050" y="5210175"/>
              <a:ext cx="285750" cy="933450"/>
            </a:xfrm>
            <a:prstGeom prst="roundRect">
              <a:avLst>
                <a:gd name="adj" fmla="val 50000"/>
              </a:avLst>
            </a:prstGeom>
            <a:solidFill>
              <a:srgbClr val="FFFFFF"/>
            </a:solidFill>
            <a:ln w="14288">
              <a:solidFill>
                <a:srgbClr val="FCC6BB"/>
              </a:solidFill>
            </a:ln>
          </p:spPr>
        </p:sp>
        <p:sp>
          <p:nvSpPr>
            <p:cNvPr id="78" name="TextBox 78"/>
            <p:cNvSpPr txBox="1"/>
            <p:nvPr/>
          </p:nvSpPr>
          <p:spPr>
            <a:xfrm>
              <a:off x="8487092" y="5511641"/>
              <a:ext cx="113665" cy="409575"/>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质</a:t>
              </a:r>
              <a:br/>
              <a:r>
                <a:rPr lang="zh-CN" sz="820" dirty="0">
                  <a:solidFill>
                    <a:srgbClr val="D03B1D"/>
                  </a:solidFill>
                  <a:latin typeface="+mn-lt"/>
                  <a:ea typeface="+mn-ea"/>
                  <a:cs typeface="+mn-cs"/>
                </a:rPr>
                <a:t>检</a:t>
              </a:r>
              <a:br/>
              <a:r>
                <a:rPr lang="zh-CN" sz="820" dirty="0">
                  <a:solidFill>
                    <a:srgbClr val="D03B1D"/>
                  </a:solidFill>
                  <a:latin typeface="+mn-lt"/>
                  <a:ea typeface="+mn-ea"/>
                  <a:cs typeface="+mn-cs"/>
                </a:rPr>
                <a:t>部</a:t>
              </a:r>
            </a:p>
          </p:txBody>
        </p:sp>
      </p:grpSp>
      <p:grpSp>
        <p:nvGrpSpPr>
          <p:cNvPr id="86" name="dept-finance"/>
          <p:cNvGrpSpPr/>
          <p:nvPr/>
        </p:nvGrpSpPr>
        <p:grpSpPr>
          <a:xfrm>
            <a:off x="8896350" y="3638550"/>
            <a:ext cx="628650" cy="2505075"/>
            <a:chOff x="8896350" y="3638550"/>
            <a:chExt cx="628650" cy="2505075"/>
          </a:xfrm>
        </p:grpSpPr>
        <p:sp>
          <p:nvSpPr>
            <p:cNvPr id="80" name="Rectangle 80"/>
            <p:cNvSpPr/>
            <p:nvPr/>
          </p:nvSpPr>
          <p:spPr>
            <a:xfrm>
              <a:off x="9039225" y="3638550"/>
              <a:ext cx="342900" cy="990600"/>
            </a:xfrm>
            <a:prstGeom prst="roundRect">
              <a:avLst>
                <a:gd name="adj" fmla="val 50000"/>
              </a:avLst>
            </a:prstGeom>
            <a:gradFill>
              <a:gsLst>
                <a:gs pos="0">
                  <a:srgbClr val="FB684A"/>
                </a:gs>
                <a:gs pos="100000">
                  <a:srgbClr val="FA421D"/>
                </a:gs>
              </a:gsLst>
              <a:lin ang="5400000" scaled="1"/>
            </a:gradFill>
            <a:ln>
              <a:noFill/>
            </a:ln>
          </p:spPr>
        </p:sp>
        <p:sp>
          <p:nvSpPr>
            <p:cNvPr id="81" name="TextBox 81"/>
            <p:cNvSpPr txBox="1"/>
            <p:nvPr/>
          </p:nvSpPr>
          <p:spPr>
            <a:xfrm>
              <a:off x="9143492" y="3933349"/>
              <a:ext cx="134366" cy="476441"/>
            </a:xfrm>
            <a:prstGeom prst="rect">
              <a:avLst/>
            </a:prstGeom>
            <a:noFill/>
            <a:ln>
              <a:noFill/>
            </a:ln>
          </p:spPr>
          <p:txBody>
            <a:bodyPr wrap="none" lIns="0" tIns="0" rIns="0" bIns="0" anchor="t" anchorCtr="0">
              <a:spAutoFit/>
            </a:bodyPr>
            <a:lstStyle/>
            <a:p>
              <a:pPr algn="ctr">
                <a:lnSpc>
                  <a:spcPts val="1125"/>
                </a:lnSpc>
              </a:pPr>
              <a:r>
                <a:rPr lang="zh-CN" sz="980" dirty="0">
                  <a:solidFill>
                    <a:srgbClr val="FFFFFF"/>
                  </a:solidFill>
                  <a:latin typeface="+mn-lt"/>
                  <a:ea typeface="+mn-ea"/>
                  <a:cs typeface="+mn-cs"/>
                </a:rPr>
                <a:t>财</a:t>
              </a:r>
              <a:br/>
              <a:r>
                <a:rPr lang="zh-CN" sz="980" dirty="0">
                  <a:solidFill>
                    <a:srgbClr val="FFFFFF"/>
                  </a:solidFill>
                  <a:latin typeface="+mn-lt"/>
                  <a:ea typeface="+mn-ea"/>
                  <a:cs typeface="+mn-cs"/>
                </a:rPr>
                <a:t>务</a:t>
              </a:r>
              <a:br/>
              <a:r>
                <a:rPr lang="zh-CN" sz="980" dirty="0">
                  <a:solidFill>
                    <a:srgbClr val="FFFFFF"/>
                  </a:solidFill>
                  <a:latin typeface="+mn-lt"/>
                  <a:ea typeface="+mn-ea"/>
                  <a:cs typeface="+mn-cs"/>
                </a:rPr>
                <a:t>部</a:t>
              </a:r>
            </a:p>
          </p:txBody>
        </p:sp>
        <p:sp>
          <p:nvSpPr>
            <p:cNvPr id="82" name="Rectangle 82"/>
            <p:cNvSpPr/>
            <p:nvPr/>
          </p:nvSpPr>
          <p:spPr>
            <a:xfrm>
              <a:off x="8896350" y="5210175"/>
              <a:ext cx="285750" cy="933450"/>
            </a:xfrm>
            <a:prstGeom prst="roundRect">
              <a:avLst>
                <a:gd name="adj" fmla="val 50000"/>
              </a:avLst>
            </a:prstGeom>
            <a:solidFill>
              <a:srgbClr val="FFFFFF"/>
            </a:solidFill>
            <a:ln w="14288">
              <a:solidFill>
                <a:srgbClr val="FCC6BB"/>
              </a:solidFill>
            </a:ln>
          </p:spPr>
        </p:sp>
        <p:sp>
          <p:nvSpPr>
            <p:cNvPr id="83" name="TextBox 83"/>
            <p:cNvSpPr txBox="1"/>
            <p:nvPr/>
          </p:nvSpPr>
          <p:spPr>
            <a:xfrm>
              <a:off x="8982392" y="5568791"/>
              <a:ext cx="113665"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财</a:t>
              </a:r>
              <a:br/>
              <a:r>
                <a:rPr lang="zh-CN" sz="820" dirty="0">
                  <a:solidFill>
                    <a:srgbClr val="D03B1D"/>
                  </a:solidFill>
                  <a:latin typeface="+mn-lt"/>
                  <a:ea typeface="+mn-ea"/>
                  <a:cs typeface="+mn-cs"/>
                </a:rPr>
                <a:t>务</a:t>
              </a:r>
            </a:p>
          </p:txBody>
        </p:sp>
        <p:sp>
          <p:nvSpPr>
            <p:cNvPr id="84" name="Rectangle 84"/>
            <p:cNvSpPr/>
            <p:nvPr/>
          </p:nvSpPr>
          <p:spPr>
            <a:xfrm>
              <a:off x="9239250" y="5210175"/>
              <a:ext cx="285750" cy="933450"/>
            </a:xfrm>
            <a:prstGeom prst="roundRect">
              <a:avLst>
                <a:gd name="adj" fmla="val 50000"/>
              </a:avLst>
            </a:prstGeom>
            <a:solidFill>
              <a:srgbClr val="FFFFFF"/>
            </a:solidFill>
            <a:ln w="14288">
              <a:solidFill>
                <a:srgbClr val="FCC6BB"/>
              </a:solidFill>
            </a:ln>
          </p:spPr>
        </p:sp>
        <p:sp>
          <p:nvSpPr>
            <p:cNvPr id="85" name="TextBox 85"/>
            <p:cNvSpPr txBox="1"/>
            <p:nvPr/>
          </p:nvSpPr>
          <p:spPr>
            <a:xfrm>
              <a:off x="9325292" y="5568791"/>
              <a:ext cx="113665" cy="285750"/>
            </a:xfrm>
            <a:prstGeom prst="rect">
              <a:avLst/>
            </a:prstGeom>
            <a:noFill/>
            <a:ln>
              <a:noFill/>
            </a:ln>
          </p:spPr>
          <p:txBody>
            <a:bodyPr wrap="none" lIns="0" tIns="0" rIns="0" bIns="0" anchor="t" anchorCtr="0">
              <a:spAutoFit/>
            </a:bodyPr>
            <a:lstStyle/>
            <a:p>
              <a:pPr algn="ctr">
                <a:lnSpc>
                  <a:spcPts val="975"/>
                </a:lnSpc>
              </a:pPr>
              <a:r>
                <a:rPr lang="zh-CN" sz="820" dirty="0">
                  <a:solidFill>
                    <a:srgbClr val="D03B1D"/>
                  </a:solidFill>
                  <a:latin typeface="+mn-lt"/>
                  <a:ea typeface="+mn-ea"/>
                  <a:cs typeface="+mn-cs"/>
                </a:rPr>
                <a:t>采</a:t>
              </a:r>
              <a:br/>
              <a:r>
                <a:rPr lang="zh-CN" sz="820" dirty="0">
                  <a:solidFill>
                    <a:srgbClr val="D03B1D"/>
                  </a:solidFill>
                  <a:latin typeface="+mn-lt"/>
                  <a:ea typeface="+mn-ea"/>
                  <a:cs typeface="+mn-cs"/>
                </a:rPr>
                <a:t>购</a:t>
              </a:r>
            </a:p>
          </p:txBody>
        </p:sp>
      </p:grpSp>
      <p:grpSp>
        <p:nvGrpSpPr>
          <p:cNvPr id="100" name="governance-layers"/>
          <p:cNvGrpSpPr/>
          <p:nvPr/>
        </p:nvGrpSpPr>
        <p:grpSpPr>
          <a:xfrm>
            <a:off x="10163175" y="2238375"/>
            <a:ext cx="1181100" cy="4076700"/>
            <a:chOff x="10163175" y="2238375"/>
            <a:chExt cx="1181100" cy="4076700"/>
          </a:xfrm>
        </p:grpSpPr>
        <p:sp>
          <p:nvSpPr>
            <p:cNvPr id="87" name="Ellipse 87"/>
            <p:cNvSpPr/>
            <p:nvPr/>
          </p:nvSpPr>
          <p:spPr>
            <a:xfrm>
              <a:off x="10163175" y="3152775"/>
              <a:ext cx="1181100" cy="171450"/>
            </a:xfrm>
            <a:prstGeom prst="ellipse">
              <a:avLst/>
            </a:prstGeom>
            <a:solidFill>
              <a:srgbClr val="FCC3B7">
                <a:alpha val="85000"/>
              </a:srgbClr>
            </a:solidFill>
            <a:ln>
              <a:noFill/>
            </a:ln>
          </p:spPr>
        </p:sp>
        <p:sp>
          <p:nvSpPr>
            <p:cNvPr id="88" name="Ellipse 88"/>
            <p:cNvSpPr/>
            <p:nvPr/>
          </p:nvSpPr>
          <p:spPr>
            <a:xfrm>
              <a:off x="10248900" y="2238375"/>
              <a:ext cx="1009650" cy="1009650"/>
            </a:xfrm>
            <a:prstGeom prst="ellipse">
              <a:avLst/>
            </a:prstGeom>
            <a:gradFill>
              <a:gsLst>
                <a:gs pos="0">
                  <a:srgbClr val="FFFFFF"/>
                </a:gs>
                <a:gs pos="55000">
                  <a:srgbClr val="DCE9FC"/>
                </a:gs>
                <a:gs pos="100000">
                  <a:srgbClr val="FCAC9C"/>
                </a:gs>
              </a:gsLst>
              <a:lin ang="5400000" scaled="1"/>
            </a:gradFill>
            <a:ln w="19050">
              <a:solidFill>
                <a:srgbClr val="FFFFFF"/>
              </a:solidFill>
            </a:ln>
          </p:spPr>
        </p:sp>
        <p:sp>
          <p:nvSpPr>
            <p:cNvPr id="89" name="TextBox 89"/>
            <p:cNvSpPr txBox="1"/>
            <p:nvPr/>
          </p:nvSpPr>
          <p:spPr>
            <a:xfrm>
              <a:off x="10488778" y="2662714"/>
              <a:ext cx="529895" cy="249364"/>
            </a:xfrm>
            <a:prstGeom prst="rect">
              <a:avLst/>
            </a:prstGeom>
            <a:noFill/>
            <a:ln>
              <a:noFill/>
            </a:ln>
          </p:spPr>
          <p:txBody>
            <a:bodyPr wrap="none" lIns="0" tIns="0" rIns="0" bIns="0" anchor="t" anchorCtr="0">
              <a:spAutoFit/>
            </a:bodyPr>
            <a:lstStyle/>
            <a:p>
              <a:pPr algn="ctr"/>
              <a:r>
                <a:rPr lang="zh-CN" sz="1280" b="1" dirty="0">
                  <a:solidFill>
                    <a:srgbClr val="D03B1D"/>
                  </a:solidFill>
                  <a:latin typeface="+mn-lt"/>
                  <a:ea typeface="+mn-ea"/>
                  <a:cs typeface="+mn-cs"/>
                </a:rPr>
                <a:t>决策层</a:t>
              </a:r>
            </a:p>
          </p:txBody>
        </p:sp>
        <p:sp>
          <p:nvSpPr>
            <p:cNvPr id="90" name="Freeform 90"/>
            <p:cNvSpPr/>
            <p:nvPr/>
          </p:nvSpPr>
          <p:spPr>
            <a:xfrm>
              <a:off x="10610850" y="3276600"/>
              <a:ext cx="285750" cy="419100"/>
            </a:xfrm>
            <a:prstGeom prst="chevron">
              <a:avLst/>
            </a:prstGeom>
            <a:solidFill>
              <a:srgbClr val="FBD2C9"/>
            </a:solidFill>
            <a:ln>
              <a:noFill/>
            </a:ln>
          </p:spPr>
        </p:sp>
        <p:sp>
          <p:nvSpPr>
            <p:cNvPr id="91" name="Freeform 91"/>
            <p:cNvSpPr/>
            <p:nvPr/>
          </p:nvSpPr>
          <p:spPr>
            <a:xfrm>
              <a:off x="10648950" y="3371850"/>
              <a:ext cx="209550" cy="304800"/>
            </a:xfrm>
            <a:prstGeom prst="chevron">
              <a:avLst/>
            </a:prstGeom>
            <a:solidFill>
              <a:srgbClr val="FA947F"/>
            </a:solidFill>
            <a:ln>
              <a:noFill/>
            </a:ln>
          </p:spPr>
        </p:sp>
        <p:sp>
          <p:nvSpPr>
            <p:cNvPr id="92" name="Ellipse 92"/>
            <p:cNvSpPr/>
            <p:nvPr/>
          </p:nvSpPr>
          <p:spPr>
            <a:xfrm>
              <a:off x="10163175" y="4648200"/>
              <a:ext cx="1181100" cy="171450"/>
            </a:xfrm>
            <a:prstGeom prst="ellipse">
              <a:avLst/>
            </a:prstGeom>
            <a:solidFill>
              <a:srgbClr val="FCC3B7">
                <a:alpha val="85000"/>
              </a:srgbClr>
            </a:solidFill>
            <a:ln>
              <a:noFill/>
            </a:ln>
          </p:spPr>
        </p:sp>
        <p:sp>
          <p:nvSpPr>
            <p:cNvPr id="93" name="Ellipse 93"/>
            <p:cNvSpPr/>
            <p:nvPr/>
          </p:nvSpPr>
          <p:spPr>
            <a:xfrm>
              <a:off x="10248900" y="3733800"/>
              <a:ext cx="1009650" cy="1009650"/>
            </a:xfrm>
            <a:prstGeom prst="ellipse">
              <a:avLst/>
            </a:prstGeom>
            <a:gradFill>
              <a:gsLst>
                <a:gs pos="0">
                  <a:srgbClr val="FFFFFF"/>
                </a:gs>
                <a:gs pos="55000">
                  <a:srgbClr val="DCE9FC"/>
                </a:gs>
                <a:gs pos="100000">
                  <a:srgbClr val="FCAC9C"/>
                </a:gs>
              </a:gsLst>
              <a:lin ang="5400000" scaled="1"/>
            </a:gradFill>
            <a:ln w="19050">
              <a:solidFill>
                <a:srgbClr val="FFFFFF"/>
              </a:solidFill>
            </a:ln>
          </p:spPr>
        </p:sp>
        <p:sp>
          <p:nvSpPr>
            <p:cNvPr id="94" name="TextBox 94"/>
            <p:cNvSpPr txBox="1"/>
            <p:nvPr/>
          </p:nvSpPr>
          <p:spPr>
            <a:xfrm>
              <a:off x="10488778" y="4158139"/>
              <a:ext cx="529895" cy="249364"/>
            </a:xfrm>
            <a:prstGeom prst="rect">
              <a:avLst/>
            </a:prstGeom>
            <a:noFill/>
            <a:ln>
              <a:noFill/>
            </a:ln>
          </p:spPr>
          <p:txBody>
            <a:bodyPr wrap="none" lIns="0" tIns="0" rIns="0" bIns="0" anchor="t" anchorCtr="0">
              <a:spAutoFit/>
            </a:bodyPr>
            <a:lstStyle/>
            <a:p>
              <a:pPr algn="ctr"/>
              <a:r>
                <a:rPr lang="zh-CN" sz="1280" b="1" dirty="0">
                  <a:solidFill>
                    <a:srgbClr val="D03B1D"/>
                  </a:solidFill>
                  <a:latin typeface="+mn-lt"/>
                  <a:ea typeface="+mn-ea"/>
                  <a:cs typeface="+mn-cs"/>
                </a:rPr>
                <a:t>控制层</a:t>
              </a:r>
            </a:p>
          </p:txBody>
        </p:sp>
        <p:sp>
          <p:nvSpPr>
            <p:cNvPr id="95" name="Freeform 95"/>
            <p:cNvSpPr/>
            <p:nvPr/>
          </p:nvSpPr>
          <p:spPr>
            <a:xfrm>
              <a:off x="10610850" y="4772025"/>
              <a:ext cx="285750" cy="419100"/>
            </a:xfrm>
            <a:prstGeom prst="chevron">
              <a:avLst/>
            </a:prstGeom>
            <a:solidFill>
              <a:srgbClr val="FBD2C9"/>
            </a:solidFill>
            <a:ln>
              <a:noFill/>
            </a:ln>
          </p:spPr>
        </p:sp>
        <p:sp>
          <p:nvSpPr>
            <p:cNvPr id="96" name="Freeform 96"/>
            <p:cNvSpPr/>
            <p:nvPr/>
          </p:nvSpPr>
          <p:spPr>
            <a:xfrm>
              <a:off x="10648950" y="4867275"/>
              <a:ext cx="209550" cy="304800"/>
            </a:xfrm>
            <a:prstGeom prst="chevron">
              <a:avLst/>
            </a:prstGeom>
            <a:solidFill>
              <a:srgbClr val="FA947F"/>
            </a:solidFill>
            <a:ln>
              <a:noFill/>
            </a:ln>
          </p:spPr>
        </p:sp>
        <p:sp>
          <p:nvSpPr>
            <p:cNvPr id="97" name="Ellipse 97"/>
            <p:cNvSpPr/>
            <p:nvPr/>
          </p:nvSpPr>
          <p:spPr>
            <a:xfrm>
              <a:off x="10163175" y="6143625"/>
              <a:ext cx="1181100" cy="171450"/>
            </a:xfrm>
            <a:prstGeom prst="ellipse">
              <a:avLst/>
            </a:prstGeom>
            <a:solidFill>
              <a:srgbClr val="FCC3B7">
                <a:alpha val="85000"/>
              </a:srgbClr>
            </a:solidFill>
            <a:ln>
              <a:noFill/>
            </a:ln>
          </p:spPr>
        </p:sp>
        <p:sp>
          <p:nvSpPr>
            <p:cNvPr id="98" name="Ellipse 98"/>
            <p:cNvSpPr/>
            <p:nvPr/>
          </p:nvSpPr>
          <p:spPr>
            <a:xfrm>
              <a:off x="10248900" y="5229225"/>
              <a:ext cx="1009650" cy="1009650"/>
            </a:xfrm>
            <a:prstGeom prst="ellipse">
              <a:avLst/>
            </a:prstGeom>
            <a:gradFill>
              <a:gsLst>
                <a:gs pos="0">
                  <a:srgbClr val="FFFFFF"/>
                </a:gs>
                <a:gs pos="55000">
                  <a:srgbClr val="DCE9FC"/>
                </a:gs>
                <a:gs pos="100000">
                  <a:srgbClr val="FCAC9C"/>
                </a:gs>
              </a:gsLst>
              <a:lin ang="5400000" scaled="1"/>
            </a:gradFill>
            <a:ln w="19050">
              <a:solidFill>
                <a:srgbClr val="FFFFFF"/>
              </a:solidFill>
            </a:ln>
          </p:spPr>
        </p:sp>
        <p:sp>
          <p:nvSpPr>
            <p:cNvPr id="99" name="TextBox 99"/>
            <p:cNvSpPr txBox="1"/>
            <p:nvPr/>
          </p:nvSpPr>
          <p:spPr>
            <a:xfrm>
              <a:off x="10488778" y="5653564"/>
              <a:ext cx="529895" cy="249364"/>
            </a:xfrm>
            <a:prstGeom prst="rect">
              <a:avLst/>
            </a:prstGeom>
            <a:noFill/>
            <a:ln>
              <a:noFill/>
            </a:ln>
          </p:spPr>
          <p:txBody>
            <a:bodyPr wrap="none" lIns="0" tIns="0" rIns="0" bIns="0" anchor="t" anchorCtr="0">
              <a:spAutoFit/>
            </a:bodyPr>
            <a:lstStyle/>
            <a:p>
              <a:pPr algn="ctr"/>
              <a:r>
                <a:rPr lang="zh-CN" sz="1280" b="1" dirty="0">
                  <a:solidFill>
                    <a:srgbClr val="D03B1D"/>
                  </a:solidFill>
                  <a:latin typeface="+mn-lt"/>
                  <a:ea typeface="+mn-ea"/>
                  <a:cs typeface="+mn-cs"/>
                </a:rPr>
                <a:t>执行层</a:t>
              </a:r>
            </a:p>
          </p:txBody>
        </p:sp>
      </p:gr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arc-l1"/>
          <p:cNvSpPr/>
          <p:nvPr/>
        </p:nvSpPr>
        <p:spPr>
          <a:xfrm>
            <a:off x="3543300" y="2019300"/>
            <a:ext cx="600075" cy="1028700"/>
          </a:xfrm>
          <a:custGeom>
            <a:avLst/>
            <a:gdLst/>
            <a:ahLst/>
            <a:cxnLst/>
            <a:rect l="l" t="t" r="r" b="b"/>
            <a:pathLst>
              <a:path w="600075" h="1028700">
                <a:moveTo>
                  <a:pt x="0" y="1028700"/>
                </a:moveTo>
                <a:cubicBezTo>
                  <a:pt x="314325" y="742950"/>
                  <a:pt x="409575" y="314325"/>
                  <a:pt x="600075" y="0"/>
                </a:cubicBezTo>
              </a:path>
            </a:pathLst>
          </a:custGeom>
          <a:noFill/>
          <a:ln w="15240">
            <a:solidFill>
              <a:srgbClr val="FCAC9C"/>
            </a:solidFill>
          </a:ln>
        </p:spPr>
      </p:sp>
      <p:sp>
        <p:nvSpPr>
          <p:cNvPr id="3" name="deco-arc-l2"/>
          <p:cNvSpPr/>
          <p:nvPr/>
        </p:nvSpPr>
        <p:spPr>
          <a:xfrm>
            <a:off x="3619500" y="3495675"/>
            <a:ext cx="523875" cy="57150"/>
          </a:xfrm>
          <a:custGeom>
            <a:avLst/>
            <a:gdLst/>
            <a:ahLst/>
            <a:cxnLst/>
            <a:rect l="l" t="t" r="r" b="b"/>
            <a:pathLst>
              <a:path w="523875" h="57150">
                <a:moveTo>
                  <a:pt x="0" y="0"/>
                </a:moveTo>
                <a:cubicBezTo>
                  <a:pt x="190500" y="0"/>
                  <a:pt x="361950" y="47625"/>
                  <a:pt x="523875" y="57150"/>
                </a:cubicBezTo>
              </a:path>
            </a:pathLst>
          </a:custGeom>
          <a:noFill/>
          <a:ln w="15240">
            <a:solidFill>
              <a:srgbClr val="FCAC9C"/>
            </a:solidFill>
          </a:ln>
        </p:spPr>
      </p:sp>
      <p:sp>
        <p:nvSpPr>
          <p:cNvPr id="4" name="deco-arc-l3"/>
          <p:cNvSpPr/>
          <p:nvPr/>
        </p:nvSpPr>
        <p:spPr>
          <a:xfrm>
            <a:off x="3543300" y="3952875"/>
            <a:ext cx="600075" cy="1171575"/>
          </a:xfrm>
          <a:custGeom>
            <a:avLst/>
            <a:gdLst/>
            <a:ahLst/>
            <a:cxnLst/>
            <a:rect l="l" t="t" r="r" b="b"/>
            <a:pathLst>
              <a:path w="600075" h="1171575">
                <a:moveTo>
                  <a:pt x="0" y="0"/>
                </a:moveTo>
                <a:cubicBezTo>
                  <a:pt x="314325" y="285750"/>
                  <a:pt x="409575" y="714375"/>
                  <a:pt x="600075" y="1171575"/>
                </a:cubicBezTo>
              </a:path>
            </a:pathLst>
          </a:custGeom>
          <a:noFill/>
          <a:ln w="15240">
            <a:solidFill>
              <a:srgbClr val="FCAC9C"/>
            </a:solidFill>
          </a:ln>
        </p:spPr>
      </p:sp>
      <p:sp>
        <p:nvSpPr>
          <p:cNvPr id="5" name="deco-arc-r1"/>
          <p:cNvSpPr/>
          <p:nvPr/>
        </p:nvSpPr>
        <p:spPr>
          <a:xfrm>
            <a:off x="7810500" y="1485900"/>
            <a:ext cx="1571625" cy="1009650"/>
          </a:xfrm>
          <a:custGeom>
            <a:avLst/>
            <a:gdLst/>
            <a:ahLst/>
            <a:cxnLst/>
            <a:rect l="l" t="t" r="r" b="b"/>
            <a:pathLst>
              <a:path w="1571625" h="1009650">
                <a:moveTo>
                  <a:pt x="0" y="533400"/>
                </a:moveTo>
                <a:cubicBezTo>
                  <a:pt x="571500" y="323850"/>
                  <a:pt x="1047750" y="180975"/>
                  <a:pt x="1571625" y="0"/>
                </a:cubicBezTo>
                <a:moveTo>
                  <a:pt x="0" y="590550"/>
                </a:moveTo>
                <a:cubicBezTo>
                  <a:pt x="571500" y="561975"/>
                  <a:pt x="1047750" y="561975"/>
                  <a:pt x="1571625" y="504825"/>
                </a:cubicBezTo>
                <a:moveTo>
                  <a:pt x="0" y="647700"/>
                </a:moveTo>
                <a:cubicBezTo>
                  <a:pt x="571500" y="800100"/>
                  <a:pt x="1047750" y="942975"/>
                  <a:pt x="1571625" y="1009650"/>
                </a:cubicBezTo>
              </a:path>
            </a:pathLst>
          </a:custGeom>
          <a:noFill/>
          <a:ln w="15240">
            <a:solidFill>
              <a:srgbClr val="FCAC9C"/>
            </a:solidFill>
          </a:ln>
        </p:spPr>
      </p:sp>
      <p:sp>
        <p:nvSpPr>
          <p:cNvPr id="6" name="deco-arc-r2"/>
          <p:cNvSpPr/>
          <p:nvPr/>
        </p:nvSpPr>
        <p:spPr>
          <a:xfrm>
            <a:off x="7810500" y="3114675"/>
            <a:ext cx="1571625" cy="1009650"/>
          </a:xfrm>
          <a:custGeom>
            <a:avLst/>
            <a:gdLst/>
            <a:ahLst/>
            <a:cxnLst/>
            <a:rect l="l" t="t" r="r" b="b"/>
            <a:pathLst>
              <a:path w="1571625" h="1009650">
                <a:moveTo>
                  <a:pt x="0" y="476250"/>
                </a:moveTo>
                <a:cubicBezTo>
                  <a:pt x="571500" y="266700"/>
                  <a:pt x="1047750" y="123825"/>
                  <a:pt x="1571625" y="0"/>
                </a:cubicBezTo>
                <a:moveTo>
                  <a:pt x="0" y="533400"/>
                </a:moveTo>
                <a:cubicBezTo>
                  <a:pt x="571500" y="504825"/>
                  <a:pt x="1047750" y="504825"/>
                  <a:pt x="1571625" y="504825"/>
                </a:cubicBezTo>
                <a:moveTo>
                  <a:pt x="0" y="590550"/>
                </a:moveTo>
                <a:cubicBezTo>
                  <a:pt x="571500" y="742950"/>
                  <a:pt x="1047750" y="885825"/>
                  <a:pt x="1571625" y="1009650"/>
                </a:cubicBezTo>
              </a:path>
            </a:pathLst>
          </a:custGeom>
          <a:noFill/>
          <a:ln w="15240">
            <a:solidFill>
              <a:srgbClr val="FCAC9C"/>
            </a:solidFill>
          </a:ln>
        </p:spPr>
      </p:sp>
      <p:sp>
        <p:nvSpPr>
          <p:cNvPr id="7" name="deco-arc-r3"/>
          <p:cNvSpPr/>
          <p:nvPr/>
        </p:nvSpPr>
        <p:spPr>
          <a:xfrm>
            <a:off x="7810500" y="4733925"/>
            <a:ext cx="1571625" cy="1009650"/>
          </a:xfrm>
          <a:custGeom>
            <a:avLst/>
            <a:gdLst/>
            <a:ahLst/>
            <a:cxnLst/>
            <a:rect l="l" t="t" r="r" b="b"/>
            <a:pathLst>
              <a:path w="1571625" h="1009650">
                <a:moveTo>
                  <a:pt x="0" y="457200"/>
                </a:moveTo>
                <a:cubicBezTo>
                  <a:pt x="571500" y="266700"/>
                  <a:pt x="1047750" y="171450"/>
                  <a:pt x="1571625" y="0"/>
                </a:cubicBezTo>
                <a:moveTo>
                  <a:pt x="0" y="514350"/>
                </a:moveTo>
                <a:cubicBezTo>
                  <a:pt x="571500" y="485775"/>
                  <a:pt x="1047750" y="485775"/>
                  <a:pt x="1571625" y="504825"/>
                </a:cubicBezTo>
                <a:moveTo>
                  <a:pt x="0" y="571500"/>
                </a:moveTo>
                <a:cubicBezTo>
                  <a:pt x="571500" y="714375"/>
                  <a:pt x="1047750" y="838200"/>
                  <a:pt x="1571625" y="1009650"/>
                </a:cubicBezTo>
              </a:path>
            </a:pathLst>
          </a:custGeom>
          <a:noFill/>
          <a:ln w="15240">
            <a:solidFill>
              <a:srgbClr val="FCAC9C"/>
            </a:solidFill>
          </a:ln>
        </p:spPr>
      </p:sp>
      <p:grpSp>
        <p:nvGrpSpPr>
          <p:cNvPr id="12" name="header"/>
          <p:cNvGrpSpPr/>
          <p:nvPr/>
        </p:nvGrpSpPr>
        <p:grpSpPr>
          <a:xfrm>
            <a:off x="0" y="0"/>
            <a:ext cx="12192000" cy="551879"/>
            <a:chOff x="0" y="0"/>
            <a:chExt cx="12192000" cy="551879"/>
          </a:xfrm>
        </p:grpSpPr>
        <p:sp>
          <p:nvSpPr>
            <p:cNvPr id="8" name="Polygon 8"/>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9" name="TextBox 9"/>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28</a:t>
              </a:r>
            </a:p>
          </p:txBody>
        </p:sp>
        <p:sp>
          <p:nvSpPr>
            <p:cNvPr id="10" name="TextBox 10"/>
            <p:cNvSpPr txBox="1"/>
            <p:nvPr/>
          </p:nvSpPr>
          <p:spPr>
            <a:xfrm>
              <a:off x="904494" y="170498"/>
              <a:ext cx="2119884"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如何设计会员中心</a:t>
              </a:r>
            </a:p>
          </p:txBody>
        </p:sp>
        <p:sp>
          <p:nvSpPr>
            <p:cNvPr id="11" name="Line 11"/>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20" name="hub-circle"/>
          <p:cNvGrpSpPr/>
          <p:nvPr/>
        </p:nvGrpSpPr>
        <p:grpSpPr>
          <a:xfrm>
            <a:off x="504825" y="1914525"/>
            <a:ext cx="3162300" cy="3162300"/>
            <a:chOff x="504825" y="1914525"/>
            <a:chExt cx="3162300" cy="3162300"/>
          </a:xfrm>
        </p:grpSpPr>
        <p:sp>
          <p:nvSpPr>
            <p:cNvPr id="13" name="Ellipse 13"/>
            <p:cNvSpPr/>
            <p:nvPr/>
          </p:nvSpPr>
          <p:spPr>
            <a:xfrm>
              <a:off x="504825" y="1914525"/>
              <a:ext cx="3162300" cy="3162300"/>
            </a:xfrm>
            <a:prstGeom prst="ellipse">
              <a:avLst/>
            </a:prstGeom>
            <a:solidFill>
              <a:srgbClr val="F4F9FF"/>
            </a:solidFill>
            <a:ln>
              <a:noFill/>
            </a:ln>
          </p:spPr>
        </p:sp>
        <p:sp>
          <p:nvSpPr>
            <p:cNvPr id="14" name="Ellipse 14"/>
            <p:cNvSpPr/>
            <p:nvPr/>
          </p:nvSpPr>
          <p:spPr>
            <a:xfrm>
              <a:off x="866775" y="2276475"/>
              <a:ext cx="2438400" cy="2438400"/>
            </a:xfrm>
            <a:prstGeom prst="ellipse">
              <a:avLst/>
            </a:prstGeom>
            <a:solidFill>
              <a:srgbClr val="E3EEFD"/>
            </a:solidFill>
            <a:ln>
              <a:noFill/>
            </a:ln>
          </p:spPr>
        </p:sp>
        <p:sp>
          <p:nvSpPr>
            <p:cNvPr id="15" name="Ellipse 15"/>
            <p:cNvSpPr/>
            <p:nvPr/>
          </p:nvSpPr>
          <p:spPr>
            <a:xfrm>
              <a:off x="1123950" y="2533650"/>
              <a:ext cx="1924050" cy="1924050"/>
            </a:xfrm>
            <a:prstGeom prst="ellipse">
              <a:avLst/>
            </a:prstGeom>
            <a:gradFill>
              <a:gsLst>
                <a:gs pos="0">
                  <a:srgbClr val="FB684A"/>
                </a:gs>
                <a:gs pos="100000">
                  <a:srgbClr val="FA421D"/>
                </a:gs>
              </a:gsLst>
              <a:lin ang="5400000" scaled="1"/>
            </a:gradFill>
            <a:ln w="23812">
              <a:solidFill>
                <a:srgbClr val="FFFFFF"/>
              </a:solidFill>
            </a:ln>
          </p:spPr>
        </p:sp>
        <p:grpSp>
          <p:nvGrpSpPr>
            <p:cNvPr id="18" name="Group 18"/>
            <p:cNvGrpSpPr/>
            <p:nvPr/>
          </p:nvGrpSpPr>
          <p:grpSpPr>
            <a:xfrm>
              <a:off x="1928812" y="2830512"/>
              <a:ext cx="314324" cy="256875"/>
              <a:chOff x="1928812" y="2830512"/>
              <a:chExt cx="314324" cy="256875"/>
            </a:xfrm>
          </p:grpSpPr>
          <p:sp>
            <p:nvSpPr>
              <p:cNvPr id="16" name="Freeform 16"/>
              <p:cNvSpPr/>
              <p:nvPr/>
            </p:nvSpPr>
            <p:spPr>
              <a:xfrm>
                <a:off x="1928812" y="2830512"/>
                <a:ext cx="314324" cy="256875"/>
              </a:xfrm>
              <a:custGeom>
                <a:avLst/>
                <a:gdLst/>
                <a:ahLst/>
                <a:cxnLst/>
                <a:rect l="l" t="t" r="r" b="b"/>
                <a:pathLst>
                  <a:path w="314324" h="256875">
                    <a:moveTo>
                      <a:pt x="52387" y="0"/>
                    </a:moveTo>
                    <a:lnTo>
                      <a:pt x="261937" y="0"/>
                    </a:lnTo>
                    <a:lnTo>
                      <a:pt x="314324" y="87312"/>
                    </a:lnTo>
                    <a:lnTo>
                      <a:pt x="165893" y="253206"/>
                    </a:lnTo>
                    <a:cubicBezTo>
                      <a:pt x="163594" y="255552"/>
                      <a:pt x="160447" y="256875"/>
                      <a:pt x="157162" y="256875"/>
                    </a:cubicBezTo>
                    <a:cubicBezTo>
                      <a:pt x="153877" y="256875"/>
                      <a:pt x="150730" y="255552"/>
                      <a:pt x="148431" y="253206"/>
                    </a:cubicBezTo>
                    <a:lnTo>
                      <a:pt x="0" y="87312"/>
                    </a:lnTo>
                    <a:lnTo>
                      <a:pt x="52387" y="0"/>
                    </a:lnTo>
                  </a:path>
                </a:pathLst>
              </a:custGeom>
              <a:noFill/>
              <a:ln w="34925">
                <a:solidFill>
                  <a:srgbClr val="FFFFFF"/>
                </a:solidFill>
              </a:ln>
            </p:spPr>
          </p:sp>
          <p:sp>
            <p:nvSpPr>
              <p:cNvPr id="17" name="Freeform 17"/>
              <p:cNvSpPr/>
              <p:nvPr/>
            </p:nvSpPr>
            <p:spPr>
              <a:xfrm>
                <a:off x="2016125" y="2896870"/>
                <a:ext cx="34925" cy="55880"/>
              </a:xfrm>
              <a:custGeom>
                <a:avLst/>
                <a:gdLst/>
                <a:ahLst/>
                <a:cxnLst/>
                <a:rect l="l" t="t" r="r" b="b"/>
                <a:pathLst>
                  <a:path w="34925" h="55880">
                    <a:moveTo>
                      <a:pt x="34925" y="55880"/>
                    </a:moveTo>
                    <a:lnTo>
                      <a:pt x="0" y="17462"/>
                    </a:lnTo>
                    <a:lnTo>
                      <a:pt x="10477" y="0"/>
                    </a:lnTo>
                  </a:path>
                </a:pathLst>
              </a:custGeom>
              <a:noFill/>
              <a:ln w="34925">
                <a:solidFill>
                  <a:srgbClr val="FFFFFF"/>
                </a:solidFill>
              </a:ln>
            </p:spPr>
          </p:sp>
        </p:grpSp>
        <p:sp>
          <p:nvSpPr>
            <p:cNvPr id="19" name="TextBox 19"/>
            <p:cNvSpPr txBox="1"/>
            <p:nvPr/>
          </p:nvSpPr>
          <p:spPr>
            <a:xfrm>
              <a:off x="1592199" y="3596640"/>
              <a:ext cx="987552"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会员中心</a:t>
              </a:r>
            </a:p>
          </p:txBody>
        </p:sp>
      </p:grpSp>
      <p:grpSp>
        <p:nvGrpSpPr>
          <p:cNvPr id="26" name="card-efficiency"/>
          <p:cNvGrpSpPr/>
          <p:nvPr/>
        </p:nvGrpSpPr>
        <p:grpSpPr>
          <a:xfrm>
            <a:off x="4191000" y="1666875"/>
            <a:ext cx="3543300" cy="762000"/>
            <a:chOff x="4191000" y="1666875"/>
            <a:chExt cx="3543300" cy="762000"/>
          </a:xfrm>
        </p:grpSpPr>
        <p:sp>
          <p:nvSpPr>
            <p:cNvPr id="21" name="Rectangle 21"/>
            <p:cNvSpPr/>
            <p:nvPr/>
          </p:nvSpPr>
          <p:spPr>
            <a:xfrm>
              <a:off x="4191000" y="1666875"/>
              <a:ext cx="1428750" cy="762000"/>
            </a:xfrm>
            <a:prstGeom prst="roundRect">
              <a:avLst>
                <a:gd name="adj" fmla="val 10000"/>
              </a:avLst>
            </a:prstGeom>
            <a:gradFill>
              <a:gsLst>
                <a:gs pos="0">
                  <a:srgbClr val="FB684A"/>
                </a:gs>
                <a:gs pos="100000">
                  <a:srgbClr val="FA421D"/>
                </a:gs>
              </a:gsLst>
              <a:lin ang="5400000" scaled="1"/>
            </a:gradFill>
            <a:ln>
              <a:noFill/>
            </a:ln>
          </p:spPr>
        </p:sp>
        <p:sp>
          <p:nvSpPr>
            <p:cNvPr id="22" name="TextBox 22"/>
            <p:cNvSpPr txBox="1"/>
            <p:nvPr/>
          </p:nvSpPr>
          <p:spPr>
            <a:xfrm>
              <a:off x="4493895" y="1962150"/>
              <a:ext cx="82296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决策效率</a:t>
              </a:r>
            </a:p>
          </p:txBody>
        </p:sp>
        <p:sp>
          <p:nvSpPr>
            <p:cNvPr id="23" name="Rectangle 23"/>
            <p:cNvSpPr/>
            <p:nvPr/>
          </p:nvSpPr>
          <p:spPr>
            <a:xfrm>
              <a:off x="5619750" y="1666875"/>
              <a:ext cx="2114550" cy="762000"/>
            </a:xfrm>
            <a:prstGeom prst="roundRect">
              <a:avLst>
                <a:gd name="adj" fmla="val 10000"/>
              </a:avLst>
            </a:prstGeom>
            <a:solidFill>
              <a:srgbClr val="FFFFFF"/>
            </a:solidFill>
            <a:ln w="14288">
              <a:solidFill>
                <a:srgbClr val="D8E7FC"/>
              </a:solidFill>
            </a:ln>
          </p:spPr>
        </p:sp>
        <p:sp>
          <p:nvSpPr>
            <p:cNvPr id="24" name="TextBox 24"/>
            <p:cNvSpPr txBox="1"/>
            <p:nvPr/>
          </p:nvSpPr>
          <p:spPr>
            <a:xfrm>
              <a:off x="5823204" y="1851660"/>
              <a:ext cx="658368" cy="234696"/>
            </a:xfrm>
            <a:prstGeom prst="rect">
              <a:avLst/>
            </a:prstGeom>
            <a:noFill/>
            <a:ln>
              <a:noFill/>
            </a:ln>
          </p:spPr>
          <p:txBody>
            <a:bodyPr wrap="none" lIns="0" tIns="0" rIns="0" bIns="0" anchor="t" anchorCtr="0">
              <a:spAutoFit/>
            </a:bodyPr>
            <a:lstStyle/>
            <a:p>
              <a:pPr algn="l"/>
              <a:r>
                <a:rPr lang="zh-CN" sz="1200" b="1" dirty="0">
                  <a:solidFill>
                    <a:srgbClr val="E83F1D"/>
                  </a:solidFill>
                  <a:latin typeface="+mn-lt"/>
                  <a:ea typeface="+mn-ea"/>
                  <a:cs typeface="+mn-cs"/>
                </a:rPr>
                <a:t>懂你所想</a:t>
              </a:r>
            </a:p>
          </p:txBody>
        </p:sp>
        <p:sp>
          <p:nvSpPr>
            <p:cNvPr id="25" name="TextBox 25"/>
            <p:cNvSpPr txBox="1"/>
            <p:nvPr/>
          </p:nvSpPr>
          <p:spPr>
            <a:xfrm>
              <a:off x="5824538" y="2146697"/>
              <a:ext cx="1021867" cy="183356"/>
            </a:xfrm>
            <a:prstGeom prst="rect">
              <a:avLst/>
            </a:prstGeom>
            <a:noFill/>
            <a:ln>
              <a:noFill/>
            </a:ln>
          </p:spPr>
          <p:txBody>
            <a:bodyPr wrap="none" lIns="0" tIns="0" rIns="0" bIns="0" anchor="t" anchorCtr="0">
              <a:spAutoFit/>
            </a:bodyPr>
            <a:lstStyle/>
            <a:p>
              <a:pPr algn="l"/>
              <a:r>
                <a:rPr lang="zh-CN" sz="940" dirty="0">
                  <a:solidFill>
                    <a:srgbClr val="3D241F"/>
                  </a:solidFill>
                  <a:latin typeface="+mn-lt"/>
                  <a:ea typeface="+mn-ea"/>
                  <a:cs typeface="+mn-cs"/>
                </a:rPr>
                <a:t>会员中心框架重构</a:t>
              </a:r>
            </a:p>
          </p:txBody>
        </p:sp>
      </p:grpSp>
      <p:grpSp>
        <p:nvGrpSpPr>
          <p:cNvPr id="32" name="card-perception"/>
          <p:cNvGrpSpPr/>
          <p:nvPr/>
        </p:nvGrpSpPr>
        <p:grpSpPr>
          <a:xfrm>
            <a:off x="4191000" y="3238500"/>
            <a:ext cx="3543300" cy="762000"/>
            <a:chOff x="4191000" y="3238500"/>
            <a:chExt cx="3543300" cy="762000"/>
          </a:xfrm>
        </p:grpSpPr>
        <p:sp>
          <p:nvSpPr>
            <p:cNvPr id="27" name="Rectangle 27"/>
            <p:cNvSpPr/>
            <p:nvPr/>
          </p:nvSpPr>
          <p:spPr>
            <a:xfrm>
              <a:off x="4191000" y="3238500"/>
              <a:ext cx="1428750" cy="762000"/>
            </a:xfrm>
            <a:prstGeom prst="roundRect">
              <a:avLst>
                <a:gd name="adj" fmla="val 10000"/>
              </a:avLst>
            </a:prstGeom>
            <a:gradFill>
              <a:gsLst>
                <a:gs pos="0">
                  <a:srgbClr val="FB684A"/>
                </a:gs>
                <a:gs pos="100000">
                  <a:srgbClr val="FA421D"/>
                </a:gs>
              </a:gsLst>
              <a:lin ang="5400000" scaled="1"/>
            </a:gradFill>
            <a:ln>
              <a:noFill/>
            </a:ln>
          </p:spPr>
        </p:sp>
        <p:sp>
          <p:nvSpPr>
            <p:cNvPr id="28" name="TextBox 28"/>
            <p:cNvSpPr txBox="1"/>
            <p:nvPr/>
          </p:nvSpPr>
          <p:spPr>
            <a:xfrm>
              <a:off x="4493895" y="3533775"/>
              <a:ext cx="82296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尊享感知</a:t>
              </a:r>
            </a:p>
          </p:txBody>
        </p:sp>
        <p:sp>
          <p:nvSpPr>
            <p:cNvPr id="29" name="Rectangle 29"/>
            <p:cNvSpPr/>
            <p:nvPr/>
          </p:nvSpPr>
          <p:spPr>
            <a:xfrm>
              <a:off x="5619750" y="3238500"/>
              <a:ext cx="2114550" cy="762000"/>
            </a:xfrm>
            <a:prstGeom prst="roundRect">
              <a:avLst>
                <a:gd name="adj" fmla="val 10000"/>
              </a:avLst>
            </a:prstGeom>
            <a:solidFill>
              <a:srgbClr val="FFFFFF"/>
            </a:solidFill>
            <a:ln w="14288">
              <a:solidFill>
                <a:srgbClr val="D8E7FC"/>
              </a:solidFill>
            </a:ln>
          </p:spPr>
        </p:sp>
        <p:sp>
          <p:nvSpPr>
            <p:cNvPr id="30" name="TextBox 30"/>
            <p:cNvSpPr txBox="1"/>
            <p:nvPr/>
          </p:nvSpPr>
          <p:spPr>
            <a:xfrm>
              <a:off x="5823204" y="3423285"/>
              <a:ext cx="981456" cy="234696"/>
            </a:xfrm>
            <a:prstGeom prst="rect">
              <a:avLst/>
            </a:prstGeom>
            <a:noFill/>
            <a:ln>
              <a:noFill/>
            </a:ln>
          </p:spPr>
          <p:txBody>
            <a:bodyPr wrap="none" lIns="0" tIns="0" rIns="0" bIns="0" anchor="t" anchorCtr="0">
              <a:spAutoFit/>
            </a:bodyPr>
            <a:lstStyle/>
            <a:p>
              <a:pPr algn="l"/>
              <a:r>
                <a:rPr lang="zh-CN" sz="1200" b="1" dirty="0">
                  <a:solidFill>
                    <a:srgbClr val="E83F1D"/>
                  </a:solidFill>
                  <a:latin typeface="+mn-lt"/>
                  <a:ea typeface="+mn-ea"/>
                  <a:cs typeface="+mn-cs"/>
                </a:rPr>
                <a:t>凸显尊崇认知</a:t>
              </a:r>
            </a:p>
          </p:txBody>
        </p:sp>
        <p:sp>
          <p:nvSpPr>
            <p:cNvPr id="31" name="TextBox 31"/>
            <p:cNvSpPr txBox="1"/>
            <p:nvPr/>
          </p:nvSpPr>
          <p:spPr>
            <a:xfrm>
              <a:off x="5824538" y="3718322"/>
              <a:ext cx="768782" cy="183356"/>
            </a:xfrm>
            <a:prstGeom prst="rect">
              <a:avLst/>
            </a:prstGeom>
            <a:noFill/>
            <a:ln>
              <a:noFill/>
            </a:ln>
          </p:spPr>
          <p:txBody>
            <a:bodyPr wrap="none" lIns="0" tIns="0" rIns="0" bIns="0" anchor="t" anchorCtr="0">
              <a:spAutoFit/>
            </a:bodyPr>
            <a:lstStyle/>
            <a:p>
              <a:pPr algn="l"/>
              <a:r>
                <a:rPr lang="zh-CN" sz="940" dirty="0">
                  <a:solidFill>
                    <a:srgbClr val="3D241F"/>
                  </a:solidFill>
                  <a:latin typeface="+mn-lt"/>
                  <a:ea typeface="+mn-ea"/>
                  <a:cs typeface="+mn-cs"/>
                </a:rPr>
                <a:t>视觉语言升级</a:t>
              </a:r>
            </a:p>
          </p:txBody>
        </p:sp>
      </p:grpSp>
      <p:grpSp>
        <p:nvGrpSpPr>
          <p:cNvPr id="38" name="card-component"/>
          <p:cNvGrpSpPr/>
          <p:nvPr/>
        </p:nvGrpSpPr>
        <p:grpSpPr>
          <a:xfrm>
            <a:off x="4191000" y="4810125"/>
            <a:ext cx="3543300" cy="762000"/>
            <a:chOff x="4191000" y="4810125"/>
            <a:chExt cx="3543300" cy="762000"/>
          </a:xfrm>
        </p:grpSpPr>
        <p:sp>
          <p:nvSpPr>
            <p:cNvPr id="33" name="Rectangle 33"/>
            <p:cNvSpPr/>
            <p:nvPr/>
          </p:nvSpPr>
          <p:spPr>
            <a:xfrm>
              <a:off x="4191000" y="4810125"/>
              <a:ext cx="1428750" cy="762000"/>
            </a:xfrm>
            <a:prstGeom prst="roundRect">
              <a:avLst>
                <a:gd name="adj" fmla="val 10000"/>
              </a:avLst>
            </a:prstGeom>
            <a:gradFill>
              <a:gsLst>
                <a:gs pos="0">
                  <a:srgbClr val="FB684A"/>
                </a:gs>
                <a:gs pos="100000">
                  <a:srgbClr val="FA421D"/>
                </a:gs>
              </a:gsLst>
              <a:lin ang="5400000" scaled="1"/>
            </a:gradFill>
            <a:ln>
              <a:noFill/>
            </a:ln>
          </p:spPr>
        </p:sp>
        <p:sp>
          <p:nvSpPr>
            <p:cNvPr id="34" name="TextBox 34"/>
            <p:cNvSpPr txBox="1"/>
            <p:nvPr/>
          </p:nvSpPr>
          <p:spPr>
            <a:xfrm>
              <a:off x="4493895" y="5105400"/>
              <a:ext cx="82296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组件沉淀</a:t>
              </a:r>
            </a:p>
          </p:txBody>
        </p:sp>
        <p:sp>
          <p:nvSpPr>
            <p:cNvPr id="35" name="Rectangle 35"/>
            <p:cNvSpPr/>
            <p:nvPr/>
          </p:nvSpPr>
          <p:spPr>
            <a:xfrm>
              <a:off x="5619750" y="4810125"/>
              <a:ext cx="2114550" cy="762000"/>
            </a:xfrm>
            <a:prstGeom prst="roundRect">
              <a:avLst>
                <a:gd name="adj" fmla="val 10000"/>
              </a:avLst>
            </a:prstGeom>
            <a:solidFill>
              <a:srgbClr val="FFFFFF"/>
            </a:solidFill>
            <a:ln w="14288">
              <a:solidFill>
                <a:srgbClr val="D8E7FC"/>
              </a:solidFill>
            </a:ln>
          </p:spPr>
        </p:sp>
        <p:sp>
          <p:nvSpPr>
            <p:cNvPr id="36" name="TextBox 36"/>
            <p:cNvSpPr txBox="1"/>
            <p:nvPr/>
          </p:nvSpPr>
          <p:spPr>
            <a:xfrm>
              <a:off x="5823204" y="4994910"/>
              <a:ext cx="981456" cy="234696"/>
            </a:xfrm>
            <a:prstGeom prst="rect">
              <a:avLst/>
            </a:prstGeom>
            <a:noFill/>
            <a:ln>
              <a:noFill/>
            </a:ln>
          </p:spPr>
          <p:txBody>
            <a:bodyPr wrap="none" lIns="0" tIns="0" rIns="0" bIns="0" anchor="t" anchorCtr="0">
              <a:spAutoFit/>
            </a:bodyPr>
            <a:lstStyle/>
            <a:p>
              <a:pPr algn="l"/>
              <a:r>
                <a:rPr lang="zh-CN" sz="1200" b="1" dirty="0">
                  <a:solidFill>
                    <a:srgbClr val="E83F1D"/>
                  </a:solidFill>
                  <a:latin typeface="+mn-lt"/>
                  <a:ea typeface="+mn-ea"/>
                  <a:cs typeface="+mn-cs"/>
                </a:rPr>
                <a:t>提升迭代效率</a:t>
              </a:r>
            </a:p>
          </p:txBody>
        </p:sp>
        <p:sp>
          <p:nvSpPr>
            <p:cNvPr id="37" name="TextBox 37"/>
            <p:cNvSpPr txBox="1"/>
            <p:nvPr/>
          </p:nvSpPr>
          <p:spPr>
            <a:xfrm>
              <a:off x="5824538" y="5289947"/>
              <a:ext cx="768782" cy="183356"/>
            </a:xfrm>
            <a:prstGeom prst="rect">
              <a:avLst/>
            </a:prstGeom>
            <a:noFill/>
            <a:ln>
              <a:noFill/>
            </a:ln>
          </p:spPr>
          <p:txBody>
            <a:bodyPr wrap="none" lIns="0" tIns="0" rIns="0" bIns="0" anchor="t" anchorCtr="0">
              <a:spAutoFit/>
            </a:bodyPr>
            <a:lstStyle/>
            <a:p>
              <a:pPr algn="l"/>
              <a:r>
                <a:rPr lang="zh-CN" sz="940" dirty="0">
                  <a:solidFill>
                    <a:srgbClr val="3D241F"/>
                  </a:solidFill>
                  <a:latin typeface="+mn-lt"/>
                  <a:ea typeface="+mn-ea"/>
                  <a:cs typeface="+mn-cs"/>
                </a:rPr>
                <a:t>通用组件沉淀</a:t>
              </a:r>
            </a:p>
          </p:txBody>
        </p:sp>
      </p:grpSp>
      <p:grpSp>
        <p:nvGrpSpPr>
          <p:cNvPr id="45" name="pills-efficiency"/>
          <p:cNvGrpSpPr/>
          <p:nvPr/>
        </p:nvGrpSpPr>
        <p:grpSpPr>
          <a:xfrm>
            <a:off x="9429750" y="1333500"/>
            <a:ext cx="2190750" cy="1333500"/>
            <a:chOff x="9429750" y="1333500"/>
            <a:chExt cx="2190750" cy="1333500"/>
          </a:xfrm>
        </p:grpSpPr>
        <p:sp>
          <p:nvSpPr>
            <p:cNvPr id="39" name="Rectangle 39"/>
            <p:cNvSpPr/>
            <p:nvPr/>
          </p:nvSpPr>
          <p:spPr>
            <a:xfrm>
              <a:off x="9429750" y="1333500"/>
              <a:ext cx="2190750" cy="323850"/>
            </a:xfrm>
            <a:prstGeom prst="roundRect">
              <a:avLst>
                <a:gd name="adj" fmla="val 50000"/>
              </a:avLst>
            </a:prstGeom>
            <a:solidFill>
              <a:srgbClr val="FDA28F"/>
            </a:solidFill>
            <a:ln>
              <a:noFill/>
            </a:ln>
          </p:spPr>
        </p:sp>
        <p:sp>
          <p:nvSpPr>
            <p:cNvPr id="40" name="TextBox 40"/>
            <p:cNvSpPr txBox="1"/>
            <p:nvPr/>
          </p:nvSpPr>
          <p:spPr>
            <a:xfrm>
              <a:off x="10140734" y="1441847"/>
              <a:ext cx="768782"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打造分层布局</a:t>
              </a:r>
            </a:p>
          </p:txBody>
        </p:sp>
        <p:sp>
          <p:nvSpPr>
            <p:cNvPr id="41" name="Rectangle 41"/>
            <p:cNvSpPr/>
            <p:nvPr/>
          </p:nvSpPr>
          <p:spPr>
            <a:xfrm>
              <a:off x="9429750" y="1838325"/>
              <a:ext cx="2190750" cy="323850"/>
            </a:xfrm>
            <a:prstGeom prst="roundRect">
              <a:avLst>
                <a:gd name="adj" fmla="val 50000"/>
              </a:avLst>
            </a:prstGeom>
            <a:solidFill>
              <a:srgbClr val="FDA28F"/>
            </a:solidFill>
            <a:ln>
              <a:noFill/>
            </a:ln>
          </p:spPr>
        </p:sp>
        <p:sp>
          <p:nvSpPr>
            <p:cNvPr id="42" name="TextBox 42"/>
            <p:cNvSpPr txBox="1"/>
            <p:nvPr/>
          </p:nvSpPr>
          <p:spPr>
            <a:xfrm>
              <a:off x="10140734" y="1946672"/>
              <a:ext cx="768782"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强调关键信息</a:t>
              </a:r>
            </a:p>
          </p:txBody>
        </p:sp>
        <p:sp>
          <p:nvSpPr>
            <p:cNvPr id="43" name="Rectangle 43"/>
            <p:cNvSpPr/>
            <p:nvPr/>
          </p:nvSpPr>
          <p:spPr>
            <a:xfrm>
              <a:off x="9429750" y="2343150"/>
              <a:ext cx="2190750" cy="323850"/>
            </a:xfrm>
            <a:prstGeom prst="roundRect">
              <a:avLst>
                <a:gd name="adj" fmla="val 50000"/>
              </a:avLst>
            </a:prstGeom>
            <a:solidFill>
              <a:srgbClr val="FDA28F"/>
            </a:solidFill>
            <a:ln>
              <a:noFill/>
            </a:ln>
          </p:spPr>
        </p:sp>
        <p:sp>
          <p:nvSpPr>
            <p:cNvPr id="44" name="TextBox 44"/>
            <p:cNvSpPr txBox="1"/>
            <p:nvPr/>
          </p:nvSpPr>
          <p:spPr>
            <a:xfrm>
              <a:off x="10140734" y="2451497"/>
              <a:ext cx="768782"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缩短支付步长</a:t>
              </a:r>
            </a:p>
          </p:txBody>
        </p:sp>
      </p:grpSp>
      <p:grpSp>
        <p:nvGrpSpPr>
          <p:cNvPr id="52" name="pills-perception"/>
          <p:cNvGrpSpPr/>
          <p:nvPr/>
        </p:nvGrpSpPr>
        <p:grpSpPr>
          <a:xfrm>
            <a:off x="9429750" y="2952750"/>
            <a:ext cx="2190750" cy="1343025"/>
            <a:chOff x="9429750" y="2952750"/>
            <a:chExt cx="2190750" cy="1343025"/>
          </a:xfrm>
        </p:grpSpPr>
        <p:sp>
          <p:nvSpPr>
            <p:cNvPr id="46" name="Rectangle 46"/>
            <p:cNvSpPr/>
            <p:nvPr/>
          </p:nvSpPr>
          <p:spPr>
            <a:xfrm>
              <a:off x="9429750" y="2952750"/>
              <a:ext cx="2190750" cy="323850"/>
            </a:xfrm>
            <a:prstGeom prst="roundRect">
              <a:avLst>
                <a:gd name="adj" fmla="val 50000"/>
              </a:avLst>
            </a:prstGeom>
            <a:solidFill>
              <a:srgbClr val="FDA28F"/>
            </a:solidFill>
            <a:ln>
              <a:noFill/>
            </a:ln>
          </p:spPr>
        </p:sp>
        <p:sp>
          <p:nvSpPr>
            <p:cNvPr id="47" name="TextBox 47"/>
            <p:cNvSpPr txBox="1"/>
            <p:nvPr/>
          </p:nvSpPr>
          <p:spPr>
            <a:xfrm>
              <a:off x="9887648" y="3061097"/>
              <a:ext cx="1274953"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卡面升级，提升身份感</a:t>
              </a:r>
            </a:p>
          </p:txBody>
        </p:sp>
        <p:sp>
          <p:nvSpPr>
            <p:cNvPr id="48" name="Rectangle 48"/>
            <p:cNvSpPr/>
            <p:nvPr/>
          </p:nvSpPr>
          <p:spPr>
            <a:xfrm>
              <a:off x="9429750" y="3467100"/>
              <a:ext cx="2190750" cy="323850"/>
            </a:xfrm>
            <a:prstGeom prst="roundRect">
              <a:avLst>
                <a:gd name="adj" fmla="val 50000"/>
              </a:avLst>
            </a:prstGeom>
            <a:solidFill>
              <a:srgbClr val="FDA28F"/>
            </a:solidFill>
            <a:ln>
              <a:noFill/>
            </a:ln>
          </p:spPr>
        </p:sp>
        <p:sp>
          <p:nvSpPr>
            <p:cNvPr id="49" name="TextBox 49"/>
            <p:cNvSpPr txBox="1"/>
            <p:nvPr/>
          </p:nvSpPr>
          <p:spPr>
            <a:xfrm>
              <a:off x="9824377" y="3575447"/>
              <a:ext cx="14014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品牌色优化，确保拓展性</a:t>
              </a:r>
            </a:p>
          </p:txBody>
        </p:sp>
        <p:sp>
          <p:nvSpPr>
            <p:cNvPr id="50" name="Rectangle 50"/>
            <p:cNvSpPr/>
            <p:nvPr/>
          </p:nvSpPr>
          <p:spPr>
            <a:xfrm>
              <a:off x="9429750" y="3971925"/>
              <a:ext cx="2190750" cy="323850"/>
            </a:xfrm>
            <a:prstGeom prst="roundRect">
              <a:avLst>
                <a:gd name="adj" fmla="val 50000"/>
              </a:avLst>
            </a:prstGeom>
            <a:solidFill>
              <a:srgbClr val="FDA28F"/>
            </a:solidFill>
            <a:ln>
              <a:noFill/>
            </a:ln>
          </p:spPr>
        </p:sp>
        <p:sp>
          <p:nvSpPr>
            <p:cNvPr id="51" name="TextBox 51"/>
            <p:cNvSpPr txBox="1"/>
            <p:nvPr/>
          </p:nvSpPr>
          <p:spPr>
            <a:xfrm>
              <a:off x="9854267" y="4080272"/>
              <a:ext cx="134171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Icon重塑，强化识别性​</a:t>
              </a:r>
            </a:p>
          </p:txBody>
        </p:sp>
      </p:grpSp>
      <p:grpSp>
        <p:nvGrpSpPr>
          <p:cNvPr id="59" name="pills-component"/>
          <p:cNvGrpSpPr/>
          <p:nvPr/>
        </p:nvGrpSpPr>
        <p:grpSpPr>
          <a:xfrm>
            <a:off x="9429750" y="4572000"/>
            <a:ext cx="2190750" cy="1343025"/>
            <a:chOff x="9429750" y="4572000"/>
            <a:chExt cx="2190750" cy="1343025"/>
          </a:xfrm>
        </p:grpSpPr>
        <p:sp>
          <p:nvSpPr>
            <p:cNvPr id="53" name="Rectangle 53"/>
            <p:cNvSpPr/>
            <p:nvPr/>
          </p:nvSpPr>
          <p:spPr>
            <a:xfrm>
              <a:off x="9429750" y="4572000"/>
              <a:ext cx="2190750" cy="323850"/>
            </a:xfrm>
            <a:prstGeom prst="roundRect">
              <a:avLst>
                <a:gd name="adj" fmla="val 50000"/>
              </a:avLst>
            </a:prstGeom>
            <a:solidFill>
              <a:srgbClr val="FDA28F"/>
            </a:solidFill>
            <a:ln>
              <a:noFill/>
            </a:ln>
          </p:spPr>
        </p:sp>
        <p:sp>
          <p:nvSpPr>
            <p:cNvPr id="54" name="TextBox 54"/>
            <p:cNvSpPr txBox="1"/>
            <p:nvPr/>
          </p:nvSpPr>
          <p:spPr>
            <a:xfrm>
              <a:off x="9887648" y="4680347"/>
              <a:ext cx="1274953"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惊喜彩蛋，提升情感化</a:t>
              </a:r>
            </a:p>
          </p:txBody>
        </p:sp>
        <p:sp>
          <p:nvSpPr>
            <p:cNvPr id="55" name="Rectangle 55"/>
            <p:cNvSpPr/>
            <p:nvPr/>
          </p:nvSpPr>
          <p:spPr>
            <a:xfrm>
              <a:off x="9429750" y="5076825"/>
              <a:ext cx="2190750" cy="323850"/>
            </a:xfrm>
            <a:prstGeom prst="roundRect">
              <a:avLst>
                <a:gd name="adj" fmla="val 50000"/>
              </a:avLst>
            </a:prstGeom>
            <a:solidFill>
              <a:srgbClr val="FDA28F"/>
            </a:solidFill>
            <a:ln>
              <a:noFill/>
            </a:ln>
          </p:spPr>
        </p:sp>
        <p:sp>
          <p:nvSpPr>
            <p:cNvPr id="56" name="TextBox 56"/>
            <p:cNvSpPr txBox="1"/>
            <p:nvPr/>
          </p:nvSpPr>
          <p:spPr>
            <a:xfrm>
              <a:off x="10267277" y="5185172"/>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支付模块</a:t>
              </a:r>
            </a:p>
          </p:txBody>
        </p:sp>
        <p:sp>
          <p:nvSpPr>
            <p:cNvPr id="57" name="Rectangle 57"/>
            <p:cNvSpPr/>
            <p:nvPr/>
          </p:nvSpPr>
          <p:spPr>
            <a:xfrm>
              <a:off x="9429750" y="5591175"/>
              <a:ext cx="2190750" cy="323850"/>
            </a:xfrm>
            <a:prstGeom prst="roundRect">
              <a:avLst>
                <a:gd name="adj" fmla="val 50000"/>
              </a:avLst>
            </a:prstGeom>
            <a:solidFill>
              <a:srgbClr val="FDA28F"/>
            </a:solidFill>
            <a:ln>
              <a:noFill/>
            </a:ln>
          </p:spPr>
        </p:sp>
        <p:sp>
          <p:nvSpPr>
            <p:cNvPr id="58" name="TextBox 58"/>
            <p:cNvSpPr txBox="1"/>
            <p:nvPr/>
          </p:nvSpPr>
          <p:spPr>
            <a:xfrm>
              <a:off x="10140734" y="5699522"/>
              <a:ext cx="768782"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特权展示模块</a:t>
              </a:r>
            </a:p>
          </p:txBody>
        </p:sp>
      </p:gr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shadow-l"/>
          <p:cNvSpPr/>
          <p:nvPr/>
        </p:nvSpPr>
        <p:spPr>
          <a:xfrm>
            <a:off x="1285875" y="6057900"/>
            <a:ext cx="2286000" cy="228600"/>
          </a:xfrm>
          <a:prstGeom prst="ellipse">
            <a:avLst/>
          </a:prstGeom>
          <a:solidFill>
            <a:srgbClr val="FCD0C7">
              <a:alpha val="55000"/>
            </a:srgbClr>
          </a:solidFill>
          <a:ln>
            <a:noFill/>
          </a:ln>
        </p:spPr>
      </p:sp>
      <p:sp>
        <p:nvSpPr>
          <p:cNvPr id="3" name="deco-shadow-c"/>
          <p:cNvSpPr/>
          <p:nvPr/>
        </p:nvSpPr>
        <p:spPr>
          <a:xfrm>
            <a:off x="4857750" y="6086475"/>
            <a:ext cx="2476500" cy="247650"/>
          </a:xfrm>
          <a:prstGeom prst="ellipse">
            <a:avLst/>
          </a:prstGeom>
          <a:solidFill>
            <a:srgbClr val="FCD0C7">
              <a:alpha val="55000"/>
            </a:srgbClr>
          </a:solidFill>
          <a:ln>
            <a:noFill/>
          </a:ln>
        </p:spPr>
      </p:sp>
      <p:sp>
        <p:nvSpPr>
          <p:cNvPr id="4" name="deco-shadow-r"/>
          <p:cNvSpPr/>
          <p:nvPr/>
        </p:nvSpPr>
        <p:spPr>
          <a:xfrm>
            <a:off x="8677275" y="6057900"/>
            <a:ext cx="2286000" cy="228600"/>
          </a:xfrm>
          <a:prstGeom prst="ellipse">
            <a:avLst/>
          </a:prstGeom>
          <a:solidFill>
            <a:srgbClr val="FCD0C7">
              <a:alpha val="55000"/>
            </a:srgbClr>
          </a:solidFill>
          <a:ln>
            <a:noFill/>
          </a:ln>
        </p:spPr>
      </p:sp>
      <p:sp>
        <p:nvSpPr>
          <p:cNvPr id="5" name="deco-ring"/>
          <p:cNvSpPr/>
          <p:nvPr/>
        </p:nvSpPr>
        <p:spPr>
          <a:xfrm>
            <a:off x="4648200" y="2457450"/>
            <a:ext cx="2895600" cy="2895600"/>
          </a:xfrm>
          <a:prstGeom prst="ellipse">
            <a:avLst/>
          </a:prstGeom>
          <a:noFill/>
          <a:ln w="14288">
            <a:solidFill>
              <a:srgbClr val="FCB7A9"/>
            </a:solidFill>
          </a:ln>
        </p:spPr>
      </p:sp>
      <p:sp>
        <p:nvSpPr>
          <p:cNvPr id="6" name="deco-ring-ticks"/>
          <p:cNvSpPr/>
          <p:nvPr/>
        </p:nvSpPr>
        <p:spPr>
          <a:xfrm>
            <a:off x="4800600" y="2609850"/>
            <a:ext cx="2590800" cy="2590800"/>
          </a:xfrm>
          <a:prstGeom prst="ellipse">
            <a:avLst/>
          </a:prstGeom>
          <a:noFill/>
          <a:ln w="19050">
            <a:solidFill>
              <a:srgbClr val="FA947F"/>
            </a:solidFill>
            <a:custDash>
              <a:ds d="100000" sp="350000"/>
            </a:custDash>
          </a:ln>
        </p:spPr>
      </p:sp>
      <p:sp>
        <p:nvSpPr>
          <p:cNvPr id="7" name="deco-node-l"/>
          <p:cNvSpPr/>
          <p:nvPr/>
        </p:nvSpPr>
        <p:spPr>
          <a:xfrm>
            <a:off x="4600575" y="3857625"/>
            <a:ext cx="95250" cy="95250"/>
          </a:xfrm>
          <a:prstGeom prst="ellipse">
            <a:avLst/>
          </a:prstGeom>
          <a:solidFill>
            <a:srgbClr val="FA421D"/>
          </a:solidFill>
          <a:ln>
            <a:noFill/>
          </a:ln>
        </p:spPr>
      </p:sp>
      <p:sp>
        <p:nvSpPr>
          <p:cNvPr id="8" name="deco-node-r"/>
          <p:cNvSpPr/>
          <p:nvPr/>
        </p:nvSpPr>
        <p:spPr>
          <a:xfrm>
            <a:off x="7496175" y="3857625"/>
            <a:ext cx="95250" cy="95250"/>
          </a:xfrm>
          <a:prstGeom prst="ellipse">
            <a:avLst/>
          </a:prstGeom>
          <a:solidFill>
            <a:srgbClr val="FA421D"/>
          </a:solidFill>
          <a:ln>
            <a:noFill/>
          </a:ln>
        </p:spPr>
      </p:sp>
      <p:grpSp>
        <p:nvGrpSpPr>
          <p:cNvPr id="13" name="header"/>
          <p:cNvGrpSpPr/>
          <p:nvPr/>
        </p:nvGrpSpPr>
        <p:grpSpPr>
          <a:xfrm>
            <a:off x="0" y="0"/>
            <a:ext cx="12192000" cy="551879"/>
            <a:chOff x="0" y="0"/>
            <a:chExt cx="12192000" cy="551879"/>
          </a:xfrm>
        </p:grpSpPr>
        <p:sp>
          <p:nvSpPr>
            <p:cNvPr id="9" name="Polygon 9"/>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FA421D"/>
            </a:solidFill>
            <a:ln>
              <a:noFill/>
            </a:ln>
          </p:spPr>
        </p:sp>
        <p:sp>
          <p:nvSpPr>
            <p:cNvPr id="10" name="TextBox 10"/>
            <p:cNvSpPr txBox="1"/>
            <p:nvPr/>
          </p:nvSpPr>
          <p:spPr>
            <a:xfrm>
              <a:off x="199263" y="143351"/>
              <a:ext cx="352434" cy="396050"/>
            </a:xfrm>
            <a:prstGeom prst="rect">
              <a:avLst/>
            </a:prstGeom>
            <a:noFill/>
            <a:ln>
              <a:noFill/>
            </a:ln>
          </p:spPr>
          <p:txBody>
            <a:bodyPr wrap="none" lIns="0" tIns="0" rIns="0" bIns="0" anchor="t" anchorCtr="0">
              <a:spAutoFit/>
            </a:bodyPr>
            <a:lstStyle/>
            <a:p>
              <a:pPr algn="l"/>
              <a:r>
                <a:rPr lang="zh-CN" sz="2020" b="1" dirty="0">
                  <a:solidFill>
                    <a:srgbClr val="FFFFFF"/>
                  </a:solidFill>
                  <a:latin typeface="+mj-lt"/>
                  <a:ea typeface="+mj-ea"/>
                  <a:cs typeface="+mj-cs"/>
                </a:rPr>
                <a:t>29</a:t>
              </a:r>
            </a:p>
          </p:txBody>
        </p:sp>
        <p:sp>
          <p:nvSpPr>
            <p:cNvPr id="11" name="TextBox 11"/>
            <p:cNvSpPr txBox="1"/>
            <p:nvPr/>
          </p:nvSpPr>
          <p:spPr>
            <a:xfrm>
              <a:off x="904494" y="170498"/>
              <a:ext cx="1069848" cy="381381"/>
            </a:xfrm>
            <a:prstGeom prst="rect">
              <a:avLst/>
            </a:prstGeom>
            <a:noFill/>
            <a:ln>
              <a:noFill/>
            </a:ln>
          </p:spPr>
          <p:txBody>
            <a:bodyPr wrap="none" lIns="0" tIns="0" rIns="0" bIns="0" anchor="t" anchorCtr="0">
              <a:spAutoFit/>
            </a:bodyPr>
            <a:lstStyle/>
            <a:p>
              <a:pPr algn="l"/>
              <a:r>
                <a:rPr lang="zh-CN" sz="1950" b="1" dirty="0">
                  <a:solidFill>
                    <a:srgbClr val="E83F1D"/>
                  </a:solidFill>
                  <a:latin typeface="+mn-lt"/>
                  <a:ea typeface="+mn-ea"/>
                  <a:cs typeface="+mn-cs"/>
                </a:rPr>
                <a:t>产品介绍</a:t>
              </a:r>
            </a:p>
          </p:txBody>
        </p:sp>
        <p:sp>
          <p:nvSpPr>
            <p:cNvPr id="12" name="Line 12"/>
            <p:cNvSpPr/>
            <p:nvPr/>
          </p:nvSpPr>
          <p:spPr>
            <a:xfrm>
              <a:off x="0" y="533400"/>
              <a:ext cx="12192000" cy="9525"/>
            </a:xfrm>
            <a:custGeom>
              <a:avLst/>
              <a:gdLst/>
              <a:ahLst/>
              <a:cxnLst/>
              <a:rect l="l" t="t" r="r" b="b"/>
              <a:pathLst>
                <a:path w="12192000" h="9525">
                  <a:moveTo>
                    <a:pt x="0" y="0"/>
                  </a:moveTo>
                  <a:lnTo>
                    <a:pt x="12192000" y="0"/>
                  </a:lnTo>
                </a:path>
              </a:pathLst>
            </a:custGeom>
            <a:noFill/>
            <a:ln w="9525">
              <a:solidFill>
                <a:srgbClr val="FA421D">
                  <a:alpha val="45000"/>
                </a:srgbClr>
              </a:solidFill>
            </a:ln>
          </p:spPr>
        </p:sp>
      </p:grpSp>
      <p:grpSp>
        <p:nvGrpSpPr>
          <p:cNvPr id="16" name="intro"/>
          <p:cNvGrpSpPr/>
          <p:nvPr/>
        </p:nvGrpSpPr>
        <p:grpSpPr>
          <a:xfrm>
            <a:off x="2293620" y="994410"/>
            <a:ext cx="7604760" cy="539496"/>
            <a:chOff x="2293620" y="994410"/>
            <a:chExt cx="7604760" cy="539496"/>
          </a:xfrm>
        </p:grpSpPr>
        <p:sp>
          <p:nvSpPr>
            <p:cNvPr id="14" name="TextBox 14"/>
            <p:cNvSpPr txBox="1"/>
            <p:nvPr/>
          </p:nvSpPr>
          <p:spPr>
            <a:xfrm>
              <a:off x="3585972" y="994410"/>
              <a:ext cx="5020056"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腾讯医典是医疗百科，为用户提供线上直播，推动医学健康科普发展。</a:t>
              </a:r>
            </a:p>
          </p:txBody>
        </p:sp>
        <p:sp>
          <p:nvSpPr>
            <p:cNvPr id="15" name="TextBox 15"/>
            <p:cNvSpPr txBox="1"/>
            <p:nvPr/>
          </p:nvSpPr>
          <p:spPr>
            <a:xfrm>
              <a:off x="2293620" y="1299210"/>
              <a:ext cx="7604760" cy="234696"/>
            </a:xfrm>
            <a:prstGeom prst="rect">
              <a:avLst/>
            </a:prstGeom>
            <a:noFill/>
            <a:ln>
              <a:noFill/>
            </a:ln>
          </p:spPr>
          <p:txBody>
            <a:bodyPr wrap="none" lIns="0" tIns="0" rIns="0" bIns="0" anchor="t" anchorCtr="0">
              <a:spAutoFit/>
            </a:bodyPr>
            <a:lstStyle/>
            <a:p>
              <a:pPr algn="ctr"/>
              <a:r>
                <a:rPr lang="zh-CN" sz="1200" dirty="0">
                  <a:solidFill>
                    <a:srgbClr val="3D241F"/>
                  </a:solidFill>
                  <a:latin typeface="+mn-lt"/>
                  <a:ea typeface="+mn-ea"/>
                  <a:cs typeface="+mn-cs"/>
                </a:rPr>
                <a:t>科普内容由专家委员会主导编撰与审核，通过</a:t>
              </a:r>
              <a:r>
                <a:rPr lang="zh-CN" sz="1200" dirty="0">
                  <a:solidFill>
                    <a:srgbClr val="FA421D"/>
                  </a:solidFill>
                  <a:latin typeface="+mn-lt"/>
                  <a:ea typeface="+mn-ea"/>
                  <a:cs typeface="+mn-cs"/>
                </a:rPr>
                <a:t>视频、资讯、问答、漫画</a:t>
              </a:r>
              <a:r>
                <a:rPr lang="zh-CN" sz="1200" dirty="0">
                  <a:solidFill>
                    <a:srgbClr val="3D241F"/>
                  </a:solidFill>
                  <a:latin typeface="+mn-lt"/>
                  <a:ea typeface="+mn-ea"/>
                  <a:cs typeface="+mn-cs"/>
                </a:rPr>
                <a:t>等形式让艰涩的医疗信息一目了然。</a:t>
              </a:r>
            </a:p>
          </p:txBody>
        </p:sp>
      </p:grpSp>
      <p:grpSp>
        <p:nvGrpSpPr>
          <p:cNvPr id="18" name="ring-text-top"/>
          <p:cNvGrpSpPr/>
          <p:nvPr/>
        </p:nvGrpSpPr>
        <p:grpSpPr>
          <a:xfrm>
            <a:off x="6461029" y="2102450"/>
            <a:ext cx="1334186" cy="161925"/>
            <a:chOff x="6461029" y="2102450"/>
            <a:chExt cx="1334186" cy="161925"/>
          </a:xfrm>
        </p:grpSpPr>
        <p:sp>
          <p:nvSpPr>
            <p:cNvPr id="17" name="TextBox 17"/>
            <p:cNvSpPr txBox="1"/>
            <p:nvPr/>
          </p:nvSpPr>
          <p:spPr>
            <a:xfrm rot="1500000">
              <a:off x="6461029" y="2102450"/>
              <a:ext cx="1334186" cy="161925"/>
            </a:xfrm>
            <a:prstGeom prst="rect">
              <a:avLst/>
            </a:prstGeom>
            <a:noFill/>
            <a:ln>
              <a:noFill/>
            </a:ln>
          </p:spPr>
          <p:txBody>
            <a:bodyPr wrap="none" lIns="0" tIns="0" rIns="0" bIns="0" anchor="t" anchorCtr="0">
              <a:spAutoFit/>
            </a:bodyPr>
            <a:lstStyle/>
            <a:p>
              <a:pPr algn="ctr"/>
              <a:r>
                <a:rPr lang="zh-CN" sz="820" dirty="0">
                  <a:solidFill>
                    <a:srgbClr val="F5866F"/>
                  </a:solidFill>
                  <a:latin typeface="+mn-lt"/>
                  <a:ea typeface="+mn-ea"/>
                  <a:cs typeface="+mn-cs"/>
                </a:rPr>
                <a:t>提供专业可信赖的医学知识</a:t>
              </a:r>
            </a:p>
          </p:txBody>
        </p:sp>
      </p:grpSp>
      <p:grpSp>
        <p:nvGrpSpPr>
          <p:cNvPr id="20" name="ring-text-left"/>
          <p:cNvGrpSpPr/>
          <p:nvPr/>
        </p:nvGrpSpPr>
        <p:grpSpPr>
          <a:xfrm>
            <a:off x="3819142" y="3576384"/>
            <a:ext cx="1334186" cy="161925"/>
            <a:chOff x="3819142" y="3576384"/>
            <a:chExt cx="1334186" cy="161925"/>
          </a:xfrm>
        </p:grpSpPr>
        <p:sp>
          <p:nvSpPr>
            <p:cNvPr id="19" name="TextBox 19"/>
            <p:cNvSpPr txBox="1"/>
            <p:nvPr/>
          </p:nvSpPr>
          <p:spPr>
            <a:xfrm rot="-4320000">
              <a:off x="3819142" y="3576384"/>
              <a:ext cx="1334186" cy="161925"/>
            </a:xfrm>
            <a:prstGeom prst="rect">
              <a:avLst/>
            </a:prstGeom>
            <a:noFill/>
            <a:ln>
              <a:noFill/>
            </a:ln>
          </p:spPr>
          <p:txBody>
            <a:bodyPr wrap="none" lIns="0" tIns="0" rIns="0" bIns="0" anchor="t" anchorCtr="0">
              <a:spAutoFit/>
            </a:bodyPr>
            <a:lstStyle/>
            <a:p>
              <a:pPr algn="ctr"/>
              <a:r>
                <a:rPr lang="zh-CN" sz="820" dirty="0">
                  <a:solidFill>
                    <a:srgbClr val="F5866F"/>
                  </a:solidFill>
                  <a:latin typeface="+mn-lt"/>
                  <a:ea typeface="+mn-ea"/>
                  <a:cs typeface="+mn-cs"/>
                </a:rPr>
                <a:t>提供专业可信赖的医学知识</a:t>
              </a:r>
            </a:p>
          </p:txBody>
        </p:sp>
      </p:grpSp>
      <p:grpSp>
        <p:nvGrpSpPr>
          <p:cNvPr id="22" name="ring-text-bottom"/>
          <p:cNvGrpSpPr/>
          <p:nvPr/>
        </p:nvGrpSpPr>
        <p:grpSpPr>
          <a:xfrm>
            <a:off x="5317672" y="5797436"/>
            <a:ext cx="1554963" cy="161925"/>
            <a:chOff x="5317672" y="5797436"/>
            <a:chExt cx="1554963" cy="161925"/>
          </a:xfrm>
        </p:grpSpPr>
        <p:sp>
          <p:nvSpPr>
            <p:cNvPr id="21" name="TextBox 21"/>
            <p:cNvSpPr txBox="1"/>
            <p:nvPr/>
          </p:nvSpPr>
          <p:spPr>
            <a:xfrm rot="-360000">
              <a:off x="5317672" y="5797436"/>
              <a:ext cx="1554963" cy="161925"/>
            </a:xfrm>
            <a:prstGeom prst="rect">
              <a:avLst/>
            </a:prstGeom>
            <a:noFill/>
            <a:ln>
              <a:noFill/>
            </a:ln>
          </p:spPr>
          <p:txBody>
            <a:bodyPr wrap="none" lIns="0" tIns="0" rIns="0" bIns="0" anchor="t" anchorCtr="0">
              <a:spAutoFit/>
            </a:bodyPr>
            <a:lstStyle/>
            <a:p>
              <a:pPr algn="ctr"/>
              <a:r>
                <a:rPr lang="zh-CN" sz="820" dirty="0">
                  <a:solidFill>
                    <a:srgbClr val="F5866F"/>
                  </a:solidFill>
                  <a:latin typeface="+mn-lt"/>
                  <a:ea typeface="+mn-ea"/>
                  <a:cs typeface="+mn-cs"/>
                </a:rPr>
                <a:t>提供疾病症状病因诊断治疗预防</a:t>
              </a:r>
            </a:p>
          </p:txBody>
        </p:sp>
      </p:grpSp>
      <p:grpSp>
        <p:nvGrpSpPr>
          <p:cNvPr id="26" name="center-disc"/>
          <p:cNvGrpSpPr/>
          <p:nvPr/>
        </p:nvGrpSpPr>
        <p:grpSpPr>
          <a:xfrm>
            <a:off x="4953000" y="2762250"/>
            <a:ext cx="2286000" cy="2286000"/>
            <a:chOff x="4953000" y="2762250"/>
            <a:chExt cx="2286000" cy="2286000"/>
          </a:xfrm>
        </p:grpSpPr>
        <p:sp>
          <p:nvSpPr>
            <p:cNvPr id="23" name="Ellipse 23"/>
            <p:cNvSpPr/>
            <p:nvPr/>
          </p:nvSpPr>
          <p:spPr>
            <a:xfrm>
              <a:off x="4953000" y="2762250"/>
              <a:ext cx="2286000" cy="2286000"/>
            </a:xfrm>
            <a:prstGeom prst="ellipse">
              <a:avLst/>
            </a:prstGeom>
            <a:gradFill>
              <a:gsLst>
                <a:gs pos="0">
                  <a:srgbClr val="FB684A"/>
                </a:gs>
                <a:gs pos="100000">
                  <a:srgbClr val="FA421D"/>
                </a:gs>
              </a:gsLst>
              <a:lin ang="5400000" scaled="1"/>
            </a:gradFill>
            <a:ln w="23812">
              <a:solidFill>
                <a:srgbClr val="FFFFFF"/>
              </a:solidFill>
            </a:ln>
          </p:spPr>
        </p:sp>
        <p:sp>
          <p:nvSpPr>
            <p:cNvPr id="24" name="TextBox 24"/>
            <p:cNvSpPr txBox="1"/>
            <p:nvPr/>
          </p:nvSpPr>
          <p:spPr>
            <a:xfrm>
              <a:off x="5167255" y="3586162"/>
              <a:ext cx="1857489"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j-lt"/>
                  <a:ea typeface="+mj-ea"/>
                  <a:cs typeface="+mj-cs"/>
                </a:rPr>
                <a:t>“百科全书”​</a:t>
              </a:r>
            </a:p>
          </p:txBody>
        </p:sp>
        <p:sp>
          <p:nvSpPr>
            <p:cNvPr id="25" name="TextBox 25"/>
            <p:cNvSpPr txBox="1"/>
            <p:nvPr/>
          </p:nvSpPr>
          <p:spPr>
            <a:xfrm>
              <a:off x="5512098" y="4005262"/>
              <a:ext cx="1167803"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j-lt"/>
                  <a:ea typeface="+mj-ea"/>
                  <a:cs typeface="+mj-cs"/>
                </a:rPr>
                <a:t>式平台​</a:t>
              </a:r>
            </a:p>
          </p:txBody>
        </p:sp>
      </p:grpSp>
      <p:grpSp>
        <p:nvGrpSpPr>
          <p:cNvPr id="38" name="left-circle"/>
          <p:cNvGrpSpPr/>
          <p:nvPr/>
        </p:nvGrpSpPr>
        <p:grpSpPr>
          <a:xfrm>
            <a:off x="790575" y="2428875"/>
            <a:ext cx="3276600" cy="3276600"/>
            <a:chOff x="790575" y="2428875"/>
            <a:chExt cx="3276600" cy="3276600"/>
          </a:xfrm>
        </p:grpSpPr>
        <p:sp>
          <p:nvSpPr>
            <p:cNvPr id="27" name="Ellipse 27"/>
            <p:cNvSpPr/>
            <p:nvPr/>
          </p:nvSpPr>
          <p:spPr>
            <a:xfrm>
              <a:off x="790575" y="2428875"/>
              <a:ext cx="3276600" cy="3276600"/>
            </a:xfrm>
            <a:prstGeom prst="ellipse">
              <a:avLst/>
            </a:prstGeom>
            <a:gradFill>
              <a:gsLst>
                <a:gs pos="0">
                  <a:srgbClr val="E8F2FE"/>
                </a:gs>
                <a:gs pos="100000">
                  <a:srgbClr val="FBCDC4"/>
                </a:gs>
              </a:gsLst>
              <a:lin ang="5400000" scaled="1"/>
            </a:gradFill>
            <a:ln w="28575">
              <a:solidFill>
                <a:srgbClr val="FFFFFF"/>
              </a:solidFill>
            </a:ln>
          </p:spPr>
        </p:sp>
        <p:sp>
          <p:nvSpPr>
            <p:cNvPr id="28" name="TextBox 28"/>
            <p:cNvSpPr txBox="1"/>
            <p:nvPr/>
          </p:nvSpPr>
          <p:spPr>
            <a:xfrm>
              <a:off x="1943735" y="2875121"/>
              <a:ext cx="970280" cy="278702"/>
            </a:xfrm>
            <a:prstGeom prst="rect">
              <a:avLst/>
            </a:prstGeom>
            <a:noFill/>
            <a:ln>
              <a:noFill/>
            </a:ln>
          </p:spPr>
          <p:txBody>
            <a:bodyPr wrap="none" lIns="0" tIns="0" rIns="0" bIns="0" anchor="t" anchorCtr="0">
              <a:spAutoFit/>
            </a:bodyPr>
            <a:lstStyle/>
            <a:p>
              <a:pPr algn="ctr"/>
              <a:r>
                <a:rPr lang="zh-CN" sz="1420" b="1" dirty="0">
                  <a:solidFill>
                    <a:srgbClr val="D03B1D"/>
                  </a:solidFill>
                  <a:latin typeface="+mn-lt"/>
                  <a:ea typeface="+mn-ea"/>
                  <a:cs typeface="+mn-cs"/>
                </a:rPr>
                <a:t>为用户提供</a:t>
              </a:r>
            </a:p>
          </p:txBody>
        </p:sp>
        <p:sp>
          <p:nvSpPr>
            <p:cNvPr id="29" name="TextBox 29"/>
            <p:cNvSpPr txBox="1"/>
            <p:nvPr/>
          </p:nvSpPr>
          <p:spPr>
            <a:xfrm>
              <a:off x="1848155" y="3179921"/>
              <a:ext cx="1161440" cy="278702"/>
            </a:xfrm>
            <a:prstGeom prst="rect">
              <a:avLst/>
            </a:prstGeom>
            <a:noFill/>
            <a:ln>
              <a:noFill/>
            </a:ln>
          </p:spPr>
          <p:txBody>
            <a:bodyPr wrap="none" lIns="0" tIns="0" rIns="0" bIns="0" anchor="t" anchorCtr="0">
              <a:spAutoFit/>
            </a:bodyPr>
            <a:lstStyle/>
            <a:p>
              <a:pPr algn="ctr"/>
              <a:r>
                <a:rPr lang="zh-CN" sz="1420" b="1" dirty="0">
                  <a:solidFill>
                    <a:srgbClr val="D03B1D"/>
                  </a:solidFill>
                  <a:latin typeface="+mn-lt"/>
                  <a:ea typeface="+mn-ea"/>
                  <a:cs typeface="+mn-cs"/>
                </a:rPr>
                <a:t>医学知识资讯</a:t>
              </a:r>
            </a:p>
          </p:txBody>
        </p:sp>
        <p:sp>
          <p:nvSpPr>
            <p:cNvPr id="30" name="Rectangle 30"/>
            <p:cNvSpPr/>
            <p:nvPr/>
          </p:nvSpPr>
          <p:spPr>
            <a:xfrm>
              <a:off x="1285875" y="36957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31" name="TextBox 31"/>
            <p:cNvSpPr txBox="1"/>
            <p:nvPr/>
          </p:nvSpPr>
          <p:spPr>
            <a:xfrm>
              <a:off x="1561427" y="37849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专业准确</a:t>
              </a:r>
            </a:p>
          </p:txBody>
        </p:sp>
        <p:sp>
          <p:nvSpPr>
            <p:cNvPr id="32" name="Rectangle 32"/>
            <p:cNvSpPr/>
            <p:nvPr/>
          </p:nvSpPr>
          <p:spPr>
            <a:xfrm>
              <a:off x="2505075" y="36957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33" name="TextBox 33"/>
            <p:cNvSpPr txBox="1"/>
            <p:nvPr/>
          </p:nvSpPr>
          <p:spPr>
            <a:xfrm>
              <a:off x="2780627" y="37849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易懂实用</a:t>
              </a:r>
            </a:p>
          </p:txBody>
        </p:sp>
        <p:sp>
          <p:nvSpPr>
            <p:cNvPr id="34" name="Rectangle 34"/>
            <p:cNvSpPr/>
            <p:nvPr/>
          </p:nvSpPr>
          <p:spPr>
            <a:xfrm>
              <a:off x="1285875" y="41910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35" name="TextBox 35"/>
            <p:cNvSpPr txBox="1"/>
            <p:nvPr/>
          </p:nvSpPr>
          <p:spPr>
            <a:xfrm>
              <a:off x="1561427" y="42802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医学科普</a:t>
              </a:r>
            </a:p>
          </p:txBody>
        </p:sp>
        <p:sp>
          <p:nvSpPr>
            <p:cNvPr id="36" name="Rectangle 36"/>
            <p:cNvSpPr/>
            <p:nvPr/>
          </p:nvSpPr>
          <p:spPr>
            <a:xfrm>
              <a:off x="2505075" y="41910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37" name="TextBox 37"/>
            <p:cNvSpPr txBox="1"/>
            <p:nvPr/>
          </p:nvSpPr>
          <p:spPr>
            <a:xfrm>
              <a:off x="2780627" y="42802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知识资讯</a:t>
              </a:r>
            </a:p>
          </p:txBody>
        </p:sp>
      </p:grpSp>
      <p:grpSp>
        <p:nvGrpSpPr>
          <p:cNvPr id="56" name="right-circle"/>
          <p:cNvGrpSpPr/>
          <p:nvPr/>
        </p:nvGrpSpPr>
        <p:grpSpPr>
          <a:xfrm>
            <a:off x="8181975" y="2371725"/>
            <a:ext cx="3276600" cy="3276600"/>
            <a:chOff x="8181975" y="2371725"/>
            <a:chExt cx="3276600" cy="3276600"/>
          </a:xfrm>
        </p:grpSpPr>
        <p:sp>
          <p:nvSpPr>
            <p:cNvPr id="39" name="Ellipse 39"/>
            <p:cNvSpPr/>
            <p:nvPr/>
          </p:nvSpPr>
          <p:spPr>
            <a:xfrm>
              <a:off x="8181975" y="2371725"/>
              <a:ext cx="3276600" cy="3276600"/>
            </a:xfrm>
            <a:prstGeom prst="ellipse">
              <a:avLst/>
            </a:prstGeom>
            <a:gradFill>
              <a:gsLst>
                <a:gs pos="0">
                  <a:srgbClr val="E8F2FE"/>
                </a:gs>
                <a:gs pos="100000">
                  <a:srgbClr val="FBCDC4"/>
                </a:gs>
              </a:gsLst>
              <a:lin ang="5400000" scaled="1"/>
            </a:gradFill>
            <a:ln w="28575">
              <a:solidFill>
                <a:srgbClr val="FFFFFF"/>
              </a:solidFill>
            </a:ln>
          </p:spPr>
        </p:sp>
        <p:sp>
          <p:nvSpPr>
            <p:cNvPr id="40" name="TextBox 40"/>
            <p:cNvSpPr txBox="1"/>
            <p:nvPr/>
          </p:nvSpPr>
          <p:spPr>
            <a:xfrm>
              <a:off x="9335135" y="2703671"/>
              <a:ext cx="970280" cy="278702"/>
            </a:xfrm>
            <a:prstGeom prst="rect">
              <a:avLst/>
            </a:prstGeom>
            <a:noFill/>
            <a:ln>
              <a:noFill/>
            </a:ln>
          </p:spPr>
          <p:txBody>
            <a:bodyPr wrap="none" lIns="0" tIns="0" rIns="0" bIns="0" anchor="t" anchorCtr="0">
              <a:spAutoFit/>
            </a:bodyPr>
            <a:lstStyle/>
            <a:p>
              <a:pPr algn="ctr"/>
              <a:r>
                <a:rPr lang="zh-CN" sz="1420" b="1" dirty="0">
                  <a:solidFill>
                    <a:srgbClr val="D03B1D"/>
                  </a:solidFill>
                  <a:latin typeface="+mn-lt"/>
                  <a:ea typeface="+mn-ea"/>
                  <a:cs typeface="+mn-cs"/>
                </a:rPr>
                <a:t>为用户提供</a:t>
              </a:r>
            </a:p>
          </p:txBody>
        </p:sp>
        <p:sp>
          <p:nvSpPr>
            <p:cNvPr id="41" name="TextBox 41"/>
            <p:cNvSpPr txBox="1"/>
            <p:nvPr/>
          </p:nvSpPr>
          <p:spPr>
            <a:xfrm>
              <a:off x="9239555" y="3008471"/>
              <a:ext cx="1161440" cy="278702"/>
            </a:xfrm>
            <a:prstGeom prst="rect">
              <a:avLst/>
            </a:prstGeom>
            <a:noFill/>
            <a:ln>
              <a:noFill/>
            </a:ln>
          </p:spPr>
          <p:txBody>
            <a:bodyPr wrap="none" lIns="0" tIns="0" rIns="0" bIns="0" anchor="t" anchorCtr="0">
              <a:spAutoFit/>
            </a:bodyPr>
            <a:lstStyle/>
            <a:p>
              <a:pPr algn="ctr"/>
              <a:r>
                <a:rPr lang="zh-CN" sz="1420" b="1" dirty="0">
                  <a:solidFill>
                    <a:srgbClr val="D03B1D"/>
                  </a:solidFill>
                  <a:latin typeface="+mn-lt"/>
                  <a:ea typeface="+mn-ea"/>
                  <a:cs typeface="+mn-cs"/>
                </a:rPr>
                <a:t>医学健康科普</a:t>
              </a:r>
            </a:p>
          </p:txBody>
        </p:sp>
        <p:sp>
          <p:nvSpPr>
            <p:cNvPr id="42" name="Rectangle 42"/>
            <p:cNvSpPr/>
            <p:nvPr/>
          </p:nvSpPr>
          <p:spPr>
            <a:xfrm>
              <a:off x="8810625" y="35052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43" name="TextBox 43"/>
            <p:cNvSpPr txBox="1"/>
            <p:nvPr/>
          </p:nvSpPr>
          <p:spPr>
            <a:xfrm>
              <a:off x="9086177" y="35944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有问必答</a:t>
              </a:r>
            </a:p>
          </p:txBody>
        </p:sp>
        <p:sp>
          <p:nvSpPr>
            <p:cNvPr id="44" name="Rectangle 44"/>
            <p:cNvSpPr/>
            <p:nvPr/>
          </p:nvSpPr>
          <p:spPr>
            <a:xfrm>
              <a:off x="10029825" y="35052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45" name="TextBox 45"/>
            <p:cNvSpPr txBox="1"/>
            <p:nvPr/>
          </p:nvSpPr>
          <p:spPr>
            <a:xfrm>
              <a:off x="10305377" y="35944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疾病概述</a:t>
              </a:r>
            </a:p>
          </p:txBody>
        </p:sp>
        <p:sp>
          <p:nvSpPr>
            <p:cNvPr id="46" name="Rectangle 46"/>
            <p:cNvSpPr/>
            <p:nvPr/>
          </p:nvSpPr>
          <p:spPr>
            <a:xfrm>
              <a:off x="8810625" y="39243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47" name="TextBox 47"/>
            <p:cNvSpPr txBox="1"/>
            <p:nvPr/>
          </p:nvSpPr>
          <p:spPr>
            <a:xfrm>
              <a:off x="9086177" y="40135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科普文章</a:t>
              </a:r>
            </a:p>
          </p:txBody>
        </p:sp>
        <p:sp>
          <p:nvSpPr>
            <p:cNvPr id="48" name="Rectangle 48"/>
            <p:cNvSpPr/>
            <p:nvPr/>
          </p:nvSpPr>
          <p:spPr>
            <a:xfrm>
              <a:off x="10029825" y="39243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49" name="TextBox 49"/>
            <p:cNvSpPr txBox="1"/>
            <p:nvPr/>
          </p:nvSpPr>
          <p:spPr>
            <a:xfrm>
              <a:off x="10305377" y="40135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专家视频</a:t>
              </a:r>
            </a:p>
          </p:txBody>
        </p:sp>
        <p:sp>
          <p:nvSpPr>
            <p:cNvPr id="50" name="Rectangle 50"/>
            <p:cNvSpPr/>
            <p:nvPr/>
          </p:nvSpPr>
          <p:spPr>
            <a:xfrm>
              <a:off x="8810625" y="43434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51" name="TextBox 51"/>
            <p:cNvSpPr txBox="1"/>
            <p:nvPr/>
          </p:nvSpPr>
          <p:spPr>
            <a:xfrm>
              <a:off x="9086177" y="4432697"/>
              <a:ext cx="515696"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知识问答</a:t>
              </a:r>
            </a:p>
          </p:txBody>
        </p:sp>
        <p:sp>
          <p:nvSpPr>
            <p:cNvPr id="52" name="Rectangle 52"/>
            <p:cNvSpPr/>
            <p:nvPr/>
          </p:nvSpPr>
          <p:spPr>
            <a:xfrm>
              <a:off x="10029825" y="4343400"/>
              <a:ext cx="1066800" cy="285750"/>
            </a:xfrm>
            <a:prstGeom prst="roundRect">
              <a:avLst>
                <a:gd name="adj" fmla="val 50000"/>
              </a:avLst>
            </a:prstGeom>
            <a:gradFill>
              <a:gsLst>
                <a:gs pos="0">
                  <a:srgbClr val="FB684A"/>
                </a:gs>
                <a:gs pos="100000">
                  <a:srgbClr val="FA421D"/>
                </a:gs>
              </a:gsLst>
              <a:lin ang="5400000" scaled="1"/>
            </a:gradFill>
            <a:ln>
              <a:noFill/>
            </a:ln>
          </p:spPr>
        </p:sp>
        <p:sp>
          <p:nvSpPr>
            <p:cNvPr id="53" name="TextBox 53"/>
            <p:cNvSpPr txBox="1"/>
            <p:nvPr/>
          </p:nvSpPr>
          <p:spPr>
            <a:xfrm>
              <a:off x="10431920" y="4432697"/>
              <a:ext cx="262611"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急救</a:t>
              </a:r>
            </a:p>
          </p:txBody>
        </p:sp>
        <p:sp>
          <p:nvSpPr>
            <p:cNvPr id="54" name="Rectangle 54"/>
            <p:cNvSpPr/>
            <p:nvPr/>
          </p:nvSpPr>
          <p:spPr>
            <a:xfrm>
              <a:off x="9105900" y="4762500"/>
              <a:ext cx="1428750" cy="285750"/>
            </a:xfrm>
            <a:prstGeom prst="roundRect">
              <a:avLst>
                <a:gd name="adj" fmla="val 50000"/>
              </a:avLst>
            </a:prstGeom>
            <a:gradFill>
              <a:gsLst>
                <a:gs pos="0">
                  <a:srgbClr val="FB684A"/>
                </a:gs>
                <a:gs pos="100000">
                  <a:srgbClr val="FA421D"/>
                </a:gs>
              </a:gsLst>
              <a:lin ang="5400000" scaled="1"/>
            </a:gradFill>
            <a:ln>
              <a:noFill/>
            </a:ln>
          </p:spPr>
        </p:sp>
        <p:sp>
          <p:nvSpPr>
            <p:cNvPr id="55" name="TextBox 55"/>
            <p:cNvSpPr txBox="1"/>
            <p:nvPr/>
          </p:nvSpPr>
          <p:spPr>
            <a:xfrm>
              <a:off x="9435884" y="4851797"/>
              <a:ext cx="768782" cy="183356"/>
            </a:xfrm>
            <a:prstGeom prst="rect">
              <a:avLst/>
            </a:prstGeom>
            <a:noFill/>
            <a:ln>
              <a:noFill/>
            </a:ln>
          </p:spPr>
          <p:txBody>
            <a:bodyPr wrap="none" lIns="0" tIns="0" rIns="0" bIns="0" anchor="t" anchorCtr="0">
              <a:spAutoFit/>
            </a:bodyPr>
            <a:lstStyle/>
            <a:p>
              <a:pPr algn="ctr"/>
              <a:r>
                <a:rPr lang="zh-CN" sz="940" dirty="0">
                  <a:solidFill>
                    <a:srgbClr val="FFFFFF"/>
                  </a:solidFill>
                  <a:latin typeface="+mn-lt"/>
                  <a:ea typeface="+mn-ea"/>
                  <a:cs typeface="+mn-cs"/>
                </a:rPr>
                <a:t>患者交流社区</a:t>
              </a:r>
            </a:p>
          </p:txBody>
        </p:sp>
      </p:gr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skyline-left"/>
          <p:cNvGrpSpPr/>
          <p:nvPr/>
        </p:nvGrpSpPr>
        <p:grpSpPr>
          <a:xfrm>
            <a:off x="0" y="5334000"/>
            <a:ext cx="2000250" cy="1333500"/>
            <a:chOff x="0" y="5334000"/>
            <a:chExt cx="2000250" cy="1333500"/>
          </a:xfrm>
        </p:grpSpPr>
        <p:sp>
          <p:nvSpPr>
            <p:cNvPr id="2" name="Rectangle 2"/>
            <p:cNvSpPr/>
            <p:nvPr/>
          </p:nvSpPr>
          <p:spPr>
            <a:xfrm>
              <a:off x="0" y="5334000"/>
              <a:ext cx="2000250" cy="1333500"/>
            </a:xfrm>
            <a:prstGeom prst="rect">
              <a:avLst/>
            </a:prstGeom>
            <a:solidFill>
              <a:srgbClr val="F2F4F1"/>
            </a:solidFill>
            <a:ln>
              <a:noFill/>
            </a:ln>
          </p:spPr>
        </p:sp>
        <p:sp>
          <p:nvSpPr>
            <p:cNvPr id="3" name="Rectangle 3"/>
            <p:cNvSpPr/>
            <p:nvPr/>
          </p:nvSpPr>
          <p:spPr>
            <a:xfrm>
              <a:off x="285750" y="5600700"/>
              <a:ext cx="323850" cy="1066800"/>
            </a:xfrm>
            <a:prstGeom prst="rect">
              <a:avLst/>
            </a:prstGeom>
            <a:solidFill>
              <a:srgbClr val="E7EBE5"/>
            </a:solidFill>
            <a:ln>
              <a:noFill/>
            </a:ln>
          </p:spPr>
        </p:sp>
        <p:sp>
          <p:nvSpPr>
            <p:cNvPr id="4" name="Rectangle 4"/>
            <p:cNvSpPr/>
            <p:nvPr/>
          </p:nvSpPr>
          <p:spPr>
            <a:xfrm>
              <a:off x="704850" y="5391150"/>
              <a:ext cx="247650" cy="1276350"/>
            </a:xfrm>
            <a:prstGeom prst="rect">
              <a:avLst/>
            </a:prstGeom>
            <a:solidFill>
              <a:srgbClr val="EDEFEA"/>
            </a:solidFill>
            <a:ln>
              <a:noFill/>
            </a:ln>
          </p:spPr>
        </p:sp>
        <p:sp>
          <p:nvSpPr>
            <p:cNvPr id="5" name="Rectangle 5"/>
            <p:cNvSpPr/>
            <p:nvPr/>
          </p:nvSpPr>
          <p:spPr>
            <a:xfrm>
              <a:off x="1047750" y="5715000"/>
              <a:ext cx="381000" cy="952500"/>
            </a:xfrm>
            <a:prstGeom prst="rect">
              <a:avLst/>
            </a:prstGeom>
            <a:solidFill>
              <a:srgbClr val="E3E8E1"/>
            </a:solidFill>
            <a:ln>
              <a:noFill/>
            </a:ln>
          </p:spPr>
        </p:sp>
        <p:sp>
          <p:nvSpPr>
            <p:cNvPr id="6" name="Rectangle 6"/>
            <p:cNvSpPr/>
            <p:nvPr/>
          </p:nvSpPr>
          <p:spPr>
            <a:xfrm>
              <a:off x="1504950" y="5505450"/>
              <a:ext cx="228600" cy="1162050"/>
            </a:xfrm>
            <a:prstGeom prst="rect">
              <a:avLst/>
            </a:prstGeom>
            <a:solidFill>
              <a:srgbClr val="EAEEE8"/>
            </a:solidFill>
            <a:ln>
              <a:noFill/>
            </a:ln>
          </p:spPr>
        </p:sp>
      </p:grpSp>
      <p:grpSp>
        <p:nvGrpSpPr>
          <p:cNvPr id="13" name="skyline-right"/>
          <p:cNvGrpSpPr/>
          <p:nvPr/>
        </p:nvGrpSpPr>
        <p:grpSpPr>
          <a:xfrm>
            <a:off x="10191750" y="5448300"/>
            <a:ext cx="2000250" cy="1219200"/>
            <a:chOff x="10191750" y="5448300"/>
            <a:chExt cx="2000250" cy="1219200"/>
          </a:xfrm>
        </p:grpSpPr>
        <p:sp>
          <p:nvSpPr>
            <p:cNvPr id="8" name="Rectangle 8"/>
            <p:cNvSpPr/>
            <p:nvPr/>
          </p:nvSpPr>
          <p:spPr>
            <a:xfrm>
              <a:off x="10191750" y="5448300"/>
              <a:ext cx="2000250" cy="1219200"/>
            </a:xfrm>
            <a:prstGeom prst="rect">
              <a:avLst/>
            </a:prstGeom>
            <a:solidFill>
              <a:srgbClr val="F2F4F1"/>
            </a:solidFill>
            <a:ln>
              <a:noFill/>
            </a:ln>
          </p:spPr>
        </p:sp>
        <p:sp>
          <p:nvSpPr>
            <p:cNvPr id="9" name="Rectangle 9"/>
            <p:cNvSpPr/>
            <p:nvPr/>
          </p:nvSpPr>
          <p:spPr>
            <a:xfrm>
              <a:off x="10496550" y="5676900"/>
              <a:ext cx="285750" cy="990600"/>
            </a:xfrm>
            <a:prstGeom prst="rect">
              <a:avLst/>
            </a:prstGeom>
            <a:solidFill>
              <a:srgbClr val="E7EBE5"/>
            </a:solidFill>
            <a:ln>
              <a:noFill/>
            </a:ln>
          </p:spPr>
        </p:sp>
        <p:sp>
          <p:nvSpPr>
            <p:cNvPr id="10" name="Rectangle 10"/>
            <p:cNvSpPr/>
            <p:nvPr/>
          </p:nvSpPr>
          <p:spPr>
            <a:xfrm>
              <a:off x="10877550" y="5467350"/>
              <a:ext cx="228600" cy="1200150"/>
            </a:xfrm>
            <a:prstGeom prst="rect">
              <a:avLst/>
            </a:prstGeom>
            <a:solidFill>
              <a:srgbClr val="EDEFEA"/>
            </a:solidFill>
            <a:ln>
              <a:noFill/>
            </a:ln>
          </p:spPr>
        </p:sp>
        <p:sp>
          <p:nvSpPr>
            <p:cNvPr id="11" name="Rectangle 11"/>
            <p:cNvSpPr/>
            <p:nvPr/>
          </p:nvSpPr>
          <p:spPr>
            <a:xfrm>
              <a:off x="11201400" y="5753100"/>
              <a:ext cx="400050" cy="914400"/>
            </a:xfrm>
            <a:prstGeom prst="rect">
              <a:avLst/>
            </a:prstGeom>
            <a:solidFill>
              <a:srgbClr val="E3E8E1"/>
            </a:solidFill>
            <a:ln>
              <a:noFill/>
            </a:ln>
          </p:spPr>
        </p:sp>
        <p:sp>
          <p:nvSpPr>
            <p:cNvPr id="12" name="Rectangle 12"/>
            <p:cNvSpPr/>
            <p:nvPr/>
          </p:nvSpPr>
          <p:spPr>
            <a:xfrm>
              <a:off x="11658600" y="5562600"/>
              <a:ext cx="247650" cy="1104900"/>
            </a:xfrm>
            <a:prstGeom prst="rect">
              <a:avLst/>
            </a:prstGeom>
            <a:solidFill>
              <a:srgbClr val="EAEEE8"/>
            </a:solidFill>
            <a:ln>
              <a:noFill/>
            </a:ln>
          </p:spPr>
        </p:sp>
      </p:grpSp>
      <p:sp>
        <p:nvSpPr>
          <p:cNvPr id="14" name="Line 14"/>
          <p:cNvSpPr/>
          <p:nvPr/>
        </p:nvSpPr>
        <p:spPr>
          <a:xfrm>
            <a:off x="0" y="6667500"/>
            <a:ext cx="12192000" cy="9525"/>
          </a:xfrm>
          <a:custGeom>
            <a:avLst/>
            <a:gdLst/>
            <a:ahLst/>
            <a:cxnLst/>
            <a:rect l="l" t="t" r="r" b="b"/>
            <a:pathLst>
              <a:path w="12192000" h="9525">
                <a:moveTo>
                  <a:pt x="0" y="0"/>
                </a:moveTo>
                <a:lnTo>
                  <a:pt x="12192000" y="0"/>
                </a:lnTo>
              </a:path>
            </a:pathLst>
          </a:custGeom>
          <a:noFill/>
          <a:ln w="9525">
            <a:solidFill>
              <a:srgbClr val="E2E7E0"/>
            </a:solidFill>
          </a:ln>
        </p:spPr>
      </p:sp>
      <p:grpSp>
        <p:nvGrpSpPr>
          <p:cNvPr id="25" name="cover-band"/>
          <p:cNvGrpSpPr/>
          <p:nvPr/>
        </p:nvGrpSpPr>
        <p:grpSpPr>
          <a:xfrm>
            <a:off x="3733800" y="285750"/>
            <a:ext cx="4724400" cy="1219200"/>
            <a:chOff x="3733800" y="285750"/>
            <a:chExt cx="4724400" cy="1219200"/>
          </a:xfrm>
        </p:grpSpPr>
        <p:sp>
          <p:nvSpPr>
            <p:cNvPr id="15" name="Rectangle 15"/>
            <p:cNvSpPr/>
            <p:nvPr/>
          </p:nvSpPr>
          <p:spPr>
            <a:xfrm>
              <a:off x="3733800" y="914400"/>
              <a:ext cx="4724400" cy="590550"/>
            </a:xfrm>
            <a:prstGeom prst="rect">
              <a:avLst/>
            </a:prstGeom>
            <a:solidFill>
              <a:srgbClr val="9C594C"/>
            </a:solidFill>
            <a:ln>
              <a:noFill/>
            </a:ln>
          </p:spPr>
        </p:sp>
        <p:sp>
          <p:nvSpPr>
            <p:cNvPr id="16" name="Rectangle 16"/>
            <p:cNvSpPr/>
            <p:nvPr/>
          </p:nvSpPr>
          <p:spPr>
            <a:xfrm>
              <a:off x="5181600" y="495300"/>
              <a:ext cx="171450" cy="1009650"/>
            </a:xfrm>
            <a:prstGeom prst="rect">
              <a:avLst/>
            </a:prstGeom>
            <a:solidFill>
              <a:srgbClr val="B9C6BF"/>
            </a:solidFill>
            <a:ln>
              <a:noFill/>
            </a:ln>
          </p:spPr>
        </p:sp>
        <p:sp>
          <p:nvSpPr>
            <p:cNvPr id="17" name="Rectangle 17"/>
            <p:cNvSpPr/>
            <p:nvPr/>
          </p:nvSpPr>
          <p:spPr>
            <a:xfrm>
              <a:off x="5391150" y="685800"/>
              <a:ext cx="133350" cy="819150"/>
            </a:xfrm>
            <a:prstGeom prst="rect">
              <a:avLst/>
            </a:prstGeom>
            <a:solidFill>
              <a:srgbClr val="CBD5CF"/>
            </a:solidFill>
            <a:ln>
              <a:noFill/>
            </a:ln>
          </p:spPr>
        </p:sp>
        <p:sp>
          <p:nvSpPr>
            <p:cNvPr id="18" name="Rectangle 18"/>
            <p:cNvSpPr/>
            <p:nvPr/>
          </p:nvSpPr>
          <p:spPr>
            <a:xfrm>
              <a:off x="5562600" y="381000"/>
              <a:ext cx="209550" cy="1123950"/>
            </a:xfrm>
            <a:prstGeom prst="rect">
              <a:avLst/>
            </a:prstGeom>
            <a:solidFill>
              <a:srgbClr val="A7B5AD"/>
            </a:solidFill>
            <a:ln>
              <a:noFill/>
            </a:ln>
          </p:spPr>
        </p:sp>
        <p:sp>
          <p:nvSpPr>
            <p:cNvPr id="19" name="Rectangle 19"/>
            <p:cNvSpPr/>
            <p:nvPr/>
          </p:nvSpPr>
          <p:spPr>
            <a:xfrm>
              <a:off x="5810250" y="571500"/>
              <a:ext cx="152400" cy="933450"/>
            </a:xfrm>
            <a:prstGeom prst="rect">
              <a:avLst/>
            </a:prstGeom>
            <a:solidFill>
              <a:srgbClr val="C2CCC6"/>
            </a:solidFill>
            <a:ln>
              <a:noFill/>
            </a:ln>
          </p:spPr>
        </p:sp>
        <p:sp>
          <p:nvSpPr>
            <p:cNvPr id="20" name="Rectangle 20"/>
            <p:cNvSpPr/>
            <p:nvPr/>
          </p:nvSpPr>
          <p:spPr>
            <a:xfrm>
              <a:off x="6000750" y="285750"/>
              <a:ext cx="247650" cy="1219200"/>
            </a:xfrm>
            <a:prstGeom prst="rect">
              <a:avLst/>
            </a:prstGeom>
            <a:solidFill>
              <a:srgbClr val="98A7A0"/>
            </a:solidFill>
            <a:ln>
              <a:noFill/>
            </a:ln>
          </p:spPr>
        </p:sp>
        <p:sp>
          <p:nvSpPr>
            <p:cNvPr id="21" name="Rectangle 21"/>
            <p:cNvSpPr/>
            <p:nvPr/>
          </p:nvSpPr>
          <p:spPr>
            <a:xfrm>
              <a:off x="6286500" y="552450"/>
              <a:ext cx="171450" cy="952500"/>
            </a:xfrm>
            <a:prstGeom prst="rect">
              <a:avLst/>
            </a:prstGeom>
            <a:solidFill>
              <a:srgbClr val="BFC9C3"/>
            </a:solidFill>
            <a:ln>
              <a:noFill/>
            </a:ln>
          </p:spPr>
        </p:sp>
        <p:sp>
          <p:nvSpPr>
            <p:cNvPr id="22" name="Rectangle 22"/>
            <p:cNvSpPr/>
            <p:nvPr/>
          </p:nvSpPr>
          <p:spPr>
            <a:xfrm>
              <a:off x="6496050" y="419100"/>
              <a:ext cx="190500" cy="1085850"/>
            </a:xfrm>
            <a:prstGeom prst="rect">
              <a:avLst/>
            </a:prstGeom>
            <a:solidFill>
              <a:srgbClr val="ABB9B1"/>
            </a:solidFill>
            <a:ln>
              <a:noFill/>
            </a:ln>
          </p:spPr>
        </p:sp>
        <p:sp>
          <p:nvSpPr>
            <p:cNvPr id="23" name="Rectangle 23"/>
            <p:cNvSpPr/>
            <p:nvPr/>
          </p:nvSpPr>
          <p:spPr>
            <a:xfrm>
              <a:off x="6724650" y="666750"/>
              <a:ext cx="133350" cy="838200"/>
            </a:xfrm>
            <a:prstGeom prst="rect">
              <a:avLst/>
            </a:prstGeom>
            <a:solidFill>
              <a:srgbClr val="CBD5CF"/>
            </a:solidFill>
            <a:ln>
              <a:noFill/>
            </a:ln>
          </p:spPr>
        </p:sp>
        <p:sp>
          <p:nvSpPr>
            <p:cNvPr id="24" name="Rectangle 24"/>
            <p:cNvSpPr/>
            <p:nvPr/>
          </p:nvSpPr>
          <p:spPr>
            <a:xfrm>
              <a:off x="6896100" y="514350"/>
              <a:ext cx="152400" cy="990600"/>
            </a:xfrm>
            <a:prstGeom prst="rect">
              <a:avLst/>
            </a:prstGeom>
            <a:solidFill>
              <a:srgbClr val="B4C1BA"/>
            </a:solidFill>
            <a:ln>
              <a:noFill/>
            </a:ln>
          </p:spPr>
        </p:sp>
      </p:grpSp>
      <p:grpSp>
        <p:nvGrpSpPr>
          <p:cNvPr id="27" name="cover-part-one"/>
          <p:cNvGrpSpPr/>
          <p:nvPr/>
        </p:nvGrpSpPr>
        <p:grpSpPr>
          <a:xfrm>
            <a:off x="3200964" y="1952625"/>
            <a:ext cx="5790072" cy="1447800"/>
            <a:chOff x="3200964" y="1952625"/>
            <a:chExt cx="5790072" cy="1447800"/>
          </a:xfrm>
        </p:grpSpPr>
        <p:sp>
          <p:nvSpPr>
            <p:cNvPr id="26" name="TextBox 26"/>
            <p:cNvSpPr txBox="1"/>
            <p:nvPr/>
          </p:nvSpPr>
          <p:spPr>
            <a:xfrm>
              <a:off x="3200964" y="1952625"/>
              <a:ext cx="5790072" cy="1447800"/>
            </a:xfrm>
            <a:prstGeom prst="rect">
              <a:avLst/>
            </a:prstGeom>
            <a:noFill/>
            <a:ln>
              <a:noFill/>
            </a:ln>
          </p:spPr>
          <p:txBody>
            <a:bodyPr wrap="none" lIns="0" tIns="0" rIns="0" bIns="0" anchor="t" anchorCtr="0">
              <a:spAutoFit/>
            </a:bodyPr>
            <a:lstStyle/>
            <a:p>
              <a:pPr algn="ctr"/>
              <a:r>
                <a:rPr lang="en-US" sz="7500" spc="300" dirty="0">
                  <a:solidFill>
                    <a:srgbClr val="D5E6C9"/>
                  </a:solidFill>
                  <a:latin typeface="+mj-lt"/>
                  <a:ea typeface="+mj-ea"/>
                  <a:cs typeface="+mj-cs"/>
                </a:rPr>
                <a:t>PART ONE</a:t>
              </a:r>
            </a:p>
          </p:txBody>
        </p:sp>
      </p:grpSp>
      <p:grpSp>
        <p:nvGrpSpPr>
          <p:cNvPr id="30" name="cover-num01"/>
          <p:cNvGrpSpPr/>
          <p:nvPr/>
        </p:nvGrpSpPr>
        <p:grpSpPr>
          <a:xfrm>
            <a:off x="5143500" y="3267075"/>
            <a:ext cx="1905000" cy="1447800"/>
            <a:chOff x="5143500" y="3267075"/>
            <a:chExt cx="1905000" cy="1447800"/>
          </a:xfrm>
        </p:grpSpPr>
        <p:sp>
          <p:nvSpPr>
            <p:cNvPr id="28" name="TextBox 28"/>
            <p:cNvSpPr txBox="1"/>
            <p:nvPr/>
          </p:nvSpPr>
          <p:spPr>
            <a:xfrm>
              <a:off x="5515383" y="3267075"/>
              <a:ext cx="1161235" cy="1447800"/>
            </a:xfrm>
            <a:prstGeom prst="rect">
              <a:avLst/>
            </a:prstGeom>
            <a:noFill/>
            <a:ln>
              <a:noFill/>
            </a:ln>
          </p:spPr>
          <p:txBody>
            <a:bodyPr wrap="none" lIns="0" tIns="0" rIns="0" bIns="0" anchor="t" anchorCtr="0">
              <a:spAutoFit/>
            </a:bodyPr>
            <a:lstStyle/>
            <a:p>
              <a:pPr algn="ctr"/>
              <a:r>
                <a:rPr lang="zh-CN" sz="7500" b="1" dirty="0">
                  <a:solidFill>
                    <a:srgbClr val="8C4B3F"/>
                  </a:solidFill>
                  <a:latin typeface="+mj-lt"/>
                  <a:ea typeface="+mj-ea"/>
                  <a:cs typeface="+mj-cs"/>
                </a:rPr>
                <a:t>01</a:t>
              </a:r>
            </a:p>
          </p:txBody>
        </p:sp>
        <p:sp>
          <p:nvSpPr>
            <p:cNvPr id="29" name="Rectangle 29"/>
            <p:cNvSpPr/>
            <p:nvPr/>
          </p:nvSpPr>
          <p:spPr>
            <a:xfrm>
              <a:off x="5143500" y="4305300"/>
              <a:ext cx="1905000" cy="133350"/>
            </a:xfrm>
            <a:prstGeom prst="rect">
              <a:avLst/>
            </a:prstGeom>
            <a:solidFill>
              <a:srgbClr val="E9563C"/>
            </a:solidFill>
            <a:ln>
              <a:noFill/>
            </a:ln>
          </p:spPr>
        </p:sp>
      </p:grpSp>
      <p:grpSp>
        <p:nvGrpSpPr>
          <p:cNvPr id="35" name="cover-title"/>
          <p:cNvGrpSpPr/>
          <p:nvPr/>
        </p:nvGrpSpPr>
        <p:grpSpPr>
          <a:xfrm>
            <a:off x="4700460" y="4579620"/>
            <a:ext cx="2791079" cy="1278255"/>
            <a:chOff x="4700460" y="4579620"/>
            <a:chExt cx="2791079" cy="1278255"/>
          </a:xfrm>
        </p:grpSpPr>
        <p:sp>
          <p:nvSpPr>
            <p:cNvPr id="31" name="TextBox 31"/>
            <p:cNvSpPr txBox="1"/>
            <p:nvPr/>
          </p:nvSpPr>
          <p:spPr>
            <a:xfrm>
              <a:off x="5437632" y="4579620"/>
              <a:ext cx="1316736" cy="469392"/>
            </a:xfrm>
            <a:prstGeom prst="rect">
              <a:avLst/>
            </a:prstGeom>
            <a:noFill/>
            <a:ln>
              <a:noFill/>
            </a:ln>
          </p:spPr>
          <p:txBody>
            <a:bodyPr wrap="none" lIns="0" tIns="0" rIns="0" bIns="0" anchor="t" anchorCtr="0">
              <a:spAutoFit/>
            </a:bodyPr>
            <a:lstStyle/>
            <a:p>
              <a:pPr algn="ctr"/>
              <a:r>
                <a:rPr lang="zh-CN" sz="2400" b="1" dirty="0">
                  <a:solidFill>
                    <a:srgbClr val="8C4B3F"/>
                  </a:solidFill>
                  <a:latin typeface="+mn-lt"/>
                  <a:ea typeface="+mn-ea"/>
                  <a:cs typeface="+mn-cs"/>
                </a:rPr>
                <a:t>项目概述</a:t>
              </a:r>
            </a:p>
          </p:txBody>
        </p:sp>
        <p:sp>
          <p:nvSpPr>
            <p:cNvPr id="32" name="TextBox 32"/>
            <p:cNvSpPr txBox="1"/>
            <p:nvPr/>
          </p:nvSpPr>
          <p:spPr>
            <a:xfrm>
              <a:off x="5576197" y="5011102"/>
              <a:ext cx="1039606" cy="205359"/>
            </a:xfrm>
            <a:prstGeom prst="rect">
              <a:avLst/>
            </a:prstGeom>
            <a:noFill/>
            <a:ln>
              <a:noFill/>
            </a:ln>
          </p:spPr>
          <p:txBody>
            <a:bodyPr wrap="none" lIns="0" tIns="0" rIns="0" bIns="0" anchor="t" anchorCtr="0">
              <a:spAutoFit/>
            </a:bodyPr>
            <a:lstStyle/>
            <a:p>
              <a:pPr algn="ctr"/>
              <a:r>
                <a:rPr lang="en-US" sz="1050" dirty="0">
                  <a:solidFill>
                    <a:srgbClr val="7A8A76"/>
                  </a:solidFill>
                  <a:latin typeface="+mn-lt"/>
                  <a:ea typeface="+mn-ea"/>
                  <a:cs typeface="+mn-cs"/>
                </a:rPr>
                <a:t>Project outline</a:t>
              </a:r>
            </a:p>
          </p:txBody>
        </p:sp>
        <p:sp>
          <p:nvSpPr>
            <p:cNvPr id="33" name="TextBox 33"/>
            <p:cNvSpPr txBox="1"/>
            <p:nvPr/>
          </p:nvSpPr>
          <p:spPr>
            <a:xfrm>
              <a:off x="4700460" y="5328047"/>
              <a:ext cx="2791079" cy="392906"/>
            </a:xfrm>
            <a:prstGeom prst="rect">
              <a:avLst/>
            </a:prstGeom>
            <a:noFill/>
            <a:ln>
              <a:noFill/>
            </a:ln>
          </p:spPr>
          <p:txBody>
            <a:bodyPr wrap="none" lIns="0" tIns="0" rIns="0" bIns="0" anchor="t" anchorCtr="0">
              <a:spAutoFit/>
            </a:bodyPr>
            <a:lstStyle/>
            <a:p>
              <a:pPr algn="ctr">
                <a:lnSpc>
                  <a:spcPts val="1650"/>
                </a:lnSpc>
              </a:pPr>
              <a:r>
                <a:rPr lang="zh-CN" sz="940" dirty="0">
                  <a:solidFill>
                    <a:srgbClr val="8C8C8C"/>
                  </a:solidFill>
                  <a:latin typeface="+mn-lt"/>
                  <a:ea typeface="+mn-ea"/>
                  <a:cs typeface="+mn-cs"/>
                </a:rPr>
                <a:t>项目的基本经营范围介绍 项目发展历程中的荣誉历史</a:t>
              </a:r>
              <a:br/>
              <a:r>
                <a:rPr lang="zh-CN" sz="940" dirty="0">
                  <a:solidFill>
                    <a:srgbClr val="8C8C8C"/>
                  </a:solidFill>
                  <a:latin typeface="+mn-lt"/>
                  <a:ea typeface="+mn-ea"/>
                  <a:cs typeface="+mn-cs"/>
                </a:rPr>
                <a:t>项目经营的发展理念以及一些其他需要介绍的内容</a:t>
              </a:r>
            </a:p>
          </p:txBody>
        </p:sp>
        <p:sp>
          <p:nvSpPr>
            <p:cNvPr id="34" name="Rectangle 34"/>
            <p:cNvSpPr/>
            <p:nvPr/>
          </p:nvSpPr>
          <p:spPr>
            <a:xfrm>
              <a:off x="5886450" y="5829300"/>
              <a:ext cx="419100" cy="28575"/>
            </a:xfrm>
            <a:prstGeom prst="rect">
              <a:avLst/>
            </a:prstGeom>
            <a:solidFill>
              <a:srgbClr val="9C594C"/>
            </a:solidFill>
            <a:ln>
              <a:noFill/>
            </a:ln>
          </p:spPr>
        </p:sp>
      </p:grpSp>
      <p:sp>
        <p:nvSpPr>
          <p:cNvPr id="36" name="cover-strip"/>
          <p:cNvSpPr/>
          <p:nvPr/>
        </p:nvSpPr>
        <p:spPr>
          <a:xfrm>
            <a:off x="0" y="6667500"/>
            <a:ext cx="12192000" cy="190500"/>
          </a:xfrm>
          <a:prstGeom prst="rect">
            <a:avLst/>
          </a:prstGeom>
          <a:solidFill>
            <a:srgbClr val="9C594C"/>
          </a:solidFill>
          <a:ln>
            <a:noFill/>
          </a:ln>
        </p:spPr>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02</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1" name="roof-banner"/>
          <p:cNvGrpSpPr/>
          <p:nvPr/>
        </p:nvGrpSpPr>
        <p:grpSpPr>
          <a:xfrm>
            <a:off x="381000" y="819150"/>
            <a:ext cx="11430000" cy="819150"/>
            <a:chOff x="381000" y="819150"/>
            <a:chExt cx="11430000" cy="819150"/>
          </a:xfrm>
        </p:grpSpPr>
        <p:sp>
          <p:nvSpPr>
            <p:cNvPr id="8" name="Freeform 8"/>
            <p:cNvSpPr/>
            <p:nvPr/>
          </p:nvSpPr>
          <p:spPr>
            <a:xfrm>
              <a:off x="381000" y="819150"/>
              <a:ext cx="11430000" cy="819150"/>
            </a:xfrm>
            <a:prstGeom prst="triangle">
              <a:avLst/>
            </a:prstGeom>
            <a:solidFill>
              <a:srgbClr val="B97B6F"/>
            </a:solidFill>
            <a:ln>
              <a:noFill/>
            </a:ln>
          </p:spPr>
        </p:sp>
        <p:sp>
          <p:nvSpPr>
            <p:cNvPr id="9" name="TextBox 9"/>
            <p:cNvSpPr txBox="1"/>
            <p:nvPr/>
          </p:nvSpPr>
          <p:spPr>
            <a:xfrm>
              <a:off x="4775835" y="1171575"/>
              <a:ext cx="264033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可持续运营的高价值用户资产</a:t>
              </a:r>
            </a:p>
          </p:txBody>
        </p:sp>
        <p:sp>
          <p:nvSpPr>
            <p:cNvPr id="10" name="TextBox 10"/>
            <p:cNvSpPr txBox="1"/>
            <p:nvPr/>
          </p:nvSpPr>
          <p:spPr>
            <a:xfrm>
              <a:off x="5318519" y="1453991"/>
              <a:ext cx="1554963" cy="161925"/>
            </a:xfrm>
            <a:prstGeom prst="rect">
              <a:avLst/>
            </a:prstGeom>
            <a:noFill/>
            <a:ln>
              <a:noFill/>
            </a:ln>
          </p:spPr>
          <p:txBody>
            <a:bodyPr wrap="none" lIns="0" tIns="0" rIns="0" bIns="0" anchor="t" anchorCtr="0">
              <a:spAutoFit/>
            </a:bodyPr>
            <a:lstStyle/>
            <a:p>
              <a:pPr algn="ctr"/>
              <a:r>
                <a:rPr lang="zh-CN" sz="820" dirty="0">
                  <a:solidFill>
                    <a:srgbClr val="F2F7EE"/>
                  </a:solidFill>
                  <a:latin typeface="+mn-lt"/>
                  <a:ea typeface="+mn-ea"/>
                  <a:cs typeface="+mn-cs"/>
                </a:rPr>
                <a:t>立足人群，着眼短期，放眼长期</a:t>
              </a:r>
            </a:p>
          </p:txBody>
        </p:sp>
      </p:grpSp>
      <p:grpSp>
        <p:nvGrpSpPr>
          <p:cNvPr id="16" name="cross-validation"/>
          <p:cNvGrpSpPr/>
          <p:nvPr/>
        </p:nvGrpSpPr>
        <p:grpSpPr>
          <a:xfrm>
            <a:off x="762000" y="1704499"/>
            <a:ext cx="10668000" cy="190690"/>
            <a:chOff x="762000" y="1704499"/>
            <a:chExt cx="10668000" cy="190690"/>
          </a:xfrm>
        </p:grpSpPr>
        <p:sp>
          <p:nvSpPr>
            <p:cNvPr id="12" name="TextBox 12"/>
            <p:cNvSpPr txBox="1"/>
            <p:nvPr/>
          </p:nvSpPr>
          <p:spPr>
            <a:xfrm>
              <a:off x="1445692" y="1704499"/>
              <a:ext cx="537616" cy="190690"/>
            </a:xfrm>
            <a:prstGeom prst="rect">
              <a:avLst/>
            </a:prstGeom>
            <a:noFill/>
            <a:ln>
              <a:noFill/>
            </a:ln>
          </p:spPr>
          <p:txBody>
            <a:bodyPr wrap="none" lIns="0" tIns="0" rIns="0" bIns="0" anchor="t" anchorCtr="0">
              <a:spAutoFit/>
            </a:bodyPr>
            <a:lstStyle/>
            <a:p>
              <a:pPr algn="ctr"/>
              <a:r>
                <a:rPr lang="zh-CN" sz="980" b="1" dirty="0">
                  <a:solidFill>
                    <a:srgbClr val="5B4B48"/>
                  </a:solidFill>
                  <a:latin typeface="+mn-lt"/>
                  <a:ea typeface="+mn-ea"/>
                  <a:cs typeface="+mn-cs"/>
                </a:rPr>
                <a:t>相互验证</a:t>
              </a:r>
            </a:p>
          </p:txBody>
        </p:sp>
        <p:sp>
          <p:nvSpPr>
            <p:cNvPr id="13" name="Line 13"/>
            <p:cNvSpPr/>
            <p:nvPr/>
          </p:nvSpPr>
          <p:spPr>
            <a:xfrm>
              <a:off x="762000" y="1885950"/>
              <a:ext cx="1905000" cy="1"/>
            </a:xfrm>
            <a:prstGeom prst="line">
              <a:avLst/>
            </a:prstGeom>
            <a:noFill/>
            <a:ln w="14288">
              <a:solidFill>
                <a:srgbClr val="7A7A7A"/>
              </a:solidFill>
              <a:headEnd type="triangle" w="lg" len="lg"/>
              <a:tailEnd type="triangle" w="lg" len="lg"/>
            </a:ln>
          </p:spPr>
        </p:sp>
        <p:sp>
          <p:nvSpPr>
            <p:cNvPr id="14" name="TextBox 14"/>
            <p:cNvSpPr txBox="1"/>
            <p:nvPr/>
          </p:nvSpPr>
          <p:spPr>
            <a:xfrm>
              <a:off x="10208692" y="1704499"/>
              <a:ext cx="537616" cy="190690"/>
            </a:xfrm>
            <a:prstGeom prst="rect">
              <a:avLst/>
            </a:prstGeom>
            <a:noFill/>
            <a:ln>
              <a:noFill/>
            </a:ln>
          </p:spPr>
          <p:txBody>
            <a:bodyPr wrap="none" lIns="0" tIns="0" rIns="0" bIns="0" anchor="t" anchorCtr="0">
              <a:spAutoFit/>
            </a:bodyPr>
            <a:lstStyle/>
            <a:p>
              <a:pPr algn="ctr"/>
              <a:r>
                <a:rPr lang="zh-CN" sz="980" b="1" dirty="0">
                  <a:solidFill>
                    <a:srgbClr val="5B4B48"/>
                  </a:solidFill>
                  <a:latin typeface="+mn-lt"/>
                  <a:ea typeface="+mn-ea"/>
                  <a:cs typeface="+mn-cs"/>
                </a:rPr>
                <a:t>相互验证</a:t>
              </a:r>
            </a:p>
          </p:txBody>
        </p:sp>
        <p:sp>
          <p:nvSpPr>
            <p:cNvPr id="15" name="Line 15"/>
            <p:cNvSpPr/>
            <p:nvPr/>
          </p:nvSpPr>
          <p:spPr>
            <a:xfrm>
              <a:off x="9525000" y="1885950"/>
              <a:ext cx="1905000" cy="1"/>
            </a:xfrm>
            <a:prstGeom prst="line">
              <a:avLst/>
            </a:prstGeom>
            <a:noFill/>
            <a:ln w="14288">
              <a:solidFill>
                <a:srgbClr val="7A7A7A"/>
              </a:solidFill>
              <a:headEnd type="triangle" w="lg" len="lg"/>
              <a:tailEnd type="triangle" w="lg" len="lg"/>
            </a:ln>
          </p:spPr>
        </p:sp>
      </p:grpSp>
      <p:grpSp>
        <p:nvGrpSpPr>
          <p:cNvPr id="20" name="col-head-capital"/>
          <p:cNvGrpSpPr/>
          <p:nvPr/>
        </p:nvGrpSpPr>
        <p:grpSpPr>
          <a:xfrm>
            <a:off x="381000" y="2000250"/>
            <a:ext cx="2476500" cy="428387"/>
            <a:chOff x="381000" y="2000250"/>
            <a:chExt cx="2476500" cy="428387"/>
          </a:xfrm>
        </p:grpSpPr>
        <p:sp>
          <p:nvSpPr>
            <p:cNvPr id="17" name="Rectangle 17"/>
            <p:cNvSpPr/>
            <p:nvPr/>
          </p:nvSpPr>
          <p:spPr>
            <a:xfrm>
              <a:off x="381000" y="2000250"/>
              <a:ext cx="2476500" cy="419100"/>
            </a:xfrm>
            <a:prstGeom prst="rect">
              <a:avLst/>
            </a:prstGeom>
            <a:solidFill>
              <a:srgbClr val="9C594C"/>
            </a:solidFill>
            <a:ln>
              <a:noFill/>
            </a:ln>
          </p:spPr>
        </p:sp>
        <p:sp>
          <p:nvSpPr>
            <p:cNvPr id="18" name="TextBox 18"/>
            <p:cNvSpPr txBox="1"/>
            <p:nvPr/>
          </p:nvSpPr>
          <p:spPr>
            <a:xfrm>
              <a:off x="1346216" y="2059781"/>
              <a:ext cx="546067"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Capital</a:t>
              </a:r>
            </a:p>
          </p:txBody>
        </p:sp>
        <p:sp>
          <p:nvSpPr>
            <p:cNvPr id="19" name="TextBox 19"/>
            <p:cNvSpPr txBox="1"/>
            <p:nvPr/>
          </p:nvSpPr>
          <p:spPr>
            <a:xfrm>
              <a:off x="1093508" y="2259568"/>
              <a:ext cx="1051484" cy="169069"/>
            </a:xfrm>
            <a:prstGeom prst="rect">
              <a:avLst/>
            </a:prstGeom>
            <a:noFill/>
            <a:ln>
              <a:noFill/>
            </a:ln>
          </p:spPr>
          <p:txBody>
            <a:bodyPr wrap="none" lIns="0" tIns="0" rIns="0" bIns="0" anchor="t" anchorCtr="0">
              <a:spAutoFit/>
            </a:bodyPr>
            <a:lstStyle/>
            <a:p>
              <a:pPr algn="ctr"/>
              <a:r>
                <a:rPr lang="zh-CN" sz="860" dirty="0">
                  <a:solidFill>
                    <a:srgbClr val="EDF5E8"/>
                  </a:solidFill>
                  <a:latin typeface="+mn-lt"/>
                  <a:ea typeface="+mn-ea"/>
                  <a:cs typeface="+mn-cs"/>
                </a:rPr>
                <a:t>可持续运营关系系数</a:t>
              </a:r>
            </a:p>
          </p:txBody>
        </p:sp>
      </p:grpSp>
      <p:grpSp>
        <p:nvGrpSpPr>
          <p:cNvPr id="24" name="col-head-conversion"/>
          <p:cNvGrpSpPr/>
          <p:nvPr/>
        </p:nvGrpSpPr>
        <p:grpSpPr>
          <a:xfrm>
            <a:off x="2952750" y="2000250"/>
            <a:ext cx="3048000" cy="428387"/>
            <a:chOff x="2952750" y="2000250"/>
            <a:chExt cx="3048000" cy="428387"/>
          </a:xfrm>
        </p:grpSpPr>
        <p:sp>
          <p:nvSpPr>
            <p:cNvPr id="21" name="Rectangle 21"/>
            <p:cNvSpPr/>
            <p:nvPr/>
          </p:nvSpPr>
          <p:spPr>
            <a:xfrm>
              <a:off x="2952750" y="2000250"/>
              <a:ext cx="3048000" cy="419100"/>
            </a:xfrm>
            <a:prstGeom prst="rect">
              <a:avLst/>
            </a:prstGeom>
            <a:solidFill>
              <a:srgbClr val="E9563C"/>
            </a:solidFill>
            <a:ln>
              <a:noFill/>
            </a:ln>
          </p:spPr>
        </p:sp>
        <p:sp>
          <p:nvSpPr>
            <p:cNvPr id="22" name="TextBox 22"/>
            <p:cNvSpPr txBox="1"/>
            <p:nvPr/>
          </p:nvSpPr>
          <p:spPr>
            <a:xfrm>
              <a:off x="4053111" y="2059781"/>
              <a:ext cx="847278"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Conversion</a:t>
              </a:r>
            </a:p>
          </p:txBody>
        </p:sp>
        <p:sp>
          <p:nvSpPr>
            <p:cNvPr id="23" name="TextBox 23"/>
            <p:cNvSpPr txBox="1"/>
            <p:nvPr/>
          </p:nvSpPr>
          <p:spPr>
            <a:xfrm>
              <a:off x="4008895" y="2259568"/>
              <a:ext cx="935711" cy="169069"/>
            </a:xfrm>
            <a:prstGeom prst="rect">
              <a:avLst/>
            </a:prstGeom>
            <a:noFill/>
            <a:ln>
              <a:noFill/>
            </a:ln>
          </p:spPr>
          <p:txBody>
            <a:bodyPr wrap="none" lIns="0" tIns="0" rIns="0" bIns="0" anchor="t" anchorCtr="0">
              <a:spAutoFit/>
            </a:bodyPr>
            <a:lstStyle/>
            <a:p>
              <a:pPr algn="ctr"/>
              <a:r>
                <a:rPr lang="zh-CN" sz="860" dirty="0">
                  <a:solidFill>
                    <a:srgbClr val="FDF6E7"/>
                  </a:solidFill>
                  <a:latin typeface="+mn-lt"/>
                  <a:ea typeface="+mn-ea"/>
                  <a:cs typeface="+mn-cs"/>
                </a:rPr>
                <a:t>角色关系加深效率</a:t>
              </a:r>
            </a:p>
          </p:txBody>
        </p:sp>
      </p:grpSp>
      <p:grpSp>
        <p:nvGrpSpPr>
          <p:cNvPr id="28" name="col-head-connection"/>
          <p:cNvGrpSpPr/>
          <p:nvPr/>
        </p:nvGrpSpPr>
        <p:grpSpPr>
          <a:xfrm>
            <a:off x="6096000" y="2000250"/>
            <a:ext cx="3048000" cy="428387"/>
            <a:chOff x="6096000" y="2000250"/>
            <a:chExt cx="3048000" cy="428387"/>
          </a:xfrm>
        </p:grpSpPr>
        <p:sp>
          <p:nvSpPr>
            <p:cNvPr id="25" name="Rectangle 25"/>
            <p:cNvSpPr/>
            <p:nvPr/>
          </p:nvSpPr>
          <p:spPr>
            <a:xfrm>
              <a:off x="6096000" y="2000250"/>
              <a:ext cx="3048000" cy="419100"/>
            </a:xfrm>
            <a:prstGeom prst="rect">
              <a:avLst/>
            </a:prstGeom>
            <a:solidFill>
              <a:srgbClr val="E9563C"/>
            </a:solidFill>
            <a:ln>
              <a:noFill/>
            </a:ln>
          </p:spPr>
        </p:sp>
        <p:sp>
          <p:nvSpPr>
            <p:cNvPr id="26" name="TextBox 26"/>
            <p:cNvSpPr txBox="1"/>
            <p:nvPr/>
          </p:nvSpPr>
          <p:spPr>
            <a:xfrm>
              <a:off x="7196361" y="2059781"/>
              <a:ext cx="847278"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Connection</a:t>
              </a:r>
            </a:p>
          </p:txBody>
        </p:sp>
        <p:sp>
          <p:nvSpPr>
            <p:cNvPr id="27" name="TextBox 27"/>
            <p:cNvSpPr txBox="1"/>
            <p:nvPr/>
          </p:nvSpPr>
          <p:spPr>
            <a:xfrm>
              <a:off x="7383691" y="2259568"/>
              <a:ext cx="472618" cy="169069"/>
            </a:xfrm>
            <a:prstGeom prst="rect">
              <a:avLst/>
            </a:prstGeom>
            <a:noFill/>
            <a:ln>
              <a:noFill/>
            </a:ln>
          </p:spPr>
          <p:txBody>
            <a:bodyPr wrap="none" lIns="0" tIns="0" rIns="0" bIns="0" anchor="t" anchorCtr="0">
              <a:spAutoFit/>
            </a:bodyPr>
            <a:lstStyle/>
            <a:p>
              <a:pPr algn="ctr"/>
              <a:r>
                <a:rPr lang="zh-CN" sz="860" dirty="0">
                  <a:solidFill>
                    <a:srgbClr val="FDF6E7"/>
                  </a:solidFill>
                  <a:latin typeface="+mn-lt"/>
                  <a:ea typeface="+mn-ea"/>
                  <a:cs typeface="+mn-cs"/>
                </a:rPr>
                <a:t>场域吸引</a:t>
              </a:r>
            </a:p>
          </p:txBody>
        </p:sp>
      </p:grpSp>
      <p:grpSp>
        <p:nvGrpSpPr>
          <p:cNvPr id="32" name="col-head-clv"/>
          <p:cNvGrpSpPr/>
          <p:nvPr/>
        </p:nvGrpSpPr>
        <p:grpSpPr>
          <a:xfrm>
            <a:off x="9239250" y="2000250"/>
            <a:ext cx="2571750" cy="428387"/>
            <a:chOff x="9239250" y="2000250"/>
            <a:chExt cx="2571750" cy="428387"/>
          </a:xfrm>
        </p:grpSpPr>
        <p:sp>
          <p:nvSpPr>
            <p:cNvPr id="29" name="Rectangle 29"/>
            <p:cNvSpPr/>
            <p:nvPr/>
          </p:nvSpPr>
          <p:spPr>
            <a:xfrm>
              <a:off x="9239250" y="2000250"/>
              <a:ext cx="2571750" cy="419100"/>
            </a:xfrm>
            <a:prstGeom prst="rect">
              <a:avLst/>
            </a:prstGeom>
            <a:solidFill>
              <a:srgbClr val="9C594C"/>
            </a:solidFill>
            <a:ln>
              <a:noFill/>
            </a:ln>
          </p:spPr>
        </p:sp>
        <p:sp>
          <p:nvSpPr>
            <p:cNvPr id="30" name="TextBox 30"/>
            <p:cNvSpPr txBox="1"/>
            <p:nvPr/>
          </p:nvSpPr>
          <p:spPr>
            <a:xfrm>
              <a:off x="10381409" y="2059781"/>
              <a:ext cx="287432"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CLV</a:t>
              </a:r>
            </a:p>
          </p:txBody>
        </p:sp>
        <p:sp>
          <p:nvSpPr>
            <p:cNvPr id="31" name="TextBox 31"/>
            <p:cNvSpPr txBox="1"/>
            <p:nvPr/>
          </p:nvSpPr>
          <p:spPr>
            <a:xfrm>
              <a:off x="10173043" y="2259568"/>
              <a:ext cx="704164" cy="169069"/>
            </a:xfrm>
            <a:prstGeom prst="rect">
              <a:avLst/>
            </a:prstGeom>
            <a:noFill/>
            <a:ln>
              <a:noFill/>
            </a:ln>
          </p:spPr>
          <p:txBody>
            <a:bodyPr wrap="none" lIns="0" tIns="0" rIns="0" bIns="0" anchor="t" anchorCtr="0">
              <a:spAutoFit/>
            </a:bodyPr>
            <a:lstStyle/>
            <a:p>
              <a:pPr algn="ctr"/>
              <a:r>
                <a:rPr lang="zh-CN" sz="860" dirty="0">
                  <a:solidFill>
                    <a:srgbClr val="EDF5E8"/>
                  </a:solidFill>
                  <a:latin typeface="+mn-lt"/>
                  <a:ea typeface="+mn-ea"/>
                  <a:cs typeface="+mn-cs"/>
                </a:rPr>
                <a:t>四大微型战役</a:t>
              </a:r>
            </a:p>
          </p:txBody>
        </p:sp>
      </p:grpSp>
      <p:grpSp>
        <p:nvGrpSpPr>
          <p:cNvPr id="57" name="card-left-roles"/>
          <p:cNvGrpSpPr/>
          <p:nvPr/>
        </p:nvGrpSpPr>
        <p:grpSpPr>
          <a:xfrm>
            <a:off x="381000" y="2476500"/>
            <a:ext cx="2476500" cy="3981450"/>
            <a:chOff x="381000" y="2476500"/>
            <a:chExt cx="2476500" cy="3981450"/>
          </a:xfrm>
        </p:grpSpPr>
        <p:sp>
          <p:nvSpPr>
            <p:cNvPr id="33" name="Rectangle 33"/>
            <p:cNvSpPr/>
            <p:nvPr/>
          </p:nvSpPr>
          <p:spPr>
            <a:xfrm>
              <a:off x="381000" y="2476500"/>
              <a:ext cx="2476500" cy="3981450"/>
            </a:xfrm>
            <a:prstGeom prst="rect">
              <a:avLst/>
            </a:prstGeom>
            <a:solidFill>
              <a:srgbClr val="FFFFFF"/>
            </a:solidFill>
            <a:ln w="11430">
              <a:solidFill>
                <a:srgbClr val="B9CDB3"/>
              </a:solidFill>
              <a:custDash>
                <a:ds d="416667" sp="250000"/>
              </a:custDash>
            </a:ln>
          </p:spPr>
        </p:sp>
        <p:sp>
          <p:nvSpPr>
            <p:cNvPr id="34" name="TextBox 34"/>
            <p:cNvSpPr txBox="1"/>
            <p:nvPr/>
          </p:nvSpPr>
          <p:spPr>
            <a:xfrm>
              <a:off x="977836" y="2648902"/>
              <a:ext cx="1282827" cy="205359"/>
            </a:xfrm>
            <a:prstGeom prst="rect">
              <a:avLst/>
            </a:prstGeom>
            <a:noFill/>
            <a:ln>
              <a:noFill/>
            </a:ln>
          </p:spPr>
          <p:txBody>
            <a:bodyPr wrap="none" lIns="0" tIns="0" rIns="0" bIns="0" anchor="t" anchorCtr="0">
              <a:spAutoFit/>
            </a:bodyPr>
            <a:lstStyle/>
            <a:p>
              <a:pPr algn="ctr"/>
              <a:r>
                <a:rPr lang="zh-CN" sz="1050" b="1" dirty="0">
                  <a:solidFill>
                    <a:srgbClr val="8C4B3F"/>
                  </a:solidFill>
                  <a:latin typeface="+mn-lt"/>
                  <a:ea typeface="+mn-ea"/>
                  <a:cs typeface="+mn-cs"/>
                </a:rPr>
                <a:t>私域用户角色关系图</a:t>
              </a:r>
            </a:p>
          </p:txBody>
        </p:sp>
        <p:sp>
          <p:nvSpPr>
            <p:cNvPr id="35" name="TextBox 35"/>
            <p:cNvSpPr txBox="1"/>
            <p:nvPr/>
          </p:nvSpPr>
          <p:spPr>
            <a:xfrm>
              <a:off x="732752" y="2927747"/>
              <a:ext cx="515696"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连接关系</a:t>
              </a:r>
            </a:p>
          </p:txBody>
        </p:sp>
        <p:sp>
          <p:nvSpPr>
            <p:cNvPr id="36" name="TextBox 36"/>
            <p:cNvSpPr txBox="1"/>
            <p:nvPr/>
          </p:nvSpPr>
          <p:spPr>
            <a:xfrm>
              <a:off x="2028152" y="2927747"/>
              <a:ext cx="515696"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触达通道</a:t>
              </a:r>
            </a:p>
          </p:txBody>
        </p:sp>
        <p:sp>
          <p:nvSpPr>
            <p:cNvPr id="37" name="Freeform 37"/>
            <p:cNvSpPr/>
            <p:nvPr/>
          </p:nvSpPr>
          <p:spPr>
            <a:xfrm>
              <a:off x="533400" y="3143250"/>
              <a:ext cx="1066800" cy="285750"/>
            </a:xfrm>
            <a:prstGeom prst="homePlate">
              <a:avLst/>
            </a:prstGeom>
            <a:solidFill>
              <a:srgbClr val="7A3E33"/>
            </a:solidFill>
            <a:ln>
              <a:noFill/>
            </a:ln>
          </p:spPr>
        </p:sp>
        <p:sp>
          <p:nvSpPr>
            <p:cNvPr id="38" name="TextBox 38"/>
            <p:cNvSpPr txBox="1"/>
            <p:nvPr/>
          </p:nvSpPr>
          <p:spPr>
            <a:xfrm>
              <a:off x="728487" y="3235166"/>
              <a:ext cx="52422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品牌KOC​</a:t>
              </a:r>
            </a:p>
          </p:txBody>
        </p:sp>
        <p:sp>
          <p:nvSpPr>
            <p:cNvPr id="39" name="TextBox 39"/>
            <p:cNvSpPr txBox="1"/>
            <p:nvPr/>
          </p:nvSpPr>
          <p:spPr>
            <a:xfrm>
              <a:off x="1690497" y="3228499"/>
              <a:ext cx="141834" cy="190690"/>
            </a:xfrm>
            <a:prstGeom prst="rect">
              <a:avLst/>
            </a:prstGeom>
            <a:noFill/>
            <a:ln>
              <a:noFill/>
            </a:ln>
          </p:spPr>
          <p:txBody>
            <a:bodyPr wrap="none" lIns="0" tIns="0" rIns="0" bIns="0" anchor="t" anchorCtr="0">
              <a:spAutoFit/>
            </a:bodyPr>
            <a:lstStyle/>
            <a:p>
              <a:pPr algn="l"/>
              <a:r>
                <a:rPr lang="zh-CN" sz="980" dirty="0">
                  <a:solidFill>
                    <a:srgbClr val="E9563C"/>
                  </a:solidFill>
                  <a:latin typeface="+mn-lt"/>
                  <a:ea typeface="+mn-ea"/>
                  <a:cs typeface="+mn-cs"/>
                </a:rPr>
                <a:t>★</a:t>
              </a:r>
            </a:p>
          </p:txBody>
        </p:sp>
        <p:sp>
          <p:nvSpPr>
            <p:cNvPr id="40" name="Freeform 40"/>
            <p:cNvSpPr/>
            <p:nvPr/>
          </p:nvSpPr>
          <p:spPr>
            <a:xfrm>
              <a:off x="533400" y="3562350"/>
              <a:ext cx="1066800" cy="285750"/>
            </a:xfrm>
            <a:prstGeom prst="homePlate">
              <a:avLst/>
            </a:prstGeom>
            <a:solidFill>
              <a:srgbClr val="9C594C"/>
            </a:solidFill>
            <a:ln>
              <a:noFill/>
            </a:ln>
          </p:spPr>
        </p:sp>
        <p:sp>
          <p:nvSpPr>
            <p:cNvPr id="41" name="TextBox 41"/>
            <p:cNvSpPr txBox="1"/>
            <p:nvPr/>
          </p:nvSpPr>
          <p:spPr>
            <a:xfrm>
              <a:off x="765061" y="36542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复购会员</a:t>
              </a:r>
            </a:p>
          </p:txBody>
        </p:sp>
        <p:sp>
          <p:nvSpPr>
            <p:cNvPr id="42" name="Freeform 42"/>
            <p:cNvSpPr/>
            <p:nvPr/>
          </p:nvSpPr>
          <p:spPr>
            <a:xfrm>
              <a:off x="533400" y="3981450"/>
              <a:ext cx="1066800" cy="285750"/>
            </a:xfrm>
            <a:prstGeom prst="homePlate">
              <a:avLst/>
            </a:prstGeom>
            <a:solidFill>
              <a:srgbClr val="B5766A"/>
            </a:solidFill>
            <a:ln>
              <a:noFill/>
            </a:ln>
          </p:spPr>
        </p:sp>
        <p:sp>
          <p:nvSpPr>
            <p:cNvPr id="43" name="TextBox 43"/>
            <p:cNvSpPr txBox="1"/>
            <p:nvPr/>
          </p:nvSpPr>
          <p:spPr>
            <a:xfrm>
              <a:off x="765061" y="40733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已购会员</a:t>
              </a:r>
            </a:p>
          </p:txBody>
        </p:sp>
        <p:sp>
          <p:nvSpPr>
            <p:cNvPr id="44" name="Freeform 44"/>
            <p:cNvSpPr/>
            <p:nvPr/>
          </p:nvSpPr>
          <p:spPr>
            <a:xfrm>
              <a:off x="533400" y="4400550"/>
              <a:ext cx="1066800" cy="285750"/>
            </a:xfrm>
            <a:prstGeom prst="homePlate">
              <a:avLst/>
            </a:prstGeom>
            <a:solidFill>
              <a:srgbClr val="CB948A"/>
            </a:solidFill>
            <a:ln>
              <a:noFill/>
            </a:ln>
          </p:spPr>
        </p:sp>
        <p:sp>
          <p:nvSpPr>
            <p:cNvPr id="45" name="TextBox 45"/>
            <p:cNvSpPr txBox="1"/>
            <p:nvPr/>
          </p:nvSpPr>
          <p:spPr>
            <a:xfrm>
              <a:off x="765061" y="44924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共购会员</a:t>
              </a:r>
            </a:p>
          </p:txBody>
        </p:sp>
        <p:sp>
          <p:nvSpPr>
            <p:cNvPr id="46" name="Freeform 46"/>
            <p:cNvSpPr/>
            <p:nvPr/>
          </p:nvSpPr>
          <p:spPr>
            <a:xfrm>
              <a:off x="533400" y="4819650"/>
              <a:ext cx="1066800" cy="285750"/>
            </a:xfrm>
            <a:prstGeom prst="homePlate">
              <a:avLst/>
            </a:prstGeom>
            <a:solidFill>
              <a:srgbClr val="DFB7B0"/>
            </a:solidFill>
            <a:ln>
              <a:noFill/>
            </a:ln>
          </p:spPr>
        </p:sp>
        <p:sp>
          <p:nvSpPr>
            <p:cNvPr id="47" name="TextBox 47"/>
            <p:cNvSpPr txBox="1"/>
            <p:nvPr/>
          </p:nvSpPr>
          <p:spPr>
            <a:xfrm>
              <a:off x="654672" y="4911566"/>
              <a:ext cx="671855" cy="161925"/>
            </a:xfrm>
            <a:prstGeom prst="rect">
              <a:avLst/>
            </a:prstGeom>
            <a:noFill/>
            <a:ln>
              <a:noFill/>
            </a:ln>
          </p:spPr>
          <p:txBody>
            <a:bodyPr wrap="none" lIns="0" tIns="0" rIns="0" bIns="0" anchor="t" anchorCtr="0">
              <a:spAutoFit/>
            </a:bodyPr>
            <a:lstStyle/>
            <a:p>
              <a:pPr algn="ctr"/>
              <a:r>
                <a:rPr lang="zh-CN" sz="820" b="1" dirty="0">
                  <a:solidFill>
                    <a:srgbClr val="613932"/>
                  </a:solidFill>
                  <a:latin typeface="+mn-lt"/>
                  <a:ea typeface="+mn-ea"/>
                  <a:cs typeface="+mn-cs"/>
                </a:rPr>
                <a:t>基础私域用户</a:t>
              </a:r>
            </a:p>
          </p:txBody>
        </p:sp>
        <p:sp>
          <p:nvSpPr>
            <p:cNvPr id="48" name="TextBox 48"/>
            <p:cNvSpPr txBox="1"/>
            <p:nvPr/>
          </p:nvSpPr>
          <p:spPr>
            <a:xfrm>
              <a:off x="1862138" y="3201114"/>
              <a:ext cx="52532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 会员中心</a:t>
              </a:r>
            </a:p>
          </p:txBody>
        </p:sp>
        <p:sp>
          <p:nvSpPr>
            <p:cNvPr id="49" name="TextBox 49"/>
            <p:cNvSpPr txBox="1"/>
            <p:nvPr/>
          </p:nvSpPr>
          <p:spPr>
            <a:xfrm>
              <a:off x="1862138" y="3429714"/>
              <a:ext cx="31262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 短信</a:t>
              </a:r>
            </a:p>
          </p:txBody>
        </p:sp>
        <p:sp>
          <p:nvSpPr>
            <p:cNvPr id="50" name="TextBox 50"/>
            <p:cNvSpPr txBox="1"/>
            <p:nvPr/>
          </p:nvSpPr>
          <p:spPr>
            <a:xfrm>
              <a:off x="1862138" y="3658314"/>
              <a:ext cx="31262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 订阅</a:t>
              </a:r>
            </a:p>
          </p:txBody>
        </p:sp>
        <p:sp>
          <p:nvSpPr>
            <p:cNvPr id="51" name="TextBox 51"/>
            <p:cNvSpPr txBox="1"/>
            <p:nvPr/>
          </p:nvSpPr>
          <p:spPr>
            <a:xfrm>
              <a:off x="1862138" y="3886914"/>
              <a:ext cx="31262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 社群</a:t>
              </a:r>
            </a:p>
          </p:txBody>
        </p:sp>
        <p:sp>
          <p:nvSpPr>
            <p:cNvPr id="52" name="TextBox 52"/>
            <p:cNvSpPr txBox="1"/>
            <p:nvPr/>
          </p:nvSpPr>
          <p:spPr>
            <a:xfrm>
              <a:off x="1862138" y="4115514"/>
              <a:ext cx="52532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 专属客服</a:t>
              </a:r>
            </a:p>
          </p:txBody>
        </p:sp>
        <p:sp>
          <p:nvSpPr>
            <p:cNvPr id="53" name="TextBox 53"/>
            <p:cNvSpPr txBox="1"/>
            <p:nvPr/>
          </p:nvSpPr>
          <p:spPr>
            <a:xfrm>
              <a:off x="1862138" y="4344114"/>
              <a:ext cx="41897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 直播等</a:t>
              </a:r>
            </a:p>
          </p:txBody>
        </p:sp>
        <p:sp>
          <p:nvSpPr>
            <p:cNvPr id="54" name="TextBox 54"/>
            <p:cNvSpPr txBox="1"/>
            <p:nvPr/>
          </p:nvSpPr>
          <p:spPr>
            <a:xfrm>
              <a:off x="1862138" y="4572714"/>
              <a:ext cx="31262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 订阅</a:t>
              </a:r>
            </a:p>
          </p:txBody>
        </p:sp>
        <p:sp>
          <p:nvSpPr>
            <p:cNvPr id="55" name="TextBox 55"/>
            <p:cNvSpPr txBox="1"/>
            <p:nvPr/>
          </p:nvSpPr>
          <p:spPr>
            <a:xfrm>
              <a:off x="1862138" y="4801314"/>
              <a:ext cx="31262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 群聊</a:t>
              </a:r>
            </a:p>
          </p:txBody>
        </p:sp>
        <p:sp>
          <p:nvSpPr>
            <p:cNvPr id="56" name="TextBox 56"/>
            <p:cNvSpPr txBox="1"/>
            <p:nvPr/>
          </p:nvSpPr>
          <p:spPr>
            <a:xfrm>
              <a:off x="1862138" y="5029914"/>
              <a:ext cx="52532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 专属客服</a:t>
              </a:r>
            </a:p>
          </p:txBody>
        </p:sp>
      </p:grpSp>
      <p:grpSp>
        <p:nvGrpSpPr>
          <p:cNvPr id="144" name="card-center-omni"/>
          <p:cNvGrpSpPr/>
          <p:nvPr/>
        </p:nvGrpSpPr>
        <p:grpSpPr>
          <a:xfrm>
            <a:off x="2952750" y="2476500"/>
            <a:ext cx="6000750" cy="3981450"/>
            <a:chOff x="2952750" y="2476500"/>
            <a:chExt cx="6000750" cy="3981450"/>
          </a:xfrm>
        </p:grpSpPr>
        <p:sp>
          <p:nvSpPr>
            <p:cNvPr id="58" name="Rectangle 58"/>
            <p:cNvSpPr/>
            <p:nvPr/>
          </p:nvSpPr>
          <p:spPr>
            <a:xfrm>
              <a:off x="2952750" y="2476500"/>
              <a:ext cx="6000750" cy="3981450"/>
            </a:xfrm>
            <a:prstGeom prst="rect">
              <a:avLst/>
            </a:prstGeom>
            <a:solidFill>
              <a:srgbClr val="FFFFFF"/>
            </a:solidFill>
            <a:ln w="11430">
              <a:solidFill>
                <a:srgbClr val="C9D8BD"/>
              </a:solidFill>
              <a:custDash>
                <a:ds d="416667" sp="250000"/>
              </a:custDash>
            </a:ln>
          </p:spPr>
        </p:sp>
        <p:sp>
          <p:nvSpPr>
            <p:cNvPr id="59" name="TextBox 59"/>
            <p:cNvSpPr txBox="1"/>
            <p:nvPr/>
          </p:nvSpPr>
          <p:spPr>
            <a:xfrm>
              <a:off x="5495087" y="2621756"/>
              <a:ext cx="916076" cy="220028"/>
            </a:xfrm>
            <a:prstGeom prst="rect">
              <a:avLst/>
            </a:prstGeom>
            <a:noFill/>
            <a:ln>
              <a:noFill/>
            </a:ln>
          </p:spPr>
          <p:txBody>
            <a:bodyPr wrap="none" lIns="0" tIns="0" rIns="0" bIns="0" anchor="t" anchorCtr="0">
              <a:spAutoFit/>
            </a:bodyPr>
            <a:lstStyle/>
            <a:p>
              <a:pPr algn="ctr"/>
              <a:r>
                <a:rPr lang="zh-CN" sz="1120" b="1" dirty="0">
                  <a:solidFill>
                    <a:srgbClr val="333333"/>
                  </a:solidFill>
                  <a:latin typeface="+mn-lt"/>
                  <a:ea typeface="+mn-ea"/>
                  <a:cs typeface="+mn-cs"/>
                </a:rPr>
                <a:t>全渠道联动图</a:t>
              </a:r>
            </a:p>
          </p:txBody>
        </p:sp>
        <p:sp>
          <p:nvSpPr>
            <p:cNvPr id="60" name="Rectangle 60"/>
            <p:cNvSpPr/>
            <p:nvPr/>
          </p:nvSpPr>
          <p:spPr>
            <a:xfrm>
              <a:off x="4714875" y="2857500"/>
              <a:ext cx="2476500" cy="247650"/>
            </a:xfrm>
            <a:prstGeom prst="rect">
              <a:avLst/>
            </a:prstGeom>
            <a:solidFill>
              <a:srgbClr val="E9563C"/>
            </a:solidFill>
            <a:ln>
              <a:noFill/>
            </a:ln>
          </p:spPr>
        </p:sp>
        <p:sp>
          <p:nvSpPr>
            <p:cNvPr id="61" name="TextBox 61"/>
            <p:cNvSpPr txBox="1"/>
            <p:nvPr/>
          </p:nvSpPr>
          <p:spPr>
            <a:xfrm>
              <a:off x="5684317" y="29236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触达通道</a:t>
              </a:r>
            </a:p>
          </p:txBody>
        </p:sp>
        <p:sp>
          <p:nvSpPr>
            <p:cNvPr id="62" name="Line 62"/>
            <p:cNvSpPr/>
            <p:nvPr/>
          </p:nvSpPr>
          <p:spPr>
            <a:xfrm>
              <a:off x="4476750" y="3752850"/>
              <a:ext cx="9525" cy="171450"/>
            </a:xfrm>
            <a:custGeom>
              <a:avLst/>
              <a:gdLst/>
              <a:ahLst/>
              <a:cxnLst/>
              <a:rect l="l" t="t" r="r" b="b"/>
              <a:pathLst>
                <a:path w="9525" h="171450">
                  <a:moveTo>
                    <a:pt x="0" y="171450"/>
                  </a:moveTo>
                  <a:lnTo>
                    <a:pt x="0" y="0"/>
                  </a:lnTo>
                </a:path>
              </a:pathLst>
            </a:custGeom>
            <a:noFill/>
            <a:ln w="9525">
              <a:solidFill>
                <a:srgbClr val="C8CFC4"/>
              </a:solidFill>
            </a:ln>
          </p:spPr>
        </p:sp>
        <p:sp>
          <p:nvSpPr>
            <p:cNvPr id="63" name="Line 63"/>
            <p:cNvSpPr/>
            <p:nvPr/>
          </p:nvSpPr>
          <p:spPr>
            <a:xfrm>
              <a:off x="3695700" y="4476750"/>
              <a:ext cx="228600" cy="9525"/>
            </a:xfrm>
            <a:custGeom>
              <a:avLst/>
              <a:gdLst/>
              <a:ahLst/>
              <a:cxnLst/>
              <a:rect l="l" t="t" r="r" b="b"/>
              <a:pathLst>
                <a:path w="228600" h="9525">
                  <a:moveTo>
                    <a:pt x="228600" y="0"/>
                  </a:moveTo>
                  <a:lnTo>
                    <a:pt x="0" y="0"/>
                  </a:lnTo>
                </a:path>
              </a:pathLst>
            </a:custGeom>
            <a:noFill/>
            <a:ln w="9525">
              <a:solidFill>
                <a:srgbClr val="C8CFC4"/>
              </a:solidFill>
            </a:ln>
          </p:spPr>
        </p:sp>
        <p:sp>
          <p:nvSpPr>
            <p:cNvPr id="64" name="Line 64"/>
            <p:cNvSpPr/>
            <p:nvPr/>
          </p:nvSpPr>
          <p:spPr>
            <a:xfrm>
              <a:off x="4857750" y="3886200"/>
              <a:ext cx="209550" cy="209550"/>
            </a:xfrm>
            <a:custGeom>
              <a:avLst/>
              <a:gdLst/>
              <a:ahLst/>
              <a:cxnLst/>
              <a:rect l="l" t="t" r="r" b="b"/>
              <a:pathLst>
                <a:path w="209550" h="209550">
                  <a:moveTo>
                    <a:pt x="0" y="209550"/>
                  </a:moveTo>
                  <a:lnTo>
                    <a:pt x="209550" y="0"/>
                  </a:lnTo>
                </a:path>
              </a:pathLst>
            </a:custGeom>
            <a:noFill/>
            <a:ln w="9525">
              <a:solidFill>
                <a:srgbClr val="C8CFC4"/>
              </a:solidFill>
            </a:ln>
          </p:spPr>
        </p:sp>
        <p:sp>
          <p:nvSpPr>
            <p:cNvPr id="65" name="Line 65"/>
            <p:cNvSpPr/>
            <p:nvPr/>
          </p:nvSpPr>
          <p:spPr>
            <a:xfrm>
              <a:off x="3848100" y="4867275"/>
              <a:ext cx="238125" cy="352425"/>
            </a:xfrm>
            <a:custGeom>
              <a:avLst/>
              <a:gdLst/>
              <a:ahLst/>
              <a:cxnLst/>
              <a:rect l="l" t="t" r="r" b="b"/>
              <a:pathLst>
                <a:path w="238125" h="352425">
                  <a:moveTo>
                    <a:pt x="238125" y="0"/>
                  </a:moveTo>
                  <a:lnTo>
                    <a:pt x="0" y="352425"/>
                  </a:lnTo>
                </a:path>
              </a:pathLst>
            </a:custGeom>
            <a:noFill/>
            <a:ln w="9525">
              <a:solidFill>
                <a:srgbClr val="C8CFC4"/>
              </a:solidFill>
            </a:ln>
          </p:spPr>
        </p:sp>
        <p:sp>
          <p:nvSpPr>
            <p:cNvPr id="66" name="Line 66"/>
            <p:cNvSpPr/>
            <p:nvPr/>
          </p:nvSpPr>
          <p:spPr>
            <a:xfrm>
              <a:off x="4867275" y="4867275"/>
              <a:ext cx="200025" cy="352425"/>
            </a:xfrm>
            <a:custGeom>
              <a:avLst/>
              <a:gdLst/>
              <a:ahLst/>
              <a:cxnLst/>
              <a:rect l="l" t="t" r="r" b="b"/>
              <a:pathLst>
                <a:path w="200025" h="352425">
                  <a:moveTo>
                    <a:pt x="0" y="0"/>
                  </a:moveTo>
                  <a:lnTo>
                    <a:pt x="200025" y="352425"/>
                  </a:lnTo>
                </a:path>
              </a:pathLst>
            </a:custGeom>
            <a:noFill/>
            <a:ln w="9525">
              <a:solidFill>
                <a:srgbClr val="C8CFC4"/>
              </a:solidFill>
            </a:ln>
          </p:spPr>
        </p:sp>
        <p:sp>
          <p:nvSpPr>
            <p:cNvPr id="67" name="Line 67"/>
            <p:cNvSpPr/>
            <p:nvPr/>
          </p:nvSpPr>
          <p:spPr>
            <a:xfrm>
              <a:off x="4476750" y="5029200"/>
              <a:ext cx="9525" cy="438150"/>
            </a:xfrm>
            <a:custGeom>
              <a:avLst/>
              <a:gdLst/>
              <a:ahLst/>
              <a:cxnLst/>
              <a:rect l="l" t="t" r="r" b="b"/>
              <a:pathLst>
                <a:path w="9525" h="438150">
                  <a:moveTo>
                    <a:pt x="0" y="0"/>
                  </a:moveTo>
                  <a:lnTo>
                    <a:pt x="0" y="438150"/>
                  </a:lnTo>
                </a:path>
              </a:pathLst>
            </a:custGeom>
            <a:noFill/>
            <a:ln w="9525">
              <a:solidFill>
                <a:srgbClr val="C8CFC4"/>
              </a:solidFill>
            </a:ln>
          </p:spPr>
        </p:sp>
        <p:sp>
          <p:nvSpPr>
            <p:cNvPr id="68" name="Ellipse 68"/>
            <p:cNvSpPr/>
            <p:nvPr/>
          </p:nvSpPr>
          <p:spPr>
            <a:xfrm>
              <a:off x="3943350" y="3943350"/>
              <a:ext cx="1066800" cy="1066800"/>
            </a:xfrm>
            <a:prstGeom prst="ellipse">
              <a:avLst/>
            </a:prstGeom>
            <a:solidFill>
              <a:srgbClr val="E83C1E"/>
            </a:solidFill>
            <a:ln>
              <a:noFill/>
            </a:ln>
          </p:spPr>
        </p:sp>
        <p:sp>
          <p:nvSpPr>
            <p:cNvPr id="69" name="TextBox 69"/>
            <p:cNvSpPr txBox="1"/>
            <p:nvPr/>
          </p:nvSpPr>
          <p:spPr>
            <a:xfrm>
              <a:off x="4339869" y="43333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全域</a:t>
              </a:r>
            </a:p>
          </p:txBody>
        </p:sp>
        <p:sp>
          <p:nvSpPr>
            <p:cNvPr id="70" name="TextBox 70"/>
            <p:cNvSpPr txBox="1"/>
            <p:nvPr/>
          </p:nvSpPr>
          <p:spPr>
            <a:xfrm>
              <a:off x="4207942" y="45048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品牌触达</a:t>
              </a:r>
            </a:p>
          </p:txBody>
        </p:sp>
        <p:grpSp>
          <p:nvGrpSpPr>
            <p:cNvPr id="73" name="Group 73"/>
            <p:cNvGrpSpPr/>
            <p:nvPr/>
          </p:nvGrpSpPr>
          <p:grpSpPr>
            <a:xfrm>
              <a:off x="4169569" y="3576637"/>
              <a:ext cx="100012" cy="66675"/>
              <a:chOff x="4169569" y="3576637"/>
              <a:chExt cx="100012" cy="66675"/>
            </a:xfrm>
          </p:grpSpPr>
          <p:sp>
            <p:nvSpPr>
              <p:cNvPr id="71" name="Freeform 71"/>
              <p:cNvSpPr/>
              <p:nvPr/>
            </p:nvSpPr>
            <p:spPr>
              <a:xfrm>
                <a:off x="4236244" y="3585356"/>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9C594C"/>
                </a:solidFill>
              </a:ln>
            </p:spPr>
          </p:sp>
          <p:sp>
            <p:nvSpPr>
              <p:cNvPr id="72" name="Freeform 72"/>
              <p:cNvSpPr/>
              <p:nvPr/>
            </p:nvSpPr>
            <p:spPr>
              <a:xfrm>
                <a:off x="4169569" y="3576637"/>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9C594C"/>
                </a:solidFill>
              </a:ln>
            </p:spPr>
          </p:sp>
        </p:grpSp>
        <p:sp>
          <p:nvSpPr>
            <p:cNvPr id="74" name="TextBox 74"/>
            <p:cNvSpPr txBox="1"/>
            <p:nvPr/>
          </p:nvSpPr>
          <p:spPr>
            <a:xfrm>
              <a:off x="4471988" y="3568541"/>
              <a:ext cx="451079"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品牌触达</a:t>
              </a:r>
            </a:p>
          </p:txBody>
        </p:sp>
        <p:grpSp>
          <p:nvGrpSpPr>
            <p:cNvPr id="78" name="Group 78"/>
            <p:cNvGrpSpPr/>
            <p:nvPr/>
          </p:nvGrpSpPr>
          <p:grpSpPr>
            <a:xfrm>
              <a:off x="3342481" y="4321969"/>
              <a:ext cx="77787" cy="100012"/>
              <a:chOff x="3342481" y="4321969"/>
              <a:chExt cx="77787" cy="100012"/>
            </a:xfrm>
          </p:grpSpPr>
          <p:sp>
            <p:nvSpPr>
              <p:cNvPr id="75" name="Freeform 75"/>
              <p:cNvSpPr/>
              <p:nvPr/>
            </p:nvSpPr>
            <p:spPr>
              <a:xfrm>
                <a:off x="3342481" y="4355306"/>
                <a:ext cx="77787" cy="66675"/>
              </a:xfrm>
              <a:custGeom>
                <a:avLst/>
                <a:gdLst/>
                <a:ahLst/>
                <a:cxnLst/>
                <a:rect l="l" t="t" r="r" b="b"/>
                <a:pathLst>
                  <a:path w="77787" h="66675">
                    <a:moveTo>
                      <a:pt x="16669" y="0"/>
                    </a:moveTo>
                    <a:lnTo>
                      <a:pt x="11112" y="0"/>
                    </a:lnTo>
                    <a:cubicBezTo>
                      <a:pt x="4975" y="0"/>
                      <a:pt x="0" y="4975"/>
                      <a:pt x="0" y="11112"/>
                    </a:cubicBezTo>
                    <a:lnTo>
                      <a:pt x="0" y="55562"/>
                    </a:lnTo>
                    <a:cubicBezTo>
                      <a:pt x="0" y="61700"/>
                      <a:pt x="4975" y="66675"/>
                      <a:pt x="11112" y="66675"/>
                    </a:cubicBezTo>
                    <a:lnTo>
                      <a:pt x="66675" y="66675"/>
                    </a:lnTo>
                    <a:cubicBezTo>
                      <a:pt x="72812" y="66675"/>
                      <a:pt x="77787" y="61700"/>
                      <a:pt x="77787" y="55562"/>
                    </a:cubicBezTo>
                    <a:lnTo>
                      <a:pt x="77787" y="11112"/>
                    </a:lnTo>
                    <a:cubicBezTo>
                      <a:pt x="77787" y="4975"/>
                      <a:pt x="72812" y="0"/>
                      <a:pt x="66675" y="0"/>
                    </a:cubicBezTo>
                    <a:lnTo>
                      <a:pt x="61119" y="0"/>
                    </a:lnTo>
                  </a:path>
                </a:pathLst>
              </a:custGeom>
              <a:noFill/>
              <a:ln w="11112">
                <a:solidFill>
                  <a:srgbClr val="9C594C"/>
                </a:solidFill>
              </a:ln>
            </p:spPr>
          </p:sp>
          <p:sp>
            <p:nvSpPr>
              <p:cNvPr id="76" name="Freeform 76"/>
              <p:cNvSpPr/>
              <p:nvPr/>
            </p:nvSpPr>
            <p:spPr>
              <a:xfrm>
                <a:off x="3381375" y="4321969"/>
                <a:ext cx="9525" cy="61119"/>
              </a:xfrm>
              <a:custGeom>
                <a:avLst/>
                <a:gdLst/>
                <a:ahLst/>
                <a:cxnLst/>
                <a:rect l="l" t="t" r="r" b="b"/>
                <a:pathLst>
                  <a:path w="9525" h="61119">
                    <a:moveTo>
                      <a:pt x="0" y="61119"/>
                    </a:moveTo>
                    <a:lnTo>
                      <a:pt x="0" y="0"/>
                    </a:lnTo>
                  </a:path>
                </a:pathLst>
              </a:custGeom>
              <a:noFill/>
              <a:ln w="11112">
                <a:solidFill>
                  <a:srgbClr val="9C594C"/>
                </a:solidFill>
              </a:ln>
            </p:spPr>
          </p:sp>
          <p:sp>
            <p:nvSpPr>
              <p:cNvPr id="77" name="Freeform 77"/>
              <p:cNvSpPr/>
              <p:nvPr/>
            </p:nvSpPr>
            <p:spPr>
              <a:xfrm>
                <a:off x="3364706" y="4321969"/>
                <a:ext cx="33337" cy="16669"/>
              </a:xfrm>
              <a:custGeom>
                <a:avLst/>
                <a:gdLst/>
                <a:ahLst/>
                <a:cxnLst/>
                <a:rect l="l" t="t" r="r" b="b"/>
                <a:pathLst>
                  <a:path w="33337" h="16669">
                    <a:moveTo>
                      <a:pt x="0" y="16669"/>
                    </a:moveTo>
                    <a:lnTo>
                      <a:pt x="16669" y="0"/>
                    </a:lnTo>
                    <a:lnTo>
                      <a:pt x="33337" y="16669"/>
                    </a:lnTo>
                  </a:path>
                </a:pathLst>
              </a:custGeom>
              <a:noFill/>
              <a:ln w="11112">
                <a:solidFill>
                  <a:srgbClr val="9C594C"/>
                </a:solidFill>
              </a:ln>
            </p:spPr>
          </p:sp>
        </p:grpSp>
        <p:sp>
          <p:nvSpPr>
            <p:cNvPr id="79" name="TextBox 79"/>
            <p:cNvSpPr txBox="1"/>
            <p:nvPr/>
          </p:nvSpPr>
          <p:spPr>
            <a:xfrm>
              <a:off x="3481388" y="4330541"/>
              <a:ext cx="230302"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公域</a:t>
              </a:r>
            </a:p>
          </p:txBody>
        </p:sp>
        <p:grpSp>
          <p:nvGrpSpPr>
            <p:cNvPr id="86" name="Group 86"/>
            <p:cNvGrpSpPr/>
            <p:nvPr/>
          </p:nvGrpSpPr>
          <p:grpSpPr>
            <a:xfrm>
              <a:off x="5103019" y="3750469"/>
              <a:ext cx="100012" cy="100012"/>
              <a:chOff x="5103019" y="3750469"/>
              <a:chExt cx="100012" cy="100012"/>
            </a:xfrm>
          </p:grpSpPr>
          <p:sp>
            <p:nvSpPr>
              <p:cNvPr id="80" name="Freeform 80"/>
              <p:cNvSpPr/>
              <p:nvPr/>
            </p:nvSpPr>
            <p:spPr>
              <a:xfrm>
                <a:off x="5141912" y="379491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594C"/>
                </a:solidFill>
              </a:ln>
            </p:spPr>
          </p:sp>
          <p:sp>
            <p:nvSpPr>
              <p:cNvPr id="81" name="Freeform 81"/>
              <p:cNvSpPr/>
              <p:nvPr/>
            </p:nvSpPr>
            <p:spPr>
              <a:xfrm>
                <a:off x="5130800" y="3833812"/>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9C594C"/>
                </a:solidFill>
              </a:ln>
            </p:spPr>
          </p:sp>
          <p:sp>
            <p:nvSpPr>
              <p:cNvPr id="82" name="Freeform 82"/>
              <p:cNvSpPr/>
              <p:nvPr/>
            </p:nvSpPr>
            <p:spPr>
              <a:xfrm>
                <a:off x="5169694" y="37504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594C"/>
                </a:solidFill>
              </a:ln>
            </p:spPr>
          </p:sp>
          <p:sp>
            <p:nvSpPr>
              <p:cNvPr id="83" name="Freeform 83"/>
              <p:cNvSpPr/>
              <p:nvPr/>
            </p:nvSpPr>
            <p:spPr>
              <a:xfrm>
                <a:off x="5180806" y="3789362"/>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9C594C"/>
                </a:solidFill>
              </a:ln>
            </p:spPr>
          </p:sp>
          <p:sp>
            <p:nvSpPr>
              <p:cNvPr id="84" name="Freeform 84"/>
              <p:cNvSpPr/>
              <p:nvPr/>
            </p:nvSpPr>
            <p:spPr>
              <a:xfrm>
                <a:off x="5114131" y="37504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594C"/>
                </a:solidFill>
              </a:ln>
            </p:spPr>
          </p:sp>
          <p:sp>
            <p:nvSpPr>
              <p:cNvPr id="85" name="Freeform 85"/>
              <p:cNvSpPr/>
              <p:nvPr/>
            </p:nvSpPr>
            <p:spPr>
              <a:xfrm>
                <a:off x="5103019" y="3789362"/>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9C594C"/>
                </a:solidFill>
              </a:ln>
            </p:spPr>
          </p:sp>
        </p:grpSp>
        <p:sp>
          <p:nvSpPr>
            <p:cNvPr id="87" name="TextBox 87"/>
            <p:cNvSpPr txBox="1"/>
            <p:nvPr/>
          </p:nvSpPr>
          <p:spPr>
            <a:xfrm>
              <a:off x="5253038" y="3759041"/>
              <a:ext cx="230302"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私域</a:t>
              </a:r>
            </a:p>
          </p:txBody>
        </p:sp>
        <p:grpSp>
          <p:nvGrpSpPr>
            <p:cNvPr id="90" name="Group 90"/>
            <p:cNvGrpSpPr/>
            <p:nvPr/>
          </p:nvGrpSpPr>
          <p:grpSpPr>
            <a:xfrm>
              <a:off x="3633730" y="5272030"/>
              <a:ext cx="104891" cy="104891"/>
              <a:chOff x="3633730" y="5272030"/>
              <a:chExt cx="104891" cy="104891"/>
            </a:xfrm>
          </p:grpSpPr>
          <p:sp>
            <p:nvSpPr>
              <p:cNvPr id="88" name="Freeform 88"/>
              <p:cNvSpPr/>
              <p:nvPr/>
            </p:nvSpPr>
            <p:spPr>
              <a:xfrm>
                <a:off x="3633730" y="5272030"/>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9C594C"/>
                </a:solidFill>
              </a:ln>
            </p:spPr>
          </p:sp>
          <p:sp>
            <p:nvSpPr>
              <p:cNvPr id="89" name="Freeform 89"/>
              <p:cNvSpPr/>
              <p:nvPr/>
            </p:nvSpPr>
            <p:spPr>
              <a:xfrm>
                <a:off x="3669506" y="5307806"/>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9C594C"/>
                </a:solidFill>
              </a:ln>
            </p:spPr>
          </p:sp>
        </p:grpSp>
        <p:sp>
          <p:nvSpPr>
            <p:cNvPr id="91" name="TextBox 91"/>
            <p:cNvSpPr txBox="1"/>
            <p:nvPr/>
          </p:nvSpPr>
          <p:spPr>
            <a:xfrm>
              <a:off x="3786188" y="5283041"/>
              <a:ext cx="451079"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系统处理</a:t>
              </a:r>
            </a:p>
          </p:txBody>
        </p:sp>
        <p:grpSp>
          <p:nvGrpSpPr>
            <p:cNvPr id="97" name="Group 97"/>
            <p:cNvGrpSpPr/>
            <p:nvPr/>
          </p:nvGrpSpPr>
          <p:grpSpPr>
            <a:xfrm>
              <a:off x="4790281" y="5274469"/>
              <a:ext cx="77787" cy="100012"/>
              <a:chOff x="4790281" y="5274469"/>
              <a:chExt cx="77787" cy="100012"/>
            </a:xfrm>
          </p:grpSpPr>
          <p:sp>
            <p:nvSpPr>
              <p:cNvPr id="92" name="Freeform 92"/>
              <p:cNvSpPr/>
              <p:nvPr/>
            </p:nvSpPr>
            <p:spPr>
              <a:xfrm>
                <a:off x="4840287" y="52744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9C594C"/>
                </a:solidFill>
              </a:ln>
            </p:spPr>
          </p:sp>
          <p:sp>
            <p:nvSpPr>
              <p:cNvPr id="93" name="Freeform 93"/>
              <p:cNvSpPr/>
              <p:nvPr/>
            </p:nvSpPr>
            <p:spPr>
              <a:xfrm>
                <a:off x="4790281" y="52744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9C594C"/>
                </a:solidFill>
              </a:ln>
            </p:spPr>
          </p:sp>
          <p:sp>
            <p:nvSpPr>
              <p:cNvPr id="94" name="Freeform 94"/>
              <p:cNvSpPr/>
              <p:nvPr/>
            </p:nvSpPr>
            <p:spPr>
              <a:xfrm>
                <a:off x="4812506" y="5307806"/>
                <a:ext cx="9525" cy="9525"/>
              </a:xfrm>
              <a:custGeom>
                <a:avLst/>
                <a:gdLst/>
                <a:ahLst/>
                <a:cxnLst/>
                <a:rect l="l" t="t" r="r" b="b"/>
                <a:pathLst>
                  <a:path w="9525" h="9525">
                    <a:moveTo>
                      <a:pt x="0" y="0"/>
                    </a:moveTo>
                    <a:lnTo>
                      <a:pt x="5556" y="0"/>
                    </a:lnTo>
                  </a:path>
                </a:pathLst>
              </a:custGeom>
              <a:noFill/>
              <a:ln w="11112">
                <a:solidFill>
                  <a:srgbClr val="9C594C"/>
                </a:solidFill>
              </a:ln>
            </p:spPr>
          </p:sp>
          <p:sp>
            <p:nvSpPr>
              <p:cNvPr id="95" name="Freeform 95"/>
              <p:cNvSpPr/>
              <p:nvPr/>
            </p:nvSpPr>
            <p:spPr>
              <a:xfrm>
                <a:off x="4812506" y="5330031"/>
                <a:ext cx="33337" cy="9525"/>
              </a:xfrm>
              <a:custGeom>
                <a:avLst/>
                <a:gdLst/>
                <a:ahLst/>
                <a:cxnLst/>
                <a:rect l="l" t="t" r="r" b="b"/>
                <a:pathLst>
                  <a:path w="33337" h="9525">
                    <a:moveTo>
                      <a:pt x="0" y="0"/>
                    </a:moveTo>
                    <a:lnTo>
                      <a:pt x="33337" y="0"/>
                    </a:lnTo>
                  </a:path>
                </a:pathLst>
              </a:custGeom>
              <a:noFill/>
              <a:ln w="11112">
                <a:solidFill>
                  <a:srgbClr val="9C594C"/>
                </a:solidFill>
              </a:ln>
            </p:spPr>
          </p:sp>
          <p:sp>
            <p:nvSpPr>
              <p:cNvPr id="96" name="Freeform 96"/>
              <p:cNvSpPr/>
              <p:nvPr/>
            </p:nvSpPr>
            <p:spPr>
              <a:xfrm>
                <a:off x="4812506" y="5352256"/>
                <a:ext cx="33337" cy="9525"/>
              </a:xfrm>
              <a:custGeom>
                <a:avLst/>
                <a:gdLst/>
                <a:ahLst/>
                <a:cxnLst/>
                <a:rect l="l" t="t" r="r" b="b"/>
                <a:pathLst>
                  <a:path w="33337" h="9525">
                    <a:moveTo>
                      <a:pt x="0" y="0"/>
                    </a:moveTo>
                    <a:lnTo>
                      <a:pt x="33337" y="0"/>
                    </a:lnTo>
                  </a:path>
                </a:pathLst>
              </a:custGeom>
              <a:noFill/>
              <a:ln w="11112">
                <a:solidFill>
                  <a:srgbClr val="9C594C"/>
                </a:solidFill>
              </a:ln>
            </p:spPr>
          </p:sp>
        </p:grpSp>
        <p:sp>
          <p:nvSpPr>
            <p:cNvPr id="98" name="TextBox 98"/>
            <p:cNvSpPr txBox="1"/>
            <p:nvPr/>
          </p:nvSpPr>
          <p:spPr>
            <a:xfrm>
              <a:off x="4929188" y="5283041"/>
              <a:ext cx="451079"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品牌信息</a:t>
              </a:r>
            </a:p>
          </p:txBody>
        </p:sp>
        <p:sp>
          <p:nvSpPr>
            <p:cNvPr id="99" name="TextBox 99"/>
            <p:cNvSpPr txBox="1"/>
            <p:nvPr/>
          </p:nvSpPr>
          <p:spPr>
            <a:xfrm>
              <a:off x="4251211" y="5530691"/>
              <a:ext cx="451079" cy="161925"/>
            </a:xfrm>
            <a:prstGeom prst="rect">
              <a:avLst/>
            </a:prstGeom>
            <a:noFill/>
            <a:ln>
              <a:noFill/>
            </a:ln>
          </p:spPr>
          <p:txBody>
            <a:bodyPr wrap="none" lIns="0" tIns="0" rIns="0" bIns="0" anchor="t" anchorCtr="0">
              <a:spAutoFit/>
            </a:bodyPr>
            <a:lstStyle/>
            <a:p>
              <a:pPr algn="ctr"/>
              <a:r>
                <a:rPr lang="zh-CN" sz="820" dirty="0">
                  <a:solidFill>
                    <a:srgbClr val="595959"/>
                  </a:solidFill>
                  <a:latin typeface="+mn-lt"/>
                  <a:ea typeface="+mn-ea"/>
                  <a:cs typeface="+mn-cs"/>
                </a:rPr>
                <a:t>其他内容</a:t>
              </a:r>
            </a:p>
          </p:txBody>
        </p:sp>
        <p:sp>
          <p:nvSpPr>
            <p:cNvPr id="100" name="Ellipse 100"/>
            <p:cNvSpPr/>
            <p:nvPr/>
          </p:nvSpPr>
          <p:spPr>
            <a:xfrm>
              <a:off x="5514975" y="4038600"/>
              <a:ext cx="876300" cy="876300"/>
            </a:xfrm>
            <a:prstGeom prst="ellipse">
              <a:avLst/>
            </a:prstGeom>
            <a:solidFill>
              <a:srgbClr val="C9351B"/>
            </a:solidFill>
            <a:ln>
              <a:noFill/>
            </a:ln>
          </p:spPr>
        </p:sp>
        <p:sp>
          <p:nvSpPr>
            <p:cNvPr id="101" name="TextBox 101"/>
            <p:cNvSpPr txBox="1"/>
            <p:nvPr/>
          </p:nvSpPr>
          <p:spPr>
            <a:xfrm>
              <a:off x="5684317" y="43524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品牌私域</a:t>
              </a:r>
            </a:p>
          </p:txBody>
        </p:sp>
        <p:sp>
          <p:nvSpPr>
            <p:cNvPr id="102" name="TextBox 102"/>
            <p:cNvSpPr txBox="1"/>
            <p:nvPr/>
          </p:nvSpPr>
          <p:spPr>
            <a:xfrm>
              <a:off x="5609053" y="4571286"/>
              <a:ext cx="688144" cy="140494"/>
            </a:xfrm>
            <a:prstGeom prst="rect">
              <a:avLst/>
            </a:prstGeom>
            <a:noFill/>
            <a:ln>
              <a:noFill/>
            </a:ln>
          </p:spPr>
          <p:txBody>
            <a:bodyPr wrap="none" lIns="0" tIns="0" rIns="0" bIns="0" anchor="t" anchorCtr="0">
              <a:spAutoFit/>
            </a:bodyPr>
            <a:lstStyle/>
            <a:p>
              <a:pPr algn="ctr"/>
              <a:r>
                <a:rPr lang="zh-CN" sz="710" dirty="0">
                  <a:solidFill>
                    <a:srgbClr val="FBEFD4"/>
                  </a:solidFill>
                  <a:latin typeface="+mn-lt"/>
                  <a:ea typeface="+mn-ea"/>
                  <a:cs typeface="+mn-cs"/>
                </a:rPr>
                <a:t>关系·品牌·系统</a:t>
              </a:r>
            </a:p>
          </p:txBody>
        </p:sp>
        <p:sp>
          <p:nvSpPr>
            <p:cNvPr id="103" name="Line 103"/>
            <p:cNvSpPr/>
            <p:nvPr/>
          </p:nvSpPr>
          <p:spPr>
            <a:xfrm>
              <a:off x="7429500" y="3752850"/>
              <a:ext cx="9525" cy="171450"/>
            </a:xfrm>
            <a:custGeom>
              <a:avLst/>
              <a:gdLst/>
              <a:ahLst/>
              <a:cxnLst/>
              <a:rect l="l" t="t" r="r" b="b"/>
              <a:pathLst>
                <a:path w="9525" h="171450">
                  <a:moveTo>
                    <a:pt x="0" y="171450"/>
                  </a:moveTo>
                  <a:lnTo>
                    <a:pt x="0" y="0"/>
                  </a:lnTo>
                </a:path>
              </a:pathLst>
            </a:custGeom>
            <a:noFill/>
            <a:ln w="9525">
              <a:solidFill>
                <a:srgbClr val="C8CFC4"/>
              </a:solidFill>
            </a:ln>
          </p:spPr>
        </p:sp>
        <p:sp>
          <p:nvSpPr>
            <p:cNvPr id="104" name="Line 104"/>
            <p:cNvSpPr/>
            <p:nvPr/>
          </p:nvSpPr>
          <p:spPr>
            <a:xfrm>
              <a:off x="6838950" y="3886200"/>
              <a:ext cx="209550" cy="209550"/>
            </a:xfrm>
            <a:custGeom>
              <a:avLst/>
              <a:gdLst/>
              <a:ahLst/>
              <a:cxnLst/>
              <a:rect l="l" t="t" r="r" b="b"/>
              <a:pathLst>
                <a:path w="209550" h="209550">
                  <a:moveTo>
                    <a:pt x="209550" y="209550"/>
                  </a:moveTo>
                  <a:lnTo>
                    <a:pt x="0" y="0"/>
                  </a:lnTo>
                </a:path>
              </a:pathLst>
            </a:custGeom>
            <a:noFill/>
            <a:ln w="9525">
              <a:solidFill>
                <a:srgbClr val="C8CFC4"/>
              </a:solidFill>
            </a:ln>
          </p:spPr>
        </p:sp>
        <p:sp>
          <p:nvSpPr>
            <p:cNvPr id="105" name="Line 105"/>
            <p:cNvSpPr/>
            <p:nvPr/>
          </p:nvSpPr>
          <p:spPr>
            <a:xfrm>
              <a:off x="7981950" y="4476750"/>
              <a:ext cx="247650" cy="9525"/>
            </a:xfrm>
            <a:custGeom>
              <a:avLst/>
              <a:gdLst/>
              <a:ahLst/>
              <a:cxnLst/>
              <a:rect l="l" t="t" r="r" b="b"/>
              <a:pathLst>
                <a:path w="247650" h="9525">
                  <a:moveTo>
                    <a:pt x="0" y="0"/>
                  </a:moveTo>
                  <a:lnTo>
                    <a:pt x="247650" y="0"/>
                  </a:lnTo>
                </a:path>
              </a:pathLst>
            </a:custGeom>
            <a:noFill/>
            <a:ln w="9525">
              <a:solidFill>
                <a:srgbClr val="C8CFC4"/>
              </a:solidFill>
            </a:ln>
          </p:spPr>
        </p:sp>
        <p:sp>
          <p:nvSpPr>
            <p:cNvPr id="106" name="Line 106"/>
            <p:cNvSpPr/>
            <p:nvPr/>
          </p:nvSpPr>
          <p:spPr>
            <a:xfrm>
              <a:off x="6800850" y="4867275"/>
              <a:ext cx="238125" cy="352425"/>
            </a:xfrm>
            <a:custGeom>
              <a:avLst/>
              <a:gdLst/>
              <a:ahLst/>
              <a:cxnLst/>
              <a:rect l="l" t="t" r="r" b="b"/>
              <a:pathLst>
                <a:path w="238125" h="352425">
                  <a:moveTo>
                    <a:pt x="238125" y="0"/>
                  </a:moveTo>
                  <a:lnTo>
                    <a:pt x="0" y="352425"/>
                  </a:lnTo>
                </a:path>
              </a:pathLst>
            </a:custGeom>
            <a:noFill/>
            <a:ln w="9525">
              <a:solidFill>
                <a:srgbClr val="C8CFC4"/>
              </a:solidFill>
            </a:ln>
          </p:spPr>
        </p:sp>
        <p:sp>
          <p:nvSpPr>
            <p:cNvPr id="107" name="Line 107"/>
            <p:cNvSpPr/>
            <p:nvPr/>
          </p:nvSpPr>
          <p:spPr>
            <a:xfrm>
              <a:off x="7820025" y="4867275"/>
              <a:ext cx="200025" cy="352425"/>
            </a:xfrm>
            <a:custGeom>
              <a:avLst/>
              <a:gdLst/>
              <a:ahLst/>
              <a:cxnLst/>
              <a:rect l="l" t="t" r="r" b="b"/>
              <a:pathLst>
                <a:path w="200025" h="352425">
                  <a:moveTo>
                    <a:pt x="0" y="0"/>
                  </a:moveTo>
                  <a:lnTo>
                    <a:pt x="200025" y="352425"/>
                  </a:lnTo>
                </a:path>
              </a:pathLst>
            </a:custGeom>
            <a:noFill/>
            <a:ln w="9525">
              <a:solidFill>
                <a:srgbClr val="C8CFC4"/>
              </a:solidFill>
            </a:ln>
          </p:spPr>
        </p:sp>
        <p:sp>
          <p:nvSpPr>
            <p:cNvPr id="108" name="Line 108"/>
            <p:cNvSpPr/>
            <p:nvPr/>
          </p:nvSpPr>
          <p:spPr>
            <a:xfrm>
              <a:off x="7429500" y="5029200"/>
              <a:ext cx="9525" cy="438150"/>
            </a:xfrm>
            <a:custGeom>
              <a:avLst/>
              <a:gdLst/>
              <a:ahLst/>
              <a:cxnLst/>
              <a:rect l="l" t="t" r="r" b="b"/>
              <a:pathLst>
                <a:path w="9525" h="438150">
                  <a:moveTo>
                    <a:pt x="0" y="0"/>
                  </a:moveTo>
                  <a:lnTo>
                    <a:pt x="0" y="438150"/>
                  </a:lnTo>
                </a:path>
              </a:pathLst>
            </a:custGeom>
            <a:noFill/>
            <a:ln w="9525">
              <a:solidFill>
                <a:srgbClr val="C8CFC4"/>
              </a:solidFill>
            </a:ln>
          </p:spPr>
        </p:sp>
        <p:sp>
          <p:nvSpPr>
            <p:cNvPr id="109" name="Ellipse 109"/>
            <p:cNvSpPr/>
            <p:nvPr/>
          </p:nvSpPr>
          <p:spPr>
            <a:xfrm>
              <a:off x="6896100" y="3943350"/>
              <a:ext cx="1066800" cy="1066800"/>
            </a:xfrm>
            <a:prstGeom prst="ellipse">
              <a:avLst/>
            </a:prstGeom>
            <a:solidFill>
              <a:srgbClr val="E83C1E"/>
            </a:solidFill>
            <a:ln>
              <a:noFill/>
            </a:ln>
          </p:spPr>
        </p:sp>
        <p:sp>
          <p:nvSpPr>
            <p:cNvPr id="110" name="TextBox 110"/>
            <p:cNvSpPr txBox="1"/>
            <p:nvPr/>
          </p:nvSpPr>
          <p:spPr>
            <a:xfrm>
              <a:off x="7292619" y="43333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公域</a:t>
              </a:r>
            </a:p>
          </p:txBody>
        </p:sp>
        <p:sp>
          <p:nvSpPr>
            <p:cNvPr id="111" name="TextBox 111"/>
            <p:cNvSpPr txBox="1"/>
            <p:nvPr/>
          </p:nvSpPr>
          <p:spPr>
            <a:xfrm>
              <a:off x="7160692" y="45048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两者结合</a:t>
              </a:r>
            </a:p>
          </p:txBody>
        </p:sp>
        <p:grpSp>
          <p:nvGrpSpPr>
            <p:cNvPr id="114" name="Group 114"/>
            <p:cNvGrpSpPr/>
            <p:nvPr/>
          </p:nvGrpSpPr>
          <p:grpSpPr>
            <a:xfrm>
              <a:off x="7122319" y="3576637"/>
              <a:ext cx="100012" cy="66675"/>
              <a:chOff x="7122319" y="3576637"/>
              <a:chExt cx="100012" cy="66675"/>
            </a:xfrm>
          </p:grpSpPr>
          <p:sp>
            <p:nvSpPr>
              <p:cNvPr id="112" name="Freeform 112"/>
              <p:cNvSpPr/>
              <p:nvPr/>
            </p:nvSpPr>
            <p:spPr>
              <a:xfrm>
                <a:off x="7188994" y="3585356"/>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9C594C"/>
                </a:solidFill>
              </a:ln>
            </p:spPr>
          </p:sp>
          <p:sp>
            <p:nvSpPr>
              <p:cNvPr id="113" name="Freeform 113"/>
              <p:cNvSpPr/>
              <p:nvPr/>
            </p:nvSpPr>
            <p:spPr>
              <a:xfrm>
                <a:off x="7122319" y="3576637"/>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9C594C"/>
                </a:solidFill>
              </a:ln>
            </p:spPr>
          </p:sp>
        </p:grpSp>
        <p:sp>
          <p:nvSpPr>
            <p:cNvPr id="115" name="TextBox 115"/>
            <p:cNvSpPr txBox="1"/>
            <p:nvPr/>
          </p:nvSpPr>
          <p:spPr>
            <a:xfrm>
              <a:off x="7424738" y="3568541"/>
              <a:ext cx="451079"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品牌触达</a:t>
              </a:r>
            </a:p>
          </p:txBody>
        </p:sp>
        <p:grpSp>
          <p:nvGrpSpPr>
            <p:cNvPr id="119" name="Group 119"/>
            <p:cNvGrpSpPr/>
            <p:nvPr/>
          </p:nvGrpSpPr>
          <p:grpSpPr>
            <a:xfrm>
              <a:off x="6428581" y="3750469"/>
              <a:ext cx="77787" cy="100012"/>
              <a:chOff x="6428581" y="3750469"/>
              <a:chExt cx="77787" cy="100012"/>
            </a:xfrm>
          </p:grpSpPr>
          <p:sp>
            <p:nvSpPr>
              <p:cNvPr id="116" name="Freeform 116"/>
              <p:cNvSpPr/>
              <p:nvPr/>
            </p:nvSpPr>
            <p:spPr>
              <a:xfrm>
                <a:off x="6428581" y="3783806"/>
                <a:ext cx="77787" cy="66675"/>
              </a:xfrm>
              <a:custGeom>
                <a:avLst/>
                <a:gdLst/>
                <a:ahLst/>
                <a:cxnLst/>
                <a:rect l="l" t="t" r="r" b="b"/>
                <a:pathLst>
                  <a:path w="77787" h="66675">
                    <a:moveTo>
                      <a:pt x="16669" y="0"/>
                    </a:moveTo>
                    <a:lnTo>
                      <a:pt x="11112" y="0"/>
                    </a:lnTo>
                    <a:cubicBezTo>
                      <a:pt x="4975" y="0"/>
                      <a:pt x="0" y="4975"/>
                      <a:pt x="0" y="11112"/>
                    </a:cubicBezTo>
                    <a:lnTo>
                      <a:pt x="0" y="55562"/>
                    </a:lnTo>
                    <a:cubicBezTo>
                      <a:pt x="0" y="61700"/>
                      <a:pt x="4975" y="66675"/>
                      <a:pt x="11112" y="66675"/>
                    </a:cubicBezTo>
                    <a:lnTo>
                      <a:pt x="66675" y="66675"/>
                    </a:lnTo>
                    <a:cubicBezTo>
                      <a:pt x="72812" y="66675"/>
                      <a:pt x="77787" y="61700"/>
                      <a:pt x="77787" y="55562"/>
                    </a:cubicBezTo>
                    <a:lnTo>
                      <a:pt x="77787" y="11112"/>
                    </a:lnTo>
                    <a:cubicBezTo>
                      <a:pt x="77787" y="4975"/>
                      <a:pt x="72812" y="0"/>
                      <a:pt x="66675" y="0"/>
                    </a:cubicBezTo>
                    <a:lnTo>
                      <a:pt x="61119" y="0"/>
                    </a:lnTo>
                  </a:path>
                </a:pathLst>
              </a:custGeom>
              <a:noFill/>
              <a:ln w="11112">
                <a:solidFill>
                  <a:srgbClr val="9C594C"/>
                </a:solidFill>
              </a:ln>
            </p:spPr>
          </p:sp>
          <p:sp>
            <p:nvSpPr>
              <p:cNvPr id="117" name="Freeform 117"/>
              <p:cNvSpPr/>
              <p:nvPr/>
            </p:nvSpPr>
            <p:spPr>
              <a:xfrm>
                <a:off x="6467475" y="3750469"/>
                <a:ext cx="9525" cy="61119"/>
              </a:xfrm>
              <a:custGeom>
                <a:avLst/>
                <a:gdLst/>
                <a:ahLst/>
                <a:cxnLst/>
                <a:rect l="l" t="t" r="r" b="b"/>
                <a:pathLst>
                  <a:path w="9525" h="61119">
                    <a:moveTo>
                      <a:pt x="0" y="61119"/>
                    </a:moveTo>
                    <a:lnTo>
                      <a:pt x="0" y="0"/>
                    </a:lnTo>
                  </a:path>
                </a:pathLst>
              </a:custGeom>
              <a:noFill/>
              <a:ln w="11112">
                <a:solidFill>
                  <a:srgbClr val="9C594C"/>
                </a:solidFill>
              </a:ln>
            </p:spPr>
          </p:sp>
          <p:sp>
            <p:nvSpPr>
              <p:cNvPr id="118" name="Freeform 118"/>
              <p:cNvSpPr/>
              <p:nvPr/>
            </p:nvSpPr>
            <p:spPr>
              <a:xfrm>
                <a:off x="6450806" y="3750469"/>
                <a:ext cx="33337" cy="16669"/>
              </a:xfrm>
              <a:custGeom>
                <a:avLst/>
                <a:gdLst/>
                <a:ahLst/>
                <a:cxnLst/>
                <a:rect l="l" t="t" r="r" b="b"/>
                <a:pathLst>
                  <a:path w="33337" h="16669">
                    <a:moveTo>
                      <a:pt x="0" y="16669"/>
                    </a:moveTo>
                    <a:lnTo>
                      <a:pt x="16669" y="0"/>
                    </a:lnTo>
                    <a:lnTo>
                      <a:pt x="33337" y="16669"/>
                    </a:lnTo>
                  </a:path>
                </a:pathLst>
              </a:custGeom>
              <a:noFill/>
              <a:ln w="11112">
                <a:solidFill>
                  <a:srgbClr val="9C594C"/>
                </a:solidFill>
              </a:ln>
            </p:spPr>
          </p:sp>
        </p:grpSp>
        <p:sp>
          <p:nvSpPr>
            <p:cNvPr id="120" name="TextBox 120"/>
            <p:cNvSpPr txBox="1"/>
            <p:nvPr/>
          </p:nvSpPr>
          <p:spPr>
            <a:xfrm>
              <a:off x="6567488" y="3759041"/>
              <a:ext cx="230302"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公域</a:t>
              </a:r>
            </a:p>
          </p:txBody>
        </p:sp>
        <p:grpSp>
          <p:nvGrpSpPr>
            <p:cNvPr id="127" name="Group 127"/>
            <p:cNvGrpSpPr/>
            <p:nvPr/>
          </p:nvGrpSpPr>
          <p:grpSpPr>
            <a:xfrm>
              <a:off x="8284369" y="4321969"/>
              <a:ext cx="100012" cy="100012"/>
              <a:chOff x="8284369" y="4321969"/>
              <a:chExt cx="100012" cy="100012"/>
            </a:xfrm>
          </p:grpSpPr>
          <p:sp>
            <p:nvSpPr>
              <p:cNvPr id="121" name="Freeform 121"/>
              <p:cNvSpPr/>
              <p:nvPr/>
            </p:nvSpPr>
            <p:spPr>
              <a:xfrm>
                <a:off x="8323262" y="436641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594C"/>
                </a:solidFill>
              </a:ln>
            </p:spPr>
          </p:sp>
          <p:sp>
            <p:nvSpPr>
              <p:cNvPr id="122" name="Freeform 122"/>
              <p:cNvSpPr/>
              <p:nvPr/>
            </p:nvSpPr>
            <p:spPr>
              <a:xfrm>
                <a:off x="8312150" y="4405312"/>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9C594C"/>
                </a:solidFill>
              </a:ln>
            </p:spPr>
          </p:sp>
          <p:sp>
            <p:nvSpPr>
              <p:cNvPr id="123" name="Freeform 123"/>
              <p:cNvSpPr/>
              <p:nvPr/>
            </p:nvSpPr>
            <p:spPr>
              <a:xfrm>
                <a:off x="8351044" y="43219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594C"/>
                </a:solidFill>
              </a:ln>
            </p:spPr>
          </p:sp>
          <p:sp>
            <p:nvSpPr>
              <p:cNvPr id="124" name="Freeform 124"/>
              <p:cNvSpPr/>
              <p:nvPr/>
            </p:nvSpPr>
            <p:spPr>
              <a:xfrm>
                <a:off x="8362156" y="4360862"/>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9C594C"/>
                </a:solidFill>
              </a:ln>
            </p:spPr>
          </p:sp>
          <p:sp>
            <p:nvSpPr>
              <p:cNvPr id="125" name="Freeform 125"/>
              <p:cNvSpPr/>
              <p:nvPr/>
            </p:nvSpPr>
            <p:spPr>
              <a:xfrm>
                <a:off x="8295481" y="43219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594C"/>
                </a:solidFill>
              </a:ln>
            </p:spPr>
          </p:sp>
          <p:sp>
            <p:nvSpPr>
              <p:cNvPr id="126" name="Freeform 126"/>
              <p:cNvSpPr/>
              <p:nvPr/>
            </p:nvSpPr>
            <p:spPr>
              <a:xfrm>
                <a:off x="8284369" y="4360862"/>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9C594C"/>
                </a:solidFill>
              </a:ln>
            </p:spPr>
          </p:sp>
        </p:grpSp>
        <p:sp>
          <p:nvSpPr>
            <p:cNvPr id="128" name="TextBox 128"/>
            <p:cNvSpPr txBox="1"/>
            <p:nvPr/>
          </p:nvSpPr>
          <p:spPr>
            <a:xfrm>
              <a:off x="8434388" y="4330541"/>
              <a:ext cx="230302"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私域</a:t>
              </a:r>
            </a:p>
          </p:txBody>
        </p:sp>
        <p:grpSp>
          <p:nvGrpSpPr>
            <p:cNvPr id="131" name="Group 131"/>
            <p:cNvGrpSpPr/>
            <p:nvPr/>
          </p:nvGrpSpPr>
          <p:grpSpPr>
            <a:xfrm>
              <a:off x="6586480" y="5272030"/>
              <a:ext cx="104891" cy="104891"/>
              <a:chOff x="6586480" y="5272030"/>
              <a:chExt cx="104891" cy="104891"/>
            </a:xfrm>
          </p:grpSpPr>
          <p:sp>
            <p:nvSpPr>
              <p:cNvPr id="129" name="Freeform 129"/>
              <p:cNvSpPr/>
              <p:nvPr/>
            </p:nvSpPr>
            <p:spPr>
              <a:xfrm>
                <a:off x="6586480" y="5272030"/>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9C594C"/>
                </a:solidFill>
              </a:ln>
            </p:spPr>
          </p:sp>
          <p:sp>
            <p:nvSpPr>
              <p:cNvPr id="130" name="Freeform 130"/>
              <p:cNvSpPr/>
              <p:nvPr/>
            </p:nvSpPr>
            <p:spPr>
              <a:xfrm>
                <a:off x="6622256" y="5307806"/>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9C594C"/>
                </a:solidFill>
              </a:ln>
            </p:spPr>
          </p:sp>
        </p:grpSp>
        <p:sp>
          <p:nvSpPr>
            <p:cNvPr id="132" name="TextBox 132"/>
            <p:cNvSpPr txBox="1"/>
            <p:nvPr/>
          </p:nvSpPr>
          <p:spPr>
            <a:xfrm>
              <a:off x="6738938" y="5283041"/>
              <a:ext cx="451079"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系统处理</a:t>
              </a:r>
            </a:p>
          </p:txBody>
        </p:sp>
        <p:grpSp>
          <p:nvGrpSpPr>
            <p:cNvPr id="138" name="Group 138"/>
            <p:cNvGrpSpPr/>
            <p:nvPr/>
          </p:nvGrpSpPr>
          <p:grpSpPr>
            <a:xfrm>
              <a:off x="7743031" y="5274469"/>
              <a:ext cx="77787" cy="100012"/>
              <a:chOff x="7743031" y="5274469"/>
              <a:chExt cx="77787" cy="100012"/>
            </a:xfrm>
          </p:grpSpPr>
          <p:sp>
            <p:nvSpPr>
              <p:cNvPr id="133" name="Freeform 133"/>
              <p:cNvSpPr/>
              <p:nvPr/>
            </p:nvSpPr>
            <p:spPr>
              <a:xfrm>
                <a:off x="7793037" y="5274469"/>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9C594C"/>
                </a:solidFill>
              </a:ln>
            </p:spPr>
          </p:sp>
          <p:sp>
            <p:nvSpPr>
              <p:cNvPr id="134" name="Freeform 134"/>
              <p:cNvSpPr/>
              <p:nvPr/>
            </p:nvSpPr>
            <p:spPr>
              <a:xfrm>
                <a:off x="7743031" y="5274469"/>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9C594C"/>
                </a:solidFill>
              </a:ln>
            </p:spPr>
          </p:sp>
          <p:sp>
            <p:nvSpPr>
              <p:cNvPr id="135" name="Freeform 135"/>
              <p:cNvSpPr/>
              <p:nvPr/>
            </p:nvSpPr>
            <p:spPr>
              <a:xfrm>
                <a:off x="7765256" y="5307806"/>
                <a:ext cx="9525" cy="9525"/>
              </a:xfrm>
              <a:custGeom>
                <a:avLst/>
                <a:gdLst/>
                <a:ahLst/>
                <a:cxnLst/>
                <a:rect l="l" t="t" r="r" b="b"/>
                <a:pathLst>
                  <a:path w="9525" h="9525">
                    <a:moveTo>
                      <a:pt x="0" y="0"/>
                    </a:moveTo>
                    <a:lnTo>
                      <a:pt x="5556" y="0"/>
                    </a:lnTo>
                  </a:path>
                </a:pathLst>
              </a:custGeom>
              <a:noFill/>
              <a:ln w="11112">
                <a:solidFill>
                  <a:srgbClr val="9C594C"/>
                </a:solidFill>
              </a:ln>
            </p:spPr>
          </p:sp>
          <p:sp>
            <p:nvSpPr>
              <p:cNvPr id="136" name="Freeform 136"/>
              <p:cNvSpPr/>
              <p:nvPr/>
            </p:nvSpPr>
            <p:spPr>
              <a:xfrm>
                <a:off x="7765256" y="5330031"/>
                <a:ext cx="33337" cy="9525"/>
              </a:xfrm>
              <a:custGeom>
                <a:avLst/>
                <a:gdLst/>
                <a:ahLst/>
                <a:cxnLst/>
                <a:rect l="l" t="t" r="r" b="b"/>
                <a:pathLst>
                  <a:path w="33337" h="9525">
                    <a:moveTo>
                      <a:pt x="0" y="0"/>
                    </a:moveTo>
                    <a:lnTo>
                      <a:pt x="33337" y="0"/>
                    </a:lnTo>
                  </a:path>
                </a:pathLst>
              </a:custGeom>
              <a:noFill/>
              <a:ln w="11112">
                <a:solidFill>
                  <a:srgbClr val="9C594C"/>
                </a:solidFill>
              </a:ln>
            </p:spPr>
          </p:sp>
          <p:sp>
            <p:nvSpPr>
              <p:cNvPr id="137" name="Freeform 137"/>
              <p:cNvSpPr/>
              <p:nvPr/>
            </p:nvSpPr>
            <p:spPr>
              <a:xfrm>
                <a:off x="7765256" y="5352256"/>
                <a:ext cx="33337" cy="9525"/>
              </a:xfrm>
              <a:custGeom>
                <a:avLst/>
                <a:gdLst/>
                <a:ahLst/>
                <a:cxnLst/>
                <a:rect l="l" t="t" r="r" b="b"/>
                <a:pathLst>
                  <a:path w="33337" h="9525">
                    <a:moveTo>
                      <a:pt x="0" y="0"/>
                    </a:moveTo>
                    <a:lnTo>
                      <a:pt x="33337" y="0"/>
                    </a:lnTo>
                  </a:path>
                </a:pathLst>
              </a:custGeom>
              <a:noFill/>
              <a:ln w="11112">
                <a:solidFill>
                  <a:srgbClr val="9C594C"/>
                </a:solidFill>
              </a:ln>
            </p:spPr>
          </p:sp>
        </p:grpSp>
        <p:sp>
          <p:nvSpPr>
            <p:cNvPr id="139" name="TextBox 139"/>
            <p:cNvSpPr txBox="1"/>
            <p:nvPr/>
          </p:nvSpPr>
          <p:spPr>
            <a:xfrm>
              <a:off x="7881938" y="5283041"/>
              <a:ext cx="451079" cy="161925"/>
            </a:xfrm>
            <a:prstGeom prst="rect">
              <a:avLst/>
            </a:prstGeom>
            <a:noFill/>
            <a:ln>
              <a:noFill/>
            </a:ln>
          </p:spPr>
          <p:txBody>
            <a:bodyPr wrap="none" lIns="0" tIns="0" rIns="0" bIns="0" anchor="t" anchorCtr="0">
              <a:spAutoFit/>
            </a:bodyPr>
            <a:lstStyle/>
            <a:p>
              <a:pPr algn="l"/>
              <a:r>
                <a:rPr lang="zh-CN" sz="820" dirty="0">
                  <a:solidFill>
                    <a:srgbClr val="595959"/>
                  </a:solidFill>
                  <a:latin typeface="+mn-lt"/>
                  <a:ea typeface="+mn-ea"/>
                  <a:cs typeface="+mn-cs"/>
                </a:rPr>
                <a:t>品牌信息</a:t>
              </a:r>
            </a:p>
          </p:txBody>
        </p:sp>
        <p:sp>
          <p:nvSpPr>
            <p:cNvPr id="140" name="TextBox 140"/>
            <p:cNvSpPr txBox="1"/>
            <p:nvPr/>
          </p:nvSpPr>
          <p:spPr>
            <a:xfrm>
              <a:off x="7203961" y="5530691"/>
              <a:ext cx="451079" cy="161925"/>
            </a:xfrm>
            <a:prstGeom prst="rect">
              <a:avLst/>
            </a:prstGeom>
            <a:noFill/>
            <a:ln>
              <a:noFill/>
            </a:ln>
          </p:spPr>
          <p:txBody>
            <a:bodyPr wrap="none" lIns="0" tIns="0" rIns="0" bIns="0" anchor="t" anchorCtr="0">
              <a:spAutoFit/>
            </a:bodyPr>
            <a:lstStyle/>
            <a:p>
              <a:pPr algn="ctr"/>
              <a:r>
                <a:rPr lang="zh-CN" sz="820" dirty="0">
                  <a:solidFill>
                    <a:srgbClr val="595959"/>
                  </a:solidFill>
                  <a:latin typeface="+mn-lt"/>
                  <a:ea typeface="+mn-ea"/>
                  <a:cs typeface="+mn-cs"/>
                </a:rPr>
                <a:t>其他内容</a:t>
              </a:r>
            </a:p>
          </p:txBody>
        </p:sp>
        <p:sp>
          <p:nvSpPr>
            <p:cNvPr id="141" name="TextBox 141"/>
            <p:cNvSpPr txBox="1"/>
            <p:nvPr/>
          </p:nvSpPr>
          <p:spPr>
            <a:xfrm>
              <a:off x="5393055" y="5767388"/>
              <a:ext cx="1120140" cy="147638"/>
            </a:xfrm>
            <a:prstGeom prst="rect">
              <a:avLst/>
            </a:prstGeom>
            <a:noFill/>
            <a:ln>
              <a:noFill/>
            </a:ln>
          </p:spPr>
          <p:txBody>
            <a:bodyPr wrap="none" lIns="0" tIns="0" rIns="0" bIns="0" anchor="t" anchorCtr="0">
              <a:spAutoFit/>
            </a:bodyPr>
            <a:lstStyle/>
            <a:p>
              <a:pPr algn="ctr"/>
              <a:r>
                <a:rPr lang="zh-CN" sz="750" dirty="0">
                  <a:solidFill>
                    <a:srgbClr val="8C8C8C"/>
                  </a:solidFill>
                  <a:latin typeface="+mn-lt"/>
                  <a:ea typeface="+mn-ea"/>
                  <a:cs typeface="+mn-cs"/>
                </a:rPr>
                <a:t>有效支撑长期拟投资策略</a:t>
              </a:r>
            </a:p>
          </p:txBody>
        </p:sp>
        <p:sp>
          <p:nvSpPr>
            <p:cNvPr id="142" name="Rectangle 142"/>
            <p:cNvSpPr/>
            <p:nvPr/>
          </p:nvSpPr>
          <p:spPr>
            <a:xfrm>
              <a:off x="4429125" y="5943600"/>
              <a:ext cx="3048000" cy="285750"/>
            </a:xfrm>
            <a:prstGeom prst="rect">
              <a:avLst/>
            </a:prstGeom>
            <a:solidFill>
              <a:srgbClr val="E9563C"/>
            </a:solidFill>
            <a:ln>
              <a:noFill/>
            </a:ln>
          </p:spPr>
        </p:sp>
        <p:sp>
          <p:nvSpPr>
            <p:cNvPr id="143" name="TextBox 143"/>
            <p:cNvSpPr txBox="1"/>
            <p:nvPr/>
          </p:nvSpPr>
          <p:spPr>
            <a:xfrm>
              <a:off x="5354498" y="6028849"/>
              <a:ext cx="1197254" cy="190690"/>
            </a:xfrm>
            <a:prstGeom prst="rect">
              <a:avLst/>
            </a:prstGeom>
            <a:noFill/>
            <a:ln>
              <a:noFill/>
            </a:ln>
          </p:spPr>
          <p:txBody>
            <a:bodyPr wrap="none" lIns="0" tIns="0" rIns="0" bIns="0" anchor="t" anchorCtr="0">
              <a:spAutoFit/>
            </a:bodyPr>
            <a:lstStyle/>
            <a:p>
              <a:pPr algn="ctr"/>
              <a:r>
                <a:rPr lang="zh-CN" sz="980" b="1" dirty="0">
                  <a:solidFill>
                    <a:srgbClr val="5C0E00"/>
                  </a:solidFill>
                  <a:latin typeface="+mn-lt"/>
                  <a:ea typeface="+mn-ea"/>
                  <a:cs typeface="+mn-cs"/>
                </a:rPr>
                <a:t>私域用户角色关系图</a:t>
              </a:r>
            </a:p>
          </p:txBody>
        </p:sp>
      </p:grpSp>
      <p:grpSp>
        <p:nvGrpSpPr>
          <p:cNvPr id="199" name="card-right-battles"/>
          <p:cNvGrpSpPr/>
          <p:nvPr/>
        </p:nvGrpSpPr>
        <p:grpSpPr>
          <a:xfrm>
            <a:off x="9239250" y="2476500"/>
            <a:ext cx="2571750" cy="3981450"/>
            <a:chOff x="9239250" y="2476500"/>
            <a:chExt cx="2571750" cy="3981450"/>
          </a:xfrm>
        </p:grpSpPr>
        <p:sp>
          <p:nvSpPr>
            <p:cNvPr id="145" name="Rectangle 145"/>
            <p:cNvSpPr/>
            <p:nvPr/>
          </p:nvSpPr>
          <p:spPr>
            <a:xfrm>
              <a:off x="9239250" y="2476500"/>
              <a:ext cx="2571750" cy="3981450"/>
            </a:xfrm>
            <a:prstGeom prst="rect">
              <a:avLst/>
            </a:prstGeom>
            <a:solidFill>
              <a:srgbClr val="FFFFFF"/>
            </a:solidFill>
            <a:ln w="11430">
              <a:solidFill>
                <a:srgbClr val="C9D8BD"/>
              </a:solidFill>
              <a:custDash>
                <a:ds d="416667" sp="250000"/>
              </a:custDash>
            </a:ln>
          </p:spPr>
        </p:sp>
        <p:sp>
          <p:nvSpPr>
            <p:cNvPr id="146" name="TextBox 146"/>
            <p:cNvSpPr txBox="1"/>
            <p:nvPr/>
          </p:nvSpPr>
          <p:spPr>
            <a:xfrm>
              <a:off x="10095738" y="2648902"/>
              <a:ext cx="858774" cy="205359"/>
            </a:xfrm>
            <a:prstGeom prst="rect">
              <a:avLst/>
            </a:prstGeom>
            <a:noFill/>
            <a:ln>
              <a:noFill/>
            </a:ln>
          </p:spPr>
          <p:txBody>
            <a:bodyPr wrap="none" lIns="0" tIns="0" rIns="0" bIns="0" anchor="t" anchorCtr="0">
              <a:spAutoFit/>
            </a:bodyPr>
            <a:lstStyle/>
            <a:p>
              <a:pPr algn="ctr"/>
              <a:r>
                <a:rPr lang="zh-CN" sz="1050" b="1" dirty="0">
                  <a:solidFill>
                    <a:srgbClr val="8C4B3F"/>
                  </a:solidFill>
                  <a:latin typeface="+mn-lt"/>
                  <a:ea typeface="+mn-ea"/>
                  <a:cs typeface="+mn-cs"/>
                </a:rPr>
                <a:t>四大微型战役</a:t>
              </a:r>
            </a:p>
          </p:txBody>
        </p:sp>
        <p:sp>
          <p:nvSpPr>
            <p:cNvPr id="147" name="Ellipse 147"/>
            <p:cNvSpPr/>
            <p:nvPr/>
          </p:nvSpPr>
          <p:spPr>
            <a:xfrm>
              <a:off x="9372600" y="2924175"/>
              <a:ext cx="171450" cy="171450"/>
            </a:xfrm>
            <a:prstGeom prst="ellipse">
              <a:avLst/>
            </a:prstGeom>
            <a:solidFill>
              <a:srgbClr val="9C594C"/>
            </a:solidFill>
            <a:ln>
              <a:noFill/>
            </a:ln>
          </p:spPr>
        </p:sp>
        <p:sp>
          <p:nvSpPr>
            <p:cNvPr id="148" name="TextBox 148"/>
            <p:cNvSpPr txBox="1"/>
            <p:nvPr/>
          </p:nvSpPr>
          <p:spPr>
            <a:xfrm>
              <a:off x="9424409" y="29670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1</a:t>
              </a:r>
            </a:p>
          </p:txBody>
        </p:sp>
        <p:sp>
          <p:nvSpPr>
            <p:cNvPr id="149" name="TextBox 149"/>
            <p:cNvSpPr txBox="1"/>
            <p:nvPr/>
          </p:nvSpPr>
          <p:spPr>
            <a:xfrm>
              <a:off x="9615488" y="2956322"/>
              <a:ext cx="768782"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扩大关系数量</a:t>
              </a:r>
            </a:p>
          </p:txBody>
        </p:sp>
        <p:grpSp>
          <p:nvGrpSpPr>
            <p:cNvPr id="154" name="Group 154"/>
            <p:cNvGrpSpPr/>
            <p:nvPr/>
          </p:nvGrpSpPr>
          <p:grpSpPr>
            <a:xfrm>
              <a:off x="9541669" y="3217069"/>
              <a:ext cx="100012" cy="100012"/>
              <a:chOff x="9541669" y="3217069"/>
              <a:chExt cx="100012" cy="100012"/>
            </a:xfrm>
          </p:grpSpPr>
          <p:sp>
            <p:nvSpPr>
              <p:cNvPr id="150" name="Freeform 150"/>
              <p:cNvSpPr/>
              <p:nvPr/>
            </p:nvSpPr>
            <p:spPr>
              <a:xfrm>
                <a:off x="9552781" y="32170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9C594C"/>
                </a:solidFill>
              </a:ln>
            </p:spPr>
          </p:sp>
          <p:sp>
            <p:nvSpPr>
              <p:cNvPr id="151" name="Freeform 151"/>
              <p:cNvSpPr/>
              <p:nvPr/>
            </p:nvSpPr>
            <p:spPr>
              <a:xfrm>
                <a:off x="9541669" y="32837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9C594C"/>
                </a:solidFill>
              </a:ln>
            </p:spPr>
          </p:sp>
          <p:sp>
            <p:nvSpPr>
              <p:cNvPr id="152" name="Freeform 152"/>
              <p:cNvSpPr/>
              <p:nvPr/>
            </p:nvSpPr>
            <p:spPr>
              <a:xfrm>
                <a:off x="9613900" y="32177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9C594C"/>
                </a:solidFill>
              </a:ln>
            </p:spPr>
          </p:sp>
          <p:sp>
            <p:nvSpPr>
              <p:cNvPr id="153" name="Freeform 153"/>
              <p:cNvSpPr/>
              <p:nvPr/>
            </p:nvSpPr>
            <p:spPr>
              <a:xfrm>
                <a:off x="9625012" y="32845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9C594C"/>
                </a:solidFill>
              </a:ln>
            </p:spPr>
          </p:sp>
        </p:grpSp>
        <p:sp>
          <p:nvSpPr>
            <p:cNvPr id="155" name="TextBox 155"/>
            <p:cNvSpPr txBox="1"/>
            <p:nvPr/>
          </p:nvSpPr>
          <p:spPr>
            <a:xfrm>
              <a:off x="9710738" y="3229689"/>
              <a:ext cx="647624"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全域招募拉新</a:t>
              </a:r>
            </a:p>
          </p:txBody>
        </p:sp>
        <p:grpSp>
          <p:nvGrpSpPr>
            <p:cNvPr id="159" name="Group 159"/>
            <p:cNvGrpSpPr/>
            <p:nvPr/>
          </p:nvGrpSpPr>
          <p:grpSpPr>
            <a:xfrm>
              <a:off x="9547224" y="3448510"/>
              <a:ext cx="91608" cy="94318"/>
              <a:chOff x="9547224" y="3448510"/>
              <a:chExt cx="91608" cy="94318"/>
            </a:xfrm>
          </p:grpSpPr>
          <p:sp>
            <p:nvSpPr>
              <p:cNvPr id="156" name="Freeform 156"/>
              <p:cNvSpPr/>
              <p:nvPr/>
            </p:nvSpPr>
            <p:spPr>
              <a:xfrm>
                <a:off x="9575006" y="3479006"/>
                <a:ext cx="33337" cy="33337"/>
              </a:xfrm>
              <a:custGeom>
                <a:avLst/>
                <a:gdLst/>
                <a:ahLst/>
                <a:cxnLst/>
                <a:rect l="l" t="t" r="r" b="b"/>
                <a:pathLst>
                  <a:path w="33337" h="33337">
                    <a:moveTo>
                      <a:pt x="0" y="33337"/>
                    </a:moveTo>
                    <a:lnTo>
                      <a:pt x="33337" y="0"/>
                    </a:lnTo>
                  </a:path>
                </a:pathLst>
              </a:custGeom>
              <a:noFill/>
              <a:ln w="11112">
                <a:solidFill>
                  <a:srgbClr val="9C594C"/>
                </a:solidFill>
              </a:ln>
            </p:spPr>
          </p:sp>
          <p:sp>
            <p:nvSpPr>
              <p:cNvPr id="157" name="Freeform 157"/>
              <p:cNvSpPr/>
              <p:nvPr/>
            </p:nvSpPr>
            <p:spPr>
              <a:xfrm>
                <a:off x="9586119" y="3448510"/>
                <a:ext cx="52713" cy="52721"/>
              </a:xfrm>
              <a:custGeom>
                <a:avLst/>
                <a:gdLst/>
                <a:ahLst/>
                <a:cxnLst/>
                <a:rect l="l" t="t" r="r" b="b"/>
                <a:pathLst>
                  <a:path w="52713" h="52721">
                    <a:moveTo>
                      <a:pt x="0" y="13827"/>
                    </a:moveTo>
                    <a:lnTo>
                      <a:pt x="2573" y="10849"/>
                    </a:lnTo>
                    <a:cubicBezTo>
                      <a:pt x="13423" y="0"/>
                      <a:pt x="31014" y="1"/>
                      <a:pt x="41864" y="10852"/>
                    </a:cubicBezTo>
                    <a:cubicBezTo>
                      <a:pt x="52713" y="21703"/>
                      <a:pt x="52711" y="39294"/>
                      <a:pt x="41861" y="50143"/>
                    </a:cubicBezTo>
                    <a:lnTo>
                      <a:pt x="38894" y="52721"/>
                    </a:lnTo>
                  </a:path>
                </a:pathLst>
              </a:custGeom>
              <a:noFill/>
              <a:ln w="11112">
                <a:solidFill>
                  <a:srgbClr val="9C594C"/>
                </a:solidFill>
              </a:ln>
            </p:spPr>
          </p:sp>
          <p:sp>
            <p:nvSpPr>
              <p:cNvPr id="158" name="Freeform 158"/>
              <p:cNvSpPr/>
              <p:nvPr/>
            </p:nvSpPr>
            <p:spPr>
              <a:xfrm>
                <a:off x="9547224" y="3490119"/>
                <a:ext cx="50007" cy="52709"/>
              </a:xfrm>
              <a:custGeom>
                <a:avLst/>
                <a:gdLst/>
                <a:ahLst/>
                <a:cxnLst/>
                <a:rect l="l" t="t" r="r" b="b"/>
                <a:pathLst>
                  <a:path w="50007" h="52709">
                    <a:moveTo>
                      <a:pt x="50007" y="38894"/>
                    </a:moveTo>
                    <a:lnTo>
                      <a:pt x="47801" y="41861"/>
                    </a:lnTo>
                    <a:cubicBezTo>
                      <a:pt x="36830" y="52709"/>
                      <a:pt x="19173" y="52709"/>
                      <a:pt x="8202" y="41861"/>
                    </a:cubicBezTo>
                    <a:cubicBezTo>
                      <a:pt x="2953" y="36671"/>
                      <a:pt x="0" y="29597"/>
                      <a:pt x="0" y="22217"/>
                    </a:cubicBezTo>
                    <a:cubicBezTo>
                      <a:pt x="0" y="14836"/>
                      <a:pt x="2953" y="7762"/>
                      <a:pt x="8202" y="2573"/>
                    </a:cubicBezTo>
                    <a:lnTo>
                      <a:pt x="11113" y="0"/>
                    </a:lnTo>
                  </a:path>
                </a:pathLst>
              </a:custGeom>
              <a:noFill/>
              <a:ln w="11112">
                <a:solidFill>
                  <a:srgbClr val="9C594C"/>
                </a:solidFill>
              </a:ln>
            </p:spPr>
          </p:sp>
        </p:grpSp>
        <p:sp>
          <p:nvSpPr>
            <p:cNvPr id="160" name="TextBox 160"/>
            <p:cNvSpPr txBox="1"/>
            <p:nvPr/>
          </p:nvSpPr>
          <p:spPr>
            <a:xfrm>
              <a:off x="9710738" y="3458289"/>
              <a:ext cx="434924"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全域融合</a:t>
              </a:r>
            </a:p>
          </p:txBody>
        </p:sp>
        <p:sp>
          <p:nvSpPr>
            <p:cNvPr id="161" name="Ellipse 161"/>
            <p:cNvSpPr/>
            <p:nvPr/>
          </p:nvSpPr>
          <p:spPr>
            <a:xfrm>
              <a:off x="9372600" y="3686175"/>
              <a:ext cx="171450" cy="171450"/>
            </a:xfrm>
            <a:prstGeom prst="ellipse">
              <a:avLst/>
            </a:prstGeom>
            <a:solidFill>
              <a:srgbClr val="E9563C"/>
            </a:solidFill>
            <a:ln>
              <a:noFill/>
            </a:ln>
          </p:spPr>
        </p:sp>
        <p:sp>
          <p:nvSpPr>
            <p:cNvPr id="162" name="TextBox 162"/>
            <p:cNvSpPr txBox="1"/>
            <p:nvPr/>
          </p:nvSpPr>
          <p:spPr>
            <a:xfrm>
              <a:off x="9424409" y="37290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2</a:t>
              </a:r>
            </a:p>
          </p:txBody>
        </p:sp>
        <p:sp>
          <p:nvSpPr>
            <p:cNvPr id="163" name="TextBox 163"/>
            <p:cNvSpPr txBox="1"/>
            <p:nvPr/>
          </p:nvSpPr>
          <p:spPr>
            <a:xfrm>
              <a:off x="9615488" y="3718322"/>
              <a:ext cx="768782"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推进关系深度</a:t>
              </a:r>
            </a:p>
          </p:txBody>
        </p:sp>
        <p:grpSp>
          <p:nvGrpSpPr>
            <p:cNvPr id="166" name="Group 166"/>
            <p:cNvGrpSpPr/>
            <p:nvPr/>
          </p:nvGrpSpPr>
          <p:grpSpPr>
            <a:xfrm>
              <a:off x="9547225" y="3982481"/>
              <a:ext cx="88900" cy="93187"/>
              <a:chOff x="9547225" y="3982481"/>
              <a:chExt cx="88900" cy="93187"/>
            </a:xfrm>
          </p:grpSpPr>
          <p:sp>
            <p:nvSpPr>
              <p:cNvPr id="164" name="Freeform 164"/>
              <p:cNvSpPr/>
              <p:nvPr/>
            </p:nvSpPr>
            <p:spPr>
              <a:xfrm>
                <a:off x="9547225" y="3982481"/>
                <a:ext cx="88900" cy="41037"/>
              </a:xfrm>
              <a:custGeom>
                <a:avLst/>
                <a:gdLst/>
                <a:ahLst/>
                <a:cxnLst/>
                <a:rect l="l" t="t" r="r" b="b"/>
                <a:pathLst>
                  <a:path w="88900" h="41037">
                    <a:moveTo>
                      <a:pt x="88900" y="41037"/>
                    </a:moveTo>
                    <a:cubicBezTo>
                      <a:pt x="86107" y="20938"/>
                      <a:pt x="70208" y="5194"/>
                      <a:pt x="50082" y="2597"/>
                    </a:cubicBezTo>
                    <a:cubicBezTo>
                      <a:pt x="29956" y="0"/>
                      <a:pt x="10582" y="11193"/>
                      <a:pt x="2778" y="29925"/>
                    </a:cubicBezTo>
                    <a:moveTo>
                      <a:pt x="0" y="7700"/>
                    </a:moveTo>
                    <a:lnTo>
                      <a:pt x="0" y="29925"/>
                    </a:lnTo>
                    <a:lnTo>
                      <a:pt x="22225" y="29925"/>
                    </a:lnTo>
                  </a:path>
                </a:pathLst>
              </a:custGeom>
              <a:noFill/>
              <a:ln w="11112">
                <a:solidFill>
                  <a:srgbClr val="D6391E"/>
                </a:solidFill>
              </a:ln>
            </p:spPr>
          </p:sp>
          <p:sp>
            <p:nvSpPr>
              <p:cNvPr id="165" name="Freeform 165"/>
              <p:cNvSpPr/>
              <p:nvPr/>
            </p:nvSpPr>
            <p:spPr>
              <a:xfrm>
                <a:off x="9547225" y="4034631"/>
                <a:ext cx="88900" cy="41037"/>
              </a:xfrm>
              <a:custGeom>
                <a:avLst/>
                <a:gdLst/>
                <a:ahLst/>
                <a:cxnLst/>
                <a:rect l="l" t="t" r="r" b="b"/>
                <a:pathLst>
                  <a:path w="88900" h="41037">
                    <a:moveTo>
                      <a:pt x="0" y="0"/>
                    </a:moveTo>
                    <a:cubicBezTo>
                      <a:pt x="2793" y="20100"/>
                      <a:pt x="18692" y="35844"/>
                      <a:pt x="38818" y="38441"/>
                    </a:cubicBezTo>
                    <a:cubicBezTo>
                      <a:pt x="58944" y="41037"/>
                      <a:pt x="78318" y="29845"/>
                      <a:pt x="86122" y="11112"/>
                    </a:cubicBezTo>
                    <a:moveTo>
                      <a:pt x="88900" y="33337"/>
                    </a:moveTo>
                    <a:lnTo>
                      <a:pt x="88900" y="11112"/>
                    </a:lnTo>
                    <a:lnTo>
                      <a:pt x="66675" y="11112"/>
                    </a:lnTo>
                  </a:path>
                </a:pathLst>
              </a:custGeom>
              <a:noFill/>
              <a:ln w="11112">
                <a:solidFill>
                  <a:srgbClr val="D6391E"/>
                </a:solidFill>
              </a:ln>
            </p:spPr>
          </p:sp>
        </p:grpSp>
        <p:sp>
          <p:nvSpPr>
            <p:cNvPr id="167" name="TextBox 167"/>
            <p:cNvSpPr txBox="1"/>
            <p:nvPr/>
          </p:nvSpPr>
          <p:spPr>
            <a:xfrm>
              <a:off x="9710738" y="3991689"/>
              <a:ext cx="647624"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生命周期管理</a:t>
              </a:r>
            </a:p>
          </p:txBody>
        </p:sp>
        <p:grpSp>
          <p:nvGrpSpPr>
            <p:cNvPr id="171" name="Group 171"/>
            <p:cNvGrpSpPr/>
            <p:nvPr/>
          </p:nvGrpSpPr>
          <p:grpSpPr>
            <a:xfrm>
              <a:off x="9558337" y="4207669"/>
              <a:ext cx="83344" cy="100012"/>
              <a:chOff x="9558337" y="4207669"/>
              <a:chExt cx="83344" cy="100012"/>
            </a:xfrm>
          </p:grpSpPr>
          <p:sp>
            <p:nvSpPr>
              <p:cNvPr id="168" name="Freeform 168"/>
              <p:cNvSpPr/>
              <p:nvPr/>
            </p:nvSpPr>
            <p:spPr>
              <a:xfrm>
                <a:off x="9569450" y="42076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D6391E"/>
                </a:solidFill>
              </a:ln>
            </p:spPr>
          </p:sp>
          <p:sp>
            <p:nvSpPr>
              <p:cNvPr id="169" name="Freeform 169"/>
              <p:cNvSpPr/>
              <p:nvPr/>
            </p:nvSpPr>
            <p:spPr>
              <a:xfrm>
                <a:off x="9558337" y="427434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D6391E"/>
                </a:solidFill>
              </a:ln>
            </p:spPr>
          </p:sp>
          <p:sp>
            <p:nvSpPr>
              <p:cNvPr id="170" name="Freeform 170"/>
              <p:cNvSpPr/>
              <p:nvPr/>
            </p:nvSpPr>
            <p:spPr>
              <a:xfrm>
                <a:off x="9608344" y="4285456"/>
                <a:ext cx="33337" cy="22225"/>
              </a:xfrm>
              <a:custGeom>
                <a:avLst/>
                <a:gdLst/>
                <a:ahLst/>
                <a:cxnLst/>
                <a:rect l="l" t="t" r="r" b="b"/>
                <a:pathLst>
                  <a:path w="33337" h="22225">
                    <a:moveTo>
                      <a:pt x="0" y="11112"/>
                    </a:moveTo>
                    <a:lnTo>
                      <a:pt x="11112" y="22225"/>
                    </a:lnTo>
                    <a:lnTo>
                      <a:pt x="33337" y="0"/>
                    </a:lnTo>
                  </a:path>
                </a:pathLst>
              </a:custGeom>
              <a:noFill/>
              <a:ln w="11112">
                <a:solidFill>
                  <a:srgbClr val="D6391E"/>
                </a:solidFill>
              </a:ln>
            </p:spPr>
          </p:sp>
        </p:grpSp>
        <p:sp>
          <p:nvSpPr>
            <p:cNvPr id="172" name="TextBox 172"/>
            <p:cNvSpPr txBox="1"/>
            <p:nvPr/>
          </p:nvSpPr>
          <p:spPr>
            <a:xfrm>
              <a:off x="9710738" y="4220289"/>
              <a:ext cx="491912"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品牌KOC​</a:t>
              </a:r>
            </a:p>
          </p:txBody>
        </p:sp>
        <p:sp>
          <p:nvSpPr>
            <p:cNvPr id="173" name="Ellipse 173"/>
            <p:cNvSpPr/>
            <p:nvPr/>
          </p:nvSpPr>
          <p:spPr>
            <a:xfrm>
              <a:off x="9372600" y="4448175"/>
              <a:ext cx="171450" cy="171450"/>
            </a:xfrm>
            <a:prstGeom prst="ellipse">
              <a:avLst/>
            </a:prstGeom>
            <a:solidFill>
              <a:srgbClr val="9C594C"/>
            </a:solidFill>
            <a:ln>
              <a:noFill/>
            </a:ln>
          </p:spPr>
        </p:sp>
        <p:sp>
          <p:nvSpPr>
            <p:cNvPr id="174" name="TextBox 174"/>
            <p:cNvSpPr txBox="1"/>
            <p:nvPr/>
          </p:nvSpPr>
          <p:spPr>
            <a:xfrm>
              <a:off x="9424409" y="44910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3</a:t>
              </a:r>
            </a:p>
          </p:txBody>
        </p:sp>
        <p:sp>
          <p:nvSpPr>
            <p:cNvPr id="175" name="TextBox 175"/>
            <p:cNvSpPr txBox="1"/>
            <p:nvPr/>
          </p:nvSpPr>
          <p:spPr>
            <a:xfrm>
              <a:off x="9615488" y="4480322"/>
              <a:ext cx="768782"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增强场域引力</a:t>
              </a:r>
            </a:p>
          </p:txBody>
        </p:sp>
        <p:grpSp>
          <p:nvGrpSpPr>
            <p:cNvPr id="180" name="Group 180"/>
            <p:cNvGrpSpPr/>
            <p:nvPr/>
          </p:nvGrpSpPr>
          <p:grpSpPr>
            <a:xfrm>
              <a:off x="9541669" y="4746625"/>
              <a:ext cx="100012" cy="98425"/>
              <a:chOff x="9541669" y="4746625"/>
              <a:chExt cx="100012" cy="98425"/>
            </a:xfrm>
          </p:grpSpPr>
          <p:sp>
            <p:nvSpPr>
              <p:cNvPr id="176" name="Freeform 176"/>
              <p:cNvSpPr/>
              <p:nvPr/>
            </p:nvSpPr>
            <p:spPr>
              <a:xfrm>
                <a:off x="9541669" y="4791075"/>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9C594C"/>
                </a:solidFill>
              </a:ln>
            </p:spPr>
          </p:sp>
          <p:sp>
            <p:nvSpPr>
              <p:cNvPr id="177" name="Freeform 177"/>
              <p:cNvSpPr/>
              <p:nvPr/>
            </p:nvSpPr>
            <p:spPr>
              <a:xfrm>
                <a:off x="9608344" y="4768850"/>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9C594C"/>
                </a:solidFill>
              </a:ln>
            </p:spPr>
          </p:sp>
          <p:sp>
            <p:nvSpPr>
              <p:cNvPr id="178" name="Freeform 178"/>
              <p:cNvSpPr/>
              <p:nvPr/>
            </p:nvSpPr>
            <p:spPr>
              <a:xfrm>
                <a:off x="9575006" y="4746625"/>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9C594C"/>
                </a:solidFill>
              </a:ln>
            </p:spPr>
          </p:sp>
          <p:sp>
            <p:nvSpPr>
              <p:cNvPr id="179" name="Freeform 179"/>
              <p:cNvSpPr/>
              <p:nvPr/>
            </p:nvSpPr>
            <p:spPr>
              <a:xfrm>
                <a:off x="9547225" y="4835525"/>
                <a:ext cx="77787" cy="9525"/>
              </a:xfrm>
              <a:custGeom>
                <a:avLst/>
                <a:gdLst/>
                <a:ahLst/>
                <a:cxnLst/>
                <a:rect l="l" t="t" r="r" b="b"/>
                <a:pathLst>
                  <a:path w="77787" h="9525">
                    <a:moveTo>
                      <a:pt x="0" y="0"/>
                    </a:moveTo>
                    <a:lnTo>
                      <a:pt x="77787" y="0"/>
                    </a:lnTo>
                  </a:path>
                </a:pathLst>
              </a:custGeom>
              <a:noFill/>
              <a:ln w="11112">
                <a:solidFill>
                  <a:srgbClr val="9C594C"/>
                </a:solidFill>
              </a:ln>
            </p:spPr>
          </p:sp>
        </p:grpSp>
        <p:sp>
          <p:nvSpPr>
            <p:cNvPr id="181" name="TextBox 181"/>
            <p:cNvSpPr txBox="1"/>
            <p:nvPr/>
          </p:nvSpPr>
          <p:spPr>
            <a:xfrm>
              <a:off x="9710738" y="4753689"/>
              <a:ext cx="434924"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场域绩效</a:t>
              </a:r>
            </a:p>
          </p:txBody>
        </p:sp>
        <p:grpSp>
          <p:nvGrpSpPr>
            <p:cNvPr id="184" name="Group 184"/>
            <p:cNvGrpSpPr/>
            <p:nvPr/>
          </p:nvGrpSpPr>
          <p:grpSpPr>
            <a:xfrm>
              <a:off x="9541669" y="4969669"/>
              <a:ext cx="100012" cy="100012"/>
              <a:chOff x="9541669" y="4969669"/>
              <a:chExt cx="100012" cy="100012"/>
            </a:xfrm>
          </p:grpSpPr>
          <p:sp>
            <p:nvSpPr>
              <p:cNvPr id="182" name="Freeform 182"/>
              <p:cNvSpPr/>
              <p:nvPr/>
            </p:nvSpPr>
            <p:spPr>
              <a:xfrm>
                <a:off x="9541669" y="49696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9C594C"/>
                </a:solidFill>
              </a:ln>
            </p:spPr>
          </p:sp>
          <p:sp>
            <p:nvSpPr>
              <p:cNvPr id="183" name="Freeform 183"/>
              <p:cNvSpPr/>
              <p:nvPr/>
            </p:nvSpPr>
            <p:spPr>
              <a:xfrm>
                <a:off x="9575006" y="5008562"/>
                <a:ext cx="33337" cy="22225"/>
              </a:xfrm>
              <a:custGeom>
                <a:avLst/>
                <a:gdLst/>
                <a:ahLst/>
                <a:cxnLst/>
                <a:rect l="l" t="t" r="r" b="b"/>
                <a:pathLst>
                  <a:path w="33337" h="22225">
                    <a:moveTo>
                      <a:pt x="0" y="11112"/>
                    </a:moveTo>
                    <a:lnTo>
                      <a:pt x="11112" y="22225"/>
                    </a:lnTo>
                    <a:lnTo>
                      <a:pt x="33337" y="0"/>
                    </a:lnTo>
                  </a:path>
                </a:pathLst>
              </a:custGeom>
              <a:noFill/>
              <a:ln w="11112">
                <a:solidFill>
                  <a:srgbClr val="9C594C"/>
                </a:solidFill>
              </a:ln>
            </p:spPr>
          </p:sp>
        </p:grpSp>
        <p:sp>
          <p:nvSpPr>
            <p:cNvPr id="185" name="TextBox 185"/>
            <p:cNvSpPr txBox="1"/>
            <p:nvPr/>
          </p:nvSpPr>
          <p:spPr>
            <a:xfrm>
              <a:off x="9710738" y="4982289"/>
              <a:ext cx="434924"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体验优化</a:t>
              </a:r>
            </a:p>
          </p:txBody>
        </p:sp>
        <p:sp>
          <p:nvSpPr>
            <p:cNvPr id="186" name="Ellipse 186"/>
            <p:cNvSpPr/>
            <p:nvPr/>
          </p:nvSpPr>
          <p:spPr>
            <a:xfrm>
              <a:off x="9372600" y="5210175"/>
              <a:ext cx="171450" cy="171450"/>
            </a:xfrm>
            <a:prstGeom prst="ellipse">
              <a:avLst/>
            </a:prstGeom>
            <a:solidFill>
              <a:srgbClr val="E9563C"/>
            </a:solidFill>
            <a:ln>
              <a:noFill/>
            </a:ln>
          </p:spPr>
        </p:sp>
        <p:sp>
          <p:nvSpPr>
            <p:cNvPr id="187" name="TextBox 187"/>
            <p:cNvSpPr txBox="1"/>
            <p:nvPr/>
          </p:nvSpPr>
          <p:spPr>
            <a:xfrm>
              <a:off x="9424409" y="5253038"/>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4</a:t>
              </a:r>
            </a:p>
          </p:txBody>
        </p:sp>
        <p:sp>
          <p:nvSpPr>
            <p:cNvPr id="188" name="TextBox 188"/>
            <p:cNvSpPr txBox="1"/>
            <p:nvPr/>
          </p:nvSpPr>
          <p:spPr>
            <a:xfrm>
              <a:off x="9615488" y="5242322"/>
              <a:ext cx="768782"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提升关系价值</a:t>
              </a:r>
            </a:p>
          </p:txBody>
        </p:sp>
        <p:grpSp>
          <p:nvGrpSpPr>
            <p:cNvPr id="192" name="Group 192"/>
            <p:cNvGrpSpPr/>
            <p:nvPr/>
          </p:nvGrpSpPr>
          <p:grpSpPr>
            <a:xfrm>
              <a:off x="9552781" y="5503069"/>
              <a:ext cx="77787" cy="100012"/>
              <a:chOff x="9552781" y="5503069"/>
              <a:chExt cx="77787" cy="100012"/>
            </a:xfrm>
          </p:grpSpPr>
          <p:sp>
            <p:nvSpPr>
              <p:cNvPr id="189" name="Freeform 189"/>
              <p:cNvSpPr/>
              <p:nvPr/>
            </p:nvSpPr>
            <p:spPr>
              <a:xfrm>
                <a:off x="9552781" y="5536406"/>
                <a:ext cx="77787" cy="66675"/>
              </a:xfrm>
              <a:custGeom>
                <a:avLst/>
                <a:gdLst/>
                <a:ahLst/>
                <a:cxnLst/>
                <a:rect l="l" t="t" r="r" b="b"/>
                <a:pathLst>
                  <a:path w="77787" h="66675">
                    <a:moveTo>
                      <a:pt x="16669" y="0"/>
                    </a:moveTo>
                    <a:lnTo>
                      <a:pt x="11112" y="0"/>
                    </a:lnTo>
                    <a:cubicBezTo>
                      <a:pt x="4975" y="0"/>
                      <a:pt x="0" y="4975"/>
                      <a:pt x="0" y="11112"/>
                    </a:cubicBezTo>
                    <a:lnTo>
                      <a:pt x="0" y="55562"/>
                    </a:lnTo>
                    <a:cubicBezTo>
                      <a:pt x="0" y="61700"/>
                      <a:pt x="4975" y="66675"/>
                      <a:pt x="11112" y="66675"/>
                    </a:cubicBezTo>
                    <a:lnTo>
                      <a:pt x="66675" y="66675"/>
                    </a:lnTo>
                    <a:cubicBezTo>
                      <a:pt x="72812" y="66675"/>
                      <a:pt x="77787" y="61700"/>
                      <a:pt x="77787" y="55562"/>
                    </a:cubicBezTo>
                    <a:lnTo>
                      <a:pt x="77787" y="11112"/>
                    </a:lnTo>
                    <a:cubicBezTo>
                      <a:pt x="77787" y="4975"/>
                      <a:pt x="72812" y="0"/>
                      <a:pt x="66675" y="0"/>
                    </a:cubicBezTo>
                    <a:lnTo>
                      <a:pt x="61119" y="0"/>
                    </a:lnTo>
                  </a:path>
                </a:pathLst>
              </a:custGeom>
              <a:noFill/>
              <a:ln w="11112">
                <a:solidFill>
                  <a:srgbClr val="D6391E"/>
                </a:solidFill>
              </a:ln>
            </p:spPr>
          </p:sp>
          <p:sp>
            <p:nvSpPr>
              <p:cNvPr id="190" name="Freeform 190"/>
              <p:cNvSpPr/>
              <p:nvPr/>
            </p:nvSpPr>
            <p:spPr>
              <a:xfrm>
                <a:off x="9591675" y="5503069"/>
                <a:ext cx="9525" cy="61119"/>
              </a:xfrm>
              <a:custGeom>
                <a:avLst/>
                <a:gdLst/>
                <a:ahLst/>
                <a:cxnLst/>
                <a:rect l="l" t="t" r="r" b="b"/>
                <a:pathLst>
                  <a:path w="9525" h="61119">
                    <a:moveTo>
                      <a:pt x="0" y="61119"/>
                    </a:moveTo>
                    <a:lnTo>
                      <a:pt x="0" y="0"/>
                    </a:lnTo>
                  </a:path>
                </a:pathLst>
              </a:custGeom>
              <a:noFill/>
              <a:ln w="11112">
                <a:solidFill>
                  <a:srgbClr val="D6391E"/>
                </a:solidFill>
              </a:ln>
            </p:spPr>
          </p:sp>
          <p:sp>
            <p:nvSpPr>
              <p:cNvPr id="191" name="Freeform 191"/>
              <p:cNvSpPr/>
              <p:nvPr/>
            </p:nvSpPr>
            <p:spPr>
              <a:xfrm>
                <a:off x="9575006" y="5503069"/>
                <a:ext cx="33337" cy="16669"/>
              </a:xfrm>
              <a:custGeom>
                <a:avLst/>
                <a:gdLst/>
                <a:ahLst/>
                <a:cxnLst/>
                <a:rect l="l" t="t" r="r" b="b"/>
                <a:pathLst>
                  <a:path w="33337" h="16669">
                    <a:moveTo>
                      <a:pt x="0" y="16669"/>
                    </a:moveTo>
                    <a:lnTo>
                      <a:pt x="16669" y="0"/>
                    </a:lnTo>
                    <a:lnTo>
                      <a:pt x="33337" y="16669"/>
                    </a:lnTo>
                  </a:path>
                </a:pathLst>
              </a:custGeom>
              <a:noFill/>
              <a:ln w="11112">
                <a:solidFill>
                  <a:srgbClr val="D6391E"/>
                </a:solidFill>
              </a:ln>
            </p:spPr>
          </p:sp>
        </p:grpSp>
        <p:sp>
          <p:nvSpPr>
            <p:cNvPr id="193" name="TextBox 193"/>
            <p:cNvSpPr txBox="1"/>
            <p:nvPr/>
          </p:nvSpPr>
          <p:spPr>
            <a:xfrm>
              <a:off x="9710738" y="5515689"/>
              <a:ext cx="647624"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用户传播裂变</a:t>
              </a:r>
            </a:p>
          </p:txBody>
        </p:sp>
        <p:grpSp>
          <p:nvGrpSpPr>
            <p:cNvPr id="196" name="Group 196"/>
            <p:cNvGrpSpPr/>
            <p:nvPr/>
          </p:nvGrpSpPr>
          <p:grpSpPr>
            <a:xfrm>
              <a:off x="9540120" y="5732624"/>
              <a:ext cx="100450" cy="100606"/>
              <a:chOff x="9540120" y="5732624"/>
              <a:chExt cx="100450" cy="100606"/>
            </a:xfrm>
          </p:grpSpPr>
          <p:sp>
            <p:nvSpPr>
              <p:cNvPr id="194" name="Freeform 194"/>
              <p:cNvSpPr/>
              <p:nvPr/>
            </p:nvSpPr>
            <p:spPr>
              <a:xfrm>
                <a:off x="9540120" y="5732624"/>
                <a:ext cx="100450" cy="100606"/>
              </a:xfrm>
              <a:custGeom>
                <a:avLst/>
                <a:gdLst/>
                <a:ahLst/>
                <a:cxnLst/>
                <a:rect l="l" t="t" r="r" b="b"/>
                <a:pathLst>
                  <a:path w="100450" h="100606">
                    <a:moveTo>
                      <a:pt x="40442" y="156"/>
                    </a:moveTo>
                    <a:cubicBezTo>
                      <a:pt x="16384" y="5733"/>
                      <a:pt x="0" y="28038"/>
                      <a:pt x="1873" y="52664"/>
                    </a:cubicBezTo>
                    <a:cubicBezTo>
                      <a:pt x="3747" y="77289"/>
                      <a:pt x="23317" y="96859"/>
                      <a:pt x="47942" y="98732"/>
                    </a:cubicBezTo>
                    <a:cubicBezTo>
                      <a:pt x="72567" y="100606"/>
                      <a:pt x="94873" y="84222"/>
                      <a:pt x="100450" y="60163"/>
                    </a:cubicBezTo>
                    <a:cubicBezTo>
                      <a:pt x="100450" y="57095"/>
                      <a:pt x="97962" y="54607"/>
                      <a:pt x="94894" y="54607"/>
                    </a:cubicBezTo>
                    <a:lnTo>
                      <a:pt x="57111" y="54607"/>
                    </a:lnTo>
                    <a:cubicBezTo>
                      <a:pt x="50974" y="54607"/>
                      <a:pt x="45999" y="49632"/>
                      <a:pt x="45999" y="43495"/>
                    </a:cubicBezTo>
                    <a:lnTo>
                      <a:pt x="45999" y="4601"/>
                    </a:lnTo>
                    <a:cubicBezTo>
                      <a:pt x="45859" y="3271"/>
                      <a:pt x="45193" y="2053"/>
                      <a:pt x="44149" y="1218"/>
                    </a:cubicBezTo>
                    <a:cubicBezTo>
                      <a:pt x="43105" y="382"/>
                      <a:pt x="41770" y="0"/>
                      <a:pt x="40442" y="156"/>
                    </a:cubicBezTo>
                  </a:path>
                </a:pathLst>
              </a:custGeom>
              <a:noFill/>
              <a:ln w="11112">
                <a:solidFill>
                  <a:srgbClr val="D6391E"/>
                </a:solidFill>
              </a:ln>
            </p:spPr>
          </p:sp>
          <p:sp>
            <p:nvSpPr>
              <p:cNvPr id="195" name="Freeform 195"/>
              <p:cNvSpPr/>
              <p:nvPr/>
            </p:nvSpPr>
            <p:spPr>
              <a:xfrm>
                <a:off x="9608344" y="5734447"/>
                <a:ext cx="30559" cy="30559"/>
              </a:xfrm>
              <a:custGeom>
                <a:avLst/>
                <a:gdLst/>
                <a:ahLst/>
                <a:cxnLst/>
                <a:rect l="l" t="t" r="r" b="b"/>
                <a:pathLst>
                  <a:path w="30559" h="30559">
                    <a:moveTo>
                      <a:pt x="0" y="0"/>
                    </a:moveTo>
                    <a:cubicBezTo>
                      <a:pt x="14290" y="5032"/>
                      <a:pt x="25528" y="16270"/>
                      <a:pt x="30559" y="30559"/>
                    </a:cubicBezTo>
                    <a:lnTo>
                      <a:pt x="5556" y="30559"/>
                    </a:lnTo>
                    <a:cubicBezTo>
                      <a:pt x="2488" y="30559"/>
                      <a:pt x="0" y="28072"/>
                      <a:pt x="0" y="25003"/>
                    </a:cubicBezTo>
                    <a:lnTo>
                      <a:pt x="0" y="0"/>
                    </a:lnTo>
                  </a:path>
                </a:pathLst>
              </a:custGeom>
              <a:noFill/>
              <a:ln w="11112">
                <a:solidFill>
                  <a:srgbClr val="D6391E"/>
                </a:solidFill>
              </a:ln>
            </p:spPr>
          </p:sp>
        </p:grpSp>
        <p:sp>
          <p:nvSpPr>
            <p:cNvPr id="197" name="TextBox 197"/>
            <p:cNvSpPr txBox="1"/>
            <p:nvPr/>
          </p:nvSpPr>
          <p:spPr>
            <a:xfrm>
              <a:off x="9710738" y="5744289"/>
              <a:ext cx="469438" cy="154781"/>
            </a:xfrm>
            <a:prstGeom prst="rect">
              <a:avLst/>
            </a:prstGeom>
            <a:noFill/>
            <a:ln>
              <a:noFill/>
            </a:ln>
          </p:spPr>
          <p:txBody>
            <a:bodyPr wrap="none" lIns="0" tIns="0" rIns="0" bIns="0" anchor="t" anchorCtr="0">
              <a:spAutoFit/>
            </a:bodyPr>
            <a:lstStyle/>
            <a:p>
              <a:pPr algn="l"/>
              <a:r>
                <a:rPr lang="zh-CN" sz="790" dirty="0">
                  <a:solidFill>
                    <a:srgbClr val="595959"/>
                  </a:solidFill>
                  <a:latin typeface="+mn-lt"/>
                  <a:ea typeface="+mn-ea"/>
                  <a:cs typeface="+mn-cs"/>
                </a:rPr>
                <a:t>分层CLV​</a:t>
              </a:r>
            </a:p>
          </p:txBody>
        </p:sp>
        <p:sp>
          <p:nvSpPr>
            <p:cNvPr id="198" name="TextBox 198"/>
            <p:cNvSpPr txBox="1"/>
            <p:nvPr/>
          </p:nvSpPr>
          <p:spPr>
            <a:xfrm>
              <a:off x="9377362" y="6019086"/>
              <a:ext cx="2083435" cy="311944"/>
            </a:xfrm>
            <a:prstGeom prst="rect">
              <a:avLst/>
            </a:prstGeom>
            <a:noFill/>
            <a:ln>
              <a:noFill/>
            </a:ln>
          </p:spPr>
          <p:txBody>
            <a:bodyPr wrap="none" lIns="0" tIns="0" rIns="0" bIns="0" anchor="t" anchorCtr="0">
              <a:spAutoFit/>
            </a:bodyPr>
            <a:lstStyle/>
            <a:p>
              <a:pPr algn="l">
                <a:lnSpc>
                  <a:spcPts val="1350"/>
                </a:lnSpc>
              </a:pPr>
              <a:r>
                <a:rPr lang="zh-CN" sz="710" dirty="0">
                  <a:solidFill>
                    <a:srgbClr val="8C8C8C"/>
                  </a:solidFill>
                  <a:latin typeface="+mn-lt"/>
                  <a:ea typeface="+mn-ea"/>
                  <a:cs typeface="+mn-cs"/>
                </a:rPr>
                <a:t>引入人次时间的领先经验的分层的目标人群</a:t>
              </a:r>
              <a:br/>
              <a:r>
                <a:rPr lang="zh-CN" sz="710" dirty="0">
                  <a:solidFill>
                    <a:srgbClr val="8C8C8C"/>
                  </a:solidFill>
                  <a:latin typeface="+mn-lt"/>
                  <a:ea typeface="+mn-ea"/>
                  <a:cs typeface="+mn-cs"/>
                </a:rPr>
                <a:t>融合消费运营和品牌运营，有效支持长期拟投资策略</a:t>
              </a:r>
            </a:p>
          </p:txBody>
        </p:sp>
      </p:grpSp>
      <p:grpSp>
        <p:nvGrpSpPr>
          <p:cNvPr id="202" name="page-footer"/>
          <p:cNvGrpSpPr/>
          <p:nvPr/>
        </p:nvGrpSpPr>
        <p:grpSpPr>
          <a:xfrm>
            <a:off x="376238" y="6689884"/>
            <a:ext cx="11439524" cy="133350"/>
            <a:chOff x="376238" y="6689884"/>
            <a:chExt cx="11439524" cy="133350"/>
          </a:xfrm>
        </p:grpSpPr>
        <p:sp>
          <p:nvSpPr>
            <p:cNvPr id="200" name="TextBox 200"/>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201" name="TextBox 201"/>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03</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0" name="left-vertical-banner"/>
          <p:cNvGrpSpPr/>
          <p:nvPr/>
        </p:nvGrpSpPr>
        <p:grpSpPr>
          <a:xfrm>
            <a:off x="381000" y="762000"/>
            <a:ext cx="419100" cy="4152900"/>
            <a:chOff x="381000" y="762000"/>
            <a:chExt cx="419100" cy="4152900"/>
          </a:xfrm>
        </p:grpSpPr>
        <p:sp>
          <p:nvSpPr>
            <p:cNvPr id="8" name="Rectangle 8"/>
            <p:cNvSpPr/>
            <p:nvPr/>
          </p:nvSpPr>
          <p:spPr>
            <a:xfrm>
              <a:off x="381000" y="762000"/>
              <a:ext cx="419100" cy="4152900"/>
            </a:xfrm>
            <a:prstGeom prst="rect">
              <a:avLst/>
            </a:prstGeom>
            <a:gradFill>
              <a:gsLst>
                <a:gs pos="0">
                  <a:srgbClr val="B5766A"/>
                </a:gs>
                <a:gs pos="100000">
                  <a:srgbClr val="8C4B3F"/>
                </a:gs>
              </a:gsLst>
              <a:lin ang="5400000" scaled="1"/>
            </a:gradFill>
            <a:ln>
              <a:noFill/>
            </a:ln>
          </p:spPr>
        </p:sp>
        <p:sp>
          <p:nvSpPr>
            <p:cNvPr id="9" name="TextBox 9"/>
            <p:cNvSpPr txBox="1"/>
            <p:nvPr/>
          </p:nvSpPr>
          <p:spPr>
            <a:xfrm>
              <a:off x="508254" y="918210"/>
              <a:ext cx="164592" cy="3825621"/>
            </a:xfrm>
            <a:prstGeom prst="rect">
              <a:avLst/>
            </a:prstGeom>
            <a:noFill/>
            <a:ln>
              <a:noFill/>
            </a:ln>
          </p:spPr>
          <p:txBody>
            <a:bodyPr wrap="none" lIns="0" tIns="0" rIns="0" bIns="0" anchor="t" anchorCtr="0">
              <a:spAutoFit/>
            </a:bodyPr>
            <a:lstStyle/>
            <a:p>
              <a:pPr algn="ctr">
                <a:lnSpc>
                  <a:spcPts val="2175"/>
                </a:lnSpc>
              </a:pPr>
              <a:r>
                <a:rPr lang="zh-CN" sz="1200" b="1" dirty="0">
                  <a:solidFill>
                    <a:srgbClr val="FFFFFF"/>
                  </a:solidFill>
                  <a:latin typeface="+mn-lt"/>
                  <a:ea typeface="+mn-ea"/>
                  <a:cs typeface="+mn-cs"/>
                </a:rPr>
                <a:t>新</a:t>
              </a:r>
              <a:br/>
              <a:r>
                <a:rPr lang="zh-CN" sz="1200" b="1" dirty="0">
                  <a:solidFill>
                    <a:srgbClr val="FFFFFF"/>
                  </a:solidFill>
                  <a:latin typeface="+mn-lt"/>
                  <a:ea typeface="+mn-ea"/>
                  <a:cs typeface="+mn-cs"/>
                </a:rPr>
                <a:t>基</a:t>
              </a:r>
              <a:br/>
              <a:r>
                <a:rPr lang="zh-CN" sz="1200" b="1" dirty="0">
                  <a:solidFill>
                    <a:srgbClr val="FFFFFF"/>
                  </a:solidFill>
                  <a:latin typeface="+mn-lt"/>
                  <a:ea typeface="+mn-ea"/>
                  <a:cs typeface="+mn-cs"/>
                </a:rPr>
                <a:t>建</a:t>
              </a:r>
              <a:br/>
              <a:r>
                <a:rPr lang="zh-CN" sz="1200" b="1" dirty="0">
                  <a:solidFill>
                    <a:srgbClr val="FFFFFF"/>
                  </a:solidFill>
                  <a:latin typeface="+mn-lt"/>
                  <a:ea typeface="+mn-ea"/>
                  <a:cs typeface="+mn-cs"/>
                </a:rPr>
                <a:t>-</a:t>
              </a:r>
              <a:br/>
              <a:r>
                <a:rPr lang="zh-CN" sz="1200" b="1" dirty="0">
                  <a:solidFill>
                    <a:srgbClr val="FFFFFF"/>
                  </a:solidFill>
                  <a:latin typeface="+mn-lt"/>
                  <a:ea typeface="+mn-ea"/>
                  <a:cs typeface="+mn-cs"/>
                </a:rPr>
                <a:t>-</a:t>
              </a:r>
              <a:br/>
              <a:r>
                <a:rPr lang="zh-CN" sz="1200" b="1" dirty="0">
                  <a:solidFill>
                    <a:srgbClr val="FFFFFF"/>
                  </a:solidFill>
                  <a:latin typeface="+mn-lt"/>
                  <a:ea typeface="+mn-ea"/>
                  <a:cs typeface="+mn-cs"/>
                </a:rPr>
                <a:t>加</a:t>
              </a:r>
              <a:br/>
              <a:r>
                <a:rPr lang="zh-CN" sz="1200" b="1" dirty="0">
                  <a:solidFill>
                    <a:srgbClr val="FFFFFF"/>
                  </a:solidFill>
                  <a:latin typeface="+mn-lt"/>
                  <a:ea typeface="+mn-ea"/>
                  <a:cs typeface="+mn-cs"/>
                </a:rPr>
                <a:t>速</a:t>
              </a:r>
              <a:br/>
              <a:r>
                <a:rPr lang="zh-CN" sz="1200" b="1" dirty="0">
                  <a:solidFill>
                    <a:srgbClr val="FFFFFF"/>
                  </a:solidFill>
                  <a:latin typeface="+mn-lt"/>
                  <a:ea typeface="+mn-ea"/>
                  <a:cs typeface="+mn-cs"/>
                </a:rPr>
                <a:t>数</a:t>
              </a:r>
              <a:br/>
              <a:r>
                <a:rPr lang="zh-CN" sz="1200" b="1" dirty="0">
                  <a:solidFill>
                    <a:srgbClr val="FFFFFF"/>
                  </a:solidFill>
                  <a:latin typeface="+mn-lt"/>
                  <a:ea typeface="+mn-ea"/>
                  <a:cs typeface="+mn-cs"/>
                </a:rPr>
                <a:t>字</a:t>
              </a:r>
              <a:br/>
              <a:r>
                <a:rPr lang="zh-CN" sz="1200" b="1" dirty="0">
                  <a:solidFill>
                    <a:srgbClr val="FFFFFF"/>
                  </a:solidFill>
                  <a:latin typeface="+mn-lt"/>
                  <a:ea typeface="+mn-ea"/>
                  <a:cs typeface="+mn-cs"/>
                </a:rPr>
                <a:t>化</a:t>
              </a:r>
              <a:br/>
              <a:r>
                <a:rPr lang="zh-CN" sz="1200" b="1" dirty="0">
                  <a:solidFill>
                    <a:srgbClr val="FFFFFF"/>
                  </a:solidFill>
                  <a:latin typeface="+mn-lt"/>
                  <a:ea typeface="+mn-ea"/>
                  <a:cs typeface="+mn-cs"/>
                </a:rPr>
                <a:t>转</a:t>
              </a:r>
              <a:br/>
              <a:r>
                <a:rPr lang="zh-CN" sz="1200" b="1" dirty="0">
                  <a:solidFill>
                    <a:srgbClr val="FFFFFF"/>
                  </a:solidFill>
                  <a:latin typeface="+mn-lt"/>
                  <a:ea typeface="+mn-ea"/>
                  <a:cs typeface="+mn-cs"/>
                </a:rPr>
                <a:t>型</a:t>
              </a:r>
              <a:br/>
              <a:r>
                <a:rPr lang="zh-CN" sz="1200" b="1" dirty="0">
                  <a:solidFill>
                    <a:srgbClr val="FFFFFF"/>
                  </a:solidFill>
                  <a:latin typeface="+mn-lt"/>
                  <a:ea typeface="+mn-ea"/>
                  <a:cs typeface="+mn-cs"/>
                </a:rPr>
                <a:t>升</a:t>
              </a:r>
              <a:br/>
              <a:r>
                <a:rPr lang="zh-CN" sz="1200" b="1" dirty="0">
                  <a:solidFill>
                    <a:srgbClr val="FFFFFF"/>
                  </a:solidFill>
                  <a:latin typeface="+mn-lt"/>
                  <a:ea typeface="+mn-ea"/>
                  <a:cs typeface="+mn-cs"/>
                </a:rPr>
                <a:t>级</a:t>
              </a:r>
            </a:p>
          </p:txBody>
        </p:sp>
      </p:grpSp>
      <p:grpSp>
        <p:nvGrpSpPr>
          <p:cNvPr id="14" name="left-roof"/>
          <p:cNvGrpSpPr/>
          <p:nvPr/>
        </p:nvGrpSpPr>
        <p:grpSpPr>
          <a:xfrm>
            <a:off x="895350" y="781050"/>
            <a:ext cx="4248150" cy="533400"/>
            <a:chOff x="895350" y="781050"/>
            <a:chExt cx="4248150" cy="533400"/>
          </a:xfrm>
        </p:grpSpPr>
        <p:sp>
          <p:nvSpPr>
            <p:cNvPr id="11" name="Freeform 11"/>
            <p:cNvSpPr/>
            <p:nvPr/>
          </p:nvSpPr>
          <p:spPr>
            <a:xfrm>
              <a:off x="895350" y="781050"/>
              <a:ext cx="4248150" cy="533400"/>
            </a:xfrm>
            <a:prstGeom prst="trapezoid">
              <a:avLst/>
            </a:prstGeom>
            <a:solidFill>
              <a:srgbClr val="C8E0B8"/>
            </a:solidFill>
            <a:ln>
              <a:noFill/>
            </a:ln>
          </p:spPr>
        </p:sp>
        <p:sp>
          <p:nvSpPr>
            <p:cNvPr id="12" name="TextBox 12"/>
            <p:cNvSpPr txBox="1"/>
            <p:nvPr/>
          </p:nvSpPr>
          <p:spPr>
            <a:xfrm>
              <a:off x="2486000" y="888206"/>
              <a:ext cx="1066851" cy="220028"/>
            </a:xfrm>
            <a:prstGeom prst="rect">
              <a:avLst/>
            </a:prstGeom>
            <a:noFill/>
            <a:ln>
              <a:noFill/>
            </a:ln>
          </p:spPr>
          <p:txBody>
            <a:bodyPr wrap="none" lIns="0" tIns="0" rIns="0" bIns="0" anchor="t" anchorCtr="0">
              <a:spAutoFit/>
            </a:bodyPr>
            <a:lstStyle/>
            <a:p>
              <a:pPr algn="ctr"/>
              <a:r>
                <a:rPr lang="zh-CN" sz="1120" b="1" dirty="0">
                  <a:solidFill>
                    <a:srgbClr val="7A3E33"/>
                  </a:solidFill>
                  <a:latin typeface="+mn-lt"/>
                  <a:ea typeface="+mn-ea"/>
                  <a:cs typeface="+mn-cs"/>
                </a:rPr>
                <a:t>新基建核心内涵</a:t>
              </a:r>
            </a:p>
          </p:txBody>
        </p:sp>
        <p:sp>
          <p:nvSpPr>
            <p:cNvPr id="13" name="TextBox 13"/>
            <p:cNvSpPr txBox="1"/>
            <p:nvPr/>
          </p:nvSpPr>
          <p:spPr>
            <a:xfrm>
              <a:off x="2151412" y="1138238"/>
              <a:ext cx="1736027" cy="147638"/>
            </a:xfrm>
            <a:prstGeom prst="rect">
              <a:avLst/>
            </a:prstGeom>
            <a:noFill/>
            <a:ln>
              <a:noFill/>
            </a:ln>
          </p:spPr>
          <p:txBody>
            <a:bodyPr wrap="none" lIns="0" tIns="0" rIns="0" bIns="0" anchor="t" anchorCtr="0">
              <a:spAutoFit/>
            </a:bodyPr>
            <a:lstStyle/>
            <a:p>
              <a:pPr algn="ctr"/>
              <a:r>
                <a:rPr lang="zh-CN" sz="750" dirty="0">
                  <a:solidFill>
                    <a:srgbClr val="5B4B48"/>
                  </a:solidFill>
                  <a:latin typeface="+mn-lt"/>
                  <a:ea typeface="+mn-ea"/>
                  <a:cs typeface="+mn-cs"/>
                </a:rPr>
                <a:t>“新基建”立足于高科技的基础设施建设</a:t>
              </a:r>
            </a:p>
          </p:txBody>
        </p:sp>
      </p:grpSp>
      <p:grpSp>
        <p:nvGrpSpPr>
          <p:cNvPr id="19" name="row-01-foundation"/>
          <p:cNvGrpSpPr/>
          <p:nvPr/>
        </p:nvGrpSpPr>
        <p:grpSpPr>
          <a:xfrm>
            <a:off x="895350" y="1390650"/>
            <a:ext cx="4248150" cy="457200"/>
            <a:chOff x="895350" y="1390650"/>
            <a:chExt cx="4248150" cy="457200"/>
          </a:xfrm>
        </p:grpSpPr>
        <p:sp>
          <p:nvSpPr>
            <p:cNvPr id="15" name="Rectangle 15"/>
            <p:cNvSpPr/>
            <p:nvPr/>
          </p:nvSpPr>
          <p:spPr>
            <a:xfrm>
              <a:off x="895350" y="1390650"/>
              <a:ext cx="4248150" cy="457200"/>
            </a:xfrm>
            <a:prstGeom prst="rect">
              <a:avLst/>
            </a:prstGeom>
            <a:solidFill>
              <a:srgbClr val="8C4B3F"/>
            </a:solidFill>
            <a:ln>
              <a:noFill/>
            </a:ln>
          </p:spPr>
        </p:sp>
        <p:sp>
          <p:nvSpPr>
            <p:cNvPr id="16" name="TextBox 16"/>
            <p:cNvSpPr txBox="1"/>
            <p:nvPr/>
          </p:nvSpPr>
          <p:spPr>
            <a:xfrm>
              <a:off x="1004697" y="1571149"/>
              <a:ext cx="675811"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01. 建基础</a:t>
              </a:r>
            </a:p>
          </p:txBody>
        </p:sp>
        <p:sp>
          <p:nvSpPr>
            <p:cNvPr id="17" name="TextBox 17"/>
            <p:cNvSpPr txBox="1"/>
            <p:nvPr/>
          </p:nvSpPr>
          <p:spPr>
            <a:xfrm>
              <a:off x="2033588" y="1486614"/>
              <a:ext cx="192382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基于新一代信息技术演化生成的基础设施</a:t>
              </a:r>
            </a:p>
          </p:txBody>
        </p:sp>
        <p:sp>
          <p:nvSpPr>
            <p:cNvPr id="18" name="TextBox 18"/>
            <p:cNvSpPr txBox="1"/>
            <p:nvPr/>
          </p:nvSpPr>
          <p:spPr>
            <a:xfrm>
              <a:off x="2033588" y="1679734"/>
              <a:ext cx="2496002" cy="133350"/>
            </a:xfrm>
            <a:prstGeom prst="rect">
              <a:avLst/>
            </a:prstGeom>
            <a:noFill/>
            <a:ln>
              <a:noFill/>
            </a:ln>
          </p:spPr>
          <p:txBody>
            <a:bodyPr wrap="none" lIns="0" tIns="0" rIns="0" bIns="0" anchor="t" anchorCtr="0">
              <a:spAutoFit/>
            </a:bodyPr>
            <a:lstStyle/>
            <a:p>
              <a:pPr algn="l"/>
              <a:r>
                <a:rPr lang="zh-CN" sz="680" dirty="0">
                  <a:solidFill>
                    <a:srgbClr val="E6F0DF"/>
                  </a:solidFill>
                  <a:latin typeface="+mn-lt"/>
                  <a:ea typeface="+mn-ea"/>
                  <a:cs typeface="+mn-cs"/>
                </a:rPr>
                <a:t>例如：5G、物联网、工业互联网等为代表的通信网络基础设施</a:t>
              </a:r>
            </a:p>
          </p:txBody>
        </p:sp>
      </p:grpSp>
      <p:grpSp>
        <p:nvGrpSpPr>
          <p:cNvPr id="24" name="row-02-facility"/>
          <p:cNvGrpSpPr/>
          <p:nvPr/>
        </p:nvGrpSpPr>
        <p:grpSpPr>
          <a:xfrm>
            <a:off x="895350" y="1905000"/>
            <a:ext cx="4248150" cy="457200"/>
            <a:chOff x="895350" y="1905000"/>
            <a:chExt cx="4248150" cy="457200"/>
          </a:xfrm>
        </p:grpSpPr>
        <p:sp>
          <p:nvSpPr>
            <p:cNvPr id="20" name="Rectangle 20"/>
            <p:cNvSpPr/>
            <p:nvPr/>
          </p:nvSpPr>
          <p:spPr>
            <a:xfrm>
              <a:off x="895350" y="1905000"/>
              <a:ext cx="4248150" cy="457200"/>
            </a:xfrm>
            <a:prstGeom prst="rect">
              <a:avLst/>
            </a:prstGeom>
            <a:solidFill>
              <a:srgbClr val="9C594C"/>
            </a:solidFill>
            <a:ln>
              <a:noFill/>
            </a:ln>
          </p:spPr>
        </p:sp>
        <p:sp>
          <p:nvSpPr>
            <p:cNvPr id="21" name="TextBox 21"/>
            <p:cNvSpPr txBox="1"/>
            <p:nvPr/>
          </p:nvSpPr>
          <p:spPr>
            <a:xfrm>
              <a:off x="1004697" y="2085499"/>
              <a:ext cx="675811"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02. 融设施</a:t>
              </a:r>
            </a:p>
          </p:txBody>
        </p:sp>
        <p:sp>
          <p:nvSpPr>
            <p:cNvPr id="22" name="TextBox 22"/>
            <p:cNvSpPr txBox="1"/>
            <p:nvPr/>
          </p:nvSpPr>
          <p:spPr>
            <a:xfrm>
              <a:off x="2033588" y="2000964"/>
              <a:ext cx="203017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深度应用互联网、大数据、人工智能等技术</a:t>
              </a:r>
            </a:p>
          </p:txBody>
        </p:sp>
        <p:sp>
          <p:nvSpPr>
            <p:cNvPr id="23" name="TextBox 23"/>
            <p:cNvSpPr txBox="1"/>
            <p:nvPr/>
          </p:nvSpPr>
          <p:spPr>
            <a:xfrm>
              <a:off x="2033588" y="2194084"/>
              <a:ext cx="1840357" cy="133350"/>
            </a:xfrm>
            <a:prstGeom prst="rect">
              <a:avLst/>
            </a:prstGeom>
            <a:noFill/>
            <a:ln>
              <a:noFill/>
            </a:ln>
          </p:spPr>
          <p:txBody>
            <a:bodyPr wrap="none" lIns="0" tIns="0" rIns="0" bIns="0" anchor="t" anchorCtr="0">
              <a:spAutoFit/>
            </a:bodyPr>
            <a:lstStyle/>
            <a:p>
              <a:pPr algn="l"/>
              <a:r>
                <a:rPr lang="zh-CN" sz="680" dirty="0">
                  <a:solidFill>
                    <a:srgbClr val="E6F0DF"/>
                  </a:solidFill>
                  <a:latin typeface="+mn-lt"/>
                  <a:ea typeface="+mn-ea"/>
                  <a:cs typeface="+mn-cs"/>
                </a:rPr>
                <a:t>例如：智能交通基础设施、智慧能源基础设施</a:t>
              </a:r>
            </a:p>
          </p:txBody>
        </p:sp>
      </p:grpSp>
      <p:grpSp>
        <p:nvGrpSpPr>
          <p:cNvPr id="37" name="row-03-tech"/>
          <p:cNvGrpSpPr/>
          <p:nvPr/>
        </p:nvGrpSpPr>
        <p:grpSpPr>
          <a:xfrm>
            <a:off x="895350" y="2419350"/>
            <a:ext cx="4248150" cy="742950"/>
            <a:chOff x="895350" y="2419350"/>
            <a:chExt cx="4248150" cy="742950"/>
          </a:xfrm>
        </p:grpSpPr>
        <p:sp>
          <p:nvSpPr>
            <p:cNvPr id="25" name="Rectangle 25"/>
            <p:cNvSpPr/>
            <p:nvPr/>
          </p:nvSpPr>
          <p:spPr>
            <a:xfrm>
              <a:off x="895350" y="2419350"/>
              <a:ext cx="4248150" cy="742950"/>
            </a:xfrm>
            <a:prstGeom prst="rect">
              <a:avLst/>
            </a:prstGeom>
            <a:solidFill>
              <a:srgbClr val="F4F8EF"/>
            </a:solidFill>
            <a:ln w="9525">
              <a:solidFill>
                <a:srgbClr val="C9D8BD"/>
              </a:solidFill>
            </a:ln>
          </p:spPr>
        </p:sp>
        <p:sp>
          <p:nvSpPr>
            <p:cNvPr id="26" name="TextBox 26"/>
            <p:cNvSpPr txBox="1"/>
            <p:nvPr/>
          </p:nvSpPr>
          <p:spPr>
            <a:xfrm>
              <a:off x="1004697" y="2599849"/>
              <a:ext cx="675811" cy="190690"/>
            </a:xfrm>
            <a:prstGeom prst="rect">
              <a:avLst/>
            </a:prstGeom>
            <a:noFill/>
            <a:ln>
              <a:noFill/>
            </a:ln>
          </p:spPr>
          <p:txBody>
            <a:bodyPr wrap="none" lIns="0" tIns="0" rIns="0" bIns="0" anchor="t" anchorCtr="0">
              <a:spAutoFit/>
            </a:bodyPr>
            <a:lstStyle/>
            <a:p>
              <a:pPr algn="l"/>
              <a:r>
                <a:rPr lang="zh-CN" sz="980" b="1" dirty="0">
                  <a:solidFill>
                    <a:srgbClr val="7A3E33"/>
                  </a:solidFill>
                  <a:latin typeface="+mn-lt"/>
                  <a:ea typeface="+mn-ea"/>
                  <a:cs typeface="+mn-cs"/>
                </a:rPr>
                <a:t>03. 创科技</a:t>
              </a:r>
            </a:p>
          </p:txBody>
        </p:sp>
        <p:sp>
          <p:nvSpPr>
            <p:cNvPr id="27" name="TextBox 27"/>
            <p:cNvSpPr txBox="1"/>
            <p:nvPr/>
          </p:nvSpPr>
          <p:spPr>
            <a:xfrm>
              <a:off x="2200846" y="2493645"/>
              <a:ext cx="494157"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科学研究</a:t>
              </a:r>
            </a:p>
          </p:txBody>
        </p:sp>
        <p:sp>
          <p:nvSpPr>
            <p:cNvPr id="28" name="TextBox 28"/>
            <p:cNvSpPr txBox="1"/>
            <p:nvPr/>
          </p:nvSpPr>
          <p:spPr>
            <a:xfrm>
              <a:off x="3267646" y="2493645"/>
              <a:ext cx="494157"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技术开发</a:t>
              </a:r>
            </a:p>
          </p:txBody>
        </p:sp>
        <p:sp>
          <p:nvSpPr>
            <p:cNvPr id="29" name="TextBox 29"/>
            <p:cNvSpPr txBox="1"/>
            <p:nvPr/>
          </p:nvSpPr>
          <p:spPr>
            <a:xfrm>
              <a:off x="4334446" y="2493645"/>
              <a:ext cx="494157"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产品研制</a:t>
              </a:r>
            </a:p>
          </p:txBody>
        </p:sp>
        <p:sp>
          <p:nvSpPr>
            <p:cNvPr id="30" name="Rectangle 30"/>
            <p:cNvSpPr/>
            <p:nvPr/>
          </p:nvSpPr>
          <p:spPr>
            <a:xfrm>
              <a:off x="1943100" y="2686050"/>
              <a:ext cx="1009650" cy="400050"/>
            </a:xfrm>
            <a:prstGeom prst="rect">
              <a:avLst/>
            </a:prstGeom>
            <a:solidFill>
              <a:srgbClr val="FFFFFF"/>
            </a:solidFill>
            <a:ln w="9525">
              <a:solidFill>
                <a:srgbClr val="9C594C"/>
              </a:solidFill>
              <a:custDash>
                <a:ds d="300000" sp="200000"/>
              </a:custDash>
            </a:ln>
          </p:spPr>
        </p:sp>
        <p:sp>
          <p:nvSpPr>
            <p:cNvPr id="31" name="TextBox 31"/>
            <p:cNvSpPr txBox="1"/>
            <p:nvPr/>
          </p:nvSpPr>
          <p:spPr>
            <a:xfrm>
              <a:off x="2156422" y="2856786"/>
              <a:ext cx="58300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科技基础设施</a:t>
              </a:r>
            </a:p>
          </p:txBody>
        </p:sp>
        <p:sp>
          <p:nvSpPr>
            <p:cNvPr id="32" name="Rectangle 32"/>
            <p:cNvSpPr/>
            <p:nvPr/>
          </p:nvSpPr>
          <p:spPr>
            <a:xfrm>
              <a:off x="3009900" y="2686050"/>
              <a:ext cx="1009650" cy="400050"/>
            </a:xfrm>
            <a:prstGeom prst="rect">
              <a:avLst/>
            </a:prstGeom>
            <a:solidFill>
              <a:srgbClr val="FFFFFF"/>
            </a:solidFill>
            <a:ln w="9525">
              <a:solidFill>
                <a:srgbClr val="9C594C"/>
              </a:solidFill>
              <a:custDash>
                <a:ds d="300000" sp="200000"/>
              </a:custDash>
            </a:ln>
          </p:spPr>
        </p:sp>
        <p:sp>
          <p:nvSpPr>
            <p:cNvPr id="33" name="TextBox 33"/>
            <p:cNvSpPr txBox="1"/>
            <p:nvPr/>
          </p:nvSpPr>
          <p:spPr>
            <a:xfrm>
              <a:off x="3223222" y="2856786"/>
              <a:ext cx="58300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科教基础设施</a:t>
              </a:r>
            </a:p>
          </p:txBody>
        </p:sp>
        <p:sp>
          <p:nvSpPr>
            <p:cNvPr id="34" name="Rectangle 34"/>
            <p:cNvSpPr/>
            <p:nvPr/>
          </p:nvSpPr>
          <p:spPr>
            <a:xfrm>
              <a:off x="4076700" y="2686050"/>
              <a:ext cx="1009650" cy="400050"/>
            </a:xfrm>
            <a:prstGeom prst="rect">
              <a:avLst/>
            </a:prstGeom>
            <a:solidFill>
              <a:srgbClr val="FFFFFF"/>
            </a:solidFill>
            <a:ln w="9525">
              <a:solidFill>
                <a:srgbClr val="E9563C"/>
              </a:solidFill>
              <a:custDash>
                <a:ds d="300000" sp="200000"/>
              </a:custDash>
            </a:ln>
          </p:spPr>
        </p:sp>
        <p:sp>
          <p:nvSpPr>
            <p:cNvPr id="35" name="TextBox 35"/>
            <p:cNvSpPr txBox="1"/>
            <p:nvPr/>
          </p:nvSpPr>
          <p:spPr>
            <a:xfrm>
              <a:off x="4385602" y="2780586"/>
              <a:ext cx="391846"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产业技术</a:t>
              </a:r>
            </a:p>
          </p:txBody>
        </p:sp>
        <p:sp>
          <p:nvSpPr>
            <p:cNvPr id="36" name="TextBox 36"/>
            <p:cNvSpPr txBox="1"/>
            <p:nvPr/>
          </p:nvSpPr>
          <p:spPr>
            <a:xfrm>
              <a:off x="4290022" y="2932986"/>
              <a:ext cx="583006"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创新基础设施</a:t>
              </a:r>
            </a:p>
          </p:txBody>
        </p:sp>
      </p:grpSp>
      <p:grpSp>
        <p:nvGrpSpPr>
          <p:cNvPr id="46" name="row-04-core"/>
          <p:cNvGrpSpPr/>
          <p:nvPr/>
        </p:nvGrpSpPr>
        <p:grpSpPr>
          <a:xfrm>
            <a:off x="895350" y="3219450"/>
            <a:ext cx="4248150" cy="1466850"/>
            <a:chOff x="895350" y="3219450"/>
            <a:chExt cx="4248150" cy="1466850"/>
          </a:xfrm>
        </p:grpSpPr>
        <p:sp>
          <p:nvSpPr>
            <p:cNvPr id="38" name="Rectangle 38"/>
            <p:cNvSpPr/>
            <p:nvPr/>
          </p:nvSpPr>
          <p:spPr>
            <a:xfrm>
              <a:off x="895350" y="3219450"/>
              <a:ext cx="4248150" cy="1466850"/>
            </a:xfrm>
            <a:prstGeom prst="rect">
              <a:avLst/>
            </a:prstGeom>
            <a:solidFill>
              <a:srgbClr val="F4F8EF"/>
            </a:solidFill>
            <a:ln w="9525">
              <a:solidFill>
                <a:srgbClr val="C9D8BD"/>
              </a:solidFill>
            </a:ln>
          </p:spPr>
        </p:sp>
        <p:sp>
          <p:nvSpPr>
            <p:cNvPr id="39" name="TextBox 39"/>
            <p:cNvSpPr txBox="1"/>
            <p:nvPr/>
          </p:nvSpPr>
          <p:spPr>
            <a:xfrm>
              <a:off x="1004697" y="3876199"/>
              <a:ext cx="675811" cy="190690"/>
            </a:xfrm>
            <a:prstGeom prst="rect">
              <a:avLst/>
            </a:prstGeom>
            <a:noFill/>
            <a:ln>
              <a:noFill/>
            </a:ln>
          </p:spPr>
          <p:txBody>
            <a:bodyPr wrap="none" lIns="0" tIns="0" rIns="0" bIns="0" anchor="t" anchorCtr="0">
              <a:spAutoFit/>
            </a:bodyPr>
            <a:lstStyle/>
            <a:p>
              <a:pPr algn="l"/>
              <a:r>
                <a:rPr lang="zh-CN" sz="980" b="1" dirty="0">
                  <a:solidFill>
                    <a:srgbClr val="7A3E33"/>
                  </a:solidFill>
                  <a:latin typeface="+mn-lt"/>
                  <a:ea typeface="+mn-ea"/>
                  <a:cs typeface="+mn-cs"/>
                </a:rPr>
                <a:t>04. 定核心</a:t>
              </a:r>
            </a:p>
          </p:txBody>
        </p:sp>
        <p:sp>
          <p:nvSpPr>
            <p:cNvPr id="40" name="TextBox 40"/>
            <p:cNvSpPr txBox="1"/>
            <p:nvPr/>
          </p:nvSpPr>
          <p:spPr>
            <a:xfrm>
              <a:off x="2033588" y="3333036"/>
              <a:ext cx="64071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595959"/>
                  </a:solidFill>
                  <a:latin typeface="+mn-lt"/>
                  <a:ea typeface="+mn-ea"/>
                  <a:cs typeface="+mn-cs"/>
                </a:rPr>
                <a:t>提高决策自动化</a:t>
              </a:r>
              <a:br/>
              <a:r>
                <a:rPr lang="zh-CN" sz="710" dirty="0">
                  <a:solidFill>
                    <a:srgbClr val="595959"/>
                  </a:solidFill>
                  <a:latin typeface="+mn-lt"/>
                  <a:ea typeface="+mn-ea"/>
                  <a:cs typeface="+mn-cs"/>
                </a:rPr>
                <a:t>生产效率更优化</a:t>
              </a:r>
            </a:p>
          </p:txBody>
        </p:sp>
        <p:sp>
          <p:nvSpPr>
            <p:cNvPr id="41" name="TextBox 41"/>
            <p:cNvSpPr txBox="1"/>
            <p:nvPr/>
          </p:nvSpPr>
          <p:spPr>
            <a:xfrm>
              <a:off x="3062288" y="3333036"/>
              <a:ext cx="64071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595959"/>
                  </a:solidFill>
                  <a:latin typeface="+mn-lt"/>
                  <a:ea typeface="+mn-ea"/>
                  <a:cs typeface="+mn-cs"/>
                </a:rPr>
                <a:t>促进分析智能化</a:t>
              </a:r>
              <a:br/>
              <a:r>
                <a:rPr lang="zh-CN" sz="710" dirty="0">
                  <a:solidFill>
                    <a:srgbClr val="595959"/>
                  </a:solidFill>
                  <a:latin typeface="+mn-lt"/>
                  <a:ea typeface="+mn-ea"/>
                  <a:cs typeface="+mn-cs"/>
                </a:rPr>
                <a:t>合作更加多元化</a:t>
              </a:r>
            </a:p>
          </p:txBody>
        </p:sp>
        <p:sp>
          <p:nvSpPr>
            <p:cNvPr id="42" name="TextBox 42"/>
            <p:cNvSpPr txBox="1"/>
            <p:nvPr/>
          </p:nvSpPr>
          <p:spPr>
            <a:xfrm>
              <a:off x="4090988" y="3333036"/>
              <a:ext cx="64071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595959"/>
                  </a:solidFill>
                  <a:latin typeface="+mn-lt"/>
                  <a:ea typeface="+mn-ea"/>
                  <a:cs typeface="+mn-cs"/>
                </a:rPr>
                <a:t>底层技术互通化</a:t>
              </a:r>
              <a:br/>
              <a:r>
                <a:rPr lang="zh-CN" sz="710" dirty="0">
                  <a:solidFill>
                    <a:srgbClr val="595959"/>
                  </a:solidFill>
                  <a:latin typeface="+mn-lt"/>
                  <a:ea typeface="+mn-ea"/>
                  <a:cs typeface="+mn-cs"/>
                </a:rPr>
                <a:t>生产人员灵活化</a:t>
              </a:r>
            </a:p>
          </p:txBody>
        </p:sp>
        <p:sp>
          <p:nvSpPr>
            <p:cNvPr id="43" name="Rectangle 43"/>
            <p:cNvSpPr/>
            <p:nvPr/>
          </p:nvSpPr>
          <p:spPr>
            <a:xfrm>
              <a:off x="1943100" y="3676650"/>
              <a:ext cx="3143250" cy="457200"/>
            </a:xfrm>
            <a:prstGeom prst="rect">
              <a:avLst/>
            </a:prstGeom>
            <a:solidFill>
              <a:srgbClr val="FFFFFF"/>
            </a:solidFill>
            <a:ln w="9525">
              <a:solidFill>
                <a:srgbClr val="C9D8BD"/>
              </a:solidFill>
              <a:custDash>
                <a:ds d="300000" sp="200000"/>
              </a:custDash>
            </a:ln>
          </p:spPr>
        </p:sp>
        <p:sp>
          <p:nvSpPr>
            <p:cNvPr id="44" name="TextBox 44"/>
            <p:cNvSpPr txBox="1"/>
            <p:nvPr/>
          </p:nvSpPr>
          <p:spPr>
            <a:xfrm>
              <a:off x="2033588" y="3776662"/>
              <a:ext cx="2009775" cy="328612"/>
            </a:xfrm>
            <a:prstGeom prst="rect">
              <a:avLst/>
            </a:prstGeom>
            <a:noFill/>
            <a:ln>
              <a:noFill/>
            </a:ln>
          </p:spPr>
          <p:txBody>
            <a:bodyPr wrap="none" lIns="0" tIns="0" rIns="0" bIns="0" anchor="t" anchorCtr="0">
              <a:spAutoFit/>
            </a:bodyPr>
            <a:lstStyle/>
            <a:p>
              <a:pPr algn="l">
                <a:lnSpc>
                  <a:spcPts val="1425"/>
                </a:lnSpc>
              </a:pPr>
              <a:r>
                <a:rPr lang="zh-CN" sz="750" b="1" dirty="0">
                  <a:solidFill>
                    <a:srgbClr val="333333"/>
                  </a:solidFill>
                  <a:latin typeface="+mn-lt"/>
                  <a:ea typeface="+mn-ea"/>
                  <a:cs typeface="+mn-cs"/>
                </a:rPr>
                <a:t>“新基建”是指以新发展理念为引领，以技术</a:t>
              </a:r>
              <a:br/>
              <a:r>
                <a:rPr lang="zh-CN" sz="750" b="1" dirty="0">
                  <a:solidFill>
                    <a:srgbClr val="333333"/>
                  </a:solidFill>
                  <a:latin typeface="+mn-lt"/>
                  <a:ea typeface="+mn-ea"/>
                  <a:cs typeface="+mn-cs"/>
                </a:rPr>
                <a:t>创新为驱动，以数据为核心，以信息网络为基础</a:t>
              </a:r>
            </a:p>
          </p:txBody>
        </p:sp>
        <p:sp>
          <p:nvSpPr>
            <p:cNvPr id="45" name="TextBox 45"/>
            <p:cNvSpPr txBox="1"/>
            <p:nvPr/>
          </p:nvSpPr>
          <p:spPr>
            <a:xfrm>
              <a:off x="2033588" y="4285536"/>
              <a:ext cx="2173605" cy="311944"/>
            </a:xfrm>
            <a:prstGeom prst="rect">
              <a:avLst/>
            </a:prstGeom>
            <a:noFill/>
            <a:ln>
              <a:noFill/>
            </a:ln>
          </p:spPr>
          <p:txBody>
            <a:bodyPr wrap="none" lIns="0" tIns="0" rIns="0" bIns="0" anchor="t" anchorCtr="0">
              <a:spAutoFit/>
            </a:bodyPr>
            <a:lstStyle/>
            <a:p>
              <a:pPr algn="l">
                <a:lnSpc>
                  <a:spcPts val="1350"/>
                </a:lnSpc>
              </a:pPr>
              <a:r>
                <a:rPr lang="zh-CN" sz="710" dirty="0">
                  <a:solidFill>
                    <a:srgbClr val="595959"/>
                  </a:solidFill>
                  <a:latin typeface="+mn-lt"/>
                  <a:ea typeface="+mn-ea"/>
                  <a:cs typeface="+mn-cs"/>
                </a:rPr>
                <a:t>面向高质量发展需求，提供数字转型、智能升级、融合</a:t>
              </a:r>
              <a:br/>
              <a:r>
                <a:rPr lang="zh-CN" sz="710" dirty="0">
                  <a:solidFill>
                    <a:srgbClr val="595959"/>
                  </a:solidFill>
                  <a:latin typeface="+mn-lt"/>
                  <a:ea typeface="+mn-ea"/>
                  <a:cs typeface="+mn-cs"/>
                </a:rPr>
                <a:t>创新等服务的基础设施体系。</a:t>
              </a:r>
            </a:p>
          </p:txBody>
        </p:sp>
      </p:grpSp>
      <p:grpSp>
        <p:nvGrpSpPr>
          <p:cNvPr id="50" name="left-conclusion"/>
          <p:cNvGrpSpPr/>
          <p:nvPr/>
        </p:nvGrpSpPr>
        <p:grpSpPr>
          <a:xfrm>
            <a:off x="895350" y="4781550"/>
            <a:ext cx="4248150" cy="800100"/>
            <a:chOff x="895350" y="4781550"/>
            <a:chExt cx="4248150" cy="800100"/>
          </a:xfrm>
        </p:grpSpPr>
        <p:sp>
          <p:nvSpPr>
            <p:cNvPr id="47" name="Rectangle 47"/>
            <p:cNvSpPr/>
            <p:nvPr/>
          </p:nvSpPr>
          <p:spPr>
            <a:xfrm>
              <a:off x="895350" y="4781550"/>
              <a:ext cx="4248150" cy="800100"/>
            </a:xfrm>
            <a:prstGeom prst="rect">
              <a:avLst/>
            </a:prstGeom>
            <a:solidFill>
              <a:srgbClr val="FBF6E3"/>
            </a:solidFill>
            <a:ln>
              <a:noFill/>
            </a:ln>
          </p:spPr>
        </p:sp>
        <p:sp>
          <p:nvSpPr>
            <p:cNvPr id="48" name="TextBox 48"/>
            <p:cNvSpPr txBox="1"/>
            <p:nvPr/>
          </p:nvSpPr>
          <p:spPr>
            <a:xfrm>
              <a:off x="1098423" y="4967764"/>
              <a:ext cx="1391463" cy="249364"/>
            </a:xfrm>
            <a:prstGeom prst="rect">
              <a:avLst/>
            </a:prstGeom>
            <a:noFill/>
            <a:ln>
              <a:noFill/>
            </a:ln>
          </p:spPr>
          <p:txBody>
            <a:bodyPr wrap="none" lIns="0" tIns="0" rIns="0" bIns="0" anchor="t" anchorCtr="0">
              <a:spAutoFit/>
            </a:bodyPr>
            <a:lstStyle/>
            <a:p>
              <a:pPr algn="l"/>
              <a:r>
                <a:rPr lang="zh-CN" sz="1280" b="1" dirty="0">
                  <a:solidFill>
                    <a:srgbClr val="333333"/>
                  </a:solidFill>
                  <a:latin typeface="+mn-lt"/>
                  <a:ea typeface="+mn-ea"/>
                  <a:cs typeface="+mn-cs"/>
                </a:rPr>
                <a:t>新基建核心内涵：</a:t>
              </a:r>
            </a:p>
          </p:txBody>
        </p:sp>
        <p:sp>
          <p:nvSpPr>
            <p:cNvPr id="49" name="TextBox 49"/>
            <p:cNvSpPr txBox="1"/>
            <p:nvPr/>
          </p:nvSpPr>
          <p:spPr>
            <a:xfrm>
              <a:off x="1328738" y="5293995"/>
              <a:ext cx="2081327" cy="176212"/>
            </a:xfrm>
            <a:prstGeom prst="rect">
              <a:avLst/>
            </a:prstGeom>
            <a:noFill/>
            <a:ln>
              <a:noFill/>
            </a:ln>
          </p:spPr>
          <p:txBody>
            <a:bodyPr wrap="none" lIns="0" tIns="0" rIns="0" bIns="0" anchor="t" anchorCtr="0">
              <a:spAutoFit/>
            </a:bodyPr>
            <a:lstStyle/>
            <a:p>
              <a:pPr algn="l"/>
              <a:r>
                <a:rPr lang="zh-CN" sz="900" dirty="0">
                  <a:solidFill>
                    <a:srgbClr val="595959"/>
                  </a:solidFill>
                  <a:latin typeface="+mn-lt"/>
                  <a:ea typeface="+mn-ea"/>
                  <a:cs typeface="+mn-cs"/>
                </a:rPr>
                <a:t>新基建”立足于高科技的基础设施建设.</a:t>
              </a:r>
            </a:p>
          </p:txBody>
        </p:sp>
      </p:grpSp>
      <p:grpSp>
        <p:nvGrpSpPr>
          <p:cNvPr id="53" name="center-macro-arrow"/>
          <p:cNvGrpSpPr/>
          <p:nvPr/>
        </p:nvGrpSpPr>
        <p:grpSpPr>
          <a:xfrm>
            <a:off x="5295900" y="1428750"/>
            <a:ext cx="491109" cy="3048000"/>
            <a:chOff x="5295900" y="1428750"/>
            <a:chExt cx="491109" cy="3048000"/>
          </a:xfrm>
        </p:grpSpPr>
        <p:sp>
          <p:nvSpPr>
            <p:cNvPr id="51" name="Freeform 51"/>
            <p:cNvSpPr/>
            <p:nvPr/>
          </p:nvSpPr>
          <p:spPr>
            <a:xfrm>
              <a:off x="5295900" y="1428750"/>
              <a:ext cx="266700" cy="3048000"/>
            </a:xfrm>
            <a:prstGeom prst="downArrow">
              <a:avLst/>
            </a:prstGeom>
            <a:solidFill>
              <a:srgbClr val="E9563C"/>
            </a:solidFill>
            <a:ln>
              <a:noFill/>
            </a:ln>
          </p:spPr>
        </p:sp>
        <p:sp>
          <p:nvSpPr>
            <p:cNvPr id="52" name="TextBox 52"/>
            <p:cNvSpPr txBox="1"/>
            <p:nvPr/>
          </p:nvSpPr>
          <p:spPr>
            <a:xfrm>
              <a:off x="5642991" y="2344102"/>
              <a:ext cx="144018" cy="1348359"/>
            </a:xfrm>
            <a:prstGeom prst="rect">
              <a:avLst/>
            </a:prstGeom>
            <a:noFill/>
            <a:ln>
              <a:noFill/>
            </a:ln>
          </p:spPr>
          <p:txBody>
            <a:bodyPr wrap="none" lIns="0" tIns="0" rIns="0" bIns="0" anchor="t" anchorCtr="0">
              <a:spAutoFit/>
            </a:bodyPr>
            <a:lstStyle/>
            <a:p>
              <a:pPr algn="ctr">
                <a:lnSpc>
                  <a:spcPts val="1800"/>
                </a:lnSpc>
              </a:pPr>
              <a:r>
                <a:rPr lang="zh-CN" sz="1050" b="1" dirty="0">
                  <a:solidFill>
                    <a:srgbClr val="D6391E"/>
                  </a:solidFill>
                  <a:latin typeface="+mn-lt"/>
                  <a:ea typeface="+mn-ea"/>
                  <a:cs typeface="+mn-cs"/>
                </a:rPr>
                <a:t>宏</a:t>
              </a:r>
              <a:br/>
              <a:r>
                <a:rPr lang="zh-CN" sz="1050" b="1" dirty="0">
                  <a:solidFill>
                    <a:srgbClr val="D6391E"/>
                  </a:solidFill>
                  <a:latin typeface="+mn-lt"/>
                  <a:ea typeface="+mn-ea"/>
                  <a:cs typeface="+mn-cs"/>
                </a:rPr>
                <a:t>观</a:t>
              </a:r>
              <a:br/>
              <a:r>
                <a:rPr lang="zh-CN" sz="1050" b="1" dirty="0">
                  <a:solidFill>
                    <a:srgbClr val="D6391E"/>
                  </a:solidFill>
                  <a:latin typeface="+mn-lt"/>
                  <a:ea typeface="+mn-ea"/>
                  <a:cs typeface="+mn-cs"/>
                </a:rPr>
                <a:t>技</a:t>
              </a:r>
              <a:br/>
              <a:r>
                <a:rPr lang="zh-CN" sz="1050" b="1" dirty="0">
                  <a:solidFill>
                    <a:srgbClr val="D6391E"/>
                  </a:solidFill>
                  <a:latin typeface="+mn-lt"/>
                  <a:ea typeface="+mn-ea"/>
                  <a:cs typeface="+mn-cs"/>
                </a:rPr>
                <a:t>术</a:t>
              </a:r>
              <a:br/>
              <a:r>
                <a:rPr lang="zh-CN" sz="1050" b="1" dirty="0">
                  <a:solidFill>
                    <a:srgbClr val="D6391E"/>
                  </a:solidFill>
                  <a:latin typeface="+mn-lt"/>
                  <a:ea typeface="+mn-ea"/>
                  <a:cs typeface="+mn-cs"/>
                </a:rPr>
                <a:t>力</a:t>
              </a:r>
              <a:br/>
              <a:r>
                <a:rPr lang="zh-CN" sz="1050" b="1" dirty="0">
                  <a:solidFill>
                    <a:srgbClr val="D6391E"/>
                  </a:solidFill>
                  <a:latin typeface="+mn-lt"/>
                  <a:ea typeface="+mn-ea"/>
                  <a:cs typeface="+mn-cs"/>
                </a:rPr>
                <a:t>量</a:t>
              </a:r>
            </a:p>
          </p:txBody>
        </p:sp>
      </p:grpSp>
      <p:grpSp>
        <p:nvGrpSpPr>
          <p:cNvPr id="60" name="right-top-banner"/>
          <p:cNvGrpSpPr/>
          <p:nvPr/>
        </p:nvGrpSpPr>
        <p:grpSpPr>
          <a:xfrm>
            <a:off x="5905500" y="762000"/>
            <a:ext cx="5905500" cy="381000"/>
            <a:chOff x="5905500" y="762000"/>
            <a:chExt cx="5905500" cy="381000"/>
          </a:xfrm>
        </p:grpSpPr>
        <p:sp>
          <p:nvSpPr>
            <p:cNvPr id="54" name="Rectangle 54"/>
            <p:cNvSpPr/>
            <p:nvPr/>
          </p:nvSpPr>
          <p:spPr>
            <a:xfrm>
              <a:off x="5905500" y="762000"/>
              <a:ext cx="5905500" cy="381000"/>
            </a:xfrm>
            <a:prstGeom prst="rect">
              <a:avLst/>
            </a:prstGeom>
            <a:solidFill>
              <a:srgbClr val="F0F7EA"/>
            </a:solidFill>
            <a:ln w="11430">
              <a:solidFill>
                <a:srgbClr val="9C594C"/>
              </a:solidFill>
            </a:ln>
          </p:spPr>
        </p:sp>
        <p:grpSp>
          <p:nvGrpSpPr>
            <p:cNvPr id="58" name="Group 58"/>
            <p:cNvGrpSpPr/>
            <p:nvPr/>
          </p:nvGrpSpPr>
          <p:grpSpPr>
            <a:xfrm>
              <a:off x="6065044" y="873919"/>
              <a:ext cx="157163" cy="157162"/>
              <a:chOff x="6065044" y="873919"/>
              <a:chExt cx="157163" cy="157162"/>
            </a:xfrm>
          </p:grpSpPr>
          <p:sp>
            <p:nvSpPr>
              <p:cNvPr id="55" name="Freeform 55"/>
              <p:cNvSpPr/>
              <p:nvPr/>
            </p:nvSpPr>
            <p:spPr>
              <a:xfrm>
                <a:off x="6065044" y="873919"/>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9C594C"/>
                </a:solidFill>
              </a:ln>
            </p:spPr>
          </p:sp>
          <p:sp>
            <p:nvSpPr>
              <p:cNvPr id="56" name="Freeform 56"/>
              <p:cNvSpPr/>
              <p:nvPr/>
            </p:nvSpPr>
            <p:spPr>
              <a:xfrm>
                <a:off x="6082506" y="952500"/>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9C594C"/>
                </a:solidFill>
              </a:ln>
            </p:spPr>
          </p:sp>
          <p:sp>
            <p:nvSpPr>
              <p:cNvPr id="57" name="Freeform 57"/>
              <p:cNvSpPr/>
              <p:nvPr/>
            </p:nvSpPr>
            <p:spPr>
              <a:xfrm>
                <a:off x="6117431" y="961231"/>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9C594C"/>
                </a:solidFill>
              </a:ln>
            </p:spPr>
          </p:sp>
        </p:grpSp>
        <p:sp>
          <p:nvSpPr>
            <p:cNvPr id="59" name="TextBox 59"/>
            <p:cNvSpPr txBox="1"/>
            <p:nvPr/>
          </p:nvSpPr>
          <p:spPr>
            <a:xfrm>
              <a:off x="6338316" y="896302"/>
              <a:ext cx="1989582" cy="205359"/>
            </a:xfrm>
            <a:prstGeom prst="rect">
              <a:avLst/>
            </a:prstGeom>
            <a:noFill/>
            <a:ln>
              <a:noFill/>
            </a:ln>
          </p:spPr>
          <p:txBody>
            <a:bodyPr wrap="none" lIns="0" tIns="0" rIns="0" bIns="0" anchor="t" anchorCtr="0">
              <a:spAutoFit/>
            </a:bodyPr>
            <a:lstStyle/>
            <a:p>
              <a:pPr algn="l"/>
              <a:r>
                <a:rPr lang="zh-CN" sz="1050" b="1" dirty="0">
                  <a:solidFill>
                    <a:srgbClr val="7A3E33"/>
                  </a:solidFill>
                  <a:latin typeface="+mn-lt"/>
                  <a:ea typeface="+mn-ea"/>
                  <a:cs typeface="+mn-cs"/>
                </a:rPr>
                <a:t>数字化体验：分析技术和云技术</a:t>
              </a:r>
            </a:p>
          </p:txBody>
        </p:sp>
      </p:grpSp>
      <p:grpSp>
        <p:nvGrpSpPr>
          <p:cNvPr id="74" name="right-strategy-box"/>
          <p:cNvGrpSpPr/>
          <p:nvPr/>
        </p:nvGrpSpPr>
        <p:grpSpPr>
          <a:xfrm>
            <a:off x="5905500" y="1219200"/>
            <a:ext cx="5905500" cy="1257300"/>
            <a:chOff x="5905500" y="1219200"/>
            <a:chExt cx="5905500" cy="1257300"/>
          </a:xfrm>
        </p:grpSpPr>
        <p:sp>
          <p:nvSpPr>
            <p:cNvPr id="61" name="Rectangle 61"/>
            <p:cNvSpPr/>
            <p:nvPr/>
          </p:nvSpPr>
          <p:spPr>
            <a:xfrm>
              <a:off x="5905500" y="1219200"/>
              <a:ext cx="5905500" cy="1257300"/>
            </a:xfrm>
            <a:prstGeom prst="rect">
              <a:avLst/>
            </a:prstGeom>
            <a:solidFill>
              <a:srgbClr val="FFFFFF"/>
            </a:solidFill>
            <a:ln w="9525">
              <a:solidFill>
                <a:srgbClr val="C9D8BD"/>
              </a:solidFill>
            </a:ln>
          </p:spPr>
        </p:sp>
        <p:sp>
          <p:nvSpPr>
            <p:cNvPr id="62" name="TextBox 62"/>
            <p:cNvSpPr txBox="1"/>
            <p:nvPr/>
          </p:nvSpPr>
          <p:spPr>
            <a:xfrm>
              <a:off x="6090856" y="1395651"/>
              <a:ext cx="2034484" cy="198025"/>
            </a:xfrm>
            <a:prstGeom prst="rect">
              <a:avLst/>
            </a:prstGeom>
            <a:noFill/>
            <a:ln>
              <a:noFill/>
            </a:ln>
          </p:spPr>
          <p:txBody>
            <a:bodyPr wrap="none" lIns="0" tIns="0" rIns="0" bIns="0" anchor="t" anchorCtr="0">
              <a:spAutoFit/>
            </a:bodyPr>
            <a:lstStyle/>
            <a:p>
              <a:pPr algn="l"/>
              <a:r>
                <a:rPr lang="zh-CN" sz="1010" b="1" dirty="0">
                  <a:solidFill>
                    <a:srgbClr val="333333"/>
                  </a:solidFill>
                  <a:latin typeface="+mn-lt"/>
                  <a:ea typeface="+mn-ea"/>
                  <a:cs typeface="+mn-cs"/>
                </a:rPr>
                <a:t>“业务战略”和“新商业模式”结合​</a:t>
              </a:r>
            </a:p>
          </p:txBody>
        </p:sp>
        <p:sp>
          <p:nvSpPr>
            <p:cNvPr id="63" name="TextBox 63"/>
            <p:cNvSpPr txBox="1"/>
            <p:nvPr/>
          </p:nvSpPr>
          <p:spPr>
            <a:xfrm>
              <a:off x="6090856" y="1719501"/>
              <a:ext cx="1369949" cy="198025"/>
            </a:xfrm>
            <a:prstGeom prst="rect">
              <a:avLst/>
            </a:prstGeom>
            <a:noFill/>
            <a:ln>
              <a:noFill/>
            </a:ln>
          </p:spPr>
          <p:txBody>
            <a:bodyPr wrap="none" lIns="0" tIns="0" rIns="0" bIns="0" anchor="t" anchorCtr="0">
              <a:spAutoFit/>
            </a:bodyPr>
            <a:lstStyle/>
            <a:p>
              <a:pPr algn="l"/>
              <a:r>
                <a:rPr lang="zh-CN" sz="1010" b="1" dirty="0">
                  <a:solidFill>
                    <a:srgbClr val="333333"/>
                  </a:solidFill>
                  <a:latin typeface="+mn-lt"/>
                  <a:ea typeface="+mn-ea"/>
                  <a:cs typeface="+mn-cs"/>
                </a:rPr>
                <a:t>数字体验＋技术服务＝</a:t>
              </a:r>
            </a:p>
          </p:txBody>
        </p:sp>
        <p:sp>
          <p:nvSpPr>
            <p:cNvPr id="64" name="Rectangle 64"/>
            <p:cNvSpPr/>
            <p:nvPr/>
          </p:nvSpPr>
          <p:spPr>
            <a:xfrm>
              <a:off x="7620000" y="1657350"/>
              <a:ext cx="857250" cy="247650"/>
            </a:xfrm>
            <a:prstGeom prst="rect">
              <a:avLst/>
            </a:prstGeom>
            <a:solidFill>
              <a:srgbClr val="9C594C"/>
            </a:solidFill>
            <a:ln>
              <a:noFill/>
            </a:ln>
          </p:spPr>
        </p:sp>
        <p:sp>
          <p:nvSpPr>
            <p:cNvPr id="65" name="TextBox 65"/>
            <p:cNvSpPr txBox="1"/>
            <p:nvPr/>
          </p:nvSpPr>
          <p:spPr>
            <a:xfrm>
              <a:off x="7790777" y="172759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数字实现</a:t>
              </a:r>
            </a:p>
          </p:txBody>
        </p:sp>
        <p:sp>
          <p:nvSpPr>
            <p:cNvPr id="66" name="TextBox 66"/>
            <p:cNvSpPr txBox="1"/>
            <p:nvPr/>
          </p:nvSpPr>
          <p:spPr>
            <a:xfrm>
              <a:off x="6091238" y="2018586"/>
              <a:ext cx="2083435" cy="311944"/>
            </a:xfrm>
            <a:prstGeom prst="rect">
              <a:avLst/>
            </a:prstGeom>
            <a:noFill/>
            <a:ln>
              <a:noFill/>
            </a:ln>
          </p:spPr>
          <p:txBody>
            <a:bodyPr wrap="none" lIns="0" tIns="0" rIns="0" bIns="0" anchor="t" anchorCtr="0">
              <a:spAutoFit/>
            </a:bodyPr>
            <a:lstStyle/>
            <a:p>
              <a:pPr algn="l">
                <a:lnSpc>
                  <a:spcPts val="1350"/>
                </a:lnSpc>
              </a:pPr>
              <a:r>
                <a:rPr lang="zh-CN" sz="710" dirty="0">
                  <a:solidFill>
                    <a:srgbClr val="595959"/>
                  </a:solidFill>
                  <a:latin typeface="+mn-lt"/>
                  <a:ea typeface="+mn-ea"/>
                  <a:cs typeface="+mn-cs"/>
                </a:rPr>
                <a:t>实现由传统技术向数字现实，分析技术向认知技术、</a:t>
              </a:r>
              <a:br/>
              <a:r>
                <a:rPr lang="zh-CN" sz="710" dirty="0">
                  <a:solidFill>
                    <a:srgbClr val="595959"/>
                  </a:solidFill>
                  <a:latin typeface="+mn-lt"/>
                  <a:ea typeface="+mn-ea"/>
                  <a:cs typeface="+mn-cs"/>
                </a:rPr>
                <a:t>以及云技术向区块链的转变。</a:t>
              </a:r>
            </a:p>
          </p:txBody>
        </p:sp>
        <p:sp>
          <p:nvSpPr>
            <p:cNvPr id="67" name="Rectangle 67"/>
            <p:cNvSpPr/>
            <p:nvPr/>
          </p:nvSpPr>
          <p:spPr>
            <a:xfrm>
              <a:off x="10001250" y="1333500"/>
              <a:ext cx="1676400" cy="1028700"/>
            </a:xfrm>
            <a:prstGeom prst="rect">
              <a:avLst/>
            </a:prstGeom>
            <a:gradFill>
              <a:gsLst>
                <a:gs pos="0">
                  <a:srgbClr val="C2877C"/>
                </a:gs>
                <a:gs pos="100000">
                  <a:srgbClr val="7A3E33"/>
                </a:gs>
              </a:gsLst>
              <a:lin ang="2700000" scaled="1"/>
            </a:gradFill>
            <a:ln>
              <a:noFill/>
            </a:ln>
          </p:spPr>
        </p:sp>
        <p:sp>
          <p:nvSpPr>
            <p:cNvPr id="68" name="Rectangle 68"/>
            <p:cNvSpPr/>
            <p:nvPr/>
          </p:nvSpPr>
          <p:spPr>
            <a:xfrm>
              <a:off x="10153650" y="1676400"/>
              <a:ext cx="152400" cy="685800"/>
            </a:xfrm>
            <a:prstGeom prst="rect">
              <a:avLst/>
            </a:prstGeom>
            <a:solidFill>
              <a:srgbClr val="CD9F96"/>
            </a:solidFill>
            <a:ln>
              <a:noFill/>
            </a:ln>
          </p:spPr>
        </p:sp>
        <p:sp>
          <p:nvSpPr>
            <p:cNvPr id="69" name="Rectangle 69"/>
            <p:cNvSpPr/>
            <p:nvPr/>
          </p:nvSpPr>
          <p:spPr>
            <a:xfrm>
              <a:off x="10363200" y="1524000"/>
              <a:ext cx="190500" cy="838200"/>
            </a:xfrm>
            <a:prstGeom prst="rect">
              <a:avLst/>
            </a:prstGeom>
            <a:solidFill>
              <a:srgbClr val="DFB7B0"/>
            </a:solidFill>
            <a:ln>
              <a:noFill/>
            </a:ln>
          </p:spPr>
        </p:sp>
        <p:sp>
          <p:nvSpPr>
            <p:cNvPr id="70" name="Rectangle 70"/>
            <p:cNvSpPr/>
            <p:nvPr/>
          </p:nvSpPr>
          <p:spPr>
            <a:xfrm>
              <a:off x="10610850" y="1752600"/>
              <a:ext cx="133350" cy="609600"/>
            </a:xfrm>
            <a:prstGeom prst="rect">
              <a:avLst/>
            </a:prstGeom>
            <a:solidFill>
              <a:srgbClr val="CD9F96"/>
            </a:solidFill>
            <a:ln>
              <a:noFill/>
            </a:ln>
          </p:spPr>
        </p:sp>
        <p:sp>
          <p:nvSpPr>
            <p:cNvPr id="71" name="Rectangle 71"/>
            <p:cNvSpPr/>
            <p:nvPr/>
          </p:nvSpPr>
          <p:spPr>
            <a:xfrm>
              <a:off x="10801350" y="1447800"/>
              <a:ext cx="209550" cy="914400"/>
            </a:xfrm>
            <a:prstGeom prst="rect">
              <a:avLst/>
            </a:prstGeom>
            <a:solidFill>
              <a:srgbClr val="DCEBD2"/>
            </a:solidFill>
            <a:ln>
              <a:noFill/>
            </a:ln>
          </p:spPr>
        </p:sp>
        <p:sp>
          <p:nvSpPr>
            <p:cNvPr id="72" name="Rectangle 72"/>
            <p:cNvSpPr/>
            <p:nvPr/>
          </p:nvSpPr>
          <p:spPr>
            <a:xfrm>
              <a:off x="11068050" y="1619250"/>
              <a:ext cx="152400" cy="742950"/>
            </a:xfrm>
            <a:prstGeom prst="rect">
              <a:avLst/>
            </a:prstGeom>
            <a:solidFill>
              <a:srgbClr val="CD9F96"/>
            </a:solidFill>
            <a:ln>
              <a:noFill/>
            </a:ln>
          </p:spPr>
        </p:sp>
        <p:sp>
          <p:nvSpPr>
            <p:cNvPr id="73" name="Rectangle 73"/>
            <p:cNvSpPr/>
            <p:nvPr/>
          </p:nvSpPr>
          <p:spPr>
            <a:xfrm>
              <a:off x="11277600" y="1809750"/>
              <a:ext cx="228600" cy="552450"/>
            </a:xfrm>
            <a:prstGeom prst="rect">
              <a:avLst/>
            </a:prstGeom>
            <a:solidFill>
              <a:srgbClr val="DFB7B0"/>
            </a:solidFill>
            <a:ln>
              <a:noFill/>
            </a:ln>
          </p:spPr>
        </p:sp>
      </p:grpSp>
      <p:grpSp>
        <p:nvGrpSpPr>
          <p:cNvPr id="80" name="right-trend-banner"/>
          <p:cNvGrpSpPr/>
          <p:nvPr/>
        </p:nvGrpSpPr>
        <p:grpSpPr>
          <a:xfrm>
            <a:off x="5905500" y="2533650"/>
            <a:ext cx="5905500" cy="381000"/>
            <a:chOff x="5905500" y="2533650"/>
            <a:chExt cx="5905500" cy="381000"/>
          </a:xfrm>
        </p:grpSpPr>
        <p:sp>
          <p:nvSpPr>
            <p:cNvPr id="75" name="Rectangle 75"/>
            <p:cNvSpPr/>
            <p:nvPr/>
          </p:nvSpPr>
          <p:spPr>
            <a:xfrm>
              <a:off x="5905500" y="2533650"/>
              <a:ext cx="5905500" cy="381000"/>
            </a:xfrm>
            <a:prstGeom prst="rect">
              <a:avLst/>
            </a:prstGeom>
            <a:solidFill>
              <a:srgbClr val="FDF6E7"/>
            </a:solidFill>
            <a:ln w="11430">
              <a:solidFill>
                <a:srgbClr val="E9563C"/>
              </a:solidFill>
            </a:ln>
          </p:spPr>
        </p:sp>
        <p:grpSp>
          <p:nvGrpSpPr>
            <p:cNvPr id="78" name="Group 78"/>
            <p:cNvGrpSpPr/>
            <p:nvPr/>
          </p:nvGrpSpPr>
          <p:grpSpPr>
            <a:xfrm>
              <a:off x="6065044" y="2671763"/>
              <a:ext cx="157163" cy="104775"/>
              <a:chOff x="6065044" y="2671763"/>
              <a:chExt cx="157163" cy="104775"/>
            </a:xfrm>
          </p:grpSpPr>
          <p:sp>
            <p:nvSpPr>
              <p:cNvPr id="76" name="Freeform 76"/>
              <p:cNvSpPr/>
              <p:nvPr/>
            </p:nvSpPr>
            <p:spPr>
              <a:xfrm>
                <a:off x="6126163" y="2706688"/>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D6391E"/>
                </a:solidFill>
              </a:ln>
            </p:spPr>
          </p:sp>
          <p:sp>
            <p:nvSpPr>
              <p:cNvPr id="77" name="Freeform 77"/>
              <p:cNvSpPr/>
              <p:nvPr/>
            </p:nvSpPr>
            <p:spPr>
              <a:xfrm>
                <a:off x="6065044" y="2671763"/>
                <a:ext cx="157163" cy="104775"/>
              </a:xfrm>
              <a:custGeom>
                <a:avLst/>
                <a:gdLst/>
                <a:ahLst/>
                <a:cxnLst/>
                <a:rect l="l" t="t" r="r" b="b"/>
                <a:pathLst>
                  <a:path w="157163" h="104775">
                    <a:moveTo>
                      <a:pt x="157163" y="52388"/>
                    </a:moveTo>
                    <a:cubicBezTo>
                      <a:pt x="136208" y="87313"/>
                      <a:pt x="110014" y="104775"/>
                      <a:pt x="78581" y="104775"/>
                    </a:cubicBezTo>
                    <a:cubicBezTo>
                      <a:pt x="47149" y="104775"/>
                      <a:pt x="20955" y="87313"/>
                      <a:pt x="0" y="52388"/>
                    </a:cubicBezTo>
                    <a:cubicBezTo>
                      <a:pt x="20955" y="17463"/>
                      <a:pt x="47149" y="0"/>
                      <a:pt x="78581" y="0"/>
                    </a:cubicBezTo>
                    <a:cubicBezTo>
                      <a:pt x="110014" y="0"/>
                      <a:pt x="136208" y="17463"/>
                      <a:pt x="157163" y="52388"/>
                    </a:cubicBezTo>
                  </a:path>
                </a:pathLst>
              </a:custGeom>
              <a:noFill/>
              <a:ln w="17463">
                <a:solidFill>
                  <a:srgbClr val="D6391E"/>
                </a:solidFill>
              </a:ln>
            </p:spPr>
          </p:sp>
        </p:grpSp>
        <p:sp>
          <p:nvSpPr>
            <p:cNvPr id="79" name="TextBox 79"/>
            <p:cNvSpPr txBox="1"/>
            <p:nvPr/>
          </p:nvSpPr>
          <p:spPr>
            <a:xfrm>
              <a:off x="6338697" y="2676049"/>
              <a:ext cx="2536979" cy="190690"/>
            </a:xfrm>
            <a:prstGeom prst="rect">
              <a:avLst/>
            </a:prstGeom>
            <a:noFill/>
            <a:ln>
              <a:noFill/>
            </a:ln>
          </p:spPr>
          <p:txBody>
            <a:bodyPr wrap="none" lIns="0" tIns="0" rIns="0" bIns="0" anchor="t" anchorCtr="0">
              <a:spAutoFit/>
            </a:bodyPr>
            <a:lstStyle/>
            <a:p>
              <a:pPr algn="l"/>
              <a:r>
                <a:rPr lang="zh-CN" sz="980" b="1" dirty="0">
                  <a:solidFill>
                    <a:srgbClr val="333333"/>
                  </a:solidFill>
                  <a:latin typeface="+mn-lt"/>
                  <a:ea typeface="+mn-ea"/>
                  <a:cs typeface="+mn-cs"/>
                </a:rPr>
                <a:t>数字趋势洞察：</a:t>
              </a:r>
              <a:r>
                <a:rPr lang="zh-CN" sz="980" b="1" dirty="0">
                  <a:solidFill>
                    <a:srgbClr val="D6391E"/>
                  </a:solidFill>
                  <a:latin typeface="+mn-lt"/>
                  <a:ea typeface="+mn-ea"/>
                  <a:cs typeface="+mn-cs"/>
                </a:rPr>
                <a:t>驱动力/颠覆性驱动力/基石</a:t>
              </a:r>
            </a:p>
          </p:txBody>
        </p:sp>
      </p:grpSp>
      <p:grpSp>
        <p:nvGrpSpPr>
          <p:cNvPr id="107" name="right-three-drivers"/>
          <p:cNvGrpSpPr/>
          <p:nvPr/>
        </p:nvGrpSpPr>
        <p:grpSpPr>
          <a:xfrm>
            <a:off x="5905500" y="2990850"/>
            <a:ext cx="5905500" cy="1866900"/>
            <a:chOff x="5905500" y="2990850"/>
            <a:chExt cx="5905500" cy="1866900"/>
          </a:xfrm>
        </p:grpSpPr>
        <p:sp>
          <p:nvSpPr>
            <p:cNvPr id="81" name="Rectangle 81"/>
            <p:cNvSpPr/>
            <p:nvPr/>
          </p:nvSpPr>
          <p:spPr>
            <a:xfrm>
              <a:off x="5905500" y="2990850"/>
              <a:ext cx="5905500" cy="1866900"/>
            </a:xfrm>
            <a:prstGeom prst="rect">
              <a:avLst/>
            </a:prstGeom>
            <a:solidFill>
              <a:srgbClr val="FFFFFF"/>
            </a:solidFill>
            <a:ln w="9525">
              <a:solidFill>
                <a:srgbClr val="C9D8BD"/>
              </a:solidFill>
              <a:custDash>
                <a:ds d="400000" sp="300000"/>
              </a:custDash>
            </a:ln>
          </p:spPr>
        </p:sp>
        <p:sp>
          <p:nvSpPr>
            <p:cNvPr id="82" name="TextBox 82"/>
            <p:cNvSpPr txBox="1"/>
            <p:nvPr/>
          </p:nvSpPr>
          <p:spPr>
            <a:xfrm>
              <a:off x="6629857" y="3129201"/>
              <a:ext cx="418186" cy="198025"/>
            </a:xfrm>
            <a:prstGeom prst="rect">
              <a:avLst/>
            </a:prstGeom>
            <a:noFill/>
            <a:ln>
              <a:noFill/>
            </a:ln>
          </p:spPr>
          <p:txBody>
            <a:bodyPr wrap="none" lIns="0" tIns="0" rIns="0" bIns="0" anchor="t" anchorCtr="0">
              <a:spAutoFit/>
            </a:bodyPr>
            <a:lstStyle/>
            <a:p>
              <a:pPr algn="ctr"/>
              <a:r>
                <a:rPr lang="zh-CN" sz="1010" b="1" dirty="0">
                  <a:solidFill>
                    <a:srgbClr val="D6391E"/>
                  </a:solidFill>
                  <a:latin typeface="+mn-lt"/>
                  <a:ea typeface="+mn-ea"/>
                  <a:cs typeface="+mn-cs"/>
                </a:rPr>
                <a:t>驱动力</a:t>
              </a:r>
            </a:p>
          </p:txBody>
        </p:sp>
        <p:sp>
          <p:nvSpPr>
            <p:cNvPr id="83" name="Rectangle 83"/>
            <p:cNvSpPr/>
            <p:nvPr/>
          </p:nvSpPr>
          <p:spPr>
            <a:xfrm>
              <a:off x="6134100" y="3352800"/>
              <a:ext cx="1409700" cy="266700"/>
            </a:xfrm>
            <a:prstGeom prst="rect">
              <a:avLst/>
            </a:prstGeom>
            <a:solidFill>
              <a:srgbClr val="FFFFFF"/>
            </a:solidFill>
            <a:ln w="11430">
              <a:solidFill>
                <a:srgbClr val="E9563C"/>
              </a:solidFill>
            </a:ln>
          </p:spPr>
        </p:sp>
        <p:sp>
          <p:nvSpPr>
            <p:cNvPr id="84" name="TextBox 84"/>
            <p:cNvSpPr txBox="1"/>
            <p:nvPr/>
          </p:nvSpPr>
          <p:spPr>
            <a:xfrm>
              <a:off x="6449242" y="3440668"/>
              <a:ext cx="779417"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体验/分析/云​</a:t>
              </a:r>
            </a:p>
          </p:txBody>
        </p:sp>
        <p:sp>
          <p:nvSpPr>
            <p:cNvPr id="85" name="Rectangle 85"/>
            <p:cNvSpPr/>
            <p:nvPr/>
          </p:nvSpPr>
          <p:spPr>
            <a:xfrm>
              <a:off x="6305550" y="3752850"/>
              <a:ext cx="1066800" cy="952500"/>
            </a:xfrm>
            <a:prstGeom prst="rect">
              <a:avLst/>
            </a:prstGeom>
            <a:gradFill>
              <a:gsLst>
                <a:gs pos="0">
                  <a:srgbClr val="F38C7A"/>
                </a:gs>
                <a:gs pos="100000">
                  <a:srgbClr val="D6391E"/>
                </a:gs>
              </a:gsLst>
              <a:lin ang="2700000" scaled="1"/>
            </a:gradFill>
            <a:ln>
              <a:noFill/>
            </a:ln>
          </p:spPr>
        </p:sp>
        <p:sp>
          <p:nvSpPr>
            <p:cNvPr id="86" name="Rectangle 86"/>
            <p:cNvSpPr/>
            <p:nvPr/>
          </p:nvSpPr>
          <p:spPr>
            <a:xfrm>
              <a:off x="6457950" y="4095750"/>
              <a:ext cx="133350" cy="609600"/>
            </a:xfrm>
            <a:prstGeom prst="rect">
              <a:avLst/>
            </a:prstGeom>
            <a:solidFill>
              <a:srgbClr val="F7B7AC"/>
            </a:solidFill>
            <a:ln>
              <a:noFill/>
            </a:ln>
          </p:spPr>
        </p:sp>
        <p:sp>
          <p:nvSpPr>
            <p:cNvPr id="87" name="Rectangle 87"/>
            <p:cNvSpPr/>
            <p:nvPr/>
          </p:nvSpPr>
          <p:spPr>
            <a:xfrm>
              <a:off x="6648450" y="3943350"/>
              <a:ext cx="171450" cy="762000"/>
            </a:xfrm>
            <a:prstGeom prst="rect">
              <a:avLst/>
            </a:prstGeom>
            <a:solidFill>
              <a:srgbClr val="FBCEC6"/>
            </a:solidFill>
            <a:ln>
              <a:noFill/>
            </a:ln>
          </p:spPr>
        </p:sp>
        <p:sp>
          <p:nvSpPr>
            <p:cNvPr id="88" name="Rectangle 88"/>
            <p:cNvSpPr/>
            <p:nvPr/>
          </p:nvSpPr>
          <p:spPr>
            <a:xfrm>
              <a:off x="6877050" y="4191000"/>
              <a:ext cx="114300" cy="514350"/>
            </a:xfrm>
            <a:prstGeom prst="rect">
              <a:avLst/>
            </a:prstGeom>
            <a:solidFill>
              <a:srgbClr val="F7B7AC"/>
            </a:solidFill>
            <a:ln>
              <a:noFill/>
            </a:ln>
          </p:spPr>
        </p:sp>
        <p:sp>
          <p:nvSpPr>
            <p:cNvPr id="89" name="Rectangle 89"/>
            <p:cNvSpPr/>
            <p:nvPr/>
          </p:nvSpPr>
          <p:spPr>
            <a:xfrm>
              <a:off x="7048500" y="4019550"/>
              <a:ext cx="190500" cy="685800"/>
            </a:xfrm>
            <a:prstGeom prst="rect">
              <a:avLst/>
            </a:prstGeom>
            <a:solidFill>
              <a:srgbClr val="FBCEC6"/>
            </a:solidFill>
            <a:ln>
              <a:noFill/>
            </a:ln>
          </p:spPr>
        </p:sp>
        <p:sp>
          <p:nvSpPr>
            <p:cNvPr id="90" name="TextBox 90"/>
            <p:cNvSpPr txBox="1"/>
            <p:nvPr/>
          </p:nvSpPr>
          <p:spPr>
            <a:xfrm>
              <a:off x="8407108" y="3129201"/>
              <a:ext cx="826084" cy="198025"/>
            </a:xfrm>
            <a:prstGeom prst="rect">
              <a:avLst/>
            </a:prstGeom>
            <a:noFill/>
            <a:ln>
              <a:noFill/>
            </a:ln>
          </p:spPr>
          <p:txBody>
            <a:bodyPr wrap="none" lIns="0" tIns="0" rIns="0" bIns="0" anchor="t" anchorCtr="0">
              <a:spAutoFit/>
            </a:bodyPr>
            <a:lstStyle/>
            <a:p>
              <a:pPr algn="ctr"/>
              <a:r>
                <a:rPr lang="zh-CN" sz="1010" b="1" dirty="0">
                  <a:solidFill>
                    <a:srgbClr val="D6391E"/>
                  </a:solidFill>
                  <a:latin typeface="+mn-lt"/>
                  <a:ea typeface="+mn-ea"/>
                  <a:cs typeface="+mn-cs"/>
                </a:rPr>
                <a:t>颠覆性驱动力</a:t>
              </a:r>
            </a:p>
          </p:txBody>
        </p:sp>
        <p:sp>
          <p:nvSpPr>
            <p:cNvPr id="91" name="Rectangle 91"/>
            <p:cNvSpPr/>
            <p:nvPr/>
          </p:nvSpPr>
          <p:spPr>
            <a:xfrm>
              <a:off x="8058150" y="3352800"/>
              <a:ext cx="1524000" cy="266700"/>
            </a:xfrm>
            <a:prstGeom prst="rect">
              <a:avLst/>
            </a:prstGeom>
            <a:solidFill>
              <a:srgbClr val="FFFFFF"/>
            </a:solidFill>
            <a:ln w="11430">
              <a:solidFill>
                <a:srgbClr val="E9563C"/>
              </a:solidFill>
            </a:ln>
          </p:spPr>
        </p:sp>
        <p:sp>
          <p:nvSpPr>
            <p:cNvPr id="92" name="TextBox 92"/>
            <p:cNvSpPr txBox="1"/>
            <p:nvPr/>
          </p:nvSpPr>
          <p:spPr>
            <a:xfrm>
              <a:off x="8372555" y="3440668"/>
              <a:ext cx="895190"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认知/变革/颠覆​</a:t>
              </a:r>
            </a:p>
          </p:txBody>
        </p:sp>
        <p:sp>
          <p:nvSpPr>
            <p:cNvPr id="93" name="TextBox 93"/>
            <p:cNvSpPr txBox="1"/>
            <p:nvPr/>
          </p:nvSpPr>
          <p:spPr>
            <a:xfrm>
              <a:off x="8624227" y="3790236"/>
              <a:ext cx="391846" cy="140494"/>
            </a:xfrm>
            <a:prstGeom prst="rect">
              <a:avLst/>
            </a:prstGeom>
            <a:noFill/>
            <a:ln>
              <a:noFill/>
            </a:ln>
          </p:spPr>
          <p:txBody>
            <a:bodyPr wrap="none" lIns="0" tIns="0" rIns="0" bIns="0" anchor="t" anchorCtr="0">
              <a:spAutoFit/>
            </a:bodyPr>
            <a:lstStyle/>
            <a:p>
              <a:pPr algn="ctr"/>
              <a:r>
                <a:rPr lang="zh-CN" sz="710" dirty="0">
                  <a:solidFill>
                    <a:srgbClr val="595959"/>
                  </a:solidFill>
                  <a:latin typeface="+mn-lt"/>
                  <a:ea typeface="+mn-ea"/>
                  <a:cs typeface="+mn-cs"/>
                </a:rPr>
                <a:t>分析技术</a:t>
              </a:r>
            </a:p>
          </p:txBody>
        </p:sp>
        <p:sp>
          <p:nvSpPr>
            <p:cNvPr id="94" name="Line 94"/>
            <p:cNvSpPr/>
            <p:nvPr/>
          </p:nvSpPr>
          <p:spPr>
            <a:xfrm>
              <a:off x="8820150" y="3924300"/>
              <a:ext cx="9525" cy="171450"/>
            </a:xfrm>
            <a:custGeom>
              <a:avLst/>
              <a:gdLst/>
              <a:ahLst/>
              <a:cxnLst/>
              <a:rect l="l" t="t" r="r" b="b"/>
              <a:pathLst>
                <a:path w="9525" h="171450">
                  <a:moveTo>
                    <a:pt x="0" y="0"/>
                  </a:moveTo>
                  <a:lnTo>
                    <a:pt x="0" y="171450"/>
                  </a:lnTo>
                </a:path>
              </a:pathLst>
            </a:custGeom>
            <a:noFill/>
            <a:ln w="9525">
              <a:solidFill>
                <a:srgbClr val="9AA69A"/>
              </a:solidFill>
            </a:ln>
          </p:spPr>
        </p:sp>
        <p:sp>
          <p:nvSpPr>
            <p:cNvPr id="95" name="TextBox 95"/>
            <p:cNvSpPr txBox="1"/>
            <p:nvPr/>
          </p:nvSpPr>
          <p:spPr>
            <a:xfrm>
              <a:off x="8624227" y="4152186"/>
              <a:ext cx="391846" cy="140494"/>
            </a:xfrm>
            <a:prstGeom prst="rect">
              <a:avLst/>
            </a:prstGeom>
            <a:noFill/>
            <a:ln>
              <a:noFill/>
            </a:ln>
          </p:spPr>
          <p:txBody>
            <a:bodyPr wrap="none" lIns="0" tIns="0" rIns="0" bIns="0" anchor="t" anchorCtr="0">
              <a:spAutoFit/>
            </a:bodyPr>
            <a:lstStyle/>
            <a:p>
              <a:pPr algn="ctr"/>
              <a:r>
                <a:rPr lang="zh-CN" sz="710" dirty="0">
                  <a:solidFill>
                    <a:srgbClr val="595959"/>
                  </a:solidFill>
                  <a:latin typeface="+mn-lt"/>
                  <a:ea typeface="+mn-ea"/>
                  <a:cs typeface="+mn-cs"/>
                </a:rPr>
                <a:t>网络监管</a:t>
              </a:r>
            </a:p>
          </p:txBody>
        </p:sp>
        <p:sp>
          <p:nvSpPr>
            <p:cNvPr id="96" name="Line 96"/>
            <p:cNvSpPr/>
            <p:nvPr/>
          </p:nvSpPr>
          <p:spPr>
            <a:xfrm>
              <a:off x="8820150" y="4286250"/>
              <a:ext cx="9525" cy="171450"/>
            </a:xfrm>
            <a:custGeom>
              <a:avLst/>
              <a:gdLst/>
              <a:ahLst/>
              <a:cxnLst/>
              <a:rect l="l" t="t" r="r" b="b"/>
              <a:pathLst>
                <a:path w="9525" h="171450">
                  <a:moveTo>
                    <a:pt x="0" y="0"/>
                  </a:moveTo>
                  <a:lnTo>
                    <a:pt x="0" y="171450"/>
                  </a:lnTo>
                </a:path>
              </a:pathLst>
            </a:custGeom>
            <a:noFill/>
            <a:ln w="9525">
              <a:solidFill>
                <a:srgbClr val="9AA69A"/>
              </a:solidFill>
            </a:ln>
          </p:spPr>
        </p:sp>
        <p:sp>
          <p:nvSpPr>
            <p:cNvPr id="97" name="TextBox 97"/>
            <p:cNvSpPr txBox="1"/>
            <p:nvPr/>
          </p:nvSpPr>
          <p:spPr>
            <a:xfrm>
              <a:off x="8528647" y="4533186"/>
              <a:ext cx="583006" cy="140494"/>
            </a:xfrm>
            <a:prstGeom prst="rect">
              <a:avLst/>
            </a:prstGeom>
            <a:noFill/>
            <a:ln>
              <a:noFill/>
            </a:ln>
          </p:spPr>
          <p:txBody>
            <a:bodyPr wrap="none" lIns="0" tIns="0" rIns="0" bIns="0" anchor="t" anchorCtr="0">
              <a:spAutoFit/>
            </a:bodyPr>
            <a:lstStyle/>
            <a:p>
              <a:pPr algn="ctr"/>
              <a:r>
                <a:rPr lang="zh-CN" sz="710" dirty="0">
                  <a:solidFill>
                    <a:srgbClr val="595959"/>
                  </a:solidFill>
                  <a:latin typeface="+mn-lt"/>
                  <a:ea typeface="+mn-ea"/>
                  <a:cs typeface="+mn-cs"/>
                </a:rPr>
                <a:t>重塑商业核心</a:t>
              </a:r>
            </a:p>
          </p:txBody>
        </p:sp>
        <p:sp>
          <p:nvSpPr>
            <p:cNvPr id="98" name="TextBox 98"/>
            <p:cNvSpPr txBox="1"/>
            <p:nvPr/>
          </p:nvSpPr>
          <p:spPr>
            <a:xfrm>
              <a:off x="10698340" y="3129201"/>
              <a:ext cx="282219" cy="198025"/>
            </a:xfrm>
            <a:prstGeom prst="rect">
              <a:avLst/>
            </a:prstGeom>
            <a:noFill/>
            <a:ln>
              <a:noFill/>
            </a:ln>
          </p:spPr>
          <p:txBody>
            <a:bodyPr wrap="none" lIns="0" tIns="0" rIns="0" bIns="0" anchor="t" anchorCtr="0">
              <a:spAutoFit/>
            </a:bodyPr>
            <a:lstStyle/>
            <a:p>
              <a:pPr algn="ctr"/>
              <a:r>
                <a:rPr lang="zh-CN" sz="1010" b="1" dirty="0">
                  <a:solidFill>
                    <a:srgbClr val="D6391E"/>
                  </a:solidFill>
                  <a:latin typeface="+mn-lt"/>
                  <a:ea typeface="+mn-ea"/>
                  <a:cs typeface="+mn-cs"/>
                </a:rPr>
                <a:t>基石</a:t>
              </a:r>
            </a:p>
          </p:txBody>
        </p:sp>
        <p:sp>
          <p:nvSpPr>
            <p:cNvPr id="99" name="Rectangle 99"/>
            <p:cNvSpPr/>
            <p:nvPr/>
          </p:nvSpPr>
          <p:spPr>
            <a:xfrm>
              <a:off x="10096500" y="3352800"/>
              <a:ext cx="1485900" cy="266700"/>
            </a:xfrm>
            <a:prstGeom prst="rect">
              <a:avLst/>
            </a:prstGeom>
            <a:solidFill>
              <a:srgbClr val="FFFFFF"/>
            </a:solidFill>
            <a:ln w="11430">
              <a:solidFill>
                <a:srgbClr val="E9563C"/>
              </a:solidFill>
            </a:ln>
          </p:spPr>
        </p:sp>
        <p:sp>
          <p:nvSpPr>
            <p:cNvPr id="100" name="TextBox 100"/>
            <p:cNvSpPr txBox="1"/>
            <p:nvPr/>
          </p:nvSpPr>
          <p:spPr>
            <a:xfrm>
              <a:off x="10391855" y="3440668"/>
              <a:ext cx="895190"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创新/风险/核心​</a:t>
              </a:r>
            </a:p>
          </p:txBody>
        </p:sp>
        <p:sp>
          <p:nvSpPr>
            <p:cNvPr id="101" name="Ellipse 101"/>
            <p:cNvSpPr/>
            <p:nvPr/>
          </p:nvSpPr>
          <p:spPr>
            <a:xfrm>
              <a:off x="10125075" y="3781425"/>
              <a:ext cx="95250" cy="95250"/>
            </a:xfrm>
            <a:prstGeom prst="ellipse">
              <a:avLst/>
            </a:prstGeom>
            <a:solidFill>
              <a:srgbClr val="E9563C"/>
            </a:solidFill>
            <a:ln>
              <a:noFill/>
            </a:ln>
          </p:spPr>
        </p:sp>
        <p:sp>
          <p:nvSpPr>
            <p:cNvPr id="102" name="TextBox 102"/>
            <p:cNvSpPr txBox="1"/>
            <p:nvPr/>
          </p:nvSpPr>
          <p:spPr>
            <a:xfrm>
              <a:off x="10282238" y="3790236"/>
              <a:ext cx="965327" cy="140494"/>
            </a:xfrm>
            <a:prstGeom prst="rect">
              <a:avLst/>
            </a:prstGeom>
            <a:noFill/>
            <a:ln>
              <a:noFill/>
            </a:ln>
          </p:spPr>
          <p:txBody>
            <a:bodyPr wrap="none" lIns="0" tIns="0" rIns="0" bIns="0" anchor="t" anchorCtr="0">
              <a:spAutoFit/>
            </a:bodyPr>
            <a:lstStyle/>
            <a:p>
              <a:pPr algn="l"/>
              <a:r>
                <a:rPr lang="zh-CN" sz="710" dirty="0">
                  <a:solidFill>
                    <a:srgbClr val="595959"/>
                  </a:solidFill>
                  <a:latin typeface="+mn-lt"/>
                  <a:ea typeface="+mn-ea"/>
                  <a:cs typeface="+mn-cs"/>
                </a:rPr>
                <a:t>技术业务、风险和核心</a:t>
              </a:r>
            </a:p>
          </p:txBody>
        </p:sp>
        <p:sp>
          <p:nvSpPr>
            <p:cNvPr id="103" name="Ellipse 103"/>
            <p:cNvSpPr/>
            <p:nvPr/>
          </p:nvSpPr>
          <p:spPr>
            <a:xfrm>
              <a:off x="10125075" y="4124325"/>
              <a:ext cx="95250" cy="95250"/>
            </a:xfrm>
            <a:prstGeom prst="ellipse">
              <a:avLst/>
            </a:prstGeom>
            <a:solidFill>
              <a:srgbClr val="E9563C"/>
            </a:solidFill>
            <a:ln>
              <a:noFill/>
            </a:ln>
          </p:spPr>
        </p:sp>
        <p:sp>
          <p:nvSpPr>
            <p:cNvPr id="104" name="TextBox 104"/>
            <p:cNvSpPr txBox="1"/>
            <p:nvPr/>
          </p:nvSpPr>
          <p:spPr>
            <a:xfrm>
              <a:off x="10282238" y="4056936"/>
              <a:ext cx="100139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595959"/>
                  </a:solidFill>
                  <a:latin typeface="+mn-lt"/>
                  <a:ea typeface="+mn-ea"/>
                  <a:cs typeface="+mn-cs"/>
                </a:rPr>
                <a:t>是驱动企业变革和创新的</a:t>
              </a:r>
              <a:br/>
              <a:r>
                <a:rPr lang="zh-CN" sz="710" dirty="0">
                  <a:solidFill>
                    <a:srgbClr val="595959"/>
                  </a:solidFill>
                  <a:latin typeface="+mn-lt"/>
                  <a:ea typeface="+mn-ea"/>
                  <a:cs typeface="+mn-cs"/>
                </a:rPr>
                <a:t>基础</a:t>
              </a:r>
            </a:p>
          </p:txBody>
        </p:sp>
        <p:sp>
          <p:nvSpPr>
            <p:cNvPr id="105" name="Ellipse 105"/>
            <p:cNvSpPr/>
            <p:nvPr/>
          </p:nvSpPr>
          <p:spPr>
            <a:xfrm>
              <a:off x="10125075" y="4505325"/>
              <a:ext cx="95250" cy="95250"/>
            </a:xfrm>
            <a:prstGeom prst="ellipse">
              <a:avLst/>
            </a:prstGeom>
            <a:solidFill>
              <a:srgbClr val="E9563C"/>
            </a:solidFill>
            <a:ln>
              <a:noFill/>
            </a:ln>
          </p:spPr>
        </p:sp>
        <p:sp>
          <p:nvSpPr>
            <p:cNvPr id="106" name="TextBox 106"/>
            <p:cNvSpPr txBox="1"/>
            <p:nvPr/>
          </p:nvSpPr>
          <p:spPr>
            <a:xfrm>
              <a:off x="10282238" y="4514136"/>
              <a:ext cx="965327" cy="140494"/>
            </a:xfrm>
            <a:prstGeom prst="rect">
              <a:avLst/>
            </a:prstGeom>
            <a:noFill/>
            <a:ln>
              <a:noFill/>
            </a:ln>
          </p:spPr>
          <p:txBody>
            <a:bodyPr wrap="none" lIns="0" tIns="0" rIns="0" bIns="0" anchor="t" anchorCtr="0">
              <a:spAutoFit/>
            </a:bodyPr>
            <a:lstStyle/>
            <a:p>
              <a:pPr algn="l"/>
              <a:r>
                <a:rPr lang="zh-CN" sz="710" dirty="0">
                  <a:solidFill>
                    <a:srgbClr val="595959"/>
                  </a:solidFill>
                  <a:latin typeface="+mn-lt"/>
                  <a:ea typeface="+mn-ea"/>
                  <a:cs typeface="+mn-cs"/>
                </a:rPr>
                <a:t>技术业务、风险和核心</a:t>
              </a:r>
            </a:p>
          </p:txBody>
        </p:sp>
      </p:grpSp>
      <p:grpSp>
        <p:nvGrpSpPr>
          <p:cNvPr id="110" name="right-goals"/>
          <p:cNvGrpSpPr/>
          <p:nvPr/>
        </p:nvGrpSpPr>
        <p:grpSpPr>
          <a:xfrm>
            <a:off x="5900547" y="5152549"/>
            <a:ext cx="3347674" cy="609790"/>
            <a:chOff x="5900547" y="5152549"/>
            <a:chExt cx="3347674" cy="609790"/>
          </a:xfrm>
        </p:grpSpPr>
        <p:sp>
          <p:nvSpPr>
            <p:cNvPr id="108" name="TextBox 108"/>
            <p:cNvSpPr txBox="1"/>
            <p:nvPr/>
          </p:nvSpPr>
          <p:spPr>
            <a:xfrm>
              <a:off x="5900547" y="5152549"/>
              <a:ext cx="3083819" cy="190690"/>
            </a:xfrm>
            <a:prstGeom prst="rect">
              <a:avLst/>
            </a:prstGeom>
            <a:noFill/>
            <a:ln>
              <a:noFill/>
            </a:ln>
          </p:spPr>
          <p:txBody>
            <a:bodyPr wrap="none" lIns="0" tIns="0" rIns="0" bIns="0" anchor="t" anchorCtr="0">
              <a:spAutoFit/>
            </a:bodyPr>
            <a:lstStyle/>
            <a:p>
              <a:pPr algn="l"/>
              <a:r>
                <a:rPr lang="zh-CN" sz="980" b="1" dirty="0">
                  <a:solidFill>
                    <a:srgbClr val="333333"/>
                  </a:solidFill>
                  <a:latin typeface="+mn-lt"/>
                  <a:ea typeface="+mn-ea"/>
                  <a:cs typeface="+mn-cs"/>
                </a:rPr>
                <a:t>深沉目标：</a:t>
              </a:r>
              <a:r>
                <a:rPr lang="zh-CN" sz="980" dirty="0">
                  <a:solidFill>
                    <a:srgbClr val="5B4B48"/>
                  </a:solidFill>
                  <a:latin typeface="+mn-lt"/>
                  <a:ea typeface="+mn-ea"/>
                  <a:cs typeface="+mn-cs"/>
                </a:rPr>
                <a:t xml:space="preserve"> 实现数据实时洞察、数据管理、数据治理</a:t>
              </a:r>
            </a:p>
          </p:txBody>
        </p:sp>
        <p:sp>
          <p:nvSpPr>
            <p:cNvPr id="109" name="TextBox 109"/>
            <p:cNvSpPr txBox="1"/>
            <p:nvPr/>
          </p:nvSpPr>
          <p:spPr>
            <a:xfrm>
              <a:off x="5900547" y="5571649"/>
              <a:ext cx="3347674" cy="190690"/>
            </a:xfrm>
            <a:prstGeom prst="rect">
              <a:avLst/>
            </a:prstGeom>
            <a:noFill/>
            <a:ln>
              <a:noFill/>
            </a:ln>
          </p:spPr>
          <p:txBody>
            <a:bodyPr wrap="none" lIns="0" tIns="0" rIns="0" bIns="0" anchor="t" anchorCtr="0">
              <a:spAutoFit/>
            </a:bodyPr>
            <a:lstStyle/>
            <a:p>
              <a:pPr algn="l"/>
              <a:r>
                <a:rPr lang="zh-CN" sz="980" b="1" dirty="0">
                  <a:solidFill>
                    <a:srgbClr val="333333"/>
                  </a:solidFill>
                  <a:latin typeface="+mn-lt"/>
                  <a:ea typeface="+mn-ea"/>
                  <a:cs typeface="+mn-cs"/>
                </a:rPr>
                <a:t>基础目标：</a:t>
              </a:r>
              <a:r>
                <a:rPr lang="zh-CN" sz="980" dirty="0">
                  <a:solidFill>
                    <a:srgbClr val="5B4B48"/>
                  </a:solidFill>
                  <a:latin typeface="+mn-lt"/>
                  <a:ea typeface="+mn-ea"/>
                  <a:cs typeface="+mn-cs"/>
                </a:rPr>
                <a:t xml:space="preserve"> 实现动态数据重塑、认知技术和其他数据技术</a:t>
              </a:r>
            </a:p>
          </p:txBody>
        </p:sp>
      </p:grpSp>
      <p:grpSp>
        <p:nvGrpSpPr>
          <p:cNvPr id="113" name="page-footer"/>
          <p:cNvGrpSpPr/>
          <p:nvPr/>
        </p:nvGrpSpPr>
        <p:grpSpPr>
          <a:xfrm>
            <a:off x="376238" y="6689884"/>
            <a:ext cx="11439524" cy="133350"/>
            <a:chOff x="376238" y="6689884"/>
            <a:chExt cx="11439524" cy="133350"/>
          </a:xfrm>
        </p:grpSpPr>
        <p:sp>
          <p:nvSpPr>
            <p:cNvPr id="111" name="TextBox 111"/>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12" name="TextBox 112"/>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04</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3" name="tag-line"/>
          <p:cNvGrpSpPr/>
          <p:nvPr/>
        </p:nvGrpSpPr>
        <p:grpSpPr>
          <a:xfrm>
            <a:off x="400050" y="762000"/>
            <a:ext cx="1164527" cy="183832"/>
            <a:chOff x="400050" y="762000"/>
            <a:chExt cx="1164527" cy="183832"/>
          </a:xfrm>
        </p:grpSpPr>
        <p:grpSp>
          <p:nvGrpSpPr>
            <p:cNvPr id="11" name="Group 11"/>
            <p:cNvGrpSpPr/>
            <p:nvPr/>
          </p:nvGrpSpPr>
          <p:grpSpPr>
            <a:xfrm>
              <a:off x="400050" y="762000"/>
              <a:ext cx="114300" cy="114300"/>
              <a:chOff x="400050" y="762000"/>
              <a:chExt cx="114300" cy="114300"/>
            </a:xfrm>
          </p:grpSpPr>
          <p:sp>
            <p:nvSpPr>
              <p:cNvPr id="8" name="Freeform 8"/>
              <p:cNvSpPr/>
              <p:nvPr/>
            </p:nvSpPr>
            <p:spPr>
              <a:xfrm>
                <a:off x="450850" y="8128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E9563C"/>
                </a:solidFill>
              </a:ln>
            </p:spPr>
          </p:sp>
          <p:sp>
            <p:nvSpPr>
              <p:cNvPr id="9" name="Freeform 9"/>
              <p:cNvSpPr/>
              <p:nvPr/>
            </p:nvSpPr>
            <p:spPr>
              <a:xfrm>
                <a:off x="425450" y="7874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E9563C"/>
                </a:solidFill>
              </a:ln>
            </p:spPr>
          </p:sp>
          <p:sp>
            <p:nvSpPr>
              <p:cNvPr id="10" name="Freeform 10"/>
              <p:cNvSpPr/>
              <p:nvPr/>
            </p:nvSpPr>
            <p:spPr>
              <a:xfrm>
                <a:off x="400050" y="7620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E9563C"/>
                </a:solidFill>
              </a:ln>
            </p:spPr>
          </p:sp>
        </p:grpSp>
        <p:sp>
          <p:nvSpPr>
            <p:cNvPr id="12" name="TextBox 12"/>
            <p:cNvSpPr txBox="1"/>
            <p:nvPr/>
          </p:nvSpPr>
          <p:spPr>
            <a:xfrm>
              <a:off x="585788" y="769620"/>
              <a:ext cx="978789" cy="176212"/>
            </a:xfrm>
            <a:prstGeom prst="rect">
              <a:avLst/>
            </a:prstGeom>
            <a:noFill/>
            <a:ln>
              <a:noFill/>
            </a:ln>
          </p:spPr>
          <p:txBody>
            <a:bodyPr wrap="none" lIns="0" tIns="0" rIns="0" bIns="0" anchor="t" anchorCtr="0">
              <a:spAutoFit/>
            </a:bodyPr>
            <a:lstStyle/>
            <a:p>
              <a:pPr algn="l"/>
              <a:r>
                <a:rPr lang="zh-CN" sz="900" dirty="0">
                  <a:solidFill>
                    <a:srgbClr val="5B4B48"/>
                  </a:solidFill>
                  <a:latin typeface="+mn-lt"/>
                  <a:ea typeface="+mn-ea"/>
                  <a:cs typeface="+mn-cs"/>
                </a:rPr>
                <a:t>战略、组织、流程</a:t>
              </a:r>
            </a:p>
          </p:txBody>
        </p:sp>
      </p:grpSp>
      <p:grpSp>
        <p:nvGrpSpPr>
          <p:cNvPr id="17" name="roof-banner"/>
          <p:cNvGrpSpPr/>
          <p:nvPr/>
        </p:nvGrpSpPr>
        <p:grpSpPr>
          <a:xfrm>
            <a:off x="2286000" y="762000"/>
            <a:ext cx="7620000" cy="603170"/>
            <a:chOff x="2286000" y="762000"/>
            <a:chExt cx="7620000" cy="603170"/>
          </a:xfrm>
        </p:grpSpPr>
        <p:sp>
          <p:nvSpPr>
            <p:cNvPr id="14" name="Freeform 14"/>
            <p:cNvSpPr/>
            <p:nvPr/>
          </p:nvSpPr>
          <p:spPr>
            <a:xfrm>
              <a:off x="2286000" y="762000"/>
              <a:ext cx="7620000" cy="590550"/>
            </a:xfrm>
            <a:prstGeom prst="triangle">
              <a:avLst/>
            </a:prstGeom>
            <a:solidFill>
              <a:srgbClr val="8C4B3F"/>
            </a:solidFill>
            <a:ln>
              <a:noFill/>
            </a:ln>
          </p:spPr>
        </p:sp>
        <p:sp>
          <p:nvSpPr>
            <p:cNvPr id="15" name="TextBox 15"/>
            <p:cNvSpPr txBox="1"/>
            <p:nvPr/>
          </p:nvSpPr>
          <p:spPr>
            <a:xfrm>
              <a:off x="5486425" y="986314"/>
              <a:ext cx="1219149"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数字化转型路径</a:t>
              </a:r>
            </a:p>
          </p:txBody>
        </p:sp>
        <p:sp>
          <p:nvSpPr>
            <p:cNvPr id="16" name="TextBox 16"/>
            <p:cNvSpPr txBox="1"/>
            <p:nvPr/>
          </p:nvSpPr>
          <p:spPr>
            <a:xfrm>
              <a:off x="5080914" y="1210389"/>
              <a:ext cx="2030171" cy="154781"/>
            </a:xfrm>
            <a:prstGeom prst="rect">
              <a:avLst/>
            </a:prstGeom>
            <a:noFill/>
            <a:ln>
              <a:noFill/>
            </a:ln>
          </p:spPr>
          <p:txBody>
            <a:bodyPr wrap="none" lIns="0" tIns="0" rIns="0" bIns="0" anchor="t" anchorCtr="0">
              <a:spAutoFit/>
            </a:bodyPr>
            <a:lstStyle/>
            <a:p>
              <a:pPr algn="ctr"/>
              <a:r>
                <a:rPr lang="zh-CN" sz="790" dirty="0">
                  <a:solidFill>
                    <a:srgbClr val="EAF4E2"/>
                  </a:solidFill>
                  <a:latin typeface="+mn-lt"/>
                  <a:ea typeface="+mn-ea"/>
                  <a:cs typeface="+mn-cs"/>
                </a:rPr>
                <a:t>不同维度构建能力模型进行数字化转型升级</a:t>
              </a:r>
            </a:p>
          </p:txBody>
        </p:sp>
      </p:grpSp>
      <p:grpSp>
        <p:nvGrpSpPr>
          <p:cNvPr id="52" name="stage-strategy"/>
          <p:cNvGrpSpPr/>
          <p:nvPr/>
        </p:nvGrpSpPr>
        <p:grpSpPr>
          <a:xfrm>
            <a:off x="381000" y="1428750"/>
            <a:ext cx="2190750" cy="3295650"/>
            <a:chOff x="381000" y="1428750"/>
            <a:chExt cx="2190750" cy="3295650"/>
          </a:xfrm>
        </p:grpSpPr>
        <p:sp>
          <p:nvSpPr>
            <p:cNvPr id="18" name="Rectangle 18"/>
            <p:cNvSpPr/>
            <p:nvPr/>
          </p:nvSpPr>
          <p:spPr>
            <a:xfrm>
              <a:off x="381000" y="1428750"/>
              <a:ext cx="2190750" cy="723900"/>
            </a:xfrm>
            <a:prstGeom prst="rect">
              <a:avLst/>
            </a:prstGeom>
            <a:solidFill>
              <a:srgbClr val="BF857A"/>
            </a:solidFill>
            <a:ln>
              <a:noFill/>
            </a:ln>
          </p:spPr>
        </p:sp>
        <p:sp>
          <p:nvSpPr>
            <p:cNvPr id="19" name="TextBox 19"/>
            <p:cNvSpPr txBox="1"/>
            <p:nvPr/>
          </p:nvSpPr>
          <p:spPr>
            <a:xfrm>
              <a:off x="1308735" y="1565910"/>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战略</a:t>
              </a:r>
            </a:p>
          </p:txBody>
        </p:sp>
        <p:sp>
          <p:nvSpPr>
            <p:cNvPr id="20" name="TextBox 20"/>
            <p:cNvSpPr txBox="1"/>
            <p:nvPr/>
          </p:nvSpPr>
          <p:spPr>
            <a:xfrm>
              <a:off x="1130706" y="1813084"/>
              <a:ext cx="691337" cy="133350"/>
            </a:xfrm>
            <a:prstGeom prst="rect">
              <a:avLst/>
            </a:prstGeom>
            <a:noFill/>
            <a:ln>
              <a:noFill/>
            </a:ln>
          </p:spPr>
          <p:txBody>
            <a:bodyPr wrap="none" lIns="0" tIns="0" rIns="0" bIns="0" anchor="t" anchorCtr="0">
              <a:spAutoFit/>
            </a:bodyPr>
            <a:lstStyle/>
            <a:p>
              <a:pPr algn="ctr"/>
              <a:r>
                <a:rPr lang="zh-CN" sz="680" dirty="0">
                  <a:solidFill>
                    <a:srgbClr val="F2F7EE"/>
                  </a:solidFill>
                  <a:latin typeface="+mn-lt"/>
                  <a:ea typeface="+mn-ea"/>
                  <a:cs typeface="+mn-cs"/>
                </a:rPr>
                <a:t>IT服务价值主张​</a:t>
              </a:r>
            </a:p>
          </p:txBody>
        </p:sp>
        <p:sp>
          <p:nvSpPr>
            <p:cNvPr id="21" name="TextBox 21"/>
            <p:cNvSpPr txBox="1"/>
            <p:nvPr/>
          </p:nvSpPr>
          <p:spPr>
            <a:xfrm>
              <a:off x="1046246" y="1965484"/>
              <a:ext cx="860257" cy="133350"/>
            </a:xfrm>
            <a:prstGeom prst="rect">
              <a:avLst/>
            </a:prstGeom>
            <a:noFill/>
            <a:ln>
              <a:noFill/>
            </a:ln>
          </p:spPr>
          <p:txBody>
            <a:bodyPr wrap="none" lIns="0" tIns="0" rIns="0" bIns="0" anchor="t" anchorCtr="0">
              <a:spAutoFit/>
            </a:bodyPr>
            <a:lstStyle/>
            <a:p>
              <a:pPr algn="ctr"/>
              <a:r>
                <a:rPr lang="zh-CN" sz="680" dirty="0">
                  <a:solidFill>
                    <a:srgbClr val="F2F7EE"/>
                  </a:solidFill>
                  <a:latin typeface="+mn-lt"/>
                  <a:ea typeface="+mn-ea"/>
                  <a:cs typeface="+mn-cs"/>
                </a:rPr>
                <a:t>合作和SBU管理支持​</a:t>
              </a:r>
            </a:p>
          </p:txBody>
        </p:sp>
        <p:sp>
          <p:nvSpPr>
            <p:cNvPr id="22" name="Rectangle 22"/>
            <p:cNvSpPr/>
            <p:nvPr/>
          </p:nvSpPr>
          <p:spPr>
            <a:xfrm>
              <a:off x="381000" y="2247900"/>
              <a:ext cx="2190750" cy="266700"/>
            </a:xfrm>
            <a:prstGeom prst="rect">
              <a:avLst/>
            </a:prstGeom>
            <a:solidFill>
              <a:srgbClr val="DFF0D2"/>
            </a:solidFill>
            <a:ln>
              <a:noFill/>
            </a:ln>
          </p:spPr>
        </p:sp>
        <p:sp>
          <p:nvSpPr>
            <p:cNvPr id="23" name="TextBox 23"/>
            <p:cNvSpPr txBox="1"/>
            <p:nvPr/>
          </p:nvSpPr>
          <p:spPr>
            <a:xfrm>
              <a:off x="783479" y="2339816"/>
              <a:ext cx="1385792"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运营 | 客户体验 | 业务模式​</a:t>
              </a:r>
            </a:p>
          </p:txBody>
        </p:sp>
        <p:sp>
          <p:nvSpPr>
            <p:cNvPr id="24" name="Rectangle 24"/>
            <p:cNvSpPr/>
            <p:nvPr/>
          </p:nvSpPr>
          <p:spPr>
            <a:xfrm>
              <a:off x="381000" y="2590800"/>
              <a:ext cx="2190750" cy="1333500"/>
            </a:xfrm>
            <a:prstGeom prst="rect">
              <a:avLst/>
            </a:prstGeom>
            <a:solidFill>
              <a:srgbClr val="FFFFFF"/>
            </a:solidFill>
            <a:ln w="9525">
              <a:solidFill>
                <a:srgbClr val="C9D8BD"/>
              </a:solidFill>
              <a:custDash>
                <a:ds d="400000" sp="300000"/>
              </a:custDash>
            </a:ln>
          </p:spPr>
        </p:sp>
        <p:grpSp>
          <p:nvGrpSpPr>
            <p:cNvPr id="28" name="Group 28"/>
            <p:cNvGrpSpPr/>
            <p:nvPr/>
          </p:nvGrpSpPr>
          <p:grpSpPr>
            <a:xfrm>
              <a:off x="514350" y="2743200"/>
              <a:ext cx="114300" cy="114300"/>
              <a:chOff x="514350" y="2743200"/>
              <a:chExt cx="114300" cy="114300"/>
            </a:xfrm>
          </p:grpSpPr>
          <p:sp>
            <p:nvSpPr>
              <p:cNvPr id="25" name="Freeform 25"/>
              <p:cNvSpPr/>
              <p:nvPr/>
            </p:nvSpPr>
            <p:spPr>
              <a:xfrm>
                <a:off x="565150" y="27940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E9563C"/>
                </a:solidFill>
              </a:ln>
            </p:spPr>
          </p:sp>
          <p:sp>
            <p:nvSpPr>
              <p:cNvPr id="26" name="Freeform 26"/>
              <p:cNvSpPr/>
              <p:nvPr/>
            </p:nvSpPr>
            <p:spPr>
              <a:xfrm>
                <a:off x="539750" y="27686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E9563C"/>
                </a:solidFill>
              </a:ln>
            </p:spPr>
          </p:sp>
          <p:sp>
            <p:nvSpPr>
              <p:cNvPr id="27" name="Freeform 27"/>
              <p:cNvSpPr/>
              <p:nvPr/>
            </p:nvSpPr>
            <p:spPr>
              <a:xfrm>
                <a:off x="514350" y="27432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E9563C"/>
                </a:solidFill>
              </a:ln>
            </p:spPr>
          </p:sp>
        </p:grpSp>
        <p:sp>
          <p:nvSpPr>
            <p:cNvPr id="29" name="TextBox 29"/>
            <p:cNvSpPr txBox="1"/>
            <p:nvPr/>
          </p:nvSpPr>
          <p:spPr>
            <a:xfrm>
              <a:off x="700088" y="2762964"/>
              <a:ext cx="434924" cy="154781"/>
            </a:xfrm>
            <a:prstGeom prst="rect">
              <a:avLst/>
            </a:prstGeom>
            <a:noFill/>
            <a:ln>
              <a:noFill/>
            </a:ln>
          </p:spPr>
          <p:txBody>
            <a:bodyPr wrap="none" lIns="0" tIns="0" rIns="0" bIns="0" anchor="t" anchorCtr="0">
              <a:spAutoFit/>
            </a:bodyPr>
            <a:lstStyle/>
            <a:p>
              <a:pPr algn="l"/>
              <a:r>
                <a:rPr lang="zh-CN" sz="790" b="1" dirty="0">
                  <a:solidFill>
                    <a:srgbClr val="D6391E"/>
                  </a:solidFill>
                  <a:latin typeface="+mn-lt"/>
                  <a:ea typeface="+mn-ea"/>
                  <a:cs typeface="+mn-cs"/>
                </a:rPr>
                <a:t>数字运营</a:t>
              </a:r>
            </a:p>
          </p:txBody>
        </p:sp>
        <p:sp>
          <p:nvSpPr>
            <p:cNvPr id="30" name="TextBox 30"/>
            <p:cNvSpPr txBox="1"/>
            <p:nvPr/>
          </p:nvSpPr>
          <p:spPr>
            <a:xfrm>
              <a:off x="1423988" y="2702957"/>
              <a:ext cx="57848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8A2210"/>
                  </a:solidFill>
                  <a:latin typeface="+mn-lt"/>
                  <a:ea typeface="+mn-ea"/>
                  <a:cs typeface="+mn-cs"/>
                </a:rPr>
                <a:t>共享与管控</a:t>
              </a:r>
              <a:br/>
              <a:r>
                <a:rPr lang="zh-CN" sz="640" dirty="0">
                  <a:solidFill>
                    <a:srgbClr val="8A2210"/>
                  </a:solidFill>
                  <a:latin typeface="+mn-lt"/>
                  <a:ea typeface="+mn-ea"/>
                  <a:cs typeface="+mn-cs"/>
                </a:rPr>
                <a:t>互联与协同</a:t>
              </a:r>
              <a:br/>
              <a:r>
                <a:rPr lang="zh-CN" sz="640" dirty="0">
                  <a:solidFill>
                    <a:srgbClr val="8A2210"/>
                  </a:solidFill>
                  <a:latin typeface="+mn-lt"/>
                  <a:ea typeface="+mn-ea"/>
                  <a:cs typeface="+mn-cs"/>
                </a:rPr>
                <a:t>智能化业务运营</a:t>
              </a:r>
            </a:p>
          </p:txBody>
        </p:sp>
        <p:grpSp>
          <p:nvGrpSpPr>
            <p:cNvPr id="35" name="Group 35"/>
            <p:cNvGrpSpPr/>
            <p:nvPr/>
          </p:nvGrpSpPr>
          <p:grpSpPr>
            <a:xfrm>
              <a:off x="514350" y="3181350"/>
              <a:ext cx="114300" cy="114301"/>
              <a:chOff x="514350" y="3181350"/>
              <a:chExt cx="114300" cy="114301"/>
            </a:xfrm>
          </p:grpSpPr>
          <p:sp>
            <p:nvSpPr>
              <p:cNvPr id="31" name="Freeform 31"/>
              <p:cNvSpPr/>
              <p:nvPr/>
            </p:nvSpPr>
            <p:spPr>
              <a:xfrm>
                <a:off x="527050" y="3181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9C594C"/>
                </a:solidFill>
              </a:ln>
            </p:spPr>
          </p:sp>
          <p:sp>
            <p:nvSpPr>
              <p:cNvPr id="32" name="Freeform 32"/>
              <p:cNvSpPr/>
              <p:nvPr/>
            </p:nvSpPr>
            <p:spPr>
              <a:xfrm>
                <a:off x="514350" y="32575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9C594C"/>
                </a:solidFill>
              </a:ln>
            </p:spPr>
          </p:sp>
          <p:sp>
            <p:nvSpPr>
              <p:cNvPr id="33" name="Freeform 33"/>
              <p:cNvSpPr/>
              <p:nvPr/>
            </p:nvSpPr>
            <p:spPr>
              <a:xfrm>
                <a:off x="596900" y="31821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9C594C"/>
                </a:solidFill>
              </a:ln>
            </p:spPr>
          </p:sp>
          <p:sp>
            <p:nvSpPr>
              <p:cNvPr id="34" name="Freeform 34"/>
              <p:cNvSpPr/>
              <p:nvPr/>
            </p:nvSpPr>
            <p:spPr>
              <a:xfrm>
                <a:off x="609600" y="32585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9C594C"/>
                </a:solidFill>
              </a:ln>
            </p:spPr>
          </p:sp>
        </p:grpSp>
        <p:sp>
          <p:nvSpPr>
            <p:cNvPr id="36" name="TextBox 36"/>
            <p:cNvSpPr txBox="1"/>
            <p:nvPr/>
          </p:nvSpPr>
          <p:spPr>
            <a:xfrm>
              <a:off x="700088" y="3201114"/>
              <a:ext cx="434924" cy="154781"/>
            </a:xfrm>
            <a:prstGeom prst="rect">
              <a:avLst/>
            </a:prstGeom>
            <a:noFill/>
            <a:ln>
              <a:noFill/>
            </a:ln>
          </p:spPr>
          <p:txBody>
            <a:bodyPr wrap="none" lIns="0" tIns="0" rIns="0" bIns="0" anchor="t" anchorCtr="0">
              <a:spAutoFit/>
            </a:bodyPr>
            <a:lstStyle/>
            <a:p>
              <a:pPr algn="l"/>
              <a:r>
                <a:rPr lang="zh-CN" sz="790" b="1" dirty="0">
                  <a:solidFill>
                    <a:srgbClr val="7A3E33"/>
                  </a:solidFill>
                  <a:latin typeface="+mn-lt"/>
                  <a:ea typeface="+mn-ea"/>
                  <a:cs typeface="+mn-cs"/>
                </a:rPr>
                <a:t>客户体验</a:t>
              </a:r>
            </a:p>
          </p:txBody>
        </p:sp>
        <p:sp>
          <p:nvSpPr>
            <p:cNvPr id="37" name="TextBox 37"/>
            <p:cNvSpPr txBox="1"/>
            <p:nvPr/>
          </p:nvSpPr>
          <p:spPr>
            <a:xfrm>
              <a:off x="1423988" y="3141107"/>
              <a:ext cx="57848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95959"/>
                  </a:solidFill>
                  <a:latin typeface="+mn-lt"/>
                  <a:ea typeface="+mn-ea"/>
                  <a:cs typeface="+mn-cs"/>
                </a:rPr>
                <a:t>数字化客户管理</a:t>
              </a:r>
              <a:br/>
              <a:r>
                <a:rPr lang="zh-CN" sz="640" dirty="0">
                  <a:solidFill>
                    <a:srgbClr val="595959"/>
                  </a:solidFill>
                  <a:latin typeface="+mn-lt"/>
                  <a:ea typeface="+mn-ea"/>
                  <a:cs typeface="+mn-cs"/>
                </a:rPr>
                <a:t>端到端</a:t>
              </a:r>
              <a:br/>
              <a:r>
                <a:rPr lang="zh-CN" sz="640" dirty="0">
                  <a:solidFill>
                    <a:srgbClr val="595959"/>
                  </a:solidFill>
                  <a:latin typeface="+mn-lt"/>
                  <a:ea typeface="+mn-ea"/>
                  <a:cs typeface="+mn-cs"/>
                </a:rPr>
                <a:t>客户体验和服务</a:t>
              </a:r>
            </a:p>
          </p:txBody>
        </p:sp>
        <p:grpSp>
          <p:nvGrpSpPr>
            <p:cNvPr id="40" name="Group 40"/>
            <p:cNvGrpSpPr/>
            <p:nvPr/>
          </p:nvGrpSpPr>
          <p:grpSpPr>
            <a:xfrm>
              <a:off x="520700" y="3638550"/>
              <a:ext cx="101600" cy="92075"/>
              <a:chOff x="520700" y="3638550"/>
              <a:chExt cx="101600" cy="92075"/>
            </a:xfrm>
          </p:grpSpPr>
          <p:sp>
            <p:nvSpPr>
              <p:cNvPr id="38" name="Freeform 38"/>
              <p:cNvSpPr/>
              <p:nvPr/>
            </p:nvSpPr>
            <p:spPr>
              <a:xfrm>
                <a:off x="520700" y="3721100"/>
                <a:ext cx="101600" cy="9525"/>
              </a:xfrm>
              <a:custGeom>
                <a:avLst/>
                <a:gdLst/>
                <a:ahLst/>
                <a:cxnLst/>
                <a:rect l="l" t="t" r="r" b="b"/>
                <a:pathLst>
                  <a:path w="101600" h="9525">
                    <a:moveTo>
                      <a:pt x="0" y="0"/>
                    </a:moveTo>
                    <a:lnTo>
                      <a:pt x="101600" y="0"/>
                    </a:lnTo>
                  </a:path>
                </a:pathLst>
              </a:custGeom>
              <a:noFill/>
              <a:ln w="12700">
                <a:solidFill>
                  <a:srgbClr val="9C594C"/>
                </a:solidFill>
              </a:ln>
            </p:spPr>
          </p:sp>
          <p:sp>
            <p:nvSpPr>
              <p:cNvPr id="39" name="Freeform 39"/>
              <p:cNvSpPr/>
              <p:nvPr/>
            </p:nvSpPr>
            <p:spPr>
              <a:xfrm>
                <a:off x="520700" y="363855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9C594C"/>
                </a:solidFill>
              </a:ln>
            </p:spPr>
          </p:sp>
        </p:grpSp>
        <p:sp>
          <p:nvSpPr>
            <p:cNvPr id="41" name="TextBox 41"/>
            <p:cNvSpPr txBox="1"/>
            <p:nvPr/>
          </p:nvSpPr>
          <p:spPr>
            <a:xfrm>
              <a:off x="700088" y="3639264"/>
              <a:ext cx="434924" cy="154781"/>
            </a:xfrm>
            <a:prstGeom prst="rect">
              <a:avLst/>
            </a:prstGeom>
            <a:noFill/>
            <a:ln>
              <a:noFill/>
            </a:ln>
          </p:spPr>
          <p:txBody>
            <a:bodyPr wrap="none" lIns="0" tIns="0" rIns="0" bIns="0" anchor="t" anchorCtr="0">
              <a:spAutoFit/>
            </a:bodyPr>
            <a:lstStyle/>
            <a:p>
              <a:pPr algn="l"/>
              <a:r>
                <a:rPr lang="zh-CN" sz="790" b="1" dirty="0">
                  <a:solidFill>
                    <a:srgbClr val="7A3E33"/>
                  </a:solidFill>
                  <a:latin typeface="+mn-lt"/>
                  <a:ea typeface="+mn-ea"/>
                  <a:cs typeface="+mn-cs"/>
                </a:rPr>
                <a:t>业务模式</a:t>
              </a:r>
            </a:p>
          </p:txBody>
        </p:sp>
        <p:sp>
          <p:nvSpPr>
            <p:cNvPr id="42" name="TextBox 42"/>
            <p:cNvSpPr txBox="1"/>
            <p:nvPr/>
          </p:nvSpPr>
          <p:spPr>
            <a:xfrm>
              <a:off x="1423988" y="3598307"/>
              <a:ext cx="49720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95959"/>
                  </a:solidFill>
                  <a:latin typeface="+mn-lt"/>
                  <a:ea typeface="+mn-ea"/>
                  <a:cs typeface="+mn-cs"/>
                </a:rPr>
                <a:t>业务模式创新</a:t>
              </a:r>
              <a:br/>
              <a:r>
                <a:rPr lang="zh-CN" sz="640" dirty="0">
                  <a:solidFill>
                    <a:srgbClr val="595959"/>
                  </a:solidFill>
                  <a:latin typeface="+mn-lt"/>
                  <a:ea typeface="+mn-ea"/>
                  <a:cs typeface="+mn-cs"/>
                </a:rPr>
                <a:t>合作与发展</a:t>
              </a:r>
            </a:p>
          </p:txBody>
        </p:sp>
        <p:sp>
          <p:nvSpPr>
            <p:cNvPr id="43" name="Rectangle 43"/>
            <p:cNvSpPr/>
            <p:nvPr/>
          </p:nvSpPr>
          <p:spPr>
            <a:xfrm>
              <a:off x="381000" y="4000500"/>
              <a:ext cx="2190750" cy="723900"/>
            </a:xfrm>
            <a:prstGeom prst="rect">
              <a:avLst/>
            </a:prstGeom>
            <a:solidFill>
              <a:srgbClr val="FFFFFF"/>
            </a:solidFill>
            <a:ln w="9525">
              <a:solidFill>
                <a:srgbClr val="C9D8BD"/>
              </a:solidFill>
              <a:custDash>
                <a:ds d="400000" sp="300000"/>
              </a:custDash>
            </a:ln>
          </p:spPr>
        </p:sp>
        <p:grpSp>
          <p:nvGrpSpPr>
            <p:cNvPr id="49" name="Group 49"/>
            <p:cNvGrpSpPr/>
            <p:nvPr/>
          </p:nvGrpSpPr>
          <p:grpSpPr>
            <a:xfrm>
              <a:off x="557212" y="4271962"/>
              <a:ext cx="142875" cy="142875"/>
              <a:chOff x="557212" y="4271962"/>
              <a:chExt cx="142875" cy="142875"/>
            </a:xfrm>
          </p:grpSpPr>
          <p:sp>
            <p:nvSpPr>
              <p:cNvPr id="44" name="Freeform 44"/>
              <p:cNvSpPr/>
              <p:nvPr/>
            </p:nvSpPr>
            <p:spPr>
              <a:xfrm>
                <a:off x="612775" y="42719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45" name="Freeform 45"/>
              <p:cNvSpPr/>
              <p:nvPr/>
            </p:nvSpPr>
            <p:spPr>
              <a:xfrm>
                <a:off x="557212" y="43830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46" name="Freeform 46"/>
              <p:cNvSpPr/>
              <p:nvPr/>
            </p:nvSpPr>
            <p:spPr>
              <a:xfrm>
                <a:off x="668337" y="43830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47" name="Freeform 47"/>
              <p:cNvSpPr/>
              <p:nvPr/>
            </p:nvSpPr>
            <p:spPr>
              <a:xfrm>
                <a:off x="584994" y="4351337"/>
                <a:ext cx="87312" cy="35719"/>
              </a:xfrm>
              <a:custGeom>
                <a:avLst/>
                <a:gdLst/>
                <a:ahLst/>
                <a:cxnLst/>
                <a:rect l="l" t="t" r="r" b="b"/>
                <a:pathLst>
                  <a:path w="87312" h="35719">
                    <a:moveTo>
                      <a:pt x="0" y="35719"/>
                    </a:moveTo>
                    <a:lnTo>
                      <a:pt x="43656" y="0"/>
                    </a:lnTo>
                    <a:lnTo>
                      <a:pt x="87312" y="35719"/>
                    </a:lnTo>
                  </a:path>
                </a:pathLst>
              </a:custGeom>
              <a:noFill/>
              <a:ln w="15875">
                <a:solidFill>
                  <a:srgbClr val="9C594C"/>
                </a:solidFill>
              </a:ln>
            </p:spPr>
          </p:sp>
          <p:sp>
            <p:nvSpPr>
              <p:cNvPr id="48" name="Freeform 48"/>
              <p:cNvSpPr/>
              <p:nvPr/>
            </p:nvSpPr>
            <p:spPr>
              <a:xfrm>
                <a:off x="628650" y="4303712"/>
                <a:ext cx="9525" cy="47625"/>
              </a:xfrm>
              <a:custGeom>
                <a:avLst/>
                <a:gdLst/>
                <a:ahLst/>
                <a:cxnLst/>
                <a:rect l="l" t="t" r="r" b="b"/>
                <a:pathLst>
                  <a:path w="9525" h="47625">
                    <a:moveTo>
                      <a:pt x="0" y="0"/>
                    </a:moveTo>
                    <a:lnTo>
                      <a:pt x="0" y="47625"/>
                    </a:lnTo>
                  </a:path>
                </a:pathLst>
              </a:custGeom>
              <a:noFill/>
              <a:ln w="15875">
                <a:solidFill>
                  <a:srgbClr val="9C594C"/>
                </a:solidFill>
              </a:ln>
            </p:spPr>
          </p:sp>
        </p:grpSp>
        <p:sp>
          <p:nvSpPr>
            <p:cNvPr id="50" name="TextBox 50"/>
            <p:cNvSpPr txBox="1"/>
            <p:nvPr/>
          </p:nvSpPr>
          <p:spPr>
            <a:xfrm>
              <a:off x="795338" y="4303395"/>
              <a:ext cx="494157" cy="176212"/>
            </a:xfrm>
            <a:prstGeom prst="rect">
              <a:avLst/>
            </a:prstGeom>
            <a:noFill/>
            <a:ln>
              <a:noFill/>
            </a:ln>
          </p:spPr>
          <p:txBody>
            <a:bodyPr wrap="none" lIns="0" tIns="0" rIns="0" bIns="0" anchor="t" anchorCtr="0">
              <a:spAutoFit/>
            </a:bodyPr>
            <a:lstStyle/>
            <a:p>
              <a:pPr algn="l"/>
              <a:r>
                <a:rPr lang="zh-CN" sz="900" b="1" dirty="0">
                  <a:solidFill>
                    <a:srgbClr val="7A3E33"/>
                  </a:solidFill>
                  <a:latin typeface="+mn-lt"/>
                  <a:ea typeface="+mn-ea"/>
                  <a:cs typeface="+mn-cs"/>
                </a:rPr>
                <a:t>协同创新</a:t>
              </a:r>
            </a:p>
          </p:txBody>
        </p:sp>
        <p:sp>
          <p:nvSpPr>
            <p:cNvPr id="51" name="TextBox 51"/>
            <p:cNvSpPr txBox="1"/>
            <p:nvPr/>
          </p:nvSpPr>
          <p:spPr>
            <a:xfrm>
              <a:off x="1614488" y="4171236"/>
              <a:ext cx="370205" cy="445294"/>
            </a:xfrm>
            <a:prstGeom prst="rect">
              <a:avLst/>
            </a:prstGeom>
            <a:noFill/>
            <a:ln>
              <a:noFill/>
            </a:ln>
          </p:spPr>
          <p:txBody>
            <a:bodyPr wrap="none" lIns="0" tIns="0" rIns="0" bIns="0" anchor="t" anchorCtr="0">
              <a:spAutoFit/>
            </a:bodyPr>
            <a:lstStyle/>
            <a:p>
              <a:pPr algn="l">
                <a:lnSpc>
                  <a:spcPts val="1200"/>
                </a:lnSpc>
              </a:pPr>
              <a:r>
                <a:rPr lang="zh-CN" sz="710" dirty="0">
                  <a:solidFill>
                    <a:srgbClr val="595959"/>
                  </a:solidFill>
                  <a:latin typeface="+mn-lt"/>
                  <a:ea typeface="+mn-ea"/>
                  <a:cs typeface="+mn-cs"/>
                </a:rPr>
                <a:t>业务中台</a:t>
              </a:r>
              <a:br/>
              <a:r>
                <a:rPr lang="zh-CN" sz="710" dirty="0">
                  <a:solidFill>
                    <a:srgbClr val="595959"/>
                  </a:solidFill>
                  <a:latin typeface="+mn-lt"/>
                  <a:ea typeface="+mn-ea"/>
                  <a:cs typeface="+mn-cs"/>
                </a:rPr>
                <a:t>数据中台</a:t>
              </a:r>
              <a:br/>
              <a:r>
                <a:rPr lang="zh-CN" sz="710" dirty="0">
                  <a:solidFill>
                    <a:srgbClr val="595959"/>
                  </a:solidFill>
                  <a:latin typeface="+mn-lt"/>
                  <a:ea typeface="+mn-ea"/>
                  <a:cs typeface="+mn-cs"/>
                </a:rPr>
                <a:t>技术中台</a:t>
              </a:r>
            </a:p>
          </p:txBody>
        </p:sp>
      </p:grpSp>
      <p:sp>
        <p:nvSpPr>
          <p:cNvPr id="53" name="Freeform 53"/>
          <p:cNvSpPr/>
          <p:nvPr/>
        </p:nvSpPr>
        <p:spPr>
          <a:xfrm>
            <a:off x="2590800" y="1714500"/>
            <a:ext cx="247650" cy="381000"/>
          </a:xfrm>
          <a:prstGeom prst="rightArrow">
            <a:avLst/>
          </a:prstGeom>
          <a:solidFill>
            <a:srgbClr val="E9563C"/>
          </a:solidFill>
          <a:ln>
            <a:noFill/>
          </a:ln>
        </p:spPr>
      </p:sp>
      <p:grpSp>
        <p:nvGrpSpPr>
          <p:cNvPr id="100" name="stage-infra"/>
          <p:cNvGrpSpPr/>
          <p:nvPr/>
        </p:nvGrpSpPr>
        <p:grpSpPr>
          <a:xfrm>
            <a:off x="2857500" y="1428750"/>
            <a:ext cx="3429000" cy="3295650"/>
            <a:chOff x="2857500" y="1428750"/>
            <a:chExt cx="3429000" cy="3295650"/>
          </a:xfrm>
        </p:grpSpPr>
        <p:sp>
          <p:nvSpPr>
            <p:cNvPr id="54" name="Rectangle 54"/>
            <p:cNvSpPr/>
            <p:nvPr/>
          </p:nvSpPr>
          <p:spPr>
            <a:xfrm>
              <a:off x="2857500" y="1428750"/>
              <a:ext cx="3429000" cy="723900"/>
            </a:xfrm>
            <a:prstGeom prst="rect">
              <a:avLst/>
            </a:prstGeom>
            <a:solidFill>
              <a:srgbClr val="AE695C"/>
            </a:solidFill>
            <a:ln>
              <a:noFill/>
            </a:ln>
          </p:spPr>
        </p:sp>
        <p:sp>
          <p:nvSpPr>
            <p:cNvPr id="55" name="TextBox 55"/>
            <p:cNvSpPr txBox="1"/>
            <p:nvPr/>
          </p:nvSpPr>
          <p:spPr>
            <a:xfrm>
              <a:off x="4000500" y="1565910"/>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基础设施和管理</a:t>
              </a:r>
            </a:p>
          </p:txBody>
        </p:sp>
        <p:sp>
          <p:nvSpPr>
            <p:cNvPr id="56" name="TextBox 56"/>
            <p:cNvSpPr txBox="1"/>
            <p:nvPr/>
          </p:nvSpPr>
          <p:spPr>
            <a:xfrm>
              <a:off x="4063759" y="1813084"/>
              <a:ext cx="1016483" cy="133350"/>
            </a:xfrm>
            <a:prstGeom prst="rect">
              <a:avLst/>
            </a:prstGeom>
            <a:noFill/>
            <a:ln>
              <a:noFill/>
            </a:ln>
          </p:spPr>
          <p:txBody>
            <a:bodyPr wrap="none" lIns="0" tIns="0" rIns="0" bIns="0" anchor="t" anchorCtr="0">
              <a:spAutoFit/>
            </a:bodyPr>
            <a:lstStyle/>
            <a:p>
              <a:pPr algn="ctr"/>
              <a:r>
                <a:rPr lang="zh-CN" sz="680" dirty="0">
                  <a:solidFill>
                    <a:srgbClr val="F2F7EE"/>
                  </a:solidFill>
                  <a:latin typeface="+mn-lt"/>
                  <a:ea typeface="+mn-ea"/>
                  <a:cs typeface="+mn-cs"/>
                </a:rPr>
                <a:t>技术架构、基础设施建设</a:t>
              </a:r>
            </a:p>
          </p:txBody>
        </p:sp>
        <p:sp>
          <p:nvSpPr>
            <p:cNvPr id="57" name="TextBox 57"/>
            <p:cNvSpPr txBox="1"/>
            <p:nvPr/>
          </p:nvSpPr>
          <p:spPr>
            <a:xfrm>
              <a:off x="3905936" y="1965484"/>
              <a:ext cx="1332128" cy="133350"/>
            </a:xfrm>
            <a:prstGeom prst="rect">
              <a:avLst/>
            </a:prstGeom>
            <a:noFill/>
            <a:ln>
              <a:noFill/>
            </a:ln>
          </p:spPr>
          <p:txBody>
            <a:bodyPr wrap="none" lIns="0" tIns="0" rIns="0" bIns="0" anchor="t" anchorCtr="0">
              <a:spAutoFit/>
            </a:bodyPr>
            <a:lstStyle/>
            <a:p>
              <a:pPr algn="ctr"/>
              <a:r>
                <a:rPr lang="zh-CN" sz="680" dirty="0">
                  <a:solidFill>
                    <a:srgbClr val="F2F7EE"/>
                  </a:solidFill>
                  <a:latin typeface="+mn-lt"/>
                  <a:ea typeface="+mn-ea"/>
                  <a:cs typeface="+mn-cs"/>
                </a:rPr>
                <a:t>管理线上IT业务，包括技术管理​</a:t>
              </a:r>
            </a:p>
          </p:txBody>
        </p:sp>
        <p:sp>
          <p:nvSpPr>
            <p:cNvPr id="58" name="Rectangle 58"/>
            <p:cNvSpPr/>
            <p:nvPr/>
          </p:nvSpPr>
          <p:spPr>
            <a:xfrm>
              <a:off x="2857500" y="2247900"/>
              <a:ext cx="3429000" cy="2476500"/>
            </a:xfrm>
            <a:prstGeom prst="rect">
              <a:avLst/>
            </a:prstGeom>
            <a:solidFill>
              <a:srgbClr val="FFFFFF"/>
            </a:solidFill>
            <a:ln w="9525">
              <a:solidFill>
                <a:srgbClr val="C9D8BD"/>
              </a:solidFill>
              <a:custDash>
                <a:ds d="400000" sp="300000"/>
              </a:custDash>
            </a:ln>
          </p:spPr>
        </p:sp>
        <p:sp>
          <p:nvSpPr>
            <p:cNvPr id="59" name="TextBox 59"/>
            <p:cNvSpPr txBox="1"/>
            <p:nvPr/>
          </p:nvSpPr>
          <p:spPr>
            <a:xfrm>
              <a:off x="2941002" y="2418636"/>
              <a:ext cx="99695" cy="540544"/>
            </a:xfrm>
            <a:prstGeom prst="rect">
              <a:avLst/>
            </a:prstGeom>
            <a:noFill/>
            <a:ln>
              <a:noFill/>
            </a:ln>
          </p:spPr>
          <p:txBody>
            <a:bodyPr wrap="none" lIns="0" tIns="0" rIns="0" bIns="0" anchor="t" anchorCtr="0">
              <a:spAutoFit/>
            </a:bodyPr>
            <a:lstStyle/>
            <a:p>
              <a:pPr algn="ctr">
                <a:lnSpc>
                  <a:spcPts val="1050"/>
                </a:lnSpc>
              </a:pPr>
              <a:r>
                <a:rPr lang="zh-CN" sz="710" b="1" dirty="0">
                  <a:solidFill>
                    <a:srgbClr val="7A3E33"/>
                  </a:solidFill>
                  <a:latin typeface="+mn-lt"/>
                  <a:ea typeface="+mn-ea"/>
                  <a:cs typeface="+mn-cs"/>
                </a:rPr>
                <a:t>数</a:t>
              </a:r>
              <a:br/>
              <a:r>
                <a:rPr lang="zh-CN" sz="710" b="1" dirty="0">
                  <a:solidFill>
                    <a:srgbClr val="7A3E33"/>
                  </a:solidFill>
                  <a:latin typeface="+mn-lt"/>
                  <a:ea typeface="+mn-ea"/>
                  <a:cs typeface="+mn-cs"/>
                </a:rPr>
                <a:t>据</a:t>
              </a:r>
              <a:br/>
              <a:r>
                <a:rPr lang="zh-CN" sz="710" b="1" dirty="0">
                  <a:solidFill>
                    <a:srgbClr val="7A3E33"/>
                  </a:solidFill>
                  <a:latin typeface="+mn-lt"/>
                  <a:ea typeface="+mn-ea"/>
                  <a:cs typeface="+mn-cs"/>
                </a:rPr>
                <a:t>管</a:t>
              </a:r>
              <a:br/>
              <a:r>
                <a:rPr lang="zh-CN" sz="710" b="1" dirty="0">
                  <a:solidFill>
                    <a:srgbClr val="7A3E33"/>
                  </a:solidFill>
                  <a:latin typeface="+mn-lt"/>
                  <a:ea typeface="+mn-ea"/>
                  <a:cs typeface="+mn-cs"/>
                </a:rPr>
                <a:t>理</a:t>
              </a:r>
            </a:p>
          </p:txBody>
        </p:sp>
        <p:sp>
          <p:nvSpPr>
            <p:cNvPr id="60" name="TextBox 60"/>
            <p:cNvSpPr txBox="1"/>
            <p:nvPr/>
          </p:nvSpPr>
          <p:spPr>
            <a:xfrm>
              <a:off x="2941002" y="3371136"/>
              <a:ext cx="99695" cy="273844"/>
            </a:xfrm>
            <a:prstGeom prst="rect">
              <a:avLst/>
            </a:prstGeom>
            <a:noFill/>
            <a:ln>
              <a:noFill/>
            </a:ln>
          </p:spPr>
          <p:txBody>
            <a:bodyPr wrap="none" lIns="0" tIns="0" rIns="0" bIns="0" anchor="t" anchorCtr="0">
              <a:spAutoFit/>
            </a:bodyPr>
            <a:lstStyle/>
            <a:p>
              <a:pPr algn="ctr">
                <a:lnSpc>
                  <a:spcPts val="1050"/>
                </a:lnSpc>
              </a:pPr>
              <a:r>
                <a:rPr lang="zh-CN" sz="710" b="1" dirty="0">
                  <a:solidFill>
                    <a:srgbClr val="7A3E33"/>
                  </a:solidFill>
                  <a:latin typeface="+mn-lt"/>
                  <a:ea typeface="+mn-ea"/>
                  <a:cs typeface="+mn-cs"/>
                </a:rPr>
                <a:t>治</a:t>
              </a:r>
              <a:br/>
              <a:r>
                <a:rPr lang="zh-CN" sz="710" b="1" dirty="0">
                  <a:solidFill>
                    <a:srgbClr val="7A3E33"/>
                  </a:solidFill>
                  <a:latin typeface="+mn-lt"/>
                  <a:ea typeface="+mn-ea"/>
                  <a:cs typeface="+mn-cs"/>
                </a:rPr>
                <a:t>理</a:t>
              </a:r>
            </a:p>
          </p:txBody>
        </p:sp>
        <p:sp>
          <p:nvSpPr>
            <p:cNvPr id="61" name="TextBox 61"/>
            <p:cNvSpPr txBox="1"/>
            <p:nvPr/>
          </p:nvSpPr>
          <p:spPr>
            <a:xfrm>
              <a:off x="2941002" y="3942636"/>
              <a:ext cx="99695" cy="540544"/>
            </a:xfrm>
            <a:prstGeom prst="rect">
              <a:avLst/>
            </a:prstGeom>
            <a:noFill/>
            <a:ln>
              <a:noFill/>
            </a:ln>
          </p:spPr>
          <p:txBody>
            <a:bodyPr wrap="none" lIns="0" tIns="0" rIns="0" bIns="0" anchor="t" anchorCtr="0">
              <a:spAutoFit/>
            </a:bodyPr>
            <a:lstStyle/>
            <a:p>
              <a:pPr algn="ctr">
                <a:lnSpc>
                  <a:spcPts val="1050"/>
                </a:lnSpc>
              </a:pPr>
              <a:r>
                <a:rPr lang="zh-CN" sz="710" b="1" dirty="0">
                  <a:solidFill>
                    <a:srgbClr val="7A3E33"/>
                  </a:solidFill>
                  <a:latin typeface="+mn-lt"/>
                  <a:ea typeface="+mn-ea"/>
                  <a:cs typeface="+mn-cs"/>
                </a:rPr>
                <a:t>数</a:t>
              </a:r>
              <a:br/>
              <a:r>
                <a:rPr lang="zh-CN" sz="710" b="1" dirty="0">
                  <a:solidFill>
                    <a:srgbClr val="7A3E33"/>
                  </a:solidFill>
                  <a:latin typeface="+mn-lt"/>
                  <a:ea typeface="+mn-ea"/>
                  <a:cs typeface="+mn-cs"/>
                </a:rPr>
                <a:t>据</a:t>
              </a:r>
              <a:br/>
              <a:r>
                <a:rPr lang="zh-CN" sz="710" b="1" dirty="0">
                  <a:solidFill>
                    <a:srgbClr val="7A3E33"/>
                  </a:solidFill>
                  <a:latin typeface="+mn-lt"/>
                  <a:ea typeface="+mn-ea"/>
                  <a:cs typeface="+mn-cs"/>
                </a:rPr>
                <a:t>管</a:t>
              </a:r>
              <a:br/>
              <a:r>
                <a:rPr lang="zh-CN" sz="710" b="1" dirty="0">
                  <a:solidFill>
                    <a:srgbClr val="7A3E33"/>
                  </a:solidFill>
                  <a:latin typeface="+mn-lt"/>
                  <a:ea typeface="+mn-ea"/>
                  <a:cs typeface="+mn-cs"/>
                </a:rPr>
                <a:t>理</a:t>
              </a:r>
            </a:p>
          </p:txBody>
        </p:sp>
        <p:sp>
          <p:nvSpPr>
            <p:cNvPr id="62" name="Line 62"/>
            <p:cNvSpPr/>
            <p:nvPr/>
          </p:nvSpPr>
          <p:spPr>
            <a:xfrm>
              <a:off x="3105150" y="2324100"/>
              <a:ext cx="9525" cy="2324100"/>
            </a:xfrm>
            <a:custGeom>
              <a:avLst/>
              <a:gdLst/>
              <a:ahLst/>
              <a:cxnLst/>
              <a:rect l="l" t="t" r="r" b="b"/>
              <a:pathLst>
                <a:path w="9525" h="2324100">
                  <a:moveTo>
                    <a:pt x="0" y="0"/>
                  </a:moveTo>
                  <a:lnTo>
                    <a:pt x="0" y="2324100"/>
                  </a:lnTo>
                </a:path>
              </a:pathLst>
            </a:custGeom>
            <a:noFill/>
            <a:ln w="9525">
              <a:solidFill>
                <a:srgbClr val="DDE5D8"/>
              </a:solidFill>
            </a:ln>
          </p:spPr>
        </p:sp>
        <p:grpSp>
          <p:nvGrpSpPr>
            <p:cNvPr id="66" name="Group 66"/>
            <p:cNvGrpSpPr/>
            <p:nvPr/>
          </p:nvGrpSpPr>
          <p:grpSpPr>
            <a:xfrm>
              <a:off x="3198019" y="2378869"/>
              <a:ext cx="100012" cy="100012"/>
              <a:chOff x="3198019" y="2378869"/>
              <a:chExt cx="100012" cy="100012"/>
            </a:xfrm>
          </p:grpSpPr>
          <p:sp>
            <p:nvSpPr>
              <p:cNvPr id="63" name="Freeform 63"/>
              <p:cNvSpPr/>
              <p:nvPr/>
            </p:nvSpPr>
            <p:spPr>
              <a:xfrm>
                <a:off x="3242469" y="24233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E9563C"/>
                </a:solidFill>
              </a:ln>
            </p:spPr>
          </p:sp>
          <p:sp>
            <p:nvSpPr>
              <p:cNvPr id="64" name="Freeform 64"/>
              <p:cNvSpPr/>
              <p:nvPr/>
            </p:nvSpPr>
            <p:spPr>
              <a:xfrm>
                <a:off x="3220244" y="240109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E9563C"/>
                </a:solidFill>
              </a:ln>
            </p:spPr>
          </p:sp>
          <p:sp>
            <p:nvSpPr>
              <p:cNvPr id="65" name="Freeform 65"/>
              <p:cNvSpPr/>
              <p:nvPr/>
            </p:nvSpPr>
            <p:spPr>
              <a:xfrm>
                <a:off x="3198019" y="23788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E9563C"/>
                </a:solidFill>
              </a:ln>
            </p:spPr>
          </p:sp>
        </p:grpSp>
        <p:sp>
          <p:nvSpPr>
            <p:cNvPr id="67" name="TextBox 67"/>
            <p:cNvSpPr txBox="1"/>
            <p:nvPr/>
          </p:nvSpPr>
          <p:spPr>
            <a:xfrm>
              <a:off x="3367088" y="2391489"/>
              <a:ext cx="1179373" cy="154781"/>
            </a:xfrm>
            <a:prstGeom prst="rect">
              <a:avLst/>
            </a:prstGeom>
            <a:noFill/>
            <a:ln>
              <a:noFill/>
            </a:ln>
          </p:spPr>
          <p:txBody>
            <a:bodyPr wrap="none" lIns="0" tIns="0" rIns="0" bIns="0" anchor="t" anchorCtr="0">
              <a:spAutoFit/>
            </a:bodyPr>
            <a:lstStyle/>
            <a:p>
              <a:pPr algn="l"/>
              <a:r>
                <a:rPr lang="zh-CN" sz="790" b="1" dirty="0">
                  <a:solidFill>
                    <a:srgbClr val="D6391E"/>
                  </a:solidFill>
                  <a:latin typeface="+mn-lt"/>
                  <a:ea typeface="+mn-ea"/>
                  <a:cs typeface="+mn-cs"/>
                </a:rPr>
                <a:t>企业数据资产的安全性：</a:t>
              </a:r>
            </a:p>
          </p:txBody>
        </p:sp>
        <p:sp>
          <p:nvSpPr>
            <p:cNvPr id="68" name="TextBox 68"/>
            <p:cNvSpPr txBox="1"/>
            <p:nvPr/>
          </p:nvSpPr>
          <p:spPr>
            <a:xfrm>
              <a:off x="3367088" y="2560082"/>
              <a:ext cx="1818818"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建立数据访问策略、检查机制、控制和监控机制</a:t>
              </a:r>
            </a:p>
          </p:txBody>
        </p:sp>
        <p:sp>
          <p:nvSpPr>
            <p:cNvPr id="69" name="Line 69"/>
            <p:cNvSpPr/>
            <p:nvPr/>
          </p:nvSpPr>
          <p:spPr>
            <a:xfrm>
              <a:off x="3181350" y="2743200"/>
              <a:ext cx="3009900" cy="9525"/>
            </a:xfrm>
            <a:custGeom>
              <a:avLst/>
              <a:gdLst/>
              <a:ahLst/>
              <a:cxnLst/>
              <a:rect l="l" t="t" r="r" b="b"/>
              <a:pathLst>
                <a:path w="3009900" h="9525">
                  <a:moveTo>
                    <a:pt x="0" y="0"/>
                  </a:moveTo>
                  <a:lnTo>
                    <a:pt x="3009900" y="0"/>
                  </a:lnTo>
                </a:path>
              </a:pathLst>
            </a:custGeom>
            <a:noFill/>
            <a:ln w="9525">
              <a:solidFill>
                <a:srgbClr val="DDE5D8"/>
              </a:solidFill>
              <a:custDash>
                <a:ds d="300000" sp="200000"/>
              </a:custDash>
            </a:ln>
          </p:spPr>
        </p:sp>
        <p:grpSp>
          <p:nvGrpSpPr>
            <p:cNvPr id="74" name="Group 74"/>
            <p:cNvGrpSpPr/>
            <p:nvPr/>
          </p:nvGrpSpPr>
          <p:grpSpPr>
            <a:xfrm>
              <a:off x="3198019" y="2817019"/>
              <a:ext cx="100012" cy="100012"/>
              <a:chOff x="3198019" y="2817019"/>
              <a:chExt cx="100012" cy="100012"/>
            </a:xfrm>
          </p:grpSpPr>
          <p:sp>
            <p:nvSpPr>
              <p:cNvPr id="70" name="Freeform 70"/>
              <p:cNvSpPr/>
              <p:nvPr/>
            </p:nvSpPr>
            <p:spPr>
              <a:xfrm>
                <a:off x="3209131" y="28170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9C594C"/>
                </a:solidFill>
              </a:ln>
            </p:spPr>
          </p:sp>
          <p:sp>
            <p:nvSpPr>
              <p:cNvPr id="71" name="Freeform 71"/>
              <p:cNvSpPr/>
              <p:nvPr/>
            </p:nvSpPr>
            <p:spPr>
              <a:xfrm>
                <a:off x="3198019" y="288369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9C594C"/>
                </a:solidFill>
              </a:ln>
            </p:spPr>
          </p:sp>
          <p:sp>
            <p:nvSpPr>
              <p:cNvPr id="72" name="Freeform 72"/>
              <p:cNvSpPr/>
              <p:nvPr/>
            </p:nvSpPr>
            <p:spPr>
              <a:xfrm>
                <a:off x="3270250" y="281774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9C594C"/>
                </a:solidFill>
              </a:ln>
            </p:spPr>
          </p:sp>
          <p:sp>
            <p:nvSpPr>
              <p:cNvPr id="73" name="Freeform 73"/>
              <p:cNvSpPr/>
              <p:nvPr/>
            </p:nvSpPr>
            <p:spPr>
              <a:xfrm>
                <a:off x="3281362" y="288452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9C594C"/>
                </a:solidFill>
              </a:ln>
            </p:spPr>
          </p:sp>
        </p:grpSp>
        <p:sp>
          <p:nvSpPr>
            <p:cNvPr id="75" name="TextBox 75"/>
            <p:cNvSpPr txBox="1"/>
            <p:nvPr/>
          </p:nvSpPr>
          <p:spPr>
            <a:xfrm>
              <a:off x="3367088" y="2829639"/>
              <a:ext cx="753974" cy="154781"/>
            </a:xfrm>
            <a:prstGeom prst="rect">
              <a:avLst/>
            </a:prstGeom>
            <a:noFill/>
            <a:ln>
              <a:noFill/>
            </a:ln>
          </p:spPr>
          <p:txBody>
            <a:bodyPr wrap="none" lIns="0" tIns="0" rIns="0" bIns="0" anchor="t" anchorCtr="0">
              <a:spAutoFit/>
            </a:bodyPr>
            <a:lstStyle/>
            <a:p>
              <a:pPr algn="l"/>
              <a:r>
                <a:rPr lang="zh-CN" sz="790" b="1" dirty="0">
                  <a:solidFill>
                    <a:srgbClr val="7A3E33"/>
                  </a:solidFill>
                  <a:latin typeface="+mn-lt"/>
                  <a:ea typeface="+mn-ea"/>
                  <a:cs typeface="+mn-cs"/>
                </a:rPr>
                <a:t>数据架构管理：</a:t>
              </a:r>
            </a:p>
          </p:txBody>
        </p:sp>
        <p:sp>
          <p:nvSpPr>
            <p:cNvPr id="76" name="TextBox 76"/>
            <p:cNvSpPr txBox="1"/>
            <p:nvPr/>
          </p:nvSpPr>
          <p:spPr>
            <a:xfrm>
              <a:off x="3367088" y="2998232"/>
              <a:ext cx="1818818"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建立数据访问策略、检查机制、控制和监控机制</a:t>
              </a:r>
            </a:p>
          </p:txBody>
        </p:sp>
        <p:sp>
          <p:nvSpPr>
            <p:cNvPr id="77" name="Line 77"/>
            <p:cNvSpPr/>
            <p:nvPr/>
          </p:nvSpPr>
          <p:spPr>
            <a:xfrm>
              <a:off x="3181350" y="3181350"/>
              <a:ext cx="3009900" cy="9525"/>
            </a:xfrm>
            <a:custGeom>
              <a:avLst/>
              <a:gdLst/>
              <a:ahLst/>
              <a:cxnLst/>
              <a:rect l="l" t="t" r="r" b="b"/>
              <a:pathLst>
                <a:path w="3009900" h="9525">
                  <a:moveTo>
                    <a:pt x="0" y="0"/>
                  </a:moveTo>
                  <a:lnTo>
                    <a:pt x="3009900" y="0"/>
                  </a:lnTo>
                </a:path>
              </a:pathLst>
            </a:custGeom>
            <a:noFill/>
            <a:ln w="9525">
              <a:solidFill>
                <a:srgbClr val="DDE5D8"/>
              </a:solidFill>
              <a:custDash>
                <a:ds d="300000" sp="200000"/>
              </a:custDash>
            </a:ln>
          </p:spPr>
        </p:sp>
        <p:grpSp>
          <p:nvGrpSpPr>
            <p:cNvPr id="80" name="Group 80"/>
            <p:cNvGrpSpPr/>
            <p:nvPr/>
          </p:nvGrpSpPr>
          <p:grpSpPr>
            <a:xfrm>
              <a:off x="3203575" y="3271837"/>
              <a:ext cx="88900" cy="81757"/>
              <a:chOff x="3203575" y="3271837"/>
              <a:chExt cx="88900" cy="81757"/>
            </a:xfrm>
          </p:grpSpPr>
          <p:sp>
            <p:nvSpPr>
              <p:cNvPr id="78" name="Freeform 78"/>
              <p:cNvSpPr/>
              <p:nvPr/>
            </p:nvSpPr>
            <p:spPr>
              <a:xfrm>
                <a:off x="3203575" y="3344069"/>
                <a:ext cx="88900" cy="9525"/>
              </a:xfrm>
              <a:custGeom>
                <a:avLst/>
                <a:gdLst/>
                <a:ahLst/>
                <a:cxnLst/>
                <a:rect l="l" t="t" r="r" b="b"/>
                <a:pathLst>
                  <a:path w="88900" h="9525">
                    <a:moveTo>
                      <a:pt x="0" y="0"/>
                    </a:moveTo>
                    <a:lnTo>
                      <a:pt x="88900" y="0"/>
                    </a:lnTo>
                  </a:path>
                </a:pathLst>
              </a:custGeom>
              <a:noFill/>
              <a:ln w="11112">
                <a:solidFill>
                  <a:srgbClr val="9C594C"/>
                </a:solidFill>
              </a:ln>
            </p:spPr>
          </p:sp>
          <p:sp>
            <p:nvSpPr>
              <p:cNvPr id="79" name="Freeform 79"/>
              <p:cNvSpPr/>
              <p:nvPr/>
            </p:nvSpPr>
            <p:spPr>
              <a:xfrm>
                <a:off x="3203575" y="3271837"/>
                <a:ext cx="88900" cy="50006"/>
              </a:xfrm>
              <a:custGeom>
                <a:avLst/>
                <a:gdLst/>
                <a:ahLst/>
                <a:cxnLst/>
                <a:rect l="l" t="t" r="r" b="b"/>
                <a:pathLst>
                  <a:path w="88900" h="50006">
                    <a:moveTo>
                      <a:pt x="0" y="50006"/>
                    </a:moveTo>
                    <a:lnTo>
                      <a:pt x="22225" y="16669"/>
                    </a:lnTo>
                    <a:lnTo>
                      <a:pt x="44450" y="27781"/>
                    </a:lnTo>
                    <a:lnTo>
                      <a:pt x="66675" y="0"/>
                    </a:lnTo>
                    <a:lnTo>
                      <a:pt x="88900" y="22225"/>
                    </a:lnTo>
                  </a:path>
                </a:pathLst>
              </a:custGeom>
              <a:noFill/>
              <a:ln w="11112">
                <a:solidFill>
                  <a:srgbClr val="9C594C"/>
                </a:solidFill>
              </a:ln>
            </p:spPr>
          </p:sp>
        </p:grpSp>
        <p:sp>
          <p:nvSpPr>
            <p:cNvPr id="81" name="TextBox 81"/>
            <p:cNvSpPr txBox="1"/>
            <p:nvPr/>
          </p:nvSpPr>
          <p:spPr>
            <a:xfrm>
              <a:off x="3367088" y="3267789"/>
              <a:ext cx="541274" cy="154781"/>
            </a:xfrm>
            <a:prstGeom prst="rect">
              <a:avLst/>
            </a:prstGeom>
            <a:noFill/>
            <a:ln>
              <a:noFill/>
            </a:ln>
          </p:spPr>
          <p:txBody>
            <a:bodyPr wrap="none" lIns="0" tIns="0" rIns="0" bIns="0" anchor="t" anchorCtr="0">
              <a:spAutoFit/>
            </a:bodyPr>
            <a:lstStyle/>
            <a:p>
              <a:pPr algn="l"/>
              <a:r>
                <a:rPr lang="zh-CN" sz="790" b="1" dirty="0">
                  <a:solidFill>
                    <a:srgbClr val="7A3E33"/>
                  </a:solidFill>
                  <a:latin typeface="+mn-lt"/>
                  <a:ea typeface="+mn-ea"/>
                  <a:cs typeface="+mn-cs"/>
                </a:rPr>
                <a:t>数据治理：</a:t>
              </a:r>
            </a:p>
          </p:txBody>
        </p:sp>
        <p:sp>
          <p:nvSpPr>
            <p:cNvPr id="82" name="TextBox 82"/>
            <p:cNvSpPr txBox="1"/>
            <p:nvPr/>
          </p:nvSpPr>
          <p:spPr>
            <a:xfrm>
              <a:off x="3367088" y="3436382"/>
              <a:ext cx="1560347"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建立数据治理政策、流程以及相应的工具</a:t>
              </a:r>
            </a:p>
          </p:txBody>
        </p:sp>
        <p:sp>
          <p:nvSpPr>
            <p:cNvPr id="83" name="Line 83"/>
            <p:cNvSpPr/>
            <p:nvPr/>
          </p:nvSpPr>
          <p:spPr>
            <a:xfrm>
              <a:off x="3181350" y="3619500"/>
              <a:ext cx="3009900" cy="9525"/>
            </a:xfrm>
            <a:custGeom>
              <a:avLst/>
              <a:gdLst/>
              <a:ahLst/>
              <a:cxnLst/>
              <a:rect l="l" t="t" r="r" b="b"/>
              <a:pathLst>
                <a:path w="3009900" h="9525">
                  <a:moveTo>
                    <a:pt x="0" y="0"/>
                  </a:moveTo>
                  <a:lnTo>
                    <a:pt x="3009900" y="0"/>
                  </a:lnTo>
                </a:path>
              </a:pathLst>
            </a:custGeom>
            <a:noFill/>
            <a:ln w="9525">
              <a:solidFill>
                <a:srgbClr val="DDE5D8"/>
              </a:solidFill>
              <a:custDash>
                <a:ds d="300000" sp="200000"/>
              </a:custDash>
            </a:ln>
          </p:spPr>
        </p:sp>
        <p:grpSp>
          <p:nvGrpSpPr>
            <p:cNvPr id="87" name="Group 87"/>
            <p:cNvGrpSpPr/>
            <p:nvPr/>
          </p:nvGrpSpPr>
          <p:grpSpPr>
            <a:xfrm>
              <a:off x="3203575" y="3693319"/>
              <a:ext cx="88900" cy="100012"/>
              <a:chOff x="3203575" y="3693319"/>
              <a:chExt cx="88900" cy="100012"/>
            </a:xfrm>
          </p:grpSpPr>
          <p:sp>
            <p:nvSpPr>
              <p:cNvPr id="84" name="Freeform 84"/>
              <p:cNvSpPr/>
              <p:nvPr/>
            </p:nvSpPr>
            <p:spPr>
              <a:xfrm>
                <a:off x="3203575" y="3693319"/>
                <a:ext cx="88900" cy="33337"/>
              </a:xfrm>
              <a:custGeom>
                <a:avLst/>
                <a:gdLst/>
                <a:ahLst/>
                <a:cxnLst/>
                <a:rect l="l" t="t" r="r" b="b"/>
                <a:pathLst>
                  <a:path w="88900" h="33337">
                    <a:moveTo>
                      <a:pt x="0" y="16669"/>
                    </a:moveTo>
                    <a:cubicBezTo>
                      <a:pt x="0" y="25875"/>
                      <a:pt x="19901" y="33337"/>
                      <a:pt x="44450" y="33337"/>
                    </a:cubicBezTo>
                    <a:cubicBezTo>
                      <a:pt x="68999" y="33337"/>
                      <a:pt x="88900" y="25875"/>
                      <a:pt x="88900" y="16669"/>
                    </a:cubicBezTo>
                    <a:cubicBezTo>
                      <a:pt x="88900" y="7463"/>
                      <a:pt x="68999" y="0"/>
                      <a:pt x="44450" y="0"/>
                    </a:cubicBezTo>
                    <a:cubicBezTo>
                      <a:pt x="19901" y="0"/>
                      <a:pt x="0" y="7463"/>
                      <a:pt x="0" y="16669"/>
                    </a:cubicBezTo>
                  </a:path>
                </a:pathLst>
              </a:custGeom>
              <a:noFill/>
              <a:ln w="11112">
                <a:solidFill>
                  <a:srgbClr val="9C594C"/>
                </a:solidFill>
              </a:ln>
            </p:spPr>
          </p:sp>
          <p:sp>
            <p:nvSpPr>
              <p:cNvPr id="85" name="Freeform 85"/>
              <p:cNvSpPr/>
              <p:nvPr/>
            </p:nvSpPr>
            <p:spPr>
              <a:xfrm>
                <a:off x="3203575" y="3709987"/>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9C594C"/>
                </a:solidFill>
              </a:ln>
            </p:spPr>
          </p:sp>
          <p:sp>
            <p:nvSpPr>
              <p:cNvPr id="86" name="Freeform 86"/>
              <p:cNvSpPr/>
              <p:nvPr/>
            </p:nvSpPr>
            <p:spPr>
              <a:xfrm>
                <a:off x="3203575" y="3743325"/>
                <a:ext cx="88900" cy="50006"/>
              </a:xfrm>
              <a:custGeom>
                <a:avLst/>
                <a:gdLst/>
                <a:ahLst/>
                <a:cxnLst/>
                <a:rect l="l" t="t" r="r" b="b"/>
                <a:pathLst>
                  <a:path w="88900" h="50006">
                    <a:moveTo>
                      <a:pt x="0" y="0"/>
                    </a:moveTo>
                    <a:lnTo>
                      <a:pt x="0" y="33337"/>
                    </a:lnTo>
                    <a:cubicBezTo>
                      <a:pt x="0" y="42543"/>
                      <a:pt x="19901" y="50006"/>
                      <a:pt x="44450" y="50006"/>
                    </a:cubicBezTo>
                    <a:cubicBezTo>
                      <a:pt x="68999" y="50006"/>
                      <a:pt x="88900" y="42543"/>
                      <a:pt x="88900" y="33337"/>
                    </a:cubicBezTo>
                    <a:lnTo>
                      <a:pt x="88900" y="0"/>
                    </a:lnTo>
                  </a:path>
                </a:pathLst>
              </a:custGeom>
              <a:noFill/>
              <a:ln w="11112">
                <a:solidFill>
                  <a:srgbClr val="9C594C"/>
                </a:solidFill>
              </a:ln>
            </p:spPr>
          </p:sp>
        </p:grpSp>
        <p:sp>
          <p:nvSpPr>
            <p:cNvPr id="88" name="TextBox 88"/>
            <p:cNvSpPr txBox="1"/>
            <p:nvPr/>
          </p:nvSpPr>
          <p:spPr>
            <a:xfrm>
              <a:off x="3367088" y="3705939"/>
              <a:ext cx="647624" cy="154781"/>
            </a:xfrm>
            <a:prstGeom prst="rect">
              <a:avLst/>
            </a:prstGeom>
            <a:noFill/>
            <a:ln>
              <a:noFill/>
            </a:ln>
          </p:spPr>
          <p:txBody>
            <a:bodyPr wrap="none" lIns="0" tIns="0" rIns="0" bIns="0" anchor="t" anchorCtr="0">
              <a:spAutoFit/>
            </a:bodyPr>
            <a:lstStyle/>
            <a:p>
              <a:pPr algn="l"/>
              <a:r>
                <a:rPr lang="zh-CN" sz="790" b="1" dirty="0">
                  <a:solidFill>
                    <a:srgbClr val="7A3E33"/>
                  </a:solidFill>
                  <a:latin typeface="+mn-lt"/>
                  <a:ea typeface="+mn-ea"/>
                  <a:cs typeface="+mn-cs"/>
                </a:rPr>
                <a:t>主数据管理：</a:t>
              </a:r>
            </a:p>
          </p:txBody>
        </p:sp>
        <p:sp>
          <p:nvSpPr>
            <p:cNvPr id="89" name="TextBox 89"/>
            <p:cNvSpPr txBox="1"/>
            <p:nvPr/>
          </p:nvSpPr>
          <p:spPr>
            <a:xfrm>
              <a:off x="3367088" y="3874532"/>
              <a:ext cx="1560347"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确保主数据在企业内部的准确性和一致性</a:t>
              </a:r>
            </a:p>
          </p:txBody>
        </p:sp>
        <p:sp>
          <p:nvSpPr>
            <p:cNvPr id="90" name="Line 90"/>
            <p:cNvSpPr/>
            <p:nvPr/>
          </p:nvSpPr>
          <p:spPr>
            <a:xfrm>
              <a:off x="3181350" y="4057650"/>
              <a:ext cx="3009900" cy="9525"/>
            </a:xfrm>
            <a:custGeom>
              <a:avLst/>
              <a:gdLst/>
              <a:ahLst/>
              <a:cxnLst/>
              <a:rect l="l" t="t" r="r" b="b"/>
              <a:pathLst>
                <a:path w="3009900" h="9525">
                  <a:moveTo>
                    <a:pt x="0" y="0"/>
                  </a:moveTo>
                  <a:lnTo>
                    <a:pt x="3009900" y="0"/>
                  </a:lnTo>
                </a:path>
              </a:pathLst>
            </a:custGeom>
            <a:noFill/>
            <a:ln w="9525">
              <a:solidFill>
                <a:srgbClr val="DDE5D8"/>
              </a:solidFill>
              <a:custDash>
                <a:ds d="300000" sp="200000"/>
              </a:custDash>
            </a:ln>
          </p:spPr>
        </p:sp>
        <p:grpSp>
          <p:nvGrpSpPr>
            <p:cNvPr id="97" name="Group 97"/>
            <p:cNvGrpSpPr/>
            <p:nvPr/>
          </p:nvGrpSpPr>
          <p:grpSpPr>
            <a:xfrm>
              <a:off x="3198019" y="4131469"/>
              <a:ext cx="100012" cy="100012"/>
              <a:chOff x="3198019" y="4131469"/>
              <a:chExt cx="100012" cy="100012"/>
            </a:xfrm>
          </p:grpSpPr>
          <p:sp>
            <p:nvSpPr>
              <p:cNvPr id="91" name="Freeform 91"/>
              <p:cNvSpPr/>
              <p:nvPr/>
            </p:nvSpPr>
            <p:spPr>
              <a:xfrm>
                <a:off x="3236912" y="417591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594C"/>
                </a:solidFill>
              </a:ln>
            </p:spPr>
          </p:sp>
          <p:sp>
            <p:nvSpPr>
              <p:cNvPr id="92" name="Freeform 92"/>
              <p:cNvSpPr/>
              <p:nvPr/>
            </p:nvSpPr>
            <p:spPr>
              <a:xfrm>
                <a:off x="3225800" y="4214812"/>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9C594C"/>
                </a:solidFill>
              </a:ln>
            </p:spPr>
          </p:sp>
          <p:sp>
            <p:nvSpPr>
              <p:cNvPr id="93" name="Freeform 93"/>
              <p:cNvSpPr/>
              <p:nvPr/>
            </p:nvSpPr>
            <p:spPr>
              <a:xfrm>
                <a:off x="3264694" y="41314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594C"/>
                </a:solidFill>
              </a:ln>
            </p:spPr>
          </p:sp>
          <p:sp>
            <p:nvSpPr>
              <p:cNvPr id="94" name="Freeform 94"/>
              <p:cNvSpPr/>
              <p:nvPr/>
            </p:nvSpPr>
            <p:spPr>
              <a:xfrm>
                <a:off x="3275806" y="4170362"/>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9C594C"/>
                </a:solidFill>
              </a:ln>
            </p:spPr>
          </p:sp>
          <p:sp>
            <p:nvSpPr>
              <p:cNvPr id="95" name="Freeform 95"/>
              <p:cNvSpPr/>
              <p:nvPr/>
            </p:nvSpPr>
            <p:spPr>
              <a:xfrm>
                <a:off x="3209131" y="41314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9C594C"/>
                </a:solidFill>
              </a:ln>
            </p:spPr>
          </p:sp>
          <p:sp>
            <p:nvSpPr>
              <p:cNvPr id="96" name="Freeform 96"/>
              <p:cNvSpPr/>
              <p:nvPr/>
            </p:nvSpPr>
            <p:spPr>
              <a:xfrm>
                <a:off x="3198019" y="4170362"/>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9C594C"/>
                </a:solidFill>
              </a:ln>
            </p:spPr>
          </p:sp>
        </p:grpSp>
        <p:sp>
          <p:nvSpPr>
            <p:cNvPr id="98" name="TextBox 98"/>
            <p:cNvSpPr txBox="1"/>
            <p:nvPr/>
          </p:nvSpPr>
          <p:spPr>
            <a:xfrm>
              <a:off x="3367088" y="4144089"/>
              <a:ext cx="753974" cy="154781"/>
            </a:xfrm>
            <a:prstGeom prst="rect">
              <a:avLst/>
            </a:prstGeom>
            <a:noFill/>
            <a:ln>
              <a:noFill/>
            </a:ln>
          </p:spPr>
          <p:txBody>
            <a:bodyPr wrap="none" lIns="0" tIns="0" rIns="0" bIns="0" anchor="t" anchorCtr="0">
              <a:spAutoFit/>
            </a:bodyPr>
            <a:lstStyle/>
            <a:p>
              <a:pPr algn="l"/>
              <a:r>
                <a:rPr lang="zh-CN" sz="790" b="1" dirty="0">
                  <a:solidFill>
                    <a:srgbClr val="7A3E33"/>
                  </a:solidFill>
                  <a:latin typeface="+mn-lt"/>
                  <a:ea typeface="+mn-ea"/>
                  <a:cs typeface="+mn-cs"/>
                </a:rPr>
                <a:t>数据质量管理：</a:t>
              </a:r>
            </a:p>
          </p:txBody>
        </p:sp>
        <p:sp>
          <p:nvSpPr>
            <p:cNvPr id="99" name="TextBox 99"/>
            <p:cNvSpPr txBox="1"/>
            <p:nvPr/>
          </p:nvSpPr>
          <p:spPr>
            <a:xfrm>
              <a:off x="3367088" y="4312682"/>
              <a:ext cx="1952361"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构建数据质量管理的流程体系,识别并量化数据质量</a:t>
              </a:r>
            </a:p>
          </p:txBody>
        </p:sp>
      </p:grpSp>
      <p:sp>
        <p:nvSpPr>
          <p:cNvPr id="101" name="Freeform 101"/>
          <p:cNvSpPr/>
          <p:nvPr/>
        </p:nvSpPr>
        <p:spPr>
          <a:xfrm>
            <a:off x="6305550" y="1714500"/>
            <a:ext cx="247650" cy="381000"/>
          </a:xfrm>
          <a:prstGeom prst="rightArrow">
            <a:avLst/>
          </a:prstGeom>
          <a:solidFill>
            <a:srgbClr val="E9563C"/>
          </a:solidFill>
          <a:ln>
            <a:noFill/>
          </a:ln>
        </p:spPr>
      </p:sp>
      <p:grpSp>
        <p:nvGrpSpPr>
          <p:cNvPr id="126" name="stage-org"/>
          <p:cNvGrpSpPr/>
          <p:nvPr/>
        </p:nvGrpSpPr>
        <p:grpSpPr>
          <a:xfrm>
            <a:off x="6572250" y="1428750"/>
            <a:ext cx="2571750" cy="3295650"/>
            <a:chOff x="6572250" y="1428750"/>
            <a:chExt cx="2571750" cy="3295650"/>
          </a:xfrm>
        </p:grpSpPr>
        <p:sp>
          <p:nvSpPr>
            <p:cNvPr id="102" name="Rectangle 102"/>
            <p:cNvSpPr/>
            <p:nvPr/>
          </p:nvSpPr>
          <p:spPr>
            <a:xfrm>
              <a:off x="6572250" y="1428750"/>
              <a:ext cx="2571750" cy="723900"/>
            </a:xfrm>
            <a:prstGeom prst="rect">
              <a:avLst/>
            </a:prstGeom>
            <a:solidFill>
              <a:srgbClr val="D5E8C8"/>
            </a:solidFill>
            <a:ln>
              <a:noFill/>
            </a:ln>
          </p:spPr>
        </p:sp>
        <p:sp>
          <p:nvSpPr>
            <p:cNvPr id="103" name="TextBox 103"/>
            <p:cNvSpPr txBox="1"/>
            <p:nvPr/>
          </p:nvSpPr>
          <p:spPr>
            <a:xfrm>
              <a:off x="7690485" y="1565910"/>
              <a:ext cx="335280" cy="234696"/>
            </a:xfrm>
            <a:prstGeom prst="rect">
              <a:avLst/>
            </a:prstGeom>
            <a:noFill/>
            <a:ln>
              <a:noFill/>
            </a:ln>
          </p:spPr>
          <p:txBody>
            <a:bodyPr wrap="none" lIns="0" tIns="0" rIns="0" bIns="0" anchor="t" anchorCtr="0">
              <a:spAutoFit/>
            </a:bodyPr>
            <a:lstStyle/>
            <a:p>
              <a:pPr algn="ctr"/>
              <a:r>
                <a:rPr lang="zh-CN" sz="1200" b="1" dirty="0">
                  <a:solidFill>
                    <a:srgbClr val="7A3E33"/>
                  </a:solidFill>
                  <a:latin typeface="+mn-lt"/>
                  <a:ea typeface="+mn-ea"/>
                  <a:cs typeface="+mn-cs"/>
                </a:rPr>
                <a:t>组织</a:t>
              </a:r>
            </a:p>
          </p:txBody>
        </p:sp>
        <p:sp>
          <p:nvSpPr>
            <p:cNvPr id="104" name="TextBox 104"/>
            <p:cNvSpPr txBox="1"/>
            <p:nvPr/>
          </p:nvSpPr>
          <p:spPr>
            <a:xfrm>
              <a:off x="7532967" y="1813084"/>
              <a:ext cx="650316" cy="133350"/>
            </a:xfrm>
            <a:prstGeom prst="rect">
              <a:avLst/>
            </a:prstGeom>
            <a:noFill/>
            <a:ln>
              <a:noFill/>
            </a:ln>
          </p:spPr>
          <p:txBody>
            <a:bodyPr wrap="none" lIns="0" tIns="0" rIns="0" bIns="0" anchor="t" anchorCtr="0">
              <a:spAutoFit/>
            </a:bodyPr>
            <a:lstStyle/>
            <a:p>
              <a:pPr algn="ctr"/>
              <a:r>
                <a:rPr lang="zh-CN" sz="680" dirty="0">
                  <a:solidFill>
                    <a:srgbClr val="5B4B48"/>
                  </a:solidFill>
                  <a:latin typeface="+mn-lt"/>
                  <a:ea typeface="+mn-ea"/>
                  <a:cs typeface="+mn-cs"/>
                </a:rPr>
                <a:t>治理、组织模型</a:t>
              </a:r>
            </a:p>
          </p:txBody>
        </p:sp>
        <p:sp>
          <p:nvSpPr>
            <p:cNvPr id="105" name="TextBox 105"/>
            <p:cNvSpPr txBox="1"/>
            <p:nvPr/>
          </p:nvSpPr>
          <p:spPr>
            <a:xfrm>
              <a:off x="7395654" y="1965484"/>
              <a:ext cx="924941" cy="133350"/>
            </a:xfrm>
            <a:prstGeom prst="rect">
              <a:avLst/>
            </a:prstGeom>
            <a:noFill/>
            <a:ln>
              <a:noFill/>
            </a:ln>
          </p:spPr>
          <p:txBody>
            <a:bodyPr wrap="none" lIns="0" tIns="0" rIns="0" bIns="0" anchor="t" anchorCtr="0">
              <a:spAutoFit/>
            </a:bodyPr>
            <a:lstStyle/>
            <a:p>
              <a:pPr algn="ctr"/>
              <a:r>
                <a:rPr lang="zh-CN" sz="680" dirty="0">
                  <a:solidFill>
                    <a:srgbClr val="5B4B48"/>
                  </a:solidFill>
                  <a:latin typeface="+mn-lt"/>
                  <a:ea typeface="+mn-ea"/>
                  <a:cs typeface="+mn-cs"/>
                </a:rPr>
                <a:t>角色、资源和用人模式</a:t>
              </a:r>
            </a:p>
          </p:txBody>
        </p:sp>
        <p:sp>
          <p:nvSpPr>
            <p:cNvPr id="106" name="Rectangle 106"/>
            <p:cNvSpPr/>
            <p:nvPr/>
          </p:nvSpPr>
          <p:spPr>
            <a:xfrm>
              <a:off x="6572250" y="2247900"/>
              <a:ext cx="2571750" cy="266700"/>
            </a:xfrm>
            <a:prstGeom prst="rect">
              <a:avLst/>
            </a:prstGeom>
            <a:solidFill>
              <a:srgbClr val="DFF0D2"/>
            </a:solidFill>
            <a:ln>
              <a:noFill/>
            </a:ln>
          </p:spPr>
        </p:sp>
        <p:sp>
          <p:nvSpPr>
            <p:cNvPr id="107" name="TextBox 107"/>
            <p:cNvSpPr txBox="1"/>
            <p:nvPr/>
          </p:nvSpPr>
          <p:spPr>
            <a:xfrm>
              <a:off x="7470039" y="2339816"/>
              <a:ext cx="776172"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数据 | 标准管理</a:t>
              </a:r>
            </a:p>
          </p:txBody>
        </p:sp>
        <p:sp>
          <p:nvSpPr>
            <p:cNvPr id="108" name="Rectangle 108"/>
            <p:cNvSpPr/>
            <p:nvPr/>
          </p:nvSpPr>
          <p:spPr>
            <a:xfrm>
              <a:off x="6572250" y="2590800"/>
              <a:ext cx="2571750" cy="723900"/>
            </a:xfrm>
            <a:prstGeom prst="rect">
              <a:avLst/>
            </a:prstGeom>
            <a:solidFill>
              <a:srgbClr val="FFFFFF"/>
            </a:solidFill>
            <a:ln w="9525">
              <a:solidFill>
                <a:srgbClr val="C9D8BD"/>
              </a:solidFill>
              <a:custDash>
                <a:ds d="400000" sp="300000"/>
              </a:custDash>
            </a:ln>
          </p:spPr>
        </p:sp>
        <p:sp>
          <p:nvSpPr>
            <p:cNvPr id="109" name="Ellipse 109"/>
            <p:cNvSpPr/>
            <p:nvPr/>
          </p:nvSpPr>
          <p:spPr>
            <a:xfrm>
              <a:off x="6810375" y="2667000"/>
              <a:ext cx="381000" cy="381000"/>
            </a:xfrm>
            <a:prstGeom prst="ellipse">
              <a:avLst/>
            </a:prstGeom>
            <a:solidFill>
              <a:srgbClr val="EAF3E3"/>
            </a:solidFill>
            <a:ln w="9525">
              <a:solidFill>
                <a:srgbClr val="9C594C"/>
              </a:solidFill>
            </a:ln>
          </p:spPr>
        </p:sp>
        <p:grpSp>
          <p:nvGrpSpPr>
            <p:cNvPr id="113" name="Group 113"/>
            <p:cNvGrpSpPr/>
            <p:nvPr/>
          </p:nvGrpSpPr>
          <p:grpSpPr>
            <a:xfrm>
              <a:off x="6937374" y="2790122"/>
              <a:ext cx="130867" cy="134739"/>
              <a:chOff x="6937374" y="2790122"/>
              <a:chExt cx="130867" cy="134739"/>
            </a:xfrm>
          </p:grpSpPr>
          <p:sp>
            <p:nvSpPr>
              <p:cNvPr id="110" name="Freeform 110"/>
              <p:cNvSpPr/>
              <p:nvPr/>
            </p:nvSpPr>
            <p:spPr>
              <a:xfrm>
                <a:off x="6977062" y="2833687"/>
                <a:ext cx="47625" cy="47625"/>
              </a:xfrm>
              <a:custGeom>
                <a:avLst/>
                <a:gdLst/>
                <a:ahLst/>
                <a:cxnLst/>
                <a:rect l="l" t="t" r="r" b="b"/>
                <a:pathLst>
                  <a:path w="47625" h="47625">
                    <a:moveTo>
                      <a:pt x="0" y="47625"/>
                    </a:moveTo>
                    <a:lnTo>
                      <a:pt x="47625" y="0"/>
                    </a:lnTo>
                  </a:path>
                </a:pathLst>
              </a:custGeom>
              <a:noFill/>
              <a:ln w="15875">
                <a:solidFill>
                  <a:srgbClr val="9C594C"/>
                </a:solidFill>
              </a:ln>
            </p:spPr>
          </p:sp>
          <p:sp>
            <p:nvSpPr>
              <p:cNvPr id="111" name="Freeform 111"/>
              <p:cNvSpPr/>
              <p:nvPr/>
            </p:nvSpPr>
            <p:spPr>
              <a:xfrm>
                <a:off x="6992937" y="2790122"/>
                <a:ext cx="75304" cy="75316"/>
              </a:xfrm>
              <a:custGeom>
                <a:avLst/>
                <a:gdLst/>
                <a:ahLst/>
                <a:cxnLst/>
                <a:rect l="l" t="t" r="r" b="b"/>
                <a:pathLst>
                  <a:path w="75304" h="75316">
                    <a:moveTo>
                      <a:pt x="0" y="19753"/>
                    </a:moveTo>
                    <a:lnTo>
                      <a:pt x="3675" y="15499"/>
                    </a:lnTo>
                    <a:cubicBezTo>
                      <a:pt x="19176" y="0"/>
                      <a:pt x="44306" y="2"/>
                      <a:pt x="59805" y="15503"/>
                    </a:cubicBezTo>
                    <a:cubicBezTo>
                      <a:pt x="75304" y="31004"/>
                      <a:pt x="75302" y="56134"/>
                      <a:pt x="59801" y="71633"/>
                    </a:cubicBezTo>
                    <a:lnTo>
                      <a:pt x="55562" y="75316"/>
                    </a:lnTo>
                  </a:path>
                </a:pathLst>
              </a:custGeom>
              <a:noFill/>
              <a:ln w="15875">
                <a:solidFill>
                  <a:srgbClr val="9C594C"/>
                </a:solidFill>
              </a:ln>
            </p:spPr>
          </p:sp>
          <p:sp>
            <p:nvSpPr>
              <p:cNvPr id="112" name="Freeform 112"/>
              <p:cNvSpPr/>
              <p:nvPr/>
            </p:nvSpPr>
            <p:spPr>
              <a:xfrm>
                <a:off x="6937374" y="2849562"/>
                <a:ext cx="71439" cy="75299"/>
              </a:xfrm>
              <a:custGeom>
                <a:avLst/>
                <a:gdLst/>
                <a:ahLst/>
                <a:cxnLst/>
                <a:rect l="l" t="t" r="r" b="b"/>
                <a:pathLst>
                  <a:path w="71439" h="75299">
                    <a:moveTo>
                      <a:pt x="71439" y="55562"/>
                    </a:moveTo>
                    <a:lnTo>
                      <a:pt x="68287" y="59801"/>
                    </a:lnTo>
                    <a:cubicBezTo>
                      <a:pt x="52615" y="75299"/>
                      <a:pt x="27389" y="75299"/>
                      <a:pt x="11717" y="59801"/>
                    </a:cubicBezTo>
                    <a:cubicBezTo>
                      <a:pt x="4219" y="52388"/>
                      <a:pt x="0" y="42282"/>
                      <a:pt x="0" y="31738"/>
                    </a:cubicBezTo>
                    <a:cubicBezTo>
                      <a:pt x="0" y="21194"/>
                      <a:pt x="4219" y="11089"/>
                      <a:pt x="11717" y="3675"/>
                    </a:cubicBezTo>
                    <a:lnTo>
                      <a:pt x="15876" y="0"/>
                    </a:lnTo>
                  </a:path>
                </a:pathLst>
              </a:custGeom>
              <a:noFill/>
              <a:ln w="15875">
                <a:solidFill>
                  <a:srgbClr val="9C594C"/>
                </a:solidFill>
              </a:ln>
            </p:spPr>
          </p:sp>
        </p:grpSp>
        <p:sp>
          <p:nvSpPr>
            <p:cNvPr id="114" name="TextBox 114"/>
            <p:cNvSpPr txBox="1"/>
            <p:nvPr/>
          </p:nvSpPr>
          <p:spPr>
            <a:xfrm>
              <a:off x="6783413" y="3134439"/>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数字运营</a:t>
              </a:r>
            </a:p>
          </p:txBody>
        </p:sp>
        <p:sp>
          <p:nvSpPr>
            <p:cNvPr id="115" name="TextBox 115"/>
            <p:cNvSpPr txBox="1"/>
            <p:nvPr/>
          </p:nvSpPr>
          <p:spPr>
            <a:xfrm>
              <a:off x="7615238" y="2723436"/>
              <a:ext cx="640715" cy="483394"/>
            </a:xfrm>
            <a:prstGeom prst="rect">
              <a:avLst/>
            </a:prstGeom>
            <a:noFill/>
            <a:ln>
              <a:noFill/>
            </a:ln>
          </p:spPr>
          <p:txBody>
            <a:bodyPr wrap="none" lIns="0" tIns="0" rIns="0" bIns="0" anchor="t" anchorCtr="0">
              <a:spAutoFit/>
            </a:bodyPr>
            <a:lstStyle/>
            <a:p>
              <a:pPr algn="l">
                <a:lnSpc>
                  <a:spcPts val="1350"/>
                </a:lnSpc>
              </a:pPr>
              <a:r>
                <a:rPr lang="zh-CN" sz="710" dirty="0">
                  <a:solidFill>
                    <a:srgbClr val="595959"/>
                  </a:solidFill>
                  <a:latin typeface="+mn-lt"/>
                  <a:ea typeface="+mn-ea"/>
                  <a:cs typeface="+mn-cs"/>
                </a:rPr>
                <a:t>共享与管控</a:t>
              </a:r>
              <a:br/>
              <a:r>
                <a:rPr lang="zh-CN" sz="710" dirty="0">
                  <a:solidFill>
                    <a:srgbClr val="595959"/>
                  </a:solidFill>
                  <a:latin typeface="+mn-lt"/>
                  <a:ea typeface="+mn-ea"/>
                  <a:cs typeface="+mn-cs"/>
                </a:rPr>
                <a:t>互联与协同</a:t>
              </a:r>
              <a:br/>
              <a:r>
                <a:rPr lang="zh-CN" sz="710" dirty="0">
                  <a:solidFill>
                    <a:srgbClr val="595959"/>
                  </a:solidFill>
                  <a:latin typeface="+mn-lt"/>
                  <a:ea typeface="+mn-ea"/>
                  <a:cs typeface="+mn-cs"/>
                </a:rPr>
                <a:t>智能化业务运营</a:t>
              </a:r>
            </a:p>
          </p:txBody>
        </p:sp>
        <p:sp>
          <p:nvSpPr>
            <p:cNvPr id="116" name="Freeform 116"/>
            <p:cNvSpPr/>
            <p:nvPr/>
          </p:nvSpPr>
          <p:spPr>
            <a:xfrm>
              <a:off x="7572375" y="3448050"/>
              <a:ext cx="381000" cy="381000"/>
            </a:xfrm>
            <a:prstGeom prst="mathPlus">
              <a:avLst/>
            </a:prstGeom>
            <a:solidFill>
              <a:srgbClr val="9C594C"/>
            </a:solidFill>
            <a:ln>
              <a:noFill/>
            </a:ln>
          </p:spPr>
        </p:sp>
        <p:sp>
          <p:nvSpPr>
            <p:cNvPr id="117" name="Rectangle 117"/>
            <p:cNvSpPr/>
            <p:nvPr/>
          </p:nvSpPr>
          <p:spPr>
            <a:xfrm>
              <a:off x="6572250" y="3981450"/>
              <a:ext cx="2571750" cy="742950"/>
            </a:xfrm>
            <a:prstGeom prst="rect">
              <a:avLst/>
            </a:prstGeom>
            <a:solidFill>
              <a:srgbClr val="FFFFFF"/>
            </a:solidFill>
            <a:ln w="9525">
              <a:solidFill>
                <a:srgbClr val="C9D8BD"/>
              </a:solidFill>
              <a:custDash>
                <a:ds d="400000" sp="300000"/>
              </a:custDash>
            </a:ln>
          </p:spPr>
        </p:sp>
        <p:grpSp>
          <p:nvGrpSpPr>
            <p:cNvPr id="123" name="Group 123"/>
            <p:cNvGrpSpPr/>
            <p:nvPr/>
          </p:nvGrpSpPr>
          <p:grpSpPr>
            <a:xfrm>
              <a:off x="6767512" y="4271962"/>
              <a:ext cx="142875" cy="142875"/>
              <a:chOff x="6767512" y="4271962"/>
              <a:chExt cx="142875" cy="142875"/>
            </a:xfrm>
          </p:grpSpPr>
          <p:sp>
            <p:nvSpPr>
              <p:cNvPr id="118" name="Freeform 118"/>
              <p:cNvSpPr/>
              <p:nvPr/>
            </p:nvSpPr>
            <p:spPr>
              <a:xfrm>
                <a:off x="6823075" y="42719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119" name="Freeform 119"/>
              <p:cNvSpPr/>
              <p:nvPr/>
            </p:nvSpPr>
            <p:spPr>
              <a:xfrm>
                <a:off x="6767512" y="43830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120" name="Freeform 120"/>
              <p:cNvSpPr/>
              <p:nvPr/>
            </p:nvSpPr>
            <p:spPr>
              <a:xfrm>
                <a:off x="6878637" y="43830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121" name="Freeform 121"/>
              <p:cNvSpPr/>
              <p:nvPr/>
            </p:nvSpPr>
            <p:spPr>
              <a:xfrm>
                <a:off x="6795294" y="4351337"/>
                <a:ext cx="87312" cy="35719"/>
              </a:xfrm>
              <a:custGeom>
                <a:avLst/>
                <a:gdLst/>
                <a:ahLst/>
                <a:cxnLst/>
                <a:rect l="l" t="t" r="r" b="b"/>
                <a:pathLst>
                  <a:path w="87312" h="35719">
                    <a:moveTo>
                      <a:pt x="0" y="35719"/>
                    </a:moveTo>
                    <a:lnTo>
                      <a:pt x="43656" y="0"/>
                    </a:lnTo>
                    <a:lnTo>
                      <a:pt x="87312" y="35719"/>
                    </a:lnTo>
                  </a:path>
                </a:pathLst>
              </a:custGeom>
              <a:noFill/>
              <a:ln w="15875">
                <a:solidFill>
                  <a:srgbClr val="9C594C"/>
                </a:solidFill>
              </a:ln>
            </p:spPr>
          </p:sp>
          <p:sp>
            <p:nvSpPr>
              <p:cNvPr id="122" name="Freeform 122"/>
              <p:cNvSpPr/>
              <p:nvPr/>
            </p:nvSpPr>
            <p:spPr>
              <a:xfrm>
                <a:off x="6838950" y="4303712"/>
                <a:ext cx="9525" cy="47625"/>
              </a:xfrm>
              <a:custGeom>
                <a:avLst/>
                <a:gdLst/>
                <a:ahLst/>
                <a:cxnLst/>
                <a:rect l="l" t="t" r="r" b="b"/>
                <a:pathLst>
                  <a:path w="9525" h="47625">
                    <a:moveTo>
                      <a:pt x="0" y="0"/>
                    </a:moveTo>
                    <a:lnTo>
                      <a:pt x="0" y="47625"/>
                    </a:lnTo>
                  </a:path>
                </a:pathLst>
              </a:custGeom>
              <a:noFill/>
              <a:ln w="15875">
                <a:solidFill>
                  <a:srgbClr val="9C594C"/>
                </a:solidFill>
              </a:ln>
            </p:spPr>
          </p:sp>
        </p:grpSp>
        <p:sp>
          <p:nvSpPr>
            <p:cNvPr id="124" name="TextBox 124"/>
            <p:cNvSpPr txBox="1"/>
            <p:nvPr/>
          </p:nvSpPr>
          <p:spPr>
            <a:xfrm>
              <a:off x="7024688" y="4303395"/>
              <a:ext cx="494157" cy="176212"/>
            </a:xfrm>
            <a:prstGeom prst="rect">
              <a:avLst/>
            </a:prstGeom>
            <a:noFill/>
            <a:ln>
              <a:noFill/>
            </a:ln>
          </p:spPr>
          <p:txBody>
            <a:bodyPr wrap="none" lIns="0" tIns="0" rIns="0" bIns="0" anchor="t" anchorCtr="0">
              <a:spAutoFit/>
            </a:bodyPr>
            <a:lstStyle/>
            <a:p>
              <a:pPr algn="l"/>
              <a:r>
                <a:rPr lang="zh-CN" sz="900" b="1" dirty="0">
                  <a:solidFill>
                    <a:srgbClr val="7A3E33"/>
                  </a:solidFill>
                  <a:latin typeface="+mn-lt"/>
                  <a:ea typeface="+mn-ea"/>
                  <a:cs typeface="+mn-cs"/>
                </a:rPr>
                <a:t>协同创新</a:t>
              </a:r>
            </a:p>
          </p:txBody>
        </p:sp>
        <p:sp>
          <p:nvSpPr>
            <p:cNvPr id="125" name="TextBox 125"/>
            <p:cNvSpPr txBox="1"/>
            <p:nvPr/>
          </p:nvSpPr>
          <p:spPr>
            <a:xfrm>
              <a:off x="7900988" y="4171236"/>
              <a:ext cx="370205" cy="445294"/>
            </a:xfrm>
            <a:prstGeom prst="rect">
              <a:avLst/>
            </a:prstGeom>
            <a:noFill/>
            <a:ln>
              <a:noFill/>
            </a:ln>
          </p:spPr>
          <p:txBody>
            <a:bodyPr wrap="none" lIns="0" tIns="0" rIns="0" bIns="0" anchor="t" anchorCtr="0">
              <a:spAutoFit/>
            </a:bodyPr>
            <a:lstStyle/>
            <a:p>
              <a:pPr algn="l">
                <a:lnSpc>
                  <a:spcPts val="1200"/>
                </a:lnSpc>
              </a:pPr>
              <a:r>
                <a:rPr lang="zh-CN" sz="710" dirty="0">
                  <a:solidFill>
                    <a:srgbClr val="595959"/>
                  </a:solidFill>
                  <a:latin typeface="+mn-lt"/>
                  <a:ea typeface="+mn-ea"/>
                  <a:cs typeface="+mn-cs"/>
                </a:rPr>
                <a:t>业务中台</a:t>
              </a:r>
              <a:br/>
              <a:r>
                <a:rPr lang="zh-CN" sz="710" dirty="0">
                  <a:solidFill>
                    <a:srgbClr val="595959"/>
                  </a:solidFill>
                  <a:latin typeface="+mn-lt"/>
                  <a:ea typeface="+mn-ea"/>
                  <a:cs typeface="+mn-cs"/>
                </a:rPr>
                <a:t>数据中台</a:t>
              </a:r>
              <a:br/>
              <a:r>
                <a:rPr lang="zh-CN" sz="710" dirty="0">
                  <a:solidFill>
                    <a:srgbClr val="595959"/>
                  </a:solidFill>
                  <a:latin typeface="+mn-lt"/>
                  <a:ea typeface="+mn-ea"/>
                  <a:cs typeface="+mn-cs"/>
                </a:rPr>
                <a:t>技术中台</a:t>
              </a:r>
            </a:p>
          </p:txBody>
        </p:sp>
      </p:grpSp>
      <p:sp>
        <p:nvSpPr>
          <p:cNvPr id="127" name="Freeform 127"/>
          <p:cNvSpPr/>
          <p:nvPr/>
        </p:nvSpPr>
        <p:spPr>
          <a:xfrm>
            <a:off x="9163050" y="1714500"/>
            <a:ext cx="247650" cy="381000"/>
          </a:xfrm>
          <a:prstGeom prst="rightArrow">
            <a:avLst/>
          </a:prstGeom>
          <a:solidFill>
            <a:srgbClr val="E9563C"/>
          </a:solidFill>
          <a:ln>
            <a:noFill/>
          </a:ln>
        </p:spPr>
      </p:sp>
      <p:grpSp>
        <p:nvGrpSpPr>
          <p:cNvPr id="153" name="stage-process"/>
          <p:cNvGrpSpPr/>
          <p:nvPr/>
        </p:nvGrpSpPr>
        <p:grpSpPr>
          <a:xfrm>
            <a:off x="9429750" y="1428750"/>
            <a:ext cx="2381250" cy="3295650"/>
            <a:chOff x="9429750" y="1428750"/>
            <a:chExt cx="2381250" cy="3295650"/>
          </a:xfrm>
        </p:grpSpPr>
        <p:sp>
          <p:nvSpPr>
            <p:cNvPr id="128" name="Rectangle 128"/>
            <p:cNvSpPr/>
            <p:nvPr/>
          </p:nvSpPr>
          <p:spPr>
            <a:xfrm>
              <a:off x="9429750" y="1428750"/>
              <a:ext cx="2381250" cy="723900"/>
            </a:xfrm>
            <a:prstGeom prst="rect">
              <a:avLst/>
            </a:prstGeom>
            <a:solidFill>
              <a:srgbClr val="F7B9AE"/>
            </a:solidFill>
            <a:ln>
              <a:noFill/>
            </a:ln>
          </p:spPr>
        </p:sp>
        <p:sp>
          <p:nvSpPr>
            <p:cNvPr id="129" name="TextBox 129"/>
            <p:cNvSpPr txBox="1"/>
            <p:nvPr/>
          </p:nvSpPr>
          <p:spPr>
            <a:xfrm>
              <a:off x="10452735" y="1565910"/>
              <a:ext cx="335280" cy="234696"/>
            </a:xfrm>
            <a:prstGeom prst="rect">
              <a:avLst/>
            </a:prstGeom>
            <a:noFill/>
            <a:ln>
              <a:noFill/>
            </a:ln>
          </p:spPr>
          <p:txBody>
            <a:bodyPr wrap="none" lIns="0" tIns="0" rIns="0" bIns="0" anchor="t" anchorCtr="0">
              <a:spAutoFit/>
            </a:bodyPr>
            <a:lstStyle/>
            <a:p>
              <a:pPr algn="ctr"/>
              <a:r>
                <a:rPr lang="zh-CN" sz="1200" b="1" dirty="0">
                  <a:solidFill>
                    <a:srgbClr val="8A2210"/>
                  </a:solidFill>
                  <a:latin typeface="+mn-lt"/>
                  <a:ea typeface="+mn-ea"/>
                  <a:cs typeface="+mn-cs"/>
                </a:rPr>
                <a:t>流程</a:t>
              </a:r>
            </a:p>
          </p:txBody>
        </p:sp>
        <p:sp>
          <p:nvSpPr>
            <p:cNvPr id="130" name="TextBox 130"/>
            <p:cNvSpPr txBox="1"/>
            <p:nvPr/>
          </p:nvSpPr>
          <p:spPr>
            <a:xfrm>
              <a:off x="10386758" y="1813084"/>
              <a:ext cx="467233" cy="133350"/>
            </a:xfrm>
            <a:prstGeom prst="rect">
              <a:avLst/>
            </a:prstGeom>
            <a:noFill/>
            <a:ln>
              <a:noFill/>
            </a:ln>
          </p:spPr>
          <p:txBody>
            <a:bodyPr wrap="none" lIns="0" tIns="0" rIns="0" bIns="0" anchor="t" anchorCtr="0">
              <a:spAutoFit/>
            </a:bodyPr>
            <a:lstStyle/>
            <a:p>
              <a:pPr algn="ctr"/>
              <a:r>
                <a:rPr lang="zh-CN" sz="680" dirty="0">
                  <a:solidFill>
                    <a:srgbClr val="7A2010"/>
                  </a:solidFill>
                  <a:latin typeface="+mn-lt"/>
                  <a:ea typeface="+mn-ea"/>
                  <a:cs typeface="+mn-cs"/>
                </a:rPr>
                <a:t>指标和报告</a:t>
              </a:r>
            </a:p>
          </p:txBody>
        </p:sp>
        <p:sp>
          <p:nvSpPr>
            <p:cNvPr id="131" name="TextBox 131"/>
            <p:cNvSpPr txBox="1"/>
            <p:nvPr/>
          </p:nvSpPr>
          <p:spPr>
            <a:xfrm>
              <a:off x="10249446" y="1965484"/>
              <a:ext cx="741858" cy="133350"/>
            </a:xfrm>
            <a:prstGeom prst="rect">
              <a:avLst/>
            </a:prstGeom>
            <a:noFill/>
            <a:ln>
              <a:noFill/>
            </a:ln>
          </p:spPr>
          <p:txBody>
            <a:bodyPr wrap="none" lIns="0" tIns="0" rIns="0" bIns="0" anchor="t" anchorCtr="0">
              <a:spAutoFit/>
            </a:bodyPr>
            <a:lstStyle/>
            <a:p>
              <a:pPr algn="ctr"/>
              <a:r>
                <a:rPr lang="zh-CN" sz="680" dirty="0">
                  <a:solidFill>
                    <a:srgbClr val="7A2010"/>
                  </a:solidFill>
                  <a:latin typeface="+mn-lt"/>
                  <a:ea typeface="+mn-ea"/>
                  <a:cs typeface="+mn-cs"/>
                </a:rPr>
                <a:t>过程驱动下的交付</a:t>
              </a:r>
            </a:p>
          </p:txBody>
        </p:sp>
        <p:sp>
          <p:nvSpPr>
            <p:cNvPr id="132" name="Rectangle 132"/>
            <p:cNvSpPr/>
            <p:nvPr/>
          </p:nvSpPr>
          <p:spPr>
            <a:xfrm>
              <a:off x="9429750" y="2247900"/>
              <a:ext cx="2381250" cy="266700"/>
            </a:xfrm>
            <a:prstGeom prst="rect">
              <a:avLst/>
            </a:prstGeom>
            <a:solidFill>
              <a:srgbClr val="FBF0D8"/>
            </a:solidFill>
            <a:ln>
              <a:noFill/>
            </a:ln>
          </p:spPr>
        </p:sp>
        <p:sp>
          <p:nvSpPr>
            <p:cNvPr id="133" name="TextBox 133"/>
            <p:cNvSpPr txBox="1"/>
            <p:nvPr/>
          </p:nvSpPr>
          <p:spPr>
            <a:xfrm>
              <a:off x="10232289" y="2339816"/>
              <a:ext cx="776172" cy="161925"/>
            </a:xfrm>
            <a:prstGeom prst="rect">
              <a:avLst/>
            </a:prstGeom>
            <a:noFill/>
            <a:ln>
              <a:noFill/>
            </a:ln>
          </p:spPr>
          <p:txBody>
            <a:bodyPr wrap="none" lIns="0" tIns="0" rIns="0" bIns="0" anchor="t" anchorCtr="0">
              <a:spAutoFit/>
            </a:bodyPr>
            <a:lstStyle/>
            <a:p>
              <a:pPr algn="ctr"/>
              <a:r>
                <a:rPr lang="zh-CN" sz="820" b="1" dirty="0">
                  <a:solidFill>
                    <a:srgbClr val="8A2210"/>
                  </a:solidFill>
                  <a:latin typeface="+mn-lt"/>
                  <a:ea typeface="+mn-ea"/>
                  <a:cs typeface="+mn-cs"/>
                </a:rPr>
                <a:t>数据 | 归档管理</a:t>
              </a:r>
            </a:p>
          </p:txBody>
        </p:sp>
        <p:sp>
          <p:nvSpPr>
            <p:cNvPr id="134" name="Rectangle 134"/>
            <p:cNvSpPr/>
            <p:nvPr/>
          </p:nvSpPr>
          <p:spPr>
            <a:xfrm>
              <a:off x="9429750" y="2590800"/>
              <a:ext cx="2381250" cy="723900"/>
            </a:xfrm>
            <a:prstGeom prst="rect">
              <a:avLst/>
            </a:prstGeom>
            <a:solidFill>
              <a:srgbClr val="FFFFFF"/>
            </a:solidFill>
            <a:ln w="9525">
              <a:solidFill>
                <a:srgbClr val="E8B5AC"/>
              </a:solidFill>
              <a:custDash>
                <a:ds d="400000" sp="300000"/>
              </a:custDash>
            </a:ln>
          </p:spPr>
        </p:sp>
        <p:sp>
          <p:nvSpPr>
            <p:cNvPr id="135" name="Ellipse 135"/>
            <p:cNvSpPr/>
            <p:nvPr/>
          </p:nvSpPr>
          <p:spPr>
            <a:xfrm>
              <a:off x="9639300" y="2667000"/>
              <a:ext cx="381000" cy="381000"/>
            </a:xfrm>
            <a:prstGeom prst="ellipse">
              <a:avLst/>
            </a:prstGeom>
            <a:solidFill>
              <a:srgbClr val="FDF6E7"/>
            </a:solidFill>
            <a:ln w="9525">
              <a:solidFill>
                <a:srgbClr val="E9563C"/>
              </a:solidFill>
            </a:ln>
          </p:spPr>
        </p:sp>
        <p:grpSp>
          <p:nvGrpSpPr>
            <p:cNvPr id="140" name="Group 140"/>
            <p:cNvGrpSpPr/>
            <p:nvPr/>
          </p:nvGrpSpPr>
          <p:grpSpPr>
            <a:xfrm>
              <a:off x="9758362" y="2786062"/>
              <a:ext cx="142875" cy="142875"/>
              <a:chOff x="9758362" y="2786062"/>
              <a:chExt cx="142875" cy="142875"/>
            </a:xfrm>
          </p:grpSpPr>
          <p:sp>
            <p:nvSpPr>
              <p:cNvPr id="136" name="Freeform 136"/>
              <p:cNvSpPr/>
              <p:nvPr/>
            </p:nvSpPr>
            <p:spPr>
              <a:xfrm>
                <a:off x="9774237" y="27860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D6391E"/>
                </a:solidFill>
              </a:ln>
            </p:spPr>
          </p:sp>
          <p:sp>
            <p:nvSpPr>
              <p:cNvPr id="137" name="Freeform 137"/>
              <p:cNvSpPr/>
              <p:nvPr/>
            </p:nvSpPr>
            <p:spPr>
              <a:xfrm>
                <a:off x="9758362" y="28813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D6391E"/>
                </a:solidFill>
              </a:ln>
            </p:spPr>
          </p:sp>
          <p:sp>
            <p:nvSpPr>
              <p:cNvPr id="138" name="Freeform 138"/>
              <p:cNvSpPr/>
              <p:nvPr/>
            </p:nvSpPr>
            <p:spPr>
              <a:xfrm>
                <a:off x="9861550" y="27870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D6391E"/>
                </a:solidFill>
              </a:ln>
            </p:spPr>
          </p:sp>
          <p:sp>
            <p:nvSpPr>
              <p:cNvPr id="139" name="Freeform 139"/>
              <p:cNvSpPr/>
              <p:nvPr/>
            </p:nvSpPr>
            <p:spPr>
              <a:xfrm>
                <a:off x="9877425" y="28825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D6391E"/>
                </a:solidFill>
              </a:ln>
            </p:spPr>
          </p:sp>
        </p:grpSp>
        <p:sp>
          <p:nvSpPr>
            <p:cNvPr id="141" name="TextBox 141"/>
            <p:cNvSpPr txBox="1"/>
            <p:nvPr/>
          </p:nvSpPr>
          <p:spPr>
            <a:xfrm>
              <a:off x="9612338" y="3134439"/>
              <a:ext cx="434924" cy="154781"/>
            </a:xfrm>
            <a:prstGeom prst="rect">
              <a:avLst/>
            </a:prstGeom>
            <a:noFill/>
            <a:ln>
              <a:noFill/>
            </a:ln>
          </p:spPr>
          <p:txBody>
            <a:bodyPr wrap="none" lIns="0" tIns="0" rIns="0" bIns="0" anchor="t" anchorCtr="0">
              <a:spAutoFit/>
            </a:bodyPr>
            <a:lstStyle/>
            <a:p>
              <a:pPr algn="ctr"/>
              <a:r>
                <a:rPr lang="zh-CN" sz="790" b="1" dirty="0">
                  <a:solidFill>
                    <a:srgbClr val="8A2210"/>
                  </a:solidFill>
                  <a:latin typeface="+mn-lt"/>
                  <a:ea typeface="+mn-ea"/>
                  <a:cs typeface="+mn-cs"/>
                </a:rPr>
                <a:t>客户体验</a:t>
              </a:r>
            </a:p>
          </p:txBody>
        </p:sp>
        <p:sp>
          <p:nvSpPr>
            <p:cNvPr id="142" name="TextBox 142"/>
            <p:cNvSpPr txBox="1"/>
            <p:nvPr/>
          </p:nvSpPr>
          <p:spPr>
            <a:xfrm>
              <a:off x="10377488" y="2723436"/>
              <a:ext cx="640715" cy="483394"/>
            </a:xfrm>
            <a:prstGeom prst="rect">
              <a:avLst/>
            </a:prstGeom>
            <a:noFill/>
            <a:ln>
              <a:noFill/>
            </a:ln>
          </p:spPr>
          <p:txBody>
            <a:bodyPr wrap="none" lIns="0" tIns="0" rIns="0" bIns="0" anchor="t" anchorCtr="0">
              <a:spAutoFit/>
            </a:bodyPr>
            <a:lstStyle/>
            <a:p>
              <a:pPr algn="l">
                <a:lnSpc>
                  <a:spcPts val="1350"/>
                </a:lnSpc>
              </a:pPr>
              <a:r>
                <a:rPr lang="zh-CN" sz="710" dirty="0">
                  <a:solidFill>
                    <a:srgbClr val="595959"/>
                  </a:solidFill>
                  <a:latin typeface="+mn-lt"/>
                  <a:ea typeface="+mn-ea"/>
                  <a:cs typeface="+mn-cs"/>
                </a:rPr>
                <a:t>数字化客户管理</a:t>
              </a:r>
              <a:br/>
              <a:r>
                <a:rPr lang="zh-CN" sz="710" dirty="0">
                  <a:solidFill>
                    <a:srgbClr val="595959"/>
                  </a:solidFill>
                  <a:latin typeface="+mn-lt"/>
                  <a:ea typeface="+mn-ea"/>
                  <a:cs typeface="+mn-cs"/>
                </a:rPr>
                <a:t>端到端</a:t>
              </a:r>
              <a:br/>
              <a:r>
                <a:rPr lang="zh-CN" sz="710" dirty="0">
                  <a:solidFill>
                    <a:srgbClr val="595959"/>
                  </a:solidFill>
                  <a:latin typeface="+mn-lt"/>
                  <a:ea typeface="+mn-ea"/>
                  <a:cs typeface="+mn-cs"/>
                </a:rPr>
                <a:t>客户体验和服务</a:t>
              </a:r>
            </a:p>
          </p:txBody>
        </p:sp>
        <p:sp>
          <p:nvSpPr>
            <p:cNvPr id="143" name="Freeform 143"/>
            <p:cNvSpPr/>
            <p:nvPr/>
          </p:nvSpPr>
          <p:spPr>
            <a:xfrm>
              <a:off x="10429875" y="3448050"/>
              <a:ext cx="381000" cy="381000"/>
            </a:xfrm>
            <a:prstGeom prst="mathPlus">
              <a:avLst/>
            </a:prstGeom>
            <a:solidFill>
              <a:srgbClr val="E9563C"/>
            </a:solidFill>
            <a:ln>
              <a:noFill/>
            </a:ln>
          </p:spPr>
        </p:sp>
        <p:sp>
          <p:nvSpPr>
            <p:cNvPr id="144" name="Rectangle 144"/>
            <p:cNvSpPr/>
            <p:nvPr/>
          </p:nvSpPr>
          <p:spPr>
            <a:xfrm>
              <a:off x="9429750" y="3981450"/>
              <a:ext cx="2381250" cy="742950"/>
            </a:xfrm>
            <a:prstGeom prst="rect">
              <a:avLst/>
            </a:prstGeom>
            <a:solidFill>
              <a:srgbClr val="FFFFFF"/>
            </a:solidFill>
            <a:ln w="9525">
              <a:solidFill>
                <a:srgbClr val="E8B5AC"/>
              </a:solidFill>
              <a:custDash>
                <a:ds d="400000" sp="300000"/>
              </a:custDash>
            </a:ln>
          </p:spPr>
        </p:sp>
        <p:grpSp>
          <p:nvGrpSpPr>
            <p:cNvPr id="150" name="Group 150"/>
            <p:cNvGrpSpPr/>
            <p:nvPr/>
          </p:nvGrpSpPr>
          <p:grpSpPr>
            <a:xfrm>
              <a:off x="9640887" y="4271962"/>
              <a:ext cx="111125" cy="142875"/>
              <a:chOff x="9640887" y="4271962"/>
              <a:chExt cx="111125" cy="142875"/>
            </a:xfrm>
          </p:grpSpPr>
          <p:sp>
            <p:nvSpPr>
              <p:cNvPr id="145" name="Freeform 145"/>
              <p:cNvSpPr/>
              <p:nvPr/>
            </p:nvSpPr>
            <p:spPr>
              <a:xfrm>
                <a:off x="9712325" y="42719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D6391E"/>
                </a:solidFill>
              </a:ln>
            </p:spPr>
          </p:sp>
          <p:sp>
            <p:nvSpPr>
              <p:cNvPr id="146" name="Freeform 146"/>
              <p:cNvSpPr/>
              <p:nvPr/>
            </p:nvSpPr>
            <p:spPr>
              <a:xfrm>
                <a:off x="9640887" y="42719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D6391E"/>
                </a:solidFill>
              </a:ln>
            </p:spPr>
          </p:sp>
          <p:sp>
            <p:nvSpPr>
              <p:cNvPr id="147" name="Freeform 147"/>
              <p:cNvSpPr/>
              <p:nvPr/>
            </p:nvSpPr>
            <p:spPr>
              <a:xfrm>
                <a:off x="9672637" y="4319587"/>
                <a:ext cx="9525" cy="9525"/>
              </a:xfrm>
              <a:custGeom>
                <a:avLst/>
                <a:gdLst/>
                <a:ahLst/>
                <a:cxnLst/>
                <a:rect l="l" t="t" r="r" b="b"/>
                <a:pathLst>
                  <a:path w="9525" h="9525">
                    <a:moveTo>
                      <a:pt x="0" y="0"/>
                    </a:moveTo>
                    <a:lnTo>
                      <a:pt x="7937" y="0"/>
                    </a:lnTo>
                  </a:path>
                </a:pathLst>
              </a:custGeom>
              <a:noFill/>
              <a:ln w="15875">
                <a:solidFill>
                  <a:srgbClr val="D6391E"/>
                </a:solidFill>
              </a:ln>
            </p:spPr>
          </p:sp>
          <p:sp>
            <p:nvSpPr>
              <p:cNvPr id="148" name="Freeform 148"/>
              <p:cNvSpPr/>
              <p:nvPr/>
            </p:nvSpPr>
            <p:spPr>
              <a:xfrm>
                <a:off x="9672637" y="4351337"/>
                <a:ext cx="47625" cy="9525"/>
              </a:xfrm>
              <a:custGeom>
                <a:avLst/>
                <a:gdLst/>
                <a:ahLst/>
                <a:cxnLst/>
                <a:rect l="l" t="t" r="r" b="b"/>
                <a:pathLst>
                  <a:path w="47625" h="9525">
                    <a:moveTo>
                      <a:pt x="0" y="0"/>
                    </a:moveTo>
                    <a:lnTo>
                      <a:pt x="47625" y="0"/>
                    </a:lnTo>
                  </a:path>
                </a:pathLst>
              </a:custGeom>
              <a:noFill/>
              <a:ln w="15875">
                <a:solidFill>
                  <a:srgbClr val="D6391E"/>
                </a:solidFill>
              </a:ln>
            </p:spPr>
          </p:sp>
          <p:sp>
            <p:nvSpPr>
              <p:cNvPr id="149" name="Freeform 149"/>
              <p:cNvSpPr/>
              <p:nvPr/>
            </p:nvSpPr>
            <p:spPr>
              <a:xfrm>
                <a:off x="9672637" y="4383087"/>
                <a:ext cx="47625" cy="9525"/>
              </a:xfrm>
              <a:custGeom>
                <a:avLst/>
                <a:gdLst/>
                <a:ahLst/>
                <a:cxnLst/>
                <a:rect l="l" t="t" r="r" b="b"/>
                <a:pathLst>
                  <a:path w="47625" h="9525">
                    <a:moveTo>
                      <a:pt x="0" y="0"/>
                    </a:moveTo>
                    <a:lnTo>
                      <a:pt x="47625" y="0"/>
                    </a:lnTo>
                  </a:path>
                </a:pathLst>
              </a:custGeom>
              <a:noFill/>
              <a:ln w="15875">
                <a:solidFill>
                  <a:srgbClr val="D6391E"/>
                </a:solidFill>
              </a:ln>
            </p:spPr>
          </p:sp>
        </p:grpSp>
        <p:sp>
          <p:nvSpPr>
            <p:cNvPr id="151" name="TextBox 151"/>
            <p:cNvSpPr txBox="1"/>
            <p:nvPr/>
          </p:nvSpPr>
          <p:spPr>
            <a:xfrm>
              <a:off x="9882188" y="4303395"/>
              <a:ext cx="494157" cy="176212"/>
            </a:xfrm>
            <a:prstGeom prst="rect">
              <a:avLst/>
            </a:prstGeom>
            <a:noFill/>
            <a:ln>
              <a:noFill/>
            </a:ln>
          </p:spPr>
          <p:txBody>
            <a:bodyPr wrap="none" lIns="0" tIns="0" rIns="0" bIns="0" anchor="t" anchorCtr="0">
              <a:spAutoFit/>
            </a:bodyPr>
            <a:lstStyle/>
            <a:p>
              <a:pPr algn="l"/>
              <a:r>
                <a:rPr lang="zh-CN" sz="900" b="1" dirty="0">
                  <a:solidFill>
                    <a:srgbClr val="8A2210"/>
                  </a:solidFill>
                  <a:latin typeface="+mn-lt"/>
                  <a:ea typeface="+mn-ea"/>
                  <a:cs typeface="+mn-cs"/>
                </a:rPr>
                <a:t>业务模式</a:t>
              </a:r>
            </a:p>
          </p:txBody>
        </p:sp>
        <p:sp>
          <p:nvSpPr>
            <p:cNvPr id="152" name="TextBox 152"/>
            <p:cNvSpPr txBox="1"/>
            <p:nvPr/>
          </p:nvSpPr>
          <p:spPr>
            <a:xfrm>
              <a:off x="10739438" y="4228386"/>
              <a:ext cx="550545" cy="311944"/>
            </a:xfrm>
            <a:prstGeom prst="rect">
              <a:avLst/>
            </a:prstGeom>
            <a:noFill/>
            <a:ln>
              <a:noFill/>
            </a:ln>
          </p:spPr>
          <p:txBody>
            <a:bodyPr wrap="none" lIns="0" tIns="0" rIns="0" bIns="0" anchor="t" anchorCtr="0">
              <a:spAutoFit/>
            </a:bodyPr>
            <a:lstStyle/>
            <a:p>
              <a:pPr algn="l">
                <a:lnSpc>
                  <a:spcPts val="1350"/>
                </a:lnSpc>
              </a:pPr>
              <a:r>
                <a:rPr lang="zh-CN" sz="710" dirty="0">
                  <a:solidFill>
                    <a:srgbClr val="595959"/>
                  </a:solidFill>
                  <a:latin typeface="+mn-lt"/>
                  <a:ea typeface="+mn-ea"/>
                  <a:cs typeface="+mn-cs"/>
                </a:rPr>
                <a:t>业务模式创新</a:t>
              </a:r>
              <a:br/>
              <a:r>
                <a:rPr lang="zh-CN" sz="710" dirty="0">
                  <a:solidFill>
                    <a:srgbClr val="595959"/>
                  </a:solidFill>
                  <a:latin typeface="+mn-lt"/>
                  <a:ea typeface="+mn-ea"/>
                  <a:cs typeface="+mn-cs"/>
                </a:rPr>
                <a:t>合作与发展</a:t>
              </a:r>
            </a:p>
          </p:txBody>
        </p:sp>
      </p:grpSp>
      <p:grpSp>
        <p:nvGrpSpPr>
          <p:cNvPr id="163" name="banner-cloud-native"/>
          <p:cNvGrpSpPr/>
          <p:nvPr/>
        </p:nvGrpSpPr>
        <p:grpSpPr>
          <a:xfrm>
            <a:off x="381000" y="4838700"/>
            <a:ext cx="11430000" cy="400050"/>
            <a:chOff x="381000" y="4838700"/>
            <a:chExt cx="11430000" cy="400050"/>
          </a:xfrm>
        </p:grpSpPr>
        <p:sp>
          <p:nvSpPr>
            <p:cNvPr id="154" name="Rectangle 154"/>
            <p:cNvSpPr/>
            <p:nvPr/>
          </p:nvSpPr>
          <p:spPr>
            <a:xfrm>
              <a:off x="381000" y="4838700"/>
              <a:ext cx="11430000" cy="400050"/>
            </a:xfrm>
            <a:prstGeom prst="rect">
              <a:avLst/>
            </a:prstGeom>
            <a:solidFill>
              <a:srgbClr val="8C4B3F"/>
            </a:solidFill>
            <a:ln>
              <a:noFill/>
            </a:ln>
          </p:spPr>
        </p:sp>
        <p:grpSp>
          <p:nvGrpSpPr>
            <p:cNvPr id="161" name="Group 161"/>
            <p:cNvGrpSpPr/>
            <p:nvPr/>
          </p:nvGrpSpPr>
          <p:grpSpPr>
            <a:xfrm>
              <a:off x="3838575" y="4953000"/>
              <a:ext cx="171450" cy="171450"/>
              <a:chOff x="3838575" y="4953000"/>
              <a:chExt cx="171450" cy="171450"/>
            </a:xfrm>
          </p:grpSpPr>
          <p:sp>
            <p:nvSpPr>
              <p:cNvPr id="155" name="Freeform 155"/>
              <p:cNvSpPr/>
              <p:nvPr/>
            </p:nvSpPr>
            <p:spPr>
              <a:xfrm>
                <a:off x="3905250" y="50292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56" name="Freeform 156"/>
              <p:cNvSpPr/>
              <p:nvPr/>
            </p:nvSpPr>
            <p:spPr>
              <a:xfrm>
                <a:off x="3886200" y="5095875"/>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FFFFFF"/>
                </a:solidFill>
              </a:ln>
            </p:spPr>
          </p:sp>
          <p:sp>
            <p:nvSpPr>
              <p:cNvPr id="157" name="Freeform 157"/>
              <p:cNvSpPr/>
              <p:nvPr/>
            </p:nvSpPr>
            <p:spPr>
              <a:xfrm>
                <a:off x="3952875" y="49530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58" name="Freeform 158"/>
              <p:cNvSpPr/>
              <p:nvPr/>
            </p:nvSpPr>
            <p:spPr>
              <a:xfrm>
                <a:off x="3971925" y="5019675"/>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FFFFFF"/>
                </a:solidFill>
              </a:ln>
            </p:spPr>
          </p:sp>
          <p:sp>
            <p:nvSpPr>
              <p:cNvPr id="159" name="Freeform 159"/>
              <p:cNvSpPr/>
              <p:nvPr/>
            </p:nvSpPr>
            <p:spPr>
              <a:xfrm>
                <a:off x="3857625" y="49530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FFFFFF"/>
                </a:solidFill>
              </a:ln>
            </p:spPr>
          </p:sp>
          <p:sp>
            <p:nvSpPr>
              <p:cNvPr id="160" name="Freeform 160"/>
              <p:cNvSpPr/>
              <p:nvPr/>
            </p:nvSpPr>
            <p:spPr>
              <a:xfrm>
                <a:off x="3838575" y="5019675"/>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FFFFFF"/>
                </a:solidFill>
              </a:ln>
            </p:spPr>
          </p:sp>
        </p:grpSp>
        <p:sp>
          <p:nvSpPr>
            <p:cNvPr id="162" name="TextBox 162"/>
            <p:cNvSpPr txBox="1"/>
            <p:nvPr/>
          </p:nvSpPr>
          <p:spPr>
            <a:xfrm>
              <a:off x="4128326" y="4978479"/>
              <a:ext cx="3826180" cy="212693"/>
            </a:xfrm>
            <a:prstGeom prst="rect">
              <a:avLst/>
            </a:prstGeom>
            <a:noFill/>
            <a:ln>
              <a:noFill/>
            </a:ln>
          </p:spPr>
          <p:txBody>
            <a:bodyPr wrap="none" lIns="0" tIns="0" rIns="0" bIns="0" anchor="t" anchorCtr="0">
              <a:spAutoFit/>
            </a:bodyPr>
            <a:lstStyle/>
            <a:p>
              <a:pPr algn="l"/>
              <a:r>
                <a:rPr lang="zh-CN" sz="1090" b="1" dirty="0">
                  <a:solidFill>
                    <a:srgbClr val="FFFFFF"/>
                  </a:solidFill>
                  <a:latin typeface="+mn-lt"/>
                  <a:ea typeface="+mn-ea"/>
                  <a:cs typeface="+mn-cs"/>
                </a:rPr>
                <a:t>云原生技术体系：包括微服务、容器云架构、涉及注册中心</a:t>
              </a:r>
            </a:p>
          </p:txBody>
        </p:sp>
      </p:grpSp>
      <p:grpSp>
        <p:nvGrpSpPr>
          <p:cNvPr id="172" name="banner-value"/>
          <p:cNvGrpSpPr/>
          <p:nvPr/>
        </p:nvGrpSpPr>
        <p:grpSpPr>
          <a:xfrm>
            <a:off x="381000" y="5295900"/>
            <a:ext cx="11430000" cy="400050"/>
            <a:chOff x="381000" y="5295900"/>
            <a:chExt cx="11430000" cy="400050"/>
          </a:xfrm>
        </p:grpSpPr>
        <p:sp>
          <p:nvSpPr>
            <p:cNvPr id="164" name="Rectangle 164"/>
            <p:cNvSpPr/>
            <p:nvPr/>
          </p:nvSpPr>
          <p:spPr>
            <a:xfrm>
              <a:off x="381000" y="5295900"/>
              <a:ext cx="11430000" cy="400050"/>
            </a:xfrm>
            <a:prstGeom prst="rect">
              <a:avLst/>
            </a:prstGeom>
            <a:solidFill>
              <a:srgbClr val="FBF0D8"/>
            </a:solidFill>
            <a:ln w="9525">
              <a:solidFill>
                <a:srgbClr val="E9563C"/>
              </a:solidFill>
            </a:ln>
          </p:spPr>
        </p:sp>
        <p:grpSp>
          <p:nvGrpSpPr>
            <p:cNvPr id="170" name="Group 170"/>
            <p:cNvGrpSpPr/>
            <p:nvPr/>
          </p:nvGrpSpPr>
          <p:grpSpPr>
            <a:xfrm>
              <a:off x="2886075" y="5408924"/>
              <a:ext cx="171450" cy="172726"/>
              <a:chOff x="2886075" y="5408924"/>
              <a:chExt cx="171450" cy="172726"/>
            </a:xfrm>
          </p:grpSpPr>
          <p:sp>
            <p:nvSpPr>
              <p:cNvPr id="165" name="Freeform 165"/>
              <p:cNvSpPr/>
              <p:nvPr/>
            </p:nvSpPr>
            <p:spPr>
              <a:xfrm>
                <a:off x="2943225" y="5486400"/>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D6391E"/>
                </a:solidFill>
              </a:ln>
            </p:spPr>
          </p:sp>
          <p:sp>
            <p:nvSpPr>
              <p:cNvPr id="166" name="Freeform 166"/>
              <p:cNvSpPr/>
              <p:nvPr/>
            </p:nvSpPr>
            <p:spPr>
              <a:xfrm>
                <a:off x="2943225" y="5514975"/>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D6391E"/>
                </a:solidFill>
              </a:ln>
            </p:spPr>
          </p:sp>
          <p:sp>
            <p:nvSpPr>
              <p:cNvPr id="167" name="Freeform 167"/>
              <p:cNvSpPr/>
              <p:nvPr/>
            </p:nvSpPr>
            <p:spPr>
              <a:xfrm>
                <a:off x="2886075" y="5408924"/>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D6391E"/>
                </a:solidFill>
              </a:ln>
            </p:spPr>
          </p:sp>
          <p:sp>
            <p:nvSpPr>
              <p:cNvPr id="168" name="Freeform 168"/>
              <p:cNvSpPr/>
              <p:nvPr/>
            </p:nvSpPr>
            <p:spPr>
              <a:xfrm>
                <a:off x="2886075" y="5438775"/>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D6391E"/>
                </a:solidFill>
              </a:ln>
            </p:spPr>
          </p:sp>
          <p:sp>
            <p:nvSpPr>
              <p:cNvPr id="169" name="Freeform 169"/>
              <p:cNvSpPr/>
              <p:nvPr/>
            </p:nvSpPr>
            <p:spPr>
              <a:xfrm>
                <a:off x="2886075" y="5486400"/>
                <a:ext cx="19050" cy="19050"/>
              </a:xfrm>
              <a:custGeom>
                <a:avLst/>
                <a:gdLst/>
                <a:ahLst/>
                <a:cxnLst/>
                <a:rect l="l" t="t" r="r" b="b"/>
                <a:pathLst>
                  <a:path w="19050" h="19050">
                    <a:moveTo>
                      <a:pt x="0" y="0"/>
                    </a:moveTo>
                    <a:cubicBezTo>
                      <a:pt x="0" y="8458"/>
                      <a:pt x="7353" y="13811"/>
                      <a:pt x="19050" y="19050"/>
                    </a:cubicBezTo>
                  </a:path>
                </a:pathLst>
              </a:custGeom>
              <a:noFill/>
              <a:ln w="19050">
                <a:solidFill>
                  <a:srgbClr val="D6391E"/>
                </a:solidFill>
              </a:ln>
            </p:spPr>
          </p:sp>
        </p:grpSp>
        <p:sp>
          <p:nvSpPr>
            <p:cNvPr id="171" name="TextBox 171"/>
            <p:cNvSpPr txBox="1"/>
            <p:nvPr/>
          </p:nvSpPr>
          <p:spPr>
            <a:xfrm>
              <a:off x="3176397" y="5447824"/>
              <a:ext cx="5667951" cy="190690"/>
            </a:xfrm>
            <a:prstGeom prst="rect">
              <a:avLst/>
            </a:prstGeom>
            <a:noFill/>
            <a:ln>
              <a:noFill/>
            </a:ln>
          </p:spPr>
          <p:txBody>
            <a:bodyPr wrap="none" lIns="0" tIns="0" rIns="0" bIns="0" anchor="t" anchorCtr="0">
              <a:spAutoFit/>
            </a:bodyPr>
            <a:lstStyle/>
            <a:p>
              <a:pPr algn="l"/>
              <a:r>
                <a:rPr lang="zh-CN" sz="980" b="1" dirty="0">
                  <a:solidFill>
                    <a:srgbClr val="7A2010"/>
                  </a:solidFill>
                  <a:latin typeface="+mn-lt"/>
                  <a:ea typeface="+mn-ea"/>
                  <a:cs typeface="+mn-cs"/>
                </a:rPr>
                <a:t>价值体现：基于微服务架构和容器云构建平台的转运融合系统在研发阶段单日版本构建达到500+​</a:t>
              </a:r>
            </a:p>
          </p:txBody>
        </p:sp>
      </p:grpSp>
      <p:grpSp>
        <p:nvGrpSpPr>
          <p:cNvPr id="175" name="page-footer"/>
          <p:cNvGrpSpPr/>
          <p:nvPr/>
        </p:nvGrpSpPr>
        <p:grpSpPr>
          <a:xfrm>
            <a:off x="376238" y="6689884"/>
            <a:ext cx="11439524" cy="133350"/>
            <a:chOff x="376238" y="6689884"/>
            <a:chExt cx="11439524" cy="133350"/>
          </a:xfrm>
        </p:grpSpPr>
        <p:sp>
          <p:nvSpPr>
            <p:cNvPr id="173" name="TextBox 173"/>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74" name="TextBox 174"/>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05</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50" name="measures-card"/>
          <p:cNvGrpSpPr/>
          <p:nvPr/>
        </p:nvGrpSpPr>
        <p:grpSpPr>
          <a:xfrm>
            <a:off x="381000" y="762000"/>
            <a:ext cx="4572000" cy="5619750"/>
            <a:chOff x="381000" y="762000"/>
            <a:chExt cx="4572000" cy="5619750"/>
          </a:xfrm>
        </p:grpSpPr>
        <p:sp>
          <p:nvSpPr>
            <p:cNvPr id="8" name="Rectangle 8"/>
            <p:cNvSpPr/>
            <p:nvPr/>
          </p:nvSpPr>
          <p:spPr>
            <a:xfrm>
              <a:off x="381000" y="762000"/>
              <a:ext cx="4572000" cy="5619750"/>
            </a:xfrm>
            <a:prstGeom prst="roundRect">
              <a:avLst>
                <a:gd name="adj" fmla="val 833"/>
              </a:avLst>
            </a:prstGeom>
            <a:solidFill>
              <a:srgbClr val="FFFFFF"/>
            </a:solidFill>
            <a:ln w="14288">
              <a:solidFill>
                <a:srgbClr val="BF857A"/>
              </a:solidFill>
              <a:custDash>
                <a:ds d="400000" sp="266667"/>
              </a:custDash>
            </a:ln>
          </p:spPr>
        </p:sp>
        <p:sp>
          <p:nvSpPr>
            <p:cNvPr id="9" name="TextBox 9"/>
            <p:cNvSpPr txBox="1"/>
            <p:nvPr/>
          </p:nvSpPr>
          <p:spPr>
            <a:xfrm>
              <a:off x="621030" y="1076325"/>
              <a:ext cx="1460049" cy="293370"/>
            </a:xfrm>
            <a:prstGeom prst="rect">
              <a:avLst/>
            </a:prstGeom>
            <a:noFill/>
            <a:ln>
              <a:noFill/>
            </a:ln>
          </p:spPr>
          <p:txBody>
            <a:bodyPr wrap="none" lIns="0" tIns="0" rIns="0" bIns="0" anchor="t" anchorCtr="0">
              <a:spAutoFit/>
            </a:bodyPr>
            <a:lstStyle/>
            <a:p>
              <a:pPr algn="l"/>
              <a:r>
                <a:rPr lang="zh-CN" sz="1500" b="1" dirty="0">
                  <a:solidFill>
                    <a:srgbClr val="262626"/>
                  </a:solidFill>
                  <a:latin typeface="+mn-lt"/>
                  <a:ea typeface="+mn-ea"/>
                  <a:cs typeface="+mn-cs"/>
                </a:rPr>
                <a:t>具体措施&amp;支持​</a:t>
              </a:r>
            </a:p>
          </p:txBody>
        </p:sp>
        <p:sp>
          <p:nvSpPr>
            <p:cNvPr id="10" name="Freeform 10"/>
            <p:cNvSpPr/>
            <p:nvPr/>
          </p:nvSpPr>
          <p:spPr>
            <a:xfrm>
              <a:off x="647700" y="140970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9C594C"/>
              </a:solidFill>
            </a:ln>
          </p:spPr>
        </p:sp>
        <p:sp>
          <p:nvSpPr>
            <p:cNvPr id="11" name="TextBox 11"/>
            <p:cNvSpPr txBox="1"/>
            <p:nvPr/>
          </p:nvSpPr>
          <p:spPr>
            <a:xfrm>
              <a:off x="833247" y="1418749"/>
              <a:ext cx="1065327" cy="190690"/>
            </a:xfrm>
            <a:prstGeom prst="rect">
              <a:avLst/>
            </a:prstGeom>
            <a:noFill/>
            <a:ln>
              <a:noFill/>
            </a:ln>
          </p:spPr>
          <p:txBody>
            <a:bodyPr wrap="none" lIns="0" tIns="0" rIns="0" bIns="0" anchor="t" anchorCtr="0">
              <a:spAutoFit/>
            </a:bodyPr>
            <a:lstStyle/>
            <a:p>
              <a:pPr algn="l"/>
              <a:r>
                <a:rPr lang="zh-CN" sz="980" b="1" dirty="0">
                  <a:solidFill>
                    <a:srgbClr val="9C594C"/>
                  </a:solidFill>
                  <a:latin typeface="+mn-lt"/>
                  <a:ea typeface="+mn-ea"/>
                  <a:cs typeface="+mn-cs"/>
                </a:rPr>
                <a:t>统一项目管理平台</a:t>
              </a:r>
            </a:p>
          </p:txBody>
        </p:sp>
        <p:sp>
          <p:nvSpPr>
            <p:cNvPr id="12" name="TextBox 12"/>
            <p:cNvSpPr txBox="1"/>
            <p:nvPr/>
          </p:nvSpPr>
          <p:spPr>
            <a:xfrm>
              <a:off x="623888" y="1708547"/>
              <a:ext cx="2034210"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每月进行区域成果分享以及项目案例</a:t>
              </a:r>
            </a:p>
          </p:txBody>
        </p:sp>
        <p:sp>
          <p:nvSpPr>
            <p:cNvPr id="13" name="Rectangle 13"/>
            <p:cNvSpPr/>
            <p:nvPr/>
          </p:nvSpPr>
          <p:spPr>
            <a:xfrm>
              <a:off x="628650" y="2038350"/>
              <a:ext cx="381000" cy="209550"/>
            </a:xfrm>
            <a:prstGeom prst="rect">
              <a:avLst/>
            </a:prstGeom>
            <a:solidFill>
              <a:srgbClr val="E9563C"/>
            </a:solidFill>
            <a:ln>
              <a:noFill/>
            </a:ln>
          </p:spPr>
        </p:sp>
        <p:sp>
          <p:nvSpPr>
            <p:cNvPr id="14" name="TextBox 14"/>
            <p:cNvSpPr txBox="1"/>
            <p:nvPr/>
          </p:nvSpPr>
          <p:spPr>
            <a:xfrm>
              <a:off x="750638" y="210169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01</a:t>
              </a:r>
            </a:p>
          </p:txBody>
        </p:sp>
        <p:sp>
          <p:nvSpPr>
            <p:cNvPr id="15" name="TextBox 15"/>
            <p:cNvSpPr txBox="1"/>
            <p:nvPr/>
          </p:nvSpPr>
          <p:spPr>
            <a:xfrm>
              <a:off x="1138238" y="2089547"/>
              <a:ext cx="1274953"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统一维护共建内容规范</a:t>
              </a:r>
            </a:p>
          </p:txBody>
        </p:sp>
        <p:sp>
          <p:nvSpPr>
            <p:cNvPr id="16" name="TextBox 16"/>
            <p:cNvSpPr txBox="1"/>
            <p:nvPr/>
          </p:nvSpPr>
          <p:spPr>
            <a:xfrm>
              <a:off x="623888" y="2414588"/>
              <a:ext cx="56407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进度：</a:t>
              </a:r>
              <a:r>
                <a:rPr lang="zh-CN" sz="750" b="1" dirty="0">
                  <a:solidFill>
                    <a:srgbClr val="333333"/>
                  </a:solidFill>
                  <a:latin typeface="+mn-lt"/>
                  <a:ea typeface="+mn-ea"/>
                  <a:cs typeface="+mn-cs"/>
                </a:rPr>
                <a:t>50%</a:t>
              </a:r>
              <a:r>
                <a:rPr lang="zh-CN" sz="750" dirty="0">
                  <a:solidFill>
                    <a:srgbClr val="333333"/>
                  </a:solidFill>
                  <a:latin typeface="+mn-lt"/>
                  <a:ea typeface="+mn-ea"/>
                  <a:cs typeface="+mn-cs"/>
                </a:rPr>
                <a:t>​</a:t>
              </a:r>
            </a:p>
          </p:txBody>
        </p:sp>
        <p:sp>
          <p:nvSpPr>
            <p:cNvPr id="17" name="Rectangle 17"/>
            <p:cNvSpPr/>
            <p:nvPr/>
          </p:nvSpPr>
          <p:spPr>
            <a:xfrm>
              <a:off x="1238250" y="2428875"/>
              <a:ext cx="2857500" cy="76200"/>
            </a:xfrm>
            <a:prstGeom prst="roundRect">
              <a:avLst>
                <a:gd name="adj" fmla="val 50000"/>
              </a:avLst>
            </a:prstGeom>
            <a:solidFill>
              <a:srgbClr val="E5E9E2"/>
            </a:solidFill>
            <a:ln>
              <a:noFill/>
            </a:ln>
          </p:spPr>
        </p:sp>
        <p:sp>
          <p:nvSpPr>
            <p:cNvPr id="18" name="Rectangle 18"/>
            <p:cNvSpPr/>
            <p:nvPr/>
          </p:nvSpPr>
          <p:spPr>
            <a:xfrm>
              <a:off x="1238250" y="2428875"/>
              <a:ext cx="1428750" cy="76200"/>
            </a:xfrm>
            <a:prstGeom prst="roundRect">
              <a:avLst>
                <a:gd name="adj" fmla="val 50000"/>
              </a:avLst>
            </a:prstGeom>
            <a:solidFill>
              <a:srgbClr val="9C594C"/>
            </a:solidFill>
            <a:ln>
              <a:noFill/>
            </a:ln>
          </p:spPr>
        </p:sp>
        <p:sp>
          <p:nvSpPr>
            <p:cNvPr id="19" name="TextBox 19"/>
            <p:cNvSpPr txBox="1"/>
            <p:nvPr/>
          </p:nvSpPr>
          <p:spPr>
            <a:xfrm>
              <a:off x="623888" y="2690812"/>
              <a:ext cx="51435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功能描述：</a:t>
              </a:r>
            </a:p>
          </p:txBody>
        </p:sp>
        <p:sp>
          <p:nvSpPr>
            <p:cNvPr id="20" name="Rectangle 20"/>
            <p:cNvSpPr/>
            <p:nvPr/>
          </p:nvSpPr>
          <p:spPr>
            <a:xfrm>
              <a:off x="1238250" y="2638425"/>
              <a:ext cx="742950" cy="171450"/>
            </a:xfrm>
            <a:prstGeom prst="roundRect">
              <a:avLst>
                <a:gd name="adj" fmla="val 50000"/>
              </a:avLst>
            </a:prstGeom>
            <a:solidFill>
              <a:srgbClr val="FFFFFF"/>
            </a:solidFill>
            <a:ln w="9525">
              <a:solidFill>
                <a:srgbClr val="9C594C"/>
              </a:solidFill>
            </a:ln>
          </p:spPr>
        </p:sp>
        <p:sp>
          <p:nvSpPr>
            <p:cNvPr id="21" name="TextBox 21"/>
            <p:cNvSpPr txBox="1"/>
            <p:nvPr/>
          </p:nvSpPr>
          <p:spPr>
            <a:xfrm>
              <a:off x="1366012" y="2685336"/>
              <a:ext cx="48742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有语音功能</a:t>
              </a:r>
            </a:p>
          </p:txBody>
        </p:sp>
        <p:sp>
          <p:nvSpPr>
            <p:cNvPr id="22" name="Rectangle 22"/>
            <p:cNvSpPr/>
            <p:nvPr/>
          </p:nvSpPr>
          <p:spPr>
            <a:xfrm>
              <a:off x="2095500" y="2638425"/>
              <a:ext cx="742950" cy="171450"/>
            </a:xfrm>
            <a:prstGeom prst="roundRect">
              <a:avLst>
                <a:gd name="adj" fmla="val 50000"/>
              </a:avLst>
            </a:prstGeom>
            <a:solidFill>
              <a:srgbClr val="FFFFFF"/>
            </a:solidFill>
            <a:ln w="9525">
              <a:solidFill>
                <a:srgbClr val="9C594C"/>
              </a:solidFill>
            </a:ln>
          </p:spPr>
        </p:sp>
        <p:sp>
          <p:nvSpPr>
            <p:cNvPr id="23" name="TextBox 23"/>
            <p:cNvSpPr txBox="1"/>
            <p:nvPr/>
          </p:nvSpPr>
          <p:spPr>
            <a:xfrm>
              <a:off x="2223262" y="2685336"/>
              <a:ext cx="48742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有内容规范</a:t>
              </a:r>
            </a:p>
          </p:txBody>
        </p:sp>
        <p:sp>
          <p:nvSpPr>
            <p:cNvPr id="24" name="Rectangle 24"/>
            <p:cNvSpPr/>
            <p:nvPr/>
          </p:nvSpPr>
          <p:spPr>
            <a:xfrm>
              <a:off x="2952750" y="2638425"/>
              <a:ext cx="742950" cy="171450"/>
            </a:xfrm>
            <a:prstGeom prst="roundRect">
              <a:avLst>
                <a:gd name="adj" fmla="val 50000"/>
              </a:avLst>
            </a:prstGeom>
            <a:solidFill>
              <a:srgbClr val="FFFFFF"/>
            </a:solidFill>
            <a:ln w="9525">
              <a:solidFill>
                <a:srgbClr val="9C594C"/>
              </a:solidFill>
            </a:ln>
          </p:spPr>
        </p:sp>
        <p:sp>
          <p:nvSpPr>
            <p:cNvPr id="25" name="TextBox 25"/>
            <p:cNvSpPr txBox="1"/>
            <p:nvPr/>
          </p:nvSpPr>
          <p:spPr>
            <a:xfrm>
              <a:off x="3080512" y="2685336"/>
              <a:ext cx="48742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有快捷操作</a:t>
              </a:r>
            </a:p>
          </p:txBody>
        </p:sp>
        <p:sp>
          <p:nvSpPr>
            <p:cNvPr id="26" name="Rectangle 26"/>
            <p:cNvSpPr/>
            <p:nvPr/>
          </p:nvSpPr>
          <p:spPr>
            <a:xfrm>
              <a:off x="628650" y="2990850"/>
              <a:ext cx="381000" cy="209550"/>
            </a:xfrm>
            <a:prstGeom prst="rect">
              <a:avLst/>
            </a:prstGeom>
            <a:solidFill>
              <a:srgbClr val="E9563C"/>
            </a:solidFill>
            <a:ln>
              <a:noFill/>
            </a:ln>
          </p:spPr>
        </p:sp>
        <p:sp>
          <p:nvSpPr>
            <p:cNvPr id="27" name="TextBox 27"/>
            <p:cNvSpPr txBox="1"/>
            <p:nvPr/>
          </p:nvSpPr>
          <p:spPr>
            <a:xfrm>
              <a:off x="750638" y="305419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02</a:t>
              </a:r>
            </a:p>
          </p:txBody>
        </p:sp>
        <p:sp>
          <p:nvSpPr>
            <p:cNvPr id="28" name="TextBox 28"/>
            <p:cNvSpPr txBox="1"/>
            <p:nvPr/>
          </p:nvSpPr>
          <p:spPr>
            <a:xfrm>
              <a:off x="1138238" y="3042047"/>
              <a:ext cx="1401496"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协同过程中规范标准动作</a:t>
              </a:r>
            </a:p>
          </p:txBody>
        </p:sp>
        <p:sp>
          <p:nvSpPr>
            <p:cNvPr id="29" name="TextBox 29"/>
            <p:cNvSpPr txBox="1"/>
            <p:nvPr/>
          </p:nvSpPr>
          <p:spPr>
            <a:xfrm>
              <a:off x="623888" y="3367088"/>
              <a:ext cx="56407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进度：</a:t>
              </a:r>
              <a:r>
                <a:rPr lang="zh-CN" sz="750" b="1" dirty="0">
                  <a:solidFill>
                    <a:srgbClr val="333333"/>
                  </a:solidFill>
                  <a:latin typeface="+mn-lt"/>
                  <a:ea typeface="+mn-ea"/>
                  <a:cs typeface="+mn-cs"/>
                </a:rPr>
                <a:t>30%</a:t>
              </a:r>
              <a:r>
                <a:rPr lang="zh-CN" sz="750" dirty="0">
                  <a:solidFill>
                    <a:srgbClr val="333333"/>
                  </a:solidFill>
                  <a:latin typeface="+mn-lt"/>
                  <a:ea typeface="+mn-ea"/>
                  <a:cs typeface="+mn-cs"/>
                </a:rPr>
                <a:t>​</a:t>
              </a:r>
            </a:p>
          </p:txBody>
        </p:sp>
        <p:sp>
          <p:nvSpPr>
            <p:cNvPr id="30" name="Rectangle 30"/>
            <p:cNvSpPr/>
            <p:nvPr/>
          </p:nvSpPr>
          <p:spPr>
            <a:xfrm>
              <a:off x="1238250" y="3381375"/>
              <a:ext cx="2857500" cy="76200"/>
            </a:xfrm>
            <a:prstGeom prst="roundRect">
              <a:avLst>
                <a:gd name="adj" fmla="val 50000"/>
              </a:avLst>
            </a:prstGeom>
            <a:solidFill>
              <a:srgbClr val="E5E9E2"/>
            </a:solidFill>
            <a:ln>
              <a:noFill/>
            </a:ln>
          </p:spPr>
        </p:sp>
        <p:sp>
          <p:nvSpPr>
            <p:cNvPr id="31" name="Rectangle 31"/>
            <p:cNvSpPr/>
            <p:nvPr/>
          </p:nvSpPr>
          <p:spPr>
            <a:xfrm>
              <a:off x="1238250" y="3381375"/>
              <a:ext cx="857250" cy="76200"/>
            </a:xfrm>
            <a:prstGeom prst="roundRect">
              <a:avLst>
                <a:gd name="adj" fmla="val 50000"/>
              </a:avLst>
            </a:prstGeom>
            <a:solidFill>
              <a:srgbClr val="9C594C"/>
            </a:solidFill>
            <a:ln>
              <a:noFill/>
            </a:ln>
          </p:spPr>
        </p:sp>
        <p:sp>
          <p:nvSpPr>
            <p:cNvPr id="32" name="TextBox 32"/>
            <p:cNvSpPr txBox="1"/>
            <p:nvPr/>
          </p:nvSpPr>
          <p:spPr>
            <a:xfrm>
              <a:off x="623888" y="3643312"/>
              <a:ext cx="51435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功能描述：</a:t>
              </a:r>
            </a:p>
          </p:txBody>
        </p:sp>
        <p:sp>
          <p:nvSpPr>
            <p:cNvPr id="33" name="Rectangle 33"/>
            <p:cNvSpPr/>
            <p:nvPr/>
          </p:nvSpPr>
          <p:spPr>
            <a:xfrm>
              <a:off x="1238250" y="3590925"/>
              <a:ext cx="742950" cy="171450"/>
            </a:xfrm>
            <a:prstGeom prst="roundRect">
              <a:avLst>
                <a:gd name="adj" fmla="val 50000"/>
              </a:avLst>
            </a:prstGeom>
            <a:solidFill>
              <a:srgbClr val="FFFFFF"/>
            </a:solidFill>
            <a:ln w="9525">
              <a:solidFill>
                <a:srgbClr val="9C594C"/>
              </a:solidFill>
            </a:ln>
          </p:spPr>
        </p:sp>
        <p:sp>
          <p:nvSpPr>
            <p:cNvPr id="34" name="TextBox 34"/>
            <p:cNvSpPr txBox="1"/>
            <p:nvPr/>
          </p:nvSpPr>
          <p:spPr>
            <a:xfrm>
              <a:off x="1366012" y="3637836"/>
              <a:ext cx="48742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有语音功能</a:t>
              </a:r>
            </a:p>
          </p:txBody>
        </p:sp>
        <p:sp>
          <p:nvSpPr>
            <p:cNvPr id="35" name="Rectangle 35"/>
            <p:cNvSpPr/>
            <p:nvPr/>
          </p:nvSpPr>
          <p:spPr>
            <a:xfrm>
              <a:off x="2095500" y="3590925"/>
              <a:ext cx="742950" cy="171450"/>
            </a:xfrm>
            <a:prstGeom prst="roundRect">
              <a:avLst>
                <a:gd name="adj" fmla="val 50000"/>
              </a:avLst>
            </a:prstGeom>
            <a:solidFill>
              <a:srgbClr val="FFFFFF"/>
            </a:solidFill>
            <a:ln w="9525">
              <a:solidFill>
                <a:srgbClr val="9C594C"/>
              </a:solidFill>
            </a:ln>
          </p:spPr>
        </p:sp>
        <p:sp>
          <p:nvSpPr>
            <p:cNvPr id="36" name="TextBox 36"/>
            <p:cNvSpPr txBox="1"/>
            <p:nvPr/>
          </p:nvSpPr>
          <p:spPr>
            <a:xfrm>
              <a:off x="2223262" y="3637836"/>
              <a:ext cx="48742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有内容规范</a:t>
              </a:r>
            </a:p>
          </p:txBody>
        </p:sp>
        <p:sp>
          <p:nvSpPr>
            <p:cNvPr id="37" name="Rectangle 37"/>
            <p:cNvSpPr/>
            <p:nvPr/>
          </p:nvSpPr>
          <p:spPr>
            <a:xfrm>
              <a:off x="2952750" y="3590925"/>
              <a:ext cx="742950" cy="171450"/>
            </a:xfrm>
            <a:prstGeom prst="roundRect">
              <a:avLst>
                <a:gd name="adj" fmla="val 50000"/>
              </a:avLst>
            </a:prstGeom>
            <a:solidFill>
              <a:srgbClr val="FFFFFF"/>
            </a:solidFill>
            <a:ln w="9525">
              <a:solidFill>
                <a:srgbClr val="9C594C"/>
              </a:solidFill>
            </a:ln>
          </p:spPr>
        </p:sp>
        <p:sp>
          <p:nvSpPr>
            <p:cNvPr id="38" name="TextBox 38"/>
            <p:cNvSpPr txBox="1"/>
            <p:nvPr/>
          </p:nvSpPr>
          <p:spPr>
            <a:xfrm>
              <a:off x="3080512" y="3637836"/>
              <a:ext cx="48742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有快捷操作</a:t>
              </a:r>
            </a:p>
          </p:txBody>
        </p:sp>
        <p:sp>
          <p:nvSpPr>
            <p:cNvPr id="39" name="Rectangle 39"/>
            <p:cNvSpPr/>
            <p:nvPr/>
          </p:nvSpPr>
          <p:spPr>
            <a:xfrm>
              <a:off x="628650" y="3943350"/>
              <a:ext cx="381000" cy="209550"/>
            </a:xfrm>
            <a:prstGeom prst="rect">
              <a:avLst/>
            </a:prstGeom>
            <a:solidFill>
              <a:srgbClr val="E9563C"/>
            </a:solidFill>
            <a:ln>
              <a:noFill/>
            </a:ln>
          </p:spPr>
        </p:sp>
        <p:sp>
          <p:nvSpPr>
            <p:cNvPr id="40" name="TextBox 40"/>
            <p:cNvSpPr txBox="1"/>
            <p:nvPr/>
          </p:nvSpPr>
          <p:spPr>
            <a:xfrm>
              <a:off x="750638" y="400669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03</a:t>
              </a:r>
            </a:p>
          </p:txBody>
        </p:sp>
        <p:sp>
          <p:nvSpPr>
            <p:cNvPr id="41" name="TextBox 41"/>
            <p:cNvSpPr txBox="1"/>
            <p:nvPr/>
          </p:nvSpPr>
          <p:spPr>
            <a:xfrm>
              <a:off x="1138238" y="3994547"/>
              <a:ext cx="1781124"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包括交付质量的结果和过程指标</a:t>
              </a:r>
            </a:p>
          </p:txBody>
        </p:sp>
        <p:sp>
          <p:nvSpPr>
            <p:cNvPr id="42" name="Ellipse 42"/>
            <p:cNvSpPr/>
            <p:nvPr/>
          </p:nvSpPr>
          <p:spPr>
            <a:xfrm>
              <a:off x="633412" y="4338638"/>
              <a:ext cx="123825" cy="123825"/>
            </a:xfrm>
            <a:prstGeom prst="ellipse">
              <a:avLst/>
            </a:prstGeom>
            <a:solidFill>
              <a:srgbClr val="D9523B"/>
            </a:solidFill>
            <a:ln>
              <a:noFill/>
            </a:ln>
          </p:spPr>
        </p:sp>
        <p:sp>
          <p:nvSpPr>
            <p:cNvPr id="43" name="TextBox 43"/>
            <p:cNvSpPr txBox="1"/>
            <p:nvPr/>
          </p:nvSpPr>
          <p:spPr>
            <a:xfrm>
              <a:off x="664130" y="4365784"/>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a:t>
              </a:r>
            </a:p>
          </p:txBody>
        </p:sp>
        <p:sp>
          <p:nvSpPr>
            <p:cNvPr id="44" name="TextBox 44"/>
            <p:cNvSpPr txBox="1"/>
            <p:nvPr/>
          </p:nvSpPr>
          <p:spPr>
            <a:xfrm>
              <a:off x="814388" y="4353639"/>
              <a:ext cx="647624" cy="154781"/>
            </a:xfrm>
            <a:prstGeom prst="rect">
              <a:avLst/>
            </a:prstGeom>
            <a:noFill/>
            <a:ln>
              <a:noFill/>
            </a:ln>
          </p:spPr>
          <p:txBody>
            <a:bodyPr wrap="none" lIns="0" tIns="0" rIns="0" bIns="0" anchor="t" anchorCtr="0">
              <a:spAutoFit/>
            </a:bodyPr>
            <a:lstStyle/>
            <a:p>
              <a:pPr algn="l"/>
              <a:r>
                <a:rPr lang="zh-CN" sz="790" b="1" dirty="0">
                  <a:solidFill>
                    <a:srgbClr val="333333"/>
                  </a:solidFill>
                  <a:latin typeface="+mn-lt"/>
                  <a:ea typeface="+mn-ea"/>
                  <a:cs typeface="+mn-cs"/>
                </a:rPr>
                <a:t>标准化交付前</a:t>
              </a:r>
            </a:p>
          </p:txBody>
        </p:sp>
        <p:sp>
          <p:nvSpPr>
            <p:cNvPr id="45" name="TextBox 45"/>
            <p:cNvSpPr txBox="1"/>
            <p:nvPr/>
          </p:nvSpPr>
          <p:spPr>
            <a:xfrm>
              <a:off x="814388" y="4586288"/>
              <a:ext cx="1998536"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 xml:space="preserve">需求 </a:t>
              </a:r>
              <a:r>
                <a:rPr lang="zh-CN" sz="750" dirty="0">
                  <a:solidFill>
                    <a:srgbClr val="BF857A"/>
                  </a:solidFill>
                  <a:latin typeface="+mn-lt"/>
                  <a:ea typeface="+mn-ea"/>
                  <a:cs typeface="+mn-cs"/>
                </a:rPr>
                <a:t>⇢</a:t>
              </a:r>
              <a:r>
                <a:rPr lang="zh-CN" sz="750" dirty="0">
                  <a:solidFill>
                    <a:srgbClr val="333333"/>
                  </a:solidFill>
                  <a:latin typeface="+mn-lt"/>
                  <a:ea typeface="+mn-ea"/>
                  <a:cs typeface="+mn-cs"/>
                </a:rPr>
                <a:t xml:space="preserve"> 交互/设计 </a:t>
              </a:r>
              <a:r>
                <a:rPr lang="zh-CN" sz="750" dirty="0">
                  <a:solidFill>
                    <a:srgbClr val="BF857A"/>
                  </a:solidFill>
                  <a:latin typeface="+mn-lt"/>
                  <a:ea typeface="+mn-ea"/>
                  <a:cs typeface="+mn-cs"/>
                </a:rPr>
                <a:t>⇢</a:t>
              </a:r>
              <a:r>
                <a:rPr lang="zh-CN" sz="750" dirty="0">
                  <a:solidFill>
                    <a:srgbClr val="333333"/>
                  </a:solidFill>
                  <a:latin typeface="+mn-lt"/>
                  <a:ea typeface="+mn-ea"/>
                  <a:cs typeface="+mn-cs"/>
                </a:rPr>
                <a:t xml:space="preserve"> 开发 </a:t>
              </a:r>
              <a:r>
                <a:rPr lang="zh-CN" sz="750" dirty="0">
                  <a:solidFill>
                    <a:srgbClr val="BF857A"/>
                  </a:solidFill>
                  <a:latin typeface="+mn-lt"/>
                  <a:ea typeface="+mn-ea"/>
                  <a:cs typeface="+mn-cs"/>
                </a:rPr>
                <a:t>⇢</a:t>
              </a:r>
              <a:r>
                <a:rPr lang="zh-CN" sz="750" dirty="0">
                  <a:solidFill>
                    <a:srgbClr val="333333"/>
                  </a:solidFill>
                  <a:latin typeface="+mn-lt"/>
                  <a:ea typeface="+mn-ea"/>
                  <a:cs typeface="+mn-cs"/>
                </a:rPr>
                <a:t xml:space="preserve"> 接口对接 </a:t>
              </a:r>
              <a:r>
                <a:rPr lang="zh-CN" sz="750" dirty="0">
                  <a:solidFill>
                    <a:srgbClr val="BF857A"/>
                  </a:solidFill>
                  <a:latin typeface="+mn-lt"/>
                  <a:ea typeface="+mn-ea"/>
                  <a:cs typeface="+mn-cs"/>
                </a:rPr>
                <a:t>⇢</a:t>
              </a:r>
              <a:r>
                <a:rPr lang="zh-CN" sz="750" dirty="0">
                  <a:solidFill>
                    <a:srgbClr val="333333"/>
                  </a:solidFill>
                  <a:latin typeface="+mn-lt"/>
                  <a:ea typeface="+mn-ea"/>
                  <a:cs typeface="+mn-cs"/>
                </a:rPr>
                <a:t xml:space="preserve"> 交付​</a:t>
              </a:r>
            </a:p>
          </p:txBody>
        </p:sp>
        <p:sp>
          <p:nvSpPr>
            <p:cNvPr id="46" name="Ellipse 46"/>
            <p:cNvSpPr/>
            <p:nvPr/>
          </p:nvSpPr>
          <p:spPr>
            <a:xfrm>
              <a:off x="633412" y="4833938"/>
              <a:ext cx="123825" cy="123825"/>
            </a:xfrm>
            <a:prstGeom prst="ellipse">
              <a:avLst/>
            </a:prstGeom>
            <a:solidFill>
              <a:srgbClr val="7A8A76"/>
            </a:solidFill>
            <a:ln>
              <a:noFill/>
            </a:ln>
          </p:spPr>
        </p:sp>
        <p:sp>
          <p:nvSpPr>
            <p:cNvPr id="47" name="TextBox 47"/>
            <p:cNvSpPr txBox="1"/>
            <p:nvPr/>
          </p:nvSpPr>
          <p:spPr>
            <a:xfrm>
              <a:off x="664130" y="4861084"/>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a:t>
              </a:r>
            </a:p>
          </p:txBody>
        </p:sp>
        <p:sp>
          <p:nvSpPr>
            <p:cNvPr id="48" name="TextBox 48"/>
            <p:cNvSpPr txBox="1"/>
            <p:nvPr/>
          </p:nvSpPr>
          <p:spPr>
            <a:xfrm>
              <a:off x="814388" y="4848939"/>
              <a:ext cx="647624" cy="154781"/>
            </a:xfrm>
            <a:prstGeom prst="rect">
              <a:avLst/>
            </a:prstGeom>
            <a:noFill/>
            <a:ln>
              <a:noFill/>
            </a:ln>
          </p:spPr>
          <p:txBody>
            <a:bodyPr wrap="none" lIns="0" tIns="0" rIns="0" bIns="0" anchor="t" anchorCtr="0">
              <a:spAutoFit/>
            </a:bodyPr>
            <a:lstStyle/>
            <a:p>
              <a:pPr algn="l"/>
              <a:r>
                <a:rPr lang="zh-CN" sz="790" b="1" dirty="0">
                  <a:solidFill>
                    <a:srgbClr val="333333"/>
                  </a:solidFill>
                  <a:latin typeface="+mn-lt"/>
                  <a:ea typeface="+mn-ea"/>
                  <a:cs typeface="+mn-cs"/>
                </a:rPr>
                <a:t>标准化交付后</a:t>
              </a:r>
            </a:p>
          </p:txBody>
        </p:sp>
        <p:sp>
          <p:nvSpPr>
            <p:cNvPr id="49" name="TextBox 49"/>
            <p:cNvSpPr txBox="1"/>
            <p:nvPr/>
          </p:nvSpPr>
          <p:spPr>
            <a:xfrm>
              <a:off x="814388" y="5081588"/>
              <a:ext cx="211464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 xml:space="preserve">需求 </a:t>
              </a:r>
              <a:r>
                <a:rPr lang="zh-CN" sz="750" dirty="0">
                  <a:solidFill>
                    <a:srgbClr val="BF857A"/>
                  </a:solidFill>
                  <a:latin typeface="+mn-lt"/>
                  <a:ea typeface="+mn-ea"/>
                  <a:cs typeface="+mn-cs"/>
                </a:rPr>
                <a:t>⇢</a:t>
              </a:r>
              <a:r>
                <a:rPr lang="zh-CN" sz="750" dirty="0">
                  <a:solidFill>
                    <a:srgbClr val="333333"/>
                  </a:solidFill>
                  <a:latin typeface="+mn-lt"/>
                  <a:ea typeface="+mn-ea"/>
                  <a:cs typeface="+mn-cs"/>
                </a:rPr>
                <a:t xml:space="preserve"> 使用已有主题进行迭代 </a:t>
              </a:r>
              <a:r>
                <a:rPr lang="zh-CN" sz="750" dirty="0">
                  <a:solidFill>
                    <a:srgbClr val="BF857A"/>
                  </a:solidFill>
                  <a:latin typeface="+mn-lt"/>
                  <a:ea typeface="+mn-ea"/>
                  <a:cs typeface="+mn-cs"/>
                </a:rPr>
                <a:t>⇢</a:t>
              </a:r>
              <a:r>
                <a:rPr lang="zh-CN" sz="750" dirty="0">
                  <a:solidFill>
                    <a:srgbClr val="333333"/>
                  </a:solidFill>
                  <a:latin typeface="+mn-lt"/>
                  <a:ea typeface="+mn-ea"/>
                  <a:cs typeface="+mn-cs"/>
                </a:rPr>
                <a:t xml:space="preserve"> 新增组件开发​</a:t>
              </a:r>
            </a:p>
          </p:txBody>
        </p:sp>
      </p:grpSp>
      <p:grpSp>
        <p:nvGrpSpPr>
          <p:cNvPr id="58" name="wheel-top-labels"/>
          <p:cNvGrpSpPr/>
          <p:nvPr/>
        </p:nvGrpSpPr>
        <p:grpSpPr>
          <a:xfrm>
            <a:off x="5329238" y="828199"/>
            <a:ext cx="4984725" cy="565546"/>
            <a:chOff x="5329238" y="828199"/>
            <a:chExt cx="4984725" cy="565546"/>
          </a:xfrm>
        </p:grpSpPr>
        <p:sp>
          <p:nvSpPr>
            <p:cNvPr id="51" name="TextBox 51"/>
            <p:cNvSpPr txBox="1"/>
            <p:nvPr/>
          </p:nvSpPr>
          <p:spPr>
            <a:xfrm>
              <a:off x="7636942" y="828199"/>
              <a:ext cx="537616"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智能设计</a:t>
              </a:r>
            </a:p>
          </p:txBody>
        </p:sp>
        <p:sp>
          <p:nvSpPr>
            <p:cNvPr id="52" name="Ellipse 52"/>
            <p:cNvSpPr/>
            <p:nvPr/>
          </p:nvSpPr>
          <p:spPr>
            <a:xfrm>
              <a:off x="7781925" y="1000125"/>
              <a:ext cx="247650" cy="247650"/>
            </a:xfrm>
            <a:prstGeom prst="ellipse">
              <a:avLst/>
            </a:prstGeom>
            <a:solidFill>
              <a:srgbClr val="FFFFFF"/>
            </a:solidFill>
            <a:ln w="14288">
              <a:solidFill>
                <a:srgbClr val="BF857A"/>
              </a:solidFill>
            </a:ln>
          </p:spPr>
        </p:sp>
        <p:sp>
          <p:nvSpPr>
            <p:cNvPr id="53" name="Ellipse 53"/>
            <p:cNvSpPr/>
            <p:nvPr/>
          </p:nvSpPr>
          <p:spPr>
            <a:xfrm>
              <a:off x="7858125" y="1076325"/>
              <a:ext cx="95250" cy="95250"/>
            </a:xfrm>
            <a:prstGeom prst="ellipse">
              <a:avLst/>
            </a:prstGeom>
            <a:solidFill>
              <a:srgbClr val="BF857A"/>
            </a:solidFill>
            <a:ln>
              <a:noFill/>
            </a:ln>
          </p:spPr>
        </p:sp>
        <p:sp>
          <p:nvSpPr>
            <p:cNvPr id="54" name="TextBox 54"/>
            <p:cNvSpPr txBox="1"/>
            <p:nvPr/>
          </p:nvSpPr>
          <p:spPr>
            <a:xfrm>
              <a:off x="5329238" y="1238964"/>
              <a:ext cx="647624" cy="154781"/>
            </a:xfrm>
            <a:prstGeom prst="rect">
              <a:avLst/>
            </a:prstGeom>
            <a:noFill/>
            <a:ln>
              <a:noFill/>
            </a:ln>
          </p:spPr>
          <p:txBody>
            <a:bodyPr wrap="none" lIns="0" tIns="0" rIns="0" bIns="0" anchor="t" anchorCtr="0">
              <a:spAutoFit/>
            </a:bodyPr>
            <a:lstStyle/>
            <a:p>
              <a:pPr algn="l"/>
              <a:r>
                <a:rPr lang="zh-CN" sz="790" dirty="0">
                  <a:solidFill>
                    <a:srgbClr val="7A3E33"/>
                  </a:solidFill>
                  <a:latin typeface="+mn-lt"/>
                  <a:ea typeface="+mn-ea"/>
                  <a:cs typeface="+mn-cs"/>
                </a:rPr>
                <a:t>人群潜力类别</a:t>
              </a:r>
            </a:p>
          </p:txBody>
        </p:sp>
        <p:sp>
          <p:nvSpPr>
            <p:cNvPr id="55" name="TextBox 55"/>
            <p:cNvSpPr txBox="1"/>
            <p:nvPr/>
          </p:nvSpPr>
          <p:spPr>
            <a:xfrm>
              <a:off x="6853238" y="1238964"/>
              <a:ext cx="647624" cy="154781"/>
            </a:xfrm>
            <a:prstGeom prst="rect">
              <a:avLst/>
            </a:prstGeom>
            <a:noFill/>
            <a:ln>
              <a:noFill/>
            </a:ln>
          </p:spPr>
          <p:txBody>
            <a:bodyPr wrap="none" lIns="0" tIns="0" rIns="0" bIns="0" anchor="t" anchorCtr="0">
              <a:spAutoFit/>
            </a:bodyPr>
            <a:lstStyle/>
            <a:p>
              <a:pPr algn="l"/>
              <a:r>
                <a:rPr lang="zh-CN" sz="790" dirty="0">
                  <a:solidFill>
                    <a:srgbClr val="D6391E"/>
                  </a:solidFill>
                  <a:latin typeface="+mn-lt"/>
                  <a:ea typeface="+mn-ea"/>
                  <a:cs typeface="+mn-cs"/>
                </a:rPr>
                <a:t>营销策略示例</a:t>
              </a:r>
            </a:p>
          </p:txBody>
        </p:sp>
        <p:sp>
          <p:nvSpPr>
            <p:cNvPr id="56" name="TextBox 56"/>
            <p:cNvSpPr txBox="1"/>
            <p:nvPr/>
          </p:nvSpPr>
          <p:spPr>
            <a:xfrm>
              <a:off x="8567738" y="1238964"/>
              <a:ext cx="434924" cy="154781"/>
            </a:xfrm>
            <a:prstGeom prst="rect">
              <a:avLst/>
            </a:prstGeom>
            <a:noFill/>
            <a:ln>
              <a:noFill/>
            </a:ln>
          </p:spPr>
          <p:txBody>
            <a:bodyPr wrap="none" lIns="0" tIns="0" rIns="0" bIns="0" anchor="t" anchorCtr="0">
              <a:spAutoFit/>
            </a:bodyPr>
            <a:lstStyle/>
            <a:p>
              <a:pPr algn="l"/>
              <a:r>
                <a:rPr lang="zh-CN" sz="790" dirty="0">
                  <a:solidFill>
                    <a:srgbClr val="7A3E33"/>
                  </a:solidFill>
                  <a:latin typeface="+mn-lt"/>
                  <a:ea typeface="+mn-ea"/>
                  <a:cs typeface="+mn-cs"/>
                </a:rPr>
                <a:t>具体方式</a:t>
              </a:r>
            </a:p>
          </p:txBody>
        </p:sp>
        <p:sp>
          <p:nvSpPr>
            <p:cNvPr id="57" name="TextBox 57"/>
            <p:cNvSpPr txBox="1"/>
            <p:nvPr/>
          </p:nvSpPr>
          <p:spPr>
            <a:xfrm>
              <a:off x="10091738" y="1238964"/>
              <a:ext cx="222225" cy="154781"/>
            </a:xfrm>
            <a:prstGeom prst="rect">
              <a:avLst/>
            </a:prstGeom>
            <a:noFill/>
            <a:ln>
              <a:noFill/>
            </a:ln>
          </p:spPr>
          <p:txBody>
            <a:bodyPr wrap="none" lIns="0" tIns="0" rIns="0" bIns="0" anchor="t" anchorCtr="0">
              <a:spAutoFit/>
            </a:bodyPr>
            <a:lstStyle/>
            <a:p>
              <a:pPr algn="l"/>
              <a:r>
                <a:rPr lang="zh-CN" sz="790" dirty="0">
                  <a:solidFill>
                    <a:srgbClr val="D6391E"/>
                  </a:solidFill>
                  <a:latin typeface="+mn-lt"/>
                  <a:ea typeface="+mn-ea"/>
                  <a:cs typeface="+mn-cs"/>
                </a:rPr>
                <a:t>目标</a:t>
              </a:r>
            </a:p>
          </p:txBody>
        </p:sp>
      </p:grpSp>
      <p:grpSp>
        <p:nvGrpSpPr>
          <p:cNvPr id="70" name="team-axis"/>
          <p:cNvGrpSpPr/>
          <p:nvPr/>
        </p:nvGrpSpPr>
        <p:grpSpPr>
          <a:xfrm>
            <a:off x="5021389" y="1428750"/>
            <a:ext cx="865061" cy="3724275"/>
            <a:chOff x="5021389" y="1428750"/>
            <a:chExt cx="865061" cy="3724275"/>
          </a:xfrm>
        </p:grpSpPr>
        <p:sp>
          <p:nvSpPr>
            <p:cNvPr id="59" name="Line 59"/>
            <p:cNvSpPr/>
            <p:nvPr/>
          </p:nvSpPr>
          <p:spPr>
            <a:xfrm>
              <a:off x="5829300" y="1428750"/>
              <a:ext cx="9525" cy="3714750"/>
            </a:xfrm>
            <a:custGeom>
              <a:avLst/>
              <a:gdLst/>
              <a:ahLst/>
              <a:cxnLst/>
              <a:rect l="l" t="t" r="r" b="b"/>
              <a:pathLst>
                <a:path w="9525" h="3714750">
                  <a:moveTo>
                    <a:pt x="0" y="0"/>
                  </a:moveTo>
                  <a:lnTo>
                    <a:pt x="0" y="3714750"/>
                  </a:lnTo>
                </a:path>
              </a:pathLst>
            </a:custGeom>
            <a:noFill/>
            <a:ln w="14288">
              <a:solidFill>
                <a:srgbClr val="BF857A"/>
              </a:solidFill>
            </a:ln>
          </p:spPr>
        </p:sp>
        <p:sp>
          <p:nvSpPr>
            <p:cNvPr id="60" name="Line 60"/>
            <p:cNvSpPr/>
            <p:nvPr/>
          </p:nvSpPr>
          <p:spPr>
            <a:xfrm>
              <a:off x="5772150" y="1428750"/>
              <a:ext cx="114300" cy="9525"/>
            </a:xfrm>
            <a:custGeom>
              <a:avLst/>
              <a:gdLst/>
              <a:ahLst/>
              <a:cxnLst/>
              <a:rect l="l" t="t" r="r" b="b"/>
              <a:pathLst>
                <a:path w="114300" h="9525">
                  <a:moveTo>
                    <a:pt x="0" y="0"/>
                  </a:moveTo>
                  <a:lnTo>
                    <a:pt x="114300" y="0"/>
                  </a:lnTo>
                </a:path>
              </a:pathLst>
            </a:custGeom>
            <a:noFill/>
            <a:ln w="14288">
              <a:solidFill>
                <a:srgbClr val="BF857A"/>
              </a:solidFill>
            </a:ln>
          </p:spPr>
        </p:sp>
        <p:sp>
          <p:nvSpPr>
            <p:cNvPr id="61" name="Line 61"/>
            <p:cNvSpPr/>
            <p:nvPr/>
          </p:nvSpPr>
          <p:spPr>
            <a:xfrm>
              <a:off x="5772150" y="5143500"/>
              <a:ext cx="114300" cy="9525"/>
            </a:xfrm>
            <a:custGeom>
              <a:avLst/>
              <a:gdLst/>
              <a:ahLst/>
              <a:cxnLst/>
              <a:rect l="l" t="t" r="r" b="b"/>
              <a:pathLst>
                <a:path w="114300" h="9525">
                  <a:moveTo>
                    <a:pt x="0" y="0"/>
                  </a:moveTo>
                  <a:lnTo>
                    <a:pt x="114300" y="0"/>
                  </a:lnTo>
                </a:path>
              </a:pathLst>
            </a:custGeom>
            <a:noFill/>
            <a:ln w="14288">
              <a:solidFill>
                <a:srgbClr val="BF857A"/>
              </a:solidFill>
            </a:ln>
          </p:spPr>
        </p:sp>
        <p:sp>
          <p:nvSpPr>
            <p:cNvPr id="62" name="TextBox 62"/>
            <p:cNvSpPr txBox="1"/>
            <p:nvPr/>
          </p:nvSpPr>
          <p:spPr>
            <a:xfrm>
              <a:off x="5021389" y="1522095"/>
              <a:ext cx="736473" cy="176212"/>
            </a:xfrm>
            <a:prstGeom prst="rect">
              <a:avLst/>
            </a:prstGeom>
            <a:noFill/>
            <a:ln>
              <a:noFill/>
            </a:ln>
          </p:spPr>
          <p:txBody>
            <a:bodyPr wrap="none" lIns="0" tIns="0" rIns="0" bIns="0" anchor="t" anchorCtr="0">
              <a:spAutoFit/>
            </a:bodyPr>
            <a:lstStyle/>
            <a:p>
              <a:pPr algn="r"/>
              <a:r>
                <a:rPr lang="zh-CN" sz="900" b="1" dirty="0">
                  <a:solidFill>
                    <a:srgbClr val="7A3E33"/>
                  </a:solidFill>
                  <a:latin typeface="+mn-lt"/>
                  <a:ea typeface="+mn-ea"/>
                  <a:cs typeface="+mn-cs"/>
                </a:rPr>
                <a:t>精英团队团队</a:t>
              </a:r>
            </a:p>
          </p:txBody>
        </p:sp>
        <p:sp>
          <p:nvSpPr>
            <p:cNvPr id="63" name="TextBox 63"/>
            <p:cNvSpPr txBox="1"/>
            <p:nvPr/>
          </p:nvSpPr>
          <p:spPr>
            <a:xfrm>
              <a:off x="5260878" y="1675686"/>
              <a:ext cx="496984" cy="140494"/>
            </a:xfrm>
            <a:prstGeom prst="rect">
              <a:avLst/>
            </a:prstGeom>
            <a:noFill/>
            <a:ln>
              <a:noFill/>
            </a:ln>
          </p:spPr>
          <p:txBody>
            <a:bodyPr wrap="none" lIns="0" tIns="0" rIns="0" bIns="0" anchor="t" anchorCtr="0">
              <a:spAutoFit/>
            </a:bodyPr>
            <a:lstStyle/>
            <a:p>
              <a:pPr algn="r"/>
              <a:r>
                <a:rPr lang="zh-CN" sz="710" dirty="0">
                  <a:solidFill>
                    <a:srgbClr val="8C8C8C"/>
                  </a:solidFill>
                  <a:latin typeface="+mn-lt"/>
                  <a:ea typeface="+mn-ea"/>
                  <a:cs typeface="+mn-cs"/>
                </a:rPr>
                <a:t>(制定任务)</a:t>
              </a:r>
            </a:p>
          </p:txBody>
        </p:sp>
        <p:sp>
          <p:nvSpPr>
            <p:cNvPr id="64" name="TextBox 64"/>
            <p:cNvSpPr txBox="1"/>
            <p:nvPr/>
          </p:nvSpPr>
          <p:spPr>
            <a:xfrm>
              <a:off x="5263706" y="2417445"/>
              <a:ext cx="494157" cy="176212"/>
            </a:xfrm>
            <a:prstGeom prst="rect">
              <a:avLst/>
            </a:prstGeom>
            <a:noFill/>
            <a:ln>
              <a:noFill/>
            </a:ln>
          </p:spPr>
          <p:txBody>
            <a:bodyPr wrap="none" lIns="0" tIns="0" rIns="0" bIns="0" anchor="t" anchorCtr="0">
              <a:spAutoFit/>
            </a:bodyPr>
            <a:lstStyle/>
            <a:p>
              <a:pPr algn="r"/>
              <a:r>
                <a:rPr lang="zh-CN" sz="900" b="1" dirty="0">
                  <a:solidFill>
                    <a:srgbClr val="7A3E33"/>
                  </a:solidFill>
                  <a:latin typeface="+mn-lt"/>
                  <a:ea typeface="+mn-ea"/>
                  <a:cs typeface="+mn-cs"/>
                </a:rPr>
                <a:t>业务团队</a:t>
              </a:r>
            </a:p>
          </p:txBody>
        </p:sp>
        <p:sp>
          <p:nvSpPr>
            <p:cNvPr id="65" name="TextBox 65"/>
            <p:cNvSpPr txBox="1"/>
            <p:nvPr/>
          </p:nvSpPr>
          <p:spPr>
            <a:xfrm>
              <a:off x="5260878" y="2571036"/>
              <a:ext cx="496984" cy="140494"/>
            </a:xfrm>
            <a:prstGeom prst="rect">
              <a:avLst/>
            </a:prstGeom>
            <a:noFill/>
            <a:ln>
              <a:noFill/>
            </a:ln>
          </p:spPr>
          <p:txBody>
            <a:bodyPr wrap="none" lIns="0" tIns="0" rIns="0" bIns="0" anchor="t" anchorCtr="0">
              <a:spAutoFit/>
            </a:bodyPr>
            <a:lstStyle/>
            <a:p>
              <a:pPr algn="r"/>
              <a:r>
                <a:rPr lang="zh-CN" sz="710" dirty="0">
                  <a:solidFill>
                    <a:srgbClr val="8C8C8C"/>
                  </a:solidFill>
                  <a:latin typeface="+mn-lt"/>
                  <a:ea typeface="+mn-ea"/>
                  <a:cs typeface="+mn-cs"/>
                </a:rPr>
                <a:t>(执行任务)</a:t>
              </a:r>
            </a:p>
          </p:txBody>
        </p:sp>
        <p:sp>
          <p:nvSpPr>
            <p:cNvPr id="66" name="TextBox 66"/>
            <p:cNvSpPr txBox="1"/>
            <p:nvPr/>
          </p:nvSpPr>
          <p:spPr>
            <a:xfrm>
              <a:off x="5263706" y="3465195"/>
              <a:ext cx="494157" cy="176212"/>
            </a:xfrm>
            <a:prstGeom prst="rect">
              <a:avLst/>
            </a:prstGeom>
            <a:noFill/>
            <a:ln>
              <a:noFill/>
            </a:ln>
          </p:spPr>
          <p:txBody>
            <a:bodyPr wrap="none" lIns="0" tIns="0" rIns="0" bIns="0" anchor="t" anchorCtr="0">
              <a:spAutoFit/>
            </a:bodyPr>
            <a:lstStyle/>
            <a:p>
              <a:pPr algn="r"/>
              <a:r>
                <a:rPr lang="zh-CN" sz="900" b="1" dirty="0">
                  <a:solidFill>
                    <a:srgbClr val="7A3E33"/>
                  </a:solidFill>
                  <a:latin typeface="+mn-lt"/>
                  <a:ea typeface="+mn-ea"/>
                  <a:cs typeface="+mn-cs"/>
                </a:rPr>
                <a:t>产品团队</a:t>
              </a:r>
            </a:p>
          </p:txBody>
        </p:sp>
        <p:sp>
          <p:nvSpPr>
            <p:cNvPr id="67" name="TextBox 67"/>
            <p:cNvSpPr txBox="1"/>
            <p:nvPr/>
          </p:nvSpPr>
          <p:spPr>
            <a:xfrm>
              <a:off x="5260878" y="3618786"/>
              <a:ext cx="496984" cy="140494"/>
            </a:xfrm>
            <a:prstGeom prst="rect">
              <a:avLst/>
            </a:prstGeom>
            <a:noFill/>
            <a:ln>
              <a:noFill/>
            </a:ln>
          </p:spPr>
          <p:txBody>
            <a:bodyPr wrap="none" lIns="0" tIns="0" rIns="0" bIns="0" anchor="t" anchorCtr="0">
              <a:spAutoFit/>
            </a:bodyPr>
            <a:lstStyle/>
            <a:p>
              <a:pPr algn="r"/>
              <a:r>
                <a:rPr lang="zh-CN" sz="710" dirty="0">
                  <a:solidFill>
                    <a:srgbClr val="8C8C8C"/>
                  </a:solidFill>
                  <a:latin typeface="+mn-lt"/>
                  <a:ea typeface="+mn-ea"/>
                  <a:cs typeface="+mn-cs"/>
                </a:rPr>
                <a:t>(开发产品)</a:t>
              </a:r>
            </a:p>
          </p:txBody>
        </p:sp>
        <p:sp>
          <p:nvSpPr>
            <p:cNvPr id="68" name="TextBox 68"/>
            <p:cNvSpPr txBox="1"/>
            <p:nvPr/>
          </p:nvSpPr>
          <p:spPr>
            <a:xfrm>
              <a:off x="5321798" y="4265295"/>
              <a:ext cx="436064" cy="176212"/>
            </a:xfrm>
            <a:prstGeom prst="rect">
              <a:avLst/>
            </a:prstGeom>
            <a:noFill/>
            <a:ln>
              <a:noFill/>
            </a:ln>
          </p:spPr>
          <p:txBody>
            <a:bodyPr wrap="none" lIns="0" tIns="0" rIns="0" bIns="0" anchor="t" anchorCtr="0">
              <a:spAutoFit/>
            </a:bodyPr>
            <a:lstStyle/>
            <a:p>
              <a:pPr algn="r"/>
              <a:r>
                <a:rPr lang="zh-CN" sz="900" b="1" dirty="0">
                  <a:solidFill>
                    <a:srgbClr val="7A3E33"/>
                  </a:solidFill>
                  <a:latin typeface="+mn-lt"/>
                  <a:ea typeface="+mn-ea"/>
                  <a:cs typeface="+mn-cs"/>
                </a:rPr>
                <a:t>IT团队​</a:t>
              </a:r>
            </a:p>
          </p:txBody>
        </p:sp>
        <p:sp>
          <p:nvSpPr>
            <p:cNvPr id="69" name="TextBox 69"/>
            <p:cNvSpPr txBox="1"/>
            <p:nvPr/>
          </p:nvSpPr>
          <p:spPr>
            <a:xfrm>
              <a:off x="5260878" y="4418886"/>
              <a:ext cx="496984" cy="140494"/>
            </a:xfrm>
            <a:prstGeom prst="rect">
              <a:avLst/>
            </a:prstGeom>
            <a:noFill/>
            <a:ln>
              <a:noFill/>
            </a:ln>
          </p:spPr>
          <p:txBody>
            <a:bodyPr wrap="none" lIns="0" tIns="0" rIns="0" bIns="0" anchor="t" anchorCtr="0">
              <a:spAutoFit/>
            </a:bodyPr>
            <a:lstStyle/>
            <a:p>
              <a:pPr algn="r"/>
              <a:r>
                <a:rPr lang="zh-CN" sz="710" dirty="0">
                  <a:solidFill>
                    <a:srgbClr val="8C8C8C"/>
                  </a:solidFill>
                  <a:latin typeface="+mn-lt"/>
                  <a:ea typeface="+mn-ea"/>
                  <a:cs typeface="+mn-cs"/>
                </a:rPr>
                <a:t>(制作产品)</a:t>
              </a:r>
            </a:p>
          </p:txBody>
        </p:sp>
      </p:grpSp>
      <p:grpSp>
        <p:nvGrpSpPr>
          <p:cNvPr id="93" name="design-wheel"/>
          <p:cNvGrpSpPr/>
          <p:nvPr/>
        </p:nvGrpSpPr>
        <p:grpSpPr>
          <a:xfrm>
            <a:off x="6053138" y="1618536"/>
            <a:ext cx="3857625" cy="1397794"/>
            <a:chOff x="6053138" y="1618536"/>
            <a:chExt cx="3857625" cy="1397794"/>
          </a:xfrm>
        </p:grpSpPr>
        <p:sp>
          <p:nvSpPr>
            <p:cNvPr id="71" name="Ellipse 71"/>
            <p:cNvSpPr/>
            <p:nvPr/>
          </p:nvSpPr>
          <p:spPr>
            <a:xfrm>
              <a:off x="6096000" y="1790700"/>
              <a:ext cx="3619500" cy="990600"/>
            </a:xfrm>
            <a:prstGeom prst="ellipse">
              <a:avLst/>
            </a:prstGeom>
            <a:solidFill>
              <a:srgbClr val="EEF5E8"/>
            </a:solidFill>
            <a:ln w="19050">
              <a:solidFill>
                <a:srgbClr val="9C594C"/>
              </a:solidFill>
            </a:ln>
          </p:spPr>
        </p:sp>
        <p:sp>
          <p:nvSpPr>
            <p:cNvPr id="72" name="Line 72"/>
            <p:cNvSpPr/>
            <p:nvPr/>
          </p:nvSpPr>
          <p:spPr>
            <a:xfrm>
              <a:off x="6629400" y="1933575"/>
              <a:ext cx="2552700" cy="704850"/>
            </a:xfrm>
            <a:custGeom>
              <a:avLst/>
              <a:gdLst/>
              <a:ahLst/>
              <a:cxnLst/>
              <a:rect l="l" t="t" r="r" b="b"/>
              <a:pathLst>
                <a:path w="2552700" h="704850">
                  <a:moveTo>
                    <a:pt x="0" y="0"/>
                  </a:moveTo>
                  <a:lnTo>
                    <a:pt x="2552700" y="704850"/>
                  </a:lnTo>
                </a:path>
              </a:pathLst>
            </a:custGeom>
            <a:noFill/>
            <a:ln w="9525">
              <a:solidFill>
                <a:srgbClr val="BF938B"/>
              </a:solidFill>
            </a:ln>
          </p:spPr>
        </p:sp>
        <p:sp>
          <p:nvSpPr>
            <p:cNvPr id="73" name="Line 73"/>
            <p:cNvSpPr/>
            <p:nvPr/>
          </p:nvSpPr>
          <p:spPr>
            <a:xfrm>
              <a:off x="6629400" y="1933575"/>
              <a:ext cx="2552700" cy="704850"/>
            </a:xfrm>
            <a:custGeom>
              <a:avLst/>
              <a:gdLst/>
              <a:ahLst/>
              <a:cxnLst/>
              <a:rect l="l" t="t" r="r" b="b"/>
              <a:pathLst>
                <a:path w="2552700" h="704850">
                  <a:moveTo>
                    <a:pt x="2552700" y="0"/>
                  </a:moveTo>
                  <a:lnTo>
                    <a:pt x="0" y="704850"/>
                  </a:lnTo>
                </a:path>
              </a:pathLst>
            </a:custGeom>
            <a:noFill/>
            <a:ln w="9525">
              <a:solidFill>
                <a:srgbClr val="BF938B"/>
              </a:solidFill>
            </a:ln>
          </p:spPr>
        </p:sp>
        <p:sp>
          <p:nvSpPr>
            <p:cNvPr id="74" name="Line 74"/>
            <p:cNvSpPr/>
            <p:nvPr/>
          </p:nvSpPr>
          <p:spPr>
            <a:xfrm>
              <a:off x="7905750" y="1790700"/>
              <a:ext cx="9525" cy="990600"/>
            </a:xfrm>
            <a:custGeom>
              <a:avLst/>
              <a:gdLst/>
              <a:ahLst/>
              <a:cxnLst/>
              <a:rect l="l" t="t" r="r" b="b"/>
              <a:pathLst>
                <a:path w="9525" h="990600">
                  <a:moveTo>
                    <a:pt x="0" y="0"/>
                  </a:moveTo>
                  <a:lnTo>
                    <a:pt x="0" y="990600"/>
                  </a:lnTo>
                </a:path>
              </a:pathLst>
            </a:custGeom>
            <a:noFill/>
            <a:ln w="9525">
              <a:solidFill>
                <a:srgbClr val="BF938B"/>
              </a:solidFill>
            </a:ln>
          </p:spPr>
        </p:sp>
        <p:sp>
          <p:nvSpPr>
            <p:cNvPr id="75" name="Line 75"/>
            <p:cNvSpPr/>
            <p:nvPr/>
          </p:nvSpPr>
          <p:spPr>
            <a:xfrm>
              <a:off x="6096000" y="2286000"/>
              <a:ext cx="3619500" cy="9525"/>
            </a:xfrm>
            <a:custGeom>
              <a:avLst/>
              <a:gdLst/>
              <a:ahLst/>
              <a:cxnLst/>
              <a:rect l="l" t="t" r="r" b="b"/>
              <a:pathLst>
                <a:path w="3619500" h="9525">
                  <a:moveTo>
                    <a:pt x="0" y="0"/>
                  </a:moveTo>
                  <a:lnTo>
                    <a:pt x="3619500" y="0"/>
                  </a:lnTo>
                </a:path>
              </a:pathLst>
            </a:custGeom>
            <a:noFill/>
            <a:ln w="9525">
              <a:solidFill>
                <a:srgbClr val="BF938B"/>
              </a:solidFill>
            </a:ln>
          </p:spPr>
        </p:sp>
        <p:sp>
          <p:nvSpPr>
            <p:cNvPr id="76" name="TextBox 76"/>
            <p:cNvSpPr txBox="1"/>
            <p:nvPr/>
          </p:nvSpPr>
          <p:spPr>
            <a:xfrm>
              <a:off x="6753796" y="2074545"/>
              <a:ext cx="494157" cy="176212"/>
            </a:xfrm>
            <a:prstGeom prst="rect">
              <a:avLst/>
            </a:prstGeom>
            <a:noFill/>
            <a:ln>
              <a:noFill/>
            </a:ln>
          </p:spPr>
          <p:txBody>
            <a:bodyPr wrap="none" lIns="0" tIns="0" rIns="0" bIns="0" anchor="t" anchorCtr="0">
              <a:spAutoFit/>
            </a:bodyPr>
            <a:lstStyle/>
            <a:p>
              <a:pPr algn="ctr"/>
              <a:r>
                <a:rPr lang="zh-CN" sz="900" b="1" dirty="0">
                  <a:solidFill>
                    <a:srgbClr val="7A3E33"/>
                  </a:solidFill>
                  <a:latin typeface="+mn-lt"/>
                  <a:ea typeface="+mn-ea"/>
                  <a:cs typeface="+mn-cs"/>
                </a:rPr>
                <a:t>转化行动</a:t>
              </a:r>
            </a:p>
          </p:txBody>
        </p:sp>
        <p:sp>
          <p:nvSpPr>
            <p:cNvPr id="77" name="TextBox 77"/>
            <p:cNvSpPr txBox="1"/>
            <p:nvPr/>
          </p:nvSpPr>
          <p:spPr>
            <a:xfrm>
              <a:off x="6621772" y="2225278"/>
              <a:ext cx="758205"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Accumulate interest</a:t>
              </a:r>
            </a:p>
          </p:txBody>
        </p:sp>
        <p:sp>
          <p:nvSpPr>
            <p:cNvPr id="78" name="TextBox 78"/>
            <p:cNvSpPr txBox="1"/>
            <p:nvPr/>
          </p:nvSpPr>
          <p:spPr>
            <a:xfrm>
              <a:off x="8563546" y="2074545"/>
              <a:ext cx="494157" cy="176212"/>
            </a:xfrm>
            <a:prstGeom prst="rect">
              <a:avLst/>
            </a:prstGeom>
            <a:noFill/>
            <a:ln>
              <a:noFill/>
            </a:ln>
          </p:spPr>
          <p:txBody>
            <a:bodyPr wrap="none" lIns="0" tIns="0" rIns="0" bIns="0" anchor="t" anchorCtr="0">
              <a:spAutoFit/>
            </a:bodyPr>
            <a:lstStyle/>
            <a:p>
              <a:pPr algn="ctr"/>
              <a:r>
                <a:rPr lang="zh-CN" sz="900" b="1" dirty="0">
                  <a:solidFill>
                    <a:srgbClr val="7A3E33"/>
                  </a:solidFill>
                  <a:latin typeface="+mn-lt"/>
                  <a:ea typeface="+mn-ea"/>
                  <a:cs typeface="+mn-cs"/>
                </a:rPr>
                <a:t>积累兴趣</a:t>
              </a:r>
            </a:p>
          </p:txBody>
        </p:sp>
        <p:sp>
          <p:nvSpPr>
            <p:cNvPr id="79" name="TextBox 79"/>
            <p:cNvSpPr txBox="1"/>
            <p:nvPr/>
          </p:nvSpPr>
          <p:spPr>
            <a:xfrm>
              <a:off x="8431522" y="2225278"/>
              <a:ext cx="758205"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Accumulate interest</a:t>
              </a:r>
            </a:p>
          </p:txBody>
        </p:sp>
        <p:sp>
          <p:nvSpPr>
            <p:cNvPr id="80" name="TextBox 80"/>
            <p:cNvSpPr txBox="1"/>
            <p:nvPr/>
          </p:nvSpPr>
          <p:spPr>
            <a:xfrm>
              <a:off x="7535418" y="2292668"/>
              <a:ext cx="740664" cy="264033"/>
            </a:xfrm>
            <a:prstGeom prst="rect">
              <a:avLst/>
            </a:prstGeom>
            <a:noFill/>
            <a:ln>
              <a:noFill/>
            </a:ln>
          </p:spPr>
          <p:txBody>
            <a:bodyPr wrap="none" lIns="0" tIns="0" rIns="0" bIns="0" anchor="t" anchorCtr="0">
              <a:spAutoFit/>
            </a:bodyPr>
            <a:lstStyle/>
            <a:p>
              <a:pPr algn="ctr"/>
              <a:r>
                <a:rPr lang="zh-CN" sz="1350" b="1" dirty="0">
                  <a:solidFill>
                    <a:srgbClr val="333333"/>
                  </a:solidFill>
                  <a:latin typeface="+mn-lt"/>
                  <a:ea typeface="+mn-ea"/>
                  <a:cs typeface="+mn-cs"/>
                </a:rPr>
                <a:t>智能设计</a:t>
              </a:r>
            </a:p>
          </p:txBody>
        </p:sp>
        <p:sp>
          <p:nvSpPr>
            <p:cNvPr id="81" name="Ellipse 81"/>
            <p:cNvSpPr/>
            <p:nvPr/>
          </p:nvSpPr>
          <p:spPr>
            <a:xfrm>
              <a:off x="6586538" y="1890712"/>
              <a:ext cx="85725" cy="85725"/>
            </a:xfrm>
            <a:prstGeom prst="ellipse">
              <a:avLst/>
            </a:prstGeom>
            <a:solidFill>
              <a:srgbClr val="FFFFFF"/>
            </a:solidFill>
            <a:ln w="14288">
              <a:solidFill>
                <a:srgbClr val="9C594C"/>
              </a:solidFill>
            </a:ln>
          </p:spPr>
        </p:sp>
        <p:sp>
          <p:nvSpPr>
            <p:cNvPr id="82" name="Ellipse 82"/>
            <p:cNvSpPr/>
            <p:nvPr/>
          </p:nvSpPr>
          <p:spPr>
            <a:xfrm>
              <a:off x="7862888" y="1747838"/>
              <a:ext cx="85725" cy="85725"/>
            </a:xfrm>
            <a:prstGeom prst="ellipse">
              <a:avLst/>
            </a:prstGeom>
            <a:solidFill>
              <a:srgbClr val="FFFFFF"/>
            </a:solidFill>
            <a:ln w="14288">
              <a:solidFill>
                <a:srgbClr val="9C594C"/>
              </a:solidFill>
            </a:ln>
          </p:spPr>
        </p:sp>
        <p:sp>
          <p:nvSpPr>
            <p:cNvPr id="83" name="Ellipse 83"/>
            <p:cNvSpPr/>
            <p:nvPr/>
          </p:nvSpPr>
          <p:spPr>
            <a:xfrm>
              <a:off x="9139238" y="1890712"/>
              <a:ext cx="85725" cy="85725"/>
            </a:xfrm>
            <a:prstGeom prst="ellipse">
              <a:avLst/>
            </a:prstGeom>
            <a:solidFill>
              <a:srgbClr val="FFFFFF"/>
            </a:solidFill>
            <a:ln w="14288">
              <a:solidFill>
                <a:srgbClr val="9C594C"/>
              </a:solidFill>
            </a:ln>
          </p:spPr>
        </p:sp>
        <p:sp>
          <p:nvSpPr>
            <p:cNvPr id="84" name="Ellipse 84"/>
            <p:cNvSpPr/>
            <p:nvPr/>
          </p:nvSpPr>
          <p:spPr>
            <a:xfrm>
              <a:off x="6053138" y="2243138"/>
              <a:ext cx="85725" cy="85725"/>
            </a:xfrm>
            <a:prstGeom prst="ellipse">
              <a:avLst/>
            </a:prstGeom>
            <a:solidFill>
              <a:srgbClr val="FFFFFF"/>
            </a:solidFill>
            <a:ln w="14288">
              <a:solidFill>
                <a:srgbClr val="9C594C"/>
              </a:solidFill>
            </a:ln>
          </p:spPr>
        </p:sp>
        <p:sp>
          <p:nvSpPr>
            <p:cNvPr id="85" name="Ellipse 85"/>
            <p:cNvSpPr/>
            <p:nvPr/>
          </p:nvSpPr>
          <p:spPr>
            <a:xfrm>
              <a:off x="7862888" y="2738438"/>
              <a:ext cx="85725" cy="85725"/>
            </a:xfrm>
            <a:prstGeom prst="ellipse">
              <a:avLst/>
            </a:prstGeom>
            <a:solidFill>
              <a:srgbClr val="FFFFFF"/>
            </a:solidFill>
            <a:ln w="14288">
              <a:solidFill>
                <a:srgbClr val="9C594C"/>
              </a:solidFill>
            </a:ln>
          </p:spPr>
        </p:sp>
        <p:sp>
          <p:nvSpPr>
            <p:cNvPr id="86" name="Ellipse 86"/>
            <p:cNvSpPr/>
            <p:nvPr/>
          </p:nvSpPr>
          <p:spPr>
            <a:xfrm>
              <a:off x="9672638" y="2243138"/>
              <a:ext cx="85725" cy="85725"/>
            </a:xfrm>
            <a:prstGeom prst="ellipse">
              <a:avLst/>
            </a:prstGeom>
            <a:solidFill>
              <a:srgbClr val="FFFFFF"/>
            </a:solidFill>
            <a:ln w="14288">
              <a:solidFill>
                <a:srgbClr val="9C594C"/>
              </a:solidFill>
            </a:ln>
          </p:spPr>
        </p:sp>
        <p:sp>
          <p:nvSpPr>
            <p:cNvPr id="87" name="TextBox 87"/>
            <p:cNvSpPr txBox="1"/>
            <p:nvPr/>
          </p:nvSpPr>
          <p:spPr>
            <a:xfrm>
              <a:off x="6280747" y="1751886"/>
              <a:ext cx="58300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问题解决闭环</a:t>
              </a:r>
            </a:p>
          </p:txBody>
        </p:sp>
        <p:sp>
          <p:nvSpPr>
            <p:cNvPr id="88" name="TextBox 88"/>
            <p:cNvSpPr txBox="1"/>
            <p:nvPr/>
          </p:nvSpPr>
          <p:spPr>
            <a:xfrm>
              <a:off x="7662037" y="1618536"/>
              <a:ext cx="48742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易用性报告</a:t>
              </a:r>
            </a:p>
          </p:txBody>
        </p:sp>
        <p:sp>
          <p:nvSpPr>
            <p:cNvPr id="89" name="TextBox 89"/>
            <p:cNvSpPr txBox="1"/>
            <p:nvPr/>
          </p:nvSpPr>
          <p:spPr>
            <a:xfrm>
              <a:off x="9062377" y="1751886"/>
              <a:ext cx="39184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统计分析</a:t>
              </a:r>
            </a:p>
          </p:txBody>
        </p:sp>
        <p:sp>
          <p:nvSpPr>
            <p:cNvPr id="90" name="TextBox 90"/>
            <p:cNvSpPr txBox="1"/>
            <p:nvPr/>
          </p:nvSpPr>
          <p:spPr>
            <a:xfrm>
              <a:off x="6053138" y="2456736"/>
              <a:ext cx="391846"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制定任务</a:t>
              </a:r>
            </a:p>
          </p:txBody>
        </p:sp>
        <p:sp>
          <p:nvSpPr>
            <p:cNvPr id="91" name="TextBox 91"/>
            <p:cNvSpPr txBox="1"/>
            <p:nvPr/>
          </p:nvSpPr>
          <p:spPr>
            <a:xfrm>
              <a:off x="7709827" y="2875836"/>
              <a:ext cx="39184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制定任务</a:t>
              </a:r>
            </a:p>
          </p:txBody>
        </p:sp>
        <p:sp>
          <p:nvSpPr>
            <p:cNvPr id="92" name="TextBox 92"/>
            <p:cNvSpPr txBox="1"/>
            <p:nvPr/>
          </p:nvSpPr>
          <p:spPr>
            <a:xfrm>
              <a:off x="9518917" y="2456736"/>
              <a:ext cx="391846" cy="140494"/>
            </a:xfrm>
            <a:prstGeom prst="rect">
              <a:avLst/>
            </a:prstGeom>
            <a:noFill/>
            <a:ln>
              <a:noFill/>
            </a:ln>
          </p:spPr>
          <p:txBody>
            <a:bodyPr wrap="none" lIns="0" tIns="0" rIns="0" bIns="0" anchor="t" anchorCtr="0">
              <a:spAutoFit/>
            </a:bodyPr>
            <a:lstStyle/>
            <a:p>
              <a:pPr algn="r"/>
              <a:r>
                <a:rPr lang="zh-CN" sz="710" dirty="0">
                  <a:solidFill>
                    <a:srgbClr val="333333"/>
                  </a:solidFill>
                  <a:latin typeface="+mn-lt"/>
                  <a:ea typeface="+mn-ea"/>
                  <a:cs typeface="+mn-cs"/>
                </a:rPr>
                <a:t>实施测评</a:t>
              </a:r>
            </a:p>
          </p:txBody>
        </p:sp>
      </p:grpSp>
      <p:grpSp>
        <p:nvGrpSpPr>
          <p:cNvPr id="98" name="goal-axis"/>
          <p:cNvGrpSpPr/>
          <p:nvPr/>
        </p:nvGrpSpPr>
        <p:grpSpPr>
          <a:xfrm>
            <a:off x="11182922" y="1428750"/>
            <a:ext cx="494157" cy="3714750"/>
            <a:chOff x="11182922" y="1428750"/>
            <a:chExt cx="494157" cy="3714750"/>
          </a:xfrm>
        </p:grpSpPr>
        <p:sp>
          <p:nvSpPr>
            <p:cNvPr id="94" name="Line 94"/>
            <p:cNvSpPr/>
            <p:nvPr/>
          </p:nvSpPr>
          <p:spPr>
            <a:xfrm>
              <a:off x="11430000" y="1428750"/>
              <a:ext cx="9525" cy="3714750"/>
            </a:xfrm>
            <a:custGeom>
              <a:avLst/>
              <a:gdLst/>
              <a:ahLst/>
              <a:cxnLst/>
              <a:rect l="l" t="t" r="r" b="b"/>
              <a:pathLst>
                <a:path w="9525" h="3714750">
                  <a:moveTo>
                    <a:pt x="0" y="0"/>
                  </a:moveTo>
                  <a:lnTo>
                    <a:pt x="0" y="3714750"/>
                  </a:lnTo>
                </a:path>
              </a:pathLst>
            </a:custGeom>
            <a:noFill/>
            <a:ln w="14288">
              <a:solidFill>
                <a:srgbClr val="E9563C"/>
              </a:solidFill>
              <a:custDash>
                <a:ds d="133333" sp="200000"/>
              </a:custDash>
            </a:ln>
          </p:spPr>
        </p:sp>
        <p:sp>
          <p:nvSpPr>
            <p:cNvPr id="95" name="TextBox 95"/>
            <p:cNvSpPr txBox="1"/>
            <p:nvPr/>
          </p:nvSpPr>
          <p:spPr>
            <a:xfrm>
              <a:off x="11182922" y="1503045"/>
              <a:ext cx="494157" cy="176212"/>
            </a:xfrm>
            <a:prstGeom prst="rect">
              <a:avLst/>
            </a:prstGeom>
            <a:noFill/>
            <a:ln>
              <a:noFill/>
            </a:ln>
          </p:spPr>
          <p:txBody>
            <a:bodyPr wrap="none" lIns="0" tIns="0" rIns="0" bIns="0" anchor="t" anchorCtr="0">
              <a:spAutoFit/>
            </a:bodyPr>
            <a:lstStyle/>
            <a:p>
              <a:pPr algn="ctr"/>
              <a:r>
                <a:rPr lang="zh-CN" sz="900" b="1" dirty="0">
                  <a:solidFill>
                    <a:srgbClr val="D6391E"/>
                  </a:solidFill>
                  <a:latin typeface="+mn-lt"/>
                  <a:ea typeface="+mn-ea"/>
                  <a:cs typeface="+mn-cs"/>
                </a:rPr>
                <a:t>深化认知</a:t>
              </a:r>
            </a:p>
          </p:txBody>
        </p:sp>
        <p:sp>
          <p:nvSpPr>
            <p:cNvPr id="96" name="TextBox 96"/>
            <p:cNvSpPr txBox="1"/>
            <p:nvPr/>
          </p:nvSpPr>
          <p:spPr>
            <a:xfrm>
              <a:off x="11182922" y="3712845"/>
              <a:ext cx="494157" cy="176212"/>
            </a:xfrm>
            <a:prstGeom prst="rect">
              <a:avLst/>
            </a:prstGeom>
            <a:noFill/>
            <a:ln>
              <a:noFill/>
            </a:ln>
          </p:spPr>
          <p:txBody>
            <a:bodyPr wrap="none" lIns="0" tIns="0" rIns="0" bIns="0" anchor="t" anchorCtr="0">
              <a:spAutoFit/>
            </a:bodyPr>
            <a:lstStyle/>
            <a:p>
              <a:pPr algn="ctr"/>
              <a:r>
                <a:rPr lang="zh-CN" sz="900" b="1" dirty="0">
                  <a:solidFill>
                    <a:srgbClr val="D6391E"/>
                  </a:solidFill>
                  <a:latin typeface="+mn-lt"/>
                  <a:ea typeface="+mn-ea"/>
                  <a:cs typeface="+mn-cs"/>
                </a:rPr>
                <a:t>积累兴趣</a:t>
              </a:r>
            </a:p>
          </p:txBody>
        </p:sp>
        <p:sp>
          <p:nvSpPr>
            <p:cNvPr id="97" name="TextBox 97"/>
            <p:cNvSpPr txBox="1"/>
            <p:nvPr/>
          </p:nvSpPr>
          <p:spPr>
            <a:xfrm>
              <a:off x="11182922" y="4893945"/>
              <a:ext cx="494157" cy="176212"/>
            </a:xfrm>
            <a:prstGeom prst="rect">
              <a:avLst/>
            </a:prstGeom>
            <a:noFill/>
            <a:ln>
              <a:noFill/>
            </a:ln>
          </p:spPr>
          <p:txBody>
            <a:bodyPr wrap="none" lIns="0" tIns="0" rIns="0" bIns="0" anchor="t" anchorCtr="0">
              <a:spAutoFit/>
            </a:bodyPr>
            <a:lstStyle/>
            <a:p>
              <a:pPr algn="ctr"/>
              <a:r>
                <a:rPr lang="zh-CN" sz="900" b="1" dirty="0">
                  <a:solidFill>
                    <a:srgbClr val="7A3E33"/>
                  </a:solidFill>
                  <a:latin typeface="+mn-lt"/>
                  <a:ea typeface="+mn-ea"/>
                  <a:cs typeface="+mn-cs"/>
                </a:rPr>
                <a:t>转化行动</a:t>
              </a:r>
            </a:p>
          </p:txBody>
        </p:sp>
      </p:grpSp>
      <p:grpSp>
        <p:nvGrpSpPr>
          <p:cNvPr id="118" name="model-funnel"/>
          <p:cNvGrpSpPr/>
          <p:nvPr/>
        </p:nvGrpSpPr>
        <p:grpSpPr>
          <a:xfrm>
            <a:off x="6191250" y="3105150"/>
            <a:ext cx="3429000" cy="2336720"/>
            <a:chOff x="6191250" y="3105150"/>
            <a:chExt cx="3429000" cy="2336720"/>
          </a:xfrm>
        </p:grpSpPr>
        <p:sp>
          <p:nvSpPr>
            <p:cNvPr id="99" name="Line 99"/>
            <p:cNvSpPr/>
            <p:nvPr/>
          </p:nvSpPr>
          <p:spPr>
            <a:xfrm>
              <a:off x="6191250" y="3162300"/>
              <a:ext cx="904875" cy="1714500"/>
            </a:xfrm>
            <a:custGeom>
              <a:avLst/>
              <a:gdLst/>
              <a:ahLst/>
              <a:cxnLst/>
              <a:rect l="l" t="t" r="r" b="b"/>
              <a:pathLst>
                <a:path w="904875" h="1714500">
                  <a:moveTo>
                    <a:pt x="0" y="0"/>
                  </a:moveTo>
                  <a:lnTo>
                    <a:pt x="904875" y="1714500"/>
                  </a:lnTo>
                </a:path>
              </a:pathLst>
            </a:custGeom>
            <a:noFill/>
            <a:ln w="9525">
              <a:solidFill>
                <a:srgbClr val="DCE7D6"/>
              </a:solidFill>
            </a:ln>
          </p:spPr>
        </p:sp>
        <p:sp>
          <p:nvSpPr>
            <p:cNvPr id="100" name="Line 100"/>
            <p:cNvSpPr/>
            <p:nvPr/>
          </p:nvSpPr>
          <p:spPr>
            <a:xfrm>
              <a:off x="8715375" y="3162300"/>
              <a:ext cx="904875" cy="1714500"/>
            </a:xfrm>
            <a:custGeom>
              <a:avLst/>
              <a:gdLst/>
              <a:ahLst/>
              <a:cxnLst/>
              <a:rect l="l" t="t" r="r" b="b"/>
              <a:pathLst>
                <a:path w="904875" h="1714500">
                  <a:moveTo>
                    <a:pt x="904875" y="0"/>
                  </a:moveTo>
                  <a:lnTo>
                    <a:pt x="0" y="1714500"/>
                  </a:lnTo>
                </a:path>
              </a:pathLst>
            </a:custGeom>
            <a:noFill/>
            <a:ln w="9525">
              <a:solidFill>
                <a:srgbClr val="DCE7D6"/>
              </a:solidFill>
            </a:ln>
          </p:spPr>
        </p:sp>
        <p:sp>
          <p:nvSpPr>
            <p:cNvPr id="101" name="Ellipse 101"/>
            <p:cNvSpPr/>
            <p:nvPr/>
          </p:nvSpPr>
          <p:spPr>
            <a:xfrm>
              <a:off x="6505575" y="3105150"/>
              <a:ext cx="1371600" cy="495300"/>
            </a:xfrm>
            <a:prstGeom prst="ellipse">
              <a:avLst/>
            </a:prstGeom>
            <a:solidFill>
              <a:srgbClr val="F4F8EF"/>
            </a:solidFill>
            <a:ln w="9525">
              <a:solidFill>
                <a:srgbClr val="BF857A"/>
              </a:solidFill>
              <a:custDash>
                <a:ds d="400000" sp="300000"/>
              </a:custDash>
            </a:ln>
          </p:spPr>
        </p:sp>
        <p:sp>
          <p:nvSpPr>
            <p:cNvPr id="102" name="TextBox 102"/>
            <p:cNvSpPr txBox="1"/>
            <p:nvPr/>
          </p:nvSpPr>
          <p:spPr>
            <a:xfrm>
              <a:off x="6814388" y="3248739"/>
              <a:ext cx="75397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易用性度量模型</a:t>
              </a:r>
            </a:p>
          </p:txBody>
        </p:sp>
        <p:sp>
          <p:nvSpPr>
            <p:cNvPr id="103" name="TextBox 103"/>
            <p:cNvSpPr txBox="1"/>
            <p:nvPr/>
          </p:nvSpPr>
          <p:spPr>
            <a:xfrm>
              <a:off x="6755689" y="3396853"/>
              <a:ext cx="871371"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Implement assessments</a:t>
              </a:r>
            </a:p>
          </p:txBody>
        </p:sp>
        <p:sp>
          <p:nvSpPr>
            <p:cNvPr id="104" name="Ellipse 104"/>
            <p:cNvSpPr/>
            <p:nvPr/>
          </p:nvSpPr>
          <p:spPr>
            <a:xfrm>
              <a:off x="7934325" y="3105150"/>
              <a:ext cx="1371600" cy="495300"/>
            </a:xfrm>
            <a:prstGeom prst="ellipse">
              <a:avLst/>
            </a:prstGeom>
            <a:solidFill>
              <a:srgbClr val="F4F8EF"/>
            </a:solidFill>
            <a:ln w="9525">
              <a:solidFill>
                <a:srgbClr val="BF857A"/>
              </a:solidFill>
              <a:custDash>
                <a:ds d="400000" sp="300000"/>
              </a:custDash>
            </a:ln>
          </p:spPr>
        </p:sp>
        <p:sp>
          <p:nvSpPr>
            <p:cNvPr id="105" name="TextBox 105"/>
            <p:cNvSpPr txBox="1"/>
            <p:nvPr/>
          </p:nvSpPr>
          <p:spPr>
            <a:xfrm>
              <a:off x="8243138" y="3248739"/>
              <a:ext cx="75397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其他行度量模型</a:t>
              </a:r>
            </a:p>
          </p:txBody>
        </p:sp>
        <p:sp>
          <p:nvSpPr>
            <p:cNvPr id="106" name="TextBox 106"/>
            <p:cNvSpPr txBox="1"/>
            <p:nvPr/>
          </p:nvSpPr>
          <p:spPr>
            <a:xfrm>
              <a:off x="8184439" y="3396853"/>
              <a:ext cx="871371"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Implement assessments</a:t>
              </a:r>
            </a:p>
          </p:txBody>
        </p:sp>
        <p:sp>
          <p:nvSpPr>
            <p:cNvPr id="107" name="Ellipse 107"/>
            <p:cNvSpPr/>
            <p:nvPr/>
          </p:nvSpPr>
          <p:spPr>
            <a:xfrm>
              <a:off x="7000875" y="3638550"/>
              <a:ext cx="1809750" cy="457200"/>
            </a:xfrm>
            <a:prstGeom prst="ellipse">
              <a:avLst/>
            </a:prstGeom>
            <a:solidFill>
              <a:srgbClr val="FBF0D8"/>
            </a:solidFill>
            <a:ln w="14288">
              <a:solidFill>
                <a:srgbClr val="E9563C"/>
              </a:solidFill>
            </a:ln>
          </p:spPr>
        </p:sp>
        <p:sp>
          <p:nvSpPr>
            <p:cNvPr id="108" name="TextBox 108"/>
            <p:cNvSpPr txBox="1"/>
            <p:nvPr/>
          </p:nvSpPr>
          <p:spPr>
            <a:xfrm>
              <a:off x="7259082" y="3816191"/>
              <a:ext cx="1293337" cy="161925"/>
            </a:xfrm>
            <a:prstGeom prst="rect">
              <a:avLst/>
            </a:prstGeom>
            <a:noFill/>
            <a:ln>
              <a:noFill/>
            </a:ln>
          </p:spPr>
          <p:txBody>
            <a:bodyPr wrap="none" lIns="0" tIns="0" rIns="0" bIns="0" anchor="t" anchorCtr="0">
              <a:spAutoFit/>
            </a:bodyPr>
            <a:lstStyle/>
            <a:p>
              <a:pPr algn="ctr"/>
              <a:r>
                <a:rPr lang="zh-CN" sz="820" b="1" dirty="0">
                  <a:solidFill>
                    <a:srgbClr val="8A2210"/>
                  </a:solidFill>
                  <a:latin typeface="+mn-lt"/>
                  <a:ea typeface="+mn-ea"/>
                  <a:cs typeface="+mn-cs"/>
                </a:rPr>
                <a:t>可落地易推行的SOP流程​</a:t>
              </a:r>
            </a:p>
          </p:txBody>
        </p:sp>
        <p:sp>
          <p:nvSpPr>
            <p:cNvPr id="109" name="Ellipse 109"/>
            <p:cNvSpPr/>
            <p:nvPr/>
          </p:nvSpPr>
          <p:spPr>
            <a:xfrm>
              <a:off x="6667500" y="4114800"/>
              <a:ext cx="2476500" cy="419100"/>
            </a:xfrm>
            <a:prstGeom prst="ellipse">
              <a:avLst/>
            </a:prstGeom>
            <a:solidFill>
              <a:srgbClr val="FFFFFF"/>
            </a:solidFill>
            <a:ln w="19050">
              <a:solidFill>
                <a:srgbClr val="9C594C"/>
              </a:solidFill>
            </a:ln>
          </p:spPr>
        </p:sp>
        <p:sp>
          <p:nvSpPr>
            <p:cNvPr id="110" name="TextBox 110"/>
            <p:cNvSpPr txBox="1"/>
            <p:nvPr/>
          </p:nvSpPr>
          <p:spPr>
            <a:xfrm>
              <a:off x="7537514" y="4265295"/>
              <a:ext cx="736473" cy="176212"/>
            </a:xfrm>
            <a:prstGeom prst="rect">
              <a:avLst/>
            </a:prstGeom>
            <a:noFill/>
            <a:ln>
              <a:noFill/>
            </a:ln>
          </p:spPr>
          <p:txBody>
            <a:bodyPr wrap="none" lIns="0" tIns="0" rIns="0" bIns="0" anchor="t" anchorCtr="0">
              <a:spAutoFit/>
            </a:bodyPr>
            <a:lstStyle/>
            <a:p>
              <a:pPr algn="ctr"/>
              <a:r>
                <a:rPr lang="zh-CN" sz="900" b="1" dirty="0">
                  <a:solidFill>
                    <a:srgbClr val="7A3E33"/>
                  </a:solidFill>
                  <a:latin typeface="+mn-lt"/>
                  <a:ea typeface="+mn-ea"/>
                  <a:cs typeface="+mn-cs"/>
                </a:rPr>
                <a:t>系统业务价值</a:t>
              </a:r>
            </a:p>
          </p:txBody>
        </p:sp>
        <p:sp>
          <p:nvSpPr>
            <p:cNvPr id="111" name="Ellipse 111"/>
            <p:cNvSpPr/>
            <p:nvPr/>
          </p:nvSpPr>
          <p:spPr>
            <a:xfrm>
              <a:off x="7143750" y="4800600"/>
              <a:ext cx="1524000" cy="266700"/>
            </a:xfrm>
            <a:prstGeom prst="ellipse">
              <a:avLst/>
            </a:prstGeom>
            <a:solidFill>
              <a:srgbClr val="EEF4EA"/>
            </a:solidFill>
            <a:ln w="9525">
              <a:solidFill>
                <a:srgbClr val="C9D8BD"/>
              </a:solidFill>
            </a:ln>
          </p:spPr>
        </p:sp>
        <p:sp>
          <p:nvSpPr>
            <p:cNvPr id="112" name="Ellipse 112"/>
            <p:cNvSpPr/>
            <p:nvPr/>
          </p:nvSpPr>
          <p:spPr>
            <a:xfrm>
              <a:off x="7048500" y="5095875"/>
              <a:ext cx="95250" cy="95250"/>
            </a:xfrm>
            <a:prstGeom prst="ellipse">
              <a:avLst/>
            </a:prstGeom>
            <a:solidFill>
              <a:srgbClr val="FFFFFF"/>
            </a:solidFill>
            <a:ln w="14288">
              <a:solidFill>
                <a:srgbClr val="9C594C"/>
              </a:solidFill>
            </a:ln>
          </p:spPr>
        </p:sp>
        <p:sp>
          <p:nvSpPr>
            <p:cNvPr id="113" name="Ellipse 113"/>
            <p:cNvSpPr/>
            <p:nvPr/>
          </p:nvSpPr>
          <p:spPr>
            <a:xfrm>
              <a:off x="7858125" y="5095875"/>
              <a:ext cx="95250" cy="95250"/>
            </a:xfrm>
            <a:prstGeom prst="ellipse">
              <a:avLst/>
            </a:prstGeom>
            <a:solidFill>
              <a:srgbClr val="FFFFFF"/>
            </a:solidFill>
            <a:ln w="14288">
              <a:solidFill>
                <a:srgbClr val="9C594C"/>
              </a:solidFill>
            </a:ln>
          </p:spPr>
        </p:sp>
        <p:sp>
          <p:nvSpPr>
            <p:cNvPr id="114" name="Ellipse 114"/>
            <p:cNvSpPr/>
            <p:nvPr/>
          </p:nvSpPr>
          <p:spPr>
            <a:xfrm>
              <a:off x="8667750" y="5095875"/>
              <a:ext cx="95250" cy="95250"/>
            </a:xfrm>
            <a:prstGeom prst="ellipse">
              <a:avLst/>
            </a:prstGeom>
            <a:solidFill>
              <a:srgbClr val="FFFFFF"/>
            </a:solidFill>
            <a:ln w="14288">
              <a:solidFill>
                <a:srgbClr val="9C594C"/>
              </a:solidFill>
            </a:ln>
          </p:spPr>
        </p:sp>
        <p:sp>
          <p:nvSpPr>
            <p:cNvPr id="115" name="TextBox 115"/>
            <p:cNvSpPr txBox="1"/>
            <p:nvPr/>
          </p:nvSpPr>
          <p:spPr>
            <a:xfrm>
              <a:off x="6878663" y="5287089"/>
              <a:ext cx="43492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用户对象</a:t>
              </a:r>
            </a:p>
          </p:txBody>
        </p:sp>
        <p:sp>
          <p:nvSpPr>
            <p:cNvPr id="116" name="TextBox 116"/>
            <p:cNvSpPr txBox="1"/>
            <p:nvPr/>
          </p:nvSpPr>
          <p:spPr>
            <a:xfrm>
              <a:off x="7688288" y="5287089"/>
              <a:ext cx="43492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调研分析</a:t>
              </a:r>
            </a:p>
          </p:txBody>
        </p:sp>
        <p:sp>
          <p:nvSpPr>
            <p:cNvPr id="117" name="TextBox 117"/>
            <p:cNvSpPr txBox="1"/>
            <p:nvPr/>
          </p:nvSpPr>
          <p:spPr>
            <a:xfrm>
              <a:off x="8497913" y="5287089"/>
              <a:ext cx="43492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产品结构</a:t>
              </a:r>
            </a:p>
          </p:txBody>
        </p:sp>
      </p:grpSp>
      <p:grpSp>
        <p:nvGrpSpPr>
          <p:cNvPr id="121" name="page-footer"/>
          <p:cNvGrpSpPr/>
          <p:nvPr/>
        </p:nvGrpSpPr>
        <p:grpSpPr>
          <a:xfrm>
            <a:off x="376238" y="6689884"/>
            <a:ext cx="11439524" cy="133350"/>
            <a:chOff x="376238" y="6689884"/>
            <a:chExt cx="11439524" cy="133350"/>
          </a:xfrm>
        </p:grpSpPr>
        <p:sp>
          <p:nvSpPr>
            <p:cNvPr id="119" name="TextBox 119"/>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20" name="TextBox 120"/>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06</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Freeform 8"/>
          <p:cNvSpPr/>
          <p:nvPr/>
        </p:nvSpPr>
        <p:spPr>
          <a:xfrm>
            <a:off x="2381250" y="800100"/>
            <a:ext cx="1428750" cy="2381250"/>
          </a:xfrm>
          <a:prstGeom prst="triangle">
            <a:avLst/>
          </a:prstGeom>
          <a:solidFill>
            <a:srgbClr val="F7C8C0"/>
          </a:solidFill>
          <a:ln>
            <a:noFill/>
          </a:ln>
        </p:spPr>
      </p:sp>
      <p:grpSp>
        <p:nvGrpSpPr>
          <p:cNvPr id="13" name="goal-ellipse"/>
          <p:cNvGrpSpPr/>
          <p:nvPr/>
        </p:nvGrpSpPr>
        <p:grpSpPr>
          <a:xfrm>
            <a:off x="1381125" y="1190625"/>
            <a:ext cx="3333750" cy="571500"/>
            <a:chOff x="1381125" y="1190625"/>
            <a:chExt cx="3333750" cy="571500"/>
          </a:xfrm>
        </p:grpSpPr>
        <p:sp>
          <p:nvSpPr>
            <p:cNvPr id="9" name="Ellipse 9"/>
            <p:cNvSpPr/>
            <p:nvPr/>
          </p:nvSpPr>
          <p:spPr>
            <a:xfrm>
              <a:off x="1381125" y="1190625"/>
              <a:ext cx="3333750" cy="571500"/>
            </a:xfrm>
            <a:prstGeom prst="ellipse">
              <a:avLst/>
            </a:prstGeom>
            <a:solidFill>
              <a:srgbClr val="E3EFD9"/>
            </a:solidFill>
            <a:ln w="14288">
              <a:solidFill>
                <a:srgbClr val="BF857A"/>
              </a:solidFill>
            </a:ln>
          </p:spPr>
        </p:sp>
        <p:sp>
          <p:nvSpPr>
            <p:cNvPr id="10" name="Rectangle 10"/>
            <p:cNvSpPr/>
            <p:nvPr/>
          </p:nvSpPr>
          <p:spPr>
            <a:xfrm>
              <a:off x="2457450" y="1219200"/>
              <a:ext cx="1181100" cy="209550"/>
            </a:xfrm>
            <a:prstGeom prst="roundRect">
              <a:avLst>
                <a:gd name="adj" fmla="val 50000"/>
              </a:avLst>
            </a:prstGeom>
            <a:solidFill>
              <a:srgbClr val="8C4B3F"/>
            </a:solidFill>
            <a:ln>
              <a:noFill/>
            </a:ln>
          </p:spPr>
        </p:sp>
        <p:sp>
          <p:nvSpPr>
            <p:cNvPr id="11" name="TextBox 11"/>
            <p:cNvSpPr txBox="1"/>
            <p:nvPr/>
          </p:nvSpPr>
          <p:spPr>
            <a:xfrm>
              <a:off x="2656878" y="1273016"/>
              <a:ext cx="78224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本次行动的目标</a:t>
              </a:r>
            </a:p>
          </p:txBody>
        </p:sp>
        <p:sp>
          <p:nvSpPr>
            <p:cNvPr id="12" name="TextBox 12"/>
            <p:cNvSpPr txBox="1"/>
            <p:nvPr/>
          </p:nvSpPr>
          <p:spPr>
            <a:xfrm>
              <a:off x="2546490" y="1558766"/>
              <a:ext cx="1003021"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产品在行动中的位置</a:t>
              </a:r>
            </a:p>
          </p:txBody>
        </p:sp>
      </p:grpSp>
      <p:grpSp>
        <p:nvGrpSpPr>
          <p:cNvPr id="23" name="principles-ring"/>
          <p:cNvGrpSpPr/>
          <p:nvPr/>
        </p:nvGrpSpPr>
        <p:grpSpPr>
          <a:xfrm>
            <a:off x="469455" y="2098834"/>
            <a:ext cx="4912170" cy="853916"/>
            <a:chOff x="469455" y="2098834"/>
            <a:chExt cx="4912170" cy="853916"/>
          </a:xfrm>
        </p:grpSpPr>
        <p:sp>
          <p:nvSpPr>
            <p:cNvPr id="14" name="Ellipse 14"/>
            <p:cNvSpPr/>
            <p:nvPr/>
          </p:nvSpPr>
          <p:spPr>
            <a:xfrm>
              <a:off x="714375" y="2190750"/>
              <a:ext cx="4667250" cy="762000"/>
            </a:xfrm>
            <a:prstGeom prst="ellipse">
              <a:avLst/>
            </a:prstGeom>
            <a:noFill/>
            <a:ln w="14288">
              <a:solidFill>
                <a:srgbClr val="E9563C"/>
              </a:solidFill>
              <a:custDash>
                <a:ds d="400000" sp="266667"/>
              </a:custDash>
            </a:ln>
          </p:spPr>
        </p:sp>
        <p:sp>
          <p:nvSpPr>
            <p:cNvPr id="15" name="TextBox 15"/>
            <p:cNvSpPr txBox="1"/>
            <p:nvPr/>
          </p:nvSpPr>
          <p:spPr>
            <a:xfrm>
              <a:off x="1457134" y="2098834"/>
              <a:ext cx="514731" cy="238125"/>
            </a:xfrm>
            <a:prstGeom prst="rect">
              <a:avLst/>
            </a:prstGeom>
            <a:noFill/>
            <a:ln>
              <a:noFill/>
            </a:ln>
          </p:spPr>
          <p:txBody>
            <a:bodyPr wrap="none" lIns="0" tIns="0" rIns="0" bIns="0" anchor="t" anchorCtr="0">
              <a:spAutoFit/>
            </a:bodyPr>
            <a:lstStyle/>
            <a:p>
              <a:pPr algn="ctr">
                <a:lnSpc>
                  <a:spcPts val="825"/>
                </a:lnSpc>
              </a:pPr>
              <a:r>
                <a:rPr lang="en-US" sz="680" dirty="0">
                  <a:solidFill>
                    <a:srgbClr val="D6391E"/>
                  </a:solidFill>
                  <a:latin typeface="+mn-lt"/>
                  <a:ea typeface="+mn-ea"/>
                  <a:cs typeface="+mn-cs"/>
                </a:rPr>
                <a:t>Sales And</a:t>
              </a:r>
              <a:br/>
              <a:r>
                <a:rPr lang="en-US" sz="680" dirty="0">
                  <a:solidFill>
                    <a:srgbClr val="D6391E"/>
                  </a:solidFill>
                  <a:latin typeface="+mn-lt"/>
                  <a:ea typeface="+mn-ea"/>
                  <a:cs typeface="+mn-cs"/>
                </a:rPr>
                <a:t>Distribution</a:t>
              </a:r>
            </a:p>
          </p:txBody>
        </p:sp>
        <p:sp>
          <p:nvSpPr>
            <p:cNvPr id="16" name="TextBox 16"/>
            <p:cNvSpPr txBox="1"/>
            <p:nvPr/>
          </p:nvSpPr>
          <p:spPr>
            <a:xfrm>
              <a:off x="3838384" y="2098834"/>
              <a:ext cx="514731" cy="238125"/>
            </a:xfrm>
            <a:prstGeom prst="rect">
              <a:avLst/>
            </a:prstGeom>
            <a:noFill/>
            <a:ln>
              <a:noFill/>
            </a:ln>
          </p:spPr>
          <p:txBody>
            <a:bodyPr wrap="none" lIns="0" tIns="0" rIns="0" bIns="0" anchor="t" anchorCtr="0">
              <a:spAutoFit/>
            </a:bodyPr>
            <a:lstStyle/>
            <a:p>
              <a:pPr algn="ctr">
                <a:lnSpc>
                  <a:spcPts val="825"/>
                </a:lnSpc>
              </a:pPr>
              <a:r>
                <a:rPr lang="en-US" sz="680" dirty="0">
                  <a:solidFill>
                    <a:srgbClr val="D6391E"/>
                  </a:solidFill>
                  <a:latin typeface="+mn-lt"/>
                  <a:ea typeface="+mn-ea"/>
                  <a:cs typeface="+mn-cs"/>
                </a:rPr>
                <a:t>Sales And</a:t>
              </a:r>
              <a:br/>
              <a:r>
                <a:rPr lang="en-US" sz="680" dirty="0">
                  <a:solidFill>
                    <a:srgbClr val="D6391E"/>
                  </a:solidFill>
                  <a:latin typeface="+mn-lt"/>
                  <a:ea typeface="+mn-ea"/>
                  <a:cs typeface="+mn-cs"/>
                </a:rPr>
                <a:t>Distribution</a:t>
              </a:r>
            </a:p>
          </p:txBody>
        </p:sp>
        <p:sp>
          <p:nvSpPr>
            <p:cNvPr id="17" name="TextBox 17"/>
            <p:cNvSpPr txBox="1"/>
            <p:nvPr/>
          </p:nvSpPr>
          <p:spPr>
            <a:xfrm>
              <a:off x="4922838" y="2251234"/>
              <a:ext cx="441325" cy="238125"/>
            </a:xfrm>
            <a:prstGeom prst="rect">
              <a:avLst/>
            </a:prstGeom>
            <a:noFill/>
            <a:ln>
              <a:noFill/>
            </a:ln>
          </p:spPr>
          <p:txBody>
            <a:bodyPr wrap="none" lIns="0" tIns="0" rIns="0" bIns="0" anchor="t" anchorCtr="0">
              <a:spAutoFit/>
            </a:bodyPr>
            <a:lstStyle/>
            <a:p>
              <a:pPr algn="ctr">
                <a:lnSpc>
                  <a:spcPts val="825"/>
                </a:lnSpc>
              </a:pPr>
              <a:r>
                <a:rPr lang="en-US" sz="680" dirty="0">
                  <a:solidFill>
                    <a:srgbClr val="D6391E"/>
                  </a:solidFill>
                  <a:latin typeface="+mn-lt"/>
                  <a:ea typeface="+mn-ea"/>
                  <a:cs typeface="+mn-cs"/>
                </a:rPr>
                <a:t>Product</a:t>
              </a:r>
              <a:br/>
              <a:r>
                <a:rPr lang="en-US" sz="680" dirty="0">
                  <a:solidFill>
                    <a:srgbClr val="D6391E"/>
                  </a:solidFill>
                  <a:latin typeface="+mn-lt"/>
                  <a:ea typeface="+mn-ea"/>
                  <a:cs typeface="+mn-cs"/>
                </a:rPr>
                <a:t>Innovation</a:t>
              </a:r>
            </a:p>
          </p:txBody>
        </p:sp>
        <p:sp>
          <p:nvSpPr>
            <p:cNvPr id="18" name="TextBox 18"/>
            <p:cNvSpPr txBox="1"/>
            <p:nvPr/>
          </p:nvSpPr>
          <p:spPr>
            <a:xfrm>
              <a:off x="469455" y="2536984"/>
              <a:ext cx="432689" cy="238125"/>
            </a:xfrm>
            <a:prstGeom prst="rect">
              <a:avLst/>
            </a:prstGeom>
            <a:noFill/>
            <a:ln>
              <a:noFill/>
            </a:ln>
          </p:spPr>
          <p:txBody>
            <a:bodyPr wrap="none" lIns="0" tIns="0" rIns="0" bIns="0" anchor="t" anchorCtr="0">
              <a:spAutoFit/>
            </a:bodyPr>
            <a:lstStyle/>
            <a:p>
              <a:pPr algn="ctr">
                <a:lnSpc>
                  <a:spcPts val="825"/>
                </a:lnSpc>
              </a:pPr>
              <a:r>
                <a:rPr lang="en-US" sz="680" dirty="0">
                  <a:solidFill>
                    <a:srgbClr val="D6391E"/>
                  </a:solidFill>
                  <a:latin typeface="+mn-lt"/>
                  <a:ea typeface="+mn-ea"/>
                  <a:cs typeface="+mn-cs"/>
                </a:rPr>
                <a:t>Digital</a:t>
              </a:r>
              <a:br/>
              <a:r>
                <a:rPr lang="en-US" sz="680" dirty="0">
                  <a:solidFill>
                    <a:srgbClr val="D6391E"/>
                  </a:solidFill>
                  <a:latin typeface="+mn-lt"/>
                  <a:ea typeface="+mn-ea"/>
                  <a:cs typeface="+mn-cs"/>
                </a:rPr>
                <a:t>Marketing</a:t>
              </a:r>
            </a:p>
          </p:txBody>
        </p:sp>
        <p:sp>
          <p:nvSpPr>
            <p:cNvPr id="19" name="TextBox 19"/>
            <p:cNvSpPr txBox="1"/>
            <p:nvPr/>
          </p:nvSpPr>
          <p:spPr>
            <a:xfrm>
              <a:off x="2043664" y="2670334"/>
              <a:ext cx="389423" cy="133350"/>
            </a:xfrm>
            <a:prstGeom prst="rect">
              <a:avLst/>
            </a:prstGeom>
            <a:noFill/>
            <a:ln>
              <a:noFill/>
            </a:ln>
          </p:spPr>
          <p:txBody>
            <a:bodyPr wrap="none" lIns="0" tIns="0" rIns="0" bIns="0" anchor="t" anchorCtr="0">
              <a:spAutoFit/>
            </a:bodyPr>
            <a:lstStyle/>
            <a:p>
              <a:pPr algn="ctr"/>
              <a:r>
                <a:rPr lang="en-US" sz="680" dirty="0">
                  <a:solidFill>
                    <a:srgbClr val="D6391E"/>
                  </a:solidFill>
                  <a:latin typeface="+mn-lt"/>
                  <a:ea typeface="+mn-ea"/>
                  <a:cs typeface="+mn-cs"/>
                </a:rPr>
                <a:t>branding</a:t>
              </a:r>
            </a:p>
          </p:txBody>
        </p:sp>
        <p:sp>
          <p:nvSpPr>
            <p:cNvPr id="20" name="TextBox 20"/>
            <p:cNvSpPr txBox="1"/>
            <p:nvPr/>
          </p:nvSpPr>
          <p:spPr>
            <a:xfrm>
              <a:off x="2718816" y="2508885"/>
              <a:ext cx="658368" cy="234696"/>
            </a:xfrm>
            <a:prstGeom prst="rect">
              <a:avLst/>
            </a:prstGeom>
            <a:noFill/>
            <a:ln>
              <a:noFill/>
            </a:ln>
          </p:spPr>
          <p:txBody>
            <a:bodyPr wrap="none" lIns="0" tIns="0" rIns="0" bIns="0" anchor="t" anchorCtr="0">
              <a:spAutoFit/>
            </a:bodyPr>
            <a:lstStyle/>
            <a:p>
              <a:pPr algn="ctr"/>
              <a:r>
                <a:rPr lang="zh-CN" sz="1200" b="1" dirty="0">
                  <a:solidFill>
                    <a:srgbClr val="D6391E"/>
                  </a:solidFill>
                  <a:latin typeface="+mn-lt"/>
                  <a:ea typeface="+mn-ea"/>
                  <a:cs typeface="+mn-cs"/>
                </a:rPr>
                <a:t>核心原则</a:t>
              </a:r>
            </a:p>
          </p:txBody>
        </p:sp>
        <p:sp>
          <p:nvSpPr>
            <p:cNvPr id="21" name="TextBox 21"/>
            <p:cNvSpPr txBox="1"/>
            <p:nvPr/>
          </p:nvSpPr>
          <p:spPr>
            <a:xfrm>
              <a:off x="3479356" y="2556034"/>
              <a:ext cx="432689" cy="238125"/>
            </a:xfrm>
            <a:prstGeom prst="rect">
              <a:avLst/>
            </a:prstGeom>
            <a:noFill/>
            <a:ln>
              <a:noFill/>
            </a:ln>
          </p:spPr>
          <p:txBody>
            <a:bodyPr wrap="none" lIns="0" tIns="0" rIns="0" bIns="0" anchor="t" anchorCtr="0">
              <a:spAutoFit/>
            </a:bodyPr>
            <a:lstStyle/>
            <a:p>
              <a:pPr algn="ctr">
                <a:lnSpc>
                  <a:spcPts val="825"/>
                </a:lnSpc>
              </a:pPr>
              <a:r>
                <a:rPr lang="en-US" sz="680" dirty="0">
                  <a:solidFill>
                    <a:srgbClr val="D6391E"/>
                  </a:solidFill>
                  <a:latin typeface="+mn-lt"/>
                  <a:ea typeface="+mn-ea"/>
                  <a:cs typeface="+mn-cs"/>
                </a:rPr>
                <a:t>User</a:t>
              </a:r>
              <a:br/>
              <a:r>
                <a:rPr lang="en-US" sz="680" dirty="0">
                  <a:solidFill>
                    <a:srgbClr val="D6391E"/>
                  </a:solidFill>
                  <a:latin typeface="+mn-lt"/>
                  <a:ea typeface="+mn-ea"/>
                  <a:cs typeface="+mn-cs"/>
                </a:rPr>
                <a:t>Operation</a:t>
              </a:r>
            </a:p>
          </p:txBody>
        </p:sp>
        <p:sp>
          <p:nvSpPr>
            <p:cNvPr id="22" name="TextBox 22"/>
            <p:cNvSpPr txBox="1"/>
            <p:nvPr/>
          </p:nvSpPr>
          <p:spPr>
            <a:xfrm>
              <a:off x="4591630" y="2594134"/>
              <a:ext cx="341740" cy="133350"/>
            </a:xfrm>
            <a:prstGeom prst="rect">
              <a:avLst/>
            </a:prstGeom>
            <a:noFill/>
            <a:ln>
              <a:noFill/>
            </a:ln>
          </p:spPr>
          <p:txBody>
            <a:bodyPr wrap="none" lIns="0" tIns="0" rIns="0" bIns="0" anchor="t" anchorCtr="0">
              <a:spAutoFit/>
            </a:bodyPr>
            <a:lstStyle/>
            <a:p>
              <a:pPr algn="ctr"/>
              <a:r>
                <a:rPr lang="en-US" sz="680" dirty="0">
                  <a:solidFill>
                    <a:srgbClr val="D6391E"/>
                  </a:solidFill>
                  <a:latin typeface="+mn-lt"/>
                  <a:ea typeface="+mn-ea"/>
                  <a:cs typeface="+mn-cs"/>
                </a:rPr>
                <a:t>Channel</a:t>
              </a:r>
            </a:p>
          </p:txBody>
        </p:sp>
      </p:grpSp>
      <p:grpSp>
        <p:nvGrpSpPr>
          <p:cNvPr id="34" name="combo-row"/>
          <p:cNvGrpSpPr/>
          <p:nvPr/>
        </p:nvGrpSpPr>
        <p:grpSpPr>
          <a:xfrm>
            <a:off x="904875" y="3025616"/>
            <a:ext cx="4286250" cy="555784"/>
            <a:chOff x="904875" y="3025616"/>
            <a:chExt cx="4286250" cy="555784"/>
          </a:xfrm>
        </p:grpSpPr>
        <p:sp>
          <p:nvSpPr>
            <p:cNvPr id="24" name="TextBox 24"/>
            <p:cNvSpPr txBox="1"/>
            <p:nvPr/>
          </p:nvSpPr>
          <p:spPr>
            <a:xfrm>
              <a:off x="2546490" y="3025616"/>
              <a:ext cx="1003021"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系统产品组合核心点</a:t>
              </a:r>
            </a:p>
          </p:txBody>
        </p:sp>
        <p:sp>
          <p:nvSpPr>
            <p:cNvPr id="25" name="Ellipse 25"/>
            <p:cNvSpPr/>
            <p:nvPr/>
          </p:nvSpPr>
          <p:spPr>
            <a:xfrm>
              <a:off x="904875" y="3124200"/>
              <a:ext cx="4286250" cy="457200"/>
            </a:xfrm>
            <a:prstGeom prst="ellipse">
              <a:avLst/>
            </a:prstGeom>
            <a:solidFill>
              <a:srgbClr val="E3EFD9"/>
            </a:solidFill>
            <a:ln>
              <a:noFill/>
            </a:ln>
          </p:spPr>
        </p:sp>
        <p:sp>
          <p:nvSpPr>
            <p:cNvPr id="26" name="Rectangle 26"/>
            <p:cNvSpPr/>
            <p:nvPr/>
          </p:nvSpPr>
          <p:spPr>
            <a:xfrm>
              <a:off x="1238250" y="3248025"/>
              <a:ext cx="857250" cy="209550"/>
            </a:xfrm>
            <a:prstGeom prst="roundRect">
              <a:avLst>
                <a:gd name="adj" fmla="val 50000"/>
              </a:avLst>
            </a:prstGeom>
            <a:solidFill>
              <a:srgbClr val="8C4B3F"/>
            </a:solidFill>
            <a:ln>
              <a:noFill/>
            </a:ln>
          </p:spPr>
        </p:sp>
        <p:sp>
          <p:nvSpPr>
            <p:cNvPr id="27" name="TextBox 27"/>
            <p:cNvSpPr txBox="1"/>
            <p:nvPr/>
          </p:nvSpPr>
          <p:spPr>
            <a:xfrm>
              <a:off x="1359218" y="330993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整体方案表达</a:t>
              </a:r>
            </a:p>
          </p:txBody>
        </p:sp>
        <p:sp>
          <p:nvSpPr>
            <p:cNvPr id="28" name="TextBox 28"/>
            <p:cNvSpPr txBox="1"/>
            <p:nvPr/>
          </p:nvSpPr>
          <p:spPr>
            <a:xfrm>
              <a:off x="2196322" y="3319462"/>
              <a:ext cx="65056" cy="147638"/>
            </a:xfrm>
            <a:prstGeom prst="rect">
              <a:avLst/>
            </a:prstGeom>
            <a:noFill/>
            <a:ln>
              <a:noFill/>
            </a:ln>
          </p:spPr>
          <p:txBody>
            <a:bodyPr wrap="none" lIns="0" tIns="0" rIns="0" bIns="0" anchor="t" anchorCtr="0">
              <a:spAutoFit/>
            </a:bodyPr>
            <a:lstStyle/>
            <a:p>
              <a:pPr algn="ctr"/>
              <a:r>
                <a:rPr lang="zh-CN" sz="750" dirty="0">
                  <a:solidFill>
                    <a:srgbClr val="8C4B3F"/>
                  </a:solidFill>
                  <a:latin typeface="+mn-lt"/>
                  <a:ea typeface="+mn-ea"/>
                  <a:cs typeface="+mn-cs"/>
                </a:rPr>
                <a:t>▸</a:t>
              </a:r>
            </a:p>
          </p:txBody>
        </p:sp>
        <p:sp>
          <p:nvSpPr>
            <p:cNvPr id="29" name="Rectangle 29"/>
            <p:cNvSpPr/>
            <p:nvPr/>
          </p:nvSpPr>
          <p:spPr>
            <a:xfrm>
              <a:off x="2381250" y="3248025"/>
              <a:ext cx="1333500" cy="209550"/>
            </a:xfrm>
            <a:prstGeom prst="roundRect">
              <a:avLst>
                <a:gd name="adj" fmla="val 50000"/>
              </a:avLst>
            </a:prstGeom>
            <a:solidFill>
              <a:srgbClr val="8C4B3F"/>
            </a:solidFill>
            <a:ln>
              <a:noFill/>
            </a:ln>
          </p:spPr>
        </p:sp>
        <p:sp>
          <p:nvSpPr>
            <p:cNvPr id="30" name="TextBox 30"/>
            <p:cNvSpPr txBox="1"/>
            <p:nvPr/>
          </p:nvSpPr>
          <p:spPr>
            <a:xfrm>
              <a:off x="2538412" y="3309938"/>
              <a:ext cx="101917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产品使用率与经济效益</a:t>
              </a:r>
            </a:p>
          </p:txBody>
        </p:sp>
        <p:sp>
          <p:nvSpPr>
            <p:cNvPr id="31" name="TextBox 31"/>
            <p:cNvSpPr txBox="1"/>
            <p:nvPr/>
          </p:nvSpPr>
          <p:spPr>
            <a:xfrm>
              <a:off x="3834622" y="3319462"/>
              <a:ext cx="65056" cy="147638"/>
            </a:xfrm>
            <a:prstGeom prst="rect">
              <a:avLst/>
            </a:prstGeom>
            <a:noFill/>
            <a:ln>
              <a:noFill/>
            </a:ln>
          </p:spPr>
          <p:txBody>
            <a:bodyPr wrap="none" lIns="0" tIns="0" rIns="0" bIns="0" anchor="t" anchorCtr="0">
              <a:spAutoFit/>
            </a:bodyPr>
            <a:lstStyle/>
            <a:p>
              <a:pPr algn="ctr"/>
              <a:r>
                <a:rPr lang="zh-CN" sz="750" dirty="0">
                  <a:solidFill>
                    <a:srgbClr val="8C4B3F"/>
                  </a:solidFill>
                  <a:latin typeface="+mn-lt"/>
                  <a:ea typeface="+mn-ea"/>
                  <a:cs typeface="+mn-cs"/>
                </a:rPr>
                <a:t>◂</a:t>
              </a:r>
            </a:p>
          </p:txBody>
        </p:sp>
        <p:sp>
          <p:nvSpPr>
            <p:cNvPr id="32" name="Rectangle 32"/>
            <p:cNvSpPr/>
            <p:nvPr/>
          </p:nvSpPr>
          <p:spPr>
            <a:xfrm>
              <a:off x="4000500" y="3248025"/>
              <a:ext cx="857250" cy="209550"/>
            </a:xfrm>
            <a:prstGeom prst="roundRect">
              <a:avLst>
                <a:gd name="adj" fmla="val 50000"/>
              </a:avLst>
            </a:prstGeom>
            <a:solidFill>
              <a:srgbClr val="8C4B3F"/>
            </a:solidFill>
            <a:ln>
              <a:noFill/>
            </a:ln>
          </p:spPr>
        </p:sp>
        <p:sp>
          <p:nvSpPr>
            <p:cNvPr id="33" name="TextBox 33"/>
            <p:cNvSpPr txBox="1"/>
            <p:nvPr/>
          </p:nvSpPr>
          <p:spPr>
            <a:xfrm>
              <a:off x="4222432" y="330993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产品精选</a:t>
              </a:r>
            </a:p>
          </p:txBody>
        </p:sp>
      </p:grpSp>
      <p:grpSp>
        <p:nvGrpSpPr>
          <p:cNvPr id="50" name="delivery-ring"/>
          <p:cNvGrpSpPr/>
          <p:nvPr/>
        </p:nvGrpSpPr>
        <p:grpSpPr>
          <a:xfrm>
            <a:off x="381000" y="3638550"/>
            <a:ext cx="5334000" cy="1930480"/>
            <a:chOff x="381000" y="3638550"/>
            <a:chExt cx="5334000" cy="1930480"/>
          </a:xfrm>
        </p:grpSpPr>
        <p:sp>
          <p:nvSpPr>
            <p:cNvPr id="35" name="Ellipse 35"/>
            <p:cNvSpPr/>
            <p:nvPr/>
          </p:nvSpPr>
          <p:spPr>
            <a:xfrm>
              <a:off x="381000" y="3638550"/>
              <a:ext cx="5334000" cy="1676400"/>
            </a:xfrm>
            <a:prstGeom prst="ellipse">
              <a:avLst/>
            </a:prstGeom>
            <a:noFill/>
            <a:ln w="14288">
              <a:solidFill>
                <a:srgbClr val="BF857A"/>
              </a:solidFill>
              <a:custDash>
                <a:ds d="400000" sp="266667"/>
              </a:custDash>
            </a:ln>
          </p:spPr>
        </p:sp>
        <p:sp>
          <p:nvSpPr>
            <p:cNvPr id="36" name="Ellipse 36"/>
            <p:cNvSpPr/>
            <p:nvPr/>
          </p:nvSpPr>
          <p:spPr>
            <a:xfrm>
              <a:off x="1428750" y="3695700"/>
              <a:ext cx="3238500" cy="800100"/>
            </a:xfrm>
            <a:prstGeom prst="ellipse">
              <a:avLst/>
            </a:prstGeom>
            <a:solidFill>
              <a:srgbClr val="E3EFD9"/>
            </a:solidFill>
            <a:ln w="9525">
              <a:solidFill>
                <a:srgbClr val="BF857A"/>
              </a:solidFill>
            </a:ln>
          </p:spPr>
        </p:sp>
        <p:sp>
          <p:nvSpPr>
            <p:cNvPr id="37" name="Rectangle 37"/>
            <p:cNvSpPr/>
            <p:nvPr/>
          </p:nvSpPr>
          <p:spPr>
            <a:xfrm>
              <a:off x="2286000" y="3924300"/>
              <a:ext cx="1524000" cy="361950"/>
            </a:xfrm>
            <a:prstGeom prst="roundRect">
              <a:avLst>
                <a:gd name="adj" fmla="val 50000"/>
              </a:avLst>
            </a:prstGeom>
            <a:solidFill>
              <a:srgbClr val="8C4B3F"/>
            </a:solidFill>
            <a:ln>
              <a:noFill/>
            </a:ln>
          </p:spPr>
        </p:sp>
        <p:sp>
          <p:nvSpPr>
            <p:cNvPr id="38" name="TextBox 38"/>
            <p:cNvSpPr txBox="1"/>
            <p:nvPr/>
          </p:nvSpPr>
          <p:spPr>
            <a:xfrm>
              <a:off x="2718816" y="404241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应用交付</a:t>
              </a:r>
            </a:p>
          </p:txBody>
        </p:sp>
        <p:sp>
          <p:nvSpPr>
            <p:cNvPr id="39" name="TextBox 39"/>
            <p:cNvSpPr txBox="1"/>
            <p:nvPr/>
          </p:nvSpPr>
          <p:spPr>
            <a:xfrm>
              <a:off x="1967624" y="4680347"/>
              <a:ext cx="2160753" cy="183356"/>
            </a:xfrm>
            <a:prstGeom prst="rect">
              <a:avLst/>
            </a:prstGeom>
            <a:noFill/>
            <a:ln>
              <a:noFill/>
            </a:ln>
          </p:spPr>
          <p:txBody>
            <a:bodyPr wrap="none" lIns="0" tIns="0" rIns="0" bIns="0" anchor="t" anchorCtr="0">
              <a:spAutoFit/>
            </a:bodyPr>
            <a:lstStyle/>
            <a:p>
              <a:pPr algn="ctr"/>
              <a:r>
                <a:rPr lang="zh-CN" sz="940" b="1" dirty="0">
                  <a:solidFill>
                    <a:srgbClr val="7A3E33"/>
                  </a:solidFill>
                  <a:latin typeface="+mn-lt"/>
                  <a:ea typeface="+mn-ea"/>
                  <a:cs typeface="+mn-cs"/>
                </a:rPr>
                <a:t>根据人群不同，监测重点维度会有区别</a:t>
              </a:r>
            </a:p>
          </p:txBody>
        </p:sp>
        <p:sp>
          <p:nvSpPr>
            <p:cNvPr id="40" name="Ellipse 40"/>
            <p:cNvSpPr/>
            <p:nvPr/>
          </p:nvSpPr>
          <p:spPr>
            <a:xfrm>
              <a:off x="619125" y="4000500"/>
              <a:ext cx="95250" cy="95250"/>
            </a:xfrm>
            <a:prstGeom prst="ellipse">
              <a:avLst/>
            </a:prstGeom>
            <a:solidFill>
              <a:srgbClr val="FFFFFF"/>
            </a:solidFill>
            <a:ln w="14288">
              <a:solidFill>
                <a:srgbClr val="9C594C"/>
              </a:solidFill>
            </a:ln>
          </p:spPr>
        </p:sp>
        <p:sp>
          <p:nvSpPr>
            <p:cNvPr id="41" name="TextBox 41"/>
            <p:cNvSpPr txBox="1"/>
            <p:nvPr/>
          </p:nvSpPr>
          <p:spPr>
            <a:xfrm>
              <a:off x="470827" y="386643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智能设计</a:t>
              </a:r>
            </a:p>
          </p:txBody>
        </p:sp>
        <p:sp>
          <p:nvSpPr>
            <p:cNvPr id="42" name="Ellipse 42"/>
            <p:cNvSpPr/>
            <p:nvPr/>
          </p:nvSpPr>
          <p:spPr>
            <a:xfrm>
              <a:off x="619125" y="4857750"/>
              <a:ext cx="95250" cy="95250"/>
            </a:xfrm>
            <a:prstGeom prst="ellipse">
              <a:avLst/>
            </a:prstGeom>
            <a:solidFill>
              <a:srgbClr val="FFFFFF"/>
            </a:solidFill>
            <a:ln w="14288">
              <a:solidFill>
                <a:srgbClr val="9C594C"/>
              </a:solidFill>
            </a:ln>
          </p:spPr>
        </p:sp>
        <p:sp>
          <p:nvSpPr>
            <p:cNvPr id="43" name="TextBox 43"/>
            <p:cNvSpPr txBox="1"/>
            <p:nvPr/>
          </p:nvSpPr>
          <p:spPr>
            <a:xfrm>
              <a:off x="470827" y="502848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智能设计</a:t>
              </a:r>
            </a:p>
          </p:txBody>
        </p:sp>
        <p:sp>
          <p:nvSpPr>
            <p:cNvPr id="44" name="Ellipse 44"/>
            <p:cNvSpPr/>
            <p:nvPr/>
          </p:nvSpPr>
          <p:spPr>
            <a:xfrm>
              <a:off x="3000375" y="5267325"/>
              <a:ext cx="95250" cy="95250"/>
            </a:xfrm>
            <a:prstGeom prst="ellipse">
              <a:avLst/>
            </a:prstGeom>
            <a:solidFill>
              <a:srgbClr val="FFFFFF"/>
            </a:solidFill>
            <a:ln w="14288">
              <a:solidFill>
                <a:srgbClr val="9C594C"/>
              </a:solidFill>
            </a:ln>
          </p:spPr>
        </p:sp>
        <p:sp>
          <p:nvSpPr>
            <p:cNvPr id="45" name="TextBox 45"/>
            <p:cNvSpPr txBox="1"/>
            <p:nvPr/>
          </p:nvSpPr>
          <p:spPr>
            <a:xfrm>
              <a:off x="2852077" y="542853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智能设计</a:t>
              </a:r>
            </a:p>
          </p:txBody>
        </p:sp>
        <p:sp>
          <p:nvSpPr>
            <p:cNvPr id="46" name="Ellipse 46"/>
            <p:cNvSpPr/>
            <p:nvPr/>
          </p:nvSpPr>
          <p:spPr>
            <a:xfrm>
              <a:off x="5381625" y="4000500"/>
              <a:ext cx="95250" cy="95250"/>
            </a:xfrm>
            <a:prstGeom prst="ellipse">
              <a:avLst/>
            </a:prstGeom>
            <a:solidFill>
              <a:srgbClr val="FFFFFF"/>
            </a:solidFill>
            <a:ln w="14288">
              <a:solidFill>
                <a:srgbClr val="9C594C"/>
              </a:solidFill>
            </a:ln>
          </p:spPr>
        </p:sp>
        <p:sp>
          <p:nvSpPr>
            <p:cNvPr id="47" name="TextBox 47"/>
            <p:cNvSpPr txBox="1"/>
            <p:nvPr/>
          </p:nvSpPr>
          <p:spPr>
            <a:xfrm>
              <a:off x="5233327" y="386643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智能设计</a:t>
              </a:r>
            </a:p>
          </p:txBody>
        </p:sp>
        <p:sp>
          <p:nvSpPr>
            <p:cNvPr id="48" name="Ellipse 48"/>
            <p:cNvSpPr/>
            <p:nvPr/>
          </p:nvSpPr>
          <p:spPr>
            <a:xfrm>
              <a:off x="5381625" y="4857750"/>
              <a:ext cx="95250" cy="95250"/>
            </a:xfrm>
            <a:prstGeom prst="ellipse">
              <a:avLst/>
            </a:prstGeom>
            <a:solidFill>
              <a:srgbClr val="FFFFFF"/>
            </a:solidFill>
            <a:ln w="14288">
              <a:solidFill>
                <a:srgbClr val="9C594C"/>
              </a:solidFill>
            </a:ln>
          </p:spPr>
        </p:sp>
        <p:sp>
          <p:nvSpPr>
            <p:cNvPr id="49" name="TextBox 49"/>
            <p:cNvSpPr txBox="1"/>
            <p:nvPr/>
          </p:nvSpPr>
          <p:spPr>
            <a:xfrm>
              <a:off x="5233327" y="502848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智能设计</a:t>
              </a:r>
            </a:p>
          </p:txBody>
        </p:sp>
      </p:grpSp>
      <p:grpSp>
        <p:nvGrpSpPr>
          <p:cNvPr id="56" name="ops-flow-row"/>
          <p:cNvGrpSpPr/>
          <p:nvPr/>
        </p:nvGrpSpPr>
        <p:grpSpPr>
          <a:xfrm>
            <a:off x="6019800" y="1181100"/>
            <a:ext cx="4892927" cy="400050"/>
            <a:chOff x="6019800" y="1181100"/>
            <a:chExt cx="4892927" cy="400050"/>
          </a:xfrm>
        </p:grpSpPr>
        <p:sp>
          <p:nvSpPr>
            <p:cNvPr id="51" name="Line 51"/>
            <p:cNvSpPr/>
            <p:nvPr/>
          </p:nvSpPr>
          <p:spPr>
            <a:xfrm>
              <a:off x="6019800" y="1381125"/>
              <a:ext cx="800100" cy="1"/>
            </a:xfrm>
            <a:prstGeom prst="line">
              <a:avLst/>
            </a:prstGeom>
            <a:noFill/>
            <a:ln w="11430">
              <a:solidFill>
                <a:srgbClr val="BF857A"/>
              </a:solidFill>
              <a:custDash>
                <a:ds d="333333" sp="250000"/>
              </a:custDash>
              <a:tailEnd type="triangle" w="lg" len="lg"/>
            </a:ln>
          </p:spPr>
        </p:sp>
        <p:sp>
          <p:nvSpPr>
            <p:cNvPr id="52" name="TextBox 52"/>
            <p:cNvSpPr txBox="1"/>
            <p:nvPr/>
          </p:nvSpPr>
          <p:spPr>
            <a:xfrm>
              <a:off x="6929438" y="1326118"/>
              <a:ext cx="472618" cy="169069"/>
            </a:xfrm>
            <a:prstGeom prst="rect">
              <a:avLst/>
            </a:prstGeom>
            <a:noFill/>
            <a:ln>
              <a:noFill/>
            </a:ln>
          </p:spPr>
          <p:txBody>
            <a:bodyPr wrap="none" lIns="0" tIns="0" rIns="0" bIns="0" anchor="t" anchorCtr="0">
              <a:spAutoFit/>
            </a:bodyPr>
            <a:lstStyle/>
            <a:p>
              <a:pPr algn="l"/>
              <a:r>
                <a:rPr lang="zh-CN" sz="860" dirty="0">
                  <a:solidFill>
                    <a:srgbClr val="7A3E33"/>
                  </a:solidFill>
                  <a:latin typeface="+mn-lt"/>
                  <a:ea typeface="+mn-ea"/>
                  <a:cs typeface="+mn-cs"/>
                </a:rPr>
                <a:t>客户沉淀</a:t>
              </a:r>
            </a:p>
          </p:txBody>
        </p:sp>
        <p:sp>
          <p:nvSpPr>
            <p:cNvPr id="53" name="Freeform 53"/>
            <p:cNvSpPr/>
            <p:nvPr/>
          </p:nvSpPr>
          <p:spPr>
            <a:xfrm>
              <a:off x="8096250" y="1181100"/>
              <a:ext cx="1524000" cy="400050"/>
            </a:xfrm>
            <a:prstGeom prst="rightArrow">
              <a:avLst/>
            </a:prstGeom>
            <a:solidFill>
              <a:srgbClr val="9C594C"/>
            </a:solidFill>
            <a:ln>
              <a:noFill/>
            </a:ln>
          </p:spPr>
        </p:sp>
        <p:sp>
          <p:nvSpPr>
            <p:cNvPr id="54" name="TextBox 54"/>
            <p:cNvSpPr txBox="1"/>
            <p:nvPr/>
          </p:nvSpPr>
          <p:spPr>
            <a:xfrm>
              <a:off x="8537461" y="13301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活动运营</a:t>
              </a:r>
            </a:p>
          </p:txBody>
        </p:sp>
        <p:sp>
          <p:nvSpPr>
            <p:cNvPr id="55" name="TextBox 55"/>
            <p:cNvSpPr txBox="1"/>
            <p:nvPr/>
          </p:nvSpPr>
          <p:spPr>
            <a:xfrm>
              <a:off x="9710738" y="1326118"/>
              <a:ext cx="1201989" cy="169069"/>
            </a:xfrm>
            <a:prstGeom prst="rect">
              <a:avLst/>
            </a:prstGeom>
            <a:noFill/>
            <a:ln>
              <a:noFill/>
            </a:ln>
          </p:spPr>
          <p:txBody>
            <a:bodyPr wrap="none" lIns="0" tIns="0" rIns="0" bIns="0" anchor="t" anchorCtr="0">
              <a:spAutoFit/>
            </a:bodyPr>
            <a:lstStyle/>
            <a:p>
              <a:pPr algn="l"/>
              <a:r>
                <a:rPr lang="zh-CN" sz="860" dirty="0">
                  <a:solidFill>
                    <a:srgbClr val="D6391E"/>
                  </a:solidFill>
                  <a:latin typeface="+mn-lt"/>
                  <a:ea typeface="+mn-ea"/>
                  <a:cs typeface="+mn-cs"/>
                </a:rPr>
                <a:t>新客引入 历史客户迁入</a:t>
              </a:r>
            </a:p>
          </p:txBody>
        </p:sp>
      </p:grpSp>
      <p:grpSp>
        <p:nvGrpSpPr>
          <p:cNvPr id="94" name="channel-block"/>
          <p:cNvGrpSpPr/>
          <p:nvPr/>
        </p:nvGrpSpPr>
        <p:grpSpPr>
          <a:xfrm>
            <a:off x="6000750" y="1714500"/>
            <a:ext cx="4781550" cy="1333500"/>
            <a:chOff x="6000750" y="1714500"/>
            <a:chExt cx="4781550" cy="1333500"/>
          </a:xfrm>
        </p:grpSpPr>
        <p:sp>
          <p:nvSpPr>
            <p:cNvPr id="57" name="Rectangle 57"/>
            <p:cNvSpPr/>
            <p:nvPr/>
          </p:nvSpPr>
          <p:spPr>
            <a:xfrm>
              <a:off x="6000750" y="1733550"/>
              <a:ext cx="819150" cy="209550"/>
            </a:xfrm>
            <a:prstGeom prst="roundRect">
              <a:avLst>
                <a:gd name="adj" fmla="val 18182"/>
              </a:avLst>
            </a:prstGeom>
            <a:solidFill>
              <a:srgbClr val="FFFFFF"/>
            </a:solidFill>
            <a:ln w="9525">
              <a:solidFill>
                <a:srgbClr val="9C594C"/>
              </a:solidFill>
            </a:ln>
          </p:spPr>
        </p:sp>
        <p:sp>
          <p:nvSpPr>
            <p:cNvPr id="58" name="TextBox 58"/>
            <p:cNvSpPr txBox="1"/>
            <p:nvPr/>
          </p:nvSpPr>
          <p:spPr>
            <a:xfrm>
              <a:off x="6118822" y="1799511"/>
              <a:ext cx="58300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公域平台迁入</a:t>
              </a:r>
            </a:p>
          </p:txBody>
        </p:sp>
        <p:sp>
          <p:nvSpPr>
            <p:cNvPr id="59" name="Rectangle 59"/>
            <p:cNvSpPr/>
            <p:nvPr/>
          </p:nvSpPr>
          <p:spPr>
            <a:xfrm>
              <a:off x="6000750" y="1981200"/>
              <a:ext cx="819150" cy="209550"/>
            </a:xfrm>
            <a:prstGeom prst="roundRect">
              <a:avLst>
                <a:gd name="adj" fmla="val 18182"/>
              </a:avLst>
            </a:prstGeom>
            <a:solidFill>
              <a:srgbClr val="FFFFFF"/>
            </a:solidFill>
            <a:ln w="9525">
              <a:solidFill>
                <a:srgbClr val="9C594C"/>
              </a:solidFill>
            </a:ln>
          </p:spPr>
        </p:sp>
        <p:sp>
          <p:nvSpPr>
            <p:cNvPr id="60" name="TextBox 60"/>
            <p:cNvSpPr txBox="1"/>
            <p:nvPr/>
          </p:nvSpPr>
          <p:spPr>
            <a:xfrm>
              <a:off x="6214402" y="2047161"/>
              <a:ext cx="39184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门店导航</a:t>
              </a:r>
            </a:p>
          </p:txBody>
        </p:sp>
        <p:sp>
          <p:nvSpPr>
            <p:cNvPr id="61" name="Rectangle 61"/>
            <p:cNvSpPr/>
            <p:nvPr/>
          </p:nvSpPr>
          <p:spPr>
            <a:xfrm>
              <a:off x="6000750" y="2228850"/>
              <a:ext cx="819150" cy="209550"/>
            </a:xfrm>
            <a:prstGeom prst="roundRect">
              <a:avLst>
                <a:gd name="adj" fmla="val 18182"/>
              </a:avLst>
            </a:prstGeom>
            <a:solidFill>
              <a:srgbClr val="FFFFFF"/>
            </a:solidFill>
            <a:ln w="9525">
              <a:solidFill>
                <a:srgbClr val="9C594C"/>
              </a:solidFill>
            </a:ln>
          </p:spPr>
        </p:sp>
        <p:sp>
          <p:nvSpPr>
            <p:cNvPr id="62" name="TextBox 62"/>
            <p:cNvSpPr txBox="1"/>
            <p:nvPr/>
          </p:nvSpPr>
          <p:spPr>
            <a:xfrm>
              <a:off x="6200381" y="2294811"/>
              <a:ext cx="419889"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APP导航​</a:t>
              </a:r>
            </a:p>
          </p:txBody>
        </p:sp>
        <p:sp>
          <p:nvSpPr>
            <p:cNvPr id="63" name="Rectangle 63"/>
            <p:cNvSpPr/>
            <p:nvPr/>
          </p:nvSpPr>
          <p:spPr>
            <a:xfrm>
              <a:off x="6000750" y="2476500"/>
              <a:ext cx="819150" cy="209550"/>
            </a:xfrm>
            <a:prstGeom prst="roundRect">
              <a:avLst>
                <a:gd name="adj" fmla="val 18182"/>
              </a:avLst>
            </a:prstGeom>
            <a:solidFill>
              <a:srgbClr val="FFFFFF"/>
            </a:solidFill>
            <a:ln w="9525">
              <a:solidFill>
                <a:srgbClr val="9C594C"/>
              </a:solidFill>
            </a:ln>
          </p:spPr>
        </p:sp>
        <p:sp>
          <p:nvSpPr>
            <p:cNvPr id="64" name="TextBox 64"/>
            <p:cNvSpPr txBox="1"/>
            <p:nvPr/>
          </p:nvSpPr>
          <p:spPr>
            <a:xfrm>
              <a:off x="6118822" y="2542461"/>
              <a:ext cx="58300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随单物料导流</a:t>
              </a:r>
            </a:p>
          </p:txBody>
        </p:sp>
        <p:sp>
          <p:nvSpPr>
            <p:cNvPr id="65" name="Rectangle 65"/>
            <p:cNvSpPr/>
            <p:nvPr/>
          </p:nvSpPr>
          <p:spPr>
            <a:xfrm>
              <a:off x="6000750" y="2724150"/>
              <a:ext cx="819150" cy="209550"/>
            </a:xfrm>
            <a:prstGeom prst="roundRect">
              <a:avLst>
                <a:gd name="adj" fmla="val 18182"/>
              </a:avLst>
            </a:prstGeom>
            <a:solidFill>
              <a:srgbClr val="FFFFFF"/>
            </a:solidFill>
            <a:ln w="9525">
              <a:solidFill>
                <a:srgbClr val="9C594C"/>
              </a:solidFill>
            </a:ln>
          </p:spPr>
        </p:sp>
        <p:sp>
          <p:nvSpPr>
            <p:cNvPr id="66" name="TextBox 66"/>
            <p:cNvSpPr txBox="1"/>
            <p:nvPr/>
          </p:nvSpPr>
          <p:spPr>
            <a:xfrm>
              <a:off x="6118822" y="2790111"/>
              <a:ext cx="58300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手机添加好友</a:t>
              </a:r>
            </a:p>
          </p:txBody>
        </p:sp>
        <p:sp>
          <p:nvSpPr>
            <p:cNvPr id="67" name="Line 67"/>
            <p:cNvSpPr/>
            <p:nvPr/>
          </p:nvSpPr>
          <p:spPr>
            <a:xfrm>
              <a:off x="6819900" y="1838325"/>
              <a:ext cx="209550" cy="9525"/>
            </a:xfrm>
            <a:custGeom>
              <a:avLst/>
              <a:gdLst/>
              <a:ahLst/>
              <a:cxnLst/>
              <a:rect l="l" t="t" r="r" b="b"/>
              <a:pathLst>
                <a:path w="209550" h="9525">
                  <a:moveTo>
                    <a:pt x="0" y="0"/>
                  </a:moveTo>
                  <a:lnTo>
                    <a:pt x="209550" y="0"/>
                  </a:lnTo>
                </a:path>
              </a:pathLst>
            </a:custGeom>
            <a:noFill/>
            <a:ln w="9525">
              <a:solidFill>
                <a:srgbClr val="BF857A"/>
              </a:solidFill>
              <a:custDash>
                <a:ds d="300000" sp="200000"/>
              </a:custDash>
            </a:ln>
          </p:spPr>
        </p:sp>
        <p:sp>
          <p:nvSpPr>
            <p:cNvPr id="68" name="Line 68"/>
            <p:cNvSpPr/>
            <p:nvPr/>
          </p:nvSpPr>
          <p:spPr>
            <a:xfrm>
              <a:off x="6819900" y="2085975"/>
              <a:ext cx="209550" cy="9525"/>
            </a:xfrm>
            <a:custGeom>
              <a:avLst/>
              <a:gdLst/>
              <a:ahLst/>
              <a:cxnLst/>
              <a:rect l="l" t="t" r="r" b="b"/>
              <a:pathLst>
                <a:path w="209550" h="9525">
                  <a:moveTo>
                    <a:pt x="0" y="0"/>
                  </a:moveTo>
                  <a:lnTo>
                    <a:pt x="209550" y="0"/>
                  </a:lnTo>
                </a:path>
              </a:pathLst>
            </a:custGeom>
            <a:noFill/>
            <a:ln w="9525">
              <a:solidFill>
                <a:srgbClr val="BF857A"/>
              </a:solidFill>
              <a:custDash>
                <a:ds d="300000" sp="200000"/>
              </a:custDash>
            </a:ln>
          </p:spPr>
        </p:sp>
        <p:sp>
          <p:nvSpPr>
            <p:cNvPr id="69" name="Line 69"/>
            <p:cNvSpPr/>
            <p:nvPr/>
          </p:nvSpPr>
          <p:spPr>
            <a:xfrm>
              <a:off x="6819900" y="2333625"/>
              <a:ext cx="209550" cy="9525"/>
            </a:xfrm>
            <a:custGeom>
              <a:avLst/>
              <a:gdLst/>
              <a:ahLst/>
              <a:cxnLst/>
              <a:rect l="l" t="t" r="r" b="b"/>
              <a:pathLst>
                <a:path w="209550" h="9525">
                  <a:moveTo>
                    <a:pt x="0" y="0"/>
                  </a:moveTo>
                  <a:lnTo>
                    <a:pt x="209550" y="0"/>
                  </a:lnTo>
                </a:path>
              </a:pathLst>
            </a:custGeom>
            <a:noFill/>
            <a:ln w="9525">
              <a:solidFill>
                <a:srgbClr val="BF857A"/>
              </a:solidFill>
              <a:custDash>
                <a:ds d="300000" sp="200000"/>
              </a:custDash>
            </a:ln>
          </p:spPr>
        </p:sp>
        <p:sp>
          <p:nvSpPr>
            <p:cNvPr id="70" name="Line 70"/>
            <p:cNvSpPr/>
            <p:nvPr/>
          </p:nvSpPr>
          <p:spPr>
            <a:xfrm>
              <a:off x="6819900" y="2581275"/>
              <a:ext cx="209550" cy="9525"/>
            </a:xfrm>
            <a:custGeom>
              <a:avLst/>
              <a:gdLst/>
              <a:ahLst/>
              <a:cxnLst/>
              <a:rect l="l" t="t" r="r" b="b"/>
              <a:pathLst>
                <a:path w="209550" h="9525">
                  <a:moveTo>
                    <a:pt x="0" y="0"/>
                  </a:moveTo>
                  <a:lnTo>
                    <a:pt x="209550" y="0"/>
                  </a:lnTo>
                </a:path>
              </a:pathLst>
            </a:custGeom>
            <a:noFill/>
            <a:ln w="9525">
              <a:solidFill>
                <a:srgbClr val="BF857A"/>
              </a:solidFill>
              <a:custDash>
                <a:ds d="300000" sp="200000"/>
              </a:custDash>
            </a:ln>
          </p:spPr>
        </p:sp>
        <p:sp>
          <p:nvSpPr>
            <p:cNvPr id="71" name="Line 71"/>
            <p:cNvSpPr/>
            <p:nvPr/>
          </p:nvSpPr>
          <p:spPr>
            <a:xfrm>
              <a:off x="6819900" y="2828925"/>
              <a:ext cx="209550" cy="9525"/>
            </a:xfrm>
            <a:custGeom>
              <a:avLst/>
              <a:gdLst/>
              <a:ahLst/>
              <a:cxnLst/>
              <a:rect l="l" t="t" r="r" b="b"/>
              <a:pathLst>
                <a:path w="209550" h="9525">
                  <a:moveTo>
                    <a:pt x="0" y="0"/>
                  </a:moveTo>
                  <a:lnTo>
                    <a:pt x="209550" y="0"/>
                  </a:lnTo>
                </a:path>
              </a:pathLst>
            </a:custGeom>
            <a:noFill/>
            <a:ln w="9525">
              <a:solidFill>
                <a:srgbClr val="BF857A"/>
              </a:solidFill>
              <a:custDash>
                <a:ds d="300000" sp="200000"/>
              </a:custDash>
            </a:ln>
          </p:spPr>
        </p:sp>
        <p:sp>
          <p:nvSpPr>
            <p:cNvPr id="72" name="Rectangle 72"/>
            <p:cNvSpPr/>
            <p:nvPr/>
          </p:nvSpPr>
          <p:spPr>
            <a:xfrm>
              <a:off x="7029450" y="1714500"/>
              <a:ext cx="1905000" cy="1333500"/>
            </a:xfrm>
            <a:prstGeom prst="rect">
              <a:avLst/>
            </a:prstGeom>
            <a:solidFill>
              <a:srgbClr val="F7FBF4"/>
            </a:solidFill>
            <a:ln w="11430">
              <a:solidFill>
                <a:srgbClr val="9C594C"/>
              </a:solidFill>
            </a:ln>
          </p:spPr>
        </p:sp>
        <p:sp>
          <p:nvSpPr>
            <p:cNvPr id="73" name="TextBox 73"/>
            <p:cNvSpPr txBox="1"/>
            <p:nvPr/>
          </p:nvSpPr>
          <p:spPr>
            <a:xfrm>
              <a:off x="7215188" y="2116693"/>
              <a:ext cx="992505" cy="626269"/>
            </a:xfrm>
            <a:prstGeom prst="rect">
              <a:avLst/>
            </a:prstGeom>
            <a:noFill/>
            <a:ln>
              <a:noFill/>
            </a:ln>
          </p:spPr>
          <p:txBody>
            <a:bodyPr wrap="none" lIns="0" tIns="0" rIns="0" bIns="0" anchor="t" anchorCtr="0">
              <a:spAutoFit/>
            </a:bodyPr>
            <a:lstStyle/>
            <a:p>
              <a:pPr algn="l">
                <a:lnSpc>
                  <a:spcPts val="1800"/>
                </a:lnSpc>
              </a:pPr>
              <a:r>
                <a:rPr lang="zh-CN" sz="860" dirty="0">
                  <a:solidFill>
                    <a:srgbClr val="7A3E33"/>
                  </a:solidFill>
                  <a:latin typeface="+mn-lt"/>
                  <a:ea typeface="+mn-ea"/>
                  <a:cs typeface="+mn-cs"/>
                </a:rPr>
                <a:t>多渠道会员客户</a:t>
              </a:r>
              <a:br/>
              <a:r>
                <a:rPr lang="zh-CN" sz="860" dirty="0">
                  <a:solidFill>
                    <a:srgbClr val="7A3E33"/>
                  </a:solidFill>
                  <a:latin typeface="+mn-lt"/>
                  <a:ea typeface="+mn-ea"/>
                  <a:cs typeface="+mn-cs"/>
                </a:rPr>
                <a:t>分配规则渠道欢迎语</a:t>
              </a:r>
              <a:br/>
              <a:r>
                <a:rPr lang="zh-CN" sz="860" dirty="0">
                  <a:solidFill>
                    <a:srgbClr val="7A3E33"/>
                  </a:solidFill>
                  <a:latin typeface="+mn-lt"/>
                  <a:ea typeface="+mn-ea"/>
                  <a:cs typeface="+mn-cs"/>
                </a:rPr>
                <a:t>标记渠道标签</a:t>
              </a:r>
            </a:p>
          </p:txBody>
        </p:sp>
        <p:sp>
          <p:nvSpPr>
            <p:cNvPr id="74" name="Rectangle 74"/>
            <p:cNvSpPr/>
            <p:nvPr/>
          </p:nvSpPr>
          <p:spPr>
            <a:xfrm>
              <a:off x="9144000" y="1752600"/>
              <a:ext cx="209550" cy="533400"/>
            </a:xfrm>
            <a:prstGeom prst="rect">
              <a:avLst/>
            </a:prstGeom>
            <a:solidFill>
              <a:srgbClr val="E9563C"/>
            </a:solidFill>
            <a:ln>
              <a:noFill/>
            </a:ln>
          </p:spPr>
        </p:sp>
        <p:sp>
          <p:nvSpPr>
            <p:cNvPr id="75" name="TextBox 75"/>
            <p:cNvSpPr txBox="1"/>
            <p:nvPr/>
          </p:nvSpPr>
          <p:spPr>
            <a:xfrm>
              <a:off x="9198928" y="1894761"/>
              <a:ext cx="99695" cy="273844"/>
            </a:xfrm>
            <a:prstGeom prst="rect">
              <a:avLst/>
            </a:prstGeom>
            <a:noFill/>
            <a:ln>
              <a:noFill/>
            </a:ln>
          </p:spPr>
          <p:txBody>
            <a:bodyPr wrap="none" lIns="0" tIns="0" rIns="0" bIns="0" anchor="t" anchorCtr="0">
              <a:spAutoFit/>
            </a:bodyPr>
            <a:lstStyle/>
            <a:p>
              <a:pPr algn="ctr">
                <a:lnSpc>
                  <a:spcPts val="1050"/>
                </a:lnSpc>
              </a:pPr>
              <a:r>
                <a:rPr lang="zh-CN" sz="710" b="1" dirty="0">
                  <a:solidFill>
                    <a:srgbClr val="FFFFFF"/>
                  </a:solidFill>
                  <a:latin typeface="+mn-lt"/>
                  <a:ea typeface="+mn-ea"/>
                  <a:cs typeface="+mn-cs"/>
                </a:rPr>
                <a:t>群</a:t>
              </a:r>
              <a:br/>
              <a:r>
                <a:rPr lang="zh-CN" sz="710" b="1" dirty="0">
                  <a:solidFill>
                    <a:srgbClr val="FFFFFF"/>
                  </a:solidFill>
                  <a:latin typeface="+mn-lt"/>
                  <a:ea typeface="+mn-ea"/>
                  <a:cs typeface="+mn-cs"/>
                </a:rPr>
                <a:t>聊</a:t>
              </a:r>
            </a:p>
          </p:txBody>
        </p:sp>
        <p:sp>
          <p:nvSpPr>
            <p:cNvPr id="76" name="Rectangle 76"/>
            <p:cNvSpPr/>
            <p:nvPr/>
          </p:nvSpPr>
          <p:spPr>
            <a:xfrm>
              <a:off x="9429750" y="1771650"/>
              <a:ext cx="647700" cy="190500"/>
            </a:xfrm>
            <a:prstGeom prst="rect">
              <a:avLst/>
            </a:prstGeom>
            <a:solidFill>
              <a:srgbClr val="FDF6E7"/>
            </a:solidFill>
            <a:ln w="9525">
              <a:solidFill>
                <a:srgbClr val="E9563C"/>
              </a:solidFill>
            </a:ln>
          </p:spPr>
        </p:sp>
        <p:sp>
          <p:nvSpPr>
            <p:cNvPr id="77" name="TextBox 77"/>
            <p:cNvSpPr txBox="1"/>
            <p:nvPr/>
          </p:nvSpPr>
          <p:spPr>
            <a:xfrm>
              <a:off x="9565754" y="1832134"/>
              <a:ext cx="375691"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标签建群</a:t>
              </a:r>
            </a:p>
          </p:txBody>
        </p:sp>
        <p:sp>
          <p:nvSpPr>
            <p:cNvPr id="78" name="Rectangle 78"/>
            <p:cNvSpPr/>
            <p:nvPr/>
          </p:nvSpPr>
          <p:spPr>
            <a:xfrm>
              <a:off x="10134600" y="1771650"/>
              <a:ext cx="647700" cy="190500"/>
            </a:xfrm>
            <a:prstGeom prst="rect">
              <a:avLst/>
            </a:prstGeom>
            <a:solidFill>
              <a:srgbClr val="FDF6E7"/>
            </a:solidFill>
            <a:ln w="9525">
              <a:solidFill>
                <a:srgbClr val="E9563C"/>
              </a:solidFill>
            </a:ln>
          </p:spPr>
        </p:sp>
        <p:sp>
          <p:nvSpPr>
            <p:cNvPr id="79" name="TextBox 79"/>
            <p:cNvSpPr txBox="1"/>
            <p:nvPr/>
          </p:nvSpPr>
          <p:spPr>
            <a:xfrm>
              <a:off x="10316375" y="1832134"/>
              <a:ext cx="284150"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群直播</a:t>
              </a:r>
            </a:p>
          </p:txBody>
        </p:sp>
        <p:sp>
          <p:nvSpPr>
            <p:cNvPr id="80" name="Rectangle 80"/>
            <p:cNvSpPr/>
            <p:nvPr/>
          </p:nvSpPr>
          <p:spPr>
            <a:xfrm>
              <a:off x="9429750" y="2038350"/>
              <a:ext cx="647700" cy="190500"/>
            </a:xfrm>
            <a:prstGeom prst="rect">
              <a:avLst/>
            </a:prstGeom>
            <a:solidFill>
              <a:srgbClr val="FDF6E7"/>
            </a:solidFill>
            <a:ln w="9525">
              <a:solidFill>
                <a:srgbClr val="E9563C"/>
              </a:solidFill>
            </a:ln>
          </p:spPr>
        </p:sp>
        <p:sp>
          <p:nvSpPr>
            <p:cNvPr id="81" name="TextBox 81"/>
            <p:cNvSpPr txBox="1"/>
            <p:nvPr/>
          </p:nvSpPr>
          <p:spPr>
            <a:xfrm>
              <a:off x="9565754" y="2098834"/>
              <a:ext cx="375691"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营销方案</a:t>
              </a:r>
            </a:p>
          </p:txBody>
        </p:sp>
        <p:sp>
          <p:nvSpPr>
            <p:cNvPr id="82" name="Rectangle 82"/>
            <p:cNvSpPr/>
            <p:nvPr/>
          </p:nvSpPr>
          <p:spPr>
            <a:xfrm>
              <a:off x="10134600" y="2038350"/>
              <a:ext cx="647700" cy="190500"/>
            </a:xfrm>
            <a:prstGeom prst="rect">
              <a:avLst/>
            </a:prstGeom>
            <a:solidFill>
              <a:srgbClr val="FDF6E7"/>
            </a:solidFill>
            <a:ln w="9525">
              <a:solidFill>
                <a:srgbClr val="E9563C"/>
              </a:solidFill>
            </a:ln>
          </p:spPr>
        </p:sp>
        <p:sp>
          <p:nvSpPr>
            <p:cNvPr id="83" name="TextBox 83"/>
            <p:cNvSpPr txBox="1"/>
            <p:nvPr/>
          </p:nvSpPr>
          <p:spPr>
            <a:xfrm>
              <a:off x="10316375" y="2098834"/>
              <a:ext cx="284150"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关键词</a:t>
              </a:r>
            </a:p>
          </p:txBody>
        </p:sp>
        <p:sp>
          <p:nvSpPr>
            <p:cNvPr id="84" name="Rectangle 84"/>
            <p:cNvSpPr/>
            <p:nvPr/>
          </p:nvSpPr>
          <p:spPr>
            <a:xfrm>
              <a:off x="9144000" y="2438400"/>
              <a:ext cx="209550" cy="533400"/>
            </a:xfrm>
            <a:prstGeom prst="rect">
              <a:avLst/>
            </a:prstGeom>
            <a:solidFill>
              <a:srgbClr val="E9563C"/>
            </a:solidFill>
            <a:ln>
              <a:noFill/>
            </a:ln>
          </p:spPr>
        </p:sp>
        <p:sp>
          <p:nvSpPr>
            <p:cNvPr id="85" name="TextBox 85"/>
            <p:cNvSpPr txBox="1"/>
            <p:nvPr/>
          </p:nvSpPr>
          <p:spPr>
            <a:xfrm>
              <a:off x="9198928" y="2580561"/>
              <a:ext cx="99695" cy="273844"/>
            </a:xfrm>
            <a:prstGeom prst="rect">
              <a:avLst/>
            </a:prstGeom>
            <a:noFill/>
            <a:ln>
              <a:noFill/>
            </a:ln>
          </p:spPr>
          <p:txBody>
            <a:bodyPr wrap="none" lIns="0" tIns="0" rIns="0" bIns="0" anchor="t" anchorCtr="0">
              <a:spAutoFit/>
            </a:bodyPr>
            <a:lstStyle/>
            <a:p>
              <a:pPr algn="ctr">
                <a:lnSpc>
                  <a:spcPts val="1050"/>
                </a:lnSpc>
              </a:pPr>
              <a:r>
                <a:rPr lang="zh-CN" sz="710" b="1" dirty="0">
                  <a:solidFill>
                    <a:srgbClr val="FFFFFF"/>
                  </a:solidFill>
                  <a:latin typeface="+mn-lt"/>
                  <a:ea typeface="+mn-ea"/>
                  <a:cs typeface="+mn-cs"/>
                </a:rPr>
                <a:t>私</a:t>
              </a:r>
              <a:br/>
              <a:r>
                <a:rPr lang="zh-CN" sz="710" b="1" dirty="0">
                  <a:solidFill>
                    <a:srgbClr val="FFFFFF"/>
                  </a:solidFill>
                  <a:latin typeface="+mn-lt"/>
                  <a:ea typeface="+mn-ea"/>
                  <a:cs typeface="+mn-cs"/>
                </a:rPr>
                <a:t>聊</a:t>
              </a:r>
            </a:p>
          </p:txBody>
        </p:sp>
        <p:sp>
          <p:nvSpPr>
            <p:cNvPr id="86" name="Rectangle 86"/>
            <p:cNvSpPr/>
            <p:nvPr/>
          </p:nvSpPr>
          <p:spPr>
            <a:xfrm>
              <a:off x="9429750" y="2457450"/>
              <a:ext cx="647700" cy="190500"/>
            </a:xfrm>
            <a:prstGeom prst="rect">
              <a:avLst/>
            </a:prstGeom>
            <a:solidFill>
              <a:srgbClr val="FDF6E7"/>
            </a:solidFill>
            <a:ln w="9525">
              <a:solidFill>
                <a:srgbClr val="E9563C"/>
              </a:solidFill>
            </a:ln>
          </p:spPr>
        </p:sp>
        <p:sp>
          <p:nvSpPr>
            <p:cNvPr id="87" name="TextBox 87"/>
            <p:cNvSpPr txBox="1"/>
            <p:nvPr/>
          </p:nvSpPr>
          <p:spPr>
            <a:xfrm>
              <a:off x="9565754" y="2517934"/>
              <a:ext cx="375691"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营销方案</a:t>
              </a:r>
            </a:p>
          </p:txBody>
        </p:sp>
        <p:sp>
          <p:nvSpPr>
            <p:cNvPr id="88" name="Rectangle 88"/>
            <p:cNvSpPr/>
            <p:nvPr/>
          </p:nvSpPr>
          <p:spPr>
            <a:xfrm>
              <a:off x="10134600" y="2457450"/>
              <a:ext cx="647700" cy="190500"/>
            </a:xfrm>
            <a:prstGeom prst="rect">
              <a:avLst/>
            </a:prstGeom>
            <a:solidFill>
              <a:srgbClr val="FDF6E7"/>
            </a:solidFill>
            <a:ln w="9525">
              <a:solidFill>
                <a:srgbClr val="E9563C"/>
              </a:solidFill>
            </a:ln>
          </p:spPr>
        </p:sp>
        <p:sp>
          <p:nvSpPr>
            <p:cNvPr id="89" name="TextBox 89"/>
            <p:cNvSpPr txBox="1"/>
            <p:nvPr/>
          </p:nvSpPr>
          <p:spPr>
            <a:xfrm>
              <a:off x="10362146" y="2517934"/>
              <a:ext cx="192608"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直播</a:t>
              </a:r>
            </a:p>
          </p:txBody>
        </p:sp>
        <p:sp>
          <p:nvSpPr>
            <p:cNvPr id="90" name="Rectangle 90"/>
            <p:cNvSpPr/>
            <p:nvPr/>
          </p:nvSpPr>
          <p:spPr>
            <a:xfrm>
              <a:off x="9429750" y="2724150"/>
              <a:ext cx="647700" cy="190500"/>
            </a:xfrm>
            <a:prstGeom prst="rect">
              <a:avLst/>
            </a:prstGeom>
            <a:solidFill>
              <a:srgbClr val="FDF6E7"/>
            </a:solidFill>
            <a:ln w="9525">
              <a:solidFill>
                <a:srgbClr val="E9563C"/>
              </a:solidFill>
            </a:ln>
          </p:spPr>
        </p:sp>
        <p:sp>
          <p:nvSpPr>
            <p:cNvPr id="91" name="TextBox 91"/>
            <p:cNvSpPr txBox="1"/>
            <p:nvPr/>
          </p:nvSpPr>
          <p:spPr>
            <a:xfrm>
              <a:off x="9519984" y="2784634"/>
              <a:ext cx="467233"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关键词回复</a:t>
              </a:r>
            </a:p>
          </p:txBody>
        </p:sp>
        <p:sp>
          <p:nvSpPr>
            <p:cNvPr id="92" name="Rectangle 92"/>
            <p:cNvSpPr/>
            <p:nvPr/>
          </p:nvSpPr>
          <p:spPr>
            <a:xfrm>
              <a:off x="10134600" y="2724150"/>
              <a:ext cx="647700" cy="190500"/>
            </a:xfrm>
            <a:prstGeom prst="rect">
              <a:avLst/>
            </a:prstGeom>
            <a:solidFill>
              <a:srgbClr val="FDF6E7"/>
            </a:solidFill>
            <a:ln w="9525">
              <a:solidFill>
                <a:srgbClr val="E9563C"/>
              </a:solidFill>
            </a:ln>
          </p:spPr>
        </p:sp>
        <p:sp>
          <p:nvSpPr>
            <p:cNvPr id="93" name="TextBox 93"/>
            <p:cNvSpPr txBox="1"/>
            <p:nvPr/>
          </p:nvSpPr>
          <p:spPr>
            <a:xfrm>
              <a:off x="10316375" y="2784634"/>
              <a:ext cx="284150"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话术库</a:t>
              </a:r>
            </a:p>
          </p:txBody>
        </p:sp>
      </p:grpSp>
      <p:grpSp>
        <p:nvGrpSpPr>
          <p:cNvPr id="112" name="audience-column"/>
          <p:cNvGrpSpPr/>
          <p:nvPr/>
        </p:nvGrpSpPr>
        <p:grpSpPr>
          <a:xfrm>
            <a:off x="6000750" y="3200400"/>
            <a:ext cx="914400" cy="2152650"/>
            <a:chOff x="6000750" y="3200400"/>
            <a:chExt cx="914400" cy="2152650"/>
          </a:xfrm>
        </p:grpSpPr>
        <p:sp>
          <p:nvSpPr>
            <p:cNvPr id="95" name="Rectangle 95"/>
            <p:cNvSpPr/>
            <p:nvPr/>
          </p:nvSpPr>
          <p:spPr>
            <a:xfrm>
              <a:off x="6000750" y="3200400"/>
              <a:ext cx="762000" cy="228600"/>
            </a:xfrm>
            <a:prstGeom prst="rect">
              <a:avLst/>
            </a:prstGeom>
            <a:solidFill>
              <a:srgbClr val="FFFFFF"/>
            </a:solidFill>
            <a:ln w="9525">
              <a:solidFill>
                <a:srgbClr val="BF857A"/>
              </a:solidFill>
              <a:custDash>
                <a:ds d="300000" sp="200000"/>
              </a:custDash>
            </a:ln>
          </p:spPr>
        </p:sp>
        <p:sp>
          <p:nvSpPr>
            <p:cNvPr id="96" name="TextBox 96"/>
            <p:cNvSpPr txBox="1"/>
            <p:nvPr/>
          </p:nvSpPr>
          <p:spPr>
            <a:xfrm>
              <a:off x="6185827" y="327588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整体人群</a:t>
              </a:r>
            </a:p>
          </p:txBody>
        </p:sp>
        <p:sp>
          <p:nvSpPr>
            <p:cNvPr id="97" name="Rectangle 97"/>
            <p:cNvSpPr/>
            <p:nvPr/>
          </p:nvSpPr>
          <p:spPr>
            <a:xfrm>
              <a:off x="6000750" y="3581400"/>
              <a:ext cx="762000" cy="228600"/>
            </a:xfrm>
            <a:prstGeom prst="rect">
              <a:avLst/>
            </a:prstGeom>
            <a:solidFill>
              <a:srgbClr val="FFFFFF"/>
            </a:solidFill>
            <a:ln w="9525">
              <a:solidFill>
                <a:srgbClr val="BF857A"/>
              </a:solidFill>
              <a:custDash>
                <a:ds d="300000" sp="200000"/>
              </a:custDash>
            </a:ln>
          </p:spPr>
        </p:sp>
        <p:sp>
          <p:nvSpPr>
            <p:cNvPr id="98" name="TextBox 98"/>
            <p:cNvSpPr txBox="1"/>
            <p:nvPr/>
          </p:nvSpPr>
          <p:spPr>
            <a:xfrm>
              <a:off x="6185827" y="365688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八大人群</a:t>
              </a:r>
            </a:p>
          </p:txBody>
        </p:sp>
        <p:sp>
          <p:nvSpPr>
            <p:cNvPr id="99" name="Rectangle 99"/>
            <p:cNvSpPr/>
            <p:nvPr/>
          </p:nvSpPr>
          <p:spPr>
            <a:xfrm>
              <a:off x="6000750" y="3962400"/>
              <a:ext cx="762000" cy="228600"/>
            </a:xfrm>
            <a:prstGeom prst="rect">
              <a:avLst/>
            </a:prstGeom>
            <a:solidFill>
              <a:srgbClr val="FFFFFF"/>
            </a:solidFill>
            <a:ln w="9525">
              <a:solidFill>
                <a:srgbClr val="BF857A"/>
              </a:solidFill>
              <a:custDash>
                <a:ds d="300000" sp="200000"/>
              </a:custDash>
            </a:ln>
          </p:spPr>
        </p:sp>
        <p:sp>
          <p:nvSpPr>
            <p:cNvPr id="100" name="TextBox 100"/>
            <p:cNvSpPr txBox="1"/>
            <p:nvPr/>
          </p:nvSpPr>
          <p:spPr>
            <a:xfrm>
              <a:off x="6185827" y="403788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消费偏好</a:t>
              </a:r>
            </a:p>
          </p:txBody>
        </p:sp>
        <p:sp>
          <p:nvSpPr>
            <p:cNvPr id="101" name="Rectangle 101"/>
            <p:cNvSpPr/>
            <p:nvPr/>
          </p:nvSpPr>
          <p:spPr>
            <a:xfrm>
              <a:off x="6000750" y="4343400"/>
              <a:ext cx="762000" cy="228600"/>
            </a:xfrm>
            <a:prstGeom prst="rect">
              <a:avLst/>
            </a:prstGeom>
            <a:solidFill>
              <a:srgbClr val="FFFFFF"/>
            </a:solidFill>
            <a:ln w="9525">
              <a:solidFill>
                <a:srgbClr val="BF857A"/>
              </a:solidFill>
              <a:custDash>
                <a:ds d="300000" sp="200000"/>
              </a:custDash>
            </a:ln>
          </p:spPr>
        </p:sp>
        <p:sp>
          <p:nvSpPr>
            <p:cNvPr id="102" name="TextBox 102"/>
            <p:cNvSpPr txBox="1"/>
            <p:nvPr/>
          </p:nvSpPr>
          <p:spPr>
            <a:xfrm>
              <a:off x="6185827" y="441888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先锋程度</a:t>
              </a:r>
            </a:p>
          </p:txBody>
        </p:sp>
        <p:sp>
          <p:nvSpPr>
            <p:cNvPr id="103" name="Rectangle 103"/>
            <p:cNvSpPr/>
            <p:nvPr/>
          </p:nvSpPr>
          <p:spPr>
            <a:xfrm>
              <a:off x="6019800" y="4648200"/>
              <a:ext cx="209550" cy="400050"/>
            </a:xfrm>
            <a:prstGeom prst="rect">
              <a:avLst/>
            </a:prstGeom>
            <a:solidFill>
              <a:srgbClr val="9C594C"/>
            </a:solidFill>
            <a:ln>
              <a:noFill/>
            </a:ln>
          </p:spPr>
        </p:sp>
        <p:sp>
          <p:nvSpPr>
            <p:cNvPr id="104" name="TextBox 104"/>
            <p:cNvSpPr txBox="1"/>
            <p:nvPr/>
          </p:nvSpPr>
          <p:spPr>
            <a:xfrm>
              <a:off x="6081712" y="4716780"/>
              <a:ext cx="8572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FFFFFF"/>
                  </a:solidFill>
                  <a:latin typeface="+mn-lt"/>
                  <a:ea typeface="+mn-ea"/>
                  <a:cs typeface="+mn-cs"/>
                </a:rPr>
                <a:t>先</a:t>
              </a:r>
              <a:br/>
              <a:r>
                <a:rPr lang="zh-CN" sz="600" dirty="0">
                  <a:solidFill>
                    <a:srgbClr val="FFFFFF"/>
                  </a:solidFill>
                  <a:latin typeface="+mn-lt"/>
                  <a:ea typeface="+mn-ea"/>
                  <a:cs typeface="+mn-cs"/>
                </a:rPr>
                <a:t>锋</a:t>
              </a:r>
              <a:br/>
              <a:r>
                <a:rPr lang="zh-CN" sz="600" dirty="0">
                  <a:solidFill>
                    <a:srgbClr val="FFFFFF"/>
                  </a:solidFill>
                  <a:latin typeface="+mn-lt"/>
                  <a:ea typeface="+mn-ea"/>
                  <a:cs typeface="+mn-cs"/>
                </a:rPr>
                <a:t>者</a:t>
              </a:r>
            </a:p>
          </p:txBody>
        </p:sp>
        <p:sp>
          <p:nvSpPr>
            <p:cNvPr id="105" name="Rectangle 105"/>
            <p:cNvSpPr/>
            <p:nvPr/>
          </p:nvSpPr>
          <p:spPr>
            <a:xfrm>
              <a:off x="6267450" y="4648200"/>
              <a:ext cx="209550" cy="400050"/>
            </a:xfrm>
            <a:prstGeom prst="rect">
              <a:avLst/>
            </a:prstGeom>
            <a:solidFill>
              <a:srgbClr val="E9563C"/>
            </a:solidFill>
            <a:ln>
              <a:noFill/>
            </a:ln>
          </p:spPr>
        </p:sp>
        <p:sp>
          <p:nvSpPr>
            <p:cNvPr id="106" name="TextBox 106"/>
            <p:cNvSpPr txBox="1"/>
            <p:nvPr/>
          </p:nvSpPr>
          <p:spPr>
            <a:xfrm>
              <a:off x="6329362" y="4716780"/>
              <a:ext cx="8572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FFFFFF"/>
                  </a:solidFill>
                  <a:latin typeface="+mn-lt"/>
                  <a:ea typeface="+mn-ea"/>
                  <a:cs typeface="+mn-cs"/>
                </a:rPr>
                <a:t>采</a:t>
              </a:r>
              <a:br/>
              <a:r>
                <a:rPr lang="zh-CN" sz="600" dirty="0">
                  <a:solidFill>
                    <a:srgbClr val="FFFFFF"/>
                  </a:solidFill>
                  <a:latin typeface="+mn-lt"/>
                  <a:ea typeface="+mn-ea"/>
                  <a:cs typeface="+mn-cs"/>
                </a:rPr>
                <a:t>用</a:t>
              </a:r>
              <a:br/>
              <a:r>
                <a:rPr lang="zh-CN" sz="600" dirty="0">
                  <a:solidFill>
                    <a:srgbClr val="FFFFFF"/>
                  </a:solidFill>
                  <a:latin typeface="+mn-lt"/>
                  <a:ea typeface="+mn-ea"/>
                  <a:cs typeface="+mn-cs"/>
                </a:rPr>
                <a:t>者</a:t>
              </a:r>
            </a:p>
          </p:txBody>
        </p:sp>
        <p:sp>
          <p:nvSpPr>
            <p:cNvPr id="107" name="Rectangle 107"/>
            <p:cNvSpPr/>
            <p:nvPr/>
          </p:nvSpPr>
          <p:spPr>
            <a:xfrm>
              <a:off x="6515100" y="4648200"/>
              <a:ext cx="209550" cy="400050"/>
            </a:xfrm>
            <a:prstGeom prst="rect">
              <a:avLst/>
            </a:prstGeom>
            <a:solidFill>
              <a:srgbClr val="F06A52"/>
            </a:solidFill>
            <a:ln>
              <a:noFill/>
            </a:ln>
          </p:spPr>
        </p:sp>
        <p:sp>
          <p:nvSpPr>
            <p:cNvPr id="108" name="TextBox 108"/>
            <p:cNvSpPr txBox="1"/>
            <p:nvPr/>
          </p:nvSpPr>
          <p:spPr>
            <a:xfrm>
              <a:off x="6577012" y="4716780"/>
              <a:ext cx="85725" cy="328612"/>
            </a:xfrm>
            <a:prstGeom prst="rect">
              <a:avLst/>
            </a:prstGeom>
            <a:noFill/>
            <a:ln>
              <a:noFill/>
            </a:ln>
          </p:spPr>
          <p:txBody>
            <a:bodyPr wrap="none" lIns="0" tIns="0" rIns="0" bIns="0" anchor="t" anchorCtr="0">
              <a:spAutoFit/>
            </a:bodyPr>
            <a:lstStyle/>
            <a:p>
              <a:pPr algn="ctr">
                <a:lnSpc>
                  <a:spcPts val="825"/>
                </a:lnSpc>
              </a:pPr>
              <a:r>
                <a:rPr lang="zh-CN" sz="600" dirty="0">
                  <a:solidFill>
                    <a:srgbClr val="FFFFFF"/>
                  </a:solidFill>
                  <a:latin typeface="+mn-lt"/>
                  <a:ea typeface="+mn-ea"/>
                  <a:cs typeface="+mn-cs"/>
                </a:rPr>
                <a:t>保</a:t>
              </a:r>
              <a:br/>
              <a:r>
                <a:rPr lang="zh-CN" sz="600" dirty="0">
                  <a:solidFill>
                    <a:srgbClr val="FFFFFF"/>
                  </a:solidFill>
                  <a:latin typeface="+mn-lt"/>
                  <a:ea typeface="+mn-ea"/>
                  <a:cs typeface="+mn-cs"/>
                </a:rPr>
                <a:t>守</a:t>
              </a:r>
              <a:br/>
              <a:r>
                <a:rPr lang="zh-CN" sz="600" dirty="0">
                  <a:solidFill>
                    <a:srgbClr val="FFFFFF"/>
                  </a:solidFill>
                  <a:latin typeface="+mn-lt"/>
                  <a:ea typeface="+mn-ea"/>
                  <a:cs typeface="+mn-cs"/>
                </a:rPr>
                <a:t>者</a:t>
              </a:r>
            </a:p>
          </p:txBody>
        </p:sp>
        <p:sp>
          <p:nvSpPr>
            <p:cNvPr id="109" name="Freeform 109"/>
            <p:cNvSpPr/>
            <p:nvPr/>
          </p:nvSpPr>
          <p:spPr>
            <a:xfrm>
              <a:off x="6667500" y="4724400"/>
              <a:ext cx="247650" cy="209550"/>
            </a:xfrm>
            <a:prstGeom prst="rightArrow">
              <a:avLst/>
            </a:prstGeom>
            <a:solidFill>
              <a:srgbClr val="E9563C"/>
            </a:solidFill>
            <a:ln>
              <a:noFill/>
            </a:ln>
          </p:spPr>
        </p:sp>
        <p:sp>
          <p:nvSpPr>
            <p:cNvPr id="110" name="Rectangle 110"/>
            <p:cNvSpPr/>
            <p:nvPr/>
          </p:nvSpPr>
          <p:spPr>
            <a:xfrm>
              <a:off x="6000750" y="5124450"/>
              <a:ext cx="762000" cy="228600"/>
            </a:xfrm>
            <a:prstGeom prst="rect">
              <a:avLst/>
            </a:prstGeom>
            <a:solidFill>
              <a:srgbClr val="FFFFFF"/>
            </a:solidFill>
            <a:ln w="9525">
              <a:solidFill>
                <a:srgbClr val="BF857A"/>
              </a:solidFill>
              <a:custDash>
                <a:ds d="300000" sp="200000"/>
              </a:custDash>
            </a:ln>
          </p:spPr>
        </p:sp>
        <p:sp>
          <p:nvSpPr>
            <p:cNvPr id="111" name="TextBox 111"/>
            <p:cNvSpPr txBox="1"/>
            <p:nvPr/>
          </p:nvSpPr>
          <p:spPr>
            <a:xfrm>
              <a:off x="6102363" y="5203984"/>
              <a:ext cx="558775" cy="133350"/>
            </a:xfrm>
            <a:prstGeom prst="rect">
              <a:avLst/>
            </a:prstGeom>
            <a:noFill/>
            <a:ln>
              <a:noFill/>
            </a:ln>
          </p:spPr>
          <p:txBody>
            <a:bodyPr wrap="none" lIns="0" tIns="0" rIns="0" bIns="0" anchor="t" anchorCtr="0">
              <a:spAutoFit/>
            </a:bodyPr>
            <a:lstStyle/>
            <a:p>
              <a:pPr algn="ctr"/>
              <a:r>
                <a:rPr lang="zh-CN" sz="680" dirty="0">
                  <a:solidFill>
                    <a:srgbClr val="7A3E33"/>
                  </a:solidFill>
                  <a:latin typeface="+mn-lt"/>
                  <a:ea typeface="+mn-ea"/>
                  <a:cs typeface="+mn-cs"/>
                </a:rPr>
                <a:t>交叉圈选人群</a:t>
              </a:r>
            </a:p>
          </p:txBody>
        </p:sp>
      </p:grpSp>
      <p:grpSp>
        <p:nvGrpSpPr>
          <p:cNvPr id="164" name="trend-chart-card"/>
          <p:cNvGrpSpPr/>
          <p:nvPr/>
        </p:nvGrpSpPr>
        <p:grpSpPr>
          <a:xfrm>
            <a:off x="6972300" y="3143250"/>
            <a:ext cx="4838700" cy="2247900"/>
            <a:chOff x="6972300" y="3143250"/>
            <a:chExt cx="4838700" cy="2247900"/>
          </a:xfrm>
        </p:grpSpPr>
        <p:sp>
          <p:nvSpPr>
            <p:cNvPr id="113" name="Rectangle 113"/>
            <p:cNvSpPr/>
            <p:nvPr/>
          </p:nvSpPr>
          <p:spPr>
            <a:xfrm>
              <a:off x="6972300" y="3143250"/>
              <a:ext cx="4838700" cy="2247900"/>
            </a:xfrm>
            <a:prstGeom prst="rect">
              <a:avLst/>
            </a:prstGeom>
            <a:solidFill>
              <a:srgbClr val="FFFFFF"/>
            </a:solidFill>
            <a:ln w="11430">
              <a:solidFill>
                <a:srgbClr val="E9563C"/>
              </a:solidFill>
              <a:custDash>
                <a:ds d="416667" sp="250000"/>
              </a:custDash>
            </a:ln>
          </p:spPr>
        </p:sp>
        <p:sp>
          <p:nvSpPr>
            <p:cNvPr id="114" name="Line 114"/>
            <p:cNvSpPr/>
            <p:nvPr/>
          </p:nvSpPr>
          <p:spPr>
            <a:xfrm>
              <a:off x="7334250" y="3619500"/>
              <a:ext cx="2571750" cy="9525"/>
            </a:xfrm>
            <a:custGeom>
              <a:avLst/>
              <a:gdLst/>
              <a:ahLst/>
              <a:cxnLst/>
              <a:rect l="l" t="t" r="r" b="b"/>
              <a:pathLst>
                <a:path w="2571750" h="9525">
                  <a:moveTo>
                    <a:pt x="0" y="0"/>
                  </a:moveTo>
                  <a:lnTo>
                    <a:pt x="2571750" y="0"/>
                  </a:lnTo>
                </a:path>
              </a:pathLst>
            </a:custGeom>
            <a:noFill/>
            <a:ln w="9525">
              <a:solidFill>
                <a:srgbClr val="EEF1EC"/>
              </a:solidFill>
            </a:ln>
          </p:spPr>
        </p:sp>
        <p:sp>
          <p:nvSpPr>
            <p:cNvPr id="115" name="Line 115"/>
            <p:cNvSpPr/>
            <p:nvPr/>
          </p:nvSpPr>
          <p:spPr>
            <a:xfrm>
              <a:off x="7334250" y="3905250"/>
              <a:ext cx="2571750" cy="9525"/>
            </a:xfrm>
            <a:custGeom>
              <a:avLst/>
              <a:gdLst/>
              <a:ahLst/>
              <a:cxnLst/>
              <a:rect l="l" t="t" r="r" b="b"/>
              <a:pathLst>
                <a:path w="2571750" h="9525">
                  <a:moveTo>
                    <a:pt x="0" y="0"/>
                  </a:moveTo>
                  <a:lnTo>
                    <a:pt x="2571750" y="0"/>
                  </a:lnTo>
                </a:path>
              </a:pathLst>
            </a:custGeom>
            <a:noFill/>
            <a:ln w="9525">
              <a:solidFill>
                <a:srgbClr val="EEF1EC"/>
              </a:solidFill>
            </a:ln>
          </p:spPr>
        </p:sp>
        <p:sp>
          <p:nvSpPr>
            <p:cNvPr id="116" name="Line 116"/>
            <p:cNvSpPr/>
            <p:nvPr/>
          </p:nvSpPr>
          <p:spPr>
            <a:xfrm>
              <a:off x="7334250" y="4191000"/>
              <a:ext cx="2571750" cy="9525"/>
            </a:xfrm>
            <a:custGeom>
              <a:avLst/>
              <a:gdLst/>
              <a:ahLst/>
              <a:cxnLst/>
              <a:rect l="l" t="t" r="r" b="b"/>
              <a:pathLst>
                <a:path w="2571750" h="9525">
                  <a:moveTo>
                    <a:pt x="0" y="0"/>
                  </a:moveTo>
                  <a:lnTo>
                    <a:pt x="2571750" y="0"/>
                  </a:lnTo>
                </a:path>
              </a:pathLst>
            </a:custGeom>
            <a:noFill/>
            <a:ln w="9525">
              <a:solidFill>
                <a:srgbClr val="EEF1EC"/>
              </a:solidFill>
            </a:ln>
          </p:spPr>
        </p:sp>
        <p:sp>
          <p:nvSpPr>
            <p:cNvPr id="117" name="Line 117"/>
            <p:cNvSpPr/>
            <p:nvPr/>
          </p:nvSpPr>
          <p:spPr>
            <a:xfrm>
              <a:off x="7334250" y="4476750"/>
              <a:ext cx="2571750" cy="9525"/>
            </a:xfrm>
            <a:custGeom>
              <a:avLst/>
              <a:gdLst/>
              <a:ahLst/>
              <a:cxnLst/>
              <a:rect l="l" t="t" r="r" b="b"/>
              <a:pathLst>
                <a:path w="2571750" h="9525">
                  <a:moveTo>
                    <a:pt x="0" y="0"/>
                  </a:moveTo>
                  <a:lnTo>
                    <a:pt x="2571750" y="0"/>
                  </a:lnTo>
                </a:path>
              </a:pathLst>
            </a:custGeom>
            <a:noFill/>
            <a:ln w="9525">
              <a:solidFill>
                <a:srgbClr val="EEF1EC"/>
              </a:solidFill>
            </a:ln>
          </p:spPr>
        </p:sp>
        <p:sp>
          <p:nvSpPr>
            <p:cNvPr id="118" name="Line 118"/>
            <p:cNvSpPr/>
            <p:nvPr/>
          </p:nvSpPr>
          <p:spPr>
            <a:xfrm>
              <a:off x="7334250" y="4762500"/>
              <a:ext cx="2571750" cy="9525"/>
            </a:xfrm>
            <a:custGeom>
              <a:avLst/>
              <a:gdLst/>
              <a:ahLst/>
              <a:cxnLst/>
              <a:rect l="l" t="t" r="r" b="b"/>
              <a:pathLst>
                <a:path w="2571750" h="9525">
                  <a:moveTo>
                    <a:pt x="0" y="0"/>
                  </a:moveTo>
                  <a:lnTo>
                    <a:pt x="2571750" y="0"/>
                  </a:lnTo>
                </a:path>
              </a:pathLst>
            </a:custGeom>
            <a:noFill/>
            <a:ln w="9525">
              <a:solidFill>
                <a:srgbClr val="EEF1EC"/>
              </a:solidFill>
            </a:ln>
          </p:spPr>
        </p:sp>
        <p:sp>
          <p:nvSpPr>
            <p:cNvPr id="119" name="Line 119"/>
            <p:cNvSpPr/>
            <p:nvPr/>
          </p:nvSpPr>
          <p:spPr>
            <a:xfrm>
              <a:off x="7334250" y="5048250"/>
              <a:ext cx="2571750" cy="9525"/>
            </a:xfrm>
            <a:custGeom>
              <a:avLst/>
              <a:gdLst/>
              <a:ahLst/>
              <a:cxnLst/>
              <a:rect l="l" t="t" r="r" b="b"/>
              <a:pathLst>
                <a:path w="2571750" h="9525">
                  <a:moveTo>
                    <a:pt x="0" y="0"/>
                  </a:moveTo>
                  <a:lnTo>
                    <a:pt x="2571750" y="0"/>
                  </a:lnTo>
                </a:path>
              </a:pathLst>
            </a:custGeom>
            <a:noFill/>
            <a:ln w="9525">
              <a:solidFill>
                <a:srgbClr val="C9CFC6"/>
              </a:solidFill>
            </a:ln>
          </p:spPr>
        </p:sp>
        <p:sp>
          <p:nvSpPr>
            <p:cNvPr id="120" name="TextBox 120"/>
            <p:cNvSpPr txBox="1"/>
            <p:nvPr/>
          </p:nvSpPr>
          <p:spPr>
            <a:xfrm>
              <a:off x="7152592" y="3584734"/>
              <a:ext cx="110221"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20</a:t>
              </a:r>
            </a:p>
          </p:txBody>
        </p:sp>
        <p:sp>
          <p:nvSpPr>
            <p:cNvPr id="121" name="TextBox 121"/>
            <p:cNvSpPr txBox="1"/>
            <p:nvPr/>
          </p:nvSpPr>
          <p:spPr>
            <a:xfrm>
              <a:off x="7152592" y="3870484"/>
              <a:ext cx="110221"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18</a:t>
              </a:r>
            </a:p>
          </p:txBody>
        </p:sp>
        <p:sp>
          <p:nvSpPr>
            <p:cNvPr id="122" name="TextBox 122"/>
            <p:cNvSpPr txBox="1"/>
            <p:nvPr/>
          </p:nvSpPr>
          <p:spPr>
            <a:xfrm>
              <a:off x="7152592" y="4156234"/>
              <a:ext cx="110221"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16</a:t>
              </a:r>
            </a:p>
          </p:txBody>
        </p:sp>
        <p:sp>
          <p:nvSpPr>
            <p:cNvPr id="123" name="TextBox 123"/>
            <p:cNvSpPr txBox="1"/>
            <p:nvPr/>
          </p:nvSpPr>
          <p:spPr>
            <a:xfrm>
              <a:off x="7152592" y="4441984"/>
              <a:ext cx="110221"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14</a:t>
              </a:r>
            </a:p>
          </p:txBody>
        </p:sp>
        <p:sp>
          <p:nvSpPr>
            <p:cNvPr id="124" name="TextBox 124"/>
            <p:cNvSpPr txBox="1"/>
            <p:nvPr/>
          </p:nvSpPr>
          <p:spPr>
            <a:xfrm>
              <a:off x="7152592" y="4727734"/>
              <a:ext cx="110221"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12</a:t>
              </a:r>
            </a:p>
          </p:txBody>
        </p:sp>
        <p:sp>
          <p:nvSpPr>
            <p:cNvPr id="125" name="TextBox 125"/>
            <p:cNvSpPr txBox="1"/>
            <p:nvPr/>
          </p:nvSpPr>
          <p:spPr>
            <a:xfrm>
              <a:off x="7152592" y="5013484"/>
              <a:ext cx="110221"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10</a:t>
              </a:r>
            </a:p>
          </p:txBody>
        </p:sp>
        <p:sp>
          <p:nvSpPr>
            <p:cNvPr id="126" name="Polyline 126"/>
            <p:cNvSpPr/>
            <p:nvPr/>
          </p:nvSpPr>
          <p:spPr>
            <a:xfrm>
              <a:off x="7524750" y="3762375"/>
              <a:ext cx="2286000" cy="781050"/>
            </a:xfrm>
            <a:custGeom>
              <a:avLst/>
              <a:gdLst/>
              <a:ahLst/>
              <a:cxnLst/>
              <a:rect l="l" t="t" r="r" b="b"/>
              <a:pathLst>
                <a:path w="2286000" h="781050">
                  <a:moveTo>
                    <a:pt x="0" y="781050"/>
                  </a:moveTo>
                  <a:lnTo>
                    <a:pt x="381000" y="171450"/>
                  </a:lnTo>
                  <a:lnTo>
                    <a:pt x="762000" y="0"/>
                  </a:lnTo>
                  <a:lnTo>
                    <a:pt x="1143000" y="361950"/>
                  </a:lnTo>
                  <a:lnTo>
                    <a:pt x="1524000" y="142875"/>
                  </a:lnTo>
                  <a:lnTo>
                    <a:pt x="1905000" y="0"/>
                  </a:lnTo>
                  <a:lnTo>
                    <a:pt x="2286000" y="219075"/>
                  </a:lnTo>
                </a:path>
              </a:pathLst>
            </a:custGeom>
            <a:noFill/>
            <a:ln w="14288">
              <a:solidFill>
                <a:srgbClr val="7A392C"/>
              </a:solidFill>
            </a:ln>
          </p:spPr>
        </p:sp>
        <p:sp>
          <p:nvSpPr>
            <p:cNvPr id="127" name="Polyline 127"/>
            <p:cNvSpPr/>
            <p:nvPr/>
          </p:nvSpPr>
          <p:spPr>
            <a:xfrm>
              <a:off x="7524750" y="3829050"/>
              <a:ext cx="2286000" cy="962025"/>
            </a:xfrm>
            <a:custGeom>
              <a:avLst/>
              <a:gdLst/>
              <a:ahLst/>
              <a:cxnLst/>
              <a:rect l="l" t="t" r="r" b="b"/>
              <a:pathLst>
                <a:path w="2286000" h="962025">
                  <a:moveTo>
                    <a:pt x="0" y="933450"/>
                  </a:moveTo>
                  <a:lnTo>
                    <a:pt x="381000" y="219075"/>
                  </a:lnTo>
                  <a:lnTo>
                    <a:pt x="762000" y="0"/>
                  </a:lnTo>
                  <a:lnTo>
                    <a:pt x="1143000" y="762000"/>
                  </a:lnTo>
                  <a:lnTo>
                    <a:pt x="1524000" y="933450"/>
                  </a:lnTo>
                  <a:lnTo>
                    <a:pt x="1905000" y="962025"/>
                  </a:lnTo>
                  <a:lnTo>
                    <a:pt x="2286000" y="933450"/>
                  </a:lnTo>
                </a:path>
              </a:pathLst>
            </a:custGeom>
            <a:noFill/>
            <a:ln w="14288">
              <a:solidFill>
                <a:srgbClr val="E9563C"/>
              </a:solidFill>
              <a:custDash>
                <a:ds d="266667" sp="200000"/>
              </a:custDash>
            </a:ln>
          </p:spPr>
        </p:sp>
        <p:sp>
          <p:nvSpPr>
            <p:cNvPr id="128" name="Ellipse 128"/>
            <p:cNvSpPr/>
            <p:nvPr/>
          </p:nvSpPr>
          <p:spPr>
            <a:xfrm>
              <a:off x="7496175" y="4514850"/>
              <a:ext cx="57150" cy="57150"/>
            </a:xfrm>
            <a:prstGeom prst="ellipse">
              <a:avLst/>
            </a:prstGeom>
            <a:solidFill>
              <a:srgbClr val="FFFFFF"/>
            </a:solidFill>
            <a:ln w="11430">
              <a:solidFill>
                <a:srgbClr val="7A392C"/>
              </a:solidFill>
            </a:ln>
          </p:spPr>
        </p:sp>
        <p:sp>
          <p:nvSpPr>
            <p:cNvPr id="129" name="Ellipse 129"/>
            <p:cNvSpPr/>
            <p:nvPr/>
          </p:nvSpPr>
          <p:spPr>
            <a:xfrm>
              <a:off x="7877175" y="3905250"/>
              <a:ext cx="57150" cy="57150"/>
            </a:xfrm>
            <a:prstGeom prst="ellipse">
              <a:avLst/>
            </a:prstGeom>
            <a:solidFill>
              <a:srgbClr val="FFFFFF"/>
            </a:solidFill>
            <a:ln w="11430">
              <a:solidFill>
                <a:srgbClr val="7A392C"/>
              </a:solidFill>
            </a:ln>
          </p:spPr>
        </p:sp>
        <p:sp>
          <p:nvSpPr>
            <p:cNvPr id="130" name="Ellipse 130"/>
            <p:cNvSpPr/>
            <p:nvPr/>
          </p:nvSpPr>
          <p:spPr>
            <a:xfrm>
              <a:off x="8258175" y="3733800"/>
              <a:ext cx="57150" cy="57150"/>
            </a:xfrm>
            <a:prstGeom prst="ellipse">
              <a:avLst/>
            </a:prstGeom>
            <a:solidFill>
              <a:srgbClr val="FFFFFF"/>
            </a:solidFill>
            <a:ln w="11430">
              <a:solidFill>
                <a:srgbClr val="7A392C"/>
              </a:solidFill>
            </a:ln>
          </p:spPr>
        </p:sp>
        <p:sp>
          <p:nvSpPr>
            <p:cNvPr id="131" name="Ellipse 131"/>
            <p:cNvSpPr/>
            <p:nvPr/>
          </p:nvSpPr>
          <p:spPr>
            <a:xfrm>
              <a:off x="8639175" y="4095750"/>
              <a:ext cx="57150" cy="57150"/>
            </a:xfrm>
            <a:prstGeom prst="ellipse">
              <a:avLst/>
            </a:prstGeom>
            <a:solidFill>
              <a:srgbClr val="FFFFFF"/>
            </a:solidFill>
            <a:ln w="11430">
              <a:solidFill>
                <a:srgbClr val="7A392C"/>
              </a:solidFill>
            </a:ln>
          </p:spPr>
        </p:sp>
        <p:sp>
          <p:nvSpPr>
            <p:cNvPr id="132" name="Ellipse 132"/>
            <p:cNvSpPr/>
            <p:nvPr/>
          </p:nvSpPr>
          <p:spPr>
            <a:xfrm>
              <a:off x="9020175" y="3876675"/>
              <a:ext cx="57150" cy="57150"/>
            </a:xfrm>
            <a:prstGeom prst="ellipse">
              <a:avLst/>
            </a:prstGeom>
            <a:solidFill>
              <a:srgbClr val="FFFFFF"/>
            </a:solidFill>
            <a:ln w="11430">
              <a:solidFill>
                <a:srgbClr val="7A392C"/>
              </a:solidFill>
            </a:ln>
          </p:spPr>
        </p:sp>
        <p:sp>
          <p:nvSpPr>
            <p:cNvPr id="133" name="Ellipse 133"/>
            <p:cNvSpPr/>
            <p:nvPr/>
          </p:nvSpPr>
          <p:spPr>
            <a:xfrm>
              <a:off x="9401175" y="3733800"/>
              <a:ext cx="57150" cy="57150"/>
            </a:xfrm>
            <a:prstGeom prst="ellipse">
              <a:avLst/>
            </a:prstGeom>
            <a:solidFill>
              <a:srgbClr val="FFFFFF"/>
            </a:solidFill>
            <a:ln w="11430">
              <a:solidFill>
                <a:srgbClr val="7A392C"/>
              </a:solidFill>
            </a:ln>
          </p:spPr>
        </p:sp>
        <p:sp>
          <p:nvSpPr>
            <p:cNvPr id="134" name="Ellipse 134"/>
            <p:cNvSpPr/>
            <p:nvPr/>
          </p:nvSpPr>
          <p:spPr>
            <a:xfrm>
              <a:off x="9782175" y="3952875"/>
              <a:ext cx="57150" cy="57150"/>
            </a:xfrm>
            <a:prstGeom prst="ellipse">
              <a:avLst/>
            </a:prstGeom>
            <a:solidFill>
              <a:srgbClr val="FFFFFF"/>
            </a:solidFill>
            <a:ln w="11430">
              <a:solidFill>
                <a:srgbClr val="7A392C"/>
              </a:solidFill>
            </a:ln>
          </p:spPr>
        </p:sp>
        <p:sp>
          <p:nvSpPr>
            <p:cNvPr id="135" name="Ellipse 135"/>
            <p:cNvSpPr/>
            <p:nvPr/>
          </p:nvSpPr>
          <p:spPr>
            <a:xfrm>
              <a:off x="7496175" y="4733925"/>
              <a:ext cx="57150" cy="57150"/>
            </a:xfrm>
            <a:prstGeom prst="ellipse">
              <a:avLst/>
            </a:prstGeom>
            <a:solidFill>
              <a:srgbClr val="FFFFFF"/>
            </a:solidFill>
            <a:ln w="11430">
              <a:solidFill>
                <a:srgbClr val="E9563C"/>
              </a:solidFill>
            </a:ln>
          </p:spPr>
        </p:sp>
        <p:sp>
          <p:nvSpPr>
            <p:cNvPr id="136" name="Ellipse 136"/>
            <p:cNvSpPr/>
            <p:nvPr/>
          </p:nvSpPr>
          <p:spPr>
            <a:xfrm>
              <a:off x="7877175" y="4019550"/>
              <a:ext cx="57150" cy="57150"/>
            </a:xfrm>
            <a:prstGeom prst="ellipse">
              <a:avLst/>
            </a:prstGeom>
            <a:solidFill>
              <a:srgbClr val="FFFFFF"/>
            </a:solidFill>
            <a:ln w="11430">
              <a:solidFill>
                <a:srgbClr val="E9563C"/>
              </a:solidFill>
            </a:ln>
          </p:spPr>
        </p:sp>
        <p:sp>
          <p:nvSpPr>
            <p:cNvPr id="137" name="Ellipse 137"/>
            <p:cNvSpPr/>
            <p:nvPr/>
          </p:nvSpPr>
          <p:spPr>
            <a:xfrm>
              <a:off x="8258175" y="3800475"/>
              <a:ext cx="57150" cy="57150"/>
            </a:xfrm>
            <a:prstGeom prst="ellipse">
              <a:avLst/>
            </a:prstGeom>
            <a:solidFill>
              <a:srgbClr val="FFFFFF"/>
            </a:solidFill>
            <a:ln w="11430">
              <a:solidFill>
                <a:srgbClr val="E9563C"/>
              </a:solidFill>
            </a:ln>
          </p:spPr>
        </p:sp>
        <p:sp>
          <p:nvSpPr>
            <p:cNvPr id="138" name="Ellipse 138"/>
            <p:cNvSpPr/>
            <p:nvPr/>
          </p:nvSpPr>
          <p:spPr>
            <a:xfrm>
              <a:off x="8639175" y="4562475"/>
              <a:ext cx="57150" cy="57150"/>
            </a:xfrm>
            <a:prstGeom prst="ellipse">
              <a:avLst/>
            </a:prstGeom>
            <a:solidFill>
              <a:srgbClr val="FFFFFF"/>
            </a:solidFill>
            <a:ln w="11430">
              <a:solidFill>
                <a:srgbClr val="E9563C"/>
              </a:solidFill>
            </a:ln>
          </p:spPr>
        </p:sp>
        <p:sp>
          <p:nvSpPr>
            <p:cNvPr id="139" name="Ellipse 139"/>
            <p:cNvSpPr/>
            <p:nvPr/>
          </p:nvSpPr>
          <p:spPr>
            <a:xfrm>
              <a:off x="9020175" y="4733925"/>
              <a:ext cx="57150" cy="57150"/>
            </a:xfrm>
            <a:prstGeom prst="ellipse">
              <a:avLst/>
            </a:prstGeom>
            <a:solidFill>
              <a:srgbClr val="FFFFFF"/>
            </a:solidFill>
            <a:ln w="11430">
              <a:solidFill>
                <a:srgbClr val="E9563C"/>
              </a:solidFill>
            </a:ln>
          </p:spPr>
        </p:sp>
        <p:sp>
          <p:nvSpPr>
            <p:cNvPr id="140" name="Ellipse 140"/>
            <p:cNvSpPr/>
            <p:nvPr/>
          </p:nvSpPr>
          <p:spPr>
            <a:xfrm>
              <a:off x="9401175" y="4762500"/>
              <a:ext cx="57150" cy="57150"/>
            </a:xfrm>
            <a:prstGeom prst="ellipse">
              <a:avLst/>
            </a:prstGeom>
            <a:solidFill>
              <a:srgbClr val="FFFFFF"/>
            </a:solidFill>
            <a:ln w="11430">
              <a:solidFill>
                <a:srgbClr val="E9563C"/>
              </a:solidFill>
            </a:ln>
          </p:spPr>
        </p:sp>
        <p:sp>
          <p:nvSpPr>
            <p:cNvPr id="141" name="Ellipse 141"/>
            <p:cNvSpPr/>
            <p:nvPr/>
          </p:nvSpPr>
          <p:spPr>
            <a:xfrm>
              <a:off x="9782175" y="4733925"/>
              <a:ext cx="57150" cy="57150"/>
            </a:xfrm>
            <a:prstGeom prst="ellipse">
              <a:avLst/>
            </a:prstGeom>
            <a:solidFill>
              <a:srgbClr val="FFFFFF"/>
            </a:solidFill>
            <a:ln w="11430">
              <a:solidFill>
                <a:srgbClr val="E9563C"/>
              </a:solidFill>
            </a:ln>
          </p:spPr>
        </p:sp>
        <p:sp>
          <p:nvSpPr>
            <p:cNvPr id="142" name="Ellipse 142"/>
            <p:cNvSpPr/>
            <p:nvPr/>
          </p:nvSpPr>
          <p:spPr>
            <a:xfrm>
              <a:off x="8201025" y="3457575"/>
              <a:ext cx="171450" cy="171450"/>
            </a:xfrm>
            <a:prstGeom prst="ellipse">
              <a:avLst/>
            </a:prstGeom>
            <a:solidFill>
              <a:srgbClr val="FFFFFF"/>
            </a:solidFill>
            <a:ln w="14288">
              <a:solidFill>
                <a:srgbClr val="9C594C"/>
              </a:solidFill>
            </a:ln>
          </p:spPr>
        </p:sp>
        <p:sp>
          <p:nvSpPr>
            <p:cNvPr id="143" name="TextBox 143"/>
            <p:cNvSpPr txBox="1"/>
            <p:nvPr/>
          </p:nvSpPr>
          <p:spPr>
            <a:xfrm>
              <a:off x="8254389" y="3504486"/>
              <a:ext cx="64723" cy="140494"/>
            </a:xfrm>
            <a:prstGeom prst="rect">
              <a:avLst/>
            </a:prstGeom>
            <a:noFill/>
            <a:ln>
              <a:noFill/>
            </a:ln>
          </p:spPr>
          <p:txBody>
            <a:bodyPr wrap="none" lIns="0" tIns="0" rIns="0" bIns="0" anchor="t" anchorCtr="0">
              <a:spAutoFit/>
            </a:bodyPr>
            <a:lstStyle/>
            <a:p>
              <a:pPr algn="ctr"/>
              <a:r>
                <a:rPr lang="zh-CN" sz="710" b="1" dirty="0">
                  <a:solidFill>
                    <a:srgbClr val="7A3E33"/>
                  </a:solidFill>
                  <a:latin typeface="+mn-lt"/>
                  <a:ea typeface="+mn-ea"/>
                  <a:cs typeface="+mn-cs"/>
                </a:rPr>
                <a:t>1</a:t>
              </a:r>
            </a:p>
          </p:txBody>
        </p:sp>
        <p:sp>
          <p:nvSpPr>
            <p:cNvPr id="144" name="Ellipse 144"/>
            <p:cNvSpPr/>
            <p:nvPr/>
          </p:nvSpPr>
          <p:spPr>
            <a:xfrm>
              <a:off x="8963025" y="4391025"/>
              <a:ext cx="171450" cy="171450"/>
            </a:xfrm>
            <a:prstGeom prst="ellipse">
              <a:avLst/>
            </a:prstGeom>
            <a:solidFill>
              <a:srgbClr val="FFFFFF"/>
            </a:solidFill>
            <a:ln w="14288">
              <a:solidFill>
                <a:srgbClr val="E9563C"/>
              </a:solidFill>
            </a:ln>
          </p:spPr>
        </p:sp>
        <p:sp>
          <p:nvSpPr>
            <p:cNvPr id="145" name="TextBox 145"/>
            <p:cNvSpPr txBox="1"/>
            <p:nvPr/>
          </p:nvSpPr>
          <p:spPr>
            <a:xfrm>
              <a:off x="9016389" y="4437936"/>
              <a:ext cx="64723" cy="140494"/>
            </a:xfrm>
            <a:prstGeom prst="rect">
              <a:avLst/>
            </a:prstGeom>
            <a:noFill/>
            <a:ln>
              <a:noFill/>
            </a:ln>
          </p:spPr>
          <p:txBody>
            <a:bodyPr wrap="none" lIns="0" tIns="0" rIns="0" bIns="0" anchor="t" anchorCtr="0">
              <a:spAutoFit/>
            </a:bodyPr>
            <a:lstStyle/>
            <a:p>
              <a:pPr algn="ctr"/>
              <a:r>
                <a:rPr lang="zh-CN" sz="710" b="1" dirty="0">
                  <a:solidFill>
                    <a:srgbClr val="D6391E"/>
                  </a:solidFill>
                  <a:latin typeface="+mn-lt"/>
                  <a:ea typeface="+mn-ea"/>
                  <a:cs typeface="+mn-cs"/>
                </a:rPr>
                <a:t>2</a:t>
              </a:r>
            </a:p>
          </p:txBody>
        </p:sp>
        <p:sp>
          <p:nvSpPr>
            <p:cNvPr id="146" name="TextBox 146"/>
            <p:cNvSpPr txBox="1"/>
            <p:nvPr/>
          </p:nvSpPr>
          <p:spPr>
            <a:xfrm>
              <a:off x="7417392" y="5165884"/>
              <a:ext cx="214716" cy="133350"/>
            </a:xfrm>
            <a:prstGeom prst="rect">
              <a:avLst/>
            </a:prstGeom>
            <a:noFill/>
            <a:ln>
              <a:noFill/>
            </a:ln>
          </p:spPr>
          <p:txBody>
            <a:bodyPr wrap="none" lIns="0" tIns="0" rIns="0" bIns="0" anchor="t" anchorCtr="0">
              <a:spAutoFit/>
            </a:bodyPr>
            <a:lstStyle/>
            <a:p>
              <a:pPr algn="ctr"/>
              <a:r>
                <a:rPr lang="en-US" sz="680" dirty="0">
                  <a:solidFill>
                    <a:srgbClr val="595959"/>
                  </a:solidFill>
                  <a:latin typeface="+mn-lt"/>
                  <a:ea typeface="+mn-ea"/>
                  <a:cs typeface="+mn-cs"/>
                </a:rPr>
                <a:t>Jun​</a:t>
              </a:r>
            </a:p>
          </p:txBody>
        </p:sp>
        <p:sp>
          <p:nvSpPr>
            <p:cNvPr id="147" name="TextBox 147"/>
            <p:cNvSpPr txBox="1"/>
            <p:nvPr/>
          </p:nvSpPr>
          <p:spPr>
            <a:xfrm>
              <a:off x="7810050" y="5165884"/>
              <a:ext cx="191399" cy="133350"/>
            </a:xfrm>
            <a:prstGeom prst="rect">
              <a:avLst/>
            </a:prstGeom>
            <a:noFill/>
            <a:ln>
              <a:noFill/>
            </a:ln>
          </p:spPr>
          <p:txBody>
            <a:bodyPr wrap="none" lIns="0" tIns="0" rIns="0" bIns="0" anchor="t" anchorCtr="0">
              <a:spAutoFit/>
            </a:bodyPr>
            <a:lstStyle/>
            <a:p>
              <a:pPr algn="ctr"/>
              <a:r>
                <a:rPr lang="en-US" sz="680" dirty="0">
                  <a:solidFill>
                    <a:srgbClr val="595959"/>
                  </a:solidFill>
                  <a:latin typeface="+mn-lt"/>
                  <a:ea typeface="+mn-ea"/>
                  <a:cs typeface="+mn-cs"/>
                </a:rPr>
                <a:t>Jul​</a:t>
              </a:r>
            </a:p>
          </p:txBody>
        </p:sp>
        <p:sp>
          <p:nvSpPr>
            <p:cNvPr id="148" name="TextBox 148"/>
            <p:cNvSpPr txBox="1"/>
            <p:nvPr/>
          </p:nvSpPr>
          <p:spPr>
            <a:xfrm>
              <a:off x="8179392" y="5165884"/>
              <a:ext cx="214716" cy="133350"/>
            </a:xfrm>
            <a:prstGeom prst="rect">
              <a:avLst/>
            </a:prstGeom>
            <a:noFill/>
            <a:ln>
              <a:noFill/>
            </a:ln>
          </p:spPr>
          <p:txBody>
            <a:bodyPr wrap="none" lIns="0" tIns="0" rIns="0" bIns="0" anchor="t" anchorCtr="0">
              <a:spAutoFit/>
            </a:bodyPr>
            <a:lstStyle/>
            <a:p>
              <a:pPr algn="ctr"/>
              <a:r>
                <a:rPr lang="en-US" sz="680" dirty="0">
                  <a:solidFill>
                    <a:srgbClr val="595959"/>
                  </a:solidFill>
                  <a:latin typeface="+mn-lt"/>
                  <a:ea typeface="+mn-ea"/>
                  <a:cs typeface="+mn-cs"/>
                </a:rPr>
                <a:t>Aug​</a:t>
              </a:r>
            </a:p>
          </p:txBody>
        </p:sp>
        <p:sp>
          <p:nvSpPr>
            <p:cNvPr id="149" name="TextBox 149"/>
            <p:cNvSpPr txBox="1"/>
            <p:nvPr/>
          </p:nvSpPr>
          <p:spPr>
            <a:xfrm>
              <a:off x="8560392" y="5165884"/>
              <a:ext cx="214716" cy="133350"/>
            </a:xfrm>
            <a:prstGeom prst="rect">
              <a:avLst/>
            </a:prstGeom>
            <a:noFill/>
            <a:ln>
              <a:noFill/>
            </a:ln>
          </p:spPr>
          <p:txBody>
            <a:bodyPr wrap="none" lIns="0" tIns="0" rIns="0" bIns="0" anchor="t" anchorCtr="0">
              <a:spAutoFit/>
            </a:bodyPr>
            <a:lstStyle/>
            <a:p>
              <a:pPr algn="ctr"/>
              <a:r>
                <a:rPr lang="en-US" sz="680" dirty="0">
                  <a:solidFill>
                    <a:srgbClr val="595959"/>
                  </a:solidFill>
                  <a:latin typeface="+mn-lt"/>
                  <a:ea typeface="+mn-ea"/>
                  <a:cs typeface="+mn-cs"/>
                </a:rPr>
                <a:t>Sep​</a:t>
              </a:r>
            </a:p>
          </p:txBody>
        </p:sp>
        <p:sp>
          <p:nvSpPr>
            <p:cNvPr id="150" name="TextBox 150"/>
            <p:cNvSpPr txBox="1"/>
            <p:nvPr/>
          </p:nvSpPr>
          <p:spPr>
            <a:xfrm>
              <a:off x="8932065" y="5165884"/>
              <a:ext cx="233370" cy="133350"/>
            </a:xfrm>
            <a:prstGeom prst="rect">
              <a:avLst/>
            </a:prstGeom>
            <a:noFill/>
            <a:ln>
              <a:noFill/>
            </a:ln>
          </p:spPr>
          <p:txBody>
            <a:bodyPr wrap="none" lIns="0" tIns="0" rIns="0" bIns="0" anchor="t" anchorCtr="0">
              <a:spAutoFit/>
            </a:bodyPr>
            <a:lstStyle/>
            <a:p>
              <a:pPr algn="ctr"/>
              <a:r>
                <a:rPr lang="en-US" sz="680" dirty="0">
                  <a:solidFill>
                    <a:srgbClr val="595959"/>
                  </a:solidFill>
                  <a:latin typeface="+mn-lt"/>
                  <a:ea typeface="+mn-ea"/>
                  <a:cs typeface="+mn-cs"/>
                </a:rPr>
                <a:t>Oct​</a:t>
              </a:r>
            </a:p>
          </p:txBody>
        </p:sp>
        <p:sp>
          <p:nvSpPr>
            <p:cNvPr id="151" name="TextBox 151"/>
            <p:cNvSpPr txBox="1"/>
            <p:nvPr/>
          </p:nvSpPr>
          <p:spPr>
            <a:xfrm>
              <a:off x="9322392" y="5165884"/>
              <a:ext cx="214716" cy="133350"/>
            </a:xfrm>
            <a:prstGeom prst="rect">
              <a:avLst/>
            </a:prstGeom>
            <a:noFill/>
            <a:ln>
              <a:noFill/>
            </a:ln>
          </p:spPr>
          <p:txBody>
            <a:bodyPr wrap="none" lIns="0" tIns="0" rIns="0" bIns="0" anchor="t" anchorCtr="0">
              <a:spAutoFit/>
            </a:bodyPr>
            <a:lstStyle/>
            <a:p>
              <a:pPr algn="ctr"/>
              <a:r>
                <a:rPr lang="en-US" sz="680" dirty="0">
                  <a:solidFill>
                    <a:srgbClr val="595959"/>
                  </a:solidFill>
                  <a:latin typeface="+mn-lt"/>
                  <a:ea typeface="+mn-ea"/>
                  <a:cs typeface="+mn-cs"/>
                </a:rPr>
                <a:t>Nov​</a:t>
              </a:r>
            </a:p>
          </p:txBody>
        </p:sp>
        <p:sp>
          <p:nvSpPr>
            <p:cNvPr id="152" name="TextBox 152"/>
            <p:cNvSpPr txBox="1"/>
            <p:nvPr/>
          </p:nvSpPr>
          <p:spPr>
            <a:xfrm>
              <a:off x="9703392" y="5165884"/>
              <a:ext cx="214716" cy="133350"/>
            </a:xfrm>
            <a:prstGeom prst="rect">
              <a:avLst/>
            </a:prstGeom>
            <a:noFill/>
            <a:ln>
              <a:noFill/>
            </a:ln>
          </p:spPr>
          <p:txBody>
            <a:bodyPr wrap="none" lIns="0" tIns="0" rIns="0" bIns="0" anchor="t" anchorCtr="0">
              <a:spAutoFit/>
            </a:bodyPr>
            <a:lstStyle/>
            <a:p>
              <a:pPr algn="ctr"/>
              <a:r>
                <a:rPr lang="en-US" sz="680" dirty="0">
                  <a:solidFill>
                    <a:srgbClr val="595959"/>
                  </a:solidFill>
                  <a:latin typeface="+mn-lt"/>
                  <a:ea typeface="+mn-ea"/>
                  <a:cs typeface="+mn-cs"/>
                </a:rPr>
                <a:t>Dec​</a:t>
              </a:r>
            </a:p>
          </p:txBody>
        </p:sp>
        <p:sp>
          <p:nvSpPr>
            <p:cNvPr id="153" name="Ellipse 153"/>
            <p:cNvSpPr/>
            <p:nvPr/>
          </p:nvSpPr>
          <p:spPr>
            <a:xfrm>
              <a:off x="10706100" y="3390900"/>
              <a:ext cx="304800" cy="304800"/>
            </a:xfrm>
            <a:prstGeom prst="ellipse">
              <a:avLst/>
            </a:prstGeom>
            <a:solidFill>
              <a:srgbClr val="E5E9E2"/>
            </a:solidFill>
            <a:ln>
              <a:noFill/>
            </a:ln>
          </p:spPr>
        </p:sp>
        <p:grpSp>
          <p:nvGrpSpPr>
            <p:cNvPr id="158" name="Group 158"/>
            <p:cNvGrpSpPr/>
            <p:nvPr/>
          </p:nvGrpSpPr>
          <p:grpSpPr>
            <a:xfrm>
              <a:off x="10787062" y="3471862"/>
              <a:ext cx="142875" cy="142875"/>
              <a:chOff x="10787062" y="3471862"/>
              <a:chExt cx="142875" cy="142875"/>
            </a:xfrm>
          </p:grpSpPr>
          <p:sp>
            <p:nvSpPr>
              <p:cNvPr id="154" name="Freeform 154"/>
              <p:cNvSpPr/>
              <p:nvPr/>
            </p:nvSpPr>
            <p:spPr>
              <a:xfrm>
                <a:off x="10802937" y="347186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7A8A76"/>
                </a:solidFill>
              </a:ln>
            </p:spPr>
          </p:sp>
          <p:sp>
            <p:nvSpPr>
              <p:cNvPr id="155" name="Freeform 155"/>
              <p:cNvSpPr/>
              <p:nvPr/>
            </p:nvSpPr>
            <p:spPr>
              <a:xfrm>
                <a:off x="10787062" y="356711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7A8A76"/>
                </a:solidFill>
              </a:ln>
            </p:spPr>
          </p:sp>
          <p:sp>
            <p:nvSpPr>
              <p:cNvPr id="156" name="Freeform 156"/>
              <p:cNvSpPr/>
              <p:nvPr/>
            </p:nvSpPr>
            <p:spPr>
              <a:xfrm>
                <a:off x="10890250" y="347289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7A8A76"/>
                </a:solidFill>
              </a:ln>
            </p:spPr>
          </p:sp>
          <p:sp>
            <p:nvSpPr>
              <p:cNvPr id="157" name="Freeform 157"/>
              <p:cNvSpPr/>
              <p:nvPr/>
            </p:nvSpPr>
            <p:spPr>
              <a:xfrm>
                <a:off x="10906125" y="356830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7A8A76"/>
                </a:solidFill>
              </a:ln>
            </p:spPr>
          </p:sp>
        </p:grpSp>
        <p:sp>
          <p:nvSpPr>
            <p:cNvPr id="159" name="TextBox 159"/>
            <p:cNvSpPr txBox="1"/>
            <p:nvPr/>
          </p:nvSpPr>
          <p:spPr>
            <a:xfrm>
              <a:off x="10632961" y="3759041"/>
              <a:ext cx="451079"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人群观察</a:t>
              </a:r>
            </a:p>
          </p:txBody>
        </p:sp>
        <p:sp>
          <p:nvSpPr>
            <p:cNvPr id="160" name="Rectangle 160"/>
            <p:cNvSpPr/>
            <p:nvPr/>
          </p:nvSpPr>
          <p:spPr>
            <a:xfrm>
              <a:off x="10334625" y="3924300"/>
              <a:ext cx="1047750" cy="19050"/>
            </a:xfrm>
            <a:prstGeom prst="rect">
              <a:avLst/>
            </a:prstGeom>
            <a:solidFill>
              <a:srgbClr val="DDE5D8"/>
            </a:solidFill>
            <a:ln>
              <a:noFill/>
            </a:ln>
          </p:spPr>
        </p:sp>
        <p:sp>
          <p:nvSpPr>
            <p:cNvPr id="161" name="Rectangle 161"/>
            <p:cNvSpPr/>
            <p:nvPr/>
          </p:nvSpPr>
          <p:spPr>
            <a:xfrm>
              <a:off x="10334625" y="4000500"/>
              <a:ext cx="1047750" cy="19050"/>
            </a:xfrm>
            <a:prstGeom prst="rect">
              <a:avLst/>
            </a:prstGeom>
            <a:solidFill>
              <a:srgbClr val="DDE5D8"/>
            </a:solidFill>
            <a:ln>
              <a:noFill/>
            </a:ln>
          </p:spPr>
        </p:sp>
        <p:sp>
          <p:nvSpPr>
            <p:cNvPr id="162" name="Rectangle 162"/>
            <p:cNvSpPr/>
            <p:nvPr/>
          </p:nvSpPr>
          <p:spPr>
            <a:xfrm>
              <a:off x="10334625" y="4076700"/>
              <a:ext cx="762000" cy="19050"/>
            </a:xfrm>
            <a:prstGeom prst="rect">
              <a:avLst/>
            </a:prstGeom>
            <a:solidFill>
              <a:srgbClr val="DDE5D8"/>
            </a:solidFill>
            <a:ln>
              <a:noFill/>
            </a:ln>
          </p:spPr>
        </p:sp>
        <p:sp>
          <p:nvSpPr>
            <p:cNvPr id="163" name="TextBox 163"/>
            <p:cNvSpPr txBox="1"/>
            <p:nvPr/>
          </p:nvSpPr>
          <p:spPr>
            <a:xfrm>
              <a:off x="10206038" y="4251484"/>
              <a:ext cx="1045845" cy="561975"/>
            </a:xfrm>
            <a:prstGeom prst="rect">
              <a:avLst/>
            </a:prstGeom>
            <a:noFill/>
            <a:ln>
              <a:noFill/>
            </a:ln>
          </p:spPr>
          <p:txBody>
            <a:bodyPr wrap="none" lIns="0" tIns="0" rIns="0" bIns="0" anchor="t" anchorCtr="0">
              <a:spAutoFit/>
            </a:bodyPr>
            <a:lstStyle/>
            <a:p>
              <a:pPr algn="l">
                <a:lnSpc>
                  <a:spcPts val="1125"/>
                </a:lnSpc>
              </a:pPr>
              <a:r>
                <a:rPr lang="zh-CN" sz="680" dirty="0">
                  <a:solidFill>
                    <a:srgbClr val="333333"/>
                  </a:solidFill>
                  <a:latin typeface="+mn-lt"/>
                  <a:ea typeface="+mn-ea"/>
                  <a:cs typeface="+mn-cs"/>
                </a:rPr>
                <a:t>可以进一步打开人群洞察页</a:t>
              </a:r>
              <a:br/>
              <a:r>
                <a:rPr lang="zh-CN" sz="680" dirty="0">
                  <a:solidFill>
                    <a:srgbClr val="333333"/>
                  </a:solidFill>
                  <a:latin typeface="+mn-lt"/>
                  <a:ea typeface="+mn-ea"/>
                  <a:cs typeface="+mn-cs"/>
                </a:rPr>
                <a:t>面查看,具体维度输出可以</a:t>
              </a:r>
              <a:br/>
              <a:r>
                <a:rPr lang="zh-CN" sz="680" dirty="0">
                  <a:solidFill>
                    <a:srgbClr val="333333"/>
                  </a:solidFill>
                  <a:latin typeface="+mn-lt"/>
                  <a:ea typeface="+mn-ea"/>
                  <a:cs typeface="+mn-cs"/>
                </a:rPr>
                <a:t>由商家/生态伙伴行选择,</a:t>
              </a:r>
              <a:br/>
              <a:r>
                <a:rPr lang="zh-CN" sz="680" dirty="0">
                  <a:solidFill>
                    <a:srgbClr val="333333"/>
                  </a:solidFill>
                  <a:latin typeface="+mn-lt"/>
                  <a:ea typeface="+mn-ea"/>
                  <a:cs typeface="+mn-cs"/>
                </a:rPr>
                <a:t>亦可以获得行业人群信息</a:t>
              </a:r>
            </a:p>
          </p:txBody>
        </p:sp>
      </p:grpSp>
      <p:grpSp>
        <p:nvGrpSpPr>
          <p:cNvPr id="167" name="page-footer"/>
          <p:cNvGrpSpPr/>
          <p:nvPr/>
        </p:nvGrpSpPr>
        <p:grpSpPr>
          <a:xfrm>
            <a:off x="376238" y="6689884"/>
            <a:ext cx="11439524" cy="133350"/>
            <a:chOff x="376238" y="6689884"/>
            <a:chExt cx="11439524" cy="133350"/>
          </a:xfrm>
        </p:grpSpPr>
        <p:sp>
          <p:nvSpPr>
            <p:cNvPr id="165" name="TextBox 165"/>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66" name="TextBox 166"/>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07</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7" name="funnel-top-quadrants"/>
          <p:cNvGrpSpPr/>
          <p:nvPr/>
        </p:nvGrpSpPr>
        <p:grpSpPr>
          <a:xfrm>
            <a:off x="762000" y="1114425"/>
            <a:ext cx="4191000" cy="1104900"/>
            <a:chOff x="762000" y="1114425"/>
            <a:chExt cx="4191000" cy="1104900"/>
          </a:xfrm>
        </p:grpSpPr>
        <p:sp>
          <p:nvSpPr>
            <p:cNvPr id="8" name="Ellipse 8"/>
            <p:cNvSpPr/>
            <p:nvPr/>
          </p:nvSpPr>
          <p:spPr>
            <a:xfrm>
              <a:off x="762000" y="1114425"/>
              <a:ext cx="4191000" cy="1104900"/>
            </a:xfrm>
            <a:prstGeom prst="ellipse">
              <a:avLst/>
            </a:prstGeom>
            <a:solidFill>
              <a:srgbClr val="EEF5E8"/>
            </a:solidFill>
            <a:ln w="19050">
              <a:solidFill>
                <a:srgbClr val="9C594C"/>
              </a:solidFill>
            </a:ln>
          </p:spPr>
        </p:sp>
        <p:sp>
          <p:nvSpPr>
            <p:cNvPr id="9" name="Line 9"/>
            <p:cNvSpPr/>
            <p:nvPr/>
          </p:nvSpPr>
          <p:spPr>
            <a:xfrm>
              <a:off x="762000" y="1666875"/>
              <a:ext cx="4191000" cy="9525"/>
            </a:xfrm>
            <a:custGeom>
              <a:avLst/>
              <a:gdLst/>
              <a:ahLst/>
              <a:cxnLst/>
              <a:rect l="l" t="t" r="r" b="b"/>
              <a:pathLst>
                <a:path w="4191000" h="9525">
                  <a:moveTo>
                    <a:pt x="0" y="0"/>
                  </a:moveTo>
                  <a:lnTo>
                    <a:pt x="4191000" y="0"/>
                  </a:lnTo>
                </a:path>
              </a:pathLst>
            </a:custGeom>
            <a:noFill/>
            <a:ln w="9525">
              <a:solidFill>
                <a:srgbClr val="BF857A"/>
              </a:solidFill>
            </a:ln>
          </p:spPr>
        </p:sp>
        <p:sp>
          <p:nvSpPr>
            <p:cNvPr id="10" name="Line 10"/>
            <p:cNvSpPr/>
            <p:nvPr/>
          </p:nvSpPr>
          <p:spPr>
            <a:xfrm>
              <a:off x="2857500" y="1114425"/>
              <a:ext cx="9525" cy="1104900"/>
            </a:xfrm>
            <a:custGeom>
              <a:avLst/>
              <a:gdLst/>
              <a:ahLst/>
              <a:cxnLst/>
              <a:rect l="l" t="t" r="r" b="b"/>
              <a:pathLst>
                <a:path w="9525" h="1104900">
                  <a:moveTo>
                    <a:pt x="0" y="0"/>
                  </a:moveTo>
                  <a:lnTo>
                    <a:pt x="0" y="1104900"/>
                  </a:lnTo>
                </a:path>
              </a:pathLst>
            </a:custGeom>
            <a:noFill/>
            <a:ln w="9525">
              <a:solidFill>
                <a:srgbClr val="BF857A"/>
              </a:solidFill>
            </a:ln>
          </p:spPr>
        </p:sp>
        <p:sp>
          <p:nvSpPr>
            <p:cNvPr id="11" name="TextBox 11"/>
            <p:cNvSpPr txBox="1"/>
            <p:nvPr/>
          </p:nvSpPr>
          <p:spPr>
            <a:xfrm>
              <a:off x="2687155" y="1225391"/>
              <a:ext cx="34069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全场景</a:t>
              </a:r>
            </a:p>
          </p:txBody>
        </p:sp>
        <p:sp>
          <p:nvSpPr>
            <p:cNvPr id="12" name="TextBox 12"/>
            <p:cNvSpPr txBox="1"/>
            <p:nvPr/>
          </p:nvSpPr>
          <p:spPr>
            <a:xfrm>
              <a:off x="1258405" y="1615916"/>
              <a:ext cx="34069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全内容</a:t>
              </a:r>
            </a:p>
          </p:txBody>
        </p:sp>
        <p:sp>
          <p:nvSpPr>
            <p:cNvPr id="13" name="TextBox 13"/>
            <p:cNvSpPr txBox="1"/>
            <p:nvPr/>
          </p:nvSpPr>
          <p:spPr>
            <a:xfrm>
              <a:off x="4163530" y="1615916"/>
              <a:ext cx="34069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全链路</a:t>
              </a:r>
            </a:p>
          </p:txBody>
        </p:sp>
        <p:sp>
          <p:nvSpPr>
            <p:cNvPr id="14" name="TextBox 14"/>
            <p:cNvSpPr txBox="1"/>
            <p:nvPr/>
          </p:nvSpPr>
          <p:spPr>
            <a:xfrm>
              <a:off x="2687155" y="2025491"/>
              <a:ext cx="340690"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全数据</a:t>
              </a:r>
            </a:p>
          </p:txBody>
        </p:sp>
        <p:sp>
          <p:nvSpPr>
            <p:cNvPr id="15" name="Rectangle 15"/>
            <p:cNvSpPr/>
            <p:nvPr/>
          </p:nvSpPr>
          <p:spPr>
            <a:xfrm>
              <a:off x="2047875" y="1504950"/>
              <a:ext cx="1619250" cy="323850"/>
            </a:xfrm>
            <a:prstGeom prst="roundRect">
              <a:avLst>
                <a:gd name="adj" fmla="val 11765"/>
              </a:avLst>
            </a:prstGeom>
            <a:solidFill>
              <a:srgbClr val="FFFFFF"/>
            </a:solidFill>
            <a:ln w="9525">
              <a:solidFill>
                <a:srgbClr val="BF857A"/>
              </a:solidFill>
            </a:ln>
          </p:spPr>
        </p:sp>
        <p:sp>
          <p:nvSpPr>
            <p:cNvPr id="16" name="TextBox 16"/>
            <p:cNvSpPr txBox="1"/>
            <p:nvPr/>
          </p:nvSpPr>
          <p:spPr>
            <a:xfrm>
              <a:off x="2300922" y="1553289"/>
              <a:ext cx="111315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7A3E33"/>
                  </a:solidFill>
                  <a:latin typeface="+mn-lt"/>
                  <a:ea typeface="+mn-ea"/>
                  <a:cs typeface="+mn-cs"/>
                </a:rPr>
                <a:t>基于消费者决策全链路</a:t>
              </a:r>
              <a:br/>
              <a:r>
                <a:rPr lang="zh-CN" sz="790" b="1" dirty="0">
                  <a:solidFill>
                    <a:srgbClr val="7A3E33"/>
                  </a:solidFill>
                  <a:latin typeface="+mn-lt"/>
                  <a:ea typeface="+mn-ea"/>
                  <a:cs typeface="+mn-cs"/>
                </a:rPr>
                <a:t>建立整合一体的增长能力</a:t>
              </a:r>
            </a:p>
          </p:txBody>
        </p:sp>
      </p:grpSp>
      <p:grpSp>
        <p:nvGrpSpPr>
          <p:cNvPr id="36" name="funnel-body"/>
          <p:cNvGrpSpPr/>
          <p:nvPr/>
        </p:nvGrpSpPr>
        <p:grpSpPr>
          <a:xfrm>
            <a:off x="904875" y="2324100"/>
            <a:ext cx="3905250" cy="1866900"/>
            <a:chOff x="904875" y="2324100"/>
            <a:chExt cx="3905250" cy="1866900"/>
          </a:xfrm>
        </p:grpSpPr>
        <p:sp>
          <p:nvSpPr>
            <p:cNvPr id="18" name="Freeform 18"/>
            <p:cNvSpPr/>
            <p:nvPr/>
          </p:nvSpPr>
          <p:spPr>
            <a:xfrm rot="10800000">
              <a:off x="904875" y="2324100"/>
              <a:ext cx="3905250" cy="1866900"/>
            </a:xfrm>
            <a:prstGeom prst="trapezoid">
              <a:avLst/>
            </a:prstGeom>
            <a:solidFill>
              <a:srgbClr val="EEF5E8"/>
            </a:solidFill>
            <a:ln w="9525">
              <a:solidFill>
                <a:srgbClr val="C9D8BD"/>
              </a:solidFill>
            </a:ln>
          </p:spPr>
        </p:sp>
        <p:grpSp>
          <p:nvGrpSpPr>
            <p:cNvPr id="25" name="Group 25"/>
            <p:cNvGrpSpPr/>
            <p:nvPr/>
          </p:nvGrpSpPr>
          <p:grpSpPr>
            <a:xfrm>
              <a:off x="2786062" y="2424112"/>
              <a:ext cx="142875" cy="142875"/>
              <a:chOff x="2786062" y="2424112"/>
              <a:chExt cx="142875" cy="142875"/>
            </a:xfrm>
          </p:grpSpPr>
          <p:sp>
            <p:nvSpPr>
              <p:cNvPr id="19" name="Freeform 19"/>
              <p:cNvSpPr/>
              <p:nvPr/>
            </p:nvSpPr>
            <p:spPr>
              <a:xfrm>
                <a:off x="2841625" y="24876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20" name="Freeform 20"/>
              <p:cNvSpPr/>
              <p:nvPr/>
            </p:nvSpPr>
            <p:spPr>
              <a:xfrm>
                <a:off x="2825750" y="254317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9C594C"/>
                </a:solidFill>
              </a:ln>
            </p:spPr>
          </p:sp>
          <p:sp>
            <p:nvSpPr>
              <p:cNvPr id="21" name="Freeform 21"/>
              <p:cNvSpPr/>
              <p:nvPr/>
            </p:nvSpPr>
            <p:spPr>
              <a:xfrm>
                <a:off x="2881312" y="24241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22" name="Freeform 22"/>
              <p:cNvSpPr/>
              <p:nvPr/>
            </p:nvSpPr>
            <p:spPr>
              <a:xfrm>
                <a:off x="2897187" y="247967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9C594C"/>
                </a:solidFill>
              </a:ln>
            </p:spPr>
          </p:sp>
          <p:sp>
            <p:nvSpPr>
              <p:cNvPr id="23" name="Freeform 23"/>
              <p:cNvSpPr/>
              <p:nvPr/>
            </p:nvSpPr>
            <p:spPr>
              <a:xfrm>
                <a:off x="2801937" y="242411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24" name="Freeform 24"/>
              <p:cNvSpPr/>
              <p:nvPr/>
            </p:nvSpPr>
            <p:spPr>
              <a:xfrm>
                <a:off x="2786062" y="247967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9C594C"/>
                </a:solidFill>
              </a:ln>
            </p:spPr>
          </p:sp>
        </p:grpSp>
        <p:sp>
          <p:nvSpPr>
            <p:cNvPr id="26" name="TextBox 26"/>
            <p:cNvSpPr txBox="1"/>
            <p:nvPr/>
          </p:nvSpPr>
          <p:spPr>
            <a:xfrm>
              <a:off x="2521572" y="2673191"/>
              <a:ext cx="671855"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数据架构管理</a:t>
              </a:r>
            </a:p>
          </p:txBody>
        </p:sp>
        <p:sp>
          <p:nvSpPr>
            <p:cNvPr id="27" name="TextBox 27"/>
            <p:cNvSpPr txBox="1"/>
            <p:nvPr/>
          </p:nvSpPr>
          <p:spPr>
            <a:xfrm>
              <a:off x="2139506" y="2845832"/>
              <a:ext cx="1435989"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杜绝非授权访问,建立相应的数据访问策</a:t>
              </a:r>
              <a:br/>
              <a:r>
                <a:rPr lang="zh-CN" sz="640" dirty="0">
                  <a:solidFill>
                    <a:srgbClr val="595959"/>
                  </a:solidFill>
                  <a:latin typeface="+mn-lt"/>
                  <a:ea typeface="+mn-ea"/>
                  <a:cs typeface="+mn-cs"/>
                </a:rPr>
                <a:t>略、检查机制、控制和监控机制</a:t>
              </a:r>
            </a:p>
          </p:txBody>
        </p:sp>
        <p:grpSp>
          <p:nvGrpSpPr>
            <p:cNvPr id="31" name="Group 31"/>
            <p:cNvGrpSpPr/>
            <p:nvPr/>
          </p:nvGrpSpPr>
          <p:grpSpPr>
            <a:xfrm>
              <a:off x="2794000" y="3167062"/>
              <a:ext cx="127000" cy="142875"/>
              <a:chOff x="2794000" y="3167062"/>
              <a:chExt cx="127000" cy="142875"/>
            </a:xfrm>
          </p:grpSpPr>
          <p:sp>
            <p:nvSpPr>
              <p:cNvPr id="28" name="Freeform 28"/>
              <p:cNvSpPr/>
              <p:nvPr/>
            </p:nvSpPr>
            <p:spPr>
              <a:xfrm>
                <a:off x="2794000" y="31670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9C594C"/>
                </a:solidFill>
              </a:ln>
            </p:spPr>
          </p:sp>
          <p:sp>
            <p:nvSpPr>
              <p:cNvPr id="29" name="Freeform 29"/>
              <p:cNvSpPr/>
              <p:nvPr/>
            </p:nvSpPr>
            <p:spPr>
              <a:xfrm>
                <a:off x="2794000" y="31908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9C594C"/>
                </a:solidFill>
              </a:ln>
            </p:spPr>
          </p:sp>
          <p:sp>
            <p:nvSpPr>
              <p:cNvPr id="30" name="Freeform 30"/>
              <p:cNvSpPr/>
              <p:nvPr/>
            </p:nvSpPr>
            <p:spPr>
              <a:xfrm>
                <a:off x="2794000" y="32385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9C594C"/>
                </a:solidFill>
              </a:ln>
            </p:spPr>
          </p:sp>
        </p:grpSp>
        <p:sp>
          <p:nvSpPr>
            <p:cNvPr id="32" name="TextBox 32"/>
            <p:cNvSpPr txBox="1"/>
            <p:nvPr/>
          </p:nvSpPr>
          <p:spPr>
            <a:xfrm>
              <a:off x="2631961" y="3397091"/>
              <a:ext cx="451079"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数据治理</a:t>
              </a:r>
            </a:p>
          </p:txBody>
        </p:sp>
        <p:sp>
          <p:nvSpPr>
            <p:cNvPr id="33" name="TextBox 33"/>
            <p:cNvSpPr txBox="1"/>
            <p:nvPr/>
          </p:nvSpPr>
          <p:spPr>
            <a:xfrm>
              <a:off x="2121218" y="3560207"/>
              <a:ext cx="1472565"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构建企业数据治理的组织体系，同时建立</a:t>
              </a:r>
              <a:br/>
              <a:r>
                <a:rPr lang="zh-CN" sz="640" dirty="0">
                  <a:solidFill>
                    <a:srgbClr val="595959"/>
                  </a:solidFill>
                  <a:latin typeface="+mn-lt"/>
                  <a:ea typeface="+mn-ea"/>
                  <a:cs typeface="+mn-cs"/>
                </a:rPr>
                <a:t>一系列的数据治理政策、流程以及相应的</a:t>
              </a:r>
              <a:br/>
              <a:r>
                <a:rPr lang="zh-CN" sz="640" dirty="0">
                  <a:solidFill>
                    <a:srgbClr val="595959"/>
                  </a:solidFill>
                  <a:latin typeface="+mn-lt"/>
                  <a:ea typeface="+mn-ea"/>
                  <a:cs typeface="+mn-cs"/>
                </a:rPr>
                <a:t>工具</a:t>
              </a:r>
            </a:p>
          </p:txBody>
        </p:sp>
        <p:sp>
          <p:nvSpPr>
            <p:cNvPr id="34" name="Ellipse 34"/>
            <p:cNvSpPr/>
            <p:nvPr/>
          </p:nvSpPr>
          <p:spPr>
            <a:xfrm>
              <a:off x="1809750" y="3771900"/>
              <a:ext cx="2095500" cy="419100"/>
            </a:xfrm>
            <a:prstGeom prst="ellipse">
              <a:avLst/>
            </a:prstGeom>
            <a:solidFill>
              <a:srgbClr val="DFF0D2"/>
            </a:solidFill>
            <a:ln w="14288">
              <a:solidFill>
                <a:srgbClr val="9C594C"/>
              </a:solidFill>
            </a:ln>
          </p:spPr>
        </p:sp>
        <p:sp>
          <p:nvSpPr>
            <p:cNvPr id="35" name="TextBox 35"/>
            <p:cNvSpPr txBox="1"/>
            <p:nvPr/>
          </p:nvSpPr>
          <p:spPr>
            <a:xfrm>
              <a:off x="2528316" y="3909060"/>
              <a:ext cx="658368" cy="234696"/>
            </a:xfrm>
            <a:prstGeom prst="rect">
              <a:avLst/>
            </a:prstGeom>
            <a:noFill/>
            <a:ln>
              <a:noFill/>
            </a:ln>
          </p:spPr>
          <p:txBody>
            <a:bodyPr wrap="none" lIns="0" tIns="0" rIns="0" bIns="0" anchor="t" anchorCtr="0">
              <a:spAutoFit/>
            </a:bodyPr>
            <a:lstStyle/>
            <a:p>
              <a:pPr algn="ctr"/>
              <a:r>
                <a:rPr lang="zh-CN" sz="1200" b="1" dirty="0">
                  <a:solidFill>
                    <a:srgbClr val="333333"/>
                  </a:solidFill>
                  <a:latin typeface="+mn-lt"/>
                  <a:ea typeface="+mn-ea"/>
                  <a:cs typeface="+mn-cs"/>
                </a:rPr>
                <a:t>采购需求</a:t>
              </a:r>
            </a:p>
          </p:txBody>
        </p:sp>
      </p:grpSp>
      <p:grpSp>
        <p:nvGrpSpPr>
          <p:cNvPr id="55" name="procurement-band"/>
          <p:cNvGrpSpPr/>
          <p:nvPr/>
        </p:nvGrpSpPr>
        <p:grpSpPr>
          <a:xfrm>
            <a:off x="476250" y="4248150"/>
            <a:ext cx="4762500" cy="1111330"/>
            <a:chOff x="476250" y="4248150"/>
            <a:chExt cx="4762500" cy="1111330"/>
          </a:xfrm>
        </p:grpSpPr>
        <p:sp>
          <p:nvSpPr>
            <p:cNvPr id="37" name="Ellipse 37"/>
            <p:cNvSpPr/>
            <p:nvPr/>
          </p:nvSpPr>
          <p:spPr>
            <a:xfrm>
              <a:off x="476250" y="4248150"/>
              <a:ext cx="4762500" cy="533400"/>
            </a:xfrm>
            <a:prstGeom prst="ellipse">
              <a:avLst/>
            </a:prstGeom>
            <a:gradFill>
              <a:gsLst>
                <a:gs pos="0">
                  <a:srgbClr val="FDF6E7"/>
                </a:gs>
                <a:gs pos="100000">
                  <a:srgbClr val="F7B9AE"/>
                </a:gs>
              </a:gsLst>
              <a:lin ang="5400000" scaled="1"/>
            </a:gradFill>
            <a:ln w="9525">
              <a:solidFill>
                <a:srgbClr val="E9563C"/>
              </a:solidFill>
            </a:ln>
          </p:spPr>
        </p:sp>
        <p:sp>
          <p:nvSpPr>
            <p:cNvPr id="38" name="TextBox 38"/>
            <p:cNvSpPr txBox="1"/>
            <p:nvPr/>
          </p:nvSpPr>
          <p:spPr>
            <a:xfrm>
              <a:off x="2264499" y="4458652"/>
              <a:ext cx="1186002" cy="205359"/>
            </a:xfrm>
            <a:prstGeom prst="rect">
              <a:avLst/>
            </a:prstGeom>
            <a:noFill/>
            <a:ln>
              <a:noFill/>
            </a:ln>
          </p:spPr>
          <p:txBody>
            <a:bodyPr wrap="none" lIns="0" tIns="0" rIns="0" bIns="0" anchor="t" anchorCtr="0">
              <a:spAutoFit/>
            </a:bodyPr>
            <a:lstStyle/>
            <a:p>
              <a:pPr algn="ctr"/>
              <a:r>
                <a:rPr lang="zh-CN" sz="1050" b="1" dirty="0">
                  <a:solidFill>
                    <a:srgbClr val="8A2210"/>
                  </a:solidFill>
                  <a:latin typeface="+mn-lt"/>
                  <a:ea typeface="+mn-ea"/>
                  <a:cs typeface="+mn-cs"/>
                </a:rPr>
                <a:t>采购内容 及时送达</a:t>
              </a:r>
            </a:p>
          </p:txBody>
        </p:sp>
        <p:sp>
          <p:nvSpPr>
            <p:cNvPr id="39" name="Ellipse 39"/>
            <p:cNvSpPr/>
            <p:nvPr/>
          </p:nvSpPr>
          <p:spPr>
            <a:xfrm>
              <a:off x="904875" y="4486275"/>
              <a:ext cx="95250" cy="95250"/>
            </a:xfrm>
            <a:prstGeom prst="ellipse">
              <a:avLst/>
            </a:prstGeom>
            <a:solidFill>
              <a:srgbClr val="FFFFFF"/>
            </a:solidFill>
            <a:ln w="14288">
              <a:solidFill>
                <a:srgbClr val="E9563C"/>
              </a:solidFill>
            </a:ln>
          </p:spPr>
        </p:sp>
        <p:sp>
          <p:nvSpPr>
            <p:cNvPr id="40" name="Ellipse 40"/>
            <p:cNvSpPr/>
            <p:nvPr/>
          </p:nvSpPr>
          <p:spPr>
            <a:xfrm>
              <a:off x="2047875" y="4676775"/>
              <a:ext cx="95250" cy="95250"/>
            </a:xfrm>
            <a:prstGeom prst="ellipse">
              <a:avLst/>
            </a:prstGeom>
            <a:solidFill>
              <a:srgbClr val="FFFFFF"/>
            </a:solidFill>
            <a:ln w="14288">
              <a:solidFill>
                <a:srgbClr val="E9563C"/>
              </a:solidFill>
            </a:ln>
          </p:spPr>
        </p:sp>
        <p:sp>
          <p:nvSpPr>
            <p:cNvPr id="41" name="Ellipse 41"/>
            <p:cNvSpPr/>
            <p:nvPr/>
          </p:nvSpPr>
          <p:spPr>
            <a:xfrm>
              <a:off x="3190875" y="4676775"/>
              <a:ext cx="95250" cy="95250"/>
            </a:xfrm>
            <a:prstGeom prst="ellipse">
              <a:avLst/>
            </a:prstGeom>
            <a:solidFill>
              <a:srgbClr val="FFFFFF"/>
            </a:solidFill>
            <a:ln w="14288">
              <a:solidFill>
                <a:srgbClr val="E9563C"/>
              </a:solidFill>
            </a:ln>
          </p:spPr>
        </p:sp>
        <p:sp>
          <p:nvSpPr>
            <p:cNvPr id="42" name="Ellipse 42"/>
            <p:cNvSpPr/>
            <p:nvPr/>
          </p:nvSpPr>
          <p:spPr>
            <a:xfrm>
              <a:off x="4429125" y="4486275"/>
              <a:ext cx="95250" cy="95250"/>
            </a:xfrm>
            <a:prstGeom prst="ellipse">
              <a:avLst/>
            </a:prstGeom>
            <a:solidFill>
              <a:srgbClr val="FFFFFF"/>
            </a:solidFill>
            <a:ln w="14288">
              <a:solidFill>
                <a:srgbClr val="E9563C"/>
              </a:solidFill>
            </a:ln>
          </p:spPr>
        </p:sp>
        <p:sp>
          <p:nvSpPr>
            <p:cNvPr id="43" name="TextBox 43"/>
            <p:cNvSpPr txBox="1"/>
            <p:nvPr/>
          </p:nvSpPr>
          <p:spPr>
            <a:xfrm>
              <a:off x="837349" y="4692491"/>
              <a:ext cx="230302" cy="161925"/>
            </a:xfrm>
            <a:prstGeom prst="rect">
              <a:avLst/>
            </a:prstGeom>
            <a:noFill/>
            <a:ln>
              <a:noFill/>
            </a:ln>
          </p:spPr>
          <p:txBody>
            <a:bodyPr wrap="none" lIns="0" tIns="0" rIns="0" bIns="0" anchor="t" anchorCtr="0">
              <a:spAutoFit/>
            </a:bodyPr>
            <a:lstStyle/>
            <a:p>
              <a:pPr algn="ctr"/>
              <a:r>
                <a:rPr lang="zh-CN" sz="820" b="1" dirty="0">
                  <a:solidFill>
                    <a:srgbClr val="D6391E"/>
                  </a:solidFill>
                  <a:latin typeface="+mn-lt"/>
                  <a:ea typeface="+mn-ea"/>
                  <a:cs typeface="+mn-cs"/>
                </a:rPr>
                <a:t>预算</a:t>
              </a:r>
            </a:p>
          </p:txBody>
        </p:sp>
        <p:sp>
          <p:nvSpPr>
            <p:cNvPr id="44" name="Ellipse 44"/>
            <p:cNvSpPr/>
            <p:nvPr/>
          </p:nvSpPr>
          <p:spPr>
            <a:xfrm>
              <a:off x="685800" y="4848225"/>
              <a:ext cx="533400" cy="95250"/>
            </a:xfrm>
            <a:prstGeom prst="ellipse">
              <a:avLst/>
            </a:prstGeom>
            <a:solidFill>
              <a:srgbClr val="F7C8C0"/>
            </a:solidFill>
            <a:ln>
              <a:noFill/>
            </a:ln>
          </p:spPr>
        </p:sp>
        <p:sp>
          <p:nvSpPr>
            <p:cNvPr id="45" name="TextBox 45"/>
            <p:cNvSpPr txBox="1"/>
            <p:nvPr/>
          </p:nvSpPr>
          <p:spPr>
            <a:xfrm>
              <a:off x="704008" y="5028486"/>
              <a:ext cx="496984" cy="140494"/>
            </a:xfrm>
            <a:prstGeom prst="rect">
              <a:avLst/>
            </a:prstGeom>
            <a:noFill/>
            <a:ln>
              <a:noFill/>
            </a:ln>
          </p:spPr>
          <p:txBody>
            <a:bodyPr wrap="none" lIns="0" tIns="0" rIns="0" bIns="0" anchor="t" anchorCtr="0">
              <a:spAutoFit/>
            </a:bodyPr>
            <a:lstStyle/>
            <a:p>
              <a:pPr algn="ctr"/>
              <a:r>
                <a:rPr lang="zh-CN" sz="710" dirty="0">
                  <a:solidFill>
                    <a:srgbClr val="8C8C8C"/>
                  </a:solidFill>
                  <a:latin typeface="+mn-lt"/>
                  <a:ea typeface="+mn-ea"/>
                  <a:cs typeface="+mn-cs"/>
                </a:rPr>
                <a:t>(打折促销)</a:t>
              </a:r>
            </a:p>
          </p:txBody>
        </p:sp>
        <p:sp>
          <p:nvSpPr>
            <p:cNvPr id="46" name="TextBox 46"/>
            <p:cNvSpPr txBox="1"/>
            <p:nvPr/>
          </p:nvSpPr>
          <p:spPr>
            <a:xfrm>
              <a:off x="1980349" y="4882991"/>
              <a:ext cx="230302" cy="161925"/>
            </a:xfrm>
            <a:prstGeom prst="rect">
              <a:avLst/>
            </a:prstGeom>
            <a:noFill/>
            <a:ln>
              <a:noFill/>
            </a:ln>
          </p:spPr>
          <p:txBody>
            <a:bodyPr wrap="none" lIns="0" tIns="0" rIns="0" bIns="0" anchor="t" anchorCtr="0">
              <a:spAutoFit/>
            </a:bodyPr>
            <a:lstStyle/>
            <a:p>
              <a:pPr algn="ctr"/>
              <a:r>
                <a:rPr lang="zh-CN" sz="820" b="1" dirty="0">
                  <a:solidFill>
                    <a:srgbClr val="D6391E"/>
                  </a:solidFill>
                  <a:latin typeface="+mn-lt"/>
                  <a:ea typeface="+mn-ea"/>
                  <a:cs typeface="+mn-cs"/>
                </a:rPr>
                <a:t>发票</a:t>
              </a:r>
            </a:p>
          </p:txBody>
        </p:sp>
        <p:sp>
          <p:nvSpPr>
            <p:cNvPr id="47" name="Ellipse 47"/>
            <p:cNvSpPr/>
            <p:nvPr/>
          </p:nvSpPr>
          <p:spPr>
            <a:xfrm>
              <a:off x="1828800" y="5038725"/>
              <a:ext cx="533400" cy="95250"/>
            </a:xfrm>
            <a:prstGeom prst="ellipse">
              <a:avLst/>
            </a:prstGeom>
            <a:solidFill>
              <a:srgbClr val="F7C8C0"/>
            </a:solidFill>
            <a:ln>
              <a:noFill/>
            </a:ln>
          </p:spPr>
        </p:sp>
        <p:sp>
          <p:nvSpPr>
            <p:cNvPr id="48" name="TextBox 48"/>
            <p:cNvSpPr txBox="1"/>
            <p:nvPr/>
          </p:nvSpPr>
          <p:spPr>
            <a:xfrm>
              <a:off x="1751428" y="5218986"/>
              <a:ext cx="688144" cy="140494"/>
            </a:xfrm>
            <a:prstGeom prst="rect">
              <a:avLst/>
            </a:prstGeom>
            <a:noFill/>
            <a:ln>
              <a:noFill/>
            </a:ln>
          </p:spPr>
          <p:txBody>
            <a:bodyPr wrap="none" lIns="0" tIns="0" rIns="0" bIns="0" anchor="t" anchorCtr="0">
              <a:spAutoFit/>
            </a:bodyPr>
            <a:lstStyle/>
            <a:p>
              <a:pPr algn="ctr"/>
              <a:r>
                <a:rPr lang="zh-CN" sz="710" dirty="0">
                  <a:solidFill>
                    <a:srgbClr val="8C8C8C"/>
                  </a:solidFill>
                  <a:latin typeface="+mn-lt"/>
                  <a:ea typeface="+mn-ea"/>
                  <a:cs typeface="+mn-cs"/>
                </a:rPr>
                <a:t>(对公普通发票)</a:t>
              </a:r>
            </a:p>
          </p:txBody>
        </p:sp>
        <p:sp>
          <p:nvSpPr>
            <p:cNvPr id="49" name="TextBox 49"/>
            <p:cNvSpPr txBox="1"/>
            <p:nvPr/>
          </p:nvSpPr>
          <p:spPr>
            <a:xfrm>
              <a:off x="3123349" y="4882991"/>
              <a:ext cx="230302" cy="161925"/>
            </a:xfrm>
            <a:prstGeom prst="rect">
              <a:avLst/>
            </a:prstGeom>
            <a:noFill/>
            <a:ln>
              <a:noFill/>
            </a:ln>
          </p:spPr>
          <p:txBody>
            <a:bodyPr wrap="none" lIns="0" tIns="0" rIns="0" bIns="0" anchor="t" anchorCtr="0">
              <a:spAutoFit/>
            </a:bodyPr>
            <a:lstStyle/>
            <a:p>
              <a:pPr algn="ctr"/>
              <a:r>
                <a:rPr lang="zh-CN" sz="820" b="1" dirty="0">
                  <a:solidFill>
                    <a:srgbClr val="D6391E"/>
                  </a:solidFill>
                  <a:latin typeface="+mn-lt"/>
                  <a:ea typeface="+mn-ea"/>
                  <a:cs typeface="+mn-cs"/>
                </a:rPr>
                <a:t>账期</a:t>
              </a:r>
            </a:p>
          </p:txBody>
        </p:sp>
        <p:sp>
          <p:nvSpPr>
            <p:cNvPr id="50" name="Ellipse 50"/>
            <p:cNvSpPr/>
            <p:nvPr/>
          </p:nvSpPr>
          <p:spPr>
            <a:xfrm>
              <a:off x="2971800" y="5038725"/>
              <a:ext cx="533400" cy="95250"/>
            </a:xfrm>
            <a:prstGeom prst="ellipse">
              <a:avLst/>
            </a:prstGeom>
            <a:solidFill>
              <a:srgbClr val="F7C8C0"/>
            </a:solidFill>
            <a:ln>
              <a:noFill/>
            </a:ln>
          </p:spPr>
        </p:sp>
        <p:sp>
          <p:nvSpPr>
            <p:cNvPr id="51" name="TextBox 51"/>
            <p:cNvSpPr txBox="1"/>
            <p:nvPr/>
          </p:nvSpPr>
          <p:spPr>
            <a:xfrm>
              <a:off x="2990008" y="5218986"/>
              <a:ext cx="496984" cy="140494"/>
            </a:xfrm>
            <a:prstGeom prst="rect">
              <a:avLst/>
            </a:prstGeom>
            <a:noFill/>
            <a:ln>
              <a:noFill/>
            </a:ln>
          </p:spPr>
          <p:txBody>
            <a:bodyPr wrap="none" lIns="0" tIns="0" rIns="0" bIns="0" anchor="t" anchorCtr="0">
              <a:spAutoFit/>
            </a:bodyPr>
            <a:lstStyle/>
            <a:p>
              <a:pPr algn="ctr"/>
              <a:r>
                <a:rPr lang="zh-CN" sz="710" dirty="0">
                  <a:solidFill>
                    <a:srgbClr val="8C8C8C"/>
                  </a:solidFill>
                  <a:latin typeface="+mn-lt"/>
                  <a:ea typeface="+mn-ea"/>
                  <a:cs typeface="+mn-cs"/>
                </a:rPr>
                <a:t>(年度结算)</a:t>
              </a:r>
            </a:p>
          </p:txBody>
        </p:sp>
        <p:sp>
          <p:nvSpPr>
            <p:cNvPr id="52" name="TextBox 52"/>
            <p:cNvSpPr txBox="1"/>
            <p:nvPr/>
          </p:nvSpPr>
          <p:spPr>
            <a:xfrm>
              <a:off x="4361599" y="4692491"/>
              <a:ext cx="230302" cy="161925"/>
            </a:xfrm>
            <a:prstGeom prst="rect">
              <a:avLst/>
            </a:prstGeom>
            <a:noFill/>
            <a:ln>
              <a:noFill/>
            </a:ln>
          </p:spPr>
          <p:txBody>
            <a:bodyPr wrap="none" lIns="0" tIns="0" rIns="0" bIns="0" anchor="t" anchorCtr="0">
              <a:spAutoFit/>
            </a:bodyPr>
            <a:lstStyle/>
            <a:p>
              <a:pPr algn="ctr"/>
              <a:r>
                <a:rPr lang="zh-CN" sz="820" b="1" dirty="0">
                  <a:solidFill>
                    <a:srgbClr val="D6391E"/>
                  </a:solidFill>
                  <a:latin typeface="+mn-lt"/>
                  <a:ea typeface="+mn-ea"/>
                  <a:cs typeface="+mn-cs"/>
                </a:rPr>
                <a:t>产品</a:t>
              </a:r>
            </a:p>
          </p:txBody>
        </p:sp>
        <p:sp>
          <p:nvSpPr>
            <p:cNvPr id="53" name="Ellipse 53"/>
            <p:cNvSpPr/>
            <p:nvPr/>
          </p:nvSpPr>
          <p:spPr>
            <a:xfrm>
              <a:off x="4210050" y="4848225"/>
              <a:ext cx="533400" cy="95250"/>
            </a:xfrm>
            <a:prstGeom prst="ellipse">
              <a:avLst/>
            </a:prstGeom>
            <a:solidFill>
              <a:srgbClr val="F7C8C0"/>
            </a:solidFill>
            <a:ln>
              <a:noFill/>
            </a:ln>
          </p:spPr>
        </p:sp>
        <p:sp>
          <p:nvSpPr>
            <p:cNvPr id="54" name="TextBox 54"/>
            <p:cNvSpPr txBox="1"/>
            <p:nvPr/>
          </p:nvSpPr>
          <p:spPr>
            <a:xfrm>
              <a:off x="4228258" y="5028486"/>
              <a:ext cx="496984" cy="140494"/>
            </a:xfrm>
            <a:prstGeom prst="rect">
              <a:avLst/>
            </a:prstGeom>
            <a:noFill/>
            <a:ln>
              <a:noFill/>
            </a:ln>
          </p:spPr>
          <p:txBody>
            <a:bodyPr wrap="none" lIns="0" tIns="0" rIns="0" bIns="0" anchor="t" anchorCtr="0">
              <a:spAutoFit/>
            </a:bodyPr>
            <a:lstStyle/>
            <a:p>
              <a:pPr algn="ctr"/>
              <a:r>
                <a:rPr lang="zh-CN" sz="710" dirty="0">
                  <a:solidFill>
                    <a:srgbClr val="8C8C8C"/>
                  </a:solidFill>
                  <a:latin typeface="+mn-lt"/>
                  <a:ea typeface="+mn-ea"/>
                  <a:cs typeface="+mn-cs"/>
                </a:rPr>
                <a:t>(精挑细选)</a:t>
              </a:r>
            </a:p>
          </p:txBody>
        </p:sp>
      </p:grpSp>
      <p:grpSp>
        <p:nvGrpSpPr>
          <p:cNvPr id="63" name="timeline-axis"/>
          <p:cNvGrpSpPr/>
          <p:nvPr/>
        </p:nvGrpSpPr>
        <p:grpSpPr>
          <a:xfrm>
            <a:off x="5495925" y="1047750"/>
            <a:ext cx="490538" cy="4860608"/>
            <a:chOff x="5495925" y="1047750"/>
            <a:chExt cx="490538" cy="4860608"/>
          </a:xfrm>
        </p:grpSpPr>
        <p:sp>
          <p:nvSpPr>
            <p:cNvPr id="56" name="Line 56"/>
            <p:cNvSpPr/>
            <p:nvPr/>
          </p:nvSpPr>
          <p:spPr>
            <a:xfrm>
              <a:off x="5572125" y="1047750"/>
              <a:ext cx="9525" cy="4857750"/>
            </a:xfrm>
            <a:custGeom>
              <a:avLst/>
              <a:gdLst/>
              <a:ahLst/>
              <a:cxnLst/>
              <a:rect l="l" t="t" r="r" b="b"/>
              <a:pathLst>
                <a:path w="9525" h="4857750">
                  <a:moveTo>
                    <a:pt x="0" y="0"/>
                  </a:moveTo>
                  <a:lnTo>
                    <a:pt x="0" y="4857750"/>
                  </a:lnTo>
                </a:path>
              </a:pathLst>
            </a:custGeom>
            <a:noFill/>
            <a:ln w="19050">
              <a:solidFill>
                <a:srgbClr val="BF857A"/>
              </a:solidFill>
            </a:ln>
          </p:spPr>
        </p:sp>
        <p:sp>
          <p:nvSpPr>
            <p:cNvPr id="57" name="Ellipse 57"/>
            <p:cNvSpPr/>
            <p:nvPr/>
          </p:nvSpPr>
          <p:spPr>
            <a:xfrm>
              <a:off x="5495925" y="1352550"/>
              <a:ext cx="152400" cy="152400"/>
            </a:xfrm>
            <a:prstGeom prst="ellipse">
              <a:avLst/>
            </a:prstGeom>
            <a:solidFill>
              <a:srgbClr val="FFFFFF"/>
            </a:solidFill>
            <a:ln w="23812">
              <a:solidFill>
                <a:srgbClr val="E9563C"/>
              </a:solidFill>
            </a:ln>
          </p:spPr>
        </p:sp>
        <p:sp>
          <p:nvSpPr>
            <p:cNvPr id="58" name="TextBox 58"/>
            <p:cNvSpPr txBox="1"/>
            <p:nvPr/>
          </p:nvSpPr>
          <p:spPr>
            <a:xfrm>
              <a:off x="5748338" y="1303020"/>
              <a:ext cx="238125" cy="319088"/>
            </a:xfrm>
            <a:prstGeom prst="rect">
              <a:avLst/>
            </a:prstGeom>
            <a:noFill/>
            <a:ln>
              <a:noFill/>
            </a:ln>
          </p:spPr>
          <p:txBody>
            <a:bodyPr wrap="none" lIns="0" tIns="0" rIns="0" bIns="0" anchor="t" anchorCtr="0">
              <a:spAutoFit/>
            </a:bodyPr>
            <a:lstStyle/>
            <a:p>
              <a:pPr algn="l">
                <a:lnSpc>
                  <a:spcPts val="1125"/>
                </a:lnSpc>
              </a:pPr>
              <a:r>
                <a:rPr lang="zh-CN" sz="900" b="1" dirty="0">
                  <a:solidFill>
                    <a:srgbClr val="7A3E33"/>
                  </a:solidFill>
                  <a:latin typeface="+mn-lt"/>
                  <a:ea typeface="+mn-ea"/>
                  <a:cs typeface="+mn-cs"/>
                </a:rPr>
                <a:t>应用</a:t>
              </a:r>
              <a:br/>
              <a:r>
                <a:rPr lang="zh-CN" sz="900" b="1" dirty="0">
                  <a:solidFill>
                    <a:srgbClr val="7A3E33"/>
                  </a:solidFill>
                  <a:latin typeface="+mn-lt"/>
                  <a:ea typeface="+mn-ea"/>
                  <a:cs typeface="+mn-cs"/>
                </a:rPr>
                <a:t>出现</a:t>
              </a:r>
            </a:p>
          </p:txBody>
        </p:sp>
        <p:sp>
          <p:nvSpPr>
            <p:cNvPr id="59" name="Ellipse 59"/>
            <p:cNvSpPr/>
            <p:nvPr/>
          </p:nvSpPr>
          <p:spPr>
            <a:xfrm>
              <a:off x="5495925" y="3352800"/>
              <a:ext cx="152400" cy="152400"/>
            </a:xfrm>
            <a:prstGeom prst="ellipse">
              <a:avLst/>
            </a:prstGeom>
            <a:solidFill>
              <a:srgbClr val="FFFFFF"/>
            </a:solidFill>
            <a:ln w="23812">
              <a:solidFill>
                <a:srgbClr val="E9563C"/>
              </a:solidFill>
            </a:ln>
          </p:spPr>
        </p:sp>
        <p:sp>
          <p:nvSpPr>
            <p:cNvPr id="60" name="TextBox 60"/>
            <p:cNvSpPr txBox="1"/>
            <p:nvPr/>
          </p:nvSpPr>
          <p:spPr>
            <a:xfrm>
              <a:off x="5748338" y="3303270"/>
              <a:ext cx="238125" cy="319088"/>
            </a:xfrm>
            <a:prstGeom prst="rect">
              <a:avLst/>
            </a:prstGeom>
            <a:noFill/>
            <a:ln>
              <a:noFill/>
            </a:ln>
          </p:spPr>
          <p:txBody>
            <a:bodyPr wrap="none" lIns="0" tIns="0" rIns="0" bIns="0" anchor="t" anchorCtr="0">
              <a:spAutoFit/>
            </a:bodyPr>
            <a:lstStyle/>
            <a:p>
              <a:pPr algn="l">
                <a:lnSpc>
                  <a:spcPts val="1125"/>
                </a:lnSpc>
              </a:pPr>
              <a:r>
                <a:rPr lang="zh-CN" sz="900" b="1" dirty="0">
                  <a:solidFill>
                    <a:srgbClr val="7A3E33"/>
                  </a:solidFill>
                  <a:latin typeface="+mn-lt"/>
                  <a:ea typeface="+mn-ea"/>
                  <a:cs typeface="+mn-cs"/>
                </a:rPr>
                <a:t>应用</a:t>
              </a:r>
              <a:br/>
              <a:r>
                <a:rPr lang="zh-CN" sz="900" b="1" dirty="0">
                  <a:solidFill>
                    <a:srgbClr val="7A3E33"/>
                  </a:solidFill>
                  <a:latin typeface="+mn-lt"/>
                  <a:ea typeface="+mn-ea"/>
                  <a:cs typeface="+mn-cs"/>
                </a:rPr>
                <a:t>过程</a:t>
              </a:r>
            </a:p>
          </p:txBody>
        </p:sp>
        <p:sp>
          <p:nvSpPr>
            <p:cNvPr id="61" name="Ellipse 61"/>
            <p:cNvSpPr/>
            <p:nvPr/>
          </p:nvSpPr>
          <p:spPr>
            <a:xfrm>
              <a:off x="5495925" y="5638800"/>
              <a:ext cx="152400" cy="152400"/>
            </a:xfrm>
            <a:prstGeom prst="ellipse">
              <a:avLst/>
            </a:prstGeom>
            <a:solidFill>
              <a:srgbClr val="FFFFFF"/>
            </a:solidFill>
            <a:ln w="23812">
              <a:solidFill>
                <a:srgbClr val="E9563C"/>
              </a:solidFill>
            </a:ln>
          </p:spPr>
        </p:sp>
        <p:sp>
          <p:nvSpPr>
            <p:cNvPr id="62" name="TextBox 62"/>
            <p:cNvSpPr txBox="1"/>
            <p:nvPr/>
          </p:nvSpPr>
          <p:spPr>
            <a:xfrm>
              <a:off x="5748338" y="5589270"/>
              <a:ext cx="238125" cy="319088"/>
            </a:xfrm>
            <a:prstGeom prst="rect">
              <a:avLst/>
            </a:prstGeom>
            <a:noFill/>
            <a:ln>
              <a:noFill/>
            </a:ln>
          </p:spPr>
          <p:txBody>
            <a:bodyPr wrap="none" lIns="0" tIns="0" rIns="0" bIns="0" anchor="t" anchorCtr="0">
              <a:spAutoFit/>
            </a:bodyPr>
            <a:lstStyle/>
            <a:p>
              <a:pPr algn="l">
                <a:lnSpc>
                  <a:spcPts val="1125"/>
                </a:lnSpc>
              </a:pPr>
              <a:r>
                <a:rPr lang="zh-CN" sz="900" b="1" dirty="0">
                  <a:solidFill>
                    <a:srgbClr val="7A3E33"/>
                  </a:solidFill>
                  <a:latin typeface="+mn-lt"/>
                  <a:ea typeface="+mn-ea"/>
                  <a:cs typeface="+mn-cs"/>
                </a:rPr>
                <a:t>应用</a:t>
              </a:r>
              <a:br/>
              <a:r>
                <a:rPr lang="zh-CN" sz="900" b="1" dirty="0">
                  <a:solidFill>
                    <a:srgbClr val="7A3E33"/>
                  </a:solidFill>
                  <a:latin typeface="+mn-lt"/>
                  <a:ea typeface="+mn-ea"/>
                  <a:cs typeface="+mn-cs"/>
                </a:rPr>
                <a:t>交付</a:t>
              </a:r>
            </a:p>
          </p:txBody>
        </p:sp>
      </p:grpSp>
      <p:grpSp>
        <p:nvGrpSpPr>
          <p:cNvPr id="77" name="card-progress"/>
          <p:cNvGrpSpPr/>
          <p:nvPr/>
        </p:nvGrpSpPr>
        <p:grpSpPr>
          <a:xfrm>
            <a:off x="6153150" y="876300"/>
            <a:ext cx="2133600" cy="1638300"/>
            <a:chOff x="6153150" y="876300"/>
            <a:chExt cx="2133600" cy="1638300"/>
          </a:xfrm>
        </p:grpSpPr>
        <p:sp>
          <p:nvSpPr>
            <p:cNvPr id="64" name="Rectangle 64"/>
            <p:cNvSpPr/>
            <p:nvPr/>
          </p:nvSpPr>
          <p:spPr>
            <a:xfrm>
              <a:off x="6153150" y="876300"/>
              <a:ext cx="2133600" cy="1638300"/>
            </a:xfrm>
            <a:prstGeom prst="rect">
              <a:avLst/>
            </a:prstGeom>
            <a:solidFill>
              <a:srgbClr val="FFFFFF"/>
            </a:solidFill>
            <a:ln w="11430">
              <a:solidFill>
                <a:srgbClr val="BF857A"/>
              </a:solidFill>
              <a:custDash>
                <a:ds d="416667" sp="250000"/>
              </a:custDash>
            </a:ln>
          </p:spPr>
        </p:sp>
        <p:sp>
          <p:nvSpPr>
            <p:cNvPr id="65" name="TextBox 65"/>
            <p:cNvSpPr txBox="1"/>
            <p:nvPr/>
          </p:nvSpPr>
          <p:spPr>
            <a:xfrm>
              <a:off x="6281738" y="1027986"/>
              <a:ext cx="391846" cy="140494"/>
            </a:xfrm>
            <a:prstGeom prst="rect">
              <a:avLst/>
            </a:prstGeom>
            <a:noFill/>
            <a:ln>
              <a:noFill/>
            </a:ln>
          </p:spPr>
          <p:txBody>
            <a:bodyPr wrap="none" lIns="0" tIns="0" rIns="0" bIns="0" anchor="t" anchorCtr="0">
              <a:spAutoFit/>
            </a:bodyPr>
            <a:lstStyle/>
            <a:p>
              <a:pPr algn="l"/>
              <a:r>
                <a:rPr lang="zh-CN" sz="710" dirty="0">
                  <a:solidFill>
                    <a:srgbClr val="595959"/>
                  </a:solidFill>
                  <a:latin typeface="+mn-lt"/>
                  <a:ea typeface="+mn-ea"/>
                  <a:cs typeface="+mn-cs"/>
                </a:rPr>
                <a:t>负责人：</a:t>
              </a:r>
            </a:p>
          </p:txBody>
        </p:sp>
        <p:sp>
          <p:nvSpPr>
            <p:cNvPr id="66" name="Ellipse 66"/>
            <p:cNvSpPr/>
            <p:nvPr/>
          </p:nvSpPr>
          <p:spPr>
            <a:xfrm>
              <a:off x="6296025" y="1228725"/>
              <a:ext cx="171450" cy="171450"/>
            </a:xfrm>
            <a:prstGeom prst="ellipse">
              <a:avLst/>
            </a:prstGeom>
            <a:solidFill>
              <a:srgbClr val="C9D8BD"/>
            </a:solidFill>
            <a:ln>
              <a:noFill/>
            </a:ln>
          </p:spPr>
        </p:sp>
        <p:sp>
          <p:nvSpPr>
            <p:cNvPr id="67" name="TextBox 67"/>
            <p:cNvSpPr txBox="1"/>
            <p:nvPr/>
          </p:nvSpPr>
          <p:spPr>
            <a:xfrm>
              <a:off x="6510338" y="1275636"/>
              <a:ext cx="305824"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@飞飞​</a:t>
              </a:r>
            </a:p>
          </p:txBody>
        </p:sp>
        <p:sp>
          <p:nvSpPr>
            <p:cNvPr id="68" name="Ellipse 68"/>
            <p:cNvSpPr/>
            <p:nvPr/>
          </p:nvSpPr>
          <p:spPr>
            <a:xfrm>
              <a:off x="6943725" y="1228725"/>
              <a:ext cx="171450" cy="171450"/>
            </a:xfrm>
            <a:prstGeom prst="ellipse">
              <a:avLst/>
            </a:prstGeom>
            <a:solidFill>
              <a:srgbClr val="C9D8BD"/>
            </a:solidFill>
            <a:ln>
              <a:noFill/>
            </a:ln>
          </p:spPr>
        </p:sp>
        <p:sp>
          <p:nvSpPr>
            <p:cNvPr id="69" name="TextBox 69"/>
            <p:cNvSpPr txBox="1"/>
            <p:nvPr/>
          </p:nvSpPr>
          <p:spPr>
            <a:xfrm>
              <a:off x="7158038" y="1275636"/>
              <a:ext cx="305824" cy="140494"/>
            </a:xfrm>
            <a:prstGeom prst="rect">
              <a:avLst/>
            </a:prstGeom>
            <a:noFill/>
            <a:ln>
              <a:noFill/>
            </a:ln>
          </p:spPr>
          <p:txBody>
            <a:bodyPr wrap="none" lIns="0" tIns="0" rIns="0" bIns="0" anchor="t" anchorCtr="0">
              <a:spAutoFit/>
            </a:bodyPr>
            <a:lstStyle/>
            <a:p>
              <a:pPr algn="l"/>
              <a:r>
                <a:rPr lang="zh-CN" sz="710" dirty="0">
                  <a:solidFill>
                    <a:srgbClr val="333333"/>
                  </a:solidFill>
                  <a:latin typeface="+mn-lt"/>
                  <a:ea typeface="+mn-ea"/>
                  <a:cs typeface="+mn-cs"/>
                </a:rPr>
                <a:t>@啊升​</a:t>
              </a:r>
            </a:p>
          </p:txBody>
        </p:sp>
        <p:sp>
          <p:nvSpPr>
            <p:cNvPr id="70" name="TextBox 70"/>
            <p:cNvSpPr txBox="1"/>
            <p:nvPr/>
          </p:nvSpPr>
          <p:spPr>
            <a:xfrm>
              <a:off x="6281738" y="1504236"/>
              <a:ext cx="391846" cy="140494"/>
            </a:xfrm>
            <a:prstGeom prst="rect">
              <a:avLst/>
            </a:prstGeom>
            <a:noFill/>
            <a:ln>
              <a:noFill/>
            </a:ln>
          </p:spPr>
          <p:txBody>
            <a:bodyPr wrap="none" lIns="0" tIns="0" rIns="0" bIns="0" anchor="t" anchorCtr="0">
              <a:spAutoFit/>
            </a:bodyPr>
            <a:lstStyle/>
            <a:p>
              <a:pPr algn="l"/>
              <a:r>
                <a:rPr lang="zh-CN" sz="710" dirty="0">
                  <a:solidFill>
                    <a:srgbClr val="595959"/>
                  </a:solidFill>
                  <a:latin typeface="+mn-lt"/>
                  <a:ea typeface="+mn-ea"/>
                  <a:cs typeface="+mn-cs"/>
                </a:rPr>
                <a:t>完成状态</a:t>
              </a:r>
            </a:p>
          </p:txBody>
        </p:sp>
        <p:sp>
          <p:nvSpPr>
            <p:cNvPr id="71" name="Rectangle 71"/>
            <p:cNvSpPr/>
            <p:nvPr/>
          </p:nvSpPr>
          <p:spPr>
            <a:xfrm>
              <a:off x="6286500" y="1657350"/>
              <a:ext cx="666750" cy="171450"/>
            </a:xfrm>
            <a:prstGeom prst="roundRect">
              <a:avLst>
                <a:gd name="adj" fmla="val 16667"/>
              </a:avLst>
            </a:prstGeom>
            <a:solidFill>
              <a:srgbClr val="DFF0D2"/>
            </a:solidFill>
            <a:ln>
              <a:noFill/>
            </a:ln>
          </p:spPr>
        </p:sp>
        <p:sp>
          <p:nvSpPr>
            <p:cNvPr id="72" name="TextBox 72"/>
            <p:cNvSpPr txBox="1"/>
            <p:nvPr/>
          </p:nvSpPr>
          <p:spPr>
            <a:xfrm>
              <a:off x="6423952" y="1704261"/>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超出预期</a:t>
              </a:r>
            </a:p>
          </p:txBody>
        </p:sp>
        <p:sp>
          <p:nvSpPr>
            <p:cNvPr id="73" name="Rectangle 73"/>
            <p:cNvSpPr/>
            <p:nvPr/>
          </p:nvSpPr>
          <p:spPr>
            <a:xfrm>
              <a:off x="7048500" y="1657350"/>
              <a:ext cx="666750" cy="171450"/>
            </a:xfrm>
            <a:prstGeom prst="roundRect">
              <a:avLst>
                <a:gd name="adj" fmla="val 16667"/>
              </a:avLst>
            </a:prstGeom>
            <a:solidFill>
              <a:srgbClr val="EEEEEE"/>
            </a:solidFill>
            <a:ln>
              <a:noFill/>
            </a:ln>
          </p:spPr>
        </p:sp>
        <p:sp>
          <p:nvSpPr>
            <p:cNvPr id="74" name="TextBox 74"/>
            <p:cNvSpPr txBox="1"/>
            <p:nvPr/>
          </p:nvSpPr>
          <p:spPr>
            <a:xfrm>
              <a:off x="7185952" y="1704261"/>
              <a:ext cx="391846" cy="140494"/>
            </a:xfrm>
            <a:prstGeom prst="rect">
              <a:avLst/>
            </a:prstGeom>
            <a:noFill/>
            <a:ln>
              <a:noFill/>
            </a:ln>
          </p:spPr>
          <p:txBody>
            <a:bodyPr wrap="none" lIns="0" tIns="0" rIns="0" bIns="0" anchor="t" anchorCtr="0">
              <a:spAutoFit/>
            </a:bodyPr>
            <a:lstStyle/>
            <a:p>
              <a:pPr algn="ctr"/>
              <a:r>
                <a:rPr lang="zh-CN" sz="710" dirty="0">
                  <a:solidFill>
                    <a:srgbClr val="8C8C8C"/>
                  </a:solidFill>
                  <a:latin typeface="+mn-lt"/>
                  <a:ea typeface="+mn-ea"/>
                  <a:cs typeface="+mn-cs"/>
                </a:rPr>
                <a:t>未达预期</a:t>
              </a:r>
            </a:p>
          </p:txBody>
        </p:sp>
        <p:sp>
          <p:nvSpPr>
            <p:cNvPr id="75" name="TextBox 75"/>
            <p:cNvSpPr txBox="1"/>
            <p:nvPr/>
          </p:nvSpPr>
          <p:spPr>
            <a:xfrm>
              <a:off x="6281738" y="1961436"/>
              <a:ext cx="391846" cy="140494"/>
            </a:xfrm>
            <a:prstGeom prst="rect">
              <a:avLst/>
            </a:prstGeom>
            <a:noFill/>
            <a:ln>
              <a:noFill/>
            </a:ln>
          </p:spPr>
          <p:txBody>
            <a:bodyPr wrap="none" lIns="0" tIns="0" rIns="0" bIns="0" anchor="t" anchorCtr="0">
              <a:spAutoFit/>
            </a:bodyPr>
            <a:lstStyle/>
            <a:p>
              <a:pPr algn="l"/>
              <a:r>
                <a:rPr lang="zh-CN" sz="710" dirty="0">
                  <a:solidFill>
                    <a:srgbClr val="595959"/>
                  </a:solidFill>
                  <a:latin typeface="+mn-lt"/>
                  <a:ea typeface="+mn-ea"/>
                  <a:cs typeface="+mn-cs"/>
                </a:rPr>
                <a:t>详细进展</a:t>
              </a:r>
            </a:p>
          </p:txBody>
        </p:sp>
        <p:sp>
          <p:nvSpPr>
            <p:cNvPr id="76" name="TextBox 76"/>
            <p:cNvSpPr txBox="1"/>
            <p:nvPr/>
          </p:nvSpPr>
          <p:spPr>
            <a:xfrm>
              <a:off x="6357938" y="2132886"/>
              <a:ext cx="915734" cy="302419"/>
            </a:xfrm>
            <a:prstGeom prst="rect">
              <a:avLst/>
            </a:prstGeom>
            <a:noFill/>
            <a:ln>
              <a:noFill/>
            </a:ln>
          </p:spPr>
          <p:txBody>
            <a:bodyPr wrap="none" lIns="0" tIns="0" rIns="0" bIns="0" anchor="t" anchorCtr="0">
              <a:spAutoFit/>
            </a:bodyPr>
            <a:lstStyle/>
            <a:p>
              <a:pPr algn="l" marL="76644" indent="-76644">
                <a:lnSpc>
                  <a:spcPts val="1275"/>
                </a:lnSpc>
                <a:buClr>
                  <a:srgbClr val="333333"/>
                </a:buClr>
                <a:buSzTx/>
                <a:buFontTx/>
                <a:buChar char="•"/>
              </a:pPr>
              <a:r>
                <a:rPr lang="zh-CN" sz="710" dirty="0">
                  <a:solidFill>
                    <a:srgbClr val="333333"/>
                  </a:solidFill>
                  <a:latin typeface="+mn-lt"/>
                  <a:ea typeface="+mn-ea"/>
                  <a:cs typeface="+mn-cs"/>
                </a:rPr>
                <a:t>曝光量达到105万​</a:t>
              </a:r>
            </a:p>
            <a:p>
              <a:pPr algn="l" marL="76644" indent="-76644">
                <a:lnSpc>
                  <a:spcPts val="1275"/>
                </a:lnSpc>
                <a:buClr>
                  <a:srgbClr val="333333"/>
                </a:buClr>
                <a:buSzTx/>
                <a:buFontTx/>
                <a:buChar char="•"/>
              </a:pPr>
              <a:r>
                <a:rPr lang="zh-CN" sz="710" dirty="0">
                  <a:solidFill>
                    <a:srgbClr val="333333"/>
                  </a:solidFill>
                  <a:latin typeface="+mn-lt"/>
                  <a:ea typeface="+mn-ea"/>
                  <a:cs typeface="+mn-cs"/>
                </a:rPr>
                <a:t>触达高区高校105个​</a:t>
              </a:r>
            </a:p>
          </p:txBody>
        </p:sp>
      </p:grpSp>
      <p:grpSp>
        <p:nvGrpSpPr>
          <p:cNvPr id="91" name="card-measure"/>
          <p:cNvGrpSpPr/>
          <p:nvPr/>
        </p:nvGrpSpPr>
        <p:grpSpPr>
          <a:xfrm>
            <a:off x="6153150" y="2686050"/>
            <a:ext cx="2133600" cy="3200400"/>
            <a:chOff x="6153150" y="2686050"/>
            <a:chExt cx="2133600" cy="3200400"/>
          </a:xfrm>
        </p:grpSpPr>
        <p:sp>
          <p:nvSpPr>
            <p:cNvPr id="78" name="Rectangle 78"/>
            <p:cNvSpPr/>
            <p:nvPr/>
          </p:nvSpPr>
          <p:spPr>
            <a:xfrm>
              <a:off x="6153150" y="2686050"/>
              <a:ext cx="2133600" cy="3200400"/>
            </a:xfrm>
            <a:prstGeom prst="rect">
              <a:avLst/>
            </a:prstGeom>
            <a:solidFill>
              <a:srgbClr val="FFFFFF"/>
            </a:solidFill>
            <a:ln w="11430">
              <a:solidFill>
                <a:srgbClr val="E9563C"/>
              </a:solidFill>
              <a:custDash>
                <a:ds d="416667" sp="250000"/>
              </a:custDash>
            </a:ln>
          </p:spPr>
        </p:sp>
        <p:sp>
          <p:nvSpPr>
            <p:cNvPr id="79" name="TextBox 79"/>
            <p:cNvSpPr txBox="1"/>
            <p:nvPr/>
          </p:nvSpPr>
          <p:spPr>
            <a:xfrm>
              <a:off x="6281738" y="2825591"/>
              <a:ext cx="561467" cy="161925"/>
            </a:xfrm>
            <a:prstGeom prst="rect">
              <a:avLst/>
            </a:prstGeom>
            <a:noFill/>
            <a:ln>
              <a:noFill/>
            </a:ln>
          </p:spPr>
          <p:txBody>
            <a:bodyPr wrap="none" lIns="0" tIns="0" rIns="0" bIns="0" anchor="t" anchorCtr="0">
              <a:spAutoFit/>
            </a:bodyPr>
            <a:lstStyle/>
            <a:p>
              <a:pPr algn="l"/>
              <a:r>
                <a:rPr lang="zh-CN" sz="820" b="1" dirty="0">
                  <a:solidFill>
                    <a:srgbClr val="D6391E"/>
                  </a:solidFill>
                  <a:latin typeface="+mn-lt"/>
                  <a:ea typeface="+mn-ea"/>
                  <a:cs typeface="+mn-cs"/>
                </a:rPr>
                <a:t>短期内衡量</a:t>
              </a:r>
            </a:p>
          </p:txBody>
        </p:sp>
        <p:sp>
          <p:nvSpPr>
            <p:cNvPr id="80" name="TextBox 80"/>
            <p:cNvSpPr txBox="1"/>
            <p:nvPr/>
          </p:nvSpPr>
          <p:spPr>
            <a:xfrm>
              <a:off x="6281738" y="2986088"/>
              <a:ext cx="1019175" cy="147638"/>
            </a:xfrm>
            <a:prstGeom prst="rect">
              <a:avLst/>
            </a:prstGeom>
            <a:noFill/>
            <a:ln>
              <a:noFill/>
            </a:ln>
          </p:spPr>
          <p:txBody>
            <a:bodyPr wrap="none" lIns="0" tIns="0" rIns="0" bIns="0" anchor="t" anchorCtr="0">
              <a:spAutoFit/>
            </a:bodyPr>
            <a:lstStyle/>
            <a:p>
              <a:pPr algn="l"/>
              <a:r>
                <a:rPr lang="zh-CN" sz="750" dirty="0">
                  <a:solidFill>
                    <a:srgbClr val="D6391E"/>
                  </a:solidFill>
                  <a:latin typeface="+mn-lt"/>
                  <a:ea typeface="+mn-ea"/>
                  <a:cs typeface="+mn-cs"/>
                </a:rPr>
                <a:t>用户幸福感的用户得分</a:t>
              </a:r>
            </a:p>
          </p:txBody>
        </p:sp>
        <p:sp>
          <p:nvSpPr>
            <p:cNvPr id="81" name="TextBox 81"/>
            <p:cNvSpPr txBox="1"/>
            <p:nvPr/>
          </p:nvSpPr>
          <p:spPr>
            <a:xfrm>
              <a:off x="6281738" y="3188732"/>
              <a:ext cx="1407541" cy="469106"/>
            </a:xfrm>
            <a:prstGeom prst="rect">
              <a:avLst/>
            </a:prstGeom>
            <a:noFill/>
            <a:ln>
              <a:noFill/>
            </a:ln>
          </p:spPr>
          <p:txBody>
            <a:bodyPr wrap="none" lIns="0" tIns="0" rIns="0" bIns="0" anchor="t" anchorCtr="0">
              <a:spAutoFit/>
            </a:bodyPr>
            <a:lstStyle/>
            <a:p>
              <a:pPr algn="l">
                <a:lnSpc>
                  <a:spcPts val="900"/>
                </a:lnSpc>
              </a:pPr>
              <a:r>
                <a:rPr lang="zh-CN" sz="640" dirty="0">
                  <a:solidFill>
                    <a:srgbClr val="595959"/>
                  </a:solidFill>
                  <a:latin typeface="+mn-lt"/>
                  <a:ea typeface="+mn-ea"/>
                  <a:cs typeface="+mn-cs"/>
                </a:rPr>
                <a:t>受访者必须在1-5层次之间表达对某一​</a:t>
              </a:r>
              <a:br/>
              <a:r>
                <a:rPr lang="zh-CN" sz="640" dirty="0">
                  <a:solidFill>
                    <a:srgbClr val="595959"/>
                  </a:solidFill>
                  <a:latin typeface="+mn-lt"/>
                  <a:ea typeface="+mn-ea"/>
                  <a:cs typeface="+mn-cs"/>
                </a:rPr>
                <a:t>话题或内容的满意度受访者必须在1-5​</a:t>
              </a:r>
              <a:br/>
              <a:r>
                <a:rPr lang="zh-CN" sz="640" dirty="0">
                  <a:solidFill>
                    <a:srgbClr val="595959"/>
                  </a:solidFill>
                  <a:latin typeface="+mn-lt"/>
                  <a:ea typeface="+mn-ea"/>
                  <a:cs typeface="+mn-cs"/>
                </a:rPr>
                <a:t>层次之间表达对某一话题或内容的满</a:t>
              </a:r>
              <a:br/>
              <a:r>
                <a:rPr lang="zh-CN" sz="640" dirty="0">
                  <a:solidFill>
                    <a:srgbClr val="595959"/>
                  </a:solidFill>
                  <a:latin typeface="+mn-lt"/>
                  <a:ea typeface="+mn-ea"/>
                  <a:cs typeface="+mn-cs"/>
                </a:rPr>
                <a:t>意度</a:t>
              </a:r>
            </a:p>
          </p:txBody>
        </p:sp>
        <p:sp>
          <p:nvSpPr>
            <p:cNvPr id="82" name="TextBox 82"/>
            <p:cNvSpPr txBox="1"/>
            <p:nvPr/>
          </p:nvSpPr>
          <p:spPr>
            <a:xfrm>
              <a:off x="6281738" y="3749278"/>
              <a:ext cx="792855" cy="111919"/>
            </a:xfrm>
            <a:prstGeom prst="rect">
              <a:avLst/>
            </a:prstGeom>
            <a:noFill/>
            <a:ln>
              <a:noFill/>
            </a:ln>
          </p:spPr>
          <p:txBody>
            <a:bodyPr wrap="none" lIns="0" tIns="0" rIns="0" bIns="0" anchor="t" anchorCtr="0">
              <a:spAutoFit/>
            </a:bodyPr>
            <a:lstStyle/>
            <a:p>
              <a:pPr algn="l"/>
              <a:r>
                <a:rPr lang="zh-CN" sz="560" dirty="0">
                  <a:solidFill>
                    <a:srgbClr val="595959"/>
                  </a:solidFill>
                  <a:latin typeface="+mn-lt"/>
                  <a:ea typeface="+mn-ea"/>
                  <a:cs typeface="+mn-cs"/>
                </a:rPr>
                <a:t>1965年 Cardo0发表于​</a:t>
              </a:r>
            </a:p>
          </p:txBody>
        </p:sp>
        <p:sp>
          <p:nvSpPr>
            <p:cNvPr id="83" name="TextBox 83"/>
            <p:cNvSpPr txBox="1"/>
            <p:nvPr/>
          </p:nvSpPr>
          <p:spPr>
            <a:xfrm>
              <a:off x="6281738" y="3863578"/>
              <a:ext cx="1517269" cy="207169"/>
            </a:xfrm>
            <a:prstGeom prst="rect">
              <a:avLst/>
            </a:prstGeom>
            <a:noFill/>
            <a:ln>
              <a:noFill/>
            </a:ln>
          </p:spPr>
          <p:txBody>
            <a:bodyPr wrap="none" lIns="0" tIns="0" rIns="0" bIns="0" anchor="t" anchorCtr="0">
              <a:spAutoFit/>
            </a:bodyPr>
            <a:lstStyle/>
            <a:p>
              <a:pPr algn="l">
                <a:lnSpc>
                  <a:spcPts val="750"/>
                </a:lnSpc>
              </a:pPr>
              <a:r>
                <a:rPr lang="en-US" sz="560" dirty="0">
                  <a:solidFill>
                    <a:srgbClr val="595959"/>
                  </a:solidFill>
                  <a:latin typeface="+mn-lt"/>
                  <a:ea typeface="+mn-ea"/>
                  <a:cs typeface="+mn-cs"/>
                </a:rPr>
                <a:t>AN Experimental Study of Customer Effort,</a:t>
              </a:r>
              <a:br/>
              <a:r>
                <a:rPr lang="en-US" sz="560" dirty="0">
                  <a:solidFill>
                    <a:srgbClr val="595959"/>
                  </a:solidFill>
                  <a:latin typeface="+mn-lt"/>
                  <a:ea typeface="+mn-ea"/>
                  <a:cs typeface="+mn-cs"/>
                </a:rPr>
                <a:t>Expectation, and Satisfaction</a:t>
              </a:r>
            </a:p>
          </p:txBody>
        </p:sp>
        <p:sp>
          <p:nvSpPr>
            <p:cNvPr id="84" name="TextBox 84"/>
            <p:cNvSpPr txBox="1"/>
            <p:nvPr/>
          </p:nvSpPr>
          <p:spPr>
            <a:xfrm>
              <a:off x="6281738" y="4111228"/>
              <a:ext cx="744550" cy="111919"/>
            </a:xfrm>
            <a:prstGeom prst="rect">
              <a:avLst/>
            </a:prstGeom>
            <a:noFill/>
            <a:ln>
              <a:noFill/>
            </a:ln>
          </p:spPr>
          <p:txBody>
            <a:bodyPr wrap="none" lIns="0" tIns="0" rIns="0" bIns="0" anchor="t" anchorCtr="0">
              <a:spAutoFit/>
            </a:bodyPr>
            <a:lstStyle/>
            <a:p>
              <a:pPr algn="l"/>
              <a:r>
                <a:rPr lang="zh-CN" sz="560" dirty="0">
                  <a:solidFill>
                    <a:srgbClr val="595959"/>
                  </a:solidFill>
                  <a:latin typeface="+mn-lt"/>
                  <a:ea typeface="+mn-ea"/>
                  <a:cs typeface="+mn-cs"/>
                </a:rPr>
                <a:t>2003年引入网络推广​</a:t>
              </a:r>
            </a:p>
          </p:txBody>
        </p:sp>
        <p:sp>
          <p:nvSpPr>
            <p:cNvPr id="85" name="TextBox 85"/>
            <p:cNvSpPr txBox="1"/>
            <p:nvPr/>
          </p:nvSpPr>
          <p:spPr>
            <a:xfrm>
              <a:off x="6281738" y="4225528"/>
              <a:ext cx="1517269" cy="207169"/>
            </a:xfrm>
            <a:prstGeom prst="rect">
              <a:avLst/>
            </a:prstGeom>
            <a:noFill/>
            <a:ln>
              <a:noFill/>
            </a:ln>
          </p:spPr>
          <p:txBody>
            <a:bodyPr wrap="none" lIns="0" tIns="0" rIns="0" bIns="0" anchor="t" anchorCtr="0">
              <a:spAutoFit/>
            </a:bodyPr>
            <a:lstStyle/>
            <a:p>
              <a:pPr algn="l">
                <a:lnSpc>
                  <a:spcPts val="750"/>
                </a:lnSpc>
              </a:pPr>
              <a:r>
                <a:rPr lang="en-US" sz="560" dirty="0">
                  <a:solidFill>
                    <a:srgbClr val="595959"/>
                  </a:solidFill>
                  <a:latin typeface="+mn-lt"/>
                  <a:ea typeface="+mn-ea"/>
                  <a:cs typeface="+mn-cs"/>
                </a:rPr>
                <a:t>AN Experimental Study of Customer Effort,</a:t>
              </a:r>
              <a:br/>
              <a:r>
                <a:rPr lang="en-US" sz="560" dirty="0">
                  <a:solidFill>
                    <a:srgbClr val="595959"/>
                  </a:solidFill>
                  <a:latin typeface="+mn-lt"/>
                  <a:ea typeface="+mn-ea"/>
                  <a:cs typeface="+mn-cs"/>
                </a:rPr>
                <a:t>Expectation, and Satisfaction</a:t>
              </a:r>
            </a:p>
          </p:txBody>
        </p:sp>
        <p:sp>
          <p:nvSpPr>
            <p:cNvPr id="86" name="Rectangle 86"/>
            <p:cNvSpPr/>
            <p:nvPr/>
          </p:nvSpPr>
          <p:spPr>
            <a:xfrm>
              <a:off x="6286500" y="4533900"/>
              <a:ext cx="1866900" cy="1219200"/>
            </a:xfrm>
            <a:prstGeom prst="roundRect">
              <a:avLst>
                <a:gd name="adj" fmla="val 3125"/>
              </a:avLst>
            </a:prstGeom>
            <a:solidFill>
              <a:srgbClr val="EEF1EC"/>
            </a:solidFill>
            <a:ln>
              <a:noFill/>
            </a:ln>
          </p:spPr>
        </p:sp>
        <p:sp>
          <p:nvSpPr>
            <p:cNvPr id="87" name="Rectangle 87"/>
            <p:cNvSpPr/>
            <p:nvPr/>
          </p:nvSpPr>
          <p:spPr>
            <a:xfrm>
              <a:off x="6572250" y="4762500"/>
              <a:ext cx="1047750" cy="628650"/>
            </a:xfrm>
            <a:prstGeom prst="roundRect">
              <a:avLst>
                <a:gd name="adj" fmla="val 4545"/>
              </a:avLst>
            </a:prstGeom>
            <a:solidFill>
              <a:srgbClr val="513F3B"/>
            </a:solidFill>
            <a:ln>
              <a:noFill/>
            </a:ln>
          </p:spPr>
        </p:sp>
        <p:sp>
          <p:nvSpPr>
            <p:cNvPr id="88" name="Rectangle 88"/>
            <p:cNvSpPr/>
            <p:nvPr/>
          </p:nvSpPr>
          <p:spPr>
            <a:xfrm>
              <a:off x="6629400" y="4819650"/>
              <a:ext cx="933450" cy="514350"/>
            </a:xfrm>
            <a:prstGeom prst="rect">
              <a:avLst/>
            </a:prstGeom>
            <a:solidFill>
              <a:srgbClr val="C9A69F"/>
            </a:solidFill>
            <a:ln>
              <a:noFill/>
            </a:ln>
          </p:spPr>
        </p:sp>
        <p:sp>
          <p:nvSpPr>
            <p:cNvPr id="89" name="Rectangle 89"/>
            <p:cNvSpPr/>
            <p:nvPr/>
          </p:nvSpPr>
          <p:spPr>
            <a:xfrm>
              <a:off x="6477000" y="5391150"/>
              <a:ext cx="1238250" cy="76200"/>
            </a:xfrm>
            <a:prstGeom prst="roundRect">
              <a:avLst>
                <a:gd name="adj" fmla="val 25000"/>
              </a:avLst>
            </a:prstGeom>
            <a:solidFill>
              <a:srgbClr val="705F5B"/>
            </a:solidFill>
            <a:ln>
              <a:noFill/>
            </a:ln>
          </p:spPr>
        </p:sp>
        <p:sp>
          <p:nvSpPr>
            <p:cNvPr id="90" name="Rectangle 90"/>
            <p:cNvSpPr/>
            <p:nvPr/>
          </p:nvSpPr>
          <p:spPr>
            <a:xfrm>
              <a:off x="7239000" y="5562600"/>
              <a:ext cx="762000" cy="114300"/>
            </a:xfrm>
            <a:prstGeom prst="roundRect">
              <a:avLst>
                <a:gd name="adj" fmla="val 16667"/>
              </a:avLst>
            </a:prstGeom>
            <a:solidFill>
              <a:srgbClr val="D8DDD5"/>
            </a:solidFill>
            <a:ln>
              <a:noFill/>
            </a:ln>
          </p:spPr>
        </p:sp>
      </p:grpSp>
      <p:grpSp>
        <p:nvGrpSpPr>
          <p:cNvPr id="96" name="phone-links"/>
          <p:cNvGrpSpPr/>
          <p:nvPr/>
        </p:nvGrpSpPr>
        <p:grpSpPr>
          <a:xfrm>
            <a:off x="8343900" y="1980486"/>
            <a:ext cx="285750" cy="1962865"/>
            <a:chOff x="8343900" y="1980486"/>
            <a:chExt cx="285750" cy="1962865"/>
          </a:xfrm>
        </p:grpSpPr>
        <p:sp>
          <p:nvSpPr>
            <p:cNvPr id="92" name="TextBox 92"/>
            <p:cNvSpPr txBox="1"/>
            <p:nvPr/>
          </p:nvSpPr>
          <p:spPr>
            <a:xfrm>
              <a:off x="8357857" y="1980486"/>
              <a:ext cx="200685" cy="140494"/>
            </a:xfrm>
            <a:prstGeom prst="rect">
              <a:avLst/>
            </a:prstGeom>
            <a:noFill/>
            <a:ln>
              <a:noFill/>
            </a:ln>
          </p:spPr>
          <p:txBody>
            <a:bodyPr wrap="none" lIns="0" tIns="0" rIns="0" bIns="0" anchor="t" anchorCtr="0">
              <a:spAutoFit/>
            </a:bodyPr>
            <a:lstStyle/>
            <a:p>
              <a:pPr algn="ctr"/>
              <a:r>
                <a:rPr lang="zh-CN" sz="710" dirty="0">
                  <a:solidFill>
                    <a:srgbClr val="595959"/>
                  </a:solidFill>
                  <a:latin typeface="+mn-lt"/>
                  <a:ea typeface="+mn-ea"/>
                  <a:cs typeface="+mn-cs"/>
                </a:rPr>
                <a:t>结论</a:t>
              </a:r>
            </a:p>
          </p:txBody>
        </p:sp>
        <p:sp>
          <p:nvSpPr>
            <p:cNvPr id="93" name="Line 93"/>
            <p:cNvSpPr/>
            <p:nvPr/>
          </p:nvSpPr>
          <p:spPr>
            <a:xfrm flipH="1">
              <a:off x="8343900" y="2152650"/>
              <a:ext cx="285750" cy="1"/>
            </a:xfrm>
            <a:prstGeom prst="line">
              <a:avLst/>
            </a:prstGeom>
            <a:noFill/>
            <a:ln w="11430">
              <a:solidFill>
                <a:srgbClr val="7A7A7A"/>
              </a:solidFill>
              <a:tailEnd type="triangle" w="lg" len="lg"/>
            </a:ln>
          </p:spPr>
        </p:sp>
        <p:sp>
          <p:nvSpPr>
            <p:cNvPr id="94" name="TextBox 94"/>
            <p:cNvSpPr txBox="1"/>
            <p:nvPr/>
          </p:nvSpPr>
          <p:spPr>
            <a:xfrm>
              <a:off x="8357857" y="3771186"/>
              <a:ext cx="200685" cy="140494"/>
            </a:xfrm>
            <a:prstGeom prst="rect">
              <a:avLst/>
            </a:prstGeom>
            <a:noFill/>
            <a:ln>
              <a:noFill/>
            </a:ln>
          </p:spPr>
          <p:txBody>
            <a:bodyPr wrap="none" lIns="0" tIns="0" rIns="0" bIns="0" anchor="t" anchorCtr="0">
              <a:spAutoFit/>
            </a:bodyPr>
            <a:lstStyle/>
            <a:p>
              <a:pPr algn="ctr"/>
              <a:r>
                <a:rPr lang="zh-CN" sz="710" dirty="0">
                  <a:solidFill>
                    <a:srgbClr val="595959"/>
                  </a:solidFill>
                  <a:latin typeface="+mn-lt"/>
                  <a:ea typeface="+mn-ea"/>
                  <a:cs typeface="+mn-cs"/>
                </a:rPr>
                <a:t>发展</a:t>
              </a:r>
            </a:p>
          </p:txBody>
        </p:sp>
        <p:sp>
          <p:nvSpPr>
            <p:cNvPr id="95" name="Line 95"/>
            <p:cNvSpPr/>
            <p:nvPr/>
          </p:nvSpPr>
          <p:spPr>
            <a:xfrm flipH="1">
              <a:off x="8343900" y="3943350"/>
              <a:ext cx="285750" cy="1"/>
            </a:xfrm>
            <a:prstGeom prst="line">
              <a:avLst/>
            </a:prstGeom>
            <a:noFill/>
            <a:ln w="11430">
              <a:solidFill>
                <a:srgbClr val="7A7A7A"/>
              </a:solidFill>
              <a:tailEnd type="triangle" w="lg" len="lg"/>
            </a:ln>
          </p:spPr>
        </p:sp>
      </p:grpSp>
      <p:grpSp>
        <p:nvGrpSpPr>
          <p:cNvPr id="124" name="phone-panel"/>
          <p:cNvGrpSpPr/>
          <p:nvPr/>
        </p:nvGrpSpPr>
        <p:grpSpPr>
          <a:xfrm>
            <a:off x="8801100" y="914400"/>
            <a:ext cx="2914650" cy="4953000"/>
            <a:chOff x="8801100" y="914400"/>
            <a:chExt cx="2914650" cy="4953000"/>
          </a:xfrm>
        </p:grpSpPr>
        <p:sp>
          <p:nvSpPr>
            <p:cNvPr id="97" name="Rectangle 97"/>
            <p:cNvSpPr/>
            <p:nvPr/>
          </p:nvSpPr>
          <p:spPr>
            <a:xfrm>
              <a:off x="8801100" y="914400"/>
              <a:ext cx="2914650" cy="4953000"/>
            </a:xfrm>
            <a:prstGeom prst="roundRect">
              <a:avLst>
                <a:gd name="adj" fmla="val 9804"/>
              </a:avLst>
            </a:prstGeom>
            <a:solidFill>
              <a:srgbClr val="FFFFFF"/>
            </a:solidFill>
            <a:ln w="19050">
              <a:solidFill>
                <a:srgbClr val="BF857A"/>
              </a:solidFill>
            </a:ln>
          </p:spPr>
        </p:sp>
        <p:sp>
          <p:nvSpPr>
            <p:cNvPr id="98" name="Rectangle 98"/>
            <p:cNvSpPr/>
            <p:nvPr/>
          </p:nvSpPr>
          <p:spPr>
            <a:xfrm>
              <a:off x="11582400" y="1143000"/>
              <a:ext cx="76200" cy="4476750"/>
            </a:xfrm>
            <a:prstGeom prst="roundRect">
              <a:avLst>
                <a:gd name="adj" fmla="val 50000"/>
              </a:avLst>
            </a:prstGeom>
            <a:solidFill>
              <a:srgbClr val="DFF0D2"/>
            </a:solidFill>
            <a:ln>
              <a:noFill/>
            </a:ln>
          </p:spPr>
        </p:sp>
        <p:sp>
          <p:nvSpPr>
            <p:cNvPr id="99" name="Rectangle 99"/>
            <p:cNvSpPr/>
            <p:nvPr/>
          </p:nvSpPr>
          <p:spPr>
            <a:xfrm>
              <a:off x="8934450" y="1047750"/>
              <a:ext cx="2571750" cy="4686300"/>
            </a:xfrm>
            <a:prstGeom prst="roundRect">
              <a:avLst>
                <a:gd name="adj" fmla="val 8148"/>
              </a:avLst>
            </a:prstGeom>
            <a:solidFill>
              <a:srgbClr val="F4F8EF"/>
            </a:solidFill>
            <a:ln>
              <a:noFill/>
            </a:ln>
          </p:spPr>
        </p:sp>
        <p:sp>
          <p:nvSpPr>
            <p:cNvPr id="100" name="TextBox 100"/>
            <p:cNvSpPr txBox="1"/>
            <p:nvPr/>
          </p:nvSpPr>
          <p:spPr>
            <a:xfrm>
              <a:off x="9610750" y="1424464"/>
              <a:ext cx="1219149" cy="249364"/>
            </a:xfrm>
            <a:prstGeom prst="rect">
              <a:avLst/>
            </a:prstGeom>
            <a:noFill/>
            <a:ln>
              <a:noFill/>
            </a:ln>
          </p:spPr>
          <p:txBody>
            <a:bodyPr wrap="none" lIns="0" tIns="0" rIns="0" bIns="0" anchor="t" anchorCtr="0">
              <a:spAutoFit/>
            </a:bodyPr>
            <a:lstStyle/>
            <a:p>
              <a:pPr algn="ctr"/>
              <a:r>
                <a:rPr lang="zh-CN" sz="1280" b="1" dirty="0">
                  <a:solidFill>
                    <a:srgbClr val="7A3E33"/>
                  </a:solidFill>
                  <a:latin typeface="+mn-lt"/>
                  <a:ea typeface="+mn-ea"/>
                  <a:cs typeface="+mn-cs"/>
                </a:rPr>
                <a:t>用户评价高频词</a:t>
              </a:r>
            </a:p>
          </p:txBody>
        </p:sp>
        <p:sp>
          <p:nvSpPr>
            <p:cNvPr id="101" name="Rectangle 101"/>
            <p:cNvSpPr/>
            <p:nvPr/>
          </p:nvSpPr>
          <p:spPr>
            <a:xfrm>
              <a:off x="9048750" y="1828800"/>
              <a:ext cx="2190750" cy="762000"/>
            </a:xfrm>
            <a:prstGeom prst="roundRect">
              <a:avLst>
                <a:gd name="adj" fmla="val 20000"/>
              </a:avLst>
            </a:prstGeom>
            <a:solidFill>
              <a:srgbClr val="9C594C"/>
            </a:solidFill>
            <a:ln>
              <a:noFill/>
            </a:ln>
          </p:spPr>
        </p:sp>
        <p:sp>
          <p:nvSpPr>
            <p:cNvPr id="102" name="TextBox 102"/>
            <p:cNvSpPr txBox="1"/>
            <p:nvPr/>
          </p:nvSpPr>
          <p:spPr>
            <a:xfrm>
              <a:off x="9252966" y="2039302"/>
              <a:ext cx="293370"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无线</a:t>
              </a:r>
            </a:p>
          </p:txBody>
        </p:sp>
        <p:sp>
          <p:nvSpPr>
            <p:cNvPr id="103" name="TextBox 103"/>
            <p:cNvSpPr txBox="1"/>
            <p:nvPr/>
          </p:nvSpPr>
          <p:spPr>
            <a:xfrm>
              <a:off x="9253538" y="2270284"/>
              <a:ext cx="507166" cy="133350"/>
            </a:xfrm>
            <a:prstGeom prst="rect">
              <a:avLst/>
            </a:prstGeom>
            <a:noFill/>
            <a:ln>
              <a:noFill/>
            </a:ln>
          </p:spPr>
          <p:txBody>
            <a:bodyPr wrap="none" lIns="0" tIns="0" rIns="0" bIns="0" anchor="t" anchorCtr="0">
              <a:spAutoFit/>
            </a:bodyPr>
            <a:lstStyle/>
            <a:p>
              <a:pPr algn="l"/>
              <a:r>
                <a:rPr lang="en-US" sz="680" b="1" dirty="0">
                  <a:solidFill>
                    <a:srgbClr val="E6F0DF"/>
                  </a:solidFill>
                  <a:latin typeface="+mn-lt"/>
                  <a:ea typeface="+mn-ea"/>
                  <a:cs typeface="+mn-cs"/>
                </a:rPr>
                <a:t>WIRELESS​</a:t>
              </a:r>
            </a:p>
          </p:txBody>
        </p:sp>
        <p:grpSp>
          <p:nvGrpSpPr>
            <p:cNvPr id="107" name="Group 107"/>
            <p:cNvGrpSpPr/>
            <p:nvPr/>
          </p:nvGrpSpPr>
          <p:grpSpPr>
            <a:xfrm>
              <a:off x="10763248" y="2088519"/>
              <a:ext cx="235561" cy="242531"/>
              <a:chOff x="10763248" y="2088519"/>
              <a:chExt cx="235561" cy="242531"/>
            </a:xfrm>
          </p:grpSpPr>
          <p:sp>
            <p:nvSpPr>
              <p:cNvPr id="104" name="Freeform 104"/>
              <p:cNvSpPr/>
              <p:nvPr/>
            </p:nvSpPr>
            <p:spPr>
              <a:xfrm>
                <a:off x="10834688" y="2166938"/>
                <a:ext cx="85725" cy="85725"/>
              </a:xfrm>
              <a:custGeom>
                <a:avLst/>
                <a:gdLst/>
                <a:ahLst/>
                <a:cxnLst/>
                <a:rect l="l" t="t" r="r" b="b"/>
                <a:pathLst>
                  <a:path w="85725" h="85725">
                    <a:moveTo>
                      <a:pt x="0" y="85725"/>
                    </a:moveTo>
                    <a:lnTo>
                      <a:pt x="85725" y="0"/>
                    </a:lnTo>
                  </a:path>
                </a:pathLst>
              </a:custGeom>
              <a:noFill/>
              <a:ln w="28575">
                <a:solidFill>
                  <a:srgbClr val="FFFFFF"/>
                </a:solidFill>
              </a:ln>
            </p:spPr>
          </p:sp>
          <p:sp>
            <p:nvSpPr>
              <p:cNvPr id="105" name="Freeform 105"/>
              <p:cNvSpPr/>
              <p:nvPr/>
            </p:nvSpPr>
            <p:spPr>
              <a:xfrm>
                <a:off x="10863262" y="2088519"/>
                <a:ext cx="135547" cy="135568"/>
              </a:xfrm>
              <a:custGeom>
                <a:avLst/>
                <a:gdLst/>
                <a:ahLst/>
                <a:cxnLst/>
                <a:rect l="l" t="t" r="r" b="b"/>
                <a:pathLst>
                  <a:path w="135547" h="135568">
                    <a:moveTo>
                      <a:pt x="0" y="35556"/>
                    </a:moveTo>
                    <a:lnTo>
                      <a:pt x="6615" y="27898"/>
                    </a:lnTo>
                    <a:cubicBezTo>
                      <a:pt x="34517" y="0"/>
                      <a:pt x="79751" y="3"/>
                      <a:pt x="107649" y="27905"/>
                    </a:cubicBezTo>
                    <a:cubicBezTo>
                      <a:pt x="135547" y="55807"/>
                      <a:pt x="135544" y="101041"/>
                      <a:pt x="107642" y="128939"/>
                    </a:cubicBezTo>
                    <a:lnTo>
                      <a:pt x="100012" y="135568"/>
                    </a:lnTo>
                  </a:path>
                </a:pathLst>
              </a:custGeom>
              <a:noFill/>
              <a:ln w="28575">
                <a:solidFill>
                  <a:srgbClr val="FFFFFF"/>
                </a:solidFill>
              </a:ln>
            </p:spPr>
          </p:sp>
          <p:sp>
            <p:nvSpPr>
              <p:cNvPr id="106" name="Freeform 106"/>
              <p:cNvSpPr/>
              <p:nvPr/>
            </p:nvSpPr>
            <p:spPr>
              <a:xfrm>
                <a:off x="10763248" y="2195512"/>
                <a:ext cx="128590" cy="135538"/>
              </a:xfrm>
              <a:custGeom>
                <a:avLst/>
                <a:gdLst/>
                <a:ahLst/>
                <a:cxnLst/>
                <a:rect l="l" t="t" r="r" b="b"/>
                <a:pathLst>
                  <a:path w="128590" h="135538">
                    <a:moveTo>
                      <a:pt x="128590" y="100012"/>
                    </a:moveTo>
                    <a:lnTo>
                      <a:pt x="122917" y="107642"/>
                    </a:lnTo>
                    <a:cubicBezTo>
                      <a:pt x="94707" y="135538"/>
                      <a:pt x="49301" y="135538"/>
                      <a:pt x="21090" y="107642"/>
                    </a:cubicBezTo>
                    <a:cubicBezTo>
                      <a:pt x="7595" y="94298"/>
                      <a:pt x="0" y="76108"/>
                      <a:pt x="0" y="57129"/>
                    </a:cubicBezTo>
                    <a:cubicBezTo>
                      <a:pt x="0" y="38149"/>
                      <a:pt x="7595" y="19960"/>
                      <a:pt x="21090" y="6615"/>
                    </a:cubicBezTo>
                    <a:lnTo>
                      <a:pt x="28577" y="0"/>
                    </a:lnTo>
                  </a:path>
                </a:pathLst>
              </a:custGeom>
              <a:noFill/>
              <a:ln w="28575">
                <a:solidFill>
                  <a:srgbClr val="FFFFFF"/>
                </a:solidFill>
              </a:ln>
            </p:spPr>
          </p:sp>
        </p:grpSp>
        <p:sp>
          <p:nvSpPr>
            <p:cNvPr id="108" name="Rectangle 108"/>
            <p:cNvSpPr/>
            <p:nvPr/>
          </p:nvSpPr>
          <p:spPr>
            <a:xfrm>
              <a:off x="9048750" y="2762250"/>
              <a:ext cx="2190750" cy="762000"/>
            </a:xfrm>
            <a:prstGeom prst="roundRect">
              <a:avLst>
                <a:gd name="adj" fmla="val 20000"/>
              </a:avLst>
            </a:prstGeom>
            <a:solidFill>
              <a:srgbClr val="9C594C"/>
            </a:solidFill>
            <a:ln>
              <a:noFill/>
            </a:ln>
          </p:spPr>
        </p:sp>
        <p:sp>
          <p:nvSpPr>
            <p:cNvPr id="109" name="TextBox 109"/>
            <p:cNvSpPr txBox="1"/>
            <p:nvPr/>
          </p:nvSpPr>
          <p:spPr>
            <a:xfrm>
              <a:off x="9252966" y="2972752"/>
              <a:ext cx="293370"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方便</a:t>
              </a:r>
            </a:p>
          </p:txBody>
        </p:sp>
        <p:sp>
          <p:nvSpPr>
            <p:cNvPr id="110" name="TextBox 110"/>
            <p:cNvSpPr txBox="1"/>
            <p:nvPr/>
          </p:nvSpPr>
          <p:spPr>
            <a:xfrm>
              <a:off x="9253538" y="3203734"/>
              <a:ext cx="674739" cy="133350"/>
            </a:xfrm>
            <a:prstGeom prst="rect">
              <a:avLst/>
            </a:prstGeom>
            <a:noFill/>
            <a:ln>
              <a:noFill/>
            </a:ln>
          </p:spPr>
          <p:txBody>
            <a:bodyPr wrap="none" lIns="0" tIns="0" rIns="0" bIns="0" anchor="t" anchorCtr="0">
              <a:spAutoFit/>
            </a:bodyPr>
            <a:lstStyle/>
            <a:p>
              <a:pPr algn="l"/>
              <a:r>
                <a:rPr lang="en-US" sz="680" b="1" dirty="0">
                  <a:solidFill>
                    <a:srgbClr val="E6F0DF"/>
                  </a:solidFill>
                  <a:latin typeface="+mn-lt"/>
                  <a:ea typeface="+mn-ea"/>
                  <a:cs typeface="+mn-cs"/>
                </a:rPr>
                <a:t>CONVENIENCE​</a:t>
              </a:r>
            </a:p>
          </p:txBody>
        </p:sp>
        <p:grpSp>
          <p:nvGrpSpPr>
            <p:cNvPr id="114" name="Group 114"/>
            <p:cNvGrpSpPr/>
            <p:nvPr/>
          </p:nvGrpSpPr>
          <p:grpSpPr>
            <a:xfrm>
              <a:off x="10758737" y="3028950"/>
              <a:ext cx="233113" cy="233113"/>
              <a:chOff x="10758737" y="3028950"/>
              <a:chExt cx="233113" cy="233113"/>
            </a:xfrm>
          </p:grpSpPr>
          <p:sp>
            <p:nvSpPr>
              <p:cNvPr id="111" name="Freeform 111"/>
              <p:cNvSpPr/>
              <p:nvPr/>
            </p:nvSpPr>
            <p:spPr>
              <a:xfrm>
                <a:off x="10763250" y="3028950"/>
                <a:ext cx="228600" cy="228600"/>
              </a:xfrm>
              <a:custGeom>
                <a:avLst/>
                <a:gdLst/>
                <a:ahLst/>
                <a:cxnLst/>
                <a:rect l="l" t="t" r="r" b="b"/>
                <a:pathLst>
                  <a:path w="228600" h="228600">
                    <a:moveTo>
                      <a:pt x="0" y="128588"/>
                    </a:moveTo>
                    <a:cubicBezTo>
                      <a:pt x="52438" y="134819"/>
                      <a:pt x="93781" y="176162"/>
                      <a:pt x="100012" y="228600"/>
                    </a:cubicBezTo>
                    <a:cubicBezTo>
                      <a:pt x="125688" y="213798"/>
                      <a:pt x="141897" y="186783"/>
                      <a:pt x="142875" y="157162"/>
                    </a:cubicBezTo>
                    <a:cubicBezTo>
                      <a:pt x="191935" y="139904"/>
                      <a:pt x="225769" y="94793"/>
                      <a:pt x="228600" y="42862"/>
                    </a:cubicBezTo>
                    <a:cubicBezTo>
                      <a:pt x="228600" y="19190"/>
                      <a:pt x="209410" y="0"/>
                      <a:pt x="185738" y="0"/>
                    </a:cubicBezTo>
                    <a:cubicBezTo>
                      <a:pt x="133807" y="2831"/>
                      <a:pt x="88696" y="36665"/>
                      <a:pt x="71438" y="85725"/>
                    </a:cubicBezTo>
                    <a:cubicBezTo>
                      <a:pt x="41817" y="86703"/>
                      <a:pt x="14802" y="102912"/>
                      <a:pt x="0" y="128588"/>
                    </a:cubicBezTo>
                  </a:path>
                </a:pathLst>
              </a:custGeom>
              <a:noFill/>
              <a:ln w="28575">
                <a:solidFill>
                  <a:srgbClr val="FFFFFF"/>
                </a:solidFill>
              </a:ln>
            </p:spPr>
          </p:sp>
          <p:sp>
            <p:nvSpPr>
              <p:cNvPr id="112" name="Freeform 112"/>
              <p:cNvSpPr/>
              <p:nvPr/>
            </p:nvSpPr>
            <p:spPr>
              <a:xfrm>
                <a:off x="10758737" y="3171825"/>
                <a:ext cx="90238" cy="90238"/>
              </a:xfrm>
              <a:custGeom>
                <a:avLst/>
                <a:gdLst/>
                <a:ahLst/>
                <a:cxnLst/>
                <a:rect l="l" t="t" r="r" b="b"/>
                <a:pathLst>
                  <a:path w="90238" h="90238">
                    <a:moveTo>
                      <a:pt x="47375" y="0"/>
                    </a:moveTo>
                    <a:cubicBezTo>
                      <a:pt x="16956" y="17173"/>
                      <a:pt x="0" y="51086"/>
                      <a:pt x="4513" y="85725"/>
                    </a:cubicBezTo>
                    <a:cubicBezTo>
                      <a:pt x="39152" y="90238"/>
                      <a:pt x="73065" y="73281"/>
                      <a:pt x="90238" y="42862"/>
                    </a:cubicBezTo>
                  </a:path>
                </a:pathLst>
              </a:custGeom>
              <a:noFill/>
              <a:ln w="28575">
                <a:solidFill>
                  <a:srgbClr val="FFFFFF"/>
                </a:solidFill>
              </a:ln>
            </p:spPr>
          </p:sp>
          <p:sp>
            <p:nvSpPr>
              <p:cNvPr id="113" name="Freeform 113"/>
              <p:cNvSpPr/>
              <p:nvPr/>
            </p:nvSpPr>
            <p:spPr>
              <a:xfrm>
                <a:off x="10906125" y="3086100"/>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FFFFFF"/>
                </a:solidFill>
              </a:ln>
            </p:spPr>
          </p:sp>
        </p:grpSp>
        <p:sp>
          <p:nvSpPr>
            <p:cNvPr id="115" name="Rectangle 115"/>
            <p:cNvSpPr/>
            <p:nvPr/>
          </p:nvSpPr>
          <p:spPr>
            <a:xfrm>
              <a:off x="9048750" y="3695700"/>
              <a:ext cx="2190750" cy="762000"/>
            </a:xfrm>
            <a:prstGeom prst="roundRect">
              <a:avLst>
                <a:gd name="adj" fmla="val 20000"/>
              </a:avLst>
            </a:prstGeom>
            <a:solidFill>
              <a:srgbClr val="E9563C"/>
            </a:solidFill>
            <a:ln>
              <a:noFill/>
            </a:ln>
          </p:spPr>
        </p:sp>
        <p:sp>
          <p:nvSpPr>
            <p:cNvPr id="116" name="TextBox 116"/>
            <p:cNvSpPr txBox="1"/>
            <p:nvPr/>
          </p:nvSpPr>
          <p:spPr>
            <a:xfrm>
              <a:off x="9252966" y="3906202"/>
              <a:ext cx="293370"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亮度</a:t>
              </a:r>
            </a:p>
          </p:txBody>
        </p:sp>
        <p:sp>
          <p:nvSpPr>
            <p:cNvPr id="117" name="TextBox 117"/>
            <p:cNvSpPr txBox="1"/>
            <p:nvPr/>
          </p:nvSpPr>
          <p:spPr>
            <a:xfrm>
              <a:off x="9253538" y="4137184"/>
              <a:ext cx="598569" cy="133350"/>
            </a:xfrm>
            <a:prstGeom prst="rect">
              <a:avLst/>
            </a:prstGeom>
            <a:noFill/>
            <a:ln>
              <a:noFill/>
            </a:ln>
          </p:spPr>
          <p:txBody>
            <a:bodyPr wrap="none" lIns="0" tIns="0" rIns="0" bIns="0" anchor="t" anchorCtr="0">
              <a:spAutoFit/>
            </a:bodyPr>
            <a:lstStyle/>
            <a:p>
              <a:pPr algn="l"/>
              <a:r>
                <a:rPr lang="en-US" sz="680" b="1" dirty="0">
                  <a:solidFill>
                    <a:srgbClr val="FDF6E7"/>
                  </a:solidFill>
                  <a:latin typeface="+mn-lt"/>
                  <a:ea typeface="+mn-ea"/>
                  <a:cs typeface="+mn-cs"/>
                </a:rPr>
                <a:t>BRIGHTNESS​</a:t>
              </a:r>
            </a:p>
          </p:txBody>
        </p:sp>
        <p:grpSp>
          <p:nvGrpSpPr>
            <p:cNvPr id="121" name="Group 121"/>
            <p:cNvGrpSpPr/>
            <p:nvPr/>
          </p:nvGrpSpPr>
          <p:grpSpPr>
            <a:xfrm>
              <a:off x="10748962" y="3948112"/>
              <a:ext cx="257175" cy="257175"/>
              <a:chOff x="10748962" y="3948112"/>
              <a:chExt cx="257175" cy="257175"/>
            </a:xfrm>
          </p:grpSpPr>
          <p:sp>
            <p:nvSpPr>
              <p:cNvPr id="118" name="Freeform 118"/>
              <p:cNvSpPr/>
              <p:nvPr/>
            </p:nvSpPr>
            <p:spPr>
              <a:xfrm>
                <a:off x="10748962" y="3948112"/>
                <a:ext cx="257175" cy="128588"/>
              </a:xfrm>
              <a:custGeom>
                <a:avLst/>
                <a:gdLst/>
                <a:ahLst/>
                <a:cxnLst/>
                <a:rect l="l" t="t" r="r" b="b"/>
                <a:pathLst>
                  <a:path w="257175" h="128588">
                    <a:moveTo>
                      <a:pt x="0" y="128588"/>
                    </a:moveTo>
                    <a:lnTo>
                      <a:pt x="14288" y="128588"/>
                    </a:lnTo>
                    <a:moveTo>
                      <a:pt x="128588" y="0"/>
                    </a:moveTo>
                    <a:lnTo>
                      <a:pt x="128588" y="14288"/>
                    </a:lnTo>
                    <a:moveTo>
                      <a:pt x="242888" y="128588"/>
                    </a:moveTo>
                    <a:lnTo>
                      <a:pt x="257175" y="128588"/>
                    </a:lnTo>
                    <a:moveTo>
                      <a:pt x="37148" y="37147"/>
                    </a:moveTo>
                    <a:lnTo>
                      <a:pt x="47149" y="47149"/>
                    </a:lnTo>
                    <a:moveTo>
                      <a:pt x="220027" y="37147"/>
                    </a:moveTo>
                    <a:lnTo>
                      <a:pt x="210026" y="47149"/>
                    </a:lnTo>
                  </a:path>
                </a:pathLst>
              </a:custGeom>
              <a:noFill/>
              <a:ln w="28575">
                <a:solidFill>
                  <a:srgbClr val="FFFFFF"/>
                </a:solidFill>
              </a:ln>
            </p:spPr>
          </p:sp>
          <p:sp>
            <p:nvSpPr>
              <p:cNvPr id="119" name="Freeform 119"/>
              <p:cNvSpPr/>
              <p:nvPr/>
            </p:nvSpPr>
            <p:spPr>
              <a:xfrm>
                <a:off x="10800055" y="4005262"/>
                <a:ext cx="154990" cy="200025"/>
              </a:xfrm>
              <a:custGeom>
                <a:avLst/>
                <a:gdLst/>
                <a:ahLst/>
                <a:cxnLst/>
                <a:rect l="l" t="t" r="r" b="b"/>
                <a:pathLst>
                  <a:path w="154990" h="200025">
                    <a:moveTo>
                      <a:pt x="34633" y="128588"/>
                    </a:moveTo>
                    <a:cubicBezTo>
                      <a:pt x="10034" y="110138"/>
                      <a:pt x="0" y="78018"/>
                      <a:pt x="9724" y="48847"/>
                    </a:cubicBezTo>
                    <a:cubicBezTo>
                      <a:pt x="19447" y="19676"/>
                      <a:pt x="46746" y="0"/>
                      <a:pt x="77495" y="0"/>
                    </a:cubicBezTo>
                    <a:cubicBezTo>
                      <a:pt x="108244" y="0"/>
                      <a:pt x="135543" y="19676"/>
                      <a:pt x="145267" y="48847"/>
                    </a:cubicBezTo>
                    <a:cubicBezTo>
                      <a:pt x="154990" y="78018"/>
                      <a:pt x="144957" y="110138"/>
                      <a:pt x="120358" y="128588"/>
                    </a:cubicBezTo>
                    <a:cubicBezTo>
                      <a:pt x="109044" y="139786"/>
                      <a:pt x="103739" y="155703"/>
                      <a:pt x="106070" y="171450"/>
                    </a:cubicBezTo>
                    <a:cubicBezTo>
                      <a:pt x="106070" y="187232"/>
                      <a:pt x="93277" y="200025"/>
                      <a:pt x="77495" y="200025"/>
                    </a:cubicBezTo>
                    <a:cubicBezTo>
                      <a:pt x="61714" y="200025"/>
                      <a:pt x="48920" y="187232"/>
                      <a:pt x="48920" y="171450"/>
                    </a:cubicBezTo>
                    <a:cubicBezTo>
                      <a:pt x="51252" y="155703"/>
                      <a:pt x="45946" y="139786"/>
                      <a:pt x="34633" y="128588"/>
                    </a:cubicBezTo>
                  </a:path>
                </a:pathLst>
              </a:custGeom>
              <a:noFill/>
              <a:ln w="28575">
                <a:solidFill>
                  <a:srgbClr val="FFFFFF"/>
                </a:solidFill>
              </a:ln>
            </p:spPr>
          </p:sp>
          <p:sp>
            <p:nvSpPr>
              <p:cNvPr id="120" name="Freeform 120"/>
              <p:cNvSpPr/>
              <p:nvPr/>
            </p:nvSpPr>
            <p:spPr>
              <a:xfrm>
                <a:off x="10844689" y="4148138"/>
                <a:ext cx="65723" cy="9525"/>
              </a:xfrm>
              <a:custGeom>
                <a:avLst/>
                <a:gdLst/>
                <a:ahLst/>
                <a:cxnLst/>
                <a:rect l="l" t="t" r="r" b="b"/>
                <a:pathLst>
                  <a:path w="65723" h="9525">
                    <a:moveTo>
                      <a:pt x="0" y="0"/>
                    </a:moveTo>
                    <a:lnTo>
                      <a:pt x="65723" y="0"/>
                    </a:lnTo>
                  </a:path>
                </a:pathLst>
              </a:custGeom>
              <a:noFill/>
              <a:ln w="28575">
                <a:solidFill>
                  <a:srgbClr val="FFFFFF"/>
                </a:solidFill>
              </a:ln>
            </p:spPr>
          </p:sp>
        </p:grpSp>
        <p:sp>
          <p:nvSpPr>
            <p:cNvPr id="122" name="TextBox 122"/>
            <p:cNvSpPr txBox="1"/>
            <p:nvPr/>
          </p:nvSpPr>
          <p:spPr>
            <a:xfrm>
              <a:off x="9994786" y="490204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用户印象</a:t>
              </a:r>
            </a:p>
          </p:txBody>
        </p:sp>
        <p:sp>
          <p:nvSpPr>
            <p:cNvPr id="123" name="TextBox 123"/>
            <p:cNvSpPr txBox="1"/>
            <p:nvPr/>
          </p:nvSpPr>
          <p:spPr>
            <a:xfrm>
              <a:off x="9578810" y="5107543"/>
              <a:ext cx="1283030" cy="169069"/>
            </a:xfrm>
            <a:prstGeom prst="rect">
              <a:avLst/>
            </a:prstGeom>
            <a:noFill/>
            <a:ln>
              <a:noFill/>
            </a:ln>
          </p:spPr>
          <p:txBody>
            <a:bodyPr wrap="none" lIns="0" tIns="0" rIns="0" bIns="0" anchor="t" anchorCtr="0">
              <a:spAutoFit/>
            </a:bodyPr>
            <a:lstStyle/>
            <a:p>
              <a:pPr algn="ctr"/>
              <a:r>
                <a:rPr lang="zh-CN" sz="860" b="1" dirty="0">
                  <a:solidFill>
                    <a:srgbClr val="7A3E33"/>
                  </a:solidFill>
                  <a:latin typeface="+mn-lt"/>
                  <a:ea typeface="+mn-ea"/>
                  <a:cs typeface="+mn-cs"/>
                </a:rPr>
                <a:t>无线投屏的高亮度投影仪</a:t>
              </a:r>
            </a:p>
          </p:txBody>
        </p:sp>
      </p:grpSp>
      <p:grpSp>
        <p:nvGrpSpPr>
          <p:cNvPr id="127" name="page-footer"/>
          <p:cNvGrpSpPr/>
          <p:nvPr/>
        </p:nvGrpSpPr>
        <p:grpSpPr>
          <a:xfrm>
            <a:off x="376238" y="6689884"/>
            <a:ext cx="11439524" cy="133350"/>
            <a:chOff x="376238" y="6689884"/>
            <a:chExt cx="11439524" cy="133350"/>
          </a:xfrm>
        </p:grpSpPr>
        <p:sp>
          <p:nvSpPr>
            <p:cNvPr id="125" name="TextBox 125"/>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26" name="TextBox 126"/>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08</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26" name="side-notes"/>
          <p:cNvGrpSpPr/>
          <p:nvPr/>
        </p:nvGrpSpPr>
        <p:grpSpPr>
          <a:xfrm>
            <a:off x="371475" y="1276350"/>
            <a:ext cx="1762125" cy="3958828"/>
            <a:chOff x="371475" y="1276350"/>
            <a:chExt cx="1762125" cy="3958828"/>
          </a:xfrm>
        </p:grpSpPr>
        <p:sp>
          <p:nvSpPr>
            <p:cNvPr id="8" name="Ellipse 8"/>
            <p:cNvSpPr/>
            <p:nvPr/>
          </p:nvSpPr>
          <p:spPr>
            <a:xfrm>
              <a:off x="371475" y="1343025"/>
              <a:ext cx="171450" cy="171450"/>
            </a:xfrm>
            <a:prstGeom prst="ellipse">
              <a:avLst/>
            </a:prstGeom>
            <a:solidFill>
              <a:srgbClr val="FFFFFF"/>
            </a:solidFill>
            <a:ln w="14288">
              <a:solidFill>
                <a:srgbClr val="BF857A"/>
              </a:solidFill>
            </a:ln>
          </p:spPr>
        </p:sp>
        <p:sp>
          <p:nvSpPr>
            <p:cNvPr id="9" name="TextBox 9"/>
            <p:cNvSpPr txBox="1"/>
            <p:nvPr/>
          </p:nvSpPr>
          <p:spPr>
            <a:xfrm>
              <a:off x="427264" y="1393984"/>
              <a:ext cx="59873" cy="133350"/>
            </a:xfrm>
            <a:prstGeom prst="rect">
              <a:avLst/>
            </a:prstGeom>
            <a:noFill/>
            <a:ln>
              <a:noFill/>
            </a:ln>
          </p:spPr>
          <p:txBody>
            <a:bodyPr wrap="none" lIns="0" tIns="0" rIns="0" bIns="0" anchor="t" anchorCtr="0">
              <a:spAutoFit/>
            </a:bodyPr>
            <a:lstStyle/>
            <a:p>
              <a:pPr algn="ctr"/>
              <a:r>
                <a:rPr lang="zh-CN" sz="680" dirty="0">
                  <a:solidFill>
                    <a:srgbClr val="7A3E33"/>
                  </a:solidFill>
                  <a:latin typeface="+mn-lt"/>
                  <a:ea typeface="+mn-ea"/>
                  <a:cs typeface="+mn-cs"/>
                </a:rPr>
                <a:t>1</a:t>
              </a:r>
            </a:p>
          </p:txBody>
        </p:sp>
        <p:sp>
          <p:nvSpPr>
            <p:cNvPr id="10" name="TextBox 10"/>
            <p:cNvSpPr txBox="1"/>
            <p:nvPr/>
          </p:nvSpPr>
          <p:spPr>
            <a:xfrm>
              <a:off x="585788" y="1317784"/>
              <a:ext cx="700405" cy="361950"/>
            </a:xfrm>
            <a:prstGeom prst="rect">
              <a:avLst/>
            </a:prstGeom>
            <a:noFill/>
            <a:ln>
              <a:noFill/>
            </a:ln>
          </p:spPr>
          <p:txBody>
            <a:bodyPr wrap="none" lIns="0" tIns="0" rIns="0" bIns="0" anchor="t" anchorCtr="0">
              <a:spAutoFit/>
            </a:bodyPr>
            <a:lstStyle/>
            <a:p>
              <a:pPr algn="l">
                <a:lnSpc>
                  <a:spcPts val="900"/>
                </a:lnSpc>
              </a:pPr>
              <a:r>
                <a:rPr lang="zh-CN" sz="680" dirty="0">
                  <a:solidFill>
                    <a:srgbClr val="595959"/>
                  </a:solidFill>
                  <a:latin typeface="+mn-lt"/>
                  <a:ea typeface="+mn-ea"/>
                  <a:cs typeface="+mn-cs"/>
                </a:rPr>
                <a:t>曝光量可以单选或</a:t>
              </a:r>
              <a:br/>
              <a:r>
                <a:rPr lang="zh-CN" sz="680" dirty="0">
                  <a:solidFill>
                    <a:srgbClr val="595959"/>
                  </a:solidFill>
                  <a:latin typeface="+mn-lt"/>
                  <a:ea typeface="+mn-ea"/>
                  <a:cs typeface="+mn-cs"/>
                </a:rPr>
                <a:t>多选想要追踪监测</a:t>
              </a:r>
              <a:br/>
              <a:r>
                <a:rPr lang="zh-CN" sz="680" dirty="0">
                  <a:solidFill>
                    <a:srgbClr val="595959"/>
                  </a:solidFill>
                  <a:latin typeface="+mn-lt"/>
                  <a:ea typeface="+mn-ea"/>
                  <a:cs typeface="+mn-cs"/>
                </a:rPr>
                <a:t>的维度</a:t>
              </a:r>
            </a:p>
          </p:txBody>
        </p:sp>
        <p:sp>
          <p:nvSpPr>
            <p:cNvPr id="11" name="Freeform 11"/>
            <p:cNvSpPr/>
            <p:nvPr/>
          </p:nvSpPr>
          <p:spPr>
            <a:xfrm>
              <a:off x="1428750" y="1276350"/>
              <a:ext cx="381000" cy="666750"/>
            </a:xfrm>
            <a:prstGeom prst="chevron">
              <a:avLst/>
            </a:prstGeom>
            <a:noFill/>
            <a:ln w="19050">
              <a:solidFill>
                <a:srgbClr val="9C594C"/>
              </a:solidFill>
            </a:ln>
          </p:spPr>
        </p:sp>
        <p:sp>
          <p:nvSpPr>
            <p:cNvPr id="12" name="TextBox 12"/>
            <p:cNvSpPr txBox="1"/>
            <p:nvPr/>
          </p:nvSpPr>
          <p:spPr>
            <a:xfrm>
              <a:off x="376238" y="2194322"/>
              <a:ext cx="515696" cy="183356"/>
            </a:xfrm>
            <a:prstGeom prst="rect">
              <a:avLst/>
            </a:prstGeom>
            <a:noFill/>
            <a:ln>
              <a:noFill/>
            </a:ln>
          </p:spPr>
          <p:txBody>
            <a:bodyPr wrap="none" lIns="0" tIns="0" rIns="0" bIns="0" anchor="t" anchorCtr="0">
              <a:spAutoFit/>
            </a:bodyPr>
            <a:lstStyle/>
            <a:p>
              <a:pPr algn="l"/>
              <a:r>
                <a:rPr lang="zh-CN" sz="940" b="1" dirty="0">
                  <a:solidFill>
                    <a:srgbClr val="7A3E33"/>
                  </a:solidFill>
                  <a:latin typeface="+mn-lt"/>
                  <a:ea typeface="+mn-ea"/>
                  <a:cs typeface="+mn-cs"/>
                </a:rPr>
                <a:t>深化认知</a:t>
              </a:r>
            </a:p>
          </p:txBody>
        </p:sp>
        <p:sp>
          <p:nvSpPr>
            <p:cNvPr id="13" name="Line 13"/>
            <p:cNvSpPr/>
            <p:nvPr/>
          </p:nvSpPr>
          <p:spPr>
            <a:xfrm>
              <a:off x="952500" y="2257425"/>
              <a:ext cx="1181100" cy="9525"/>
            </a:xfrm>
            <a:custGeom>
              <a:avLst/>
              <a:gdLst/>
              <a:ahLst/>
              <a:cxnLst/>
              <a:rect l="l" t="t" r="r" b="b"/>
              <a:pathLst>
                <a:path w="1181100" h="9525">
                  <a:moveTo>
                    <a:pt x="0" y="0"/>
                  </a:moveTo>
                  <a:lnTo>
                    <a:pt x="1181100" y="0"/>
                  </a:lnTo>
                </a:path>
              </a:pathLst>
            </a:custGeom>
            <a:noFill/>
            <a:ln w="9525">
              <a:solidFill>
                <a:srgbClr val="9AA69A"/>
              </a:solidFill>
              <a:custDash>
                <a:ds d="300000" sp="300000"/>
              </a:custDash>
            </a:ln>
          </p:spPr>
        </p:sp>
        <p:sp>
          <p:nvSpPr>
            <p:cNvPr id="14" name="Ellipse 14"/>
            <p:cNvSpPr/>
            <p:nvPr/>
          </p:nvSpPr>
          <p:spPr>
            <a:xfrm>
              <a:off x="371475" y="2771775"/>
              <a:ext cx="171450" cy="171450"/>
            </a:xfrm>
            <a:prstGeom prst="ellipse">
              <a:avLst/>
            </a:prstGeom>
            <a:solidFill>
              <a:srgbClr val="FFFFFF"/>
            </a:solidFill>
            <a:ln w="14288">
              <a:solidFill>
                <a:srgbClr val="BF857A"/>
              </a:solidFill>
            </a:ln>
          </p:spPr>
        </p:sp>
        <p:sp>
          <p:nvSpPr>
            <p:cNvPr id="15" name="TextBox 15"/>
            <p:cNvSpPr txBox="1"/>
            <p:nvPr/>
          </p:nvSpPr>
          <p:spPr>
            <a:xfrm>
              <a:off x="427264" y="2822734"/>
              <a:ext cx="59873" cy="133350"/>
            </a:xfrm>
            <a:prstGeom prst="rect">
              <a:avLst/>
            </a:prstGeom>
            <a:noFill/>
            <a:ln>
              <a:noFill/>
            </a:ln>
          </p:spPr>
          <p:txBody>
            <a:bodyPr wrap="none" lIns="0" tIns="0" rIns="0" bIns="0" anchor="t" anchorCtr="0">
              <a:spAutoFit/>
            </a:bodyPr>
            <a:lstStyle/>
            <a:p>
              <a:pPr algn="ctr"/>
              <a:r>
                <a:rPr lang="zh-CN" sz="680" dirty="0">
                  <a:solidFill>
                    <a:srgbClr val="7A3E33"/>
                  </a:solidFill>
                  <a:latin typeface="+mn-lt"/>
                  <a:ea typeface="+mn-ea"/>
                  <a:cs typeface="+mn-cs"/>
                </a:rPr>
                <a:t>2</a:t>
              </a:r>
            </a:p>
          </p:txBody>
        </p:sp>
        <p:sp>
          <p:nvSpPr>
            <p:cNvPr id="16" name="TextBox 16"/>
            <p:cNvSpPr txBox="1"/>
            <p:nvPr/>
          </p:nvSpPr>
          <p:spPr>
            <a:xfrm>
              <a:off x="585788" y="2746534"/>
              <a:ext cx="700405" cy="361950"/>
            </a:xfrm>
            <a:prstGeom prst="rect">
              <a:avLst/>
            </a:prstGeom>
            <a:noFill/>
            <a:ln>
              <a:noFill/>
            </a:ln>
          </p:spPr>
          <p:txBody>
            <a:bodyPr wrap="none" lIns="0" tIns="0" rIns="0" bIns="0" anchor="t" anchorCtr="0">
              <a:spAutoFit/>
            </a:bodyPr>
            <a:lstStyle/>
            <a:p>
              <a:pPr algn="l">
                <a:lnSpc>
                  <a:spcPts val="900"/>
                </a:lnSpc>
              </a:pPr>
              <a:r>
                <a:rPr lang="zh-CN" sz="680" dirty="0">
                  <a:solidFill>
                    <a:srgbClr val="595959"/>
                  </a:solidFill>
                  <a:latin typeface="+mn-lt"/>
                  <a:ea typeface="+mn-ea"/>
                  <a:cs typeface="+mn-cs"/>
                </a:rPr>
                <a:t>根据人群不同，监</a:t>
              </a:r>
              <a:br/>
              <a:r>
                <a:rPr lang="zh-CN" sz="680" dirty="0">
                  <a:solidFill>
                    <a:srgbClr val="595959"/>
                  </a:solidFill>
                  <a:latin typeface="+mn-lt"/>
                  <a:ea typeface="+mn-ea"/>
                  <a:cs typeface="+mn-cs"/>
                </a:rPr>
                <a:t>测重点维度会有区</a:t>
              </a:r>
              <a:br/>
              <a:r>
                <a:rPr lang="zh-CN" sz="680" dirty="0">
                  <a:solidFill>
                    <a:srgbClr val="595959"/>
                  </a:solidFill>
                  <a:latin typeface="+mn-lt"/>
                  <a:ea typeface="+mn-ea"/>
                  <a:cs typeface="+mn-cs"/>
                </a:rPr>
                <a:t>别</a:t>
              </a:r>
            </a:p>
          </p:txBody>
        </p:sp>
        <p:sp>
          <p:nvSpPr>
            <p:cNvPr id="17" name="Freeform 17"/>
            <p:cNvSpPr/>
            <p:nvPr/>
          </p:nvSpPr>
          <p:spPr>
            <a:xfrm>
              <a:off x="1428750" y="2590800"/>
              <a:ext cx="381000" cy="666750"/>
            </a:xfrm>
            <a:prstGeom prst="chevron">
              <a:avLst/>
            </a:prstGeom>
            <a:noFill/>
            <a:ln w="19050">
              <a:solidFill>
                <a:srgbClr val="9C594C"/>
              </a:solidFill>
            </a:ln>
          </p:spPr>
        </p:sp>
        <p:sp>
          <p:nvSpPr>
            <p:cNvPr id="18" name="TextBox 18"/>
            <p:cNvSpPr txBox="1"/>
            <p:nvPr/>
          </p:nvSpPr>
          <p:spPr>
            <a:xfrm>
              <a:off x="376238" y="3623072"/>
              <a:ext cx="515696" cy="183356"/>
            </a:xfrm>
            <a:prstGeom prst="rect">
              <a:avLst/>
            </a:prstGeom>
            <a:noFill/>
            <a:ln>
              <a:noFill/>
            </a:ln>
          </p:spPr>
          <p:txBody>
            <a:bodyPr wrap="none" lIns="0" tIns="0" rIns="0" bIns="0" anchor="t" anchorCtr="0">
              <a:spAutoFit/>
            </a:bodyPr>
            <a:lstStyle/>
            <a:p>
              <a:pPr algn="l"/>
              <a:r>
                <a:rPr lang="zh-CN" sz="940" b="1" dirty="0">
                  <a:solidFill>
                    <a:srgbClr val="7A3E33"/>
                  </a:solidFill>
                  <a:latin typeface="+mn-lt"/>
                  <a:ea typeface="+mn-ea"/>
                  <a:cs typeface="+mn-cs"/>
                </a:rPr>
                <a:t>积累兴趣</a:t>
              </a:r>
            </a:p>
          </p:txBody>
        </p:sp>
        <p:sp>
          <p:nvSpPr>
            <p:cNvPr id="19" name="Line 19"/>
            <p:cNvSpPr/>
            <p:nvPr/>
          </p:nvSpPr>
          <p:spPr>
            <a:xfrm>
              <a:off x="952500" y="3686175"/>
              <a:ext cx="1181100" cy="9525"/>
            </a:xfrm>
            <a:custGeom>
              <a:avLst/>
              <a:gdLst/>
              <a:ahLst/>
              <a:cxnLst/>
              <a:rect l="l" t="t" r="r" b="b"/>
              <a:pathLst>
                <a:path w="1181100" h="9525">
                  <a:moveTo>
                    <a:pt x="0" y="0"/>
                  </a:moveTo>
                  <a:lnTo>
                    <a:pt x="1181100" y="0"/>
                  </a:lnTo>
                </a:path>
              </a:pathLst>
            </a:custGeom>
            <a:noFill/>
            <a:ln w="9525">
              <a:solidFill>
                <a:srgbClr val="9AA69A"/>
              </a:solidFill>
              <a:custDash>
                <a:ds d="300000" sp="300000"/>
              </a:custDash>
            </a:ln>
          </p:spPr>
        </p:sp>
        <p:sp>
          <p:nvSpPr>
            <p:cNvPr id="20" name="Ellipse 20"/>
            <p:cNvSpPr/>
            <p:nvPr/>
          </p:nvSpPr>
          <p:spPr>
            <a:xfrm>
              <a:off x="371475" y="4152900"/>
              <a:ext cx="171450" cy="171450"/>
            </a:xfrm>
            <a:prstGeom prst="ellipse">
              <a:avLst/>
            </a:prstGeom>
            <a:solidFill>
              <a:srgbClr val="FFFFFF"/>
            </a:solidFill>
            <a:ln w="14288">
              <a:solidFill>
                <a:srgbClr val="E9563C"/>
              </a:solidFill>
            </a:ln>
          </p:spPr>
        </p:sp>
        <p:sp>
          <p:nvSpPr>
            <p:cNvPr id="21" name="TextBox 21"/>
            <p:cNvSpPr txBox="1"/>
            <p:nvPr/>
          </p:nvSpPr>
          <p:spPr>
            <a:xfrm>
              <a:off x="427264" y="4203859"/>
              <a:ext cx="59873" cy="133350"/>
            </a:xfrm>
            <a:prstGeom prst="rect">
              <a:avLst/>
            </a:prstGeom>
            <a:noFill/>
            <a:ln>
              <a:noFill/>
            </a:ln>
          </p:spPr>
          <p:txBody>
            <a:bodyPr wrap="none" lIns="0" tIns="0" rIns="0" bIns="0" anchor="t" anchorCtr="0">
              <a:spAutoFit/>
            </a:bodyPr>
            <a:lstStyle/>
            <a:p>
              <a:pPr algn="ctr"/>
              <a:r>
                <a:rPr lang="zh-CN" sz="680" dirty="0">
                  <a:solidFill>
                    <a:srgbClr val="D6391E"/>
                  </a:solidFill>
                  <a:latin typeface="+mn-lt"/>
                  <a:ea typeface="+mn-ea"/>
                  <a:cs typeface="+mn-cs"/>
                </a:rPr>
                <a:t>3</a:t>
              </a:r>
            </a:p>
          </p:txBody>
        </p:sp>
        <p:sp>
          <p:nvSpPr>
            <p:cNvPr id="22" name="TextBox 22"/>
            <p:cNvSpPr txBox="1"/>
            <p:nvPr/>
          </p:nvSpPr>
          <p:spPr>
            <a:xfrm>
              <a:off x="585788" y="4127659"/>
              <a:ext cx="700405" cy="361950"/>
            </a:xfrm>
            <a:prstGeom prst="rect">
              <a:avLst/>
            </a:prstGeom>
            <a:noFill/>
            <a:ln>
              <a:noFill/>
            </a:ln>
          </p:spPr>
          <p:txBody>
            <a:bodyPr wrap="none" lIns="0" tIns="0" rIns="0" bIns="0" anchor="t" anchorCtr="0">
              <a:spAutoFit/>
            </a:bodyPr>
            <a:lstStyle/>
            <a:p>
              <a:pPr algn="l">
                <a:lnSpc>
                  <a:spcPts val="900"/>
                </a:lnSpc>
              </a:pPr>
              <a:r>
                <a:rPr lang="zh-CN" sz="680" dirty="0">
                  <a:solidFill>
                    <a:srgbClr val="D6391E"/>
                  </a:solidFill>
                  <a:latin typeface="+mn-lt"/>
                  <a:ea typeface="+mn-ea"/>
                  <a:cs typeface="+mn-cs"/>
                </a:rPr>
                <a:t>根据人群不同，监</a:t>
              </a:r>
              <a:br/>
              <a:r>
                <a:rPr lang="zh-CN" sz="680" dirty="0">
                  <a:solidFill>
                    <a:srgbClr val="D6391E"/>
                  </a:solidFill>
                  <a:latin typeface="+mn-lt"/>
                  <a:ea typeface="+mn-ea"/>
                  <a:cs typeface="+mn-cs"/>
                </a:rPr>
                <a:t>测重点维度会有区</a:t>
              </a:r>
              <a:br/>
              <a:r>
                <a:rPr lang="zh-CN" sz="680" dirty="0">
                  <a:solidFill>
                    <a:srgbClr val="D6391E"/>
                  </a:solidFill>
                  <a:latin typeface="+mn-lt"/>
                  <a:ea typeface="+mn-ea"/>
                  <a:cs typeface="+mn-cs"/>
                </a:rPr>
                <a:t>别</a:t>
              </a:r>
            </a:p>
          </p:txBody>
        </p:sp>
        <p:sp>
          <p:nvSpPr>
            <p:cNvPr id="23" name="Freeform 23"/>
            <p:cNvSpPr/>
            <p:nvPr/>
          </p:nvSpPr>
          <p:spPr>
            <a:xfrm>
              <a:off x="1428750" y="3924300"/>
              <a:ext cx="381000" cy="666750"/>
            </a:xfrm>
            <a:prstGeom prst="chevron">
              <a:avLst/>
            </a:prstGeom>
            <a:noFill/>
            <a:ln w="19050">
              <a:solidFill>
                <a:srgbClr val="9C594C"/>
              </a:solidFill>
            </a:ln>
          </p:spPr>
        </p:sp>
        <p:sp>
          <p:nvSpPr>
            <p:cNvPr id="24" name="TextBox 24"/>
            <p:cNvSpPr txBox="1"/>
            <p:nvPr/>
          </p:nvSpPr>
          <p:spPr>
            <a:xfrm>
              <a:off x="376238" y="5051822"/>
              <a:ext cx="515696" cy="183356"/>
            </a:xfrm>
            <a:prstGeom prst="rect">
              <a:avLst/>
            </a:prstGeom>
            <a:noFill/>
            <a:ln>
              <a:noFill/>
            </a:ln>
          </p:spPr>
          <p:txBody>
            <a:bodyPr wrap="none" lIns="0" tIns="0" rIns="0" bIns="0" anchor="t" anchorCtr="0">
              <a:spAutoFit/>
            </a:bodyPr>
            <a:lstStyle/>
            <a:p>
              <a:pPr algn="l"/>
              <a:r>
                <a:rPr lang="zh-CN" sz="940" b="1" dirty="0">
                  <a:solidFill>
                    <a:srgbClr val="D6391E"/>
                  </a:solidFill>
                  <a:latin typeface="+mn-lt"/>
                  <a:ea typeface="+mn-ea"/>
                  <a:cs typeface="+mn-cs"/>
                </a:rPr>
                <a:t>转化行动</a:t>
              </a:r>
            </a:p>
          </p:txBody>
        </p:sp>
        <p:sp>
          <p:nvSpPr>
            <p:cNvPr id="25" name="Line 25"/>
            <p:cNvSpPr/>
            <p:nvPr/>
          </p:nvSpPr>
          <p:spPr>
            <a:xfrm>
              <a:off x="952500" y="5114925"/>
              <a:ext cx="1181100" cy="9525"/>
            </a:xfrm>
            <a:custGeom>
              <a:avLst/>
              <a:gdLst/>
              <a:ahLst/>
              <a:cxnLst/>
              <a:rect l="l" t="t" r="r" b="b"/>
              <a:pathLst>
                <a:path w="1181100" h="9525">
                  <a:moveTo>
                    <a:pt x="0" y="0"/>
                  </a:moveTo>
                  <a:lnTo>
                    <a:pt x="1181100" y="0"/>
                  </a:lnTo>
                </a:path>
              </a:pathLst>
            </a:custGeom>
            <a:noFill/>
            <a:ln w="9525">
              <a:solidFill>
                <a:srgbClr val="E9563C"/>
              </a:solidFill>
              <a:custDash>
                <a:ds d="300000" sp="300000"/>
              </a:custDash>
            </a:ln>
          </p:spPr>
        </p:sp>
      </p:grpSp>
      <p:grpSp>
        <p:nvGrpSpPr>
          <p:cNvPr id="36" name="top-cards"/>
          <p:cNvGrpSpPr/>
          <p:nvPr/>
        </p:nvGrpSpPr>
        <p:grpSpPr>
          <a:xfrm>
            <a:off x="2171700" y="876300"/>
            <a:ext cx="7019925" cy="514350"/>
            <a:chOff x="2171700" y="876300"/>
            <a:chExt cx="7019925" cy="514350"/>
          </a:xfrm>
        </p:grpSpPr>
        <p:sp>
          <p:nvSpPr>
            <p:cNvPr id="27" name="Rectangle 27"/>
            <p:cNvSpPr/>
            <p:nvPr/>
          </p:nvSpPr>
          <p:spPr>
            <a:xfrm>
              <a:off x="2171700" y="876300"/>
              <a:ext cx="2190750" cy="361950"/>
            </a:xfrm>
            <a:prstGeom prst="roundRect">
              <a:avLst>
                <a:gd name="adj" fmla="val 10526"/>
              </a:avLst>
            </a:prstGeom>
            <a:solidFill>
              <a:srgbClr val="FFFFFF"/>
            </a:solidFill>
            <a:ln w="19050">
              <a:solidFill>
                <a:srgbClr val="9C594C"/>
              </a:solidFill>
            </a:ln>
          </p:spPr>
        </p:sp>
        <p:sp>
          <p:nvSpPr>
            <p:cNvPr id="28" name="TextBox 28"/>
            <p:cNvSpPr txBox="1"/>
            <p:nvPr/>
          </p:nvSpPr>
          <p:spPr>
            <a:xfrm>
              <a:off x="2733650" y="992981"/>
              <a:ext cx="1066851" cy="220028"/>
            </a:xfrm>
            <a:prstGeom prst="rect">
              <a:avLst/>
            </a:prstGeom>
            <a:noFill/>
            <a:ln>
              <a:noFill/>
            </a:ln>
          </p:spPr>
          <p:txBody>
            <a:bodyPr wrap="none" lIns="0" tIns="0" rIns="0" bIns="0" anchor="t" anchorCtr="0">
              <a:spAutoFit/>
            </a:bodyPr>
            <a:lstStyle/>
            <a:p>
              <a:pPr algn="ctr"/>
              <a:r>
                <a:rPr lang="zh-CN" sz="1120" b="1" dirty="0">
                  <a:solidFill>
                    <a:srgbClr val="333333"/>
                  </a:solidFill>
                  <a:latin typeface="+mn-lt"/>
                  <a:ea typeface="+mn-ea"/>
                  <a:cs typeface="+mn-cs"/>
                </a:rPr>
                <a:t>智能化留存分析</a:t>
              </a:r>
            </a:p>
          </p:txBody>
        </p:sp>
        <p:sp>
          <p:nvSpPr>
            <p:cNvPr id="29" name="Freeform 29"/>
            <p:cNvSpPr/>
            <p:nvPr/>
          </p:nvSpPr>
          <p:spPr>
            <a:xfrm rot="10800000">
              <a:off x="3152775" y="1257300"/>
              <a:ext cx="228600" cy="133350"/>
            </a:xfrm>
            <a:prstGeom prst="triangle">
              <a:avLst/>
            </a:prstGeom>
            <a:solidFill>
              <a:srgbClr val="9C594C"/>
            </a:solidFill>
            <a:ln>
              <a:noFill/>
            </a:ln>
          </p:spPr>
        </p:sp>
        <p:sp>
          <p:nvSpPr>
            <p:cNvPr id="30" name="Rectangle 30"/>
            <p:cNvSpPr/>
            <p:nvPr/>
          </p:nvSpPr>
          <p:spPr>
            <a:xfrm>
              <a:off x="4572000" y="876300"/>
              <a:ext cx="2190750" cy="361950"/>
            </a:xfrm>
            <a:prstGeom prst="roundRect">
              <a:avLst>
                <a:gd name="adj" fmla="val 10526"/>
              </a:avLst>
            </a:prstGeom>
            <a:solidFill>
              <a:srgbClr val="FFFFFF"/>
            </a:solidFill>
            <a:ln w="19050">
              <a:solidFill>
                <a:srgbClr val="9C594C"/>
              </a:solidFill>
            </a:ln>
          </p:spPr>
        </p:sp>
        <p:sp>
          <p:nvSpPr>
            <p:cNvPr id="31" name="TextBox 31"/>
            <p:cNvSpPr txBox="1"/>
            <p:nvPr/>
          </p:nvSpPr>
          <p:spPr>
            <a:xfrm>
              <a:off x="5133950" y="992981"/>
              <a:ext cx="1066851" cy="220028"/>
            </a:xfrm>
            <a:prstGeom prst="rect">
              <a:avLst/>
            </a:prstGeom>
            <a:noFill/>
            <a:ln>
              <a:noFill/>
            </a:ln>
          </p:spPr>
          <p:txBody>
            <a:bodyPr wrap="none" lIns="0" tIns="0" rIns="0" bIns="0" anchor="t" anchorCtr="0">
              <a:spAutoFit/>
            </a:bodyPr>
            <a:lstStyle/>
            <a:p>
              <a:pPr algn="ctr"/>
              <a:r>
                <a:rPr lang="zh-CN" sz="1120" b="1" dirty="0">
                  <a:solidFill>
                    <a:srgbClr val="333333"/>
                  </a:solidFill>
                  <a:latin typeface="+mn-lt"/>
                  <a:ea typeface="+mn-ea"/>
                  <a:cs typeface="+mn-cs"/>
                </a:rPr>
                <a:t>智能化投资愿景</a:t>
              </a:r>
            </a:p>
          </p:txBody>
        </p:sp>
        <p:sp>
          <p:nvSpPr>
            <p:cNvPr id="32" name="Freeform 32"/>
            <p:cNvSpPr/>
            <p:nvPr/>
          </p:nvSpPr>
          <p:spPr>
            <a:xfrm rot="10800000">
              <a:off x="5553075" y="1257300"/>
              <a:ext cx="228600" cy="133350"/>
            </a:xfrm>
            <a:prstGeom prst="triangle">
              <a:avLst/>
            </a:prstGeom>
            <a:solidFill>
              <a:srgbClr val="9C594C"/>
            </a:solidFill>
            <a:ln>
              <a:noFill/>
            </a:ln>
          </p:spPr>
        </p:sp>
        <p:sp>
          <p:nvSpPr>
            <p:cNvPr id="33" name="Rectangle 33"/>
            <p:cNvSpPr/>
            <p:nvPr/>
          </p:nvSpPr>
          <p:spPr>
            <a:xfrm>
              <a:off x="7000875" y="876300"/>
              <a:ext cx="2190750" cy="361950"/>
            </a:xfrm>
            <a:prstGeom prst="roundRect">
              <a:avLst>
                <a:gd name="adj" fmla="val 10526"/>
              </a:avLst>
            </a:prstGeom>
            <a:solidFill>
              <a:srgbClr val="FFFFFF"/>
            </a:solidFill>
            <a:ln w="19050">
              <a:solidFill>
                <a:srgbClr val="E9563C"/>
              </a:solidFill>
            </a:ln>
          </p:spPr>
        </p:sp>
        <p:sp>
          <p:nvSpPr>
            <p:cNvPr id="34" name="TextBox 34"/>
            <p:cNvSpPr txBox="1"/>
            <p:nvPr/>
          </p:nvSpPr>
          <p:spPr>
            <a:xfrm>
              <a:off x="7638212" y="992981"/>
              <a:ext cx="916076" cy="220028"/>
            </a:xfrm>
            <a:prstGeom prst="rect">
              <a:avLst/>
            </a:prstGeom>
            <a:noFill/>
            <a:ln>
              <a:noFill/>
            </a:ln>
          </p:spPr>
          <p:txBody>
            <a:bodyPr wrap="none" lIns="0" tIns="0" rIns="0" bIns="0" anchor="t" anchorCtr="0">
              <a:spAutoFit/>
            </a:bodyPr>
            <a:lstStyle/>
            <a:p>
              <a:pPr algn="ctr"/>
              <a:r>
                <a:rPr lang="zh-CN" sz="1120" b="1" dirty="0">
                  <a:solidFill>
                    <a:srgbClr val="333333"/>
                  </a:solidFill>
                  <a:latin typeface="+mn-lt"/>
                  <a:ea typeface="+mn-ea"/>
                  <a:cs typeface="+mn-cs"/>
                </a:rPr>
                <a:t>提高营销转化</a:t>
              </a:r>
            </a:p>
          </p:txBody>
        </p:sp>
        <p:sp>
          <p:nvSpPr>
            <p:cNvPr id="35" name="Freeform 35"/>
            <p:cNvSpPr/>
            <p:nvPr/>
          </p:nvSpPr>
          <p:spPr>
            <a:xfrm rot="10800000">
              <a:off x="7981950" y="1257300"/>
              <a:ext cx="228600" cy="133350"/>
            </a:xfrm>
            <a:prstGeom prst="triangle">
              <a:avLst/>
            </a:prstGeom>
            <a:solidFill>
              <a:srgbClr val="E9563C"/>
            </a:solidFill>
            <a:ln>
              <a:noFill/>
            </a:ln>
          </p:spPr>
        </p:sp>
      </p:grpSp>
      <p:grpSp>
        <p:nvGrpSpPr>
          <p:cNvPr id="51" name="layer-1-develop"/>
          <p:cNvGrpSpPr/>
          <p:nvPr/>
        </p:nvGrpSpPr>
        <p:grpSpPr>
          <a:xfrm>
            <a:off x="2152650" y="1599724"/>
            <a:ext cx="7429500" cy="838676"/>
            <a:chOff x="2152650" y="1599724"/>
            <a:chExt cx="7429500" cy="838676"/>
          </a:xfrm>
        </p:grpSpPr>
        <p:sp>
          <p:nvSpPr>
            <p:cNvPr id="37" name="TextBox 37"/>
            <p:cNvSpPr txBox="1"/>
            <p:nvPr/>
          </p:nvSpPr>
          <p:spPr>
            <a:xfrm>
              <a:off x="3130194" y="1599724"/>
              <a:ext cx="273761"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发展</a:t>
              </a:r>
            </a:p>
          </p:txBody>
        </p:sp>
        <p:sp>
          <p:nvSpPr>
            <p:cNvPr id="38" name="TextBox 38"/>
            <p:cNvSpPr txBox="1"/>
            <p:nvPr/>
          </p:nvSpPr>
          <p:spPr>
            <a:xfrm>
              <a:off x="5530494" y="1599724"/>
              <a:ext cx="273761"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渠道</a:t>
              </a:r>
            </a:p>
          </p:txBody>
        </p:sp>
        <p:sp>
          <p:nvSpPr>
            <p:cNvPr id="39" name="TextBox 39"/>
            <p:cNvSpPr txBox="1"/>
            <p:nvPr/>
          </p:nvSpPr>
          <p:spPr>
            <a:xfrm>
              <a:off x="7959369" y="1599724"/>
              <a:ext cx="273761"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建设</a:t>
              </a:r>
            </a:p>
          </p:txBody>
        </p:sp>
        <p:sp>
          <p:nvSpPr>
            <p:cNvPr id="40" name="Freeform 40"/>
            <p:cNvSpPr/>
            <p:nvPr/>
          </p:nvSpPr>
          <p:spPr>
            <a:xfrm>
              <a:off x="2286000" y="1771650"/>
              <a:ext cx="6858000" cy="419100"/>
            </a:xfrm>
            <a:prstGeom prst="trapezoid">
              <a:avLst/>
            </a:prstGeom>
            <a:solidFill>
              <a:srgbClr val="E6F1DD"/>
            </a:solidFill>
            <a:ln>
              <a:noFill/>
            </a:ln>
          </p:spPr>
        </p:sp>
        <p:sp>
          <p:nvSpPr>
            <p:cNvPr id="41" name="TextBox 41"/>
            <p:cNvSpPr txBox="1"/>
            <p:nvPr/>
          </p:nvSpPr>
          <p:spPr>
            <a:xfrm>
              <a:off x="2746388" y="1915239"/>
              <a:ext cx="222225" cy="154781"/>
            </a:xfrm>
            <a:prstGeom prst="rect">
              <a:avLst/>
            </a:prstGeom>
            <a:noFill/>
            <a:ln>
              <a:noFill/>
            </a:ln>
          </p:spPr>
          <p:txBody>
            <a:bodyPr wrap="none" lIns="0" tIns="0" rIns="0" bIns="0" anchor="t" anchorCtr="0">
              <a:spAutoFit/>
            </a:bodyPr>
            <a:lstStyle/>
            <a:p>
              <a:pPr algn="ctr"/>
              <a:r>
                <a:rPr lang="zh-CN" sz="790" dirty="0">
                  <a:solidFill>
                    <a:srgbClr val="595959"/>
                  </a:solidFill>
                  <a:latin typeface="+mn-lt"/>
                  <a:ea typeface="+mn-ea"/>
                  <a:cs typeface="+mn-cs"/>
                </a:rPr>
                <a:t>互利</a:t>
              </a:r>
            </a:p>
          </p:txBody>
        </p:sp>
        <p:sp>
          <p:nvSpPr>
            <p:cNvPr id="42" name="TextBox 42"/>
            <p:cNvSpPr txBox="1"/>
            <p:nvPr/>
          </p:nvSpPr>
          <p:spPr>
            <a:xfrm>
              <a:off x="3565538" y="1915239"/>
              <a:ext cx="222225" cy="154781"/>
            </a:xfrm>
            <a:prstGeom prst="rect">
              <a:avLst/>
            </a:prstGeom>
            <a:noFill/>
            <a:ln>
              <a:noFill/>
            </a:ln>
          </p:spPr>
          <p:txBody>
            <a:bodyPr wrap="none" lIns="0" tIns="0" rIns="0" bIns="0" anchor="t" anchorCtr="0">
              <a:spAutoFit/>
            </a:bodyPr>
            <a:lstStyle/>
            <a:p>
              <a:pPr algn="ctr"/>
              <a:r>
                <a:rPr lang="zh-CN" sz="790" dirty="0">
                  <a:solidFill>
                    <a:srgbClr val="595959"/>
                  </a:solidFill>
                  <a:latin typeface="+mn-lt"/>
                  <a:ea typeface="+mn-ea"/>
                  <a:cs typeface="+mn-cs"/>
                </a:rPr>
                <a:t>安全</a:t>
              </a:r>
            </a:p>
          </p:txBody>
        </p:sp>
        <p:sp>
          <p:nvSpPr>
            <p:cNvPr id="43" name="Line 43"/>
            <p:cNvSpPr/>
            <p:nvPr/>
          </p:nvSpPr>
          <p:spPr>
            <a:xfrm>
              <a:off x="4381500" y="1847850"/>
              <a:ext cx="9525" cy="266700"/>
            </a:xfrm>
            <a:custGeom>
              <a:avLst/>
              <a:gdLst/>
              <a:ahLst/>
              <a:cxnLst/>
              <a:rect l="l" t="t" r="r" b="b"/>
              <a:pathLst>
                <a:path w="9525" h="266700">
                  <a:moveTo>
                    <a:pt x="0" y="0"/>
                  </a:moveTo>
                  <a:lnTo>
                    <a:pt x="0" y="266700"/>
                  </a:lnTo>
                </a:path>
              </a:pathLst>
            </a:custGeom>
            <a:noFill/>
            <a:ln w="9525">
              <a:solidFill>
                <a:srgbClr val="C9D8BD"/>
              </a:solidFill>
            </a:ln>
          </p:spPr>
        </p:sp>
        <p:sp>
          <p:nvSpPr>
            <p:cNvPr id="44" name="TextBox 44"/>
            <p:cNvSpPr txBox="1"/>
            <p:nvPr/>
          </p:nvSpPr>
          <p:spPr>
            <a:xfrm>
              <a:off x="5175263" y="1915239"/>
              <a:ext cx="222225" cy="154781"/>
            </a:xfrm>
            <a:prstGeom prst="rect">
              <a:avLst/>
            </a:prstGeom>
            <a:noFill/>
            <a:ln>
              <a:noFill/>
            </a:ln>
          </p:spPr>
          <p:txBody>
            <a:bodyPr wrap="none" lIns="0" tIns="0" rIns="0" bIns="0" anchor="t" anchorCtr="0">
              <a:spAutoFit/>
            </a:bodyPr>
            <a:lstStyle/>
            <a:p>
              <a:pPr algn="ctr"/>
              <a:r>
                <a:rPr lang="zh-CN" sz="790" dirty="0">
                  <a:solidFill>
                    <a:srgbClr val="595959"/>
                  </a:solidFill>
                  <a:latin typeface="+mn-lt"/>
                  <a:ea typeface="+mn-ea"/>
                  <a:cs typeface="+mn-cs"/>
                </a:rPr>
                <a:t>丰富</a:t>
              </a:r>
            </a:p>
          </p:txBody>
        </p:sp>
        <p:sp>
          <p:nvSpPr>
            <p:cNvPr id="45" name="TextBox 45"/>
            <p:cNvSpPr txBox="1"/>
            <p:nvPr/>
          </p:nvSpPr>
          <p:spPr>
            <a:xfrm>
              <a:off x="5937263" y="1915239"/>
              <a:ext cx="222225" cy="154781"/>
            </a:xfrm>
            <a:prstGeom prst="rect">
              <a:avLst/>
            </a:prstGeom>
            <a:noFill/>
            <a:ln>
              <a:noFill/>
            </a:ln>
          </p:spPr>
          <p:txBody>
            <a:bodyPr wrap="none" lIns="0" tIns="0" rIns="0" bIns="0" anchor="t" anchorCtr="0">
              <a:spAutoFit/>
            </a:bodyPr>
            <a:lstStyle/>
            <a:p>
              <a:pPr algn="ctr"/>
              <a:r>
                <a:rPr lang="zh-CN" sz="790" dirty="0">
                  <a:solidFill>
                    <a:srgbClr val="595959"/>
                  </a:solidFill>
                  <a:latin typeface="+mn-lt"/>
                  <a:ea typeface="+mn-ea"/>
                  <a:cs typeface="+mn-cs"/>
                </a:rPr>
                <a:t>多样</a:t>
              </a:r>
            </a:p>
          </p:txBody>
        </p:sp>
        <p:sp>
          <p:nvSpPr>
            <p:cNvPr id="46" name="Line 46"/>
            <p:cNvSpPr/>
            <p:nvPr/>
          </p:nvSpPr>
          <p:spPr>
            <a:xfrm>
              <a:off x="6810375" y="1847850"/>
              <a:ext cx="9525" cy="266700"/>
            </a:xfrm>
            <a:custGeom>
              <a:avLst/>
              <a:gdLst/>
              <a:ahLst/>
              <a:cxnLst/>
              <a:rect l="l" t="t" r="r" b="b"/>
              <a:pathLst>
                <a:path w="9525" h="266700">
                  <a:moveTo>
                    <a:pt x="0" y="0"/>
                  </a:moveTo>
                  <a:lnTo>
                    <a:pt x="0" y="266700"/>
                  </a:lnTo>
                </a:path>
              </a:pathLst>
            </a:custGeom>
            <a:noFill/>
            <a:ln w="9525">
              <a:solidFill>
                <a:srgbClr val="C9D8BD"/>
              </a:solidFill>
            </a:ln>
          </p:spPr>
        </p:sp>
        <p:sp>
          <p:nvSpPr>
            <p:cNvPr id="47" name="TextBox 47"/>
            <p:cNvSpPr txBox="1"/>
            <p:nvPr/>
          </p:nvSpPr>
          <p:spPr>
            <a:xfrm>
              <a:off x="7556513" y="1915239"/>
              <a:ext cx="222225" cy="154781"/>
            </a:xfrm>
            <a:prstGeom prst="rect">
              <a:avLst/>
            </a:prstGeom>
            <a:noFill/>
            <a:ln>
              <a:noFill/>
            </a:ln>
          </p:spPr>
          <p:txBody>
            <a:bodyPr wrap="none" lIns="0" tIns="0" rIns="0" bIns="0" anchor="t" anchorCtr="0">
              <a:spAutoFit/>
            </a:bodyPr>
            <a:lstStyle/>
            <a:p>
              <a:pPr algn="ctr"/>
              <a:r>
                <a:rPr lang="zh-CN" sz="790" dirty="0">
                  <a:solidFill>
                    <a:srgbClr val="595959"/>
                  </a:solidFill>
                  <a:latin typeface="+mn-lt"/>
                  <a:ea typeface="+mn-ea"/>
                  <a:cs typeface="+mn-cs"/>
                </a:rPr>
                <a:t>提供</a:t>
              </a:r>
            </a:p>
          </p:txBody>
        </p:sp>
        <p:sp>
          <p:nvSpPr>
            <p:cNvPr id="48" name="TextBox 48"/>
            <p:cNvSpPr txBox="1"/>
            <p:nvPr/>
          </p:nvSpPr>
          <p:spPr>
            <a:xfrm>
              <a:off x="8366138" y="1915239"/>
              <a:ext cx="222225" cy="154781"/>
            </a:xfrm>
            <a:prstGeom prst="rect">
              <a:avLst/>
            </a:prstGeom>
            <a:noFill/>
            <a:ln>
              <a:noFill/>
            </a:ln>
          </p:spPr>
          <p:txBody>
            <a:bodyPr wrap="none" lIns="0" tIns="0" rIns="0" bIns="0" anchor="t" anchorCtr="0">
              <a:spAutoFit/>
            </a:bodyPr>
            <a:lstStyle/>
            <a:p>
              <a:pPr algn="ctr"/>
              <a:r>
                <a:rPr lang="zh-CN" sz="790" dirty="0">
                  <a:solidFill>
                    <a:srgbClr val="595959"/>
                  </a:solidFill>
                  <a:latin typeface="+mn-lt"/>
                  <a:ea typeface="+mn-ea"/>
                  <a:cs typeface="+mn-cs"/>
                </a:rPr>
                <a:t>服务</a:t>
              </a:r>
            </a:p>
          </p:txBody>
        </p:sp>
        <p:sp>
          <p:nvSpPr>
            <p:cNvPr id="49" name="Rectangle 49"/>
            <p:cNvSpPr/>
            <p:nvPr/>
          </p:nvSpPr>
          <p:spPr>
            <a:xfrm>
              <a:off x="2152650" y="2190750"/>
              <a:ext cx="7429500" cy="247650"/>
            </a:xfrm>
            <a:prstGeom prst="rect">
              <a:avLst/>
            </a:prstGeom>
            <a:solidFill>
              <a:srgbClr val="C8E0B8"/>
            </a:solidFill>
            <a:ln>
              <a:noFill/>
            </a:ln>
          </p:spPr>
        </p:sp>
        <p:sp>
          <p:nvSpPr>
            <p:cNvPr id="50" name="TextBox 50"/>
            <p:cNvSpPr txBox="1"/>
            <p:nvPr/>
          </p:nvSpPr>
          <p:spPr>
            <a:xfrm>
              <a:off x="4820679" y="2269093"/>
              <a:ext cx="2093443"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将企业的发展与员工的利益直接联系起来</a:t>
              </a:r>
            </a:p>
          </p:txBody>
        </p:sp>
      </p:grpSp>
      <p:grpSp>
        <p:nvGrpSpPr>
          <p:cNvPr id="68" name="layer-2-skills"/>
          <p:cNvGrpSpPr/>
          <p:nvPr/>
        </p:nvGrpSpPr>
        <p:grpSpPr>
          <a:xfrm>
            <a:off x="2152650" y="2552700"/>
            <a:ext cx="7429500" cy="1257300"/>
            <a:chOff x="2152650" y="2552700"/>
            <a:chExt cx="7429500" cy="1257300"/>
          </a:xfrm>
        </p:grpSpPr>
        <p:sp>
          <p:nvSpPr>
            <p:cNvPr id="52" name="Freeform 52"/>
            <p:cNvSpPr/>
            <p:nvPr/>
          </p:nvSpPr>
          <p:spPr>
            <a:xfrm>
              <a:off x="2286000" y="3143250"/>
              <a:ext cx="6858000" cy="419100"/>
            </a:xfrm>
            <a:prstGeom prst="trapezoid">
              <a:avLst/>
            </a:prstGeom>
            <a:solidFill>
              <a:srgbClr val="EAF3E3"/>
            </a:solidFill>
            <a:ln>
              <a:noFill/>
            </a:ln>
          </p:spPr>
        </p:sp>
        <p:sp>
          <p:nvSpPr>
            <p:cNvPr id="53" name="Rectangle 53"/>
            <p:cNvSpPr/>
            <p:nvPr/>
          </p:nvSpPr>
          <p:spPr>
            <a:xfrm>
              <a:off x="2152650" y="3562350"/>
              <a:ext cx="7429500" cy="247650"/>
            </a:xfrm>
            <a:prstGeom prst="rect">
              <a:avLst/>
            </a:prstGeom>
            <a:solidFill>
              <a:srgbClr val="CD9F96"/>
            </a:solidFill>
            <a:ln>
              <a:noFill/>
            </a:ln>
          </p:spPr>
        </p:sp>
        <p:sp>
          <p:nvSpPr>
            <p:cNvPr id="54" name="TextBox 54"/>
            <p:cNvSpPr txBox="1"/>
            <p:nvPr/>
          </p:nvSpPr>
          <p:spPr>
            <a:xfrm>
              <a:off x="4647019" y="3640693"/>
              <a:ext cx="2440762"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熟练掌握各种专业技能，可以顺利完成各项任务</a:t>
              </a:r>
            </a:p>
          </p:txBody>
        </p:sp>
        <p:sp>
          <p:nvSpPr>
            <p:cNvPr id="55" name="Freeform 55"/>
            <p:cNvSpPr/>
            <p:nvPr/>
          </p:nvSpPr>
          <p:spPr>
            <a:xfrm>
              <a:off x="2905125" y="2552700"/>
              <a:ext cx="342900" cy="800100"/>
            </a:xfrm>
            <a:prstGeom prst="upDownArrow">
              <a:avLst/>
            </a:prstGeom>
            <a:solidFill>
              <a:srgbClr val="9C594C"/>
            </a:solidFill>
            <a:ln>
              <a:noFill/>
            </a:ln>
          </p:spPr>
        </p:sp>
        <p:sp>
          <p:nvSpPr>
            <p:cNvPr id="56" name="TextBox 56"/>
            <p:cNvSpPr txBox="1"/>
            <p:nvPr/>
          </p:nvSpPr>
          <p:spPr>
            <a:xfrm>
              <a:off x="3026728" y="2780586"/>
              <a:ext cx="99695" cy="388144"/>
            </a:xfrm>
            <a:prstGeom prst="rect">
              <a:avLst/>
            </a:prstGeom>
            <a:noFill/>
            <a:ln>
              <a:noFill/>
            </a:ln>
          </p:spPr>
          <p:txBody>
            <a:bodyPr wrap="none" lIns="0" tIns="0" rIns="0" bIns="0" anchor="t" anchorCtr="0">
              <a:spAutoFit/>
            </a:bodyPr>
            <a:lstStyle/>
            <a:p>
              <a:pPr algn="ctr">
                <a:lnSpc>
                  <a:spcPts val="975"/>
                </a:lnSpc>
              </a:pPr>
              <a:r>
                <a:rPr lang="zh-CN" sz="710" b="1" dirty="0">
                  <a:solidFill>
                    <a:srgbClr val="FFFFFF"/>
                  </a:solidFill>
                  <a:latin typeface="+mn-lt"/>
                  <a:ea typeface="+mn-ea"/>
                  <a:cs typeface="+mn-cs"/>
                </a:rPr>
                <a:t>原</a:t>
              </a:r>
              <a:br/>
              <a:r>
                <a:rPr lang="zh-CN" sz="710" b="1" dirty="0">
                  <a:solidFill>
                    <a:srgbClr val="FFFFFF"/>
                  </a:solidFill>
                  <a:latin typeface="+mn-lt"/>
                  <a:ea typeface="+mn-ea"/>
                  <a:cs typeface="+mn-cs"/>
                </a:rPr>
                <a:t>材</a:t>
              </a:r>
              <a:br/>
              <a:r>
                <a:rPr lang="zh-CN" sz="710" b="1" dirty="0">
                  <a:solidFill>
                    <a:srgbClr val="FFFFFF"/>
                  </a:solidFill>
                  <a:latin typeface="+mn-lt"/>
                  <a:ea typeface="+mn-ea"/>
                  <a:cs typeface="+mn-cs"/>
                </a:rPr>
                <a:t>料</a:t>
              </a:r>
            </a:p>
          </p:txBody>
        </p:sp>
        <p:sp>
          <p:nvSpPr>
            <p:cNvPr id="57" name="Rectangle 57"/>
            <p:cNvSpPr/>
            <p:nvPr/>
          </p:nvSpPr>
          <p:spPr>
            <a:xfrm>
              <a:off x="3810000" y="2971800"/>
              <a:ext cx="762000" cy="228600"/>
            </a:xfrm>
            <a:prstGeom prst="rect">
              <a:avLst/>
            </a:prstGeom>
            <a:solidFill>
              <a:srgbClr val="F0F0F0"/>
            </a:solidFill>
            <a:ln>
              <a:noFill/>
            </a:ln>
          </p:spPr>
        </p:sp>
        <p:sp>
          <p:nvSpPr>
            <p:cNvPr id="58" name="TextBox 58"/>
            <p:cNvSpPr txBox="1"/>
            <p:nvPr/>
          </p:nvSpPr>
          <p:spPr>
            <a:xfrm>
              <a:off x="3954691" y="30406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行业规制</a:t>
              </a:r>
            </a:p>
          </p:txBody>
        </p:sp>
        <p:sp>
          <p:nvSpPr>
            <p:cNvPr id="59" name="Freeform 59"/>
            <p:cNvSpPr/>
            <p:nvPr/>
          </p:nvSpPr>
          <p:spPr>
            <a:xfrm>
              <a:off x="5448300" y="2552700"/>
              <a:ext cx="342900" cy="800100"/>
            </a:xfrm>
            <a:prstGeom prst="upDownArrow">
              <a:avLst/>
            </a:prstGeom>
            <a:solidFill>
              <a:srgbClr val="9C594C"/>
            </a:solidFill>
            <a:ln>
              <a:noFill/>
            </a:ln>
          </p:spPr>
        </p:sp>
        <p:sp>
          <p:nvSpPr>
            <p:cNvPr id="60" name="TextBox 60"/>
            <p:cNvSpPr txBox="1"/>
            <p:nvPr/>
          </p:nvSpPr>
          <p:spPr>
            <a:xfrm>
              <a:off x="5569902" y="2723436"/>
              <a:ext cx="99695" cy="511969"/>
            </a:xfrm>
            <a:prstGeom prst="rect">
              <a:avLst/>
            </a:prstGeom>
            <a:noFill/>
            <a:ln>
              <a:noFill/>
            </a:ln>
          </p:spPr>
          <p:txBody>
            <a:bodyPr wrap="none" lIns="0" tIns="0" rIns="0" bIns="0" anchor="t" anchorCtr="0">
              <a:spAutoFit/>
            </a:bodyPr>
            <a:lstStyle/>
            <a:p>
              <a:pPr algn="ctr">
                <a:lnSpc>
                  <a:spcPts val="975"/>
                </a:lnSpc>
              </a:pPr>
              <a:r>
                <a:rPr lang="zh-CN" sz="710" b="1" dirty="0">
                  <a:solidFill>
                    <a:srgbClr val="FFFFFF"/>
                  </a:solidFill>
                  <a:latin typeface="+mn-lt"/>
                  <a:ea typeface="+mn-ea"/>
                  <a:cs typeface="+mn-cs"/>
                </a:rPr>
                <a:t>环</a:t>
              </a:r>
              <a:br/>
              <a:r>
                <a:rPr lang="zh-CN" sz="710" b="1" dirty="0">
                  <a:solidFill>
                    <a:srgbClr val="FFFFFF"/>
                  </a:solidFill>
                  <a:latin typeface="+mn-lt"/>
                  <a:ea typeface="+mn-ea"/>
                  <a:cs typeface="+mn-cs"/>
                </a:rPr>
                <a:t>境</a:t>
              </a:r>
              <a:br/>
              <a:r>
                <a:rPr lang="zh-CN" sz="710" b="1" dirty="0">
                  <a:solidFill>
                    <a:srgbClr val="FFFFFF"/>
                  </a:solidFill>
                  <a:latin typeface="+mn-lt"/>
                  <a:ea typeface="+mn-ea"/>
                  <a:cs typeface="+mn-cs"/>
                </a:rPr>
                <a:t>分</a:t>
              </a:r>
              <a:br/>
              <a:r>
                <a:rPr lang="zh-CN" sz="710" b="1" dirty="0">
                  <a:solidFill>
                    <a:srgbClr val="FFFFFF"/>
                  </a:solidFill>
                  <a:latin typeface="+mn-lt"/>
                  <a:ea typeface="+mn-ea"/>
                  <a:cs typeface="+mn-cs"/>
                </a:rPr>
                <a:t>析</a:t>
              </a:r>
            </a:p>
          </p:txBody>
        </p:sp>
        <p:sp>
          <p:nvSpPr>
            <p:cNvPr id="61" name="Rectangle 61"/>
            <p:cNvSpPr/>
            <p:nvPr/>
          </p:nvSpPr>
          <p:spPr>
            <a:xfrm>
              <a:off x="6286500" y="2971800"/>
              <a:ext cx="762000" cy="228600"/>
            </a:xfrm>
            <a:prstGeom prst="rect">
              <a:avLst/>
            </a:prstGeom>
            <a:solidFill>
              <a:srgbClr val="F0F0F0"/>
            </a:solidFill>
            <a:ln>
              <a:noFill/>
            </a:ln>
          </p:spPr>
        </p:sp>
        <p:sp>
          <p:nvSpPr>
            <p:cNvPr id="62" name="TextBox 62"/>
            <p:cNvSpPr txBox="1"/>
            <p:nvPr/>
          </p:nvSpPr>
          <p:spPr>
            <a:xfrm>
              <a:off x="6431191" y="3040618"/>
              <a:ext cx="472618" cy="169069"/>
            </a:xfrm>
            <a:prstGeom prst="rect">
              <a:avLst/>
            </a:prstGeom>
            <a:noFill/>
            <a:ln>
              <a:noFill/>
            </a:ln>
          </p:spPr>
          <p:txBody>
            <a:bodyPr wrap="none" lIns="0" tIns="0" rIns="0" bIns="0" anchor="t" anchorCtr="0">
              <a:spAutoFit/>
            </a:bodyPr>
            <a:lstStyle/>
            <a:p>
              <a:pPr algn="ctr"/>
              <a:r>
                <a:rPr lang="zh-CN" sz="860" dirty="0">
                  <a:solidFill>
                    <a:srgbClr val="333333"/>
                  </a:solidFill>
                  <a:latin typeface="+mn-lt"/>
                  <a:ea typeface="+mn-ea"/>
                  <a:cs typeface="+mn-cs"/>
                </a:rPr>
                <a:t>资源限制</a:t>
              </a:r>
            </a:p>
          </p:txBody>
        </p:sp>
        <p:sp>
          <p:nvSpPr>
            <p:cNvPr id="63" name="Freeform 63"/>
            <p:cNvSpPr/>
            <p:nvPr/>
          </p:nvSpPr>
          <p:spPr>
            <a:xfrm>
              <a:off x="7829550" y="2552700"/>
              <a:ext cx="342900" cy="800100"/>
            </a:xfrm>
            <a:prstGeom prst="upDownArrow">
              <a:avLst/>
            </a:prstGeom>
            <a:solidFill>
              <a:srgbClr val="E9563C"/>
            </a:solidFill>
            <a:ln>
              <a:noFill/>
            </a:ln>
          </p:spPr>
        </p:sp>
        <p:sp>
          <p:nvSpPr>
            <p:cNvPr id="64" name="TextBox 64"/>
            <p:cNvSpPr txBox="1"/>
            <p:nvPr/>
          </p:nvSpPr>
          <p:spPr>
            <a:xfrm>
              <a:off x="7951152" y="2723436"/>
              <a:ext cx="99695" cy="511969"/>
            </a:xfrm>
            <a:prstGeom prst="rect">
              <a:avLst/>
            </a:prstGeom>
            <a:noFill/>
            <a:ln>
              <a:noFill/>
            </a:ln>
          </p:spPr>
          <p:txBody>
            <a:bodyPr wrap="none" lIns="0" tIns="0" rIns="0" bIns="0" anchor="t" anchorCtr="0">
              <a:spAutoFit/>
            </a:bodyPr>
            <a:lstStyle/>
            <a:p>
              <a:pPr algn="ctr">
                <a:lnSpc>
                  <a:spcPts val="975"/>
                </a:lnSpc>
              </a:pPr>
              <a:r>
                <a:rPr lang="zh-CN" sz="710" b="1" dirty="0">
                  <a:solidFill>
                    <a:srgbClr val="FFFFFF"/>
                  </a:solidFill>
                  <a:latin typeface="+mn-lt"/>
                  <a:ea typeface="+mn-ea"/>
                  <a:cs typeface="+mn-cs"/>
                </a:rPr>
                <a:t>组</a:t>
              </a:r>
              <a:br/>
              <a:r>
                <a:rPr lang="zh-CN" sz="710" b="1" dirty="0">
                  <a:solidFill>
                    <a:srgbClr val="FFFFFF"/>
                  </a:solidFill>
                  <a:latin typeface="+mn-lt"/>
                  <a:ea typeface="+mn-ea"/>
                  <a:cs typeface="+mn-cs"/>
                </a:rPr>
                <a:t>织</a:t>
              </a:r>
              <a:br/>
              <a:r>
                <a:rPr lang="zh-CN" sz="710" b="1" dirty="0">
                  <a:solidFill>
                    <a:srgbClr val="FFFFFF"/>
                  </a:solidFill>
                  <a:latin typeface="+mn-lt"/>
                  <a:ea typeface="+mn-ea"/>
                  <a:cs typeface="+mn-cs"/>
                </a:rPr>
                <a:t>结</a:t>
              </a:r>
              <a:br/>
              <a:r>
                <a:rPr lang="zh-CN" sz="710" b="1" dirty="0">
                  <a:solidFill>
                    <a:srgbClr val="FFFFFF"/>
                  </a:solidFill>
                  <a:latin typeface="+mn-lt"/>
                  <a:ea typeface="+mn-ea"/>
                  <a:cs typeface="+mn-cs"/>
                </a:rPr>
                <a:t>构</a:t>
              </a:r>
            </a:p>
          </p:txBody>
        </p:sp>
        <p:sp>
          <p:nvSpPr>
            <p:cNvPr id="65" name="Freeform 65"/>
            <p:cNvSpPr/>
            <p:nvPr/>
          </p:nvSpPr>
          <p:spPr>
            <a:xfrm>
              <a:off x="8382000" y="2857500"/>
              <a:ext cx="247650" cy="381000"/>
            </a:xfrm>
            <a:prstGeom prst="upArrow">
              <a:avLst/>
            </a:prstGeom>
            <a:solidFill>
              <a:srgbClr val="9C594C"/>
            </a:solidFill>
            <a:ln>
              <a:noFill/>
            </a:ln>
          </p:spPr>
        </p:sp>
        <p:sp>
          <p:nvSpPr>
            <p:cNvPr id="66" name="TextBox 66"/>
            <p:cNvSpPr txBox="1"/>
            <p:nvPr/>
          </p:nvSpPr>
          <p:spPr>
            <a:xfrm>
              <a:off x="8678418" y="2927032"/>
              <a:ext cx="576514" cy="322707"/>
            </a:xfrm>
            <a:prstGeom prst="rect">
              <a:avLst/>
            </a:prstGeom>
            <a:noFill/>
            <a:ln>
              <a:noFill/>
            </a:ln>
          </p:spPr>
          <p:txBody>
            <a:bodyPr wrap="none" lIns="0" tIns="0" rIns="0" bIns="0" anchor="t" anchorCtr="0">
              <a:spAutoFit/>
            </a:bodyPr>
            <a:lstStyle/>
            <a:p>
              <a:pPr algn="l"/>
              <a:r>
                <a:rPr lang="zh-CN" sz="1650" b="1" dirty="0">
                  <a:solidFill>
                    <a:srgbClr val="333333"/>
                  </a:solidFill>
                  <a:latin typeface="+mn-lt"/>
                  <a:ea typeface="+mn-ea"/>
                  <a:cs typeface="+mn-cs"/>
                </a:rPr>
                <a:t>15%​</a:t>
              </a:r>
            </a:p>
          </p:txBody>
        </p:sp>
        <p:sp>
          <p:nvSpPr>
            <p:cNvPr id="67" name="TextBox 67"/>
            <p:cNvSpPr txBox="1"/>
            <p:nvPr/>
          </p:nvSpPr>
          <p:spPr>
            <a:xfrm>
              <a:off x="8682038" y="3206591"/>
              <a:ext cx="340690" cy="161925"/>
            </a:xfrm>
            <a:prstGeom prst="rect">
              <a:avLst/>
            </a:prstGeom>
            <a:noFill/>
            <a:ln>
              <a:noFill/>
            </a:ln>
          </p:spPr>
          <p:txBody>
            <a:bodyPr wrap="none" lIns="0" tIns="0" rIns="0" bIns="0" anchor="t" anchorCtr="0">
              <a:spAutoFit/>
            </a:bodyPr>
            <a:lstStyle/>
            <a:p>
              <a:pPr algn="l"/>
              <a:r>
                <a:rPr lang="zh-CN" sz="820" dirty="0">
                  <a:solidFill>
                    <a:srgbClr val="333333"/>
                  </a:solidFill>
                  <a:latin typeface="+mn-lt"/>
                  <a:ea typeface="+mn-ea"/>
                  <a:cs typeface="+mn-cs"/>
                </a:rPr>
                <a:t>改变的</a:t>
              </a:r>
            </a:p>
          </p:txBody>
        </p:sp>
      </p:grpSp>
      <p:grpSp>
        <p:nvGrpSpPr>
          <p:cNvPr id="83" name="layer-3-communicate"/>
          <p:cNvGrpSpPr/>
          <p:nvPr/>
        </p:nvGrpSpPr>
        <p:grpSpPr>
          <a:xfrm>
            <a:off x="2152650" y="4076700"/>
            <a:ext cx="7429500" cy="1143000"/>
            <a:chOff x="2152650" y="4076700"/>
            <a:chExt cx="7429500" cy="1143000"/>
          </a:xfrm>
        </p:grpSpPr>
        <p:sp>
          <p:nvSpPr>
            <p:cNvPr id="69" name="Rectangle 69"/>
            <p:cNvSpPr/>
            <p:nvPr/>
          </p:nvSpPr>
          <p:spPr>
            <a:xfrm>
              <a:off x="3238500" y="4076700"/>
              <a:ext cx="857250" cy="419100"/>
            </a:xfrm>
            <a:prstGeom prst="rect">
              <a:avLst/>
            </a:prstGeom>
            <a:solidFill>
              <a:srgbClr val="FBF0D8"/>
            </a:solidFill>
            <a:ln w="14288">
              <a:solidFill>
                <a:srgbClr val="E9563C"/>
              </a:solidFill>
            </a:ln>
          </p:spPr>
        </p:sp>
        <p:sp>
          <p:nvSpPr>
            <p:cNvPr id="70" name="TextBox 70"/>
            <p:cNvSpPr txBox="1"/>
            <p:nvPr/>
          </p:nvSpPr>
          <p:spPr>
            <a:xfrm>
              <a:off x="3454082" y="4168616"/>
              <a:ext cx="42608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D6391E"/>
                  </a:solidFill>
                  <a:latin typeface="+mn-lt"/>
                  <a:ea typeface="+mn-ea"/>
                  <a:cs typeface="+mn-cs"/>
                </a:rPr>
                <a:t>服务偏好</a:t>
              </a:r>
              <a:br/>
              <a:r>
                <a:rPr lang="zh-CN" sz="820" dirty="0">
                  <a:solidFill>
                    <a:srgbClr val="D6391E"/>
                  </a:solidFill>
                  <a:latin typeface="+mn-lt"/>
                  <a:ea typeface="+mn-ea"/>
                  <a:cs typeface="+mn-cs"/>
                </a:rPr>
                <a:t>营销</a:t>
              </a:r>
            </a:p>
          </p:txBody>
        </p:sp>
        <p:sp>
          <p:nvSpPr>
            <p:cNvPr id="71" name="TextBox 71"/>
            <p:cNvSpPr txBox="1"/>
            <p:nvPr/>
          </p:nvSpPr>
          <p:spPr>
            <a:xfrm>
              <a:off x="4402318" y="4223385"/>
              <a:ext cx="110764" cy="234696"/>
            </a:xfrm>
            <a:prstGeom prst="rect">
              <a:avLst/>
            </a:prstGeom>
            <a:noFill/>
            <a:ln>
              <a:noFill/>
            </a:ln>
          </p:spPr>
          <p:txBody>
            <a:bodyPr wrap="none" lIns="0" tIns="0" rIns="0" bIns="0" anchor="t" anchorCtr="0">
              <a:spAutoFit/>
            </a:bodyPr>
            <a:lstStyle/>
            <a:p>
              <a:pPr algn="ctr"/>
              <a:r>
                <a:rPr lang="en-US" sz="1200" b="1" dirty="0">
                  <a:solidFill>
                    <a:srgbClr val="E9563C"/>
                  </a:solidFill>
                  <a:latin typeface="+mn-lt"/>
                  <a:ea typeface="+mn-ea"/>
                  <a:cs typeface="+mn-cs"/>
                </a:rPr>
                <a:t>X</a:t>
              </a:r>
            </a:p>
          </p:txBody>
        </p:sp>
        <p:sp>
          <p:nvSpPr>
            <p:cNvPr id="72" name="Rectangle 72"/>
            <p:cNvSpPr/>
            <p:nvPr/>
          </p:nvSpPr>
          <p:spPr>
            <a:xfrm>
              <a:off x="4810125" y="4076700"/>
              <a:ext cx="857250" cy="419100"/>
            </a:xfrm>
            <a:prstGeom prst="rect">
              <a:avLst/>
            </a:prstGeom>
            <a:solidFill>
              <a:srgbClr val="FBF0D8"/>
            </a:solidFill>
            <a:ln w="14288">
              <a:solidFill>
                <a:srgbClr val="E9563C"/>
              </a:solidFill>
            </a:ln>
          </p:spPr>
        </p:sp>
        <p:sp>
          <p:nvSpPr>
            <p:cNvPr id="73" name="TextBox 73"/>
            <p:cNvSpPr txBox="1"/>
            <p:nvPr/>
          </p:nvSpPr>
          <p:spPr>
            <a:xfrm>
              <a:off x="5025708" y="4168616"/>
              <a:ext cx="426085" cy="304800"/>
            </a:xfrm>
            <a:prstGeom prst="rect">
              <a:avLst/>
            </a:prstGeom>
            <a:noFill/>
            <a:ln>
              <a:noFill/>
            </a:ln>
          </p:spPr>
          <p:txBody>
            <a:bodyPr wrap="none" lIns="0" tIns="0" rIns="0" bIns="0" anchor="t" anchorCtr="0">
              <a:spAutoFit/>
            </a:bodyPr>
            <a:lstStyle/>
            <a:p>
              <a:pPr algn="ctr">
                <a:lnSpc>
                  <a:spcPts val="1125"/>
                </a:lnSpc>
              </a:pPr>
              <a:r>
                <a:rPr lang="zh-CN" sz="820" dirty="0">
                  <a:solidFill>
                    <a:srgbClr val="D6391E"/>
                  </a:solidFill>
                  <a:latin typeface="+mn-lt"/>
                  <a:ea typeface="+mn-ea"/>
                  <a:cs typeface="+mn-cs"/>
                </a:rPr>
                <a:t>基本环境</a:t>
              </a:r>
              <a:br/>
              <a:r>
                <a:rPr lang="zh-CN" sz="820" dirty="0">
                  <a:solidFill>
                    <a:srgbClr val="D6391E"/>
                  </a:solidFill>
                  <a:latin typeface="+mn-lt"/>
                  <a:ea typeface="+mn-ea"/>
                  <a:cs typeface="+mn-cs"/>
                </a:rPr>
                <a:t>属性</a:t>
              </a:r>
            </a:p>
          </p:txBody>
        </p:sp>
        <p:sp>
          <p:nvSpPr>
            <p:cNvPr id="74" name="TextBox 74"/>
            <p:cNvSpPr txBox="1"/>
            <p:nvPr/>
          </p:nvSpPr>
          <p:spPr>
            <a:xfrm>
              <a:off x="6040618" y="4223385"/>
              <a:ext cx="110764" cy="234696"/>
            </a:xfrm>
            <a:prstGeom prst="rect">
              <a:avLst/>
            </a:prstGeom>
            <a:noFill/>
            <a:ln>
              <a:noFill/>
            </a:ln>
          </p:spPr>
          <p:txBody>
            <a:bodyPr wrap="none" lIns="0" tIns="0" rIns="0" bIns="0" anchor="t" anchorCtr="0">
              <a:spAutoFit/>
            </a:bodyPr>
            <a:lstStyle/>
            <a:p>
              <a:pPr algn="ctr"/>
              <a:r>
                <a:rPr lang="en-US" sz="1200" b="1" dirty="0">
                  <a:solidFill>
                    <a:srgbClr val="E9563C"/>
                  </a:solidFill>
                  <a:latin typeface="+mn-lt"/>
                  <a:ea typeface="+mn-ea"/>
                  <a:cs typeface="+mn-cs"/>
                </a:rPr>
                <a:t>X</a:t>
              </a:r>
            </a:p>
          </p:txBody>
        </p:sp>
        <p:sp>
          <p:nvSpPr>
            <p:cNvPr id="75" name="Rectangle 75"/>
            <p:cNvSpPr/>
            <p:nvPr/>
          </p:nvSpPr>
          <p:spPr>
            <a:xfrm>
              <a:off x="6477000" y="4076700"/>
              <a:ext cx="857250" cy="419100"/>
            </a:xfrm>
            <a:prstGeom prst="rect">
              <a:avLst/>
            </a:prstGeom>
            <a:solidFill>
              <a:srgbClr val="FBF0D8"/>
            </a:solidFill>
            <a:ln w="14288">
              <a:solidFill>
                <a:srgbClr val="E9563C"/>
              </a:solidFill>
            </a:ln>
          </p:spPr>
        </p:sp>
        <p:sp>
          <p:nvSpPr>
            <p:cNvPr id="76" name="TextBox 76"/>
            <p:cNvSpPr txBox="1"/>
            <p:nvPr/>
          </p:nvSpPr>
          <p:spPr>
            <a:xfrm>
              <a:off x="6680086" y="4235291"/>
              <a:ext cx="451079" cy="161925"/>
            </a:xfrm>
            <a:prstGeom prst="rect">
              <a:avLst/>
            </a:prstGeom>
            <a:noFill/>
            <a:ln>
              <a:noFill/>
            </a:ln>
          </p:spPr>
          <p:txBody>
            <a:bodyPr wrap="none" lIns="0" tIns="0" rIns="0" bIns="0" anchor="t" anchorCtr="0">
              <a:spAutoFit/>
            </a:bodyPr>
            <a:lstStyle/>
            <a:p>
              <a:pPr algn="ctr"/>
              <a:r>
                <a:rPr lang="zh-CN" sz="820" dirty="0">
                  <a:solidFill>
                    <a:srgbClr val="D6391E"/>
                  </a:solidFill>
                  <a:latin typeface="+mn-lt"/>
                  <a:ea typeface="+mn-ea"/>
                  <a:cs typeface="+mn-cs"/>
                </a:rPr>
                <a:t>多样维度</a:t>
              </a:r>
            </a:p>
          </p:txBody>
        </p:sp>
        <p:sp>
          <p:nvSpPr>
            <p:cNvPr id="77" name="Freeform 77"/>
            <p:cNvSpPr/>
            <p:nvPr/>
          </p:nvSpPr>
          <p:spPr>
            <a:xfrm>
              <a:off x="2286000" y="4552950"/>
              <a:ext cx="6858000" cy="419100"/>
            </a:xfrm>
            <a:prstGeom prst="trapezoid">
              <a:avLst/>
            </a:prstGeom>
            <a:solidFill>
              <a:srgbClr val="FDF4DE"/>
            </a:solidFill>
            <a:ln>
              <a:noFill/>
            </a:ln>
          </p:spPr>
        </p:sp>
        <p:sp>
          <p:nvSpPr>
            <p:cNvPr id="78" name="TextBox 78"/>
            <p:cNvSpPr txBox="1"/>
            <p:nvPr/>
          </p:nvSpPr>
          <p:spPr>
            <a:xfrm>
              <a:off x="3442101" y="4632484"/>
              <a:ext cx="450047"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A、B、...</a:t>
              </a:r>
            </a:p>
          </p:txBody>
        </p:sp>
        <p:sp>
          <p:nvSpPr>
            <p:cNvPr id="79" name="TextBox 79"/>
            <p:cNvSpPr txBox="1"/>
            <p:nvPr/>
          </p:nvSpPr>
          <p:spPr>
            <a:xfrm>
              <a:off x="5061268" y="4594384"/>
              <a:ext cx="354965"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年龄区间</a:t>
              </a:r>
              <a:br/>
              <a:r>
                <a:rPr lang="zh-CN" sz="680" dirty="0">
                  <a:solidFill>
                    <a:srgbClr val="595959"/>
                  </a:solidFill>
                  <a:latin typeface="+mn-lt"/>
                  <a:ea typeface="+mn-ea"/>
                  <a:cs typeface="+mn-cs"/>
                </a:rPr>
                <a:t>城市区间</a:t>
              </a:r>
            </a:p>
          </p:txBody>
        </p:sp>
        <p:sp>
          <p:nvSpPr>
            <p:cNvPr id="80" name="TextBox 80"/>
            <p:cNvSpPr txBox="1"/>
            <p:nvPr/>
          </p:nvSpPr>
          <p:spPr>
            <a:xfrm>
              <a:off x="6672008" y="4594384"/>
              <a:ext cx="467233"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浏览、购买</a:t>
              </a:r>
              <a:br/>
              <a:r>
                <a:rPr lang="zh-CN" sz="680" dirty="0">
                  <a:solidFill>
                    <a:srgbClr val="595959"/>
                  </a:solidFill>
                  <a:latin typeface="+mn-lt"/>
                  <a:ea typeface="+mn-ea"/>
                  <a:cs typeface="+mn-cs"/>
                </a:rPr>
                <a:t>转化......</a:t>
              </a:r>
            </a:p>
          </p:txBody>
        </p:sp>
        <p:sp>
          <p:nvSpPr>
            <p:cNvPr id="81" name="Rectangle 81"/>
            <p:cNvSpPr/>
            <p:nvPr/>
          </p:nvSpPr>
          <p:spPr>
            <a:xfrm>
              <a:off x="2152650" y="4972050"/>
              <a:ext cx="7429500" cy="247650"/>
            </a:xfrm>
            <a:prstGeom prst="rect">
              <a:avLst/>
            </a:prstGeom>
            <a:solidFill>
              <a:srgbClr val="E9563C"/>
            </a:solidFill>
            <a:ln>
              <a:noFill/>
            </a:ln>
          </p:spPr>
        </p:sp>
        <p:sp>
          <p:nvSpPr>
            <p:cNvPr id="82" name="TextBox 82"/>
            <p:cNvSpPr txBox="1"/>
            <p:nvPr/>
          </p:nvSpPr>
          <p:spPr>
            <a:xfrm>
              <a:off x="4647019" y="5050393"/>
              <a:ext cx="244076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沟通使全体员工对企业的长远发展有透彻的理解</a:t>
              </a:r>
            </a:p>
          </p:txBody>
        </p:sp>
      </p:grpSp>
      <p:grpSp>
        <p:nvGrpSpPr>
          <p:cNvPr id="97" name="right-axis"/>
          <p:cNvGrpSpPr/>
          <p:nvPr/>
        </p:nvGrpSpPr>
        <p:grpSpPr>
          <a:xfrm>
            <a:off x="9772650" y="980599"/>
            <a:ext cx="1762125" cy="4476940"/>
            <a:chOff x="9772650" y="980599"/>
            <a:chExt cx="1762125" cy="4476940"/>
          </a:xfrm>
        </p:grpSpPr>
        <p:sp>
          <p:nvSpPr>
            <p:cNvPr id="84" name="TextBox 84"/>
            <p:cNvSpPr txBox="1"/>
            <p:nvPr/>
          </p:nvSpPr>
          <p:spPr>
            <a:xfrm>
              <a:off x="10362514" y="980599"/>
              <a:ext cx="801472"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长期效益实现</a:t>
              </a:r>
            </a:p>
          </p:txBody>
        </p:sp>
        <p:sp>
          <p:nvSpPr>
            <p:cNvPr id="85" name="TextBox 85"/>
            <p:cNvSpPr txBox="1"/>
            <p:nvPr/>
          </p:nvSpPr>
          <p:spPr>
            <a:xfrm>
              <a:off x="10928464" y="1449943"/>
              <a:ext cx="241071" cy="169069"/>
            </a:xfrm>
            <a:prstGeom prst="rect">
              <a:avLst/>
            </a:prstGeom>
            <a:noFill/>
            <a:ln>
              <a:noFill/>
            </a:ln>
          </p:spPr>
          <p:txBody>
            <a:bodyPr wrap="none" lIns="0" tIns="0" rIns="0" bIns="0" anchor="t" anchorCtr="0">
              <a:spAutoFit/>
            </a:bodyPr>
            <a:lstStyle/>
            <a:p>
              <a:pPr algn="ctr"/>
              <a:r>
                <a:rPr lang="zh-CN" sz="860" dirty="0">
                  <a:solidFill>
                    <a:srgbClr val="7A3E33"/>
                  </a:solidFill>
                  <a:latin typeface="+mn-lt"/>
                  <a:ea typeface="+mn-ea"/>
                  <a:cs typeface="+mn-cs"/>
                </a:rPr>
                <a:t>效益</a:t>
              </a:r>
            </a:p>
          </p:txBody>
        </p:sp>
        <p:sp>
          <p:nvSpPr>
            <p:cNvPr id="86" name="TextBox 86"/>
            <p:cNvSpPr txBox="1"/>
            <p:nvPr/>
          </p:nvSpPr>
          <p:spPr>
            <a:xfrm>
              <a:off x="10843537" y="1584484"/>
              <a:ext cx="410926" cy="133350"/>
            </a:xfrm>
            <a:prstGeom prst="rect">
              <a:avLst/>
            </a:prstGeom>
            <a:noFill/>
            <a:ln>
              <a:noFill/>
            </a:ln>
          </p:spPr>
          <p:txBody>
            <a:bodyPr wrap="none" lIns="0" tIns="0" rIns="0" bIns="0" anchor="t" anchorCtr="0">
              <a:spAutoFit/>
            </a:bodyPr>
            <a:lstStyle/>
            <a:p>
              <a:pPr algn="ctr"/>
              <a:r>
                <a:rPr lang="en-US" sz="680" dirty="0">
                  <a:solidFill>
                    <a:srgbClr val="7A3E33"/>
                  </a:solidFill>
                  <a:latin typeface="+mn-lt"/>
                  <a:ea typeface="+mn-ea"/>
                  <a:cs typeface="+mn-cs"/>
                </a:rPr>
                <a:t>EFFICACY</a:t>
              </a:r>
            </a:p>
          </p:txBody>
        </p:sp>
        <p:sp>
          <p:nvSpPr>
            <p:cNvPr id="87" name="Polyline 87"/>
            <p:cNvSpPr/>
            <p:nvPr/>
          </p:nvSpPr>
          <p:spPr>
            <a:xfrm>
              <a:off x="9810750" y="1333500"/>
              <a:ext cx="523875" cy="3619500"/>
            </a:xfrm>
            <a:custGeom>
              <a:avLst/>
              <a:gdLst/>
              <a:ahLst/>
              <a:cxnLst/>
              <a:rect l="l" t="t" r="r" b="b"/>
              <a:pathLst>
                <a:path w="523875" h="3619500">
                  <a:moveTo>
                    <a:pt x="0" y="0"/>
                  </a:moveTo>
                  <a:lnTo>
                    <a:pt x="523875" y="1809750"/>
                  </a:lnTo>
                  <a:lnTo>
                    <a:pt x="0" y="3619500"/>
                  </a:lnTo>
                </a:path>
              </a:pathLst>
            </a:custGeom>
            <a:noFill/>
            <a:ln w="19050">
              <a:solidFill>
                <a:srgbClr val="9C594C"/>
              </a:solidFill>
            </a:ln>
          </p:spPr>
        </p:sp>
        <p:sp>
          <p:nvSpPr>
            <p:cNvPr id="88" name="Polyline 88"/>
            <p:cNvSpPr/>
            <p:nvPr/>
          </p:nvSpPr>
          <p:spPr>
            <a:xfrm>
              <a:off x="10115550" y="1428750"/>
              <a:ext cx="552450" cy="3429000"/>
            </a:xfrm>
            <a:custGeom>
              <a:avLst/>
              <a:gdLst/>
              <a:ahLst/>
              <a:cxnLst/>
              <a:rect l="l" t="t" r="r" b="b"/>
              <a:pathLst>
                <a:path w="552450" h="3429000">
                  <a:moveTo>
                    <a:pt x="0" y="0"/>
                  </a:moveTo>
                  <a:lnTo>
                    <a:pt x="552450" y="1714500"/>
                  </a:lnTo>
                  <a:lnTo>
                    <a:pt x="0" y="3429000"/>
                  </a:lnTo>
                </a:path>
              </a:pathLst>
            </a:custGeom>
            <a:noFill/>
            <a:ln w="19050">
              <a:solidFill>
                <a:srgbClr val="CD9F96"/>
              </a:solidFill>
            </a:ln>
          </p:spPr>
        </p:sp>
        <p:sp>
          <p:nvSpPr>
            <p:cNvPr id="89" name="Ellipse 89"/>
            <p:cNvSpPr/>
            <p:nvPr/>
          </p:nvSpPr>
          <p:spPr>
            <a:xfrm>
              <a:off x="9772650" y="1295400"/>
              <a:ext cx="76200" cy="76200"/>
            </a:xfrm>
            <a:prstGeom prst="ellipse">
              <a:avLst/>
            </a:prstGeom>
            <a:solidFill>
              <a:srgbClr val="9C594C"/>
            </a:solidFill>
            <a:ln>
              <a:noFill/>
            </a:ln>
          </p:spPr>
        </p:sp>
        <p:sp>
          <p:nvSpPr>
            <p:cNvPr id="90" name="Ellipse 90"/>
            <p:cNvSpPr/>
            <p:nvPr/>
          </p:nvSpPr>
          <p:spPr>
            <a:xfrm>
              <a:off x="9772650" y="4914900"/>
              <a:ext cx="76200" cy="76200"/>
            </a:xfrm>
            <a:prstGeom prst="ellipse">
              <a:avLst/>
            </a:prstGeom>
            <a:solidFill>
              <a:srgbClr val="9C594C"/>
            </a:solidFill>
            <a:ln>
              <a:noFill/>
            </a:ln>
          </p:spPr>
        </p:sp>
        <p:sp>
          <p:nvSpPr>
            <p:cNvPr id="91" name="Ellipse 91"/>
            <p:cNvSpPr/>
            <p:nvPr/>
          </p:nvSpPr>
          <p:spPr>
            <a:xfrm>
              <a:off x="10077450" y="1390650"/>
              <a:ext cx="76200" cy="76200"/>
            </a:xfrm>
            <a:prstGeom prst="ellipse">
              <a:avLst/>
            </a:prstGeom>
            <a:solidFill>
              <a:srgbClr val="CD9F96"/>
            </a:solidFill>
            <a:ln>
              <a:noFill/>
            </a:ln>
          </p:spPr>
        </p:sp>
        <p:sp>
          <p:nvSpPr>
            <p:cNvPr id="92" name="Ellipse 92"/>
            <p:cNvSpPr/>
            <p:nvPr/>
          </p:nvSpPr>
          <p:spPr>
            <a:xfrm>
              <a:off x="10077450" y="4819650"/>
              <a:ext cx="76200" cy="76200"/>
            </a:xfrm>
            <a:prstGeom prst="ellipse">
              <a:avLst/>
            </a:prstGeom>
            <a:solidFill>
              <a:srgbClr val="CD9F96"/>
            </a:solidFill>
            <a:ln>
              <a:noFill/>
            </a:ln>
          </p:spPr>
        </p:sp>
        <p:sp>
          <p:nvSpPr>
            <p:cNvPr id="93" name="Line 93"/>
            <p:cNvSpPr/>
            <p:nvPr/>
          </p:nvSpPr>
          <p:spPr>
            <a:xfrm>
              <a:off x="11525250" y="1219200"/>
              <a:ext cx="9525" cy="4000500"/>
            </a:xfrm>
            <a:custGeom>
              <a:avLst/>
              <a:gdLst/>
              <a:ahLst/>
              <a:cxnLst/>
              <a:rect l="l" t="t" r="r" b="b"/>
              <a:pathLst>
                <a:path w="9525" h="4000500">
                  <a:moveTo>
                    <a:pt x="0" y="0"/>
                  </a:moveTo>
                  <a:lnTo>
                    <a:pt x="0" y="4000500"/>
                  </a:lnTo>
                </a:path>
              </a:pathLst>
            </a:custGeom>
            <a:noFill/>
            <a:ln w="9525">
              <a:solidFill>
                <a:srgbClr val="C9D8BD"/>
              </a:solidFill>
              <a:custDash>
                <a:ds d="400000" sp="300000"/>
              </a:custDash>
            </a:ln>
          </p:spPr>
        </p:sp>
        <p:sp>
          <p:nvSpPr>
            <p:cNvPr id="94" name="TextBox 94"/>
            <p:cNvSpPr txBox="1"/>
            <p:nvPr/>
          </p:nvSpPr>
          <p:spPr>
            <a:xfrm>
              <a:off x="10928464" y="4402693"/>
              <a:ext cx="241071" cy="169069"/>
            </a:xfrm>
            <a:prstGeom prst="rect">
              <a:avLst/>
            </a:prstGeom>
            <a:noFill/>
            <a:ln>
              <a:noFill/>
            </a:ln>
          </p:spPr>
          <p:txBody>
            <a:bodyPr wrap="none" lIns="0" tIns="0" rIns="0" bIns="0" anchor="t" anchorCtr="0">
              <a:spAutoFit/>
            </a:bodyPr>
            <a:lstStyle/>
            <a:p>
              <a:pPr algn="ctr"/>
              <a:r>
                <a:rPr lang="zh-CN" sz="860" dirty="0">
                  <a:solidFill>
                    <a:srgbClr val="7A3E33"/>
                  </a:solidFill>
                  <a:latin typeface="+mn-lt"/>
                  <a:ea typeface="+mn-ea"/>
                  <a:cs typeface="+mn-cs"/>
                </a:rPr>
                <a:t>效率</a:t>
              </a:r>
            </a:p>
          </p:txBody>
        </p:sp>
        <p:sp>
          <p:nvSpPr>
            <p:cNvPr id="95" name="TextBox 95"/>
            <p:cNvSpPr txBox="1"/>
            <p:nvPr/>
          </p:nvSpPr>
          <p:spPr>
            <a:xfrm>
              <a:off x="10802429" y="4537234"/>
              <a:ext cx="493141" cy="133350"/>
            </a:xfrm>
            <a:prstGeom prst="rect">
              <a:avLst/>
            </a:prstGeom>
            <a:noFill/>
            <a:ln>
              <a:noFill/>
            </a:ln>
          </p:spPr>
          <p:txBody>
            <a:bodyPr wrap="none" lIns="0" tIns="0" rIns="0" bIns="0" anchor="t" anchorCtr="0">
              <a:spAutoFit/>
            </a:bodyPr>
            <a:lstStyle/>
            <a:p>
              <a:pPr algn="ctr"/>
              <a:r>
                <a:rPr lang="en-US" sz="680" dirty="0">
                  <a:solidFill>
                    <a:srgbClr val="7A3E33"/>
                  </a:solidFill>
                  <a:latin typeface="+mn-lt"/>
                  <a:ea typeface="+mn-ea"/>
                  <a:cs typeface="+mn-cs"/>
                </a:rPr>
                <a:t>EFFICIENCY</a:t>
              </a:r>
            </a:p>
          </p:txBody>
        </p:sp>
        <p:sp>
          <p:nvSpPr>
            <p:cNvPr id="96" name="TextBox 96"/>
            <p:cNvSpPr txBox="1"/>
            <p:nvPr/>
          </p:nvSpPr>
          <p:spPr>
            <a:xfrm>
              <a:off x="10362514" y="5266849"/>
              <a:ext cx="801472"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短期效益实现</a:t>
              </a:r>
            </a:p>
          </p:txBody>
        </p:sp>
      </p:grpSp>
      <p:grpSp>
        <p:nvGrpSpPr>
          <p:cNvPr id="100" name="page-footer"/>
          <p:cNvGrpSpPr/>
          <p:nvPr/>
        </p:nvGrpSpPr>
        <p:grpSpPr>
          <a:xfrm>
            <a:off x="376238" y="6689884"/>
            <a:ext cx="11439524" cy="133350"/>
            <a:chOff x="376238" y="6689884"/>
            <a:chExt cx="11439524" cy="133350"/>
          </a:xfrm>
        </p:grpSpPr>
        <p:sp>
          <p:nvSpPr>
            <p:cNvPr id="98" name="TextBox 98"/>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99" name="TextBox 99"/>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09</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36" name="funnel-3d"/>
          <p:cNvGrpSpPr/>
          <p:nvPr/>
        </p:nvGrpSpPr>
        <p:grpSpPr>
          <a:xfrm>
            <a:off x="592076" y="1345406"/>
            <a:ext cx="4170424" cy="4064794"/>
            <a:chOff x="592076" y="1345406"/>
            <a:chExt cx="4170424" cy="4064794"/>
          </a:xfrm>
        </p:grpSpPr>
        <p:grpSp>
          <p:nvGrpSpPr>
            <p:cNvPr id="14" name="Group 14"/>
            <p:cNvGrpSpPr/>
            <p:nvPr/>
          </p:nvGrpSpPr>
          <p:grpSpPr>
            <a:xfrm>
              <a:off x="2393156" y="1345406"/>
              <a:ext cx="642938" cy="642938"/>
              <a:chOff x="2393156" y="1345406"/>
              <a:chExt cx="642938" cy="642938"/>
            </a:xfrm>
          </p:grpSpPr>
          <p:sp>
            <p:nvSpPr>
              <p:cNvPr id="8" name="Freeform 8"/>
              <p:cNvSpPr/>
              <p:nvPr/>
            </p:nvSpPr>
            <p:spPr>
              <a:xfrm>
                <a:off x="2643188" y="1631156"/>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71438">
                <a:solidFill>
                  <a:srgbClr val="E9563C"/>
                </a:solidFill>
              </a:ln>
            </p:spPr>
          </p:sp>
          <p:sp>
            <p:nvSpPr>
              <p:cNvPr id="9" name="Freeform 9"/>
              <p:cNvSpPr/>
              <p:nvPr/>
            </p:nvSpPr>
            <p:spPr>
              <a:xfrm>
                <a:off x="2571750" y="1881188"/>
                <a:ext cx="285750" cy="107156"/>
              </a:xfrm>
              <a:custGeom>
                <a:avLst/>
                <a:gdLst/>
                <a:ahLst/>
                <a:cxnLst/>
                <a:rect l="l" t="t" r="r" b="b"/>
                <a:pathLst>
                  <a:path w="285750" h="107156">
                    <a:moveTo>
                      <a:pt x="0" y="107156"/>
                    </a:moveTo>
                    <a:lnTo>
                      <a:pt x="0" y="71438"/>
                    </a:lnTo>
                    <a:cubicBezTo>
                      <a:pt x="0" y="31984"/>
                      <a:pt x="31984" y="0"/>
                      <a:pt x="71438" y="0"/>
                    </a:cubicBezTo>
                    <a:lnTo>
                      <a:pt x="214312" y="0"/>
                    </a:lnTo>
                    <a:cubicBezTo>
                      <a:pt x="253766" y="0"/>
                      <a:pt x="285750" y="31984"/>
                      <a:pt x="285750" y="71438"/>
                    </a:cubicBezTo>
                    <a:lnTo>
                      <a:pt x="285750" y="107156"/>
                    </a:lnTo>
                  </a:path>
                </a:pathLst>
              </a:custGeom>
              <a:noFill/>
              <a:ln w="71438">
                <a:solidFill>
                  <a:srgbClr val="E9563C"/>
                </a:solidFill>
              </a:ln>
            </p:spPr>
          </p:sp>
          <p:sp>
            <p:nvSpPr>
              <p:cNvPr id="10" name="Freeform 10"/>
              <p:cNvSpPr/>
              <p:nvPr/>
            </p:nvSpPr>
            <p:spPr>
              <a:xfrm>
                <a:off x="2821781" y="1345406"/>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71438">
                <a:solidFill>
                  <a:srgbClr val="E9563C"/>
                </a:solidFill>
              </a:ln>
            </p:spPr>
          </p:sp>
          <p:sp>
            <p:nvSpPr>
              <p:cNvPr id="11" name="Freeform 11"/>
              <p:cNvSpPr/>
              <p:nvPr/>
            </p:nvSpPr>
            <p:spPr>
              <a:xfrm>
                <a:off x="2893219" y="1595438"/>
                <a:ext cx="142875" cy="107156"/>
              </a:xfrm>
              <a:custGeom>
                <a:avLst/>
                <a:gdLst/>
                <a:ahLst/>
                <a:cxnLst/>
                <a:rect l="l" t="t" r="r" b="b"/>
                <a:pathLst>
                  <a:path w="142875" h="107156">
                    <a:moveTo>
                      <a:pt x="0" y="0"/>
                    </a:moveTo>
                    <a:lnTo>
                      <a:pt x="71438" y="0"/>
                    </a:lnTo>
                    <a:cubicBezTo>
                      <a:pt x="110891" y="0"/>
                      <a:pt x="142875" y="31984"/>
                      <a:pt x="142875" y="71438"/>
                    </a:cubicBezTo>
                    <a:lnTo>
                      <a:pt x="142875" y="107156"/>
                    </a:lnTo>
                  </a:path>
                </a:pathLst>
              </a:custGeom>
              <a:noFill/>
              <a:ln w="71438">
                <a:solidFill>
                  <a:srgbClr val="E9563C"/>
                </a:solidFill>
              </a:ln>
            </p:spPr>
          </p:sp>
          <p:sp>
            <p:nvSpPr>
              <p:cNvPr id="12" name="Freeform 12"/>
              <p:cNvSpPr/>
              <p:nvPr/>
            </p:nvSpPr>
            <p:spPr>
              <a:xfrm>
                <a:off x="2464594" y="1345406"/>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71438">
                <a:solidFill>
                  <a:srgbClr val="E9563C"/>
                </a:solidFill>
              </a:ln>
            </p:spPr>
          </p:sp>
          <p:sp>
            <p:nvSpPr>
              <p:cNvPr id="13" name="Freeform 13"/>
              <p:cNvSpPr/>
              <p:nvPr/>
            </p:nvSpPr>
            <p:spPr>
              <a:xfrm>
                <a:off x="2393156" y="1595438"/>
                <a:ext cx="142875" cy="107156"/>
              </a:xfrm>
              <a:custGeom>
                <a:avLst/>
                <a:gdLst/>
                <a:ahLst/>
                <a:cxnLst/>
                <a:rect l="l" t="t" r="r" b="b"/>
                <a:pathLst>
                  <a:path w="142875" h="107156">
                    <a:moveTo>
                      <a:pt x="0" y="107156"/>
                    </a:moveTo>
                    <a:lnTo>
                      <a:pt x="0" y="71438"/>
                    </a:lnTo>
                    <a:cubicBezTo>
                      <a:pt x="0" y="31984"/>
                      <a:pt x="31984" y="0"/>
                      <a:pt x="71438" y="0"/>
                    </a:cubicBezTo>
                    <a:lnTo>
                      <a:pt x="142875" y="0"/>
                    </a:lnTo>
                  </a:path>
                </a:pathLst>
              </a:custGeom>
              <a:noFill/>
              <a:ln w="71438">
                <a:solidFill>
                  <a:srgbClr val="E9563C"/>
                </a:solidFill>
              </a:ln>
            </p:spPr>
          </p:sp>
        </p:grpSp>
        <p:sp>
          <p:nvSpPr>
            <p:cNvPr id="15" name="Ellipse 15"/>
            <p:cNvSpPr/>
            <p:nvPr/>
          </p:nvSpPr>
          <p:spPr>
            <a:xfrm>
              <a:off x="762000" y="1905000"/>
              <a:ext cx="4000500" cy="762000"/>
            </a:xfrm>
            <a:prstGeom prst="ellipse">
              <a:avLst/>
            </a:prstGeom>
            <a:solidFill>
              <a:srgbClr val="EEF5E8"/>
            </a:solidFill>
            <a:ln w="9525">
              <a:solidFill>
                <a:srgbClr val="C9D8BD"/>
              </a:solidFill>
            </a:ln>
          </p:spPr>
        </p:sp>
        <p:sp>
          <p:nvSpPr>
            <p:cNvPr id="16" name="Freeform 16"/>
            <p:cNvSpPr/>
            <p:nvPr/>
          </p:nvSpPr>
          <p:spPr>
            <a:xfrm rot="10800000">
              <a:off x="762000" y="2286000"/>
              <a:ext cx="4000500" cy="571500"/>
            </a:xfrm>
            <a:prstGeom prst="trapezoid">
              <a:avLst>
                <a:gd name="adj" fmla="val 50000"/>
              </a:avLst>
            </a:prstGeom>
            <a:solidFill>
              <a:srgbClr val="DDEBD2"/>
            </a:solidFill>
            <a:ln>
              <a:noFill/>
            </a:ln>
          </p:spPr>
        </p:sp>
        <p:sp>
          <p:nvSpPr>
            <p:cNvPr id="17" name="TextBox 17"/>
            <p:cNvSpPr txBox="1"/>
            <p:nvPr/>
          </p:nvSpPr>
          <p:spPr>
            <a:xfrm>
              <a:off x="2295550" y="2542699"/>
              <a:ext cx="933399" cy="190690"/>
            </a:xfrm>
            <a:prstGeom prst="rect">
              <a:avLst/>
            </a:prstGeom>
            <a:noFill/>
            <a:ln>
              <a:noFill/>
            </a:ln>
          </p:spPr>
          <p:txBody>
            <a:bodyPr wrap="none" lIns="0" tIns="0" rIns="0" bIns="0" anchor="t" anchorCtr="0">
              <a:spAutoFit/>
            </a:bodyPr>
            <a:lstStyle/>
            <a:p>
              <a:pPr algn="ctr"/>
              <a:r>
                <a:rPr lang="zh-CN" sz="980" dirty="0">
                  <a:solidFill>
                    <a:srgbClr val="A88882"/>
                  </a:solidFill>
                  <a:latin typeface="+mn-lt"/>
                  <a:ea typeface="+mn-ea"/>
                  <a:cs typeface="+mn-cs"/>
                </a:rPr>
                <a:t>倒三角形架构图</a:t>
              </a:r>
            </a:p>
          </p:txBody>
        </p:sp>
        <p:sp>
          <p:nvSpPr>
            <p:cNvPr id="18" name="Freeform 18"/>
            <p:cNvSpPr/>
            <p:nvPr/>
          </p:nvSpPr>
          <p:spPr>
            <a:xfrm rot="10800000">
              <a:off x="1047750" y="2857500"/>
              <a:ext cx="3429000" cy="571500"/>
            </a:xfrm>
            <a:prstGeom prst="trapezoid">
              <a:avLst>
                <a:gd name="adj" fmla="val 50000"/>
              </a:avLst>
            </a:prstGeom>
            <a:solidFill>
              <a:srgbClr val="DEB7B0"/>
            </a:solidFill>
            <a:ln>
              <a:noFill/>
            </a:ln>
          </p:spPr>
        </p:sp>
        <p:sp>
          <p:nvSpPr>
            <p:cNvPr id="19" name="TextBox 19"/>
            <p:cNvSpPr txBox="1"/>
            <p:nvPr/>
          </p:nvSpPr>
          <p:spPr>
            <a:xfrm>
              <a:off x="2605761" y="30980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曝光</a:t>
              </a:r>
            </a:p>
          </p:txBody>
        </p:sp>
        <p:sp>
          <p:nvSpPr>
            <p:cNvPr id="20" name="Freeform 20"/>
            <p:cNvSpPr/>
            <p:nvPr/>
          </p:nvSpPr>
          <p:spPr>
            <a:xfrm rot="10800000">
              <a:off x="1333500" y="3429000"/>
              <a:ext cx="2857500" cy="571500"/>
            </a:xfrm>
            <a:prstGeom prst="trapezoid">
              <a:avLst>
                <a:gd name="adj" fmla="val 56667"/>
              </a:avLst>
            </a:prstGeom>
            <a:solidFill>
              <a:srgbClr val="CD9F96"/>
            </a:solidFill>
            <a:ln>
              <a:noFill/>
            </a:ln>
          </p:spPr>
        </p:sp>
        <p:sp>
          <p:nvSpPr>
            <p:cNvPr id="21" name="TextBox 21"/>
            <p:cNvSpPr txBox="1"/>
            <p:nvPr/>
          </p:nvSpPr>
          <p:spPr>
            <a:xfrm>
              <a:off x="2605761" y="366950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点击</a:t>
              </a:r>
            </a:p>
          </p:txBody>
        </p:sp>
        <p:sp>
          <p:nvSpPr>
            <p:cNvPr id="22" name="Freeform 22"/>
            <p:cNvSpPr/>
            <p:nvPr/>
          </p:nvSpPr>
          <p:spPr>
            <a:xfrm rot="10800000">
              <a:off x="1657350" y="4000500"/>
              <a:ext cx="2209800" cy="552450"/>
            </a:xfrm>
            <a:prstGeom prst="trapezoid">
              <a:avLst>
                <a:gd name="adj" fmla="val 70690"/>
              </a:avLst>
            </a:prstGeom>
            <a:solidFill>
              <a:srgbClr val="B5766A"/>
            </a:solidFill>
            <a:ln>
              <a:noFill/>
            </a:ln>
          </p:spPr>
        </p:sp>
        <p:sp>
          <p:nvSpPr>
            <p:cNvPr id="23" name="TextBox 23"/>
            <p:cNvSpPr txBox="1"/>
            <p:nvPr/>
          </p:nvSpPr>
          <p:spPr>
            <a:xfrm>
              <a:off x="2605761" y="42219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激活</a:t>
              </a:r>
            </a:p>
          </p:txBody>
        </p:sp>
        <p:sp>
          <p:nvSpPr>
            <p:cNvPr id="24" name="Freeform 24"/>
            <p:cNvSpPr/>
            <p:nvPr/>
          </p:nvSpPr>
          <p:spPr>
            <a:xfrm rot="10800000">
              <a:off x="2047875" y="4552950"/>
              <a:ext cx="1428750" cy="476250"/>
            </a:xfrm>
            <a:prstGeom prst="trapezoid">
              <a:avLst>
                <a:gd name="adj" fmla="val 80000"/>
              </a:avLst>
            </a:prstGeom>
            <a:solidFill>
              <a:srgbClr val="9C594C"/>
            </a:solidFill>
            <a:ln>
              <a:noFill/>
            </a:ln>
          </p:spPr>
        </p:sp>
        <p:sp>
          <p:nvSpPr>
            <p:cNvPr id="25" name="TextBox 25"/>
            <p:cNvSpPr txBox="1"/>
            <p:nvPr/>
          </p:nvSpPr>
          <p:spPr>
            <a:xfrm>
              <a:off x="2615565" y="473487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留存</a:t>
              </a:r>
            </a:p>
          </p:txBody>
        </p:sp>
        <p:sp>
          <p:nvSpPr>
            <p:cNvPr id="26" name="Freeform 26"/>
            <p:cNvSpPr/>
            <p:nvPr/>
          </p:nvSpPr>
          <p:spPr>
            <a:xfrm rot="10800000">
              <a:off x="2428875" y="5029200"/>
              <a:ext cx="666750" cy="381000"/>
            </a:xfrm>
            <a:prstGeom prst="trapezoid">
              <a:avLst>
                <a:gd name="adj" fmla="val 70000"/>
              </a:avLst>
            </a:prstGeom>
            <a:solidFill>
              <a:srgbClr val="7A3E33"/>
            </a:solidFill>
            <a:ln>
              <a:noFill/>
            </a:ln>
          </p:spPr>
        </p:sp>
        <p:sp>
          <p:nvSpPr>
            <p:cNvPr id="27" name="TextBox 27"/>
            <p:cNvSpPr txBox="1"/>
            <p:nvPr/>
          </p:nvSpPr>
          <p:spPr>
            <a:xfrm>
              <a:off x="2625369" y="51715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付费</a:t>
              </a:r>
            </a:p>
          </p:txBody>
        </p:sp>
        <p:sp>
          <p:nvSpPr>
            <p:cNvPr id="28" name="TextBox 28"/>
            <p:cNvSpPr txBox="1"/>
            <p:nvPr/>
          </p:nvSpPr>
          <p:spPr>
            <a:xfrm rot="3720000">
              <a:off x="592076" y="3370363"/>
              <a:ext cx="1380428" cy="176212"/>
            </a:xfrm>
            <a:prstGeom prst="rect">
              <a:avLst/>
            </a:prstGeom>
            <a:noFill/>
            <a:ln>
              <a:noFill/>
            </a:ln>
          </p:spPr>
          <p:txBody>
            <a:bodyPr wrap="none" lIns="0" tIns="0" rIns="0" bIns="0" anchor="t" anchorCtr="0">
              <a:spAutoFit/>
            </a:bodyPr>
            <a:lstStyle/>
            <a:p>
              <a:pPr algn="l"/>
              <a:r>
                <a:rPr lang="zh-CN" sz="900" b="1" dirty="0">
                  <a:solidFill>
                    <a:srgbClr val="7A3E33"/>
                  </a:solidFill>
                  <a:latin typeface="+mn-lt"/>
                  <a:ea typeface="+mn-ea"/>
                  <a:cs typeface="+mn-cs"/>
                </a:rPr>
                <a:t>影响力提升 拓盘潜在用户</a:t>
              </a:r>
            </a:p>
          </p:txBody>
        </p:sp>
        <p:sp>
          <p:nvSpPr>
            <p:cNvPr id="29" name="Line 29"/>
            <p:cNvSpPr/>
            <p:nvPr/>
          </p:nvSpPr>
          <p:spPr>
            <a:xfrm>
              <a:off x="666750" y="2190750"/>
              <a:ext cx="1714500" cy="3143250"/>
            </a:xfrm>
            <a:prstGeom prst="line">
              <a:avLst/>
            </a:prstGeom>
            <a:noFill/>
            <a:ln w="11430">
              <a:solidFill>
                <a:srgbClr val="7A3E33"/>
              </a:solidFill>
              <a:custDash>
                <a:ds d="416667" sp="333333"/>
              </a:custDash>
              <a:tailEnd type="triangle" w="lg" len="lg"/>
            </a:ln>
          </p:spPr>
        </p:sp>
        <p:sp>
          <p:nvSpPr>
            <p:cNvPr id="30" name="Ellipse 30"/>
            <p:cNvSpPr/>
            <p:nvPr/>
          </p:nvSpPr>
          <p:spPr>
            <a:xfrm>
              <a:off x="3695700" y="3019425"/>
              <a:ext cx="990600" cy="342900"/>
            </a:xfrm>
            <a:prstGeom prst="ellipse">
              <a:avLst/>
            </a:prstGeom>
            <a:solidFill>
              <a:srgbClr val="8C4B3F"/>
            </a:solidFill>
            <a:ln>
              <a:noFill/>
            </a:ln>
          </p:spPr>
        </p:sp>
        <p:sp>
          <p:nvSpPr>
            <p:cNvPr id="31" name="TextBox 31"/>
            <p:cNvSpPr txBox="1"/>
            <p:nvPr/>
          </p:nvSpPr>
          <p:spPr>
            <a:xfrm>
              <a:off x="3883342" y="3141345"/>
              <a:ext cx="61531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精细化内容</a:t>
              </a:r>
            </a:p>
          </p:txBody>
        </p:sp>
        <p:sp>
          <p:nvSpPr>
            <p:cNvPr id="32" name="Line 32"/>
            <p:cNvSpPr/>
            <p:nvPr/>
          </p:nvSpPr>
          <p:spPr>
            <a:xfrm flipH="1" flipV="1">
              <a:off x="3886200" y="2647950"/>
              <a:ext cx="228600" cy="361950"/>
            </a:xfrm>
            <a:prstGeom prst="line">
              <a:avLst/>
            </a:prstGeom>
            <a:noFill/>
            <a:ln w="11430">
              <a:solidFill>
                <a:srgbClr val="7A3E33"/>
              </a:solidFill>
              <a:tailEnd type="triangle" w="lg" len="lg"/>
            </a:ln>
          </p:spPr>
        </p:sp>
        <p:sp>
          <p:nvSpPr>
            <p:cNvPr id="33" name="Ellipse 33"/>
            <p:cNvSpPr/>
            <p:nvPr/>
          </p:nvSpPr>
          <p:spPr>
            <a:xfrm>
              <a:off x="3333750" y="4333875"/>
              <a:ext cx="1143000" cy="381000"/>
            </a:xfrm>
            <a:prstGeom prst="ellipse">
              <a:avLst/>
            </a:prstGeom>
            <a:solidFill>
              <a:srgbClr val="E9563C"/>
            </a:solidFill>
            <a:ln>
              <a:noFill/>
            </a:ln>
          </p:spPr>
        </p:sp>
        <p:sp>
          <p:nvSpPr>
            <p:cNvPr id="34" name="TextBox 34"/>
            <p:cNvSpPr txBox="1"/>
            <p:nvPr/>
          </p:nvSpPr>
          <p:spPr>
            <a:xfrm>
              <a:off x="3658172" y="44748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发展方向</a:t>
              </a:r>
            </a:p>
          </p:txBody>
        </p:sp>
        <p:sp>
          <p:nvSpPr>
            <p:cNvPr id="35" name="Line 35"/>
            <p:cNvSpPr/>
            <p:nvPr/>
          </p:nvSpPr>
          <p:spPr>
            <a:xfrm flipH="1" flipV="1">
              <a:off x="3314700" y="4038600"/>
              <a:ext cx="285750" cy="342900"/>
            </a:xfrm>
            <a:prstGeom prst="line">
              <a:avLst/>
            </a:prstGeom>
            <a:noFill/>
            <a:ln w="11430">
              <a:solidFill>
                <a:srgbClr val="E9563C"/>
              </a:solidFill>
              <a:tailEnd type="triangle" w="lg" len="lg"/>
            </a:ln>
          </p:spPr>
        </p:sp>
      </p:grpSp>
      <p:grpSp>
        <p:nvGrpSpPr>
          <p:cNvPr id="42" name="row-labels"/>
          <p:cNvGrpSpPr/>
          <p:nvPr/>
        </p:nvGrpSpPr>
        <p:grpSpPr>
          <a:xfrm>
            <a:off x="4879022" y="952500"/>
            <a:ext cx="197803" cy="4495800"/>
            <a:chOff x="4879022" y="952500"/>
            <a:chExt cx="197803" cy="4495800"/>
          </a:xfrm>
        </p:grpSpPr>
        <p:sp>
          <p:nvSpPr>
            <p:cNvPr id="37" name="TextBox 37"/>
            <p:cNvSpPr txBox="1"/>
            <p:nvPr/>
          </p:nvSpPr>
          <p:spPr>
            <a:xfrm>
              <a:off x="4879022" y="1038939"/>
              <a:ext cx="109855" cy="583406"/>
            </a:xfrm>
            <a:prstGeom prst="rect">
              <a:avLst/>
            </a:prstGeom>
            <a:noFill/>
            <a:ln>
              <a:noFill/>
            </a:ln>
          </p:spPr>
          <p:txBody>
            <a:bodyPr wrap="none" lIns="0" tIns="0" rIns="0" bIns="0" anchor="t" anchorCtr="0">
              <a:spAutoFit/>
            </a:bodyPr>
            <a:lstStyle/>
            <a:p>
              <a:pPr algn="ctr">
                <a:lnSpc>
                  <a:spcPts val="1125"/>
                </a:lnSpc>
              </a:pPr>
              <a:r>
                <a:rPr lang="zh-CN" sz="790" b="1" dirty="0">
                  <a:solidFill>
                    <a:srgbClr val="7A3E33"/>
                  </a:solidFill>
                  <a:latin typeface="+mn-lt"/>
                  <a:ea typeface="+mn-ea"/>
                  <a:cs typeface="+mn-cs"/>
                </a:rPr>
                <a:t>渗</a:t>
              </a:r>
              <a:br/>
              <a:r>
                <a:rPr lang="zh-CN" sz="790" b="1" dirty="0">
                  <a:solidFill>
                    <a:srgbClr val="7A3E33"/>
                  </a:solidFill>
                  <a:latin typeface="+mn-lt"/>
                  <a:ea typeface="+mn-ea"/>
                  <a:cs typeface="+mn-cs"/>
                </a:rPr>
                <a:t>透</a:t>
              </a:r>
              <a:br/>
              <a:r>
                <a:rPr lang="zh-CN" sz="790" b="1" dirty="0">
                  <a:solidFill>
                    <a:srgbClr val="7A3E33"/>
                  </a:solidFill>
                  <a:latin typeface="+mn-lt"/>
                  <a:ea typeface="+mn-ea"/>
                  <a:cs typeface="+mn-cs"/>
                </a:rPr>
                <a:t>率</a:t>
              </a:r>
              <a:br/>
              <a:r>
                <a:rPr lang="zh-CN" sz="790" b="1" dirty="0">
                  <a:solidFill>
                    <a:srgbClr val="7A3E33"/>
                  </a:solidFill>
                  <a:latin typeface="+mn-lt"/>
                  <a:ea typeface="+mn-ea"/>
                  <a:cs typeface="+mn-cs"/>
                </a:rPr>
                <a:t>高</a:t>
              </a:r>
            </a:p>
          </p:txBody>
        </p:sp>
        <p:sp>
          <p:nvSpPr>
            <p:cNvPr id="38" name="TextBox 38"/>
            <p:cNvSpPr txBox="1"/>
            <p:nvPr/>
          </p:nvSpPr>
          <p:spPr>
            <a:xfrm>
              <a:off x="4879022" y="2124789"/>
              <a:ext cx="109855" cy="583406"/>
            </a:xfrm>
            <a:prstGeom prst="rect">
              <a:avLst/>
            </a:prstGeom>
            <a:noFill/>
            <a:ln>
              <a:noFill/>
            </a:ln>
          </p:spPr>
          <p:txBody>
            <a:bodyPr wrap="none" lIns="0" tIns="0" rIns="0" bIns="0" anchor="t" anchorCtr="0">
              <a:spAutoFit/>
            </a:bodyPr>
            <a:lstStyle/>
            <a:p>
              <a:pPr algn="ctr">
                <a:lnSpc>
                  <a:spcPts val="1125"/>
                </a:lnSpc>
              </a:pPr>
              <a:r>
                <a:rPr lang="zh-CN" sz="790" b="1" dirty="0">
                  <a:solidFill>
                    <a:srgbClr val="7A3E33"/>
                  </a:solidFill>
                  <a:latin typeface="+mn-lt"/>
                  <a:ea typeface="+mn-ea"/>
                  <a:cs typeface="+mn-cs"/>
                </a:rPr>
                <a:t>广</a:t>
              </a:r>
              <a:br/>
              <a:r>
                <a:rPr lang="zh-CN" sz="790" b="1" dirty="0">
                  <a:solidFill>
                    <a:srgbClr val="7A3E33"/>
                  </a:solidFill>
                  <a:latin typeface="+mn-lt"/>
                  <a:ea typeface="+mn-ea"/>
                  <a:cs typeface="+mn-cs"/>
                </a:rPr>
                <a:t>告</a:t>
              </a:r>
              <a:br/>
              <a:r>
                <a:rPr lang="zh-CN" sz="790" b="1" dirty="0">
                  <a:solidFill>
                    <a:srgbClr val="7A3E33"/>
                  </a:solidFill>
                  <a:latin typeface="+mn-lt"/>
                  <a:ea typeface="+mn-ea"/>
                  <a:cs typeface="+mn-cs"/>
                </a:rPr>
                <a:t>行</a:t>
              </a:r>
              <a:br/>
              <a:r>
                <a:rPr lang="zh-CN" sz="790" b="1" dirty="0">
                  <a:solidFill>
                    <a:srgbClr val="7A3E33"/>
                  </a:solidFill>
                  <a:latin typeface="+mn-lt"/>
                  <a:ea typeface="+mn-ea"/>
                  <a:cs typeface="+mn-cs"/>
                </a:rPr>
                <a:t>为</a:t>
              </a:r>
            </a:p>
          </p:txBody>
        </p:sp>
        <p:sp>
          <p:nvSpPr>
            <p:cNvPr id="39" name="TextBox 39"/>
            <p:cNvSpPr txBox="1"/>
            <p:nvPr/>
          </p:nvSpPr>
          <p:spPr>
            <a:xfrm>
              <a:off x="4879022" y="3458289"/>
              <a:ext cx="109855" cy="583406"/>
            </a:xfrm>
            <a:prstGeom prst="rect">
              <a:avLst/>
            </a:prstGeom>
            <a:noFill/>
            <a:ln>
              <a:noFill/>
            </a:ln>
          </p:spPr>
          <p:txBody>
            <a:bodyPr wrap="none" lIns="0" tIns="0" rIns="0" bIns="0" anchor="t" anchorCtr="0">
              <a:spAutoFit/>
            </a:bodyPr>
            <a:lstStyle/>
            <a:p>
              <a:pPr algn="ctr">
                <a:lnSpc>
                  <a:spcPts val="1125"/>
                </a:lnSpc>
              </a:pPr>
              <a:r>
                <a:rPr lang="zh-CN" sz="790" b="1" dirty="0">
                  <a:solidFill>
                    <a:srgbClr val="D6391E"/>
                  </a:solidFill>
                  <a:latin typeface="+mn-lt"/>
                  <a:ea typeface="+mn-ea"/>
                  <a:cs typeface="+mn-cs"/>
                </a:rPr>
                <a:t>浅</a:t>
              </a:r>
              <a:br/>
              <a:r>
                <a:rPr lang="zh-CN" sz="790" b="1" dirty="0">
                  <a:solidFill>
                    <a:srgbClr val="D6391E"/>
                  </a:solidFill>
                  <a:latin typeface="+mn-lt"/>
                  <a:ea typeface="+mn-ea"/>
                  <a:cs typeface="+mn-cs"/>
                </a:rPr>
                <a:t>层</a:t>
              </a:r>
              <a:br/>
              <a:r>
                <a:rPr lang="zh-CN" sz="790" b="1" dirty="0">
                  <a:solidFill>
                    <a:srgbClr val="D6391E"/>
                  </a:solidFill>
                  <a:latin typeface="+mn-lt"/>
                  <a:ea typeface="+mn-ea"/>
                  <a:cs typeface="+mn-cs"/>
                </a:rPr>
                <a:t>转</a:t>
              </a:r>
              <a:br/>
              <a:r>
                <a:rPr lang="zh-CN" sz="790" b="1" dirty="0">
                  <a:solidFill>
                    <a:srgbClr val="D6391E"/>
                  </a:solidFill>
                  <a:latin typeface="+mn-lt"/>
                  <a:ea typeface="+mn-ea"/>
                  <a:cs typeface="+mn-cs"/>
                </a:rPr>
                <a:t>化</a:t>
              </a:r>
            </a:p>
          </p:txBody>
        </p:sp>
        <p:sp>
          <p:nvSpPr>
            <p:cNvPr id="40" name="TextBox 40"/>
            <p:cNvSpPr txBox="1"/>
            <p:nvPr/>
          </p:nvSpPr>
          <p:spPr>
            <a:xfrm>
              <a:off x="4879022" y="4601289"/>
              <a:ext cx="109855" cy="583406"/>
            </a:xfrm>
            <a:prstGeom prst="rect">
              <a:avLst/>
            </a:prstGeom>
            <a:noFill/>
            <a:ln>
              <a:noFill/>
            </a:ln>
          </p:spPr>
          <p:txBody>
            <a:bodyPr wrap="none" lIns="0" tIns="0" rIns="0" bIns="0" anchor="t" anchorCtr="0">
              <a:spAutoFit/>
            </a:bodyPr>
            <a:lstStyle/>
            <a:p>
              <a:pPr algn="ctr">
                <a:lnSpc>
                  <a:spcPts val="1125"/>
                </a:lnSpc>
              </a:pPr>
              <a:r>
                <a:rPr lang="zh-CN" sz="790" b="1" dirty="0">
                  <a:solidFill>
                    <a:srgbClr val="D6391E"/>
                  </a:solidFill>
                  <a:latin typeface="+mn-lt"/>
                  <a:ea typeface="+mn-ea"/>
                  <a:cs typeface="+mn-cs"/>
                </a:rPr>
                <a:t>深</a:t>
              </a:r>
              <a:br/>
              <a:r>
                <a:rPr lang="zh-CN" sz="790" b="1" dirty="0">
                  <a:solidFill>
                    <a:srgbClr val="D6391E"/>
                  </a:solidFill>
                  <a:latin typeface="+mn-lt"/>
                  <a:ea typeface="+mn-ea"/>
                  <a:cs typeface="+mn-cs"/>
                </a:rPr>
                <a:t>层</a:t>
              </a:r>
              <a:br/>
              <a:r>
                <a:rPr lang="zh-CN" sz="790" b="1" dirty="0">
                  <a:solidFill>
                    <a:srgbClr val="D6391E"/>
                  </a:solidFill>
                  <a:latin typeface="+mn-lt"/>
                  <a:ea typeface="+mn-ea"/>
                  <a:cs typeface="+mn-cs"/>
                </a:rPr>
                <a:t>转</a:t>
              </a:r>
              <a:br/>
              <a:r>
                <a:rPr lang="zh-CN" sz="790" b="1" dirty="0">
                  <a:solidFill>
                    <a:srgbClr val="D6391E"/>
                  </a:solidFill>
                  <a:latin typeface="+mn-lt"/>
                  <a:ea typeface="+mn-ea"/>
                  <a:cs typeface="+mn-cs"/>
                </a:rPr>
                <a:t>化</a:t>
              </a:r>
            </a:p>
          </p:txBody>
        </p:sp>
        <p:sp>
          <p:nvSpPr>
            <p:cNvPr id="41" name="Line 41"/>
            <p:cNvSpPr/>
            <p:nvPr/>
          </p:nvSpPr>
          <p:spPr>
            <a:xfrm>
              <a:off x="5067300" y="952500"/>
              <a:ext cx="9525" cy="4495800"/>
            </a:xfrm>
            <a:custGeom>
              <a:avLst/>
              <a:gdLst/>
              <a:ahLst/>
              <a:cxnLst/>
              <a:rect l="l" t="t" r="r" b="b"/>
              <a:pathLst>
                <a:path w="9525" h="4495800">
                  <a:moveTo>
                    <a:pt x="0" y="0"/>
                  </a:moveTo>
                  <a:lnTo>
                    <a:pt x="0" y="4495800"/>
                  </a:lnTo>
                </a:path>
              </a:pathLst>
            </a:custGeom>
            <a:noFill/>
            <a:ln w="9525">
              <a:solidFill>
                <a:srgbClr val="C9D8BD"/>
              </a:solidFill>
              <a:custDash>
                <a:ds d="400000" sp="300000"/>
              </a:custDash>
            </a:ln>
          </p:spPr>
        </p:sp>
      </p:grpSp>
      <p:grpSp>
        <p:nvGrpSpPr>
          <p:cNvPr id="60" name="row1-penetration"/>
          <p:cNvGrpSpPr/>
          <p:nvPr/>
        </p:nvGrpSpPr>
        <p:grpSpPr>
          <a:xfrm>
            <a:off x="5143500" y="952500"/>
            <a:ext cx="2857500" cy="762000"/>
            <a:chOff x="5143500" y="952500"/>
            <a:chExt cx="2857500" cy="762000"/>
          </a:xfrm>
        </p:grpSpPr>
        <p:sp>
          <p:nvSpPr>
            <p:cNvPr id="43" name="Rectangle 43"/>
            <p:cNvSpPr/>
            <p:nvPr/>
          </p:nvSpPr>
          <p:spPr>
            <a:xfrm>
              <a:off x="5143500" y="952500"/>
              <a:ext cx="2857500" cy="762000"/>
            </a:xfrm>
            <a:prstGeom prst="rect">
              <a:avLst/>
            </a:prstGeom>
            <a:solidFill>
              <a:srgbClr val="F4F8EF"/>
            </a:solidFill>
            <a:ln>
              <a:noFill/>
            </a:ln>
          </p:spPr>
        </p:sp>
        <p:sp>
          <p:nvSpPr>
            <p:cNvPr id="44" name="TextBox 44"/>
            <p:cNvSpPr txBox="1"/>
            <p:nvPr/>
          </p:nvSpPr>
          <p:spPr>
            <a:xfrm>
              <a:off x="5291138" y="1168241"/>
              <a:ext cx="32194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333333"/>
                  </a:solidFill>
                  <a:latin typeface="+mn-lt"/>
                  <a:ea typeface="+mn-ea"/>
                  <a:cs typeface="+mn-cs"/>
                </a:rPr>
                <a:t>渗透率</a:t>
              </a:r>
              <a:br/>
              <a:r>
                <a:rPr lang="zh-CN" sz="820" dirty="0">
                  <a:solidFill>
                    <a:srgbClr val="333333"/>
                  </a:solidFill>
                  <a:latin typeface="+mn-lt"/>
                  <a:ea typeface="+mn-ea"/>
                  <a:cs typeface="+mn-cs"/>
                </a:rPr>
                <a:t>增长</a:t>
              </a:r>
            </a:p>
          </p:txBody>
        </p:sp>
        <p:sp>
          <p:nvSpPr>
            <p:cNvPr id="45" name="Freeform 45"/>
            <p:cNvSpPr/>
            <p:nvPr/>
          </p:nvSpPr>
          <p:spPr>
            <a:xfrm>
              <a:off x="6000750" y="1066800"/>
              <a:ext cx="381000" cy="285750"/>
            </a:xfrm>
            <a:prstGeom prst="diamond">
              <a:avLst/>
            </a:prstGeom>
            <a:solidFill>
              <a:srgbClr val="B5766A"/>
            </a:solidFill>
            <a:ln>
              <a:noFill/>
            </a:ln>
          </p:spPr>
        </p:sp>
        <p:sp>
          <p:nvSpPr>
            <p:cNvPr id="46" name="Freeform 46"/>
            <p:cNvSpPr/>
            <p:nvPr/>
          </p:nvSpPr>
          <p:spPr>
            <a:xfrm>
              <a:off x="6667500" y="1066800"/>
              <a:ext cx="381000" cy="285750"/>
            </a:xfrm>
            <a:prstGeom prst="diamond">
              <a:avLst/>
            </a:prstGeom>
            <a:solidFill>
              <a:srgbClr val="B5766A"/>
            </a:solidFill>
            <a:ln>
              <a:noFill/>
            </a:ln>
          </p:spPr>
        </p:sp>
        <p:sp>
          <p:nvSpPr>
            <p:cNvPr id="47" name="Freeform 47"/>
            <p:cNvSpPr/>
            <p:nvPr/>
          </p:nvSpPr>
          <p:spPr>
            <a:xfrm>
              <a:off x="7334250" y="1066800"/>
              <a:ext cx="381000" cy="285750"/>
            </a:xfrm>
            <a:prstGeom prst="diamond">
              <a:avLst/>
            </a:prstGeom>
            <a:solidFill>
              <a:srgbClr val="B5766A"/>
            </a:solidFill>
            <a:ln>
              <a:noFill/>
            </a:ln>
          </p:spPr>
        </p:sp>
        <p:sp>
          <p:nvSpPr>
            <p:cNvPr id="48" name="Freeform 48"/>
            <p:cNvSpPr/>
            <p:nvPr/>
          </p:nvSpPr>
          <p:spPr>
            <a:xfrm>
              <a:off x="6119641" y="113746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FFFFFF"/>
              </a:solidFill>
            </a:ln>
          </p:spPr>
        </p:sp>
        <p:grpSp>
          <p:nvGrpSpPr>
            <p:cNvPr id="51" name="Group 51"/>
            <p:cNvGrpSpPr/>
            <p:nvPr/>
          </p:nvGrpSpPr>
          <p:grpSpPr>
            <a:xfrm>
              <a:off x="6791715" y="1137085"/>
              <a:ext cx="129150" cy="129350"/>
              <a:chOff x="6791715" y="1137085"/>
              <a:chExt cx="129150" cy="129350"/>
            </a:xfrm>
          </p:grpSpPr>
          <p:sp>
            <p:nvSpPr>
              <p:cNvPr id="49" name="Freeform 49"/>
              <p:cNvSpPr/>
              <p:nvPr/>
            </p:nvSpPr>
            <p:spPr>
              <a:xfrm>
                <a:off x="6791715" y="1137085"/>
                <a:ext cx="129150" cy="129350"/>
              </a:xfrm>
              <a:custGeom>
                <a:avLst/>
                <a:gdLst/>
                <a:ahLst/>
                <a:cxnLst/>
                <a:rect l="l" t="t" r="r" b="b"/>
                <a:pathLst>
                  <a:path w="129150" h="129350">
                    <a:moveTo>
                      <a:pt x="51998" y="200"/>
                    </a:moveTo>
                    <a:cubicBezTo>
                      <a:pt x="21065" y="7371"/>
                      <a:pt x="0" y="36049"/>
                      <a:pt x="2409" y="67710"/>
                    </a:cubicBezTo>
                    <a:cubicBezTo>
                      <a:pt x="4818" y="99372"/>
                      <a:pt x="29979" y="124533"/>
                      <a:pt x="61640" y="126942"/>
                    </a:cubicBezTo>
                    <a:cubicBezTo>
                      <a:pt x="93301" y="129350"/>
                      <a:pt x="121979" y="108285"/>
                      <a:pt x="129150" y="77353"/>
                    </a:cubicBezTo>
                    <a:cubicBezTo>
                      <a:pt x="129150" y="73407"/>
                      <a:pt x="125952" y="70209"/>
                      <a:pt x="122006" y="70209"/>
                    </a:cubicBezTo>
                    <a:lnTo>
                      <a:pt x="73429" y="70209"/>
                    </a:lnTo>
                    <a:cubicBezTo>
                      <a:pt x="65538" y="70209"/>
                      <a:pt x="59141" y="63812"/>
                      <a:pt x="59141" y="55922"/>
                    </a:cubicBezTo>
                    <a:lnTo>
                      <a:pt x="59141" y="5915"/>
                    </a:lnTo>
                    <a:cubicBezTo>
                      <a:pt x="58962" y="4206"/>
                      <a:pt x="58106" y="2639"/>
                      <a:pt x="56763" y="1565"/>
                    </a:cubicBezTo>
                    <a:cubicBezTo>
                      <a:pt x="55421" y="492"/>
                      <a:pt x="53705" y="0"/>
                      <a:pt x="51998" y="200"/>
                    </a:cubicBezTo>
                  </a:path>
                </a:pathLst>
              </a:custGeom>
              <a:noFill/>
              <a:ln w="14288">
                <a:solidFill>
                  <a:srgbClr val="FFFFFF"/>
                </a:solidFill>
              </a:ln>
            </p:spPr>
          </p:sp>
          <p:sp>
            <p:nvSpPr>
              <p:cNvPr id="50" name="Freeform 50"/>
              <p:cNvSpPr/>
              <p:nvPr/>
            </p:nvSpPr>
            <p:spPr>
              <a:xfrm>
                <a:off x="6879431" y="1139428"/>
                <a:ext cx="39291" cy="39291"/>
              </a:xfrm>
              <a:custGeom>
                <a:avLst/>
                <a:gdLst/>
                <a:ahLst/>
                <a:cxnLst/>
                <a:rect l="l" t="t" r="r" b="b"/>
                <a:pathLst>
                  <a:path w="39291" h="39291">
                    <a:moveTo>
                      <a:pt x="0" y="0"/>
                    </a:moveTo>
                    <a:cubicBezTo>
                      <a:pt x="18372" y="6469"/>
                      <a:pt x="32822" y="20918"/>
                      <a:pt x="39291" y="39291"/>
                    </a:cubicBezTo>
                    <a:lnTo>
                      <a:pt x="7144" y="39291"/>
                    </a:lnTo>
                    <a:cubicBezTo>
                      <a:pt x="3198" y="39291"/>
                      <a:pt x="0" y="36092"/>
                      <a:pt x="0" y="32147"/>
                    </a:cubicBezTo>
                    <a:lnTo>
                      <a:pt x="0" y="0"/>
                    </a:lnTo>
                  </a:path>
                </a:pathLst>
              </a:custGeom>
              <a:noFill/>
              <a:ln w="14288">
                <a:solidFill>
                  <a:srgbClr val="FFFFFF"/>
                </a:solidFill>
              </a:ln>
            </p:spPr>
          </p:sp>
        </p:grpSp>
        <p:grpSp>
          <p:nvGrpSpPr>
            <p:cNvPr id="56" name="Group 56"/>
            <p:cNvGrpSpPr/>
            <p:nvPr/>
          </p:nvGrpSpPr>
          <p:grpSpPr>
            <a:xfrm>
              <a:off x="7460456" y="1135856"/>
              <a:ext cx="128587" cy="128588"/>
              <a:chOff x="7460456" y="1135856"/>
              <a:chExt cx="128587" cy="128588"/>
            </a:xfrm>
          </p:grpSpPr>
          <p:sp>
            <p:nvSpPr>
              <p:cNvPr id="52" name="Freeform 52"/>
              <p:cNvSpPr/>
              <p:nvPr/>
            </p:nvSpPr>
            <p:spPr>
              <a:xfrm>
                <a:off x="7474744" y="11358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53" name="Freeform 53"/>
              <p:cNvSpPr/>
              <p:nvPr/>
            </p:nvSpPr>
            <p:spPr>
              <a:xfrm>
                <a:off x="7460456" y="122158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54" name="Freeform 54"/>
              <p:cNvSpPr/>
              <p:nvPr/>
            </p:nvSpPr>
            <p:spPr>
              <a:xfrm>
                <a:off x="7553325" y="113678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55" name="Freeform 55"/>
              <p:cNvSpPr/>
              <p:nvPr/>
            </p:nvSpPr>
            <p:spPr>
              <a:xfrm>
                <a:off x="7567612" y="122265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57" name="TextBox 57"/>
            <p:cNvSpPr txBox="1"/>
            <p:nvPr/>
          </p:nvSpPr>
          <p:spPr>
            <a:xfrm>
              <a:off x="6080138" y="1496139"/>
              <a:ext cx="222225"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社交</a:t>
              </a:r>
            </a:p>
          </p:txBody>
        </p:sp>
        <p:sp>
          <p:nvSpPr>
            <p:cNvPr id="58" name="TextBox 58"/>
            <p:cNvSpPr txBox="1"/>
            <p:nvPr/>
          </p:nvSpPr>
          <p:spPr>
            <a:xfrm>
              <a:off x="6746888" y="1496139"/>
              <a:ext cx="222225"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年龄</a:t>
              </a:r>
            </a:p>
          </p:txBody>
        </p:sp>
        <p:sp>
          <p:nvSpPr>
            <p:cNvPr id="59" name="TextBox 59"/>
            <p:cNvSpPr txBox="1"/>
            <p:nvPr/>
          </p:nvSpPr>
          <p:spPr>
            <a:xfrm>
              <a:off x="7413638" y="1496139"/>
              <a:ext cx="222225"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年龄</a:t>
              </a:r>
            </a:p>
          </p:txBody>
        </p:sp>
      </p:grpSp>
      <p:grpSp>
        <p:nvGrpSpPr>
          <p:cNvPr id="64" name="row1-note"/>
          <p:cNvGrpSpPr/>
          <p:nvPr/>
        </p:nvGrpSpPr>
        <p:grpSpPr>
          <a:xfrm>
            <a:off x="8191500" y="952500"/>
            <a:ext cx="3619500" cy="762000"/>
            <a:chOff x="8191500" y="952500"/>
            <a:chExt cx="3619500" cy="762000"/>
          </a:xfrm>
        </p:grpSpPr>
        <p:sp>
          <p:nvSpPr>
            <p:cNvPr id="61" name="Rectangle 61"/>
            <p:cNvSpPr/>
            <p:nvPr/>
          </p:nvSpPr>
          <p:spPr>
            <a:xfrm>
              <a:off x="8191500" y="952500"/>
              <a:ext cx="3619500" cy="762000"/>
            </a:xfrm>
            <a:prstGeom prst="roundRect">
              <a:avLst>
                <a:gd name="adj" fmla="val 7500"/>
              </a:avLst>
            </a:prstGeom>
            <a:solidFill>
              <a:srgbClr val="FDF6E7"/>
            </a:solidFill>
            <a:ln w="11430">
              <a:solidFill>
                <a:srgbClr val="E9563C"/>
              </a:solidFill>
              <a:custDash>
                <a:ds d="416667" sp="250000"/>
              </a:custDash>
            </a:ln>
          </p:spPr>
        </p:sp>
        <p:sp>
          <p:nvSpPr>
            <p:cNvPr id="62" name="TextBox 62"/>
            <p:cNvSpPr txBox="1"/>
            <p:nvPr/>
          </p:nvSpPr>
          <p:spPr>
            <a:xfrm>
              <a:off x="8377238" y="1098947"/>
              <a:ext cx="881721"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 轻度音乐人群</a:t>
              </a:r>
            </a:p>
          </p:txBody>
        </p:sp>
        <p:sp>
          <p:nvSpPr>
            <p:cNvPr id="63" name="TextBox 63"/>
            <p:cNvSpPr txBox="1"/>
            <p:nvPr/>
          </p:nvSpPr>
          <p:spPr>
            <a:xfrm>
              <a:off x="8377238" y="1332786"/>
              <a:ext cx="136207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595959"/>
                  </a:solidFill>
                  <a:latin typeface="+mn-lt"/>
                  <a:ea typeface="+mn-ea"/>
                  <a:cs typeface="+mn-cs"/>
                </a:rPr>
                <a:t>不分年龄大小，对音乐需求不大，</a:t>
              </a:r>
              <a:br/>
              <a:r>
                <a:rPr lang="zh-CN" sz="710" dirty="0">
                  <a:solidFill>
                    <a:srgbClr val="595959"/>
                  </a:solidFill>
                  <a:latin typeface="+mn-lt"/>
                  <a:ea typeface="+mn-ea"/>
                  <a:cs typeface="+mn-cs"/>
                </a:rPr>
                <a:t>为生活增添情调...</a:t>
              </a:r>
            </a:p>
          </p:txBody>
        </p:sp>
      </p:grpSp>
      <p:grpSp>
        <p:nvGrpSpPr>
          <p:cNvPr id="89" name="row2-channels"/>
          <p:cNvGrpSpPr/>
          <p:nvPr/>
        </p:nvGrpSpPr>
        <p:grpSpPr>
          <a:xfrm>
            <a:off x="5143500" y="1943100"/>
            <a:ext cx="2857500" cy="1047750"/>
            <a:chOff x="5143500" y="1943100"/>
            <a:chExt cx="2857500" cy="1047750"/>
          </a:xfrm>
        </p:grpSpPr>
        <p:sp>
          <p:nvSpPr>
            <p:cNvPr id="65" name="Rectangle 65"/>
            <p:cNvSpPr/>
            <p:nvPr/>
          </p:nvSpPr>
          <p:spPr>
            <a:xfrm>
              <a:off x="5143500" y="1943100"/>
              <a:ext cx="2857500" cy="1047750"/>
            </a:xfrm>
            <a:prstGeom prst="rect">
              <a:avLst/>
            </a:prstGeom>
            <a:solidFill>
              <a:srgbClr val="F4F8EF"/>
            </a:solidFill>
            <a:ln>
              <a:noFill/>
            </a:ln>
          </p:spPr>
        </p:sp>
        <p:sp>
          <p:nvSpPr>
            <p:cNvPr id="66" name="TextBox 66"/>
            <p:cNvSpPr txBox="1"/>
            <p:nvPr/>
          </p:nvSpPr>
          <p:spPr>
            <a:xfrm>
              <a:off x="5291138" y="2311241"/>
              <a:ext cx="217805" cy="323850"/>
            </a:xfrm>
            <a:prstGeom prst="rect">
              <a:avLst/>
            </a:prstGeom>
            <a:noFill/>
            <a:ln>
              <a:noFill/>
            </a:ln>
          </p:spPr>
          <p:txBody>
            <a:bodyPr wrap="none" lIns="0" tIns="0" rIns="0" bIns="0" anchor="t" anchorCtr="0">
              <a:spAutoFit/>
            </a:bodyPr>
            <a:lstStyle/>
            <a:p>
              <a:pPr algn="l">
                <a:lnSpc>
                  <a:spcPts val="1275"/>
                </a:lnSpc>
              </a:pPr>
              <a:r>
                <a:rPr lang="zh-CN" sz="820" dirty="0">
                  <a:solidFill>
                    <a:srgbClr val="333333"/>
                  </a:solidFill>
                  <a:latin typeface="+mn-lt"/>
                  <a:ea typeface="+mn-ea"/>
                  <a:cs typeface="+mn-cs"/>
                </a:rPr>
                <a:t>自有</a:t>
              </a:r>
              <a:br/>
              <a:r>
                <a:rPr lang="zh-CN" sz="820" dirty="0">
                  <a:solidFill>
                    <a:srgbClr val="333333"/>
                  </a:solidFill>
                  <a:latin typeface="+mn-lt"/>
                  <a:ea typeface="+mn-ea"/>
                  <a:cs typeface="+mn-cs"/>
                </a:rPr>
                <a:t>渠道</a:t>
              </a:r>
            </a:p>
          </p:txBody>
        </p:sp>
        <p:sp>
          <p:nvSpPr>
            <p:cNvPr id="67" name="Line 67"/>
            <p:cNvSpPr/>
            <p:nvPr/>
          </p:nvSpPr>
          <p:spPr>
            <a:xfrm>
              <a:off x="5772150" y="2057400"/>
              <a:ext cx="9525" cy="819150"/>
            </a:xfrm>
            <a:custGeom>
              <a:avLst/>
              <a:gdLst/>
              <a:ahLst/>
              <a:cxnLst/>
              <a:rect l="l" t="t" r="r" b="b"/>
              <a:pathLst>
                <a:path w="9525" h="819150">
                  <a:moveTo>
                    <a:pt x="0" y="0"/>
                  </a:moveTo>
                  <a:lnTo>
                    <a:pt x="0" y="819150"/>
                  </a:lnTo>
                </a:path>
              </a:pathLst>
            </a:custGeom>
            <a:noFill/>
            <a:ln w="9525">
              <a:solidFill>
                <a:srgbClr val="C9D8BD"/>
              </a:solidFill>
            </a:ln>
          </p:spPr>
        </p:sp>
        <p:sp>
          <p:nvSpPr>
            <p:cNvPr id="68" name="Rectangle 68"/>
            <p:cNvSpPr/>
            <p:nvPr/>
          </p:nvSpPr>
          <p:spPr>
            <a:xfrm>
              <a:off x="5924550" y="2114550"/>
              <a:ext cx="533400" cy="533400"/>
            </a:xfrm>
            <a:prstGeom prst="roundRect">
              <a:avLst>
                <a:gd name="adj" fmla="val 10714"/>
              </a:avLst>
            </a:prstGeom>
            <a:solidFill>
              <a:srgbClr val="FFFFFF"/>
            </a:solidFill>
            <a:ln w="9525">
              <a:solidFill>
                <a:srgbClr val="C9D8BD"/>
              </a:solidFill>
            </a:ln>
          </p:spPr>
        </p:sp>
        <p:grpSp>
          <p:nvGrpSpPr>
            <p:cNvPr id="75" name="Group 75"/>
            <p:cNvGrpSpPr/>
            <p:nvPr/>
          </p:nvGrpSpPr>
          <p:grpSpPr>
            <a:xfrm>
              <a:off x="6091238" y="2281238"/>
              <a:ext cx="200025" cy="200026"/>
              <a:chOff x="6091238" y="2281238"/>
              <a:chExt cx="200025" cy="200026"/>
            </a:xfrm>
          </p:grpSpPr>
          <p:sp>
            <p:nvSpPr>
              <p:cNvPr id="69" name="Freeform 69"/>
              <p:cNvSpPr/>
              <p:nvPr/>
            </p:nvSpPr>
            <p:spPr>
              <a:xfrm>
                <a:off x="6169025" y="23701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9C594C"/>
                </a:solidFill>
              </a:ln>
            </p:spPr>
          </p:sp>
          <p:sp>
            <p:nvSpPr>
              <p:cNvPr id="70" name="Freeform 70"/>
              <p:cNvSpPr/>
              <p:nvPr/>
            </p:nvSpPr>
            <p:spPr>
              <a:xfrm>
                <a:off x="6146800" y="244792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9C594C"/>
                </a:solidFill>
              </a:ln>
            </p:spPr>
          </p:sp>
          <p:sp>
            <p:nvSpPr>
              <p:cNvPr id="71" name="Freeform 71"/>
              <p:cNvSpPr/>
              <p:nvPr/>
            </p:nvSpPr>
            <p:spPr>
              <a:xfrm>
                <a:off x="6224588" y="22812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9C594C"/>
                </a:solidFill>
              </a:ln>
            </p:spPr>
          </p:sp>
          <p:sp>
            <p:nvSpPr>
              <p:cNvPr id="72" name="Freeform 72"/>
              <p:cNvSpPr/>
              <p:nvPr/>
            </p:nvSpPr>
            <p:spPr>
              <a:xfrm>
                <a:off x="6246813" y="235902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9C594C"/>
                </a:solidFill>
              </a:ln>
            </p:spPr>
          </p:sp>
          <p:sp>
            <p:nvSpPr>
              <p:cNvPr id="73" name="Freeform 73"/>
              <p:cNvSpPr/>
              <p:nvPr/>
            </p:nvSpPr>
            <p:spPr>
              <a:xfrm>
                <a:off x="6113463" y="22812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9C594C"/>
                </a:solidFill>
              </a:ln>
            </p:spPr>
          </p:sp>
          <p:sp>
            <p:nvSpPr>
              <p:cNvPr id="74" name="Freeform 74"/>
              <p:cNvSpPr/>
              <p:nvPr/>
            </p:nvSpPr>
            <p:spPr>
              <a:xfrm>
                <a:off x="6091238" y="235902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9C594C"/>
                </a:solidFill>
              </a:ln>
            </p:spPr>
          </p:sp>
        </p:grpSp>
        <p:sp>
          <p:nvSpPr>
            <p:cNvPr id="76" name="Rectangle 76"/>
            <p:cNvSpPr/>
            <p:nvPr/>
          </p:nvSpPr>
          <p:spPr>
            <a:xfrm>
              <a:off x="6572250" y="2114550"/>
              <a:ext cx="533400" cy="533400"/>
            </a:xfrm>
            <a:prstGeom prst="roundRect">
              <a:avLst>
                <a:gd name="adj" fmla="val 10714"/>
              </a:avLst>
            </a:prstGeom>
            <a:solidFill>
              <a:srgbClr val="FFFFFF"/>
            </a:solidFill>
            <a:ln w="9525">
              <a:solidFill>
                <a:srgbClr val="C9D8BD"/>
              </a:solidFill>
            </a:ln>
          </p:spPr>
        </p:sp>
        <p:grpSp>
          <p:nvGrpSpPr>
            <p:cNvPr id="79" name="Group 79"/>
            <p:cNvGrpSpPr/>
            <p:nvPr/>
          </p:nvGrpSpPr>
          <p:grpSpPr>
            <a:xfrm>
              <a:off x="6738938" y="2314575"/>
              <a:ext cx="200025" cy="133350"/>
              <a:chOff x="6738938" y="2314575"/>
              <a:chExt cx="200025" cy="133350"/>
            </a:xfrm>
          </p:grpSpPr>
          <p:sp>
            <p:nvSpPr>
              <p:cNvPr id="77" name="Freeform 77"/>
              <p:cNvSpPr/>
              <p:nvPr/>
            </p:nvSpPr>
            <p:spPr>
              <a:xfrm>
                <a:off x="6872288" y="2332012"/>
                <a:ext cx="66675" cy="98476"/>
              </a:xfrm>
              <a:custGeom>
                <a:avLst/>
                <a:gdLst/>
                <a:ahLst/>
                <a:cxnLst/>
                <a:rect l="l" t="t" r="r" b="b"/>
                <a:pathLst>
                  <a:path w="66675" h="98476">
                    <a:moveTo>
                      <a:pt x="0" y="27013"/>
                    </a:moveTo>
                    <a:lnTo>
                      <a:pt x="50595" y="1721"/>
                    </a:lnTo>
                    <a:cubicBezTo>
                      <a:pt x="54039" y="0"/>
                      <a:pt x="58128" y="184"/>
                      <a:pt x="61403" y="2208"/>
                    </a:cubicBezTo>
                    <a:cubicBezTo>
                      <a:pt x="64679" y="4231"/>
                      <a:pt x="66673" y="7806"/>
                      <a:pt x="66675" y="11655"/>
                    </a:cubicBezTo>
                    <a:lnTo>
                      <a:pt x="66675" y="86821"/>
                    </a:lnTo>
                    <a:cubicBezTo>
                      <a:pt x="66673" y="90670"/>
                      <a:pt x="64679" y="94245"/>
                      <a:pt x="61403" y="96268"/>
                    </a:cubicBezTo>
                    <a:cubicBezTo>
                      <a:pt x="58128" y="98292"/>
                      <a:pt x="54039" y="98476"/>
                      <a:pt x="50595" y="96755"/>
                    </a:cubicBezTo>
                    <a:lnTo>
                      <a:pt x="0" y="71463"/>
                    </a:lnTo>
                    <a:lnTo>
                      <a:pt x="0" y="27013"/>
                    </a:lnTo>
                  </a:path>
                </a:pathLst>
              </a:custGeom>
              <a:noFill/>
              <a:ln w="22225">
                <a:solidFill>
                  <a:srgbClr val="9C594C"/>
                </a:solidFill>
              </a:ln>
            </p:spPr>
          </p:sp>
          <p:sp>
            <p:nvSpPr>
              <p:cNvPr id="78" name="Freeform 78"/>
              <p:cNvSpPr/>
              <p:nvPr/>
            </p:nvSpPr>
            <p:spPr>
              <a:xfrm>
                <a:off x="6738938" y="2314575"/>
                <a:ext cx="133350" cy="133350"/>
              </a:xfrm>
              <a:custGeom>
                <a:avLst/>
                <a:gdLst/>
                <a:ahLst/>
                <a:cxnLst/>
                <a:rect l="l" t="t" r="r" b="b"/>
                <a:pathLst>
                  <a:path w="133350" h="133350">
                    <a:moveTo>
                      <a:pt x="0" y="22225"/>
                    </a:moveTo>
                    <a:cubicBezTo>
                      <a:pt x="0" y="9950"/>
                      <a:pt x="9950" y="0"/>
                      <a:pt x="22225" y="0"/>
                    </a:cubicBezTo>
                    <a:lnTo>
                      <a:pt x="111125" y="0"/>
                    </a:lnTo>
                    <a:cubicBezTo>
                      <a:pt x="123400" y="0"/>
                      <a:pt x="133350" y="9950"/>
                      <a:pt x="133350" y="22225"/>
                    </a:cubicBezTo>
                    <a:lnTo>
                      <a:pt x="133350" y="111125"/>
                    </a:lnTo>
                    <a:cubicBezTo>
                      <a:pt x="133350" y="123400"/>
                      <a:pt x="123400" y="133350"/>
                      <a:pt x="111125" y="133350"/>
                    </a:cubicBezTo>
                    <a:lnTo>
                      <a:pt x="22225" y="133350"/>
                    </a:lnTo>
                    <a:cubicBezTo>
                      <a:pt x="9950" y="133350"/>
                      <a:pt x="0" y="123400"/>
                      <a:pt x="0" y="111125"/>
                    </a:cubicBezTo>
                    <a:lnTo>
                      <a:pt x="0" y="22225"/>
                    </a:lnTo>
                  </a:path>
                </a:pathLst>
              </a:custGeom>
              <a:noFill/>
              <a:ln w="22225">
                <a:solidFill>
                  <a:srgbClr val="9C594C"/>
                </a:solidFill>
              </a:ln>
            </p:spPr>
          </p:sp>
        </p:grpSp>
        <p:sp>
          <p:nvSpPr>
            <p:cNvPr id="80" name="Rectangle 80"/>
            <p:cNvSpPr/>
            <p:nvPr/>
          </p:nvSpPr>
          <p:spPr>
            <a:xfrm>
              <a:off x="7219950" y="2114550"/>
              <a:ext cx="533400" cy="533400"/>
            </a:xfrm>
            <a:prstGeom prst="roundRect">
              <a:avLst>
                <a:gd name="adj" fmla="val 10714"/>
              </a:avLst>
            </a:prstGeom>
            <a:solidFill>
              <a:srgbClr val="FFFFFF"/>
            </a:solidFill>
            <a:ln w="9525">
              <a:solidFill>
                <a:srgbClr val="C9D8BD"/>
              </a:solidFill>
            </a:ln>
          </p:spPr>
        </p:sp>
        <p:grpSp>
          <p:nvGrpSpPr>
            <p:cNvPr id="85" name="Group 85"/>
            <p:cNvGrpSpPr/>
            <p:nvPr/>
          </p:nvGrpSpPr>
          <p:grpSpPr>
            <a:xfrm>
              <a:off x="7397750" y="2281238"/>
              <a:ext cx="177800" cy="200025"/>
              <a:chOff x="7397750" y="2281238"/>
              <a:chExt cx="177800" cy="200025"/>
            </a:xfrm>
          </p:grpSpPr>
          <p:sp>
            <p:nvSpPr>
              <p:cNvPr id="81" name="Freeform 81"/>
              <p:cNvSpPr/>
              <p:nvPr/>
            </p:nvSpPr>
            <p:spPr>
              <a:xfrm>
                <a:off x="7397750" y="243681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9C594C"/>
                </a:solidFill>
              </a:ln>
            </p:spPr>
          </p:sp>
          <p:sp>
            <p:nvSpPr>
              <p:cNvPr id="82" name="Freeform 82"/>
              <p:cNvSpPr/>
              <p:nvPr/>
            </p:nvSpPr>
            <p:spPr>
              <a:xfrm>
                <a:off x="7519988" y="243681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9C594C"/>
                </a:solidFill>
              </a:ln>
            </p:spPr>
          </p:sp>
          <p:sp>
            <p:nvSpPr>
              <p:cNvPr id="83" name="Freeform 83"/>
              <p:cNvSpPr/>
              <p:nvPr/>
            </p:nvSpPr>
            <p:spPr>
              <a:xfrm>
                <a:off x="7397750" y="2281238"/>
                <a:ext cx="144463" cy="155575"/>
              </a:xfrm>
              <a:custGeom>
                <a:avLst/>
                <a:gdLst/>
                <a:ahLst/>
                <a:cxnLst/>
                <a:rect l="l" t="t" r="r" b="b"/>
                <a:pathLst>
                  <a:path w="144463" h="155575">
                    <a:moveTo>
                      <a:pt x="144463" y="155575"/>
                    </a:moveTo>
                    <a:lnTo>
                      <a:pt x="22225" y="155575"/>
                    </a:lnTo>
                    <a:lnTo>
                      <a:pt x="22225" y="0"/>
                    </a:lnTo>
                    <a:lnTo>
                      <a:pt x="0" y="0"/>
                    </a:lnTo>
                  </a:path>
                </a:pathLst>
              </a:custGeom>
              <a:noFill/>
              <a:ln w="22225">
                <a:solidFill>
                  <a:srgbClr val="9C594C"/>
                </a:solidFill>
              </a:ln>
            </p:spPr>
          </p:sp>
          <p:sp>
            <p:nvSpPr>
              <p:cNvPr id="84" name="Freeform 84"/>
              <p:cNvSpPr/>
              <p:nvPr/>
            </p:nvSpPr>
            <p:spPr>
              <a:xfrm>
                <a:off x="7419975" y="2303463"/>
                <a:ext cx="155575" cy="88900"/>
              </a:xfrm>
              <a:custGeom>
                <a:avLst/>
                <a:gdLst/>
                <a:ahLst/>
                <a:cxnLst/>
                <a:rect l="l" t="t" r="r" b="b"/>
                <a:pathLst>
                  <a:path w="155575" h="88900">
                    <a:moveTo>
                      <a:pt x="0" y="0"/>
                    </a:moveTo>
                    <a:lnTo>
                      <a:pt x="155575" y="11113"/>
                    </a:lnTo>
                    <a:lnTo>
                      <a:pt x="144463" y="88900"/>
                    </a:lnTo>
                    <a:lnTo>
                      <a:pt x="0" y="88900"/>
                    </a:lnTo>
                  </a:path>
                </a:pathLst>
              </a:custGeom>
              <a:noFill/>
              <a:ln w="22225">
                <a:solidFill>
                  <a:srgbClr val="9C594C"/>
                </a:solidFill>
              </a:ln>
            </p:spPr>
          </p:sp>
        </p:grpSp>
        <p:sp>
          <p:nvSpPr>
            <p:cNvPr id="86" name="TextBox 86"/>
            <p:cNvSpPr txBox="1"/>
            <p:nvPr/>
          </p:nvSpPr>
          <p:spPr>
            <a:xfrm>
              <a:off x="6080138" y="2753439"/>
              <a:ext cx="222225"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会议</a:t>
              </a:r>
            </a:p>
          </p:txBody>
        </p:sp>
        <p:sp>
          <p:nvSpPr>
            <p:cNvPr id="87" name="TextBox 87"/>
            <p:cNvSpPr txBox="1"/>
            <p:nvPr/>
          </p:nvSpPr>
          <p:spPr>
            <a:xfrm>
              <a:off x="6727838" y="2753439"/>
              <a:ext cx="222225"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展览</a:t>
              </a:r>
            </a:p>
          </p:txBody>
        </p:sp>
        <p:sp>
          <p:nvSpPr>
            <p:cNvPr id="88" name="TextBox 88"/>
            <p:cNvSpPr txBox="1"/>
            <p:nvPr/>
          </p:nvSpPr>
          <p:spPr>
            <a:xfrm>
              <a:off x="7322363" y="2753439"/>
              <a:ext cx="32857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经销商</a:t>
              </a:r>
            </a:p>
          </p:txBody>
        </p:sp>
      </p:grpSp>
      <p:grpSp>
        <p:nvGrpSpPr>
          <p:cNvPr id="93" name="row2-note"/>
          <p:cNvGrpSpPr/>
          <p:nvPr/>
        </p:nvGrpSpPr>
        <p:grpSpPr>
          <a:xfrm>
            <a:off x="8191500" y="1943100"/>
            <a:ext cx="3619500" cy="1047750"/>
            <a:chOff x="8191500" y="1943100"/>
            <a:chExt cx="3619500" cy="1047750"/>
          </a:xfrm>
        </p:grpSpPr>
        <p:sp>
          <p:nvSpPr>
            <p:cNvPr id="90" name="Rectangle 90"/>
            <p:cNvSpPr/>
            <p:nvPr/>
          </p:nvSpPr>
          <p:spPr>
            <a:xfrm>
              <a:off x="8191500" y="1943100"/>
              <a:ext cx="3619500" cy="1047750"/>
            </a:xfrm>
            <a:prstGeom prst="roundRect">
              <a:avLst>
                <a:gd name="adj" fmla="val 5455"/>
              </a:avLst>
            </a:prstGeom>
            <a:solidFill>
              <a:srgbClr val="FDF6E7"/>
            </a:solidFill>
            <a:ln w="11430">
              <a:solidFill>
                <a:srgbClr val="E9563C"/>
              </a:solidFill>
              <a:custDash>
                <a:ds d="416667" sp="250000"/>
              </a:custDash>
            </a:ln>
          </p:spPr>
        </p:sp>
        <p:sp>
          <p:nvSpPr>
            <p:cNvPr id="91" name="TextBox 91"/>
            <p:cNvSpPr txBox="1"/>
            <p:nvPr/>
          </p:nvSpPr>
          <p:spPr>
            <a:xfrm>
              <a:off x="8377238" y="2108597"/>
              <a:ext cx="881721" cy="183356"/>
            </a:xfrm>
            <a:prstGeom prst="rect">
              <a:avLst/>
            </a:prstGeom>
            <a:noFill/>
            <a:ln>
              <a:noFill/>
            </a:ln>
          </p:spPr>
          <p:txBody>
            <a:bodyPr wrap="none" lIns="0" tIns="0" rIns="0" bIns="0" anchor="t" anchorCtr="0">
              <a:spAutoFit/>
            </a:bodyPr>
            <a:lstStyle/>
            <a:p>
              <a:pPr algn="l"/>
              <a:r>
                <a:rPr lang="zh-CN" sz="940" b="1" dirty="0">
                  <a:solidFill>
                    <a:srgbClr val="333333"/>
                  </a:solidFill>
                  <a:latin typeface="+mn-lt"/>
                  <a:ea typeface="+mn-ea"/>
                  <a:cs typeface="+mn-cs"/>
                </a:rPr>
                <a:t>◉ 重度音乐人群</a:t>
              </a:r>
            </a:p>
          </p:txBody>
        </p:sp>
        <p:sp>
          <p:nvSpPr>
            <p:cNvPr id="92" name="TextBox 92"/>
            <p:cNvSpPr txBox="1"/>
            <p:nvPr/>
          </p:nvSpPr>
          <p:spPr>
            <a:xfrm>
              <a:off x="8377238" y="2361486"/>
              <a:ext cx="1362075" cy="445294"/>
            </a:xfrm>
            <a:prstGeom prst="rect">
              <a:avLst/>
            </a:prstGeom>
            <a:noFill/>
            <a:ln>
              <a:noFill/>
            </a:ln>
          </p:spPr>
          <p:txBody>
            <a:bodyPr wrap="none" lIns="0" tIns="0" rIns="0" bIns="0" anchor="t" anchorCtr="0">
              <a:spAutoFit/>
            </a:bodyPr>
            <a:lstStyle/>
            <a:p>
              <a:pPr algn="l">
                <a:lnSpc>
                  <a:spcPts val="1200"/>
                </a:lnSpc>
              </a:pPr>
              <a:r>
                <a:rPr lang="zh-CN" sz="710" dirty="0">
                  <a:solidFill>
                    <a:srgbClr val="595959"/>
                  </a:solidFill>
                  <a:latin typeface="+mn-lt"/>
                  <a:ea typeface="+mn-ea"/>
                  <a:cs typeface="+mn-cs"/>
                </a:rPr>
                <a:t>不分年龄大小，对音乐需求不大，</a:t>
              </a:r>
              <a:br/>
              <a:r>
                <a:rPr lang="zh-CN" sz="710" dirty="0">
                  <a:solidFill>
                    <a:srgbClr val="595959"/>
                  </a:solidFill>
                  <a:latin typeface="+mn-lt"/>
                  <a:ea typeface="+mn-ea"/>
                  <a:cs typeface="+mn-cs"/>
                </a:rPr>
                <a:t>但偶尔听听音乐为生活增添情</a:t>
              </a:r>
              <a:br/>
              <a:r>
                <a:rPr lang="zh-CN" sz="710" dirty="0">
                  <a:solidFill>
                    <a:srgbClr val="595959"/>
                  </a:solidFill>
                  <a:latin typeface="+mn-lt"/>
                  <a:ea typeface="+mn-ea"/>
                  <a:cs typeface="+mn-cs"/>
                </a:rPr>
                <a:t>调...</a:t>
              </a:r>
            </a:p>
          </p:txBody>
        </p:sp>
      </p:grpSp>
      <p:grpSp>
        <p:nvGrpSpPr>
          <p:cNvPr id="123" name="row3-wechat"/>
          <p:cNvGrpSpPr/>
          <p:nvPr/>
        </p:nvGrpSpPr>
        <p:grpSpPr>
          <a:xfrm>
            <a:off x="5191125" y="3457575"/>
            <a:ext cx="3290888" cy="1879759"/>
            <a:chOff x="5191125" y="3457575"/>
            <a:chExt cx="3290888" cy="1879759"/>
          </a:xfrm>
        </p:grpSpPr>
        <p:sp>
          <p:nvSpPr>
            <p:cNvPr id="94" name="Ellipse 94"/>
            <p:cNvSpPr/>
            <p:nvPr/>
          </p:nvSpPr>
          <p:spPr>
            <a:xfrm>
              <a:off x="5191125" y="3457575"/>
              <a:ext cx="1809750" cy="1809750"/>
            </a:xfrm>
            <a:prstGeom prst="ellipse">
              <a:avLst/>
            </a:prstGeom>
            <a:solidFill>
              <a:srgbClr val="FDF6E7"/>
            </a:solidFill>
            <a:ln>
              <a:noFill/>
            </a:ln>
          </p:spPr>
        </p:sp>
        <p:sp>
          <p:nvSpPr>
            <p:cNvPr id="95" name="Ellipse 95"/>
            <p:cNvSpPr/>
            <p:nvPr/>
          </p:nvSpPr>
          <p:spPr>
            <a:xfrm>
              <a:off x="5505450" y="3771900"/>
              <a:ext cx="1181100" cy="1181100"/>
            </a:xfrm>
            <a:prstGeom prst="ellipse">
              <a:avLst/>
            </a:prstGeom>
            <a:solidFill>
              <a:srgbClr val="E9563C"/>
            </a:solidFill>
            <a:ln>
              <a:noFill/>
            </a:ln>
          </p:spPr>
        </p:sp>
        <p:sp>
          <p:nvSpPr>
            <p:cNvPr id="96" name="Freeform 96"/>
            <p:cNvSpPr/>
            <p:nvPr/>
          </p:nvSpPr>
          <p:spPr>
            <a:xfrm>
              <a:off x="5968695" y="4079557"/>
              <a:ext cx="253542" cy="224751"/>
            </a:xfrm>
            <a:custGeom>
              <a:avLst/>
              <a:gdLst/>
              <a:ahLst/>
              <a:cxnLst/>
              <a:rect l="l" t="t" r="r" b="b"/>
              <a:pathLst>
                <a:path w="253542" h="224751">
                  <a:moveTo>
                    <a:pt x="13005" y="213042"/>
                  </a:moveTo>
                  <a:lnTo>
                    <a:pt x="29515" y="163512"/>
                  </a:lnTo>
                  <a:cubicBezTo>
                    <a:pt x="0" y="119862"/>
                    <a:pt x="11405" y="63538"/>
                    <a:pt x="56185" y="31763"/>
                  </a:cubicBezTo>
                  <a:cubicBezTo>
                    <a:pt x="100965" y="0"/>
                    <a:pt x="165277" y="2603"/>
                    <a:pt x="206616" y="37859"/>
                  </a:cubicBezTo>
                  <a:cubicBezTo>
                    <a:pt x="247954" y="73126"/>
                    <a:pt x="253542" y="130137"/>
                    <a:pt x="219684" y="171221"/>
                  </a:cubicBezTo>
                  <a:cubicBezTo>
                    <a:pt x="185826" y="212305"/>
                    <a:pt x="122974" y="224751"/>
                    <a:pt x="72695" y="200342"/>
                  </a:cubicBezTo>
                  <a:lnTo>
                    <a:pt x="13005" y="213042"/>
                  </a:lnTo>
                </a:path>
              </a:pathLst>
            </a:custGeom>
            <a:noFill/>
            <a:ln w="25400">
              <a:solidFill>
                <a:srgbClr val="FFFFFF"/>
              </a:solidFill>
            </a:ln>
          </p:spPr>
        </p:sp>
        <p:sp>
          <p:nvSpPr>
            <p:cNvPr id="97" name="TextBox 97"/>
            <p:cNvSpPr txBox="1"/>
            <p:nvPr/>
          </p:nvSpPr>
          <p:spPr>
            <a:xfrm>
              <a:off x="5807964" y="45158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企业微信</a:t>
              </a:r>
            </a:p>
          </p:txBody>
        </p:sp>
        <p:sp>
          <p:nvSpPr>
            <p:cNvPr id="98" name="Line 98"/>
            <p:cNvSpPr/>
            <p:nvPr/>
          </p:nvSpPr>
          <p:spPr>
            <a:xfrm>
              <a:off x="6572250" y="3733800"/>
              <a:ext cx="476250" cy="228600"/>
            </a:xfrm>
            <a:custGeom>
              <a:avLst/>
              <a:gdLst/>
              <a:ahLst/>
              <a:cxnLst/>
              <a:rect l="l" t="t" r="r" b="b"/>
              <a:pathLst>
                <a:path w="476250" h="228600">
                  <a:moveTo>
                    <a:pt x="0" y="228600"/>
                  </a:moveTo>
                  <a:lnTo>
                    <a:pt x="476250" y="0"/>
                  </a:lnTo>
                </a:path>
              </a:pathLst>
            </a:custGeom>
            <a:noFill/>
            <a:ln w="11430">
              <a:solidFill>
                <a:srgbClr val="E9563C"/>
              </a:solidFill>
              <a:custDash>
                <a:ds d="250000" sp="166667"/>
              </a:custDash>
            </a:ln>
          </p:spPr>
        </p:sp>
        <p:sp>
          <p:nvSpPr>
            <p:cNvPr id="99" name="Line 99"/>
            <p:cNvSpPr/>
            <p:nvPr/>
          </p:nvSpPr>
          <p:spPr>
            <a:xfrm>
              <a:off x="6686550" y="4362450"/>
              <a:ext cx="361950" cy="9525"/>
            </a:xfrm>
            <a:custGeom>
              <a:avLst/>
              <a:gdLst/>
              <a:ahLst/>
              <a:cxnLst/>
              <a:rect l="l" t="t" r="r" b="b"/>
              <a:pathLst>
                <a:path w="361950" h="9525">
                  <a:moveTo>
                    <a:pt x="0" y="0"/>
                  </a:moveTo>
                  <a:lnTo>
                    <a:pt x="361950" y="0"/>
                  </a:lnTo>
                </a:path>
              </a:pathLst>
            </a:custGeom>
            <a:noFill/>
            <a:ln w="11430">
              <a:solidFill>
                <a:srgbClr val="E9563C"/>
              </a:solidFill>
              <a:custDash>
                <a:ds d="250000" sp="166667"/>
              </a:custDash>
            </a:ln>
          </p:spPr>
        </p:sp>
        <p:sp>
          <p:nvSpPr>
            <p:cNvPr id="100" name="Line 100"/>
            <p:cNvSpPr/>
            <p:nvPr/>
          </p:nvSpPr>
          <p:spPr>
            <a:xfrm>
              <a:off x="6572250" y="4762500"/>
              <a:ext cx="476250" cy="228600"/>
            </a:xfrm>
            <a:custGeom>
              <a:avLst/>
              <a:gdLst/>
              <a:ahLst/>
              <a:cxnLst/>
              <a:rect l="l" t="t" r="r" b="b"/>
              <a:pathLst>
                <a:path w="476250" h="228600">
                  <a:moveTo>
                    <a:pt x="0" y="0"/>
                  </a:moveTo>
                  <a:lnTo>
                    <a:pt x="476250" y="228600"/>
                  </a:lnTo>
                </a:path>
              </a:pathLst>
            </a:custGeom>
            <a:noFill/>
            <a:ln w="11430">
              <a:solidFill>
                <a:srgbClr val="E9563C"/>
              </a:solidFill>
              <a:custDash>
                <a:ds d="250000" sp="166667"/>
              </a:custDash>
            </a:ln>
          </p:spPr>
        </p:sp>
        <p:sp>
          <p:nvSpPr>
            <p:cNvPr id="101" name="Ellipse 101"/>
            <p:cNvSpPr/>
            <p:nvPr/>
          </p:nvSpPr>
          <p:spPr>
            <a:xfrm>
              <a:off x="7048500" y="3562350"/>
              <a:ext cx="304800" cy="304800"/>
            </a:xfrm>
            <a:prstGeom prst="ellipse">
              <a:avLst/>
            </a:prstGeom>
            <a:solidFill>
              <a:srgbClr val="FBF0D8"/>
            </a:solidFill>
            <a:ln w="11430">
              <a:solidFill>
                <a:srgbClr val="E9563C"/>
              </a:solidFill>
            </a:ln>
          </p:spPr>
        </p:sp>
        <p:grpSp>
          <p:nvGrpSpPr>
            <p:cNvPr id="104" name="Group 104"/>
            <p:cNvGrpSpPr/>
            <p:nvPr/>
          </p:nvGrpSpPr>
          <p:grpSpPr>
            <a:xfrm>
              <a:off x="7143750" y="3654844"/>
              <a:ext cx="114300" cy="119813"/>
              <a:chOff x="7143750" y="3654844"/>
              <a:chExt cx="114300" cy="119813"/>
            </a:xfrm>
          </p:grpSpPr>
          <p:sp>
            <p:nvSpPr>
              <p:cNvPr id="102" name="Freeform 102"/>
              <p:cNvSpPr/>
              <p:nvPr/>
            </p:nvSpPr>
            <p:spPr>
              <a:xfrm>
                <a:off x="7143750" y="3654844"/>
                <a:ext cx="114300" cy="52763"/>
              </a:xfrm>
              <a:custGeom>
                <a:avLst/>
                <a:gdLst/>
                <a:ahLst/>
                <a:cxnLst/>
                <a:rect l="l" t="t" r="r" b="b"/>
                <a:pathLst>
                  <a:path w="114300" h="52763">
                    <a:moveTo>
                      <a:pt x="114300" y="52763"/>
                    </a:moveTo>
                    <a:cubicBezTo>
                      <a:pt x="110709" y="26920"/>
                      <a:pt x="90267" y="6678"/>
                      <a:pt x="64391" y="3339"/>
                    </a:cubicBezTo>
                    <a:cubicBezTo>
                      <a:pt x="38515" y="0"/>
                      <a:pt x="13605" y="14391"/>
                      <a:pt x="3572" y="38475"/>
                    </a:cubicBezTo>
                    <a:moveTo>
                      <a:pt x="0" y="9900"/>
                    </a:moveTo>
                    <a:lnTo>
                      <a:pt x="0" y="38475"/>
                    </a:lnTo>
                    <a:lnTo>
                      <a:pt x="28575" y="38475"/>
                    </a:lnTo>
                  </a:path>
                </a:pathLst>
              </a:custGeom>
              <a:noFill/>
              <a:ln w="14288">
                <a:solidFill>
                  <a:srgbClr val="D6391E"/>
                </a:solidFill>
              </a:ln>
            </p:spPr>
          </p:sp>
          <p:sp>
            <p:nvSpPr>
              <p:cNvPr id="103" name="Freeform 103"/>
              <p:cNvSpPr/>
              <p:nvPr/>
            </p:nvSpPr>
            <p:spPr>
              <a:xfrm>
                <a:off x="7143750" y="3721894"/>
                <a:ext cx="114300" cy="52763"/>
              </a:xfrm>
              <a:custGeom>
                <a:avLst/>
                <a:gdLst/>
                <a:ahLst/>
                <a:cxnLst/>
                <a:rect l="l" t="t" r="r" b="b"/>
                <a:pathLst>
                  <a:path w="114300" h="52763">
                    <a:moveTo>
                      <a:pt x="0" y="0"/>
                    </a:moveTo>
                    <a:cubicBezTo>
                      <a:pt x="3591" y="25842"/>
                      <a:pt x="24033" y="46085"/>
                      <a:pt x="49909" y="49424"/>
                    </a:cubicBezTo>
                    <a:cubicBezTo>
                      <a:pt x="75785" y="52763"/>
                      <a:pt x="100695" y="38372"/>
                      <a:pt x="110728" y="14288"/>
                    </a:cubicBezTo>
                    <a:moveTo>
                      <a:pt x="114300" y="42862"/>
                    </a:moveTo>
                    <a:lnTo>
                      <a:pt x="114300" y="14288"/>
                    </a:lnTo>
                    <a:lnTo>
                      <a:pt x="85725" y="14288"/>
                    </a:lnTo>
                  </a:path>
                </a:pathLst>
              </a:custGeom>
              <a:noFill/>
              <a:ln w="14288">
                <a:solidFill>
                  <a:srgbClr val="D6391E"/>
                </a:solidFill>
              </a:ln>
            </p:spPr>
          </p:sp>
        </p:grpSp>
        <p:sp>
          <p:nvSpPr>
            <p:cNvPr id="105" name="TextBox 105"/>
            <p:cNvSpPr txBox="1"/>
            <p:nvPr/>
          </p:nvSpPr>
          <p:spPr>
            <a:xfrm>
              <a:off x="7013054" y="3908584"/>
              <a:ext cx="375691" cy="133350"/>
            </a:xfrm>
            <a:prstGeom prst="rect">
              <a:avLst/>
            </a:prstGeom>
            <a:noFill/>
            <a:ln>
              <a:noFill/>
            </a:ln>
          </p:spPr>
          <p:txBody>
            <a:bodyPr wrap="none" lIns="0" tIns="0" rIns="0" bIns="0" anchor="t" anchorCtr="0">
              <a:spAutoFit/>
            </a:bodyPr>
            <a:lstStyle/>
            <a:p>
              <a:pPr algn="ctr"/>
              <a:r>
                <a:rPr lang="zh-CN" sz="680" dirty="0">
                  <a:solidFill>
                    <a:srgbClr val="D6391E"/>
                  </a:solidFill>
                  <a:latin typeface="+mn-lt"/>
                  <a:ea typeface="+mn-ea"/>
                  <a:cs typeface="+mn-cs"/>
                </a:rPr>
                <a:t>线索流转</a:t>
              </a:r>
            </a:p>
          </p:txBody>
        </p:sp>
        <p:sp>
          <p:nvSpPr>
            <p:cNvPr id="106" name="TextBox 106"/>
            <p:cNvSpPr txBox="1"/>
            <p:nvPr/>
          </p:nvSpPr>
          <p:spPr>
            <a:xfrm>
              <a:off x="7615238" y="3595688"/>
              <a:ext cx="866775"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333333"/>
                  </a:solidFill>
                  <a:latin typeface="+mn-lt"/>
                  <a:ea typeface="+mn-ea"/>
                  <a:cs typeface="+mn-cs"/>
                </a:rPr>
                <a:t>不分年龄大小，对音</a:t>
              </a:r>
              <a:br/>
              <a:r>
                <a:rPr lang="zh-CN" sz="750" dirty="0">
                  <a:solidFill>
                    <a:srgbClr val="333333"/>
                  </a:solidFill>
                  <a:latin typeface="+mn-lt"/>
                  <a:ea typeface="+mn-ea"/>
                  <a:cs typeface="+mn-cs"/>
                </a:rPr>
                <a:t>乐需求不大</a:t>
              </a:r>
            </a:p>
          </p:txBody>
        </p:sp>
        <p:sp>
          <p:nvSpPr>
            <p:cNvPr id="107" name="Ellipse 107"/>
            <p:cNvSpPr/>
            <p:nvPr/>
          </p:nvSpPr>
          <p:spPr>
            <a:xfrm>
              <a:off x="7048500" y="4210050"/>
              <a:ext cx="304800" cy="304800"/>
            </a:xfrm>
            <a:prstGeom prst="ellipse">
              <a:avLst/>
            </a:prstGeom>
            <a:solidFill>
              <a:srgbClr val="FBF0D8"/>
            </a:solidFill>
            <a:ln w="11430">
              <a:solidFill>
                <a:srgbClr val="E9563C"/>
              </a:solidFill>
            </a:ln>
          </p:spPr>
        </p:sp>
        <p:grpSp>
          <p:nvGrpSpPr>
            <p:cNvPr id="113" name="Group 113"/>
            <p:cNvGrpSpPr/>
            <p:nvPr/>
          </p:nvGrpSpPr>
          <p:grpSpPr>
            <a:xfrm>
              <a:off x="7136606" y="4298156"/>
              <a:ext cx="128588" cy="128588"/>
              <a:chOff x="7136606" y="4298156"/>
              <a:chExt cx="128588" cy="128588"/>
            </a:xfrm>
          </p:grpSpPr>
          <p:sp>
            <p:nvSpPr>
              <p:cNvPr id="108" name="Freeform 108"/>
              <p:cNvSpPr/>
              <p:nvPr/>
            </p:nvSpPr>
            <p:spPr>
              <a:xfrm>
                <a:off x="7186612" y="42981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6391E"/>
                </a:solidFill>
              </a:ln>
            </p:spPr>
          </p:sp>
          <p:sp>
            <p:nvSpPr>
              <p:cNvPr id="109" name="Freeform 109"/>
              <p:cNvSpPr/>
              <p:nvPr/>
            </p:nvSpPr>
            <p:spPr>
              <a:xfrm>
                <a:off x="7136606" y="43981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6391E"/>
                </a:solidFill>
              </a:ln>
            </p:spPr>
          </p:sp>
          <p:sp>
            <p:nvSpPr>
              <p:cNvPr id="110" name="Freeform 110"/>
              <p:cNvSpPr/>
              <p:nvPr/>
            </p:nvSpPr>
            <p:spPr>
              <a:xfrm>
                <a:off x="7236619" y="43981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D6391E"/>
                </a:solidFill>
              </a:ln>
            </p:spPr>
          </p:sp>
          <p:sp>
            <p:nvSpPr>
              <p:cNvPr id="111" name="Freeform 111"/>
              <p:cNvSpPr/>
              <p:nvPr/>
            </p:nvSpPr>
            <p:spPr>
              <a:xfrm>
                <a:off x="7161609" y="4369594"/>
                <a:ext cx="78581" cy="32147"/>
              </a:xfrm>
              <a:custGeom>
                <a:avLst/>
                <a:gdLst/>
                <a:ahLst/>
                <a:cxnLst/>
                <a:rect l="l" t="t" r="r" b="b"/>
                <a:pathLst>
                  <a:path w="78581" h="32147">
                    <a:moveTo>
                      <a:pt x="0" y="32147"/>
                    </a:moveTo>
                    <a:lnTo>
                      <a:pt x="39291" y="0"/>
                    </a:lnTo>
                    <a:lnTo>
                      <a:pt x="78581" y="32147"/>
                    </a:lnTo>
                  </a:path>
                </a:pathLst>
              </a:custGeom>
              <a:noFill/>
              <a:ln w="14288">
                <a:solidFill>
                  <a:srgbClr val="D6391E"/>
                </a:solidFill>
              </a:ln>
            </p:spPr>
          </p:sp>
          <p:sp>
            <p:nvSpPr>
              <p:cNvPr id="112" name="Freeform 112"/>
              <p:cNvSpPr/>
              <p:nvPr/>
            </p:nvSpPr>
            <p:spPr>
              <a:xfrm>
                <a:off x="7200900" y="4326731"/>
                <a:ext cx="9525" cy="42862"/>
              </a:xfrm>
              <a:custGeom>
                <a:avLst/>
                <a:gdLst/>
                <a:ahLst/>
                <a:cxnLst/>
                <a:rect l="l" t="t" r="r" b="b"/>
                <a:pathLst>
                  <a:path w="9525" h="42862">
                    <a:moveTo>
                      <a:pt x="0" y="0"/>
                    </a:moveTo>
                    <a:lnTo>
                      <a:pt x="0" y="42862"/>
                    </a:lnTo>
                  </a:path>
                </a:pathLst>
              </a:custGeom>
              <a:noFill/>
              <a:ln w="14288">
                <a:solidFill>
                  <a:srgbClr val="D6391E"/>
                </a:solidFill>
              </a:ln>
            </p:spPr>
          </p:sp>
        </p:grpSp>
        <p:sp>
          <p:nvSpPr>
            <p:cNvPr id="114" name="TextBox 114"/>
            <p:cNvSpPr txBox="1"/>
            <p:nvPr/>
          </p:nvSpPr>
          <p:spPr>
            <a:xfrm>
              <a:off x="7013054" y="4556284"/>
              <a:ext cx="375691" cy="133350"/>
            </a:xfrm>
            <a:prstGeom prst="rect">
              <a:avLst/>
            </a:prstGeom>
            <a:noFill/>
            <a:ln>
              <a:noFill/>
            </a:ln>
          </p:spPr>
          <p:txBody>
            <a:bodyPr wrap="none" lIns="0" tIns="0" rIns="0" bIns="0" anchor="t" anchorCtr="0">
              <a:spAutoFit/>
            </a:bodyPr>
            <a:lstStyle/>
            <a:p>
              <a:pPr algn="ctr"/>
              <a:r>
                <a:rPr lang="zh-CN" sz="680" dirty="0">
                  <a:solidFill>
                    <a:srgbClr val="D6391E"/>
                  </a:solidFill>
                  <a:latin typeface="+mn-lt"/>
                  <a:ea typeface="+mn-ea"/>
                  <a:cs typeface="+mn-cs"/>
                </a:rPr>
                <a:t>线索分派</a:t>
              </a:r>
            </a:p>
          </p:txBody>
        </p:sp>
        <p:sp>
          <p:nvSpPr>
            <p:cNvPr id="115" name="TextBox 115"/>
            <p:cNvSpPr txBox="1"/>
            <p:nvPr/>
          </p:nvSpPr>
          <p:spPr>
            <a:xfrm>
              <a:off x="7615238" y="4243388"/>
              <a:ext cx="866775"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333333"/>
                  </a:solidFill>
                  <a:latin typeface="+mn-lt"/>
                  <a:ea typeface="+mn-ea"/>
                  <a:cs typeface="+mn-cs"/>
                </a:rPr>
                <a:t>不分年龄大小，对音</a:t>
              </a:r>
              <a:br/>
              <a:r>
                <a:rPr lang="zh-CN" sz="750" dirty="0">
                  <a:solidFill>
                    <a:srgbClr val="333333"/>
                  </a:solidFill>
                  <a:latin typeface="+mn-lt"/>
                  <a:ea typeface="+mn-ea"/>
                  <a:cs typeface="+mn-cs"/>
                </a:rPr>
                <a:t>乐需求不大</a:t>
              </a:r>
            </a:p>
          </p:txBody>
        </p:sp>
        <p:sp>
          <p:nvSpPr>
            <p:cNvPr id="116" name="Ellipse 116"/>
            <p:cNvSpPr/>
            <p:nvPr/>
          </p:nvSpPr>
          <p:spPr>
            <a:xfrm>
              <a:off x="7048500" y="4857750"/>
              <a:ext cx="304800" cy="304800"/>
            </a:xfrm>
            <a:prstGeom prst="ellipse">
              <a:avLst/>
            </a:prstGeom>
            <a:solidFill>
              <a:srgbClr val="FBF0D8"/>
            </a:solidFill>
            <a:ln w="11430">
              <a:solidFill>
                <a:srgbClr val="E9563C"/>
              </a:solidFill>
            </a:ln>
          </p:spPr>
        </p:sp>
        <p:grpSp>
          <p:nvGrpSpPr>
            <p:cNvPr id="120" name="Group 120"/>
            <p:cNvGrpSpPr/>
            <p:nvPr/>
          </p:nvGrpSpPr>
          <p:grpSpPr>
            <a:xfrm>
              <a:off x="7141494" y="4953000"/>
              <a:ext cx="116556" cy="116557"/>
              <a:chOff x="7141494" y="4953000"/>
              <a:chExt cx="116556" cy="116557"/>
            </a:xfrm>
          </p:grpSpPr>
          <p:sp>
            <p:nvSpPr>
              <p:cNvPr id="117" name="Freeform 117"/>
              <p:cNvSpPr/>
              <p:nvPr/>
            </p:nvSpPr>
            <p:spPr>
              <a:xfrm>
                <a:off x="7143750" y="4953000"/>
                <a:ext cx="114300" cy="114300"/>
              </a:xfrm>
              <a:custGeom>
                <a:avLst/>
                <a:gdLst/>
                <a:ahLst/>
                <a:cxnLst/>
                <a:rect l="l" t="t" r="r" b="b"/>
                <a:pathLst>
                  <a:path w="114300" h="114300">
                    <a:moveTo>
                      <a:pt x="0" y="64294"/>
                    </a:moveTo>
                    <a:cubicBezTo>
                      <a:pt x="26219" y="67410"/>
                      <a:pt x="46890" y="88081"/>
                      <a:pt x="50006" y="114300"/>
                    </a:cubicBezTo>
                    <a:cubicBezTo>
                      <a:pt x="62844" y="106899"/>
                      <a:pt x="70948" y="93392"/>
                      <a:pt x="71438" y="78581"/>
                    </a:cubicBezTo>
                    <a:cubicBezTo>
                      <a:pt x="95968" y="69952"/>
                      <a:pt x="112884" y="47396"/>
                      <a:pt x="114300" y="21431"/>
                    </a:cubicBezTo>
                    <a:cubicBezTo>
                      <a:pt x="114300" y="9595"/>
                      <a:pt x="104705" y="0"/>
                      <a:pt x="92869" y="0"/>
                    </a:cubicBezTo>
                    <a:cubicBezTo>
                      <a:pt x="66904" y="1416"/>
                      <a:pt x="44348" y="18332"/>
                      <a:pt x="35719" y="42862"/>
                    </a:cubicBezTo>
                    <a:cubicBezTo>
                      <a:pt x="20908" y="43352"/>
                      <a:pt x="7401" y="51456"/>
                      <a:pt x="0" y="64294"/>
                    </a:cubicBezTo>
                  </a:path>
                </a:pathLst>
              </a:custGeom>
              <a:noFill/>
              <a:ln w="14288">
                <a:solidFill>
                  <a:srgbClr val="D6391E"/>
                </a:solidFill>
              </a:ln>
            </p:spPr>
          </p:sp>
          <p:sp>
            <p:nvSpPr>
              <p:cNvPr id="118" name="Freeform 118"/>
              <p:cNvSpPr/>
              <p:nvPr/>
            </p:nvSpPr>
            <p:spPr>
              <a:xfrm>
                <a:off x="7141494" y="5024438"/>
                <a:ext cx="45119" cy="45119"/>
              </a:xfrm>
              <a:custGeom>
                <a:avLst/>
                <a:gdLst/>
                <a:ahLst/>
                <a:cxnLst/>
                <a:rect l="l" t="t" r="r" b="b"/>
                <a:pathLst>
                  <a:path w="45119" h="45119">
                    <a:moveTo>
                      <a:pt x="23688" y="0"/>
                    </a:moveTo>
                    <a:cubicBezTo>
                      <a:pt x="8478" y="8587"/>
                      <a:pt x="0" y="25543"/>
                      <a:pt x="2256" y="42862"/>
                    </a:cubicBezTo>
                    <a:cubicBezTo>
                      <a:pt x="19576" y="45119"/>
                      <a:pt x="36532" y="36641"/>
                      <a:pt x="45119" y="21431"/>
                    </a:cubicBezTo>
                  </a:path>
                </a:pathLst>
              </a:custGeom>
              <a:noFill/>
              <a:ln w="14288">
                <a:solidFill>
                  <a:srgbClr val="D6391E"/>
                </a:solidFill>
              </a:ln>
            </p:spPr>
          </p:sp>
          <p:sp>
            <p:nvSpPr>
              <p:cNvPr id="119" name="Freeform 119"/>
              <p:cNvSpPr/>
              <p:nvPr/>
            </p:nvSpPr>
            <p:spPr>
              <a:xfrm>
                <a:off x="7215188" y="4981575"/>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D6391E"/>
                </a:solidFill>
              </a:ln>
            </p:spPr>
          </p:sp>
        </p:grpSp>
        <p:sp>
          <p:nvSpPr>
            <p:cNvPr id="121" name="TextBox 121"/>
            <p:cNvSpPr txBox="1"/>
            <p:nvPr/>
          </p:nvSpPr>
          <p:spPr>
            <a:xfrm>
              <a:off x="7013054" y="5203984"/>
              <a:ext cx="375691" cy="133350"/>
            </a:xfrm>
            <a:prstGeom prst="rect">
              <a:avLst/>
            </a:prstGeom>
            <a:noFill/>
            <a:ln>
              <a:noFill/>
            </a:ln>
          </p:spPr>
          <p:txBody>
            <a:bodyPr wrap="none" lIns="0" tIns="0" rIns="0" bIns="0" anchor="t" anchorCtr="0">
              <a:spAutoFit/>
            </a:bodyPr>
            <a:lstStyle/>
            <a:p>
              <a:pPr algn="ctr"/>
              <a:r>
                <a:rPr lang="zh-CN" sz="680" dirty="0">
                  <a:solidFill>
                    <a:srgbClr val="D6391E"/>
                  </a:solidFill>
                  <a:latin typeface="+mn-lt"/>
                  <a:ea typeface="+mn-ea"/>
                  <a:cs typeface="+mn-cs"/>
                </a:rPr>
                <a:t>销单加速</a:t>
              </a:r>
            </a:p>
          </p:txBody>
        </p:sp>
        <p:sp>
          <p:nvSpPr>
            <p:cNvPr id="122" name="TextBox 122"/>
            <p:cNvSpPr txBox="1"/>
            <p:nvPr/>
          </p:nvSpPr>
          <p:spPr>
            <a:xfrm>
              <a:off x="7615238" y="4891088"/>
              <a:ext cx="866775" cy="280988"/>
            </a:xfrm>
            <a:prstGeom prst="rect">
              <a:avLst/>
            </a:prstGeom>
            <a:noFill/>
            <a:ln>
              <a:noFill/>
            </a:ln>
          </p:spPr>
          <p:txBody>
            <a:bodyPr wrap="none" lIns="0" tIns="0" rIns="0" bIns="0" anchor="t" anchorCtr="0">
              <a:spAutoFit/>
            </a:bodyPr>
            <a:lstStyle/>
            <a:p>
              <a:pPr algn="l">
                <a:lnSpc>
                  <a:spcPts val="1050"/>
                </a:lnSpc>
              </a:pPr>
              <a:r>
                <a:rPr lang="zh-CN" sz="750" dirty="0">
                  <a:solidFill>
                    <a:srgbClr val="333333"/>
                  </a:solidFill>
                  <a:latin typeface="+mn-lt"/>
                  <a:ea typeface="+mn-ea"/>
                  <a:cs typeface="+mn-cs"/>
                </a:rPr>
                <a:t>不分年龄大小，对音</a:t>
              </a:r>
              <a:br/>
              <a:r>
                <a:rPr lang="zh-CN" sz="750" dirty="0">
                  <a:solidFill>
                    <a:srgbClr val="333333"/>
                  </a:solidFill>
                  <a:latin typeface="+mn-lt"/>
                  <a:ea typeface="+mn-ea"/>
                  <a:cs typeface="+mn-cs"/>
                </a:rPr>
                <a:t>乐需求不大</a:t>
              </a:r>
            </a:p>
          </p:txBody>
        </p:sp>
      </p:grpSp>
      <p:grpSp>
        <p:nvGrpSpPr>
          <p:cNvPr id="130" name="row3-cube"/>
          <p:cNvGrpSpPr/>
          <p:nvPr/>
        </p:nvGrpSpPr>
        <p:grpSpPr>
          <a:xfrm>
            <a:off x="8858250" y="3238500"/>
            <a:ext cx="2952750" cy="2286000"/>
            <a:chOff x="8858250" y="3238500"/>
            <a:chExt cx="2952750" cy="2286000"/>
          </a:xfrm>
        </p:grpSpPr>
        <p:sp>
          <p:nvSpPr>
            <p:cNvPr id="124" name="Rectangle 124"/>
            <p:cNvSpPr/>
            <p:nvPr/>
          </p:nvSpPr>
          <p:spPr>
            <a:xfrm>
              <a:off x="8858250" y="3238500"/>
              <a:ext cx="2952750" cy="2286000"/>
            </a:xfrm>
            <a:prstGeom prst="roundRect">
              <a:avLst>
                <a:gd name="adj" fmla="val 2500"/>
              </a:avLst>
            </a:prstGeom>
            <a:solidFill>
              <a:srgbClr val="FDF6E7"/>
            </a:solidFill>
            <a:ln w="11430">
              <a:solidFill>
                <a:srgbClr val="E9563C"/>
              </a:solidFill>
              <a:custDash>
                <a:ds d="416667" sp="250000"/>
              </a:custDash>
            </a:ln>
          </p:spPr>
        </p:sp>
        <p:sp>
          <p:nvSpPr>
            <p:cNvPr id="125" name="TextBox 125"/>
            <p:cNvSpPr txBox="1"/>
            <p:nvPr/>
          </p:nvSpPr>
          <p:spPr>
            <a:xfrm>
              <a:off x="9937763" y="3343989"/>
              <a:ext cx="222225" cy="154781"/>
            </a:xfrm>
            <a:prstGeom prst="rect">
              <a:avLst/>
            </a:prstGeom>
            <a:noFill/>
            <a:ln>
              <a:noFill/>
            </a:ln>
          </p:spPr>
          <p:txBody>
            <a:bodyPr wrap="none" lIns="0" tIns="0" rIns="0" bIns="0" anchor="t" anchorCtr="0">
              <a:spAutoFit/>
            </a:bodyPr>
            <a:lstStyle/>
            <a:p>
              <a:pPr algn="ctr"/>
              <a:r>
                <a:rPr lang="zh-CN" sz="790" b="1" dirty="0">
                  <a:solidFill>
                    <a:srgbClr val="333333"/>
                  </a:solidFill>
                  <a:latin typeface="+mn-lt"/>
                  <a:ea typeface="+mn-ea"/>
                  <a:cs typeface="+mn-cs"/>
                </a:rPr>
                <a:t>产品</a:t>
              </a:r>
            </a:p>
          </p:txBody>
        </p:sp>
        <p:sp>
          <p:nvSpPr>
            <p:cNvPr id="126" name="Freeform 126"/>
            <p:cNvSpPr/>
            <p:nvPr/>
          </p:nvSpPr>
          <p:spPr>
            <a:xfrm>
              <a:off x="9620250" y="3448050"/>
              <a:ext cx="857250" cy="857250"/>
            </a:xfrm>
            <a:prstGeom prst="cube">
              <a:avLst/>
            </a:prstGeom>
            <a:solidFill>
              <a:srgbClr val="CD9F96"/>
            </a:solidFill>
            <a:ln>
              <a:noFill/>
            </a:ln>
          </p:spPr>
        </p:sp>
        <p:sp>
          <p:nvSpPr>
            <p:cNvPr id="127" name="TextBox 127"/>
            <p:cNvSpPr txBox="1"/>
            <p:nvPr/>
          </p:nvSpPr>
          <p:spPr>
            <a:xfrm>
              <a:off x="10663238" y="3915489"/>
              <a:ext cx="222225" cy="154781"/>
            </a:xfrm>
            <a:prstGeom prst="rect">
              <a:avLst/>
            </a:prstGeom>
            <a:noFill/>
            <a:ln>
              <a:noFill/>
            </a:ln>
          </p:spPr>
          <p:txBody>
            <a:bodyPr wrap="none" lIns="0" tIns="0" rIns="0" bIns="0" anchor="t" anchorCtr="0">
              <a:spAutoFit/>
            </a:bodyPr>
            <a:lstStyle/>
            <a:p>
              <a:pPr algn="l"/>
              <a:r>
                <a:rPr lang="zh-CN" sz="790" b="1" dirty="0">
                  <a:solidFill>
                    <a:srgbClr val="333333"/>
                  </a:solidFill>
                  <a:latin typeface="+mn-lt"/>
                  <a:ea typeface="+mn-ea"/>
                  <a:cs typeface="+mn-cs"/>
                </a:rPr>
                <a:t>地域</a:t>
              </a:r>
            </a:p>
          </p:txBody>
        </p:sp>
        <p:sp>
          <p:nvSpPr>
            <p:cNvPr id="128" name="TextBox 128"/>
            <p:cNvSpPr txBox="1"/>
            <p:nvPr/>
          </p:nvSpPr>
          <p:spPr>
            <a:xfrm>
              <a:off x="9718688" y="4410789"/>
              <a:ext cx="222225" cy="154781"/>
            </a:xfrm>
            <a:prstGeom prst="rect">
              <a:avLst/>
            </a:prstGeom>
            <a:noFill/>
            <a:ln>
              <a:noFill/>
            </a:ln>
          </p:spPr>
          <p:txBody>
            <a:bodyPr wrap="none" lIns="0" tIns="0" rIns="0" bIns="0" anchor="t" anchorCtr="0">
              <a:spAutoFit/>
            </a:bodyPr>
            <a:lstStyle/>
            <a:p>
              <a:pPr algn="ctr"/>
              <a:r>
                <a:rPr lang="zh-CN" sz="790" b="1" dirty="0">
                  <a:solidFill>
                    <a:srgbClr val="333333"/>
                  </a:solidFill>
                  <a:latin typeface="+mn-lt"/>
                  <a:ea typeface="+mn-ea"/>
                  <a:cs typeface="+mn-cs"/>
                </a:rPr>
                <a:t>职能</a:t>
              </a:r>
            </a:p>
          </p:txBody>
        </p:sp>
        <p:sp>
          <p:nvSpPr>
            <p:cNvPr id="129" name="TextBox 129"/>
            <p:cNvSpPr txBox="1"/>
            <p:nvPr/>
          </p:nvSpPr>
          <p:spPr>
            <a:xfrm>
              <a:off x="9043988" y="4685586"/>
              <a:ext cx="145224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595959"/>
                  </a:solidFill>
                  <a:latin typeface="+mn-lt"/>
                  <a:ea typeface="+mn-ea"/>
                  <a:cs typeface="+mn-cs"/>
                </a:rPr>
                <a:t>集团的每部分，反映在组织上，都由</a:t>
              </a:r>
              <a:br/>
              <a:r>
                <a:rPr lang="zh-CN" sz="710" dirty="0">
                  <a:solidFill>
                    <a:srgbClr val="595959"/>
                  </a:solidFill>
                  <a:latin typeface="+mn-lt"/>
                  <a:ea typeface="+mn-ea"/>
                  <a:cs typeface="+mn-cs"/>
                </a:rPr>
                <a:t>职能、产品和地域组成。</a:t>
              </a:r>
            </a:p>
          </p:txBody>
        </p:sp>
      </p:grpSp>
      <p:grpSp>
        <p:nvGrpSpPr>
          <p:cNvPr id="133" name="page-footer"/>
          <p:cNvGrpSpPr/>
          <p:nvPr/>
        </p:nvGrpSpPr>
        <p:grpSpPr>
          <a:xfrm>
            <a:off x="376238" y="6689884"/>
            <a:ext cx="11439524" cy="133350"/>
            <a:chOff x="376238" y="6689884"/>
            <a:chExt cx="11439524" cy="133350"/>
          </a:xfrm>
        </p:grpSpPr>
        <p:sp>
          <p:nvSpPr>
            <p:cNvPr id="131" name="TextBox 131"/>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32" name="TextBox 132"/>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10</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5" name="circle-icon-card"/>
          <p:cNvGrpSpPr/>
          <p:nvPr/>
        </p:nvGrpSpPr>
        <p:grpSpPr>
          <a:xfrm>
            <a:off x="400050" y="1019175"/>
            <a:ext cx="1676400" cy="1676400"/>
            <a:chOff x="400050" y="1019175"/>
            <a:chExt cx="1676400" cy="1676400"/>
          </a:xfrm>
        </p:grpSpPr>
        <p:sp>
          <p:nvSpPr>
            <p:cNvPr id="8" name="Ellipse 8"/>
            <p:cNvSpPr/>
            <p:nvPr/>
          </p:nvSpPr>
          <p:spPr>
            <a:xfrm>
              <a:off x="400050" y="1019175"/>
              <a:ext cx="1676400" cy="1676400"/>
            </a:xfrm>
            <a:prstGeom prst="ellipse">
              <a:avLst/>
            </a:prstGeom>
            <a:solidFill>
              <a:srgbClr val="9C594C"/>
            </a:solidFill>
            <a:ln>
              <a:noFill/>
            </a:ln>
          </p:spPr>
        </p:sp>
        <p:grpSp>
          <p:nvGrpSpPr>
            <p:cNvPr id="12" name="Group 12"/>
            <p:cNvGrpSpPr/>
            <p:nvPr/>
          </p:nvGrpSpPr>
          <p:grpSpPr>
            <a:xfrm>
              <a:off x="1085850" y="1466850"/>
              <a:ext cx="304800" cy="342900"/>
              <a:chOff x="1085850" y="1466850"/>
              <a:chExt cx="304800" cy="342900"/>
            </a:xfrm>
          </p:grpSpPr>
          <p:sp>
            <p:nvSpPr>
              <p:cNvPr id="9" name="Freeform 9"/>
              <p:cNvSpPr/>
              <p:nvPr/>
            </p:nvSpPr>
            <p:spPr>
              <a:xfrm>
                <a:off x="1085850" y="1466850"/>
                <a:ext cx="304800" cy="114300"/>
              </a:xfrm>
              <a:custGeom>
                <a:avLst/>
                <a:gdLst/>
                <a:ahLst/>
                <a:cxnLst/>
                <a:rect l="l" t="t" r="r" b="b"/>
                <a:pathLst>
                  <a:path w="304800" h="114300">
                    <a:moveTo>
                      <a:pt x="0" y="57150"/>
                    </a:moveTo>
                    <a:cubicBezTo>
                      <a:pt x="0" y="88713"/>
                      <a:pt x="68232" y="114300"/>
                      <a:pt x="152400" y="114300"/>
                    </a:cubicBezTo>
                    <a:cubicBezTo>
                      <a:pt x="236568" y="114300"/>
                      <a:pt x="304800" y="88713"/>
                      <a:pt x="304800" y="57150"/>
                    </a:cubicBezTo>
                    <a:cubicBezTo>
                      <a:pt x="304800" y="25587"/>
                      <a:pt x="236568" y="0"/>
                      <a:pt x="152400" y="0"/>
                    </a:cubicBezTo>
                    <a:cubicBezTo>
                      <a:pt x="68232" y="0"/>
                      <a:pt x="0" y="25587"/>
                      <a:pt x="0" y="57150"/>
                    </a:cubicBezTo>
                  </a:path>
                </a:pathLst>
              </a:custGeom>
              <a:noFill/>
              <a:ln w="38100">
                <a:solidFill>
                  <a:srgbClr val="FFFFFF"/>
                </a:solidFill>
              </a:ln>
            </p:spPr>
          </p:sp>
          <p:sp>
            <p:nvSpPr>
              <p:cNvPr id="10" name="Freeform 10"/>
              <p:cNvSpPr/>
              <p:nvPr/>
            </p:nvSpPr>
            <p:spPr>
              <a:xfrm>
                <a:off x="1085850" y="152400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38100">
                <a:solidFill>
                  <a:srgbClr val="FFFFFF"/>
                </a:solidFill>
              </a:ln>
            </p:spPr>
          </p:sp>
          <p:sp>
            <p:nvSpPr>
              <p:cNvPr id="11" name="Freeform 11"/>
              <p:cNvSpPr/>
              <p:nvPr/>
            </p:nvSpPr>
            <p:spPr>
              <a:xfrm>
                <a:off x="1085850" y="163830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38100">
                <a:solidFill>
                  <a:srgbClr val="FFFFFF"/>
                </a:solidFill>
              </a:ln>
            </p:spPr>
          </p:sp>
        </p:grpSp>
        <p:sp>
          <p:nvSpPr>
            <p:cNvPr id="13" name="TextBox 13"/>
            <p:cNvSpPr txBox="1"/>
            <p:nvPr/>
          </p:nvSpPr>
          <p:spPr>
            <a:xfrm>
              <a:off x="800989" y="2034064"/>
              <a:ext cx="874522"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统一标准化</a:t>
              </a:r>
            </a:p>
          </p:txBody>
        </p:sp>
        <p:sp>
          <p:nvSpPr>
            <p:cNvPr id="14" name="TextBox 14"/>
            <p:cNvSpPr txBox="1"/>
            <p:nvPr/>
          </p:nvSpPr>
          <p:spPr>
            <a:xfrm>
              <a:off x="887146" y="2253139"/>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数字接口</a:t>
              </a:r>
            </a:p>
          </p:txBody>
        </p:sp>
      </p:grpSp>
      <p:grpSp>
        <p:nvGrpSpPr>
          <p:cNvPr id="18" name="link-arrows"/>
          <p:cNvGrpSpPr/>
          <p:nvPr/>
        </p:nvGrpSpPr>
        <p:grpSpPr>
          <a:xfrm>
            <a:off x="2171700" y="1447800"/>
            <a:ext cx="647700" cy="838200"/>
            <a:chOff x="2171700" y="1447800"/>
            <a:chExt cx="647700" cy="838200"/>
          </a:xfrm>
        </p:grpSpPr>
        <p:sp>
          <p:nvSpPr>
            <p:cNvPr id="16" name="Line 16"/>
            <p:cNvSpPr/>
            <p:nvPr/>
          </p:nvSpPr>
          <p:spPr>
            <a:xfrm flipH="1">
              <a:off x="2171700" y="1447800"/>
              <a:ext cx="647700" cy="190500"/>
            </a:xfrm>
            <a:prstGeom prst="line">
              <a:avLst/>
            </a:prstGeom>
            <a:noFill/>
            <a:ln w="11430">
              <a:solidFill>
                <a:srgbClr val="9C594C"/>
              </a:solidFill>
              <a:custDash>
                <a:ds d="333333" sp="250000"/>
              </a:custDash>
              <a:tailEnd type="triangle" w="lg" len="lg"/>
            </a:ln>
          </p:spPr>
        </p:sp>
        <p:sp>
          <p:nvSpPr>
            <p:cNvPr id="17" name="Line 17"/>
            <p:cNvSpPr/>
            <p:nvPr/>
          </p:nvSpPr>
          <p:spPr>
            <a:xfrm flipH="1" flipV="1">
              <a:off x="2171700" y="2114550"/>
              <a:ext cx="647700" cy="171450"/>
            </a:xfrm>
            <a:prstGeom prst="line">
              <a:avLst/>
            </a:prstGeom>
            <a:noFill/>
            <a:ln w="11430">
              <a:solidFill>
                <a:srgbClr val="9C594C"/>
              </a:solidFill>
              <a:custDash>
                <a:ds d="333333" sp="250000"/>
              </a:custDash>
              <a:tailEnd type="triangle" w="lg" len="lg"/>
            </a:ln>
          </p:spPr>
        </p:sp>
      </p:grpSp>
      <p:grpSp>
        <p:nvGrpSpPr>
          <p:cNvPr id="37" name="progress-card"/>
          <p:cNvGrpSpPr/>
          <p:nvPr/>
        </p:nvGrpSpPr>
        <p:grpSpPr>
          <a:xfrm>
            <a:off x="2857500" y="952500"/>
            <a:ext cx="3048000" cy="1866900"/>
            <a:chOff x="2857500" y="952500"/>
            <a:chExt cx="3048000" cy="1866900"/>
          </a:xfrm>
        </p:grpSpPr>
        <p:sp>
          <p:nvSpPr>
            <p:cNvPr id="19" name="Rectangle 19"/>
            <p:cNvSpPr/>
            <p:nvPr/>
          </p:nvSpPr>
          <p:spPr>
            <a:xfrm>
              <a:off x="2857500" y="952500"/>
              <a:ext cx="3048000" cy="1866900"/>
            </a:xfrm>
            <a:prstGeom prst="rect">
              <a:avLst/>
            </a:prstGeom>
            <a:solidFill>
              <a:srgbClr val="F4F8EF"/>
            </a:solidFill>
            <a:ln>
              <a:noFill/>
            </a:ln>
          </p:spPr>
        </p:sp>
        <p:sp>
          <p:nvSpPr>
            <p:cNvPr id="20" name="Rectangle 20"/>
            <p:cNvSpPr/>
            <p:nvPr/>
          </p:nvSpPr>
          <p:spPr>
            <a:xfrm>
              <a:off x="3067050" y="1123950"/>
              <a:ext cx="381000" cy="209550"/>
            </a:xfrm>
            <a:prstGeom prst="rect">
              <a:avLst/>
            </a:prstGeom>
            <a:solidFill>
              <a:srgbClr val="E9563C"/>
            </a:solidFill>
            <a:ln>
              <a:noFill/>
            </a:ln>
          </p:spPr>
        </p:sp>
        <p:sp>
          <p:nvSpPr>
            <p:cNvPr id="21" name="TextBox 21"/>
            <p:cNvSpPr txBox="1"/>
            <p:nvPr/>
          </p:nvSpPr>
          <p:spPr>
            <a:xfrm>
              <a:off x="3189038" y="118729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01</a:t>
              </a:r>
            </a:p>
          </p:txBody>
        </p:sp>
        <p:sp>
          <p:nvSpPr>
            <p:cNvPr id="22" name="TextBox 22"/>
            <p:cNvSpPr txBox="1"/>
            <p:nvPr/>
          </p:nvSpPr>
          <p:spPr>
            <a:xfrm>
              <a:off x="3538538" y="1179195"/>
              <a:ext cx="1221105" cy="176212"/>
            </a:xfrm>
            <a:prstGeom prst="rect">
              <a:avLst/>
            </a:prstGeom>
            <a:noFill/>
            <a:ln>
              <a:noFill/>
            </a:ln>
          </p:spPr>
          <p:txBody>
            <a:bodyPr wrap="none" lIns="0" tIns="0" rIns="0" bIns="0" anchor="t" anchorCtr="0">
              <a:spAutoFit/>
            </a:bodyPr>
            <a:lstStyle/>
            <a:p>
              <a:pPr algn="l"/>
              <a:r>
                <a:rPr lang="zh-CN" sz="900" b="1" dirty="0">
                  <a:solidFill>
                    <a:srgbClr val="333333"/>
                  </a:solidFill>
                  <a:latin typeface="+mn-lt"/>
                  <a:ea typeface="+mn-ea"/>
                  <a:cs typeface="+mn-cs"/>
                </a:rPr>
                <a:t>统一维护共建内容规范</a:t>
              </a:r>
            </a:p>
          </p:txBody>
        </p:sp>
        <p:sp>
          <p:nvSpPr>
            <p:cNvPr id="23" name="TextBox 23"/>
            <p:cNvSpPr txBox="1"/>
            <p:nvPr/>
          </p:nvSpPr>
          <p:spPr>
            <a:xfrm>
              <a:off x="3062288" y="1538288"/>
              <a:ext cx="56407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进度：</a:t>
              </a:r>
              <a:r>
                <a:rPr lang="zh-CN" sz="750" b="1" dirty="0">
                  <a:solidFill>
                    <a:srgbClr val="333333"/>
                  </a:solidFill>
                  <a:latin typeface="+mn-lt"/>
                  <a:ea typeface="+mn-ea"/>
                  <a:cs typeface="+mn-cs"/>
                </a:rPr>
                <a:t>50%</a:t>
              </a:r>
              <a:r>
                <a:rPr lang="zh-CN" sz="750" dirty="0">
                  <a:solidFill>
                    <a:srgbClr val="333333"/>
                  </a:solidFill>
                  <a:latin typeface="+mn-lt"/>
                  <a:ea typeface="+mn-ea"/>
                  <a:cs typeface="+mn-cs"/>
                </a:rPr>
                <a:t>​</a:t>
              </a:r>
            </a:p>
          </p:txBody>
        </p:sp>
        <p:sp>
          <p:nvSpPr>
            <p:cNvPr id="24" name="Rectangle 24"/>
            <p:cNvSpPr/>
            <p:nvPr/>
          </p:nvSpPr>
          <p:spPr>
            <a:xfrm>
              <a:off x="3619500" y="1533525"/>
              <a:ext cx="1905000" cy="76200"/>
            </a:xfrm>
            <a:prstGeom prst="roundRect">
              <a:avLst>
                <a:gd name="adj" fmla="val 50000"/>
              </a:avLst>
            </a:prstGeom>
            <a:solidFill>
              <a:srgbClr val="E5E9E2"/>
            </a:solidFill>
            <a:ln>
              <a:noFill/>
            </a:ln>
          </p:spPr>
        </p:sp>
        <p:sp>
          <p:nvSpPr>
            <p:cNvPr id="25" name="Rectangle 25"/>
            <p:cNvSpPr/>
            <p:nvPr/>
          </p:nvSpPr>
          <p:spPr>
            <a:xfrm>
              <a:off x="3619500" y="1533525"/>
              <a:ext cx="952500" cy="76200"/>
            </a:xfrm>
            <a:prstGeom prst="roundRect">
              <a:avLst>
                <a:gd name="adj" fmla="val 50000"/>
              </a:avLst>
            </a:prstGeom>
            <a:solidFill>
              <a:srgbClr val="9C594C"/>
            </a:solidFill>
            <a:ln>
              <a:noFill/>
            </a:ln>
          </p:spPr>
        </p:sp>
        <p:sp>
          <p:nvSpPr>
            <p:cNvPr id="26" name="TextBox 26"/>
            <p:cNvSpPr txBox="1"/>
            <p:nvPr/>
          </p:nvSpPr>
          <p:spPr>
            <a:xfrm>
              <a:off x="3062288" y="1804988"/>
              <a:ext cx="51435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功能描述：</a:t>
              </a:r>
            </a:p>
          </p:txBody>
        </p:sp>
        <p:sp>
          <p:nvSpPr>
            <p:cNvPr id="27" name="Rectangle 27"/>
            <p:cNvSpPr/>
            <p:nvPr/>
          </p:nvSpPr>
          <p:spPr>
            <a:xfrm>
              <a:off x="3619500" y="1752600"/>
              <a:ext cx="742950" cy="171450"/>
            </a:xfrm>
            <a:prstGeom prst="roundRect">
              <a:avLst>
                <a:gd name="adj" fmla="val 50000"/>
              </a:avLst>
            </a:prstGeom>
            <a:solidFill>
              <a:srgbClr val="FFFFFF"/>
            </a:solidFill>
            <a:ln w="9525">
              <a:solidFill>
                <a:srgbClr val="9C594C"/>
              </a:solidFill>
            </a:ln>
          </p:spPr>
        </p:sp>
        <p:sp>
          <p:nvSpPr>
            <p:cNvPr id="28" name="TextBox 28"/>
            <p:cNvSpPr txBox="1"/>
            <p:nvPr/>
          </p:nvSpPr>
          <p:spPr>
            <a:xfrm>
              <a:off x="3747262" y="1799511"/>
              <a:ext cx="48742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有语音功能</a:t>
              </a:r>
            </a:p>
          </p:txBody>
        </p:sp>
        <p:sp>
          <p:nvSpPr>
            <p:cNvPr id="29" name="Rectangle 29"/>
            <p:cNvSpPr/>
            <p:nvPr/>
          </p:nvSpPr>
          <p:spPr>
            <a:xfrm>
              <a:off x="4476750" y="1752600"/>
              <a:ext cx="742950" cy="171450"/>
            </a:xfrm>
            <a:prstGeom prst="roundRect">
              <a:avLst>
                <a:gd name="adj" fmla="val 50000"/>
              </a:avLst>
            </a:prstGeom>
            <a:solidFill>
              <a:srgbClr val="FFFFFF"/>
            </a:solidFill>
            <a:ln w="9525">
              <a:solidFill>
                <a:srgbClr val="9C594C"/>
              </a:solidFill>
            </a:ln>
          </p:spPr>
        </p:sp>
        <p:sp>
          <p:nvSpPr>
            <p:cNvPr id="30" name="TextBox 30"/>
            <p:cNvSpPr txBox="1"/>
            <p:nvPr/>
          </p:nvSpPr>
          <p:spPr>
            <a:xfrm>
              <a:off x="4604512" y="1799511"/>
              <a:ext cx="48742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有内容规范</a:t>
              </a:r>
            </a:p>
          </p:txBody>
        </p:sp>
        <p:sp>
          <p:nvSpPr>
            <p:cNvPr id="31" name="Rectangle 31"/>
            <p:cNvSpPr/>
            <p:nvPr/>
          </p:nvSpPr>
          <p:spPr>
            <a:xfrm>
              <a:off x="3067050" y="2152650"/>
              <a:ext cx="381000" cy="209550"/>
            </a:xfrm>
            <a:prstGeom prst="rect">
              <a:avLst/>
            </a:prstGeom>
            <a:solidFill>
              <a:srgbClr val="E9563C"/>
            </a:solidFill>
            <a:ln>
              <a:noFill/>
            </a:ln>
          </p:spPr>
        </p:sp>
        <p:sp>
          <p:nvSpPr>
            <p:cNvPr id="32" name="TextBox 32"/>
            <p:cNvSpPr txBox="1"/>
            <p:nvPr/>
          </p:nvSpPr>
          <p:spPr>
            <a:xfrm>
              <a:off x="3189038" y="2215991"/>
              <a:ext cx="13702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02</a:t>
              </a:r>
            </a:p>
          </p:txBody>
        </p:sp>
        <p:sp>
          <p:nvSpPr>
            <p:cNvPr id="33" name="TextBox 33"/>
            <p:cNvSpPr txBox="1"/>
            <p:nvPr/>
          </p:nvSpPr>
          <p:spPr>
            <a:xfrm>
              <a:off x="3538538" y="2207895"/>
              <a:ext cx="1342263" cy="176212"/>
            </a:xfrm>
            <a:prstGeom prst="rect">
              <a:avLst/>
            </a:prstGeom>
            <a:noFill/>
            <a:ln>
              <a:noFill/>
            </a:ln>
          </p:spPr>
          <p:txBody>
            <a:bodyPr wrap="none" lIns="0" tIns="0" rIns="0" bIns="0" anchor="t" anchorCtr="0">
              <a:spAutoFit/>
            </a:bodyPr>
            <a:lstStyle/>
            <a:p>
              <a:pPr algn="l"/>
              <a:r>
                <a:rPr lang="zh-CN" sz="900" b="1" dirty="0">
                  <a:solidFill>
                    <a:srgbClr val="333333"/>
                  </a:solidFill>
                  <a:latin typeface="+mn-lt"/>
                  <a:ea typeface="+mn-ea"/>
                  <a:cs typeface="+mn-cs"/>
                </a:rPr>
                <a:t>协同过程中规范标准动作</a:t>
              </a:r>
            </a:p>
          </p:txBody>
        </p:sp>
        <p:sp>
          <p:nvSpPr>
            <p:cNvPr id="34" name="TextBox 34"/>
            <p:cNvSpPr txBox="1"/>
            <p:nvPr/>
          </p:nvSpPr>
          <p:spPr>
            <a:xfrm>
              <a:off x="3062288" y="2566988"/>
              <a:ext cx="56407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进度：</a:t>
              </a:r>
              <a:r>
                <a:rPr lang="zh-CN" sz="750" b="1" dirty="0">
                  <a:solidFill>
                    <a:srgbClr val="333333"/>
                  </a:solidFill>
                  <a:latin typeface="+mn-lt"/>
                  <a:ea typeface="+mn-ea"/>
                  <a:cs typeface="+mn-cs"/>
                </a:rPr>
                <a:t>30%</a:t>
              </a:r>
              <a:r>
                <a:rPr lang="zh-CN" sz="750" dirty="0">
                  <a:solidFill>
                    <a:srgbClr val="333333"/>
                  </a:solidFill>
                  <a:latin typeface="+mn-lt"/>
                  <a:ea typeface="+mn-ea"/>
                  <a:cs typeface="+mn-cs"/>
                </a:rPr>
                <a:t>​</a:t>
              </a:r>
            </a:p>
          </p:txBody>
        </p:sp>
        <p:sp>
          <p:nvSpPr>
            <p:cNvPr id="35" name="Rectangle 35"/>
            <p:cNvSpPr/>
            <p:nvPr/>
          </p:nvSpPr>
          <p:spPr>
            <a:xfrm>
              <a:off x="3619500" y="2562225"/>
              <a:ext cx="1905000" cy="76200"/>
            </a:xfrm>
            <a:prstGeom prst="roundRect">
              <a:avLst>
                <a:gd name="adj" fmla="val 50000"/>
              </a:avLst>
            </a:prstGeom>
            <a:solidFill>
              <a:srgbClr val="E5E9E2"/>
            </a:solidFill>
            <a:ln>
              <a:noFill/>
            </a:ln>
          </p:spPr>
        </p:sp>
        <p:sp>
          <p:nvSpPr>
            <p:cNvPr id="36" name="Rectangle 36"/>
            <p:cNvSpPr/>
            <p:nvPr/>
          </p:nvSpPr>
          <p:spPr>
            <a:xfrm>
              <a:off x="3619500" y="2562225"/>
              <a:ext cx="571500" cy="76200"/>
            </a:xfrm>
            <a:prstGeom prst="roundRect">
              <a:avLst>
                <a:gd name="adj" fmla="val 50000"/>
              </a:avLst>
            </a:prstGeom>
            <a:solidFill>
              <a:srgbClr val="9C594C"/>
            </a:solidFill>
            <a:ln>
              <a:noFill/>
            </a:ln>
          </p:spPr>
        </p:sp>
      </p:grpSp>
      <p:grpSp>
        <p:nvGrpSpPr>
          <p:cNvPr id="57" name="ux-pyramid"/>
          <p:cNvGrpSpPr/>
          <p:nvPr/>
        </p:nvGrpSpPr>
        <p:grpSpPr>
          <a:xfrm>
            <a:off x="5962650" y="1095375"/>
            <a:ext cx="4133850" cy="4429125"/>
            <a:chOff x="5962650" y="1095375"/>
            <a:chExt cx="4133850" cy="4429125"/>
          </a:xfrm>
        </p:grpSpPr>
        <p:sp>
          <p:nvSpPr>
            <p:cNvPr id="38" name="Rectangle 38"/>
            <p:cNvSpPr/>
            <p:nvPr/>
          </p:nvSpPr>
          <p:spPr>
            <a:xfrm>
              <a:off x="5962650" y="3143250"/>
              <a:ext cx="4133850" cy="2381250"/>
            </a:xfrm>
            <a:prstGeom prst="rect">
              <a:avLst/>
            </a:prstGeom>
            <a:solidFill>
              <a:srgbClr val="FDF8EA"/>
            </a:solidFill>
            <a:ln>
              <a:noFill/>
            </a:ln>
          </p:spPr>
        </p:sp>
        <p:sp>
          <p:nvSpPr>
            <p:cNvPr id="39" name="Line 39"/>
            <p:cNvSpPr/>
            <p:nvPr/>
          </p:nvSpPr>
          <p:spPr>
            <a:xfrm>
              <a:off x="5981700" y="1333500"/>
              <a:ext cx="1219200" cy="361950"/>
            </a:xfrm>
            <a:prstGeom prst="line">
              <a:avLst/>
            </a:prstGeom>
            <a:noFill/>
            <a:ln w="11430">
              <a:solidFill>
                <a:srgbClr val="9C594C"/>
              </a:solidFill>
              <a:custDash>
                <a:ds d="333333" sp="250000"/>
              </a:custDash>
              <a:tailEnd type="triangle" w="lg" len="lg"/>
            </a:ln>
          </p:spPr>
        </p:sp>
        <p:sp>
          <p:nvSpPr>
            <p:cNvPr id="40" name="Line 40"/>
            <p:cNvSpPr/>
            <p:nvPr/>
          </p:nvSpPr>
          <p:spPr>
            <a:xfrm>
              <a:off x="5981700" y="2381250"/>
              <a:ext cx="876300" cy="304800"/>
            </a:xfrm>
            <a:prstGeom prst="line">
              <a:avLst/>
            </a:prstGeom>
            <a:noFill/>
            <a:ln w="11430">
              <a:solidFill>
                <a:srgbClr val="9C594C"/>
              </a:solidFill>
              <a:custDash>
                <a:ds d="333333" sp="250000"/>
              </a:custDash>
              <a:tailEnd type="triangle" w="lg" len="lg"/>
            </a:ln>
          </p:spPr>
        </p:sp>
        <p:sp>
          <p:nvSpPr>
            <p:cNvPr id="41" name="Freeform 41"/>
            <p:cNvSpPr/>
            <p:nvPr/>
          </p:nvSpPr>
          <p:spPr>
            <a:xfrm>
              <a:off x="7381875" y="1095375"/>
              <a:ext cx="1333500" cy="1143000"/>
            </a:xfrm>
            <a:prstGeom prst="triangle">
              <a:avLst/>
            </a:prstGeom>
            <a:solidFill>
              <a:srgbClr val="B5766A"/>
            </a:solidFill>
            <a:ln>
              <a:noFill/>
            </a:ln>
          </p:spPr>
        </p:sp>
        <p:sp>
          <p:nvSpPr>
            <p:cNvPr id="42" name="Ellipse 42"/>
            <p:cNvSpPr/>
            <p:nvPr/>
          </p:nvSpPr>
          <p:spPr>
            <a:xfrm>
              <a:off x="7381875" y="2124075"/>
              <a:ext cx="1333500" cy="228600"/>
            </a:xfrm>
            <a:prstGeom prst="ellipse">
              <a:avLst/>
            </a:prstGeom>
            <a:solidFill>
              <a:srgbClr val="AE695C"/>
            </a:solidFill>
            <a:ln>
              <a:noFill/>
            </a:ln>
          </p:spPr>
        </p:sp>
        <p:sp>
          <p:nvSpPr>
            <p:cNvPr id="43" name="TextBox 43"/>
            <p:cNvSpPr txBox="1"/>
            <p:nvPr/>
          </p:nvSpPr>
          <p:spPr>
            <a:xfrm>
              <a:off x="7779817" y="172354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情感传递</a:t>
              </a:r>
            </a:p>
          </p:txBody>
        </p:sp>
        <p:sp>
          <p:nvSpPr>
            <p:cNvPr id="44" name="TextBox 44"/>
            <p:cNvSpPr txBox="1"/>
            <p:nvPr/>
          </p:nvSpPr>
          <p:spPr>
            <a:xfrm>
              <a:off x="7827387" y="1908334"/>
              <a:ext cx="442476" cy="133350"/>
            </a:xfrm>
            <a:prstGeom prst="rect">
              <a:avLst/>
            </a:prstGeom>
            <a:noFill/>
            <a:ln>
              <a:noFill/>
            </a:ln>
          </p:spPr>
          <p:txBody>
            <a:bodyPr wrap="none" lIns="0" tIns="0" rIns="0" bIns="0" anchor="t" anchorCtr="0">
              <a:spAutoFit/>
            </a:bodyPr>
            <a:lstStyle/>
            <a:p>
              <a:pPr algn="ctr"/>
              <a:r>
                <a:rPr lang="en-US" sz="680" dirty="0">
                  <a:solidFill>
                    <a:srgbClr val="F2F7EE"/>
                  </a:solidFill>
                  <a:latin typeface="+mn-lt"/>
                  <a:ea typeface="+mn-ea"/>
                  <a:cs typeface="+mn-cs"/>
                </a:rPr>
                <a:t>Affective</a:t>
              </a:r>
            </a:p>
          </p:txBody>
        </p:sp>
        <p:sp>
          <p:nvSpPr>
            <p:cNvPr id="45" name="Freeform 45"/>
            <p:cNvSpPr/>
            <p:nvPr/>
          </p:nvSpPr>
          <p:spPr>
            <a:xfrm>
              <a:off x="7000875" y="2428875"/>
              <a:ext cx="2095500" cy="571500"/>
            </a:xfrm>
            <a:prstGeom prst="trapezoid">
              <a:avLst>
                <a:gd name="adj" fmla="val 66667"/>
              </a:avLst>
            </a:prstGeom>
            <a:solidFill>
              <a:srgbClr val="9C594C"/>
            </a:solidFill>
            <a:ln>
              <a:noFill/>
            </a:ln>
          </p:spPr>
        </p:sp>
        <p:sp>
          <p:nvSpPr>
            <p:cNvPr id="46" name="Ellipse 46"/>
            <p:cNvSpPr/>
            <p:nvPr/>
          </p:nvSpPr>
          <p:spPr>
            <a:xfrm>
              <a:off x="7000875" y="2886075"/>
              <a:ext cx="2095500" cy="228600"/>
            </a:xfrm>
            <a:prstGeom prst="ellipse">
              <a:avLst/>
            </a:prstGeom>
            <a:solidFill>
              <a:srgbClr val="8C4B3F"/>
            </a:solidFill>
            <a:ln>
              <a:noFill/>
            </a:ln>
          </p:spPr>
        </p:sp>
        <p:sp>
          <p:nvSpPr>
            <p:cNvPr id="47" name="TextBox 47"/>
            <p:cNvSpPr txBox="1"/>
            <p:nvPr/>
          </p:nvSpPr>
          <p:spPr>
            <a:xfrm>
              <a:off x="7845781" y="2637949"/>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互动性</a:t>
              </a:r>
            </a:p>
          </p:txBody>
        </p:sp>
        <p:sp>
          <p:nvSpPr>
            <p:cNvPr id="48" name="TextBox 48"/>
            <p:cNvSpPr txBox="1"/>
            <p:nvPr/>
          </p:nvSpPr>
          <p:spPr>
            <a:xfrm>
              <a:off x="7749654" y="2822734"/>
              <a:ext cx="597942" cy="133350"/>
            </a:xfrm>
            <a:prstGeom prst="rect">
              <a:avLst/>
            </a:prstGeom>
            <a:noFill/>
            <a:ln>
              <a:noFill/>
            </a:ln>
          </p:spPr>
          <p:txBody>
            <a:bodyPr wrap="none" lIns="0" tIns="0" rIns="0" bIns="0" anchor="t" anchorCtr="0">
              <a:spAutoFit/>
            </a:bodyPr>
            <a:lstStyle/>
            <a:p>
              <a:pPr algn="ctr"/>
              <a:r>
                <a:rPr lang="en-US" sz="680" dirty="0">
                  <a:solidFill>
                    <a:srgbClr val="F2F7EE"/>
                  </a:solidFill>
                  <a:latin typeface="+mn-lt"/>
                  <a:ea typeface="+mn-ea"/>
                  <a:cs typeface="+mn-cs"/>
                </a:rPr>
                <a:t>Interactivity</a:t>
              </a:r>
            </a:p>
          </p:txBody>
        </p:sp>
        <p:sp>
          <p:nvSpPr>
            <p:cNvPr id="49" name="Freeform 49"/>
            <p:cNvSpPr/>
            <p:nvPr/>
          </p:nvSpPr>
          <p:spPr>
            <a:xfrm>
              <a:off x="6477000" y="3190875"/>
              <a:ext cx="3143250" cy="685800"/>
            </a:xfrm>
            <a:prstGeom prst="trapezoid">
              <a:avLst>
                <a:gd name="adj" fmla="val 76389"/>
              </a:avLst>
            </a:prstGeom>
            <a:solidFill>
              <a:srgbClr val="E9563C"/>
            </a:solidFill>
            <a:ln>
              <a:noFill/>
            </a:ln>
          </p:spPr>
        </p:sp>
        <p:sp>
          <p:nvSpPr>
            <p:cNvPr id="50" name="Ellipse 50"/>
            <p:cNvSpPr/>
            <p:nvPr/>
          </p:nvSpPr>
          <p:spPr>
            <a:xfrm>
              <a:off x="6477000" y="3743325"/>
              <a:ext cx="3143250" cy="266700"/>
            </a:xfrm>
            <a:prstGeom prst="ellipse">
              <a:avLst/>
            </a:prstGeom>
            <a:solidFill>
              <a:srgbClr val="D6391E"/>
            </a:solidFill>
            <a:ln>
              <a:noFill/>
            </a:ln>
          </p:spPr>
        </p:sp>
        <p:sp>
          <p:nvSpPr>
            <p:cNvPr id="51" name="TextBox 51"/>
            <p:cNvSpPr txBox="1"/>
            <p:nvPr/>
          </p:nvSpPr>
          <p:spPr>
            <a:xfrm>
              <a:off x="7845781" y="3457099"/>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真实感</a:t>
              </a:r>
            </a:p>
          </p:txBody>
        </p:sp>
        <p:sp>
          <p:nvSpPr>
            <p:cNvPr id="52" name="TextBox 52"/>
            <p:cNvSpPr txBox="1"/>
            <p:nvPr/>
          </p:nvSpPr>
          <p:spPr>
            <a:xfrm>
              <a:off x="7852570" y="3641884"/>
              <a:ext cx="392111" cy="133350"/>
            </a:xfrm>
            <a:prstGeom prst="rect">
              <a:avLst/>
            </a:prstGeom>
            <a:noFill/>
            <a:ln>
              <a:noFill/>
            </a:ln>
          </p:spPr>
          <p:txBody>
            <a:bodyPr wrap="none" lIns="0" tIns="0" rIns="0" bIns="0" anchor="t" anchorCtr="0">
              <a:spAutoFit/>
            </a:bodyPr>
            <a:lstStyle/>
            <a:p>
              <a:pPr algn="ctr"/>
              <a:r>
                <a:rPr lang="en-US" sz="680" dirty="0">
                  <a:solidFill>
                    <a:srgbClr val="FDF6E7"/>
                  </a:solidFill>
                  <a:latin typeface="+mn-lt"/>
                  <a:ea typeface="+mn-ea"/>
                  <a:cs typeface="+mn-cs"/>
                </a:rPr>
                <a:t>Realness</a:t>
              </a:r>
            </a:p>
          </p:txBody>
        </p:sp>
        <p:sp>
          <p:nvSpPr>
            <p:cNvPr id="53" name="Freeform 53"/>
            <p:cNvSpPr/>
            <p:nvPr/>
          </p:nvSpPr>
          <p:spPr>
            <a:xfrm>
              <a:off x="6000750" y="4114800"/>
              <a:ext cx="4095750" cy="1047750"/>
            </a:xfrm>
            <a:prstGeom prst="trapezoid">
              <a:avLst>
                <a:gd name="adj" fmla="val 45455"/>
              </a:avLst>
            </a:prstGeom>
            <a:solidFill>
              <a:srgbClr val="8C4B3F"/>
            </a:solidFill>
            <a:ln>
              <a:noFill/>
            </a:ln>
          </p:spPr>
        </p:sp>
        <p:sp>
          <p:nvSpPr>
            <p:cNvPr id="54" name="Ellipse 54"/>
            <p:cNvSpPr/>
            <p:nvPr/>
          </p:nvSpPr>
          <p:spPr>
            <a:xfrm>
              <a:off x="6000750" y="4991100"/>
              <a:ext cx="4095750" cy="342900"/>
            </a:xfrm>
            <a:prstGeom prst="ellipse">
              <a:avLst/>
            </a:prstGeom>
            <a:solidFill>
              <a:srgbClr val="7A3E33"/>
            </a:solidFill>
            <a:ln>
              <a:noFill/>
            </a:ln>
          </p:spPr>
        </p:sp>
        <p:sp>
          <p:nvSpPr>
            <p:cNvPr id="55" name="TextBox 55"/>
            <p:cNvSpPr txBox="1"/>
            <p:nvPr/>
          </p:nvSpPr>
          <p:spPr>
            <a:xfrm>
              <a:off x="7719441" y="455676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界面质量</a:t>
              </a:r>
            </a:p>
          </p:txBody>
        </p:sp>
        <p:sp>
          <p:nvSpPr>
            <p:cNvPr id="56" name="TextBox 56"/>
            <p:cNvSpPr txBox="1"/>
            <p:nvPr/>
          </p:nvSpPr>
          <p:spPr>
            <a:xfrm>
              <a:off x="7609183" y="4776788"/>
              <a:ext cx="878884" cy="147638"/>
            </a:xfrm>
            <a:prstGeom prst="rect">
              <a:avLst/>
            </a:prstGeom>
            <a:noFill/>
            <a:ln>
              <a:noFill/>
            </a:ln>
          </p:spPr>
          <p:txBody>
            <a:bodyPr wrap="none" lIns="0" tIns="0" rIns="0" bIns="0" anchor="t" anchorCtr="0">
              <a:spAutoFit/>
            </a:bodyPr>
            <a:lstStyle/>
            <a:p>
              <a:pPr algn="ctr"/>
              <a:r>
                <a:rPr lang="en-US" sz="750" dirty="0">
                  <a:solidFill>
                    <a:srgbClr val="EAF4E2"/>
                  </a:solidFill>
                  <a:latin typeface="+mn-lt"/>
                  <a:ea typeface="+mn-ea"/>
                  <a:cs typeface="+mn-cs"/>
                </a:rPr>
                <a:t>Interface Quality</a:t>
              </a:r>
            </a:p>
          </p:txBody>
        </p:sp>
      </p:grpSp>
      <p:grpSp>
        <p:nvGrpSpPr>
          <p:cNvPr id="65" name="data-card"/>
          <p:cNvGrpSpPr/>
          <p:nvPr/>
        </p:nvGrpSpPr>
        <p:grpSpPr>
          <a:xfrm>
            <a:off x="10096500" y="952500"/>
            <a:ext cx="1714500" cy="1428750"/>
            <a:chOff x="10096500" y="952500"/>
            <a:chExt cx="1714500" cy="1428750"/>
          </a:xfrm>
        </p:grpSpPr>
        <p:sp>
          <p:nvSpPr>
            <p:cNvPr id="58" name="Rectangle 58"/>
            <p:cNvSpPr/>
            <p:nvPr/>
          </p:nvSpPr>
          <p:spPr>
            <a:xfrm>
              <a:off x="10096500" y="952500"/>
              <a:ext cx="1714500" cy="1428750"/>
            </a:xfrm>
            <a:prstGeom prst="roundRect">
              <a:avLst>
                <a:gd name="adj" fmla="val 4000"/>
              </a:avLst>
            </a:prstGeom>
            <a:solidFill>
              <a:srgbClr val="FDF6E7"/>
            </a:solidFill>
            <a:ln w="11430">
              <a:solidFill>
                <a:srgbClr val="E9563C"/>
              </a:solidFill>
              <a:custDash>
                <a:ds d="416667" sp="250000"/>
              </a:custDash>
            </a:ln>
          </p:spPr>
        </p:sp>
        <p:sp>
          <p:nvSpPr>
            <p:cNvPr id="59" name="TextBox 59"/>
            <p:cNvSpPr txBox="1"/>
            <p:nvPr/>
          </p:nvSpPr>
          <p:spPr>
            <a:xfrm>
              <a:off x="10234612" y="1102995"/>
              <a:ext cx="844607" cy="176212"/>
            </a:xfrm>
            <a:prstGeom prst="rect">
              <a:avLst/>
            </a:prstGeom>
            <a:noFill/>
            <a:ln>
              <a:noFill/>
            </a:ln>
          </p:spPr>
          <p:txBody>
            <a:bodyPr wrap="none" lIns="0" tIns="0" rIns="0" bIns="0" anchor="t" anchorCtr="0">
              <a:spAutoFit/>
            </a:bodyPr>
            <a:lstStyle/>
            <a:p>
              <a:pPr algn="l"/>
              <a:r>
                <a:rPr lang="zh-CN" sz="900" b="1" dirty="0">
                  <a:solidFill>
                    <a:srgbClr val="333333"/>
                  </a:solidFill>
                  <a:latin typeface="+mn-lt"/>
                  <a:ea typeface="+mn-ea"/>
                  <a:cs typeface="+mn-cs"/>
                </a:rPr>
                <a:t>◉ 轻度音乐人群</a:t>
              </a:r>
            </a:p>
          </p:txBody>
        </p:sp>
        <p:sp>
          <p:nvSpPr>
            <p:cNvPr id="60" name="TextBox 60"/>
            <p:cNvSpPr txBox="1"/>
            <p:nvPr/>
          </p:nvSpPr>
          <p:spPr>
            <a:xfrm>
              <a:off x="10234612" y="1321832"/>
              <a:ext cx="1215720"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不分年龄大小，对音乐需求不大</a:t>
              </a:r>
            </a:p>
          </p:txBody>
        </p:sp>
        <p:sp>
          <p:nvSpPr>
            <p:cNvPr id="61" name="TextBox 61"/>
            <p:cNvSpPr txBox="1"/>
            <p:nvPr/>
          </p:nvSpPr>
          <p:spPr>
            <a:xfrm>
              <a:off x="10233279" y="1604010"/>
              <a:ext cx="665234" cy="234696"/>
            </a:xfrm>
            <a:prstGeom prst="rect">
              <a:avLst/>
            </a:prstGeom>
            <a:noFill/>
            <a:ln>
              <a:noFill/>
            </a:ln>
          </p:spPr>
          <p:txBody>
            <a:bodyPr wrap="none" lIns="0" tIns="0" rIns="0" bIns="0" anchor="t" anchorCtr="0">
              <a:spAutoFit/>
            </a:bodyPr>
            <a:lstStyle/>
            <a:p>
              <a:pPr algn="l"/>
              <a:r>
                <a:rPr lang="zh-CN" sz="1200" b="1" dirty="0">
                  <a:solidFill>
                    <a:srgbClr val="333333"/>
                  </a:solidFill>
                  <a:latin typeface="+mn-lt"/>
                  <a:ea typeface="+mn-ea"/>
                  <a:cs typeface="+mn-cs"/>
                </a:rPr>
                <a:t>1,400+​</a:t>
              </a:r>
            </a:p>
          </p:txBody>
        </p:sp>
        <p:sp>
          <p:nvSpPr>
            <p:cNvPr id="62" name="TextBox 62"/>
            <p:cNvSpPr txBox="1"/>
            <p:nvPr/>
          </p:nvSpPr>
          <p:spPr>
            <a:xfrm>
              <a:off x="10834688" y="1664732"/>
              <a:ext cx="535081"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自有导购(人)</a:t>
              </a:r>
            </a:p>
          </p:txBody>
        </p:sp>
        <p:sp>
          <p:nvSpPr>
            <p:cNvPr id="63" name="TextBox 63"/>
            <p:cNvSpPr txBox="1"/>
            <p:nvPr/>
          </p:nvSpPr>
          <p:spPr>
            <a:xfrm>
              <a:off x="10233279" y="1908810"/>
              <a:ext cx="758525" cy="234696"/>
            </a:xfrm>
            <a:prstGeom prst="rect">
              <a:avLst/>
            </a:prstGeom>
            <a:noFill/>
            <a:ln>
              <a:noFill/>
            </a:ln>
          </p:spPr>
          <p:txBody>
            <a:bodyPr wrap="none" lIns="0" tIns="0" rIns="0" bIns="0" anchor="t" anchorCtr="0">
              <a:spAutoFit/>
            </a:bodyPr>
            <a:lstStyle/>
            <a:p>
              <a:pPr algn="l"/>
              <a:r>
                <a:rPr lang="zh-CN" sz="1200" b="1" dirty="0">
                  <a:solidFill>
                    <a:srgbClr val="333333"/>
                  </a:solidFill>
                  <a:latin typeface="+mn-lt"/>
                  <a:ea typeface="+mn-ea"/>
                  <a:cs typeface="+mn-cs"/>
                </a:rPr>
                <a:t>15,782+​</a:t>
              </a:r>
            </a:p>
          </p:txBody>
        </p:sp>
        <p:sp>
          <p:nvSpPr>
            <p:cNvPr id="64" name="TextBox 64"/>
            <p:cNvSpPr txBox="1"/>
            <p:nvPr/>
          </p:nvSpPr>
          <p:spPr>
            <a:xfrm>
              <a:off x="10948988" y="1969532"/>
              <a:ext cx="267995"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售后点</a:t>
              </a:r>
            </a:p>
          </p:txBody>
        </p:sp>
      </p:grpSp>
      <p:grpSp>
        <p:nvGrpSpPr>
          <p:cNvPr id="109" name="feature-card"/>
          <p:cNvGrpSpPr/>
          <p:nvPr/>
        </p:nvGrpSpPr>
        <p:grpSpPr>
          <a:xfrm>
            <a:off x="381000" y="3143250"/>
            <a:ext cx="4572000" cy="2381250"/>
            <a:chOff x="381000" y="3143250"/>
            <a:chExt cx="4572000" cy="2381250"/>
          </a:xfrm>
        </p:grpSpPr>
        <p:sp>
          <p:nvSpPr>
            <p:cNvPr id="66" name="Rectangle 66"/>
            <p:cNvSpPr/>
            <p:nvPr/>
          </p:nvSpPr>
          <p:spPr>
            <a:xfrm>
              <a:off x="381000" y="3143250"/>
              <a:ext cx="4572000" cy="2381250"/>
            </a:xfrm>
            <a:prstGeom prst="roundRect">
              <a:avLst>
                <a:gd name="adj" fmla="val 2400"/>
              </a:avLst>
            </a:prstGeom>
            <a:solidFill>
              <a:srgbClr val="FDF6E7"/>
            </a:solidFill>
            <a:ln>
              <a:noFill/>
            </a:ln>
          </p:spPr>
        </p:sp>
        <p:sp>
          <p:nvSpPr>
            <p:cNvPr id="67" name="TextBox 67"/>
            <p:cNvSpPr txBox="1"/>
            <p:nvPr/>
          </p:nvSpPr>
          <p:spPr>
            <a:xfrm>
              <a:off x="469773" y="3310414"/>
              <a:ext cx="1445742" cy="249364"/>
            </a:xfrm>
            <a:prstGeom prst="rect">
              <a:avLst/>
            </a:prstGeom>
            <a:noFill/>
            <a:ln>
              <a:noFill/>
            </a:ln>
          </p:spPr>
          <p:txBody>
            <a:bodyPr wrap="none" lIns="0" tIns="0" rIns="0" bIns="0" anchor="t" anchorCtr="0">
              <a:spAutoFit/>
            </a:bodyPr>
            <a:lstStyle/>
            <a:p>
              <a:pPr algn="l"/>
              <a:r>
                <a:rPr lang="zh-CN" sz="1280" b="1" dirty="0">
                  <a:solidFill>
                    <a:srgbClr val="7A3E33"/>
                  </a:solidFill>
                  <a:latin typeface="+mn-lt"/>
                  <a:ea typeface="+mn-ea"/>
                  <a:cs typeface="+mn-cs"/>
                </a:rPr>
                <a:t>启用最新 功能模型</a:t>
              </a:r>
            </a:p>
          </p:txBody>
        </p:sp>
        <p:sp>
          <p:nvSpPr>
            <p:cNvPr id="68" name="TextBox 68"/>
            <p:cNvSpPr txBox="1"/>
            <p:nvPr/>
          </p:nvSpPr>
          <p:spPr>
            <a:xfrm>
              <a:off x="471488" y="3576638"/>
              <a:ext cx="2295525" cy="433388"/>
            </a:xfrm>
            <a:prstGeom prst="rect">
              <a:avLst/>
            </a:prstGeom>
            <a:noFill/>
            <a:ln>
              <a:noFill/>
            </a:ln>
          </p:spPr>
          <p:txBody>
            <a:bodyPr wrap="none" lIns="0" tIns="0" rIns="0" bIns="0" anchor="t" anchorCtr="0">
              <a:spAutoFit/>
            </a:bodyPr>
            <a:lstStyle/>
            <a:p>
              <a:pPr algn="l">
                <a:lnSpc>
                  <a:spcPts val="1125"/>
                </a:lnSpc>
              </a:pPr>
              <a:r>
                <a:rPr lang="zh-CN" sz="750" dirty="0">
                  <a:solidFill>
                    <a:srgbClr val="333333"/>
                  </a:solidFill>
                  <a:latin typeface="+mn-lt"/>
                  <a:ea typeface="+mn-ea"/>
                  <a:cs typeface="+mn-cs"/>
                </a:rPr>
                <a:t>SaaS产品的通用功能是面向所有客户的，而且会不断​</a:t>
              </a:r>
              <a:br/>
              <a:r>
                <a:rPr lang="zh-CN" sz="750" dirty="0">
                  <a:solidFill>
                    <a:srgbClr val="333333"/>
                  </a:solidFill>
                  <a:latin typeface="+mn-lt"/>
                  <a:ea typeface="+mn-ea"/>
                  <a:cs typeface="+mn-cs"/>
                </a:rPr>
                <a:t>基于客户群体的反馈优化升级。而传统软件产品大多数</a:t>
              </a:r>
              <a:br/>
              <a:r>
                <a:rPr lang="zh-CN" sz="750" dirty="0">
                  <a:solidFill>
                    <a:srgbClr val="333333"/>
                  </a:solidFill>
                  <a:latin typeface="+mn-lt"/>
                  <a:ea typeface="+mn-ea"/>
                  <a:cs typeface="+mn-cs"/>
                </a:rPr>
                <a:t>升级需要额外付费。</a:t>
              </a:r>
            </a:p>
          </p:txBody>
        </p:sp>
        <p:sp>
          <p:nvSpPr>
            <p:cNvPr id="69" name="Rectangle 69"/>
            <p:cNvSpPr/>
            <p:nvPr/>
          </p:nvSpPr>
          <p:spPr>
            <a:xfrm>
              <a:off x="476250" y="4038600"/>
              <a:ext cx="571500" cy="228600"/>
            </a:xfrm>
            <a:prstGeom prst="rect">
              <a:avLst/>
            </a:prstGeom>
            <a:solidFill>
              <a:srgbClr val="9C594C"/>
            </a:solidFill>
            <a:ln>
              <a:noFill/>
            </a:ln>
          </p:spPr>
        </p:sp>
        <p:sp>
          <p:nvSpPr>
            <p:cNvPr id="70" name="Rectangle 70"/>
            <p:cNvSpPr/>
            <p:nvPr/>
          </p:nvSpPr>
          <p:spPr>
            <a:xfrm>
              <a:off x="1143000" y="4038600"/>
              <a:ext cx="133350" cy="228600"/>
            </a:xfrm>
            <a:prstGeom prst="rect">
              <a:avLst/>
            </a:prstGeom>
            <a:solidFill>
              <a:srgbClr val="E8ECE4"/>
            </a:solidFill>
            <a:ln>
              <a:noFill/>
            </a:ln>
          </p:spPr>
        </p:sp>
        <p:sp>
          <p:nvSpPr>
            <p:cNvPr id="71" name="Rectangle 71"/>
            <p:cNvSpPr/>
            <p:nvPr/>
          </p:nvSpPr>
          <p:spPr>
            <a:xfrm>
              <a:off x="1352550" y="4038600"/>
              <a:ext cx="133350" cy="228600"/>
            </a:xfrm>
            <a:prstGeom prst="rect">
              <a:avLst/>
            </a:prstGeom>
            <a:solidFill>
              <a:srgbClr val="DFF0D2"/>
            </a:solidFill>
            <a:ln>
              <a:noFill/>
            </a:ln>
          </p:spPr>
        </p:sp>
        <p:sp>
          <p:nvSpPr>
            <p:cNvPr id="72" name="Rectangle 72"/>
            <p:cNvSpPr/>
            <p:nvPr/>
          </p:nvSpPr>
          <p:spPr>
            <a:xfrm>
              <a:off x="1562100" y="4038600"/>
              <a:ext cx="133350" cy="228600"/>
            </a:xfrm>
            <a:prstGeom prst="rect">
              <a:avLst/>
            </a:prstGeom>
            <a:solidFill>
              <a:srgbClr val="C8E0B8"/>
            </a:solidFill>
            <a:ln>
              <a:noFill/>
            </a:ln>
          </p:spPr>
        </p:sp>
        <p:sp>
          <p:nvSpPr>
            <p:cNvPr id="73" name="Rectangle 73"/>
            <p:cNvSpPr/>
            <p:nvPr/>
          </p:nvSpPr>
          <p:spPr>
            <a:xfrm>
              <a:off x="1771650" y="4038600"/>
              <a:ext cx="133350" cy="228600"/>
            </a:xfrm>
            <a:prstGeom prst="rect">
              <a:avLst/>
            </a:prstGeom>
            <a:solidFill>
              <a:srgbClr val="E8ECE4"/>
            </a:solidFill>
            <a:ln>
              <a:noFill/>
            </a:ln>
          </p:spPr>
        </p:sp>
        <p:sp>
          <p:nvSpPr>
            <p:cNvPr id="74" name="Rectangle 74"/>
            <p:cNvSpPr/>
            <p:nvPr/>
          </p:nvSpPr>
          <p:spPr>
            <a:xfrm>
              <a:off x="476250" y="4324350"/>
              <a:ext cx="571500" cy="228600"/>
            </a:xfrm>
            <a:prstGeom prst="rect">
              <a:avLst/>
            </a:prstGeom>
            <a:solidFill>
              <a:srgbClr val="CD9F96"/>
            </a:solidFill>
            <a:ln>
              <a:noFill/>
            </a:ln>
          </p:spPr>
        </p:sp>
        <p:sp>
          <p:nvSpPr>
            <p:cNvPr id="75" name="Rectangle 75"/>
            <p:cNvSpPr/>
            <p:nvPr/>
          </p:nvSpPr>
          <p:spPr>
            <a:xfrm>
              <a:off x="1143000" y="4324350"/>
              <a:ext cx="133350" cy="228600"/>
            </a:xfrm>
            <a:prstGeom prst="rect">
              <a:avLst/>
            </a:prstGeom>
            <a:solidFill>
              <a:srgbClr val="DFF0D2"/>
            </a:solidFill>
            <a:ln>
              <a:noFill/>
            </a:ln>
          </p:spPr>
        </p:sp>
        <p:sp>
          <p:nvSpPr>
            <p:cNvPr id="76" name="Rectangle 76"/>
            <p:cNvSpPr/>
            <p:nvPr/>
          </p:nvSpPr>
          <p:spPr>
            <a:xfrm>
              <a:off x="1352550" y="4324350"/>
              <a:ext cx="133350" cy="228600"/>
            </a:xfrm>
            <a:prstGeom prst="rect">
              <a:avLst/>
            </a:prstGeom>
            <a:solidFill>
              <a:srgbClr val="E8ECE4"/>
            </a:solidFill>
            <a:ln>
              <a:noFill/>
            </a:ln>
          </p:spPr>
        </p:sp>
        <p:sp>
          <p:nvSpPr>
            <p:cNvPr id="77" name="Rectangle 77"/>
            <p:cNvSpPr/>
            <p:nvPr/>
          </p:nvSpPr>
          <p:spPr>
            <a:xfrm>
              <a:off x="1562100" y="4324350"/>
              <a:ext cx="133350" cy="228600"/>
            </a:xfrm>
            <a:prstGeom prst="rect">
              <a:avLst/>
            </a:prstGeom>
            <a:solidFill>
              <a:srgbClr val="5A433E"/>
            </a:solidFill>
            <a:ln>
              <a:noFill/>
            </a:ln>
          </p:spPr>
        </p:sp>
        <p:sp>
          <p:nvSpPr>
            <p:cNvPr id="78" name="Rectangle 78"/>
            <p:cNvSpPr/>
            <p:nvPr/>
          </p:nvSpPr>
          <p:spPr>
            <a:xfrm>
              <a:off x="1771650" y="4324350"/>
              <a:ext cx="133350" cy="228600"/>
            </a:xfrm>
            <a:prstGeom prst="rect">
              <a:avLst/>
            </a:prstGeom>
            <a:solidFill>
              <a:srgbClr val="E8ECE4"/>
            </a:solidFill>
            <a:ln>
              <a:noFill/>
            </a:ln>
          </p:spPr>
        </p:sp>
        <p:sp>
          <p:nvSpPr>
            <p:cNvPr id="79" name="Rectangle 79"/>
            <p:cNvSpPr/>
            <p:nvPr/>
          </p:nvSpPr>
          <p:spPr>
            <a:xfrm>
              <a:off x="476250" y="4610100"/>
              <a:ext cx="571500" cy="228600"/>
            </a:xfrm>
            <a:prstGeom prst="rect">
              <a:avLst/>
            </a:prstGeom>
            <a:solidFill>
              <a:srgbClr val="E9563C"/>
            </a:solidFill>
            <a:ln>
              <a:noFill/>
            </a:ln>
          </p:spPr>
        </p:sp>
        <p:sp>
          <p:nvSpPr>
            <p:cNvPr id="80" name="Rectangle 80"/>
            <p:cNvSpPr/>
            <p:nvPr/>
          </p:nvSpPr>
          <p:spPr>
            <a:xfrm>
              <a:off x="1143000" y="4610100"/>
              <a:ext cx="133350" cy="228600"/>
            </a:xfrm>
            <a:prstGeom prst="rect">
              <a:avLst/>
            </a:prstGeom>
            <a:solidFill>
              <a:srgbClr val="F7B9AE"/>
            </a:solidFill>
            <a:ln>
              <a:noFill/>
            </a:ln>
          </p:spPr>
        </p:sp>
        <p:sp>
          <p:nvSpPr>
            <p:cNvPr id="81" name="Rectangle 81"/>
            <p:cNvSpPr/>
            <p:nvPr/>
          </p:nvSpPr>
          <p:spPr>
            <a:xfrm>
              <a:off x="1352550" y="4610100"/>
              <a:ext cx="133350" cy="228600"/>
            </a:xfrm>
            <a:prstGeom prst="rect">
              <a:avLst/>
            </a:prstGeom>
            <a:solidFill>
              <a:srgbClr val="E8ECE4"/>
            </a:solidFill>
            <a:ln>
              <a:noFill/>
            </a:ln>
          </p:spPr>
        </p:sp>
        <p:sp>
          <p:nvSpPr>
            <p:cNvPr id="82" name="Rectangle 82"/>
            <p:cNvSpPr/>
            <p:nvPr/>
          </p:nvSpPr>
          <p:spPr>
            <a:xfrm>
              <a:off x="1562100" y="4610100"/>
              <a:ext cx="133350" cy="228600"/>
            </a:xfrm>
            <a:prstGeom prst="rect">
              <a:avLst/>
            </a:prstGeom>
            <a:solidFill>
              <a:srgbClr val="F7B9AE"/>
            </a:solidFill>
            <a:ln>
              <a:noFill/>
            </a:ln>
          </p:spPr>
        </p:sp>
        <p:sp>
          <p:nvSpPr>
            <p:cNvPr id="83" name="Rectangle 83"/>
            <p:cNvSpPr/>
            <p:nvPr/>
          </p:nvSpPr>
          <p:spPr>
            <a:xfrm>
              <a:off x="1771650" y="4610100"/>
              <a:ext cx="133350" cy="228600"/>
            </a:xfrm>
            <a:prstGeom prst="rect">
              <a:avLst/>
            </a:prstGeom>
            <a:solidFill>
              <a:srgbClr val="E8ECE4"/>
            </a:solidFill>
            <a:ln>
              <a:noFill/>
            </a:ln>
          </p:spPr>
        </p:sp>
        <p:sp>
          <p:nvSpPr>
            <p:cNvPr id="84" name="Rectangle 84"/>
            <p:cNvSpPr/>
            <p:nvPr/>
          </p:nvSpPr>
          <p:spPr>
            <a:xfrm>
              <a:off x="476250" y="4895850"/>
              <a:ext cx="571500" cy="228600"/>
            </a:xfrm>
            <a:prstGeom prst="rect">
              <a:avLst/>
            </a:prstGeom>
            <a:solidFill>
              <a:srgbClr val="F7B9AE"/>
            </a:solidFill>
            <a:ln>
              <a:noFill/>
            </a:ln>
          </p:spPr>
        </p:sp>
        <p:sp>
          <p:nvSpPr>
            <p:cNvPr id="85" name="Rectangle 85"/>
            <p:cNvSpPr/>
            <p:nvPr/>
          </p:nvSpPr>
          <p:spPr>
            <a:xfrm>
              <a:off x="1143000" y="4895850"/>
              <a:ext cx="133350" cy="228600"/>
            </a:xfrm>
            <a:prstGeom prst="rect">
              <a:avLst/>
            </a:prstGeom>
            <a:solidFill>
              <a:srgbClr val="E8ECE4"/>
            </a:solidFill>
            <a:ln>
              <a:noFill/>
            </a:ln>
          </p:spPr>
        </p:sp>
        <p:sp>
          <p:nvSpPr>
            <p:cNvPr id="86" name="Rectangle 86"/>
            <p:cNvSpPr/>
            <p:nvPr/>
          </p:nvSpPr>
          <p:spPr>
            <a:xfrm>
              <a:off x="1352550" y="4895850"/>
              <a:ext cx="133350" cy="228600"/>
            </a:xfrm>
            <a:prstGeom prst="rect">
              <a:avLst/>
            </a:prstGeom>
            <a:solidFill>
              <a:srgbClr val="F7B9AE"/>
            </a:solidFill>
            <a:ln>
              <a:noFill/>
            </a:ln>
          </p:spPr>
        </p:sp>
        <p:sp>
          <p:nvSpPr>
            <p:cNvPr id="87" name="Rectangle 87"/>
            <p:cNvSpPr/>
            <p:nvPr/>
          </p:nvSpPr>
          <p:spPr>
            <a:xfrm>
              <a:off x="1562100" y="4895850"/>
              <a:ext cx="133350" cy="228600"/>
            </a:xfrm>
            <a:prstGeom prst="rect">
              <a:avLst/>
            </a:prstGeom>
            <a:solidFill>
              <a:srgbClr val="E8ECE4"/>
            </a:solidFill>
            <a:ln>
              <a:noFill/>
            </a:ln>
          </p:spPr>
        </p:sp>
        <p:sp>
          <p:nvSpPr>
            <p:cNvPr id="88" name="Rectangle 88"/>
            <p:cNvSpPr/>
            <p:nvPr/>
          </p:nvSpPr>
          <p:spPr>
            <a:xfrm>
              <a:off x="1771650" y="4895850"/>
              <a:ext cx="133350" cy="228600"/>
            </a:xfrm>
            <a:prstGeom prst="rect">
              <a:avLst/>
            </a:prstGeom>
            <a:solidFill>
              <a:srgbClr val="F7B9AE"/>
            </a:solidFill>
            <a:ln>
              <a:noFill/>
            </a:ln>
          </p:spPr>
        </p:sp>
        <p:sp>
          <p:nvSpPr>
            <p:cNvPr id="89" name="Freeform 89"/>
            <p:cNvSpPr/>
            <p:nvPr/>
          </p:nvSpPr>
          <p:spPr>
            <a:xfrm>
              <a:off x="2524125" y="4076700"/>
              <a:ext cx="285750" cy="209550"/>
            </a:xfrm>
            <a:prstGeom prst="trapezoid">
              <a:avLst>
                <a:gd name="adj" fmla="val 36364"/>
              </a:avLst>
            </a:prstGeom>
            <a:solidFill>
              <a:srgbClr val="7A3E33"/>
            </a:solidFill>
            <a:ln>
              <a:noFill/>
            </a:ln>
          </p:spPr>
        </p:sp>
        <p:sp>
          <p:nvSpPr>
            <p:cNvPr id="90" name="TextBox 90"/>
            <p:cNvSpPr txBox="1"/>
            <p:nvPr/>
          </p:nvSpPr>
          <p:spPr>
            <a:xfrm>
              <a:off x="2602735" y="4156234"/>
              <a:ext cx="128529"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8%</a:t>
              </a:r>
            </a:p>
          </p:txBody>
        </p:sp>
        <p:sp>
          <p:nvSpPr>
            <p:cNvPr id="91" name="Freeform 91"/>
            <p:cNvSpPr/>
            <p:nvPr/>
          </p:nvSpPr>
          <p:spPr>
            <a:xfrm>
              <a:off x="2428875" y="4305300"/>
              <a:ext cx="476250" cy="209550"/>
            </a:xfrm>
            <a:prstGeom prst="trapezoid">
              <a:avLst>
                <a:gd name="adj" fmla="val 45455"/>
              </a:avLst>
            </a:prstGeom>
            <a:solidFill>
              <a:srgbClr val="9C594C"/>
            </a:solidFill>
            <a:ln>
              <a:noFill/>
            </a:ln>
          </p:spPr>
        </p:sp>
        <p:sp>
          <p:nvSpPr>
            <p:cNvPr id="92" name="TextBox 92"/>
            <p:cNvSpPr txBox="1"/>
            <p:nvPr/>
          </p:nvSpPr>
          <p:spPr>
            <a:xfrm>
              <a:off x="2577562" y="4384834"/>
              <a:ext cx="178877"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12%</a:t>
              </a:r>
            </a:p>
          </p:txBody>
        </p:sp>
        <p:sp>
          <p:nvSpPr>
            <p:cNvPr id="93" name="Freeform 93"/>
            <p:cNvSpPr/>
            <p:nvPr/>
          </p:nvSpPr>
          <p:spPr>
            <a:xfrm>
              <a:off x="2333625" y="4533900"/>
              <a:ext cx="666750" cy="209550"/>
            </a:xfrm>
            <a:prstGeom prst="trapezoid">
              <a:avLst>
                <a:gd name="adj" fmla="val 45455"/>
              </a:avLst>
            </a:prstGeom>
            <a:solidFill>
              <a:srgbClr val="CD9F96"/>
            </a:solidFill>
            <a:ln>
              <a:noFill/>
            </a:ln>
          </p:spPr>
        </p:sp>
        <p:sp>
          <p:nvSpPr>
            <p:cNvPr id="94" name="TextBox 94"/>
            <p:cNvSpPr txBox="1"/>
            <p:nvPr/>
          </p:nvSpPr>
          <p:spPr>
            <a:xfrm>
              <a:off x="2577562" y="4613434"/>
              <a:ext cx="178877"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18%</a:t>
              </a:r>
            </a:p>
          </p:txBody>
        </p:sp>
        <p:sp>
          <p:nvSpPr>
            <p:cNvPr id="95" name="Freeform 95"/>
            <p:cNvSpPr/>
            <p:nvPr/>
          </p:nvSpPr>
          <p:spPr>
            <a:xfrm>
              <a:off x="2238375" y="4762500"/>
              <a:ext cx="857250" cy="209550"/>
            </a:xfrm>
            <a:prstGeom prst="trapezoid">
              <a:avLst>
                <a:gd name="adj" fmla="val 45455"/>
              </a:avLst>
            </a:prstGeom>
            <a:solidFill>
              <a:srgbClr val="E9563C"/>
            </a:solidFill>
            <a:ln>
              <a:noFill/>
            </a:ln>
          </p:spPr>
        </p:sp>
        <p:sp>
          <p:nvSpPr>
            <p:cNvPr id="96" name="TextBox 96"/>
            <p:cNvSpPr txBox="1"/>
            <p:nvPr/>
          </p:nvSpPr>
          <p:spPr>
            <a:xfrm>
              <a:off x="2577562" y="4842034"/>
              <a:ext cx="178877"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32%</a:t>
              </a:r>
            </a:p>
          </p:txBody>
        </p:sp>
        <p:sp>
          <p:nvSpPr>
            <p:cNvPr id="97" name="Freeform 97"/>
            <p:cNvSpPr/>
            <p:nvPr/>
          </p:nvSpPr>
          <p:spPr>
            <a:xfrm>
              <a:off x="2143125" y="4991100"/>
              <a:ext cx="1047750" cy="209550"/>
            </a:xfrm>
            <a:prstGeom prst="trapezoid">
              <a:avLst>
                <a:gd name="adj" fmla="val 45455"/>
              </a:avLst>
            </a:prstGeom>
            <a:solidFill>
              <a:srgbClr val="F7B9AE"/>
            </a:solidFill>
            <a:ln>
              <a:noFill/>
            </a:ln>
          </p:spPr>
        </p:sp>
        <p:sp>
          <p:nvSpPr>
            <p:cNvPr id="98" name="TextBox 98"/>
            <p:cNvSpPr txBox="1"/>
            <p:nvPr/>
          </p:nvSpPr>
          <p:spPr>
            <a:xfrm>
              <a:off x="2577562" y="5070634"/>
              <a:ext cx="178877"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50%</a:t>
              </a:r>
            </a:p>
          </p:txBody>
        </p:sp>
        <p:sp>
          <p:nvSpPr>
            <p:cNvPr id="99" name="Line 99"/>
            <p:cNvSpPr/>
            <p:nvPr/>
          </p:nvSpPr>
          <p:spPr>
            <a:xfrm>
              <a:off x="3238500" y="4191000"/>
              <a:ext cx="228600" cy="9525"/>
            </a:xfrm>
            <a:custGeom>
              <a:avLst/>
              <a:gdLst/>
              <a:ahLst/>
              <a:cxnLst/>
              <a:rect l="l" t="t" r="r" b="b"/>
              <a:pathLst>
                <a:path w="228600" h="9525">
                  <a:moveTo>
                    <a:pt x="0" y="0"/>
                  </a:moveTo>
                  <a:lnTo>
                    <a:pt x="228600" y="0"/>
                  </a:lnTo>
                </a:path>
              </a:pathLst>
            </a:custGeom>
            <a:noFill/>
            <a:ln w="9525">
              <a:solidFill>
                <a:srgbClr val="C9D8BD"/>
              </a:solidFill>
              <a:custDash>
                <a:ds d="300000" sp="200000"/>
              </a:custDash>
            </a:ln>
          </p:spPr>
        </p:sp>
        <p:sp>
          <p:nvSpPr>
            <p:cNvPr id="100" name="TextBox 100"/>
            <p:cNvSpPr txBox="1"/>
            <p:nvPr/>
          </p:nvSpPr>
          <p:spPr>
            <a:xfrm>
              <a:off x="3519488" y="4148138"/>
              <a:ext cx="51435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云部署功能</a:t>
              </a:r>
            </a:p>
          </p:txBody>
        </p:sp>
        <p:sp>
          <p:nvSpPr>
            <p:cNvPr id="101" name="Line 101"/>
            <p:cNvSpPr/>
            <p:nvPr/>
          </p:nvSpPr>
          <p:spPr>
            <a:xfrm>
              <a:off x="3238500" y="4419600"/>
              <a:ext cx="228600" cy="9525"/>
            </a:xfrm>
            <a:custGeom>
              <a:avLst/>
              <a:gdLst/>
              <a:ahLst/>
              <a:cxnLst/>
              <a:rect l="l" t="t" r="r" b="b"/>
              <a:pathLst>
                <a:path w="228600" h="9525">
                  <a:moveTo>
                    <a:pt x="0" y="0"/>
                  </a:moveTo>
                  <a:lnTo>
                    <a:pt x="228600" y="0"/>
                  </a:lnTo>
                </a:path>
              </a:pathLst>
            </a:custGeom>
            <a:noFill/>
            <a:ln w="9525">
              <a:solidFill>
                <a:srgbClr val="C9D8BD"/>
              </a:solidFill>
              <a:custDash>
                <a:ds d="300000" sp="200000"/>
              </a:custDash>
            </a:ln>
          </p:spPr>
        </p:sp>
        <p:sp>
          <p:nvSpPr>
            <p:cNvPr id="102" name="TextBox 102"/>
            <p:cNvSpPr txBox="1"/>
            <p:nvPr/>
          </p:nvSpPr>
          <p:spPr>
            <a:xfrm>
              <a:off x="3519488" y="4376738"/>
              <a:ext cx="61531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网络供应功能</a:t>
              </a:r>
            </a:p>
          </p:txBody>
        </p:sp>
        <p:sp>
          <p:nvSpPr>
            <p:cNvPr id="103" name="Line 103"/>
            <p:cNvSpPr/>
            <p:nvPr/>
          </p:nvSpPr>
          <p:spPr>
            <a:xfrm>
              <a:off x="3238500" y="4648200"/>
              <a:ext cx="228600" cy="9525"/>
            </a:xfrm>
            <a:custGeom>
              <a:avLst/>
              <a:gdLst/>
              <a:ahLst/>
              <a:cxnLst/>
              <a:rect l="l" t="t" r="r" b="b"/>
              <a:pathLst>
                <a:path w="228600" h="9525">
                  <a:moveTo>
                    <a:pt x="0" y="0"/>
                  </a:moveTo>
                  <a:lnTo>
                    <a:pt x="228600" y="0"/>
                  </a:lnTo>
                </a:path>
              </a:pathLst>
            </a:custGeom>
            <a:noFill/>
            <a:ln w="9525">
              <a:solidFill>
                <a:srgbClr val="C9D8BD"/>
              </a:solidFill>
              <a:custDash>
                <a:ds d="300000" sp="200000"/>
              </a:custDash>
            </a:ln>
          </p:spPr>
        </p:sp>
        <p:sp>
          <p:nvSpPr>
            <p:cNvPr id="104" name="TextBox 104"/>
            <p:cNvSpPr txBox="1"/>
            <p:nvPr/>
          </p:nvSpPr>
          <p:spPr>
            <a:xfrm>
              <a:off x="3519488" y="4605338"/>
              <a:ext cx="61531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集中托管功能</a:t>
              </a:r>
            </a:p>
          </p:txBody>
        </p:sp>
        <p:sp>
          <p:nvSpPr>
            <p:cNvPr id="105" name="Line 105"/>
            <p:cNvSpPr/>
            <p:nvPr/>
          </p:nvSpPr>
          <p:spPr>
            <a:xfrm>
              <a:off x="3238500" y="4876800"/>
              <a:ext cx="228600" cy="9525"/>
            </a:xfrm>
            <a:custGeom>
              <a:avLst/>
              <a:gdLst/>
              <a:ahLst/>
              <a:cxnLst/>
              <a:rect l="l" t="t" r="r" b="b"/>
              <a:pathLst>
                <a:path w="228600" h="9525">
                  <a:moveTo>
                    <a:pt x="0" y="0"/>
                  </a:moveTo>
                  <a:lnTo>
                    <a:pt x="228600" y="0"/>
                  </a:lnTo>
                </a:path>
              </a:pathLst>
            </a:custGeom>
            <a:noFill/>
            <a:ln w="9525">
              <a:solidFill>
                <a:srgbClr val="C9D8BD"/>
              </a:solidFill>
              <a:custDash>
                <a:ds d="300000" sp="200000"/>
              </a:custDash>
            </a:ln>
          </p:spPr>
        </p:sp>
        <p:sp>
          <p:nvSpPr>
            <p:cNvPr id="106" name="TextBox 106"/>
            <p:cNvSpPr txBox="1"/>
            <p:nvPr/>
          </p:nvSpPr>
          <p:spPr>
            <a:xfrm>
              <a:off x="3519488" y="4833938"/>
              <a:ext cx="615315"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按需供应功能</a:t>
              </a:r>
            </a:p>
          </p:txBody>
        </p:sp>
        <p:sp>
          <p:nvSpPr>
            <p:cNvPr id="107" name="Line 107"/>
            <p:cNvSpPr/>
            <p:nvPr/>
          </p:nvSpPr>
          <p:spPr>
            <a:xfrm>
              <a:off x="3238500" y="5105400"/>
              <a:ext cx="228600" cy="9525"/>
            </a:xfrm>
            <a:custGeom>
              <a:avLst/>
              <a:gdLst/>
              <a:ahLst/>
              <a:cxnLst/>
              <a:rect l="l" t="t" r="r" b="b"/>
              <a:pathLst>
                <a:path w="228600" h="9525">
                  <a:moveTo>
                    <a:pt x="0" y="0"/>
                  </a:moveTo>
                  <a:lnTo>
                    <a:pt x="228600" y="0"/>
                  </a:lnTo>
                </a:path>
              </a:pathLst>
            </a:custGeom>
            <a:noFill/>
            <a:ln w="9525">
              <a:solidFill>
                <a:srgbClr val="C9D8BD"/>
              </a:solidFill>
              <a:custDash>
                <a:ds d="300000" sp="200000"/>
              </a:custDash>
            </a:ln>
          </p:spPr>
        </p:sp>
        <p:sp>
          <p:nvSpPr>
            <p:cNvPr id="108" name="TextBox 108"/>
            <p:cNvSpPr txBox="1"/>
            <p:nvPr/>
          </p:nvSpPr>
          <p:spPr>
            <a:xfrm>
              <a:off x="3519488" y="5062538"/>
              <a:ext cx="51435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服务化功能</a:t>
              </a:r>
            </a:p>
          </p:txBody>
        </p:sp>
      </p:grpSp>
      <p:grpSp>
        <p:nvGrpSpPr>
          <p:cNvPr id="112" name="strategy-strip"/>
          <p:cNvGrpSpPr/>
          <p:nvPr/>
        </p:nvGrpSpPr>
        <p:grpSpPr>
          <a:xfrm>
            <a:off x="5029200" y="3143250"/>
            <a:ext cx="419100" cy="2381250"/>
            <a:chOff x="5029200" y="3143250"/>
            <a:chExt cx="419100" cy="2381250"/>
          </a:xfrm>
        </p:grpSpPr>
        <p:sp>
          <p:nvSpPr>
            <p:cNvPr id="110" name="Rectangle 110"/>
            <p:cNvSpPr/>
            <p:nvPr/>
          </p:nvSpPr>
          <p:spPr>
            <a:xfrm>
              <a:off x="5029200" y="3143250"/>
              <a:ext cx="419100" cy="2381250"/>
            </a:xfrm>
            <a:prstGeom prst="rect">
              <a:avLst/>
            </a:prstGeom>
            <a:solidFill>
              <a:srgbClr val="FBF0D8"/>
            </a:solidFill>
            <a:ln>
              <a:noFill/>
            </a:ln>
          </p:spPr>
        </p:sp>
        <p:sp>
          <p:nvSpPr>
            <p:cNvPr id="111" name="TextBox 111"/>
            <p:cNvSpPr txBox="1"/>
            <p:nvPr/>
          </p:nvSpPr>
          <p:spPr>
            <a:xfrm>
              <a:off x="5161915" y="3745706"/>
              <a:ext cx="153670" cy="1077278"/>
            </a:xfrm>
            <a:prstGeom prst="rect">
              <a:avLst/>
            </a:prstGeom>
            <a:noFill/>
            <a:ln>
              <a:noFill/>
            </a:ln>
          </p:spPr>
          <p:txBody>
            <a:bodyPr wrap="none" lIns="0" tIns="0" rIns="0" bIns="0" anchor="t" anchorCtr="0">
              <a:spAutoFit/>
            </a:bodyPr>
            <a:lstStyle/>
            <a:p>
              <a:pPr algn="ctr">
                <a:lnSpc>
                  <a:spcPts val="2250"/>
                </a:lnSpc>
              </a:pPr>
              <a:r>
                <a:rPr lang="zh-CN" sz="1120" b="1" dirty="0">
                  <a:solidFill>
                    <a:srgbClr val="D6391E"/>
                  </a:solidFill>
                  <a:latin typeface="+mn-lt"/>
                  <a:ea typeface="+mn-ea"/>
                  <a:cs typeface="+mn-cs"/>
                </a:rPr>
                <a:t>定</a:t>
              </a:r>
              <a:br/>
              <a:r>
                <a:rPr lang="zh-CN" sz="1120" b="1" dirty="0">
                  <a:solidFill>
                    <a:srgbClr val="D6391E"/>
                  </a:solidFill>
                  <a:latin typeface="+mn-lt"/>
                  <a:ea typeface="+mn-ea"/>
                  <a:cs typeface="+mn-cs"/>
                </a:rPr>
                <a:t>制</a:t>
              </a:r>
              <a:br/>
              <a:r>
                <a:rPr lang="zh-CN" sz="1120" b="1" dirty="0">
                  <a:solidFill>
                    <a:srgbClr val="D6391E"/>
                  </a:solidFill>
                  <a:latin typeface="+mn-lt"/>
                  <a:ea typeface="+mn-ea"/>
                  <a:cs typeface="+mn-cs"/>
                </a:rPr>
                <a:t>策</a:t>
              </a:r>
              <a:br/>
              <a:r>
                <a:rPr lang="zh-CN" sz="1120" b="1" dirty="0">
                  <a:solidFill>
                    <a:srgbClr val="D6391E"/>
                  </a:solidFill>
                  <a:latin typeface="+mn-lt"/>
                  <a:ea typeface="+mn-ea"/>
                  <a:cs typeface="+mn-cs"/>
                </a:rPr>
                <a:t>略</a:t>
              </a:r>
            </a:p>
          </p:txBody>
        </p:sp>
      </p:grpSp>
      <p:grpSp>
        <p:nvGrpSpPr>
          <p:cNvPr id="115" name="page-footer"/>
          <p:cNvGrpSpPr/>
          <p:nvPr/>
        </p:nvGrpSpPr>
        <p:grpSpPr>
          <a:xfrm>
            <a:off x="376238" y="6689884"/>
            <a:ext cx="11439524" cy="133350"/>
            <a:chOff x="376238" y="6689884"/>
            <a:chExt cx="11439524" cy="133350"/>
          </a:xfrm>
        </p:grpSpPr>
        <p:sp>
          <p:nvSpPr>
            <p:cNvPr id="113" name="TextBox 113"/>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14" name="TextBox 114"/>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11</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34" name="ring-diagram"/>
          <p:cNvGrpSpPr/>
          <p:nvPr/>
        </p:nvGrpSpPr>
        <p:grpSpPr>
          <a:xfrm>
            <a:off x="348892" y="1143000"/>
            <a:ext cx="5227186" cy="4191000"/>
            <a:chOff x="348892" y="1143000"/>
            <a:chExt cx="5227186" cy="4191000"/>
          </a:xfrm>
        </p:grpSpPr>
        <p:sp>
          <p:nvSpPr>
            <p:cNvPr id="8" name="Ellipse 8"/>
            <p:cNvSpPr/>
            <p:nvPr/>
          </p:nvSpPr>
          <p:spPr>
            <a:xfrm>
              <a:off x="762000" y="1143000"/>
              <a:ext cx="4191000" cy="4191000"/>
            </a:xfrm>
            <a:prstGeom prst="ellipse">
              <a:avLst/>
            </a:prstGeom>
            <a:noFill/>
            <a:ln w="28575">
              <a:solidFill>
                <a:srgbClr val="CD9F96"/>
              </a:solidFill>
            </a:ln>
          </p:spPr>
        </p:sp>
        <p:sp>
          <p:nvSpPr>
            <p:cNvPr id="9" name="Freeform 9"/>
            <p:cNvSpPr/>
            <p:nvPr/>
          </p:nvSpPr>
          <p:spPr>
            <a:xfrm>
              <a:off x="3314700" y="1533525"/>
              <a:ext cx="1369890" cy="2162175"/>
            </a:xfrm>
            <a:custGeom>
              <a:avLst/>
              <a:gdLst/>
              <a:ahLst/>
              <a:cxnLst/>
              <a:rect l="l" t="t" r="r" b="b"/>
              <a:pathLst>
                <a:path w="1369890" h="2162175">
                  <a:moveTo>
                    <a:pt x="0" y="0"/>
                  </a:moveTo>
                  <a:cubicBezTo>
                    <a:pt x="452643" y="120529"/>
                    <a:pt x="838670" y="416319"/>
                    <a:pt x="1072799" y="822024"/>
                  </a:cubicBezTo>
                  <a:cubicBezTo>
                    <a:pt x="1306928" y="1227729"/>
                    <a:pt x="1369890" y="1709958"/>
                    <a:pt x="1247775" y="2162175"/>
                  </a:cubicBezTo>
                </a:path>
              </a:pathLst>
            </a:custGeom>
            <a:noFill/>
            <a:ln w="11430">
              <a:solidFill>
                <a:srgbClr val="5B4B48"/>
              </a:solidFill>
              <a:tailEnd type="triangle" w="lg" len="lg"/>
            </a:ln>
          </p:spPr>
        </p:sp>
        <p:sp>
          <p:nvSpPr>
            <p:cNvPr id="10" name="Freeform 10"/>
            <p:cNvSpPr/>
            <p:nvPr/>
          </p:nvSpPr>
          <p:spPr>
            <a:xfrm>
              <a:off x="1609725" y="4486275"/>
              <a:ext cx="2495550" cy="517881"/>
            </a:xfrm>
            <a:custGeom>
              <a:avLst/>
              <a:gdLst/>
              <a:ahLst/>
              <a:cxnLst/>
              <a:rect l="l" t="t" r="r" b="b"/>
              <a:pathLst>
                <a:path w="2495550" h="517881">
                  <a:moveTo>
                    <a:pt x="2495550" y="0"/>
                  </a:moveTo>
                  <a:cubicBezTo>
                    <a:pt x="2164945" y="331543"/>
                    <a:pt x="1715985" y="517881"/>
                    <a:pt x="1247775" y="517881"/>
                  </a:cubicBezTo>
                  <a:cubicBezTo>
                    <a:pt x="779565" y="517881"/>
                    <a:pt x="330605" y="331543"/>
                    <a:pt x="0" y="0"/>
                  </a:cubicBezTo>
                </a:path>
              </a:pathLst>
            </a:custGeom>
            <a:noFill/>
            <a:ln w="11430">
              <a:solidFill>
                <a:srgbClr val="5B4B48"/>
              </a:solidFill>
              <a:tailEnd type="triangle" w="lg" len="lg"/>
            </a:ln>
          </p:spPr>
        </p:sp>
        <p:sp>
          <p:nvSpPr>
            <p:cNvPr id="11" name="Freeform 11"/>
            <p:cNvSpPr/>
            <p:nvPr/>
          </p:nvSpPr>
          <p:spPr>
            <a:xfrm>
              <a:off x="1030410" y="1533525"/>
              <a:ext cx="1369890" cy="2162175"/>
            </a:xfrm>
            <a:custGeom>
              <a:avLst/>
              <a:gdLst/>
              <a:ahLst/>
              <a:cxnLst/>
              <a:rect l="l" t="t" r="r" b="b"/>
              <a:pathLst>
                <a:path w="1369890" h="2162175">
                  <a:moveTo>
                    <a:pt x="122115" y="2162175"/>
                  </a:moveTo>
                  <a:cubicBezTo>
                    <a:pt x="0" y="1709958"/>
                    <a:pt x="62962" y="1227729"/>
                    <a:pt x="297091" y="822024"/>
                  </a:cubicBezTo>
                  <a:cubicBezTo>
                    <a:pt x="531220" y="416319"/>
                    <a:pt x="917247" y="120529"/>
                    <a:pt x="1369890" y="0"/>
                  </a:cubicBezTo>
                </a:path>
              </a:pathLst>
            </a:custGeom>
            <a:noFill/>
            <a:ln w="11430">
              <a:solidFill>
                <a:srgbClr val="5B4B48"/>
              </a:solidFill>
              <a:tailEnd type="triangle" w="lg" len="lg"/>
            </a:ln>
          </p:spPr>
        </p:sp>
        <p:sp>
          <p:nvSpPr>
            <p:cNvPr id="12" name="Freeform 12"/>
            <p:cNvSpPr/>
            <p:nvPr/>
          </p:nvSpPr>
          <p:spPr>
            <a:xfrm>
              <a:off x="1524000" y="1905000"/>
              <a:ext cx="2667000" cy="2667000"/>
            </a:xfrm>
            <a:prstGeom prst="blockArc">
              <a:avLst>
                <a:gd name="adj1" fmla="val 17100000"/>
                <a:gd name="adj2" fmla="val 900000"/>
                <a:gd name="adj3" fmla="val 7857"/>
              </a:avLst>
            </a:prstGeom>
            <a:solidFill>
              <a:srgbClr val="9C594C"/>
            </a:solidFill>
            <a:ln>
              <a:noFill/>
            </a:ln>
          </p:spPr>
        </p:sp>
        <p:sp>
          <p:nvSpPr>
            <p:cNvPr id="13" name="Freeform 13"/>
            <p:cNvSpPr/>
            <p:nvPr/>
          </p:nvSpPr>
          <p:spPr>
            <a:xfrm>
              <a:off x="1524000" y="1905000"/>
              <a:ext cx="2667000" cy="2667000"/>
            </a:xfrm>
            <a:prstGeom prst="blockArc">
              <a:avLst>
                <a:gd name="adj1" fmla="val 2700000"/>
                <a:gd name="adj2" fmla="val 8100000"/>
                <a:gd name="adj3" fmla="val 7857"/>
              </a:avLst>
            </a:prstGeom>
            <a:solidFill>
              <a:srgbClr val="9C594C"/>
            </a:solidFill>
            <a:ln>
              <a:noFill/>
            </a:ln>
          </p:spPr>
        </p:sp>
        <p:sp>
          <p:nvSpPr>
            <p:cNvPr id="14" name="Freeform 14"/>
            <p:cNvSpPr/>
            <p:nvPr/>
          </p:nvSpPr>
          <p:spPr>
            <a:xfrm>
              <a:off x="1524000" y="1905000"/>
              <a:ext cx="2667000" cy="2667000"/>
            </a:xfrm>
            <a:prstGeom prst="blockArc">
              <a:avLst>
                <a:gd name="adj1" fmla="val 9900000"/>
                <a:gd name="adj2" fmla="val 15300000"/>
                <a:gd name="adj3" fmla="val 7857"/>
              </a:avLst>
            </a:prstGeom>
            <a:solidFill>
              <a:srgbClr val="9C594C"/>
            </a:solidFill>
            <a:ln>
              <a:noFill/>
            </a:ln>
          </p:spPr>
        </p:sp>
        <p:sp>
          <p:nvSpPr>
            <p:cNvPr id="15" name="Ellipse 15"/>
            <p:cNvSpPr/>
            <p:nvPr/>
          </p:nvSpPr>
          <p:spPr>
            <a:xfrm>
              <a:off x="1952625" y="2333625"/>
              <a:ext cx="1809750" cy="1809750"/>
            </a:xfrm>
            <a:prstGeom prst="ellipse">
              <a:avLst/>
            </a:prstGeom>
            <a:solidFill>
              <a:srgbClr val="E9563C"/>
            </a:solidFill>
            <a:ln>
              <a:noFill/>
            </a:ln>
          </p:spPr>
        </p:sp>
        <p:grpSp>
          <p:nvGrpSpPr>
            <p:cNvPr id="19" name="Group 19"/>
            <p:cNvGrpSpPr/>
            <p:nvPr/>
          </p:nvGrpSpPr>
          <p:grpSpPr>
            <a:xfrm>
              <a:off x="2743200" y="2686050"/>
              <a:ext cx="228599" cy="228600"/>
              <a:chOff x="2743200" y="2686050"/>
              <a:chExt cx="228599" cy="228600"/>
            </a:xfrm>
          </p:grpSpPr>
          <p:sp>
            <p:nvSpPr>
              <p:cNvPr id="16" name="Freeform 16"/>
              <p:cNvSpPr/>
              <p:nvPr/>
            </p:nvSpPr>
            <p:spPr>
              <a:xfrm>
                <a:off x="2743200" y="2686050"/>
                <a:ext cx="228599" cy="114300"/>
              </a:xfrm>
              <a:custGeom>
                <a:avLst/>
                <a:gdLst/>
                <a:ahLst/>
                <a:cxnLst/>
                <a:rect l="l" t="t" r="r" b="b"/>
                <a:pathLst>
                  <a:path w="228599" h="114300">
                    <a:moveTo>
                      <a:pt x="0" y="114300"/>
                    </a:moveTo>
                    <a:lnTo>
                      <a:pt x="12700" y="114300"/>
                    </a:lnTo>
                    <a:moveTo>
                      <a:pt x="114300" y="0"/>
                    </a:moveTo>
                    <a:lnTo>
                      <a:pt x="114300" y="12700"/>
                    </a:lnTo>
                    <a:moveTo>
                      <a:pt x="215899" y="114300"/>
                    </a:moveTo>
                    <a:lnTo>
                      <a:pt x="228599" y="114300"/>
                    </a:lnTo>
                    <a:moveTo>
                      <a:pt x="33020" y="33020"/>
                    </a:moveTo>
                    <a:lnTo>
                      <a:pt x="41910" y="41910"/>
                    </a:lnTo>
                    <a:moveTo>
                      <a:pt x="195580" y="33020"/>
                    </a:moveTo>
                    <a:lnTo>
                      <a:pt x="186690" y="41910"/>
                    </a:lnTo>
                  </a:path>
                </a:pathLst>
              </a:custGeom>
              <a:noFill/>
              <a:ln w="25400">
                <a:solidFill>
                  <a:srgbClr val="FFFFFF"/>
                </a:solidFill>
              </a:ln>
            </p:spPr>
          </p:sp>
          <p:sp>
            <p:nvSpPr>
              <p:cNvPr id="17" name="Freeform 17"/>
              <p:cNvSpPr/>
              <p:nvPr/>
            </p:nvSpPr>
            <p:spPr>
              <a:xfrm>
                <a:off x="2788615" y="2736850"/>
                <a:ext cx="137769" cy="177800"/>
              </a:xfrm>
              <a:custGeom>
                <a:avLst/>
                <a:gdLst/>
                <a:ahLst/>
                <a:cxnLst/>
                <a:rect l="l" t="t" r="r" b="b"/>
                <a:pathLst>
                  <a:path w="137769" h="177800">
                    <a:moveTo>
                      <a:pt x="30785" y="114300"/>
                    </a:moveTo>
                    <a:cubicBezTo>
                      <a:pt x="8919" y="97900"/>
                      <a:pt x="0" y="69349"/>
                      <a:pt x="8643" y="43419"/>
                    </a:cubicBezTo>
                    <a:cubicBezTo>
                      <a:pt x="17286" y="17490"/>
                      <a:pt x="41552" y="0"/>
                      <a:pt x="68884" y="0"/>
                    </a:cubicBezTo>
                    <a:cubicBezTo>
                      <a:pt x="96217" y="0"/>
                      <a:pt x="120482" y="17490"/>
                      <a:pt x="129126" y="43419"/>
                    </a:cubicBezTo>
                    <a:cubicBezTo>
                      <a:pt x="137769" y="69349"/>
                      <a:pt x="128850" y="97900"/>
                      <a:pt x="106984" y="114300"/>
                    </a:cubicBezTo>
                    <a:cubicBezTo>
                      <a:pt x="96928" y="124254"/>
                      <a:pt x="92212" y="138402"/>
                      <a:pt x="94284" y="152400"/>
                    </a:cubicBezTo>
                    <a:cubicBezTo>
                      <a:pt x="94284" y="166428"/>
                      <a:pt x="82912" y="177800"/>
                      <a:pt x="68884" y="177800"/>
                    </a:cubicBezTo>
                    <a:cubicBezTo>
                      <a:pt x="54856" y="177800"/>
                      <a:pt x="43485" y="166428"/>
                      <a:pt x="43485" y="152400"/>
                    </a:cubicBezTo>
                    <a:cubicBezTo>
                      <a:pt x="45557" y="138402"/>
                      <a:pt x="40841" y="124254"/>
                      <a:pt x="30785" y="114300"/>
                    </a:cubicBezTo>
                  </a:path>
                </a:pathLst>
              </a:custGeom>
              <a:noFill/>
              <a:ln w="25400">
                <a:solidFill>
                  <a:srgbClr val="FFFFFF"/>
                </a:solidFill>
              </a:ln>
            </p:spPr>
          </p:sp>
          <p:sp>
            <p:nvSpPr>
              <p:cNvPr id="18" name="Freeform 18"/>
              <p:cNvSpPr/>
              <p:nvPr/>
            </p:nvSpPr>
            <p:spPr>
              <a:xfrm>
                <a:off x="2828290" y="2863849"/>
                <a:ext cx="58420" cy="9525"/>
              </a:xfrm>
              <a:custGeom>
                <a:avLst/>
                <a:gdLst/>
                <a:ahLst/>
                <a:cxnLst/>
                <a:rect l="l" t="t" r="r" b="b"/>
                <a:pathLst>
                  <a:path w="58420" h="9525">
                    <a:moveTo>
                      <a:pt x="0" y="0"/>
                    </a:moveTo>
                    <a:lnTo>
                      <a:pt x="58420" y="0"/>
                    </a:lnTo>
                  </a:path>
                </a:pathLst>
              </a:custGeom>
              <a:noFill/>
              <a:ln w="25400">
                <a:solidFill>
                  <a:srgbClr val="FFFFFF"/>
                </a:solidFill>
              </a:ln>
            </p:spPr>
          </p:sp>
        </p:grpSp>
        <p:sp>
          <p:nvSpPr>
            <p:cNvPr id="20" name="TextBox 20"/>
            <p:cNvSpPr txBox="1"/>
            <p:nvPr/>
          </p:nvSpPr>
          <p:spPr>
            <a:xfrm>
              <a:off x="2404872" y="3079432"/>
              <a:ext cx="905256"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mn-lt"/>
                  <a:ea typeface="+mn-ea"/>
                  <a:cs typeface="+mn-cs"/>
                </a:rPr>
                <a:t>解决方案</a:t>
              </a:r>
            </a:p>
          </p:txBody>
        </p:sp>
        <p:sp>
          <p:nvSpPr>
            <p:cNvPr id="21" name="TextBox 21"/>
            <p:cNvSpPr txBox="1"/>
            <p:nvPr/>
          </p:nvSpPr>
          <p:spPr>
            <a:xfrm>
              <a:off x="2320988" y="3382089"/>
              <a:ext cx="1073023" cy="154781"/>
            </a:xfrm>
            <a:prstGeom prst="rect">
              <a:avLst/>
            </a:prstGeom>
            <a:noFill/>
            <a:ln>
              <a:noFill/>
            </a:ln>
          </p:spPr>
          <p:txBody>
            <a:bodyPr wrap="none" lIns="0" tIns="0" rIns="0" bIns="0" anchor="t" anchorCtr="0">
              <a:spAutoFit/>
            </a:bodyPr>
            <a:lstStyle/>
            <a:p>
              <a:pPr algn="ctr"/>
              <a:r>
                <a:rPr lang="zh-CN" sz="790" dirty="0">
                  <a:solidFill>
                    <a:srgbClr val="FDF6E7"/>
                  </a:solidFill>
                  <a:latin typeface="+mn-lt"/>
                  <a:ea typeface="+mn-ea"/>
                  <a:cs typeface="+mn-cs"/>
                </a:rPr>
                <a:t>每月进行区域成果分享</a:t>
              </a:r>
            </a:p>
          </p:txBody>
        </p:sp>
        <p:sp>
          <p:nvSpPr>
            <p:cNvPr id="22" name="TextBox 22"/>
            <p:cNvSpPr txBox="1"/>
            <p:nvPr/>
          </p:nvSpPr>
          <p:spPr>
            <a:xfrm>
              <a:off x="2710815" y="1334452"/>
              <a:ext cx="293370"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政府</a:t>
              </a:r>
            </a:p>
          </p:txBody>
        </p:sp>
        <p:sp>
          <p:nvSpPr>
            <p:cNvPr id="23" name="TextBox 23"/>
            <p:cNvSpPr txBox="1"/>
            <p:nvPr/>
          </p:nvSpPr>
          <p:spPr>
            <a:xfrm>
              <a:off x="2645759" y="1519238"/>
              <a:ext cx="423482" cy="147638"/>
            </a:xfrm>
            <a:prstGeom prst="rect">
              <a:avLst/>
            </a:prstGeom>
            <a:noFill/>
            <a:ln>
              <a:noFill/>
            </a:ln>
          </p:spPr>
          <p:txBody>
            <a:bodyPr wrap="none" lIns="0" tIns="0" rIns="0" bIns="0" anchor="t" anchorCtr="0">
              <a:spAutoFit/>
            </a:bodyPr>
            <a:lstStyle/>
            <a:p>
              <a:pPr algn="ctr"/>
              <a:r>
                <a:rPr lang="zh-CN" sz="750" dirty="0">
                  <a:solidFill>
                    <a:srgbClr val="8C8C8C"/>
                  </a:solidFill>
                  <a:latin typeface="+mn-lt"/>
                  <a:ea typeface="+mn-ea"/>
                  <a:cs typeface="+mn-cs"/>
                </a:rPr>
                <a:t>(监管方)</a:t>
              </a:r>
            </a:p>
          </p:txBody>
        </p:sp>
        <p:sp>
          <p:nvSpPr>
            <p:cNvPr id="24" name="TextBox 24"/>
            <p:cNvSpPr txBox="1"/>
            <p:nvPr/>
          </p:nvSpPr>
          <p:spPr>
            <a:xfrm>
              <a:off x="906589" y="3982402"/>
              <a:ext cx="434721"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餐饮业</a:t>
              </a:r>
            </a:p>
          </p:txBody>
        </p:sp>
        <p:sp>
          <p:nvSpPr>
            <p:cNvPr id="25" name="TextBox 25"/>
            <p:cNvSpPr txBox="1"/>
            <p:nvPr/>
          </p:nvSpPr>
          <p:spPr>
            <a:xfrm>
              <a:off x="912209" y="4167188"/>
              <a:ext cx="423482" cy="147638"/>
            </a:xfrm>
            <a:prstGeom prst="rect">
              <a:avLst/>
            </a:prstGeom>
            <a:noFill/>
            <a:ln>
              <a:noFill/>
            </a:ln>
          </p:spPr>
          <p:txBody>
            <a:bodyPr wrap="none" lIns="0" tIns="0" rIns="0" bIns="0" anchor="t" anchorCtr="0">
              <a:spAutoFit/>
            </a:bodyPr>
            <a:lstStyle/>
            <a:p>
              <a:pPr algn="ctr"/>
              <a:r>
                <a:rPr lang="zh-CN" sz="750" dirty="0">
                  <a:solidFill>
                    <a:srgbClr val="8C8C8C"/>
                  </a:solidFill>
                  <a:latin typeface="+mn-lt"/>
                  <a:ea typeface="+mn-ea"/>
                  <a:cs typeface="+mn-cs"/>
                </a:rPr>
                <a:t>(排污方)</a:t>
              </a:r>
            </a:p>
          </p:txBody>
        </p:sp>
        <p:sp>
          <p:nvSpPr>
            <p:cNvPr id="26" name="TextBox 26"/>
            <p:cNvSpPr txBox="1"/>
            <p:nvPr/>
          </p:nvSpPr>
          <p:spPr>
            <a:xfrm>
              <a:off x="4373690" y="3982402"/>
              <a:ext cx="434721"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服务方</a:t>
              </a:r>
            </a:p>
          </p:txBody>
        </p:sp>
        <p:sp>
          <p:nvSpPr>
            <p:cNvPr id="27" name="TextBox 27"/>
            <p:cNvSpPr txBox="1"/>
            <p:nvPr/>
          </p:nvSpPr>
          <p:spPr>
            <a:xfrm>
              <a:off x="4379309" y="4167188"/>
              <a:ext cx="423482" cy="147638"/>
            </a:xfrm>
            <a:prstGeom prst="rect">
              <a:avLst/>
            </a:prstGeom>
            <a:noFill/>
            <a:ln>
              <a:noFill/>
            </a:ln>
          </p:spPr>
          <p:txBody>
            <a:bodyPr wrap="none" lIns="0" tIns="0" rIns="0" bIns="0" anchor="t" anchorCtr="0">
              <a:spAutoFit/>
            </a:bodyPr>
            <a:lstStyle/>
            <a:p>
              <a:pPr algn="ctr"/>
              <a:r>
                <a:rPr lang="zh-CN" sz="750" dirty="0">
                  <a:solidFill>
                    <a:srgbClr val="8C8C8C"/>
                  </a:solidFill>
                  <a:latin typeface="+mn-lt"/>
                  <a:ea typeface="+mn-ea"/>
                  <a:cs typeface="+mn-cs"/>
                </a:rPr>
                <a:t>(排污方)</a:t>
              </a:r>
            </a:p>
          </p:txBody>
        </p:sp>
        <p:sp>
          <p:nvSpPr>
            <p:cNvPr id="28" name="TextBox 28"/>
            <p:cNvSpPr txBox="1"/>
            <p:nvPr/>
          </p:nvSpPr>
          <p:spPr>
            <a:xfrm rot="-3480000">
              <a:off x="348892" y="2783720"/>
              <a:ext cx="1538808"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政府立规，严格执法，破解监管难题</a:t>
              </a:r>
            </a:p>
          </p:txBody>
        </p:sp>
        <p:sp>
          <p:nvSpPr>
            <p:cNvPr id="29" name="TextBox 29"/>
            <p:cNvSpPr txBox="1"/>
            <p:nvPr/>
          </p:nvSpPr>
          <p:spPr>
            <a:xfrm rot="3480000">
              <a:off x="3779510" y="2783720"/>
              <a:ext cx="1634388"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政府立项引进社会资本，破解监管难题</a:t>
              </a:r>
            </a:p>
          </p:txBody>
        </p:sp>
        <p:sp>
          <p:nvSpPr>
            <p:cNvPr id="30" name="TextBox 30"/>
            <p:cNvSpPr txBox="1"/>
            <p:nvPr/>
          </p:nvSpPr>
          <p:spPr>
            <a:xfrm>
              <a:off x="2410588" y="5106114"/>
              <a:ext cx="893824" cy="154781"/>
            </a:xfrm>
            <a:prstGeom prst="rect">
              <a:avLst/>
            </a:prstGeom>
            <a:noFill/>
            <a:ln>
              <a:noFill/>
            </a:ln>
          </p:spPr>
          <p:txBody>
            <a:bodyPr wrap="none" lIns="0" tIns="0" rIns="0" bIns="0" anchor="t" anchorCtr="0">
              <a:spAutoFit/>
            </a:bodyPr>
            <a:lstStyle/>
            <a:p>
              <a:pPr algn="ctr"/>
              <a:r>
                <a:rPr lang="zh-CN" sz="790" b="1" dirty="0">
                  <a:solidFill>
                    <a:srgbClr val="333333"/>
                  </a:solidFill>
                  <a:latin typeface="+mn-lt"/>
                  <a:ea typeface="+mn-ea"/>
                  <a:cs typeface="+mn-cs"/>
                </a:rPr>
                <a:t>专注经营 环保无忧</a:t>
              </a:r>
            </a:p>
          </p:txBody>
        </p:sp>
        <p:sp>
          <p:nvSpPr>
            <p:cNvPr id="31" name="Freeform 31"/>
            <p:cNvSpPr/>
            <p:nvPr/>
          </p:nvSpPr>
          <p:spPr>
            <a:xfrm>
              <a:off x="4476750" y="1238250"/>
              <a:ext cx="950647" cy="4000500"/>
            </a:xfrm>
            <a:custGeom>
              <a:avLst/>
              <a:gdLst/>
              <a:ahLst/>
              <a:cxnLst/>
              <a:rect l="l" t="t" r="r" b="b"/>
              <a:pathLst>
                <a:path w="950647" h="4000500">
                  <a:moveTo>
                    <a:pt x="0" y="0"/>
                  </a:moveTo>
                  <a:cubicBezTo>
                    <a:pt x="950647" y="1164072"/>
                    <a:pt x="950647" y="2836428"/>
                    <a:pt x="0" y="4000500"/>
                  </a:cubicBezTo>
                </a:path>
              </a:pathLst>
            </a:custGeom>
            <a:noFill/>
            <a:ln w="47625">
              <a:solidFill>
                <a:srgbClr val="9C594C"/>
              </a:solidFill>
            </a:ln>
          </p:spPr>
        </p:sp>
        <p:sp>
          <p:nvSpPr>
            <p:cNvPr id="32" name="TextBox 32"/>
            <p:cNvSpPr txBox="1"/>
            <p:nvPr/>
          </p:nvSpPr>
          <p:spPr>
            <a:xfrm>
              <a:off x="5288280" y="2714625"/>
              <a:ext cx="205740" cy="1036320"/>
            </a:xfrm>
            <a:prstGeom prst="rect">
              <a:avLst/>
            </a:prstGeom>
            <a:noFill/>
            <a:ln>
              <a:noFill/>
            </a:ln>
          </p:spPr>
          <p:txBody>
            <a:bodyPr wrap="none" lIns="0" tIns="0" rIns="0" bIns="0" anchor="t" anchorCtr="0">
              <a:spAutoFit/>
            </a:bodyPr>
            <a:lstStyle/>
            <a:p>
              <a:pPr algn="ctr">
                <a:lnSpc>
                  <a:spcPts val="1950"/>
                </a:lnSpc>
              </a:pPr>
              <a:r>
                <a:rPr lang="zh-CN" sz="1500" b="1" dirty="0">
                  <a:solidFill>
                    <a:srgbClr val="7A3E33"/>
                  </a:solidFill>
                  <a:latin typeface="+mn-lt"/>
                  <a:ea typeface="+mn-ea"/>
                  <a:cs typeface="+mn-cs"/>
                </a:rPr>
                <a:t>未</a:t>
              </a:r>
              <a:br/>
              <a:r>
                <a:rPr lang="zh-CN" sz="1500" b="1" dirty="0">
                  <a:solidFill>
                    <a:srgbClr val="7A3E33"/>
                  </a:solidFill>
                  <a:latin typeface="+mn-lt"/>
                  <a:ea typeface="+mn-ea"/>
                  <a:cs typeface="+mn-cs"/>
                </a:rPr>
                <a:t>来</a:t>
              </a:r>
              <a:br/>
              <a:r>
                <a:rPr lang="zh-CN" sz="1500" b="1" dirty="0">
                  <a:solidFill>
                    <a:srgbClr val="7A3E33"/>
                  </a:solidFill>
                  <a:latin typeface="+mn-lt"/>
                  <a:ea typeface="+mn-ea"/>
                  <a:cs typeface="+mn-cs"/>
                </a:rPr>
                <a:t>发</a:t>
              </a:r>
              <a:br/>
              <a:r>
                <a:rPr lang="zh-CN" sz="1500" b="1" dirty="0">
                  <a:solidFill>
                    <a:srgbClr val="7A3E33"/>
                  </a:solidFill>
                  <a:latin typeface="+mn-lt"/>
                  <a:ea typeface="+mn-ea"/>
                  <a:cs typeface="+mn-cs"/>
                </a:rPr>
                <a:t>展</a:t>
              </a:r>
            </a:p>
          </p:txBody>
        </p:sp>
        <p:sp>
          <p:nvSpPr>
            <p:cNvPr id="33" name="TextBox 33"/>
            <p:cNvSpPr txBox="1"/>
            <p:nvPr/>
          </p:nvSpPr>
          <p:spPr>
            <a:xfrm>
              <a:off x="5511022" y="3205162"/>
              <a:ext cx="65056" cy="147638"/>
            </a:xfrm>
            <a:prstGeom prst="rect">
              <a:avLst/>
            </a:prstGeom>
            <a:noFill/>
            <a:ln>
              <a:noFill/>
            </a:ln>
          </p:spPr>
          <p:txBody>
            <a:bodyPr wrap="none" lIns="0" tIns="0" rIns="0" bIns="0" anchor="t" anchorCtr="0">
              <a:spAutoFit/>
            </a:bodyPr>
            <a:lstStyle/>
            <a:p>
              <a:pPr algn="ctr"/>
              <a:r>
                <a:rPr lang="zh-CN" sz="750" dirty="0">
                  <a:solidFill>
                    <a:srgbClr val="9C594C"/>
                  </a:solidFill>
                  <a:latin typeface="+mn-lt"/>
                  <a:ea typeface="+mn-ea"/>
                  <a:cs typeface="+mn-cs"/>
                </a:rPr>
                <a:t>▶</a:t>
              </a:r>
            </a:p>
          </p:txBody>
        </p:sp>
      </p:grpSp>
      <p:grpSp>
        <p:nvGrpSpPr>
          <p:cNvPr id="45" name="steps-header"/>
          <p:cNvGrpSpPr/>
          <p:nvPr/>
        </p:nvGrpSpPr>
        <p:grpSpPr>
          <a:xfrm>
            <a:off x="5715000" y="1057275"/>
            <a:ext cx="6096000" cy="628650"/>
            <a:chOff x="5715000" y="1057275"/>
            <a:chExt cx="6096000" cy="628650"/>
          </a:xfrm>
        </p:grpSpPr>
        <p:sp>
          <p:nvSpPr>
            <p:cNvPr id="35" name="Ellipse 35"/>
            <p:cNvSpPr/>
            <p:nvPr/>
          </p:nvSpPr>
          <p:spPr>
            <a:xfrm>
              <a:off x="6534150" y="1057275"/>
              <a:ext cx="266700" cy="266700"/>
            </a:xfrm>
            <a:prstGeom prst="ellipse">
              <a:avLst/>
            </a:prstGeom>
            <a:solidFill>
              <a:srgbClr val="9C594C"/>
            </a:solidFill>
            <a:ln>
              <a:noFill/>
            </a:ln>
          </p:spPr>
        </p:sp>
        <p:sp>
          <p:nvSpPr>
            <p:cNvPr id="36" name="TextBox 36"/>
            <p:cNvSpPr txBox="1"/>
            <p:nvPr/>
          </p:nvSpPr>
          <p:spPr>
            <a:xfrm>
              <a:off x="6627753" y="1141095"/>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a:t>
              </a:r>
            </a:p>
          </p:txBody>
        </p:sp>
        <p:sp>
          <p:nvSpPr>
            <p:cNvPr id="37" name="TextBox 37"/>
            <p:cNvSpPr txBox="1"/>
            <p:nvPr/>
          </p:nvSpPr>
          <p:spPr>
            <a:xfrm>
              <a:off x="6283109" y="1479947"/>
              <a:ext cx="768782"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公司员工服务</a:t>
              </a:r>
            </a:p>
          </p:txBody>
        </p:sp>
        <p:sp>
          <p:nvSpPr>
            <p:cNvPr id="38" name="Ellipse 38"/>
            <p:cNvSpPr/>
            <p:nvPr/>
          </p:nvSpPr>
          <p:spPr>
            <a:xfrm>
              <a:off x="8248650" y="1057275"/>
              <a:ext cx="266700" cy="266700"/>
            </a:xfrm>
            <a:prstGeom prst="ellipse">
              <a:avLst/>
            </a:prstGeom>
            <a:solidFill>
              <a:srgbClr val="E9563C"/>
            </a:solidFill>
            <a:ln>
              <a:noFill/>
            </a:ln>
          </p:spPr>
        </p:sp>
        <p:sp>
          <p:nvSpPr>
            <p:cNvPr id="39" name="TextBox 39"/>
            <p:cNvSpPr txBox="1"/>
            <p:nvPr/>
          </p:nvSpPr>
          <p:spPr>
            <a:xfrm>
              <a:off x="8342253" y="1141095"/>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a:t>
              </a:r>
            </a:p>
          </p:txBody>
        </p:sp>
        <p:sp>
          <p:nvSpPr>
            <p:cNvPr id="40" name="TextBox 40"/>
            <p:cNvSpPr txBox="1"/>
            <p:nvPr/>
          </p:nvSpPr>
          <p:spPr>
            <a:xfrm>
              <a:off x="8124152" y="1479947"/>
              <a:ext cx="515696"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用户运营</a:t>
              </a:r>
            </a:p>
          </p:txBody>
        </p:sp>
        <p:sp>
          <p:nvSpPr>
            <p:cNvPr id="41" name="Ellipse 41"/>
            <p:cNvSpPr/>
            <p:nvPr/>
          </p:nvSpPr>
          <p:spPr>
            <a:xfrm>
              <a:off x="9486900" y="1057275"/>
              <a:ext cx="266700" cy="266700"/>
            </a:xfrm>
            <a:prstGeom prst="ellipse">
              <a:avLst/>
            </a:prstGeom>
            <a:solidFill>
              <a:srgbClr val="9C594C"/>
            </a:solidFill>
            <a:ln>
              <a:noFill/>
            </a:ln>
          </p:spPr>
        </p:sp>
        <p:sp>
          <p:nvSpPr>
            <p:cNvPr id="42" name="TextBox 42"/>
            <p:cNvSpPr txBox="1"/>
            <p:nvPr/>
          </p:nvSpPr>
          <p:spPr>
            <a:xfrm>
              <a:off x="9580503" y="1141095"/>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a:t>
              </a:r>
            </a:p>
          </p:txBody>
        </p:sp>
        <p:sp>
          <p:nvSpPr>
            <p:cNvPr id="43" name="TextBox 43"/>
            <p:cNvSpPr txBox="1"/>
            <p:nvPr/>
          </p:nvSpPr>
          <p:spPr>
            <a:xfrm>
              <a:off x="9362402" y="1479947"/>
              <a:ext cx="515696"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提升效率</a:t>
              </a:r>
            </a:p>
          </p:txBody>
        </p:sp>
        <p:sp>
          <p:nvSpPr>
            <p:cNvPr id="44" name="Line 44"/>
            <p:cNvSpPr/>
            <p:nvPr/>
          </p:nvSpPr>
          <p:spPr>
            <a:xfrm>
              <a:off x="5715000" y="1676400"/>
              <a:ext cx="6096000" cy="9525"/>
            </a:xfrm>
            <a:custGeom>
              <a:avLst/>
              <a:gdLst/>
              <a:ahLst/>
              <a:cxnLst/>
              <a:rect l="l" t="t" r="r" b="b"/>
              <a:pathLst>
                <a:path w="6096000" h="9525">
                  <a:moveTo>
                    <a:pt x="0" y="0"/>
                  </a:moveTo>
                  <a:lnTo>
                    <a:pt x="6096000" y="0"/>
                  </a:lnTo>
                </a:path>
              </a:pathLst>
            </a:custGeom>
            <a:noFill/>
            <a:ln w="9525">
              <a:solidFill>
                <a:srgbClr val="595959"/>
              </a:solidFill>
            </a:ln>
          </p:spPr>
        </p:sp>
      </p:grpSp>
      <p:grpSp>
        <p:nvGrpSpPr>
          <p:cNvPr id="63" name="col1-welfare"/>
          <p:cNvGrpSpPr/>
          <p:nvPr/>
        </p:nvGrpSpPr>
        <p:grpSpPr>
          <a:xfrm>
            <a:off x="5715000" y="1809750"/>
            <a:ext cx="2190750" cy="2495550"/>
            <a:chOff x="5715000" y="1809750"/>
            <a:chExt cx="2190750" cy="2495550"/>
          </a:xfrm>
        </p:grpSpPr>
        <p:sp>
          <p:nvSpPr>
            <p:cNvPr id="46" name="Rectangle 46"/>
            <p:cNvSpPr/>
            <p:nvPr/>
          </p:nvSpPr>
          <p:spPr>
            <a:xfrm>
              <a:off x="5715000" y="1809750"/>
              <a:ext cx="2190750" cy="304800"/>
            </a:xfrm>
            <a:prstGeom prst="rect">
              <a:avLst/>
            </a:prstGeom>
            <a:solidFill>
              <a:srgbClr val="9C594C"/>
            </a:solidFill>
            <a:ln>
              <a:noFill/>
            </a:ln>
          </p:spPr>
        </p:sp>
        <p:sp>
          <p:nvSpPr>
            <p:cNvPr id="47" name="TextBox 47"/>
            <p:cNvSpPr txBox="1"/>
            <p:nvPr/>
          </p:nvSpPr>
          <p:spPr>
            <a:xfrm>
              <a:off x="6409639" y="191404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公司福利待遇</a:t>
              </a:r>
            </a:p>
          </p:txBody>
        </p:sp>
        <p:sp>
          <p:nvSpPr>
            <p:cNvPr id="48" name="Rectangle 48"/>
            <p:cNvSpPr/>
            <p:nvPr/>
          </p:nvSpPr>
          <p:spPr>
            <a:xfrm>
              <a:off x="5715000" y="2114550"/>
              <a:ext cx="2190750" cy="762000"/>
            </a:xfrm>
            <a:prstGeom prst="rect">
              <a:avLst/>
            </a:prstGeom>
            <a:solidFill>
              <a:srgbClr val="F4F8EF"/>
            </a:solidFill>
            <a:ln>
              <a:noFill/>
            </a:ln>
          </p:spPr>
        </p:sp>
        <p:sp>
          <p:nvSpPr>
            <p:cNvPr id="49" name="TextBox 49"/>
            <p:cNvSpPr txBox="1"/>
            <p:nvPr/>
          </p:nvSpPr>
          <p:spPr>
            <a:xfrm>
              <a:off x="5990908" y="225813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双休</a:t>
              </a:r>
              <a:br/>
              <a:r>
                <a:rPr lang="zh-CN" sz="790" dirty="0">
                  <a:solidFill>
                    <a:srgbClr val="333333"/>
                  </a:solidFill>
                  <a:latin typeface="+mn-lt"/>
                  <a:ea typeface="+mn-ea"/>
                  <a:cs typeface="+mn-cs"/>
                </a:rPr>
                <a:t>福利</a:t>
              </a:r>
              <a:br/>
              <a:r>
                <a:rPr lang="zh-CN" sz="790" dirty="0">
                  <a:solidFill>
                    <a:srgbClr val="333333"/>
                  </a:solidFill>
                  <a:latin typeface="+mn-lt"/>
                  <a:ea typeface="+mn-ea"/>
                  <a:cs typeface="+mn-cs"/>
                </a:rPr>
                <a:t>待遇</a:t>
              </a:r>
            </a:p>
          </p:txBody>
        </p:sp>
        <p:sp>
          <p:nvSpPr>
            <p:cNvPr id="50" name="Line 50"/>
            <p:cNvSpPr/>
            <p:nvPr/>
          </p:nvSpPr>
          <p:spPr>
            <a:xfrm>
              <a:off x="6457950" y="2209800"/>
              <a:ext cx="9525" cy="571500"/>
            </a:xfrm>
            <a:custGeom>
              <a:avLst/>
              <a:gdLst/>
              <a:ahLst/>
              <a:cxnLst/>
              <a:rect l="l" t="t" r="r" b="b"/>
              <a:pathLst>
                <a:path w="9525" h="571500">
                  <a:moveTo>
                    <a:pt x="0" y="0"/>
                  </a:moveTo>
                  <a:lnTo>
                    <a:pt x="0" y="571500"/>
                  </a:lnTo>
                </a:path>
              </a:pathLst>
            </a:custGeom>
            <a:noFill/>
            <a:ln w="9525">
              <a:solidFill>
                <a:srgbClr val="C9D8BD"/>
              </a:solidFill>
            </a:ln>
          </p:spPr>
        </p:sp>
        <p:sp>
          <p:nvSpPr>
            <p:cNvPr id="51" name="TextBox 51"/>
            <p:cNvSpPr txBox="1"/>
            <p:nvPr/>
          </p:nvSpPr>
          <p:spPr>
            <a:xfrm>
              <a:off x="6705282" y="225813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日常</a:t>
              </a:r>
              <a:br/>
              <a:r>
                <a:rPr lang="zh-CN" sz="790" dirty="0">
                  <a:solidFill>
                    <a:srgbClr val="333333"/>
                  </a:solidFill>
                  <a:latin typeface="+mn-lt"/>
                  <a:ea typeface="+mn-ea"/>
                  <a:cs typeface="+mn-cs"/>
                </a:rPr>
                <a:t>工作</a:t>
              </a:r>
              <a:br/>
              <a:r>
                <a:rPr lang="zh-CN" sz="790" dirty="0">
                  <a:solidFill>
                    <a:srgbClr val="333333"/>
                  </a:solidFill>
                  <a:latin typeface="+mn-lt"/>
                  <a:ea typeface="+mn-ea"/>
                  <a:cs typeface="+mn-cs"/>
                </a:rPr>
                <a:t>协助</a:t>
              </a:r>
            </a:p>
          </p:txBody>
        </p:sp>
        <p:sp>
          <p:nvSpPr>
            <p:cNvPr id="52" name="Line 52"/>
            <p:cNvSpPr/>
            <p:nvPr/>
          </p:nvSpPr>
          <p:spPr>
            <a:xfrm>
              <a:off x="7172325" y="2209800"/>
              <a:ext cx="9525" cy="571500"/>
            </a:xfrm>
            <a:custGeom>
              <a:avLst/>
              <a:gdLst/>
              <a:ahLst/>
              <a:cxnLst/>
              <a:rect l="l" t="t" r="r" b="b"/>
              <a:pathLst>
                <a:path w="9525" h="571500">
                  <a:moveTo>
                    <a:pt x="0" y="0"/>
                  </a:moveTo>
                  <a:lnTo>
                    <a:pt x="0" y="571500"/>
                  </a:lnTo>
                </a:path>
              </a:pathLst>
            </a:custGeom>
            <a:noFill/>
            <a:ln w="9525">
              <a:solidFill>
                <a:srgbClr val="C9D8BD"/>
              </a:solidFill>
            </a:ln>
          </p:spPr>
        </p:sp>
        <p:sp>
          <p:nvSpPr>
            <p:cNvPr id="53" name="TextBox 53"/>
            <p:cNvSpPr txBox="1"/>
            <p:nvPr/>
          </p:nvSpPr>
          <p:spPr>
            <a:xfrm>
              <a:off x="7419658" y="225813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其他</a:t>
              </a:r>
              <a:br/>
              <a:r>
                <a:rPr lang="zh-CN" sz="790" dirty="0">
                  <a:solidFill>
                    <a:srgbClr val="333333"/>
                  </a:solidFill>
                  <a:latin typeface="+mn-lt"/>
                  <a:ea typeface="+mn-ea"/>
                  <a:cs typeface="+mn-cs"/>
                </a:rPr>
                <a:t>团建</a:t>
              </a:r>
              <a:br/>
              <a:r>
                <a:rPr lang="zh-CN" sz="790" dirty="0">
                  <a:solidFill>
                    <a:srgbClr val="333333"/>
                  </a:solidFill>
                  <a:latin typeface="+mn-lt"/>
                  <a:ea typeface="+mn-ea"/>
                  <a:cs typeface="+mn-cs"/>
                </a:rPr>
                <a:t>活动</a:t>
              </a:r>
            </a:p>
          </p:txBody>
        </p:sp>
        <p:sp>
          <p:nvSpPr>
            <p:cNvPr id="54" name="Line 54"/>
            <p:cNvSpPr/>
            <p:nvPr/>
          </p:nvSpPr>
          <p:spPr>
            <a:xfrm>
              <a:off x="6810375" y="2895600"/>
              <a:ext cx="9525" cy="323850"/>
            </a:xfrm>
            <a:custGeom>
              <a:avLst/>
              <a:gdLst/>
              <a:ahLst/>
              <a:cxnLst/>
              <a:rect l="l" t="t" r="r" b="b"/>
              <a:pathLst>
                <a:path w="9525" h="323850">
                  <a:moveTo>
                    <a:pt x="0" y="0"/>
                  </a:moveTo>
                  <a:lnTo>
                    <a:pt x="0" y="323850"/>
                  </a:lnTo>
                </a:path>
              </a:pathLst>
            </a:custGeom>
            <a:noFill/>
            <a:ln w="11430">
              <a:solidFill>
                <a:srgbClr val="BF857A"/>
              </a:solidFill>
              <a:custDash>
                <a:ds d="250000" sp="166667"/>
              </a:custDash>
            </a:ln>
          </p:spPr>
        </p:sp>
        <p:sp>
          <p:nvSpPr>
            <p:cNvPr id="55" name="Rectangle 55"/>
            <p:cNvSpPr/>
            <p:nvPr/>
          </p:nvSpPr>
          <p:spPr>
            <a:xfrm>
              <a:off x="5715000" y="3238500"/>
              <a:ext cx="2190750" cy="304800"/>
            </a:xfrm>
            <a:prstGeom prst="rect">
              <a:avLst/>
            </a:prstGeom>
            <a:solidFill>
              <a:srgbClr val="9C594C"/>
            </a:solidFill>
            <a:ln>
              <a:noFill/>
            </a:ln>
          </p:spPr>
        </p:sp>
        <p:sp>
          <p:nvSpPr>
            <p:cNvPr id="56" name="TextBox 56"/>
            <p:cNvSpPr txBox="1"/>
            <p:nvPr/>
          </p:nvSpPr>
          <p:spPr>
            <a:xfrm>
              <a:off x="6409639" y="334279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其他保险机制</a:t>
              </a:r>
            </a:p>
          </p:txBody>
        </p:sp>
        <p:sp>
          <p:nvSpPr>
            <p:cNvPr id="57" name="Rectangle 57"/>
            <p:cNvSpPr/>
            <p:nvPr/>
          </p:nvSpPr>
          <p:spPr>
            <a:xfrm>
              <a:off x="5715000" y="3543300"/>
              <a:ext cx="2190750" cy="762000"/>
            </a:xfrm>
            <a:prstGeom prst="rect">
              <a:avLst/>
            </a:prstGeom>
            <a:solidFill>
              <a:srgbClr val="F4F8EF"/>
            </a:solidFill>
            <a:ln>
              <a:noFill/>
            </a:ln>
          </p:spPr>
        </p:sp>
        <p:sp>
          <p:nvSpPr>
            <p:cNvPr id="58" name="TextBox 58"/>
            <p:cNvSpPr txBox="1"/>
            <p:nvPr/>
          </p:nvSpPr>
          <p:spPr>
            <a:xfrm>
              <a:off x="5990908" y="368688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公司</a:t>
              </a:r>
              <a:br/>
              <a:r>
                <a:rPr lang="zh-CN" sz="790" dirty="0">
                  <a:solidFill>
                    <a:srgbClr val="333333"/>
                  </a:solidFill>
                  <a:latin typeface="+mn-lt"/>
                  <a:ea typeface="+mn-ea"/>
                  <a:cs typeface="+mn-cs"/>
                </a:rPr>
                <a:t>保险</a:t>
              </a:r>
              <a:br/>
              <a:r>
                <a:rPr lang="zh-CN" sz="790" dirty="0">
                  <a:solidFill>
                    <a:srgbClr val="333333"/>
                  </a:solidFill>
                  <a:latin typeface="+mn-lt"/>
                  <a:ea typeface="+mn-ea"/>
                  <a:cs typeface="+mn-cs"/>
                </a:rPr>
                <a:t>机制</a:t>
              </a:r>
            </a:p>
          </p:txBody>
        </p:sp>
        <p:sp>
          <p:nvSpPr>
            <p:cNvPr id="59" name="Line 59"/>
            <p:cNvSpPr/>
            <p:nvPr/>
          </p:nvSpPr>
          <p:spPr>
            <a:xfrm>
              <a:off x="6457950" y="3638550"/>
              <a:ext cx="9525" cy="571500"/>
            </a:xfrm>
            <a:custGeom>
              <a:avLst/>
              <a:gdLst/>
              <a:ahLst/>
              <a:cxnLst/>
              <a:rect l="l" t="t" r="r" b="b"/>
              <a:pathLst>
                <a:path w="9525" h="571500">
                  <a:moveTo>
                    <a:pt x="0" y="0"/>
                  </a:moveTo>
                  <a:lnTo>
                    <a:pt x="0" y="571500"/>
                  </a:lnTo>
                </a:path>
              </a:pathLst>
            </a:custGeom>
            <a:noFill/>
            <a:ln w="9525">
              <a:solidFill>
                <a:srgbClr val="C9D8BD"/>
              </a:solidFill>
            </a:ln>
          </p:spPr>
        </p:sp>
        <p:sp>
          <p:nvSpPr>
            <p:cNvPr id="60" name="TextBox 60"/>
            <p:cNvSpPr txBox="1"/>
            <p:nvPr/>
          </p:nvSpPr>
          <p:spPr>
            <a:xfrm>
              <a:off x="6655118" y="3763089"/>
              <a:ext cx="310515" cy="297656"/>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上下班</a:t>
              </a:r>
              <a:br/>
              <a:r>
                <a:rPr lang="zh-CN" sz="790" dirty="0">
                  <a:solidFill>
                    <a:srgbClr val="333333"/>
                  </a:solidFill>
                  <a:latin typeface="+mn-lt"/>
                  <a:ea typeface="+mn-ea"/>
                  <a:cs typeface="+mn-cs"/>
                </a:rPr>
                <a:t>保险</a:t>
              </a:r>
            </a:p>
          </p:txBody>
        </p:sp>
        <p:sp>
          <p:nvSpPr>
            <p:cNvPr id="61" name="Line 61"/>
            <p:cNvSpPr/>
            <p:nvPr/>
          </p:nvSpPr>
          <p:spPr>
            <a:xfrm>
              <a:off x="7172325" y="3638550"/>
              <a:ext cx="9525" cy="571500"/>
            </a:xfrm>
            <a:custGeom>
              <a:avLst/>
              <a:gdLst/>
              <a:ahLst/>
              <a:cxnLst/>
              <a:rect l="l" t="t" r="r" b="b"/>
              <a:pathLst>
                <a:path w="9525" h="571500">
                  <a:moveTo>
                    <a:pt x="0" y="0"/>
                  </a:moveTo>
                  <a:lnTo>
                    <a:pt x="0" y="571500"/>
                  </a:lnTo>
                </a:path>
              </a:pathLst>
            </a:custGeom>
            <a:noFill/>
            <a:ln w="9525">
              <a:solidFill>
                <a:srgbClr val="C9D8BD"/>
              </a:solidFill>
            </a:ln>
          </p:spPr>
        </p:sp>
        <p:sp>
          <p:nvSpPr>
            <p:cNvPr id="62" name="TextBox 62"/>
            <p:cNvSpPr txBox="1"/>
            <p:nvPr/>
          </p:nvSpPr>
          <p:spPr>
            <a:xfrm>
              <a:off x="7419658" y="368688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其他</a:t>
              </a:r>
              <a:br/>
              <a:r>
                <a:rPr lang="zh-CN" sz="790" dirty="0">
                  <a:solidFill>
                    <a:srgbClr val="333333"/>
                  </a:solidFill>
                  <a:latin typeface="+mn-lt"/>
                  <a:ea typeface="+mn-ea"/>
                  <a:cs typeface="+mn-cs"/>
                </a:rPr>
                <a:t>保险</a:t>
              </a:r>
              <a:br/>
              <a:r>
                <a:rPr lang="zh-CN" sz="790" dirty="0">
                  <a:solidFill>
                    <a:srgbClr val="333333"/>
                  </a:solidFill>
                  <a:latin typeface="+mn-lt"/>
                  <a:ea typeface="+mn-ea"/>
                  <a:cs typeface="+mn-cs"/>
                </a:rPr>
                <a:t>内容</a:t>
              </a:r>
            </a:p>
          </p:txBody>
        </p:sp>
      </p:grpSp>
      <p:grpSp>
        <p:nvGrpSpPr>
          <p:cNvPr id="74" name="col1-notes"/>
          <p:cNvGrpSpPr/>
          <p:nvPr/>
        </p:nvGrpSpPr>
        <p:grpSpPr>
          <a:xfrm>
            <a:off x="5715000" y="4438650"/>
            <a:ext cx="2190750" cy="911542"/>
            <a:chOff x="5715000" y="4438650"/>
            <a:chExt cx="2190750" cy="911542"/>
          </a:xfrm>
        </p:grpSpPr>
        <p:sp>
          <p:nvSpPr>
            <p:cNvPr id="64" name="Polyline 64"/>
            <p:cNvSpPr/>
            <p:nvPr/>
          </p:nvSpPr>
          <p:spPr>
            <a:xfrm>
              <a:off x="5715000" y="4438650"/>
              <a:ext cx="2190750" cy="57150"/>
            </a:xfrm>
            <a:custGeom>
              <a:avLst/>
              <a:gdLst/>
              <a:ahLst/>
              <a:cxnLst/>
              <a:rect l="l" t="t" r="r" b="b"/>
              <a:pathLst>
                <a:path w="2190750" h="57150">
                  <a:moveTo>
                    <a:pt x="0" y="0"/>
                  </a:moveTo>
                  <a:lnTo>
                    <a:pt x="0" y="57150"/>
                  </a:lnTo>
                  <a:lnTo>
                    <a:pt x="2190750" y="57150"/>
                  </a:lnTo>
                  <a:lnTo>
                    <a:pt x="2190750" y="0"/>
                  </a:lnTo>
                </a:path>
              </a:pathLst>
            </a:custGeom>
            <a:noFill/>
            <a:ln w="11430">
              <a:solidFill>
                <a:srgbClr val="BF857A"/>
              </a:solidFill>
            </a:ln>
          </p:spPr>
        </p:sp>
        <p:sp>
          <p:nvSpPr>
            <p:cNvPr id="65" name="Line 65"/>
            <p:cNvSpPr/>
            <p:nvPr/>
          </p:nvSpPr>
          <p:spPr>
            <a:xfrm>
              <a:off x="6810375" y="4495800"/>
              <a:ext cx="9525" cy="76200"/>
            </a:xfrm>
            <a:custGeom>
              <a:avLst/>
              <a:gdLst/>
              <a:ahLst/>
              <a:cxnLst/>
              <a:rect l="l" t="t" r="r" b="b"/>
              <a:pathLst>
                <a:path w="9525" h="76200">
                  <a:moveTo>
                    <a:pt x="0" y="0"/>
                  </a:moveTo>
                  <a:lnTo>
                    <a:pt x="0" y="76200"/>
                  </a:lnTo>
                </a:path>
              </a:pathLst>
            </a:custGeom>
            <a:noFill/>
            <a:ln w="11430">
              <a:solidFill>
                <a:srgbClr val="BF857A"/>
              </a:solidFill>
            </a:ln>
          </p:spPr>
        </p:sp>
        <p:sp>
          <p:nvSpPr>
            <p:cNvPr id="66" name="Ellipse 66"/>
            <p:cNvSpPr/>
            <p:nvPr/>
          </p:nvSpPr>
          <p:spPr>
            <a:xfrm>
              <a:off x="5762625" y="4695825"/>
              <a:ext cx="133350" cy="133350"/>
            </a:xfrm>
            <a:prstGeom prst="ellipse">
              <a:avLst/>
            </a:prstGeom>
            <a:solidFill>
              <a:srgbClr val="9C594C"/>
            </a:solidFill>
            <a:ln>
              <a:noFill/>
            </a:ln>
          </p:spPr>
        </p:sp>
        <p:sp>
          <p:nvSpPr>
            <p:cNvPr id="67" name="TextBox 67"/>
            <p:cNvSpPr txBox="1"/>
            <p:nvPr/>
          </p:nvSpPr>
          <p:spPr>
            <a:xfrm>
              <a:off x="5799660" y="47270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a:t>
              </a:r>
            </a:p>
          </p:txBody>
        </p:sp>
        <p:sp>
          <p:nvSpPr>
            <p:cNvPr id="68" name="TextBox 68"/>
            <p:cNvSpPr txBox="1"/>
            <p:nvPr/>
          </p:nvSpPr>
          <p:spPr>
            <a:xfrm>
              <a:off x="5957888" y="4706064"/>
              <a:ext cx="1711122" cy="154781"/>
            </a:xfrm>
            <a:prstGeom prst="rect">
              <a:avLst/>
            </a:prstGeom>
            <a:noFill/>
            <a:ln>
              <a:noFill/>
            </a:ln>
          </p:spPr>
          <p:txBody>
            <a:bodyPr wrap="none" lIns="0" tIns="0" rIns="0" bIns="0" anchor="t" anchorCtr="0">
              <a:spAutoFit/>
            </a:bodyPr>
            <a:lstStyle/>
            <a:p>
              <a:pPr algn="l"/>
              <a:r>
                <a:rPr lang="zh-CN" sz="790" b="1" dirty="0">
                  <a:solidFill>
                    <a:srgbClr val="333333"/>
                  </a:solidFill>
                  <a:latin typeface="+mn-lt"/>
                  <a:ea typeface="+mn-ea"/>
                  <a:cs typeface="+mn-cs"/>
                </a:rPr>
                <a:t>数据分析是指用适当的统计分析方法</a:t>
              </a:r>
            </a:p>
          </p:txBody>
        </p:sp>
        <p:sp>
          <p:nvSpPr>
            <p:cNvPr id="69" name="TextBox 69"/>
            <p:cNvSpPr txBox="1"/>
            <p:nvPr/>
          </p:nvSpPr>
          <p:spPr>
            <a:xfrm>
              <a:off x="5957888" y="4850130"/>
              <a:ext cx="1106567" cy="119062"/>
            </a:xfrm>
            <a:prstGeom prst="rect">
              <a:avLst/>
            </a:prstGeom>
            <a:noFill/>
            <a:ln>
              <a:noFill/>
            </a:ln>
          </p:spPr>
          <p:txBody>
            <a:bodyPr wrap="none" lIns="0" tIns="0" rIns="0" bIns="0" anchor="t" anchorCtr="0">
              <a:spAutoFit/>
            </a:bodyPr>
            <a:lstStyle/>
            <a:p>
              <a:pPr algn="l"/>
              <a:r>
                <a:rPr lang="en-US" sz="600" dirty="0">
                  <a:solidFill>
                    <a:srgbClr val="8C8C8C"/>
                  </a:solidFill>
                  <a:latin typeface="+mn-lt"/>
                  <a:ea typeface="+mn-ea"/>
                  <a:cs typeface="+mn-cs"/>
                </a:rPr>
                <a:t>Chart data display template</a:t>
              </a:r>
            </a:p>
          </p:txBody>
        </p:sp>
        <p:sp>
          <p:nvSpPr>
            <p:cNvPr id="70" name="Ellipse 70"/>
            <p:cNvSpPr/>
            <p:nvPr/>
          </p:nvSpPr>
          <p:spPr>
            <a:xfrm>
              <a:off x="5762625" y="5076825"/>
              <a:ext cx="133350" cy="133350"/>
            </a:xfrm>
            <a:prstGeom prst="ellipse">
              <a:avLst/>
            </a:prstGeom>
            <a:solidFill>
              <a:srgbClr val="9C594C"/>
            </a:solidFill>
            <a:ln>
              <a:noFill/>
            </a:ln>
          </p:spPr>
        </p:sp>
        <p:sp>
          <p:nvSpPr>
            <p:cNvPr id="71" name="TextBox 71"/>
            <p:cNvSpPr txBox="1"/>
            <p:nvPr/>
          </p:nvSpPr>
          <p:spPr>
            <a:xfrm>
              <a:off x="5799660" y="51080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a:t>
              </a:r>
            </a:p>
          </p:txBody>
        </p:sp>
        <p:sp>
          <p:nvSpPr>
            <p:cNvPr id="72" name="TextBox 72"/>
            <p:cNvSpPr txBox="1"/>
            <p:nvPr/>
          </p:nvSpPr>
          <p:spPr>
            <a:xfrm>
              <a:off x="5957888" y="5087064"/>
              <a:ext cx="1392072" cy="154781"/>
            </a:xfrm>
            <a:prstGeom prst="rect">
              <a:avLst/>
            </a:prstGeom>
            <a:noFill/>
            <a:ln>
              <a:noFill/>
            </a:ln>
          </p:spPr>
          <p:txBody>
            <a:bodyPr wrap="none" lIns="0" tIns="0" rIns="0" bIns="0" anchor="t" anchorCtr="0">
              <a:spAutoFit/>
            </a:bodyPr>
            <a:lstStyle/>
            <a:p>
              <a:pPr algn="l"/>
              <a:r>
                <a:rPr lang="zh-CN" sz="790" b="1" dirty="0">
                  <a:solidFill>
                    <a:srgbClr val="333333"/>
                  </a:solidFill>
                  <a:latin typeface="+mn-lt"/>
                  <a:ea typeface="+mn-ea"/>
                  <a:cs typeface="+mn-cs"/>
                </a:rPr>
                <a:t>对收集来的大量数据进行分析</a:t>
              </a:r>
            </a:p>
          </p:txBody>
        </p:sp>
        <p:sp>
          <p:nvSpPr>
            <p:cNvPr id="73" name="TextBox 73"/>
            <p:cNvSpPr txBox="1"/>
            <p:nvPr/>
          </p:nvSpPr>
          <p:spPr>
            <a:xfrm>
              <a:off x="5957888" y="5231130"/>
              <a:ext cx="1106567" cy="119062"/>
            </a:xfrm>
            <a:prstGeom prst="rect">
              <a:avLst/>
            </a:prstGeom>
            <a:noFill/>
            <a:ln>
              <a:noFill/>
            </a:ln>
          </p:spPr>
          <p:txBody>
            <a:bodyPr wrap="none" lIns="0" tIns="0" rIns="0" bIns="0" anchor="t" anchorCtr="0">
              <a:spAutoFit/>
            </a:bodyPr>
            <a:lstStyle/>
            <a:p>
              <a:pPr algn="l"/>
              <a:r>
                <a:rPr lang="en-US" sz="600" dirty="0">
                  <a:solidFill>
                    <a:srgbClr val="8C8C8C"/>
                  </a:solidFill>
                  <a:latin typeface="+mn-lt"/>
                  <a:ea typeface="+mn-ea"/>
                  <a:cs typeface="+mn-cs"/>
                </a:rPr>
                <a:t>Chart data display template</a:t>
              </a:r>
            </a:p>
          </p:txBody>
        </p:sp>
      </p:grpSp>
      <p:grpSp>
        <p:nvGrpSpPr>
          <p:cNvPr id="76" name="reputation-label"/>
          <p:cNvGrpSpPr/>
          <p:nvPr/>
        </p:nvGrpSpPr>
        <p:grpSpPr>
          <a:xfrm>
            <a:off x="7928991" y="2667952"/>
            <a:ext cx="144018" cy="776859"/>
            <a:chOff x="7928991" y="2667952"/>
            <a:chExt cx="144018" cy="776859"/>
          </a:xfrm>
        </p:grpSpPr>
        <p:sp>
          <p:nvSpPr>
            <p:cNvPr id="75" name="TextBox 75"/>
            <p:cNvSpPr txBox="1"/>
            <p:nvPr/>
          </p:nvSpPr>
          <p:spPr>
            <a:xfrm>
              <a:off x="7928991" y="2667952"/>
              <a:ext cx="144018" cy="776859"/>
            </a:xfrm>
            <a:prstGeom prst="rect">
              <a:avLst/>
            </a:prstGeom>
            <a:noFill/>
            <a:ln>
              <a:noFill/>
            </a:ln>
          </p:spPr>
          <p:txBody>
            <a:bodyPr wrap="none" lIns="0" tIns="0" rIns="0" bIns="0" anchor="t" anchorCtr="0">
              <a:spAutoFit/>
            </a:bodyPr>
            <a:lstStyle/>
            <a:p>
              <a:pPr algn="ctr">
                <a:lnSpc>
                  <a:spcPts val="1500"/>
                </a:lnSpc>
              </a:pPr>
              <a:r>
                <a:rPr lang="zh-CN" sz="1050" b="1" dirty="0">
                  <a:solidFill>
                    <a:srgbClr val="333333"/>
                  </a:solidFill>
                  <a:latin typeface="+mn-lt"/>
                  <a:ea typeface="+mn-ea"/>
                  <a:cs typeface="+mn-cs"/>
                </a:rPr>
                <a:t>口</a:t>
              </a:r>
              <a:br/>
              <a:r>
                <a:rPr lang="zh-CN" sz="1050" b="1" dirty="0">
                  <a:solidFill>
                    <a:srgbClr val="333333"/>
                  </a:solidFill>
                  <a:latin typeface="+mn-lt"/>
                  <a:ea typeface="+mn-ea"/>
                  <a:cs typeface="+mn-cs"/>
                </a:rPr>
                <a:t>碑</a:t>
              </a:r>
              <a:br/>
              <a:r>
                <a:rPr lang="zh-CN" sz="1050" b="1" dirty="0">
                  <a:solidFill>
                    <a:srgbClr val="333333"/>
                  </a:solidFill>
                  <a:latin typeface="+mn-lt"/>
                  <a:ea typeface="+mn-ea"/>
                  <a:cs typeface="+mn-cs"/>
                </a:rPr>
                <a:t>提</a:t>
              </a:r>
              <a:br/>
              <a:r>
                <a:rPr lang="zh-CN" sz="1050" b="1" dirty="0">
                  <a:solidFill>
                    <a:srgbClr val="333333"/>
                  </a:solidFill>
                  <a:latin typeface="+mn-lt"/>
                  <a:ea typeface="+mn-ea"/>
                  <a:cs typeface="+mn-cs"/>
                </a:rPr>
                <a:t>升</a:t>
              </a:r>
            </a:p>
          </p:txBody>
        </p:sp>
      </p:grpSp>
      <p:grpSp>
        <p:nvGrpSpPr>
          <p:cNvPr id="88" name="col2-leads"/>
          <p:cNvGrpSpPr/>
          <p:nvPr/>
        </p:nvGrpSpPr>
        <p:grpSpPr>
          <a:xfrm>
            <a:off x="8096250" y="1809750"/>
            <a:ext cx="1238250" cy="2495550"/>
            <a:chOff x="8096250" y="1809750"/>
            <a:chExt cx="1238250" cy="2495550"/>
          </a:xfrm>
        </p:grpSpPr>
        <p:sp>
          <p:nvSpPr>
            <p:cNvPr id="77" name="Rectangle 77"/>
            <p:cNvSpPr/>
            <p:nvPr/>
          </p:nvSpPr>
          <p:spPr>
            <a:xfrm>
              <a:off x="8096250" y="1809750"/>
              <a:ext cx="1047750" cy="304800"/>
            </a:xfrm>
            <a:prstGeom prst="rect">
              <a:avLst/>
            </a:prstGeom>
            <a:solidFill>
              <a:srgbClr val="E9563C"/>
            </a:solidFill>
            <a:ln>
              <a:noFill/>
            </a:ln>
          </p:spPr>
        </p:sp>
        <p:sp>
          <p:nvSpPr>
            <p:cNvPr id="78" name="TextBox 78"/>
            <p:cNvSpPr txBox="1"/>
            <p:nvPr/>
          </p:nvSpPr>
          <p:spPr>
            <a:xfrm>
              <a:off x="8268043" y="192619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线索维护管理</a:t>
              </a:r>
            </a:p>
          </p:txBody>
        </p:sp>
        <p:sp>
          <p:nvSpPr>
            <p:cNvPr id="79" name="Freeform 79"/>
            <p:cNvSpPr/>
            <p:nvPr/>
          </p:nvSpPr>
          <p:spPr>
            <a:xfrm>
              <a:off x="9124950" y="2114550"/>
              <a:ext cx="209550" cy="2190750"/>
            </a:xfrm>
            <a:prstGeom prst="homePlate">
              <a:avLst/>
            </a:prstGeom>
            <a:solidFill>
              <a:srgbClr val="F7B9AE"/>
            </a:solidFill>
            <a:ln>
              <a:noFill/>
            </a:ln>
          </p:spPr>
        </p:sp>
        <p:sp>
          <p:nvSpPr>
            <p:cNvPr id="80" name="Rectangle 80"/>
            <p:cNvSpPr/>
            <p:nvPr/>
          </p:nvSpPr>
          <p:spPr>
            <a:xfrm>
              <a:off x="8096250" y="2114550"/>
              <a:ext cx="1047750" cy="2190750"/>
            </a:xfrm>
            <a:prstGeom prst="rect">
              <a:avLst/>
            </a:prstGeom>
            <a:solidFill>
              <a:srgbClr val="FDF6E7"/>
            </a:solidFill>
            <a:ln>
              <a:noFill/>
            </a:ln>
          </p:spPr>
        </p:sp>
        <p:sp>
          <p:nvSpPr>
            <p:cNvPr id="81" name="TextBox 81"/>
            <p:cNvSpPr txBox="1"/>
            <p:nvPr/>
          </p:nvSpPr>
          <p:spPr>
            <a:xfrm>
              <a:off x="8424862" y="2281238"/>
              <a:ext cx="390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D6391E"/>
                  </a:solidFill>
                  <a:latin typeface="+mn-lt"/>
                  <a:ea typeface="+mn-ea"/>
                  <a:cs typeface="+mn-cs"/>
                </a:rPr>
                <a:t>线索</a:t>
              </a:r>
              <a:br/>
              <a:r>
                <a:rPr lang="zh-CN" sz="750" dirty="0">
                  <a:solidFill>
                    <a:srgbClr val="D6391E"/>
                  </a:solidFill>
                  <a:latin typeface="+mn-lt"/>
                  <a:ea typeface="+mn-ea"/>
                  <a:cs typeface="+mn-cs"/>
                </a:rPr>
                <a:t>信息获取</a:t>
              </a:r>
            </a:p>
          </p:txBody>
        </p:sp>
        <p:sp>
          <p:nvSpPr>
            <p:cNvPr id="82" name="Line 82"/>
            <p:cNvSpPr/>
            <p:nvPr/>
          </p:nvSpPr>
          <p:spPr>
            <a:xfrm>
              <a:off x="8210550" y="2628900"/>
              <a:ext cx="819150" cy="9525"/>
            </a:xfrm>
            <a:custGeom>
              <a:avLst/>
              <a:gdLst/>
              <a:ahLst/>
              <a:cxnLst/>
              <a:rect l="l" t="t" r="r" b="b"/>
              <a:pathLst>
                <a:path w="819150" h="9525">
                  <a:moveTo>
                    <a:pt x="0" y="0"/>
                  </a:moveTo>
                  <a:lnTo>
                    <a:pt x="819150" y="0"/>
                  </a:lnTo>
                </a:path>
              </a:pathLst>
            </a:custGeom>
            <a:noFill/>
            <a:ln w="9525">
              <a:solidFill>
                <a:srgbClr val="E9563C"/>
              </a:solidFill>
              <a:custDash>
                <a:ds d="300000" sp="200000"/>
              </a:custDash>
            </a:ln>
          </p:spPr>
        </p:sp>
        <p:sp>
          <p:nvSpPr>
            <p:cNvPr id="83" name="TextBox 83"/>
            <p:cNvSpPr txBox="1"/>
            <p:nvPr/>
          </p:nvSpPr>
          <p:spPr>
            <a:xfrm>
              <a:off x="8424862" y="2757488"/>
              <a:ext cx="390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D6391E"/>
                  </a:solidFill>
                  <a:latin typeface="+mn-lt"/>
                  <a:ea typeface="+mn-ea"/>
                  <a:cs typeface="+mn-cs"/>
                </a:rPr>
                <a:t>线索</a:t>
              </a:r>
              <a:br/>
              <a:r>
                <a:rPr lang="zh-CN" sz="750" dirty="0">
                  <a:solidFill>
                    <a:srgbClr val="D6391E"/>
                  </a:solidFill>
                  <a:latin typeface="+mn-lt"/>
                  <a:ea typeface="+mn-ea"/>
                  <a:cs typeface="+mn-cs"/>
                </a:rPr>
                <a:t>数据分析</a:t>
              </a:r>
            </a:p>
          </p:txBody>
        </p:sp>
        <p:sp>
          <p:nvSpPr>
            <p:cNvPr id="84" name="Line 84"/>
            <p:cNvSpPr/>
            <p:nvPr/>
          </p:nvSpPr>
          <p:spPr>
            <a:xfrm>
              <a:off x="8210550" y="3105150"/>
              <a:ext cx="819150" cy="9525"/>
            </a:xfrm>
            <a:custGeom>
              <a:avLst/>
              <a:gdLst/>
              <a:ahLst/>
              <a:cxnLst/>
              <a:rect l="l" t="t" r="r" b="b"/>
              <a:pathLst>
                <a:path w="819150" h="9525">
                  <a:moveTo>
                    <a:pt x="0" y="0"/>
                  </a:moveTo>
                  <a:lnTo>
                    <a:pt x="819150" y="0"/>
                  </a:lnTo>
                </a:path>
              </a:pathLst>
            </a:custGeom>
            <a:noFill/>
            <a:ln w="9525">
              <a:solidFill>
                <a:srgbClr val="E9563C"/>
              </a:solidFill>
              <a:custDash>
                <a:ds d="300000" sp="200000"/>
              </a:custDash>
            </a:ln>
          </p:spPr>
        </p:sp>
        <p:sp>
          <p:nvSpPr>
            <p:cNvPr id="85" name="TextBox 85"/>
            <p:cNvSpPr txBox="1"/>
            <p:nvPr/>
          </p:nvSpPr>
          <p:spPr>
            <a:xfrm>
              <a:off x="8424862" y="3233738"/>
              <a:ext cx="390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D6391E"/>
                  </a:solidFill>
                  <a:latin typeface="+mn-lt"/>
                  <a:ea typeface="+mn-ea"/>
                  <a:cs typeface="+mn-cs"/>
                </a:rPr>
                <a:t>线索</a:t>
              </a:r>
              <a:br/>
              <a:r>
                <a:rPr lang="zh-CN" sz="750" dirty="0">
                  <a:solidFill>
                    <a:srgbClr val="D6391E"/>
                  </a:solidFill>
                  <a:latin typeface="+mn-lt"/>
                  <a:ea typeface="+mn-ea"/>
                  <a:cs typeface="+mn-cs"/>
                </a:rPr>
                <a:t>维护跟进</a:t>
              </a:r>
            </a:p>
          </p:txBody>
        </p:sp>
        <p:sp>
          <p:nvSpPr>
            <p:cNvPr id="86" name="Line 86"/>
            <p:cNvSpPr/>
            <p:nvPr/>
          </p:nvSpPr>
          <p:spPr>
            <a:xfrm>
              <a:off x="8210550" y="3581400"/>
              <a:ext cx="819150" cy="9525"/>
            </a:xfrm>
            <a:custGeom>
              <a:avLst/>
              <a:gdLst/>
              <a:ahLst/>
              <a:cxnLst/>
              <a:rect l="l" t="t" r="r" b="b"/>
              <a:pathLst>
                <a:path w="819150" h="9525">
                  <a:moveTo>
                    <a:pt x="0" y="0"/>
                  </a:moveTo>
                  <a:lnTo>
                    <a:pt x="819150" y="0"/>
                  </a:lnTo>
                </a:path>
              </a:pathLst>
            </a:custGeom>
            <a:noFill/>
            <a:ln w="9525">
              <a:solidFill>
                <a:srgbClr val="E9563C"/>
              </a:solidFill>
              <a:custDash>
                <a:ds d="300000" sp="200000"/>
              </a:custDash>
            </a:ln>
          </p:spPr>
        </p:sp>
        <p:sp>
          <p:nvSpPr>
            <p:cNvPr id="87" name="TextBox 87"/>
            <p:cNvSpPr txBox="1"/>
            <p:nvPr/>
          </p:nvSpPr>
          <p:spPr>
            <a:xfrm>
              <a:off x="8424862" y="3709988"/>
              <a:ext cx="390525" cy="280988"/>
            </a:xfrm>
            <a:prstGeom prst="rect">
              <a:avLst/>
            </a:prstGeom>
            <a:noFill/>
            <a:ln>
              <a:noFill/>
            </a:ln>
          </p:spPr>
          <p:txBody>
            <a:bodyPr wrap="none" lIns="0" tIns="0" rIns="0" bIns="0" anchor="t" anchorCtr="0">
              <a:spAutoFit/>
            </a:bodyPr>
            <a:lstStyle/>
            <a:p>
              <a:pPr algn="ctr">
                <a:lnSpc>
                  <a:spcPts val="1050"/>
                </a:lnSpc>
              </a:pPr>
              <a:r>
                <a:rPr lang="zh-CN" sz="750" dirty="0">
                  <a:solidFill>
                    <a:srgbClr val="D6391E"/>
                  </a:solidFill>
                  <a:latin typeface="+mn-lt"/>
                  <a:ea typeface="+mn-ea"/>
                  <a:cs typeface="+mn-cs"/>
                </a:rPr>
                <a:t>线索</a:t>
              </a:r>
              <a:br/>
              <a:r>
                <a:rPr lang="zh-CN" sz="750" dirty="0">
                  <a:solidFill>
                    <a:srgbClr val="D6391E"/>
                  </a:solidFill>
                  <a:latin typeface="+mn-lt"/>
                  <a:ea typeface="+mn-ea"/>
                  <a:cs typeface="+mn-cs"/>
                </a:rPr>
                <a:t>状态变更</a:t>
              </a:r>
            </a:p>
          </p:txBody>
        </p:sp>
      </p:grpSp>
      <p:grpSp>
        <p:nvGrpSpPr>
          <p:cNvPr id="101" name="col3-outcomes"/>
          <p:cNvGrpSpPr/>
          <p:nvPr/>
        </p:nvGrpSpPr>
        <p:grpSpPr>
          <a:xfrm>
            <a:off x="9372600" y="2209800"/>
            <a:ext cx="990600" cy="1695450"/>
            <a:chOff x="9372600" y="2209800"/>
            <a:chExt cx="990600" cy="1695450"/>
          </a:xfrm>
        </p:grpSpPr>
        <p:sp>
          <p:nvSpPr>
            <p:cNvPr id="89" name="Line 89"/>
            <p:cNvSpPr/>
            <p:nvPr/>
          </p:nvSpPr>
          <p:spPr>
            <a:xfrm>
              <a:off x="9372600" y="2343150"/>
              <a:ext cx="114300" cy="9525"/>
            </a:xfrm>
            <a:custGeom>
              <a:avLst/>
              <a:gdLst/>
              <a:ahLst/>
              <a:cxnLst/>
              <a:rect l="l" t="t" r="r" b="b"/>
              <a:pathLst>
                <a:path w="114300" h="9525">
                  <a:moveTo>
                    <a:pt x="0" y="0"/>
                  </a:moveTo>
                  <a:lnTo>
                    <a:pt x="114300" y="0"/>
                  </a:lnTo>
                </a:path>
              </a:pathLst>
            </a:custGeom>
            <a:noFill/>
            <a:ln w="9525">
              <a:solidFill>
                <a:srgbClr val="E9563C"/>
              </a:solidFill>
              <a:custDash>
                <a:ds d="300000" sp="200000"/>
              </a:custDash>
            </a:ln>
          </p:spPr>
        </p:sp>
        <p:sp>
          <p:nvSpPr>
            <p:cNvPr id="90" name="Rectangle 90"/>
            <p:cNvSpPr/>
            <p:nvPr/>
          </p:nvSpPr>
          <p:spPr>
            <a:xfrm>
              <a:off x="9505950" y="2209800"/>
              <a:ext cx="857250" cy="266700"/>
            </a:xfrm>
            <a:prstGeom prst="roundRect">
              <a:avLst>
                <a:gd name="adj" fmla="val 14286"/>
              </a:avLst>
            </a:prstGeom>
            <a:solidFill>
              <a:srgbClr val="DFF0D2"/>
            </a:solidFill>
            <a:ln>
              <a:noFill/>
            </a:ln>
          </p:spPr>
        </p:sp>
        <p:sp>
          <p:nvSpPr>
            <p:cNvPr id="91" name="TextBox 91"/>
            <p:cNvSpPr txBox="1"/>
            <p:nvPr/>
          </p:nvSpPr>
          <p:spPr>
            <a:xfrm>
              <a:off x="9717113" y="2305764"/>
              <a:ext cx="43492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持续运营</a:t>
              </a:r>
            </a:p>
          </p:txBody>
        </p:sp>
        <p:sp>
          <p:nvSpPr>
            <p:cNvPr id="92" name="Line 92"/>
            <p:cNvSpPr/>
            <p:nvPr/>
          </p:nvSpPr>
          <p:spPr>
            <a:xfrm>
              <a:off x="9372600" y="2819400"/>
              <a:ext cx="114300" cy="9525"/>
            </a:xfrm>
            <a:custGeom>
              <a:avLst/>
              <a:gdLst/>
              <a:ahLst/>
              <a:cxnLst/>
              <a:rect l="l" t="t" r="r" b="b"/>
              <a:pathLst>
                <a:path w="114300" h="9525">
                  <a:moveTo>
                    <a:pt x="0" y="0"/>
                  </a:moveTo>
                  <a:lnTo>
                    <a:pt x="114300" y="0"/>
                  </a:lnTo>
                </a:path>
              </a:pathLst>
            </a:custGeom>
            <a:noFill/>
            <a:ln w="9525">
              <a:solidFill>
                <a:srgbClr val="E9563C"/>
              </a:solidFill>
              <a:custDash>
                <a:ds d="300000" sp="200000"/>
              </a:custDash>
            </a:ln>
          </p:spPr>
        </p:sp>
        <p:sp>
          <p:nvSpPr>
            <p:cNvPr id="93" name="Rectangle 93"/>
            <p:cNvSpPr/>
            <p:nvPr/>
          </p:nvSpPr>
          <p:spPr>
            <a:xfrm>
              <a:off x="9505950" y="2686050"/>
              <a:ext cx="857250" cy="266700"/>
            </a:xfrm>
            <a:prstGeom prst="roundRect">
              <a:avLst>
                <a:gd name="adj" fmla="val 14286"/>
              </a:avLst>
            </a:prstGeom>
            <a:solidFill>
              <a:srgbClr val="DFF0D2"/>
            </a:solidFill>
            <a:ln>
              <a:noFill/>
            </a:ln>
          </p:spPr>
        </p:sp>
        <p:sp>
          <p:nvSpPr>
            <p:cNvPr id="94" name="TextBox 94"/>
            <p:cNvSpPr txBox="1"/>
            <p:nvPr/>
          </p:nvSpPr>
          <p:spPr>
            <a:xfrm>
              <a:off x="9717113" y="2782014"/>
              <a:ext cx="43492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增购复购</a:t>
              </a:r>
            </a:p>
          </p:txBody>
        </p:sp>
        <p:sp>
          <p:nvSpPr>
            <p:cNvPr id="95" name="Line 95"/>
            <p:cNvSpPr/>
            <p:nvPr/>
          </p:nvSpPr>
          <p:spPr>
            <a:xfrm>
              <a:off x="9372600" y="3295650"/>
              <a:ext cx="114300" cy="9525"/>
            </a:xfrm>
            <a:custGeom>
              <a:avLst/>
              <a:gdLst/>
              <a:ahLst/>
              <a:cxnLst/>
              <a:rect l="l" t="t" r="r" b="b"/>
              <a:pathLst>
                <a:path w="114300" h="9525">
                  <a:moveTo>
                    <a:pt x="0" y="0"/>
                  </a:moveTo>
                  <a:lnTo>
                    <a:pt x="114300" y="0"/>
                  </a:lnTo>
                </a:path>
              </a:pathLst>
            </a:custGeom>
            <a:noFill/>
            <a:ln w="9525">
              <a:solidFill>
                <a:srgbClr val="E9563C"/>
              </a:solidFill>
              <a:custDash>
                <a:ds d="300000" sp="200000"/>
              </a:custDash>
            </a:ln>
          </p:spPr>
        </p:sp>
        <p:sp>
          <p:nvSpPr>
            <p:cNvPr id="96" name="Rectangle 96"/>
            <p:cNvSpPr/>
            <p:nvPr/>
          </p:nvSpPr>
          <p:spPr>
            <a:xfrm>
              <a:off x="9505950" y="3162300"/>
              <a:ext cx="857250" cy="266700"/>
            </a:xfrm>
            <a:prstGeom prst="roundRect">
              <a:avLst>
                <a:gd name="adj" fmla="val 14286"/>
              </a:avLst>
            </a:prstGeom>
            <a:solidFill>
              <a:srgbClr val="DFF0D2"/>
            </a:solidFill>
            <a:ln>
              <a:noFill/>
            </a:ln>
          </p:spPr>
        </p:sp>
        <p:sp>
          <p:nvSpPr>
            <p:cNvPr id="97" name="TextBox 97"/>
            <p:cNvSpPr txBox="1"/>
            <p:nvPr/>
          </p:nvSpPr>
          <p:spPr>
            <a:xfrm>
              <a:off x="9717113" y="3258264"/>
              <a:ext cx="43492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口碑传播</a:t>
              </a:r>
            </a:p>
          </p:txBody>
        </p:sp>
        <p:sp>
          <p:nvSpPr>
            <p:cNvPr id="98" name="Line 98"/>
            <p:cNvSpPr/>
            <p:nvPr/>
          </p:nvSpPr>
          <p:spPr>
            <a:xfrm>
              <a:off x="9372600" y="3771900"/>
              <a:ext cx="114300" cy="9525"/>
            </a:xfrm>
            <a:custGeom>
              <a:avLst/>
              <a:gdLst/>
              <a:ahLst/>
              <a:cxnLst/>
              <a:rect l="l" t="t" r="r" b="b"/>
              <a:pathLst>
                <a:path w="114300" h="9525">
                  <a:moveTo>
                    <a:pt x="0" y="0"/>
                  </a:moveTo>
                  <a:lnTo>
                    <a:pt x="114300" y="0"/>
                  </a:lnTo>
                </a:path>
              </a:pathLst>
            </a:custGeom>
            <a:noFill/>
            <a:ln w="9525">
              <a:solidFill>
                <a:srgbClr val="E9563C"/>
              </a:solidFill>
              <a:custDash>
                <a:ds d="300000" sp="200000"/>
              </a:custDash>
            </a:ln>
          </p:spPr>
        </p:sp>
        <p:sp>
          <p:nvSpPr>
            <p:cNvPr id="99" name="Rectangle 99"/>
            <p:cNvSpPr/>
            <p:nvPr/>
          </p:nvSpPr>
          <p:spPr>
            <a:xfrm>
              <a:off x="9505950" y="3638550"/>
              <a:ext cx="857250" cy="266700"/>
            </a:xfrm>
            <a:prstGeom prst="roundRect">
              <a:avLst>
                <a:gd name="adj" fmla="val 14286"/>
              </a:avLst>
            </a:prstGeom>
            <a:solidFill>
              <a:srgbClr val="DFF0D2"/>
            </a:solidFill>
            <a:ln>
              <a:noFill/>
            </a:ln>
          </p:spPr>
        </p:sp>
        <p:sp>
          <p:nvSpPr>
            <p:cNvPr id="100" name="TextBox 100"/>
            <p:cNvSpPr txBox="1"/>
            <p:nvPr/>
          </p:nvSpPr>
          <p:spPr>
            <a:xfrm>
              <a:off x="9663938" y="3734514"/>
              <a:ext cx="54127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老带新裂变</a:t>
              </a:r>
            </a:p>
          </p:txBody>
        </p:sp>
      </p:grpSp>
      <p:grpSp>
        <p:nvGrpSpPr>
          <p:cNvPr id="129" name="bottom-steps"/>
          <p:cNvGrpSpPr/>
          <p:nvPr/>
        </p:nvGrpSpPr>
        <p:grpSpPr>
          <a:xfrm>
            <a:off x="8096250" y="4438650"/>
            <a:ext cx="2057400" cy="866776"/>
            <a:chOff x="8096250" y="4438650"/>
            <a:chExt cx="2057400" cy="866776"/>
          </a:xfrm>
        </p:grpSpPr>
        <p:sp>
          <p:nvSpPr>
            <p:cNvPr id="102" name="Polyline 102"/>
            <p:cNvSpPr/>
            <p:nvPr/>
          </p:nvSpPr>
          <p:spPr>
            <a:xfrm>
              <a:off x="8096250" y="4438650"/>
              <a:ext cx="2057400" cy="57150"/>
            </a:xfrm>
            <a:custGeom>
              <a:avLst/>
              <a:gdLst/>
              <a:ahLst/>
              <a:cxnLst/>
              <a:rect l="l" t="t" r="r" b="b"/>
              <a:pathLst>
                <a:path w="2057400" h="57150">
                  <a:moveTo>
                    <a:pt x="0" y="0"/>
                  </a:moveTo>
                  <a:lnTo>
                    <a:pt x="0" y="57150"/>
                  </a:lnTo>
                  <a:lnTo>
                    <a:pt x="2057400" y="57150"/>
                  </a:lnTo>
                  <a:lnTo>
                    <a:pt x="2057400" y="0"/>
                  </a:lnTo>
                </a:path>
              </a:pathLst>
            </a:custGeom>
            <a:noFill/>
            <a:ln w="11430">
              <a:solidFill>
                <a:srgbClr val="E9563C"/>
              </a:solidFill>
            </a:ln>
          </p:spPr>
        </p:sp>
        <p:sp>
          <p:nvSpPr>
            <p:cNvPr id="103" name="Line 103"/>
            <p:cNvSpPr/>
            <p:nvPr/>
          </p:nvSpPr>
          <p:spPr>
            <a:xfrm>
              <a:off x="9124950" y="4495800"/>
              <a:ext cx="9525" cy="76200"/>
            </a:xfrm>
            <a:custGeom>
              <a:avLst/>
              <a:gdLst/>
              <a:ahLst/>
              <a:cxnLst/>
              <a:rect l="l" t="t" r="r" b="b"/>
              <a:pathLst>
                <a:path w="9525" h="76200">
                  <a:moveTo>
                    <a:pt x="0" y="0"/>
                  </a:moveTo>
                  <a:lnTo>
                    <a:pt x="0" y="76200"/>
                  </a:lnTo>
                </a:path>
              </a:pathLst>
            </a:custGeom>
            <a:noFill/>
            <a:ln w="11430">
              <a:solidFill>
                <a:srgbClr val="E9563C"/>
              </a:solidFill>
            </a:ln>
          </p:spPr>
        </p:sp>
        <p:sp>
          <p:nvSpPr>
            <p:cNvPr id="104" name="Ellipse 104"/>
            <p:cNvSpPr/>
            <p:nvPr/>
          </p:nvSpPr>
          <p:spPr>
            <a:xfrm>
              <a:off x="8134350" y="4705350"/>
              <a:ext cx="342900" cy="342900"/>
            </a:xfrm>
            <a:prstGeom prst="ellipse">
              <a:avLst/>
            </a:prstGeom>
            <a:solidFill>
              <a:srgbClr val="FDF6E7"/>
            </a:solidFill>
            <a:ln w="11430">
              <a:solidFill>
                <a:srgbClr val="E9563C"/>
              </a:solidFill>
            </a:ln>
          </p:spPr>
        </p:sp>
        <p:grpSp>
          <p:nvGrpSpPr>
            <p:cNvPr id="110" name="Group 110"/>
            <p:cNvGrpSpPr/>
            <p:nvPr/>
          </p:nvGrpSpPr>
          <p:grpSpPr>
            <a:xfrm>
              <a:off x="8250237" y="4805362"/>
              <a:ext cx="111125" cy="142875"/>
              <a:chOff x="8250237" y="4805362"/>
              <a:chExt cx="111125" cy="142875"/>
            </a:xfrm>
          </p:grpSpPr>
          <p:sp>
            <p:nvSpPr>
              <p:cNvPr id="105" name="Freeform 105"/>
              <p:cNvSpPr/>
              <p:nvPr/>
            </p:nvSpPr>
            <p:spPr>
              <a:xfrm>
                <a:off x="8321675" y="48053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D6391E"/>
                </a:solidFill>
              </a:ln>
            </p:spPr>
          </p:sp>
          <p:sp>
            <p:nvSpPr>
              <p:cNvPr id="106" name="Freeform 106"/>
              <p:cNvSpPr/>
              <p:nvPr/>
            </p:nvSpPr>
            <p:spPr>
              <a:xfrm>
                <a:off x="8250237" y="48053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D6391E"/>
                </a:solidFill>
              </a:ln>
            </p:spPr>
          </p:sp>
          <p:sp>
            <p:nvSpPr>
              <p:cNvPr id="107" name="Freeform 107"/>
              <p:cNvSpPr/>
              <p:nvPr/>
            </p:nvSpPr>
            <p:spPr>
              <a:xfrm>
                <a:off x="8281987" y="4852987"/>
                <a:ext cx="9525" cy="9525"/>
              </a:xfrm>
              <a:custGeom>
                <a:avLst/>
                <a:gdLst/>
                <a:ahLst/>
                <a:cxnLst/>
                <a:rect l="l" t="t" r="r" b="b"/>
                <a:pathLst>
                  <a:path w="9525" h="9525">
                    <a:moveTo>
                      <a:pt x="0" y="0"/>
                    </a:moveTo>
                    <a:lnTo>
                      <a:pt x="7937" y="0"/>
                    </a:lnTo>
                  </a:path>
                </a:pathLst>
              </a:custGeom>
              <a:noFill/>
              <a:ln w="15875">
                <a:solidFill>
                  <a:srgbClr val="D6391E"/>
                </a:solidFill>
              </a:ln>
            </p:spPr>
          </p:sp>
          <p:sp>
            <p:nvSpPr>
              <p:cNvPr id="108" name="Freeform 108"/>
              <p:cNvSpPr/>
              <p:nvPr/>
            </p:nvSpPr>
            <p:spPr>
              <a:xfrm>
                <a:off x="8281987" y="4884737"/>
                <a:ext cx="47625" cy="9525"/>
              </a:xfrm>
              <a:custGeom>
                <a:avLst/>
                <a:gdLst/>
                <a:ahLst/>
                <a:cxnLst/>
                <a:rect l="l" t="t" r="r" b="b"/>
                <a:pathLst>
                  <a:path w="47625" h="9525">
                    <a:moveTo>
                      <a:pt x="0" y="0"/>
                    </a:moveTo>
                    <a:lnTo>
                      <a:pt x="47625" y="0"/>
                    </a:lnTo>
                  </a:path>
                </a:pathLst>
              </a:custGeom>
              <a:noFill/>
              <a:ln w="15875">
                <a:solidFill>
                  <a:srgbClr val="D6391E"/>
                </a:solidFill>
              </a:ln>
            </p:spPr>
          </p:sp>
          <p:sp>
            <p:nvSpPr>
              <p:cNvPr id="109" name="Freeform 109"/>
              <p:cNvSpPr/>
              <p:nvPr/>
            </p:nvSpPr>
            <p:spPr>
              <a:xfrm>
                <a:off x="8281987" y="4916487"/>
                <a:ext cx="47625" cy="9525"/>
              </a:xfrm>
              <a:custGeom>
                <a:avLst/>
                <a:gdLst/>
                <a:ahLst/>
                <a:cxnLst/>
                <a:rect l="l" t="t" r="r" b="b"/>
                <a:pathLst>
                  <a:path w="47625" h="9525">
                    <a:moveTo>
                      <a:pt x="0" y="0"/>
                    </a:moveTo>
                    <a:lnTo>
                      <a:pt x="47625" y="0"/>
                    </a:lnTo>
                  </a:path>
                </a:pathLst>
              </a:custGeom>
              <a:noFill/>
              <a:ln w="15875">
                <a:solidFill>
                  <a:srgbClr val="D6391E"/>
                </a:solidFill>
              </a:ln>
            </p:spPr>
          </p:sp>
        </p:grpSp>
        <p:sp>
          <p:nvSpPr>
            <p:cNvPr id="111" name="TextBox 111"/>
            <p:cNvSpPr txBox="1"/>
            <p:nvPr/>
          </p:nvSpPr>
          <p:spPr>
            <a:xfrm>
              <a:off x="8200072" y="5157788"/>
              <a:ext cx="211455" cy="147638"/>
            </a:xfrm>
            <a:prstGeom prst="rect">
              <a:avLst/>
            </a:prstGeom>
            <a:noFill/>
            <a:ln>
              <a:noFill/>
            </a:ln>
          </p:spPr>
          <p:txBody>
            <a:bodyPr wrap="none" lIns="0" tIns="0" rIns="0" bIns="0" anchor="t" anchorCtr="0">
              <a:spAutoFit/>
            </a:bodyPr>
            <a:lstStyle/>
            <a:p>
              <a:pPr algn="ctr"/>
              <a:r>
                <a:rPr lang="zh-CN" sz="750" dirty="0">
                  <a:solidFill>
                    <a:srgbClr val="D6391E"/>
                  </a:solidFill>
                  <a:latin typeface="+mn-lt"/>
                  <a:ea typeface="+mn-ea"/>
                  <a:cs typeface="+mn-cs"/>
                </a:rPr>
                <a:t>采集</a:t>
              </a:r>
            </a:p>
          </p:txBody>
        </p:sp>
        <p:sp>
          <p:nvSpPr>
            <p:cNvPr id="112" name="Ellipse 112"/>
            <p:cNvSpPr/>
            <p:nvPr/>
          </p:nvSpPr>
          <p:spPr>
            <a:xfrm>
              <a:off x="8667750" y="4705350"/>
              <a:ext cx="342900" cy="342900"/>
            </a:xfrm>
            <a:prstGeom prst="ellipse">
              <a:avLst/>
            </a:prstGeom>
            <a:solidFill>
              <a:srgbClr val="FDF6E7"/>
            </a:solidFill>
            <a:ln w="11430">
              <a:solidFill>
                <a:srgbClr val="E9563C"/>
              </a:solidFill>
            </a:ln>
          </p:spPr>
        </p:sp>
        <p:grpSp>
          <p:nvGrpSpPr>
            <p:cNvPr id="116" name="Group 116"/>
            <p:cNvGrpSpPr/>
            <p:nvPr/>
          </p:nvGrpSpPr>
          <p:grpSpPr>
            <a:xfrm>
              <a:off x="8783637" y="4805362"/>
              <a:ext cx="111125" cy="142875"/>
              <a:chOff x="8783637" y="4805362"/>
              <a:chExt cx="111125" cy="142875"/>
            </a:xfrm>
          </p:grpSpPr>
          <p:sp>
            <p:nvSpPr>
              <p:cNvPr id="113" name="Freeform 113"/>
              <p:cNvSpPr/>
              <p:nvPr/>
            </p:nvSpPr>
            <p:spPr>
              <a:xfrm>
                <a:off x="8783637" y="4852987"/>
                <a:ext cx="111125" cy="95250"/>
              </a:xfrm>
              <a:custGeom>
                <a:avLst/>
                <a:gdLst/>
                <a:ahLst/>
                <a:cxnLst/>
                <a:rect l="l" t="t" r="r" b="b"/>
                <a:pathLst>
                  <a:path w="111125" h="95250">
                    <a:moveTo>
                      <a:pt x="23812" y="0"/>
                    </a:moveTo>
                    <a:lnTo>
                      <a:pt x="15875" y="0"/>
                    </a:lnTo>
                    <a:cubicBezTo>
                      <a:pt x="7107" y="0"/>
                      <a:pt x="0" y="7107"/>
                      <a:pt x="0" y="15875"/>
                    </a:cubicBezTo>
                    <a:lnTo>
                      <a:pt x="0" y="79375"/>
                    </a:lnTo>
                    <a:cubicBezTo>
                      <a:pt x="0" y="88142"/>
                      <a:pt x="7107" y="95250"/>
                      <a:pt x="15875" y="95250"/>
                    </a:cubicBezTo>
                    <a:lnTo>
                      <a:pt x="95250" y="95250"/>
                    </a:lnTo>
                    <a:cubicBezTo>
                      <a:pt x="104017" y="95250"/>
                      <a:pt x="111125" y="88142"/>
                      <a:pt x="111125" y="79375"/>
                    </a:cubicBezTo>
                    <a:lnTo>
                      <a:pt x="111125" y="15875"/>
                    </a:lnTo>
                    <a:cubicBezTo>
                      <a:pt x="111125" y="7107"/>
                      <a:pt x="104017" y="0"/>
                      <a:pt x="95250" y="0"/>
                    </a:cubicBezTo>
                    <a:lnTo>
                      <a:pt x="87312" y="0"/>
                    </a:lnTo>
                  </a:path>
                </a:pathLst>
              </a:custGeom>
              <a:noFill/>
              <a:ln w="15875">
                <a:solidFill>
                  <a:srgbClr val="D6391E"/>
                </a:solidFill>
              </a:ln>
            </p:spPr>
          </p:sp>
          <p:sp>
            <p:nvSpPr>
              <p:cNvPr id="114" name="Freeform 114"/>
              <p:cNvSpPr/>
              <p:nvPr/>
            </p:nvSpPr>
            <p:spPr>
              <a:xfrm>
                <a:off x="8839200" y="4805362"/>
                <a:ext cx="9525" cy="87312"/>
              </a:xfrm>
              <a:custGeom>
                <a:avLst/>
                <a:gdLst/>
                <a:ahLst/>
                <a:cxnLst/>
                <a:rect l="l" t="t" r="r" b="b"/>
                <a:pathLst>
                  <a:path w="9525" h="87312">
                    <a:moveTo>
                      <a:pt x="0" y="87312"/>
                    </a:moveTo>
                    <a:lnTo>
                      <a:pt x="0" y="0"/>
                    </a:lnTo>
                  </a:path>
                </a:pathLst>
              </a:custGeom>
              <a:noFill/>
              <a:ln w="15875">
                <a:solidFill>
                  <a:srgbClr val="D6391E"/>
                </a:solidFill>
              </a:ln>
            </p:spPr>
          </p:sp>
          <p:sp>
            <p:nvSpPr>
              <p:cNvPr id="115" name="Freeform 115"/>
              <p:cNvSpPr/>
              <p:nvPr/>
            </p:nvSpPr>
            <p:spPr>
              <a:xfrm>
                <a:off x="8815387" y="4805362"/>
                <a:ext cx="47625" cy="23812"/>
              </a:xfrm>
              <a:custGeom>
                <a:avLst/>
                <a:gdLst/>
                <a:ahLst/>
                <a:cxnLst/>
                <a:rect l="l" t="t" r="r" b="b"/>
                <a:pathLst>
                  <a:path w="47625" h="23812">
                    <a:moveTo>
                      <a:pt x="0" y="23812"/>
                    </a:moveTo>
                    <a:lnTo>
                      <a:pt x="23812" y="0"/>
                    </a:lnTo>
                    <a:lnTo>
                      <a:pt x="47625" y="23812"/>
                    </a:lnTo>
                  </a:path>
                </a:pathLst>
              </a:custGeom>
              <a:noFill/>
              <a:ln w="15875">
                <a:solidFill>
                  <a:srgbClr val="D6391E"/>
                </a:solidFill>
              </a:ln>
            </p:spPr>
          </p:sp>
        </p:grpSp>
        <p:sp>
          <p:nvSpPr>
            <p:cNvPr id="117" name="TextBox 117"/>
            <p:cNvSpPr txBox="1"/>
            <p:nvPr/>
          </p:nvSpPr>
          <p:spPr>
            <a:xfrm>
              <a:off x="8733472" y="5157788"/>
              <a:ext cx="211455" cy="147638"/>
            </a:xfrm>
            <a:prstGeom prst="rect">
              <a:avLst/>
            </a:prstGeom>
            <a:noFill/>
            <a:ln>
              <a:noFill/>
            </a:ln>
          </p:spPr>
          <p:txBody>
            <a:bodyPr wrap="none" lIns="0" tIns="0" rIns="0" bIns="0" anchor="t" anchorCtr="0">
              <a:spAutoFit/>
            </a:bodyPr>
            <a:lstStyle/>
            <a:p>
              <a:pPr algn="ctr"/>
              <a:r>
                <a:rPr lang="zh-CN" sz="750" dirty="0">
                  <a:solidFill>
                    <a:srgbClr val="D6391E"/>
                  </a:solidFill>
                  <a:latin typeface="+mn-lt"/>
                  <a:ea typeface="+mn-ea"/>
                  <a:cs typeface="+mn-cs"/>
                </a:rPr>
                <a:t>传输</a:t>
              </a:r>
            </a:p>
          </p:txBody>
        </p:sp>
        <p:sp>
          <p:nvSpPr>
            <p:cNvPr id="118" name="Ellipse 118"/>
            <p:cNvSpPr/>
            <p:nvPr/>
          </p:nvSpPr>
          <p:spPr>
            <a:xfrm>
              <a:off x="9201150" y="4705350"/>
              <a:ext cx="342900" cy="342900"/>
            </a:xfrm>
            <a:prstGeom prst="ellipse">
              <a:avLst/>
            </a:prstGeom>
            <a:solidFill>
              <a:srgbClr val="FDF6E7"/>
            </a:solidFill>
            <a:ln w="11430">
              <a:solidFill>
                <a:srgbClr val="E9563C"/>
              </a:solidFill>
            </a:ln>
          </p:spPr>
        </p:sp>
        <p:grpSp>
          <p:nvGrpSpPr>
            <p:cNvPr id="122" name="Group 122"/>
            <p:cNvGrpSpPr/>
            <p:nvPr/>
          </p:nvGrpSpPr>
          <p:grpSpPr>
            <a:xfrm>
              <a:off x="9309100" y="4805362"/>
              <a:ext cx="127000" cy="142875"/>
              <a:chOff x="9309100" y="4805362"/>
              <a:chExt cx="127000" cy="142875"/>
            </a:xfrm>
          </p:grpSpPr>
          <p:sp>
            <p:nvSpPr>
              <p:cNvPr id="119" name="Freeform 119"/>
              <p:cNvSpPr/>
              <p:nvPr/>
            </p:nvSpPr>
            <p:spPr>
              <a:xfrm>
                <a:off x="9309100" y="480536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5875">
                <a:solidFill>
                  <a:srgbClr val="D6391E"/>
                </a:solidFill>
              </a:ln>
            </p:spPr>
          </p:sp>
          <p:sp>
            <p:nvSpPr>
              <p:cNvPr id="120" name="Freeform 120"/>
              <p:cNvSpPr/>
              <p:nvPr/>
            </p:nvSpPr>
            <p:spPr>
              <a:xfrm>
                <a:off x="9309100" y="4829175"/>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6391E"/>
                </a:solidFill>
              </a:ln>
            </p:spPr>
          </p:sp>
          <p:sp>
            <p:nvSpPr>
              <p:cNvPr id="121" name="Freeform 121"/>
              <p:cNvSpPr/>
              <p:nvPr/>
            </p:nvSpPr>
            <p:spPr>
              <a:xfrm>
                <a:off x="9309100" y="4876800"/>
                <a:ext cx="127000" cy="71437"/>
              </a:xfrm>
              <a:custGeom>
                <a:avLst/>
                <a:gdLst/>
                <a:ahLst/>
                <a:cxnLst/>
                <a:rect l="l" t="t" r="r" b="b"/>
                <a:pathLst>
                  <a:path w="127000" h="71437">
                    <a:moveTo>
                      <a:pt x="0" y="0"/>
                    </a:moveTo>
                    <a:lnTo>
                      <a:pt x="0" y="47625"/>
                    </a:lnTo>
                    <a:cubicBezTo>
                      <a:pt x="0" y="60776"/>
                      <a:pt x="28430" y="71437"/>
                      <a:pt x="63500" y="71437"/>
                    </a:cubicBezTo>
                    <a:cubicBezTo>
                      <a:pt x="98570" y="71437"/>
                      <a:pt x="127000" y="60776"/>
                      <a:pt x="127000" y="47625"/>
                    </a:cubicBezTo>
                    <a:lnTo>
                      <a:pt x="127000" y="0"/>
                    </a:lnTo>
                  </a:path>
                </a:pathLst>
              </a:custGeom>
              <a:noFill/>
              <a:ln w="15875">
                <a:solidFill>
                  <a:srgbClr val="D6391E"/>
                </a:solidFill>
              </a:ln>
            </p:spPr>
          </p:sp>
        </p:grpSp>
        <p:sp>
          <p:nvSpPr>
            <p:cNvPr id="123" name="TextBox 123"/>
            <p:cNvSpPr txBox="1"/>
            <p:nvPr/>
          </p:nvSpPr>
          <p:spPr>
            <a:xfrm>
              <a:off x="9266872" y="5157788"/>
              <a:ext cx="211455" cy="147638"/>
            </a:xfrm>
            <a:prstGeom prst="rect">
              <a:avLst/>
            </a:prstGeom>
            <a:noFill/>
            <a:ln>
              <a:noFill/>
            </a:ln>
          </p:spPr>
          <p:txBody>
            <a:bodyPr wrap="none" lIns="0" tIns="0" rIns="0" bIns="0" anchor="t" anchorCtr="0">
              <a:spAutoFit/>
            </a:bodyPr>
            <a:lstStyle/>
            <a:p>
              <a:pPr algn="ctr"/>
              <a:r>
                <a:rPr lang="zh-CN" sz="750" dirty="0">
                  <a:solidFill>
                    <a:srgbClr val="D6391E"/>
                  </a:solidFill>
                  <a:latin typeface="+mn-lt"/>
                  <a:ea typeface="+mn-ea"/>
                  <a:cs typeface="+mn-cs"/>
                </a:rPr>
                <a:t>存储</a:t>
              </a:r>
            </a:p>
          </p:txBody>
        </p:sp>
        <p:sp>
          <p:nvSpPr>
            <p:cNvPr id="124" name="Ellipse 124"/>
            <p:cNvSpPr/>
            <p:nvPr/>
          </p:nvSpPr>
          <p:spPr>
            <a:xfrm>
              <a:off x="9734550" y="4705350"/>
              <a:ext cx="342900" cy="342900"/>
            </a:xfrm>
            <a:prstGeom prst="ellipse">
              <a:avLst/>
            </a:prstGeom>
            <a:solidFill>
              <a:srgbClr val="FDF6E7"/>
            </a:solidFill>
            <a:ln w="11430">
              <a:solidFill>
                <a:srgbClr val="E9563C"/>
              </a:solidFill>
            </a:ln>
          </p:spPr>
        </p:sp>
        <p:grpSp>
          <p:nvGrpSpPr>
            <p:cNvPr id="127" name="Group 127"/>
            <p:cNvGrpSpPr/>
            <p:nvPr/>
          </p:nvGrpSpPr>
          <p:grpSpPr>
            <a:xfrm>
              <a:off x="9831078" y="4801878"/>
              <a:ext cx="149844" cy="149844"/>
              <a:chOff x="9831078" y="4801878"/>
              <a:chExt cx="149844" cy="149844"/>
            </a:xfrm>
          </p:grpSpPr>
          <p:sp>
            <p:nvSpPr>
              <p:cNvPr id="125" name="Freeform 125"/>
              <p:cNvSpPr/>
              <p:nvPr/>
            </p:nvSpPr>
            <p:spPr>
              <a:xfrm>
                <a:off x="9831078" y="4801878"/>
                <a:ext cx="149844" cy="149844"/>
              </a:xfrm>
              <a:custGeom>
                <a:avLst/>
                <a:gdLst/>
                <a:ahLst/>
                <a:cxnLst/>
                <a:rect l="l" t="t" r="r" b="b"/>
                <a:pathLst>
                  <a:path w="149844" h="149844">
                    <a:moveTo>
                      <a:pt x="61627" y="13938"/>
                    </a:moveTo>
                    <a:cubicBezTo>
                      <a:pt x="65008" y="0"/>
                      <a:pt x="84836" y="0"/>
                      <a:pt x="88217" y="13938"/>
                    </a:cubicBezTo>
                    <a:cubicBezTo>
                      <a:pt x="89246" y="18185"/>
                      <a:pt x="92242" y="21685"/>
                      <a:pt x="96279" y="23358"/>
                    </a:cubicBezTo>
                    <a:cubicBezTo>
                      <a:pt x="100316" y="25031"/>
                      <a:pt x="104909" y="24675"/>
                      <a:pt x="108641" y="22400"/>
                    </a:cubicBezTo>
                    <a:cubicBezTo>
                      <a:pt x="120888" y="14938"/>
                      <a:pt x="134914" y="28956"/>
                      <a:pt x="127452" y="41211"/>
                    </a:cubicBezTo>
                    <a:cubicBezTo>
                      <a:pt x="125181" y="44941"/>
                      <a:pt x="124826" y="49531"/>
                      <a:pt x="126496" y="53565"/>
                    </a:cubicBezTo>
                    <a:cubicBezTo>
                      <a:pt x="128167" y="57600"/>
                      <a:pt x="131663" y="60595"/>
                      <a:pt x="135906" y="61627"/>
                    </a:cubicBezTo>
                    <a:cubicBezTo>
                      <a:pt x="149844" y="65008"/>
                      <a:pt x="149844" y="84836"/>
                      <a:pt x="135906" y="88217"/>
                    </a:cubicBezTo>
                    <a:cubicBezTo>
                      <a:pt x="131659" y="89246"/>
                      <a:pt x="128159" y="92242"/>
                      <a:pt x="126486" y="96279"/>
                    </a:cubicBezTo>
                    <a:cubicBezTo>
                      <a:pt x="124813" y="100316"/>
                      <a:pt x="125170" y="104909"/>
                      <a:pt x="127444" y="108641"/>
                    </a:cubicBezTo>
                    <a:cubicBezTo>
                      <a:pt x="134906" y="120888"/>
                      <a:pt x="120888" y="134914"/>
                      <a:pt x="108633" y="127452"/>
                    </a:cubicBezTo>
                    <a:cubicBezTo>
                      <a:pt x="104903" y="125181"/>
                      <a:pt x="100313" y="124826"/>
                      <a:pt x="96279" y="126496"/>
                    </a:cubicBezTo>
                    <a:cubicBezTo>
                      <a:pt x="92244" y="128167"/>
                      <a:pt x="89249" y="131663"/>
                      <a:pt x="88217" y="135906"/>
                    </a:cubicBezTo>
                    <a:cubicBezTo>
                      <a:pt x="84836" y="149844"/>
                      <a:pt x="65008" y="149844"/>
                      <a:pt x="61627" y="135906"/>
                    </a:cubicBezTo>
                    <a:cubicBezTo>
                      <a:pt x="60598" y="131659"/>
                      <a:pt x="57602" y="128159"/>
                      <a:pt x="53565" y="126486"/>
                    </a:cubicBezTo>
                    <a:cubicBezTo>
                      <a:pt x="49528" y="124813"/>
                      <a:pt x="44935" y="125170"/>
                      <a:pt x="41204" y="127444"/>
                    </a:cubicBezTo>
                    <a:cubicBezTo>
                      <a:pt x="28956" y="134906"/>
                      <a:pt x="14930" y="120888"/>
                      <a:pt x="22392" y="108633"/>
                    </a:cubicBezTo>
                    <a:cubicBezTo>
                      <a:pt x="24663" y="104903"/>
                      <a:pt x="25019" y="100313"/>
                      <a:pt x="23348" y="96279"/>
                    </a:cubicBezTo>
                    <a:cubicBezTo>
                      <a:pt x="21677" y="92244"/>
                      <a:pt x="18181" y="89249"/>
                      <a:pt x="13938" y="88217"/>
                    </a:cubicBezTo>
                    <a:cubicBezTo>
                      <a:pt x="0" y="84836"/>
                      <a:pt x="0" y="65008"/>
                      <a:pt x="13938" y="61627"/>
                    </a:cubicBezTo>
                    <a:cubicBezTo>
                      <a:pt x="18185" y="60598"/>
                      <a:pt x="21685" y="57602"/>
                      <a:pt x="23358" y="53565"/>
                    </a:cubicBezTo>
                    <a:cubicBezTo>
                      <a:pt x="25031" y="49528"/>
                      <a:pt x="24675" y="44935"/>
                      <a:pt x="22400" y="41204"/>
                    </a:cubicBezTo>
                    <a:cubicBezTo>
                      <a:pt x="14938" y="28956"/>
                      <a:pt x="28956" y="14930"/>
                      <a:pt x="41211" y="22392"/>
                    </a:cubicBezTo>
                    <a:cubicBezTo>
                      <a:pt x="49149" y="27218"/>
                      <a:pt x="59436" y="22947"/>
                      <a:pt x="61627" y="13938"/>
                    </a:cubicBezTo>
                  </a:path>
                </a:pathLst>
              </a:custGeom>
              <a:noFill/>
              <a:ln w="15875">
                <a:solidFill>
                  <a:srgbClr val="D6391E"/>
                </a:solidFill>
              </a:ln>
            </p:spPr>
          </p:sp>
          <p:sp>
            <p:nvSpPr>
              <p:cNvPr id="126" name="Freeform 126"/>
              <p:cNvSpPr/>
              <p:nvPr/>
            </p:nvSpPr>
            <p:spPr>
              <a:xfrm>
                <a:off x="9882187" y="4852987"/>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15875">
                <a:solidFill>
                  <a:srgbClr val="D6391E"/>
                </a:solidFill>
              </a:ln>
            </p:spPr>
          </p:sp>
        </p:grpSp>
        <p:sp>
          <p:nvSpPr>
            <p:cNvPr id="128" name="TextBox 128"/>
            <p:cNvSpPr txBox="1"/>
            <p:nvPr/>
          </p:nvSpPr>
          <p:spPr>
            <a:xfrm>
              <a:off x="9800272" y="5157788"/>
              <a:ext cx="211455" cy="147638"/>
            </a:xfrm>
            <a:prstGeom prst="rect">
              <a:avLst/>
            </a:prstGeom>
            <a:noFill/>
            <a:ln>
              <a:noFill/>
            </a:ln>
          </p:spPr>
          <p:txBody>
            <a:bodyPr wrap="none" lIns="0" tIns="0" rIns="0" bIns="0" anchor="t" anchorCtr="0">
              <a:spAutoFit/>
            </a:bodyPr>
            <a:lstStyle/>
            <a:p>
              <a:pPr algn="ctr"/>
              <a:r>
                <a:rPr lang="zh-CN" sz="750" dirty="0">
                  <a:solidFill>
                    <a:srgbClr val="D6391E"/>
                  </a:solidFill>
                  <a:latin typeface="+mn-lt"/>
                  <a:ea typeface="+mn-ea"/>
                  <a:cs typeface="+mn-cs"/>
                </a:rPr>
                <a:t>使用</a:t>
              </a:r>
            </a:p>
          </p:txBody>
        </p:sp>
      </p:grpSp>
      <p:grpSp>
        <p:nvGrpSpPr>
          <p:cNvPr id="132" name="page-footer"/>
          <p:cNvGrpSpPr/>
          <p:nvPr/>
        </p:nvGrpSpPr>
        <p:grpSpPr>
          <a:xfrm>
            <a:off x="376238" y="6689884"/>
            <a:ext cx="11439524" cy="133350"/>
            <a:chOff x="376238" y="6689884"/>
            <a:chExt cx="11439524" cy="133350"/>
          </a:xfrm>
        </p:grpSpPr>
        <p:sp>
          <p:nvSpPr>
            <p:cNvPr id="130" name="TextBox 130"/>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31" name="TextBox 131"/>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12</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outer-arc"/>
          <p:cNvSpPr/>
          <p:nvPr/>
        </p:nvSpPr>
        <p:spPr>
          <a:xfrm>
            <a:off x="1619250" y="1339093"/>
            <a:ext cx="8953500" cy="3137657"/>
          </a:xfrm>
          <a:custGeom>
            <a:avLst/>
            <a:gdLst/>
            <a:ahLst/>
            <a:cxnLst/>
            <a:rect l="l" t="t" r="r" b="b"/>
            <a:pathLst>
              <a:path w="8953500" h="3137657">
                <a:moveTo>
                  <a:pt x="0" y="3137657"/>
                </a:moveTo>
                <a:cubicBezTo>
                  <a:pt x="683617" y="1254162"/>
                  <a:pt x="2473032" y="0"/>
                  <a:pt x="4476750" y="0"/>
                </a:cubicBezTo>
                <a:cubicBezTo>
                  <a:pt x="6480468" y="0"/>
                  <a:pt x="8269883" y="1254162"/>
                  <a:pt x="8953500" y="3137657"/>
                </a:cubicBezTo>
              </a:path>
            </a:pathLst>
          </a:custGeom>
          <a:noFill/>
          <a:ln w="23812">
            <a:solidFill>
              <a:srgbClr val="BF857A"/>
            </a:solidFill>
          </a:ln>
        </p:spPr>
      </p:sp>
      <p:sp>
        <p:nvSpPr>
          <p:cNvPr id="9" name="Line 9"/>
          <p:cNvSpPr/>
          <p:nvPr/>
        </p:nvSpPr>
        <p:spPr>
          <a:xfrm>
            <a:off x="2724150" y="1981200"/>
            <a:ext cx="561975" cy="742950"/>
          </a:xfrm>
          <a:custGeom>
            <a:avLst/>
            <a:gdLst/>
            <a:ahLst/>
            <a:cxnLst/>
            <a:rect l="l" t="t" r="r" b="b"/>
            <a:pathLst>
              <a:path w="561975" h="742950">
                <a:moveTo>
                  <a:pt x="0" y="742950"/>
                </a:moveTo>
                <a:lnTo>
                  <a:pt x="561975" y="0"/>
                </a:lnTo>
              </a:path>
            </a:pathLst>
          </a:custGeom>
          <a:noFill/>
          <a:ln w="11430">
            <a:solidFill>
              <a:srgbClr val="BF857A"/>
            </a:solidFill>
            <a:custDash>
              <a:ds d="333333" sp="250000"/>
            </a:custDash>
          </a:ln>
        </p:spPr>
      </p:sp>
      <p:sp>
        <p:nvSpPr>
          <p:cNvPr id="10" name="Line 10"/>
          <p:cNvSpPr/>
          <p:nvPr/>
        </p:nvSpPr>
        <p:spPr>
          <a:xfrm>
            <a:off x="4467225" y="1409700"/>
            <a:ext cx="1304925" cy="209550"/>
          </a:xfrm>
          <a:custGeom>
            <a:avLst/>
            <a:gdLst/>
            <a:ahLst/>
            <a:cxnLst/>
            <a:rect l="l" t="t" r="r" b="b"/>
            <a:pathLst>
              <a:path w="1304925" h="209550">
                <a:moveTo>
                  <a:pt x="0" y="209550"/>
                </a:moveTo>
                <a:lnTo>
                  <a:pt x="1304925" y="0"/>
                </a:lnTo>
              </a:path>
            </a:pathLst>
          </a:custGeom>
          <a:noFill/>
          <a:ln w="11430">
            <a:solidFill>
              <a:srgbClr val="BF857A"/>
            </a:solidFill>
            <a:custDash>
              <a:ds d="333333" sp="250000"/>
            </a:custDash>
          </a:ln>
        </p:spPr>
      </p:sp>
      <p:sp>
        <p:nvSpPr>
          <p:cNvPr id="11" name="Line 11"/>
          <p:cNvSpPr/>
          <p:nvPr/>
        </p:nvSpPr>
        <p:spPr>
          <a:xfrm>
            <a:off x="9001125" y="1981200"/>
            <a:ext cx="466725" cy="742950"/>
          </a:xfrm>
          <a:custGeom>
            <a:avLst/>
            <a:gdLst/>
            <a:ahLst/>
            <a:cxnLst/>
            <a:rect l="l" t="t" r="r" b="b"/>
            <a:pathLst>
              <a:path w="466725" h="742950">
                <a:moveTo>
                  <a:pt x="466725" y="742950"/>
                </a:moveTo>
                <a:lnTo>
                  <a:pt x="0" y="0"/>
                </a:lnTo>
              </a:path>
            </a:pathLst>
          </a:custGeom>
          <a:noFill/>
          <a:ln w="11430">
            <a:solidFill>
              <a:srgbClr val="BF857A"/>
            </a:solidFill>
            <a:custDash>
              <a:ds d="333333" sp="250000"/>
            </a:custDash>
          </a:ln>
        </p:spPr>
      </p:sp>
      <p:sp>
        <p:nvSpPr>
          <p:cNvPr id="12" name="Line 12"/>
          <p:cNvSpPr/>
          <p:nvPr/>
        </p:nvSpPr>
        <p:spPr>
          <a:xfrm>
            <a:off x="1047750" y="3162300"/>
            <a:ext cx="571500" cy="1304925"/>
          </a:xfrm>
          <a:custGeom>
            <a:avLst/>
            <a:gdLst/>
            <a:ahLst/>
            <a:cxnLst/>
            <a:rect l="l" t="t" r="r" b="b"/>
            <a:pathLst>
              <a:path w="571500" h="1304925">
                <a:moveTo>
                  <a:pt x="571500" y="1304925"/>
                </a:moveTo>
                <a:lnTo>
                  <a:pt x="0" y="0"/>
                </a:lnTo>
              </a:path>
            </a:pathLst>
          </a:custGeom>
          <a:noFill/>
          <a:ln w="11430">
            <a:solidFill>
              <a:srgbClr val="BF857A"/>
            </a:solidFill>
            <a:custDash>
              <a:ds d="333333" sp="250000"/>
            </a:custDash>
          </a:ln>
        </p:spPr>
      </p:sp>
      <p:sp>
        <p:nvSpPr>
          <p:cNvPr id="13" name="Line 13"/>
          <p:cNvSpPr/>
          <p:nvPr/>
        </p:nvSpPr>
        <p:spPr>
          <a:xfrm>
            <a:off x="10572750" y="3162300"/>
            <a:ext cx="381000" cy="1304925"/>
          </a:xfrm>
          <a:custGeom>
            <a:avLst/>
            <a:gdLst/>
            <a:ahLst/>
            <a:cxnLst/>
            <a:rect l="l" t="t" r="r" b="b"/>
            <a:pathLst>
              <a:path w="381000" h="1304925">
                <a:moveTo>
                  <a:pt x="0" y="1304925"/>
                </a:moveTo>
                <a:lnTo>
                  <a:pt x="381000" y="0"/>
                </a:lnTo>
              </a:path>
            </a:pathLst>
          </a:custGeom>
          <a:noFill/>
          <a:ln w="11430">
            <a:solidFill>
              <a:srgbClr val="BF857A"/>
            </a:solidFill>
            <a:custDash>
              <a:ds d="333333" sp="250000"/>
            </a:custDash>
          </a:ln>
        </p:spPr>
      </p:sp>
      <p:sp>
        <p:nvSpPr>
          <p:cNvPr id="14" name="node-1"/>
          <p:cNvSpPr/>
          <p:nvPr/>
        </p:nvSpPr>
        <p:spPr>
          <a:xfrm>
            <a:off x="1571625" y="4419600"/>
            <a:ext cx="95250" cy="95250"/>
          </a:xfrm>
          <a:prstGeom prst="ellipse">
            <a:avLst/>
          </a:prstGeom>
          <a:solidFill>
            <a:srgbClr val="FFFFFF"/>
          </a:solidFill>
          <a:ln w="19050">
            <a:solidFill>
              <a:srgbClr val="9C594C"/>
            </a:solidFill>
          </a:ln>
        </p:spPr>
      </p:sp>
      <p:sp>
        <p:nvSpPr>
          <p:cNvPr id="15" name="node-2"/>
          <p:cNvSpPr/>
          <p:nvPr/>
        </p:nvSpPr>
        <p:spPr>
          <a:xfrm>
            <a:off x="2676525" y="2676525"/>
            <a:ext cx="95250" cy="95250"/>
          </a:xfrm>
          <a:prstGeom prst="ellipse">
            <a:avLst/>
          </a:prstGeom>
          <a:solidFill>
            <a:srgbClr val="FFFFFF"/>
          </a:solidFill>
          <a:ln w="19050">
            <a:solidFill>
              <a:srgbClr val="9C594C"/>
            </a:solidFill>
          </a:ln>
        </p:spPr>
      </p:sp>
      <p:sp>
        <p:nvSpPr>
          <p:cNvPr id="16" name="node-3"/>
          <p:cNvSpPr/>
          <p:nvPr/>
        </p:nvSpPr>
        <p:spPr>
          <a:xfrm>
            <a:off x="4419600" y="1571625"/>
            <a:ext cx="95250" cy="95250"/>
          </a:xfrm>
          <a:prstGeom prst="ellipse">
            <a:avLst/>
          </a:prstGeom>
          <a:solidFill>
            <a:srgbClr val="FFFFFF"/>
          </a:solidFill>
          <a:ln w="19050">
            <a:solidFill>
              <a:srgbClr val="9C594C"/>
            </a:solidFill>
          </a:ln>
        </p:spPr>
      </p:sp>
      <p:sp>
        <p:nvSpPr>
          <p:cNvPr id="17" name="node-4"/>
          <p:cNvSpPr/>
          <p:nvPr/>
        </p:nvSpPr>
        <p:spPr>
          <a:xfrm>
            <a:off x="7677150" y="1571625"/>
            <a:ext cx="95250" cy="95250"/>
          </a:xfrm>
          <a:prstGeom prst="ellipse">
            <a:avLst/>
          </a:prstGeom>
          <a:solidFill>
            <a:srgbClr val="FFFFFF"/>
          </a:solidFill>
          <a:ln w="19050">
            <a:solidFill>
              <a:srgbClr val="9C594C"/>
            </a:solidFill>
          </a:ln>
        </p:spPr>
      </p:sp>
      <p:sp>
        <p:nvSpPr>
          <p:cNvPr id="18" name="node-5"/>
          <p:cNvSpPr/>
          <p:nvPr/>
        </p:nvSpPr>
        <p:spPr>
          <a:xfrm>
            <a:off x="9420225" y="2676525"/>
            <a:ext cx="95250" cy="95250"/>
          </a:xfrm>
          <a:prstGeom prst="ellipse">
            <a:avLst/>
          </a:prstGeom>
          <a:solidFill>
            <a:srgbClr val="FFFFFF"/>
          </a:solidFill>
          <a:ln w="19050">
            <a:solidFill>
              <a:srgbClr val="9C594C"/>
            </a:solidFill>
          </a:ln>
        </p:spPr>
      </p:sp>
      <p:sp>
        <p:nvSpPr>
          <p:cNvPr id="19" name="node-6"/>
          <p:cNvSpPr/>
          <p:nvPr/>
        </p:nvSpPr>
        <p:spPr>
          <a:xfrm>
            <a:off x="10525125" y="4419600"/>
            <a:ext cx="95250" cy="95250"/>
          </a:xfrm>
          <a:prstGeom prst="ellipse">
            <a:avLst/>
          </a:prstGeom>
          <a:solidFill>
            <a:srgbClr val="FFFFFF"/>
          </a:solidFill>
          <a:ln w="19050">
            <a:solidFill>
              <a:srgbClr val="9C594C"/>
            </a:solidFill>
          </a:ln>
        </p:spPr>
      </p:sp>
      <p:grpSp>
        <p:nvGrpSpPr>
          <p:cNvPr id="27" name="banner-left"/>
          <p:cNvGrpSpPr/>
          <p:nvPr/>
        </p:nvGrpSpPr>
        <p:grpSpPr>
          <a:xfrm>
            <a:off x="381000" y="781050"/>
            <a:ext cx="4762500" cy="304800"/>
            <a:chOff x="381000" y="781050"/>
            <a:chExt cx="4762500" cy="304800"/>
          </a:xfrm>
        </p:grpSpPr>
        <p:sp>
          <p:nvSpPr>
            <p:cNvPr id="20" name="Rectangle 20"/>
            <p:cNvSpPr/>
            <p:nvPr/>
          </p:nvSpPr>
          <p:spPr>
            <a:xfrm>
              <a:off x="381000" y="781050"/>
              <a:ext cx="4762500" cy="304800"/>
            </a:xfrm>
            <a:prstGeom prst="roundRect">
              <a:avLst>
                <a:gd name="adj" fmla="val 50000"/>
              </a:avLst>
            </a:prstGeom>
            <a:solidFill>
              <a:srgbClr val="FBF0D8"/>
            </a:solidFill>
            <a:ln>
              <a:noFill/>
            </a:ln>
          </p:spPr>
        </p:sp>
        <p:sp>
          <p:nvSpPr>
            <p:cNvPr id="21" name="TextBox 21"/>
            <p:cNvSpPr txBox="1"/>
            <p:nvPr/>
          </p:nvSpPr>
          <p:spPr>
            <a:xfrm>
              <a:off x="585597" y="885349"/>
              <a:ext cx="2674844"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01.目标、品牌和竞争对手的深入和直接了解​</a:t>
              </a:r>
            </a:p>
          </p:txBody>
        </p:sp>
        <p:grpSp>
          <p:nvGrpSpPr>
            <p:cNvPr id="26" name="Group 26"/>
            <p:cNvGrpSpPr/>
            <p:nvPr/>
          </p:nvGrpSpPr>
          <p:grpSpPr>
            <a:xfrm>
              <a:off x="4786312" y="869950"/>
              <a:ext cx="142875" cy="136525"/>
              <a:chOff x="4786312" y="869950"/>
              <a:chExt cx="142875" cy="136525"/>
            </a:xfrm>
          </p:grpSpPr>
          <p:sp>
            <p:nvSpPr>
              <p:cNvPr id="22" name="Freeform 22"/>
              <p:cNvSpPr/>
              <p:nvPr/>
            </p:nvSpPr>
            <p:spPr>
              <a:xfrm>
                <a:off x="4786312" y="9334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D6391E"/>
                </a:solidFill>
              </a:ln>
            </p:spPr>
          </p:sp>
          <p:sp>
            <p:nvSpPr>
              <p:cNvPr id="23" name="Freeform 23"/>
              <p:cNvSpPr/>
              <p:nvPr/>
            </p:nvSpPr>
            <p:spPr>
              <a:xfrm>
                <a:off x="4881562" y="9017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D6391E"/>
                </a:solidFill>
              </a:ln>
            </p:spPr>
          </p:sp>
          <p:sp>
            <p:nvSpPr>
              <p:cNvPr id="24" name="Freeform 24"/>
              <p:cNvSpPr/>
              <p:nvPr/>
            </p:nvSpPr>
            <p:spPr>
              <a:xfrm>
                <a:off x="4833937" y="8699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D6391E"/>
                </a:solidFill>
              </a:ln>
            </p:spPr>
          </p:sp>
          <p:sp>
            <p:nvSpPr>
              <p:cNvPr id="25" name="Freeform 25"/>
              <p:cNvSpPr/>
              <p:nvPr/>
            </p:nvSpPr>
            <p:spPr>
              <a:xfrm>
                <a:off x="4794250" y="996950"/>
                <a:ext cx="111125" cy="9525"/>
              </a:xfrm>
              <a:custGeom>
                <a:avLst/>
                <a:gdLst/>
                <a:ahLst/>
                <a:cxnLst/>
                <a:rect l="l" t="t" r="r" b="b"/>
                <a:pathLst>
                  <a:path w="111125" h="9525">
                    <a:moveTo>
                      <a:pt x="0" y="0"/>
                    </a:moveTo>
                    <a:lnTo>
                      <a:pt x="111125" y="0"/>
                    </a:lnTo>
                  </a:path>
                </a:pathLst>
              </a:custGeom>
              <a:noFill/>
              <a:ln w="15875">
                <a:solidFill>
                  <a:srgbClr val="D6391E"/>
                </a:solidFill>
              </a:ln>
            </p:spPr>
          </p:sp>
        </p:grpSp>
      </p:grpSp>
      <p:grpSp>
        <p:nvGrpSpPr>
          <p:cNvPr id="36" name="banner-right"/>
          <p:cNvGrpSpPr/>
          <p:nvPr/>
        </p:nvGrpSpPr>
        <p:grpSpPr>
          <a:xfrm>
            <a:off x="5429250" y="781050"/>
            <a:ext cx="6381750" cy="304800"/>
            <a:chOff x="5429250" y="781050"/>
            <a:chExt cx="6381750" cy="304800"/>
          </a:xfrm>
        </p:grpSpPr>
        <p:sp>
          <p:nvSpPr>
            <p:cNvPr id="28" name="Rectangle 28"/>
            <p:cNvSpPr/>
            <p:nvPr/>
          </p:nvSpPr>
          <p:spPr>
            <a:xfrm>
              <a:off x="5429250" y="781050"/>
              <a:ext cx="6381750" cy="304800"/>
            </a:xfrm>
            <a:prstGeom prst="roundRect">
              <a:avLst>
                <a:gd name="adj" fmla="val 50000"/>
              </a:avLst>
            </a:prstGeom>
            <a:solidFill>
              <a:srgbClr val="DFF0D2"/>
            </a:solidFill>
            <a:ln>
              <a:noFill/>
            </a:ln>
          </p:spPr>
        </p:sp>
        <p:grpSp>
          <p:nvGrpSpPr>
            <p:cNvPr id="34" name="Group 34"/>
            <p:cNvGrpSpPr/>
            <p:nvPr/>
          </p:nvGrpSpPr>
          <p:grpSpPr>
            <a:xfrm>
              <a:off x="5621337" y="862012"/>
              <a:ext cx="111125" cy="142875"/>
              <a:chOff x="5621337" y="862012"/>
              <a:chExt cx="111125" cy="142875"/>
            </a:xfrm>
          </p:grpSpPr>
          <p:sp>
            <p:nvSpPr>
              <p:cNvPr id="29" name="Freeform 29"/>
              <p:cNvSpPr/>
              <p:nvPr/>
            </p:nvSpPr>
            <p:spPr>
              <a:xfrm>
                <a:off x="5692775" y="8620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7A3E33"/>
                </a:solidFill>
              </a:ln>
            </p:spPr>
          </p:sp>
          <p:sp>
            <p:nvSpPr>
              <p:cNvPr id="30" name="Freeform 30"/>
              <p:cNvSpPr/>
              <p:nvPr/>
            </p:nvSpPr>
            <p:spPr>
              <a:xfrm>
                <a:off x="5621337" y="8620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7A3E33"/>
                </a:solidFill>
              </a:ln>
            </p:spPr>
          </p:sp>
          <p:sp>
            <p:nvSpPr>
              <p:cNvPr id="31" name="Freeform 31"/>
              <p:cNvSpPr/>
              <p:nvPr/>
            </p:nvSpPr>
            <p:spPr>
              <a:xfrm>
                <a:off x="5653087" y="909637"/>
                <a:ext cx="9525" cy="9525"/>
              </a:xfrm>
              <a:custGeom>
                <a:avLst/>
                <a:gdLst/>
                <a:ahLst/>
                <a:cxnLst/>
                <a:rect l="l" t="t" r="r" b="b"/>
                <a:pathLst>
                  <a:path w="9525" h="9525">
                    <a:moveTo>
                      <a:pt x="0" y="0"/>
                    </a:moveTo>
                    <a:lnTo>
                      <a:pt x="7937" y="0"/>
                    </a:lnTo>
                  </a:path>
                </a:pathLst>
              </a:custGeom>
              <a:noFill/>
              <a:ln w="15875">
                <a:solidFill>
                  <a:srgbClr val="7A3E33"/>
                </a:solidFill>
              </a:ln>
            </p:spPr>
          </p:sp>
          <p:sp>
            <p:nvSpPr>
              <p:cNvPr id="32" name="Freeform 32"/>
              <p:cNvSpPr/>
              <p:nvPr/>
            </p:nvSpPr>
            <p:spPr>
              <a:xfrm>
                <a:off x="5653087" y="941387"/>
                <a:ext cx="47625" cy="9525"/>
              </a:xfrm>
              <a:custGeom>
                <a:avLst/>
                <a:gdLst/>
                <a:ahLst/>
                <a:cxnLst/>
                <a:rect l="l" t="t" r="r" b="b"/>
                <a:pathLst>
                  <a:path w="47625" h="9525">
                    <a:moveTo>
                      <a:pt x="0" y="0"/>
                    </a:moveTo>
                    <a:lnTo>
                      <a:pt x="47625" y="0"/>
                    </a:lnTo>
                  </a:path>
                </a:pathLst>
              </a:custGeom>
              <a:noFill/>
              <a:ln w="15875">
                <a:solidFill>
                  <a:srgbClr val="7A3E33"/>
                </a:solidFill>
              </a:ln>
            </p:spPr>
          </p:sp>
          <p:sp>
            <p:nvSpPr>
              <p:cNvPr id="33" name="Freeform 33"/>
              <p:cNvSpPr/>
              <p:nvPr/>
            </p:nvSpPr>
            <p:spPr>
              <a:xfrm>
                <a:off x="5653087" y="973137"/>
                <a:ext cx="47625" cy="9525"/>
              </a:xfrm>
              <a:custGeom>
                <a:avLst/>
                <a:gdLst/>
                <a:ahLst/>
                <a:cxnLst/>
                <a:rect l="l" t="t" r="r" b="b"/>
                <a:pathLst>
                  <a:path w="47625" h="9525">
                    <a:moveTo>
                      <a:pt x="0" y="0"/>
                    </a:moveTo>
                    <a:lnTo>
                      <a:pt x="47625" y="0"/>
                    </a:lnTo>
                  </a:path>
                </a:pathLst>
              </a:custGeom>
              <a:noFill/>
              <a:ln w="15875">
                <a:solidFill>
                  <a:srgbClr val="7A3E33"/>
                </a:solidFill>
              </a:ln>
            </p:spPr>
          </p:sp>
        </p:grpSp>
        <p:sp>
          <p:nvSpPr>
            <p:cNvPr id="35" name="TextBox 35"/>
            <p:cNvSpPr txBox="1"/>
            <p:nvPr/>
          </p:nvSpPr>
          <p:spPr>
            <a:xfrm>
              <a:off x="5862447" y="885349"/>
              <a:ext cx="2938699" cy="190690"/>
            </a:xfrm>
            <a:prstGeom prst="rect">
              <a:avLst/>
            </a:prstGeom>
            <a:noFill/>
            <a:ln>
              <a:noFill/>
            </a:ln>
          </p:spPr>
          <p:txBody>
            <a:bodyPr wrap="none" lIns="0" tIns="0" rIns="0" bIns="0" anchor="t" anchorCtr="0">
              <a:spAutoFit/>
            </a:bodyPr>
            <a:lstStyle/>
            <a:p>
              <a:pPr algn="l"/>
              <a:r>
                <a:rPr lang="zh-CN" sz="980" dirty="0">
                  <a:solidFill>
                    <a:srgbClr val="333333"/>
                  </a:solidFill>
                  <a:latin typeface="+mn-lt"/>
                  <a:ea typeface="+mn-ea"/>
                  <a:cs typeface="+mn-cs"/>
                </a:rPr>
                <a:t>02.利用一切可能的手段，品牌资产后续调查资产​</a:t>
              </a:r>
            </a:p>
          </p:txBody>
        </p:sp>
      </p:grpSp>
      <p:grpSp>
        <p:nvGrpSpPr>
          <p:cNvPr id="39" name="pill-brand-strategy"/>
          <p:cNvGrpSpPr/>
          <p:nvPr/>
        </p:nvGrpSpPr>
        <p:grpSpPr>
          <a:xfrm>
            <a:off x="381000" y="1238250"/>
            <a:ext cx="1809750" cy="304800"/>
            <a:chOff x="381000" y="1238250"/>
            <a:chExt cx="1809750" cy="304800"/>
          </a:xfrm>
        </p:grpSpPr>
        <p:sp>
          <p:nvSpPr>
            <p:cNvPr id="37" name="Rectangle 37"/>
            <p:cNvSpPr/>
            <p:nvPr/>
          </p:nvSpPr>
          <p:spPr>
            <a:xfrm>
              <a:off x="381000" y="1238250"/>
              <a:ext cx="1809750" cy="304800"/>
            </a:xfrm>
            <a:prstGeom prst="roundRect">
              <a:avLst>
                <a:gd name="adj" fmla="val 50000"/>
              </a:avLst>
            </a:prstGeom>
            <a:solidFill>
              <a:srgbClr val="FBF0D8"/>
            </a:solidFill>
            <a:ln>
              <a:noFill/>
            </a:ln>
          </p:spPr>
        </p:sp>
        <p:sp>
          <p:nvSpPr>
            <p:cNvPr id="38" name="TextBox 38"/>
            <p:cNvSpPr txBox="1"/>
            <p:nvPr/>
          </p:nvSpPr>
          <p:spPr>
            <a:xfrm>
              <a:off x="812579" y="1342549"/>
              <a:ext cx="946592"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品牌战略--分析</a:t>
              </a:r>
            </a:p>
          </p:txBody>
        </p:sp>
      </p:grpSp>
      <p:grpSp>
        <p:nvGrpSpPr>
          <p:cNvPr id="42" name="pill-customer"/>
          <p:cNvGrpSpPr/>
          <p:nvPr/>
        </p:nvGrpSpPr>
        <p:grpSpPr>
          <a:xfrm>
            <a:off x="381000" y="1676400"/>
            <a:ext cx="1333500" cy="304800"/>
            <a:chOff x="381000" y="1676400"/>
            <a:chExt cx="1333500" cy="304800"/>
          </a:xfrm>
        </p:grpSpPr>
        <p:sp>
          <p:nvSpPr>
            <p:cNvPr id="40" name="Rectangle 40"/>
            <p:cNvSpPr/>
            <p:nvPr/>
          </p:nvSpPr>
          <p:spPr>
            <a:xfrm>
              <a:off x="381000" y="1676400"/>
              <a:ext cx="1333500" cy="304800"/>
            </a:xfrm>
            <a:prstGeom prst="roundRect">
              <a:avLst>
                <a:gd name="adj" fmla="val 50000"/>
              </a:avLst>
            </a:prstGeom>
            <a:solidFill>
              <a:srgbClr val="FBF0D8"/>
            </a:solidFill>
            <a:ln>
              <a:noFill/>
            </a:ln>
          </p:spPr>
        </p:sp>
        <p:sp>
          <p:nvSpPr>
            <p:cNvPr id="41" name="TextBox 41"/>
            <p:cNvSpPr txBox="1"/>
            <p:nvPr/>
          </p:nvSpPr>
          <p:spPr>
            <a:xfrm>
              <a:off x="778942" y="178069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客户知识</a:t>
              </a:r>
            </a:p>
          </p:txBody>
        </p:sp>
      </p:grpSp>
      <p:grpSp>
        <p:nvGrpSpPr>
          <p:cNvPr id="46" name="pill-group-comm"/>
          <p:cNvGrpSpPr/>
          <p:nvPr/>
        </p:nvGrpSpPr>
        <p:grpSpPr>
          <a:xfrm>
            <a:off x="2762250" y="1676400"/>
            <a:ext cx="1047750" cy="1095376"/>
            <a:chOff x="2762250" y="1676400"/>
            <a:chExt cx="1047750" cy="1095376"/>
          </a:xfrm>
        </p:grpSpPr>
        <p:sp>
          <p:nvSpPr>
            <p:cNvPr id="43" name="Rectangle 43"/>
            <p:cNvSpPr/>
            <p:nvPr/>
          </p:nvSpPr>
          <p:spPr>
            <a:xfrm>
              <a:off x="2762250" y="1676400"/>
              <a:ext cx="1047750" cy="266700"/>
            </a:xfrm>
            <a:prstGeom prst="roundRect">
              <a:avLst>
                <a:gd name="adj" fmla="val 50000"/>
              </a:avLst>
            </a:prstGeom>
            <a:solidFill>
              <a:srgbClr val="9C594C"/>
            </a:solidFill>
            <a:ln>
              <a:noFill/>
            </a:ln>
          </p:spPr>
        </p:sp>
        <p:sp>
          <p:nvSpPr>
            <p:cNvPr id="44" name="TextBox 44"/>
            <p:cNvSpPr txBox="1"/>
            <p:nvPr/>
          </p:nvSpPr>
          <p:spPr>
            <a:xfrm>
              <a:off x="3028277" y="17561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群体沟通</a:t>
              </a:r>
            </a:p>
          </p:txBody>
        </p:sp>
        <p:sp>
          <p:nvSpPr>
            <p:cNvPr id="45" name="TextBox 45"/>
            <p:cNvSpPr txBox="1"/>
            <p:nvPr/>
          </p:nvSpPr>
          <p:spPr>
            <a:xfrm>
              <a:off x="2852738" y="2224088"/>
              <a:ext cx="471488" cy="547688"/>
            </a:xfrm>
            <a:prstGeom prst="rect">
              <a:avLst/>
            </a:prstGeom>
            <a:noFill/>
            <a:ln>
              <a:noFill/>
            </a:ln>
          </p:spPr>
          <p:txBody>
            <a:bodyPr wrap="none" lIns="0" tIns="0" rIns="0" bIns="0" anchor="t" anchorCtr="0">
              <a:spAutoFit/>
            </a:bodyPr>
            <a:lstStyle/>
            <a:p>
              <a:pPr algn="l" marL="80962" indent="-80962">
                <a:lnSpc>
                  <a:spcPts val="1050"/>
                </a:lnSpc>
                <a:buClr>
                  <a:srgbClr val="333333"/>
                </a:buClr>
                <a:buSzTx/>
                <a:buFontTx/>
                <a:buChar char="•"/>
              </a:pPr>
              <a:r>
                <a:rPr lang="zh-CN" sz="750" dirty="0">
                  <a:solidFill>
                    <a:srgbClr val="333333"/>
                  </a:solidFill>
                  <a:latin typeface="+mn-lt"/>
                  <a:ea typeface="+mn-ea"/>
                  <a:cs typeface="+mn-cs"/>
                </a:rPr>
                <a:t>主动沟通</a:t>
              </a:r>
            </a:p>
            <a:p>
              <a:pPr algn="l" marL="80962" indent="-80962">
                <a:lnSpc>
                  <a:spcPts val="1050"/>
                </a:lnSpc>
                <a:buClr>
                  <a:srgbClr val="333333"/>
                </a:buClr>
                <a:buSzTx/>
                <a:buFontTx/>
                <a:buChar char="•"/>
              </a:pPr>
              <a:r>
                <a:rPr lang="zh-CN" sz="750" dirty="0">
                  <a:solidFill>
                    <a:srgbClr val="333333"/>
                  </a:solidFill>
                  <a:latin typeface="+mn-lt"/>
                  <a:ea typeface="+mn-ea"/>
                  <a:cs typeface="+mn-cs"/>
                </a:rPr>
                <a:t>日常沟通</a:t>
              </a:r>
            </a:p>
            <a:p>
              <a:pPr algn="l" marL="80962" indent="-80962">
                <a:lnSpc>
                  <a:spcPts val="1050"/>
                </a:lnSpc>
                <a:buClr>
                  <a:srgbClr val="333333"/>
                </a:buClr>
                <a:buSzTx/>
                <a:buFontTx/>
                <a:buChar char="•"/>
              </a:pPr>
              <a:r>
                <a:rPr lang="zh-CN" sz="750" dirty="0">
                  <a:solidFill>
                    <a:srgbClr val="333333"/>
                  </a:solidFill>
                  <a:latin typeface="+mn-lt"/>
                  <a:ea typeface="+mn-ea"/>
                  <a:cs typeface="+mn-cs"/>
                </a:rPr>
                <a:t>其他沟通</a:t>
              </a:r>
            </a:p>
            <a:p>
              <a:pPr algn="l" marL="80962" indent="-80962">
                <a:lnSpc>
                  <a:spcPts val="1050"/>
                </a:lnSpc>
                <a:buClr>
                  <a:srgbClr val="333333"/>
                </a:buClr>
                <a:buSzTx/>
                <a:buFontTx/>
                <a:buChar char="•"/>
              </a:pPr>
              <a:r>
                <a:rPr lang="zh-CN" sz="750" dirty="0">
                  <a:solidFill>
                    <a:srgbClr val="333333"/>
                  </a:solidFill>
                  <a:latin typeface="+mn-lt"/>
                  <a:ea typeface="+mn-ea"/>
                  <a:cs typeface="+mn-cs"/>
                </a:rPr>
                <a:t>......</a:t>
              </a:r>
            </a:p>
          </p:txBody>
        </p:sp>
      </p:grpSp>
      <p:grpSp>
        <p:nvGrpSpPr>
          <p:cNvPr id="50" name="pill-online"/>
          <p:cNvGrpSpPr/>
          <p:nvPr/>
        </p:nvGrpSpPr>
        <p:grpSpPr>
          <a:xfrm>
            <a:off x="5476875" y="1123950"/>
            <a:ext cx="1047750" cy="1266826"/>
            <a:chOff x="5476875" y="1123950"/>
            <a:chExt cx="1047750" cy="1266826"/>
          </a:xfrm>
        </p:grpSpPr>
        <p:sp>
          <p:nvSpPr>
            <p:cNvPr id="47" name="Rectangle 47"/>
            <p:cNvSpPr/>
            <p:nvPr/>
          </p:nvSpPr>
          <p:spPr>
            <a:xfrm>
              <a:off x="5476875" y="1123950"/>
              <a:ext cx="1047750" cy="266700"/>
            </a:xfrm>
            <a:prstGeom prst="roundRect">
              <a:avLst>
                <a:gd name="adj" fmla="val 50000"/>
              </a:avLst>
            </a:prstGeom>
            <a:solidFill>
              <a:srgbClr val="E9563C"/>
            </a:solidFill>
            <a:ln>
              <a:noFill/>
            </a:ln>
          </p:spPr>
        </p:sp>
        <p:sp>
          <p:nvSpPr>
            <p:cNvPr id="48" name="TextBox 48"/>
            <p:cNvSpPr txBox="1"/>
            <p:nvPr/>
          </p:nvSpPr>
          <p:spPr>
            <a:xfrm>
              <a:off x="5742902" y="120372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线上聚会</a:t>
              </a:r>
            </a:p>
          </p:txBody>
        </p:sp>
        <p:sp>
          <p:nvSpPr>
            <p:cNvPr id="49" name="TextBox 49"/>
            <p:cNvSpPr txBox="1"/>
            <p:nvPr/>
          </p:nvSpPr>
          <p:spPr>
            <a:xfrm>
              <a:off x="5710238" y="1843088"/>
              <a:ext cx="471488" cy="547688"/>
            </a:xfrm>
            <a:prstGeom prst="rect">
              <a:avLst/>
            </a:prstGeom>
            <a:noFill/>
            <a:ln>
              <a:noFill/>
            </a:ln>
          </p:spPr>
          <p:txBody>
            <a:bodyPr wrap="none" lIns="0" tIns="0" rIns="0" bIns="0" anchor="t" anchorCtr="0">
              <a:spAutoFit/>
            </a:bodyPr>
            <a:lstStyle/>
            <a:p>
              <a:pPr algn="l" marL="80962" indent="-80962">
                <a:lnSpc>
                  <a:spcPts val="1050"/>
                </a:lnSpc>
                <a:buClr>
                  <a:srgbClr val="333333"/>
                </a:buClr>
                <a:buSzTx/>
                <a:buFontTx/>
                <a:buChar char="•"/>
              </a:pPr>
              <a:r>
                <a:rPr lang="zh-CN" sz="750" dirty="0">
                  <a:solidFill>
                    <a:srgbClr val="333333"/>
                  </a:solidFill>
                  <a:latin typeface="+mn-lt"/>
                  <a:ea typeface="+mn-ea"/>
                  <a:cs typeface="+mn-cs"/>
                </a:rPr>
                <a:t>线上活动</a:t>
              </a:r>
            </a:p>
            <a:p>
              <a:pPr algn="l" marL="80962" indent="-80962">
                <a:lnSpc>
                  <a:spcPts val="1050"/>
                </a:lnSpc>
                <a:buClr>
                  <a:srgbClr val="333333"/>
                </a:buClr>
                <a:buSzTx/>
                <a:buFontTx/>
                <a:buChar char="•"/>
              </a:pPr>
              <a:r>
                <a:rPr lang="zh-CN" sz="750" dirty="0">
                  <a:solidFill>
                    <a:srgbClr val="333333"/>
                  </a:solidFill>
                  <a:latin typeface="+mn-lt"/>
                  <a:ea typeface="+mn-ea"/>
                  <a:cs typeface="+mn-cs"/>
                </a:rPr>
                <a:t>日常游戏</a:t>
              </a:r>
            </a:p>
            <a:p>
              <a:pPr algn="l" marL="80962" indent="-80962">
                <a:lnSpc>
                  <a:spcPts val="1050"/>
                </a:lnSpc>
                <a:buClr>
                  <a:srgbClr val="333333"/>
                </a:buClr>
                <a:buSzTx/>
                <a:buFontTx/>
                <a:buChar char="•"/>
              </a:pPr>
              <a:r>
                <a:rPr lang="zh-CN" sz="750" dirty="0">
                  <a:solidFill>
                    <a:srgbClr val="333333"/>
                  </a:solidFill>
                  <a:latin typeface="+mn-lt"/>
                  <a:ea typeface="+mn-ea"/>
                  <a:cs typeface="+mn-cs"/>
                </a:rPr>
                <a:t>其他活动</a:t>
              </a:r>
            </a:p>
            <a:p>
              <a:pPr algn="l" marL="80962" indent="-80962">
                <a:lnSpc>
                  <a:spcPts val="1050"/>
                </a:lnSpc>
                <a:buClr>
                  <a:srgbClr val="333333"/>
                </a:buClr>
                <a:buSzTx/>
                <a:buFontTx/>
                <a:buChar char="•"/>
              </a:pPr>
              <a:r>
                <a:rPr lang="zh-CN" sz="750" dirty="0">
                  <a:solidFill>
                    <a:srgbClr val="333333"/>
                  </a:solidFill>
                  <a:latin typeface="+mn-lt"/>
                  <a:ea typeface="+mn-ea"/>
                  <a:cs typeface="+mn-cs"/>
                </a:rPr>
                <a:t>......</a:t>
              </a:r>
            </a:p>
          </p:txBody>
        </p:sp>
      </p:grpSp>
      <p:grpSp>
        <p:nvGrpSpPr>
          <p:cNvPr id="54" name="pill-comfort"/>
          <p:cNvGrpSpPr/>
          <p:nvPr/>
        </p:nvGrpSpPr>
        <p:grpSpPr>
          <a:xfrm>
            <a:off x="7900988" y="1676400"/>
            <a:ext cx="1624012" cy="1095376"/>
            <a:chOff x="7900988" y="1676400"/>
            <a:chExt cx="1624012" cy="1095376"/>
          </a:xfrm>
        </p:grpSpPr>
        <p:sp>
          <p:nvSpPr>
            <p:cNvPr id="51" name="Rectangle 51"/>
            <p:cNvSpPr/>
            <p:nvPr/>
          </p:nvSpPr>
          <p:spPr>
            <a:xfrm>
              <a:off x="8477250" y="1676400"/>
              <a:ext cx="1047750" cy="266700"/>
            </a:xfrm>
            <a:prstGeom prst="roundRect">
              <a:avLst>
                <a:gd name="adj" fmla="val 50000"/>
              </a:avLst>
            </a:prstGeom>
            <a:solidFill>
              <a:srgbClr val="9C594C"/>
            </a:solidFill>
            <a:ln>
              <a:noFill/>
            </a:ln>
          </p:spPr>
        </p:sp>
        <p:sp>
          <p:nvSpPr>
            <p:cNvPr id="52" name="TextBox 52"/>
            <p:cNvSpPr txBox="1"/>
            <p:nvPr/>
          </p:nvSpPr>
          <p:spPr>
            <a:xfrm>
              <a:off x="8743277" y="17561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舒适环境</a:t>
              </a:r>
            </a:p>
          </p:txBody>
        </p:sp>
        <p:sp>
          <p:nvSpPr>
            <p:cNvPr id="53" name="TextBox 53"/>
            <p:cNvSpPr txBox="1"/>
            <p:nvPr/>
          </p:nvSpPr>
          <p:spPr>
            <a:xfrm>
              <a:off x="7900988" y="2224088"/>
              <a:ext cx="471488" cy="547688"/>
            </a:xfrm>
            <a:prstGeom prst="rect">
              <a:avLst/>
            </a:prstGeom>
            <a:noFill/>
            <a:ln>
              <a:noFill/>
            </a:ln>
          </p:spPr>
          <p:txBody>
            <a:bodyPr wrap="none" lIns="0" tIns="0" rIns="0" bIns="0" anchor="t" anchorCtr="0">
              <a:spAutoFit/>
            </a:bodyPr>
            <a:lstStyle/>
            <a:p>
              <a:pPr algn="l" marL="80962" indent="-80962">
                <a:lnSpc>
                  <a:spcPts val="1050"/>
                </a:lnSpc>
                <a:buClr>
                  <a:srgbClr val="333333"/>
                </a:buClr>
                <a:buSzTx/>
                <a:buFontTx/>
                <a:buChar char="•"/>
              </a:pPr>
              <a:r>
                <a:rPr lang="zh-CN" sz="750" dirty="0">
                  <a:solidFill>
                    <a:srgbClr val="333333"/>
                  </a:solidFill>
                  <a:latin typeface="+mn-lt"/>
                  <a:ea typeface="+mn-ea"/>
                  <a:cs typeface="+mn-cs"/>
                </a:rPr>
                <a:t>熟悉的人</a:t>
              </a:r>
            </a:p>
            <a:p>
              <a:pPr algn="l" marL="80962" indent="-80962">
                <a:lnSpc>
                  <a:spcPts val="1050"/>
                </a:lnSpc>
                <a:buClr>
                  <a:srgbClr val="333333"/>
                </a:buClr>
                <a:buSzTx/>
                <a:buFontTx/>
                <a:buChar char="•"/>
              </a:pPr>
              <a:r>
                <a:rPr lang="zh-CN" sz="750" dirty="0">
                  <a:solidFill>
                    <a:srgbClr val="333333"/>
                  </a:solidFill>
                  <a:latin typeface="+mn-lt"/>
                  <a:ea typeface="+mn-ea"/>
                  <a:cs typeface="+mn-cs"/>
                </a:rPr>
                <a:t>安全可控</a:t>
              </a:r>
            </a:p>
            <a:p>
              <a:pPr algn="l" marL="80962" indent="-80962">
                <a:lnSpc>
                  <a:spcPts val="1050"/>
                </a:lnSpc>
                <a:buClr>
                  <a:srgbClr val="333333"/>
                </a:buClr>
                <a:buSzTx/>
                <a:buFontTx/>
                <a:buChar char="•"/>
              </a:pPr>
              <a:r>
                <a:rPr lang="zh-CN" sz="750" dirty="0">
                  <a:solidFill>
                    <a:srgbClr val="333333"/>
                  </a:solidFill>
                  <a:latin typeface="+mn-lt"/>
                  <a:ea typeface="+mn-ea"/>
                  <a:cs typeface="+mn-cs"/>
                </a:rPr>
                <a:t>擅长的事</a:t>
              </a:r>
            </a:p>
            <a:p>
              <a:pPr algn="l" marL="80962" indent="-80962">
                <a:lnSpc>
                  <a:spcPts val="1050"/>
                </a:lnSpc>
                <a:buClr>
                  <a:srgbClr val="333333"/>
                </a:buClr>
                <a:buSzTx/>
                <a:buFontTx/>
                <a:buChar char="•"/>
              </a:pPr>
              <a:r>
                <a:rPr lang="zh-CN" sz="750" dirty="0">
                  <a:solidFill>
                    <a:srgbClr val="333333"/>
                  </a:solidFill>
                  <a:latin typeface="+mn-lt"/>
                  <a:ea typeface="+mn-ea"/>
                  <a:cs typeface="+mn-cs"/>
                </a:rPr>
                <a:t>......</a:t>
              </a:r>
            </a:p>
          </p:txBody>
        </p:sp>
      </p:grpSp>
      <p:grpSp>
        <p:nvGrpSpPr>
          <p:cNvPr id="57" name="pill-purchase"/>
          <p:cNvGrpSpPr/>
          <p:nvPr/>
        </p:nvGrpSpPr>
        <p:grpSpPr>
          <a:xfrm>
            <a:off x="9429750" y="1238250"/>
            <a:ext cx="2381250" cy="304800"/>
            <a:chOff x="9429750" y="1238250"/>
            <a:chExt cx="2381250" cy="304800"/>
          </a:xfrm>
        </p:grpSpPr>
        <p:sp>
          <p:nvSpPr>
            <p:cNvPr id="55" name="Rectangle 55"/>
            <p:cNvSpPr/>
            <p:nvPr/>
          </p:nvSpPr>
          <p:spPr>
            <a:xfrm>
              <a:off x="9429750" y="1238250"/>
              <a:ext cx="2381250" cy="304800"/>
            </a:xfrm>
            <a:prstGeom prst="roundRect">
              <a:avLst>
                <a:gd name="adj" fmla="val 50000"/>
              </a:avLst>
            </a:prstGeom>
            <a:solidFill>
              <a:srgbClr val="DFF0D2"/>
            </a:solidFill>
            <a:ln>
              <a:noFill/>
            </a:ln>
          </p:spPr>
        </p:sp>
        <p:sp>
          <p:nvSpPr>
            <p:cNvPr id="56" name="TextBox 56"/>
            <p:cNvSpPr txBox="1"/>
            <p:nvPr/>
          </p:nvSpPr>
          <p:spPr>
            <a:xfrm>
              <a:off x="10147079" y="1342549"/>
              <a:ext cx="946592"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购买决策—测试​</a:t>
              </a:r>
            </a:p>
          </p:txBody>
        </p:sp>
      </p:grpSp>
      <p:grpSp>
        <p:nvGrpSpPr>
          <p:cNvPr id="60" name="pill-species"/>
          <p:cNvGrpSpPr/>
          <p:nvPr/>
        </p:nvGrpSpPr>
        <p:grpSpPr>
          <a:xfrm>
            <a:off x="10287000" y="1676400"/>
            <a:ext cx="1524000" cy="304800"/>
            <a:chOff x="10287000" y="1676400"/>
            <a:chExt cx="1524000" cy="304800"/>
          </a:xfrm>
        </p:grpSpPr>
        <p:sp>
          <p:nvSpPr>
            <p:cNvPr id="58" name="Rectangle 58"/>
            <p:cNvSpPr/>
            <p:nvPr/>
          </p:nvSpPr>
          <p:spPr>
            <a:xfrm>
              <a:off x="10287000" y="1676400"/>
              <a:ext cx="1524000" cy="304800"/>
            </a:xfrm>
            <a:prstGeom prst="roundRect">
              <a:avLst>
                <a:gd name="adj" fmla="val 50000"/>
              </a:avLst>
            </a:prstGeom>
            <a:solidFill>
              <a:srgbClr val="DFF0D2"/>
            </a:solidFill>
            <a:ln>
              <a:noFill/>
            </a:ln>
          </p:spPr>
        </p:sp>
        <p:sp>
          <p:nvSpPr>
            <p:cNvPr id="59" name="TextBox 59"/>
            <p:cNvSpPr txBox="1"/>
            <p:nvPr/>
          </p:nvSpPr>
          <p:spPr>
            <a:xfrm>
              <a:off x="10780192" y="1780699"/>
              <a:ext cx="537616"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种群特征</a:t>
              </a:r>
            </a:p>
          </p:txBody>
        </p:sp>
      </p:grpSp>
      <p:grpSp>
        <p:nvGrpSpPr>
          <p:cNvPr id="64" name="pill-grassroots"/>
          <p:cNvGrpSpPr/>
          <p:nvPr/>
        </p:nvGrpSpPr>
        <p:grpSpPr>
          <a:xfrm>
            <a:off x="381000" y="2857500"/>
            <a:ext cx="1990726" cy="1438276"/>
            <a:chOff x="381000" y="2857500"/>
            <a:chExt cx="1990726" cy="1438276"/>
          </a:xfrm>
        </p:grpSpPr>
        <p:sp>
          <p:nvSpPr>
            <p:cNvPr id="61" name="Rectangle 61"/>
            <p:cNvSpPr/>
            <p:nvPr/>
          </p:nvSpPr>
          <p:spPr>
            <a:xfrm>
              <a:off x="381000" y="2857500"/>
              <a:ext cx="1047750" cy="266700"/>
            </a:xfrm>
            <a:prstGeom prst="roundRect">
              <a:avLst>
                <a:gd name="adj" fmla="val 50000"/>
              </a:avLst>
            </a:prstGeom>
            <a:solidFill>
              <a:srgbClr val="9C594C"/>
            </a:solidFill>
            <a:ln>
              <a:noFill/>
            </a:ln>
          </p:spPr>
        </p:sp>
        <p:sp>
          <p:nvSpPr>
            <p:cNvPr id="62" name="TextBox 62"/>
            <p:cNvSpPr txBox="1"/>
            <p:nvPr/>
          </p:nvSpPr>
          <p:spPr>
            <a:xfrm>
              <a:off x="647027" y="29372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基层陪伴</a:t>
              </a:r>
            </a:p>
          </p:txBody>
        </p:sp>
        <p:sp>
          <p:nvSpPr>
            <p:cNvPr id="63" name="TextBox 63"/>
            <p:cNvSpPr txBox="1"/>
            <p:nvPr/>
          </p:nvSpPr>
          <p:spPr>
            <a:xfrm>
              <a:off x="1900238" y="3748088"/>
              <a:ext cx="471488" cy="547688"/>
            </a:xfrm>
            <a:prstGeom prst="rect">
              <a:avLst/>
            </a:prstGeom>
            <a:noFill/>
            <a:ln>
              <a:noFill/>
            </a:ln>
          </p:spPr>
          <p:txBody>
            <a:bodyPr wrap="none" lIns="0" tIns="0" rIns="0" bIns="0" anchor="t" anchorCtr="0">
              <a:spAutoFit/>
            </a:bodyPr>
            <a:lstStyle/>
            <a:p>
              <a:pPr algn="l" marL="80962" indent="-80962">
                <a:lnSpc>
                  <a:spcPts val="1050"/>
                </a:lnSpc>
                <a:buClr>
                  <a:srgbClr val="333333"/>
                </a:buClr>
                <a:buSzTx/>
                <a:buFontTx/>
                <a:buChar char="•"/>
              </a:pPr>
              <a:r>
                <a:rPr lang="zh-CN" sz="750" dirty="0">
                  <a:solidFill>
                    <a:srgbClr val="333333"/>
                  </a:solidFill>
                  <a:latin typeface="+mn-lt"/>
                  <a:ea typeface="+mn-ea"/>
                  <a:cs typeface="+mn-cs"/>
                </a:rPr>
                <a:t>家人陪伴</a:t>
              </a:r>
            </a:p>
            <a:p>
              <a:pPr algn="l" marL="80962" indent="-80962">
                <a:lnSpc>
                  <a:spcPts val="1050"/>
                </a:lnSpc>
                <a:buClr>
                  <a:srgbClr val="333333"/>
                </a:buClr>
                <a:buSzTx/>
                <a:buFontTx/>
                <a:buChar char="•"/>
              </a:pPr>
              <a:r>
                <a:rPr lang="zh-CN" sz="750" dirty="0">
                  <a:solidFill>
                    <a:srgbClr val="333333"/>
                  </a:solidFill>
                  <a:latin typeface="+mn-lt"/>
                  <a:ea typeface="+mn-ea"/>
                  <a:cs typeface="+mn-cs"/>
                </a:rPr>
                <a:t>朋友约会</a:t>
              </a:r>
            </a:p>
            <a:p>
              <a:pPr algn="l" marL="80962" indent="-80962">
                <a:lnSpc>
                  <a:spcPts val="1050"/>
                </a:lnSpc>
                <a:buClr>
                  <a:srgbClr val="333333"/>
                </a:buClr>
                <a:buSzTx/>
                <a:buFontTx/>
                <a:buChar char="•"/>
              </a:pPr>
              <a:r>
                <a:rPr lang="zh-CN" sz="750" dirty="0">
                  <a:solidFill>
                    <a:srgbClr val="333333"/>
                  </a:solidFill>
                  <a:latin typeface="+mn-lt"/>
                  <a:ea typeface="+mn-ea"/>
                  <a:cs typeface="+mn-cs"/>
                </a:rPr>
                <a:t>亲子活动</a:t>
              </a:r>
            </a:p>
            <a:p>
              <a:pPr algn="l" marL="80962" indent="-80962">
                <a:lnSpc>
                  <a:spcPts val="1050"/>
                </a:lnSpc>
                <a:buClr>
                  <a:srgbClr val="333333"/>
                </a:buClr>
                <a:buSzTx/>
                <a:buFontTx/>
                <a:buChar char="•"/>
              </a:pPr>
              <a:r>
                <a:rPr lang="zh-CN" sz="750" dirty="0">
                  <a:solidFill>
                    <a:srgbClr val="333333"/>
                  </a:solidFill>
                  <a:latin typeface="+mn-lt"/>
                  <a:ea typeface="+mn-ea"/>
                  <a:cs typeface="+mn-cs"/>
                </a:rPr>
                <a:t>......</a:t>
              </a:r>
            </a:p>
          </p:txBody>
        </p:sp>
      </p:grpSp>
      <p:grpSp>
        <p:nvGrpSpPr>
          <p:cNvPr id="68" name="pill-fear"/>
          <p:cNvGrpSpPr/>
          <p:nvPr/>
        </p:nvGrpSpPr>
        <p:grpSpPr>
          <a:xfrm>
            <a:off x="9139238" y="2857500"/>
            <a:ext cx="2290762" cy="1438276"/>
            <a:chOff x="9139238" y="2857500"/>
            <a:chExt cx="2290762" cy="1438276"/>
          </a:xfrm>
        </p:grpSpPr>
        <p:sp>
          <p:nvSpPr>
            <p:cNvPr id="65" name="Rectangle 65"/>
            <p:cNvSpPr/>
            <p:nvPr/>
          </p:nvSpPr>
          <p:spPr>
            <a:xfrm>
              <a:off x="10382250" y="2857500"/>
              <a:ext cx="1047750" cy="266700"/>
            </a:xfrm>
            <a:prstGeom prst="roundRect">
              <a:avLst>
                <a:gd name="adj" fmla="val 50000"/>
              </a:avLst>
            </a:prstGeom>
            <a:solidFill>
              <a:srgbClr val="9C594C"/>
            </a:solidFill>
            <a:ln>
              <a:noFill/>
            </a:ln>
          </p:spPr>
        </p:sp>
        <p:sp>
          <p:nvSpPr>
            <p:cNvPr id="66" name="TextBox 66"/>
            <p:cNvSpPr txBox="1"/>
            <p:nvPr/>
          </p:nvSpPr>
          <p:spPr>
            <a:xfrm>
              <a:off x="10648277" y="2937272"/>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恐惧环境</a:t>
              </a:r>
            </a:p>
          </p:txBody>
        </p:sp>
        <p:sp>
          <p:nvSpPr>
            <p:cNvPr id="67" name="TextBox 67"/>
            <p:cNvSpPr txBox="1"/>
            <p:nvPr/>
          </p:nvSpPr>
          <p:spPr>
            <a:xfrm>
              <a:off x="9139238" y="3748088"/>
              <a:ext cx="566738" cy="547688"/>
            </a:xfrm>
            <a:prstGeom prst="rect">
              <a:avLst/>
            </a:prstGeom>
            <a:noFill/>
            <a:ln>
              <a:noFill/>
            </a:ln>
          </p:spPr>
          <p:txBody>
            <a:bodyPr wrap="none" lIns="0" tIns="0" rIns="0" bIns="0" anchor="t" anchorCtr="0">
              <a:spAutoFit/>
            </a:bodyPr>
            <a:lstStyle/>
            <a:p>
              <a:pPr algn="l" marL="80962" indent="-80962">
                <a:lnSpc>
                  <a:spcPts val="1050"/>
                </a:lnSpc>
                <a:buClr>
                  <a:srgbClr val="333333"/>
                </a:buClr>
                <a:buSzTx/>
                <a:buFontTx/>
                <a:buChar char="•"/>
              </a:pPr>
              <a:r>
                <a:rPr lang="zh-CN" sz="750" dirty="0">
                  <a:solidFill>
                    <a:srgbClr val="333333"/>
                  </a:solidFill>
                  <a:latin typeface="+mn-lt"/>
                  <a:ea typeface="+mn-ea"/>
                  <a:cs typeface="+mn-cs"/>
                </a:rPr>
                <a:t>陌生的人</a:t>
              </a:r>
            </a:p>
            <a:p>
              <a:pPr algn="l" marL="80962" indent="-80962">
                <a:lnSpc>
                  <a:spcPts val="1050"/>
                </a:lnSpc>
                <a:buClr>
                  <a:srgbClr val="333333"/>
                </a:buClr>
                <a:buSzTx/>
                <a:buFontTx/>
                <a:buChar char="•"/>
              </a:pPr>
              <a:r>
                <a:rPr lang="zh-CN" sz="750" dirty="0">
                  <a:solidFill>
                    <a:srgbClr val="333333"/>
                  </a:solidFill>
                  <a:latin typeface="+mn-lt"/>
                  <a:ea typeface="+mn-ea"/>
                  <a:cs typeface="+mn-cs"/>
                </a:rPr>
                <a:t>不擅长的事</a:t>
              </a:r>
            </a:p>
            <a:p>
              <a:pPr algn="l" marL="80962" indent="-80962">
                <a:lnSpc>
                  <a:spcPts val="1050"/>
                </a:lnSpc>
                <a:buClr>
                  <a:srgbClr val="333333"/>
                </a:buClr>
                <a:buSzTx/>
                <a:buFontTx/>
                <a:buChar char="•"/>
              </a:pPr>
              <a:r>
                <a:rPr lang="zh-CN" sz="750" dirty="0">
                  <a:solidFill>
                    <a:srgbClr val="333333"/>
                  </a:solidFill>
                  <a:latin typeface="+mn-lt"/>
                  <a:ea typeface="+mn-ea"/>
                  <a:cs typeface="+mn-cs"/>
                </a:rPr>
                <a:t>没什么把握</a:t>
              </a:r>
            </a:p>
            <a:p>
              <a:pPr algn="l" marL="80962" indent="-80962">
                <a:lnSpc>
                  <a:spcPts val="1050"/>
                </a:lnSpc>
                <a:buClr>
                  <a:srgbClr val="333333"/>
                </a:buClr>
                <a:buSzTx/>
                <a:buFontTx/>
                <a:buChar char="•"/>
              </a:pPr>
              <a:r>
                <a:rPr lang="zh-CN" sz="750" dirty="0">
                  <a:solidFill>
                    <a:srgbClr val="333333"/>
                  </a:solidFill>
                  <a:latin typeface="+mn-lt"/>
                  <a:ea typeface="+mn-ea"/>
                  <a:cs typeface="+mn-cs"/>
                </a:rPr>
                <a:t>......</a:t>
              </a:r>
            </a:p>
          </p:txBody>
        </p:sp>
      </p:grpSp>
      <p:grpSp>
        <p:nvGrpSpPr>
          <p:cNvPr id="105" name="sector-wheel"/>
          <p:cNvGrpSpPr/>
          <p:nvPr/>
        </p:nvGrpSpPr>
        <p:grpSpPr>
          <a:xfrm>
            <a:off x="3333750" y="2819400"/>
            <a:ext cx="5524500" cy="2762250"/>
            <a:chOff x="3333750" y="2819400"/>
            <a:chExt cx="5524500" cy="2762250"/>
          </a:xfrm>
        </p:grpSpPr>
        <p:sp>
          <p:nvSpPr>
            <p:cNvPr id="69" name="Freeform 69"/>
            <p:cNvSpPr/>
            <p:nvPr/>
          </p:nvSpPr>
          <p:spPr>
            <a:xfrm>
              <a:off x="3333750" y="2819400"/>
              <a:ext cx="5524500" cy="2762250"/>
            </a:xfrm>
            <a:custGeom>
              <a:avLst/>
              <a:gdLst/>
              <a:ahLst/>
              <a:cxnLst/>
              <a:rect l="l" t="t" r="r" b="b"/>
              <a:pathLst>
                <a:path w="5524500" h="2762250">
                  <a:moveTo>
                    <a:pt x="0" y="2762250"/>
                  </a:moveTo>
                  <a:cubicBezTo>
                    <a:pt x="0" y="1236701"/>
                    <a:pt x="1236701" y="0"/>
                    <a:pt x="2762250" y="0"/>
                  </a:cubicBezTo>
                  <a:cubicBezTo>
                    <a:pt x="4287799" y="0"/>
                    <a:pt x="5524500" y="1236701"/>
                    <a:pt x="5524500" y="2762250"/>
                  </a:cubicBezTo>
                  <a:lnTo>
                    <a:pt x="5095875" y="2762250"/>
                  </a:lnTo>
                  <a:cubicBezTo>
                    <a:pt x="5095875" y="1473425"/>
                    <a:pt x="4051075" y="428625"/>
                    <a:pt x="2762250" y="428625"/>
                  </a:cubicBezTo>
                  <a:cubicBezTo>
                    <a:pt x="1473425" y="428625"/>
                    <a:pt x="428625" y="1473425"/>
                    <a:pt x="428625" y="2762250"/>
                  </a:cubicBezTo>
                  <a:close/>
                </a:path>
              </a:pathLst>
            </a:custGeom>
            <a:solidFill>
              <a:srgbClr val="EEF5E8"/>
            </a:solidFill>
            <a:ln>
              <a:noFill/>
            </a:ln>
          </p:spPr>
        </p:sp>
        <p:sp>
          <p:nvSpPr>
            <p:cNvPr id="70" name="Freeform 70"/>
            <p:cNvSpPr/>
            <p:nvPr/>
          </p:nvSpPr>
          <p:spPr>
            <a:xfrm>
              <a:off x="3762375" y="3248025"/>
              <a:ext cx="4667250" cy="2333625"/>
            </a:xfrm>
            <a:custGeom>
              <a:avLst/>
              <a:gdLst/>
              <a:ahLst/>
              <a:cxnLst/>
              <a:rect l="l" t="t" r="r" b="b"/>
              <a:pathLst>
                <a:path w="4667250" h="2333625">
                  <a:moveTo>
                    <a:pt x="0" y="2333625"/>
                  </a:moveTo>
                  <a:cubicBezTo>
                    <a:pt x="0" y="1044800"/>
                    <a:pt x="1044800" y="0"/>
                    <a:pt x="2333625" y="0"/>
                  </a:cubicBezTo>
                  <a:cubicBezTo>
                    <a:pt x="3622450" y="0"/>
                    <a:pt x="4667250" y="1044800"/>
                    <a:pt x="4667250" y="2333625"/>
                  </a:cubicBezTo>
                  <a:lnTo>
                    <a:pt x="4238625" y="2333625"/>
                  </a:lnTo>
                  <a:cubicBezTo>
                    <a:pt x="4238625" y="1281523"/>
                    <a:pt x="3385727" y="428625"/>
                    <a:pt x="2333625" y="428625"/>
                  </a:cubicBezTo>
                  <a:cubicBezTo>
                    <a:pt x="1281523" y="428625"/>
                    <a:pt x="428625" y="1281523"/>
                    <a:pt x="428625" y="2333625"/>
                  </a:cubicBezTo>
                  <a:close/>
                </a:path>
              </a:pathLst>
            </a:custGeom>
            <a:solidFill>
              <a:srgbClr val="C8E0B8"/>
            </a:solidFill>
            <a:ln>
              <a:noFill/>
            </a:ln>
          </p:spPr>
        </p:sp>
        <p:sp>
          <p:nvSpPr>
            <p:cNvPr id="71" name="Freeform 71"/>
            <p:cNvSpPr/>
            <p:nvPr/>
          </p:nvSpPr>
          <p:spPr>
            <a:xfrm>
              <a:off x="4191000" y="3676650"/>
              <a:ext cx="3810000" cy="1905000"/>
            </a:xfrm>
            <a:custGeom>
              <a:avLst/>
              <a:gdLst/>
              <a:ahLst/>
              <a:cxnLst/>
              <a:rect l="l" t="t" r="r" b="b"/>
              <a:pathLst>
                <a:path w="3810000" h="1905000">
                  <a:moveTo>
                    <a:pt x="0" y="1905000"/>
                  </a:moveTo>
                  <a:cubicBezTo>
                    <a:pt x="0" y="852898"/>
                    <a:pt x="852898" y="0"/>
                    <a:pt x="1905000" y="0"/>
                  </a:cubicBezTo>
                  <a:cubicBezTo>
                    <a:pt x="2957102" y="0"/>
                    <a:pt x="3810000" y="852898"/>
                    <a:pt x="3810000" y="1905000"/>
                  </a:cubicBezTo>
                  <a:lnTo>
                    <a:pt x="3381375" y="1905000"/>
                  </a:lnTo>
                  <a:cubicBezTo>
                    <a:pt x="3381375" y="1089621"/>
                    <a:pt x="2720379" y="428625"/>
                    <a:pt x="1905000" y="428625"/>
                  </a:cubicBezTo>
                  <a:cubicBezTo>
                    <a:pt x="1089621" y="428625"/>
                    <a:pt x="428625" y="1089621"/>
                    <a:pt x="428625" y="1905000"/>
                  </a:cubicBezTo>
                  <a:close/>
                </a:path>
              </a:pathLst>
            </a:custGeom>
            <a:solidFill>
              <a:srgbClr val="B5766A"/>
            </a:solidFill>
            <a:ln>
              <a:noFill/>
            </a:ln>
          </p:spPr>
        </p:sp>
        <p:sp>
          <p:nvSpPr>
            <p:cNvPr id="72" name="Freeform 72"/>
            <p:cNvSpPr/>
            <p:nvPr/>
          </p:nvSpPr>
          <p:spPr>
            <a:xfrm>
              <a:off x="4619625" y="4105275"/>
              <a:ext cx="2952750" cy="1476375"/>
            </a:xfrm>
            <a:custGeom>
              <a:avLst/>
              <a:gdLst/>
              <a:ahLst/>
              <a:cxnLst/>
              <a:rect l="l" t="t" r="r" b="b"/>
              <a:pathLst>
                <a:path w="2952750" h="1476375">
                  <a:moveTo>
                    <a:pt x="0" y="1476375"/>
                  </a:moveTo>
                  <a:cubicBezTo>
                    <a:pt x="0" y="660996"/>
                    <a:pt x="660996" y="0"/>
                    <a:pt x="1476375" y="0"/>
                  </a:cubicBezTo>
                  <a:cubicBezTo>
                    <a:pt x="2291754" y="0"/>
                    <a:pt x="2952750" y="660996"/>
                    <a:pt x="2952750" y="1476375"/>
                  </a:cubicBezTo>
                  <a:lnTo>
                    <a:pt x="2571750" y="1476375"/>
                  </a:lnTo>
                  <a:cubicBezTo>
                    <a:pt x="2571750" y="871416"/>
                    <a:pt x="2081334" y="381000"/>
                    <a:pt x="1476375" y="381000"/>
                  </a:cubicBezTo>
                  <a:cubicBezTo>
                    <a:pt x="871416" y="381000"/>
                    <a:pt x="381000" y="871416"/>
                    <a:pt x="381000" y="1476375"/>
                  </a:cubicBezTo>
                  <a:close/>
                </a:path>
              </a:pathLst>
            </a:custGeom>
            <a:solidFill>
              <a:srgbClr val="8C4B3F"/>
            </a:solidFill>
            <a:ln>
              <a:noFill/>
            </a:ln>
          </p:spPr>
        </p:sp>
        <p:sp>
          <p:nvSpPr>
            <p:cNvPr id="73" name="Freeform 73"/>
            <p:cNvSpPr/>
            <p:nvPr/>
          </p:nvSpPr>
          <p:spPr>
            <a:xfrm>
              <a:off x="5000625" y="4486275"/>
              <a:ext cx="2190750" cy="1095375"/>
            </a:xfrm>
            <a:custGeom>
              <a:avLst/>
              <a:gdLst/>
              <a:ahLst/>
              <a:cxnLst/>
              <a:rect l="l" t="t" r="r" b="b"/>
              <a:pathLst>
                <a:path w="2190750" h="1095375">
                  <a:moveTo>
                    <a:pt x="0" y="1095375"/>
                  </a:moveTo>
                  <a:cubicBezTo>
                    <a:pt x="0" y="490416"/>
                    <a:pt x="490416" y="0"/>
                    <a:pt x="1095375" y="0"/>
                  </a:cubicBezTo>
                  <a:cubicBezTo>
                    <a:pt x="1700334" y="0"/>
                    <a:pt x="2190750" y="490416"/>
                    <a:pt x="2190750" y="1095375"/>
                  </a:cubicBezTo>
                  <a:lnTo>
                    <a:pt x="1809750" y="1095375"/>
                  </a:lnTo>
                  <a:cubicBezTo>
                    <a:pt x="1809750" y="700837"/>
                    <a:pt x="1489913" y="381000"/>
                    <a:pt x="1095375" y="381000"/>
                  </a:cubicBezTo>
                  <a:cubicBezTo>
                    <a:pt x="700837" y="381000"/>
                    <a:pt x="381000" y="700837"/>
                    <a:pt x="381000" y="1095375"/>
                  </a:cubicBezTo>
                  <a:close/>
                </a:path>
              </a:pathLst>
            </a:custGeom>
            <a:solidFill>
              <a:srgbClr val="F7B9AE"/>
            </a:solidFill>
            <a:ln>
              <a:noFill/>
            </a:ln>
          </p:spPr>
        </p:sp>
        <p:sp>
          <p:nvSpPr>
            <p:cNvPr id="74" name="Freeform 74"/>
            <p:cNvSpPr/>
            <p:nvPr/>
          </p:nvSpPr>
          <p:spPr>
            <a:xfrm>
              <a:off x="5381625" y="4867275"/>
              <a:ext cx="1428750" cy="714375"/>
            </a:xfrm>
            <a:custGeom>
              <a:avLst/>
              <a:gdLst/>
              <a:ahLst/>
              <a:cxnLst/>
              <a:rect l="l" t="t" r="r" b="b"/>
              <a:pathLst>
                <a:path w="1428750" h="714375">
                  <a:moveTo>
                    <a:pt x="0" y="714375"/>
                  </a:moveTo>
                  <a:cubicBezTo>
                    <a:pt x="0" y="319837"/>
                    <a:pt x="319837" y="0"/>
                    <a:pt x="714375" y="0"/>
                  </a:cubicBezTo>
                  <a:cubicBezTo>
                    <a:pt x="1108913" y="0"/>
                    <a:pt x="1428750" y="319837"/>
                    <a:pt x="1428750" y="714375"/>
                  </a:cubicBezTo>
                  <a:close/>
                </a:path>
              </a:pathLst>
            </a:custGeom>
            <a:solidFill>
              <a:srgbClr val="FBF0D8"/>
            </a:solidFill>
            <a:ln>
              <a:noFill/>
            </a:ln>
          </p:spPr>
        </p:sp>
        <p:sp>
          <p:nvSpPr>
            <p:cNvPr id="75" name="Line 75"/>
            <p:cNvSpPr/>
            <p:nvPr/>
          </p:nvSpPr>
          <p:spPr>
            <a:xfrm>
              <a:off x="4074795" y="4414838"/>
              <a:ext cx="1402080" cy="809625"/>
            </a:xfrm>
            <a:custGeom>
              <a:avLst/>
              <a:gdLst/>
              <a:ahLst/>
              <a:cxnLst/>
              <a:rect l="l" t="t" r="r" b="b"/>
              <a:pathLst>
                <a:path w="1402080" h="809625">
                  <a:moveTo>
                    <a:pt x="1402080" y="809625"/>
                  </a:moveTo>
                  <a:lnTo>
                    <a:pt x="0" y="0"/>
                  </a:lnTo>
                </a:path>
              </a:pathLst>
            </a:custGeom>
            <a:noFill/>
            <a:ln w="19050">
              <a:solidFill>
                <a:srgbClr val="FFFFFF"/>
              </a:solidFill>
            </a:ln>
          </p:spPr>
        </p:sp>
        <p:sp>
          <p:nvSpPr>
            <p:cNvPr id="76" name="Line 76"/>
            <p:cNvSpPr/>
            <p:nvPr/>
          </p:nvSpPr>
          <p:spPr>
            <a:xfrm>
              <a:off x="4929188" y="3560445"/>
              <a:ext cx="809625" cy="1402080"/>
            </a:xfrm>
            <a:custGeom>
              <a:avLst/>
              <a:gdLst/>
              <a:ahLst/>
              <a:cxnLst/>
              <a:rect l="l" t="t" r="r" b="b"/>
              <a:pathLst>
                <a:path w="809625" h="1402080">
                  <a:moveTo>
                    <a:pt x="809625" y="1402080"/>
                  </a:moveTo>
                  <a:lnTo>
                    <a:pt x="0" y="0"/>
                  </a:lnTo>
                </a:path>
              </a:pathLst>
            </a:custGeom>
            <a:noFill/>
            <a:ln w="19050">
              <a:solidFill>
                <a:srgbClr val="FFFFFF"/>
              </a:solidFill>
            </a:ln>
          </p:spPr>
        </p:sp>
        <p:sp>
          <p:nvSpPr>
            <p:cNvPr id="77" name="Line 77"/>
            <p:cNvSpPr/>
            <p:nvPr/>
          </p:nvSpPr>
          <p:spPr>
            <a:xfrm>
              <a:off x="6096000" y="3248025"/>
              <a:ext cx="9525" cy="1619250"/>
            </a:xfrm>
            <a:custGeom>
              <a:avLst/>
              <a:gdLst/>
              <a:ahLst/>
              <a:cxnLst/>
              <a:rect l="l" t="t" r="r" b="b"/>
              <a:pathLst>
                <a:path w="9525" h="1619250">
                  <a:moveTo>
                    <a:pt x="0" y="1619250"/>
                  </a:moveTo>
                  <a:lnTo>
                    <a:pt x="0" y="0"/>
                  </a:lnTo>
                </a:path>
              </a:pathLst>
            </a:custGeom>
            <a:noFill/>
            <a:ln w="19050">
              <a:solidFill>
                <a:srgbClr val="FFFFFF"/>
              </a:solidFill>
            </a:ln>
          </p:spPr>
        </p:sp>
        <p:sp>
          <p:nvSpPr>
            <p:cNvPr id="78" name="Line 78"/>
            <p:cNvSpPr/>
            <p:nvPr/>
          </p:nvSpPr>
          <p:spPr>
            <a:xfrm>
              <a:off x="6453188" y="3560445"/>
              <a:ext cx="809625" cy="1402080"/>
            </a:xfrm>
            <a:custGeom>
              <a:avLst/>
              <a:gdLst/>
              <a:ahLst/>
              <a:cxnLst/>
              <a:rect l="l" t="t" r="r" b="b"/>
              <a:pathLst>
                <a:path w="809625" h="1402080">
                  <a:moveTo>
                    <a:pt x="0" y="1402080"/>
                  </a:moveTo>
                  <a:lnTo>
                    <a:pt x="809625" y="0"/>
                  </a:lnTo>
                </a:path>
              </a:pathLst>
            </a:custGeom>
            <a:noFill/>
            <a:ln w="19050">
              <a:solidFill>
                <a:srgbClr val="FFFFFF"/>
              </a:solidFill>
            </a:ln>
          </p:spPr>
        </p:sp>
        <p:sp>
          <p:nvSpPr>
            <p:cNvPr id="79" name="Line 79"/>
            <p:cNvSpPr/>
            <p:nvPr/>
          </p:nvSpPr>
          <p:spPr>
            <a:xfrm>
              <a:off x="6715125" y="4414838"/>
              <a:ext cx="1402080" cy="809625"/>
            </a:xfrm>
            <a:custGeom>
              <a:avLst/>
              <a:gdLst/>
              <a:ahLst/>
              <a:cxnLst/>
              <a:rect l="l" t="t" r="r" b="b"/>
              <a:pathLst>
                <a:path w="1402080" h="809625">
                  <a:moveTo>
                    <a:pt x="0" y="809625"/>
                  </a:moveTo>
                  <a:lnTo>
                    <a:pt x="1402080" y="0"/>
                  </a:lnTo>
                </a:path>
              </a:pathLst>
            </a:custGeom>
            <a:noFill/>
            <a:ln w="19050">
              <a:solidFill>
                <a:srgbClr val="FFFFFF"/>
              </a:solidFill>
            </a:ln>
          </p:spPr>
        </p:sp>
        <p:sp>
          <p:nvSpPr>
            <p:cNvPr id="80" name="TextBox 80"/>
            <p:cNvSpPr txBox="1"/>
            <p:nvPr/>
          </p:nvSpPr>
          <p:spPr>
            <a:xfrm>
              <a:off x="5807964" y="5373052"/>
              <a:ext cx="576072" cy="205359"/>
            </a:xfrm>
            <a:prstGeom prst="rect">
              <a:avLst/>
            </a:prstGeom>
            <a:noFill/>
            <a:ln>
              <a:noFill/>
            </a:ln>
          </p:spPr>
          <p:txBody>
            <a:bodyPr wrap="none" lIns="0" tIns="0" rIns="0" bIns="0" anchor="t" anchorCtr="0">
              <a:spAutoFit/>
            </a:bodyPr>
            <a:lstStyle/>
            <a:p>
              <a:pPr algn="ctr"/>
              <a:r>
                <a:rPr lang="zh-CN" sz="1050" b="1" dirty="0">
                  <a:solidFill>
                    <a:srgbClr val="8A2210"/>
                  </a:solidFill>
                  <a:latin typeface="+mn-lt"/>
                  <a:ea typeface="+mn-ea"/>
                  <a:cs typeface="+mn-cs"/>
                </a:rPr>
                <a:t>规划资源</a:t>
              </a:r>
            </a:p>
          </p:txBody>
        </p:sp>
        <p:sp>
          <p:nvSpPr>
            <p:cNvPr id="81" name="TextBox 81"/>
            <p:cNvSpPr txBox="1"/>
            <p:nvPr/>
          </p:nvSpPr>
          <p:spPr>
            <a:xfrm rot="-4500000">
              <a:off x="5112917" y="5309652"/>
              <a:ext cx="200685"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人事</a:t>
              </a:r>
            </a:p>
          </p:txBody>
        </p:sp>
        <p:sp>
          <p:nvSpPr>
            <p:cNvPr id="82" name="TextBox 82"/>
            <p:cNvSpPr txBox="1"/>
            <p:nvPr/>
          </p:nvSpPr>
          <p:spPr>
            <a:xfrm rot="-2700000">
              <a:off x="5352768" y="4906613"/>
              <a:ext cx="200685"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资源</a:t>
              </a:r>
            </a:p>
          </p:txBody>
        </p:sp>
        <p:sp>
          <p:nvSpPr>
            <p:cNvPr id="83" name="TextBox 83"/>
            <p:cNvSpPr txBox="1"/>
            <p:nvPr/>
          </p:nvSpPr>
          <p:spPr>
            <a:xfrm rot="-900000">
              <a:off x="5755807" y="4666763"/>
              <a:ext cx="200685"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技术</a:t>
              </a:r>
            </a:p>
          </p:txBody>
        </p:sp>
        <p:sp>
          <p:nvSpPr>
            <p:cNvPr id="84" name="TextBox 84"/>
            <p:cNvSpPr txBox="1"/>
            <p:nvPr/>
          </p:nvSpPr>
          <p:spPr>
            <a:xfrm rot="900000">
              <a:off x="6235508" y="4666763"/>
              <a:ext cx="200685"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建设</a:t>
              </a:r>
            </a:p>
          </p:txBody>
        </p:sp>
        <p:sp>
          <p:nvSpPr>
            <p:cNvPr id="85" name="TextBox 85"/>
            <p:cNvSpPr txBox="1"/>
            <p:nvPr/>
          </p:nvSpPr>
          <p:spPr>
            <a:xfrm rot="2700000">
              <a:off x="6638547" y="4906613"/>
              <a:ext cx="200685"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实用</a:t>
              </a:r>
            </a:p>
          </p:txBody>
        </p:sp>
        <p:sp>
          <p:nvSpPr>
            <p:cNvPr id="86" name="TextBox 86"/>
            <p:cNvSpPr txBox="1"/>
            <p:nvPr/>
          </p:nvSpPr>
          <p:spPr>
            <a:xfrm rot="4500000">
              <a:off x="6878398" y="5309652"/>
              <a:ext cx="200685"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指标</a:t>
              </a:r>
            </a:p>
          </p:txBody>
        </p:sp>
        <p:sp>
          <p:nvSpPr>
            <p:cNvPr id="87" name="TextBox 87"/>
            <p:cNvSpPr txBox="1"/>
            <p:nvPr/>
          </p:nvSpPr>
          <p:spPr>
            <a:xfrm rot="-4500000">
              <a:off x="4745122" y="5210707"/>
              <a:ext cx="21145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组织</a:t>
              </a:r>
            </a:p>
          </p:txBody>
        </p:sp>
        <p:sp>
          <p:nvSpPr>
            <p:cNvPr id="88" name="TextBox 88"/>
            <p:cNvSpPr txBox="1"/>
            <p:nvPr/>
          </p:nvSpPr>
          <p:spPr>
            <a:xfrm rot="-2700000">
              <a:off x="5080346" y="4626480"/>
              <a:ext cx="21145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规划</a:t>
              </a:r>
            </a:p>
          </p:txBody>
        </p:sp>
        <p:sp>
          <p:nvSpPr>
            <p:cNvPr id="89" name="TextBox 89"/>
            <p:cNvSpPr txBox="1"/>
            <p:nvPr/>
          </p:nvSpPr>
          <p:spPr>
            <a:xfrm rot="-900000">
              <a:off x="5655049" y="4291256"/>
              <a:ext cx="21145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治理</a:t>
              </a:r>
            </a:p>
          </p:txBody>
        </p:sp>
        <p:sp>
          <p:nvSpPr>
            <p:cNvPr id="90" name="TextBox 90"/>
            <p:cNvSpPr txBox="1"/>
            <p:nvPr/>
          </p:nvSpPr>
          <p:spPr>
            <a:xfrm rot="900000">
              <a:off x="6325496" y="4291256"/>
              <a:ext cx="21145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基础</a:t>
              </a:r>
            </a:p>
          </p:txBody>
        </p:sp>
        <p:sp>
          <p:nvSpPr>
            <p:cNvPr id="91" name="TextBox 91"/>
            <p:cNvSpPr txBox="1"/>
            <p:nvPr/>
          </p:nvSpPr>
          <p:spPr>
            <a:xfrm rot="2700000">
              <a:off x="6900199" y="4626480"/>
              <a:ext cx="21145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维护</a:t>
              </a:r>
            </a:p>
          </p:txBody>
        </p:sp>
        <p:sp>
          <p:nvSpPr>
            <p:cNvPr id="92" name="TextBox 92"/>
            <p:cNvSpPr txBox="1"/>
            <p:nvPr/>
          </p:nvSpPr>
          <p:spPr>
            <a:xfrm rot="4500000">
              <a:off x="7235423" y="5210707"/>
              <a:ext cx="21145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管理</a:t>
              </a:r>
            </a:p>
          </p:txBody>
        </p:sp>
        <p:sp>
          <p:nvSpPr>
            <p:cNvPr id="93" name="TextBox 93"/>
            <p:cNvSpPr txBox="1"/>
            <p:nvPr/>
          </p:nvSpPr>
          <p:spPr>
            <a:xfrm rot="-4500000">
              <a:off x="4244107" y="5105932"/>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管理支持</a:t>
              </a:r>
            </a:p>
          </p:txBody>
        </p:sp>
        <p:sp>
          <p:nvSpPr>
            <p:cNvPr id="94" name="TextBox 94"/>
            <p:cNvSpPr txBox="1"/>
            <p:nvPr/>
          </p:nvSpPr>
          <p:spPr>
            <a:xfrm rot="-2700000">
              <a:off x="4684106" y="4340730"/>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战略方向</a:t>
              </a:r>
            </a:p>
          </p:txBody>
        </p:sp>
        <p:sp>
          <p:nvSpPr>
            <p:cNvPr id="95" name="TextBox 95"/>
            <p:cNvSpPr txBox="1"/>
            <p:nvPr/>
          </p:nvSpPr>
          <p:spPr>
            <a:xfrm rot="-900000">
              <a:off x="5449309" y="3900731"/>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服务目录</a:t>
              </a:r>
            </a:p>
          </p:txBody>
        </p:sp>
        <p:sp>
          <p:nvSpPr>
            <p:cNvPr id="96" name="TextBox 96"/>
            <p:cNvSpPr txBox="1"/>
            <p:nvPr/>
          </p:nvSpPr>
          <p:spPr>
            <a:xfrm rot="900000">
              <a:off x="6329306" y="3900731"/>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价值主张</a:t>
              </a:r>
            </a:p>
          </p:txBody>
        </p:sp>
        <p:sp>
          <p:nvSpPr>
            <p:cNvPr id="97" name="TextBox 97"/>
            <p:cNvSpPr txBox="1"/>
            <p:nvPr/>
          </p:nvSpPr>
          <p:spPr>
            <a:xfrm rot="2700000">
              <a:off x="7094509" y="4340730"/>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职责支持</a:t>
              </a:r>
            </a:p>
          </p:txBody>
        </p:sp>
        <p:sp>
          <p:nvSpPr>
            <p:cNvPr id="98" name="TextBox 98"/>
            <p:cNvSpPr txBox="1"/>
            <p:nvPr/>
          </p:nvSpPr>
          <p:spPr>
            <a:xfrm rot="4500000">
              <a:off x="7534508" y="5105932"/>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流程创建</a:t>
              </a:r>
            </a:p>
          </p:txBody>
        </p:sp>
        <p:sp>
          <p:nvSpPr>
            <p:cNvPr id="99" name="TextBox 99"/>
            <p:cNvSpPr txBox="1"/>
            <p:nvPr/>
          </p:nvSpPr>
          <p:spPr>
            <a:xfrm rot="-4500000">
              <a:off x="3823303" y="4987937"/>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判断走势</a:t>
              </a:r>
            </a:p>
          </p:txBody>
        </p:sp>
        <p:sp>
          <p:nvSpPr>
            <p:cNvPr id="100" name="TextBox 100"/>
            <p:cNvSpPr txBox="1"/>
            <p:nvPr/>
          </p:nvSpPr>
          <p:spPr>
            <a:xfrm rot="-2700000">
              <a:off x="4377725" y="4041546"/>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压缩成本</a:t>
              </a:r>
            </a:p>
          </p:txBody>
        </p:sp>
        <p:sp>
          <p:nvSpPr>
            <p:cNvPr id="101" name="TextBox 101"/>
            <p:cNvSpPr txBox="1"/>
            <p:nvPr/>
          </p:nvSpPr>
          <p:spPr>
            <a:xfrm rot="-900000">
              <a:off x="5324116" y="3487124"/>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宏观收缩</a:t>
              </a:r>
            </a:p>
          </p:txBody>
        </p:sp>
        <p:sp>
          <p:nvSpPr>
            <p:cNvPr id="102" name="TextBox 102"/>
            <p:cNvSpPr txBox="1"/>
            <p:nvPr/>
          </p:nvSpPr>
          <p:spPr>
            <a:xfrm rot="900000">
              <a:off x="6432960" y="3487124"/>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回归品牌</a:t>
              </a:r>
            </a:p>
          </p:txBody>
        </p:sp>
        <p:sp>
          <p:nvSpPr>
            <p:cNvPr id="103" name="TextBox 103"/>
            <p:cNvSpPr txBox="1"/>
            <p:nvPr/>
          </p:nvSpPr>
          <p:spPr>
            <a:xfrm rot="2700000">
              <a:off x="7379351" y="4041546"/>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饱和攻击</a:t>
              </a:r>
            </a:p>
          </p:txBody>
        </p:sp>
        <p:sp>
          <p:nvSpPr>
            <p:cNvPr id="104" name="TextBox 104"/>
            <p:cNvSpPr txBox="1"/>
            <p:nvPr/>
          </p:nvSpPr>
          <p:spPr>
            <a:xfrm rot="4500000">
              <a:off x="7933773" y="4987937"/>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价值重塑</a:t>
              </a:r>
            </a:p>
          </p:txBody>
        </p:sp>
      </p:grpSp>
      <p:grpSp>
        <p:nvGrpSpPr>
          <p:cNvPr id="108" name="page-footer"/>
          <p:cNvGrpSpPr/>
          <p:nvPr/>
        </p:nvGrpSpPr>
        <p:grpSpPr>
          <a:xfrm>
            <a:off x="376238" y="6689884"/>
            <a:ext cx="11439524" cy="133350"/>
            <a:chOff x="376238" y="6689884"/>
            <a:chExt cx="11439524" cy="133350"/>
          </a:xfrm>
        </p:grpSpPr>
        <p:sp>
          <p:nvSpPr>
            <p:cNvPr id="106" name="TextBox 106"/>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07" name="TextBox 107"/>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13</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5" name="note-life-plan"/>
          <p:cNvGrpSpPr/>
          <p:nvPr/>
        </p:nvGrpSpPr>
        <p:grpSpPr>
          <a:xfrm>
            <a:off x="381000" y="952500"/>
            <a:ext cx="1238250" cy="1238250"/>
            <a:chOff x="381000" y="952500"/>
            <a:chExt cx="1238250" cy="1238250"/>
          </a:xfrm>
        </p:grpSpPr>
        <p:sp>
          <p:nvSpPr>
            <p:cNvPr id="8" name="Rectangle 8"/>
            <p:cNvSpPr/>
            <p:nvPr/>
          </p:nvSpPr>
          <p:spPr>
            <a:xfrm>
              <a:off x="381000" y="952500"/>
              <a:ext cx="1238250" cy="1238250"/>
            </a:xfrm>
            <a:prstGeom prst="rect">
              <a:avLst/>
            </a:prstGeom>
            <a:solidFill>
              <a:srgbClr val="FBF0D8"/>
            </a:solidFill>
            <a:ln>
              <a:noFill/>
            </a:ln>
          </p:spPr>
        </p:sp>
        <p:grpSp>
          <p:nvGrpSpPr>
            <p:cNvPr id="12" name="Group 12"/>
            <p:cNvGrpSpPr/>
            <p:nvPr/>
          </p:nvGrpSpPr>
          <p:grpSpPr>
            <a:xfrm>
              <a:off x="497681" y="1088231"/>
              <a:ext cx="128588" cy="128587"/>
              <a:chOff x="497681" y="1088231"/>
              <a:chExt cx="128588" cy="128587"/>
            </a:xfrm>
          </p:grpSpPr>
          <p:sp>
            <p:nvSpPr>
              <p:cNvPr id="9" name="Freeform 9"/>
              <p:cNvSpPr/>
              <p:nvPr/>
            </p:nvSpPr>
            <p:spPr>
              <a:xfrm>
                <a:off x="497681" y="1088231"/>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D6391E"/>
                </a:solidFill>
              </a:ln>
            </p:spPr>
          </p:sp>
          <p:sp>
            <p:nvSpPr>
              <p:cNvPr id="10" name="Freeform 10"/>
              <p:cNvSpPr/>
              <p:nvPr/>
            </p:nvSpPr>
            <p:spPr>
              <a:xfrm>
                <a:off x="523227" y="1116806"/>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D6391E"/>
                </a:solidFill>
              </a:ln>
            </p:spPr>
          </p:sp>
          <p:sp>
            <p:nvSpPr>
              <p:cNvPr id="11" name="Freeform 11"/>
              <p:cNvSpPr/>
              <p:nvPr/>
            </p:nvSpPr>
            <p:spPr>
              <a:xfrm>
                <a:off x="545544" y="1188244"/>
                <a:ext cx="32861" cy="9525"/>
              </a:xfrm>
              <a:custGeom>
                <a:avLst/>
                <a:gdLst/>
                <a:ahLst/>
                <a:cxnLst/>
                <a:rect l="l" t="t" r="r" b="b"/>
                <a:pathLst>
                  <a:path w="32861" h="9525">
                    <a:moveTo>
                      <a:pt x="0" y="0"/>
                    </a:moveTo>
                    <a:lnTo>
                      <a:pt x="32861" y="0"/>
                    </a:lnTo>
                  </a:path>
                </a:pathLst>
              </a:custGeom>
              <a:noFill/>
              <a:ln w="14288">
                <a:solidFill>
                  <a:srgbClr val="D6391E"/>
                </a:solidFill>
              </a:ln>
            </p:spPr>
          </p:sp>
        </p:grpSp>
        <p:sp>
          <p:nvSpPr>
            <p:cNvPr id="13" name="TextBox 13"/>
            <p:cNvSpPr txBox="1"/>
            <p:nvPr/>
          </p:nvSpPr>
          <p:spPr>
            <a:xfrm>
              <a:off x="680847" y="1104424"/>
              <a:ext cx="537616" cy="190690"/>
            </a:xfrm>
            <a:prstGeom prst="rect">
              <a:avLst/>
            </a:prstGeom>
            <a:noFill/>
            <a:ln>
              <a:noFill/>
            </a:ln>
          </p:spPr>
          <p:txBody>
            <a:bodyPr wrap="none" lIns="0" tIns="0" rIns="0" bIns="0" anchor="t" anchorCtr="0">
              <a:spAutoFit/>
            </a:bodyPr>
            <a:lstStyle/>
            <a:p>
              <a:pPr algn="l"/>
              <a:r>
                <a:rPr lang="zh-CN" sz="980" b="1" dirty="0">
                  <a:solidFill>
                    <a:srgbClr val="D6391E"/>
                  </a:solidFill>
                  <a:latin typeface="+mn-lt"/>
                  <a:ea typeface="+mn-ea"/>
                  <a:cs typeface="+mn-cs"/>
                </a:rPr>
                <a:t>人生规划</a:t>
              </a:r>
            </a:p>
          </p:txBody>
        </p:sp>
        <p:sp>
          <p:nvSpPr>
            <p:cNvPr id="14" name="TextBox 14"/>
            <p:cNvSpPr txBox="1"/>
            <p:nvPr/>
          </p:nvSpPr>
          <p:spPr>
            <a:xfrm>
              <a:off x="471488" y="1443038"/>
              <a:ext cx="866775" cy="452438"/>
            </a:xfrm>
            <a:prstGeom prst="rect">
              <a:avLst/>
            </a:prstGeom>
            <a:noFill/>
            <a:ln>
              <a:noFill/>
            </a:ln>
          </p:spPr>
          <p:txBody>
            <a:bodyPr wrap="none" lIns="0" tIns="0" rIns="0" bIns="0" anchor="t" anchorCtr="0">
              <a:spAutoFit/>
            </a:bodyPr>
            <a:lstStyle/>
            <a:p>
              <a:pPr algn="l" marL="80962" indent="-80962">
                <a:lnSpc>
                  <a:spcPts val="1200"/>
                </a:lnSpc>
                <a:buClr>
                  <a:srgbClr val="333333"/>
                </a:buClr>
                <a:buSzTx/>
                <a:buFontTx/>
                <a:buChar char="•"/>
              </a:pPr>
              <a:r>
                <a:rPr lang="zh-CN" sz="750" dirty="0">
                  <a:solidFill>
                    <a:srgbClr val="333333"/>
                  </a:solidFill>
                  <a:latin typeface="+mn-lt"/>
                  <a:ea typeface="+mn-ea"/>
                  <a:cs typeface="+mn-cs"/>
                </a:rPr>
                <a:t>我们目前设定的目</a:t>
              </a:r>
              <a:br/>
              <a:r>
                <a:rPr lang="zh-CN" sz="750" dirty="0">
                  <a:solidFill>
                    <a:srgbClr val="333333"/>
                  </a:solidFill>
                  <a:latin typeface="+mn-lt"/>
                  <a:ea typeface="+mn-ea"/>
                  <a:cs typeface="+mn-cs"/>
                </a:rPr>
                <a:t>标相对于同行的增长</a:t>
              </a:r>
              <a:br/>
              <a:r>
                <a:rPr lang="zh-CN" sz="750" dirty="0">
                  <a:solidFill>
                    <a:srgbClr val="333333"/>
                  </a:solidFill>
                  <a:latin typeface="+mn-lt"/>
                  <a:ea typeface="+mn-ea"/>
                  <a:cs typeface="+mn-cs"/>
                </a:rPr>
                <a:t>轨迹有什么区别?</a:t>
              </a:r>
            </a:p>
          </p:txBody>
        </p:sp>
      </p:grpSp>
      <p:grpSp>
        <p:nvGrpSpPr>
          <p:cNvPr id="46" name="dimension-labels"/>
          <p:cNvGrpSpPr/>
          <p:nvPr/>
        </p:nvGrpSpPr>
        <p:grpSpPr>
          <a:xfrm>
            <a:off x="381000" y="1333500"/>
            <a:ext cx="1504950" cy="3762375"/>
            <a:chOff x="381000" y="1333500"/>
            <a:chExt cx="1504950" cy="3762375"/>
          </a:xfrm>
        </p:grpSpPr>
        <p:sp>
          <p:nvSpPr>
            <p:cNvPr id="16" name="Rectangle 16"/>
            <p:cNvSpPr/>
            <p:nvPr/>
          </p:nvSpPr>
          <p:spPr>
            <a:xfrm>
              <a:off x="381000" y="2324100"/>
              <a:ext cx="857250" cy="228600"/>
            </a:xfrm>
            <a:prstGeom prst="rect">
              <a:avLst/>
            </a:prstGeom>
            <a:solidFill>
              <a:srgbClr val="F7B9AE"/>
            </a:solidFill>
            <a:ln>
              <a:noFill/>
            </a:ln>
          </p:spPr>
        </p:sp>
        <p:sp>
          <p:nvSpPr>
            <p:cNvPr id="17" name="TextBox 17"/>
            <p:cNvSpPr txBox="1"/>
            <p:nvPr/>
          </p:nvSpPr>
          <p:spPr>
            <a:xfrm>
              <a:off x="636080" y="2388870"/>
              <a:ext cx="251841" cy="176212"/>
            </a:xfrm>
            <a:prstGeom prst="rect">
              <a:avLst/>
            </a:prstGeom>
            <a:noFill/>
            <a:ln>
              <a:noFill/>
            </a:ln>
          </p:spPr>
          <p:txBody>
            <a:bodyPr wrap="none" lIns="0" tIns="0" rIns="0" bIns="0" anchor="t" anchorCtr="0">
              <a:spAutoFit/>
            </a:bodyPr>
            <a:lstStyle/>
            <a:p>
              <a:pPr algn="ctr"/>
              <a:r>
                <a:rPr lang="zh-CN" sz="900" b="1" dirty="0">
                  <a:solidFill>
                    <a:srgbClr val="8A2210"/>
                  </a:solidFill>
                  <a:latin typeface="+mn-lt"/>
                  <a:ea typeface="+mn-ea"/>
                  <a:cs typeface="+mn-cs"/>
                </a:rPr>
                <a:t>精神</a:t>
              </a:r>
            </a:p>
          </p:txBody>
        </p:sp>
        <p:sp>
          <p:nvSpPr>
            <p:cNvPr id="18" name="Ellipse 18"/>
            <p:cNvSpPr/>
            <p:nvPr/>
          </p:nvSpPr>
          <p:spPr>
            <a:xfrm>
              <a:off x="1143000" y="2343150"/>
              <a:ext cx="190500" cy="190500"/>
            </a:xfrm>
            <a:prstGeom prst="ellipse">
              <a:avLst/>
            </a:prstGeom>
            <a:solidFill>
              <a:srgbClr val="FFFFFF"/>
            </a:solidFill>
            <a:ln w="14288">
              <a:solidFill>
                <a:srgbClr val="E9563C"/>
              </a:solidFill>
            </a:ln>
          </p:spPr>
        </p:sp>
        <p:sp>
          <p:nvSpPr>
            <p:cNvPr id="19" name="TextBox 19"/>
            <p:cNvSpPr txBox="1"/>
            <p:nvPr/>
          </p:nvSpPr>
          <p:spPr>
            <a:xfrm>
              <a:off x="1205722" y="2395538"/>
              <a:ext cx="65056" cy="147638"/>
            </a:xfrm>
            <a:prstGeom prst="rect">
              <a:avLst/>
            </a:prstGeom>
            <a:noFill/>
            <a:ln>
              <a:noFill/>
            </a:ln>
          </p:spPr>
          <p:txBody>
            <a:bodyPr wrap="none" lIns="0" tIns="0" rIns="0" bIns="0" anchor="t" anchorCtr="0">
              <a:spAutoFit/>
            </a:bodyPr>
            <a:lstStyle/>
            <a:p>
              <a:pPr algn="ctr"/>
              <a:r>
                <a:rPr lang="zh-CN" sz="750" dirty="0">
                  <a:solidFill>
                    <a:srgbClr val="D6391E"/>
                  </a:solidFill>
                  <a:latin typeface="+mn-lt"/>
                  <a:ea typeface="+mn-ea"/>
                  <a:cs typeface="+mn-cs"/>
                </a:rPr>
                <a:t>1</a:t>
              </a:r>
            </a:p>
          </p:txBody>
        </p:sp>
        <p:sp>
          <p:nvSpPr>
            <p:cNvPr id="20" name="Rectangle 20"/>
            <p:cNvSpPr/>
            <p:nvPr/>
          </p:nvSpPr>
          <p:spPr>
            <a:xfrm>
              <a:off x="381000" y="2590800"/>
              <a:ext cx="857250" cy="228600"/>
            </a:xfrm>
            <a:prstGeom prst="rect">
              <a:avLst/>
            </a:prstGeom>
            <a:solidFill>
              <a:srgbClr val="F7B9AE"/>
            </a:solidFill>
            <a:ln>
              <a:noFill/>
            </a:ln>
          </p:spPr>
        </p:sp>
        <p:sp>
          <p:nvSpPr>
            <p:cNvPr id="21" name="TextBox 21"/>
            <p:cNvSpPr txBox="1"/>
            <p:nvPr/>
          </p:nvSpPr>
          <p:spPr>
            <a:xfrm>
              <a:off x="636080" y="2655570"/>
              <a:ext cx="251841" cy="176212"/>
            </a:xfrm>
            <a:prstGeom prst="rect">
              <a:avLst/>
            </a:prstGeom>
            <a:noFill/>
            <a:ln>
              <a:noFill/>
            </a:ln>
          </p:spPr>
          <p:txBody>
            <a:bodyPr wrap="none" lIns="0" tIns="0" rIns="0" bIns="0" anchor="t" anchorCtr="0">
              <a:spAutoFit/>
            </a:bodyPr>
            <a:lstStyle/>
            <a:p>
              <a:pPr algn="ctr"/>
              <a:r>
                <a:rPr lang="zh-CN" sz="900" b="1" dirty="0">
                  <a:solidFill>
                    <a:srgbClr val="8A2210"/>
                  </a:solidFill>
                  <a:latin typeface="+mn-lt"/>
                  <a:ea typeface="+mn-ea"/>
                  <a:cs typeface="+mn-cs"/>
                </a:rPr>
                <a:t>身份</a:t>
              </a:r>
            </a:p>
          </p:txBody>
        </p:sp>
        <p:sp>
          <p:nvSpPr>
            <p:cNvPr id="22" name="Ellipse 22"/>
            <p:cNvSpPr/>
            <p:nvPr/>
          </p:nvSpPr>
          <p:spPr>
            <a:xfrm>
              <a:off x="1143000" y="2609850"/>
              <a:ext cx="190500" cy="190500"/>
            </a:xfrm>
            <a:prstGeom prst="ellipse">
              <a:avLst/>
            </a:prstGeom>
            <a:solidFill>
              <a:srgbClr val="FFFFFF"/>
            </a:solidFill>
            <a:ln w="14288">
              <a:solidFill>
                <a:srgbClr val="E9563C"/>
              </a:solidFill>
            </a:ln>
          </p:spPr>
        </p:sp>
        <p:sp>
          <p:nvSpPr>
            <p:cNvPr id="23" name="TextBox 23"/>
            <p:cNvSpPr txBox="1"/>
            <p:nvPr/>
          </p:nvSpPr>
          <p:spPr>
            <a:xfrm>
              <a:off x="1205722" y="2662238"/>
              <a:ext cx="65056" cy="147638"/>
            </a:xfrm>
            <a:prstGeom prst="rect">
              <a:avLst/>
            </a:prstGeom>
            <a:noFill/>
            <a:ln>
              <a:noFill/>
            </a:ln>
          </p:spPr>
          <p:txBody>
            <a:bodyPr wrap="none" lIns="0" tIns="0" rIns="0" bIns="0" anchor="t" anchorCtr="0">
              <a:spAutoFit/>
            </a:bodyPr>
            <a:lstStyle/>
            <a:p>
              <a:pPr algn="ctr"/>
              <a:r>
                <a:rPr lang="zh-CN" sz="750" dirty="0">
                  <a:solidFill>
                    <a:srgbClr val="D6391E"/>
                  </a:solidFill>
                  <a:latin typeface="+mn-lt"/>
                  <a:ea typeface="+mn-ea"/>
                  <a:cs typeface="+mn-cs"/>
                </a:rPr>
                <a:t>2</a:t>
              </a:r>
            </a:p>
          </p:txBody>
        </p:sp>
        <p:sp>
          <p:nvSpPr>
            <p:cNvPr id="24" name="Rectangle 24"/>
            <p:cNvSpPr/>
            <p:nvPr/>
          </p:nvSpPr>
          <p:spPr>
            <a:xfrm>
              <a:off x="381000" y="2857500"/>
              <a:ext cx="857250" cy="228600"/>
            </a:xfrm>
            <a:prstGeom prst="rect">
              <a:avLst/>
            </a:prstGeom>
            <a:solidFill>
              <a:srgbClr val="E9563C"/>
            </a:solidFill>
            <a:ln>
              <a:noFill/>
            </a:ln>
          </p:spPr>
        </p:sp>
        <p:sp>
          <p:nvSpPr>
            <p:cNvPr id="25" name="TextBox 25"/>
            <p:cNvSpPr txBox="1"/>
            <p:nvPr/>
          </p:nvSpPr>
          <p:spPr>
            <a:xfrm>
              <a:off x="514922" y="29222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信念价值</a:t>
              </a:r>
            </a:p>
          </p:txBody>
        </p:sp>
        <p:sp>
          <p:nvSpPr>
            <p:cNvPr id="26" name="Ellipse 26"/>
            <p:cNvSpPr/>
            <p:nvPr/>
          </p:nvSpPr>
          <p:spPr>
            <a:xfrm>
              <a:off x="1143000" y="2876550"/>
              <a:ext cx="190500" cy="190500"/>
            </a:xfrm>
            <a:prstGeom prst="ellipse">
              <a:avLst/>
            </a:prstGeom>
            <a:solidFill>
              <a:srgbClr val="FFFFFF"/>
            </a:solidFill>
            <a:ln w="14288">
              <a:solidFill>
                <a:srgbClr val="E9563C"/>
              </a:solidFill>
            </a:ln>
          </p:spPr>
        </p:sp>
        <p:sp>
          <p:nvSpPr>
            <p:cNvPr id="27" name="TextBox 27"/>
            <p:cNvSpPr txBox="1"/>
            <p:nvPr/>
          </p:nvSpPr>
          <p:spPr>
            <a:xfrm>
              <a:off x="1205722" y="2928938"/>
              <a:ext cx="65056" cy="147638"/>
            </a:xfrm>
            <a:prstGeom prst="rect">
              <a:avLst/>
            </a:prstGeom>
            <a:noFill/>
            <a:ln>
              <a:noFill/>
            </a:ln>
          </p:spPr>
          <p:txBody>
            <a:bodyPr wrap="none" lIns="0" tIns="0" rIns="0" bIns="0" anchor="t" anchorCtr="0">
              <a:spAutoFit/>
            </a:bodyPr>
            <a:lstStyle/>
            <a:p>
              <a:pPr algn="ctr"/>
              <a:r>
                <a:rPr lang="zh-CN" sz="750" dirty="0">
                  <a:solidFill>
                    <a:srgbClr val="D6391E"/>
                  </a:solidFill>
                  <a:latin typeface="+mn-lt"/>
                  <a:ea typeface="+mn-ea"/>
                  <a:cs typeface="+mn-cs"/>
                </a:rPr>
                <a:t>3</a:t>
              </a:r>
            </a:p>
          </p:txBody>
        </p:sp>
        <p:sp>
          <p:nvSpPr>
            <p:cNvPr id="28" name="Rectangle 28"/>
            <p:cNvSpPr/>
            <p:nvPr/>
          </p:nvSpPr>
          <p:spPr>
            <a:xfrm>
              <a:off x="381000" y="3124200"/>
              <a:ext cx="857250" cy="228600"/>
            </a:xfrm>
            <a:prstGeom prst="rect">
              <a:avLst/>
            </a:prstGeom>
            <a:solidFill>
              <a:srgbClr val="C8E0B8"/>
            </a:solidFill>
            <a:ln>
              <a:noFill/>
            </a:ln>
          </p:spPr>
        </p:sp>
        <p:sp>
          <p:nvSpPr>
            <p:cNvPr id="29" name="TextBox 29"/>
            <p:cNvSpPr txBox="1"/>
            <p:nvPr/>
          </p:nvSpPr>
          <p:spPr>
            <a:xfrm>
              <a:off x="636080" y="3188970"/>
              <a:ext cx="251841" cy="176212"/>
            </a:xfrm>
            <a:prstGeom prst="rect">
              <a:avLst/>
            </a:prstGeom>
            <a:noFill/>
            <a:ln>
              <a:noFill/>
            </a:ln>
          </p:spPr>
          <p:txBody>
            <a:bodyPr wrap="none" lIns="0" tIns="0" rIns="0" bIns="0" anchor="t" anchorCtr="0">
              <a:spAutoFit/>
            </a:bodyPr>
            <a:lstStyle/>
            <a:p>
              <a:pPr algn="ctr"/>
              <a:r>
                <a:rPr lang="zh-CN" sz="900" b="1" dirty="0">
                  <a:solidFill>
                    <a:srgbClr val="7A3E33"/>
                  </a:solidFill>
                  <a:latin typeface="+mn-lt"/>
                  <a:ea typeface="+mn-ea"/>
                  <a:cs typeface="+mn-cs"/>
                </a:rPr>
                <a:t>能力</a:t>
              </a:r>
            </a:p>
          </p:txBody>
        </p:sp>
        <p:sp>
          <p:nvSpPr>
            <p:cNvPr id="30" name="Ellipse 30"/>
            <p:cNvSpPr/>
            <p:nvPr/>
          </p:nvSpPr>
          <p:spPr>
            <a:xfrm>
              <a:off x="1143000" y="3143250"/>
              <a:ext cx="190500" cy="190500"/>
            </a:xfrm>
            <a:prstGeom prst="ellipse">
              <a:avLst/>
            </a:prstGeom>
            <a:solidFill>
              <a:srgbClr val="FFFFFF"/>
            </a:solidFill>
            <a:ln w="14288">
              <a:solidFill>
                <a:srgbClr val="9C594C"/>
              </a:solidFill>
            </a:ln>
          </p:spPr>
        </p:sp>
        <p:sp>
          <p:nvSpPr>
            <p:cNvPr id="31" name="TextBox 31"/>
            <p:cNvSpPr txBox="1"/>
            <p:nvPr/>
          </p:nvSpPr>
          <p:spPr>
            <a:xfrm>
              <a:off x="1205722" y="3195638"/>
              <a:ext cx="65056" cy="147638"/>
            </a:xfrm>
            <a:prstGeom prst="rect">
              <a:avLst/>
            </a:prstGeom>
            <a:noFill/>
            <a:ln>
              <a:noFill/>
            </a:ln>
          </p:spPr>
          <p:txBody>
            <a:bodyPr wrap="none" lIns="0" tIns="0" rIns="0" bIns="0" anchor="t" anchorCtr="0">
              <a:spAutoFit/>
            </a:bodyPr>
            <a:lstStyle/>
            <a:p>
              <a:pPr algn="ctr"/>
              <a:r>
                <a:rPr lang="zh-CN" sz="750" dirty="0">
                  <a:solidFill>
                    <a:srgbClr val="7A3E33"/>
                  </a:solidFill>
                  <a:latin typeface="+mn-lt"/>
                  <a:ea typeface="+mn-ea"/>
                  <a:cs typeface="+mn-cs"/>
                </a:rPr>
                <a:t>4</a:t>
              </a:r>
            </a:p>
          </p:txBody>
        </p:sp>
        <p:sp>
          <p:nvSpPr>
            <p:cNvPr id="32" name="Rectangle 32"/>
            <p:cNvSpPr/>
            <p:nvPr/>
          </p:nvSpPr>
          <p:spPr>
            <a:xfrm>
              <a:off x="381000" y="3390900"/>
              <a:ext cx="857250" cy="228600"/>
            </a:xfrm>
            <a:prstGeom prst="rect">
              <a:avLst/>
            </a:prstGeom>
            <a:solidFill>
              <a:srgbClr val="CD9F96"/>
            </a:solidFill>
            <a:ln>
              <a:noFill/>
            </a:ln>
          </p:spPr>
        </p:sp>
        <p:sp>
          <p:nvSpPr>
            <p:cNvPr id="33" name="TextBox 33"/>
            <p:cNvSpPr txBox="1"/>
            <p:nvPr/>
          </p:nvSpPr>
          <p:spPr>
            <a:xfrm>
              <a:off x="636080" y="3455670"/>
              <a:ext cx="251841" cy="176212"/>
            </a:xfrm>
            <a:prstGeom prst="rect">
              <a:avLst/>
            </a:prstGeom>
            <a:noFill/>
            <a:ln>
              <a:noFill/>
            </a:ln>
          </p:spPr>
          <p:txBody>
            <a:bodyPr wrap="none" lIns="0" tIns="0" rIns="0" bIns="0" anchor="t" anchorCtr="0">
              <a:spAutoFit/>
            </a:bodyPr>
            <a:lstStyle/>
            <a:p>
              <a:pPr algn="ctr"/>
              <a:r>
                <a:rPr lang="zh-CN" sz="900" b="1" dirty="0">
                  <a:solidFill>
                    <a:srgbClr val="7A3E33"/>
                  </a:solidFill>
                  <a:latin typeface="+mn-lt"/>
                  <a:ea typeface="+mn-ea"/>
                  <a:cs typeface="+mn-cs"/>
                </a:rPr>
                <a:t>行为</a:t>
              </a:r>
            </a:p>
          </p:txBody>
        </p:sp>
        <p:sp>
          <p:nvSpPr>
            <p:cNvPr id="34" name="Ellipse 34"/>
            <p:cNvSpPr/>
            <p:nvPr/>
          </p:nvSpPr>
          <p:spPr>
            <a:xfrm>
              <a:off x="1143000" y="3409950"/>
              <a:ext cx="190500" cy="190500"/>
            </a:xfrm>
            <a:prstGeom prst="ellipse">
              <a:avLst/>
            </a:prstGeom>
            <a:solidFill>
              <a:srgbClr val="FFFFFF"/>
            </a:solidFill>
            <a:ln w="14288">
              <a:solidFill>
                <a:srgbClr val="9C594C"/>
              </a:solidFill>
            </a:ln>
          </p:spPr>
        </p:sp>
        <p:sp>
          <p:nvSpPr>
            <p:cNvPr id="35" name="TextBox 35"/>
            <p:cNvSpPr txBox="1"/>
            <p:nvPr/>
          </p:nvSpPr>
          <p:spPr>
            <a:xfrm>
              <a:off x="1205722" y="3462338"/>
              <a:ext cx="65056" cy="147638"/>
            </a:xfrm>
            <a:prstGeom prst="rect">
              <a:avLst/>
            </a:prstGeom>
            <a:noFill/>
            <a:ln>
              <a:noFill/>
            </a:ln>
          </p:spPr>
          <p:txBody>
            <a:bodyPr wrap="none" lIns="0" tIns="0" rIns="0" bIns="0" anchor="t" anchorCtr="0">
              <a:spAutoFit/>
            </a:bodyPr>
            <a:lstStyle/>
            <a:p>
              <a:pPr algn="ctr"/>
              <a:r>
                <a:rPr lang="zh-CN" sz="750" dirty="0">
                  <a:solidFill>
                    <a:srgbClr val="7A3E33"/>
                  </a:solidFill>
                  <a:latin typeface="+mn-lt"/>
                  <a:ea typeface="+mn-ea"/>
                  <a:cs typeface="+mn-cs"/>
                </a:rPr>
                <a:t>5</a:t>
              </a:r>
            </a:p>
          </p:txBody>
        </p:sp>
        <p:sp>
          <p:nvSpPr>
            <p:cNvPr id="36" name="Rectangle 36"/>
            <p:cNvSpPr/>
            <p:nvPr/>
          </p:nvSpPr>
          <p:spPr>
            <a:xfrm>
              <a:off x="381000" y="3657600"/>
              <a:ext cx="857250" cy="228600"/>
            </a:xfrm>
            <a:prstGeom prst="rect">
              <a:avLst/>
            </a:prstGeom>
            <a:solidFill>
              <a:srgbClr val="8C4B3F"/>
            </a:solidFill>
            <a:ln>
              <a:noFill/>
            </a:ln>
          </p:spPr>
        </p:sp>
        <p:sp>
          <p:nvSpPr>
            <p:cNvPr id="37" name="TextBox 37"/>
            <p:cNvSpPr txBox="1"/>
            <p:nvPr/>
          </p:nvSpPr>
          <p:spPr>
            <a:xfrm>
              <a:off x="636080" y="3722370"/>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环境</a:t>
              </a:r>
            </a:p>
          </p:txBody>
        </p:sp>
        <p:sp>
          <p:nvSpPr>
            <p:cNvPr id="38" name="Ellipse 38"/>
            <p:cNvSpPr/>
            <p:nvPr/>
          </p:nvSpPr>
          <p:spPr>
            <a:xfrm>
              <a:off x="1143000" y="3676650"/>
              <a:ext cx="190500" cy="190500"/>
            </a:xfrm>
            <a:prstGeom prst="ellipse">
              <a:avLst/>
            </a:prstGeom>
            <a:solidFill>
              <a:srgbClr val="FFFFFF"/>
            </a:solidFill>
            <a:ln w="14288">
              <a:solidFill>
                <a:srgbClr val="9C594C"/>
              </a:solidFill>
            </a:ln>
          </p:spPr>
        </p:sp>
        <p:sp>
          <p:nvSpPr>
            <p:cNvPr id="39" name="TextBox 39"/>
            <p:cNvSpPr txBox="1"/>
            <p:nvPr/>
          </p:nvSpPr>
          <p:spPr>
            <a:xfrm>
              <a:off x="1205722" y="3729038"/>
              <a:ext cx="65056" cy="147638"/>
            </a:xfrm>
            <a:prstGeom prst="rect">
              <a:avLst/>
            </a:prstGeom>
            <a:noFill/>
            <a:ln>
              <a:noFill/>
            </a:ln>
          </p:spPr>
          <p:txBody>
            <a:bodyPr wrap="none" lIns="0" tIns="0" rIns="0" bIns="0" anchor="t" anchorCtr="0">
              <a:spAutoFit/>
            </a:bodyPr>
            <a:lstStyle/>
            <a:p>
              <a:pPr algn="ctr"/>
              <a:r>
                <a:rPr lang="zh-CN" sz="750" dirty="0">
                  <a:solidFill>
                    <a:srgbClr val="7A3E33"/>
                  </a:solidFill>
                  <a:latin typeface="+mn-lt"/>
                  <a:ea typeface="+mn-ea"/>
                  <a:cs typeface="+mn-cs"/>
                </a:rPr>
                <a:t>6</a:t>
              </a:r>
            </a:p>
          </p:txBody>
        </p:sp>
        <p:sp>
          <p:nvSpPr>
            <p:cNvPr id="40" name="Line 40"/>
            <p:cNvSpPr/>
            <p:nvPr/>
          </p:nvSpPr>
          <p:spPr>
            <a:xfrm>
              <a:off x="1352550" y="1333500"/>
              <a:ext cx="533400" cy="1104900"/>
            </a:xfrm>
            <a:custGeom>
              <a:avLst/>
              <a:gdLst/>
              <a:ahLst/>
              <a:cxnLst/>
              <a:rect l="l" t="t" r="r" b="b"/>
              <a:pathLst>
                <a:path w="533400" h="1104900">
                  <a:moveTo>
                    <a:pt x="0" y="1104900"/>
                  </a:moveTo>
                  <a:lnTo>
                    <a:pt x="533400" y="0"/>
                  </a:lnTo>
                </a:path>
              </a:pathLst>
            </a:custGeom>
            <a:noFill/>
            <a:ln w="9525">
              <a:solidFill>
                <a:srgbClr val="E9563C"/>
              </a:solidFill>
            </a:ln>
          </p:spPr>
        </p:sp>
        <p:sp>
          <p:nvSpPr>
            <p:cNvPr id="41" name="Line 41"/>
            <p:cNvSpPr/>
            <p:nvPr/>
          </p:nvSpPr>
          <p:spPr>
            <a:xfrm>
              <a:off x="1352550" y="2095500"/>
              <a:ext cx="533400" cy="609600"/>
            </a:xfrm>
            <a:custGeom>
              <a:avLst/>
              <a:gdLst/>
              <a:ahLst/>
              <a:cxnLst/>
              <a:rect l="l" t="t" r="r" b="b"/>
              <a:pathLst>
                <a:path w="533400" h="609600">
                  <a:moveTo>
                    <a:pt x="0" y="609600"/>
                  </a:moveTo>
                  <a:lnTo>
                    <a:pt x="533400" y="0"/>
                  </a:lnTo>
                </a:path>
              </a:pathLst>
            </a:custGeom>
            <a:noFill/>
            <a:ln w="9525">
              <a:solidFill>
                <a:srgbClr val="E9563C"/>
              </a:solidFill>
            </a:ln>
          </p:spPr>
        </p:sp>
        <p:sp>
          <p:nvSpPr>
            <p:cNvPr id="42" name="Line 42"/>
            <p:cNvSpPr/>
            <p:nvPr/>
          </p:nvSpPr>
          <p:spPr>
            <a:xfrm>
              <a:off x="1352550" y="2857500"/>
              <a:ext cx="533400" cy="114300"/>
            </a:xfrm>
            <a:custGeom>
              <a:avLst/>
              <a:gdLst/>
              <a:ahLst/>
              <a:cxnLst/>
              <a:rect l="l" t="t" r="r" b="b"/>
              <a:pathLst>
                <a:path w="533400" h="114300">
                  <a:moveTo>
                    <a:pt x="0" y="114300"/>
                  </a:moveTo>
                  <a:lnTo>
                    <a:pt x="533400" y="0"/>
                  </a:lnTo>
                </a:path>
              </a:pathLst>
            </a:custGeom>
            <a:noFill/>
            <a:ln w="9525">
              <a:solidFill>
                <a:srgbClr val="E9563C"/>
              </a:solidFill>
            </a:ln>
          </p:spPr>
        </p:sp>
        <p:sp>
          <p:nvSpPr>
            <p:cNvPr id="43" name="Line 43"/>
            <p:cNvSpPr/>
            <p:nvPr/>
          </p:nvSpPr>
          <p:spPr>
            <a:xfrm>
              <a:off x="1352550" y="3238500"/>
              <a:ext cx="533400" cy="381000"/>
            </a:xfrm>
            <a:custGeom>
              <a:avLst/>
              <a:gdLst/>
              <a:ahLst/>
              <a:cxnLst/>
              <a:rect l="l" t="t" r="r" b="b"/>
              <a:pathLst>
                <a:path w="533400" h="381000">
                  <a:moveTo>
                    <a:pt x="0" y="0"/>
                  </a:moveTo>
                  <a:lnTo>
                    <a:pt x="533400" y="381000"/>
                  </a:lnTo>
                </a:path>
              </a:pathLst>
            </a:custGeom>
            <a:noFill/>
            <a:ln w="9525">
              <a:solidFill>
                <a:srgbClr val="9C594C"/>
              </a:solidFill>
            </a:ln>
          </p:spPr>
        </p:sp>
        <p:sp>
          <p:nvSpPr>
            <p:cNvPr id="44" name="Line 44"/>
            <p:cNvSpPr/>
            <p:nvPr/>
          </p:nvSpPr>
          <p:spPr>
            <a:xfrm>
              <a:off x="1352550" y="3505200"/>
              <a:ext cx="533400" cy="828675"/>
            </a:xfrm>
            <a:custGeom>
              <a:avLst/>
              <a:gdLst/>
              <a:ahLst/>
              <a:cxnLst/>
              <a:rect l="l" t="t" r="r" b="b"/>
              <a:pathLst>
                <a:path w="533400" h="828675">
                  <a:moveTo>
                    <a:pt x="0" y="0"/>
                  </a:moveTo>
                  <a:lnTo>
                    <a:pt x="533400" y="828675"/>
                  </a:lnTo>
                </a:path>
              </a:pathLst>
            </a:custGeom>
            <a:noFill/>
            <a:ln w="9525">
              <a:solidFill>
                <a:srgbClr val="9C594C"/>
              </a:solidFill>
            </a:ln>
          </p:spPr>
        </p:sp>
        <p:sp>
          <p:nvSpPr>
            <p:cNvPr id="45" name="Line 45"/>
            <p:cNvSpPr/>
            <p:nvPr/>
          </p:nvSpPr>
          <p:spPr>
            <a:xfrm>
              <a:off x="1352550" y="3771900"/>
              <a:ext cx="533400" cy="1323975"/>
            </a:xfrm>
            <a:custGeom>
              <a:avLst/>
              <a:gdLst/>
              <a:ahLst/>
              <a:cxnLst/>
              <a:rect l="l" t="t" r="r" b="b"/>
              <a:pathLst>
                <a:path w="533400" h="1323975">
                  <a:moveTo>
                    <a:pt x="0" y="0"/>
                  </a:moveTo>
                  <a:lnTo>
                    <a:pt x="533400" y="1323975"/>
                  </a:lnTo>
                </a:path>
              </a:pathLst>
            </a:custGeom>
            <a:noFill/>
            <a:ln w="9525">
              <a:solidFill>
                <a:srgbClr val="9C594C"/>
              </a:solidFill>
            </a:ln>
          </p:spPr>
        </p:sp>
      </p:grpSp>
      <p:grpSp>
        <p:nvGrpSpPr>
          <p:cNvPr id="54" name="thought-bubble"/>
          <p:cNvGrpSpPr/>
          <p:nvPr/>
        </p:nvGrpSpPr>
        <p:grpSpPr>
          <a:xfrm>
            <a:off x="381000" y="4038600"/>
            <a:ext cx="1047750" cy="1866900"/>
            <a:chOff x="381000" y="4038600"/>
            <a:chExt cx="1047750" cy="1866900"/>
          </a:xfrm>
        </p:grpSpPr>
        <p:sp>
          <p:nvSpPr>
            <p:cNvPr id="47" name="Ellipse 47"/>
            <p:cNvSpPr/>
            <p:nvPr/>
          </p:nvSpPr>
          <p:spPr>
            <a:xfrm>
              <a:off x="857250" y="4038600"/>
              <a:ext cx="571500" cy="419100"/>
            </a:xfrm>
            <a:prstGeom prst="ellipse">
              <a:avLst/>
            </a:prstGeom>
            <a:solidFill>
              <a:srgbClr val="FFFFFF"/>
            </a:solidFill>
            <a:ln w="14288">
              <a:solidFill>
                <a:srgbClr val="9C594C"/>
              </a:solidFill>
            </a:ln>
          </p:spPr>
        </p:sp>
        <p:sp>
          <p:nvSpPr>
            <p:cNvPr id="48" name="TextBox 48"/>
            <p:cNvSpPr txBox="1"/>
            <p:nvPr/>
          </p:nvSpPr>
          <p:spPr>
            <a:xfrm>
              <a:off x="1034098" y="4130516"/>
              <a:ext cx="217805" cy="285750"/>
            </a:xfrm>
            <a:prstGeom prst="rect">
              <a:avLst/>
            </a:prstGeom>
            <a:noFill/>
            <a:ln>
              <a:noFill/>
            </a:ln>
          </p:spPr>
          <p:txBody>
            <a:bodyPr wrap="none" lIns="0" tIns="0" rIns="0" bIns="0" anchor="t" anchorCtr="0">
              <a:spAutoFit/>
            </a:bodyPr>
            <a:lstStyle/>
            <a:p>
              <a:pPr algn="ctr">
                <a:lnSpc>
                  <a:spcPts val="975"/>
                </a:lnSpc>
              </a:pPr>
              <a:r>
                <a:rPr lang="zh-CN" sz="820" b="1" dirty="0">
                  <a:solidFill>
                    <a:srgbClr val="333333"/>
                  </a:solidFill>
                  <a:latin typeface="+mn-lt"/>
                  <a:ea typeface="+mn-ea"/>
                  <a:cs typeface="+mn-cs"/>
                </a:rPr>
                <a:t>人生</a:t>
              </a:r>
              <a:br/>
              <a:r>
                <a:rPr lang="zh-CN" sz="820" b="1" dirty="0">
                  <a:solidFill>
                    <a:srgbClr val="333333"/>
                  </a:solidFill>
                  <a:latin typeface="+mn-lt"/>
                  <a:ea typeface="+mn-ea"/>
                  <a:cs typeface="+mn-cs"/>
                </a:rPr>
                <a:t>思考</a:t>
              </a:r>
            </a:p>
          </p:txBody>
        </p:sp>
        <p:sp>
          <p:nvSpPr>
            <p:cNvPr id="49" name="Ellipse 49"/>
            <p:cNvSpPr/>
            <p:nvPr/>
          </p:nvSpPr>
          <p:spPr>
            <a:xfrm>
              <a:off x="866775" y="4505325"/>
              <a:ext cx="95250" cy="95250"/>
            </a:xfrm>
            <a:prstGeom prst="ellipse">
              <a:avLst/>
            </a:prstGeom>
            <a:solidFill>
              <a:srgbClr val="FFFFFF"/>
            </a:solidFill>
            <a:ln w="11430">
              <a:solidFill>
                <a:srgbClr val="9C594C"/>
              </a:solidFill>
            </a:ln>
          </p:spPr>
        </p:sp>
        <p:sp>
          <p:nvSpPr>
            <p:cNvPr id="50" name="Ellipse 50"/>
            <p:cNvSpPr/>
            <p:nvPr/>
          </p:nvSpPr>
          <p:spPr>
            <a:xfrm>
              <a:off x="766762" y="4652962"/>
              <a:ext cx="66675" cy="66675"/>
            </a:xfrm>
            <a:prstGeom prst="ellipse">
              <a:avLst/>
            </a:prstGeom>
            <a:solidFill>
              <a:srgbClr val="FFFFFF"/>
            </a:solidFill>
            <a:ln w="11430">
              <a:solidFill>
                <a:srgbClr val="9C594C"/>
              </a:solidFill>
            </a:ln>
          </p:spPr>
        </p:sp>
        <p:sp>
          <p:nvSpPr>
            <p:cNvPr id="51" name="Ellipse 51"/>
            <p:cNvSpPr/>
            <p:nvPr/>
          </p:nvSpPr>
          <p:spPr>
            <a:xfrm>
              <a:off x="438150" y="4819650"/>
              <a:ext cx="647700" cy="647700"/>
            </a:xfrm>
            <a:prstGeom prst="ellipse">
              <a:avLst/>
            </a:prstGeom>
            <a:solidFill>
              <a:srgbClr val="C8E0B8"/>
            </a:solidFill>
            <a:ln>
              <a:noFill/>
            </a:ln>
          </p:spPr>
        </p:sp>
        <p:sp>
          <p:nvSpPr>
            <p:cNvPr id="52" name="Rectangle 52"/>
            <p:cNvSpPr/>
            <p:nvPr/>
          </p:nvSpPr>
          <p:spPr>
            <a:xfrm>
              <a:off x="495300" y="5295900"/>
              <a:ext cx="438150" cy="571500"/>
            </a:xfrm>
            <a:prstGeom prst="roundRect">
              <a:avLst>
                <a:gd name="adj" fmla="val 17391"/>
              </a:avLst>
            </a:prstGeom>
            <a:solidFill>
              <a:srgbClr val="C8E0B8"/>
            </a:solidFill>
            <a:ln>
              <a:noFill/>
            </a:ln>
          </p:spPr>
        </p:sp>
        <p:sp>
          <p:nvSpPr>
            <p:cNvPr id="53" name="Rectangle 53"/>
            <p:cNvSpPr/>
            <p:nvPr/>
          </p:nvSpPr>
          <p:spPr>
            <a:xfrm>
              <a:off x="381000" y="5619750"/>
              <a:ext cx="285750" cy="285750"/>
            </a:xfrm>
            <a:prstGeom prst="rect">
              <a:avLst/>
            </a:prstGeom>
            <a:solidFill>
              <a:srgbClr val="C8E0B8"/>
            </a:solidFill>
            <a:ln>
              <a:noFill/>
            </a:ln>
          </p:spPr>
        </p:sp>
      </p:grpSp>
      <p:grpSp>
        <p:nvGrpSpPr>
          <p:cNvPr id="67" name="question-cards"/>
          <p:cNvGrpSpPr/>
          <p:nvPr/>
        </p:nvGrpSpPr>
        <p:grpSpPr>
          <a:xfrm>
            <a:off x="1905000" y="1066800"/>
            <a:ext cx="1905000" cy="4286250"/>
            <a:chOff x="1905000" y="1066800"/>
            <a:chExt cx="1905000" cy="4286250"/>
          </a:xfrm>
        </p:grpSpPr>
        <p:sp>
          <p:nvSpPr>
            <p:cNvPr id="55" name="Rectangle 55"/>
            <p:cNvSpPr/>
            <p:nvPr/>
          </p:nvSpPr>
          <p:spPr>
            <a:xfrm>
              <a:off x="1905000" y="1066800"/>
              <a:ext cx="1905000" cy="571500"/>
            </a:xfrm>
            <a:prstGeom prst="roundRect">
              <a:avLst>
                <a:gd name="adj" fmla="val 10000"/>
              </a:avLst>
            </a:prstGeom>
            <a:solidFill>
              <a:srgbClr val="FFFFFF"/>
            </a:solidFill>
            <a:ln w="14288">
              <a:solidFill>
                <a:srgbClr val="E9563C"/>
              </a:solidFill>
            </a:ln>
          </p:spPr>
        </p:sp>
        <p:sp>
          <p:nvSpPr>
            <p:cNvPr id="56" name="TextBox 56"/>
            <p:cNvSpPr txBox="1"/>
            <p:nvPr/>
          </p:nvSpPr>
          <p:spPr>
            <a:xfrm>
              <a:off x="2033588" y="1206341"/>
              <a:ext cx="1259205" cy="371475"/>
            </a:xfrm>
            <a:prstGeom prst="rect">
              <a:avLst/>
            </a:prstGeom>
            <a:noFill/>
            <a:ln>
              <a:noFill/>
            </a:ln>
          </p:spPr>
          <p:txBody>
            <a:bodyPr wrap="none" lIns="0" tIns="0" rIns="0" bIns="0" anchor="t" anchorCtr="0">
              <a:spAutoFit/>
            </a:bodyPr>
            <a:lstStyle/>
            <a:p>
              <a:pPr algn="l">
                <a:lnSpc>
                  <a:spcPts val="1650"/>
                </a:lnSpc>
              </a:pPr>
              <a:r>
                <a:rPr lang="zh-CN" sz="820" dirty="0">
                  <a:solidFill>
                    <a:srgbClr val="333333"/>
                  </a:solidFill>
                  <a:latin typeface="+mn-lt"/>
                  <a:ea typeface="+mn-ea"/>
                  <a:cs typeface="+mn-cs"/>
                </a:rPr>
                <a:t>我的人生使命是什么？</a:t>
              </a:r>
              <a:br/>
              <a:r>
                <a:rPr lang="zh-CN" sz="820" dirty="0">
                  <a:solidFill>
                    <a:srgbClr val="333333"/>
                  </a:solidFill>
                  <a:latin typeface="+mn-lt"/>
                  <a:ea typeface="+mn-ea"/>
                  <a:cs typeface="+mn-cs"/>
                </a:rPr>
                <a:t>我能为他能创造什么价值？</a:t>
              </a:r>
            </a:p>
          </p:txBody>
        </p:sp>
        <p:sp>
          <p:nvSpPr>
            <p:cNvPr id="57" name="Rectangle 57"/>
            <p:cNvSpPr/>
            <p:nvPr/>
          </p:nvSpPr>
          <p:spPr>
            <a:xfrm>
              <a:off x="1905000" y="1809750"/>
              <a:ext cx="1905000" cy="571500"/>
            </a:xfrm>
            <a:prstGeom prst="roundRect">
              <a:avLst>
                <a:gd name="adj" fmla="val 10000"/>
              </a:avLst>
            </a:prstGeom>
            <a:solidFill>
              <a:srgbClr val="FFFFFF"/>
            </a:solidFill>
            <a:ln w="14288">
              <a:solidFill>
                <a:srgbClr val="E9563C"/>
              </a:solidFill>
            </a:ln>
          </p:spPr>
        </p:sp>
        <p:sp>
          <p:nvSpPr>
            <p:cNvPr id="58" name="TextBox 58"/>
            <p:cNvSpPr txBox="1"/>
            <p:nvPr/>
          </p:nvSpPr>
          <p:spPr>
            <a:xfrm>
              <a:off x="2033588" y="1949291"/>
              <a:ext cx="1259205" cy="371475"/>
            </a:xfrm>
            <a:prstGeom prst="rect">
              <a:avLst/>
            </a:prstGeom>
            <a:noFill/>
            <a:ln>
              <a:noFill/>
            </a:ln>
          </p:spPr>
          <p:txBody>
            <a:bodyPr wrap="none" lIns="0" tIns="0" rIns="0" bIns="0" anchor="t" anchorCtr="0">
              <a:spAutoFit/>
            </a:bodyPr>
            <a:lstStyle/>
            <a:p>
              <a:pPr algn="l">
                <a:lnSpc>
                  <a:spcPts val="1650"/>
                </a:lnSpc>
              </a:pPr>
              <a:r>
                <a:rPr lang="zh-CN" sz="820" dirty="0">
                  <a:solidFill>
                    <a:srgbClr val="333333"/>
                  </a:solidFill>
                  <a:latin typeface="+mn-lt"/>
                  <a:ea typeface="+mn-ea"/>
                  <a:cs typeface="+mn-cs"/>
                </a:rPr>
                <a:t>我现在是一个什么样的人？</a:t>
              </a:r>
              <a:br/>
              <a:r>
                <a:rPr lang="zh-CN" sz="820" dirty="0">
                  <a:solidFill>
                    <a:srgbClr val="333333"/>
                  </a:solidFill>
                  <a:latin typeface="+mn-lt"/>
                  <a:ea typeface="+mn-ea"/>
                  <a:cs typeface="+mn-cs"/>
                </a:rPr>
                <a:t>未来想要成为什么样的人？</a:t>
              </a:r>
            </a:p>
          </p:txBody>
        </p:sp>
        <p:sp>
          <p:nvSpPr>
            <p:cNvPr id="59" name="Rectangle 59"/>
            <p:cNvSpPr/>
            <p:nvPr/>
          </p:nvSpPr>
          <p:spPr>
            <a:xfrm>
              <a:off x="1905000" y="2552700"/>
              <a:ext cx="1905000" cy="571500"/>
            </a:xfrm>
            <a:prstGeom prst="roundRect">
              <a:avLst>
                <a:gd name="adj" fmla="val 10000"/>
              </a:avLst>
            </a:prstGeom>
            <a:solidFill>
              <a:srgbClr val="FFFFFF"/>
            </a:solidFill>
            <a:ln w="14288">
              <a:solidFill>
                <a:srgbClr val="E9563C"/>
              </a:solidFill>
            </a:ln>
          </p:spPr>
        </p:sp>
        <p:sp>
          <p:nvSpPr>
            <p:cNvPr id="60" name="TextBox 60"/>
            <p:cNvSpPr txBox="1"/>
            <p:nvPr/>
          </p:nvSpPr>
          <p:spPr>
            <a:xfrm>
              <a:off x="2033588" y="2692241"/>
              <a:ext cx="1363345" cy="371475"/>
            </a:xfrm>
            <a:prstGeom prst="rect">
              <a:avLst/>
            </a:prstGeom>
            <a:noFill/>
            <a:ln>
              <a:noFill/>
            </a:ln>
          </p:spPr>
          <p:txBody>
            <a:bodyPr wrap="none" lIns="0" tIns="0" rIns="0" bIns="0" anchor="t" anchorCtr="0">
              <a:spAutoFit/>
            </a:bodyPr>
            <a:lstStyle/>
            <a:p>
              <a:pPr algn="l">
                <a:lnSpc>
                  <a:spcPts val="1650"/>
                </a:lnSpc>
              </a:pPr>
              <a:r>
                <a:rPr lang="zh-CN" sz="820" dirty="0">
                  <a:solidFill>
                    <a:srgbClr val="333333"/>
                  </a:solidFill>
                  <a:latin typeface="+mn-lt"/>
                  <a:ea typeface="+mn-ea"/>
                  <a:cs typeface="+mn-cs"/>
                </a:rPr>
                <a:t>我应该坚持什么？</a:t>
              </a:r>
              <a:br/>
              <a:r>
                <a:rPr lang="zh-CN" sz="820" dirty="0">
                  <a:solidFill>
                    <a:srgbClr val="333333"/>
                  </a:solidFill>
                  <a:latin typeface="+mn-lt"/>
                  <a:ea typeface="+mn-ea"/>
                  <a:cs typeface="+mn-cs"/>
                </a:rPr>
                <a:t>我应该相信什么原则和规律？</a:t>
              </a:r>
            </a:p>
          </p:txBody>
        </p:sp>
        <p:sp>
          <p:nvSpPr>
            <p:cNvPr id="61" name="Rectangle 61"/>
            <p:cNvSpPr/>
            <p:nvPr/>
          </p:nvSpPr>
          <p:spPr>
            <a:xfrm>
              <a:off x="1905000" y="3295650"/>
              <a:ext cx="1905000" cy="571500"/>
            </a:xfrm>
            <a:prstGeom prst="roundRect">
              <a:avLst>
                <a:gd name="adj" fmla="val 10000"/>
              </a:avLst>
            </a:prstGeom>
            <a:solidFill>
              <a:srgbClr val="FFFFFF"/>
            </a:solidFill>
            <a:ln w="14288">
              <a:solidFill>
                <a:srgbClr val="9C594C"/>
              </a:solidFill>
            </a:ln>
          </p:spPr>
        </p:sp>
        <p:sp>
          <p:nvSpPr>
            <p:cNvPr id="62" name="TextBox 62"/>
            <p:cNvSpPr txBox="1"/>
            <p:nvPr/>
          </p:nvSpPr>
          <p:spPr>
            <a:xfrm>
              <a:off x="2033588" y="3435191"/>
              <a:ext cx="1050925" cy="371475"/>
            </a:xfrm>
            <a:prstGeom prst="rect">
              <a:avLst/>
            </a:prstGeom>
            <a:noFill/>
            <a:ln>
              <a:noFill/>
            </a:ln>
          </p:spPr>
          <p:txBody>
            <a:bodyPr wrap="none" lIns="0" tIns="0" rIns="0" bIns="0" anchor="t" anchorCtr="0">
              <a:spAutoFit/>
            </a:bodyPr>
            <a:lstStyle/>
            <a:p>
              <a:pPr algn="l">
                <a:lnSpc>
                  <a:spcPts val="1650"/>
                </a:lnSpc>
              </a:pPr>
              <a:r>
                <a:rPr lang="zh-CN" sz="820" dirty="0">
                  <a:solidFill>
                    <a:srgbClr val="333333"/>
                  </a:solidFill>
                  <a:latin typeface="+mn-lt"/>
                  <a:ea typeface="+mn-ea"/>
                  <a:cs typeface="+mn-cs"/>
                </a:rPr>
                <a:t>我目前具备什么能力？</a:t>
              </a:r>
              <a:br/>
              <a:r>
                <a:rPr lang="zh-CN" sz="820" dirty="0">
                  <a:solidFill>
                    <a:srgbClr val="333333"/>
                  </a:solidFill>
                  <a:latin typeface="+mn-lt"/>
                  <a:ea typeface="+mn-ea"/>
                  <a:cs typeface="+mn-cs"/>
                </a:rPr>
                <a:t>还需要什么能力？</a:t>
              </a:r>
            </a:p>
          </p:txBody>
        </p:sp>
        <p:sp>
          <p:nvSpPr>
            <p:cNvPr id="63" name="Rectangle 63"/>
            <p:cNvSpPr/>
            <p:nvPr/>
          </p:nvSpPr>
          <p:spPr>
            <a:xfrm>
              <a:off x="1905000" y="4038600"/>
              <a:ext cx="1905000" cy="571500"/>
            </a:xfrm>
            <a:prstGeom prst="roundRect">
              <a:avLst>
                <a:gd name="adj" fmla="val 10000"/>
              </a:avLst>
            </a:prstGeom>
            <a:solidFill>
              <a:srgbClr val="FFFFFF"/>
            </a:solidFill>
            <a:ln w="14288">
              <a:solidFill>
                <a:srgbClr val="9C594C"/>
              </a:solidFill>
            </a:ln>
          </p:spPr>
        </p:sp>
        <p:sp>
          <p:nvSpPr>
            <p:cNvPr id="64" name="TextBox 64"/>
            <p:cNvSpPr txBox="1"/>
            <p:nvPr/>
          </p:nvSpPr>
          <p:spPr>
            <a:xfrm>
              <a:off x="2033588" y="4178141"/>
              <a:ext cx="1363345" cy="371475"/>
            </a:xfrm>
            <a:prstGeom prst="rect">
              <a:avLst/>
            </a:prstGeom>
            <a:noFill/>
            <a:ln>
              <a:noFill/>
            </a:ln>
          </p:spPr>
          <p:txBody>
            <a:bodyPr wrap="none" lIns="0" tIns="0" rIns="0" bIns="0" anchor="t" anchorCtr="0">
              <a:spAutoFit/>
            </a:bodyPr>
            <a:lstStyle/>
            <a:p>
              <a:pPr algn="l">
                <a:lnSpc>
                  <a:spcPts val="1650"/>
                </a:lnSpc>
              </a:pPr>
              <a:r>
                <a:rPr lang="zh-CN" sz="820" dirty="0">
                  <a:solidFill>
                    <a:srgbClr val="333333"/>
                  </a:solidFill>
                  <a:latin typeface="+mn-lt"/>
                  <a:ea typeface="+mn-ea"/>
                  <a:cs typeface="+mn-cs"/>
                </a:rPr>
                <a:t>第一步是什么？具体怎么做？</a:t>
              </a:r>
              <a:br/>
              <a:r>
                <a:rPr lang="zh-CN" sz="820" dirty="0">
                  <a:solidFill>
                    <a:srgbClr val="333333"/>
                  </a:solidFill>
                  <a:latin typeface="+mn-lt"/>
                  <a:ea typeface="+mn-ea"/>
                  <a:cs typeface="+mn-cs"/>
                </a:rPr>
                <a:t>今年具体计划怎么安排？</a:t>
              </a:r>
            </a:p>
          </p:txBody>
        </p:sp>
        <p:sp>
          <p:nvSpPr>
            <p:cNvPr id="65" name="Rectangle 65"/>
            <p:cNvSpPr/>
            <p:nvPr/>
          </p:nvSpPr>
          <p:spPr>
            <a:xfrm>
              <a:off x="1905000" y="4781550"/>
              <a:ext cx="1905000" cy="571500"/>
            </a:xfrm>
            <a:prstGeom prst="roundRect">
              <a:avLst>
                <a:gd name="adj" fmla="val 10000"/>
              </a:avLst>
            </a:prstGeom>
            <a:solidFill>
              <a:srgbClr val="FFFFFF"/>
            </a:solidFill>
            <a:ln w="14288">
              <a:solidFill>
                <a:srgbClr val="9C594C"/>
              </a:solidFill>
            </a:ln>
          </p:spPr>
        </p:sp>
        <p:sp>
          <p:nvSpPr>
            <p:cNvPr id="66" name="TextBox 66"/>
            <p:cNvSpPr txBox="1"/>
            <p:nvPr/>
          </p:nvSpPr>
          <p:spPr>
            <a:xfrm>
              <a:off x="2033588" y="4921091"/>
              <a:ext cx="1155065" cy="371475"/>
            </a:xfrm>
            <a:prstGeom prst="rect">
              <a:avLst/>
            </a:prstGeom>
            <a:noFill/>
            <a:ln>
              <a:noFill/>
            </a:ln>
          </p:spPr>
          <p:txBody>
            <a:bodyPr wrap="none" lIns="0" tIns="0" rIns="0" bIns="0" anchor="t" anchorCtr="0">
              <a:spAutoFit/>
            </a:bodyPr>
            <a:lstStyle/>
            <a:p>
              <a:pPr algn="l">
                <a:lnSpc>
                  <a:spcPts val="1650"/>
                </a:lnSpc>
              </a:pPr>
              <a:r>
                <a:rPr lang="zh-CN" sz="820" dirty="0">
                  <a:solidFill>
                    <a:srgbClr val="333333"/>
                  </a:solidFill>
                  <a:latin typeface="+mn-lt"/>
                  <a:ea typeface="+mn-ea"/>
                  <a:cs typeface="+mn-cs"/>
                </a:rPr>
                <a:t>那些资源帮我实现目标？</a:t>
              </a:r>
              <a:br/>
              <a:r>
                <a:rPr lang="zh-CN" sz="820" dirty="0">
                  <a:solidFill>
                    <a:srgbClr val="333333"/>
                  </a:solidFill>
                  <a:latin typeface="+mn-lt"/>
                  <a:ea typeface="+mn-ea"/>
                  <a:cs typeface="+mn-cs"/>
                </a:rPr>
                <a:t>如何去使用身边的资源？</a:t>
              </a:r>
            </a:p>
          </p:txBody>
        </p:sp>
      </p:grpSp>
      <p:grpSp>
        <p:nvGrpSpPr>
          <p:cNvPr id="72" name="top-chain"/>
          <p:cNvGrpSpPr/>
          <p:nvPr/>
        </p:nvGrpSpPr>
        <p:grpSpPr>
          <a:xfrm>
            <a:off x="4000500" y="1309688"/>
            <a:ext cx="3143250" cy="366712"/>
            <a:chOff x="4000500" y="1309688"/>
            <a:chExt cx="3143250" cy="366712"/>
          </a:xfrm>
        </p:grpSpPr>
        <p:sp>
          <p:nvSpPr>
            <p:cNvPr id="68" name="TextBox 68"/>
            <p:cNvSpPr txBox="1"/>
            <p:nvPr/>
          </p:nvSpPr>
          <p:spPr>
            <a:xfrm>
              <a:off x="4090988" y="1309688"/>
              <a:ext cx="2664904"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起购门槛高——收益风险顾虑——品牌安全担忧——操作流程繁琐</a:t>
              </a:r>
            </a:p>
          </p:txBody>
        </p:sp>
        <p:sp>
          <p:nvSpPr>
            <p:cNvPr id="69" name="Line 69"/>
            <p:cNvSpPr/>
            <p:nvPr/>
          </p:nvSpPr>
          <p:spPr>
            <a:xfrm>
              <a:off x="4038600" y="1485900"/>
              <a:ext cx="3067050" cy="152400"/>
            </a:xfrm>
            <a:custGeom>
              <a:avLst/>
              <a:gdLst/>
              <a:ahLst/>
              <a:cxnLst/>
              <a:rect l="l" t="t" r="r" b="b"/>
              <a:pathLst>
                <a:path w="3067050" h="152400">
                  <a:moveTo>
                    <a:pt x="0" y="0"/>
                  </a:moveTo>
                  <a:lnTo>
                    <a:pt x="3067050" y="152400"/>
                  </a:lnTo>
                </a:path>
              </a:pathLst>
            </a:custGeom>
            <a:noFill/>
            <a:ln w="14288">
              <a:solidFill>
                <a:srgbClr val="9C594C"/>
              </a:solidFill>
            </a:ln>
          </p:spPr>
        </p:sp>
        <p:sp>
          <p:nvSpPr>
            <p:cNvPr id="70" name="Ellipse 70"/>
            <p:cNvSpPr/>
            <p:nvPr/>
          </p:nvSpPr>
          <p:spPr>
            <a:xfrm>
              <a:off x="4000500" y="1447800"/>
              <a:ext cx="76200" cy="76200"/>
            </a:xfrm>
            <a:prstGeom prst="ellipse">
              <a:avLst/>
            </a:prstGeom>
            <a:solidFill>
              <a:srgbClr val="9C594C"/>
            </a:solidFill>
            <a:ln>
              <a:noFill/>
            </a:ln>
          </p:spPr>
        </p:sp>
        <p:sp>
          <p:nvSpPr>
            <p:cNvPr id="71" name="Ellipse 71"/>
            <p:cNvSpPr/>
            <p:nvPr/>
          </p:nvSpPr>
          <p:spPr>
            <a:xfrm>
              <a:off x="7067550" y="1600200"/>
              <a:ext cx="76200" cy="76200"/>
            </a:xfrm>
            <a:prstGeom prst="ellipse">
              <a:avLst/>
            </a:prstGeom>
            <a:solidFill>
              <a:srgbClr val="9C594C"/>
            </a:solidFill>
            <a:ln>
              <a:noFill/>
            </a:ln>
          </p:spPr>
        </p:sp>
      </p:grpSp>
      <p:grpSp>
        <p:nvGrpSpPr>
          <p:cNvPr id="77" name="web-backend"/>
          <p:cNvGrpSpPr/>
          <p:nvPr/>
        </p:nvGrpSpPr>
        <p:grpSpPr>
          <a:xfrm>
            <a:off x="4095750" y="1809750"/>
            <a:ext cx="952500" cy="1085850"/>
            <a:chOff x="4095750" y="1809750"/>
            <a:chExt cx="952500" cy="1085850"/>
          </a:xfrm>
        </p:grpSpPr>
        <p:sp>
          <p:nvSpPr>
            <p:cNvPr id="73" name="Rectangle 73"/>
            <p:cNvSpPr/>
            <p:nvPr/>
          </p:nvSpPr>
          <p:spPr>
            <a:xfrm>
              <a:off x="4095750" y="1809750"/>
              <a:ext cx="952500" cy="228600"/>
            </a:xfrm>
            <a:prstGeom prst="rect">
              <a:avLst/>
            </a:prstGeom>
            <a:solidFill>
              <a:srgbClr val="9C594C"/>
            </a:solidFill>
            <a:ln>
              <a:noFill/>
            </a:ln>
          </p:spPr>
        </p:sp>
        <p:sp>
          <p:nvSpPr>
            <p:cNvPr id="74" name="TextBox 74"/>
            <p:cNvSpPr txBox="1"/>
            <p:nvPr/>
          </p:nvSpPr>
          <p:spPr>
            <a:xfrm>
              <a:off x="4283023" y="1890712"/>
              <a:ext cx="57795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WEB端后台​</a:t>
              </a:r>
            </a:p>
          </p:txBody>
        </p:sp>
        <p:sp>
          <p:nvSpPr>
            <p:cNvPr id="75" name="Rectangle 75"/>
            <p:cNvSpPr/>
            <p:nvPr/>
          </p:nvSpPr>
          <p:spPr>
            <a:xfrm>
              <a:off x="4095750" y="2038350"/>
              <a:ext cx="952500" cy="857250"/>
            </a:xfrm>
            <a:prstGeom prst="rect">
              <a:avLst/>
            </a:prstGeom>
            <a:solidFill>
              <a:srgbClr val="FFFFFF"/>
            </a:solidFill>
            <a:ln w="9525">
              <a:solidFill>
                <a:srgbClr val="C9D8BD"/>
              </a:solidFill>
              <a:custDash>
                <a:ds d="300000" sp="200000"/>
              </a:custDash>
            </a:ln>
          </p:spPr>
        </p:sp>
        <p:sp>
          <p:nvSpPr>
            <p:cNvPr id="76" name="TextBox 76"/>
            <p:cNvSpPr txBox="1"/>
            <p:nvPr/>
          </p:nvSpPr>
          <p:spPr>
            <a:xfrm>
              <a:off x="4186238" y="2194084"/>
              <a:ext cx="573659" cy="476250"/>
            </a:xfrm>
            <a:prstGeom prst="rect">
              <a:avLst/>
            </a:prstGeom>
            <a:noFill/>
            <a:ln>
              <a:noFill/>
            </a:ln>
          </p:spPr>
          <p:txBody>
            <a:bodyPr wrap="none" lIns="0" tIns="0" rIns="0" bIns="0" anchor="t" anchorCtr="0">
              <a:spAutoFit/>
            </a:bodyPr>
            <a:lstStyle/>
            <a:p>
              <a:pPr algn="l" marL="76200" indent="-76200">
                <a:lnSpc>
                  <a:spcPts val="1350"/>
                </a:lnSpc>
                <a:buClr>
                  <a:srgbClr val="333333"/>
                </a:buClr>
                <a:buSzTx/>
                <a:buFontTx/>
                <a:buChar char="•"/>
              </a:pPr>
              <a:r>
                <a:rPr lang="zh-CN" sz="680" dirty="0">
                  <a:solidFill>
                    <a:srgbClr val="333333"/>
                  </a:solidFill>
                  <a:latin typeface="+mn-lt"/>
                  <a:ea typeface="+mn-ea"/>
                  <a:cs typeface="+mn-cs"/>
                </a:rPr>
                <a:t>腾讯云助手</a:t>
              </a:r>
            </a:p>
            <a:p>
              <a:pPr algn="l" marL="76200" indent="-76200">
                <a:lnSpc>
                  <a:spcPts val="1350"/>
                </a:lnSpc>
                <a:buClr>
                  <a:srgbClr val="333333"/>
                </a:buClr>
                <a:buSzTx/>
                <a:buFontTx/>
                <a:buChar char="•"/>
              </a:pPr>
              <a:r>
                <a:rPr lang="zh-CN" sz="680" dirty="0">
                  <a:solidFill>
                    <a:srgbClr val="333333"/>
                  </a:solidFill>
                  <a:latin typeface="+mn-lt"/>
                  <a:ea typeface="+mn-ea"/>
                  <a:cs typeface="+mn-cs"/>
                </a:rPr>
                <a:t>云行业应用</a:t>
              </a:r>
            </a:p>
            <a:p>
              <a:pPr algn="l" marL="76200" indent="-76200">
                <a:lnSpc>
                  <a:spcPts val="1350"/>
                </a:lnSpc>
                <a:buClr>
                  <a:srgbClr val="333333"/>
                </a:buClr>
                <a:buSzTx/>
                <a:buFontTx/>
                <a:buChar char="•"/>
              </a:pPr>
              <a:r>
                <a:rPr lang="zh-CN" sz="680" dirty="0">
                  <a:solidFill>
                    <a:srgbClr val="333333"/>
                  </a:solidFill>
                  <a:latin typeface="+mn-lt"/>
                  <a:ea typeface="+mn-ea"/>
                  <a:cs typeface="+mn-cs"/>
                </a:rPr>
                <a:t>H5运营活动​</a:t>
              </a:r>
            </a:p>
          </p:txBody>
        </p:sp>
      </p:grpSp>
      <p:grpSp>
        <p:nvGrpSpPr>
          <p:cNvPr id="82" name="data-viz"/>
          <p:cNvGrpSpPr/>
          <p:nvPr/>
        </p:nvGrpSpPr>
        <p:grpSpPr>
          <a:xfrm>
            <a:off x="4095750" y="3238500"/>
            <a:ext cx="952500" cy="1181100"/>
            <a:chOff x="4095750" y="3238500"/>
            <a:chExt cx="952500" cy="1181100"/>
          </a:xfrm>
        </p:grpSpPr>
        <p:sp>
          <p:nvSpPr>
            <p:cNvPr id="78" name="Rectangle 78"/>
            <p:cNvSpPr/>
            <p:nvPr/>
          </p:nvSpPr>
          <p:spPr>
            <a:xfrm>
              <a:off x="4095750" y="3238500"/>
              <a:ext cx="952500" cy="228600"/>
            </a:xfrm>
            <a:prstGeom prst="rect">
              <a:avLst/>
            </a:prstGeom>
            <a:solidFill>
              <a:srgbClr val="9C594C"/>
            </a:solidFill>
            <a:ln>
              <a:noFill/>
            </a:ln>
          </p:spPr>
        </p:sp>
        <p:sp>
          <p:nvSpPr>
            <p:cNvPr id="79" name="TextBox 79"/>
            <p:cNvSpPr txBox="1"/>
            <p:nvPr/>
          </p:nvSpPr>
          <p:spPr>
            <a:xfrm>
              <a:off x="4314825" y="3319462"/>
              <a:ext cx="51435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数据可视化</a:t>
              </a:r>
            </a:p>
          </p:txBody>
        </p:sp>
        <p:sp>
          <p:nvSpPr>
            <p:cNvPr id="80" name="Rectangle 80"/>
            <p:cNvSpPr/>
            <p:nvPr/>
          </p:nvSpPr>
          <p:spPr>
            <a:xfrm>
              <a:off x="4095750" y="3467100"/>
              <a:ext cx="952500" cy="952500"/>
            </a:xfrm>
            <a:prstGeom prst="rect">
              <a:avLst/>
            </a:prstGeom>
            <a:solidFill>
              <a:srgbClr val="FFFFFF"/>
            </a:solidFill>
            <a:ln w="9525">
              <a:solidFill>
                <a:srgbClr val="C9D8BD"/>
              </a:solidFill>
              <a:custDash>
                <a:ds d="300000" sp="200000"/>
              </a:custDash>
            </a:ln>
          </p:spPr>
        </p:sp>
        <p:sp>
          <p:nvSpPr>
            <p:cNvPr id="81" name="TextBox 81"/>
            <p:cNvSpPr txBox="1"/>
            <p:nvPr/>
          </p:nvSpPr>
          <p:spPr>
            <a:xfrm>
              <a:off x="4186238" y="3603784"/>
              <a:ext cx="431165" cy="590550"/>
            </a:xfrm>
            <a:prstGeom prst="rect">
              <a:avLst/>
            </a:prstGeom>
            <a:noFill/>
            <a:ln>
              <a:noFill/>
            </a:ln>
          </p:spPr>
          <p:txBody>
            <a:bodyPr wrap="none" lIns="0" tIns="0" rIns="0" bIns="0" anchor="t" anchorCtr="0">
              <a:spAutoFit/>
            </a:bodyPr>
            <a:lstStyle/>
            <a:p>
              <a:pPr algn="l" marL="76200" indent="-76200">
                <a:lnSpc>
                  <a:spcPts val="1200"/>
                </a:lnSpc>
                <a:buClr>
                  <a:srgbClr val="333333"/>
                </a:buClr>
                <a:buSzTx/>
                <a:buFontTx/>
                <a:buChar char="•"/>
              </a:pPr>
              <a:r>
                <a:rPr lang="zh-CN" sz="680" dirty="0">
                  <a:solidFill>
                    <a:srgbClr val="333333"/>
                  </a:solidFill>
                  <a:latin typeface="+mn-lt"/>
                  <a:ea typeface="+mn-ea"/>
                  <a:cs typeface="+mn-cs"/>
                </a:rPr>
                <a:t>指标监控</a:t>
              </a:r>
            </a:p>
            <a:p>
              <a:pPr algn="l" marL="76200" indent="-76200">
                <a:lnSpc>
                  <a:spcPts val="1200"/>
                </a:lnSpc>
                <a:buClr>
                  <a:srgbClr val="333333"/>
                </a:buClr>
                <a:buSzTx/>
                <a:buFontTx/>
                <a:buChar char="•"/>
              </a:pPr>
              <a:r>
                <a:rPr lang="zh-CN" sz="680" dirty="0">
                  <a:solidFill>
                    <a:srgbClr val="333333"/>
                  </a:solidFill>
                  <a:latin typeface="+mn-lt"/>
                  <a:ea typeface="+mn-ea"/>
                  <a:cs typeface="+mn-cs"/>
                </a:rPr>
                <a:t>云图</a:t>
              </a:r>
            </a:p>
            <a:p>
              <a:pPr algn="l" marL="76200" indent="-76200">
                <a:lnSpc>
                  <a:spcPts val="1200"/>
                </a:lnSpc>
                <a:buClr>
                  <a:srgbClr val="333333"/>
                </a:buClr>
                <a:buSzTx/>
                <a:buFontTx/>
                <a:buChar char="•"/>
              </a:pPr>
              <a:r>
                <a:rPr lang="zh-CN" sz="680" dirty="0">
                  <a:solidFill>
                    <a:srgbClr val="333333"/>
                  </a:solidFill>
                  <a:latin typeface="+mn-lt"/>
                  <a:ea typeface="+mn-ea"/>
                  <a:cs typeface="+mn-cs"/>
                </a:rPr>
                <a:t>客情系统</a:t>
              </a:r>
            </a:p>
            <a:p>
              <a:pPr algn="l" marL="76200" indent="-76200">
                <a:lnSpc>
                  <a:spcPts val="1200"/>
                </a:lnSpc>
                <a:buClr>
                  <a:srgbClr val="333333"/>
                </a:buClr>
                <a:buSzTx/>
                <a:buFontTx/>
                <a:buChar char="•"/>
              </a:pPr>
              <a:r>
                <a:rPr lang="zh-CN" sz="680" dirty="0">
                  <a:solidFill>
                    <a:srgbClr val="333333"/>
                  </a:solidFill>
                  <a:latin typeface="+mn-lt"/>
                  <a:ea typeface="+mn-ea"/>
                  <a:cs typeface="+mn-cs"/>
                </a:rPr>
                <a:t>大数据</a:t>
              </a:r>
            </a:p>
          </p:txBody>
        </p:sp>
      </p:grpSp>
      <p:grpSp>
        <p:nvGrpSpPr>
          <p:cNvPr id="91" name="role-circles"/>
          <p:cNvGrpSpPr/>
          <p:nvPr/>
        </p:nvGrpSpPr>
        <p:grpSpPr>
          <a:xfrm>
            <a:off x="5359400" y="2019300"/>
            <a:ext cx="1092200" cy="2057400"/>
            <a:chOff x="5359400" y="2019300"/>
            <a:chExt cx="1092200" cy="2057400"/>
          </a:xfrm>
        </p:grpSpPr>
        <p:sp>
          <p:nvSpPr>
            <p:cNvPr id="83" name="Ellipse 83"/>
            <p:cNvSpPr/>
            <p:nvPr/>
          </p:nvSpPr>
          <p:spPr>
            <a:xfrm>
              <a:off x="5543550" y="2019300"/>
              <a:ext cx="723900" cy="723900"/>
            </a:xfrm>
            <a:prstGeom prst="ellipse">
              <a:avLst/>
            </a:prstGeom>
            <a:solidFill>
              <a:srgbClr val="F7B9AE"/>
            </a:solidFill>
            <a:ln>
              <a:noFill/>
            </a:ln>
          </p:spPr>
        </p:sp>
        <p:sp>
          <p:nvSpPr>
            <p:cNvPr id="84" name="TextBox 84"/>
            <p:cNvSpPr txBox="1"/>
            <p:nvPr/>
          </p:nvSpPr>
          <p:spPr>
            <a:xfrm>
              <a:off x="5758815" y="2325052"/>
              <a:ext cx="293370" cy="205359"/>
            </a:xfrm>
            <a:prstGeom prst="rect">
              <a:avLst/>
            </a:prstGeom>
            <a:noFill/>
            <a:ln>
              <a:noFill/>
            </a:ln>
          </p:spPr>
          <p:txBody>
            <a:bodyPr wrap="none" lIns="0" tIns="0" rIns="0" bIns="0" anchor="t" anchorCtr="0">
              <a:spAutoFit/>
            </a:bodyPr>
            <a:lstStyle/>
            <a:p>
              <a:pPr algn="ctr"/>
              <a:r>
                <a:rPr lang="zh-CN" sz="1050" b="1" dirty="0">
                  <a:solidFill>
                    <a:srgbClr val="8A2210"/>
                  </a:solidFill>
                  <a:latin typeface="+mn-lt"/>
                  <a:ea typeface="+mn-ea"/>
                  <a:cs typeface="+mn-cs"/>
                </a:rPr>
                <a:t>用户</a:t>
              </a:r>
            </a:p>
          </p:txBody>
        </p:sp>
        <p:sp>
          <p:nvSpPr>
            <p:cNvPr id="85" name="Ellipse 85"/>
            <p:cNvSpPr/>
            <p:nvPr/>
          </p:nvSpPr>
          <p:spPr>
            <a:xfrm>
              <a:off x="5543550" y="2686050"/>
              <a:ext cx="723900" cy="723900"/>
            </a:xfrm>
            <a:prstGeom prst="ellipse">
              <a:avLst/>
            </a:prstGeom>
            <a:solidFill>
              <a:srgbClr val="F09180"/>
            </a:solidFill>
            <a:ln>
              <a:noFill/>
            </a:ln>
          </p:spPr>
        </p:sp>
        <p:sp>
          <p:nvSpPr>
            <p:cNvPr id="86" name="TextBox 86"/>
            <p:cNvSpPr txBox="1"/>
            <p:nvPr/>
          </p:nvSpPr>
          <p:spPr>
            <a:xfrm>
              <a:off x="5758815" y="2991802"/>
              <a:ext cx="293370" cy="205359"/>
            </a:xfrm>
            <a:prstGeom prst="rect">
              <a:avLst/>
            </a:prstGeom>
            <a:noFill/>
            <a:ln>
              <a:noFill/>
            </a:ln>
          </p:spPr>
          <p:txBody>
            <a:bodyPr wrap="none" lIns="0" tIns="0" rIns="0" bIns="0" anchor="t" anchorCtr="0">
              <a:spAutoFit/>
            </a:bodyPr>
            <a:lstStyle/>
            <a:p>
              <a:pPr algn="ctr"/>
              <a:r>
                <a:rPr lang="zh-CN" sz="1050" b="1" dirty="0">
                  <a:solidFill>
                    <a:srgbClr val="8A2210"/>
                  </a:solidFill>
                  <a:latin typeface="+mn-lt"/>
                  <a:ea typeface="+mn-ea"/>
                  <a:cs typeface="+mn-cs"/>
                </a:rPr>
                <a:t>投顾</a:t>
              </a:r>
            </a:p>
          </p:txBody>
        </p:sp>
        <p:sp>
          <p:nvSpPr>
            <p:cNvPr id="87" name="Ellipse 87"/>
            <p:cNvSpPr/>
            <p:nvPr/>
          </p:nvSpPr>
          <p:spPr>
            <a:xfrm>
              <a:off x="5543550" y="3352800"/>
              <a:ext cx="723900" cy="723900"/>
            </a:xfrm>
            <a:prstGeom prst="ellipse">
              <a:avLst/>
            </a:prstGeom>
            <a:solidFill>
              <a:srgbClr val="E9563C"/>
            </a:solidFill>
            <a:ln>
              <a:noFill/>
            </a:ln>
          </p:spPr>
        </p:sp>
        <p:sp>
          <p:nvSpPr>
            <p:cNvPr id="88" name="TextBox 88"/>
            <p:cNvSpPr txBox="1"/>
            <p:nvPr/>
          </p:nvSpPr>
          <p:spPr>
            <a:xfrm>
              <a:off x="5758815" y="36585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产品</a:t>
              </a:r>
            </a:p>
          </p:txBody>
        </p:sp>
        <p:sp>
          <p:nvSpPr>
            <p:cNvPr id="89" name="Freeform 89"/>
            <p:cNvSpPr/>
            <p:nvPr/>
          </p:nvSpPr>
          <p:spPr>
            <a:xfrm>
              <a:off x="5359400" y="2552700"/>
              <a:ext cx="127000" cy="990600"/>
            </a:xfrm>
            <a:custGeom>
              <a:avLst/>
              <a:gdLst/>
              <a:ahLst/>
              <a:cxnLst/>
              <a:rect l="l" t="t" r="r" b="b"/>
              <a:pathLst>
                <a:path w="127000" h="990600">
                  <a:moveTo>
                    <a:pt x="127000" y="990600"/>
                  </a:moveTo>
                  <a:cubicBezTo>
                    <a:pt x="0" y="660400"/>
                    <a:pt x="0" y="330200"/>
                    <a:pt x="127000" y="0"/>
                  </a:cubicBezTo>
                </a:path>
              </a:pathLst>
            </a:custGeom>
            <a:noFill/>
            <a:ln w="11430">
              <a:solidFill>
                <a:srgbClr val="E9563C"/>
              </a:solidFill>
              <a:custDash>
                <a:ds d="250000" sp="250000"/>
              </a:custDash>
              <a:tailEnd type="triangle" w="lg" len="lg"/>
            </a:ln>
          </p:spPr>
        </p:sp>
        <p:sp>
          <p:nvSpPr>
            <p:cNvPr id="90" name="Freeform 90"/>
            <p:cNvSpPr/>
            <p:nvPr/>
          </p:nvSpPr>
          <p:spPr>
            <a:xfrm>
              <a:off x="6324600" y="2552700"/>
              <a:ext cx="127000" cy="990600"/>
            </a:xfrm>
            <a:custGeom>
              <a:avLst/>
              <a:gdLst/>
              <a:ahLst/>
              <a:cxnLst/>
              <a:rect l="l" t="t" r="r" b="b"/>
              <a:pathLst>
                <a:path w="127000" h="990600">
                  <a:moveTo>
                    <a:pt x="0" y="0"/>
                  </a:moveTo>
                  <a:cubicBezTo>
                    <a:pt x="127000" y="330200"/>
                    <a:pt x="127000" y="660400"/>
                    <a:pt x="0" y="990600"/>
                  </a:cubicBezTo>
                </a:path>
              </a:pathLst>
            </a:custGeom>
            <a:noFill/>
            <a:ln w="11430">
              <a:solidFill>
                <a:srgbClr val="E9563C"/>
              </a:solidFill>
              <a:custDash>
                <a:ds d="250000" sp="250000"/>
              </a:custDash>
              <a:tailEnd type="triangle" w="lg" len="lg"/>
            </a:ln>
          </p:spPr>
        </p:sp>
      </p:grpSp>
      <p:grpSp>
        <p:nvGrpSpPr>
          <p:cNvPr id="97" name="bottom-chain"/>
          <p:cNvGrpSpPr/>
          <p:nvPr/>
        </p:nvGrpSpPr>
        <p:grpSpPr>
          <a:xfrm>
            <a:off x="4000500" y="4476750"/>
            <a:ext cx="3143250" cy="600076"/>
            <a:chOff x="4000500" y="4476750"/>
            <a:chExt cx="3143250" cy="600076"/>
          </a:xfrm>
        </p:grpSpPr>
        <p:sp>
          <p:nvSpPr>
            <p:cNvPr id="92" name="Line 92"/>
            <p:cNvSpPr/>
            <p:nvPr/>
          </p:nvSpPr>
          <p:spPr>
            <a:xfrm>
              <a:off x="5905500" y="4495800"/>
              <a:ext cx="9525" cy="171450"/>
            </a:xfrm>
            <a:custGeom>
              <a:avLst/>
              <a:gdLst/>
              <a:ahLst/>
              <a:cxnLst/>
              <a:rect l="l" t="t" r="r" b="b"/>
              <a:pathLst>
                <a:path w="9525" h="171450">
                  <a:moveTo>
                    <a:pt x="0" y="0"/>
                  </a:moveTo>
                  <a:lnTo>
                    <a:pt x="0" y="171450"/>
                  </a:lnTo>
                </a:path>
              </a:pathLst>
            </a:custGeom>
            <a:noFill/>
            <a:ln w="9525">
              <a:solidFill>
                <a:srgbClr val="E9563C"/>
              </a:solidFill>
              <a:custDash>
                <a:ds d="300000" sp="200000"/>
              </a:custDash>
            </a:ln>
          </p:spPr>
        </p:sp>
        <p:sp>
          <p:nvSpPr>
            <p:cNvPr id="93" name="Line 93"/>
            <p:cNvSpPr/>
            <p:nvPr/>
          </p:nvSpPr>
          <p:spPr>
            <a:xfrm>
              <a:off x="4038600" y="4514850"/>
              <a:ext cx="3067050" cy="285750"/>
            </a:xfrm>
            <a:custGeom>
              <a:avLst/>
              <a:gdLst/>
              <a:ahLst/>
              <a:cxnLst/>
              <a:rect l="l" t="t" r="r" b="b"/>
              <a:pathLst>
                <a:path w="3067050" h="285750">
                  <a:moveTo>
                    <a:pt x="0" y="285750"/>
                  </a:moveTo>
                  <a:lnTo>
                    <a:pt x="3067050" y="0"/>
                  </a:lnTo>
                </a:path>
              </a:pathLst>
            </a:custGeom>
            <a:noFill/>
            <a:ln w="14288">
              <a:solidFill>
                <a:srgbClr val="9C594C"/>
              </a:solidFill>
            </a:ln>
          </p:spPr>
        </p:sp>
        <p:sp>
          <p:nvSpPr>
            <p:cNvPr id="94" name="Ellipse 94"/>
            <p:cNvSpPr/>
            <p:nvPr/>
          </p:nvSpPr>
          <p:spPr>
            <a:xfrm>
              <a:off x="4000500" y="4762500"/>
              <a:ext cx="76200" cy="76200"/>
            </a:xfrm>
            <a:prstGeom prst="ellipse">
              <a:avLst/>
            </a:prstGeom>
            <a:solidFill>
              <a:srgbClr val="9C594C"/>
            </a:solidFill>
            <a:ln>
              <a:noFill/>
            </a:ln>
          </p:spPr>
        </p:sp>
        <p:sp>
          <p:nvSpPr>
            <p:cNvPr id="95" name="Ellipse 95"/>
            <p:cNvSpPr/>
            <p:nvPr/>
          </p:nvSpPr>
          <p:spPr>
            <a:xfrm>
              <a:off x="7067550" y="4476750"/>
              <a:ext cx="76200" cy="76200"/>
            </a:xfrm>
            <a:prstGeom prst="ellipse">
              <a:avLst/>
            </a:prstGeom>
            <a:solidFill>
              <a:srgbClr val="9C594C"/>
            </a:solidFill>
            <a:ln>
              <a:noFill/>
            </a:ln>
          </p:spPr>
        </p:sp>
        <p:sp>
          <p:nvSpPr>
            <p:cNvPr id="96" name="TextBox 96"/>
            <p:cNvSpPr txBox="1"/>
            <p:nvPr/>
          </p:nvSpPr>
          <p:spPr>
            <a:xfrm>
              <a:off x="4129088" y="4929188"/>
              <a:ext cx="233172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根据用户需求，匹配满足需求的产品，并陪伴是服务</a:t>
              </a:r>
            </a:p>
          </p:txBody>
        </p:sp>
      </p:grpSp>
      <p:grpSp>
        <p:nvGrpSpPr>
          <p:cNvPr id="130" name="circles-nest"/>
          <p:cNvGrpSpPr/>
          <p:nvPr/>
        </p:nvGrpSpPr>
        <p:grpSpPr>
          <a:xfrm>
            <a:off x="7191375" y="952500"/>
            <a:ext cx="3238500" cy="4381500"/>
            <a:chOff x="7191375" y="952500"/>
            <a:chExt cx="3238500" cy="4381500"/>
          </a:xfrm>
        </p:grpSpPr>
        <p:sp>
          <p:nvSpPr>
            <p:cNvPr id="98" name="Rectangle 98"/>
            <p:cNvSpPr/>
            <p:nvPr/>
          </p:nvSpPr>
          <p:spPr>
            <a:xfrm>
              <a:off x="7572375" y="952500"/>
              <a:ext cx="1428750" cy="304800"/>
            </a:xfrm>
            <a:prstGeom prst="roundRect">
              <a:avLst>
                <a:gd name="adj" fmla="val 50000"/>
              </a:avLst>
            </a:prstGeom>
            <a:solidFill>
              <a:srgbClr val="9C594C"/>
            </a:solidFill>
            <a:ln>
              <a:noFill/>
            </a:ln>
          </p:spPr>
        </p:sp>
        <p:grpSp>
          <p:nvGrpSpPr>
            <p:cNvPr id="103" name="Group 103"/>
            <p:cNvGrpSpPr/>
            <p:nvPr/>
          </p:nvGrpSpPr>
          <p:grpSpPr>
            <a:xfrm>
              <a:off x="7717631" y="1040606"/>
              <a:ext cx="128588" cy="128588"/>
              <a:chOff x="7717631" y="1040606"/>
              <a:chExt cx="128588" cy="128588"/>
            </a:xfrm>
          </p:grpSpPr>
          <p:sp>
            <p:nvSpPr>
              <p:cNvPr id="99" name="Freeform 99"/>
              <p:cNvSpPr/>
              <p:nvPr/>
            </p:nvSpPr>
            <p:spPr>
              <a:xfrm>
                <a:off x="7731919" y="10406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00" name="Freeform 100"/>
              <p:cNvSpPr/>
              <p:nvPr/>
            </p:nvSpPr>
            <p:spPr>
              <a:xfrm>
                <a:off x="7717631" y="11263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sp>
            <p:nvSpPr>
              <p:cNvPr id="101" name="Freeform 101"/>
              <p:cNvSpPr/>
              <p:nvPr/>
            </p:nvSpPr>
            <p:spPr>
              <a:xfrm>
                <a:off x="7810500" y="10415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FFFFFF"/>
                </a:solidFill>
              </a:ln>
            </p:spPr>
          </p:sp>
          <p:sp>
            <p:nvSpPr>
              <p:cNvPr id="102" name="Freeform 102"/>
              <p:cNvSpPr/>
              <p:nvPr/>
            </p:nvSpPr>
            <p:spPr>
              <a:xfrm>
                <a:off x="7824788" y="11274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FFFFFF"/>
                </a:solidFill>
              </a:ln>
            </p:spPr>
          </p:sp>
        </p:grpSp>
        <p:sp>
          <p:nvSpPr>
            <p:cNvPr id="104" name="TextBox 104"/>
            <p:cNvSpPr txBox="1"/>
            <p:nvPr/>
          </p:nvSpPr>
          <p:spPr>
            <a:xfrm>
              <a:off x="8028178" y="1047274"/>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人生舒适圈</a:t>
              </a:r>
            </a:p>
          </p:txBody>
        </p:sp>
        <p:sp>
          <p:nvSpPr>
            <p:cNvPr id="105" name="Ellipse 105"/>
            <p:cNvSpPr/>
            <p:nvPr/>
          </p:nvSpPr>
          <p:spPr>
            <a:xfrm>
              <a:off x="7191375" y="2095500"/>
              <a:ext cx="3238500" cy="3238500"/>
            </a:xfrm>
            <a:prstGeom prst="ellipse">
              <a:avLst/>
            </a:prstGeom>
            <a:solidFill>
              <a:srgbClr val="FFFFFF"/>
            </a:solidFill>
            <a:ln w="19050">
              <a:solidFill>
                <a:srgbClr val="F09180"/>
              </a:solidFill>
              <a:custDash>
                <a:ds d="300000" sp="200000"/>
              </a:custDash>
            </a:ln>
          </p:spPr>
        </p:sp>
        <p:sp>
          <p:nvSpPr>
            <p:cNvPr id="106" name="Ellipse 106"/>
            <p:cNvSpPr/>
            <p:nvPr/>
          </p:nvSpPr>
          <p:spPr>
            <a:xfrm>
              <a:off x="7334250" y="1857375"/>
              <a:ext cx="2667000" cy="2667000"/>
            </a:xfrm>
            <a:prstGeom prst="ellipse">
              <a:avLst/>
            </a:prstGeom>
            <a:solidFill>
              <a:srgbClr val="FDF6E7"/>
            </a:solidFill>
            <a:ln w="14288">
              <a:solidFill>
                <a:srgbClr val="E9563C"/>
              </a:solidFill>
            </a:ln>
          </p:spPr>
        </p:sp>
        <p:sp>
          <p:nvSpPr>
            <p:cNvPr id="107" name="Ellipse 107"/>
            <p:cNvSpPr/>
            <p:nvPr/>
          </p:nvSpPr>
          <p:spPr>
            <a:xfrm>
              <a:off x="7572375" y="1714500"/>
              <a:ext cx="1905000" cy="1905000"/>
            </a:xfrm>
            <a:prstGeom prst="ellipse">
              <a:avLst/>
            </a:prstGeom>
            <a:solidFill>
              <a:srgbClr val="DFF0D2"/>
            </a:solidFill>
            <a:ln w="14288">
              <a:solidFill>
                <a:srgbClr val="BF857A"/>
              </a:solidFill>
            </a:ln>
          </p:spPr>
        </p:sp>
        <p:sp>
          <p:nvSpPr>
            <p:cNvPr id="108" name="Ellipse 108"/>
            <p:cNvSpPr/>
            <p:nvPr/>
          </p:nvSpPr>
          <p:spPr>
            <a:xfrm>
              <a:off x="7877175" y="1638300"/>
              <a:ext cx="1104900" cy="1104900"/>
            </a:xfrm>
            <a:prstGeom prst="ellipse">
              <a:avLst/>
            </a:prstGeom>
            <a:solidFill>
              <a:srgbClr val="9C594C"/>
            </a:solidFill>
            <a:ln>
              <a:noFill/>
            </a:ln>
          </p:spPr>
        </p:sp>
        <p:sp>
          <p:nvSpPr>
            <p:cNvPr id="109" name="TextBox 109"/>
            <p:cNvSpPr txBox="1"/>
            <p:nvPr/>
          </p:nvSpPr>
          <p:spPr>
            <a:xfrm>
              <a:off x="8212265" y="2153602"/>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舒适圈</a:t>
              </a:r>
            </a:p>
          </p:txBody>
        </p:sp>
        <p:sp>
          <p:nvSpPr>
            <p:cNvPr id="110" name="TextBox 110"/>
            <p:cNvSpPr txBox="1"/>
            <p:nvPr/>
          </p:nvSpPr>
          <p:spPr>
            <a:xfrm>
              <a:off x="8128724" y="1874282"/>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不断努力</a:t>
              </a:r>
            </a:p>
          </p:txBody>
        </p:sp>
        <p:sp>
          <p:nvSpPr>
            <p:cNvPr id="111" name="TextBox 111"/>
            <p:cNvSpPr txBox="1"/>
            <p:nvPr/>
          </p:nvSpPr>
          <p:spPr>
            <a:xfrm>
              <a:off x="8443049" y="1988582"/>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熟悉的人</a:t>
              </a:r>
            </a:p>
          </p:txBody>
        </p:sp>
        <p:sp>
          <p:nvSpPr>
            <p:cNvPr id="112" name="TextBox 112"/>
            <p:cNvSpPr txBox="1"/>
            <p:nvPr/>
          </p:nvSpPr>
          <p:spPr>
            <a:xfrm>
              <a:off x="8014424" y="2369582"/>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安全可控</a:t>
              </a:r>
            </a:p>
          </p:txBody>
        </p:sp>
        <p:sp>
          <p:nvSpPr>
            <p:cNvPr id="113" name="TextBox 113"/>
            <p:cNvSpPr txBox="1"/>
            <p:nvPr/>
          </p:nvSpPr>
          <p:spPr>
            <a:xfrm>
              <a:off x="8452574" y="2483882"/>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擅长的事</a:t>
              </a:r>
            </a:p>
          </p:txBody>
        </p:sp>
        <p:sp>
          <p:nvSpPr>
            <p:cNvPr id="114" name="TextBox 114"/>
            <p:cNvSpPr txBox="1"/>
            <p:nvPr/>
          </p:nvSpPr>
          <p:spPr>
            <a:xfrm>
              <a:off x="8164640" y="2991802"/>
              <a:ext cx="434721"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恐惧圈</a:t>
              </a:r>
            </a:p>
          </p:txBody>
        </p:sp>
        <p:sp>
          <p:nvSpPr>
            <p:cNvPr id="115" name="TextBox 115"/>
            <p:cNvSpPr txBox="1"/>
            <p:nvPr/>
          </p:nvSpPr>
          <p:spPr>
            <a:xfrm>
              <a:off x="7717904" y="2813209"/>
              <a:ext cx="375691"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陌生的人</a:t>
              </a:r>
            </a:p>
          </p:txBody>
        </p:sp>
        <p:sp>
          <p:nvSpPr>
            <p:cNvPr id="116" name="TextBox 116"/>
            <p:cNvSpPr txBox="1"/>
            <p:nvPr/>
          </p:nvSpPr>
          <p:spPr>
            <a:xfrm>
              <a:off x="8815134" y="2813209"/>
              <a:ext cx="467233"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不擅长的事</a:t>
              </a:r>
            </a:p>
          </p:txBody>
        </p:sp>
        <p:sp>
          <p:nvSpPr>
            <p:cNvPr id="117" name="TextBox 117"/>
            <p:cNvSpPr txBox="1"/>
            <p:nvPr/>
          </p:nvSpPr>
          <p:spPr>
            <a:xfrm>
              <a:off x="8148384" y="3203734"/>
              <a:ext cx="467233"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没什么把握</a:t>
              </a:r>
            </a:p>
          </p:txBody>
        </p:sp>
        <p:sp>
          <p:nvSpPr>
            <p:cNvPr id="118" name="TextBox 118"/>
            <p:cNvSpPr txBox="1"/>
            <p:nvPr/>
          </p:nvSpPr>
          <p:spPr>
            <a:xfrm>
              <a:off x="8355140" y="3963352"/>
              <a:ext cx="434721"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学习圈</a:t>
              </a:r>
            </a:p>
          </p:txBody>
        </p:sp>
        <p:sp>
          <p:nvSpPr>
            <p:cNvPr id="119" name="TextBox 119"/>
            <p:cNvSpPr txBox="1"/>
            <p:nvPr/>
          </p:nvSpPr>
          <p:spPr>
            <a:xfrm>
              <a:off x="9196134" y="3260884"/>
              <a:ext cx="467233"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复盘和优化</a:t>
              </a:r>
            </a:p>
          </p:txBody>
        </p:sp>
        <p:sp>
          <p:nvSpPr>
            <p:cNvPr id="120" name="TextBox 120"/>
            <p:cNvSpPr txBox="1"/>
            <p:nvPr/>
          </p:nvSpPr>
          <p:spPr>
            <a:xfrm>
              <a:off x="9003779" y="3546634"/>
              <a:ext cx="375691"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不断试错</a:t>
              </a:r>
            </a:p>
          </p:txBody>
        </p:sp>
        <p:sp>
          <p:nvSpPr>
            <p:cNvPr id="121" name="TextBox 121"/>
            <p:cNvSpPr txBox="1"/>
            <p:nvPr/>
          </p:nvSpPr>
          <p:spPr>
            <a:xfrm>
              <a:off x="7479779" y="3565684"/>
              <a:ext cx="375691"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面对挑战</a:t>
              </a:r>
            </a:p>
          </p:txBody>
        </p:sp>
        <p:sp>
          <p:nvSpPr>
            <p:cNvPr id="122" name="TextBox 122"/>
            <p:cNvSpPr txBox="1"/>
            <p:nvPr/>
          </p:nvSpPr>
          <p:spPr>
            <a:xfrm>
              <a:off x="8102613" y="3737134"/>
              <a:ext cx="558775"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大量刻意学习</a:t>
              </a:r>
            </a:p>
          </p:txBody>
        </p:sp>
        <p:sp>
          <p:nvSpPr>
            <p:cNvPr id="123" name="TextBox 123"/>
            <p:cNvSpPr txBox="1"/>
            <p:nvPr/>
          </p:nvSpPr>
          <p:spPr>
            <a:xfrm>
              <a:off x="8384654" y="4194334"/>
              <a:ext cx="375691"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分解目标</a:t>
              </a:r>
            </a:p>
          </p:txBody>
        </p:sp>
        <p:sp>
          <p:nvSpPr>
            <p:cNvPr id="124" name="TextBox 124"/>
            <p:cNvSpPr txBox="1"/>
            <p:nvPr/>
          </p:nvSpPr>
          <p:spPr>
            <a:xfrm>
              <a:off x="7432154" y="4194334"/>
              <a:ext cx="375691"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设定目标</a:t>
              </a:r>
            </a:p>
          </p:txBody>
        </p:sp>
        <p:sp>
          <p:nvSpPr>
            <p:cNvPr id="125" name="TextBox 125"/>
            <p:cNvSpPr txBox="1"/>
            <p:nvPr/>
          </p:nvSpPr>
          <p:spPr>
            <a:xfrm>
              <a:off x="8545640" y="4858702"/>
              <a:ext cx="434721"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成长圈</a:t>
              </a:r>
            </a:p>
          </p:txBody>
        </p:sp>
        <p:sp>
          <p:nvSpPr>
            <p:cNvPr id="126" name="TextBox 126"/>
            <p:cNvSpPr txBox="1"/>
            <p:nvPr/>
          </p:nvSpPr>
          <p:spPr>
            <a:xfrm>
              <a:off x="7546454" y="4556284"/>
              <a:ext cx="375691" cy="133350"/>
            </a:xfrm>
            <a:prstGeom prst="rect">
              <a:avLst/>
            </a:prstGeom>
            <a:noFill/>
            <a:ln>
              <a:noFill/>
            </a:ln>
          </p:spPr>
          <p:txBody>
            <a:bodyPr wrap="none" lIns="0" tIns="0" rIns="0" bIns="0" anchor="t" anchorCtr="0">
              <a:spAutoFit/>
            </a:bodyPr>
            <a:lstStyle/>
            <a:p>
              <a:pPr algn="ctr"/>
              <a:r>
                <a:rPr lang="zh-CN" sz="680" dirty="0">
                  <a:solidFill>
                    <a:srgbClr val="D6391E"/>
                  </a:solidFill>
                  <a:latin typeface="+mn-lt"/>
                  <a:ea typeface="+mn-ea"/>
                  <a:cs typeface="+mn-cs"/>
                </a:rPr>
                <a:t>拥有梦想</a:t>
              </a:r>
            </a:p>
          </p:txBody>
        </p:sp>
        <p:sp>
          <p:nvSpPr>
            <p:cNvPr id="127" name="TextBox 127"/>
            <p:cNvSpPr txBox="1"/>
            <p:nvPr/>
          </p:nvSpPr>
          <p:spPr>
            <a:xfrm>
              <a:off x="7765529" y="4861084"/>
              <a:ext cx="375691" cy="133350"/>
            </a:xfrm>
            <a:prstGeom prst="rect">
              <a:avLst/>
            </a:prstGeom>
            <a:noFill/>
            <a:ln>
              <a:noFill/>
            </a:ln>
          </p:spPr>
          <p:txBody>
            <a:bodyPr wrap="none" lIns="0" tIns="0" rIns="0" bIns="0" anchor="t" anchorCtr="0">
              <a:spAutoFit/>
            </a:bodyPr>
            <a:lstStyle/>
            <a:p>
              <a:pPr algn="ctr"/>
              <a:r>
                <a:rPr lang="zh-CN" sz="680" dirty="0">
                  <a:solidFill>
                    <a:srgbClr val="D6391E"/>
                  </a:solidFill>
                  <a:latin typeface="+mn-lt"/>
                  <a:ea typeface="+mn-ea"/>
                  <a:cs typeface="+mn-cs"/>
                </a:rPr>
                <a:t>调动资源</a:t>
              </a:r>
            </a:p>
          </p:txBody>
        </p:sp>
        <p:sp>
          <p:nvSpPr>
            <p:cNvPr id="128" name="TextBox 128"/>
            <p:cNvSpPr txBox="1"/>
            <p:nvPr/>
          </p:nvSpPr>
          <p:spPr>
            <a:xfrm>
              <a:off x="9641954" y="4441984"/>
              <a:ext cx="375691" cy="133350"/>
            </a:xfrm>
            <a:prstGeom prst="rect">
              <a:avLst/>
            </a:prstGeom>
            <a:noFill/>
            <a:ln>
              <a:noFill/>
            </a:ln>
          </p:spPr>
          <p:txBody>
            <a:bodyPr wrap="none" lIns="0" tIns="0" rIns="0" bIns="0" anchor="t" anchorCtr="0">
              <a:spAutoFit/>
            </a:bodyPr>
            <a:lstStyle/>
            <a:p>
              <a:pPr algn="ctr"/>
              <a:r>
                <a:rPr lang="zh-CN" sz="680" dirty="0">
                  <a:solidFill>
                    <a:srgbClr val="D6391E"/>
                  </a:solidFill>
                  <a:latin typeface="+mn-lt"/>
                  <a:ea typeface="+mn-ea"/>
                  <a:cs typeface="+mn-cs"/>
                </a:rPr>
                <a:t>合作共赢</a:t>
              </a:r>
            </a:p>
          </p:txBody>
        </p:sp>
        <p:sp>
          <p:nvSpPr>
            <p:cNvPr id="129" name="TextBox 129"/>
            <p:cNvSpPr txBox="1"/>
            <p:nvPr/>
          </p:nvSpPr>
          <p:spPr>
            <a:xfrm>
              <a:off x="9432404" y="5051584"/>
              <a:ext cx="375691" cy="133350"/>
            </a:xfrm>
            <a:prstGeom prst="rect">
              <a:avLst/>
            </a:prstGeom>
            <a:noFill/>
            <a:ln>
              <a:noFill/>
            </a:ln>
          </p:spPr>
          <p:txBody>
            <a:bodyPr wrap="none" lIns="0" tIns="0" rIns="0" bIns="0" anchor="t" anchorCtr="0">
              <a:spAutoFit/>
            </a:bodyPr>
            <a:lstStyle/>
            <a:p>
              <a:pPr algn="ctr"/>
              <a:r>
                <a:rPr lang="zh-CN" sz="680" dirty="0">
                  <a:solidFill>
                    <a:srgbClr val="D6391E"/>
                  </a:solidFill>
                  <a:latin typeface="+mn-lt"/>
                  <a:ea typeface="+mn-ea"/>
                  <a:cs typeface="+mn-cs"/>
                </a:rPr>
                <a:t>拥有梦想</a:t>
              </a:r>
            </a:p>
          </p:txBody>
        </p:sp>
      </p:grpSp>
      <p:grpSp>
        <p:nvGrpSpPr>
          <p:cNvPr id="132" name="closing-quote"/>
          <p:cNvGrpSpPr/>
          <p:nvPr/>
        </p:nvGrpSpPr>
        <p:grpSpPr>
          <a:xfrm>
            <a:off x="8314945" y="5793581"/>
            <a:ext cx="2343910" cy="220028"/>
            <a:chOff x="8314945" y="5793581"/>
            <a:chExt cx="2343910" cy="220028"/>
          </a:xfrm>
        </p:grpSpPr>
        <p:sp>
          <p:nvSpPr>
            <p:cNvPr id="131" name="TextBox 131"/>
            <p:cNvSpPr txBox="1"/>
            <p:nvPr/>
          </p:nvSpPr>
          <p:spPr>
            <a:xfrm>
              <a:off x="8314945" y="5793581"/>
              <a:ext cx="2343910" cy="220028"/>
            </a:xfrm>
            <a:prstGeom prst="rect">
              <a:avLst/>
            </a:prstGeom>
            <a:noFill/>
            <a:ln>
              <a:noFill/>
            </a:ln>
          </p:spPr>
          <p:txBody>
            <a:bodyPr wrap="none" lIns="0" tIns="0" rIns="0" bIns="0" anchor="t" anchorCtr="0">
              <a:spAutoFit/>
            </a:bodyPr>
            <a:lstStyle/>
            <a:p>
              <a:pPr algn="ctr"/>
              <a:r>
                <a:rPr lang="zh-CN" sz="1120" b="1" dirty="0">
                  <a:solidFill>
                    <a:srgbClr val="7A3E33"/>
                  </a:solidFill>
                  <a:latin typeface="+mn-lt"/>
                  <a:ea typeface="+mn-ea"/>
                  <a:cs typeface="+mn-cs"/>
                </a:rPr>
                <a:t>“有效的人生规划 从顶层设计开始”</a:t>
              </a:r>
            </a:p>
          </p:txBody>
        </p:sp>
      </p:grpSp>
      <p:grpSp>
        <p:nvGrpSpPr>
          <p:cNvPr id="135" name="page-footer"/>
          <p:cNvGrpSpPr/>
          <p:nvPr/>
        </p:nvGrpSpPr>
        <p:grpSpPr>
          <a:xfrm>
            <a:off x="376238" y="6689884"/>
            <a:ext cx="11439524" cy="133350"/>
            <a:chOff x="376238" y="6689884"/>
            <a:chExt cx="11439524" cy="133350"/>
          </a:xfrm>
        </p:grpSpPr>
        <p:sp>
          <p:nvSpPr>
            <p:cNvPr id="133" name="TextBox 133"/>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34" name="TextBox 134"/>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14</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41" name="loop-circle"/>
          <p:cNvGrpSpPr/>
          <p:nvPr/>
        </p:nvGrpSpPr>
        <p:grpSpPr>
          <a:xfrm>
            <a:off x="461391" y="1285875"/>
            <a:ext cx="4830318" cy="4102036"/>
            <a:chOff x="461391" y="1285875"/>
            <a:chExt cx="4830318" cy="4102036"/>
          </a:xfrm>
        </p:grpSpPr>
        <p:sp>
          <p:nvSpPr>
            <p:cNvPr id="8" name="Ellipse 8"/>
            <p:cNvSpPr/>
            <p:nvPr/>
          </p:nvSpPr>
          <p:spPr>
            <a:xfrm>
              <a:off x="809625" y="1285875"/>
              <a:ext cx="4095750" cy="4095750"/>
            </a:xfrm>
            <a:prstGeom prst="ellipse">
              <a:avLst/>
            </a:prstGeom>
            <a:solidFill>
              <a:srgbClr val="F7FBF4"/>
            </a:solidFill>
            <a:ln w="28575">
              <a:solidFill>
                <a:srgbClr val="BF857A"/>
              </a:solidFill>
            </a:ln>
          </p:spPr>
        </p:sp>
        <p:sp>
          <p:nvSpPr>
            <p:cNvPr id="9" name="TextBox 9"/>
            <p:cNvSpPr txBox="1"/>
            <p:nvPr/>
          </p:nvSpPr>
          <p:spPr>
            <a:xfrm>
              <a:off x="2569464" y="1391602"/>
              <a:ext cx="576072" cy="205359"/>
            </a:xfrm>
            <a:prstGeom prst="rect">
              <a:avLst/>
            </a:prstGeom>
            <a:noFill/>
            <a:ln>
              <a:noFill/>
            </a:ln>
          </p:spPr>
          <p:txBody>
            <a:bodyPr wrap="none" lIns="0" tIns="0" rIns="0" bIns="0" anchor="t" anchorCtr="0">
              <a:spAutoFit/>
            </a:bodyPr>
            <a:lstStyle/>
            <a:p>
              <a:pPr algn="ctr"/>
              <a:r>
                <a:rPr lang="zh-CN" sz="1050" b="1" dirty="0">
                  <a:solidFill>
                    <a:srgbClr val="7A3E33"/>
                  </a:solidFill>
                  <a:latin typeface="+mn-lt"/>
                  <a:ea typeface="+mn-ea"/>
                  <a:cs typeface="+mn-cs"/>
                </a:rPr>
                <a:t>数据驱动</a:t>
              </a:r>
            </a:p>
          </p:txBody>
        </p:sp>
        <p:sp>
          <p:nvSpPr>
            <p:cNvPr id="10" name="TextBox 10"/>
            <p:cNvSpPr txBox="1"/>
            <p:nvPr/>
          </p:nvSpPr>
          <p:spPr>
            <a:xfrm>
              <a:off x="2569464" y="5182552"/>
              <a:ext cx="576072" cy="205359"/>
            </a:xfrm>
            <a:prstGeom prst="rect">
              <a:avLst/>
            </a:prstGeom>
            <a:noFill/>
            <a:ln>
              <a:noFill/>
            </a:ln>
          </p:spPr>
          <p:txBody>
            <a:bodyPr wrap="none" lIns="0" tIns="0" rIns="0" bIns="0" anchor="t" anchorCtr="0">
              <a:spAutoFit/>
            </a:bodyPr>
            <a:lstStyle/>
            <a:p>
              <a:pPr algn="ctr"/>
              <a:r>
                <a:rPr lang="zh-CN" sz="1050" b="1" dirty="0">
                  <a:solidFill>
                    <a:srgbClr val="7A3E33"/>
                  </a:solidFill>
                  <a:latin typeface="+mn-lt"/>
                  <a:ea typeface="+mn-ea"/>
                  <a:cs typeface="+mn-cs"/>
                </a:rPr>
                <a:t>降低增效</a:t>
              </a:r>
            </a:p>
          </p:txBody>
        </p:sp>
        <p:sp>
          <p:nvSpPr>
            <p:cNvPr id="11" name="TextBox 11"/>
            <p:cNvSpPr txBox="1"/>
            <p:nvPr/>
          </p:nvSpPr>
          <p:spPr>
            <a:xfrm>
              <a:off x="461391" y="3125152"/>
              <a:ext cx="144018" cy="395859"/>
            </a:xfrm>
            <a:prstGeom prst="rect">
              <a:avLst/>
            </a:prstGeom>
            <a:noFill/>
            <a:ln>
              <a:noFill/>
            </a:ln>
          </p:spPr>
          <p:txBody>
            <a:bodyPr wrap="none" lIns="0" tIns="0" rIns="0" bIns="0" anchor="t" anchorCtr="0">
              <a:spAutoFit/>
            </a:bodyPr>
            <a:lstStyle/>
            <a:p>
              <a:pPr algn="ctr">
                <a:lnSpc>
                  <a:spcPts val="1500"/>
                </a:lnSpc>
              </a:pPr>
              <a:r>
                <a:rPr lang="zh-CN" sz="1050" b="1" dirty="0">
                  <a:solidFill>
                    <a:srgbClr val="7A3E33"/>
                  </a:solidFill>
                  <a:latin typeface="+mn-lt"/>
                  <a:ea typeface="+mn-ea"/>
                  <a:cs typeface="+mn-cs"/>
                </a:rPr>
                <a:t>运</a:t>
              </a:r>
              <a:br/>
              <a:r>
                <a:rPr lang="zh-CN" sz="1050" b="1" dirty="0">
                  <a:solidFill>
                    <a:srgbClr val="7A3E33"/>
                  </a:solidFill>
                  <a:latin typeface="+mn-lt"/>
                  <a:ea typeface="+mn-ea"/>
                  <a:cs typeface="+mn-cs"/>
                </a:rPr>
                <a:t>行</a:t>
              </a:r>
            </a:p>
          </p:txBody>
        </p:sp>
        <p:sp>
          <p:nvSpPr>
            <p:cNvPr id="12" name="TextBox 12"/>
            <p:cNvSpPr txBox="1"/>
            <p:nvPr/>
          </p:nvSpPr>
          <p:spPr>
            <a:xfrm>
              <a:off x="5147691" y="3125152"/>
              <a:ext cx="144018" cy="395859"/>
            </a:xfrm>
            <a:prstGeom prst="rect">
              <a:avLst/>
            </a:prstGeom>
            <a:noFill/>
            <a:ln>
              <a:noFill/>
            </a:ln>
          </p:spPr>
          <p:txBody>
            <a:bodyPr wrap="none" lIns="0" tIns="0" rIns="0" bIns="0" anchor="t" anchorCtr="0">
              <a:spAutoFit/>
            </a:bodyPr>
            <a:lstStyle/>
            <a:p>
              <a:pPr algn="ctr">
                <a:lnSpc>
                  <a:spcPts val="1500"/>
                </a:lnSpc>
              </a:pPr>
              <a:r>
                <a:rPr lang="zh-CN" sz="1050" b="1" dirty="0">
                  <a:solidFill>
                    <a:srgbClr val="7A3E33"/>
                  </a:solidFill>
                  <a:latin typeface="+mn-lt"/>
                  <a:ea typeface="+mn-ea"/>
                  <a:cs typeface="+mn-cs"/>
                </a:rPr>
                <a:t>执</a:t>
              </a:r>
              <a:br/>
              <a:r>
                <a:rPr lang="zh-CN" sz="1050" b="1" dirty="0">
                  <a:solidFill>
                    <a:srgbClr val="7A3E33"/>
                  </a:solidFill>
                  <a:latin typeface="+mn-lt"/>
                  <a:ea typeface="+mn-ea"/>
                  <a:cs typeface="+mn-cs"/>
                </a:rPr>
                <a:t>行</a:t>
              </a:r>
            </a:p>
          </p:txBody>
        </p:sp>
        <p:sp>
          <p:nvSpPr>
            <p:cNvPr id="13" name="TextBox 13"/>
            <p:cNvSpPr txBox="1"/>
            <p:nvPr/>
          </p:nvSpPr>
          <p:spPr>
            <a:xfrm>
              <a:off x="1319886" y="1859756"/>
              <a:ext cx="312979" cy="220028"/>
            </a:xfrm>
            <a:prstGeom prst="rect">
              <a:avLst/>
            </a:prstGeom>
            <a:noFill/>
            <a:ln>
              <a:noFill/>
            </a:ln>
          </p:spPr>
          <p:txBody>
            <a:bodyPr wrap="none" lIns="0" tIns="0" rIns="0" bIns="0" anchor="t" anchorCtr="0">
              <a:spAutoFit/>
            </a:bodyPr>
            <a:lstStyle/>
            <a:p>
              <a:pPr algn="ctr"/>
              <a:r>
                <a:rPr lang="zh-CN" sz="1120" b="1" dirty="0">
                  <a:solidFill>
                    <a:srgbClr val="7A3E33"/>
                  </a:solidFill>
                  <a:latin typeface="+mn-lt"/>
                  <a:ea typeface="+mn-ea"/>
                  <a:cs typeface="+mn-cs"/>
                </a:rPr>
                <a:t>应用</a:t>
              </a:r>
            </a:p>
          </p:txBody>
        </p:sp>
        <p:sp>
          <p:nvSpPr>
            <p:cNvPr id="14" name="TextBox 14"/>
            <p:cNvSpPr txBox="1"/>
            <p:nvPr/>
          </p:nvSpPr>
          <p:spPr>
            <a:xfrm>
              <a:off x="1207567" y="2161699"/>
              <a:ext cx="537616"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平台管理</a:t>
              </a:r>
            </a:p>
          </p:txBody>
        </p:sp>
        <p:sp>
          <p:nvSpPr>
            <p:cNvPr id="15" name="TextBox 15"/>
            <p:cNvSpPr txBox="1"/>
            <p:nvPr/>
          </p:nvSpPr>
          <p:spPr>
            <a:xfrm>
              <a:off x="3502736" y="1859756"/>
              <a:ext cx="614528" cy="220028"/>
            </a:xfrm>
            <a:prstGeom prst="rect">
              <a:avLst/>
            </a:prstGeom>
            <a:noFill/>
            <a:ln>
              <a:noFill/>
            </a:ln>
          </p:spPr>
          <p:txBody>
            <a:bodyPr wrap="none" lIns="0" tIns="0" rIns="0" bIns="0" anchor="t" anchorCtr="0">
              <a:spAutoFit/>
            </a:bodyPr>
            <a:lstStyle/>
            <a:p>
              <a:pPr algn="ctr"/>
              <a:r>
                <a:rPr lang="zh-CN" sz="1120" b="1" dirty="0">
                  <a:solidFill>
                    <a:srgbClr val="7A3E33"/>
                  </a:solidFill>
                  <a:latin typeface="+mn-lt"/>
                  <a:ea typeface="+mn-ea"/>
                  <a:cs typeface="+mn-cs"/>
                </a:rPr>
                <a:t>执行运营</a:t>
              </a:r>
            </a:p>
          </p:txBody>
        </p:sp>
        <p:sp>
          <p:nvSpPr>
            <p:cNvPr id="16" name="TextBox 16"/>
            <p:cNvSpPr txBox="1"/>
            <p:nvPr/>
          </p:nvSpPr>
          <p:spPr>
            <a:xfrm>
              <a:off x="3541192" y="2161699"/>
              <a:ext cx="537616"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开发应用</a:t>
              </a:r>
            </a:p>
          </p:txBody>
        </p:sp>
        <p:sp>
          <p:nvSpPr>
            <p:cNvPr id="17" name="Line 17"/>
            <p:cNvSpPr/>
            <p:nvPr/>
          </p:nvSpPr>
          <p:spPr>
            <a:xfrm flipH="1">
              <a:off x="2019300" y="2209800"/>
              <a:ext cx="1333500" cy="1"/>
            </a:xfrm>
            <a:prstGeom prst="line">
              <a:avLst/>
            </a:prstGeom>
            <a:noFill/>
            <a:ln w="11430">
              <a:solidFill>
                <a:srgbClr val="9C594C"/>
              </a:solidFill>
              <a:tailEnd type="triangle" w="lg" len="lg"/>
            </a:ln>
          </p:spPr>
        </p:sp>
        <p:sp>
          <p:nvSpPr>
            <p:cNvPr id="18" name="TextBox 18"/>
            <p:cNvSpPr txBox="1"/>
            <p:nvPr/>
          </p:nvSpPr>
          <p:spPr>
            <a:xfrm>
              <a:off x="2478088" y="1950482"/>
              <a:ext cx="41592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595959"/>
                  </a:solidFill>
                  <a:latin typeface="+mn-lt"/>
                  <a:ea typeface="+mn-ea"/>
                  <a:cs typeface="+mn-cs"/>
                </a:rPr>
                <a:t>管理任务的</a:t>
              </a:r>
              <a:br/>
              <a:r>
                <a:rPr lang="zh-CN" sz="640" dirty="0">
                  <a:solidFill>
                    <a:srgbClr val="595959"/>
                  </a:solidFill>
                  <a:latin typeface="+mn-lt"/>
                  <a:ea typeface="+mn-ea"/>
                  <a:cs typeface="+mn-cs"/>
                </a:rPr>
                <a:t>生成与统计</a:t>
              </a:r>
            </a:p>
          </p:txBody>
        </p:sp>
        <p:sp>
          <p:nvSpPr>
            <p:cNvPr id="19" name="TextBox 19"/>
            <p:cNvSpPr txBox="1"/>
            <p:nvPr/>
          </p:nvSpPr>
          <p:spPr>
            <a:xfrm>
              <a:off x="2356168" y="2293382"/>
              <a:ext cx="65976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595959"/>
                  </a:solidFill>
                  <a:latin typeface="+mn-lt"/>
                  <a:ea typeface="+mn-ea"/>
                  <a:cs typeface="+mn-cs"/>
                </a:rPr>
                <a:t>实现品牌检查信息</a:t>
              </a:r>
              <a:br/>
              <a:r>
                <a:rPr lang="zh-CN" sz="640" dirty="0">
                  <a:solidFill>
                    <a:srgbClr val="595959"/>
                  </a:solidFill>
                  <a:latin typeface="+mn-lt"/>
                  <a:ea typeface="+mn-ea"/>
                  <a:cs typeface="+mn-cs"/>
                </a:rPr>
                <a:t>自动化获取</a:t>
              </a:r>
            </a:p>
          </p:txBody>
        </p:sp>
        <p:sp>
          <p:nvSpPr>
            <p:cNvPr id="20" name="Line 20"/>
            <p:cNvSpPr/>
            <p:nvPr/>
          </p:nvSpPr>
          <p:spPr>
            <a:xfrm>
              <a:off x="1476375" y="2381250"/>
              <a:ext cx="1" cy="1352550"/>
            </a:xfrm>
            <a:prstGeom prst="line">
              <a:avLst/>
            </a:prstGeom>
            <a:noFill/>
            <a:ln w="11430">
              <a:solidFill>
                <a:srgbClr val="9C594C"/>
              </a:solidFill>
              <a:tailEnd type="triangle" w="lg" len="lg"/>
            </a:ln>
          </p:spPr>
        </p:sp>
        <p:sp>
          <p:nvSpPr>
            <p:cNvPr id="21" name="TextBox 21"/>
            <p:cNvSpPr txBox="1"/>
            <p:nvPr/>
          </p:nvSpPr>
          <p:spPr>
            <a:xfrm>
              <a:off x="1076008" y="2941082"/>
              <a:ext cx="17208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595959"/>
                  </a:solidFill>
                  <a:latin typeface="+mn-lt"/>
                  <a:ea typeface="+mn-ea"/>
                  <a:cs typeface="+mn-cs"/>
                </a:rPr>
                <a:t>信息</a:t>
              </a:r>
              <a:br/>
              <a:r>
                <a:rPr lang="zh-CN" sz="640" dirty="0">
                  <a:solidFill>
                    <a:srgbClr val="595959"/>
                  </a:solidFill>
                  <a:latin typeface="+mn-lt"/>
                  <a:ea typeface="+mn-ea"/>
                  <a:cs typeface="+mn-cs"/>
                </a:rPr>
                <a:t>架构</a:t>
              </a:r>
            </a:p>
          </p:txBody>
        </p:sp>
        <p:sp>
          <p:nvSpPr>
            <p:cNvPr id="22" name="Line 22"/>
            <p:cNvSpPr/>
            <p:nvPr/>
          </p:nvSpPr>
          <p:spPr>
            <a:xfrm>
              <a:off x="3810000" y="2381250"/>
              <a:ext cx="1" cy="1352550"/>
            </a:xfrm>
            <a:prstGeom prst="line">
              <a:avLst/>
            </a:prstGeom>
            <a:noFill/>
            <a:ln w="11430">
              <a:solidFill>
                <a:srgbClr val="9C594C"/>
              </a:solidFill>
              <a:tailEnd type="triangle" w="lg" len="lg"/>
            </a:ln>
          </p:spPr>
        </p:sp>
        <p:sp>
          <p:nvSpPr>
            <p:cNvPr id="23" name="TextBox 23"/>
            <p:cNvSpPr txBox="1"/>
            <p:nvPr/>
          </p:nvSpPr>
          <p:spPr>
            <a:xfrm>
              <a:off x="4026218" y="2941082"/>
              <a:ext cx="25336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595959"/>
                  </a:solidFill>
                  <a:latin typeface="+mn-lt"/>
                  <a:ea typeface="+mn-ea"/>
                  <a:cs typeface="+mn-cs"/>
                </a:rPr>
                <a:t>行业</a:t>
              </a:r>
              <a:br/>
              <a:r>
                <a:rPr lang="zh-CN" sz="640" dirty="0">
                  <a:solidFill>
                    <a:srgbClr val="595959"/>
                  </a:solidFill>
                  <a:latin typeface="+mn-lt"/>
                  <a:ea typeface="+mn-ea"/>
                  <a:cs typeface="+mn-cs"/>
                </a:rPr>
                <a:t>数字化</a:t>
              </a:r>
            </a:p>
          </p:txBody>
        </p:sp>
        <p:sp>
          <p:nvSpPr>
            <p:cNvPr id="24" name="TextBox 24"/>
            <p:cNvSpPr txBox="1"/>
            <p:nvPr/>
          </p:nvSpPr>
          <p:spPr>
            <a:xfrm>
              <a:off x="1222502" y="3799999"/>
              <a:ext cx="50774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333333"/>
                  </a:solidFill>
                  <a:latin typeface="+mn-lt"/>
                  <a:ea typeface="+mn-ea"/>
                  <a:cs typeface="+mn-cs"/>
                </a:rPr>
                <a:t>数字化</a:t>
              </a:r>
              <a:br/>
              <a:r>
                <a:rPr lang="zh-CN" sz="980" b="1" dirty="0">
                  <a:solidFill>
                    <a:srgbClr val="333333"/>
                  </a:solidFill>
                  <a:latin typeface="+mn-lt"/>
                  <a:ea typeface="+mn-ea"/>
                  <a:cs typeface="+mn-cs"/>
                </a:rPr>
                <a:t>流程设计</a:t>
              </a:r>
            </a:p>
          </p:txBody>
        </p:sp>
        <p:sp>
          <p:nvSpPr>
            <p:cNvPr id="25" name="TextBox 25"/>
            <p:cNvSpPr txBox="1"/>
            <p:nvPr/>
          </p:nvSpPr>
          <p:spPr>
            <a:xfrm>
              <a:off x="3493897" y="3799999"/>
              <a:ext cx="63220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333333"/>
                  </a:solidFill>
                  <a:latin typeface="+mn-lt"/>
                  <a:ea typeface="+mn-ea"/>
                  <a:cs typeface="+mn-cs"/>
                </a:rPr>
                <a:t>数字化</a:t>
              </a:r>
              <a:br/>
              <a:r>
                <a:rPr lang="zh-CN" sz="980" b="1" dirty="0">
                  <a:solidFill>
                    <a:srgbClr val="333333"/>
                  </a:solidFill>
                  <a:latin typeface="+mn-lt"/>
                  <a:ea typeface="+mn-ea"/>
                  <a:cs typeface="+mn-cs"/>
                </a:rPr>
                <a:t>蓝图和愿景</a:t>
              </a:r>
            </a:p>
          </p:txBody>
        </p:sp>
        <p:sp>
          <p:nvSpPr>
            <p:cNvPr id="26" name="Ellipse 26"/>
            <p:cNvSpPr/>
            <p:nvPr/>
          </p:nvSpPr>
          <p:spPr>
            <a:xfrm>
              <a:off x="2286000" y="2714625"/>
              <a:ext cx="1143000" cy="1143000"/>
            </a:xfrm>
            <a:prstGeom prst="ellipse">
              <a:avLst/>
            </a:prstGeom>
            <a:solidFill>
              <a:srgbClr val="9C594C"/>
            </a:solidFill>
            <a:ln>
              <a:noFill/>
            </a:ln>
          </p:spPr>
        </p:sp>
        <p:sp>
          <p:nvSpPr>
            <p:cNvPr id="27" name="TextBox 27"/>
            <p:cNvSpPr txBox="1"/>
            <p:nvPr/>
          </p:nvSpPr>
          <p:spPr>
            <a:xfrm>
              <a:off x="2610422" y="30651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管理建议</a:t>
              </a:r>
            </a:p>
          </p:txBody>
        </p:sp>
        <p:sp>
          <p:nvSpPr>
            <p:cNvPr id="28" name="TextBox 28"/>
            <p:cNvSpPr txBox="1"/>
            <p:nvPr/>
          </p:nvSpPr>
          <p:spPr>
            <a:xfrm>
              <a:off x="2804758" y="32423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a:t>
              </a:r>
            </a:p>
          </p:txBody>
        </p:sp>
        <p:sp>
          <p:nvSpPr>
            <p:cNvPr id="29" name="TextBox 29"/>
            <p:cNvSpPr txBox="1"/>
            <p:nvPr/>
          </p:nvSpPr>
          <p:spPr>
            <a:xfrm>
              <a:off x="2610422" y="34842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技术建议</a:t>
              </a:r>
            </a:p>
          </p:txBody>
        </p:sp>
        <p:sp>
          <p:nvSpPr>
            <p:cNvPr id="30" name="Line 30"/>
            <p:cNvSpPr/>
            <p:nvPr/>
          </p:nvSpPr>
          <p:spPr>
            <a:xfrm>
              <a:off x="1952625" y="3352800"/>
              <a:ext cx="295275" cy="1"/>
            </a:xfrm>
            <a:prstGeom prst="line">
              <a:avLst/>
            </a:prstGeom>
            <a:noFill/>
            <a:ln w="11430">
              <a:solidFill>
                <a:srgbClr val="9C594C"/>
              </a:solidFill>
              <a:tailEnd type="triangle" w="lg" len="lg"/>
            </a:ln>
          </p:spPr>
        </p:sp>
        <p:sp>
          <p:nvSpPr>
            <p:cNvPr id="31" name="Line 31"/>
            <p:cNvSpPr/>
            <p:nvPr/>
          </p:nvSpPr>
          <p:spPr>
            <a:xfrm flipH="1">
              <a:off x="3295650" y="3352800"/>
              <a:ext cx="171450" cy="1"/>
            </a:xfrm>
            <a:prstGeom prst="line">
              <a:avLst/>
            </a:prstGeom>
            <a:noFill/>
            <a:ln w="11430">
              <a:solidFill>
                <a:srgbClr val="9C594C"/>
              </a:solidFill>
              <a:tailEnd type="triangle" w="lg" len="lg"/>
            </a:ln>
          </p:spPr>
        </p:sp>
        <p:sp>
          <p:nvSpPr>
            <p:cNvPr id="32" name="Line 32"/>
            <p:cNvSpPr/>
            <p:nvPr/>
          </p:nvSpPr>
          <p:spPr>
            <a:xfrm>
              <a:off x="1476375" y="4191000"/>
              <a:ext cx="1" cy="495300"/>
            </a:xfrm>
            <a:prstGeom prst="line">
              <a:avLst/>
            </a:prstGeom>
            <a:noFill/>
            <a:ln w="11430">
              <a:solidFill>
                <a:srgbClr val="9C594C"/>
              </a:solidFill>
              <a:tailEnd type="triangle" w="lg" len="lg"/>
            </a:ln>
          </p:spPr>
        </p:sp>
        <p:sp>
          <p:nvSpPr>
            <p:cNvPr id="33" name="TextBox 33"/>
            <p:cNvSpPr txBox="1"/>
            <p:nvPr/>
          </p:nvSpPr>
          <p:spPr>
            <a:xfrm>
              <a:off x="1076008" y="4331732"/>
              <a:ext cx="17208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595959"/>
                  </a:solidFill>
                  <a:latin typeface="+mn-lt"/>
                  <a:ea typeface="+mn-ea"/>
                  <a:cs typeface="+mn-cs"/>
                </a:rPr>
                <a:t>原型</a:t>
              </a:r>
              <a:br/>
              <a:r>
                <a:rPr lang="zh-CN" sz="640" dirty="0">
                  <a:solidFill>
                    <a:srgbClr val="595959"/>
                  </a:solidFill>
                  <a:latin typeface="+mn-lt"/>
                  <a:ea typeface="+mn-ea"/>
                  <a:cs typeface="+mn-cs"/>
                </a:rPr>
                <a:t>设计</a:t>
              </a:r>
            </a:p>
          </p:txBody>
        </p:sp>
        <p:sp>
          <p:nvSpPr>
            <p:cNvPr id="34" name="Line 34"/>
            <p:cNvSpPr/>
            <p:nvPr/>
          </p:nvSpPr>
          <p:spPr>
            <a:xfrm>
              <a:off x="3810000" y="4191000"/>
              <a:ext cx="1" cy="495300"/>
            </a:xfrm>
            <a:prstGeom prst="line">
              <a:avLst/>
            </a:prstGeom>
            <a:noFill/>
            <a:ln w="11430">
              <a:solidFill>
                <a:srgbClr val="9C594C"/>
              </a:solidFill>
              <a:tailEnd type="triangle" w="lg" len="lg"/>
            </a:ln>
          </p:spPr>
        </p:sp>
        <p:sp>
          <p:nvSpPr>
            <p:cNvPr id="35" name="TextBox 35"/>
            <p:cNvSpPr txBox="1"/>
            <p:nvPr/>
          </p:nvSpPr>
          <p:spPr>
            <a:xfrm>
              <a:off x="4066857" y="4331732"/>
              <a:ext cx="17208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595959"/>
                  </a:solidFill>
                  <a:latin typeface="+mn-lt"/>
                  <a:ea typeface="+mn-ea"/>
                  <a:cs typeface="+mn-cs"/>
                </a:rPr>
                <a:t>运营</a:t>
              </a:r>
              <a:br/>
              <a:r>
                <a:rPr lang="zh-CN" sz="640" dirty="0">
                  <a:solidFill>
                    <a:srgbClr val="595959"/>
                  </a:solidFill>
                  <a:latin typeface="+mn-lt"/>
                  <a:ea typeface="+mn-ea"/>
                  <a:cs typeface="+mn-cs"/>
                </a:rPr>
                <a:t>模式</a:t>
              </a:r>
            </a:p>
          </p:txBody>
        </p:sp>
        <p:sp>
          <p:nvSpPr>
            <p:cNvPr id="36" name="TextBox 36"/>
            <p:cNvSpPr txBox="1"/>
            <p:nvPr/>
          </p:nvSpPr>
          <p:spPr>
            <a:xfrm>
              <a:off x="1259014" y="4792028"/>
              <a:ext cx="434721"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数据源</a:t>
              </a:r>
            </a:p>
          </p:txBody>
        </p:sp>
        <p:sp>
          <p:nvSpPr>
            <p:cNvPr id="37" name="TextBox 37"/>
            <p:cNvSpPr txBox="1"/>
            <p:nvPr/>
          </p:nvSpPr>
          <p:spPr>
            <a:xfrm>
              <a:off x="3521964" y="4792028"/>
              <a:ext cx="576072"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数据仓库</a:t>
              </a:r>
            </a:p>
          </p:txBody>
        </p:sp>
        <p:sp>
          <p:nvSpPr>
            <p:cNvPr id="38" name="Line 38"/>
            <p:cNvSpPr/>
            <p:nvPr/>
          </p:nvSpPr>
          <p:spPr>
            <a:xfrm flipH="1">
              <a:off x="1905000" y="4857750"/>
              <a:ext cx="1476375" cy="1"/>
            </a:xfrm>
            <a:prstGeom prst="line">
              <a:avLst/>
            </a:prstGeom>
            <a:noFill/>
            <a:ln w="11430">
              <a:solidFill>
                <a:srgbClr val="9C594C"/>
              </a:solidFill>
              <a:tailEnd type="triangle" w="lg" len="lg"/>
            </a:ln>
          </p:spPr>
        </p:sp>
        <p:sp>
          <p:nvSpPr>
            <p:cNvPr id="39" name="TextBox 39"/>
            <p:cNvSpPr txBox="1"/>
            <p:nvPr/>
          </p:nvSpPr>
          <p:spPr>
            <a:xfrm>
              <a:off x="2480628" y="4522232"/>
              <a:ext cx="33464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595959"/>
                  </a:solidFill>
                  <a:latin typeface="+mn-lt"/>
                  <a:ea typeface="+mn-ea"/>
                  <a:cs typeface="+mn-cs"/>
                </a:rPr>
                <a:t>数字化</a:t>
              </a:r>
              <a:br/>
              <a:r>
                <a:rPr lang="zh-CN" sz="640" dirty="0">
                  <a:solidFill>
                    <a:srgbClr val="595959"/>
                  </a:solidFill>
                  <a:latin typeface="+mn-lt"/>
                  <a:ea typeface="+mn-ea"/>
                  <a:cs typeface="+mn-cs"/>
                </a:rPr>
                <a:t>项目簿化</a:t>
              </a:r>
            </a:p>
          </p:txBody>
        </p:sp>
        <p:sp>
          <p:nvSpPr>
            <p:cNvPr id="40" name="TextBox 40"/>
            <p:cNvSpPr txBox="1"/>
            <p:nvPr/>
          </p:nvSpPr>
          <p:spPr>
            <a:xfrm>
              <a:off x="2480628" y="4960382"/>
              <a:ext cx="33464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595959"/>
                  </a:solidFill>
                  <a:latin typeface="+mn-lt"/>
                  <a:ea typeface="+mn-ea"/>
                  <a:cs typeface="+mn-cs"/>
                </a:rPr>
                <a:t>数字化</a:t>
              </a:r>
              <a:br/>
              <a:r>
                <a:rPr lang="zh-CN" sz="640" dirty="0">
                  <a:solidFill>
                    <a:srgbClr val="595959"/>
                  </a:solidFill>
                  <a:latin typeface="+mn-lt"/>
                  <a:ea typeface="+mn-ea"/>
                  <a:cs typeface="+mn-cs"/>
                </a:rPr>
                <a:t>商业服务</a:t>
              </a:r>
            </a:p>
          </p:txBody>
        </p:sp>
      </p:grpSp>
      <p:grpSp>
        <p:nvGrpSpPr>
          <p:cNvPr id="45" name="exec-bracket"/>
          <p:cNvGrpSpPr/>
          <p:nvPr/>
        </p:nvGrpSpPr>
        <p:grpSpPr>
          <a:xfrm>
            <a:off x="5410200" y="2190750"/>
            <a:ext cx="342900" cy="2286000"/>
            <a:chOff x="5410200" y="2190750"/>
            <a:chExt cx="342900" cy="2286000"/>
          </a:xfrm>
        </p:grpSpPr>
        <p:sp>
          <p:nvSpPr>
            <p:cNvPr id="42" name="Line 42"/>
            <p:cNvSpPr/>
            <p:nvPr/>
          </p:nvSpPr>
          <p:spPr>
            <a:xfrm>
              <a:off x="5410200" y="3333750"/>
              <a:ext cx="171450" cy="9525"/>
            </a:xfrm>
            <a:custGeom>
              <a:avLst/>
              <a:gdLst/>
              <a:ahLst/>
              <a:cxnLst/>
              <a:rect l="l" t="t" r="r" b="b"/>
              <a:pathLst>
                <a:path w="171450" h="9525">
                  <a:moveTo>
                    <a:pt x="0" y="0"/>
                  </a:moveTo>
                  <a:lnTo>
                    <a:pt x="171450" y="0"/>
                  </a:lnTo>
                </a:path>
              </a:pathLst>
            </a:custGeom>
            <a:noFill/>
            <a:ln w="14288">
              <a:solidFill>
                <a:srgbClr val="9C594C"/>
              </a:solidFill>
            </a:ln>
          </p:spPr>
        </p:sp>
        <p:sp>
          <p:nvSpPr>
            <p:cNvPr id="43" name="Freeform 43"/>
            <p:cNvSpPr/>
            <p:nvPr/>
          </p:nvSpPr>
          <p:spPr>
            <a:xfrm>
              <a:off x="5581650" y="2190750"/>
              <a:ext cx="171450" cy="1143000"/>
            </a:xfrm>
            <a:custGeom>
              <a:avLst/>
              <a:gdLst/>
              <a:ahLst/>
              <a:cxnLst/>
              <a:rect l="l" t="t" r="r" b="b"/>
              <a:pathLst>
                <a:path w="171450" h="1143000">
                  <a:moveTo>
                    <a:pt x="0" y="1143000"/>
                  </a:moveTo>
                  <a:lnTo>
                    <a:pt x="0" y="0"/>
                  </a:lnTo>
                  <a:lnTo>
                    <a:pt x="171450" y="0"/>
                  </a:lnTo>
                </a:path>
              </a:pathLst>
            </a:custGeom>
            <a:noFill/>
            <a:ln w="14288">
              <a:solidFill>
                <a:srgbClr val="9C594C"/>
              </a:solidFill>
              <a:tailEnd type="triangle" w="lg" len="lg"/>
            </a:ln>
          </p:spPr>
        </p:sp>
        <p:sp>
          <p:nvSpPr>
            <p:cNvPr id="44" name="Freeform 44"/>
            <p:cNvSpPr/>
            <p:nvPr/>
          </p:nvSpPr>
          <p:spPr>
            <a:xfrm>
              <a:off x="5581650" y="3333750"/>
              <a:ext cx="171450" cy="1143000"/>
            </a:xfrm>
            <a:custGeom>
              <a:avLst/>
              <a:gdLst/>
              <a:ahLst/>
              <a:cxnLst/>
              <a:rect l="l" t="t" r="r" b="b"/>
              <a:pathLst>
                <a:path w="171450" h="1143000">
                  <a:moveTo>
                    <a:pt x="0" y="0"/>
                  </a:moveTo>
                  <a:lnTo>
                    <a:pt x="0" y="1143000"/>
                  </a:lnTo>
                  <a:lnTo>
                    <a:pt x="171450" y="1143000"/>
                  </a:lnTo>
                </a:path>
              </a:pathLst>
            </a:custGeom>
            <a:noFill/>
            <a:ln w="14288">
              <a:solidFill>
                <a:srgbClr val="9C594C"/>
              </a:solidFill>
              <a:tailEnd type="triangle" w="lg" len="lg"/>
            </a:ln>
          </p:spPr>
        </p:sp>
      </p:grpSp>
      <p:grpSp>
        <p:nvGrpSpPr>
          <p:cNvPr id="87" name="growth-card"/>
          <p:cNvGrpSpPr/>
          <p:nvPr/>
        </p:nvGrpSpPr>
        <p:grpSpPr>
          <a:xfrm>
            <a:off x="5810250" y="914400"/>
            <a:ext cx="6000750" cy="1809750"/>
            <a:chOff x="5810250" y="914400"/>
            <a:chExt cx="6000750" cy="1809750"/>
          </a:xfrm>
        </p:grpSpPr>
        <p:sp>
          <p:nvSpPr>
            <p:cNvPr id="46" name="Rectangle 46"/>
            <p:cNvSpPr/>
            <p:nvPr/>
          </p:nvSpPr>
          <p:spPr>
            <a:xfrm>
              <a:off x="5810250" y="914400"/>
              <a:ext cx="6000750" cy="1809750"/>
            </a:xfrm>
            <a:prstGeom prst="roundRect">
              <a:avLst>
                <a:gd name="adj" fmla="val 3158"/>
              </a:avLst>
            </a:prstGeom>
            <a:solidFill>
              <a:srgbClr val="FFFFFF"/>
            </a:solidFill>
            <a:ln w="19050">
              <a:solidFill>
                <a:srgbClr val="BF857A"/>
              </a:solidFill>
            </a:ln>
          </p:spPr>
        </p:sp>
        <p:sp>
          <p:nvSpPr>
            <p:cNvPr id="47" name="TextBox 47"/>
            <p:cNvSpPr txBox="1"/>
            <p:nvPr/>
          </p:nvSpPr>
          <p:spPr>
            <a:xfrm>
              <a:off x="5994273" y="1062514"/>
              <a:ext cx="1391463" cy="249364"/>
            </a:xfrm>
            <a:prstGeom prst="rect">
              <a:avLst/>
            </a:prstGeom>
            <a:noFill/>
            <a:ln>
              <a:noFill/>
            </a:ln>
          </p:spPr>
          <p:txBody>
            <a:bodyPr wrap="none" lIns="0" tIns="0" rIns="0" bIns="0" anchor="t" anchorCtr="0">
              <a:spAutoFit/>
            </a:bodyPr>
            <a:lstStyle/>
            <a:p>
              <a:pPr algn="l"/>
              <a:r>
                <a:rPr lang="zh-CN" sz="1280" b="1" dirty="0">
                  <a:solidFill>
                    <a:srgbClr val="333333"/>
                  </a:solidFill>
                  <a:latin typeface="+mn-lt"/>
                  <a:ea typeface="+mn-ea"/>
                  <a:cs typeface="+mn-cs"/>
                </a:rPr>
                <a:t>增量时代增长要素</a:t>
              </a:r>
            </a:p>
          </p:txBody>
        </p:sp>
        <p:sp>
          <p:nvSpPr>
            <p:cNvPr id="48" name="TextBox 48"/>
            <p:cNvSpPr txBox="1"/>
            <p:nvPr/>
          </p:nvSpPr>
          <p:spPr>
            <a:xfrm>
              <a:off x="5995988" y="1317784"/>
              <a:ext cx="2155571"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95959"/>
                  </a:solidFill>
                  <a:latin typeface="+mn-lt"/>
                  <a:ea typeface="+mn-ea"/>
                  <a:cs typeface="+mn-cs"/>
                </a:rPr>
                <a:t>› 渗透率可以不断扩大消费者基础</a:t>
              </a:r>
              <a:br/>
              <a:r>
                <a:rPr lang="zh-CN" sz="680" dirty="0">
                  <a:solidFill>
                    <a:srgbClr val="595959"/>
                  </a:solidFill>
                  <a:latin typeface="+mn-lt"/>
                  <a:ea typeface="+mn-ea"/>
                  <a:cs typeface="+mn-cs"/>
                </a:rPr>
                <a:t>› 忠诚度增加了每个消费者个体对品牌产品和服务的消费</a:t>
              </a:r>
            </a:p>
          </p:txBody>
        </p:sp>
        <p:sp>
          <p:nvSpPr>
            <p:cNvPr id="49" name="Freeform 49"/>
            <p:cNvSpPr/>
            <p:nvPr/>
          </p:nvSpPr>
          <p:spPr>
            <a:xfrm>
              <a:off x="10439400" y="1028700"/>
              <a:ext cx="381000" cy="381000"/>
            </a:xfrm>
            <a:prstGeom prst="star8">
              <a:avLst/>
            </a:prstGeom>
            <a:solidFill>
              <a:srgbClr val="E9563C"/>
            </a:solidFill>
            <a:ln>
              <a:noFill/>
            </a:ln>
          </p:spPr>
        </p:sp>
        <p:sp>
          <p:nvSpPr>
            <p:cNvPr id="50" name="TextBox 50"/>
            <p:cNvSpPr txBox="1"/>
            <p:nvPr/>
          </p:nvSpPr>
          <p:spPr>
            <a:xfrm>
              <a:off x="10544366" y="1183005"/>
              <a:ext cx="171069"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提升</a:t>
              </a:r>
            </a:p>
          </p:txBody>
        </p:sp>
        <p:sp>
          <p:nvSpPr>
            <p:cNvPr id="51" name="Freeform 51"/>
            <p:cNvSpPr/>
            <p:nvPr/>
          </p:nvSpPr>
          <p:spPr>
            <a:xfrm>
              <a:off x="10896600" y="1028700"/>
              <a:ext cx="381000" cy="381000"/>
            </a:xfrm>
            <a:prstGeom prst="star8">
              <a:avLst/>
            </a:prstGeom>
            <a:solidFill>
              <a:srgbClr val="9C594C"/>
            </a:solidFill>
            <a:ln>
              <a:noFill/>
            </a:ln>
          </p:spPr>
        </p:sp>
        <p:sp>
          <p:nvSpPr>
            <p:cNvPr id="52" name="TextBox 52"/>
            <p:cNvSpPr txBox="1"/>
            <p:nvPr/>
          </p:nvSpPr>
          <p:spPr>
            <a:xfrm>
              <a:off x="11001566" y="1183005"/>
              <a:ext cx="171069"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新增</a:t>
              </a:r>
            </a:p>
          </p:txBody>
        </p:sp>
        <p:sp>
          <p:nvSpPr>
            <p:cNvPr id="53" name="Freeform 53"/>
            <p:cNvSpPr/>
            <p:nvPr/>
          </p:nvSpPr>
          <p:spPr>
            <a:xfrm>
              <a:off x="11353800" y="1028700"/>
              <a:ext cx="381000" cy="381000"/>
            </a:xfrm>
            <a:prstGeom prst="star8">
              <a:avLst/>
            </a:prstGeom>
            <a:solidFill>
              <a:srgbClr val="E9563C"/>
            </a:solidFill>
            <a:ln>
              <a:noFill/>
            </a:ln>
          </p:spPr>
        </p:sp>
        <p:sp>
          <p:nvSpPr>
            <p:cNvPr id="54" name="TextBox 54"/>
            <p:cNvSpPr txBox="1"/>
            <p:nvPr/>
          </p:nvSpPr>
          <p:spPr>
            <a:xfrm>
              <a:off x="11458766" y="1183005"/>
              <a:ext cx="171069"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提升</a:t>
              </a:r>
            </a:p>
          </p:txBody>
        </p:sp>
        <p:sp>
          <p:nvSpPr>
            <p:cNvPr id="55" name="Rectangle 55"/>
            <p:cNvSpPr/>
            <p:nvPr/>
          </p:nvSpPr>
          <p:spPr>
            <a:xfrm>
              <a:off x="6000750" y="1619250"/>
              <a:ext cx="5676900" cy="990600"/>
            </a:xfrm>
            <a:prstGeom prst="rect">
              <a:avLst/>
            </a:prstGeom>
            <a:solidFill>
              <a:srgbClr val="FFFFFF"/>
            </a:solidFill>
            <a:ln w="9525">
              <a:solidFill>
                <a:srgbClr val="BF857A"/>
              </a:solidFill>
              <a:custDash>
                <a:ds d="400000" sp="300000"/>
              </a:custDash>
            </a:ln>
          </p:spPr>
        </p:sp>
        <p:sp>
          <p:nvSpPr>
            <p:cNvPr id="56" name="Ellipse 56"/>
            <p:cNvSpPr/>
            <p:nvPr/>
          </p:nvSpPr>
          <p:spPr>
            <a:xfrm>
              <a:off x="6153150" y="1752600"/>
              <a:ext cx="419100" cy="419100"/>
            </a:xfrm>
            <a:prstGeom prst="ellipse">
              <a:avLst/>
            </a:prstGeom>
            <a:solidFill>
              <a:srgbClr val="DFF0D2"/>
            </a:solidFill>
            <a:ln>
              <a:noFill/>
            </a:ln>
          </p:spPr>
        </p:sp>
        <p:sp>
          <p:nvSpPr>
            <p:cNvPr id="57" name="TextBox 57"/>
            <p:cNvSpPr txBox="1"/>
            <p:nvPr/>
          </p:nvSpPr>
          <p:spPr>
            <a:xfrm>
              <a:off x="6262357" y="1923336"/>
              <a:ext cx="200685" cy="140494"/>
            </a:xfrm>
            <a:prstGeom prst="rect">
              <a:avLst/>
            </a:prstGeom>
            <a:noFill/>
            <a:ln>
              <a:noFill/>
            </a:ln>
          </p:spPr>
          <p:txBody>
            <a:bodyPr wrap="none" lIns="0" tIns="0" rIns="0" bIns="0" anchor="t" anchorCtr="0">
              <a:spAutoFit/>
            </a:bodyPr>
            <a:lstStyle/>
            <a:p>
              <a:pPr algn="ctr"/>
              <a:r>
                <a:rPr lang="zh-CN" sz="710" b="1" dirty="0">
                  <a:solidFill>
                    <a:srgbClr val="7A3E33"/>
                  </a:solidFill>
                  <a:latin typeface="+mn-lt"/>
                  <a:ea typeface="+mn-ea"/>
                  <a:cs typeface="+mn-cs"/>
                </a:rPr>
                <a:t>战略</a:t>
              </a:r>
            </a:p>
          </p:txBody>
        </p:sp>
        <p:sp>
          <p:nvSpPr>
            <p:cNvPr id="58" name="Ellipse 58"/>
            <p:cNvSpPr/>
            <p:nvPr/>
          </p:nvSpPr>
          <p:spPr>
            <a:xfrm>
              <a:off x="6496050" y="1657350"/>
              <a:ext cx="419100" cy="419100"/>
            </a:xfrm>
            <a:prstGeom prst="ellipse">
              <a:avLst/>
            </a:prstGeom>
            <a:solidFill>
              <a:srgbClr val="F7B9AE">
                <a:alpha val="90000"/>
              </a:srgbClr>
            </a:solidFill>
            <a:ln>
              <a:noFill/>
            </a:ln>
          </p:spPr>
        </p:sp>
        <p:sp>
          <p:nvSpPr>
            <p:cNvPr id="59" name="TextBox 59"/>
            <p:cNvSpPr txBox="1"/>
            <p:nvPr/>
          </p:nvSpPr>
          <p:spPr>
            <a:xfrm>
              <a:off x="6610668" y="1770936"/>
              <a:ext cx="189865" cy="245269"/>
            </a:xfrm>
            <a:prstGeom prst="rect">
              <a:avLst/>
            </a:prstGeom>
            <a:noFill/>
            <a:ln>
              <a:noFill/>
            </a:ln>
          </p:spPr>
          <p:txBody>
            <a:bodyPr wrap="none" lIns="0" tIns="0" rIns="0" bIns="0" anchor="t" anchorCtr="0">
              <a:spAutoFit/>
            </a:bodyPr>
            <a:lstStyle/>
            <a:p>
              <a:pPr algn="ctr">
                <a:lnSpc>
                  <a:spcPts val="825"/>
                </a:lnSpc>
              </a:pPr>
              <a:r>
                <a:rPr lang="zh-CN" sz="710" b="1" dirty="0">
                  <a:solidFill>
                    <a:srgbClr val="8A2210"/>
                  </a:solidFill>
                  <a:latin typeface="+mn-lt"/>
                  <a:ea typeface="+mn-ea"/>
                  <a:cs typeface="+mn-cs"/>
                </a:rPr>
                <a:t>核心</a:t>
              </a:r>
              <a:br/>
              <a:r>
                <a:rPr lang="zh-CN" sz="710" b="1" dirty="0">
                  <a:solidFill>
                    <a:srgbClr val="8A2210"/>
                  </a:solidFill>
                  <a:latin typeface="+mn-lt"/>
                  <a:ea typeface="+mn-ea"/>
                  <a:cs typeface="+mn-cs"/>
                </a:rPr>
                <a:t>技能</a:t>
              </a:r>
            </a:p>
          </p:txBody>
        </p:sp>
        <p:sp>
          <p:nvSpPr>
            <p:cNvPr id="60" name="Ellipse 60"/>
            <p:cNvSpPr/>
            <p:nvPr/>
          </p:nvSpPr>
          <p:spPr>
            <a:xfrm>
              <a:off x="6324600" y="1981200"/>
              <a:ext cx="419100" cy="419100"/>
            </a:xfrm>
            <a:prstGeom prst="ellipse">
              <a:avLst/>
            </a:prstGeom>
            <a:solidFill>
              <a:srgbClr val="F0F0F0">
                <a:alpha val="90000"/>
              </a:srgbClr>
            </a:solidFill>
            <a:ln>
              <a:noFill/>
            </a:ln>
          </p:spPr>
        </p:sp>
        <p:sp>
          <p:nvSpPr>
            <p:cNvPr id="61" name="TextBox 61"/>
            <p:cNvSpPr txBox="1"/>
            <p:nvPr/>
          </p:nvSpPr>
          <p:spPr>
            <a:xfrm>
              <a:off x="6394132" y="2094786"/>
              <a:ext cx="280035" cy="245269"/>
            </a:xfrm>
            <a:prstGeom prst="rect">
              <a:avLst/>
            </a:prstGeom>
            <a:noFill/>
            <a:ln>
              <a:noFill/>
            </a:ln>
          </p:spPr>
          <p:txBody>
            <a:bodyPr wrap="none" lIns="0" tIns="0" rIns="0" bIns="0" anchor="t" anchorCtr="0">
              <a:spAutoFit/>
            </a:bodyPr>
            <a:lstStyle/>
            <a:p>
              <a:pPr algn="ctr">
                <a:lnSpc>
                  <a:spcPts val="825"/>
                </a:lnSpc>
              </a:pPr>
              <a:r>
                <a:rPr lang="zh-CN" sz="710" dirty="0">
                  <a:solidFill>
                    <a:srgbClr val="595959"/>
                  </a:solidFill>
                  <a:latin typeface="+mn-lt"/>
                  <a:ea typeface="+mn-ea"/>
                  <a:cs typeface="+mn-cs"/>
                </a:rPr>
                <a:t>共同</a:t>
              </a:r>
              <a:br/>
              <a:r>
                <a:rPr lang="zh-CN" sz="710" dirty="0">
                  <a:solidFill>
                    <a:srgbClr val="595959"/>
                  </a:solidFill>
                  <a:latin typeface="+mn-lt"/>
                  <a:ea typeface="+mn-ea"/>
                  <a:cs typeface="+mn-cs"/>
                </a:rPr>
                <a:t>价值观</a:t>
              </a:r>
            </a:p>
          </p:txBody>
        </p:sp>
        <p:sp>
          <p:nvSpPr>
            <p:cNvPr id="62" name="Line 62"/>
            <p:cNvSpPr/>
            <p:nvPr/>
          </p:nvSpPr>
          <p:spPr>
            <a:xfrm>
              <a:off x="6972300" y="2019300"/>
              <a:ext cx="228600" cy="1"/>
            </a:xfrm>
            <a:prstGeom prst="line">
              <a:avLst/>
            </a:prstGeom>
            <a:noFill/>
            <a:ln w="14288">
              <a:solidFill>
                <a:srgbClr val="9C594C"/>
              </a:solidFill>
              <a:tailEnd type="triangle" w="lg" len="lg"/>
            </a:ln>
          </p:spPr>
        </p:sp>
        <p:sp>
          <p:nvSpPr>
            <p:cNvPr id="63" name="Ellipse 63"/>
            <p:cNvSpPr/>
            <p:nvPr/>
          </p:nvSpPr>
          <p:spPr>
            <a:xfrm>
              <a:off x="7324725" y="1762125"/>
              <a:ext cx="476250" cy="476250"/>
            </a:xfrm>
            <a:prstGeom prst="ellipse">
              <a:avLst/>
            </a:prstGeom>
            <a:solidFill>
              <a:srgbClr val="FFFFFF"/>
            </a:solidFill>
            <a:ln w="11430">
              <a:solidFill>
                <a:srgbClr val="BF857A"/>
              </a:solidFill>
            </a:ln>
          </p:spPr>
        </p:sp>
        <p:sp>
          <p:nvSpPr>
            <p:cNvPr id="64" name="TextBox 64"/>
            <p:cNvSpPr txBox="1"/>
            <p:nvPr/>
          </p:nvSpPr>
          <p:spPr>
            <a:xfrm>
              <a:off x="7436168" y="1912382"/>
              <a:ext cx="25336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33333"/>
                  </a:solidFill>
                  <a:latin typeface="+mn-lt"/>
                  <a:ea typeface="+mn-ea"/>
                  <a:cs typeface="+mn-cs"/>
                </a:rPr>
                <a:t>大众</a:t>
              </a:r>
              <a:br/>
              <a:r>
                <a:rPr lang="zh-CN" sz="640" dirty="0">
                  <a:solidFill>
                    <a:srgbClr val="333333"/>
                  </a:solidFill>
                  <a:latin typeface="+mn-lt"/>
                  <a:ea typeface="+mn-ea"/>
                  <a:cs typeface="+mn-cs"/>
                </a:rPr>
                <a:t>消费者</a:t>
              </a:r>
            </a:p>
          </p:txBody>
        </p:sp>
        <p:sp>
          <p:nvSpPr>
            <p:cNvPr id="65" name="TextBox 65"/>
            <p:cNvSpPr txBox="1"/>
            <p:nvPr/>
          </p:nvSpPr>
          <p:spPr>
            <a:xfrm>
              <a:off x="7853178" y="1942624"/>
              <a:ext cx="86094" cy="190690"/>
            </a:xfrm>
            <a:prstGeom prst="rect">
              <a:avLst/>
            </a:prstGeom>
            <a:noFill/>
            <a:ln>
              <a:noFill/>
            </a:ln>
          </p:spPr>
          <p:txBody>
            <a:bodyPr wrap="none" lIns="0" tIns="0" rIns="0" bIns="0" anchor="t" anchorCtr="0">
              <a:spAutoFit/>
            </a:bodyPr>
            <a:lstStyle/>
            <a:p>
              <a:pPr algn="ctr"/>
              <a:r>
                <a:rPr lang="zh-CN" sz="980" b="1" dirty="0">
                  <a:solidFill>
                    <a:srgbClr val="8A2210"/>
                  </a:solidFill>
                  <a:latin typeface="+mn-lt"/>
                  <a:ea typeface="+mn-ea"/>
                  <a:cs typeface="+mn-cs"/>
                </a:rPr>
                <a:t>×</a:t>
              </a:r>
            </a:p>
          </p:txBody>
        </p:sp>
        <p:sp>
          <p:nvSpPr>
            <p:cNvPr id="66" name="Ellipse 66"/>
            <p:cNvSpPr/>
            <p:nvPr/>
          </p:nvSpPr>
          <p:spPr>
            <a:xfrm>
              <a:off x="7991475" y="1762125"/>
              <a:ext cx="476250" cy="476250"/>
            </a:xfrm>
            <a:prstGeom prst="ellipse">
              <a:avLst/>
            </a:prstGeom>
            <a:solidFill>
              <a:srgbClr val="FFFFFF"/>
            </a:solidFill>
            <a:ln w="11430">
              <a:solidFill>
                <a:srgbClr val="BF857A"/>
              </a:solidFill>
            </a:ln>
          </p:spPr>
        </p:sp>
        <p:sp>
          <p:nvSpPr>
            <p:cNvPr id="67" name="TextBox 67"/>
            <p:cNvSpPr txBox="1"/>
            <p:nvPr/>
          </p:nvSpPr>
          <p:spPr>
            <a:xfrm>
              <a:off x="8062277" y="1912382"/>
              <a:ext cx="334645"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33333"/>
                  </a:solidFill>
                  <a:latin typeface="+mn-lt"/>
                  <a:ea typeface="+mn-ea"/>
                  <a:cs typeface="+mn-cs"/>
                </a:rPr>
                <a:t>价格敏感</a:t>
              </a:r>
              <a:br/>
              <a:r>
                <a:rPr lang="zh-CN" sz="640" dirty="0">
                  <a:solidFill>
                    <a:srgbClr val="333333"/>
                  </a:solidFill>
                  <a:latin typeface="+mn-lt"/>
                  <a:ea typeface="+mn-ea"/>
                  <a:cs typeface="+mn-cs"/>
                </a:rPr>
                <a:t>型消费</a:t>
              </a:r>
            </a:p>
          </p:txBody>
        </p:sp>
        <p:sp>
          <p:nvSpPr>
            <p:cNvPr id="68" name="Line 68"/>
            <p:cNvSpPr/>
            <p:nvPr/>
          </p:nvSpPr>
          <p:spPr>
            <a:xfrm>
              <a:off x="8515350" y="2000250"/>
              <a:ext cx="228600" cy="1"/>
            </a:xfrm>
            <a:prstGeom prst="line">
              <a:avLst/>
            </a:prstGeom>
            <a:noFill/>
            <a:ln w="14288">
              <a:solidFill>
                <a:srgbClr val="9C594C"/>
              </a:solidFill>
              <a:tailEnd type="triangle" w="lg" len="lg"/>
            </a:ln>
          </p:spPr>
        </p:sp>
        <p:sp>
          <p:nvSpPr>
            <p:cNvPr id="69" name="Ellipse 69"/>
            <p:cNvSpPr/>
            <p:nvPr/>
          </p:nvSpPr>
          <p:spPr>
            <a:xfrm>
              <a:off x="8810625" y="1762125"/>
              <a:ext cx="476250" cy="476250"/>
            </a:xfrm>
            <a:prstGeom prst="ellipse">
              <a:avLst/>
            </a:prstGeom>
            <a:solidFill>
              <a:srgbClr val="9C594C"/>
            </a:solidFill>
            <a:ln>
              <a:noFill/>
            </a:ln>
          </p:spPr>
        </p:sp>
        <p:sp>
          <p:nvSpPr>
            <p:cNvPr id="70" name="TextBox 70"/>
            <p:cNvSpPr txBox="1"/>
            <p:nvPr/>
          </p:nvSpPr>
          <p:spPr>
            <a:xfrm>
              <a:off x="8922068" y="1912382"/>
              <a:ext cx="25336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FFFFFF"/>
                  </a:solidFill>
                  <a:latin typeface="+mn-lt"/>
                  <a:ea typeface="+mn-ea"/>
                  <a:cs typeface="+mn-cs"/>
                </a:rPr>
                <a:t>长周期</a:t>
              </a:r>
              <a:br/>
              <a:r>
                <a:rPr lang="zh-CN" sz="640" b="1" dirty="0">
                  <a:solidFill>
                    <a:srgbClr val="FFFFFF"/>
                  </a:solidFill>
                  <a:latin typeface="+mn-lt"/>
                  <a:ea typeface="+mn-ea"/>
                  <a:cs typeface="+mn-cs"/>
                </a:rPr>
                <a:t>消费</a:t>
              </a:r>
            </a:p>
          </p:txBody>
        </p:sp>
        <p:sp>
          <p:nvSpPr>
            <p:cNvPr id="71" name="TextBox 71"/>
            <p:cNvSpPr txBox="1"/>
            <p:nvPr/>
          </p:nvSpPr>
          <p:spPr>
            <a:xfrm>
              <a:off x="9339078" y="1942624"/>
              <a:ext cx="86094" cy="190690"/>
            </a:xfrm>
            <a:prstGeom prst="rect">
              <a:avLst/>
            </a:prstGeom>
            <a:noFill/>
            <a:ln>
              <a:noFill/>
            </a:ln>
          </p:spPr>
          <p:txBody>
            <a:bodyPr wrap="none" lIns="0" tIns="0" rIns="0" bIns="0" anchor="t" anchorCtr="0">
              <a:spAutoFit/>
            </a:bodyPr>
            <a:lstStyle/>
            <a:p>
              <a:pPr algn="ctr"/>
              <a:r>
                <a:rPr lang="zh-CN" sz="980" b="1" dirty="0">
                  <a:solidFill>
                    <a:srgbClr val="8A2210"/>
                  </a:solidFill>
                  <a:latin typeface="+mn-lt"/>
                  <a:ea typeface="+mn-ea"/>
                  <a:cs typeface="+mn-cs"/>
                </a:rPr>
                <a:t>×</a:t>
              </a:r>
            </a:p>
          </p:txBody>
        </p:sp>
        <p:sp>
          <p:nvSpPr>
            <p:cNvPr id="72" name="Ellipse 72"/>
            <p:cNvSpPr/>
            <p:nvPr/>
          </p:nvSpPr>
          <p:spPr>
            <a:xfrm>
              <a:off x="9477375" y="1762125"/>
              <a:ext cx="476250" cy="476250"/>
            </a:xfrm>
            <a:prstGeom prst="ellipse">
              <a:avLst/>
            </a:prstGeom>
            <a:solidFill>
              <a:srgbClr val="E9563C"/>
            </a:solidFill>
            <a:ln>
              <a:noFill/>
            </a:ln>
          </p:spPr>
        </p:sp>
        <p:sp>
          <p:nvSpPr>
            <p:cNvPr id="73" name="TextBox 73"/>
            <p:cNvSpPr txBox="1"/>
            <p:nvPr/>
          </p:nvSpPr>
          <p:spPr>
            <a:xfrm>
              <a:off x="9588818" y="1912382"/>
              <a:ext cx="25336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FFFFFF"/>
                  </a:solidFill>
                  <a:latin typeface="+mn-lt"/>
                  <a:ea typeface="+mn-ea"/>
                  <a:cs typeface="+mn-cs"/>
                </a:rPr>
                <a:t>计划型</a:t>
              </a:r>
              <a:br/>
              <a:r>
                <a:rPr lang="zh-CN" sz="640" b="1" dirty="0">
                  <a:solidFill>
                    <a:srgbClr val="FFFFFF"/>
                  </a:solidFill>
                  <a:latin typeface="+mn-lt"/>
                  <a:ea typeface="+mn-ea"/>
                  <a:cs typeface="+mn-cs"/>
                </a:rPr>
                <a:t>消费</a:t>
              </a:r>
            </a:p>
          </p:txBody>
        </p:sp>
        <p:sp>
          <p:nvSpPr>
            <p:cNvPr id="74" name="TextBox 74"/>
            <p:cNvSpPr txBox="1"/>
            <p:nvPr/>
          </p:nvSpPr>
          <p:spPr>
            <a:xfrm>
              <a:off x="10005828" y="1942624"/>
              <a:ext cx="86094" cy="190690"/>
            </a:xfrm>
            <a:prstGeom prst="rect">
              <a:avLst/>
            </a:prstGeom>
            <a:noFill/>
            <a:ln>
              <a:noFill/>
            </a:ln>
          </p:spPr>
          <p:txBody>
            <a:bodyPr wrap="none" lIns="0" tIns="0" rIns="0" bIns="0" anchor="t" anchorCtr="0">
              <a:spAutoFit/>
            </a:bodyPr>
            <a:lstStyle/>
            <a:p>
              <a:pPr algn="ctr"/>
              <a:r>
                <a:rPr lang="zh-CN" sz="980" b="1" dirty="0">
                  <a:solidFill>
                    <a:srgbClr val="8A2210"/>
                  </a:solidFill>
                  <a:latin typeface="+mn-lt"/>
                  <a:ea typeface="+mn-ea"/>
                  <a:cs typeface="+mn-cs"/>
                </a:rPr>
                <a:t>×</a:t>
              </a:r>
            </a:p>
          </p:txBody>
        </p:sp>
        <p:sp>
          <p:nvSpPr>
            <p:cNvPr id="75" name="Ellipse 75"/>
            <p:cNvSpPr/>
            <p:nvPr/>
          </p:nvSpPr>
          <p:spPr>
            <a:xfrm>
              <a:off x="10144125" y="1762125"/>
              <a:ext cx="476250" cy="476250"/>
            </a:xfrm>
            <a:prstGeom prst="ellipse">
              <a:avLst/>
            </a:prstGeom>
            <a:solidFill>
              <a:srgbClr val="9C594C"/>
            </a:solidFill>
            <a:ln>
              <a:noFill/>
            </a:ln>
          </p:spPr>
        </p:sp>
        <p:sp>
          <p:nvSpPr>
            <p:cNvPr id="76" name="TextBox 76"/>
            <p:cNvSpPr txBox="1"/>
            <p:nvPr/>
          </p:nvSpPr>
          <p:spPr>
            <a:xfrm>
              <a:off x="10255568" y="1912382"/>
              <a:ext cx="253365" cy="230981"/>
            </a:xfrm>
            <a:prstGeom prst="rect">
              <a:avLst/>
            </a:prstGeom>
            <a:noFill/>
            <a:ln>
              <a:noFill/>
            </a:ln>
          </p:spPr>
          <p:txBody>
            <a:bodyPr wrap="none" lIns="0" tIns="0" rIns="0" bIns="0" anchor="t" anchorCtr="0">
              <a:spAutoFit/>
            </a:bodyPr>
            <a:lstStyle/>
            <a:p>
              <a:pPr algn="ctr">
                <a:lnSpc>
                  <a:spcPts val="825"/>
                </a:lnSpc>
              </a:pPr>
              <a:r>
                <a:rPr lang="zh-CN" sz="640" b="1" dirty="0">
                  <a:solidFill>
                    <a:srgbClr val="FFFFFF"/>
                  </a:solidFill>
                  <a:latin typeface="+mn-lt"/>
                  <a:ea typeface="+mn-ea"/>
                  <a:cs typeface="+mn-cs"/>
                </a:rPr>
                <a:t>家庭型</a:t>
              </a:r>
              <a:br/>
              <a:r>
                <a:rPr lang="zh-CN" sz="640" b="1" dirty="0">
                  <a:solidFill>
                    <a:srgbClr val="FFFFFF"/>
                  </a:solidFill>
                  <a:latin typeface="+mn-lt"/>
                  <a:ea typeface="+mn-ea"/>
                  <a:cs typeface="+mn-cs"/>
                </a:rPr>
                <a:t>消费</a:t>
              </a:r>
            </a:p>
          </p:txBody>
        </p:sp>
        <p:sp>
          <p:nvSpPr>
            <p:cNvPr id="77" name="Rectangle 77"/>
            <p:cNvSpPr/>
            <p:nvPr/>
          </p:nvSpPr>
          <p:spPr>
            <a:xfrm>
              <a:off x="7277100" y="2362200"/>
              <a:ext cx="571500" cy="171450"/>
            </a:xfrm>
            <a:prstGeom prst="rect">
              <a:avLst/>
            </a:prstGeom>
            <a:solidFill>
              <a:srgbClr val="DFF0D2"/>
            </a:solidFill>
            <a:ln>
              <a:noFill/>
            </a:ln>
          </p:spPr>
        </p:sp>
        <p:sp>
          <p:nvSpPr>
            <p:cNvPr id="78" name="TextBox 78"/>
            <p:cNvSpPr txBox="1"/>
            <p:nvPr/>
          </p:nvSpPr>
          <p:spPr>
            <a:xfrm>
              <a:off x="7385774" y="2417207"/>
              <a:ext cx="354152" cy="126206"/>
            </a:xfrm>
            <a:prstGeom prst="rect">
              <a:avLst/>
            </a:prstGeom>
            <a:noFill/>
            <a:ln>
              <a:noFill/>
            </a:ln>
          </p:spPr>
          <p:txBody>
            <a:bodyPr wrap="none" lIns="0" tIns="0" rIns="0" bIns="0" anchor="t" anchorCtr="0">
              <a:spAutoFit/>
            </a:bodyPr>
            <a:lstStyle/>
            <a:p>
              <a:pPr algn="ctr"/>
              <a:r>
                <a:rPr lang="zh-CN" sz="640" dirty="0">
                  <a:solidFill>
                    <a:srgbClr val="7A3E33"/>
                  </a:solidFill>
                  <a:latin typeface="+mn-lt"/>
                  <a:ea typeface="+mn-ea"/>
                  <a:cs typeface="+mn-cs"/>
                </a:rPr>
                <a:t>用活数量</a:t>
              </a:r>
            </a:p>
          </p:txBody>
        </p:sp>
        <p:sp>
          <p:nvSpPr>
            <p:cNvPr id="79" name="Rectangle 79"/>
            <p:cNvSpPr/>
            <p:nvPr/>
          </p:nvSpPr>
          <p:spPr>
            <a:xfrm>
              <a:off x="7943850" y="2362200"/>
              <a:ext cx="571500" cy="171450"/>
            </a:xfrm>
            <a:prstGeom prst="rect">
              <a:avLst/>
            </a:prstGeom>
            <a:solidFill>
              <a:srgbClr val="DFF0D2"/>
            </a:solidFill>
            <a:ln>
              <a:noFill/>
            </a:ln>
          </p:spPr>
        </p:sp>
        <p:sp>
          <p:nvSpPr>
            <p:cNvPr id="80" name="TextBox 80"/>
            <p:cNvSpPr txBox="1"/>
            <p:nvPr/>
          </p:nvSpPr>
          <p:spPr>
            <a:xfrm>
              <a:off x="8095602" y="2417207"/>
              <a:ext cx="267995" cy="126206"/>
            </a:xfrm>
            <a:prstGeom prst="rect">
              <a:avLst/>
            </a:prstGeom>
            <a:noFill/>
            <a:ln>
              <a:noFill/>
            </a:ln>
          </p:spPr>
          <p:txBody>
            <a:bodyPr wrap="none" lIns="0" tIns="0" rIns="0" bIns="0" anchor="t" anchorCtr="0">
              <a:spAutoFit/>
            </a:bodyPr>
            <a:lstStyle/>
            <a:p>
              <a:pPr algn="ctr"/>
              <a:r>
                <a:rPr lang="zh-CN" sz="640" dirty="0">
                  <a:solidFill>
                    <a:srgbClr val="7A3E33"/>
                  </a:solidFill>
                  <a:latin typeface="+mn-lt"/>
                  <a:ea typeface="+mn-ea"/>
                  <a:cs typeface="+mn-cs"/>
                </a:rPr>
                <a:t>客单价</a:t>
              </a:r>
            </a:p>
          </p:txBody>
        </p:sp>
        <p:sp>
          <p:nvSpPr>
            <p:cNvPr id="81" name="Rectangle 81"/>
            <p:cNvSpPr/>
            <p:nvPr/>
          </p:nvSpPr>
          <p:spPr>
            <a:xfrm>
              <a:off x="8763000" y="2362200"/>
              <a:ext cx="571500" cy="171450"/>
            </a:xfrm>
            <a:prstGeom prst="rect">
              <a:avLst/>
            </a:prstGeom>
            <a:solidFill>
              <a:srgbClr val="DFF0D2"/>
            </a:solidFill>
            <a:ln>
              <a:noFill/>
            </a:ln>
          </p:spPr>
        </p:sp>
        <p:sp>
          <p:nvSpPr>
            <p:cNvPr id="82" name="TextBox 82"/>
            <p:cNvSpPr txBox="1"/>
            <p:nvPr/>
          </p:nvSpPr>
          <p:spPr>
            <a:xfrm>
              <a:off x="8914752" y="2417207"/>
              <a:ext cx="267995" cy="126206"/>
            </a:xfrm>
            <a:prstGeom prst="rect">
              <a:avLst/>
            </a:prstGeom>
            <a:noFill/>
            <a:ln>
              <a:noFill/>
            </a:ln>
          </p:spPr>
          <p:txBody>
            <a:bodyPr wrap="none" lIns="0" tIns="0" rIns="0" bIns="0" anchor="t" anchorCtr="0">
              <a:spAutoFit/>
            </a:bodyPr>
            <a:lstStyle/>
            <a:p>
              <a:pPr algn="ctr"/>
              <a:r>
                <a:rPr lang="zh-CN" sz="640" dirty="0">
                  <a:solidFill>
                    <a:srgbClr val="7A3E33"/>
                  </a:solidFill>
                  <a:latin typeface="+mn-lt"/>
                  <a:ea typeface="+mn-ea"/>
                  <a:cs typeface="+mn-cs"/>
                </a:rPr>
                <a:t>复购率</a:t>
              </a:r>
            </a:p>
          </p:txBody>
        </p:sp>
        <p:sp>
          <p:nvSpPr>
            <p:cNvPr id="83" name="Rectangle 83"/>
            <p:cNvSpPr/>
            <p:nvPr/>
          </p:nvSpPr>
          <p:spPr>
            <a:xfrm>
              <a:off x="9429750" y="2362200"/>
              <a:ext cx="571500" cy="171450"/>
            </a:xfrm>
            <a:prstGeom prst="rect">
              <a:avLst/>
            </a:prstGeom>
            <a:solidFill>
              <a:srgbClr val="FBF0D8"/>
            </a:solidFill>
            <a:ln>
              <a:noFill/>
            </a:ln>
          </p:spPr>
        </p:sp>
        <p:sp>
          <p:nvSpPr>
            <p:cNvPr id="84" name="TextBox 84"/>
            <p:cNvSpPr txBox="1"/>
            <p:nvPr/>
          </p:nvSpPr>
          <p:spPr>
            <a:xfrm>
              <a:off x="9581502" y="2417207"/>
              <a:ext cx="267995" cy="126206"/>
            </a:xfrm>
            <a:prstGeom prst="rect">
              <a:avLst/>
            </a:prstGeom>
            <a:noFill/>
            <a:ln>
              <a:noFill/>
            </a:ln>
          </p:spPr>
          <p:txBody>
            <a:bodyPr wrap="none" lIns="0" tIns="0" rIns="0" bIns="0" anchor="t" anchorCtr="0">
              <a:spAutoFit/>
            </a:bodyPr>
            <a:lstStyle/>
            <a:p>
              <a:pPr algn="ctr"/>
              <a:r>
                <a:rPr lang="zh-CN" sz="640" dirty="0">
                  <a:solidFill>
                    <a:srgbClr val="8A2210"/>
                  </a:solidFill>
                  <a:latin typeface="+mn-lt"/>
                  <a:ea typeface="+mn-ea"/>
                  <a:cs typeface="+mn-cs"/>
                </a:rPr>
                <a:t>分享率</a:t>
              </a:r>
            </a:p>
          </p:txBody>
        </p:sp>
        <p:sp>
          <p:nvSpPr>
            <p:cNvPr id="85" name="Rectangle 85"/>
            <p:cNvSpPr/>
            <p:nvPr/>
          </p:nvSpPr>
          <p:spPr>
            <a:xfrm>
              <a:off x="10096500" y="2362200"/>
              <a:ext cx="571500" cy="171450"/>
            </a:xfrm>
            <a:prstGeom prst="rect">
              <a:avLst/>
            </a:prstGeom>
            <a:solidFill>
              <a:srgbClr val="DFF0D2"/>
            </a:solidFill>
            <a:ln>
              <a:noFill/>
            </a:ln>
          </p:spPr>
        </p:sp>
        <p:sp>
          <p:nvSpPr>
            <p:cNvPr id="86" name="TextBox 86"/>
            <p:cNvSpPr txBox="1"/>
            <p:nvPr/>
          </p:nvSpPr>
          <p:spPr>
            <a:xfrm>
              <a:off x="10205174" y="2417207"/>
              <a:ext cx="354152" cy="126206"/>
            </a:xfrm>
            <a:prstGeom prst="rect">
              <a:avLst/>
            </a:prstGeom>
            <a:noFill/>
            <a:ln>
              <a:noFill/>
            </a:ln>
          </p:spPr>
          <p:txBody>
            <a:bodyPr wrap="none" lIns="0" tIns="0" rIns="0" bIns="0" anchor="t" anchorCtr="0">
              <a:spAutoFit/>
            </a:bodyPr>
            <a:lstStyle/>
            <a:p>
              <a:pPr algn="ctr"/>
              <a:r>
                <a:rPr lang="zh-CN" sz="640" dirty="0">
                  <a:solidFill>
                    <a:srgbClr val="7A3E33"/>
                  </a:solidFill>
                  <a:latin typeface="+mn-lt"/>
                  <a:ea typeface="+mn-ea"/>
                  <a:cs typeface="+mn-cs"/>
                </a:rPr>
                <a:t>辐射能力</a:t>
              </a:r>
            </a:p>
          </p:txBody>
        </p:sp>
      </p:grpSp>
      <p:grpSp>
        <p:nvGrpSpPr>
          <p:cNvPr id="140" name="activity-card"/>
          <p:cNvGrpSpPr/>
          <p:nvPr/>
        </p:nvGrpSpPr>
        <p:grpSpPr>
          <a:xfrm>
            <a:off x="5810250" y="2857500"/>
            <a:ext cx="6000750" cy="2590800"/>
            <a:chOff x="5810250" y="2857500"/>
            <a:chExt cx="6000750" cy="2590800"/>
          </a:xfrm>
        </p:grpSpPr>
        <p:sp>
          <p:nvSpPr>
            <p:cNvPr id="88" name="Rectangle 88"/>
            <p:cNvSpPr/>
            <p:nvPr/>
          </p:nvSpPr>
          <p:spPr>
            <a:xfrm>
              <a:off x="5810250" y="2857500"/>
              <a:ext cx="6000750" cy="2590800"/>
            </a:xfrm>
            <a:prstGeom prst="roundRect">
              <a:avLst>
                <a:gd name="adj" fmla="val 2206"/>
              </a:avLst>
            </a:prstGeom>
            <a:solidFill>
              <a:srgbClr val="FFFFFF"/>
            </a:solidFill>
            <a:ln w="19050">
              <a:solidFill>
                <a:srgbClr val="BF857A"/>
              </a:solidFill>
            </a:ln>
          </p:spPr>
        </p:sp>
        <p:sp>
          <p:nvSpPr>
            <p:cNvPr id="89" name="TextBox 89"/>
            <p:cNvSpPr txBox="1"/>
            <p:nvPr/>
          </p:nvSpPr>
          <p:spPr>
            <a:xfrm>
              <a:off x="5994654" y="3089910"/>
              <a:ext cx="819912" cy="234696"/>
            </a:xfrm>
            <a:prstGeom prst="rect">
              <a:avLst/>
            </a:prstGeom>
            <a:noFill/>
            <a:ln>
              <a:noFill/>
            </a:ln>
          </p:spPr>
          <p:txBody>
            <a:bodyPr wrap="none" lIns="0" tIns="0" rIns="0" bIns="0" anchor="t" anchorCtr="0">
              <a:spAutoFit/>
            </a:bodyPr>
            <a:lstStyle/>
            <a:p>
              <a:pPr algn="l"/>
              <a:r>
                <a:rPr lang="zh-CN" sz="1200" b="1" dirty="0">
                  <a:solidFill>
                    <a:srgbClr val="333333"/>
                  </a:solidFill>
                  <a:latin typeface="+mn-lt"/>
                  <a:ea typeface="+mn-ea"/>
                  <a:cs typeface="+mn-cs"/>
                </a:rPr>
                <a:t>说明性活动</a:t>
              </a:r>
            </a:p>
          </p:txBody>
        </p:sp>
        <p:sp>
          <p:nvSpPr>
            <p:cNvPr id="90" name="TextBox 90"/>
            <p:cNvSpPr txBox="1"/>
            <p:nvPr/>
          </p:nvSpPr>
          <p:spPr>
            <a:xfrm>
              <a:off x="5994654" y="3337560"/>
              <a:ext cx="1559380" cy="234696"/>
            </a:xfrm>
            <a:prstGeom prst="rect">
              <a:avLst/>
            </a:prstGeom>
            <a:noFill/>
            <a:ln>
              <a:noFill/>
            </a:ln>
          </p:spPr>
          <p:txBody>
            <a:bodyPr wrap="none" lIns="0" tIns="0" rIns="0" bIns="0" anchor="t" anchorCtr="0">
              <a:spAutoFit/>
            </a:bodyPr>
            <a:lstStyle/>
            <a:p>
              <a:pPr algn="l"/>
              <a:r>
                <a:rPr lang="zh-CN" sz="1200" b="1" dirty="0">
                  <a:solidFill>
                    <a:srgbClr val="333333"/>
                  </a:solidFill>
                  <a:latin typeface="+mn-lt"/>
                  <a:ea typeface="+mn-ea"/>
                  <a:cs typeface="+mn-cs"/>
                </a:rPr>
                <a:t>适合所有人/事态发展</a:t>
              </a:r>
            </a:p>
          </p:txBody>
        </p:sp>
        <p:sp>
          <p:nvSpPr>
            <p:cNvPr id="91" name="Rectangle 91"/>
            <p:cNvSpPr/>
            <p:nvPr/>
          </p:nvSpPr>
          <p:spPr>
            <a:xfrm>
              <a:off x="6000750" y="3619500"/>
              <a:ext cx="666750" cy="209550"/>
            </a:xfrm>
            <a:prstGeom prst="roundRect">
              <a:avLst>
                <a:gd name="adj" fmla="val 13636"/>
              </a:avLst>
            </a:prstGeom>
            <a:solidFill>
              <a:srgbClr val="9C594C"/>
            </a:solidFill>
            <a:ln>
              <a:noFill/>
            </a:ln>
          </p:spPr>
        </p:sp>
        <p:sp>
          <p:nvSpPr>
            <p:cNvPr id="92" name="TextBox 92"/>
            <p:cNvSpPr txBox="1"/>
            <p:nvPr/>
          </p:nvSpPr>
          <p:spPr>
            <a:xfrm>
              <a:off x="6127432" y="3681412"/>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产品会上</a:t>
              </a:r>
            </a:p>
          </p:txBody>
        </p:sp>
        <p:sp>
          <p:nvSpPr>
            <p:cNvPr id="93" name="Rectangle 93"/>
            <p:cNvSpPr/>
            <p:nvPr/>
          </p:nvSpPr>
          <p:spPr>
            <a:xfrm>
              <a:off x="6762750" y="3619500"/>
              <a:ext cx="666750" cy="209550"/>
            </a:xfrm>
            <a:prstGeom prst="roundRect">
              <a:avLst>
                <a:gd name="adj" fmla="val 13636"/>
              </a:avLst>
            </a:prstGeom>
            <a:solidFill>
              <a:srgbClr val="E9563C"/>
            </a:solidFill>
            <a:ln>
              <a:noFill/>
            </a:ln>
          </p:spPr>
        </p:sp>
        <p:sp>
          <p:nvSpPr>
            <p:cNvPr id="94" name="TextBox 94"/>
            <p:cNvSpPr txBox="1"/>
            <p:nvPr/>
          </p:nvSpPr>
          <p:spPr>
            <a:xfrm>
              <a:off x="6889432" y="3681412"/>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风险评估</a:t>
              </a:r>
            </a:p>
          </p:txBody>
        </p:sp>
        <p:sp>
          <p:nvSpPr>
            <p:cNvPr id="95" name="Rectangle 95"/>
            <p:cNvSpPr/>
            <p:nvPr/>
          </p:nvSpPr>
          <p:spPr>
            <a:xfrm>
              <a:off x="6000750" y="3905250"/>
              <a:ext cx="666750" cy="209550"/>
            </a:xfrm>
            <a:prstGeom prst="roundRect">
              <a:avLst>
                <a:gd name="adj" fmla="val 13636"/>
              </a:avLst>
            </a:prstGeom>
            <a:solidFill>
              <a:srgbClr val="9C594C"/>
            </a:solidFill>
            <a:ln>
              <a:noFill/>
            </a:ln>
          </p:spPr>
        </p:sp>
        <p:sp>
          <p:nvSpPr>
            <p:cNvPr id="96" name="TextBox 96"/>
            <p:cNvSpPr txBox="1"/>
            <p:nvPr/>
          </p:nvSpPr>
          <p:spPr>
            <a:xfrm>
              <a:off x="6127432" y="3967162"/>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采购成本</a:t>
              </a:r>
            </a:p>
          </p:txBody>
        </p:sp>
        <p:sp>
          <p:nvSpPr>
            <p:cNvPr id="97" name="Rectangle 97"/>
            <p:cNvSpPr/>
            <p:nvPr/>
          </p:nvSpPr>
          <p:spPr>
            <a:xfrm>
              <a:off x="6762750" y="3905250"/>
              <a:ext cx="666750" cy="209550"/>
            </a:xfrm>
            <a:prstGeom prst="roundRect">
              <a:avLst>
                <a:gd name="adj" fmla="val 13636"/>
              </a:avLst>
            </a:prstGeom>
            <a:solidFill>
              <a:srgbClr val="E9563C"/>
            </a:solidFill>
            <a:ln>
              <a:noFill/>
            </a:ln>
          </p:spPr>
        </p:sp>
        <p:sp>
          <p:nvSpPr>
            <p:cNvPr id="98" name="TextBox 98"/>
            <p:cNvSpPr txBox="1"/>
            <p:nvPr/>
          </p:nvSpPr>
          <p:spPr>
            <a:xfrm>
              <a:off x="6889432" y="3967162"/>
              <a:ext cx="413385"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成本计算</a:t>
              </a:r>
            </a:p>
          </p:txBody>
        </p:sp>
        <p:sp>
          <p:nvSpPr>
            <p:cNvPr id="99" name="TextBox 99"/>
            <p:cNvSpPr txBox="1"/>
            <p:nvPr/>
          </p:nvSpPr>
          <p:spPr>
            <a:xfrm>
              <a:off x="5995988" y="4235291"/>
              <a:ext cx="1560430" cy="314325"/>
            </a:xfrm>
            <a:prstGeom prst="rect">
              <a:avLst/>
            </a:prstGeom>
            <a:noFill/>
            <a:ln>
              <a:noFill/>
            </a:ln>
          </p:spPr>
          <p:txBody>
            <a:bodyPr wrap="none" lIns="0" tIns="0" rIns="0" bIns="0" anchor="t" anchorCtr="0">
              <a:spAutoFit/>
            </a:bodyPr>
            <a:lstStyle/>
            <a:p>
              <a:pPr algn="l" marL="92945" indent="-92945">
                <a:lnSpc>
                  <a:spcPts val="1200"/>
                </a:lnSpc>
                <a:buClr>
                  <a:srgbClr val="333333"/>
                </a:buClr>
                <a:buSzTx/>
                <a:buFontTx/>
                <a:buChar char="•"/>
              </a:pPr>
              <a:r>
                <a:rPr lang="zh-CN" sz="820" b="1" dirty="0">
                  <a:solidFill>
                    <a:srgbClr val="333333"/>
                  </a:solidFill>
                  <a:latin typeface="+mn-lt"/>
                  <a:ea typeface="+mn-ea"/>
                  <a:cs typeface="+mn-cs"/>
                </a:rPr>
                <a:t>渗透率和忠诚度是衡量品牌成功</a:t>
              </a:r>
              <a:br/>
              <a:r>
                <a:rPr lang="zh-CN" sz="820" b="1" dirty="0">
                  <a:solidFill>
                    <a:srgbClr val="333333"/>
                  </a:solidFill>
                  <a:latin typeface="+mn-lt"/>
                  <a:ea typeface="+mn-ea"/>
                  <a:cs typeface="+mn-cs"/>
                </a:rPr>
                <a:t>与否的关键标准</a:t>
              </a:r>
            </a:p>
          </p:txBody>
        </p:sp>
        <p:sp>
          <p:nvSpPr>
            <p:cNvPr id="100" name="TextBox 100"/>
            <p:cNvSpPr txBox="1"/>
            <p:nvPr/>
          </p:nvSpPr>
          <p:spPr>
            <a:xfrm>
              <a:off x="5995988" y="4617482"/>
              <a:ext cx="1866773" cy="526256"/>
            </a:xfrm>
            <a:prstGeom prst="rect">
              <a:avLst/>
            </a:prstGeom>
            <a:noFill/>
            <a:ln>
              <a:noFill/>
            </a:ln>
          </p:spPr>
          <p:txBody>
            <a:bodyPr wrap="none" lIns="0" tIns="0" rIns="0" bIns="0" anchor="t" anchorCtr="0">
              <a:spAutoFit/>
            </a:bodyPr>
            <a:lstStyle/>
            <a:p>
              <a:pPr algn="l">
                <a:lnSpc>
                  <a:spcPts val="1050"/>
                </a:lnSpc>
              </a:pPr>
              <a:r>
                <a:rPr lang="zh-CN" sz="640" dirty="0">
                  <a:solidFill>
                    <a:srgbClr val="595959"/>
                  </a:solidFill>
                  <a:latin typeface="+mn-lt"/>
                  <a:ea typeface="+mn-ea"/>
                  <a:cs typeface="+mn-cs"/>
                </a:rPr>
                <a:t>› 渗透率可以不断扩大消费者基础</a:t>
              </a:r>
              <a:br/>
              <a:r>
                <a:rPr lang="zh-CN" sz="640" dirty="0">
                  <a:solidFill>
                    <a:srgbClr val="595959"/>
                  </a:solidFill>
                  <a:latin typeface="+mn-lt"/>
                  <a:ea typeface="+mn-ea"/>
                  <a:cs typeface="+mn-cs"/>
                </a:rPr>
                <a:t>› 忠诚度增加了每个消费者个体对品牌产品和服务的</a:t>
              </a:r>
              <a:br/>
              <a:r>
                <a:rPr lang="zh-CN" sz="640" dirty="0">
                  <a:solidFill>
                    <a:srgbClr val="595959"/>
                  </a:solidFill>
                  <a:latin typeface="+mn-lt"/>
                  <a:ea typeface="+mn-ea"/>
                  <a:cs typeface="+mn-cs"/>
                </a:rPr>
                <a:t>消费渗透率可以不断扩大消费者基础</a:t>
              </a:r>
              <a:br/>
              <a:r>
                <a:rPr lang="zh-CN" sz="640" dirty="0">
                  <a:solidFill>
                    <a:srgbClr val="595959"/>
                  </a:solidFill>
                  <a:latin typeface="+mn-lt"/>
                  <a:ea typeface="+mn-ea"/>
                  <a:cs typeface="+mn-cs"/>
                </a:rPr>
                <a:t>› 忠诚度增加了每个消费者个体对品牌产品和服务</a:t>
              </a:r>
            </a:p>
          </p:txBody>
        </p:sp>
        <p:sp>
          <p:nvSpPr>
            <p:cNvPr id="101" name="Rectangle 101"/>
            <p:cNvSpPr/>
            <p:nvPr/>
          </p:nvSpPr>
          <p:spPr>
            <a:xfrm>
              <a:off x="7810500" y="3048000"/>
              <a:ext cx="3867150" cy="2266950"/>
            </a:xfrm>
            <a:prstGeom prst="rect">
              <a:avLst/>
            </a:prstGeom>
            <a:solidFill>
              <a:srgbClr val="FDFCF6"/>
            </a:solidFill>
            <a:ln w="9525">
              <a:solidFill>
                <a:srgbClr val="C9D8BD"/>
              </a:solidFill>
            </a:ln>
          </p:spPr>
        </p:sp>
        <p:sp>
          <p:nvSpPr>
            <p:cNvPr id="102" name="TextBox 102"/>
            <p:cNvSpPr txBox="1"/>
            <p:nvPr/>
          </p:nvSpPr>
          <p:spPr>
            <a:xfrm>
              <a:off x="7996238" y="3127534"/>
              <a:ext cx="375691" cy="133350"/>
            </a:xfrm>
            <a:prstGeom prst="rect">
              <a:avLst/>
            </a:prstGeom>
            <a:noFill/>
            <a:ln>
              <a:noFill/>
            </a:ln>
          </p:spPr>
          <p:txBody>
            <a:bodyPr wrap="none" lIns="0" tIns="0" rIns="0" bIns="0" anchor="t" anchorCtr="0">
              <a:spAutoFit/>
            </a:bodyPr>
            <a:lstStyle/>
            <a:p>
              <a:pPr algn="l"/>
              <a:r>
                <a:rPr lang="zh-CN" sz="680" dirty="0">
                  <a:solidFill>
                    <a:srgbClr val="595959"/>
                  </a:solidFill>
                  <a:latin typeface="+mn-lt"/>
                  <a:ea typeface="+mn-ea"/>
                  <a:cs typeface="+mn-cs"/>
                </a:rPr>
                <a:t>实现难度</a:t>
              </a:r>
            </a:p>
          </p:txBody>
        </p:sp>
        <p:sp>
          <p:nvSpPr>
            <p:cNvPr id="103" name="TextBox 103"/>
            <p:cNvSpPr txBox="1"/>
            <p:nvPr/>
          </p:nvSpPr>
          <p:spPr>
            <a:xfrm>
              <a:off x="11234738" y="3131582"/>
              <a:ext cx="181839" cy="126206"/>
            </a:xfrm>
            <a:prstGeom prst="rect">
              <a:avLst/>
            </a:prstGeom>
            <a:noFill/>
            <a:ln>
              <a:noFill/>
            </a:ln>
          </p:spPr>
          <p:txBody>
            <a:bodyPr wrap="none" lIns="0" tIns="0" rIns="0" bIns="0" anchor="t" anchorCtr="0">
              <a:spAutoFit/>
            </a:bodyPr>
            <a:lstStyle/>
            <a:p>
              <a:pPr algn="l"/>
              <a:r>
                <a:rPr lang="zh-CN" sz="640" dirty="0">
                  <a:solidFill>
                    <a:srgbClr val="8C8C8C"/>
                  </a:solidFill>
                  <a:latin typeface="+mn-lt"/>
                  <a:ea typeface="+mn-ea"/>
                  <a:cs typeface="+mn-cs"/>
                </a:rPr>
                <a:t>均线</a:t>
              </a:r>
            </a:p>
          </p:txBody>
        </p:sp>
        <p:sp>
          <p:nvSpPr>
            <p:cNvPr id="104" name="Line 104"/>
            <p:cNvSpPr/>
            <p:nvPr/>
          </p:nvSpPr>
          <p:spPr>
            <a:xfrm>
              <a:off x="8096250" y="3238500"/>
              <a:ext cx="3457575" cy="9525"/>
            </a:xfrm>
            <a:custGeom>
              <a:avLst/>
              <a:gdLst/>
              <a:ahLst/>
              <a:cxnLst/>
              <a:rect l="l" t="t" r="r" b="b"/>
              <a:pathLst>
                <a:path w="3457575" h="9525">
                  <a:moveTo>
                    <a:pt x="0" y="0"/>
                  </a:moveTo>
                  <a:lnTo>
                    <a:pt x="3457575" y="0"/>
                  </a:lnTo>
                </a:path>
              </a:pathLst>
            </a:custGeom>
            <a:noFill/>
            <a:ln w="9525">
              <a:solidFill>
                <a:srgbClr val="C9D8BD"/>
              </a:solidFill>
              <a:custDash>
                <a:ds d="400000" sp="300000"/>
              </a:custDash>
            </a:ln>
          </p:spPr>
        </p:sp>
        <p:sp>
          <p:nvSpPr>
            <p:cNvPr id="105" name="TextBox 105"/>
            <p:cNvSpPr txBox="1"/>
            <p:nvPr/>
          </p:nvSpPr>
          <p:spPr>
            <a:xfrm>
              <a:off x="7970863" y="3202305"/>
              <a:ext cx="53950" cy="119062"/>
            </a:xfrm>
            <a:prstGeom prst="rect">
              <a:avLst/>
            </a:prstGeom>
            <a:noFill/>
            <a:ln>
              <a:noFill/>
            </a:ln>
          </p:spPr>
          <p:txBody>
            <a:bodyPr wrap="none" lIns="0" tIns="0" rIns="0" bIns="0" anchor="t" anchorCtr="0">
              <a:spAutoFit/>
            </a:bodyPr>
            <a:lstStyle/>
            <a:p>
              <a:pPr algn="r"/>
              <a:r>
                <a:rPr lang="zh-CN" sz="600" dirty="0">
                  <a:solidFill>
                    <a:srgbClr val="8C8C8C"/>
                  </a:solidFill>
                  <a:latin typeface="+mn-lt"/>
                  <a:ea typeface="+mn-ea"/>
                  <a:cs typeface="+mn-cs"/>
                </a:rPr>
                <a:t>7</a:t>
              </a:r>
            </a:p>
          </p:txBody>
        </p:sp>
        <p:sp>
          <p:nvSpPr>
            <p:cNvPr id="106" name="TextBox 106"/>
            <p:cNvSpPr txBox="1"/>
            <p:nvPr/>
          </p:nvSpPr>
          <p:spPr>
            <a:xfrm>
              <a:off x="7970863" y="3526155"/>
              <a:ext cx="53950" cy="119062"/>
            </a:xfrm>
            <a:prstGeom prst="rect">
              <a:avLst/>
            </a:prstGeom>
            <a:noFill/>
            <a:ln>
              <a:noFill/>
            </a:ln>
          </p:spPr>
          <p:txBody>
            <a:bodyPr wrap="none" lIns="0" tIns="0" rIns="0" bIns="0" anchor="t" anchorCtr="0">
              <a:spAutoFit/>
            </a:bodyPr>
            <a:lstStyle/>
            <a:p>
              <a:pPr algn="r"/>
              <a:r>
                <a:rPr lang="zh-CN" sz="600" dirty="0">
                  <a:solidFill>
                    <a:srgbClr val="8C8C8C"/>
                  </a:solidFill>
                  <a:latin typeface="+mn-lt"/>
                  <a:ea typeface="+mn-ea"/>
                  <a:cs typeface="+mn-cs"/>
                </a:rPr>
                <a:t>6</a:t>
              </a:r>
            </a:p>
          </p:txBody>
        </p:sp>
        <p:sp>
          <p:nvSpPr>
            <p:cNvPr id="107" name="TextBox 107"/>
            <p:cNvSpPr txBox="1"/>
            <p:nvPr/>
          </p:nvSpPr>
          <p:spPr>
            <a:xfrm>
              <a:off x="7970863" y="3840480"/>
              <a:ext cx="53950" cy="119062"/>
            </a:xfrm>
            <a:prstGeom prst="rect">
              <a:avLst/>
            </a:prstGeom>
            <a:noFill/>
            <a:ln>
              <a:noFill/>
            </a:ln>
          </p:spPr>
          <p:txBody>
            <a:bodyPr wrap="none" lIns="0" tIns="0" rIns="0" bIns="0" anchor="t" anchorCtr="0">
              <a:spAutoFit/>
            </a:bodyPr>
            <a:lstStyle/>
            <a:p>
              <a:pPr algn="r"/>
              <a:r>
                <a:rPr lang="zh-CN" sz="600" dirty="0">
                  <a:solidFill>
                    <a:srgbClr val="8C8C8C"/>
                  </a:solidFill>
                  <a:latin typeface="+mn-lt"/>
                  <a:ea typeface="+mn-ea"/>
                  <a:cs typeface="+mn-cs"/>
                </a:rPr>
                <a:t>5</a:t>
              </a:r>
            </a:p>
          </p:txBody>
        </p:sp>
        <p:sp>
          <p:nvSpPr>
            <p:cNvPr id="108" name="TextBox 108"/>
            <p:cNvSpPr txBox="1"/>
            <p:nvPr/>
          </p:nvSpPr>
          <p:spPr>
            <a:xfrm>
              <a:off x="7970863" y="4154805"/>
              <a:ext cx="53950" cy="119062"/>
            </a:xfrm>
            <a:prstGeom prst="rect">
              <a:avLst/>
            </a:prstGeom>
            <a:noFill/>
            <a:ln>
              <a:noFill/>
            </a:ln>
          </p:spPr>
          <p:txBody>
            <a:bodyPr wrap="none" lIns="0" tIns="0" rIns="0" bIns="0" anchor="t" anchorCtr="0">
              <a:spAutoFit/>
            </a:bodyPr>
            <a:lstStyle/>
            <a:p>
              <a:pPr algn="r"/>
              <a:r>
                <a:rPr lang="zh-CN" sz="600" dirty="0">
                  <a:solidFill>
                    <a:srgbClr val="8C8C8C"/>
                  </a:solidFill>
                  <a:latin typeface="+mn-lt"/>
                  <a:ea typeface="+mn-ea"/>
                  <a:cs typeface="+mn-cs"/>
                </a:rPr>
                <a:t>4</a:t>
              </a:r>
            </a:p>
          </p:txBody>
        </p:sp>
        <p:sp>
          <p:nvSpPr>
            <p:cNvPr id="109" name="TextBox 109"/>
            <p:cNvSpPr txBox="1"/>
            <p:nvPr/>
          </p:nvSpPr>
          <p:spPr>
            <a:xfrm>
              <a:off x="7970863" y="4478655"/>
              <a:ext cx="53950" cy="119062"/>
            </a:xfrm>
            <a:prstGeom prst="rect">
              <a:avLst/>
            </a:prstGeom>
            <a:noFill/>
            <a:ln>
              <a:noFill/>
            </a:ln>
          </p:spPr>
          <p:txBody>
            <a:bodyPr wrap="none" lIns="0" tIns="0" rIns="0" bIns="0" anchor="t" anchorCtr="0">
              <a:spAutoFit/>
            </a:bodyPr>
            <a:lstStyle/>
            <a:p>
              <a:pPr algn="r"/>
              <a:r>
                <a:rPr lang="zh-CN" sz="600" dirty="0">
                  <a:solidFill>
                    <a:srgbClr val="8C8C8C"/>
                  </a:solidFill>
                  <a:latin typeface="+mn-lt"/>
                  <a:ea typeface="+mn-ea"/>
                  <a:cs typeface="+mn-cs"/>
                </a:rPr>
                <a:t>3</a:t>
              </a:r>
            </a:p>
          </p:txBody>
        </p:sp>
        <p:sp>
          <p:nvSpPr>
            <p:cNvPr id="110" name="TextBox 110"/>
            <p:cNvSpPr txBox="1"/>
            <p:nvPr/>
          </p:nvSpPr>
          <p:spPr>
            <a:xfrm>
              <a:off x="7970863" y="4792980"/>
              <a:ext cx="53950" cy="119062"/>
            </a:xfrm>
            <a:prstGeom prst="rect">
              <a:avLst/>
            </a:prstGeom>
            <a:noFill/>
            <a:ln>
              <a:noFill/>
            </a:ln>
          </p:spPr>
          <p:txBody>
            <a:bodyPr wrap="none" lIns="0" tIns="0" rIns="0" bIns="0" anchor="t" anchorCtr="0">
              <a:spAutoFit/>
            </a:bodyPr>
            <a:lstStyle/>
            <a:p>
              <a:pPr algn="r"/>
              <a:r>
                <a:rPr lang="zh-CN" sz="600" dirty="0">
                  <a:solidFill>
                    <a:srgbClr val="8C8C8C"/>
                  </a:solidFill>
                  <a:latin typeface="+mn-lt"/>
                  <a:ea typeface="+mn-ea"/>
                  <a:cs typeface="+mn-cs"/>
                </a:rPr>
                <a:t>2</a:t>
              </a:r>
            </a:p>
          </p:txBody>
        </p:sp>
        <p:sp>
          <p:nvSpPr>
            <p:cNvPr id="111" name="TextBox 111"/>
            <p:cNvSpPr txBox="1"/>
            <p:nvPr/>
          </p:nvSpPr>
          <p:spPr>
            <a:xfrm>
              <a:off x="7970863" y="5107305"/>
              <a:ext cx="53950" cy="119062"/>
            </a:xfrm>
            <a:prstGeom prst="rect">
              <a:avLst/>
            </a:prstGeom>
            <a:noFill/>
            <a:ln>
              <a:noFill/>
            </a:ln>
          </p:spPr>
          <p:txBody>
            <a:bodyPr wrap="none" lIns="0" tIns="0" rIns="0" bIns="0" anchor="t" anchorCtr="0">
              <a:spAutoFit/>
            </a:bodyPr>
            <a:lstStyle/>
            <a:p>
              <a:pPr algn="r"/>
              <a:r>
                <a:rPr lang="zh-CN" sz="600" dirty="0">
                  <a:solidFill>
                    <a:srgbClr val="8C8C8C"/>
                  </a:solidFill>
                  <a:latin typeface="+mn-lt"/>
                  <a:ea typeface="+mn-ea"/>
                  <a:cs typeface="+mn-cs"/>
                </a:rPr>
                <a:t>1</a:t>
              </a:r>
            </a:p>
          </p:txBody>
        </p:sp>
        <p:sp>
          <p:nvSpPr>
            <p:cNvPr id="112" name="Line 112"/>
            <p:cNvSpPr/>
            <p:nvPr/>
          </p:nvSpPr>
          <p:spPr>
            <a:xfrm>
              <a:off x="8096250" y="5143500"/>
              <a:ext cx="3457575" cy="9525"/>
            </a:xfrm>
            <a:custGeom>
              <a:avLst/>
              <a:gdLst/>
              <a:ahLst/>
              <a:cxnLst/>
              <a:rect l="l" t="t" r="r" b="b"/>
              <a:pathLst>
                <a:path w="3457575" h="9525">
                  <a:moveTo>
                    <a:pt x="0" y="0"/>
                  </a:moveTo>
                  <a:lnTo>
                    <a:pt x="3457575" y="0"/>
                  </a:lnTo>
                </a:path>
              </a:pathLst>
            </a:custGeom>
            <a:noFill/>
            <a:ln w="9525">
              <a:solidFill>
                <a:srgbClr val="9AA69A"/>
              </a:solidFill>
            </a:ln>
          </p:spPr>
        </p:sp>
        <p:sp>
          <p:nvSpPr>
            <p:cNvPr id="113" name="Line 113"/>
            <p:cNvSpPr/>
            <p:nvPr/>
          </p:nvSpPr>
          <p:spPr>
            <a:xfrm>
              <a:off x="8096250" y="3238500"/>
              <a:ext cx="9525" cy="1905000"/>
            </a:xfrm>
            <a:custGeom>
              <a:avLst/>
              <a:gdLst/>
              <a:ahLst/>
              <a:cxnLst/>
              <a:rect l="l" t="t" r="r" b="b"/>
              <a:pathLst>
                <a:path w="9525" h="1905000">
                  <a:moveTo>
                    <a:pt x="0" y="0"/>
                  </a:moveTo>
                  <a:lnTo>
                    <a:pt x="0" y="1905000"/>
                  </a:lnTo>
                </a:path>
              </a:pathLst>
            </a:custGeom>
            <a:noFill/>
            <a:ln w="9525">
              <a:solidFill>
                <a:srgbClr val="9AA69A"/>
              </a:solidFill>
            </a:ln>
          </p:spPr>
        </p:sp>
        <p:sp>
          <p:nvSpPr>
            <p:cNvPr id="114" name="Polyline 114"/>
            <p:cNvSpPr/>
            <p:nvPr/>
          </p:nvSpPr>
          <p:spPr>
            <a:xfrm>
              <a:off x="8096250" y="3714750"/>
              <a:ext cx="3457575" cy="828675"/>
            </a:xfrm>
            <a:custGeom>
              <a:avLst/>
              <a:gdLst/>
              <a:ahLst/>
              <a:cxnLst/>
              <a:rect l="l" t="t" r="r" b="b"/>
              <a:pathLst>
                <a:path w="3457575" h="828675">
                  <a:moveTo>
                    <a:pt x="0" y="0"/>
                  </a:moveTo>
                  <a:lnTo>
                    <a:pt x="314325" y="95250"/>
                  </a:lnTo>
                  <a:lnTo>
                    <a:pt x="628650" y="733425"/>
                  </a:lnTo>
                  <a:lnTo>
                    <a:pt x="942975" y="600075"/>
                  </a:lnTo>
                  <a:lnTo>
                    <a:pt x="1257300" y="28575"/>
                  </a:lnTo>
                  <a:lnTo>
                    <a:pt x="1571625" y="409575"/>
                  </a:lnTo>
                  <a:lnTo>
                    <a:pt x="1885950" y="828675"/>
                  </a:lnTo>
                  <a:lnTo>
                    <a:pt x="2200275" y="600075"/>
                  </a:lnTo>
                  <a:lnTo>
                    <a:pt x="2514600" y="409575"/>
                  </a:lnTo>
                  <a:lnTo>
                    <a:pt x="2828925" y="219075"/>
                  </a:lnTo>
                  <a:lnTo>
                    <a:pt x="3143250" y="95250"/>
                  </a:lnTo>
                  <a:lnTo>
                    <a:pt x="3457575" y="161925"/>
                  </a:lnTo>
                </a:path>
              </a:pathLst>
            </a:custGeom>
            <a:noFill/>
            <a:ln w="19050">
              <a:solidFill>
                <a:srgbClr val="9C594C"/>
              </a:solidFill>
            </a:ln>
          </p:spPr>
        </p:sp>
        <p:sp>
          <p:nvSpPr>
            <p:cNvPr id="115" name="Ellipse 115"/>
            <p:cNvSpPr/>
            <p:nvPr/>
          </p:nvSpPr>
          <p:spPr>
            <a:xfrm>
              <a:off x="8372475" y="3771900"/>
              <a:ext cx="76200" cy="76200"/>
            </a:xfrm>
            <a:prstGeom prst="ellipse">
              <a:avLst/>
            </a:prstGeom>
            <a:solidFill>
              <a:srgbClr val="FFFFFF"/>
            </a:solidFill>
            <a:ln w="14288">
              <a:solidFill>
                <a:srgbClr val="9C594C"/>
              </a:solidFill>
            </a:ln>
          </p:spPr>
        </p:sp>
        <p:sp>
          <p:nvSpPr>
            <p:cNvPr id="116" name="TextBox 116"/>
            <p:cNvSpPr txBox="1"/>
            <p:nvPr/>
          </p:nvSpPr>
          <p:spPr>
            <a:xfrm>
              <a:off x="8284654" y="3649980"/>
              <a:ext cx="251841"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行程单</a:t>
              </a:r>
            </a:p>
          </p:txBody>
        </p:sp>
        <p:sp>
          <p:nvSpPr>
            <p:cNvPr id="117" name="Ellipse 117"/>
            <p:cNvSpPr/>
            <p:nvPr/>
          </p:nvSpPr>
          <p:spPr>
            <a:xfrm>
              <a:off x="8686800" y="4410075"/>
              <a:ext cx="76200" cy="76200"/>
            </a:xfrm>
            <a:prstGeom prst="ellipse">
              <a:avLst/>
            </a:prstGeom>
            <a:solidFill>
              <a:srgbClr val="FFFFFF"/>
            </a:solidFill>
            <a:ln w="14288">
              <a:solidFill>
                <a:srgbClr val="E9563C"/>
              </a:solidFill>
            </a:ln>
          </p:spPr>
        </p:sp>
        <p:sp>
          <p:nvSpPr>
            <p:cNvPr id="118" name="TextBox 118"/>
            <p:cNvSpPr txBox="1"/>
            <p:nvPr/>
          </p:nvSpPr>
          <p:spPr>
            <a:xfrm>
              <a:off x="8558594" y="4526280"/>
              <a:ext cx="332613"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预留数据</a:t>
              </a:r>
            </a:p>
          </p:txBody>
        </p:sp>
        <p:sp>
          <p:nvSpPr>
            <p:cNvPr id="119" name="Ellipse 119"/>
            <p:cNvSpPr/>
            <p:nvPr/>
          </p:nvSpPr>
          <p:spPr>
            <a:xfrm>
              <a:off x="9315450" y="3705225"/>
              <a:ext cx="76200" cy="76200"/>
            </a:xfrm>
            <a:prstGeom prst="ellipse">
              <a:avLst/>
            </a:prstGeom>
            <a:solidFill>
              <a:srgbClr val="FFFFFF"/>
            </a:solidFill>
            <a:ln w="14288">
              <a:solidFill>
                <a:srgbClr val="9C594C"/>
              </a:solidFill>
            </a:ln>
          </p:spPr>
        </p:sp>
        <p:sp>
          <p:nvSpPr>
            <p:cNvPr id="120" name="TextBox 120"/>
            <p:cNvSpPr txBox="1"/>
            <p:nvPr/>
          </p:nvSpPr>
          <p:spPr>
            <a:xfrm>
              <a:off x="9187244" y="3583305"/>
              <a:ext cx="332613"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限制投运</a:t>
              </a:r>
            </a:p>
          </p:txBody>
        </p:sp>
        <p:sp>
          <p:nvSpPr>
            <p:cNvPr id="121" name="Ellipse 121"/>
            <p:cNvSpPr/>
            <p:nvPr/>
          </p:nvSpPr>
          <p:spPr>
            <a:xfrm>
              <a:off x="9944100" y="4505325"/>
              <a:ext cx="76200" cy="76200"/>
            </a:xfrm>
            <a:prstGeom prst="ellipse">
              <a:avLst/>
            </a:prstGeom>
            <a:solidFill>
              <a:srgbClr val="FFFFFF"/>
            </a:solidFill>
            <a:ln w="14288">
              <a:solidFill>
                <a:srgbClr val="E9563C"/>
              </a:solidFill>
            </a:ln>
          </p:spPr>
        </p:sp>
        <p:sp>
          <p:nvSpPr>
            <p:cNvPr id="122" name="TextBox 122"/>
            <p:cNvSpPr txBox="1"/>
            <p:nvPr/>
          </p:nvSpPr>
          <p:spPr>
            <a:xfrm>
              <a:off x="9896666" y="4621530"/>
              <a:ext cx="171069"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数量</a:t>
              </a:r>
            </a:p>
          </p:txBody>
        </p:sp>
        <p:sp>
          <p:nvSpPr>
            <p:cNvPr id="123" name="Ellipse 123"/>
            <p:cNvSpPr/>
            <p:nvPr/>
          </p:nvSpPr>
          <p:spPr>
            <a:xfrm>
              <a:off x="10258425" y="4276725"/>
              <a:ext cx="76200" cy="76200"/>
            </a:xfrm>
            <a:prstGeom prst="ellipse">
              <a:avLst/>
            </a:prstGeom>
            <a:solidFill>
              <a:srgbClr val="FFFFFF"/>
            </a:solidFill>
            <a:ln w="14288">
              <a:solidFill>
                <a:srgbClr val="9C594C"/>
              </a:solidFill>
            </a:ln>
          </p:spPr>
        </p:sp>
        <p:sp>
          <p:nvSpPr>
            <p:cNvPr id="124" name="TextBox 124"/>
            <p:cNvSpPr txBox="1"/>
            <p:nvPr/>
          </p:nvSpPr>
          <p:spPr>
            <a:xfrm>
              <a:off x="10130218" y="4154805"/>
              <a:ext cx="332613"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预定信息</a:t>
              </a:r>
            </a:p>
          </p:txBody>
        </p:sp>
        <p:sp>
          <p:nvSpPr>
            <p:cNvPr id="125" name="Ellipse 125"/>
            <p:cNvSpPr/>
            <p:nvPr/>
          </p:nvSpPr>
          <p:spPr>
            <a:xfrm>
              <a:off x="11515725" y="3838575"/>
              <a:ext cx="76200" cy="76200"/>
            </a:xfrm>
            <a:prstGeom prst="ellipse">
              <a:avLst/>
            </a:prstGeom>
            <a:solidFill>
              <a:srgbClr val="FFFFFF"/>
            </a:solidFill>
            <a:ln w="14288">
              <a:solidFill>
                <a:srgbClr val="9C594C"/>
              </a:solidFill>
            </a:ln>
          </p:spPr>
        </p:sp>
        <p:sp>
          <p:nvSpPr>
            <p:cNvPr id="126" name="TextBox 126"/>
            <p:cNvSpPr txBox="1"/>
            <p:nvPr/>
          </p:nvSpPr>
          <p:spPr>
            <a:xfrm>
              <a:off x="11344466" y="3935730"/>
              <a:ext cx="171069"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均线</a:t>
              </a:r>
            </a:p>
          </p:txBody>
        </p:sp>
        <p:sp>
          <p:nvSpPr>
            <p:cNvPr id="127" name="TextBox 127"/>
            <p:cNvSpPr txBox="1"/>
            <p:nvPr/>
          </p:nvSpPr>
          <p:spPr>
            <a:xfrm>
              <a:off x="8006997" y="5216128"/>
              <a:ext cx="178506"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Jan​</a:t>
              </a:r>
            </a:p>
          </p:txBody>
        </p:sp>
        <p:sp>
          <p:nvSpPr>
            <p:cNvPr id="128" name="TextBox 128"/>
            <p:cNvSpPr txBox="1"/>
            <p:nvPr/>
          </p:nvSpPr>
          <p:spPr>
            <a:xfrm>
              <a:off x="8321322" y="5216128"/>
              <a:ext cx="178506"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Feb​</a:t>
              </a:r>
            </a:p>
          </p:txBody>
        </p:sp>
        <p:sp>
          <p:nvSpPr>
            <p:cNvPr id="129" name="TextBox 129"/>
            <p:cNvSpPr txBox="1"/>
            <p:nvPr/>
          </p:nvSpPr>
          <p:spPr>
            <a:xfrm>
              <a:off x="8627966" y="5216128"/>
              <a:ext cx="193868"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Mar​</a:t>
              </a:r>
            </a:p>
          </p:txBody>
        </p:sp>
        <p:sp>
          <p:nvSpPr>
            <p:cNvPr id="130" name="TextBox 130"/>
            <p:cNvSpPr txBox="1"/>
            <p:nvPr/>
          </p:nvSpPr>
          <p:spPr>
            <a:xfrm>
              <a:off x="8949972" y="5216128"/>
              <a:ext cx="178506"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Apr​</a:t>
              </a:r>
            </a:p>
          </p:txBody>
        </p:sp>
        <p:sp>
          <p:nvSpPr>
            <p:cNvPr id="131" name="TextBox 131"/>
            <p:cNvSpPr txBox="1"/>
            <p:nvPr/>
          </p:nvSpPr>
          <p:spPr>
            <a:xfrm>
              <a:off x="9256616" y="5216128"/>
              <a:ext cx="193868"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May​</a:t>
              </a:r>
            </a:p>
          </p:txBody>
        </p:sp>
        <p:sp>
          <p:nvSpPr>
            <p:cNvPr id="132" name="TextBox 132"/>
            <p:cNvSpPr txBox="1"/>
            <p:nvPr/>
          </p:nvSpPr>
          <p:spPr>
            <a:xfrm>
              <a:off x="9578622" y="5216128"/>
              <a:ext cx="178506"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Jun​</a:t>
              </a:r>
            </a:p>
          </p:txBody>
        </p:sp>
        <p:sp>
          <p:nvSpPr>
            <p:cNvPr id="133" name="TextBox 133"/>
            <p:cNvSpPr txBox="1"/>
            <p:nvPr/>
          </p:nvSpPr>
          <p:spPr>
            <a:xfrm>
              <a:off x="9902548" y="5216128"/>
              <a:ext cx="159304"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Jul​</a:t>
              </a:r>
            </a:p>
          </p:txBody>
        </p:sp>
        <p:sp>
          <p:nvSpPr>
            <p:cNvPr id="134" name="TextBox 134"/>
            <p:cNvSpPr txBox="1"/>
            <p:nvPr/>
          </p:nvSpPr>
          <p:spPr>
            <a:xfrm>
              <a:off x="10207272" y="5216128"/>
              <a:ext cx="178506"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Aug​</a:t>
              </a:r>
            </a:p>
          </p:txBody>
        </p:sp>
        <p:sp>
          <p:nvSpPr>
            <p:cNvPr id="135" name="TextBox 135"/>
            <p:cNvSpPr txBox="1"/>
            <p:nvPr/>
          </p:nvSpPr>
          <p:spPr>
            <a:xfrm>
              <a:off x="10521597" y="5216128"/>
              <a:ext cx="178506"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Sep​</a:t>
              </a:r>
            </a:p>
          </p:txBody>
        </p:sp>
        <p:sp>
          <p:nvSpPr>
            <p:cNvPr id="136" name="TextBox 136"/>
            <p:cNvSpPr txBox="1"/>
            <p:nvPr/>
          </p:nvSpPr>
          <p:spPr>
            <a:xfrm>
              <a:off x="10828241" y="5216128"/>
              <a:ext cx="193868"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Oct​</a:t>
              </a:r>
            </a:p>
          </p:txBody>
        </p:sp>
        <p:sp>
          <p:nvSpPr>
            <p:cNvPr id="137" name="TextBox 137"/>
            <p:cNvSpPr txBox="1"/>
            <p:nvPr/>
          </p:nvSpPr>
          <p:spPr>
            <a:xfrm>
              <a:off x="11150247" y="5216128"/>
              <a:ext cx="178506"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Nov​</a:t>
              </a:r>
            </a:p>
          </p:txBody>
        </p:sp>
        <p:sp>
          <p:nvSpPr>
            <p:cNvPr id="138" name="TextBox 138"/>
            <p:cNvSpPr txBox="1"/>
            <p:nvPr/>
          </p:nvSpPr>
          <p:spPr>
            <a:xfrm>
              <a:off x="11464572" y="5216128"/>
              <a:ext cx="178506" cy="111919"/>
            </a:xfrm>
            <a:prstGeom prst="rect">
              <a:avLst/>
            </a:prstGeom>
            <a:noFill/>
            <a:ln>
              <a:noFill/>
            </a:ln>
          </p:spPr>
          <p:txBody>
            <a:bodyPr wrap="none" lIns="0" tIns="0" rIns="0" bIns="0" anchor="t" anchorCtr="0">
              <a:spAutoFit/>
            </a:bodyPr>
            <a:lstStyle/>
            <a:p>
              <a:pPr algn="ctr"/>
              <a:r>
                <a:rPr lang="en-US" sz="560" dirty="0">
                  <a:solidFill>
                    <a:srgbClr val="8C8C8C"/>
                  </a:solidFill>
                  <a:latin typeface="+mn-lt"/>
                  <a:ea typeface="+mn-ea"/>
                  <a:cs typeface="+mn-cs"/>
                </a:rPr>
                <a:t>Dec​</a:t>
              </a:r>
            </a:p>
          </p:txBody>
        </p:sp>
        <p:sp>
          <p:nvSpPr>
            <p:cNvPr id="139" name="TextBox 139"/>
            <p:cNvSpPr txBox="1"/>
            <p:nvPr/>
          </p:nvSpPr>
          <p:spPr>
            <a:xfrm>
              <a:off x="7442924" y="5208032"/>
              <a:ext cx="354152" cy="126206"/>
            </a:xfrm>
            <a:prstGeom prst="rect">
              <a:avLst/>
            </a:prstGeom>
            <a:noFill/>
            <a:ln>
              <a:noFill/>
            </a:ln>
          </p:spPr>
          <p:txBody>
            <a:bodyPr wrap="none" lIns="0" tIns="0" rIns="0" bIns="0" anchor="t" anchorCtr="0">
              <a:spAutoFit/>
            </a:bodyPr>
            <a:lstStyle/>
            <a:p>
              <a:pPr algn="ctr"/>
              <a:r>
                <a:rPr lang="zh-CN" sz="640" dirty="0">
                  <a:solidFill>
                    <a:srgbClr val="595959"/>
                  </a:solidFill>
                  <a:latin typeface="+mn-lt"/>
                  <a:ea typeface="+mn-ea"/>
                  <a:cs typeface="+mn-cs"/>
                </a:rPr>
                <a:t>增强形象</a:t>
              </a:r>
            </a:p>
          </p:txBody>
        </p:sp>
      </p:grpSp>
      <p:grpSp>
        <p:nvGrpSpPr>
          <p:cNvPr id="143" name="page-footer"/>
          <p:cNvGrpSpPr/>
          <p:nvPr/>
        </p:nvGrpSpPr>
        <p:grpSpPr>
          <a:xfrm>
            <a:off x="376238" y="6689884"/>
            <a:ext cx="11439524" cy="133350"/>
            <a:chOff x="376238" y="6689884"/>
            <a:chExt cx="11439524" cy="133350"/>
          </a:xfrm>
        </p:grpSpPr>
        <p:sp>
          <p:nvSpPr>
            <p:cNvPr id="141" name="TextBox 141"/>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42" name="TextBox 142"/>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15</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6" name="risk-card"/>
          <p:cNvGrpSpPr/>
          <p:nvPr/>
        </p:nvGrpSpPr>
        <p:grpSpPr>
          <a:xfrm>
            <a:off x="381000" y="800100"/>
            <a:ext cx="4762500" cy="628650"/>
            <a:chOff x="381000" y="800100"/>
            <a:chExt cx="4762500" cy="628650"/>
          </a:xfrm>
        </p:grpSpPr>
        <p:sp>
          <p:nvSpPr>
            <p:cNvPr id="8" name="Rectangle 8"/>
            <p:cNvSpPr/>
            <p:nvPr/>
          </p:nvSpPr>
          <p:spPr>
            <a:xfrm>
              <a:off x="381000" y="800100"/>
              <a:ext cx="4762500" cy="628650"/>
            </a:xfrm>
            <a:prstGeom prst="roundRect">
              <a:avLst>
                <a:gd name="adj" fmla="val 9091"/>
              </a:avLst>
            </a:prstGeom>
            <a:solidFill>
              <a:srgbClr val="FDF6E7"/>
            </a:solidFill>
            <a:ln w="11430">
              <a:solidFill>
                <a:srgbClr val="E9563C"/>
              </a:solidFill>
              <a:custDash>
                <a:ds d="416667" sp="250000"/>
              </a:custDash>
            </a:ln>
          </p:spPr>
        </p:sp>
        <p:grpSp>
          <p:nvGrpSpPr>
            <p:cNvPr id="13" name="Group 13"/>
            <p:cNvGrpSpPr/>
            <p:nvPr/>
          </p:nvGrpSpPr>
          <p:grpSpPr>
            <a:xfrm>
              <a:off x="519112" y="1014412"/>
              <a:ext cx="142875" cy="142875"/>
              <a:chOff x="519112" y="1014412"/>
              <a:chExt cx="142875" cy="142875"/>
            </a:xfrm>
          </p:grpSpPr>
          <p:sp>
            <p:nvSpPr>
              <p:cNvPr id="9" name="Freeform 9"/>
              <p:cNvSpPr/>
              <p:nvPr/>
            </p:nvSpPr>
            <p:spPr>
              <a:xfrm>
                <a:off x="534987" y="10144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D6391E"/>
                </a:solidFill>
              </a:ln>
            </p:spPr>
          </p:sp>
          <p:sp>
            <p:nvSpPr>
              <p:cNvPr id="10" name="Freeform 10"/>
              <p:cNvSpPr/>
              <p:nvPr/>
            </p:nvSpPr>
            <p:spPr>
              <a:xfrm>
                <a:off x="519112" y="11096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D6391E"/>
                </a:solidFill>
              </a:ln>
            </p:spPr>
          </p:sp>
          <p:sp>
            <p:nvSpPr>
              <p:cNvPr id="11" name="Freeform 11"/>
              <p:cNvSpPr/>
              <p:nvPr/>
            </p:nvSpPr>
            <p:spPr>
              <a:xfrm>
                <a:off x="622300" y="10154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D6391E"/>
                </a:solidFill>
              </a:ln>
            </p:spPr>
          </p:sp>
          <p:sp>
            <p:nvSpPr>
              <p:cNvPr id="12" name="Freeform 12"/>
              <p:cNvSpPr/>
              <p:nvPr/>
            </p:nvSpPr>
            <p:spPr>
              <a:xfrm>
                <a:off x="638175" y="11108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D6391E"/>
                </a:solidFill>
              </a:ln>
            </p:spPr>
          </p:sp>
        </p:grpSp>
        <p:sp>
          <p:nvSpPr>
            <p:cNvPr id="14" name="TextBox 14"/>
            <p:cNvSpPr txBox="1"/>
            <p:nvPr/>
          </p:nvSpPr>
          <p:spPr>
            <a:xfrm>
              <a:off x="757047" y="952024"/>
              <a:ext cx="507746" cy="362141"/>
            </a:xfrm>
            <a:prstGeom prst="rect">
              <a:avLst/>
            </a:prstGeom>
            <a:noFill/>
            <a:ln>
              <a:noFill/>
            </a:ln>
          </p:spPr>
          <p:txBody>
            <a:bodyPr wrap="none" lIns="0" tIns="0" rIns="0" bIns="0" anchor="t" anchorCtr="0">
              <a:spAutoFit/>
            </a:bodyPr>
            <a:lstStyle/>
            <a:p>
              <a:pPr algn="l">
                <a:lnSpc>
                  <a:spcPts val="1350"/>
                </a:lnSpc>
              </a:pPr>
              <a:r>
                <a:rPr lang="zh-CN" sz="980" b="1" dirty="0">
                  <a:solidFill>
                    <a:srgbClr val="D6391E"/>
                  </a:solidFill>
                  <a:latin typeface="+mn-lt"/>
                  <a:ea typeface="+mn-ea"/>
                  <a:cs typeface="+mn-cs"/>
                </a:rPr>
                <a:t>风险评估</a:t>
              </a:r>
              <a:br/>
              <a:r>
                <a:rPr lang="zh-CN" sz="980" b="1" dirty="0">
                  <a:solidFill>
                    <a:srgbClr val="D6391E"/>
                  </a:solidFill>
                  <a:latin typeface="+mn-lt"/>
                  <a:ea typeface="+mn-ea"/>
                  <a:cs typeface="+mn-cs"/>
                </a:rPr>
                <a:t>的汇总</a:t>
              </a:r>
            </a:p>
          </p:txBody>
        </p:sp>
        <p:sp>
          <p:nvSpPr>
            <p:cNvPr id="15" name="TextBox 15"/>
            <p:cNvSpPr txBox="1"/>
            <p:nvPr/>
          </p:nvSpPr>
          <p:spPr>
            <a:xfrm>
              <a:off x="1709738" y="951786"/>
              <a:ext cx="2299843" cy="311944"/>
            </a:xfrm>
            <a:prstGeom prst="rect">
              <a:avLst/>
            </a:prstGeom>
            <a:noFill/>
            <a:ln>
              <a:noFill/>
            </a:ln>
          </p:spPr>
          <p:txBody>
            <a:bodyPr wrap="none" lIns="0" tIns="0" rIns="0" bIns="0" anchor="t" anchorCtr="0">
              <a:spAutoFit/>
            </a:bodyPr>
            <a:lstStyle/>
            <a:p>
              <a:pPr algn="l" marL="76644" indent="-76644">
                <a:lnSpc>
                  <a:spcPts val="1350"/>
                </a:lnSpc>
                <a:buClr>
                  <a:srgbClr val="333333"/>
                </a:buClr>
                <a:buSzTx/>
                <a:buFontTx/>
                <a:buChar char="•"/>
              </a:pPr>
              <a:r>
                <a:rPr lang="zh-CN" sz="710" dirty="0">
                  <a:solidFill>
                    <a:srgbClr val="333333"/>
                  </a:solidFill>
                  <a:latin typeface="+mn-lt"/>
                  <a:ea typeface="+mn-ea"/>
                  <a:cs typeface="+mn-cs"/>
                </a:rPr>
                <a:t>我们目前设定的目标相对于同行的增长轨迹有什么区别?</a:t>
              </a:r>
            </a:p>
            <a:p>
              <a:pPr algn="l" marL="76644" indent="-76644">
                <a:lnSpc>
                  <a:spcPts val="1350"/>
                </a:lnSpc>
                <a:buClr>
                  <a:srgbClr val="333333"/>
                </a:buClr>
                <a:buSzTx/>
                <a:buFontTx/>
                <a:buChar char="•"/>
              </a:pPr>
              <a:r>
                <a:rPr lang="zh-CN" sz="710" dirty="0">
                  <a:solidFill>
                    <a:srgbClr val="333333"/>
                  </a:solidFill>
                  <a:latin typeface="+mn-lt"/>
                  <a:ea typeface="+mn-ea"/>
                  <a:cs typeface="+mn-cs"/>
                </a:rPr>
                <a:t>怎样履行网络上的各种协议，提高自身的技术?</a:t>
              </a:r>
            </a:p>
          </p:txBody>
        </p:sp>
      </p:grpSp>
      <p:grpSp>
        <p:nvGrpSpPr>
          <p:cNvPr id="37" name="triangle-diagram"/>
          <p:cNvGrpSpPr/>
          <p:nvPr/>
        </p:nvGrpSpPr>
        <p:grpSpPr>
          <a:xfrm>
            <a:off x="289434" y="1619250"/>
            <a:ext cx="4283861" cy="2936875"/>
            <a:chOff x="289434" y="1619250"/>
            <a:chExt cx="4283861" cy="2936875"/>
          </a:xfrm>
        </p:grpSpPr>
        <p:sp>
          <p:nvSpPr>
            <p:cNvPr id="17" name="Rectangle 17"/>
            <p:cNvSpPr/>
            <p:nvPr/>
          </p:nvSpPr>
          <p:spPr>
            <a:xfrm>
              <a:off x="1762125" y="1619250"/>
              <a:ext cx="1428750" cy="247650"/>
            </a:xfrm>
            <a:prstGeom prst="roundRect">
              <a:avLst>
                <a:gd name="adj" fmla="val 15385"/>
              </a:avLst>
            </a:prstGeom>
            <a:solidFill>
              <a:srgbClr val="E9563C"/>
            </a:solidFill>
            <a:ln>
              <a:noFill/>
            </a:ln>
          </p:spPr>
        </p:sp>
        <p:sp>
          <p:nvSpPr>
            <p:cNvPr id="18" name="TextBox 18"/>
            <p:cNvSpPr txBox="1"/>
            <p:nvPr/>
          </p:nvSpPr>
          <p:spPr>
            <a:xfrm>
              <a:off x="2057559" y="1697593"/>
              <a:ext cx="837882"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以“用户”为中心</a:t>
              </a:r>
            </a:p>
          </p:txBody>
        </p:sp>
        <p:sp>
          <p:nvSpPr>
            <p:cNvPr id="19" name="TextBox 19"/>
            <p:cNvSpPr txBox="1"/>
            <p:nvPr/>
          </p:nvSpPr>
          <p:spPr>
            <a:xfrm>
              <a:off x="2361349" y="1968341"/>
              <a:ext cx="230302"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抽象</a:t>
              </a:r>
            </a:p>
          </p:txBody>
        </p:sp>
        <p:sp>
          <p:nvSpPr>
            <p:cNvPr id="20" name="Line 20"/>
            <p:cNvSpPr/>
            <p:nvPr/>
          </p:nvSpPr>
          <p:spPr>
            <a:xfrm>
              <a:off x="2476500" y="2114550"/>
              <a:ext cx="1" cy="247650"/>
            </a:xfrm>
            <a:prstGeom prst="line">
              <a:avLst/>
            </a:prstGeom>
            <a:noFill/>
            <a:ln w="11430">
              <a:solidFill>
                <a:srgbClr val="9C594C"/>
              </a:solidFill>
              <a:tailEnd type="triangle" w="lg" len="lg"/>
            </a:ln>
          </p:spPr>
        </p:sp>
        <p:sp>
          <p:nvSpPr>
            <p:cNvPr id="21" name="Freeform 21"/>
            <p:cNvSpPr/>
            <p:nvPr/>
          </p:nvSpPr>
          <p:spPr>
            <a:xfrm>
              <a:off x="1428750" y="2381250"/>
              <a:ext cx="2095500" cy="1809750"/>
            </a:xfrm>
            <a:prstGeom prst="triangle">
              <a:avLst/>
            </a:prstGeom>
            <a:solidFill>
              <a:srgbClr val="EEF1EC"/>
            </a:solidFill>
            <a:ln>
              <a:noFill/>
            </a:ln>
          </p:spPr>
        </p:sp>
        <p:sp>
          <p:nvSpPr>
            <p:cNvPr id="22" name="Freeform 22"/>
            <p:cNvSpPr/>
            <p:nvPr/>
          </p:nvSpPr>
          <p:spPr>
            <a:xfrm>
              <a:off x="1085850" y="1905000"/>
              <a:ext cx="723900" cy="1714500"/>
            </a:xfrm>
            <a:custGeom>
              <a:avLst/>
              <a:gdLst/>
              <a:ahLst/>
              <a:cxnLst/>
              <a:rect l="l" t="t" r="r" b="b"/>
              <a:pathLst>
                <a:path w="723900" h="1714500">
                  <a:moveTo>
                    <a:pt x="342900" y="1714500"/>
                  </a:moveTo>
                  <a:cubicBezTo>
                    <a:pt x="0" y="1016000"/>
                    <a:pt x="127000" y="444500"/>
                    <a:pt x="723900" y="0"/>
                  </a:cubicBezTo>
                </a:path>
              </a:pathLst>
            </a:custGeom>
            <a:noFill/>
            <a:ln w="11430">
              <a:solidFill>
                <a:srgbClr val="9C594C"/>
              </a:solidFill>
              <a:custDash>
                <a:ds d="333333" sp="250000"/>
              </a:custDash>
              <a:tailEnd type="triangle" w="lg" len="lg"/>
            </a:ln>
          </p:spPr>
        </p:sp>
        <p:sp>
          <p:nvSpPr>
            <p:cNvPr id="23" name="Freeform 23"/>
            <p:cNvSpPr/>
            <p:nvPr/>
          </p:nvSpPr>
          <p:spPr>
            <a:xfrm>
              <a:off x="3143250" y="1905000"/>
              <a:ext cx="723900" cy="1714500"/>
            </a:xfrm>
            <a:custGeom>
              <a:avLst/>
              <a:gdLst/>
              <a:ahLst/>
              <a:cxnLst/>
              <a:rect l="l" t="t" r="r" b="b"/>
              <a:pathLst>
                <a:path w="723900" h="1714500">
                  <a:moveTo>
                    <a:pt x="0" y="0"/>
                  </a:moveTo>
                  <a:cubicBezTo>
                    <a:pt x="596900" y="444500"/>
                    <a:pt x="723900" y="1016000"/>
                    <a:pt x="381000" y="1714500"/>
                  </a:cubicBezTo>
                </a:path>
              </a:pathLst>
            </a:custGeom>
            <a:noFill/>
            <a:ln w="11430">
              <a:solidFill>
                <a:srgbClr val="E9563C"/>
              </a:solidFill>
              <a:custDash>
                <a:ds d="333333" sp="250000"/>
              </a:custDash>
              <a:tailEnd type="triangle" w="lg" len="lg"/>
            </a:ln>
          </p:spPr>
        </p:sp>
        <p:sp>
          <p:nvSpPr>
            <p:cNvPr id="24" name="Freeform 24"/>
            <p:cNvSpPr/>
            <p:nvPr/>
          </p:nvSpPr>
          <p:spPr>
            <a:xfrm>
              <a:off x="1714500" y="4333875"/>
              <a:ext cx="1524000" cy="222250"/>
            </a:xfrm>
            <a:custGeom>
              <a:avLst/>
              <a:gdLst/>
              <a:ahLst/>
              <a:cxnLst/>
              <a:rect l="l" t="t" r="r" b="b"/>
              <a:pathLst>
                <a:path w="1524000" h="222250">
                  <a:moveTo>
                    <a:pt x="1524000" y="0"/>
                  </a:moveTo>
                  <a:cubicBezTo>
                    <a:pt x="1016000" y="222250"/>
                    <a:pt x="508000" y="222250"/>
                    <a:pt x="0" y="0"/>
                  </a:cubicBezTo>
                </a:path>
              </a:pathLst>
            </a:custGeom>
            <a:noFill/>
            <a:ln w="11430">
              <a:solidFill>
                <a:srgbClr val="9C594C"/>
              </a:solidFill>
              <a:custDash>
                <a:ds d="333333" sp="250000"/>
              </a:custDash>
              <a:tailEnd type="triangle" w="lg" len="lg"/>
            </a:ln>
          </p:spPr>
        </p:sp>
        <p:sp>
          <p:nvSpPr>
            <p:cNvPr id="25" name="Ellipse 25"/>
            <p:cNvSpPr/>
            <p:nvPr/>
          </p:nvSpPr>
          <p:spPr>
            <a:xfrm>
              <a:off x="2019300" y="2400300"/>
              <a:ext cx="914400" cy="914400"/>
            </a:xfrm>
            <a:prstGeom prst="ellipse">
              <a:avLst/>
            </a:prstGeom>
            <a:solidFill>
              <a:srgbClr val="E9563C"/>
            </a:solidFill>
            <a:ln>
              <a:noFill/>
            </a:ln>
          </p:spPr>
        </p:sp>
        <p:sp>
          <p:nvSpPr>
            <p:cNvPr id="26" name="TextBox 26"/>
            <p:cNvSpPr txBox="1"/>
            <p:nvPr/>
          </p:nvSpPr>
          <p:spPr>
            <a:xfrm>
              <a:off x="2347087" y="2714149"/>
              <a:ext cx="25882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FFFFFF"/>
                  </a:solidFill>
                  <a:latin typeface="+mn-lt"/>
                  <a:ea typeface="+mn-ea"/>
                  <a:cs typeface="+mn-cs"/>
                </a:rPr>
                <a:t>场景</a:t>
              </a:r>
              <a:br/>
              <a:r>
                <a:rPr lang="zh-CN" sz="980" b="1" dirty="0">
                  <a:solidFill>
                    <a:srgbClr val="FFFFFF"/>
                  </a:solidFill>
                  <a:latin typeface="+mn-lt"/>
                  <a:ea typeface="+mn-ea"/>
                  <a:cs typeface="+mn-cs"/>
                </a:rPr>
                <a:t>解构</a:t>
              </a:r>
            </a:p>
          </p:txBody>
        </p:sp>
        <p:sp>
          <p:nvSpPr>
            <p:cNvPr id="27" name="Ellipse 27"/>
            <p:cNvSpPr/>
            <p:nvPr/>
          </p:nvSpPr>
          <p:spPr>
            <a:xfrm>
              <a:off x="1447800" y="3352800"/>
              <a:ext cx="914400" cy="914400"/>
            </a:xfrm>
            <a:prstGeom prst="ellipse">
              <a:avLst/>
            </a:prstGeom>
            <a:solidFill>
              <a:srgbClr val="9C594C"/>
            </a:solidFill>
            <a:ln>
              <a:noFill/>
            </a:ln>
          </p:spPr>
        </p:sp>
        <p:sp>
          <p:nvSpPr>
            <p:cNvPr id="28" name="TextBox 28"/>
            <p:cNvSpPr txBox="1"/>
            <p:nvPr/>
          </p:nvSpPr>
          <p:spPr>
            <a:xfrm>
              <a:off x="1775587" y="3666649"/>
              <a:ext cx="25882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FFFFFF"/>
                  </a:solidFill>
                  <a:latin typeface="+mn-lt"/>
                  <a:ea typeface="+mn-ea"/>
                  <a:cs typeface="+mn-cs"/>
                </a:rPr>
                <a:t>逻辑</a:t>
              </a:r>
              <a:br/>
              <a:r>
                <a:rPr lang="zh-CN" sz="980" b="1" dirty="0">
                  <a:solidFill>
                    <a:srgbClr val="FFFFFF"/>
                  </a:solidFill>
                  <a:latin typeface="+mn-lt"/>
                  <a:ea typeface="+mn-ea"/>
                  <a:cs typeface="+mn-cs"/>
                </a:rPr>
                <a:t>解构</a:t>
              </a:r>
            </a:p>
          </p:txBody>
        </p:sp>
        <p:sp>
          <p:nvSpPr>
            <p:cNvPr id="29" name="Ellipse 29"/>
            <p:cNvSpPr/>
            <p:nvPr/>
          </p:nvSpPr>
          <p:spPr>
            <a:xfrm>
              <a:off x="2590800" y="3352800"/>
              <a:ext cx="914400" cy="914400"/>
            </a:xfrm>
            <a:prstGeom prst="ellipse">
              <a:avLst/>
            </a:prstGeom>
            <a:solidFill>
              <a:srgbClr val="9C594C"/>
            </a:solidFill>
            <a:ln>
              <a:noFill/>
            </a:ln>
          </p:spPr>
        </p:sp>
        <p:sp>
          <p:nvSpPr>
            <p:cNvPr id="30" name="TextBox 30"/>
            <p:cNvSpPr txBox="1"/>
            <p:nvPr/>
          </p:nvSpPr>
          <p:spPr>
            <a:xfrm>
              <a:off x="2918587" y="3666649"/>
              <a:ext cx="258826" cy="352616"/>
            </a:xfrm>
            <a:prstGeom prst="rect">
              <a:avLst/>
            </a:prstGeom>
            <a:noFill/>
            <a:ln>
              <a:noFill/>
            </a:ln>
          </p:spPr>
          <p:txBody>
            <a:bodyPr wrap="none" lIns="0" tIns="0" rIns="0" bIns="0" anchor="t" anchorCtr="0">
              <a:spAutoFit/>
            </a:bodyPr>
            <a:lstStyle/>
            <a:p>
              <a:pPr algn="ctr">
                <a:lnSpc>
                  <a:spcPts val="1275"/>
                </a:lnSpc>
              </a:pPr>
              <a:r>
                <a:rPr lang="zh-CN" sz="980" b="1" dirty="0">
                  <a:solidFill>
                    <a:srgbClr val="FFFFFF"/>
                  </a:solidFill>
                  <a:latin typeface="+mn-lt"/>
                  <a:ea typeface="+mn-ea"/>
                  <a:cs typeface="+mn-cs"/>
                </a:rPr>
                <a:t>信息</a:t>
              </a:r>
              <a:br/>
              <a:r>
                <a:rPr lang="zh-CN" sz="980" b="1" dirty="0">
                  <a:solidFill>
                    <a:srgbClr val="FFFFFF"/>
                  </a:solidFill>
                  <a:latin typeface="+mn-lt"/>
                  <a:ea typeface="+mn-ea"/>
                  <a:cs typeface="+mn-cs"/>
                </a:rPr>
                <a:t>解构</a:t>
              </a:r>
            </a:p>
          </p:txBody>
        </p:sp>
        <p:sp>
          <p:nvSpPr>
            <p:cNvPr id="31" name="Freeform 31"/>
            <p:cNvSpPr/>
            <p:nvPr/>
          </p:nvSpPr>
          <p:spPr>
            <a:xfrm rot="10800000">
              <a:off x="2209800" y="3314700"/>
              <a:ext cx="533400" cy="381000"/>
            </a:xfrm>
            <a:prstGeom prst="triangle">
              <a:avLst/>
            </a:prstGeom>
            <a:solidFill>
              <a:srgbClr val="F7B9AE"/>
            </a:solidFill>
            <a:ln>
              <a:noFill/>
            </a:ln>
          </p:spPr>
        </p:sp>
        <p:sp>
          <p:nvSpPr>
            <p:cNvPr id="32" name="TextBox 32"/>
            <p:cNvSpPr txBox="1"/>
            <p:nvPr/>
          </p:nvSpPr>
          <p:spPr>
            <a:xfrm>
              <a:off x="2385378" y="3394234"/>
              <a:ext cx="182245"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信息</a:t>
              </a:r>
              <a:br/>
              <a:r>
                <a:rPr lang="zh-CN" sz="680" dirty="0">
                  <a:solidFill>
                    <a:srgbClr val="333333"/>
                  </a:solidFill>
                  <a:latin typeface="+mn-lt"/>
                  <a:ea typeface="+mn-ea"/>
                  <a:cs typeface="+mn-cs"/>
                </a:rPr>
                <a:t>过载</a:t>
              </a:r>
            </a:p>
          </p:txBody>
        </p:sp>
        <p:sp>
          <p:nvSpPr>
            <p:cNvPr id="33" name="TextBox 33"/>
            <p:cNvSpPr txBox="1"/>
            <p:nvPr/>
          </p:nvSpPr>
          <p:spPr>
            <a:xfrm>
              <a:off x="972655" y="4101941"/>
              <a:ext cx="340690"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结构化</a:t>
              </a:r>
            </a:p>
          </p:txBody>
        </p:sp>
        <p:sp>
          <p:nvSpPr>
            <p:cNvPr id="34" name="TextBox 34"/>
            <p:cNvSpPr txBox="1"/>
            <p:nvPr/>
          </p:nvSpPr>
          <p:spPr>
            <a:xfrm>
              <a:off x="3694849" y="4101941"/>
              <a:ext cx="230302"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减法</a:t>
              </a:r>
            </a:p>
          </p:txBody>
        </p:sp>
        <p:sp>
          <p:nvSpPr>
            <p:cNvPr id="35" name="TextBox 35"/>
            <p:cNvSpPr txBox="1"/>
            <p:nvPr/>
          </p:nvSpPr>
          <p:spPr>
            <a:xfrm rot="-3720000">
              <a:off x="289434" y="3077464"/>
              <a:ext cx="896940" cy="126206"/>
            </a:xfrm>
            <a:prstGeom prst="rect">
              <a:avLst/>
            </a:prstGeom>
            <a:noFill/>
            <a:ln>
              <a:noFill/>
            </a:ln>
          </p:spPr>
          <p:txBody>
            <a:bodyPr wrap="none" lIns="0" tIns="0" rIns="0" bIns="0" anchor="t" anchorCtr="0">
              <a:spAutoFit/>
            </a:bodyPr>
            <a:lstStyle/>
            <a:p>
              <a:pPr algn="ctr"/>
              <a:r>
                <a:rPr lang="zh-CN" sz="640" dirty="0">
                  <a:solidFill>
                    <a:srgbClr val="8C8C8C"/>
                  </a:solidFill>
                  <a:latin typeface="+mn-lt"/>
                  <a:ea typeface="+mn-ea"/>
                  <a:cs typeface="+mn-cs"/>
                </a:rPr>
                <a:t>架构化发展 增加实用性</a:t>
              </a:r>
            </a:p>
          </p:txBody>
        </p:sp>
        <p:sp>
          <p:nvSpPr>
            <p:cNvPr id="36" name="TextBox 36"/>
            <p:cNvSpPr txBox="1"/>
            <p:nvPr/>
          </p:nvSpPr>
          <p:spPr>
            <a:xfrm rot="3720000">
              <a:off x="3590198" y="3077464"/>
              <a:ext cx="983097" cy="126206"/>
            </a:xfrm>
            <a:prstGeom prst="rect">
              <a:avLst/>
            </a:prstGeom>
            <a:noFill/>
            <a:ln>
              <a:noFill/>
            </a:ln>
          </p:spPr>
          <p:txBody>
            <a:bodyPr wrap="none" lIns="0" tIns="0" rIns="0" bIns="0" anchor="t" anchorCtr="0">
              <a:spAutoFit/>
            </a:bodyPr>
            <a:lstStyle/>
            <a:p>
              <a:pPr algn="ctr"/>
              <a:r>
                <a:rPr lang="zh-CN" sz="640" dirty="0">
                  <a:solidFill>
                    <a:srgbClr val="8C8C8C"/>
                  </a:solidFill>
                  <a:latin typeface="+mn-lt"/>
                  <a:ea typeface="+mn-ea"/>
                  <a:cs typeface="+mn-cs"/>
                </a:rPr>
                <a:t>影响力提升 拓盘潜在用户</a:t>
              </a:r>
            </a:p>
          </p:txBody>
        </p:sp>
      </p:grpSp>
      <p:grpSp>
        <p:nvGrpSpPr>
          <p:cNvPr id="43" name="fan-connectors"/>
          <p:cNvGrpSpPr/>
          <p:nvPr/>
        </p:nvGrpSpPr>
        <p:grpSpPr>
          <a:xfrm>
            <a:off x="4238625" y="1866900"/>
            <a:ext cx="1038225" cy="2514601"/>
            <a:chOff x="4238625" y="1866900"/>
            <a:chExt cx="1038225" cy="2514601"/>
          </a:xfrm>
        </p:grpSpPr>
        <p:sp>
          <p:nvSpPr>
            <p:cNvPr id="38" name="Line 38"/>
            <p:cNvSpPr/>
            <p:nvPr/>
          </p:nvSpPr>
          <p:spPr>
            <a:xfrm>
              <a:off x="4238625" y="3048000"/>
              <a:ext cx="238125" cy="9525"/>
            </a:xfrm>
            <a:custGeom>
              <a:avLst/>
              <a:gdLst/>
              <a:ahLst/>
              <a:cxnLst/>
              <a:rect l="l" t="t" r="r" b="b"/>
              <a:pathLst>
                <a:path w="238125" h="9525">
                  <a:moveTo>
                    <a:pt x="0" y="0"/>
                  </a:moveTo>
                  <a:lnTo>
                    <a:pt x="238125" y="0"/>
                  </a:lnTo>
                </a:path>
              </a:pathLst>
            </a:custGeom>
            <a:noFill/>
            <a:ln w="11430">
              <a:solidFill>
                <a:srgbClr val="E9563C"/>
              </a:solidFill>
            </a:ln>
          </p:spPr>
        </p:sp>
        <p:sp>
          <p:nvSpPr>
            <p:cNvPr id="39" name="Line 39"/>
            <p:cNvSpPr/>
            <p:nvPr/>
          </p:nvSpPr>
          <p:spPr>
            <a:xfrm>
              <a:off x="4476750" y="1866900"/>
              <a:ext cx="9525" cy="2514600"/>
            </a:xfrm>
            <a:custGeom>
              <a:avLst/>
              <a:gdLst/>
              <a:ahLst/>
              <a:cxnLst/>
              <a:rect l="l" t="t" r="r" b="b"/>
              <a:pathLst>
                <a:path w="9525" h="2514600">
                  <a:moveTo>
                    <a:pt x="0" y="0"/>
                  </a:moveTo>
                  <a:lnTo>
                    <a:pt x="0" y="2514600"/>
                  </a:lnTo>
                </a:path>
              </a:pathLst>
            </a:custGeom>
            <a:noFill/>
            <a:ln w="11430">
              <a:solidFill>
                <a:srgbClr val="E9563C"/>
              </a:solidFill>
            </a:ln>
          </p:spPr>
        </p:sp>
        <p:sp>
          <p:nvSpPr>
            <p:cNvPr id="40" name="Line 40"/>
            <p:cNvSpPr/>
            <p:nvPr/>
          </p:nvSpPr>
          <p:spPr>
            <a:xfrm>
              <a:off x="4476750" y="1866900"/>
              <a:ext cx="800100" cy="1"/>
            </a:xfrm>
            <a:prstGeom prst="line">
              <a:avLst/>
            </a:prstGeom>
            <a:noFill/>
            <a:ln w="11430">
              <a:solidFill>
                <a:srgbClr val="E9563C"/>
              </a:solidFill>
              <a:tailEnd type="triangle" w="lg" len="lg"/>
            </a:ln>
          </p:spPr>
        </p:sp>
        <p:sp>
          <p:nvSpPr>
            <p:cNvPr id="41" name="Line 41"/>
            <p:cNvSpPr/>
            <p:nvPr/>
          </p:nvSpPr>
          <p:spPr>
            <a:xfrm>
              <a:off x="4476750" y="3200400"/>
              <a:ext cx="800100" cy="1"/>
            </a:xfrm>
            <a:prstGeom prst="line">
              <a:avLst/>
            </a:prstGeom>
            <a:noFill/>
            <a:ln w="11430">
              <a:solidFill>
                <a:srgbClr val="E9563C"/>
              </a:solidFill>
              <a:tailEnd type="triangle" w="lg" len="lg"/>
            </a:ln>
          </p:spPr>
        </p:sp>
        <p:sp>
          <p:nvSpPr>
            <p:cNvPr id="42" name="Line 42"/>
            <p:cNvSpPr/>
            <p:nvPr/>
          </p:nvSpPr>
          <p:spPr>
            <a:xfrm>
              <a:off x="4476750" y="4381500"/>
              <a:ext cx="800100" cy="1"/>
            </a:xfrm>
            <a:prstGeom prst="line">
              <a:avLst/>
            </a:prstGeom>
            <a:noFill/>
            <a:ln w="11430">
              <a:solidFill>
                <a:srgbClr val="E9563C"/>
              </a:solidFill>
              <a:tailEnd type="triangle" w="lg" len="lg"/>
            </a:ln>
          </p:spPr>
        </p:sp>
      </p:grpSp>
      <p:grpSp>
        <p:nvGrpSpPr>
          <p:cNvPr id="50" name="pill-logic"/>
          <p:cNvGrpSpPr/>
          <p:nvPr/>
        </p:nvGrpSpPr>
        <p:grpSpPr>
          <a:xfrm>
            <a:off x="381000" y="4572000"/>
            <a:ext cx="1905000" cy="539830"/>
            <a:chOff x="381000" y="4572000"/>
            <a:chExt cx="1905000" cy="539830"/>
          </a:xfrm>
        </p:grpSpPr>
        <p:sp>
          <p:nvSpPr>
            <p:cNvPr id="44" name="Rectangle 44"/>
            <p:cNvSpPr/>
            <p:nvPr/>
          </p:nvSpPr>
          <p:spPr>
            <a:xfrm>
              <a:off x="381000" y="4572000"/>
              <a:ext cx="1905000" cy="266700"/>
            </a:xfrm>
            <a:prstGeom prst="roundRect">
              <a:avLst>
                <a:gd name="adj" fmla="val 14286"/>
              </a:avLst>
            </a:prstGeom>
            <a:solidFill>
              <a:srgbClr val="9C594C"/>
            </a:solidFill>
            <a:ln>
              <a:noFill/>
            </a:ln>
          </p:spPr>
        </p:sp>
        <p:sp>
          <p:nvSpPr>
            <p:cNvPr id="45" name="TextBox 45"/>
            <p:cNvSpPr txBox="1"/>
            <p:nvPr/>
          </p:nvSpPr>
          <p:spPr>
            <a:xfrm>
              <a:off x="856672" y="4659868"/>
              <a:ext cx="95365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以“逻辑解构”为中</a:t>
              </a:r>
            </a:p>
          </p:txBody>
        </p:sp>
        <p:sp>
          <p:nvSpPr>
            <p:cNvPr id="46" name="Rectangle 46"/>
            <p:cNvSpPr/>
            <p:nvPr/>
          </p:nvSpPr>
          <p:spPr>
            <a:xfrm>
              <a:off x="476250" y="4914900"/>
              <a:ext cx="590550" cy="190500"/>
            </a:xfrm>
            <a:prstGeom prst="rect">
              <a:avLst/>
            </a:prstGeom>
            <a:solidFill>
              <a:srgbClr val="DFF0D2"/>
            </a:solidFill>
            <a:ln>
              <a:noFill/>
            </a:ln>
          </p:spPr>
        </p:sp>
        <p:sp>
          <p:nvSpPr>
            <p:cNvPr id="47" name="TextBox 47"/>
            <p:cNvSpPr txBox="1"/>
            <p:nvPr/>
          </p:nvSpPr>
          <p:spPr>
            <a:xfrm>
              <a:off x="575602" y="497133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产品逻辑</a:t>
              </a:r>
            </a:p>
          </p:txBody>
        </p:sp>
        <p:sp>
          <p:nvSpPr>
            <p:cNvPr id="48" name="Rectangle 48"/>
            <p:cNvSpPr/>
            <p:nvPr/>
          </p:nvSpPr>
          <p:spPr>
            <a:xfrm>
              <a:off x="1162050" y="4914900"/>
              <a:ext cx="590550" cy="190500"/>
            </a:xfrm>
            <a:prstGeom prst="rect">
              <a:avLst/>
            </a:prstGeom>
            <a:solidFill>
              <a:srgbClr val="DFF0D2"/>
            </a:solidFill>
            <a:ln>
              <a:noFill/>
            </a:ln>
          </p:spPr>
        </p:sp>
        <p:sp>
          <p:nvSpPr>
            <p:cNvPr id="49" name="TextBox 49"/>
            <p:cNvSpPr txBox="1"/>
            <p:nvPr/>
          </p:nvSpPr>
          <p:spPr>
            <a:xfrm>
              <a:off x="1261402" y="497133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关系逻辑</a:t>
              </a:r>
            </a:p>
          </p:txBody>
        </p:sp>
      </p:grpSp>
      <p:grpSp>
        <p:nvGrpSpPr>
          <p:cNvPr id="57" name="pill-info"/>
          <p:cNvGrpSpPr/>
          <p:nvPr/>
        </p:nvGrpSpPr>
        <p:grpSpPr>
          <a:xfrm>
            <a:off x="2952750" y="4572000"/>
            <a:ext cx="1905000" cy="539830"/>
            <a:chOff x="2952750" y="4572000"/>
            <a:chExt cx="1905000" cy="539830"/>
          </a:xfrm>
        </p:grpSpPr>
        <p:sp>
          <p:nvSpPr>
            <p:cNvPr id="51" name="Rectangle 51"/>
            <p:cNvSpPr/>
            <p:nvPr/>
          </p:nvSpPr>
          <p:spPr>
            <a:xfrm>
              <a:off x="2952750" y="4572000"/>
              <a:ext cx="1905000" cy="266700"/>
            </a:xfrm>
            <a:prstGeom prst="roundRect">
              <a:avLst>
                <a:gd name="adj" fmla="val 14286"/>
              </a:avLst>
            </a:prstGeom>
            <a:solidFill>
              <a:srgbClr val="9C594C"/>
            </a:solidFill>
            <a:ln>
              <a:noFill/>
            </a:ln>
          </p:spPr>
        </p:sp>
        <p:sp>
          <p:nvSpPr>
            <p:cNvPr id="52" name="TextBox 52"/>
            <p:cNvSpPr txBox="1"/>
            <p:nvPr/>
          </p:nvSpPr>
          <p:spPr>
            <a:xfrm>
              <a:off x="3370536" y="4659868"/>
              <a:ext cx="1069429"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以“信息内容”为中心</a:t>
              </a:r>
            </a:p>
          </p:txBody>
        </p:sp>
        <p:sp>
          <p:nvSpPr>
            <p:cNvPr id="53" name="Rectangle 53"/>
            <p:cNvSpPr/>
            <p:nvPr/>
          </p:nvSpPr>
          <p:spPr>
            <a:xfrm>
              <a:off x="3048000" y="4914900"/>
              <a:ext cx="590550" cy="190500"/>
            </a:xfrm>
            <a:prstGeom prst="rect">
              <a:avLst/>
            </a:prstGeom>
            <a:solidFill>
              <a:srgbClr val="DFF0D2"/>
            </a:solidFill>
            <a:ln>
              <a:noFill/>
            </a:ln>
          </p:spPr>
        </p:sp>
        <p:sp>
          <p:nvSpPr>
            <p:cNvPr id="54" name="TextBox 54"/>
            <p:cNvSpPr txBox="1"/>
            <p:nvPr/>
          </p:nvSpPr>
          <p:spPr>
            <a:xfrm>
              <a:off x="3147352" y="497133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关系逻辑</a:t>
              </a:r>
            </a:p>
          </p:txBody>
        </p:sp>
        <p:sp>
          <p:nvSpPr>
            <p:cNvPr id="55" name="Rectangle 55"/>
            <p:cNvSpPr/>
            <p:nvPr/>
          </p:nvSpPr>
          <p:spPr>
            <a:xfrm>
              <a:off x="3733800" y="4914900"/>
              <a:ext cx="590550" cy="190500"/>
            </a:xfrm>
            <a:prstGeom prst="rect">
              <a:avLst/>
            </a:prstGeom>
            <a:solidFill>
              <a:srgbClr val="DFF0D2"/>
            </a:solidFill>
            <a:ln>
              <a:noFill/>
            </a:ln>
          </p:spPr>
        </p:sp>
        <p:sp>
          <p:nvSpPr>
            <p:cNvPr id="56" name="TextBox 56"/>
            <p:cNvSpPr txBox="1"/>
            <p:nvPr/>
          </p:nvSpPr>
          <p:spPr>
            <a:xfrm>
              <a:off x="3833152" y="497133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产品逻辑</a:t>
              </a:r>
            </a:p>
          </p:txBody>
        </p:sp>
      </p:grpSp>
      <p:grpSp>
        <p:nvGrpSpPr>
          <p:cNvPr id="81" name="info-card"/>
          <p:cNvGrpSpPr/>
          <p:nvPr/>
        </p:nvGrpSpPr>
        <p:grpSpPr>
          <a:xfrm>
            <a:off x="5334000" y="800100"/>
            <a:ext cx="6477000" cy="628650"/>
            <a:chOff x="5334000" y="800100"/>
            <a:chExt cx="6477000" cy="628650"/>
          </a:xfrm>
        </p:grpSpPr>
        <p:sp>
          <p:nvSpPr>
            <p:cNvPr id="58" name="Rectangle 58"/>
            <p:cNvSpPr/>
            <p:nvPr/>
          </p:nvSpPr>
          <p:spPr>
            <a:xfrm>
              <a:off x="5334000" y="800100"/>
              <a:ext cx="6477000" cy="628650"/>
            </a:xfrm>
            <a:prstGeom prst="roundRect">
              <a:avLst>
                <a:gd name="adj" fmla="val 9091"/>
              </a:avLst>
            </a:prstGeom>
            <a:solidFill>
              <a:srgbClr val="F4F8EF"/>
            </a:solidFill>
            <a:ln w="11430">
              <a:solidFill>
                <a:srgbClr val="9C594C"/>
              </a:solidFill>
              <a:custDash>
                <a:ds d="416667" sp="250000"/>
              </a:custDash>
            </a:ln>
          </p:spPr>
        </p:sp>
        <p:grpSp>
          <p:nvGrpSpPr>
            <p:cNvPr id="62" name="Group 62"/>
            <p:cNvGrpSpPr/>
            <p:nvPr/>
          </p:nvGrpSpPr>
          <p:grpSpPr>
            <a:xfrm>
              <a:off x="5493544" y="1016794"/>
              <a:ext cx="157163" cy="157163"/>
              <a:chOff x="5493544" y="1016794"/>
              <a:chExt cx="157163" cy="157163"/>
            </a:xfrm>
          </p:grpSpPr>
          <p:sp>
            <p:nvSpPr>
              <p:cNvPr id="59" name="Freeform 59"/>
              <p:cNvSpPr/>
              <p:nvPr/>
            </p:nvSpPr>
            <p:spPr>
              <a:xfrm>
                <a:off x="5493544" y="1016794"/>
                <a:ext cx="157163" cy="78581"/>
              </a:xfrm>
              <a:custGeom>
                <a:avLst/>
                <a:gdLst/>
                <a:ahLst/>
                <a:cxnLst/>
                <a:rect l="l" t="t" r="r" b="b"/>
                <a:pathLst>
                  <a:path w="157163" h="78581">
                    <a:moveTo>
                      <a:pt x="0" y="78581"/>
                    </a:moveTo>
                    <a:lnTo>
                      <a:pt x="8731" y="78581"/>
                    </a:lnTo>
                    <a:moveTo>
                      <a:pt x="78581" y="0"/>
                    </a:moveTo>
                    <a:lnTo>
                      <a:pt x="78581" y="8731"/>
                    </a:lnTo>
                    <a:moveTo>
                      <a:pt x="148431" y="78581"/>
                    </a:moveTo>
                    <a:lnTo>
                      <a:pt x="157163" y="78581"/>
                    </a:lnTo>
                    <a:moveTo>
                      <a:pt x="22701" y="22701"/>
                    </a:moveTo>
                    <a:lnTo>
                      <a:pt x="28813" y="28813"/>
                    </a:lnTo>
                    <a:moveTo>
                      <a:pt x="134461" y="22701"/>
                    </a:moveTo>
                    <a:lnTo>
                      <a:pt x="128349" y="28813"/>
                    </a:lnTo>
                  </a:path>
                </a:pathLst>
              </a:custGeom>
              <a:noFill/>
              <a:ln w="17463">
                <a:solidFill>
                  <a:srgbClr val="9C594C"/>
                </a:solidFill>
              </a:ln>
            </p:spPr>
          </p:sp>
          <p:sp>
            <p:nvSpPr>
              <p:cNvPr id="60" name="Freeform 60"/>
              <p:cNvSpPr/>
              <p:nvPr/>
            </p:nvSpPr>
            <p:spPr>
              <a:xfrm>
                <a:off x="5524767" y="1051719"/>
                <a:ext cx="94716" cy="122238"/>
              </a:xfrm>
              <a:custGeom>
                <a:avLst/>
                <a:gdLst/>
                <a:ahLst/>
                <a:cxnLst/>
                <a:rect l="l" t="t" r="r" b="b"/>
                <a:pathLst>
                  <a:path w="94716" h="122238">
                    <a:moveTo>
                      <a:pt x="21164" y="78581"/>
                    </a:moveTo>
                    <a:cubicBezTo>
                      <a:pt x="6132" y="67307"/>
                      <a:pt x="0" y="47678"/>
                      <a:pt x="5942" y="29851"/>
                    </a:cubicBezTo>
                    <a:cubicBezTo>
                      <a:pt x="11884" y="12024"/>
                      <a:pt x="28567" y="0"/>
                      <a:pt x="47358" y="0"/>
                    </a:cubicBezTo>
                    <a:cubicBezTo>
                      <a:pt x="66149" y="0"/>
                      <a:pt x="82832" y="12024"/>
                      <a:pt x="88774" y="29851"/>
                    </a:cubicBezTo>
                    <a:cubicBezTo>
                      <a:pt x="94716" y="47678"/>
                      <a:pt x="88585" y="67307"/>
                      <a:pt x="73552" y="78581"/>
                    </a:cubicBezTo>
                    <a:cubicBezTo>
                      <a:pt x="66638" y="85425"/>
                      <a:pt x="63396" y="95152"/>
                      <a:pt x="64821" y="104775"/>
                    </a:cubicBezTo>
                    <a:cubicBezTo>
                      <a:pt x="64821" y="114419"/>
                      <a:pt x="57002" y="122238"/>
                      <a:pt x="47358" y="122238"/>
                    </a:cubicBezTo>
                    <a:cubicBezTo>
                      <a:pt x="37714" y="122238"/>
                      <a:pt x="29896" y="114419"/>
                      <a:pt x="29896" y="104775"/>
                    </a:cubicBezTo>
                    <a:cubicBezTo>
                      <a:pt x="31320" y="95152"/>
                      <a:pt x="28078" y="85425"/>
                      <a:pt x="21164" y="78581"/>
                    </a:cubicBezTo>
                  </a:path>
                </a:pathLst>
              </a:custGeom>
              <a:noFill/>
              <a:ln w="17463">
                <a:solidFill>
                  <a:srgbClr val="9C594C"/>
                </a:solidFill>
              </a:ln>
            </p:spPr>
          </p:sp>
          <p:sp>
            <p:nvSpPr>
              <p:cNvPr id="61" name="Freeform 61"/>
              <p:cNvSpPr/>
              <p:nvPr/>
            </p:nvSpPr>
            <p:spPr>
              <a:xfrm>
                <a:off x="5552043" y="1139031"/>
                <a:ext cx="40164" cy="9525"/>
              </a:xfrm>
              <a:custGeom>
                <a:avLst/>
                <a:gdLst/>
                <a:ahLst/>
                <a:cxnLst/>
                <a:rect l="l" t="t" r="r" b="b"/>
                <a:pathLst>
                  <a:path w="40164" h="9525">
                    <a:moveTo>
                      <a:pt x="0" y="0"/>
                    </a:moveTo>
                    <a:lnTo>
                      <a:pt x="40164" y="0"/>
                    </a:lnTo>
                  </a:path>
                </a:pathLst>
              </a:custGeom>
              <a:noFill/>
              <a:ln w="17463">
                <a:solidFill>
                  <a:srgbClr val="9C594C"/>
                </a:solidFill>
              </a:ln>
            </p:spPr>
          </p:sp>
        </p:grpSp>
        <p:sp>
          <p:nvSpPr>
            <p:cNvPr id="63" name="TextBox 63"/>
            <p:cNvSpPr txBox="1"/>
            <p:nvPr/>
          </p:nvSpPr>
          <p:spPr>
            <a:xfrm>
              <a:off x="5767197" y="952024"/>
              <a:ext cx="507746" cy="362141"/>
            </a:xfrm>
            <a:prstGeom prst="rect">
              <a:avLst/>
            </a:prstGeom>
            <a:noFill/>
            <a:ln>
              <a:noFill/>
            </a:ln>
          </p:spPr>
          <p:txBody>
            <a:bodyPr wrap="none" lIns="0" tIns="0" rIns="0" bIns="0" anchor="t" anchorCtr="0">
              <a:spAutoFit/>
            </a:bodyPr>
            <a:lstStyle/>
            <a:p>
              <a:pPr algn="l">
                <a:lnSpc>
                  <a:spcPts val="1350"/>
                </a:lnSpc>
              </a:pPr>
              <a:r>
                <a:rPr lang="zh-CN" sz="980" b="1" dirty="0">
                  <a:solidFill>
                    <a:srgbClr val="7A3E33"/>
                  </a:solidFill>
                  <a:latin typeface="+mn-lt"/>
                  <a:ea typeface="+mn-ea"/>
                  <a:cs typeface="+mn-cs"/>
                </a:rPr>
                <a:t>信息内容</a:t>
              </a:r>
              <a:br/>
              <a:r>
                <a:rPr lang="zh-CN" sz="980" b="1" dirty="0">
                  <a:solidFill>
                    <a:srgbClr val="7A3E33"/>
                  </a:solidFill>
                  <a:latin typeface="+mn-lt"/>
                  <a:ea typeface="+mn-ea"/>
                  <a:cs typeface="+mn-cs"/>
                </a:rPr>
                <a:t>复杂</a:t>
              </a:r>
            </a:p>
          </p:txBody>
        </p:sp>
        <p:grpSp>
          <p:nvGrpSpPr>
            <p:cNvPr id="67" name="Group 67"/>
            <p:cNvGrpSpPr/>
            <p:nvPr/>
          </p:nvGrpSpPr>
          <p:grpSpPr>
            <a:xfrm>
              <a:off x="6624638" y="997744"/>
              <a:ext cx="130969" cy="157163"/>
              <a:chOff x="6624638" y="997744"/>
              <a:chExt cx="130969" cy="157163"/>
            </a:xfrm>
          </p:grpSpPr>
          <p:sp>
            <p:nvSpPr>
              <p:cNvPr id="64" name="Freeform 64"/>
              <p:cNvSpPr/>
              <p:nvPr/>
            </p:nvSpPr>
            <p:spPr>
              <a:xfrm>
                <a:off x="6642100" y="99774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9C594C"/>
                </a:solidFill>
              </a:ln>
            </p:spPr>
          </p:sp>
          <p:sp>
            <p:nvSpPr>
              <p:cNvPr id="65" name="Freeform 65"/>
              <p:cNvSpPr/>
              <p:nvPr/>
            </p:nvSpPr>
            <p:spPr>
              <a:xfrm>
                <a:off x="6624638" y="1102519"/>
                <a:ext cx="69850" cy="52388"/>
              </a:xfrm>
              <a:custGeom>
                <a:avLst/>
                <a:gdLst/>
                <a:ahLst/>
                <a:cxnLst/>
                <a:rect l="l" t="t" r="r" b="b"/>
                <a:pathLst>
                  <a:path w="69850" h="52388">
                    <a:moveTo>
                      <a:pt x="0" y="52388"/>
                    </a:moveTo>
                    <a:lnTo>
                      <a:pt x="0" y="34925"/>
                    </a:lnTo>
                    <a:cubicBezTo>
                      <a:pt x="0" y="15636"/>
                      <a:pt x="15636" y="0"/>
                      <a:pt x="34925" y="0"/>
                    </a:cubicBezTo>
                    <a:lnTo>
                      <a:pt x="69850" y="0"/>
                    </a:lnTo>
                  </a:path>
                </a:pathLst>
              </a:custGeom>
              <a:noFill/>
              <a:ln w="17463">
                <a:solidFill>
                  <a:srgbClr val="9C594C"/>
                </a:solidFill>
              </a:ln>
            </p:spPr>
          </p:sp>
          <p:sp>
            <p:nvSpPr>
              <p:cNvPr id="66" name="Freeform 66"/>
              <p:cNvSpPr/>
              <p:nvPr/>
            </p:nvSpPr>
            <p:spPr>
              <a:xfrm>
                <a:off x="6703219" y="1119981"/>
                <a:ext cx="52388" cy="34925"/>
              </a:xfrm>
              <a:custGeom>
                <a:avLst/>
                <a:gdLst/>
                <a:ahLst/>
                <a:cxnLst/>
                <a:rect l="l" t="t" r="r" b="b"/>
                <a:pathLst>
                  <a:path w="52388" h="34925">
                    <a:moveTo>
                      <a:pt x="0" y="17463"/>
                    </a:moveTo>
                    <a:lnTo>
                      <a:pt x="17463" y="34925"/>
                    </a:lnTo>
                    <a:lnTo>
                      <a:pt x="52388" y="0"/>
                    </a:lnTo>
                  </a:path>
                </a:pathLst>
              </a:custGeom>
              <a:noFill/>
              <a:ln w="17463">
                <a:solidFill>
                  <a:srgbClr val="9C594C"/>
                </a:solidFill>
              </a:ln>
            </p:spPr>
          </p:sp>
        </p:grpSp>
        <p:sp>
          <p:nvSpPr>
            <p:cNvPr id="68" name="TextBox 68"/>
            <p:cNvSpPr txBox="1"/>
            <p:nvPr/>
          </p:nvSpPr>
          <p:spPr>
            <a:xfrm>
              <a:off x="6850380" y="942975"/>
              <a:ext cx="524104" cy="293370"/>
            </a:xfrm>
            <a:prstGeom prst="rect">
              <a:avLst/>
            </a:prstGeom>
            <a:noFill/>
            <a:ln>
              <a:noFill/>
            </a:ln>
          </p:spPr>
          <p:txBody>
            <a:bodyPr wrap="none" lIns="0" tIns="0" rIns="0" bIns="0" anchor="t" anchorCtr="0">
              <a:spAutoFit/>
            </a:bodyPr>
            <a:lstStyle/>
            <a:p>
              <a:pPr algn="l"/>
              <a:r>
                <a:rPr lang="zh-CN" sz="1500" b="1" dirty="0">
                  <a:solidFill>
                    <a:srgbClr val="7A3E33"/>
                  </a:solidFill>
                  <a:latin typeface="+mn-lt"/>
                  <a:ea typeface="+mn-ea"/>
                  <a:cs typeface="+mn-cs"/>
                </a:rPr>
                <a:t>56%​</a:t>
              </a:r>
            </a:p>
          </p:txBody>
        </p:sp>
        <p:sp>
          <p:nvSpPr>
            <p:cNvPr id="69" name="TextBox 69"/>
            <p:cNvSpPr txBox="1"/>
            <p:nvPr/>
          </p:nvSpPr>
          <p:spPr>
            <a:xfrm>
              <a:off x="6853238" y="1214438"/>
              <a:ext cx="413385" cy="147638"/>
            </a:xfrm>
            <a:prstGeom prst="rect">
              <a:avLst/>
            </a:prstGeom>
            <a:noFill/>
            <a:ln>
              <a:noFill/>
            </a:ln>
          </p:spPr>
          <p:txBody>
            <a:bodyPr wrap="none" lIns="0" tIns="0" rIns="0" bIns="0" anchor="t" anchorCtr="0">
              <a:spAutoFit/>
            </a:bodyPr>
            <a:lstStyle/>
            <a:p>
              <a:pPr algn="l"/>
              <a:r>
                <a:rPr lang="zh-CN" sz="750" dirty="0">
                  <a:solidFill>
                    <a:srgbClr val="595959"/>
                  </a:solidFill>
                  <a:latin typeface="+mn-lt"/>
                  <a:ea typeface="+mn-ea"/>
                  <a:cs typeface="+mn-cs"/>
                </a:rPr>
                <a:t>客户占比</a:t>
              </a:r>
            </a:p>
          </p:txBody>
        </p:sp>
        <p:sp>
          <p:nvSpPr>
            <p:cNvPr id="70" name="Rectangle 70"/>
            <p:cNvSpPr/>
            <p:nvPr/>
          </p:nvSpPr>
          <p:spPr>
            <a:xfrm>
              <a:off x="7620000" y="971550"/>
              <a:ext cx="152400" cy="152400"/>
            </a:xfrm>
            <a:prstGeom prst="rect">
              <a:avLst/>
            </a:prstGeom>
            <a:solidFill>
              <a:srgbClr val="9C594C"/>
            </a:solidFill>
            <a:ln>
              <a:noFill/>
            </a:ln>
          </p:spPr>
        </p:sp>
        <p:sp>
          <p:nvSpPr>
            <p:cNvPr id="71" name="Rectangle 71"/>
            <p:cNvSpPr/>
            <p:nvPr/>
          </p:nvSpPr>
          <p:spPr>
            <a:xfrm>
              <a:off x="7810500" y="971550"/>
              <a:ext cx="152400" cy="152400"/>
            </a:xfrm>
            <a:prstGeom prst="rect">
              <a:avLst/>
            </a:prstGeom>
            <a:solidFill>
              <a:srgbClr val="9C594C"/>
            </a:solidFill>
            <a:ln>
              <a:noFill/>
            </a:ln>
          </p:spPr>
        </p:sp>
        <p:sp>
          <p:nvSpPr>
            <p:cNvPr id="72" name="Rectangle 72"/>
            <p:cNvSpPr/>
            <p:nvPr/>
          </p:nvSpPr>
          <p:spPr>
            <a:xfrm>
              <a:off x="8001000" y="971550"/>
              <a:ext cx="152400" cy="152400"/>
            </a:xfrm>
            <a:prstGeom prst="rect">
              <a:avLst/>
            </a:prstGeom>
            <a:solidFill>
              <a:srgbClr val="9C594C"/>
            </a:solidFill>
            <a:ln>
              <a:noFill/>
            </a:ln>
          </p:spPr>
        </p:sp>
        <p:sp>
          <p:nvSpPr>
            <p:cNvPr id="73" name="Rectangle 73"/>
            <p:cNvSpPr/>
            <p:nvPr/>
          </p:nvSpPr>
          <p:spPr>
            <a:xfrm>
              <a:off x="8191500" y="971550"/>
              <a:ext cx="152400" cy="152400"/>
            </a:xfrm>
            <a:prstGeom prst="rect">
              <a:avLst/>
            </a:prstGeom>
            <a:solidFill>
              <a:srgbClr val="9C594C"/>
            </a:solidFill>
            <a:ln>
              <a:noFill/>
            </a:ln>
          </p:spPr>
        </p:sp>
        <p:sp>
          <p:nvSpPr>
            <p:cNvPr id="74" name="Rectangle 74"/>
            <p:cNvSpPr/>
            <p:nvPr/>
          </p:nvSpPr>
          <p:spPr>
            <a:xfrm>
              <a:off x="8382000" y="971550"/>
              <a:ext cx="152400" cy="152400"/>
            </a:xfrm>
            <a:prstGeom prst="rect">
              <a:avLst/>
            </a:prstGeom>
            <a:solidFill>
              <a:srgbClr val="C8E0B8"/>
            </a:solidFill>
            <a:ln>
              <a:noFill/>
            </a:ln>
          </p:spPr>
        </p:sp>
        <p:sp>
          <p:nvSpPr>
            <p:cNvPr id="75" name="Rectangle 75"/>
            <p:cNvSpPr/>
            <p:nvPr/>
          </p:nvSpPr>
          <p:spPr>
            <a:xfrm>
              <a:off x="7620000" y="1162050"/>
              <a:ext cx="152400" cy="152400"/>
            </a:xfrm>
            <a:prstGeom prst="rect">
              <a:avLst/>
            </a:prstGeom>
            <a:solidFill>
              <a:srgbClr val="9C594C"/>
            </a:solidFill>
            <a:ln>
              <a:noFill/>
            </a:ln>
          </p:spPr>
        </p:sp>
        <p:sp>
          <p:nvSpPr>
            <p:cNvPr id="76" name="Rectangle 76"/>
            <p:cNvSpPr/>
            <p:nvPr/>
          </p:nvSpPr>
          <p:spPr>
            <a:xfrm>
              <a:off x="7810500" y="1162050"/>
              <a:ext cx="152400" cy="152400"/>
            </a:xfrm>
            <a:prstGeom prst="rect">
              <a:avLst/>
            </a:prstGeom>
            <a:solidFill>
              <a:srgbClr val="9C594C"/>
            </a:solidFill>
            <a:ln>
              <a:noFill/>
            </a:ln>
          </p:spPr>
        </p:sp>
        <p:sp>
          <p:nvSpPr>
            <p:cNvPr id="77" name="Rectangle 77"/>
            <p:cNvSpPr/>
            <p:nvPr/>
          </p:nvSpPr>
          <p:spPr>
            <a:xfrm>
              <a:off x="8001000" y="1162050"/>
              <a:ext cx="152400" cy="152400"/>
            </a:xfrm>
            <a:prstGeom prst="rect">
              <a:avLst/>
            </a:prstGeom>
            <a:solidFill>
              <a:srgbClr val="C8E0B8"/>
            </a:solidFill>
            <a:ln>
              <a:noFill/>
            </a:ln>
          </p:spPr>
        </p:sp>
        <p:sp>
          <p:nvSpPr>
            <p:cNvPr id="78" name="Rectangle 78"/>
            <p:cNvSpPr/>
            <p:nvPr/>
          </p:nvSpPr>
          <p:spPr>
            <a:xfrm>
              <a:off x="8191500" y="1162050"/>
              <a:ext cx="152400" cy="152400"/>
            </a:xfrm>
            <a:prstGeom prst="rect">
              <a:avLst/>
            </a:prstGeom>
            <a:solidFill>
              <a:srgbClr val="C8E0B8"/>
            </a:solidFill>
            <a:ln>
              <a:noFill/>
            </a:ln>
          </p:spPr>
        </p:sp>
        <p:sp>
          <p:nvSpPr>
            <p:cNvPr id="79" name="Rectangle 79"/>
            <p:cNvSpPr/>
            <p:nvPr/>
          </p:nvSpPr>
          <p:spPr>
            <a:xfrm>
              <a:off x="8382000" y="1162050"/>
              <a:ext cx="152400" cy="152400"/>
            </a:xfrm>
            <a:prstGeom prst="rect">
              <a:avLst/>
            </a:prstGeom>
            <a:solidFill>
              <a:srgbClr val="C8E0B8"/>
            </a:solidFill>
            <a:ln>
              <a:noFill/>
            </a:ln>
          </p:spPr>
        </p:sp>
        <p:sp>
          <p:nvSpPr>
            <p:cNvPr id="80" name="TextBox 80"/>
            <p:cNvSpPr txBox="1"/>
            <p:nvPr/>
          </p:nvSpPr>
          <p:spPr>
            <a:xfrm>
              <a:off x="9805988" y="984647"/>
              <a:ext cx="487045" cy="373856"/>
            </a:xfrm>
            <a:prstGeom prst="rect">
              <a:avLst/>
            </a:prstGeom>
            <a:noFill/>
            <a:ln>
              <a:noFill/>
            </a:ln>
          </p:spPr>
          <p:txBody>
            <a:bodyPr wrap="none" lIns="0" tIns="0" rIns="0" bIns="0" anchor="t" anchorCtr="0">
              <a:spAutoFit/>
            </a:bodyPr>
            <a:lstStyle/>
            <a:p>
              <a:pPr algn="l">
                <a:lnSpc>
                  <a:spcPts val="1500"/>
                </a:lnSpc>
              </a:pPr>
              <a:r>
                <a:rPr lang="zh-CN" sz="940" dirty="0">
                  <a:solidFill>
                    <a:srgbClr val="595959"/>
                  </a:solidFill>
                  <a:latin typeface="+mn-lt"/>
                  <a:ea typeface="+mn-ea"/>
                  <a:cs typeface="+mn-cs"/>
                </a:rPr>
                <a:t>逻辑混乱</a:t>
              </a:r>
              <a:br/>
              <a:r>
                <a:rPr lang="zh-CN" sz="940" dirty="0">
                  <a:solidFill>
                    <a:srgbClr val="595959"/>
                  </a:solidFill>
                  <a:latin typeface="+mn-lt"/>
                  <a:ea typeface="+mn-ea"/>
                  <a:cs typeface="+mn-cs"/>
                </a:rPr>
                <a:t>信息冗余</a:t>
              </a:r>
            </a:p>
          </p:txBody>
        </p:sp>
      </p:grpSp>
      <p:grpSp>
        <p:nvGrpSpPr>
          <p:cNvPr id="94" name="row-abstract"/>
          <p:cNvGrpSpPr/>
          <p:nvPr/>
        </p:nvGrpSpPr>
        <p:grpSpPr>
          <a:xfrm>
            <a:off x="5334000" y="1714500"/>
            <a:ext cx="6227143" cy="946309"/>
            <a:chOff x="5334000" y="1714500"/>
            <a:chExt cx="6227143" cy="946309"/>
          </a:xfrm>
        </p:grpSpPr>
        <p:sp>
          <p:nvSpPr>
            <p:cNvPr id="82" name="Rectangle 82"/>
            <p:cNvSpPr/>
            <p:nvPr/>
          </p:nvSpPr>
          <p:spPr>
            <a:xfrm>
              <a:off x="5334000" y="1714500"/>
              <a:ext cx="762000" cy="304800"/>
            </a:xfrm>
            <a:prstGeom prst="rect">
              <a:avLst/>
            </a:prstGeom>
            <a:solidFill>
              <a:srgbClr val="9C594C"/>
            </a:solidFill>
            <a:ln>
              <a:noFill/>
            </a:ln>
          </p:spPr>
        </p:sp>
        <p:sp>
          <p:nvSpPr>
            <p:cNvPr id="83" name="TextBox 83"/>
            <p:cNvSpPr txBox="1"/>
            <p:nvPr/>
          </p:nvSpPr>
          <p:spPr>
            <a:xfrm>
              <a:off x="5578119" y="18187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抽象</a:t>
              </a:r>
            </a:p>
          </p:txBody>
        </p:sp>
        <p:sp>
          <p:nvSpPr>
            <p:cNvPr id="84" name="Rectangle 84"/>
            <p:cNvSpPr/>
            <p:nvPr/>
          </p:nvSpPr>
          <p:spPr>
            <a:xfrm>
              <a:off x="6096000" y="1714500"/>
              <a:ext cx="857250" cy="304800"/>
            </a:xfrm>
            <a:prstGeom prst="rect">
              <a:avLst/>
            </a:prstGeom>
            <a:solidFill>
              <a:srgbClr val="DFF0D2"/>
            </a:solidFill>
            <a:ln>
              <a:noFill/>
            </a:ln>
          </p:spPr>
        </p:sp>
        <p:sp>
          <p:nvSpPr>
            <p:cNvPr id="85" name="TextBox 85"/>
            <p:cNvSpPr txBox="1"/>
            <p:nvPr/>
          </p:nvSpPr>
          <p:spPr>
            <a:xfrm>
              <a:off x="6299086" y="1825466"/>
              <a:ext cx="451079" cy="161925"/>
            </a:xfrm>
            <a:prstGeom prst="rect">
              <a:avLst/>
            </a:prstGeom>
            <a:noFill/>
            <a:ln>
              <a:noFill/>
            </a:ln>
          </p:spPr>
          <p:txBody>
            <a:bodyPr wrap="none" lIns="0" tIns="0" rIns="0" bIns="0" anchor="t" anchorCtr="0">
              <a:spAutoFit/>
            </a:bodyPr>
            <a:lstStyle/>
            <a:p>
              <a:pPr algn="ctr"/>
              <a:r>
                <a:rPr lang="zh-CN" sz="820" dirty="0">
                  <a:solidFill>
                    <a:srgbClr val="7A3E33"/>
                  </a:solidFill>
                  <a:latin typeface="+mn-lt"/>
                  <a:ea typeface="+mn-ea"/>
                  <a:cs typeface="+mn-cs"/>
                </a:rPr>
                <a:t>场景解构</a:t>
              </a:r>
            </a:p>
          </p:txBody>
        </p:sp>
        <p:sp>
          <p:nvSpPr>
            <p:cNvPr id="86" name="Rectangle 86"/>
            <p:cNvSpPr/>
            <p:nvPr/>
          </p:nvSpPr>
          <p:spPr>
            <a:xfrm>
              <a:off x="5429250" y="2171700"/>
              <a:ext cx="762000" cy="152400"/>
            </a:xfrm>
            <a:prstGeom prst="roundRect">
              <a:avLst>
                <a:gd name="adj" fmla="val 50000"/>
              </a:avLst>
            </a:prstGeom>
            <a:solidFill>
              <a:srgbClr val="DFF0D2"/>
            </a:solidFill>
            <a:ln>
              <a:noFill/>
            </a:ln>
          </p:spPr>
        </p:sp>
        <p:sp>
          <p:nvSpPr>
            <p:cNvPr id="87" name="TextBox 87"/>
            <p:cNvSpPr txBox="1"/>
            <p:nvPr/>
          </p:nvSpPr>
          <p:spPr>
            <a:xfrm>
              <a:off x="5590096" y="2217182"/>
              <a:ext cx="440309" cy="126206"/>
            </a:xfrm>
            <a:prstGeom prst="rect">
              <a:avLst/>
            </a:prstGeom>
            <a:noFill/>
            <a:ln>
              <a:noFill/>
            </a:ln>
          </p:spPr>
          <p:txBody>
            <a:bodyPr wrap="none" lIns="0" tIns="0" rIns="0" bIns="0" anchor="t" anchorCtr="0">
              <a:spAutoFit/>
            </a:bodyPr>
            <a:lstStyle/>
            <a:p>
              <a:pPr algn="ctr"/>
              <a:r>
                <a:rPr lang="zh-CN" sz="640" dirty="0">
                  <a:solidFill>
                    <a:srgbClr val="7A3E33"/>
                  </a:solidFill>
                  <a:latin typeface="+mn-lt"/>
                  <a:ea typeface="+mn-ea"/>
                  <a:cs typeface="+mn-cs"/>
                </a:rPr>
                <a:t>新增关注者</a:t>
              </a:r>
            </a:p>
          </p:txBody>
        </p:sp>
        <p:sp>
          <p:nvSpPr>
            <p:cNvPr id="88" name="TextBox 88"/>
            <p:cNvSpPr txBox="1"/>
            <p:nvPr/>
          </p:nvSpPr>
          <p:spPr>
            <a:xfrm>
              <a:off x="6281738" y="2198370"/>
              <a:ext cx="379171" cy="176212"/>
            </a:xfrm>
            <a:prstGeom prst="rect">
              <a:avLst/>
            </a:prstGeom>
            <a:noFill/>
            <a:ln>
              <a:noFill/>
            </a:ln>
          </p:spPr>
          <p:txBody>
            <a:bodyPr wrap="none" lIns="0" tIns="0" rIns="0" bIns="0" anchor="t" anchorCtr="0">
              <a:spAutoFit/>
            </a:bodyPr>
            <a:lstStyle/>
            <a:p>
              <a:pPr algn="l"/>
              <a:r>
                <a:rPr lang="en-US" sz="900" b="1" dirty="0">
                  <a:solidFill>
                    <a:srgbClr val="333333"/>
                  </a:solidFill>
                  <a:latin typeface="+mn-lt"/>
                  <a:ea typeface="+mn-ea"/>
                  <a:cs typeface="+mn-cs"/>
                </a:rPr>
                <a:t>+23K​</a:t>
              </a:r>
            </a:p>
          </p:txBody>
        </p:sp>
        <p:sp>
          <p:nvSpPr>
            <p:cNvPr id="89" name="Line 89"/>
            <p:cNvSpPr/>
            <p:nvPr/>
          </p:nvSpPr>
          <p:spPr>
            <a:xfrm>
              <a:off x="7048500" y="1866900"/>
              <a:ext cx="304800" cy="1"/>
            </a:xfrm>
            <a:prstGeom prst="line">
              <a:avLst/>
            </a:prstGeom>
            <a:noFill/>
            <a:ln w="11430">
              <a:solidFill>
                <a:srgbClr val="9C594C"/>
              </a:solidFill>
              <a:custDash>
                <a:ds d="250000" sp="166667"/>
              </a:custDash>
              <a:tailEnd type="triangle" w="lg" len="lg"/>
            </a:ln>
          </p:spPr>
        </p:sp>
        <p:sp>
          <p:nvSpPr>
            <p:cNvPr id="90" name="TextBox 90"/>
            <p:cNvSpPr txBox="1"/>
            <p:nvPr/>
          </p:nvSpPr>
          <p:spPr>
            <a:xfrm>
              <a:off x="7472362" y="1813322"/>
              <a:ext cx="515696" cy="183356"/>
            </a:xfrm>
            <a:prstGeom prst="rect">
              <a:avLst/>
            </a:prstGeom>
            <a:noFill/>
            <a:ln>
              <a:noFill/>
            </a:ln>
          </p:spPr>
          <p:txBody>
            <a:bodyPr wrap="none" lIns="0" tIns="0" rIns="0" bIns="0" anchor="t" anchorCtr="0">
              <a:spAutoFit/>
            </a:bodyPr>
            <a:lstStyle/>
            <a:p>
              <a:pPr algn="l"/>
              <a:r>
                <a:rPr lang="zh-CN" sz="940" b="1" dirty="0">
                  <a:solidFill>
                    <a:srgbClr val="7A3E33"/>
                  </a:solidFill>
                  <a:latin typeface="+mn-lt"/>
                  <a:ea typeface="+mn-ea"/>
                  <a:cs typeface="+mn-cs"/>
                </a:rPr>
                <a:t>深化认知</a:t>
              </a:r>
            </a:p>
          </p:txBody>
        </p:sp>
        <p:sp>
          <p:nvSpPr>
            <p:cNvPr id="91" name="Line 91"/>
            <p:cNvSpPr/>
            <p:nvPr/>
          </p:nvSpPr>
          <p:spPr>
            <a:xfrm>
              <a:off x="8096250" y="1866900"/>
              <a:ext cx="3048000" cy="9525"/>
            </a:xfrm>
            <a:custGeom>
              <a:avLst/>
              <a:gdLst/>
              <a:ahLst/>
              <a:cxnLst/>
              <a:rect l="l" t="t" r="r" b="b"/>
              <a:pathLst>
                <a:path w="3048000" h="9525">
                  <a:moveTo>
                    <a:pt x="0" y="0"/>
                  </a:moveTo>
                  <a:lnTo>
                    <a:pt x="3048000" y="0"/>
                  </a:lnTo>
                </a:path>
              </a:pathLst>
            </a:custGeom>
            <a:noFill/>
            <a:ln w="9525">
              <a:solidFill>
                <a:srgbClr val="C9D8BD"/>
              </a:solidFill>
              <a:custDash>
                <a:ds d="300000" sp="200000"/>
              </a:custDash>
            </a:ln>
          </p:spPr>
        </p:sp>
        <p:sp>
          <p:nvSpPr>
            <p:cNvPr id="92" name="Freeform 92"/>
            <p:cNvSpPr/>
            <p:nvPr/>
          </p:nvSpPr>
          <p:spPr>
            <a:xfrm>
              <a:off x="11355140" y="1766828"/>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9C594C"/>
              </a:solidFill>
            </a:ln>
          </p:spPr>
        </p:sp>
        <p:sp>
          <p:nvSpPr>
            <p:cNvPr id="93" name="TextBox 93"/>
            <p:cNvSpPr txBox="1"/>
            <p:nvPr/>
          </p:nvSpPr>
          <p:spPr>
            <a:xfrm>
              <a:off x="7519988" y="2098834"/>
              <a:ext cx="2548509" cy="561975"/>
            </a:xfrm>
            <a:prstGeom prst="rect">
              <a:avLst/>
            </a:prstGeom>
            <a:noFill/>
            <a:ln>
              <a:noFill/>
            </a:ln>
          </p:spPr>
          <p:txBody>
            <a:bodyPr wrap="none" lIns="0" tIns="0" rIns="0" bIns="0" anchor="t" anchorCtr="0">
              <a:spAutoFit/>
            </a:bodyPr>
            <a:lstStyle/>
            <a:p>
              <a:pPr algn="l">
                <a:lnSpc>
                  <a:spcPts val="1125"/>
                </a:lnSpc>
              </a:pPr>
              <a:r>
                <a:rPr lang="zh-CN" sz="680" dirty="0">
                  <a:solidFill>
                    <a:srgbClr val="595959"/>
                  </a:solidFill>
                  <a:latin typeface="+mn-lt"/>
                  <a:ea typeface="+mn-ea"/>
                  <a:cs typeface="+mn-cs"/>
                </a:rPr>
                <a:t>› 在通过定制化产出立体洞察之后,为了在电商环境精准地触达他们</a:t>
              </a:r>
              <a:br/>
              <a:r>
                <a:rPr lang="zh-CN" sz="680" dirty="0">
                  <a:solidFill>
                    <a:srgbClr val="595959"/>
                  </a:solidFill>
                  <a:latin typeface="+mn-lt"/>
                  <a:ea typeface="+mn-ea"/>
                  <a:cs typeface="+mn-cs"/>
                </a:rPr>
                <a:t>进一步知道这些 拥有老年犬的目标策略人群在淘内的行为是怎样的</a:t>
              </a:r>
              <a:br/>
              <a:r>
                <a:rPr lang="zh-CN" sz="680" dirty="0">
                  <a:solidFill>
                    <a:srgbClr val="595959"/>
                  </a:solidFill>
                  <a:latin typeface="+mn-lt"/>
                  <a:ea typeface="+mn-ea"/>
                  <a:cs typeface="+mn-cs"/>
                </a:rPr>
                <a:t>› 定制化产出立体洞察之后,为了在电商环境精准地触达他们进一步</a:t>
              </a:r>
              <a:br/>
              <a:r>
                <a:rPr lang="zh-CN" sz="680" dirty="0">
                  <a:solidFill>
                    <a:srgbClr val="595959"/>
                  </a:solidFill>
                  <a:latin typeface="+mn-lt"/>
                  <a:ea typeface="+mn-ea"/>
                  <a:cs typeface="+mn-cs"/>
                </a:rPr>
                <a:t>知道这些 拥有老年犬的目标策略人群在淘内的行为是怎样的</a:t>
              </a:r>
            </a:p>
          </p:txBody>
        </p:sp>
      </p:grpSp>
      <p:grpSp>
        <p:nvGrpSpPr>
          <p:cNvPr id="134" name="row-structure"/>
          <p:cNvGrpSpPr/>
          <p:nvPr/>
        </p:nvGrpSpPr>
        <p:grpSpPr>
          <a:xfrm>
            <a:off x="5334000" y="3048000"/>
            <a:ext cx="6286500" cy="952500"/>
            <a:chOff x="5334000" y="3048000"/>
            <a:chExt cx="6286500" cy="952500"/>
          </a:xfrm>
        </p:grpSpPr>
        <p:sp>
          <p:nvSpPr>
            <p:cNvPr id="95" name="Rectangle 95"/>
            <p:cNvSpPr/>
            <p:nvPr/>
          </p:nvSpPr>
          <p:spPr>
            <a:xfrm>
              <a:off x="5334000" y="3048000"/>
              <a:ext cx="762000" cy="304800"/>
            </a:xfrm>
            <a:prstGeom prst="rect">
              <a:avLst/>
            </a:prstGeom>
            <a:solidFill>
              <a:srgbClr val="E9563C"/>
            </a:solidFill>
            <a:ln>
              <a:noFill/>
            </a:ln>
          </p:spPr>
        </p:sp>
        <p:sp>
          <p:nvSpPr>
            <p:cNvPr id="96" name="TextBox 96"/>
            <p:cNvSpPr txBox="1"/>
            <p:nvPr/>
          </p:nvSpPr>
          <p:spPr>
            <a:xfrm>
              <a:off x="5512156" y="3152299"/>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结构化</a:t>
              </a:r>
            </a:p>
          </p:txBody>
        </p:sp>
        <p:sp>
          <p:nvSpPr>
            <p:cNvPr id="97" name="Rectangle 97"/>
            <p:cNvSpPr/>
            <p:nvPr/>
          </p:nvSpPr>
          <p:spPr>
            <a:xfrm>
              <a:off x="6096000" y="3048000"/>
              <a:ext cx="857250" cy="304800"/>
            </a:xfrm>
            <a:prstGeom prst="rect">
              <a:avLst/>
            </a:prstGeom>
            <a:solidFill>
              <a:srgbClr val="FBF0D8"/>
            </a:solidFill>
            <a:ln>
              <a:noFill/>
            </a:ln>
          </p:spPr>
        </p:sp>
        <p:sp>
          <p:nvSpPr>
            <p:cNvPr id="98" name="TextBox 98"/>
            <p:cNvSpPr txBox="1"/>
            <p:nvPr/>
          </p:nvSpPr>
          <p:spPr>
            <a:xfrm>
              <a:off x="6299086" y="3158966"/>
              <a:ext cx="451079" cy="161925"/>
            </a:xfrm>
            <a:prstGeom prst="rect">
              <a:avLst/>
            </a:prstGeom>
            <a:noFill/>
            <a:ln>
              <a:noFill/>
            </a:ln>
          </p:spPr>
          <p:txBody>
            <a:bodyPr wrap="none" lIns="0" tIns="0" rIns="0" bIns="0" anchor="t" anchorCtr="0">
              <a:spAutoFit/>
            </a:bodyPr>
            <a:lstStyle/>
            <a:p>
              <a:pPr algn="ctr"/>
              <a:r>
                <a:rPr lang="zh-CN" sz="820" dirty="0">
                  <a:solidFill>
                    <a:srgbClr val="8A2210"/>
                  </a:solidFill>
                  <a:latin typeface="+mn-lt"/>
                  <a:ea typeface="+mn-ea"/>
                  <a:cs typeface="+mn-cs"/>
                </a:rPr>
                <a:t>逻辑解构</a:t>
              </a:r>
            </a:p>
          </p:txBody>
        </p:sp>
        <p:sp>
          <p:nvSpPr>
            <p:cNvPr id="99" name="Rectangle 99"/>
            <p:cNvSpPr/>
            <p:nvPr/>
          </p:nvSpPr>
          <p:spPr>
            <a:xfrm>
              <a:off x="5429250" y="3505200"/>
              <a:ext cx="762000" cy="152400"/>
            </a:xfrm>
            <a:prstGeom prst="roundRect">
              <a:avLst>
                <a:gd name="adj" fmla="val 50000"/>
              </a:avLst>
            </a:prstGeom>
            <a:solidFill>
              <a:srgbClr val="FBF0D8"/>
            </a:solidFill>
            <a:ln>
              <a:noFill/>
            </a:ln>
          </p:spPr>
        </p:sp>
        <p:sp>
          <p:nvSpPr>
            <p:cNvPr id="100" name="TextBox 100"/>
            <p:cNvSpPr txBox="1"/>
            <p:nvPr/>
          </p:nvSpPr>
          <p:spPr>
            <a:xfrm>
              <a:off x="5590096" y="3550682"/>
              <a:ext cx="440309" cy="126206"/>
            </a:xfrm>
            <a:prstGeom prst="rect">
              <a:avLst/>
            </a:prstGeom>
            <a:noFill/>
            <a:ln>
              <a:noFill/>
            </a:ln>
          </p:spPr>
          <p:txBody>
            <a:bodyPr wrap="none" lIns="0" tIns="0" rIns="0" bIns="0" anchor="t" anchorCtr="0">
              <a:spAutoFit/>
            </a:bodyPr>
            <a:lstStyle/>
            <a:p>
              <a:pPr algn="ctr"/>
              <a:r>
                <a:rPr lang="zh-CN" sz="640" dirty="0">
                  <a:solidFill>
                    <a:srgbClr val="8A2210"/>
                  </a:solidFill>
                  <a:latin typeface="+mn-lt"/>
                  <a:ea typeface="+mn-ea"/>
                  <a:cs typeface="+mn-cs"/>
                </a:rPr>
                <a:t>用户参与度</a:t>
              </a:r>
            </a:p>
          </p:txBody>
        </p:sp>
        <p:sp>
          <p:nvSpPr>
            <p:cNvPr id="101" name="TextBox 101"/>
            <p:cNvSpPr txBox="1"/>
            <p:nvPr/>
          </p:nvSpPr>
          <p:spPr>
            <a:xfrm>
              <a:off x="6281738" y="3531870"/>
              <a:ext cx="314843" cy="176212"/>
            </a:xfrm>
            <a:prstGeom prst="rect">
              <a:avLst/>
            </a:prstGeom>
            <a:noFill/>
            <a:ln>
              <a:noFill/>
            </a:ln>
          </p:spPr>
          <p:txBody>
            <a:bodyPr wrap="none" lIns="0" tIns="0" rIns="0" bIns="0" anchor="t" anchorCtr="0">
              <a:spAutoFit/>
            </a:bodyPr>
            <a:lstStyle/>
            <a:p>
              <a:pPr algn="l"/>
              <a:r>
                <a:rPr lang="zh-CN" sz="900" b="1" dirty="0">
                  <a:solidFill>
                    <a:srgbClr val="D6391E"/>
                  </a:solidFill>
                  <a:latin typeface="+mn-lt"/>
                  <a:ea typeface="+mn-ea"/>
                  <a:cs typeface="+mn-cs"/>
                </a:rPr>
                <a:t>71%​</a:t>
              </a:r>
            </a:p>
          </p:txBody>
        </p:sp>
        <p:sp>
          <p:nvSpPr>
            <p:cNvPr id="102" name="Line 102"/>
            <p:cNvSpPr/>
            <p:nvPr/>
          </p:nvSpPr>
          <p:spPr>
            <a:xfrm>
              <a:off x="7048500" y="3200400"/>
              <a:ext cx="304800" cy="1"/>
            </a:xfrm>
            <a:prstGeom prst="line">
              <a:avLst/>
            </a:prstGeom>
            <a:noFill/>
            <a:ln w="11430">
              <a:solidFill>
                <a:srgbClr val="E9563C"/>
              </a:solidFill>
              <a:custDash>
                <a:ds d="250000" sp="166667"/>
              </a:custDash>
              <a:tailEnd type="triangle" w="lg" len="lg"/>
            </a:ln>
          </p:spPr>
        </p:sp>
        <p:sp>
          <p:nvSpPr>
            <p:cNvPr id="103" name="TextBox 103"/>
            <p:cNvSpPr txBox="1"/>
            <p:nvPr/>
          </p:nvSpPr>
          <p:spPr>
            <a:xfrm>
              <a:off x="7472362" y="3146822"/>
              <a:ext cx="515696" cy="183356"/>
            </a:xfrm>
            <a:prstGeom prst="rect">
              <a:avLst/>
            </a:prstGeom>
            <a:noFill/>
            <a:ln>
              <a:noFill/>
            </a:ln>
          </p:spPr>
          <p:txBody>
            <a:bodyPr wrap="none" lIns="0" tIns="0" rIns="0" bIns="0" anchor="t" anchorCtr="0">
              <a:spAutoFit/>
            </a:bodyPr>
            <a:lstStyle/>
            <a:p>
              <a:pPr algn="l"/>
              <a:r>
                <a:rPr lang="zh-CN" sz="940" b="1" dirty="0">
                  <a:solidFill>
                    <a:srgbClr val="D6391E"/>
                  </a:solidFill>
                  <a:latin typeface="+mn-lt"/>
                  <a:ea typeface="+mn-ea"/>
                  <a:cs typeface="+mn-cs"/>
                </a:rPr>
                <a:t>积累兴趣</a:t>
              </a:r>
            </a:p>
          </p:txBody>
        </p:sp>
        <p:sp>
          <p:nvSpPr>
            <p:cNvPr id="104" name="Line 104"/>
            <p:cNvSpPr/>
            <p:nvPr/>
          </p:nvSpPr>
          <p:spPr>
            <a:xfrm>
              <a:off x="8096250" y="3200400"/>
              <a:ext cx="3048000" cy="9525"/>
            </a:xfrm>
            <a:custGeom>
              <a:avLst/>
              <a:gdLst/>
              <a:ahLst/>
              <a:cxnLst/>
              <a:rect l="l" t="t" r="r" b="b"/>
              <a:pathLst>
                <a:path w="3048000" h="9525">
                  <a:moveTo>
                    <a:pt x="0" y="0"/>
                  </a:moveTo>
                  <a:lnTo>
                    <a:pt x="3048000" y="0"/>
                  </a:lnTo>
                </a:path>
              </a:pathLst>
            </a:custGeom>
            <a:noFill/>
            <a:ln w="9525">
              <a:solidFill>
                <a:srgbClr val="E8B5AC"/>
              </a:solidFill>
              <a:custDash>
                <a:ds d="300000" sp="200000"/>
              </a:custDash>
            </a:ln>
          </p:spPr>
        </p:sp>
        <p:grpSp>
          <p:nvGrpSpPr>
            <p:cNvPr id="109" name="Group 109"/>
            <p:cNvGrpSpPr/>
            <p:nvPr/>
          </p:nvGrpSpPr>
          <p:grpSpPr>
            <a:xfrm>
              <a:off x="11386344" y="3098006"/>
              <a:ext cx="144462" cy="185737"/>
              <a:chOff x="11386344" y="3098006"/>
              <a:chExt cx="144462" cy="185737"/>
            </a:xfrm>
          </p:grpSpPr>
          <p:sp>
            <p:nvSpPr>
              <p:cNvPr id="105" name="Freeform 105"/>
              <p:cNvSpPr/>
              <p:nvPr/>
            </p:nvSpPr>
            <p:spPr>
              <a:xfrm>
                <a:off x="11386344" y="3118644"/>
                <a:ext cx="144462" cy="165099"/>
              </a:xfrm>
              <a:custGeom>
                <a:avLst/>
                <a:gdLst/>
                <a:ahLst/>
                <a:cxnLst/>
                <a:rect l="l" t="t" r="r" b="b"/>
                <a:pathLst>
                  <a:path w="144462" h="165099">
                    <a:moveTo>
                      <a:pt x="41275" y="0"/>
                    </a:moveTo>
                    <a:lnTo>
                      <a:pt x="20637" y="0"/>
                    </a:lnTo>
                    <a:cubicBezTo>
                      <a:pt x="9240" y="0"/>
                      <a:pt x="0" y="9240"/>
                      <a:pt x="0" y="20637"/>
                    </a:cubicBezTo>
                    <a:lnTo>
                      <a:pt x="0" y="144462"/>
                    </a:lnTo>
                    <a:cubicBezTo>
                      <a:pt x="0" y="155860"/>
                      <a:pt x="9240" y="165099"/>
                      <a:pt x="20637" y="165099"/>
                    </a:cubicBezTo>
                    <a:lnTo>
                      <a:pt x="123825" y="165099"/>
                    </a:lnTo>
                    <a:cubicBezTo>
                      <a:pt x="135222" y="165099"/>
                      <a:pt x="144462" y="155860"/>
                      <a:pt x="144462" y="144462"/>
                    </a:cubicBezTo>
                    <a:lnTo>
                      <a:pt x="144462" y="20637"/>
                    </a:lnTo>
                    <a:cubicBezTo>
                      <a:pt x="144462" y="9240"/>
                      <a:pt x="135222" y="0"/>
                      <a:pt x="123825" y="0"/>
                    </a:cubicBezTo>
                    <a:lnTo>
                      <a:pt x="103187" y="0"/>
                    </a:lnTo>
                  </a:path>
                </a:pathLst>
              </a:custGeom>
              <a:noFill/>
              <a:ln w="20637">
                <a:solidFill>
                  <a:srgbClr val="D6391E"/>
                </a:solidFill>
              </a:ln>
            </p:spPr>
          </p:sp>
          <p:sp>
            <p:nvSpPr>
              <p:cNvPr id="106" name="Freeform 106"/>
              <p:cNvSpPr/>
              <p:nvPr/>
            </p:nvSpPr>
            <p:spPr>
              <a:xfrm>
                <a:off x="11427618" y="3098006"/>
                <a:ext cx="61912" cy="41275"/>
              </a:xfrm>
              <a:custGeom>
                <a:avLst/>
                <a:gdLst/>
                <a:ahLst/>
                <a:cxnLst/>
                <a:rect l="l" t="t" r="r" b="b"/>
                <a:pathLst>
                  <a:path w="61912" h="41275">
                    <a:moveTo>
                      <a:pt x="0" y="20637"/>
                    </a:moveTo>
                    <a:cubicBezTo>
                      <a:pt x="0" y="9240"/>
                      <a:pt x="9240" y="0"/>
                      <a:pt x="20637" y="0"/>
                    </a:cubicBezTo>
                    <a:lnTo>
                      <a:pt x="41275" y="0"/>
                    </a:lnTo>
                    <a:cubicBezTo>
                      <a:pt x="52673" y="0"/>
                      <a:pt x="61912" y="9240"/>
                      <a:pt x="61912" y="20637"/>
                    </a:cubicBezTo>
                    <a:cubicBezTo>
                      <a:pt x="61912" y="32035"/>
                      <a:pt x="52673" y="41275"/>
                      <a:pt x="41275" y="41275"/>
                    </a:cubicBezTo>
                    <a:lnTo>
                      <a:pt x="20637" y="41275"/>
                    </a:lnTo>
                    <a:cubicBezTo>
                      <a:pt x="9240" y="41275"/>
                      <a:pt x="0" y="32035"/>
                      <a:pt x="0" y="20637"/>
                    </a:cubicBezTo>
                  </a:path>
                </a:pathLst>
              </a:custGeom>
              <a:noFill/>
              <a:ln w="20637">
                <a:solidFill>
                  <a:srgbClr val="D6391E"/>
                </a:solidFill>
              </a:ln>
            </p:spPr>
          </p:sp>
          <p:sp>
            <p:nvSpPr>
              <p:cNvPr id="107" name="Freeform 107"/>
              <p:cNvSpPr/>
              <p:nvPr/>
            </p:nvSpPr>
            <p:spPr>
              <a:xfrm>
                <a:off x="11437937" y="3180556"/>
                <a:ext cx="41275" cy="61912"/>
              </a:xfrm>
              <a:custGeom>
                <a:avLst/>
                <a:gdLst/>
                <a:ahLst/>
                <a:cxnLst/>
                <a:rect l="l" t="t" r="r" b="b"/>
                <a:pathLst>
                  <a:path w="41275" h="61912">
                    <a:moveTo>
                      <a:pt x="41275" y="0"/>
                    </a:moveTo>
                    <a:lnTo>
                      <a:pt x="15478" y="0"/>
                    </a:lnTo>
                    <a:cubicBezTo>
                      <a:pt x="6930" y="0"/>
                      <a:pt x="0" y="6930"/>
                      <a:pt x="0" y="15478"/>
                    </a:cubicBezTo>
                    <a:cubicBezTo>
                      <a:pt x="0" y="24026"/>
                      <a:pt x="6930" y="30956"/>
                      <a:pt x="15478" y="30956"/>
                    </a:cubicBezTo>
                    <a:lnTo>
                      <a:pt x="25797" y="30956"/>
                    </a:lnTo>
                    <a:cubicBezTo>
                      <a:pt x="34345" y="30956"/>
                      <a:pt x="41275" y="37886"/>
                      <a:pt x="41275" y="46434"/>
                    </a:cubicBezTo>
                    <a:cubicBezTo>
                      <a:pt x="41275" y="54983"/>
                      <a:pt x="34345" y="61912"/>
                      <a:pt x="25797" y="61912"/>
                    </a:cubicBezTo>
                    <a:lnTo>
                      <a:pt x="0" y="61912"/>
                    </a:lnTo>
                  </a:path>
                </a:pathLst>
              </a:custGeom>
              <a:noFill/>
              <a:ln w="20637">
                <a:solidFill>
                  <a:srgbClr val="D6391E"/>
                </a:solidFill>
              </a:ln>
            </p:spPr>
          </p:sp>
          <p:sp>
            <p:nvSpPr>
              <p:cNvPr id="108" name="Freeform 108"/>
              <p:cNvSpPr/>
              <p:nvPr/>
            </p:nvSpPr>
            <p:spPr>
              <a:xfrm>
                <a:off x="11458575" y="3170237"/>
                <a:ext cx="9525" cy="82550"/>
              </a:xfrm>
              <a:custGeom>
                <a:avLst/>
                <a:gdLst/>
                <a:ahLst/>
                <a:cxnLst/>
                <a:rect l="l" t="t" r="r" b="b"/>
                <a:pathLst>
                  <a:path w="9525" h="82550">
                    <a:moveTo>
                      <a:pt x="0" y="72231"/>
                    </a:moveTo>
                    <a:lnTo>
                      <a:pt x="0" y="82550"/>
                    </a:lnTo>
                    <a:moveTo>
                      <a:pt x="0" y="0"/>
                    </a:moveTo>
                    <a:lnTo>
                      <a:pt x="0" y="10319"/>
                    </a:lnTo>
                  </a:path>
                </a:pathLst>
              </a:custGeom>
              <a:noFill/>
              <a:ln w="20637">
                <a:solidFill>
                  <a:srgbClr val="D6391E"/>
                </a:solidFill>
              </a:ln>
            </p:spPr>
          </p:sp>
        </p:grpSp>
        <p:sp>
          <p:nvSpPr>
            <p:cNvPr id="110" name="Rectangle 110"/>
            <p:cNvSpPr/>
            <p:nvPr/>
          </p:nvSpPr>
          <p:spPr>
            <a:xfrm>
              <a:off x="7524750" y="3409950"/>
              <a:ext cx="952500" cy="590550"/>
            </a:xfrm>
            <a:prstGeom prst="rect">
              <a:avLst/>
            </a:prstGeom>
            <a:solidFill>
              <a:srgbClr val="FDF6E7"/>
            </a:solidFill>
            <a:ln w="9525">
              <a:solidFill>
                <a:srgbClr val="E9563C"/>
              </a:solidFill>
              <a:custDash>
                <a:ds d="300000" sp="200000"/>
              </a:custDash>
            </a:ln>
          </p:spPr>
        </p:sp>
        <p:grpSp>
          <p:nvGrpSpPr>
            <p:cNvPr id="114" name="Group 114"/>
            <p:cNvGrpSpPr/>
            <p:nvPr/>
          </p:nvGrpSpPr>
          <p:grpSpPr>
            <a:xfrm>
              <a:off x="7915275" y="3495675"/>
              <a:ext cx="171450" cy="171450"/>
              <a:chOff x="7915275" y="3495675"/>
              <a:chExt cx="171450" cy="171450"/>
            </a:xfrm>
          </p:grpSpPr>
          <p:sp>
            <p:nvSpPr>
              <p:cNvPr id="111" name="Freeform 111"/>
              <p:cNvSpPr/>
              <p:nvPr/>
            </p:nvSpPr>
            <p:spPr>
              <a:xfrm>
                <a:off x="7991475" y="35718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D6391E"/>
                </a:solidFill>
              </a:ln>
            </p:spPr>
          </p:sp>
          <p:sp>
            <p:nvSpPr>
              <p:cNvPr id="112" name="Freeform 112"/>
              <p:cNvSpPr/>
              <p:nvPr/>
            </p:nvSpPr>
            <p:spPr>
              <a:xfrm>
                <a:off x="7953375" y="353377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D6391E"/>
                </a:solidFill>
              </a:ln>
            </p:spPr>
          </p:sp>
          <p:sp>
            <p:nvSpPr>
              <p:cNvPr id="113" name="Freeform 113"/>
              <p:cNvSpPr/>
              <p:nvPr/>
            </p:nvSpPr>
            <p:spPr>
              <a:xfrm>
                <a:off x="7915275" y="3495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D6391E"/>
                </a:solidFill>
              </a:ln>
            </p:spPr>
          </p:sp>
        </p:grpSp>
        <p:sp>
          <p:nvSpPr>
            <p:cNvPr id="115" name="TextBox 115"/>
            <p:cNvSpPr txBox="1"/>
            <p:nvPr/>
          </p:nvSpPr>
          <p:spPr>
            <a:xfrm>
              <a:off x="7783538" y="3820239"/>
              <a:ext cx="43492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品牌定位</a:t>
              </a:r>
            </a:p>
          </p:txBody>
        </p:sp>
        <p:sp>
          <p:nvSpPr>
            <p:cNvPr id="116" name="Rectangle 116"/>
            <p:cNvSpPr/>
            <p:nvPr/>
          </p:nvSpPr>
          <p:spPr>
            <a:xfrm>
              <a:off x="8572500" y="3409950"/>
              <a:ext cx="952500" cy="590550"/>
            </a:xfrm>
            <a:prstGeom prst="rect">
              <a:avLst/>
            </a:prstGeom>
            <a:solidFill>
              <a:srgbClr val="FDF6E7"/>
            </a:solidFill>
            <a:ln w="9525">
              <a:solidFill>
                <a:srgbClr val="E9563C"/>
              </a:solidFill>
              <a:custDash>
                <a:ds d="300000" sp="200000"/>
              </a:custDash>
            </a:ln>
          </p:spPr>
        </p:sp>
        <p:grpSp>
          <p:nvGrpSpPr>
            <p:cNvPr id="122" name="Group 122"/>
            <p:cNvGrpSpPr/>
            <p:nvPr/>
          </p:nvGrpSpPr>
          <p:grpSpPr>
            <a:xfrm>
              <a:off x="8963025" y="3494399"/>
              <a:ext cx="171450" cy="172726"/>
              <a:chOff x="8963025" y="3494399"/>
              <a:chExt cx="171450" cy="172726"/>
            </a:xfrm>
          </p:grpSpPr>
          <p:sp>
            <p:nvSpPr>
              <p:cNvPr id="117" name="Freeform 117"/>
              <p:cNvSpPr/>
              <p:nvPr/>
            </p:nvSpPr>
            <p:spPr>
              <a:xfrm>
                <a:off x="9020175" y="3571875"/>
                <a:ext cx="114300" cy="57150"/>
              </a:xfrm>
              <a:custGeom>
                <a:avLst/>
                <a:gdLst/>
                <a:ahLst/>
                <a:cxnLst/>
                <a:rect l="l" t="t" r="r" b="b"/>
                <a:pathLst>
                  <a:path w="114300" h="57150">
                    <a:moveTo>
                      <a:pt x="0" y="28575"/>
                    </a:moveTo>
                    <a:cubicBezTo>
                      <a:pt x="0" y="44358"/>
                      <a:pt x="25584" y="57150"/>
                      <a:pt x="57150" y="57150"/>
                    </a:cubicBezTo>
                    <a:cubicBezTo>
                      <a:pt x="88716" y="57150"/>
                      <a:pt x="114300" y="44358"/>
                      <a:pt x="114300" y="28575"/>
                    </a:cubicBezTo>
                    <a:cubicBezTo>
                      <a:pt x="114300" y="12792"/>
                      <a:pt x="88716" y="0"/>
                      <a:pt x="57150" y="0"/>
                    </a:cubicBezTo>
                    <a:cubicBezTo>
                      <a:pt x="25584" y="0"/>
                      <a:pt x="0" y="12792"/>
                      <a:pt x="0" y="28575"/>
                    </a:cubicBezTo>
                  </a:path>
                </a:pathLst>
              </a:custGeom>
              <a:noFill/>
              <a:ln w="19050">
                <a:solidFill>
                  <a:srgbClr val="D6391E"/>
                </a:solidFill>
              </a:ln>
            </p:spPr>
          </p:sp>
          <p:sp>
            <p:nvSpPr>
              <p:cNvPr id="118" name="Freeform 118"/>
              <p:cNvSpPr/>
              <p:nvPr/>
            </p:nvSpPr>
            <p:spPr>
              <a:xfrm>
                <a:off x="9020175" y="3600450"/>
                <a:ext cx="114300" cy="66675"/>
              </a:xfrm>
              <a:custGeom>
                <a:avLst/>
                <a:gdLst/>
                <a:ahLst/>
                <a:cxnLst/>
                <a:rect l="l" t="t" r="r" b="b"/>
                <a:pathLst>
                  <a:path w="114300" h="66675">
                    <a:moveTo>
                      <a:pt x="0" y="0"/>
                    </a:moveTo>
                    <a:lnTo>
                      <a:pt x="0" y="38100"/>
                    </a:lnTo>
                    <a:cubicBezTo>
                      <a:pt x="0" y="53873"/>
                      <a:pt x="25584" y="66675"/>
                      <a:pt x="57150" y="66675"/>
                    </a:cubicBezTo>
                    <a:cubicBezTo>
                      <a:pt x="88716" y="66675"/>
                      <a:pt x="114300" y="53873"/>
                      <a:pt x="114300" y="38100"/>
                    </a:cubicBezTo>
                    <a:lnTo>
                      <a:pt x="114300" y="0"/>
                    </a:lnTo>
                  </a:path>
                </a:pathLst>
              </a:custGeom>
              <a:noFill/>
              <a:ln w="19050">
                <a:solidFill>
                  <a:srgbClr val="D6391E"/>
                </a:solidFill>
              </a:ln>
            </p:spPr>
          </p:sp>
          <p:sp>
            <p:nvSpPr>
              <p:cNvPr id="119" name="Freeform 119"/>
              <p:cNvSpPr/>
              <p:nvPr/>
            </p:nvSpPr>
            <p:spPr>
              <a:xfrm>
                <a:off x="8963025" y="3494399"/>
                <a:ext cx="114300" cy="59703"/>
              </a:xfrm>
              <a:custGeom>
                <a:avLst/>
                <a:gdLst/>
                <a:ahLst/>
                <a:cxnLst/>
                <a:rect l="l" t="t" r="r" b="b"/>
                <a:pathLst>
                  <a:path w="114300" h="59703">
                    <a:moveTo>
                      <a:pt x="0" y="29851"/>
                    </a:moveTo>
                    <a:cubicBezTo>
                      <a:pt x="0" y="40062"/>
                      <a:pt x="10897" y="49492"/>
                      <a:pt x="28575" y="54597"/>
                    </a:cubicBezTo>
                    <a:cubicBezTo>
                      <a:pt x="46253" y="59703"/>
                      <a:pt x="68047" y="59703"/>
                      <a:pt x="85725" y="54597"/>
                    </a:cubicBezTo>
                    <a:cubicBezTo>
                      <a:pt x="103403" y="49492"/>
                      <a:pt x="114300" y="40062"/>
                      <a:pt x="114300" y="29851"/>
                    </a:cubicBezTo>
                    <a:cubicBezTo>
                      <a:pt x="114300" y="19641"/>
                      <a:pt x="103403" y="10211"/>
                      <a:pt x="85725" y="5105"/>
                    </a:cubicBezTo>
                    <a:cubicBezTo>
                      <a:pt x="68047" y="0"/>
                      <a:pt x="46253" y="0"/>
                      <a:pt x="28575" y="5105"/>
                    </a:cubicBezTo>
                    <a:cubicBezTo>
                      <a:pt x="10897" y="10211"/>
                      <a:pt x="0" y="19641"/>
                      <a:pt x="0" y="29851"/>
                    </a:cubicBezTo>
                  </a:path>
                </a:pathLst>
              </a:custGeom>
              <a:noFill/>
              <a:ln w="19050">
                <a:solidFill>
                  <a:srgbClr val="D6391E"/>
                </a:solidFill>
              </a:ln>
            </p:spPr>
          </p:sp>
          <p:sp>
            <p:nvSpPr>
              <p:cNvPr id="120" name="Freeform 120"/>
              <p:cNvSpPr/>
              <p:nvPr/>
            </p:nvSpPr>
            <p:spPr>
              <a:xfrm>
                <a:off x="8963025" y="3524250"/>
                <a:ext cx="19050" cy="114300"/>
              </a:xfrm>
              <a:custGeom>
                <a:avLst/>
                <a:gdLst/>
                <a:ahLst/>
                <a:cxnLst/>
                <a:rect l="l" t="t" r="r" b="b"/>
                <a:pathLst>
                  <a:path w="19050" h="114300">
                    <a:moveTo>
                      <a:pt x="0" y="0"/>
                    </a:moveTo>
                    <a:lnTo>
                      <a:pt x="0" y="95250"/>
                    </a:lnTo>
                    <a:cubicBezTo>
                      <a:pt x="0" y="103708"/>
                      <a:pt x="7353" y="109061"/>
                      <a:pt x="19050" y="114300"/>
                    </a:cubicBezTo>
                  </a:path>
                </a:pathLst>
              </a:custGeom>
              <a:noFill/>
              <a:ln w="19050">
                <a:solidFill>
                  <a:srgbClr val="D6391E"/>
                </a:solidFill>
              </a:ln>
            </p:spPr>
          </p:sp>
          <p:sp>
            <p:nvSpPr>
              <p:cNvPr id="121" name="Freeform 121"/>
              <p:cNvSpPr/>
              <p:nvPr/>
            </p:nvSpPr>
            <p:spPr>
              <a:xfrm>
                <a:off x="8963025" y="3571875"/>
                <a:ext cx="19050" cy="19050"/>
              </a:xfrm>
              <a:custGeom>
                <a:avLst/>
                <a:gdLst/>
                <a:ahLst/>
                <a:cxnLst/>
                <a:rect l="l" t="t" r="r" b="b"/>
                <a:pathLst>
                  <a:path w="19050" h="19050">
                    <a:moveTo>
                      <a:pt x="0" y="0"/>
                    </a:moveTo>
                    <a:cubicBezTo>
                      <a:pt x="0" y="8458"/>
                      <a:pt x="7353" y="13811"/>
                      <a:pt x="19050" y="19050"/>
                    </a:cubicBezTo>
                  </a:path>
                </a:pathLst>
              </a:custGeom>
              <a:noFill/>
              <a:ln w="19050">
                <a:solidFill>
                  <a:srgbClr val="D6391E"/>
                </a:solidFill>
              </a:ln>
            </p:spPr>
          </p:sp>
        </p:grpSp>
        <p:sp>
          <p:nvSpPr>
            <p:cNvPr id="123" name="TextBox 123"/>
            <p:cNvSpPr txBox="1"/>
            <p:nvPr/>
          </p:nvSpPr>
          <p:spPr>
            <a:xfrm>
              <a:off x="8831288" y="3820239"/>
              <a:ext cx="43492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投资决策</a:t>
              </a:r>
            </a:p>
          </p:txBody>
        </p:sp>
        <p:sp>
          <p:nvSpPr>
            <p:cNvPr id="124" name="Rectangle 124"/>
            <p:cNvSpPr/>
            <p:nvPr/>
          </p:nvSpPr>
          <p:spPr>
            <a:xfrm>
              <a:off x="9620250" y="3409950"/>
              <a:ext cx="952500" cy="590550"/>
            </a:xfrm>
            <a:prstGeom prst="rect">
              <a:avLst/>
            </a:prstGeom>
            <a:solidFill>
              <a:srgbClr val="FDF6E7"/>
            </a:solidFill>
            <a:ln w="9525">
              <a:solidFill>
                <a:srgbClr val="E9563C"/>
              </a:solidFill>
              <a:custDash>
                <a:ds d="300000" sp="200000"/>
              </a:custDash>
            </a:ln>
          </p:spPr>
        </p:sp>
        <p:grpSp>
          <p:nvGrpSpPr>
            <p:cNvPr id="127" name="Group 127"/>
            <p:cNvGrpSpPr/>
            <p:nvPr/>
          </p:nvGrpSpPr>
          <p:grpSpPr>
            <a:xfrm>
              <a:off x="10020300" y="3524250"/>
              <a:ext cx="152400" cy="133350"/>
              <a:chOff x="10020300" y="3524250"/>
              <a:chExt cx="152400" cy="133350"/>
            </a:xfrm>
          </p:grpSpPr>
          <p:sp>
            <p:nvSpPr>
              <p:cNvPr id="125" name="Freeform 125"/>
              <p:cNvSpPr/>
              <p:nvPr/>
            </p:nvSpPr>
            <p:spPr>
              <a:xfrm>
                <a:off x="10020300" y="3648075"/>
                <a:ext cx="152400" cy="9525"/>
              </a:xfrm>
              <a:custGeom>
                <a:avLst/>
                <a:gdLst/>
                <a:ahLst/>
                <a:cxnLst/>
                <a:rect l="l" t="t" r="r" b="b"/>
                <a:pathLst>
                  <a:path w="152400" h="9525">
                    <a:moveTo>
                      <a:pt x="0" y="0"/>
                    </a:moveTo>
                    <a:lnTo>
                      <a:pt x="152400" y="0"/>
                    </a:lnTo>
                  </a:path>
                </a:pathLst>
              </a:custGeom>
              <a:noFill/>
              <a:ln w="19050">
                <a:solidFill>
                  <a:srgbClr val="D6391E"/>
                </a:solidFill>
              </a:ln>
            </p:spPr>
          </p:sp>
          <p:sp>
            <p:nvSpPr>
              <p:cNvPr id="126" name="Freeform 126"/>
              <p:cNvSpPr/>
              <p:nvPr/>
            </p:nvSpPr>
            <p:spPr>
              <a:xfrm>
                <a:off x="10020300" y="35242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D6391E"/>
                </a:solidFill>
              </a:ln>
            </p:spPr>
          </p:sp>
        </p:grpSp>
        <p:sp>
          <p:nvSpPr>
            <p:cNvPr id="128" name="TextBox 128"/>
            <p:cNvSpPr txBox="1"/>
            <p:nvPr/>
          </p:nvSpPr>
          <p:spPr>
            <a:xfrm>
              <a:off x="9879038" y="3820239"/>
              <a:ext cx="43492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长效追踪</a:t>
              </a:r>
            </a:p>
          </p:txBody>
        </p:sp>
        <p:sp>
          <p:nvSpPr>
            <p:cNvPr id="129" name="Rectangle 129"/>
            <p:cNvSpPr/>
            <p:nvPr/>
          </p:nvSpPr>
          <p:spPr>
            <a:xfrm>
              <a:off x="10668000" y="3409950"/>
              <a:ext cx="952500" cy="590550"/>
            </a:xfrm>
            <a:prstGeom prst="rect">
              <a:avLst/>
            </a:prstGeom>
            <a:solidFill>
              <a:srgbClr val="FDF6E7"/>
            </a:solidFill>
            <a:ln w="9525">
              <a:solidFill>
                <a:srgbClr val="E9563C"/>
              </a:solidFill>
              <a:custDash>
                <a:ds d="300000" sp="200000"/>
              </a:custDash>
            </a:ln>
          </p:spPr>
        </p:sp>
        <p:grpSp>
          <p:nvGrpSpPr>
            <p:cNvPr id="132" name="Group 132"/>
            <p:cNvGrpSpPr/>
            <p:nvPr/>
          </p:nvGrpSpPr>
          <p:grpSpPr>
            <a:xfrm>
              <a:off x="11054344" y="3491494"/>
              <a:ext cx="179813" cy="179813"/>
              <a:chOff x="11054344" y="3491494"/>
              <a:chExt cx="179813" cy="179813"/>
            </a:xfrm>
          </p:grpSpPr>
          <p:sp>
            <p:nvSpPr>
              <p:cNvPr id="130" name="Freeform 130"/>
              <p:cNvSpPr/>
              <p:nvPr/>
            </p:nvSpPr>
            <p:spPr>
              <a:xfrm>
                <a:off x="11054344" y="349149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D6391E"/>
                </a:solidFill>
              </a:ln>
            </p:spPr>
          </p:sp>
          <p:sp>
            <p:nvSpPr>
              <p:cNvPr id="131" name="Freeform 131"/>
              <p:cNvSpPr/>
              <p:nvPr/>
            </p:nvSpPr>
            <p:spPr>
              <a:xfrm>
                <a:off x="11115675" y="355282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D6391E"/>
                </a:solidFill>
              </a:ln>
            </p:spPr>
          </p:sp>
        </p:grpSp>
        <p:sp>
          <p:nvSpPr>
            <p:cNvPr id="133" name="TextBox 133"/>
            <p:cNvSpPr txBox="1"/>
            <p:nvPr/>
          </p:nvSpPr>
          <p:spPr>
            <a:xfrm>
              <a:off x="10926788" y="3820239"/>
              <a:ext cx="43492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投资决策</a:t>
              </a:r>
            </a:p>
          </p:txBody>
        </p:sp>
      </p:grpSp>
      <p:grpSp>
        <p:nvGrpSpPr>
          <p:cNvPr id="167" name="row-subtract"/>
          <p:cNvGrpSpPr/>
          <p:nvPr/>
        </p:nvGrpSpPr>
        <p:grpSpPr>
          <a:xfrm>
            <a:off x="5334000" y="4286250"/>
            <a:ext cx="6196806" cy="1085850"/>
            <a:chOff x="5334000" y="4286250"/>
            <a:chExt cx="6196806" cy="1085850"/>
          </a:xfrm>
        </p:grpSpPr>
        <p:sp>
          <p:nvSpPr>
            <p:cNvPr id="135" name="Rectangle 135"/>
            <p:cNvSpPr/>
            <p:nvPr/>
          </p:nvSpPr>
          <p:spPr>
            <a:xfrm>
              <a:off x="5334000" y="4286250"/>
              <a:ext cx="762000" cy="304800"/>
            </a:xfrm>
            <a:prstGeom prst="rect">
              <a:avLst/>
            </a:prstGeom>
            <a:solidFill>
              <a:srgbClr val="9C594C"/>
            </a:solidFill>
            <a:ln>
              <a:noFill/>
            </a:ln>
          </p:spPr>
        </p:sp>
        <p:sp>
          <p:nvSpPr>
            <p:cNvPr id="136" name="TextBox 136"/>
            <p:cNvSpPr txBox="1"/>
            <p:nvPr/>
          </p:nvSpPr>
          <p:spPr>
            <a:xfrm>
              <a:off x="5578119" y="43905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减法</a:t>
              </a:r>
            </a:p>
          </p:txBody>
        </p:sp>
        <p:sp>
          <p:nvSpPr>
            <p:cNvPr id="137" name="Rectangle 137"/>
            <p:cNvSpPr/>
            <p:nvPr/>
          </p:nvSpPr>
          <p:spPr>
            <a:xfrm>
              <a:off x="6096000" y="4286250"/>
              <a:ext cx="857250" cy="304800"/>
            </a:xfrm>
            <a:prstGeom prst="rect">
              <a:avLst/>
            </a:prstGeom>
            <a:solidFill>
              <a:srgbClr val="DFF0D2"/>
            </a:solidFill>
            <a:ln>
              <a:noFill/>
            </a:ln>
          </p:spPr>
        </p:sp>
        <p:sp>
          <p:nvSpPr>
            <p:cNvPr id="138" name="TextBox 138"/>
            <p:cNvSpPr txBox="1"/>
            <p:nvPr/>
          </p:nvSpPr>
          <p:spPr>
            <a:xfrm>
              <a:off x="6299086" y="4397216"/>
              <a:ext cx="451079" cy="161925"/>
            </a:xfrm>
            <a:prstGeom prst="rect">
              <a:avLst/>
            </a:prstGeom>
            <a:noFill/>
            <a:ln>
              <a:noFill/>
            </a:ln>
          </p:spPr>
          <p:txBody>
            <a:bodyPr wrap="none" lIns="0" tIns="0" rIns="0" bIns="0" anchor="t" anchorCtr="0">
              <a:spAutoFit/>
            </a:bodyPr>
            <a:lstStyle/>
            <a:p>
              <a:pPr algn="ctr"/>
              <a:r>
                <a:rPr lang="zh-CN" sz="820" dirty="0">
                  <a:solidFill>
                    <a:srgbClr val="7A3E33"/>
                  </a:solidFill>
                  <a:latin typeface="+mn-lt"/>
                  <a:ea typeface="+mn-ea"/>
                  <a:cs typeface="+mn-cs"/>
                </a:rPr>
                <a:t>信息解构</a:t>
              </a:r>
            </a:p>
          </p:txBody>
        </p:sp>
        <p:sp>
          <p:nvSpPr>
            <p:cNvPr id="139" name="Rectangle 139"/>
            <p:cNvSpPr/>
            <p:nvPr/>
          </p:nvSpPr>
          <p:spPr>
            <a:xfrm>
              <a:off x="5429250" y="4743450"/>
              <a:ext cx="762000" cy="152400"/>
            </a:xfrm>
            <a:prstGeom prst="roundRect">
              <a:avLst>
                <a:gd name="adj" fmla="val 50000"/>
              </a:avLst>
            </a:prstGeom>
            <a:solidFill>
              <a:srgbClr val="DFF0D2"/>
            </a:solidFill>
            <a:ln>
              <a:noFill/>
            </a:ln>
          </p:spPr>
        </p:sp>
        <p:sp>
          <p:nvSpPr>
            <p:cNvPr id="140" name="TextBox 140"/>
            <p:cNvSpPr txBox="1"/>
            <p:nvPr/>
          </p:nvSpPr>
          <p:spPr>
            <a:xfrm>
              <a:off x="5719331" y="4788932"/>
              <a:ext cx="181839" cy="126206"/>
            </a:xfrm>
            <a:prstGeom prst="rect">
              <a:avLst/>
            </a:prstGeom>
            <a:noFill/>
            <a:ln>
              <a:noFill/>
            </a:ln>
          </p:spPr>
          <p:txBody>
            <a:bodyPr wrap="none" lIns="0" tIns="0" rIns="0" bIns="0" anchor="t" anchorCtr="0">
              <a:spAutoFit/>
            </a:bodyPr>
            <a:lstStyle/>
            <a:p>
              <a:pPr algn="ctr"/>
              <a:r>
                <a:rPr lang="zh-CN" sz="640" dirty="0">
                  <a:solidFill>
                    <a:srgbClr val="7A3E33"/>
                  </a:solidFill>
                  <a:latin typeface="+mn-lt"/>
                  <a:ea typeface="+mn-ea"/>
                  <a:cs typeface="+mn-cs"/>
                </a:rPr>
                <a:t>粉丝</a:t>
              </a:r>
            </a:p>
          </p:txBody>
        </p:sp>
        <p:sp>
          <p:nvSpPr>
            <p:cNvPr id="141" name="TextBox 141"/>
            <p:cNvSpPr txBox="1"/>
            <p:nvPr/>
          </p:nvSpPr>
          <p:spPr>
            <a:xfrm>
              <a:off x="6281738" y="4770120"/>
              <a:ext cx="379171" cy="176212"/>
            </a:xfrm>
            <a:prstGeom prst="rect">
              <a:avLst/>
            </a:prstGeom>
            <a:noFill/>
            <a:ln>
              <a:noFill/>
            </a:ln>
          </p:spPr>
          <p:txBody>
            <a:bodyPr wrap="none" lIns="0" tIns="0" rIns="0" bIns="0" anchor="t" anchorCtr="0">
              <a:spAutoFit/>
            </a:bodyPr>
            <a:lstStyle/>
            <a:p>
              <a:pPr algn="l"/>
              <a:r>
                <a:rPr lang="en-US" sz="900" b="1" dirty="0">
                  <a:solidFill>
                    <a:srgbClr val="333333"/>
                  </a:solidFill>
                  <a:latin typeface="+mn-lt"/>
                  <a:ea typeface="+mn-ea"/>
                  <a:cs typeface="+mn-cs"/>
                </a:rPr>
                <a:t>+45K​</a:t>
              </a:r>
            </a:p>
          </p:txBody>
        </p:sp>
        <p:sp>
          <p:nvSpPr>
            <p:cNvPr id="142" name="Line 142"/>
            <p:cNvSpPr/>
            <p:nvPr/>
          </p:nvSpPr>
          <p:spPr>
            <a:xfrm>
              <a:off x="7048500" y="4438650"/>
              <a:ext cx="304800" cy="1"/>
            </a:xfrm>
            <a:prstGeom prst="line">
              <a:avLst/>
            </a:prstGeom>
            <a:noFill/>
            <a:ln w="11430">
              <a:solidFill>
                <a:srgbClr val="9C594C"/>
              </a:solidFill>
              <a:custDash>
                <a:ds d="250000" sp="166667"/>
              </a:custDash>
              <a:tailEnd type="triangle" w="lg" len="lg"/>
            </a:ln>
          </p:spPr>
        </p:sp>
        <p:sp>
          <p:nvSpPr>
            <p:cNvPr id="143" name="TextBox 143"/>
            <p:cNvSpPr txBox="1"/>
            <p:nvPr/>
          </p:nvSpPr>
          <p:spPr>
            <a:xfrm>
              <a:off x="7472362" y="4385072"/>
              <a:ext cx="515696" cy="183356"/>
            </a:xfrm>
            <a:prstGeom prst="rect">
              <a:avLst/>
            </a:prstGeom>
            <a:noFill/>
            <a:ln>
              <a:noFill/>
            </a:ln>
          </p:spPr>
          <p:txBody>
            <a:bodyPr wrap="none" lIns="0" tIns="0" rIns="0" bIns="0" anchor="t" anchorCtr="0">
              <a:spAutoFit/>
            </a:bodyPr>
            <a:lstStyle/>
            <a:p>
              <a:pPr algn="l"/>
              <a:r>
                <a:rPr lang="zh-CN" sz="940" b="1" dirty="0">
                  <a:solidFill>
                    <a:srgbClr val="7A3E33"/>
                  </a:solidFill>
                  <a:latin typeface="+mn-lt"/>
                  <a:ea typeface="+mn-ea"/>
                  <a:cs typeface="+mn-cs"/>
                </a:rPr>
                <a:t>转化行动</a:t>
              </a:r>
            </a:p>
          </p:txBody>
        </p:sp>
        <p:sp>
          <p:nvSpPr>
            <p:cNvPr id="144" name="Line 144"/>
            <p:cNvSpPr/>
            <p:nvPr/>
          </p:nvSpPr>
          <p:spPr>
            <a:xfrm>
              <a:off x="8096250" y="4438650"/>
              <a:ext cx="3048000" cy="9525"/>
            </a:xfrm>
            <a:custGeom>
              <a:avLst/>
              <a:gdLst/>
              <a:ahLst/>
              <a:cxnLst/>
              <a:rect l="l" t="t" r="r" b="b"/>
              <a:pathLst>
                <a:path w="3048000" h="9525">
                  <a:moveTo>
                    <a:pt x="0" y="0"/>
                  </a:moveTo>
                  <a:lnTo>
                    <a:pt x="3048000" y="0"/>
                  </a:lnTo>
                </a:path>
              </a:pathLst>
            </a:custGeom>
            <a:noFill/>
            <a:ln w="9525">
              <a:solidFill>
                <a:srgbClr val="C9D8BD"/>
              </a:solidFill>
              <a:custDash>
                <a:ds d="300000" sp="200000"/>
              </a:custDash>
            </a:ln>
          </p:spPr>
        </p:sp>
        <p:grpSp>
          <p:nvGrpSpPr>
            <p:cNvPr id="154" name="Group 154"/>
            <p:cNvGrpSpPr/>
            <p:nvPr/>
          </p:nvGrpSpPr>
          <p:grpSpPr>
            <a:xfrm>
              <a:off x="11386344" y="4325937"/>
              <a:ext cx="144462" cy="196056"/>
              <a:chOff x="11386344" y="4325937"/>
              <a:chExt cx="144462" cy="196056"/>
            </a:xfrm>
          </p:grpSpPr>
          <p:sp>
            <p:nvSpPr>
              <p:cNvPr id="145" name="Freeform 145"/>
              <p:cNvSpPr/>
              <p:nvPr/>
            </p:nvSpPr>
            <p:spPr>
              <a:xfrm>
                <a:off x="11396662" y="4346575"/>
                <a:ext cx="123825" cy="82550"/>
              </a:xfrm>
              <a:custGeom>
                <a:avLst/>
                <a:gdLst/>
                <a:ahLst/>
                <a:cxnLst/>
                <a:rect l="l" t="t" r="r" b="b"/>
                <a:pathLst>
                  <a:path w="123825" h="82550">
                    <a:moveTo>
                      <a:pt x="0" y="20637"/>
                    </a:moveTo>
                    <a:cubicBezTo>
                      <a:pt x="0" y="9240"/>
                      <a:pt x="9240" y="0"/>
                      <a:pt x="20637" y="0"/>
                    </a:cubicBezTo>
                    <a:lnTo>
                      <a:pt x="103187" y="0"/>
                    </a:lnTo>
                    <a:cubicBezTo>
                      <a:pt x="114585" y="0"/>
                      <a:pt x="123825" y="9240"/>
                      <a:pt x="123825" y="20637"/>
                    </a:cubicBezTo>
                    <a:lnTo>
                      <a:pt x="123825" y="61912"/>
                    </a:lnTo>
                    <a:cubicBezTo>
                      <a:pt x="123825" y="73310"/>
                      <a:pt x="114585" y="82550"/>
                      <a:pt x="103187" y="82550"/>
                    </a:cubicBezTo>
                    <a:lnTo>
                      <a:pt x="20637" y="82550"/>
                    </a:lnTo>
                    <a:cubicBezTo>
                      <a:pt x="9240" y="82550"/>
                      <a:pt x="0" y="73310"/>
                      <a:pt x="0" y="61912"/>
                    </a:cubicBezTo>
                    <a:lnTo>
                      <a:pt x="0" y="20637"/>
                    </a:lnTo>
                  </a:path>
                </a:pathLst>
              </a:custGeom>
              <a:noFill/>
              <a:ln w="20637">
                <a:solidFill>
                  <a:srgbClr val="9C594C"/>
                </a:solidFill>
              </a:ln>
            </p:spPr>
          </p:sp>
          <p:sp>
            <p:nvSpPr>
              <p:cNvPr id="146" name="Freeform 146"/>
              <p:cNvSpPr/>
              <p:nvPr/>
            </p:nvSpPr>
            <p:spPr>
              <a:xfrm>
                <a:off x="11458575" y="4325937"/>
                <a:ext cx="9525" cy="20637"/>
              </a:xfrm>
              <a:custGeom>
                <a:avLst/>
                <a:gdLst/>
                <a:ahLst/>
                <a:cxnLst/>
                <a:rect l="l" t="t" r="r" b="b"/>
                <a:pathLst>
                  <a:path w="9525" h="20637">
                    <a:moveTo>
                      <a:pt x="0" y="0"/>
                    </a:moveTo>
                    <a:lnTo>
                      <a:pt x="0" y="20637"/>
                    </a:lnTo>
                  </a:path>
                </a:pathLst>
              </a:custGeom>
              <a:noFill/>
              <a:ln w="20637">
                <a:solidFill>
                  <a:srgbClr val="9C594C"/>
                </a:solidFill>
              </a:ln>
            </p:spPr>
          </p:sp>
          <p:sp>
            <p:nvSpPr>
              <p:cNvPr id="147" name="Freeform 147"/>
              <p:cNvSpPr/>
              <p:nvPr/>
            </p:nvSpPr>
            <p:spPr>
              <a:xfrm>
                <a:off x="11427618" y="4429125"/>
                <a:ext cx="9525" cy="92868"/>
              </a:xfrm>
              <a:custGeom>
                <a:avLst/>
                <a:gdLst/>
                <a:ahLst/>
                <a:cxnLst/>
                <a:rect l="l" t="t" r="r" b="b"/>
                <a:pathLst>
                  <a:path w="9525" h="92868">
                    <a:moveTo>
                      <a:pt x="0" y="0"/>
                    </a:moveTo>
                    <a:lnTo>
                      <a:pt x="0" y="92868"/>
                    </a:lnTo>
                  </a:path>
                </a:pathLst>
              </a:custGeom>
              <a:noFill/>
              <a:ln w="20637">
                <a:solidFill>
                  <a:srgbClr val="9C594C"/>
                </a:solidFill>
              </a:ln>
            </p:spPr>
          </p:sp>
          <p:sp>
            <p:nvSpPr>
              <p:cNvPr id="148" name="Freeform 148"/>
              <p:cNvSpPr/>
              <p:nvPr/>
            </p:nvSpPr>
            <p:spPr>
              <a:xfrm>
                <a:off x="11489531" y="4429125"/>
                <a:ext cx="9525" cy="92868"/>
              </a:xfrm>
              <a:custGeom>
                <a:avLst/>
                <a:gdLst/>
                <a:ahLst/>
                <a:cxnLst/>
                <a:rect l="l" t="t" r="r" b="b"/>
                <a:pathLst>
                  <a:path w="9525" h="92868">
                    <a:moveTo>
                      <a:pt x="0" y="0"/>
                    </a:moveTo>
                    <a:lnTo>
                      <a:pt x="0" y="92868"/>
                    </a:lnTo>
                  </a:path>
                </a:pathLst>
              </a:custGeom>
              <a:noFill/>
              <a:ln w="20637">
                <a:solidFill>
                  <a:srgbClr val="9C594C"/>
                </a:solidFill>
              </a:ln>
            </p:spPr>
          </p:sp>
          <p:sp>
            <p:nvSpPr>
              <p:cNvPr id="149" name="Freeform 149"/>
              <p:cNvSpPr/>
              <p:nvPr/>
            </p:nvSpPr>
            <p:spPr>
              <a:xfrm>
                <a:off x="11386344" y="4449762"/>
                <a:ext cx="41275" cy="20637"/>
              </a:xfrm>
              <a:custGeom>
                <a:avLst/>
                <a:gdLst/>
                <a:ahLst/>
                <a:cxnLst/>
                <a:rect l="l" t="t" r="r" b="b"/>
                <a:pathLst>
                  <a:path w="41275" h="20637">
                    <a:moveTo>
                      <a:pt x="0" y="20637"/>
                    </a:moveTo>
                    <a:lnTo>
                      <a:pt x="41275" y="0"/>
                    </a:lnTo>
                  </a:path>
                </a:pathLst>
              </a:custGeom>
              <a:noFill/>
              <a:ln w="20637">
                <a:solidFill>
                  <a:srgbClr val="9C594C"/>
                </a:solidFill>
              </a:ln>
            </p:spPr>
          </p:sp>
          <p:sp>
            <p:nvSpPr>
              <p:cNvPr id="150" name="Freeform 150"/>
              <p:cNvSpPr/>
              <p:nvPr/>
            </p:nvSpPr>
            <p:spPr>
              <a:xfrm>
                <a:off x="11489531" y="4449762"/>
                <a:ext cx="41275" cy="20637"/>
              </a:xfrm>
              <a:custGeom>
                <a:avLst/>
                <a:gdLst/>
                <a:ahLst/>
                <a:cxnLst/>
                <a:rect l="l" t="t" r="r" b="b"/>
                <a:pathLst>
                  <a:path w="41275" h="20637">
                    <a:moveTo>
                      <a:pt x="0" y="0"/>
                    </a:moveTo>
                    <a:lnTo>
                      <a:pt x="41275" y="20637"/>
                    </a:lnTo>
                  </a:path>
                </a:pathLst>
              </a:custGeom>
              <a:noFill/>
              <a:ln w="20637">
                <a:solidFill>
                  <a:srgbClr val="9C594C"/>
                </a:solidFill>
              </a:ln>
            </p:spPr>
          </p:sp>
          <p:sp>
            <p:nvSpPr>
              <p:cNvPr id="151" name="Freeform 151"/>
              <p:cNvSpPr/>
              <p:nvPr/>
            </p:nvSpPr>
            <p:spPr>
              <a:xfrm>
                <a:off x="11427618" y="4491037"/>
                <a:ext cx="61912" cy="9525"/>
              </a:xfrm>
              <a:custGeom>
                <a:avLst/>
                <a:gdLst/>
                <a:ahLst/>
                <a:cxnLst/>
                <a:rect l="l" t="t" r="r" b="b"/>
                <a:pathLst>
                  <a:path w="61912" h="9525">
                    <a:moveTo>
                      <a:pt x="0" y="0"/>
                    </a:moveTo>
                    <a:lnTo>
                      <a:pt x="61912" y="0"/>
                    </a:lnTo>
                  </a:path>
                </a:pathLst>
              </a:custGeom>
              <a:noFill/>
              <a:ln w="20637">
                <a:solidFill>
                  <a:srgbClr val="9C594C"/>
                </a:solidFill>
              </a:ln>
            </p:spPr>
          </p:sp>
          <p:sp>
            <p:nvSpPr>
              <p:cNvPr id="152" name="Freeform 152"/>
              <p:cNvSpPr/>
              <p:nvPr/>
            </p:nvSpPr>
            <p:spPr>
              <a:xfrm>
                <a:off x="11437937" y="4387850"/>
                <a:ext cx="9525" cy="9525"/>
              </a:xfrm>
              <a:custGeom>
                <a:avLst/>
                <a:gdLst/>
                <a:ahLst/>
                <a:cxnLst/>
                <a:rect l="l" t="t" r="r" b="b"/>
                <a:pathLst>
                  <a:path w="9525" h="9525">
                    <a:moveTo>
                      <a:pt x="0" y="0"/>
                    </a:moveTo>
                    <a:lnTo>
                      <a:pt x="0" y="103"/>
                    </a:lnTo>
                  </a:path>
                </a:pathLst>
              </a:custGeom>
              <a:noFill/>
              <a:ln w="20637">
                <a:solidFill>
                  <a:srgbClr val="9C594C"/>
                </a:solidFill>
              </a:ln>
            </p:spPr>
          </p:sp>
          <p:sp>
            <p:nvSpPr>
              <p:cNvPr id="153" name="Freeform 153"/>
              <p:cNvSpPr/>
              <p:nvPr/>
            </p:nvSpPr>
            <p:spPr>
              <a:xfrm>
                <a:off x="11479212" y="4387850"/>
                <a:ext cx="9525" cy="9525"/>
              </a:xfrm>
              <a:custGeom>
                <a:avLst/>
                <a:gdLst/>
                <a:ahLst/>
                <a:cxnLst/>
                <a:rect l="l" t="t" r="r" b="b"/>
                <a:pathLst>
                  <a:path w="9525" h="9525">
                    <a:moveTo>
                      <a:pt x="0" y="0"/>
                    </a:moveTo>
                    <a:lnTo>
                      <a:pt x="0" y="103"/>
                    </a:lnTo>
                  </a:path>
                </a:pathLst>
              </a:custGeom>
              <a:noFill/>
              <a:ln w="20637">
                <a:solidFill>
                  <a:srgbClr val="9C594C"/>
                </a:solidFill>
              </a:ln>
            </p:spPr>
          </p:sp>
        </p:grpSp>
        <p:sp>
          <p:nvSpPr>
            <p:cNvPr id="155" name="Ellipse 155"/>
            <p:cNvSpPr/>
            <p:nvPr/>
          </p:nvSpPr>
          <p:spPr>
            <a:xfrm>
              <a:off x="7524750" y="4629150"/>
              <a:ext cx="304800" cy="304800"/>
            </a:xfrm>
            <a:prstGeom prst="ellipse">
              <a:avLst/>
            </a:prstGeom>
            <a:solidFill>
              <a:srgbClr val="DFF0D2"/>
            </a:solidFill>
            <a:ln>
              <a:noFill/>
            </a:ln>
          </p:spPr>
        </p:sp>
        <p:sp>
          <p:nvSpPr>
            <p:cNvPr id="156" name="TextBox 156"/>
            <p:cNvSpPr txBox="1"/>
            <p:nvPr/>
          </p:nvSpPr>
          <p:spPr>
            <a:xfrm>
              <a:off x="7576807" y="4742736"/>
              <a:ext cx="200685"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复购</a:t>
              </a:r>
            </a:p>
          </p:txBody>
        </p:sp>
        <p:sp>
          <p:nvSpPr>
            <p:cNvPr id="157" name="Line 157"/>
            <p:cNvSpPr/>
            <p:nvPr/>
          </p:nvSpPr>
          <p:spPr>
            <a:xfrm>
              <a:off x="7867650" y="4781550"/>
              <a:ext cx="114300" cy="1"/>
            </a:xfrm>
            <a:prstGeom prst="line">
              <a:avLst/>
            </a:prstGeom>
            <a:noFill/>
            <a:ln w="14288">
              <a:solidFill>
                <a:srgbClr val="9C594C"/>
              </a:solidFill>
              <a:tailEnd type="triangle" w="lg" len="lg"/>
            </a:ln>
          </p:spPr>
        </p:sp>
        <p:sp>
          <p:nvSpPr>
            <p:cNvPr id="158" name="Rectangle 158"/>
            <p:cNvSpPr/>
            <p:nvPr/>
          </p:nvSpPr>
          <p:spPr>
            <a:xfrm>
              <a:off x="8020050" y="4648200"/>
              <a:ext cx="381000" cy="266700"/>
            </a:xfrm>
            <a:prstGeom prst="rect">
              <a:avLst/>
            </a:prstGeom>
            <a:solidFill>
              <a:srgbClr val="9C594C"/>
            </a:solidFill>
            <a:ln>
              <a:noFill/>
            </a:ln>
          </p:spPr>
        </p:sp>
        <p:sp>
          <p:nvSpPr>
            <p:cNvPr id="159" name="TextBox 159"/>
            <p:cNvSpPr txBox="1"/>
            <p:nvPr/>
          </p:nvSpPr>
          <p:spPr>
            <a:xfrm>
              <a:off x="8124508" y="4684157"/>
              <a:ext cx="172085" cy="221456"/>
            </a:xfrm>
            <a:prstGeom prst="rect">
              <a:avLst/>
            </a:prstGeom>
            <a:noFill/>
            <a:ln>
              <a:noFill/>
            </a:ln>
          </p:spPr>
          <p:txBody>
            <a:bodyPr wrap="none" lIns="0" tIns="0" rIns="0" bIns="0" anchor="t" anchorCtr="0">
              <a:spAutoFit/>
            </a:bodyPr>
            <a:lstStyle/>
            <a:p>
              <a:pPr algn="ctr">
                <a:lnSpc>
                  <a:spcPts val="750"/>
                </a:lnSpc>
              </a:pPr>
              <a:r>
                <a:rPr lang="zh-CN" sz="640" dirty="0">
                  <a:solidFill>
                    <a:srgbClr val="FFFFFF"/>
                  </a:solidFill>
                  <a:latin typeface="+mn-lt"/>
                  <a:ea typeface="+mn-ea"/>
                  <a:cs typeface="+mn-cs"/>
                </a:rPr>
                <a:t>人群</a:t>
              </a:r>
              <a:br/>
              <a:r>
                <a:rPr lang="zh-CN" sz="640" dirty="0">
                  <a:solidFill>
                    <a:srgbClr val="FFFFFF"/>
                  </a:solidFill>
                  <a:latin typeface="+mn-lt"/>
                  <a:ea typeface="+mn-ea"/>
                  <a:cs typeface="+mn-cs"/>
                </a:rPr>
                <a:t>指数</a:t>
              </a:r>
            </a:p>
          </p:txBody>
        </p:sp>
        <p:sp>
          <p:nvSpPr>
            <p:cNvPr id="160" name="TextBox 160"/>
            <p:cNvSpPr txBox="1"/>
            <p:nvPr/>
          </p:nvSpPr>
          <p:spPr>
            <a:xfrm>
              <a:off x="8491538" y="4684157"/>
              <a:ext cx="167982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95959"/>
                  </a:solidFill>
                  <a:latin typeface="+mn-lt"/>
                  <a:ea typeface="+mn-ea"/>
                  <a:cs typeface="+mn-cs"/>
                </a:rPr>
                <a:t>对于先锋人群的判定,可以进一步让商家了解消</a:t>
              </a:r>
              <a:br/>
              <a:r>
                <a:rPr lang="zh-CN" sz="640" dirty="0">
                  <a:solidFill>
                    <a:srgbClr val="595959"/>
                  </a:solidFill>
                  <a:latin typeface="+mn-lt"/>
                  <a:ea typeface="+mn-ea"/>
                  <a:cs typeface="+mn-cs"/>
                </a:rPr>
                <a:t>费者</a:t>
              </a:r>
            </a:p>
          </p:txBody>
        </p:sp>
        <p:sp>
          <p:nvSpPr>
            <p:cNvPr id="161" name="Ellipse 161"/>
            <p:cNvSpPr/>
            <p:nvPr/>
          </p:nvSpPr>
          <p:spPr>
            <a:xfrm>
              <a:off x="7524750" y="5067300"/>
              <a:ext cx="304800" cy="304800"/>
            </a:xfrm>
            <a:prstGeom prst="ellipse">
              <a:avLst/>
            </a:prstGeom>
            <a:solidFill>
              <a:srgbClr val="DFF0D2"/>
            </a:solidFill>
            <a:ln>
              <a:noFill/>
            </a:ln>
          </p:spPr>
        </p:sp>
        <p:sp>
          <p:nvSpPr>
            <p:cNvPr id="162" name="TextBox 162"/>
            <p:cNvSpPr txBox="1"/>
            <p:nvPr/>
          </p:nvSpPr>
          <p:spPr>
            <a:xfrm>
              <a:off x="7576807" y="5180886"/>
              <a:ext cx="200685"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反馈</a:t>
              </a:r>
            </a:p>
          </p:txBody>
        </p:sp>
        <p:sp>
          <p:nvSpPr>
            <p:cNvPr id="163" name="Line 163"/>
            <p:cNvSpPr/>
            <p:nvPr/>
          </p:nvSpPr>
          <p:spPr>
            <a:xfrm>
              <a:off x="7867650" y="5219700"/>
              <a:ext cx="114300" cy="1"/>
            </a:xfrm>
            <a:prstGeom prst="line">
              <a:avLst/>
            </a:prstGeom>
            <a:noFill/>
            <a:ln w="14288">
              <a:solidFill>
                <a:srgbClr val="9C594C"/>
              </a:solidFill>
              <a:tailEnd type="triangle" w="lg" len="lg"/>
            </a:ln>
          </p:spPr>
        </p:sp>
        <p:sp>
          <p:nvSpPr>
            <p:cNvPr id="164" name="Rectangle 164"/>
            <p:cNvSpPr/>
            <p:nvPr/>
          </p:nvSpPr>
          <p:spPr>
            <a:xfrm>
              <a:off x="8020050" y="5086350"/>
              <a:ext cx="381000" cy="266700"/>
            </a:xfrm>
            <a:prstGeom prst="rect">
              <a:avLst/>
            </a:prstGeom>
            <a:solidFill>
              <a:srgbClr val="9C594C"/>
            </a:solidFill>
            <a:ln>
              <a:noFill/>
            </a:ln>
          </p:spPr>
        </p:sp>
        <p:sp>
          <p:nvSpPr>
            <p:cNvPr id="165" name="TextBox 165"/>
            <p:cNvSpPr txBox="1"/>
            <p:nvPr/>
          </p:nvSpPr>
          <p:spPr>
            <a:xfrm>
              <a:off x="8124508" y="5122307"/>
              <a:ext cx="172085" cy="221456"/>
            </a:xfrm>
            <a:prstGeom prst="rect">
              <a:avLst/>
            </a:prstGeom>
            <a:noFill/>
            <a:ln>
              <a:noFill/>
            </a:ln>
          </p:spPr>
          <p:txBody>
            <a:bodyPr wrap="none" lIns="0" tIns="0" rIns="0" bIns="0" anchor="t" anchorCtr="0">
              <a:spAutoFit/>
            </a:bodyPr>
            <a:lstStyle/>
            <a:p>
              <a:pPr algn="ctr">
                <a:lnSpc>
                  <a:spcPts val="750"/>
                </a:lnSpc>
              </a:pPr>
              <a:r>
                <a:rPr lang="zh-CN" sz="640" dirty="0">
                  <a:solidFill>
                    <a:srgbClr val="FFFFFF"/>
                  </a:solidFill>
                  <a:latin typeface="+mn-lt"/>
                  <a:ea typeface="+mn-ea"/>
                  <a:cs typeface="+mn-cs"/>
                </a:rPr>
                <a:t>人群</a:t>
              </a:r>
              <a:br/>
              <a:r>
                <a:rPr lang="zh-CN" sz="640" dirty="0">
                  <a:solidFill>
                    <a:srgbClr val="FFFFFF"/>
                  </a:solidFill>
                  <a:latin typeface="+mn-lt"/>
                  <a:ea typeface="+mn-ea"/>
                  <a:cs typeface="+mn-cs"/>
                </a:rPr>
                <a:t>指数</a:t>
              </a:r>
            </a:p>
          </p:txBody>
        </p:sp>
        <p:sp>
          <p:nvSpPr>
            <p:cNvPr id="166" name="TextBox 166"/>
            <p:cNvSpPr txBox="1"/>
            <p:nvPr/>
          </p:nvSpPr>
          <p:spPr>
            <a:xfrm>
              <a:off x="8491538" y="5122307"/>
              <a:ext cx="1598549"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95959"/>
                  </a:solidFill>
                  <a:latin typeface="+mn-lt"/>
                  <a:ea typeface="+mn-ea"/>
                  <a:cs typeface="+mn-cs"/>
                </a:rPr>
                <a:t>对于先锋人群的判定,可以进一步让商家了解</a:t>
              </a:r>
              <a:br/>
              <a:r>
                <a:rPr lang="zh-CN" sz="640" dirty="0">
                  <a:solidFill>
                    <a:srgbClr val="595959"/>
                  </a:solidFill>
                  <a:latin typeface="+mn-lt"/>
                  <a:ea typeface="+mn-ea"/>
                  <a:cs typeface="+mn-cs"/>
                </a:rPr>
                <a:t>消费者</a:t>
              </a:r>
            </a:p>
          </p:txBody>
        </p:sp>
      </p:grpSp>
      <p:grpSp>
        <p:nvGrpSpPr>
          <p:cNvPr id="170" name="page-footer"/>
          <p:cNvGrpSpPr/>
          <p:nvPr/>
        </p:nvGrpSpPr>
        <p:grpSpPr>
          <a:xfrm>
            <a:off x="376238" y="6689884"/>
            <a:ext cx="11439524" cy="133350"/>
            <a:chOff x="376238" y="6689884"/>
            <a:chExt cx="11439524" cy="133350"/>
          </a:xfrm>
        </p:grpSpPr>
        <p:sp>
          <p:nvSpPr>
            <p:cNvPr id="168" name="TextBox 168"/>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69" name="TextBox 169"/>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16</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40" name="content-card"/>
          <p:cNvGrpSpPr/>
          <p:nvPr/>
        </p:nvGrpSpPr>
        <p:grpSpPr>
          <a:xfrm>
            <a:off x="381000" y="800100"/>
            <a:ext cx="4762500" cy="1238250"/>
            <a:chOff x="381000" y="800100"/>
            <a:chExt cx="4762500" cy="1238250"/>
          </a:xfrm>
        </p:grpSpPr>
        <p:sp>
          <p:nvSpPr>
            <p:cNvPr id="8" name="Rectangle 8"/>
            <p:cNvSpPr/>
            <p:nvPr/>
          </p:nvSpPr>
          <p:spPr>
            <a:xfrm>
              <a:off x="381000" y="800100"/>
              <a:ext cx="4762500" cy="1238250"/>
            </a:xfrm>
            <a:prstGeom prst="roundRect">
              <a:avLst>
                <a:gd name="adj" fmla="val 4615"/>
              </a:avLst>
            </a:prstGeom>
            <a:solidFill>
              <a:srgbClr val="F4F8EF"/>
            </a:solidFill>
            <a:ln w="11430">
              <a:solidFill>
                <a:srgbClr val="9C594C"/>
              </a:solidFill>
              <a:custDash>
                <a:ds d="416667" sp="250000"/>
              </a:custDash>
            </a:ln>
          </p:spPr>
        </p:sp>
        <p:sp>
          <p:nvSpPr>
            <p:cNvPr id="9" name="TextBox 9"/>
            <p:cNvSpPr txBox="1"/>
            <p:nvPr/>
          </p:nvSpPr>
          <p:spPr>
            <a:xfrm>
              <a:off x="528638" y="958691"/>
              <a:ext cx="514828" cy="161925"/>
            </a:xfrm>
            <a:prstGeom prst="rect">
              <a:avLst/>
            </a:prstGeom>
            <a:noFill/>
            <a:ln>
              <a:noFill/>
            </a:ln>
          </p:spPr>
          <p:txBody>
            <a:bodyPr wrap="none" lIns="0" tIns="0" rIns="0" bIns="0" anchor="t" anchorCtr="0">
              <a:spAutoFit/>
            </a:bodyPr>
            <a:lstStyle/>
            <a:p>
              <a:pPr algn="l"/>
              <a:r>
                <a:rPr lang="zh-CN" sz="820" b="1" dirty="0">
                  <a:solidFill>
                    <a:srgbClr val="7A3E33"/>
                  </a:solidFill>
                  <a:latin typeface="+mn-lt"/>
                  <a:ea typeface="+mn-ea"/>
                  <a:cs typeface="+mn-cs"/>
                </a:rPr>
                <a:t>主要内容:</a:t>
              </a:r>
            </a:p>
          </p:txBody>
        </p:sp>
        <p:sp>
          <p:nvSpPr>
            <p:cNvPr id="10" name="TextBox 10"/>
            <p:cNvSpPr txBox="1"/>
            <p:nvPr/>
          </p:nvSpPr>
          <p:spPr>
            <a:xfrm>
              <a:off x="528638" y="1142286"/>
              <a:ext cx="1592009"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33333"/>
                  </a:solidFill>
                  <a:latin typeface="+mn-lt"/>
                  <a:ea typeface="+mn-ea"/>
                  <a:cs typeface="+mn-cs"/>
                </a:rPr>
                <a:t>截止 2月底上门拜访 6 家合作客户，线​</a:t>
              </a:r>
              <a:br/>
              <a:r>
                <a:rPr lang="zh-CN" sz="710" dirty="0">
                  <a:solidFill>
                    <a:srgbClr val="333333"/>
                  </a:solidFill>
                  <a:latin typeface="+mn-lt"/>
                  <a:ea typeface="+mn-ea"/>
                  <a:cs typeface="+mn-cs"/>
                </a:rPr>
                <a:t>上用户访谈进行 60 次​</a:t>
              </a:r>
            </a:p>
          </p:txBody>
        </p:sp>
        <p:sp>
          <p:nvSpPr>
            <p:cNvPr id="11" name="TextBox 11"/>
            <p:cNvSpPr txBox="1"/>
            <p:nvPr/>
          </p:nvSpPr>
          <p:spPr>
            <a:xfrm>
              <a:off x="528638" y="1523286"/>
              <a:ext cx="1564958"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33333"/>
                  </a:solidFill>
                  <a:latin typeface="+mn-lt"/>
                  <a:ea typeface="+mn-ea"/>
                  <a:cs typeface="+mn-cs"/>
                </a:rPr>
                <a:t>截止 3月中旬为产品中 Top 5% 的用户​</a:t>
              </a:r>
              <a:br/>
              <a:r>
                <a:rPr lang="zh-CN" sz="710" dirty="0">
                  <a:solidFill>
                    <a:srgbClr val="333333"/>
                  </a:solidFill>
                  <a:latin typeface="+mn-lt"/>
                  <a:ea typeface="+mn-ea"/>
                  <a:cs typeface="+mn-cs"/>
                </a:rPr>
                <a:t>建立用户模型</a:t>
              </a:r>
            </a:p>
          </p:txBody>
        </p:sp>
        <p:grpSp>
          <p:nvGrpSpPr>
            <p:cNvPr id="15" name="Group 15"/>
            <p:cNvGrpSpPr/>
            <p:nvPr/>
          </p:nvGrpSpPr>
          <p:grpSpPr>
            <a:xfrm>
              <a:off x="2898773" y="969683"/>
              <a:ext cx="170128" cy="175162"/>
              <a:chOff x="2898773" y="969683"/>
              <a:chExt cx="170128" cy="175162"/>
            </a:xfrm>
          </p:grpSpPr>
          <p:sp>
            <p:nvSpPr>
              <p:cNvPr id="12" name="Freeform 12"/>
              <p:cNvSpPr/>
              <p:nvPr/>
            </p:nvSpPr>
            <p:spPr>
              <a:xfrm>
                <a:off x="2950368" y="1026318"/>
                <a:ext cx="61912" cy="61912"/>
              </a:xfrm>
              <a:custGeom>
                <a:avLst/>
                <a:gdLst/>
                <a:ahLst/>
                <a:cxnLst/>
                <a:rect l="l" t="t" r="r" b="b"/>
                <a:pathLst>
                  <a:path w="61912" h="61912">
                    <a:moveTo>
                      <a:pt x="0" y="61912"/>
                    </a:moveTo>
                    <a:lnTo>
                      <a:pt x="61912" y="0"/>
                    </a:lnTo>
                  </a:path>
                </a:pathLst>
              </a:custGeom>
              <a:noFill/>
              <a:ln w="20637">
                <a:solidFill>
                  <a:srgbClr val="9C594C"/>
                </a:solidFill>
              </a:ln>
            </p:spPr>
          </p:sp>
          <p:sp>
            <p:nvSpPr>
              <p:cNvPr id="13" name="Freeform 13"/>
              <p:cNvSpPr/>
              <p:nvPr/>
            </p:nvSpPr>
            <p:spPr>
              <a:xfrm>
                <a:off x="2971006" y="969683"/>
                <a:ext cx="97895" cy="97910"/>
              </a:xfrm>
              <a:custGeom>
                <a:avLst/>
                <a:gdLst/>
                <a:ahLst/>
                <a:cxnLst/>
                <a:rect l="l" t="t" r="r" b="b"/>
                <a:pathLst>
                  <a:path w="97895" h="97910">
                    <a:moveTo>
                      <a:pt x="0" y="25679"/>
                    </a:moveTo>
                    <a:lnTo>
                      <a:pt x="4778" y="20148"/>
                    </a:lnTo>
                    <a:cubicBezTo>
                      <a:pt x="24929" y="0"/>
                      <a:pt x="57598" y="2"/>
                      <a:pt x="77746" y="20154"/>
                    </a:cubicBezTo>
                    <a:cubicBezTo>
                      <a:pt x="97895" y="40305"/>
                      <a:pt x="97892" y="72974"/>
                      <a:pt x="77741" y="93122"/>
                    </a:cubicBezTo>
                    <a:lnTo>
                      <a:pt x="72231" y="97910"/>
                    </a:lnTo>
                  </a:path>
                </a:pathLst>
              </a:custGeom>
              <a:noFill/>
              <a:ln w="20637">
                <a:solidFill>
                  <a:srgbClr val="9C594C"/>
                </a:solidFill>
              </a:ln>
            </p:spPr>
          </p:sp>
          <p:sp>
            <p:nvSpPr>
              <p:cNvPr id="14" name="Freeform 14"/>
              <p:cNvSpPr/>
              <p:nvPr/>
            </p:nvSpPr>
            <p:spPr>
              <a:xfrm>
                <a:off x="2898773" y="1046956"/>
                <a:ext cx="92870" cy="97889"/>
              </a:xfrm>
              <a:custGeom>
                <a:avLst/>
                <a:gdLst/>
                <a:ahLst/>
                <a:cxnLst/>
                <a:rect l="l" t="t" r="r" b="b"/>
                <a:pathLst>
                  <a:path w="92870" h="97889">
                    <a:moveTo>
                      <a:pt x="92870" y="72231"/>
                    </a:moveTo>
                    <a:lnTo>
                      <a:pt x="88773" y="77741"/>
                    </a:lnTo>
                    <a:cubicBezTo>
                      <a:pt x="68399" y="97889"/>
                      <a:pt x="35606" y="97889"/>
                      <a:pt x="15232" y="77741"/>
                    </a:cubicBezTo>
                    <a:cubicBezTo>
                      <a:pt x="5485" y="68104"/>
                      <a:pt x="0" y="54966"/>
                      <a:pt x="0" y="41259"/>
                    </a:cubicBezTo>
                    <a:cubicBezTo>
                      <a:pt x="0" y="27552"/>
                      <a:pt x="5485" y="14415"/>
                      <a:pt x="15232" y="4778"/>
                    </a:cubicBezTo>
                    <a:lnTo>
                      <a:pt x="20639" y="0"/>
                    </a:lnTo>
                  </a:path>
                </a:pathLst>
              </a:custGeom>
              <a:noFill/>
              <a:ln w="20637">
                <a:solidFill>
                  <a:srgbClr val="9C594C"/>
                </a:solidFill>
              </a:ln>
            </p:spPr>
          </p:sp>
        </p:grpSp>
        <p:sp>
          <p:nvSpPr>
            <p:cNvPr id="16" name="TextBox 16"/>
            <p:cNvSpPr txBox="1"/>
            <p:nvPr/>
          </p:nvSpPr>
          <p:spPr>
            <a:xfrm>
              <a:off x="2880982" y="1256586"/>
              <a:ext cx="200685"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无线</a:t>
              </a:r>
            </a:p>
          </p:txBody>
        </p:sp>
        <p:grpSp>
          <p:nvGrpSpPr>
            <p:cNvPr id="20" name="Group 20"/>
            <p:cNvGrpSpPr/>
            <p:nvPr/>
          </p:nvGrpSpPr>
          <p:grpSpPr>
            <a:xfrm>
              <a:off x="3657516" y="974725"/>
              <a:ext cx="168358" cy="168359"/>
              <a:chOff x="3657516" y="974725"/>
              <a:chExt cx="168358" cy="168359"/>
            </a:xfrm>
          </p:grpSpPr>
          <p:sp>
            <p:nvSpPr>
              <p:cNvPr id="17" name="Freeform 17"/>
              <p:cNvSpPr/>
              <p:nvPr/>
            </p:nvSpPr>
            <p:spPr>
              <a:xfrm>
                <a:off x="3660775" y="974725"/>
                <a:ext cx="165099" cy="165099"/>
              </a:xfrm>
              <a:custGeom>
                <a:avLst/>
                <a:gdLst/>
                <a:ahLst/>
                <a:cxnLst/>
                <a:rect l="l" t="t" r="r" b="b"/>
                <a:pathLst>
                  <a:path w="165099" h="165099">
                    <a:moveTo>
                      <a:pt x="0" y="92868"/>
                    </a:moveTo>
                    <a:cubicBezTo>
                      <a:pt x="37872" y="97369"/>
                      <a:pt x="67730" y="127228"/>
                      <a:pt x="72231" y="165099"/>
                    </a:cubicBezTo>
                    <a:cubicBezTo>
                      <a:pt x="90774" y="154409"/>
                      <a:pt x="102481" y="134899"/>
                      <a:pt x="103187" y="113506"/>
                    </a:cubicBezTo>
                    <a:cubicBezTo>
                      <a:pt x="138619" y="101041"/>
                      <a:pt x="163055" y="68461"/>
                      <a:pt x="165099" y="30956"/>
                    </a:cubicBezTo>
                    <a:cubicBezTo>
                      <a:pt x="165099" y="13860"/>
                      <a:pt x="151240" y="0"/>
                      <a:pt x="134143" y="0"/>
                    </a:cubicBezTo>
                    <a:cubicBezTo>
                      <a:pt x="96638" y="2045"/>
                      <a:pt x="64058" y="26480"/>
                      <a:pt x="51594" y="61912"/>
                    </a:cubicBezTo>
                    <a:cubicBezTo>
                      <a:pt x="30201" y="62619"/>
                      <a:pt x="10691" y="74325"/>
                      <a:pt x="0" y="92868"/>
                    </a:cubicBezTo>
                  </a:path>
                </a:pathLst>
              </a:custGeom>
              <a:noFill/>
              <a:ln w="20637">
                <a:solidFill>
                  <a:srgbClr val="9C594C"/>
                </a:solidFill>
              </a:ln>
            </p:spPr>
          </p:sp>
          <p:sp>
            <p:nvSpPr>
              <p:cNvPr id="18" name="Freeform 18"/>
              <p:cNvSpPr/>
              <p:nvPr/>
            </p:nvSpPr>
            <p:spPr>
              <a:xfrm>
                <a:off x="3657516" y="1077912"/>
                <a:ext cx="65172" cy="65172"/>
              </a:xfrm>
              <a:custGeom>
                <a:avLst/>
                <a:gdLst/>
                <a:ahLst/>
                <a:cxnLst/>
                <a:rect l="l" t="t" r="r" b="b"/>
                <a:pathLst>
                  <a:path w="65172" h="65172">
                    <a:moveTo>
                      <a:pt x="34215" y="0"/>
                    </a:moveTo>
                    <a:cubicBezTo>
                      <a:pt x="12246" y="12403"/>
                      <a:pt x="0" y="36895"/>
                      <a:pt x="3259" y="61912"/>
                    </a:cubicBezTo>
                    <a:cubicBezTo>
                      <a:pt x="28276" y="65172"/>
                      <a:pt x="52769" y="52925"/>
                      <a:pt x="65172" y="30956"/>
                    </a:cubicBezTo>
                  </a:path>
                </a:pathLst>
              </a:custGeom>
              <a:noFill/>
              <a:ln w="20637">
                <a:solidFill>
                  <a:srgbClr val="9C594C"/>
                </a:solidFill>
              </a:ln>
            </p:spPr>
          </p:sp>
          <p:sp>
            <p:nvSpPr>
              <p:cNvPr id="19" name="Freeform 19"/>
              <p:cNvSpPr/>
              <p:nvPr/>
            </p:nvSpPr>
            <p:spPr>
              <a:xfrm>
                <a:off x="3763962" y="1016000"/>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9C594C"/>
                </a:solidFill>
              </a:ln>
            </p:spPr>
          </p:sp>
        </p:grpSp>
        <p:sp>
          <p:nvSpPr>
            <p:cNvPr id="21" name="TextBox 21"/>
            <p:cNvSpPr txBox="1"/>
            <p:nvPr/>
          </p:nvSpPr>
          <p:spPr>
            <a:xfrm>
              <a:off x="3642982" y="1256586"/>
              <a:ext cx="200685"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方便</a:t>
              </a:r>
            </a:p>
          </p:txBody>
        </p:sp>
        <p:grpSp>
          <p:nvGrpSpPr>
            <p:cNvPr id="25" name="Group 25"/>
            <p:cNvGrpSpPr/>
            <p:nvPr/>
          </p:nvGrpSpPr>
          <p:grpSpPr>
            <a:xfrm>
              <a:off x="4412456" y="964406"/>
              <a:ext cx="185737" cy="185737"/>
              <a:chOff x="4412456" y="964406"/>
              <a:chExt cx="185737" cy="185737"/>
            </a:xfrm>
          </p:grpSpPr>
          <p:sp>
            <p:nvSpPr>
              <p:cNvPr id="22" name="Freeform 22"/>
              <p:cNvSpPr/>
              <p:nvPr/>
            </p:nvSpPr>
            <p:spPr>
              <a:xfrm>
                <a:off x="4412456" y="964406"/>
                <a:ext cx="185737" cy="92868"/>
              </a:xfrm>
              <a:custGeom>
                <a:avLst/>
                <a:gdLst/>
                <a:ahLst/>
                <a:cxnLst/>
                <a:rect l="l" t="t" r="r" b="b"/>
                <a:pathLst>
                  <a:path w="185737" h="92868">
                    <a:moveTo>
                      <a:pt x="0" y="92868"/>
                    </a:moveTo>
                    <a:lnTo>
                      <a:pt x="10319" y="92868"/>
                    </a:lnTo>
                    <a:moveTo>
                      <a:pt x="92868" y="0"/>
                    </a:moveTo>
                    <a:lnTo>
                      <a:pt x="92868" y="10319"/>
                    </a:lnTo>
                    <a:moveTo>
                      <a:pt x="175418" y="92868"/>
                    </a:moveTo>
                    <a:lnTo>
                      <a:pt x="185737" y="92868"/>
                    </a:lnTo>
                    <a:moveTo>
                      <a:pt x="26829" y="26829"/>
                    </a:moveTo>
                    <a:lnTo>
                      <a:pt x="34052" y="34052"/>
                    </a:lnTo>
                    <a:moveTo>
                      <a:pt x="158908" y="26829"/>
                    </a:moveTo>
                    <a:lnTo>
                      <a:pt x="151685" y="34052"/>
                    </a:lnTo>
                  </a:path>
                </a:pathLst>
              </a:custGeom>
              <a:noFill/>
              <a:ln w="20637">
                <a:solidFill>
                  <a:srgbClr val="9C594C"/>
                </a:solidFill>
              </a:ln>
            </p:spPr>
          </p:sp>
          <p:sp>
            <p:nvSpPr>
              <p:cNvPr id="23" name="Freeform 23"/>
              <p:cNvSpPr/>
              <p:nvPr/>
            </p:nvSpPr>
            <p:spPr>
              <a:xfrm>
                <a:off x="4449356" y="1005681"/>
                <a:ext cx="111937" cy="144462"/>
              </a:xfrm>
              <a:custGeom>
                <a:avLst/>
                <a:gdLst/>
                <a:ahLst/>
                <a:cxnLst/>
                <a:rect l="l" t="t" r="r" b="b"/>
                <a:pathLst>
                  <a:path w="111937" h="144462">
                    <a:moveTo>
                      <a:pt x="25012" y="92868"/>
                    </a:moveTo>
                    <a:cubicBezTo>
                      <a:pt x="7246" y="79544"/>
                      <a:pt x="0" y="56346"/>
                      <a:pt x="7023" y="35278"/>
                    </a:cubicBezTo>
                    <a:cubicBezTo>
                      <a:pt x="14045" y="14210"/>
                      <a:pt x="33761" y="0"/>
                      <a:pt x="55969" y="0"/>
                    </a:cubicBezTo>
                    <a:cubicBezTo>
                      <a:pt x="78176" y="0"/>
                      <a:pt x="97892" y="14210"/>
                      <a:pt x="104915" y="35278"/>
                    </a:cubicBezTo>
                    <a:cubicBezTo>
                      <a:pt x="111937" y="56346"/>
                      <a:pt x="104691" y="79544"/>
                      <a:pt x="86925" y="92868"/>
                    </a:cubicBezTo>
                    <a:cubicBezTo>
                      <a:pt x="78754" y="100957"/>
                      <a:pt x="74922" y="112452"/>
                      <a:pt x="76606" y="123825"/>
                    </a:cubicBezTo>
                    <a:cubicBezTo>
                      <a:pt x="76606" y="135222"/>
                      <a:pt x="67366" y="144462"/>
                      <a:pt x="55969" y="144462"/>
                    </a:cubicBezTo>
                    <a:cubicBezTo>
                      <a:pt x="44571" y="144462"/>
                      <a:pt x="35331" y="135222"/>
                      <a:pt x="35331" y="123825"/>
                    </a:cubicBezTo>
                    <a:cubicBezTo>
                      <a:pt x="37015" y="112452"/>
                      <a:pt x="33183" y="100957"/>
                      <a:pt x="25012" y="92868"/>
                    </a:cubicBezTo>
                  </a:path>
                </a:pathLst>
              </a:custGeom>
              <a:noFill/>
              <a:ln w="20637">
                <a:solidFill>
                  <a:srgbClr val="9C594C"/>
                </a:solidFill>
              </a:ln>
            </p:spPr>
          </p:sp>
          <p:sp>
            <p:nvSpPr>
              <p:cNvPr id="24" name="Freeform 24"/>
              <p:cNvSpPr/>
              <p:nvPr/>
            </p:nvSpPr>
            <p:spPr>
              <a:xfrm>
                <a:off x="4481592" y="1108868"/>
                <a:ext cx="47466" cy="9525"/>
              </a:xfrm>
              <a:custGeom>
                <a:avLst/>
                <a:gdLst/>
                <a:ahLst/>
                <a:cxnLst/>
                <a:rect l="l" t="t" r="r" b="b"/>
                <a:pathLst>
                  <a:path w="47466" h="9525">
                    <a:moveTo>
                      <a:pt x="0" y="0"/>
                    </a:moveTo>
                    <a:lnTo>
                      <a:pt x="47466" y="0"/>
                    </a:lnTo>
                  </a:path>
                </a:pathLst>
              </a:custGeom>
              <a:noFill/>
              <a:ln w="20637">
                <a:solidFill>
                  <a:srgbClr val="9C594C"/>
                </a:solidFill>
              </a:ln>
            </p:spPr>
          </p:sp>
        </p:grpSp>
        <p:sp>
          <p:nvSpPr>
            <p:cNvPr id="26" name="TextBox 26"/>
            <p:cNvSpPr txBox="1"/>
            <p:nvPr/>
          </p:nvSpPr>
          <p:spPr>
            <a:xfrm>
              <a:off x="4404982" y="1256586"/>
              <a:ext cx="200685"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亮度</a:t>
              </a:r>
            </a:p>
          </p:txBody>
        </p:sp>
        <p:grpSp>
          <p:nvGrpSpPr>
            <p:cNvPr id="29" name="Group 29"/>
            <p:cNvGrpSpPr/>
            <p:nvPr/>
          </p:nvGrpSpPr>
          <p:grpSpPr>
            <a:xfrm>
              <a:off x="2888456" y="1547812"/>
              <a:ext cx="185737" cy="123825"/>
              <a:chOff x="2888456" y="1547812"/>
              <a:chExt cx="185737" cy="123825"/>
            </a:xfrm>
          </p:grpSpPr>
          <p:sp>
            <p:nvSpPr>
              <p:cNvPr id="27" name="Freeform 27"/>
              <p:cNvSpPr/>
              <p:nvPr/>
            </p:nvSpPr>
            <p:spPr>
              <a:xfrm>
                <a:off x="2960687" y="1589087"/>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9C594C"/>
                </a:solidFill>
              </a:ln>
            </p:spPr>
          </p:sp>
          <p:sp>
            <p:nvSpPr>
              <p:cNvPr id="28" name="Freeform 28"/>
              <p:cNvSpPr/>
              <p:nvPr/>
            </p:nvSpPr>
            <p:spPr>
              <a:xfrm>
                <a:off x="2888456" y="1547812"/>
                <a:ext cx="185737" cy="123825"/>
              </a:xfrm>
              <a:custGeom>
                <a:avLst/>
                <a:gdLst/>
                <a:ahLst/>
                <a:cxnLst/>
                <a:rect l="l" t="t" r="r" b="b"/>
                <a:pathLst>
                  <a:path w="185737" h="123825">
                    <a:moveTo>
                      <a:pt x="185737" y="61912"/>
                    </a:moveTo>
                    <a:cubicBezTo>
                      <a:pt x="160972" y="103187"/>
                      <a:pt x="130016" y="123825"/>
                      <a:pt x="92868" y="123825"/>
                    </a:cubicBezTo>
                    <a:cubicBezTo>
                      <a:pt x="55721" y="123825"/>
                      <a:pt x="24765" y="103187"/>
                      <a:pt x="0" y="61912"/>
                    </a:cubicBezTo>
                    <a:cubicBezTo>
                      <a:pt x="24765" y="20637"/>
                      <a:pt x="55721" y="0"/>
                      <a:pt x="92868" y="0"/>
                    </a:cubicBezTo>
                    <a:cubicBezTo>
                      <a:pt x="130016" y="0"/>
                      <a:pt x="160972" y="20637"/>
                      <a:pt x="185737" y="61912"/>
                    </a:cubicBezTo>
                  </a:path>
                </a:pathLst>
              </a:custGeom>
              <a:noFill/>
              <a:ln w="20637">
                <a:solidFill>
                  <a:srgbClr val="9C594C"/>
                </a:solidFill>
              </a:ln>
            </p:spPr>
          </p:sp>
        </p:grpSp>
        <p:sp>
          <p:nvSpPr>
            <p:cNvPr id="30" name="TextBox 30"/>
            <p:cNvSpPr txBox="1"/>
            <p:nvPr/>
          </p:nvSpPr>
          <p:spPr>
            <a:xfrm>
              <a:off x="2880982" y="1809036"/>
              <a:ext cx="200685"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清晰</a:t>
              </a:r>
            </a:p>
          </p:txBody>
        </p:sp>
        <p:grpSp>
          <p:nvGrpSpPr>
            <p:cNvPr id="33" name="Group 33"/>
            <p:cNvGrpSpPr/>
            <p:nvPr/>
          </p:nvGrpSpPr>
          <p:grpSpPr>
            <a:xfrm>
              <a:off x="3650456" y="1516856"/>
              <a:ext cx="185737" cy="185737"/>
              <a:chOff x="3650456" y="1516856"/>
              <a:chExt cx="185737" cy="185737"/>
            </a:xfrm>
          </p:grpSpPr>
          <p:sp>
            <p:nvSpPr>
              <p:cNvPr id="31" name="Freeform 31"/>
              <p:cNvSpPr/>
              <p:nvPr/>
            </p:nvSpPr>
            <p:spPr>
              <a:xfrm>
                <a:off x="3650456" y="15168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9C594C"/>
                </a:solidFill>
              </a:ln>
            </p:spPr>
          </p:sp>
          <p:sp>
            <p:nvSpPr>
              <p:cNvPr id="32" name="Freeform 32"/>
              <p:cNvSpPr/>
              <p:nvPr/>
            </p:nvSpPr>
            <p:spPr>
              <a:xfrm>
                <a:off x="3712368" y="1589087"/>
                <a:ext cx="61912" cy="41275"/>
              </a:xfrm>
              <a:custGeom>
                <a:avLst/>
                <a:gdLst/>
                <a:ahLst/>
                <a:cxnLst/>
                <a:rect l="l" t="t" r="r" b="b"/>
                <a:pathLst>
                  <a:path w="61912" h="41275">
                    <a:moveTo>
                      <a:pt x="0" y="20637"/>
                    </a:moveTo>
                    <a:lnTo>
                      <a:pt x="20637" y="41275"/>
                    </a:lnTo>
                    <a:lnTo>
                      <a:pt x="61912" y="0"/>
                    </a:lnTo>
                  </a:path>
                </a:pathLst>
              </a:custGeom>
              <a:noFill/>
              <a:ln w="20637">
                <a:solidFill>
                  <a:srgbClr val="9C594C"/>
                </a:solidFill>
              </a:ln>
            </p:spPr>
          </p:sp>
        </p:grpSp>
        <p:sp>
          <p:nvSpPr>
            <p:cNvPr id="34" name="TextBox 34"/>
            <p:cNvSpPr txBox="1"/>
            <p:nvPr/>
          </p:nvSpPr>
          <p:spPr>
            <a:xfrm>
              <a:off x="3642982" y="1809036"/>
              <a:ext cx="200685"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满意</a:t>
              </a:r>
            </a:p>
          </p:txBody>
        </p:sp>
        <p:grpSp>
          <p:nvGrpSpPr>
            <p:cNvPr id="38" name="Group 38"/>
            <p:cNvGrpSpPr/>
            <p:nvPr/>
          </p:nvGrpSpPr>
          <p:grpSpPr>
            <a:xfrm>
              <a:off x="4443412" y="1516856"/>
              <a:ext cx="123825" cy="185737"/>
              <a:chOff x="4443412" y="1516856"/>
              <a:chExt cx="123825" cy="185737"/>
            </a:xfrm>
          </p:grpSpPr>
          <p:sp>
            <p:nvSpPr>
              <p:cNvPr id="35" name="Freeform 35"/>
              <p:cNvSpPr/>
              <p:nvPr/>
            </p:nvSpPr>
            <p:spPr>
              <a:xfrm>
                <a:off x="4443412" y="1516856"/>
                <a:ext cx="123825" cy="185737"/>
              </a:xfrm>
              <a:custGeom>
                <a:avLst/>
                <a:gdLst/>
                <a:ahLst/>
                <a:cxnLst/>
                <a:rect l="l" t="t" r="r" b="b"/>
                <a:pathLst>
                  <a:path w="123825" h="185737">
                    <a:moveTo>
                      <a:pt x="0" y="20637"/>
                    </a:moveTo>
                    <a:cubicBezTo>
                      <a:pt x="0" y="9240"/>
                      <a:pt x="9240" y="0"/>
                      <a:pt x="20637" y="0"/>
                    </a:cubicBezTo>
                    <a:lnTo>
                      <a:pt x="103187" y="0"/>
                    </a:lnTo>
                    <a:cubicBezTo>
                      <a:pt x="114585" y="0"/>
                      <a:pt x="123825" y="9240"/>
                      <a:pt x="123825" y="20637"/>
                    </a:cubicBezTo>
                    <a:lnTo>
                      <a:pt x="123825" y="165099"/>
                    </a:lnTo>
                    <a:cubicBezTo>
                      <a:pt x="123825" y="176497"/>
                      <a:pt x="114585" y="185737"/>
                      <a:pt x="103187" y="185737"/>
                    </a:cubicBezTo>
                    <a:lnTo>
                      <a:pt x="20637" y="185737"/>
                    </a:lnTo>
                    <a:cubicBezTo>
                      <a:pt x="9240" y="185737"/>
                      <a:pt x="0" y="176497"/>
                      <a:pt x="0" y="165099"/>
                    </a:cubicBezTo>
                    <a:lnTo>
                      <a:pt x="0" y="20637"/>
                    </a:lnTo>
                  </a:path>
                </a:pathLst>
              </a:custGeom>
              <a:noFill/>
              <a:ln w="20637">
                <a:solidFill>
                  <a:srgbClr val="9C594C"/>
                </a:solidFill>
              </a:ln>
            </p:spPr>
          </p:sp>
          <p:sp>
            <p:nvSpPr>
              <p:cNvPr id="36" name="Freeform 36"/>
              <p:cNvSpPr/>
              <p:nvPr/>
            </p:nvSpPr>
            <p:spPr>
              <a:xfrm>
                <a:off x="4495006" y="1527175"/>
                <a:ext cx="20637" cy="9525"/>
              </a:xfrm>
              <a:custGeom>
                <a:avLst/>
                <a:gdLst/>
                <a:ahLst/>
                <a:cxnLst/>
                <a:rect l="l" t="t" r="r" b="b"/>
                <a:pathLst>
                  <a:path w="20637" h="9525">
                    <a:moveTo>
                      <a:pt x="0" y="0"/>
                    </a:moveTo>
                    <a:lnTo>
                      <a:pt x="20637" y="0"/>
                    </a:lnTo>
                  </a:path>
                </a:pathLst>
              </a:custGeom>
              <a:noFill/>
              <a:ln w="20637">
                <a:solidFill>
                  <a:srgbClr val="9C594C"/>
                </a:solidFill>
              </a:ln>
            </p:spPr>
          </p:sp>
          <p:sp>
            <p:nvSpPr>
              <p:cNvPr id="37" name="Freeform 37"/>
              <p:cNvSpPr/>
              <p:nvPr/>
            </p:nvSpPr>
            <p:spPr>
              <a:xfrm>
                <a:off x="4505325" y="1661318"/>
                <a:ext cx="9525" cy="9525"/>
              </a:xfrm>
              <a:custGeom>
                <a:avLst/>
                <a:gdLst/>
                <a:ahLst/>
                <a:cxnLst/>
                <a:rect l="l" t="t" r="r" b="b"/>
                <a:pathLst>
                  <a:path w="9525" h="9525">
                    <a:moveTo>
                      <a:pt x="0" y="0"/>
                    </a:moveTo>
                    <a:lnTo>
                      <a:pt x="0" y="103"/>
                    </a:lnTo>
                  </a:path>
                </a:pathLst>
              </a:custGeom>
              <a:noFill/>
              <a:ln w="20637">
                <a:solidFill>
                  <a:srgbClr val="9C594C"/>
                </a:solidFill>
              </a:ln>
            </p:spPr>
          </p:sp>
        </p:grpSp>
        <p:sp>
          <p:nvSpPr>
            <p:cNvPr id="39" name="TextBox 39"/>
            <p:cNvSpPr txBox="1"/>
            <p:nvPr/>
          </p:nvSpPr>
          <p:spPr>
            <a:xfrm>
              <a:off x="4404982" y="1809036"/>
              <a:ext cx="200685"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手机</a:t>
              </a:r>
            </a:p>
          </p:txBody>
        </p:sp>
      </p:grpSp>
      <p:grpSp>
        <p:nvGrpSpPr>
          <p:cNvPr id="62" name="performance-cluster"/>
          <p:cNvGrpSpPr/>
          <p:nvPr/>
        </p:nvGrpSpPr>
        <p:grpSpPr>
          <a:xfrm>
            <a:off x="381000" y="2495550"/>
            <a:ext cx="4533900" cy="2895600"/>
            <a:chOff x="381000" y="2495550"/>
            <a:chExt cx="4533900" cy="2895600"/>
          </a:xfrm>
        </p:grpSpPr>
        <p:sp>
          <p:nvSpPr>
            <p:cNvPr id="41" name="Ellipse 41"/>
            <p:cNvSpPr/>
            <p:nvPr/>
          </p:nvSpPr>
          <p:spPr>
            <a:xfrm>
              <a:off x="2990850" y="2533650"/>
              <a:ext cx="1638300" cy="876300"/>
            </a:xfrm>
            <a:prstGeom prst="ellipse">
              <a:avLst/>
            </a:prstGeom>
            <a:solidFill>
              <a:srgbClr val="F7B9AE"/>
            </a:solidFill>
            <a:ln>
              <a:noFill/>
            </a:ln>
          </p:spPr>
        </p:sp>
        <p:sp>
          <p:nvSpPr>
            <p:cNvPr id="42" name="Ellipse 42"/>
            <p:cNvSpPr/>
            <p:nvPr/>
          </p:nvSpPr>
          <p:spPr>
            <a:xfrm>
              <a:off x="2990850" y="2495550"/>
              <a:ext cx="1638300" cy="800100"/>
            </a:xfrm>
            <a:prstGeom prst="ellipse">
              <a:avLst/>
            </a:prstGeom>
            <a:solidFill>
              <a:srgbClr val="FBF0D8"/>
            </a:solidFill>
            <a:ln>
              <a:noFill/>
            </a:ln>
          </p:spPr>
        </p:sp>
        <p:sp>
          <p:nvSpPr>
            <p:cNvPr id="43" name="TextBox 43"/>
            <p:cNvSpPr txBox="1"/>
            <p:nvPr/>
          </p:nvSpPr>
          <p:spPr>
            <a:xfrm>
              <a:off x="3315345" y="2679382"/>
              <a:ext cx="989309" cy="322707"/>
            </a:xfrm>
            <a:prstGeom prst="rect">
              <a:avLst/>
            </a:prstGeom>
            <a:noFill/>
            <a:ln>
              <a:noFill/>
            </a:ln>
          </p:spPr>
          <p:txBody>
            <a:bodyPr wrap="none" lIns="0" tIns="0" rIns="0" bIns="0" anchor="t" anchorCtr="0">
              <a:spAutoFit/>
            </a:bodyPr>
            <a:lstStyle/>
            <a:p>
              <a:pPr algn="ctr"/>
              <a:r>
                <a:rPr lang="zh-CN" sz="1650" b="1" dirty="0">
                  <a:solidFill>
                    <a:srgbClr val="8A2210"/>
                  </a:solidFill>
                  <a:latin typeface="+mn-lt"/>
                  <a:ea typeface="+mn-ea"/>
                  <a:cs typeface="+mn-cs"/>
                </a:rPr>
                <a:t>20.5</a:t>
              </a:r>
              <a:r>
                <a:rPr lang="zh-CN" sz="820" b="1" dirty="0">
                  <a:solidFill>
                    <a:srgbClr val="8A2210"/>
                  </a:solidFill>
                  <a:latin typeface="+mn-lt"/>
                  <a:ea typeface="+mn-ea"/>
                  <a:cs typeface="+mn-cs"/>
                </a:rPr>
                <a:t>万亿元</a:t>
              </a:r>
              <a:r>
                <a:rPr lang="zh-CN" sz="1650" b="1" dirty="0">
                  <a:solidFill>
                    <a:srgbClr val="8A2210"/>
                  </a:solidFill>
                  <a:latin typeface="+mn-lt"/>
                  <a:ea typeface="+mn-ea"/>
                  <a:cs typeface="+mn-cs"/>
                </a:rPr>
                <a:t>​</a:t>
              </a:r>
            </a:p>
          </p:txBody>
        </p:sp>
        <p:sp>
          <p:nvSpPr>
            <p:cNvPr id="44" name="TextBox 44"/>
            <p:cNvSpPr txBox="1"/>
            <p:nvPr/>
          </p:nvSpPr>
          <p:spPr>
            <a:xfrm>
              <a:off x="3401378" y="2986088"/>
              <a:ext cx="817245" cy="147638"/>
            </a:xfrm>
            <a:prstGeom prst="rect">
              <a:avLst/>
            </a:prstGeom>
            <a:noFill/>
            <a:ln>
              <a:noFill/>
            </a:ln>
          </p:spPr>
          <p:txBody>
            <a:bodyPr wrap="none" lIns="0" tIns="0" rIns="0" bIns="0" anchor="t" anchorCtr="0">
              <a:spAutoFit/>
            </a:bodyPr>
            <a:lstStyle/>
            <a:p>
              <a:pPr algn="ctr"/>
              <a:r>
                <a:rPr lang="zh-CN" sz="750" dirty="0">
                  <a:solidFill>
                    <a:srgbClr val="8A2210"/>
                  </a:solidFill>
                  <a:latin typeface="+mn-lt"/>
                  <a:ea typeface="+mn-ea"/>
                  <a:cs typeface="+mn-cs"/>
                </a:rPr>
                <a:t>全国某某业总产值</a:t>
              </a:r>
            </a:p>
          </p:txBody>
        </p:sp>
        <p:sp>
          <p:nvSpPr>
            <p:cNvPr id="45" name="Ellipse 45"/>
            <p:cNvSpPr/>
            <p:nvPr/>
          </p:nvSpPr>
          <p:spPr>
            <a:xfrm>
              <a:off x="419100" y="2743200"/>
              <a:ext cx="1447800" cy="838200"/>
            </a:xfrm>
            <a:prstGeom prst="ellipse">
              <a:avLst/>
            </a:prstGeom>
            <a:solidFill>
              <a:srgbClr val="9C594C"/>
            </a:solidFill>
            <a:ln>
              <a:noFill/>
            </a:ln>
          </p:spPr>
        </p:sp>
        <p:sp>
          <p:nvSpPr>
            <p:cNvPr id="46" name="Ellipse 46"/>
            <p:cNvSpPr/>
            <p:nvPr/>
          </p:nvSpPr>
          <p:spPr>
            <a:xfrm>
              <a:off x="419100" y="2705100"/>
              <a:ext cx="1447800" cy="762000"/>
            </a:xfrm>
            <a:prstGeom prst="ellipse">
              <a:avLst/>
            </a:prstGeom>
            <a:solidFill>
              <a:srgbClr val="B5766A"/>
            </a:solidFill>
            <a:ln>
              <a:noFill/>
            </a:ln>
          </p:spPr>
        </p:sp>
        <p:sp>
          <p:nvSpPr>
            <p:cNvPr id="47" name="TextBox 47"/>
            <p:cNvSpPr txBox="1"/>
            <p:nvPr/>
          </p:nvSpPr>
          <p:spPr>
            <a:xfrm>
              <a:off x="786053" y="2929414"/>
              <a:ext cx="713893"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1.2</a:t>
              </a:r>
              <a:r>
                <a:rPr lang="zh-CN" sz="750" b="1" dirty="0">
                  <a:solidFill>
                    <a:srgbClr val="FFFFFF"/>
                  </a:solidFill>
                  <a:latin typeface="+mn-lt"/>
                  <a:ea typeface="+mn-ea"/>
                  <a:cs typeface="+mn-cs"/>
                </a:rPr>
                <a:t>万亿元</a:t>
              </a:r>
              <a:r>
                <a:rPr lang="zh-CN" sz="1280" b="1" dirty="0">
                  <a:solidFill>
                    <a:srgbClr val="FFFFFF"/>
                  </a:solidFill>
                  <a:latin typeface="+mn-lt"/>
                  <a:ea typeface="+mn-ea"/>
                  <a:cs typeface="+mn-cs"/>
                </a:rPr>
                <a:t>​</a:t>
              </a:r>
            </a:p>
          </p:txBody>
        </p:sp>
        <p:sp>
          <p:nvSpPr>
            <p:cNvPr id="48" name="TextBox 48"/>
            <p:cNvSpPr txBox="1"/>
            <p:nvPr/>
          </p:nvSpPr>
          <p:spPr>
            <a:xfrm>
              <a:off x="755917" y="3180636"/>
              <a:ext cx="774167" cy="140494"/>
            </a:xfrm>
            <a:prstGeom prst="rect">
              <a:avLst/>
            </a:prstGeom>
            <a:noFill/>
            <a:ln>
              <a:noFill/>
            </a:ln>
          </p:spPr>
          <p:txBody>
            <a:bodyPr wrap="none" lIns="0" tIns="0" rIns="0" bIns="0" anchor="t" anchorCtr="0">
              <a:spAutoFit/>
            </a:bodyPr>
            <a:lstStyle/>
            <a:p>
              <a:pPr algn="ctr"/>
              <a:r>
                <a:rPr lang="zh-CN" sz="710" dirty="0">
                  <a:solidFill>
                    <a:srgbClr val="F2F7EE"/>
                  </a:solidFill>
                  <a:latin typeface="+mn-lt"/>
                  <a:ea typeface="+mn-ea"/>
                  <a:cs typeface="+mn-cs"/>
                </a:rPr>
                <a:t>全国某某业总产值</a:t>
              </a:r>
            </a:p>
          </p:txBody>
        </p:sp>
        <p:sp>
          <p:nvSpPr>
            <p:cNvPr id="49" name="Ellipse 49"/>
            <p:cNvSpPr/>
            <p:nvPr/>
          </p:nvSpPr>
          <p:spPr>
            <a:xfrm>
              <a:off x="1047750" y="3448050"/>
              <a:ext cx="3238500" cy="1104900"/>
            </a:xfrm>
            <a:prstGeom prst="ellipse">
              <a:avLst/>
            </a:prstGeom>
            <a:solidFill>
              <a:srgbClr val="CD9F96"/>
            </a:solidFill>
            <a:ln>
              <a:noFill/>
            </a:ln>
          </p:spPr>
        </p:sp>
        <p:sp>
          <p:nvSpPr>
            <p:cNvPr id="50" name="Ellipse 50"/>
            <p:cNvSpPr/>
            <p:nvPr/>
          </p:nvSpPr>
          <p:spPr>
            <a:xfrm>
              <a:off x="1047750" y="3371850"/>
              <a:ext cx="3238500" cy="1028700"/>
            </a:xfrm>
            <a:prstGeom prst="ellipse">
              <a:avLst/>
            </a:prstGeom>
            <a:solidFill>
              <a:srgbClr val="C8E0B8"/>
            </a:solidFill>
            <a:ln>
              <a:noFill/>
            </a:ln>
          </p:spPr>
        </p:sp>
        <p:sp>
          <p:nvSpPr>
            <p:cNvPr id="51" name="Freeform 51"/>
            <p:cNvSpPr/>
            <p:nvPr/>
          </p:nvSpPr>
          <p:spPr>
            <a:xfrm>
              <a:off x="2509837" y="3305175"/>
              <a:ext cx="314324" cy="209550"/>
            </a:xfrm>
            <a:custGeom>
              <a:avLst/>
              <a:gdLst/>
              <a:ahLst/>
              <a:cxnLst/>
              <a:rect l="l" t="t" r="r" b="b"/>
              <a:pathLst>
                <a:path w="314324" h="209550">
                  <a:moveTo>
                    <a:pt x="157162" y="0"/>
                  </a:moveTo>
                  <a:lnTo>
                    <a:pt x="227012" y="104775"/>
                  </a:lnTo>
                  <a:lnTo>
                    <a:pt x="314324" y="34925"/>
                  </a:lnTo>
                  <a:lnTo>
                    <a:pt x="279399" y="209550"/>
                  </a:lnTo>
                  <a:lnTo>
                    <a:pt x="34925" y="209550"/>
                  </a:lnTo>
                  <a:lnTo>
                    <a:pt x="0" y="34925"/>
                  </a:lnTo>
                  <a:lnTo>
                    <a:pt x="87312" y="104775"/>
                  </a:lnTo>
                  <a:lnTo>
                    <a:pt x="157162" y="0"/>
                  </a:lnTo>
                </a:path>
              </a:pathLst>
            </a:custGeom>
            <a:noFill/>
            <a:ln w="34925">
              <a:solidFill>
                <a:srgbClr val="E9563C"/>
              </a:solidFill>
            </a:ln>
          </p:spPr>
        </p:sp>
        <p:sp>
          <p:nvSpPr>
            <p:cNvPr id="52" name="TextBox 52"/>
            <p:cNvSpPr txBox="1"/>
            <p:nvPr/>
          </p:nvSpPr>
          <p:spPr>
            <a:xfrm>
              <a:off x="2436495" y="3650932"/>
              <a:ext cx="461010" cy="322707"/>
            </a:xfrm>
            <a:prstGeom prst="rect">
              <a:avLst/>
            </a:prstGeom>
            <a:noFill/>
            <a:ln>
              <a:noFill/>
            </a:ln>
          </p:spPr>
          <p:txBody>
            <a:bodyPr wrap="none" lIns="0" tIns="0" rIns="0" bIns="0" anchor="t" anchorCtr="0">
              <a:spAutoFit/>
            </a:bodyPr>
            <a:lstStyle/>
            <a:p>
              <a:pPr algn="ctr"/>
              <a:r>
                <a:rPr lang="zh-CN" sz="1650" b="1" dirty="0">
                  <a:solidFill>
                    <a:srgbClr val="7A3E33"/>
                  </a:solidFill>
                  <a:latin typeface="+mn-lt"/>
                  <a:ea typeface="+mn-ea"/>
                  <a:cs typeface="+mn-cs"/>
                </a:rPr>
                <a:t>公司</a:t>
              </a:r>
            </a:p>
          </p:txBody>
        </p:sp>
        <p:sp>
          <p:nvSpPr>
            <p:cNvPr id="53" name="TextBox 53"/>
            <p:cNvSpPr txBox="1"/>
            <p:nvPr/>
          </p:nvSpPr>
          <p:spPr>
            <a:xfrm>
              <a:off x="1992249" y="3936682"/>
              <a:ext cx="1349502" cy="322707"/>
            </a:xfrm>
            <a:prstGeom prst="rect">
              <a:avLst/>
            </a:prstGeom>
            <a:noFill/>
            <a:ln>
              <a:noFill/>
            </a:ln>
          </p:spPr>
          <p:txBody>
            <a:bodyPr wrap="none" lIns="0" tIns="0" rIns="0" bIns="0" anchor="t" anchorCtr="0">
              <a:spAutoFit/>
            </a:bodyPr>
            <a:lstStyle/>
            <a:p>
              <a:pPr algn="ctr"/>
              <a:r>
                <a:rPr lang="zh-CN" sz="1650" b="1" dirty="0">
                  <a:solidFill>
                    <a:srgbClr val="7A3E33"/>
                  </a:solidFill>
                  <a:latin typeface="+mn-lt"/>
                  <a:ea typeface="+mn-ea"/>
                  <a:cs typeface="+mn-cs"/>
                </a:rPr>
                <a:t>过往业绩展示</a:t>
              </a:r>
            </a:p>
          </p:txBody>
        </p:sp>
        <p:sp>
          <p:nvSpPr>
            <p:cNvPr id="54" name="Ellipse 54"/>
            <p:cNvSpPr/>
            <p:nvPr/>
          </p:nvSpPr>
          <p:spPr>
            <a:xfrm>
              <a:off x="381000" y="4305300"/>
              <a:ext cx="1714500" cy="914400"/>
            </a:xfrm>
            <a:prstGeom prst="ellipse">
              <a:avLst/>
            </a:prstGeom>
            <a:solidFill>
              <a:srgbClr val="F7B9AE"/>
            </a:solidFill>
            <a:ln>
              <a:noFill/>
            </a:ln>
          </p:spPr>
        </p:sp>
        <p:sp>
          <p:nvSpPr>
            <p:cNvPr id="55" name="Ellipse 55"/>
            <p:cNvSpPr/>
            <p:nvPr/>
          </p:nvSpPr>
          <p:spPr>
            <a:xfrm>
              <a:off x="381000" y="4248150"/>
              <a:ext cx="1714500" cy="838200"/>
            </a:xfrm>
            <a:prstGeom prst="ellipse">
              <a:avLst/>
            </a:prstGeom>
            <a:solidFill>
              <a:srgbClr val="FBF0D8"/>
            </a:solidFill>
            <a:ln>
              <a:noFill/>
            </a:ln>
          </p:spPr>
        </p:sp>
        <p:sp>
          <p:nvSpPr>
            <p:cNvPr id="56" name="TextBox 56"/>
            <p:cNvSpPr txBox="1"/>
            <p:nvPr/>
          </p:nvSpPr>
          <p:spPr>
            <a:xfrm>
              <a:off x="743595" y="4470082"/>
              <a:ext cx="989309" cy="322707"/>
            </a:xfrm>
            <a:prstGeom prst="rect">
              <a:avLst/>
            </a:prstGeom>
            <a:noFill/>
            <a:ln>
              <a:noFill/>
            </a:ln>
          </p:spPr>
          <p:txBody>
            <a:bodyPr wrap="none" lIns="0" tIns="0" rIns="0" bIns="0" anchor="t" anchorCtr="0">
              <a:spAutoFit/>
            </a:bodyPr>
            <a:lstStyle/>
            <a:p>
              <a:pPr algn="ctr"/>
              <a:r>
                <a:rPr lang="zh-CN" sz="1650" b="1" dirty="0">
                  <a:solidFill>
                    <a:srgbClr val="8A2210"/>
                  </a:solidFill>
                  <a:latin typeface="+mn-lt"/>
                  <a:ea typeface="+mn-ea"/>
                  <a:cs typeface="+mn-cs"/>
                </a:rPr>
                <a:t>17.1</a:t>
              </a:r>
              <a:r>
                <a:rPr lang="zh-CN" sz="820" b="1" dirty="0">
                  <a:solidFill>
                    <a:srgbClr val="8A2210"/>
                  </a:solidFill>
                  <a:latin typeface="+mn-lt"/>
                  <a:ea typeface="+mn-ea"/>
                  <a:cs typeface="+mn-cs"/>
                </a:rPr>
                <a:t>万亿元</a:t>
              </a:r>
              <a:r>
                <a:rPr lang="zh-CN" sz="1650" b="1" dirty="0">
                  <a:solidFill>
                    <a:srgbClr val="8A2210"/>
                  </a:solidFill>
                  <a:latin typeface="+mn-lt"/>
                  <a:ea typeface="+mn-ea"/>
                  <a:cs typeface="+mn-cs"/>
                </a:rPr>
                <a:t>​</a:t>
              </a:r>
            </a:p>
          </p:txBody>
        </p:sp>
        <p:sp>
          <p:nvSpPr>
            <p:cNvPr id="57" name="TextBox 57"/>
            <p:cNvSpPr txBox="1"/>
            <p:nvPr/>
          </p:nvSpPr>
          <p:spPr>
            <a:xfrm>
              <a:off x="829628" y="4776788"/>
              <a:ext cx="817245" cy="147638"/>
            </a:xfrm>
            <a:prstGeom prst="rect">
              <a:avLst/>
            </a:prstGeom>
            <a:noFill/>
            <a:ln>
              <a:noFill/>
            </a:ln>
          </p:spPr>
          <p:txBody>
            <a:bodyPr wrap="none" lIns="0" tIns="0" rIns="0" bIns="0" anchor="t" anchorCtr="0">
              <a:spAutoFit/>
            </a:bodyPr>
            <a:lstStyle/>
            <a:p>
              <a:pPr algn="ctr"/>
              <a:r>
                <a:rPr lang="zh-CN" sz="750" dirty="0">
                  <a:solidFill>
                    <a:srgbClr val="8A2210"/>
                  </a:solidFill>
                  <a:latin typeface="+mn-lt"/>
                  <a:ea typeface="+mn-ea"/>
                  <a:cs typeface="+mn-cs"/>
                </a:rPr>
                <a:t>全国某某业总产值</a:t>
              </a:r>
            </a:p>
          </p:txBody>
        </p:sp>
        <p:sp>
          <p:nvSpPr>
            <p:cNvPr id="58" name="Ellipse 58"/>
            <p:cNvSpPr/>
            <p:nvPr/>
          </p:nvSpPr>
          <p:spPr>
            <a:xfrm>
              <a:off x="3467100" y="4552950"/>
              <a:ext cx="1447800" cy="838200"/>
            </a:xfrm>
            <a:prstGeom prst="ellipse">
              <a:avLst/>
            </a:prstGeom>
            <a:solidFill>
              <a:srgbClr val="9C594C"/>
            </a:solidFill>
            <a:ln>
              <a:noFill/>
            </a:ln>
          </p:spPr>
        </p:sp>
        <p:sp>
          <p:nvSpPr>
            <p:cNvPr id="59" name="Ellipse 59"/>
            <p:cNvSpPr/>
            <p:nvPr/>
          </p:nvSpPr>
          <p:spPr>
            <a:xfrm>
              <a:off x="3467100" y="4514850"/>
              <a:ext cx="1447800" cy="762000"/>
            </a:xfrm>
            <a:prstGeom prst="ellipse">
              <a:avLst/>
            </a:prstGeom>
            <a:solidFill>
              <a:srgbClr val="B5766A"/>
            </a:solidFill>
            <a:ln>
              <a:noFill/>
            </a:ln>
          </p:spPr>
        </p:sp>
        <p:sp>
          <p:nvSpPr>
            <p:cNvPr id="60" name="TextBox 60"/>
            <p:cNvSpPr txBox="1"/>
            <p:nvPr/>
          </p:nvSpPr>
          <p:spPr>
            <a:xfrm>
              <a:off x="3834053" y="4739164"/>
              <a:ext cx="713893"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1.2</a:t>
              </a:r>
              <a:r>
                <a:rPr lang="zh-CN" sz="750" b="1" dirty="0">
                  <a:solidFill>
                    <a:srgbClr val="FFFFFF"/>
                  </a:solidFill>
                  <a:latin typeface="+mn-lt"/>
                  <a:ea typeface="+mn-ea"/>
                  <a:cs typeface="+mn-cs"/>
                </a:rPr>
                <a:t>万亿元</a:t>
              </a:r>
              <a:r>
                <a:rPr lang="zh-CN" sz="1280" b="1" dirty="0">
                  <a:solidFill>
                    <a:srgbClr val="FFFFFF"/>
                  </a:solidFill>
                  <a:latin typeface="+mn-lt"/>
                  <a:ea typeface="+mn-ea"/>
                  <a:cs typeface="+mn-cs"/>
                </a:rPr>
                <a:t>​</a:t>
              </a:r>
            </a:p>
          </p:txBody>
        </p:sp>
        <p:sp>
          <p:nvSpPr>
            <p:cNvPr id="61" name="TextBox 61"/>
            <p:cNvSpPr txBox="1"/>
            <p:nvPr/>
          </p:nvSpPr>
          <p:spPr>
            <a:xfrm>
              <a:off x="3803917" y="4990386"/>
              <a:ext cx="774167" cy="140494"/>
            </a:xfrm>
            <a:prstGeom prst="rect">
              <a:avLst/>
            </a:prstGeom>
            <a:noFill/>
            <a:ln>
              <a:noFill/>
            </a:ln>
          </p:spPr>
          <p:txBody>
            <a:bodyPr wrap="none" lIns="0" tIns="0" rIns="0" bIns="0" anchor="t" anchorCtr="0">
              <a:spAutoFit/>
            </a:bodyPr>
            <a:lstStyle/>
            <a:p>
              <a:pPr algn="ctr"/>
              <a:r>
                <a:rPr lang="zh-CN" sz="710" dirty="0">
                  <a:solidFill>
                    <a:srgbClr val="F2F7EE"/>
                  </a:solidFill>
                  <a:latin typeface="+mn-lt"/>
                  <a:ea typeface="+mn-ea"/>
                  <a:cs typeface="+mn-cs"/>
                </a:rPr>
                <a:t>全国某某业总产值</a:t>
              </a:r>
            </a:p>
          </p:txBody>
        </p:sp>
      </p:grpSp>
      <p:grpSp>
        <p:nvGrpSpPr>
          <p:cNvPr id="87" name="factors-card"/>
          <p:cNvGrpSpPr/>
          <p:nvPr/>
        </p:nvGrpSpPr>
        <p:grpSpPr>
          <a:xfrm>
            <a:off x="5715000" y="857250"/>
            <a:ext cx="6096000" cy="2209800"/>
            <a:chOff x="5715000" y="857250"/>
            <a:chExt cx="6096000" cy="2209800"/>
          </a:xfrm>
        </p:grpSpPr>
        <p:sp>
          <p:nvSpPr>
            <p:cNvPr id="63" name="Rectangle 63"/>
            <p:cNvSpPr/>
            <p:nvPr/>
          </p:nvSpPr>
          <p:spPr>
            <a:xfrm>
              <a:off x="5715000" y="857250"/>
              <a:ext cx="6096000" cy="323850"/>
            </a:xfrm>
            <a:prstGeom prst="rect">
              <a:avLst/>
            </a:prstGeom>
            <a:solidFill>
              <a:srgbClr val="9C594C"/>
            </a:solidFill>
            <a:ln>
              <a:noFill/>
            </a:ln>
          </p:spPr>
        </p:sp>
        <p:sp>
          <p:nvSpPr>
            <p:cNvPr id="64" name="TextBox 64"/>
            <p:cNvSpPr txBox="1"/>
            <p:nvPr/>
          </p:nvSpPr>
          <p:spPr>
            <a:xfrm>
              <a:off x="7777251" y="954881"/>
              <a:ext cx="1971497"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影响购买的关键性因素（人）</a:t>
              </a:r>
            </a:p>
          </p:txBody>
        </p:sp>
        <p:sp>
          <p:nvSpPr>
            <p:cNvPr id="65" name="Line 65"/>
            <p:cNvSpPr/>
            <p:nvPr/>
          </p:nvSpPr>
          <p:spPr>
            <a:xfrm>
              <a:off x="6667500" y="1333500"/>
              <a:ext cx="9525" cy="1676400"/>
            </a:xfrm>
            <a:custGeom>
              <a:avLst/>
              <a:gdLst/>
              <a:ahLst/>
              <a:cxnLst/>
              <a:rect l="l" t="t" r="r" b="b"/>
              <a:pathLst>
                <a:path w="9525" h="1676400">
                  <a:moveTo>
                    <a:pt x="0" y="0"/>
                  </a:moveTo>
                  <a:lnTo>
                    <a:pt x="0" y="1676400"/>
                  </a:lnTo>
                </a:path>
              </a:pathLst>
            </a:custGeom>
            <a:noFill/>
            <a:ln w="9525">
              <a:solidFill>
                <a:srgbClr val="C9D8BD"/>
              </a:solidFill>
            </a:ln>
          </p:spPr>
        </p:sp>
        <p:sp>
          <p:nvSpPr>
            <p:cNvPr id="66" name="TextBox 66"/>
            <p:cNvSpPr txBox="1"/>
            <p:nvPr/>
          </p:nvSpPr>
          <p:spPr>
            <a:xfrm>
              <a:off x="6161138" y="1458039"/>
              <a:ext cx="434924" cy="154781"/>
            </a:xfrm>
            <a:prstGeom prst="rect">
              <a:avLst/>
            </a:prstGeom>
            <a:noFill/>
            <a:ln>
              <a:noFill/>
            </a:ln>
          </p:spPr>
          <p:txBody>
            <a:bodyPr wrap="none" lIns="0" tIns="0" rIns="0" bIns="0" anchor="t" anchorCtr="0">
              <a:spAutoFit/>
            </a:bodyPr>
            <a:lstStyle/>
            <a:p>
              <a:pPr algn="r"/>
              <a:r>
                <a:rPr lang="zh-CN" sz="790" dirty="0">
                  <a:solidFill>
                    <a:srgbClr val="7A3E33"/>
                  </a:solidFill>
                  <a:latin typeface="+mn-lt"/>
                  <a:ea typeface="+mn-ea"/>
                  <a:cs typeface="+mn-cs"/>
                </a:rPr>
                <a:t>无线投屏</a:t>
              </a:r>
            </a:p>
          </p:txBody>
        </p:sp>
        <p:sp>
          <p:nvSpPr>
            <p:cNvPr id="67" name="Rectangle 67"/>
            <p:cNvSpPr/>
            <p:nvPr/>
          </p:nvSpPr>
          <p:spPr>
            <a:xfrm>
              <a:off x="6724650" y="1447800"/>
              <a:ext cx="4191000" cy="95250"/>
            </a:xfrm>
            <a:prstGeom prst="rect">
              <a:avLst/>
            </a:prstGeom>
            <a:solidFill>
              <a:srgbClr val="9C594C"/>
            </a:solidFill>
            <a:ln>
              <a:noFill/>
            </a:ln>
          </p:spPr>
        </p:sp>
        <p:sp>
          <p:nvSpPr>
            <p:cNvPr id="68" name="TextBox 68"/>
            <p:cNvSpPr txBox="1"/>
            <p:nvPr/>
          </p:nvSpPr>
          <p:spPr>
            <a:xfrm>
              <a:off x="10987088" y="1462088"/>
              <a:ext cx="120586" cy="147638"/>
            </a:xfrm>
            <a:prstGeom prst="rect">
              <a:avLst/>
            </a:prstGeom>
            <a:noFill/>
            <a:ln>
              <a:noFill/>
            </a:ln>
          </p:spPr>
          <p:txBody>
            <a:bodyPr wrap="none" lIns="0" tIns="0" rIns="0" bIns="0" anchor="t" anchorCtr="0">
              <a:spAutoFit/>
            </a:bodyPr>
            <a:lstStyle/>
            <a:p>
              <a:pPr algn="l"/>
              <a:r>
                <a:rPr lang="zh-CN" sz="750" dirty="0">
                  <a:solidFill>
                    <a:srgbClr val="595959"/>
                  </a:solidFill>
                  <a:latin typeface="+mn-lt"/>
                  <a:ea typeface="+mn-ea"/>
                  <a:cs typeface="+mn-cs"/>
                </a:rPr>
                <a:t>99</a:t>
              </a:r>
            </a:p>
          </p:txBody>
        </p:sp>
        <p:sp>
          <p:nvSpPr>
            <p:cNvPr id="69" name="TextBox 69"/>
            <p:cNvSpPr txBox="1"/>
            <p:nvPr/>
          </p:nvSpPr>
          <p:spPr>
            <a:xfrm>
              <a:off x="6267488" y="1724739"/>
              <a:ext cx="328574" cy="154781"/>
            </a:xfrm>
            <a:prstGeom prst="rect">
              <a:avLst/>
            </a:prstGeom>
            <a:noFill/>
            <a:ln>
              <a:noFill/>
            </a:ln>
          </p:spPr>
          <p:txBody>
            <a:bodyPr wrap="none" lIns="0" tIns="0" rIns="0" bIns="0" anchor="t" anchorCtr="0">
              <a:spAutoFit/>
            </a:bodyPr>
            <a:lstStyle/>
            <a:p>
              <a:pPr algn="r"/>
              <a:r>
                <a:rPr lang="zh-CN" sz="790" dirty="0">
                  <a:solidFill>
                    <a:srgbClr val="7A3E33"/>
                  </a:solidFill>
                  <a:latin typeface="+mn-lt"/>
                  <a:ea typeface="+mn-ea"/>
                  <a:cs typeface="+mn-cs"/>
                </a:rPr>
                <a:t>性价比</a:t>
              </a:r>
            </a:p>
          </p:txBody>
        </p:sp>
        <p:sp>
          <p:nvSpPr>
            <p:cNvPr id="70" name="Rectangle 70"/>
            <p:cNvSpPr/>
            <p:nvPr/>
          </p:nvSpPr>
          <p:spPr>
            <a:xfrm>
              <a:off x="6724650" y="1714500"/>
              <a:ext cx="3733800" cy="95250"/>
            </a:xfrm>
            <a:prstGeom prst="rect">
              <a:avLst/>
            </a:prstGeom>
            <a:solidFill>
              <a:srgbClr val="E9563C"/>
            </a:solidFill>
            <a:ln>
              <a:noFill/>
            </a:ln>
          </p:spPr>
        </p:sp>
        <p:sp>
          <p:nvSpPr>
            <p:cNvPr id="71" name="TextBox 71"/>
            <p:cNvSpPr txBox="1"/>
            <p:nvPr/>
          </p:nvSpPr>
          <p:spPr>
            <a:xfrm>
              <a:off x="10529888" y="1728788"/>
              <a:ext cx="120586" cy="147638"/>
            </a:xfrm>
            <a:prstGeom prst="rect">
              <a:avLst/>
            </a:prstGeom>
            <a:noFill/>
            <a:ln>
              <a:noFill/>
            </a:ln>
          </p:spPr>
          <p:txBody>
            <a:bodyPr wrap="none" lIns="0" tIns="0" rIns="0" bIns="0" anchor="t" anchorCtr="0">
              <a:spAutoFit/>
            </a:bodyPr>
            <a:lstStyle/>
            <a:p>
              <a:pPr algn="l"/>
              <a:r>
                <a:rPr lang="zh-CN" sz="750" dirty="0">
                  <a:solidFill>
                    <a:srgbClr val="595959"/>
                  </a:solidFill>
                  <a:latin typeface="+mn-lt"/>
                  <a:ea typeface="+mn-ea"/>
                  <a:cs typeface="+mn-cs"/>
                </a:rPr>
                <a:t>96</a:t>
              </a:r>
            </a:p>
          </p:txBody>
        </p:sp>
        <p:sp>
          <p:nvSpPr>
            <p:cNvPr id="72" name="TextBox 72"/>
            <p:cNvSpPr txBox="1"/>
            <p:nvPr/>
          </p:nvSpPr>
          <p:spPr>
            <a:xfrm>
              <a:off x="6267488" y="1991439"/>
              <a:ext cx="328574" cy="154781"/>
            </a:xfrm>
            <a:prstGeom prst="rect">
              <a:avLst/>
            </a:prstGeom>
            <a:noFill/>
            <a:ln>
              <a:noFill/>
            </a:ln>
          </p:spPr>
          <p:txBody>
            <a:bodyPr wrap="none" lIns="0" tIns="0" rIns="0" bIns="0" anchor="t" anchorCtr="0">
              <a:spAutoFit/>
            </a:bodyPr>
            <a:lstStyle/>
            <a:p>
              <a:pPr algn="r"/>
              <a:r>
                <a:rPr lang="zh-CN" sz="790" dirty="0">
                  <a:solidFill>
                    <a:srgbClr val="7A3E33"/>
                  </a:solidFill>
                  <a:latin typeface="+mn-lt"/>
                  <a:ea typeface="+mn-ea"/>
                  <a:cs typeface="+mn-cs"/>
                </a:rPr>
                <a:t>高亮度</a:t>
              </a:r>
            </a:p>
          </p:txBody>
        </p:sp>
        <p:sp>
          <p:nvSpPr>
            <p:cNvPr id="73" name="Rectangle 73"/>
            <p:cNvSpPr/>
            <p:nvPr/>
          </p:nvSpPr>
          <p:spPr>
            <a:xfrm>
              <a:off x="6724650" y="1981200"/>
              <a:ext cx="3295650" cy="95250"/>
            </a:xfrm>
            <a:prstGeom prst="rect">
              <a:avLst/>
            </a:prstGeom>
            <a:solidFill>
              <a:srgbClr val="E9563C"/>
            </a:solidFill>
            <a:ln>
              <a:noFill/>
            </a:ln>
          </p:spPr>
        </p:sp>
        <p:sp>
          <p:nvSpPr>
            <p:cNvPr id="74" name="TextBox 74"/>
            <p:cNvSpPr txBox="1"/>
            <p:nvPr/>
          </p:nvSpPr>
          <p:spPr>
            <a:xfrm>
              <a:off x="10091738" y="1995488"/>
              <a:ext cx="120586" cy="147638"/>
            </a:xfrm>
            <a:prstGeom prst="rect">
              <a:avLst/>
            </a:prstGeom>
            <a:noFill/>
            <a:ln>
              <a:noFill/>
            </a:ln>
          </p:spPr>
          <p:txBody>
            <a:bodyPr wrap="none" lIns="0" tIns="0" rIns="0" bIns="0" anchor="t" anchorCtr="0">
              <a:spAutoFit/>
            </a:bodyPr>
            <a:lstStyle/>
            <a:p>
              <a:pPr algn="l"/>
              <a:r>
                <a:rPr lang="zh-CN" sz="750" dirty="0">
                  <a:solidFill>
                    <a:srgbClr val="595959"/>
                  </a:solidFill>
                  <a:latin typeface="+mn-lt"/>
                  <a:ea typeface="+mn-ea"/>
                  <a:cs typeface="+mn-cs"/>
                </a:rPr>
                <a:t>78</a:t>
              </a:r>
            </a:p>
          </p:txBody>
        </p:sp>
        <p:sp>
          <p:nvSpPr>
            <p:cNvPr id="75" name="TextBox 75"/>
            <p:cNvSpPr txBox="1"/>
            <p:nvPr/>
          </p:nvSpPr>
          <p:spPr>
            <a:xfrm>
              <a:off x="6161138" y="2258139"/>
              <a:ext cx="434924" cy="154781"/>
            </a:xfrm>
            <a:prstGeom prst="rect">
              <a:avLst/>
            </a:prstGeom>
            <a:noFill/>
            <a:ln>
              <a:noFill/>
            </a:ln>
          </p:spPr>
          <p:txBody>
            <a:bodyPr wrap="none" lIns="0" tIns="0" rIns="0" bIns="0" anchor="t" anchorCtr="0">
              <a:spAutoFit/>
            </a:bodyPr>
            <a:lstStyle/>
            <a:p>
              <a:pPr algn="r"/>
              <a:r>
                <a:rPr lang="zh-CN" sz="790" dirty="0">
                  <a:solidFill>
                    <a:srgbClr val="7A3E33"/>
                  </a:solidFill>
                  <a:latin typeface="+mn-lt"/>
                  <a:ea typeface="+mn-ea"/>
                  <a:cs typeface="+mn-cs"/>
                </a:rPr>
                <a:t>品牌印象</a:t>
              </a:r>
            </a:p>
          </p:txBody>
        </p:sp>
        <p:sp>
          <p:nvSpPr>
            <p:cNvPr id="76" name="Rectangle 76"/>
            <p:cNvSpPr/>
            <p:nvPr/>
          </p:nvSpPr>
          <p:spPr>
            <a:xfrm>
              <a:off x="6724650" y="2247900"/>
              <a:ext cx="2667000" cy="95250"/>
            </a:xfrm>
            <a:prstGeom prst="rect">
              <a:avLst/>
            </a:prstGeom>
            <a:solidFill>
              <a:srgbClr val="E9563C"/>
            </a:solidFill>
            <a:ln>
              <a:noFill/>
            </a:ln>
          </p:spPr>
        </p:sp>
        <p:sp>
          <p:nvSpPr>
            <p:cNvPr id="77" name="TextBox 77"/>
            <p:cNvSpPr txBox="1"/>
            <p:nvPr/>
          </p:nvSpPr>
          <p:spPr>
            <a:xfrm>
              <a:off x="6161138" y="2524839"/>
              <a:ext cx="434924" cy="154781"/>
            </a:xfrm>
            <a:prstGeom prst="rect">
              <a:avLst/>
            </a:prstGeom>
            <a:noFill/>
            <a:ln>
              <a:noFill/>
            </a:ln>
          </p:spPr>
          <p:txBody>
            <a:bodyPr wrap="none" lIns="0" tIns="0" rIns="0" bIns="0" anchor="t" anchorCtr="0">
              <a:spAutoFit/>
            </a:bodyPr>
            <a:lstStyle/>
            <a:p>
              <a:pPr algn="r"/>
              <a:r>
                <a:rPr lang="zh-CN" sz="790" dirty="0">
                  <a:solidFill>
                    <a:srgbClr val="7A3E33"/>
                  </a:solidFill>
                  <a:latin typeface="+mn-lt"/>
                  <a:ea typeface="+mn-ea"/>
                  <a:cs typeface="+mn-cs"/>
                </a:rPr>
                <a:t>价格预算</a:t>
              </a:r>
            </a:p>
          </p:txBody>
        </p:sp>
        <p:sp>
          <p:nvSpPr>
            <p:cNvPr id="78" name="Rectangle 78"/>
            <p:cNvSpPr/>
            <p:nvPr/>
          </p:nvSpPr>
          <p:spPr>
            <a:xfrm>
              <a:off x="6724650" y="2514600"/>
              <a:ext cx="1428750" cy="95250"/>
            </a:xfrm>
            <a:prstGeom prst="rect">
              <a:avLst/>
            </a:prstGeom>
            <a:solidFill>
              <a:srgbClr val="E9563C"/>
            </a:solidFill>
            <a:ln>
              <a:noFill/>
            </a:ln>
          </p:spPr>
        </p:sp>
        <p:sp>
          <p:nvSpPr>
            <p:cNvPr id="79" name="TextBox 79"/>
            <p:cNvSpPr txBox="1"/>
            <p:nvPr/>
          </p:nvSpPr>
          <p:spPr>
            <a:xfrm>
              <a:off x="6161138" y="2791539"/>
              <a:ext cx="434924" cy="154781"/>
            </a:xfrm>
            <a:prstGeom prst="rect">
              <a:avLst/>
            </a:prstGeom>
            <a:noFill/>
            <a:ln>
              <a:noFill/>
            </a:ln>
          </p:spPr>
          <p:txBody>
            <a:bodyPr wrap="none" lIns="0" tIns="0" rIns="0" bIns="0" anchor="t" anchorCtr="0">
              <a:spAutoFit/>
            </a:bodyPr>
            <a:lstStyle/>
            <a:p>
              <a:pPr algn="r"/>
              <a:r>
                <a:rPr lang="zh-CN" sz="790" dirty="0">
                  <a:solidFill>
                    <a:srgbClr val="7A3E33"/>
                  </a:solidFill>
                  <a:latin typeface="+mn-lt"/>
                  <a:ea typeface="+mn-ea"/>
                  <a:cs typeface="+mn-cs"/>
                </a:rPr>
                <a:t>清晰程度</a:t>
              </a:r>
            </a:p>
          </p:txBody>
        </p:sp>
        <p:sp>
          <p:nvSpPr>
            <p:cNvPr id="80" name="Rectangle 80"/>
            <p:cNvSpPr/>
            <p:nvPr/>
          </p:nvSpPr>
          <p:spPr>
            <a:xfrm>
              <a:off x="6724650" y="2781300"/>
              <a:ext cx="742950" cy="95250"/>
            </a:xfrm>
            <a:prstGeom prst="rect">
              <a:avLst/>
            </a:prstGeom>
            <a:solidFill>
              <a:srgbClr val="E9563C"/>
            </a:solidFill>
            <a:ln>
              <a:noFill/>
            </a:ln>
          </p:spPr>
        </p:sp>
        <p:sp>
          <p:nvSpPr>
            <p:cNvPr id="81" name="Rectangle 81"/>
            <p:cNvSpPr/>
            <p:nvPr/>
          </p:nvSpPr>
          <p:spPr>
            <a:xfrm>
              <a:off x="9906000" y="2381250"/>
              <a:ext cx="1524000" cy="685800"/>
            </a:xfrm>
            <a:prstGeom prst="roundRect">
              <a:avLst>
                <a:gd name="adj" fmla="val 13889"/>
              </a:avLst>
            </a:prstGeom>
            <a:solidFill>
              <a:srgbClr val="EEF1EC"/>
            </a:solidFill>
            <a:ln w="9525">
              <a:solidFill>
                <a:srgbClr val="C9D8BD"/>
              </a:solidFill>
            </a:ln>
          </p:spPr>
        </p:sp>
        <p:sp>
          <p:nvSpPr>
            <p:cNvPr id="82" name="Ellipse 82"/>
            <p:cNvSpPr/>
            <p:nvPr/>
          </p:nvSpPr>
          <p:spPr>
            <a:xfrm>
              <a:off x="10953750" y="2533650"/>
              <a:ext cx="381000" cy="381000"/>
            </a:xfrm>
            <a:prstGeom prst="ellipse">
              <a:avLst/>
            </a:prstGeom>
            <a:solidFill>
              <a:srgbClr val="333333"/>
            </a:solidFill>
            <a:ln>
              <a:noFill/>
            </a:ln>
          </p:spPr>
        </p:sp>
        <p:sp>
          <p:nvSpPr>
            <p:cNvPr id="83" name="Ellipse 83"/>
            <p:cNvSpPr/>
            <p:nvPr/>
          </p:nvSpPr>
          <p:spPr>
            <a:xfrm>
              <a:off x="11029950" y="2609850"/>
              <a:ext cx="228600" cy="228600"/>
            </a:xfrm>
            <a:prstGeom prst="ellipse">
              <a:avLst/>
            </a:prstGeom>
            <a:solidFill>
              <a:srgbClr val="705F5B"/>
            </a:solidFill>
            <a:ln>
              <a:noFill/>
            </a:ln>
          </p:spPr>
        </p:sp>
        <p:sp>
          <p:nvSpPr>
            <p:cNvPr id="84" name="Rectangle 84"/>
            <p:cNvSpPr/>
            <p:nvPr/>
          </p:nvSpPr>
          <p:spPr>
            <a:xfrm>
              <a:off x="10058400" y="2533650"/>
              <a:ext cx="666750" cy="57150"/>
            </a:xfrm>
            <a:prstGeom prst="roundRect">
              <a:avLst>
                <a:gd name="adj" fmla="val 50000"/>
              </a:avLst>
            </a:prstGeom>
            <a:solidFill>
              <a:srgbClr val="C9D8BD"/>
            </a:solidFill>
            <a:ln>
              <a:noFill/>
            </a:ln>
          </p:spPr>
        </p:sp>
        <p:sp>
          <p:nvSpPr>
            <p:cNvPr id="85" name="Rectangle 85"/>
            <p:cNvSpPr/>
            <p:nvPr/>
          </p:nvSpPr>
          <p:spPr>
            <a:xfrm>
              <a:off x="10058400" y="2667000"/>
              <a:ext cx="476250" cy="57150"/>
            </a:xfrm>
            <a:prstGeom prst="roundRect">
              <a:avLst>
                <a:gd name="adj" fmla="val 50000"/>
              </a:avLst>
            </a:prstGeom>
            <a:solidFill>
              <a:srgbClr val="C9D8BD"/>
            </a:solidFill>
            <a:ln>
              <a:noFill/>
            </a:ln>
          </p:spPr>
        </p:sp>
        <p:sp>
          <p:nvSpPr>
            <p:cNvPr id="86" name="Line 86"/>
            <p:cNvSpPr/>
            <p:nvPr/>
          </p:nvSpPr>
          <p:spPr>
            <a:xfrm>
              <a:off x="11430000" y="2171700"/>
              <a:ext cx="9525" cy="209550"/>
            </a:xfrm>
            <a:custGeom>
              <a:avLst/>
              <a:gdLst/>
              <a:ahLst/>
              <a:cxnLst/>
              <a:rect l="l" t="t" r="r" b="b"/>
              <a:pathLst>
                <a:path w="9525" h="209550">
                  <a:moveTo>
                    <a:pt x="0" y="209550"/>
                  </a:moveTo>
                  <a:lnTo>
                    <a:pt x="0" y="0"/>
                  </a:lnTo>
                </a:path>
              </a:pathLst>
            </a:custGeom>
            <a:noFill/>
            <a:ln w="19050">
              <a:solidFill>
                <a:srgbClr val="8C8C8C"/>
              </a:solidFill>
            </a:ln>
          </p:spPr>
        </p:sp>
      </p:grpSp>
      <p:grpSp>
        <p:nvGrpSpPr>
          <p:cNvPr id="125" name="reviews-card"/>
          <p:cNvGrpSpPr/>
          <p:nvPr/>
        </p:nvGrpSpPr>
        <p:grpSpPr>
          <a:xfrm>
            <a:off x="5715000" y="3333750"/>
            <a:ext cx="6096000" cy="2190750"/>
            <a:chOff x="5715000" y="3333750"/>
            <a:chExt cx="6096000" cy="2190750"/>
          </a:xfrm>
        </p:grpSpPr>
        <p:sp>
          <p:nvSpPr>
            <p:cNvPr id="88" name="Rectangle 88"/>
            <p:cNvSpPr/>
            <p:nvPr/>
          </p:nvSpPr>
          <p:spPr>
            <a:xfrm>
              <a:off x="5715000" y="3333750"/>
              <a:ext cx="6096000" cy="2190750"/>
            </a:xfrm>
            <a:prstGeom prst="rect">
              <a:avLst/>
            </a:prstGeom>
            <a:solidFill>
              <a:srgbClr val="FFFFFF"/>
            </a:solidFill>
            <a:ln w="11430">
              <a:solidFill>
                <a:srgbClr val="E9563C"/>
              </a:solidFill>
              <a:custDash>
                <a:ds d="416667" sp="250000"/>
              </a:custDash>
            </a:ln>
          </p:spPr>
        </p:sp>
        <p:sp>
          <p:nvSpPr>
            <p:cNvPr id="89" name="Rectangle 89"/>
            <p:cNvSpPr/>
            <p:nvPr/>
          </p:nvSpPr>
          <p:spPr>
            <a:xfrm>
              <a:off x="5715000" y="3333750"/>
              <a:ext cx="6096000" cy="323850"/>
            </a:xfrm>
            <a:prstGeom prst="rect">
              <a:avLst/>
            </a:prstGeom>
            <a:solidFill>
              <a:srgbClr val="E9563C"/>
            </a:solidFill>
            <a:ln>
              <a:noFill/>
            </a:ln>
          </p:spPr>
        </p:sp>
        <p:sp>
          <p:nvSpPr>
            <p:cNvPr id="90" name="TextBox 90"/>
            <p:cNvSpPr txBox="1"/>
            <p:nvPr/>
          </p:nvSpPr>
          <p:spPr>
            <a:xfrm>
              <a:off x="8229575" y="3431381"/>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用户评价高频词</a:t>
              </a:r>
            </a:p>
          </p:txBody>
        </p:sp>
        <p:sp>
          <p:nvSpPr>
            <p:cNvPr id="91" name="TextBox 91"/>
            <p:cNvSpPr txBox="1"/>
            <p:nvPr/>
          </p:nvSpPr>
          <p:spPr>
            <a:xfrm>
              <a:off x="5900738" y="3866436"/>
              <a:ext cx="2195877" cy="140494"/>
            </a:xfrm>
            <a:prstGeom prst="rect">
              <a:avLst/>
            </a:prstGeom>
            <a:noFill/>
            <a:ln>
              <a:noFill/>
            </a:ln>
          </p:spPr>
          <p:txBody>
            <a:bodyPr wrap="none" lIns="0" tIns="0" rIns="0" bIns="0" anchor="t" anchorCtr="0">
              <a:spAutoFit/>
            </a:bodyPr>
            <a:lstStyle/>
            <a:p>
              <a:pPr algn="l"/>
              <a:r>
                <a:rPr lang="zh-CN" sz="710" dirty="0">
                  <a:solidFill>
                    <a:srgbClr val="D6391E"/>
                  </a:solidFill>
                  <a:latin typeface="+mn-lt"/>
                  <a:ea typeface="+mn-ea"/>
                  <a:cs typeface="+mn-cs"/>
                </a:rPr>
                <a:t>在完善经典医疗电商模式：在线问诊+B2C的基础上​</a:t>
              </a:r>
            </a:p>
          </p:txBody>
        </p:sp>
        <p:sp>
          <p:nvSpPr>
            <p:cNvPr id="92" name="Line 92"/>
            <p:cNvSpPr/>
            <p:nvPr/>
          </p:nvSpPr>
          <p:spPr>
            <a:xfrm>
              <a:off x="9810750" y="3905250"/>
              <a:ext cx="571500" cy="228600"/>
            </a:xfrm>
            <a:prstGeom prst="line">
              <a:avLst/>
            </a:prstGeom>
            <a:noFill/>
            <a:ln w="9525">
              <a:solidFill>
                <a:srgbClr val="E9563C"/>
              </a:solidFill>
              <a:custDash>
                <a:ds d="300000" sp="200000"/>
              </a:custDash>
              <a:tailEnd type="triangle" w="lg" len="lg"/>
            </a:ln>
          </p:spPr>
        </p:sp>
        <p:sp>
          <p:nvSpPr>
            <p:cNvPr id="93" name="TextBox 93"/>
            <p:cNvSpPr txBox="1"/>
            <p:nvPr/>
          </p:nvSpPr>
          <p:spPr>
            <a:xfrm>
              <a:off x="5900738" y="4171236"/>
              <a:ext cx="2207870" cy="140494"/>
            </a:xfrm>
            <a:prstGeom prst="rect">
              <a:avLst/>
            </a:prstGeom>
            <a:noFill/>
            <a:ln>
              <a:noFill/>
            </a:ln>
          </p:spPr>
          <p:txBody>
            <a:bodyPr wrap="none" lIns="0" tIns="0" rIns="0" bIns="0" anchor="t" anchorCtr="0">
              <a:spAutoFit/>
            </a:bodyPr>
            <a:lstStyle/>
            <a:p>
              <a:pPr algn="l"/>
              <a:r>
                <a:rPr lang="zh-CN" sz="710" dirty="0">
                  <a:solidFill>
                    <a:srgbClr val="D6391E"/>
                  </a:solidFill>
                  <a:latin typeface="+mn-lt"/>
                  <a:ea typeface="+mn-ea"/>
                  <a:cs typeface="+mn-cs"/>
                </a:rPr>
                <a:t>尝试弥补线上代替线下过程中的体验缺失和其他方向</a:t>
              </a:r>
            </a:p>
          </p:txBody>
        </p:sp>
        <p:sp>
          <p:nvSpPr>
            <p:cNvPr id="94" name="Line 94"/>
            <p:cNvSpPr/>
            <p:nvPr/>
          </p:nvSpPr>
          <p:spPr>
            <a:xfrm>
              <a:off x="9810750" y="4210050"/>
              <a:ext cx="476250" cy="152400"/>
            </a:xfrm>
            <a:prstGeom prst="line">
              <a:avLst/>
            </a:prstGeom>
            <a:noFill/>
            <a:ln w="9525">
              <a:solidFill>
                <a:srgbClr val="E9563C"/>
              </a:solidFill>
              <a:custDash>
                <a:ds d="300000" sp="200000"/>
              </a:custDash>
              <a:tailEnd type="triangle" w="lg" len="lg"/>
            </a:ln>
          </p:spPr>
        </p:sp>
        <p:sp>
          <p:nvSpPr>
            <p:cNvPr id="95" name="Rectangle 95"/>
            <p:cNvSpPr/>
            <p:nvPr/>
          </p:nvSpPr>
          <p:spPr>
            <a:xfrm>
              <a:off x="5905500" y="4438650"/>
              <a:ext cx="990600" cy="419100"/>
            </a:xfrm>
            <a:prstGeom prst="rect">
              <a:avLst/>
            </a:prstGeom>
            <a:solidFill>
              <a:srgbClr val="FFFFFF"/>
            </a:solidFill>
            <a:ln w="9525">
              <a:solidFill>
                <a:srgbClr val="E9563C"/>
              </a:solidFill>
              <a:custDash>
                <a:ds d="300000" sp="200000"/>
              </a:custDash>
            </a:ln>
          </p:spPr>
        </p:sp>
        <p:sp>
          <p:nvSpPr>
            <p:cNvPr id="96" name="TextBox 96"/>
            <p:cNvSpPr txBox="1"/>
            <p:nvPr/>
          </p:nvSpPr>
          <p:spPr>
            <a:xfrm>
              <a:off x="5976747" y="4523899"/>
              <a:ext cx="774209" cy="190690"/>
            </a:xfrm>
            <a:prstGeom prst="rect">
              <a:avLst/>
            </a:prstGeom>
            <a:noFill/>
            <a:ln>
              <a:noFill/>
            </a:ln>
          </p:spPr>
          <p:txBody>
            <a:bodyPr wrap="none" lIns="0" tIns="0" rIns="0" bIns="0" anchor="t" anchorCtr="0">
              <a:spAutoFit/>
            </a:bodyPr>
            <a:lstStyle/>
            <a:p>
              <a:pPr algn="l"/>
              <a:r>
                <a:rPr lang="zh-CN" sz="980" b="1" dirty="0">
                  <a:solidFill>
                    <a:srgbClr val="333333"/>
                  </a:solidFill>
                  <a:latin typeface="+mn-lt"/>
                  <a:ea typeface="+mn-ea"/>
                  <a:cs typeface="+mn-cs"/>
                </a:rPr>
                <a:t>1320 +W人​</a:t>
              </a:r>
            </a:p>
          </p:txBody>
        </p:sp>
        <p:sp>
          <p:nvSpPr>
            <p:cNvPr id="97" name="TextBox 97"/>
            <p:cNvSpPr txBox="1"/>
            <p:nvPr/>
          </p:nvSpPr>
          <p:spPr>
            <a:xfrm>
              <a:off x="5976938" y="4711303"/>
              <a:ext cx="461848" cy="111919"/>
            </a:xfrm>
            <a:prstGeom prst="rect">
              <a:avLst/>
            </a:prstGeom>
            <a:noFill/>
            <a:ln>
              <a:noFill/>
            </a:ln>
          </p:spPr>
          <p:txBody>
            <a:bodyPr wrap="none" lIns="0" tIns="0" rIns="0" bIns="0" anchor="t" anchorCtr="0">
              <a:spAutoFit/>
            </a:bodyPr>
            <a:lstStyle/>
            <a:p>
              <a:pPr algn="l"/>
              <a:r>
                <a:rPr lang="zh-CN" sz="560" dirty="0">
                  <a:solidFill>
                    <a:srgbClr val="8C8C8C"/>
                  </a:solidFill>
                  <a:latin typeface="+mn-lt"/>
                  <a:ea typeface="+mn-ea"/>
                  <a:cs typeface="+mn-cs"/>
                </a:rPr>
                <a:t>资讯指数概览</a:t>
              </a:r>
            </a:p>
          </p:txBody>
        </p:sp>
        <p:grpSp>
          <p:nvGrpSpPr>
            <p:cNvPr id="100" name="Group 100"/>
            <p:cNvGrpSpPr/>
            <p:nvPr/>
          </p:nvGrpSpPr>
          <p:grpSpPr>
            <a:xfrm>
              <a:off x="6688931" y="4564856"/>
              <a:ext cx="128588" cy="71438"/>
              <a:chOff x="6688931" y="4564856"/>
              <a:chExt cx="128588" cy="71438"/>
            </a:xfrm>
          </p:grpSpPr>
          <p:sp>
            <p:nvSpPr>
              <p:cNvPr id="98" name="Freeform 98"/>
              <p:cNvSpPr/>
              <p:nvPr/>
            </p:nvSpPr>
            <p:spPr>
              <a:xfrm>
                <a:off x="6688931" y="45648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9C594C"/>
                </a:solidFill>
              </a:ln>
            </p:spPr>
          </p:sp>
          <p:sp>
            <p:nvSpPr>
              <p:cNvPr id="99" name="Freeform 99"/>
              <p:cNvSpPr/>
              <p:nvPr/>
            </p:nvSpPr>
            <p:spPr>
              <a:xfrm>
                <a:off x="6767512" y="4564856"/>
                <a:ext cx="50006" cy="50006"/>
              </a:xfrm>
              <a:custGeom>
                <a:avLst/>
                <a:gdLst/>
                <a:ahLst/>
                <a:cxnLst/>
                <a:rect l="l" t="t" r="r" b="b"/>
                <a:pathLst>
                  <a:path w="50006" h="50006">
                    <a:moveTo>
                      <a:pt x="0" y="0"/>
                    </a:moveTo>
                    <a:lnTo>
                      <a:pt x="50006" y="0"/>
                    </a:lnTo>
                    <a:lnTo>
                      <a:pt x="50006" y="50006"/>
                    </a:lnTo>
                  </a:path>
                </a:pathLst>
              </a:custGeom>
              <a:noFill/>
              <a:ln w="14288">
                <a:solidFill>
                  <a:srgbClr val="9C594C"/>
                </a:solidFill>
              </a:ln>
            </p:spPr>
          </p:sp>
        </p:grpSp>
        <p:sp>
          <p:nvSpPr>
            <p:cNvPr id="101" name="Rectangle 101"/>
            <p:cNvSpPr/>
            <p:nvPr/>
          </p:nvSpPr>
          <p:spPr>
            <a:xfrm>
              <a:off x="5905500" y="4933950"/>
              <a:ext cx="990600" cy="419100"/>
            </a:xfrm>
            <a:prstGeom prst="rect">
              <a:avLst/>
            </a:prstGeom>
            <a:solidFill>
              <a:srgbClr val="FFFFFF"/>
            </a:solidFill>
            <a:ln w="9525">
              <a:solidFill>
                <a:srgbClr val="E9563C"/>
              </a:solidFill>
              <a:custDash>
                <a:ds d="300000" sp="200000"/>
              </a:custDash>
            </a:ln>
          </p:spPr>
        </p:sp>
        <p:sp>
          <p:nvSpPr>
            <p:cNvPr id="102" name="TextBox 102"/>
            <p:cNvSpPr txBox="1"/>
            <p:nvPr/>
          </p:nvSpPr>
          <p:spPr>
            <a:xfrm>
              <a:off x="5976747" y="5019199"/>
              <a:ext cx="640520" cy="190690"/>
            </a:xfrm>
            <a:prstGeom prst="rect">
              <a:avLst/>
            </a:prstGeom>
            <a:noFill/>
            <a:ln>
              <a:noFill/>
            </a:ln>
          </p:spPr>
          <p:txBody>
            <a:bodyPr wrap="none" lIns="0" tIns="0" rIns="0" bIns="0" anchor="t" anchorCtr="0">
              <a:spAutoFit/>
            </a:bodyPr>
            <a:lstStyle/>
            <a:p>
              <a:pPr algn="l"/>
              <a:r>
                <a:rPr lang="zh-CN" sz="980" b="1" dirty="0">
                  <a:solidFill>
                    <a:srgbClr val="333333"/>
                  </a:solidFill>
                  <a:latin typeface="+mn-lt"/>
                  <a:ea typeface="+mn-ea"/>
                  <a:cs typeface="+mn-cs"/>
                </a:rPr>
                <a:t>2671 +人​</a:t>
              </a:r>
            </a:p>
          </p:txBody>
        </p:sp>
        <p:sp>
          <p:nvSpPr>
            <p:cNvPr id="103" name="TextBox 103"/>
            <p:cNvSpPr txBox="1"/>
            <p:nvPr/>
          </p:nvSpPr>
          <p:spPr>
            <a:xfrm>
              <a:off x="5976938" y="5206603"/>
              <a:ext cx="461848" cy="111919"/>
            </a:xfrm>
            <a:prstGeom prst="rect">
              <a:avLst/>
            </a:prstGeom>
            <a:noFill/>
            <a:ln>
              <a:noFill/>
            </a:ln>
          </p:spPr>
          <p:txBody>
            <a:bodyPr wrap="none" lIns="0" tIns="0" rIns="0" bIns="0" anchor="t" anchorCtr="0">
              <a:spAutoFit/>
            </a:bodyPr>
            <a:lstStyle/>
            <a:p>
              <a:pPr algn="l"/>
              <a:r>
                <a:rPr lang="zh-CN" sz="560" dirty="0">
                  <a:solidFill>
                    <a:srgbClr val="8C8C8C"/>
                  </a:solidFill>
                  <a:latin typeface="+mn-lt"/>
                  <a:ea typeface="+mn-ea"/>
                  <a:cs typeface="+mn-cs"/>
                </a:rPr>
                <a:t>搜索指数概览</a:t>
              </a:r>
            </a:p>
          </p:txBody>
        </p:sp>
        <p:grpSp>
          <p:nvGrpSpPr>
            <p:cNvPr id="106" name="Group 106"/>
            <p:cNvGrpSpPr/>
            <p:nvPr/>
          </p:nvGrpSpPr>
          <p:grpSpPr>
            <a:xfrm>
              <a:off x="6688931" y="5060156"/>
              <a:ext cx="128588" cy="71438"/>
              <a:chOff x="6688931" y="5060156"/>
              <a:chExt cx="128588" cy="71438"/>
            </a:xfrm>
          </p:grpSpPr>
          <p:sp>
            <p:nvSpPr>
              <p:cNvPr id="104" name="Freeform 104"/>
              <p:cNvSpPr/>
              <p:nvPr/>
            </p:nvSpPr>
            <p:spPr>
              <a:xfrm>
                <a:off x="6688931" y="506015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9C594C"/>
                </a:solidFill>
              </a:ln>
            </p:spPr>
          </p:sp>
          <p:sp>
            <p:nvSpPr>
              <p:cNvPr id="105" name="Freeform 105"/>
              <p:cNvSpPr/>
              <p:nvPr/>
            </p:nvSpPr>
            <p:spPr>
              <a:xfrm>
                <a:off x="6767512" y="5060156"/>
                <a:ext cx="50006" cy="50006"/>
              </a:xfrm>
              <a:custGeom>
                <a:avLst/>
                <a:gdLst/>
                <a:ahLst/>
                <a:cxnLst/>
                <a:rect l="l" t="t" r="r" b="b"/>
                <a:pathLst>
                  <a:path w="50006" h="50006">
                    <a:moveTo>
                      <a:pt x="0" y="0"/>
                    </a:moveTo>
                    <a:lnTo>
                      <a:pt x="50006" y="0"/>
                    </a:lnTo>
                    <a:lnTo>
                      <a:pt x="50006" y="50006"/>
                    </a:lnTo>
                  </a:path>
                </a:pathLst>
              </a:custGeom>
              <a:noFill/>
              <a:ln w="14288">
                <a:solidFill>
                  <a:srgbClr val="9C594C"/>
                </a:solidFill>
              </a:ln>
            </p:spPr>
          </p:sp>
        </p:grpSp>
        <p:sp>
          <p:nvSpPr>
            <p:cNvPr id="107" name="TextBox 107"/>
            <p:cNvSpPr txBox="1"/>
            <p:nvPr/>
          </p:nvSpPr>
          <p:spPr>
            <a:xfrm>
              <a:off x="7091362" y="4510088"/>
              <a:ext cx="471692" cy="147638"/>
            </a:xfrm>
            <a:prstGeom prst="rect">
              <a:avLst/>
            </a:prstGeom>
            <a:noFill/>
            <a:ln>
              <a:noFill/>
            </a:ln>
          </p:spPr>
          <p:txBody>
            <a:bodyPr wrap="none" lIns="0" tIns="0" rIns="0" bIns="0" anchor="t" anchorCtr="0">
              <a:spAutoFit/>
            </a:bodyPr>
            <a:lstStyle/>
            <a:p>
              <a:pPr algn="l"/>
              <a:r>
                <a:rPr lang="zh-CN" sz="750" b="1" dirty="0">
                  <a:solidFill>
                    <a:srgbClr val="333333"/>
                  </a:solidFill>
                  <a:latin typeface="+mn-lt"/>
                  <a:ea typeface="+mn-ea"/>
                  <a:cs typeface="+mn-cs"/>
                </a:rPr>
                <a:t>主要内容:</a:t>
              </a:r>
            </a:p>
          </p:txBody>
        </p:sp>
        <p:sp>
          <p:nvSpPr>
            <p:cNvPr id="108" name="TextBox 108"/>
            <p:cNvSpPr txBox="1"/>
            <p:nvPr/>
          </p:nvSpPr>
          <p:spPr>
            <a:xfrm>
              <a:off x="7091362" y="4689634"/>
              <a:ext cx="1684909"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95959"/>
                  </a:solidFill>
                  <a:latin typeface="+mn-lt"/>
                  <a:ea typeface="+mn-ea"/>
                  <a:cs typeface="+mn-cs"/>
                </a:rPr>
                <a:t>› 截止 2月底上门拜访 6 家合作客户，线上​</a:t>
              </a:r>
              <a:br/>
              <a:r>
                <a:rPr lang="zh-CN" sz="680" dirty="0">
                  <a:solidFill>
                    <a:srgbClr val="595959"/>
                  </a:solidFill>
                  <a:latin typeface="+mn-lt"/>
                  <a:ea typeface="+mn-ea"/>
                  <a:cs typeface="+mn-cs"/>
                </a:rPr>
                <a:t>用户访谈进行 60 次​</a:t>
              </a:r>
            </a:p>
          </p:txBody>
        </p:sp>
        <p:sp>
          <p:nvSpPr>
            <p:cNvPr id="109" name="TextBox 109"/>
            <p:cNvSpPr txBox="1"/>
            <p:nvPr/>
          </p:nvSpPr>
          <p:spPr>
            <a:xfrm>
              <a:off x="7091362" y="4994434"/>
              <a:ext cx="1659001"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95959"/>
                  </a:solidFill>
                  <a:latin typeface="+mn-lt"/>
                  <a:ea typeface="+mn-ea"/>
                  <a:cs typeface="+mn-cs"/>
                </a:rPr>
                <a:t>› 截止 3月中旬为产品中 Top 5% 的用户建​</a:t>
              </a:r>
              <a:br/>
              <a:r>
                <a:rPr lang="zh-CN" sz="680" dirty="0">
                  <a:solidFill>
                    <a:srgbClr val="595959"/>
                  </a:solidFill>
                  <a:latin typeface="+mn-lt"/>
                  <a:ea typeface="+mn-ea"/>
                  <a:cs typeface="+mn-cs"/>
                </a:rPr>
                <a:t>立用户模型</a:t>
              </a:r>
            </a:p>
          </p:txBody>
        </p:sp>
        <p:sp>
          <p:nvSpPr>
            <p:cNvPr id="110" name="Freeform 110"/>
            <p:cNvSpPr/>
            <p:nvPr/>
          </p:nvSpPr>
          <p:spPr>
            <a:xfrm>
              <a:off x="9477375" y="4457700"/>
              <a:ext cx="133350" cy="914400"/>
            </a:xfrm>
            <a:prstGeom prst="leftBrace">
              <a:avLst/>
            </a:prstGeom>
            <a:noFill/>
            <a:ln w="14288">
              <a:solidFill>
                <a:srgbClr val="E9563C"/>
              </a:solidFill>
            </a:ln>
          </p:spPr>
        </p:sp>
        <p:sp>
          <p:nvSpPr>
            <p:cNvPr id="111" name="Ellipse 111"/>
            <p:cNvSpPr/>
            <p:nvPr/>
          </p:nvSpPr>
          <p:spPr>
            <a:xfrm>
              <a:off x="9867900" y="5010150"/>
              <a:ext cx="1600200" cy="419100"/>
            </a:xfrm>
            <a:prstGeom prst="ellipse">
              <a:avLst/>
            </a:prstGeom>
            <a:solidFill>
              <a:srgbClr val="D6391E"/>
            </a:solidFill>
            <a:ln>
              <a:noFill/>
            </a:ln>
          </p:spPr>
        </p:sp>
        <p:sp>
          <p:nvSpPr>
            <p:cNvPr id="112" name="Ellipse 112"/>
            <p:cNvSpPr/>
            <p:nvPr/>
          </p:nvSpPr>
          <p:spPr>
            <a:xfrm>
              <a:off x="9867900" y="4953000"/>
              <a:ext cx="1600200" cy="381000"/>
            </a:xfrm>
            <a:prstGeom prst="ellipse">
              <a:avLst/>
            </a:prstGeom>
            <a:solidFill>
              <a:srgbClr val="E9563C"/>
            </a:solidFill>
            <a:ln>
              <a:noFill/>
            </a:ln>
          </p:spPr>
        </p:sp>
        <p:sp>
          <p:nvSpPr>
            <p:cNvPr id="113" name="Ellipse 113"/>
            <p:cNvSpPr/>
            <p:nvPr/>
          </p:nvSpPr>
          <p:spPr>
            <a:xfrm>
              <a:off x="10096500" y="5019675"/>
              <a:ext cx="1143000" cy="247650"/>
            </a:xfrm>
            <a:prstGeom prst="ellipse">
              <a:avLst/>
            </a:prstGeom>
            <a:solidFill>
              <a:srgbClr val="F7B9AE"/>
            </a:solidFill>
            <a:ln>
              <a:noFill/>
            </a:ln>
          </p:spPr>
        </p:sp>
        <p:sp>
          <p:nvSpPr>
            <p:cNvPr id="114" name="Ellipse 114"/>
            <p:cNvSpPr/>
            <p:nvPr/>
          </p:nvSpPr>
          <p:spPr>
            <a:xfrm>
              <a:off x="10039350" y="4743450"/>
              <a:ext cx="1257300" cy="342900"/>
            </a:xfrm>
            <a:prstGeom prst="ellipse">
              <a:avLst/>
            </a:prstGeom>
            <a:solidFill>
              <a:srgbClr val="E0604A"/>
            </a:solidFill>
            <a:ln>
              <a:noFill/>
            </a:ln>
          </p:spPr>
        </p:sp>
        <p:sp>
          <p:nvSpPr>
            <p:cNvPr id="115" name="Ellipse 115"/>
            <p:cNvSpPr/>
            <p:nvPr/>
          </p:nvSpPr>
          <p:spPr>
            <a:xfrm>
              <a:off x="10039350" y="4705350"/>
              <a:ext cx="1257300" cy="304800"/>
            </a:xfrm>
            <a:prstGeom prst="ellipse">
              <a:avLst/>
            </a:prstGeom>
            <a:solidFill>
              <a:srgbClr val="F09180"/>
            </a:solidFill>
            <a:ln>
              <a:noFill/>
            </a:ln>
          </p:spPr>
        </p:sp>
        <p:sp>
          <p:nvSpPr>
            <p:cNvPr id="116" name="Ellipse 116"/>
            <p:cNvSpPr/>
            <p:nvPr/>
          </p:nvSpPr>
          <p:spPr>
            <a:xfrm>
              <a:off x="10229850" y="4762500"/>
              <a:ext cx="876300" cy="190500"/>
            </a:xfrm>
            <a:prstGeom prst="ellipse">
              <a:avLst/>
            </a:prstGeom>
            <a:solidFill>
              <a:srgbClr val="FBF0D8"/>
            </a:solidFill>
            <a:ln>
              <a:noFill/>
            </a:ln>
          </p:spPr>
        </p:sp>
        <p:sp>
          <p:nvSpPr>
            <p:cNvPr id="117" name="Ellipse 117"/>
            <p:cNvSpPr/>
            <p:nvPr/>
          </p:nvSpPr>
          <p:spPr>
            <a:xfrm>
              <a:off x="10191750" y="4514850"/>
              <a:ext cx="952500" cy="266700"/>
            </a:xfrm>
            <a:prstGeom prst="ellipse">
              <a:avLst/>
            </a:prstGeom>
            <a:solidFill>
              <a:srgbClr val="9C594C"/>
            </a:solidFill>
            <a:ln>
              <a:noFill/>
            </a:ln>
          </p:spPr>
        </p:sp>
        <p:sp>
          <p:nvSpPr>
            <p:cNvPr id="118" name="Ellipse 118"/>
            <p:cNvSpPr/>
            <p:nvPr/>
          </p:nvSpPr>
          <p:spPr>
            <a:xfrm>
              <a:off x="10191750" y="4467225"/>
              <a:ext cx="952500" cy="247650"/>
            </a:xfrm>
            <a:prstGeom prst="ellipse">
              <a:avLst/>
            </a:prstGeom>
            <a:solidFill>
              <a:srgbClr val="B5766A"/>
            </a:solidFill>
            <a:ln>
              <a:noFill/>
            </a:ln>
          </p:spPr>
        </p:sp>
        <p:sp>
          <p:nvSpPr>
            <p:cNvPr id="119" name="Ellipse 119"/>
            <p:cNvSpPr/>
            <p:nvPr/>
          </p:nvSpPr>
          <p:spPr>
            <a:xfrm>
              <a:off x="10344150" y="4514850"/>
              <a:ext cx="647700" cy="152400"/>
            </a:xfrm>
            <a:prstGeom prst="ellipse">
              <a:avLst/>
            </a:prstGeom>
            <a:solidFill>
              <a:srgbClr val="DFF0D2"/>
            </a:solidFill>
            <a:ln>
              <a:noFill/>
            </a:ln>
          </p:spPr>
        </p:sp>
        <p:sp>
          <p:nvSpPr>
            <p:cNvPr id="120" name="Ellipse 120"/>
            <p:cNvSpPr/>
            <p:nvPr/>
          </p:nvSpPr>
          <p:spPr>
            <a:xfrm>
              <a:off x="10325100" y="4295775"/>
              <a:ext cx="685800" cy="209550"/>
            </a:xfrm>
            <a:prstGeom prst="ellipse">
              <a:avLst/>
            </a:prstGeom>
            <a:solidFill>
              <a:srgbClr val="BF857A"/>
            </a:solidFill>
            <a:ln>
              <a:noFill/>
            </a:ln>
          </p:spPr>
        </p:sp>
        <p:sp>
          <p:nvSpPr>
            <p:cNvPr id="121" name="Ellipse 121"/>
            <p:cNvSpPr/>
            <p:nvPr/>
          </p:nvSpPr>
          <p:spPr>
            <a:xfrm>
              <a:off x="10325100" y="4267200"/>
              <a:ext cx="685800" cy="190500"/>
            </a:xfrm>
            <a:prstGeom prst="ellipse">
              <a:avLst/>
            </a:prstGeom>
            <a:solidFill>
              <a:srgbClr val="CD9F96"/>
            </a:solidFill>
            <a:ln>
              <a:noFill/>
            </a:ln>
          </p:spPr>
        </p:sp>
        <p:sp>
          <p:nvSpPr>
            <p:cNvPr id="122" name="Ellipse 122"/>
            <p:cNvSpPr/>
            <p:nvPr/>
          </p:nvSpPr>
          <p:spPr>
            <a:xfrm>
              <a:off x="10439400" y="4305300"/>
              <a:ext cx="457200" cy="114300"/>
            </a:xfrm>
            <a:prstGeom prst="ellipse">
              <a:avLst/>
            </a:prstGeom>
            <a:solidFill>
              <a:srgbClr val="EEF5E8"/>
            </a:solidFill>
            <a:ln>
              <a:noFill/>
            </a:ln>
          </p:spPr>
        </p:sp>
        <p:sp>
          <p:nvSpPr>
            <p:cNvPr id="123" name="Ellipse 123"/>
            <p:cNvSpPr/>
            <p:nvPr/>
          </p:nvSpPr>
          <p:spPr>
            <a:xfrm>
              <a:off x="10439400" y="4114800"/>
              <a:ext cx="457200" cy="152400"/>
            </a:xfrm>
            <a:prstGeom prst="ellipse">
              <a:avLst/>
            </a:prstGeom>
            <a:solidFill>
              <a:srgbClr val="8C4B3F"/>
            </a:solidFill>
            <a:ln>
              <a:noFill/>
            </a:ln>
          </p:spPr>
        </p:sp>
        <p:sp>
          <p:nvSpPr>
            <p:cNvPr id="124" name="Ellipse 124"/>
            <p:cNvSpPr/>
            <p:nvPr/>
          </p:nvSpPr>
          <p:spPr>
            <a:xfrm>
              <a:off x="10439400" y="4086225"/>
              <a:ext cx="457200" cy="133350"/>
            </a:xfrm>
            <a:prstGeom prst="ellipse">
              <a:avLst/>
            </a:prstGeom>
            <a:solidFill>
              <a:srgbClr val="9C594C"/>
            </a:solidFill>
            <a:ln>
              <a:noFill/>
            </a:ln>
          </p:spPr>
        </p:sp>
      </p:grpSp>
      <p:grpSp>
        <p:nvGrpSpPr>
          <p:cNvPr id="128" name="page-footer"/>
          <p:cNvGrpSpPr/>
          <p:nvPr/>
        </p:nvGrpSpPr>
        <p:grpSpPr>
          <a:xfrm>
            <a:off x="376238" y="6689884"/>
            <a:ext cx="11439524" cy="133350"/>
            <a:chOff x="376238" y="6689884"/>
            <a:chExt cx="11439524" cy="133350"/>
          </a:xfrm>
        </p:grpSpPr>
        <p:sp>
          <p:nvSpPr>
            <p:cNvPr id="126" name="TextBox 126"/>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27" name="TextBox 127"/>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17</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20" name="left-outline"/>
          <p:cNvGrpSpPr/>
          <p:nvPr/>
        </p:nvGrpSpPr>
        <p:grpSpPr>
          <a:xfrm>
            <a:off x="381000" y="914400"/>
            <a:ext cx="1219200" cy="4914900"/>
            <a:chOff x="381000" y="914400"/>
            <a:chExt cx="1219200" cy="4914900"/>
          </a:xfrm>
        </p:grpSpPr>
        <p:sp>
          <p:nvSpPr>
            <p:cNvPr id="8" name="Freeform 8"/>
            <p:cNvSpPr/>
            <p:nvPr/>
          </p:nvSpPr>
          <p:spPr>
            <a:xfrm>
              <a:off x="381000" y="914400"/>
              <a:ext cx="133350" cy="4914900"/>
            </a:xfrm>
            <a:prstGeom prst="downArrow">
              <a:avLst/>
            </a:prstGeom>
            <a:solidFill>
              <a:srgbClr val="9C594C"/>
            </a:solidFill>
            <a:ln>
              <a:noFill/>
            </a:ln>
          </p:spPr>
        </p:sp>
        <p:sp>
          <p:nvSpPr>
            <p:cNvPr id="9" name="TextBox 9"/>
            <p:cNvSpPr txBox="1"/>
            <p:nvPr/>
          </p:nvSpPr>
          <p:spPr>
            <a:xfrm>
              <a:off x="661416" y="1334452"/>
              <a:ext cx="293370" cy="205359"/>
            </a:xfrm>
            <a:prstGeom prst="rect">
              <a:avLst/>
            </a:prstGeom>
            <a:noFill/>
            <a:ln>
              <a:noFill/>
            </a:ln>
          </p:spPr>
          <p:txBody>
            <a:bodyPr wrap="none" lIns="0" tIns="0" rIns="0" bIns="0" anchor="t" anchorCtr="0">
              <a:spAutoFit/>
            </a:bodyPr>
            <a:lstStyle/>
            <a:p>
              <a:pPr algn="l"/>
              <a:r>
                <a:rPr lang="zh-CN" sz="1050" b="1" dirty="0">
                  <a:solidFill>
                    <a:srgbClr val="7A3E33"/>
                  </a:solidFill>
                  <a:latin typeface="+mn-lt"/>
                  <a:ea typeface="+mn-ea"/>
                  <a:cs typeface="+mn-cs"/>
                </a:rPr>
                <a:t>组织</a:t>
              </a:r>
            </a:p>
          </p:txBody>
        </p:sp>
        <p:sp>
          <p:nvSpPr>
            <p:cNvPr id="10" name="Line 10"/>
            <p:cNvSpPr/>
            <p:nvPr/>
          </p:nvSpPr>
          <p:spPr>
            <a:xfrm>
              <a:off x="666750" y="1504950"/>
              <a:ext cx="381000" cy="9525"/>
            </a:xfrm>
            <a:custGeom>
              <a:avLst/>
              <a:gdLst/>
              <a:ahLst/>
              <a:cxnLst/>
              <a:rect l="l" t="t" r="r" b="b"/>
              <a:pathLst>
                <a:path w="381000" h="9525">
                  <a:moveTo>
                    <a:pt x="0" y="0"/>
                  </a:moveTo>
                  <a:lnTo>
                    <a:pt x="381000" y="0"/>
                  </a:lnTo>
                </a:path>
              </a:pathLst>
            </a:custGeom>
            <a:noFill/>
            <a:ln w="14288">
              <a:solidFill>
                <a:srgbClr val="9C594C"/>
              </a:solidFill>
            </a:ln>
          </p:spPr>
        </p:sp>
        <p:sp>
          <p:nvSpPr>
            <p:cNvPr id="11" name="TextBox 11"/>
            <p:cNvSpPr txBox="1"/>
            <p:nvPr/>
          </p:nvSpPr>
          <p:spPr>
            <a:xfrm>
              <a:off x="661988" y="1599486"/>
              <a:ext cx="753428" cy="807244"/>
            </a:xfrm>
            <a:prstGeom prst="rect">
              <a:avLst/>
            </a:prstGeom>
            <a:noFill/>
            <a:ln>
              <a:noFill/>
            </a:ln>
          </p:spPr>
          <p:txBody>
            <a:bodyPr wrap="none" lIns="0" tIns="0" rIns="0" bIns="0" anchor="t" anchorCtr="0">
              <a:spAutoFit/>
            </a:bodyPr>
            <a:lstStyle/>
            <a:p>
              <a:pPr algn="l" marL="76644" indent="-76644">
                <a:lnSpc>
                  <a:spcPts val="1050"/>
                </a:lnSpc>
                <a:buClr>
                  <a:srgbClr val="333333"/>
                </a:buClr>
                <a:buSzTx/>
                <a:buFontTx/>
                <a:buChar char="•"/>
              </a:pPr>
              <a:r>
                <a:rPr lang="zh-CN" sz="710" dirty="0">
                  <a:solidFill>
                    <a:srgbClr val="333333"/>
                  </a:solidFill>
                  <a:latin typeface="+mn-lt"/>
                  <a:ea typeface="+mn-ea"/>
                  <a:cs typeface="+mn-cs"/>
                </a:rPr>
                <a:t>战略方向</a:t>
              </a:r>
            </a:p>
            <a:p>
              <a:pPr algn="l" marL="76644" indent="-76644">
                <a:lnSpc>
                  <a:spcPts val="1050"/>
                </a:lnSpc>
                <a:buClr>
                  <a:srgbClr val="333333"/>
                </a:buClr>
                <a:buSzTx/>
                <a:buFontTx/>
                <a:buChar char="•"/>
              </a:pPr>
              <a:r>
                <a:rPr lang="zh-CN" sz="710" dirty="0">
                  <a:solidFill>
                    <a:srgbClr val="333333"/>
                  </a:solidFill>
                  <a:latin typeface="+mn-lt"/>
                  <a:ea typeface="+mn-ea"/>
                  <a:cs typeface="+mn-cs"/>
                </a:rPr>
                <a:t>管理支持</a:t>
              </a:r>
            </a:p>
            <a:p>
              <a:pPr algn="l" marL="76644" indent="-76644">
                <a:lnSpc>
                  <a:spcPts val="1050"/>
                </a:lnSpc>
                <a:buClr>
                  <a:srgbClr val="333333"/>
                </a:buClr>
                <a:buSzTx/>
                <a:buFontTx/>
                <a:buChar char="•"/>
              </a:pPr>
              <a:r>
                <a:rPr lang="zh-CN" sz="710" dirty="0">
                  <a:solidFill>
                    <a:srgbClr val="333333"/>
                  </a:solidFill>
                  <a:latin typeface="+mn-lt"/>
                  <a:ea typeface="+mn-ea"/>
                  <a:cs typeface="+mn-cs"/>
                </a:rPr>
                <a:t>价值主张</a:t>
              </a:r>
            </a:p>
            <a:p>
              <a:pPr algn="l" marL="76644" indent="-76644">
                <a:lnSpc>
                  <a:spcPts val="1050"/>
                </a:lnSpc>
                <a:buClr>
                  <a:srgbClr val="333333"/>
                </a:buClr>
                <a:buSzTx/>
                <a:buFontTx/>
                <a:buChar char="•"/>
              </a:pPr>
              <a:r>
                <a:rPr lang="zh-CN" sz="710" dirty="0">
                  <a:solidFill>
                    <a:srgbClr val="333333"/>
                  </a:solidFill>
                  <a:latin typeface="+mn-lt"/>
                  <a:ea typeface="+mn-ea"/>
                  <a:cs typeface="+mn-cs"/>
                </a:rPr>
                <a:t>技术架构</a:t>
              </a:r>
            </a:p>
            <a:p>
              <a:pPr algn="l" marL="76644" indent="-76644">
                <a:lnSpc>
                  <a:spcPts val="1050"/>
                </a:lnSpc>
                <a:buClr>
                  <a:srgbClr val="333333"/>
                </a:buClr>
                <a:buSzTx/>
                <a:buFontTx/>
                <a:buChar char="•"/>
              </a:pPr>
              <a:r>
                <a:rPr lang="zh-CN" sz="710" dirty="0">
                  <a:solidFill>
                    <a:srgbClr val="333333"/>
                  </a:solidFill>
                  <a:latin typeface="+mn-lt"/>
                  <a:ea typeface="+mn-ea"/>
                  <a:cs typeface="+mn-cs"/>
                </a:rPr>
                <a:t>基础设施建</a:t>
              </a:r>
            </a:p>
            <a:p>
              <a:pPr algn="l" marL="76644" indent="-76644">
                <a:lnSpc>
                  <a:spcPts val="1050"/>
                </a:lnSpc>
                <a:buClr>
                  <a:srgbClr val="333333"/>
                </a:buClr>
                <a:buSzTx/>
                <a:buFontTx/>
                <a:buChar char="•"/>
              </a:pPr>
              <a:r>
                <a:rPr lang="zh-CN" sz="710" dirty="0">
                  <a:solidFill>
                    <a:srgbClr val="333333"/>
                  </a:solidFill>
                  <a:latin typeface="+mn-lt"/>
                  <a:ea typeface="+mn-ea"/>
                  <a:cs typeface="+mn-cs"/>
                </a:rPr>
                <a:t>管理经营IT业务​</a:t>
              </a:r>
            </a:p>
          </p:txBody>
        </p:sp>
        <p:sp>
          <p:nvSpPr>
            <p:cNvPr id="12" name="Line 12"/>
            <p:cNvSpPr/>
            <p:nvPr/>
          </p:nvSpPr>
          <p:spPr>
            <a:xfrm>
              <a:off x="1238250" y="1524000"/>
              <a:ext cx="361950" cy="9525"/>
            </a:xfrm>
            <a:custGeom>
              <a:avLst/>
              <a:gdLst/>
              <a:ahLst/>
              <a:cxnLst/>
              <a:rect l="l" t="t" r="r" b="b"/>
              <a:pathLst>
                <a:path w="361950" h="9525">
                  <a:moveTo>
                    <a:pt x="0" y="0"/>
                  </a:moveTo>
                  <a:lnTo>
                    <a:pt x="361950" y="0"/>
                  </a:lnTo>
                </a:path>
              </a:pathLst>
            </a:custGeom>
            <a:noFill/>
            <a:ln w="9525">
              <a:solidFill>
                <a:srgbClr val="BF857A"/>
              </a:solidFill>
              <a:custDash>
                <a:ds d="300000" sp="200000"/>
              </a:custDash>
            </a:ln>
          </p:spPr>
        </p:sp>
        <p:sp>
          <p:nvSpPr>
            <p:cNvPr id="13" name="TextBox 13"/>
            <p:cNvSpPr txBox="1"/>
            <p:nvPr/>
          </p:nvSpPr>
          <p:spPr>
            <a:xfrm>
              <a:off x="661416" y="3048952"/>
              <a:ext cx="293370" cy="205359"/>
            </a:xfrm>
            <a:prstGeom prst="rect">
              <a:avLst/>
            </a:prstGeom>
            <a:noFill/>
            <a:ln>
              <a:noFill/>
            </a:ln>
          </p:spPr>
          <p:txBody>
            <a:bodyPr wrap="none" lIns="0" tIns="0" rIns="0" bIns="0" anchor="t" anchorCtr="0">
              <a:spAutoFit/>
            </a:bodyPr>
            <a:lstStyle/>
            <a:p>
              <a:pPr algn="l"/>
              <a:r>
                <a:rPr lang="zh-CN" sz="1050" b="1" dirty="0">
                  <a:solidFill>
                    <a:srgbClr val="7A3E33"/>
                  </a:solidFill>
                  <a:latin typeface="+mn-lt"/>
                  <a:ea typeface="+mn-ea"/>
                  <a:cs typeface="+mn-cs"/>
                </a:rPr>
                <a:t>训练</a:t>
              </a:r>
            </a:p>
          </p:txBody>
        </p:sp>
        <p:sp>
          <p:nvSpPr>
            <p:cNvPr id="14" name="Line 14"/>
            <p:cNvSpPr/>
            <p:nvPr/>
          </p:nvSpPr>
          <p:spPr>
            <a:xfrm>
              <a:off x="666750" y="3219450"/>
              <a:ext cx="381000" cy="9525"/>
            </a:xfrm>
            <a:custGeom>
              <a:avLst/>
              <a:gdLst/>
              <a:ahLst/>
              <a:cxnLst/>
              <a:rect l="l" t="t" r="r" b="b"/>
              <a:pathLst>
                <a:path w="381000" h="9525">
                  <a:moveTo>
                    <a:pt x="0" y="0"/>
                  </a:moveTo>
                  <a:lnTo>
                    <a:pt x="381000" y="0"/>
                  </a:lnTo>
                </a:path>
              </a:pathLst>
            </a:custGeom>
            <a:noFill/>
            <a:ln w="14288">
              <a:solidFill>
                <a:srgbClr val="9C594C"/>
              </a:solidFill>
            </a:ln>
          </p:spPr>
        </p:sp>
        <p:sp>
          <p:nvSpPr>
            <p:cNvPr id="15" name="TextBox 15"/>
            <p:cNvSpPr txBox="1"/>
            <p:nvPr/>
          </p:nvSpPr>
          <p:spPr>
            <a:xfrm>
              <a:off x="661988" y="3313986"/>
              <a:ext cx="537020" cy="673894"/>
            </a:xfrm>
            <a:prstGeom prst="rect">
              <a:avLst/>
            </a:prstGeom>
            <a:noFill/>
            <a:ln>
              <a:noFill/>
            </a:ln>
          </p:spPr>
          <p:txBody>
            <a:bodyPr wrap="none" lIns="0" tIns="0" rIns="0" bIns="0" anchor="t" anchorCtr="0">
              <a:spAutoFit/>
            </a:bodyPr>
            <a:lstStyle/>
            <a:p>
              <a:pPr algn="l" marL="76644" indent="-76644">
                <a:lnSpc>
                  <a:spcPts val="1050"/>
                </a:lnSpc>
                <a:buClr>
                  <a:srgbClr val="333333"/>
                </a:buClr>
                <a:buSzTx/>
                <a:buFontTx/>
                <a:buChar char="•"/>
              </a:pPr>
              <a:r>
                <a:rPr lang="zh-CN" sz="710" dirty="0">
                  <a:solidFill>
                    <a:srgbClr val="333333"/>
                  </a:solidFill>
                  <a:latin typeface="+mn-lt"/>
                  <a:ea typeface="+mn-ea"/>
                  <a:cs typeface="+mn-cs"/>
                </a:rPr>
                <a:t>治理</a:t>
              </a:r>
            </a:p>
            <a:p>
              <a:pPr algn="l" marL="76644" indent="-76644">
                <a:lnSpc>
                  <a:spcPts val="1050"/>
                </a:lnSpc>
                <a:buClr>
                  <a:srgbClr val="333333"/>
                </a:buClr>
                <a:buSzTx/>
                <a:buFontTx/>
                <a:buChar char="•"/>
              </a:pPr>
              <a:r>
                <a:rPr lang="zh-CN" sz="710" dirty="0">
                  <a:solidFill>
                    <a:srgbClr val="333333"/>
                  </a:solidFill>
                  <a:latin typeface="+mn-lt"/>
                  <a:ea typeface="+mn-ea"/>
                  <a:cs typeface="+mn-cs"/>
                </a:rPr>
                <a:t>组织架构</a:t>
              </a:r>
            </a:p>
            <a:p>
              <a:pPr algn="l" marL="76644" indent="-76644">
                <a:lnSpc>
                  <a:spcPts val="1050"/>
                </a:lnSpc>
                <a:buClr>
                  <a:srgbClr val="333333"/>
                </a:buClr>
                <a:buSzTx/>
                <a:buFontTx/>
                <a:buChar char="•"/>
              </a:pPr>
              <a:r>
                <a:rPr lang="zh-CN" sz="710" dirty="0">
                  <a:solidFill>
                    <a:srgbClr val="333333"/>
                  </a:solidFill>
                  <a:latin typeface="+mn-lt"/>
                  <a:ea typeface="+mn-ea"/>
                  <a:cs typeface="+mn-cs"/>
                </a:rPr>
                <a:t>角色</a:t>
              </a:r>
            </a:p>
            <a:p>
              <a:pPr algn="l" marL="76644" indent="-76644">
                <a:lnSpc>
                  <a:spcPts val="1050"/>
                </a:lnSpc>
                <a:buClr>
                  <a:srgbClr val="333333"/>
                </a:buClr>
                <a:buSzTx/>
                <a:buFontTx/>
                <a:buChar char="•"/>
              </a:pPr>
              <a:r>
                <a:rPr lang="zh-CN" sz="710" dirty="0">
                  <a:solidFill>
                    <a:srgbClr val="333333"/>
                  </a:solidFill>
                  <a:latin typeface="+mn-lt"/>
                  <a:ea typeface="+mn-ea"/>
                  <a:cs typeface="+mn-cs"/>
                </a:rPr>
                <a:t>职责和变更</a:t>
              </a:r>
            </a:p>
            <a:p>
              <a:pPr algn="l" marL="76644" indent="-76644">
                <a:lnSpc>
                  <a:spcPts val="1050"/>
                </a:lnSpc>
                <a:buClr>
                  <a:srgbClr val="333333"/>
                </a:buClr>
                <a:buSzTx/>
                <a:buFontTx/>
                <a:buChar char="•"/>
              </a:pPr>
              <a:r>
                <a:rPr lang="zh-CN" sz="710" dirty="0">
                  <a:solidFill>
                    <a:srgbClr val="333333"/>
                  </a:solidFill>
                  <a:latin typeface="+mn-lt"/>
                  <a:ea typeface="+mn-ea"/>
                  <a:cs typeface="+mn-cs"/>
                </a:rPr>
                <a:t>管理支持</a:t>
              </a:r>
            </a:p>
          </p:txBody>
        </p:sp>
        <p:sp>
          <p:nvSpPr>
            <p:cNvPr id="16" name="TextBox 16"/>
            <p:cNvSpPr txBox="1"/>
            <p:nvPr/>
          </p:nvSpPr>
          <p:spPr>
            <a:xfrm>
              <a:off x="661416" y="4668202"/>
              <a:ext cx="293370" cy="205359"/>
            </a:xfrm>
            <a:prstGeom prst="rect">
              <a:avLst/>
            </a:prstGeom>
            <a:noFill/>
            <a:ln>
              <a:noFill/>
            </a:ln>
          </p:spPr>
          <p:txBody>
            <a:bodyPr wrap="none" lIns="0" tIns="0" rIns="0" bIns="0" anchor="t" anchorCtr="0">
              <a:spAutoFit/>
            </a:bodyPr>
            <a:lstStyle/>
            <a:p>
              <a:pPr algn="l"/>
              <a:r>
                <a:rPr lang="zh-CN" sz="1050" b="1" dirty="0">
                  <a:solidFill>
                    <a:srgbClr val="7A3E33"/>
                  </a:solidFill>
                  <a:latin typeface="+mn-lt"/>
                  <a:ea typeface="+mn-ea"/>
                  <a:cs typeface="+mn-cs"/>
                </a:rPr>
                <a:t>流程</a:t>
              </a:r>
            </a:p>
          </p:txBody>
        </p:sp>
        <p:sp>
          <p:nvSpPr>
            <p:cNvPr id="17" name="Line 17"/>
            <p:cNvSpPr/>
            <p:nvPr/>
          </p:nvSpPr>
          <p:spPr>
            <a:xfrm>
              <a:off x="666750" y="4838700"/>
              <a:ext cx="381000" cy="9525"/>
            </a:xfrm>
            <a:custGeom>
              <a:avLst/>
              <a:gdLst/>
              <a:ahLst/>
              <a:cxnLst/>
              <a:rect l="l" t="t" r="r" b="b"/>
              <a:pathLst>
                <a:path w="381000" h="9525">
                  <a:moveTo>
                    <a:pt x="0" y="0"/>
                  </a:moveTo>
                  <a:lnTo>
                    <a:pt x="381000" y="0"/>
                  </a:lnTo>
                </a:path>
              </a:pathLst>
            </a:custGeom>
            <a:noFill/>
            <a:ln w="14288">
              <a:solidFill>
                <a:srgbClr val="9C594C"/>
              </a:solidFill>
            </a:ln>
          </p:spPr>
        </p:sp>
        <p:sp>
          <p:nvSpPr>
            <p:cNvPr id="18" name="TextBox 18"/>
            <p:cNvSpPr txBox="1"/>
            <p:nvPr/>
          </p:nvSpPr>
          <p:spPr>
            <a:xfrm>
              <a:off x="661988" y="4933236"/>
              <a:ext cx="627190" cy="407194"/>
            </a:xfrm>
            <a:prstGeom prst="rect">
              <a:avLst/>
            </a:prstGeom>
            <a:noFill/>
            <a:ln>
              <a:noFill/>
            </a:ln>
          </p:spPr>
          <p:txBody>
            <a:bodyPr wrap="none" lIns="0" tIns="0" rIns="0" bIns="0" anchor="t" anchorCtr="0">
              <a:spAutoFit/>
            </a:bodyPr>
            <a:lstStyle/>
            <a:p>
              <a:pPr algn="l" marL="76644" indent="-76644">
                <a:lnSpc>
                  <a:spcPts val="1050"/>
                </a:lnSpc>
                <a:buClr>
                  <a:srgbClr val="333333"/>
                </a:buClr>
                <a:buSzTx/>
                <a:buFontTx/>
                <a:buChar char="•"/>
              </a:pPr>
              <a:r>
                <a:rPr lang="zh-CN" sz="710" dirty="0">
                  <a:solidFill>
                    <a:srgbClr val="333333"/>
                  </a:solidFill>
                  <a:latin typeface="+mn-lt"/>
                  <a:ea typeface="+mn-ea"/>
                  <a:cs typeface="+mn-cs"/>
                </a:rPr>
                <a:t>流程创建维护</a:t>
              </a:r>
            </a:p>
            <a:p>
              <a:pPr algn="l" marL="76644" indent="-76644">
                <a:lnSpc>
                  <a:spcPts val="1050"/>
                </a:lnSpc>
                <a:buClr>
                  <a:srgbClr val="333333"/>
                </a:buClr>
                <a:buSzTx/>
                <a:buFontTx/>
                <a:buChar char="•"/>
              </a:pPr>
              <a:r>
                <a:rPr lang="zh-CN" sz="710" dirty="0">
                  <a:solidFill>
                    <a:srgbClr val="333333"/>
                  </a:solidFill>
                  <a:latin typeface="+mn-lt"/>
                  <a:ea typeface="+mn-ea"/>
                  <a:cs typeface="+mn-cs"/>
                </a:rPr>
                <a:t>通信，测量和</a:t>
              </a:r>
              <a:br/>
              <a:r>
                <a:rPr lang="zh-CN" sz="710" dirty="0">
                  <a:solidFill>
                    <a:srgbClr val="333333"/>
                  </a:solidFill>
                  <a:latin typeface="+mn-lt"/>
                  <a:ea typeface="+mn-ea"/>
                  <a:cs typeface="+mn-cs"/>
                </a:rPr>
                <a:t>交付</a:t>
              </a:r>
            </a:p>
          </p:txBody>
        </p:sp>
        <p:sp>
          <p:nvSpPr>
            <p:cNvPr id="19" name="Line 19"/>
            <p:cNvSpPr/>
            <p:nvPr/>
          </p:nvSpPr>
          <p:spPr>
            <a:xfrm>
              <a:off x="1238250" y="5124450"/>
              <a:ext cx="361950" cy="9525"/>
            </a:xfrm>
            <a:custGeom>
              <a:avLst/>
              <a:gdLst/>
              <a:ahLst/>
              <a:cxnLst/>
              <a:rect l="l" t="t" r="r" b="b"/>
              <a:pathLst>
                <a:path w="361950" h="9525">
                  <a:moveTo>
                    <a:pt x="0" y="0"/>
                  </a:moveTo>
                  <a:lnTo>
                    <a:pt x="361950" y="0"/>
                  </a:lnTo>
                </a:path>
              </a:pathLst>
            </a:custGeom>
            <a:noFill/>
            <a:ln w="9525">
              <a:solidFill>
                <a:srgbClr val="BF857A"/>
              </a:solidFill>
              <a:custDash>
                <a:ds d="300000" sp="200000"/>
              </a:custDash>
            </a:ln>
          </p:spPr>
        </p:sp>
      </p:grpSp>
      <p:grpSp>
        <p:nvGrpSpPr>
          <p:cNvPr id="60" name="center-card"/>
          <p:cNvGrpSpPr/>
          <p:nvPr/>
        </p:nvGrpSpPr>
        <p:grpSpPr>
          <a:xfrm>
            <a:off x="1619250" y="914400"/>
            <a:ext cx="5048250" cy="4762500"/>
            <a:chOff x="1619250" y="914400"/>
            <a:chExt cx="5048250" cy="4762500"/>
          </a:xfrm>
        </p:grpSpPr>
        <p:sp>
          <p:nvSpPr>
            <p:cNvPr id="21" name="Rectangle 21"/>
            <p:cNvSpPr/>
            <p:nvPr/>
          </p:nvSpPr>
          <p:spPr>
            <a:xfrm>
              <a:off x="1619250" y="914400"/>
              <a:ext cx="5048250" cy="4762500"/>
            </a:xfrm>
            <a:prstGeom prst="rect">
              <a:avLst/>
            </a:prstGeom>
            <a:solidFill>
              <a:srgbClr val="FFFFFF"/>
            </a:solidFill>
            <a:ln w="11430">
              <a:solidFill>
                <a:srgbClr val="BF857A"/>
              </a:solidFill>
              <a:custDash>
                <a:ds d="500000" sp="333333"/>
              </a:custDash>
            </a:ln>
          </p:spPr>
        </p:sp>
        <p:sp>
          <p:nvSpPr>
            <p:cNvPr id="22" name="Rectangle 22"/>
            <p:cNvSpPr/>
            <p:nvPr/>
          </p:nvSpPr>
          <p:spPr>
            <a:xfrm>
              <a:off x="1619250" y="914400"/>
              <a:ext cx="5048250" cy="323850"/>
            </a:xfrm>
            <a:prstGeom prst="rect">
              <a:avLst/>
            </a:prstGeom>
            <a:solidFill>
              <a:srgbClr val="9C594C"/>
            </a:solidFill>
            <a:ln>
              <a:noFill/>
            </a:ln>
          </p:spPr>
        </p:sp>
        <p:sp>
          <p:nvSpPr>
            <p:cNvPr id="23" name="TextBox 23"/>
            <p:cNvSpPr txBox="1"/>
            <p:nvPr/>
          </p:nvSpPr>
          <p:spPr>
            <a:xfrm>
              <a:off x="3474413" y="1012031"/>
              <a:ext cx="13379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5G发展和数字发展​</a:t>
              </a:r>
            </a:p>
          </p:txBody>
        </p:sp>
        <p:sp>
          <p:nvSpPr>
            <p:cNvPr id="24" name="Rectangle 24"/>
            <p:cNvSpPr/>
            <p:nvPr/>
          </p:nvSpPr>
          <p:spPr>
            <a:xfrm>
              <a:off x="1676400" y="1409700"/>
              <a:ext cx="1123950" cy="190500"/>
            </a:xfrm>
            <a:prstGeom prst="rect">
              <a:avLst/>
            </a:prstGeom>
            <a:solidFill>
              <a:srgbClr val="CD9F96"/>
            </a:solidFill>
            <a:ln>
              <a:noFill/>
            </a:ln>
          </p:spPr>
        </p:sp>
        <p:sp>
          <p:nvSpPr>
            <p:cNvPr id="25" name="TextBox 25"/>
            <p:cNvSpPr txBox="1"/>
            <p:nvPr/>
          </p:nvSpPr>
          <p:spPr>
            <a:xfrm>
              <a:off x="1842272" y="1470184"/>
              <a:ext cx="792206"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服务/技术基础设施</a:t>
              </a:r>
            </a:p>
          </p:txBody>
        </p:sp>
        <p:sp>
          <p:nvSpPr>
            <p:cNvPr id="26" name="Rectangle 26"/>
            <p:cNvSpPr/>
            <p:nvPr/>
          </p:nvSpPr>
          <p:spPr>
            <a:xfrm>
              <a:off x="1905000" y="5029200"/>
              <a:ext cx="1047750" cy="190500"/>
            </a:xfrm>
            <a:prstGeom prst="rect">
              <a:avLst/>
            </a:prstGeom>
            <a:solidFill>
              <a:srgbClr val="CD9F96"/>
            </a:solidFill>
            <a:ln>
              <a:noFill/>
            </a:ln>
          </p:spPr>
        </p:sp>
        <p:sp>
          <p:nvSpPr>
            <p:cNvPr id="27" name="TextBox 27"/>
            <p:cNvSpPr txBox="1"/>
            <p:nvPr/>
          </p:nvSpPr>
          <p:spPr>
            <a:xfrm>
              <a:off x="2103717" y="5089684"/>
              <a:ext cx="650316"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物联网检测异常</a:t>
              </a:r>
            </a:p>
          </p:txBody>
        </p:sp>
        <p:sp>
          <p:nvSpPr>
            <p:cNvPr id="28" name="Ellipse 28"/>
            <p:cNvSpPr/>
            <p:nvPr/>
          </p:nvSpPr>
          <p:spPr>
            <a:xfrm>
              <a:off x="2714625" y="2047875"/>
              <a:ext cx="2857500" cy="2857500"/>
            </a:xfrm>
            <a:prstGeom prst="ellipse">
              <a:avLst/>
            </a:prstGeom>
            <a:noFill/>
            <a:ln w="247650">
              <a:solidFill>
                <a:srgbClr val="DFF0D2"/>
              </a:solidFill>
            </a:ln>
          </p:spPr>
        </p:sp>
        <p:sp>
          <p:nvSpPr>
            <p:cNvPr id="29" name="Ellipse 29"/>
            <p:cNvSpPr/>
            <p:nvPr/>
          </p:nvSpPr>
          <p:spPr>
            <a:xfrm>
              <a:off x="3238500" y="2571750"/>
              <a:ext cx="1809750" cy="1809750"/>
            </a:xfrm>
            <a:prstGeom prst="ellipse">
              <a:avLst/>
            </a:prstGeom>
            <a:noFill/>
            <a:ln w="342900">
              <a:solidFill>
                <a:srgbClr val="EEF5E8"/>
              </a:solidFill>
            </a:ln>
          </p:spPr>
        </p:sp>
        <p:sp>
          <p:nvSpPr>
            <p:cNvPr id="30" name="Freeform 30"/>
            <p:cNvSpPr/>
            <p:nvPr/>
          </p:nvSpPr>
          <p:spPr>
            <a:xfrm>
              <a:off x="4857750" y="2238375"/>
              <a:ext cx="695325" cy="990600"/>
            </a:xfrm>
            <a:custGeom>
              <a:avLst/>
              <a:gdLst/>
              <a:ahLst/>
              <a:cxnLst/>
              <a:rect l="l" t="t" r="r" b="b"/>
              <a:pathLst>
                <a:path w="695325" h="990600">
                  <a:moveTo>
                    <a:pt x="0" y="0"/>
                  </a:moveTo>
                  <a:cubicBezTo>
                    <a:pt x="367089" y="210878"/>
                    <a:pt x="621757" y="573693"/>
                    <a:pt x="695325" y="990600"/>
                  </a:cubicBezTo>
                </a:path>
              </a:pathLst>
            </a:custGeom>
            <a:noFill/>
            <a:ln w="11430">
              <a:solidFill>
                <a:srgbClr val="7A8A76"/>
              </a:solidFill>
              <a:tailEnd type="triangle" w="lg" len="lg"/>
            </a:ln>
          </p:spPr>
        </p:sp>
        <p:sp>
          <p:nvSpPr>
            <p:cNvPr id="31" name="Freeform 31"/>
            <p:cNvSpPr/>
            <p:nvPr/>
          </p:nvSpPr>
          <p:spPr>
            <a:xfrm>
              <a:off x="4391025" y="4191000"/>
              <a:ext cx="990600" cy="695325"/>
            </a:xfrm>
            <a:custGeom>
              <a:avLst/>
              <a:gdLst/>
              <a:ahLst/>
              <a:cxnLst/>
              <a:rect l="l" t="t" r="r" b="b"/>
              <a:pathLst>
                <a:path w="990600" h="695325">
                  <a:moveTo>
                    <a:pt x="990600" y="0"/>
                  </a:moveTo>
                  <a:cubicBezTo>
                    <a:pt x="779722" y="367089"/>
                    <a:pt x="416907" y="621757"/>
                    <a:pt x="0" y="695325"/>
                  </a:cubicBezTo>
                </a:path>
              </a:pathLst>
            </a:custGeom>
            <a:noFill/>
            <a:ln w="11430">
              <a:solidFill>
                <a:srgbClr val="7A8A76"/>
              </a:solidFill>
              <a:tailEnd type="triangle" w="lg" len="lg"/>
            </a:ln>
          </p:spPr>
        </p:sp>
        <p:sp>
          <p:nvSpPr>
            <p:cNvPr id="32" name="Freeform 32"/>
            <p:cNvSpPr/>
            <p:nvPr/>
          </p:nvSpPr>
          <p:spPr>
            <a:xfrm>
              <a:off x="2733675" y="3724275"/>
              <a:ext cx="695325" cy="990600"/>
            </a:xfrm>
            <a:custGeom>
              <a:avLst/>
              <a:gdLst/>
              <a:ahLst/>
              <a:cxnLst/>
              <a:rect l="l" t="t" r="r" b="b"/>
              <a:pathLst>
                <a:path w="695325" h="990600">
                  <a:moveTo>
                    <a:pt x="695325" y="990600"/>
                  </a:moveTo>
                  <a:cubicBezTo>
                    <a:pt x="328236" y="779722"/>
                    <a:pt x="73568" y="416907"/>
                    <a:pt x="0" y="0"/>
                  </a:cubicBezTo>
                </a:path>
              </a:pathLst>
            </a:custGeom>
            <a:noFill/>
            <a:ln w="11430">
              <a:solidFill>
                <a:srgbClr val="7A8A76"/>
              </a:solidFill>
              <a:tailEnd type="triangle" w="lg" len="lg"/>
            </a:ln>
          </p:spPr>
        </p:sp>
        <p:sp>
          <p:nvSpPr>
            <p:cNvPr id="33" name="Freeform 33"/>
            <p:cNvSpPr/>
            <p:nvPr/>
          </p:nvSpPr>
          <p:spPr>
            <a:xfrm>
              <a:off x="2905125" y="2066925"/>
              <a:ext cx="990600" cy="695325"/>
            </a:xfrm>
            <a:custGeom>
              <a:avLst/>
              <a:gdLst/>
              <a:ahLst/>
              <a:cxnLst/>
              <a:rect l="l" t="t" r="r" b="b"/>
              <a:pathLst>
                <a:path w="990600" h="695325">
                  <a:moveTo>
                    <a:pt x="0" y="695325"/>
                  </a:moveTo>
                  <a:cubicBezTo>
                    <a:pt x="210878" y="328236"/>
                    <a:pt x="573693" y="73568"/>
                    <a:pt x="990600" y="0"/>
                  </a:cubicBezTo>
                </a:path>
              </a:pathLst>
            </a:custGeom>
            <a:noFill/>
            <a:ln w="11430">
              <a:solidFill>
                <a:srgbClr val="7A8A76"/>
              </a:solidFill>
              <a:tailEnd type="triangle" w="lg" len="lg"/>
            </a:ln>
          </p:spPr>
        </p:sp>
        <p:sp>
          <p:nvSpPr>
            <p:cNvPr id="34" name="TextBox 34"/>
            <p:cNvSpPr txBox="1"/>
            <p:nvPr/>
          </p:nvSpPr>
          <p:spPr>
            <a:xfrm rot="-2700000">
              <a:off x="3022946" y="2416680"/>
              <a:ext cx="211455" cy="147638"/>
            </a:xfrm>
            <a:prstGeom prst="rect">
              <a:avLst/>
            </a:prstGeom>
            <a:noFill/>
            <a:ln>
              <a:noFill/>
            </a:ln>
          </p:spPr>
          <p:txBody>
            <a:bodyPr wrap="none" lIns="0" tIns="0" rIns="0" bIns="0" anchor="t" anchorCtr="0">
              <a:spAutoFit/>
            </a:bodyPr>
            <a:lstStyle/>
            <a:p>
              <a:pPr algn="ctr"/>
              <a:r>
                <a:rPr lang="zh-CN" sz="750" dirty="0">
                  <a:solidFill>
                    <a:srgbClr val="7A3E33"/>
                  </a:solidFill>
                  <a:latin typeface="+mn-lt"/>
                  <a:ea typeface="+mn-ea"/>
                  <a:cs typeface="+mn-cs"/>
                </a:rPr>
                <a:t>预警</a:t>
              </a:r>
            </a:p>
          </p:txBody>
        </p:sp>
        <p:sp>
          <p:nvSpPr>
            <p:cNvPr id="35" name="TextBox 35"/>
            <p:cNvSpPr txBox="1"/>
            <p:nvPr/>
          </p:nvSpPr>
          <p:spPr>
            <a:xfrm rot="2700000">
              <a:off x="5052349" y="2416680"/>
              <a:ext cx="211455" cy="147638"/>
            </a:xfrm>
            <a:prstGeom prst="rect">
              <a:avLst/>
            </a:prstGeom>
            <a:noFill/>
            <a:ln>
              <a:noFill/>
            </a:ln>
          </p:spPr>
          <p:txBody>
            <a:bodyPr wrap="none" lIns="0" tIns="0" rIns="0" bIns="0" anchor="t" anchorCtr="0">
              <a:spAutoFit/>
            </a:bodyPr>
            <a:lstStyle/>
            <a:p>
              <a:pPr algn="ctr"/>
              <a:r>
                <a:rPr lang="zh-CN" sz="750" dirty="0">
                  <a:solidFill>
                    <a:srgbClr val="7A3E33"/>
                  </a:solidFill>
                  <a:latin typeface="+mn-lt"/>
                  <a:ea typeface="+mn-ea"/>
                  <a:cs typeface="+mn-cs"/>
                </a:rPr>
                <a:t>纠正</a:t>
              </a:r>
            </a:p>
          </p:txBody>
        </p:sp>
        <p:sp>
          <p:nvSpPr>
            <p:cNvPr id="36" name="TextBox 36"/>
            <p:cNvSpPr txBox="1"/>
            <p:nvPr/>
          </p:nvSpPr>
          <p:spPr>
            <a:xfrm rot="2700000">
              <a:off x="2932084" y="4435980"/>
              <a:ext cx="413385" cy="147638"/>
            </a:xfrm>
            <a:prstGeom prst="rect">
              <a:avLst/>
            </a:prstGeom>
            <a:noFill/>
            <a:ln>
              <a:noFill/>
            </a:ln>
          </p:spPr>
          <p:txBody>
            <a:bodyPr wrap="none" lIns="0" tIns="0" rIns="0" bIns="0" anchor="t" anchorCtr="0">
              <a:spAutoFit/>
            </a:bodyPr>
            <a:lstStyle/>
            <a:p>
              <a:pPr algn="ctr"/>
              <a:r>
                <a:rPr lang="zh-CN" sz="750" dirty="0">
                  <a:solidFill>
                    <a:srgbClr val="7A3E33"/>
                  </a:solidFill>
                  <a:latin typeface="+mn-lt"/>
                  <a:ea typeface="+mn-ea"/>
                  <a:cs typeface="+mn-cs"/>
                </a:rPr>
                <a:t>处理问题</a:t>
              </a:r>
            </a:p>
          </p:txBody>
        </p:sp>
        <p:sp>
          <p:nvSpPr>
            <p:cNvPr id="37" name="TextBox 37"/>
            <p:cNvSpPr txBox="1"/>
            <p:nvPr/>
          </p:nvSpPr>
          <p:spPr>
            <a:xfrm rot="-2700000">
              <a:off x="4941281" y="4435980"/>
              <a:ext cx="413385" cy="147638"/>
            </a:xfrm>
            <a:prstGeom prst="rect">
              <a:avLst/>
            </a:prstGeom>
            <a:noFill/>
            <a:ln>
              <a:noFill/>
            </a:ln>
          </p:spPr>
          <p:txBody>
            <a:bodyPr wrap="none" lIns="0" tIns="0" rIns="0" bIns="0" anchor="t" anchorCtr="0">
              <a:spAutoFit/>
            </a:bodyPr>
            <a:lstStyle/>
            <a:p>
              <a:pPr algn="ctr"/>
              <a:r>
                <a:rPr lang="zh-CN" sz="750" dirty="0">
                  <a:solidFill>
                    <a:srgbClr val="7A3E33"/>
                  </a:solidFill>
                  <a:latin typeface="+mn-lt"/>
                  <a:ea typeface="+mn-ea"/>
                  <a:cs typeface="+mn-cs"/>
                </a:rPr>
                <a:t>提高服务</a:t>
              </a:r>
            </a:p>
          </p:txBody>
        </p:sp>
        <p:sp>
          <p:nvSpPr>
            <p:cNvPr id="38" name="TextBox 38"/>
            <p:cNvSpPr txBox="1"/>
            <p:nvPr/>
          </p:nvSpPr>
          <p:spPr>
            <a:xfrm rot="-2700000">
              <a:off x="3341551" y="2824547"/>
              <a:ext cx="375691" cy="133350"/>
            </a:xfrm>
            <a:prstGeom prst="rect">
              <a:avLst/>
            </a:prstGeom>
            <a:noFill/>
            <a:ln>
              <a:noFill/>
            </a:ln>
          </p:spPr>
          <p:txBody>
            <a:bodyPr wrap="none" lIns="0" tIns="0" rIns="0" bIns="0" anchor="t" anchorCtr="0">
              <a:spAutoFit/>
            </a:bodyPr>
            <a:lstStyle/>
            <a:p>
              <a:pPr algn="ctr"/>
              <a:r>
                <a:rPr lang="zh-CN" sz="680" dirty="0">
                  <a:solidFill>
                    <a:srgbClr val="A88882"/>
                  </a:solidFill>
                  <a:latin typeface="+mn-lt"/>
                  <a:ea typeface="+mn-ea"/>
                  <a:cs typeface="+mn-cs"/>
                </a:rPr>
                <a:t>规范制度</a:t>
              </a:r>
            </a:p>
          </p:txBody>
        </p:sp>
        <p:sp>
          <p:nvSpPr>
            <p:cNvPr id="39" name="TextBox 39"/>
            <p:cNvSpPr txBox="1"/>
            <p:nvPr/>
          </p:nvSpPr>
          <p:spPr>
            <a:xfrm rot="2700000">
              <a:off x="4569507" y="2824547"/>
              <a:ext cx="375691" cy="133350"/>
            </a:xfrm>
            <a:prstGeom prst="rect">
              <a:avLst/>
            </a:prstGeom>
            <a:noFill/>
            <a:ln>
              <a:noFill/>
            </a:ln>
          </p:spPr>
          <p:txBody>
            <a:bodyPr wrap="none" lIns="0" tIns="0" rIns="0" bIns="0" anchor="t" anchorCtr="0">
              <a:spAutoFit/>
            </a:bodyPr>
            <a:lstStyle/>
            <a:p>
              <a:pPr algn="ctr"/>
              <a:r>
                <a:rPr lang="zh-CN" sz="680" dirty="0">
                  <a:solidFill>
                    <a:srgbClr val="A88882"/>
                  </a:solidFill>
                  <a:latin typeface="+mn-lt"/>
                  <a:ea typeface="+mn-ea"/>
                  <a:cs typeface="+mn-cs"/>
                </a:rPr>
                <a:t>规范制度</a:t>
              </a:r>
            </a:p>
          </p:txBody>
        </p:sp>
        <p:sp>
          <p:nvSpPr>
            <p:cNvPr id="40" name="TextBox 40"/>
            <p:cNvSpPr txBox="1"/>
            <p:nvPr/>
          </p:nvSpPr>
          <p:spPr>
            <a:xfrm rot="2700000">
              <a:off x="3350307" y="4043747"/>
              <a:ext cx="375691" cy="133350"/>
            </a:xfrm>
            <a:prstGeom prst="rect">
              <a:avLst/>
            </a:prstGeom>
            <a:noFill/>
            <a:ln>
              <a:noFill/>
            </a:ln>
          </p:spPr>
          <p:txBody>
            <a:bodyPr wrap="none" lIns="0" tIns="0" rIns="0" bIns="0" anchor="t" anchorCtr="0">
              <a:spAutoFit/>
            </a:bodyPr>
            <a:lstStyle/>
            <a:p>
              <a:pPr algn="ctr"/>
              <a:r>
                <a:rPr lang="zh-CN" sz="680" dirty="0">
                  <a:solidFill>
                    <a:srgbClr val="A88882"/>
                  </a:solidFill>
                  <a:latin typeface="+mn-lt"/>
                  <a:ea typeface="+mn-ea"/>
                  <a:cs typeface="+mn-cs"/>
                </a:rPr>
                <a:t>规范制度</a:t>
              </a:r>
            </a:p>
          </p:txBody>
        </p:sp>
        <p:sp>
          <p:nvSpPr>
            <p:cNvPr id="41" name="TextBox 41"/>
            <p:cNvSpPr txBox="1"/>
            <p:nvPr/>
          </p:nvSpPr>
          <p:spPr>
            <a:xfrm rot="-2700000">
              <a:off x="4560751" y="4043747"/>
              <a:ext cx="375691" cy="133350"/>
            </a:xfrm>
            <a:prstGeom prst="rect">
              <a:avLst/>
            </a:prstGeom>
            <a:noFill/>
            <a:ln>
              <a:noFill/>
            </a:ln>
          </p:spPr>
          <p:txBody>
            <a:bodyPr wrap="none" lIns="0" tIns="0" rIns="0" bIns="0" anchor="t" anchorCtr="0">
              <a:spAutoFit/>
            </a:bodyPr>
            <a:lstStyle/>
            <a:p>
              <a:pPr algn="ctr"/>
              <a:r>
                <a:rPr lang="zh-CN" sz="680" dirty="0">
                  <a:solidFill>
                    <a:srgbClr val="A88882"/>
                  </a:solidFill>
                  <a:latin typeface="+mn-lt"/>
                  <a:ea typeface="+mn-ea"/>
                  <a:cs typeface="+mn-cs"/>
                </a:rPr>
                <a:t>规范制度</a:t>
              </a:r>
            </a:p>
          </p:txBody>
        </p:sp>
        <p:sp>
          <p:nvSpPr>
            <p:cNvPr id="42" name="Ellipse 42"/>
            <p:cNvSpPr/>
            <p:nvPr/>
          </p:nvSpPr>
          <p:spPr>
            <a:xfrm>
              <a:off x="3686175" y="3019425"/>
              <a:ext cx="914400" cy="914400"/>
            </a:xfrm>
            <a:prstGeom prst="ellipse">
              <a:avLst/>
            </a:prstGeom>
            <a:solidFill>
              <a:srgbClr val="9C594C"/>
            </a:solidFill>
            <a:ln>
              <a:noFill/>
            </a:ln>
          </p:spPr>
        </p:sp>
        <p:sp>
          <p:nvSpPr>
            <p:cNvPr id="43" name="TextBox 43"/>
            <p:cNvSpPr txBox="1"/>
            <p:nvPr/>
          </p:nvSpPr>
          <p:spPr>
            <a:xfrm>
              <a:off x="3999456" y="3374708"/>
              <a:ext cx="287838"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mn-lt"/>
                  <a:ea typeface="+mn-ea"/>
                  <a:cs typeface="+mn-cs"/>
                </a:rPr>
                <a:t>5G</a:t>
              </a:r>
            </a:p>
          </p:txBody>
        </p:sp>
        <p:sp>
          <p:nvSpPr>
            <p:cNvPr id="44" name="Ellipse 44"/>
            <p:cNvSpPr/>
            <p:nvPr/>
          </p:nvSpPr>
          <p:spPr>
            <a:xfrm>
              <a:off x="3800475" y="1657350"/>
              <a:ext cx="685800" cy="685800"/>
            </a:xfrm>
            <a:prstGeom prst="ellipse">
              <a:avLst/>
            </a:prstGeom>
            <a:solidFill>
              <a:srgbClr val="B5766A"/>
            </a:solidFill>
            <a:ln>
              <a:noFill/>
            </a:ln>
          </p:spPr>
        </p:sp>
        <p:sp>
          <p:nvSpPr>
            <p:cNvPr id="45" name="TextBox 45"/>
            <p:cNvSpPr txBox="1"/>
            <p:nvPr/>
          </p:nvSpPr>
          <p:spPr>
            <a:xfrm>
              <a:off x="3963139" y="1935956"/>
              <a:ext cx="36047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计 划</a:t>
              </a:r>
            </a:p>
          </p:txBody>
        </p:sp>
        <p:sp>
          <p:nvSpPr>
            <p:cNvPr id="46" name="Ellipse 46"/>
            <p:cNvSpPr/>
            <p:nvPr/>
          </p:nvSpPr>
          <p:spPr>
            <a:xfrm>
              <a:off x="2324100" y="3133725"/>
              <a:ext cx="685800" cy="685800"/>
            </a:xfrm>
            <a:prstGeom prst="ellipse">
              <a:avLst/>
            </a:prstGeom>
            <a:solidFill>
              <a:srgbClr val="CD9F96"/>
            </a:solidFill>
            <a:ln>
              <a:noFill/>
            </a:ln>
          </p:spPr>
        </p:sp>
        <p:sp>
          <p:nvSpPr>
            <p:cNvPr id="47" name="TextBox 47"/>
            <p:cNvSpPr txBox="1"/>
            <p:nvPr/>
          </p:nvSpPr>
          <p:spPr>
            <a:xfrm>
              <a:off x="2486764" y="3412331"/>
              <a:ext cx="36047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问 题</a:t>
              </a:r>
            </a:p>
          </p:txBody>
        </p:sp>
        <p:sp>
          <p:nvSpPr>
            <p:cNvPr id="48" name="Ellipse 48"/>
            <p:cNvSpPr/>
            <p:nvPr/>
          </p:nvSpPr>
          <p:spPr>
            <a:xfrm>
              <a:off x="5276850" y="3133725"/>
              <a:ext cx="685800" cy="685800"/>
            </a:xfrm>
            <a:prstGeom prst="ellipse">
              <a:avLst/>
            </a:prstGeom>
            <a:solidFill>
              <a:srgbClr val="CD9F96"/>
            </a:solidFill>
            <a:ln>
              <a:noFill/>
            </a:ln>
          </p:spPr>
        </p:sp>
        <p:sp>
          <p:nvSpPr>
            <p:cNvPr id="49" name="TextBox 49"/>
            <p:cNvSpPr txBox="1"/>
            <p:nvPr/>
          </p:nvSpPr>
          <p:spPr>
            <a:xfrm>
              <a:off x="5439514" y="3412331"/>
              <a:ext cx="36047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服 务</a:t>
              </a:r>
            </a:p>
          </p:txBody>
        </p:sp>
        <p:sp>
          <p:nvSpPr>
            <p:cNvPr id="50" name="Ellipse 50"/>
            <p:cNvSpPr/>
            <p:nvPr/>
          </p:nvSpPr>
          <p:spPr>
            <a:xfrm>
              <a:off x="3800475" y="4610100"/>
              <a:ext cx="685800" cy="685800"/>
            </a:xfrm>
            <a:prstGeom prst="ellipse">
              <a:avLst/>
            </a:prstGeom>
            <a:solidFill>
              <a:srgbClr val="B5766A"/>
            </a:solidFill>
            <a:ln>
              <a:noFill/>
            </a:ln>
          </p:spPr>
        </p:sp>
        <p:sp>
          <p:nvSpPr>
            <p:cNvPr id="51" name="TextBox 51"/>
            <p:cNvSpPr txBox="1"/>
            <p:nvPr/>
          </p:nvSpPr>
          <p:spPr>
            <a:xfrm>
              <a:off x="3963139" y="4888706"/>
              <a:ext cx="36047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管 理</a:t>
              </a:r>
            </a:p>
          </p:txBody>
        </p:sp>
        <p:sp>
          <p:nvSpPr>
            <p:cNvPr id="52" name="Freeform 52"/>
            <p:cNvSpPr/>
            <p:nvPr/>
          </p:nvSpPr>
          <p:spPr>
            <a:xfrm rot="10800000">
              <a:off x="4048125" y="2667000"/>
              <a:ext cx="190500" cy="133350"/>
            </a:xfrm>
            <a:prstGeom prst="triangle">
              <a:avLst/>
            </a:prstGeom>
            <a:solidFill>
              <a:srgbClr val="B5766A"/>
            </a:solidFill>
            <a:ln>
              <a:noFill/>
            </a:ln>
          </p:spPr>
        </p:sp>
        <p:sp>
          <p:nvSpPr>
            <p:cNvPr id="53" name="TextBox 53"/>
            <p:cNvSpPr txBox="1"/>
            <p:nvPr/>
          </p:nvSpPr>
          <p:spPr>
            <a:xfrm>
              <a:off x="4395788" y="2498884"/>
              <a:ext cx="192608" cy="133350"/>
            </a:xfrm>
            <a:prstGeom prst="rect">
              <a:avLst/>
            </a:prstGeom>
            <a:noFill/>
            <a:ln>
              <a:noFill/>
            </a:ln>
          </p:spPr>
          <p:txBody>
            <a:bodyPr wrap="none" lIns="0" tIns="0" rIns="0" bIns="0" anchor="t" anchorCtr="0">
              <a:spAutoFit/>
            </a:bodyPr>
            <a:lstStyle/>
            <a:p>
              <a:pPr algn="l"/>
              <a:r>
                <a:rPr lang="zh-CN" sz="680" dirty="0">
                  <a:solidFill>
                    <a:srgbClr val="595959"/>
                  </a:solidFill>
                  <a:latin typeface="+mn-lt"/>
                  <a:ea typeface="+mn-ea"/>
                  <a:cs typeface="+mn-cs"/>
                </a:rPr>
                <a:t>发现</a:t>
              </a:r>
            </a:p>
          </p:txBody>
        </p:sp>
        <p:sp>
          <p:nvSpPr>
            <p:cNvPr id="54" name="Freeform 54"/>
            <p:cNvSpPr/>
            <p:nvPr/>
          </p:nvSpPr>
          <p:spPr>
            <a:xfrm rot="5400000">
              <a:off x="3028950" y="3409950"/>
              <a:ext cx="190500" cy="133350"/>
            </a:xfrm>
            <a:prstGeom prst="triangle">
              <a:avLst/>
            </a:prstGeom>
            <a:solidFill>
              <a:srgbClr val="B5766A"/>
            </a:solidFill>
            <a:ln>
              <a:noFill/>
            </a:ln>
          </p:spPr>
        </p:sp>
        <p:sp>
          <p:nvSpPr>
            <p:cNvPr id="55" name="TextBox 55"/>
            <p:cNvSpPr txBox="1"/>
            <p:nvPr/>
          </p:nvSpPr>
          <p:spPr>
            <a:xfrm>
              <a:off x="3027896" y="3679984"/>
              <a:ext cx="192608"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寻找</a:t>
              </a:r>
            </a:p>
          </p:txBody>
        </p:sp>
        <p:sp>
          <p:nvSpPr>
            <p:cNvPr id="56" name="Freeform 56"/>
            <p:cNvSpPr/>
            <p:nvPr/>
          </p:nvSpPr>
          <p:spPr>
            <a:xfrm rot="-5400000">
              <a:off x="5067300" y="3409950"/>
              <a:ext cx="190500" cy="133350"/>
            </a:xfrm>
            <a:prstGeom prst="triangle">
              <a:avLst/>
            </a:prstGeom>
            <a:solidFill>
              <a:srgbClr val="B5766A"/>
            </a:solidFill>
            <a:ln>
              <a:noFill/>
            </a:ln>
          </p:spPr>
        </p:sp>
        <p:sp>
          <p:nvSpPr>
            <p:cNvPr id="57" name="TextBox 57"/>
            <p:cNvSpPr txBox="1"/>
            <p:nvPr/>
          </p:nvSpPr>
          <p:spPr>
            <a:xfrm>
              <a:off x="5066246" y="3679984"/>
              <a:ext cx="192608"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突破</a:t>
              </a:r>
            </a:p>
          </p:txBody>
        </p:sp>
        <p:sp>
          <p:nvSpPr>
            <p:cNvPr id="58" name="Freeform 58"/>
            <p:cNvSpPr/>
            <p:nvPr/>
          </p:nvSpPr>
          <p:spPr>
            <a:xfrm>
              <a:off x="4048125" y="4152900"/>
              <a:ext cx="190500" cy="133350"/>
            </a:xfrm>
            <a:prstGeom prst="triangle">
              <a:avLst/>
            </a:prstGeom>
            <a:solidFill>
              <a:srgbClr val="B5766A"/>
            </a:solidFill>
            <a:ln>
              <a:noFill/>
            </a:ln>
          </p:spPr>
        </p:sp>
        <p:sp>
          <p:nvSpPr>
            <p:cNvPr id="59" name="TextBox 59"/>
            <p:cNvSpPr txBox="1"/>
            <p:nvPr/>
          </p:nvSpPr>
          <p:spPr>
            <a:xfrm>
              <a:off x="4395788" y="4365784"/>
              <a:ext cx="192608" cy="133350"/>
            </a:xfrm>
            <a:prstGeom prst="rect">
              <a:avLst/>
            </a:prstGeom>
            <a:noFill/>
            <a:ln>
              <a:noFill/>
            </a:ln>
          </p:spPr>
          <p:txBody>
            <a:bodyPr wrap="none" lIns="0" tIns="0" rIns="0" bIns="0" anchor="t" anchorCtr="0">
              <a:spAutoFit/>
            </a:bodyPr>
            <a:lstStyle/>
            <a:p>
              <a:pPr algn="l"/>
              <a:r>
                <a:rPr lang="zh-CN" sz="680" dirty="0">
                  <a:solidFill>
                    <a:srgbClr val="595959"/>
                  </a:solidFill>
                  <a:latin typeface="+mn-lt"/>
                  <a:ea typeface="+mn-ea"/>
                  <a:cs typeface="+mn-cs"/>
                </a:rPr>
                <a:t>实时</a:t>
              </a:r>
            </a:p>
          </p:txBody>
        </p:sp>
      </p:grpSp>
      <p:grpSp>
        <p:nvGrpSpPr>
          <p:cNvPr id="63" name="direction-chevron"/>
          <p:cNvGrpSpPr/>
          <p:nvPr/>
        </p:nvGrpSpPr>
        <p:grpSpPr>
          <a:xfrm>
            <a:off x="6705600" y="952500"/>
            <a:ext cx="495300" cy="4762500"/>
            <a:chOff x="6705600" y="952500"/>
            <a:chExt cx="495300" cy="4762500"/>
          </a:xfrm>
        </p:grpSpPr>
        <p:sp>
          <p:nvSpPr>
            <p:cNvPr id="61" name="Polyline 61"/>
            <p:cNvSpPr/>
            <p:nvPr/>
          </p:nvSpPr>
          <p:spPr>
            <a:xfrm>
              <a:off x="6705600" y="952500"/>
              <a:ext cx="495300" cy="4762500"/>
            </a:xfrm>
            <a:custGeom>
              <a:avLst/>
              <a:gdLst/>
              <a:ahLst/>
              <a:cxnLst/>
              <a:rect l="l" t="t" r="r" b="b"/>
              <a:pathLst>
                <a:path w="495300" h="4762500">
                  <a:moveTo>
                    <a:pt x="0" y="0"/>
                  </a:moveTo>
                  <a:lnTo>
                    <a:pt x="495300" y="2381250"/>
                  </a:lnTo>
                  <a:lnTo>
                    <a:pt x="0" y="4762500"/>
                  </a:lnTo>
                </a:path>
              </a:pathLst>
            </a:custGeom>
            <a:noFill/>
            <a:ln w="38100">
              <a:solidFill>
                <a:srgbClr val="9C594C"/>
              </a:solidFill>
            </a:ln>
          </p:spPr>
        </p:sp>
        <p:sp>
          <p:nvSpPr>
            <p:cNvPr id="62" name="TextBox 62"/>
            <p:cNvSpPr txBox="1"/>
            <p:nvPr/>
          </p:nvSpPr>
          <p:spPr>
            <a:xfrm>
              <a:off x="6784467" y="2826068"/>
              <a:ext cx="185166" cy="949833"/>
            </a:xfrm>
            <a:prstGeom prst="rect">
              <a:avLst/>
            </a:prstGeom>
            <a:noFill/>
            <a:ln>
              <a:noFill/>
            </a:ln>
          </p:spPr>
          <p:txBody>
            <a:bodyPr wrap="none" lIns="0" tIns="0" rIns="0" bIns="0" anchor="t" anchorCtr="0">
              <a:spAutoFit/>
            </a:bodyPr>
            <a:lstStyle/>
            <a:p>
              <a:pPr algn="ctr">
                <a:lnSpc>
                  <a:spcPts val="1800"/>
                </a:lnSpc>
              </a:pPr>
              <a:r>
                <a:rPr lang="zh-CN" sz="1350" b="1" dirty="0">
                  <a:solidFill>
                    <a:srgbClr val="7A3E33"/>
                  </a:solidFill>
                  <a:latin typeface="+mn-lt"/>
                  <a:ea typeface="+mn-ea"/>
                  <a:cs typeface="+mn-cs"/>
                </a:rPr>
                <a:t>发</a:t>
              </a:r>
              <a:br/>
              <a:r>
                <a:rPr lang="zh-CN" sz="1350" b="1" dirty="0">
                  <a:solidFill>
                    <a:srgbClr val="7A3E33"/>
                  </a:solidFill>
                  <a:latin typeface="+mn-lt"/>
                  <a:ea typeface="+mn-ea"/>
                  <a:cs typeface="+mn-cs"/>
                </a:rPr>
                <a:t>展</a:t>
              </a:r>
              <a:br/>
              <a:r>
                <a:rPr lang="zh-CN" sz="1350" b="1" dirty="0">
                  <a:solidFill>
                    <a:srgbClr val="7A3E33"/>
                  </a:solidFill>
                  <a:latin typeface="+mn-lt"/>
                  <a:ea typeface="+mn-ea"/>
                  <a:cs typeface="+mn-cs"/>
                </a:rPr>
                <a:t>方</a:t>
              </a:r>
              <a:br/>
              <a:r>
                <a:rPr lang="zh-CN" sz="1350" b="1" dirty="0">
                  <a:solidFill>
                    <a:srgbClr val="7A3E33"/>
                  </a:solidFill>
                  <a:latin typeface="+mn-lt"/>
                  <a:ea typeface="+mn-ea"/>
                  <a:cs typeface="+mn-cs"/>
                </a:rPr>
                <a:t>向</a:t>
              </a:r>
            </a:p>
          </p:txBody>
        </p:sp>
      </p:grpSp>
      <p:grpSp>
        <p:nvGrpSpPr>
          <p:cNvPr id="102" name="radar-card"/>
          <p:cNvGrpSpPr/>
          <p:nvPr/>
        </p:nvGrpSpPr>
        <p:grpSpPr>
          <a:xfrm>
            <a:off x="7334250" y="914400"/>
            <a:ext cx="4476750" cy="3333750"/>
            <a:chOff x="7334250" y="914400"/>
            <a:chExt cx="4476750" cy="3333750"/>
          </a:xfrm>
        </p:grpSpPr>
        <p:sp>
          <p:nvSpPr>
            <p:cNvPr id="64" name="Rectangle 64"/>
            <p:cNvSpPr/>
            <p:nvPr/>
          </p:nvSpPr>
          <p:spPr>
            <a:xfrm>
              <a:off x="7334250" y="914400"/>
              <a:ext cx="4476750" cy="3333750"/>
            </a:xfrm>
            <a:prstGeom prst="rect">
              <a:avLst/>
            </a:prstGeom>
            <a:solidFill>
              <a:srgbClr val="FFFFFF"/>
            </a:solidFill>
            <a:ln w="11430">
              <a:solidFill>
                <a:srgbClr val="E9563C"/>
              </a:solidFill>
              <a:custDash>
                <a:ds d="500000" sp="333333"/>
              </a:custDash>
            </a:ln>
          </p:spPr>
        </p:sp>
        <p:sp>
          <p:nvSpPr>
            <p:cNvPr id="65" name="Rectangle 65"/>
            <p:cNvSpPr/>
            <p:nvPr/>
          </p:nvSpPr>
          <p:spPr>
            <a:xfrm>
              <a:off x="7334250" y="914400"/>
              <a:ext cx="4476750" cy="323850"/>
            </a:xfrm>
            <a:prstGeom prst="rect">
              <a:avLst/>
            </a:prstGeom>
            <a:solidFill>
              <a:srgbClr val="E9563C"/>
            </a:solidFill>
            <a:ln>
              <a:noFill/>
            </a:ln>
          </p:spPr>
        </p:sp>
        <p:sp>
          <p:nvSpPr>
            <p:cNvPr id="66" name="TextBox 66"/>
            <p:cNvSpPr txBox="1"/>
            <p:nvPr/>
          </p:nvSpPr>
          <p:spPr>
            <a:xfrm>
              <a:off x="9039200" y="1012031"/>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平台管理和运营</a:t>
              </a:r>
            </a:p>
          </p:txBody>
        </p:sp>
        <p:sp>
          <p:nvSpPr>
            <p:cNvPr id="67" name="Polygon 67"/>
            <p:cNvSpPr/>
            <p:nvPr/>
          </p:nvSpPr>
          <p:spPr>
            <a:xfrm>
              <a:off x="8639175" y="1619250"/>
              <a:ext cx="1876425" cy="1847850"/>
            </a:xfrm>
            <a:custGeom>
              <a:avLst/>
              <a:gdLst/>
              <a:ahLst/>
              <a:cxnLst/>
              <a:rect l="l" t="t" r="r" b="b"/>
              <a:pathLst>
                <a:path w="1876425" h="1847850">
                  <a:moveTo>
                    <a:pt x="933450" y="0"/>
                  </a:moveTo>
                  <a:lnTo>
                    <a:pt x="1543050" y="219075"/>
                  </a:lnTo>
                  <a:lnTo>
                    <a:pt x="1876425" y="790575"/>
                  </a:lnTo>
                  <a:lnTo>
                    <a:pt x="1762125" y="1428750"/>
                  </a:lnTo>
                  <a:lnTo>
                    <a:pt x="1257300" y="1847850"/>
                  </a:lnTo>
                  <a:lnTo>
                    <a:pt x="609600" y="1847850"/>
                  </a:lnTo>
                  <a:lnTo>
                    <a:pt x="104775" y="1428750"/>
                  </a:lnTo>
                  <a:lnTo>
                    <a:pt x="0" y="790575"/>
                  </a:lnTo>
                  <a:lnTo>
                    <a:pt x="323850" y="219075"/>
                  </a:lnTo>
                  <a:close/>
                </a:path>
              </a:pathLst>
            </a:custGeom>
            <a:noFill/>
            <a:ln w="9525">
              <a:solidFill>
                <a:srgbClr val="DDE5D8"/>
              </a:solidFill>
            </a:ln>
          </p:spPr>
        </p:sp>
        <p:sp>
          <p:nvSpPr>
            <p:cNvPr id="68" name="Polygon 68"/>
            <p:cNvSpPr/>
            <p:nvPr/>
          </p:nvSpPr>
          <p:spPr>
            <a:xfrm>
              <a:off x="8820150" y="1809750"/>
              <a:ext cx="1504950" cy="1476375"/>
            </a:xfrm>
            <a:custGeom>
              <a:avLst/>
              <a:gdLst/>
              <a:ahLst/>
              <a:cxnLst/>
              <a:rect l="l" t="t" r="r" b="b"/>
              <a:pathLst>
                <a:path w="1504950" h="1476375">
                  <a:moveTo>
                    <a:pt x="752475" y="0"/>
                  </a:moveTo>
                  <a:lnTo>
                    <a:pt x="1238250" y="180975"/>
                  </a:lnTo>
                  <a:lnTo>
                    <a:pt x="1504950" y="628650"/>
                  </a:lnTo>
                  <a:lnTo>
                    <a:pt x="1409700" y="1143000"/>
                  </a:lnTo>
                  <a:lnTo>
                    <a:pt x="1009650" y="1476375"/>
                  </a:lnTo>
                  <a:lnTo>
                    <a:pt x="495300" y="1476375"/>
                  </a:lnTo>
                  <a:lnTo>
                    <a:pt x="95250" y="1143000"/>
                  </a:lnTo>
                  <a:lnTo>
                    <a:pt x="0" y="628650"/>
                  </a:lnTo>
                  <a:lnTo>
                    <a:pt x="266700" y="180975"/>
                  </a:lnTo>
                  <a:close/>
                </a:path>
              </a:pathLst>
            </a:custGeom>
            <a:noFill/>
            <a:ln w="9525">
              <a:solidFill>
                <a:srgbClr val="DDE5D8"/>
              </a:solidFill>
            </a:ln>
          </p:spPr>
        </p:sp>
        <p:sp>
          <p:nvSpPr>
            <p:cNvPr id="69" name="Polygon 69"/>
            <p:cNvSpPr/>
            <p:nvPr/>
          </p:nvSpPr>
          <p:spPr>
            <a:xfrm>
              <a:off x="9010650" y="2000250"/>
              <a:ext cx="1123950" cy="1104900"/>
            </a:xfrm>
            <a:custGeom>
              <a:avLst/>
              <a:gdLst/>
              <a:ahLst/>
              <a:cxnLst/>
              <a:rect l="l" t="t" r="r" b="b"/>
              <a:pathLst>
                <a:path w="1123950" h="1104900">
                  <a:moveTo>
                    <a:pt x="561975" y="0"/>
                  </a:moveTo>
                  <a:lnTo>
                    <a:pt x="933450" y="133350"/>
                  </a:lnTo>
                  <a:lnTo>
                    <a:pt x="1123950" y="476250"/>
                  </a:lnTo>
                  <a:lnTo>
                    <a:pt x="1057275" y="857250"/>
                  </a:lnTo>
                  <a:lnTo>
                    <a:pt x="762000" y="1104900"/>
                  </a:lnTo>
                  <a:lnTo>
                    <a:pt x="361950" y="1104900"/>
                  </a:lnTo>
                  <a:lnTo>
                    <a:pt x="66675" y="857250"/>
                  </a:lnTo>
                  <a:lnTo>
                    <a:pt x="0" y="476250"/>
                  </a:lnTo>
                  <a:lnTo>
                    <a:pt x="190500" y="133350"/>
                  </a:lnTo>
                  <a:close/>
                </a:path>
              </a:pathLst>
            </a:custGeom>
            <a:noFill/>
            <a:ln w="9525">
              <a:solidFill>
                <a:srgbClr val="DDE5D8"/>
              </a:solidFill>
            </a:ln>
          </p:spPr>
        </p:sp>
        <p:sp>
          <p:nvSpPr>
            <p:cNvPr id="70" name="Polygon 70"/>
            <p:cNvSpPr/>
            <p:nvPr/>
          </p:nvSpPr>
          <p:spPr>
            <a:xfrm>
              <a:off x="9201150" y="2190750"/>
              <a:ext cx="742950" cy="742950"/>
            </a:xfrm>
            <a:custGeom>
              <a:avLst/>
              <a:gdLst/>
              <a:ahLst/>
              <a:cxnLst/>
              <a:rect l="l" t="t" r="r" b="b"/>
              <a:pathLst>
                <a:path w="742950" h="742950">
                  <a:moveTo>
                    <a:pt x="371475" y="0"/>
                  </a:moveTo>
                  <a:lnTo>
                    <a:pt x="619125" y="85725"/>
                  </a:lnTo>
                  <a:lnTo>
                    <a:pt x="742950" y="314325"/>
                  </a:lnTo>
                  <a:lnTo>
                    <a:pt x="704850" y="571500"/>
                  </a:lnTo>
                  <a:lnTo>
                    <a:pt x="504825" y="742950"/>
                  </a:lnTo>
                  <a:lnTo>
                    <a:pt x="238125" y="742950"/>
                  </a:lnTo>
                  <a:lnTo>
                    <a:pt x="38100" y="571500"/>
                  </a:lnTo>
                  <a:lnTo>
                    <a:pt x="0" y="314325"/>
                  </a:lnTo>
                  <a:lnTo>
                    <a:pt x="123825" y="85725"/>
                  </a:lnTo>
                  <a:close/>
                </a:path>
              </a:pathLst>
            </a:custGeom>
            <a:noFill/>
            <a:ln w="9525">
              <a:solidFill>
                <a:srgbClr val="DDE5D8"/>
              </a:solidFill>
            </a:ln>
          </p:spPr>
        </p:sp>
        <p:sp>
          <p:nvSpPr>
            <p:cNvPr id="71" name="Polygon 71"/>
            <p:cNvSpPr/>
            <p:nvPr/>
          </p:nvSpPr>
          <p:spPr>
            <a:xfrm>
              <a:off x="9382125" y="2381250"/>
              <a:ext cx="381000" cy="371475"/>
            </a:xfrm>
            <a:custGeom>
              <a:avLst/>
              <a:gdLst/>
              <a:ahLst/>
              <a:cxnLst/>
              <a:rect l="l" t="t" r="r" b="b"/>
              <a:pathLst>
                <a:path w="381000" h="371475">
                  <a:moveTo>
                    <a:pt x="190500" y="0"/>
                  </a:moveTo>
                  <a:lnTo>
                    <a:pt x="314325" y="47625"/>
                  </a:lnTo>
                  <a:lnTo>
                    <a:pt x="381000" y="161925"/>
                  </a:lnTo>
                  <a:lnTo>
                    <a:pt x="352425" y="285750"/>
                  </a:lnTo>
                  <a:lnTo>
                    <a:pt x="257175" y="371475"/>
                  </a:lnTo>
                  <a:lnTo>
                    <a:pt x="123825" y="371475"/>
                  </a:lnTo>
                  <a:lnTo>
                    <a:pt x="28575" y="285750"/>
                  </a:lnTo>
                  <a:lnTo>
                    <a:pt x="0" y="161925"/>
                  </a:lnTo>
                  <a:lnTo>
                    <a:pt x="66675" y="47625"/>
                  </a:lnTo>
                  <a:close/>
                </a:path>
              </a:pathLst>
            </a:custGeom>
            <a:noFill/>
            <a:ln w="9525">
              <a:solidFill>
                <a:srgbClr val="DDE5D8"/>
              </a:solidFill>
            </a:ln>
          </p:spPr>
        </p:sp>
        <p:sp>
          <p:nvSpPr>
            <p:cNvPr id="72" name="Line 72"/>
            <p:cNvSpPr/>
            <p:nvPr/>
          </p:nvSpPr>
          <p:spPr>
            <a:xfrm>
              <a:off x="9572625" y="1619250"/>
              <a:ext cx="9525" cy="952500"/>
            </a:xfrm>
            <a:custGeom>
              <a:avLst/>
              <a:gdLst/>
              <a:ahLst/>
              <a:cxnLst/>
              <a:rect l="l" t="t" r="r" b="b"/>
              <a:pathLst>
                <a:path w="9525" h="952500">
                  <a:moveTo>
                    <a:pt x="0" y="952500"/>
                  </a:moveTo>
                  <a:lnTo>
                    <a:pt x="0" y="0"/>
                  </a:lnTo>
                </a:path>
              </a:pathLst>
            </a:custGeom>
            <a:noFill/>
            <a:ln w="9525">
              <a:solidFill>
                <a:srgbClr val="DDE5D8"/>
              </a:solidFill>
            </a:ln>
          </p:spPr>
        </p:sp>
        <p:sp>
          <p:nvSpPr>
            <p:cNvPr id="73" name="Line 73"/>
            <p:cNvSpPr/>
            <p:nvPr/>
          </p:nvSpPr>
          <p:spPr>
            <a:xfrm>
              <a:off x="9572625" y="1838325"/>
              <a:ext cx="609600" cy="733425"/>
            </a:xfrm>
            <a:custGeom>
              <a:avLst/>
              <a:gdLst/>
              <a:ahLst/>
              <a:cxnLst/>
              <a:rect l="l" t="t" r="r" b="b"/>
              <a:pathLst>
                <a:path w="609600" h="733425">
                  <a:moveTo>
                    <a:pt x="0" y="733425"/>
                  </a:moveTo>
                  <a:lnTo>
                    <a:pt x="609600" y="0"/>
                  </a:lnTo>
                </a:path>
              </a:pathLst>
            </a:custGeom>
            <a:noFill/>
            <a:ln w="9525">
              <a:solidFill>
                <a:srgbClr val="DDE5D8"/>
              </a:solidFill>
            </a:ln>
          </p:spPr>
        </p:sp>
        <p:sp>
          <p:nvSpPr>
            <p:cNvPr id="74" name="Line 74"/>
            <p:cNvSpPr/>
            <p:nvPr/>
          </p:nvSpPr>
          <p:spPr>
            <a:xfrm>
              <a:off x="9572625" y="2409825"/>
              <a:ext cx="942975" cy="161925"/>
            </a:xfrm>
            <a:custGeom>
              <a:avLst/>
              <a:gdLst/>
              <a:ahLst/>
              <a:cxnLst/>
              <a:rect l="l" t="t" r="r" b="b"/>
              <a:pathLst>
                <a:path w="942975" h="161925">
                  <a:moveTo>
                    <a:pt x="0" y="161925"/>
                  </a:moveTo>
                  <a:lnTo>
                    <a:pt x="942975" y="0"/>
                  </a:lnTo>
                </a:path>
              </a:pathLst>
            </a:custGeom>
            <a:noFill/>
            <a:ln w="9525">
              <a:solidFill>
                <a:srgbClr val="DDE5D8"/>
              </a:solidFill>
            </a:ln>
          </p:spPr>
        </p:sp>
        <p:sp>
          <p:nvSpPr>
            <p:cNvPr id="75" name="Line 75"/>
            <p:cNvSpPr/>
            <p:nvPr/>
          </p:nvSpPr>
          <p:spPr>
            <a:xfrm>
              <a:off x="9572625" y="2571750"/>
              <a:ext cx="828675" cy="476250"/>
            </a:xfrm>
            <a:custGeom>
              <a:avLst/>
              <a:gdLst/>
              <a:ahLst/>
              <a:cxnLst/>
              <a:rect l="l" t="t" r="r" b="b"/>
              <a:pathLst>
                <a:path w="828675" h="476250">
                  <a:moveTo>
                    <a:pt x="0" y="0"/>
                  </a:moveTo>
                  <a:lnTo>
                    <a:pt x="828675" y="476250"/>
                  </a:lnTo>
                </a:path>
              </a:pathLst>
            </a:custGeom>
            <a:noFill/>
            <a:ln w="9525">
              <a:solidFill>
                <a:srgbClr val="DDE5D8"/>
              </a:solidFill>
            </a:ln>
          </p:spPr>
        </p:sp>
        <p:sp>
          <p:nvSpPr>
            <p:cNvPr id="76" name="Line 76"/>
            <p:cNvSpPr/>
            <p:nvPr/>
          </p:nvSpPr>
          <p:spPr>
            <a:xfrm>
              <a:off x="9572625" y="2571750"/>
              <a:ext cx="323850" cy="895350"/>
            </a:xfrm>
            <a:custGeom>
              <a:avLst/>
              <a:gdLst/>
              <a:ahLst/>
              <a:cxnLst/>
              <a:rect l="l" t="t" r="r" b="b"/>
              <a:pathLst>
                <a:path w="323850" h="895350">
                  <a:moveTo>
                    <a:pt x="0" y="0"/>
                  </a:moveTo>
                  <a:lnTo>
                    <a:pt x="323850" y="895350"/>
                  </a:lnTo>
                </a:path>
              </a:pathLst>
            </a:custGeom>
            <a:noFill/>
            <a:ln w="9525">
              <a:solidFill>
                <a:srgbClr val="DDE5D8"/>
              </a:solidFill>
            </a:ln>
          </p:spPr>
        </p:sp>
        <p:sp>
          <p:nvSpPr>
            <p:cNvPr id="77" name="Line 77"/>
            <p:cNvSpPr/>
            <p:nvPr/>
          </p:nvSpPr>
          <p:spPr>
            <a:xfrm>
              <a:off x="9248775" y="2571750"/>
              <a:ext cx="323850" cy="895350"/>
            </a:xfrm>
            <a:custGeom>
              <a:avLst/>
              <a:gdLst/>
              <a:ahLst/>
              <a:cxnLst/>
              <a:rect l="l" t="t" r="r" b="b"/>
              <a:pathLst>
                <a:path w="323850" h="895350">
                  <a:moveTo>
                    <a:pt x="323850" y="0"/>
                  </a:moveTo>
                  <a:lnTo>
                    <a:pt x="0" y="895350"/>
                  </a:lnTo>
                </a:path>
              </a:pathLst>
            </a:custGeom>
            <a:noFill/>
            <a:ln w="9525">
              <a:solidFill>
                <a:srgbClr val="DDE5D8"/>
              </a:solidFill>
            </a:ln>
          </p:spPr>
        </p:sp>
        <p:sp>
          <p:nvSpPr>
            <p:cNvPr id="78" name="Line 78"/>
            <p:cNvSpPr/>
            <p:nvPr/>
          </p:nvSpPr>
          <p:spPr>
            <a:xfrm>
              <a:off x="8743950" y="2571750"/>
              <a:ext cx="828675" cy="476250"/>
            </a:xfrm>
            <a:custGeom>
              <a:avLst/>
              <a:gdLst/>
              <a:ahLst/>
              <a:cxnLst/>
              <a:rect l="l" t="t" r="r" b="b"/>
              <a:pathLst>
                <a:path w="828675" h="476250">
                  <a:moveTo>
                    <a:pt x="828675" y="0"/>
                  </a:moveTo>
                  <a:lnTo>
                    <a:pt x="0" y="476250"/>
                  </a:lnTo>
                </a:path>
              </a:pathLst>
            </a:custGeom>
            <a:noFill/>
            <a:ln w="9525">
              <a:solidFill>
                <a:srgbClr val="DDE5D8"/>
              </a:solidFill>
            </a:ln>
          </p:spPr>
        </p:sp>
        <p:sp>
          <p:nvSpPr>
            <p:cNvPr id="79" name="Line 79"/>
            <p:cNvSpPr/>
            <p:nvPr/>
          </p:nvSpPr>
          <p:spPr>
            <a:xfrm>
              <a:off x="8639175" y="2409825"/>
              <a:ext cx="933450" cy="161925"/>
            </a:xfrm>
            <a:custGeom>
              <a:avLst/>
              <a:gdLst/>
              <a:ahLst/>
              <a:cxnLst/>
              <a:rect l="l" t="t" r="r" b="b"/>
              <a:pathLst>
                <a:path w="933450" h="161925">
                  <a:moveTo>
                    <a:pt x="933450" y="161925"/>
                  </a:moveTo>
                  <a:lnTo>
                    <a:pt x="0" y="0"/>
                  </a:lnTo>
                </a:path>
              </a:pathLst>
            </a:custGeom>
            <a:noFill/>
            <a:ln w="9525">
              <a:solidFill>
                <a:srgbClr val="DDE5D8"/>
              </a:solidFill>
            </a:ln>
          </p:spPr>
        </p:sp>
        <p:sp>
          <p:nvSpPr>
            <p:cNvPr id="80" name="Line 80"/>
            <p:cNvSpPr/>
            <p:nvPr/>
          </p:nvSpPr>
          <p:spPr>
            <a:xfrm>
              <a:off x="8963025" y="1838325"/>
              <a:ext cx="609600" cy="733425"/>
            </a:xfrm>
            <a:custGeom>
              <a:avLst/>
              <a:gdLst/>
              <a:ahLst/>
              <a:cxnLst/>
              <a:rect l="l" t="t" r="r" b="b"/>
              <a:pathLst>
                <a:path w="609600" h="733425">
                  <a:moveTo>
                    <a:pt x="609600" y="733425"/>
                  </a:moveTo>
                  <a:lnTo>
                    <a:pt x="0" y="0"/>
                  </a:lnTo>
                </a:path>
              </a:pathLst>
            </a:custGeom>
            <a:noFill/>
            <a:ln w="9525">
              <a:solidFill>
                <a:srgbClr val="DDE5D8"/>
              </a:solidFill>
            </a:ln>
          </p:spPr>
        </p:sp>
        <p:sp>
          <p:nvSpPr>
            <p:cNvPr id="81" name="Polygon 81"/>
            <p:cNvSpPr/>
            <p:nvPr/>
          </p:nvSpPr>
          <p:spPr>
            <a:xfrm>
              <a:off x="8772525" y="1714500"/>
              <a:ext cx="1552575" cy="1390650"/>
            </a:xfrm>
            <a:custGeom>
              <a:avLst/>
              <a:gdLst/>
              <a:ahLst/>
              <a:cxnLst/>
              <a:rect l="l" t="t" r="r" b="b"/>
              <a:pathLst>
                <a:path w="1552575" h="1390650">
                  <a:moveTo>
                    <a:pt x="800100" y="0"/>
                  </a:moveTo>
                  <a:lnTo>
                    <a:pt x="1228725" y="342900"/>
                  </a:lnTo>
                  <a:lnTo>
                    <a:pt x="1552575" y="723900"/>
                  </a:lnTo>
                  <a:lnTo>
                    <a:pt x="1419225" y="1209675"/>
                  </a:lnTo>
                  <a:lnTo>
                    <a:pt x="1000125" y="1390650"/>
                  </a:lnTo>
                  <a:lnTo>
                    <a:pt x="619125" y="1352550"/>
                  </a:lnTo>
                  <a:lnTo>
                    <a:pt x="219075" y="1190625"/>
                  </a:lnTo>
                  <a:lnTo>
                    <a:pt x="0" y="714375"/>
                  </a:lnTo>
                  <a:lnTo>
                    <a:pt x="342900" y="314325"/>
                  </a:lnTo>
                  <a:close/>
                </a:path>
              </a:pathLst>
            </a:custGeom>
            <a:solidFill>
              <a:srgbClr val="9C594C">
                <a:alpha val="12000"/>
              </a:srgbClr>
            </a:solidFill>
            <a:ln w="17145">
              <a:solidFill>
                <a:srgbClr val="9C594C"/>
              </a:solidFill>
            </a:ln>
          </p:spPr>
        </p:sp>
        <p:sp>
          <p:nvSpPr>
            <p:cNvPr id="82" name="Polygon 82"/>
            <p:cNvSpPr/>
            <p:nvPr/>
          </p:nvSpPr>
          <p:spPr>
            <a:xfrm>
              <a:off x="8724900" y="1666875"/>
              <a:ext cx="1695450" cy="1533525"/>
            </a:xfrm>
            <a:custGeom>
              <a:avLst/>
              <a:gdLst/>
              <a:ahLst/>
              <a:cxnLst/>
              <a:rect l="l" t="t" r="r" b="b"/>
              <a:pathLst>
                <a:path w="1695450" h="1533525">
                  <a:moveTo>
                    <a:pt x="847725" y="0"/>
                  </a:moveTo>
                  <a:lnTo>
                    <a:pt x="1371600" y="285750"/>
                  </a:lnTo>
                  <a:lnTo>
                    <a:pt x="1695450" y="752475"/>
                  </a:lnTo>
                  <a:lnTo>
                    <a:pt x="1504950" y="1285875"/>
                  </a:lnTo>
                  <a:lnTo>
                    <a:pt x="1076325" y="1533525"/>
                  </a:lnTo>
                  <a:lnTo>
                    <a:pt x="638175" y="1485900"/>
                  </a:lnTo>
                  <a:lnTo>
                    <a:pt x="190500" y="1285875"/>
                  </a:lnTo>
                  <a:lnTo>
                    <a:pt x="0" y="752475"/>
                  </a:lnTo>
                  <a:lnTo>
                    <a:pt x="323850" y="285750"/>
                  </a:lnTo>
                  <a:close/>
                </a:path>
              </a:pathLst>
            </a:custGeom>
            <a:noFill/>
            <a:ln w="17145">
              <a:solidFill>
                <a:srgbClr val="E9563C"/>
              </a:solidFill>
            </a:ln>
          </p:spPr>
        </p:sp>
        <p:sp>
          <p:nvSpPr>
            <p:cNvPr id="83" name="TextBox 83"/>
            <p:cNvSpPr txBox="1"/>
            <p:nvPr/>
          </p:nvSpPr>
          <p:spPr>
            <a:xfrm>
              <a:off x="9615488" y="1611630"/>
              <a:ext cx="203378" cy="119062"/>
            </a:xfrm>
            <a:prstGeom prst="rect">
              <a:avLst/>
            </a:prstGeom>
            <a:noFill/>
            <a:ln>
              <a:noFill/>
            </a:ln>
          </p:spPr>
          <p:txBody>
            <a:bodyPr wrap="none" lIns="0" tIns="0" rIns="0" bIns="0" anchor="t" anchorCtr="0">
              <a:spAutoFit/>
            </a:bodyPr>
            <a:lstStyle/>
            <a:p>
              <a:pPr algn="l"/>
              <a:r>
                <a:rPr lang="zh-CN" sz="600" dirty="0">
                  <a:solidFill>
                    <a:srgbClr val="8C8C8C"/>
                  </a:solidFill>
                  <a:latin typeface="+mn-lt"/>
                  <a:ea typeface="+mn-ea"/>
                  <a:cs typeface="+mn-cs"/>
                </a:rPr>
                <a:t>100%</a:t>
              </a:r>
            </a:p>
          </p:txBody>
        </p:sp>
        <p:sp>
          <p:nvSpPr>
            <p:cNvPr id="84" name="TextBox 84"/>
            <p:cNvSpPr txBox="1"/>
            <p:nvPr/>
          </p:nvSpPr>
          <p:spPr>
            <a:xfrm>
              <a:off x="9615488" y="1802130"/>
              <a:ext cx="158953" cy="119062"/>
            </a:xfrm>
            <a:prstGeom prst="rect">
              <a:avLst/>
            </a:prstGeom>
            <a:noFill/>
            <a:ln>
              <a:noFill/>
            </a:ln>
          </p:spPr>
          <p:txBody>
            <a:bodyPr wrap="none" lIns="0" tIns="0" rIns="0" bIns="0" anchor="t" anchorCtr="0">
              <a:spAutoFit/>
            </a:bodyPr>
            <a:lstStyle/>
            <a:p>
              <a:pPr algn="l"/>
              <a:r>
                <a:rPr lang="zh-CN" sz="600" dirty="0">
                  <a:solidFill>
                    <a:srgbClr val="8C8C8C"/>
                  </a:solidFill>
                  <a:latin typeface="+mn-lt"/>
                  <a:ea typeface="+mn-ea"/>
                  <a:cs typeface="+mn-cs"/>
                </a:rPr>
                <a:t>80%</a:t>
              </a:r>
            </a:p>
          </p:txBody>
        </p:sp>
        <p:sp>
          <p:nvSpPr>
            <p:cNvPr id="85" name="TextBox 85"/>
            <p:cNvSpPr txBox="1"/>
            <p:nvPr/>
          </p:nvSpPr>
          <p:spPr>
            <a:xfrm>
              <a:off x="9615488" y="1992630"/>
              <a:ext cx="158953" cy="119062"/>
            </a:xfrm>
            <a:prstGeom prst="rect">
              <a:avLst/>
            </a:prstGeom>
            <a:noFill/>
            <a:ln>
              <a:noFill/>
            </a:ln>
          </p:spPr>
          <p:txBody>
            <a:bodyPr wrap="none" lIns="0" tIns="0" rIns="0" bIns="0" anchor="t" anchorCtr="0">
              <a:spAutoFit/>
            </a:bodyPr>
            <a:lstStyle/>
            <a:p>
              <a:pPr algn="l"/>
              <a:r>
                <a:rPr lang="zh-CN" sz="600" dirty="0">
                  <a:solidFill>
                    <a:srgbClr val="8C8C8C"/>
                  </a:solidFill>
                  <a:latin typeface="+mn-lt"/>
                  <a:ea typeface="+mn-ea"/>
                  <a:cs typeface="+mn-cs"/>
                </a:rPr>
                <a:t>60%</a:t>
              </a:r>
            </a:p>
          </p:txBody>
        </p:sp>
        <p:sp>
          <p:nvSpPr>
            <p:cNvPr id="86" name="TextBox 86"/>
            <p:cNvSpPr txBox="1"/>
            <p:nvPr/>
          </p:nvSpPr>
          <p:spPr>
            <a:xfrm>
              <a:off x="9615488" y="2183130"/>
              <a:ext cx="158953" cy="119062"/>
            </a:xfrm>
            <a:prstGeom prst="rect">
              <a:avLst/>
            </a:prstGeom>
            <a:noFill/>
            <a:ln>
              <a:noFill/>
            </a:ln>
          </p:spPr>
          <p:txBody>
            <a:bodyPr wrap="none" lIns="0" tIns="0" rIns="0" bIns="0" anchor="t" anchorCtr="0">
              <a:spAutoFit/>
            </a:bodyPr>
            <a:lstStyle/>
            <a:p>
              <a:pPr algn="l"/>
              <a:r>
                <a:rPr lang="zh-CN" sz="600" dirty="0">
                  <a:solidFill>
                    <a:srgbClr val="8C8C8C"/>
                  </a:solidFill>
                  <a:latin typeface="+mn-lt"/>
                  <a:ea typeface="+mn-ea"/>
                  <a:cs typeface="+mn-cs"/>
                </a:rPr>
                <a:t>40%</a:t>
              </a:r>
            </a:p>
          </p:txBody>
        </p:sp>
        <p:sp>
          <p:nvSpPr>
            <p:cNvPr id="87" name="TextBox 87"/>
            <p:cNvSpPr txBox="1"/>
            <p:nvPr/>
          </p:nvSpPr>
          <p:spPr>
            <a:xfrm>
              <a:off x="9615488" y="2373630"/>
              <a:ext cx="158953" cy="119062"/>
            </a:xfrm>
            <a:prstGeom prst="rect">
              <a:avLst/>
            </a:prstGeom>
            <a:noFill/>
            <a:ln>
              <a:noFill/>
            </a:ln>
          </p:spPr>
          <p:txBody>
            <a:bodyPr wrap="none" lIns="0" tIns="0" rIns="0" bIns="0" anchor="t" anchorCtr="0">
              <a:spAutoFit/>
            </a:bodyPr>
            <a:lstStyle/>
            <a:p>
              <a:pPr algn="l"/>
              <a:r>
                <a:rPr lang="zh-CN" sz="600" dirty="0">
                  <a:solidFill>
                    <a:srgbClr val="8C8C8C"/>
                  </a:solidFill>
                  <a:latin typeface="+mn-lt"/>
                  <a:ea typeface="+mn-ea"/>
                  <a:cs typeface="+mn-cs"/>
                </a:rPr>
                <a:t>20%</a:t>
              </a:r>
            </a:p>
          </p:txBody>
        </p:sp>
        <p:sp>
          <p:nvSpPr>
            <p:cNvPr id="88" name="TextBox 88"/>
            <p:cNvSpPr txBox="1"/>
            <p:nvPr/>
          </p:nvSpPr>
          <p:spPr>
            <a:xfrm>
              <a:off x="9615488" y="2564130"/>
              <a:ext cx="114529" cy="119062"/>
            </a:xfrm>
            <a:prstGeom prst="rect">
              <a:avLst/>
            </a:prstGeom>
            <a:noFill/>
            <a:ln>
              <a:noFill/>
            </a:ln>
          </p:spPr>
          <p:txBody>
            <a:bodyPr wrap="none" lIns="0" tIns="0" rIns="0" bIns="0" anchor="t" anchorCtr="0">
              <a:spAutoFit/>
            </a:bodyPr>
            <a:lstStyle/>
            <a:p>
              <a:pPr algn="l"/>
              <a:r>
                <a:rPr lang="zh-CN" sz="600" dirty="0">
                  <a:solidFill>
                    <a:srgbClr val="8C8C8C"/>
                  </a:solidFill>
                  <a:latin typeface="+mn-lt"/>
                  <a:ea typeface="+mn-ea"/>
                  <a:cs typeface="+mn-cs"/>
                </a:rPr>
                <a:t>0%</a:t>
              </a:r>
            </a:p>
          </p:txBody>
        </p:sp>
        <p:sp>
          <p:nvSpPr>
            <p:cNvPr id="89" name="TextBox 89"/>
            <p:cNvSpPr txBox="1"/>
            <p:nvPr/>
          </p:nvSpPr>
          <p:spPr>
            <a:xfrm>
              <a:off x="9339008" y="1451134"/>
              <a:ext cx="467233"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公司的战略</a:t>
              </a:r>
            </a:p>
          </p:txBody>
        </p:sp>
        <p:sp>
          <p:nvSpPr>
            <p:cNvPr id="90" name="TextBox 90"/>
            <p:cNvSpPr txBox="1"/>
            <p:nvPr/>
          </p:nvSpPr>
          <p:spPr>
            <a:xfrm>
              <a:off x="10282238" y="1717834"/>
              <a:ext cx="467233" cy="133350"/>
            </a:xfrm>
            <a:prstGeom prst="rect">
              <a:avLst/>
            </a:prstGeom>
            <a:noFill/>
            <a:ln>
              <a:noFill/>
            </a:ln>
          </p:spPr>
          <p:txBody>
            <a:bodyPr wrap="none" lIns="0" tIns="0" rIns="0" bIns="0" anchor="t" anchorCtr="0">
              <a:spAutoFit/>
            </a:bodyPr>
            <a:lstStyle/>
            <a:p>
              <a:pPr algn="l"/>
              <a:r>
                <a:rPr lang="zh-CN" sz="680" dirty="0">
                  <a:solidFill>
                    <a:srgbClr val="595959"/>
                  </a:solidFill>
                  <a:latin typeface="+mn-lt"/>
                  <a:ea typeface="+mn-ea"/>
                  <a:cs typeface="+mn-cs"/>
                </a:rPr>
                <a:t>公司的整合</a:t>
              </a:r>
            </a:p>
          </p:txBody>
        </p:sp>
        <p:sp>
          <p:nvSpPr>
            <p:cNvPr id="91" name="TextBox 91"/>
            <p:cNvSpPr txBox="1"/>
            <p:nvPr/>
          </p:nvSpPr>
          <p:spPr>
            <a:xfrm>
              <a:off x="10587038" y="2365534"/>
              <a:ext cx="650316" cy="133350"/>
            </a:xfrm>
            <a:prstGeom prst="rect">
              <a:avLst/>
            </a:prstGeom>
            <a:noFill/>
            <a:ln>
              <a:noFill/>
            </a:ln>
          </p:spPr>
          <p:txBody>
            <a:bodyPr wrap="none" lIns="0" tIns="0" rIns="0" bIns="0" anchor="t" anchorCtr="0">
              <a:spAutoFit/>
            </a:bodyPr>
            <a:lstStyle/>
            <a:p>
              <a:pPr algn="l"/>
              <a:r>
                <a:rPr lang="zh-CN" sz="680" dirty="0">
                  <a:solidFill>
                    <a:srgbClr val="595959"/>
                  </a:solidFill>
                  <a:latin typeface="+mn-lt"/>
                  <a:ea typeface="+mn-ea"/>
                  <a:cs typeface="+mn-cs"/>
                </a:rPr>
                <a:t>公司的管理方面</a:t>
              </a:r>
            </a:p>
          </p:txBody>
        </p:sp>
        <p:sp>
          <p:nvSpPr>
            <p:cNvPr id="92" name="TextBox 92"/>
            <p:cNvSpPr txBox="1"/>
            <p:nvPr/>
          </p:nvSpPr>
          <p:spPr>
            <a:xfrm>
              <a:off x="10472738" y="3089434"/>
              <a:ext cx="467233" cy="133350"/>
            </a:xfrm>
            <a:prstGeom prst="rect">
              <a:avLst/>
            </a:prstGeom>
            <a:noFill/>
            <a:ln>
              <a:noFill/>
            </a:ln>
          </p:spPr>
          <p:txBody>
            <a:bodyPr wrap="none" lIns="0" tIns="0" rIns="0" bIns="0" anchor="t" anchorCtr="0">
              <a:spAutoFit/>
            </a:bodyPr>
            <a:lstStyle/>
            <a:p>
              <a:pPr algn="l"/>
              <a:r>
                <a:rPr lang="zh-CN" sz="680" dirty="0">
                  <a:solidFill>
                    <a:srgbClr val="595959"/>
                  </a:solidFill>
                  <a:latin typeface="+mn-lt"/>
                  <a:ea typeface="+mn-ea"/>
                  <a:cs typeface="+mn-cs"/>
                </a:rPr>
                <a:t>公司的人员</a:t>
              </a:r>
            </a:p>
          </p:txBody>
        </p:sp>
        <p:sp>
          <p:nvSpPr>
            <p:cNvPr id="93" name="TextBox 93"/>
            <p:cNvSpPr txBox="1"/>
            <p:nvPr/>
          </p:nvSpPr>
          <p:spPr>
            <a:xfrm>
              <a:off x="9958388" y="3546634"/>
              <a:ext cx="467233" cy="133350"/>
            </a:xfrm>
            <a:prstGeom prst="rect">
              <a:avLst/>
            </a:prstGeom>
            <a:noFill/>
            <a:ln>
              <a:noFill/>
            </a:ln>
          </p:spPr>
          <p:txBody>
            <a:bodyPr wrap="none" lIns="0" tIns="0" rIns="0" bIns="0" anchor="t" anchorCtr="0">
              <a:spAutoFit/>
            </a:bodyPr>
            <a:lstStyle/>
            <a:p>
              <a:pPr algn="l"/>
              <a:r>
                <a:rPr lang="zh-CN" sz="680" dirty="0">
                  <a:solidFill>
                    <a:srgbClr val="595959"/>
                  </a:solidFill>
                  <a:latin typeface="+mn-lt"/>
                  <a:ea typeface="+mn-ea"/>
                  <a:cs typeface="+mn-cs"/>
                </a:rPr>
                <a:t>市场的环境</a:t>
              </a:r>
            </a:p>
          </p:txBody>
        </p:sp>
        <p:sp>
          <p:nvSpPr>
            <p:cNvPr id="94" name="TextBox 94"/>
            <p:cNvSpPr txBox="1"/>
            <p:nvPr/>
          </p:nvSpPr>
          <p:spPr>
            <a:xfrm>
              <a:off x="8536546" y="3546634"/>
              <a:ext cx="650316"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工作场所的管理</a:t>
              </a:r>
            </a:p>
          </p:txBody>
        </p:sp>
        <p:sp>
          <p:nvSpPr>
            <p:cNvPr id="95" name="TextBox 95"/>
            <p:cNvSpPr txBox="1"/>
            <p:nvPr/>
          </p:nvSpPr>
          <p:spPr>
            <a:xfrm>
              <a:off x="8022196" y="3089434"/>
              <a:ext cx="650316"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整体环境的影响</a:t>
              </a:r>
            </a:p>
          </p:txBody>
        </p:sp>
        <p:sp>
          <p:nvSpPr>
            <p:cNvPr id="96" name="TextBox 96"/>
            <p:cNvSpPr txBox="1"/>
            <p:nvPr/>
          </p:nvSpPr>
          <p:spPr>
            <a:xfrm>
              <a:off x="8090980" y="2365534"/>
              <a:ext cx="467233"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社会影响力</a:t>
              </a:r>
            </a:p>
          </p:txBody>
        </p:sp>
        <p:sp>
          <p:nvSpPr>
            <p:cNvPr id="97" name="TextBox 97"/>
            <p:cNvSpPr txBox="1"/>
            <p:nvPr/>
          </p:nvSpPr>
          <p:spPr>
            <a:xfrm>
              <a:off x="8029613" y="1717834"/>
              <a:ext cx="833399" cy="133350"/>
            </a:xfrm>
            <a:prstGeom prst="rect">
              <a:avLst/>
            </a:prstGeom>
            <a:noFill/>
            <a:ln>
              <a:noFill/>
            </a:ln>
          </p:spPr>
          <p:txBody>
            <a:bodyPr wrap="none" lIns="0" tIns="0" rIns="0" bIns="0" anchor="t" anchorCtr="0">
              <a:spAutoFit/>
            </a:bodyPr>
            <a:lstStyle/>
            <a:p>
              <a:pPr algn="r"/>
              <a:r>
                <a:rPr lang="zh-CN" sz="680" dirty="0">
                  <a:solidFill>
                    <a:srgbClr val="595959"/>
                  </a:solidFill>
                  <a:latin typeface="+mn-lt"/>
                  <a:ea typeface="+mn-ea"/>
                  <a:cs typeface="+mn-cs"/>
                </a:rPr>
                <a:t>组织层面的管理能力</a:t>
              </a:r>
            </a:p>
          </p:txBody>
        </p:sp>
        <p:sp>
          <p:nvSpPr>
            <p:cNvPr id="98" name="Line 98"/>
            <p:cNvSpPr/>
            <p:nvPr/>
          </p:nvSpPr>
          <p:spPr>
            <a:xfrm>
              <a:off x="8953500" y="4057650"/>
              <a:ext cx="247650" cy="9525"/>
            </a:xfrm>
            <a:custGeom>
              <a:avLst/>
              <a:gdLst/>
              <a:ahLst/>
              <a:cxnLst/>
              <a:rect l="l" t="t" r="r" b="b"/>
              <a:pathLst>
                <a:path w="247650" h="9525">
                  <a:moveTo>
                    <a:pt x="0" y="0"/>
                  </a:moveTo>
                  <a:lnTo>
                    <a:pt x="247650" y="0"/>
                  </a:lnTo>
                </a:path>
              </a:pathLst>
            </a:custGeom>
            <a:noFill/>
            <a:ln w="19050">
              <a:solidFill>
                <a:srgbClr val="9C594C"/>
              </a:solidFill>
            </a:ln>
          </p:spPr>
        </p:sp>
        <p:sp>
          <p:nvSpPr>
            <p:cNvPr id="99" name="TextBox 99"/>
            <p:cNvSpPr txBox="1"/>
            <p:nvPr/>
          </p:nvSpPr>
          <p:spPr>
            <a:xfrm>
              <a:off x="9253538" y="4022884"/>
              <a:ext cx="210917" cy="133350"/>
            </a:xfrm>
            <a:prstGeom prst="rect">
              <a:avLst/>
            </a:prstGeom>
            <a:noFill/>
            <a:ln>
              <a:noFill/>
            </a:ln>
          </p:spPr>
          <p:txBody>
            <a:bodyPr wrap="none" lIns="0" tIns="0" rIns="0" bIns="0" anchor="t" anchorCtr="0">
              <a:spAutoFit/>
            </a:bodyPr>
            <a:lstStyle/>
            <a:p>
              <a:pPr algn="l"/>
              <a:r>
                <a:rPr lang="zh-CN" sz="680" dirty="0">
                  <a:solidFill>
                    <a:srgbClr val="595959"/>
                  </a:solidFill>
                  <a:latin typeface="+mn-lt"/>
                  <a:ea typeface="+mn-ea"/>
                  <a:cs typeface="+mn-cs"/>
                </a:rPr>
                <a:t>2022</a:t>
              </a:r>
            </a:p>
          </p:txBody>
        </p:sp>
        <p:sp>
          <p:nvSpPr>
            <p:cNvPr id="100" name="Line 100"/>
            <p:cNvSpPr/>
            <p:nvPr/>
          </p:nvSpPr>
          <p:spPr>
            <a:xfrm>
              <a:off x="9620250" y="4057650"/>
              <a:ext cx="247650" cy="9525"/>
            </a:xfrm>
            <a:custGeom>
              <a:avLst/>
              <a:gdLst/>
              <a:ahLst/>
              <a:cxnLst/>
              <a:rect l="l" t="t" r="r" b="b"/>
              <a:pathLst>
                <a:path w="247650" h="9525">
                  <a:moveTo>
                    <a:pt x="0" y="0"/>
                  </a:moveTo>
                  <a:lnTo>
                    <a:pt x="247650" y="0"/>
                  </a:lnTo>
                </a:path>
              </a:pathLst>
            </a:custGeom>
            <a:noFill/>
            <a:ln w="19050">
              <a:solidFill>
                <a:srgbClr val="E9563C"/>
              </a:solidFill>
            </a:ln>
          </p:spPr>
        </p:sp>
        <p:sp>
          <p:nvSpPr>
            <p:cNvPr id="101" name="TextBox 101"/>
            <p:cNvSpPr txBox="1"/>
            <p:nvPr/>
          </p:nvSpPr>
          <p:spPr>
            <a:xfrm>
              <a:off x="9920288" y="4022884"/>
              <a:ext cx="210917" cy="133350"/>
            </a:xfrm>
            <a:prstGeom prst="rect">
              <a:avLst/>
            </a:prstGeom>
            <a:noFill/>
            <a:ln>
              <a:noFill/>
            </a:ln>
          </p:spPr>
          <p:txBody>
            <a:bodyPr wrap="none" lIns="0" tIns="0" rIns="0" bIns="0" anchor="t" anchorCtr="0">
              <a:spAutoFit/>
            </a:bodyPr>
            <a:lstStyle/>
            <a:p>
              <a:pPr algn="l"/>
              <a:r>
                <a:rPr lang="zh-CN" sz="680" dirty="0">
                  <a:solidFill>
                    <a:srgbClr val="595959"/>
                  </a:solidFill>
                  <a:latin typeface="+mn-lt"/>
                  <a:ea typeface="+mn-ea"/>
                  <a:cs typeface="+mn-cs"/>
                </a:rPr>
                <a:t>2023</a:t>
              </a:r>
            </a:p>
          </p:txBody>
        </p:sp>
      </p:grpSp>
      <p:grpSp>
        <p:nvGrpSpPr>
          <p:cNvPr id="142" name="algo-cards"/>
          <p:cNvGrpSpPr/>
          <p:nvPr/>
        </p:nvGrpSpPr>
        <p:grpSpPr>
          <a:xfrm>
            <a:off x="7334250" y="4381500"/>
            <a:ext cx="4476750" cy="822484"/>
            <a:chOff x="7334250" y="4381500"/>
            <a:chExt cx="4476750" cy="822484"/>
          </a:xfrm>
        </p:grpSpPr>
        <p:sp>
          <p:nvSpPr>
            <p:cNvPr id="103" name="Rectangle 103"/>
            <p:cNvSpPr/>
            <p:nvPr/>
          </p:nvSpPr>
          <p:spPr>
            <a:xfrm>
              <a:off x="7334250" y="4381500"/>
              <a:ext cx="1066800" cy="209550"/>
            </a:xfrm>
            <a:prstGeom prst="roundRect">
              <a:avLst>
                <a:gd name="adj" fmla="val 13636"/>
              </a:avLst>
            </a:prstGeom>
            <a:solidFill>
              <a:srgbClr val="E9563C"/>
            </a:solidFill>
            <a:ln>
              <a:noFill/>
            </a:ln>
          </p:spPr>
        </p:sp>
        <p:grpSp>
          <p:nvGrpSpPr>
            <p:cNvPr id="106" name="Group 106"/>
            <p:cNvGrpSpPr/>
            <p:nvPr/>
          </p:nvGrpSpPr>
          <p:grpSpPr>
            <a:xfrm>
              <a:off x="7405630" y="4433830"/>
              <a:ext cx="104891" cy="104891"/>
              <a:chOff x="7405630" y="4433830"/>
              <a:chExt cx="104891" cy="104891"/>
            </a:xfrm>
          </p:grpSpPr>
          <p:sp>
            <p:nvSpPr>
              <p:cNvPr id="104" name="Freeform 104"/>
              <p:cNvSpPr/>
              <p:nvPr/>
            </p:nvSpPr>
            <p:spPr>
              <a:xfrm>
                <a:off x="7405630" y="4433830"/>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FFFFFF"/>
                </a:solidFill>
              </a:ln>
            </p:spPr>
          </p:sp>
          <p:sp>
            <p:nvSpPr>
              <p:cNvPr id="105" name="Freeform 105"/>
              <p:cNvSpPr/>
              <p:nvPr/>
            </p:nvSpPr>
            <p:spPr>
              <a:xfrm>
                <a:off x="7441406" y="4469606"/>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FFFFFF"/>
                </a:solidFill>
              </a:ln>
            </p:spPr>
          </p:sp>
        </p:grpSp>
        <p:sp>
          <p:nvSpPr>
            <p:cNvPr id="107" name="TextBox 107"/>
            <p:cNvSpPr txBox="1"/>
            <p:nvPr/>
          </p:nvSpPr>
          <p:spPr>
            <a:xfrm>
              <a:off x="7577138" y="4443412"/>
              <a:ext cx="514350"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算法的设计</a:t>
              </a:r>
            </a:p>
          </p:txBody>
        </p:sp>
        <p:sp>
          <p:nvSpPr>
            <p:cNvPr id="108" name="Line 108"/>
            <p:cNvSpPr/>
            <p:nvPr/>
          </p:nvSpPr>
          <p:spPr>
            <a:xfrm>
              <a:off x="7334250" y="4667250"/>
              <a:ext cx="1428750" cy="9525"/>
            </a:xfrm>
            <a:custGeom>
              <a:avLst/>
              <a:gdLst/>
              <a:ahLst/>
              <a:cxnLst/>
              <a:rect l="l" t="t" r="r" b="b"/>
              <a:pathLst>
                <a:path w="1428750" h="9525">
                  <a:moveTo>
                    <a:pt x="0" y="0"/>
                  </a:moveTo>
                  <a:lnTo>
                    <a:pt x="1428750" y="0"/>
                  </a:lnTo>
                </a:path>
              </a:pathLst>
            </a:custGeom>
            <a:noFill/>
            <a:ln w="9525">
              <a:solidFill>
                <a:srgbClr val="E8B5AC"/>
              </a:solidFill>
              <a:custDash>
                <a:ds d="300000" sp="200000"/>
              </a:custDash>
            </a:ln>
          </p:spPr>
        </p:sp>
        <p:sp>
          <p:nvSpPr>
            <p:cNvPr id="109" name="TextBox 109"/>
            <p:cNvSpPr txBox="1"/>
            <p:nvPr/>
          </p:nvSpPr>
          <p:spPr>
            <a:xfrm>
              <a:off x="7377112" y="4746784"/>
              <a:ext cx="862965" cy="457200"/>
            </a:xfrm>
            <a:prstGeom prst="rect">
              <a:avLst/>
            </a:prstGeom>
            <a:noFill/>
            <a:ln>
              <a:noFill/>
            </a:ln>
          </p:spPr>
          <p:txBody>
            <a:bodyPr wrap="none" lIns="0" tIns="0" rIns="0" bIns="0" anchor="t" anchorCtr="0">
              <a:spAutoFit/>
            </a:bodyPr>
            <a:lstStyle/>
            <a:p>
              <a:pPr algn="l" marL="76200" indent="-76200">
                <a:lnSpc>
                  <a:spcPts val="1275"/>
                </a:lnSpc>
                <a:buClr>
                  <a:srgbClr val="333333"/>
                </a:buClr>
                <a:buSzTx/>
                <a:buFontTx/>
                <a:buChar char="◆"/>
              </a:pPr>
              <a:r>
                <a:rPr lang="zh-CN" sz="680" dirty="0">
                  <a:solidFill>
                    <a:srgbClr val="333333"/>
                  </a:solidFill>
                  <a:latin typeface="+mn-lt"/>
                  <a:ea typeface="+mn-ea"/>
                  <a:cs typeface="+mn-cs"/>
                </a:rPr>
                <a:t>选择算法的核心目标</a:t>
              </a:r>
              <a:br/>
              <a:r>
                <a:rPr lang="zh-CN" sz="680" dirty="0">
                  <a:solidFill>
                    <a:srgbClr val="333333"/>
                  </a:solidFill>
                  <a:latin typeface="+mn-lt"/>
                  <a:ea typeface="+mn-ea"/>
                  <a:cs typeface="+mn-cs"/>
                </a:rPr>
                <a:t>◆ 在数据中提取信息</a:t>
              </a:r>
              <a:br/>
              <a:r>
                <a:rPr lang="zh-CN" sz="680" dirty="0">
                  <a:solidFill>
                    <a:srgbClr val="333333"/>
                  </a:solidFill>
                  <a:latin typeface="+mn-lt"/>
                  <a:ea typeface="+mn-ea"/>
                  <a:cs typeface="+mn-cs"/>
                </a:rPr>
                <a:t>◆ 算法模型计算和选择</a:t>
              </a:r>
            </a:p>
          </p:txBody>
        </p:sp>
        <p:sp>
          <p:nvSpPr>
            <p:cNvPr id="110" name="Rectangle 110"/>
            <p:cNvSpPr/>
            <p:nvPr/>
          </p:nvSpPr>
          <p:spPr>
            <a:xfrm>
              <a:off x="8858250" y="4381500"/>
              <a:ext cx="1143000" cy="209550"/>
            </a:xfrm>
            <a:prstGeom prst="roundRect">
              <a:avLst>
                <a:gd name="adj" fmla="val 13636"/>
              </a:avLst>
            </a:prstGeom>
            <a:solidFill>
              <a:srgbClr val="9C594C"/>
            </a:solidFill>
            <a:ln>
              <a:noFill/>
            </a:ln>
          </p:spPr>
        </p:sp>
        <p:grpSp>
          <p:nvGrpSpPr>
            <p:cNvPr id="120" name="Group 120"/>
            <p:cNvGrpSpPr/>
            <p:nvPr/>
          </p:nvGrpSpPr>
          <p:grpSpPr>
            <a:xfrm>
              <a:off x="8943181" y="4430712"/>
              <a:ext cx="77788" cy="105569"/>
              <a:chOff x="8943181" y="4430712"/>
              <a:chExt cx="77788" cy="105569"/>
            </a:xfrm>
          </p:grpSpPr>
          <p:sp>
            <p:nvSpPr>
              <p:cNvPr id="111" name="Freeform 111"/>
              <p:cNvSpPr/>
              <p:nvPr/>
            </p:nvSpPr>
            <p:spPr>
              <a:xfrm>
                <a:off x="8948737" y="4441825"/>
                <a:ext cx="66675" cy="44450"/>
              </a:xfrm>
              <a:custGeom>
                <a:avLst/>
                <a:gdLst/>
                <a:ahLst/>
                <a:cxnLst/>
                <a:rect l="l" t="t" r="r" b="b"/>
                <a:pathLst>
                  <a:path w="66675" h="44450">
                    <a:moveTo>
                      <a:pt x="0" y="11112"/>
                    </a:moveTo>
                    <a:cubicBezTo>
                      <a:pt x="0" y="4975"/>
                      <a:pt x="4975" y="0"/>
                      <a:pt x="11112" y="0"/>
                    </a:cubicBezTo>
                    <a:lnTo>
                      <a:pt x="55562" y="0"/>
                    </a:lnTo>
                    <a:cubicBezTo>
                      <a:pt x="61700" y="0"/>
                      <a:pt x="66675" y="4975"/>
                      <a:pt x="66675" y="11112"/>
                    </a:cubicBezTo>
                    <a:lnTo>
                      <a:pt x="66675" y="33337"/>
                    </a:lnTo>
                    <a:cubicBezTo>
                      <a:pt x="66675" y="39475"/>
                      <a:pt x="61700" y="44450"/>
                      <a:pt x="55562" y="44450"/>
                    </a:cubicBezTo>
                    <a:lnTo>
                      <a:pt x="11112" y="44450"/>
                    </a:lnTo>
                    <a:cubicBezTo>
                      <a:pt x="4975" y="44450"/>
                      <a:pt x="0" y="39475"/>
                      <a:pt x="0" y="33337"/>
                    </a:cubicBezTo>
                    <a:lnTo>
                      <a:pt x="0" y="11112"/>
                    </a:lnTo>
                  </a:path>
                </a:pathLst>
              </a:custGeom>
              <a:noFill/>
              <a:ln w="11112">
                <a:solidFill>
                  <a:srgbClr val="FFFFFF"/>
                </a:solidFill>
              </a:ln>
            </p:spPr>
          </p:sp>
          <p:sp>
            <p:nvSpPr>
              <p:cNvPr id="112" name="Freeform 112"/>
              <p:cNvSpPr/>
              <p:nvPr/>
            </p:nvSpPr>
            <p:spPr>
              <a:xfrm>
                <a:off x="8982075" y="4430712"/>
                <a:ext cx="9525" cy="11112"/>
              </a:xfrm>
              <a:custGeom>
                <a:avLst/>
                <a:gdLst/>
                <a:ahLst/>
                <a:cxnLst/>
                <a:rect l="l" t="t" r="r" b="b"/>
                <a:pathLst>
                  <a:path w="9525" h="11112">
                    <a:moveTo>
                      <a:pt x="0" y="0"/>
                    </a:moveTo>
                    <a:lnTo>
                      <a:pt x="0" y="11112"/>
                    </a:lnTo>
                  </a:path>
                </a:pathLst>
              </a:custGeom>
              <a:noFill/>
              <a:ln w="11112">
                <a:solidFill>
                  <a:srgbClr val="FFFFFF"/>
                </a:solidFill>
              </a:ln>
            </p:spPr>
          </p:sp>
          <p:sp>
            <p:nvSpPr>
              <p:cNvPr id="113" name="Freeform 113"/>
              <p:cNvSpPr/>
              <p:nvPr/>
            </p:nvSpPr>
            <p:spPr>
              <a:xfrm>
                <a:off x="8965406" y="4486275"/>
                <a:ext cx="9525" cy="50006"/>
              </a:xfrm>
              <a:custGeom>
                <a:avLst/>
                <a:gdLst/>
                <a:ahLst/>
                <a:cxnLst/>
                <a:rect l="l" t="t" r="r" b="b"/>
                <a:pathLst>
                  <a:path w="9525" h="50006">
                    <a:moveTo>
                      <a:pt x="0" y="0"/>
                    </a:moveTo>
                    <a:lnTo>
                      <a:pt x="0" y="50006"/>
                    </a:lnTo>
                  </a:path>
                </a:pathLst>
              </a:custGeom>
              <a:noFill/>
              <a:ln w="11112">
                <a:solidFill>
                  <a:srgbClr val="FFFFFF"/>
                </a:solidFill>
              </a:ln>
            </p:spPr>
          </p:sp>
          <p:sp>
            <p:nvSpPr>
              <p:cNvPr id="114" name="Freeform 114"/>
              <p:cNvSpPr/>
              <p:nvPr/>
            </p:nvSpPr>
            <p:spPr>
              <a:xfrm>
                <a:off x="8998744" y="4486275"/>
                <a:ext cx="9525" cy="50006"/>
              </a:xfrm>
              <a:custGeom>
                <a:avLst/>
                <a:gdLst/>
                <a:ahLst/>
                <a:cxnLst/>
                <a:rect l="l" t="t" r="r" b="b"/>
                <a:pathLst>
                  <a:path w="9525" h="50006">
                    <a:moveTo>
                      <a:pt x="0" y="0"/>
                    </a:moveTo>
                    <a:lnTo>
                      <a:pt x="0" y="50006"/>
                    </a:lnTo>
                  </a:path>
                </a:pathLst>
              </a:custGeom>
              <a:noFill/>
              <a:ln w="11112">
                <a:solidFill>
                  <a:srgbClr val="FFFFFF"/>
                </a:solidFill>
              </a:ln>
            </p:spPr>
          </p:sp>
          <p:sp>
            <p:nvSpPr>
              <p:cNvPr id="115" name="Freeform 115"/>
              <p:cNvSpPr/>
              <p:nvPr/>
            </p:nvSpPr>
            <p:spPr>
              <a:xfrm>
                <a:off x="8943181" y="4497387"/>
                <a:ext cx="22225" cy="11112"/>
              </a:xfrm>
              <a:custGeom>
                <a:avLst/>
                <a:gdLst/>
                <a:ahLst/>
                <a:cxnLst/>
                <a:rect l="l" t="t" r="r" b="b"/>
                <a:pathLst>
                  <a:path w="22225" h="11112">
                    <a:moveTo>
                      <a:pt x="0" y="11112"/>
                    </a:moveTo>
                    <a:lnTo>
                      <a:pt x="22225" y="0"/>
                    </a:lnTo>
                  </a:path>
                </a:pathLst>
              </a:custGeom>
              <a:noFill/>
              <a:ln w="11112">
                <a:solidFill>
                  <a:srgbClr val="FFFFFF"/>
                </a:solidFill>
              </a:ln>
            </p:spPr>
          </p:sp>
          <p:sp>
            <p:nvSpPr>
              <p:cNvPr id="116" name="Freeform 116"/>
              <p:cNvSpPr/>
              <p:nvPr/>
            </p:nvSpPr>
            <p:spPr>
              <a:xfrm>
                <a:off x="8998744" y="4497387"/>
                <a:ext cx="22225" cy="11112"/>
              </a:xfrm>
              <a:custGeom>
                <a:avLst/>
                <a:gdLst/>
                <a:ahLst/>
                <a:cxnLst/>
                <a:rect l="l" t="t" r="r" b="b"/>
                <a:pathLst>
                  <a:path w="22225" h="11112">
                    <a:moveTo>
                      <a:pt x="0" y="0"/>
                    </a:moveTo>
                    <a:lnTo>
                      <a:pt x="22225" y="11112"/>
                    </a:lnTo>
                  </a:path>
                </a:pathLst>
              </a:custGeom>
              <a:noFill/>
              <a:ln w="11112">
                <a:solidFill>
                  <a:srgbClr val="FFFFFF"/>
                </a:solidFill>
              </a:ln>
            </p:spPr>
          </p:sp>
          <p:sp>
            <p:nvSpPr>
              <p:cNvPr id="117" name="Freeform 117"/>
              <p:cNvSpPr/>
              <p:nvPr/>
            </p:nvSpPr>
            <p:spPr>
              <a:xfrm>
                <a:off x="8965406" y="4519612"/>
                <a:ext cx="33337" cy="9525"/>
              </a:xfrm>
              <a:custGeom>
                <a:avLst/>
                <a:gdLst/>
                <a:ahLst/>
                <a:cxnLst/>
                <a:rect l="l" t="t" r="r" b="b"/>
                <a:pathLst>
                  <a:path w="33337" h="9525">
                    <a:moveTo>
                      <a:pt x="0" y="0"/>
                    </a:moveTo>
                    <a:lnTo>
                      <a:pt x="33337" y="0"/>
                    </a:lnTo>
                  </a:path>
                </a:pathLst>
              </a:custGeom>
              <a:noFill/>
              <a:ln w="11112">
                <a:solidFill>
                  <a:srgbClr val="FFFFFF"/>
                </a:solidFill>
              </a:ln>
            </p:spPr>
          </p:sp>
          <p:sp>
            <p:nvSpPr>
              <p:cNvPr id="118" name="Freeform 118"/>
              <p:cNvSpPr/>
              <p:nvPr/>
            </p:nvSpPr>
            <p:spPr>
              <a:xfrm>
                <a:off x="8970962" y="4464050"/>
                <a:ext cx="9525" cy="9525"/>
              </a:xfrm>
              <a:custGeom>
                <a:avLst/>
                <a:gdLst/>
                <a:ahLst/>
                <a:cxnLst/>
                <a:rect l="l" t="t" r="r" b="b"/>
                <a:pathLst>
                  <a:path w="9525" h="9525">
                    <a:moveTo>
                      <a:pt x="0" y="0"/>
                    </a:moveTo>
                    <a:lnTo>
                      <a:pt x="0" y="56"/>
                    </a:lnTo>
                  </a:path>
                </a:pathLst>
              </a:custGeom>
              <a:noFill/>
              <a:ln w="11112">
                <a:solidFill>
                  <a:srgbClr val="FFFFFF"/>
                </a:solidFill>
              </a:ln>
            </p:spPr>
          </p:sp>
          <p:sp>
            <p:nvSpPr>
              <p:cNvPr id="119" name="Freeform 119"/>
              <p:cNvSpPr/>
              <p:nvPr/>
            </p:nvSpPr>
            <p:spPr>
              <a:xfrm>
                <a:off x="8993187" y="4464050"/>
                <a:ext cx="9525" cy="9525"/>
              </a:xfrm>
              <a:custGeom>
                <a:avLst/>
                <a:gdLst/>
                <a:ahLst/>
                <a:cxnLst/>
                <a:rect l="l" t="t" r="r" b="b"/>
                <a:pathLst>
                  <a:path w="9525" h="9525">
                    <a:moveTo>
                      <a:pt x="0" y="0"/>
                    </a:moveTo>
                    <a:lnTo>
                      <a:pt x="0" y="56"/>
                    </a:lnTo>
                  </a:path>
                </a:pathLst>
              </a:custGeom>
              <a:noFill/>
              <a:ln w="11112">
                <a:solidFill>
                  <a:srgbClr val="FFFFFF"/>
                </a:solidFill>
              </a:ln>
            </p:spPr>
          </p:sp>
        </p:grpSp>
        <p:sp>
          <p:nvSpPr>
            <p:cNvPr id="121" name="TextBox 121"/>
            <p:cNvSpPr txBox="1"/>
            <p:nvPr/>
          </p:nvSpPr>
          <p:spPr>
            <a:xfrm>
              <a:off x="9101138" y="4443412"/>
              <a:ext cx="61531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其他算法训练</a:t>
              </a:r>
            </a:p>
          </p:txBody>
        </p:sp>
        <p:sp>
          <p:nvSpPr>
            <p:cNvPr id="122" name="Line 122"/>
            <p:cNvSpPr/>
            <p:nvPr/>
          </p:nvSpPr>
          <p:spPr>
            <a:xfrm>
              <a:off x="8858250" y="4667250"/>
              <a:ext cx="1428750" cy="9525"/>
            </a:xfrm>
            <a:custGeom>
              <a:avLst/>
              <a:gdLst/>
              <a:ahLst/>
              <a:cxnLst/>
              <a:rect l="l" t="t" r="r" b="b"/>
              <a:pathLst>
                <a:path w="1428750" h="9525">
                  <a:moveTo>
                    <a:pt x="0" y="0"/>
                  </a:moveTo>
                  <a:lnTo>
                    <a:pt x="1428750" y="0"/>
                  </a:lnTo>
                </a:path>
              </a:pathLst>
            </a:custGeom>
            <a:noFill/>
            <a:ln w="9525">
              <a:solidFill>
                <a:srgbClr val="C9D8BD"/>
              </a:solidFill>
              <a:custDash>
                <a:ds d="300000" sp="200000"/>
              </a:custDash>
            </a:ln>
          </p:spPr>
        </p:sp>
        <p:sp>
          <p:nvSpPr>
            <p:cNvPr id="123" name="TextBox 123"/>
            <p:cNvSpPr txBox="1"/>
            <p:nvPr/>
          </p:nvSpPr>
          <p:spPr>
            <a:xfrm>
              <a:off x="8901112" y="4746784"/>
              <a:ext cx="862965" cy="457200"/>
            </a:xfrm>
            <a:prstGeom prst="rect">
              <a:avLst/>
            </a:prstGeom>
            <a:noFill/>
            <a:ln>
              <a:noFill/>
            </a:ln>
          </p:spPr>
          <p:txBody>
            <a:bodyPr wrap="none" lIns="0" tIns="0" rIns="0" bIns="0" anchor="t" anchorCtr="0">
              <a:spAutoFit/>
            </a:bodyPr>
            <a:lstStyle/>
            <a:p>
              <a:pPr algn="l" marL="76200" indent="-76200">
                <a:lnSpc>
                  <a:spcPts val="1275"/>
                </a:lnSpc>
                <a:buClr>
                  <a:srgbClr val="333333"/>
                </a:buClr>
                <a:buSzTx/>
                <a:buFontTx/>
                <a:buChar char="■"/>
              </a:pPr>
              <a:r>
                <a:rPr lang="zh-CN" sz="680" dirty="0">
                  <a:solidFill>
                    <a:srgbClr val="333333"/>
                  </a:solidFill>
                  <a:latin typeface="+mn-lt"/>
                  <a:ea typeface="+mn-ea"/>
                  <a:cs typeface="+mn-cs"/>
                </a:rPr>
                <a:t>海量结构化数据训练</a:t>
              </a:r>
              <a:br/>
              <a:r>
                <a:rPr lang="zh-CN" sz="680" dirty="0">
                  <a:solidFill>
                    <a:srgbClr val="333333"/>
                  </a:solidFill>
                  <a:latin typeface="+mn-lt"/>
                  <a:ea typeface="+mn-ea"/>
                  <a:cs typeface="+mn-cs"/>
                </a:rPr>
                <a:t>■ 人工智能算法模型</a:t>
              </a:r>
              <a:br/>
              <a:r>
                <a:rPr lang="zh-CN" sz="680" dirty="0">
                  <a:solidFill>
                    <a:srgbClr val="333333"/>
                  </a:solidFill>
                  <a:latin typeface="+mn-lt"/>
                  <a:ea typeface="+mn-ea"/>
                  <a:cs typeface="+mn-cs"/>
                </a:rPr>
                <a:t>■ 最终得以落地实践</a:t>
              </a:r>
            </a:p>
          </p:txBody>
        </p:sp>
        <p:sp>
          <p:nvSpPr>
            <p:cNvPr id="124" name="Rectangle 124"/>
            <p:cNvSpPr/>
            <p:nvPr/>
          </p:nvSpPr>
          <p:spPr>
            <a:xfrm>
              <a:off x="10382250" y="4381500"/>
              <a:ext cx="952500" cy="209550"/>
            </a:xfrm>
            <a:prstGeom prst="roundRect">
              <a:avLst>
                <a:gd name="adj" fmla="val 13636"/>
              </a:avLst>
            </a:prstGeom>
            <a:solidFill>
              <a:srgbClr val="9C594C"/>
            </a:solidFill>
            <a:ln>
              <a:noFill/>
            </a:ln>
          </p:spPr>
        </p:sp>
        <p:grpSp>
          <p:nvGrpSpPr>
            <p:cNvPr id="129" name="Group 129"/>
            <p:cNvGrpSpPr/>
            <p:nvPr/>
          </p:nvGrpSpPr>
          <p:grpSpPr>
            <a:xfrm>
              <a:off x="10467181" y="4441825"/>
              <a:ext cx="83343" cy="94456"/>
              <a:chOff x="10467181" y="4441825"/>
              <a:chExt cx="83343" cy="94456"/>
            </a:xfrm>
          </p:grpSpPr>
          <p:sp>
            <p:nvSpPr>
              <p:cNvPr id="125" name="Freeform 125"/>
              <p:cNvSpPr/>
              <p:nvPr/>
            </p:nvSpPr>
            <p:spPr>
              <a:xfrm>
                <a:off x="10467181" y="4441825"/>
                <a:ext cx="66675" cy="88900"/>
              </a:xfrm>
              <a:custGeom>
                <a:avLst/>
                <a:gdLst/>
                <a:ahLst/>
                <a:cxnLst/>
                <a:rect l="l" t="t" r="r" b="b"/>
                <a:pathLst>
                  <a:path w="66675" h="88900">
                    <a:moveTo>
                      <a:pt x="25642" y="88900"/>
                    </a:moveTo>
                    <a:lnTo>
                      <a:pt x="11112" y="88900"/>
                    </a:lnTo>
                    <a:cubicBezTo>
                      <a:pt x="4975" y="88900"/>
                      <a:pt x="0" y="83925"/>
                      <a:pt x="0" y="77787"/>
                    </a:cubicBezTo>
                    <a:lnTo>
                      <a:pt x="0" y="11112"/>
                    </a:lnTo>
                    <a:cubicBezTo>
                      <a:pt x="0" y="4975"/>
                      <a:pt x="4975" y="0"/>
                      <a:pt x="11112" y="0"/>
                    </a:cubicBezTo>
                    <a:lnTo>
                      <a:pt x="55562" y="0"/>
                    </a:lnTo>
                    <a:cubicBezTo>
                      <a:pt x="61700" y="0"/>
                      <a:pt x="66675" y="4975"/>
                      <a:pt x="66675" y="11112"/>
                    </a:cubicBezTo>
                    <a:lnTo>
                      <a:pt x="66675" y="55562"/>
                    </a:lnTo>
                  </a:path>
                </a:pathLst>
              </a:custGeom>
              <a:noFill/>
              <a:ln w="11112">
                <a:solidFill>
                  <a:srgbClr val="FFFFFF"/>
                </a:solidFill>
              </a:ln>
            </p:spPr>
          </p:sp>
          <p:sp>
            <p:nvSpPr>
              <p:cNvPr id="126" name="Freeform 126"/>
              <p:cNvSpPr/>
              <p:nvPr/>
            </p:nvSpPr>
            <p:spPr>
              <a:xfrm>
                <a:off x="10517187" y="4514056"/>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sp>
            <p:nvSpPr>
              <p:cNvPr id="127" name="Freeform 127"/>
              <p:cNvSpPr/>
              <p:nvPr/>
            </p:nvSpPr>
            <p:spPr>
              <a:xfrm>
                <a:off x="10489406" y="4464050"/>
                <a:ext cx="22225" cy="9525"/>
              </a:xfrm>
              <a:custGeom>
                <a:avLst/>
                <a:gdLst/>
                <a:ahLst/>
                <a:cxnLst/>
                <a:rect l="l" t="t" r="r" b="b"/>
                <a:pathLst>
                  <a:path w="22225" h="9525">
                    <a:moveTo>
                      <a:pt x="0" y="0"/>
                    </a:moveTo>
                    <a:lnTo>
                      <a:pt x="22225" y="0"/>
                    </a:lnTo>
                  </a:path>
                </a:pathLst>
              </a:custGeom>
              <a:noFill/>
              <a:ln w="11112">
                <a:solidFill>
                  <a:srgbClr val="FFFFFF"/>
                </a:solidFill>
              </a:ln>
            </p:spPr>
          </p:sp>
          <p:sp>
            <p:nvSpPr>
              <p:cNvPr id="128" name="Freeform 128"/>
              <p:cNvSpPr/>
              <p:nvPr/>
            </p:nvSpPr>
            <p:spPr>
              <a:xfrm>
                <a:off x="10489406" y="4486275"/>
                <a:ext cx="11112" cy="9525"/>
              </a:xfrm>
              <a:custGeom>
                <a:avLst/>
                <a:gdLst/>
                <a:ahLst/>
                <a:cxnLst/>
                <a:rect l="l" t="t" r="r" b="b"/>
                <a:pathLst>
                  <a:path w="11112" h="9525">
                    <a:moveTo>
                      <a:pt x="0" y="0"/>
                    </a:moveTo>
                    <a:lnTo>
                      <a:pt x="11112" y="0"/>
                    </a:lnTo>
                  </a:path>
                </a:pathLst>
              </a:custGeom>
              <a:noFill/>
              <a:ln w="11112">
                <a:solidFill>
                  <a:srgbClr val="FFFFFF"/>
                </a:solidFill>
              </a:ln>
            </p:spPr>
          </p:sp>
        </p:grpSp>
        <p:sp>
          <p:nvSpPr>
            <p:cNvPr id="130" name="TextBox 130"/>
            <p:cNvSpPr txBox="1"/>
            <p:nvPr/>
          </p:nvSpPr>
          <p:spPr>
            <a:xfrm>
              <a:off x="10625138" y="4443412"/>
              <a:ext cx="413385"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判别算法</a:t>
              </a:r>
            </a:p>
          </p:txBody>
        </p:sp>
        <p:sp>
          <p:nvSpPr>
            <p:cNvPr id="131" name="Line 131"/>
            <p:cNvSpPr/>
            <p:nvPr/>
          </p:nvSpPr>
          <p:spPr>
            <a:xfrm>
              <a:off x="10382250" y="4667250"/>
              <a:ext cx="1428750" cy="9525"/>
            </a:xfrm>
            <a:custGeom>
              <a:avLst/>
              <a:gdLst/>
              <a:ahLst/>
              <a:cxnLst/>
              <a:rect l="l" t="t" r="r" b="b"/>
              <a:pathLst>
                <a:path w="1428750" h="9525">
                  <a:moveTo>
                    <a:pt x="0" y="0"/>
                  </a:moveTo>
                  <a:lnTo>
                    <a:pt x="1428750" y="0"/>
                  </a:lnTo>
                </a:path>
              </a:pathLst>
            </a:custGeom>
            <a:noFill/>
            <a:ln w="9525">
              <a:solidFill>
                <a:srgbClr val="C9D8BD"/>
              </a:solidFill>
              <a:custDash>
                <a:ds d="300000" sp="200000"/>
              </a:custDash>
            </a:ln>
          </p:spPr>
        </p:sp>
        <p:grpSp>
          <p:nvGrpSpPr>
            <p:cNvPr id="134" name="Group 134"/>
            <p:cNvGrpSpPr/>
            <p:nvPr/>
          </p:nvGrpSpPr>
          <p:grpSpPr>
            <a:xfrm>
              <a:off x="10445750" y="4766400"/>
              <a:ext cx="101600" cy="106500"/>
              <a:chOff x="10445750" y="4766400"/>
              <a:chExt cx="101600" cy="106500"/>
            </a:xfrm>
          </p:grpSpPr>
          <p:sp>
            <p:nvSpPr>
              <p:cNvPr id="132" name="Freeform 132"/>
              <p:cNvSpPr/>
              <p:nvPr/>
            </p:nvSpPr>
            <p:spPr>
              <a:xfrm>
                <a:off x="10445750" y="476640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9C594C"/>
                </a:solidFill>
              </a:ln>
            </p:spPr>
          </p:sp>
          <p:sp>
            <p:nvSpPr>
              <p:cNvPr id="133" name="Freeform 133"/>
              <p:cNvSpPr/>
              <p:nvPr/>
            </p:nvSpPr>
            <p:spPr>
              <a:xfrm>
                <a:off x="10445750" y="482600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9C594C"/>
                </a:solidFill>
              </a:ln>
            </p:spPr>
          </p:sp>
        </p:grpSp>
        <p:sp>
          <p:nvSpPr>
            <p:cNvPr id="135" name="TextBox 135"/>
            <p:cNvSpPr txBox="1"/>
            <p:nvPr/>
          </p:nvSpPr>
          <p:spPr>
            <a:xfrm>
              <a:off x="10625138" y="4784884"/>
              <a:ext cx="558775"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模型标注结果</a:t>
              </a:r>
            </a:p>
          </p:txBody>
        </p:sp>
        <p:grpSp>
          <p:nvGrpSpPr>
            <p:cNvPr id="140" name="Group 140"/>
            <p:cNvGrpSpPr/>
            <p:nvPr/>
          </p:nvGrpSpPr>
          <p:grpSpPr>
            <a:xfrm>
              <a:off x="10439400" y="5035550"/>
              <a:ext cx="114300" cy="111125"/>
              <a:chOff x="10439400" y="5035550"/>
              <a:chExt cx="114300" cy="111125"/>
            </a:xfrm>
          </p:grpSpPr>
          <p:sp>
            <p:nvSpPr>
              <p:cNvPr id="136" name="Freeform 136"/>
              <p:cNvSpPr/>
              <p:nvPr/>
            </p:nvSpPr>
            <p:spPr>
              <a:xfrm>
                <a:off x="10439400" y="50863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9C594C"/>
                </a:solidFill>
              </a:ln>
            </p:spPr>
          </p:sp>
          <p:sp>
            <p:nvSpPr>
              <p:cNvPr id="137" name="Freeform 137"/>
              <p:cNvSpPr/>
              <p:nvPr/>
            </p:nvSpPr>
            <p:spPr>
              <a:xfrm>
                <a:off x="10515600" y="50609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9C594C"/>
                </a:solidFill>
              </a:ln>
            </p:spPr>
          </p:sp>
          <p:sp>
            <p:nvSpPr>
              <p:cNvPr id="138" name="Freeform 138"/>
              <p:cNvSpPr/>
              <p:nvPr/>
            </p:nvSpPr>
            <p:spPr>
              <a:xfrm>
                <a:off x="10477500" y="50355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9C594C"/>
                </a:solidFill>
              </a:ln>
            </p:spPr>
          </p:sp>
          <p:sp>
            <p:nvSpPr>
              <p:cNvPr id="139" name="Freeform 139"/>
              <p:cNvSpPr/>
              <p:nvPr/>
            </p:nvSpPr>
            <p:spPr>
              <a:xfrm>
                <a:off x="10445750" y="5137150"/>
                <a:ext cx="88900" cy="9525"/>
              </a:xfrm>
              <a:custGeom>
                <a:avLst/>
                <a:gdLst/>
                <a:ahLst/>
                <a:cxnLst/>
                <a:rect l="l" t="t" r="r" b="b"/>
                <a:pathLst>
                  <a:path w="88900" h="9525">
                    <a:moveTo>
                      <a:pt x="0" y="0"/>
                    </a:moveTo>
                    <a:lnTo>
                      <a:pt x="88900" y="0"/>
                    </a:lnTo>
                  </a:path>
                </a:pathLst>
              </a:custGeom>
              <a:noFill/>
              <a:ln w="12700">
                <a:solidFill>
                  <a:srgbClr val="9C594C"/>
                </a:solidFill>
              </a:ln>
            </p:spPr>
          </p:sp>
        </p:grpSp>
        <p:sp>
          <p:nvSpPr>
            <p:cNvPr id="141" name="TextBox 141"/>
            <p:cNvSpPr txBox="1"/>
            <p:nvPr/>
          </p:nvSpPr>
          <p:spPr>
            <a:xfrm>
              <a:off x="10625138" y="5051584"/>
              <a:ext cx="467233"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识别准确性</a:t>
              </a:r>
            </a:p>
          </p:txBody>
        </p:sp>
      </p:grpSp>
      <p:grpSp>
        <p:nvGrpSpPr>
          <p:cNvPr id="154" name="steps-flow"/>
          <p:cNvGrpSpPr/>
          <p:nvPr/>
        </p:nvGrpSpPr>
        <p:grpSpPr>
          <a:xfrm>
            <a:off x="7680211" y="5562600"/>
            <a:ext cx="3784829" cy="587216"/>
            <a:chOff x="7680211" y="5562600"/>
            <a:chExt cx="3784829" cy="587216"/>
          </a:xfrm>
        </p:grpSpPr>
        <p:sp>
          <p:nvSpPr>
            <p:cNvPr id="143" name="Ellipse 143"/>
            <p:cNvSpPr/>
            <p:nvPr/>
          </p:nvSpPr>
          <p:spPr>
            <a:xfrm>
              <a:off x="7753350" y="5562600"/>
              <a:ext cx="304800" cy="304800"/>
            </a:xfrm>
            <a:prstGeom prst="ellipse">
              <a:avLst/>
            </a:prstGeom>
            <a:solidFill>
              <a:srgbClr val="E9563C"/>
            </a:solidFill>
            <a:ln>
              <a:noFill/>
            </a:ln>
          </p:spPr>
        </p:sp>
        <p:sp>
          <p:nvSpPr>
            <p:cNvPr id="144" name="TextBox 144"/>
            <p:cNvSpPr txBox="1"/>
            <p:nvPr/>
          </p:nvSpPr>
          <p:spPr>
            <a:xfrm>
              <a:off x="7862703" y="565737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a:t>
              </a:r>
            </a:p>
          </p:txBody>
        </p:sp>
        <p:sp>
          <p:nvSpPr>
            <p:cNvPr id="145" name="TextBox 145"/>
            <p:cNvSpPr txBox="1"/>
            <p:nvPr/>
          </p:nvSpPr>
          <p:spPr>
            <a:xfrm>
              <a:off x="7680211" y="59878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算法成本</a:t>
              </a:r>
            </a:p>
          </p:txBody>
        </p:sp>
        <p:sp>
          <p:nvSpPr>
            <p:cNvPr id="146" name="Freeform 146"/>
            <p:cNvSpPr/>
            <p:nvPr/>
          </p:nvSpPr>
          <p:spPr>
            <a:xfrm>
              <a:off x="8620125" y="5600700"/>
              <a:ext cx="247650" cy="247650"/>
            </a:xfrm>
            <a:prstGeom prst="mathPlus">
              <a:avLst/>
            </a:prstGeom>
            <a:solidFill>
              <a:srgbClr val="9C594C"/>
            </a:solidFill>
            <a:ln>
              <a:noFill/>
            </a:ln>
          </p:spPr>
        </p:sp>
        <p:sp>
          <p:nvSpPr>
            <p:cNvPr id="147" name="Ellipse 147"/>
            <p:cNvSpPr/>
            <p:nvPr/>
          </p:nvSpPr>
          <p:spPr>
            <a:xfrm>
              <a:off x="9420225" y="5562600"/>
              <a:ext cx="304800" cy="304800"/>
            </a:xfrm>
            <a:prstGeom prst="ellipse">
              <a:avLst/>
            </a:prstGeom>
            <a:solidFill>
              <a:srgbClr val="9C594C"/>
            </a:solidFill>
            <a:ln>
              <a:noFill/>
            </a:ln>
          </p:spPr>
        </p:sp>
        <p:sp>
          <p:nvSpPr>
            <p:cNvPr id="148" name="TextBox 148"/>
            <p:cNvSpPr txBox="1"/>
            <p:nvPr/>
          </p:nvSpPr>
          <p:spPr>
            <a:xfrm>
              <a:off x="9529578" y="565737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2</a:t>
              </a:r>
            </a:p>
          </p:txBody>
        </p:sp>
        <p:sp>
          <p:nvSpPr>
            <p:cNvPr id="149" name="TextBox 149"/>
            <p:cNvSpPr txBox="1"/>
            <p:nvPr/>
          </p:nvSpPr>
          <p:spPr>
            <a:xfrm>
              <a:off x="9347086" y="59878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其他算法</a:t>
              </a:r>
            </a:p>
          </p:txBody>
        </p:sp>
        <p:sp>
          <p:nvSpPr>
            <p:cNvPr id="150" name="Freeform 150"/>
            <p:cNvSpPr/>
            <p:nvPr/>
          </p:nvSpPr>
          <p:spPr>
            <a:xfrm>
              <a:off x="10287000" y="5600700"/>
              <a:ext cx="247650" cy="247650"/>
            </a:xfrm>
            <a:prstGeom prst="mathPlus">
              <a:avLst/>
            </a:prstGeom>
            <a:solidFill>
              <a:srgbClr val="9C594C"/>
            </a:solidFill>
            <a:ln>
              <a:noFill/>
            </a:ln>
          </p:spPr>
        </p:sp>
        <p:sp>
          <p:nvSpPr>
            <p:cNvPr id="151" name="Ellipse 151"/>
            <p:cNvSpPr/>
            <p:nvPr/>
          </p:nvSpPr>
          <p:spPr>
            <a:xfrm>
              <a:off x="11087100" y="5562600"/>
              <a:ext cx="304800" cy="304800"/>
            </a:xfrm>
            <a:prstGeom prst="ellipse">
              <a:avLst/>
            </a:prstGeom>
            <a:solidFill>
              <a:srgbClr val="9C594C"/>
            </a:solidFill>
            <a:ln>
              <a:noFill/>
            </a:ln>
          </p:spPr>
        </p:sp>
        <p:sp>
          <p:nvSpPr>
            <p:cNvPr id="152" name="TextBox 152"/>
            <p:cNvSpPr txBox="1"/>
            <p:nvPr/>
          </p:nvSpPr>
          <p:spPr>
            <a:xfrm>
              <a:off x="11196453" y="565737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a:t>
              </a:r>
            </a:p>
          </p:txBody>
        </p:sp>
        <p:sp>
          <p:nvSpPr>
            <p:cNvPr id="153" name="TextBox 153"/>
            <p:cNvSpPr txBox="1"/>
            <p:nvPr/>
          </p:nvSpPr>
          <p:spPr>
            <a:xfrm>
              <a:off x="11013961" y="59878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主要内容</a:t>
              </a:r>
            </a:p>
          </p:txBody>
        </p:sp>
      </p:grpSp>
      <p:grpSp>
        <p:nvGrpSpPr>
          <p:cNvPr id="157" name="page-footer"/>
          <p:cNvGrpSpPr/>
          <p:nvPr/>
        </p:nvGrpSpPr>
        <p:grpSpPr>
          <a:xfrm>
            <a:off x="376238" y="6689884"/>
            <a:ext cx="11439524" cy="133350"/>
            <a:chOff x="376238" y="6689884"/>
            <a:chExt cx="11439524" cy="133350"/>
          </a:xfrm>
        </p:grpSpPr>
        <p:sp>
          <p:nvSpPr>
            <p:cNvPr id="155" name="TextBox 155"/>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56" name="TextBox 156"/>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18</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1" name="title-left"/>
          <p:cNvGrpSpPr/>
          <p:nvPr/>
        </p:nvGrpSpPr>
        <p:grpSpPr>
          <a:xfrm>
            <a:off x="372618" y="831532"/>
            <a:ext cx="5532882" cy="322707"/>
            <a:chOff x="372618" y="831532"/>
            <a:chExt cx="5532882" cy="322707"/>
          </a:xfrm>
        </p:grpSpPr>
        <p:sp>
          <p:nvSpPr>
            <p:cNvPr id="8" name="TextBox 8"/>
            <p:cNvSpPr txBox="1"/>
            <p:nvPr/>
          </p:nvSpPr>
          <p:spPr>
            <a:xfrm>
              <a:off x="372618" y="831532"/>
              <a:ext cx="145040" cy="322707"/>
            </a:xfrm>
            <a:prstGeom prst="rect">
              <a:avLst/>
            </a:prstGeom>
            <a:noFill/>
            <a:ln>
              <a:noFill/>
            </a:ln>
          </p:spPr>
          <p:txBody>
            <a:bodyPr wrap="none" lIns="0" tIns="0" rIns="0" bIns="0" anchor="t" anchorCtr="0">
              <a:spAutoFit/>
            </a:bodyPr>
            <a:lstStyle/>
            <a:p>
              <a:pPr algn="l"/>
              <a:r>
                <a:rPr lang="zh-CN" sz="1650" b="1" dirty="0">
                  <a:solidFill>
                    <a:srgbClr val="E9563C"/>
                  </a:solidFill>
                  <a:latin typeface="+mn-lt"/>
                  <a:ea typeface="+mn-ea"/>
                  <a:cs typeface="+mn-cs"/>
                </a:rPr>
                <a:t>1</a:t>
              </a:r>
            </a:p>
          </p:txBody>
        </p:sp>
        <p:sp>
          <p:nvSpPr>
            <p:cNvPr id="9" name="TextBox 9"/>
            <p:cNvSpPr txBox="1"/>
            <p:nvPr/>
          </p:nvSpPr>
          <p:spPr>
            <a:xfrm>
              <a:off x="661035" y="869156"/>
              <a:ext cx="1907795" cy="220028"/>
            </a:xfrm>
            <a:prstGeom prst="rect">
              <a:avLst/>
            </a:prstGeom>
            <a:noFill/>
            <a:ln>
              <a:noFill/>
            </a:ln>
          </p:spPr>
          <p:txBody>
            <a:bodyPr wrap="none" lIns="0" tIns="0" rIns="0" bIns="0" anchor="t" anchorCtr="0">
              <a:spAutoFit/>
            </a:bodyPr>
            <a:lstStyle/>
            <a:p>
              <a:pPr algn="l"/>
              <a:r>
                <a:rPr lang="zh-CN" sz="1120" b="1" dirty="0">
                  <a:solidFill>
                    <a:srgbClr val="7A3E33"/>
                  </a:solidFill>
                  <a:latin typeface="+mn-lt"/>
                  <a:ea typeface="+mn-ea"/>
                  <a:cs typeface="+mn-cs"/>
                </a:rPr>
                <a:t>结合用户分析,提升整体销量</a:t>
              </a:r>
            </a:p>
          </p:txBody>
        </p:sp>
        <p:sp>
          <p:nvSpPr>
            <p:cNvPr id="10" name="Line 10"/>
            <p:cNvSpPr/>
            <p:nvPr/>
          </p:nvSpPr>
          <p:spPr>
            <a:xfrm>
              <a:off x="381000" y="1085850"/>
              <a:ext cx="5524500" cy="9525"/>
            </a:xfrm>
            <a:custGeom>
              <a:avLst/>
              <a:gdLst/>
              <a:ahLst/>
              <a:cxnLst/>
              <a:rect l="l" t="t" r="r" b="b"/>
              <a:pathLst>
                <a:path w="5524500" h="9525">
                  <a:moveTo>
                    <a:pt x="0" y="0"/>
                  </a:moveTo>
                  <a:lnTo>
                    <a:pt x="5524500" y="0"/>
                  </a:lnTo>
                </a:path>
              </a:pathLst>
            </a:custGeom>
            <a:noFill/>
            <a:ln w="19050">
              <a:solidFill>
                <a:srgbClr val="9C594C"/>
              </a:solidFill>
            </a:ln>
          </p:spPr>
        </p:sp>
      </p:grpSp>
      <p:grpSp>
        <p:nvGrpSpPr>
          <p:cNvPr id="36" name="ring-wheel"/>
          <p:cNvGrpSpPr/>
          <p:nvPr/>
        </p:nvGrpSpPr>
        <p:grpSpPr>
          <a:xfrm>
            <a:off x="516911" y="1432084"/>
            <a:ext cx="2361041" cy="2362200"/>
            <a:chOff x="516911" y="1432084"/>
            <a:chExt cx="2361041" cy="2362200"/>
          </a:xfrm>
        </p:grpSpPr>
        <p:sp>
          <p:nvSpPr>
            <p:cNvPr id="12" name="Ellipse 12"/>
            <p:cNvSpPr/>
            <p:nvPr/>
          </p:nvSpPr>
          <p:spPr>
            <a:xfrm>
              <a:off x="628650" y="1600200"/>
              <a:ext cx="1981200" cy="1981200"/>
            </a:xfrm>
            <a:prstGeom prst="ellipse">
              <a:avLst/>
            </a:prstGeom>
            <a:noFill/>
            <a:ln w="190500">
              <a:solidFill>
                <a:srgbClr val="F7B9AE"/>
              </a:solidFill>
            </a:ln>
          </p:spPr>
        </p:sp>
        <p:sp>
          <p:nvSpPr>
            <p:cNvPr id="13" name="Ellipse 13"/>
            <p:cNvSpPr/>
            <p:nvPr/>
          </p:nvSpPr>
          <p:spPr>
            <a:xfrm>
              <a:off x="857250" y="1828800"/>
              <a:ext cx="1524000" cy="1524000"/>
            </a:xfrm>
            <a:prstGeom prst="ellipse">
              <a:avLst/>
            </a:prstGeom>
            <a:noFill/>
            <a:ln w="209550">
              <a:solidFill>
                <a:srgbClr val="E9563C"/>
              </a:solidFill>
            </a:ln>
          </p:spPr>
        </p:sp>
        <p:sp>
          <p:nvSpPr>
            <p:cNvPr id="14" name="Ellipse 14"/>
            <p:cNvSpPr/>
            <p:nvPr/>
          </p:nvSpPr>
          <p:spPr>
            <a:xfrm>
              <a:off x="1143000" y="2114550"/>
              <a:ext cx="952500" cy="952500"/>
            </a:xfrm>
            <a:prstGeom prst="ellipse">
              <a:avLst/>
            </a:prstGeom>
            <a:noFill/>
            <a:ln w="171450">
              <a:solidFill>
                <a:srgbClr val="9C594C"/>
              </a:solidFill>
            </a:ln>
          </p:spPr>
        </p:sp>
        <p:sp>
          <p:nvSpPr>
            <p:cNvPr id="15" name="TextBox 15"/>
            <p:cNvSpPr txBox="1"/>
            <p:nvPr/>
          </p:nvSpPr>
          <p:spPr>
            <a:xfrm rot="-2700000">
              <a:off x="516911" y="1795847"/>
              <a:ext cx="481422" cy="133350"/>
            </a:xfrm>
            <a:prstGeom prst="rect">
              <a:avLst/>
            </a:prstGeom>
            <a:noFill/>
            <a:ln>
              <a:noFill/>
            </a:ln>
          </p:spPr>
          <p:txBody>
            <a:bodyPr wrap="none" lIns="0" tIns="0" rIns="0" bIns="0" anchor="t" anchorCtr="0">
              <a:spAutoFit/>
            </a:bodyPr>
            <a:lstStyle/>
            <a:p>
              <a:pPr algn="ctr"/>
              <a:r>
                <a:rPr lang="zh-CN" sz="680" b="1" dirty="0">
                  <a:solidFill>
                    <a:srgbClr val="8A2210"/>
                  </a:solidFill>
                  <a:latin typeface="+mn-lt"/>
                  <a:ea typeface="+mn-ea"/>
                  <a:cs typeface="+mn-cs"/>
                </a:rPr>
                <a:t>1.触达用户</a:t>
              </a:r>
            </a:p>
          </p:txBody>
        </p:sp>
        <p:sp>
          <p:nvSpPr>
            <p:cNvPr id="16" name="TextBox 16"/>
            <p:cNvSpPr txBox="1"/>
            <p:nvPr/>
          </p:nvSpPr>
          <p:spPr>
            <a:xfrm>
              <a:off x="1286997" y="1432084"/>
              <a:ext cx="664505" cy="133350"/>
            </a:xfrm>
            <a:prstGeom prst="rect">
              <a:avLst/>
            </a:prstGeom>
            <a:noFill/>
            <a:ln>
              <a:noFill/>
            </a:ln>
          </p:spPr>
          <p:txBody>
            <a:bodyPr wrap="none" lIns="0" tIns="0" rIns="0" bIns="0" anchor="t" anchorCtr="0">
              <a:spAutoFit/>
            </a:bodyPr>
            <a:lstStyle/>
            <a:p>
              <a:pPr algn="ctr"/>
              <a:r>
                <a:rPr lang="zh-CN" sz="680" b="1" dirty="0">
                  <a:solidFill>
                    <a:srgbClr val="8A2210"/>
                  </a:solidFill>
                  <a:latin typeface="+mn-lt"/>
                  <a:ea typeface="+mn-ea"/>
                  <a:cs typeface="+mn-cs"/>
                </a:rPr>
                <a:t>2.提供吸引转化</a:t>
              </a:r>
            </a:p>
          </p:txBody>
        </p:sp>
        <p:sp>
          <p:nvSpPr>
            <p:cNvPr id="17" name="TextBox 17"/>
            <p:cNvSpPr txBox="1"/>
            <p:nvPr/>
          </p:nvSpPr>
          <p:spPr>
            <a:xfrm rot="2700000">
              <a:off x="2121905" y="1795847"/>
              <a:ext cx="756047" cy="133350"/>
            </a:xfrm>
            <a:prstGeom prst="rect">
              <a:avLst/>
            </a:prstGeom>
            <a:noFill/>
            <a:ln>
              <a:noFill/>
            </a:ln>
          </p:spPr>
          <p:txBody>
            <a:bodyPr wrap="none" lIns="0" tIns="0" rIns="0" bIns="0" anchor="t" anchorCtr="0">
              <a:spAutoFit/>
            </a:bodyPr>
            <a:lstStyle/>
            <a:p>
              <a:pPr algn="ctr"/>
              <a:r>
                <a:rPr lang="zh-CN" sz="680" b="1" dirty="0">
                  <a:solidFill>
                    <a:srgbClr val="8A2210"/>
                  </a:solidFill>
                  <a:latin typeface="+mn-lt"/>
                  <a:ea typeface="+mn-ea"/>
                  <a:cs typeface="+mn-cs"/>
                </a:rPr>
                <a:t>3.可用的销售服务</a:t>
              </a:r>
            </a:p>
          </p:txBody>
        </p:sp>
        <p:sp>
          <p:nvSpPr>
            <p:cNvPr id="18" name="TextBox 18"/>
            <p:cNvSpPr txBox="1"/>
            <p:nvPr/>
          </p:nvSpPr>
          <p:spPr>
            <a:xfrm>
              <a:off x="1286997" y="3660934"/>
              <a:ext cx="664505" cy="133350"/>
            </a:xfrm>
            <a:prstGeom prst="rect">
              <a:avLst/>
            </a:prstGeom>
            <a:noFill/>
            <a:ln>
              <a:noFill/>
            </a:ln>
          </p:spPr>
          <p:txBody>
            <a:bodyPr wrap="none" lIns="0" tIns="0" rIns="0" bIns="0" anchor="t" anchorCtr="0">
              <a:spAutoFit/>
            </a:bodyPr>
            <a:lstStyle/>
            <a:p>
              <a:pPr algn="ctr"/>
              <a:r>
                <a:rPr lang="zh-CN" sz="680" b="1" dirty="0">
                  <a:solidFill>
                    <a:srgbClr val="8A2210"/>
                  </a:solidFill>
                  <a:latin typeface="+mn-lt"/>
                  <a:ea typeface="+mn-ea"/>
                  <a:cs typeface="+mn-cs"/>
                </a:rPr>
                <a:t>4.实施的销用户</a:t>
              </a:r>
            </a:p>
          </p:txBody>
        </p:sp>
        <p:sp>
          <p:nvSpPr>
            <p:cNvPr id="19" name="TextBox 19"/>
            <p:cNvSpPr txBox="1"/>
            <p:nvPr/>
          </p:nvSpPr>
          <p:spPr>
            <a:xfrm rot="-2700000">
              <a:off x="1081161" y="2047406"/>
              <a:ext cx="267995"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使用前</a:t>
              </a:r>
            </a:p>
          </p:txBody>
        </p:sp>
        <p:sp>
          <p:nvSpPr>
            <p:cNvPr id="20" name="TextBox 20"/>
            <p:cNvSpPr txBox="1"/>
            <p:nvPr/>
          </p:nvSpPr>
          <p:spPr>
            <a:xfrm>
              <a:off x="1485252" y="1893332"/>
              <a:ext cx="267995"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考虑用</a:t>
              </a:r>
            </a:p>
          </p:txBody>
        </p:sp>
        <p:sp>
          <p:nvSpPr>
            <p:cNvPr id="21" name="TextBox 21"/>
            <p:cNvSpPr txBox="1"/>
            <p:nvPr/>
          </p:nvSpPr>
          <p:spPr>
            <a:xfrm rot="2700000">
              <a:off x="1908393" y="2047406"/>
              <a:ext cx="267995"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使用中</a:t>
              </a:r>
            </a:p>
          </p:txBody>
        </p:sp>
        <p:sp>
          <p:nvSpPr>
            <p:cNvPr id="22" name="TextBox 22"/>
            <p:cNvSpPr txBox="1"/>
            <p:nvPr/>
          </p:nvSpPr>
          <p:spPr>
            <a:xfrm>
              <a:off x="1485252" y="3245882"/>
              <a:ext cx="267995"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使用后</a:t>
              </a:r>
            </a:p>
          </p:txBody>
        </p:sp>
        <p:grpSp>
          <p:nvGrpSpPr>
            <p:cNvPr id="27" name="Group 27"/>
            <p:cNvGrpSpPr/>
            <p:nvPr/>
          </p:nvGrpSpPr>
          <p:grpSpPr>
            <a:xfrm>
              <a:off x="1547812" y="2424112"/>
              <a:ext cx="142875" cy="142875"/>
              <a:chOff x="1547812" y="2424112"/>
              <a:chExt cx="142875" cy="142875"/>
            </a:xfrm>
          </p:grpSpPr>
          <p:sp>
            <p:nvSpPr>
              <p:cNvPr id="23" name="Freeform 23"/>
              <p:cNvSpPr/>
              <p:nvPr/>
            </p:nvSpPr>
            <p:spPr>
              <a:xfrm>
                <a:off x="1563687" y="24241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FFFFFF"/>
                </a:solidFill>
              </a:ln>
            </p:spPr>
          </p:sp>
          <p:sp>
            <p:nvSpPr>
              <p:cNvPr id="24" name="Freeform 24"/>
              <p:cNvSpPr/>
              <p:nvPr/>
            </p:nvSpPr>
            <p:spPr>
              <a:xfrm>
                <a:off x="1547812" y="25193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FFFFFF"/>
                </a:solidFill>
              </a:ln>
            </p:spPr>
          </p:sp>
          <p:sp>
            <p:nvSpPr>
              <p:cNvPr id="25" name="Freeform 25"/>
              <p:cNvSpPr/>
              <p:nvPr/>
            </p:nvSpPr>
            <p:spPr>
              <a:xfrm>
                <a:off x="1651000" y="24251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FFFFFF"/>
                </a:solidFill>
              </a:ln>
            </p:spPr>
          </p:sp>
          <p:sp>
            <p:nvSpPr>
              <p:cNvPr id="26" name="Freeform 26"/>
              <p:cNvSpPr/>
              <p:nvPr/>
            </p:nvSpPr>
            <p:spPr>
              <a:xfrm>
                <a:off x="1666875" y="25205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FFFFFF"/>
                </a:solidFill>
              </a:ln>
            </p:spPr>
          </p:sp>
        </p:grpSp>
        <p:sp>
          <p:nvSpPr>
            <p:cNvPr id="28" name="TextBox 28"/>
            <p:cNvSpPr txBox="1"/>
            <p:nvPr/>
          </p:nvSpPr>
          <p:spPr>
            <a:xfrm>
              <a:off x="1528331" y="269343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用户</a:t>
              </a:r>
            </a:p>
          </p:txBody>
        </p:sp>
        <p:sp>
          <p:nvSpPr>
            <p:cNvPr id="29" name="TextBox 29"/>
            <p:cNvSpPr txBox="1"/>
            <p:nvPr/>
          </p:nvSpPr>
          <p:spPr>
            <a:xfrm rot="-1800000">
              <a:off x="1239723" y="2617998"/>
              <a:ext cx="181839"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重复</a:t>
              </a:r>
            </a:p>
          </p:txBody>
        </p:sp>
        <p:sp>
          <p:nvSpPr>
            <p:cNvPr id="30" name="Ellipse 30"/>
            <p:cNvSpPr/>
            <p:nvPr/>
          </p:nvSpPr>
          <p:spPr>
            <a:xfrm>
              <a:off x="838200" y="3009900"/>
              <a:ext cx="266700" cy="266700"/>
            </a:xfrm>
            <a:prstGeom prst="ellipse">
              <a:avLst/>
            </a:prstGeom>
            <a:solidFill>
              <a:srgbClr val="FFFFFF"/>
            </a:solidFill>
            <a:ln w="14288">
              <a:solidFill>
                <a:srgbClr val="9C594C"/>
              </a:solidFill>
            </a:ln>
          </p:spPr>
        </p:sp>
        <p:grpSp>
          <p:nvGrpSpPr>
            <p:cNvPr id="34" name="Group 34"/>
            <p:cNvGrpSpPr/>
            <p:nvPr/>
          </p:nvGrpSpPr>
          <p:grpSpPr>
            <a:xfrm>
              <a:off x="927100" y="3086100"/>
              <a:ext cx="88900" cy="114300"/>
              <a:chOff x="927100" y="3086100"/>
              <a:chExt cx="88900" cy="114300"/>
            </a:xfrm>
          </p:grpSpPr>
          <p:sp>
            <p:nvSpPr>
              <p:cNvPr id="31" name="Freeform 31"/>
              <p:cNvSpPr/>
              <p:nvPr/>
            </p:nvSpPr>
            <p:spPr>
              <a:xfrm>
                <a:off x="927100" y="3124200"/>
                <a:ext cx="88900" cy="76200"/>
              </a:xfrm>
              <a:custGeom>
                <a:avLst/>
                <a:gdLst/>
                <a:ahLst/>
                <a:cxnLst/>
                <a:rect l="l" t="t" r="r" b="b"/>
                <a:pathLst>
                  <a:path w="88900" h="76200">
                    <a:moveTo>
                      <a:pt x="19050" y="0"/>
                    </a:moveTo>
                    <a:lnTo>
                      <a:pt x="12700" y="0"/>
                    </a:lnTo>
                    <a:cubicBezTo>
                      <a:pt x="5686" y="0"/>
                      <a:pt x="0" y="5686"/>
                      <a:pt x="0" y="12700"/>
                    </a:cubicBezTo>
                    <a:lnTo>
                      <a:pt x="0" y="63500"/>
                    </a:lnTo>
                    <a:cubicBezTo>
                      <a:pt x="0" y="70514"/>
                      <a:pt x="5686" y="76200"/>
                      <a:pt x="12700" y="76200"/>
                    </a:cubicBezTo>
                    <a:lnTo>
                      <a:pt x="76200" y="76200"/>
                    </a:lnTo>
                    <a:cubicBezTo>
                      <a:pt x="83214" y="76200"/>
                      <a:pt x="88900" y="70514"/>
                      <a:pt x="88900" y="63500"/>
                    </a:cubicBezTo>
                    <a:lnTo>
                      <a:pt x="88900" y="12700"/>
                    </a:lnTo>
                    <a:cubicBezTo>
                      <a:pt x="88900" y="5686"/>
                      <a:pt x="83214" y="0"/>
                      <a:pt x="76200" y="0"/>
                    </a:cubicBezTo>
                    <a:lnTo>
                      <a:pt x="69850" y="0"/>
                    </a:lnTo>
                  </a:path>
                </a:pathLst>
              </a:custGeom>
              <a:noFill/>
              <a:ln w="12700">
                <a:solidFill>
                  <a:srgbClr val="9C594C"/>
                </a:solidFill>
              </a:ln>
            </p:spPr>
          </p:sp>
          <p:sp>
            <p:nvSpPr>
              <p:cNvPr id="32" name="Freeform 32"/>
              <p:cNvSpPr/>
              <p:nvPr/>
            </p:nvSpPr>
            <p:spPr>
              <a:xfrm>
                <a:off x="971550" y="3086100"/>
                <a:ext cx="9525" cy="69850"/>
              </a:xfrm>
              <a:custGeom>
                <a:avLst/>
                <a:gdLst/>
                <a:ahLst/>
                <a:cxnLst/>
                <a:rect l="l" t="t" r="r" b="b"/>
                <a:pathLst>
                  <a:path w="9525" h="69850">
                    <a:moveTo>
                      <a:pt x="0" y="69850"/>
                    </a:moveTo>
                    <a:lnTo>
                      <a:pt x="0" y="0"/>
                    </a:lnTo>
                  </a:path>
                </a:pathLst>
              </a:custGeom>
              <a:noFill/>
              <a:ln w="12700">
                <a:solidFill>
                  <a:srgbClr val="9C594C"/>
                </a:solidFill>
              </a:ln>
            </p:spPr>
          </p:sp>
          <p:sp>
            <p:nvSpPr>
              <p:cNvPr id="33" name="Freeform 33"/>
              <p:cNvSpPr/>
              <p:nvPr/>
            </p:nvSpPr>
            <p:spPr>
              <a:xfrm>
                <a:off x="952500" y="3086100"/>
                <a:ext cx="38100" cy="19050"/>
              </a:xfrm>
              <a:custGeom>
                <a:avLst/>
                <a:gdLst/>
                <a:ahLst/>
                <a:cxnLst/>
                <a:rect l="l" t="t" r="r" b="b"/>
                <a:pathLst>
                  <a:path w="38100" h="19050">
                    <a:moveTo>
                      <a:pt x="0" y="19050"/>
                    </a:moveTo>
                    <a:lnTo>
                      <a:pt x="19050" y="0"/>
                    </a:lnTo>
                    <a:lnTo>
                      <a:pt x="38100" y="19050"/>
                    </a:lnTo>
                  </a:path>
                </a:pathLst>
              </a:custGeom>
              <a:noFill/>
              <a:ln w="12700">
                <a:solidFill>
                  <a:srgbClr val="9C594C"/>
                </a:solidFill>
              </a:ln>
            </p:spPr>
          </p:sp>
        </p:grpSp>
        <p:sp>
          <p:nvSpPr>
            <p:cNvPr id="35" name="TextBox 35"/>
            <p:cNvSpPr txBox="1"/>
            <p:nvPr/>
          </p:nvSpPr>
          <p:spPr>
            <a:xfrm>
              <a:off x="880631" y="3341132"/>
              <a:ext cx="181839" cy="126206"/>
            </a:xfrm>
            <a:prstGeom prst="rect">
              <a:avLst/>
            </a:prstGeom>
            <a:noFill/>
            <a:ln>
              <a:noFill/>
            </a:ln>
          </p:spPr>
          <p:txBody>
            <a:bodyPr wrap="none" lIns="0" tIns="0" rIns="0" bIns="0" anchor="t" anchorCtr="0">
              <a:spAutoFit/>
            </a:bodyPr>
            <a:lstStyle/>
            <a:p>
              <a:pPr algn="ctr"/>
              <a:r>
                <a:rPr lang="zh-CN" sz="640" dirty="0">
                  <a:solidFill>
                    <a:srgbClr val="7A3E33"/>
                  </a:solidFill>
                  <a:latin typeface="+mn-lt"/>
                  <a:ea typeface="+mn-ea"/>
                  <a:cs typeface="+mn-cs"/>
                </a:rPr>
                <a:t>服务</a:t>
              </a:r>
            </a:p>
          </p:txBody>
        </p:sp>
      </p:grpSp>
      <p:grpSp>
        <p:nvGrpSpPr>
          <p:cNvPr id="50" name="user-base"/>
          <p:cNvGrpSpPr/>
          <p:nvPr/>
        </p:nvGrpSpPr>
        <p:grpSpPr>
          <a:xfrm>
            <a:off x="3136392" y="1816418"/>
            <a:ext cx="1911858" cy="1498282"/>
            <a:chOff x="3136392" y="1816418"/>
            <a:chExt cx="1911858" cy="1498282"/>
          </a:xfrm>
        </p:grpSpPr>
        <p:sp>
          <p:nvSpPr>
            <p:cNvPr id="37" name="TextBox 37"/>
            <p:cNvSpPr txBox="1"/>
            <p:nvPr/>
          </p:nvSpPr>
          <p:spPr>
            <a:xfrm>
              <a:off x="3136392" y="1816418"/>
              <a:ext cx="1782370" cy="264033"/>
            </a:xfrm>
            <a:prstGeom prst="rect">
              <a:avLst/>
            </a:prstGeom>
            <a:noFill/>
            <a:ln>
              <a:noFill/>
            </a:ln>
          </p:spPr>
          <p:txBody>
            <a:bodyPr wrap="none" lIns="0" tIns="0" rIns="0" bIns="0" anchor="t" anchorCtr="0">
              <a:spAutoFit/>
            </a:bodyPr>
            <a:lstStyle/>
            <a:p>
              <a:pPr algn="l"/>
              <a:r>
                <a:rPr lang="zh-CN" sz="1350" b="1" dirty="0">
                  <a:solidFill>
                    <a:srgbClr val="D6391E"/>
                  </a:solidFill>
                  <a:latin typeface="+mn-lt"/>
                  <a:ea typeface="+mn-ea"/>
                  <a:cs typeface="+mn-cs"/>
                </a:rPr>
                <a:t>用户基数大</a:t>
              </a:r>
              <a:r>
                <a:rPr lang="zh-CN" sz="750" b="1" dirty="0">
                  <a:solidFill>
                    <a:srgbClr val="8C8C8C"/>
                  </a:solidFill>
                  <a:latin typeface="+mn-lt"/>
                  <a:ea typeface="+mn-ea"/>
                  <a:cs typeface="+mn-cs"/>
                </a:rPr>
                <a:t xml:space="preserve"> / 2019年数据显示</a:t>
              </a:r>
            </a:p>
          </p:txBody>
        </p:sp>
        <p:sp>
          <p:nvSpPr>
            <p:cNvPr id="38" name="TextBox 38"/>
            <p:cNvSpPr txBox="1"/>
            <p:nvPr/>
          </p:nvSpPr>
          <p:spPr>
            <a:xfrm>
              <a:off x="3138488" y="2177891"/>
              <a:ext cx="1280033" cy="352425"/>
            </a:xfrm>
            <a:prstGeom prst="rect">
              <a:avLst/>
            </a:prstGeom>
            <a:noFill/>
            <a:ln>
              <a:noFill/>
            </a:ln>
          </p:spPr>
          <p:txBody>
            <a:bodyPr wrap="none" lIns="0" tIns="0" rIns="0" bIns="0" anchor="t" anchorCtr="0">
              <a:spAutoFit/>
            </a:bodyPr>
            <a:lstStyle/>
            <a:p>
              <a:pPr algn="l">
                <a:lnSpc>
                  <a:spcPts val="1500"/>
                </a:lnSpc>
              </a:pPr>
              <a:r>
                <a:rPr lang="zh-CN" sz="820" dirty="0">
                  <a:solidFill>
                    <a:srgbClr val="333333"/>
                  </a:solidFill>
                  <a:latin typeface="+mn-lt"/>
                  <a:ea typeface="+mn-ea"/>
                  <a:cs typeface="+mn-cs"/>
                </a:rPr>
                <a:t>2019年中国在线直播行业用</a:t>
              </a:r>
              <a:br/>
              <a:r>
                <a:rPr lang="zh-CN" sz="820" dirty="0">
                  <a:solidFill>
                    <a:srgbClr val="333333"/>
                  </a:solidFill>
                  <a:latin typeface="+mn-lt"/>
                  <a:ea typeface="+mn-ea"/>
                  <a:cs typeface="+mn-cs"/>
                </a:rPr>
                <a:t>户规模已增长至5.04亿人​</a:t>
              </a:r>
            </a:p>
          </p:txBody>
        </p:sp>
        <p:sp>
          <p:nvSpPr>
            <p:cNvPr id="39" name="TextBox 39"/>
            <p:cNvSpPr txBox="1"/>
            <p:nvPr/>
          </p:nvSpPr>
          <p:spPr>
            <a:xfrm>
              <a:off x="3363684" y="2730341"/>
              <a:ext cx="892632" cy="161925"/>
            </a:xfrm>
            <a:prstGeom prst="rect">
              <a:avLst/>
            </a:prstGeom>
            <a:noFill/>
            <a:ln>
              <a:noFill/>
            </a:ln>
          </p:spPr>
          <p:txBody>
            <a:bodyPr wrap="none" lIns="0" tIns="0" rIns="0" bIns="0" anchor="t" anchorCtr="0">
              <a:spAutoFit/>
            </a:bodyPr>
            <a:lstStyle/>
            <a:p>
              <a:pPr algn="ctr"/>
              <a:r>
                <a:rPr lang="zh-CN" sz="820" dirty="0">
                  <a:solidFill>
                    <a:srgbClr val="D6391E"/>
                  </a:solidFill>
                  <a:latin typeface="+mn-lt"/>
                  <a:ea typeface="+mn-ea"/>
                  <a:cs typeface="+mn-cs"/>
                </a:rPr>
                <a:t>公域（原生关注）</a:t>
              </a:r>
            </a:p>
          </p:txBody>
        </p:sp>
        <p:sp>
          <p:nvSpPr>
            <p:cNvPr id="40" name="Line 40"/>
            <p:cNvSpPr/>
            <p:nvPr/>
          </p:nvSpPr>
          <p:spPr>
            <a:xfrm>
              <a:off x="3810000" y="2895600"/>
              <a:ext cx="9525" cy="76200"/>
            </a:xfrm>
            <a:custGeom>
              <a:avLst/>
              <a:gdLst/>
              <a:ahLst/>
              <a:cxnLst/>
              <a:rect l="l" t="t" r="r" b="b"/>
              <a:pathLst>
                <a:path w="9525" h="76200">
                  <a:moveTo>
                    <a:pt x="0" y="0"/>
                  </a:moveTo>
                  <a:lnTo>
                    <a:pt x="0" y="76200"/>
                  </a:lnTo>
                </a:path>
              </a:pathLst>
            </a:custGeom>
            <a:noFill/>
            <a:ln w="9525">
              <a:solidFill>
                <a:srgbClr val="E9563C"/>
              </a:solidFill>
            </a:ln>
          </p:spPr>
        </p:sp>
        <p:sp>
          <p:nvSpPr>
            <p:cNvPr id="41" name="Line 41"/>
            <p:cNvSpPr/>
            <p:nvPr/>
          </p:nvSpPr>
          <p:spPr>
            <a:xfrm>
              <a:off x="3429000" y="2971800"/>
              <a:ext cx="1333500" cy="9525"/>
            </a:xfrm>
            <a:custGeom>
              <a:avLst/>
              <a:gdLst/>
              <a:ahLst/>
              <a:cxnLst/>
              <a:rect l="l" t="t" r="r" b="b"/>
              <a:pathLst>
                <a:path w="1333500" h="9525">
                  <a:moveTo>
                    <a:pt x="0" y="0"/>
                  </a:moveTo>
                  <a:lnTo>
                    <a:pt x="1333500" y="0"/>
                  </a:lnTo>
                </a:path>
              </a:pathLst>
            </a:custGeom>
            <a:noFill/>
            <a:ln w="9525">
              <a:solidFill>
                <a:srgbClr val="E9563C"/>
              </a:solidFill>
            </a:ln>
          </p:spPr>
        </p:sp>
        <p:sp>
          <p:nvSpPr>
            <p:cNvPr id="42" name="Line 42"/>
            <p:cNvSpPr/>
            <p:nvPr/>
          </p:nvSpPr>
          <p:spPr>
            <a:xfrm>
              <a:off x="3429000" y="2971800"/>
              <a:ext cx="9525" cy="76200"/>
            </a:xfrm>
            <a:custGeom>
              <a:avLst/>
              <a:gdLst/>
              <a:ahLst/>
              <a:cxnLst/>
              <a:rect l="l" t="t" r="r" b="b"/>
              <a:pathLst>
                <a:path w="9525" h="76200">
                  <a:moveTo>
                    <a:pt x="0" y="0"/>
                  </a:moveTo>
                  <a:lnTo>
                    <a:pt x="0" y="76200"/>
                  </a:lnTo>
                </a:path>
              </a:pathLst>
            </a:custGeom>
            <a:noFill/>
            <a:ln w="9525">
              <a:solidFill>
                <a:srgbClr val="E9563C"/>
              </a:solidFill>
            </a:ln>
          </p:spPr>
        </p:sp>
        <p:sp>
          <p:nvSpPr>
            <p:cNvPr id="43" name="Line 43"/>
            <p:cNvSpPr/>
            <p:nvPr/>
          </p:nvSpPr>
          <p:spPr>
            <a:xfrm>
              <a:off x="4476750" y="2971800"/>
              <a:ext cx="9525" cy="76200"/>
            </a:xfrm>
            <a:custGeom>
              <a:avLst/>
              <a:gdLst/>
              <a:ahLst/>
              <a:cxnLst/>
              <a:rect l="l" t="t" r="r" b="b"/>
              <a:pathLst>
                <a:path w="9525" h="76200">
                  <a:moveTo>
                    <a:pt x="0" y="0"/>
                  </a:moveTo>
                  <a:lnTo>
                    <a:pt x="0" y="76200"/>
                  </a:lnTo>
                </a:path>
              </a:pathLst>
            </a:custGeom>
            <a:noFill/>
            <a:ln w="9525">
              <a:solidFill>
                <a:srgbClr val="E9563C"/>
              </a:solidFill>
            </a:ln>
          </p:spPr>
        </p:sp>
        <p:sp>
          <p:nvSpPr>
            <p:cNvPr id="44" name="Rectangle 44"/>
            <p:cNvSpPr/>
            <p:nvPr/>
          </p:nvSpPr>
          <p:spPr>
            <a:xfrm>
              <a:off x="3143250" y="3067050"/>
              <a:ext cx="571500" cy="247650"/>
            </a:xfrm>
            <a:prstGeom prst="rect">
              <a:avLst/>
            </a:prstGeom>
            <a:solidFill>
              <a:srgbClr val="E9563C"/>
            </a:solidFill>
            <a:ln>
              <a:noFill/>
            </a:ln>
          </p:spPr>
        </p:sp>
        <p:sp>
          <p:nvSpPr>
            <p:cNvPr id="45" name="TextBox 45"/>
            <p:cNvSpPr txBox="1"/>
            <p:nvPr/>
          </p:nvSpPr>
          <p:spPr>
            <a:xfrm>
              <a:off x="3317888" y="31534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内容</a:t>
              </a:r>
            </a:p>
          </p:txBody>
        </p:sp>
        <p:sp>
          <p:nvSpPr>
            <p:cNvPr id="46" name="Rectangle 46"/>
            <p:cNvSpPr/>
            <p:nvPr/>
          </p:nvSpPr>
          <p:spPr>
            <a:xfrm>
              <a:off x="3810000" y="3067050"/>
              <a:ext cx="571500" cy="247650"/>
            </a:xfrm>
            <a:prstGeom prst="rect">
              <a:avLst/>
            </a:prstGeom>
            <a:solidFill>
              <a:srgbClr val="E9563C"/>
            </a:solidFill>
            <a:ln>
              <a:noFill/>
            </a:ln>
          </p:spPr>
        </p:sp>
        <p:sp>
          <p:nvSpPr>
            <p:cNvPr id="47" name="TextBox 47"/>
            <p:cNvSpPr txBox="1"/>
            <p:nvPr/>
          </p:nvSpPr>
          <p:spPr>
            <a:xfrm>
              <a:off x="3984638" y="31534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服务</a:t>
              </a:r>
            </a:p>
          </p:txBody>
        </p:sp>
        <p:sp>
          <p:nvSpPr>
            <p:cNvPr id="48" name="Rectangle 48"/>
            <p:cNvSpPr/>
            <p:nvPr/>
          </p:nvSpPr>
          <p:spPr>
            <a:xfrm>
              <a:off x="4476750" y="3067050"/>
              <a:ext cx="571500" cy="247650"/>
            </a:xfrm>
            <a:prstGeom prst="rect">
              <a:avLst/>
            </a:prstGeom>
            <a:solidFill>
              <a:srgbClr val="E9563C"/>
            </a:solidFill>
            <a:ln>
              <a:noFill/>
            </a:ln>
          </p:spPr>
        </p:sp>
        <p:sp>
          <p:nvSpPr>
            <p:cNvPr id="49" name="TextBox 49"/>
            <p:cNvSpPr txBox="1"/>
            <p:nvPr/>
          </p:nvSpPr>
          <p:spPr>
            <a:xfrm>
              <a:off x="4651388" y="31534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社区</a:t>
              </a:r>
            </a:p>
          </p:txBody>
        </p:sp>
      </p:grpSp>
      <p:grpSp>
        <p:nvGrpSpPr>
          <p:cNvPr id="83" name="features-card"/>
          <p:cNvGrpSpPr/>
          <p:nvPr/>
        </p:nvGrpSpPr>
        <p:grpSpPr>
          <a:xfrm>
            <a:off x="381000" y="3810000"/>
            <a:ext cx="5524500" cy="1809750"/>
            <a:chOff x="381000" y="3810000"/>
            <a:chExt cx="5524500" cy="1809750"/>
          </a:xfrm>
        </p:grpSpPr>
        <p:sp>
          <p:nvSpPr>
            <p:cNvPr id="51" name="Rectangle 51"/>
            <p:cNvSpPr/>
            <p:nvPr/>
          </p:nvSpPr>
          <p:spPr>
            <a:xfrm>
              <a:off x="381000" y="3810000"/>
              <a:ext cx="5524500" cy="1809750"/>
            </a:xfrm>
            <a:prstGeom prst="rect">
              <a:avLst/>
            </a:prstGeom>
            <a:solidFill>
              <a:srgbClr val="FDF6E7"/>
            </a:solidFill>
            <a:ln>
              <a:noFill/>
            </a:ln>
          </p:spPr>
        </p:sp>
        <p:sp>
          <p:nvSpPr>
            <p:cNvPr id="52" name="TextBox 52"/>
            <p:cNvSpPr txBox="1"/>
            <p:nvPr/>
          </p:nvSpPr>
          <p:spPr>
            <a:xfrm>
              <a:off x="518160" y="4012406"/>
              <a:ext cx="1669948" cy="220028"/>
            </a:xfrm>
            <a:prstGeom prst="rect">
              <a:avLst/>
            </a:prstGeom>
            <a:noFill/>
            <a:ln>
              <a:noFill/>
            </a:ln>
          </p:spPr>
          <p:txBody>
            <a:bodyPr wrap="none" lIns="0" tIns="0" rIns="0" bIns="0" anchor="t" anchorCtr="0">
              <a:spAutoFit/>
            </a:bodyPr>
            <a:lstStyle/>
            <a:p>
              <a:pPr algn="l"/>
              <a:r>
                <a:rPr lang="zh-CN" sz="1120" b="1" dirty="0">
                  <a:solidFill>
                    <a:srgbClr val="D6391E"/>
                  </a:solidFill>
                  <a:latin typeface="+mn-lt"/>
                  <a:ea typeface="+mn-ea"/>
                  <a:cs typeface="+mn-cs"/>
                </a:rPr>
                <a:t>支持绩优组织的六个特点</a:t>
              </a:r>
            </a:p>
          </p:txBody>
        </p:sp>
        <p:sp>
          <p:nvSpPr>
            <p:cNvPr id="53" name="TextBox 53"/>
            <p:cNvSpPr txBox="1"/>
            <p:nvPr/>
          </p:nvSpPr>
          <p:spPr>
            <a:xfrm>
              <a:off x="519112" y="4281488"/>
              <a:ext cx="1519238" cy="1052512"/>
            </a:xfrm>
            <a:prstGeom prst="rect">
              <a:avLst/>
            </a:prstGeom>
            <a:noFill/>
            <a:ln>
              <a:noFill/>
            </a:ln>
          </p:spPr>
          <p:txBody>
            <a:bodyPr wrap="none" lIns="0" tIns="0" rIns="0" bIns="0" anchor="t" anchorCtr="0">
              <a:spAutoFit/>
            </a:bodyPr>
            <a:lstStyle/>
            <a:p>
              <a:pPr algn="l" marL="80962" indent="-80962">
                <a:lnSpc>
                  <a:spcPts val="1125"/>
                </a:lnSpc>
                <a:buClr>
                  <a:srgbClr val="333333"/>
                </a:buClr>
                <a:buSzTx/>
                <a:buFontTx/>
                <a:buChar char="•"/>
              </a:pPr>
              <a:r>
                <a:rPr lang="zh-CN" sz="750" dirty="0">
                  <a:solidFill>
                    <a:srgbClr val="333333"/>
                  </a:solidFill>
                  <a:latin typeface="+mn-lt"/>
                  <a:ea typeface="+mn-ea"/>
                  <a:cs typeface="+mn-cs"/>
                </a:rPr>
                <a:t>平衡的业绩成果</a:t>
              </a:r>
            </a:p>
            <a:p>
              <a:pPr algn="l" marL="80962" indent="-80962">
                <a:lnSpc>
                  <a:spcPts val="1125"/>
                </a:lnSpc>
                <a:spcBef>
                  <a:spcPts val="75"/>
                </a:spcBef>
                <a:buClr>
                  <a:srgbClr val="333333"/>
                </a:buClr>
                <a:buSzTx/>
                <a:buFontTx/>
                <a:buChar char="•"/>
              </a:pPr>
              <a:r>
                <a:rPr lang="zh-CN" sz="750" dirty="0">
                  <a:solidFill>
                    <a:srgbClr val="333333"/>
                  </a:solidFill>
                  <a:latin typeface="+mn-lt"/>
                  <a:ea typeface="+mn-ea"/>
                  <a:cs typeface="+mn-cs"/>
                </a:rPr>
                <a:t>明确的、挑战性的目标</a:t>
              </a:r>
            </a:p>
            <a:p>
              <a:pPr algn="l" marL="80962" indent="-80962">
                <a:lnSpc>
                  <a:spcPts val="1125"/>
                </a:lnSpc>
                <a:spcBef>
                  <a:spcPts val="75"/>
                </a:spcBef>
                <a:buClr>
                  <a:srgbClr val="333333"/>
                </a:buClr>
                <a:buSzTx/>
                <a:buFontTx/>
                <a:buChar char="•"/>
              </a:pPr>
              <a:r>
                <a:rPr lang="zh-CN" sz="750" dirty="0">
                  <a:solidFill>
                    <a:srgbClr val="333333"/>
                  </a:solidFill>
                  <a:latin typeface="+mn-lt"/>
                  <a:ea typeface="+mn-ea"/>
                  <a:cs typeface="+mn-cs"/>
                </a:rPr>
                <a:t>有坚定信念又专注于事业的领导</a:t>
              </a:r>
            </a:p>
            <a:p>
              <a:pPr algn="l" marL="80962" indent="-80962">
                <a:lnSpc>
                  <a:spcPts val="1125"/>
                </a:lnSpc>
                <a:spcBef>
                  <a:spcPts val="75"/>
                </a:spcBef>
                <a:buClr>
                  <a:srgbClr val="333333"/>
                </a:buClr>
                <a:buSzTx/>
                <a:buFontTx/>
                <a:buChar char="•"/>
              </a:pPr>
              <a:r>
                <a:rPr lang="zh-CN" sz="750" dirty="0">
                  <a:solidFill>
                    <a:srgbClr val="333333"/>
                  </a:solidFill>
                  <a:latin typeface="+mn-lt"/>
                  <a:ea typeface="+mn-ea"/>
                  <a:cs typeface="+mn-cs"/>
                </a:rPr>
                <a:t>一支精力充沛的全身心投入提高生</a:t>
              </a:r>
              <a:br/>
              <a:r>
                <a:rPr lang="zh-CN" sz="750" dirty="0">
                  <a:solidFill>
                    <a:srgbClr val="333333"/>
                  </a:solidFill>
                  <a:latin typeface="+mn-lt"/>
                  <a:ea typeface="+mn-ea"/>
                  <a:cs typeface="+mn-cs"/>
                </a:rPr>
                <a:t>产率和学习的工作人员队伍</a:t>
              </a:r>
            </a:p>
            <a:p>
              <a:pPr algn="l" marL="80962" indent="-80962">
                <a:lnSpc>
                  <a:spcPts val="1125"/>
                </a:lnSpc>
                <a:spcBef>
                  <a:spcPts val="75"/>
                </a:spcBef>
                <a:buClr>
                  <a:srgbClr val="333333"/>
                </a:buClr>
                <a:buSzTx/>
                <a:buFontTx/>
                <a:buChar char="•"/>
              </a:pPr>
              <a:r>
                <a:rPr lang="zh-CN" sz="750" dirty="0">
                  <a:solidFill>
                    <a:srgbClr val="333333"/>
                  </a:solidFill>
                  <a:latin typeface="+mn-lt"/>
                  <a:ea typeface="+mn-ea"/>
                  <a:cs typeface="+mn-cs"/>
                </a:rPr>
                <a:t>建立在技能基础上的竞争优势来源</a:t>
              </a:r>
            </a:p>
            <a:p>
              <a:pPr algn="l" marL="80962" indent="-80962">
                <a:lnSpc>
                  <a:spcPts val="1125"/>
                </a:lnSpc>
                <a:spcBef>
                  <a:spcPts val="75"/>
                </a:spcBef>
                <a:buClr>
                  <a:srgbClr val="333333"/>
                </a:buClr>
                <a:buSzTx/>
                <a:buFontTx/>
                <a:buChar char="•"/>
              </a:pPr>
              <a:r>
                <a:rPr lang="zh-CN" sz="750" dirty="0">
                  <a:solidFill>
                    <a:srgbClr val="333333"/>
                  </a:solidFill>
                  <a:latin typeface="+mn-lt"/>
                  <a:ea typeface="+mn-ea"/>
                  <a:cs typeface="+mn-cs"/>
                </a:rPr>
                <a:t>开放的沟通交流和知识管理</a:t>
              </a:r>
            </a:p>
          </p:txBody>
        </p:sp>
        <p:sp>
          <p:nvSpPr>
            <p:cNvPr id="54" name="TextBox 54"/>
            <p:cNvSpPr txBox="1"/>
            <p:nvPr/>
          </p:nvSpPr>
          <p:spPr>
            <a:xfrm>
              <a:off x="2941262" y="4187428"/>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60</a:t>
              </a:r>
            </a:p>
          </p:txBody>
        </p:sp>
        <p:sp>
          <p:nvSpPr>
            <p:cNvPr id="55" name="TextBox 55"/>
            <p:cNvSpPr txBox="1"/>
            <p:nvPr/>
          </p:nvSpPr>
          <p:spPr>
            <a:xfrm>
              <a:off x="2941262" y="4396978"/>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50</a:t>
              </a:r>
            </a:p>
          </p:txBody>
        </p:sp>
        <p:sp>
          <p:nvSpPr>
            <p:cNvPr id="56" name="TextBox 56"/>
            <p:cNvSpPr txBox="1"/>
            <p:nvPr/>
          </p:nvSpPr>
          <p:spPr>
            <a:xfrm>
              <a:off x="2941262" y="4606528"/>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40</a:t>
              </a:r>
            </a:p>
          </p:txBody>
        </p:sp>
        <p:sp>
          <p:nvSpPr>
            <p:cNvPr id="57" name="TextBox 57"/>
            <p:cNvSpPr txBox="1"/>
            <p:nvPr/>
          </p:nvSpPr>
          <p:spPr>
            <a:xfrm>
              <a:off x="2941262" y="4816078"/>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30</a:t>
              </a:r>
            </a:p>
          </p:txBody>
        </p:sp>
        <p:sp>
          <p:nvSpPr>
            <p:cNvPr id="58" name="TextBox 58"/>
            <p:cNvSpPr txBox="1"/>
            <p:nvPr/>
          </p:nvSpPr>
          <p:spPr>
            <a:xfrm>
              <a:off x="2941262" y="5025628"/>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20</a:t>
              </a:r>
            </a:p>
          </p:txBody>
        </p:sp>
        <p:sp>
          <p:nvSpPr>
            <p:cNvPr id="59" name="TextBox 59"/>
            <p:cNvSpPr txBox="1"/>
            <p:nvPr/>
          </p:nvSpPr>
          <p:spPr>
            <a:xfrm>
              <a:off x="2941262" y="5235178"/>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10</a:t>
              </a:r>
            </a:p>
          </p:txBody>
        </p:sp>
        <p:sp>
          <p:nvSpPr>
            <p:cNvPr id="60" name="Line 60"/>
            <p:cNvSpPr/>
            <p:nvPr/>
          </p:nvSpPr>
          <p:spPr>
            <a:xfrm>
              <a:off x="3067050" y="4229100"/>
              <a:ext cx="2647950" cy="9525"/>
            </a:xfrm>
            <a:custGeom>
              <a:avLst/>
              <a:gdLst/>
              <a:ahLst/>
              <a:cxnLst/>
              <a:rect l="l" t="t" r="r" b="b"/>
              <a:pathLst>
                <a:path w="2647950" h="9525">
                  <a:moveTo>
                    <a:pt x="0" y="0"/>
                  </a:moveTo>
                  <a:lnTo>
                    <a:pt x="2647950" y="0"/>
                  </a:lnTo>
                </a:path>
              </a:pathLst>
            </a:custGeom>
            <a:noFill/>
            <a:ln w="9525">
              <a:solidFill>
                <a:srgbClr val="E5E0D0"/>
              </a:solidFill>
            </a:ln>
          </p:spPr>
        </p:sp>
        <p:sp>
          <p:nvSpPr>
            <p:cNvPr id="61" name="Line 61"/>
            <p:cNvSpPr/>
            <p:nvPr/>
          </p:nvSpPr>
          <p:spPr>
            <a:xfrm>
              <a:off x="3067050" y="4438650"/>
              <a:ext cx="2647950" cy="9525"/>
            </a:xfrm>
            <a:custGeom>
              <a:avLst/>
              <a:gdLst/>
              <a:ahLst/>
              <a:cxnLst/>
              <a:rect l="l" t="t" r="r" b="b"/>
              <a:pathLst>
                <a:path w="2647950" h="9525">
                  <a:moveTo>
                    <a:pt x="0" y="0"/>
                  </a:moveTo>
                  <a:lnTo>
                    <a:pt x="2647950" y="0"/>
                  </a:lnTo>
                </a:path>
              </a:pathLst>
            </a:custGeom>
            <a:noFill/>
            <a:ln w="9525">
              <a:solidFill>
                <a:srgbClr val="E5E0D0"/>
              </a:solidFill>
            </a:ln>
          </p:spPr>
        </p:sp>
        <p:sp>
          <p:nvSpPr>
            <p:cNvPr id="62" name="Line 62"/>
            <p:cNvSpPr/>
            <p:nvPr/>
          </p:nvSpPr>
          <p:spPr>
            <a:xfrm>
              <a:off x="3067050" y="4648200"/>
              <a:ext cx="2647950" cy="9525"/>
            </a:xfrm>
            <a:custGeom>
              <a:avLst/>
              <a:gdLst/>
              <a:ahLst/>
              <a:cxnLst/>
              <a:rect l="l" t="t" r="r" b="b"/>
              <a:pathLst>
                <a:path w="2647950" h="9525">
                  <a:moveTo>
                    <a:pt x="0" y="0"/>
                  </a:moveTo>
                  <a:lnTo>
                    <a:pt x="2647950" y="0"/>
                  </a:lnTo>
                </a:path>
              </a:pathLst>
            </a:custGeom>
            <a:noFill/>
            <a:ln w="9525">
              <a:solidFill>
                <a:srgbClr val="E5E0D0"/>
              </a:solidFill>
            </a:ln>
          </p:spPr>
        </p:sp>
        <p:sp>
          <p:nvSpPr>
            <p:cNvPr id="63" name="Line 63"/>
            <p:cNvSpPr/>
            <p:nvPr/>
          </p:nvSpPr>
          <p:spPr>
            <a:xfrm>
              <a:off x="3067050" y="4857750"/>
              <a:ext cx="2647950" cy="9525"/>
            </a:xfrm>
            <a:custGeom>
              <a:avLst/>
              <a:gdLst/>
              <a:ahLst/>
              <a:cxnLst/>
              <a:rect l="l" t="t" r="r" b="b"/>
              <a:pathLst>
                <a:path w="2647950" h="9525">
                  <a:moveTo>
                    <a:pt x="0" y="0"/>
                  </a:moveTo>
                  <a:lnTo>
                    <a:pt x="2647950" y="0"/>
                  </a:lnTo>
                </a:path>
              </a:pathLst>
            </a:custGeom>
            <a:noFill/>
            <a:ln w="9525">
              <a:solidFill>
                <a:srgbClr val="E5E0D0"/>
              </a:solidFill>
            </a:ln>
          </p:spPr>
        </p:sp>
        <p:sp>
          <p:nvSpPr>
            <p:cNvPr id="64" name="Line 64"/>
            <p:cNvSpPr/>
            <p:nvPr/>
          </p:nvSpPr>
          <p:spPr>
            <a:xfrm>
              <a:off x="3067050" y="5067300"/>
              <a:ext cx="2647950" cy="9525"/>
            </a:xfrm>
            <a:custGeom>
              <a:avLst/>
              <a:gdLst/>
              <a:ahLst/>
              <a:cxnLst/>
              <a:rect l="l" t="t" r="r" b="b"/>
              <a:pathLst>
                <a:path w="2647950" h="9525">
                  <a:moveTo>
                    <a:pt x="0" y="0"/>
                  </a:moveTo>
                  <a:lnTo>
                    <a:pt x="2647950" y="0"/>
                  </a:lnTo>
                </a:path>
              </a:pathLst>
            </a:custGeom>
            <a:noFill/>
            <a:ln w="9525">
              <a:solidFill>
                <a:srgbClr val="E5E0D0"/>
              </a:solidFill>
            </a:ln>
          </p:spPr>
        </p:sp>
        <p:sp>
          <p:nvSpPr>
            <p:cNvPr id="65" name="Line 65"/>
            <p:cNvSpPr/>
            <p:nvPr/>
          </p:nvSpPr>
          <p:spPr>
            <a:xfrm>
              <a:off x="3067050" y="5276850"/>
              <a:ext cx="2647950" cy="9525"/>
            </a:xfrm>
            <a:custGeom>
              <a:avLst/>
              <a:gdLst/>
              <a:ahLst/>
              <a:cxnLst/>
              <a:rect l="l" t="t" r="r" b="b"/>
              <a:pathLst>
                <a:path w="2647950" h="9525">
                  <a:moveTo>
                    <a:pt x="0" y="0"/>
                  </a:moveTo>
                  <a:lnTo>
                    <a:pt x="2647950" y="0"/>
                  </a:lnTo>
                </a:path>
              </a:pathLst>
            </a:custGeom>
            <a:noFill/>
            <a:ln w="9525">
              <a:solidFill>
                <a:srgbClr val="E5E0D0"/>
              </a:solidFill>
            </a:ln>
          </p:spPr>
        </p:sp>
        <p:sp>
          <p:nvSpPr>
            <p:cNvPr id="66" name="Polygon 66"/>
            <p:cNvSpPr/>
            <p:nvPr/>
          </p:nvSpPr>
          <p:spPr>
            <a:xfrm>
              <a:off x="3105150" y="4152900"/>
              <a:ext cx="2609850" cy="1162050"/>
            </a:xfrm>
            <a:custGeom>
              <a:avLst/>
              <a:gdLst/>
              <a:ahLst/>
              <a:cxnLst/>
              <a:rect l="l" t="t" r="r" b="b"/>
              <a:pathLst>
                <a:path w="2609850" h="1162050">
                  <a:moveTo>
                    <a:pt x="0" y="590550"/>
                  </a:moveTo>
                  <a:lnTo>
                    <a:pt x="209550" y="276225"/>
                  </a:lnTo>
                  <a:lnTo>
                    <a:pt x="428625" y="419100"/>
                  </a:lnTo>
                  <a:lnTo>
                    <a:pt x="647700" y="171450"/>
                  </a:lnTo>
                  <a:lnTo>
                    <a:pt x="866775" y="342900"/>
                  </a:lnTo>
                  <a:lnTo>
                    <a:pt x="1085850" y="209550"/>
                  </a:lnTo>
                  <a:lnTo>
                    <a:pt x="1304925" y="66675"/>
                  </a:lnTo>
                  <a:lnTo>
                    <a:pt x="1524000" y="381000"/>
                  </a:lnTo>
                  <a:lnTo>
                    <a:pt x="1743075" y="133350"/>
                  </a:lnTo>
                  <a:lnTo>
                    <a:pt x="1962150" y="0"/>
                  </a:lnTo>
                  <a:lnTo>
                    <a:pt x="2181225" y="171450"/>
                  </a:lnTo>
                  <a:lnTo>
                    <a:pt x="2400300" y="276225"/>
                  </a:lnTo>
                  <a:lnTo>
                    <a:pt x="2609850" y="209550"/>
                  </a:lnTo>
                  <a:lnTo>
                    <a:pt x="2609850" y="1162050"/>
                  </a:lnTo>
                  <a:lnTo>
                    <a:pt x="0" y="1162050"/>
                  </a:lnTo>
                  <a:close/>
                </a:path>
              </a:pathLst>
            </a:custGeom>
            <a:solidFill>
              <a:srgbClr val="E9563C">
                <a:alpha val="85000"/>
              </a:srgbClr>
            </a:solidFill>
            <a:ln>
              <a:noFill/>
            </a:ln>
          </p:spPr>
        </p:sp>
        <p:sp>
          <p:nvSpPr>
            <p:cNvPr id="67" name="Polygon 67"/>
            <p:cNvSpPr/>
            <p:nvPr/>
          </p:nvSpPr>
          <p:spPr>
            <a:xfrm>
              <a:off x="3105150" y="4572000"/>
              <a:ext cx="2609850" cy="742950"/>
            </a:xfrm>
            <a:custGeom>
              <a:avLst/>
              <a:gdLst/>
              <a:ahLst/>
              <a:cxnLst/>
              <a:rect l="l" t="t" r="r" b="b"/>
              <a:pathLst>
                <a:path w="2609850" h="742950">
                  <a:moveTo>
                    <a:pt x="0" y="485775"/>
                  </a:moveTo>
                  <a:lnTo>
                    <a:pt x="209550" y="276225"/>
                  </a:lnTo>
                  <a:lnTo>
                    <a:pt x="428625" y="381000"/>
                  </a:lnTo>
                  <a:lnTo>
                    <a:pt x="647700" y="171450"/>
                  </a:lnTo>
                  <a:lnTo>
                    <a:pt x="866775" y="342900"/>
                  </a:lnTo>
                  <a:lnTo>
                    <a:pt x="1085850" y="209550"/>
                  </a:lnTo>
                  <a:lnTo>
                    <a:pt x="1304925" y="66675"/>
                  </a:lnTo>
                  <a:lnTo>
                    <a:pt x="1524000" y="381000"/>
                  </a:lnTo>
                  <a:lnTo>
                    <a:pt x="1743075" y="171450"/>
                  </a:lnTo>
                  <a:lnTo>
                    <a:pt x="1962150" y="0"/>
                  </a:lnTo>
                  <a:lnTo>
                    <a:pt x="2181225" y="209550"/>
                  </a:lnTo>
                  <a:lnTo>
                    <a:pt x="2400300" y="276225"/>
                  </a:lnTo>
                  <a:lnTo>
                    <a:pt x="2609850" y="171450"/>
                  </a:lnTo>
                  <a:lnTo>
                    <a:pt x="2609850" y="742950"/>
                  </a:lnTo>
                  <a:lnTo>
                    <a:pt x="0" y="742950"/>
                  </a:lnTo>
                  <a:close/>
                </a:path>
              </a:pathLst>
            </a:custGeom>
            <a:solidFill>
              <a:srgbClr val="9C594C">
                <a:alpha val="90000"/>
              </a:srgbClr>
            </a:solidFill>
            <a:ln>
              <a:noFill/>
            </a:ln>
          </p:spPr>
        </p:sp>
        <p:sp>
          <p:nvSpPr>
            <p:cNvPr id="68" name="Rectangle 68"/>
            <p:cNvSpPr/>
            <p:nvPr/>
          </p:nvSpPr>
          <p:spPr>
            <a:xfrm>
              <a:off x="4400550" y="4076700"/>
              <a:ext cx="457200" cy="152400"/>
            </a:xfrm>
            <a:prstGeom prst="roundRect">
              <a:avLst>
                <a:gd name="adj" fmla="val 50000"/>
              </a:avLst>
            </a:prstGeom>
            <a:solidFill>
              <a:srgbClr val="E9563C"/>
            </a:solidFill>
            <a:ln>
              <a:noFill/>
            </a:ln>
          </p:spPr>
        </p:sp>
        <p:sp>
          <p:nvSpPr>
            <p:cNvPr id="69" name="TextBox 69"/>
            <p:cNvSpPr txBox="1"/>
            <p:nvPr/>
          </p:nvSpPr>
          <p:spPr>
            <a:xfrm>
              <a:off x="4475121" y="4122182"/>
              <a:ext cx="308058"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year55</a:t>
              </a:r>
            </a:p>
          </p:txBody>
        </p:sp>
        <p:sp>
          <p:nvSpPr>
            <p:cNvPr id="70" name="TextBox 70"/>
            <p:cNvSpPr txBox="1"/>
            <p:nvPr/>
          </p:nvSpPr>
          <p:spPr>
            <a:xfrm>
              <a:off x="3001255" y="5395674"/>
              <a:ext cx="207790"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1·May</a:t>
              </a:r>
            </a:p>
          </p:txBody>
        </p:sp>
        <p:sp>
          <p:nvSpPr>
            <p:cNvPr id="71" name="TextBox 71"/>
            <p:cNvSpPr txBox="1"/>
            <p:nvPr/>
          </p:nvSpPr>
          <p:spPr>
            <a:xfrm>
              <a:off x="3210805" y="5395674"/>
              <a:ext cx="207790"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2·May</a:t>
              </a:r>
            </a:p>
          </p:txBody>
        </p:sp>
        <p:sp>
          <p:nvSpPr>
            <p:cNvPr id="72" name="TextBox 72"/>
            <p:cNvSpPr txBox="1"/>
            <p:nvPr/>
          </p:nvSpPr>
          <p:spPr>
            <a:xfrm>
              <a:off x="3429880" y="5395674"/>
              <a:ext cx="207790"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3·May</a:t>
              </a:r>
            </a:p>
          </p:txBody>
        </p:sp>
        <p:sp>
          <p:nvSpPr>
            <p:cNvPr id="73" name="TextBox 73"/>
            <p:cNvSpPr txBox="1"/>
            <p:nvPr/>
          </p:nvSpPr>
          <p:spPr>
            <a:xfrm>
              <a:off x="3648955" y="5395674"/>
              <a:ext cx="207790"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4·May</a:t>
              </a:r>
            </a:p>
          </p:txBody>
        </p:sp>
        <p:sp>
          <p:nvSpPr>
            <p:cNvPr id="74" name="TextBox 74"/>
            <p:cNvSpPr txBox="1"/>
            <p:nvPr/>
          </p:nvSpPr>
          <p:spPr>
            <a:xfrm>
              <a:off x="3868030" y="5395674"/>
              <a:ext cx="207790"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5·May</a:t>
              </a:r>
            </a:p>
          </p:txBody>
        </p:sp>
        <p:sp>
          <p:nvSpPr>
            <p:cNvPr id="75" name="TextBox 75"/>
            <p:cNvSpPr txBox="1"/>
            <p:nvPr/>
          </p:nvSpPr>
          <p:spPr>
            <a:xfrm>
              <a:off x="4087105" y="5395674"/>
              <a:ext cx="207790"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6·May</a:t>
              </a:r>
            </a:p>
          </p:txBody>
        </p:sp>
        <p:sp>
          <p:nvSpPr>
            <p:cNvPr id="76" name="TextBox 76"/>
            <p:cNvSpPr txBox="1"/>
            <p:nvPr/>
          </p:nvSpPr>
          <p:spPr>
            <a:xfrm>
              <a:off x="4306180" y="5395674"/>
              <a:ext cx="207790"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7·May</a:t>
              </a:r>
            </a:p>
          </p:txBody>
        </p:sp>
        <p:sp>
          <p:nvSpPr>
            <p:cNvPr id="77" name="TextBox 77"/>
            <p:cNvSpPr txBox="1"/>
            <p:nvPr/>
          </p:nvSpPr>
          <p:spPr>
            <a:xfrm>
              <a:off x="4525255" y="5395674"/>
              <a:ext cx="207790"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8·May</a:t>
              </a:r>
            </a:p>
          </p:txBody>
        </p:sp>
        <p:sp>
          <p:nvSpPr>
            <p:cNvPr id="78" name="TextBox 78"/>
            <p:cNvSpPr txBox="1"/>
            <p:nvPr/>
          </p:nvSpPr>
          <p:spPr>
            <a:xfrm>
              <a:off x="4744330" y="5395674"/>
              <a:ext cx="207790"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9·May</a:t>
              </a:r>
            </a:p>
          </p:txBody>
        </p:sp>
        <p:sp>
          <p:nvSpPr>
            <p:cNvPr id="79" name="TextBox 79"/>
            <p:cNvSpPr txBox="1"/>
            <p:nvPr/>
          </p:nvSpPr>
          <p:spPr>
            <a:xfrm>
              <a:off x="4944923" y="5395674"/>
              <a:ext cx="244754"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10·May</a:t>
              </a:r>
            </a:p>
          </p:txBody>
        </p:sp>
        <p:sp>
          <p:nvSpPr>
            <p:cNvPr id="80" name="TextBox 80"/>
            <p:cNvSpPr txBox="1"/>
            <p:nvPr/>
          </p:nvSpPr>
          <p:spPr>
            <a:xfrm>
              <a:off x="5163998" y="5395674"/>
              <a:ext cx="244754"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11·May</a:t>
              </a:r>
            </a:p>
          </p:txBody>
        </p:sp>
        <p:sp>
          <p:nvSpPr>
            <p:cNvPr id="81" name="TextBox 81"/>
            <p:cNvSpPr txBox="1"/>
            <p:nvPr/>
          </p:nvSpPr>
          <p:spPr>
            <a:xfrm>
              <a:off x="5383073" y="5395674"/>
              <a:ext cx="244754"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12·May</a:t>
              </a:r>
            </a:p>
          </p:txBody>
        </p:sp>
        <p:sp>
          <p:nvSpPr>
            <p:cNvPr id="82" name="TextBox 82"/>
            <p:cNvSpPr txBox="1"/>
            <p:nvPr/>
          </p:nvSpPr>
          <p:spPr>
            <a:xfrm>
              <a:off x="5573573" y="5395674"/>
              <a:ext cx="244754"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13·May</a:t>
              </a:r>
            </a:p>
          </p:txBody>
        </p:sp>
      </p:grpSp>
      <p:grpSp>
        <p:nvGrpSpPr>
          <p:cNvPr id="87" name="title-right"/>
          <p:cNvGrpSpPr/>
          <p:nvPr/>
        </p:nvGrpSpPr>
        <p:grpSpPr>
          <a:xfrm>
            <a:off x="6278118" y="831532"/>
            <a:ext cx="5532882" cy="322707"/>
            <a:chOff x="6278118" y="831532"/>
            <a:chExt cx="5532882" cy="322707"/>
          </a:xfrm>
        </p:grpSpPr>
        <p:sp>
          <p:nvSpPr>
            <p:cNvPr id="84" name="TextBox 84"/>
            <p:cNvSpPr txBox="1"/>
            <p:nvPr/>
          </p:nvSpPr>
          <p:spPr>
            <a:xfrm>
              <a:off x="6278118" y="831532"/>
              <a:ext cx="145040" cy="322707"/>
            </a:xfrm>
            <a:prstGeom prst="rect">
              <a:avLst/>
            </a:prstGeom>
            <a:noFill/>
            <a:ln>
              <a:noFill/>
            </a:ln>
          </p:spPr>
          <p:txBody>
            <a:bodyPr wrap="none" lIns="0" tIns="0" rIns="0" bIns="0" anchor="t" anchorCtr="0">
              <a:spAutoFit/>
            </a:bodyPr>
            <a:lstStyle/>
            <a:p>
              <a:pPr algn="l"/>
              <a:r>
                <a:rPr lang="zh-CN" sz="1650" b="1" dirty="0">
                  <a:solidFill>
                    <a:srgbClr val="E9563C"/>
                  </a:solidFill>
                  <a:latin typeface="+mn-lt"/>
                  <a:ea typeface="+mn-ea"/>
                  <a:cs typeface="+mn-cs"/>
                </a:rPr>
                <a:t>2</a:t>
              </a:r>
            </a:p>
          </p:txBody>
        </p:sp>
        <p:sp>
          <p:nvSpPr>
            <p:cNvPr id="85" name="TextBox 85"/>
            <p:cNvSpPr txBox="1"/>
            <p:nvPr/>
          </p:nvSpPr>
          <p:spPr>
            <a:xfrm>
              <a:off x="6566535" y="869156"/>
              <a:ext cx="1907795" cy="220028"/>
            </a:xfrm>
            <a:prstGeom prst="rect">
              <a:avLst/>
            </a:prstGeom>
            <a:noFill/>
            <a:ln>
              <a:noFill/>
            </a:ln>
          </p:spPr>
          <p:txBody>
            <a:bodyPr wrap="none" lIns="0" tIns="0" rIns="0" bIns="0" anchor="t" anchorCtr="0">
              <a:spAutoFit/>
            </a:bodyPr>
            <a:lstStyle/>
            <a:p>
              <a:pPr algn="l"/>
              <a:r>
                <a:rPr lang="zh-CN" sz="1120" b="1" dirty="0">
                  <a:solidFill>
                    <a:srgbClr val="7A3E33"/>
                  </a:solidFill>
                  <a:latin typeface="+mn-lt"/>
                  <a:ea typeface="+mn-ea"/>
                  <a:cs typeface="+mn-cs"/>
                </a:rPr>
                <a:t>结合品牌优势,制定拉新策略</a:t>
              </a:r>
            </a:p>
          </p:txBody>
        </p:sp>
        <p:sp>
          <p:nvSpPr>
            <p:cNvPr id="86" name="Line 86"/>
            <p:cNvSpPr/>
            <p:nvPr/>
          </p:nvSpPr>
          <p:spPr>
            <a:xfrm>
              <a:off x="6286500" y="1085850"/>
              <a:ext cx="5524500" cy="9525"/>
            </a:xfrm>
            <a:custGeom>
              <a:avLst/>
              <a:gdLst/>
              <a:ahLst/>
              <a:cxnLst/>
              <a:rect l="l" t="t" r="r" b="b"/>
              <a:pathLst>
                <a:path w="5524500" h="9525">
                  <a:moveTo>
                    <a:pt x="0" y="0"/>
                  </a:moveTo>
                  <a:lnTo>
                    <a:pt x="5524500" y="0"/>
                  </a:lnTo>
                </a:path>
              </a:pathLst>
            </a:custGeom>
            <a:noFill/>
            <a:ln w="19050">
              <a:solidFill>
                <a:srgbClr val="9C594C"/>
              </a:solidFill>
            </a:ln>
          </p:spPr>
        </p:sp>
      </p:grpSp>
      <p:grpSp>
        <p:nvGrpSpPr>
          <p:cNvPr id="111" name="era-stairs"/>
          <p:cNvGrpSpPr/>
          <p:nvPr/>
        </p:nvGrpSpPr>
        <p:grpSpPr>
          <a:xfrm>
            <a:off x="6286500" y="1333500"/>
            <a:ext cx="3632970" cy="2432447"/>
            <a:chOff x="6286500" y="1333500"/>
            <a:chExt cx="3632970" cy="2432447"/>
          </a:xfrm>
        </p:grpSpPr>
        <p:sp>
          <p:nvSpPr>
            <p:cNvPr id="88" name="Rectangle 88"/>
            <p:cNvSpPr/>
            <p:nvPr/>
          </p:nvSpPr>
          <p:spPr>
            <a:xfrm>
              <a:off x="6286500" y="3143250"/>
              <a:ext cx="876300" cy="495300"/>
            </a:xfrm>
            <a:prstGeom prst="rect">
              <a:avLst/>
            </a:prstGeom>
            <a:solidFill>
              <a:srgbClr val="FBF0D8"/>
            </a:solidFill>
            <a:ln>
              <a:noFill/>
            </a:ln>
          </p:spPr>
        </p:sp>
        <p:sp>
          <p:nvSpPr>
            <p:cNvPr id="89" name="TextBox 89"/>
            <p:cNvSpPr txBox="1"/>
            <p:nvPr/>
          </p:nvSpPr>
          <p:spPr>
            <a:xfrm>
              <a:off x="6459538" y="3263741"/>
              <a:ext cx="530225" cy="323850"/>
            </a:xfrm>
            <a:prstGeom prst="rect">
              <a:avLst/>
            </a:prstGeom>
            <a:noFill/>
            <a:ln>
              <a:noFill/>
            </a:ln>
          </p:spPr>
          <p:txBody>
            <a:bodyPr wrap="none" lIns="0" tIns="0" rIns="0" bIns="0" anchor="t" anchorCtr="0">
              <a:spAutoFit/>
            </a:bodyPr>
            <a:lstStyle/>
            <a:p>
              <a:pPr algn="ctr">
                <a:lnSpc>
                  <a:spcPts val="1275"/>
                </a:lnSpc>
              </a:pPr>
              <a:r>
                <a:rPr lang="zh-CN" sz="820" b="1" dirty="0">
                  <a:solidFill>
                    <a:srgbClr val="8A2210"/>
                  </a:solidFill>
                  <a:latin typeface="+mn-lt"/>
                  <a:ea typeface="+mn-ea"/>
                  <a:cs typeface="+mn-cs"/>
                </a:rPr>
                <a:t>全球贸易</a:t>
              </a:r>
              <a:br/>
              <a:r>
                <a:rPr lang="zh-CN" sz="820" b="1" dirty="0">
                  <a:solidFill>
                    <a:srgbClr val="8A2210"/>
                  </a:solidFill>
                  <a:latin typeface="+mn-lt"/>
                  <a:ea typeface="+mn-ea"/>
                  <a:cs typeface="+mn-cs"/>
                </a:rPr>
                <a:t>迈向新时期</a:t>
              </a:r>
            </a:p>
          </p:txBody>
        </p:sp>
        <p:sp>
          <p:nvSpPr>
            <p:cNvPr id="90" name="Freeform 90"/>
            <p:cNvSpPr/>
            <p:nvPr/>
          </p:nvSpPr>
          <p:spPr>
            <a:xfrm>
              <a:off x="6667500" y="2171700"/>
              <a:ext cx="3086100" cy="1428750"/>
            </a:xfrm>
            <a:custGeom>
              <a:avLst/>
              <a:gdLst/>
              <a:ahLst/>
              <a:cxnLst/>
              <a:rect l="l" t="t" r="r" b="b"/>
              <a:pathLst>
                <a:path w="3086100" h="1428750">
                  <a:moveTo>
                    <a:pt x="0" y="1428750"/>
                  </a:moveTo>
                  <a:lnTo>
                    <a:pt x="590550" y="1428750"/>
                  </a:lnTo>
                  <a:lnTo>
                    <a:pt x="590550" y="1047750"/>
                  </a:lnTo>
                  <a:lnTo>
                    <a:pt x="1428750" y="1047750"/>
                  </a:lnTo>
                  <a:lnTo>
                    <a:pt x="1428750" y="571500"/>
                  </a:lnTo>
                  <a:lnTo>
                    <a:pt x="2286000" y="571500"/>
                  </a:lnTo>
                  <a:lnTo>
                    <a:pt x="2286000" y="0"/>
                  </a:lnTo>
                  <a:lnTo>
                    <a:pt x="3086100" y="0"/>
                  </a:lnTo>
                  <a:lnTo>
                    <a:pt x="3086100" y="1428750"/>
                  </a:lnTo>
                  <a:close/>
                </a:path>
              </a:pathLst>
            </a:custGeom>
            <a:solidFill>
              <a:srgbClr val="E5E9E2"/>
            </a:solidFill>
            <a:ln>
              <a:noFill/>
            </a:ln>
          </p:spPr>
        </p:sp>
        <p:sp>
          <p:nvSpPr>
            <p:cNvPr id="91" name="Polyline 91"/>
            <p:cNvSpPr/>
            <p:nvPr/>
          </p:nvSpPr>
          <p:spPr>
            <a:xfrm>
              <a:off x="6819900" y="1962150"/>
              <a:ext cx="2933700" cy="1543050"/>
            </a:xfrm>
            <a:custGeom>
              <a:avLst/>
              <a:gdLst/>
              <a:ahLst/>
              <a:cxnLst/>
              <a:rect l="l" t="t" r="r" b="b"/>
              <a:pathLst>
                <a:path w="2933700" h="1543050">
                  <a:moveTo>
                    <a:pt x="0" y="1543050"/>
                  </a:moveTo>
                  <a:lnTo>
                    <a:pt x="438150" y="1390650"/>
                  </a:lnTo>
                  <a:lnTo>
                    <a:pt x="857250" y="1200150"/>
                  </a:lnTo>
                  <a:lnTo>
                    <a:pt x="1276350" y="952500"/>
                  </a:lnTo>
                  <a:lnTo>
                    <a:pt x="1695450" y="723900"/>
                  </a:lnTo>
                  <a:lnTo>
                    <a:pt x="2114550" y="438150"/>
                  </a:lnTo>
                  <a:lnTo>
                    <a:pt x="2533650" y="171450"/>
                  </a:lnTo>
                  <a:lnTo>
                    <a:pt x="2933700" y="0"/>
                  </a:lnTo>
                </a:path>
              </a:pathLst>
            </a:custGeom>
            <a:noFill/>
            <a:ln w="19050">
              <a:solidFill>
                <a:srgbClr val="9C594C"/>
              </a:solidFill>
            </a:ln>
          </p:spPr>
        </p:sp>
        <p:sp>
          <p:nvSpPr>
            <p:cNvPr id="92" name="Ellipse 92"/>
            <p:cNvSpPr/>
            <p:nvPr/>
          </p:nvSpPr>
          <p:spPr>
            <a:xfrm>
              <a:off x="7219950" y="3314700"/>
              <a:ext cx="76200" cy="76200"/>
            </a:xfrm>
            <a:prstGeom prst="ellipse">
              <a:avLst/>
            </a:prstGeom>
            <a:solidFill>
              <a:srgbClr val="FFFFFF"/>
            </a:solidFill>
            <a:ln w="14288">
              <a:solidFill>
                <a:srgbClr val="9C594C"/>
              </a:solidFill>
            </a:ln>
          </p:spPr>
        </p:sp>
        <p:sp>
          <p:nvSpPr>
            <p:cNvPr id="93" name="Ellipse 93"/>
            <p:cNvSpPr/>
            <p:nvPr/>
          </p:nvSpPr>
          <p:spPr>
            <a:xfrm>
              <a:off x="8058150" y="2876550"/>
              <a:ext cx="76200" cy="76200"/>
            </a:xfrm>
            <a:prstGeom prst="ellipse">
              <a:avLst/>
            </a:prstGeom>
            <a:solidFill>
              <a:srgbClr val="FFFFFF"/>
            </a:solidFill>
            <a:ln w="14288">
              <a:solidFill>
                <a:srgbClr val="9C594C"/>
              </a:solidFill>
            </a:ln>
          </p:spPr>
        </p:sp>
        <p:sp>
          <p:nvSpPr>
            <p:cNvPr id="94" name="Ellipse 94"/>
            <p:cNvSpPr/>
            <p:nvPr/>
          </p:nvSpPr>
          <p:spPr>
            <a:xfrm>
              <a:off x="8896350" y="2362200"/>
              <a:ext cx="76200" cy="76200"/>
            </a:xfrm>
            <a:prstGeom prst="ellipse">
              <a:avLst/>
            </a:prstGeom>
            <a:solidFill>
              <a:srgbClr val="FFFFFF"/>
            </a:solidFill>
            <a:ln w="14288">
              <a:solidFill>
                <a:srgbClr val="9C594C"/>
              </a:solidFill>
            </a:ln>
          </p:spPr>
        </p:sp>
        <p:sp>
          <p:nvSpPr>
            <p:cNvPr id="95" name="Ellipse 95"/>
            <p:cNvSpPr/>
            <p:nvPr/>
          </p:nvSpPr>
          <p:spPr>
            <a:xfrm>
              <a:off x="9715500" y="1924050"/>
              <a:ext cx="76200" cy="76200"/>
            </a:xfrm>
            <a:prstGeom prst="ellipse">
              <a:avLst/>
            </a:prstGeom>
            <a:solidFill>
              <a:srgbClr val="FFFFFF"/>
            </a:solidFill>
            <a:ln w="14288">
              <a:solidFill>
                <a:srgbClr val="9C594C"/>
              </a:solidFill>
            </a:ln>
          </p:spPr>
        </p:sp>
        <p:sp>
          <p:nvSpPr>
            <p:cNvPr id="96" name="Rectangle 96"/>
            <p:cNvSpPr/>
            <p:nvPr/>
          </p:nvSpPr>
          <p:spPr>
            <a:xfrm>
              <a:off x="6667500" y="1333500"/>
              <a:ext cx="1428750" cy="495300"/>
            </a:xfrm>
            <a:prstGeom prst="rect">
              <a:avLst/>
            </a:prstGeom>
            <a:solidFill>
              <a:srgbClr val="FFFFFF"/>
            </a:solidFill>
            <a:ln w="9525">
              <a:solidFill>
                <a:srgbClr val="BF857A"/>
              </a:solidFill>
              <a:custDash>
                <a:ds d="300000" sp="200000"/>
              </a:custDash>
            </a:ln>
          </p:spPr>
        </p:sp>
        <p:sp>
          <p:nvSpPr>
            <p:cNvPr id="97" name="TextBox 97"/>
            <p:cNvSpPr txBox="1"/>
            <p:nvPr/>
          </p:nvSpPr>
          <p:spPr>
            <a:xfrm>
              <a:off x="6719888" y="1393984"/>
              <a:ext cx="563123" cy="133350"/>
            </a:xfrm>
            <a:prstGeom prst="rect">
              <a:avLst/>
            </a:prstGeom>
            <a:noFill/>
            <a:ln>
              <a:noFill/>
            </a:ln>
          </p:spPr>
          <p:txBody>
            <a:bodyPr wrap="none" lIns="0" tIns="0" rIns="0" bIns="0" anchor="t" anchorCtr="0">
              <a:spAutoFit/>
            </a:bodyPr>
            <a:lstStyle/>
            <a:p>
              <a:pPr algn="l"/>
              <a:r>
                <a:rPr lang="zh-CN" sz="680" b="1" dirty="0">
                  <a:solidFill>
                    <a:srgbClr val="7A3E33"/>
                  </a:solidFill>
                  <a:latin typeface="+mn-lt"/>
                  <a:ea typeface="+mn-ea"/>
                  <a:cs typeface="+mn-cs"/>
                </a:rPr>
                <a:t>1.0 传统时代</a:t>
              </a:r>
            </a:p>
          </p:txBody>
        </p:sp>
        <p:sp>
          <p:nvSpPr>
            <p:cNvPr id="98" name="TextBox 98"/>
            <p:cNvSpPr txBox="1"/>
            <p:nvPr/>
          </p:nvSpPr>
          <p:spPr>
            <a:xfrm>
              <a:off x="6719888" y="1539478"/>
              <a:ext cx="1010285" cy="216694"/>
            </a:xfrm>
            <a:prstGeom prst="rect">
              <a:avLst/>
            </a:prstGeom>
            <a:noFill/>
            <a:ln>
              <a:noFill/>
            </a:ln>
          </p:spPr>
          <p:txBody>
            <a:bodyPr wrap="none" lIns="0" tIns="0" rIns="0" bIns="0" anchor="t" anchorCtr="0">
              <a:spAutoFit/>
            </a:bodyPr>
            <a:lstStyle/>
            <a:p>
              <a:pPr algn="l" marL="76200" indent="-76200">
                <a:lnSpc>
                  <a:spcPts val="825"/>
                </a:lnSpc>
                <a:buClr>
                  <a:srgbClr val="595959"/>
                </a:buClr>
                <a:buSzTx/>
                <a:buFontTx/>
                <a:buChar char="•"/>
              </a:pPr>
              <a:r>
                <a:rPr lang="zh-CN" sz="560" dirty="0">
                  <a:solidFill>
                    <a:srgbClr val="595959"/>
                  </a:solidFill>
                  <a:latin typeface="+mn-lt"/>
                  <a:ea typeface="+mn-ea"/>
                  <a:cs typeface="+mn-cs"/>
                </a:rPr>
                <a:t>生产者和消费者在国家间分割</a:t>
              </a:r>
            </a:p>
            <a:p>
              <a:pPr algn="l" marL="76200" indent="-76200">
                <a:lnSpc>
                  <a:spcPts val="825"/>
                </a:lnSpc>
                <a:buClr>
                  <a:srgbClr val="595959"/>
                </a:buClr>
                <a:buSzTx/>
                <a:buFontTx/>
                <a:buChar char="•"/>
              </a:pPr>
              <a:r>
                <a:rPr lang="zh-CN" sz="560" dirty="0">
                  <a:solidFill>
                    <a:srgbClr val="595959"/>
                  </a:solidFill>
                  <a:latin typeface="+mn-lt"/>
                  <a:ea typeface="+mn-ea"/>
                  <a:cs typeface="+mn-cs"/>
                </a:rPr>
                <a:t>涉及最终产品的贸易</a:t>
              </a:r>
            </a:p>
          </p:txBody>
        </p:sp>
        <p:sp>
          <p:nvSpPr>
            <p:cNvPr id="99" name="Line 99"/>
            <p:cNvSpPr/>
            <p:nvPr/>
          </p:nvSpPr>
          <p:spPr>
            <a:xfrm>
              <a:off x="7258050" y="3352800"/>
              <a:ext cx="9525" cy="247650"/>
            </a:xfrm>
            <a:custGeom>
              <a:avLst/>
              <a:gdLst/>
              <a:ahLst/>
              <a:cxnLst/>
              <a:rect l="l" t="t" r="r" b="b"/>
              <a:pathLst>
                <a:path w="9525" h="247650">
                  <a:moveTo>
                    <a:pt x="0" y="0"/>
                  </a:moveTo>
                  <a:lnTo>
                    <a:pt x="0" y="247650"/>
                  </a:lnTo>
                </a:path>
              </a:pathLst>
            </a:custGeom>
            <a:noFill/>
            <a:ln w="9525">
              <a:solidFill>
                <a:srgbClr val="BF857A"/>
              </a:solidFill>
              <a:custDash>
                <a:ds d="300000" sp="200000"/>
              </a:custDash>
            </a:ln>
          </p:spPr>
        </p:sp>
        <p:sp>
          <p:nvSpPr>
            <p:cNvPr id="100" name="Rectangle 100"/>
            <p:cNvSpPr/>
            <p:nvPr/>
          </p:nvSpPr>
          <p:spPr>
            <a:xfrm>
              <a:off x="6572250" y="3352800"/>
              <a:ext cx="1428750" cy="381000"/>
            </a:xfrm>
            <a:prstGeom prst="rect">
              <a:avLst/>
            </a:prstGeom>
            <a:solidFill>
              <a:srgbClr val="FFFFFF"/>
            </a:solidFill>
            <a:ln w="9525">
              <a:solidFill>
                <a:srgbClr val="BF857A"/>
              </a:solidFill>
              <a:custDash>
                <a:ds d="300000" sp="200000"/>
              </a:custDash>
            </a:ln>
          </p:spPr>
        </p:sp>
        <p:sp>
          <p:nvSpPr>
            <p:cNvPr id="101" name="TextBox 101"/>
            <p:cNvSpPr txBox="1"/>
            <p:nvPr/>
          </p:nvSpPr>
          <p:spPr>
            <a:xfrm>
              <a:off x="6624638" y="3413284"/>
              <a:ext cx="837748" cy="133350"/>
            </a:xfrm>
            <a:prstGeom prst="rect">
              <a:avLst/>
            </a:prstGeom>
            <a:noFill/>
            <a:ln>
              <a:noFill/>
            </a:ln>
          </p:spPr>
          <p:txBody>
            <a:bodyPr wrap="none" lIns="0" tIns="0" rIns="0" bIns="0" anchor="t" anchorCtr="0">
              <a:spAutoFit/>
            </a:bodyPr>
            <a:lstStyle/>
            <a:p>
              <a:pPr algn="l"/>
              <a:r>
                <a:rPr lang="zh-CN" sz="680" b="1" dirty="0">
                  <a:solidFill>
                    <a:srgbClr val="7A3E33"/>
                  </a:solidFill>
                  <a:latin typeface="+mn-lt"/>
                  <a:ea typeface="+mn-ea"/>
                  <a:cs typeface="+mn-cs"/>
                </a:rPr>
                <a:t>2.0 全球价值链时代</a:t>
              </a:r>
            </a:p>
          </p:txBody>
        </p:sp>
        <p:sp>
          <p:nvSpPr>
            <p:cNvPr id="102" name="TextBox 102"/>
            <p:cNvSpPr txBox="1"/>
            <p:nvPr/>
          </p:nvSpPr>
          <p:spPr>
            <a:xfrm>
              <a:off x="6624638" y="3558778"/>
              <a:ext cx="939165" cy="207169"/>
            </a:xfrm>
            <a:prstGeom prst="rect">
              <a:avLst/>
            </a:prstGeom>
            <a:noFill/>
            <a:ln>
              <a:noFill/>
            </a:ln>
          </p:spPr>
          <p:txBody>
            <a:bodyPr wrap="none" lIns="0" tIns="0" rIns="0" bIns="0" anchor="t" anchorCtr="0">
              <a:spAutoFit/>
            </a:bodyPr>
            <a:lstStyle/>
            <a:p>
              <a:pPr algn="l" marL="76200" indent="-76200">
                <a:lnSpc>
                  <a:spcPts val="750"/>
                </a:lnSpc>
                <a:buClr>
                  <a:srgbClr val="595959"/>
                </a:buClr>
                <a:buSzTx/>
                <a:buFontTx/>
                <a:buChar char="•"/>
              </a:pPr>
              <a:r>
                <a:rPr lang="zh-CN" sz="560" dirty="0">
                  <a:solidFill>
                    <a:srgbClr val="595959"/>
                  </a:solidFill>
                  <a:latin typeface="+mn-lt"/>
                  <a:ea typeface="+mn-ea"/>
                  <a:cs typeface="+mn-cs"/>
                </a:rPr>
                <a:t>生产过程在国家间分割</a:t>
              </a:r>
            </a:p>
            <a:p>
              <a:pPr algn="l" marL="76200" indent="-76200">
                <a:lnSpc>
                  <a:spcPts val="750"/>
                </a:lnSpc>
                <a:buClr>
                  <a:srgbClr val="595959"/>
                </a:buClr>
                <a:buSzTx/>
                <a:buFontTx/>
                <a:buChar char="•"/>
              </a:pPr>
              <a:r>
                <a:rPr lang="zh-CN" sz="560" dirty="0">
                  <a:solidFill>
                    <a:srgbClr val="595959"/>
                  </a:solidFill>
                  <a:latin typeface="+mn-lt"/>
                  <a:ea typeface="+mn-ea"/>
                  <a:cs typeface="+mn-cs"/>
                </a:rPr>
                <a:t>涉及中间商品和服务的贸易</a:t>
              </a:r>
            </a:p>
          </p:txBody>
        </p:sp>
        <p:sp>
          <p:nvSpPr>
            <p:cNvPr id="103" name="Line 103"/>
            <p:cNvSpPr/>
            <p:nvPr/>
          </p:nvSpPr>
          <p:spPr>
            <a:xfrm>
              <a:off x="8858250" y="2400300"/>
              <a:ext cx="76200" cy="914400"/>
            </a:xfrm>
            <a:custGeom>
              <a:avLst/>
              <a:gdLst/>
              <a:ahLst/>
              <a:cxnLst/>
              <a:rect l="l" t="t" r="r" b="b"/>
              <a:pathLst>
                <a:path w="76200" h="914400">
                  <a:moveTo>
                    <a:pt x="76200" y="0"/>
                  </a:moveTo>
                  <a:lnTo>
                    <a:pt x="0" y="914400"/>
                  </a:lnTo>
                </a:path>
              </a:pathLst>
            </a:custGeom>
            <a:noFill/>
            <a:ln w="9525">
              <a:solidFill>
                <a:srgbClr val="BF857A"/>
              </a:solidFill>
              <a:custDash>
                <a:ds d="300000" sp="200000"/>
              </a:custDash>
            </a:ln>
          </p:spPr>
        </p:sp>
        <p:sp>
          <p:nvSpPr>
            <p:cNvPr id="104" name="Rectangle 104"/>
            <p:cNvSpPr/>
            <p:nvPr/>
          </p:nvSpPr>
          <p:spPr>
            <a:xfrm>
              <a:off x="8115300" y="3352800"/>
              <a:ext cx="1524000" cy="171450"/>
            </a:xfrm>
            <a:prstGeom prst="rect">
              <a:avLst/>
            </a:prstGeom>
            <a:solidFill>
              <a:srgbClr val="FFFFFF"/>
            </a:solidFill>
            <a:ln w="9525">
              <a:solidFill>
                <a:srgbClr val="BF857A"/>
              </a:solidFill>
              <a:custDash>
                <a:ds d="300000" sp="200000"/>
              </a:custDash>
            </a:ln>
          </p:spPr>
        </p:sp>
        <p:sp>
          <p:nvSpPr>
            <p:cNvPr id="105" name="TextBox 105"/>
            <p:cNvSpPr txBox="1"/>
            <p:nvPr/>
          </p:nvSpPr>
          <p:spPr>
            <a:xfrm>
              <a:off x="8167688" y="3407807"/>
              <a:ext cx="616715" cy="126206"/>
            </a:xfrm>
            <a:prstGeom prst="rect">
              <a:avLst/>
            </a:prstGeom>
            <a:noFill/>
            <a:ln>
              <a:noFill/>
            </a:ln>
          </p:spPr>
          <p:txBody>
            <a:bodyPr wrap="none" lIns="0" tIns="0" rIns="0" bIns="0" anchor="t" anchorCtr="0">
              <a:spAutoFit/>
            </a:bodyPr>
            <a:lstStyle/>
            <a:p>
              <a:pPr algn="l"/>
              <a:r>
                <a:rPr lang="zh-CN" sz="640" b="1" dirty="0">
                  <a:solidFill>
                    <a:srgbClr val="7A3E33"/>
                  </a:solidFill>
                  <a:latin typeface="+mn-lt"/>
                  <a:ea typeface="+mn-ea"/>
                  <a:cs typeface="+mn-cs"/>
                </a:rPr>
                <a:t>3.0 数字化时代</a:t>
              </a:r>
            </a:p>
          </p:txBody>
        </p:sp>
        <p:sp>
          <p:nvSpPr>
            <p:cNvPr id="106" name="Rectangle 106"/>
            <p:cNvSpPr/>
            <p:nvPr/>
          </p:nvSpPr>
          <p:spPr>
            <a:xfrm>
              <a:off x="8115300" y="3524250"/>
              <a:ext cx="1524000" cy="152400"/>
            </a:xfrm>
            <a:prstGeom prst="rect">
              <a:avLst/>
            </a:prstGeom>
            <a:solidFill>
              <a:srgbClr val="FFFFFF"/>
            </a:solidFill>
            <a:ln w="9525">
              <a:solidFill>
                <a:srgbClr val="BF857A"/>
              </a:solidFill>
              <a:custDash>
                <a:ds d="300000" sp="200000"/>
              </a:custDash>
            </a:ln>
          </p:spPr>
        </p:sp>
        <p:sp>
          <p:nvSpPr>
            <p:cNvPr id="107" name="TextBox 107"/>
            <p:cNvSpPr txBox="1"/>
            <p:nvPr/>
          </p:nvSpPr>
          <p:spPr>
            <a:xfrm>
              <a:off x="8167688" y="3568303"/>
              <a:ext cx="1751782" cy="111919"/>
            </a:xfrm>
            <a:prstGeom prst="rect">
              <a:avLst/>
            </a:prstGeom>
            <a:noFill/>
            <a:ln>
              <a:noFill/>
            </a:ln>
          </p:spPr>
          <p:txBody>
            <a:bodyPr wrap="none" lIns="0" tIns="0" rIns="0" bIns="0" anchor="t" anchorCtr="0">
              <a:spAutoFit/>
            </a:bodyPr>
            <a:lstStyle/>
            <a:p>
              <a:pPr algn="l" marL="76200" indent="-76200">
                <a:buClr>
                  <a:srgbClr val="595959"/>
                </a:buClr>
                <a:buSzTx/>
                <a:buFontTx/>
                <a:buChar char="•"/>
              </a:pPr>
              <a:r>
                <a:rPr lang="zh-CN" sz="560" dirty="0">
                  <a:solidFill>
                    <a:srgbClr val="595959"/>
                  </a:solidFill>
                  <a:latin typeface="+mn-lt"/>
                  <a:ea typeface="+mn-ea"/>
                  <a:cs typeface="+mn-cs"/>
                </a:rPr>
                <a:t>新增“数字贸易”（贸易方式和贸易对象的数字化）</a:t>
              </a:r>
            </a:p>
          </p:txBody>
        </p:sp>
        <p:sp>
          <p:nvSpPr>
            <p:cNvPr id="108" name="Rectangle 108"/>
            <p:cNvSpPr/>
            <p:nvPr/>
          </p:nvSpPr>
          <p:spPr>
            <a:xfrm>
              <a:off x="8382000" y="1333500"/>
              <a:ext cx="1371600" cy="495300"/>
            </a:xfrm>
            <a:prstGeom prst="rect">
              <a:avLst/>
            </a:prstGeom>
            <a:solidFill>
              <a:srgbClr val="FFFFFF"/>
            </a:solidFill>
            <a:ln w="11430">
              <a:solidFill>
                <a:srgbClr val="9C594C"/>
              </a:solidFill>
              <a:custDash>
                <a:ds d="250000" sp="166667"/>
              </a:custDash>
            </a:ln>
          </p:spPr>
        </p:sp>
        <p:sp>
          <p:nvSpPr>
            <p:cNvPr id="109" name="TextBox 109"/>
            <p:cNvSpPr txBox="1"/>
            <p:nvPr/>
          </p:nvSpPr>
          <p:spPr>
            <a:xfrm>
              <a:off x="8434388" y="1393984"/>
              <a:ext cx="654664" cy="133350"/>
            </a:xfrm>
            <a:prstGeom prst="rect">
              <a:avLst/>
            </a:prstGeom>
            <a:noFill/>
            <a:ln>
              <a:noFill/>
            </a:ln>
          </p:spPr>
          <p:txBody>
            <a:bodyPr wrap="none" lIns="0" tIns="0" rIns="0" bIns="0" anchor="t" anchorCtr="0">
              <a:spAutoFit/>
            </a:bodyPr>
            <a:lstStyle/>
            <a:p>
              <a:pPr algn="l"/>
              <a:r>
                <a:rPr lang="zh-CN" sz="680" b="1" dirty="0">
                  <a:solidFill>
                    <a:srgbClr val="7A3E33"/>
                  </a:solidFill>
                  <a:latin typeface="+mn-lt"/>
                  <a:ea typeface="+mn-ea"/>
                  <a:cs typeface="+mn-cs"/>
                </a:rPr>
                <a:t>4.0 智能化时代</a:t>
              </a:r>
            </a:p>
          </p:txBody>
        </p:sp>
        <p:sp>
          <p:nvSpPr>
            <p:cNvPr id="110" name="TextBox 110"/>
            <p:cNvSpPr txBox="1"/>
            <p:nvPr/>
          </p:nvSpPr>
          <p:spPr>
            <a:xfrm>
              <a:off x="8434388" y="1520428"/>
              <a:ext cx="1220089" cy="302419"/>
            </a:xfrm>
            <a:prstGeom prst="rect">
              <a:avLst/>
            </a:prstGeom>
            <a:noFill/>
            <a:ln>
              <a:noFill/>
            </a:ln>
          </p:spPr>
          <p:txBody>
            <a:bodyPr wrap="none" lIns="0" tIns="0" rIns="0" bIns="0" anchor="t" anchorCtr="0">
              <a:spAutoFit/>
            </a:bodyPr>
            <a:lstStyle/>
            <a:p>
              <a:pPr algn="l" marL="76200" indent="-76200">
                <a:lnSpc>
                  <a:spcPts val="750"/>
                </a:lnSpc>
                <a:buClr>
                  <a:srgbClr val="595959"/>
                </a:buClr>
                <a:buSzTx/>
                <a:buFontTx/>
                <a:buChar char="•"/>
              </a:pPr>
              <a:r>
                <a:rPr lang="zh-CN" sz="560" dirty="0">
                  <a:solidFill>
                    <a:srgbClr val="595959"/>
                  </a:solidFill>
                  <a:latin typeface="+mn-lt"/>
                  <a:ea typeface="+mn-ea"/>
                  <a:cs typeface="+mn-cs"/>
                </a:rPr>
                <a:t>数据要素突出、5G 等数字基础设施​</a:t>
              </a:r>
              <a:br/>
              <a:r>
                <a:rPr lang="zh-CN" sz="560" dirty="0">
                  <a:solidFill>
                    <a:srgbClr val="595959"/>
                  </a:solidFill>
                  <a:latin typeface="+mn-lt"/>
                  <a:ea typeface="+mn-ea"/>
                  <a:cs typeface="+mn-cs"/>
                </a:rPr>
                <a:t>和时间万物互联、海量大数据接入</a:t>
              </a:r>
              <a:br/>
              <a:r>
                <a:rPr lang="zh-CN" sz="560" dirty="0">
                  <a:solidFill>
                    <a:srgbClr val="595959"/>
                  </a:solidFill>
                  <a:latin typeface="+mn-lt"/>
                  <a:ea typeface="+mn-ea"/>
                  <a:cs typeface="+mn-cs"/>
                </a:rPr>
                <a:t>人工智能</a:t>
              </a:r>
            </a:p>
          </p:txBody>
        </p:sp>
      </p:grpSp>
      <p:grpSp>
        <p:nvGrpSpPr>
          <p:cNvPr id="127" name="trade-ring"/>
          <p:cNvGrpSpPr/>
          <p:nvPr/>
        </p:nvGrpSpPr>
        <p:grpSpPr>
          <a:xfrm>
            <a:off x="9810750" y="1952625"/>
            <a:ext cx="1428750" cy="1428750"/>
            <a:chOff x="9810750" y="1952625"/>
            <a:chExt cx="1428750" cy="1428750"/>
          </a:xfrm>
        </p:grpSpPr>
        <p:sp>
          <p:nvSpPr>
            <p:cNvPr id="112" name="Freeform 112"/>
            <p:cNvSpPr/>
            <p:nvPr/>
          </p:nvSpPr>
          <p:spPr>
            <a:xfrm>
              <a:off x="9810750" y="1952625"/>
              <a:ext cx="1428750" cy="1428750"/>
            </a:xfrm>
            <a:prstGeom prst="blockArc">
              <a:avLst>
                <a:gd name="adj1" fmla="val 16260000"/>
                <a:gd name="adj2" fmla="val 19225800"/>
                <a:gd name="adj3" fmla="val 18667"/>
              </a:avLst>
            </a:prstGeom>
            <a:solidFill>
              <a:srgbClr val="DDE5D8"/>
            </a:solidFill>
            <a:ln>
              <a:noFill/>
            </a:ln>
          </p:spPr>
        </p:sp>
        <p:sp>
          <p:nvSpPr>
            <p:cNvPr id="113" name="Freeform 113"/>
            <p:cNvSpPr/>
            <p:nvPr/>
          </p:nvSpPr>
          <p:spPr>
            <a:xfrm>
              <a:off x="9810750" y="1952625"/>
              <a:ext cx="1428750" cy="1428750"/>
            </a:xfrm>
            <a:prstGeom prst="blockArc">
              <a:avLst>
                <a:gd name="adj1" fmla="val 19345800"/>
                <a:gd name="adj2" fmla="val 711600"/>
                <a:gd name="adj3" fmla="val 18667"/>
              </a:avLst>
            </a:prstGeom>
            <a:solidFill>
              <a:srgbClr val="E9563C"/>
            </a:solidFill>
            <a:ln>
              <a:noFill/>
            </a:ln>
          </p:spPr>
        </p:sp>
        <p:sp>
          <p:nvSpPr>
            <p:cNvPr id="114" name="Freeform 114"/>
            <p:cNvSpPr/>
            <p:nvPr/>
          </p:nvSpPr>
          <p:spPr>
            <a:xfrm>
              <a:off x="9810750" y="1952625"/>
              <a:ext cx="1428750" cy="1428750"/>
            </a:xfrm>
            <a:prstGeom prst="blockArc">
              <a:avLst>
                <a:gd name="adj1" fmla="val 831600"/>
                <a:gd name="adj2" fmla="val 3797400"/>
                <a:gd name="adj3" fmla="val 18667"/>
              </a:avLst>
            </a:prstGeom>
            <a:solidFill>
              <a:srgbClr val="F09180"/>
            </a:solidFill>
            <a:ln>
              <a:noFill/>
            </a:ln>
          </p:spPr>
        </p:sp>
        <p:sp>
          <p:nvSpPr>
            <p:cNvPr id="115" name="Freeform 115"/>
            <p:cNvSpPr/>
            <p:nvPr/>
          </p:nvSpPr>
          <p:spPr>
            <a:xfrm>
              <a:off x="9810750" y="1952625"/>
              <a:ext cx="1428750" cy="1428750"/>
            </a:xfrm>
            <a:prstGeom prst="blockArc">
              <a:avLst>
                <a:gd name="adj1" fmla="val 3917400"/>
                <a:gd name="adj2" fmla="val 6883200"/>
                <a:gd name="adj3" fmla="val 18667"/>
              </a:avLst>
            </a:prstGeom>
            <a:solidFill>
              <a:srgbClr val="9C594C"/>
            </a:solidFill>
            <a:ln>
              <a:noFill/>
            </a:ln>
          </p:spPr>
        </p:sp>
        <p:sp>
          <p:nvSpPr>
            <p:cNvPr id="116" name="Freeform 116"/>
            <p:cNvSpPr/>
            <p:nvPr/>
          </p:nvSpPr>
          <p:spPr>
            <a:xfrm>
              <a:off x="9810750" y="1952625"/>
              <a:ext cx="1428750" cy="1428750"/>
            </a:xfrm>
            <a:prstGeom prst="blockArc">
              <a:avLst>
                <a:gd name="adj1" fmla="val 7003200"/>
                <a:gd name="adj2" fmla="val 9969000"/>
                <a:gd name="adj3" fmla="val 18667"/>
              </a:avLst>
            </a:prstGeom>
            <a:solidFill>
              <a:srgbClr val="B5766A"/>
            </a:solidFill>
            <a:ln>
              <a:noFill/>
            </a:ln>
          </p:spPr>
        </p:sp>
        <p:sp>
          <p:nvSpPr>
            <p:cNvPr id="117" name="Freeform 117"/>
            <p:cNvSpPr/>
            <p:nvPr/>
          </p:nvSpPr>
          <p:spPr>
            <a:xfrm>
              <a:off x="9810750" y="1952625"/>
              <a:ext cx="1428750" cy="1428750"/>
            </a:xfrm>
            <a:prstGeom prst="blockArc">
              <a:avLst>
                <a:gd name="adj1" fmla="val 10089000"/>
                <a:gd name="adj2" fmla="val 13054800"/>
                <a:gd name="adj3" fmla="val 18667"/>
              </a:avLst>
            </a:prstGeom>
            <a:solidFill>
              <a:srgbClr val="CD9F96"/>
            </a:solidFill>
            <a:ln>
              <a:noFill/>
            </a:ln>
          </p:spPr>
        </p:sp>
        <p:sp>
          <p:nvSpPr>
            <p:cNvPr id="118" name="Freeform 118"/>
            <p:cNvSpPr/>
            <p:nvPr/>
          </p:nvSpPr>
          <p:spPr>
            <a:xfrm>
              <a:off x="9810750" y="1952625"/>
              <a:ext cx="1428750" cy="1428750"/>
            </a:xfrm>
            <a:prstGeom prst="blockArc">
              <a:avLst>
                <a:gd name="adj1" fmla="val 13174800"/>
                <a:gd name="adj2" fmla="val 16140600"/>
                <a:gd name="adj3" fmla="val 18667"/>
              </a:avLst>
            </a:prstGeom>
            <a:solidFill>
              <a:srgbClr val="C9D8BD"/>
            </a:solidFill>
            <a:ln>
              <a:noFill/>
            </a:ln>
          </p:spPr>
        </p:sp>
        <p:sp>
          <p:nvSpPr>
            <p:cNvPr id="119" name="TextBox 119"/>
            <p:cNvSpPr txBox="1"/>
            <p:nvPr/>
          </p:nvSpPr>
          <p:spPr>
            <a:xfrm>
              <a:off x="10667048" y="2100262"/>
              <a:ext cx="211455"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物流</a:t>
              </a:r>
            </a:p>
          </p:txBody>
        </p:sp>
        <p:sp>
          <p:nvSpPr>
            <p:cNvPr id="120" name="TextBox 120"/>
            <p:cNvSpPr txBox="1"/>
            <p:nvPr/>
          </p:nvSpPr>
          <p:spPr>
            <a:xfrm>
              <a:off x="10981372" y="249078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销售</a:t>
              </a:r>
            </a:p>
          </p:txBody>
        </p:sp>
        <p:sp>
          <p:nvSpPr>
            <p:cNvPr id="121" name="TextBox 121"/>
            <p:cNvSpPr txBox="1"/>
            <p:nvPr/>
          </p:nvSpPr>
          <p:spPr>
            <a:xfrm>
              <a:off x="10876598" y="298608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支付</a:t>
              </a:r>
            </a:p>
          </p:txBody>
        </p:sp>
        <p:sp>
          <p:nvSpPr>
            <p:cNvPr id="122" name="TextBox 122"/>
            <p:cNvSpPr txBox="1"/>
            <p:nvPr/>
          </p:nvSpPr>
          <p:spPr>
            <a:xfrm>
              <a:off x="10419398" y="3205162"/>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交易</a:t>
              </a:r>
            </a:p>
          </p:txBody>
        </p:sp>
        <p:sp>
          <p:nvSpPr>
            <p:cNvPr id="123" name="TextBox 123"/>
            <p:cNvSpPr txBox="1"/>
            <p:nvPr/>
          </p:nvSpPr>
          <p:spPr>
            <a:xfrm>
              <a:off x="9962198" y="298608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运输</a:t>
              </a:r>
            </a:p>
          </p:txBody>
        </p:sp>
        <p:sp>
          <p:nvSpPr>
            <p:cNvPr id="124" name="TextBox 124"/>
            <p:cNvSpPr txBox="1"/>
            <p:nvPr/>
          </p:nvSpPr>
          <p:spPr>
            <a:xfrm>
              <a:off x="9857422" y="2490788"/>
              <a:ext cx="211455" cy="147638"/>
            </a:xfrm>
            <a:prstGeom prst="rect">
              <a:avLst/>
            </a:prstGeom>
            <a:noFill/>
            <a:ln>
              <a:noFill/>
            </a:ln>
          </p:spPr>
          <p:txBody>
            <a:bodyPr wrap="none" lIns="0" tIns="0" rIns="0" bIns="0" anchor="t" anchorCtr="0">
              <a:spAutoFit/>
            </a:bodyPr>
            <a:lstStyle/>
            <a:p>
              <a:pPr algn="ctr"/>
              <a:r>
                <a:rPr lang="zh-CN" sz="750" b="1" dirty="0">
                  <a:solidFill>
                    <a:srgbClr val="7A3E33"/>
                  </a:solidFill>
                  <a:latin typeface="+mn-lt"/>
                  <a:ea typeface="+mn-ea"/>
                  <a:cs typeface="+mn-cs"/>
                </a:rPr>
                <a:t>服务</a:t>
              </a:r>
            </a:p>
          </p:txBody>
        </p:sp>
        <p:sp>
          <p:nvSpPr>
            <p:cNvPr id="125" name="TextBox 125"/>
            <p:cNvSpPr txBox="1"/>
            <p:nvPr/>
          </p:nvSpPr>
          <p:spPr>
            <a:xfrm>
              <a:off x="10171748" y="2100262"/>
              <a:ext cx="211455"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生产</a:t>
              </a:r>
            </a:p>
          </p:txBody>
        </p:sp>
        <p:sp>
          <p:nvSpPr>
            <p:cNvPr id="126" name="TextBox 126"/>
            <p:cNvSpPr txBox="1"/>
            <p:nvPr/>
          </p:nvSpPr>
          <p:spPr>
            <a:xfrm>
              <a:off x="10253091" y="2534602"/>
              <a:ext cx="544068" cy="376809"/>
            </a:xfrm>
            <a:prstGeom prst="rect">
              <a:avLst/>
            </a:prstGeom>
            <a:noFill/>
            <a:ln>
              <a:noFill/>
            </a:ln>
          </p:spPr>
          <p:txBody>
            <a:bodyPr wrap="none" lIns="0" tIns="0" rIns="0" bIns="0" anchor="t" anchorCtr="0">
              <a:spAutoFit/>
            </a:bodyPr>
            <a:lstStyle/>
            <a:p>
              <a:pPr algn="ctr">
                <a:lnSpc>
                  <a:spcPts val="1350"/>
                </a:lnSpc>
              </a:pPr>
              <a:r>
                <a:rPr lang="zh-CN" sz="1050" b="1" dirty="0">
                  <a:solidFill>
                    <a:srgbClr val="333333"/>
                  </a:solidFill>
                  <a:latin typeface="+mn-lt"/>
                  <a:ea typeface="+mn-ea"/>
                  <a:cs typeface="+mn-cs"/>
                </a:rPr>
                <a:t>数字贸易</a:t>
              </a:r>
              <a:br/>
              <a:r>
                <a:rPr lang="zh-CN" sz="1050" b="1" dirty="0">
                  <a:solidFill>
                    <a:srgbClr val="333333"/>
                  </a:solidFill>
                  <a:latin typeface="+mn-lt"/>
                  <a:ea typeface="+mn-ea"/>
                  <a:cs typeface="+mn-cs"/>
                </a:rPr>
                <a:t>全球化</a:t>
              </a:r>
            </a:p>
          </p:txBody>
        </p:sp>
      </p:grpSp>
      <p:grpSp>
        <p:nvGrpSpPr>
          <p:cNvPr id="152" name="bottom-metrics"/>
          <p:cNvGrpSpPr/>
          <p:nvPr/>
        </p:nvGrpSpPr>
        <p:grpSpPr>
          <a:xfrm>
            <a:off x="6286500" y="3957638"/>
            <a:ext cx="5524500" cy="1395412"/>
            <a:chOff x="6286500" y="3957638"/>
            <a:chExt cx="5524500" cy="1395412"/>
          </a:xfrm>
        </p:grpSpPr>
        <p:sp>
          <p:nvSpPr>
            <p:cNvPr id="128" name="TextBox 128"/>
            <p:cNvSpPr txBox="1"/>
            <p:nvPr/>
          </p:nvSpPr>
          <p:spPr>
            <a:xfrm>
              <a:off x="6419850" y="3957638"/>
              <a:ext cx="495300" cy="271462"/>
            </a:xfrm>
            <a:prstGeom prst="rect">
              <a:avLst/>
            </a:prstGeom>
            <a:noFill/>
            <a:ln>
              <a:noFill/>
            </a:ln>
          </p:spPr>
          <p:txBody>
            <a:bodyPr wrap="none" lIns="0" tIns="0" rIns="0" bIns="0" anchor="t" anchorCtr="0">
              <a:spAutoFit/>
            </a:bodyPr>
            <a:lstStyle/>
            <a:p>
              <a:pPr algn="ctr">
                <a:lnSpc>
                  <a:spcPts val="975"/>
                </a:lnSpc>
              </a:pPr>
              <a:r>
                <a:rPr lang="zh-CN" sz="750" dirty="0">
                  <a:solidFill>
                    <a:srgbClr val="D6391E"/>
                  </a:solidFill>
                  <a:latin typeface="+mn-lt"/>
                  <a:ea typeface="+mn-ea"/>
                  <a:cs typeface="+mn-cs"/>
                </a:rPr>
                <a:t>现在数据</a:t>
              </a:r>
              <a:br/>
              <a:r>
                <a:rPr lang="zh-CN" sz="750" dirty="0">
                  <a:solidFill>
                    <a:srgbClr val="D6391E"/>
                  </a:solidFill>
                  <a:latin typeface="+mn-lt"/>
                  <a:ea typeface="+mn-ea"/>
                  <a:cs typeface="+mn-cs"/>
                </a:rPr>
                <a:t>(现在运输)</a:t>
              </a:r>
            </a:p>
          </p:txBody>
        </p:sp>
        <p:sp>
          <p:nvSpPr>
            <p:cNvPr id="129" name="Ellipse 129"/>
            <p:cNvSpPr/>
            <p:nvPr/>
          </p:nvSpPr>
          <p:spPr>
            <a:xfrm>
              <a:off x="6305550" y="4305300"/>
              <a:ext cx="723900" cy="723900"/>
            </a:xfrm>
            <a:prstGeom prst="ellipse">
              <a:avLst/>
            </a:prstGeom>
            <a:noFill/>
            <a:ln w="95250">
              <a:solidFill>
                <a:srgbClr val="E5E9E2"/>
              </a:solidFill>
            </a:ln>
          </p:spPr>
        </p:sp>
        <p:sp>
          <p:nvSpPr>
            <p:cNvPr id="130" name="Freeform 130"/>
            <p:cNvSpPr/>
            <p:nvPr/>
          </p:nvSpPr>
          <p:spPr>
            <a:xfrm>
              <a:off x="6305550" y="4305300"/>
              <a:ext cx="723900" cy="723900"/>
            </a:xfrm>
            <a:prstGeom prst="blockArc">
              <a:avLst>
                <a:gd name="adj1" fmla="val 16200000"/>
                <a:gd name="adj2" fmla="val 1512000"/>
                <a:gd name="adj3" fmla="val 13158"/>
              </a:avLst>
            </a:prstGeom>
            <a:solidFill>
              <a:srgbClr val="E9563C"/>
            </a:solidFill>
            <a:ln>
              <a:noFill/>
            </a:ln>
          </p:spPr>
        </p:sp>
        <p:sp>
          <p:nvSpPr>
            <p:cNvPr id="131" name="TextBox 131"/>
            <p:cNvSpPr txBox="1"/>
            <p:nvPr/>
          </p:nvSpPr>
          <p:spPr>
            <a:xfrm>
              <a:off x="6545063" y="4617720"/>
              <a:ext cx="244874" cy="176212"/>
            </a:xfrm>
            <a:prstGeom prst="rect">
              <a:avLst/>
            </a:prstGeom>
            <a:noFill/>
            <a:ln>
              <a:noFill/>
            </a:ln>
          </p:spPr>
          <p:txBody>
            <a:bodyPr wrap="none" lIns="0" tIns="0" rIns="0" bIns="0" anchor="t" anchorCtr="0">
              <a:spAutoFit/>
            </a:bodyPr>
            <a:lstStyle/>
            <a:p>
              <a:pPr algn="ctr"/>
              <a:r>
                <a:rPr lang="zh-CN" sz="900" b="1" dirty="0">
                  <a:solidFill>
                    <a:srgbClr val="D6391E"/>
                  </a:solidFill>
                  <a:latin typeface="+mn-lt"/>
                  <a:ea typeface="+mn-ea"/>
                  <a:cs typeface="+mn-cs"/>
                </a:rPr>
                <a:t>32%</a:t>
              </a:r>
            </a:p>
          </p:txBody>
        </p:sp>
        <p:sp>
          <p:nvSpPr>
            <p:cNvPr id="132" name="TextBox 132"/>
            <p:cNvSpPr txBox="1"/>
            <p:nvPr/>
          </p:nvSpPr>
          <p:spPr>
            <a:xfrm>
              <a:off x="7347014" y="4284345"/>
              <a:ext cx="736473"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通过货运代理</a:t>
              </a:r>
            </a:p>
          </p:txBody>
        </p:sp>
        <p:sp>
          <p:nvSpPr>
            <p:cNvPr id="133" name="TextBox 133"/>
            <p:cNvSpPr txBox="1"/>
            <p:nvPr/>
          </p:nvSpPr>
          <p:spPr>
            <a:xfrm>
              <a:off x="6962135" y="4556284"/>
              <a:ext cx="1506230"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亚洲减少了6.00%，相当于全球44%​</a:t>
              </a:r>
            </a:p>
          </p:txBody>
        </p:sp>
        <p:sp>
          <p:nvSpPr>
            <p:cNvPr id="134" name="Line 134"/>
            <p:cNvSpPr/>
            <p:nvPr/>
          </p:nvSpPr>
          <p:spPr>
            <a:xfrm>
              <a:off x="7162800" y="4476750"/>
              <a:ext cx="952500" cy="9525"/>
            </a:xfrm>
            <a:custGeom>
              <a:avLst/>
              <a:gdLst/>
              <a:ahLst/>
              <a:cxnLst/>
              <a:rect l="l" t="t" r="r" b="b"/>
              <a:pathLst>
                <a:path w="952500" h="9525">
                  <a:moveTo>
                    <a:pt x="0" y="0"/>
                  </a:moveTo>
                  <a:lnTo>
                    <a:pt x="952500" y="0"/>
                  </a:lnTo>
                </a:path>
              </a:pathLst>
            </a:custGeom>
            <a:noFill/>
            <a:ln w="14288">
              <a:solidFill>
                <a:srgbClr val="E9563C"/>
              </a:solidFill>
              <a:custDash>
                <a:ds d="333333" sp="266667"/>
              </a:custDash>
            </a:ln>
          </p:spPr>
        </p:sp>
        <p:sp>
          <p:nvSpPr>
            <p:cNvPr id="135" name="Polygon 135"/>
            <p:cNvSpPr/>
            <p:nvPr/>
          </p:nvSpPr>
          <p:spPr>
            <a:xfrm>
              <a:off x="7086600" y="4438650"/>
              <a:ext cx="76200" cy="76200"/>
            </a:xfrm>
            <a:custGeom>
              <a:avLst/>
              <a:gdLst/>
              <a:ahLst/>
              <a:cxnLst/>
              <a:rect l="l" t="t" r="r" b="b"/>
              <a:pathLst>
                <a:path w="76200" h="76200">
                  <a:moveTo>
                    <a:pt x="76200" y="0"/>
                  </a:moveTo>
                  <a:lnTo>
                    <a:pt x="0" y="38100"/>
                  </a:lnTo>
                  <a:lnTo>
                    <a:pt x="76200" y="76200"/>
                  </a:lnTo>
                  <a:close/>
                </a:path>
              </a:pathLst>
            </a:custGeom>
            <a:solidFill>
              <a:srgbClr val="E9563C"/>
            </a:solidFill>
            <a:ln>
              <a:noFill/>
            </a:ln>
          </p:spPr>
        </p:sp>
        <p:sp>
          <p:nvSpPr>
            <p:cNvPr id="136" name="TextBox 136"/>
            <p:cNvSpPr txBox="1"/>
            <p:nvPr/>
          </p:nvSpPr>
          <p:spPr>
            <a:xfrm>
              <a:off x="8905806" y="4080034"/>
              <a:ext cx="476387"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(未来十年)</a:t>
              </a:r>
            </a:p>
          </p:txBody>
        </p:sp>
        <p:sp>
          <p:nvSpPr>
            <p:cNvPr id="137" name="Ellipse 137"/>
            <p:cNvSpPr/>
            <p:nvPr/>
          </p:nvSpPr>
          <p:spPr>
            <a:xfrm>
              <a:off x="8782050" y="4305300"/>
              <a:ext cx="723900" cy="723900"/>
            </a:xfrm>
            <a:prstGeom prst="ellipse">
              <a:avLst/>
            </a:prstGeom>
            <a:solidFill>
              <a:srgbClr val="9C594C"/>
            </a:solidFill>
            <a:ln>
              <a:noFill/>
            </a:ln>
          </p:spPr>
        </p:sp>
        <p:sp>
          <p:nvSpPr>
            <p:cNvPr id="138" name="TextBox 138"/>
            <p:cNvSpPr txBox="1"/>
            <p:nvPr/>
          </p:nvSpPr>
          <p:spPr>
            <a:xfrm>
              <a:off x="9000148" y="4549616"/>
              <a:ext cx="28770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100%</a:t>
              </a:r>
            </a:p>
          </p:txBody>
        </p:sp>
        <p:sp>
          <p:nvSpPr>
            <p:cNvPr id="139" name="TextBox 139"/>
            <p:cNvSpPr txBox="1"/>
            <p:nvPr/>
          </p:nvSpPr>
          <p:spPr>
            <a:xfrm>
              <a:off x="8937308" y="4707255"/>
              <a:ext cx="413385" cy="119062"/>
            </a:xfrm>
            <a:prstGeom prst="rect">
              <a:avLst/>
            </a:prstGeom>
            <a:noFill/>
            <a:ln>
              <a:noFill/>
            </a:ln>
          </p:spPr>
          <p:txBody>
            <a:bodyPr wrap="none" lIns="0" tIns="0" rIns="0" bIns="0" anchor="t" anchorCtr="0">
              <a:spAutoFit/>
            </a:bodyPr>
            <a:lstStyle/>
            <a:p>
              <a:pPr algn="ctr"/>
              <a:r>
                <a:rPr lang="zh-CN" sz="600" dirty="0">
                  <a:solidFill>
                    <a:srgbClr val="F2F7EE"/>
                  </a:solidFill>
                  <a:latin typeface="+mn-lt"/>
                  <a:ea typeface="+mn-ea"/>
                  <a:cs typeface="+mn-cs"/>
                </a:rPr>
                <a:t>数字化覆盖</a:t>
              </a:r>
            </a:p>
          </p:txBody>
        </p:sp>
        <p:sp>
          <p:nvSpPr>
            <p:cNvPr id="140" name="TextBox 140"/>
            <p:cNvSpPr txBox="1"/>
            <p:nvPr/>
          </p:nvSpPr>
          <p:spPr>
            <a:xfrm>
              <a:off x="9655492" y="4284345"/>
              <a:ext cx="615315"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通过数字化</a:t>
              </a:r>
            </a:p>
          </p:txBody>
        </p:sp>
        <p:sp>
          <p:nvSpPr>
            <p:cNvPr id="141" name="TextBox 141"/>
            <p:cNvSpPr txBox="1"/>
            <p:nvPr/>
          </p:nvSpPr>
          <p:spPr>
            <a:xfrm>
              <a:off x="9587644" y="4556284"/>
              <a:ext cx="751012"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逐渐亚洲增加6％​</a:t>
              </a:r>
            </a:p>
          </p:txBody>
        </p:sp>
        <p:sp>
          <p:nvSpPr>
            <p:cNvPr id="142" name="Line 142"/>
            <p:cNvSpPr/>
            <p:nvPr/>
          </p:nvSpPr>
          <p:spPr>
            <a:xfrm>
              <a:off x="9601200" y="4476750"/>
              <a:ext cx="1085850" cy="9525"/>
            </a:xfrm>
            <a:custGeom>
              <a:avLst/>
              <a:gdLst/>
              <a:ahLst/>
              <a:cxnLst/>
              <a:rect l="l" t="t" r="r" b="b"/>
              <a:pathLst>
                <a:path w="1085850" h="9525">
                  <a:moveTo>
                    <a:pt x="0" y="0"/>
                  </a:moveTo>
                  <a:lnTo>
                    <a:pt x="1085850" y="0"/>
                  </a:lnTo>
                </a:path>
              </a:pathLst>
            </a:custGeom>
            <a:noFill/>
            <a:ln w="14288">
              <a:solidFill>
                <a:srgbClr val="9C594C"/>
              </a:solidFill>
              <a:custDash>
                <a:ds d="333333" sp="266667"/>
              </a:custDash>
            </a:ln>
          </p:spPr>
        </p:sp>
        <p:sp>
          <p:nvSpPr>
            <p:cNvPr id="143" name="Polygon 143"/>
            <p:cNvSpPr/>
            <p:nvPr/>
          </p:nvSpPr>
          <p:spPr>
            <a:xfrm>
              <a:off x="10687050" y="4438650"/>
              <a:ext cx="76200" cy="76200"/>
            </a:xfrm>
            <a:custGeom>
              <a:avLst/>
              <a:gdLst/>
              <a:ahLst/>
              <a:cxnLst/>
              <a:rect l="l" t="t" r="r" b="b"/>
              <a:pathLst>
                <a:path w="76200" h="76200">
                  <a:moveTo>
                    <a:pt x="0" y="0"/>
                  </a:moveTo>
                  <a:lnTo>
                    <a:pt x="76200" y="38100"/>
                  </a:lnTo>
                  <a:lnTo>
                    <a:pt x="0" y="76200"/>
                  </a:lnTo>
                  <a:close/>
                </a:path>
              </a:pathLst>
            </a:custGeom>
            <a:solidFill>
              <a:srgbClr val="9C594C"/>
            </a:solidFill>
            <a:ln>
              <a:noFill/>
            </a:ln>
          </p:spPr>
        </p:sp>
        <p:sp>
          <p:nvSpPr>
            <p:cNvPr id="144" name="TextBox 144"/>
            <p:cNvSpPr txBox="1"/>
            <p:nvPr/>
          </p:nvSpPr>
          <p:spPr>
            <a:xfrm>
              <a:off x="10896600" y="3957638"/>
              <a:ext cx="495300" cy="271462"/>
            </a:xfrm>
            <a:prstGeom prst="rect">
              <a:avLst/>
            </a:prstGeom>
            <a:noFill/>
            <a:ln>
              <a:noFill/>
            </a:ln>
          </p:spPr>
          <p:txBody>
            <a:bodyPr wrap="none" lIns="0" tIns="0" rIns="0" bIns="0" anchor="t" anchorCtr="0">
              <a:spAutoFit/>
            </a:bodyPr>
            <a:lstStyle/>
            <a:p>
              <a:pPr algn="ctr">
                <a:lnSpc>
                  <a:spcPts val="975"/>
                </a:lnSpc>
              </a:pPr>
              <a:r>
                <a:rPr lang="zh-CN" sz="750" dirty="0">
                  <a:solidFill>
                    <a:srgbClr val="7A3E33"/>
                  </a:solidFill>
                  <a:latin typeface="+mn-lt"/>
                  <a:ea typeface="+mn-ea"/>
                  <a:cs typeface="+mn-cs"/>
                </a:rPr>
                <a:t>未来10年</a:t>
              </a:r>
              <a:br/>
              <a:r>
                <a:rPr lang="zh-CN" sz="750" dirty="0">
                  <a:solidFill>
                    <a:srgbClr val="7A3E33"/>
                  </a:solidFill>
                  <a:latin typeface="+mn-lt"/>
                  <a:ea typeface="+mn-ea"/>
                  <a:cs typeface="+mn-cs"/>
                </a:rPr>
                <a:t>(未来运输)</a:t>
              </a:r>
            </a:p>
          </p:txBody>
        </p:sp>
        <p:sp>
          <p:nvSpPr>
            <p:cNvPr id="145" name="Ellipse 145"/>
            <p:cNvSpPr/>
            <p:nvPr/>
          </p:nvSpPr>
          <p:spPr>
            <a:xfrm>
              <a:off x="10782300" y="4305300"/>
              <a:ext cx="723900" cy="723900"/>
            </a:xfrm>
            <a:prstGeom prst="ellipse">
              <a:avLst/>
            </a:prstGeom>
            <a:noFill/>
            <a:ln w="95250">
              <a:solidFill>
                <a:srgbClr val="E5E9E2"/>
              </a:solidFill>
            </a:ln>
          </p:spPr>
        </p:sp>
        <p:sp>
          <p:nvSpPr>
            <p:cNvPr id="146" name="Freeform 146"/>
            <p:cNvSpPr/>
            <p:nvPr/>
          </p:nvSpPr>
          <p:spPr>
            <a:xfrm>
              <a:off x="10782300" y="4305300"/>
              <a:ext cx="723900" cy="723900"/>
            </a:xfrm>
            <a:prstGeom prst="blockArc">
              <a:avLst>
                <a:gd name="adj1" fmla="val 16200000"/>
                <a:gd name="adj2" fmla="val 11448000"/>
                <a:gd name="adj3" fmla="val 13158"/>
              </a:avLst>
            </a:prstGeom>
            <a:solidFill>
              <a:srgbClr val="9C594C"/>
            </a:solidFill>
            <a:ln>
              <a:noFill/>
            </a:ln>
          </p:spPr>
        </p:sp>
        <p:sp>
          <p:nvSpPr>
            <p:cNvPr id="147" name="TextBox 147"/>
            <p:cNvSpPr txBox="1"/>
            <p:nvPr/>
          </p:nvSpPr>
          <p:spPr>
            <a:xfrm>
              <a:off x="11021813" y="4617720"/>
              <a:ext cx="244874" cy="176212"/>
            </a:xfrm>
            <a:prstGeom prst="rect">
              <a:avLst/>
            </a:prstGeom>
            <a:noFill/>
            <a:ln>
              <a:noFill/>
            </a:ln>
          </p:spPr>
          <p:txBody>
            <a:bodyPr wrap="none" lIns="0" tIns="0" rIns="0" bIns="0" anchor="t" anchorCtr="0">
              <a:spAutoFit/>
            </a:bodyPr>
            <a:lstStyle/>
            <a:p>
              <a:pPr algn="ctr"/>
              <a:r>
                <a:rPr lang="zh-CN" sz="900" b="1" dirty="0">
                  <a:solidFill>
                    <a:srgbClr val="7A3E33"/>
                  </a:solidFill>
                  <a:latin typeface="+mn-lt"/>
                  <a:ea typeface="+mn-ea"/>
                  <a:cs typeface="+mn-cs"/>
                </a:rPr>
                <a:t>78%</a:t>
              </a:r>
            </a:p>
          </p:txBody>
        </p:sp>
        <p:sp>
          <p:nvSpPr>
            <p:cNvPr id="148" name="Rectangle 148"/>
            <p:cNvSpPr/>
            <p:nvPr/>
          </p:nvSpPr>
          <p:spPr>
            <a:xfrm>
              <a:off x="6286500" y="5105400"/>
              <a:ext cx="1905000" cy="247650"/>
            </a:xfrm>
            <a:prstGeom prst="rect">
              <a:avLst/>
            </a:prstGeom>
            <a:solidFill>
              <a:srgbClr val="E9563C"/>
            </a:solidFill>
            <a:ln>
              <a:noFill/>
            </a:ln>
          </p:spPr>
        </p:sp>
        <p:sp>
          <p:nvSpPr>
            <p:cNvPr id="149" name="TextBox 149"/>
            <p:cNvSpPr txBox="1"/>
            <p:nvPr/>
          </p:nvSpPr>
          <p:spPr>
            <a:xfrm>
              <a:off x="6678930" y="5195888"/>
              <a:ext cx="1120140" cy="147638"/>
            </a:xfrm>
            <a:prstGeom prst="rect">
              <a:avLst/>
            </a:prstGeom>
            <a:noFill/>
            <a:ln>
              <a:noFill/>
            </a:ln>
          </p:spPr>
          <p:txBody>
            <a:bodyPr wrap="none" lIns="0" tIns="0" rIns="0" bIns="0" anchor="t" anchorCtr="0">
              <a:spAutoFit/>
            </a:bodyPr>
            <a:lstStyle/>
            <a:p>
              <a:pPr algn="ctr"/>
              <a:r>
                <a:rPr lang="zh-CN" sz="750" dirty="0">
                  <a:solidFill>
                    <a:srgbClr val="FFFFFF"/>
                  </a:solidFill>
                  <a:latin typeface="+mn-lt"/>
                  <a:ea typeface="+mn-ea"/>
                  <a:cs typeface="+mn-cs"/>
                </a:rPr>
                <a:t>随着数字技术的持续推广</a:t>
              </a:r>
            </a:p>
          </p:txBody>
        </p:sp>
        <p:sp>
          <p:nvSpPr>
            <p:cNvPr id="150" name="Rectangle 150"/>
            <p:cNvSpPr/>
            <p:nvPr/>
          </p:nvSpPr>
          <p:spPr>
            <a:xfrm>
              <a:off x="8382000" y="5105400"/>
              <a:ext cx="3429000" cy="247650"/>
            </a:xfrm>
            <a:prstGeom prst="rect">
              <a:avLst/>
            </a:prstGeom>
            <a:solidFill>
              <a:srgbClr val="C8E0B8"/>
            </a:solidFill>
            <a:ln>
              <a:noFill/>
            </a:ln>
          </p:spPr>
        </p:sp>
        <p:sp>
          <p:nvSpPr>
            <p:cNvPr id="151" name="TextBox 151"/>
            <p:cNvSpPr txBox="1"/>
            <p:nvPr/>
          </p:nvSpPr>
          <p:spPr>
            <a:xfrm>
              <a:off x="9334500" y="5195888"/>
              <a:ext cx="152400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亚洲将有更多用户带来更高的增长</a:t>
              </a:r>
            </a:p>
          </p:txBody>
        </p:sp>
      </p:grpSp>
      <p:grpSp>
        <p:nvGrpSpPr>
          <p:cNvPr id="155" name="page-footer"/>
          <p:cNvGrpSpPr/>
          <p:nvPr/>
        </p:nvGrpSpPr>
        <p:grpSpPr>
          <a:xfrm>
            <a:off x="376238" y="6689884"/>
            <a:ext cx="11439524" cy="133350"/>
            <a:chOff x="376238" y="6689884"/>
            <a:chExt cx="11439524" cy="133350"/>
          </a:xfrm>
        </p:grpSpPr>
        <p:sp>
          <p:nvSpPr>
            <p:cNvPr id="153" name="TextBox 153"/>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54" name="TextBox 154"/>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19</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9" name="top-axis"/>
          <p:cNvGrpSpPr/>
          <p:nvPr/>
        </p:nvGrpSpPr>
        <p:grpSpPr>
          <a:xfrm>
            <a:off x="419100" y="895350"/>
            <a:ext cx="10245090" cy="253937"/>
            <a:chOff x="419100" y="895350"/>
            <a:chExt cx="10245090" cy="253937"/>
          </a:xfrm>
        </p:grpSpPr>
        <p:sp>
          <p:nvSpPr>
            <p:cNvPr id="8" name="Ellipse 8"/>
            <p:cNvSpPr/>
            <p:nvPr/>
          </p:nvSpPr>
          <p:spPr>
            <a:xfrm>
              <a:off x="419100" y="895350"/>
              <a:ext cx="228600" cy="228600"/>
            </a:xfrm>
            <a:prstGeom prst="ellipse">
              <a:avLst/>
            </a:prstGeom>
            <a:solidFill>
              <a:srgbClr val="9C594C"/>
            </a:solidFill>
            <a:ln>
              <a:noFill/>
            </a:ln>
          </p:spPr>
        </p:sp>
        <p:sp>
          <p:nvSpPr>
            <p:cNvPr id="9" name="TextBox 9"/>
            <p:cNvSpPr txBox="1"/>
            <p:nvPr/>
          </p:nvSpPr>
          <p:spPr>
            <a:xfrm>
              <a:off x="496763" y="963454"/>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a:t>
              </a:r>
            </a:p>
          </p:txBody>
        </p:sp>
        <p:sp>
          <p:nvSpPr>
            <p:cNvPr id="10" name="TextBox 10"/>
            <p:cNvSpPr txBox="1"/>
            <p:nvPr/>
          </p:nvSpPr>
          <p:spPr>
            <a:xfrm>
              <a:off x="775716" y="943928"/>
              <a:ext cx="858774" cy="205359"/>
            </a:xfrm>
            <a:prstGeom prst="rect">
              <a:avLst/>
            </a:prstGeom>
            <a:noFill/>
            <a:ln>
              <a:noFill/>
            </a:ln>
          </p:spPr>
          <p:txBody>
            <a:bodyPr wrap="none" lIns="0" tIns="0" rIns="0" bIns="0" anchor="t" anchorCtr="0">
              <a:spAutoFit/>
            </a:bodyPr>
            <a:lstStyle/>
            <a:p>
              <a:pPr algn="l"/>
              <a:r>
                <a:rPr lang="zh-CN" sz="1050" b="1" dirty="0">
                  <a:solidFill>
                    <a:srgbClr val="333333"/>
                  </a:solidFill>
                  <a:latin typeface="+mn-lt"/>
                  <a:ea typeface="+mn-ea"/>
                  <a:cs typeface="+mn-cs"/>
                </a:rPr>
                <a:t>公司员工服务</a:t>
              </a:r>
            </a:p>
          </p:txBody>
        </p:sp>
        <p:sp>
          <p:nvSpPr>
            <p:cNvPr id="11" name="Line 11"/>
            <p:cNvSpPr/>
            <p:nvPr/>
          </p:nvSpPr>
          <p:spPr>
            <a:xfrm>
              <a:off x="1809750" y="1009650"/>
              <a:ext cx="2286000" cy="9525"/>
            </a:xfrm>
            <a:custGeom>
              <a:avLst/>
              <a:gdLst/>
              <a:ahLst/>
              <a:cxnLst/>
              <a:rect l="l" t="t" r="r" b="b"/>
              <a:pathLst>
                <a:path w="2286000" h="9525">
                  <a:moveTo>
                    <a:pt x="0" y="0"/>
                  </a:moveTo>
                  <a:lnTo>
                    <a:pt x="2286000" y="0"/>
                  </a:lnTo>
                </a:path>
              </a:pathLst>
            </a:custGeom>
            <a:noFill/>
            <a:ln w="11430">
              <a:solidFill>
                <a:srgbClr val="BF857A"/>
              </a:solidFill>
              <a:custDash>
                <a:ds d="166667" sp="416667"/>
              </a:custDash>
            </a:ln>
          </p:spPr>
        </p:sp>
        <p:sp>
          <p:nvSpPr>
            <p:cNvPr id="12" name="Ellipse 12"/>
            <p:cNvSpPr/>
            <p:nvPr/>
          </p:nvSpPr>
          <p:spPr>
            <a:xfrm>
              <a:off x="4171950" y="895350"/>
              <a:ext cx="228600" cy="228600"/>
            </a:xfrm>
            <a:prstGeom prst="ellipse">
              <a:avLst/>
            </a:prstGeom>
            <a:solidFill>
              <a:srgbClr val="9C594C"/>
            </a:solidFill>
            <a:ln>
              <a:noFill/>
            </a:ln>
          </p:spPr>
        </p:sp>
        <p:sp>
          <p:nvSpPr>
            <p:cNvPr id="13" name="TextBox 13"/>
            <p:cNvSpPr txBox="1"/>
            <p:nvPr/>
          </p:nvSpPr>
          <p:spPr>
            <a:xfrm>
              <a:off x="4249613" y="963454"/>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a:t>
              </a:r>
            </a:p>
          </p:txBody>
        </p:sp>
        <p:sp>
          <p:nvSpPr>
            <p:cNvPr id="14" name="TextBox 14"/>
            <p:cNvSpPr txBox="1"/>
            <p:nvPr/>
          </p:nvSpPr>
          <p:spPr>
            <a:xfrm>
              <a:off x="4528566" y="943928"/>
              <a:ext cx="1000125" cy="205359"/>
            </a:xfrm>
            <a:prstGeom prst="rect">
              <a:avLst/>
            </a:prstGeom>
            <a:noFill/>
            <a:ln>
              <a:noFill/>
            </a:ln>
          </p:spPr>
          <p:txBody>
            <a:bodyPr wrap="none" lIns="0" tIns="0" rIns="0" bIns="0" anchor="t" anchorCtr="0">
              <a:spAutoFit/>
            </a:bodyPr>
            <a:lstStyle/>
            <a:p>
              <a:pPr algn="l"/>
              <a:r>
                <a:rPr lang="zh-CN" sz="1050" b="1" dirty="0">
                  <a:solidFill>
                    <a:srgbClr val="333333"/>
                  </a:solidFill>
                  <a:latin typeface="+mn-lt"/>
                  <a:ea typeface="+mn-ea"/>
                  <a:cs typeface="+mn-cs"/>
                </a:rPr>
                <a:t>公司价值最大化</a:t>
              </a:r>
            </a:p>
          </p:txBody>
        </p:sp>
        <p:sp>
          <p:nvSpPr>
            <p:cNvPr id="15" name="Line 15"/>
            <p:cNvSpPr/>
            <p:nvPr/>
          </p:nvSpPr>
          <p:spPr>
            <a:xfrm>
              <a:off x="5715000" y="1009650"/>
              <a:ext cx="3657600" cy="9525"/>
            </a:xfrm>
            <a:custGeom>
              <a:avLst/>
              <a:gdLst/>
              <a:ahLst/>
              <a:cxnLst/>
              <a:rect l="l" t="t" r="r" b="b"/>
              <a:pathLst>
                <a:path w="3657600" h="9525">
                  <a:moveTo>
                    <a:pt x="0" y="0"/>
                  </a:moveTo>
                  <a:lnTo>
                    <a:pt x="3657600" y="0"/>
                  </a:lnTo>
                </a:path>
              </a:pathLst>
            </a:custGeom>
            <a:noFill/>
            <a:ln w="11430">
              <a:solidFill>
                <a:srgbClr val="BF857A"/>
              </a:solidFill>
              <a:custDash>
                <a:ds d="166667" sp="416667"/>
              </a:custDash>
            </a:ln>
          </p:spPr>
        </p:sp>
        <p:sp>
          <p:nvSpPr>
            <p:cNvPr id="16" name="Ellipse 16"/>
            <p:cNvSpPr/>
            <p:nvPr/>
          </p:nvSpPr>
          <p:spPr>
            <a:xfrm>
              <a:off x="9448800" y="895350"/>
              <a:ext cx="228600" cy="228600"/>
            </a:xfrm>
            <a:prstGeom prst="ellipse">
              <a:avLst/>
            </a:prstGeom>
            <a:solidFill>
              <a:srgbClr val="9C594C"/>
            </a:solidFill>
            <a:ln>
              <a:noFill/>
            </a:ln>
          </p:spPr>
        </p:sp>
        <p:sp>
          <p:nvSpPr>
            <p:cNvPr id="17" name="TextBox 17"/>
            <p:cNvSpPr txBox="1"/>
            <p:nvPr/>
          </p:nvSpPr>
          <p:spPr>
            <a:xfrm>
              <a:off x="9526463" y="963454"/>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a:t>
              </a:r>
            </a:p>
          </p:txBody>
        </p:sp>
        <p:sp>
          <p:nvSpPr>
            <p:cNvPr id="18" name="TextBox 18"/>
            <p:cNvSpPr txBox="1"/>
            <p:nvPr/>
          </p:nvSpPr>
          <p:spPr>
            <a:xfrm>
              <a:off x="9805416" y="943928"/>
              <a:ext cx="858774" cy="205359"/>
            </a:xfrm>
            <a:prstGeom prst="rect">
              <a:avLst/>
            </a:prstGeom>
            <a:noFill/>
            <a:ln>
              <a:noFill/>
            </a:ln>
          </p:spPr>
          <p:txBody>
            <a:bodyPr wrap="none" lIns="0" tIns="0" rIns="0" bIns="0" anchor="t" anchorCtr="0">
              <a:spAutoFit/>
            </a:bodyPr>
            <a:lstStyle/>
            <a:p>
              <a:pPr algn="l"/>
              <a:r>
                <a:rPr lang="zh-CN" sz="1050" b="1" dirty="0">
                  <a:solidFill>
                    <a:srgbClr val="333333"/>
                  </a:solidFill>
                  <a:latin typeface="+mn-lt"/>
                  <a:ea typeface="+mn-ea"/>
                  <a:cs typeface="+mn-cs"/>
                </a:rPr>
                <a:t>公司提升效率</a:t>
              </a:r>
            </a:p>
          </p:txBody>
        </p:sp>
      </p:grpSp>
      <p:grpSp>
        <p:nvGrpSpPr>
          <p:cNvPr id="44" name="col1-services"/>
          <p:cNvGrpSpPr/>
          <p:nvPr/>
        </p:nvGrpSpPr>
        <p:grpSpPr>
          <a:xfrm>
            <a:off x="381000" y="1333500"/>
            <a:ext cx="1809750" cy="2965370"/>
            <a:chOff x="381000" y="1333500"/>
            <a:chExt cx="1809750" cy="2965370"/>
          </a:xfrm>
        </p:grpSpPr>
        <p:sp>
          <p:nvSpPr>
            <p:cNvPr id="20" name="Rectangle 20"/>
            <p:cNvSpPr/>
            <p:nvPr/>
          </p:nvSpPr>
          <p:spPr>
            <a:xfrm>
              <a:off x="381000" y="1333500"/>
              <a:ext cx="1809750" cy="323850"/>
            </a:xfrm>
            <a:prstGeom prst="rect">
              <a:avLst/>
            </a:prstGeom>
            <a:solidFill>
              <a:srgbClr val="9C594C"/>
            </a:solidFill>
            <a:ln>
              <a:noFill/>
            </a:ln>
          </p:spPr>
        </p:sp>
        <p:sp>
          <p:nvSpPr>
            <p:cNvPr id="21" name="TextBox 21"/>
            <p:cNvSpPr txBox="1"/>
            <p:nvPr/>
          </p:nvSpPr>
          <p:spPr>
            <a:xfrm>
              <a:off x="885139" y="14473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公司福利待遇</a:t>
              </a:r>
            </a:p>
          </p:txBody>
        </p:sp>
        <p:sp>
          <p:nvSpPr>
            <p:cNvPr id="22" name="Rectangle 22"/>
            <p:cNvSpPr/>
            <p:nvPr/>
          </p:nvSpPr>
          <p:spPr>
            <a:xfrm>
              <a:off x="381000" y="1657350"/>
              <a:ext cx="1809750" cy="666750"/>
            </a:xfrm>
            <a:prstGeom prst="rect">
              <a:avLst/>
            </a:prstGeom>
            <a:solidFill>
              <a:srgbClr val="F4F8EF"/>
            </a:solidFill>
            <a:ln>
              <a:noFill/>
            </a:ln>
          </p:spPr>
        </p:sp>
        <p:sp>
          <p:nvSpPr>
            <p:cNvPr id="23" name="TextBox 23"/>
            <p:cNvSpPr txBox="1"/>
            <p:nvPr/>
          </p:nvSpPr>
          <p:spPr>
            <a:xfrm>
              <a:off x="637858" y="178188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双休</a:t>
              </a:r>
              <a:br/>
              <a:r>
                <a:rPr lang="zh-CN" sz="790" dirty="0">
                  <a:solidFill>
                    <a:srgbClr val="333333"/>
                  </a:solidFill>
                  <a:latin typeface="+mn-lt"/>
                  <a:ea typeface="+mn-ea"/>
                  <a:cs typeface="+mn-cs"/>
                </a:rPr>
                <a:t>福利</a:t>
              </a:r>
              <a:br/>
              <a:r>
                <a:rPr lang="zh-CN" sz="790" dirty="0">
                  <a:solidFill>
                    <a:srgbClr val="333333"/>
                  </a:solidFill>
                  <a:latin typeface="+mn-lt"/>
                  <a:ea typeface="+mn-ea"/>
                  <a:cs typeface="+mn-cs"/>
                </a:rPr>
                <a:t>待遇</a:t>
              </a:r>
            </a:p>
          </p:txBody>
        </p:sp>
        <p:sp>
          <p:nvSpPr>
            <p:cNvPr id="24" name="Line 24"/>
            <p:cNvSpPr/>
            <p:nvPr/>
          </p:nvSpPr>
          <p:spPr>
            <a:xfrm>
              <a:off x="1066800" y="1733550"/>
              <a:ext cx="9525" cy="514350"/>
            </a:xfrm>
            <a:custGeom>
              <a:avLst/>
              <a:gdLst/>
              <a:ahLst/>
              <a:cxnLst/>
              <a:rect l="l" t="t" r="r" b="b"/>
              <a:pathLst>
                <a:path w="9525" h="514350">
                  <a:moveTo>
                    <a:pt x="0" y="0"/>
                  </a:moveTo>
                  <a:lnTo>
                    <a:pt x="0" y="514350"/>
                  </a:lnTo>
                </a:path>
              </a:pathLst>
            </a:custGeom>
            <a:noFill/>
            <a:ln w="9525">
              <a:solidFill>
                <a:srgbClr val="C9D8BD"/>
              </a:solidFill>
            </a:ln>
          </p:spPr>
        </p:sp>
        <p:sp>
          <p:nvSpPr>
            <p:cNvPr id="25" name="TextBox 25"/>
            <p:cNvSpPr txBox="1"/>
            <p:nvPr/>
          </p:nvSpPr>
          <p:spPr>
            <a:xfrm>
              <a:off x="1285558" y="178188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日常</a:t>
              </a:r>
              <a:br/>
              <a:r>
                <a:rPr lang="zh-CN" sz="790" dirty="0">
                  <a:solidFill>
                    <a:srgbClr val="333333"/>
                  </a:solidFill>
                  <a:latin typeface="+mn-lt"/>
                  <a:ea typeface="+mn-ea"/>
                  <a:cs typeface="+mn-cs"/>
                </a:rPr>
                <a:t>工作</a:t>
              </a:r>
              <a:br/>
              <a:r>
                <a:rPr lang="zh-CN" sz="790" dirty="0">
                  <a:solidFill>
                    <a:srgbClr val="333333"/>
                  </a:solidFill>
                  <a:latin typeface="+mn-lt"/>
                  <a:ea typeface="+mn-ea"/>
                  <a:cs typeface="+mn-cs"/>
                </a:rPr>
                <a:t>协助</a:t>
              </a:r>
            </a:p>
          </p:txBody>
        </p:sp>
        <p:sp>
          <p:nvSpPr>
            <p:cNvPr id="26" name="Line 26"/>
            <p:cNvSpPr/>
            <p:nvPr/>
          </p:nvSpPr>
          <p:spPr>
            <a:xfrm>
              <a:off x="1714500" y="1733550"/>
              <a:ext cx="9525" cy="514350"/>
            </a:xfrm>
            <a:custGeom>
              <a:avLst/>
              <a:gdLst/>
              <a:ahLst/>
              <a:cxnLst/>
              <a:rect l="l" t="t" r="r" b="b"/>
              <a:pathLst>
                <a:path w="9525" h="514350">
                  <a:moveTo>
                    <a:pt x="0" y="0"/>
                  </a:moveTo>
                  <a:lnTo>
                    <a:pt x="0" y="514350"/>
                  </a:lnTo>
                </a:path>
              </a:pathLst>
            </a:custGeom>
            <a:noFill/>
            <a:ln w="9525">
              <a:solidFill>
                <a:srgbClr val="C9D8BD"/>
              </a:solidFill>
            </a:ln>
          </p:spPr>
        </p:sp>
        <p:sp>
          <p:nvSpPr>
            <p:cNvPr id="27" name="TextBox 27"/>
            <p:cNvSpPr txBox="1"/>
            <p:nvPr/>
          </p:nvSpPr>
          <p:spPr>
            <a:xfrm>
              <a:off x="1895158" y="178188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其他</a:t>
              </a:r>
              <a:br/>
              <a:r>
                <a:rPr lang="zh-CN" sz="790" dirty="0">
                  <a:solidFill>
                    <a:srgbClr val="333333"/>
                  </a:solidFill>
                  <a:latin typeface="+mn-lt"/>
                  <a:ea typeface="+mn-ea"/>
                  <a:cs typeface="+mn-cs"/>
                </a:rPr>
                <a:t>团建</a:t>
              </a:r>
              <a:br/>
              <a:r>
                <a:rPr lang="zh-CN" sz="790" dirty="0">
                  <a:solidFill>
                    <a:srgbClr val="333333"/>
                  </a:solidFill>
                  <a:latin typeface="+mn-lt"/>
                  <a:ea typeface="+mn-ea"/>
                  <a:cs typeface="+mn-cs"/>
                </a:rPr>
                <a:t>活动</a:t>
              </a:r>
            </a:p>
          </p:txBody>
        </p:sp>
        <p:sp>
          <p:nvSpPr>
            <p:cNvPr id="28" name="Rectangle 28"/>
            <p:cNvSpPr/>
            <p:nvPr/>
          </p:nvSpPr>
          <p:spPr>
            <a:xfrm>
              <a:off x="381000" y="2476500"/>
              <a:ext cx="1809750" cy="323850"/>
            </a:xfrm>
            <a:prstGeom prst="rect">
              <a:avLst/>
            </a:prstGeom>
            <a:solidFill>
              <a:srgbClr val="9C594C"/>
            </a:solidFill>
            <a:ln>
              <a:noFill/>
            </a:ln>
          </p:spPr>
        </p:sp>
        <p:sp>
          <p:nvSpPr>
            <p:cNvPr id="29" name="TextBox 29"/>
            <p:cNvSpPr txBox="1"/>
            <p:nvPr/>
          </p:nvSpPr>
          <p:spPr>
            <a:xfrm>
              <a:off x="885139" y="2590324"/>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其他保险机制</a:t>
              </a:r>
            </a:p>
          </p:txBody>
        </p:sp>
        <p:sp>
          <p:nvSpPr>
            <p:cNvPr id="30" name="Rectangle 30"/>
            <p:cNvSpPr/>
            <p:nvPr/>
          </p:nvSpPr>
          <p:spPr>
            <a:xfrm>
              <a:off x="381000" y="2800350"/>
              <a:ext cx="1809750" cy="666750"/>
            </a:xfrm>
            <a:prstGeom prst="rect">
              <a:avLst/>
            </a:prstGeom>
            <a:solidFill>
              <a:srgbClr val="F4F8EF"/>
            </a:solidFill>
            <a:ln>
              <a:noFill/>
            </a:ln>
          </p:spPr>
        </p:sp>
        <p:sp>
          <p:nvSpPr>
            <p:cNvPr id="31" name="TextBox 31"/>
            <p:cNvSpPr txBox="1"/>
            <p:nvPr/>
          </p:nvSpPr>
          <p:spPr>
            <a:xfrm>
              <a:off x="637858" y="292488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公司</a:t>
              </a:r>
              <a:br/>
              <a:r>
                <a:rPr lang="zh-CN" sz="790" dirty="0">
                  <a:solidFill>
                    <a:srgbClr val="333333"/>
                  </a:solidFill>
                  <a:latin typeface="+mn-lt"/>
                  <a:ea typeface="+mn-ea"/>
                  <a:cs typeface="+mn-cs"/>
                </a:rPr>
                <a:t>保险</a:t>
              </a:r>
              <a:br/>
              <a:r>
                <a:rPr lang="zh-CN" sz="790" dirty="0">
                  <a:solidFill>
                    <a:srgbClr val="333333"/>
                  </a:solidFill>
                  <a:latin typeface="+mn-lt"/>
                  <a:ea typeface="+mn-ea"/>
                  <a:cs typeface="+mn-cs"/>
                </a:rPr>
                <a:t>机制</a:t>
              </a:r>
            </a:p>
          </p:txBody>
        </p:sp>
        <p:sp>
          <p:nvSpPr>
            <p:cNvPr id="32" name="Line 32"/>
            <p:cNvSpPr/>
            <p:nvPr/>
          </p:nvSpPr>
          <p:spPr>
            <a:xfrm>
              <a:off x="1066800" y="2876550"/>
              <a:ext cx="9525" cy="514350"/>
            </a:xfrm>
            <a:custGeom>
              <a:avLst/>
              <a:gdLst/>
              <a:ahLst/>
              <a:cxnLst/>
              <a:rect l="l" t="t" r="r" b="b"/>
              <a:pathLst>
                <a:path w="9525" h="514350">
                  <a:moveTo>
                    <a:pt x="0" y="0"/>
                  </a:moveTo>
                  <a:lnTo>
                    <a:pt x="0" y="514350"/>
                  </a:lnTo>
                </a:path>
              </a:pathLst>
            </a:custGeom>
            <a:noFill/>
            <a:ln w="9525">
              <a:solidFill>
                <a:srgbClr val="C9D8BD"/>
              </a:solidFill>
            </a:ln>
          </p:spPr>
        </p:sp>
        <p:sp>
          <p:nvSpPr>
            <p:cNvPr id="33" name="TextBox 33"/>
            <p:cNvSpPr txBox="1"/>
            <p:nvPr/>
          </p:nvSpPr>
          <p:spPr>
            <a:xfrm>
              <a:off x="1285558" y="292488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上下</a:t>
              </a:r>
              <a:br/>
              <a:r>
                <a:rPr lang="zh-CN" sz="790" dirty="0">
                  <a:solidFill>
                    <a:srgbClr val="333333"/>
                  </a:solidFill>
                  <a:latin typeface="+mn-lt"/>
                  <a:ea typeface="+mn-ea"/>
                  <a:cs typeface="+mn-cs"/>
                </a:rPr>
                <a:t>班保</a:t>
              </a:r>
              <a:br/>
              <a:r>
                <a:rPr lang="zh-CN" sz="790" dirty="0">
                  <a:solidFill>
                    <a:srgbClr val="333333"/>
                  </a:solidFill>
                  <a:latin typeface="+mn-lt"/>
                  <a:ea typeface="+mn-ea"/>
                  <a:cs typeface="+mn-cs"/>
                </a:rPr>
                <a:t>险</a:t>
              </a:r>
            </a:p>
          </p:txBody>
        </p:sp>
        <p:sp>
          <p:nvSpPr>
            <p:cNvPr id="34" name="Line 34"/>
            <p:cNvSpPr/>
            <p:nvPr/>
          </p:nvSpPr>
          <p:spPr>
            <a:xfrm>
              <a:off x="1714500" y="2876550"/>
              <a:ext cx="9525" cy="514350"/>
            </a:xfrm>
            <a:custGeom>
              <a:avLst/>
              <a:gdLst/>
              <a:ahLst/>
              <a:cxnLst/>
              <a:rect l="l" t="t" r="r" b="b"/>
              <a:pathLst>
                <a:path w="9525" h="514350">
                  <a:moveTo>
                    <a:pt x="0" y="0"/>
                  </a:moveTo>
                  <a:lnTo>
                    <a:pt x="0" y="514350"/>
                  </a:lnTo>
                </a:path>
              </a:pathLst>
            </a:custGeom>
            <a:noFill/>
            <a:ln w="9525">
              <a:solidFill>
                <a:srgbClr val="C9D8BD"/>
              </a:solidFill>
            </a:ln>
          </p:spPr>
        </p:sp>
        <p:sp>
          <p:nvSpPr>
            <p:cNvPr id="35" name="TextBox 35"/>
            <p:cNvSpPr txBox="1"/>
            <p:nvPr/>
          </p:nvSpPr>
          <p:spPr>
            <a:xfrm>
              <a:off x="1895158" y="2924889"/>
              <a:ext cx="210185" cy="440531"/>
            </a:xfrm>
            <a:prstGeom prst="rect">
              <a:avLst/>
            </a:prstGeom>
            <a:noFill/>
            <a:ln>
              <a:noFill/>
            </a:ln>
          </p:spPr>
          <p:txBody>
            <a:bodyPr wrap="none" lIns="0" tIns="0" rIns="0" bIns="0" anchor="t" anchorCtr="0">
              <a:spAutoFit/>
            </a:bodyPr>
            <a:lstStyle/>
            <a:p>
              <a:pPr algn="ctr">
                <a:lnSpc>
                  <a:spcPts val="1125"/>
                </a:lnSpc>
              </a:pPr>
              <a:r>
                <a:rPr lang="zh-CN" sz="790" dirty="0">
                  <a:solidFill>
                    <a:srgbClr val="333333"/>
                  </a:solidFill>
                  <a:latin typeface="+mn-lt"/>
                  <a:ea typeface="+mn-ea"/>
                  <a:cs typeface="+mn-cs"/>
                </a:rPr>
                <a:t>其他</a:t>
              </a:r>
              <a:br/>
              <a:r>
                <a:rPr lang="zh-CN" sz="790" dirty="0">
                  <a:solidFill>
                    <a:srgbClr val="333333"/>
                  </a:solidFill>
                  <a:latin typeface="+mn-lt"/>
                  <a:ea typeface="+mn-ea"/>
                  <a:cs typeface="+mn-cs"/>
                </a:rPr>
                <a:t>保险</a:t>
              </a:r>
              <a:br/>
              <a:r>
                <a:rPr lang="zh-CN" sz="790" dirty="0">
                  <a:solidFill>
                    <a:srgbClr val="333333"/>
                  </a:solidFill>
                  <a:latin typeface="+mn-lt"/>
                  <a:ea typeface="+mn-ea"/>
                  <a:cs typeface="+mn-cs"/>
                </a:rPr>
                <a:t>内容</a:t>
              </a:r>
            </a:p>
          </p:txBody>
        </p:sp>
        <p:sp>
          <p:nvSpPr>
            <p:cNvPr id="36" name="Polyline 36"/>
            <p:cNvSpPr/>
            <p:nvPr/>
          </p:nvSpPr>
          <p:spPr>
            <a:xfrm>
              <a:off x="381000" y="3581400"/>
              <a:ext cx="1809750" cy="76200"/>
            </a:xfrm>
            <a:custGeom>
              <a:avLst/>
              <a:gdLst/>
              <a:ahLst/>
              <a:cxnLst/>
              <a:rect l="l" t="t" r="r" b="b"/>
              <a:pathLst>
                <a:path w="1809750" h="76200">
                  <a:moveTo>
                    <a:pt x="0" y="0"/>
                  </a:moveTo>
                  <a:lnTo>
                    <a:pt x="0" y="76200"/>
                  </a:lnTo>
                  <a:lnTo>
                    <a:pt x="1809750" y="76200"/>
                  </a:lnTo>
                  <a:lnTo>
                    <a:pt x="1809750" y="0"/>
                  </a:lnTo>
                </a:path>
              </a:pathLst>
            </a:custGeom>
            <a:noFill/>
            <a:ln w="11430">
              <a:solidFill>
                <a:srgbClr val="BF857A"/>
              </a:solidFill>
            </a:ln>
          </p:spPr>
        </p:sp>
        <p:sp>
          <p:nvSpPr>
            <p:cNvPr id="37" name="Line 37"/>
            <p:cNvSpPr/>
            <p:nvPr/>
          </p:nvSpPr>
          <p:spPr>
            <a:xfrm>
              <a:off x="1285875" y="3657600"/>
              <a:ext cx="9525" cy="95250"/>
            </a:xfrm>
            <a:custGeom>
              <a:avLst/>
              <a:gdLst/>
              <a:ahLst/>
              <a:cxnLst/>
              <a:rect l="l" t="t" r="r" b="b"/>
              <a:pathLst>
                <a:path w="9525" h="95250">
                  <a:moveTo>
                    <a:pt x="0" y="0"/>
                  </a:moveTo>
                  <a:lnTo>
                    <a:pt x="0" y="95250"/>
                  </a:lnTo>
                </a:path>
              </a:pathLst>
            </a:custGeom>
            <a:noFill/>
            <a:ln w="11430">
              <a:solidFill>
                <a:srgbClr val="BF857A"/>
              </a:solidFill>
            </a:ln>
          </p:spPr>
        </p:sp>
        <p:sp>
          <p:nvSpPr>
            <p:cNvPr id="38" name="Rectangle 38"/>
            <p:cNvSpPr/>
            <p:nvPr/>
          </p:nvSpPr>
          <p:spPr>
            <a:xfrm>
              <a:off x="838200" y="3790950"/>
              <a:ext cx="895350" cy="247650"/>
            </a:xfrm>
            <a:prstGeom prst="roundRect">
              <a:avLst>
                <a:gd name="adj" fmla="val 15385"/>
              </a:avLst>
            </a:prstGeom>
            <a:solidFill>
              <a:srgbClr val="FFFFFF"/>
            </a:solidFill>
            <a:ln w="11430">
              <a:solidFill>
                <a:srgbClr val="9C594C"/>
              </a:solidFill>
            </a:ln>
          </p:spPr>
        </p:sp>
        <p:grpSp>
          <p:nvGrpSpPr>
            <p:cNvPr id="41" name="Group 41"/>
            <p:cNvGrpSpPr/>
            <p:nvPr/>
          </p:nvGrpSpPr>
          <p:grpSpPr>
            <a:xfrm>
              <a:off x="931069" y="3864769"/>
              <a:ext cx="100012" cy="100012"/>
              <a:chOff x="931069" y="3864769"/>
              <a:chExt cx="100012" cy="100012"/>
            </a:xfrm>
          </p:grpSpPr>
          <p:sp>
            <p:nvSpPr>
              <p:cNvPr id="39" name="Freeform 39"/>
              <p:cNvSpPr/>
              <p:nvPr/>
            </p:nvSpPr>
            <p:spPr>
              <a:xfrm>
                <a:off x="931069" y="3864769"/>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9C594C"/>
                </a:solidFill>
              </a:ln>
            </p:spPr>
          </p:sp>
          <p:sp>
            <p:nvSpPr>
              <p:cNvPr id="40" name="Freeform 40"/>
              <p:cNvSpPr/>
              <p:nvPr/>
            </p:nvSpPr>
            <p:spPr>
              <a:xfrm>
                <a:off x="997744" y="3931444"/>
                <a:ext cx="33337" cy="33337"/>
              </a:xfrm>
              <a:custGeom>
                <a:avLst/>
                <a:gdLst/>
                <a:ahLst/>
                <a:cxnLst/>
                <a:rect l="l" t="t" r="r" b="b"/>
                <a:pathLst>
                  <a:path w="33337" h="33337">
                    <a:moveTo>
                      <a:pt x="33337" y="33337"/>
                    </a:moveTo>
                    <a:lnTo>
                      <a:pt x="0" y="0"/>
                    </a:lnTo>
                  </a:path>
                </a:pathLst>
              </a:custGeom>
              <a:noFill/>
              <a:ln w="11112">
                <a:solidFill>
                  <a:srgbClr val="9C594C"/>
                </a:solidFill>
              </a:ln>
            </p:spPr>
          </p:sp>
        </p:grpSp>
        <p:sp>
          <p:nvSpPr>
            <p:cNvPr id="42" name="TextBox 42"/>
            <p:cNvSpPr txBox="1"/>
            <p:nvPr/>
          </p:nvSpPr>
          <p:spPr>
            <a:xfrm>
              <a:off x="1134518" y="3865245"/>
              <a:ext cx="436064" cy="176212"/>
            </a:xfrm>
            <a:prstGeom prst="rect">
              <a:avLst/>
            </a:prstGeom>
            <a:noFill/>
            <a:ln>
              <a:noFill/>
            </a:ln>
          </p:spPr>
          <p:txBody>
            <a:bodyPr wrap="none" lIns="0" tIns="0" rIns="0" bIns="0" anchor="t" anchorCtr="0">
              <a:spAutoFit/>
            </a:bodyPr>
            <a:lstStyle/>
            <a:p>
              <a:pPr algn="ctr"/>
              <a:r>
                <a:rPr lang="zh-CN" sz="900" b="1" dirty="0">
                  <a:solidFill>
                    <a:srgbClr val="7A3E33"/>
                  </a:solidFill>
                  <a:latin typeface="+mn-lt"/>
                  <a:ea typeface="+mn-ea"/>
                  <a:cs typeface="+mn-cs"/>
                </a:rPr>
                <a:t>AI精度​</a:t>
              </a:r>
            </a:p>
          </p:txBody>
        </p:sp>
        <p:sp>
          <p:nvSpPr>
            <p:cNvPr id="43" name="TextBox 43"/>
            <p:cNvSpPr txBox="1"/>
            <p:nvPr/>
          </p:nvSpPr>
          <p:spPr>
            <a:xfrm>
              <a:off x="1068413" y="4144089"/>
              <a:ext cx="43492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相互影响</a:t>
              </a:r>
            </a:p>
          </p:txBody>
        </p:sp>
      </p:grpSp>
      <p:grpSp>
        <p:nvGrpSpPr>
          <p:cNvPr id="74" name="center-wheel"/>
          <p:cNvGrpSpPr/>
          <p:nvPr/>
        </p:nvGrpSpPr>
        <p:grpSpPr>
          <a:xfrm>
            <a:off x="3685699" y="1413510"/>
            <a:ext cx="4058602" cy="4018597"/>
            <a:chOff x="3685699" y="1413510"/>
            <a:chExt cx="4058602" cy="4018597"/>
          </a:xfrm>
        </p:grpSpPr>
        <p:sp>
          <p:nvSpPr>
            <p:cNvPr id="45" name="TextBox 45"/>
            <p:cNvSpPr txBox="1"/>
            <p:nvPr/>
          </p:nvSpPr>
          <p:spPr>
            <a:xfrm>
              <a:off x="5062728" y="1413510"/>
              <a:ext cx="1304544" cy="234696"/>
            </a:xfrm>
            <a:prstGeom prst="rect">
              <a:avLst/>
            </a:prstGeom>
            <a:noFill/>
            <a:ln>
              <a:noFill/>
            </a:ln>
          </p:spPr>
          <p:txBody>
            <a:bodyPr wrap="none" lIns="0" tIns="0" rIns="0" bIns="0" anchor="t" anchorCtr="0">
              <a:spAutoFit/>
            </a:bodyPr>
            <a:lstStyle/>
            <a:p>
              <a:pPr algn="ctr"/>
              <a:r>
                <a:rPr lang="zh-CN" sz="1200" b="1" dirty="0">
                  <a:solidFill>
                    <a:srgbClr val="7A3E33"/>
                  </a:solidFill>
                  <a:latin typeface="+mn-lt"/>
                  <a:ea typeface="+mn-ea"/>
                  <a:cs typeface="+mn-cs"/>
                </a:rPr>
                <a:t>用户多维分层内容</a:t>
              </a:r>
            </a:p>
          </p:txBody>
        </p:sp>
        <p:sp>
          <p:nvSpPr>
            <p:cNvPr id="46" name="Ellipse 46"/>
            <p:cNvSpPr/>
            <p:nvPr/>
          </p:nvSpPr>
          <p:spPr>
            <a:xfrm>
              <a:off x="4410075" y="2362200"/>
              <a:ext cx="2609850" cy="2609850"/>
            </a:xfrm>
            <a:prstGeom prst="ellipse">
              <a:avLst/>
            </a:prstGeom>
            <a:noFill/>
            <a:ln w="323850">
              <a:solidFill>
                <a:srgbClr val="9C594C"/>
              </a:solidFill>
            </a:ln>
          </p:spPr>
        </p:sp>
        <p:sp>
          <p:nvSpPr>
            <p:cNvPr id="47" name="Freeform 47"/>
            <p:cNvSpPr/>
            <p:nvPr/>
          </p:nvSpPr>
          <p:spPr>
            <a:xfrm>
              <a:off x="4248150" y="2200275"/>
              <a:ext cx="2933700" cy="2933700"/>
            </a:xfrm>
            <a:prstGeom prst="blockArc">
              <a:avLst>
                <a:gd name="adj1" fmla="val 15000000"/>
                <a:gd name="adj2" fmla="val 17400000"/>
                <a:gd name="adj3" fmla="val 11039"/>
              </a:avLst>
            </a:prstGeom>
            <a:solidFill>
              <a:srgbClr val="C8E0B8"/>
            </a:solidFill>
            <a:ln>
              <a:noFill/>
            </a:ln>
          </p:spPr>
        </p:sp>
        <p:sp>
          <p:nvSpPr>
            <p:cNvPr id="48" name="TextBox 48"/>
            <p:cNvSpPr txBox="1"/>
            <p:nvPr/>
          </p:nvSpPr>
          <p:spPr>
            <a:xfrm>
              <a:off x="5599849" y="2387441"/>
              <a:ext cx="230302"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多样</a:t>
              </a:r>
            </a:p>
          </p:txBody>
        </p:sp>
        <p:sp>
          <p:nvSpPr>
            <p:cNvPr id="49" name="TextBox 49"/>
            <p:cNvSpPr txBox="1"/>
            <p:nvPr/>
          </p:nvSpPr>
          <p:spPr>
            <a:xfrm rot="-4200000">
              <a:off x="4363516" y="3173818"/>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促进</a:t>
              </a:r>
            </a:p>
          </p:txBody>
        </p:sp>
        <p:sp>
          <p:nvSpPr>
            <p:cNvPr id="50" name="TextBox 50"/>
            <p:cNvSpPr txBox="1"/>
            <p:nvPr/>
          </p:nvSpPr>
          <p:spPr>
            <a:xfrm rot="4200000">
              <a:off x="6836182" y="3173818"/>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发展</a:t>
              </a:r>
            </a:p>
          </p:txBody>
        </p:sp>
        <p:sp>
          <p:nvSpPr>
            <p:cNvPr id="51" name="TextBox 51"/>
            <p:cNvSpPr txBox="1"/>
            <p:nvPr/>
          </p:nvSpPr>
          <p:spPr>
            <a:xfrm>
              <a:off x="5599849" y="4921091"/>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增长</a:t>
              </a:r>
            </a:p>
          </p:txBody>
        </p:sp>
        <p:sp>
          <p:nvSpPr>
            <p:cNvPr id="52" name="TextBox 52"/>
            <p:cNvSpPr txBox="1"/>
            <p:nvPr/>
          </p:nvSpPr>
          <p:spPr>
            <a:xfrm rot="-3600000">
              <a:off x="4368646" y="4266009"/>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场域分析</a:t>
              </a:r>
            </a:p>
          </p:txBody>
        </p:sp>
        <p:sp>
          <p:nvSpPr>
            <p:cNvPr id="53" name="TextBox 53"/>
            <p:cNvSpPr txBox="1"/>
            <p:nvPr/>
          </p:nvSpPr>
          <p:spPr>
            <a:xfrm rot="3600000">
              <a:off x="6597487" y="4266009"/>
              <a:ext cx="51435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全渠道投放</a:t>
              </a:r>
            </a:p>
          </p:txBody>
        </p:sp>
        <p:sp>
          <p:nvSpPr>
            <p:cNvPr id="54" name="Polygon 54"/>
            <p:cNvSpPr/>
            <p:nvPr/>
          </p:nvSpPr>
          <p:spPr>
            <a:xfrm>
              <a:off x="4762500" y="2819400"/>
              <a:ext cx="1924050" cy="419100"/>
            </a:xfrm>
            <a:custGeom>
              <a:avLst/>
              <a:gdLst/>
              <a:ahLst/>
              <a:cxnLst/>
              <a:rect l="l" t="t" r="r" b="b"/>
              <a:pathLst>
                <a:path w="1924050" h="419100">
                  <a:moveTo>
                    <a:pt x="0" y="342900"/>
                  </a:moveTo>
                  <a:lnTo>
                    <a:pt x="285750" y="95250"/>
                  </a:lnTo>
                  <a:lnTo>
                    <a:pt x="571500" y="209550"/>
                  </a:lnTo>
                  <a:lnTo>
                    <a:pt x="857250" y="0"/>
                  </a:lnTo>
                  <a:lnTo>
                    <a:pt x="1143000" y="285750"/>
                  </a:lnTo>
                  <a:lnTo>
                    <a:pt x="1428750" y="38100"/>
                  </a:lnTo>
                  <a:lnTo>
                    <a:pt x="1714500" y="209550"/>
                  </a:lnTo>
                  <a:lnTo>
                    <a:pt x="1924050" y="342900"/>
                  </a:lnTo>
                  <a:lnTo>
                    <a:pt x="1924050" y="419100"/>
                  </a:lnTo>
                  <a:lnTo>
                    <a:pt x="0" y="419100"/>
                  </a:lnTo>
                  <a:close/>
                </a:path>
              </a:pathLst>
            </a:custGeom>
            <a:solidFill>
              <a:srgbClr val="FBF0D8"/>
            </a:solidFill>
            <a:ln w="9525">
              <a:solidFill>
                <a:srgbClr val="E9563C"/>
              </a:solidFill>
              <a:custDash>
                <a:ds d="300000" sp="200000"/>
              </a:custDash>
            </a:ln>
          </p:spPr>
        </p:sp>
        <p:sp>
          <p:nvSpPr>
            <p:cNvPr id="55" name="Rectangle 55"/>
            <p:cNvSpPr/>
            <p:nvPr/>
          </p:nvSpPr>
          <p:spPr>
            <a:xfrm>
              <a:off x="4762500" y="3257550"/>
              <a:ext cx="571500" cy="190500"/>
            </a:xfrm>
            <a:prstGeom prst="rect">
              <a:avLst/>
            </a:prstGeom>
            <a:solidFill>
              <a:srgbClr val="F4F8EF"/>
            </a:solidFill>
            <a:ln w="9525">
              <a:solidFill>
                <a:srgbClr val="C9D8BD"/>
              </a:solidFill>
            </a:ln>
          </p:spPr>
        </p:sp>
        <p:sp>
          <p:nvSpPr>
            <p:cNvPr id="56" name="TextBox 56"/>
            <p:cNvSpPr txBox="1"/>
            <p:nvPr/>
          </p:nvSpPr>
          <p:spPr>
            <a:xfrm>
              <a:off x="4942522" y="3309938"/>
              <a:ext cx="211455"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初期</a:t>
              </a:r>
            </a:p>
          </p:txBody>
        </p:sp>
        <p:sp>
          <p:nvSpPr>
            <p:cNvPr id="57" name="Rectangle 57"/>
            <p:cNvSpPr/>
            <p:nvPr/>
          </p:nvSpPr>
          <p:spPr>
            <a:xfrm>
              <a:off x="5429250" y="3257550"/>
              <a:ext cx="571500" cy="190500"/>
            </a:xfrm>
            <a:prstGeom prst="rect">
              <a:avLst/>
            </a:prstGeom>
            <a:solidFill>
              <a:srgbClr val="F4F8EF"/>
            </a:solidFill>
            <a:ln w="9525">
              <a:solidFill>
                <a:srgbClr val="C9D8BD"/>
              </a:solidFill>
            </a:ln>
          </p:spPr>
        </p:sp>
        <p:sp>
          <p:nvSpPr>
            <p:cNvPr id="58" name="TextBox 58"/>
            <p:cNvSpPr txBox="1"/>
            <p:nvPr/>
          </p:nvSpPr>
          <p:spPr>
            <a:xfrm>
              <a:off x="5609272" y="3309938"/>
              <a:ext cx="211455"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中期</a:t>
              </a:r>
            </a:p>
          </p:txBody>
        </p:sp>
        <p:sp>
          <p:nvSpPr>
            <p:cNvPr id="59" name="Rectangle 59"/>
            <p:cNvSpPr/>
            <p:nvPr/>
          </p:nvSpPr>
          <p:spPr>
            <a:xfrm>
              <a:off x="6096000" y="3257550"/>
              <a:ext cx="571500" cy="190500"/>
            </a:xfrm>
            <a:prstGeom prst="rect">
              <a:avLst/>
            </a:prstGeom>
            <a:solidFill>
              <a:srgbClr val="F4F8EF"/>
            </a:solidFill>
            <a:ln w="9525">
              <a:solidFill>
                <a:srgbClr val="C9D8BD"/>
              </a:solidFill>
            </a:ln>
          </p:spPr>
        </p:sp>
        <p:sp>
          <p:nvSpPr>
            <p:cNvPr id="60" name="TextBox 60"/>
            <p:cNvSpPr txBox="1"/>
            <p:nvPr/>
          </p:nvSpPr>
          <p:spPr>
            <a:xfrm>
              <a:off x="6276022" y="3309938"/>
              <a:ext cx="211455"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尾期</a:t>
              </a:r>
            </a:p>
          </p:txBody>
        </p:sp>
        <p:sp>
          <p:nvSpPr>
            <p:cNvPr id="61" name="Rectangle 61"/>
            <p:cNvSpPr/>
            <p:nvPr/>
          </p:nvSpPr>
          <p:spPr>
            <a:xfrm>
              <a:off x="4476750" y="3543300"/>
              <a:ext cx="2476500" cy="247650"/>
            </a:xfrm>
            <a:prstGeom prst="rect">
              <a:avLst/>
            </a:prstGeom>
            <a:solidFill>
              <a:srgbClr val="E9563C"/>
            </a:solidFill>
            <a:ln>
              <a:noFill/>
            </a:ln>
          </p:spPr>
        </p:sp>
        <p:sp>
          <p:nvSpPr>
            <p:cNvPr id="62" name="TextBox 62"/>
            <p:cNvSpPr txBox="1"/>
            <p:nvPr/>
          </p:nvSpPr>
          <p:spPr>
            <a:xfrm>
              <a:off x="5426964" y="36109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品牌资产</a:t>
              </a:r>
            </a:p>
          </p:txBody>
        </p:sp>
        <p:sp>
          <p:nvSpPr>
            <p:cNvPr id="63" name="TextBox 63"/>
            <p:cNvSpPr txBox="1"/>
            <p:nvPr/>
          </p:nvSpPr>
          <p:spPr>
            <a:xfrm>
              <a:off x="5489461" y="387334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市场份额</a:t>
              </a:r>
            </a:p>
          </p:txBody>
        </p:sp>
        <p:sp>
          <p:nvSpPr>
            <p:cNvPr id="64" name="TextBox 64"/>
            <p:cNvSpPr txBox="1"/>
            <p:nvPr/>
          </p:nvSpPr>
          <p:spPr>
            <a:xfrm>
              <a:off x="5074926" y="4072890"/>
              <a:ext cx="1280149" cy="352044"/>
            </a:xfrm>
            <a:prstGeom prst="rect">
              <a:avLst/>
            </a:prstGeom>
            <a:noFill/>
            <a:ln>
              <a:noFill/>
            </a:ln>
          </p:spPr>
          <p:txBody>
            <a:bodyPr wrap="none" lIns="0" tIns="0" rIns="0" bIns="0" anchor="t" anchorCtr="0">
              <a:spAutoFit/>
            </a:bodyPr>
            <a:lstStyle/>
            <a:p>
              <a:pPr algn="ctr"/>
              <a:r>
                <a:rPr lang="zh-CN" sz="1800" b="1" dirty="0">
                  <a:solidFill>
                    <a:srgbClr val="333333"/>
                  </a:solidFill>
                  <a:latin typeface="+mn-lt"/>
                  <a:ea typeface="+mn-ea"/>
                  <a:cs typeface="+mn-cs"/>
                </a:rPr>
                <a:t>产品 &gt; 用户</a:t>
              </a:r>
            </a:p>
          </p:txBody>
        </p:sp>
        <p:sp>
          <p:nvSpPr>
            <p:cNvPr id="65" name="Rectangle 65"/>
            <p:cNvSpPr/>
            <p:nvPr/>
          </p:nvSpPr>
          <p:spPr>
            <a:xfrm>
              <a:off x="5172075" y="4324350"/>
              <a:ext cx="523875" cy="190500"/>
            </a:xfrm>
            <a:prstGeom prst="rect">
              <a:avLst/>
            </a:prstGeom>
            <a:solidFill>
              <a:srgbClr val="FBF0D8"/>
            </a:solidFill>
            <a:ln>
              <a:noFill/>
            </a:ln>
          </p:spPr>
        </p:sp>
        <p:sp>
          <p:nvSpPr>
            <p:cNvPr id="66" name="TextBox 66"/>
            <p:cNvSpPr txBox="1"/>
            <p:nvPr/>
          </p:nvSpPr>
          <p:spPr>
            <a:xfrm>
              <a:off x="5233327" y="4380786"/>
              <a:ext cx="391846"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场景分布</a:t>
              </a:r>
            </a:p>
          </p:txBody>
        </p:sp>
        <p:sp>
          <p:nvSpPr>
            <p:cNvPr id="67" name="Rectangle 67"/>
            <p:cNvSpPr/>
            <p:nvPr/>
          </p:nvSpPr>
          <p:spPr>
            <a:xfrm>
              <a:off x="5743575" y="4324350"/>
              <a:ext cx="523875" cy="190500"/>
            </a:xfrm>
            <a:prstGeom prst="rect">
              <a:avLst/>
            </a:prstGeom>
            <a:solidFill>
              <a:srgbClr val="FBF0D8"/>
            </a:solidFill>
            <a:ln>
              <a:noFill/>
            </a:ln>
          </p:spPr>
        </p:sp>
        <p:sp>
          <p:nvSpPr>
            <p:cNvPr id="68" name="TextBox 68"/>
            <p:cNvSpPr txBox="1"/>
            <p:nvPr/>
          </p:nvSpPr>
          <p:spPr>
            <a:xfrm>
              <a:off x="5804827" y="4380786"/>
              <a:ext cx="391846" cy="140494"/>
            </a:xfrm>
            <a:prstGeom prst="rect">
              <a:avLst/>
            </a:prstGeom>
            <a:noFill/>
            <a:ln>
              <a:noFill/>
            </a:ln>
          </p:spPr>
          <p:txBody>
            <a:bodyPr wrap="none" lIns="0" tIns="0" rIns="0" bIns="0" anchor="t" anchorCtr="0">
              <a:spAutoFit/>
            </a:bodyPr>
            <a:lstStyle/>
            <a:p>
              <a:pPr algn="ctr"/>
              <a:r>
                <a:rPr lang="zh-CN" sz="710" dirty="0">
                  <a:solidFill>
                    <a:srgbClr val="8A2210"/>
                  </a:solidFill>
                  <a:latin typeface="+mn-lt"/>
                  <a:ea typeface="+mn-ea"/>
                  <a:cs typeface="+mn-cs"/>
                </a:rPr>
                <a:t>用户转化</a:t>
              </a:r>
            </a:p>
          </p:txBody>
        </p:sp>
        <p:sp>
          <p:nvSpPr>
            <p:cNvPr id="69" name="TextBox 69"/>
            <p:cNvSpPr txBox="1"/>
            <p:nvPr/>
          </p:nvSpPr>
          <p:spPr>
            <a:xfrm>
              <a:off x="5286184" y="5255895"/>
              <a:ext cx="857631"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探索最精确的点</a:t>
              </a:r>
            </a:p>
          </p:txBody>
        </p:sp>
        <p:sp>
          <p:nvSpPr>
            <p:cNvPr id="70" name="Freeform 70"/>
            <p:cNvSpPr/>
            <p:nvPr/>
          </p:nvSpPr>
          <p:spPr>
            <a:xfrm>
              <a:off x="3952706" y="2428875"/>
              <a:ext cx="381169" cy="2333625"/>
            </a:xfrm>
            <a:custGeom>
              <a:avLst/>
              <a:gdLst/>
              <a:ahLst/>
              <a:cxnLst/>
              <a:rect l="l" t="t" r="r" b="b"/>
              <a:pathLst>
                <a:path w="381169" h="2333625">
                  <a:moveTo>
                    <a:pt x="381169" y="2333625"/>
                  </a:moveTo>
                  <a:cubicBezTo>
                    <a:pt x="0" y="1602444"/>
                    <a:pt x="0" y="731181"/>
                    <a:pt x="381169" y="0"/>
                  </a:cubicBezTo>
                </a:path>
              </a:pathLst>
            </a:custGeom>
            <a:noFill/>
            <a:ln w="14288">
              <a:solidFill>
                <a:srgbClr val="9C594C"/>
              </a:solidFill>
              <a:custDash>
                <a:ds d="333333" sp="266667"/>
              </a:custDash>
              <a:tailEnd type="triangle" w="lg" len="lg"/>
            </a:ln>
          </p:spPr>
        </p:sp>
        <p:sp>
          <p:nvSpPr>
            <p:cNvPr id="71" name="TextBox 71"/>
            <p:cNvSpPr txBox="1"/>
            <p:nvPr/>
          </p:nvSpPr>
          <p:spPr>
            <a:xfrm rot="-5400000">
              <a:off x="3685699" y="3526631"/>
              <a:ext cx="615315" cy="147638"/>
            </a:xfrm>
            <a:prstGeom prst="rect">
              <a:avLst/>
            </a:prstGeom>
            <a:noFill/>
            <a:ln>
              <a:noFill/>
            </a:ln>
          </p:spPr>
          <p:txBody>
            <a:bodyPr wrap="none" lIns="0" tIns="0" rIns="0" bIns="0" anchor="t" anchorCtr="0">
              <a:spAutoFit/>
            </a:bodyPr>
            <a:lstStyle/>
            <a:p>
              <a:pPr algn="ctr"/>
              <a:r>
                <a:rPr lang="zh-CN" sz="750" dirty="0">
                  <a:solidFill>
                    <a:srgbClr val="7A3E33"/>
                  </a:solidFill>
                  <a:latin typeface="+mn-lt"/>
                  <a:ea typeface="+mn-ea"/>
                  <a:cs typeface="+mn-cs"/>
                </a:rPr>
                <a:t>应用激活留存</a:t>
              </a:r>
            </a:p>
          </p:txBody>
        </p:sp>
        <p:sp>
          <p:nvSpPr>
            <p:cNvPr id="72" name="Freeform 72"/>
            <p:cNvSpPr/>
            <p:nvPr/>
          </p:nvSpPr>
          <p:spPr>
            <a:xfrm>
              <a:off x="7096125" y="2428875"/>
              <a:ext cx="381169" cy="2333625"/>
            </a:xfrm>
            <a:custGeom>
              <a:avLst/>
              <a:gdLst/>
              <a:ahLst/>
              <a:cxnLst/>
              <a:rect l="l" t="t" r="r" b="b"/>
              <a:pathLst>
                <a:path w="381169" h="2333625">
                  <a:moveTo>
                    <a:pt x="0" y="0"/>
                  </a:moveTo>
                  <a:cubicBezTo>
                    <a:pt x="381169" y="731181"/>
                    <a:pt x="381169" y="1602444"/>
                    <a:pt x="0" y="2333625"/>
                  </a:cubicBezTo>
                </a:path>
              </a:pathLst>
            </a:custGeom>
            <a:noFill/>
            <a:ln w="14288">
              <a:solidFill>
                <a:srgbClr val="E9563C"/>
              </a:solidFill>
              <a:custDash>
                <a:ds d="333333" sp="266667"/>
              </a:custDash>
              <a:tailEnd type="triangle" w="lg" len="lg"/>
            </a:ln>
          </p:spPr>
        </p:sp>
        <p:sp>
          <p:nvSpPr>
            <p:cNvPr id="73" name="TextBox 73"/>
            <p:cNvSpPr txBox="1"/>
            <p:nvPr/>
          </p:nvSpPr>
          <p:spPr>
            <a:xfrm rot="5400000">
              <a:off x="7128986" y="3526631"/>
              <a:ext cx="615315" cy="147638"/>
            </a:xfrm>
            <a:prstGeom prst="rect">
              <a:avLst/>
            </a:prstGeom>
            <a:noFill/>
            <a:ln>
              <a:noFill/>
            </a:ln>
          </p:spPr>
          <p:txBody>
            <a:bodyPr wrap="none" lIns="0" tIns="0" rIns="0" bIns="0" anchor="t" anchorCtr="0">
              <a:spAutoFit/>
            </a:bodyPr>
            <a:lstStyle/>
            <a:p>
              <a:pPr algn="ctr"/>
              <a:r>
                <a:rPr lang="zh-CN" sz="750" dirty="0">
                  <a:solidFill>
                    <a:srgbClr val="D6391E"/>
                  </a:solidFill>
                  <a:latin typeface="+mn-lt"/>
                  <a:ea typeface="+mn-ea"/>
                  <a:cs typeface="+mn-cs"/>
                </a:rPr>
                <a:t>次日再次启动</a:t>
              </a:r>
            </a:p>
          </p:txBody>
        </p:sp>
      </p:grpSp>
      <p:grpSp>
        <p:nvGrpSpPr>
          <p:cNvPr id="101" name="col3-leads"/>
          <p:cNvGrpSpPr/>
          <p:nvPr/>
        </p:nvGrpSpPr>
        <p:grpSpPr>
          <a:xfrm>
            <a:off x="9334500" y="1524000"/>
            <a:ext cx="2476500" cy="2247900"/>
            <a:chOff x="9334500" y="1524000"/>
            <a:chExt cx="2476500" cy="2247900"/>
          </a:xfrm>
        </p:grpSpPr>
        <p:sp>
          <p:nvSpPr>
            <p:cNvPr id="75" name="Rectangle 75"/>
            <p:cNvSpPr/>
            <p:nvPr/>
          </p:nvSpPr>
          <p:spPr>
            <a:xfrm>
              <a:off x="9334500" y="1524000"/>
              <a:ext cx="1190625" cy="228600"/>
            </a:xfrm>
            <a:prstGeom prst="rect">
              <a:avLst/>
            </a:prstGeom>
            <a:solidFill>
              <a:srgbClr val="E9563C"/>
            </a:solidFill>
            <a:ln>
              <a:noFill/>
            </a:ln>
          </p:spPr>
        </p:sp>
        <p:sp>
          <p:nvSpPr>
            <p:cNvPr id="76" name="TextBox 76"/>
            <p:cNvSpPr txBox="1"/>
            <p:nvPr/>
          </p:nvSpPr>
          <p:spPr>
            <a:xfrm>
              <a:off x="9601238" y="1600914"/>
              <a:ext cx="6476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线索维护管理</a:t>
              </a:r>
            </a:p>
          </p:txBody>
        </p:sp>
        <p:sp>
          <p:nvSpPr>
            <p:cNvPr id="77" name="Rectangle 77"/>
            <p:cNvSpPr/>
            <p:nvPr/>
          </p:nvSpPr>
          <p:spPr>
            <a:xfrm>
              <a:off x="9334500" y="1752600"/>
              <a:ext cx="1190625" cy="1714500"/>
            </a:xfrm>
            <a:prstGeom prst="rect">
              <a:avLst/>
            </a:prstGeom>
            <a:solidFill>
              <a:srgbClr val="FDF6E7"/>
            </a:solidFill>
            <a:ln>
              <a:noFill/>
            </a:ln>
          </p:spPr>
        </p:sp>
        <p:sp>
          <p:nvSpPr>
            <p:cNvPr id="78" name="TextBox 78"/>
            <p:cNvSpPr txBox="1"/>
            <p:nvPr/>
          </p:nvSpPr>
          <p:spPr>
            <a:xfrm>
              <a:off x="9739948" y="1904286"/>
              <a:ext cx="37020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D6391E"/>
                  </a:solidFill>
                  <a:latin typeface="+mn-lt"/>
                  <a:ea typeface="+mn-ea"/>
                  <a:cs typeface="+mn-cs"/>
                </a:rPr>
                <a:t>线索</a:t>
              </a:r>
              <a:br/>
              <a:r>
                <a:rPr lang="zh-CN" sz="710" dirty="0">
                  <a:solidFill>
                    <a:srgbClr val="D6391E"/>
                  </a:solidFill>
                  <a:latin typeface="+mn-lt"/>
                  <a:ea typeface="+mn-ea"/>
                  <a:cs typeface="+mn-cs"/>
                </a:rPr>
                <a:t>信息获取</a:t>
              </a:r>
            </a:p>
          </p:txBody>
        </p:sp>
        <p:sp>
          <p:nvSpPr>
            <p:cNvPr id="79" name="Line 79"/>
            <p:cNvSpPr/>
            <p:nvPr/>
          </p:nvSpPr>
          <p:spPr>
            <a:xfrm>
              <a:off x="9429750" y="2247900"/>
              <a:ext cx="1000125" cy="9525"/>
            </a:xfrm>
            <a:custGeom>
              <a:avLst/>
              <a:gdLst/>
              <a:ahLst/>
              <a:cxnLst/>
              <a:rect l="l" t="t" r="r" b="b"/>
              <a:pathLst>
                <a:path w="1000125" h="9525">
                  <a:moveTo>
                    <a:pt x="0" y="0"/>
                  </a:moveTo>
                  <a:lnTo>
                    <a:pt x="1000125" y="0"/>
                  </a:lnTo>
                </a:path>
              </a:pathLst>
            </a:custGeom>
            <a:noFill/>
            <a:ln w="9525">
              <a:solidFill>
                <a:srgbClr val="E9563C"/>
              </a:solidFill>
              <a:custDash>
                <a:ds d="300000" sp="200000"/>
              </a:custDash>
            </a:ln>
          </p:spPr>
        </p:sp>
        <p:sp>
          <p:nvSpPr>
            <p:cNvPr id="80" name="TextBox 80"/>
            <p:cNvSpPr txBox="1"/>
            <p:nvPr/>
          </p:nvSpPr>
          <p:spPr>
            <a:xfrm>
              <a:off x="9739948" y="2380536"/>
              <a:ext cx="37020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D6391E"/>
                  </a:solidFill>
                  <a:latin typeface="+mn-lt"/>
                  <a:ea typeface="+mn-ea"/>
                  <a:cs typeface="+mn-cs"/>
                </a:rPr>
                <a:t>线索</a:t>
              </a:r>
              <a:br/>
              <a:r>
                <a:rPr lang="zh-CN" sz="710" dirty="0">
                  <a:solidFill>
                    <a:srgbClr val="D6391E"/>
                  </a:solidFill>
                  <a:latin typeface="+mn-lt"/>
                  <a:ea typeface="+mn-ea"/>
                  <a:cs typeface="+mn-cs"/>
                </a:rPr>
                <a:t>数据分析</a:t>
              </a:r>
            </a:p>
          </p:txBody>
        </p:sp>
        <p:sp>
          <p:nvSpPr>
            <p:cNvPr id="81" name="Line 81"/>
            <p:cNvSpPr/>
            <p:nvPr/>
          </p:nvSpPr>
          <p:spPr>
            <a:xfrm>
              <a:off x="9429750" y="2724150"/>
              <a:ext cx="1000125" cy="9525"/>
            </a:xfrm>
            <a:custGeom>
              <a:avLst/>
              <a:gdLst/>
              <a:ahLst/>
              <a:cxnLst/>
              <a:rect l="l" t="t" r="r" b="b"/>
              <a:pathLst>
                <a:path w="1000125" h="9525">
                  <a:moveTo>
                    <a:pt x="0" y="0"/>
                  </a:moveTo>
                  <a:lnTo>
                    <a:pt x="1000125" y="0"/>
                  </a:lnTo>
                </a:path>
              </a:pathLst>
            </a:custGeom>
            <a:noFill/>
            <a:ln w="9525">
              <a:solidFill>
                <a:srgbClr val="E9563C"/>
              </a:solidFill>
              <a:custDash>
                <a:ds d="300000" sp="200000"/>
              </a:custDash>
            </a:ln>
          </p:spPr>
        </p:sp>
        <p:sp>
          <p:nvSpPr>
            <p:cNvPr id="82" name="TextBox 82"/>
            <p:cNvSpPr txBox="1"/>
            <p:nvPr/>
          </p:nvSpPr>
          <p:spPr>
            <a:xfrm>
              <a:off x="9739948" y="2856786"/>
              <a:ext cx="37020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D6391E"/>
                  </a:solidFill>
                  <a:latin typeface="+mn-lt"/>
                  <a:ea typeface="+mn-ea"/>
                  <a:cs typeface="+mn-cs"/>
                </a:rPr>
                <a:t>线索</a:t>
              </a:r>
              <a:br/>
              <a:r>
                <a:rPr lang="zh-CN" sz="710" dirty="0">
                  <a:solidFill>
                    <a:srgbClr val="D6391E"/>
                  </a:solidFill>
                  <a:latin typeface="+mn-lt"/>
                  <a:ea typeface="+mn-ea"/>
                  <a:cs typeface="+mn-cs"/>
                </a:rPr>
                <a:t>维护跟进</a:t>
              </a:r>
            </a:p>
          </p:txBody>
        </p:sp>
        <p:sp>
          <p:nvSpPr>
            <p:cNvPr id="83" name="Line 83"/>
            <p:cNvSpPr/>
            <p:nvPr/>
          </p:nvSpPr>
          <p:spPr>
            <a:xfrm>
              <a:off x="9429750" y="3200400"/>
              <a:ext cx="1000125" cy="9525"/>
            </a:xfrm>
            <a:custGeom>
              <a:avLst/>
              <a:gdLst/>
              <a:ahLst/>
              <a:cxnLst/>
              <a:rect l="l" t="t" r="r" b="b"/>
              <a:pathLst>
                <a:path w="1000125" h="9525">
                  <a:moveTo>
                    <a:pt x="0" y="0"/>
                  </a:moveTo>
                  <a:lnTo>
                    <a:pt x="1000125" y="0"/>
                  </a:lnTo>
                </a:path>
              </a:pathLst>
            </a:custGeom>
            <a:noFill/>
            <a:ln w="9525">
              <a:solidFill>
                <a:srgbClr val="E9563C"/>
              </a:solidFill>
              <a:custDash>
                <a:ds d="300000" sp="200000"/>
              </a:custDash>
            </a:ln>
          </p:spPr>
        </p:sp>
        <p:sp>
          <p:nvSpPr>
            <p:cNvPr id="84" name="TextBox 84"/>
            <p:cNvSpPr txBox="1"/>
            <p:nvPr/>
          </p:nvSpPr>
          <p:spPr>
            <a:xfrm>
              <a:off x="9739948" y="3333036"/>
              <a:ext cx="37020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D6391E"/>
                  </a:solidFill>
                  <a:latin typeface="+mn-lt"/>
                  <a:ea typeface="+mn-ea"/>
                  <a:cs typeface="+mn-cs"/>
                </a:rPr>
                <a:t>线索</a:t>
              </a:r>
              <a:br/>
              <a:r>
                <a:rPr lang="zh-CN" sz="710" dirty="0">
                  <a:solidFill>
                    <a:srgbClr val="D6391E"/>
                  </a:solidFill>
                  <a:latin typeface="+mn-lt"/>
                  <a:ea typeface="+mn-ea"/>
                  <a:cs typeface="+mn-cs"/>
                </a:rPr>
                <a:t>状态变更</a:t>
              </a:r>
            </a:p>
          </p:txBody>
        </p:sp>
        <p:sp>
          <p:nvSpPr>
            <p:cNvPr id="85" name="Freeform 85"/>
            <p:cNvSpPr/>
            <p:nvPr/>
          </p:nvSpPr>
          <p:spPr>
            <a:xfrm>
              <a:off x="10553700" y="1933575"/>
              <a:ext cx="247650" cy="171450"/>
            </a:xfrm>
            <a:prstGeom prst="rightArrow">
              <a:avLst/>
            </a:prstGeom>
            <a:solidFill>
              <a:srgbClr val="E9563C"/>
            </a:solidFill>
            <a:ln>
              <a:noFill/>
            </a:ln>
          </p:spPr>
        </p:sp>
        <p:sp>
          <p:nvSpPr>
            <p:cNvPr id="86" name="Freeform 86"/>
            <p:cNvSpPr/>
            <p:nvPr/>
          </p:nvSpPr>
          <p:spPr>
            <a:xfrm>
              <a:off x="10553700" y="2409825"/>
              <a:ext cx="247650" cy="171450"/>
            </a:xfrm>
            <a:prstGeom prst="rightArrow">
              <a:avLst/>
            </a:prstGeom>
            <a:solidFill>
              <a:srgbClr val="E9563C"/>
            </a:solidFill>
            <a:ln>
              <a:noFill/>
            </a:ln>
          </p:spPr>
        </p:sp>
        <p:sp>
          <p:nvSpPr>
            <p:cNvPr id="87" name="Freeform 87"/>
            <p:cNvSpPr/>
            <p:nvPr/>
          </p:nvSpPr>
          <p:spPr>
            <a:xfrm>
              <a:off x="10553700" y="2886075"/>
              <a:ext cx="247650" cy="171450"/>
            </a:xfrm>
            <a:prstGeom prst="rightArrow">
              <a:avLst/>
            </a:prstGeom>
            <a:solidFill>
              <a:srgbClr val="E9563C"/>
            </a:solidFill>
            <a:ln>
              <a:noFill/>
            </a:ln>
          </p:spPr>
        </p:sp>
        <p:sp>
          <p:nvSpPr>
            <p:cNvPr id="88" name="Freeform 88"/>
            <p:cNvSpPr/>
            <p:nvPr/>
          </p:nvSpPr>
          <p:spPr>
            <a:xfrm>
              <a:off x="10553700" y="3362325"/>
              <a:ext cx="247650" cy="171450"/>
            </a:xfrm>
            <a:prstGeom prst="rightArrow">
              <a:avLst/>
            </a:prstGeom>
            <a:solidFill>
              <a:srgbClr val="E9563C"/>
            </a:solidFill>
            <a:ln>
              <a:noFill/>
            </a:ln>
          </p:spPr>
        </p:sp>
        <p:sp>
          <p:nvSpPr>
            <p:cNvPr id="89" name="Rectangle 89"/>
            <p:cNvSpPr/>
            <p:nvPr/>
          </p:nvSpPr>
          <p:spPr>
            <a:xfrm>
              <a:off x="10839450" y="1524000"/>
              <a:ext cx="971550" cy="228600"/>
            </a:xfrm>
            <a:prstGeom prst="rect">
              <a:avLst/>
            </a:prstGeom>
            <a:solidFill>
              <a:srgbClr val="9C594C"/>
            </a:solidFill>
            <a:ln>
              <a:noFill/>
            </a:ln>
          </p:spPr>
        </p:sp>
        <p:sp>
          <p:nvSpPr>
            <p:cNvPr id="90" name="TextBox 90"/>
            <p:cNvSpPr txBox="1"/>
            <p:nvPr/>
          </p:nvSpPr>
          <p:spPr>
            <a:xfrm>
              <a:off x="11001413" y="1600914"/>
              <a:ext cx="6476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线索维护管理</a:t>
              </a:r>
            </a:p>
          </p:txBody>
        </p:sp>
        <p:sp>
          <p:nvSpPr>
            <p:cNvPr id="91" name="Rectangle 91"/>
            <p:cNvSpPr/>
            <p:nvPr/>
          </p:nvSpPr>
          <p:spPr>
            <a:xfrm>
              <a:off x="10839450" y="1752600"/>
              <a:ext cx="971550" cy="1714500"/>
            </a:xfrm>
            <a:prstGeom prst="rect">
              <a:avLst/>
            </a:prstGeom>
            <a:solidFill>
              <a:srgbClr val="F4F8EF"/>
            </a:solidFill>
            <a:ln>
              <a:noFill/>
            </a:ln>
          </p:spPr>
        </p:sp>
        <p:sp>
          <p:nvSpPr>
            <p:cNvPr id="92" name="TextBox 92"/>
            <p:cNvSpPr txBox="1"/>
            <p:nvPr/>
          </p:nvSpPr>
          <p:spPr>
            <a:xfrm>
              <a:off x="11107763" y="1972389"/>
              <a:ext cx="43492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持续运营</a:t>
              </a:r>
            </a:p>
          </p:txBody>
        </p:sp>
        <p:sp>
          <p:nvSpPr>
            <p:cNvPr id="93" name="Line 93"/>
            <p:cNvSpPr/>
            <p:nvPr/>
          </p:nvSpPr>
          <p:spPr>
            <a:xfrm>
              <a:off x="10934700" y="2247900"/>
              <a:ext cx="781050" cy="9525"/>
            </a:xfrm>
            <a:custGeom>
              <a:avLst/>
              <a:gdLst/>
              <a:ahLst/>
              <a:cxnLst/>
              <a:rect l="l" t="t" r="r" b="b"/>
              <a:pathLst>
                <a:path w="781050" h="9525">
                  <a:moveTo>
                    <a:pt x="0" y="0"/>
                  </a:moveTo>
                  <a:lnTo>
                    <a:pt x="781050" y="0"/>
                  </a:lnTo>
                </a:path>
              </a:pathLst>
            </a:custGeom>
            <a:noFill/>
            <a:ln w="9525">
              <a:solidFill>
                <a:srgbClr val="C9D8BD"/>
              </a:solidFill>
              <a:custDash>
                <a:ds d="300000" sp="200000"/>
              </a:custDash>
            </a:ln>
          </p:spPr>
        </p:sp>
        <p:sp>
          <p:nvSpPr>
            <p:cNvPr id="94" name="TextBox 94"/>
            <p:cNvSpPr txBox="1"/>
            <p:nvPr/>
          </p:nvSpPr>
          <p:spPr>
            <a:xfrm>
              <a:off x="11107763" y="2448639"/>
              <a:ext cx="43492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增购复购</a:t>
              </a:r>
            </a:p>
          </p:txBody>
        </p:sp>
        <p:sp>
          <p:nvSpPr>
            <p:cNvPr id="95" name="Line 95"/>
            <p:cNvSpPr/>
            <p:nvPr/>
          </p:nvSpPr>
          <p:spPr>
            <a:xfrm>
              <a:off x="10934700" y="2724150"/>
              <a:ext cx="781050" cy="9525"/>
            </a:xfrm>
            <a:custGeom>
              <a:avLst/>
              <a:gdLst/>
              <a:ahLst/>
              <a:cxnLst/>
              <a:rect l="l" t="t" r="r" b="b"/>
              <a:pathLst>
                <a:path w="781050" h="9525">
                  <a:moveTo>
                    <a:pt x="0" y="0"/>
                  </a:moveTo>
                  <a:lnTo>
                    <a:pt x="781050" y="0"/>
                  </a:lnTo>
                </a:path>
              </a:pathLst>
            </a:custGeom>
            <a:noFill/>
            <a:ln w="9525">
              <a:solidFill>
                <a:srgbClr val="C9D8BD"/>
              </a:solidFill>
              <a:custDash>
                <a:ds d="300000" sp="200000"/>
              </a:custDash>
            </a:ln>
          </p:spPr>
        </p:sp>
        <p:sp>
          <p:nvSpPr>
            <p:cNvPr id="96" name="TextBox 96"/>
            <p:cNvSpPr txBox="1"/>
            <p:nvPr/>
          </p:nvSpPr>
          <p:spPr>
            <a:xfrm>
              <a:off x="11107763" y="2924889"/>
              <a:ext cx="43492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口碑传播</a:t>
              </a:r>
            </a:p>
          </p:txBody>
        </p:sp>
        <p:sp>
          <p:nvSpPr>
            <p:cNvPr id="97" name="Line 97"/>
            <p:cNvSpPr/>
            <p:nvPr/>
          </p:nvSpPr>
          <p:spPr>
            <a:xfrm>
              <a:off x="10934700" y="3200400"/>
              <a:ext cx="781050" cy="9525"/>
            </a:xfrm>
            <a:custGeom>
              <a:avLst/>
              <a:gdLst/>
              <a:ahLst/>
              <a:cxnLst/>
              <a:rect l="l" t="t" r="r" b="b"/>
              <a:pathLst>
                <a:path w="781050" h="9525">
                  <a:moveTo>
                    <a:pt x="0" y="0"/>
                  </a:moveTo>
                  <a:lnTo>
                    <a:pt x="781050" y="0"/>
                  </a:lnTo>
                </a:path>
              </a:pathLst>
            </a:custGeom>
            <a:noFill/>
            <a:ln w="9525">
              <a:solidFill>
                <a:srgbClr val="C9D8BD"/>
              </a:solidFill>
              <a:custDash>
                <a:ds d="300000" sp="200000"/>
              </a:custDash>
            </a:ln>
          </p:spPr>
        </p:sp>
        <p:sp>
          <p:nvSpPr>
            <p:cNvPr id="98" name="TextBox 98"/>
            <p:cNvSpPr txBox="1"/>
            <p:nvPr/>
          </p:nvSpPr>
          <p:spPr>
            <a:xfrm>
              <a:off x="11054588" y="3401139"/>
              <a:ext cx="54127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老带新裂变</a:t>
              </a:r>
            </a:p>
          </p:txBody>
        </p:sp>
        <p:sp>
          <p:nvSpPr>
            <p:cNvPr id="99" name="Polyline 99"/>
            <p:cNvSpPr/>
            <p:nvPr/>
          </p:nvSpPr>
          <p:spPr>
            <a:xfrm>
              <a:off x="9334500" y="3581400"/>
              <a:ext cx="2476500" cy="76200"/>
            </a:xfrm>
            <a:custGeom>
              <a:avLst/>
              <a:gdLst/>
              <a:ahLst/>
              <a:cxnLst/>
              <a:rect l="l" t="t" r="r" b="b"/>
              <a:pathLst>
                <a:path w="2476500" h="76200">
                  <a:moveTo>
                    <a:pt x="0" y="0"/>
                  </a:moveTo>
                  <a:lnTo>
                    <a:pt x="0" y="76200"/>
                  </a:lnTo>
                  <a:lnTo>
                    <a:pt x="2476500" y="76200"/>
                  </a:lnTo>
                  <a:lnTo>
                    <a:pt x="2476500" y="0"/>
                  </a:lnTo>
                </a:path>
              </a:pathLst>
            </a:custGeom>
            <a:noFill/>
            <a:ln w="11430">
              <a:solidFill>
                <a:srgbClr val="E9563C"/>
              </a:solidFill>
            </a:ln>
          </p:spPr>
        </p:sp>
        <p:sp>
          <p:nvSpPr>
            <p:cNvPr id="100" name="Line 100"/>
            <p:cNvSpPr/>
            <p:nvPr/>
          </p:nvSpPr>
          <p:spPr>
            <a:xfrm>
              <a:off x="10572750" y="3657600"/>
              <a:ext cx="9525" cy="114300"/>
            </a:xfrm>
            <a:custGeom>
              <a:avLst/>
              <a:gdLst/>
              <a:ahLst/>
              <a:cxnLst/>
              <a:rect l="l" t="t" r="r" b="b"/>
              <a:pathLst>
                <a:path w="9525" h="114300">
                  <a:moveTo>
                    <a:pt x="0" y="0"/>
                  </a:moveTo>
                  <a:lnTo>
                    <a:pt x="0" y="114300"/>
                  </a:lnTo>
                </a:path>
              </a:pathLst>
            </a:custGeom>
            <a:noFill/>
            <a:ln w="11430">
              <a:solidFill>
                <a:srgbClr val="E9563C"/>
              </a:solidFill>
            </a:ln>
          </p:spPr>
        </p:sp>
      </p:grpSp>
      <p:grpSp>
        <p:nvGrpSpPr>
          <p:cNvPr id="108" name="col3-scenario"/>
          <p:cNvGrpSpPr/>
          <p:nvPr/>
        </p:nvGrpSpPr>
        <p:grpSpPr>
          <a:xfrm>
            <a:off x="10096500" y="3848100"/>
            <a:ext cx="952500" cy="526970"/>
            <a:chOff x="10096500" y="3848100"/>
            <a:chExt cx="952500" cy="526970"/>
          </a:xfrm>
        </p:grpSpPr>
        <p:sp>
          <p:nvSpPr>
            <p:cNvPr id="102" name="Rectangle 102"/>
            <p:cNvSpPr/>
            <p:nvPr/>
          </p:nvSpPr>
          <p:spPr>
            <a:xfrm>
              <a:off x="10096500" y="3848100"/>
              <a:ext cx="952500" cy="247650"/>
            </a:xfrm>
            <a:prstGeom prst="roundRect">
              <a:avLst>
                <a:gd name="adj" fmla="val 15385"/>
              </a:avLst>
            </a:prstGeom>
            <a:solidFill>
              <a:srgbClr val="FFFFFF"/>
            </a:solidFill>
            <a:ln w="11430">
              <a:solidFill>
                <a:srgbClr val="E9563C"/>
              </a:solidFill>
            </a:ln>
          </p:spPr>
        </p:sp>
        <p:grpSp>
          <p:nvGrpSpPr>
            <p:cNvPr id="105" name="Group 105"/>
            <p:cNvGrpSpPr/>
            <p:nvPr/>
          </p:nvGrpSpPr>
          <p:grpSpPr>
            <a:xfrm>
              <a:off x="10186930" y="3919480"/>
              <a:ext cx="104891" cy="104891"/>
              <a:chOff x="10186930" y="3919480"/>
              <a:chExt cx="104891" cy="104891"/>
            </a:xfrm>
          </p:grpSpPr>
          <p:sp>
            <p:nvSpPr>
              <p:cNvPr id="103" name="Freeform 103"/>
              <p:cNvSpPr/>
              <p:nvPr/>
            </p:nvSpPr>
            <p:spPr>
              <a:xfrm>
                <a:off x="10186930" y="3919480"/>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D6391E"/>
                </a:solidFill>
              </a:ln>
            </p:spPr>
          </p:sp>
          <p:sp>
            <p:nvSpPr>
              <p:cNvPr id="104" name="Freeform 104"/>
              <p:cNvSpPr/>
              <p:nvPr/>
            </p:nvSpPr>
            <p:spPr>
              <a:xfrm>
                <a:off x="10222706" y="3955256"/>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D6391E"/>
                </a:solidFill>
              </a:ln>
            </p:spPr>
          </p:sp>
        </p:grpSp>
        <p:sp>
          <p:nvSpPr>
            <p:cNvPr id="106" name="TextBox 106"/>
            <p:cNvSpPr txBox="1"/>
            <p:nvPr/>
          </p:nvSpPr>
          <p:spPr>
            <a:xfrm>
              <a:off x="10401872" y="3922395"/>
              <a:ext cx="494157" cy="176212"/>
            </a:xfrm>
            <a:prstGeom prst="rect">
              <a:avLst/>
            </a:prstGeom>
            <a:noFill/>
            <a:ln>
              <a:noFill/>
            </a:ln>
          </p:spPr>
          <p:txBody>
            <a:bodyPr wrap="none" lIns="0" tIns="0" rIns="0" bIns="0" anchor="t" anchorCtr="0">
              <a:spAutoFit/>
            </a:bodyPr>
            <a:lstStyle/>
            <a:p>
              <a:pPr algn="ctr"/>
              <a:r>
                <a:rPr lang="zh-CN" sz="900" b="1" dirty="0">
                  <a:solidFill>
                    <a:srgbClr val="8A2210"/>
                  </a:solidFill>
                  <a:latin typeface="+mn-lt"/>
                  <a:ea typeface="+mn-ea"/>
                  <a:cs typeface="+mn-cs"/>
                </a:rPr>
                <a:t>应用场景</a:t>
              </a:r>
            </a:p>
          </p:txBody>
        </p:sp>
        <p:sp>
          <p:nvSpPr>
            <p:cNvPr id="107" name="TextBox 107"/>
            <p:cNvSpPr txBox="1"/>
            <p:nvPr/>
          </p:nvSpPr>
          <p:spPr>
            <a:xfrm>
              <a:off x="10355288" y="4220289"/>
              <a:ext cx="434924" cy="154781"/>
            </a:xfrm>
            <a:prstGeom prst="rect">
              <a:avLst/>
            </a:prstGeom>
            <a:noFill/>
            <a:ln>
              <a:noFill/>
            </a:ln>
          </p:spPr>
          <p:txBody>
            <a:bodyPr wrap="none" lIns="0" tIns="0" rIns="0" bIns="0" anchor="t" anchorCtr="0">
              <a:spAutoFit/>
            </a:bodyPr>
            <a:lstStyle/>
            <a:p>
              <a:pPr algn="ctr"/>
              <a:r>
                <a:rPr lang="zh-CN" sz="790" dirty="0">
                  <a:solidFill>
                    <a:srgbClr val="D6391E"/>
                  </a:solidFill>
                  <a:latin typeface="+mn-lt"/>
                  <a:ea typeface="+mn-ea"/>
                  <a:cs typeface="+mn-cs"/>
                </a:rPr>
                <a:t>相互发展</a:t>
              </a:r>
            </a:p>
          </p:txBody>
        </p:sp>
      </p:grpSp>
      <p:grpSp>
        <p:nvGrpSpPr>
          <p:cNvPr id="111" name="page-footer"/>
          <p:cNvGrpSpPr/>
          <p:nvPr/>
        </p:nvGrpSpPr>
        <p:grpSpPr>
          <a:xfrm>
            <a:off x="376238" y="6689884"/>
            <a:ext cx="11439524" cy="133350"/>
            <a:chOff x="376238" y="6689884"/>
            <a:chExt cx="11439524" cy="133350"/>
          </a:xfrm>
        </p:grpSpPr>
        <p:sp>
          <p:nvSpPr>
            <p:cNvPr id="109" name="TextBox 109"/>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10" name="TextBox 110"/>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20</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14" name="vtext-left"/>
          <p:cNvGrpSpPr/>
          <p:nvPr/>
        </p:nvGrpSpPr>
        <p:grpSpPr>
          <a:xfrm>
            <a:off x="489204" y="1066800"/>
            <a:ext cx="587121" cy="4324350"/>
            <a:chOff x="489204" y="1066800"/>
            <a:chExt cx="587121" cy="4324350"/>
          </a:xfrm>
        </p:grpSpPr>
        <p:sp>
          <p:nvSpPr>
            <p:cNvPr id="8" name="TextBox 8"/>
            <p:cNvSpPr txBox="1"/>
            <p:nvPr/>
          </p:nvSpPr>
          <p:spPr>
            <a:xfrm>
              <a:off x="489204" y="1127760"/>
              <a:ext cx="164592" cy="4235196"/>
            </a:xfrm>
            <a:prstGeom prst="rect">
              <a:avLst/>
            </a:prstGeom>
            <a:noFill/>
            <a:ln>
              <a:noFill/>
            </a:ln>
          </p:spPr>
          <p:txBody>
            <a:bodyPr wrap="none" lIns="0" tIns="0" rIns="0" bIns="0" anchor="t" anchorCtr="0">
              <a:spAutoFit/>
            </a:bodyPr>
            <a:lstStyle/>
            <a:p>
              <a:pPr algn="ctr">
                <a:lnSpc>
                  <a:spcPts val="2250"/>
                </a:lnSpc>
              </a:pPr>
              <a:r>
                <a:rPr lang="zh-CN" sz="1200" b="1" dirty="0">
                  <a:solidFill>
                    <a:srgbClr val="333333"/>
                  </a:solidFill>
                  <a:latin typeface="+mn-lt"/>
                  <a:ea typeface="+mn-ea"/>
                  <a:cs typeface="+mn-cs"/>
                </a:rPr>
                <a:t>用</a:t>
              </a:r>
              <a:br/>
              <a:r>
                <a:rPr lang="zh-CN" sz="1200" b="1" dirty="0">
                  <a:solidFill>
                    <a:srgbClr val="333333"/>
                  </a:solidFill>
                  <a:latin typeface="+mn-lt"/>
                  <a:ea typeface="+mn-ea"/>
                  <a:cs typeface="+mn-cs"/>
                </a:rPr>
                <a:t>户</a:t>
              </a:r>
              <a:br/>
              <a:r>
                <a:rPr lang="zh-CN" sz="1200" b="1" dirty="0">
                  <a:solidFill>
                    <a:srgbClr val="333333"/>
                  </a:solidFill>
                  <a:latin typeface="+mn-lt"/>
                  <a:ea typeface="+mn-ea"/>
                  <a:cs typeface="+mn-cs"/>
                </a:rPr>
                <a:t>自</a:t>
              </a:r>
              <a:br/>
              <a:r>
                <a:rPr lang="zh-CN" sz="1200" b="1" dirty="0">
                  <a:solidFill>
                    <a:srgbClr val="333333"/>
                  </a:solidFill>
                  <a:latin typeface="+mn-lt"/>
                  <a:ea typeface="+mn-ea"/>
                  <a:cs typeface="+mn-cs"/>
                </a:rPr>
                <a:t>主</a:t>
              </a:r>
              <a:br/>
              <a:r>
                <a:rPr lang="zh-CN" sz="1200" b="1" dirty="0">
                  <a:solidFill>
                    <a:srgbClr val="333333"/>
                  </a:solidFill>
                  <a:latin typeface="+mn-lt"/>
                  <a:ea typeface="+mn-ea"/>
                  <a:cs typeface="+mn-cs"/>
                </a:rPr>
                <a:t>购</a:t>
              </a:r>
              <a:br/>
              <a:r>
                <a:rPr lang="zh-CN" sz="1200" b="1" dirty="0">
                  <a:solidFill>
                    <a:srgbClr val="333333"/>
                  </a:solidFill>
                  <a:latin typeface="+mn-lt"/>
                  <a:ea typeface="+mn-ea"/>
                  <a:cs typeface="+mn-cs"/>
                </a:rPr>
                <a:t>买</a:t>
              </a:r>
              <a:br/>
              <a:r>
                <a:rPr lang="zh-CN" sz="1200" b="1" dirty="0">
                  <a:solidFill>
                    <a:srgbClr val="333333"/>
                  </a:solidFill>
                  <a:latin typeface="+mn-lt"/>
                  <a:ea typeface="+mn-ea"/>
                  <a:cs typeface="+mn-cs"/>
                </a:rPr>
                <a:t>高</a:t>
              </a:r>
              <a:br/>
              <a:r>
                <a:rPr lang="zh-CN" sz="1200" b="1" dirty="0">
                  <a:solidFill>
                    <a:srgbClr val="333333"/>
                  </a:solidFill>
                  <a:latin typeface="+mn-lt"/>
                  <a:ea typeface="+mn-ea"/>
                  <a:cs typeface="+mn-cs"/>
                </a:rPr>
                <a:t>端</a:t>
              </a:r>
              <a:br/>
              <a:r>
                <a:rPr lang="zh-CN" sz="1200" b="1" dirty="0">
                  <a:solidFill>
                    <a:srgbClr val="333333"/>
                  </a:solidFill>
                  <a:latin typeface="+mn-lt"/>
                  <a:ea typeface="+mn-ea"/>
                  <a:cs typeface="+mn-cs"/>
                </a:rPr>
                <a:t>产</a:t>
              </a:r>
              <a:br/>
              <a:r>
                <a:rPr lang="zh-CN" sz="1200" b="1" dirty="0">
                  <a:solidFill>
                    <a:srgbClr val="333333"/>
                  </a:solidFill>
                  <a:latin typeface="+mn-lt"/>
                  <a:ea typeface="+mn-ea"/>
                  <a:cs typeface="+mn-cs"/>
                </a:rPr>
                <a:t>品</a:t>
              </a:r>
              <a:br/>
              <a:r>
                <a:rPr lang="zh-CN" sz="1200" b="1" dirty="0">
                  <a:solidFill>
                    <a:srgbClr val="333333"/>
                  </a:solidFill>
                  <a:latin typeface="+mn-lt"/>
                  <a:ea typeface="+mn-ea"/>
                  <a:cs typeface="+mn-cs"/>
                </a:rPr>
                <a:t>的</a:t>
              </a:r>
              <a:br/>
              <a:r>
                <a:rPr lang="zh-CN" sz="1200" b="1" dirty="0">
                  <a:solidFill>
                    <a:srgbClr val="333333"/>
                  </a:solidFill>
                  <a:latin typeface="+mn-lt"/>
                  <a:ea typeface="+mn-ea"/>
                  <a:cs typeface="+mn-cs"/>
                </a:rPr>
                <a:t>阻</a:t>
              </a:r>
              <a:br/>
              <a:r>
                <a:rPr lang="zh-CN" sz="1200" b="1" dirty="0">
                  <a:solidFill>
                    <a:srgbClr val="333333"/>
                  </a:solidFill>
                  <a:latin typeface="+mn-lt"/>
                  <a:ea typeface="+mn-ea"/>
                  <a:cs typeface="+mn-cs"/>
                </a:rPr>
                <a:t>碍</a:t>
              </a:r>
              <a:br/>
              <a:r>
                <a:rPr lang="zh-CN" sz="1200" b="1" dirty="0">
                  <a:solidFill>
                    <a:srgbClr val="333333"/>
                  </a:solidFill>
                  <a:latin typeface="+mn-lt"/>
                  <a:ea typeface="+mn-ea"/>
                  <a:cs typeface="+mn-cs"/>
                </a:rPr>
                <a:t>力</a:t>
              </a:r>
              <a:br/>
              <a:r>
                <a:rPr lang="zh-CN" sz="1200" b="1" dirty="0">
                  <a:solidFill>
                    <a:srgbClr val="333333"/>
                  </a:solidFill>
                  <a:latin typeface="+mn-lt"/>
                  <a:ea typeface="+mn-ea"/>
                  <a:cs typeface="+mn-cs"/>
                </a:rPr>
                <a:t>大</a:t>
              </a:r>
            </a:p>
          </p:txBody>
        </p:sp>
        <p:sp>
          <p:nvSpPr>
            <p:cNvPr id="9" name="TextBox 9"/>
            <p:cNvSpPr txBox="1"/>
            <p:nvPr/>
          </p:nvSpPr>
          <p:spPr>
            <a:xfrm>
              <a:off x="828358" y="1260634"/>
              <a:ext cx="95885" cy="66675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起</a:t>
              </a:r>
              <a:br/>
              <a:r>
                <a:rPr lang="zh-CN" sz="680" dirty="0">
                  <a:solidFill>
                    <a:srgbClr val="595959"/>
                  </a:solidFill>
                  <a:latin typeface="+mn-lt"/>
                  <a:ea typeface="+mn-ea"/>
                  <a:cs typeface="+mn-cs"/>
                </a:rPr>
                <a:t>购</a:t>
              </a:r>
              <a:br/>
              <a:r>
                <a:rPr lang="zh-CN" sz="680" dirty="0">
                  <a:solidFill>
                    <a:srgbClr val="595959"/>
                  </a:solidFill>
                  <a:latin typeface="+mn-lt"/>
                  <a:ea typeface="+mn-ea"/>
                  <a:cs typeface="+mn-cs"/>
                </a:rPr>
                <a:t>门</a:t>
              </a:r>
              <a:br/>
              <a:r>
                <a:rPr lang="zh-CN" sz="680" dirty="0">
                  <a:solidFill>
                    <a:srgbClr val="595959"/>
                  </a:solidFill>
                  <a:latin typeface="+mn-lt"/>
                  <a:ea typeface="+mn-ea"/>
                  <a:cs typeface="+mn-cs"/>
                </a:rPr>
                <a:t>槛</a:t>
              </a:r>
              <a:br/>
              <a:r>
                <a:rPr lang="zh-CN" sz="680" dirty="0">
                  <a:solidFill>
                    <a:srgbClr val="595959"/>
                  </a:solidFill>
                  <a:latin typeface="+mn-lt"/>
                  <a:ea typeface="+mn-ea"/>
                  <a:cs typeface="+mn-cs"/>
                </a:rPr>
                <a:t>高</a:t>
              </a:r>
            </a:p>
          </p:txBody>
        </p:sp>
        <p:sp>
          <p:nvSpPr>
            <p:cNvPr id="10" name="TextBox 10"/>
            <p:cNvSpPr txBox="1"/>
            <p:nvPr/>
          </p:nvSpPr>
          <p:spPr>
            <a:xfrm>
              <a:off x="828358" y="2213134"/>
              <a:ext cx="95885" cy="80010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收</a:t>
              </a:r>
              <a:br/>
              <a:r>
                <a:rPr lang="zh-CN" sz="680" dirty="0">
                  <a:solidFill>
                    <a:srgbClr val="595959"/>
                  </a:solidFill>
                  <a:latin typeface="+mn-lt"/>
                  <a:ea typeface="+mn-ea"/>
                  <a:cs typeface="+mn-cs"/>
                </a:rPr>
                <a:t>益</a:t>
              </a:r>
              <a:br/>
              <a:r>
                <a:rPr lang="zh-CN" sz="680" dirty="0">
                  <a:solidFill>
                    <a:srgbClr val="595959"/>
                  </a:solidFill>
                  <a:latin typeface="+mn-lt"/>
                  <a:ea typeface="+mn-ea"/>
                  <a:cs typeface="+mn-cs"/>
                </a:rPr>
                <a:t>风</a:t>
              </a:r>
              <a:br/>
              <a:r>
                <a:rPr lang="zh-CN" sz="680" dirty="0">
                  <a:solidFill>
                    <a:srgbClr val="595959"/>
                  </a:solidFill>
                  <a:latin typeface="+mn-lt"/>
                  <a:ea typeface="+mn-ea"/>
                  <a:cs typeface="+mn-cs"/>
                </a:rPr>
                <a:t>险</a:t>
              </a:r>
              <a:br/>
              <a:r>
                <a:rPr lang="zh-CN" sz="680" dirty="0">
                  <a:solidFill>
                    <a:srgbClr val="595959"/>
                  </a:solidFill>
                  <a:latin typeface="+mn-lt"/>
                  <a:ea typeface="+mn-ea"/>
                  <a:cs typeface="+mn-cs"/>
                </a:rPr>
                <a:t>顾</a:t>
              </a:r>
              <a:br/>
              <a:r>
                <a:rPr lang="zh-CN" sz="680" dirty="0">
                  <a:solidFill>
                    <a:srgbClr val="595959"/>
                  </a:solidFill>
                  <a:latin typeface="+mn-lt"/>
                  <a:ea typeface="+mn-ea"/>
                  <a:cs typeface="+mn-cs"/>
                </a:rPr>
                <a:t>虑</a:t>
              </a:r>
            </a:p>
          </p:txBody>
        </p:sp>
        <p:sp>
          <p:nvSpPr>
            <p:cNvPr id="11" name="TextBox 11"/>
            <p:cNvSpPr txBox="1"/>
            <p:nvPr/>
          </p:nvSpPr>
          <p:spPr>
            <a:xfrm>
              <a:off x="828358" y="3260884"/>
              <a:ext cx="95885" cy="80010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品</a:t>
              </a:r>
              <a:br/>
              <a:r>
                <a:rPr lang="zh-CN" sz="680" dirty="0">
                  <a:solidFill>
                    <a:srgbClr val="595959"/>
                  </a:solidFill>
                  <a:latin typeface="+mn-lt"/>
                  <a:ea typeface="+mn-ea"/>
                  <a:cs typeface="+mn-cs"/>
                </a:rPr>
                <a:t>牌</a:t>
              </a:r>
              <a:br/>
              <a:r>
                <a:rPr lang="zh-CN" sz="680" dirty="0">
                  <a:solidFill>
                    <a:srgbClr val="595959"/>
                  </a:solidFill>
                  <a:latin typeface="+mn-lt"/>
                  <a:ea typeface="+mn-ea"/>
                  <a:cs typeface="+mn-cs"/>
                </a:rPr>
                <a:t>安</a:t>
              </a:r>
              <a:br/>
              <a:r>
                <a:rPr lang="zh-CN" sz="680" dirty="0">
                  <a:solidFill>
                    <a:srgbClr val="595959"/>
                  </a:solidFill>
                  <a:latin typeface="+mn-lt"/>
                  <a:ea typeface="+mn-ea"/>
                  <a:cs typeface="+mn-cs"/>
                </a:rPr>
                <a:t>全</a:t>
              </a:r>
              <a:br/>
              <a:r>
                <a:rPr lang="zh-CN" sz="680" dirty="0">
                  <a:solidFill>
                    <a:srgbClr val="595959"/>
                  </a:solidFill>
                  <a:latin typeface="+mn-lt"/>
                  <a:ea typeface="+mn-ea"/>
                  <a:cs typeface="+mn-cs"/>
                </a:rPr>
                <a:t>担</a:t>
              </a:r>
              <a:br/>
              <a:r>
                <a:rPr lang="zh-CN" sz="680" dirty="0">
                  <a:solidFill>
                    <a:srgbClr val="595959"/>
                  </a:solidFill>
                  <a:latin typeface="+mn-lt"/>
                  <a:ea typeface="+mn-ea"/>
                  <a:cs typeface="+mn-cs"/>
                </a:rPr>
                <a:t>忧</a:t>
              </a:r>
            </a:p>
          </p:txBody>
        </p:sp>
        <p:sp>
          <p:nvSpPr>
            <p:cNvPr id="12" name="TextBox 12"/>
            <p:cNvSpPr txBox="1"/>
            <p:nvPr/>
          </p:nvSpPr>
          <p:spPr>
            <a:xfrm>
              <a:off x="828358" y="4308634"/>
              <a:ext cx="95885" cy="80010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操</a:t>
              </a:r>
              <a:br/>
              <a:r>
                <a:rPr lang="zh-CN" sz="680" dirty="0">
                  <a:solidFill>
                    <a:srgbClr val="595959"/>
                  </a:solidFill>
                  <a:latin typeface="+mn-lt"/>
                  <a:ea typeface="+mn-ea"/>
                  <a:cs typeface="+mn-cs"/>
                </a:rPr>
                <a:t>作</a:t>
              </a:r>
              <a:br/>
              <a:r>
                <a:rPr lang="zh-CN" sz="680" dirty="0">
                  <a:solidFill>
                    <a:srgbClr val="595959"/>
                  </a:solidFill>
                  <a:latin typeface="+mn-lt"/>
                  <a:ea typeface="+mn-ea"/>
                  <a:cs typeface="+mn-cs"/>
                </a:rPr>
                <a:t>流</a:t>
              </a:r>
              <a:br/>
              <a:r>
                <a:rPr lang="zh-CN" sz="680" dirty="0">
                  <a:solidFill>
                    <a:srgbClr val="595959"/>
                  </a:solidFill>
                  <a:latin typeface="+mn-lt"/>
                  <a:ea typeface="+mn-ea"/>
                  <a:cs typeface="+mn-cs"/>
                </a:rPr>
                <a:t>程</a:t>
              </a:r>
              <a:br/>
              <a:r>
                <a:rPr lang="zh-CN" sz="680" dirty="0">
                  <a:solidFill>
                    <a:srgbClr val="595959"/>
                  </a:solidFill>
                  <a:latin typeface="+mn-lt"/>
                  <a:ea typeface="+mn-ea"/>
                  <a:cs typeface="+mn-cs"/>
                </a:rPr>
                <a:t>繁</a:t>
              </a:r>
              <a:br/>
              <a:r>
                <a:rPr lang="zh-CN" sz="680" dirty="0">
                  <a:solidFill>
                    <a:srgbClr val="595959"/>
                  </a:solidFill>
                  <a:latin typeface="+mn-lt"/>
                  <a:ea typeface="+mn-ea"/>
                  <a:cs typeface="+mn-cs"/>
                </a:rPr>
                <a:t>琐</a:t>
              </a:r>
            </a:p>
          </p:txBody>
        </p:sp>
        <p:sp>
          <p:nvSpPr>
            <p:cNvPr id="13" name="Line 13"/>
            <p:cNvSpPr/>
            <p:nvPr/>
          </p:nvSpPr>
          <p:spPr>
            <a:xfrm>
              <a:off x="1066800" y="1066800"/>
              <a:ext cx="9525" cy="4324350"/>
            </a:xfrm>
            <a:custGeom>
              <a:avLst/>
              <a:gdLst/>
              <a:ahLst/>
              <a:cxnLst/>
              <a:rect l="l" t="t" r="r" b="b"/>
              <a:pathLst>
                <a:path w="9525" h="4324350">
                  <a:moveTo>
                    <a:pt x="0" y="0"/>
                  </a:moveTo>
                  <a:lnTo>
                    <a:pt x="0" y="4324350"/>
                  </a:lnTo>
                </a:path>
              </a:pathLst>
            </a:custGeom>
            <a:noFill/>
            <a:ln w="9525">
              <a:solidFill>
                <a:srgbClr val="C9D8BD"/>
              </a:solidFill>
            </a:ln>
          </p:spPr>
        </p:sp>
      </p:grpSp>
      <p:grpSp>
        <p:nvGrpSpPr>
          <p:cNvPr id="40" name="hdr-left"/>
          <p:cNvGrpSpPr/>
          <p:nvPr/>
        </p:nvGrpSpPr>
        <p:grpSpPr>
          <a:xfrm>
            <a:off x="1503617" y="988695"/>
            <a:ext cx="707516" cy="2218135"/>
            <a:chOff x="1503617" y="988695"/>
            <a:chExt cx="707516" cy="2218135"/>
          </a:xfrm>
        </p:grpSpPr>
        <p:sp>
          <p:nvSpPr>
            <p:cNvPr id="15" name="TextBox 15"/>
            <p:cNvSpPr txBox="1"/>
            <p:nvPr/>
          </p:nvSpPr>
          <p:spPr>
            <a:xfrm>
              <a:off x="1549718" y="988695"/>
              <a:ext cx="615315"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全渠道整合</a:t>
              </a:r>
            </a:p>
          </p:txBody>
        </p:sp>
        <p:sp>
          <p:nvSpPr>
            <p:cNvPr id="16" name="TextBox 16"/>
            <p:cNvSpPr txBox="1"/>
            <p:nvPr/>
          </p:nvSpPr>
          <p:spPr>
            <a:xfrm>
              <a:off x="1532217" y="1165384"/>
              <a:ext cx="650316" cy="133350"/>
            </a:xfrm>
            <a:prstGeom prst="rect">
              <a:avLst/>
            </a:prstGeom>
            <a:noFill/>
            <a:ln>
              <a:noFill/>
            </a:ln>
          </p:spPr>
          <p:txBody>
            <a:bodyPr wrap="none" lIns="0" tIns="0" rIns="0" bIns="0" anchor="t" anchorCtr="0">
              <a:spAutoFit/>
            </a:bodyPr>
            <a:lstStyle/>
            <a:p>
              <a:pPr algn="ctr"/>
              <a:r>
                <a:rPr lang="zh-CN" sz="680" dirty="0">
                  <a:solidFill>
                    <a:srgbClr val="8C8C8C"/>
                  </a:solidFill>
                  <a:latin typeface="+mn-lt"/>
                  <a:ea typeface="+mn-ea"/>
                  <a:cs typeface="+mn-cs"/>
                </a:rPr>
                <a:t>关注客户精准度</a:t>
              </a:r>
            </a:p>
          </p:txBody>
        </p:sp>
        <p:grpSp>
          <p:nvGrpSpPr>
            <p:cNvPr id="21" name="Group 21"/>
            <p:cNvGrpSpPr/>
            <p:nvPr/>
          </p:nvGrpSpPr>
          <p:grpSpPr>
            <a:xfrm>
              <a:off x="1640681" y="1412081"/>
              <a:ext cx="128588" cy="128588"/>
              <a:chOff x="1640681" y="1412081"/>
              <a:chExt cx="128588" cy="128588"/>
            </a:xfrm>
          </p:grpSpPr>
          <p:sp>
            <p:nvSpPr>
              <p:cNvPr id="17" name="Freeform 17"/>
              <p:cNvSpPr/>
              <p:nvPr/>
            </p:nvSpPr>
            <p:spPr>
              <a:xfrm>
                <a:off x="1654969" y="14120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D6391E"/>
                </a:solidFill>
              </a:ln>
            </p:spPr>
          </p:sp>
          <p:sp>
            <p:nvSpPr>
              <p:cNvPr id="18" name="Freeform 18"/>
              <p:cNvSpPr/>
              <p:nvPr/>
            </p:nvSpPr>
            <p:spPr>
              <a:xfrm>
                <a:off x="1640681" y="14978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D6391E"/>
                </a:solidFill>
              </a:ln>
            </p:spPr>
          </p:sp>
          <p:sp>
            <p:nvSpPr>
              <p:cNvPr id="19" name="Freeform 19"/>
              <p:cNvSpPr/>
              <p:nvPr/>
            </p:nvSpPr>
            <p:spPr>
              <a:xfrm>
                <a:off x="1733550" y="1413010"/>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D6391E"/>
                </a:solidFill>
              </a:ln>
            </p:spPr>
          </p:sp>
          <p:sp>
            <p:nvSpPr>
              <p:cNvPr id="20" name="Freeform 20"/>
              <p:cNvSpPr/>
              <p:nvPr/>
            </p:nvSpPr>
            <p:spPr>
              <a:xfrm>
                <a:off x="1747838" y="1498878"/>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D6391E"/>
                </a:solidFill>
              </a:ln>
            </p:spPr>
          </p:sp>
        </p:grpSp>
        <p:sp>
          <p:nvSpPr>
            <p:cNvPr id="22" name="TextBox 22"/>
            <p:cNvSpPr txBox="1"/>
            <p:nvPr/>
          </p:nvSpPr>
          <p:spPr>
            <a:xfrm>
              <a:off x="1613662" y="1637586"/>
              <a:ext cx="48742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企业通讯录</a:t>
              </a:r>
            </a:p>
          </p:txBody>
        </p:sp>
        <p:sp>
          <p:nvSpPr>
            <p:cNvPr id="23" name="TextBox 23"/>
            <p:cNvSpPr txBox="1"/>
            <p:nvPr/>
          </p:nvSpPr>
          <p:spPr>
            <a:xfrm>
              <a:off x="1522379" y="1757124"/>
              <a:ext cx="669993"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Corporate Directory</a:t>
              </a:r>
            </a:p>
          </p:txBody>
        </p:sp>
        <p:sp>
          <p:nvSpPr>
            <p:cNvPr id="24" name="Freeform 24"/>
            <p:cNvSpPr/>
            <p:nvPr/>
          </p:nvSpPr>
          <p:spPr>
            <a:xfrm>
              <a:off x="1785766" y="1889939"/>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D6391E"/>
              </a:solidFill>
            </a:ln>
          </p:spPr>
        </p:sp>
        <p:sp>
          <p:nvSpPr>
            <p:cNvPr id="25" name="TextBox 25"/>
            <p:cNvSpPr txBox="1"/>
            <p:nvPr/>
          </p:nvSpPr>
          <p:spPr>
            <a:xfrm>
              <a:off x="1661452" y="2113836"/>
              <a:ext cx="39184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及时沟通</a:t>
              </a:r>
            </a:p>
          </p:txBody>
        </p:sp>
        <p:sp>
          <p:nvSpPr>
            <p:cNvPr id="26" name="TextBox 26"/>
            <p:cNvSpPr txBox="1"/>
            <p:nvPr/>
          </p:nvSpPr>
          <p:spPr>
            <a:xfrm>
              <a:off x="1510176" y="2233374"/>
              <a:ext cx="694397"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Communicate in timer</a:t>
              </a:r>
            </a:p>
          </p:txBody>
        </p:sp>
        <p:grpSp>
          <p:nvGrpSpPr>
            <p:cNvPr id="30" name="Group 30"/>
            <p:cNvGrpSpPr/>
            <p:nvPr/>
          </p:nvGrpSpPr>
          <p:grpSpPr>
            <a:xfrm>
              <a:off x="1807369" y="2364581"/>
              <a:ext cx="100012" cy="128588"/>
              <a:chOff x="1807369" y="2364581"/>
              <a:chExt cx="100012" cy="128588"/>
            </a:xfrm>
          </p:grpSpPr>
          <p:sp>
            <p:nvSpPr>
              <p:cNvPr id="27" name="Freeform 27"/>
              <p:cNvSpPr/>
              <p:nvPr/>
            </p:nvSpPr>
            <p:spPr>
              <a:xfrm>
                <a:off x="1807369" y="2407444"/>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D6391E"/>
                </a:solidFill>
              </a:ln>
            </p:spPr>
          </p:sp>
          <p:sp>
            <p:nvSpPr>
              <p:cNvPr id="28" name="Freeform 28"/>
              <p:cNvSpPr/>
              <p:nvPr/>
            </p:nvSpPr>
            <p:spPr>
              <a:xfrm>
                <a:off x="1857375" y="2364581"/>
                <a:ext cx="9525" cy="78581"/>
              </a:xfrm>
              <a:custGeom>
                <a:avLst/>
                <a:gdLst/>
                <a:ahLst/>
                <a:cxnLst/>
                <a:rect l="l" t="t" r="r" b="b"/>
                <a:pathLst>
                  <a:path w="9525" h="78581">
                    <a:moveTo>
                      <a:pt x="0" y="78581"/>
                    </a:moveTo>
                    <a:lnTo>
                      <a:pt x="0" y="0"/>
                    </a:lnTo>
                  </a:path>
                </a:pathLst>
              </a:custGeom>
              <a:noFill/>
              <a:ln w="14288">
                <a:solidFill>
                  <a:srgbClr val="D6391E"/>
                </a:solidFill>
              </a:ln>
            </p:spPr>
          </p:sp>
          <p:sp>
            <p:nvSpPr>
              <p:cNvPr id="29" name="Freeform 29"/>
              <p:cNvSpPr/>
              <p:nvPr/>
            </p:nvSpPr>
            <p:spPr>
              <a:xfrm>
                <a:off x="1835944" y="2364581"/>
                <a:ext cx="42862" cy="21431"/>
              </a:xfrm>
              <a:custGeom>
                <a:avLst/>
                <a:gdLst/>
                <a:ahLst/>
                <a:cxnLst/>
                <a:rect l="l" t="t" r="r" b="b"/>
                <a:pathLst>
                  <a:path w="42862" h="21431">
                    <a:moveTo>
                      <a:pt x="0" y="21431"/>
                    </a:moveTo>
                    <a:lnTo>
                      <a:pt x="21431" y="0"/>
                    </a:lnTo>
                    <a:lnTo>
                      <a:pt x="42862" y="21431"/>
                    </a:lnTo>
                  </a:path>
                </a:pathLst>
              </a:custGeom>
              <a:noFill/>
              <a:ln w="14288">
                <a:solidFill>
                  <a:srgbClr val="D6391E"/>
                </a:solidFill>
              </a:ln>
            </p:spPr>
          </p:sp>
        </p:grpSp>
        <p:sp>
          <p:nvSpPr>
            <p:cNvPr id="31" name="TextBox 31"/>
            <p:cNvSpPr txBox="1"/>
            <p:nvPr/>
          </p:nvSpPr>
          <p:spPr>
            <a:xfrm>
              <a:off x="1661452" y="2590086"/>
              <a:ext cx="39184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分享协作</a:t>
              </a:r>
            </a:p>
          </p:txBody>
        </p:sp>
        <p:sp>
          <p:nvSpPr>
            <p:cNvPr id="32" name="TextBox 32"/>
            <p:cNvSpPr txBox="1"/>
            <p:nvPr/>
          </p:nvSpPr>
          <p:spPr>
            <a:xfrm>
              <a:off x="1503617" y="2709624"/>
              <a:ext cx="707516"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Share and collaborate</a:t>
              </a:r>
            </a:p>
          </p:txBody>
        </p:sp>
        <p:grpSp>
          <p:nvGrpSpPr>
            <p:cNvPr id="38" name="Group 38"/>
            <p:cNvGrpSpPr/>
            <p:nvPr/>
          </p:nvGrpSpPr>
          <p:grpSpPr>
            <a:xfrm>
              <a:off x="1807369" y="2840831"/>
              <a:ext cx="100012" cy="128588"/>
              <a:chOff x="1807369" y="2840831"/>
              <a:chExt cx="100012" cy="128588"/>
            </a:xfrm>
          </p:grpSpPr>
          <p:sp>
            <p:nvSpPr>
              <p:cNvPr id="33" name="Freeform 33"/>
              <p:cNvSpPr/>
              <p:nvPr/>
            </p:nvSpPr>
            <p:spPr>
              <a:xfrm>
                <a:off x="1871662" y="284083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D6391E"/>
                </a:solidFill>
              </a:ln>
            </p:spPr>
          </p:sp>
          <p:sp>
            <p:nvSpPr>
              <p:cNvPr id="34" name="Freeform 34"/>
              <p:cNvSpPr/>
              <p:nvPr/>
            </p:nvSpPr>
            <p:spPr>
              <a:xfrm>
                <a:off x="1807369" y="284083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D6391E"/>
                </a:solidFill>
              </a:ln>
            </p:spPr>
          </p:sp>
          <p:sp>
            <p:nvSpPr>
              <p:cNvPr id="35" name="Freeform 35"/>
              <p:cNvSpPr/>
              <p:nvPr/>
            </p:nvSpPr>
            <p:spPr>
              <a:xfrm>
                <a:off x="1835944" y="2883694"/>
                <a:ext cx="9525" cy="9525"/>
              </a:xfrm>
              <a:custGeom>
                <a:avLst/>
                <a:gdLst/>
                <a:ahLst/>
                <a:cxnLst/>
                <a:rect l="l" t="t" r="r" b="b"/>
                <a:pathLst>
                  <a:path w="9525" h="9525">
                    <a:moveTo>
                      <a:pt x="0" y="0"/>
                    </a:moveTo>
                    <a:lnTo>
                      <a:pt x="7144" y="0"/>
                    </a:lnTo>
                  </a:path>
                </a:pathLst>
              </a:custGeom>
              <a:noFill/>
              <a:ln w="14288">
                <a:solidFill>
                  <a:srgbClr val="D6391E"/>
                </a:solidFill>
              </a:ln>
            </p:spPr>
          </p:sp>
          <p:sp>
            <p:nvSpPr>
              <p:cNvPr id="36" name="Freeform 36"/>
              <p:cNvSpPr/>
              <p:nvPr/>
            </p:nvSpPr>
            <p:spPr>
              <a:xfrm>
                <a:off x="1835944" y="2912269"/>
                <a:ext cx="42862" cy="9525"/>
              </a:xfrm>
              <a:custGeom>
                <a:avLst/>
                <a:gdLst/>
                <a:ahLst/>
                <a:cxnLst/>
                <a:rect l="l" t="t" r="r" b="b"/>
                <a:pathLst>
                  <a:path w="42862" h="9525">
                    <a:moveTo>
                      <a:pt x="0" y="0"/>
                    </a:moveTo>
                    <a:lnTo>
                      <a:pt x="42862" y="0"/>
                    </a:lnTo>
                  </a:path>
                </a:pathLst>
              </a:custGeom>
              <a:noFill/>
              <a:ln w="14288">
                <a:solidFill>
                  <a:srgbClr val="D6391E"/>
                </a:solidFill>
              </a:ln>
            </p:spPr>
          </p:sp>
          <p:sp>
            <p:nvSpPr>
              <p:cNvPr id="37" name="Freeform 37"/>
              <p:cNvSpPr/>
              <p:nvPr/>
            </p:nvSpPr>
            <p:spPr>
              <a:xfrm>
                <a:off x="1835944" y="2940844"/>
                <a:ext cx="42862" cy="9525"/>
              </a:xfrm>
              <a:custGeom>
                <a:avLst/>
                <a:gdLst/>
                <a:ahLst/>
                <a:cxnLst/>
                <a:rect l="l" t="t" r="r" b="b"/>
                <a:pathLst>
                  <a:path w="42862" h="9525">
                    <a:moveTo>
                      <a:pt x="0" y="0"/>
                    </a:moveTo>
                    <a:lnTo>
                      <a:pt x="42862" y="0"/>
                    </a:lnTo>
                  </a:path>
                </a:pathLst>
              </a:custGeom>
              <a:noFill/>
              <a:ln w="14288">
                <a:solidFill>
                  <a:srgbClr val="D6391E"/>
                </a:solidFill>
              </a:ln>
            </p:spPr>
          </p:sp>
        </p:grpSp>
        <p:sp>
          <p:nvSpPr>
            <p:cNvPr id="39" name="TextBox 39"/>
            <p:cNvSpPr txBox="1"/>
            <p:nvPr/>
          </p:nvSpPr>
          <p:spPr>
            <a:xfrm>
              <a:off x="1661452" y="3066336"/>
              <a:ext cx="39184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报表订阅</a:t>
              </a:r>
            </a:p>
          </p:txBody>
        </p:sp>
      </p:grpSp>
      <p:grpSp>
        <p:nvGrpSpPr>
          <p:cNvPr id="49" name="hdr-left-2"/>
          <p:cNvGrpSpPr/>
          <p:nvPr/>
        </p:nvGrpSpPr>
        <p:grpSpPr>
          <a:xfrm>
            <a:off x="1513541" y="3281124"/>
            <a:ext cx="687668" cy="564356"/>
            <a:chOff x="1513541" y="3281124"/>
            <a:chExt cx="687668" cy="564356"/>
          </a:xfrm>
        </p:grpSpPr>
        <p:sp>
          <p:nvSpPr>
            <p:cNvPr id="41" name="TextBox 41"/>
            <p:cNvSpPr txBox="1"/>
            <p:nvPr/>
          </p:nvSpPr>
          <p:spPr>
            <a:xfrm>
              <a:off x="1513541" y="3281124"/>
              <a:ext cx="687668"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Report subscriptions</a:t>
              </a:r>
            </a:p>
          </p:txBody>
        </p:sp>
        <p:grpSp>
          <p:nvGrpSpPr>
            <p:cNvPr id="46" name="Group 46"/>
            <p:cNvGrpSpPr/>
            <p:nvPr/>
          </p:nvGrpSpPr>
          <p:grpSpPr>
            <a:xfrm>
              <a:off x="1807369" y="3419475"/>
              <a:ext cx="107155" cy="121444"/>
              <a:chOff x="1807369" y="3419475"/>
              <a:chExt cx="107155" cy="121444"/>
            </a:xfrm>
          </p:grpSpPr>
          <p:sp>
            <p:nvSpPr>
              <p:cNvPr id="42" name="Freeform 42"/>
              <p:cNvSpPr/>
              <p:nvPr/>
            </p:nvSpPr>
            <p:spPr>
              <a:xfrm>
                <a:off x="1807369" y="3419475"/>
                <a:ext cx="85725" cy="114300"/>
              </a:xfrm>
              <a:custGeom>
                <a:avLst/>
                <a:gdLst/>
                <a:ahLst/>
                <a:cxnLst/>
                <a:rect l="l" t="t" r="r" b="b"/>
                <a:pathLst>
                  <a:path w="85725" h="114300">
                    <a:moveTo>
                      <a:pt x="32968" y="114300"/>
                    </a:moveTo>
                    <a:lnTo>
                      <a:pt x="14288" y="114300"/>
                    </a:lnTo>
                    <a:cubicBezTo>
                      <a:pt x="6397" y="114300"/>
                      <a:pt x="0" y="107903"/>
                      <a:pt x="0" y="100012"/>
                    </a:cubicBezTo>
                    <a:lnTo>
                      <a:pt x="0" y="14288"/>
                    </a:lnTo>
                    <a:cubicBezTo>
                      <a:pt x="0" y="6397"/>
                      <a:pt x="6397" y="0"/>
                      <a:pt x="14288" y="0"/>
                    </a:cubicBezTo>
                    <a:lnTo>
                      <a:pt x="71438" y="0"/>
                    </a:lnTo>
                    <a:cubicBezTo>
                      <a:pt x="79328" y="0"/>
                      <a:pt x="85725" y="6397"/>
                      <a:pt x="85725" y="14288"/>
                    </a:cubicBezTo>
                    <a:lnTo>
                      <a:pt x="85725" y="71438"/>
                    </a:lnTo>
                  </a:path>
                </a:pathLst>
              </a:custGeom>
              <a:noFill/>
              <a:ln w="14288">
                <a:solidFill>
                  <a:srgbClr val="D6391E"/>
                </a:solidFill>
              </a:ln>
            </p:spPr>
          </p:sp>
          <p:sp>
            <p:nvSpPr>
              <p:cNvPr id="43" name="Freeform 43"/>
              <p:cNvSpPr/>
              <p:nvPr/>
            </p:nvSpPr>
            <p:spPr>
              <a:xfrm>
                <a:off x="1871662" y="3512344"/>
                <a:ext cx="42862" cy="28575"/>
              </a:xfrm>
              <a:custGeom>
                <a:avLst/>
                <a:gdLst/>
                <a:ahLst/>
                <a:cxnLst/>
                <a:rect l="l" t="t" r="r" b="b"/>
                <a:pathLst>
                  <a:path w="42862" h="28575">
                    <a:moveTo>
                      <a:pt x="0" y="14288"/>
                    </a:moveTo>
                    <a:lnTo>
                      <a:pt x="14288" y="28575"/>
                    </a:lnTo>
                    <a:lnTo>
                      <a:pt x="42862" y="0"/>
                    </a:lnTo>
                  </a:path>
                </a:pathLst>
              </a:custGeom>
              <a:noFill/>
              <a:ln w="14288">
                <a:solidFill>
                  <a:srgbClr val="D6391E"/>
                </a:solidFill>
              </a:ln>
            </p:spPr>
          </p:sp>
          <p:sp>
            <p:nvSpPr>
              <p:cNvPr id="44" name="Freeform 44"/>
              <p:cNvSpPr/>
              <p:nvPr/>
            </p:nvSpPr>
            <p:spPr>
              <a:xfrm>
                <a:off x="1835944" y="3448050"/>
                <a:ext cx="28575" cy="9525"/>
              </a:xfrm>
              <a:custGeom>
                <a:avLst/>
                <a:gdLst/>
                <a:ahLst/>
                <a:cxnLst/>
                <a:rect l="l" t="t" r="r" b="b"/>
                <a:pathLst>
                  <a:path w="28575" h="9525">
                    <a:moveTo>
                      <a:pt x="0" y="0"/>
                    </a:moveTo>
                    <a:lnTo>
                      <a:pt x="28575" y="0"/>
                    </a:lnTo>
                  </a:path>
                </a:pathLst>
              </a:custGeom>
              <a:noFill/>
              <a:ln w="14288">
                <a:solidFill>
                  <a:srgbClr val="D6391E"/>
                </a:solidFill>
              </a:ln>
            </p:spPr>
          </p:sp>
          <p:sp>
            <p:nvSpPr>
              <p:cNvPr id="45" name="Freeform 45"/>
              <p:cNvSpPr/>
              <p:nvPr/>
            </p:nvSpPr>
            <p:spPr>
              <a:xfrm>
                <a:off x="1835944" y="3476625"/>
                <a:ext cx="14288" cy="9525"/>
              </a:xfrm>
              <a:custGeom>
                <a:avLst/>
                <a:gdLst/>
                <a:ahLst/>
                <a:cxnLst/>
                <a:rect l="l" t="t" r="r" b="b"/>
                <a:pathLst>
                  <a:path w="14288" h="9525">
                    <a:moveTo>
                      <a:pt x="0" y="0"/>
                    </a:moveTo>
                    <a:lnTo>
                      <a:pt x="14288" y="0"/>
                    </a:lnTo>
                  </a:path>
                </a:pathLst>
              </a:custGeom>
              <a:noFill/>
              <a:ln w="14288">
                <a:solidFill>
                  <a:srgbClr val="D6391E"/>
                </a:solidFill>
              </a:ln>
            </p:spPr>
          </p:sp>
        </p:grpSp>
        <p:sp>
          <p:nvSpPr>
            <p:cNvPr id="47" name="TextBox 47"/>
            <p:cNvSpPr txBox="1"/>
            <p:nvPr/>
          </p:nvSpPr>
          <p:spPr>
            <a:xfrm>
              <a:off x="1661452" y="3637836"/>
              <a:ext cx="39184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业务审批</a:t>
              </a:r>
            </a:p>
          </p:txBody>
        </p:sp>
        <p:sp>
          <p:nvSpPr>
            <p:cNvPr id="48" name="TextBox 48"/>
            <p:cNvSpPr txBox="1"/>
            <p:nvPr/>
          </p:nvSpPr>
          <p:spPr>
            <a:xfrm>
              <a:off x="1549823" y="3747849"/>
              <a:ext cx="615103" cy="97631"/>
            </a:xfrm>
            <a:prstGeom prst="rect">
              <a:avLst/>
            </a:prstGeom>
            <a:noFill/>
            <a:ln>
              <a:noFill/>
            </a:ln>
          </p:spPr>
          <p:txBody>
            <a:bodyPr wrap="none" lIns="0" tIns="0" rIns="0" bIns="0" anchor="t" anchorCtr="0">
              <a:spAutoFit/>
            </a:bodyPr>
            <a:lstStyle/>
            <a:p>
              <a:pPr algn="ctr"/>
              <a:r>
                <a:rPr lang="en-US" sz="490" dirty="0">
                  <a:solidFill>
                    <a:srgbClr val="8C8C8C"/>
                  </a:solidFill>
                  <a:latin typeface="+mn-lt"/>
                  <a:ea typeface="+mn-ea"/>
                  <a:cs typeface="+mn-cs"/>
                </a:rPr>
                <a:t>Business approvals</a:t>
              </a:r>
            </a:p>
          </p:txBody>
        </p:sp>
      </p:grpSp>
      <p:grpSp>
        <p:nvGrpSpPr>
          <p:cNvPr id="56" name="hdr-mid1"/>
          <p:cNvGrpSpPr/>
          <p:nvPr/>
        </p:nvGrpSpPr>
        <p:grpSpPr>
          <a:xfrm>
            <a:off x="4000500" y="961549"/>
            <a:ext cx="1714500" cy="791051"/>
            <a:chOff x="4000500" y="961549"/>
            <a:chExt cx="1714500" cy="791051"/>
          </a:xfrm>
        </p:grpSpPr>
        <p:sp>
          <p:nvSpPr>
            <p:cNvPr id="50" name="TextBox 50"/>
            <p:cNvSpPr txBox="1"/>
            <p:nvPr/>
          </p:nvSpPr>
          <p:spPr>
            <a:xfrm>
              <a:off x="4105705" y="961549"/>
              <a:ext cx="1370739"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实时互动 提高营销转化</a:t>
              </a:r>
            </a:p>
          </p:txBody>
        </p:sp>
        <p:sp>
          <p:nvSpPr>
            <p:cNvPr id="51" name="TextBox 51"/>
            <p:cNvSpPr txBox="1"/>
            <p:nvPr/>
          </p:nvSpPr>
          <p:spPr>
            <a:xfrm>
              <a:off x="4465917" y="1146334"/>
              <a:ext cx="650316" cy="133350"/>
            </a:xfrm>
            <a:prstGeom prst="rect">
              <a:avLst/>
            </a:prstGeom>
            <a:noFill/>
            <a:ln>
              <a:noFill/>
            </a:ln>
          </p:spPr>
          <p:txBody>
            <a:bodyPr wrap="none" lIns="0" tIns="0" rIns="0" bIns="0" anchor="t" anchorCtr="0">
              <a:spAutoFit/>
            </a:bodyPr>
            <a:lstStyle/>
            <a:p>
              <a:pPr algn="ctr"/>
              <a:r>
                <a:rPr lang="zh-CN" sz="680" dirty="0">
                  <a:solidFill>
                    <a:srgbClr val="8C8C8C"/>
                  </a:solidFill>
                  <a:latin typeface="+mn-lt"/>
                  <a:ea typeface="+mn-ea"/>
                  <a:cs typeface="+mn-cs"/>
                </a:rPr>
                <a:t>关注客户转化率</a:t>
              </a:r>
            </a:p>
          </p:txBody>
        </p:sp>
        <p:sp>
          <p:nvSpPr>
            <p:cNvPr id="52" name="Freeform 52"/>
            <p:cNvSpPr/>
            <p:nvPr/>
          </p:nvSpPr>
          <p:spPr>
            <a:xfrm>
              <a:off x="4714875" y="1123950"/>
              <a:ext cx="152400" cy="247650"/>
            </a:xfrm>
            <a:prstGeom prst="downArrow">
              <a:avLst/>
            </a:prstGeom>
            <a:solidFill>
              <a:srgbClr val="9C594C"/>
            </a:solidFill>
            <a:ln>
              <a:noFill/>
            </a:ln>
          </p:spPr>
        </p:sp>
        <p:sp>
          <p:nvSpPr>
            <p:cNvPr id="53" name="Line 53"/>
            <p:cNvSpPr/>
            <p:nvPr/>
          </p:nvSpPr>
          <p:spPr>
            <a:xfrm>
              <a:off x="4000500" y="1619250"/>
              <a:ext cx="1714500" cy="9525"/>
            </a:xfrm>
            <a:custGeom>
              <a:avLst/>
              <a:gdLst/>
              <a:ahLst/>
              <a:cxnLst/>
              <a:rect l="l" t="t" r="r" b="b"/>
              <a:pathLst>
                <a:path w="1714500" h="9525">
                  <a:moveTo>
                    <a:pt x="0" y="0"/>
                  </a:moveTo>
                  <a:lnTo>
                    <a:pt x="1714500" y="0"/>
                  </a:lnTo>
                </a:path>
              </a:pathLst>
            </a:custGeom>
            <a:noFill/>
            <a:ln w="11430">
              <a:solidFill>
                <a:srgbClr val="9C594C"/>
              </a:solidFill>
              <a:custDash>
                <a:ds d="333333" sp="250000"/>
              </a:custDash>
            </a:ln>
          </p:spPr>
        </p:sp>
        <p:sp>
          <p:nvSpPr>
            <p:cNvPr id="54" name="Line 54"/>
            <p:cNvSpPr/>
            <p:nvPr/>
          </p:nvSpPr>
          <p:spPr>
            <a:xfrm>
              <a:off x="4000500" y="1619250"/>
              <a:ext cx="9525" cy="133350"/>
            </a:xfrm>
            <a:custGeom>
              <a:avLst/>
              <a:gdLst/>
              <a:ahLst/>
              <a:cxnLst/>
              <a:rect l="l" t="t" r="r" b="b"/>
              <a:pathLst>
                <a:path w="9525" h="133350">
                  <a:moveTo>
                    <a:pt x="0" y="0"/>
                  </a:moveTo>
                  <a:lnTo>
                    <a:pt x="0" y="133350"/>
                  </a:lnTo>
                </a:path>
              </a:pathLst>
            </a:custGeom>
            <a:noFill/>
            <a:ln w="11430">
              <a:solidFill>
                <a:srgbClr val="9C594C"/>
              </a:solidFill>
              <a:custDash>
                <a:ds d="333333" sp="250000"/>
              </a:custDash>
            </a:ln>
          </p:spPr>
        </p:sp>
        <p:sp>
          <p:nvSpPr>
            <p:cNvPr id="55" name="TextBox 55"/>
            <p:cNvSpPr txBox="1"/>
            <p:nvPr/>
          </p:nvSpPr>
          <p:spPr>
            <a:xfrm>
              <a:off x="4661827" y="1485186"/>
              <a:ext cx="39184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持续挖掘</a:t>
              </a:r>
            </a:p>
          </p:txBody>
        </p:sp>
      </p:grpSp>
      <p:grpSp>
        <p:nvGrpSpPr>
          <p:cNvPr id="63" name="hdr-mid2"/>
          <p:cNvGrpSpPr/>
          <p:nvPr/>
        </p:nvGrpSpPr>
        <p:grpSpPr>
          <a:xfrm>
            <a:off x="6286500" y="961549"/>
            <a:ext cx="1914525" cy="791051"/>
            <a:chOff x="6286500" y="961549"/>
            <a:chExt cx="1914525" cy="791051"/>
          </a:xfrm>
        </p:grpSpPr>
        <p:sp>
          <p:nvSpPr>
            <p:cNvPr id="57" name="TextBox 57"/>
            <p:cNvSpPr txBox="1"/>
            <p:nvPr/>
          </p:nvSpPr>
          <p:spPr>
            <a:xfrm>
              <a:off x="6800875" y="961549"/>
              <a:ext cx="933399"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智能化留存分析</a:t>
              </a:r>
            </a:p>
          </p:txBody>
        </p:sp>
        <p:sp>
          <p:nvSpPr>
            <p:cNvPr id="58" name="TextBox 58"/>
            <p:cNvSpPr txBox="1"/>
            <p:nvPr/>
          </p:nvSpPr>
          <p:spPr>
            <a:xfrm>
              <a:off x="6942417" y="1146334"/>
              <a:ext cx="650316" cy="133350"/>
            </a:xfrm>
            <a:prstGeom prst="rect">
              <a:avLst/>
            </a:prstGeom>
            <a:noFill/>
            <a:ln>
              <a:noFill/>
            </a:ln>
          </p:spPr>
          <p:txBody>
            <a:bodyPr wrap="none" lIns="0" tIns="0" rIns="0" bIns="0" anchor="t" anchorCtr="0">
              <a:spAutoFit/>
            </a:bodyPr>
            <a:lstStyle/>
            <a:p>
              <a:pPr algn="ctr"/>
              <a:r>
                <a:rPr lang="zh-CN" sz="680" dirty="0">
                  <a:solidFill>
                    <a:srgbClr val="8C8C8C"/>
                  </a:solidFill>
                  <a:latin typeface="+mn-lt"/>
                  <a:ea typeface="+mn-ea"/>
                  <a:cs typeface="+mn-cs"/>
                </a:rPr>
                <a:t>关注客户留存率</a:t>
              </a:r>
            </a:p>
          </p:txBody>
        </p:sp>
        <p:sp>
          <p:nvSpPr>
            <p:cNvPr id="59" name="Freeform 59"/>
            <p:cNvSpPr/>
            <p:nvPr/>
          </p:nvSpPr>
          <p:spPr>
            <a:xfrm>
              <a:off x="7191375" y="1123950"/>
              <a:ext cx="152400" cy="247650"/>
            </a:xfrm>
            <a:prstGeom prst="downArrow">
              <a:avLst/>
            </a:prstGeom>
            <a:solidFill>
              <a:srgbClr val="9C594C"/>
            </a:solidFill>
            <a:ln>
              <a:noFill/>
            </a:ln>
          </p:spPr>
        </p:sp>
        <p:sp>
          <p:nvSpPr>
            <p:cNvPr id="60" name="Line 60"/>
            <p:cNvSpPr/>
            <p:nvPr/>
          </p:nvSpPr>
          <p:spPr>
            <a:xfrm>
              <a:off x="6286500" y="1619250"/>
              <a:ext cx="1905000" cy="9525"/>
            </a:xfrm>
            <a:custGeom>
              <a:avLst/>
              <a:gdLst/>
              <a:ahLst/>
              <a:cxnLst/>
              <a:rect l="l" t="t" r="r" b="b"/>
              <a:pathLst>
                <a:path w="1905000" h="9525">
                  <a:moveTo>
                    <a:pt x="0" y="0"/>
                  </a:moveTo>
                  <a:lnTo>
                    <a:pt x="1905000" y="0"/>
                  </a:lnTo>
                </a:path>
              </a:pathLst>
            </a:custGeom>
            <a:noFill/>
            <a:ln w="11430">
              <a:solidFill>
                <a:srgbClr val="9C594C"/>
              </a:solidFill>
              <a:custDash>
                <a:ds d="333333" sp="250000"/>
              </a:custDash>
            </a:ln>
          </p:spPr>
        </p:sp>
        <p:sp>
          <p:nvSpPr>
            <p:cNvPr id="61" name="Line 61"/>
            <p:cNvSpPr/>
            <p:nvPr/>
          </p:nvSpPr>
          <p:spPr>
            <a:xfrm>
              <a:off x="8191500" y="1619250"/>
              <a:ext cx="9525" cy="133350"/>
            </a:xfrm>
            <a:custGeom>
              <a:avLst/>
              <a:gdLst/>
              <a:ahLst/>
              <a:cxnLst/>
              <a:rect l="l" t="t" r="r" b="b"/>
              <a:pathLst>
                <a:path w="9525" h="133350">
                  <a:moveTo>
                    <a:pt x="0" y="0"/>
                  </a:moveTo>
                  <a:lnTo>
                    <a:pt x="0" y="133350"/>
                  </a:lnTo>
                </a:path>
              </a:pathLst>
            </a:custGeom>
            <a:noFill/>
            <a:ln w="11430">
              <a:solidFill>
                <a:srgbClr val="9C594C"/>
              </a:solidFill>
              <a:custDash>
                <a:ds d="333333" sp="250000"/>
              </a:custDash>
            </a:ln>
          </p:spPr>
        </p:sp>
        <p:sp>
          <p:nvSpPr>
            <p:cNvPr id="62" name="TextBox 62"/>
            <p:cNvSpPr txBox="1"/>
            <p:nvPr/>
          </p:nvSpPr>
          <p:spPr>
            <a:xfrm>
              <a:off x="6708546" y="1485186"/>
              <a:ext cx="1060907"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通过直播持续做客户触达</a:t>
              </a:r>
            </a:p>
          </p:txBody>
        </p:sp>
      </p:grpSp>
      <p:grpSp>
        <p:nvGrpSpPr>
          <p:cNvPr id="72" name="funnel-left"/>
          <p:cNvGrpSpPr/>
          <p:nvPr/>
        </p:nvGrpSpPr>
        <p:grpSpPr>
          <a:xfrm>
            <a:off x="2686050" y="1809750"/>
            <a:ext cx="2362200" cy="2286000"/>
            <a:chOff x="2686050" y="1809750"/>
            <a:chExt cx="2362200" cy="2286000"/>
          </a:xfrm>
        </p:grpSpPr>
        <p:sp>
          <p:nvSpPr>
            <p:cNvPr id="64" name="Rectangle 64"/>
            <p:cNvSpPr/>
            <p:nvPr/>
          </p:nvSpPr>
          <p:spPr>
            <a:xfrm>
              <a:off x="2686050" y="1828800"/>
              <a:ext cx="1257300" cy="2266950"/>
            </a:xfrm>
            <a:prstGeom prst="rect">
              <a:avLst/>
            </a:prstGeom>
            <a:noFill/>
            <a:ln w="11430">
              <a:solidFill>
                <a:srgbClr val="E9563C"/>
              </a:solidFill>
              <a:custDash>
                <a:ds d="500000" sp="333333"/>
              </a:custDash>
            </a:ln>
          </p:spPr>
        </p:sp>
        <p:sp>
          <p:nvSpPr>
            <p:cNvPr id="65" name="TextBox 65"/>
            <p:cNvSpPr txBox="1"/>
            <p:nvPr/>
          </p:nvSpPr>
          <p:spPr>
            <a:xfrm>
              <a:off x="2776538" y="1900238"/>
              <a:ext cx="312420" cy="147638"/>
            </a:xfrm>
            <a:prstGeom prst="rect">
              <a:avLst/>
            </a:prstGeom>
            <a:noFill/>
            <a:ln>
              <a:noFill/>
            </a:ln>
          </p:spPr>
          <p:txBody>
            <a:bodyPr wrap="none" lIns="0" tIns="0" rIns="0" bIns="0" anchor="t" anchorCtr="0">
              <a:spAutoFit/>
            </a:bodyPr>
            <a:lstStyle/>
            <a:p>
              <a:pPr algn="l"/>
              <a:r>
                <a:rPr lang="zh-CN" sz="750" dirty="0">
                  <a:solidFill>
                    <a:srgbClr val="8A2210"/>
                  </a:solidFill>
                  <a:latin typeface="+mn-lt"/>
                  <a:ea typeface="+mn-ea"/>
                  <a:cs typeface="+mn-cs"/>
                </a:rPr>
                <a:t>潜客池</a:t>
              </a:r>
            </a:p>
          </p:txBody>
        </p:sp>
        <p:sp>
          <p:nvSpPr>
            <p:cNvPr id="66" name="Freeform 66"/>
            <p:cNvSpPr/>
            <p:nvPr/>
          </p:nvSpPr>
          <p:spPr>
            <a:xfrm>
              <a:off x="2762250" y="1809750"/>
              <a:ext cx="2286000" cy="2286000"/>
            </a:xfrm>
            <a:prstGeom prst="pie">
              <a:avLst>
                <a:gd name="adj1" fmla="val 7200000"/>
                <a:gd name="adj2" fmla="val 14400000"/>
              </a:avLst>
            </a:prstGeom>
            <a:solidFill>
              <a:srgbClr val="F7B9AE"/>
            </a:solidFill>
            <a:ln w="9525">
              <a:solidFill>
                <a:srgbClr val="E9563C"/>
              </a:solidFill>
            </a:ln>
          </p:spPr>
        </p:sp>
        <p:sp>
          <p:nvSpPr>
            <p:cNvPr id="67" name="TextBox 67"/>
            <p:cNvSpPr txBox="1"/>
            <p:nvPr/>
          </p:nvSpPr>
          <p:spPr>
            <a:xfrm>
              <a:off x="3127261" y="2444591"/>
              <a:ext cx="451079" cy="161925"/>
            </a:xfrm>
            <a:prstGeom prst="rect">
              <a:avLst/>
            </a:prstGeom>
            <a:noFill/>
            <a:ln>
              <a:noFill/>
            </a:ln>
          </p:spPr>
          <p:txBody>
            <a:bodyPr wrap="none" lIns="0" tIns="0" rIns="0" bIns="0" anchor="t" anchorCtr="0">
              <a:spAutoFit/>
            </a:bodyPr>
            <a:lstStyle/>
            <a:p>
              <a:pPr algn="ctr"/>
              <a:r>
                <a:rPr lang="zh-CN" sz="820" b="1" dirty="0">
                  <a:solidFill>
                    <a:srgbClr val="8A2210"/>
                  </a:solidFill>
                  <a:latin typeface="+mn-lt"/>
                  <a:ea typeface="+mn-ea"/>
                  <a:cs typeface="+mn-cs"/>
                </a:rPr>
                <a:t>发现市场</a:t>
              </a:r>
            </a:p>
          </p:txBody>
        </p:sp>
        <p:sp>
          <p:nvSpPr>
            <p:cNvPr id="68" name="TextBox 68"/>
            <p:cNvSpPr txBox="1"/>
            <p:nvPr/>
          </p:nvSpPr>
          <p:spPr>
            <a:xfrm>
              <a:off x="3127261" y="2920841"/>
              <a:ext cx="451079" cy="161925"/>
            </a:xfrm>
            <a:prstGeom prst="rect">
              <a:avLst/>
            </a:prstGeom>
            <a:noFill/>
            <a:ln>
              <a:noFill/>
            </a:ln>
          </p:spPr>
          <p:txBody>
            <a:bodyPr wrap="none" lIns="0" tIns="0" rIns="0" bIns="0" anchor="t" anchorCtr="0">
              <a:spAutoFit/>
            </a:bodyPr>
            <a:lstStyle/>
            <a:p>
              <a:pPr algn="ctr"/>
              <a:r>
                <a:rPr lang="zh-CN" sz="820" b="1" dirty="0">
                  <a:solidFill>
                    <a:srgbClr val="8A2210"/>
                  </a:solidFill>
                  <a:latin typeface="+mn-lt"/>
                  <a:ea typeface="+mn-ea"/>
                  <a:cs typeface="+mn-cs"/>
                </a:rPr>
                <a:t>发现潜客</a:t>
              </a:r>
            </a:p>
          </p:txBody>
        </p:sp>
        <p:sp>
          <p:nvSpPr>
            <p:cNvPr id="69" name="TextBox 69"/>
            <p:cNvSpPr txBox="1"/>
            <p:nvPr/>
          </p:nvSpPr>
          <p:spPr>
            <a:xfrm>
              <a:off x="3127261" y="3397091"/>
              <a:ext cx="451079" cy="161925"/>
            </a:xfrm>
            <a:prstGeom prst="rect">
              <a:avLst/>
            </a:prstGeom>
            <a:noFill/>
            <a:ln>
              <a:noFill/>
            </a:ln>
          </p:spPr>
          <p:txBody>
            <a:bodyPr wrap="none" lIns="0" tIns="0" rIns="0" bIns="0" anchor="t" anchorCtr="0">
              <a:spAutoFit/>
            </a:bodyPr>
            <a:lstStyle/>
            <a:p>
              <a:pPr algn="ctr"/>
              <a:r>
                <a:rPr lang="zh-CN" sz="820" b="1" dirty="0">
                  <a:solidFill>
                    <a:srgbClr val="8A2210"/>
                  </a:solidFill>
                  <a:latin typeface="+mn-lt"/>
                  <a:ea typeface="+mn-ea"/>
                  <a:cs typeface="+mn-cs"/>
                </a:rPr>
                <a:t>发现需求</a:t>
              </a:r>
            </a:p>
          </p:txBody>
        </p:sp>
        <p:sp>
          <p:nvSpPr>
            <p:cNvPr id="70" name="Ellipse 70"/>
            <p:cNvSpPr/>
            <p:nvPr/>
          </p:nvSpPr>
          <p:spPr>
            <a:xfrm>
              <a:off x="3733800" y="2800350"/>
              <a:ext cx="304800" cy="304800"/>
            </a:xfrm>
            <a:prstGeom prst="ellipse">
              <a:avLst/>
            </a:prstGeom>
            <a:solidFill>
              <a:srgbClr val="D6391E"/>
            </a:solidFill>
            <a:ln>
              <a:noFill/>
            </a:ln>
          </p:spPr>
        </p:sp>
        <p:sp>
          <p:nvSpPr>
            <p:cNvPr id="71" name="TextBox 71"/>
            <p:cNvSpPr txBox="1"/>
            <p:nvPr/>
          </p:nvSpPr>
          <p:spPr>
            <a:xfrm>
              <a:off x="3780472" y="290988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挖掘</a:t>
              </a:r>
            </a:p>
          </p:txBody>
        </p:sp>
      </p:grpSp>
      <p:grpSp>
        <p:nvGrpSpPr>
          <p:cNvPr id="77" name="center-live"/>
          <p:cNvGrpSpPr/>
          <p:nvPr/>
        </p:nvGrpSpPr>
        <p:grpSpPr>
          <a:xfrm>
            <a:off x="5191125" y="2047875"/>
            <a:ext cx="1809750" cy="1809750"/>
            <a:chOff x="5191125" y="2047875"/>
            <a:chExt cx="1809750" cy="1809750"/>
          </a:xfrm>
        </p:grpSpPr>
        <p:sp>
          <p:nvSpPr>
            <p:cNvPr id="73" name="Ellipse 73"/>
            <p:cNvSpPr/>
            <p:nvPr/>
          </p:nvSpPr>
          <p:spPr>
            <a:xfrm>
              <a:off x="5191125" y="2047875"/>
              <a:ext cx="1809750" cy="1809750"/>
            </a:xfrm>
            <a:prstGeom prst="ellipse">
              <a:avLst/>
            </a:prstGeom>
            <a:solidFill>
              <a:srgbClr val="9C594C"/>
            </a:solidFill>
            <a:ln>
              <a:noFill/>
            </a:ln>
          </p:spPr>
        </p:sp>
        <p:sp>
          <p:nvSpPr>
            <p:cNvPr id="74" name="TextBox 74"/>
            <p:cNvSpPr txBox="1"/>
            <p:nvPr/>
          </p:nvSpPr>
          <p:spPr>
            <a:xfrm>
              <a:off x="5684520" y="2752725"/>
              <a:ext cx="82296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互动直播</a:t>
              </a:r>
            </a:p>
          </p:txBody>
        </p:sp>
        <p:sp>
          <p:nvSpPr>
            <p:cNvPr id="75" name="TextBox 75"/>
            <p:cNvSpPr txBox="1"/>
            <p:nvPr/>
          </p:nvSpPr>
          <p:spPr>
            <a:xfrm>
              <a:off x="5722715" y="3062288"/>
              <a:ext cx="746570" cy="147638"/>
            </a:xfrm>
            <a:prstGeom prst="rect">
              <a:avLst/>
            </a:prstGeom>
            <a:noFill/>
            <a:ln>
              <a:noFill/>
            </a:ln>
          </p:spPr>
          <p:txBody>
            <a:bodyPr wrap="none" lIns="0" tIns="0" rIns="0" bIns="0" anchor="t" anchorCtr="0">
              <a:spAutoFit/>
            </a:bodyPr>
            <a:lstStyle/>
            <a:p>
              <a:pPr algn="ctr"/>
              <a:r>
                <a:rPr lang="zh-CN" sz="750" dirty="0">
                  <a:solidFill>
                    <a:srgbClr val="EAF4E2"/>
                  </a:solidFill>
                  <a:latin typeface="+mn-lt"/>
                  <a:ea typeface="+mn-ea"/>
                  <a:cs typeface="+mn-cs"/>
                </a:rPr>
                <a:t>互动强 销售前置</a:t>
              </a:r>
            </a:p>
          </p:txBody>
        </p:sp>
        <p:sp>
          <p:nvSpPr>
            <p:cNvPr id="76" name="TextBox 76"/>
            <p:cNvSpPr txBox="1"/>
            <p:nvPr/>
          </p:nvSpPr>
          <p:spPr>
            <a:xfrm>
              <a:off x="5773198" y="3214688"/>
              <a:ext cx="645604" cy="147638"/>
            </a:xfrm>
            <a:prstGeom prst="rect">
              <a:avLst/>
            </a:prstGeom>
            <a:noFill/>
            <a:ln>
              <a:noFill/>
            </a:ln>
          </p:spPr>
          <p:txBody>
            <a:bodyPr wrap="none" lIns="0" tIns="0" rIns="0" bIns="0" anchor="t" anchorCtr="0">
              <a:spAutoFit/>
            </a:bodyPr>
            <a:lstStyle/>
            <a:p>
              <a:pPr algn="ctr"/>
              <a:r>
                <a:rPr lang="zh-CN" sz="750" dirty="0">
                  <a:solidFill>
                    <a:srgbClr val="EAF4E2"/>
                  </a:solidFill>
                  <a:latin typeface="+mn-lt"/>
                  <a:ea typeface="+mn-ea"/>
                  <a:cs typeface="+mn-cs"/>
                </a:rPr>
                <a:t>成本低 覆盖广</a:t>
              </a:r>
            </a:p>
          </p:txBody>
        </p:sp>
      </p:grpSp>
      <p:grpSp>
        <p:nvGrpSpPr>
          <p:cNvPr id="85" name="funnel-right"/>
          <p:cNvGrpSpPr/>
          <p:nvPr/>
        </p:nvGrpSpPr>
        <p:grpSpPr>
          <a:xfrm>
            <a:off x="7143750" y="1809750"/>
            <a:ext cx="2286000" cy="2286000"/>
            <a:chOff x="7143750" y="1809750"/>
            <a:chExt cx="2286000" cy="2286000"/>
          </a:xfrm>
        </p:grpSpPr>
        <p:sp>
          <p:nvSpPr>
            <p:cNvPr id="78" name="Rectangle 78"/>
            <p:cNvSpPr/>
            <p:nvPr/>
          </p:nvSpPr>
          <p:spPr>
            <a:xfrm>
              <a:off x="7219950" y="1828800"/>
              <a:ext cx="1257300" cy="2266950"/>
            </a:xfrm>
            <a:prstGeom prst="rect">
              <a:avLst/>
            </a:prstGeom>
            <a:noFill/>
            <a:ln w="11430">
              <a:solidFill>
                <a:srgbClr val="9C594C"/>
              </a:solidFill>
              <a:custDash>
                <a:ds d="500000" sp="333333"/>
              </a:custDash>
            </a:ln>
          </p:spPr>
        </p:sp>
        <p:sp>
          <p:nvSpPr>
            <p:cNvPr id="79" name="TextBox 79"/>
            <p:cNvSpPr txBox="1"/>
            <p:nvPr/>
          </p:nvSpPr>
          <p:spPr>
            <a:xfrm>
              <a:off x="8074342" y="1900238"/>
              <a:ext cx="312420" cy="147638"/>
            </a:xfrm>
            <a:prstGeom prst="rect">
              <a:avLst/>
            </a:prstGeom>
            <a:noFill/>
            <a:ln>
              <a:noFill/>
            </a:ln>
          </p:spPr>
          <p:txBody>
            <a:bodyPr wrap="none" lIns="0" tIns="0" rIns="0" bIns="0" anchor="t" anchorCtr="0">
              <a:spAutoFit/>
            </a:bodyPr>
            <a:lstStyle/>
            <a:p>
              <a:pPr algn="r"/>
              <a:r>
                <a:rPr lang="zh-CN" sz="750" dirty="0">
                  <a:solidFill>
                    <a:srgbClr val="7A3E33"/>
                  </a:solidFill>
                  <a:latin typeface="+mn-lt"/>
                  <a:ea typeface="+mn-ea"/>
                  <a:cs typeface="+mn-cs"/>
                </a:rPr>
                <a:t>客户池</a:t>
              </a:r>
            </a:p>
          </p:txBody>
        </p:sp>
        <p:sp>
          <p:nvSpPr>
            <p:cNvPr id="80" name="Freeform 80"/>
            <p:cNvSpPr/>
            <p:nvPr/>
          </p:nvSpPr>
          <p:spPr>
            <a:xfrm>
              <a:off x="7143750" y="1809750"/>
              <a:ext cx="2286000" cy="2286000"/>
            </a:xfrm>
            <a:prstGeom prst="pie">
              <a:avLst>
                <a:gd name="adj1" fmla="val 18000000"/>
                <a:gd name="adj2" fmla="val 3600000"/>
              </a:avLst>
            </a:prstGeom>
            <a:solidFill>
              <a:srgbClr val="DFF0D2"/>
            </a:solidFill>
            <a:ln w="9525">
              <a:solidFill>
                <a:srgbClr val="9C594C"/>
              </a:solidFill>
            </a:ln>
          </p:spPr>
        </p:sp>
        <p:sp>
          <p:nvSpPr>
            <p:cNvPr id="81" name="TextBox 81"/>
            <p:cNvSpPr txBox="1"/>
            <p:nvPr/>
          </p:nvSpPr>
          <p:spPr>
            <a:xfrm>
              <a:off x="8613661" y="2635091"/>
              <a:ext cx="451079"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智能管理</a:t>
              </a:r>
            </a:p>
          </p:txBody>
        </p:sp>
        <p:sp>
          <p:nvSpPr>
            <p:cNvPr id="82" name="TextBox 82"/>
            <p:cNvSpPr txBox="1"/>
            <p:nvPr/>
          </p:nvSpPr>
          <p:spPr>
            <a:xfrm>
              <a:off x="8613661" y="3187541"/>
              <a:ext cx="451079"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数据分析</a:t>
              </a:r>
            </a:p>
          </p:txBody>
        </p:sp>
        <p:sp>
          <p:nvSpPr>
            <p:cNvPr id="83" name="Ellipse 83"/>
            <p:cNvSpPr/>
            <p:nvPr/>
          </p:nvSpPr>
          <p:spPr>
            <a:xfrm>
              <a:off x="8134350" y="2781300"/>
              <a:ext cx="342900" cy="342900"/>
            </a:xfrm>
            <a:prstGeom prst="ellipse">
              <a:avLst/>
            </a:prstGeom>
            <a:solidFill>
              <a:srgbClr val="9C594C"/>
            </a:solidFill>
            <a:ln>
              <a:noFill/>
            </a:ln>
          </p:spPr>
        </p:sp>
        <p:sp>
          <p:nvSpPr>
            <p:cNvPr id="84" name="TextBox 84"/>
            <p:cNvSpPr txBox="1"/>
            <p:nvPr/>
          </p:nvSpPr>
          <p:spPr>
            <a:xfrm>
              <a:off x="8214677" y="2851309"/>
              <a:ext cx="182245" cy="238125"/>
            </a:xfrm>
            <a:prstGeom prst="rect">
              <a:avLst/>
            </a:prstGeom>
            <a:noFill/>
            <a:ln>
              <a:noFill/>
            </a:ln>
          </p:spPr>
          <p:txBody>
            <a:bodyPr wrap="none" lIns="0" tIns="0" rIns="0" bIns="0" anchor="t" anchorCtr="0">
              <a:spAutoFit/>
            </a:bodyPr>
            <a:lstStyle/>
            <a:p>
              <a:pPr algn="ctr">
                <a:lnSpc>
                  <a:spcPts val="825"/>
                </a:lnSpc>
              </a:pPr>
              <a:r>
                <a:rPr lang="zh-CN" sz="680" b="1" dirty="0">
                  <a:solidFill>
                    <a:srgbClr val="FFFFFF"/>
                  </a:solidFill>
                  <a:latin typeface="+mn-lt"/>
                  <a:ea typeface="+mn-ea"/>
                  <a:cs typeface="+mn-cs"/>
                </a:rPr>
                <a:t>智能</a:t>
              </a:r>
              <a:br/>
              <a:r>
                <a:rPr lang="zh-CN" sz="680" b="1" dirty="0">
                  <a:solidFill>
                    <a:srgbClr val="FFFFFF"/>
                  </a:solidFill>
                  <a:latin typeface="+mn-lt"/>
                  <a:ea typeface="+mn-ea"/>
                  <a:cs typeface="+mn-cs"/>
                </a:rPr>
                <a:t>分析</a:t>
              </a:r>
            </a:p>
          </p:txBody>
        </p:sp>
      </p:grpSp>
      <p:grpSp>
        <p:nvGrpSpPr>
          <p:cNvPr id="104" name="bottom-row"/>
          <p:cNvGrpSpPr/>
          <p:nvPr/>
        </p:nvGrpSpPr>
        <p:grpSpPr>
          <a:xfrm>
            <a:off x="2819400" y="4281488"/>
            <a:ext cx="3371850" cy="547688"/>
            <a:chOff x="2819400" y="4281488"/>
            <a:chExt cx="3371850" cy="547688"/>
          </a:xfrm>
        </p:grpSpPr>
        <p:sp>
          <p:nvSpPr>
            <p:cNvPr id="86" name="Rectangle 86"/>
            <p:cNvSpPr/>
            <p:nvPr/>
          </p:nvSpPr>
          <p:spPr>
            <a:xfrm>
              <a:off x="2819400" y="4400550"/>
              <a:ext cx="1047750" cy="285750"/>
            </a:xfrm>
            <a:prstGeom prst="roundRect">
              <a:avLst>
                <a:gd name="adj" fmla="val 13333"/>
              </a:avLst>
            </a:prstGeom>
            <a:solidFill>
              <a:srgbClr val="F7B9AE"/>
            </a:solidFill>
            <a:ln>
              <a:noFill/>
            </a:ln>
          </p:spPr>
        </p:sp>
        <p:grpSp>
          <p:nvGrpSpPr>
            <p:cNvPr id="90" name="Group 90"/>
            <p:cNvGrpSpPr/>
            <p:nvPr/>
          </p:nvGrpSpPr>
          <p:grpSpPr>
            <a:xfrm>
              <a:off x="2921919" y="4486275"/>
              <a:ext cx="116556" cy="116556"/>
              <a:chOff x="2921919" y="4486275"/>
              <a:chExt cx="116556" cy="116556"/>
            </a:xfrm>
          </p:grpSpPr>
          <p:sp>
            <p:nvSpPr>
              <p:cNvPr id="87" name="Freeform 87"/>
              <p:cNvSpPr/>
              <p:nvPr/>
            </p:nvSpPr>
            <p:spPr>
              <a:xfrm>
                <a:off x="2924175" y="4486275"/>
                <a:ext cx="114300" cy="114300"/>
              </a:xfrm>
              <a:custGeom>
                <a:avLst/>
                <a:gdLst/>
                <a:ahLst/>
                <a:cxnLst/>
                <a:rect l="l" t="t" r="r" b="b"/>
                <a:pathLst>
                  <a:path w="114300" h="114300">
                    <a:moveTo>
                      <a:pt x="0" y="64294"/>
                    </a:moveTo>
                    <a:cubicBezTo>
                      <a:pt x="26219" y="67410"/>
                      <a:pt x="46890" y="88081"/>
                      <a:pt x="50006" y="114300"/>
                    </a:cubicBezTo>
                    <a:cubicBezTo>
                      <a:pt x="62844" y="106899"/>
                      <a:pt x="70948" y="93392"/>
                      <a:pt x="71438" y="78581"/>
                    </a:cubicBezTo>
                    <a:cubicBezTo>
                      <a:pt x="95968" y="69952"/>
                      <a:pt x="112884" y="47396"/>
                      <a:pt x="114300" y="21431"/>
                    </a:cubicBezTo>
                    <a:cubicBezTo>
                      <a:pt x="114300" y="9595"/>
                      <a:pt x="104705" y="0"/>
                      <a:pt x="92869" y="0"/>
                    </a:cubicBezTo>
                    <a:cubicBezTo>
                      <a:pt x="66904" y="1416"/>
                      <a:pt x="44348" y="18332"/>
                      <a:pt x="35719" y="42862"/>
                    </a:cubicBezTo>
                    <a:cubicBezTo>
                      <a:pt x="20908" y="43352"/>
                      <a:pt x="7401" y="51456"/>
                      <a:pt x="0" y="64294"/>
                    </a:cubicBezTo>
                  </a:path>
                </a:pathLst>
              </a:custGeom>
              <a:noFill/>
              <a:ln w="14288">
                <a:solidFill>
                  <a:srgbClr val="8A2210"/>
                </a:solidFill>
              </a:ln>
            </p:spPr>
          </p:sp>
          <p:sp>
            <p:nvSpPr>
              <p:cNvPr id="88" name="Freeform 88"/>
              <p:cNvSpPr/>
              <p:nvPr/>
            </p:nvSpPr>
            <p:spPr>
              <a:xfrm>
                <a:off x="2921919" y="4557712"/>
                <a:ext cx="45119" cy="45119"/>
              </a:xfrm>
              <a:custGeom>
                <a:avLst/>
                <a:gdLst/>
                <a:ahLst/>
                <a:cxnLst/>
                <a:rect l="l" t="t" r="r" b="b"/>
                <a:pathLst>
                  <a:path w="45119" h="45119">
                    <a:moveTo>
                      <a:pt x="23688" y="0"/>
                    </a:moveTo>
                    <a:cubicBezTo>
                      <a:pt x="8478" y="8587"/>
                      <a:pt x="0" y="25543"/>
                      <a:pt x="2256" y="42862"/>
                    </a:cubicBezTo>
                    <a:cubicBezTo>
                      <a:pt x="19576" y="45119"/>
                      <a:pt x="36532" y="36641"/>
                      <a:pt x="45119" y="21431"/>
                    </a:cubicBezTo>
                  </a:path>
                </a:pathLst>
              </a:custGeom>
              <a:noFill/>
              <a:ln w="14288">
                <a:solidFill>
                  <a:srgbClr val="8A2210"/>
                </a:solidFill>
              </a:ln>
            </p:spPr>
          </p:sp>
          <p:sp>
            <p:nvSpPr>
              <p:cNvPr id="89" name="Freeform 89"/>
              <p:cNvSpPr/>
              <p:nvPr/>
            </p:nvSpPr>
            <p:spPr>
              <a:xfrm>
                <a:off x="2995612" y="4514850"/>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8A2210"/>
                </a:solidFill>
              </a:ln>
            </p:spPr>
          </p:sp>
        </p:grpSp>
        <p:sp>
          <p:nvSpPr>
            <p:cNvPr id="91" name="TextBox 91"/>
            <p:cNvSpPr txBox="1"/>
            <p:nvPr/>
          </p:nvSpPr>
          <p:spPr>
            <a:xfrm>
              <a:off x="3181922" y="4493895"/>
              <a:ext cx="494157" cy="176212"/>
            </a:xfrm>
            <a:prstGeom prst="rect">
              <a:avLst/>
            </a:prstGeom>
            <a:noFill/>
            <a:ln>
              <a:noFill/>
            </a:ln>
          </p:spPr>
          <p:txBody>
            <a:bodyPr wrap="none" lIns="0" tIns="0" rIns="0" bIns="0" anchor="t" anchorCtr="0">
              <a:spAutoFit/>
            </a:bodyPr>
            <a:lstStyle/>
            <a:p>
              <a:pPr algn="ctr"/>
              <a:r>
                <a:rPr lang="zh-CN" sz="900" b="1" dirty="0">
                  <a:solidFill>
                    <a:srgbClr val="8A2210"/>
                  </a:solidFill>
                  <a:latin typeface="+mn-lt"/>
                  <a:ea typeface="+mn-ea"/>
                  <a:cs typeface="+mn-cs"/>
                </a:rPr>
                <a:t>自动驾驶</a:t>
              </a:r>
            </a:p>
          </p:txBody>
        </p:sp>
        <p:sp>
          <p:nvSpPr>
            <p:cNvPr id="92" name="Line 92"/>
            <p:cNvSpPr/>
            <p:nvPr/>
          </p:nvSpPr>
          <p:spPr>
            <a:xfrm>
              <a:off x="3924300" y="4438650"/>
              <a:ext cx="1181100" cy="1"/>
            </a:xfrm>
            <a:prstGeom prst="line">
              <a:avLst/>
            </a:prstGeom>
            <a:noFill/>
            <a:ln w="11430">
              <a:solidFill>
                <a:srgbClr val="9C594C"/>
              </a:solidFill>
              <a:custDash>
                <a:ds d="333333" sp="250000"/>
              </a:custDash>
              <a:tailEnd type="triangle" w="lg" len="lg"/>
            </a:ln>
          </p:spPr>
        </p:sp>
        <p:sp>
          <p:nvSpPr>
            <p:cNvPr id="93" name="TextBox 93"/>
            <p:cNvSpPr txBox="1"/>
            <p:nvPr/>
          </p:nvSpPr>
          <p:spPr>
            <a:xfrm>
              <a:off x="4346258" y="4281488"/>
              <a:ext cx="413385" cy="147638"/>
            </a:xfrm>
            <a:prstGeom prst="rect">
              <a:avLst/>
            </a:prstGeom>
            <a:noFill/>
            <a:ln>
              <a:noFill/>
            </a:ln>
          </p:spPr>
          <p:txBody>
            <a:bodyPr wrap="none" lIns="0" tIns="0" rIns="0" bIns="0" anchor="t" anchorCtr="0">
              <a:spAutoFit/>
            </a:bodyPr>
            <a:lstStyle/>
            <a:p>
              <a:pPr algn="ctr"/>
              <a:r>
                <a:rPr lang="zh-CN" sz="750" dirty="0">
                  <a:solidFill>
                    <a:srgbClr val="7A3E33"/>
                  </a:solidFill>
                  <a:latin typeface="+mn-lt"/>
                  <a:ea typeface="+mn-ea"/>
                  <a:cs typeface="+mn-cs"/>
                </a:rPr>
                <a:t>相互影响</a:t>
              </a:r>
            </a:p>
          </p:txBody>
        </p:sp>
        <p:sp>
          <p:nvSpPr>
            <p:cNvPr id="94" name="Line 94"/>
            <p:cNvSpPr/>
            <p:nvPr/>
          </p:nvSpPr>
          <p:spPr>
            <a:xfrm flipH="1">
              <a:off x="3924300" y="4648200"/>
              <a:ext cx="1181100" cy="1"/>
            </a:xfrm>
            <a:prstGeom prst="line">
              <a:avLst/>
            </a:prstGeom>
            <a:noFill/>
            <a:ln w="11430">
              <a:solidFill>
                <a:srgbClr val="E9563C"/>
              </a:solidFill>
              <a:custDash>
                <a:ds d="333333" sp="250000"/>
              </a:custDash>
              <a:tailEnd type="triangle" w="lg" len="lg"/>
            </a:ln>
          </p:spPr>
        </p:sp>
        <p:sp>
          <p:nvSpPr>
            <p:cNvPr id="95" name="TextBox 95"/>
            <p:cNvSpPr txBox="1"/>
            <p:nvPr/>
          </p:nvSpPr>
          <p:spPr>
            <a:xfrm>
              <a:off x="4346258" y="4681538"/>
              <a:ext cx="413385" cy="147638"/>
            </a:xfrm>
            <a:prstGeom prst="rect">
              <a:avLst/>
            </a:prstGeom>
            <a:noFill/>
            <a:ln>
              <a:noFill/>
            </a:ln>
          </p:spPr>
          <p:txBody>
            <a:bodyPr wrap="none" lIns="0" tIns="0" rIns="0" bIns="0" anchor="t" anchorCtr="0">
              <a:spAutoFit/>
            </a:bodyPr>
            <a:lstStyle/>
            <a:p>
              <a:pPr algn="ctr"/>
              <a:r>
                <a:rPr lang="zh-CN" sz="750" dirty="0">
                  <a:solidFill>
                    <a:srgbClr val="D6391E"/>
                  </a:solidFill>
                  <a:latin typeface="+mn-lt"/>
                  <a:ea typeface="+mn-ea"/>
                  <a:cs typeface="+mn-cs"/>
                </a:rPr>
                <a:t>相互发展</a:t>
              </a:r>
            </a:p>
          </p:txBody>
        </p:sp>
        <p:sp>
          <p:nvSpPr>
            <p:cNvPr id="96" name="Rectangle 96"/>
            <p:cNvSpPr/>
            <p:nvPr/>
          </p:nvSpPr>
          <p:spPr>
            <a:xfrm>
              <a:off x="5143500" y="4400550"/>
              <a:ext cx="1047750" cy="285750"/>
            </a:xfrm>
            <a:prstGeom prst="roundRect">
              <a:avLst>
                <a:gd name="adj" fmla="val 13333"/>
              </a:avLst>
            </a:prstGeom>
            <a:solidFill>
              <a:srgbClr val="DFF0D2"/>
            </a:solidFill>
            <a:ln>
              <a:noFill/>
            </a:ln>
          </p:spPr>
        </p:sp>
        <p:grpSp>
          <p:nvGrpSpPr>
            <p:cNvPr id="102" name="Group 102"/>
            <p:cNvGrpSpPr/>
            <p:nvPr/>
          </p:nvGrpSpPr>
          <p:grpSpPr>
            <a:xfrm>
              <a:off x="5241131" y="4478174"/>
              <a:ext cx="128588" cy="129544"/>
              <a:chOff x="5241131" y="4478174"/>
              <a:chExt cx="128588" cy="129544"/>
            </a:xfrm>
          </p:grpSpPr>
          <p:sp>
            <p:nvSpPr>
              <p:cNvPr id="97" name="Freeform 97"/>
              <p:cNvSpPr/>
              <p:nvPr/>
            </p:nvSpPr>
            <p:spPr>
              <a:xfrm>
                <a:off x="5283994" y="4536281"/>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7A3E33"/>
                </a:solidFill>
              </a:ln>
            </p:spPr>
          </p:sp>
          <p:sp>
            <p:nvSpPr>
              <p:cNvPr id="98" name="Freeform 98"/>
              <p:cNvSpPr/>
              <p:nvPr/>
            </p:nvSpPr>
            <p:spPr>
              <a:xfrm>
                <a:off x="5283994" y="4557712"/>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7A3E33"/>
                </a:solidFill>
              </a:ln>
            </p:spPr>
          </p:sp>
          <p:sp>
            <p:nvSpPr>
              <p:cNvPr id="99" name="Freeform 99"/>
              <p:cNvSpPr/>
              <p:nvPr/>
            </p:nvSpPr>
            <p:spPr>
              <a:xfrm>
                <a:off x="5241131" y="4478174"/>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7A3E33"/>
                </a:solidFill>
              </a:ln>
            </p:spPr>
          </p:sp>
          <p:sp>
            <p:nvSpPr>
              <p:cNvPr id="100" name="Freeform 100"/>
              <p:cNvSpPr/>
              <p:nvPr/>
            </p:nvSpPr>
            <p:spPr>
              <a:xfrm>
                <a:off x="5241131" y="4500562"/>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7A3E33"/>
                </a:solidFill>
              </a:ln>
            </p:spPr>
          </p:sp>
          <p:sp>
            <p:nvSpPr>
              <p:cNvPr id="101" name="Freeform 101"/>
              <p:cNvSpPr/>
              <p:nvPr/>
            </p:nvSpPr>
            <p:spPr>
              <a:xfrm>
                <a:off x="5241131" y="4536281"/>
                <a:ext cx="14288" cy="14288"/>
              </a:xfrm>
              <a:custGeom>
                <a:avLst/>
                <a:gdLst/>
                <a:ahLst/>
                <a:cxnLst/>
                <a:rect l="l" t="t" r="r" b="b"/>
                <a:pathLst>
                  <a:path w="14288" h="14288">
                    <a:moveTo>
                      <a:pt x="0" y="0"/>
                    </a:moveTo>
                    <a:cubicBezTo>
                      <a:pt x="0" y="6344"/>
                      <a:pt x="5515" y="10358"/>
                      <a:pt x="14288" y="14288"/>
                    </a:cubicBezTo>
                  </a:path>
                </a:pathLst>
              </a:custGeom>
              <a:noFill/>
              <a:ln w="14288">
                <a:solidFill>
                  <a:srgbClr val="7A3E33"/>
                </a:solidFill>
              </a:ln>
            </p:spPr>
          </p:sp>
        </p:grpSp>
        <p:sp>
          <p:nvSpPr>
            <p:cNvPr id="103" name="TextBox 103"/>
            <p:cNvSpPr txBox="1"/>
            <p:nvPr/>
          </p:nvSpPr>
          <p:spPr>
            <a:xfrm>
              <a:off x="5506021" y="4493895"/>
              <a:ext cx="494157" cy="176212"/>
            </a:xfrm>
            <a:prstGeom prst="rect">
              <a:avLst/>
            </a:prstGeom>
            <a:noFill/>
            <a:ln>
              <a:noFill/>
            </a:ln>
          </p:spPr>
          <p:txBody>
            <a:bodyPr wrap="none" lIns="0" tIns="0" rIns="0" bIns="0" anchor="t" anchorCtr="0">
              <a:spAutoFit/>
            </a:bodyPr>
            <a:lstStyle/>
            <a:p>
              <a:pPr algn="ctr"/>
              <a:r>
                <a:rPr lang="zh-CN" sz="900" b="1" dirty="0">
                  <a:solidFill>
                    <a:srgbClr val="7A3E33"/>
                  </a:solidFill>
                  <a:latin typeface="+mn-lt"/>
                  <a:ea typeface="+mn-ea"/>
                  <a:cs typeface="+mn-cs"/>
                </a:rPr>
                <a:t>智慧金融</a:t>
              </a:r>
            </a:p>
          </p:txBody>
        </p:sp>
      </p:grpSp>
      <p:grpSp>
        <p:nvGrpSpPr>
          <p:cNvPr id="124" name="customer-success"/>
          <p:cNvGrpSpPr/>
          <p:nvPr/>
        </p:nvGrpSpPr>
        <p:grpSpPr>
          <a:xfrm>
            <a:off x="9558338" y="988695"/>
            <a:ext cx="1357312" cy="2592705"/>
            <a:chOff x="9558338" y="988695"/>
            <a:chExt cx="1357312" cy="2592705"/>
          </a:xfrm>
        </p:grpSpPr>
        <p:sp>
          <p:nvSpPr>
            <p:cNvPr id="105" name="TextBox 105"/>
            <p:cNvSpPr txBox="1"/>
            <p:nvPr/>
          </p:nvSpPr>
          <p:spPr>
            <a:xfrm>
              <a:off x="9992296" y="988695"/>
              <a:ext cx="494157"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客户成功</a:t>
              </a:r>
            </a:p>
          </p:txBody>
        </p:sp>
        <p:sp>
          <p:nvSpPr>
            <p:cNvPr id="106" name="TextBox 106"/>
            <p:cNvSpPr txBox="1"/>
            <p:nvPr/>
          </p:nvSpPr>
          <p:spPr>
            <a:xfrm>
              <a:off x="9868446" y="1165384"/>
              <a:ext cx="741858" cy="133350"/>
            </a:xfrm>
            <a:prstGeom prst="rect">
              <a:avLst/>
            </a:prstGeom>
            <a:noFill/>
            <a:ln>
              <a:noFill/>
            </a:ln>
          </p:spPr>
          <p:txBody>
            <a:bodyPr wrap="none" lIns="0" tIns="0" rIns="0" bIns="0" anchor="t" anchorCtr="0">
              <a:spAutoFit/>
            </a:bodyPr>
            <a:lstStyle/>
            <a:p>
              <a:pPr algn="ctr"/>
              <a:r>
                <a:rPr lang="zh-CN" sz="680" dirty="0">
                  <a:solidFill>
                    <a:srgbClr val="8C8C8C"/>
                  </a:solidFill>
                  <a:latin typeface="+mn-lt"/>
                  <a:ea typeface="+mn-ea"/>
                  <a:cs typeface="+mn-cs"/>
                </a:rPr>
                <a:t>关注客户生命周期</a:t>
              </a:r>
            </a:p>
          </p:txBody>
        </p:sp>
        <p:sp>
          <p:nvSpPr>
            <p:cNvPr id="107" name="TextBox 107"/>
            <p:cNvSpPr txBox="1"/>
            <p:nvPr/>
          </p:nvSpPr>
          <p:spPr>
            <a:xfrm>
              <a:off x="9558338" y="1434941"/>
              <a:ext cx="561467" cy="161925"/>
            </a:xfrm>
            <a:prstGeom prst="rect">
              <a:avLst/>
            </a:prstGeom>
            <a:noFill/>
            <a:ln>
              <a:noFill/>
            </a:ln>
          </p:spPr>
          <p:txBody>
            <a:bodyPr wrap="none" lIns="0" tIns="0" rIns="0" bIns="0" anchor="t" anchorCtr="0">
              <a:spAutoFit/>
            </a:bodyPr>
            <a:lstStyle/>
            <a:p>
              <a:pPr algn="l"/>
              <a:r>
                <a:rPr lang="zh-CN" sz="820" b="1" dirty="0">
                  <a:solidFill>
                    <a:srgbClr val="7A3E33"/>
                  </a:solidFill>
                  <a:latin typeface="+mn-lt"/>
                  <a:ea typeface="+mn-ea"/>
                  <a:cs typeface="+mn-cs"/>
                </a:rPr>
                <a:t>从功能出发</a:t>
              </a:r>
            </a:p>
          </p:txBody>
        </p:sp>
        <p:sp>
          <p:nvSpPr>
            <p:cNvPr id="108" name="TextBox 108"/>
            <p:cNvSpPr txBox="1"/>
            <p:nvPr/>
          </p:nvSpPr>
          <p:spPr>
            <a:xfrm>
              <a:off x="9558338" y="1630680"/>
              <a:ext cx="847725" cy="804862"/>
            </a:xfrm>
            <a:prstGeom prst="rect">
              <a:avLst/>
            </a:prstGeom>
            <a:noFill/>
            <a:ln>
              <a:noFill/>
            </a:ln>
          </p:spPr>
          <p:txBody>
            <a:bodyPr wrap="none" lIns="0" tIns="0" rIns="0" bIns="0" anchor="t" anchorCtr="0">
              <a:spAutoFit/>
            </a:bodyPr>
            <a:lstStyle/>
            <a:p>
              <a:pPr algn="l">
                <a:lnSpc>
                  <a:spcPts val="900"/>
                </a:lnSpc>
              </a:pPr>
              <a:r>
                <a:rPr lang="zh-CN" sz="600" dirty="0">
                  <a:solidFill>
                    <a:srgbClr val="595959"/>
                  </a:solidFill>
                  <a:latin typeface="+mn-lt"/>
                  <a:ea typeface="+mn-ea"/>
                  <a:cs typeface="+mn-cs"/>
                </a:rPr>
                <a:t>先对城市的治理、产业、</a:t>
              </a:r>
              <a:br/>
              <a:r>
                <a:rPr lang="zh-CN" sz="600" dirty="0">
                  <a:solidFill>
                    <a:srgbClr val="595959"/>
                  </a:solidFill>
                  <a:latin typeface="+mn-lt"/>
                  <a:ea typeface="+mn-ea"/>
                  <a:cs typeface="+mn-cs"/>
                </a:rPr>
                <a:t>环境等单个或多个重点</a:t>
              </a:r>
              <a:br/>
              <a:r>
                <a:rPr lang="zh-CN" sz="600" dirty="0">
                  <a:solidFill>
                    <a:srgbClr val="595959"/>
                  </a:solidFill>
                  <a:latin typeface="+mn-lt"/>
                  <a:ea typeface="+mn-ea"/>
                  <a:cs typeface="+mn-cs"/>
                </a:rPr>
                <a:t>功能领域进行数字化改</a:t>
              </a:r>
              <a:br/>
              <a:r>
                <a:rPr lang="zh-CN" sz="600" dirty="0">
                  <a:solidFill>
                    <a:srgbClr val="595959"/>
                  </a:solidFill>
                  <a:latin typeface="+mn-lt"/>
                  <a:ea typeface="+mn-ea"/>
                  <a:cs typeface="+mn-cs"/>
                </a:rPr>
                <a:t>造,提升城市运行质量和</a:t>
              </a:r>
              <a:br/>
              <a:r>
                <a:rPr lang="zh-CN" sz="600" dirty="0">
                  <a:solidFill>
                    <a:srgbClr val="595959"/>
                  </a:solidFill>
                  <a:latin typeface="+mn-lt"/>
                  <a:ea typeface="+mn-ea"/>
                  <a:cs typeface="+mn-cs"/>
                </a:rPr>
                <a:t>效率。由此再推进城市</a:t>
              </a:r>
              <a:br/>
              <a:r>
                <a:rPr lang="zh-CN" sz="600" dirty="0">
                  <a:solidFill>
                    <a:srgbClr val="595959"/>
                  </a:solidFill>
                  <a:latin typeface="+mn-lt"/>
                  <a:ea typeface="+mn-ea"/>
                  <a:cs typeface="+mn-cs"/>
                </a:rPr>
                <a:t>横向更多单元、纵向更</a:t>
              </a:r>
              <a:br/>
              <a:r>
                <a:rPr lang="zh-CN" sz="600" dirty="0">
                  <a:solidFill>
                    <a:srgbClr val="595959"/>
                  </a:solidFill>
                  <a:latin typeface="+mn-lt"/>
                  <a:ea typeface="+mn-ea"/>
                  <a:cs typeface="+mn-cs"/>
                </a:rPr>
                <a:t>多区域的数字化</a:t>
              </a:r>
            </a:p>
          </p:txBody>
        </p:sp>
        <p:sp>
          <p:nvSpPr>
            <p:cNvPr id="109" name="Line 109"/>
            <p:cNvSpPr/>
            <p:nvPr/>
          </p:nvSpPr>
          <p:spPr>
            <a:xfrm>
              <a:off x="9563100" y="2571750"/>
              <a:ext cx="1352550" cy="9525"/>
            </a:xfrm>
            <a:custGeom>
              <a:avLst/>
              <a:gdLst/>
              <a:ahLst/>
              <a:cxnLst/>
              <a:rect l="l" t="t" r="r" b="b"/>
              <a:pathLst>
                <a:path w="1352550" h="9525">
                  <a:moveTo>
                    <a:pt x="0" y="0"/>
                  </a:moveTo>
                  <a:lnTo>
                    <a:pt x="1352550" y="0"/>
                  </a:lnTo>
                </a:path>
              </a:pathLst>
            </a:custGeom>
            <a:noFill/>
            <a:ln w="9525">
              <a:solidFill>
                <a:srgbClr val="BF857A"/>
              </a:solidFill>
              <a:custDash>
                <a:ds d="300000" sp="200000"/>
              </a:custDash>
            </a:ln>
          </p:spPr>
        </p:sp>
        <p:sp>
          <p:nvSpPr>
            <p:cNvPr id="110" name="TextBox 110"/>
            <p:cNvSpPr txBox="1"/>
            <p:nvPr/>
          </p:nvSpPr>
          <p:spPr>
            <a:xfrm>
              <a:off x="10032682" y="2643188"/>
              <a:ext cx="413385"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客户成功</a:t>
              </a:r>
            </a:p>
          </p:txBody>
        </p:sp>
        <p:sp>
          <p:nvSpPr>
            <p:cNvPr id="111" name="Rectangle 111"/>
            <p:cNvSpPr/>
            <p:nvPr/>
          </p:nvSpPr>
          <p:spPr>
            <a:xfrm>
              <a:off x="9563100" y="2857500"/>
              <a:ext cx="171450" cy="723900"/>
            </a:xfrm>
            <a:prstGeom prst="rect">
              <a:avLst/>
            </a:prstGeom>
            <a:solidFill>
              <a:srgbClr val="DFF0D2"/>
            </a:solidFill>
            <a:ln>
              <a:noFill/>
            </a:ln>
          </p:spPr>
        </p:sp>
        <p:sp>
          <p:nvSpPr>
            <p:cNvPr id="112" name="TextBox 112"/>
            <p:cNvSpPr txBox="1"/>
            <p:nvPr/>
          </p:nvSpPr>
          <p:spPr>
            <a:xfrm>
              <a:off x="9605962" y="2926080"/>
              <a:ext cx="85725" cy="642938"/>
            </a:xfrm>
            <a:prstGeom prst="rect">
              <a:avLst/>
            </a:prstGeom>
            <a:noFill/>
            <a:ln>
              <a:noFill/>
            </a:ln>
          </p:spPr>
          <p:txBody>
            <a:bodyPr wrap="none" lIns="0" tIns="0" rIns="0" bIns="0" anchor="t" anchorCtr="0">
              <a:spAutoFit/>
            </a:bodyPr>
            <a:lstStyle/>
            <a:p>
              <a:pPr algn="ctr">
                <a:lnSpc>
                  <a:spcPts val="825"/>
                </a:lnSpc>
              </a:pPr>
              <a:r>
                <a:rPr lang="zh-CN" sz="600" dirty="0">
                  <a:solidFill>
                    <a:srgbClr val="7A3E33"/>
                  </a:solidFill>
                  <a:latin typeface="+mn-lt"/>
                  <a:ea typeface="+mn-ea"/>
                  <a:cs typeface="+mn-cs"/>
                </a:rPr>
                <a:t>商</a:t>
              </a:r>
              <a:br/>
              <a:r>
                <a:rPr lang="zh-CN" sz="600" dirty="0">
                  <a:solidFill>
                    <a:srgbClr val="7A3E33"/>
                  </a:solidFill>
                  <a:latin typeface="+mn-lt"/>
                  <a:ea typeface="+mn-ea"/>
                  <a:cs typeface="+mn-cs"/>
                </a:rPr>
                <a:t>品</a:t>
              </a:r>
              <a:br/>
              <a:r>
                <a:rPr lang="zh-CN" sz="600" dirty="0">
                  <a:solidFill>
                    <a:srgbClr val="7A3E33"/>
                  </a:solidFill>
                  <a:latin typeface="+mn-lt"/>
                  <a:ea typeface="+mn-ea"/>
                  <a:cs typeface="+mn-cs"/>
                </a:rPr>
                <a:t>品</a:t>
              </a:r>
              <a:br/>
              <a:r>
                <a:rPr lang="zh-CN" sz="600" dirty="0">
                  <a:solidFill>
                    <a:srgbClr val="7A3E33"/>
                  </a:solidFill>
                  <a:latin typeface="+mn-lt"/>
                  <a:ea typeface="+mn-ea"/>
                  <a:cs typeface="+mn-cs"/>
                </a:rPr>
                <a:t>牌</a:t>
              </a:r>
              <a:br/>
              <a:r>
                <a:rPr lang="zh-CN" sz="600" dirty="0">
                  <a:solidFill>
                    <a:srgbClr val="7A3E33"/>
                  </a:solidFill>
                  <a:latin typeface="+mn-lt"/>
                  <a:ea typeface="+mn-ea"/>
                  <a:cs typeface="+mn-cs"/>
                </a:rPr>
                <a:t>推</a:t>
              </a:r>
              <a:br/>
              <a:r>
                <a:rPr lang="zh-CN" sz="600" dirty="0">
                  <a:solidFill>
                    <a:srgbClr val="7A3E33"/>
                  </a:solidFill>
                  <a:latin typeface="+mn-lt"/>
                  <a:ea typeface="+mn-ea"/>
                  <a:cs typeface="+mn-cs"/>
                </a:rPr>
                <a:t>荐</a:t>
              </a:r>
            </a:p>
          </p:txBody>
        </p:sp>
        <p:sp>
          <p:nvSpPr>
            <p:cNvPr id="113" name="Rectangle 113"/>
            <p:cNvSpPr/>
            <p:nvPr/>
          </p:nvSpPr>
          <p:spPr>
            <a:xfrm>
              <a:off x="9810750" y="3067050"/>
              <a:ext cx="285750" cy="285750"/>
            </a:xfrm>
            <a:prstGeom prst="roundRect">
              <a:avLst>
                <a:gd name="adj" fmla="val 13333"/>
              </a:avLst>
            </a:prstGeom>
            <a:solidFill>
              <a:srgbClr val="F4F8EF"/>
            </a:solidFill>
            <a:ln w="9525">
              <a:solidFill>
                <a:srgbClr val="C9D8BD"/>
              </a:solidFill>
            </a:ln>
          </p:spPr>
        </p:sp>
        <p:sp>
          <p:nvSpPr>
            <p:cNvPr id="114" name="TextBox 114"/>
            <p:cNvSpPr txBox="1"/>
            <p:nvPr/>
          </p:nvSpPr>
          <p:spPr>
            <a:xfrm>
              <a:off x="9877742" y="3120628"/>
              <a:ext cx="151765"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333333"/>
                  </a:solidFill>
                  <a:latin typeface="+mn-lt"/>
                  <a:ea typeface="+mn-ea"/>
                  <a:cs typeface="+mn-cs"/>
                </a:rPr>
                <a:t>用户</a:t>
              </a:r>
              <a:br/>
              <a:r>
                <a:rPr lang="zh-CN" sz="560" dirty="0">
                  <a:solidFill>
                    <a:srgbClr val="333333"/>
                  </a:solidFill>
                  <a:latin typeface="+mn-lt"/>
                  <a:ea typeface="+mn-ea"/>
                  <a:cs typeface="+mn-cs"/>
                </a:rPr>
                <a:t>关系</a:t>
              </a:r>
            </a:p>
          </p:txBody>
        </p:sp>
        <p:sp>
          <p:nvSpPr>
            <p:cNvPr id="115" name="Line 115"/>
            <p:cNvSpPr/>
            <p:nvPr/>
          </p:nvSpPr>
          <p:spPr>
            <a:xfrm>
              <a:off x="10096500" y="3209925"/>
              <a:ext cx="152400" cy="9525"/>
            </a:xfrm>
            <a:custGeom>
              <a:avLst/>
              <a:gdLst/>
              <a:ahLst/>
              <a:cxnLst/>
              <a:rect l="l" t="t" r="r" b="b"/>
              <a:pathLst>
                <a:path w="152400" h="9525">
                  <a:moveTo>
                    <a:pt x="0" y="0"/>
                  </a:moveTo>
                  <a:lnTo>
                    <a:pt x="152400" y="0"/>
                  </a:lnTo>
                </a:path>
              </a:pathLst>
            </a:custGeom>
            <a:noFill/>
            <a:ln w="9525">
              <a:solidFill>
                <a:srgbClr val="BF857A"/>
              </a:solidFill>
              <a:prstDash val="sysDot"/>
            </a:ln>
          </p:spPr>
        </p:sp>
        <p:sp>
          <p:nvSpPr>
            <p:cNvPr id="116" name="Rectangle 116"/>
            <p:cNvSpPr/>
            <p:nvPr/>
          </p:nvSpPr>
          <p:spPr>
            <a:xfrm>
              <a:off x="10267950" y="2857500"/>
              <a:ext cx="571500" cy="133350"/>
            </a:xfrm>
            <a:prstGeom prst="rect">
              <a:avLst/>
            </a:prstGeom>
            <a:solidFill>
              <a:srgbClr val="FFFFFF"/>
            </a:solidFill>
            <a:ln w="9525">
              <a:solidFill>
                <a:srgbClr val="BF857A"/>
              </a:solidFill>
            </a:ln>
          </p:spPr>
        </p:sp>
        <p:sp>
          <p:nvSpPr>
            <p:cNvPr id="117" name="TextBox 117"/>
            <p:cNvSpPr txBox="1"/>
            <p:nvPr/>
          </p:nvSpPr>
          <p:spPr>
            <a:xfrm>
              <a:off x="10398163" y="2892028"/>
              <a:ext cx="311074" cy="111919"/>
            </a:xfrm>
            <a:prstGeom prst="rect">
              <a:avLst/>
            </a:prstGeom>
            <a:noFill/>
            <a:ln>
              <a:noFill/>
            </a:ln>
          </p:spPr>
          <p:txBody>
            <a:bodyPr wrap="none" lIns="0" tIns="0" rIns="0" bIns="0" anchor="t" anchorCtr="0">
              <a:spAutoFit/>
            </a:bodyPr>
            <a:lstStyle/>
            <a:p>
              <a:pPr algn="ctr"/>
              <a:r>
                <a:rPr lang="zh-CN" sz="560" dirty="0">
                  <a:solidFill>
                    <a:srgbClr val="333333"/>
                  </a:solidFill>
                  <a:latin typeface="+mn-lt"/>
                  <a:ea typeface="+mn-ea"/>
                  <a:cs typeface="+mn-cs"/>
                </a:rPr>
                <a:t>销售触达</a:t>
              </a:r>
            </a:p>
          </p:txBody>
        </p:sp>
        <p:sp>
          <p:nvSpPr>
            <p:cNvPr id="118" name="Rectangle 118"/>
            <p:cNvSpPr/>
            <p:nvPr/>
          </p:nvSpPr>
          <p:spPr>
            <a:xfrm>
              <a:off x="10267950" y="3028950"/>
              <a:ext cx="571500" cy="133350"/>
            </a:xfrm>
            <a:prstGeom prst="rect">
              <a:avLst/>
            </a:prstGeom>
            <a:solidFill>
              <a:srgbClr val="FFFFFF"/>
            </a:solidFill>
            <a:ln w="9525">
              <a:solidFill>
                <a:srgbClr val="BF857A"/>
              </a:solidFill>
            </a:ln>
          </p:spPr>
        </p:sp>
        <p:sp>
          <p:nvSpPr>
            <p:cNvPr id="119" name="TextBox 119"/>
            <p:cNvSpPr txBox="1"/>
            <p:nvPr/>
          </p:nvSpPr>
          <p:spPr>
            <a:xfrm>
              <a:off x="10368426" y="3063478"/>
              <a:ext cx="370548" cy="111919"/>
            </a:xfrm>
            <a:prstGeom prst="rect">
              <a:avLst/>
            </a:prstGeom>
            <a:noFill/>
            <a:ln>
              <a:noFill/>
            </a:ln>
          </p:spPr>
          <p:txBody>
            <a:bodyPr wrap="none" lIns="0" tIns="0" rIns="0" bIns="0" anchor="t" anchorCtr="0">
              <a:spAutoFit/>
            </a:bodyPr>
            <a:lstStyle/>
            <a:p>
              <a:pPr algn="ctr"/>
              <a:r>
                <a:rPr lang="zh-CN" sz="560" dirty="0">
                  <a:solidFill>
                    <a:srgbClr val="333333"/>
                  </a:solidFill>
                  <a:latin typeface="+mn-lt"/>
                  <a:ea typeface="+mn-ea"/>
                  <a:cs typeface="+mn-cs"/>
                </a:rPr>
                <a:t>主动Push​</a:t>
              </a:r>
            </a:p>
          </p:txBody>
        </p:sp>
        <p:sp>
          <p:nvSpPr>
            <p:cNvPr id="120" name="Rectangle 120"/>
            <p:cNvSpPr/>
            <p:nvPr/>
          </p:nvSpPr>
          <p:spPr>
            <a:xfrm>
              <a:off x="10267950" y="3200400"/>
              <a:ext cx="571500" cy="133350"/>
            </a:xfrm>
            <a:prstGeom prst="rect">
              <a:avLst/>
            </a:prstGeom>
            <a:solidFill>
              <a:srgbClr val="FFFFFF"/>
            </a:solidFill>
            <a:ln w="9525">
              <a:solidFill>
                <a:srgbClr val="BF857A"/>
              </a:solidFill>
            </a:ln>
          </p:spPr>
        </p:sp>
        <p:sp>
          <p:nvSpPr>
            <p:cNvPr id="121" name="TextBox 121"/>
            <p:cNvSpPr txBox="1"/>
            <p:nvPr/>
          </p:nvSpPr>
          <p:spPr>
            <a:xfrm>
              <a:off x="10398163" y="3234928"/>
              <a:ext cx="311074" cy="111919"/>
            </a:xfrm>
            <a:prstGeom prst="rect">
              <a:avLst/>
            </a:prstGeom>
            <a:noFill/>
            <a:ln>
              <a:noFill/>
            </a:ln>
          </p:spPr>
          <p:txBody>
            <a:bodyPr wrap="none" lIns="0" tIns="0" rIns="0" bIns="0" anchor="t" anchorCtr="0">
              <a:spAutoFit/>
            </a:bodyPr>
            <a:lstStyle/>
            <a:p>
              <a:pPr algn="ctr"/>
              <a:r>
                <a:rPr lang="zh-CN" sz="560" dirty="0">
                  <a:solidFill>
                    <a:srgbClr val="333333"/>
                  </a:solidFill>
                  <a:latin typeface="+mn-lt"/>
                  <a:ea typeface="+mn-ea"/>
                  <a:cs typeface="+mn-cs"/>
                </a:rPr>
                <a:t>全域标签</a:t>
              </a:r>
            </a:p>
          </p:txBody>
        </p:sp>
        <p:sp>
          <p:nvSpPr>
            <p:cNvPr id="122" name="Rectangle 122"/>
            <p:cNvSpPr/>
            <p:nvPr/>
          </p:nvSpPr>
          <p:spPr>
            <a:xfrm>
              <a:off x="10267950" y="3371850"/>
              <a:ext cx="571500" cy="133350"/>
            </a:xfrm>
            <a:prstGeom prst="rect">
              <a:avLst/>
            </a:prstGeom>
            <a:solidFill>
              <a:srgbClr val="FFFFFF"/>
            </a:solidFill>
            <a:ln w="9525">
              <a:solidFill>
                <a:srgbClr val="BF857A"/>
              </a:solidFill>
            </a:ln>
          </p:spPr>
        </p:sp>
        <p:sp>
          <p:nvSpPr>
            <p:cNvPr id="123" name="TextBox 123"/>
            <p:cNvSpPr txBox="1"/>
            <p:nvPr/>
          </p:nvSpPr>
          <p:spPr>
            <a:xfrm>
              <a:off x="10398163" y="3406378"/>
              <a:ext cx="311074" cy="111919"/>
            </a:xfrm>
            <a:prstGeom prst="rect">
              <a:avLst/>
            </a:prstGeom>
            <a:noFill/>
            <a:ln>
              <a:noFill/>
            </a:ln>
          </p:spPr>
          <p:txBody>
            <a:bodyPr wrap="none" lIns="0" tIns="0" rIns="0" bIns="0" anchor="t" anchorCtr="0">
              <a:spAutoFit/>
            </a:bodyPr>
            <a:lstStyle/>
            <a:p>
              <a:pPr algn="ctr"/>
              <a:r>
                <a:rPr lang="zh-CN" sz="560" dirty="0">
                  <a:solidFill>
                    <a:srgbClr val="333333"/>
                  </a:solidFill>
                  <a:latin typeface="+mn-lt"/>
                  <a:ea typeface="+mn-ea"/>
                  <a:cs typeface="+mn-cs"/>
                </a:rPr>
                <a:t>应用分发</a:t>
              </a:r>
            </a:p>
          </p:txBody>
        </p:sp>
      </p:grpSp>
      <p:grpSp>
        <p:nvGrpSpPr>
          <p:cNvPr id="128" name="vtext-right"/>
          <p:cNvGrpSpPr/>
          <p:nvPr/>
        </p:nvGrpSpPr>
        <p:grpSpPr>
          <a:xfrm>
            <a:off x="11125200" y="1066800"/>
            <a:ext cx="577596" cy="4324350"/>
            <a:chOff x="11125200" y="1066800"/>
            <a:chExt cx="577596" cy="4324350"/>
          </a:xfrm>
        </p:grpSpPr>
        <p:sp>
          <p:nvSpPr>
            <p:cNvPr id="125" name="TextBox 125"/>
            <p:cNvSpPr txBox="1"/>
            <p:nvPr/>
          </p:nvSpPr>
          <p:spPr>
            <a:xfrm>
              <a:off x="11538204" y="1127760"/>
              <a:ext cx="164592" cy="4235196"/>
            </a:xfrm>
            <a:prstGeom prst="rect">
              <a:avLst/>
            </a:prstGeom>
            <a:noFill/>
            <a:ln>
              <a:noFill/>
            </a:ln>
          </p:spPr>
          <p:txBody>
            <a:bodyPr wrap="none" lIns="0" tIns="0" rIns="0" bIns="0" anchor="t" anchorCtr="0">
              <a:spAutoFit/>
            </a:bodyPr>
            <a:lstStyle/>
            <a:p>
              <a:pPr algn="ctr">
                <a:lnSpc>
                  <a:spcPts val="2250"/>
                </a:lnSpc>
              </a:pPr>
              <a:r>
                <a:rPr lang="zh-CN" sz="1200" b="1" dirty="0">
                  <a:solidFill>
                    <a:srgbClr val="7A3E33"/>
                  </a:solidFill>
                  <a:latin typeface="+mn-lt"/>
                  <a:ea typeface="+mn-ea"/>
                  <a:cs typeface="+mn-cs"/>
                </a:rPr>
                <a:t>投</a:t>
              </a:r>
              <a:br/>
              <a:r>
                <a:rPr lang="zh-CN" sz="1200" b="1" dirty="0">
                  <a:solidFill>
                    <a:srgbClr val="7A3E33"/>
                  </a:solidFill>
                  <a:latin typeface="+mn-lt"/>
                  <a:ea typeface="+mn-ea"/>
                  <a:cs typeface="+mn-cs"/>
                </a:rPr>
                <a:t>顾</a:t>
              </a:r>
              <a:br/>
              <a:r>
                <a:rPr lang="zh-CN" sz="1200" b="1" dirty="0">
                  <a:solidFill>
                    <a:srgbClr val="7A3E33"/>
                  </a:solidFill>
                  <a:latin typeface="+mn-lt"/>
                  <a:ea typeface="+mn-ea"/>
                  <a:cs typeface="+mn-cs"/>
                </a:rPr>
                <a:t>懂</a:t>
              </a:r>
              <a:br/>
              <a:r>
                <a:rPr lang="zh-CN" sz="1200" b="1" dirty="0">
                  <a:solidFill>
                    <a:srgbClr val="7A3E33"/>
                  </a:solidFill>
                  <a:latin typeface="+mn-lt"/>
                  <a:ea typeface="+mn-ea"/>
                  <a:cs typeface="+mn-cs"/>
                </a:rPr>
                <a:t>用</a:t>
              </a:r>
              <a:br/>
              <a:r>
                <a:rPr lang="zh-CN" sz="1200" b="1" dirty="0">
                  <a:solidFill>
                    <a:srgbClr val="7A3E33"/>
                  </a:solidFill>
                  <a:latin typeface="+mn-lt"/>
                  <a:ea typeface="+mn-ea"/>
                  <a:cs typeface="+mn-cs"/>
                </a:rPr>
                <a:t>户</a:t>
              </a:r>
              <a:br/>
              <a:r>
                <a:rPr lang="zh-CN" sz="1200" b="1" dirty="0">
                  <a:solidFill>
                    <a:srgbClr val="7A3E33"/>
                  </a:solidFill>
                  <a:latin typeface="+mn-lt"/>
                  <a:ea typeface="+mn-ea"/>
                  <a:cs typeface="+mn-cs"/>
                </a:rPr>
                <a:t>需</a:t>
              </a:r>
              <a:br/>
              <a:r>
                <a:rPr lang="zh-CN" sz="1200" b="1" dirty="0">
                  <a:solidFill>
                    <a:srgbClr val="7A3E33"/>
                  </a:solidFill>
                  <a:latin typeface="+mn-lt"/>
                  <a:ea typeface="+mn-ea"/>
                  <a:cs typeface="+mn-cs"/>
                </a:rPr>
                <a:t>求</a:t>
              </a:r>
              <a:br/>
              <a:r>
                <a:rPr lang="zh-CN" sz="1200" b="1" dirty="0">
                  <a:solidFill>
                    <a:srgbClr val="7A3E33"/>
                  </a:solidFill>
                  <a:latin typeface="+mn-lt"/>
                  <a:ea typeface="+mn-ea"/>
                  <a:cs typeface="+mn-cs"/>
                </a:rPr>
                <a:t>，</a:t>
              </a:r>
              <a:br/>
              <a:r>
                <a:rPr lang="zh-CN" sz="1200" b="1" dirty="0">
                  <a:solidFill>
                    <a:srgbClr val="7A3E33"/>
                  </a:solidFill>
                  <a:latin typeface="+mn-lt"/>
                  <a:ea typeface="+mn-ea"/>
                  <a:cs typeface="+mn-cs"/>
                </a:rPr>
                <a:t>链</a:t>
              </a:r>
              <a:br/>
              <a:r>
                <a:rPr lang="zh-CN" sz="1200" b="1" dirty="0">
                  <a:solidFill>
                    <a:srgbClr val="7A3E33"/>
                  </a:solidFill>
                  <a:latin typeface="+mn-lt"/>
                  <a:ea typeface="+mn-ea"/>
                  <a:cs typeface="+mn-cs"/>
                </a:rPr>
                <a:t>接</a:t>
              </a:r>
              <a:br/>
              <a:r>
                <a:rPr lang="zh-CN" sz="1200" b="1" dirty="0">
                  <a:solidFill>
                    <a:srgbClr val="7A3E33"/>
                  </a:solidFill>
                  <a:latin typeface="+mn-lt"/>
                  <a:ea typeface="+mn-ea"/>
                  <a:cs typeface="+mn-cs"/>
                </a:rPr>
                <a:t>用</a:t>
              </a:r>
              <a:br/>
              <a:r>
                <a:rPr lang="zh-CN" sz="1200" b="1" dirty="0">
                  <a:solidFill>
                    <a:srgbClr val="7A3E33"/>
                  </a:solidFill>
                  <a:latin typeface="+mn-lt"/>
                  <a:ea typeface="+mn-ea"/>
                  <a:cs typeface="+mn-cs"/>
                </a:rPr>
                <a:t>户</a:t>
              </a:r>
              <a:br/>
              <a:r>
                <a:rPr lang="zh-CN" sz="1200" b="1" dirty="0">
                  <a:solidFill>
                    <a:srgbClr val="7A3E33"/>
                  </a:solidFill>
                  <a:latin typeface="+mn-lt"/>
                  <a:ea typeface="+mn-ea"/>
                  <a:cs typeface="+mn-cs"/>
                </a:rPr>
                <a:t>和</a:t>
              </a:r>
              <a:br/>
              <a:r>
                <a:rPr lang="zh-CN" sz="1200" b="1" dirty="0">
                  <a:solidFill>
                    <a:srgbClr val="7A3E33"/>
                  </a:solidFill>
                  <a:latin typeface="+mn-lt"/>
                  <a:ea typeface="+mn-ea"/>
                  <a:cs typeface="+mn-cs"/>
                </a:rPr>
                <a:t>产</a:t>
              </a:r>
              <a:br/>
              <a:r>
                <a:rPr lang="zh-CN" sz="1200" b="1" dirty="0">
                  <a:solidFill>
                    <a:srgbClr val="7A3E33"/>
                  </a:solidFill>
                  <a:latin typeface="+mn-lt"/>
                  <a:ea typeface="+mn-ea"/>
                  <a:cs typeface="+mn-cs"/>
                </a:rPr>
                <a:t>品</a:t>
              </a:r>
            </a:p>
          </p:txBody>
        </p:sp>
        <p:sp>
          <p:nvSpPr>
            <p:cNvPr id="126" name="TextBox 126"/>
            <p:cNvSpPr txBox="1"/>
            <p:nvPr/>
          </p:nvSpPr>
          <p:spPr>
            <a:xfrm>
              <a:off x="11267758" y="1203484"/>
              <a:ext cx="95885" cy="306705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根</a:t>
              </a:r>
              <a:br/>
              <a:r>
                <a:rPr lang="zh-CN" sz="680" dirty="0">
                  <a:solidFill>
                    <a:srgbClr val="595959"/>
                  </a:solidFill>
                  <a:latin typeface="+mn-lt"/>
                  <a:ea typeface="+mn-ea"/>
                  <a:cs typeface="+mn-cs"/>
                </a:rPr>
                <a:t>据</a:t>
              </a:r>
              <a:br/>
              <a:r>
                <a:rPr lang="zh-CN" sz="680" dirty="0">
                  <a:solidFill>
                    <a:srgbClr val="595959"/>
                  </a:solidFill>
                  <a:latin typeface="+mn-lt"/>
                  <a:ea typeface="+mn-ea"/>
                  <a:cs typeface="+mn-cs"/>
                </a:rPr>
                <a:t>用</a:t>
              </a:r>
              <a:br/>
              <a:r>
                <a:rPr lang="zh-CN" sz="680" dirty="0">
                  <a:solidFill>
                    <a:srgbClr val="595959"/>
                  </a:solidFill>
                  <a:latin typeface="+mn-lt"/>
                  <a:ea typeface="+mn-ea"/>
                  <a:cs typeface="+mn-cs"/>
                </a:rPr>
                <a:t>户</a:t>
              </a:r>
              <a:br/>
              <a:r>
                <a:rPr lang="zh-CN" sz="680" dirty="0">
                  <a:solidFill>
                    <a:srgbClr val="595959"/>
                  </a:solidFill>
                  <a:latin typeface="+mn-lt"/>
                  <a:ea typeface="+mn-ea"/>
                  <a:cs typeface="+mn-cs"/>
                </a:rPr>
                <a:t>需</a:t>
              </a:r>
              <a:br/>
              <a:r>
                <a:rPr lang="zh-CN" sz="680" dirty="0">
                  <a:solidFill>
                    <a:srgbClr val="595959"/>
                  </a:solidFill>
                  <a:latin typeface="+mn-lt"/>
                  <a:ea typeface="+mn-ea"/>
                  <a:cs typeface="+mn-cs"/>
                </a:rPr>
                <a:t>求</a:t>
              </a:r>
              <a:br/>
              <a:r>
                <a:rPr lang="zh-CN" sz="680" dirty="0">
                  <a:solidFill>
                    <a:srgbClr val="595959"/>
                  </a:solidFill>
                  <a:latin typeface="+mn-lt"/>
                  <a:ea typeface="+mn-ea"/>
                  <a:cs typeface="+mn-cs"/>
                </a:rPr>
                <a:t>，</a:t>
              </a:r>
              <a:br/>
              <a:r>
                <a:rPr lang="zh-CN" sz="680" dirty="0">
                  <a:solidFill>
                    <a:srgbClr val="595959"/>
                  </a:solidFill>
                  <a:latin typeface="+mn-lt"/>
                  <a:ea typeface="+mn-ea"/>
                  <a:cs typeface="+mn-cs"/>
                </a:rPr>
                <a:t>匹</a:t>
              </a:r>
              <a:br/>
              <a:r>
                <a:rPr lang="zh-CN" sz="680" dirty="0">
                  <a:solidFill>
                    <a:srgbClr val="595959"/>
                  </a:solidFill>
                  <a:latin typeface="+mn-lt"/>
                  <a:ea typeface="+mn-ea"/>
                  <a:cs typeface="+mn-cs"/>
                </a:rPr>
                <a:t>配</a:t>
              </a:r>
              <a:br/>
              <a:r>
                <a:rPr lang="zh-CN" sz="680" dirty="0">
                  <a:solidFill>
                    <a:srgbClr val="595959"/>
                  </a:solidFill>
                  <a:latin typeface="+mn-lt"/>
                  <a:ea typeface="+mn-ea"/>
                  <a:cs typeface="+mn-cs"/>
                </a:rPr>
                <a:t>满</a:t>
              </a:r>
              <a:br/>
              <a:r>
                <a:rPr lang="zh-CN" sz="680" dirty="0">
                  <a:solidFill>
                    <a:srgbClr val="595959"/>
                  </a:solidFill>
                  <a:latin typeface="+mn-lt"/>
                  <a:ea typeface="+mn-ea"/>
                  <a:cs typeface="+mn-cs"/>
                </a:rPr>
                <a:t>足</a:t>
              </a:r>
              <a:br/>
              <a:r>
                <a:rPr lang="zh-CN" sz="680" dirty="0">
                  <a:solidFill>
                    <a:srgbClr val="595959"/>
                  </a:solidFill>
                  <a:latin typeface="+mn-lt"/>
                  <a:ea typeface="+mn-ea"/>
                  <a:cs typeface="+mn-cs"/>
                </a:rPr>
                <a:t>需</a:t>
              </a:r>
              <a:br/>
              <a:r>
                <a:rPr lang="zh-CN" sz="680" dirty="0">
                  <a:solidFill>
                    <a:srgbClr val="595959"/>
                  </a:solidFill>
                  <a:latin typeface="+mn-lt"/>
                  <a:ea typeface="+mn-ea"/>
                  <a:cs typeface="+mn-cs"/>
                </a:rPr>
                <a:t>求</a:t>
              </a:r>
              <a:br/>
              <a:r>
                <a:rPr lang="zh-CN" sz="680" dirty="0">
                  <a:solidFill>
                    <a:srgbClr val="595959"/>
                  </a:solidFill>
                  <a:latin typeface="+mn-lt"/>
                  <a:ea typeface="+mn-ea"/>
                  <a:cs typeface="+mn-cs"/>
                </a:rPr>
                <a:t>的</a:t>
              </a:r>
              <a:br/>
              <a:r>
                <a:rPr lang="zh-CN" sz="680" dirty="0">
                  <a:solidFill>
                    <a:srgbClr val="595959"/>
                  </a:solidFill>
                  <a:latin typeface="+mn-lt"/>
                  <a:ea typeface="+mn-ea"/>
                  <a:cs typeface="+mn-cs"/>
                </a:rPr>
                <a:t>产</a:t>
              </a:r>
              <a:br/>
              <a:r>
                <a:rPr lang="zh-CN" sz="680" dirty="0">
                  <a:solidFill>
                    <a:srgbClr val="595959"/>
                  </a:solidFill>
                  <a:latin typeface="+mn-lt"/>
                  <a:ea typeface="+mn-ea"/>
                  <a:cs typeface="+mn-cs"/>
                </a:rPr>
                <a:t>品</a:t>
              </a:r>
              <a:br/>
              <a:r>
                <a:rPr lang="zh-CN" sz="680" dirty="0">
                  <a:solidFill>
                    <a:srgbClr val="595959"/>
                  </a:solidFill>
                  <a:latin typeface="+mn-lt"/>
                  <a:ea typeface="+mn-ea"/>
                  <a:cs typeface="+mn-cs"/>
                </a:rPr>
                <a:t>，</a:t>
              </a:r>
              <a:br/>
              <a:r>
                <a:rPr lang="zh-CN" sz="680" dirty="0">
                  <a:solidFill>
                    <a:srgbClr val="595959"/>
                  </a:solidFill>
                  <a:latin typeface="+mn-lt"/>
                  <a:ea typeface="+mn-ea"/>
                  <a:cs typeface="+mn-cs"/>
                </a:rPr>
                <a:t>并</a:t>
              </a:r>
              <a:br/>
              <a:r>
                <a:rPr lang="zh-CN" sz="680" dirty="0">
                  <a:solidFill>
                    <a:srgbClr val="595959"/>
                  </a:solidFill>
                  <a:latin typeface="+mn-lt"/>
                  <a:ea typeface="+mn-ea"/>
                  <a:cs typeface="+mn-cs"/>
                </a:rPr>
                <a:t>陪</a:t>
              </a:r>
              <a:br/>
              <a:r>
                <a:rPr lang="zh-CN" sz="680" dirty="0">
                  <a:solidFill>
                    <a:srgbClr val="595959"/>
                  </a:solidFill>
                  <a:latin typeface="+mn-lt"/>
                  <a:ea typeface="+mn-ea"/>
                  <a:cs typeface="+mn-cs"/>
                </a:rPr>
                <a:t>伴</a:t>
              </a:r>
              <a:br/>
              <a:r>
                <a:rPr lang="zh-CN" sz="680" dirty="0">
                  <a:solidFill>
                    <a:srgbClr val="595959"/>
                  </a:solidFill>
                  <a:latin typeface="+mn-lt"/>
                  <a:ea typeface="+mn-ea"/>
                  <a:cs typeface="+mn-cs"/>
                </a:rPr>
                <a:t>是</a:t>
              </a:r>
              <a:br/>
              <a:r>
                <a:rPr lang="zh-CN" sz="680" dirty="0">
                  <a:solidFill>
                    <a:srgbClr val="595959"/>
                  </a:solidFill>
                  <a:latin typeface="+mn-lt"/>
                  <a:ea typeface="+mn-ea"/>
                  <a:cs typeface="+mn-cs"/>
                </a:rPr>
                <a:t>服</a:t>
              </a:r>
              <a:br/>
              <a:r>
                <a:rPr lang="zh-CN" sz="680" dirty="0">
                  <a:solidFill>
                    <a:srgbClr val="595959"/>
                  </a:solidFill>
                  <a:latin typeface="+mn-lt"/>
                  <a:ea typeface="+mn-ea"/>
                  <a:cs typeface="+mn-cs"/>
                </a:rPr>
                <a:t>务</a:t>
              </a:r>
            </a:p>
          </p:txBody>
        </p:sp>
        <p:sp>
          <p:nvSpPr>
            <p:cNvPr id="127" name="Line 127"/>
            <p:cNvSpPr/>
            <p:nvPr/>
          </p:nvSpPr>
          <p:spPr>
            <a:xfrm>
              <a:off x="11125200" y="1066800"/>
              <a:ext cx="9525" cy="4324350"/>
            </a:xfrm>
            <a:custGeom>
              <a:avLst/>
              <a:gdLst/>
              <a:ahLst/>
              <a:cxnLst/>
              <a:rect l="l" t="t" r="r" b="b"/>
              <a:pathLst>
                <a:path w="9525" h="4324350">
                  <a:moveTo>
                    <a:pt x="0" y="0"/>
                  </a:moveTo>
                  <a:lnTo>
                    <a:pt x="0" y="4324350"/>
                  </a:lnTo>
                </a:path>
              </a:pathLst>
            </a:custGeom>
            <a:noFill/>
            <a:ln w="9525">
              <a:solidFill>
                <a:srgbClr val="C9D8BD"/>
              </a:solidFill>
            </a:ln>
          </p:spPr>
        </p:sp>
      </p:grpSp>
      <p:grpSp>
        <p:nvGrpSpPr>
          <p:cNvPr id="137" name="bottom-labels"/>
          <p:cNvGrpSpPr/>
          <p:nvPr/>
        </p:nvGrpSpPr>
        <p:grpSpPr>
          <a:xfrm>
            <a:off x="1238250" y="5181600"/>
            <a:ext cx="9715500" cy="355520"/>
            <a:chOff x="1238250" y="5181600"/>
            <a:chExt cx="9715500" cy="355520"/>
          </a:xfrm>
        </p:grpSpPr>
        <p:sp>
          <p:nvSpPr>
            <p:cNvPr id="129" name="Polyline 129"/>
            <p:cNvSpPr/>
            <p:nvPr/>
          </p:nvSpPr>
          <p:spPr>
            <a:xfrm>
              <a:off x="1238250" y="5181600"/>
              <a:ext cx="1238250" cy="76200"/>
            </a:xfrm>
            <a:custGeom>
              <a:avLst/>
              <a:gdLst/>
              <a:ahLst/>
              <a:cxnLst/>
              <a:rect l="l" t="t" r="r" b="b"/>
              <a:pathLst>
                <a:path w="1238250" h="76200">
                  <a:moveTo>
                    <a:pt x="0" y="0"/>
                  </a:moveTo>
                  <a:lnTo>
                    <a:pt x="0" y="76200"/>
                  </a:lnTo>
                  <a:lnTo>
                    <a:pt x="1238250" y="76200"/>
                  </a:lnTo>
                  <a:lnTo>
                    <a:pt x="1238250" y="0"/>
                  </a:lnTo>
                </a:path>
              </a:pathLst>
            </a:custGeom>
            <a:noFill/>
            <a:ln w="9525">
              <a:solidFill>
                <a:srgbClr val="9AA69A"/>
              </a:solidFill>
            </a:ln>
          </p:spPr>
        </p:sp>
        <p:sp>
          <p:nvSpPr>
            <p:cNvPr id="130" name="TextBox 130"/>
            <p:cNvSpPr txBox="1"/>
            <p:nvPr/>
          </p:nvSpPr>
          <p:spPr>
            <a:xfrm>
              <a:off x="1480388" y="5382339"/>
              <a:ext cx="75397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营销方案、模版</a:t>
              </a:r>
            </a:p>
          </p:txBody>
        </p:sp>
        <p:sp>
          <p:nvSpPr>
            <p:cNvPr id="131" name="Polyline 131"/>
            <p:cNvSpPr/>
            <p:nvPr/>
          </p:nvSpPr>
          <p:spPr>
            <a:xfrm>
              <a:off x="2667000" y="5181600"/>
              <a:ext cx="2286000" cy="76200"/>
            </a:xfrm>
            <a:custGeom>
              <a:avLst/>
              <a:gdLst/>
              <a:ahLst/>
              <a:cxnLst/>
              <a:rect l="l" t="t" r="r" b="b"/>
              <a:pathLst>
                <a:path w="2286000" h="76200">
                  <a:moveTo>
                    <a:pt x="0" y="0"/>
                  </a:moveTo>
                  <a:lnTo>
                    <a:pt x="0" y="76200"/>
                  </a:lnTo>
                  <a:lnTo>
                    <a:pt x="2286000" y="76200"/>
                  </a:lnTo>
                  <a:lnTo>
                    <a:pt x="2286000" y="0"/>
                  </a:lnTo>
                </a:path>
              </a:pathLst>
            </a:custGeom>
            <a:noFill/>
            <a:ln w="9525">
              <a:solidFill>
                <a:srgbClr val="9AA69A"/>
              </a:solidFill>
            </a:ln>
          </p:spPr>
        </p:sp>
        <p:sp>
          <p:nvSpPr>
            <p:cNvPr id="132" name="TextBox 132"/>
            <p:cNvSpPr txBox="1"/>
            <p:nvPr/>
          </p:nvSpPr>
          <p:spPr>
            <a:xfrm>
              <a:off x="3486188" y="5382339"/>
              <a:ext cx="64762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数据服务支持</a:t>
              </a:r>
            </a:p>
          </p:txBody>
        </p:sp>
        <p:sp>
          <p:nvSpPr>
            <p:cNvPr id="133" name="Polyline 133"/>
            <p:cNvSpPr/>
            <p:nvPr/>
          </p:nvSpPr>
          <p:spPr>
            <a:xfrm>
              <a:off x="7239000" y="5181600"/>
              <a:ext cx="2190750" cy="76200"/>
            </a:xfrm>
            <a:custGeom>
              <a:avLst/>
              <a:gdLst/>
              <a:ahLst/>
              <a:cxnLst/>
              <a:rect l="l" t="t" r="r" b="b"/>
              <a:pathLst>
                <a:path w="2190750" h="76200">
                  <a:moveTo>
                    <a:pt x="0" y="0"/>
                  </a:moveTo>
                  <a:lnTo>
                    <a:pt x="0" y="76200"/>
                  </a:lnTo>
                  <a:lnTo>
                    <a:pt x="2190750" y="76200"/>
                  </a:lnTo>
                  <a:lnTo>
                    <a:pt x="2190750" y="0"/>
                  </a:lnTo>
                </a:path>
              </a:pathLst>
            </a:custGeom>
            <a:noFill/>
            <a:ln w="9525">
              <a:solidFill>
                <a:srgbClr val="9AA69A"/>
              </a:solidFill>
            </a:ln>
          </p:spPr>
        </p:sp>
        <p:sp>
          <p:nvSpPr>
            <p:cNvPr id="134" name="TextBox 134"/>
            <p:cNvSpPr txBox="1"/>
            <p:nvPr/>
          </p:nvSpPr>
          <p:spPr>
            <a:xfrm>
              <a:off x="8010563" y="5382339"/>
              <a:ext cx="647624"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海量精选课程</a:t>
              </a:r>
            </a:p>
          </p:txBody>
        </p:sp>
        <p:sp>
          <p:nvSpPr>
            <p:cNvPr id="135" name="Polyline 135"/>
            <p:cNvSpPr/>
            <p:nvPr/>
          </p:nvSpPr>
          <p:spPr>
            <a:xfrm>
              <a:off x="9525000" y="5181600"/>
              <a:ext cx="1428750" cy="76200"/>
            </a:xfrm>
            <a:custGeom>
              <a:avLst/>
              <a:gdLst/>
              <a:ahLst/>
              <a:cxnLst/>
              <a:rect l="l" t="t" r="r" b="b"/>
              <a:pathLst>
                <a:path w="1428750" h="76200">
                  <a:moveTo>
                    <a:pt x="0" y="0"/>
                  </a:moveTo>
                  <a:lnTo>
                    <a:pt x="0" y="76200"/>
                  </a:lnTo>
                  <a:lnTo>
                    <a:pt x="1428750" y="76200"/>
                  </a:lnTo>
                  <a:lnTo>
                    <a:pt x="1428750" y="0"/>
                  </a:lnTo>
                </a:path>
              </a:pathLst>
            </a:custGeom>
            <a:noFill/>
            <a:ln w="9525">
              <a:solidFill>
                <a:srgbClr val="9AA69A"/>
              </a:solidFill>
            </a:ln>
          </p:spPr>
        </p:sp>
        <p:sp>
          <p:nvSpPr>
            <p:cNvPr id="136" name="TextBox 136"/>
            <p:cNvSpPr txBox="1"/>
            <p:nvPr/>
          </p:nvSpPr>
          <p:spPr>
            <a:xfrm>
              <a:off x="9888725" y="5382339"/>
              <a:ext cx="701300" cy="154781"/>
            </a:xfrm>
            <a:prstGeom prst="rect">
              <a:avLst/>
            </a:prstGeom>
            <a:noFill/>
            <a:ln>
              <a:noFill/>
            </a:ln>
          </p:spPr>
          <p:txBody>
            <a:bodyPr wrap="none" lIns="0" tIns="0" rIns="0" bIns="0" anchor="t" anchorCtr="0">
              <a:spAutoFit/>
            </a:bodyPr>
            <a:lstStyle/>
            <a:p>
              <a:pPr algn="ctr"/>
              <a:r>
                <a:rPr lang="zh-CN" sz="790" dirty="0">
                  <a:solidFill>
                    <a:srgbClr val="333333"/>
                  </a:solidFill>
                  <a:latin typeface="+mn-lt"/>
                  <a:ea typeface="+mn-ea"/>
                  <a:cs typeface="+mn-cs"/>
                </a:rPr>
                <a:t>KOL分析复盘​</a:t>
              </a:r>
            </a:p>
          </p:txBody>
        </p:sp>
      </p:grpSp>
      <p:grpSp>
        <p:nvGrpSpPr>
          <p:cNvPr id="140" name="page-footer"/>
          <p:cNvGrpSpPr/>
          <p:nvPr/>
        </p:nvGrpSpPr>
        <p:grpSpPr>
          <a:xfrm>
            <a:off x="376238" y="6689884"/>
            <a:ext cx="11439524" cy="133350"/>
            <a:chOff x="376238" y="6689884"/>
            <a:chExt cx="11439524" cy="133350"/>
          </a:xfrm>
        </p:grpSpPr>
        <p:sp>
          <p:nvSpPr>
            <p:cNvPr id="138" name="TextBox 138"/>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39" name="TextBox 139"/>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21</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fan-left"/>
          <p:cNvSpPr/>
          <p:nvPr/>
        </p:nvSpPr>
        <p:spPr>
          <a:xfrm>
            <a:off x="4572000" y="952500"/>
            <a:ext cx="400050" cy="2628900"/>
          </a:xfrm>
          <a:custGeom>
            <a:avLst/>
            <a:gdLst/>
            <a:ahLst/>
            <a:cxnLst/>
            <a:rect l="l" t="t" r="r" b="b"/>
            <a:pathLst>
              <a:path w="400050" h="2628900">
                <a:moveTo>
                  <a:pt x="400050" y="1238250"/>
                </a:moveTo>
                <a:lnTo>
                  <a:pt x="0" y="0"/>
                </a:lnTo>
                <a:lnTo>
                  <a:pt x="0" y="2628900"/>
                </a:lnTo>
                <a:lnTo>
                  <a:pt x="400050" y="2190750"/>
                </a:lnTo>
                <a:close/>
              </a:path>
            </a:pathLst>
          </a:custGeom>
          <a:solidFill>
            <a:srgbClr val="EEF5E8"/>
          </a:solidFill>
          <a:ln>
            <a:noFill/>
          </a:ln>
        </p:spPr>
      </p:sp>
      <p:sp>
        <p:nvSpPr>
          <p:cNvPr id="9" name="fan-right"/>
          <p:cNvSpPr/>
          <p:nvPr/>
        </p:nvSpPr>
        <p:spPr>
          <a:xfrm>
            <a:off x="7219950" y="952500"/>
            <a:ext cx="400050" cy="2628900"/>
          </a:xfrm>
          <a:custGeom>
            <a:avLst/>
            <a:gdLst/>
            <a:ahLst/>
            <a:cxnLst/>
            <a:rect l="l" t="t" r="r" b="b"/>
            <a:pathLst>
              <a:path w="400050" h="2628900">
                <a:moveTo>
                  <a:pt x="0" y="1238250"/>
                </a:moveTo>
                <a:lnTo>
                  <a:pt x="400050" y="0"/>
                </a:lnTo>
                <a:lnTo>
                  <a:pt x="400050" y="2628900"/>
                </a:lnTo>
                <a:lnTo>
                  <a:pt x="0" y="2190750"/>
                </a:lnTo>
                <a:close/>
              </a:path>
            </a:pathLst>
          </a:custGeom>
          <a:solidFill>
            <a:srgbClr val="EEF5E8"/>
          </a:solidFill>
          <a:ln>
            <a:noFill/>
          </a:ln>
        </p:spPr>
      </p:sp>
      <p:sp>
        <p:nvSpPr>
          <p:cNvPr id="10" name="Freeform 10"/>
          <p:cNvSpPr/>
          <p:nvPr/>
        </p:nvSpPr>
        <p:spPr>
          <a:xfrm>
            <a:off x="381000" y="3619500"/>
            <a:ext cx="11430000" cy="1714500"/>
          </a:xfrm>
          <a:prstGeom prst="triangle">
            <a:avLst/>
          </a:prstGeom>
          <a:solidFill>
            <a:srgbClr val="EEF5E8"/>
          </a:solidFill>
          <a:ln>
            <a:noFill/>
          </a:ln>
        </p:spPr>
      </p:sp>
      <p:grpSp>
        <p:nvGrpSpPr>
          <p:cNvPr id="52" name="desc-card"/>
          <p:cNvGrpSpPr/>
          <p:nvPr/>
        </p:nvGrpSpPr>
        <p:grpSpPr>
          <a:xfrm>
            <a:off x="381000" y="914400"/>
            <a:ext cx="4191000" cy="2667000"/>
            <a:chOff x="381000" y="914400"/>
            <a:chExt cx="4191000" cy="2667000"/>
          </a:xfrm>
        </p:grpSpPr>
        <p:sp>
          <p:nvSpPr>
            <p:cNvPr id="11" name="Rectangle 11"/>
            <p:cNvSpPr/>
            <p:nvPr/>
          </p:nvSpPr>
          <p:spPr>
            <a:xfrm>
              <a:off x="381000" y="914400"/>
              <a:ext cx="4191000" cy="2667000"/>
            </a:xfrm>
            <a:prstGeom prst="rect">
              <a:avLst/>
            </a:prstGeom>
            <a:solidFill>
              <a:srgbClr val="FDF8EA"/>
            </a:solidFill>
            <a:ln w="9525">
              <a:solidFill>
                <a:srgbClr val="E9563C"/>
              </a:solidFill>
            </a:ln>
          </p:spPr>
        </p:sp>
        <p:sp>
          <p:nvSpPr>
            <p:cNvPr id="12" name="TextBox 12"/>
            <p:cNvSpPr txBox="1"/>
            <p:nvPr/>
          </p:nvSpPr>
          <p:spPr>
            <a:xfrm>
              <a:off x="490538" y="1036082"/>
              <a:ext cx="490156" cy="126206"/>
            </a:xfrm>
            <a:prstGeom prst="rect">
              <a:avLst/>
            </a:prstGeom>
            <a:noFill/>
            <a:ln>
              <a:noFill/>
            </a:ln>
          </p:spPr>
          <p:txBody>
            <a:bodyPr wrap="none" lIns="0" tIns="0" rIns="0" bIns="0" anchor="t" anchorCtr="0">
              <a:spAutoFit/>
            </a:bodyPr>
            <a:lstStyle/>
            <a:p>
              <a:pPr algn="l"/>
              <a:r>
                <a:rPr lang="en-US" sz="640" dirty="0">
                  <a:solidFill>
                    <a:srgbClr val="D6391E"/>
                  </a:solidFill>
                  <a:latin typeface="+mn-lt"/>
                  <a:ea typeface="+mn-ea"/>
                  <a:cs typeface="+mn-cs"/>
                </a:rPr>
                <a:t>Description</a:t>
              </a:r>
            </a:p>
          </p:txBody>
        </p:sp>
        <p:sp>
          <p:nvSpPr>
            <p:cNvPr id="13" name="TextBox 13"/>
            <p:cNvSpPr txBox="1"/>
            <p:nvPr/>
          </p:nvSpPr>
          <p:spPr>
            <a:xfrm>
              <a:off x="490538" y="1226820"/>
              <a:ext cx="857631" cy="176212"/>
            </a:xfrm>
            <a:prstGeom prst="rect">
              <a:avLst/>
            </a:prstGeom>
            <a:noFill/>
            <a:ln>
              <a:noFill/>
            </a:ln>
          </p:spPr>
          <p:txBody>
            <a:bodyPr wrap="none" lIns="0" tIns="0" rIns="0" bIns="0" anchor="t" anchorCtr="0">
              <a:spAutoFit/>
            </a:bodyPr>
            <a:lstStyle/>
            <a:p>
              <a:pPr algn="l"/>
              <a:r>
                <a:rPr lang="zh-CN" sz="900" b="1" dirty="0">
                  <a:solidFill>
                    <a:srgbClr val="333333"/>
                  </a:solidFill>
                  <a:latin typeface="+mn-lt"/>
                  <a:ea typeface="+mn-ea"/>
                  <a:cs typeface="+mn-cs"/>
                </a:rPr>
                <a:t>项目内容说明。</a:t>
              </a:r>
            </a:p>
          </p:txBody>
        </p:sp>
        <p:sp>
          <p:nvSpPr>
            <p:cNvPr id="14" name="TextBox 14"/>
            <p:cNvSpPr txBox="1"/>
            <p:nvPr/>
          </p:nvSpPr>
          <p:spPr>
            <a:xfrm>
              <a:off x="490538" y="1553289"/>
              <a:ext cx="2668270" cy="154781"/>
            </a:xfrm>
            <a:prstGeom prst="rect">
              <a:avLst/>
            </a:prstGeom>
            <a:noFill/>
            <a:ln>
              <a:noFill/>
            </a:ln>
          </p:spPr>
          <p:txBody>
            <a:bodyPr wrap="none" lIns="0" tIns="0" rIns="0" bIns="0" anchor="t" anchorCtr="0">
              <a:spAutoFit/>
            </a:bodyPr>
            <a:lstStyle/>
            <a:p>
              <a:pPr algn="l"/>
              <a:r>
                <a:rPr lang="zh-CN" sz="790" b="1" dirty="0">
                  <a:solidFill>
                    <a:srgbClr val="D6391E"/>
                  </a:solidFill>
                  <a:latin typeface="+mn-lt"/>
                  <a:ea typeface="+mn-ea"/>
                  <a:cs typeface="+mn-cs"/>
                </a:rPr>
                <a:t>针对用户实际工作场景中多样的项目需求，区别于传统。</a:t>
              </a:r>
            </a:p>
          </p:txBody>
        </p:sp>
        <p:sp>
          <p:nvSpPr>
            <p:cNvPr id="15" name="Ellipse 15"/>
            <p:cNvSpPr/>
            <p:nvPr/>
          </p:nvSpPr>
          <p:spPr>
            <a:xfrm>
              <a:off x="647700" y="1905000"/>
              <a:ext cx="419100" cy="419100"/>
            </a:xfrm>
            <a:prstGeom prst="ellipse">
              <a:avLst/>
            </a:prstGeom>
            <a:solidFill>
              <a:srgbClr val="FFFFFF"/>
            </a:solidFill>
            <a:ln w="9525">
              <a:solidFill>
                <a:srgbClr val="EEEEEE"/>
              </a:solidFill>
            </a:ln>
          </p:spPr>
        </p:sp>
        <p:grpSp>
          <p:nvGrpSpPr>
            <p:cNvPr id="21" name="Group 21"/>
            <p:cNvGrpSpPr/>
            <p:nvPr/>
          </p:nvGrpSpPr>
          <p:grpSpPr>
            <a:xfrm>
              <a:off x="796131" y="2035969"/>
              <a:ext cx="122238" cy="157163"/>
              <a:chOff x="796131" y="2035969"/>
              <a:chExt cx="122238" cy="157163"/>
            </a:xfrm>
          </p:grpSpPr>
          <p:sp>
            <p:nvSpPr>
              <p:cNvPr id="16" name="Freeform 16"/>
              <p:cNvSpPr/>
              <p:nvPr/>
            </p:nvSpPr>
            <p:spPr>
              <a:xfrm>
                <a:off x="874713" y="2035969"/>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rgbClr val="9C594C"/>
                </a:solidFill>
              </a:ln>
            </p:spPr>
          </p:sp>
          <p:sp>
            <p:nvSpPr>
              <p:cNvPr id="17" name="Freeform 17"/>
              <p:cNvSpPr/>
              <p:nvPr/>
            </p:nvSpPr>
            <p:spPr>
              <a:xfrm>
                <a:off x="796131" y="2035969"/>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rgbClr val="9C594C"/>
                </a:solidFill>
              </a:ln>
            </p:spPr>
          </p:sp>
          <p:sp>
            <p:nvSpPr>
              <p:cNvPr id="18" name="Freeform 18"/>
              <p:cNvSpPr/>
              <p:nvPr/>
            </p:nvSpPr>
            <p:spPr>
              <a:xfrm>
                <a:off x="831056" y="2088356"/>
                <a:ext cx="9525" cy="9525"/>
              </a:xfrm>
              <a:custGeom>
                <a:avLst/>
                <a:gdLst/>
                <a:ahLst/>
                <a:cxnLst/>
                <a:rect l="l" t="t" r="r" b="b"/>
                <a:pathLst>
                  <a:path w="9525" h="9525">
                    <a:moveTo>
                      <a:pt x="0" y="0"/>
                    </a:moveTo>
                    <a:lnTo>
                      <a:pt x="8731" y="0"/>
                    </a:lnTo>
                  </a:path>
                </a:pathLst>
              </a:custGeom>
              <a:noFill/>
              <a:ln w="17463">
                <a:solidFill>
                  <a:srgbClr val="9C594C"/>
                </a:solidFill>
              </a:ln>
            </p:spPr>
          </p:sp>
          <p:sp>
            <p:nvSpPr>
              <p:cNvPr id="19" name="Freeform 19"/>
              <p:cNvSpPr/>
              <p:nvPr/>
            </p:nvSpPr>
            <p:spPr>
              <a:xfrm>
                <a:off x="831056" y="2123281"/>
                <a:ext cx="52388" cy="9525"/>
              </a:xfrm>
              <a:custGeom>
                <a:avLst/>
                <a:gdLst/>
                <a:ahLst/>
                <a:cxnLst/>
                <a:rect l="l" t="t" r="r" b="b"/>
                <a:pathLst>
                  <a:path w="52388" h="9525">
                    <a:moveTo>
                      <a:pt x="0" y="0"/>
                    </a:moveTo>
                    <a:lnTo>
                      <a:pt x="52388" y="0"/>
                    </a:lnTo>
                  </a:path>
                </a:pathLst>
              </a:custGeom>
              <a:noFill/>
              <a:ln w="17463">
                <a:solidFill>
                  <a:srgbClr val="9C594C"/>
                </a:solidFill>
              </a:ln>
            </p:spPr>
          </p:sp>
          <p:sp>
            <p:nvSpPr>
              <p:cNvPr id="20" name="Freeform 20"/>
              <p:cNvSpPr/>
              <p:nvPr/>
            </p:nvSpPr>
            <p:spPr>
              <a:xfrm>
                <a:off x="831056" y="2158206"/>
                <a:ext cx="52388" cy="9525"/>
              </a:xfrm>
              <a:custGeom>
                <a:avLst/>
                <a:gdLst/>
                <a:ahLst/>
                <a:cxnLst/>
                <a:rect l="l" t="t" r="r" b="b"/>
                <a:pathLst>
                  <a:path w="52388" h="9525">
                    <a:moveTo>
                      <a:pt x="0" y="0"/>
                    </a:moveTo>
                    <a:lnTo>
                      <a:pt x="52388" y="0"/>
                    </a:lnTo>
                  </a:path>
                </a:pathLst>
              </a:custGeom>
              <a:noFill/>
              <a:ln w="17463">
                <a:solidFill>
                  <a:srgbClr val="9C594C"/>
                </a:solidFill>
              </a:ln>
            </p:spPr>
          </p:sp>
        </p:grpSp>
        <p:sp>
          <p:nvSpPr>
            <p:cNvPr id="22" name="TextBox 22"/>
            <p:cNvSpPr txBox="1"/>
            <p:nvPr/>
          </p:nvSpPr>
          <p:spPr>
            <a:xfrm>
              <a:off x="746138" y="2448639"/>
              <a:ext cx="222225" cy="154781"/>
            </a:xfrm>
            <a:prstGeom prst="rect">
              <a:avLst/>
            </a:prstGeom>
            <a:noFill/>
            <a:ln>
              <a:noFill/>
            </a:ln>
          </p:spPr>
          <p:txBody>
            <a:bodyPr wrap="none" lIns="0" tIns="0" rIns="0" bIns="0" anchor="t" anchorCtr="0">
              <a:spAutoFit/>
            </a:bodyPr>
            <a:lstStyle/>
            <a:p>
              <a:pPr algn="ctr"/>
              <a:r>
                <a:rPr lang="zh-CN" sz="790" b="1" dirty="0">
                  <a:solidFill>
                    <a:srgbClr val="D6391E"/>
                  </a:solidFill>
                  <a:latin typeface="+mn-lt"/>
                  <a:ea typeface="+mn-ea"/>
                  <a:cs typeface="+mn-cs"/>
                </a:rPr>
                <a:t>采集</a:t>
              </a:r>
            </a:p>
          </p:txBody>
        </p:sp>
        <p:sp>
          <p:nvSpPr>
            <p:cNvPr id="23" name="Ellipse 23"/>
            <p:cNvSpPr/>
            <p:nvPr/>
          </p:nvSpPr>
          <p:spPr>
            <a:xfrm>
              <a:off x="1219200" y="1905000"/>
              <a:ext cx="419100" cy="419100"/>
            </a:xfrm>
            <a:prstGeom prst="ellipse">
              <a:avLst/>
            </a:prstGeom>
            <a:solidFill>
              <a:srgbClr val="FFFFFF"/>
            </a:solidFill>
            <a:ln w="9525">
              <a:solidFill>
                <a:srgbClr val="EEEEEE"/>
              </a:solidFill>
            </a:ln>
          </p:spPr>
        </p:sp>
        <p:grpSp>
          <p:nvGrpSpPr>
            <p:cNvPr id="27" name="Group 27"/>
            <p:cNvGrpSpPr/>
            <p:nvPr/>
          </p:nvGrpSpPr>
          <p:grpSpPr>
            <a:xfrm>
              <a:off x="1367631" y="2035969"/>
              <a:ext cx="122238" cy="157162"/>
              <a:chOff x="1367631" y="2035969"/>
              <a:chExt cx="122238" cy="157162"/>
            </a:xfrm>
          </p:grpSpPr>
          <p:sp>
            <p:nvSpPr>
              <p:cNvPr id="24" name="Freeform 24"/>
              <p:cNvSpPr/>
              <p:nvPr/>
            </p:nvSpPr>
            <p:spPr>
              <a:xfrm>
                <a:off x="1367631" y="2088356"/>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9C594C"/>
                </a:solidFill>
              </a:ln>
            </p:spPr>
          </p:sp>
          <p:sp>
            <p:nvSpPr>
              <p:cNvPr id="25" name="Freeform 25"/>
              <p:cNvSpPr/>
              <p:nvPr/>
            </p:nvSpPr>
            <p:spPr>
              <a:xfrm>
                <a:off x="1428750" y="2035969"/>
                <a:ext cx="9525" cy="96044"/>
              </a:xfrm>
              <a:custGeom>
                <a:avLst/>
                <a:gdLst/>
                <a:ahLst/>
                <a:cxnLst/>
                <a:rect l="l" t="t" r="r" b="b"/>
                <a:pathLst>
                  <a:path w="9525" h="96044">
                    <a:moveTo>
                      <a:pt x="0" y="96044"/>
                    </a:moveTo>
                    <a:lnTo>
                      <a:pt x="0" y="0"/>
                    </a:lnTo>
                  </a:path>
                </a:pathLst>
              </a:custGeom>
              <a:noFill/>
              <a:ln w="17463">
                <a:solidFill>
                  <a:srgbClr val="9C594C"/>
                </a:solidFill>
              </a:ln>
            </p:spPr>
          </p:sp>
          <p:sp>
            <p:nvSpPr>
              <p:cNvPr id="26" name="Freeform 26"/>
              <p:cNvSpPr/>
              <p:nvPr/>
            </p:nvSpPr>
            <p:spPr>
              <a:xfrm>
                <a:off x="1402556" y="2035969"/>
                <a:ext cx="52388" cy="26194"/>
              </a:xfrm>
              <a:custGeom>
                <a:avLst/>
                <a:gdLst/>
                <a:ahLst/>
                <a:cxnLst/>
                <a:rect l="l" t="t" r="r" b="b"/>
                <a:pathLst>
                  <a:path w="52388" h="26194">
                    <a:moveTo>
                      <a:pt x="0" y="26194"/>
                    </a:moveTo>
                    <a:lnTo>
                      <a:pt x="26194" y="0"/>
                    </a:lnTo>
                    <a:lnTo>
                      <a:pt x="52388" y="26194"/>
                    </a:lnTo>
                  </a:path>
                </a:pathLst>
              </a:custGeom>
              <a:noFill/>
              <a:ln w="17463">
                <a:solidFill>
                  <a:srgbClr val="9C594C"/>
                </a:solidFill>
              </a:ln>
            </p:spPr>
          </p:sp>
        </p:grpSp>
        <p:sp>
          <p:nvSpPr>
            <p:cNvPr id="28" name="TextBox 28"/>
            <p:cNvSpPr txBox="1"/>
            <p:nvPr/>
          </p:nvSpPr>
          <p:spPr>
            <a:xfrm>
              <a:off x="1317638" y="2448639"/>
              <a:ext cx="222225"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传输</a:t>
              </a:r>
            </a:p>
          </p:txBody>
        </p:sp>
        <p:sp>
          <p:nvSpPr>
            <p:cNvPr id="29" name="Ellipse 29"/>
            <p:cNvSpPr/>
            <p:nvPr/>
          </p:nvSpPr>
          <p:spPr>
            <a:xfrm>
              <a:off x="1790700" y="1905000"/>
              <a:ext cx="419100" cy="419100"/>
            </a:xfrm>
            <a:prstGeom prst="ellipse">
              <a:avLst/>
            </a:prstGeom>
            <a:solidFill>
              <a:srgbClr val="FFFFFF"/>
            </a:solidFill>
            <a:ln w="9525">
              <a:solidFill>
                <a:srgbClr val="EEEEEE"/>
              </a:solidFill>
            </a:ln>
          </p:spPr>
        </p:sp>
        <p:grpSp>
          <p:nvGrpSpPr>
            <p:cNvPr id="33" name="Group 33"/>
            <p:cNvGrpSpPr/>
            <p:nvPr/>
          </p:nvGrpSpPr>
          <p:grpSpPr>
            <a:xfrm>
              <a:off x="1930400" y="2035969"/>
              <a:ext cx="139700" cy="157162"/>
              <a:chOff x="1930400" y="2035969"/>
              <a:chExt cx="139700" cy="157162"/>
            </a:xfrm>
          </p:grpSpPr>
          <p:sp>
            <p:nvSpPr>
              <p:cNvPr id="30" name="Freeform 30"/>
              <p:cNvSpPr/>
              <p:nvPr/>
            </p:nvSpPr>
            <p:spPr>
              <a:xfrm>
                <a:off x="1930400" y="2035969"/>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9C594C"/>
                </a:solidFill>
              </a:ln>
            </p:spPr>
          </p:sp>
          <p:sp>
            <p:nvSpPr>
              <p:cNvPr id="31" name="Freeform 31"/>
              <p:cNvSpPr/>
              <p:nvPr/>
            </p:nvSpPr>
            <p:spPr>
              <a:xfrm>
                <a:off x="1930400" y="2062163"/>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C594C"/>
                </a:solidFill>
              </a:ln>
            </p:spPr>
          </p:sp>
          <p:sp>
            <p:nvSpPr>
              <p:cNvPr id="32" name="Freeform 32"/>
              <p:cNvSpPr/>
              <p:nvPr/>
            </p:nvSpPr>
            <p:spPr>
              <a:xfrm>
                <a:off x="1930400" y="2114550"/>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9C594C"/>
                </a:solidFill>
              </a:ln>
            </p:spPr>
          </p:sp>
        </p:grpSp>
        <p:sp>
          <p:nvSpPr>
            <p:cNvPr id="34" name="TextBox 34"/>
            <p:cNvSpPr txBox="1"/>
            <p:nvPr/>
          </p:nvSpPr>
          <p:spPr>
            <a:xfrm>
              <a:off x="1889138" y="2448639"/>
              <a:ext cx="222225" cy="154781"/>
            </a:xfrm>
            <a:prstGeom prst="rect">
              <a:avLst/>
            </a:prstGeom>
            <a:noFill/>
            <a:ln>
              <a:noFill/>
            </a:ln>
          </p:spPr>
          <p:txBody>
            <a:bodyPr wrap="none" lIns="0" tIns="0" rIns="0" bIns="0" anchor="t" anchorCtr="0">
              <a:spAutoFit/>
            </a:bodyPr>
            <a:lstStyle/>
            <a:p>
              <a:pPr algn="ctr"/>
              <a:r>
                <a:rPr lang="zh-CN" sz="790" b="1" dirty="0">
                  <a:solidFill>
                    <a:srgbClr val="D6391E"/>
                  </a:solidFill>
                  <a:latin typeface="+mn-lt"/>
                  <a:ea typeface="+mn-ea"/>
                  <a:cs typeface="+mn-cs"/>
                </a:rPr>
                <a:t>存储</a:t>
              </a:r>
            </a:p>
          </p:txBody>
        </p:sp>
        <p:sp>
          <p:nvSpPr>
            <p:cNvPr id="35" name="Ellipse 35"/>
            <p:cNvSpPr/>
            <p:nvPr/>
          </p:nvSpPr>
          <p:spPr>
            <a:xfrm>
              <a:off x="2362200" y="1905000"/>
              <a:ext cx="419100" cy="419100"/>
            </a:xfrm>
            <a:prstGeom prst="ellipse">
              <a:avLst/>
            </a:prstGeom>
            <a:solidFill>
              <a:srgbClr val="FFFFFF"/>
            </a:solidFill>
            <a:ln w="9525">
              <a:solidFill>
                <a:srgbClr val="EEEEEE"/>
              </a:solidFill>
            </a:ln>
          </p:spPr>
        </p:sp>
        <p:grpSp>
          <p:nvGrpSpPr>
            <p:cNvPr id="38" name="Group 38"/>
            <p:cNvGrpSpPr/>
            <p:nvPr/>
          </p:nvGrpSpPr>
          <p:grpSpPr>
            <a:xfrm>
              <a:off x="2489336" y="2032136"/>
              <a:ext cx="164829" cy="164829"/>
              <a:chOff x="2489336" y="2032136"/>
              <a:chExt cx="164829" cy="164829"/>
            </a:xfrm>
          </p:grpSpPr>
          <p:sp>
            <p:nvSpPr>
              <p:cNvPr id="36" name="Freeform 36"/>
              <p:cNvSpPr/>
              <p:nvPr/>
            </p:nvSpPr>
            <p:spPr>
              <a:xfrm>
                <a:off x="2489336" y="2032136"/>
                <a:ext cx="164829" cy="164829"/>
              </a:xfrm>
              <a:custGeom>
                <a:avLst/>
                <a:gdLst/>
                <a:ahLst/>
                <a:cxnLst/>
                <a:rect l="l" t="t" r="r" b="b"/>
                <a:pathLst>
                  <a:path w="164829" h="164829">
                    <a:moveTo>
                      <a:pt x="67789" y="15332"/>
                    </a:moveTo>
                    <a:cubicBezTo>
                      <a:pt x="71509" y="0"/>
                      <a:pt x="93320" y="0"/>
                      <a:pt x="97039" y="15332"/>
                    </a:cubicBezTo>
                    <a:cubicBezTo>
                      <a:pt x="98171" y="20004"/>
                      <a:pt x="101466" y="23854"/>
                      <a:pt x="105907" y="25694"/>
                    </a:cubicBezTo>
                    <a:cubicBezTo>
                      <a:pt x="110348" y="27534"/>
                      <a:pt x="115400" y="27142"/>
                      <a:pt x="119505" y="24640"/>
                    </a:cubicBezTo>
                    <a:cubicBezTo>
                      <a:pt x="132977" y="16432"/>
                      <a:pt x="148405" y="31852"/>
                      <a:pt x="140198" y="45333"/>
                    </a:cubicBezTo>
                    <a:cubicBezTo>
                      <a:pt x="137699" y="49435"/>
                      <a:pt x="137308" y="54484"/>
                      <a:pt x="139146" y="58922"/>
                    </a:cubicBezTo>
                    <a:cubicBezTo>
                      <a:pt x="140984" y="63360"/>
                      <a:pt x="144829" y="66654"/>
                      <a:pt x="149497" y="67789"/>
                    </a:cubicBezTo>
                    <a:cubicBezTo>
                      <a:pt x="164829" y="71509"/>
                      <a:pt x="164829" y="93320"/>
                      <a:pt x="149497" y="97039"/>
                    </a:cubicBezTo>
                    <a:cubicBezTo>
                      <a:pt x="144825" y="98171"/>
                      <a:pt x="140975" y="101466"/>
                      <a:pt x="139135" y="105907"/>
                    </a:cubicBezTo>
                    <a:cubicBezTo>
                      <a:pt x="137295" y="110348"/>
                      <a:pt x="137687" y="115400"/>
                      <a:pt x="140189" y="119505"/>
                    </a:cubicBezTo>
                    <a:cubicBezTo>
                      <a:pt x="148396" y="132977"/>
                      <a:pt x="132977" y="148405"/>
                      <a:pt x="119496" y="140198"/>
                    </a:cubicBezTo>
                    <a:cubicBezTo>
                      <a:pt x="115394" y="137699"/>
                      <a:pt x="110345" y="137308"/>
                      <a:pt x="105907" y="139146"/>
                    </a:cubicBezTo>
                    <a:cubicBezTo>
                      <a:pt x="101469" y="140984"/>
                      <a:pt x="98174" y="144829"/>
                      <a:pt x="97039" y="149497"/>
                    </a:cubicBezTo>
                    <a:cubicBezTo>
                      <a:pt x="93320" y="164829"/>
                      <a:pt x="71509" y="164829"/>
                      <a:pt x="67789" y="149497"/>
                    </a:cubicBezTo>
                    <a:cubicBezTo>
                      <a:pt x="66658" y="144825"/>
                      <a:pt x="63362" y="140975"/>
                      <a:pt x="58922" y="139135"/>
                    </a:cubicBezTo>
                    <a:cubicBezTo>
                      <a:pt x="54481" y="137295"/>
                      <a:pt x="49428" y="137687"/>
                      <a:pt x="45324" y="140189"/>
                    </a:cubicBezTo>
                    <a:cubicBezTo>
                      <a:pt x="31852" y="148396"/>
                      <a:pt x="16423" y="132977"/>
                      <a:pt x="24631" y="119496"/>
                    </a:cubicBezTo>
                    <a:cubicBezTo>
                      <a:pt x="27130" y="115394"/>
                      <a:pt x="27520" y="110345"/>
                      <a:pt x="25683" y="105907"/>
                    </a:cubicBezTo>
                    <a:cubicBezTo>
                      <a:pt x="23845" y="101469"/>
                      <a:pt x="20000" y="98174"/>
                      <a:pt x="15332" y="97039"/>
                    </a:cubicBezTo>
                    <a:cubicBezTo>
                      <a:pt x="0" y="93320"/>
                      <a:pt x="0" y="71509"/>
                      <a:pt x="15332" y="67789"/>
                    </a:cubicBezTo>
                    <a:cubicBezTo>
                      <a:pt x="20004" y="66658"/>
                      <a:pt x="23854" y="63362"/>
                      <a:pt x="25694" y="58922"/>
                    </a:cubicBezTo>
                    <a:cubicBezTo>
                      <a:pt x="27534" y="54481"/>
                      <a:pt x="27142" y="49428"/>
                      <a:pt x="24640" y="45324"/>
                    </a:cubicBezTo>
                    <a:cubicBezTo>
                      <a:pt x="16432" y="31852"/>
                      <a:pt x="31852" y="16423"/>
                      <a:pt x="45333" y="24631"/>
                    </a:cubicBezTo>
                    <a:cubicBezTo>
                      <a:pt x="54064" y="29939"/>
                      <a:pt x="65380" y="25242"/>
                      <a:pt x="67789" y="15332"/>
                    </a:cubicBezTo>
                  </a:path>
                </a:pathLst>
              </a:custGeom>
              <a:noFill/>
              <a:ln w="17463">
                <a:solidFill>
                  <a:srgbClr val="9C594C"/>
                </a:solidFill>
              </a:ln>
            </p:spPr>
          </p:sp>
          <p:sp>
            <p:nvSpPr>
              <p:cNvPr id="37" name="Freeform 37"/>
              <p:cNvSpPr/>
              <p:nvPr/>
            </p:nvSpPr>
            <p:spPr>
              <a:xfrm>
                <a:off x="2545556" y="2088356"/>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9C594C"/>
                </a:solidFill>
              </a:ln>
            </p:spPr>
          </p:sp>
        </p:grpSp>
        <p:sp>
          <p:nvSpPr>
            <p:cNvPr id="39" name="TextBox 39"/>
            <p:cNvSpPr txBox="1"/>
            <p:nvPr/>
          </p:nvSpPr>
          <p:spPr>
            <a:xfrm>
              <a:off x="2460638" y="2448639"/>
              <a:ext cx="222225"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使用</a:t>
              </a:r>
            </a:p>
          </p:txBody>
        </p:sp>
        <p:sp>
          <p:nvSpPr>
            <p:cNvPr id="40" name="Ellipse 40"/>
            <p:cNvSpPr/>
            <p:nvPr/>
          </p:nvSpPr>
          <p:spPr>
            <a:xfrm>
              <a:off x="2933700" y="1905000"/>
              <a:ext cx="419100" cy="419100"/>
            </a:xfrm>
            <a:prstGeom prst="ellipse">
              <a:avLst/>
            </a:prstGeom>
            <a:solidFill>
              <a:srgbClr val="FFFFFF"/>
            </a:solidFill>
            <a:ln w="9525">
              <a:solidFill>
                <a:srgbClr val="EEEEEE"/>
              </a:solidFill>
            </a:ln>
          </p:spPr>
        </p:sp>
        <p:grpSp>
          <p:nvGrpSpPr>
            <p:cNvPr id="43" name="Group 43"/>
            <p:cNvGrpSpPr/>
            <p:nvPr/>
          </p:nvGrpSpPr>
          <p:grpSpPr>
            <a:xfrm>
              <a:off x="3073400" y="2035969"/>
              <a:ext cx="139700" cy="157162"/>
              <a:chOff x="3073400" y="2035969"/>
              <a:chExt cx="139700" cy="157162"/>
            </a:xfrm>
          </p:grpSpPr>
          <p:sp>
            <p:nvSpPr>
              <p:cNvPr id="41" name="Freeform 41"/>
              <p:cNvSpPr/>
              <p:nvPr/>
            </p:nvSpPr>
            <p:spPr>
              <a:xfrm>
                <a:off x="3073400" y="2035969"/>
                <a:ext cx="139700" cy="78581"/>
              </a:xfrm>
              <a:custGeom>
                <a:avLst/>
                <a:gdLst/>
                <a:ahLst/>
                <a:cxnLst/>
                <a:rect l="l" t="t" r="r" b="b"/>
                <a:pathLst>
                  <a:path w="139700" h="78581">
                    <a:moveTo>
                      <a:pt x="0" y="78581"/>
                    </a:moveTo>
                    <a:lnTo>
                      <a:pt x="0" y="52388"/>
                    </a:lnTo>
                    <a:cubicBezTo>
                      <a:pt x="0" y="37921"/>
                      <a:pt x="11727" y="26194"/>
                      <a:pt x="26194" y="26194"/>
                    </a:cubicBezTo>
                    <a:lnTo>
                      <a:pt x="139700" y="26194"/>
                    </a:lnTo>
                    <a:moveTo>
                      <a:pt x="113506" y="0"/>
                    </a:moveTo>
                    <a:lnTo>
                      <a:pt x="139700" y="26194"/>
                    </a:lnTo>
                    <a:lnTo>
                      <a:pt x="113506" y="52388"/>
                    </a:lnTo>
                  </a:path>
                </a:pathLst>
              </a:custGeom>
              <a:noFill/>
              <a:ln w="17463">
                <a:solidFill>
                  <a:srgbClr val="9C594C"/>
                </a:solidFill>
              </a:ln>
            </p:spPr>
          </p:sp>
          <p:sp>
            <p:nvSpPr>
              <p:cNvPr id="42" name="Freeform 42"/>
              <p:cNvSpPr/>
              <p:nvPr/>
            </p:nvSpPr>
            <p:spPr>
              <a:xfrm>
                <a:off x="3073400" y="2114550"/>
                <a:ext cx="139700" cy="78581"/>
              </a:xfrm>
              <a:custGeom>
                <a:avLst/>
                <a:gdLst/>
                <a:ahLst/>
                <a:cxnLst/>
                <a:rect l="l" t="t" r="r" b="b"/>
                <a:pathLst>
                  <a:path w="139700" h="78581">
                    <a:moveTo>
                      <a:pt x="139700" y="0"/>
                    </a:moveTo>
                    <a:lnTo>
                      <a:pt x="139700" y="26194"/>
                    </a:lnTo>
                    <a:cubicBezTo>
                      <a:pt x="139700" y="40660"/>
                      <a:pt x="127973" y="52388"/>
                      <a:pt x="113506" y="52388"/>
                    </a:cubicBezTo>
                    <a:lnTo>
                      <a:pt x="0" y="52388"/>
                    </a:lnTo>
                    <a:moveTo>
                      <a:pt x="26194" y="78581"/>
                    </a:moveTo>
                    <a:lnTo>
                      <a:pt x="0" y="52388"/>
                    </a:lnTo>
                    <a:lnTo>
                      <a:pt x="26194" y="26194"/>
                    </a:lnTo>
                  </a:path>
                </a:pathLst>
              </a:custGeom>
              <a:noFill/>
              <a:ln w="17463">
                <a:solidFill>
                  <a:srgbClr val="9C594C"/>
                </a:solidFill>
              </a:ln>
            </p:spPr>
          </p:sp>
        </p:grpSp>
        <p:sp>
          <p:nvSpPr>
            <p:cNvPr id="44" name="TextBox 44"/>
            <p:cNvSpPr txBox="1"/>
            <p:nvPr/>
          </p:nvSpPr>
          <p:spPr>
            <a:xfrm>
              <a:off x="3032138" y="2448639"/>
              <a:ext cx="222225" cy="154781"/>
            </a:xfrm>
            <a:prstGeom prst="rect">
              <a:avLst/>
            </a:prstGeom>
            <a:noFill/>
            <a:ln>
              <a:noFill/>
            </a:ln>
          </p:spPr>
          <p:txBody>
            <a:bodyPr wrap="none" lIns="0" tIns="0" rIns="0" bIns="0" anchor="t" anchorCtr="0">
              <a:spAutoFit/>
            </a:bodyPr>
            <a:lstStyle/>
            <a:p>
              <a:pPr algn="ctr"/>
              <a:r>
                <a:rPr lang="zh-CN" sz="790" b="1" dirty="0">
                  <a:solidFill>
                    <a:srgbClr val="D6391E"/>
                  </a:solidFill>
                  <a:latin typeface="+mn-lt"/>
                  <a:ea typeface="+mn-ea"/>
                  <a:cs typeface="+mn-cs"/>
                </a:rPr>
                <a:t>传输</a:t>
              </a:r>
            </a:p>
          </p:txBody>
        </p:sp>
        <p:sp>
          <p:nvSpPr>
            <p:cNvPr id="45" name="Ellipse 45"/>
            <p:cNvSpPr/>
            <p:nvPr/>
          </p:nvSpPr>
          <p:spPr>
            <a:xfrm>
              <a:off x="3505200" y="1905000"/>
              <a:ext cx="419100" cy="419100"/>
            </a:xfrm>
            <a:prstGeom prst="ellipse">
              <a:avLst/>
            </a:prstGeom>
            <a:solidFill>
              <a:srgbClr val="FFFFFF"/>
            </a:solidFill>
            <a:ln w="9525">
              <a:solidFill>
                <a:srgbClr val="EEEEEE"/>
              </a:solidFill>
            </a:ln>
          </p:spPr>
        </p:sp>
        <p:grpSp>
          <p:nvGrpSpPr>
            <p:cNvPr id="49" name="Group 49"/>
            <p:cNvGrpSpPr/>
            <p:nvPr/>
          </p:nvGrpSpPr>
          <p:grpSpPr>
            <a:xfrm>
              <a:off x="3642142" y="2044700"/>
              <a:ext cx="142458" cy="142458"/>
              <a:chOff x="3642142" y="2044700"/>
              <a:chExt cx="142458" cy="142458"/>
            </a:xfrm>
          </p:grpSpPr>
          <p:sp>
            <p:nvSpPr>
              <p:cNvPr id="46" name="Freeform 46"/>
              <p:cNvSpPr/>
              <p:nvPr/>
            </p:nvSpPr>
            <p:spPr>
              <a:xfrm>
                <a:off x="3644900" y="2044700"/>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9C594C"/>
                </a:solidFill>
              </a:ln>
            </p:spPr>
          </p:sp>
          <p:sp>
            <p:nvSpPr>
              <p:cNvPr id="47" name="Freeform 47"/>
              <p:cNvSpPr/>
              <p:nvPr/>
            </p:nvSpPr>
            <p:spPr>
              <a:xfrm>
                <a:off x="3642142" y="2132013"/>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9C594C"/>
                </a:solidFill>
              </a:ln>
            </p:spPr>
          </p:sp>
          <p:sp>
            <p:nvSpPr>
              <p:cNvPr id="48" name="Freeform 48"/>
              <p:cNvSpPr/>
              <p:nvPr/>
            </p:nvSpPr>
            <p:spPr>
              <a:xfrm>
                <a:off x="3732213" y="2079625"/>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9C594C"/>
                </a:solidFill>
              </a:ln>
            </p:spPr>
          </p:sp>
        </p:grpSp>
        <p:sp>
          <p:nvSpPr>
            <p:cNvPr id="50" name="TextBox 50"/>
            <p:cNvSpPr txBox="1"/>
            <p:nvPr/>
          </p:nvSpPr>
          <p:spPr>
            <a:xfrm>
              <a:off x="3603638" y="2448639"/>
              <a:ext cx="222225"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执行</a:t>
              </a:r>
            </a:p>
          </p:txBody>
        </p:sp>
        <p:sp>
          <p:nvSpPr>
            <p:cNvPr id="51" name="TextBox 51"/>
            <p:cNvSpPr txBox="1"/>
            <p:nvPr/>
          </p:nvSpPr>
          <p:spPr>
            <a:xfrm>
              <a:off x="490538" y="2818686"/>
              <a:ext cx="2250250" cy="521494"/>
            </a:xfrm>
            <a:prstGeom prst="rect">
              <a:avLst/>
            </a:prstGeom>
            <a:noFill/>
            <a:ln>
              <a:noFill/>
            </a:ln>
          </p:spPr>
          <p:txBody>
            <a:bodyPr wrap="none" lIns="0" tIns="0" rIns="0" bIns="0" anchor="t" anchorCtr="0">
              <a:spAutoFit/>
            </a:bodyPr>
            <a:lstStyle/>
            <a:p>
              <a:pPr algn="l" marL="76644" indent="-76644">
                <a:lnSpc>
                  <a:spcPts val="1500"/>
                </a:lnSpc>
                <a:buClr>
                  <a:srgbClr val="333333"/>
                </a:buClr>
                <a:buSzTx/>
                <a:buFontTx/>
                <a:buChar char="●"/>
              </a:pPr>
              <a:r>
                <a:rPr lang="zh-CN" sz="710" dirty="0">
                  <a:solidFill>
                    <a:srgbClr val="333333"/>
                  </a:solidFill>
                  <a:latin typeface="+mn-lt"/>
                  <a:ea typeface="+mn-ea"/>
                  <a:cs typeface="+mn-cs"/>
                </a:rPr>
                <a:t>C端项目 个人项目作品​</a:t>
              </a:r>
              <a:br/>
              <a:r>
                <a:rPr lang="zh-CN" sz="710" dirty="0">
                  <a:solidFill>
                    <a:srgbClr val="333333"/>
                  </a:solidFill>
                  <a:latin typeface="+mn-lt"/>
                  <a:ea typeface="+mn-ea"/>
                  <a:cs typeface="+mn-cs"/>
                </a:rPr>
                <a:t>● 针对用户实际工作场景中多样的项目需求，区别于传统</a:t>
              </a:r>
              <a:br/>
              <a:r>
                <a:rPr lang="zh-CN" sz="710" dirty="0">
                  <a:solidFill>
                    <a:srgbClr val="333333"/>
                  </a:solidFill>
                  <a:latin typeface="+mn-lt"/>
                  <a:ea typeface="+mn-ea"/>
                  <a:cs typeface="+mn-cs"/>
                </a:rPr>
                <a:t>● 针对用户实际工作场景中多样的项目需求，区别于传统</a:t>
              </a:r>
            </a:p>
          </p:txBody>
        </p:sp>
      </p:grpSp>
      <p:grpSp>
        <p:nvGrpSpPr>
          <p:cNvPr id="68" name="center-hub"/>
          <p:cNvGrpSpPr/>
          <p:nvPr/>
        </p:nvGrpSpPr>
        <p:grpSpPr>
          <a:xfrm>
            <a:off x="4914900" y="1447800"/>
            <a:ext cx="2362200" cy="2362200"/>
            <a:chOff x="4914900" y="1447800"/>
            <a:chExt cx="2362200" cy="2362200"/>
          </a:xfrm>
        </p:grpSpPr>
        <p:sp>
          <p:nvSpPr>
            <p:cNvPr id="53" name="Ellipse 53"/>
            <p:cNvSpPr/>
            <p:nvPr/>
          </p:nvSpPr>
          <p:spPr>
            <a:xfrm>
              <a:off x="4914900" y="1447800"/>
              <a:ext cx="2362200" cy="2362200"/>
            </a:xfrm>
            <a:prstGeom prst="ellipse">
              <a:avLst/>
            </a:prstGeom>
            <a:noFill/>
            <a:ln w="19050">
              <a:solidFill>
                <a:srgbClr val="C8E0B8"/>
              </a:solidFill>
            </a:ln>
          </p:spPr>
        </p:sp>
        <p:sp>
          <p:nvSpPr>
            <p:cNvPr id="54" name="Ellipse 54"/>
            <p:cNvSpPr/>
            <p:nvPr/>
          </p:nvSpPr>
          <p:spPr>
            <a:xfrm>
              <a:off x="4972050" y="1504950"/>
              <a:ext cx="2247900" cy="2247900"/>
            </a:xfrm>
            <a:prstGeom prst="ellipse">
              <a:avLst/>
            </a:prstGeom>
            <a:solidFill>
              <a:srgbClr val="9C594C"/>
            </a:solidFill>
            <a:ln>
              <a:noFill/>
            </a:ln>
          </p:spPr>
        </p:sp>
        <p:grpSp>
          <p:nvGrpSpPr>
            <p:cNvPr id="59" name="Group 59"/>
            <p:cNvGrpSpPr/>
            <p:nvPr/>
          </p:nvGrpSpPr>
          <p:grpSpPr>
            <a:xfrm>
              <a:off x="5762625" y="1914525"/>
              <a:ext cx="285751" cy="285751"/>
              <a:chOff x="5762625" y="1914525"/>
              <a:chExt cx="285751" cy="285751"/>
            </a:xfrm>
          </p:grpSpPr>
          <p:sp>
            <p:nvSpPr>
              <p:cNvPr id="55" name="Freeform 55"/>
              <p:cNvSpPr/>
              <p:nvPr/>
            </p:nvSpPr>
            <p:spPr>
              <a:xfrm>
                <a:off x="5794375" y="191452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31750">
                <a:solidFill>
                  <a:srgbClr val="FFFFFF"/>
                </a:solidFill>
              </a:ln>
            </p:spPr>
          </p:sp>
          <p:sp>
            <p:nvSpPr>
              <p:cNvPr id="56" name="Freeform 56"/>
              <p:cNvSpPr/>
              <p:nvPr/>
            </p:nvSpPr>
            <p:spPr>
              <a:xfrm>
                <a:off x="5762625" y="2105025"/>
                <a:ext cx="190500" cy="95250"/>
              </a:xfrm>
              <a:custGeom>
                <a:avLst/>
                <a:gdLst/>
                <a:ahLst/>
                <a:cxnLst/>
                <a:rect l="l" t="t" r="r" b="b"/>
                <a:pathLst>
                  <a:path w="190500" h="95250">
                    <a:moveTo>
                      <a:pt x="0" y="95250"/>
                    </a:moveTo>
                    <a:lnTo>
                      <a:pt x="0" y="63500"/>
                    </a:lnTo>
                    <a:cubicBezTo>
                      <a:pt x="0" y="28430"/>
                      <a:pt x="28430" y="0"/>
                      <a:pt x="63500" y="0"/>
                    </a:cubicBezTo>
                    <a:lnTo>
                      <a:pt x="127000" y="0"/>
                    </a:lnTo>
                    <a:cubicBezTo>
                      <a:pt x="162070" y="0"/>
                      <a:pt x="190500" y="28430"/>
                      <a:pt x="190500" y="63500"/>
                    </a:cubicBezTo>
                    <a:lnTo>
                      <a:pt x="190500" y="95250"/>
                    </a:lnTo>
                  </a:path>
                </a:pathLst>
              </a:custGeom>
              <a:noFill/>
              <a:ln w="31750">
                <a:solidFill>
                  <a:srgbClr val="FFFFFF"/>
                </a:solidFill>
              </a:ln>
            </p:spPr>
          </p:sp>
          <p:sp>
            <p:nvSpPr>
              <p:cNvPr id="57" name="Freeform 57"/>
              <p:cNvSpPr/>
              <p:nvPr/>
            </p:nvSpPr>
            <p:spPr>
              <a:xfrm>
                <a:off x="5969001" y="1916589"/>
                <a:ext cx="47750" cy="123031"/>
              </a:xfrm>
              <a:custGeom>
                <a:avLst/>
                <a:gdLst/>
                <a:ahLst/>
                <a:cxnLst/>
                <a:rect l="l" t="t" r="r" b="b"/>
                <a:pathLst>
                  <a:path w="47750" h="123031">
                    <a:moveTo>
                      <a:pt x="0" y="0"/>
                    </a:moveTo>
                    <a:cubicBezTo>
                      <a:pt x="28097" y="7194"/>
                      <a:pt x="47750" y="32512"/>
                      <a:pt x="47750" y="61516"/>
                    </a:cubicBezTo>
                    <a:cubicBezTo>
                      <a:pt x="47750" y="90520"/>
                      <a:pt x="28097" y="115837"/>
                      <a:pt x="0" y="123031"/>
                    </a:cubicBezTo>
                  </a:path>
                </a:pathLst>
              </a:custGeom>
              <a:noFill/>
              <a:ln w="31750">
                <a:solidFill>
                  <a:srgbClr val="FFFFFF"/>
                </a:solidFill>
              </a:ln>
            </p:spPr>
          </p:sp>
          <p:sp>
            <p:nvSpPr>
              <p:cNvPr id="58" name="Freeform 58"/>
              <p:cNvSpPr/>
              <p:nvPr/>
            </p:nvSpPr>
            <p:spPr>
              <a:xfrm>
                <a:off x="6000751" y="2107407"/>
                <a:ext cx="47625" cy="92869"/>
              </a:xfrm>
              <a:custGeom>
                <a:avLst/>
                <a:gdLst/>
                <a:ahLst/>
                <a:cxnLst/>
                <a:rect l="l" t="t" r="r" b="b"/>
                <a:pathLst>
                  <a:path w="47625" h="92869">
                    <a:moveTo>
                      <a:pt x="47625" y="92869"/>
                    </a:moveTo>
                    <a:lnTo>
                      <a:pt x="47625" y="61119"/>
                    </a:lnTo>
                    <a:cubicBezTo>
                      <a:pt x="47459" y="32299"/>
                      <a:pt x="27905" y="7205"/>
                      <a:pt x="0" y="0"/>
                    </a:cubicBezTo>
                  </a:path>
                </a:pathLst>
              </a:custGeom>
              <a:noFill/>
              <a:ln w="31750">
                <a:solidFill>
                  <a:srgbClr val="FFFFFF"/>
                </a:solidFill>
              </a:ln>
            </p:spPr>
          </p:sp>
        </p:grpSp>
        <p:grpSp>
          <p:nvGrpSpPr>
            <p:cNvPr id="64" name="Group 64"/>
            <p:cNvGrpSpPr/>
            <p:nvPr/>
          </p:nvGrpSpPr>
          <p:grpSpPr>
            <a:xfrm>
              <a:off x="6162675" y="1930400"/>
              <a:ext cx="285750" cy="263526"/>
              <a:chOff x="6162675" y="1930400"/>
              <a:chExt cx="285750" cy="263526"/>
            </a:xfrm>
          </p:grpSpPr>
          <p:sp>
            <p:nvSpPr>
              <p:cNvPr id="60" name="Freeform 60"/>
              <p:cNvSpPr/>
              <p:nvPr/>
            </p:nvSpPr>
            <p:spPr>
              <a:xfrm>
                <a:off x="6162675" y="2057400"/>
                <a:ext cx="95250" cy="127000"/>
              </a:xfrm>
              <a:custGeom>
                <a:avLst/>
                <a:gdLst/>
                <a:ahLst/>
                <a:cxnLst/>
                <a:rect l="l" t="t" r="r" b="b"/>
                <a:pathLst>
                  <a:path w="95250" h="127000">
                    <a:moveTo>
                      <a:pt x="0" y="15875"/>
                    </a:moveTo>
                    <a:cubicBezTo>
                      <a:pt x="0" y="7107"/>
                      <a:pt x="7107" y="0"/>
                      <a:pt x="15875" y="0"/>
                    </a:cubicBezTo>
                    <a:lnTo>
                      <a:pt x="79375" y="0"/>
                    </a:lnTo>
                    <a:cubicBezTo>
                      <a:pt x="88143" y="0"/>
                      <a:pt x="95250" y="7107"/>
                      <a:pt x="95250" y="15875"/>
                    </a:cubicBezTo>
                    <a:lnTo>
                      <a:pt x="95250" y="111125"/>
                    </a:lnTo>
                    <a:cubicBezTo>
                      <a:pt x="95250" y="119893"/>
                      <a:pt x="88143" y="127000"/>
                      <a:pt x="79375" y="127000"/>
                    </a:cubicBezTo>
                    <a:lnTo>
                      <a:pt x="15875" y="127000"/>
                    </a:lnTo>
                    <a:cubicBezTo>
                      <a:pt x="7107" y="127000"/>
                      <a:pt x="0" y="119893"/>
                      <a:pt x="0" y="111125"/>
                    </a:cubicBezTo>
                    <a:lnTo>
                      <a:pt x="0" y="15875"/>
                    </a:lnTo>
                  </a:path>
                </a:pathLst>
              </a:custGeom>
              <a:noFill/>
              <a:ln w="31750">
                <a:solidFill>
                  <a:srgbClr val="FFFFFF"/>
                </a:solidFill>
              </a:ln>
            </p:spPr>
          </p:sp>
          <p:sp>
            <p:nvSpPr>
              <p:cNvPr id="61" name="Freeform 61"/>
              <p:cNvSpPr/>
              <p:nvPr/>
            </p:nvSpPr>
            <p:spPr>
              <a:xfrm>
                <a:off x="6353175" y="1993900"/>
                <a:ext cx="95250" cy="190500"/>
              </a:xfrm>
              <a:custGeom>
                <a:avLst/>
                <a:gdLst/>
                <a:ahLst/>
                <a:cxnLst/>
                <a:rect l="l" t="t" r="r" b="b"/>
                <a:pathLst>
                  <a:path w="95250" h="190500">
                    <a:moveTo>
                      <a:pt x="0" y="15875"/>
                    </a:moveTo>
                    <a:cubicBezTo>
                      <a:pt x="0" y="7107"/>
                      <a:pt x="7107" y="0"/>
                      <a:pt x="15875" y="0"/>
                    </a:cubicBezTo>
                    <a:lnTo>
                      <a:pt x="79375" y="0"/>
                    </a:lnTo>
                    <a:cubicBezTo>
                      <a:pt x="88143" y="0"/>
                      <a:pt x="95250" y="7107"/>
                      <a:pt x="95250" y="15875"/>
                    </a:cubicBezTo>
                    <a:lnTo>
                      <a:pt x="95250" y="174625"/>
                    </a:lnTo>
                    <a:cubicBezTo>
                      <a:pt x="95250" y="183393"/>
                      <a:pt x="88143" y="190500"/>
                      <a:pt x="79375" y="190500"/>
                    </a:cubicBezTo>
                    <a:lnTo>
                      <a:pt x="15875" y="190500"/>
                    </a:lnTo>
                    <a:cubicBezTo>
                      <a:pt x="7107" y="190500"/>
                      <a:pt x="0" y="183393"/>
                      <a:pt x="0" y="174625"/>
                    </a:cubicBezTo>
                    <a:lnTo>
                      <a:pt x="0" y="15875"/>
                    </a:lnTo>
                  </a:path>
                </a:pathLst>
              </a:custGeom>
              <a:noFill/>
              <a:ln w="31750">
                <a:solidFill>
                  <a:srgbClr val="FFFFFF"/>
                </a:solidFill>
              </a:ln>
            </p:spPr>
          </p:sp>
          <p:sp>
            <p:nvSpPr>
              <p:cNvPr id="62" name="Freeform 62"/>
              <p:cNvSpPr/>
              <p:nvPr/>
            </p:nvSpPr>
            <p:spPr>
              <a:xfrm>
                <a:off x="6257925" y="1930400"/>
                <a:ext cx="95250" cy="254001"/>
              </a:xfrm>
              <a:custGeom>
                <a:avLst/>
                <a:gdLst/>
                <a:ahLst/>
                <a:cxnLst/>
                <a:rect l="l" t="t" r="r" b="b"/>
                <a:pathLst>
                  <a:path w="95250" h="254001">
                    <a:moveTo>
                      <a:pt x="0" y="15875"/>
                    </a:moveTo>
                    <a:cubicBezTo>
                      <a:pt x="0" y="7107"/>
                      <a:pt x="7107" y="0"/>
                      <a:pt x="15875" y="0"/>
                    </a:cubicBezTo>
                    <a:lnTo>
                      <a:pt x="79375" y="0"/>
                    </a:lnTo>
                    <a:cubicBezTo>
                      <a:pt x="88143" y="0"/>
                      <a:pt x="95250" y="7107"/>
                      <a:pt x="95250" y="15875"/>
                    </a:cubicBezTo>
                    <a:lnTo>
                      <a:pt x="95250" y="238125"/>
                    </a:lnTo>
                    <a:cubicBezTo>
                      <a:pt x="95250" y="246893"/>
                      <a:pt x="88143" y="254001"/>
                      <a:pt x="79375" y="254001"/>
                    </a:cubicBezTo>
                    <a:lnTo>
                      <a:pt x="15875" y="254001"/>
                    </a:lnTo>
                    <a:cubicBezTo>
                      <a:pt x="7107" y="254001"/>
                      <a:pt x="0" y="246893"/>
                      <a:pt x="0" y="238125"/>
                    </a:cubicBezTo>
                    <a:lnTo>
                      <a:pt x="0" y="15875"/>
                    </a:lnTo>
                  </a:path>
                </a:pathLst>
              </a:custGeom>
              <a:noFill/>
              <a:ln w="31750">
                <a:solidFill>
                  <a:srgbClr val="FFFFFF"/>
                </a:solidFill>
              </a:ln>
            </p:spPr>
          </p:sp>
          <p:sp>
            <p:nvSpPr>
              <p:cNvPr id="63" name="Freeform 63"/>
              <p:cNvSpPr/>
              <p:nvPr/>
            </p:nvSpPr>
            <p:spPr>
              <a:xfrm>
                <a:off x="6178550" y="2184401"/>
                <a:ext cx="222250" cy="9525"/>
              </a:xfrm>
              <a:custGeom>
                <a:avLst/>
                <a:gdLst/>
                <a:ahLst/>
                <a:cxnLst/>
                <a:rect l="l" t="t" r="r" b="b"/>
                <a:pathLst>
                  <a:path w="222250" h="9525">
                    <a:moveTo>
                      <a:pt x="0" y="0"/>
                    </a:moveTo>
                    <a:lnTo>
                      <a:pt x="222250" y="0"/>
                    </a:lnTo>
                  </a:path>
                </a:pathLst>
              </a:custGeom>
              <a:noFill/>
              <a:ln w="31750">
                <a:solidFill>
                  <a:srgbClr val="FFFFFF"/>
                </a:solidFill>
              </a:ln>
            </p:spPr>
          </p:sp>
        </p:grpSp>
        <p:sp>
          <p:nvSpPr>
            <p:cNvPr id="65" name="Line 65"/>
            <p:cNvSpPr/>
            <p:nvPr/>
          </p:nvSpPr>
          <p:spPr>
            <a:xfrm>
              <a:off x="5524500" y="2400300"/>
              <a:ext cx="1143000" cy="9525"/>
            </a:xfrm>
            <a:custGeom>
              <a:avLst/>
              <a:gdLst/>
              <a:ahLst/>
              <a:cxnLst/>
              <a:rect l="l" t="t" r="r" b="b"/>
              <a:pathLst>
                <a:path w="1143000" h="9525">
                  <a:moveTo>
                    <a:pt x="0" y="0"/>
                  </a:moveTo>
                  <a:lnTo>
                    <a:pt x="1143000" y="0"/>
                  </a:lnTo>
                </a:path>
              </a:pathLst>
            </a:custGeom>
            <a:noFill/>
            <a:ln w="9525">
              <a:solidFill>
                <a:srgbClr val="C8E0B8"/>
              </a:solidFill>
              <a:custDash>
                <a:ds d="300000" sp="300000"/>
              </a:custDash>
            </a:ln>
          </p:spPr>
        </p:sp>
        <p:sp>
          <p:nvSpPr>
            <p:cNvPr id="66" name="TextBox 66"/>
            <p:cNvSpPr txBox="1"/>
            <p:nvPr/>
          </p:nvSpPr>
          <p:spPr>
            <a:xfrm>
              <a:off x="5634799" y="2616518"/>
              <a:ext cx="92240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青春研习社</a:t>
              </a:r>
            </a:p>
          </p:txBody>
        </p:sp>
        <p:sp>
          <p:nvSpPr>
            <p:cNvPr id="67" name="TextBox 67"/>
            <p:cNvSpPr txBox="1"/>
            <p:nvPr/>
          </p:nvSpPr>
          <p:spPr>
            <a:xfrm>
              <a:off x="5443728" y="2880360"/>
              <a:ext cx="130454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线上平台运营策略</a:t>
              </a:r>
            </a:p>
          </p:txBody>
        </p:sp>
      </p:grpSp>
      <p:grpSp>
        <p:nvGrpSpPr>
          <p:cNvPr id="86" name="data-card"/>
          <p:cNvGrpSpPr/>
          <p:nvPr/>
        </p:nvGrpSpPr>
        <p:grpSpPr>
          <a:xfrm>
            <a:off x="7620000" y="914400"/>
            <a:ext cx="4191000" cy="2667000"/>
            <a:chOff x="7620000" y="914400"/>
            <a:chExt cx="4191000" cy="2667000"/>
          </a:xfrm>
        </p:grpSpPr>
        <p:sp>
          <p:nvSpPr>
            <p:cNvPr id="69" name="Rectangle 69"/>
            <p:cNvSpPr/>
            <p:nvPr/>
          </p:nvSpPr>
          <p:spPr>
            <a:xfrm>
              <a:off x="7620000" y="914400"/>
              <a:ext cx="4191000" cy="2667000"/>
            </a:xfrm>
            <a:prstGeom prst="rect">
              <a:avLst/>
            </a:prstGeom>
            <a:solidFill>
              <a:srgbClr val="F4F8EF"/>
            </a:solidFill>
            <a:ln w="9525">
              <a:solidFill>
                <a:srgbClr val="9C594C"/>
              </a:solidFill>
            </a:ln>
          </p:spPr>
        </p:sp>
        <p:sp>
          <p:nvSpPr>
            <p:cNvPr id="70" name="TextBox 70"/>
            <p:cNvSpPr txBox="1"/>
            <p:nvPr/>
          </p:nvSpPr>
          <p:spPr>
            <a:xfrm>
              <a:off x="7729538" y="1036082"/>
              <a:ext cx="467538" cy="126206"/>
            </a:xfrm>
            <a:prstGeom prst="rect">
              <a:avLst/>
            </a:prstGeom>
            <a:noFill/>
            <a:ln>
              <a:noFill/>
            </a:ln>
          </p:spPr>
          <p:txBody>
            <a:bodyPr wrap="none" lIns="0" tIns="0" rIns="0" bIns="0" anchor="t" anchorCtr="0">
              <a:spAutoFit/>
            </a:bodyPr>
            <a:lstStyle/>
            <a:p>
              <a:pPr algn="l"/>
              <a:r>
                <a:rPr lang="en-US" sz="640" dirty="0">
                  <a:solidFill>
                    <a:srgbClr val="7A3E33"/>
                  </a:solidFill>
                  <a:latin typeface="+mn-lt"/>
                  <a:ea typeface="+mn-ea"/>
                  <a:cs typeface="+mn-cs"/>
                </a:rPr>
                <a:t>Data Proof</a:t>
              </a:r>
            </a:p>
          </p:txBody>
        </p:sp>
        <p:sp>
          <p:nvSpPr>
            <p:cNvPr id="71" name="TextBox 71"/>
            <p:cNvSpPr txBox="1"/>
            <p:nvPr/>
          </p:nvSpPr>
          <p:spPr>
            <a:xfrm>
              <a:off x="7729538" y="1226820"/>
              <a:ext cx="857631" cy="176212"/>
            </a:xfrm>
            <a:prstGeom prst="rect">
              <a:avLst/>
            </a:prstGeom>
            <a:noFill/>
            <a:ln>
              <a:noFill/>
            </a:ln>
          </p:spPr>
          <p:txBody>
            <a:bodyPr wrap="none" lIns="0" tIns="0" rIns="0" bIns="0" anchor="t" anchorCtr="0">
              <a:spAutoFit/>
            </a:bodyPr>
            <a:lstStyle/>
            <a:p>
              <a:pPr algn="l"/>
              <a:r>
                <a:rPr lang="zh-CN" sz="900" b="1" dirty="0">
                  <a:solidFill>
                    <a:srgbClr val="333333"/>
                  </a:solidFill>
                  <a:latin typeface="+mn-lt"/>
                  <a:ea typeface="+mn-ea"/>
                  <a:cs typeface="+mn-cs"/>
                </a:rPr>
                <a:t>产品数据展示。</a:t>
              </a:r>
            </a:p>
          </p:txBody>
        </p:sp>
        <p:sp>
          <p:nvSpPr>
            <p:cNvPr id="72" name="TextBox 72"/>
            <p:cNvSpPr txBox="1"/>
            <p:nvPr/>
          </p:nvSpPr>
          <p:spPr>
            <a:xfrm>
              <a:off x="7722870" y="1681162"/>
              <a:ext cx="658940" cy="440055"/>
            </a:xfrm>
            <a:prstGeom prst="rect">
              <a:avLst/>
            </a:prstGeom>
            <a:noFill/>
            <a:ln>
              <a:noFill/>
            </a:ln>
          </p:spPr>
          <p:txBody>
            <a:bodyPr wrap="none" lIns="0" tIns="0" rIns="0" bIns="0" anchor="t" anchorCtr="0">
              <a:spAutoFit/>
            </a:bodyPr>
            <a:lstStyle/>
            <a:p>
              <a:pPr algn="l"/>
              <a:r>
                <a:rPr lang="zh-CN" sz="2250" b="1" dirty="0">
                  <a:solidFill>
                    <a:srgbClr val="7A3E33"/>
                  </a:solidFill>
                  <a:latin typeface="+mn-lt"/>
                  <a:ea typeface="+mn-ea"/>
                  <a:cs typeface="+mn-cs"/>
                </a:rPr>
                <a:t>41</a:t>
              </a:r>
              <a:r>
                <a:rPr lang="zh-CN" sz="1050" b="1" dirty="0">
                  <a:solidFill>
                    <a:srgbClr val="7A3E33"/>
                  </a:solidFill>
                  <a:latin typeface="+mn-lt"/>
                  <a:ea typeface="+mn-ea"/>
                  <a:cs typeface="+mn-cs"/>
                </a:rPr>
                <a:t>%</a:t>
              </a:r>
              <a:r>
                <a:rPr lang="zh-CN" sz="2250" b="1" dirty="0">
                  <a:solidFill>
                    <a:srgbClr val="7A3E33"/>
                  </a:solidFill>
                  <a:latin typeface="+mn-lt"/>
                  <a:ea typeface="+mn-ea"/>
                  <a:cs typeface="+mn-cs"/>
                </a:rPr>
                <a:t>​</a:t>
              </a:r>
            </a:p>
          </p:txBody>
        </p:sp>
        <p:sp>
          <p:nvSpPr>
            <p:cNvPr id="73" name="TextBox 73"/>
            <p:cNvSpPr txBox="1"/>
            <p:nvPr/>
          </p:nvSpPr>
          <p:spPr>
            <a:xfrm>
              <a:off x="7729538" y="2048589"/>
              <a:ext cx="647624" cy="154781"/>
            </a:xfrm>
            <a:prstGeom prst="rect">
              <a:avLst/>
            </a:prstGeom>
            <a:noFill/>
            <a:ln>
              <a:noFill/>
            </a:ln>
          </p:spPr>
          <p:txBody>
            <a:bodyPr wrap="none" lIns="0" tIns="0" rIns="0" bIns="0" anchor="t" anchorCtr="0">
              <a:spAutoFit/>
            </a:bodyPr>
            <a:lstStyle/>
            <a:p>
              <a:pPr algn="l"/>
              <a:r>
                <a:rPr lang="zh-CN" sz="790" dirty="0">
                  <a:solidFill>
                    <a:srgbClr val="7A3E33"/>
                  </a:solidFill>
                  <a:latin typeface="+mn-lt"/>
                  <a:ea typeface="+mn-ea"/>
                  <a:cs typeface="+mn-cs"/>
                </a:rPr>
                <a:t>环比上期下降</a:t>
              </a:r>
            </a:p>
          </p:txBody>
        </p:sp>
        <p:sp>
          <p:nvSpPr>
            <p:cNvPr id="74" name="TextBox 74"/>
            <p:cNvSpPr txBox="1"/>
            <p:nvPr/>
          </p:nvSpPr>
          <p:spPr>
            <a:xfrm>
              <a:off x="8751570" y="1681162"/>
              <a:ext cx="658940" cy="440055"/>
            </a:xfrm>
            <a:prstGeom prst="rect">
              <a:avLst/>
            </a:prstGeom>
            <a:noFill/>
            <a:ln>
              <a:noFill/>
            </a:ln>
          </p:spPr>
          <p:txBody>
            <a:bodyPr wrap="none" lIns="0" tIns="0" rIns="0" bIns="0" anchor="t" anchorCtr="0">
              <a:spAutoFit/>
            </a:bodyPr>
            <a:lstStyle/>
            <a:p>
              <a:pPr algn="l"/>
              <a:r>
                <a:rPr lang="zh-CN" sz="2250" b="1" dirty="0">
                  <a:solidFill>
                    <a:srgbClr val="D6391E"/>
                  </a:solidFill>
                  <a:latin typeface="+mn-lt"/>
                  <a:ea typeface="+mn-ea"/>
                  <a:cs typeface="+mn-cs"/>
                </a:rPr>
                <a:t>69</a:t>
              </a:r>
              <a:r>
                <a:rPr lang="zh-CN" sz="1050" b="1" dirty="0">
                  <a:solidFill>
                    <a:srgbClr val="D6391E"/>
                  </a:solidFill>
                  <a:latin typeface="+mn-lt"/>
                  <a:ea typeface="+mn-ea"/>
                  <a:cs typeface="+mn-cs"/>
                </a:rPr>
                <a:t>%</a:t>
              </a:r>
              <a:r>
                <a:rPr lang="zh-CN" sz="2250" b="1" dirty="0">
                  <a:solidFill>
                    <a:srgbClr val="D6391E"/>
                  </a:solidFill>
                  <a:latin typeface="+mn-lt"/>
                  <a:ea typeface="+mn-ea"/>
                  <a:cs typeface="+mn-cs"/>
                </a:rPr>
                <a:t>​</a:t>
              </a:r>
            </a:p>
          </p:txBody>
        </p:sp>
        <p:sp>
          <p:nvSpPr>
            <p:cNvPr id="75" name="TextBox 75"/>
            <p:cNvSpPr txBox="1"/>
            <p:nvPr/>
          </p:nvSpPr>
          <p:spPr>
            <a:xfrm>
              <a:off x="8758238" y="2048589"/>
              <a:ext cx="434924" cy="154781"/>
            </a:xfrm>
            <a:prstGeom prst="rect">
              <a:avLst/>
            </a:prstGeom>
            <a:noFill/>
            <a:ln>
              <a:noFill/>
            </a:ln>
          </p:spPr>
          <p:txBody>
            <a:bodyPr wrap="none" lIns="0" tIns="0" rIns="0" bIns="0" anchor="t" anchorCtr="0">
              <a:spAutoFit/>
            </a:bodyPr>
            <a:lstStyle/>
            <a:p>
              <a:pPr algn="l"/>
              <a:r>
                <a:rPr lang="zh-CN" sz="790" dirty="0">
                  <a:solidFill>
                    <a:srgbClr val="D6391E"/>
                  </a:solidFill>
                  <a:latin typeface="+mn-lt"/>
                  <a:ea typeface="+mn-ea"/>
                  <a:cs typeface="+mn-cs"/>
                </a:rPr>
                <a:t>上期占比</a:t>
              </a:r>
            </a:p>
          </p:txBody>
        </p:sp>
        <p:sp>
          <p:nvSpPr>
            <p:cNvPr id="76" name="Ellipse 76"/>
            <p:cNvSpPr/>
            <p:nvPr/>
          </p:nvSpPr>
          <p:spPr>
            <a:xfrm>
              <a:off x="10763250" y="1381125"/>
              <a:ext cx="571500" cy="571500"/>
            </a:xfrm>
            <a:prstGeom prst="ellipse">
              <a:avLst/>
            </a:prstGeom>
            <a:noFill/>
            <a:ln w="114300">
              <a:solidFill>
                <a:srgbClr val="E5E9E2"/>
              </a:solidFill>
            </a:ln>
          </p:spPr>
        </p:sp>
        <p:sp>
          <p:nvSpPr>
            <p:cNvPr id="77" name="Freeform 77"/>
            <p:cNvSpPr/>
            <p:nvPr/>
          </p:nvSpPr>
          <p:spPr>
            <a:xfrm>
              <a:off x="10706100" y="1323975"/>
              <a:ext cx="685800" cy="685800"/>
            </a:xfrm>
            <a:prstGeom prst="blockArc">
              <a:avLst>
                <a:gd name="adj1" fmla="val 16200000"/>
                <a:gd name="adj2" fmla="val 9720000"/>
                <a:gd name="adj3" fmla="val 16667"/>
              </a:avLst>
            </a:prstGeom>
            <a:solidFill>
              <a:srgbClr val="9C594C"/>
            </a:solidFill>
            <a:ln>
              <a:noFill/>
            </a:ln>
          </p:spPr>
        </p:sp>
        <p:sp>
          <p:nvSpPr>
            <p:cNvPr id="78" name="TextBox 78"/>
            <p:cNvSpPr txBox="1"/>
            <p:nvPr/>
          </p:nvSpPr>
          <p:spPr>
            <a:xfrm>
              <a:off x="10915912" y="1609249"/>
              <a:ext cx="266175"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70%</a:t>
              </a:r>
            </a:p>
          </p:txBody>
        </p:sp>
        <p:sp>
          <p:nvSpPr>
            <p:cNvPr id="79" name="TextBox 79"/>
            <p:cNvSpPr txBox="1"/>
            <p:nvPr/>
          </p:nvSpPr>
          <p:spPr>
            <a:xfrm>
              <a:off x="7729538" y="2380536"/>
              <a:ext cx="2444115" cy="654844"/>
            </a:xfrm>
            <a:prstGeom prst="rect">
              <a:avLst/>
            </a:prstGeom>
            <a:noFill/>
            <a:ln>
              <a:noFill/>
            </a:ln>
          </p:spPr>
          <p:txBody>
            <a:bodyPr wrap="none" lIns="0" tIns="0" rIns="0" bIns="0" anchor="t" anchorCtr="0">
              <a:spAutoFit/>
            </a:bodyPr>
            <a:lstStyle/>
            <a:p>
              <a:pPr algn="l">
                <a:lnSpc>
                  <a:spcPts val="1350"/>
                </a:lnSpc>
              </a:pPr>
              <a:r>
                <a:rPr lang="zh-CN" sz="710" dirty="0">
                  <a:solidFill>
                    <a:srgbClr val="595959"/>
                  </a:solidFill>
                  <a:latin typeface="+mn-lt"/>
                  <a:ea typeface="+mn-ea"/>
                  <a:cs typeface="+mn-cs"/>
                </a:rPr>
                <a:t>随访是医院根据医疗、科研、教学的需要，与诊治后的病人</a:t>
              </a:r>
              <a:br/>
              <a:r>
                <a:rPr lang="zh-CN" sz="710" dirty="0">
                  <a:solidFill>
                    <a:srgbClr val="595959"/>
                  </a:solidFill>
                  <a:latin typeface="+mn-lt"/>
                  <a:ea typeface="+mn-ea"/>
                  <a:cs typeface="+mn-cs"/>
                </a:rPr>
                <a:t>保持联系或者要求病人定期来医院复查，对病人的疾病疗效、</a:t>
              </a:r>
              <a:br/>
              <a:r>
                <a:rPr lang="zh-CN" sz="710" dirty="0">
                  <a:solidFill>
                    <a:srgbClr val="595959"/>
                  </a:solidFill>
                  <a:latin typeface="+mn-lt"/>
                  <a:ea typeface="+mn-ea"/>
                  <a:cs typeface="+mn-cs"/>
                </a:rPr>
                <a:t>发展状况继续进行追踪观察所做的工作，又称作随诊。就是</a:t>
              </a:r>
              <a:br/>
              <a:r>
                <a:rPr lang="zh-CN" sz="710" dirty="0">
                  <a:solidFill>
                    <a:srgbClr val="595959"/>
                  </a:solidFill>
                  <a:latin typeface="+mn-lt"/>
                  <a:ea typeface="+mn-ea"/>
                  <a:cs typeface="+mn-cs"/>
                </a:rPr>
                <a:t>在诊治后，对病人进行继续追踪、查访。</a:t>
              </a:r>
            </a:p>
          </p:txBody>
        </p:sp>
        <p:sp>
          <p:nvSpPr>
            <p:cNvPr id="80" name="Rectangle 80"/>
            <p:cNvSpPr/>
            <p:nvPr/>
          </p:nvSpPr>
          <p:spPr>
            <a:xfrm>
              <a:off x="7810500" y="3238500"/>
              <a:ext cx="762000" cy="247650"/>
            </a:xfrm>
            <a:prstGeom prst="roundRect">
              <a:avLst>
                <a:gd name="adj" fmla="val 11538"/>
              </a:avLst>
            </a:prstGeom>
            <a:solidFill>
              <a:srgbClr val="E9563C"/>
            </a:solidFill>
            <a:ln>
              <a:noFill/>
            </a:ln>
          </p:spPr>
        </p:sp>
        <p:sp>
          <p:nvSpPr>
            <p:cNvPr id="81" name="TextBox 81"/>
            <p:cNvSpPr txBox="1"/>
            <p:nvPr/>
          </p:nvSpPr>
          <p:spPr>
            <a:xfrm>
              <a:off x="8021155" y="33208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医护端</a:t>
              </a:r>
            </a:p>
          </p:txBody>
        </p:sp>
        <p:sp>
          <p:nvSpPr>
            <p:cNvPr id="82" name="Rectangle 82"/>
            <p:cNvSpPr/>
            <p:nvPr/>
          </p:nvSpPr>
          <p:spPr>
            <a:xfrm>
              <a:off x="8667750" y="3238500"/>
              <a:ext cx="762000" cy="247650"/>
            </a:xfrm>
            <a:prstGeom prst="roundRect">
              <a:avLst>
                <a:gd name="adj" fmla="val 11538"/>
              </a:avLst>
            </a:prstGeom>
            <a:solidFill>
              <a:srgbClr val="E9563C"/>
            </a:solidFill>
            <a:ln>
              <a:noFill/>
            </a:ln>
          </p:spPr>
        </p:sp>
        <p:sp>
          <p:nvSpPr>
            <p:cNvPr id="83" name="TextBox 83"/>
            <p:cNvSpPr txBox="1"/>
            <p:nvPr/>
          </p:nvSpPr>
          <p:spPr>
            <a:xfrm>
              <a:off x="8878405" y="3320891"/>
              <a:ext cx="340690"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患者端</a:t>
              </a:r>
            </a:p>
          </p:txBody>
        </p:sp>
        <p:sp>
          <p:nvSpPr>
            <p:cNvPr id="84" name="Rectangle 84"/>
            <p:cNvSpPr/>
            <p:nvPr/>
          </p:nvSpPr>
          <p:spPr>
            <a:xfrm>
              <a:off x="9525000" y="3238500"/>
              <a:ext cx="762000" cy="247650"/>
            </a:xfrm>
            <a:prstGeom prst="roundRect">
              <a:avLst>
                <a:gd name="adj" fmla="val 11538"/>
              </a:avLst>
            </a:prstGeom>
            <a:solidFill>
              <a:srgbClr val="E9563C"/>
            </a:solidFill>
            <a:ln>
              <a:noFill/>
            </a:ln>
          </p:spPr>
        </p:sp>
        <p:sp>
          <p:nvSpPr>
            <p:cNvPr id="85" name="TextBox 85"/>
            <p:cNvSpPr txBox="1"/>
            <p:nvPr/>
          </p:nvSpPr>
          <p:spPr>
            <a:xfrm>
              <a:off x="9680461" y="3320891"/>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后台管理</a:t>
              </a:r>
            </a:p>
          </p:txBody>
        </p:sp>
      </p:grpSp>
      <p:grpSp>
        <p:nvGrpSpPr>
          <p:cNvPr id="93" name="step-1"/>
          <p:cNvGrpSpPr/>
          <p:nvPr/>
        </p:nvGrpSpPr>
        <p:grpSpPr>
          <a:xfrm>
            <a:off x="381000" y="4229100"/>
            <a:ext cx="2286000" cy="1104900"/>
            <a:chOff x="381000" y="4229100"/>
            <a:chExt cx="2286000" cy="1104900"/>
          </a:xfrm>
        </p:grpSpPr>
        <p:sp>
          <p:nvSpPr>
            <p:cNvPr id="87" name="Rectangle 87"/>
            <p:cNvSpPr/>
            <p:nvPr/>
          </p:nvSpPr>
          <p:spPr>
            <a:xfrm>
              <a:off x="381000" y="4476750"/>
              <a:ext cx="2286000" cy="857250"/>
            </a:xfrm>
            <a:prstGeom prst="rect">
              <a:avLst/>
            </a:prstGeom>
            <a:solidFill>
              <a:srgbClr val="C8E0B8"/>
            </a:solidFill>
            <a:ln>
              <a:noFill/>
            </a:ln>
          </p:spPr>
        </p:sp>
        <p:sp>
          <p:nvSpPr>
            <p:cNvPr id="88" name="Ellipse 88"/>
            <p:cNvSpPr/>
            <p:nvPr/>
          </p:nvSpPr>
          <p:spPr>
            <a:xfrm>
              <a:off x="419100" y="4229100"/>
              <a:ext cx="304800" cy="304800"/>
            </a:xfrm>
            <a:prstGeom prst="ellipse">
              <a:avLst/>
            </a:prstGeom>
            <a:solidFill>
              <a:srgbClr val="CD9F96"/>
            </a:solidFill>
            <a:ln>
              <a:noFill/>
            </a:ln>
          </p:spPr>
        </p:sp>
        <p:sp>
          <p:nvSpPr>
            <p:cNvPr id="89" name="TextBox 89"/>
            <p:cNvSpPr txBox="1"/>
            <p:nvPr/>
          </p:nvSpPr>
          <p:spPr>
            <a:xfrm>
              <a:off x="528453" y="432387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a:t>
              </a:r>
            </a:p>
          </p:txBody>
        </p:sp>
        <p:sp>
          <p:nvSpPr>
            <p:cNvPr id="90" name="TextBox 90"/>
            <p:cNvSpPr txBox="1"/>
            <p:nvPr/>
          </p:nvSpPr>
          <p:spPr>
            <a:xfrm>
              <a:off x="1412558" y="4338638"/>
              <a:ext cx="413385"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发展内容</a:t>
              </a:r>
            </a:p>
          </p:txBody>
        </p:sp>
        <p:sp>
          <p:nvSpPr>
            <p:cNvPr id="91" name="TextBox 91"/>
            <p:cNvSpPr txBox="1"/>
            <p:nvPr/>
          </p:nvSpPr>
          <p:spPr>
            <a:xfrm>
              <a:off x="1153668" y="4654868"/>
              <a:ext cx="740664" cy="264033"/>
            </a:xfrm>
            <a:prstGeom prst="rect">
              <a:avLst/>
            </a:prstGeom>
            <a:noFill/>
            <a:ln>
              <a:noFill/>
            </a:ln>
          </p:spPr>
          <p:txBody>
            <a:bodyPr wrap="none" lIns="0" tIns="0" rIns="0" bIns="0" anchor="t" anchorCtr="0">
              <a:spAutoFit/>
            </a:bodyPr>
            <a:lstStyle/>
            <a:p>
              <a:pPr algn="ctr"/>
              <a:r>
                <a:rPr lang="zh-CN" sz="1350" b="1" dirty="0">
                  <a:solidFill>
                    <a:srgbClr val="7A3E33"/>
                  </a:solidFill>
                  <a:latin typeface="+mn-lt"/>
                  <a:ea typeface="+mn-ea"/>
                  <a:cs typeface="+mn-cs"/>
                </a:rPr>
                <a:t>线下地推</a:t>
              </a:r>
            </a:p>
          </p:txBody>
        </p:sp>
        <p:sp>
          <p:nvSpPr>
            <p:cNvPr id="92" name="TextBox 92"/>
            <p:cNvSpPr txBox="1"/>
            <p:nvPr/>
          </p:nvSpPr>
          <p:spPr>
            <a:xfrm>
              <a:off x="1113472" y="4933236"/>
              <a:ext cx="82105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5B4B48"/>
                  </a:solidFill>
                  <a:latin typeface="+mn-lt"/>
                  <a:ea typeface="+mn-ea"/>
                  <a:cs typeface="+mn-cs"/>
                </a:rPr>
                <a:t>以开学季返校</a:t>
              </a:r>
              <a:br/>
              <a:r>
                <a:rPr lang="zh-CN" sz="710" dirty="0">
                  <a:solidFill>
                    <a:srgbClr val="5B4B48"/>
                  </a:solidFill>
                  <a:latin typeface="+mn-lt"/>
                  <a:ea typeface="+mn-ea"/>
                  <a:cs typeface="+mn-cs"/>
                </a:rPr>
                <a:t>为契机进行线下地推</a:t>
              </a:r>
            </a:p>
          </p:txBody>
        </p:sp>
      </p:grpSp>
      <p:grpSp>
        <p:nvGrpSpPr>
          <p:cNvPr id="100" name="step-2"/>
          <p:cNvGrpSpPr/>
          <p:nvPr/>
        </p:nvGrpSpPr>
        <p:grpSpPr>
          <a:xfrm>
            <a:off x="2667000" y="4086225"/>
            <a:ext cx="2286000" cy="1247775"/>
            <a:chOff x="2667000" y="4086225"/>
            <a:chExt cx="2286000" cy="1247775"/>
          </a:xfrm>
        </p:grpSpPr>
        <p:sp>
          <p:nvSpPr>
            <p:cNvPr id="94" name="Rectangle 94"/>
            <p:cNvSpPr/>
            <p:nvPr/>
          </p:nvSpPr>
          <p:spPr>
            <a:xfrm>
              <a:off x="2667000" y="4333875"/>
              <a:ext cx="2286000" cy="1000125"/>
            </a:xfrm>
            <a:prstGeom prst="rect">
              <a:avLst/>
            </a:prstGeom>
            <a:solidFill>
              <a:srgbClr val="CD9F96"/>
            </a:solidFill>
            <a:ln>
              <a:noFill/>
            </a:ln>
          </p:spPr>
        </p:sp>
        <p:sp>
          <p:nvSpPr>
            <p:cNvPr id="95" name="Ellipse 95"/>
            <p:cNvSpPr/>
            <p:nvPr/>
          </p:nvSpPr>
          <p:spPr>
            <a:xfrm>
              <a:off x="2705100" y="4086225"/>
              <a:ext cx="304800" cy="304800"/>
            </a:xfrm>
            <a:prstGeom prst="ellipse">
              <a:avLst/>
            </a:prstGeom>
            <a:solidFill>
              <a:srgbClr val="B5766A"/>
            </a:solidFill>
            <a:ln>
              <a:noFill/>
            </a:ln>
          </p:spPr>
        </p:sp>
        <p:sp>
          <p:nvSpPr>
            <p:cNvPr id="96" name="TextBox 96"/>
            <p:cNvSpPr txBox="1"/>
            <p:nvPr/>
          </p:nvSpPr>
          <p:spPr>
            <a:xfrm>
              <a:off x="2814453" y="4180999"/>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2</a:t>
              </a:r>
            </a:p>
          </p:txBody>
        </p:sp>
        <p:sp>
          <p:nvSpPr>
            <p:cNvPr id="97" name="TextBox 97"/>
            <p:cNvSpPr txBox="1"/>
            <p:nvPr/>
          </p:nvSpPr>
          <p:spPr>
            <a:xfrm>
              <a:off x="3698558" y="4195762"/>
              <a:ext cx="413385"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发展渠道</a:t>
              </a:r>
            </a:p>
          </p:txBody>
        </p:sp>
        <p:sp>
          <p:nvSpPr>
            <p:cNvPr id="98" name="TextBox 98"/>
            <p:cNvSpPr txBox="1"/>
            <p:nvPr/>
          </p:nvSpPr>
          <p:spPr>
            <a:xfrm>
              <a:off x="3257931" y="4521518"/>
              <a:ext cx="1104138" cy="264033"/>
            </a:xfrm>
            <a:prstGeom prst="rect">
              <a:avLst/>
            </a:prstGeom>
            <a:noFill/>
            <a:ln>
              <a:noFill/>
            </a:ln>
          </p:spPr>
          <p:txBody>
            <a:bodyPr wrap="none" lIns="0" tIns="0" rIns="0" bIns="0" anchor="t" anchorCtr="0">
              <a:spAutoFit/>
            </a:bodyPr>
            <a:lstStyle/>
            <a:p>
              <a:pPr algn="ctr"/>
              <a:r>
                <a:rPr lang="zh-CN" sz="1350" b="1" dirty="0">
                  <a:solidFill>
                    <a:srgbClr val="7A3E33"/>
                  </a:solidFill>
                  <a:latin typeface="+mn-lt"/>
                  <a:ea typeface="+mn-ea"/>
                  <a:cs typeface="+mn-cs"/>
                </a:rPr>
                <a:t>线上活动策划</a:t>
              </a:r>
            </a:p>
          </p:txBody>
        </p:sp>
        <p:sp>
          <p:nvSpPr>
            <p:cNvPr id="99" name="TextBox 99"/>
            <p:cNvSpPr txBox="1"/>
            <p:nvPr/>
          </p:nvSpPr>
          <p:spPr>
            <a:xfrm>
              <a:off x="3489642" y="4818936"/>
              <a:ext cx="64071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5B4B48"/>
                  </a:solidFill>
                  <a:latin typeface="+mn-lt"/>
                  <a:ea typeface="+mn-ea"/>
                  <a:cs typeface="+mn-cs"/>
                </a:rPr>
                <a:t>结合青春研习社</a:t>
              </a:r>
              <a:br/>
              <a:r>
                <a:rPr lang="zh-CN" sz="710" dirty="0">
                  <a:solidFill>
                    <a:srgbClr val="5B4B48"/>
                  </a:solidFill>
                  <a:latin typeface="+mn-lt"/>
                  <a:ea typeface="+mn-ea"/>
                  <a:cs typeface="+mn-cs"/>
                </a:rPr>
                <a:t>的各类活动进行</a:t>
              </a:r>
            </a:p>
          </p:txBody>
        </p:sp>
      </p:grpSp>
      <p:grpSp>
        <p:nvGrpSpPr>
          <p:cNvPr id="108" name="step-3"/>
          <p:cNvGrpSpPr/>
          <p:nvPr/>
        </p:nvGrpSpPr>
        <p:grpSpPr>
          <a:xfrm>
            <a:off x="4953000" y="3848100"/>
            <a:ext cx="2286000" cy="1485900"/>
            <a:chOff x="4953000" y="3848100"/>
            <a:chExt cx="2286000" cy="1485900"/>
          </a:xfrm>
        </p:grpSpPr>
        <p:sp>
          <p:nvSpPr>
            <p:cNvPr id="101" name="Polygon 101"/>
            <p:cNvSpPr/>
            <p:nvPr/>
          </p:nvSpPr>
          <p:spPr>
            <a:xfrm>
              <a:off x="5619750" y="3848100"/>
              <a:ext cx="952500" cy="342900"/>
            </a:xfrm>
            <a:custGeom>
              <a:avLst/>
              <a:gdLst/>
              <a:ahLst/>
              <a:cxnLst/>
              <a:rect l="l" t="t" r="r" b="b"/>
              <a:pathLst>
                <a:path w="952500" h="342900">
                  <a:moveTo>
                    <a:pt x="209550" y="0"/>
                  </a:moveTo>
                  <a:lnTo>
                    <a:pt x="742950" y="0"/>
                  </a:lnTo>
                  <a:lnTo>
                    <a:pt x="952500" y="342900"/>
                  </a:lnTo>
                  <a:lnTo>
                    <a:pt x="0" y="342900"/>
                  </a:lnTo>
                  <a:close/>
                </a:path>
              </a:pathLst>
            </a:custGeom>
            <a:solidFill>
              <a:srgbClr val="9C594C"/>
            </a:solidFill>
            <a:ln>
              <a:noFill/>
            </a:ln>
          </p:spPr>
        </p:sp>
        <p:sp>
          <p:nvSpPr>
            <p:cNvPr id="102" name="Rectangle 102"/>
            <p:cNvSpPr/>
            <p:nvPr/>
          </p:nvSpPr>
          <p:spPr>
            <a:xfrm>
              <a:off x="4953000" y="4191000"/>
              <a:ext cx="2286000" cy="1143000"/>
            </a:xfrm>
            <a:prstGeom prst="rect">
              <a:avLst/>
            </a:prstGeom>
            <a:solidFill>
              <a:srgbClr val="9C594C"/>
            </a:solidFill>
            <a:ln>
              <a:noFill/>
            </a:ln>
          </p:spPr>
        </p:sp>
        <p:sp>
          <p:nvSpPr>
            <p:cNvPr id="103" name="Ellipse 103"/>
            <p:cNvSpPr/>
            <p:nvPr/>
          </p:nvSpPr>
          <p:spPr>
            <a:xfrm>
              <a:off x="4991100" y="3943350"/>
              <a:ext cx="304800" cy="304800"/>
            </a:xfrm>
            <a:prstGeom prst="ellipse">
              <a:avLst/>
            </a:prstGeom>
            <a:solidFill>
              <a:srgbClr val="7A3E33"/>
            </a:solidFill>
            <a:ln>
              <a:noFill/>
            </a:ln>
          </p:spPr>
        </p:sp>
        <p:sp>
          <p:nvSpPr>
            <p:cNvPr id="104" name="TextBox 104"/>
            <p:cNvSpPr txBox="1"/>
            <p:nvPr/>
          </p:nvSpPr>
          <p:spPr>
            <a:xfrm>
              <a:off x="5100453" y="403812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a:t>
              </a:r>
            </a:p>
          </p:txBody>
        </p:sp>
        <p:sp>
          <p:nvSpPr>
            <p:cNvPr id="105" name="TextBox 105"/>
            <p:cNvSpPr txBox="1"/>
            <p:nvPr/>
          </p:nvSpPr>
          <p:spPr>
            <a:xfrm>
              <a:off x="5984558" y="405288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发展方向</a:t>
              </a:r>
            </a:p>
          </p:txBody>
        </p:sp>
        <p:sp>
          <p:nvSpPr>
            <p:cNvPr id="106" name="TextBox 106"/>
            <p:cNvSpPr txBox="1"/>
            <p:nvPr/>
          </p:nvSpPr>
          <p:spPr>
            <a:xfrm>
              <a:off x="5684520" y="4391025"/>
              <a:ext cx="82296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教育平台</a:t>
              </a:r>
            </a:p>
          </p:txBody>
        </p:sp>
        <p:sp>
          <p:nvSpPr>
            <p:cNvPr id="107" name="TextBox 107"/>
            <p:cNvSpPr txBox="1"/>
            <p:nvPr/>
          </p:nvSpPr>
          <p:spPr>
            <a:xfrm>
              <a:off x="5595302" y="4723686"/>
              <a:ext cx="100139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EAF4E2"/>
                  </a:solidFill>
                  <a:latin typeface="+mn-lt"/>
                  <a:ea typeface="+mn-ea"/>
                  <a:cs typeface="+mn-cs"/>
                </a:rPr>
                <a:t>慕课与高校教研室+优秀</a:t>
              </a:r>
              <a:br/>
              <a:r>
                <a:rPr lang="zh-CN" sz="710" dirty="0">
                  <a:solidFill>
                    <a:srgbClr val="EAF4E2"/>
                  </a:solidFill>
                  <a:latin typeface="+mn-lt"/>
                  <a:ea typeface="+mn-ea"/>
                  <a:cs typeface="+mn-cs"/>
                </a:rPr>
                <a:t>同学进行深度合作与学校</a:t>
              </a:r>
            </a:p>
          </p:txBody>
        </p:sp>
      </p:grpSp>
      <p:grpSp>
        <p:nvGrpSpPr>
          <p:cNvPr id="115" name="step-4"/>
          <p:cNvGrpSpPr/>
          <p:nvPr/>
        </p:nvGrpSpPr>
        <p:grpSpPr>
          <a:xfrm>
            <a:off x="7239000" y="4086225"/>
            <a:ext cx="2286000" cy="1247775"/>
            <a:chOff x="7239000" y="4086225"/>
            <a:chExt cx="2286000" cy="1247775"/>
          </a:xfrm>
        </p:grpSpPr>
        <p:sp>
          <p:nvSpPr>
            <p:cNvPr id="109" name="Rectangle 109"/>
            <p:cNvSpPr/>
            <p:nvPr/>
          </p:nvSpPr>
          <p:spPr>
            <a:xfrm>
              <a:off x="7239000" y="4333875"/>
              <a:ext cx="2286000" cy="1000125"/>
            </a:xfrm>
            <a:prstGeom prst="rect">
              <a:avLst/>
            </a:prstGeom>
            <a:solidFill>
              <a:srgbClr val="CD9F96"/>
            </a:solidFill>
            <a:ln>
              <a:noFill/>
            </a:ln>
          </p:spPr>
        </p:sp>
        <p:sp>
          <p:nvSpPr>
            <p:cNvPr id="110" name="Ellipse 110"/>
            <p:cNvSpPr/>
            <p:nvPr/>
          </p:nvSpPr>
          <p:spPr>
            <a:xfrm>
              <a:off x="7277100" y="4086225"/>
              <a:ext cx="304800" cy="304800"/>
            </a:xfrm>
            <a:prstGeom prst="ellipse">
              <a:avLst/>
            </a:prstGeom>
            <a:solidFill>
              <a:srgbClr val="B5766A"/>
            </a:solidFill>
            <a:ln>
              <a:noFill/>
            </a:ln>
          </p:spPr>
        </p:sp>
        <p:sp>
          <p:nvSpPr>
            <p:cNvPr id="111" name="TextBox 111"/>
            <p:cNvSpPr txBox="1"/>
            <p:nvPr/>
          </p:nvSpPr>
          <p:spPr>
            <a:xfrm>
              <a:off x="7386453" y="4180999"/>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4</a:t>
              </a:r>
            </a:p>
          </p:txBody>
        </p:sp>
        <p:sp>
          <p:nvSpPr>
            <p:cNvPr id="112" name="TextBox 112"/>
            <p:cNvSpPr txBox="1"/>
            <p:nvPr/>
          </p:nvSpPr>
          <p:spPr>
            <a:xfrm>
              <a:off x="8270558" y="4195762"/>
              <a:ext cx="413385"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发展渠道</a:t>
              </a:r>
            </a:p>
          </p:txBody>
        </p:sp>
        <p:sp>
          <p:nvSpPr>
            <p:cNvPr id="113" name="TextBox 113"/>
            <p:cNvSpPr txBox="1"/>
            <p:nvPr/>
          </p:nvSpPr>
          <p:spPr>
            <a:xfrm>
              <a:off x="8011668" y="4521518"/>
              <a:ext cx="740664" cy="264033"/>
            </a:xfrm>
            <a:prstGeom prst="rect">
              <a:avLst/>
            </a:prstGeom>
            <a:noFill/>
            <a:ln>
              <a:noFill/>
            </a:ln>
          </p:spPr>
          <p:txBody>
            <a:bodyPr wrap="none" lIns="0" tIns="0" rIns="0" bIns="0" anchor="t" anchorCtr="0">
              <a:spAutoFit/>
            </a:bodyPr>
            <a:lstStyle/>
            <a:p>
              <a:pPr algn="ctr"/>
              <a:r>
                <a:rPr lang="zh-CN" sz="1350" b="1" dirty="0">
                  <a:solidFill>
                    <a:srgbClr val="7A3E33"/>
                  </a:solidFill>
                  <a:latin typeface="+mn-lt"/>
                  <a:ea typeface="+mn-ea"/>
                  <a:cs typeface="+mn-cs"/>
                </a:rPr>
                <a:t>电商裂变</a:t>
              </a:r>
            </a:p>
          </p:txBody>
        </p:sp>
        <p:sp>
          <p:nvSpPr>
            <p:cNvPr id="114" name="TextBox 114"/>
            <p:cNvSpPr txBox="1"/>
            <p:nvPr/>
          </p:nvSpPr>
          <p:spPr>
            <a:xfrm>
              <a:off x="7901591" y="4818936"/>
              <a:ext cx="960818"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5B4B48"/>
                  </a:solidFill>
                  <a:latin typeface="+mn-lt"/>
                  <a:ea typeface="+mn-ea"/>
                  <a:cs typeface="+mn-cs"/>
                </a:rPr>
                <a:t>电商进行拼团式裂变</a:t>
              </a:r>
              <a:br/>
              <a:r>
                <a:rPr lang="zh-CN" sz="710" dirty="0">
                  <a:solidFill>
                    <a:srgbClr val="5B4B48"/>
                  </a:solidFill>
                  <a:latin typeface="+mn-lt"/>
                  <a:ea typeface="+mn-ea"/>
                  <a:cs typeface="+mn-cs"/>
                </a:rPr>
                <a:t>+常规爆品推荐捆绑组合</a:t>
              </a:r>
            </a:p>
          </p:txBody>
        </p:sp>
      </p:grpSp>
      <p:grpSp>
        <p:nvGrpSpPr>
          <p:cNvPr id="122" name="step-5"/>
          <p:cNvGrpSpPr/>
          <p:nvPr/>
        </p:nvGrpSpPr>
        <p:grpSpPr>
          <a:xfrm>
            <a:off x="9525000" y="4229100"/>
            <a:ext cx="2286000" cy="1104900"/>
            <a:chOff x="9525000" y="4229100"/>
            <a:chExt cx="2286000" cy="1104900"/>
          </a:xfrm>
        </p:grpSpPr>
        <p:sp>
          <p:nvSpPr>
            <p:cNvPr id="116" name="Rectangle 116"/>
            <p:cNvSpPr/>
            <p:nvPr/>
          </p:nvSpPr>
          <p:spPr>
            <a:xfrm>
              <a:off x="9525000" y="4476750"/>
              <a:ext cx="2286000" cy="857250"/>
            </a:xfrm>
            <a:prstGeom prst="rect">
              <a:avLst/>
            </a:prstGeom>
            <a:solidFill>
              <a:srgbClr val="C8E0B8"/>
            </a:solidFill>
            <a:ln>
              <a:noFill/>
            </a:ln>
          </p:spPr>
        </p:sp>
        <p:sp>
          <p:nvSpPr>
            <p:cNvPr id="117" name="Ellipse 117"/>
            <p:cNvSpPr/>
            <p:nvPr/>
          </p:nvSpPr>
          <p:spPr>
            <a:xfrm>
              <a:off x="9563100" y="4229100"/>
              <a:ext cx="304800" cy="304800"/>
            </a:xfrm>
            <a:prstGeom prst="ellipse">
              <a:avLst/>
            </a:prstGeom>
            <a:solidFill>
              <a:srgbClr val="CD9F96"/>
            </a:solidFill>
            <a:ln>
              <a:noFill/>
            </a:ln>
          </p:spPr>
        </p:sp>
        <p:sp>
          <p:nvSpPr>
            <p:cNvPr id="118" name="TextBox 118"/>
            <p:cNvSpPr txBox="1"/>
            <p:nvPr/>
          </p:nvSpPr>
          <p:spPr>
            <a:xfrm>
              <a:off x="9672453" y="432387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5</a:t>
              </a:r>
            </a:p>
          </p:txBody>
        </p:sp>
        <p:sp>
          <p:nvSpPr>
            <p:cNvPr id="119" name="TextBox 119"/>
            <p:cNvSpPr txBox="1"/>
            <p:nvPr/>
          </p:nvSpPr>
          <p:spPr>
            <a:xfrm>
              <a:off x="10556558" y="4338638"/>
              <a:ext cx="413385"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发展内容</a:t>
              </a:r>
            </a:p>
          </p:txBody>
        </p:sp>
        <p:sp>
          <p:nvSpPr>
            <p:cNvPr id="120" name="TextBox 120"/>
            <p:cNvSpPr txBox="1"/>
            <p:nvPr/>
          </p:nvSpPr>
          <p:spPr>
            <a:xfrm>
              <a:off x="10297668" y="4654868"/>
              <a:ext cx="740664" cy="264033"/>
            </a:xfrm>
            <a:prstGeom prst="rect">
              <a:avLst/>
            </a:prstGeom>
            <a:noFill/>
            <a:ln>
              <a:noFill/>
            </a:ln>
          </p:spPr>
          <p:txBody>
            <a:bodyPr wrap="none" lIns="0" tIns="0" rIns="0" bIns="0" anchor="t" anchorCtr="0">
              <a:spAutoFit/>
            </a:bodyPr>
            <a:lstStyle/>
            <a:p>
              <a:pPr algn="ctr"/>
              <a:r>
                <a:rPr lang="zh-CN" sz="1350" b="1" dirty="0">
                  <a:solidFill>
                    <a:srgbClr val="7A3E33"/>
                  </a:solidFill>
                  <a:latin typeface="+mn-lt"/>
                  <a:ea typeface="+mn-ea"/>
                  <a:cs typeface="+mn-cs"/>
                </a:rPr>
                <a:t>线上社交</a:t>
              </a:r>
            </a:p>
          </p:txBody>
        </p:sp>
        <p:sp>
          <p:nvSpPr>
            <p:cNvPr id="121" name="TextBox 121"/>
            <p:cNvSpPr txBox="1"/>
            <p:nvPr/>
          </p:nvSpPr>
          <p:spPr>
            <a:xfrm>
              <a:off x="10232676" y="4933236"/>
              <a:ext cx="870648"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5B4B48"/>
                  </a:solidFill>
                  <a:latin typeface="+mn-lt"/>
                  <a:ea typeface="+mn-ea"/>
                  <a:cs typeface="+mn-cs"/>
                </a:rPr>
                <a:t>社交以青春研习</a:t>
              </a:r>
              <a:br/>
              <a:r>
                <a:rPr lang="zh-CN" sz="710" dirty="0">
                  <a:solidFill>
                    <a:srgbClr val="5B4B48"/>
                  </a:solidFill>
                  <a:latin typeface="+mn-lt"/>
                  <a:ea typeface="+mn-ea"/>
                  <a:cs typeface="+mn-cs"/>
                </a:rPr>
                <a:t>社线下分社+兴趣小组</a:t>
              </a:r>
            </a:p>
          </p:txBody>
        </p:sp>
      </p:grpSp>
      <p:grpSp>
        <p:nvGrpSpPr>
          <p:cNvPr id="125" name="page-footer"/>
          <p:cNvGrpSpPr/>
          <p:nvPr/>
        </p:nvGrpSpPr>
        <p:grpSpPr>
          <a:xfrm>
            <a:off x="376238" y="6689884"/>
            <a:ext cx="11439524" cy="133350"/>
            <a:chOff x="376238" y="6689884"/>
            <a:chExt cx="11439524" cy="133350"/>
          </a:xfrm>
        </p:grpSpPr>
        <p:sp>
          <p:nvSpPr>
            <p:cNvPr id="123" name="TextBox 123"/>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24" name="TextBox 124"/>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22</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base-plate"/>
          <p:cNvSpPr/>
          <p:nvPr/>
        </p:nvSpPr>
        <p:spPr>
          <a:xfrm>
            <a:off x="2857500" y="5334000"/>
            <a:ext cx="6477000" cy="419100"/>
          </a:xfrm>
          <a:prstGeom prst="ellipse">
            <a:avLst/>
          </a:prstGeom>
          <a:solidFill>
            <a:srgbClr val="DFF0D2"/>
          </a:solidFill>
          <a:ln>
            <a:noFill/>
          </a:ln>
        </p:spPr>
      </p:sp>
      <p:grpSp>
        <p:nvGrpSpPr>
          <p:cNvPr id="12" name="title-block"/>
          <p:cNvGrpSpPr/>
          <p:nvPr/>
        </p:nvGrpSpPr>
        <p:grpSpPr>
          <a:xfrm>
            <a:off x="4000500" y="940118"/>
            <a:ext cx="4191000" cy="482202"/>
            <a:chOff x="4000500" y="940118"/>
            <a:chExt cx="4191000" cy="482202"/>
          </a:xfrm>
        </p:grpSpPr>
        <p:sp>
          <p:nvSpPr>
            <p:cNvPr id="9" name="TextBox 9"/>
            <p:cNvSpPr txBox="1"/>
            <p:nvPr/>
          </p:nvSpPr>
          <p:spPr>
            <a:xfrm>
              <a:off x="5543931" y="940118"/>
              <a:ext cx="1104138" cy="264033"/>
            </a:xfrm>
            <a:prstGeom prst="rect">
              <a:avLst/>
            </a:prstGeom>
            <a:noFill/>
            <a:ln>
              <a:noFill/>
            </a:ln>
          </p:spPr>
          <p:txBody>
            <a:bodyPr wrap="none" lIns="0" tIns="0" rIns="0" bIns="0" anchor="t" anchorCtr="0">
              <a:spAutoFit/>
            </a:bodyPr>
            <a:lstStyle/>
            <a:p>
              <a:pPr algn="ctr"/>
              <a:r>
                <a:rPr lang="zh-CN" sz="1350" b="1" dirty="0">
                  <a:solidFill>
                    <a:srgbClr val="7A3E33"/>
                  </a:solidFill>
                  <a:latin typeface="+mn-lt"/>
                  <a:ea typeface="+mn-ea"/>
                  <a:cs typeface="+mn-cs"/>
                </a:rPr>
                <a:t>基建核心内涵</a:t>
              </a:r>
            </a:p>
          </p:txBody>
        </p:sp>
        <p:sp>
          <p:nvSpPr>
            <p:cNvPr id="10" name="Rectangle 10"/>
            <p:cNvSpPr/>
            <p:nvPr/>
          </p:nvSpPr>
          <p:spPr>
            <a:xfrm>
              <a:off x="4000500" y="1152525"/>
              <a:ext cx="4191000" cy="28575"/>
            </a:xfrm>
            <a:prstGeom prst="rect">
              <a:avLst/>
            </a:prstGeom>
            <a:solidFill>
              <a:srgbClr val="9C594C"/>
            </a:solidFill>
            <a:ln>
              <a:noFill/>
            </a:ln>
          </p:spPr>
        </p:sp>
        <p:sp>
          <p:nvSpPr>
            <p:cNvPr id="11" name="TextBox 11"/>
            <p:cNvSpPr txBox="1"/>
            <p:nvPr/>
          </p:nvSpPr>
          <p:spPr>
            <a:xfrm>
              <a:off x="4815040" y="1267539"/>
              <a:ext cx="2561920" cy="154781"/>
            </a:xfrm>
            <a:prstGeom prst="rect">
              <a:avLst/>
            </a:prstGeom>
            <a:noFill/>
            <a:ln>
              <a:noFill/>
            </a:ln>
          </p:spPr>
          <p:txBody>
            <a:bodyPr wrap="none" lIns="0" tIns="0" rIns="0" bIns="0" anchor="t" anchorCtr="0">
              <a:spAutoFit/>
            </a:bodyPr>
            <a:lstStyle/>
            <a:p>
              <a:pPr algn="ctr"/>
              <a:r>
                <a:rPr lang="zh-CN" sz="790" dirty="0">
                  <a:solidFill>
                    <a:srgbClr val="595959"/>
                  </a:solidFill>
                  <a:latin typeface="+mn-lt"/>
                  <a:ea typeface="+mn-ea"/>
                  <a:cs typeface="+mn-cs"/>
                </a:rPr>
                <a:t>数字现实、认知技术和区块链将成为企业变革的颠覆性</a:t>
              </a:r>
            </a:p>
          </p:txBody>
        </p:sp>
      </p:grpSp>
      <p:grpSp>
        <p:nvGrpSpPr>
          <p:cNvPr id="20" name="note-left"/>
          <p:cNvGrpSpPr/>
          <p:nvPr/>
        </p:nvGrpSpPr>
        <p:grpSpPr>
          <a:xfrm>
            <a:off x="381000" y="914400"/>
            <a:ext cx="1809750" cy="701755"/>
            <a:chOff x="381000" y="914400"/>
            <a:chExt cx="1809750" cy="701755"/>
          </a:xfrm>
        </p:grpSpPr>
        <p:sp>
          <p:nvSpPr>
            <p:cNvPr id="13" name="Rectangle 13"/>
            <p:cNvSpPr/>
            <p:nvPr/>
          </p:nvSpPr>
          <p:spPr>
            <a:xfrm>
              <a:off x="381000" y="914400"/>
              <a:ext cx="1809750" cy="666750"/>
            </a:xfrm>
            <a:prstGeom prst="rect">
              <a:avLst/>
            </a:prstGeom>
            <a:solidFill>
              <a:srgbClr val="FFFFFF"/>
            </a:solidFill>
            <a:ln w="9525">
              <a:solidFill>
                <a:srgbClr val="C9D8BD"/>
              </a:solidFill>
            </a:ln>
          </p:spPr>
        </p:sp>
        <p:sp>
          <p:nvSpPr>
            <p:cNvPr id="14" name="TextBox 14"/>
            <p:cNvSpPr txBox="1"/>
            <p:nvPr/>
          </p:nvSpPr>
          <p:spPr>
            <a:xfrm>
              <a:off x="471488" y="1017270"/>
              <a:ext cx="494157" cy="176212"/>
            </a:xfrm>
            <a:prstGeom prst="rect">
              <a:avLst/>
            </a:prstGeom>
            <a:noFill/>
            <a:ln>
              <a:noFill/>
            </a:ln>
          </p:spPr>
          <p:txBody>
            <a:bodyPr wrap="none" lIns="0" tIns="0" rIns="0" bIns="0" anchor="t" anchorCtr="0">
              <a:spAutoFit/>
            </a:bodyPr>
            <a:lstStyle/>
            <a:p>
              <a:pPr algn="l"/>
              <a:r>
                <a:rPr lang="zh-CN" sz="900" b="1" dirty="0">
                  <a:solidFill>
                    <a:srgbClr val="7A3E33"/>
                  </a:solidFill>
                  <a:latin typeface="+mn-lt"/>
                  <a:ea typeface="+mn-ea"/>
                  <a:cs typeface="+mn-cs"/>
                </a:rPr>
                <a:t>产品创新</a:t>
              </a:r>
            </a:p>
          </p:txBody>
        </p:sp>
        <p:grpSp>
          <p:nvGrpSpPr>
            <p:cNvPr id="17" name="Group 17"/>
            <p:cNvGrpSpPr/>
            <p:nvPr/>
          </p:nvGrpSpPr>
          <p:grpSpPr>
            <a:xfrm>
              <a:off x="1928812" y="1027112"/>
              <a:ext cx="142875" cy="79375"/>
              <a:chOff x="1928812" y="1027112"/>
              <a:chExt cx="142875" cy="79375"/>
            </a:xfrm>
          </p:grpSpPr>
          <p:sp>
            <p:nvSpPr>
              <p:cNvPr id="15" name="Freeform 15"/>
              <p:cNvSpPr/>
              <p:nvPr/>
            </p:nvSpPr>
            <p:spPr>
              <a:xfrm>
                <a:off x="1928812" y="102711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9C594C"/>
                </a:solidFill>
              </a:ln>
            </p:spPr>
          </p:sp>
          <p:sp>
            <p:nvSpPr>
              <p:cNvPr id="16" name="Freeform 16"/>
              <p:cNvSpPr/>
              <p:nvPr/>
            </p:nvSpPr>
            <p:spPr>
              <a:xfrm>
                <a:off x="2016125" y="1027112"/>
                <a:ext cx="55562" cy="55562"/>
              </a:xfrm>
              <a:custGeom>
                <a:avLst/>
                <a:gdLst/>
                <a:ahLst/>
                <a:cxnLst/>
                <a:rect l="l" t="t" r="r" b="b"/>
                <a:pathLst>
                  <a:path w="55562" h="55562">
                    <a:moveTo>
                      <a:pt x="0" y="0"/>
                    </a:moveTo>
                    <a:lnTo>
                      <a:pt x="55562" y="0"/>
                    </a:lnTo>
                    <a:lnTo>
                      <a:pt x="55562" y="55562"/>
                    </a:lnTo>
                  </a:path>
                </a:pathLst>
              </a:custGeom>
              <a:noFill/>
              <a:ln w="15875">
                <a:solidFill>
                  <a:srgbClr val="9C594C"/>
                </a:solidFill>
              </a:ln>
            </p:spPr>
          </p:sp>
        </p:grpSp>
        <p:sp>
          <p:nvSpPr>
            <p:cNvPr id="18" name="TextBox 18"/>
            <p:cNvSpPr txBox="1"/>
            <p:nvPr/>
          </p:nvSpPr>
          <p:spPr>
            <a:xfrm>
              <a:off x="471488" y="1199436"/>
              <a:ext cx="635575" cy="140494"/>
            </a:xfrm>
            <a:prstGeom prst="rect">
              <a:avLst/>
            </a:prstGeom>
            <a:noFill/>
            <a:ln>
              <a:noFill/>
            </a:ln>
          </p:spPr>
          <p:txBody>
            <a:bodyPr wrap="none" lIns="0" tIns="0" rIns="0" bIns="0" anchor="t" anchorCtr="0">
              <a:spAutoFit/>
            </a:bodyPr>
            <a:lstStyle/>
            <a:p>
              <a:pPr algn="l"/>
              <a:r>
                <a:rPr lang="zh-CN" sz="710" dirty="0">
                  <a:solidFill>
                    <a:srgbClr val="D9523B"/>
                  </a:solidFill>
                  <a:latin typeface="+mn-lt"/>
                  <a:ea typeface="+mn-ea"/>
                  <a:cs typeface="+mn-cs"/>
                </a:rPr>
                <a:t>结合先锋程度,</a:t>
              </a:r>
            </a:p>
          </p:txBody>
        </p:sp>
        <p:sp>
          <p:nvSpPr>
            <p:cNvPr id="19" name="TextBox 19"/>
            <p:cNvSpPr txBox="1"/>
            <p:nvPr/>
          </p:nvSpPr>
          <p:spPr>
            <a:xfrm>
              <a:off x="471488" y="1342311"/>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33333"/>
                  </a:solidFill>
                  <a:latin typeface="+mn-lt"/>
                  <a:ea typeface="+mn-ea"/>
                  <a:cs typeface="+mn-cs"/>
                </a:rPr>
                <a:t>进行针对性新品趋势洞</a:t>
              </a:r>
              <a:br/>
              <a:r>
                <a:rPr lang="zh-CN" sz="710" dirty="0">
                  <a:solidFill>
                    <a:srgbClr val="333333"/>
                  </a:solidFill>
                  <a:latin typeface="+mn-lt"/>
                  <a:ea typeface="+mn-ea"/>
                  <a:cs typeface="+mn-cs"/>
                </a:rPr>
                <a:t>察和推广</a:t>
              </a:r>
            </a:p>
          </p:txBody>
        </p:sp>
      </p:grpSp>
      <p:grpSp>
        <p:nvGrpSpPr>
          <p:cNvPr id="28" name="note-right"/>
          <p:cNvGrpSpPr/>
          <p:nvPr/>
        </p:nvGrpSpPr>
        <p:grpSpPr>
          <a:xfrm>
            <a:off x="10001250" y="914400"/>
            <a:ext cx="1809750" cy="701755"/>
            <a:chOff x="10001250" y="914400"/>
            <a:chExt cx="1809750" cy="701755"/>
          </a:xfrm>
        </p:grpSpPr>
        <p:sp>
          <p:nvSpPr>
            <p:cNvPr id="21" name="Rectangle 21"/>
            <p:cNvSpPr/>
            <p:nvPr/>
          </p:nvSpPr>
          <p:spPr>
            <a:xfrm>
              <a:off x="10001250" y="914400"/>
              <a:ext cx="1809750" cy="666750"/>
            </a:xfrm>
            <a:prstGeom prst="rect">
              <a:avLst/>
            </a:prstGeom>
            <a:solidFill>
              <a:srgbClr val="FFFFFF"/>
            </a:solidFill>
            <a:ln w="9525">
              <a:solidFill>
                <a:srgbClr val="E8B5AC"/>
              </a:solidFill>
            </a:ln>
          </p:spPr>
        </p:sp>
        <p:sp>
          <p:nvSpPr>
            <p:cNvPr id="22" name="TextBox 22"/>
            <p:cNvSpPr txBox="1"/>
            <p:nvPr/>
          </p:nvSpPr>
          <p:spPr>
            <a:xfrm>
              <a:off x="10091738" y="1017270"/>
              <a:ext cx="494157" cy="176212"/>
            </a:xfrm>
            <a:prstGeom prst="rect">
              <a:avLst/>
            </a:prstGeom>
            <a:noFill/>
            <a:ln>
              <a:noFill/>
            </a:ln>
          </p:spPr>
          <p:txBody>
            <a:bodyPr wrap="none" lIns="0" tIns="0" rIns="0" bIns="0" anchor="t" anchorCtr="0">
              <a:spAutoFit/>
            </a:bodyPr>
            <a:lstStyle/>
            <a:p>
              <a:pPr algn="l"/>
              <a:r>
                <a:rPr lang="zh-CN" sz="900" b="1" dirty="0">
                  <a:solidFill>
                    <a:srgbClr val="D6391E"/>
                  </a:solidFill>
                  <a:latin typeface="+mn-lt"/>
                  <a:ea typeface="+mn-ea"/>
                  <a:cs typeface="+mn-cs"/>
                </a:rPr>
                <a:t>链接数字</a:t>
              </a:r>
            </a:p>
          </p:txBody>
        </p:sp>
        <p:grpSp>
          <p:nvGrpSpPr>
            <p:cNvPr id="25" name="Group 25"/>
            <p:cNvGrpSpPr/>
            <p:nvPr/>
          </p:nvGrpSpPr>
          <p:grpSpPr>
            <a:xfrm>
              <a:off x="11557000" y="1019175"/>
              <a:ext cx="127000" cy="112712"/>
              <a:chOff x="11557000" y="1019175"/>
              <a:chExt cx="127000" cy="112712"/>
            </a:xfrm>
          </p:grpSpPr>
          <p:sp>
            <p:nvSpPr>
              <p:cNvPr id="23" name="Freeform 23"/>
              <p:cNvSpPr/>
              <p:nvPr/>
            </p:nvSpPr>
            <p:spPr>
              <a:xfrm>
                <a:off x="11557000" y="1122362"/>
                <a:ext cx="127000" cy="9525"/>
              </a:xfrm>
              <a:custGeom>
                <a:avLst/>
                <a:gdLst/>
                <a:ahLst/>
                <a:cxnLst/>
                <a:rect l="l" t="t" r="r" b="b"/>
                <a:pathLst>
                  <a:path w="127000" h="9525">
                    <a:moveTo>
                      <a:pt x="0" y="0"/>
                    </a:moveTo>
                    <a:lnTo>
                      <a:pt x="127000" y="0"/>
                    </a:lnTo>
                  </a:path>
                </a:pathLst>
              </a:custGeom>
              <a:noFill/>
              <a:ln w="15875">
                <a:solidFill>
                  <a:srgbClr val="E9563C"/>
                </a:solidFill>
              </a:ln>
            </p:spPr>
          </p:sp>
          <p:sp>
            <p:nvSpPr>
              <p:cNvPr id="24" name="Freeform 24"/>
              <p:cNvSpPr/>
              <p:nvPr/>
            </p:nvSpPr>
            <p:spPr>
              <a:xfrm>
                <a:off x="11557000" y="101917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E9563C"/>
                </a:solidFill>
              </a:ln>
            </p:spPr>
          </p:sp>
        </p:grpSp>
        <p:sp>
          <p:nvSpPr>
            <p:cNvPr id="26" name="TextBox 26"/>
            <p:cNvSpPr txBox="1"/>
            <p:nvPr/>
          </p:nvSpPr>
          <p:spPr>
            <a:xfrm>
              <a:off x="10091738" y="1199436"/>
              <a:ext cx="496984" cy="140494"/>
            </a:xfrm>
            <a:prstGeom prst="rect">
              <a:avLst/>
            </a:prstGeom>
            <a:noFill/>
            <a:ln>
              <a:noFill/>
            </a:ln>
          </p:spPr>
          <p:txBody>
            <a:bodyPr wrap="none" lIns="0" tIns="0" rIns="0" bIns="0" anchor="t" anchorCtr="0">
              <a:spAutoFit/>
            </a:bodyPr>
            <a:lstStyle/>
            <a:p>
              <a:pPr algn="l"/>
              <a:r>
                <a:rPr lang="zh-CN" sz="710" dirty="0">
                  <a:solidFill>
                    <a:srgbClr val="D9523B"/>
                  </a:solidFill>
                  <a:latin typeface="+mn-lt"/>
                  <a:ea typeface="+mn-ea"/>
                  <a:cs typeface="+mn-cs"/>
                </a:rPr>
                <a:t>“架构觉醒”</a:t>
              </a:r>
            </a:p>
          </p:txBody>
        </p:sp>
        <p:sp>
          <p:nvSpPr>
            <p:cNvPr id="27" name="TextBox 27"/>
            <p:cNvSpPr txBox="1"/>
            <p:nvPr/>
          </p:nvSpPr>
          <p:spPr>
            <a:xfrm>
              <a:off x="10091738" y="1342311"/>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333333"/>
                  </a:solidFill>
                  <a:latin typeface="+mn-lt"/>
                  <a:ea typeface="+mn-ea"/>
                  <a:cs typeface="+mn-cs"/>
                </a:rPr>
                <a:t>技术道德与信任;</a:t>
              </a:r>
              <a:br/>
              <a:r>
                <a:rPr lang="zh-CN" sz="710" dirty="0">
                  <a:solidFill>
                    <a:srgbClr val="333333"/>
                  </a:solidFill>
                  <a:latin typeface="+mn-lt"/>
                  <a:ea typeface="+mn-ea"/>
                  <a:cs typeface="+mn-cs"/>
                </a:rPr>
                <a:t>宏观科技力量的趋势</a:t>
              </a:r>
            </a:p>
          </p:txBody>
        </p:sp>
      </p:grpSp>
      <p:grpSp>
        <p:nvGrpSpPr>
          <p:cNvPr id="38" name="side-left-ticks"/>
          <p:cNvGrpSpPr/>
          <p:nvPr/>
        </p:nvGrpSpPr>
        <p:grpSpPr>
          <a:xfrm>
            <a:off x="542608" y="2095500"/>
            <a:ext cx="648335" cy="2228850"/>
            <a:chOff x="542608" y="2095500"/>
            <a:chExt cx="648335" cy="2228850"/>
          </a:xfrm>
        </p:grpSpPr>
        <p:sp>
          <p:nvSpPr>
            <p:cNvPr id="29" name="Line 29"/>
            <p:cNvSpPr/>
            <p:nvPr/>
          </p:nvSpPr>
          <p:spPr>
            <a:xfrm>
              <a:off x="590550" y="2286000"/>
              <a:ext cx="9525" cy="857250"/>
            </a:xfrm>
            <a:custGeom>
              <a:avLst/>
              <a:gdLst/>
              <a:ahLst/>
              <a:cxnLst/>
              <a:rect l="l" t="t" r="r" b="b"/>
              <a:pathLst>
                <a:path w="9525" h="857250">
                  <a:moveTo>
                    <a:pt x="0" y="0"/>
                  </a:moveTo>
                  <a:lnTo>
                    <a:pt x="0" y="857250"/>
                  </a:lnTo>
                </a:path>
              </a:pathLst>
            </a:custGeom>
            <a:noFill/>
            <a:ln w="19050">
              <a:solidFill>
                <a:srgbClr val="BF857A"/>
              </a:solidFill>
            </a:ln>
          </p:spPr>
        </p:sp>
        <p:sp>
          <p:nvSpPr>
            <p:cNvPr id="30" name="Ellipse 30"/>
            <p:cNvSpPr/>
            <p:nvPr/>
          </p:nvSpPr>
          <p:spPr>
            <a:xfrm>
              <a:off x="552450" y="3105150"/>
              <a:ext cx="76200" cy="76200"/>
            </a:xfrm>
            <a:prstGeom prst="ellipse">
              <a:avLst/>
            </a:prstGeom>
            <a:solidFill>
              <a:srgbClr val="9C594C"/>
            </a:solidFill>
            <a:ln>
              <a:noFill/>
            </a:ln>
          </p:spPr>
        </p:sp>
        <p:sp>
          <p:nvSpPr>
            <p:cNvPr id="31" name="TextBox 31"/>
            <p:cNvSpPr txBox="1"/>
            <p:nvPr/>
          </p:nvSpPr>
          <p:spPr>
            <a:xfrm>
              <a:off x="542608" y="2327434"/>
              <a:ext cx="95885" cy="4762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人</a:t>
              </a:r>
              <a:br/>
              <a:r>
                <a:rPr lang="zh-CN" sz="680" dirty="0">
                  <a:solidFill>
                    <a:srgbClr val="595959"/>
                  </a:solidFill>
                  <a:latin typeface="+mn-lt"/>
                  <a:ea typeface="+mn-ea"/>
                  <a:cs typeface="+mn-cs"/>
                </a:rPr>
                <a:t>工</a:t>
              </a:r>
              <a:br/>
              <a:r>
                <a:rPr lang="zh-CN" sz="680" dirty="0">
                  <a:solidFill>
                    <a:srgbClr val="595959"/>
                  </a:solidFill>
                  <a:latin typeface="+mn-lt"/>
                  <a:ea typeface="+mn-ea"/>
                  <a:cs typeface="+mn-cs"/>
                </a:rPr>
                <a:t>智</a:t>
              </a:r>
              <a:br/>
              <a:r>
                <a:rPr lang="zh-CN" sz="680" dirty="0">
                  <a:solidFill>
                    <a:srgbClr val="595959"/>
                  </a:solidFill>
                  <a:latin typeface="+mn-lt"/>
                  <a:ea typeface="+mn-ea"/>
                  <a:cs typeface="+mn-cs"/>
                </a:rPr>
                <a:t>能</a:t>
              </a:r>
            </a:p>
          </p:txBody>
        </p:sp>
        <p:sp>
          <p:nvSpPr>
            <p:cNvPr id="32" name="Line 32"/>
            <p:cNvSpPr/>
            <p:nvPr/>
          </p:nvSpPr>
          <p:spPr>
            <a:xfrm>
              <a:off x="1143000" y="2095500"/>
              <a:ext cx="9525" cy="857250"/>
            </a:xfrm>
            <a:custGeom>
              <a:avLst/>
              <a:gdLst/>
              <a:ahLst/>
              <a:cxnLst/>
              <a:rect l="l" t="t" r="r" b="b"/>
              <a:pathLst>
                <a:path w="9525" h="857250">
                  <a:moveTo>
                    <a:pt x="0" y="0"/>
                  </a:moveTo>
                  <a:lnTo>
                    <a:pt x="0" y="857250"/>
                  </a:lnTo>
                </a:path>
              </a:pathLst>
            </a:custGeom>
            <a:noFill/>
            <a:ln w="19050">
              <a:solidFill>
                <a:srgbClr val="BF857A"/>
              </a:solidFill>
            </a:ln>
          </p:spPr>
        </p:sp>
        <p:sp>
          <p:nvSpPr>
            <p:cNvPr id="33" name="Ellipse 33"/>
            <p:cNvSpPr/>
            <p:nvPr/>
          </p:nvSpPr>
          <p:spPr>
            <a:xfrm>
              <a:off x="1104900" y="2914650"/>
              <a:ext cx="76200" cy="76200"/>
            </a:xfrm>
            <a:prstGeom prst="ellipse">
              <a:avLst/>
            </a:prstGeom>
            <a:solidFill>
              <a:srgbClr val="9C594C"/>
            </a:solidFill>
            <a:ln>
              <a:noFill/>
            </a:ln>
          </p:spPr>
        </p:sp>
        <p:sp>
          <p:nvSpPr>
            <p:cNvPr id="34" name="TextBox 34"/>
            <p:cNvSpPr txBox="1"/>
            <p:nvPr/>
          </p:nvSpPr>
          <p:spPr>
            <a:xfrm>
              <a:off x="1095058" y="2136934"/>
              <a:ext cx="95885" cy="3619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云</a:t>
              </a:r>
              <a:br/>
              <a:r>
                <a:rPr lang="zh-CN" sz="680" dirty="0">
                  <a:solidFill>
                    <a:srgbClr val="595959"/>
                  </a:solidFill>
                  <a:latin typeface="+mn-lt"/>
                  <a:ea typeface="+mn-ea"/>
                  <a:cs typeface="+mn-cs"/>
                </a:rPr>
                <a:t>计</a:t>
              </a:r>
              <a:br/>
              <a:r>
                <a:rPr lang="zh-CN" sz="680" dirty="0">
                  <a:solidFill>
                    <a:srgbClr val="595959"/>
                  </a:solidFill>
                  <a:latin typeface="+mn-lt"/>
                  <a:ea typeface="+mn-ea"/>
                  <a:cs typeface="+mn-cs"/>
                </a:rPr>
                <a:t>算</a:t>
              </a:r>
            </a:p>
          </p:txBody>
        </p:sp>
        <p:sp>
          <p:nvSpPr>
            <p:cNvPr id="35" name="Line 35"/>
            <p:cNvSpPr/>
            <p:nvPr/>
          </p:nvSpPr>
          <p:spPr>
            <a:xfrm>
              <a:off x="876300" y="3429000"/>
              <a:ext cx="9525" cy="857250"/>
            </a:xfrm>
            <a:custGeom>
              <a:avLst/>
              <a:gdLst/>
              <a:ahLst/>
              <a:cxnLst/>
              <a:rect l="l" t="t" r="r" b="b"/>
              <a:pathLst>
                <a:path w="9525" h="857250">
                  <a:moveTo>
                    <a:pt x="0" y="0"/>
                  </a:moveTo>
                  <a:lnTo>
                    <a:pt x="0" y="857250"/>
                  </a:lnTo>
                </a:path>
              </a:pathLst>
            </a:custGeom>
            <a:noFill/>
            <a:ln w="19050">
              <a:solidFill>
                <a:srgbClr val="BF857A"/>
              </a:solidFill>
            </a:ln>
          </p:spPr>
        </p:sp>
        <p:sp>
          <p:nvSpPr>
            <p:cNvPr id="36" name="Ellipse 36"/>
            <p:cNvSpPr/>
            <p:nvPr/>
          </p:nvSpPr>
          <p:spPr>
            <a:xfrm>
              <a:off x="838200" y="4248150"/>
              <a:ext cx="76200" cy="76200"/>
            </a:xfrm>
            <a:prstGeom prst="ellipse">
              <a:avLst/>
            </a:prstGeom>
            <a:solidFill>
              <a:srgbClr val="9C594C"/>
            </a:solidFill>
            <a:ln>
              <a:noFill/>
            </a:ln>
          </p:spPr>
        </p:sp>
        <p:sp>
          <p:nvSpPr>
            <p:cNvPr id="37" name="TextBox 37"/>
            <p:cNvSpPr txBox="1"/>
            <p:nvPr/>
          </p:nvSpPr>
          <p:spPr>
            <a:xfrm>
              <a:off x="828358" y="3470434"/>
              <a:ext cx="95885" cy="3619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区</a:t>
              </a:r>
              <a:br/>
              <a:r>
                <a:rPr lang="zh-CN" sz="680" dirty="0">
                  <a:solidFill>
                    <a:srgbClr val="595959"/>
                  </a:solidFill>
                  <a:latin typeface="+mn-lt"/>
                  <a:ea typeface="+mn-ea"/>
                  <a:cs typeface="+mn-cs"/>
                </a:rPr>
                <a:t>块</a:t>
              </a:r>
              <a:br/>
              <a:r>
                <a:rPr lang="zh-CN" sz="680" dirty="0">
                  <a:solidFill>
                    <a:srgbClr val="595959"/>
                  </a:solidFill>
                  <a:latin typeface="+mn-lt"/>
                  <a:ea typeface="+mn-ea"/>
                  <a:cs typeface="+mn-cs"/>
                </a:rPr>
                <a:t>链</a:t>
              </a:r>
            </a:p>
          </p:txBody>
        </p:sp>
      </p:grpSp>
      <p:grpSp>
        <p:nvGrpSpPr>
          <p:cNvPr id="76" name="ring-left"/>
          <p:cNvGrpSpPr/>
          <p:nvPr/>
        </p:nvGrpSpPr>
        <p:grpSpPr>
          <a:xfrm>
            <a:off x="2066925" y="1638300"/>
            <a:ext cx="3486150" cy="3724275"/>
            <a:chOff x="2066925" y="1638300"/>
            <a:chExt cx="3486150" cy="3724275"/>
          </a:xfrm>
        </p:grpSpPr>
        <p:sp>
          <p:nvSpPr>
            <p:cNvPr id="39" name="Ellipse 39"/>
            <p:cNvSpPr/>
            <p:nvPr/>
          </p:nvSpPr>
          <p:spPr>
            <a:xfrm>
              <a:off x="2590800" y="2066925"/>
              <a:ext cx="2438400" cy="2438400"/>
            </a:xfrm>
            <a:prstGeom prst="ellipse">
              <a:avLst/>
            </a:prstGeom>
            <a:solidFill>
              <a:srgbClr val="F4F8EF"/>
            </a:solidFill>
            <a:ln w="28575">
              <a:solidFill>
                <a:srgbClr val="DFF0D2"/>
              </a:solidFill>
            </a:ln>
          </p:spPr>
        </p:sp>
        <p:sp>
          <p:nvSpPr>
            <p:cNvPr id="40" name="Freeform 40"/>
            <p:cNvSpPr/>
            <p:nvPr/>
          </p:nvSpPr>
          <p:spPr>
            <a:xfrm>
              <a:off x="2647950" y="1920937"/>
              <a:ext cx="2324100" cy="679388"/>
            </a:xfrm>
            <a:custGeom>
              <a:avLst/>
              <a:gdLst/>
              <a:ahLst/>
              <a:cxnLst/>
              <a:rect l="l" t="t" r="r" b="b"/>
              <a:pathLst>
                <a:path w="2324100" h="679388">
                  <a:moveTo>
                    <a:pt x="0" y="679388"/>
                  </a:moveTo>
                  <a:cubicBezTo>
                    <a:pt x="236243" y="259695"/>
                    <a:pt x="680435" y="0"/>
                    <a:pt x="1162050" y="0"/>
                  </a:cubicBezTo>
                  <a:cubicBezTo>
                    <a:pt x="1643665" y="0"/>
                    <a:pt x="2087857" y="259695"/>
                    <a:pt x="2324100" y="679388"/>
                  </a:cubicBezTo>
                </a:path>
              </a:pathLst>
            </a:custGeom>
            <a:noFill/>
            <a:ln w="19050">
              <a:solidFill>
                <a:srgbClr val="9C594C"/>
              </a:solidFill>
              <a:tailEnd type="triangle" w="lg" len="lg"/>
            </a:ln>
          </p:spPr>
        </p:sp>
        <p:sp>
          <p:nvSpPr>
            <p:cNvPr id="41" name="Freeform 41"/>
            <p:cNvSpPr/>
            <p:nvPr/>
          </p:nvSpPr>
          <p:spPr>
            <a:xfrm>
              <a:off x="2781300" y="4143375"/>
              <a:ext cx="2057400" cy="484973"/>
            </a:xfrm>
            <a:custGeom>
              <a:avLst/>
              <a:gdLst/>
              <a:ahLst/>
              <a:cxnLst/>
              <a:rect l="l" t="t" r="r" b="b"/>
              <a:pathLst>
                <a:path w="2057400" h="484973">
                  <a:moveTo>
                    <a:pt x="2057400" y="0"/>
                  </a:moveTo>
                  <a:cubicBezTo>
                    <a:pt x="1804082" y="307106"/>
                    <a:pt x="1426801" y="484973"/>
                    <a:pt x="1028700" y="484973"/>
                  </a:cubicBezTo>
                  <a:cubicBezTo>
                    <a:pt x="630599" y="484973"/>
                    <a:pt x="253318" y="307106"/>
                    <a:pt x="0" y="0"/>
                  </a:cubicBezTo>
                </a:path>
              </a:pathLst>
            </a:custGeom>
            <a:noFill/>
            <a:ln w="14288">
              <a:solidFill>
                <a:srgbClr val="9C594C"/>
              </a:solidFill>
              <a:custDash>
                <a:ds d="333333" sp="266667"/>
              </a:custDash>
              <a:tailEnd type="triangle" w="lg" len="lg"/>
            </a:ln>
          </p:spPr>
        </p:sp>
        <p:sp>
          <p:nvSpPr>
            <p:cNvPr id="42" name="Ellipse 42"/>
            <p:cNvSpPr/>
            <p:nvPr/>
          </p:nvSpPr>
          <p:spPr>
            <a:xfrm>
              <a:off x="3676650" y="2752725"/>
              <a:ext cx="266700" cy="266700"/>
            </a:xfrm>
            <a:prstGeom prst="ellipse">
              <a:avLst/>
            </a:prstGeom>
            <a:solidFill>
              <a:srgbClr val="FFFFFF"/>
            </a:solidFill>
            <a:ln w="14288">
              <a:solidFill>
                <a:srgbClr val="9C594C"/>
              </a:solidFill>
            </a:ln>
          </p:spPr>
        </p:sp>
        <p:sp>
          <p:nvSpPr>
            <p:cNvPr id="43" name="TextBox 43"/>
            <p:cNvSpPr txBox="1"/>
            <p:nvPr/>
          </p:nvSpPr>
          <p:spPr>
            <a:xfrm>
              <a:off x="3787851" y="2844641"/>
              <a:ext cx="44297" cy="161925"/>
            </a:xfrm>
            <a:prstGeom prst="rect">
              <a:avLst/>
            </a:prstGeom>
            <a:noFill/>
            <a:ln>
              <a:noFill/>
            </a:ln>
          </p:spPr>
          <p:txBody>
            <a:bodyPr wrap="none" lIns="0" tIns="0" rIns="0" bIns="0" anchor="t" anchorCtr="0">
              <a:spAutoFit/>
            </a:bodyPr>
            <a:lstStyle/>
            <a:p>
              <a:pPr algn="ctr"/>
              <a:r>
                <a:rPr lang="en-US" sz="820" b="1" dirty="0">
                  <a:solidFill>
                    <a:srgbClr val="7A3E33"/>
                  </a:solidFill>
                  <a:latin typeface="+mn-lt"/>
                  <a:ea typeface="+mn-ea"/>
                  <a:cs typeface="+mn-cs"/>
                </a:rPr>
                <a:t>i</a:t>
              </a:r>
            </a:p>
          </p:txBody>
        </p:sp>
        <p:sp>
          <p:nvSpPr>
            <p:cNvPr id="44" name="TextBox 44"/>
            <p:cNvSpPr txBox="1"/>
            <p:nvPr/>
          </p:nvSpPr>
          <p:spPr>
            <a:xfrm>
              <a:off x="3439668" y="3111818"/>
              <a:ext cx="740664" cy="264033"/>
            </a:xfrm>
            <a:prstGeom prst="rect">
              <a:avLst/>
            </a:prstGeom>
            <a:noFill/>
            <a:ln>
              <a:noFill/>
            </a:ln>
          </p:spPr>
          <p:txBody>
            <a:bodyPr wrap="none" lIns="0" tIns="0" rIns="0" bIns="0" anchor="t" anchorCtr="0">
              <a:spAutoFit/>
            </a:bodyPr>
            <a:lstStyle/>
            <a:p>
              <a:pPr algn="ctr"/>
              <a:r>
                <a:rPr lang="zh-CN" sz="1350" b="1" dirty="0">
                  <a:solidFill>
                    <a:srgbClr val="7A3E33"/>
                  </a:solidFill>
                  <a:latin typeface="+mn-lt"/>
                  <a:ea typeface="+mn-ea"/>
                  <a:cs typeface="+mn-cs"/>
                </a:rPr>
                <a:t>信息建设</a:t>
              </a:r>
            </a:p>
          </p:txBody>
        </p:sp>
        <p:sp>
          <p:nvSpPr>
            <p:cNvPr id="45" name="TextBox 45"/>
            <p:cNvSpPr txBox="1"/>
            <p:nvPr/>
          </p:nvSpPr>
          <p:spPr>
            <a:xfrm>
              <a:off x="3409264" y="3361849"/>
              <a:ext cx="801472"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网络基础设施</a:t>
              </a:r>
            </a:p>
          </p:txBody>
        </p:sp>
        <p:sp>
          <p:nvSpPr>
            <p:cNvPr id="46" name="Ellipse 46"/>
            <p:cNvSpPr/>
            <p:nvPr/>
          </p:nvSpPr>
          <p:spPr>
            <a:xfrm>
              <a:off x="3448050" y="1638300"/>
              <a:ext cx="723900" cy="723900"/>
            </a:xfrm>
            <a:prstGeom prst="ellipse">
              <a:avLst/>
            </a:prstGeom>
            <a:solidFill>
              <a:srgbClr val="9C594C"/>
            </a:solidFill>
            <a:ln>
              <a:noFill/>
            </a:ln>
          </p:spPr>
        </p:sp>
        <p:grpSp>
          <p:nvGrpSpPr>
            <p:cNvPr id="50" name="Group 50"/>
            <p:cNvGrpSpPr/>
            <p:nvPr/>
          </p:nvGrpSpPr>
          <p:grpSpPr>
            <a:xfrm>
              <a:off x="3731419" y="1797844"/>
              <a:ext cx="157163" cy="157162"/>
              <a:chOff x="3731419" y="1797844"/>
              <a:chExt cx="157163" cy="157162"/>
            </a:xfrm>
          </p:grpSpPr>
          <p:sp>
            <p:nvSpPr>
              <p:cNvPr id="47" name="Freeform 47"/>
              <p:cNvSpPr/>
              <p:nvPr/>
            </p:nvSpPr>
            <p:spPr>
              <a:xfrm>
                <a:off x="3731419" y="1797844"/>
                <a:ext cx="157163" cy="78581"/>
              </a:xfrm>
              <a:custGeom>
                <a:avLst/>
                <a:gdLst/>
                <a:ahLst/>
                <a:cxnLst/>
                <a:rect l="l" t="t" r="r" b="b"/>
                <a:pathLst>
                  <a:path w="157163" h="78581">
                    <a:moveTo>
                      <a:pt x="17463" y="78581"/>
                    </a:moveTo>
                    <a:lnTo>
                      <a:pt x="0" y="78581"/>
                    </a:lnTo>
                    <a:lnTo>
                      <a:pt x="78581" y="0"/>
                    </a:lnTo>
                    <a:lnTo>
                      <a:pt x="157163" y="78581"/>
                    </a:lnTo>
                    <a:lnTo>
                      <a:pt x="139700" y="78581"/>
                    </a:lnTo>
                  </a:path>
                </a:pathLst>
              </a:custGeom>
              <a:noFill/>
              <a:ln w="17463">
                <a:solidFill>
                  <a:srgbClr val="FFFFFF"/>
                </a:solidFill>
              </a:ln>
            </p:spPr>
          </p:sp>
          <p:sp>
            <p:nvSpPr>
              <p:cNvPr id="48" name="Freeform 48"/>
              <p:cNvSpPr/>
              <p:nvPr/>
            </p:nvSpPr>
            <p:spPr>
              <a:xfrm>
                <a:off x="3748881" y="1876425"/>
                <a:ext cx="122238" cy="78581"/>
              </a:xfrm>
              <a:custGeom>
                <a:avLst/>
                <a:gdLst/>
                <a:ahLst/>
                <a:cxnLst/>
                <a:rect l="l" t="t" r="r" b="b"/>
                <a:pathLst>
                  <a:path w="122238" h="78581">
                    <a:moveTo>
                      <a:pt x="0" y="0"/>
                    </a:moveTo>
                    <a:lnTo>
                      <a:pt x="0" y="61119"/>
                    </a:lnTo>
                    <a:cubicBezTo>
                      <a:pt x="0" y="70763"/>
                      <a:pt x="7818" y="78581"/>
                      <a:pt x="17463" y="78581"/>
                    </a:cubicBezTo>
                    <a:lnTo>
                      <a:pt x="104775" y="78581"/>
                    </a:lnTo>
                    <a:cubicBezTo>
                      <a:pt x="114419" y="78581"/>
                      <a:pt x="122238" y="70763"/>
                      <a:pt x="122238" y="61119"/>
                    </a:cubicBezTo>
                    <a:lnTo>
                      <a:pt x="122238" y="0"/>
                    </a:lnTo>
                  </a:path>
                </a:pathLst>
              </a:custGeom>
              <a:noFill/>
              <a:ln w="17463">
                <a:solidFill>
                  <a:srgbClr val="FFFFFF"/>
                </a:solidFill>
              </a:ln>
            </p:spPr>
          </p:sp>
          <p:sp>
            <p:nvSpPr>
              <p:cNvPr id="49" name="Freeform 49"/>
              <p:cNvSpPr/>
              <p:nvPr/>
            </p:nvSpPr>
            <p:spPr>
              <a:xfrm>
                <a:off x="3783806" y="1885156"/>
                <a:ext cx="52388" cy="69850"/>
              </a:xfrm>
              <a:custGeom>
                <a:avLst/>
                <a:gdLst/>
                <a:ahLst/>
                <a:cxnLst/>
                <a:rect l="l" t="t" r="r" b="b"/>
                <a:pathLst>
                  <a:path w="52388" h="69850">
                    <a:moveTo>
                      <a:pt x="0" y="69850"/>
                    </a:moveTo>
                    <a:lnTo>
                      <a:pt x="0" y="17463"/>
                    </a:lnTo>
                    <a:cubicBezTo>
                      <a:pt x="0" y="7818"/>
                      <a:pt x="7818" y="0"/>
                      <a:pt x="17463" y="0"/>
                    </a:cubicBezTo>
                    <a:lnTo>
                      <a:pt x="34925" y="0"/>
                    </a:lnTo>
                    <a:cubicBezTo>
                      <a:pt x="44569" y="0"/>
                      <a:pt x="52388" y="7818"/>
                      <a:pt x="52388" y="17463"/>
                    </a:cubicBezTo>
                    <a:lnTo>
                      <a:pt x="52388" y="69850"/>
                    </a:lnTo>
                  </a:path>
                </a:pathLst>
              </a:custGeom>
              <a:noFill/>
              <a:ln w="17463">
                <a:solidFill>
                  <a:srgbClr val="FFFFFF"/>
                </a:solidFill>
              </a:ln>
            </p:spPr>
          </p:sp>
        </p:grpSp>
        <p:sp>
          <p:nvSpPr>
            <p:cNvPr id="51" name="TextBox 51"/>
            <p:cNvSpPr txBox="1"/>
            <p:nvPr/>
          </p:nvSpPr>
          <p:spPr>
            <a:xfrm>
              <a:off x="3595617" y="2082641"/>
              <a:ext cx="42876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5G基建​</a:t>
              </a:r>
            </a:p>
          </p:txBody>
        </p:sp>
        <p:sp>
          <p:nvSpPr>
            <p:cNvPr id="52" name="Ellipse 52"/>
            <p:cNvSpPr/>
            <p:nvPr/>
          </p:nvSpPr>
          <p:spPr>
            <a:xfrm>
              <a:off x="2066925" y="3400425"/>
              <a:ext cx="723900" cy="723900"/>
            </a:xfrm>
            <a:prstGeom prst="ellipse">
              <a:avLst/>
            </a:prstGeom>
            <a:solidFill>
              <a:srgbClr val="9C594C"/>
            </a:solidFill>
            <a:ln>
              <a:noFill/>
            </a:ln>
          </p:spPr>
        </p:sp>
        <p:grpSp>
          <p:nvGrpSpPr>
            <p:cNvPr id="62" name="Group 62"/>
            <p:cNvGrpSpPr/>
            <p:nvPr/>
          </p:nvGrpSpPr>
          <p:grpSpPr>
            <a:xfrm>
              <a:off x="2367756" y="3551238"/>
              <a:ext cx="122238" cy="165893"/>
              <a:chOff x="2367756" y="3551238"/>
              <a:chExt cx="122238" cy="165893"/>
            </a:xfrm>
          </p:grpSpPr>
          <p:sp>
            <p:nvSpPr>
              <p:cNvPr id="53" name="Freeform 53"/>
              <p:cNvSpPr/>
              <p:nvPr/>
            </p:nvSpPr>
            <p:spPr>
              <a:xfrm>
                <a:off x="2376488" y="3568700"/>
                <a:ext cx="104775" cy="69850"/>
              </a:xfrm>
              <a:custGeom>
                <a:avLst/>
                <a:gdLst/>
                <a:ahLst/>
                <a:cxnLst/>
                <a:rect l="l" t="t" r="r" b="b"/>
                <a:pathLst>
                  <a:path w="104775" h="69850">
                    <a:moveTo>
                      <a:pt x="0" y="17463"/>
                    </a:moveTo>
                    <a:cubicBezTo>
                      <a:pt x="0" y="7818"/>
                      <a:pt x="7818" y="0"/>
                      <a:pt x="17463" y="0"/>
                    </a:cubicBezTo>
                    <a:lnTo>
                      <a:pt x="87313" y="0"/>
                    </a:lnTo>
                    <a:cubicBezTo>
                      <a:pt x="96957" y="0"/>
                      <a:pt x="104775" y="7818"/>
                      <a:pt x="104775" y="17463"/>
                    </a:cubicBezTo>
                    <a:lnTo>
                      <a:pt x="104775" y="52388"/>
                    </a:lnTo>
                    <a:cubicBezTo>
                      <a:pt x="104775" y="62032"/>
                      <a:pt x="96957" y="69850"/>
                      <a:pt x="87313" y="69850"/>
                    </a:cubicBezTo>
                    <a:lnTo>
                      <a:pt x="17463" y="69850"/>
                    </a:lnTo>
                    <a:cubicBezTo>
                      <a:pt x="7818" y="69850"/>
                      <a:pt x="0" y="62032"/>
                      <a:pt x="0" y="52388"/>
                    </a:cubicBezTo>
                    <a:lnTo>
                      <a:pt x="0" y="17463"/>
                    </a:lnTo>
                  </a:path>
                </a:pathLst>
              </a:custGeom>
              <a:noFill/>
              <a:ln w="17463">
                <a:solidFill>
                  <a:srgbClr val="FFFFFF"/>
                </a:solidFill>
              </a:ln>
            </p:spPr>
          </p:sp>
          <p:sp>
            <p:nvSpPr>
              <p:cNvPr id="54" name="Freeform 54"/>
              <p:cNvSpPr/>
              <p:nvPr/>
            </p:nvSpPr>
            <p:spPr>
              <a:xfrm>
                <a:off x="2428875" y="3551238"/>
                <a:ext cx="9525" cy="17463"/>
              </a:xfrm>
              <a:custGeom>
                <a:avLst/>
                <a:gdLst/>
                <a:ahLst/>
                <a:cxnLst/>
                <a:rect l="l" t="t" r="r" b="b"/>
                <a:pathLst>
                  <a:path w="9525" h="17463">
                    <a:moveTo>
                      <a:pt x="0" y="0"/>
                    </a:moveTo>
                    <a:lnTo>
                      <a:pt x="0" y="17463"/>
                    </a:lnTo>
                  </a:path>
                </a:pathLst>
              </a:custGeom>
              <a:noFill/>
              <a:ln w="17463">
                <a:solidFill>
                  <a:srgbClr val="FFFFFF"/>
                </a:solidFill>
              </a:ln>
            </p:spPr>
          </p:sp>
          <p:sp>
            <p:nvSpPr>
              <p:cNvPr id="55" name="Freeform 55"/>
              <p:cNvSpPr/>
              <p:nvPr/>
            </p:nvSpPr>
            <p:spPr>
              <a:xfrm>
                <a:off x="2402681" y="3638550"/>
                <a:ext cx="9525" cy="78581"/>
              </a:xfrm>
              <a:custGeom>
                <a:avLst/>
                <a:gdLst/>
                <a:ahLst/>
                <a:cxnLst/>
                <a:rect l="l" t="t" r="r" b="b"/>
                <a:pathLst>
                  <a:path w="9525" h="78581">
                    <a:moveTo>
                      <a:pt x="0" y="0"/>
                    </a:moveTo>
                    <a:lnTo>
                      <a:pt x="0" y="78581"/>
                    </a:lnTo>
                  </a:path>
                </a:pathLst>
              </a:custGeom>
              <a:noFill/>
              <a:ln w="17463">
                <a:solidFill>
                  <a:srgbClr val="FFFFFF"/>
                </a:solidFill>
              </a:ln>
            </p:spPr>
          </p:sp>
          <p:sp>
            <p:nvSpPr>
              <p:cNvPr id="56" name="Freeform 56"/>
              <p:cNvSpPr/>
              <p:nvPr/>
            </p:nvSpPr>
            <p:spPr>
              <a:xfrm>
                <a:off x="2455069" y="3638550"/>
                <a:ext cx="9525" cy="78581"/>
              </a:xfrm>
              <a:custGeom>
                <a:avLst/>
                <a:gdLst/>
                <a:ahLst/>
                <a:cxnLst/>
                <a:rect l="l" t="t" r="r" b="b"/>
                <a:pathLst>
                  <a:path w="9525" h="78581">
                    <a:moveTo>
                      <a:pt x="0" y="0"/>
                    </a:moveTo>
                    <a:lnTo>
                      <a:pt x="0" y="78581"/>
                    </a:lnTo>
                  </a:path>
                </a:pathLst>
              </a:custGeom>
              <a:noFill/>
              <a:ln w="17463">
                <a:solidFill>
                  <a:srgbClr val="FFFFFF"/>
                </a:solidFill>
              </a:ln>
            </p:spPr>
          </p:sp>
          <p:sp>
            <p:nvSpPr>
              <p:cNvPr id="57" name="Freeform 57"/>
              <p:cNvSpPr/>
              <p:nvPr/>
            </p:nvSpPr>
            <p:spPr>
              <a:xfrm>
                <a:off x="2367756" y="3656013"/>
                <a:ext cx="34925" cy="17463"/>
              </a:xfrm>
              <a:custGeom>
                <a:avLst/>
                <a:gdLst/>
                <a:ahLst/>
                <a:cxnLst/>
                <a:rect l="l" t="t" r="r" b="b"/>
                <a:pathLst>
                  <a:path w="34925" h="17463">
                    <a:moveTo>
                      <a:pt x="0" y="17463"/>
                    </a:moveTo>
                    <a:lnTo>
                      <a:pt x="34925" y="0"/>
                    </a:lnTo>
                  </a:path>
                </a:pathLst>
              </a:custGeom>
              <a:noFill/>
              <a:ln w="17463">
                <a:solidFill>
                  <a:srgbClr val="FFFFFF"/>
                </a:solidFill>
              </a:ln>
            </p:spPr>
          </p:sp>
          <p:sp>
            <p:nvSpPr>
              <p:cNvPr id="58" name="Freeform 58"/>
              <p:cNvSpPr/>
              <p:nvPr/>
            </p:nvSpPr>
            <p:spPr>
              <a:xfrm>
                <a:off x="2455069" y="3656013"/>
                <a:ext cx="34925" cy="17463"/>
              </a:xfrm>
              <a:custGeom>
                <a:avLst/>
                <a:gdLst/>
                <a:ahLst/>
                <a:cxnLst/>
                <a:rect l="l" t="t" r="r" b="b"/>
                <a:pathLst>
                  <a:path w="34925" h="17463">
                    <a:moveTo>
                      <a:pt x="0" y="0"/>
                    </a:moveTo>
                    <a:lnTo>
                      <a:pt x="34925" y="17463"/>
                    </a:lnTo>
                  </a:path>
                </a:pathLst>
              </a:custGeom>
              <a:noFill/>
              <a:ln w="17463">
                <a:solidFill>
                  <a:srgbClr val="FFFFFF"/>
                </a:solidFill>
              </a:ln>
            </p:spPr>
          </p:sp>
          <p:sp>
            <p:nvSpPr>
              <p:cNvPr id="59" name="Freeform 59"/>
              <p:cNvSpPr/>
              <p:nvPr/>
            </p:nvSpPr>
            <p:spPr>
              <a:xfrm>
                <a:off x="2402681" y="3690938"/>
                <a:ext cx="52388" cy="9525"/>
              </a:xfrm>
              <a:custGeom>
                <a:avLst/>
                <a:gdLst/>
                <a:ahLst/>
                <a:cxnLst/>
                <a:rect l="l" t="t" r="r" b="b"/>
                <a:pathLst>
                  <a:path w="52388" h="9525">
                    <a:moveTo>
                      <a:pt x="0" y="0"/>
                    </a:moveTo>
                    <a:lnTo>
                      <a:pt x="52388" y="0"/>
                    </a:lnTo>
                  </a:path>
                </a:pathLst>
              </a:custGeom>
              <a:noFill/>
              <a:ln w="17463">
                <a:solidFill>
                  <a:srgbClr val="FFFFFF"/>
                </a:solidFill>
              </a:ln>
            </p:spPr>
          </p:sp>
          <p:sp>
            <p:nvSpPr>
              <p:cNvPr id="60" name="Freeform 60"/>
              <p:cNvSpPr/>
              <p:nvPr/>
            </p:nvSpPr>
            <p:spPr>
              <a:xfrm>
                <a:off x="2411413" y="3603625"/>
                <a:ext cx="9525" cy="9525"/>
              </a:xfrm>
              <a:custGeom>
                <a:avLst/>
                <a:gdLst/>
                <a:ahLst/>
                <a:cxnLst/>
                <a:rect l="l" t="t" r="r" b="b"/>
                <a:pathLst>
                  <a:path w="9525" h="9525">
                    <a:moveTo>
                      <a:pt x="0" y="0"/>
                    </a:moveTo>
                    <a:lnTo>
                      <a:pt x="0" y="87"/>
                    </a:lnTo>
                  </a:path>
                </a:pathLst>
              </a:custGeom>
              <a:noFill/>
              <a:ln w="17463">
                <a:solidFill>
                  <a:srgbClr val="FFFFFF"/>
                </a:solidFill>
              </a:ln>
            </p:spPr>
          </p:sp>
          <p:sp>
            <p:nvSpPr>
              <p:cNvPr id="61" name="Freeform 61"/>
              <p:cNvSpPr/>
              <p:nvPr/>
            </p:nvSpPr>
            <p:spPr>
              <a:xfrm>
                <a:off x="2446338" y="3603625"/>
                <a:ext cx="9525" cy="9525"/>
              </a:xfrm>
              <a:custGeom>
                <a:avLst/>
                <a:gdLst/>
                <a:ahLst/>
                <a:cxnLst/>
                <a:rect l="l" t="t" r="r" b="b"/>
                <a:pathLst>
                  <a:path w="9525" h="9525">
                    <a:moveTo>
                      <a:pt x="0" y="0"/>
                    </a:moveTo>
                    <a:lnTo>
                      <a:pt x="0" y="87"/>
                    </a:lnTo>
                  </a:path>
                </a:pathLst>
              </a:custGeom>
              <a:noFill/>
              <a:ln w="17463">
                <a:solidFill>
                  <a:srgbClr val="FFFFFF"/>
                </a:solidFill>
              </a:ln>
            </p:spPr>
          </p:sp>
        </p:grpSp>
        <p:sp>
          <p:nvSpPr>
            <p:cNvPr id="63" name="TextBox 63"/>
            <p:cNvSpPr txBox="1"/>
            <p:nvPr/>
          </p:nvSpPr>
          <p:spPr>
            <a:xfrm>
              <a:off x="2203336" y="38447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人工智能</a:t>
              </a:r>
            </a:p>
          </p:txBody>
        </p:sp>
        <p:sp>
          <p:nvSpPr>
            <p:cNvPr id="64" name="Ellipse 64"/>
            <p:cNvSpPr/>
            <p:nvPr/>
          </p:nvSpPr>
          <p:spPr>
            <a:xfrm>
              <a:off x="4829175" y="3400425"/>
              <a:ext cx="723900" cy="723900"/>
            </a:xfrm>
            <a:prstGeom prst="ellipse">
              <a:avLst/>
            </a:prstGeom>
            <a:solidFill>
              <a:srgbClr val="9C594C"/>
            </a:solidFill>
            <a:ln>
              <a:noFill/>
            </a:ln>
          </p:spPr>
        </p:sp>
        <p:grpSp>
          <p:nvGrpSpPr>
            <p:cNvPr id="68" name="Group 68"/>
            <p:cNvGrpSpPr/>
            <p:nvPr/>
          </p:nvGrpSpPr>
          <p:grpSpPr>
            <a:xfrm>
              <a:off x="5121274" y="3564434"/>
              <a:ext cx="143954" cy="148214"/>
              <a:chOff x="5121274" y="3564434"/>
              <a:chExt cx="143954" cy="148214"/>
            </a:xfrm>
          </p:grpSpPr>
          <p:sp>
            <p:nvSpPr>
              <p:cNvPr id="65" name="Freeform 65"/>
              <p:cNvSpPr/>
              <p:nvPr/>
            </p:nvSpPr>
            <p:spPr>
              <a:xfrm>
                <a:off x="5164931" y="3612356"/>
                <a:ext cx="52388" cy="52388"/>
              </a:xfrm>
              <a:custGeom>
                <a:avLst/>
                <a:gdLst/>
                <a:ahLst/>
                <a:cxnLst/>
                <a:rect l="l" t="t" r="r" b="b"/>
                <a:pathLst>
                  <a:path w="52388" h="52388">
                    <a:moveTo>
                      <a:pt x="0" y="52388"/>
                    </a:moveTo>
                    <a:lnTo>
                      <a:pt x="52388" y="0"/>
                    </a:lnTo>
                  </a:path>
                </a:pathLst>
              </a:custGeom>
              <a:noFill/>
              <a:ln w="17463">
                <a:solidFill>
                  <a:srgbClr val="FFFFFF"/>
                </a:solidFill>
              </a:ln>
            </p:spPr>
          </p:sp>
          <p:sp>
            <p:nvSpPr>
              <p:cNvPr id="66" name="Freeform 66"/>
              <p:cNvSpPr/>
              <p:nvPr/>
            </p:nvSpPr>
            <p:spPr>
              <a:xfrm>
                <a:off x="5182394" y="3564434"/>
                <a:ext cx="82834" cy="82847"/>
              </a:xfrm>
              <a:custGeom>
                <a:avLst/>
                <a:gdLst/>
                <a:ahLst/>
                <a:cxnLst/>
                <a:rect l="l" t="t" r="r" b="b"/>
                <a:pathLst>
                  <a:path w="82834" h="82847">
                    <a:moveTo>
                      <a:pt x="0" y="21729"/>
                    </a:moveTo>
                    <a:lnTo>
                      <a:pt x="4043" y="17049"/>
                    </a:lnTo>
                    <a:cubicBezTo>
                      <a:pt x="21094" y="0"/>
                      <a:pt x="48737" y="2"/>
                      <a:pt x="65786" y="17053"/>
                    </a:cubicBezTo>
                    <a:cubicBezTo>
                      <a:pt x="82834" y="34104"/>
                      <a:pt x="82832" y="61747"/>
                      <a:pt x="65781" y="78796"/>
                    </a:cubicBezTo>
                    <a:lnTo>
                      <a:pt x="61119" y="82847"/>
                    </a:lnTo>
                  </a:path>
                </a:pathLst>
              </a:custGeom>
              <a:noFill/>
              <a:ln w="17463">
                <a:solidFill>
                  <a:srgbClr val="FFFFFF"/>
                </a:solidFill>
              </a:ln>
            </p:spPr>
          </p:sp>
          <p:sp>
            <p:nvSpPr>
              <p:cNvPr id="67" name="Freeform 67"/>
              <p:cNvSpPr/>
              <p:nvPr/>
            </p:nvSpPr>
            <p:spPr>
              <a:xfrm>
                <a:off x="5121274" y="3629819"/>
                <a:ext cx="78583" cy="82829"/>
              </a:xfrm>
              <a:custGeom>
                <a:avLst/>
                <a:gdLst/>
                <a:ahLst/>
                <a:cxnLst/>
                <a:rect l="l" t="t" r="r" b="b"/>
                <a:pathLst>
                  <a:path w="78583" h="82829">
                    <a:moveTo>
                      <a:pt x="78583" y="61119"/>
                    </a:moveTo>
                    <a:lnTo>
                      <a:pt x="75116" y="65781"/>
                    </a:lnTo>
                    <a:cubicBezTo>
                      <a:pt x="57876" y="82829"/>
                      <a:pt x="30128" y="82829"/>
                      <a:pt x="12889" y="65781"/>
                    </a:cubicBezTo>
                    <a:cubicBezTo>
                      <a:pt x="4641" y="57626"/>
                      <a:pt x="0" y="46510"/>
                      <a:pt x="0" y="34912"/>
                    </a:cubicBezTo>
                    <a:cubicBezTo>
                      <a:pt x="0" y="23314"/>
                      <a:pt x="4641" y="12197"/>
                      <a:pt x="12889" y="4043"/>
                    </a:cubicBezTo>
                    <a:lnTo>
                      <a:pt x="17464" y="0"/>
                    </a:lnTo>
                  </a:path>
                </a:pathLst>
              </a:custGeom>
              <a:noFill/>
              <a:ln w="17463">
                <a:solidFill>
                  <a:srgbClr val="FFFFFF"/>
                </a:solidFill>
              </a:ln>
            </p:spPr>
          </p:sp>
        </p:grpSp>
        <p:sp>
          <p:nvSpPr>
            <p:cNvPr id="69" name="TextBox 69"/>
            <p:cNvSpPr txBox="1"/>
            <p:nvPr/>
          </p:nvSpPr>
          <p:spPr>
            <a:xfrm>
              <a:off x="5020780" y="3844766"/>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特高压</a:t>
              </a:r>
            </a:p>
          </p:txBody>
        </p:sp>
        <p:sp>
          <p:nvSpPr>
            <p:cNvPr id="70" name="Ellipse 70"/>
            <p:cNvSpPr/>
            <p:nvPr/>
          </p:nvSpPr>
          <p:spPr>
            <a:xfrm>
              <a:off x="3448050" y="4638675"/>
              <a:ext cx="723900" cy="723900"/>
            </a:xfrm>
            <a:prstGeom prst="ellipse">
              <a:avLst/>
            </a:prstGeom>
            <a:solidFill>
              <a:srgbClr val="9C594C"/>
            </a:solidFill>
            <a:ln>
              <a:noFill/>
            </a:ln>
          </p:spPr>
        </p:sp>
        <p:grpSp>
          <p:nvGrpSpPr>
            <p:cNvPr id="74" name="Group 74"/>
            <p:cNvGrpSpPr/>
            <p:nvPr/>
          </p:nvGrpSpPr>
          <p:grpSpPr>
            <a:xfrm>
              <a:off x="3748881" y="4798219"/>
              <a:ext cx="122238" cy="157162"/>
              <a:chOff x="3748881" y="4798219"/>
              <a:chExt cx="122238" cy="157162"/>
            </a:xfrm>
          </p:grpSpPr>
          <p:sp>
            <p:nvSpPr>
              <p:cNvPr id="71" name="Freeform 71"/>
              <p:cNvSpPr/>
              <p:nvPr/>
            </p:nvSpPr>
            <p:spPr>
              <a:xfrm>
                <a:off x="3748881" y="4850606"/>
                <a:ext cx="122238" cy="104775"/>
              </a:xfrm>
              <a:custGeom>
                <a:avLst/>
                <a:gdLst/>
                <a:ahLst/>
                <a:cxnLst/>
                <a:rect l="l" t="t" r="r" b="b"/>
                <a:pathLst>
                  <a:path w="122238" h="104775">
                    <a:moveTo>
                      <a:pt x="26194" y="0"/>
                    </a:moveTo>
                    <a:lnTo>
                      <a:pt x="17463" y="0"/>
                    </a:lnTo>
                    <a:cubicBezTo>
                      <a:pt x="7818" y="0"/>
                      <a:pt x="0" y="7818"/>
                      <a:pt x="0" y="17463"/>
                    </a:cubicBezTo>
                    <a:lnTo>
                      <a:pt x="0" y="87313"/>
                    </a:lnTo>
                    <a:cubicBezTo>
                      <a:pt x="0" y="96957"/>
                      <a:pt x="7818" y="104775"/>
                      <a:pt x="17463" y="104775"/>
                    </a:cubicBezTo>
                    <a:lnTo>
                      <a:pt x="104775" y="104775"/>
                    </a:lnTo>
                    <a:cubicBezTo>
                      <a:pt x="114419" y="104775"/>
                      <a:pt x="122238" y="96957"/>
                      <a:pt x="122238" y="87313"/>
                    </a:cubicBezTo>
                    <a:lnTo>
                      <a:pt x="122238" y="17463"/>
                    </a:lnTo>
                    <a:cubicBezTo>
                      <a:pt x="122238" y="7818"/>
                      <a:pt x="114419" y="0"/>
                      <a:pt x="104775" y="0"/>
                    </a:cubicBezTo>
                    <a:lnTo>
                      <a:pt x="96044" y="0"/>
                    </a:lnTo>
                  </a:path>
                </a:pathLst>
              </a:custGeom>
              <a:noFill/>
              <a:ln w="17463">
                <a:solidFill>
                  <a:srgbClr val="FFFFFF"/>
                </a:solidFill>
              </a:ln>
            </p:spPr>
          </p:sp>
          <p:sp>
            <p:nvSpPr>
              <p:cNvPr id="72" name="Freeform 72"/>
              <p:cNvSpPr/>
              <p:nvPr/>
            </p:nvSpPr>
            <p:spPr>
              <a:xfrm>
                <a:off x="3810000" y="4798219"/>
                <a:ext cx="9525" cy="96044"/>
              </a:xfrm>
              <a:custGeom>
                <a:avLst/>
                <a:gdLst/>
                <a:ahLst/>
                <a:cxnLst/>
                <a:rect l="l" t="t" r="r" b="b"/>
                <a:pathLst>
                  <a:path w="9525" h="96044">
                    <a:moveTo>
                      <a:pt x="0" y="96044"/>
                    </a:moveTo>
                    <a:lnTo>
                      <a:pt x="0" y="0"/>
                    </a:lnTo>
                  </a:path>
                </a:pathLst>
              </a:custGeom>
              <a:noFill/>
              <a:ln w="17463">
                <a:solidFill>
                  <a:srgbClr val="FFFFFF"/>
                </a:solidFill>
              </a:ln>
            </p:spPr>
          </p:sp>
          <p:sp>
            <p:nvSpPr>
              <p:cNvPr id="73" name="Freeform 73"/>
              <p:cNvSpPr/>
              <p:nvPr/>
            </p:nvSpPr>
            <p:spPr>
              <a:xfrm>
                <a:off x="3783806" y="4798219"/>
                <a:ext cx="52388" cy="26194"/>
              </a:xfrm>
              <a:custGeom>
                <a:avLst/>
                <a:gdLst/>
                <a:ahLst/>
                <a:cxnLst/>
                <a:rect l="l" t="t" r="r" b="b"/>
                <a:pathLst>
                  <a:path w="52388" h="26194">
                    <a:moveTo>
                      <a:pt x="0" y="26194"/>
                    </a:moveTo>
                    <a:lnTo>
                      <a:pt x="26194" y="0"/>
                    </a:lnTo>
                    <a:lnTo>
                      <a:pt x="52388" y="26194"/>
                    </a:lnTo>
                  </a:path>
                </a:pathLst>
              </a:custGeom>
              <a:noFill/>
              <a:ln w="17463">
                <a:solidFill>
                  <a:srgbClr val="FFFFFF"/>
                </a:solidFill>
              </a:ln>
            </p:spPr>
          </p:sp>
        </p:grpSp>
        <p:sp>
          <p:nvSpPr>
            <p:cNvPr id="75" name="TextBox 75"/>
            <p:cNvSpPr txBox="1"/>
            <p:nvPr/>
          </p:nvSpPr>
          <p:spPr>
            <a:xfrm>
              <a:off x="3639655" y="5083016"/>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互联网</a:t>
              </a:r>
            </a:p>
          </p:txBody>
        </p:sp>
      </p:grpSp>
      <p:grpSp>
        <p:nvGrpSpPr>
          <p:cNvPr id="84" name="center-plus-labels"/>
          <p:cNvGrpSpPr/>
          <p:nvPr/>
        </p:nvGrpSpPr>
        <p:grpSpPr>
          <a:xfrm>
            <a:off x="5842127" y="1895475"/>
            <a:ext cx="507746" cy="2628615"/>
            <a:chOff x="5842127" y="1895475"/>
            <a:chExt cx="507746" cy="2628615"/>
          </a:xfrm>
        </p:grpSpPr>
        <p:sp>
          <p:nvSpPr>
            <p:cNvPr id="77" name="Freeform 77"/>
            <p:cNvSpPr/>
            <p:nvPr/>
          </p:nvSpPr>
          <p:spPr>
            <a:xfrm>
              <a:off x="6010275" y="1895475"/>
              <a:ext cx="171450" cy="171450"/>
            </a:xfrm>
            <a:custGeom>
              <a:avLst/>
              <a:gdLst/>
              <a:ahLst/>
              <a:cxnLst/>
              <a:rect l="l" t="t" r="r" b="b"/>
              <a:pathLst>
                <a:path w="171450" h="171450">
                  <a:moveTo>
                    <a:pt x="9525" y="38100"/>
                  </a:moveTo>
                  <a:lnTo>
                    <a:pt x="38100" y="38100"/>
                  </a:lnTo>
                  <a:cubicBezTo>
                    <a:pt x="43361" y="38100"/>
                    <a:pt x="47625" y="33836"/>
                    <a:pt x="47625" y="28575"/>
                  </a:cubicBezTo>
                  <a:lnTo>
                    <a:pt x="47625" y="19050"/>
                  </a:lnTo>
                  <a:cubicBezTo>
                    <a:pt x="47625" y="8529"/>
                    <a:pt x="56154" y="0"/>
                    <a:pt x="66675" y="0"/>
                  </a:cubicBezTo>
                  <a:cubicBezTo>
                    <a:pt x="77196" y="0"/>
                    <a:pt x="85725" y="8529"/>
                    <a:pt x="85725" y="19050"/>
                  </a:cubicBezTo>
                  <a:lnTo>
                    <a:pt x="85725" y="28575"/>
                  </a:lnTo>
                  <a:cubicBezTo>
                    <a:pt x="85725" y="33836"/>
                    <a:pt x="89989" y="38100"/>
                    <a:pt x="95250" y="38100"/>
                  </a:cubicBezTo>
                  <a:lnTo>
                    <a:pt x="123825" y="38100"/>
                  </a:lnTo>
                  <a:cubicBezTo>
                    <a:pt x="129086" y="38100"/>
                    <a:pt x="133350" y="42364"/>
                    <a:pt x="133350" y="47625"/>
                  </a:cubicBezTo>
                  <a:lnTo>
                    <a:pt x="133350" y="76200"/>
                  </a:lnTo>
                  <a:cubicBezTo>
                    <a:pt x="133350" y="81461"/>
                    <a:pt x="137614" y="85725"/>
                    <a:pt x="142875" y="85725"/>
                  </a:cubicBezTo>
                  <a:lnTo>
                    <a:pt x="152400" y="85725"/>
                  </a:lnTo>
                  <a:cubicBezTo>
                    <a:pt x="162921" y="85725"/>
                    <a:pt x="171450" y="94254"/>
                    <a:pt x="171450" y="104775"/>
                  </a:cubicBezTo>
                  <a:cubicBezTo>
                    <a:pt x="171450" y="115296"/>
                    <a:pt x="162921" y="123825"/>
                    <a:pt x="152400" y="123825"/>
                  </a:cubicBezTo>
                  <a:lnTo>
                    <a:pt x="142875" y="123825"/>
                  </a:lnTo>
                  <a:cubicBezTo>
                    <a:pt x="137614" y="123825"/>
                    <a:pt x="133350" y="128089"/>
                    <a:pt x="133350" y="133350"/>
                  </a:cubicBezTo>
                  <a:lnTo>
                    <a:pt x="133350" y="161925"/>
                  </a:lnTo>
                  <a:cubicBezTo>
                    <a:pt x="133350" y="167186"/>
                    <a:pt x="129086" y="171450"/>
                    <a:pt x="123825" y="171450"/>
                  </a:cubicBezTo>
                  <a:lnTo>
                    <a:pt x="95250" y="171450"/>
                  </a:lnTo>
                  <a:cubicBezTo>
                    <a:pt x="89989" y="171450"/>
                    <a:pt x="85725" y="167186"/>
                    <a:pt x="85725" y="161925"/>
                  </a:cubicBezTo>
                  <a:lnTo>
                    <a:pt x="85725" y="152400"/>
                  </a:lnTo>
                  <a:cubicBezTo>
                    <a:pt x="85725" y="141879"/>
                    <a:pt x="77196" y="133350"/>
                    <a:pt x="66675" y="133350"/>
                  </a:cubicBezTo>
                  <a:cubicBezTo>
                    <a:pt x="56154" y="133350"/>
                    <a:pt x="47625" y="141879"/>
                    <a:pt x="47625" y="152400"/>
                  </a:cubicBezTo>
                  <a:lnTo>
                    <a:pt x="47625" y="161925"/>
                  </a:lnTo>
                  <a:cubicBezTo>
                    <a:pt x="47625" y="167186"/>
                    <a:pt x="43361" y="171450"/>
                    <a:pt x="38100" y="171450"/>
                  </a:cubicBezTo>
                  <a:lnTo>
                    <a:pt x="9525" y="171450"/>
                  </a:lnTo>
                  <a:cubicBezTo>
                    <a:pt x="4264" y="171450"/>
                    <a:pt x="0" y="167186"/>
                    <a:pt x="0" y="161925"/>
                  </a:cubicBezTo>
                  <a:lnTo>
                    <a:pt x="0" y="133350"/>
                  </a:lnTo>
                  <a:cubicBezTo>
                    <a:pt x="0" y="128089"/>
                    <a:pt x="4264" y="123825"/>
                    <a:pt x="9525" y="123825"/>
                  </a:cubicBezTo>
                  <a:lnTo>
                    <a:pt x="19050" y="123825"/>
                  </a:lnTo>
                  <a:cubicBezTo>
                    <a:pt x="29571" y="123825"/>
                    <a:pt x="38100" y="115296"/>
                    <a:pt x="38100" y="104775"/>
                  </a:cubicBezTo>
                  <a:cubicBezTo>
                    <a:pt x="38100" y="94254"/>
                    <a:pt x="29571" y="85725"/>
                    <a:pt x="19050" y="85725"/>
                  </a:cubicBezTo>
                  <a:lnTo>
                    <a:pt x="9525" y="85725"/>
                  </a:lnTo>
                  <a:cubicBezTo>
                    <a:pt x="4264" y="85725"/>
                    <a:pt x="0" y="81461"/>
                    <a:pt x="0" y="76200"/>
                  </a:cubicBezTo>
                  <a:lnTo>
                    <a:pt x="0" y="47625"/>
                  </a:lnTo>
                  <a:cubicBezTo>
                    <a:pt x="0" y="42364"/>
                    <a:pt x="4264" y="38100"/>
                    <a:pt x="9525" y="38100"/>
                  </a:cubicBezTo>
                </a:path>
              </a:pathLst>
            </a:custGeom>
            <a:noFill/>
            <a:ln w="19050">
              <a:solidFill>
                <a:srgbClr val="E9563C"/>
              </a:solidFill>
            </a:ln>
          </p:spPr>
        </p:sp>
        <p:sp>
          <p:nvSpPr>
            <p:cNvPr id="78" name="TextBox 78"/>
            <p:cNvSpPr txBox="1"/>
            <p:nvPr/>
          </p:nvSpPr>
          <p:spPr>
            <a:xfrm>
              <a:off x="5842127" y="2218849"/>
              <a:ext cx="507746" cy="362141"/>
            </a:xfrm>
            <a:prstGeom prst="rect">
              <a:avLst/>
            </a:prstGeom>
            <a:noFill/>
            <a:ln>
              <a:noFill/>
            </a:ln>
          </p:spPr>
          <p:txBody>
            <a:bodyPr wrap="none" lIns="0" tIns="0" rIns="0" bIns="0" anchor="t" anchorCtr="0">
              <a:spAutoFit/>
            </a:bodyPr>
            <a:lstStyle/>
            <a:p>
              <a:pPr algn="ctr">
                <a:lnSpc>
                  <a:spcPts val="1350"/>
                </a:lnSpc>
              </a:pPr>
              <a:r>
                <a:rPr lang="zh-CN" sz="980" b="1" dirty="0">
                  <a:solidFill>
                    <a:srgbClr val="D6391E"/>
                  </a:solidFill>
                  <a:latin typeface="+mn-lt"/>
                  <a:ea typeface="+mn-ea"/>
                  <a:cs typeface="+mn-cs"/>
                </a:rPr>
                <a:t>场景功能</a:t>
              </a:r>
              <a:br/>
              <a:r>
                <a:rPr lang="zh-CN" sz="980" b="1" dirty="0">
                  <a:solidFill>
                    <a:srgbClr val="D6391E"/>
                  </a:solidFill>
                  <a:latin typeface="+mn-lt"/>
                  <a:ea typeface="+mn-ea"/>
                  <a:cs typeface="+mn-cs"/>
                </a:rPr>
                <a:t>扩展需求</a:t>
              </a:r>
            </a:p>
          </p:txBody>
        </p:sp>
        <p:sp>
          <p:nvSpPr>
            <p:cNvPr id="79" name="Freeform 79"/>
            <p:cNvSpPr/>
            <p:nvPr/>
          </p:nvSpPr>
          <p:spPr>
            <a:xfrm>
              <a:off x="5857875" y="3028950"/>
              <a:ext cx="476250" cy="476250"/>
            </a:xfrm>
            <a:prstGeom prst="mathPlus">
              <a:avLst/>
            </a:prstGeom>
            <a:solidFill>
              <a:srgbClr val="9C594C"/>
            </a:solidFill>
            <a:ln>
              <a:noFill/>
            </a:ln>
          </p:spPr>
        </p:sp>
        <p:grpSp>
          <p:nvGrpSpPr>
            <p:cNvPr id="82" name="Group 82"/>
            <p:cNvGrpSpPr/>
            <p:nvPr/>
          </p:nvGrpSpPr>
          <p:grpSpPr>
            <a:xfrm>
              <a:off x="6010275" y="3876675"/>
              <a:ext cx="171450" cy="95250"/>
              <a:chOff x="6010275" y="3876675"/>
              <a:chExt cx="171450" cy="95250"/>
            </a:xfrm>
          </p:grpSpPr>
          <p:sp>
            <p:nvSpPr>
              <p:cNvPr id="80" name="Freeform 80"/>
              <p:cNvSpPr/>
              <p:nvPr/>
            </p:nvSpPr>
            <p:spPr>
              <a:xfrm>
                <a:off x="6010275" y="387667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9C594C"/>
                </a:solidFill>
              </a:ln>
            </p:spPr>
          </p:sp>
          <p:sp>
            <p:nvSpPr>
              <p:cNvPr id="81" name="Freeform 81"/>
              <p:cNvSpPr/>
              <p:nvPr/>
            </p:nvSpPr>
            <p:spPr>
              <a:xfrm>
                <a:off x="6115050" y="3876675"/>
                <a:ext cx="66675" cy="66675"/>
              </a:xfrm>
              <a:custGeom>
                <a:avLst/>
                <a:gdLst/>
                <a:ahLst/>
                <a:cxnLst/>
                <a:rect l="l" t="t" r="r" b="b"/>
                <a:pathLst>
                  <a:path w="66675" h="66675">
                    <a:moveTo>
                      <a:pt x="0" y="0"/>
                    </a:moveTo>
                    <a:lnTo>
                      <a:pt x="66675" y="0"/>
                    </a:lnTo>
                    <a:lnTo>
                      <a:pt x="66675" y="66675"/>
                    </a:lnTo>
                  </a:path>
                </a:pathLst>
              </a:custGeom>
              <a:noFill/>
              <a:ln w="19050">
                <a:solidFill>
                  <a:srgbClr val="9C594C"/>
                </a:solidFill>
              </a:ln>
            </p:spPr>
          </p:sp>
        </p:grpSp>
        <p:sp>
          <p:nvSpPr>
            <p:cNvPr id="83" name="TextBox 83"/>
            <p:cNvSpPr txBox="1"/>
            <p:nvPr/>
          </p:nvSpPr>
          <p:spPr>
            <a:xfrm>
              <a:off x="5842127" y="4161949"/>
              <a:ext cx="507746" cy="362141"/>
            </a:xfrm>
            <a:prstGeom prst="rect">
              <a:avLst/>
            </a:prstGeom>
            <a:noFill/>
            <a:ln>
              <a:noFill/>
            </a:ln>
          </p:spPr>
          <p:txBody>
            <a:bodyPr wrap="none" lIns="0" tIns="0" rIns="0" bIns="0" anchor="t" anchorCtr="0">
              <a:spAutoFit/>
            </a:bodyPr>
            <a:lstStyle/>
            <a:p>
              <a:pPr algn="ctr">
                <a:lnSpc>
                  <a:spcPts val="1350"/>
                </a:lnSpc>
              </a:pPr>
              <a:r>
                <a:rPr lang="zh-CN" sz="980" b="1" dirty="0">
                  <a:solidFill>
                    <a:srgbClr val="7A3E33"/>
                  </a:solidFill>
                  <a:latin typeface="+mn-lt"/>
                  <a:ea typeface="+mn-ea"/>
                  <a:cs typeface="+mn-cs"/>
                </a:rPr>
                <a:t>算法迭代</a:t>
              </a:r>
              <a:br/>
              <a:r>
                <a:rPr lang="zh-CN" sz="980" b="1" dirty="0">
                  <a:solidFill>
                    <a:srgbClr val="7A3E33"/>
                  </a:solidFill>
                  <a:latin typeface="+mn-lt"/>
                  <a:ea typeface="+mn-ea"/>
                  <a:cs typeface="+mn-cs"/>
                </a:rPr>
                <a:t>创新需求</a:t>
              </a:r>
            </a:p>
          </p:txBody>
        </p:sp>
      </p:grpSp>
      <p:grpSp>
        <p:nvGrpSpPr>
          <p:cNvPr id="117" name="ring-right"/>
          <p:cNvGrpSpPr/>
          <p:nvPr/>
        </p:nvGrpSpPr>
        <p:grpSpPr>
          <a:xfrm>
            <a:off x="6638925" y="1638300"/>
            <a:ext cx="3486150" cy="3724275"/>
            <a:chOff x="6638925" y="1638300"/>
            <a:chExt cx="3486150" cy="3724275"/>
          </a:xfrm>
        </p:grpSpPr>
        <p:sp>
          <p:nvSpPr>
            <p:cNvPr id="85" name="Ellipse 85"/>
            <p:cNvSpPr/>
            <p:nvPr/>
          </p:nvSpPr>
          <p:spPr>
            <a:xfrm>
              <a:off x="7162800" y="2066925"/>
              <a:ext cx="2438400" cy="2438400"/>
            </a:xfrm>
            <a:prstGeom prst="ellipse">
              <a:avLst/>
            </a:prstGeom>
            <a:solidFill>
              <a:srgbClr val="FDF8EA"/>
            </a:solidFill>
            <a:ln w="28575">
              <a:solidFill>
                <a:srgbClr val="F7B9AE"/>
              </a:solidFill>
            </a:ln>
          </p:spPr>
        </p:sp>
        <p:sp>
          <p:nvSpPr>
            <p:cNvPr id="86" name="Freeform 86"/>
            <p:cNvSpPr/>
            <p:nvPr/>
          </p:nvSpPr>
          <p:spPr>
            <a:xfrm>
              <a:off x="7219950" y="1920937"/>
              <a:ext cx="2324100" cy="679388"/>
            </a:xfrm>
            <a:custGeom>
              <a:avLst/>
              <a:gdLst/>
              <a:ahLst/>
              <a:cxnLst/>
              <a:rect l="l" t="t" r="r" b="b"/>
              <a:pathLst>
                <a:path w="2324100" h="679388">
                  <a:moveTo>
                    <a:pt x="0" y="679388"/>
                  </a:moveTo>
                  <a:cubicBezTo>
                    <a:pt x="236243" y="259695"/>
                    <a:pt x="680435" y="0"/>
                    <a:pt x="1162050" y="0"/>
                  </a:cubicBezTo>
                  <a:cubicBezTo>
                    <a:pt x="1643665" y="0"/>
                    <a:pt x="2087857" y="259695"/>
                    <a:pt x="2324100" y="679388"/>
                  </a:cubicBezTo>
                </a:path>
              </a:pathLst>
            </a:custGeom>
            <a:noFill/>
            <a:ln w="19050">
              <a:solidFill>
                <a:srgbClr val="E9563C"/>
              </a:solidFill>
              <a:tailEnd type="triangle" w="lg" len="lg"/>
            </a:ln>
          </p:spPr>
        </p:sp>
        <p:sp>
          <p:nvSpPr>
            <p:cNvPr id="87" name="Freeform 87"/>
            <p:cNvSpPr/>
            <p:nvPr/>
          </p:nvSpPr>
          <p:spPr>
            <a:xfrm>
              <a:off x="7353300" y="4143375"/>
              <a:ext cx="2057400" cy="484973"/>
            </a:xfrm>
            <a:custGeom>
              <a:avLst/>
              <a:gdLst/>
              <a:ahLst/>
              <a:cxnLst/>
              <a:rect l="l" t="t" r="r" b="b"/>
              <a:pathLst>
                <a:path w="2057400" h="484973">
                  <a:moveTo>
                    <a:pt x="2057400" y="0"/>
                  </a:moveTo>
                  <a:cubicBezTo>
                    <a:pt x="1804082" y="307106"/>
                    <a:pt x="1426801" y="484973"/>
                    <a:pt x="1028700" y="484973"/>
                  </a:cubicBezTo>
                  <a:cubicBezTo>
                    <a:pt x="630599" y="484973"/>
                    <a:pt x="253318" y="307106"/>
                    <a:pt x="0" y="0"/>
                  </a:cubicBezTo>
                </a:path>
              </a:pathLst>
            </a:custGeom>
            <a:noFill/>
            <a:ln w="14288">
              <a:solidFill>
                <a:srgbClr val="E9563C"/>
              </a:solidFill>
              <a:custDash>
                <a:ds d="333333" sp="266667"/>
              </a:custDash>
              <a:tailEnd type="triangle" w="lg" len="lg"/>
            </a:ln>
          </p:spPr>
        </p:sp>
        <p:sp>
          <p:nvSpPr>
            <p:cNvPr id="88" name="Ellipse 88"/>
            <p:cNvSpPr/>
            <p:nvPr/>
          </p:nvSpPr>
          <p:spPr>
            <a:xfrm>
              <a:off x="8248650" y="2752725"/>
              <a:ext cx="266700" cy="266700"/>
            </a:xfrm>
            <a:prstGeom prst="ellipse">
              <a:avLst/>
            </a:prstGeom>
            <a:solidFill>
              <a:srgbClr val="FFFFFF"/>
            </a:solidFill>
            <a:ln w="14288">
              <a:solidFill>
                <a:srgbClr val="E9563C"/>
              </a:solidFill>
            </a:ln>
          </p:spPr>
        </p:sp>
        <p:grpSp>
          <p:nvGrpSpPr>
            <p:cNvPr id="91" name="Group 91"/>
            <p:cNvGrpSpPr/>
            <p:nvPr/>
          </p:nvGrpSpPr>
          <p:grpSpPr>
            <a:xfrm>
              <a:off x="8324850" y="2828925"/>
              <a:ext cx="114300" cy="114300"/>
              <a:chOff x="8324850" y="2828925"/>
              <a:chExt cx="114300" cy="114300"/>
            </a:xfrm>
          </p:grpSpPr>
          <p:sp>
            <p:nvSpPr>
              <p:cNvPr id="89" name="Freeform 89"/>
              <p:cNvSpPr/>
              <p:nvPr/>
            </p:nvSpPr>
            <p:spPr>
              <a:xfrm>
                <a:off x="8324850" y="2828925"/>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D6391E"/>
                </a:solidFill>
              </a:ln>
            </p:spPr>
          </p:sp>
          <p:sp>
            <p:nvSpPr>
              <p:cNvPr id="90" name="Freeform 90"/>
              <p:cNvSpPr/>
              <p:nvPr/>
            </p:nvSpPr>
            <p:spPr>
              <a:xfrm>
                <a:off x="8401050" y="2905125"/>
                <a:ext cx="38100" cy="38100"/>
              </a:xfrm>
              <a:custGeom>
                <a:avLst/>
                <a:gdLst/>
                <a:ahLst/>
                <a:cxnLst/>
                <a:rect l="l" t="t" r="r" b="b"/>
                <a:pathLst>
                  <a:path w="38100" h="38100">
                    <a:moveTo>
                      <a:pt x="38100" y="38100"/>
                    </a:moveTo>
                    <a:lnTo>
                      <a:pt x="0" y="0"/>
                    </a:lnTo>
                  </a:path>
                </a:pathLst>
              </a:custGeom>
              <a:noFill/>
              <a:ln w="12700">
                <a:solidFill>
                  <a:srgbClr val="D6391E"/>
                </a:solidFill>
              </a:ln>
            </p:spPr>
          </p:sp>
        </p:grpSp>
        <p:sp>
          <p:nvSpPr>
            <p:cNvPr id="92" name="TextBox 92"/>
            <p:cNvSpPr txBox="1"/>
            <p:nvPr/>
          </p:nvSpPr>
          <p:spPr>
            <a:xfrm>
              <a:off x="8011668" y="3111818"/>
              <a:ext cx="740664" cy="264033"/>
            </a:xfrm>
            <a:prstGeom prst="rect">
              <a:avLst/>
            </a:prstGeom>
            <a:noFill/>
            <a:ln>
              <a:noFill/>
            </a:ln>
          </p:spPr>
          <p:txBody>
            <a:bodyPr wrap="none" lIns="0" tIns="0" rIns="0" bIns="0" anchor="t" anchorCtr="0">
              <a:spAutoFit/>
            </a:bodyPr>
            <a:lstStyle/>
            <a:p>
              <a:pPr algn="ctr"/>
              <a:r>
                <a:rPr lang="zh-CN" sz="1350" b="1" dirty="0">
                  <a:solidFill>
                    <a:srgbClr val="333333"/>
                  </a:solidFill>
                  <a:latin typeface="+mn-lt"/>
                  <a:ea typeface="+mn-ea"/>
                  <a:cs typeface="+mn-cs"/>
                </a:rPr>
                <a:t>融合设施</a:t>
              </a:r>
            </a:p>
          </p:txBody>
        </p:sp>
        <p:sp>
          <p:nvSpPr>
            <p:cNvPr id="93" name="TextBox 93"/>
            <p:cNvSpPr txBox="1"/>
            <p:nvPr/>
          </p:nvSpPr>
          <p:spPr>
            <a:xfrm>
              <a:off x="7981264" y="3361849"/>
              <a:ext cx="801472" cy="190690"/>
            </a:xfrm>
            <a:prstGeom prst="rect">
              <a:avLst/>
            </a:prstGeom>
            <a:noFill/>
            <a:ln>
              <a:noFill/>
            </a:ln>
          </p:spPr>
          <p:txBody>
            <a:bodyPr wrap="none" lIns="0" tIns="0" rIns="0" bIns="0" anchor="t" anchorCtr="0">
              <a:spAutoFit/>
            </a:bodyPr>
            <a:lstStyle/>
            <a:p>
              <a:pPr algn="ctr"/>
              <a:r>
                <a:rPr lang="zh-CN" sz="980" dirty="0">
                  <a:solidFill>
                    <a:srgbClr val="333333"/>
                  </a:solidFill>
                  <a:latin typeface="+mn-lt"/>
                  <a:ea typeface="+mn-ea"/>
                  <a:cs typeface="+mn-cs"/>
                </a:rPr>
                <a:t>传统设施转型</a:t>
              </a:r>
            </a:p>
          </p:txBody>
        </p:sp>
        <p:sp>
          <p:nvSpPr>
            <p:cNvPr id="94" name="Ellipse 94"/>
            <p:cNvSpPr/>
            <p:nvPr/>
          </p:nvSpPr>
          <p:spPr>
            <a:xfrm>
              <a:off x="8020050" y="1638300"/>
              <a:ext cx="723900" cy="723900"/>
            </a:xfrm>
            <a:prstGeom prst="ellipse">
              <a:avLst/>
            </a:prstGeom>
            <a:solidFill>
              <a:srgbClr val="E9563C"/>
            </a:solidFill>
            <a:ln>
              <a:noFill/>
            </a:ln>
          </p:spPr>
        </p:sp>
        <p:grpSp>
          <p:nvGrpSpPr>
            <p:cNvPr id="98" name="Group 98"/>
            <p:cNvGrpSpPr/>
            <p:nvPr/>
          </p:nvGrpSpPr>
          <p:grpSpPr>
            <a:xfrm>
              <a:off x="8309392" y="1806575"/>
              <a:ext cx="142458" cy="142458"/>
              <a:chOff x="8309392" y="1806575"/>
              <a:chExt cx="142458" cy="142458"/>
            </a:xfrm>
          </p:grpSpPr>
          <p:sp>
            <p:nvSpPr>
              <p:cNvPr id="95" name="Freeform 95"/>
              <p:cNvSpPr/>
              <p:nvPr/>
            </p:nvSpPr>
            <p:spPr>
              <a:xfrm>
                <a:off x="8312150" y="1806575"/>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FFFFFF"/>
                </a:solidFill>
              </a:ln>
            </p:spPr>
          </p:sp>
          <p:sp>
            <p:nvSpPr>
              <p:cNvPr id="96" name="Freeform 96"/>
              <p:cNvSpPr/>
              <p:nvPr/>
            </p:nvSpPr>
            <p:spPr>
              <a:xfrm>
                <a:off x="8309392" y="1893888"/>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FFFFFF"/>
                </a:solidFill>
              </a:ln>
            </p:spPr>
          </p:sp>
          <p:sp>
            <p:nvSpPr>
              <p:cNvPr id="97" name="Freeform 97"/>
              <p:cNvSpPr/>
              <p:nvPr/>
            </p:nvSpPr>
            <p:spPr>
              <a:xfrm>
                <a:off x="8399463" y="1841500"/>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grpSp>
        <p:sp>
          <p:nvSpPr>
            <p:cNvPr id="99" name="TextBox 99"/>
            <p:cNvSpPr txBox="1"/>
            <p:nvPr/>
          </p:nvSpPr>
          <p:spPr>
            <a:xfrm>
              <a:off x="8156461" y="208264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智能充电</a:t>
              </a:r>
            </a:p>
          </p:txBody>
        </p:sp>
        <p:sp>
          <p:nvSpPr>
            <p:cNvPr id="100" name="Ellipse 100"/>
            <p:cNvSpPr/>
            <p:nvPr/>
          </p:nvSpPr>
          <p:spPr>
            <a:xfrm>
              <a:off x="6638925" y="3400425"/>
              <a:ext cx="723900" cy="723900"/>
            </a:xfrm>
            <a:prstGeom prst="ellipse">
              <a:avLst/>
            </a:prstGeom>
            <a:solidFill>
              <a:srgbClr val="E9563C"/>
            </a:solidFill>
            <a:ln>
              <a:noFill/>
            </a:ln>
          </p:spPr>
        </p:sp>
        <p:grpSp>
          <p:nvGrpSpPr>
            <p:cNvPr id="104" name="Group 104"/>
            <p:cNvGrpSpPr/>
            <p:nvPr/>
          </p:nvGrpSpPr>
          <p:grpSpPr>
            <a:xfrm>
              <a:off x="6922294" y="3559969"/>
              <a:ext cx="157163" cy="157163"/>
              <a:chOff x="6922294" y="3559969"/>
              <a:chExt cx="157163" cy="157163"/>
            </a:xfrm>
          </p:grpSpPr>
          <p:sp>
            <p:nvSpPr>
              <p:cNvPr id="101" name="Freeform 101"/>
              <p:cNvSpPr/>
              <p:nvPr/>
            </p:nvSpPr>
            <p:spPr>
              <a:xfrm>
                <a:off x="6992144" y="362981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102" name="Freeform 102"/>
              <p:cNvSpPr/>
              <p:nvPr/>
            </p:nvSpPr>
            <p:spPr>
              <a:xfrm>
                <a:off x="6957219" y="359489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103" name="Freeform 103"/>
              <p:cNvSpPr/>
              <p:nvPr/>
            </p:nvSpPr>
            <p:spPr>
              <a:xfrm>
                <a:off x="6922294" y="35599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105" name="TextBox 105"/>
            <p:cNvSpPr txBox="1"/>
            <p:nvPr/>
          </p:nvSpPr>
          <p:spPr>
            <a:xfrm>
              <a:off x="6885724" y="3844766"/>
              <a:ext cx="23030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卫星</a:t>
              </a:r>
            </a:p>
          </p:txBody>
        </p:sp>
        <p:sp>
          <p:nvSpPr>
            <p:cNvPr id="106" name="Ellipse 106"/>
            <p:cNvSpPr/>
            <p:nvPr/>
          </p:nvSpPr>
          <p:spPr>
            <a:xfrm>
              <a:off x="9401175" y="3400425"/>
              <a:ext cx="723900" cy="723900"/>
            </a:xfrm>
            <a:prstGeom prst="ellipse">
              <a:avLst/>
            </a:prstGeom>
            <a:solidFill>
              <a:srgbClr val="E9563C"/>
            </a:solidFill>
            <a:ln>
              <a:noFill/>
            </a:ln>
          </p:spPr>
        </p:sp>
        <p:grpSp>
          <p:nvGrpSpPr>
            <p:cNvPr id="110" name="Group 110"/>
            <p:cNvGrpSpPr/>
            <p:nvPr/>
          </p:nvGrpSpPr>
          <p:grpSpPr>
            <a:xfrm>
              <a:off x="9693275" y="3559969"/>
              <a:ext cx="139700" cy="157162"/>
              <a:chOff x="9693275" y="3559969"/>
              <a:chExt cx="139700" cy="157162"/>
            </a:xfrm>
          </p:grpSpPr>
          <p:sp>
            <p:nvSpPr>
              <p:cNvPr id="107" name="Freeform 107"/>
              <p:cNvSpPr/>
              <p:nvPr/>
            </p:nvSpPr>
            <p:spPr>
              <a:xfrm>
                <a:off x="9693275" y="3559969"/>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FFFFFF"/>
                </a:solidFill>
              </a:ln>
            </p:spPr>
          </p:sp>
          <p:sp>
            <p:nvSpPr>
              <p:cNvPr id="108" name="Freeform 108"/>
              <p:cNvSpPr/>
              <p:nvPr/>
            </p:nvSpPr>
            <p:spPr>
              <a:xfrm>
                <a:off x="9693275" y="3586163"/>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sp>
            <p:nvSpPr>
              <p:cNvPr id="109" name="Freeform 109"/>
              <p:cNvSpPr/>
              <p:nvPr/>
            </p:nvSpPr>
            <p:spPr>
              <a:xfrm>
                <a:off x="9693275" y="3638550"/>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FFFFFF"/>
                </a:solidFill>
              </a:ln>
            </p:spPr>
          </p:sp>
        </p:grpSp>
        <p:sp>
          <p:nvSpPr>
            <p:cNvPr id="111" name="TextBox 111"/>
            <p:cNvSpPr txBox="1"/>
            <p:nvPr/>
          </p:nvSpPr>
          <p:spPr>
            <a:xfrm>
              <a:off x="9537586" y="38447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数据中心</a:t>
              </a:r>
            </a:p>
          </p:txBody>
        </p:sp>
        <p:sp>
          <p:nvSpPr>
            <p:cNvPr id="112" name="Ellipse 112"/>
            <p:cNvSpPr/>
            <p:nvPr/>
          </p:nvSpPr>
          <p:spPr>
            <a:xfrm>
              <a:off x="8020050" y="4638675"/>
              <a:ext cx="723900" cy="723900"/>
            </a:xfrm>
            <a:prstGeom prst="ellipse">
              <a:avLst/>
            </a:prstGeom>
            <a:solidFill>
              <a:srgbClr val="E9563C"/>
            </a:solidFill>
            <a:ln>
              <a:noFill/>
            </a:ln>
          </p:spPr>
        </p:sp>
        <p:grpSp>
          <p:nvGrpSpPr>
            <p:cNvPr id="115" name="Group 115"/>
            <p:cNvGrpSpPr/>
            <p:nvPr/>
          </p:nvGrpSpPr>
          <p:grpSpPr>
            <a:xfrm>
              <a:off x="8303419" y="4833144"/>
              <a:ext cx="157163" cy="87313"/>
              <a:chOff x="8303419" y="4833144"/>
              <a:chExt cx="157163" cy="87313"/>
            </a:xfrm>
          </p:grpSpPr>
          <p:sp>
            <p:nvSpPr>
              <p:cNvPr id="113" name="Freeform 113"/>
              <p:cNvSpPr/>
              <p:nvPr/>
            </p:nvSpPr>
            <p:spPr>
              <a:xfrm>
                <a:off x="8303419" y="4833144"/>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FFFFFF"/>
                </a:solidFill>
              </a:ln>
            </p:spPr>
          </p:sp>
          <p:sp>
            <p:nvSpPr>
              <p:cNvPr id="114" name="Freeform 114"/>
              <p:cNvSpPr/>
              <p:nvPr/>
            </p:nvSpPr>
            <p:spPr>
              <a:xfrm>
                <a:off x="8399463" y="4833144"/>
                <a:ext cx="61119" cy="61119"/>
              </a:xfrm>
              <a:custGeom>
                <a:avLst/>
                <a:gdLst/>
                <a:ahLst/>
                <a:cxnLst/>
                <a:rect l="l" t="t" r="r" b="b"/>
                <a:pathLst>
                  <a:path w="61119" h="61119">
                    <a:moveTo>
                      <a:pt x="0" y="0"/>
                    </a:moveTo>
                    <a:lnTo>
                      <a:pt x="61119" y="0"/>
                    </a:lnTo>
                    <a:lnTo>
                      <a:pt x="61119" y="61119"/>
                    </a:lnTo>
                  </a:path>
                </a:pathLst>
              </a:custGeom>
              <a:noFill/>
              <a:ln w="17463">
                <a:solidFill>
                  <a:srgbClr val="FFFFFF"/>
                </a:solidFill>
              </a:ln>
            </p:spPr>
          </p:sp>
        </p:grpSp>
        <p:sp>
          <p:nvSpPr>
            <p:cNvPr id="116" name="TextBox 116"/>
            <p:cNvSpPr txBox="1"/>
            <p:nvPr/>
          </p:nvSpPr>
          <p:spPr>
            <a:xfrm>
              <a:off x="8156461" y="508301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高铁速度</a:t>
              </a:r>
            </a:p>
          </p:txBody>
        </p:sp>
      </p:grpSp>
      <p:grpSp>
        <p:nvGrpSpPr>
          <p:cNvPr id="127" name="side-right-ticks"/>
          <p:cNvGrpSpPr/>
          <p:nvPr/>
        </p:nvGrpSpPr>
        <p:grpSpPr>
          <a:xfrm>
            <a:off x="11001058" y="2095500"/>
            <a:ext cx="648335" cy="2228850"/>
            <a:chOff x="11001058" y="2095500"/>
            <a:chExt cx="648335" cy="2228850"/>
          </a:xfrm>
        </p:grpSpPr>
        <p:sp>
          <p:nvSpPr>
            <p:cNvPr id="118" name="Line 118"/>
            <p:cNvSpPr/>
            <p:nvPr/>
          </p:nvSpPr>
          <p:spPr>
            <a:xfrm>
              <a:off x="11601450" y="2286000"/>
              <a:ext cx="9525" cy="857250"/>
            </a:xfrm>
            <a:custGeom>
              <a:avLst/>
              <a:gdLst/>
              <a:ahLst/>
              <a:cxnLst/>
              <a:rect l="l" t="t" r="r" b="b"/>
              <a:pathLst>
                <a:path w="9525" h="857250">
                  <a:moveTo>
                    <a:pt x="0" y="0"/>
                  </a:moveTo>
                  <a:lnTo>
                    <a:pt x="0" y="857250"/>
                  </a:lnTo>
                </a:path>
              </a:pathLst>
            </a:custGeom>
            <a:noFill/>
            <a:ln w="19050">
              <a:solidFill>
                <a:srgbClr val="E9563C"/>
              </a:solidFill>
            </a:ln>
          </p:spPr>
        </p:sp>
        <p:sp>
          <p:nvSpPr>
            <p:cNvPr id="119" name="Ellipse 119"/>
            <p:cNvSpPr/>
            <p:nvPr/>
          </p:nvSpPr>
          <p:spPr>
            <a:xfrm>
              <a:off x="11563350" y="3105150"/>
              <a:ext cx="76200" cy="76200"/>
            </a:xfrm>
            <a:prstGeom prst="ellipse">
              <a:avLst/>
            </a:prstGeom>
            <a:solidFill>
              <a:srgbClr val="E9563C"/>
            </a:solidFill>
            <a:ln>
              <a:noFill/>
            </a:ln>
          </p:spPr>
        </p:sp>
        <p:sp>
          <p:nvSpPr>
            <p:cNvPr id="120" name="TextBox 120"/>
            <p:cNvSpPr txBox="1"/>
            <p:nvPr/>
          </p:nvSpPr>
          <p:spPr>
            <a:xfrm>
              <a:off x="11553508" y="2327434"/>
              <a:ext cx="95885" cy="4762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智</a:t>
              </a:r>
              <a:br/>
              <a:r>
                <a:rPr lang="zh-CN" sz="680" dirty="0">
                  <a:solidFill>
                    <a:srgbClr val="595959"/>
                  </a:solidFill>
                  <a:latin typeface="+mn-lt"/>
                  <a:ea typeface="+mn-ea"/>
                  <a:cs typeface="+mn-cs"/>
                </a:rPr>
                <a:t>慧</a:t>
              </a:r>
              <a:br/>
              <a:r>
                <a:rPr lang="zh-CN" sz="680" dirty="0">
                  <a:solidFill>
                    <a:srgbClr val="595959"/>
                  </a:solidFill>
                  <a:latin typeface="+mn-lt"/>
                  <a:ea typeface="+mn-ea"/>
                  <a:cs typeface="+mn-cs"/>
                </a:rPr>
                <a:t>交</a:t>
              </a:r>
              <a:br/>
              <a:r>
                <a:rPr lang="zh-CN" sz="680" dirty="0">
                  <a:solidFill>
                    <a:srgbClr val="595959"/>
                  </a:solidFill>
                  <a:latin typeface="+mn-lt"/>
                  <a:ea typeface="+mn-ea"/>
                  <a:cs typeface="+mn-cs"/>
                </a:rPr>
                <a:t>通</a:t>
              </a:r>
            </a:p>
          </p:txBody>
        </p:sp>
        <p:sp>
          <p:nvSpPr>
            <p:cNvPr id="121" name="Line 121"/>
            <p:cNvSpPr/>
            <p:nvPr/>
          </p:nvSpPr>
          <p:spPr>
            <a:xfrm>
              <a:off x="11049000" y="2095500"/>
              <a:ext cx="9525" cy="857250"/>
            </a:xfrm>
            <a:custGeom>
              <a:avLst/>
              <a:gdLst/>
              <a:ahLst/>
              <a:cxnLst/>
              <a:rect l="l" t="t" r="r" b="b"/>
              <a:pathLst>
                <a:path w="9525" h="857250">
                  <a:moveTo>
                    <a:pt x="0" y="0"/>
                  </a:moveTo>
                  <a:lnTo>
                    <a:pt x="0" y="857250"/>
                  </a:lnTo>
                </a:path>
              </a:pathLst>
            </a:custGeom>
            <a:noFill/>
            <a:ln w="19050">
              <a:solidFill>
                <a:srgbClr val="E9563C"/>
              </a:solidFill>
            </a:ln>
          </p:spPr>
        </p:sp>
        <p:sp>
          <p:nvSpPr>
            <p:cNvPr id="122" name="Ellipse 122"/>
            <p:cNvSpPr/>
            <p:nvPr/>
          </p:nvSpPr>
          <p:spPr>
            <a:xfrm>
              <a:off x="11010900" y="2914650"/>
              <a:ext cx="76200" cy="76200"/>
            </a:xfrm>
            <a:prstGeom prst="ellipse">
              <a:avLst/>
            </a:prstGeom>
            <a:solidFill>
              <a:srgbClr val="E9563C"/>
            </a:solidFill>
            <a:ln>
              <a:noFill/>
            </a:ln>
          </p:spPr>
        </p:sp>
        <p:sp>
          <p:nvSpPr>
            <p:cNvPr id="123" name="TextBox 123"/>
            <p:cNvSpPr txBox="1"/>
            <p:nvPr/>
          </p:nvSpPr>
          <p:spPr>
            <a:xfrm>
              <a:off x="11001058" y="2136934"/>
              <a:ext cx="95885" cy="4762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互</a:t>
              </a:r>
              <a:br/>
              <a:r>
                <a:rPr lang="zh-CN" sz="680" dirty="0">
                  <a:solidFill>
                    <a:srgbClr val="595959"/>
                  </a:solidFill>
                  <a:latin typeface="+mn-lt"/>
                  <a:ea typeface="+mn-ea"/>
                  <a:cs typeface="+mn-cs"/>
                </a:rPr>
                <a:t>联</a:t>
              </a:r>
              <a:br/>
              <a:r>
                <a:rPr lang="zh-CN" sz="680" dirty="0">
                  <a:solidFill>
                    <a:srgbClr val="595959"/>
                  </a:solidFill>
                  <a:latin typeface="+mn-lt"/>
                  <a:ea typeface="+mn-ea"/>
                  <a:cs typeface="+mn-cs"/>
                </a:rPr>
                <a:t>网</a:t>
              </a:r>
              <a:br/>
              <a:r>
                <a:rPr lang="zh-CN" sz="680" dirty="0">
                  <a:solidFill>
                    <a:srgbClr val="595959"/>
                  </a:solidFill>
                  <a:latin typeface="+mn-lt"/>
                  <a:ea typeface="+mn-ea"/>
                  <a:cs typeface="+mn-cs"/>
                </a:rPr>
                <a:t>络</a:t>
              </a:r>
            </a:p>
          </p:txBody>
        </p:sp>
        <p:sp>
          <p:nvSpPr>
            <p:cNvPr id="124" name="Line 124"/>
            <p:cNvSpPr/>
            <p:nvPr/>
          </p:nvSpPr>
          <p:spPr>
            <a:xfrm>
              <a:off x="11334750" y="3429000"/>
              <a:ext cx="9525" cy="857250"/>
            </a:xfrm>
            <a:custGeom>
              <a:avLst/>
              <a:gdLst/>
              <a:ahLst/>
              <a:cxnLst/>
              <a:rect l="l" t="t" r="r" b="b"/>
              <a:pathLst>
                <a:path w="9525" h="857250">
                  <a:moveTo>
                    <a:pt x="0" y="0"/>
                  </a:moveTo>
                  <a:lnTo>
                    <a:pt x="0" y="857250"/>
                  </a:lnTo>
                </a:path>
              </a:pathLst>
            </a:custGeom>
            <a:noFill/>
            <a:ln w="19050">
              <a:solidFill>
                <a:srgbClr val="E9563C"/>
              </a:solidFill>
            </a:ln>
          </p:spPr>
        </p:sp>
        <p:sp>
          <p:nvSpPr>
            <p:cNvPr id="125" name="Ellipse 125"/>
            <p:cNvSpPr/>
            <p:nvPr/>
          </p:nvSpPr>
          <p:spPr>
            <a:xfrm>
              <a:off x="11296650" y="4248150"/>
              <a:ext cx="76200" cy="76200"/>
            </a:xfrm>
            <a:prstGeom prst="ellipse">
              <a:avLst/>
            </a:prstGeom>
            <a:solidFill>
              <a:srgbClr val="E9563C"/>
            </a:solidFill>
            <a:ln>
              <a:noFill/>
            </a:ln>
          </p:spPr>
        </p:sp>
        <p:sp>
          <p:nvSpPr>
            <p:cNvPr id="126" name="TextBox 126"/>
            <p:cNvSpPr txBox="1"/>
            <p:nvPr/>
          </p:nvSpPr>
          <p:spPr>
            <a:xfrm>
              <a:off x="11286808" y="3470434"/>
              <a:ext cx="95885" cy="4762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智</a:t>
              </a:r>
              <a:br/>
              <a:r>
                <a:rPr lang="zh-CN" sz="680" dirty="0">
                  <a:solidFill>
                    <a:srgbClr val="595959"/>
                  </a:solidFill>
                  <a:latin typeface="+mn-lt"/>
                  <a:ea typeface="+mn-ea"/>
                  <a:cs typeface="+mn-cs"/>
                </a:rPr>
                <a:t>慧</a:t>
              </a:r>
              <a:br/>
              <a:r>
                <a:rPr lang="zh-CN" sz="680" dirty="0">
                  <a:solidFill>
                    <a:srgbClr val="595959"/>
                  </a:solidFill>
                  <a:latin typeface="+mn-lt"/>
                  <a:ea typeface="+mn-ea"/>
                  <a:cs typeface="+mn-cs"/>
                </a:rPr>
                <a:t>能</a:t>
              </a:r>
              <a:br/>
              <a:r>
                <a:rPr lang="zh-CN" sz="680" dirty="0">
                  <a:solidFill>
                    <a:srgbClr val="595959"/>
                  </a:solidFill>
                  <a:latin typeface="+mn-lt"/>
                  <a:ea typeface="+mn-ea"/>
                  <a:cs typeface="+mn-cs"/>
                </a:rPr>
                <a:t>源</a:t>
              </a:r>
            </a:p>
          </p:txBody>
        </p:sp>
      </p:grpSp>
      <p:grpSp>
        <p:nvGrpSpPr>
          <p:cNvPr id="140" name="bottom-left"/>
          <p:cNvGrpSpPr/>
          <p:nvPr/>
        </p:nvGrpSpPr>
        <p:grpSpPr>
          <a:xfrm>
            <a:off x="469786" y="5657850"/>
            <a:ext cx="1194029" cy="673037"/>
            <a:chOff x="469786" y="5657850"/>
            <a:chExt cx="1194029" cy="673037"/>
          </a:xfrm>
        </p:grpSpPr>
        <p:grpSp>
          <p:nvGrpSpPr>
            <p:cNvPr id="132" name="Group 132"/>
            <p:cNvGrpSpPr/>
            <p:nvPr/>
          </p:nvGrpSpPr>
          <p:grpSpPr>
            <a:xfrm>
              <a:off x="602456" y="5669756"/>
              <a:ext cx="185737" cy="185738"/>
              <a:chOff x="602456" y="5669756"/>
              <a:chExt cx="185737" cy="185738"/>
            </a:xfrm>
          </p:grpSpPr>
          <p:sp>
            <p:nvSpPr>
              <p:cNvPr id="128" name="Freeform 128"/>
              <p:cNvSpPr/>
              <p:nvPr/>
            </p:nvSpPr>
            <p:spPr>
              <a:xfrm>
                <a:off x="623094" y="56697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9C594C"/>
                </a:solidFill>
              </a:ln>
            </p:spPr>
          </p:sp>
          <p:sp>
            <p:nvSpPr>
              <p:cNvPr id="129" name="Freeform 129"/>
              <p:cNvSpPr/>
              <p:nvPr/>
            </p:nvSpPr>
            <p:spPr>
              <a:xfrm>
                <a:off x="602456" y="57935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9C594C"/>
                </a:solidFill>
              </a:ln>
            </p:spPr>
          </p:sp>
          <p:sp>
            <p:nvSpPr>
              <p:cNvPr id="130" name="Freeform 130"/>
              <p:cNvSpPr/>
              <p:nvPr/>
            </p:nvSpPr>
            <p:spPr>
              <a:xfrm>
                <a:off x="736599" y="56710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9C594C"/>
                </a:solidFill>
              </a:ln>
            </p:spPr>
          </p:sp>
          <p:sp>
            <p:nvSpPr>
              <p:cNvPr id="131" name="Freeform 131"/>
              <p:cNvSpPr/>
              <p:nvPr/>
            </p:nvSpPr>
            <p:spPr>
              <a:xfrm>
                <a:off x="757237" y="57951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9C594C"/>
                </a:solidFill>
              </a:ln>
            </p:spPr>
          </p:sp>
        </p:grpSp>
        <p:sp>
          <p:nvSpPr>
            <p:cNvPr id="133" name="TextBox 133"/>
            <p:cNvSpPr txBox="1"/>
            <p:nvPr/>
          </p:nvSpPr>
          <p:spPr>
            <a:xfrm>
              <a:off x="469786" y="59497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产业基础</a:t>
              </a:r>
            </a:p>
          </p:txBody>
        </p:sp>
        <p:sp>
          <p:nvSpPr>
            <p:cNvPr id="134" name="Line 134"/>
            <p:cNvSpPr/>
            <p:nvPr/>
          </p:nvSpPr>
          <p:spPr>
            <a:xfrm>
              <a:off x="1066800" y="5657850"/>
              <a:ext cx="9525" cy="400050"/>
            </a:xfrm>
            <a:custGeom>
              <a:avLst/>
              <a:gdLst/>
              <a:ahLst/>
              <a:cxnLst/>
              <a:rect l="l" t="t" r="r" b="b"/>
              <a:pathLst>
                <a:path w="9525" h="400050">
                  <a:moveTo>
                    <a:pt x="0" y="0"/>
                  </a:moveTo>
                  <a:lnTo>
                    <a:pt x="0" y="400050"/>
                  </a:lnTo>
                </a:path>
              </a:pathLst>
            </a:custGeom>
            <a:noFill/>
            <a:ln w="9525">
              <a:solidFill>
                <a:srgbClr val="C9D8BD"/>
              </a:solidFill>
            </a:ln>
          </p:spPr>
        </p:sp>
        <p:grpSp>
          <p:nvGrpSpPr>
            <p:cNvPr id="137" name="Group 137"/>
            <p:cNvGrpSpPr/>
            <p:nvPr/>
          </p:nvGrpSpPr>
          <p:grpSpPr>
            <a:xfrm>
              <a:off x="1335087" y="5690394"/>
              <a:ext cx="206374" cy="144461"/>
              <a:chOff x="1335087" y="5690394"/>
              <a:chExt cx="206374" cy="144461"/>
            </a:xfrm>
          </p:grpSpPr>
          <p:sp>
            <p:nvSpPr>
              <p:cNvPr id="135" name="Freeform 135"/>
              <p:cNvSpPr/>
              <p:nvPr/>
            </p:nvSpPr>
            <p:spPr>
              <a:xfrm>
                <a:off x="1335087" y="5690394"/>
                <a:ext cx="206374" cy="103187"/>
              </a:xfrm>
              <a:custGeom>
                <a:avLst/>
                <a:gdLst/>
                <a:ahLst/>
                <a:cxnLst/>
                <a:rect l="l" t="t" r="r" b="b"/>
                <a:pathLst>
                  <a:path w="206374" h="103187">
                    <a:moveTo>
                      <a:pt x="206374" y="41275"/>
                    </a:moveTo>
                    <a:lnTo>
                      <a:pt x="103187" y="0"/>
                    </a:lnTo>
                    <a:lnTo>
                      <a:pt x="0" y="41275"/>
                    </a:lnTo>
                    <a:lnTo>
                      <a:pt x="103187" y="82550"/>
                    </a:lnTo>
                    <a:lnTo>
                      <a:pt x="206374" y="41275"/>
                    </a:lnTo>
                    <a:lnTo>
                      <a:pt x="206374" y="103187"/>
                    </a:lnTo>
                  </a:path>
                </a:pathLst>
              </a:custGeom>
              <a:noFill/>
              <a:ln w="20637">
                <a:solidFill>
                  <a:srgbClr val="9C594C"/>
                </a:solidFill>
              </a:ln>
            </p:spPr>
          </p:sp>
          <p:sp>
            <p:nvSpPr>
              <p:cNvPr id="136" name="Freeform 136"/>
              <p:cNvSpPr/>
              <p:nvPr/>
            </p:nvSpPr>
            <p:spPr>
              <a:xfrm>
                <a:off x="1376362" y="5748178"/>
                <a:ext cx="123825" cy="86677"/>
              </a:xfrm>
              <a:custGeom>
                <a:avLst/>
                <a:gdLst/>
                <a:ahLst/>
                <a:cxnLst/>
                <a:rect l="l" t="t" r="r" b="b"/>
                <a:pathLst>
                  <a:path w="123825" h="86677">
                    <a:moveTo>
                      <a:pt x="0" y="0"/>
                    </a:moveTo>
                    <a:lnTo>
                      <a:pt x="0" y="55721"/>
                    </a:lnTo>
                    <a:cubicBezTo>
                      <a:pt x="0" y="72818"/>
                      <a:pt x="27719" y="86677"/>
                      <a:pt x="61912" y="86677"/>
                    </a:cubicBezTo>
                    <a:cubicBezTo>
                      <a:pt x="96106" y="86677"/>
                      <a:pt x="123825" y="72818"/>
                      <a:pt x="123825" y="55721"/>
                    </a:cubicBezTo>
                    <a:lnTo>
                      <a:pt x="123825" y="0"/>
                    </a:lnTo>
                  </a:path>
                </a:pathLst>
              </a:custGeom>
              <a:noFill/>
              <a:ln w="20637">
                <a:solidFill>
                  <a:srgbClr val="9C594C"/>
                </a:solidFill>
              </a:ln>
            </p:spPr>
          </p:sp>
        </p:grpSp>
        <p:sp>
          <p:nvSpPr>
            <p:cNvPr id="138" name="TextBox 138"/>
            <p:cNvSpPr txBox="1"/>
            <p:nvPr/>
          </p:nvSpPr>
          <p:spPr>
            <a:xfrm>
              <a:off x="1212736" y="59497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科教基础</a:t>
              </a:r>
            </a:p>
          </p:txBody>
        </p:sp>
        <p:sp>
          <p:nvSpPr>
            <p:cNvPr id="139" name="TextBox 139"/>
            <p:cNvSpPr txBox="1"/>
            <p:nvPr/>
          </p:nvSpPr>
          <p:spPr>
            <a:xfrm>
              <a:off x="489966" y="6125528"/>
              <a:ext cx="858774" cy="205359"/>
            </a:xfrm>
            <a:prstGeom prst="rect">
              <a:avLst/>
            </a:prstGeom>
            <a:noFill/>
            <a:ln>
              <a:noFill/>
            </a:ln>
          </p:spPr>
          <p:txBody>
            <a:bodyPr wrap="none" lIns="0" tIns="0" rIns="0" bIns="0" anchor="t" anchorCtr="0">
              <a:spAutoFit/>
            </a:bodyPr>
            <a:lstStyle/>
            <a:p>
              <a:pPr algn="l"/>
              <a:r>
                <a:rPr lang="zh-CN" sz="1050" b="1" dirty="0">
                  <a:solidFill>
                    <a:srgbClr val="7A3E33"/>
                  </a:solidFill>
                  <a:latin typeface="+mn-lt"/>
                  <a:ea typeface="+mn-ea"/>
                  <a:cs typeface="+mn-cs"/>
                </a:rPr>
                <a:t>算力基础设施</a:t>
              </a:r>
            </a:p>
          </p:txBody>
        </p:sp>
      </p:grpSp>
      <p:grpSp>
        <p:nvGrpSpPr>
          <p:cNvPr id="152" name="bottom-right"/>
          <p:cNvGrpSpPr/>
          <p:nvPr/>
        </p:nvGrpSpPr>
        <p:grpSpPr>
          <a:xfrm>
            <a:off x="10280536" y="5657850"/>
            <a:ext cx="1421498" cy="673037"/>
            <a:chOff x="10280536" y="5657850"/>
            <a:chExt cx="1421498" cy="673037"/>
          </a:xfrm>
        </p:grpSpPr>
        <p:grpSp>
          <p:nvGrpSpPr>
            <p:cNvPr id="143" name="Group 143"/>
            <p:cNvGrpSpPr/>
            <p:nvPr/>
          </p:nvGrpSpPr>
          <p:grpSpPr>
            <a:xfrm>
              <a:off x="10433844" y="5670729"/>
              <a:ext cx="144462" cy="184764"/>
              <a:chOff x="10433844" y="5670729"/>
              <a:chExt cx="144462" cy="184764"/>
            </a:xfrm>
          </p:grpSpPr>
          <p:sp>
            <p:nvSpPr>
              <p:cNvPr id="141" name="Freeform 141"/>
              <p:cNvSpPr/>
              <p:nvPr/>
            </p:nvSpPr>
            <p:spPr>
              <a:xfrm>
                <a:off x="10433844" y="5670729"/>
                <a:ext cx="144462" cy="132198"/>
              </a:xfrm>
              <a:custGeom>
                <a:avLst/>
                <a:gdLst/>
                <a:ahLst/>
                <a:cxnLst/>
                <a:rect l="l" t="t" r="r" b="b"/>
                <a:pathLst>
                  <a:path w="144462" h="132198">
                    <a:moveTo>
                      <a:pt x="0" y="19665"/>
                    </a:moveTo>
                    <a:cubicBezTo>
                      <a:pt x="20062" y="0"/>
                      <a:pt x="52169" y="0"/>
                      <a:pt x="72231" y="19665"/>
                    </a:cubicBezTo>
                    <a:cubicBezTo>
                      <a:pt x="92293" y="39329"/>
                      <a:pt x="124400" y="39329"/>
                      <a:pt x="144462" y="19665"/>
                    </a:cubicBezTo>
                    <a:lnTo>
                      <a:pt x="144462" y="112533"/>
                    </a:lnTo>
                    <a:cubicBezTo>
                      <a:pt x="124400" y="132198"/>
                      <a:pt x="92293" y="132198"/>
                      <a:pt x="72231" y="112533"/>
                    </a:cubicBezTo>
                    <a:cubicBezTo>
                      <a:pt x="52169" y="92868"/>
                      <a:pt x="20062" y="92868"/>
                      <a:pt x="0" y="112533"/>
                    </a:cubicBezTo>
                    <a:lnTo>
                      <a:pt x="0" y="19665"/>
                    </a:lnTo>
                  </a:path>
                </a:pathLst>
              </a:custGeom>
              <a:noFill/>
              <a:ln w="20637">
                <a:solidFill>
                  <a:srgbClr val="E9563C"/>
                </a:solidFill>
              </a:ln>
            </p:spPr>
          </p:sp>
          <p:sp>
            <p:nvSpPr>
              <p:cNvPr id="142" name="Freeform 142"/>
              <p:cNvSpPr/>
              <p:nvPr/>
            </p:nvSpPr>
            <p:spPr>
              <a:xfrm>
                <a:off x="10433844" y="5783262"/>
                <a:ext cx="9525" cy="72231"/>
              </a:xfrm>
              <a:custGeom>
                <a:avLst/>
                <a:gdLst/>
                <a:ahLst/>
                <a:cxnLst/>
                <a:rect l="l" t="t" r="r" b="b"/>
                <a:pathLst>
                  <a:path w="9525" h="72231">
                    <a:moveTo>
                      <a:pt x="0" y="72231"/>
                    </a:moveTo>
                    <a:lnTo>
                      <a:pt x="0" y="0"/>
                    </a:lnTo>
                  </a:path>
                </a:pathLst>
              </a:custGeom>
              <a:noFill/>
              <a:ln w="20637">
                <a:solidFill>
                  <a:srgbClr val="E9563C"/>
                </a:solidFill>
              </a:ln>
            </p:spPr>
          </p:sp>
        </p:grpSp>
        <p:sp>
          <p:nvSpPr>
            <p:cNvPr id="144" name="TextBox 144"/>
            <p:cNvSpPr txBox="1"/>
            <p:nvPr/>
          </p:nvSpPr>
          <p:spPr>
            <a:xfrm>
              <a:off x="10280536" y="59497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交通基础</a:t>
              </a:r>
            </a:p>
          </p:txBody>
        </p:sp>
        <p:sp>
          <p:nvSpPr>
            <p:cNvPr id="145" name="Line 145"/>
            <p:cNvSpPr/>
            <p:nvPr/>
          </p:nvSpPr>
          <p:spPr>
            <a:xfrm>
              <a:off x="10877550" y="5657850"/>
              <a:ext cx="9525" cy="400050"/>
            </a:xfrm>
            <a:custGeom>
              <a:avLst/>
              <a:gdLst/>
              <a:ahLst/>
              <a:cxnLst/>
              <a:rect l="l" t="t" r="r" b="b"/>
              <a:pathLst>
                <a:path w="9525" h="400050">
                  <a:moveTo>
                    <a:pt x="0" y="0"/>
                  </a:moveTo>
                  <a:lnTo>
                    <a:pt x="0" y="400050"/>
                  </a:lnTo>
                </a:path>
              </a:pathLst>
            </a:custGeom>
            <a:noFill/>
            <a:ln w="9525">
              <a:solidFill>
                <a:srgbClr val="E8B5AC"/>
              </a:solidFill>
            </a:ln>
          </p:spPr>
        </p:sp>
        <p:grpSp>
          <p:nvGrpSpPr>
            <p:cNvPr id="149" name="Group 149"/>
            <p:cNvGrpSpPr/>
            <p:nvPr/>
          </p:nvGrpSpPr>
          <p:grpSpPr>
            <a:xfrm>
              <a:off x="11156156" y="5669756"/>
              <a:ext cx="185737" cy="185737"/>
              <a:chOff x="11156156" y="5669756"/>
              <a:chExt cx="185737" cy="185737"/>
            </a:xfrm>
          </p:grpSpPr>
          <p:sp>
            <p:nvSpPr>
              <p:cNvPr id="146" name="Freeform 146"/>
              <p:cNvSpPr/>
              <p:nvPr/>
            </p:nvSpPr>
            <p:spPr>
              <a:xfrm>
                <a:off x="11156156" y="5669756"/>
                <a:ext cx="185737" cy="92868"/>
              </a:xfrm>
              <a:custGeom>
                <a:avLst/>
                <a:gdLst/>
                <a:ahLst/>
                <a:cxnLst/>
                <a:rect l="l" t="t" r="r" b="b"/>
                <a:pathLst>
                  <a:path w="185737" h="92868">
                    <a:moveTo>
                      <a:pt x="0" y="92868"/>
                    </a:moveTo>
                    <a:lnTo>
                      <a:pt x="10319" y="92868"/>
                    </a:lnTo>
                    <a:moveTo>
                      <a:pt x="92868" y="0"/>
                    </a:moveTo>
                    <a:lnTo>
                      <a:pt x="92868" y="10319"/>
                    </a:lnTo>
                    <a:moveTo>
                      <a:pt x="175418" y="92868"/>
                    </a:moveTo>
                    <a:lnTo>
                      <a:pt x="185737" y="92868"/>
                    </a:lnTo>
                    <a:moveTo>
                      <a:pt x="26829" y="26829"/>
                    </a:moveTo>
                    <a:lnTo>
                      <a:pt x="34052" y="34052"/>
                    </a:lnTo>
                    <a:moveTo>
                      <a:pt x="158908" y="26829"/>
                    </a:moveTo>
                    <a:lnTo>
                      <a:pt x="151685" y="34052"/>
                    </a:lnTo>
                  </a:path>
                </a:pathLst>
              </a:custGeom>
              <a:noFill/>
              <a:ln w="20637">
                <a:solidFill>
                  <a:srgbClr val="E9563C"/>
                </a:solidFill>
              </a:ln>
            </p:spPr>
          </p:sp>
          <p:sp>
            <p:nvSpPr>
              <p:cNvPr id="147" name="Freeform 147"/>
              <p:cNvSpPr/>
              <p:nvPr/>
            </p:nvSpPr>
            <p:spPr>
              <a:xfrm>
                <a:off x="11193056" y="5711031"/>
                <a:ext cx="111937" cy="144462"/>
              </a:xfrm>
              <a:custGeom>
                <a:avLst/>
                <a:gdLst/>
                <a:ahLst/>
                <a:cxnLst/>
                <a:rect l="l" t="t" r="r" b="b"/>
                <a:pathLst>
                  <a:path w="111937" h="144462">
                    <a:moveTo>
                      <a:pt x="25012" y="92868"/>
                    </a:moveTo>
                    <a:cubicBezTo>
                      <a:pt x="7246" y="79544"/>
                      <a:pt x="0" y="56346"/>
                      <a:pt x="7023" y="35278"/>
                    </a:cubicBezTo>
                    <a:cubicBezTo>
                      <a:pt x="14045" y="14210"/>
                      <a:pt x="33761" y="0"/>
                      <a:pt x="55969" y="0"/>
                    </a:cubicBezTo>
                    <a:cubicBezTo>
                      <a:pt x="78176" y="0"/>
                      <a:pt x="97892" y="14210"/>
                      <a:pt x="104915" y="35278"/>
                    </a:cubicBezTo>
                    <a:cubicBezTo>
                      <a:pt x="111937" y="56346"/>
                      <a:pt x="104691" y="79544"/>
                      <a:pt x="86925" y="92868"/>
                    </a:cubicBezTo>
                    <a:cubicBezTo>
                      <a:pt x="78754" y="100957"/>
                      <a:pt x="74922" y="112452"/>
                      <a:pt x="76606" y="123825"/>
                    </a:cubicBezTo>
                    <a:cubicBezTo>
                      <a:pt x="76606" y="135222"/>
                      <a:pt x="67366" y="144462"/>
                      <a:pt x="55969" y="144462"/>
                    </a:cubicBezTo>
                    <a:cubicBezTo>
                      <a:pt x="44571" y="144462"/>
                      <a:pt x="35331" y="135222"/>
                      <a:pt x="35331" y="123825"/>
                    </a:cubicBezTo>
                    <a:cubicBezTo>
                      <a:pt x="37015" y="112452"/>
                      <a:pt x="33183" y="100957"/>
                      <a:pt x="25012" y="92868"/>
                    </a:cubicBezTo>
                  </a:path>
                </a:pathLst>
              </a:custGeom>
              <a:noFill/>
              <a:ln w="20637">
                <a:solidFill>
                  <a:srgbClr val="E9563C"/>
                </a:solidFill>
              </a:ln>
            </p:spPr>
          </p:sp>
          <p:sp>
            <p:nvSpPr>
              <p:cNvPr id="148" name="Freeform 148"/>
              <p:cNvSpPr/>
              <p:nvPr/>
            </p:nvSpPr>
            <p:spPr>
              <a:xfrm>
                <a:off x="11225292" y="5814218"/>
                <a:ext cx="47466" cy="9525"/>
              </a:xfrm>
              <a:custGeom>
                <a:avLst/>
                <a:gdLst/>
                <a:ahLst/>
                <a:cxnLst/>
                <a:rect l="l" t="t" r="r" b="b"/>
                <a:pathLst>
                  <a:path w="47466" h="9525">
                    <a:moveTo>
                      <a:pt x="0" y="0"/>
                    </a:moveTo>
                    <a:lnTo>
                      <a:pt x="47466" y="0"/>
                    </a:lnTo>
                  </a:path>
                </a:pathLst>
              </a:custGeom>
              <a:noFill/>
              <a:ln w="20637">
                <a:solidFill>
                  <a:srgbClr val="E9563C"/>
                </a:solidFill>
              </a:ln>
            </p:spPr>
          </p:sp>
        </p:grpSp>
        <p:sp>
          <p:nvSpPr>
            <p:cNvPr id="150" name="TextBox 150"/>
            <p:cNvSpPr txBox="1"/>
            <p:nvPr/>
          </p:nvSpPr>
          <p:spPr>
            <a:xfrm>
              <a:off x="11023486" y="5949791"/>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能源基础</a:t>
              </a:r>
            </a:p>
          </p:txBody>
        </p:sp>
        <p:sp>
          <p:nvSpPr>
            <p:cNvPr id="151" name="TextBox 151"/>
            <p:cNvSpPr txBox="1"/>
            <p:nvPr/>
          </p:nvSpPr>
          <p:spPr>
            <a:xfrm>
              <a:off x="10843260" y="6125528"/>
              <a:ext cx="858774" cy="205359"/>
            </a:xfrm>
            <a:prstGeom prst="rect">
              <a:avLst/>
            </a:prstGeom>
            <a:noFill/>
            <a:ln>
              <a:noFill/>
            </a:ln>
          </p:spPr>
          <p:txBody>
            <a:bodyPr wrap="none" lIns="0" tIns="0" rIns="0" bIns="0" anchor="t" anchorCtr="0">
              <a:spAutoFit/>
            </a:bodyPr>
            <a:lstStyle/>
            <a:p>
              <a:pPr algn="r"/>
              <a:r>
                <a:rPr lang="zh-CN" sz="1050" b="1" dirty="0">
                  <a:solidFill>
                    <a:srgbClr val="333333"/>
                  </a:solidFill>
                  <a:latin typeface="+mn-lt"/>
                  <a:ea typeface="+mn-ea"/>
                  <a:cs typeface="+mn-cs"/>
                </a:rPr>
                <a:t>算力基础设施</a:t>
              </a:r>
            </a:p>
          </p:txBody>
        </p:sp>
      </p:grpSp>
      <p:grpSp>
        <p:nvGrpSpPr>
          <p:cNvPr id="155" name="page-footer"/>
          <p:cNvGrpSpPr/>
          <p:nvPr/>
        </p:nvGrpSpPr>
        <p:grpSpPr>
          <a:xfrm>
            <a:off x="376238" y="6689884"/>
            <a:ext cx="11439524" cy="133350"/>
            <a:chOff x="376238" y="6689884"/>
            <a:chExt cx="11439524" cy="133350"/>
          </a:xfrm>
        </p:grpSpPr>
        <p:sp>
          <p:nvSpPr>
            <p:cNvPr id="153" name="TextBox 153"/>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54" name="TextBox 154"/>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23</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Line 8"/>
          <p:cNvSpPr/>
          <p:nvPr/>
        </p:nvSpPr>
        <p:spPr>
          <a:xfrm>
            <a:off x="3352800" y="2581275"/>
            <a:ext cx="1123950" cy="238125"/>
          </a:xfrm>
          <a:custGeom>
            <a:avLst/>
            <a:gdLst/>
            <a:ahLst/>
            <a:cxnLst/>
            <a:rect l="l" t="t" r="r" b="b"/>
            <a:pathLst>
              <a:path w="1123950" h="238125">
                <a:moveTo>
                  <a:pt x="0" y="0"/>
                </a:moveTo>
                <a:lnTo>
                  <a:pt x="1123950" y="238125"/>
                </a:lnTo>
              </a:path>
            </a:pathLst>
          </a:custGeom>
          <a:noFill/>
          <a:ln w="9525">
            <a:solidFill>
              <a:srgbClr val="E9563C"/>
            </a:solidFill>
            <a:custDash>
              <a:ds d="300000" sp="300000"/>
            </a:custDash>
          </a:ln>
        </p:spPr>
      </p:sp>
      <p:sp>
        <p:nvSpPr>
          <p:cNvPr id="9" name="Line 9"/>
          <p:cNvSpPr/>
          <p:nvPr/>
        </p:nvSpPr>
        <p:spPr>
          <a:xfrm>
            <a:off x="3352800" y="3200400"/>
            <a:ext cx="1085850" cy="47625"/>
          </a:xfrm>
          <a:custGeom>
            <a:avLst/>
            <a:gdLst/>
            <a:ahLst/>
            <a:cxnLst/>
            <a:rect l="l" t="t" r="r" b="b"/>
            <a:pathLst>
              <a:path w="1085850" h="47625">
                <a:moveTo>
                  <a:pt x="0" y="47625"/>
                </a:moveTo>
                <a:lnTo>
                  <a:pt x="1085850" y="0"/>
                </a:lnTo>
              </a:path>
            </a:pathLst>
          </a:custGeom>
          <a:noFill/>
          <a:ln w="9525">
            <a:solidFill>
              <a:srgbClr val="E9563C"/>
            </a:solidFill>
            <a:custDash>
              <a:ds d="300000" sp="300000"/>
            </a:custDash>
          </a:ln>
        </p:spPr>
      </p:sp>
      <p:sp>
        <p:nvSpPr>
          <p:cNvPr id="10" name="Line 10"/>
          <p:cNvSpPr/>
          <p:nvPr/>
        </p:nvSpPr>
        <p:spPr>
          <a:xfrm>
            <a:off x="3352800" y="3543300"/>
            <a:ext cx="1123950" cy="371475"/>
          </a:xfrm>
          <a:custGeom>
            <a:avLst/>
            <a:gdLst/>
            <a:ahLst/>
            <a:cxnLst/>
            <a:rect l="l" t="t" r="r" b="b"/>
            <a:pathLst>
              <a:path w="1123950" h="371475">
                <a:moveTo>
                  <a:pt x="0" y="371475"/>
                </a:moveTo>
                <a:lnTo>
                  <a:pt x="1123950" y="0"/>
                </a:lnTo>
              </a:path>
            </a:pathLst>
          </a:custGeom>
          <a:noFill/>
          <a:ln w="9525">
            <a:solidFill>
              <a:srgbClr val="E9563C"/>
            </a:solidFill>
            <a:custDash>
              <a:ds d="300000" sp="300000"/>
            </a:custDash>
          </a:ln>
        </p:spPr>
      </p:sp>
      <p:sp>
        <p:nvSpPr>
          <p:cNvPr id="11" name="Line 11"/>
          <p:cNvSpPr/>
          <p:nvPr/>
        </p:nvSpPr>
        <p:spPr>
          <a:xfrm>
            <a:off x="7715250" y="2581275"/>
            <a:ext cx="1123950" cy="238125"/>
          </a:xfrm>
          <a:custGeom>
            <a:avLst/>
            <a:gdLst/>
            <a:ahLst/>
            <a:cxnLst/>
            <a:rect l="l" t="t" r="r" b="b"/>
            <a:pathLst>
              <a:path w="1123950" h="238125">
                <a:moveTo>
                  <a:pt x="1123950" y="0"/>
                </a:moveTo>
                <a:lnTo>
                  <a:pt x="0" y="238125"/>
                </a:lnTo>
              </a:path>
            </a:pathLst>
          </a:custGeom>
          <a:noFill/>
          <a:ln w="9525">
            <a:solidFill>
              <a:srgbClr val="9C594C"/>
            </a:solidFill>
            <a:custDash>
              <a:ds d="300000" sp="300000"/>
            </a:custDash>
          </a:ln>
        </p:spPr>
      </p:sp>
      <p:sp>
        <p:nvSpPr>
          <p:cNvPr id="12" name="Line 12"/>
          <p:cNvSpPr/>
          <p:nvPr/>
        </p:nvSpPr>
        <p:spPr>
          <a:xfrm>
            <a:off x="7753350" y="3200400"/>
            <a:ext cx="1085850" cy="47625"/>
          </a:xfrm>
          <a:custGeom>
            <a:avLst/>
            <a:gdLst/>
            <a:ahLst/>
            <a:cxnLst/>
            <a:rect l="l" t="t" r="r" b="b"/>
            <a:pathLst>
              <a:path w="1085850" h="47625">
                <a:moveTo>
                  <a:pt x="1085850" y="47625"/>
                </a:moveTo>
                <a:lnTo>
                  <a:pt x="0" y="0"/>
                </a:lnTo>
              </a:path>
            </a:pathLst>
          </a:custGeom>
          <a:noFill/>
          <a:ln w="9525">
            <a:solidFill>
              <a:srgbClr val="9C594C"/>
            </a:solidFill>
            <a:custDash>
              <a:ds d="300000" sp="300000"/>
            </a:custDash>
          </a:ln>
        </p:spPr>
      </p:sp>
      <p:sp>
        <p:nvSpPr>
          <p:cNvPr id="13" name="Line 13"/>
          <p:cNvSpPr/>
          <p:nvPr/>
        </p:nvSpPr>
        <p:spPr>
          <a:xfrm>
            <a:off x="7715250" y="3543300"/>
            <a:ext cx="1123950" cy="371475"/>
          </a:xfrm>
          <a:custGeom>
            <a:avLst/>
            <a:gdLst/>
            <a:ahLst/>
            <a:cxnLst/>
            <a:rect l="l" t="t" r="r" b="b"/>
            <a:pathLst>
              <a:path w="1123950" h="371475">
                <a:moveTo>
                  <a:pt x="1123950" y="371475"/>
                </a:moveTo>
                <a:lnTo>
                  <a:pt x="0" y="0"/>
                </a:lnTo>
              </a:path>
            </a:pathLst>
          </a:custGeom>
          <a:noFill/>
          <a:ln w="9525">
            <a:solidFill>
              <a:srgbClr val="9C594C"/>
            </a:solidFill>
            <a:custDash>
              <a:ds d="300000" sp="300000"/>
            </a:custDash>
          </a:ln>
        </p:spPr>
      </p:sp>
      <p:grpSp>
        <p:nvGrpSpPr>
          <p:cNvPr id="19" name="vtext-left"/>
          <p:cNvGrpSpPr/>
          <p:nvPr/>
        </p:nvGrpSpPr>
        <p:grpSpPr>
          <a:xfrm>
            <a:off x="489204" y="1127760"/>
            <a:ext cx="435039" cy="4235196"/>
            <a:chOff x="489204" y="1127760"/>
            <a:chExt cx="435039" cy="4235196"/>
          </a:xfrm>
        </p:grpSpPr>
        <p:sp>
          <p:nvSpPr>
            <p:cNvPr id="14" name="TextBox 14"/>
            <p:cNvSpPr txBox="1"/>
            <p:nvPr/>
          </p:nvSpPr>
          <p:spPr>
            <a:xfrm>
              <a:off x="489204" y="1127760"/>
              <a:ext cx="164592" cy="4235196"/>
            </a:xfrm>
            <a:prstGeom prst="rect">
              <a:avLst/>
            </a:prstGeom>
            <a:noFill/>
            <a:ln>
              <a:noFill/>
            </a:ln>
          </p:spPr>
          <p:txBody>
            <a:bodyPr wrap="none" lIns="0" tIns="0" rIns="0" bIns="0" anchor="t" anchorCtr="0">
              <a:spAutoFit/>
            </a:bodyPr>
            <a:lstStyle/>
            <a:p>
              <a:pPr algn="ctr">
                <a:lnSpc>
                  <a:spcPts val="2250"/>
                </a:lnSpc>
              </a:pPr>
              <a:r>
                <a:rPr lang="zh-CN" sz="1200" b="1" dirty="0">
                  <a:solidFill>
                    <a:srgbClr val="D6391E"/>
                  </a:solidFill>
                  <a:latin typeface="+mn-lt"/>
                  <a:ea typeface="+mn-ea"/>
                  <a:cs typeface="+mn-cs"/>
                </a:rPr>
                <a:t>用</a:t>
              </a:r>
              <a:br/>
              <a:r>
                <a:rPr lang="zh-CN" sz="1200" b="1" dirty="0">
                  <a:solidFill>
                    <a:srgbClr val="D6391E"/>
                  </a:solidFill>
                  <a:latin typeface="+mn-lt"/>
                  <a:ea typeface="+mn-ea"/>
                  <a:cs typeface="+mn-cs"/>
                </a:rPr>
                <a:t>户</a:t>
              </a:r>
              <a:br/>
              <a:r>
                <a:rPr lang="zh-CN" sz="1200" b="1" dirty="0">
                  <a:solidFill>
                    <a:srgbClr val="D6391E"/>
                  </a:solidFill>
                  <a:latin typeface="+mn-lt"/>
                  <a:ea typeface="+mn-ea"/>
                  <a:cs typeface="+mn-cs"/>
                </a:rPr>
                <a:t>自</a:t>
              </a:r>
              <a:br/>
              <a:r>
                <a:rPr lang="zh-CN" sz="1200" b="1" dirty="0">
                  <a:solidFill>
                    <a:srgbClr val="D6391E"/>
                  </a:solidFill>
                  <a:latin typeface="+mn-lt"/>
                  <a:ea typeface="+mn-ea"/>
                  <a:cs typeface="+mn-cs"/>
                </a:rPr>
                <a:t>主</a:t>
              </a:r>
              <a:br/>
              <a:r>
                <a:rPr lang="zh-CN" sz="1200" b="1" dirty="0">
                  <a:solidFill>
                    <a:srgbClr val="D6391E"/>
                  </a:solidFill>
                  <a:latin typeface="+mn-lt"/>
                  <a:ea typeface="+mn-ea"/>
                  <a:cs typeface="+mn-cs"/>
                </a:rPr>
                <a:t>购</a:t>
              </a:r>
              <a:br/>
              <a:r>
                <a:rPr lang="zh-CN" sz="1200" b="1" dirty="0">
                  <a:solidFill>
                    <a:srgbClr val="D6391E"/>
                  </a:solidFill>
                  <a:latin typeface="+mn-lt"/>
                  <a:ea typeface="+mn-ea"/>
                  <a:cs typeface="+mn-cs"/>
                </a:rPr>
                <a:t>买</a:t>
              </a:r>
              <a:br/>
              <a:r>
                <a:rPr lang="zh-CN" sz="1200" b="1" dirty="0">
                  <a:solidFill>
                    <a:srgbClr val="D6391E"/>
                  </a:solidFill>
                  <a:latin typeface="+mn-lt"/>
                  <a:ea typeface="+mn-ea"/>
                  <a:cs typeface="+mn-cs"/>
                </a:rPr>
                <a:t>高</a:t>
              </a:r>
              <a:br/>
              <a:r>
                <a:rPr lang="zh-CN" sz="1200" b="1" dirty="0">
                  <a:solidFill>
                    <a:srgbClr val="D6391E"/>
                  </a:solidFill>
                  <a:latin typeface="+mn-lt"/>
                  <a:ea typeface="+mn-ea"/>
                  <a:cs typeface="+mn-cs"/>
                </a:rPr>
                <a:t>端</a:t>
              </a:r>
              <a:br/>
              <a:r>
                <a:rPr lang="zh-CN" sz="1200" b="1" dirty="0">
                  <a:solidFill>
                    <a:srgbClr val="D6391E"/>
                  </a:solidFill>
                  <a:latin typeface="+mn-lt"/>
                  <a:ea typeface="+mn-ea"/>
                  <a:cs typeface="+mn-cs"/>
                </a:rPr>
                <a:t>产</a:t>
              </a:r>
              <a:br/>
              <a:r>
                <a:rPr lang="zh-CN" sz="1200" b="1" dirty="0">
                  <a:solidFill>
                    <a:srgbClr val="D6391E"/>
                  </a:solidFill>
                  <a:latin typeface="+mn-lt"/>
                  <a:ea typeface="+mn-ea"/>
                  <a:cs typeface="+mn-cs"/>
                </a:rPr>
                <a:t>品</a:t>
              </a:r>
              <a:br/>
              <a:r>
                <a:rPr lang="zh-CN" sz="1200" b="1" dirty="0">
                  <a:solidFill>
                    <a:srgbClr val="D6391E"/>
                  </a:solidFill>
                  <a:latin typeface="+mn-lt"/>
                  <a:ea typeface="+mn-ea"/>
                  <a:cs typeface="+mn-cs"/>
                </a:rPr>
                <a:t>的</a:t>
              </a:r>
              <a:br/>
              <a:r>
                <a:rPr lang="zh-CN" sz="1200" b="1" dirty="0">
                  <a:solidFill>
                    <a:srgbClr val="D6391E"/>
                  </a:solidFill>
                  <a:latin typeface="+mn-lt"/>
                  <a:ea typeface="+mn-ea"/>
                  <a:cs typeface="+mn-cs"/>
                </a:rPr>
                <a:t>阻</a:t>
              </a:r>
              <a:br/>
              <a:r>
                <a:rPr lang="zh-CN" sz="1200" b="1" dirty="0">
                  <a:solidFill>
                    <a:srgbClr val="D6391E"/>
                  </a:solidFill>
                  <a:latin typeface="+mn-lt"/>
                  <a:ea typeface="+mn-ea"/>
                  <a:cs typeface="+mn-cs"/>
                </a:rPr>
                <a:t>碍</a:t>
              </a:r>
              <a:br/>
              <a:r>
                <a:rPr lang="zh-CN" sz="1200" b="1" dirty="0">
                  <a:solidFill>
                    <a:srgbClr val="D6391E"/>
                  </a:solidFill>
                  <a:latin typeface="+mn-lt"/>
                  <a:ea typeface="+mn-ea"/>
                  <a:cs typeface="+mn-cs"/>
                </a:rPr>
                <a:t>力</a:t>
              </a:r>
              <a:br/>
              <a:r>
                <a:rPr lang="zh-CN" sz="1200" b="1" dirty="0">
                  <a:solidFill>
                    <a:srgbClr val="D6391E"/>
                  </a:solidFill>
                  <a:latin typeface="+mn-lt"/>
                  <a:ea typeface="+mn-ea"/>
                  <a:cs typeface="+mn-cs"/>
                </a:rPr>
                <a:t>大</a:t>
              </a:r>
            </a:p>
          </p:txBody>
        </p:sp>
        <p:sp>
          <p:nvSpPr>
            <p:cNvPr id="15" name="TextBox 15"/>
            <p:cNvSpPr txBox="1"/>
            <p:nvPr/>
          </p:nvSpPr>
          <p:spPr>
            <a:xfrm>
              <a:off x="828358" y="1260634"/>
              <a:ext cx="95885" cy="66675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起</a:t>
              </a:r>
              <a:br/>
              <a:r>
                <a:rPr lang="zh-CN" sz="680" dirty="0">
                  <a:solidFill>
                    <a:srgbClr val="595959"/>
                  </a:solidFill>
                  <a:latin typeface="+mn-lt"/>
                  <a:ea typeface="+mn-ea"/>
                  <a:cs typeface="+mn-cs"/>
                </a:rPr>
                <a:t>购</a:t>
              </a:r>
              <a:br/>
              <a:r>
                <a:rPr lang="zh-CN" sz="680" dirty="0">
                  <a:solidFill>
                    <a:srgbClr val="595959"/>
                  </a:solidFill>
                  <a:latin typeface="+mn-lt"/>
                  <a:ea typeface="+mn-ea"/>
                  <a:cs typeface="+mn-cs"/>
                </a:rPr>
                <a:t>门</a:t>
              </a:r>
              <a:br/>
              <a:r>
                <a:rPr lang="zh-CN" sz="680" dirty="0">
                  <a:solidFill>
                    <a:srgbClr val="595959"/>
                  </a:solidFill>
                  <a:latin typeface="+mn-lt"/>
                  <a:ea typeface="+mn-ea"/>
                  <a:cs typeface="+mn-cs"/>
                </a:rPr>
                <a:t>槛</a:t>
              </a:r>
              <a:br/>
              <a:r>
                <a:rPr lang="zh-CN" sz="680" dirty="0">
                  <a:solidFill>
                    <a:srgbClr val="595959"/>
                  </a:solidFill>
                  <a:latin typeface="+mn-lt"/>
                  <a:ea typeface="+mn-ea"/>
                  <a:cs typeface="+mn-cs"/>
                </a:rPr>
                <a:t>高</a:t>
              </a:r>
            </a:p>
          </p:txBody>
        </p:sp>
        <p:sp>
          <p:nvSpPr>
            <p:cNvPr id="16" name="TextBox 16"/>
            <p:cNvSpPr txBox="1"/>
            <p:nvPr/>
          </p:nvSpPr>
          <p:spPr>
            <a:xfrm>
              <a:off x="828358" y="2213134"/>
              <a:ext cx="95885" cy="80010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收</a:t>
              </a:r>
              <a:br/>
              <a:r>
                <a:rPr lang="zh-CN" sz="680" dirty="0">
                  <a:solidFill>
                    <a:srgbClr val="595959"/>
                  </a:solidFill>
                  <a:latin typeface="+mn-lt"/>
                  <a:ea typeface="+mn-ea"/>
                  <a:cs typeface="+mn-cs"/>
                </a:rPr>
                <a:t>益</a:t>
              </a:r>
              <a:br/>
              <a:r>
                <a:rPr lang="zh-CN" sz="680" dirty="0">
                  <a:solidFill>
                    <a:srgbClr val="595959"/>
                  </a:solidFill>
                  <a:latin typeface="+mn-lt"/>
                  <a:ea typeface="+mn-ea"/>
                  <a:cs typeface="+mn-cs"/>
                </a:rPr>
                <a:t>风</a:t>
              </a:r>
              <a:br/>
              <a:r>
                <a:rPr lang="zh-CN" sz="680" dirty="0">
                  <a:solidFill>
                    <a:srgbClr val="595959"/>
                  </a:solidFill>
                  <a:latin typeface="+mn-lt"/>
                  <a:ea typeface="+mn-ea"/>
                  <a:cs typeface="+mn-cs"/>
                </a:rPr>
                <a:t>险</a:t>
              </a:r>
              <a:br/>
              <a:r>
                <a:rPr lang="zh-CN" sz="680" dirty="0">
                  <a:solidFill>
                    <a:srgbClr val="595959"/>
                  </a:solidFill>
                  <a:latin typeface="+mn-lt"/>
                  <a:ea typeface="+mn-ea"/>
                  <a:cs typeface="+mn-cs"/>
                </a:rPr>
                <a:t>顾</a:t>
              </a:r>
              <a:br/>
              <a:r>
                <a:rPr lang="zh-CN" sz="680" dirty="0">
                  <a:solidFill>
                    <a:srgbClr val="595959"/>
                  </a:solidFill>
                  <a:latin typeface="+mn-lt"/>
                  <a:ea typeface="+mn-ea"/>
                  <a:cs typeface="+mn-cs"/>
                </a:rPr>
                <a:t>虑</a:t>
              </a:r>
            </a:p>
          </p:txBody>
        </p:sp>
        <p:sp>
          <p:nvSpPr>
            <p:cNvPr id="17" name="TextBox 17"/>
            <p:cNvSpPr txBox="1"/>
            <p:nvPr/>
          </p:nvSpPr>
          <p:spPr>
            <a:xfrm>
              <a:off x="828358" y="3260884"/>
              <a:ext cx="95885" cy="80010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品</a:t>
              </a:r>
              <a:br/>
              <a:r>
                <a:rPr lang="zh-CN" sz="680" dirty="0">
                  <a:solidFill>
                    <a:srgbClr val="595959"/>
                  </a:solidFill>
                  <a:latin typeface="+mn-lt"/>
                  <a:ea typeface="+mn-ea"/>
                  <a:cs typeface="+mn-cs"/>
                </a:rPr>
                <a:t>牌</a:t>
              </a:r>
              <a:br/>
              <a:r>
                <a:rPr lang="zh-CN" sz="680" dirty="0">
                  <a:solidFill>
                    <a:srgbClr val="595959"/>
                  </a:solidFill>
                  <a:latin typeface="+mn-lt"/>
                  <a:ea typeface="+mn-ea"/>
                  <a:cs typeface="+mn-cs"/>
                </a:rPr>
                <a:t>安</a:t>
              </a:r>
              <a:br/>
              <a:r>
                <a:rPr lang="zh-CN" sz="680" dirty="0">
                  <a:solidFill>
                    <a:srgbClr val="595959"/>
                  </a:solidFill>
                  <a:latin typeface="+mn-lt"/>
                  <a:ea typeface="+mn-ea"/>
                  <a:cs typeface="+mn-cs"/>
                </a:rPr>
                <a:t>全</a:t>
              </a:r>
              <a:br/>
              <a:r>
                <a:rPr lang="zh-CN" sz="680" dirty="0">
                  <a:solidFill>
                    <a:srgbClr val="595959"/>
                  </a:solidFill>
                  <a:latin typeface="+mn-lt"/>
                  <a:ea typeface="+mn-ea"/>
                  <a:cs typeface="+mn-cs"/>
                </a:rPr>
                <a:t>担</a:t>
              </a:r>
              <a:br/>
              <a:r>
                <a:rPr lang="zh-CN" sz="680" dirty="0">
                  <a:solidFill>
                    <a:srgbClr val="595959"/>
                  </a:solidFill>
                  <a:latin typeface="+mn-lt"/>
                  <a:ea typeface="+mn-ea"/>
                  <a:cs typeface="+mn-cs"/>
                </a:rPr>
                <a:t>忧</a:t>
              </a:r>
            </a:p>
          </p:txBody>
        </p:sp>
        <p:sp>
          <p:nvSpPr>
            <p:cNvPr id="18" name="TextBox 18"/>
            <p:cNvSpPr txBox="1"/>
            <p:nvPr/>
          </p:nvSpPr>
          <p:spPr>
            <a:xfrm>
              <a:off x="828358" y="4308634"/>
              <a:ext cx="95885" cy="80010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操</a:t>
              </a:r>
              <a:br/>
              <a:r>
                <a:rPr lang="zh-CN" sz="680" dirty="0">
                  <a:solidFill>
                    <a:srgbClr val="595959"/>
                  </a:solidFill>
                  <a:latin typeface="+mn-lt"/>
                  <a:ea typeface="+mn-ea"/>
                  <a:cs typeface="+mn-cs"/>
                </a:rPr>
                <a:t>作</a:t>
              </a:r>
              <a:br/>
              <a:r>
                <a:rPr lang="zh-CN" sz="680" dirty="0">
                  <a:solidFill>
                    <a:srgbClr val="595959"/>
                  </a:solidFill>
                  <a:latin typeface="+mn-lt"/>
                  <a:ea typeface="+mn-ea"/>
                  <a:cs typeface="+mn-cs"/>
                </a:rPr>
                <a:t>流</a:t>
              </a:r>
              <a:br/>
              <a:r>
                <a:rPr lang="zh-CN" sz="680" dirty="0">
                  <a:solidFill>
                    <a:srgbClr val="595959"/>
                  </a:solidFill>
                  <a:latin typeface="+mn-lt"/>
                  <a:ea typeface="+mn-ea"/>
                  <a:cs typeface="+mn-cs"/>
                </a:rPr>
                <a:t>程</a:t>
              </a:r>
              <a:br/>
              <a:r>
                <a:rPr lang="zh-CN" sz="680" dirty="0">
                  <a:solidFill>
                    <a:srgbClr val="595959"/>
                  </a:solidFill>
                  <a:latin typeface="+mn-lt"/>
                  <a:ea typeface="+mn-ea"/>
                  <a:cs typeface="+mn-cs"/>
                </a:rPr>
                <a:t>繁</a:t>
              </a:r>
              <a:br/>
              <a:r>
                <a:rPr lang="zh-CN" sz="680" dirty="0">
                  <a:solidFill>
                    <a:srgbClr val="595959"/>
                  </a:solidFill>
                  <a:latin typeface="+mn-lt"/>
                  <a:ea typeface="+mn-ea"/>
                  <a:cs typeface="+mn-cs"/>
                </a:rPr>
                <a:t>琐</a:t>
              </a:r>
            </a:p>
          </p:txBody>
        </p:sp>
      </p:grpSp>
      <p:grpSp>
        <p:nvGrpSpPr>
          <p:cNvPr id="24" name="hdr-left"/>
          <p:cNvGrpSpPr/>
          <p:nvPr/>
        </p:nvGrpSpPr>
        <p:grpSpPr>
          <a:xfrm>
            <a:off x="1905000" y="961549"/>
            <a:ext cx="2438400" cy="772001"/>
            <a:chOff x="1905000" y="961549"/>
            <a:chExt cx="2438400" cy="772001"/>
          </a:xfrm>
        </p:grpSpPr>
        <p:sp>
          <p:nvSpPr>
            <p:cNvPr id="20" name="TextBox 20"/>
            <p:cNvSpPr txBox="1"/>
            <p:nvPr/>
          </p:nvSpPr>
          <p:spPr>
            <a:xfrm>
              <a:off x="2172130" y="961549"/>
              <a:ext cx="1370739"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实时互动 提高营销转化</a:t>
              </a:r>
            </a:p>
          </p:txBody>
        </p:sp>
        <p:sp>
          <p:nvSpPr>
            <p:cNvPr id="21" name="TextBox 21"/>
            <p:cNvSpPr txBox="1"/>
            <p:nvPr/>
          </p:nvSpPr>
          <p:spPr>
            <a:xfrm>
              <a:off x="2532342" y="1146334"/>
              <a:ext cx="650316" cy="133350"/>
            </a:xfrm>
            <a:prstGeom prst="rect">
              <a:avLst/>
            </a:prstGeom>
            <a:noFill/>
            <a:ln>
              <a:noFill/>
            </a:ln>
          </p:spPr>
          <p:txBody>
            <a:bodyPr wrap="none" lIns="0" tIns="0" rIns="0" bIns="0" anchor="t" anchorCtr="0">
              <a:spAutoFit/>
            </a:bodyPr>
            <a:lstStyle/>
            <a:p>
              <a:pPr algn="ctr"/>
              <a:r>
                <a:rPr lang="zh-CN" sz="680" dirty="0">
                  <a:solidFill>
                    <a:srgbClr val="8C8C8C"/>
                  </a:solidFill>
                  <a:latin typeface="+mn-lt"/>
                  <a:ea typeface="+mn-ea"/>
                  <a:cs typeface="+mn-cs"/>
                </a:rPr>
                <a:t>关注客户转化率</a:t>
              </a:r>
            </a:p>
          </p:txBody>
        </p:sp>
        <p:sp>
          <p:nvSpPr>
            <p:cNvPr id="22" name="Polyline 22"/>
            <p:cNvSpPr/>
            <p:nvPr/>
          </p:nvSpPr>
          <p:spPr>
            <a:xfrm>
              <a:off x="1905000" y="1619250"/>
              <a:ext cx="2438400" cy="114300"/>
            </a:xfrm>
            <a:custGeom>
              <a:avLst/>
              <a:gdLst/>
              <a:ahLst/>
              <a:cxnLst/>
              <a:rect l="l" t="t" r="r" b="b"/>
              <a:pathLst>
                <a:path w="2438400" h="114300">
                  <a:moveTo>
                    <a:pt x="0" y="114300"/>
                  </a:moveTo>
                  <a:lnTo>
                    <a:pt x="0" y="0"/>
                  </a:lnTo>
                  <a:lnTo>
                    <a:pt x="2438400" y="0"/>
                  </a:lnTo>
                  <a:lnTo>
                    <a:pt x="2438400" y="114300"/>
                  </a:lnTo>
                </a:path>
              </a:pathLst>
            </a:custGeom>
            <a:noFill/>
            <a:ln w="11430">
              <a:solidFill>
                <a:srgbClr val="9C594C"/>
              </a:solidFill>
            </a:ln>
          </p:spPr>
        </p:sp>
        <p:sp>
          <p:nvSpPr>
            <p:cNvPr id="23" name="TextBox 23"/>
            <p:cNvSpPr txBox="1"/>
            <p:nvPr/>
          </p:nvSpPr>
          <p:spPr>
            <a:xfrm>
              <a:off x="2661577" y="1485186"/>
              <a:ext cx="391846"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持续挖掘</a:t>
              </a:r>
            </a:p>
          </p:txBody>
        </p:sp>
      </p:grpSp>
      <p:grpSp>
        <p:nvGrpSpPr>
          <p:cNvPr id="29" name="hdr-right"/>
          <p:cNvGrpSpPr/>
          <p:nvPr/>
        </p:nvGrpSpPr>
        <p:grpSpPr>
          <a:xfrm>
            <a:off x="7867650" y="961549"/>
            <a:ext cx="2419350" cy="772001"/>
            <a:chOff x="7867650" y="961549"/>
            <a:chExt cx="2419350" cy="772001"/>
          </a:xfrm>
        </p:grpSpPr>
        <p:sp>
          <p:nvSpPr>
            <p:cNvPr id="25" name="TextBox 25"/>
            <p:cNvSpPr txBox="1"/>
            <p:nvPr/>
          </p:nvSpPr>
          <p:spPr>
            <a:xfrm>
              <a:off x="8724925" y="961549"/>
              <a:ext cx="933399"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智能化留存分析</a:t>
              </a:r>
            </a:p>
          </p:txBody>
        </p:sp>
        <p:sp>
          <p:nvSpPr>
            <p:cNvPr id="26" name="TextBox 26"/>
            <p:cNvSpPr txBox="1"/>
            <p:nvPr/>
          </p:nvSpPr>
          <p:spPr>
            <a:xfrm>
              <a:off x="8866467" y="1146334"/>
              <a:ext cx="650316" cy="133350"/>
            </a:xfrm>
            <a:prstGeom prst="rect">
              <a:avLst/>
            </a:prstGeom>
            <a:noFill/>
            <a:ln>
              <a:noFill/>
            </a:ln>
          </p:spPr>
          <p:txBody>
            <a:bodyPr wrap="none" lIns="0" tIns="0" rIns="0" bIns="0" anchor="t" anchorCtr="0">
              <a:spAutoFit/>
            </a:bodyPr>
            <a:lstStyle/>
            <a:p>
              <a:pPr algn="ctr"/>
              <a:r>
                <a:rPr lang="zh-CN" sz="680" dirty="0">
                  <a:solidFill>
                    <a:srgbClr val="8C8C8C"/>
                  </a:solidFill>
                  <a:latin typeface="+mn-lt"/>
                  <a:ea typeface="+mn-ea"/>
                  <a:cs typeface="+mn-cs"/>
                </a:rPr>
                <a:t>关注客户留存率</a:t>
              </a:r>
            </a:p>
          </p:txBody>
        </p:sp>
        <p:sp>
          <p:nvSpPr>
            <p:cNvPr id="27" name="Polyline 27"/>
            <p:cNvSpPr/>
            <p:nvPr/>
          </p:nvSpPr>
          <p:spPr>
            <a:xfrm>
              <a:off x="7867650" y="1619250"/>
              <a:ext cx="2419350" cy="114300"/>
            </a:xfrm>
            <a:custGeom>
              <a:avLst/>
              <a:gdLst/>
              <a:ahLst/>
              <a:cxnLst/>
              <a:rect l="l" t="t" r="r" b="b"/>
              <a:pathLst>
                <a:path w="2419350" h="114300">
                  <a:moveTo>
                    <a:pt x="0" y="114300"/>
                  </a:moveTo>
                  <a:lnTo>
                    <a:pt x="0" y="0"/>
                  </a:lnTo>
                  <a:lnTo>
                    <a:pt x="2419350" y="0"/>
                  </a:lnTo>
                  <a:lnTo>
                    <a:pt x="2419350" y="114300"/>
                  </a:lnTo>
                </a:path>
              </a:pathLst>
            </a:custGeom>
            <a:noFill/>
            <a:ln w="11430">
              <a:solidFill>
                <a:srgbClr val="9C594C"/>
              </a:solidFill>
            </a:ln>
          </p:spPr>
        </p:sp>
        <p:sp>
          <p:nvSpPr>
            <p:cNvPr id="28" name="TextBox 28"/>
            <p:cNvSpPr txBox="1"/>
            <p:nvPr/>
          </p:nvSpPr>
          <p:spPr>
            <a:xfrm>
              <a:off x="8470671" y="1485186"/>
              <a:ext cx="1060907"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通过直播持续做客户触达</a:t>
              </a:r>
            </a:p>
          </p:txBody>
        </p:sp>
      </p:grpSp>
      <p:grpSp>
        <p:nvGrpSpPr>
          <p:cNvPr id="49" name="left-cluster"/>
          <p:cNvGrpSpPr/>
          <p:nvPr/>
        </p:nvGrpSpPr>
        <p:grpSpPr>
          <a:xfrm>
            <a:off x="1320800" y="1969948"/>
            <a:ext cx="2214880" cy="3389532"/>
            <a:chOff x="1320800" y="1969948"/>
            <a:chExt cx="2214880" cy="3389532"/>
          </a:xfrm>
        </p:grpSpPr>
        <p:sp>
          <p:nvSpPr>
            <p:cNvPr id="30" name="Freeform 30"/>
            <p:cNvSpPr/>
            <p:nvPr/>
          </p:nvSpPr>
          <p:spPr>
            <a:xfrm>
              <a:off x="1320800" y="2381250"/>
              <a:ext cx="203200" cy="1714500"/>
            </a:xfrm>
            <a:custGeom>
              <a:avLst/>
              <a:gdLst/>
              <a:ahLst/>
              <a:cxnLst/>
              <a:rect l="l" t="t" r="r" b="b"/>
              <a:pathLst>
                <a:path w="203200" h="1714500">
                  <a:moveTo>
                    <a:pt x="203200" y="0"/>
                  </a:moveTo>
                  <a:cubicBezTo>
                    <a:pt x="0" y="571500"/>
                    <a:pt x="0" y="1143000"/>
                    <a:pt x="203200" y="1714500"/>
                  </a:cubicBezTo>
                </a:path>
              </a:pathLst>
            </a:custGeom>
            <a:noFill/>
            <a:ln w="11430">
              <a:solidFill>
                <a:srgbClr val="E9563C"/>
              </a:solidFill>
              <a:custDash>
                <a:ds d="333333" sp="250000"/>
              </a:custDash>
              <a:tailEnd type="triangle" w="lg" len="lg"/>
            </a:ln>
          </p:spPr>
        </p:sp>
        <p:sp>
          <p:nvSpPr>
            <p:cNvPr id="31" name="TextBox 31"/>
            <p:cNvSpPr txBox="1"/>
            <p:nvPr/>
          </p:nvSpPr>
          <p:spPr>
            <a:xfrm rot="-1320000">
              <a:off x="2363811" y="1969948"/>
              <a:ext cx="983097"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影响力提升 拓盘潜在用户</a:t>
              </a:r>
            </a:p>
          </p:txBody>
        </p:sp>
        <p:sp>
          <p:nvSpPr>
            <p:cNvPr id="32" name="TextBox 32"/>
            <p:cNvSpPr txBox="1"/>
            <p:nvPr/>
          </p:nvSpPr>
          <p:spPr>
            <a:xfrm rot="1320000">
              <a:off x="2411171" y="4217848"/>
              <a:ext cx="896940"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架构化发展 增加实用性</a:t>
              </a:r>
            </a:p>
          </p:txBody>
        </p:sp>
        <p:sp>
          <p:nvSpPr>
            <p:cNvPr id="33" name="Ellipse 33"/>
            <p:cNvSpPr/>
            <p:nvPr/>
          </p:nvSpPr>
          <p:spPr>
            <a:xfrm>
              <a:off x="1562100" y="2228850"/>
              <a:ext cx="685800" cy="685800"/>
            </a:xfrm>
            <a:prstGeom prst="ellipse">
              <a:avLst/>
            </a:prstGeom>
            <a:solidFill>
              <a:srgbClr val="F7B9AE"/>
            </a:solidFill>
            <a:ln>
              <a:noFill/>
            </a:ln>
          </p:spPr>
        </p:sp>
        <p:sp>
          <p:nvSpPr>
            <p:cNvPr id="34" name="TextBox 34"/>
            <p:cNvSpPr txBox="1"/>
            <p:nvPr/>
          </p:nvSpPr>
          <p:spPr>
            <a:xfrm>
              <a:off x="1758315" y="2515552"/>
              <a:ext cx="293370" cy="205359"/>
            </a:xfrm>
            <a:prstGeom prst="rect">
              <a:avLst/>
            </a:prstGeom>
            <a:noFill/>
            <a:ln>
              <a:noFill/>
            </a:ln>
          </p:spPr>
          <p:txBody>
            <a:bodyPr wrap="none" lIns="0" tIns="0" rIns="0" bIns="0" anchor="t" anchorCtr="0">
              <a:spAutoFit/>
            </a:bodyPr>
            <a:lstStyle/>
            <a:p>
              <a:pPr algn="ctr"/>
              <a:r>
                <a:rPr lang="zh-CN" sz="1050" b="1" dirty="0">
                  <a:solidFill>
                    <a:srgbClr val="8A2210"/>
                  </a:solidFill>
                  <a:latin typeface="+mn-lt"/>
                  <a:ea typeface="+mn-ea"/>
                  <a:cs typeface="+mn-cs"/>
                </a:rPr>
                <a:t>用户</a:t>
              </a:r>
            </a:p>
          </p:txBody>
        </p:sp>
        <p:sp>
          <p:nvSpPr>
            <p:cNvPr id="35" name="Ellipse 35"/>
            <p:cNvSpPr/>
            <p:nvPr/>
          </p:nvSpPr>
          <p:spPr>
            <a:xfrm>
              <a:off x="1562100" y="2895600"/>
              <a:ext cx="685800" cy="685800"/>
            </a:xfrm>
            <a:prstGeom prst="ellipse">
              <a:avLst/>
            </a:prstGeom>
            <a:solidFill>
              <a:srgbClr val="F09180"/>
            </a:solidFill>
            <a:ln>
              <a:noFill/>
            </a:ln>
          </p:spPr>
        </p:sp>
        <p:sp>
          <p:nvSpPr>
            <p:cNvPr id="36" name="TextBox 36"/>
            <p:cNvSpPr txBox="1"/>
            <p:nvPr/>
          </p:nvSpPr>
          <p:spPr>
            <a:xfrm>
              <a:off x="1758315" y="3182302"/>
              <a:ext cx="293370" cy="205359"/>
            </a:xfrm>
            <a:prstGeom prst="rect">
              <a:avLst/>
            </a:prstGeom>
            <a:noFill/>
            <a:ln>
              <a:noFill/>
            </a:ln>
          </p:spPr>
          <p:txBody>
            <a:bodyPr wrap="none" lIns="0" tIns="0" rIns="0" bIns="0" anchor="t" anchorCtr="0">
              <a:spAutoFit/>
            </a:bodyPr>
            <a:lstStyle/>
            <a:p>
              <a:pPr algn="ctr"/>
              <a:r>
                <a:rPr lang="zh-CN" sz="1050" b="1" dirty="0">
                  <a:solidFill>
                    <a:srgbClr val="8A2210"/>
                  </a:solidFill>
                  <a:latin typeface="+mn-lt"/>
                  <a:ea typeface="+mn-ea"/>
                  <a:cs typeface="+mn-cs"/>
                </a:rPr>
                <a:t>投顾</a:t>
              </a:r>
            </a:p>
          </p:txBody>
        </p:sp>
        <p:sp>
          <p:nvSpPr>
            <p:cNvPr id="37" name="Ellipse 37"/>
            <p:cNvSpPr/>
            <p:nvPr/>
          </p:nvSpPr>
          <p:spPr>
            <a:xfrm>
              <a:off x="1562100" y="3562350"/>
              <a:ext cx="685800" cy="685800"/>
            </a:xfrm>
            <a:prstGeom prst="ellipse">
              <a:avLst/>
            </a:prstGeom>
            <a:solidFill>
              <a:srgbClr val="E9563C"/>
            </a:solidFill>
            <a:ln>
              <a:noFill/>
            </a:ln>
          </p:spPr>
        </p:sp>
        <p:sp>
          <p:nvSpPr>
            <p:cNvPr id="38" name="TextBox 38"/>
            <p:cNvSpPr txBox="1"/>
            <p:nvPr/>
          </p:nvSpPr>
          <p:spPr>
            <a:xfrm>
              <a:off x="1758315" y="38490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产品</a:t>
              </a:r>
            </a:p>
          </p:txBody>
        </p:sp>
        <p:sp>
          <p:nvSpPr>
            <p:cNvPr id="39" name="Rectangle 39"/>
            <p:cNvSpPr/>
            <p:nvPr/>
          </p:nvSpPr>
          <p:spPr>
            <a:xfrm>
              <a:off x="2476500" y="2457450"/>
              <a:ext cx="857250" cy="247650"/>
            </a:xfrm>
            <a:prstGeom prst="rect">
              <a:avLst/>
            </a:prstGeom>
            <a:solidFill>
              <a:srgbClr val="FBF0D8"/>
            </a:solidFill>
            <a:ln>
              <a:noFill/>
            </a:ln>
          </p:spPr>
        </p:sp>
        <p:sp>
          <p:nvSpPr>
            <p:cNvPr id="40" name="TextBox 40"/>
            <p:cNvSpPr txBox="1"/>
            <p:nvPr/>
          </p:nvSpPr>
          <p:spPr>
            <a:xfrm>
              <a:off x="2687663" y="2543889"/>
              <a:ext cx="434924" cy="154781"/>
            </a:xfrm>
            <a:prstGeom prst="rect">
              <a:avLst/>
            </a:prstGeom>
            <a:noFill/>
            <a:ln>
              <a:noFill/>
            </a:ln>
          </p:spPr>
          <p:txBody>
            <a:bodyPr wrap="none" lIns="0" tIns="0" rIns="0" bIns="0" anchor="t" anchorCtr="0">
              <a:spAutoFit/>
            </a:bodyPr>
            <a:lstStyle/>
            <a:p>
              <a:pPr algn="ctr"/>
              <a:r>
                <a:rPr lang="zh-CN" sz="790" dirty="0">
                  <a:solidFill>
                    <a:srgbClr val="8A2210"/>
                  </a:solidFill>
                  <a:latin typeface="+mn-lt"/>
                  <a:ea typeface="+mn-ea"/>
                  <a:cs typeface="+mn-cs"/>
                </a:rPr>
                <a:t>视觉层面</a:t>
              </a:r>
            </a:p>
          </p:txBody>
        </p:sp>
        <p:sp>
          <p:nvSpPr>
            <p:cNvPr id="41" name="Rectangle 41"/>
            <p:cNvSpPr/>
            <p:nvPr/>
          </p:nvSpPr>
          <p:spPr>
            <a:xfrm>
              <a:off x="2476500" y="3124200"/>
              <a:ext cx="857250" cy="247650"/>
            </a:xfrm>
            <a:prstGeom prst="rect">
              <a:avLst/>
            </a:prstGeom>
            <a:solidFill>
              <a:srgbClr val="FBF0D8"/>
            </a:solidFill>
            <a:ln>
              <a:noFill/>
            </a:ln>
          </p:spPr>
        </p:sp>
        <p:sp>
          <p:nvSpPr>
            <p:cNvPr id="42" name="TextBox 42"/>
            <p:cNvSpPr txBox="1"/>
            <p:nvPr/>
          </p:nvSpPr>
          <p:spPr>
            <a:xfrm>
              <a:off x="2687663" y="3210639"/>
              <a:ext cx="434924" cy="154781"/>
            </a:xfrm>
            <a:prstGeom prst="rect">
              <a:avLst/>
            </a:prstGeom>
            <a:noFill/>
            <a:ln>
              <a:noFill/>
            </a:ln>
          </p:spPr>
          <p:txBody>
            <a:bodyPr wrap="none" lIns="0" tIns="0" rIns="0" bIns="0" anchor="t" anchorCtr="0">
              <a:spAutoFit/>
            </a:bodyPr>
            <a:lstStyle/>
            <a:p>
              <a:pPr algn="ctr"/>
              <a:r>
                <a:rPr lang="zh-CN" sz="790" dirty="0">
                  <a:solidFill>
                    <a:srgbClr val="8A2210"/>
                  </a:solidFill>
                  <a:latin typeface="+mn-lt"/>
                  <a:ea typeface="+mn-ea"/>
                  <a:cs typeface="+mn-cs"/>
                </a:rPr>
                <a:t>传播层面</a:t>
              </a:r>
            </a:p>
          </p:txBody>
        </p:sp>
        <p:sp>
          <p:nvSpPr>
            <p:cNvPr id="43" name="Rectangle 43"/>
            <p:cNvSpPr/>
            <p:nvPr/>
          </p:nvSpPr>
          <p:spPr>
            <a:xfrm>
              <a:off x="2476500" y="3790950"/>
              <a:ext cx="857250" cy="247650"/>
            </a:xfrm>
            <a:prstGeom prst="rect">
              <a:avLst/>
            </a:prstGeom>
            <a:solidFill>
              <a:srgbClr val="FBF0D8"/>
            </a:solidFill>
            <a:ln>
              <a:noFill/>
            </a:ln>
          </p:spPr>
        </p:sp>
        <p:sp>
          <p:nvSpPr>
            <p:cNvPr id="44" name="TextBox 44"/>
            <p:cNvSpPr txBox="1"/>
            <p:nvPr/>
          </p:nvSpPr>
          <p:spPr>
            <a:xfrm>
              <a:off x="2687663" y="3877389"/>
              <a:ext cx="434924" cy="154781"/>
            </a:xfrm>
            <a:prstGeom prst="rect">
              <a:avLst/>
            </a:prstGeom>
            <a:noFill/>
            <a:ln>
              <a:noFill/>
            </a:ln>
          </p:spPr>
          <p:txBody>
            <a:bodyPr wrap="none" lIns="0" tIns="0" rIns="0" bIns="0" anchor="t" anchorCtr="0">
              <a:spAutoFit/>
            </a:bodyPr>
            <a:lstStyle/>
            <a:p>
              <a:pPr algn="ctr"/>
              <a:r>
                <a:rPr lang="zh-CN" sz="790" dirty="0">
                  <a:solidFill>
                    <a:srgbClr val="8A2210"/>
                  </a:solidFill>
                  <a:latin typeface="+mn-lt"/>
                  <a:ea typeface="+mn-ea"/>
                  <a:cs typeface="+mn-cs"/>
                </a:rPr>
                <a:t>用户心智</a:t>
              </a:r>
            </a:p>
          </p:txBody>
        </p:sp>
        <p:sp>
          <p:nvSpPr>
            <p:cNvPr id="45" name="Freeform 45"/>
            <p:cNvSpPr/>
            <p:nvPr/>
          </p:nvSpPr>
          <p:spPr>
            <a:xfrm rot="10800000">
              <a:off x="2809875" y="4362450"/>
              <a:ext cx="190500" cy="133350"/>
            </a:xfrm>
            <a:prstGeom prst="triangle">
              <a:avLst/>
            </a:prstGeom>
            <a:solidFill>
              <a:srgbClr val="8C4B3F"/>
            </a:solidFill>
            <a:ln>
              <a:noFill/>
            </a:ln>
          </p:spPr>
        </p:sp>
        <p:sp>
          <p:nvSpPr>
            <p:cNvPr id="46" name="Rectangle 46"/>
            <p:cNvSpPr/>
            <p:nvPr/>
          </p:nvSpPr>
          <p:spPr>
            <a:xfrm>
              <a:off x="2381250" y="4572000"/>
              <a:ext cx="1047750" cy="247650"/>
            </a:xfrm>
            <a:prstGeom prst="rect">
              <a:avLst/>
            </a:prstGeom>
            <a:solidFill>
              <a:srgbClr val="E9563C"/>
            </a:solidFill>
            <a:ln>
              <a:noFill/>
            </a:ln>
          </p:spPr>
        </p:sp>
        <p:sp>
          <p:nvSpPr>
            <p:cNvPr id="47" name="TextBox 47"/>
            <p:cNvSpPr txBox="1"/>
            <p:nvPr/>
          </p:nvSpPr>
          <p:spPr>
            <a:xfrm>
              <a:off x="2658046" y="46462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自动驾驶</a:t>
              </a:r>
            </a:p>
          </p:txBody>
        </p:sp>
        <p:sp>
          <p:nvSpPr>
            <p:cNvPr id="48" name="TextBox 48"/>
            <p:cNvSpPr txBox="1"/>
            <p:nvPr/>
          </p:nvSpPr>
          <p:spPr>
            <a:xfrm>
              <a:off x="2376488" y="4914186"/>
              <a:ext cx="1159192" cy="445294"/>
            </a:xfrm>
            <a:prstGeom prst="rect">
              <a:avLst/>
            </a:prstGeom>
            <a:noFill/>
            <a:ln>
              <a:noFill/>
            </a:ln>
          </p:spPr>
          <p:txBody>
            <a:bodyPr wrap="none" lIns="0" tIns="0" rIns="0" bIns="0" anchor="t" anchorCtr="0">
              <a:spAutoFit/>
            </a:bodyPr>
            <a:lstStyle/>
            <a:p>
              <a:pPr algn="l">
                <a:lnSpc>
                  <a:spcPts val="1200"/>
                </a:lnSpc>
              </a:pPr>
              <a:r>
                <a:rPr lang="zh-CN" sz="710" dirty="0">
                  <a:solidFill>
                    <a:srgbClr val="333333"/>
                  </a:solidFill>
                  <a:latin typeface="+mn-lt"/>
                  <a:ea typeface="+mn-ea"/>
                  <a:cs typeface="+mn-cs"/>
                </a:rPr>
                <a:t>2018年，上汽宣布建立人工​</a:t>
              </a:r>
              <a:br/>
              <a:r>
                <a:rPr lang="zh-CN" sz="710" dirty="0">
                  <a:solidFill>
                    <a:srgbClr val="333333"/>
                  </a:solidFill>
                  <a:latin typeface="+mn-lt"/>
                  <a:ea typeface="+mn-ea"/>
                  <a:cs typeface="+mn-cs"/>
                </a:rPr>
                <a:t>智能实验室，进入自动驾驶</a:t>
              </a:r>
              <a:br/>
              <a:r>
                <a:rPr lang="zh-CN" sz="710" dirty="0">
                  <a:solidFill>
                    <a:srgbClr val="333333"/>
                  </a:solidFill>
                  <a:latin typeface="+mn-lt"/>
                  <a:ea typeface="+mn-ea"/>
                  <a:cs typeface="+mn-cs"/>
                </a:rPr>
                <a:t>领域，加大算法研发投入</a:t>
              </a:r>
            </a:p>
          </p:txBody>
        </p:sp>
      </p:grpSp>
      <p:grpSp>
        <p:nvGrpSpPr>
          <p:cNvPr id="68" name="center-ring"/>
          <p:cNvGrpSpPr/>
          <p:nvPr/>
        </p:nvGrpSpPr>
        <p:grpSpPr>
          <a:xfrm>
            <a:off x="4429125" y="1476375"/>
            <a:ext cx="3333750" cy="3333750"/>
            <a:chOff x="4429125" y="1476375"/>
            <a:chExt cx="3333750" cy="3333750"/>
          </a:xfrm>
        </p:grpSpPr>
        <p:sp>
          <p:nvSpPr>
            <p:cNvPr id="50" name="Ellipse 50"/>
            <p:cNvSpPr/>
            <p:nvPr/>
          </p:nvSpPr>
          <p:spPr>
            <a:xfrm>
              <a:off x="4429125" y="1476375"/>
              <a:ext cx="3333750" cy="3333750"/>
            </a:xfrm>
            <a:prstGeom prst="ellipse">
              <a:avLst/>
            </a:prstGeom>
            <a:solidFill>
              <a:srgbClr val="F7FBF4"/>
            </a:solidFill>
            <a:ln w="28575">
              <a:solidFill>
                <a:srgbClr val="C8E0B8"/>
              </a:solidFill>
            </a:ln>
          </p:spPr>
        </p:sp>
        <p:sp>
          <p:nvSpPr>
            <p:cNvPr id="51" name="TextBox 51"/>
            <p:cNvSpPr txBox="1"/>
            <p:nvPr/>
          </p:nvSpPr>
          <p:spPr>
            <a:xfrm>
              <a:off x="5766816" y="1737360"/>
              <a:ext cx="658368" cy="234696"/>
            </a:xfrm>
            <a:prstGeom prst="rect">
              <a:avLst/>
            </a:prstGeom>
            <a:noFill/>
            <a:ln>
              <a:noFill/>
            </a:ln>
          </p:spPr>
          <p:txBody>
            <a:bodyPr wrap="none" lIns="0" tIns="0" rIns="0" bIns="0" anchor="t" anchorCtr="0">
              <a:spAutoFit/>
            </a:bodyPr>
            <a:lstStyle/>
            <a:p>
              <a:pPr algn="ctr"/>
              <a:r>
                <a:rPr lang="zh-CN" sz="1200" b="1" dirty="0">
                  <a:solidFill>
                    <a:srgbClr val="333333"/>
                  </a:solidFill>
                  <a:latin typeface="+mn-lt"/>
                  <a:ea typeface="+mn-ea"/>
                  <a:cs typeface="+mn-cs"/>
                </a:rPr>
                <a:t>业务目标</a:t>
              </a:r>
            </a:p>
          </p:txBody>
        </p:sp>
        <p:sp>
          <p:nvSpPr>
            <p:cNvPr id="52" name="TextBox 52"/>
            <p:cNvSpPr txBox="1"/>
            <p:nvPr/>
          </p:nvSpPr>
          <p:spPr>
            <a:xfrm>
              <a:off x="5820728" y="1961436"/>
              <a:ext cx="55054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8C8C8C"/>
                  </a:solidFill>
                  <a:latin typeface="+mn-lt"/>
                  <a:ea typeface="+mn-ea"/>
                  <a:cs typeface="+mn-cs"/>
                </a:rPr>
                <a:t>去年复盘经验</a:t>
              </a:r>
              <a:br/>
              <a:r>
                <a:rPr lang="zh-CN" sz="710" dirty="0">
                  <a:solidFill>
                    <a:srgbClr val="8C8C8C"/>
                  </a:solidFill>
                  <a:latin typeface="+mn-lt"/>
                  <a:ea typeface="+mn-ea"/>
                  <a:cs typeface="+mn-cs"/>
                </a:rPr>
                <a:t>今年业务目标</a:t>
              </a:r>
            </a:p>
          </p:txBody>
        </p:sp>
        <p:sp>
          <p:nvSpPr>
            <p:cNvPr id="53" name="Freeform 53"/>
            <p:cNvSpPr/>
            <p:nvPr/>
          </p:nvSpPr>
          <p:spPr>
            <a:xfrm>
              <a:off x="5829300" y="2247900"/>
              <a:ext cx="533400" cy="419100"/>
            </a:xfrm>
            <a:prstGeom prst="downArrow">
              <a:avLst/>
            </a:prstGeom>
            <a:solidFill>
              <a:srgbClr val="DFF0D2"/>
            </a:solidFill>
            <a:ln>
              <a:noFill/>
            </a:ln>
          </p:spPr>
        </p:sp>
        <p:sp>
          <p:nvSpPr>
            <p:cNvPr id="54" name="Ellipse 54"/>
            <p:cNvSpPr/>
            <p:nvPr/>
          </p:nvSpPr>
          <p:spPr>
            <a:xfrm>
              <a:off x="4686300" y="2495550"/>
              <a:ext cx="1295400" cy="1295400"/>
            </a:xfrm>
            <a:prstGeom prst="ellipse">
              <a:avLst/>
            </a:prstGeom>
            <a:solidFill>
              <a:srgbClr val="E9563C"/>
            </a:solidFill>
            <a:ln>
              <a:noFill/>
            </a:ln>
          </p:spPr>
        </p:sp>
        <p:sp>
          <p:nvSpPr>
            <p:cNvPr id="55" name="Freeform 55"/>
            <p:cNvSpPr/>
            <p:nvPr/>
          </p:nvSpPr>
          <p:spPr>
            <a:xfrm>
              <a:off x="5214652" y="2753023"/>
              <a:ext cx="237696" cy="210705"/>
            </a:xfrm>
            <a:custGeom>
              <a:avLst/>
              <a:gdLst/>
              <a:ahLst/>
              <a:cxnLst/>
              <a:rect l="l" t="t" r="r" b="b"/>
              <a:pathLst>
                <a:path w="237696" h="210705">
                  <a:moveTo>
                    <a:pt x="12192" y="199727"/>
                  </a:moveTo>
                  <a:lnTo>
                    <a:pt x="27670" y="153293"/>
                  </a:lnTo>
                  <a:cubicBezTo>
                    <a:pt x="0" y="112371"/>
                    <a:pt x="10692" y="59567"/>
                    <a:pt x="52673" y="29778"/>
                  </a:cubicBezTo>
                  <a:cubicBezTo>
                    <a:pt x="94655" y="0"/>
                    <a:pt x="154948" y="2441"/>
                    <a:pt x="193703" y="35493"/>
                  </a:cubicBezTo>
                  <a:cubicBezTo>
                    <a:pt x="232458" y="68556"/>
                    <a:pt x="237696" y="122003"/>
                    <a:pt x="205954" y="160520"/>
                  </a:cubicBezTo>
                  <a:cubicBezTo>
                    <a:pt x="174212" y="199037"/>
                    <a:pt x="115288" y="210705"/>
                    <a:pt x="68151" y="187821"/>
                  </a:cubicBezTo>
                  <a:lnTo>
                    <a:pt x="12192" y="199727"/>
                  </a:lnTo>
                </a:path>
              </a:pathLst>
            </a:custGeom>
            <a:noFill/>
            <a:ln w="23812">
              <a:solidFill>
                <a:srgbClr val="FFFFFF"/>
              </a:solidFill>
            </a:ln>
          </p:spPr>
        </p:sp>
        <p:sp>
          <p:nvSpPr>
            <p:cNvPr id="56" name="TextBox 56"/>
            <p:cNvSpPr txBox="1"/>
            <p:nvPr/>
          </p:nvSpPr>
          <p:spPr>
            <a:xfrm>
              <a:off x="5026736" y="311705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品牌现状</a:t>
              </a:r>
            </a:p>
          </p:txBody>
        </p:sp>
        <p:sp>
          <p:nvSpPr>
            <p:cNvPr id="57" name="TextBox 57"/>
            <p:cNvSpPr txBox="1"/>
            <p:nvPr/>
          </p:nvSpPr>
          <p:spPr>
            <a:xfrm>
              <a:off x="5108461" y="3339941"/>
              <a:ext cx="451079" cy="161925"/>
            </a:xfrm>
            <a:prstGeom prst="rect">
              <a:avLst/>
            </a:prstGeom>
            <a:noFill/>
            <a:ln>
              <a:noFill/>
            </a:ln>
          </p:spPr>
          <p:txBody>
            <a:bodyPr wrap="none" lIns="0" tIns="0" rIns="0" bIns="0" anchor="t" anchorCtr="0">
              <a:spAutoFit/>
            </a:bodyPr>
            <a:lstStyle/>
            <a:p>
              <a:pPr algn="ctr"/>
              <a:r>
                <a:rPr lang="zh-CN" sz="820" dirty="0">
                  <a:solidFill>
                    <a:srgbClr val="FDF6E7"/>
                  </a:solidFill>
                  <a:latin typeface="+mn-lt"/>
                  <a:ea typeface="+mn-ea"/>
                  <a:cs typeface="+mn-cs"/>
                </a:rPr>
                <a:t>现状梳理</a:t>
              </a:r>
            </a:p>
          </p:txBody>
        </p:sp>
        <p:sp>
          <p:nvSpPr>
            <p:cNvPr id="58" name="Ellipse 58"/>
            <p:cNvSpPr/>
            <p:nvPr/>
          </p:nvSpPr>
          <p:spPr>
            <a:xfrm>
              <a:off x="6210300" y="2495550"/>
              <a:ext cx="1295400" cy="1295400"/>
            </a:xfrm>
            <a:prstGeom prst="ellipse">
              <a:avLst/>
            </a:prstGeom>
            <a:solidFill>
              <a:srgbClr val="9C594C"/>
            </a:solidFill>
            <a:ln>
              <a:noFill/>
            </a:ln>
          </p:spPr>
        </p:sp>
        <p:grpSp>
          <p:nvGrpSpPr>
            <p:cNvPr id="62" name="Group 62"/>
            <p:cNvGrpSpPr/>
            <p:nvPr/>
          </p:nvGrpSpPr>
          <p:grpSpPr>
            <a:xfrm>
              <a:off x="6755630" y="2750344"/>
              <a:ext cx="204716" cy="213003"/>
              <a:chOff x="6755630" y="2750344"/>
              <a:chExt cx="204716" cy="213003"/>
            </a:xfrm>
          </p:grpSpPr>
          <p:sp>
            <p:nvSpPr>
              <p:cNvPr id="59" name="Freeform 59"/>
              <p:cNvSpPr/>
              <p:nvPr/>
            </p:nvSpPr>
            <p:spPr>
              <a:xfrm>
                <a:off x="6786562" y="2750344"/>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3812">
                <a:solidFill>
                  <a:srgbClr val="FFFFFF"/>
                </a:solidFill>
              </a:ln>
            </p:spPr>
          </p:sp>
          <p:sp>
            <p:nvSpPr>
              <p:cNvPr id="60" name="Freeform 60"/>
              <p:cNvSpPr/>
              <p:nvPr/>
            </p:nvSpPr>
            <p:spPr>
              <a:xfrm>
                <a:off x="6858000" y="2857500"/>
                <a:ext cx="102346" cy="105847"/>
              </a:xfrm>
              <a:custGeom>
                <a:avLst/>
                <a:gdLst/>
                <a:ahLst/>
                <a:cxnLst/>
                <a:rect l="l" t="t" r="r" b="b"/>
                <a:pathLst>
                  <a:path w="102346" h="105847">
                    <a:moveTo>
                      <a:pt x="0" y="35719"/>
                    </a:moveTo>
                    <a:lnTo>
                      <a:pt x="40481" y="105847"/>
                    </a:lnTo>
                    <a:lnTo>
                      <a:pt x="59507" y="67354"/>
                    </a:lnTo>
                    <a:lnTo>
                      <a:pt x="102346" y="70116"/>
                    </a:lnTo>
                    <a:lnTo>
                      <a:pt x="61865" y="0"/>
                    </a:lnTo>
                  </a:path>
                </a:pathLst>
              </a:custGeom>
              <a:noFill/>
              <a:ln w="23812">
                <a:solidFill>
                  <a:srgbClr val="FFFFFF"/>
                </a:solidFill>
              </a:ln>
            </p:spPr>
          </p:sp>
          <p:sp>
            <p:nvSpPr>
              <p:cNvPr id="61" name="Freeform 61"/>
              <p:cNvSpPr/>
              <p:nvPr/>
            </p:nvSpPr>
            <p:spPr>
              <a:xfrm>
                <a:off x="6755630" y="2857500"/>
                <a:ext cx="102346" cy="105835"/>
              </a:xfrm>
              <a:custGeom>
                <a:avLst/>
                <a:gdLst/>
                <a:ahLst/>
                <a:cxnLst/>
                <a:rect l="l" t="t" r="r" b="b"/>
                <a:pathLst>
                  <a:path w="102346" h="105835">
                    <a:moveTo>
                      <a:pt x="40481" y="0"/>
                    </a:moveTo>
                    <a:lnTo>
                      <a:pt x="0" y="70128"/>
                    </a:lnTo>
                    <a:lnTo>
                      <a:pt x="42839" y="67354"/>
                    </a:lnTo>
                    <a:lnTo>
                      <a:pt x="61865" y="105835"/>
                    </a:lnTo>
                    <a:lnTo>
                      <a:pt x="102346" y="35719"/>
                    </a:lnTo>
                  </a:path>
                </a:pathLst>
              </a:custGeom>
              <a:noFill/>
              <a:ln w="23812">
                <a:solidFill>
                  <a:srgbClr val="FFFFFF"/>
                </a:solidFill>
              </a:ln>
            </p:spPr>
          </p:sp>
        </p:grpSp>
        <p:sp>
          <p:nvSpPr>
            <p:cNvPr id="63" name="TextBox 63"/>
            <p:cNvSpPr txBox="1"/>
            <p:nvPr/>
          </p:nvSpPr>
          <p:spPr>
            <a:xfrm>
              <a:off x="6517509" y="3117056"/>
              <a:ext cx="68098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品牌DNA​</a:t>
              </a:r>
            </a:p>
          </p:txBody>
        </p:sp>
        <p:sp>
          <p:nvSpPr>
            <p:cNvPr id="64" name="TextBox 64"/>
            <p:cNvSpPr txBox="1"/>
            <p:nvPr/>
          </p:nvSpPr>
          <p:spPr>
            <a:xfrm>
              <a:off x="6632461" y="3339941"/>
              <a:ext cx="451079" cy="161925"/>
            </a:xfrm>
            <a:prstGeom prst="rect">
              <a:avLst/>
            </a:prstGeom>
            <a:noFill/>
            <a:ln>
              <a:noFill/>
            </a:ln>
          </p:spPr>
          <p:txBody>
            <a:bodyPr wrap="none" lIns="0" tIns="0" rIns="0" bIns="0" anchor="t" anchorCtr="0">
              <a:spAutoFit/>
            </a:bodyPr>
            <a:lstStyle/>
            <a:p>
              <a:pPr algn="ctr"/>
              <a:r>
                <a:rPr lang="zh-CN" sz="820" dirty="0">
                  <a:solidFill>
                    <a:srgbClr val="EAF4E2"/>
                  </a:solidFill>
                  <a:latin typeface="+mn-lt"/>
                  <a:ea typeface="+mn-ea"/>
                  <a:cs typeface="+mn-cs"/>
                </a:rPr>
                <a:t>未来预期</a:t>
              </a:r>
            </a:p>
          </p:txBody>
        </p:sp>
        <p:sp>
          <p:nvSpPr>
            <p:cNvPr id="65" name="Freeform 65"/>
            <p:cNvSpPr/>
            <p:nvPr/>
          </p:nvSpPr>
          <p:spPr>
            <a:xfrm>
              <a:off x="5829300" y="3619500"/>
              <a:ext cx="533400" cy="419100"/>
            </a:xfrm>
            <a:prstGeom prst="upArrow">
              <a:avLst/>
            </a:prstGeom>
            <a:solidFill>
              <a:srgbClr val="DFF0D2"/>
            </a:solidFill>
            <a:ln>
              <a:noFill/>
            </a:ln>
          </p:spPr>
        </p:sp>
        <p:sp>
          <p:nvSpPr>
            <p:cNvPr id="66" name="TextBox 66"/>
            <p:cNvSpPr txBox="1"/>
            <p:nvPr/>
          </p:nvSpPr>
          <p:spPr>
            <a:xfrm>
              <a:off x="5685472" y="4152186"/>
              <a:ext cx="821055" cy="264319"/>
            </a:xfrm>
            <a:prstGeom prst="rect">
              <a:avLst/>
            </a:prstGeom>
            <a:noFill/>
            <a:ln>
              <a:noFill/>
            </a:ln>
          </p:spPr>
          <p:txBody>
            <a:bodyPr wrap="none" lIns="0" tIns="0" rIns="0" bIns="0" anchor="t" anchorCtr="0">
              <a:spAutoFit/>
            </a:bodyPr>
            <a:lstStyle/>
            <a:p>
              <a:pPr algn="ctr">
                <a:lnSpc>
                  <a:spcPts val="975"/>
                </a:lnSpc>
              </a:pPr>
              <a:r>
                <a:rPr lang="zh-CN" sz="710" dirty="0">
                  <a:solidFill>
                    <a:srgbClr val="8C8C8C"/>
                  </a:solidFill>
                  <a:latin typeface="+mn-lt"/>
                  <a:ea typeface="+mn-ea"/>
                  <a:cs typeface="+mn-cs"/>
                </a:rPr>
                <a:t>云图大会设计目标</a:t>
              </a:r>
              <a:br/>
              <a:r>
                <a:rPr lang="zh-CN" sz="710" dirty="0">
                  <a:solidFill>
                    <a:srgbClr val="8C8C8C"/>
                  </a:solidFill>
                  <a:latin typeface="+mn-lt"/>
                  <a:ea typeface="+mn-ea"/>
                  <a:cs typeface="+mn-cs"/>
                </a:rPr>
                <a:t>线下大会的业务特征</a:t>
              </a:r>
            </a:p>
          </p:txBody>
        </p:sp>
        <p:sp>
          <p:nvSpPr>
            <p:cNvPr id="67" name="TextBox 67"/>
            <p:cNvSpPr txBox="1"/>
            <p:nvPr/>
          </p:nvSpPr>
          <p:spPr>
            <a:xfrm>
              <a:off x="5766816" y="4480560"/>
              <a:ext cx="658368" cy="234696"/>
            </a:xfrm>
            <a:prstGeom prst="rect">
              <a:avLst/>
            </a:prstGeom>
            <a:noFill/>
            <a:ln>
              <a:noFill/>
            </a:ln>
          </p:spPr>
          <p:txBody>
            <a:bodyPr wrap="none" lIns="0" tIns="0" rIns="0" bIns="0" anchor="t" anchorCtr="0">
              <a:spAutoFit/>
            </a:bodyPr>
            <a:lstStyle/>
            <a:p>
              <a:pPr algn="ctr"/>
              <a:r>
                <a:rPr lang="zh-CN" sz="1200" b="1" dirty="0">
                  <a:solidFill>
                    <a:srgbClr val="333333"/>
                  </a:solidFill>
                  <a:latin typeface="+mn-lt"/>
                  <a:ea typeface="+mn-ea"/>
                  <a:cs typeface="+mn-cs"/>
                </a:rPr>
                <a:t>设计目标</a:t>
              </a:r>
            </a:p>
          </p:txBody>
        </p:sp>
      </p:grpSp>
      <p:grpSp>
        <p:nvGrpSpPr>
          <p:cNvPr id="88" name="right-cluster"/>
          <p:cNvGrpSpPr/>
          <p:nvPr/>
        </p:nvGrpSpPr>
        <p:grpSpPr>
          <a:xfrm>
            <a:off x="8845092" y="1969948"/>
            <a:ext cx="2026108" cy="3389532"/>
            <a:chOff x="8845092" y="1969948"/>
            <a:chExt cx="2026108" cy="3389532"/>
          </a:xfrm>
        </p:grpSpPr>
        <p:sp>
          <p:nvSpPr>
            <p:cNvPr id="69" name="Freeform 69"/>
            <p:cNvSpPr/>
            <p:nvPr/>
          </p:nvSpPr>
          <p:spPr>
            <a:xfrm>
              <a:off x="10668000" y="2381250"/>
              <a:ext cx="203200" cy="1714500"/>
            </a:xfrm>
            <a:custGeom>
              <a:avLst/>
              <a:gdLst/>
              <a:ahLst/>
              <a:cxnLst/>
              <a:rect l="l" t="t" r="r" b="b"/>
              <a:pathLst>
                <a:path w="203200" h="1714500">
                  <a:moveTo>
                    <a:pt x="0" y="0"/>
                  </a:moveTo>
                  <a:cubicBezTo>
                    <a:pt x="203200" y="571500"/>
                    <a:pt x="203200" y="1143000"/>
                    <a:pt x="0" y="1714500"/>
                  </a:cubicBezTo>
                </a:path>
              </a:pathLst>
            </a:custGeom>
            <a:noFill/>
            <a:ln w="11430">
              <a:solidFill>
                <a:srgbClr val="9C594C"/>
              </a:solidFill>
              <a:custDash>
                <a:ds d="333333" sp="250000"/>
              </a:custDash>
              <a:tailEnd type="triangle" w="lg" len="lg"/>
            </a:ln>
          </p:spPr>
        </p:sp>
        <p:sp>
          <p:nvSpPr>
            <p:cNvPr id="70" name="TextBox 70"/>
            <p:cNvSpPr txBox="1"/>
            <p:nvPr/>
          </p:nvSpPr>
          <p:spPr>
            <a:xfrm rot="1320000">
              <a:off x="8845092" y="1969948"/>
              <a:ext cx="983097"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影响力提升 拓盘潜在用户</a:t>
              </a:r>
            </a:p>
          </p:txBody>
        </p:sp>
        <p:sp>
          <p:nvSpPr>
            <p:cNvPr id="71" name="TextBox 71"/>
            <p:cNvSpPr txBox="1"/>
            <p:nvPr/>
          </p:nvSpPr>
          <p:spPr>
            <a:xfrm rot="-1320000">
              <a:off x="8883889" y="4217848"/>
              <a:ext cx="896940"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架构化发展 增加实用性</a:t>
              </a:r>
            </a:p>
          </p:txBody>
        </p:sp>
        <p:sp>
          <p:nvSpPr>
            <p:cNvPr id="72" name="Ellipse 72"/>
            <p:cNvSpPr/>
            <p:nvPr/>
          </p:nvSpPr>
          <p:spPr>
            <a:xfrm>
              <a:off x="9944100" y="2228850"/>
              <a:ext cx="685800" cy="685800"/>
            </a:xfrm>
            <a:prstGeom prst="ellipse">
              <a:avLst/>
            </a:prstGeom>
            <a:solidFill>
              <a:srgbClr val="DFF0D2"/>
            </a:solidFill>
            <a:ln>
              <a:noFill/>
            </a:ln>
          </p:spPr>
        </p:sp>
        <p:sp>
          <p:nvSpPr>
            <p:cNvPr id="73" name="TextBox 73"/>
            <p:cNvSpPr txBox="1"/>
            <p:nvPr/>
          </p:nvSpPr>
          <p:spPr>
            <a:xfrm>
              <a:off x="10140315" y="2515552"/>
              <a:ext cx="293370" cy="205359"/>
            </a:xfrm>
            <a:prstGeom prst="rect">
              <a:avLst/>
            </a:prstGeom>
            <a:noFill/>
            <a:ln>
              <a:noFill/>
            </a:ln>
          </p:spPr>
          <p:txBody>
            <a:bodyPr wrap="none" lIns="0" tIns="0" rIns="0" bIns="0" anchor="t" anchorCtr="0">
              <a:spAutoFit/>
            </a:bodyPr>
            <a:lstStyle/>
            <a:p>
              <a:pPr algn="ctr"/>
              <a:r>
                <a:rPr lang="zh-CN" sz="1050" b="1" dirty="0">
                  <a:solidFill>
                    <a:srgbClr val="7A3E33"/>
                  </a:solidFill>
                  <a:latin typeface="+mn-lt"/>
                  <a:ea typeface="+mn-ea"/>
                  <a:cs typeface="+mn-cs"/>
                </a:rPr>
                <a:t>用户</a:t>
              </a:r>
            </a:p>
          </p:txBody>
        </p:sp>
        <p:sp>
          <p:nvSpPr>
            <p:cNvPr id="74" name="Ellipse 74"/>
            <p:cNvSpPr/>
            <p:nvPr/>
          </p:nvSpPr>
          <p:spPr>
            <a:xfrm>
              <a:off x="9944100" y="2895600"/>
              <a:ext cx="685800" cy="685800"/>
            </a:xfrm>
            <a:prstGeom prst="ellipse">
              <a:avLst/>
            </a:prstGeom>
            <a:solidFill>
              <a:srgbClr val="CD9F96"/>
            </a:solidFill>
            <a:ln>
              <a:noFill/>
            </a:ln>
          </p:spPr>
        </p:sp>
        <p:sp>
          <p:nvSpPr>
            <p:cNvPr id="75" name="TextBox 75"/>
            <p:cNvSpPr txBox="1"/>
            <p:nvPr/>
          </p:nvSpPr>
          <p:spPr>
            <a:xfrm>
              <a:off x="10140315" y="3182302"/>
              <a:ext cx="293370" cy="205359"/>
            </a:xfrm>
            <a:prstGeom prst="rect">
              <a:avLst/>
            </a:prstGeom>
            <a:noFill/>
            <a:ln>
              <a:noFill/>
            </a:ln>
          </p:spPr>
          <p:txBody>
            <a:bodyPr wrap="none" lIns="0" tIns="0" rIns="0" bIns="0" anchor="t" anchorCtr="0">
              <a:spAutoFit/>
            </a:bodyPr>
            <a:lstStyle/>
            <a:p>
              <a:pPr algn="ctr"/>
              <a:r>
                <a:rPr lang="zh-CN" sz="1050" b="1" dirty="0">
                  <a:solidFill>
                    <a:srgbClr val="7A3E33"/>
                  </a:solidFill>
                  <a:latin typeface="+mn-lt"/>
                  <a:ea typeface="+mn-ea"/>
                  <a:cs typeface="+mn-cs"/>
                </a:rPr>
                <a:t>投顾</a:t>
              </a:r>
            </a:p>
          </p:txBody>
        </p:sp>
        <p:sp>
          <p:nvSpPr>
            <p:cNvPr id="76" name="Ellipse 76"/>
            <p:cNvSpPr/>
            <p:nvPr/>
          </p:nvSpPr>
          <p:spPr>
            <a:xfrm>
              <a:off x="9944100" y="3562350"/>
              <a:ext cx="685800" cy="685800"/>
            </a:xfrm>
            <a:prstGeom prst="ellipse">
              <a:avLst/>
            </a:prstGeom>
            <a:solidFill>
              <a:srgbClr val="9C594C"/>
            </a:solidFill>
            <a:ln>
              <a:noFill/>
            </a:ln>
          </p:spPr>
        </p:sp>
        <p:sp>
          <p:nvSpPr>
            <p:cNvPr id="77" name="TextBox 77"/>
            <p:cNvSpPr txBox="1"/>
            <p:nvPr/>
          </p:nvSpPr>
          <p:spPr>
            <a:xfrm>
              <a:off x="10140315" y="38490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产品</a:t>
              </a:r>
            </a:p>
          </p:txBody>
        </p:sp>
        <p:sp>
          <p:nvSpPr>
            <p:cNvPr id="78" name="Rectangle 78"/>
            <p:cNvSpPr/>
            <p:nvPr/>
          </p:nvSpPr>
          <p:spPr>
            <a:xfrm>
              <a:off x="8858250" y="2457450"/>
              <a:ext cx="857250" cy="247650"/>
            </a:xfrm>
            <a:prstGeom prst="rect">
              <a:avLst/>
            </a:prstGeom>
            <a:solidFill>
              <a:srgbClr val="DFF0D2"/>
            </a:solidFill>
            <a:ln>
              <a:noFill/>
            </a:ln>
          </p:spPr>
        </p:sp>
        <p:sp>
          <p:nvSpPr>
            <p:cNvPr id="79" name="TextBox 79"/>
            <p:cNvSpPr txBox="1"/>
            <p:nvPr/>
          </p:nvSpPr>
          <p:spPr>
            <a:xfrm>
              <a:off x="9069413" y="2543889"/>
              <a:ext cx="43492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使命愿景</a:t>
              </a:r>
            </a:p>
          </p:txBody>
        </p:sp>
        <p:sp>
          <p:nvSpPr>
            <p:cNvPr id="80" name="Rectangle 80"/>
            <p:cNvSpPr/>
            <p:nvPr/>
          </p:nvSpPr>
          <p:spPr>
            <a:xfrm>
              <a:off x="8858250" y="3124200"/>
              <a:ext cx="857250" cy="247650"/>
            </a:xfrm>
            <a:prstGeom prst="rect">
              <a:avLst/>
            </a:prstGeom>
            <a:solidFill>
              <a:srgbClr val="DFF0D2"/>
            </a:solidFill>
            <a:ln>
              <a:noFill/>
            </a:ln>
          </p:spPr>
        </p:sp>
        <p:sp>
          <p:nvSpPr>
            <p:cNvPr id="81" name="TextBox 81"/>
            <p:cNvSpPr txBox="1"/>
            <p:nvPr/>
          </p:nvSpPr>
          <p:spPr>
            <a:xfrm>
              <a:off x="9069413" y="3210639"/>
              <a:ext cx="434924"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核心价值</a:t>
              </a:r>
            </a:p>
          </p:txBody>
        </p:sp>
        <p:sp>
          <p:nvSpPr>
            <p:cNvPr id="82" name="Rectangle 82"/>
            <p:cNvSpPr/>
            <p:nvPr/>
          </p:nvSpPr>
          <p:spPr>
            <a:xfrm>
              <a:off x="8858250" y="3790950"/>
              <a:ext cx="857250" cy="247650"/>
            </a:xfrm>
            <a:prstGeom prst="rect">
              <a:avLst/>
            </a:prstGeom>
            <a:solidFill>
              <a:srgbClr val="9C594C"/>
            </a:solidFill>
            <a:ln>
              <a:noFill/>
            </a:ln>
          </p:spPr>
        </p:sp>
        <p:sp>
          <p:nvSpPr>
            <p:cNvPr id="83" name="TextBox 83"/>
            <p:cNvSpPr txBox="1"/>
            <p:nvPr/>
          </p:nvSpPr>
          <p:spPr>
            <a:xfrm>
              <a:off x="9069413" y="387738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品牌特征</a:t>
              </a:r>
            </a:p>
          </p:txBody>
        </p:sp>
        <p:sp>
          <p:nvSpPr>
            <p:cNvPr id="84" name="Freeform 84"/>
            <p:cNvSpPr/>
            <p:nvPr/>
          </p:nvSpPr>
          <p:spPr>
            <a:xfrm rot="10800000">
              <a:off x="9286875" y="4362450"/>
              <a:ext cx="190500" cy="133350"/>
            </a:xfrm>
            <a:prstGeom prst="triangle">
              <a:avLst/>
            </a:prstGeom>
            <a:solidFill>
              <a:srgbClr val="8C4B3F"/>
            </a:solidFill>
            <a:ln>
              <a:noFill/>
            </a:ln>
          </p:spPr>
        </p:sp>
        <p:sp>
          <p:nvSpPr>
            <p:cNvPr id="85" name="Rectangle 85"/>
            <p:cNvSpPr/>
            <p:nvPr/>
          </p:nvSpPr>
          <p:spPr>
            <a:xfrm>
              <a:off x="8858250" y="4572000"/>
              <a:ext cx="1047750" cy="247650"/>
            </a:xfrm>
            <a:prstGeom prst="rect">
              <a:avLst/>
            </a:prstGeom>
            <a:solidFill>
              <a:srgbClr val="8C4B3F"/>
            </a:solidFill>
            <a:ln>
              <a:noFill/>
            </a:ln>
          </p:spPr>
        </p:sp>
        <p:sp>
          <p:nvSpPr>
            <p:cNvPr id="86" name="TextBox 86"/>
            <p:cNvSpPr txBox="1"/>
            <p:nvPr/>
          </p:nvSpPr>
          <p:spPr>
            <a:xfrm>
              <a:off x="9135046" y="46462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智慧金融</a:t>
              </a:r>
            </a:p>
          </p:txBody>
        </p:sp>
        <p:sp>
          <p:nvSpPr>
            <p:cNvPr id="87" name="TextBox 87"/>
            <p:cNvSpPr txBox="1"/>
            <p:nvPr/>
          </p:nvSpPr>
          <p:spPr>
            <a:xfrm>
              <a:off x="8853488" y="4914186"/>
              <a:ext cx="1001395" cy="445294"/>
            </a:xfrm>
            <a:prstGeom prst="rect">
              <a:avLst/>
            </a:prstGeom>
            <a:noFill/>
            <a:ln>
              <a:noFill/>
            </a:ln>
          </p:spPr>
          <p:txBody>
            <a:bodyPr wrap="none" lIns="0" tIns="0" rIns="0" bIns="0" anchor="t" anchorCtr="0">
              <a:spAutoFit/>
            </a:bodyPr>
            <a:lstStyle/>
            <a:p>
              <a:pPr algn="l">
                <a:lnSpc>
                  <a:spcPts val="1200"/>
                </a:lnSpc>
              </a:pPr>
              <a:r>
                <a:rPr lang="zh-CN" sz="710" dirty="0">
                  <a:solidFill>
                    <a:srgbClr val="333333"/>
                  </a:solidFill>
                  <a:latin typeface="+mn-lt"/>
                  <a:ea typeface="+mn-ea"/>
                  <a:cs typeface="+mn-cs"/>
                </a:rPr>
                <a:t>要加快推进金融科技战略</a:t>
              </a:r>
              <a:br/>
              <a:r>
                <a:rPr lang="zh-CN" sz="710" dirty="0">
                  <a:solidFill>
                    <a:srgbClr val="333333"/>
                  </a:solidFill>
                  <a:latin typeface="+mn-lt"/>
                  <a:ea typeface="+mn-ea"/>
                  <a:cs typeface="+mn-cs"/>
                </a:rPr>
                <a:t>，通过旗下招银网络科技</a:t>
              </a:r>
              <a:br/>
              <a:r>
                <a:rPr lang="zh-CN" sz="710" dirty="0">
                  <a:solidFill>
                    <a:srgbClr val="333333"/>
                  </a:solidFill>
                  <a:latin typeface="+mn-lt"/>
                  <a:ea typeface="+mn-ea"/>
                  <a:cs typeface="+mn-cs"/>
                </a:rPr>
                <a:t>加人工智能的创新应用</a:t>
              </a:r>
            </a:p>
          </p:txBody>
        </p:sp>
      </p:grpSp>
      <p:grpSp>
        <p:nvGrpSpPr>
          <p:cNvPr id="91" name="vtext-right"/>
          <p:cNvGrpSpPr/>
          <p:nvPr/>
        </p:nvGrpSpPr>
        <p:grpSpPr>
          <a:xfrm>
            <a:off x="11267758" y="1127760"/>
            <a:ext cx="435038" cy="4235196"/>
            <a:chOff x="11267758" y="1127760"/>
            <a:chExt cx="435038" cy="4235196"/>
          </a:xfrm>
        </p:grpSpPr>
        <p:sp>
          <p:nvSpPr>
            <p:cNvPr id="89" name="TextBox 89"/>
            <p:cNvSpPr txBox="1"/>
            <p:nvPr/>
          </p:nvSpPr>
          <p:spPr>
            <a:xfrm>
              <a:off x="11538204" y="1127760"/>
              <a:ext cx="164592" cy="4235196"/>
            </a:xfrm>
            <a:prstGeom prst="rect">
              <a:avLst/>
            </a:prstGeom>
            <a:noFill/>
            <a:ln>
              <a:noFill/>
            </a:ln>
          </p:spPr>
          <p:txBody>
            <a:bodyPr wrap="none" lIns="0" tIns="0" rIns="0" bIns="0" anchor="t" anchorCtr="0">
              <a:spAutoFit/>
            </a:bodyPr>
            <a:lstStyle/>
            <a:p>
              <a:pPr algn="ctr">
                <a:lnSpc>
                  <a:spcPts val="2250"/>
                </a:lnSpc>
              </a:pPr>
              <a:r>
                <a:rPr lang="zh-CN" sz="1200" b="1" dirty="0">
                  <a:solidFill>
                    <a:srgbClr val="7A3E33"/>
                  </a:solidFill>
                  <a:latin typeface="+mn-lt"/>
                  <a:ea typeface="+mn-ea"/>
                  <a:cs typeface="+mn-cs"/>
                </a:rPr>
                <a:t>投</a:t>
              </a:r>
              <a:br/>
              <a:r>
                <a:rPr lang="zh-CN" sz="1200" b="1" dirty="0">
                  <a:solidFill>
                    <a:srgbClr val="7A3E33"/>
                  </a:solidFill>
                  <a:latin typeface="+mn-lt"/>
                  <a:ea typeface="+mn-ea"/>
                  <a:cs typeface="+mn-cs"/>
                </a:rPr>
                <a:t>顾</a:t>
              </a:r>
              <a:br/>
              <a:r>
                <a:rPr lang="zh-CN" sz="1200" b="1" dirty="0">
                  <a:solidFill>
                    <a:srgbClr val="7A3E33"/>
                  </a:solidFill>
                  <a:latin typeface="+mn-lt"/>
                  <a:ea typeface="+mn-ea"/>
                  <a:cs typeface="+mn-cs"/>
                </a:rPr>
                <a:t>懂</a:t>
              </a:r>
              <a:br/>
              <a:r>
                <a:rPr lang="zh-CN" sz="1200" b="1" dirty="0">
                  <a:solidFill>
                    <a:srgbClr val="7A3E33"/>
                  </a:solidFill>
                  <a:latin typeface="+mn-lt"/>
                  <a:ea typeface="+mn-ea"/>
                  <a:cs typeface="+mn-cs"/>
                </a:rPr>
                <a:t>用</a:t>
              </a:r>
              <a:br/>
              <a:r>
                <a:rPr lang="zh-CN" sz="1200" b="1" dirty="0">
                  <a:solidFill>
                    <a:srgbClr val="7A3E33"/>
                  </a:solidFill>
                  <a:latin typeface="+mn-lt"/>
                  <a:ea typeface="+mn-ea"/>
                  <a:cs typeface="+mn-cs"/>
                </a:rPr>
                <a:t>户</a:t>
              </a:r>
              <a:br/>
              <a:r>
                <a:rPr lang="zh-CN" sz="1200" b="1" dirty="0">
                  <a:solidFill>
                    <a:srgbClr val="7A3E33"/>
                  </a:solidFill>
                  <a:latin typeface="+mn-lt"/>
                  <a:ea typeface="+mn-ea"/>
                  <a:cs typeface="+mn-cs"/>
                </a:rPr>
                <a:t>需</a:t>
              </a:r>
              <a:br/>
              <a:r>
                <a:rPr lang="zh-CN" sz="1200" b="1" dirty="0">
                  <a:solidFill>
                    <a:srgbClr val="7A3E33"/>
                  </a:solidFill>
                  <a:latin typeface="+mn-lt"/>
                  <a:ea typeface="+mn-ea"/>
                  <a:cs typeface="+mn-cs"/>
                </a:rPr>
                <a:t>求</a:t>
              </a:r>
              <a:br/>
              <a:r>
                <a:rPr lang="zh-CN" sz="1200" b="1" dirty="0">
                  <a:solidFill>
                    <a:srgbClr val="7A3E33"/>
                  </a:solidFill>
                  <a:latin typeface="+mn-lt"/>
                  <a:ea typeface="+mn-ea"/>
                  <a:cs typeface="+mn-cs"/>
                </a:rPr>
                <a:t>，</a:t>
              </a:r>
              <a:br/>
              <a:r>
                <a:rPr lang="zh-CN" sz="1200" b="1" dirty="0">
                  <a:solidFill>
                    <a:srgbClr val="7A3E33"/>
                  </a:solidFill>
                  <a:latin typeface="+mn-lt"/>
                  <a:ea typeface="+mn-ea"/>
                  <a:cs typeface="+mn-cs"/>
                </a:rPr>
                <a:t>链</a:t>
              </a:r>
              <a:br/>
              <a:r>
                <a:rPr lang="zh-CN" sz="1200" b="1" dirty="0">
                  <a:solidFill>
                    <a:srgbClr val="7A3E33"/>
                  </a:solidFill>
                  <a:latin typeface="+mn-lt"/>
                  <a:ea typeface="+mn-ea"/>
                  <a:cs typeface="+mn-cs"/>
                </a:rPr>
                <a:t>接</a:t>
              </a:r>
              <a:br/>
              <a:r>
                <a:rPr lang="zh-CN" sz="1200" b="1" dirty="0">
                  <a:solidFill>
                    <a:srgbClr val="7A3E33"/>
                  </a:solidFill>
                  <a:latin typeface="+mn-lt"/>
                  <a:ea typeface="+mn-ea"/>
                  <a:cs typeface="+mn-cs"/>
                </a:rPr>
                <a:t>用</a:t>
              </a:r>
              <a:br/>
              <a:r>
                <a:rPr lang="zh-CN" sz="1200" b="1" dirty="0">
                  <a:solidFill>
                    <a:srgbClr val="7A3E33"/>
                  </a:solidFill>
                  <a:latin typeface="+mn-lt"/>
                  <a:ea typeface="+mn-ea"/>
                  <a:cs typeface="+mn-cs"/>
                </a:rPr>
                <a:t>户</a:t>
              </a:r>
              <a:br/>
              <a:r>
                <a:rPr lang="zh-CN" sz="1200" b="1" dirty="0">
                  <a:solidFill>
                    <a:srgbClr val="7A3E33"/>
                  </a:solidFill>
                  <a:latin typeface="+mn-lt"/>
                  <a:ea typeface="+mn-ea"/>
                  <a:cs typeface="+mn-cs"/>
                </a:rPr>
                <a:t>和</a:t>
              </a:r>
              <a:br/>
              <a:r>
                <a:rPr lang="zh-CN" sz="1200" b="1" dirty="0">
                  <a:solidFill>
                    <a:srgbClr val="7A3E33"/>
                  </a:solidFill>
                  <a:latin typeface="+mn-lt"/>
                  <a:ea typeface="+mn-ea"/>
                  <a:cs typeface="+mn-cs"/>
                </a:rPr>
                <a:t>产</a:t>
              </a:r>
              <a:br/>
              <a:r>
                <a:rPr lang="zh-CN" sz="1200" b="1" dirty="0">
                  <a:solidFill>
                    <a:srgbClr val="7A3E33"/>
                  </a:solidFill>
                  <a:latin typeface="+mn-lt"/>
                  <a:ea typeface="+mn-ea"/>
                  <a:cs typeface="+mn-cs"/>
                </a:rPr>
                <a:t>品</a:t>
              </a:r>
            </a:p>
          </p:txBody>
        </p:sp>
        <p:sp>
          <p:nvSpPr>
            <p:cNvPr id="90" name="TextBox 90"/>
            <p:cNvSpPr txBox="1"/>
            <p:nvPr/>
          </p:nvSpPr>
          <p:spPr>
            <a:xfrm>
              <a:off x="11267758" y="1203484"/>
              <a:ext cx="95885" cy="3067050"/>
            </a:xfrm>
            <a:prstGeom prst="rect">
              <a:avLst/>
            </a:prstGeom>
            <a:noFill/>
            <a:ln>
              <a:noFill/>
            </a:ln>
          </p:spPr>
          <p:txBody>
            <a:bodyPr wrap="none" lIns="0" tIns="0" rIns="0" bIns="0" anchor="t" anchorCtr="0">
              <a:spAutoFit/>
            </a:bodyPr>
            <a:lstStyle/>
            <a:p>
              <a:pPr algn="ctr">
                <a:lnSpc>
                  <a:spcPts val="1050"/>
                </a:lnSpc>
              </a:pPr>
              <a:r>
                <a:rPr lang="zh-CN" sz="680" dirty="0">
                  <a:solidFill>
                    <a:srgbClr val="595959"/>
                  </a:solidFill>
                  <a:latin typeface="+mn-lt"/>
                  <a:ea typeface="+mn-ea"/>
                  <a:cs typeface="+mn-cs"/>
                </a:rPr>
                <a:t>根</a:t>
              </a:r>
              <a:br/>
              <a:r>
                <a:rPr lang="zh-CN" sz="680" dirty="0">
                  <a:solidFill>
                    <a:srgbClr val="595959"/>
                  </a:solidFill>
                  <a:latin typeface="+mn-lt"/>
                  <a:ea typeface="+mn-ea"/>
                  <a:cs typeface="+mn-cs"/>
                </a:rPr>
                <a:t>据</a:t>
              </a:r>
              <a:br/>
              <a:r>
                <a:rPr lang="zh-CN" sz="680" dirty="0">
                  <a:solidFill>
                    <a:srgbClr val="595959"/>
                  </a:solidFill>
                  <a:latin typeface="+mn-lt"/>
                  <a:ea typeface="+mn-ea"/>
                  <a:cs typeface="+mn-cs"/>
                </a:rPr>
                <a:t>用</a:t>
              </a:r>
              <a:br/>
              <a:r>
                <a:rPr lang="zh-CN" sz="680" dirty="0">
                  <a:solidFill>
                    <a:srgbClr val="595959"/>
                  </a:solidFill>
                  <a:latin typeface="+mn-lt"/>
                  <a:ea typeface="+mn-ea"/>
                  <a:cs typeface="+mn-cs"/>
                </a:rPr>
                <a:t>户</a:t>
              </a:r>
              <a:br/>
              <a:r>
                <a:rPr lang="zh-CN" sz="680" dirty="0">
                  <a:solidFill>
                    <a:srgbClr val="595959"/>
                  </a:solidFill>
                  <a:latin typeface="+mn-lt"/>
                  <a:ea typeface="+mn-ea"/>
                  <a:cs typeface="+mn-cs"/>
                </a:rPr>
                <a:t>需</a:t>
              </a:r>
              <a:br/>
              <a:r>
                <a:rPr lang="zh-CN" sz="680" dirty="0">
                  <a:solidFill>
                    <a:srgbClr val="595959"/>
                  </a:solidFill>
                  <a:latin typeface="+mn-lt"/>
                  <a:ea typeface="+mn-ea"/>
                  <a:cs typeface="+mn-cs"/>
                </a:rPr>
                <a:t>求</a:t>
              </a:r>
              <a:br/>
              <a:r>
                <a:rPr lang="zh-CN" sz="680" dirty="0">
                  <a:solidFill>
                    <a:srgbClr val="595959"/>
                  </a:solidFill>
                  <a:latin typeface="+mn-lt"/>
                  <a:ea typeface="+mn-ea"/>
                  <a:cs typeface="+mn-cs"/>
                </a:rPr>
                <a:t>，</a:t>
              </a:r>
              <a:br/>
              <a:r>
                <a:rPr lang="zh-CN" sz="680" dirty="0">
                  <a:solidFill>
                    <a:srgbClr val="595959"/>
                  </a:solidFill>
                  <a:latin typeface="+mn-lt"/>
                  <a:ea typeface="+mn-ea"/>
                  <a:cs typeface="+mn-cs"/>
                </a:rPr>
                <a:t>匹</a:t>
              </a:r>
              <a:br/>
              <a:r>
                <a:rPr lang="zh-CN" sz="680" dirty="0">
                  <a:solidFill>
                    <a:srgbClr val="595959"/>
                  </a:solidFill>
                  <a:latin typeface="+mn-lt"/>
                  <a:ea typeface="+mn-ea"/>
                  <a:cs typeface="+mn-cs"/>
                </a:rPr>
                <a:t>配</a:t>
              </a:r>
              <a:br/>
              <a:r>
                <a:rPr lang="zh-CN" sz="680" dirty="0">
                  <a:solidFill>
                    <a:srgbClr val="595959"/>
                  </a:solidFill>
                  <a:latin typeface="+mn-lt"/>
                  <a:ea typeface="+mn-ea"/>
                  <a:cs typeface="+mn-cs"/>
                </a:rPr>
                <a:t>满</a:t>
              </a:r>
              <a:br/>
              <a:r>
                <a:rPr lang="zh-CN" sz="680" dirty="0">
                  <a:solidFill>
                    <a:srgbClr val="595959"/>
                  </a:solidFill>
                  <a:latin typeface="+mn-lt"/>
                  <a:ea typeface="+mn-ea"/>
                  <a:cs typeface="+mn-cs"/>
                </a:rPr>
                <a:t>足</a:t>
              </a:r>
              <a:br/>
              <a:r>
                <a:rPr lang="zh-CN" sz="680" dirty="0">
                  <a:solidFill>
                    <a:srgbClr val="595959"/>
                  </a:solidFill>
                  <a:latin typeface="+mn-lt"/>
                  <a:ea typeface="+mn-ea"/>
                  <a:cs typeface="+mn-cs"/>
                </a:rPr>
                <a:t>需</a:t>
              </a:r>
              <a:br/>
              <a:r>
                <a:rPr lang="zh-CN" sz="680" dirty="0">
                  <a:solidFill>
                    <a:srgbClr val="595959"/>
                  </a:solidFill>
                  <a:latin typeface="+mn-lt"/>
                  <a:ea typeface="+mn-ea"/>
                  <a:cs typeface="+mn-cs"/>
                </a:rPr>
                <a:t>求</a:t>
              </a:r>
              <a:br/>
              <a:r>
                <a:rPr lang="zh-CN" sz="680" dirty="0">
                  <a:solidFill>
                    <a:srgbClr val="595959"/>
                  </a:solidFill>
                  <a:latin typeface="+mn-lt"/>
                  <a:ea typeface="+mn-ea"/>
                  <a:cs typeface="+mn-cs"/>
                </a:rPr>
                <a:t>的</a:t>
              </a:r>
              <a:br/>
              <a:r>
                <a:rPr lang="zh-CN" sz="680" dirty="0">
                  <a:solidFill>
                    <a:srgbClr val="595959"/>
                  </a:solidFill>
                  <a:latin typeface="+mn-lt"/>
                  <a:ea typeface="+mn-ea"/>
                  <a:cs typeface="+mn-cs"/>
                </a:rPr>
                <a:t>产</a:t>
              </a:r>
              <a:br/>
              <a:r>
                <a:rPr lang="zh-CN" sz="680" dirty="0">
                  <a:solidFill>
                    <a:srgbClr val="595959"/>
                  </a:solidFill>
                  <a:latin typeface="+mn-lt"/>
                  <a:ea typeface="+mn-ea"/>
                  <a:cs typeface="+mn-cs"/>
                </a:rPr>
                <a:t>品</a:t>
              </a:r>
              <a:br/>
              <a:r>
                <a:rPr lang="zh-CN" sz="680" dirty="0">
                  <a:solidFill>
                    <a:srgbClr val="595959"/>
                  </a:solidFill>
                  <a:latin typeface="+mn-lt"/>
                  <a:ea typeface="+mn-ea"/>
                  <a:cs typeface="+mn-cs"/>
                </a:rPr>
                <a:t>，</a:t>
              </a:r>
              <a:br/>
              <a:r>
                <a:rPr lang="zh-CN" sz="680" dirty="0">
                  <a:solidFill>
                    <a:srgbClr val="595959"/>
                  </a:solidFill>
                  <a:latin typeface="+mn-lt"/>
                  <a:ea typeface="+mn-ea"/>
                  <a:cs typeface="+mn-cs"/>
                </a:rPr>
                <a:t>并</a:t>
              </a:r>
              <a:br/>
              <a:r>
                <a:rPr lang="zh-CN" sz="680" dirty="0">
                  <a:solidFill>
                    <a:srgbClr val="595959"/>
                  </a:solidFill>
                  <a:latin typeface="+mn-lt"/>
                  <a:ea typeface="+mn-ea"/>
                  <a:cs typeface="+mn-cs"/>
                </a:rPr>
                <a:t>陪</a:t>
              </a:r>
              <a:br/>
              <a:r>
                <a:rPr lang="zh-CN" sz="680" dirty="0">
                  <a:solidFill>
                    <a:srgbClr val="595959"/>
                  </a:solidFill>
                  <a:latin typeface="+mn-lt"/>
                  <a:ea typeface="+mn-ea"/>
                  <a:cs typeface="+mn-cs"/>
                </a:rPr>
                <a:t>伴</a:t>
              </a:r>
              <a:br/>
              <a:r>
                <a:rPr lang="zh-CN" sz="680" dirty="0">
                  <a:solidFill>
                    <a:srgbClr val="595959"/>
                  </a:solidFill>
                  <a:latin typeface="+mn-lt"/>
                  <a:ea typeface="+mn-ea"/>
                  <a:cs typeface="+mn-cs"/>
                </a:rPr>
                <a:t>是</a:t>
              </a:r>
              <a:br/>
              <a:r>
                <a:rPr lang="zh-CN" sz="680" dirty="0">
                  <a:solidFill>
                    <a:srgbClr val="595959"/>
                  </a:solidFill>
                  <a:latin typeface="+mn-lt"/>
                  <a:ea typeface="+mn-ea"/>
                  <a:cs typeface="+mn-cs"/>
                </a:rPr>
                <a:t>服</a:t>
              </a:r>
              <a:br/>
              <a:r>
                <a:rPr lang="zh-CN" sz="680" dirty="0">
                  <a:solidFill>
                    <a:srgbClr val="595959"/>
                  </a:solidFill>
                  <a:latin typeface="+mn-lt"/>
                  <a:ea typeface="+mn-ea"/>
                  <a:cs typeface="+mn-cs"/>
                </a:rPr>
                <a:t>务</a:t>
              </a:r>
            </a:p>
          </p:txBody>
        </p:sp>
      </p:grpSp>
      <p:grpSp>
        <p:nvGrpSpPr>
          <p:cNvPr id="96" name="bottom-links"/>
          <p:cNvGrpSpPr/>
          <p:nvPr/>
        </p:nvGrpSpPr>
        <p:grpSpPr>
          <a:xfrm>
            <a:off x="3676650" y="4982289"/>
            <a:ext cx="4838700" cy="485062"/>
            <a:chOff x="3676650" y="4982289"/>
            <a:chExt cx="4838700" cy="485062"/>
          </a:xfrm>
        </p:grpSpPr>
        <p:sp>
          <p:nvSpPr>
            <p:cNvPr id="92" name="TextBox 92"/>
            <p:cNvSpPr txBox="1"/>
            <p:nvPr/>
          </p:nvSpPr>
          <p:spPr>
            <a:xfrm>
              <a:off x="5878538" y="4982289"/>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相互影响</a:t>
              </a:r>
            </a:p>
          </p:txBody>
        </p:sp>
        <p:sp>
          <p:nvSpPr>
            <p:cNvPr id="93" name="Line 93"/>
            <p:cNvSpPr/>
            <p:nvPr/>
          </p:nvSpPr>
          <p:spPr>
            <a:xfrm>
              <a:off x="3676650" y="5162550"/>
              <a:ext cx="4819650" cy="1"/>
            </a:xfrm>
            <a:prstGeom prst="line">
              <a:avLst/>
            </a:prstGeom>
            <a:noFill/>
            <a:ln w="11430">
              <a:solidFill>
                <a:srgbClr val="9C594C"/>
              </a:solidFill>
              <a:custDash>
                <a:ds d="416667" sp="333333"/>
              </a:custDash>
              <a:tailEnd type="triangle" w="lg" len="lg"/>
            </a:ln>
          </p:spPr>
        </p:sp>
        <p:sp>
          <p:nvSpPr>
            <p:cNvPr id="94" name="TextBox 94"/>
            <p:cNvSpPr txBox="1"/>
            <p:nvPr/>
          </p:nvSpPr>
          <p:spPr>
            <a:xfrm>
              <a:off x="5878538" y="5306139"/>
              <a:ext cx="434924" cy="154781"/>
            </a:xfrm>
            <a:prstGeom prst="rect">
              <a:avLst/>
            </a:prstGeom>
            <a:noFill/>
            <a:ln>
              <a:noFill/>
            </a:ln>
          </p:spPr>
          <p:txBody>
            <a:bodyPr wrap="none" lIns="0" tIns="0" rIns="0" bIns="0" anchor="t" anchorCtr="0">
              <a:spAutoFit/>
            </a:bodyPr>
            <a:lstStyle/>
            <a:p>
              <a:pPr algn="ctr"/>
              <a:r>
                <a:rPr lang="zh-CN" sz="790" b="1" dirty="0">
                  <a:solidFill>
                    <a:srgbClr val="D6391E"/>
                  </a:solidFill>
                  <a:latin typeface="+mn-lt"/>
                  <a:ea typeface="+mn-ea"/>
                  <a:cs typeface="+mn-cs"/>
                </a:rPr>
                <a:t>相互发展</a:t>
              </a:r>
            </a:p>
          </p:txBody>
        </p:sp>
        <p:sp>
          <p:nvSpPr>
            <p:cNvPr id="95" name="Line 95"/>
            <p:cNvSpPr/>
            <p:nvPr/>
          </p:nvSpPr>
          <p:spPr>
            <a:xfrm flipH="1">
              <a:off x="3695700" y="5467350"/>
              <a:ext cx="4819650" cy="1"/>
            </a:xfrm>
            <a:prstGeom prst="line">
              <a:avLst/>
            </a:prstGeom>
            <a:noFill/>
            <a:ln w="11430">
              <a:solidFill>
                <a:srgbClr val="E9563C"/>
              </a:solidFill>
              <a:custDash>
                <a:ds d="416667" sp="333333"/>
              </a:custDash>
              <a:tailEnd type="triangle" w="lg" len="lg"/>
            </a:ln>
          </p:spPr>
        </p:sp>
      </p:grpSp>
      <p:grpSp>
        <p:nvGrpSpPr>
          <p:cNvPr id="99" name="page-footer"/>
          <p:cNvGrpSpPr/>
          <p:nvPr/>
        </p:nvGrpSpPr>
        <p:grpSpPr>
          <a:xfrm>
            <a:off x="376238" y="6689884"/>
            <a:ext cx="11439524" cy="133350"/>
            <a:chOff x="376238" y="6689884"/>
            <a:chExt cx="11439524" cy="133350"/>
          </a:xfrm>
        </p:grpSpPr>
        <p:sp>
          <p:nvSpPr>
            <p:cNvPr id="97" name="TextBox 97"/>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98" name="TextBox 98"/>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24</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58" name="card-1"/>
          <p:cNvGrpSpPr/>
          <p:nvPr/>
        </p:nvGrpSpPr>
        <p:grpSpPr>
          <a:xfrm>
            <a:off x="381000" y="914400"/>
            <a:ext cx="2857500" cy="3524250"/>
            <a:chOff x="381000" y="914400"/>
            <a:chExt cx="2857500" cy="3524250"/>
          </a:xfrm>
        </p:grpSpPr>
        <p:sp>
          <p:nvSpPr>
            <p:cNvPr id="8" name="Freeform 8"/>
            <p:cNvSpPr/>
            <p:nvPr/>
          </p:nvSpPr>
          <p:spPr>
            <a:xfrm rot="5400000">
              <a:off x="3067050" y="1390650"/>
              <a:ext cx="152400" cy="190500"/>
            </a:xfrm>
            <a:prstGeom prst="triangle">
              <a:avLst/>
            </a:prstGeom>
            <a:solidFill>
              <a:srgbClr val="9C594C"/>
            </a:solidFill>
            <a:ln>
              <a:noFill/>
            </a:ln>
          </p:spPr>
        </p:sp>
        <p:sp>
          <p:nvSpPr>
            <p:cNvPr id="9" name="Freeform 9"/>
            <p:cNvSpPr/>
            <p:nvPr/>
          </p:nvSpPr>
          <p:spPr>
            <a:xfrm>
              <a:off x="381000" y="914400"/>
              <a:ext cx="2762250" cy="1143000"/>
            </a:xfrm>
            <a:prstGeom prst="parallelogram">
              <a:avLst/>
            </a:prstGeom>
            <a:solidFill>
              <a:srgbClr val="E9563C"/>
            </a:solidFill>
            <a:ln>
              <a:noFill/>
            </a:ln>
          </p:spPr>
        </p:sp>
        <p:sp>
          <p:nvSpPr>
            <p:cNvPr id="10" name="Ellipse 10"/>
            <p:cNvSpPr/>
            <p:nvPr/>
          </p:nvSpPr>
          <p:spPr>
            <a:xfrm>
              <a:off x="800100" y="1276350"/>
              <a:ext cx="419100" cy="419100"/>
            </a:xfrm>
            <a:prstGeom prst="ellipse">
              <a:avLst/>
            </a:prstGeom>
            <a:solidFill>
              <a:srgbClr val="FFFFFF"/>
            </a:solidFill>
            <a:ln>
              <a:noFill/>
            </a:ln>
          </p:spPr>
        </p:sp>
        <p:grpSp>
          <p:nvGrpSpPr>
            <p:cNvPr id="15" name="Group 15"/>
            <p:cNvGrpSpPr/>
            <p:nvPr/>
          </p:nvGrpSpPr>
          <p:grpSpPr>
            <a:xfrm>
              <a:off x="923925" y="1400175"/>
              <a:ext cx="171450" cy="171450"/>
              <a:chOff x="923925" y="1400175"/>
              <a:chExt cx="171450" cy="171450"/>
            </a:xfrm>
          </p:grpSpPr>
          <p:sp>
            <p:nvSpPr>
              <p:cNvPr id="11" name="Freeform 11"/>
              <p:cNvSpPr/>
              <p:nvPr/>
            </p:nvSpPr>
            <p:spPr>
              <a:xfrm>
                <a:off x="942975" y="14001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E9563C"/>
                </a:solidFill>
              </a:ln>
            </p:spPr>
          </p:sp>
          <p:sp>
            <p:nvSpPr>
              <p:cNvPr id="12" name="Freeform 12"/>
              <p:cNvSpPr/>
              <p:nvPr/>
            </p:nvSpPr>
            <p:spPr>
              <a:xfrm>
                <a:off x="923925" y="15144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E9563C"/>
                </a:solidFill>
              </a:ln>
            </p:spPr>
          </p:sp>
          <p:sp>
            <p:nvSpPr>
              <p:cNvPr id="13" name="Freeform 13"/>
              <p:cNvSpPr/>
              <p:nvPr/>
            </p:nvSpPr>
            <p:spPr>
              <a:xfrm>
                <a:off x="1047750" y="14014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E9563C"/>
                </a:solidFill>
              </a:ln>
            </p:spPr>
          </p:sp>
          <p:sp>
            <p:nvSpPr>
              <p:cNvPr id="14" name="Freeform 14"/>
              <p:cNvSpPr/>
              <p:nvPr/>
            </p:nvSpPr>
            <p:spPr>
              <a:xfrm>
                <a:off x="1066800" y="15159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E9563C"/>
                </a:solidFill>
              </a:ln>
            </p:spPr>
          </p:sp>
        </p:grpSp>
        <p:sp>
          <p:nvSpPr>
            <p:cNvPr id="16" name="TextBox 16"/>
            <p:cNvSpPr txBox="1"/>
            <p:nvPr/>
          </p:nvSpPr>
          <p:spPr>
            <a:xfrm>
              <a:off x="1326642" y="1302068"/>
              <a:ext cx="55892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看趋势</a:t>
              </a:r>
            </a:p>
          </p:txBody>
        </p:sp>
        <p:sp>
          <p:nvSpPr>
            <p:cNvPr id="17" name="TextBox 17"/>
            <p:cNvSpPr txBox="1"/>
            <p:nvPr/>
          </p:nvSpPr>
          <p:spPr>
            <a:xfrm>
              <a:off x="1328738" y="1579245"/>
              <a:ext cx="978789"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锁定人群需求场景</a:t>
              </a:r>
            </a:p>
          </p:txBody>
        </p:sp>
        <p:sp>
          <p:nvSpPr>
            <p:cNvPr id="18" name="Rectangle 18"/>
            <p:cNvSpPr/>
            <p:nvPr/>
          </p:nvSpPr>
          <p:spPr>
            <a:xfrm>
              <a:off x="476250" y="2057400"/>
              <a:ext cx="2571750" cy="2381250"/>
            </a:xfrm>
            <a:prstGeom prst="rect">
              <a:avLst/>
            </a:prstGeom>
            <a:solidFill>
              <a:srgbClr val="FFFFFF"/>
            </a:solidFill>
            <a:ln w="9525">
              <a:solidFill>
                <a:srgbClr val="E8B5AC"/>
              </a:solidFill>
              <a:custDash>
                <a:ds d="400000" sp="300000"/>
              </a:custDash>
            </a:ln>
          </p:spPr>
        </p:sp>
        <p:sp>
          <p:nvSpPr>
            <p:cNvPr id="19" name="Ellipse 19"/>
            <p:cNvSpPr/>
            <p:nvPr/>
          </p:nvSpPr>
          <p:spPr>
            <a:xfrm>
              <a:off x="1438275" y="2867025"/>
              <a:ext cx="647700" cy="647700"/>
            </a:xfrm>
            <a:prstGeom prst="ellipse">
              <a:avLst/>
            </a:prstGeom>
            <a:solidFill>
              <a:srgbClr val="F7B9AE"/>
            </a:solidFill>
            <a:ln>
              <a:noFill/>
            </a:ln>
          </p:spPr>
        </p:sp>
        <p:sp>
          <p:nvSpPr>
            <p:cNvPr id="20" name="Ellipse 20"/>
            <p:cNvSpPr/>
            <p:nvPr/>
          </p:nvSpPr>
          <p:spPr>
            <a:xfrm>
              <a:off x="1628775" y="2724150"/>
              <a:ext cx="266700" cy="266700"/>
            </a:xfrm>
            <a:prstGeom prst="ellipse">
              <a:avLst/>
            </a:prstGeom>
            <a:solidFill>
              <a:srgbClr val="E9563C"/>
            </a:solidFill>
            <a:ln>
              <a:noFill/>
            </a:ln>
          </p:spPr>
        </p:sp>
        <p:sp>
          <p:nvSpPr>
            <p:cNvPr id="21" name="Ellipse 21"/>
            <p:cNvSpPr/>
            <p:nvPr/>
          </p:nvSpPr>
          <p:spPr>
            <a:xfrm>
              <a:off x="1638300" y="2238375"/>
              <a:ext cx="247650" cy="247650"/>
            </a:xfrm>
            <a:prstGeom prst="ellipse">
              <a:avLst/>
            </a:prstGeom>
            <a:solidFill>
              <a:srgbClr val="FBF0D8"/>
            </a:solidFill>
            <a:ln w="9525">
              <a:solidFill>
                <a:srgbClr val="E9563C"/>
              </a:solidFill>
            </a:ln>
          </p:spPr>
        </p:sp>
        <p:grpSp>
          <p:nvGrpSpPr>
            <p:cNvPr id="24" name="Group 24"/>
            <p:cNvGrpSpPr/>
            <p:nvPr/>
          </p:nvGrpSpPr>
          <p:grpSpPr>
            <a:xfrm>
              <a:off x="1712119" y="2328862"/>
              <a:ext cx="100012" cy="66675"/>
              <a:chOff x="1712119" y="2328862"/>
              <a:chExt cx="100012" cy="66675"/>
            </a:xfrm>
          </p:grpSpPr>
          <p:sp>
            <p:nvSpPr>
              <p:cNvPr id="22" name="Freeform 22"/>
              <p:cNvSpPr/>
              <p:nvPr/>
            </p:nvSpPr>
            <p:spPr>
              <a:xfrm>
                <a:off x="1778794" y="2337581"/>
                <a:ext cx="33337" cy="49238"/>
              </a:xfrm>
              <a:custGeom>
                <a:avLst/>
                <a:gdLst/>
                <a:ahLst/>
                <a:cxnLst/>
                <a:rect l="l" t="t" r="r" b="b"/>
                <a:pathLst>
                  <a:path w="33337" h="49238">
                    <a:moveTo>
                      <a:pt x="0" y="13506"/>
                    </a:moveTo>
                    <a:lnTo>
                      <a:pt x="25298" y="860"/>
                    </a:lnTo>
                    <a:cubicBezTo>
                      <a:pt x="27019" y="0"/>
                      <a:pt x="29064" y="92"/>
                      <a:pt x="30702" y="1104"/>
                    </a:cubicBezTo>
                    <a:cubicBezTo>
                      <a:pt x="32339" y="2116"/>
                      <a:pt x="33336" y="3903"/>
                      <a:pt x="33337" y="5828"/>
                    </a:cubicBezTo>
                    <a:lnTo>
                      <a:pt x="33337" y="43410"/>
                    </a:lnTo>
                    <a:cubicBezTo>
                      <a:pt x="33336" y="45335"/>
                      <a:pt x="32339" y="47122"/>
                      <a:pt x="30702" y="48134"/>
                    </a:cubicBezTo>
                    <a:cubicBezTo>
                      <a:pt x="29064" y="49146"/>
                      <a:pt x="27019" y="49238"/>
                      <a:pt x="25298" y="48377"/>
                    </a:cubicBezTo>
                    <a:lnTo>
                      <a:pt x="0" y="35731"/>
                    </a:lnTo>
                    <a:lnTo>
                      <a:pt x="0" y="13506"/>
                    </a:lnTo>
                  </a:path>
                </a:pathLst>
              </a:custGeom>
              <a:noFill/>
              <a:ln w="11112">
                <a:solidFill>
                  <a:srgbClr val="D6391E"/>
                </a:solidFill>
              </a:ln>
            </p:spPr>
          </p:sp>
          <p:sp>
            <p:nvSpPr>
              <p:cNvPr id="23" name="Freeform 23"/>
              <p:cNvSpPr/>
              <p:nvPr/>
            </p:nvSpPr>
            <p:spPr>
              <a:xfrm>
                <a:off x="1712119" y="2328862"/>
                <a:ext cx="66675" cy="66675"/>
              </a:xfrm>
              <a:custGeom>
                <a:avLst/>
                <a:gdLst/>
                <a:ahLst/>
                <a:cxnLst/>
                <a:rect l="l" t="t" r="r" b="b"/>
                <a:pathLst>
                  <a:path w="66675" h="66675">
                    <a:moveTo>
                      <a:pt x="0" y="11112"/>
                    </a:moveTo>
                    <a:cubicBezTo>
                      <a:pt x="0" y="4975"/>
                      <a:pt x="4975" y="0"/>
                      <a:pt x="11112" y="0"/>
                    </a:cubicBezTo>
                    <a:lnTo>
                      <a:pt x="55562" y="0"/>
                    </a:lnTo>
                    <a:cubicBezTo>
                      <a:pt x="61700" y="0"/>
                      <a:pt x="66675" y="4975"/>
                      <a:pt x="66675" y="11112"/>
                    </a:cubicBezTo>
                    <a:lnTo>
                      <a:pt x="66675" y="55562"/>
                    </a:lnTo>
                    <a:cubicBezTo>
                      <a:pt x="66675" y="61700"/>
                      <a:pt x="61700" y="66675"/>
                      <a:pt x="55562" y="66675"/>
                    </a:cubicBezTo>
                    <a:lnTo>
                      <a:pt x="11112" y="66675"/>
                    </a:lnTo>
                    <a:cubicBezTo>
                      <a:pt x="4975" y="66675"/>
                      <a:pt x="0" y="61700"/>
                      <a:pt x="0" y="55562"/>
                    </a:cubicBezTo>
                    <a:lnTo>
                      <a:pt x="0" y="11112"/>
                    </a:lnTo>
                  </a:path>
                </a:pathLst>
              </a:custGeom>
              <a:noFill/>
              <a:ln w="11112">
                <a:solidFill>
                  <a:srgbClr val="D6391E"/>
                </a:solidFill>
              </a:ln>
            </p:spPr>
          </p:sp>
        </p:grpSp>
        <p:sp>
          <p:nvSpPr>
            <p:cNvPr id="25" name="TextBox 25"/>
            <p:cNvSpPr txBox="1"/>
            <p:nvPr/>
          </p:nvSpPr>
          <p:spPr>
            <a:xfrm>
              <a:off x="1585049" y="2179082"/>
              <a:ext cx="354152"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品牌触达</a:t>
              </a:r>
            </a:p>
          </p:txBody>
        </p:sp>
        <p:sp>
          <p:nvSpPr>
            <p:cNvPr id="26" name="Ellipse 26"/>
            <p:cNvSpPr/>
            <p:nvPr/>
          </p:nvSpPr>
          <p:spPr>
            <a:xfrm>
              <a:off x="781050" y="2733675"/>
              <a:ext cx="247650" cy="247650"/>
            </a:xfrm>
            <a:prstGeom prst="ellipse">
              <a:avLst/>
            </a:prstGeom>
            <a:solidFill>
              <a:srgbClr val="FBF0D8"/>
            </a:solidFill>
            <a:ln w="9525">
              <a:solidFill>
                <a:srgbClr val="E9563C"/>
              </a:solidFill>
            </a:ln>
          </p:spPr>
        </p:sp>
        <p:grpSp>
          <p:nvGrpSpPr>
            <p:cNvPr id="30" name="Group 30"/>
            <p:cNvGrpSpPr/>
            <p:nvPr/>
          </p:nvGrpSpPr>
          <p:grpSpPr>
            <a:xfrm>
              <a:off x="865981" y="2807494"/>
              <a:ext cx="77787" cy="100012"/>
              <a:chOff x="865981" y="2807494"/>
              <a:chExt cx="77787" cy="100012"/>
            </a:xfrm>
          </p:grpSpPr>
          <p:sp>
            <p:nvSpPr>
              <p:cNvPr id="27" name="Freeform 27"/>
              <p:cNvSpPr/>
              <p:nvPr/>
            </p:nvSpPr>
            <p:spPr>
              <a:xfrm>
                <a:off x="865981" y="2840831"/>
                <a:ext cx="77787" cy="66675"/>
              </a:xfrm>
              <a:custGeom>
                <a:avLst/>
                <a:gdLst/>
                <a:ahLst/>
                <a:cxnLst/>
                <a:rect l="l" t="t" r="r" b="b"/>
                <a:pathLst>
                  <a:path w="77787" h="66675">
                    <a:moveTo>
                      <a:pt x="16669" y="0"/>
                    </a:moveTo>
                    <a:lnTo>
                      <a:pt x="11112" y="0"/>
                    </a:lnTo>
                    <a:cubicBezTo>
                      <a:pt x="4975" y="0"/>
                      <a:pt x="0" y="4975"/>
                      <a:pt x="0" y="11112"/>
                    </a:cubicBezTo>
                    <a:lnTo>
                      <a:pt x="0" y="55562"/>
                    </a:lnTo>
                    <a:cubicBezTo>
                      <a:pt x="0" y="61700"/>
                      <a:pt x="4975" y="66675"/>
                      <a:pt x="11112" y="66675"/>
                    </a:cubicBezTo>
                    <a:lnTo>
                      <a:pt x="66675" y="66675"/>
                    </a:lnTo>
                    <a:cubicBezTo>
                      <a:pt x="72812" y="66675"/>
                      <a:pt x="77787" y="61700"/>
                      <a:pt x="77787" y="55562"/>
                    </a:cubicBezTo>
                    <a:lnTo>
                      <a:pt x="77787" y="11112"/>
                    </a:lnTo>
                    <a:cubicBezTo>
                      <a:pt x="77787" y="4975"/>
                      <a:pt x="72812" y="0"/>
                      <a:pt x="66675" y="0"/>
                    </a:cubicBezTo>
                    <a:lnTo>
                      <a:pt x="61119" y="0"/>
                    </a:lnTo>
                  </a:path>
                </a:pathLst>
              </a:custGeom>
              <a:noFill/>
              <a:ln w="11112">
                <a:solidFill>
                  <a:srgbClr val="D6391E"/>
                </a:solidFill>
              </a:ln>
            </p:spPr>
          </p:sp>
          <p:sp>
            <p:nvSpPr>
              <p:cNvPr id="28" name="Freeform 28"/>
              <p:cNvSpPr/>
              <p:nvPr/>
            </p:nvSpPr>
            <p:spPr>
              <a:xfrm>
                <a:off x="904875" y="2807494"/>
                <a:ext cx="9525" cy="61119"/>
              </a:xfrm>
              <a:custGeom>
                <a:avLst/>
                <a:gdLst/>
                <a:ahLst/>
                <a:cxnLst/>
                <a:rect l="l" t="t" r="r" b="b"/>
                <a:pathLst>
                  <a:path w="9525" h="61119">
                    <a:moveTo>
                      <a:pt x="0" y="61119"/>
                    </a:moveTo>
                    <a:lnTo>
                      <a:pt x="0" y="0"/>
                    </a:lnTo>
                  </a:path>
                </a:pathLst>
              </a:custGeom>
              <a:noFill/>
              <a:ln w="11112">
                <a:solidFill>
                  <a:srgbClr val="D6391E"/>
                </a:solidFill>
              </a:ln>
            </p:spPr>
          </p:sp>
          <p:sp>
            <p:nvSpPr>
              <p:cNvPr id="29" name="Freeform 29"/>
              <p:cNvSpPr/>
              <p:nvPr/>
            </p:nvSpPr>
            <p:spPr>
              <a:xfrm>
                <a:off x="888206" y="2807494"/>
                <a:ext cx="33337" cy="16669"/>
              </a:xfrm>
              <a:custGeom>
                <a:avLst/>
                <a:gdLst/>
                <a:ahLst/>
                <a:cxnLst/>
                <a:rect l="l" t="t" r="r" b="b"/>
                <a:pathLst>
                  <a:path w="33337" h="16669">
                    <a:moveTo>
                      <a:pt x="0" y="16669"/>
                    </a:moveTo>
                    <a:lnTo>
                      <a:pt x="16669" y="0"/>
                    </a:lnTo>
                    <a:lnTo>
                      <a:pt x="33337" y="16669"/>
                    </a:lnTo>
                  </a:path>
                </a:pathLst>
              </a:custGeom>
              <a:noFill/>
              <a:ln w="11112">
                <a:solidFill>
                  <a:srgbClr val="D6391E"/>
                </a:solidFill>
              </a:ln>
            </p:spPr>
          </p:sp>
        </p:grpSp>
        <p:sp>
          <p:nvSpPr>
            <p:cNvPr id="31" name="TextBox 31"/>
            <p:cNvSpPr txBox="1"/>
            <p:nvPr/>
          </p:nvSpPr>
          <p:spPr>
            <a:xfrm>
              <a:off x="813956" y="2674382"/>
              <a:ext cx="181839"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公域</a:t>
              </a:r>
            </a:p>
          </p:txBody>
        </p:sp>
        <p:sp>
          <p:nvSpPr>
            <p:cNvPr id="32" name="Ellipse 32"/>
            <p:cNvSpPr/>
            <p:nvPr/>
          </p:nvSpPr>
          <p:spPr>
            <a:xfrm>
              <a:off x="2495550" y="2733675"/>
              <a:ext cx="247650" cy="247650"/>
            </a:xfrm>
            <a:prstGeom prst="ellipse">
              <a:avLst/>
            </a:prstGeom>
            <a:solidFill>
              <a:srgbClr val="FBF0D8"/>
            </a:solidFill>
            <a:ln w="9525">
              <a:solidFill>
                <a:srgbClr val="E9563C"/>
              </a:solidFill>
            </a:ln>
          </p:spPr>
        </p:sp>
        <p:grpSp>
          <p:nvGrpSpPr>
            <p:cNvPr id="39" name="Group 39"/>
            <p:cNvGrpSpPr/>
            <p:nvPr/>
          </p:nvGrpSpPr>
          <p:grpSpPr>
            <a:xfrm>
              <a:off x="2569369" y="2807494"/>
              <a:ext cx="100012" cy="100012"/>
              <a:chOff x="2569369" y="2807494"/>
              <a:chExt cx="100012" cy="100012"/>
            </a:xfrm>
          </p:grpSpPr>
          <p:sp>
            <p:nvSpPr>
              <p:cNvPr id="33" name="Freeform 33"/>
              <p:cNvSpPr/>
              <p:nvPr/>
            </p:nvSpPr>
            <p:spPr>
              <a:xfrm>
                <a:off x="2608262" y="285194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D6391E"/>
                </a:solidFill>
              </a:ln>
            </p:spPr>
          </p:sp>
          <p:sp>
            <p:nvSpPr>
              <p:cNvPr id="34" name="Freeform 34"/>
              <p:cNvSpPr/>
              <p:nvPr/>
            </p:nvSpPr>
            <p:spPr>
              <a:xfrm>
                <a:off x="2597150" y="2890837"/>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D6391E"/>
                </a:solidFill>
              </a:ln>
            </p:spPr>
          </p:sp>
          <p:sp>
            <p:nvSpPr>
              <p:cNvPr id="35" name="Freeform 35"/>
              <p:cNvSpPr/>
              <p:nvPr/>
            </p:nvSpPr>
            <p:spPr>
              <a:xfrm>
                <a:off x="2636044" y="280749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D6391E"/>
                </a:solidFill>
              </a:ln>
            </p:spPr>
          </p:sp>
          <p:sp>
            <p:nvSpPr>
              <p:cNvPr id="36" name="Freeform 36"/>
              <p:cNvSpPr/>
              <p:nvPr/>
            </p:nvSpPr>
            <p:spPr>
              <a:xfrm>
                <a:off x="2647156" y="2846387"/>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D6391E"/>
                </a:solidFill>
              </a:ln>
            </p:spPr>
          </p:sp>
          <p:sp>
            <p:nvSpPr>
              <p:cNvPr id="37" name="Freeform 37"/>
              <p:cNvSpPr/>
              <p:nvPr/>
            </p:nvSpPr>
            <p:spPr>
              <a:xfrm>
                <a:off x="2580481" y="280749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D6391E"/>
                </a:solidFill>
              </a:ln>
            </p:spPr>
          </p:sp>
          <p:sp>
            <p:nvSpPr>
              <p:cNvPr id="38" name="Freeform 38"/>
              <p:cNvSpPr/>
              <p:nvPr/>
            </p:nvSpPr>
            <p:spPr>
              <a:xfrm>
                <a:off x="2569369" y="2846387"/>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D6391E"/>
                </a:solidFill>
              </a:ln>
            </p:spPr>
          </p:sp>
        </p:grpSp>
        <p:sp>
          <p:nvSpPr>
            <p:cNvPr id="40" name="TextBox 40"/>
            <p:cNvSpPr txBox="1"/>
            <p:nvPr/>
          </p:nvSpPr>
          <p:spPr>
            <a:xfrm>
              <a:off x="2528456" y="2674382"/>
              <a:ext cx="181839"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私域</a:t>
              </a:r>
            </a:p>
          </p:txBody>
        </p:sp>
        <p:sp>
          <p:nvSpPr>
            <p:cNvPr id="41" name="Ellipse 41"/>
            <p:cNvSpPr/>
            <p:nvPr/>
          </p:nvSpPr>
          <p:spPr>
            <a:xfrm>
              <a:off x="781050" y="3590925"/>
              <a:ext cx="247650" cy="247650"/>
            </a:xfrm>
            <a:prstGeom prst="ellipse">
              <a:avLst/>
            </a:prstGeom>
            <a:solidFill>
              <a:srgbClr val="FBF0D8"/>
            </a:solidFill>
            <a:ln w="9525">
              <a:solidFill>
                <a:srgbClr val="E9563C"/>
              </a:solidFill>
            </a:ln>
          </p:spPr>
        </p:sp>
        <p:grpSp>
          <p:nvGrpSpPr>
            <p:cNvPr id="44" name="Group 44"/>
            <p:cNvGrpSpPr/>
            <p:nvPr/>
          </p:nvGrpSpPr>
          <p:grpSpPr>
            <a:xfrm>
              <a:off x="852430" y="3662305"/>
              <a:ext cx="104891" cy="104891"/>
              <a:chOff x="852430" y="3662305"/>
              <a:chExt cx="104891" cy="104891"/>
            </a:xfrm>
          </p:grpSpPr>
          <p:sp>
            <p:nvSpPr>
              <p:cNvPr id="42" name="Freeform 42"/>
              <p:cNvSpPr/>
              <p:nvPr/>
            </p:nvSpPr>
            <p:spPr>
              <a:xfrm>
                <a:off x="852430" y="3662305"/>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D6391E"/>
                </a:solidFill>
              </a:ln>
            </p:spPr>
          </p:sp>
          <p:sp>
            <p:nvSpPr>
              <p:cNvPr id="43" name="Freeform 43"/>
              <p:cNvSpPr/>
              <p:nvPr/>
            </p:nvSpPr>
            <p:spPr>
              <a:xfrm>
                <a:off x="888206" y="3698081"/>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D6391E"/>
                </a:solidFill>
              </a:ln>
            </p:spPr>
          </p:sp>
        </p:grpSp>
        <p:sp>
          <p:nvSpPr>
            <p:cNvPr id="45" name="TextBox 45"/>
            <p:cNvSpPr txBox="1"/>
            <p:nvPr/>
          </p:nvSpPr>
          <p:spPr>
            <a:xfrm>
              <a:off x="727799" y="3912632"/>
              <a:ext cx="354152"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系统处理</a:t>
              </a:r>
            </a:p>
          </p:txBody>
        </p:sp>
        <p:sp>
          <p:nvSpPr>
            <p:cNvPr id="46" name="Ellipse 46"/>
            <p:cNvSpPr/>
            <p:nvPr/>
          </p:nvSpPr>
          <p:spPr>
            <a:xfrm>
              <a:off x="2495550" y="3590925"/>
              <a:ext cx="247650" cy="247650"/>
            </a:xfrm>
            <a:prstGeom prst="ellipse">
              <a:avLst/>
            </a:prstGeom>
            <a:solidFill>
              <a:srgbClr val="FBF0D8"/>
            </a:solidFill>
            <a:ln w="9525">
              <a:solidFill>
                <a:srgbClr val="E9563C"/>
              </a:solidFill>
            </a:ln>
          </p:spPr>
        </p:sp>
        <p:grpSp>
          <p:nvGrpSpPr>
            <p:cNvPr id="52" name="Group 52"/>
            <p:cNvGrpSpPr/>
            <p:nvPr/>
          </p:nvGrpSpPr>
          <p:grpSpPr>
            <a:xfrm>
              <a:off x="2580481" y="3664744"/>
              <a:ext cx="77787" cy="100012"/>
              <a:chOff x="2580481" y="3664744"/>
              <a:chExt cx="77787" cy="100012"/>
            </a:xfrm>
          </p:grpSpPr>
          <p:sp>
            <p:nvSpPr>
              <p:cNvPr id="47" name="Freeform 47"/>
              <p:cNvSpPr/>
              <p:nvPr/>
            </p:nvSpPr>
            <p:spPr>
              <a:xfrm>
                <a:off x="2630487" y="3664744"/>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D6391E"/>
                </a:solidFill>
              </a:ln>
            </p:spPr>
          </p:sp>
          <p:sp>
            <p:nvSpPr>
              <p:cNvPr id="48" name="Freeform 48"/>
              <p:cNvSpPr/>
              <p:nvPr/>
            </p:nvSpPr>
            <p:spPr>
              <a:xfrm>
                <a:off x="2580481" y="3664744"/>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D6391E"/>
                </a:solidFill>
              </a:ln>
            </p:spPr>
          </p:sp>
          <p:sp>
            <p:nvSpPr>
              <p:cNvPr id="49" name="Freeform 49"/>
              <p:cNvSpPr/>
              <p:nvPr/>
            </p:nvSpPr>
            <p:spPr>
              <a:xfrm>
                <a:off x="2602706" y="3698081"/>
                <a:ext cx="9525" cy="9525"/>
              </a:xfrm>
              <a:custGeom>
                <a:avLst/>
                <a:gdLst/>
                <a:ahLst/>
                <a:cxnLst/>
                <a:rect l="l" t="t" r="r" b="b"/>
                <a:pathLst>
                  <a:path w="9525" h="9525">
                    <a:moveTo>
                      <a:pt x="0" y="0"/>
                    </a:moveTo>
                    <a:lnTo>
                      <a:pt x="5556" y="0"/>
                    </a:lnTo>
                  </a:path>
                </a:pathLst>
              </a:custGeom>
              <a:noFill/>
              <a:ln w="11112">
                <a:solidFill>
                  <a:srgbClr val="D6391E"/>
                </a:solidFill>
              </a:ln>
            </p:spPr>
          </p:sp>
          <p:sp>
            <p:nvSpPr>
              <p:cNvPr id="50" name="Freeform 50"/>
              <p:cNvSpPr/>
              <p:nvPr/>
            </p:nvSpPr>
            <p:spPr>
              <a:xfrm>
                <a:off x="2602706" y="3720306"/>
                <a:ext cx="33337" cy="9525"/>
              </a:xfrm>
              <a:custGeom>
                <a:avLst/>
                <a:gdLst/>
                <a:ahLst/>
                <a:cxnLst/>
                <a:rect l="l" t="t" r="r" b="b"/>
                <a:pathLst>
                  <a:path w="33337" h="9525">
                    <a:moveTo>
                      <a:pt x="0" y="0"/>
                    </a:moveTo>
                    <a:lnTo>
                      <a:pt x="33337" y="0"/>
                    </a:lnTo>
                  </a:path>
                </a:pathLst>
              </a:custGeom>
              <a:noFill/>
              <a:ln w="11112">
                <a:solidFill>
                  <a:srgbClr val="D6391E"/>
                </a:solidFill>
              </a:ln>
            </p:spPr>
          </p:sp>
          <p:sp>
            <p:nvSpPr>
              <p:cNvPr id="51" name="Freeform 51"/>
              <p:cNvSpPr/>
              <p:nvPr/>
            </p:nvSpPr>
            <p:spPr>
              <a:xfrm>
                <a:off x="2602706" y="3742531"/>
                <a:ext cx="33337" cy="9525"/>
              </a:xfrm>
              <a:custGeom>
                <a:avLst/>
                <a:gdLst/>
                <a:ahLst/>
                <a:cxnLst/>
                <a:rect l="l" t="t" r="r" b="b"/>
                <a:pathLst>
                  <a:path w="33337" h="9525">
                    <a:moveTo>
                      <a:pt x="0" y="0"/>
                    </a:moveTo>
                    <a:lnTo>
                      <a:pt x="33337" y="0"/>
                    </a:lnTo>
                  </a:path>
                </a:pathLst>
              </a:custGeom>
              <a:noFill/>
              <a:ln w="11112">
                <a:solidFill>
                  <a:srgbClr val="D6391E"/>
                </a:solidFill>
              </a:ln>
            </p:spPr>
          </p:sp>
        </p:grpSp>
        <p:sp>
          <p:nvSpPr>
            <p:cNvPr id="53" name="TextBox 53"/>
            <p:cNvSpPr txBox="1"/>
            <p:nvPr/>
          </p:nvSpPr>
          <p:spPr>
            <a:xfrm>
              <a:off x="2442299" y="3912632"/>
              <a:ext cx="354152"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品牌信息</a:t>
              </a:r>
            </a:p>
          </p:txBody>
        </p:sp>
        <p:sp>
          <p:nvSpPr>
            <p:cNvPr id="54" name="Ellipse 54"/>
            <p:cNvSpPr/>
            <p:nvPr/>
          </p:nvSpPr>
          <p:spPr>
            <a:xfrm>
              <a:off x="1638300" y="3781425"/>
              <a:ext cx="247650" cy="247650"/>
            </a:xfrm>
            <a:prstGeom prst="ellipse">
              <a:avLst/>
            </a:prstGeom>
            <a:solidFill>
              <a:srgbClr val="FBF0D8"/>
            </a:solidFill>
            <a:ln w="9525">
              <a:solidFill>
                <a:srgbClr val="E9563C"/>
              </a:solidFill>
            </a:ln>
          </p:spPr>
        </p:sp>
        <p:sp>
          <p:nvSpPr>
            <p:cNvPr id="55" name="Freeform 55"/>
            <p:cNvSpPr/>
            <p:nvPr/>
          </p:nvSpPr>
          <p:spPr>
            <a:xfrm>
              <a:off x="1706429" y="3856494"/>
              <a:ext cx="110925" cy="98329"/>
            </a:xfrm>
            <a:custGeom>
              <a:avLst/>
              <a:gdLst/>
              <a:ahLst/>
              <a:cxnLst/>
              <a:rect l="l" t="t" r="r" b="b"/>
              <a:pathLst>
                <a:path w="110925" h="98329">
                  <a:moveTo>
                    <a:pt x="5690" y="93206"/>
                  </a:moveTo>
                  <a:lnTo>
                    <a:pt x="12913" y="71537"/>
                  </a:lnTo>
                  <a:cubicBezTo>
                    <a:pt x="0" y="52440"/>
                    <a:pt x="4990" y="27798"/>
                    <a:pt x="24581" y="13896"/>
                  </a:cubicBezTo>
                  <a:cubicBezTo>
                    <a:pt x="44172" y="0"/>
                    <a:pt x="72309" y="1139"/>
                    <a:pt x="90395" y="16563"/>
                  </a:cubicBezTo>
                  <a:cubicBezTo>
                    <a:pt x="108480" y="31993"/>
                    <a:pt x="110925" y="56935"/>
                    <a:pt x="96112" y="74909"/>
                  </a:cubicBezTo>
                  <a:cubicBezTo>
                    <a:pt x="81299" y="92884"/>
                    <a:pt x="53801" y="98329"/>
                    <a:pt x="31804" y="87650"/>
                  </a:cubicBezTo>
                  <a:lnTo>
                    <a:pt x="5690" y="93206"/>
                  </a:lnTo>
                </a:path>
              </a:pathLst>
            </a:custGeom>
            <a:noFill/>
            <a:ln w="11112">
              <a:solidFill>
                <a:srgbClr val="D6391E"/>
              </a:solidFill>
            </a:ln>
          </p:spPr>
        </p:sp>
        <p:sp>
          <p:nvSpPr>
            <p:cNvPr id="56" name="TextBox 56"/>
            <p:cNvSpPr txBox="1"/>
            <p:nvPr/>
          </p:nvSpPr>
          <p:spPr>
            <a:xfrm>
              <a:off x="1585049" y="4084082"/>
              <a:ext cx="354152"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其他内容</a:t>
              </a:r>
            </a:p>
          </p:txBody>
        </p:sp>
        <p:sp>
          <p:nvSpPr>
            <p:cNvPr id="57" name="TextBox 57"/>
            <p:cNvSpPr txBox="1"/>
            <p:nvPr/>
          </p:nvSpPr>
          <p:spPr>
            <a:xfrm>
              <a:off x="1090994" y="4246245"/>
              <a:ext cx="1342263"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电商核心内容｜一方人群</a:t>
              </a:r>
            </a:p>
          </p:txBody>
        </p:sp>
      </p:grpSp>
      <p:grpSp>
        <p:nvGrpSpPr>
          <p:cNvPr id="83" name="card-2"/>
          <p:cNvGrpSpPr/>
          <p:nvPr/>
        </p:nvGrpSpPr>
        <p:grpSpPr>
          <a:xfrm>
            <a:off x="3219450" y="914400"/>
            <a:ext cx="2857500" cy="3524250"/>
            <a:chOff x="3219450" y="914400"/>
            <a:chExt cx="2857500" cy="3524250"/>
          </a:xfrm>
        </p:grpSpPr>
        <p:sp>
          <p:nvSpPr>
            <p:cNvPr id="59" name="Freeform 59"/>
            <p:cNvSpPr/>
            <p:nvPr/>
          </p:nvSpPr>
          <p:spPr>
            <a:xfrm rot="5400000">
              <a:off x="5905500" y="1390650"/>
              <a:ext cx="152400" cy="190500"/>
            </a:xfrm>
            <a:prstGeom prst="triangle">
              <a:avLst/>
            </a:prstGeom>
            <a:solidFill>
              <a:srgbClr val="E9563C"/>
            </a:solidFill>
            <a:ln>
              <a:noFill/>
            </a:ln>
          </p:spPr>
        </p:sp>
        <p:sp>
          <p:nvSpPr>
            <p:cNvPr id="60" name="Freeform 60"/>
            <p:cNvSpPr/>
            <p:nvPr/>
          </p:nvSpPr>
          <p:spPr>
            <a:xfrm>
              <a:off x="3219450" y="914400"/>
              <a:ext cx="2762250" cy="1143000"/>
            </a:xfrm>
            <a:prstGeom prst="parallelogram">
              <a:avLst/>
            </a:prstGeom>
            <a:solidFill>
              <a:srgbClr val="9C594C"/>
            </a:solidFill>
            <a:ln>
              <a:noFill/>
            </a:ln>
          </p:spPr>
        </p:sp>
        <p:sp>
          <p:nvSpPr>
            <p:cNvPr id="61" name="Ellipse 61"/>
            <p:cNvSpPr/>
            <p:nvPr/>
          </p:nvSpPr>
          <p:spPr>
            <a:xfrm>
              <a:off x="3638550" y="1276350"/>
              <a:ext cx="419100" cy="419100"/>
            </a:xfrm>
            <a:prstGeom prst="ellipse">
              <a:avLst/>
            </a:prstGeom>
            <a:solidFill>
              <a:srgbClr val="FFFFFF"/>
            </a:solidFill>
            <a:ln>
              <a:noFill/>
            </a:ln>
          </p:spPr>
        </p:sp>
        <p:sp>
          <p:nvSpPr>
            <p:cNvPr id="62" name="Freeform 62"/>
            <p:cNvSpPr/>
            <p:nvPr/>
          </p:nvSpPr>
          <p:spPr>
            <a:xfrm>
              <a:off x="3762375" y="1400175"/>
              <a:ext cx="171450" cy="171450"/>
            </a:xfrm>
            <a:custGeom>
              <a:avLst/>
              <a:gdLst/>
              <a:ahLst/>
              <a:cxnLst/>
              <a:rect l="l" t="t" r="r" b="b"/>
              <a:pathLst>
                <a:path w="171450" h="171450">
                  <a:moveTo>
                    <a:pt x="9525" y="38100"/>
                  </a:moveTo>
                  <a:lnTo>
                    <a:pt x="38100" y="38100"/>
                  </a:lnTo>
                  <a:cubicBezTo>
                    <a:pt x="43361" y="38100"/>
                    <a:pt x="47625" y="33836"/>
                    <a:pt x="47625" y="28575"/>
                  </a:cubicBezTo>
                  <a:lnTo>
                    <a:pt x="47625" y="19050"/>
                  </a:lnTo>
                  <a:cubicBezTo>
                    <a:pt x="47625" y="8529"/>
                    <a:pt x="56154" y="0"/>
                    <a:pt x="66675" y="0"/>
                  </a:cubicBezTo>
                  <a:cubicBezTo>
                    <a:pt x="77196" y="0"/>
                    <a:pt x="85725" y="8529"/>
                    <a:pt x="85725" y="19050"/>
                  </a:cubicBezTo>
                  <a:lnTo>
                    <a:pt x="85725" y="28575"/>
                  </a:lnTo>
                  <a:cubicBezTo>
                    <a:pt x="85725" y="33836"/>
                    <a:pt x="89989" y="38100"/>
                    <a:pt x="95250" y="38100"/>
                  </a:cubicBezTo>
                  <a:lnTo>
                    <a:pt x="123825" y="38100"/>
                  </a:lnTo>
                  <a:cubicBezTo>
                    <a:pt x="129086" y="38100"/>
                    <a:pt x="133350" y="42364"/>
                    <a:pt x="133350" y="47625"/>
                  </a:cubicBezTo>
                  <a:lnTo>
                    <a:pt x="133350" y="76200"/>
                  </a:lnTo>
                  <a:cubicBezTo>
                    <a:pt x="133350" y="81461"/>
                    <a:pt x="137614" y="85725"/>
                    <a:pt x="142875" y="85725"/>
                  </a:cubicBezTo>
                  <a:lnTo>
                    <a:pt x="152400" y="85725"/>
                  </a:lnTo>
                  <a:cubicBezTo>
                    <a:pt x="162921" y="85725"/>
                    <a:pt x="171450" y="94254"/>
                    <a:pt x="171450" y="104775"/>
                  </a:cubicBezTo>
                  <a:cubicBezTo>
                    <a:pt x="171450" y="115296"/>
                    <a:pt x="162921" y="123825"/>
                    <a:pt x="152400" y="123825"/>
                  </a:cubicBezTo>
                  <a:lnTo>
                    <a:pt x="142875" y="123825"/>
                  </a:lnTo>
                  <a:cubicBezTo>
                    <a:pt x="137614" y="123825"/>
                    <a:pt x="133350" y="128089"/>
                    <a:pt x="133350" y="133350"/>
                  </a:cubicBezTo>
                  <a:lnTo>
                    <a:pt x="133350" y="161925"/>
                  </a:lnTo>
                  <a:cubicBezTo>
                    <a:pt x="133350" y="167186"/>
                    <a:pt x="129086" y="171450"/>
                    <a:pt x="123825" y="171450"/>
                  </a:cubicBezTo>
                  <a:lnTo>
                    <a:pt x="95250" y="171450"/>
                  </a:lnTo>
                  <a:cubicBezTo>
                    <a:pt x="89989" y="171450"/>
                    <a:pt x="85725" y="167186"/>
                    <a:pt x="85725" y="161925"/>
                  </a:cubicBezTo>
                  <a:lnTo>
                    <a:pt x="85725" y="152400"/>
                  </a:lnTo>
                  <a:cubicBezTo>
                    <a:pt x="85725" y="141879"/>
                    <a:pt x="77196" y="133350"/>
                    <a:pt x="66675" y="133350"/>
                  </a:cubicBezTo>
                  <a:cubicBezTo>
                    <a:pt x="56154" y="133350"/>
                    <a:pt x="47625" y="141879"/>
                    <a:pt x="47625" y="152400"/>
                  </a:cubicBezTo>
                  <a:lnTo>
                    <a:pt x="47625" y="161925"/>
                  </a:lnTo>
                  <a:cubicBezTo>
                    <a:pt x="47625" y="167186"/>
                    <a:pt x="43361" y="171450"/>
                    <a:pt x="38100" y="171450"/>
                  </a:cubicBezTo>
                  <a:lnTo>
                    <a:pt x="9525" y="171450"/>
                  </a:lnTo>
                  <a:cubicBezTo>
                    <a:pt x="4264" y="171450"/>
                    <a:pt x="0" y="167186"/>
                    <a:pt x="0" y="161925"/>
                  </a:cubicBezTo>
                  <a:lnTo>
                    <a:pt x="0" y="133350"/>
                  </a:lnTo>
                  <a:cubicBezTo>
                    <a:pt x="0" y="128089"/>
                    <a:pt x="4264" y="123825"/>
                    <a:pt x="9525" y="123825"/>
                  </a:cubicBezTo>
                  <a:lnTo>
                    <a:pt x="19050" y="123825"/>
                  </a:lnTo>
                  <a:cubicBezTo>
                    <a:pt x="29571" y="123825"/>
                    <a:pt x="38100" y="115296"/>
                    <a:pt x="38100" y="104775"/>
                  </a:cubicBezTo>
                  <a:cubicBezTo>
                    <a:pt x="38100" y="94254"/>
                    <a:pt x="29571" y="85725"/>
                    <a:pt x="19050" y="85725"/>
                  </a:cubicBezTo>
                  <a:lnTo>
                    <a:pt x="9525" y="85725"/>
                  </a:lnTo>
                  <a:cubicBezTo>
                    <a:pt x="4264" y="85725"/>
                    <a:pt x="0" y="81461"/>
                    <a:pt x="0" y="76200"/>
                  </a:cubicBezTo>
                  <a:lnTo>
                    <a:pt x="0" y="47625"/>
                  </a:lnTo>
                  <a:cubicBezTo>
                    <a:pt x="0" y="42364"/>
                    <a:pt x="4264" y="38100"/>
                    <a:pt x="9525" y="38100"/>
                  </a:cubicBezTo>
                </a:path>
              </a:pathLst>
            </a:custGeom>
            <a:noFill/>
            <a:ln w="19050">
              <a:solidFill>
                <a:srgbClr val="9C594C"/>
              </a:solidFill>
            </a:ln>
          </p:spPr>
        </p:sp>
        <p:sp>
          <p:nvSpPr>
            <p:cNvPr id="63" name="TextBox 63"/>
            <p:cNvSpPr txBox="1"/>
            <p:nvPr/>
          </p:nvSpPr>
          <p:spPr>
            <a:xfrm>
              <a:off x="4165092" y="1302068"/>
              <a:ext cx="55892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定品类</a:t>
              </a:r>
            </a:p>
          </p:txBody>
        </p:sp>
        <p:sp>
          <p:nvSpPr>
            <p:cNvPr id="64" name="TextBox 64"/>
            <p:cNvSpPr txBox="1"/>
            <p:nvPr/>
          </p:nvSpPr>
          <p:spPr>
            <a:xfrm>
              <a:off x="4167188" y="1579245"/>
              <a:ext cx="978789"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挖掘兴趣品类内容</a:t>
              </a:r>
            </a:p>
          </p:txBody>
        </p:sp>
        <p:sp>
          <p:nvSpPr>
            <p:cNvPr id="65" name="Rectangle 65"/>
            <p:cNvSpPr/>
            <p:nvPr/>
          </p:nvSpPr>
          <p:spPr>
            <a:xfrm>
              <a:off x="3314700" y="2057400"/>
              <a:ext cx="2571750" cy="2381250"/>
            </a:xfrm>
            <a:prstGeom prst="rect">
              <a:avLst/>
            </a:prstGeom>
            <a:solidFill>
              <a:srgbClr val="FFFFFF"/>
            </a:solidFill>
            <a:ln w="9525">
              <a:solidFill>
                <a:srgbClr val="C9D8BD"/>
              </a:solidFill>
              <a:custDash>
                <a:ds d="400000" sp="300000"/>
              </a:custDash>
            </a:ln>
          </p:spPr>
        </p:sp>
        <p:sp>
          <p:nvSpPr>
            <p:cNvPr id="66" name="Rectangle 66"/>
            <p:cNvSpPr/>
            <p:nvPr/>
          </p:nvSpPr>
          <p:spPr>
            <a:xfrm>
              <a:off x="3429000" y="2190750"/>
              <a:ext cx="2343150" cy="304800"/>
            </a:xfrm>
            <a:prstGeom prst="rect">
              <a:avLst/>
            </a:prstGeom>
            <a:solidFill>
              <a:srgbClr val="FFFFFF"/>
            </a:solidFill>
            <a:ln w="9525">
              <a:solidFill>
                <a:srgbClr val="C9D8BD"/>
              </a:solidFill>
            </a:ln>
          </p:spPr>
        </p:sp>
        <p:sp>
          <p:nvSpPr>
            <p:cNvPr id="67" name="TextBox 67"/>
            <p:cNvSpPr txBox="1"/>
            <p:nvPr/>
          </p:nvSpPr>
          <p:spPr>
            <a:xfrm>
              <a:off x="3941761" y="2305764"/>
              <a:ext cx="1317628" cy="154781"/>
            </a:xfrm>
            <a:prstGeom prst="rect">
              <a:avLst/>
            </a:prstGeom>
            <a:noFill/>
            <a:ln>
              <a:noFill/>
            </a:ln>
          </p:spPr>
          <p:txBody>
            <a:bodyPr wrap="none" lIns="0" tIns="0" rIns="0" bIns="0" anchor="t" anchorCtr="0">
              <a:spAutoFit/>
            </a:bodyPr>
            <a:lstStyle/>
            <a:p>
              <a:pPr algn="ctr"/>
              <a:r>
                <a:rPr lang="zh-CN" sz="790" dirty="0">
                  <a:solidFill>
                    <a:srgbClr val="7A3E33"/>
                  </a:solidFill>
                  <a:latin typeface="+mn-lt"/>
                  <a:ea typeface="+mn-ea"/>
                  <a:cs typeface="+mn-cs"/>
                </a:rPr>
                <a:t>开发测试脚本 制定测试计划</a:t>
              </a:r>
            </a:p>
          </p:txBody>
        </p:sp>
        <p:sp>
          <p:nvSpPr>
            <p:cNvPr id="68" name="Line 68"/>
            <p:cNvSpPr/>
            <p:nvPr/>
          </p:nvSpPr>
          <p:spPr>
            <a:xfrm>
              <a:off x="4019550" y="2495550"/>
              <a:ext cx="9525" cy="190500"/>
            </a:xfrm>
            <a:custGeom>
              <a:avLst/>
              <a:gdLst/>
              <a:ahLst/>
              <a:cxnLst/>
              <a:rect l="l" t="t" r="r" b="b"/>
              <a:pathLst>
                <a:path w="9525" h="190500">
                  <a:moveTo>
                    <a:pt x="0" y="0"/>
                  </a:moveTo>
                  <a:lnTo>
                    <a:pt x="0" y="190500"/>
                  </a:lnTo>
                </a:path>
              </a:pathLst>
            </a:custGeom>
            <a:noFill/>
            <a:ln w="9525">
              <a:solidFill>
                <a:srgbClr val="BF857A"/>
              </a:solidFill>
              <a:prstDash val="sysDot"/>
            </a:ln>
          </p:spPr>
        </p:sp>
        <p:sp>
          <p:nvSpPr>
            <p:cNvPr id="69" name="Line 69"/>
            <p:cNvSpPr/>
            <p:nvPr/>
          </p:nvSpPr>
          <p:spPr>
            <a:xfrm>
              <a:off x="5086350" y="2495550"/>
              <a:ext cx="9525" cy="190500"/>
            </a:xfrm>
            <a:custGeom>
              <a:avLst/>
              <a:gdLst/>
              <a:ahLst/>
              <a:cxnLst/>
              <a:rect l="l" t="t" r="r" b="b"/>
              <a:pathLst>
                <a:path w="9525" h="190500">
                  <a:moveTo>
                    <a:pt x="0" y="0"/>
                  </a:moveTo>
                  <a:lnTo>
                    <a:pt x="0" y="190500"/>
                  </a:lnTo>
                </a:path>
              </a:pathLst>
            </a:custGeom>
            <a:noFill/>
            <a:ln w="9525">
              <a:solidFill>
                <a:srgbClr val="BF857A"/>
              </a:solidFill>
              <a:prstDash val="sysDot"/>
            </a:ln>
          </p:spPr>
        </p:sp>
        <p:sp>
          <p:nvSpPr>
            <p:cNvPr id="70" name="Rectangle 70"/>
            <p:cNvSpPr/>
            <p:nvPr/>
          </p:nvSpPr>
          <p:spPr>
            <a:xfrm>
              <a:off x="3543300" y="2686050"/>
              <a:ext cx="952500" cy="304800"/>
            </a:xfrm>
            <a:prstGeom prst="rect">
              <a:avLst/>
            </a:prstGeom>
            <a:solidFill>
              <a:srgbClr val="DFF0D2"/>
            </a:solidFill>
            <a:ln>
              <a:noFill/>
            </a:ln>
          </p:spPr>
        </p:sp>
        <p:sp>
          <p:nvSpPr>
            <p:cNvPr id="71" name="TextBox 71"/>
            <p:cNvSpPr txBox="1"/>
            <p:nvPr/>
          </p:nvSpPr>
          <p:spPr>
            <a:xfrm>
              <a:off x="3794011" y="2797016"/>
              <a:ext cx="451079"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测试计划</a:t>
              </a:r>
            </a:p>
          </p:txBody>
        </p:sp>
        <p:sp>
          <p:nvSpPr>
            <p:cNvPr id="72" name="Rectangle 72"/>
            <p:cNvSpPr/>
            <p:nvPr/>
          </p:nvSpPr>
          <p:spPr>
            <a:xfrm>
              <a:off x="4610100" y="2686050"/>
              <a:ext cx="952500" cy="304800"/>
            </a:xfrm>
            <a:prstGeom prst="rect">
              <a:avLst/>
            </a:prstGeom>
            <a:solidFill>
              <a:srgbClr val="DFF0D2"/>
            </a:solidFill>
            <a:ln>
              <a:noFill/>
            </a:ln>
          </p:spPr>
        </p:sp>
        <p:sp>
          <p:nvSpPr>
            <p:cNvPr id="73" name="TextBox 73"/>
            <p:cNvSpPr txBox="1"/>
            <p:nvPr/>
          </p:nvSpPr>
          <p:spPr>
            <a:xfrm>
              <a:off x="4860811" y="2797016"/>
              <a:ext cx="451079"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测试编排</a:t>
              </a:r>
            </a:p>
          </p:txBody>
        </p:sp>
        <p:sp>
          <p:nvSpPr>
            <p:cNvPr id="74" name="TextBox 74"/>
            <p:cNvSpPr txBox="1"/>
            <p:nvPr/>
          </p:nvSpPr>
          <p:spPr>
            <a:xfrm>
              <a:off x="4232338" y="3217545"/>
              <a:ext cx="736473"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主要品类内容</a:t>
              </a:r>
            </a:p>
          </p:txBody>
        </p:sp>
        <p:sp>
          <p:nvSpPr>
            <p:cNvPr id="75" name="Rectangle 75"/>
            <p:cNvSpPr/>
            <p:nvPr/>
          </p:nvSpPr>
          <p:spPr>
            <a:xfrm>
              <a:off x="3543300" y="3524250"/>
              <a:ext cx="952500" cy="304800"/>
            </a:xfrm>
            <a:prstGeom prst="rect">
              <a:avLst/>
            </a:prstGeom>
            <a:solidFill>
              <a:srgbClr val="DFF0D2"/>
            </a:solidFill>
            <a:ln>
              <a:noFill/>
            </a:ln>
          </p:spPr>
        </p:sp>
        <p:sp>
          <p:nvSpPr>
            <p:cNvPr id="76" name="TextBox 76"/>
            <p:cNvSpPr txBox="1"/>
            <p:nvPr/>
          </p:nvSpPr>
          <p:spPr>
            <a:xfrm>
              <a:off x="3794011" y="3635216"/>
              <a:ext cx="451079"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测试进度</a:t>
              </a:r>
            </a:p>
          </p:txBody>
        </p:sp>
        <p:sp>
          <p:nvSpPr>
            <p:cNvPr id="77" name="Rectangle 77"/>
            <p:cNvSpPr/>
            <p:nvPr/>
          </p:nvSpPr>
          <p:spPr>
            <a:xfrm>
              <a:off x="4610100" y="3524250"/>
              <a:ext cx="952500" cy="304800"/>
            </a:xfrm>
            <a:prstGeom prst="rect">
              <a:avLst/>
            </a:prstGeom>
            <a:solidFill>
              <a:srgbClr val="DFF0D2"/>
            </a:solidFill>
            <a:ln>
              <a:noFill/>
            </a:ln>
          </p:spPr>
        </p:sp>
        <p:sp>
          <p:nvSpPr>
            <p:cNvPr id="78" name="TextBox 78"/>
            <p:cNvSpPr txBox="1"/>
            <p:nvPr/>
          </p:nvSpPr>
          <p:spPr>
            <a:xfrm>
              <a:off x="4860811" y="3635216"/>
              <a:ext cx="451079"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测试结果</a:t>
              </a:r>
            </a:p>
          </p:txBody>
        </p:sp>
        <p:sp>
          <p:nvSpPr>
            <p:cNvPr id="79" name="Line 79"/>
            <p:cNvSpPr/>
            <p:nvPr/>
          </p:nvSpPr>
          <p:spPr>
            <a:xfrm>
              <a:off x="4019550" y="3829050"/>
              <a:ext cx="9525" cy="171450"/>
            </a:xfrm>
            <a:custGeom>
              <a:avLst/>
              <a:gdLst/>
              <a:ahLst/>
              <a:cxnLst/>
              <a:rect l="l" t="t" r="r" b="b"/>
              <a:pathLst>
                <a:path w="9525" h="171450">
                  <a:moveTo>
                    <a:pt x="0" y="0"/>
                  </a:moveTo>
                  <a:lnTo>
                    <a:pt x="0" y="171450"/>
                  </a:lnTo>
                </a:path>
              </a:pathLst>
            </a:custGeom>
            <a:noFill/>
            <a:ln w="9525">
              <a:solidFill>
                <a:srgbClr val="BF857A"/>
              </a:solidFill>
              <a:prstDash val="sysDot"/>
            </a:ln>
          </p:spPr>
        </p:sp>
        <p:sp>
          <p:nvSpPr>
            <p:cNvPr id="80" name="Line 80"/>
            <p:cNvSpPr/>
            <p:nvPr/>
          </p:nvSpPr>
          <p:spPr>
            <a:xfrm>
              <a:off x="5086350" y="3829050"/>
              <a:ext cx="9525" cy="171450"/>
            </a:xfrm>
            <a:custGeom>
              <a:avLst/>
              <a:gdLst/>
              <a:ahLst/>
              <a:cxnLst/>
              <a:rect l="l" t="t" r="r" b="b"/>
              <a:pathLst>
                <a:path w="9525" h="171450">
                  <a:moveTo>
                    <a:pt x="0" y="0"/>
                  </a:moveTo>
                  <a:lnTo>
                    <a:pt x="0" y="171450"/>
                  </a:lnTo>
                </a:path>
              </a:pathLst>
            </a:custGeom>
            <a:noFill/>
            <a:ln w="9525">
              <a:solidFill>
                <a:srgbClr val="BF857A"/>
              </a:solidFill>
              <a:prstDash val="sysDot"/>
            </a:ln>
          </p:spPr>
        </p:sp>
        <p:sp>
          <p:nvSpPr>
            <p:cNvPr id="81" name="Rectangle 81"/>
            <p:cNvSpPr/>
            <p:nvPr/>
          </p:nvSpPr>
          <p:spPr>
            <a:xfrm>
              <a:off x="3429000" y="4000500"/>
              <a:ext cx="2343150" cy="304800"/>
            </a:xfrm>
            <a:prstGeom prst="rect">
              <a:avLst/>
            </a:prstGeom>
            <a:solidFill>
              <a:srgbClr val="FFFFFF"/>
            </a:solidFill>
            <a:ln w="9525">
              <a:solidFill>
                <a:srgbClr val="C9D8BD"/>
              </a:solidFill>
            </a:ln>
          </p:spPr>
        </p:sp>
        <p:sp>
          <p:nvSpPr>
            <p:cNvPr id="82" name="TextBox 82"/>
            <p:cNvSpPr txBox="1"/>
            <p:nvPr/>
          </p:nvSpPr>
          <p:spPr>
            <a:xfrm>
              <a:off x="4081679" y="4111466"/>
              <a:ext cx="1037793"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报告测试 进度和结果</a:t>
              </a:r>
            </a:p>
          </p:txBody>
        </p:sp>
      </p:grpSp>
      <p:grpSp>
        <p:nvGrpSpPr>
          <p:cNvPr id="116" name="card-3"/>
          <p:cNvGrpSpPr/>
          <p:nvPr/>
        </p:nvGrpSpPr>
        <p:grpSpPr>
          <a:xfrm>
            <a:off x="6057900" y="914400"/>
            <a:ext cx="2857500" cy="3524250"/>
            <a:chOff x="6057900" y="914400"/>
            <a:chExt cx="2857500" cy="3524250"/>
          </a:xfrm>
        </p:grpSpPr>
        <p:sp>
          <p:nvSpPr>
            <p:cNvPr id="84" name="Freeform 84"/>
            <p:cNvSpPr/>
            <p:nvPr/>
          </p:nvSpPr>
          <p:spPr>
            <a:xfrm rot="5400000">
              <a:off x="8743950" y="1390650"/>
              <a:ext cx="152400" cy="190500"/>
            </a:xfrm>
            <a:prstGeom prst="triangle">
              <a:avLst/>
            </a:prstGeom>
            <a:solidFill>
              <a:srgbClr val="9C594C"/>
            </a:solidFill>
            <a:ln>
              <a:noFill/>
            </a:ln>
          </p:spPr>
        </p:sp>
        <p:sp>
          <p:nvSpPr>
            <p:cNvPr id="85" name="Freeform 85"/>
            <p:cNvSpPr/>
            <p:nvPr/>
          </p:nvSpPr>
          <p:spPr>
            <a:xfrm>
              <a:off x="6057900" y="914400"/>
              <a:ext cx="2762250" cy="1143000"/>
            </a:xfrm>
            <a:prstGeom prst="parallelogram">
              <a:avLst/>
            </a:prstGeom>
            <a:solidFill>
              <a:srgbClr val="E9563C"/>
            </a:solidFill>
            <a:ln>
              <a:noFill/>
            </a:ln>
          </p:spPr>
        </p:sp>
        <p:sp>
          <p:nvSpPr>
            <p:cNvPr id="86" name="Ellipse 86"/>
            <p:cNvSpPr/>
            <p:nvPr/>
          </p:nvSpPr>
          <p:spPr>
            <a:xfrm>
              <a:off x="6477000" y="1276350"/>
              <a:ext cx="419100" cy="419100"/>
            </a:xfrm>
            <a:prstGeom prst="ellipse">
              <a:avLst/>
            </a:prstGeom>
            <a:solidFill>
              <a:srgbClr val="FFFFFF"/>
            </a:solidFill>
            <a:ln>
              <a:noFill/>
            </a:ln>
          </p:spPr>
        </p:sp>
        <p:grpSp>
          <p:nvGrpSpPr>
            <p:cNvPr id="90" name="Group 90"/>
            <p:cNvGrpSpPr/>
            <p:nvPr/>
          </p:nvGrpSpPr>
          <p:grpSpPr>
            <a:xfrm>
              <a:off x="6600825" y="1400175"/>
              <a:ext cx="171450" cy="171450"/>
              <a:chOff x="6600825" y="1400175"/>
              <a:chExt cx="171450" cy="171450"/>
            </a:xfrm>
          </p:grpSpPr>
          <p:sp>
            <p:nvSpPr>
              <p:cNvPr id="87" name="Freeform 87"/>
              <p:cNvSpPr/>
              <p:nvPr/>
            </p:nvSpPr>
            <p:spPr>
              <a:xfrm>
                <a:off x="6677025" y="14763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E9563C"/>
                </a:solidFill>
              </a:ln>
            </p:spPr>
          </p:sp>
          <p:sp>
            <p:nvSpPr>
              <p:cNvPr id="88" name="Freeform 88"/>
              <p:cNvSpPr/>
              <p:nvPr/>
            </p:nvSpPr>
            <p:spPr>
              <a:xfrm>
                <a:off x="6638925" y="143827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E9563C"/>
                </a:solidFill>
              </a:ln>
            </p:spPr>
          </p:sp>
          <p:sp>
            <p:nvSpPr>
              <p:cNvPr id="89" name="Freeform 89"/>
              <p:cNvSpPr/>
              <p:nvPr/>
            </p:nvSpPr>
            <p:spPr>
              <a:xfrm>
                <a:off x="6600825" y="14001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E9563C"/>
                </a:solidFill>
              </a:ln>
            </p:spPr>
          </p:sp>
        </p:grpSp>
        <p:sp>
          <p:nvSpPr>
            <p:cNvPr id="91" name="TextBox 91"/>
            <p:cNvSpPr txBox="1"/>
            <p:nvPr/>
          </p:nvSpPr>
          <p:spPr>
            <a:xfrm>
              <a:off x="7003542" y="1302068"/>
              <a:ext cx="55892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明定位</a:t>
              </a:r>
            </a:p>
          </p:txBody>
        </p:sp>
        <p:sp>
          <p:nvSpPr>
            <p:cNvPr id="92" name="TextBox 92"/>
            <p:cNvSpPr txBox="1"/>
            <p:nvPr/>
          </p:nvSpPr>
          <p:spPr>
            <a:xfrm>
              <a:off x="7005638" y="1579245"/>
              <a:ext cx="73647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提炼产品定位</a:t>
              </a:r>
            </a:p>
          </p:txBody>
        </p:sp>
        <p:sp>
          <p:nvSpPr>
            <p:cNvPr id="93" name="Rectangle 93"/>
            <p:cNvSpPr/>
            <p:nvPr/>
          </p:nvSpPr>
          <p:spPr>
            <a:xfrm>
              <a:off x="6153150" y="2057400"/>
              <a:ext cx="2571750" cy="2381250"/>
            </a:xfrm>
            <a:prstGeom prst="rect">
              <a:avLst/>
            </a:prstGeom>
            <a:solidFill>
              <a:srgbClr val="FFFFFF"/>
            </a:solidFill>
            <a:ln w="9525">
              <a:solidFill>
                <a:srgbClr val="E8B5AC"/>
              </a:solidFill>
              <a:custDash>
                <a:ds d="400000" sp="300000"/>
              </a:custDash>
            </a:ln>
          </p:spPr>
        </p:sp>
        <p:sp>
          <p:nvSpPr>
            <p:cNvPr id="94" name="Polygon 94"/>
            <p:cNvSpPr/>
            <p:nvPr/>
          </p:nvSpPr>
          <p:spPr>
            <a:xfrm>
              <a:off x="6928485" y="2333625"/>
              <a:ext cx="1021080" cy="996315"/>
            </a:xfrm>
            <a:custGeom>
              <a:avLst/>
              <a:gdLst/>
              <a:ahLst/>
              <a:cxnLst/>
              <a:rect l="l" t="t" r="r" b="b"/>
              <a:pathLst>
                <a:path w="1021080" h="996315">
                  <a:moveTo>
                    <a:pt x="510540" y="0"/>
                  </a:moveTo>
                  <a:lnTo>
                    <a:pt x="920115" y="197167"/>
                  </a:lnTo>
                  <a:lnTo>
                    <a:pt x="1021080" y="640080"/>
                  </a:lnTo>
                  <a:lnTo>
                    <a:pt x="738188" y="996315"/>
                  </a:lnTo>
                  <a:lnTo>
                    <a:pt x="282893" y="996315"/>
                  </a:lnTo>
                  <a:lnTo>
                    <a:pt x="0" y="640080"/>
                  </a:lnTo>
                  <a:lnTo>
                    <a:pt x="100965" y="197167"/>
                  </a:lnTo>
                  <a:close/>
                </a:path>
              </a:pathLst>
            </a:custGeom>
            <a:noFill/>
            <a:ln w="9525">
              <a:solidFill>
                <a:srgbClr val="F09180"/>
              </a:solidFill>
            </a:ln>
          </p:spPr>
        </p:sp>
        <p:sp>
          <p:nvSpPr>
            <p:cNvPr id="95" name="Polygon 95"/>
            <p:cNvSpPr/>
            <p:nvPr/>
          </p:nvSpPr>
          <p:spPr>
            <a:xfrm>
              <a:off x="7114222" y="2524125"/>
              <a:ext cx="649605" cy="633412"/>
            </a:xfrm>
            <a:custGeom>
              <a:avLst/>
              <a:gdLst/>
              <a:ahLst/>
              <a:cxnLst/>
              <a:rect l="l" t="t" r="r" b="b"/>
              <a:pathLst>
                <a:path w="649605" h="633412">
                  <a:moveTo>
                    <a:pt x="324803" y="0"/>
                  </a:moveTo>
                  <a:lnTo>
                    <a:pt x="585788" y="125730"/>
                  </a:lnTo>
                  <a:lnTo>
                    <a:pt x="649605" y="407670"/>
                  </a:lnTo>
                  <a:lnTo>
                    <a:pt x="469583" y="633412"/>
                  </a:lnTo>
                  <a:lnTo>
                    <a:pt x="180022" y="633412"/>
                  </a:lnTo>
                  <a:lnTo>
                    <a:pt x="0" y="407670"/>
                  </a:lnTo>
                  <a:lnTo>
                    <a:pt x="63818" y="125730"/>
                  </a:lnTo>
                  <a:close/>
                </a:path>
              </a:pathLst>
            </a:custGeom>
            <a:noFill/>
            <a:ln w="9525">
              <a:solidFill>
                <a:srgbClr val="F09180"/>
              </a:solidFill>
            </a:ln>
          </p:spPr>
        </p:sp>
        <p:sp>
          <p:nvSpPr>
            <p:cNvPr id="96" name="Polygon 96"/>
            <p:cNvSpPr/>
            <p:nvPr/>
          </p:nvSpPr>
          <p:spPr>
            <a:xfrm>
              <a:off x="7056120" y="2386012"/>
              <a:ext cx="791528" cy="802005"/>
            </a:xfrm>
            <a:custGeom>
              <a:avLst/>
              <a:gdLst/>
              <a:ahLst/>
              <a:cxnLst/>
              <a:rect l="l" t="t" r="r" b="b"/>
              <a:pathLst>
                <a:path w="791528" h="802005">
                  <a:moveTo>
                    <a:pt x="382905" y="0"/>
                  </a:moveTo>
                  <a:lnTo>
                    <a:pt x="628650" y="275272"/>
                  </a:lnTo>
                  <a:lnTo>
                    <a:pt x="791528" y="564833"/>
                  </a:lnTo>
                  <a:lnTo>
                    <a:pt x="541973" y="802005"/>
                  </a:lnTo>
                  <a:lnTo>
                    <a:pt x="269558" y="707708"/>
                  </a:lnTo>
                  <a:lnTo>
                    <a:pt x="0" y="559117"/>
                  </a:lnTo>
                  <a:lnTo>
                    <a:pt x="116205" y="259080"/>
                  </a:lnTo>
                  <a:close/>
                </a:path>
              </a:pathLst>
            </a:custGeom>
            <a:solidFill>
              <a:srgbClr val="E9563C">
                <a:alpha val="15000"/>
              </a:srgbClr>
            </a:solidFill>
            <a:ln w="14288">
              <a:solidFill>
                <a:srgbClr val="E9563C"/>
              </a:solidFill>
            </a:ln>
          </p:spPr>
        </p:sp>
        <p:sp>
          <p:nvSpPr>
            <p:cNvPr id="97" name="TextBox 97"/>
            <p:cNvSpPr txBox="1"/>
            <p:nvPr/>
          </p:nvSpPr>
          <p:spPr>
            <a:xfrm>
              <a:off x="7348106" y="2160032"/>
              <a:ext cx="181839" cy="126206"/>
            </a:xfrm>
            <a:prstGeom prst="rect">
              <a:avLst/>
            </a:prstGeom>
            <a:noFill/>
            <a:ln>
              <a:noFill/>
            </a:ln>
          </p:spPr>
          <p:txBody>
            <a:bodyPr wrap="none" lIns="0" tIns="0" rIns="0" bIns="0" anchor="t" anchorCtr="0">
              <a:spAutoFit/>
            </a:bodyPr>
            <a:lstStyle/>
            <a:p>
              <a:pPr algn="ctr"/>
              <a:r>
                <a:rPr lang="zh-CN" sz="640" dirty="0">
                  <a:solidFill>
                    <a:srgbClr val="D6391E"/>
                  </a:solidFill>
                  <a:latin typeface="+mn-lt"/>
                  <a:ea typeface="+mn-ea"/>
                  <a:cs typeface="+mn-cs"/>
                </a:rPr>
                <a:t>周一</a:t>
              </a:r>
            </a:p>
          </p:txBody>
        </p:sp>
        <p:sp>
          <p:nvSpPr>
            <p:cNvPr id="98" name="TextBox 98"/>
            <p:cNvSpPr txBox="1"/>
            <p:nvPr/>
          </p:nvSpPr>
          <p:spPr>
            <a:xfrm>
              <a:off x="7891031" y="2407682"/>
              <a:ext cx="181839" cy="126206"/>
            </a:xfrm>
            <a:prstGeom prst="rect">
              <a:avLst/>
            </a:prstGeom>
            <a:noFill/>
            <a:ln>
              <a:noFill/>
            </a:ln>
          </p:spPr>
          <p:txBody>
            <a:bodyPr wrap="none" lIns="0" tIns="0" rIns="0" bIns="0" anchor="t" anchorCtr="0">
              <a:spAutoFit/>
            </a:bodyPr>
            <a:lstStyle/>
            <a:p>
              <a:pPr algn="ctr"/>
              <a:r>
                <a:rPr lang="zh-CN" sz="640" dirty="0">
                  <a:solidFill>
                    <a:srgbClr val="D6391E"/>
                  </a:solidFill>
                  <a:latin typeface="+mn-lt"/>
                  <a:ea typeface="+mn-ea"/>
                  <a:cs typeface="+mn-cs"/>
                </a:rPr>
                <a:t>周二</a:t>
              </a:r>
            </a:p>
          </p:txBody>
        </p:sp>
        <p:sp>
          <p:nvSpPr>
            <p:cNvPr id="99" name="TextBox 99"/>
            <p:cNvSpPr txBox="1"/>
            <p:nvPr/>
          </p:nvSpPr>
          <p:spPr>
            <a:xfrm>
              <a:off x="8014856" y="2950607"/>
              <a:ext cx="181839" cy="126206"/>
            </a:xfrm>
            <a:prstGeom prst="rect">
              <a:avLst/>
            </a:prstGeom>
            <a:noFill/>
            <a:ln>
              <a:noFill/>
            </a:ln>
          </p:spPr>
          <p:txBody>
            <a:bodyPr wrap="none" lIns="0" tIns="0" rIns="0" bIns="0" anchor="t" anchorCtr="0">
              <a:spAutoFit/>
            </a:bodyPr>
            <a:lstStyle/>
            <a:p>
              <a:pPr algn="ctr"/>
              <a:r>
                <a:rPr lang="zh-CN" sz="640" dirty="0">
                  <a:solidFill>
                    <a:srgbClr val="D6391E"/>
                  </a:solidFill>
                  <a:latin typeface="+mn-lt"/>
                  <a:ea typeface="+mn-ea"/>
                  <a:cs typeface="+mn-cs"/>
                </a:rPr>
                <a:t>周三</a:t>
              </a:r>
            </a:p>
          </p:txBody>
        </p:sp>
        <p:sp>
          <p:nvSpPr>
            <p:cNvPr id="100" name="TextBox 100"/>
            <p:cNvSpPr txBox="1"/>
            <p:nvPr/>
          </p:nvSpPr>
          <p:spPr>
            <a:xfrm>
              <a:off x="7643381" y="3398282"/>
              <a:ext cx="181839" cy="126206"/>
            </a:xfrm>
            <a:prstGeom prst="rect">
              <a:avLst/>
            </a:prstGeom>
            <a:noFill/>
            <a:ln>
              <a:noFill/>
            </a:ln>
          </p:spPr>
          <p:txBody>
            <a:bodyPr wrap="none" lIns="0" tIns="0" rIns="0" bIns="0" anchor="t" anchorCtr="0">
              <a:spAutoFit/>
            </a:bodyPr>
            <a:lstStyle/>
            <a:p>
              <a:pPr algn="ctr"/>
              <a:r>
                <a:rPr lang="zh-CN" sz="640" dirty="0">
                  <a:solidFill>
                    <a:srgbClr val="D6391E"/>
                  </a:solidFill>
                  <a:latin typeface="+mn-lt"/>
                  <a:ea typeface="+mn-ea"/>
                  <a:cs typeface="+mn-cs"/>
                </a:rPr>
                <a:t>周四</a:t>
              </a:r>
            </a:p>
          </p:txBody>
        </p:sp>
        <p:sp>
          <p:nvSpPr>
            <p:cNvPr id="101" name="TextBox 101"/>
            <p:cNvSpPr txBox="1"/>
            <p:nvPr/>
          </p:nvSpPr>
          <p:spPr>
            <a:xfrm>
              <a:off x="7052831" y="3398282"/>
              <a:ext cx="181839" cy="126206"/>
            </a:xfrm>
            <a:prstGeom prst="rect">
              <a:avLst/>
            </a:prstGeom>
            <a:noFill/>
            <a:ln>
              <a:noFill/>
            </a:ln>
          </p:spPr>
          <p:txBody>
            <a:bodyPr wrap="none" lIns="0" tIns="0" rIns="0" bIns="0" anchor="t" anchorCtr="0">
              <a:spAutoFit/>
            </a:bodyPr>
            <a:lstStyle/>
            <a:p>
              <a:pPr algn="ctr"/>
              <a:r>
                <a:rPr lang="zh-CN" sz="640" dirty="0">
                  <a:solidFill>
                    <a:srgbClr val="D6391E"/>
                  </a:solidFill>
                  <a:latin typeface="+mn-lt"/>
                  <a:ea typeface="+mn-ea"/>
                  <a:cs typeface="+mn-cs"/>
                </a:rPr>
                <a:t>周五</a:t>
              </a:r>
            </a:p>
          </p:txBody>
        </p:sp>
        <p:sp>
          <p:nvSpPr>
            <p:cNvPr id="102" name="TextBox 102"/>
            <p:cNvSpPr txBox="1"/>
            <p:nvPr/>
          </p:nvSpPr>
          <p:spPr>
            <a:xfrm>
              <a:off x="6681356" y="2950607"/>
              <a:ext cx="181839" cy="126206"/>
            </a:xfrm>
            <a:prstGeom prst="rect">
              <a:avLst/>
            </a:prstGeom>
            <a:noFill/>
            <a:ln>
              <a:noFill/>
            </a:ln>
          </p:spPr>
          <p:txBody>
            <a:bodyPr wrap="none" lIns="0" tIns="0" rIns="0" bIns="0" anchor="t" anchorCtr="0">
              <a:spAutoFit/>
            </a:bodyPr>
            <a:lstStyle/>
            <a:p>
              <a:pPr algn="ctr"/>
              <a:r>
                <a:rPr lang="zh-CN" sz="640" dirty="0">
                  <a:solidFill>
                    <a:srgbClr val="D6391E"/>
                  </a:solidFill>
                  <a:latin typeface="+mn-lt"/>
                  <a:ea typeface="+mn-ea"/>
                  <a:cs typeface="+mn-cs"/>
                </a:rPr>
                <a:t>周六</a:t>
              </a:r>
            </a:p>
          </p:txBody>
        </p:sp>
        <p:sp>
          <p:nvSpPr>
            <p:cNvPr id="103" name="TextBox 103"/>
            <p:cNvSpPr txBox="1"/>
            <p:nvPr/>
          </p:nvSpPr>
          <p:spPr>
            <a:xfrm>
              <a:off x="6805181" y="2407682"/>
              <a:ext cx="181839" cy="126206"/>
            </a:xfrm>
            <a:prstGeom prst="rect">
              <a:avLst/>
            </a:prstGeom>
            <a:noFill/>
            <a:ln>
              <a:noFill/>
            </a:ln>
          </p:spPr>
          <p:txBody>
            <a:bodyPr wrap="none" lIns="0" tIns="0" rIns="0" bIns="0" anchor="t" anchorCtr="0">
              <a:spAutoFit/>
            </a:bodyPr>
            <a:lstStyle/>
            <a:p>
              <a:pPr algn="ctr"/>
              <a:r>
                <a:rPr lang="zh-CN" sz="640" dirty="0">
                  <a:solidFill>
                    <a:srgbClr val="D6391E"/>
                  </a:solidFill>
                  <a:latin typeface="+mn-lt"/>
                  <a:ea typeface="+mn-ea"/>
                  <a:cs typeface="+mn-cs"/>
                </a:rPr>
                <a:t>周日</a:t>
              </a:r>
            </a:p>
          </p:txBody>
        </p:sp>
        <p:sp>
          <p:nvSpPr>
            <p:cNvPr id="104" name="Ellipse 104"/>
            <p:cNvSpPr/>
            <p:nvPr/>
          </p:nvSpPr>
          <p:spPr>
            <a:xfrm>
              <a:off x="6296025" y="3552825"/>
              <a:ext cx="133350" cy="133350"/>
            </a:xfrm>
            <a:prstGeom prst="ellipse">
              <a:avLst/>
            </a:prstGeom>
            <a:solidFill>
              <a:srgbClr val="E9563C"/>
            </a:solidFill>
            <a:ln>
              <a:noFill/>
            </a:ln>
          </p:spPr>
        </p:sp>
        <p:sp>
          <p:nvSpPr>
            <p:cNvPr id="105" name="TextBox 105"/>
            <p:cNvSpPr txBox="1"/>
            <p:nvPr/>
          </p:nvSpPr>
          <p:spPr>
            <a:xfrm>
              <a:off x="6334615" y="3588068"/>
              <a:ext cx="5617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a:t>
              </a:r>
            </a:p>
          </p:txBody>
        </p:sp>
        <p:sp>
          <p:nvSpPr>
            <p:cNvPr id="106" name="TextBox 106"/>
            <p:cNvSpPr txBox="1"/>
            <p:nvPr/>
          </p:nvSpPr>
          <p:spPr>
            <a:xfrm>
              <a:off x="6491288" y="3575209"/>
              <a:ext cx="1474191" cy="133350"/>
            </a:xfrm>
            <a:prstGeom prst="rect">
              <a:avLst/>
            </a:prstGeom>
            <a:noFill/>
            <a:ln>
              <a:noFill/>
            </a:ln>
          </p:spPr>
          <p:txBody>
            <a:bodyPr wrap="none" lIns="0" tIns="0" rIns="0" bIns="0" anchor="t" anchorCtr="0">
              <a:spAutoFit/>
            </a:bodyPr>
            <a:lstStyle/>
            <a:p>
              <a:pPr algn="l"/>
              <a:r>
                <a:rPr lang="zh-CN" sz="680" dirty="0">
                  <a:solidFill>
                    <a:srgbClr val="D6391E"/>
                  </a:solidFill>
                  <a:latin typeface="+mn-lt"/>
                  <a:ea typeface="+mn-ea"/>
                  <a:cs typeface="+mn-cs"/>
                </a:rPr>
                <a:t>数据分析是指用适当的统计分析方法</a:t>
              </a:r>
            </a:p>
          </p:txBody>
        </p:sp>
        <p:sp>
          <p:nvSpPr>
            <p:cNvPr id="107" name="TextBox 107"/>
            <p:cNvSpPr txBox="1"/>
            <p:nvPr/>
          </p:nvSpPr>
          <p:spPr>
            <a:xfrm>
              <a:off x="6491288" y="3696176"/>
              <a:ext cx="960295" cy="104775"/>
            </a:xfrm>
            <a:prstGeom prst="rect">
              <a:avLst/>
            </a:prstGeom>
            <a:noFill/>
            <a:ln>
              <a:noFill/>
            </a:ln>
          </p:spPr>
          <p:txBody>
            <a:bodyPr wrap="none" lIns="0" tIns="0" rIns="0" bIns="0" anchor="t" anchorCtr="0">
              <a:spAutoFit/>
            </a:bodyPr>
            <a:lstStyle/>
            <a:p>
              <a:pPr algn="l"/>
              <a:r>
                <a:rPr lang="en-US" sz="520" dirty="0">
                  <a:solidFill>
                    <a:srgbClr val="8C8C8C"/>
                  </a:solidFill>
                  <a:latin typeface="+mn-lt"/>
                  <a:ea typeface="+mn-ea"/>
                  <a:cs typeface="+mn-cs"/>
                </a:rPr>
                <a:t>Chart data display template</a:t>
              </a:r>
            </a:p>
          </p:txBody>
        </p:sp>
        <p:sp>
          <p:nvSpPr>
            <p:cNvPr id="108" name="Ellipse 108"/>
            <p:cNvSpPr/>
            <p:nvPr/>
          </p:nvSpPr>
          <p:spPr>
            <a:xfrm>
              <a:off x="6296025" y="3838575"/>
              <a:ext cx="133350" cy="133350"/>
            </a:xfrm>
            <a:prstGeom prst="ellipse">
              <a:avLst/>
            </a:prstGeom>
            <a:solidFill>
              <a:srgbClr val="9C594C"/>
            </a:solidFill>
            <a:ln>
              <a:noFill/>
            </a:ln>
          </p:spPr>
        </p:sp>
        <p:sp>
          <p:nvSpPr>
            <p:cNvPr id="109" name="TextBox 109"/>
            <p:cNvSpPr txBox="1"/>
            <p:nvPr/>
          </p:nvSpPr>
          <p:spPr>
            <a:xfrm>
              <a:off x="6334615" y="3873818"/>
              <a:ext cx="5617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a:t>
              </a:r>
            </a:p>
          </p:txBody>
        </p:sp>
        <p:sp>
          <p:nvSpPr>
            <p:cNvPr id="110" name="TextBox 110"/>
            <p:cNvSpPr txBox="1"/>
            <p:nvPr/>
          </p:nvSpPr>
          <p:spPr>
            <a:xfrm>
              <a:off x="6491288" y="3860959"/>
              <a:ext cx="1199566" cy="133350"/>
            </a:xfrm>
            <a:prstGeom prst="rect">
              <a:avLst/>
            </a:prstGeom>
            <a:noFill/>
            <a:ln>
              <a:noFill/>
            </a:ln>
          </p:spPr>
          <p:txBody>
            <a:bodyPr wrap="none" lIns="0" tIns="0" rIns="0" bIns="0" anchor="t" anchorCtr="0">
              <a:spAutoFit/>
            </a:bodyPr>
            <a:lstStyle/>
            <a:p>
              <a:pPr algn="l"/>
              <a:r>
                <a:rPr lang="zh-CN" sz="680" dirty="0">
                  <a:solidFill>
                    <a:srgbClr val="D6391E"/>
                  </a:solidFill>
                  <a:latin typeface="+mn-lt"/>
                  <a:ea typeface="+mn-ea"/>
                  <a:cs typeface="+mn-cs"/>
                </a:rPr>
                <a:t>对收集来的大量数据进行分析</a:t>
              </a:r>
            </a:p>
          </p:txBody>
        </p:sp>
        <p:sp>
          <p:nvSpPr>
            <p:cNvPr id="111" name="TextBox 111"/>
            <p:cNvSpPr txBox="1"/>
            <p:nvPr/>
          </p:nvSpPr>
          <p:spPr>
            <a:xfrm>
              <a:off x="6491288" y="3981926"/>
              <a:ext cx="960295" cy="104775"/>
            </a:xfrm>
            <a:prstGeom prst="rect">
              <a:avLst/>
            </a:prstGeom>
            <a:noFill/>
            <a:ln>
              <a:noFill/>
            </a:ln>
          </p:spPr>
          <p:txBody>
            <a:bodyPr wrap="none" lIns="0" tIns="0" rIns="0" bIns="0" anchor="t" anchorCtr="0">
              <a:spAutoFit/>
            </a:bodyPr>
            <a:lstStyle/>
            <a:p>
              <a:pPr algn="l"/>
              <a:r>
                <a:rPr lang="en-US" sz="520" dirty="0">
                  <a:solidFill>
                    <a:srgbClr val="8C8C8C"/>
                  </a:solidFill>
                  <a:latin typeface="+mn-lt"/>
                  <a:ea typeface="+mn-ea"/>
                  <a:cs typeface="+mn-cs"/>
                </a:rPr>
                <a:t>Chart data display template</a:t>
              </a:r>
            </a:p>
          </p:txBody>
        </p:sp>
        <p:sp>
          <p:nvSpPr>
            <p:cNvPr id="112" name="Ellipse 112"/>
            <p:cNvSpPr/>
            <p:nvPr/>
          </p:nvSpPr>
          <p:spPr>
            <a:xfrm>
              <a:off x="6296025" y="4124325"/>
              <a:ext cx="133350" cy="133350"/>
            </a:xfrm>
            <a:prstGeom prst="ellipse">
              <a:avLst/>
            </a:prstGeom>
            <a:solidFill>
              <a:srgbClr val="E9563C"/>
            </a:solidFill>
            <a:ln>
              <a:noFill/>
            </a:ln>
          </p:spPr>
        </p:sp>
        <p:sp>
          <p:nvSpPr>
            <p:cNvPr id="113" name="TextBox 113"/>
            <p:cNvSpPr txBox="1"/>
            <p:nvPr/>
          </p:nvSpPr>
          <p:spPr>
            <a:xfrm>
              <a:off x="6345216" y="4159568"/>
              <a:ext cx="34968"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a:t>
              </a:r>
            </a:p>
          </p:txBody>
        </p:sp>
        <p:sp>
          <p:nvSpPr>
            <p:cNvPr id="114" name="TextBox 114"/>
            <p:cNvSpPr txBox="1"/>
            <p:nvPr/>
          </p:nvSpPr>
          <p:spPr>
            <a:xfrm>
              <a:off x="6491288" y="4146709"/>
              <a:ext cx="1840357" cy="133350"/>
            </a:xfrm>
            <a:prstGeom prst="rect">
              <a:avLst/>
            </a:prstGeom>
            <a:noFill/>
            <a:ln>
              <a:noFill/>
            </a:ln>
          </p:spPr>
          <p:txBody>
            <a:bodyPr wrap="none" lIns="0" tIns="0" rIns="0" bIns="0" anchor="t" anchorCtr="0">
              <a:spAutoFit/>
            </a:bodyPr>
            <a:lstStyle/>
            <a:p>
              <a:pPr algn="l"/>
              <a:r>
                <a:rPr lang="zh-CN" sz="680" dirty="0">
                  <a:solidFill>
                    <a:srgbClr val="D6391E"/>
                  </a:solidFill>
                  <a:latin typeface="+mn-lt"/>
                  <a:ea typeface="+mn-ea"/>
                  <a:cs typeface="+mn-cs"/>
                </a:rPr>
                <a:t>最大化地开发数据的功能，发挥数据的作用。</a:t>
              </a:r>
            </a:p>
          </p:txBody>
        </p:sp>
        <p:sp>
          <p:nvSpPr>
            <p:cNvPr id="115" name="TextBox 115"/>
            <p:cNvSpPr txBox="1"/>
            <p:nvPr/>
          </p:nvSpPr>
          <p:spPr>
            <a:xfrm>
              <a:off x="6491288" y="4267676"/>
              <a:ext cx="960295" cy="104775"/>
            </a:xfrm>
            <a:prstGeom prst="rect">
              <a:avLst/>
            </a:prstGeom>
            <a:noFill/>
            <a:ln>
              <a:noFill/>
            </a:ln>
          </p:spPr>
          <p:txBody>
            <a:bodyPr wrap="none" lIns="0" tIns="0" rIns="0" bIns="0" anchor="t" anchorCtr="0">
              <a:spAutoFit/>
            </a:bodyPr>
            <a:lstStyle/>
            <a:p>
              <a:pPr algn="l"/>
              <a:r>
                <a:rPr lang="en-US" sz="520" dirty="0">
                  <a:solidFill>
                    <a:srgbClr val="8C8C8C"/>
                  </a:solidFill>
                  <a:latin typeface="+mn-lt"/>
                  <a:ea typeface="+mn-ea"/>
                  <a:cs typeface="+mn-cs"/>
                </a:rPr>
                <a:t>Chart data display template</a:t>
              </a:r>
            </a:p>
          </p:txBody>
        </p:sp>
      </p:grpSp>
      <p:grpSp>
        <p:nvGrpSpPr>
          <p:cNvPr id="139" name="card-4"/>
          <p:cNvGrpSpPr/>
          <p:nvPr/>
        </p:nvGrpSpPr>
        <p:grpSpPr>
          <a:xfrm>
            <a:off x="8896350" y="914400"/>
            <a:ext cx="2762250" cy="3554539"/>
            <a:chOff x="8896350" y="914400"/>
            <a:chExt cx="2762250" cy="3554539"/>
          </a:xfrm>
        </p:grpSpPr>
        <p:sp>
          <p:nvSpPr>
            <p:cNvPr id="117" name="Freeform 117"/>
            <p:cNvSpPr/>
            <p:nvPr/>
          </p:nvSpPr>
          <p:spPr>
            <a:xfrm>
              <a:off x="8896350" y="914400"/>
              <a:ext cx="2762250" cy="1143000"/>
            </a:xfrm>
            <a:prstGeom prst="parallelogram">
              <a:avLst/>
            </a:prstGeom>
            <a:solidFill>
              <a:srgbClr val="9C594C"/>
            </a:solidFill>
            <a:ln>
              <a:noFill/>
            </a:ln>
          </p:spPr>
        </p:sp>
        <p:sp>
          <p:nvSpPr>
            <p:cNvPr id="118" name="Ellipse 118"/>
            <p:cNvSpPr/>
            <p:nvPr/>
          </p:nvSpPr>
          <p:spPr>
            <a:xfrm>
              <a:off x="9315450" y="1276350"/>
              <a:ext cx="419100" cy="419100"/>
            </a:xfrm>
            <a:prstGeom prst="ellipse">
              <a:avLst/>
            </a:prstGeom>
            <a:solidFill>
              <a:srgbClr val="FFFFFF"/>
            </a:solidFill>
            <a:ln>
              <a:noFill/>
            </a:ln>
          </p:spPr>
        </p:sp>
        <p:grpSp>
          <p:nvGrpSpPr>
            <p:cNvPr id="123" name="Group 123"/>
            <p:cNvGrpSpPr/>
            <p:nvPr/>
          </p:nvGrpSpPr>
          <p:grpSpPr>
            <a:xfrm>
              <a:off x="9439275" y="1409700"/>
              <a:ext cx="171450" cy="161925"/>
              <a:chOff x="9439275" y="1409700"/>
              <a:chExt cx="171450" cy="161925"/>
            </a:xfrm>
          </p:grpSpPr>
          <p:sp>
            <p:nvSpPr>
              <p:cNvPr id="119" name="Freeform 119"/>
              <p:cNvSpPr/>
              <p:nvPr/>
            </p:nvSpPr>
            <p:spPr>
              <a:xfrm>
                <a:off x="9439275" y="14859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9C594C"/>
                </a:solidFill>
              </a:ln>
            </p:spPr>
          </p:sp>
          <p:sp>
            <p:nvSpPr>
              <p:cNvPr id="120" name="Freeform 120"/>
              <p:cNvSpPr/>
              <p:nvPr/>
            </p:nvSpPr>
            <p:spPr>
              <a:xfrm>
                <a:off x="9553575" y="14478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9C594C"/>
                </a:solidFill>
              </a:ln>
            </p:spPr>
          </p:sp>
          <p:sp>
            <p:nvSpPr>
              <p:cNvPr id="121" name="Freeform 121"/>
              <p:cNvSpPr/>
              <p:nvPr/>
            </p:nvSpPr>
            <p:spPr>
              <a:xfrm>
                <a:off x="9496425" y="14097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9C594C"/>
                </a:solidFill>
              </a:ln>
            </p:spPr>
          </p:sp>
          <p:sp>
            <p:nvSpPr>
              <p:cNvPr id="122" name="Freeform 122"/>
              <p:cNvSpPr/>
              <p:nvPr/>
            </p:nvSpPr>
            <p:spPr>
              <a:xfrm>
                <a:off x="9448800" y="1562100"/>
                <a:ext cx="133350" cy="9525"/>
              </a:xfrm>
              <a:custGeom>
                <a:avLst/>
                <a:gdLst/>
                <a:ahLst/>
                <a:cxnLst/>
                <a:rect l="l" t="t" r="r" b="b"/>
                <a:pathLst>
                  <a:path w="133350" h="9525">
                    <a:moveTo>
                      <a:pt x="0" y="0"/>
                    </a:moveTo>
                    <a:lnTo>
                      <a:pt x="133350" y="0"/>
                    </a:lnTo>
                  </a:path>
                </a:pathLst>
              </a:custGeom>
              <a:noFill/>
              <a:ln w="19050">
                <a:solidFill>
                  <a:srgbClr val="9C594C"/>
                </a:solidFill>
              </a:ln>
            </p:spPr>
          </p:sp>
        </p:grpSp>
        <p:sp>
          <p:nvSpPr>
            <p:cNvPr id="124" name="TextBox 124"/>
            <p:cNvSpPr txBox="1"/>
            <p:nvPr/>
          </p:nvSpPr>
          <p:spPr>
            <a:xfrm>
              <a:off x="9841992" y="1302068"/>
              <a:ext cx="55892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有聚焦</a:t>
              </a:r>
            </a:p>
          </p:txBody>
        </p:sp>
        <p:sp>
          <p:nvSpPr>
            <p:cNvPr id="125" name="TextBox 125"/>
            <p:cNvSpPr txBox="1"/>
            <p:nvPr/>
          </p:nvSpPr>
          <p:spPr>
            <a:xfrm>
              <a:off x="9844088" y="1579245"/>
              <a:ext cx="73647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分析竞争趋势</a:t>
              </a:r>
            </a:p>
          </p:txBody>
        </p:sp>
        <p:sp>
          <p:nvSpPr>
            <p:cNvPr id="126" name="Rectangle 126"/>
            <p:cNvSpPr/>
            <p:nvPr/>
          </p:nvSpPr>
          <p:spPr>
            <a:xfrm>
              <a:off x="8991600" y="2057400"/>
              <a:ext cx="2571750" cy="2381250"/>
            </a:xfrm>
            <a:prstGeom prst="rect">
              <a:avLst/>
            </a:prstGeom>
            <a:solidFill>
              <a:srgbClr val="FFFFFF"/>
            </a:solidFill>
            <a:ln w="9525">
              <a:solidFill>
                <a:srgbClr val="C9D8BD"/>
              </a:solidFill>
              <a:custDash>
                <a:ds d="400000" sp="300000"/>
              </a:custDash>
            </a:ln>
          </p:spPr>
        </p:sp>
        <p:sp>
          <p:nvSpPr>
            <p:cNvPr id="127" name="Freeform 127"/>
            <p:cNvSpPr/>
            <p:nvPr/>
          </p:nvSpPr>
          <p:spPr>
            <a:xfrm>
              <a:off x="9667875" y="2286000"/>
              <a:ext cx="1143000" cy="1143000"/>
            </a:xfrm>
            <a:prstGeom prst="blockArc">
              <a:avLst>
                <a:gd name="adj1" fmla="val 10830000"/>
                <a:gd name="adj2" fmla="val 12930000"/>
                <a:gd name="adj3" fmla="val 15000"/>
              </a:avLst>
            </a:prstGeom>
            <a:solidFill>
              <a:srgbClr val="DFF0D2"/>
            </a:solidFill>
            <a:ln>
              <a:noFill/>
            </a:ln>
          </p:spPr>
        </p:sp>
        <p:sp>
          <p:nvSpPr>
            <p:cNvPr id="128" name="Freeform 128"/>
            <p:cNvSpPr/>
            <p:nvPr/>
          </p:nvSpPr>
          <p:spPr>
            <a:xfrm>
              <a:off x="9667875" y="2286000"/>
              <a:ext cx="1143000" cy="1143000"/>
            </a:xfrm>
            <a:prstGeom prst="blockArc">
              <a:avLst>
                <a:gd name="adj1" fmla="val 12990000"/>
                <a:gd name="adj2" fmla="val 15090000"/>
                <a:gd name="adj3" fmla="val 15000"/>
              </a:avLst>
            </a:prstGeom>
            <a:solidFill>
              <a:srgbClr val="C8E0B8"/>
            </a:solidFill>
            <a:ln>
              <a:noFill/>
            </a:ln>
          </p:spPr>
        </p:sp>
        <p:sp>
          <p:nvSpPr>
            <p:cNvPr id="129" name="Freeform 129"/>
            <p:cNvSpPr/>
            <p:nvPr/>
          </p:nvSpPr>
          <p:spPr>
            <a:xfrm>
              <a:off x="9667875" y="2286000"/>
              <a:ext cx="1143000" cy="1143000"/>
            </a:xfrm>
            <a:prstGeom prst="blockArc">
              <a:avLst>
                <a:gd name="adj1" fmla="val 15150000"/>
                <a:gd name="adj2" fmla="val 17250000"/>
                <a:gd name="adj3" fmla="val 15000"/>
              </a:avLst>
            </a:prstGeom>
            <a:solidFill>
              <a:srgbClr val="CD9F96"/>
            </a:solidFill>
            <a:ln>
              <a:noFill/>
            </a:ln>
          </p:spPr>
        </p:sp>
        <p:sp>
          <p:nvSpPr>
            <p:cNvPr id="130" name="Freeform 130"/>
            <p:cNvSpPr/>
            <p:nvPr/>
          </p:nvSpPr>
          <p:spPr>
            <a:xfrm>
              <a:off x="9667875" y="2286000"/>
              <a:ext cx="1143000" cy="1143000"/>
            </a:xfrm>
            <a:prstGeom prst="blockArc">
              <a:avLst>
                <a:gd name="adj1" fmla="val 17310000"/>
                <a:gd name="adj2" fmla="val 19410000"/>
                <a:gd name="adj3" fmla="val 15000"/>
              </a:avLst>
            </a:prstGeom>
            <a:solidFill>
              <a:srgbClr val="B5766A"/>
            </a:solidFill>
            <a:ln>
              <a:noFill/>
            </a:ln>
          </p:spPr>
        </p:sp>
        <p:sp>
          <p:nvSpPr>
            <p:cNvPr id="131" name="Freeform 131"/>
            <p:cNvSpPr/>
            <p:nvPr/>
          </p:nvSpPr>
          <p:spPr>
            <a:xfrm>
              <a:off x="9667875" y="2286000"/>
              <a:ext cx="1143000" cy="1143000"/>
            </a:xfrm>
            <a:prstGeom prst="blockArc">
              <a:avLst>
                <a:gd name="adj1" fmla="val 19470000"/>
                <a:gd name="adj2" fmla="val 21570000"/>
                <a:gd name="adj3" fmla="val 15000"/>
              </a:avLst>
            </a:prstGeom>
            <a:solidFill>
              <a:srgbClr val="8C4B3F"/>
            </a:solidFill>
            <a:ln>
              <a:noFill/>
            </a:ln>
          </p:spPr>
        </p:sp>
        <p:sp>
          <p:nvSpPr>
            <p:cNvPr id="132" name="TextBox 132"/>
            <p:cNvSpPr txBox="1"/>
            <p:nvPr/>
          </p:nvSpPr>
          <p:spPr>
            <a:xfrm>
              <a:off x="9907520" y="2744152"/>
              <a:ext cx="663710" cy="205359"/>
            </a:xfrm>
            <a:prstGeom prst="rect">
              <a:avLst/>
            </a:prstGeom>
            <a:noFill/>
            <a:ln>
              <a:noFill/>
            </a:ln>
          </p:spPr>
          <p:txBody>
            <a:bodyPr wrap="none" lIns="0" tIns="0" rIns="0" bIns="0" anchor="t" anchorCtr="0">
              <a:spAutoFit/>
            </a:bodyPr>
            <a:lstStyle/>
            <a:p>
              <a:pPr algn="ctr"/>
              <a:r>
                <a:rPr lang="zh-CN" sz="1050" b="1" dirty="0">
                  <a:solidFill>
                    <a:srgbClr val="7A3E33"/>
                  </a:solidFill>
                  <a:latin typeface="+mn-lt"/>
                  <a:ea typeface="+mn-ea"/>
                  <a:cs typeface="+mn-cs"/>
                </a:rPr>
                <a:t>+1253.35</a:t>
              </a:r>
            </a:p>
          </p:txBody>
        </p:sp>
        <p:sp>
          <p:nvSpPr>
            <p:cNvPr id="133" name="TextBox 133"/>
            <p:cNvSpPr txBox="1"/>
            <p:nvPr/>
          </p:nvSpPr>
          <p:spPr>
            <a:xfrm>
              <a:off x="9776231" y="2945130"/>
              <a:ext cx="926287"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波动比目标 1.00 或更高​</a:t>
              </a:r>
            </a:p>
          </p:txBody>
        </p:sp>
        <p:sp>
          <p:nvSpPr>
            <p:cNvPr id="134" name="TextBox 134"/>
            <p:cNvSpPr txBox="1"/>
            <p:nvPr/>
          </p:nvSpPr>
          <p:spPr>
            <a:xfrm>
              <a:off x="9139238" y="3241834"/>
              <a:ext cx="1553845" cy="400050"/>
            </a:xfrm>
            <a:prstGeom prst="rect">
              <a:avLst/>
            </a:prstGeom>
            <a:noFill/>
            <a:ln>
              <a:noFill/>
            </a:ln>
          </p:spPr>
          <p:txBody>
            <a:bodyPr wrap="none" lIns="0" tIns="0" rIns="0" bIns="0" anchor="t" anchorCtr="0">
              <a:spAutoFit/>
            </a:bodyPr>
            <a:lstStyle/>
            <a:p>
              <a:pPr algn="l" marL="76200" indent="-76200">
                <a:lnSpc>
                  <a:spcPts val="1050"/>
                </a:lnSpc>
                <a:buClr>
                  <a:srgbClr val="333333"/>
                </a:buClr>
                <a:buSzTx/>
                <a:buFontTx/>
                <a:buChar char="•"/>
              </a:pPr>
              <a:r>
                <a:rPr lang="zh-CN" sz="680" dirty="0">
                  <a:solidFill>
                    <a:srgbClr val="333333"/>
                  </a:solidFill>
                  <a:latin typeface="+mn-lt"/>
                  <a:ea typeface="+mn-ea"/>
                  <a:cs typeface="+mn-cs"/>
                </a:rPr>
                <a:t>数据分析是指用适当的统计分析方法对</a:t>
              </a:r>
              <a:br/>
              <a:r>
                <a:rPr lang="zh-CN" sz="680" dirty="0">
                  <a:solidFill>
                    <a:srgbClr val="333333"/>
                  </a:solidFill>
                  <a:latin typeface="+mn-lt"/>
                  <a:ea typeface="+mn-ea"/>
                  <a:cs typeface="+mn-cs"/>
                </a:rPr>
                <a:t>收集来的大量数据进行分析</a:t>
              </a:r>
            </a:p>
            <a:p>
              <a:pPr algn="l" marL="76200" indent="-76200">
                <a:lnSpc>
                  <a:spcPts val="1050"/>
                </a:lnSpc>
                <a:buClr>
                  <a:srgbClr val="333333"/>
                </a:buClr>
                <a:buSzTx/>
                <a:buFontTx/>
                <a:buChar char="•"/>
              </a:pPr>
              <a:r>
                <a:rPr lang="zh-CN" sz="680" dirty="0">
                  <a:solidFill>
                    <a:srgbClr val="333333"/>
                  </a:solidFill>
                  <a:latin typeface="+mn-lt"/>
                  <a:ea typeface="+mn-ea"/>
                  <a:cs typeface="+mn-cs"/>
                </a:rPr>
                <a:t>将它们加以汇总和理解并消化。</a:t>
              </a:r>
            </a:p>
          </p:txBody>
        </p:sp>
        <p:sp>
          <p:nvSpPr>
            <p:cNvPr id="135" name="TextBox 135"/>
            <p:cNvSpPr txBox="1"/>
            <p:nvPr/>
          </p:nvSpPr>
          <p:spPr>
            <a:xfrm>
              <a:off x="9135618" y="3784282"/>
              <a:ext cx="658144" cy="322707"/>
            </a:xfrm>
            <a:prstGeom prst="rect">
              <a:avLst/>
            </a:prstGeom>
            <a:noFill/>
            <a:ln>
              <a:noFill/>
            </a:ln>
          </p:spPr>
          <p:txBody>
            <a:bodyPr wrap="none" lIns="0" tIns="0" rIns="0" bIns="0" anchor="t" anchorCtr="0">
              <a:spAutoFit/>
            </a:bodyPr>
            <a:lstStyle/>
            <a:p>
              <a:pPr algn="l"/>
              <a:r>
                <a:rPr lang="zh-CN" sz="1650" b="1" dirty="0">
                  <a:solidFill>
                    <a:srgbClr val="7A3E33"/>
                  </a:solidFill>
                  <a:latin typeface="+mn-lt"/>
                  <a:ea typeface="+mn-ea"/>
                  <a:cs typeface="+mn-cs"/>
                </a:rPr>
                <a:t>36.52</a:t>
              </a:r>
            </a:p>
          </p:txBody>
        </p:sp>
        <p:sp>
          <p:nvSpPr>
            <p:cNvPr id="136" name="TextBox 136"/>
            <p:cNvSpPr txBox="1"/>
            <p:nvPr/>
          </p:nvSpPr>
          <p:spPr>
            <a:xfrm>
              <a:off x="9901238" y="3881438"/>
              <a:ext cx="716280" cy="147638"/>
            </a:xfrm>
            <a:prstGeom prst="rect">
              <a:avLst/>
            </a:prstGeom>
            <a:noFill/>
            <a:ln>
              <a:noFill/>
            </a:ln>
          </p:spPr>
          <p:txBody>
            <a:bodyPr wrap="none" lIns="0" tIns="0" rIns="0" bIns="0" anchor="t" anchorCtr="0">
              <a:spAutoFit/>
            </a:bodyPr>
            <a:lstStyle/>
            <a:p>
              <a:pPr algn="l"/>
              <a:r>
                <a:rPr lang="zh-CN" sz="750" dirty="0">
                  <a:solidFill>
                    <a:srgbClr val="595959"/>
                  </a:solidFill>
                  <a:latin typeface="+mn-lt"/>
                  <a:ea typeface="+mn-ea"/>
                  <a:cs typeface="+mn-cs"/>
                </a:rPr>
                <a:t>▼ 9% 下降每天​</a:t>
              </a:r>
            </a:p>
          </p:txBody>
        </p:sp>
        <p:sp>
          <p:nvSpPr>
            <p:cNvPr id="137" name="TextBox 137"/>
            <p:cNvSpPr txBox="1"/>
            <p:nvPr/>
          </p:nvSpPr>
          <p:spPr>
            <a:xfrm>
              <a:off x="9135618" y="4146232"/>
              <a:ext cx="658144" cy="322707"/>
            </a:xfrm>
            <a:prstGeom prst="rect">
              <a:avLst/>
            </a:prstGeom>
            <a:noFill/>
            <a:ln>
              <a:noFill/>
            </a:ln>
          </p:spPr>
          <p:txBody>
            <a:bodyPr wrap="none" lIns="0" tIns="0" rIns="0" bIns="0" anchor="t" anchorCtr="0">
              <a:spAutoFit/>
            </a:bodyPr>
            <a:lstStyle/>
            <a:p>
              <a:pPr algn="l"/>
              <a:r>
                <a:rPr lang="zh-CN" sz="1650" b="1" dirty="0">
                  <a:solidFill>
                    <a:srgbClr val="7A3E33"/>
                  </a:solidFill>
                  <a:latin typeface="+mn-lt"/>
                  <a:ea typeface="+mn-ea"/>
                  <a:cs typeface="+mn-cs"/>
                </a:rPr>
                <a:t>17.24</a:t>
              </a:r>
            </a:p>
          </p:txBody>
        </p:sp>
        <p:sp>
          <p:nvSpPr>
            <p:cNvPr id="138" name="TextBox 138"/>
            <p:cNvSpPr txBox="1"/>
            <p:nvPr/>
          </p:nvSpPr>
          <p:spPr>
            <a:xfrm>
              <a:off x="9901238" y="4243388"/>
              <a:ext cx="741521" cy="147638"/>
            </a:xfrm>
            <a:prstGeom prst="rect">
              <a:avLst/>
            </a:prstGeom>
            <a:noFill/>
            <a:ln>
              <a:noFill/>
            </a:ln>
          </p:spPr>
          <p:txBody>
            <a:bodyPr wrap="none" lIns="0" tIns="0" rIns="0" bIns="0" anchor="t" anchorCtr="0">
              <a:spAutoFit/>
            </a:bodyPr>
            <a:lstStyle/>
            <a:p>
              <a:pPr algn="l"/>
              <a:r>
                <a:rPr lang="zh-CN" sz="750" dirty="0">
                  <a:solidFill>
                    <a:srgbClr val="595959"/>
                  </a:solidFill>
                  <a:latin typeface="+mn-lt"/>
                  <a:ea typeface="+mn-ea"/>
                  <a:cs typeface="+mn-cs"/>
                </a:rPr>
                <a:t>▲14% 上升每天​</a:t>
              </a:r>
            </a:p>
          </p:txBody>
        </p:sp>
      </p:grpSp>
      <p:grpSp>
        <p:nvGrpSpPr>
          <p:cNvPr id="147" name="bottom-1"/>
          <p:cNvGrpSpPr/>
          <p:nvPr/>
        </p:nvGrpSpPr>
        <p:grpSpPr>
          <a:xfrm>
            <a:off x="571500" y="4438650"/>
            <a:ext cx="2381250" cy="971550"/>
            <a:chOff x="571500" y="4438650"/>
            <a:chExt cx="2381250" cy="971550"/>
          </a:xfrm>
        </p:grpSpPr>
        <p:sp>
          <p:nvSpPr>
            <p:cNvPr id="140" name="Line 140"/>
            <p:cNvSpPr/>
            <p:nvPr/>
          </p:nvSpPr>
          <p:spPr>
            <a:xfrm>
              <a:off x="1762125" y="4438650"/>
              <a:ext cx="9525" cy="152400"/>
            </a:xfrm>
            <a:custGeom>
              <a:avLst/>
              <a:gdLst/>
              <a:ahLst/>
              <a:cxnLst/>
              <a:rect l="l" t="t" r="r" b="b"/>
              <a:pathLst>
                <a:path w="9525" h="152400">
                  <a:moveTo>
                    <a:pt x="0" y="0"/>
                  </a:moveTo>
                  <a:lnTo>
                    <a:pt x="0" y="152400"/>
                  </a:lnTo>
                </a:path>
              </a:pathLst>
            </a:custGeom>
            <a:noFill/>
            <a:ln w="9525">
              <a:solidFill>
                <a:srgbClr val="BF857A"/>
              </a:solidFill>
              <a:prstDash val="sysDot"/>
            </a:ln>
          </p:spPr>
        </p:sp>
        <p:sp>
          <p:nvSpPr>
            <p:cNvPr id="141" name="Freeform 141"/>
            <p:cNvSpPr/>
            <p:nvPr/>
          </p:nvSpPr>
          <p:spPr>
            <a:xfrm rot="10800000">
              <a:off x="1666875" y="4610100"/>
              <a:ext cx="190500" cy="114300"/>
            </a:xfrm>
            <a:prstGeom prst="triangle">
              <a:avLst/>
            </a:prstGeom>
            <a:solidFill>
              <a:srgbClr val="9C594C"/>
            </a:solidFill>
            <a:ln>
              <a:noFill/>
            </a:ln>
          </p:spPr>
        </p:sp>
        <p:sp>
          <p:nvSpPr>
            <p:cNvPr id="142" name="TextBox 142"/>
            <p:cNvSpPr txBox="1"/>
            <p:nvPr/>
          </p:nvSpPr>
          <p:spPr>
            <a:xfrm>
              <a:off x="1493317" y="4847749"/>
              <a:ext cx="537616"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需求场景</a:t>
              </a:r>
            </a:p>
          </p:txBody>
        </p:sp>
        <p:sp>
          <p:nvSpPr>
            <p:cNvPr id="143" name="Rectangle 143"/>
            <p:cNvSpPr/>
            <p:nvPr/>
          </p:nvSpPr>
          <p:spPr>
            <a:xfrm>
              <a:off x="571500" y="5086350"/>
              <a:ext cx="1047750" cy="323850"/>
            </a:xfrm>
            <a:prstGeom prst="rect">
              <a:avLst/>
            </a:prstGeom>
            <a:solidFill>
              <a:srgbClr val="FDF6E7"/>
            </a:solidFill>
            <a:ln w="9525">
              <a:solidFill>
                <a:srgbClr val="E9563C"/>
              </a:solidFill>
              <a:custDash>
                <a:ds d="300000" sp="200000"/>
              </a:custDash>
            </a:ln>
          </p:spPr>
        </p:sp>
        <p:sp>
          <p:nvSpPr>
            <p:cNvPr id="144" name="TextBox 144"/>
            <p:cNvSpPr txBox="1"/>
            <p:nvPr/>
          </p:nvSpPr>
          <p:spPr>
            <a:xfrm>
              <a:off x="884236" y="5142786"/>
              <a:ext cx="422278" cy="264319"/>
            </a:xfrm>
            <a:prstGeom prst="rect">
              <a:avLst/>
            </a:prstGeom>
            <a:noFill/>
            <a:ln>
              <a:noFill/>
            </a:ln>
          </p:spPr>
          <p:txBody>
            <a:bodyPr wrap="none" lIns="0" tIns="0" rIns="0" bIns="0" anchor="t" anchorCtr="0">
              <a:spAutoFit/>
            </a:bodyPr>
            <a:lstStyle/>
            <a:p>
              <a:pPr algn="ctr">
                <a:lnSpc>
                  <a:spcPts val="975"/>
                </a:lnSpc>
              </a:pPr>
              <a:r>
                <a:rPr lang="zh-CN" sz="710" b="1" dirty="0">
                  <a:solidFill>
                    <a:srgbClr val="D6391E"/>
                  </a:solidFill>
                  <a:latin typeface="+mn-lt"/>
                  <a:ea typeface="+mn-ea"/>
                  <a:cs typeface="+mn-cs"/>
                </a:rPr>
                <a:t>高端产品:</a:t>
              </a:r>
              <a:br/>
              <a:r>
                <a:rPr lang="en-US" sz="710" b="1" dirty="0">
                  <a:solidFill>
                    <a:srgbClr val="D6391E"/>
                  </a:solidFill>
                  <a:latin typeface="+mn-lt"/>
                  <a:ea typeface="+mn-ea"/>
                  <a:cs typeface="+mn-cs"/>
                </a:rPr>
                <a:t>+45K​</a:t>
              </a:r>
            </a:p>
          </p:txBody>
        </p:sp>
        <p:sp>
          <p:nvSpPr>
            <p:cNvPr id="145" name="Rectangle 145"/>
            <p:cNvSpPr/>
            <p:nvPr/>
          </p:nvSpPr>
          <p:spPr>
            <a:xfrm>
              <a:off x="1905000" y="5086350"/>
              <a:ext cx="1047750" cy="323850"/>
            </a:xfrm>
            <a:prstGeom prst="rect">
              <a:avLst/>
            </a:prstGeom>
            <a:solidFill>
              <a:srgbClr val="FDF6E7"/>
            </a:solidFill>
            <a:ln w="9525">
              <a:solidFill>
                <a:srgbClr val="E9563C"/>
              </a:solidFill>
              <a:custDash>
                <a:ds d="300000" sp="200000"/>
              </a:custDash>
            </a:ln>
          </p:spPr>
        </p:sp>
        <p:sp>
          <p:nvSpPr>
            <p:cNvPr id="146" name="TextBox 146"/>
            <p:cNvSpPr txBox="1"/>
            <p:nvPr/>
          </p:nvSpPr>
          <p:spPr>
            <a:xfrm>
              <a:off x="2217736" y="5142786"/>
              <a:ext cx="422278" cy="264319"/>
            </a:xfrm>
            <a:prstGeom prst="rect">
              <a:avLst/>
            </a:prstGeom>
            <a:noFill/>
            <a:ln>
              <a:noFill/>
            </a:ln>
          </p:spPr>
          <p:txBody>
            <a:bodyPr wrap="none" lIns="0" tIns="0" rIns="0" bIns="0" anchor="t" anchorCtr="0">
              <a:spAutoFit/>
            </a:bodyPr>
            <a:lstStyle/>
            <a:p>
              <a:pPr algn="ctr">
                <a:lnSpc>
                  <a:spcPts val="975"/>
                </a:lnSpc>
              </a:pPr>
              <a:r>
                <a:rPr lang="zh-CN" sz="710" b="1" dirty="0">
                  <a:solidFill>
                    <a:srgbClr val="D6391E"/>
                  </a:solidFill>
                  <a:latin typeface="+mn-lt"/>
                  <a:ea typeface="+mn-ea"/>
                  <a:cs typeface="+mn-cs"/>
                </a:rPr>
                <a:t>精致生活:</a:t>
              </a:r>
              <a:br/>
              <a:r>
                <a:rPr lang="zh-CN" sz="710" b="1" dirty="0">
                  <a:solidFill>
                    <a:srgbClr val="D6391E"/>
                  </a:solidFill>
                  <a:latin typeface="+mn-lt"/>
                  <a:ea typeface="+mn-ea"/>
                  <a:cs typeface="+mn-cs"/>
                </a:rPr>
                <a:t>+17%​</a:t>
              </a:r>
            </a:p>
          </p:txBody>
        </p:sp>
      </p:grpSp>
      <p:grpSp>
        <p:nvGrpSpPr>
          <p:cNvPr id="152" name="bottom-2"/>
          <p:cNvGrpSpPr/>
          <p:nvPr/>
        </p:nvGrpSpPr>
        <p:grpSpPr>
          <a:xfrm>
            <a:off x="4009708" y="4438650"/>
            <a:ext cx="1181735" cy="1016080"/>
            <a:chOff x="4009708" y="4438650"/>
            <a:chExt cx="1181735" cy="1016080"/>
          </a:xfrm>
        </p:grpSpPr>
        <p:sp>
          <p:nvSpPr>
            <p:cNvPr id="148" name="Line 148"/>
            <p:cNvSpPr/>
            <p:nvPr/>
          </p:nvSpPr>
          <p:spPr>
            <a:xfrm>
              <a:off x="4600575" y="4438650"/>
              <a:ext cx="9525" cy="152400"/>
            </a:xfrm>
            <a:custGeom>
              <a:avLst/>
              <a:gdLst/>
              <a:ahLst/>
              <a:cxnLst/>
              <a:rect l="l" t="t" r="r" b="b"/>
              <a:pathLst>
                <a:path w="9525" h="152400">
                  <a:moveTo>
                    <a:pt x="0" y="0"/>
                  </a:moveTo>
                  <a:lnTo>
                    <a:pt x="0" y="152400"/>
                  </a:lnTo>
                </a:path>
              </a:pathLst>
            </a:custGeom>
            <a:noFill/>
            <a:ln w="9525">
              <a:solidFill>
                <a:srgbClr val="BF857A"/>
              </a:solidFill>
              <a:prstDash val="sysDot"/>
            </a:ln>
          </p:spPr>
        </p:sp>
        <p:sp>
          <p:nvSpPr>
            <p:cNvPr id="149" name="Freeform 149"/>
            <p:cNvSpPr/>
            <p:nvPr/>
          </p:nvSpPr>
          <p:spPr>
            <a:xfrm rot="10800000">
              <a:off x="4505325" y="4610100"/>
              <a:ext cx="190500" cy="114300"/>
            </a:xfrm>
            <a:prstGeom prst="triangle">
              <a:avLst/>
            </a:prstGeom>
            <a:solidFill>
              <a:srgbClr val="9C594C"/>
            </a:solidFill>
            <a:ln>
              <a:noFill/>
            </a:ln>
          </p:spPr>
        </p:sp>
        <p:sp>
          <p:nvSpPr>
            <p:cNvPr id="150" name="TextBox 150"/>
            <p:cNvSpPr txBox="1"/>
            <p:nvPr/>
          </p:nvSpPr>
          <p:spPr>
            <a:xfrm>
              <a:off x="4331767" y="4847749"/>
              <a:ext cx="537616"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定价内容</a:t>
              </a:r>
            </a:p>
          </p:txBody>
        </p:sp>
        <p:sp>
          <p:nvSpPr>
            <p:cNvPr id="151" name="TextBox 151"/>
            <p:cNvSpPr txBox="1"/>
            <p:nvPr/>
          </p:nvSpPr>
          <p:spPr>
            <a:xfrm>
              <a:off x="4009708" y="5161836"/>
              <a:ext cx="1181735" cy="292894"/>
            </a:xfrm>
            <a:prstGeom prst="rect">
              <a:avLst/>
            </a:prstGeom>
            <a:noFill/>
            <a:ln>
              <a:noFill/>
            </a:ln>
          </p:spPr>
          <p:txBody>
            <a:bodyPr wrap="none" lIns="0" tIns="0" rIns="0" bIns="0" anchor="t" anchorCtr="0">
              <a:spAutoFit/>
            </a:bodyPr>
            <a:lstStyle/>
            <a:p>
              <a:pPr algn="ctr">
                <a:lnSpc>
                  <a:spcPts val="1200"/>
                </a:lnSpc>
              </a:pPr>
              <a:r>
                <a:rPr lang="zh-CN" sz="710" dirty="0">
                  <a:solidFill>
                    <a:srgbClr val="333333"/>
                  </a:solidFill>
                  <a:latin typeface="+mn-lt"/>
                  <a:ea typeface="+mn-ea"/>
                  <a:cs typeface="+mn-cs"/>
                </a:rPr>
                <a:t>消费者意愿支付差异</a:t>
              </a:r>
              <a:br/>
              <a:r>
                <a:rPr lang="zh-CN" sz="710" dirty="0">
                  <a:solidFill>
                    <a:srgbClr val="333333"/>
                  </a:solidFill>
                  <a:latin typeface="+mn-lt"/>
                  <a:ea typeface="+mn-ea"/>
                  <a:cs typeface="+mn-cs"/>
                </a:rPr>
                <a:t>为企业提供价格歧视提供基础</a:t>
              </a:r>
            </a:p>
          </p:txBody>
        </p:sp>
      </p:grpSp>
      <p:grpSp>
        <p:nvGrpSpPr>
          <p:cNvPr id="159" name="bottom-3"/>
          <p:cNvGrpSpPr/>
          <p:nvPr/>
        </p:nvGrpSpPr>
        <p:grpSpPr>
          <a:xfrm>
            <a:off x="6956362" y="4438650"/>
            <a:ext cx="965327" cy="1044655"/>
            <a:chOff x="6956362" y="4438650"/>
            <a:chExt cx="965327" cy="1044655"/>
          </a:xfrm>
        </p:grpSpPr>
        <p:sp>
          <p:nvSpPr>
            <p:cNvPr id="153" name="Line 153"/>
            <p:cNvSpPr/>
            <p:nvPr/>
          </p:nvSpPr>
          <p:spPr>
            <a:xfrm>
              <a:off x="7439025" y="4438650"/>
              <a:ext cx="9525" cy="152400"/>
            </a:xfrm>
            <a:custGeom>
              <a:avLst/>
              <a:gdLst/>
              <a:ahLst/>
              <a:cxnLst/>
              <a:rect l="l" t="t" r="r" b="b"/>
              <a:pathLst>
                <a:path w="9525" h="152400">
                  <a:moveTo>
                    <a:pt x="0" y="0"/>
                  </a:moveTo>
                  <a:lnTo>
                    <a:pt x="0" y="152400"/>
                  </a:lnTo>
                </a:path>
              </a:pathLst>
            </a:custGeom>
            <a:noFill/>
            <a:ln w="9525">
              <a:solidFill>
                <a:srgbClr val="BF857A"/>
              </a:solidFill>
              <a:prstDash val="sysDot"/>
            </a:ln>
          </p:spPr>
        </p:sp>
        <p:sp>
          <p:nvSpPr>
            <p:cNvPr id="154" name="Freeform 154"/>
            <p:cNvSpPr/>
            <p:nvPr/>
          </p:nvSpPr>
          <p:spPr>
            <a:xfrm rot="10800000">
              <a:off x="7343775" y="4610100"/>
              <a:ext cx="190500" cy="114300"/>
            </a:xfrm>
            <a:prstGeom prst="triangle">
              <a:avLst/>
            </a:prstGeom>
            <a:solidFill>
              <a:srgbClr val="9C594C"/>
            </a:solidFill>
            <a:ln>
              <a:noFill/>
            </a:ln>
          </p:spPr>
        </p:sp>
        <p:sp>
          <p:nvSpPr>
            <p:cNvPr id="155" name="TextBox 155"/>
            <p:cNvSpPr txBox="1"/>
            <p:nvPr/>
          </p:nvSpPr>
          <p:spPr>
            <a:xfrm>
              <a:off x="7170217" y="4847749"/>
              <a:ext cx="537616"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需求场景</a:t>
              </a:r>
            </a:p>
          </p:txBody>
        </p:sp>
        <p:sp>
          <p:nvSpPr>
            <p:cNvPr id="156" name="TextBox 156"/>
            <p:cNvSpPr txBox="1"/>
            <p:nvPr/>
          </p:nvSpPr>
          <p:spPr>
            <a:xfrm>
              <a:off x="6956362" y="5142786"/>
              <a:ext cx="965327" cy="140494"/>
            </a:xfrm>
            <a:prstGeom prst="rect">
              <a:avLst/>
            </a:prstGeom>
            <a:noFill/>
            <a:ln>
              <a:noFill/>
            </a:ln>
          </p:spPr>
          <p:txBody>
            <a:bodyPr wrap="none" lIns="0" tIns="0" rIns="0" bIns="0" anchor="t" anchorCtr="0">
              <a:spAutoFit/>
            </a:bodyPr>
            <a:lstStyle/>
            <a:p>
              <a:pPr algn="ctr"/>
              <a:r>
                <a:rPr lang="zh-CN" sz="710" dirty="0">
                  <a:solidFill>
                    <a:srgbClr val="333333"/>
                  </a:solidFill>
                  <a:latin typeface="+mn-lt"/>
                  <a:ea typeface="+mn-ea"/>
                  <a:cs typeface="+mn-cs"/>
                </a:rPr>
                <a:t>全年平台用户同比分析</a:t>
              </a:r>
            </a:p>
          </p:txBody>
        </p:sp>
        <p:sp>
          <p:nvSpPr>
            <p:cNvPr id="157" name="Rectangle 157"/>
            <p:cNvSpPr/>
            <p:nvPr/>
          </p:nvSpPr>
          <p:spPr>
            <a:xfrm>
              <a:off x="7105650" y="5295900"/>
              <a:ext cx="666750" cy="171450"/>
            </a:xfrm>
            <a:prstGeom prst="rect">
              <a:avLst/>
            </a:prstGeom>
            <a:solidFill>
              <a:srgbClr val="E9563C"/>
            </a:solidFill>
            <a:ln>
              <a:noFill/>
            </a:ln>
          </p:spPr>
        </p:sp>
        <p:sp>
          <p:nvSpPr>
            <p:cNvPr id="158" name="TextBox 158"/>
            <p:cNvSpPr txBox="1"/>
            <p:nvPr/>
          </p:nvSpPr>
          <p:spPr>
            <a:xfrm>
              <a:off x="7326376" y="5342811"/>
              <a:ext cx="22529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7% ▲</a:t>
              </a:r>
            </a:p>
          </p:txBody>
        </p:sp>
      </p:grpSp>
      <p:grpSp>
        <p:nvGrpSpPr>
          <p:cNvPr id="171" name="bottom-4"/>
          <p:cNvGrpSpPr/>
          <p:nvPr/>
        </p:nvGrpSpPr>
        <p:grpSpPr>
          <a:xfrm>
            <a:off x="9467850" y="4438650"/>
            <a:ext cx="1619250" cy="1047988"/>
            <a:chOff x="9467850" y="4438650"/>
            <a:chExt cx="1619250" cy="1047988"/>
          </a:xfrm>
        </p:grpSpPr>
        <p:sp>
          <p:nvSpPr>
            <p:cNvPr id="160" name="Line 160"/>
            <p:cNvSpPr/>
            <p:nvPr/>
          </p:nvSpPr>
          <p:spPr>
            <a:xfrm>
              <a:off x="10277475" y="4438650"/>
              <a:ext cx="9525" cy="152400"/>
            </a:xfrm>
            <a:custGeom>
              <a:avLst/>
              <a:gdLst/>
              <a:ahLst/>
              <a:cxnLst/>
              <a:rect l="l" t="t" r="r" b="b"/>
              <a:pathLst>
                <a:path w="9525" h="152400">
                  <a:moveTo>
                    <a:pt x="0" y="0"/>
                  </a:moveTo>
                  <a:lnTo>
                    <a:pt x="0" y="152400"/>
                  </a:lnTo>
                </a:path>
              </a:pathLst>
            </a:custGeom>
            <a:noFill/>
            <a:ln w="9525">
              <a:solidFill>
                <a:srgbClr val="BF857A"/>
              </a:solidFill>
              <a:prstDash val="sysDot"/>
            </a:ln>
          </p:spPr>
        </p:sp>
        <p:sp>
          <p:nvSpPr>
            <p:cNvPr id="161" name="Freeform 161"/>
            <p:cNvSpPr/>
            <p:nvPr/>
          </p:nvSpPr>
          <p:spPr>
            <a:xfrm rot="10800000">
              <a:off x="10182225" y="4610100"/>
              <a:ext cx="190500" cy="114300"/>
            </a:xfrm>
            <a:prstGeom prst="triangle">
              <a:avLst/>
            </a:prstGeom>
            <a:solidFill>
              <a:srgbClr val="9C594C"/>
            </a:solidFill>
            <a:ln>
              <a:noFill/>
            </a:ln>
          </p:spPr>
        </p:sp>
        <p:sp>
          <p:nvSpPr>
            <p:cNvPr id="162" name="TextBox 162"/>
            <p:cNvSpPr txBox="1"/>
            <p:nvPr/>
          </p:nvSpPr>
          <p:spPr>
            <a:xfrm>
              <a:off x="10008667" y="4847749"/>
              <a:ext cx="537616"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定价内容</a:t>
              </a:r>
            </a:p>
          </p:txBody>
        </p:sp>
        <p:sp>
          <p:nvSpPr>
            <p:cNvPr id="163" name="Rectangle 163"/>
            <p:cNvSpPr/>
            <p:nvPr/>
          </p:nvSpPr>
          <p:spPr>
            <a:xfrm>
              <a:off x="9467850" y="5105400"/>
              <a:ext cx="762000" cy="152400"/>
            </a:xfrm>
            <a:prstGeom prst="roundRect">
              <a:avLst>
                <a:gd name="adj" fmla="val 50000"/>
              </a:avLst>
            </a:prstGeom>
            <a:solidFill>
              <a:srgbClr val="E9563C"/>
            </a:solidFill>
            <a:ln>
              <a:noFill/>
            </a:ln>
          </p:spPr>
        </p:sp>
        <p:sp>
          <p:nvSpPr>
            <p:cNvPr id="164" name="TextBox 164"/>
            <p:cNvSpPr txBox="1"/>
            <p:nvPr/>
          </p:nvSpPr>
          <p:spPr>
            <a:xfrm>
              <a:off x="9671774" y="515088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产品至上</a:t>
              </a:r>
            </a:p>
          </p:txBody>
        </p:sp>
        <p:sp>
          <p:nvSpPr>
            <p:cNvPr id="165" name="Rectangle 165"/>
            <p:cNvSpPr/>
            <p:nvPr/>
          </p:nvSpPr>
          <p:spPr>
            <a:xfrm>
              <a:off x="10325100" y="5105400"/>
              <a:ext cx="762000" cy="152400"/>
            </a:xfrm>
            <a:prstGeom prst="roundRect">
              <a:avLst>
                <a:gd name="adj" fmla="val 50000"/>
              </a:avLst>
            </a:prstGeom>
            <a:solidFill>
              <a:srgbClr val="F09180"/>
            </a:solidFill>
            <a:ln>
              <a:noFill/>
            </a:ln>
          </p:spPr>
        </p:sp>
        <p:sp>
          <p:nvSpPr>
            <p:cNvPr id="166" name="TextBox 166"/>
            <p:cNvSpPr txBox="1"/>
            <p:nvPr/>
          </p:nvSpPr>
          <p:spPr>
            <a:xfrm>
              <a:off x="10529024" y="515088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风险评估</a:t>
              </a:r>
            </a:p>
          </p:txBody>
        </p:sp>
        <p:sp>
          <p:nvSpPr>
            <p:cNvPr id="167" name="Rectangle 167"/>
            <p:cNvSpPr/>
            <p:nvPr/>
          </p:nvSpPr>
          <p:spPr>
            <a:xfrm>
              <a:off x="9467850" y="5314950"/>
              <a:ext cx="762000" cy="152400"/>
            </a:xfrm>
            <a:prstGeom prst="roundRect">
              <a:avLst>
                <a:gd name="adj" fmla="val 50000"/>
              </a:avLst>
            </a:prstGeom>
            <a:solidFill>
              <a:srgbClr val="9C594C"/>
            </a:solidFill>
            <a:ln>
              <a:noFill/>
            </a:ln>
          </p:spPr>
        </p:sp>
        <p:sp>
          <p:nvSpPr>
            <p:cNvPr id="168" name="TextBox 168"/>
            <p:cNvSpPr txBox="1"/>
            <p:nvPr/>
          </p:nvSpPr>
          <p:spPr>
            <a:xfrm>
              <a:off x="9671774" y="536043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采购成本</a:t>
              </a:r>
            </a:p>
          </p:txBody>
        </p:sp>
        <p:sp>
          <p:nvSpPr>
            <p:cNvPr id="169" name="Rectangle 169"/>
            <p:cNvSpPr/>
            <p:nvPr/>
          </p:nvSpPr>
          <p:spPr>
            <a:xfrm>
              <a:off x="10325100" y="5314950"/>
              <a:ext cx="762000" cy="152400"/>
            </a:xfrm>
            <a:prstGeom prst="roundRect">
              <a:avLst>
                <a:gd name="adj" fmla="val 50000"/>
              </a:avLst>
            </a:prstGeom>
            <a:solidFill>
              <a:srgbClr val="B5766A"/>
            </a:solidFill>
            <a:ln>
              <a:noFill/>
            </a:ln>
          </p:spPr>
        </p:sp>
        <p:sp>
          <p:nvSpPr>
            <p:cNvPr id="170" name="TextBox 170"/>
            <p:cNvSpPr txBox="1"/>
            <p:nvPr/>
          </p:nvSpPr>
          <p:spPr>
            <a:xfrm>
              <a:off x="10529024" y="5360432"/>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成本计算</a:t>
              </a:r>
            </a:p>
          </p:txBody>
        </p:sp>
      </p:grpSp>
      <p:grpSp>
        <p:nvGrpSpPr>
          <p:cNvPr id="174" name="page-footer"/>
          <p:cNvGrpSpPr/>
          <p:nvPr/>
        </p:nvGrpSpPr>
        <p:grpSpPr>
          <a:xfrm>
            <a:off x="376238" y="6689884"/>
            <a:ext cx="11439524" cy="133350"/>
            <a:chOff x="376238" y="6689884"/>
            <a:chExt cx="11439524" cy="133350"/>
          </a:xfrm>
        </p:grpSpPr>
        <p:sp>
          <p:nvSpPr>
            <p:cNvPr id="172" name="TextBox 172"/>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73" name="TextBox 173"/>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25</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panel-1"/>
          <p:cNvSpPr/>
          <p:nvPr/>
        </p:nvSpPr>
        <p:spPr>
          <a:xfrm>
            <a:off x="381000" y="1905000"/>
            <a:ext cx="3619500" cy="3619500"/>
          </a:xfrm>
          <a:prstGeom prst="rect">
            <a:avLst/>
          </a:prstGeom>
          <a:solidFill>
            <a:srgbClr val="F4F8EF"/>
          </a:solidFill>
          <a:ln>
            <a:noFill/>
          </a:ln>
        </p:spPr>
      </p:sp>
      <p:sp>
        <p:nvSpPr>
          <p:cNvPr id="9" name="panel-2"/>
          <p:cNvSpPr/>
          <p:nvPr/>
        </p:nvSpPr>
        <p:spPr>
          <a:xfrm>
            <a:off x="4191000" y="1905000"/>
            <a:ext cx="3619500" cy="3619500"/>
          </a:xfrm>
          <a:prstGeom prst="rect">
            <a:avLst/>
          </a:prstGeom>
          <a:solidFill>
            <a:srgbClr val="FDF8EA"/>
          </a:solidFill>
          <a:ln>
            <a:noFill/>
          </a:ln>
        </p:spPr>
      </p:sp>
      <p:sp>
        <p:nvSpPr>
          <p:cNvPr id="10" name="panel-3"/>
          <p:cNvSpPr/>
          <p:nvPr/>
        </p:nvSpPr>
        <p:spPr>
          <a:xfrm>
            <a:off x="8001000" y="1905000"/>
            <a:ext cx="3810000" cy="3619500"/>
          </a:xfrm>
          <a:prstGeom prst="rect">
            <a:avLst/>
          </a:prstGeom>
          <a:solidFill>
            <a:srgbClr val="F4F8EF"/>
          </a:solidFill>
          <a:ln>
            <a:noFill/>
          </a:ln>
        </p:spPr>
      </p:sp>
      <p:grpSp>
        <p:nvGrpSpPr>
          <p:cNvPr id="14" name="note-1"/>
          <p:cNvGrpSpPr/>
          <p:nvPr/>
        </p:nvGrpSpPr>
        <p:grpSpPr>
          <a:xfrm>
            <a:off x="361950" y="1028700"/>
            <a:ext cx="2395538" cy="523876"/>
            <a:chOff x="361950" y="1028700"/>
            <a:chExt cx="2395538" cy="523876"/>
          </a:xfrm>
        </p:grpSpPr>
        <p:sp>
          <p:nvSpPr>
            <p:cNvPr id="11" name="Ellipse 11"/>
            <p:cNvSpPr/>
            <p:nvPr/>
          </p:nvSpPr>
          <p:spPr>
            <a:xfrm>
              <a:off x="361950" y="1028700"/>
              <a:ext cx="342900" cy="342900"/>
            </a:xfrm>
            <a:prstGeom prst="ellipse">
              <a:avLst/>
            </a:prstGeom>
            <a:solidFill>
              <a:srgbClr val="FFFFFF"/>
            </a:solidFill>
            <a:ln w="19050">
              <a:solidFill>
                <a:srgbClr val="9C594C"/>
              </a:solidFill>
            </a:ln>
          </p:spPr>
        </p:sp>
        <p:sp>
          <p:nvSpPr>
            <p:cNvPr id="12" name="TextBox 12"/>
            <p:cNvSpPr txBox="1"/>
            <p:nvPr/>
          </p:nvSpPr>
          <p:spPr>
            <a:xfrm>
              <a:off x="464888" y="1149191"/>
              <a:ext cx="137024"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01</a:t>
              </a:r>
            </a:p>
          </p:txBody>
        </p:sp>
        <p:sp>
          <p:nvSpPr>
            <p:cNvPr id="13" name="TextBox 13"/>
            <p:cNvSpPr txBox="1"/>
            <p:nvPr/>
          </p:nvSpPr>
          <p:spPr>
            <a:xfrm>
              <a:off x="909638" y="1100138"/>
              <a:ext cx="1847850" cy="452438"/>
            </a:xfrm>
            <a:prstGeom prst="rect">
              <a:avLst/>
            </a:prstGeom>
            <a:noFill/>
            <a:ln>
              <a:noFill/>
            </a:ln>
          </p:spPr>
          <p:txBody>
            <a:bodyPr wrap="none" lIns="0" tIns="0" rIns="0" bIns="0" anchor="t" anchorCtr="0">
              <a:spAutoFit/>
            </a:bodyPr>
            <a:lstStyle/>
            <a:p>
              <a:pPr algn="l">
                <a:lnSpc>
                  <a:spcPts val="1200"/>
                </a:lnSpc>
              </a:pPr>
              <a:r>
                <a:rPr lang="zh-CN" sz="750" dirty="0">
                  <a:solidFill>
                    <a:srgbClr val="333333"/>
                  </a:solidFill>
                  <a:latin typeface="+mn-lt"/>
                  <a:ea typeface="+mn-ea"/>
                  <a:cs typeface="+mn-cs"/>
                </a:rPr>
                <a:t>➤ 人与货是生意的两个方面，</a:t>
              </a:r>
              <a:r>
                <a:rPr lang="zh-CN" sz="750" b="1" dirty="0">
                  <a:solidFill>
                    <a:srgbClr val="7A3E33"/>
                  </a:solidFill>
                  <a:latin typeface="+mn-lt"/>
                  <a:ea typeface="+mn-ea"/>
                  <a:cs typeface="+mn-cs"/>
                </a:rPr>
                <a:t>相辅相成</a:t>
              </a:r>
              <a:r>
                <a:rPr lang="zh-CN" sz="750" dirty="0">
                  <a:solidFill>
                    <a:srgbClr val="333333"/>
                  </a:solidFill>
                  <a:latin typeface="+mn-lt"/>
                  <a:ea typeface="+mn-ea"/>
                  <a:cs typeface="+mn-cs"/>
                </a:rPr>
                <a:t>，任</a:t>
              </a:r>
              <a:br/>
              <a:r>
                <a:rPr lang="zh-CN" sz="750" dirty="0">
                  <a:solidFill>
                    <a:srgbClr val="333333"/>
                  </a:solidFill>
                  <a:latin typeface="+mn-lt"/>
                  <a:ea typeface="+mn-ea"/>
                  <a:cs typeface="+mn-cs"/>
                </a:rPr>
                <a:t>何一面的短板和不足都会影响另一面的</a:t>
              </a:r>
              <a:r>
                <a:rPr lang="zh-CN" sz="750" b="1" dirty="0">
                  <a:solidFill>
                    <a:srgbClr val="7A3E33"/>
                  </a:solidFill>
                  <a:latin typeface="+mn-lt"/>
                  <a:ea typeface="+mn-ea"/>
                  <a:cs typeface="+mn-cs"/>
                </a:rPr>
                <a:t>价</a:t>
              </a:r>
              <a:br/>
              <a:r>
                <a:rPr lang="zh-CN" sz="750" b="1" dirty="0">
                  <a:solidFill>
                    <a:srgbClr val="7A3E33"/>
                  </a:solidFill>
                  <a:latin typeface="+mn-lt"/>
                  <a:ea typeface="+mn-ea"/>
                  <a:cs typeface="+mn-cs"/>
                </a:rPr>
                <a:t>值实现</a:t>
              </a:r>
            </a:p>
          </p:txBody>
        </p:sp>
      </p:grpSp>
      <p:grpSp>
        <p:nvGrpSpPr>
          <p:cNvPr id="18" name="note-2"/>
          <p:cNvGrpSpPr/>
          <p:nvPr/>
        </p:nvGrpSpPr>
        <p:grpSpPr>
          <a:xfrm>
            <a:off x="4171950" y="1028700"/>
            <a:ext cx="2395538" cy="371476"/>
            <a:chOff x="4171950" y="1028700"/>
            <a:chExt cx="2395538" cy="371476"/>
          </a:xfrm>
        </p:grpSpPr>
        <p:sp>
          <p:nvSpPr>
            <p:cNvPr id="15" name="Ellipse 15"/>
            <p:cNvSpPr/>
            <p:nvPr/>
          </p:nvSpPr>
          <p:spPr>
            <a:xfrm>
              <a:off x="4171950" y="1028700"/>
              <a:ext cx="342900" cy="342900"/>
            </a:xfrm>
            <a:prstGeom prst="ellipse">
              <a:avLst/>
            </a:prstGeom>
            <a:solidFill>
              <a:srgbClr val="FFFFFF"/>
            </a:solidFill>
            <a:ln w="19050">
              <a:solidFill>
                <a:srgbClr val="E9563C"/>
              </a:solidFill>
            </a:ln>
          </p:spPr>
        </p:sp>
        <p:sp>
          <p:nvSpPr>
            <p:cNvPr id="16" name="TextBox 16"/>
            <p:cNvSpPr txBox="1"/>
            <p:nvPr/>
          </p:nvSpPr>
          <p:spPr>
            <a:xfrm>
              <a:off x="4274888" y="1149191"/>
              <a:ext cx="137024" cy="161925"/>
            </a:xfrm>
            <a:prstGeom prst="rect">
              <a:avLst/>
            </a:prstGeom>
            <a:noFill/>
            <a:ln>
              <a:noFill/>
            </a:ln>
          </p:spPr>
          <p:txBody>
            <a:bodyPr wrap="none" lIns="0" tIns="0" rIns="0" bIns="0" anchor="t" anchorCtr="0">
              <a:spAutoFit/>
            </a:bodyPr>
            <a:lstStyle/>
            <a:p>
              <a:pPr algn="ctr"/>
              <a:r>
                <a:rPr lang="zh-CN" sz="820" b="1" dirty="0">
                  <a:solidFill>
                    <a:srgbClr val="D6391E"/>
                  </a:solidFill>
                  <a:latin typeface="+mn-lt"/>
                  <a:ea typeface="+mn-ea"/>
                  <a:cs typeface="+mn-cs"/>
                </a:rPr>
                <a:t>02</a:t>
              </a:r>
            </a:p>
          </p:txBody>
        </p:sp>
        <p:sp>
          <p:nvSpPr>
            <p:cNvPr id="17" name="TextBox 17"/>
            <p:cNvSpPr txBox="1"/>
            <p:nvPr/>
          </p:nvSpPr>
          <p:spPr>
            <a:xfrm>
              <a:off x="4719638" y="1100138"/>
              <a:ext cx="1847850"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333333"/>
                  </a:solidFill>
                  <a:latin typeface="+mn-lt"/>
                  <a:ea typeface="+mn-ea"/>
                  <a:cs typeface="+mn-cs"/>
                </a:rPr>
                <a:t>➤ 需更依靠多种类型的场连接人与货各生命</a:t>
              </a:r>
              <a:br/>
              <a:r>
                <a:rPr lang="zh-CN" sz="750" dirty="0">
                  <a:solidFill>
                    <a:srgbClr val="333333"/>
                  </a:solidFill>
                  <a:latin typeface="+mn-lt"/>
                  <a:ea typeface="+mn-ea"/>
                  <a:cs typeface="+mn-cs"/>
                </a:rPr>
                <a:t>周期的供求关系</a:t>
              </a:r>
            </a:p>
          </p:txBody>
        </p:sp>
      </p:grpSp>
      <p:grpSp>
        <p:nvGrpSpPr>
          <p:cNvPr id="22" name="note-3"/>
          <p:cNvGrpSpPr/>
          <p:nvPr/>
        </p:nvGrpSpPr>
        <p:grpSpPr>
          <a:xfrm>
            <a:off x="7981950" y="1028700"/>
            <a:ext cx="2395538" cy="371476"/>
            <a:chOff x="7981950" y="1028700"/>
            <a:chExt cx="2395538" cy="371476"/>
          </a:xfrm>
        </p:grpSpPr>
        <p:sp>
          <p:nvSpPr>
            <p:cNvPr id="19" name="Ellipse 19"/>
            <p:cNvSpPr/>
            <p:nvPr/>
          </p:nvSpPr>
          <p:spPr>
            <a:xfrm>
              <a:off x="7981950" y="1028700"/>
              <a:ext cx="342900" cy="342900"/>
            </a:xfrm>
            <a:prstGeom prst="ellipse">
              <a:avLst/>
            </a:prstGeom>
            <a:solidFill>
              <a:srgbClr val="FFFFFF"/>
            </a:solidFill>
            <a:ln w="19050">
              <a:solidFill>
                <a:srgbClr val="9C594C"/>
              </a:solidFill>
            </a:ln>
          </p:spPr>
        </p:sp>
        <p:sp>
          <p:nvSpPr>
            <p:cNvPr id="20" name="TextBox 20"/>
            <p:cNvSpPr txBox="1"/>
            <p:nvPr/>
          </p:nvSpPr>
          <p:spPr>
            <a:xfrm>
              <a:off x="8084888" y="1149191"/>
              <a:ext cx="137024" cy="161925"/>
            </a:xfrm>
            <a:prstGeom prst="rect">
              <a:avLst/>
            </a:prstGeom>
            <a:noFill/>
            <a:ln>
              <a:noFill/>
            </a:ln>
          </p:spPr>
          <p:txBody>
            <a:bodyPr wrap="none" lIns="0" tIns="0" rIns="0" bIns="0" anchor="t" anchorCtr="0">
              <a:spAutoFit/>
            </a:bodyPr>
            <a:lstStyle/>
            <a:p>
              <a:pPr algn="ctr"/>
              <a:r>
                <a:rPr lang="zh-CN" sz="820" b="1" dirty="0">
                  <a:solidFill>
                    <a:srgbClr val="7A3E33"/>
                  </a:solidFill>
                  <a:latin typeface="+mn-lt"/>
                  <a:ea typeface="+mn-ea"/>
                  <a:cs typeface="+mn-cs"/>
                </a:rPr>
                <a:t>03</a:t>
              </a:r>
            </a:p>
          </p:txBody>
        </p:sp>
        <p:sp>
          <p:nvSpPr>
            <p:cNvPr id="21" name="TextBox 21"/>
            <p:cNvSpPr txBox="1"/>
            <p:nvPr/>
          </p:nvSpPr>
          <p:spPr>
            <a:xfrm>
              <a:off x="8529638" y="1100138"/>
              <a:ext cx="1847850" cy="300038"/>
            </a:xfrm>
            <a:prstGeom prst="rect">
              <a:avLst/>
            </a:prstGeom>
            <a:noFill/>
            <a:ln>
              <a:noFill/>
            </a:ln>
          </p:spPr>
          <p:txBody>
            <a:bodyPr wrap="none" lIns="0" tIns="0" rIns="0" bIns="0" anchor="t" anchorCtr="0">
              <a:spAutoFit/>
            </a:bodyPr>
            <a:lstStyle/>
            <a:p>
              <a:pPr algn="l">
                <a:lnSpc>
                  <a:spcPts val="1200"/>
                </a:lnSpc>
              </a:pPr>
              <a:r>
                <a:rPr lang="zh-CN" sz="750" dirty="0">
                  <a:solidFill>
                    <a:srgbClr val="333333"/>
                  </a:solidFill>
                  <a:latin typeface="+mn-lt"/>
                  <a:ea typeface="+mn-ea"/>
                  <a:cs typeface="+mn-cs"/>
                </a:rPr>
                <a:t>➤ 以消费者需求为核心，以数智为连接，以</a:t>
              </a:r>
              <a:br/>
              <a:r>
                <a:rPr lang="zh-CN" sz="750" dirty="0">
                  <a:solidFill>
                    <a:srgbClr val="333333"/>
                  </a:solidFill>
                  <a:latin typeface="+mn-lt"/>
                  <a:ea typeface="+mn-ea"/>
                  <a:cs typeface="+mn-cs"/>
                </a:rPr>
                <a:t>优化产品周期为落脚点，共同推动增长</a:t>
              </a:r>
            </a:p>
          </p:txBody>
        </p:sp>
      </p:grpSp>
      <p:grpSp>
        <p:nvGrpSpPr>
          <p:cNvPr id="35" name="titles-row"/>
          <p:cNvGrpSpPr/>
          <p:nvPr/>
        </p:nvGrpSpPr>
        <p:grpSpPr>
          <a:xfrm>
            <a:off x="542925" y="2039302"/>
            <a:ext cx="11106150" cy="218123"/>
            <a:chOff x="542925" y="2039302"/>
            <a:chExt cx="11106150" cy="218123"/>
          </a:xfrm>
        </p:grpSpPr>
        <p:sp>
          <p:nvSpPr>
            <p:cNvPr id="23" name="TextBox 23"/>
            <p:cNvSpPr txBox="1"/>
            <p:nvPr/>
          </p:nvSpPr>
          <p:spPr>
            <a:xfrm>
              <a:off x="1761363" y="2039302"/>
              <a:ext cx="858774" cy="205359"/>
            </a:xfrm>
            <a:prstGeom prst="rect">
              <a:avLst/>
            </a:prstGeom>
            <a:noFill/>
            <a:ln>
              <a:noFill/>
            </a:ln>
          </p:spPr>
          <p:txBody>
            <a:bodyPr wrap="none" lIns="0" tIns="0" rIns="0" bIns="0" anchor="t" anchorCtr="0">
              <a:spAutoFit/>
            </a:bodyPr>
            <a:lstStyle/>
            <a:p>
              <a:pPr algn="ctr"/>
              <a:r>
                <a:rPr lang="zh-CN" sz="1050" b="1" dirty="0">
                  <a:solidFill>
                    <a:srgbClr val="7A3E33"/>
                  </a:solidFill>
                  <a:latin typeface="+mn-lt"/>
                  <a:ea typeface="+mn-ea"/>
                  <a:cs typeface="+mn-cs"/>
                </a:rPr>
                <a:t>算力基础设施</a:t>
              </a:r>
            </a:p>
          </p:txBody>
        </p:sp>
        <p:sp>
          <p:nvSpPr>
            <p:cNvPr id="24" name="Line 24"/>
            <p:cNvSpPr/>
            <p:nvPr/>
          </p:nvSpPr>
          <p:spPr>
            <a:xfrm>
              <a:off x="571500" y="2228850"/>
              <a:ext cx="3238500" cy="9525"/>
            </a:xfrm>
            <a:custGeom>
              <a:avLst/>
              <a:gdLst/>
              <a:ahLst/>
              <a:cxnLst/>
              <a:rect l="l" t="t" r="r" b="b"/>
              <a:pathLst>
                <a:path w="3238500" h="9525">
                  <a:moveTo>
                    <a:pt x="0" y="0"/>
                  </a:moveTo>
                  <a:lnTo>
                    <a:pt x="3238500" y="0"/>
                  </a:lnTo>
                </a:path>
              </a:pathLst>
            </a:custGeom>
            <a:noFill/>
            <a:ln w="14288">
              <a:solidFill>
                <a:srgbClr val="9C594C"/>
              </a:solidFill>
            </a:ln>
          </p:spPr>
        </p:sp>
        <p:sp>
          <p:nvSpPr>
            <p:cNvPr id="25" name="Ellipse 25"/>
            <p:cNvSpPr/>
            <p:nvPr/>
          </p:nvSpPr>
          <p:spPr>
            <a:xfrm>
              <a:off x="542925" y="2200275"/>
              <a:ext cx="57150" cy="57150"/>
            </a:xfrm>
            <a:prstGeom prst="ellipse">
              <a:avLst/>
            </a:prstGeom>
            <a:solidFill>
              <a:srgbClr val="9C594C"/>
            </a:solidFill>
            <a:ln>
              <a:noFill/>
            </a:ln>
          </p:spPr>
        </p:sp>
        <p:sp>
          <p:nvSpPr>
            <p:cNvPr id="26" name="Ellipse 26"/>
            <p:cNvSpPr/>
            <p:nvPr/>
          </p:nvSpPr>
          <p:spPr>
            <a:xfrm>
              <a:off x="3781425" y="2200275"/>
              <a:ext cx="57150" cy="57150"/>
            </a:xfrm>
            <a:prstGeom prst="ellipse">
              <a:avLst/>
            </a:prstGeom>
            <a:solidFill>
              <a:srgbClr val="9C594C"/>
            </a:solidFill>
            <a:ln>
              <a:noFill/>
            </a:ln>
          </p:spPr>
        </p:sp>
        <p:sp>
          <p:nvSpPr>
            <p:cNvPr id="27" name="TextBox 27"/>
            <p:cNvSpPr txBox="1"/>
            <p:nvPr/>
          </p:nvSpPr>
          <p:spPr>
            <a:xfrm>
              <a:off x="5571363" y="2039302"/>
              <a:ext cx="858774" cy="205359"/>
            </a:xfrm>
            <a:prstGeom prst="rect">
              <a:avLst/>
            </a:prstGeom>
            <a:noFill/>
            <a:ln>
              <a:noFill/>
            </a:ln>
          </p:spPr>
          <p:txBody>
            <a:bodyPr wrap="none" lIns="0" tIns="0" rIns="0" bIns="0" anchor="t" anchorCtr="0">
              <a:spAutoFit/>
            </a:bodyPr>
            <a:lstStyle/>
            <a:p>
              <a:pPr algn="ctr"/>
              <a:r>
                <a:rPr lang="zh-CN" sz="1050" b="1" dirty="0">
                  <a:solidFill>
                    <a:srgbClr val="D6391E"/>
                  </a:solidFill>
                  <a:latin typeface="+mn-lt"/>
                  <a:ea typeface="+mn-ea"/>
                  <a:cs typeface="+mn-cs"/>
                </a:rPr>
                <a:t>供求关系变化</a:t>
              </a:r>
            </a:p>
          </p:txBody>
        </p:sp>
        <p:sp>
          <p:nvSpPr>
            <p:cNvPr id="28" name="Line 28"/>
            <p:cNvSpPr/>
            <p:nvPr/>
          </p:nvSpPr>
          <p:spPr>
            <a:xfrm>
              <a:off x="4381500" y="2228850"/>
              <a:ext cx="3238500" cy="9525"/>
            </a:xfrm>
            <a:custGeom>
              <a:avLst/>
              <a:gdLst/>
              <a:ahLst/>
              <a:cxnLst/>
              <a:rect l="l" t="t" r="r" b="b"/>
              <a:pathLst>
                <a:path w="3238500" h="9525">
                  <a:moveTo>
                    <a:pt x="0" y="0"/>
                  </a:moveTo>
                  <a:lnTo>
                    <a:pt x="3238500" y="0"/>
                  </a:lnTo>
                </a:path>
              </a:pathLst>
            </a:custGeom>
            <a:noFill/>
            <a:ln w="14288">
              <a:solidFill>
                <a:srgbClr val="E9563C"/>
              </a:solidFill>
            </a:ln>
          </p:spPr>
        </p:sp>
        <p:sp>
          <p:nvSpPr>
            <p:cNvPr id="29" name="Ellipse 29"/>
            <p:cNvSpPr/>
            <p:nvPr/>
          </p:nvSpPr>
          <p:spPr>
            <a:xfrm>
              <a:off x="4352925" y="2200275"/>
              <a:ext cx="57150" cy="57150"/>
            </a:xfrm>
            <a:prstGeom prst="ellipse">
              <a:avLst/>
            </a:prstGeom>
            <a:solidFill>
              <a:srgbClr val="E9563C"/>
            </a:solidFill>
            <a:ln>
              <a:noFill/>
            </a:ln>
          </p:spPr>
        </p:sp>
        <p:sp>
          <p:nvSpPr>
            <p:cNvPr id="30" name="Ellipse 30"/>
            <p:cNvSpPr/>
            <p:nvPr/>
          </p:nvSpPr>
          <p:spPr>
            <a:xfrm>
              <a:off x="7591425" y="2200275"/>
              <a:ext cx="57150" cy="57150"/>
            </a:xfrm>
            <a:prstGeom prst="ellipse">
              <a:avLst/>
            </a:prstGeom>
            <a:solidFill>
              <a:srgbClr val="E9563C"/>
            </a:solidFill>
            <a:ln>
              <a:noFill/>
            </a:ln>
          </p:spPr>
        </p:sp>
        <p:sp>
          <p:nvSpPr>
            <p:cNvPr id="31" name="TextBox 31"/>
            <p:cNvSpPr txBox="1"/>
            <p:nvPr/>
          </p:nvSpPr>
          <p:spPr>
            <a:xfrm>
              <a:off x="9432091" y="2039302"/>
              <a:ext cx="947818" cy="205359"/>
            </a:xfrm>
            <a:prstGeom prst="rect">
              <a:avLst/>
            </a:prstGeom>
            <a:noFill/>
            <a:ln>
              <a:noFill/>
            </a:ln>
          </p:spPr>
          <p:txBody>
            <a:bodyPr wrap="none" lIns="0" tIns="0" rIns="0" bIns="0" anchor="t" anchorCtr="0">
              <a:spAutoFit/>
            </a:bodyPr>
            <a:lstStyle/>
            <a:p>
              <a:pPr algn="ctr"/>
              <a:r>
                <a:rPr lang="zh-CN" sz="1050" b="1" dirty="0">
                  <a:solidFill>
                    <a:srgbClr val="7A3E33"/>
                  </a:solidFill>
                  <a:latin typeface="+mn-lt"/>
                  <a:ea typeface="+mn-ea"/>
                  <a:cs typeface="+mn-cs"/>
                </a:rPr>
                <a:t>GMV增长情况​</a:t>
              </a:r>
            </a:p>
          </p:txBody>
        </p:sp>
        <p:sp>
          <p:nvSpPr>
            <p:cNvPr id="32" name="Line 32"/>
            <p:cNvSpPr/>
            <p:nvPr/>
          </p:nvSpPr>
          <p:spPr>
            <a:xfrm>
              <a:off x="8191500" y="2228850"/>
              <a:ext cx="3429000" cy="9525"/>
            </a:xfrm>
            <a:custGeom>
              <a:avLst/>
              <a:gdLst/>
              <a:ahLst/>
              <a:cxnLst/>
              <a:rect l="l" t="t" r="r" b="b"/>
              <a:pathLst>
                <a:path w="3429000" h="9525">
                  <a:moveTo>
                    <a:pt x="0" y="0"/>
                  </a:moveTo>
                  <a:lnTo>
                    <a:pt x="3429000" y="0"/>
                  </a:lnTo>
                </a:path>
              </a:pathLst>
            </a:custGeom>
            <a:noFill/>
            <a:ln w="14288">
              <a:solidFill>
                <a:srgbClr val="9C594C"/>
              </a:solidFill>
            </a:ln>
          </p:spPr>
        </p:sp>
        <p:sp>
          <p:nvSpPr>
            <p:cNvPr id="33" name="Ellipse 33"/>
            <p:cNvSpPr/>
            <p:nvPr/>
          </p:nvSpPr>
          <p:spPr>
            <a:xfrm>
              <a:off x="8162925" y="2200275"/>
              <a:ext cx="57150" cy="57150"/>
            </a:xfrm>
            <a:prstGeom prst="ellipse">
              <a:avLst/>
            </a:prstGeom>
            <a:solidFill>
              <a:srgbClr val="9C594C"/>
            </a:solidFill>
            <a:ln>
              <a:noFill/>
            </a:ln>
          </p:spPr>
        </p:sp>
        <p:sp>
          <p:nvSpPr>
            <p:cNvPr id="34" name="Ellipse 34"/>
            <p:cNvSpPr/>
            <p:nvPr/>
          </p:nvSpPr>
          <p:spPr>
            <a:xfrm>
              <a:off x="11591925" y="2200275"/>
              <a:ext cx="57150" cy="57150"/>
            </a:xfrm>
            <a:prstGeom prst="ellipse">
              <a:avLst/>
            </a:prstGeom>
            <a:solidFill>
              <a:srgbClr val="9C594C"/>
            </a:solidFill>
            <a:ln>
              <a:noFill/>
            </a:ln>
          </p:spPr>
        </p:sp>
      </p:grpSp>
      <p:grpSp>
        <p:nvGrpSpPr>
          <p:cNvPr id="64" name="braid"/>
          <p:cNvGrpSpPr/>
          <p:nvPr/>
        </p:nvGrpSpPr>
        <p:grpSpPr>
          <a:xfrm>
            <a:off x="571500" y="2552700"/>
            <a:ext cx="10828104" cy="818864"/>
            <a:chOff x="571500" y="2552700"/>
            <a:chExt cx="10828104" cy="818864"/>
          </a:xfrm>
        </p:grpSpPr>
        <p:sp>
          <p:nvSpPr>
            <p:cNvPr id="36" name="Freeform 36"/>
            <p:cNvSpPr/>
            <p:nvPr/>
          </p:nvSpPr>
          <p:spPr>
            <a:xfrm>
              <a:off x="571500" y="2619375"/>
              <a:ext cx="8001000" cy="619125"/>
            </a:xfrm>
            <a:custGeom>
              <a:avLst/>
              <a:gdLst/>
              <a:ahLst/>
              <a:cxnLst/>
              <a:rect l="l" t="t" r="r" b="b"/>
              <a:pathLst>
                <a:path w="8001000" h="619125">
                  <a:moveTo>
                    <a:pt x="0" y="0"/>
                  </a:moveTo>
                  <a:cubicBezTo>
                    <a:pt x="1333500" y="0"/>
                    <a:pt x="1905000" y="619125"/>
                    <a:pt x="3238500" y="619125"/>
                  </a:cubicBezTo>
                  <a:cubicBezTo>
                    <a:pt x="4572000" y="619125"/>
                    <a:pt x="5143500" y="0"/>
                    <a:pt x="6096000" y="0"/>
                  </a:cubicBezTo>
                  <a:cubicBezTo>
                    <a:pt x="7048500" y="0"/>
                    <a:pt x="7524750" y="619125"/>
                    <a:pt x="8001000" y="409575"/>
                  </a:cubicBezTo>
                </a:path>
              </a:pathLst>
            </a:custGeom>
            <a:noFill/>
            <a:ln w="266700">
              <a:solidFill>
                <a:srgbClr val="9C594C"/>
              </a:solidFill>
            </a:ln>
          </p:spPr>
        </p:sp>
        <p:sp>
          <p:nvSpPr>
            <p:cNvPr id="37" name="Freeform 37"/>
            <p:cNvSpPr/>
            <p:nvPr/>
          </p:nvSpPr>
          <p:spPr>
            <a:xfrm>
              <a:off x="571500" y="2619375"/>
              <a:ext cx="8001000" cy="619125"/>
            </a:xfrm>
            <a:custGeom>
              <a:avLst/>
              <a:gdLst/>
              <a:ahLst/>
              <a:cxnLst/>
              <a:rect l="l" t="t" r="r" b="b"/>
              <a:pathLst>
                <a:path w="8001000" h="619125">
                  <a:moveTo>
                    <a:pt x="0" y="619125"/>
                  </a:moveTo>
                  <a:cubicBezTo>
                    <a:pt x="1333500" y="619125"/>
                    <a:pt x="1905000" y="0"/>
                    <a:pt x="3238500" y="0"/>
                  </a:cubicBezTo>
                  <a:cubicBezTo>
                    <a:pt x="4572000" y="0"/>
                    <a:pt x="5143500" y="619125"/>
                    <a:pt x="6096000" y="619125"/>
                  </a:cubicBezTo>
                  <a:cubicBezTo>
                    <a:pt x="7048500" y="619125"/>
                    <a:pt x="7524750" y="0"/>
                    <a:pt x="8001000" y="200025"/>
                  </a:cubicBezTo>
                </a:path>
              </a:pathLst>
            </a:custGeom>
            <a:noFill/>
            <a:ln w="266700">
              <a:solidFill>
                <a:srgbClr val="E9563C"/>
              </a:solidFill>
            </a:ln>
          </p:spPr>
        </p:sp>
        <p:sp>
          <p:nvSpPr>
            <p:cNvPr id="38" name="Freeform 38"/>
            <p:cNvSpPr/>
            <p:nvPr/>
          </p:nvSpPr>
          <p:spPr>
            <a:xfrm>
              <a:off x="8382000" y="2552700"/>
              <a:ext cx="2095500" cy="685800"/>
            </a:xfrm>
            <a:prstGeom prst="rightArrow">
              <a:avLst/>
            </a:prstGeom>
            <a:solidFill>
              <a:srgbClr val="9C594C"/>
            </a:solidFill>
            <a:ln>
              <a:noFill/>
            </a:ln>
          </p:spPr>
        </p:sp>
        <p:sp>
          <p:nvSpPr>
            <p:cNvPr id="39" name="TextBox 39"/>
            <p:cNvSpPr txBox="1"/>
            <p:nvPr/>
          </p:nvSpPr>
          <p:spPr>
            <a:xfrm>
              <a:off x="720695" y="2561749"/>
              <a:ext cx="65411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人-CLVM​</a:t>
              </a:r>
            </a:p>
          </p:txBody>
        </p:sp>
        <p:sp>
          <p:nvSpPr>
            <p:cNvPr id="40" name="TextBox 40"/>
            <p:cNvSpPr txBox="1"/>
            <p:nvPr/>
          </p:nvSpPr>
          <p:spPr>
            <a:xfrm>
              <a:off x="720695" y="3180874"/>
              <a:ext cx="65411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货-CLVM​</a:t>
              </a:r>
            </a:p>
          </p:txBody>
        </p:sp>
        <p:sp>
          <p:nvSpPr>
            <p:cNvPr id="41" name="TextBox 41"/>
            <p:cNvSpPr txBox="1"/>
            <p:nvPr/>
          </p:nvSpPr>
          <p:spPr>
            <a:xfrm>
              <a:off x="10585704" y="2832735"/>
              <a:ext cx="813900" cy="234696"/>
            </a:xfrm>
            <a:prstGeom prst="rect">
              <a:avLst/>
            </a:prstGeom>
            <a:noFill/>
            <a:ln>
              <a:noFill/>
            </a:ln>
          </p:spPr>
          <p:txBody>
            <a:bodyPr wrap="none" lIns="0" tIns="0" rIns="0" bIns="0" anchor="t" anchorCtr="0">
              <a:spAutoFit/>
            </a:bodyPr>
            <a:lstStyle/>
            <a:p>
              <a:pPr algn="l"/>
              <a:r>
                <a:rPr lang="zh-CN" sz="1200" b="1" dirty="0">
                  <a:solidFill>
                    <a:srgbClr val="333333"/>
                  </a:solidFill>
                  <a:latin typeface="+mn-lt"/>
                  <a:ea typeface="+mn-ea"/>
                  <a:cs typeface="+mn-cs"/>
                </a:rPr>
                <a:t>GMV 增长​</a:t>
              </a:r>
            </a:p>
          </p:txBody>
        </p:sp>
        <p:sp>
          <p:nvSpPr>
            <p:cNvPr id="42" name="Ellipse 42"/>
            <p:cNvSpPr/>
            <p:nvPr/>
          </p:nvSpPr>
          <p:spPr>
            <a:xfrm>
              <a:off x="3009900" y="2628900"/>
              <a:ext cx="266700" cy="266700"/>
            </a:xfrm>
            <a:prstGeom prst="ellipse">
              <a:avLst/>
            </a:prstGeom>
            <a:solidFill>
              <a:srgbClr val="FFFFFF"/>
            </a:solidFill>
            <a:ln w="9525">
              <a:solidFill>
                <a:srgbClr val="C9D8BD"/>
              </a:solidFill>
            </a:ln>
          </p:spPr>
        </p:sp>
        <p:sp>
          <p:nvSpPr>
            <p:cNvPr id="43" name="Freeform 43"/>
            <p:cNvSpPr/>
            <p:nvPr/>
          </p:nvSpPr>
          <p:spPr>
            <a:xfrm>
              <a:off x="3079598" y="270652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9C594C"/>
              </a:solidFill>
            </a:ln>
          </p:spPr>
        </p:sp>
        <p:sp>
          <p:nvSpPr>
            <p:cNvPr id="44" name="Ellipse 44"/>
            <p:cNvSpPr/>
            <p:nvPr/>
          </p:nvSpPr>
          <p:spPr>
            <a:xfrm>
              <a:off x="3009900" y="2971800"/>
              <a:ext cx="266700" cy="266700"/>
            </a:xfrm>
            <a:prstGeom prst="ellipse">
              <a:avLst/>
            </a:prstGeom>
            <a:solidFill>
              <a:srgbClr val="FFFFFF"/>
            </a:solidFill>
            <a:ln w="9525">
              <a:solidFill>
                <a:srgbClr val="C9D8BD"/>
              </a:solidFill>
            </a:ln>
          </p:spPr>
        </p:sp>
        <p:grpSp>
          <p:nvGrpSpPr>
            <p:cNvPr id="48" name="Group 48"/>
            <p:cNvGrpSpPr/>
            <p:nvPr/>
          </p:nvGrpSpPr>
          <p:grpSpPr>
            <a:xfrm>
              <a:off x="3086100" y="3048000"/>
              <a:ext cx="114300" cy="114300"/>
              <a:chOff x="3086100" y="3048000"/>
              <a:chExt cx="114300" cy="114300"/>
            </a:xfrm>
          </p:grpSpPr>
          <p:sp>
            <p:nvSpPr>
              <p:cNvPr id="45" name="Freeform 45"/>
              <p:cNvSpPr/>
              <p:nvPr/>
            </p:nvSpPr>
            <p:spPr>
              <a:xfrm>
                <a:off x="3136900" y="30988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D6391E"/>
                </a:solidFill>
              </a:ln>
            </p:spPr>
          </p:sp>
          <p:sp>
            <p:nvSpPr>
              <p:cNvPr id="46" name="Freeform 46"/>
              <p:cNvSpPr/>
              <p:nvPr/>
            </p:nvSpPr>
            <p:spPr>
              <a:xfrm>
                <a:off x="3111500" y="30734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D6391E"/>
                </a:solidFill>
              </a:ln>
            </p:spPr>
          </p:sp>
          <p:sp>
            <p:nvSpPr>
              <p:cNvPr id="47" name="Freeform 47"/>
              <p:cNvSpPr/>
              <p:nvPr/>
            </p:nvSpPr>
            <p:spPr>
              <a:xfrm>
                <a:off x="3086100" y="30480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D6391E"/>
                </a:solidFill>
              </a:ln>
            </p:spPr>
          </p:sp>
        </p:grpSp>
        <p:sp>
          <p:nvSpPr>
            <p:cNvPr id="49" name="Ellipse 49"/>
            <p:cNvSpPr/>
            <p:nvPr/>
          </p:nvSpPr>
          <p:spPr>
            <a:xfrm>
              <a:off x="5200650" y="2628900"/>
              <a:ext cx="266700" cy="266700"/>
            </a:xfrm>
            <a:prstGeom prst="ellipse">
              <a:avLst/>
            </a:prstGeom>
            <a:solidFill>
              <a:srgbClr val="FFFFFF"/>
            </a:solidFill>
            <a:ln w="9525">
              <a:solidFill>
                <a:srgbClr val="C9D8BD"/>
              </a:solidFill>
            </a:ln>
          </p:spPr>
        </p:sp>
        <p:grpSp>
          <p:nvGrpSpPr>
            <p:cNvPr id="53" name="Group 53"/>
            <p:cNvGrpSpPr/>
            <p:nvPr/>
          </p:nvGrpSpPr>
          <p:grpSpPr>
            <a:xfrm>
              <a:off x="5295900" y="2705100"/>
              <a:ext cx="95250" cy="114300"/>
              <a:chOff x="5295900" y="2705100"/>
              <a:chExt cx="95250" cy="114300"/>
            </a:xfrm>
          </p:grpSpPr>
          <p:sp>
            <p:nvSpPr>
              <p:cNvPr id="50" name="Freeform 50"/>
              <p:cNvSpPr/>
              <p:nvPr/>
            </p:nvSpPr>
            <p:spPr>
              <a:xfrm>
                <a:off x="5308600" y="27051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D6391E"/>
                </a:solidFill>
              </a:ln>
            </p:spPr>
          </p:sp>
          <p:sp>
            <p:nvSpPr>
              <p:cNvPr id="51" name="Freeform 51"/>
              <p:cNvSpPr/>
              <p:nvPr/>
            </p:nvSpPr>
            <p:spPr>
              <a:xfrm>
                <a:off x="5295900" y="278130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D6391E"/>
                </a:solidFill>
              </a:ln>
            </p:spPr>
          </p:sp>
          <p:sp>
            <p:nvSpPr>
              <p:cNvPr id="52" name="Freeform 52"/>
              <p:cNvSpPr/>
              <p:nvPr/>
            </p:nvSpPr>
            <p:spPr>
              <a:xfrm>
                <a:off x="5353050" y="2794000"/>
                <a:ext cx="38100" cy="25400"/>
              </a:xfrm>
              <a:custGeom>
                <a:avLst/>
                <a:gdLst/>
                <a:ahLst/>
                <a:cxnLst/>
                <a:rect l="l" t="t" r="r" b="b"/>
                <a:pathLst>
                  <a:path w="38100" h="25400">
                    <a:moveTo>
                      <a:pt x="0" y="12700"/>
                    </a:moveTo>
                    <a:lnTo>
                      <a:pt x="12700" y="25400"/>
                    </a:lnTo>
                    <a:lnTo>
                      <a:pt x="38100" y="0"/>
                    </a:lnTo>
                  </a:path>
                </a:pathLst>
              </a:custGeom>
              <a:noFill/>
              <a:ln w="12700">
                <a:solidFill>
                  <a:srgbClr val="D6391E"/>
                </a:solidFill>
              </a:ln>
            </p:spPr>
          </p:sp>
        </p:grpSp>
        <p:sp>
          <p:nvSpPr>
            <p:cNvPr id="54" name="Ellipse 54"/>
            <p:cNvSpPr/>
            <p:nvPr/>
          </p:nvSpPr>
          <p:spPr>
            <a:xfrm>
              <a:off x="5200650" y="2971800"/>
              <a:ext cx="266700" cy="266700"/>
            </a:xfrm>
            <a:prstGeom prst="ellipse">
              <a:avLst/>
            </a:prstGeom>
            <a:solidFill>
              <a:srgbClr val="FFFFFF"/>
            </a:solidFill>
            <a:ln w="9525">
              <a:solidFill>
                <a:srgbClr val="C9D8BD"/>
              </a:solidFill>
            </a:ln>
          </p:spPr>
        </p:sp>
        <p:grpSp>
          <p:nvGrpSpPr>
            <p:cNvPr id="57" name="Group 57"/>
            <p:cNvGrpSpPr/>
            <p:nvPr/>
          </p:nvGrpSpPr>
          <p:grpSpPr>
            <a:xfrm>
              <a:off x="5275080" y="3049092"/>
              <a:ext cx="114800" cy="114978"/>
              <a:chOff x="5275080" y="3049092"/>
              <a:chExt cx="114800" cy="114978"/>
            </a:xfrm>
          </p:grpSpPr>
          <p:sp>
            <p:nvSpPr>
              <p:cNvPr id="55" name="Freeform 55"/>
              <p:cNvSpPr/>
              <p:nvPr/>
            </p:nvSpPr>
            <p:spPr>
              <a:xfrm>
                <a:off x="5275080" y="3049092"/>
                <a:ext cx="114800" cy="114978"/>
              </a:xfrm>
              <a:custGeom>
                <a:avLst/>
                <a:gdLst/>
                <a:ahLst/>
                <a:cxnLst/>
                <a:rect l="l" t="t" r="r" b="b"/>
                <a:pathLst>
                  <a:path w="114800" h="114978">
                    <a:moveTo>
                      <a:pt x="46220" y="178"/>
                    </a:moveTo>
                    <a:cubicBezTo>
                      <a:pt x="18725" y="6552"/>
                      <a:pt x="0" y="32044"/>
                      <a:pt x="2141" y="60187"/>
                    </a:cubicBezTo>
                    <a:cubicBezTo>
                      <a:pt x="4282" y="88330"/>
                      <a:pt x="26648" y="110696"/>
                      <a:pt x="54791" y="112837"/>
                    </a:cubicBezTo>
                    <a:cubicBezTo>
                      <a:pt x="82934" y="114978"/>
                      <a:pt x="108426" y="96254"/>
                      <a:pt x="114800" y="68758"/>
                    </a:cubicBezTo>
                    <a:cubicBezTo>
                      <a:pt x="114800" y="65251"/>
                      <a:pt x="111957" y="62408"/>
                      <a:pt x="108450" y="62408"/>
                    </a:cubicBezTo>
                    <a:lnTo>
                      <a:pt x="65270" y="62408"/>
                    </a:lnTo>
                    <a:cubicBezTo>
                      <a:pt x="58256" y="62408"/>
                      <a:pt x="52570" y="56722"/>
                      <a:pt x="52570" y="49708"/>
                    </a:cubicBezTo>
                    <a:lnTo>
                      <a:pt x="52570" y="5258"/>
                    </a:lnTo>
                    <a:cubicBezTo>
                      <a:pt x="52411" y="3738"/>
                      <a:pt x="51649" y="2346"/>
                      <a:pt x="50456" y="1391"/>
                    </a:cubicBezTo>
                    <a:cubicBezTo>
                      <a:pt x="49263" y="437"/>
                      <a:pt x="47738" y="0"/>
                      <a:pt x="46220" y="178"/>
                    </a:cubicBezTo>
                  </a:path>
                </a:pathLst>
              </a:custGeom>
              <a:noFill/>
              <a:ln w="12700">
                <a:solidFill>
                  <a:srgbClr val="9C594C"/>
                </a:solidFill>
              </a:ln>
            </p:spPr>
          </p:sp>
          <p:sp>
            <p:nvSpPr>
              <p:cNvPr id="56" name="Freeform 56"/>
              <p:cNvSpPr/>
              <p:nvPr/>
            </p:nvSpPr>
            <p:spPr>
              <a:xfrm>
                <a:off x="5353050" y="3051175"/>
                <a:ext cx="34925" cy="34925"/>
              </a:xfrm>
              <a:custGeom>
                <a:avLst/>
                <a:gdLst/>
                <a:ahLst/>
                <a:cxnLst/>
                <a:rect l="l" t="t" r="r" b="b"/>
                <a:pathLst>
                  <a:path w="34925" h="34925">
                    <a:moveTo>
                      <a:pt x="0" y="0"/>
                    </a:moveTo>
                    <a:cubicBezTo>
                      <a:pt x="16331" y="5750"/>
                      <a:pt x="29175" y="18594"/>
                      <a:pt x="34925" y="34925"/>
                    </a:cubicBezTo>
                    <a:lnTo>
                      <a:pt x="6350" y="34925"/>
                    </a:lnTo>
                    <a:cubicBezTo>
                      <a:pt x="2843" y="34925"/>
                      <a:pt x="0" y="32082"/>
                      <a:pt x="0" y="28575"/>
                    </a:cubicBezTo>
                    <a:lnTo>
                      <a:pt x="0" y="0"/>
                    </a:lnTo>
                  </a:path>
                </a:pathLst>
              </a:custGeom>
              <a:noFill/>
              <a:ln w="12700">
                <a:solidFill>
                  <a:srgbClr val="9C594C"/>
                </a:solidFill>
              </a:ln>
            </p:spPr>
          </p:sp>
        </p:grpSp>
        <p:sp>
          <p:nvSpPr>
            <p:cNvPr id="58" name="Ellipse 58"/>
            <p:cNvSpPr/>
            <p:nvPr/>
          </p:nvSpPr>
          <p:spPr>
            <a:xfrm>
              <a:off x="7105650" y="2628900"/>
              <a:ext cx="266700" cy="266700"/>
            </a:xfrm>
            <a:prstGeom prst="ellipse">
              <a:avLst/>
            </a:prstGeom>
            <a:solidFill>
              <a:srgbClr val="FFFFFF"/>
            </a:solidFill>
            <a:ln w="9525">
              <a:solidFill>
                <a:srgbClr val="C9D8BD"/>
              </a:solidFill>
            </a:ln>
          </p:spPr>
        </p:sp>
        <p:sp>
          <p:nvSpPr>
            <p:cNvPr id="59" name="Freeform 59"/>
            <p:cNvSpPr/>
            <p:nvPr/>
          </p:nvSpPr>
          <p:spPr>
            <a:xfrm>
              <a:off x="7175348" y="2706529"/>
              <a:ext cx="126771" cy="112376"/>
            </a:xfrm>
            <a:custGeom>
              <a:avLst/>
              <a:gdLst/>
              <a:ahLst/>
              <a:cxnLst/>
              <a:rect l="l" t="t" r="r" b="b"/>
              <a:pathLst>
                <a:path w="126771" h="112376">
                  <a:moveTo>
                    <a:pt x="6502" y="106521"/>
                  </a:moveTo>
                  <a:lnTo>
                    <a:pt x="14757" y="81756"/>
                  </a:lnTo>
                  <a:cubicBezTo>
                    <a:pt x="0" y="59931"/>
                    <a:pt x="5702" y="31769"/>
                    <a:pt x="28092" y="15881"/>
                  </a:cubicBezTo>
                  <a:cubicBezTo>
                    <a:pt x="50483" y="0"/>
                    <a:pt x="82639" y="1302"/>
                    <a:pt x="103308" y="18929"/>
                  </a:cubicBezTo>
                  <a:cubicBezTo>
                    <a:pt x="123977" y="36563"/>
                    <a:pt x="126771" y="65068"/>
                    <a:pt x="109842" y="85611"/>
                  </a:cubicBezTo>
                  <a:cubicBezTo>
                    <a:pt x="92913" y="106153"/>
                    <a:pt x="61487" y="112376"/>
                    <a:pt x="36347" y="100171"/>
                  </a:cubicBezTo>
                  <a:lnTo>
                    <a:pt x="6502" y="106521"/>
                  </a:lnTo>
                </a:path>
              </a:pathLst>
            </a:custGeom>
            <a:noFill/>
            <a:ln w="12700">
              <a:solidFill>
                <a:srgbClr val="9C594C"/>
              </a:solidFill>
            </a:ln>
          </p:spPr>
        </p:sp>
        <p:sp>
          <p:nvSpPr>
            <p:cNvPr id="60" name="Ellipse 60"/>
            <p:cNvSpPr/>
            <p:nvPr/>
          </p:nvSpPr>
          <p:spPr>
            <a:xfrm>
              <a:off x="7105650" y="2971800"/>
              <a:ext cx="266700" cy="266700"/>
            </a:xfrm>
            <a:prstGeom prst="ellipse">
              <a:avLst/>
            </a:prstGeom>
            <a:solidFill>
              <a:srgbClr val="FFFFFF"/>
            </a:solidFill>
            <a:ln w="9525">
              <a:solidFill>
                <a:srgbClr val="C9D8BD"/>
              </a:solidFill>
            </a:ln>
          </p:spPr>
        </p:sp>
        <p:grpSp>
          <p:nvGrpSpPr>
            <p:cNvPr id="63" name="Group 63"/>
            <p:cNvGrpSpPr/>
            <p:nvPr/>
          </p:nvGrpSpPr>
          <p:grpSpPr>
            <a:xfrm>
              <a:off x="7188200" y="3051900"/>
              <a:ext cx="101600" cy="106500"/>
              <a:chOff x="7188200" y="3051900"/>
              <a:chExt cx="101600" cy="106500"/>
            </a:xfrm>
          </p:grpSpPr>
          <p:sp>
            <p:nvSpPr>
              <p:cNvPr id="61" name="Freeform 61"/>
              <p:cNvSpPr/>
              <p:nvPr/>
            </p:nvSpPr>
            <p:spPr>
              <a:xfrm>
                <a:off x="7188200" y="305190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D6391E"/>
                </a:solidFill>
              </a:ln>
            </p:spPr>
          </p:sp>
          <p:sp>
            <p:nvSpPr>
              <p:cNvPr id="62" name="Freeform 62"/>
              <p:cNvSpPr/>
              <p:nvPr/>
            </p:nvSpPr>
            <p:spPr>
              <a:xfrm>
                <a:off x="7188200" y="311150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D6391E"/>
                </a:solidFill>
              </a:ln>
            </p:spPr>
          </p:sp>
        </p:grpSp>
      </p:grpSp>
      <p:grpSp>
        <p:nvGrpSpPr>
          <p:cNvPr id="80" name="col1-bucket"/>
          <p:cNvGrpSpPr/>
          <p:nvPr/>
        </p:nvGrpSpPr>
        <p:grpSpPr>
          <a:xfrm>
            <a:off x="571500" y="3604260"/>
            <a:ext cx="2667000" cy="1621727"/>
            <a:chOff x="571500" y="3604260"/>
            <a:chExt cx="2667000" cy="1621727"/>
          </a:xfrm>
        </p:grpSpPr>
        <p:sp>
          <p:nvSpPr>
            <p:cNvPr id="65" name="TextBox 65"/>
            <p:cNvSpPr txBox="1"/>
            <p:nvPr/>
          </p:nvSpPr>
          <p:spPr>
            <a:xfrm>
              <a:off x="1517904" y="3604260"/>
              <a:ext cx="981456" cy="234696"/>
            </a:xfrm>
            <a:prstGeom prst="rect">
              <a:avLst/>
            </a:prstGeom>
            <a:noFill/>
            <a:ln>
              <a:noFill/>
            </a:ln>
          </p:spPr>
          <p:txBody>
            <a:bodyPr wrap="none" lIns="0" tIns="0" rIns="0" bIns="0" anchor="t" anchorCtr="0">
              <a:spAutoFit/>
            </a:bodyPr>
            <a:lstStyle/>
            <a:p>
              <a:pPr algn="l"/>
              <a:r>
                <a:rPr lang="zh-CN" sz="1200" b="1" dirty="0">
                  <a:solidFill>
                    <a:srgbClr val="7A3E33"/>
                  </a:solidFill>
                  <a:latin typeface="+mn-lt"/>
                  <a:ea typeface="+mn-ea"/>
                  <a:cs typeface="+mn-cs"/>
                </a:rPr>
                <a:t>木桶短板理论</a:t>
              </a:r>
            </a:p>
          </p:txBody>
        </p:sp>
        <p:sp>
          <p:nvSpPr>
            <p:cNvPr id="66" name="Freeform 66"/>
            <p:cNvSpPr/>
            <p:nvPr/>
          </p:nvSpPr>
          <p:spPr>
            <a:xfrm rot="10800000">
              <a:off x="571500" y="3905250"/>
              <a:ext cx="762000" cy="1047750"/>
            </a:xfrm>
            <a:prstGeom prst="trapezoid">
              <a:avLst/>
            </a:prstGeom>
            <a:solidFill>
              <a:srgbClr val="C8E0B8"/>
            </a:solidFill>
            <a:ln w="14288">
              <a:solidFill>
                <a:srgbClr val="9C594C"/>
              </a:solidFill>
            </a:ln>
          </p:spPr>
        </p:sp>
        <p:sp>
          <p:nvSpPr>
            <p:cNvPr id="67" name="Line 67"/>
            <p:cNvSpPr/>
            <p:nvPr/>
          </p:nvSpPr>
          <p:spPr>
            <a:xfrm>
              <a:off x="781050" y="3962400"/>
              <a:ext cx="57150" cy="933450"/>
            </a:xfrm>
            <a:custGeom>
              <a:avLst/>
              <a:gdLst/>
              <a:ahLst/>
              <a:cxnLst/>
              <a:rect l="l" t="t" r="r" b="b"/>
              <a:pathLst>
                <a:path w="57150" h="933450">
                  <a:moveTo>
                    <a:pt x="57150" y="0"/>
                  </a:moveTo>
                  <a:lnTo>
                    <a:pt x="0" y="933450"/>
                  </a:lnTo>
                </a:path>
              </a:pathLst>
            </a:custGeom>
            <a:noFill/>
            <a:ln w="9525">
              <a:solidFill>
                <a:srgbClr val="9C594C"/>
              </a:solidFill>
            </a:ln>
          </p:spPr>
        </p:sp>
        <p:sp>
          <p:nvSpPr>
            <p:cNvPr id="68" name="Line 68"/>
            <p:cNvSpPr/>
            <p:nvPr/>
          </p:nvSpPr>
          <p:spPr>
            <a:xfrm>
              <a:off x="952500" y="3943350"/>
              <a:ext cx="9525" cy="971550"/>
            </a:xfrm>
            <a:custGeom>
              <a:avLst/>
              <a:gdLst/>
              <a:ahLst/>
              <a:cxnLst/>
              <a:rect l="l" t="t" r="r" b="b"/>
              <a:pathLst>
                <a:path w="9525" h="971550">
                  <a:moveTo>
                    <a:pt x="0" y="0"/>
                  </a:moveTo>
                  <a:lnTo>
                    <a:pt x="0" y="971550"/>
                  </a:lnTo>
                </a:path>
              </a:pathLst>
            </a:custGeom>
            <a:noFill/>
            <a:ln w="9525">
              <a:solidFill>
                <a:srgbClr val="9C594C"/>
              </a:solidFill>
            </a:ln>
          </p:spPr>
        </p:sp>
        <p:sp>
          <p:nvSpPr>
            <p:cNvPr id="69" name="Line 69"/>
            <p:cNvSpPr/>
            <p:nvPr/>
          </p:nvSpPr>
          <p:spPr>
            <a:xfrm>
              <a:off x="1066800" y="3962400"/>
              <a:ext cx="57150" cy="933450"/>
            </a:xfrm>
            <a:custGeom>
              <a:avLst/>
              <a:gdLst/>
              <a:ahLst/>
              <a:cxnLst/>
              <a:rect l="l" t="t" r="r" b="b"/>
              <a:pathLst>
                <a:path w="57150" h="933450">
                  <a:moveTo>
                    <a:pt x="0" y="0"/>
                  </a:moveTo>
                  <a:lnTo>
                    <a:pt x="57150" y="933450"/>
                  </a:lnTo>
                </a:path>
              </a:pathLst>
            </a:custGeom>
            <a:noFill/>
            <a:ln w="9525">
              <a:solidFill>
                <a:srgbClr val="9C594C"/>
              </a:solidFill>
            </a:ln>
          </p:spPr>
        </p:sp>
        <p:sp>
          <p:nvSpPr>
            <p:cNvPr id="70" name="Line 70"/>
            <p:cNvSpPr/>
            <p:nvPr/>
          </p:nvSpPr>
          <p:spPr>
            <a:xfrm>
              <a:off x="590550" y="4572000"/>
              <a:ext cx="723900" cy="9525"/>
            </a:xfrm>
            <a:custGeom>
              <a:avLst/>
              <a:gdLst/>
              <a:ahLst/>
              <a:cxnLst/>
              <a:rect l="l" t="t" r="r" b="b"/>
              <a:pathLst>
                <a:path w="723900" h="9525">
                  <a:moveTo>
                    <a:pt x="0" y="0"/>
                  </a:moveTo>
                  <a:lnTo>
                    <a:pt x="723900" y="0"/>
                  </a:lnTo>
                </a:path>
              </a:pathLst>
            </a:custGeom>
            <a:noFill/>
            <a:ln w="14288">
              <a:solidFill>
                <a:srgbClr val="9C594C"/>
              </a:solidFill>
            </a:ln>
          </p:spPr>
        </p:sp>
        <p:sp>
          <p:nvSpPr>
            <p:cNvPr id="71" name="TextBox 71"/>
            <p:cNvSpPr txBox="1"/>
            <p:nvPr/>
          </p:nvSpPr>
          <p:spPr>
            <a:xfrm>
              <a:off x="1519238" y="3866436"/>
              <a:ext cx="1632585" cy="540544"/>
            </a:xfrm>
            <a:prstGeom prst="rect">
              <a:avLst/>
            </a:prstGeom>
            <a:noFill/>
            <a:ln>
              <a:noFill/>
            </a:ln>
          </p:spPr>
          <p:txBody>
            <a:bodyPr wrap="none" lIns="0" tIns="0" rIns="0" bIns="0" anchor="t" anchorCtr="0">
              <a:spAutoFit/>
            </a:bodyPr>
            <a:lstStyle/>
            <a:p>
              <a:pPr algn="l">
                <a:lnSpc>
                  <a:spcPts val="1050"/>
                </a:lnSpc>
              </a:pPr>
              <a:r>
                <a:rPr lang="zh-CN" sz="710" dirty="0">
                  <a:solidFill>
                    <a:srgbClr val="333333"/>
                  </a:solidFill>
                  <a:latin typeface="+mn-lt"/>
                  <a:ea typeface="+mn-ea"/>
                  <a:cs typeface="+mn-cs"/>
                </a:rPr>
                <a:t>说的是一只由长短不一的木板拼装而成的</a:t>
              </a:r>
              <a:br/>
              <a:r>
                <a:rPr lang="zh-CN" sz="710" dirty="0">
                  <a:solidFill>
                    <a:srgbClr val="333333"/>
                  </a:solidFill>
                  <a:latin typeface="+mn-lt"/>
                  <a:ea typeface="+mn-ea"/>
                  <a:cs typeface="+mn-cs"/>
                </a:rPr>
                <a:t>木桶盛水的高度取决于围成木桶最短的那</a:t>
              </a:r>
              <a:br/>
              <a:r>
                <a:rPr lang="zh-CN" sz="710" dirty="0">
                  <a:solidFill>
                    <a:srgbClr val="333333"/>
                  </a:solidFill>
                  <a:latin typeface="+mn-lt"/>
                  <a:ea typeface="+mn-ea"/>
                  <a:cs typeface="+mn-cs"/>
                </a:rPr>
                <a:t>块木板，其它的木板再长，也不能装进去</a:t>
              </a:r>
              <a:br/>
              <a:r>
                <a:rPr lang="zh-CN" sz="710" dirty="0">
                  <a:solidFill>
                    <a:srgbClr val="333333"/>
                  </a:solidFill>
                  <a:latin typeface="+mn-lt"/>
                  <a:ea typeface="+mn-ea"/>
                  <a:cs typeface="+mn-cs"/>
                </a:rPr>
                <a:t>更多的水</a:t>
              </a:r>
            </a:p>
          </p:txBody>
        </p:sp>
        <p:sp>
          <p:nvSpPr>
            <p:cNvPr id="72" name="Rectangle 72"/>
            <p:cNvSpPr/>
            <p:nvPr/>
          </p:nvSpPr>
          <p:spPr>
            <a:xfrm>
              <a:off x="1524000" y="4552950"/>
              <a:ext cx="1714500" cy="285750"/>
            </a:xfrm>
            <a:prstGeom prst="rect">
              <a:avLst/>
            </a:prstGeom>
            <a:solidFill>
              <a:srgbClr val="FFFFFF"/>
            </a:solidFill>
            <a:ln w="9525">
              <a:solidFill>
                <a:srgbClr val="9C594C"/>
              </a:solidFill>
            </a:ln>
          </p:spPr>
        </p:sp>
        <p:sp>
          <p:nvSpPr>
            <p:cNvPr id="73" name="Rectangle 73"/>
            <p:cNvSpPr/>
            <p:nvPr/>
          </p:nvSpPr>
          <p:spPr>
            <a:xfrm>
              <a:off x="1600200" y="4619625"/>
              <a:ext cx="666750" cy="152400"/>
            </a:xfrm>
            <a:prstGeom prst="roundRect">
              <a:avLst>
                <a:gd name="adj" fmla="val 50000"/>
              </a:avLst>
            </a:prstGeom>
            <a:solidFill>
              <a:srgbClr val="9C594C"/>
            </a:solidFill>
            <a:ln>
              <a:noFill/>
            </a:ln>
          </p:spPr>
        </p:sp>
        <p:sp>
          <p:nvSpPr>
            <p:cNvPr id="74" name="TextBox 74"/>
            <p:cNvSpPr txBox="1"/>
            <p:nvPr/>
          </p:nvSpPr>
          <p:spPr>
            <a:xfrm>
              <a:off x="1837271" y="4661059"/>
              <a:ext cx="192608"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粉丝</a:t>
              </a:r>
            </a:p>
          </p:txBody>
        </p:sp>
        <p:sp>
          <p:nvSpPr>
            <p:cNvPr id="75" name="TextBox 75"/>
            <p:cNvSpPr txBox="1"/>
            <p:nvPr/>
          </p:nvSpPr>
          <p:spPr>
            <a:xfrm>
              <a:off x="2679664" y="4639628"/>
              <a:ext cx="355671" cy="205359"/>
            </a:xfrm>
            <a:prstGeom prst="rect">
              <a:avLst/>
            </a:prstGeom>
            <a:noFill/>
            <a:ln>
              <a:noFill/>
            </a:ln>
          </p:spPr>
          <p:txBody>
            <a:bodyPr wrap="none" lIns="0" tIns="0" rIns="0" bIns="0" anchor="t" anchorCtr="0">
              <a:spAutoFit/>
            </a:bodyPr>
            <a:lstStyle/>
            <a:p>
              <a:pPr algn="ctr"/>
              <a:r>
                <a:rPr lang="en-US" sz="1050" b="1" dirty="0">
                  <a:solidFill>
                    <a:srgbClr val="333333"/>
                  </a:solidFill>
                  <a:latin typeface="+mn-lt"/>
                  <a:ea typeface="+mn-ea"/>
                  <a:cs typeface="+mn-cs"/>
                </a:rPr>
                <a:t>+45K</a:t>
              </a:r>
            </a:p>
          </p:txBody>
        </p:sp>
        <p:sp>
          <p:nvSpPr>
            <p:cNvPr id="76" name="Rectangle 76"/>
            <p:cNvSpPr/>
            <p:nvPr/>
          </p:nvSpPr>
          <p:spPr>
            <a:xfrm>
              <a:off x="1524000" y="4933950"/>
              <a:ext cx="1714500" cy="285750"/>
            </a:xfrm>
            <a:prstGeom prst="rect">
              <a:avLst/>
            </a:prstGeom>
            <a:solidFill>
              <a:srgbClr val="FFFFFF"/>
            </a:solidFill>
            <a:ln w="9525">
              <a:solidFill>
                <a:srgbClr val="9C594C"/>
              </a:solidFill>
            </a:ln>
          </p:spPr>
        </p:sp>
        <p:sp>
          <p:nvSpPr>
            <p:cNvPr id="77" name="Rectangle 77"/>
            <p:cNvSpPr/>
            <p:nvPr/>
          </p:nvSpPr>
          <p:spPr>
            <a:xfrm>
              <a:off x="1600200" y="5000625"/>
              <a:ext cx="666750" cy="152400"/>
            </a:xfrm>
            <a:prstGeom prst="roundRect">
              <a:avLst>
                <a:gd name="adj" fmla="val 50000"/>
              </a:avLst>
            </a:prstGeom>
            <a:solidFill>
              <a:srgbClr val="9C594C"/>
            </a:solidFill>
            <a:ln>
              <a:noFill/>
            </a:ln>
          </p:spPr>
        </p:sp>
        <p:sp>
          <p:nvSpPr>
            <p:cNvPr id="78" name="TextBox 78"/>
            <p:cNvSpPr txBox="1"/>
            <p:nvPr/>
          </p:nvSpPr>
          <p:spPr>
            <a:xfrm>
              <a:off x="1745729" y="5042059"/>
              <a:ext cx="37569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内容数量</a:t>
              </a:r>
            </a:p>
          </p:txBody>
        </p:sp>
        <p:sp>
          <p:nvSpPr>
            <p:cNvPr id="79" name="TextBox 79"/>
            <p:cNvSpPr txBox="1"/>
            <p:nvPr/>
          </p:nvSpPr>
          <p:spPr>
            <a:xfrm>
              <a:off x="2636539" y="5020628"/>
              <a:ext cx="441922" cy="205359"/>
            </a:xfrm>
            <a:prstGeom prst="rect">
              <a:avLst/>
            </a:prstGeom>
            <a:noFill/>
            <a:ln>
              <a:noFill/>
            </a:ln>
          </p:spPr>
          <p:txBody>
            <a:bodyPr wrap="none" lIns="0" tIns="0" rIns="0" bIns="0" anchor="t" anchorCtr="0">
              <a:spAutoFit/>
            </a:bodyPr>
            <a:lstStyle/>
            <a:p>
              <a:pPr algn="ctr"/>
              <a:r>
                <a:rPr lang="en-US" sz="1050" b="1" dirty="0">
                  <a:solidFill>
                    <a:srgbClr val="333333"/>
                  </a:solidFill>
                  <a:latin typeface="+mn-lt"/>
                  <a:ea typeface="+mn-ea"/>
                  <a:cs typeface="+mn-cs"/>
                </a:rPr>
                <a:t>+117K</a:t>
              </a:r>
            </a:p>
          </p:txBody>
        </p:sp>
      </p:grpSp>
      <p:grpSp>
        <p:nvGrpSpPr>
          <p:cNvPr id="106" name="col2-gantt"/>
          <p:cNvGrpSpPr/>
          <p:nvPr/>
        </p:nvGrpSpPr>
        <p:grpSpPr>
          <a:xfrm>
            <a:off x="4300538" y="3588782"/>
            <a:ext cx="2452923" cy="1602581"/>
            <a:chOff x="4300538" y="3588782"/>
            <a:chExt cx="2452923" cy="1602581"/>
          </a:xfrm>
        </p:grpSpPr>
        <p:sp>
          <p:nvSpPr>
            <p:cNvPr id="81" name="TextBox 81"/>
            <p:cNvSpPr txBox="1"/>
            <p:nvPr/>
          </p:nvSpPr>
          <p:spPr>
            <a:xfrm>
              <a:off x="4685317" y="3588782"/>
              <a:ext cx="154366" cy="126206"/>
            </a:xfrm>
            <a:prstGeom prst="rect">
              <a:avLst/>
            </a:prstGeom>
            <a:noFill/>
            <a:ln>
              <a:noFill/>
            </a:ln>
          </p:spPr>
          <p:txBody>
            <a:bodyPr wrap="none" lIns="0" tIns="0" rIns="0" bIns="0" anchor="t" anchorCtr="0">
              <a:spAutoFit/>
            </a:bodyPr>
            <a:lstStyle/>
            <a:p>
              <a:pPr algn="ctr"/>
              <a:r>
                <a:rPr lang="en-US" sz="640" dirty="0">
                  <a:solidFill>
                    <a:srgbClr val="8C8C8C"/>
                  </a:solidFill>
                  <a:latin typeface="+mn-lt"/>
                  <a:ea typeface="+mn-ea"/>
                  <a:cs typeface="+mn-cs"/>
                </a:rPr>
                <a:t>Jan</a:t>
              </a:r>
            </a:p>
          </p:txBody>
        </p:sp>
        <p:sp>
          <p:nvSpPr>
            <p:cNvPr id="82" name="TextBox 82"/>
            <p:cNvSpPr txBox="1"/>
            <p:nvPr/>
          </p:nvSpPr>
          <p:spPr>
            <a:xfrm>
              <a:off x="5161567" y="3588782"/>
              <a:ext cx="154366" cy="126206"/>
            </a:xfrm>
            <a:prstGeom prst="rect">
              <a:avLst/>
            </a:prstGeom>
            <a:noFill/>
            <a:ln>
              <a:noFill/>
            </a:ln>
          </p:spPr>
          <p:txBody>
            <a:bodyPr wrap="none" lIns="0" tIns="0" rIns="0" bIns="0" anchor="t" anchorCtr="0">
              <a:spAutoFit/>
            </a:bodyPr>
            <a:lstStyle/>
            <a:p>
              <a:pPr algn="ctr"/>
              <a:r>
                <a:rPr lang="en-US" sz="640" dirty="0">
                  <a:solidFill>
                    <a:srgbClr val="8C8C8C"/>
                  </a:solidFill>
                  <a:latin typeface="+mn-lt"/>
                  <a:ea typeface="+mn-ea"/>
                  <a:cs typeface="+mn-cs"/>
                </a:rPr>
                <a:t>Feb</a:t>
              </a:r>
            </a:p>
          </p:txBody>
        </p:sp>
        <p:sp>
          <p:nvSpPr>
            <p:cNvPr id="83" name="TextBox 83"/>
            <p:cNvSpPr txBox="1"/>
            <p:nvPr/>
          </p:nvSpPr>
          <p:spPr>
            <a:xfrm>
              <a:off x="5629039" y="3588782"/>
              <a:ext cx="171922" cy="126206"/>
            </a:xfrm>
            <a:prstGeom prst="rect">
              <a:avLst/>
            </a:prstGeom>
            <a:noFill/>
            <a:ln>
              <a:noFill/>
            </a:ln>
          </p:spPr>
          <p:txBody>
            <a:bodyPr wrap="none" lIns="0" tIns="0" rIns="0" bIns="0" anchor="t" anchorCtr="0">
              <a:spAutoFit/>
            </a:bodyPr>
            <a:lstStyle/>
            <a:p>
              <a:pPr algn="ctr"/>
              <a:r>
                <a:rPr lang="en-US" sz="640" dirty="0">
                  <a:solidFill>
                    <a:srgbClr val="8C8C8C"/>
                  </a:solidFill>
                  <a:latin typeface="+mn-lt"/>
                  <a:ea typeface="+mn-ea"/>
                  <a:cs typeface="+mn-cs"/>
                </a:rPr>
                <a:t>Mar</a:t>
              </a:r>
            </a:p>
          </p:txBody>
        </p:sp>
        <p:sp>
          <p:nvSpPr>
            <p:cNvPr id="84" name="TextBox 84"/>
            <p:cNvSpPr txBox="1"/>
            <p:nvPr/>
          </p:nvSpPr>
          <p:spPr>
            <a:xfrm>
              <a:off x="6114067" y="3588782"/>
              <a:ext cx="154366" cy="126206"/>
            </a:xfrm>
            <a:prstGeom prst="rect">
              <a:avLst/>
            </a:prstGeom>
            <a:noFill/>
            <a:ln>
              <a:noFill/>
            </a:ln>
          </p:spPr>
          <p:txBody>
            <a:bodyPr wrap="none" lIns="0" tIns="0" rIns="0" bIns="0" anchor="t" anchorCtr="0">
              <a:spAutoFit/>
            </a:bodyPr>
            <a:lstStyle/>
            <a:p>
              <a:pPr algn="ctr"/>
              <a:r>
                <a:rPr lang="en-US" sz="640" dirty="0">
                  <a:solidFill>
                    <a:srgbClr val="8C8C8C"/>
                  </a:solidFill>
                  <a:latin typeface="+mn-lt"/>
                  <a:ea typeface="+mn-ea"/>
                  <a:cs typeface="+mn-cs"/>
                </a:rPr>
                <a:t>Apr</a:t>
              </a:r>
            </a:p>
          </p:txBody>
        </p:sp>
        <p:sp>
          <p:nvSpPr>
            <p:cNvPr id="85" name="TextBox 85"/>
            <p:cNvSpPr txBox="1"/>
            <p:nvPr/>
          </p:nvSpPr>
          <p:spPr>
            <a:xfrm>
              <a:off x="6581539" y="3588782"/>
              <a:ext cx="171922" cy="126206"/>
            </a:xfrm>
            <a:prstGeom prst="rect">
              <a:avLst/>
            </a:prstGeom>
            <a:noFill/>
            <a:ln>
              <a:noFill/>
            </a:ln>
          </p:spPr>
          <p:txBody>
            <a:bodyPr wrap="none" lIns="0" tIns="0" rIns="0" bIns="0" anchor="t" anchorCtr="0">
              <a:spAutoFit/>
            </a:bodyPr>
            <a:lstStyle/>
            <a:p>
              <a:pPr algn="ctr"/>
              <a:r>
                <a:rPr lang="en-US" sz="640" dirty="0">
                  <a:solidFill>
                    <a:srgbClr val="8C8C8C"/>
                  </a:solidFill>
                  <a:latin typeface="+mn-lt"/>
                  <a:ea typeface="+mn-ea"/>
                  <a:cs typeface="+mn-cs"/>
                </a:rPr>
                <a:t>May</a:t>
              </a:r>
            </a:p>
          </p:txBody>
        </p:sp>
        <p:sp>
          <p:nvSpPr>
            <p:cNvPr id="86" name="Line 86"/>
            <p:cNvSpPr/>
            <p:nvPr/>
          </p:nvSpPr>
          <p:spPr>
            <a:xfrm>
              <a:off x="4762500" y="3714750"/>
              <a:ext cx="9525" cy="1476375"/>
            </a:xfrm>
            <a:custGeom>
              <a:avLst/>
              <a:gdLst/>
              <a:ahLst/>
              <a:cxnLst/>
              <a:rect l="l" t="t" r="r" b="b"/>
              <a:pathLst>
                <a:path w="9525" h="1476375">
                  <a:moveTo>
                    <a:pt x="0" y="0"/>
                  </a:moveTo>
                  <a:lnTo>
                    <a:pt x="0" y="1476375"/>
                  </a:lnTo>
                </a:path>
              </a:pathLst>
            </a:custGeom>
            <a:noFill/>
            <a:ln w="9525">
              <a:solidFill>
                <a:srgbClr val="E5E0D0"/>
              </a:solidFill>
              <a:custDash>
                <a:ds d="200000" sp="300000"/>
              </a:custDash>
            </a:ln>
          </p:spPr>
        </p:sp>
        <p:sp>
          <p:nvSpPr>
            <p:cNvPr id="87" name="Line 87"/>
            <p:cNvSpPr/>
            <p:nvPr/>
          </p:nvSpPr>
          <p:spPr>
            <a:xfrm>
              <a:off x="5238750" y="3714750"/>
              <a:ext cx="9525" cy="1476375"/>
            </a:xfrm>
            <a:custGeom>
              <a:avLst/>
              <a:gdLst/>
              <a:ahLst/>
              <a:cxnLst/>
              <a:rect l="l" t="t" r="r" b="b"/>
              <a:pathLst>
                <a:path w="9525" h="1476375">
                  <a:moveTo>
                    <a:pt x="0" y="0"/>
                  </a:moveTo>
                  <a:lnTo>
                    <a:pt x="0" y="1476375"/>
                  </a:lnTo>
                </a:path>
              </a:pathLst>
            </a:custGeom>
            <a:noFill/>
            <a:ln w="9525">
              <a:solidFill>
                <a:srgbClr val="E5E0D0"/>
              </a:solidFill>
              <a:custDash>
                <a:ds d="200000" sp="300000"/>
              </a:custDash>
            </a:ln>
          </p:spPr>
        </p:sp>
        <p:sp>
          <p:nvSpPr>
            <p:cNvPr id="88" name="Line 88"/>
            <p:cNvSpPr/>
            <p:nvPr/>
          </p:nvSpPr>
          <p:spPr>
            <a:xfrm>
              <a:off x="5715000" y="3714750"/>
              <a:ext cx="9525" cy="1476375"/>
            </a:xfrm>
            <a:custGeom>
              <a:avLst/>
              <a:gdLst/>
              <a:ahLst/>
              <a:cxnLst/>
              <a:rect l="l" t="t" r="r" b="b"/>
              <a:pathLst>
                <a:path w="9525" h="1476375">
                  <a:moveTo>
                    <a:pt x="0" y="0"/>
                  </a:moveTo>
                  <a:lnTo>
                    <a:pt x="0" y="1476375"/>
                  </a:lnTo>
                </a:path>
              </a:pathLst>
            </a:custGeom>
            <a:noFill/>
            <a:ln w="9525">
              <a:solidFill>
                <a:srgbClr val="E5E0D0"/>
              </a:solidFill>
              <a:custDash>
                <a:ds d="200000" sp="300000"/>
              </a:custDash>
            </a:ln>
          </p:spPr>
        </p:sp>
        <p:sp>
          <p:nvSpPr>
            <p:cNvPr id="89" name="Line 89"/>
            <p:cNvSpPr/>
            <p:nvPr/>
          </p:nvSpPr>
          <p:spPr>
            <a:xfrm>
              <a:off x="6191250" y="3714750"/>
              <a:ext cx="9525" cy="1476375"/>
            </a:xfrm>
            <a:custGeom>
              <a:avLst/>
              <a:gdLst/>
              <a:ahLst/>
              <a:cxnLst/>
              <a:rect l="l" t="t" r="r" b="b"/>
              <a:pathLst>
                <a:path w="9525" h="1476375">
                  <a:moveTo>
                    <a:pt x="0" y="0"/>
                  </a:moveTo>
                  <a:lnTo>
                    <a:pt x="0" y="1476375"/>
                  </a:lnTo>
                </a:path>
              </a:pathLst>
            </a:custGeom>
            <a:noFill/>
            <a:ln w="9525">
              <a:solidFill>
                <a:srgbClr val="E5E0D0"/>
              </a:solidFill>
              <a:custDash>
                <a:ds d="200000" sp="300000"/>
              </a:custDash>
            </a:ln>
          </p:spPr>
        </p:sp>
        <p:sp>
          <p:nvSpPr>
            <p:cNvPr id="90" name="Line 90"/>
            <p:cNvSpPr/>
            <p:nvPr/>
          </p:nvSpPr>
          <p:spPr>
            <a:xfrm>
              <a:off x="6667500" y="3714750"/>
              <a:ext cx="9525" cy="1476375"/>
            </a:xfrm>
            <a:custGeom>
              <a:avLst/>
              <a:gdLst/>
              <a:ahLst/>
              <a:cxnLst/>
              <a:rect l="l" t="t" r="r" b="b"/>
              <a:pathLst>
                <a:path w="9525" h="1476375">
                  <a:moveTo>
                    <a:pt x="0" y="0"/>
                  </a:moveTo>
                  <a:lnTo>
                    <a:pt x="0" y="1476375"/>
                  </a:lnTo>
                </a:path>
              </a:pathLst>
            </a:custGeom>
            <a:noFill/>
            <a:ln w="9525">
              <a:solidFill>
                <a:srgbClr val="E5E0D0"/>
              </a:solidFill>
              <a:custDash>
                <a:ds d="200000" sp="300000"/>
              </a:custDash>
            </a:ln>
          </p:spPr>
        </p:sp>
        <p:sp>
          <p:nvSpPr>
            <p:cNvPr id="91" name="TextBox 91"/>
            <p:cNvSpPr txBox="1"/>
            <p:nvPr/>
          </p:nvSpPr>
          <p:spPr>
            <a:xfrm>
              <a:off x="4300538" y="3741182"/>
              <a:ext cx="253365" cy="230981"/>
            </a:xfrm>
            <a:prstGeom prst="rect">
              <a:avLst/>
            </a:prstGeom>
            <a:noFill/>
            <a:ln>
              <a:noFill/>
            </a:ln>
          </p:spPr>
          <p:txBody>
            <a:bodyPr wrap="none" lIns="0" tIns="0" rIns="0" bIns="0" anchor="t" anchorCtr="0">
              <a:spAutoFit/>
            </a:bodyPr>
            <a:lstStyle/>
            <a:p>
              <a:pPr algn="l">
                <a:lnSpc>
                  <a:spcPts val="825"/>
                </a:lnSpc>
              </a:pPr>
              <a:r>
                <a:rPr lang="zh-CN" sz="640" dirty="0">
                  <a:solidFill>
                    <a:srgbClr val="D6391E"/>
                  </a:solidFill>
                  <a:latin typeface="+mn-lt"/>
                  <a:ea typeface="+mn-ea"/>
                  <a:cs typeface="+mn-cs"/>
                </a:rPr>
                <a:t>开发应</a:t>
              </a:r>
              <a:br/>
              <a:r>
                <a:rPr lang="zh-CN" sz="640" dirty="0">
                  <a:solidFill>
                    <a:srgbClr val="D6391E"/>
                  </a:solidFill>
                  <a:latin typeface="+mn-lt"/>
                  <a:ea typeface="+mn-ea"/>
                  <a:cs typeface="+mn-cs"/>
                </a:rPr>
                <a:t>用程序</a:t>
              </a:r>
            </a:p>
          </p:txBody>
        </p:sp>
        <p:sp>
          <p:nvSpPr>
            <p:cNvPr id="92" name="Rectangle 92"/>
            <p:cNvSpPr/>
            <p:nvPr/>
          </p:nvSpPr>
          <p:spPr>
            <a:xfrm>
              <a:off x="4572000" y="3733800"/>
              <a:ext cx="571500" cy="171450"/>
            </a:xfrm>
            <a:prstGeom prst="rect">
              <a:avLst/>
            </a:prstGeom>
            <a:solidFill>
              <a:srgbClr val="E9563C"/>
            </a:solidFill>
            <a:ln>
              <a:noFill/>
            </a:ln>
          </p:spPr>
        </p:sp>
        <p:sp>
          <p:nvSpPr>
            <p:cNvPr id="93" name="TextBox 93"/>
            <p:cNvSpPr txBox="1"/>
            <p:nvPr/>
          </p:nvSpPr>
          <p:spPr>
            <a:xfrm>
              <a:off x="4680674" y="3788807"/>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工期正常</a:t>
              </a:r>
            </a:p>
          </p:txBody>
        </p:sp>
        <p:sp>
          <p:nvSpPr>
            <p:cNvPr id="94" name="TextBox 94"/>
            <p:cNvSpPr txBox="1"/>
            <p:nvPr/>
          </p:nvSpPr>
          <p:spPr>
            <a:xfrm>
              <a:off x="4300538" y="4045982"/>
              <a:ext cx="253365" cy="230981"/>
            </a:xfrm>
            <a:prstGeom prst="rect">
              <a:avLst/>
            </a:prstGeom>
            <a:noFill/>
            <a:ln>
              <a:noFill/>
            </a:ln>
          </p:spPr>
          <p:txBody>
            <a:bodyPr wrap="none" lIns="0" tIns="0" rIns="0" bIns="0" anchor="t" anchorCtr="0">
              <a:spAutoFit/>
            </a:bodyPr>
            <a:lstStyle/>
            <a:p>
              <a:pPr algn="l">
                <a:lnSpc>
                  <a:spcPts val="825"/>
                </a:lnSpc>
              </a:pPr>
              <a:r>
                <a:rPr lang="zh-CN" sz="640" dirty="0">
                  <a:solidFill>
                    <a:srgbClr val="D6391E"/>
                  </a:solidFill>
                  <a:latin typeface="+mn-lt"/>
                  <a:ea typeface="+mn-ea"/>
                  <a:cs typeface="+mn-cs"/>
                </a:rPr>
                <a:t>修改构</a:t>
              </a:r>
              <a:br/>
              <a:r>
                <a:rPr lang="zh-CN" sz="640" dirty="0">
                  <a:solidFill>
                    <a:srgbClr val="D6391E"/>
                  </a:solidFill>
                  <a:latin typeface="+mn-lt"/>
                  <a:ea typeface="+mn-ea"/>
                  <a:cs typeface="+mn-cs"/>
                </a:rPr>
                <a:t>建</a:t>
              </a:r>
            </a:p>
          </p:txBody>
        </p:sp>
        <p:sp>
          <p:nvSpPr>
            <p:cNvPr id="95" name="Rectangle 95"/>
            <p:cNvSpPr/>
            <p:nvPr/>
          </p:nvSpPr>
          <p:spPr>
            <a:xfrm>
              <a:off x="4953000" y="4038600"/>
              <a:ext cx="533400" cy="171450"/>
            </a:xfrm>
            <a:prstGeom prst="rect">
              <a:avLst/>
            </a:prstGeom>
            <a:solidFill>
              <a:srgbClr val="E9563C"/>
            </a:solidFill>
            <a:ln>
              <a:noFill/>
            </a:ln>
          </p:spPr>
        </p:sp>
        <p:sp>
          <p:nvSpPr>
            <p:cNvPr id="96" name="TextBox 96"/>
            <p:cNvSpPr txBox="1"/>
            <p:nvPr/>
          </p:nvSpPr>
          <p:spPr>
            <a:xfrm>
              <a:off x="5042624" y="4093607"/>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工期正常</a:t>
              </a:r>
            </a:p>
          </p:txBody>
        </p:sp>
        <p:sp>
          <p:nvSpPr>
            <p:cNvPr id="97" name="TextBox 97"/>
            <p:cNvSpPr txBox="1"/>
            <p:nvPr/>
          </p:nvSpPr>
          <p:spPr>
            <a:xfrm>
              <a:off x="4300538" y="4350782"/>
              <a:ext cx="253365" cy="230981"/>
            </a:xfrm>
            <a:prstGeom prst="rect">
              <a:avLst/>
            </a:prstGeom>
            <a:noFill/>
            <a:ln>
              <a:noFill/>
            </a:ln>
          </p:spPr>
          <p:txBody>
            <a:bodyPr wrap="none" lIns="0" tIns="0" rIns="0" bIns="0" anchor="t" anchorCtr="0">
              <a:spAutoFit/>
            </a:bodyPr>
            <a:lstStyle/>
            <a:p>
              <a:pPr algn="l">
                <a:lnSpc>
                  <a:spcPts val="825"/>
                </a:lnSpc>
              </a:pPr>
              <a:r>
                <a:rPr lang="zh-CN" sz="640" dirty="0">
                  <a:solidFill>
                    <a:srgbClr val="D6391E"/>
                  </a:solidFill>
                  <a:latin typeface="+mn-lt"/>
                  <a:ea typeface="+mn-ea"/>
                  <a:cs typeface="+mn-cs"/>
                </a:rPr>
                <a:t>构建测</a:t>
              </a:r>
              <a:br/>
              <a:r>
                <a:rPr lang="zh-CN" sz="640" dirty="0">
                  <a:solidFill>
                    <a:srgbClr val="D6391E"/>
                  </a:solidFill>
                  <a:latin typeface="+mn-lt"/>
                  <a:ea typeface="+mn-ea"/>
                  <a:cs typeface="+mn-cs"/>
                </a:rPr>
                <a:t>试脚本</a:t>
              </a:r>
            </a:p>
          </p:txBody>
        </p:sp>
        <p:sp>
          <p:nvSpPr>
            <p:cNvPr id="98" name="Rectangle 98"/>
            <p:cNvSpPr/>
            <p:nvPr/>
          </p:nvSpPr>
          <p:spPr>
            <a:xfrm>
              <a:off x="5191125" y="4343400"/>
              <a:ext cx="857250" cy="171450"/>
            </a:xfrm>
            <a:prstGeom prst="rect">
              <a:avLst/>
            </a:prstGeom>
            <a:solidFill>
              <a:srgbClr val="E9563C"/>
            </a:solidFill>
            <a:ln>
              <a:noFill/>
            </a:ln>
          </p:spPr>
        </p:sp>
        <p:sp>
          <p:nvSpPr>
            <p:cNvPr id="99" name="TextBox 99"/>
            <p:cNvSpPr txBox="1"/>
            <p:nvPr/>
          </p:nvSpPr>
          <p:spPr>
            <a:xfrm>
              <a:off x="5442674" y="4398407"/>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工期偏长</a:t>
              </a:r>
            </a:p>
          </p:txBody>
        </p:sp>
        <p:sp>
          <p:nvSpPr>
            <p:cNvPr id="100" name="TextBox 100"/>
            <p:cNvSpPr txBox="1"/>
            <p:nvPr/>
          </p:nvSpPr>
          <p:spPr>
            <a:xfrm>
              <a:off x="4300538" y="4655582"/>
              <a:ext cx="188341" cy="230981"/>
            </a:xfrm>
            <a:prstGeom prst="rect">
              <a:avLst/>
            </a:prstGeom>
            <a:noFill/>
            <a:ln>
              <a:noFill/>
            </a:ln>
          </p:spPr>
          <p:txBody>
            <a:bodyPr wrap="none" lIns="0" tIns="0" rIns="0" bIns="0" anchor="t" anchorCtr="0">
              <a:spAutoFit/>
            </a:bodyPr>
            <a:lstStyle/>
            <a:p>
              <a:pPr algn="l">
                <a:lnSpc>
                  <a:spcPts val="825"/>
                </a:lnSpc>
              </a:pPr>
              <a:r>
                <a:rPr lang="zh-CN" sz="640" dirty="0">
                  <a:solidFill>
                    <a:srgbClr val="D6391E"/>
                  </a:solidFill>
                  <a:latin typeface="+mn-lt"/>
                  <a:ea typeface="+mn-ea"/>
                  <a:cs typeface="+mn-cs"/>
                </a:rPr>
                <a:t>修复</a:t>
              </a:r>
              <a:br/>
              <a:r>
                <a:rPr lang="en-US" sz="640" dirty="0">
                  <a:solidFill>
                    <a:srgbClr val="D6391E"/>
                  </a:solidFill>
                  <a:latin typeface="+mn-lt"/>
                  <a:ea typeface="+mn-ea"/>
                  <a:cs typeface="+mn-cs"/>
                </a:rPr>
                <a:t>bug​</a:t>
              </a:r>
            </a:p>
          </p:txBody>
        </p:sp>
        <p:sp>
          <p:nvSpPr>
            <p:cNvPr id="101" name="Rectangle 101"/>
            <p:cNvSpPr/>
            <p:nvPr/>
          </p:nvSpPr>
          <p:spPr>
            <a:xfrm>
              <a:off x="5429250" y="4648200"/>
              <a:ext cx="1047750" cy="171450"/>
            </a:xfrm>
            <a:prstGeom prst="rect">
              <a:avLst/>
            </a:prstGeom>
            <a:solidFill>
              <a:srgbClr val="9C594C"/>
            </a:solidFill>
            <a:ln>
              <a:noFill/>
            </a:ln>
          </p:spPr>
        </p:sp>
        <p:sp>
          <p:nvSpPr>
            <p:cNvPr id="102" name="TextBox 102"/>
            <p:cNvSpPr txBox="1"/>
            <p:nvPr/>
          </p:nvSpPr>
          <p:spPr>
            <a:xfrm>
              <a:off x="5776049" y="4703207"/>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工期较长</a:t>
              </a:r>
            </a:p>
          </p:txBody>
        </p:sp>
        <p:sp>
          <p:nvSpPr>
            <p:cNvPr id="103" name="TextBox 103"/>
            <p:cNvSpPr txBox="1"/>
            <p:nvPr/>
          </p:nvSpPr>
          <p:spPr>
            <a:xfrm>
              <a:off x="4300538" y="4960382"/>
              <a:ext cx="253365" cy="230981"/>
            </a:xfrm>
            <a:prstGeom prst="rect">
              <a:avLst/>
            </a:prstGeom>
            <a:noFill/>
            <a:ln>
              <a:noFill/>
            </a:ln>
          </p:spPr>
          <p:txBody>
            <a:bodyPr wrap="none" lIns="0" tIns="0" rIns="0" bIns="0" anchor="t" anchorCtr="0">
              <a:spAutoFit/>
            </a:bodyPr>
            <a:lstStyle/>
            <a:p>
              <a:pPr algn="l">
                <a:lnSpc>
                  <a:spcPts val="825"/>
                </a:lnSpc>
              </a:pPr>
              <a:r>
                <a:rPr lang="zh-CN" sz="640" dirty="0">
                  <a:solidFill>
                    <a:srgbClr val="D6391E"/>
                  </a:solidFill>
                  <a:latin typeface="+mn-lt"/>
                  <a:ea typeface="+mn-ea"/>
                  <a:cs typeface="+mn-cs"/>
                </a:rPr>
                <a:t>发布到</a:t>
              </a:r>
              <a:br/>
              <a:r>
                <a:rPr lang="zh-CN" sz="640" dirty="0">
                  <a:solidFill>
                    <a:srgbClr val="D6391E"/>
                  </a:solidFill>
                  <a:latin typeface="+mn-lt"/>
                  <a:ea typeface="+mn-ea"/>
                  <a:cs typeface="+mn-cs"/>
                </a:rPr>
                <a:t>制造</a:t>
              </a:r>
            </a:p>
          </p:txBody>
        </p:sp>
        <p:sp>
          <p:nvSpPr>
            <p:cNvPr id="104" name="Rectangle 104"/>
            <p:cNvSpPr/>
            <p:nvPr/>
          </p:nvSpPr>
          <p:spPr>
            <a:xfrm>
              <a:off x="4572000" y="4953000"/>
              <a:ext cx="1905000" cy="171450"/>
            </a:xfrm>
            <a:prstGeom prst="rect">
              <a:avLst/>
            </a:prstGeom>
            <a:solidFill>
              <a:srgbClr val="E9563C"/>
            </a:solidFill>
            <a:ln>
              <a:noFill/>
            </a:ln>
          </p:spPr>
        </p:sp>
        <p:sp>
          <p:nvSpPr>
            <p:cNvPr id="105" name="TextBox 105"/>
            <p:cNvSpPr txBox="1"/>
            <p:nvPr/>
          </p:nvSpPr>
          <p:spPr>
            <a:xfrm>
              <a:off x="5347424" y="5008007"/>
              <a:ext cx="354152"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超出工期</a:t>
              </a:r>
            </a:p>
          </p:txBody>
        </p:sp>
      </p:grpSp>
      <p:grpSp>
        <p:nvGrpSpPr>
          <p:cNvPr id="154" name="col3-risk"/>
          <p:cNvGrpSpPr/>
          <p:nvPr/>
        </p:nvGrpSpPr>
        <p:grpSpPr>
          <a:xfrm>
            <a:off x="8186166" y="3620452"/>
            <a:ext cx="3434334" cy="1837611"/>
            <a:chOff x="8186166" y="3620452"/>
            <a:chExt cx="3434334" cy="1837611"/>
          </a:xfrm>
        </p:grpSpPr>
        <p:sp>
          <p:nvSpPr>
            <p:cNvPr id="107" name="TextBox 107"/>
            <p:cNvSpPr txBox="1"/>
            <p:nvPr/>
          </p:nvSpPr>
          <p:spPr>
            <a:xfrm>
              <a:off x="8186166" y="3620452"/>
              <a:ext cx="1000125" cy="205359"/>
            </a:xfrm>
            <a:prstGeom prst="rect">
              <a:avLst/>
            </a:prstGeom>
            <a:noFill/>
            <a:ln>
              <a:noFill/>
            </a:ln>
          </p:spPr>
          <p:txBody>
            <a:bodyPr wrap="none" lIns="0" tIns="0" rIns="0" bIns="0" anchor="t" anchorCtr="0">
              <a:spAutoFit/>
            </a:bodyPr>
            <a:lstStyle/>
            <a:p>
              <a:pPr algn="l"/>
              <a:r>
                <a:rPr lang="zh-CN" sz="1050" b="1" dirty="0">
                  <a:solidFill>
                    <a:srgbClr val="7A3E33"/>
                  </a:solidFill>
                  <a:latin typeface="+mn-lt"/>
                  <a:ea typeface="+mn-ea"/>
                  <a:cs typeface="+mn-cs"/>
                </a:rPr>
                <a:t>高风险系统开发</a:t>
              </a:r>
            </a:p>
          </p:txBody>
        </p:sp>
        <p:sp>
          <p:nvSpPr>
            <p:cNvPr id="108" name="TextBox 108"/>
            <p:cNvSpPr txBox="1"/>
            <p:nvPr/>
          </p:nvSpPr>
          <p:spPr>
            <a:xfrm>
              <a:off x="8186738" y="3832384"/>
              <a:ext cx="2254885" cy="247650"/>
            </a:xfrm>
            <a:prstGeom prst="rect">
              <a:avLst/>
            </a:prstGeom>
            <a:noFill/>
            <a:ln>
              <a:noFill/>
            </a:ln>
          </p:spPr>
          <p:txBody>
            <a:bodyPr wrap="none" lIns="0" tIns="0" rIns="0" bIns="0" anchor="t" anchorCtr="0">
              <a:spAutoFit/>
            </a:bodyPr>
            <a:lstStyle/>
            <a:p>
              <a:pPr algn="l">
                <a:lnSpc>
                  <a:spcPts val="900"/>
                </a:lnSpc>
              </a:pPr>
              <a:r>
                <a:rPr lang="zh-CN" sz="680" dirty="0">
                  <a:solidFill>
                    <a:srgbClr val="595959"/>
                  </a:solidFill>
                  <a:latin typeface="+mn-lt"/>
                  <a:ea typeface="+mn-ea"/>
                  <a:cs typeface="+mn-cs"/>
                </a:rPr>
                <a:t>在不损害其价值交易的情况下有效释放一般信息在不损害其</a:t>
              </a:r>
              <a:br/>
              <a:r>
                <a:rPr lang="zh-CN" sz="680" dirty="0">
                  <a:solidFill>
                    <a:srgbClr val="595959"/>
                  </a:solidFill>
                  <a:latin typeface="+mn-lt"/>
                  <a:ea typeface="+mn-ea"/>
                  <a:cs typeface="+mn-cs"/>
                </a:rPr>
                <a:t>价值交易的情况下</a:t>
              </a:r>
            </a:p>
          </p:txBody>
        </p:sp>
        <p:sp>
          <p:nvSpPr>
            <p:cNvPr id="109" name="TextBox 109"/>
            <p:cNvSpPr txBox="1"/>
            <p:nvPr/>
          </p:nvSpPr>
          <p:spPr>
            <a:xfrm>
              <a:off x="8186738" y="4122182"/>
              <a:ext cx="354152"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风险评估</a:t>
              </a:r>
            </a:p>
          </p:txBody>
        </p:sp>
        <p:sp>
          <p:nvSpPr>
            <p:cNvPr id="110" name="Rectangle 110"/>
            <p:cNvSpPr/>
            <p:nvPr/>
          </p:nvSpPr>
          <p:spPr>
            <a:xfrm>
              <a:off x="8191500" y="4248150"/>
              <a:ext cx="3429000" cy="152400"/>
            </a:xfrm>
            <a:prstGeom prst="roundRect">
              <a:avLst>
                <a:gd name="adj" fmla="val 50000"/>
              </a:avLst>
            </a:prstGeom>
            <a:solidFill>
              <a:srgbClr val="E5E9E2"/>
            </a:solidFill>
            <a:ln>
              <a:noFill/>
            </a:ln>
          </p:spPr>
        </p:sp>
        <p:sp>
          <p:nvSpPr>
            <p:cNvPr id="111" name="Rectangle 111"/>
            <p:cNvSpPr/>
            <p:nvPr/>
          </p:nvSpPr>
          <p:spPr>
            <a:xfrm>
              <a:off x="8191500" y="4248150"/>
              <a:ext cx="2057400" cy="152400"/>
            </a:xfrm>
            <a:prstGeom prst="roundRect">
              <a:avLst>
                <a:gd name="adj" fmla="val 50000"/>
              </a:avLst>
            </a:prstGeom>
            <a:solidFill>
              <a:srgbClr val="9C594C"/>
            </a:solidFill>
            <a:ln>
              <a:noFill/>
            </a:ln>
          </p:spPr>
        </p:sp>
        <p:sp>
          <p:nvSpPr>
            <p:cNvPr id="112" name="TextBox 112"/>
            <p:cNvSpPr txBox="1"/>
            <p:nvPr/>
          </p:nvSpPr>
          <p:spPr>
            <a:xfrm>
              <a:off x="8567738" y="4301728"/>
              <a:ext cx="613700" cy="111919"/>
            </a:xfrm>
            <a:prstGeom prst="rect">
              <a:avLst/>
            </a:prstGeom>
            <a:noFill/>
            <a:ln>
              <a:noFill/>
            </a:ln>
          </p:spPr>
          <p:txBody>
            <a:bodyPr wrap="none" lIns="0" tIns="0" rIns="0" bIns="0" anchor="t" anchorCtr="0">
              <a:spAutoFit/>
            </a:bodyPr>
            <a:lstStyle/>
            <a:p>
              <a:pPr algn="l"/>
              <a:r>
                <a:rPr lang="en-US" sz="560" dirty="0">
                  <a:solidFill>
                    <a:srgbClr val="FFFFFF"/>
                  </a:solidFill>
                  <a:latin typeface="+mn-lt"/>
                  <a:ea typeface="+mn-ea"/>
                  <a:cs typeface="+mn-cs"/>
                </a:rPr>
                <a:t>Risk Assessment</a:t>
              </a:r>
            </a:p>
          </p:txBody>
        </p:sp>
        <p:sp>
          <p:nvSpPr>
            <p:cNvPr id="113" name="TextBox 113"/>
            <p:cNvSpPr txBox="1"/>
            <p:nvPr/>
          </p:nvSpPr>
          <p:spPr>
            <a:xfrm>
              <a:off x="10853738" y="4293632"/>
              <a:ext cx="168915" cy="126206"/>
            </a:xfrm>
            <a:prstGeom prst="rect">
              <a:avLst/>
            </a:prstGeom>
            <a:noFill/>
            <a:ln>
              <a:noFill/>
            </a:ln>
          </p:spPr>
          <p:txBody>
            <a:bodyPr wrap="none" lIns="0" tIns="0" rIns="0" bIns="0" anchor="t" anchorCtr="0">
              <a:spAutoFit/>
            </a:bodyPr>
            <a:lstStyle/>
            <a:p>
              <a:pPr algn="l"/>
              <a:r>
                <a:rPr lang="zh-CN" sz="640" dirty="0">
                  <a:solidFill>
                    <a:srgbClr val="333333"/>
                  </a:solidFill>
                  <a:latin typeface="+mn-lt"/>
                  <a:ea typeface="+mn-ea"/>
                  <a:cs typeface="+mn-cs"/>
                </a:rPr>
                <a:t>60%</a:t>
              </a:r>
            </a:p>
          </p:txBody>
        </p:sp>
        <p:sp>
          <p:nvSpPr>
            <p:cNvPr id="114" name="Rectangle 114"/>
            <p:cNvSpPr/>
            <p:nvPr/>
          </p:nvSpPr>
          <p:spPr>
            <a:xfrm>
              <a:off x="8191500" y="4495800"/>
              <a:ext cx="3429000" cy="209550"/>
            </a:xfrm>
            <a:prstGeom prst="rect">
              <a:avLst/>
            </a:prstGeom>
            <a:solidFill>
              <a:srgbClr val="FFFFFF"/>
            </a:solidFill>
            <a:ln w="9525">
              <a:solidFill>
                <a:srgbClr val="C9D8BD"/>
              </a:solidFill>
            </a:ln>
          </p:spPr>
        </p:sp>
        <p:sp>
          <p:nvSpPr>
            <p:cNvPr id="115" name="TextBox 115"/>
            <p:cNvSpPr txBox="1"/>
            <p:nvPr/>
          </p:nvSpPr>
          <p:spPr>
            <a:xfrm>
              <a:off x="8281988" y="4565809"/>
              <a:ext cx="467233"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开放式评估</a:t>
              </a:r>
            </a:p>
          </p:txBody>
        </p:sp>
        <p:sp>
          <p:nvSpPr>
            <p:cNvPr id="116" name="Rectangle 116"/>
            <p:cNvSpPr/>
            <p:nvPr/>
          </p:nvSpPr>
          <p:spPr>
            <a:xfrm>
              <a:off x="9525000" y="4495800"/>
              <a:ext cx="571500" cy="209550"/>
            </a:xfrm>
            <a:prstGeom prst="rect">
              <a:avLst/>
            </a:prstGeom>
            <a:solidFill>
              <a:srgbClr val="F7B9AE"/>
            </a:solidFill>
            <a:ln>
              <a:noFill/>
            </a:ln>
          </p:spPr>
        </p:sp>
        <p:sp>
          <p:nvSpPr>
            <p:cNvPr id="117" name="TextBox 117"/>
            <p:cNvSpPr txBox="1"/>
            <p:nvPr/>
          </p:nvSpPr>
          <p:spPr>
            <a:xfrm>
              <a:off x="9776834" y="4567238"/>
              <a:ext cx="67832"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2</a:t>
              </a:r>
            </a:p>
          </p:txBody>
        </p:sp>
        <p:sp>
          <p:nvSpPr>
            <p:cNvPr id="118" name="Rectangle 118"/>
            <p:cNvSpPr/>
            <p:nvPr/>
          </p:nvSpPr>
          <p:spPr>
            <a:xfrm>
              <a:off x="10096500" y="4495800"/>
              <a:ext cx="571500" cy="209550"/>
            </a:xfrm>
            <a:prstGeom prst="rect">
              <a:avLst/>
            </a:prstGeom>
            <a:solidFill>
              <a:srgbClr val="DFF0D2"/>
            </a:solidFill>
            <a:ln>
              <a:noFill/>
            </a:ln>
          </p:spPr>
        </p:sp>
        <p:sp>
          <p:nvSpPr>
            <p:cNvPr id="119" name="TextBox 119"/>
            <p:cNvSpPr txBox="1"/>
            <p:nvPr/>
          </p:nvSpPr>
          <p:spPr>
            <a:xfrm>
              <a:off x="10348334" y="4567238"/>
              <a:ext cx="67832"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1</a:t>
              </a:r>
            </a:p>
          </p:txBody>
        </p:sp>
        <p:sp>
          <p:nvSpPr>
            <p:cNvPr id="120" name="Rectangle 120"/>
            <p:cNvSpPr/>
            <p:nvPr/>
          </p:nvSpPr>
          <p:spPr>
            <a:xfrm>
              <a:off x="10668000" y="4495800"/>
              <a:ext cx="571500" cy="209550"/>
            </a:xfrm>
            <a:prstGeom prst="rect">
              <a:avLst/>
            </a:prstGeom>
            <a:solidFill>
              <a:srgbClr val="F4F8EF"/>
            </a:solidFill>
            <a:ln>
              <a:noFill/>
            </a:ln>
          </p:spPr>
        </p:sp>
        <p:sp>
          <p:nvSpPr>
            <p:cNvPr id="121" name="TextBox 121"/>
            <p:cNvSpPr txBox="1"/>
            <p:nvPr/>
          </p:nvSpPr>
          <p:spPr>
            <a:xfrm>
              <a:off x="10919834" y="4567238"/>
              <a:ext cx="67832"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3</a:t>
              </a:r>
            </a:p>
          </p:txBody>
        </p:sp>
        <p:sp>
          <p:nvSpPr>
            <p:cNvPr id="122" name="Ellipse 122"/>
            <p:cNvSpPr/>
            <p:nvPr/>
          </p:nvSpPr>
          <p:spPr>
            <a:xfrm>
              <a:off x="8305800" y="4800600"/>
              <a:ext cx="342900" cy="342900"/>
            </a:xfrm>
            <a:prstGeom prst="ellipse">
              <a:avLst/>
            </a:prstGeom>
            <a:solidFill>
              <a:srgbClr val="9C594C"/>
            </a:solidFill>
            <a:ln>
              <a:noFill/>
            </a:ln>
          </p:spPr>
        </p:sp>
        <p:grpSp>
          <p:nvGrpSpPr>
            <p:cNvPr id="128" name="Group 128"/>
            <p:cNvGrpSpPr/>
            <p:nvPr/>
          </p:nvGrpSpPr>
          <p:grpSpPr>
            <a:xfrm>
              <a:off x="8421687" y="4900612"/>
              <a:ext cx="111125" cy="142875"/>
              <a:chOff x="8421687" y="4900612"/>
              <a:chExt cx="111125" cy="142875"/>
            </a:xfrm>
          </p:grpSpPr>
          <p:sp>
            <p:nvSpPr>
              <p:cNvPr id="123" name="Freeform 123"/>
              <p:cNvSpPr/>
              <p:nvPr/>
            </p:nvSpPr>
            <p:spPr>
              <a:xfrm>
                <a:off x="8493125" y="490061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FFFFFF"/>
                </a:solidFill>
              </a:ln>
            </p:spPr>
          </p:sp>
          <p:sp>
            <p:nvSpPr>
              <p:cNvPr id="124" name="Freeform 124"/>
              <p:cNvSpPr/>
              <p:nvPr/>
            </p:nvSpPr>
            <p:spPr>
              <a:xfrm>
                <a:off x="8421687" y="490061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FFFFFF"/>
                </a:solidFill>
              </a:ln>
            </p:spPr>
          </p:sp>
          <p:sp>
            <p:nvSpPr>
              <p:cNvPr id="125" name="Freeform 125"/>
              <p:cNvSpPr/>
              <p:nvPr/>
            </p:nvSpPr>
            <p:spPr>
              <a:xfrm>
                <a:off x="8453437" y="4948237"/>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26" name="Freeform 126"/>
              <p:cNvSpPr/>
              <p:nvPr/>
            </p:nvSpPr>
            <p:spPr>
              <a:xfrm>
                <a:off x="8453437" y="4979987"/>
                <a:ext cx="47625" cy="9525"/>
              </a:xfrm>
              <a:custGeom>
                <a:avLst/>
                <a:gdLst/>
                <a:ahLst/>
                <a:cxnLst/>
                <a:rect l="l" t="t" r="r" b="b"/>
                <a:pathLst>
                  <a:path w="47625" h="9525">
                    <a:moveTo>
                      <a:pt x="0" y="0"/>
                    </a:moveTo>
                    <a:lnTo>
                      <a:pt x="47625" y="0"/>
                    </a:lnTo>
                  </a:path>
                </a:pathLst>
              </a:custGeom>
              <a:noFill/>
              <a:ln w="15875">
                <a:solidFill>
                  <a:srgbClr val="FFFFFF"/>
                </a:solidFill>
              </a:ln>
            </p:spPr>
          </p:sp>
          <p:sp>
            <p:nvSpPr>
              <p:cNvPr id="127" name="Freeform 127"/>
              <p:cNvSpPr/>
              <p:nvPr/>
            </p:nvSpPr>
            <p:spPr>
              <a:xfrm>
                <a:off x="8453437" y="5011737"/>
                <a:ext cx="47625" cy="9525"/>
              </a:xfrm>
              <a:custGeom>
                <a:avLst/>
                <a:gdLst/>
                <a:ahLst/>
                <a:cxnLst/>
                <a:rect l="l" t="t" r="r" b="b"/>
                <a:pathLst>
                  <a:path w="47625" h="9525">
                    <a:moveTo>
                      <a:pt x="0" y="0"/>
                    </a:moveTo>
                    <a:lnTo>
                      <a:pt x="47625" y="0"/>
                    </a:lnTo>
                  </a:path>
                </a:pathLst>
              </a:custGeom>
              <a:noFill/>
              <a:ln w="15875">
                <a:solidFill>
                  <a:srgbClr val="FFFFFF"/>
                </a:solidFill>
              </a:ln>
            </p:spPr>
          </p:sp>
        </p:grpSp>
        <p:sp>
          <p:nvSpPr>
            <p:cNvPr id="129" name="TextBox 129"/>
            <p:cNvSpPr txBox="1"/>
            <p:nvPr/>
          </p:nvSpPr>
          <p:spPr>
            <a:xfrm>
              <a:off x="8305864" y="5227082"/>
              <a:ext cx="34277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33333"/>
                  </a:solidFill>
                  <a:latin typeface="+mn-lt"/>
                  <a:ea typeface="+mn-ea"/>
                  <a:cs typeface="+mn-cs"/>
                </a:rPr>
                <a:t>31个项目</a:t>
              </a:r>
              <a:br/>
              <a:r>
                <a:rPr lang="zh-CN" sz="640" dirty="0">
                  <a:solidFill>
                    <a:srgbClr val="333333"/>
                  </a:solidFill>
                  <a:latin typeface="+mn-lt"/>
                  <a:ea typeface="+mn-ea"/>
                  <a:cs typeface="+mn-cs"/>
                </a:rPr>
                <a:t>标签</a:t>
              </a:r>
            </a:p>
          </p:txBody>
        </p:sp>
        <p:sp>
          <p:nvSpPr>
            <p:cNvPr id="130" name="Ellipse 130"/>
            <p:cNvSpPr/>
            <p:nvPr/>
          </p:nvSpPr>
          <p:spPr>
            <a:xfrm>
              <a:off x="9067800" y="4800600"/>
              <a:ext cx="342900" cy="342900"/>
            </a:xfrm>
            <a:prstGeom prst="ellipse">
              <a:avLst/>
            </a:prstGeom>
            <a:solidFill>
              <a:srgbClr val="9C594C"/>
            </a:solidFill>
            <a:ln>
              <a:noFill/>
            </a:ln>
          </p:spPr>
        </p:sp>
        <p:grpSp>
          <p:nvGrpSpPr>
            <p:cNvPr id="134" name="Group 134"/>
            <p:cNvGrpSpPr/>
            <p:nvPr/>
          </p:nvGrpSpPr>
          <p:grpSpPr>
            <a:xfrm>
              <a:off x="9167812" y="4900612"/>
              <a:ext cx="142875" cy="142875"/>
              <a:chOff x="9167812" y="4900612"/>
              <a:chExt cx="142875" cy="142875"/>
            </a:xfrm>
          </p:grpSpPr>
          <p:sp>
            <p:nvSpPr>
              <p:cNvPr id="131" name="Freeform 131"/>
              <p:cNvSpPr/>
              <p:nvPr/>
            </p:nvSpPr>
            <p:spPr>
              <a:xfrm>
                <a:off x="9231312" y="49641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132" name="Freeform 132"/>
              <p:cNvSpPr/>
              <p:nvPr/>
            </p:nvSpPr>
            <p:spPr>
              <a:xfrm>
                <a:off x="9199562" y="49323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133" name="Freeform 133"/>
              <p:cNvSpPr/>
              <p:nvPr/>
            </p:nvSpPr>
            <p:spPr>
              <a:xfrm>
                <a:off x="9167812" y="49006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135" name="TextBox 135"/>
            <p:cNvSpPr txBox="1"/>
            <p:nvPr/>
          </p:nvSpPr>
          <p:spPr>
            <a:xfrm>
              <a:off x="9067864" y="5227082"/>
              <a:ext cx="34277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33333"/>
                  </a:solidFill>
                  <a:latin typeface="+mn-lt"/>
                  <a:ea typeface="+mn-ea"/>
                  <a:cs typeface="+mn-cs"/>
                </a:rPr>
                <a:t>19个待决</a:t>
              </a:r>
              <a:br/>
              <a:r>
                <a:rPr lang="zh-CN" sz="640" dirty="0">
                  <a:solidFill>
                    <a:srgbClr val="333333"/>
                  </a:solidFill>
                  <a:latin typeface="+mn-lt"/>
                  <a:ea typeface="+mn-ea"/>
                  <a:cs typeface="+mn-cs"/>
                </a:rPr>
                <a:t>定目标</a:t>
              </a:r>
            </a:p>
          </p:txBody>
        </p:sp>
        <p:sp>
          <p:nvSpPr>
            <p:cNvPr id="136" name="Ellipse 136"/>
            <p:cNvSpPr/>
            <p:nvPr/>
          </p:nvSpPr>
          <p:spPr>
            <a:xfrm>
              <a:off x="9829800" y="4800600"/>
              <a:ext cx="342900" cy="342900"/>
            </a:xfrm>
            <a:prstGeom prst="ellipse">
              <a:avLst/>
            </a:prstGeom>
            <a:solidFill>
              <a:srgbClr val="9C594C"/>
            </a:solidFill>
            <a:ln>
              <a:noFill/>
            </a:ln>
          </p:spPr>
        </p:sp>
        <p:grpSp>
          <p:nvGrpSpPr>
            <p:cNvPr id="143" name="Group 143"/>
            <p:cNvGrpSpPr/>
            <p:nvPr/>
          </p:nvGrpSpPr>
          <p:grpSpPr>
            <a:xfrm>
              <a:off x="9937750" y="4900612"/>
              <a:ext cx="127000" cy="142875"/>
              <a:chOff x="9937750" y="4900612"/>
              <a:chExt cx="127000" cy="142875"/>
            </a:xfrm>
          </p:grpSpPr>
          <p:sp>
            <p:nvSpPr>
              <p:cNvPr id="137" name="Freeform 137"/>
              <p:cNvSpPr/>
              <p:nvPr/>
            </p:nvSpPr>
            <p:spPr>
              <a:xfrm>
                <a:off x="9937750" y="49164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FFFFFF"/>
                </a:solidFill>
              </a:ln>
            </p:spPr>
          </p:sp>
          <p:sp>
            <p:nvSpPr>
              <p:cNvPr id="138" name="Freeform 138"/>
              <p:cNvSpPr/>
              <p:nvPr/>
            </p:nvSpPr>
            <p:spPr>
              <a:xfrm>
                <a:off x="10033000" y="49006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39" name="Freeform 139"/>
              <p:cNvSpPr/>
              <p:nvPr/>
            </p:nvSpPr>
            <p:spPr>
              <a:xfrm>
                <a:off x="9969500" y="49006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40" name="Freeform 140"/>
              <p:cNvSpPr/>
              <p:nvPr/>
            </p:nvSpPr>
            <p:spPr>
              <a:xfrm>
                <a:off x="9937750" y="4964112"/>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41" name="Freeform 141"/>
              <p:cNvSpPr/>
              <p:nvPr/>
            </p:nvSpPr>
            <p:spPr>
              <a:xfrm>
                <a:off x="9993312" y="4995862"/>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42" name="Freeform 142"/>
              <p:cNvSpPr/>
              <p:nvPr/>
            </p:nvSpPr>
            <p:spPr>
              <a:xfrm>
                <a:off x="10001250" y="4995862"/>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144" name="TextBox 144"/>
            <p:cNvSpPr txBox="1"/>
            <p:nvPr/>
          </p:nvSpPr>
          <p:spPr>
            <a:xfrm>
              <a:off x="9789224" y="5227082"/>
              <a:ext cx="42405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33333"/>
                  </a:solidFill>
                  <a:latin typeface="+mn-lt"/>
                  <a:ea typeface="+mn-ea"/>
                  <a:cs typeface="+mn-cs"/>
                </a:rPr>
                <a:t>45个成员组</a:t>
              </a:r>
              <a:br/>
              <a:r>
                <a:rPr lang="zh-CN" sz="640" dirty="0">
                  <a:solidFill>
                    <a:srgbClr val="333333"/>
                  </a:solidFill>
                  <a:latin typeface="+mn-lt"/>
                  <a:ea typeface="+mn-ea"/>
                  <a:cs typeface="+mn-cs"/>
                </a:rPr>
                <a:t>日程</a:t>
              </a:r>
            </a:p>
          </p:txBody>
        </p:sp>
        <p:sp>
          <p:nvSpPr>
            <p:cNvPr id="145" name="Ellipse 145"/>
            <p:cNvSpPr/>
            <p:nvPr/>
          </p:nvSpPr>
          <p:spPr>
            <a:xfrm>
              <a:off x="10591800" y="4800600"/>
              <a:ext cx="342900" cy="342900"/>
            </a:xfrm>
            <a:prstGeom prst="ellipse">
              <a:avLst/>
            </a:prstGeom>
            <a:solidFill>
              <a:srgbClr val="9C594C"/>
            </a:solidFill>
            <a:ln>
              <a:noFill/>
            </a:ln>
          </p:spPr>
        </p:sp>
        <p:grpSp>
          <p:nvGrpSpPr>
            <p:cNvPr id="152" name="Group 152"/>
            <p:cNvGrpSpPr/>
            <p:nvPr/>
          </p:nvGrpSpPr>
          <p:grpSpPr>
            <a:xfrm>
              <a:off x="10699750" y="4900612"/>
              <a:ext cx="127000" cy="142875"/>
              <a:chOff x="10699750" y="4900612"/>
              <a:chExt cx="127000" cy="142875"/>
            </a:xfrm>
          </p:grpSpPr>
          <p:sp>
            <p:nvSpPr>
              <p:cNvPr id="146" name="Freeform 146"/>
              <p:cNvSpPr/>
              <p:nvPr/>
            </p:nvSpPr>
            <p:spPr>
              <a:xfrm>
                <a:off x="10699750" y="49164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FFFFFF"/>
                </a:solidFill>
              </a:ln>
            </p:spPr>
          </p:sp>
          <p:sp>
            <p:nvSpPr>
              <p:cNvPr id="147" name="Freeform 147"/>
              <p:cNvSpPr/>
              <p:nvPr/>
            </p:nvSpPr>
            <p:spPr>
              <a:xfrm>
                <a:off x="10795000" y="49006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48" name="Freeform 148"/>
              <p:cNvSpPr/>
              <p:nvPr/>
            </p:nvSpPr>
            <p:spPr>
              <a:xfrm>
                <a:off x="10731500" y="49006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149" name="Freeform 149"/>
              <p:cNvSpPr/>
              <p:nvPr/>
            </p:nvSpPr>
            <p:spPr>
              <a:xfrm>
                <a:off x="10699750" y="4964112"/>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50" name="Freeform 150"/>
              <p:cNvSpPr/>
              <p:nvPr/>
            </p:nvSpPr>
            <p:spPr>
              <a:xfrm>
                <a:off x="10755312" y="4995862"/>
                <a:ext cx="9525" cy="9525"/>
              </a:xfrm>
              <a:custGeom>
                <a:avLst/>
                <a:gdLst/>
                <a:ahLst/>
                <a:cxnLst/>
                <a:rect l="l" t="t" r="r" b="b"/>
                <a:pathLst>
                  <a:path w="9525" h="9525">
                    <a:moveTo>
                      <a:pt x="0" y="0"/>
                    </a:moveTo>
                    <a:lnTo>
                      <a:pt x="7937" y="0"/>
                    </a:lnTo>
                  </a:path>
                </a:pathLst>
              </a:custGeom>
              <a:noFill/>
              <a:ln w="15875">
                <a:solidFill>
                  <a:srgbClr val="FFFFFF"/>
                </a:solidFill>
              </a:ln>
            </p:spPr>
          </p:sp>
          <p:sp>
            <p:nvSpPr>
              <p:cNvPr id="151" name="Freeform 151"/>
              <p:cNvSpPr/>
              <p:nvPr/>
            </p:nvSpPr>
            <p:spPr>
              <a:xfrm>
                <a:off x="10763250" y="4995862"/>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153" name="TextBox 153"/>
            <p:cNvSpPr txBox="1"/>
            <p:nvPr/>
          </p:nvSpPr>
          <p:spPr>
            <a:xfrm>
              <a:off x="10551224" y="5227082"/>
              <a:ext cx="424053" cy="230981"/>
            </a:xfrm>
            <a:prstGeom prst="rect">
              <a:avLst/>
            </a:prstGeom>
            <a:noFill/>
            <a:ln>
              <a:noFill/>
            </a:ln>
          </p:spPr>
          <p:txBody>
            <a:bodyPr wrap="none" lIns="0" tIns="0" rIns="0" bIns="0" anchor="t" anchorCtr="0">
              <a:spAutoFit/>
            </a:bodyPr>
            <a:lstStyle/>
            <a:p>
              <a:pPr algn="ctr">
                <a:lnSpc>
                  <a:spcPts val="825"/>
                </a:lnSpc>
              </a:pPr>
              <a:r>
                <a:rPr lang="zh-CN" sz="640" dirty="0">
                  <a:solidFill>
                    <a:srgbClr val="333333"/>
                  </a:solidFill>
                  <a:latin typeface="+mn-lt"/>
                  <a:ea typeface="+mn-ea"/>
                  <a:cs typeface="+mn-cs"/>
                </a:rPr>
                <a:t>12个成员组</a:t>
              </a:r>
              <a:br/>
              <a:r>
                <a:rPr lang="zh-CN" sz="640" dirty="0">
                  <a:solidFill>
                    <a:srgbClr val="333333"/>
                  </a:solidFill>
                  <a:latin typeface="+mn-lt"/>
                  <a:ea typeface="+mn-ea"/>
                  <a:cs typeface="+mn-cs"/>
                </a:rPr>
                <a:t>日程</a:t>
              </a:r>
            </a:p>
          </p:txBody>
        </p:sp>
      </p:grpSp>
      <p:grpSp>
        <p:nvGrpSpPr>
          <p:cNvPr id="157" name="page-footer"/>
          <p:cNvGrpSpPr/>
          <p:nvPr/>
        </p:nvGrpSpPr>
        <p:grpSpPr>
          <a:xfrm>
            <a:off x="376238" y="6689884"/>
            <a:ext cx="11439524" cy="133350"/>
            <a:chOff x="376238" y="6689884"/>
            <a:chExt cx="11439524" cy="133350"/>
          </a:xfrm>
        </p:grpSpPr>
        <p:sp>
          <p:nvSpPr>
            <p:cNvPr id="155" name="TextBox 155"/>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56" name="TextBox 156"/>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26</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growth-band"/>
          <p:cNvSpPr/>
          <p:nvPr/>
        </p:nvSpPr>
        <p:spPr>
          <a:xfrm>
            <a:off x="762000" y="1047750"/>
            <a:ext cx="10782300" cy="2019300"/>
          </a:xfrm>
          <a:custGeom>
            <a:avLst/>
            <a:gdLst/>
            <a:ahLst/>
            <a:cxnLst/>
            <a:rect l="l" t="t" r="r" b="b"/>
            <a:pathLst>
              <a:path w="10782300" h="2019300">
                <a:moveTo>
                  <a:pt x="0" y="1866900"/>
                </a:moveTo>
                <a:lnTo>
                  <a:pt x="4572000" y="1409700"/>
                </a:lnTo>
                <a:lnTo>
                  <a:pt x="7810500" y="933450"/>
                </a:lnTo>
                <a:lnTo>
                  <a:pt x="10477500" y="114300"/>
                </a:lnTo>
                <a:lnTo>
                  <a:pt x="10782300" y="0"/>
                </a:lnTo>
                <a:lnTo>
                  <a:pt x="10706100" y="381000"/>
                </a:lnTo>
                <a:lnTo>
                  <a:pt x="7810500" y="1162050"/>
                </a:lnTo>
                <a:lnTo>
                  <a:pt x="4572000" y="1695450"/>
                </a:lnTo>
                <a:lnTo>
                  <a:pt x="0" y="2019300"/>
                </a:lnTo>
                <a:close/>
              </a:path>
            </a:pathLst>
          </a:custGeom>
          <a:solidFill>
            <a:srgbClr val="DFF0D2"/>
          </a:solidFill>
          <a:ln>
            <a:noFill/>
          </a:ln>
        </p:spPr>
      </p:sp>
      <p:sp>
        <p:nvSpPr>
          <p:cNvPr id="9" name="Line 9"/>
          <p:cNvSpPr/>
          <p:nvPr/>
        </p:nvSpPr>
        <p:spPr>
          <a:xfrm>
            <a:off x="762000" y="2952750"/>
            <a:ext cx="10953750" cy="9525"/>
          </a:xfrm>
          <a:custGeom>
            <a:avLst/>
            <a:gdLst/>
            <a:ahLst/>
            <a:cxnLst/>
            <a:rect l="l" t="t" r="r" b="b"/>
            <a:pathLst>
              <a:path w="10953750" h="9525">
                <a:moveTo>
                  <a:pt x="0" y="0"/>
                </a:moveTo>
                <a:lnTo>
                  <a:pt x="10953750" y="0"/>
                </a:lnTo>
              </a:path>
            </a:pathLst>
          </a:custGeom>
          <a:noFill/>
          <a:ln w="28575">
            <a:solidFill>
              <a:srgbClr val="7A3E33"/>
            </a:solidFill>
          </a:ln>
        </p:spPr>
      </p:sp>
      <p:sp>
        <p:nvSpPr>
          <p:cNvPr id="10" name="Freeform 10"/>
          <p:cNvSpPr/>
          <p:nvPr/>
        </p:nvSpPr>
        <p:spPr>
          <a:xfrm>
            <a:off x="1619250" y="3143250"/>
            <a:ext cx="381000" cy="381000"/>
          </a:xfrm>
          <a:prstGeom prst="downArrow">
            <a:avLst/>
          </a:prstGeom>
          <a:solidFill>
            <a:srgbClr val="9C594C"/>
          </a:solidFill>
          <a:ln>
            <a:noFill/>
          </a:ln>
        </p:spPr>
      </p:sp>
      <p:sp>
        <p:nvSpPr>
          <p:cNvPr id="11" name="Freeform 11"/>
          <p:cNvSpPr/>
          <p:nvPr/>
        </p:nvSpPr>
        <p:spPr>
          <a:xfrm>
            <a:off x="4381500" y="3143250"/>
            <a:ext cx="381000" cy="381000"/>
          </a:xfrm>
          <a:prstGeom prst="downArrow">
            <a:avLst/>
          </a:prstGeom>
          <a:solidFill>
            <a:srgbClr val="E9563C"/>
          </a:solidFill>
          <a:ln>
            <a:noFill/>
          </a:ln>
        </p:spPr>
      </p:sp>
      <p:sp>
        <p:nvSpPr>
          <p:cNvPr id="12" name="Freeform 12"/>
          <p:cNvSpPr/>
          <p:nvPr/>
        </p:nvSpPr>
        <p:spPr>
          <a:xfrm>
            <a:off x="7239000" y="3143250"/>
            <a:ext cx="381000" cy="381000"/>
          </a:xfrm>
          <a:prstGeom prst="downArrow">
            <a:avLst/>
          </a:prstGeom>
          <a:solidFill>
            <a:srgbClr val="9C594C"/>
          </a:solidFill>
          <a:ln>
            <a:noFill/>
          </a:ln>
        </p:spPr>
      </p:sp>
      <p:sp>
        <p:nvSpPr>
          <p:cNvPr id="13" name="Freeform 13"/>
          <p:cNvSpPr/>
          <p:nvPr/>
        </p:nvSpPr>
        <p:spPr>
          <a:xfrm>
            <a:off x="10096500" y="3143250"/>
            <a:ext cx="381000" cy="381000"/>
          </a:xfrm>
          <a:prstGeom prst="downArrow">
            <a:avLst/>
          </a:prstGeom>
          <a:solidFill>
            <a:srgbClr val="E9563C"/>
          </a:solidFill>
          <a:ln>
            <a:noFill/>
          </a:ln>
        </p:spPr>
      </p:sp>
      <p:grpSp>
        <p:nvGrpSpPr>
          <p:cNvPr id="21" name="side-labels"/>
          <p:cNvGrpSpPr/>
          <p:nvPr/>
        </p:nvGrpSpPr>
        <p:grpSpPr>
          <a:xfrm>
            <a:off x="423291" y="952500"/>
            <a:ext cx="144018" cy="3657600"/>
            <a:chOff x="423291" y="952500"/>
            <a:chExt cx="144018" cy="3657600"/>
          </a:xfrm>
        </p:grpSpPr>
        <p:sp>
          <p:nvSpPr>
            <p:cNvPr id="14" name="Line 14"/>
            <p:cNvSpPr/>
            <p:nvPr/>
          </p:nvSpPr>
          <p:spPr>
            <a:xfrm>
              <a:off x="495300" y="990600"/>
              <a:ext cx="9525" cy="3581400"/>
            </a:xfrm>
            <a:custGeom>
              <a:avLst/>
              <a:gdLst/>
              <a:ahLst/>
              <a:cxnLst/>
              <a:rect l="l" t="t" r="r" b="b"/>
              <a:pathLst>
                <a:path w="9525" h="3581400">
                  <a:moveTo>
                    <a:pt x="0" y="0"/>
                  </a:moveTo>
                  <a:lnTo>
                    <a:pt x="0" y="3581400"/>
                  </a:lnTo>
                </a:path>
              </a:pathLst>
            </a:custGeom>
            <a:noFill/>
            <a:ln w="14288">
              <a:solidFill>
                <a:srgbClr val="BF857A"/>
              </a:solidFill>
            </a:ln>
          </p:spPr>
        </p:sp>
        <p:sp>
          <p:nvSpPr>
            <p:cNvPr id="15" name="Ellipse 15"/>
            <p:cNvSpPr/>
            <p:nvPr/>
          </p:nvSpPr>
          <p:spPr>
            <a:xfrm>
              <a:off x="457200" y="952500"/>
              <a:ext cx="76200" cy="76200"/>
            </a:xfrm>
            <a:prstGeom prst="ellipse">
              <a:avLst/>
            </a:prstGeom>
            <a:solidFill>
              <a:srgbClr val="9C594C"/>
            </a:solidFill>
            <a:ln>
              <a:noFill/>
            </a:ln>
          </p:spPr>
        </p:sp>
        <p:sp>
          <p:nvSpPr>
            <p:cNvPr id="16" name="TextBox 16"/>
            <p:cNvSpPr txBox="1"/>
            <p:nvPr/>
          </p:nvSpPr>
          <p:spPr>
            <a:xfrm>
              <a:off x="423291" y="1315402"/>
              <a:ext cx="144018" cy="834009"/>
            </a:xfrm>
            <a:prstGeom prst="rect">
              <a:avLst/>
            </a:prstGeom>
            <a:noFill/>
            <a:ln>
              <a:noFill/>
            </a:ln>
          </p:spPr>
          <p:txBody>
            <a:bodyPr wrap="none" lIns="0" tIns="0" rIns="0" bIns="0" anchor="t" anchorCtr="0">
              <a:spAutoFit/>
            </a:bodyPr>
            <a:lstStyle/>
            <a:p>
              <a:pPr algn="ctr">
                <a:lnSpc>
                  <a:spcPts val="1650"/>
                </a:lnSpc>
              </a:pPr>
              <a:r>
                <a:rPr lang="zh-CN" sz="1050" b="1" dirty="0">
                  <a:solidFill>
                    <a:srgbClr val="7A3E33"/>
                  </a:solidFill>
                  <a:latin typeface="+mn-lt"/>
                  <a:ea typeface="+mn-ea"/>
                  <a:cs typeface="+mn-cs"/>
                </a:rPr>
                <a:t>人</a:t>
              </a:r>
              <a:br/>
              <a:r>
                <a:rPr lang="zh-CN" sz="1050" b="1" dirty="0">
                  <a:solidFill>
                    <a:srgbClr val="7A3E33"/>
                  </a:solidFill>
                  <a:latin typeface="+mn-lt"/>
                  <a:ea typeface="+mn-ea"/>
                  <a:cs typeface="+mn-cs"/>
                </a:rPr>
                <a:t>生</a:t>
              </a:r>
              <a:br/>
              <a:r>
                <a:rPr lang="zh-CN" sz="1050" b="1" dirty="0">
                  <a:solidFill>
                    <a:srgbClr val="7A3E33"/>
                  </a:solidFill>
                  <a:latin typeface="+mn-lt"/>
                  <a:ea typeface="+mn-ea"/>
                  <a:cs typeface="+mn-cs"/>
                </a:rPr>
                <a:t>历</a:t>
              </a:r>
              <a:br/>
              <a:r>
                <a:rPr lang="zh-CN" sz="1050" b="1" dirty="0">
                  <a:solidFill>
                    <a:srgbClr val="7A3E33"/>
                  </a:solidFill>
                  <a:latin typeface="+mn-lt"/>
                  <a:ea typeface="+mn-ea"/>
                  <a:cs typeface="+mn-cs"/>
                </a:rPr>
                <a:t>程</a:t>
              </a:r>
            </a:p>
          </p:txBody>
        </p:sp>
        <p:sp>
          <p:nvSpPr>
            <p:cNvPr id="17" name="Ellipse 17"/>
            <p:cNvSpPr/>
            <p:nvPr/>
          </p:nvSpPr>
          <p:spPr>
            <a:xfrm>
              <a:off x="457200" y="2343150"/>
              <a:ext cx="76200" cy="76200"/>
            </a:xfrm>
            <a:prstGeom prst="ellipse">
              <a:avLst/>
            </a:prstGeom>
            <a:solidFill>
              <a:srgbClr val="9C594C"/>
            </a:solidFill>
            <a:ln>
              <a:noFill/>
            </a:ln>
          </p:spPr>
        </p:sp>
        <p:sp>
          <p:nvSpPr>
            <p:cNvPr id="18" name="Ellipse 18"/>
            <p:cNvSpPr/>
            <p:nvPr/>
          </p:nvSpPr>
          <p:spPr>
            <a:xfrm>
              <a:off x="457200" y="3105150"/>
              <a:ext cx="76200" cy="76200"/>
            </a:xfrm>
            <a:prstGeom prst="ellipse">
              <a:avLst/>
            </a:prstGeom>
            <a:solidFill>
              <a:srgbClr val="9C594C"/>
            </a:solidFill>
            <a:ln>
              <a:noFill/>
            </a:ln>
          </p:spPr>
        </p:sp>
        <p:sp>
          <p:nvSpPr>
            <p:cNvPr id="19" name="TextBox 19"/>
            <p:cNvSpPr txBox="1"/>
            <p:nvPr/>
          </p:nvSpPr>
          <p:spPr>
            <a:xfrm>
              <a:off x="423291" y="3506152"/>
              <a:ext cx="144018" cy="834009"/>
            </a:xfrm>
            <a:prstGeom prst="rect">
              <a:avLst/>
            </a:prstGeom>
            <a:noFill/>
            <a:ln>
              <a:noFill/>
            </a:ln>
          </p:spPr>
          <p:txBody>
            <a:bodyPr wrap="none" lIns="0" tIns="0" rIns="0" bIns="0" anchor="t" anchorCtr="0">
              <a:spAutoFit/>
            </a:bodyPr>
            <a:lstStyle/>
            <a:p>
              <a:pPr algn="ctr">
                <a:lnSpc>
                  <a:spcPts val="1650"/>
                </a:lnSpc>
              </a:pPr>
              <a:r>
                <a:rPr lang="zh-CN" sz="1050" b="1" dirty="0">
                  <a:solidFill>
                    <a:srgbClr val="7A3E33"/>
                  </a:solidFill>
                  <a:latin typeface="+mn-lt"/>
                  <a:ea typeface="+mn-ea"/>
                  <a:cs typeface="+mn-cs"/>
                </a:rPr>
                <a:t>具</a:t>
              </a:r>
              <a:br/>
              <a:r>
                <a:rPr lang="zh-CN" sz="1050" b="1" dirty="0">
                  <a:solidFill>
                    <a:srgbClr val="7A3E33"/>
                  </a:solidFill>
                  <a:latin typeface="+mn-lt"/>
                  <a:ea typeface="+mn-ea"/>
                  <a:cs typeface="+mn-cs"/>
                </a:rPr>
                <a:t>体</a:t>
              </a:r>
              <a:br/>
              <a:r>
                <a:rPr lang="zh-CN" sz="1050" b="1" dirty="0">
                  <a:solidFill>
                    <a:srgbClr val="7A3E33"/>
                  </a:solidFill>
                  <a:latin typeface="+mn-lt"/>
                  <a:ea typeface="+mn-ea"/>
                  <a:cs typeface="+mn-cs"/>
                </a:rPr>
                <a:t>体</a:t>
              </a:r>
              <a:br/>
              <a:r>
                <a:rPr lang="zh-CN" sz="1050" b="1" dirty="0">
                  <a:solidFill>
                    <a:srgbClr val="7A3E33"/>
                  </a:solidFill>
                  <a:latin typeface="+mn-lt"/>
                  <a:ea typeface="+mn-ea"/>
                  <a:cs typeface="+mn-cs"/>
                </a:rPr>
                <a:t>现</a:t>
              </a:r>
            </a:p>
          </p:txBody>
        </p:sp>
        <p:sp>
          <p:nvSpPr>
            <p:cNvPr id="20" name="Ellipse 20"/>
            <p:cNvSpPr/>
            <p:nvPr/>
          </p:nvSpPr>
          <p:spPr>
            <a:xfrm>
              <a:off x="457200" y="4533900"/>
              <a:ext cx="76200" cy="76200"/>
            </a:xfrm>
            <a:prstGeom prst="ellipse">
              <a:avLst/>
            </a:prstGeom>
            <a:solidFill>
              <a:srgbClr val="9C594C"/>
            </a:solidFill>
            <a:ln>
              <a:noFill/>
            </a:ln>
          </p:spPr>
        </p:sp>
      </p:grpSp>
      <p:grpSp>
        <p:nvGrpSpPr>
          <p:cNvPr id="31" name="person-figure"/>
          <p:cNvGrpSpPr/>
          <p:nvPr/>
        </p:nvGrpSpPr>
        <p:grpSpPr>
          <a:xfrm>
            <a:off x="1390650" y="981075"/>
            <a:ext cx="628650" cy="1781175"/>
            <a:chOff x="1390650" y="981075"/>
            <a:chExt cx="628650" cy="1781175"/>
          </a:xfrm>
        </p:grpSpPr>
        <p:sp>
          <p:nvSpPr>
            <p:cNvPr id="22" name="Ellipse 22"/>
            <p:cNvSpPr/>
            <p:nvPr/>
          </p:nvSpPr>
          <p:spPr>
            <a:xfrm>
              <a:off x="1438275" y="981075"/>
              <a:ext cx="323850" cy="323850"/>
            </a:xfrm>
            <a:prstGeom prst="ellipse">
              <a:avLst/>
            </a:prstGeom>
            <a:solidFill>
              <a:srgbClr val="F7BFB5"/>
            </a:solidFill>
            <a:ln>
              <a:noFill/>
            </a:ln>
          </p:spPr>
        </p:sp>
        <p:sp>
          <p:nvSpPr>
            <p:cNvPr id="23" name="Rectangle 23"/>
            <p:cNvSpPr/>
            <p:nvPr/>
          </p:nvSpPr>
          <p:spPr>
            <a:xfrm>
              <a:off x="1485900" y="990600"/>
              <a:ext cx="228600" cy="95250"/>
            </a:xfrm>
            <a:prstGeom prst="roundRect">
              <a:avLst>
                <a:gd name="adj" fmla="val 40000"/>
              </a:avLst>
            </a:prstGeom>
            <a:solidFill>
              <a:srgbClr val="4E332E"/>
            </a:solidFill>
            <a:ln>
              <a:noFill/>
            </a:ln>
          </p:spPr>
        </p:sp>
        <p:sp>
          <p:nvSpPr>
            <p:cNvPr id="24" name="Rectangle 24"/>
            <p:cNvSpPr/>
            <p:nvPr/>
          </p:nvSpPr>
          <p:spPr>
            <a:xfrm>
              <a:off x="1390650" y="1333500"/>
              <a:ext cx="419100" cy="685800"/>
            </a:xfrm>
            <a:prstGeom prst="roundRect">
              <a:avLst>
                <a:gd name="adj" fmla="val 22727"/>
              </a:avLst>
            </a:prstGeom>
            <a:solidFill>
              <a:srgbClr val="5A433E"/>
            </a:solidFill>
            <a:ln>
              <a:noFill/>
            </a:ln>
          </p:spPr>
        </p:sp>
        <p:sp>
          <p:nvSpPr>
            <p:cNvPr id="25" name="Rectangle 25"/>
            <p:cNvSpPr/>
            <p:nvPr/>
          </p:nvSpPr>
          <p:spPr>
            <a:xfrm>
              <a:off x="1524000" y="1333500"/>
              <a:ext cx="152400" cy="381000"/>
            </a:xfrm>
            <a:prstGeom prst="rect">
              <a:avLst/>
            </a:prstGeom>
            <a:solidFill>
              <a:srgbClr val="FFFFFF"/>
            </a:solidFill>
            <a:ln>
              <a:noFill/>
            </a:ln>
          </p:spPr>
        </p:sp>
        <p:sp>
          <p:nvSpPr>
            <p:cNvPr id="26" name="Rectangle 26"/>
            <p:cNvSpPr/>
            <p:nvPr/>
          </p:nvSpPr>
          <p:spPr>
            <a:xfrm>
              <a:off x="1428750" y="2019300"/>
              <a:ext cx="152400" cy="666750"/>
            </a:xfrm>
            <a:prstGeom prst="rect">
              <a:avLst/>
            </a:prstGeom>
            <a:solidFill>
              <a:srgbClr val="7A392C"/>
            </a:solidFill>
            <a:ln>
              <a:noFill/>
            </a:ln>
          </p:spPr>
        </p:sp>
        <p:sp>
          <p:nvSpPr>
            <p:cNvPr id="27" name="Rectangle 27"/>
            <p:cNvSpPr/>
            <p:nvPr/>
          </p:nvSpPr>
          <p:spPr>
            <a:xfrm>
              <a:off x="1619250" y="2019300"/>
              <a:ext cx="152400" cy="666750"/>
            </a:xfrm>
            <a:prstGeom prst="rect">
              <a:avLst/>
            </a:prstGeom>
            <a:solidFill>
              <a:srgbClr val="7A392C"/>
            </a:solidFill>
            <a:ln>
              <a:noFill/>
            </a:ln>
          </p:spPr>
        </p:sp>
        <p:sp>
          <p:nvSpPr>
            <p:cNvPr id="28" name="Rectangle 28"/>
            <p:cNvSpPr/>
            <p:nvPr/>
          </p:nvSpPr>
          <p:spPr>
            <a:xfrm>
              <a:off x="1390650" y="2686050"/>
              <a:ext cx="209550" cy="76200"/>
            </a:xfrm>
            <a:prstGeom prst="roundRect">
              <a:avLst>
                <a:gd name="adj" fmla="val 37500"/>
              </a:avLst>
            </a:prstGeom>
            <a:solidFill>
              <a:srgbClr val="333333"/>
            </a:solidFill>
            <a:ln>
              <a:noFill/>
            </a:ln>
          </p:spPr>
        </p:sp>
        <p:sp>
          <p:nvSpPr>
            <p:cNvPr id="29" name="Rectangle 29"/>
            <p:cNvSpPr/>
            <p:nvPr/>
          </p:nvSpPr>
          <p:spPr>
            <a:xfrm>
              <a:off x="1600200" y="2686050"/>
              <a:ext cx="209550" cy="76200"/>
            </a:xfrm>
            <a:prstGeom prst="roundRect">
              <a:avLst>
                <a:gd name="adj" fmla="val 37500"/>
              </a:avLst>
            </a:prstGeom>
            <a:solidFill>
              <a:srgbClr val="333333"/>
            </a:solidFill>
            <a:ln>
              <a:noFill/>
            </a:ln>
          </p:spPr>
        </p:sp>
        <p:sp>
          <p:nvSpPr>
            <p:cNvPr id="30" name="Rectangle 30"/>
            <p:cNvSpPr/>
            <p:nvPr/>
          </p:nvSpPr>
          <p:spPr>
            <a:xfrm>
              <a:off x="1771650" y="1524000"/>
              <a:ext cx="247650" cy="285750"/>
            </a:xfrm>
            <a:prstGeom prst="roundRect">
              <a:avLst>
                <a:gd name="adj" fmla="val 11538"/>
              </a:avLst>
            </a:prstGeom>
            <a:solidFill>
              <a:srgbClr val="B5766A"/>
            </a:solidFill>
            <a:ln>
              <a:noFill/>
            </a:ln>
          </p:spPr>
        </p:sp>
      </p:grpSp>
      <p:grpSp>
        <p:nvGrpSpPr>
          <p:cNvPr id="35" name="person-card"/>
          <p:cNvGrpSpPr/>
          <p:nvPr/>
        </p:nvGrpSpPr>
        <p:grpSpPr>
          <a:xfrm>
            <a:off x="2381250" y="952500"/>
            <a:ext cx="2476500" cy="666750"/>
            <a:chOff x="2381250" y="952500"/>
            <a:chExt cx="2476500" cy="666750"/>
          </a:xfrm>
        </p:grpSpPr>
        <p:sp>
          <p:nvSpPr>
            <p:cNvPr id="32" name="Rectangle 32"/>
            <p:cNvSpPr/>
            <p:nvPr/>
          </p:nvSpPr>
          <p:spPr>
            <a:xfrm>
              <a:off x="2381250" y="952500"/>
              <a:ext cx="2476500" cy="666750"/>
            </a:xfrm>
            <a:prstGeom prst="rect">
              <a:avLst/>
            </a:prstGeom>
            <a:solidFill>
              <a:srgbClr val="FBF0D8"/>
            </a:solidFill>
            <a:ln w="9525">
              <a:solidFill>
                <a:srgbClr val="E9563C"/>
              </a:solidFill>
              <a:custDash>
                <a:ds d="400000" sp="300000"/>
              </a:custDash>
            </a:ln>
          </p:spPr>
        </p:sp>
        <p:sp>
          <p:nvSpPr>
            <p:cNvPr id="33" name="TextBox 33"/>
            <p:cNvSpPr txBox="1"/>
            <p:nvPr/>
          </p:nvSpPr>
          <p:spPr>
            <a:xfrm>
              <a:off x="2509647" y="1075849"/>
              <a:ext cx="1528507" cy="190690"/>
            </a:xfrm>
            <a:prstGeom prst="rect">
              <a:avLst/>
            </a:prstGeom>
            <a:noFill/>
            <a:ln>
              <a:noFill/>
            </a:ln>
          </p:spPr>
          <p:txBody>
            <a:bodyPr wrap="none" lIns="0" tIns="0" rIns="0" bIns="0" anchor="t" anchorCtr="0">
              <a:spAutoFit/>
            </a:bodyPr>
            <a:lstStyle/>
            <a:p>
              <a:pPr algn="l"/>
              <a:r>
                <a:rPr lang="zh-CN" sz="980" b="1" dirty="0">
                  <a:solidFill>
                    <a:srgbClr val="333333"/>
                  </a:solidFill>
                  <a:latin typeface="+mn-lt"/>
                  <a:ea typeface="+mn-ea"/>
                  <a:cs typeface="+mn-cs"/>
                </a:rPr>
                <a:t>◉ 阿飞</a:t>
              </a:r>
              <a:r>
                <a:rPr lang="zh-CN" sz="820" dirty="0">
                  <a:solidFill>
                    <a:srgbClr val="D6391E"/>
                  </a:solidFill>
                  <a:latin typeface="+mn-lt"/>
                  <a:ea typeface="+mn-ea"/>
                  <a:cs typeface="+mn-cs"/>
                </a:rPr>
                <a:t xml:space="preserve"> 公司市场主管｜合伙人</a:t>
              </a:r>
            </a:p>
          </p:txBody>
        </p:sp>
        <p:sp>
          <p:nvSpPr>
            <p:cNvPr id="34" name="TextBox 34"/>
            <p:cNvSpPr txBox="1"/>
            <p:nvPr/>
          </p:nvSpPr>
          <p:spPr>
            <a:xfrm>
              <a:off x="2509838" y="1313736"/>
              <a:ext cx="154241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333333"/>
                  </a:solidFill>
                  <a:latin typeface="+mn-lt"/>
                  <a:ea typeface="+mn-ea"/>
                  <a:cs typeface="+mn-cs"/>
                </a:rPr>
                <a:t>从公司创立之初就在的元老级领导，曾</a:t>
              </a:r>
              <a:br/>
              <a:r>
                <a:rPr lang="zh-CN" sz="710" dirty="0">
                  <a:solidFill>
                    <a:srgbClr val="333333"/>
                  </a:solidFill>
                  <a:latin typeface="+mn-lt"/>
                  <a:ea typeface="+mn-ea"/>
                  <a:cs typeface="+mn-cs"/>
                </a:rPr>
                <a:t>多次获得最佳员工、最佳合伙人称号。</a:t>
              </a:r>
            </a:p>
          </p:txBody>
        </p:sp>
      </p:grpSp>
      <p:grpSp>
        <p:nvGrpSpPr>
          <p:cNvPr id="37" name="stage-initial"/>
          <p:cNvGrpSpPr/>
          <p:nvPr/>
        </p:nvGrpSpPr>
        <p:grpSpPr>
          <a:xfrm>
            <a:off x="2623566" y="2575560"/>
            <a:ext cx="658368" cy="234696"/>
            <a:chOff x="2623566" y="2575560"/>
            <a:chExt cx="658368" cy="234696"/>
          </a:xfrm>
        </p:grpSpPr>
        <p:sp>
          <p:nvSpPr>
            <p:cNvPr id="36" name="TextBox 36"/>
            <p:cNvSpPr txBox="1"/>
            <p:nvPr/>
          </p:nvSpPr>
          <p:spPr>
            <a:xfrm>
              <a:off x="2623566" y="2575560"/>
              <a:ext cx="658368" cy="234696"/>
            </a:xfrm>
            <a:prstGeom prst="rect">
              <a:avLst/>
            </a:prstGeom>
            <a:noFill/>
            <a:ln>
              <a:noFill/>
            </a:ln>
          </p:spPr>
          <p:txBody>
            <a:bodyPr wrap="none" lIns="0" tIns="0" rIns="0" bIns="0" anchor="t" anchorCtr="0">
              <a:spAutoFit/>
            </a:bodyPr>
            <a:lstStyle/>
            <a:p>
              <a:pPr algn="ctr"/>
              <a:r>
                <a:rPr lang="zh-CN" sz="1200" dirty="0">
                  <a:solidFill>
                    <a:srgbClr val="333333"/>
                  </a:solidFill>
                  <a:latin typeface="+mn-lt"/>
                  <a:ea typeface="+mn-ea"/>
                  <a:cs typeface="+mn-cs"/>
                </a:rPr>
                <a:t>初始阶段</a:t>
              </a:r>
            </a:p>
          </p:txBody>
        </p:sp>
      </p:grpSp>
      <p:grpSp>
        <p:nvGrpSpPr>
          <p:cNvPr id="60" name="stage-labels"/>
          <p:cNvGrpSpPr/>
          <p:nvPr/>
        </p:nvGrpSpPr>
        <p:grpSpPr>
          <a:xfrm>
            <a:off x="6477000" y="933450"/>
            <a:ext cx="4514063" cy="1809750"/>
            <a:chOff x="6477000" y="933450"/>
            <a:chExt cx="4514063" cy="1809750"/>
          </a:xfrm>
        </p:grpSpPr>
        <p:sp>
          <p:nvSpPr>
            <p:cNvPr id="38" name="Freeform 38"/>
            <p:cNvSpPr/>
            <p:nvPr/>
          </p:nvSpPr>
          <p:spPr>
            <a:xfrm>
              <a:off x="6858000" y="933450"/>
              <a:ext cx="1905000" cy="800100"/>
            </a:xfrm>
            <a:prstGeom prst="irregularSeal1">
              <a:avLst/>
            </a:prstGeom>
            <a:solidFill>
              <a:srgbClr val="9C594C"/>
            </a:solidFill>
            <a:ln>
              <a:noFill/>
            </a:ln>
          </p:spPr>
        </p:sp>
        <p:sp>
          <p:nvSpPr>
            <p:cNvPr id="39" name="TextBox 39"/>
            <p:cNvSpPr txBox="1"/>
            <p:nvPr/>
          </p:nvSpPr>
          <p:spPr>
            <a:xfrm>
              <a:off x="7284809" y="1244918"/>
              <a:ext cx="822782"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确定性</a:t>
              </a:r>
              <a:r>
                <a:rPr lang="zh-CN" sz="980" b="1" dirty="0">
                  <a:solidFill>
                    <a:srgbClr val="FFFFFF"/>
                  </a:solidFill>
                  <a:latin typeface="+mn-lt"/>
                  <a:ea typeface="+mn-ea"/>
                  <a:cs typeface="+mn-cs"/>
                </a:rPr>
                <a:t>增长</a:t>
              </a:r>
            </a:p>
          </p:txBody>
        </p:sp>
        <p:sp>
          <p:nvSpPr>
            <p:cNvPr id="40" name="TextBox 40"/>
            <p:cNvSpPr txBox="1"/>
            <p:nvPr/>
          </p:nvSpPr>
          <p:spPr>
            <a:xfrm>
              <a:off x="7576566" y="1832610"/>
              <a:ext cx="658368" cy="234696"/>
            </a:xfrm>
            <a:prstGeom prst="rect">
              <a:avLst/>
            </a:prstGeom>
            <a:noFill/>
            <a:ln>
              <a:noFill/>
            </a:ln>
          </p:spPr>
          <p:txBody>
            <a:bodyPr wrap="none" lIns="0" tIns="0" rIns="0" bIns="0" anchor="t" anchorCtr="0">
              <a:spAutoFit/>
            </a:bodyPr>
            <a:lstStyle/>
            <a:p>
              <a:pPr algn="ctr"/>
              <a:r>
                <a:rPr lang="zh-CN" sz="1200" dirty="0">
                  <a:solidFill>
                    <a:srgbClr val="333333"/>
                  </a:solidFill>
                  <a:latin typeface="+mn-lt"/>
                  <a:ea typeface="+mn-ea"/>
                  <a:cs typeface="+mn-cs"/>
                </a:rPr>
                <a:t>发展阶段</a:t>
              </a:r>
            </a:p>
          </p:txBody>
        </p:sp>
        <p:sp>
          <p:nvSpPr>
            <p:cNvPr id="41" name="TextBox 41"/>
            <p:cNvSpPr txBox="1"/>
            <p:nvPr/>
          </p:nvSpPr>
          <p:spPr>
            <a:xfrm>
              <a:off x="10148316" y="1470660"/>
              <a:ext cx="658368" cy="234696"/>
            </a:xfrm>
            <a:prstGeom prst="rect">
              <a:avLst/>
            </a:prstGeom>
            <a:noFill/>
            <a:ln>
              <a:noFill/>
            </a:ln>
          </p:spPr>
          <p:txBody>
            <a:bodyPr wrap="none" lIns="0" tIns="0" rIns="0" bIns="0" anchor="t" anchorCtr="0">
              <a:spAutoFit/>
            </a:bodyPr>
            <a:lstStyle/>
            <a:p>
              <a:pPr algn="ctr"/>
              <a:r>
                <a:rPr lang="zh-CN" sz="1200" dirty="0">
                  <a:solidFill>
                    <a:srgbClr val="333333"/>
                  </a:solidFill>
                  <a:latin typeface="+mn-lt"/>
                  <a:ea typeface="+mn-ea"/>
                  <a:cs typeface="+mn-cs"/>
                </a:rPr>
                <a:t>爆发阶段</a:t>
              </a:r>
            </a:p>
          </p:txBody>
        </p:sp>
        <p:sp>
          <p:nvSpPr>
            <p:cNvPr id="42" name="Ellipse 42"/>
            <p:cNvSpPr/>
            <p:nvPr/>
          </p:nvSpPr>
          <p:spPr>
            <a:xfrm>
              <a:off x="6477000" y="2362200"/>
              <a:ext cx="381000" cy="381000"/>
            </a:xfrm>
            <a:prstGeom prst="ellipse">
              <a:avLst/>
            </a:prstGeom>
            <a:solidFill>
              <a:srgbClr val="9C594C"/>
            </a:solidFill>
            <a:ln>
              <a:noFill/>
            </a:ln>
          </p:spPr>
        </p:sp>
        <p:grpSp>
          <p:nvGrpSpPr>
            <p:cNvPr id="46" name="Group 46"/>
            <p:cNvGrpSpPr/>
            <p:nvPr/>
          </p:nvGrpSpPr>
          <p:grpSpPr>
            <a:xfrm>
              <a:off x="6588919" y="2474119"/>
              <a:ext cx="157163" cy="157163"/>
              <a:chOff x="6588919" y="2474119"/>
              <a:chExt cx="157163" cy="157163"/>
            </a:xfrm>
          </p:grpSpPr>
          <p:sp>
            <p:nvSpPr>
              <p:cNvPr id="43" name="Freeform 43"/>
              <p:cNvSpPr/>
              <p:nvPr/>
            </p:nvSpPr>
            <p:spPr>
              <a:xfrm>
                <a:off x="6658769" y="254396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44" name="Freeform 44"/>
              <p:cNvSpPr/>
              <p:nvPr/>
            </p:nvSpPr>
            <p:spPr>
              <a:xfrm>
                <a:off x="6623844" y="250904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45" name="Freeform 45"/>
              <p:cNvSpPr/>
              <p:nvPr/>
            </p:nvSpPr>
            <p:spPr>
              <a:xfrm>
                <a:off x="6588919" y="2474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47" name="TextBox 47"/>
            <p:cNvSpPr txBox="1"/>
            <p:nvPr/>
          </p:nvSpPr>
          <p:spPr>
            <a:xfrm>
              <a:off x="6947535" y="2497931"/>
              <a:ext cx="614528" cy="220028"/>
            </a:xfrm>
            <a:prstGeom prst="rect">
              <a:avLst/>
            </a:prstGeom>
            <a:noFill/>
            <a:ln>
              <a:noFill/>
            </a:ln>
          </p:spPr>
          <p:txBody>
            <a:bodyPr wrap="none" lIns="0" tIns="0" rIns="0" bIns="0" anchor="t" anchorCtr="0">
              <a:spAutoFit/>
            </a:bodyPr>
            <a:lstStyle/>
            <a:p>
              <a:pPr algn="l"/>
              <a:r>
                <a:rPr lang="zh-CN" sz="1120" b="1" dirty="0">
                  <a:solidFill>
                    <a:srgbClr val="333333"/>
                  </a:solidFill>
                  <a:latin typeface="+mn-lt"/>
                  <a:ea typeface="+mn-ea"/>
                  <a:cs typeface="+mn-cs"/>
                </a:rPr>
                <a:t>用户增长</a:t>
              </a:r>
            </a:p>
          </p:txBody>
        </p:sp>
        <p:sp>
          <p:nvSpPr>
            <p:cNvPr id="48" name="Ellipse 48"/>
            <p:cNvSpPr/>
            <p:nvPr/>
          </p:nvSpPr>
          <p:spPr>
            <a:xfrm>
              <a:off x="8191500" y="2362200"/>
              <a:ext cx="381000" cy="381000"/>
            </a:xfrm>
            <a:prstGeom prst="ellipse">
              <a:avLst/>
            </a:prstGeom>
            <a:solidFill>
              <a:srgbClr val="9C594C"/>
            </a:solidFill>
            <a:ln>
              <a:noFill/>
            </a:ln>
          </p:spPr>
        </p:sp>
        <p:grpSp>
          <p:nvGrpSpPr>
            <p:cNvPr id="51" name="Group 51"/>
            <p:cNvGrpSpPr/>
            <p:nvPr/>
          </p:nvGrpSpPr>
          <p:grpSpPr>
            <a:xfrm>
              <a:off x="8303419" y="2509044"/>
              <a:ext cx="157163" cy="87313"/>
              <a:chOff x="8303419" y="2509044"/>
              <a:chExt cx="157163" cy="87313"/>
            </a:xfrm>
          </p:grpSpPr>
          <p:sp>
            <p:nvSpPr>
              <p:cNvPr id="49" name="Freeform 49"/>
              <p:cNvSpPr/>
              <p:nvPr/>
            </p:nvSpPr>
            <p:spPr>
              <a:xfrm>
                <a:off x="8303419" y="2509044"/>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FFFFFF"/>
                </a:solidFill>
              </a:ln>
            </p:spPr>
          </p:sp>
          <p:sp>
            <p:nvSpPr>
              <p:cNvPr id="50" name="Freeform 50"/>
              <p:cNvSpPr/>
              <p:nvPr/>
            </p:nvSpPr>
            <p:spPr>
              <a:xfrm>
                <a:off x="8399463" y="2509044"/>
                <a:ext cx="61119" cy="61119"/>
              </a:xfrm>
              <a:custGeom>
                <a:avLst/>
                <a:gdLst/>
                <a:ahLst/>
                <a:cxnLst/>
                <a:rect l="l" t="t" r="r" b="b"/>
                <a:pathLst>
                  <a:path w="61119" h="61119">
                    <a:moveTo>
                      <a:pt x="0" y="0"/>
                    </a:moveTo>
                    <a:lnTo>
                      <a:pt x="61119" y="0"/>
                    </a:lnTo>
                    <a:lnTo>
                      <a:pt x="61119" y="61119"/>
                    </a:lnTo>
                  </a:path>
                </a:pathLst>
              </a:custGeom>
              <a:noFill/>
              <a:ln w="17463">
                <a:solidFill>
                  <a:srgbClr val="FFFFFF"/>
                </a:solidFill>
              </a:ln>
            </p:spPr>
          </p:sp>
        </p:grpSp>
        <p:sp>
          <p:nvSpPr>
            <p:cNvPr id="52" name="TextBox 52"/>
            <p:cNvSpPr txBox="1"/>
            <p:nvPr/>
          </p:nvSpPr>
          <p:spPr>
            <a:xfrm>
              <a:off x="8662035" y="2497931"/>
              <a:ext cx="614528" cy="220028"/>
            </a:xfrm>
            <a:prstGeom prst="rect">
              <a:avLst/>
            </a:prstGeom>
            <a:noFill/>
            <a:ln>
              <a:noFill/>
            </a:ln>
          </p:spPr>
          <p:txBody>
            <a:bodyPr wrap="none" lIns="0" tIns="0" rIns="0" bIns="0" anchor="t" anchorCtr="0">
              <a:spAutoFit/>
            </a:bodyPr>
            <a:lstStyle/>
            <a:p>
              <a:pPr algn="l"/>
              <a:r>
                <a:rPr lang="zh-CN" sz="1120" b="1" dirty="0">
                  <a:solidFill>
                    <a:srgbClr val="333333"/>
                  </a:solidFill>
                  <a:latin typeface="+mn-lt"/>
                  <a:ea typeface="+mn-ea"/>
                  <a:cs typeface="+mn-cs"/>
                </a:rPr>
                <a:t>生意增长</a:t>
              </a:r>
            </a:p>
          </p:txBody>
        </p:sp>
        <p:sp>
          <p:nvSpPr>
            <p:cNvPr id="53" name="Ellipse 53"/>
            <p:cNvSpPr/>
            <p:nvPr/>
          </p:nvSpPr>
          <p:spPr>
            <a:xfrm>
              <a:off x="9906000" y="2362200"/>
              <a:ext cx="381000" cy="381000"/>
            </a:xfrm>
            <a:prstGeom prst="ellipse">
              <a:avLst/>
            </a:prstGeom>
            <a:solidFill>
              <a:srgbClr val="9C594C"/>
            </a:solidFill>
            <a:ln>
              <a:noFill/>
            </a:ln>
          </p:spPr>
        </p:sp>
        <p:grpSp>
          <p:nvGrpSpPr>
            <p:cNvPr id="58" name="Group 58"/>
            <p:cNvGrpSpPr/>
            <p:nvPr/>
          </p:nvGrpSpPr>
          <p:grpSpPr>
            <a:xfrm>
              <a:off x="10017919" y="2482850"/>
              <a:ext cx="157163" cy="149225"/>
              <a:chOff x="10017919" y="2482850"/>
              <a:chExt cx="157163" cy="149225"/>
            </a:xfrm>
          </p:grpSpPr>
          <p:sp>
            <p:nvSpPr>
              <p:cNvPr id="54" name="Freeform 54"/>
              <p:cNvSpPr/>
              <p:nvPr/>
            </p:nvSpPr>
            <p:spPr>
              <a:xfrm>
                <a:off x="10017919" y="255270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FFFFFF"/>
                </a:solidFill>
              </a:ln>
            </p:spPr>
          </p:sp>
          <p:sp>
            <p:nvSpPr>
              <p:cNvPr id="55" name="Freeform 55"/>
              <p:cNvSpPr/>
              <p:nvPr/>
            </p:nvSpPr>
            <p:spPr>
              <a:xfrm>
                <a:off x="10122694" y="251777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FFFFFF"/>
                </a:solidFill>
              </a:ln>
            </p:spPr>
          </p:sp>
          <p:sp>
            <p:nvSpPr>
              <p:cNvPr id="56" name="Freeform 56"/>
              <p:cNvSpPr/>
              <p:nvPr/>
            </p:nvSpPr>
            <p:spPr>
              <a:xfrm>
                <a:off x="10070306" y="248285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FFFFFF"/>
                </a:solidFill>
              </a:ln>
            </p:spPr>
          </p:sp>
          <p:sp>
            <p:nvSpPr>
              <p:cNvPr id="57" name="Freeform 57"/>
              <p:cNvSpPr/>
              <p:nvPr/>
            </p:nvSpPr>
            <p:spPr>
              <a:xfrm>
                <a:off x="10026650" y="2622550"/>
                <a:ext cx="122238" cy="9525"/>
              </a:xfrm>
              <a:custGeom>
                <a:avLst/>
                <a:gdLst/>
                <a:ahLst/>
                <a:cxnLst/>
                <a:rect l="l" t="t" r="r" b="b"/>
                <a:pathLst>
                  <a:path w="122238" h="9525">
                    <a:moveTo>
                      <a:pt x="0" y="0"/>
                    </a:moveTo>
                    <a:lnTo>
                      <a:pt x="122238" y="0"/>
                    </a:lnTo>
                  </a:path>
                </a:pathLst>
              </a:custGeom>
              <a:noFill/>
              <a:ln w="17463">
                <a:solidFill>
                  <a:srgbClr val="FFFFFF"/>
                </a:solidFill>
              </a:ln>
            </p:spPr>
          </p:sp>
        </p:grpSp>
        <p:sp>
          <p:nvSpPr>
            <p:cNvPr id="59" name="TextBox 59"/>
            <p:cNvSpPr txBox="1"/>
            <p:nvPr/>
          </p:nvSpPr>
          <p:spPr>
            <a:xfrm>
              <a:off x="10376535" y="2497931"/>
              <a:ext cx="614528" cy="220028"/>
            </a:xfrm>
            <a:prstGeom prst="rect">
              <a:avLst/>
            </a:prstGeom>
            <a:noFill/>
            <a:ln>
              <a:noFill/>
            </a:ln>
          </p:spPr>
          <p:txBody>
            <a:bodyPr wrap="none" lIns="0" tIns="0" rIns="0" bIns="0" anchor="t" anchorCtr="0">
              <a:spAutoFit/>
            </a:bodyPr>
            <a:lstStyle/>
            <a:p>
              <a:pPr algn="l"/>
              <a:r>
                <a:rPr lang="zh-CN" sz="1120" b="1" dirty="0">
                  <a:solidFill>
                    <a:srgbClr val="333333"/>
                  </a:solidFill>
                  <a:latin typeface="+mn-lt"/>
                  <a:ea typeface="+mn-ea"/>
                  <a:cs typeface="+mn-cs"/>
                </a:rPr>
                <a:t>营销提效</a:t>
              </a:r>
            </a:p>
          </p:txBody>
        </p:sp>
      </p:grpSp>
      <p:grpSp>
        <p:nvGrpSpPr>
          <p:cNvPr id="88" name="card-1"/>
          <p:cNvGrpSpPr/>
          <p:nvPr/>
        </p:nvGrpSpPr>
        <p:grpSpPr>
          <a:xfrm>
            <a:off x="800100" y="3619500"/>
            <a:ext cx="2247900" cy="2667000"/>
            <a:chOff x="800100" y="3619500"/>
            <a:chExt cx="2247900" cy="2667000"/>
          </a:xfrm>
        </p:grpSpPr>
        <p:sp>
          <p:nvSpPr>
            <p:cNvPr id="61" name="Rectangle 61"/>
            <p:cNvSpPr/>
            <p:nvPr/>
          </p:nvSpPr>
          <p:spPr>
            <a:xfrm>
              <a:off x="800100" y="3619500"/>
              <a:ext cx="2247900" cy="2667000"/>
            </a:xfrm>
            <a:prstGeom prst="rect">
              <a:avLst/>
            </a:prstGeom>
            <a:solidFill>
              <a:srgbClr val="FFFFFF"/>
            </a:solidFill>
            <a:ln w="11430">
              <a:solidFill>
                <a:srgbClr val="BF857A"/>
              </a:solidFill>
              <a:custDash>
                <a:ds d="416667" sp="250000"/>
              </a:custDash>
            </a:ln>
          </p:spPr>
        </p:sp>
        <p:sp>
          <p:nvSpPr>
            <p:cNvPr id="62" name="Ellipse 62"/>
            <p:cNvSpPr/>
            <p:nvPr/>
          </p:nvSpPr>
          <p:spPr>
            <a:xfrm>
              <a:off x="971550" y="3867150"/>
              <a:ext cx="457200" cy="457200"/>
            </a:xfrm>
            <a:prstGeom prst="ellipse">
              <a:avLst/>
            </a:prstGeom>
            <a:solidFill>
              <a:srgbClr val="C9D8BD"/>
            </a:solidFill>
            <a:ln>
              <a:noFill/>
            </a:ln>
          </p:spPr>
        </p:sp>
        <p:grpSp>
          <p:nvGrpSpPr>
            <p:cNvPr id="66" name="Group 66"/>
            <p:cNvGrpSpPr/>
            <p:nvPr/>
          </p:nvGrpSpPr>
          <p:grpSpPr>
            <a:xfrm>
              <a:off x="1143000" y="4010025"/>
              <a:ext cx="142875" cy="171450"/>
              <a:chOff x="1143000" y="4010025"/>
              <a:chExt cx="142875" cy="171450"/>
            </a:xfrm>
          </p:grpSpPr>
          <p:sp>
            <p:nvSpPr>
              <p:cNvPr id="63" name="Freeform 63"/>
              <p:cNvSpPr/>
              <p:nvPr/>
            </p:nvSpPr>
            <p:spPr>
              <a:xfrm>
                <a:off x="1162050" y="40100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FFFFFF"/>
                </a:solidFill>
              </a:ln>
            </p:spPr>
          </p:sp>
          <p:sp>
            <p:nvSpPr>
              <p:cNvPr id="64" name="Freeform 64"/>
              <p:cNvSpPr/>
              <p:nvPr/>
            </p:nvSpPr>
            <p:spPr>
              <a:xfrm>
                <a:off x="1143000" y="412432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FFFFFF"/>
                </a:solidFill>
              </a:ln>
            </p:spPr>
          </p:sp>
          <p:sp>
            <p:nvSpPr>
              <p:cNvPr id="65" name="Freeform 65"/>
              <p:cNvSpPr/>
              <p:nvPr/>
            </p:nvSpPr>
            <p:spPr>
              <a:xfrm>
                <a:off x="1228725" y="4143375"/>
                <a:ext cx="57150" cy="38100"/>
              </a:xfrm>
              <a:custGeom>
                <a:avLst/>
                <a:gdLst/>
                <a:ahLst/>
                <a:cxnLst/>
                <a:rect l="l" t="t" r="r" b="b"/>
                <a:pathLst>
                  <a:path w="57150" h="38100">
                    <a:moveTo>
                      <a:pt x="0" y="19050"/>
                    </a:moveTo>
                    <a:lnTo>
                      <a:pt x="19050" y="38100"/>
                    </a:lnTo>
                    <a:lnTo>
                      <a:pt x="57150" y="0"/>
                    </a:lnTo>
                  </a:path>
                </a:pathLst>
              </a:custGeom>
              <a:noFill/>
              <a:ln w="19050">
                <a:solidFill>
                  <a:srgbClr val="FFFFFF"/>
                </a:solidFill>
              </a:ln>
            </p:spPr>
          </p:sp>
        </p:grpSp>
        <p:sp>
          <p:nvSpPr>
            <p:cNvPr id="67" name="TextBox 67"/>
            <p:cNvSpPr txBox="1"/>
            <p:nvPr/>
          </p:nvSpPr>
          <p:spPr>
            <a:xfrm>
              <a:off x="1538288" y="3960495"/>
              <a:ext cx="251841" cy="176212"/>
            </a:xfrm>
            <a:prstGeom prst="rect">
              <a:avLst/>
            </a:prstGeom>
            <a:noFill/>
            <a:ln>
              <a:noFill/>
            </a:ln>
          </p:spPr>
          <p:txBody>
            <a:bodyPr wrap="none" lIns="0" tIns="0" rIns="0" bIns="0" anchor="t" anchorCtr="0">
              <a:spAutoFit/>
            </a:bodyPr>
            <a:lstStyle/>
            <a:p>
              <a:pPr algn="l"/>
              <a:r>
                <a:rPr lang="zh-CN" sz="900" b="1" dirty="0">
                  <a:solidFill>
                    <a:srgbClr val="333333"/>
                  </a:solidFill>
                  <a:latin typeface="+mn-lt"/>
                  <a:ea typeface="+mn-ea"/>
                  <a:cs typeface="+mn-cs"/>
                </a:rPr>
                <a:t>阿飞</a:t>
              </a:r>
            </a:p>
          </p:txBody>
        </p:sp>
        <p:sp>
          <p:nvSpPr>
            <p:cNvPr id="68" name="TextBox 68"/>
            <p:cNvSpPr txBox="1"/>
            <p:nvPr/>
          </p:nvSpPr>
          <p:spPr>
            <a:xfrm>
              <a:off x="1538288" y="4167188"/>
              <a:ext cx="1009078" cy="147638"/>
            </a:xfrm>
            <a:prstGeom prst="rect">
              <a:avLst/>
            </a:prstGeom>
            <a:noFill/>
            <a:ln>
              <a:noFill/>
            </a:ln>
          </p:spPr>
          <p:txBody>
            <a:bodyPr wrap="none" lIns="0" tIns="0" rIns="0" bIns="0" anchor="t" anchorCtr="0">
              <a:spAutoFit/>
            </a:bodyPr>
            <a:lstStyle/>
            <a:p>
              <a:pPr algn="l"/>
              <a:r>
                <a:rPr lang="zh-CN" sz="750" dirty="0">
                  <a:solidFill>
                    <a:srgbClr val="595959"/>
                  </a:solidFill>
                  <a:latin typeface="+mn-lt"/>
                  <a:ea typeface="+mn-ea"/>
                  <a:cs typeface="+mn-cs"/>
                </a:rPr>
                <a:t>公司总经理 | 市场主管</a:t>
              </a:r>
            </a:p>
          </p:txBody>
        </p:sp>
        <p:sp>
          <p:nvSpPr>
            <p:cNvPr id="69" name="TextBox 69"/>
            <p:cNvSpPr txBox="1"/>
            <p:nvPr/>
          </p:nvSpPr>
          <p:spPr>
            <a:xfrm>
              <a:off x="947738" y="4456986"/>
              <a:ext cx="1551432"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333333"/>
                  </a:solidFill>
                  <a:latin typeface="+mn-lt"/>
                  <a:ea typeface="+mn-ea"/>
                  <a:cs typeface="+mn-cs"/>
                </a:rPr>
                <a:t>3年人事行政工作经验，精通人力资源​</a:t>
              </a:r>
              <a:br/>
              <a:r>
                <a:rPr lang="zh-CN" sz="710" dirty="0">
                  <a:solidFill>
                    <a:srgbClr val="333333"/>
                  </a:solidFill>
                  <a:latin typeface="+mn-lt"/>
                  <a:ea typeface="+mn-ea"/>
                  <a:cs typeface="+mn-cs"/>
                </a:rPr>
                <a:t>各模块专业知识，熟悉招聘员工。</a:t>
              </a:r>
            </a:p>
          </p:txBody>
        </p:sp>
        <p:sp>
          <p:nvSpPr>
            <p:cNvPr id="70" name="TextBox 70"/>
            <p:cNvSpPr txBox="1"/>
            <p:nvPr/>
          </p:nvSpPr>
          <p:spPr>
            <a:xfrm>
              <a:off x="947738" y="4882991"/>
              <a:ext cx="561467" cy="161925"/>
            </a:xfrm>
            <a:prstGeom prst="rect">
              <a:avLst/>
            </a:prstGeom>
            <a:noFill/>
            <a:ln>
              <a:noFill/>
            </a:ln>
          </p:spPr>
          <p:txBody>
            <a:bodyPr wrap="none" lIns="0" tIns="0" rIns="0" bIns="0" anchor="t" anchorCtr="0">
              <a:spAutoFit/>
            </a:bodyPr>
            <a:lstStyle/>
            <a:p>
              <a:pPr algn="l"/>
              <a:r>
                <a:rPr lang="zh-CN" sz="820" b="1" dirty="0">
                  <a:solidFill>
                    <a:srgbClr val="D6391E"/>
                  </a:solidFill>
                  <a:latin typeface="+mn-lt"/>
                  <a:ea typeface="+mn-ea"/>
                  <a:cs typeface="+mn-cs"/>
                </a:rPr>
                <a:t>联系方式：</a:t>
              </a:r>
            </a:p>
          </p:txBody>
        </p:sp>
        <p:sp>
          <p:nvSpPr>
            <p:cNvPr id="71" name="Ellipse 71"/>
            <p:cNvSpPr/>
            <p:nvPr/>
          </p:nvSpPr>
          <p:spPr>
            <a:xfrm>
              <a:off x="981075" y="5133975"/>
              <a:ext cx="171450" cy="171450"/>
            </a:xfrm>
            <a:prstGeom prst="ellipse">
              <a:avLst/>
            </a:prstGeom>
            <a:solidFill>
              <a:srgbClr val="9C594C"/>
            </a:solidFill>
            <a:ln>
              <a:noFill/>
            </a:ln>
          </p:spPr>
        </p:sp>
        <p:grpSp>
          <p:nvGrpSpPr>
            <p:cNvPr id="75" name="Group 75"/>
            <p:cNvGrpSpPr/>
            <p:nvPr/>
          </p:nvGrpSpPr>
          <p:grpSpPr>
            <a:xfrm>
              <a:off x="1038225" y="5176838"/>
              <a:ext cx="57150" cy="85725"/>
              <a:chOff x="1038225" y="5176838"/>
              <a:chExt cx="57150" cy="85725"/>
            </a:xfrm>
          </p:grpSpPr>
          <p:sp>
            <p:nvSpPr>
              <p:cNvPr id="72" name="Freeform 72"/>
              <p:cNvSpPr/>
              <p:nvPr/>
            </p:nvSpPr>
            <p:spPr>
              <a:xfrm>
                <a:off x="1038225" y="5176838"/>
                <a:ext cx="57150" cy="85725"/>
              </a:xfrm>
              <a:custGeom>
                <a:avLst/>
                <a:gdLst/>
                <a:ahLst/>
                <a:cxnLst/>
                <a:rect l="l" t="t" r="r" b="b"/>
                <a:pathLst>
                  <a:path w="57150" h="85725">
                    <a:moveTo>
                      <a:pt x="0" y="9525"/>
                    </a:moveTo>
                    <a:cubicBezTo>
                      <a:pt x="0" y="4264"/>
                      <a:pt x="4264" y="0"/>
                      <a:pt x="9525" y="0"/>
                    </a:cubicBezTo>
                    <a:lnTo>
                      <a:pt x="47625" y="0"/>
                    </a:lnTo>
                    <a:cubicBezTo>
                      <a:pt x="52886" y="0"/>
                      <a:pt x="57150" y="4264"/>
                      <a:pt x="57150" y="9525"/>
                    </a:cubicBezTo>
                    <a:lnTo>
                      <a:pt x="57150" y="76200"/>
                    </a:lnTo>
                    <a:cubicBezTo>
                      <a:pt x="57150" y="81461"/>
                      <a:pt x="52886" y="85725"/>
                      <a:pt x="47625" y="85725"/>
                    </a:cubicBezTo>
                    <a:lnTo>
                      <a:pt x="9525" y="85725"/>
                    </a:lnTo>
                    <a:cubicBezTo>
                      <a:pt x="4264" y="85725"/>
                      <a:pt x="0" y="81461"/>
                      <a:pt x="0" y="76200"/>
                    </a:cubicBezTo>
                    <a:lnTo>
                      <a:pt x="0" y="9525"/>
                    </a:lnTo>
                  </a:path>
                </a:pathLst>
              </a:custGeom>
              <a:noFill/>
              <a:ln w="9525">
                <a:solidFill>
                  <a:srgbClr val="FFFFFF"/>
                </a:solidFill>
              </a:ln>
            </p:spPr>
          </p:sp>
          <p:sp>
            <p:nvSpPr>
              <p:cNvPr id="73" name="Freeform 73"/>
              <p:cNvSpPr/>
              <p:nvPr/>
            </p:nvSpPr>
            <p:spPr>
              <a:xfrm>
                <a:off x="1062038" y="5181600"/>
                <a:ext cx="9525" cy="9525"/>
              </a:xfrm>
              <a:custGeom>
                <a:avLst/>
                <a:gdLst/>
                <a:ahLst/>
                <a:cxnLst/>
                <a:rect l="l" t="t" r="r" b="b"/>
                <a:pathLst>
                  <a:path w="9525" h="9525">
                    <a:moveTo>
                      <a:pt x="0" y="0"/>
                    </a:moveTo>
                    <a:lnTo>
                      <a:pt x="9525" y="0"/>
                    </a:lnTo>
                  </a:path>
                </a:pathLst>
              </a:custGeom>
              <a:noFill/>
              <a:ln w="9525">
                <a:solidFill>
                  <a:srgbClr val="FFFFFF"/>
                </a:solidFill>
              </a:ln>
            </p:spPr>
          </p:sp>
          <p:sp>
            <p:nvSpPr>
              <p:cNvPr id="74" name="Freeform 74"/>
              <p:cNvSpPr/>
              <p:nvPr/>
            </p:nvSpPr>
            <p:spPr>
              <a:xfrm>
                <a:off x="1066800" y="5243512"/>
                <a:ext cx="9525" cy="9525"/>
              </a:xfrm>
              <a:custGeom>
                <a:avLst/>
                <a:gdLst/>
                <a:ahLst/>
                <a:cxnLst/>
                <a:rect l="l" t="t" r="r" b="b"/>
                <a:pathLst>
                  <a:path w="9525" h="9525">
                    <a:moveTo>
                      <a:pt x="0" y="0"/>
                    </a:moveTo>
                    <a:lnTo>
                      <a:pt x="0" y="48"/>
                    </a:lnTo>
                  </a:path>
                </a:pathLst>
              </a:custGeom>
              <a:noFill/>
              <a:ln w="9525">
                <a:solidFill>
                  <a:srgbClr val="FFFFFF"/>
                </a:solidFill>
              </a:ln>
            </p:spPr>
          </p:sp>
        </p:grpSp>
        <p:sp>
          <p:nvSpPr>
            <p:cNvPr id="76" name="TextBox 76"/>
            <p:cNvSpPr txBox="1"/>
            <p:nvPr/>
          </p:nvSpPr>
          <p:spPr>
            <a:xfrm>
              <a:off x="1252538" y="5176838"/>
              <a:ext cx="680942"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138 8888 8888</a:t>
              </a:r>
            </a:p>
          </p:txBody>
        </p:sp>
        <p:sp>
          <p:nvSpPr>
            <p:cNvPr id="77" name="Ellipse 77"/>
            <p:cNvSpPr/>
            <p:nvPr/>
          </p:nvSpPr>
          <p:spPr>
            <a:xfrm>
              <a:off x="981075" y="5419725"/>
              <a:ext cx="171450" cy="171450"/>
            </a:xfrm>
            <a:prstGeom prst="ellipse">
              <a:avLst/>
            </a:prstGeom>
            <a:solidFill>
              <a:srgbClr val="9C594C"/>
            </a:solidFill>
            <a:ln>
              <a:noFill/>
            </a:ln>
          </p:spPr>
        </p:sp>
        <p:sp>
          <p:nvSpPr>
            <p:cNvPr id="78" name="Freeform 78"/>
            <p:cNvSpPr/>
            <p:nvPr/>
          </p:nvSpPr>
          <p:spPr>
            <a:xfrm>
              <a:off x="1019061" y="5463659"/>
              <a:ext cx="95079" cy="84282"/>
            </a:xfrm>
            <a:custGeom>
              <a:avLst/>
              <a:gdLst/>
              <a:ahLst/>
              <a:cxnLst/>
              <a:rect l="l" t="t" r="r" b="b"/>
              <a:pathLst>
                <a:path w="95079" h="84282">
                  <a:moveTo>
                    <a:pt x="4877" y="79891"/>
                  </a:moveTo>
                  <a:lnTo>
                    <a:pt x="11068" y="61317"/>
                  </a:lnTo>
                  <a:cubicBezTo>
                    <a:pt x="0" y="44948"/>
                    <a:pt x="4277" y="23827"/>
                    <a:pt x="21069" y="11911"/>
                  </a:cubicBezTo>
                  <a:cubicBezTo>
                    <a:pt x="37862" y="0"/>
                    <a:pt x="61979" y="976"/>
                    <a:pt x="77481" y="14197"/>
                  </a:cubicBezTo>
                  <a:cubicBezTo>
                    <a:pt x="92983" y="27422"/>
                    <a:pt x="95079" y="48801"/>
                    <a:pt x="82382" y="64208"/>
                  </a:cubicBezTo>
                  <a:cubicBezTo>
                    <a:pt x="69685" y="79615"/>
                    <a:pt x="46115" y="84282"/>
                    <a:pt x="27261" y="75128"/>
                  </a:cubicBezTo>
                  <a:lnTo>
                    <a:pt x="4877" y="79891"/>
                  </a:lnTo>
                </a:path>
              </a:pathLst>
            </a:custGeom>
            <a:noFill/>
            <a:ln w="9525">
              <a:solidFill>
                <a:srgbClr val="FFFFFF"/>
              </a:solidFill>
            </a:ln>
          </p:spPr>
        </p:sp>
        <p:sp>
          <p:nvSpPr>
            <p:cNvPr id="79" name="TextBox 79"/>
            <p:cNvSpPr txBox="1"/>
            <p:nvPr/>
          </p:nvSpPr>
          <p:spPr>
            <a:xfrm>
              <a:off x="1252538" y="5462588"/>
              <a:ext cx="676275" cy="147638"/>
            </a:xfrm>
            <a:prstGeom prst="rect">
              <a:avLst/>
            </a:prstGeom>
            <a:noFill/>
            <a:ln>
              <a:noFill/>
            </a:ln>
          </p:spPr>
          <p:txBody>
            <a:bodyPr wrap="none" lIns="0" tIns="0" rIns="0" bIns="0" anchor="t" anchorCtr="0">
              <a:spAutoFit/>
            </a:bodyPr>
            <a:lstStyle/>
            <a:p>
              <a:pPr algn="l"/>
              <a:r>
                <a:rPr lang="en-US" sz="750" dirty="0">
                  <a:solidFill>
                    <a:srgbClr val="333333"/>
                  </a:solidFill>
                  <a:latin typeface="+mn-lt"/>
                  <a:ea typeface="+mn-ea"/>
                  <a:cs typeface="+mn-cs"/>
                </a:rPr>
                <a:t>MX-61800000</a:t>
              </a:r>
            </a:p>
          </p:txBody>
        </p:sp>
        <p:sp>
          <p:nvSpPr>
            <p:cNvPr id="80" name="Ellipse 80"/>
            <p:cNvSpPr/>
            <p:nvPr/>
          </p:nvSpPr>
          <p:spPr>
            <a:xfrm>
              <a:off x="981075" y="5705475"/>
              <a:ext cx="171450" cy="171450"/>
            </a:xfrm>
            <a:prstGeom prst="ellipse">
              <a:avLst/>
            </a:prstGeom>
            <a:solidFill>
              <a:srgbClr val="9C594C"/>
            </a:solidFill>
            <a:ln>
              <a:noFill/>
            </a:ln>
          </p:spPr>
        </p:sp>
        <p:grpSp>
          <p:nvGrpSpPr>
            <p:cNvPr id="86" name="Group 86"/>
            <p:cNvGrpSpPr/>
            <p:nvPr/>
          </p:nvGrpSpPr>
          <p:grpSpPr>
            <a:xfrm>
              <a:off x="1033462" y="5748338"/>
              <a:ext cx="66675" cy="85725"/>
              <a:chOff x="1033462" y="5748338"/>
              <a:chExt cx="66675" cy="85725"/>
            </a:xfrm>
          </p:grpSpPr>
          <p:sp>
            <p:nvSpPr>
              <p:cNvPr id="81" name="Freeform 81"/>
              <p:cNvSpPr/>
              <p:nvPr/>
            </p:nvSpPr>
            <p:spPr>
              <a:xfrm>
                <a:off x="1076325" y="5748338"/>
                <a:ext cx="23812" cy="23812"/>
              </a:xfrm>
              <a:custGeom>
                <a:avLst/>
                <a:gdLst/>
                <a:ahLst/>
                <a:cxnLst/>
                <a:rect l="l" t="t" r="r" b="b"/>
                <a:pathLst>
                  <a:path w="23812" h="23812">
                    <a:moveTo>
                      <a:pt x="0" y="0"/>
                    </a:moveTo>
                    <a:lnTo>
                      <a:pt x="0" y="19050"/>
                    </a:lnTo>
                    <a:cubicBezTo>
                      <a:pt x="0" y="21680"/>
                      <a:pt x="2132" y="23812"/>
                      <a:pt x="4762" y="23812"/>
                    </a:cubicBezTo>
                    <a:lnTo>
                      <a:pt x="23812" y="23812"/>
                    </a:lnTo>
                  </a:path>
                </a:pathLst>
              </a:custGeom>
              <a:noFill/>
              <a:ln w="9525">
                <a:solidFill>
                  <a:srgbClr val="FFFFFF"/>
                </a:solidFill>
              </a:ln>
            </p:spPr>
          </p:sp>
          <p:sp>
            <p:nvSpPr>
              <p:cNvPr id="82" name="Freeform 82"/>
              <p:cNvSpPr/>
              <p:nvPr/>
            </p:nvSpPr>
            <p:spPr>
              <a:xfrm>
                <a:off x="1033462" y="5748338"/>
                <a:ext cx="66675" cy="85725"/>
              </a:xfrm>
              <a:custGeom>
                <a:avLst/>
                <a:gdLst/>
                <a:ahLst/>
                <a:cxnLst/>
                <a:rect l="l" t="t" r="r" b="b"/>
                <a:pathLst>
                  <a:path w="66675" h="85725">
                    <a:moveTo>
                      <a:pt x="57150" y="85725"/>
                    </a:moveTo>
                    <a:lnTo>
                      <a:pt x="9525" y="85725"/>
                    </a:lnTo>
                    <a:cubicBezTo>
                      <a:pt x="4264" y="85725"/>
                      <a:pt x="0" y="81461"/>
                      <a:pt x="0" y="76200"/>
                    </a:cubicBezTo>
                    <a:lnTo>
                      <a:pt x="0" y="9525"/>
                    </a:lnTo>
                    <a:cubicBezTo>
                      <a:pt x="0" y="4264"/>
                      <a:pt x="4264" y="0"/>
                      <a:pt x="9525" y="0"/>
                    </a:cubicBezTo>
                    <a:lnTo>
                      <a:pt x="42862" y="0"/>
                    </a:lnTo>
                    <a:lnTo>
                      <a:pt x="66675" y="23812"/>
                    </a:lnTo>
                    <a:lnTo>
                      <a:pt x="66675" y="76200"/>
                    </a:lnTo>
                    <a:cubicBezTo>
                      <a:pt x="66675" y="81461"/>
                      <a:pt x="62411" y="85725"/>
                      <a:pt x="57150" y="85725"/>
                    </a:cubicBezTo>
                  </a:path>
                </a:pathLst>
              </a:custGeom>
              <a:noFill/>
              <a:ln w="9525">
                <a:solidFill>
                  <a:srgbClr val="FFFFFF"/>
                </a:solidFill>
              </a:ln>
            </p:spPr>
          </p:sp>
          <p:sp>
            <p:nvSpPr>
              <p:cNvPr id="83" name="Freeform 83"/>
              <p:cNvSpPr/>
              <p:nvPr/>
            </p:nvSpPr>
            <p:spPr>
              <a:xfrm>
                <a:off x="1052512" y="5776912"/>
                <a:ext cx="9525" cy="9525"/>
              </a:xfrm>
              <a:custGeom>
                <a:avLst/>
                <a:gdLst/>
                <a:ahLst/>
                <a:cxnLst/>
                <a:rect l="l" t="t" r="r" b="b"/>
                <a:pathLst>
                  <a:path w="9525" h="9525">
                    <a:moveTo>
                      <a:pt x="0" y="0"/>
                    </a:moveTo>
                    <a:lnTo>
                      <a:pt x="4762" y="0"/>
                    </a:lnTo>
                  </a:path>
                </a:pathLst>
              </a:custGeom>
              <a:noFill/>
              <a:ln w="9525">
                <a:solidFill>
                  <a:srgbClr val="FFFFFF"/>
                </a:solidFill>
              </a:ln>
            </p:spPr>
          </p:sp>
          <p:sp>
            <p:nvSpPr>
              <p:cNvPr id="84" name="Freeform 84"/>
              <p:cNvSpPr/>
              <p:nvPr/>
            </p:nvSpPr>
            <p:spPr>
              <a:xfrm>
                <a:off x="1052512" y="5795962"/>
                <a:ext cx="28575" cy="9525"/>
              </a:xfrm>
              <a:custGeom>
                <a:avLst/>
                <a:gdLst/>
                <a:ahLst/>
                <a:cxnLst/>
                <a:rect l="l" t="t" r="r" b="b"/>
                <a:pathLst>
                  <a:path w="28575" h="9525">
                    <a:moveTo>
                      <a:pt x="0" y="0"/>
                    </a:moveTo>
                    <a:lnTo>
                      <a:pt x="28575" y="0"/>
                    </a:lnTo>
                  </a:path>
                </a:pathLst>
              </a:custGeom>
              <a:noFill/>
              <a:ln w="9525">
                <a:solidFill>
                  <a:srgbClr val="FFFFFF"/>
                </a:solidFill>
              </a:ln>
            </p:spPr>
          </p:sp>
          <p:sp>
            <p:nvSpPr>
              <p:cNvPr id="85" name="Freeform 85"/>
              <p:cNvSpPr/>
              <p:nvPr/>
            </p:nvSpPr>
            <p:spPr>
              <a:xfrm>
                <a:off x="1052512" y="5815012"/>
                <a:ext cx="28575" cy="9525"/>
              </a:xfrm>
              <a:custGeom>
                <a:avLst/>
                <a:gdLst/>
                <a:ahLst/>
                <a:cxnLst/>
                <a:rect l="l" t="t" r="r" b="b"/>
                <a:pathLst>
                  <a:path w="28575" h="9525">
                    <a:moveTo>
                      <a:pt x="0" y="0"/>
                    </a:moveTo>
                    <a:lnTo>
                      <a:pt x="28575" y="0"/>
                    </a:lnTo>
                  </a:path>
                </a:pathLst>
              </a:custGeom>
              <a:noFill/>
              <a:ln w="9525">
                <a:solidFill>
                  <a:srgbClr val="FFFFFF"/>
                </a:solidFill>
              </a:ln>
            </p:spPr>
          </p:sp>
        </p:grpSp>
        <p:sp>
          <p:nvSpPr>
            <p:cNvPr id="87" name="TextBox 87"/>
            <p:cNvSpPr txBox="1"/>
            <p:nvPr/>
          </p:nvSpPr>
          <p:spPr>
            <a:xfrm>
              <a:off x="1252538" y="5748338"/>
              <a:ext cx="998982" cy="147638"/>
            </a:xfrm>
            <a:prstGeom prst="rect">
              <a:avLst/>
            </a:prstGeom>
            <a:noFill/>
            <a:ln>
              <a:noFill/>
            </a:ln>
          </p:spPr>
          <p:txBody>
            <a:bodyPr wrap="none" lIns="0" tIns="0" rIns="0" bIns="0" anchor="t" anchorCtr="0">
              <a:spAutoFit/>
            </a:bodyPr>
            <a:lstStyle/>
            <a:p>
              <a:pPr algn="l"/>
              <a:r>
                <a:rPr lang="en-US" sz="750" dirty="0">
                  <a:solidFill>
                    <a:srgbClr val="333333"/>
                  </a:solidFill>
                  <a:latin typeface="+mn-lt"/>
                  <a:ea typeface="+mn-ea"/>
                  <a:cs typeface="+mn-cs"/>
                </a:rPr>
                <a:t>61800000@gmail.com</a:t>
              </a:r>
            </a:p>
          </p:txBody>
        </p:sp>
      </p:grpSp>
      <p:grpSp>
        <p:nvGrpSpPr>
          <p:cNvPr id="114" name="card-2"/>
          <p:cNvGrpSpPr/>
          <p:nvPr/>
        </p:nvGrpSpPr>
        <p:grpSpPr>
          <a:xfrm>
            <a:off x="3219450" y="3619500"/>
            <a:ext cx="2667000" cy="2667000"/>
            <a:chOff x="3219450" y="3619500"/>
            <a:chExt cx="2667000" cy="2667000"/>
          </a:xfrm>
        </p:grpSpPr>
        <p:sp>
          <p:nvSpPr>
            <p:cNvPr id="89" name="Rectangle 89"/>
            <p:cNvSpPr/>
            <p:nvPr/>
          </p:nvSpPr>
          <p:spPr>
            <a:xfrm>
              <a:off x="3219450" y="3619500"/>
              <a:ext cx="2667000" cy="2667000"/>
            </a:xfrm>
            <a:prstGeom prst="rect">
              <a:avLst/>
            </a:prstGeom>
            <a:solidFill>
              <a:srgbClr val="FFFFFF"/>
            </a:solidFill>
            <a:ln w="11430">
              <a:solidFill>
                <a:srgbClr val="E9563C"/>
              </a:solidFill>
              <a:custDash>
                <a:ds d="416667" sp="250000"/>
              </a:custDash>
            </a:ln>
          </p:spPr>
        </p:sp>
        <p:sp>
          <p:nvSpPr>
            <p:cNvPr id="90" name="TextBox 90"/>
            <p:cNvSpPr txBox="1"/>
            <p:nvPr/>
          </p:nvSpPr>
          <p:spPr>
            <a:xfrm>
              <a:off x="3367088" y="3908584"/>
              <a:ext cx="690245" cy="533400"/>
            </a:xfrm>
            <a:prstGeom prst="rect">
              <a:avLst/>
            </a:prstGeom>
            <a:noFill/>
            <a:ln>
              <a:noFill/>
            </a:ln>
          </p:spPr>
          <p:txBody>
            <a:bodyPr wrap="none" lIns="0" tIns="0" rIns="0" bIns="0" anchor="t" anchorCtr="0">
              <a:spAutoFit/>
            </a:bodyPr>
            <a:lstStyle/>
            <a:p>
              <a:pPr algn="l" marL="76200" indent="-76200">
                <a:lnSpc>
                  <a:spcPts val="1050"/>
                </a:lnSpc>
                <a:buClr>
                  <a:srgbClr val="333333"/>
                </a:buClr>
                <a:buSzTx/>
                <a:buFontTx/>
                <a:buChar char="■"/>
              </a:pPr>
              <a:r>
                <a:rPr lang="zh-CN" sz="680" dirty="0">
                  <a:solidFill>
                    <a:srgbClr val="333333"/>
                  </a:solidFill>
                  <a:latin typeface="+mn-lt"/>
                  <a:ea typeface="+mn-ea"/>
                  <a:cs typeface="+mn-cs"/>
                </a:rPr>
                <a:t>数据分析是指用</a:t>
              </a:r>
              <a:br/>
              <a:r>
                <a:rPr lang="zh-CN" sz="680" dirty="0">
                  <a:solidFill>
                    <a:srgbClr val="333333"/>
                  </a:solidFill>
                  <a:latin typeface="+mn-lt"/>
                  <a:ea typeface="+mn-ea"/>
                  <a:cs typeface="+mn-cs"/>
                </a:rPr>
                <a:t>适当的统计分析</a:t>
              </a:r>
              <a:br/>
              <a:r>
                <a:rPr lang="zh-CN" sz="680" dirty="0">
                  <a:solidFill>
                    <a:srgbClr val="333333"/>
                  </a:solidFill>
                  <a:latin typeface="+mn-lt"/>
                  <a:ea typeface="+mn-ea"/>
                  <a:cs typeface="+mn-cs"/>
                </a:rPr>
                <a:t>方法对收集来的</a:t>
              </a:r>
              <a:br/>
              <a:r>
                <a:rPr lang="zh-CN" sz="680" dirty="0">
                  <a:solidFill>
                    <a:srgbClr val="333333"/>
                  </a:solidFill>
                  <a:latin typeface="+mn-lt"/>
                  <a:ea typeface="+mn-ea"/>
                  <a:cs typeface="+mn-cs"/>
                </a:rPr>
                <a:t>数据</a:t>
              </a:r>
            </a:p>
          </p:txBody>
        </p:sp>
        <p:sp>
          <p:nvSpPr>
            <p:cNvPr id="91" name="TextBox 91"/>
            <p:cNvSpPr txBox="1"/>
            <p:nvPr/>
          </p:nvSpPr>
          <p:spPr>
            <a:xfrm>
              <a:off x="3367088" y="4689634"/>
              <a:ext cx="690245" cy="400050"/>
            </a:xfrm>
            <a:prstGeom prst="rect">
              <a:avLst/>
            </a:prstGeom>
            <a:noFill/>
            <a:ln>
              <a:noFill/>
            </a:ln>
          </p:spPr>
          <p:txBody>
            <a:bodyPr wrap="none" lIns="0" tIns="0" rIns="0" bIns="0" anchor="t" anchorCtr="0">
              <a:spAutoFit/>
            </a:bodyPr>
            <a:lstStyle/>
            <a:p>
              <a:pPr algn="l" marL="76200" indent="-76200">
                <a:lnSpc>
                  <a:spcPts val="1050"/>
                </a:lnSpc>
                <a:buClr>
                  <a:srgbClr val="333333"/>
                </a:buClr>
                <a:buSzTx/>
                <a:buFontTx/>
                <a:buChar char="■"/>
              </a:pPr>
              <a:r>
                <a:rPr lang="zh-CN" sz="680" dirty="0">
                  <a:solidFill>
                    <a:srgbClr val="333333"/>
                  </a:solidFill>
                  <a:latin typeface="+mn-lt"/>
                  <a:ea typeface="+mn-ea"/>
                  <a:cs typeface="+mn-cs"/>
                </a:rPr>
                <a:t>数据分析是指用</a:t>
              </a:r>
              <a:br/>
              <a:r>
                <a:rPr lang="zh-CN" sz="680" dirty="0">
                  <a:solidFill>
                    <a:srgbClr val="333333"/>
                  </a:solidFill>
                  <a:latin typeface="+mn-lt"/>
                  <a:ea typeface="+mn-ea"/>
                  <a:cs typeface="+mn-cs"/>
                </a:rPr>
                <a:t>适当的统计分析</a:t>
              </a:r>
              <a:br/>
              <a:r>
                <a:rPr lang="zh-CN" sz="680" dirty="0">
                  <a:solidFill>
                    <a:srgbClr val="333333"/>
                  </a:solidFill>
                  <a:latin typeface="+mn-lt"/>
                  <a:ea typeface="+mn-ea"/>
                  <a:cs typeface="+mn-cs"/>
                </a:rPr>
                <a:t>方法对收集</a:t>
              </a:r>
            </a:p>
          </p:txBody>
        </p:sp>
        <p:sp>
          <p:nvSpPr>
            <p:cNvPr id="92" name="Ellipse 92"/>
            <p:cNvSpPr/>
            <p:nvPr/>
          </p:nvSpPr>
          <p:spPr>
            <a:xfrm>
              <a:off x="4762500" y="3810000"/>
              <a:ext cx="571500" cy="571500"/>
            </a:xfrm>
            <a:prstGeom prst="ellipse">
              <a:avLst/>
            </a:prstGeom>
            <a:solidFill>
              <a:srgbClr val="9C594C"/>
            </a:solidFill>
            <a:ln>
              <a:noFill/>
            </a:ln>
          </p:spPr>
        </p:sp>
        <p:grpSp>
          <p:nvGrpSpPr>
            <p:cNvPr id="95" name="Group 95"/>
            <p:cNvGrpSpPr/>
            <p:nvPr/>
          </p:nvGrpSpPr>
          <p:grpSpPr>
            <a:xfrm>
              <a:off x="4988312" y="3902462"/>
              <a:ext cx="119875" cy="119875"/>
              <a:chOff x="4988312" y="3902462"/>
              <a:chExt cx="119875" cy="119875"/>
            </a:xfrm>
          </p:grpSpPr>
          <p:sp>
            <p:nvSpPr>
              <p:cNvPr id="93" name="Freeform 93"/>
              <p:cNvSpPr/>
              <p:nvPr/>
            </p:nvSpPr>
            <p:spPr>
              <a:xfrm>
                <a:off x="4988312" y="390246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FFFFFF"/>
                </a:solidFill>
              </a:ln>
            </p:spPr>
          </p:sp>
          <p:sp>
            <p:nvSpPr>
              <p:cNvPr id="94" name="Freeform 94"/>
              <p:cNvSpPr/>
              <p:nvPr/>
            </p:nvSpPr>
            <p:spPr>
              <a:xfrm>
                <a:off x="5029200" y="39433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FFFFFF"/>
                </a:solidFill>
              </a:ln>
            </p:spPr>
          </p:sp>
        </p:grpSp>
        <p:sp>
          <p:nvSpPr>
            <p:cNvPr id="96" name="TextBox 96"/>
            <p:cNvSpPr txBox="1"/>
            <p:nvPr/>
          </p:nvSpPr>
          <p:spPr>
            <a:xfrm>
              <a:off x="4891088" y="4069080"/>
              <a:ext cx="314325" cy="214312"/>
            </a:xfrm>
            <a:prstGeom prst="rect">
              <a:avLst/>
            </a:prstGeom>
            <a:noFill/>
            <a:ln>
              <a:noFill/>
            </a:ln>
          </p:spPr>
          <p:txBody>
            <a:bodyPr wrap="none" lIns="0" tIns="0" rIns="0" bIns="0" anchor="t" anchorCtr="0">
              <a:spAutoFit/>
            </a:bodyPr>
            <a:lstStyle/>
            <a:p>
              <a:pPr algn="ctr">
                <a:lnSpc>
                  <a:spcPts val="750"/>
                </a:lnSpc>
              </a:pPr>
              <a:r>
                <a:rPr lang="zh-CN" sz="600" dirty="0">
                  <a:solidFill>
                    <a:srgbClr val="FFFFFF"/>
                  </a:solidFill>
                  <a:latin typeface="+mn-lt"/>
                  <a:ea typeface="+mn-ea"/>
                  <a:cs typeface="+mn-cs"/>
                </a:rPr>
                <a:t>修改后的</a:t>
              </a:r>
              <a:br/>
              <a:r>
                <a:rPr lang="zh-CN" sz="600" dirty="0">
                  <a:solidFill>
                    <a:srgbClr val="FFFFFF"/>
                  </a:solidFill>
                  <a:latin typeface="+mn-lt"/>
                  <a:ea typeface="+mn-ea"/>
                  <a:cs typeface="+mn-cs"/>
                </a:rPr>
                <a:t>价值观</a:t>
              </a:r>
            </a:p>
          </p:txBody>
        </p:sp>
        <p:sp>
          <p:nvSpPr>
            <p:cNvPr id="97" name="Ellipse 97"/>
            <p:cNvSpPr/>
            <p:nvPr/>
          </p:nvSpPr>
          <p:spPr>
            <a:xfrm>
              <a:off x="4476750" y="4305300"/>
              <a:ext cx="571500" cy="571500"/>
            </a:xfrm>
            <a:prstGeom prst="ellipse">
              <a:avLst/>
            </a:prstGeom>
            <a:solidFill>
              <a:srgbClr val="8C4B3F"/>
            </a:solidFill>
            <a:ln>
              <a:noFill/>
            </a:ln>
          </p:spPr>
        </p:sp>
        <p:grpSp>
          <p:nvGrpSpPr>
            <p:cNvPr id="100" name="Group 100"/>
            <p:cNvGrpSpPr/>
            <p:nvPr/>
          </p:nvGrpSpPr>
          <p:grpSpPr>
            <a:xfrm>
              <a:off x="4718050" y="4401149"/>
              <a:ext cx="88900" cy="113701"/>
              <a:chOff x="4718050" y="4401149"/>
              <a:chExt cx="88900" cy="113701"/>
            </a:xfrm>
          </p:grpSpPr>
          <p:sp>
            <p:nvSpPr>
              <p:cNvPr id="98" name="Freeform 98"/>
              <p:cNvSpPr/>
              <p:nvPr/>
            </p:nvSpPr>
            <p:spPr>
              <a:xfrm>
                <a:off x="4718050" y="4401149"/>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FFFFFF"/>
                </a:solidFill>
              </a:ln>
            </p:spPr>
          </p:sp>
          <p:sp>
            <p:nvSpPr>
              <p:cNvPr id="99" name="Freeform 99"/>
              <p:cNvSpPr/>
              <p:nvPr/>
            </p:nvSpPr>
            <p:spPr>
              <a:xfrm>
                <a:off x="4718050" y="4470400"/>
                <a:ext cx="9525" cy="44450"/>
              </a:xfrm>
              <a:custGeom>
                <a:avLst/>
                <a:gdLst/>
                <a:ahLst/>
                <a:cxnLst/>
                <a:rect l="l" t="t" r="r" b="b"/>
                <a:pathLst>
                  <a:path w="9525" h="44450">
                    <a:moveTo>
                      <a:pt x="0" y="44450"/>
                    </a:moveTo>
                    <a:lnTo>
                      <a:pt x="0" y="0"/>
                    </a:lnTo>
                  </a:path>
                </a:pathLst>
              </a:custGeom>
              <a:noFill/>
              <a:ln w="12700">
                <a:solidFill>
                  <a:srgbClr val="FFFFFF"/>
                </a:solidFill>
              </a:ln>
            </p:spPr>
          </p:sp>
        </p:grpSp>
        <p:sp>
          <p:nvSpPr>
            <p:cNvPr id="101" name="TextBox 101"/>
            <p:cNvSpPr txBox="1"/>
            <p:nvPr/>
          </p:nvSpPr>
          <p:spPr>
            <a:xfrm>
              <a:off x="4596194" y="4602480"/>
              <a:ext cx="33261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新的战略</a:t>
              </a:r>
            </a:p>
          </p:txBody>
        </p:sp>
        <p:sp>
          <p:nvSpPr>
            <p:cNvPr id="102" name="Ellipse 102"/>
            <p:cNvSpPr/>
            <p:nvPr/>
          </p:nvSpPr>
          <p:spPr>
            <a:xfrm>
              <a:off x="5048250" y="4305300"/>
              <a:ext cx="571500" cy="571500"/>
            </a:xfrm>
            <a:prstGeom prst="ellipse">
              <a:avLst/>
            </a:prstGeom>
            <a:solidFill>
              <a:srgbClr val="E9563C"/>
            </a:solidFill>
            <a:ln>
              <a:noFill/>
            </a:ln>
          </p:spPr>
        </p:sp>
        <p:grpSp>
          <p:nvGrpSpPr>
            <p:cNvPr id="106" name="Group 106"/>
            <p:cNvGrpSpPr/>
            <p:nvPr/>
          </p:nvGrpSpPr>
          <p:grpSpPr>
            <a:xfrm>
              <a:off x="5279403" y="4400550"/>
              <a:ext cx="109182" cy="113602"/>
              <a:chOff x="5279403" y="4400550"/>
              <a:chExt cx="109182" cy="113602"/>
            </a:xfrm>
          </p:grpSpPr>
          <p:sp>
            <p:nvSpPr>
              <p:cNvPr id="103" name="Freeform 103"/>
              <p:cNvSpPr/>
              <p:nvPr/>
            </p:nvSpPr>
            <p:spPr>
              <a:xfrm>
                <a:off x="5295900" y="44005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2700">
                <a:solidFill>
                  <a:srgbClr val="FFFFFF"/>
                </a:solidFill>
              </a:ln>
            </p:spPr>
          </p:sp>
          <p:sp>
            <p:nvSpPr>
              <p:cNvPr id="104" name="Freeform 104"/>
              <p:cNvSpPr/>
              <p:nvPr/>
            </p:nvSpPr>
            <p:spPr>
              <a:xfrm>
                <a:off x="5334000" y="4457700"/>
                <a:ext cx="54585" cy="56452"/>
              </a:xfrm>
              <a:custGeom>
                <a:avLst/>
                <a:gdLst/>
                <a:ahLst/>
                <a:cxnLst/>
                <a:rect l="l" t="t" r="r" b="b"/>
                <a:pathLst>
                  <a:path w="54585" h="56452">
                    <a:moveTo>
                      <a:pt x="0" y="19050"/>
                    </a:moveTo>
                    <a:lnTo>
                      <a:pt x="21590" y="56452"/>
                    </a:lnTo>
                    <a:lnTo>
                      <a:pt x="31737" y="35922"/>
                    </a:lnTo>
                    <a:lnTo>
                      <a:pt x="54585" y="37395"/>
                    </a:lnTo>
                    <a:lnTo>
                      <a:pt x="32995" y="0"/>
                    </a:lnTo>
                  </a:path>
                </a:pathLst>
              </a:custGeom>
              <a:noFill/>
              <a:ln w="12700">
                <a:solidFill>
                  <a:srgbClr val="FFFFFF"/>
                </a:solidFill>
              </a:ln>
            </p:spPr>
          </p:sp>
          <p:sp>
            <p:nvSpPr>
              <p:cNvPr id="105" name="Freeform 105"/>
              <p:cNvSpPr/>
              <p:nvPr/>
            </p:nvSpPr>
            <p:spPr>
              <a:xfrm>
                <a:off x="5279403" y="4457700"/>
                <a:ext cx="54585" cy="56445"/>
              </a:xfrm>
              <a:custGeom>
                <a:avLst/>
                <a:gdLst/>
                <a:ahLst/>
                <a:cxnLst/>
                <a:rect l="l" t="t" r="r" b="b"/>
                <a:pathLst>
                  <a:path w="54585" h="56445">
                    <a:moveTo>
                      <a:pt x="21590" y="0"/>
                    </a:moveTo>
                    <a:lnTo>
                      <a:pt x="0" y="37402"/>
                    </a:lnTo>
                    <a:lnTo>
                      <a:pt x="22847" y="35922"/>
                    </a:lnTo>
                    <a:lnTo>
                      <a:pt x="32995" y="56445"/>
                    </a:lnTo>
                    <a:lnTo>
                      <a:pt x="54585" y="19050"/>
                    </a:lnTo>
                  </a:path>
                </a:pathLst>
              </a:custGeom>
              <a:noFill/>
              <a:ln w="12700">
                <a:solidFill>
                  <a:srgbClr val="FFFFFF"/>
                </a:solidFill>
              </a:ln>
            </p:spPr>
          </p:sp>
        </p:grpSp>
        <p:sp>
          <p:nvSpPr>
            <p:cNvPr id="107" name="TextBox 107"/>
            <p:cNvSpPr txBox="1"/>
            <p:nvPr/>
          </p:nvSpPr>
          <p:spPr>
            <a:xfrm>
              <a:off x="5138738" y="4564380"/>
              <a:ext cx="390525" cy="214312"/>
            </a:xfrm>
            <a:prstGeom prst="rect">
              <a:avLst/>
            </a:prstGeom>
            <a:noFill/>
            <a:ln>
              <a:noFill/>
            </a:ln>
          </p:spPr>
          <p:txBody>
            <a:bodyPr wrap="none" lIns="0" tIns="0" rIns="0" bIns="0" anchor="t" anchorCtr="0">
              <a:spAutoFit/>
            </a:bodyPr>
            <a:lstStyle/>
            <a:p>
              <a:pPr algn="ctr">
                <a:lnSpc>
                  <a:spcPts val="750"/>
                </a:lnSpc>
              </a:pPr>
              <a:r>
                <a:rPr lang="zh-CN" sz="600" dirty="0">
                  <a:solidFill>
                    <a:srgbClr val="FFFFFF"/>
                  </a:solidFill>
                  <a:latin typeface="+mn-lt"/>
                  <a:ea typeface="+mn-ea"/>
                  <a:cs typeface="+mn-cs"/>
                </a:rPr>
                <a:t>新的或</a:t>
              </a:r>
              <a:br/>
              <a:r>
                <a:rPr lang="zh-CN" sz="600" dirty="0">
                  <a:solidFill>
                    <a:srgbClr val="FFFFFF"/>
                  </a:solidFill>
                  <a:latin typeface="+mn-lt"/>
                  <a:ea typeface="+mn-ea"/>
                  <a:cs typeface="+mn-cs"/>
                </a:rPr>
                <a:t>更强的技能</a:t>
              </a:r>
            </a:p>
          </p:txBody>
        </p:sp>
        <p:sp>
          <p:nvSpPr>
            <p:cNvPr id="108" name="Rectangle 108"/>
            <p:cNvSpPr/>
            <p:nvPr/>
          </p:nvSpPr>
          <p:spPr>
            <a:xfrm>
              <a:off x="3371850" y="5334000"/>
              <a:ext cx="2362200" cy="590550"/>
            </a:xfrm>
            <a:prstGeom prst="rect">
              <a:avLst/>
            </a:prstGeom>
            <a:solidFill>
              <a:srgbClr val="FDF6E7"/>
            </a:solidFill>
            <a:ln>
              <a:noFill/>
            </a:ln>
          </p:spPr>
        </p:sp>
        <p:sp>
          <p:nvSpPr>
            <p:cNvPr id="109" name="TextBox 109"/>
            <p:cNvSpPr txBox="1"/>
            <p:nvPr/>
          </p:nvSpPr>
          <p:spPr>
            <a:xfrm>
              <a:off x="3674791" y="5506402"/>
              <a:ext cx="575219" cy="205359"/>
            </a:xfrm>
            <a:prstGeom prst="rect">
              <a:avLst/>
            </a:prstGeom>
            <a:noFill/>
            <a:ln>
              <a:noFill/>
            </a:ln>
          </p:spPr>
          <p:txBody>
            <a:bodyPr wrap="none" lIns="0" tIns="0" rIns="0" bIns="0" anchor="t" anchorCtr="0">
              <a:spAutoFit/>
            </a:bodyPr>
            <a:lstStyle/>
            <a:p>
              <a:pPr algn="ctr"/>
              <a:r>
                <a:rPr lang="en-US" sz="1050" b="1" dirty="0">
                  <a:solidFill>
                    <a:srgbClr val="333333"/>
                  </a:solidFill>
                  <a:latin typeface="+mn-lt"/>
                  <a:ea typeface="+mn-ea"/>
                  <a:cs typeface="+mn-cs"/>
                </a:rPr>
                <a:t>2,361 K</a:t>
              </a:r>
            </a:p>
          </p:txBody>
        </p:sp>
        <p:sp>
          <p:nvSpPr>
            <p:cNvPr id="110" name="TextBox 110"/>
            <p:cNvSpPr txBox="1"/>
            <p:nvPr/>
          </p:nvSpPr>
          <p:spPr>
            <a:xfrm>
              <a:off x="3774554" y="5718334"/>
              <a:ext cx="375691"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购买流程</a:t>
              </a:r>
            </a:p>
          </p:txBody>
        </p:sp>
        <p:sp>
          <p:nvSpPr>
            <p:cNvPr id="111" name="Line 111"/>
            <p:cNvSpPr/>
            <p:nvPr/>
          </p:nvSpPr>
          <p:spPr>
            <a:xfrm>
              <a:off x="4552950" y="5429250"/>
              <a:ext cx="9525" cy="400050"/>
            </a:xfrm>
            <a:custGeom>
              <a:avLst/>
              <a:gdLst/>
              <a:ahLst/>
              <a:cxnLst/>
              <a:rect l="l" t="t" r="r" b="b"/>
              <a:pathLst>
                <a:path w="9525" h="400050">
                  <a:moveTo>
                    <a:pt x="0" y="0"/>
                  </a:moveTo>
                  <a:lnTo>
                    <a:pt x="0" y="400050"/>
                  </a:lnTo>
                </a:path>
              </a:pathLst>
            </a:custGeom>
            <a:noFill/>
            <a:ln w="9525">
              <a:solidFill>
                <a:srgbClr val="E8B5AC"/>
              </a:solidFill>
            </a:ln>
          </p:spPr>
        </p:sp>
        <p:sp>
          <p:nvSpPr>
            <p:cNvPr id="112" name="TextBox 112"/>
            <p:cNvSpPr txBox="1"/>
            <p:nvPr/>
          </p:nvSpPr>
          <p:spPr>
            <a:xfrm>
              <a:off x="5015721" y="5506402"/>
              <a:ext cx="255559"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350</a:t>
              </a:r>
            </a:p>
          </p:txBody>
        </p:sp>
        <p:sp>
          <p:nvSpPr>
            <p:cNvPr id="113" name="TextBox 113"/>
            <p:cNvSpPr txBox="1"/>
            <p:nvPr/>
          </p:nvSpPr>
          <p:spPr>
            <a:xfrm>
              <a:off x="5047196" y="5718334"/>
              <a:ext cx="192608"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社论</a:t>
              </a:r>
            </a:p>
          </p:txBody>
        </p:sp>
      </p:grpSp>
      <p:grpSp>
        <p:nvGrpSpPr>
          <p:cNvPr id="130" name="card-3"/>
          <p:cNvGrpSpPr/>
          <p:nvPr/>
        </p:nvGrpSpPr>
        <p:grpSpPr>
          <a:xfrm>
            <a:off x="6057900" y="3619500"/>
            <a:ext cx="2667000" cy="2667000"/>
            <a:chOff x="6057900" y="3619500"/>
            <a:chExt cx="2667000" cy="2667000"/>
          </a:xfrm>
        </p:grpSpPr>
        <p:sp>
          <p:nvSpPr>
            <p:cNvPr id="115" name="Rectangle 115"/>
            <p:cNvSpPr/>
            <p:nvPr/>
          </p:nvSpPr>
          <p:spPr>
            <a:xfrm>
              <a:off x="6057900" y="3619500"/>
              <a:ext cx="2667000" cy="2667000"/>
            </a:xfrm>
            <a:prstGeom prst="rect">
              <a:avLst/>
            </a:prstGeom>
            <a:solidFill>
              <a:srgbClr val="FFFFFF"/>
            </a:solidFill>
            <a:ln w="11430">
              <a:solidFill>
                <a:srgbClr val="BF857A"/>
              </a:solidFill>
              <a:custDash>
                <a:ds d="416667" sp="250000"/>
              </a:custDash>
            </a:ln>
          </p:spPr>
        </p:sp>
        <p:sp>
          <p:nvSpPr>
            <p:cNvPr id="116" name="TextBox 116"/>
            <p:cNvSpPr txBox="1"/>
            <p:nvPr/>
          </p:nvSpPr>
          <p:spPr>
            <a:xfrm>
              <a:off x="6205347" y="3876199"/>
              <a:ext cx="537616" cy="190690"/>
            </a:xfrm>
            <a:prstGeom prst="rect">
              <a:avLst/>
            </a:prstGeom>
            <a:noFill/>
            <a:ln>
              <a:noFill/>
            </a:ln>
          </p:spPr>
          <p:txBody>
            <a:bodyPr wrap="none" lIns="0" tIns="0" rIns="0" bIns="0" anchor="t" anchorCtr="0">
              <a:spAutoFit/>
            </a:bodyPr>
            <a:lstStyle/>
            <a:p>
              <a:pPr algn="l"/>
              <a:r>
                <a:rPr lang="zh-CN" sz="980" b="1" dirty="0">
                  <a:solidFill>
                    <a:srgbClr val="7A3E33"/>
                  </a:solidFill>
                  <a:latin typeface="+mn-lt"/>
                  <a:ea typeface="+mn-ea"/>
                  <a:cs typeface="+mn-cs"/>
                </a:rPr>
                <a:t>数据跨境</a:t>
              </a:r>
            </a:p>
          </p:txBody>
        </p:sp>
        <p:sp>
          <p:nvSpPr>
            <p:cNvPr id="117" name="TextBox 117"/>
            <p:cNvSpPr txBox="1"/>
            <p:nvPr/>
          </p:nvSpPr>
          <p:spPr>
            <a:xfrm>
              <a:off x="6205538" y="4118134"/>
              <a:ext cx="139128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333333"/>
                  </a:solidFill>
                  <a:latin typeface="+mn-lt"/>
                  <a:ea typeface="+mn-ea"/>
                  <a:cs typeface="+mn-cs"/>
                </a:rPr>
                <a:t>数据从一法域被转移至另一法域的行</a:t>
              </a:r>
              <a:br/>
              <a:r>
                <a:rPr lang="zh-CN" sz="680" dirty="0">
                  <a:solidFill>
                    <a:srgbClr val="333333"/>
                  </a:solidFill>
                  <a:latin typeface="+mn-lt"/>
                  <a:ea typeface="+mn-ea"/>
                  <a:cs typeface="+mn-cs"/>
                </a:rPr>
                <a:t>为” 数据跨境主要包括两类:</a:t>
              </a:r>
            </a:p>
          </p:txBody>
        </p:sp>
        <p:sp>
          <p:nvSpPr>
            <p:cNvPr id="118" name="TextBox 118"/>
            <p:cNvSpPr txBox="1"/>
            <p:nvPr/>
          </p:nvSpPr>
          <p:spPr>
            <a:xfrm>
              <a:off x="6205538" y="4461034"/>
              <a:ext cx="1454531" cy="257175"/>
            </a:xfrm>
            <a:prstGeom prst="rect">
              <a:avLst/>
            </a:prstGeom>
            <a:noFill/>
            <a:ln>
              <a:noFill/>
            </a:ln>
          </p:spPr>
          <p:txBody>
            <a:bodyPr wrap="none" lIns="0" tIns="0" rIns="0" bIns="0" anchor="t" anchorCtr="0">
              <a:spAutoFit/>
            </a:bodyPr>
            <a:lstStyle/>
            <a:p>
              <a:pPr algn="l" marL="76200" indent="-76200">
                <a:lnSpc>
                  <a:spcPts val="975"/>
                </a:lnSpc>
                <a:buClr>
                  <a:srgbClr val="333333"/>
                </a:buClr>
                <a:buSzTx/>
                <a:buFontTx/>
                <a:buChar char="■"/>
              </a:pPr>
              <a:r>
                <a:rPr lang="zh-CN" sz="680" dirty="0">
                  <a:solidFill>
                    <a:srgbClr val="333333"/>
                  </a:solidFill>
                  <a:latin typeface="+mn-lt"/>
                  <a:ea typeface="+mn-ea"/>
                  <a:cs typeface="+mn-cs"/>
                </a:rPr>
                <a:t>第一类: 数据跨越国界的传输、转移</a:t>
              </a:r>
              <a:br/>
              <a:r>
                <a:rPr lang="zh-CN" sz="680" dirty="0">
                  <a:solidFill>
                    <a:srgbClr val="333333"/>
                  </a:solidFill>
                  <a:latin typeface="+mn-lt"/>
                  <a:ea typeface="+mn-ea"/>
                  <a:cs typeface="+mn-cs"/>
                </a:rPr>
                <a:t>行为;</a:t>
              </a:r>
            </a:p>
          </p:txBody>
        </p:sp>
        <p:sp>
          <p:nvSpPr>
            <p:cNvPr id="119" name="TextBox 119"/>
            <p:cNvSpPr txBox="1"/>
            <p:nvPr/>
          </p:nvSpPr>
          <p:spPr>
            <a:xfrm>
              <a:off x="6205538" y="4765834"/>
              <a:ext cx="1454531" cy="257175"/>
            </a:xfrm>
            <a:prstGeom prst="rect">
              <a:avLst/>
            </a:prstGeom>
            <a:noFill/>
            <a:ln>
              <a:noFill/>
            </a:ln>
          </p:spPr>
          <p:txBody>
            <a:bodyPr wrap="none" lIns="0" tIns="0" rIns="0" bIns="0" anchor="t" anchorCtr="0">
              <a:spAutoFit/>
            </a:bodyPr>
            <a:lstStyle/>
            <a:p>
              <a:pPr algn="l" marL="76200" indent="-76200">
                <a:lnSpc>
                  <a:spcPts val="975"/>
                </a:lnSpc>
                <a:buClr>
                  <a:srgbClr val="333333"/>
                </a:buClr>
                <a:buSzTx/>
                <a:buFontTx/>
                <a:buChar char="■"/>
              </a:pPr>
              <a:r>
                <a:rPr lang="zh-CN" sz="680" dirty="0">
                  <a:solidFill>
                    <a:srgbClr val="333333"/>
                  </a:solidFill>
                  <a:latin typeface="+mn-lt"/>
                  <a:ea typeface="+mn-ea"/>
                  <a:cs typeface="+mn-cs"/>
                </a:rPr>
                <a:t>第二类: 尽管数据尚未跨越国界，但</a:t>
              </a:r>
              <a:br/>
              <a:r>
                <a:rPr lang="zh-CN" sz="680" dirty="0">
                  <a:solidFill>
                    <a:srgbClr val="333333"/>
                  </a:solidFill>
                  <a:latin typeface="+mn-lt"/>
                  <a:ea typeface="+mn-ea"/>
                  <a:cs typeface="+mn-cs"/>
                </a:rPr>
                <a:t>能够被境外的主体进行访问。</a:t>
              </a:r>
            </a:p>
          </p:txBody>
        </p:sp>
        <p:sp>
          <p:nvSpPr>
            <p:cNvPr id="120" name="Rectangle 120"/>
            <p:cNvSpPr/>
            <p:nvPr/>
          </p:nvSpPr>
          <p:spPr>
            <a:xfrm>
              <a:off x="6210300" y="5143500"/>
              <a:ext cx="2381250" cy="781050"/>
            </a:xfrm>
            <a:prstGeom prst="rect">
              <a:avLst/>
            </a:prstGeom>
            <a:solidFill>
              <a:srgbClr val="F4F8EF"/>
            </a:solidFill>
            <a:ln>
              <a:noFill/>
            </a:ln>
          </p:spPr>
        </p:sp>
        <p:sp>
          <p:nvSpPr>
            <p:cNvPr id="121" name="TextBox 121"/>
            <p:cNvSpPr txBox="1"/>
            <p:nvPr/>
          </p:nvSpPr>
          <p:spPr>
            <a:xfrm>
              <a:off x="6524625" y="5253038"/>
              <a:ext cx="514350"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管理与治理</a:t>
              </a:r>
            </a:p>
          </p:txBody>
        </p:sp>
        <p:sp>
          <p:nvSpPr>
            <p:cNvPr id="122" name="TextBox 122"/>
            <p:cNvSpPr txBox="1"/>
            <p:nvPr/>
          </p:nvSpPr>
          <p:spPr>
            <a:xfrm>
              <a:off x="7889558" y="5253038"/>
              <a:ext cx="413385"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开发管理</a:t>
              </a:r>
            </a:p>
          </p:txBody>
        </p:sp>
        <p:sp>
          <p:nvSpPr>
            <p:cNvPr id="123" name="Line 123"/>
            <p:cNvSpPr/>
            <p:nvPr/>
          </p:nvSpPr>
          <p:spPr>
            <a:xfrm>
              <a:off x="7448550" y="5219700"/>
              <a:ext cx="9525" cy="628650"/>
            </a:xfrm>
            <a:custGeom>
              <a:avLst/>
              <a:gdLst/>
              <a:ahLst/>
              <a:cxnLst/>
              <a:rect l="l" t="t" r="r" b="b"/>
              <a:pathLst>
                <a:path w="9525" h="628650">
                  <a:moveTo>
                    <a:pt x="0" y="0"/>
                  </a:moveTo>
                  <a:lnTo>
                    <a:pt x="0" y="628650"/>
                  </a:lnTo>
                </a:path>
              </a:pathLst>
            </a:custGeom>
            <a:noFill/>
            <a:ln w="9525">
              <a:solidFill>
                <a:srgbClr val="C9D8BD"/>
              </a:solidFill>
            </a:ln>
          </p:spPr>
        </p:sp>
        <p:sp>
          <p:nvSpPr>
            <p:cNvPr id="124" name="Rectangle 124"/>
            <p:cNvSpPr/>
            <p:nvPr/>
          </p:nvSpPr>
          <p:spPr>
            <a:xfrm>
              <a:off x="6324600" y="5448300"/>
              <a:ext cx="419100" cy="266700"/>
            </a:xfrm>
            <a:prstGeom prst="rect">
              <a:avLst/>
            </a:prstGeom>
            <a:solidFill>
              <a:srgbClr val="9C594C"/>
            </a:solidFill>
            <a:ln>
              <a:noFill/>
            </a:ln>
          </p:spPr>
        </p:sp>
        <p:sp>
          <p:nvSpPr>
            <p:cNvPr id="125" name="TextBox 125"/>
            <p:cNvSpPr txBox="1"/>
            <p:nvPr/>
          </p:nvSpPr>
          <p:spPr>
            <a:xfrm>
              <a:off x="6433807" y="5552361"/>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服务</a:t>
              </a:r>
            </a:p>
          </p:txBody>
        </p:sp>
        <p:sp>
          <p:nvSpPr>
            <p:cNvPr id="126" name="Rectangle 126"/>
            <p:cNvSpPr/>
            <p:nvPr/>
          </p:nvSpPr>
          <p:spPr>
            <a:xfrm>
              <a:off x="6819900" y="5448300"/>
              <a:ext cx="419100" cy="266700"/>
            </a:xfrm>
            <a:prstGeom prst="rect">
              <a:avLst/>
            </a:prstGeom>
            <a:solidFill>
              <a:srgbClr val="9C594C"/>
            </a:solidFill>
            <a:ln>
              <a:noFill/>
            </a:ln>
          </p:spPr>
        </p:sp>
        <p:sp>
          <p:nvSpPr>
            <p:cNvPr id="127" name="TextBox 127"/>
            <p:cNvSpPr txBox="1"/>
            <p:nvPr/>
          </p:nvSpPr>
          <p:spPr>
            <a:xfrm>
              <a:off x="6929107" y="5552361"/>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借贷</a:t>
              </a:r>
            </a:p>
          </p:txBody>
        </p:sp>
        <p:sp>
          <p:nvSpPr>
            <p:cNvPr id="128" name="Rectangle 128"/>
            <p:cNvSpPr/>
            <p:nvPr/>
          </p:nvSpPr>
          <p:spPr>
            <a:xfrm>
              <a:off x="7886700" y="5448300"/>
              <a:ext cx="419100" cy="266700"/>
            </a:xfrm>
            <a:prstGeom prst="rect">
              <a:avLst/>
            </a:prstGeom>
            <a:solidFill>
              <a:srgbClr val="9C594C"/>
            </a:solidFill>
            <a:ln>
              <a:noFill/>
            </a:ln>
          </p:spPr>
        </p:sp>
        <p:sp>
          <p:nvSpPr>
            <p:cNvPr id="129" name="TextBox 129"/>
            <p:cNvSpPr txBox="1"/>
            <p:nvPr/>
          </p:nvSpPr>
          <p:spPr>
            <a:xfrm>
              <a:off x="7995907" y="5552361"/>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开发</a:t>
              </a:r>
            </a:p>
          </p:txBody>
        </p:sp>
      </p:grpSp>
      <p:grpSp>
        <p:nvGrpSpPr>
          <p:cNvPr id="148" name="card-4"/>
          <p:cNvGrpSpPr/>
          <p:nvPr/>
        </p:nvGrpSpPr>
        <p:grpSpPr>
          <a:xfrm>
            <a:off x="8896350" y="3619500"/>
            <a:ext cx="2762250" cy="2667000"/>
            <a:chOff x="8896350" y="3619500"/>
            <a:chExt cx="2762250" cy="2667000"/>
          </a:xfrm>
        </p:grpSpPr>
        <p:sp>
          <p:nvSpPr>
            <p:cNvPr id="131" name="Rectangle 131"/>
            <p:cNvSpPr/>
            <p:nvPr/>
          </p:nvSpPr>
          <p:spPr>
            <a:xfrm>
              <a:off x="8896350" y="3619500"/>
              <a:ext cx="2762250" cy="2667000"/>
            </a:xfrm>
            <a:prstGeom prst="rect">
              <a:avLst/>
            </a:prstGeom>
            <a:solidFill>
              <a:srgbClr val="FFFFFF"/>
            </a:solidFill>
            <a:ln w="11430">
              <a:solidFill>
                <a:srgbClr val="E9563C"/>
              </a:solidFill>
              <a:custDash>
                <a:ds d="416667" sp="250000"/>
              </a:custDash>
            </a:ln>
          </p:spPr>
        </p:sp>
        <p:sp>
          <p:nvSpPr>
            <p:cNvPr id="132" name="Freeform 132"/>
            <p:cNvSpPr/>
            <p:nvPr/>
          </p:nvSpPr>
          <p:spPr>
            <a:xfrm>
              <a:off x="10096500" y="4000500"/>
              <a:ext cx="1143000" cy="1524000"/>
            </a:xfrm>
            <a:prstGeom prst="upArrow">
              <a:avLst/>
            </a:prstGeom>
            <a:solidFill>
              <a:srgbClr val="FBF0D8"/>
            </a:solidFill>
            <a:ln>
              <a:noFill/>
            </a:ln>
          </p:spPr>
        </p:sp>
        <p:sp>
          <p:nvSpPr>
            <p:cNvPr id="133" name="Ellipse 133"/>
            <p:cNvSpPr/>
            <p:nvPr/>
          </p:nvSpPr>
          <p:spPr>
            <a:xfrm>
              <a:off x="9163050" y="5248275"/>
              <a:ext cx="571500" cy="171450"/>
            </a:xfrm>
            <a:prstGeom prst="ellipse">
              <a:avLst/>
            </a:prstGeom>
            <a:solidFill>
              <a:srgbClr val="E9563C"/>
            </a:solidFill>
            <a:ln w="9525">
              <a:solidFill>
                <a:srgbClr val="D6391E"/>
              </a:solidFill>
            </a:ln>
          </p:spPr>
        </p:sp>
        <p:sp>
          <p:nvSpPr>
            <p:cNvPr id="134" name="Ellipse 134"/>
            <p:cNvSpPr/>
            <p:nvPr/>
          </p:nvSpPr>
          <p:spPr>
            <a:xfrm>
              <a:off x="9163050" y="5133975"/>
              <a:ext cx="571500" cy="171450"/>
            </a:xfrm>
            <a:prstGeom prst="ellipse">
              <a:avLst/>
            </a:prstGeom>
            <a:solidFill>
              <a:srgbClr val="F09180"/>
            </a:solidFill>
            <a:ln w="9525">
              <a:solidFill>
                <a:srgbClr val="D6391E"/>
              </a:solidFill>
            </a:ln>
          </p:spPr>
        </p:sp>
        <p:sp>
          <p:nvSpPr>
            <p:cNvPr id="135" name="Ellipse 135"/>
            <p:cNvSpPr/>
            <p:nvPr/>
          </p:nvSpPr>
          <p:spPr>
            <a:xfrm>
              <a:off x="9163050" y="5019675"/>
              <a:ext cx="571500" cy="171450"/>
            </a:xfrm>
            <a:prstGeom prst="ellipse">
              <a:avLst/>
            </a:prstGeom>
            <a:solidFill>
              <a:srgbClr val="E9563C"/>
            </a:solidFill>
            <a:ln w="9525">
              <a:solidFill>
                <a:srgbClr val="D6391E"/>
              </a:solidFill>
            </a:ln>
          </p:spPr>
        </p:sp>
        <p:sp>
          <p:nvSpPr>
            <p:cNvPr id="136" name="Ellipse 136"/>
            <p:cNvSpPr/>
            <p:nvPr/>
          </p:nvSpPr>
          <p:spPr>
            <a:xfrm>
              <a:off x="9163050" y="4905375"/>
              <a:ext cx="571500" cy="171450"/>
            </a:xfrm>
            <a:prstGeom prst="ellipse">
              <a:avLst/>
            </a:prstGeom>
            <a:solidFill>
              <a:srgbClr val="F09180"/>
            </a:solidFill>
            <a:ln w="9525">
              <a:solidFill>
                <a:srgbClr val="D6391E"/>
              </a:solidFill>
            </a:ln>
          </p:spPr>
        </p:sp>
        <p:sp>
          <p:nvSpPr>
            <p:cNvPr id="137" name="Ellipse 137"/>
            <p:cNvSpPr/>
            <p:nvPr/>
          </p:nvSpPr>
          <p:spPr>
            <a:xfrm>
              <a:off x="9163050" y="4791075"/>
              <a:ext cx="571500" cy="171450"/>
            </a:xfrm>
            <a:prstGeom prst="ellipse">
              <a:avLst/>
            </a:prstGeom>
            <a:solidFill>
              <a:srgbClr val="E9563C"/>
            </a:solidFill>
            <a:ln w="9525">
              <a:solidFill>
                <a:srgbClr val="D6391E"/>
              </a:solidFill>
            </a:ln>
          </p:spPr>
        </p:sp>
        <p:sp>
          <p:nvSpPr>
            <p:cNvPr id="138" name="Ellipse 138"/>
            <p:cNvSpPr/>
            <p:nvPr/>
          </p:nvSpPr>
          <p:spPr>
            <a:xfrm>
              <a:off x="9163050" y="4676775"/>
              <a:ext cx="571500" cy="171450"/>
            </a:xfrm>
            <a:prstGeom prst="ellipse">
              <a:avLst/>
            </a:prstGeom>
            <a:solidFill>
              <a:srgbClr val="F09180"/>
            </a:solidFill>
            <a:ln w="9525">
              <a:solidFill>
                <a:srgbClr val="D6391E"/>
              </a:solidFill>
            </a:ln>
          </p:spPr>
        </p:sp>
        <p:sp>
          <p:nvSpPr>
            <p:cNvPr id="139" name="Ellipse 139"/>
            <p:cNvSpPr/>
            <p:nvPr/>
          </p:nvSpPr>
          <p:spPr>
            <a:xfrm>
              <a:off x="9163050" y="4562475"/>
              <a:ext cx="571500" cy="171450"/>
            </a:xfrm>
            <a:prstGeom prst="ellipse">
              <a:avLst/>
            </a:prstGeom>
            <a:solidFill>
              <a:srgbClr val="E9563C"/>
            </a:solidFill>
            <a:ln w="9525">
              <a:solidFill>
                <a:srgbClr val="D6391E"/>
              </a:solidFill>
            </a:ln>
          </p:spPr>
        </p:sp>
        <p:sp>
          <p:nvSpPr>
            <p:cNvPr id="140" name="Ellipse 140"/>
            <p:cNvSpPr/>
            <p:nvPr/>
          </p:nvSpPr>
          <p:spPr>
            <a:xfrm>
              <a:off x="9163050" y="4448175"/>
              <a:ext cx="571500" cy="171450"/>
            </a:xfrm>
            <a:prstGeom prst="ellipse">
              <a:avLst/>
            </a:prstGeom>
            <a:solidFill>
              <a:srgbClr val="F7B9AE"/>
            </a:solidFill>
            <a:ln w="9525">
              <a:solidFill>
                <a:srgbClr val="D6391E"/>
              </a:solidFill>
            </a:ln>
          </p:spPr>
        </p:sp>
        <p:sp>
          <p:nvSpPr>
            <p:cNvPr id="141" name="TextBox 141"/>
            <p:cNvSpPr txBox="1"/>
            <p:nvPr/>
          </p:nvSpPr>
          <p:spPr>
            <a:xfrm>
              <a:off x="9417605" y="4499134"/>
              <a:ext cx="62390" cy="133350"/>
            </a:xfrm>
            <a:prstGeom prst="rect">
              <a:avLst/>
            </a:prstGeom>
            <a:noFill/>
            <a:ln>
              <a:noFill/>
            </a:ln>
          </p:spPr>
          <p:txBody>
            <a:bodyPr wrap="none" lIns="0" tIns="0" rIns="0" bIns="0" anchor="t" anchorCtr="0">
              <a:spAutoFit/>
            </a:bodyPr>
            <a:lstStyle/>
            <a:p>
              <a:pPr algn="ctr"/>
              <a:r>
                <a:rPr lang="zh-CN" sz="680" b="1" dirty="0">
                  <a:solidFill>
                    <a:srgbClr val="8A2210"/>
                  </a:solidFill>
                  <a:latin typeface="+mn-lt"/>
                  <a:ea typeface="+mn-ea"/>
                  <a:cs typeface="+mn-cs"/>
                </a:rPr>
                <a:t>$</a:t>
              </a:r>
            </a:p>
          </p:txBody>
        </p:sp>
        <p:sp>
          <p:nvSpPr>
            <p:cNvPr id="142" name="TextBox 142"/>
            <p:cNvSpPr txBox="1"/>
            <p:nvPr/>
          </p:nvSpPr>
          <p:spPr>
            <a:xfrm>
              <a:off x="10500360" y="4385310"/>
              <a:ext cx="335280" cy="234696"/>
            </a:xfrm>
            <a:prstGeom prst="rect">
              <a:avLst/>
            </a:prstGeom>
            <a:noFill/>
            <a:ln>
              <a:noFill/>
            </a:ln>
          </p:spPr>
          <p:txBody>
            <a:bodyPr wrap="none" lIns="0" tIns="0" rIns="0" bIns="0" anchor="t" anchorCtr="0">
              <a:spAutoFit/>
            </a:bodyPr>
            <a:lstStyle/>
            <a:p>
              <a:pPr algn="ctr"/>
              <a:r>
                <a:rPr lang="zh-CN" sz="1200" dirty="0">
                  <a:solidFill>
                    <a:srgbClr val="333333"/>
                  </a:solidFill>
                  <a:latin typeface="+mn-lt"/>
                  <a:ea typeface="+mn-ea"/>
                  <a:cs typeface="+mn-cs"/>
                </a:rPr>
                <a:t>增加</a:t>
              </a:r>
            </a:p>
          </p:txBody>
        </p:sp>
        <p:sp>
          <p:nvSpPr>
            <p:cNvPr id="143" name="TextBox 143"/>
            <p:cNvSpPr txBox="1"/>
            <p:nvPr/>
          </p:nvSpPr>
          <p:spPr>
            <a:xfrm>
              <a:off x="10321634" y="4696778"/>
              <a:ext cx="692731" cy="498729"/>
            </a:xfrm>
            <a:prstGeom prst="rect">
              <a:avLst/>
            </a:prstGeom>
            <a:noFill/>
            <a:ln>
              <a:noFill/>
            </a:ln>
          </p:spPr>
          <p:txBody>
            <a:bodyPr wrap="none" lIns="0" tIns="0" rIns="0" bIns="0" anchor="t" anchorCtr="0">
              <a:spAutoFit/>
            </a:bodyPr>
            <a:lstStyle/>
            <a:p>
              <a:pPr algn="ctr"/>
              <a:r>
                <a:rPr lang="zh-CN" sz="2550" b="1" dirty="0">
                  <a:solidFill>
                    <a:srgbClr val="D6391E"/>
                  </a:solidFill>
                  <a:latin typeface="+mn-lt"/>
                  <a:ea typeface="+mn-ea"/>
                  <a:cs typeface="+mn-cs"/>
                </a:rPr>
                <a:t>40%</a:t>
              </a:r>
            </a:p>
          </p:txBody>
        </p:sp>
        <p:sp>
          <p:nvSpPr>
            <p:cNvPr id="144" name="TextBox 144"/>
            <p:cNvSpPr txBox="1"/>
            <p:nvPr/>
          </p:nvSpPr>
          <p:spPr>
            <a:xfrm>
              <a:off x="9139238" y="5661184"/>
              <a:ext cx="1425829"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333333"/>
                  </a:solidFill>
                  <a:latin typeface="+mn-lt"/>
                  <a:ea typeface="+mn-ea"/>
                  <a:cs typeface="+mn-cs"/>
                </a:rPr>
                <a:t>数字化转型往往与企业的历史遗留IT​</a:t>
              </a:r>
              <a:br/>
              <a:r>
                <a:rPr lang="zh-CN" sz="680" dirty="0">
                  <a:solidFill>
                    <a:srgbClr val="333333"/>
                  </a:solidFill>
                  <a:latin typeface="+mn-lt"/>
                  <a:ea typeface="+mn-ea"/>
                  <a:cs typeface="+mn-cs"/>
                </a:rPr>
                <a:t>系统发生冲突。</a:t>
              </a:r>
            </a:p>
          </p:txBody>
        </p:sp>
        <p:sp>
          <p:nvSpPr>
            <p:cNvPr id="145" name="Ellipse 145"/>
            <p:cNvSpPr/>
            <p:nvPr/>
          </p:nvSpPr>
          <p:spPr>
            <a:xfrm>
              <a:off x="11125200" y="6038850"/>
              <a:ext cx="419100" cy="114300"/>
            </a:xfrm>
            <a:prstGeom prst="ellipse">
              <a:avLst/>
            </a:prstGeom>
            <a:solidFill>
              <a:srgbClr val="E9563C"/>
            </a:solidFill>
            <a:ln w="9525">
              <a:solidFill>
                <a:srgbClr val="D6391E"/>
              </a:solidFill>
            </a:ln>
          </p:spPr>
        </p:sp>
        <p:sp>
          <p:nvSpPr>
            <p:cNvPr id="146" name="Ellipse 146"/>
            <p:cNvSpPr/>
            <p:nvPr/>
          </p:nvSpPr>
          <p:spPr>
            <a:xfrm>
              <a:off x="11125200" y="5962650"/>
              <a:ext cx="419100" cy="114300"/>
            </a:xfrm>
            <a:prstGeom prst="ellipse">
              <a:avLst/>
            </a:prstGeom>
            <a:solidFill>
              <a:srgbClr val="F09180"/>
            </a:solidFill>
            <a:ln w="9525">
              <a:solidFill>
                <a:srgbClr val="D6391E"/>
              </a:solidFill>
            </a:ln>
          </p:spPr>
        </p:sp>
        <p:sp>
          <p:nvSpPr>
            <p:cNvPr id="147" name="Ellipse 147"/>
            <p:cNvSpPr/>
            <p:nvPr/>
          </p:nvSpPr>
          <p:spPr>
            <a:xfrm>
              <a:off x="11125200" y="5886450"/>
              <a:ext cx="419100" cy="114300"/>
            </a:xfrm>
            <a:prstGeom prst="ellipse">
              <a:avLst/>
            </a:prstGeom>
            <a:solidFill>
              <a:srgbClr val="F7B9AE"/>
            </a:solidFill>
            <a:ln w="9525">
              <a:solidFill>
                <a:srgbClr val="D6391E"/>
              </a:solidFill>
            </a:ln>
          </p:spPr>
        </p:sp>
      </p:grpSp>
      <p:grpSp>
        <p:nvGrpSpPr>
          <p:cNvPr id="151" name="page-footer"/>
          <p:cNvGrpSpPr/>
          <p:nvPr/>
        </p:nvGrpSpPr>
        <p:grpSpPr>
          <a:xfrm>
            <a:off x="376238" y="6689884"/>
            <a:ext cx="11439524" cy="133350"/>
            <a:chOff x="376238" y="6689884"/>
            <a:chExt cx="11439524" cy="133350"/>
          </a:xfrm>
        </p:grpSpPr>
        <p:sp>
          <p:nvSpPr>
            <p:cNvPr id="149" name="TextBox 149"/>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50" name="TextBox 150"/>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27</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swoosh"/>
          <p:cNvSpPr/>
          <p:nvPr/>
        </p:nvSpPr>
        <p:spPr>
          <a:xfrm>
            <a:off x="571500" y="3810000"/>
            <a:ext cx="9048750" cy="1524000"/>
          </a:xfrm>
          <a:custGeom>
            <a:avLst/>
            <a:gdLst/>
            <a:ahLst/>
            <a:cxnLst/>
            <a:rect l="l" t="t" r="r" b="b"/>
            <a:pathLst>
              <a:path w="9048750" h="1524000">
                <a:moveTo>
                  <a:pt x="0" y="1524000"/>
                </a:moveTo>
                <a:cubicBezTo>
                  <a:pt x="3429000" y="1270000"/>
                  <a:pt x="6445250" y="762000"/>
                  <a:pt x="9048750" y="0"/>
                </a:cubicBezTo>
              </a:path>
            </a:pathLst>
          </a:custGeom>
          <a:noFill/>
          <a:ln w="28575">
            <a:solidFill>
              <a:srgbClr val="CD9F96"/>
            </a:solidFill>
            <a:tailEnd type="triangle" w="lg" len="lg"/>
          </a:ln>
        </p:spPr>
      </p:sp>
      <p:grpSp>
        <p:nvGrpSpPr>
          <p:cNvPr id="10" name="big-title"/>
          <p:cNvGrpSpPr/>
          <p:nvPr/>
        </p:nvGrpSpPr>
        <p:grpSpPr>
          <a:xfrm>
            <a:off x="4997100" y="748665"/>
            <a:ext cx="2197801" cy="645414"/>
            <a:chOff x="4997100" y="748665"/>
            <a:chExt cx="2197801" cy="645414"/>
          </a:xfrm>
        </p:grpSpPr>
        <p:sp>
          <p:nvSpPr>
            <p:cNvPr id="9" name="TextBox 9"/>
            <p:cNvSpPr txBox="1"/>
            <p:nvPr/>
          </p:nvSpPr>
          <p:spPr>
            <a:xfrm>
              <a:off x="4997100" y="748665"/>
              <a:ext cx="2197801" cy="645414"/>
            </a:xfrm>
            <a:prstGeom prst="rect">
              <a:avLst/>
            </a:prstGeom>
            <a:noFill/>
            <a:ln>
              <a:noFill/>
            </a:ln>
          </p:spPr>
          <p:txBody>
            <a:bodyPr wrap="none" lIns="0" tIns="0" rIns="0" bIns="0" anchor="t" anchorCtr="0">
              <a:spAutoFit/>
            </a:bodyPr>
            <a:lstStyle/>
            <a:p>
              <a:pPr algn="ctr"/>
              <a:r>
                <a:rPr lang="en-US" sz="3300" b="1" dirty="0">
                  <a:solidFill>
                    <a:srgbClr val="9C594C"/>
                  </a:solidFill>
                  <a:latin typeface="+mj-lt"/>
                  <a:ea typeface="+mj-ea"/>
                  <a:cs typeface="+mj-cs"/>
                </a:rPr>
                <a:t>X-SMOTH</a:t>
              </a:r>
            </a:p>
          </p:txBody>
        </p:sp>
      </p:grpSp>
      <p:grpSp>
        <p:nvGrpSpPr>
          <p:cNvPr id="19" name="tree-lines"/>
          <p:cNvGrpSpPr/>
          <p:nvPr/>
        </p:nvGrpSpPr>
        <p:grpSpPr>
          <a:xfrm>
            <a:off x="1285875" y="1295400"/>
            <a:ext cx="9534525" cy="304800"/>
            <a:chOff x="1285875" y="1295400"/>
            <a:chExt cx="9534525" cy="304800"/>
          </a:xfrm>
        </p:grpSpPr>
        <p:sp>
          <p:nvSpPr>
            <p:cNvPr id="11" name="Line 11"/>
            <p:cNvSpPr/>
            <p:nvPr/>
          </p:nvSpPr>
          <p:spPr>
            <a:xfrm>
              <a:off x="6096000" y="1295400"/>
              <a:ext cx="9525" cy="133350"/>
            </a:xfrm>
            <a:custGeom>
              <a:avLst/>
              <a:gdLst/>
              <a:ahLst/>
              <a:cxnLst/>
              <a:rect l="l" t="t" r="r" b="b"/>
              <a:pathLst>
                <a:path w="9525" h="133350">
                  <a:moveTo>
                    <a:pt x="0" y="0"/>
                  </a:moveTo>
                  <a:lnTo>
                    <a:pt x="0" y="133350"/>
                  </a:lnTo>
                </a:path>
              </a:pathLst>
            </a:custGeom>
            <a:noFill/>
            <a:ln w="14288">
              <a:solidFill>
                <a:srgbClr val="BF857A"/>
              </a:solidFill>
            </a:ln>
          </p:spPr>
        </p:sp>
        <p:sp>
          <p:nvSpPr>
            <p:cNvPr id="12" name="Line 12"/>
            <p:cNvSpPr/>
            <p:nvPr/>
          </p:nvSpPr>
          <p:spPr>
            <a:xfrm>
              <a:off x="1285875" y="1428750"/>
              <a:ext cx="9525000" cy="9525"/>
            </a:xfrm>
            <a:custGeom>
              <a:avLst/>
              <a:gdLst/>
              <a:ahLst/>
              <a:cxnLst/>
              <a:rect l="l" t="t" r="r" b="b"/>
              <a:pathLst>
                <a:path w="9525000" h="9525">
                  <a:moveTo>
                    <a:pt x="0" y="0"/>
                  </a:moveTo>
                  <a:lnTo>
                    <a:pt x="9525000" y="0"/>
                  </a:lnTo>
                </a:path>
              </a:pathLst>
            </a:custGeom>
            <a:noFill/>
            <a:ln w="14288">
              <a:solidFill>
                <a:srgbClr val="BF857A"/>
              </a:solidFill>
            </a:ln>
          </p:spPr>
        </p:sp>
        <p:sp>
          <p:nvSpPr>
            <p:cNvPr id="13" name="Line 13"/>
            <p:cNvSpPr/>
            <p:nvPr/>
          </p:nvSpPr>
          <p:spPr>
            <a:xfrm>
              <a:off x="1285875" y="1428750"/>
              <a:ext cx="9525" cy="171450"/>
            </a:xfrm>
            <a:custGeom>
              <a:avLst/>
              <a:gdLst/>
              <a:ahLst/>
              <a:cxnLst/>
              <a:rect l="l" t="t" r="r" b="b"/>
              <a:pathLst>
                <a:path w="9525" h="171450">
                  <a:moveTo>
                    <a:pt x="0" y="0"/>
                  </a:moveTo>
                  <a:lnTo>
                    <a:pt x="0" y="171450"/>
                  </a:lnTo>
                </a:path>
              </a:pathLst>
            </a:custGeom>
            <a:noFill/>
            <a:ln w="14288">
              <a:solidFill>
                <a:srgbClr val="BF857A"/>
              </a:solidFill>
            </a:ln>
          </p:spPr>
        </p:sp>
        <p:sp>
          <p:nvSpPr>
            <p:cNvPr id="14" name="Line 14"/>
            <p:cNvSpPr/>
            <p:nvPr/>
          </p:nvSpPr>
          <p:spPr>
            <a:xfrm>
              <a:off x="3190875" y="1428750"/>
              <a:ext cx="9525" cy="171450"/>
            </a:xfrm>
            <a:custGeom>
              <a:avLst/>
              <a:gdLst/>
              <a:ahLst/>
              <a:cxnLst/>
              <a:rect l="l" t="t" r="r" b="b"/>
              <a:pathLst>
                <a:path w="9525" h="171450">
                  <a:moveTo>
                    <a:pt x="0" y="0"/>
                  </a:moveTo>
                  <a:lnTo>
                    <a:pt x="0" y="171450"/>
                  </a:lnTo>
                </a:path>
              </a:pathLst>
            </a:custGeom>
            <a:noFill/>
            <a:ln w="14288">
              <a:solidFill>
                <a:srgbClr val="BF857A"/>
              </a:solidFill>
            </a:ln>
          </p:spPr>
        </p:sp>
        <p:sp>
          <p:nvSpPr>
            <p:cNvPr id="15" name="Line 15"/>
            <p:cNvSpPr/>
            <p:nvPr/>
          </p:nvSpPr>
          <p:spPr>
            <a:xfrm>
              <a:off x="5095875" y="1428750"/>
              <a:ext cx="9525" cy="171450"/>
            </a:xfrm>
            <a:custGeom>
              <a:avLst/>
              <a:gdLst/>
              <a:ahLst/>
              <a:cxnLst/>
              <a:rect l="l" t="t" r="r" b="b"/>
              <a:pathLst>
                <a:path w="9525" h="171450">
                  <a:moveTo>
                    <a:pt x="0" y="0"/>
                  </a:moveTo>
                  <a:lnTo>
                    <a:pt x="0" y="171450"/>
                  </a:lnTo>
                </a:path>
              </a:pathLst>
            </a:custGeom>
            <a:noFill/>
            <a:ln w="14288">
              <a:solidFill>
                <a:srgbClr val="BF857A"/>
              </a:solidFill>
            </a:ln>
          </p:spPr>
        </p:sp>
        <p:sp>
          <p:nvSpPr>
            <p:cNvPr id="16" name="Line 16"/>
            <p:cNvSpPr/>
            <p:nvPr/>
          </p:nvSpPr>
          <p:spPr>
            <a:xfrm>
              <a:off x="7000875" y="1428750"/>
              <a:ext cx="9525" cy="171450"/>
            </a:xfrm>
            <a:custGeom>
              <a:avLst/>
              <a:gdLst/>
              <a:ahLst/>
              <a:cxnLst/>
              <a:rect l="l" t="t" r="r" b="b"/>
              <a:pathLst>
                <a:path w="9525" h="171450">
                  <a:moveTo>
                    <a:pt x="0" y="0"/>
                  </a:moveTo>
                  <a:lnTo>
                    <a:pt x="0" y="171450"/>
                  </a:lnTo>
                </a:path>
              </a:pathLst>
            </a:custGeom>
            <a:noFill/>
            <a:ln w="14288">
              <a:solidFill>
                <a:srgbClr val="BF857A"/>
              </a:solidFill>
            </a:ln>
          </p:spPr>
        </p:sp>
        <p:sp>
          <p:nvSpPr>
            <p:cNvPr id="17" name="Line 17"/>
            <p:cNvSpPr/>
            <p:nvPr/>
          </p:nvSpPr>
          <p:spPr>
            <a:xfrm>
              <a:off x="8905875" y="1428750"/>
              <a:ext cx="9525" cy="171450"/>
            </a:xfrm>
            <a:custGeom>
              <a:avLst/>
              <a:gdLst/>
              <a:ahLst/>
              <a:cxnLst/>
              <a:rect l="l" t="t" r="r" b="b"/>
              <a:pathLst>
                <a:path w="9525" h="171450">
                  <a:moveTo>
                    <a:pt x="0" y="0"/>
                  </a:moveTo>
                  <a:lnTo>
                    <a:pt x="0" y="171450"/>
                  </a:lnTo>
                </a:path>
              </a:pathLst>
            </a:custGeom>
            <a:noFill/>
            <a:ln w="14288">
              <a:solidFill>
                <a:srgbClr val="BF857A"/>
              </a:solidFill>
            </a:ln>
          </p:spPr>
        </p:sp>
        <p:sp>
          <p:nvSpPr>
            <p:cNvPr id="18" name="Line 18"/>
            <p:cNvSpPr/>
            <p:nvPr/>
          </p:nvSpPr>
          <p:spPr>
            <a:xfrm>
              <a:off x="10810875" y="1428750"/>
              <a:ext cx="9525" cy="171450"/>
            </a:xfrm>
            <a:custGeom>
              <a:avLst/>
              <a:gdLst/>
              <a:ahLst/>
              <a:cxnLst/>
              <a:rect l="l" t="t" r="r" b="b"/>
              <a:pathLst>
                <a:path w="9525" h="171450">
                  <a:moveTo>
                    <a:pt x="0" y="0"/>
                  </a:moveTo>
                  <a:lnTo>
                    <a:pt x="0" y="171450"/>
                  </a:lnTo>
                </a:path>
              </a:pathLst>
            </a:custGeom>
            <a:noFill/>
            <a:ln w="14288">
              <a:solidFill>
                <a:srgbClr val="BF857A"/>
              </a:solidFill>
            </a:ln>
          </p:spPr>
        </p:sp>
      </p:grpSp>
      <p:grpSp>
        <p:nvGrpSpPr>
          <p:cNvPr id="38" name="col-experience"/>
          <p:cNvGrpSpPr/>
          <p:nvPr/>
        </p:nvGrpSpPr>
        <p:grpSpPr>
          <a:xfrm>
            <a:off x="381000" y="1619250"/>
            <a:ext cx="1809750" cy="1581150"/>
            <a:chOff x="381000" y="1619250"/>
            <a:chExt cx="1809750" cy="1581150"/>
          </a:xfrm>
        </p:grpSpPr>
        <p:sp>
          <p:nvSpPr>
            <p:cNvPr id="20" name="Rectangle 20"/>
            <p:cNvSpPr/>
            <p:nvPr/>
          </p:nvSpPr>
          <p:spPr>
            <a:xfrm>
              <a:off x="381000" y="1619250"/>
              <a:ext cx="1809750" cy="47625"/>
            </a:xfrm>
            <a:prstGeom prst="rect">
              <a:avLst/>
            </a:prstGeom>
            <a:solidFill>
              <a:srgbClr val="9C594C"/>
            </a:solidFill>
            <a:ln>
              <a:noFill/>
            </a:ln>
          </p:spPr>
        </p:sp>
        <p:sp>
          <p:nvSpPr>
            <p:cNvPr id="21" name="TextBox 21"/>
            <p:cNvSpPr txBox="1"/>
            <p:nvPr/>
          </p:nvSpPr>
          <p:spPr>
            <a:xfrm>
              <a:off x="903625" y="1807845"/>
              <a:ext cx="764499" cy="176212"/>
            </a:xfrm>
            <a:prstGeom prst="rect">
              <a:avLst/>
            </a:prstGeom>
            <a:noFill/>
            <a:ln>
              <a:noFill/>
            </a:ln>
          </p:spPr>
          <p:txBody>
            <a:bodyPr wrap="none" lIns="0" tIns="0" rIns="0" bIns="0" anchor="t" anchorCtr="0">
              <a:spAutoFit/>
            </a:bodyPr>
            <a:lstStyle/>
            <a:p>
              <a:pPr algn="ctr"/>
              <a:r>
                <a:rPr lang="en-US" sz="1500" b="1" dirty="0">
                  <a:solidFill>
                    <a:srgbClr val="9C594C"/>
                  </a:solidFill>
                  <a:latin typeface="+mn-lt"/>
                  <a:ea typeface="+mn-ea"/>
                  <a:cs typeface="+mn-cs"/>
                </a:rPr>
                <a:t>E</a:t>
              </a:r>
              <a:r>
                <a:rPr lang="en-US" sz="900" b="1" dirty="0">
                  <a:solidFill>
                    <a:srgbClr val="333333"/>
                  </a:solidFill>
                  <a:latin typeface="+mn-lt"/>
                  <a:ea typeface="+mn-ea"/>
                  <a:cs typeface="+mn-cs"/>
                </a:rPr>
                <a:t>XPERIENCE</a:t>
              </a:r>
            </a:p>
          </p:txBody>
        </p:sp>
        <p:sp>
          <p:nvSpPr>
            <p:cNvPr id="22" name="TextBox 22"/>
            <p:cNvSpPr txBox="1"/>
            <p:nvPr/>
          </p:nvSpPr>
          <p:spPr>
            <a:xfrm>
              <a:off x="1028027" y="2051447"/>
              <a:ext cx="515696" cy="183356"/>
            </a:xfrm>
            <a:prstGeom prst="rect">
              <a:avLst/>
            </a:prstGeom>
            <a:noFill/>
            <a:ln>
              <a:noFill/>
            </a:ln>
          </p:spPr>
          <p:txBody>
            <a:bodyPr wrap="none" lIns="0" tIns="0" rIns="0" bIns="0" anchor="t" anchorCtr="0">
              <a:spAutoFit/>
            </a:bodyPr>
            <a:lstStyle/>
            <a:p>
              <a:pPr algn="ctr"/>
              <a:r>
                <a:rPr lang="zh-CN" sz="940" b="1" dirty="0">
                  <a:solidFill>
                    <a:srgbClr val="7A3E33"/>
                  </a:solidFill>
                  <a:latin typeface="+mn-lt"/>
                  <a:ea typeface="+mn-ea"/>
                  <a:cs typeface="+mn-cs"/>
                </a:rPr>
                <a:t>客户体验</a:t>
              </a:r>
            </a:p>
          </p:txBody>
        </p:sp>
        <p:sp>
          <p:nvSpPr>
            <p:cNvPr id="23" name="Rectangle 23"/>
            <p:cNvSpPr/>
            <p:nvPr/>
          </p:nvSpPr>
          <p:spPr>
            <a:xfrm>
              <a:off x="381000" y="2266950"/>
              <a:ext cx="1809750" cy="933450"/>
            </a:xfrm>
            <a:prstGeom prst="rect">
              <a:avLst/>
            </a:prstGeom>
            <a:solidFill>
              <a:srgbClr val="F4F8EF"/>
            </a:solidFill>
            <a:ln>
              <a:noFill/>
            </a:ln>
          </p:spPr>
        </p:sp>
        <p:grpSp>
          <p:nvGrpSpPr>
            <p:cNvPr id="27" name="Group 27"/>
            <p:cNvGrpSpPr/>
            <p:nvPr/>
          </p:nvGrpSpPr>
          <p:grpSpPr>
            <a:xfrm>
              <a:off x="704850" y="2457450"/>
              <a:ext cx="76200" cy="114300"/>
              <a:chOff x="704850" y="2457450"/>
              <a:chExt cx="76200" cy="114300"/>
            </a:xfrm>
          </p:grpSpPr>
          <p:sp>
            <p:nvSpPr>
              <p:cNvPr id="24" name="Freeform 24"/>
              <p:cNvSpPr/>
              <p:nvPr/>
            </p:nvSpPr>
            <p:spPr>
              <a:xfrm>
                <a:off x="704850" y="2457450"/>
                <a:ext cx="76200" cy="114300"/>
              </a:xfrm>
              <a:custGeom>
                <a:avLst/>
                <a:gdLst/>
                <a:ahLst/>
                <a:cxnLst/>
                <a:rect l="l" t="t" r="r" b="b"/>
                <a:pathLst>
                  <a:path w="76200" h="114300">
                    <a:moveTo>
                      <a:pt x="0" y="12700"/>
                    </a:moveTo>
                    <a:cubicBezTo>
                      <a:pt x="0" y="5686"/>
                      <a:pt x="5686" y="0"/>
                      <a:pt x="12700" y="0"/>
                    </a:cubicBezTo>
                    <a:lnTo>
                      <a:pt x="63500" y="0"/>
                    </a:lnTo>
                    <a:cubicBezTo>
                      <a:pt x="70514" y="0"/>
                      <a:pt x="76200" y="5686"/>
                      <a:pt x="76200" y="12700"/>
                    </a:cubicBezTo>
                    <a:lnTo>
                      <a:pt x="76200" y="101600"/>
                    </a:lnTo>
                    <a:cubicBezTo>
                      <a:pt x="76200" y="108614"/>
                      <a:pt x="70514" y="114300"/>
                      <a:pt x="63500" y="114300"/>
                    </a:cubicBezTo>
                    <a:lnTo>
                      <a:pt x="12700" y="114300"/>
                    </a:lnTo>
                    <a:cubicBezTo>
                      <a:pt x="5686" y="114300"/>
                      <a:pt x="0" y="108614"/>
                      <a:pt x="0" y="101600"/>
                    </a:cubicBezTo>
                    <a:lnTo>
                      <a:pt x="0" y="12700"/>
                    </a:lnTo>
                  </a:path>
                </a:pathLst>
              </a:custGeom>
              <a:noFill/>
              <a:ln w="12700">
                <a:solidFill>
                  <a:srgbClr val="9C594C"/>
                </a:solidFill>
              </a:ln>
            </p:spPr>
          </p:sp>
          <p:sp>
            <p:nvSpPr>
              <p:cNvPr id="25" name="Freeform 25"/>
              <p:cNvSpPr/>
              <p:nvPr/>
            </p:nvSpPr>
            <p:spPr>
              <a:xfrm>
                <a:off x="736600" y="2463800"/>
                <a:ext cx="12700" cy="9525"/>
              </a:xfrm>
              <a:custGeom>
                <a:avLst/>
                <a:gdLst/>
                <a:ahLst/>
                <a:cxnLst/>
                <a:rect l="l" t="t" r="r" b="b"/>
                <a:pathLst>
                  <a:path w="12700" h="9525">
                    <a:moveTo>
                      <a:pt x="0" y="0"/>
                    </a:moveTo>
                    <a:lnTo>
                      <a:pt x="12700" y="0"/>
                    </a:lnTo>
                  </a:path>
                </a:pathLst>
              </a:custGeom>
              <a:noFill/>
              <a:ln w="12700">
                <a:solidFill>
                  <a:srgbClr val="9C594C"/>
                </a:solidFill>
              </a:ln>
            </p:spPr>
          </p:sp>
          <p:sp>
            <p:nvSpPr>
              <p:cNvPr id="26" name="Freeform 26"/>
              <p:cNvSpPr/>
              <p:nvPr/>
            </p:nvSpPr>
            <p:spPr>
              <a:xfrm>
                <a:off x="742950" y="2546350"/>
                <a:ext cx="9525" cy="9525"/>
              </a:xfrm>
              <a:custGeom>
                <a:avLst/>
                <a:gdLst/>
                <a:ahLst/>
                <a:cxnLst/>
                <a:rect l="l" t="t" r="r" b="b"/>
                <a:pathLst>
                  <a:path w="9525" h="9525">
                    <a:moveTo>
                      <a:pt x="0" y="0"/>
                    </a:moveTo>
                    <a:lnTo>
                      <a:pt x="0" y="64"/>
                    </a:lnTo>
                  </a:path>
                </a:pathLst>
              </a:custGeom>
              <a:noFill/>
              <a:ln w="12700">
                <a:solidFill>
                  <a:srgbClr val="9C594C"/>
                </a:solidFill>
              </a:ln>
            </p:spPr>
          </p:sp>
        </p:grpSp>
        <p:sp>
          <p:nvSpPr>
            <p:cNvPr id="28" name="TextBox 28"/>
            <p:cNvSpPr txBox="1"/>
            <p:nvPr/>
          </p:nvSpPr>
          <p:spPr>
            <a:xfrm>
              <a:off x="909638" y="2481262"/>
              <a:ext cx="71628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单阶段：单场景</a:t>
              </a:r>
            </a:p>
          </p:txBody>
        </p:sp>
        <p:sp>
          <p:nvSpPr>
            <p:cNvPr id="29" name="TextBox 29"/>
            <p:cNvSpPr txBox="1"/>
            <p:nvPr/>
          </p:nvSpPr>
          <p:spPr>
            <a:xfrm>
              <a:off x="1250756" y="2673191"/>
              <a:ext cx="70239" cy="161925"/>
            </a:xfrm>
            <a:prstGeom prst="rect">
              <a:avLst/>
            </a:prstGeom>
            <a:noFill/>
            <a:ln>
              <a:noFill/>
            </a:ln>
          </p:spPr>
          <p:txBody>
            <a:bodyPr wrap="none" lIns="0" tIns="0" rIns="0" bIns="0" anchor="t" anchorCtr="0">
              <a:spAutoFit/>
            </a:bodyPr>
            <a:lstStyle/>
            <a:p>
              <a:pPr algn="ctr"/>
              <a:r>
                <a:rPr lang="zh-CN" sz="820" dirty="0">
                  <a:solidFill>
                    <a:srgbClr val="BF857A"/>
                  </a:solidFill>
                  <a:latin typeface="+mn-lt"/>
                  <a:ea typeface="+mn-ea"/>
                  <a:cs typeface="+mn-cs"/>
                </a:rPr>
                <a:t>▼</a:t>
              </a:r>
            </a:p>
          </p:txBody>
        </p:sp>
        <p:grpSp>
          <p:nvGrpSpPr>
            <p:cNvPr id="36" name="Group 36"/>
            <p:cNvGrpSpPr/>
            <p:nvPr/>
          </p:nvGrpSpPr>
          <p:grpSpPr>
            <a:xfrm>
              <a:off x="685800" y="2857500"/>
              <a:ext cx="114300" cy="114300"/>
              <a:chOff x="685800" y="2857500"/>
              <a:chExt cx="114300" cy="114300"/>
            </a:xfrm>
          </p:grpSpPr>
          <p:sp>
            <p:nvSpPr>
              <p:cNvPr id="30" name="Freeform 30"/>
              <p:cNvSpPr/>
              <p:nvPr/>
            </p:nvSpPr>
            <p:spPr>
              <a:xfrm>
                <a:off x="730250" y="29083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9C594C"/>
                </a:solidFill>
              </a:ln>
            </p:spPr>
          </p:sp>
          <p:sp>
            <p:nvSpPr>
              <p:cNvPr id="31" name="Freeform 31"/>
              <p:cNvSpPr/>
              <p:nvPr/>
            </p:nvSpPr>
            <p:spPr>
              <a:xfrm>
                <a:off x="717550" y="295275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9C594C"/>
                </a:solidFill>
              </a:ln>
            </p:spPr>
          </p:sp>
          <p:sp>
            <p:nvSpPr>
              <p:cNvPr id="32" name="Freeform 32"/>
              <p:cNvSpPr/>
              <p:nvPr/>
            </p:nvSpPr>
            <p:spPr>
              <a:xfrm>
                <a:off x="762000" y="28575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9C594C"/>
                </a:solidFill>
              </a:ln>
            </p:spPr>
          </p:sp>
          <p:sp>
            <p:nvSpPr>
              <p:cNvPr id="33" name="Freeform 33"/>
              <p:cNvSpPr/>
              <p:nvPr/>
            </p:nvSpPr>
            <p:spPr>
              <a:xfrm>
                <a:off x="774700" y="290195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9C594C"/>
                </a:solidFill>
              </a:ln>
            </p:spPr>
          </p:sp>
          <p:sp>
            <p:nvSpPr>
              <p:cNvPr id="34" name="Freeform 34"/>
              <p:cNvSpPr/>
              <p:nvPr/>
            </p:nvSpPr>
            <p:spPr>
              <a:xfrm>
                <a:off x="698500" y="28575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9C594C"/>
                </a:solidFill>
              </a:ln>
            </p:spPr>
          </p:sp>
          <p:sp>
            <p:nvSpPr>
              <p:cNvPr id="35" name="Freeform 35"/>
              <p:cNvSpPr/>
              <p:nvPr/>
            </p:nvSpPr>
            <p:spPr>
              <a:xfrm>
                <a:off x="685800" y="290195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9C594C"/>
                </a:solidFill>
              </a:ln>
            </p:spPr>
          </p:sp>
        </p:grpSp>
        <p:sp>
          <p:nvSpPr>
            <p:cNvPr id="37" name="TextBox 37"/>
            <p:cNvSpPr txBox="1"/>
            <p:nvPr/>
          </p:nvSpPr>
          <p:spPr>
            <a:xfrm>
              <a:off x="909638" y="2881312"/>
              <a:ext cx="716280" cy="147638"/>
            </a:xfrm>
            <a:prstGeom prst="rect">
              <a:avLst/>
            </a:prstGeom>
            <a:noFill/>
            <a:ln>
              <a:noFill/>
            </a:ln>
          </p:spPr>
          <p:txBody>
            <a:bodyPr wrap="none" lIns="0" tIns="0" rIns="0" bIns="0" anchor="t" anchorCtr="0">
              <a:spAutoFit/>
            </a:bodyPr>
            <a:lstStyle/>
            <a:p>
              <a:pPr algn="l"/>
              <a:r>
                <a:rPr lang="zh-CN" sz="750" dirty="0">
                  <a:solidFill>
                    <a:srgbClr val="333333"/>
                  </a:solidFill>
                  <a:latin typeface="+mn-lt"/>
                  <a:ea typeface="+mn-ea"/>
                  <a:cs typeface="+mn-cs"/>
                </a:rPr>
                <a:t>多场景：多角色</a:t>
              </a:r>
            </a:p>
          </p:txBody>
        </p:sp>
      </p:grpSp>
      <p:grpSp>
        <p:nvGrpSpPr>
          <p:cNvPr id="50" name="col-system"/>
          <p:cNvGrpSpPr/>
          <p:nvPr/>
        </p:nvGrpSpPr>
        <p:grpSpPr>
          <a:xfrm>
            <a:off x="2286000" y="1619250"/>
            <a:ext cx="1809750" cy="1581150"/>
            <a:chOff x="2286000" y="1619250"/>
            <a:chExt cx="1809750" cy="1581150"/>
          </a:xfrm>
        </p:grpSpPr>
        <p:sp>
          <p:nvSpPr>
            <p:cNvPr id="39" name="Rectangle 39"/>
            <p:cNvSpPr/>
            <p:nvPr/>
          </p:nvSpPr>
          <p:spPr>
            <a:xfrm>
              <a:off x="2286000" y="1619250"/>
              <a:ext cx="1809750" cy="47625"/>
            </a:xfrm>
            <a:prstGeom prst="rect">
              <a:avLst/>
            </a:prstGeom>
            <a:solidFill>
              <a:srgbClr val="9C594C"/>
            </a:solidFill>
            <a:ln>
              <a:noFill/>
            </a:ln>
          </p:spPr>
        </p:sp>
        <p:sp>
          <p:nvSpPr>
            <p:cNvPr id="40" name="TextBox 40"/>
            <p:cNvSpPr txBox="1"/>
            <p:nvPr/>
          </p:nvSpPr>
          <p:spPr>
            <a:xfrm>
              <a:off x="2926240" y="1807845"/>
              <a:ext cx="529270" cy="176212"/>
            </a:xfrm>
            <a:prstGeom prst="rect">
              <a:avLst/>
            </a:prstGeom>
            <a:noFill/>
            <a:ln>
              <a:noFill/>
            </a:ln>
          </p:spPr>
          <p:txBody>
            <a:bodyPr wrap="none" lIns="0" tIns="0" rIns="0" bIns="0" anchor="t" anchorCtr="0">
              <a:spAutoFit/>
            </a:bodyPr>
            <a:lstStyle/>
            <a:p>
              <a:pPr algn="ctr"/>
              <a:r>
                <a:rPr lang="en-US" sz="1500" b="1" dirty="0">
                  <a:solidFill>
                    <a:srgbClr val="9C594C"/>
                  </a:solidFill>
                  <a:latin typeface="+mn-lt"/>
                  <a:ea typeface="+mn-ea"/>
                  <a:cs typeface="+mn-cs"/>
                </a:rPr>
                <a:t>S</a:t>
              </a:r>
              <a:r>
                <a:rPr lang="en-US" sz="900" b="1" dirty="0">
                  <a:solidFill>
                    <a:srgbClr val="333333"/>
                  </a:solidFill>
                  <a:latin typeface="+mn-lt"/>
                  <a:ea typeface="+mn-ea"/>
                  <a:cs typeface="+mn-cs"/>
                </a:rPr>
                <a:t>YSTEM</a:t>
              </a:r>
            </a:p>
          </p:txBody>
        </p:sp>
        <p:sp>
          <p:nvSpPr>
            <p:cNvPr id="41" name="TextBox 41"/>
            <p:cNvSpPr txBox="1"/>
            <p:nvPr/>
          </p:nvSpPr>
          <p:spPr>
            <a:xfrm>
              <a:off x="2933027" y="2051447"/>
              <a:ext cx="515696" cy="183356"/>
            </a:xfrm>
            <a:prstGeom prst="rect">
              <a:avLst/>
            </a:prstGeom>
            <a:noFill/>
            <a:ln>
              <a:noFill/>
            </a:ln>
          </p:spPr>
          <p:txBody>
            <a:bodyPr wrap="none" lIns="0" tIns="0" rIns="0" bIns="0" anchor="t" anchorCtr="0">
              <a:spAutoFit/>
            </a:bodyPr>
            <a:lstStyle/>
            <a:p>
              <a:pPr algn="ctr"/>
              <a:r>
                <a:rPr lang="zh-CN" sz="940" b="1" dirty="0">
                  <a:solidFill>
                    <a:srgbClr val="7A3E33"/>
                  </a:solidFill>
                  <a:latin typeface="+mn-lt"/>
                  <a:ea typeface="+mn-ea"/>
                  <a:cs typeface="+mn-cs"/>
                </a:rPr>
                <a:t>数据系统</a:t>
              </a:r>
            </a:p>
          </p:txBody>
        </p:sp>
        <p:sp>
          <p:nvSpPr>
            <p:cNvPr id="42" name="Rectangle 42"/>
            <p:cNvSpPr/>
            <p:nvPr/>
          </p:nvSpPr>
          <p:spPr>
            <a:xfrm>
              <a:off x="2286000" y="2266950"/>
              <a:ext cx="1809750" cy="933450"/>
            </a:xfrm>
            <a:prstGeom prst="rect">
              <a:avLst/>
            </a:prstGeom>
            <a:solidFill>
              <a:srgbClr val="F4F8EF"/>
            </a:solidFill>
            <a:ln>
              <a:noFill/>
            </a:ln>
          </p:spPr>
        </p:sp>
        <p:sp>
          <p:nvSpPr>
            <p:cNvPr id="43" name="TextBox 43"/>
            <p:cNvSpPr txBox="1"/>
            <p:nvPr/>
          </p:nvSpPr>
          <p:spPr>
            <a:xfrm>
              <a:off x="2504757" y="2426732"/>
              <a:ext cx="17208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开班</a:t>
              </a:r>
              <a:br/>
              <a:r>
                <a:rPr lang="zh-CN" sz="640" dirty="0">
                  <a:solidFill>
                    <a:srgbClr val="595959"/>
                  </a:solidFill>
                  <a:latin typeface="+mn-lt"/>
                  <a:ea typeface="+mn-ea"/>
                  <a:cs typeface="+mn-cs"/>
                </a:rPr>
                <a:t>报课</a:t>
              </a:r>
            </a:p>
          </p:txBody>
        </p:sp>
        <p:sp>
          <p:nvSpPr>
            <p:cNvPr id="44" name="TextBox 44"/>
            <p:cNvSpPr txBox="1"/>
            <p:nvPr/>
          </p:nvSpPr>
          <p:spPr>
            <a:xfrm>
              <a:off x="3023552" y="2426732"/>
              <a:ext cx="33464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课程</a:t>
              </a:r>
              <a:br/>
              <a:r>
                <a:rPr lang="zh-CN" sz="640" dirty="0">
                  <a:solidFill>
                    <a:srgbClr val="595959"/>
                  </a:solidFill>
                  <a:latin typeface="+mn-lt"/>
                  <a:ea typeface="+mn-ea"/>
                  <a:cs typeface="+mn-cs"/>
                </a:rPr>
                <a:t>资源管理</a:t>
              </a:r>
            </a:p>
          </p:txBody>
        </p:sp>
        <p:sp>
          <p:nvSpPr>
            <p:cNvPr id="45" name="TextBox 45"/>
            <p:cNvSpPr txBox="1"/>
            <p:nvPr/>
          </p:nvSpPr>
          <p:spPr>
            <a:xfrm>
              <a:off x="3623628" y="2426732"/>
              <a:ext cx="33464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学生</a:t>
              </a:r>
              <a:br/>
              <a:r>
                <a:rPr lang="zh-CN" sz="640" dirty="0">
                  <a:solidFill>
                    <a:srgbClr val="595959"/>
                  </a:solidFill>
                  <a:latin typeface="+mn-lt"/>
                  <a:ea typeface="+mn-ea"/>
                  <a:cs typeface="+mn-cs"/>
                </a:rPr>
                <a:t>入学管理</a:t>
              </a:r>
            </a:p>
          </p:txBody>
        </p:sp>
        <p:sp>
          <p:nvSpPr>
            <p:cNvPr id="46" name="Line 46"/>
            <p:cNvSpPr/>
            <p:nvPr/>
          </p:nvSpPr>
          <p:spPr>
            <a:xfrm>
              <a:off x="2400300" y="2686050"/>
              <a:ext cx="1581150" cy="9525"/>
            </a:xfrm>
            <a:custGeom>
              <a:avLst/>
              <a:gdLst/>
              <a:ahLst/>
              <a:cxnLst/>
              <a:rect l="l" t="t" r="r" b="b"/>
              <a:pathLst>
                <a:path w="1581150" h="9525">
                  <a:moveTo>
                    <a:pt x="0" y="0"/>
                  </a:moveTo>
                  <a:lnTo>
                    <a:pt x="1581150" y="0"/>
                  </a:lnTo>
                </a:path>
              </a:pathLst>
            </a:custGeom>
            <a:noFill/>
            <a:ln w="9525">
              <a:solidFill>
                <a:srgbClr val="C9D8BD"/>
              </a:solidFill>
              <a:prstDash val="sysDot"/>
            </a:ln>
          </p:spPr>
        </p:sp>
        <p:sp>
          <p:nvSpPr>
            <p:cNvPr id="47" name="TextBox 47"/>
            <p:cNvSpPr txBox="1"/>
            <p:nvPr/>
          </p:nvSpPr>
          <p:spPr>
            <a:xfrm>
              <a:off x="2504757" y="2788682"/>
              <a:ext cx="17208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直播</a:t>
              </a:r>
              <a:br/>
              <a:r>
                <a:rPr lang="zh-CN" sz="640" dirty="0">
                  <a:solidFill>
                    <a:srgbClr val="595959"/>
                  </a:solidFill>
                  <a:latin typeface="+mn-lt"/>
                  <a:ea typeface="+mn-ea"/>
                  <a:cs typeface="+mn-cs"/>
                </a:rPr>
                <a:t>营销</a:t>
              </a:r>
            </a:p>
          </p:txBody>
        </p:sp>
        <p:sp>
          <p:nvSpPr>
            <p:cNvPr id="48" name="TextBox 48"/>
            <p:cNvSpPr txBox="1"/>
            <p:nvPr/>
          </p:nvSpPr>
          <p:spPr>
            <a:xfrm>
              <a:off x="3023552" y="2788682"/>
              <a:ext cx="33464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白板</a:t>
              </a:r>
              <a:br/>
              <a:r>
                <a:rPr lang="zh-CN" sz="640" dirty="0">
                  <a:solidFill>
                    <a:srgbClr val="595959"/>
                  </a:solidFill>
                  <a:latin typeface="+mn-lt"/>
                  <a:ea typeface="+mn-ea"/>
                  <a:cs typeface="+mn-cs"/>
                </a:rPr>
                <a:t>涂鸦工具</a:t>
              </a:r>
            </a:p>
          </p:txBody>
        </p:sp>
        <p:sp>
          <p:nvSpPr>
            <p:cNvPr id="49" name="TextBox 49"/>
            <p:cNvSpPr txBox="1"/>
            <p:nvPr/>
          </p:nvSpPr>
          <p:spPr>
            <a:xfrm>
              <a:off x="3623628" y="2788682"/>
              <a:ext cx="334645" cy="2405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课件</a:t>
              </a:r>
              <a:br/>
              <a:r>
                <a:rPr lang="zh-CN" sz="640" dirty="0">
                  <a:solidFill>
                    <a:srgbClr val="595959"/>
                  </a:solidFill>
                  <a:latin typeface="+mn-lt"/>
                  <a:ea typeface="+mn-ea"/>
                  <a:cs typeface="+mn-cs"/>
                </a:rPr>
                <a:t>资料上传</a:t>
              </a:r>
            </a:p>
          </p:txBody>
        </p:sp>
      </p:grpSp>
      <p:grpSp>
        <p:nvGrpSpPr>
          <p:cNvPr id="59" name="col-management"/>
          <p:cNvGrpSpPr/>
          <p:nvPr/>
        </p:nvGrpSpPr>
        <p:grpSpPr>
          <a:xfrm>
            <a:off x="4191000" y="1619250"/>
            <a:ext cx="1809750" cy="1581150"/>
            <a:chOff x="4191000" y="1619250"/>
            <a:chExt cx="1809750" cy="1581150"/>
          </a:xfrm>
        </p:grpSpPr>
        <p:sp>
          <p:nvSpPr>
            <p:cNvPr id="51" name="Rectangle 51"/>
            <p:cNvSpPr/>
            <p:nvPr/>
          </p:nvSpPr>
          <p:spPr>
            <a:xfrm>
              <a:off x="4191000" y="1619250"/>
              <a:ext cx="1809750" cy="47625"/>
            </a:xfrm>
            <a:prstGeom prst="rect">
              <a:avLst/>
            </a:prstGeom>
            <a:solidFill>
              <a:srgbClr val="9C594C"/>
            </a:solidFill>
            <a:ln>
              <a:noFill/>
            </a:ln>
          </p:spPr>
        </p:sp>
        <p:sp>
          <p:nvSpPr>
            <p:cNvPr id="52" name="TextBox 52"/>
            <p:cNvSpPr txBox="1"/>
            <p:nvPr/>
          </p:nvSpPr>
          <p:spPr>
            <a:xfrm>
              <a:off x="4660979" y="1807845"/>
              <a:ext cx="869793" cy="176212"/>
            </a:xfrm>
            <a:prstGeom prst="rect">
              <a:avLst/>
            </a:prstGeom>
            <a:noFill/>
            <a:ln>
              <a:noFill/>
            </a:ln>
          </p:spPr>
          <p:txBody>
            <a:bodyPr wrap="none" lIns="0" tIns="0" rIns="0" bIns="0" anchor="t" anchorCtr="0">
              <a:spAutoFit/>
            </a:bodyPr>
            <a:lstStyle/>
            <a:p>
              <a:pPr algn="ctr"/>
              <a:r>
                <a:rPr lang="en-US" sz="1500" b="1" dirty="0">
                  <a:solidFill>
                    <a:srgbClr val="9C594C"/>
                  </a:solidFill>
                  <a:latin typeface="+mn-lt"/>
                  <a:ea typeface="+mn-ea"/>
                  <a:cs typeface="+mn-cs"/>
                </a:rPr>
                <a:t>M</a:t>
              </a:r>
              <a:r>
                <a:rPr lang="en-US" sz="900" b="1" dirty="0">
                  <a:solidFill>
                    <a:srgbClr val="333333"/>
                  </a:solidFill>
                  <a:latin typeface="+mn-lt"/>
                  <a:ea typeface="+mn-ea"/>
                  <a:cs typeface="+mn-cs"/>
                </a:rPr>
                <a:t>ANAGEMENT</a:t>
              </a:r>
            </a:p>
          </p:txBody>
        </p:sp>
        <p:sp>
          <p:nvSpPr>
            <p:cNvPr id="53" name="TextBox 53"/>
            <p:cNvSpPr txBox="1"/>
            <p:nvPr/>
          </p:nvSpPr>
          <p:spPr>
            <a:xfrm>
              <a:off x="4838027" y="2051447"/>
              <a:ext cx="515696" cy="183356"/>
            </a:xfrm>
            <a:prstGeom prst="rect">
              <a:avLst/>
            </a:prstGeom>
            <a:noFill/>
            <a:ln>
              <a:noFill/>
            </a:ln>
          </p:spPr>
          <p:txBody>
            <a:bodyPr wrap="none" lIns="0" tIns="0" rIns="0" bIns="0" anchor="t" anchorCtr="0">
              <a:spAutoFit/>
            </a:bodyPr>
            <a:lstStyle/>
            <a:p>
              <a:pPr algn="ctr"/>
              <a:r>
                <a:rPr lang="zh-CN" sz="940" b="1" dirty="0">
                  <a:solidFill>
                    <a:srgbClr val="7A3E33"/>
                  </a:solidFill>
                  <a:latin typeface="+mn-lt"/>
                  <a:ea typeface="+mn-ea"/>
                  <a:cs typeface="+mn-cs"/>
                </a:rPr>
                <a:t>业务管理</a:t>
              </a:r>
            </a:p>
          </p:txBody>
        </p:sp>
        <p:sp>
          <p:nvSpPr>
            <p:cNvPr id="54" name="Rectangle 54"/>
            <p:cNvSpPr/>
            <p:nvPr/>
          </p:nvSpPr>
          <p:spPr>
            <a:xfrm>
              <a:off x="4191000" y="2266950"/>
              <a:ext cx="1809750" cy="933450"/>
            </a:xfrm>
            <a:prstGeom prst="rect">
              <a:avLst/>
            </a:prstGeom>
            <a:solidFill>
              <a:srgbClr val="F4F8EF"/>
            </a:solidFill>
            <a:ln>
              <a:noFill/>
            </a:ln>
          </p:spPr>
        </p:sp>
        <p:sp>
          <p:nvSpPr>
            <p:cNvPr id="55" name="TextBox 55"/>
            <p:cNvSpPr txBox="1"/>
            <p:nvPr/>
          </p:nvSpPr>
          <p:spPr>
            <a:xfrm>
              <a:off x="4356354" y="2480310"/>
              <a:ext cx="385359" cy="234696"/>
            </a:xfrm>
            <a:prstGeom prst="rect">
              <a:avLst/>
            </a:prstGeom>
            <a:noFill/>
            <a:ln>
              <a:noFill/>
            </a:ln>
          </p:spPr>
          <p:txBody>
            <a:bodyPr wrap="none" lIns="0" tIns="0" rIns="0" bIns="0" anchor="t" anchorCtr="0">
              <a:spAutoFit/>
            </a:bodyPr>
            <a:lstStyle/>
            <a:p>
              <a:pPr algn="l"/>
              <a:r>
                <a:rPr lang="zh-CN" sz="1200" b="1" dirty="0">
                  <a:solidFill>
                    <a:srgbClr val="7A3E33"/>
                  </a:solidFill>
                  <a:latin typeface="+mn-lt"/>
                  <a:ea typeface="+mn-ea"/>
                  <a:cs typeface="+mn-cs"/>
                </a:rPr>
                <a:t>12.3</a:t>
              </a:r>
            </a:p>
          </p:txBody>
        </p:sp>
        <p:sp>
          <p:nvSpPr>
            <p:cNvPr id="56" name="TextBox 56"/>
            <p:cNvSpPr txBox="1"/>
            <p:nvPr/>
          </p:nvSpPr>
          <p:spPr>
            <a:xfrm>
              <a:off x="4757738" y="2541032"/>
              <a:ext cx="918479"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单/小时（上海分公司）</a:t>
              </a:r>
            </a:p>
          </p:txBody>
        </p:sp>
        <p:sp>
          <p:nvSpPr>
            <p:cNvPr id="57" name="TextBox 57"/>
            <p:cNvSpPr txBox="1"/>
            <p:nvPr/>
          </p:nvSpPr>
          <p:spPr>
            <a:xfrm>
              <a:off x="4356354" y="2804160"/>
              <a:ext cx="385359" cy="234696"/>
            </a:xfrm>
            <a:prstGeom prst="rect">
              <a:avLst/>
            </a:prstGeom>
            <a:noFill/>
            <a:ln>
              <a:noFill/>
            </a:ln>
          </p:spPr>
          <p:txBody>
            <a:bodyPr wrap="none" lIns="0" tIns="0" rIns="0" bIns="0" anchor="t" anchorCtr="0">
              <a:spAutoFit/>
            </a:bodyPr>
            <a:lstStyle/>
            <a:p>
              <a:pPr algn="l"/>
              <a:r>
                <a:rPr lang="zh-CN" sz="1200" b="1" dirty="0">
                  <a:solidFill>
                    <a:srgbClr val="7A3E33"/>
                  </a:solidFill>
                  <a:latin typeface="+mn-lt"/>
                  <a:ea typeface="+mn-ea"/>
                  <a:cs typeface="+mn-cs"/>
                </a:rPr>
                <a:t>15.1</a:t>
              </a:r>
            </a:p>
          </p:txBody>
        </p:sp>
        <p:sp>
          <p:nvSpPr>
            <p:cNvPr id="58" name="TextBox 58"/>
            <p:cNvSpPr txBox="1"/>
            <p:nvPr/>
          </p:nvSpPr>
          <p:spPr>
            <a:xfrm>
              <a:off x="4757738" y="2864882"/>
              <a:ext cx="918479"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单/小时（销售分公司）</a:t>
              </a:r>
            </a:p>
          </p:txBody>
        </p:sp>
      </p:grpSp>
      <p:grpSp>
        <p:nvGrpSpPr>
          <p:cNvPr id="70" name="col-organization"/>
          <p:cNvGrpSpPr/>
          <p:nvPr/>
        </p:nvGrpSpPr>
        <p:grpSpPr>
          <a:xfrm>
            <a:off x="6096000" y="1619250"/>
            <a:ext cx="1809750" cy="1581150"/>
            <a:chOff x="6096000" y="1619250"/>
            <a:chExt cx="1809750" cy="1581150"/>
          </a:xfrm>
        </p:grpSpPr>
        <p:sp>
          <p:nvSpPr>
            <p:cNvPr id="60" name="Rectangle 60"/>
            <p:cNvSpPr/>
            <p:nvPr/>
          </p:nvSpPr>
          <p:spPr>
            <a:xfrm>
              <a:off x="6096000" y="1619250"/>
              <a:ext cx="1809750" cy="47625"/>
            </a:xfrm>
            <a:prstGeom prst="rect">
              <a:avLst/>
            </a:prstGeom>
            <a:solidFill>
              <a:srgbClr val="9C594C"/>
            </a:solidFill>
            <a:ln>
              <a:noFill/>
            </a:ln>
          </p:spPr>
        </p:sp>
        <p:sp>
          <p:nvSpPr>
            <p:cNvPr id="61" name="TextBox 61"/>
            <p:cNvSpPr txBox="1"/>
            <p:nvPr/>
          </p:nvSpPr>
          <p:spPr>
            <a:xfrm>
              <a:off x="6525654" y="1807845"/>
              <a:ext cx="950443" cy="176212"/>
            </a:xfrm>
            <a:prstGeom prst="rect">
              <a:avLst/>
            </a:prstGeom>
            <a:noFill/>
            <a:ln>
              <a:noFill/>
            </a:ln>
          </p:spPr>
          <p:txBody>
            <a:bodyPr wrap="none" lIns="0" tIns="0" rIns="0" bIns="0" anchor="t" anchorCtr="0">
              <a:spAutoFit/>
            </a:bodyPr>
            <a:lstStyle/>
            <a:p>
              <a:pPr algn="ctr"/>
              <a:r>
                <a:rPr lang="en-US" sz="1500" b="1" dirty="0">
                  <a:solidFill>
                    <a:srgbClr val="9C594C"/>
                  </a:solidFill>
                  <a:latin typeface="+mn-lt"/>
                  <a:ea typeface="+mn-ea"/>
                  <a:cs typeface="+mn-cs"/>
                </a:rPr>
                <a:t>O</a:t>
              </a:r>
              <a:r>
                <a:rPr lang="en-US" sz="900" b="1" dirty="0">
                  <a:solidFill>
                    <a:srgbClr val="333333"/>
                  </a:solidFill>
                  <a:latin typeface="+mn-lt"/>
                  <a:ea typeface="+mn-ea"/>
                  <a:cs typeface="+mn-cs"/>
                </a:rPr>
                <a:t>RGANIZATION</a:t>
              </a:r>
            </a:p>
          </p:txBody>
        </p:sp>
        <p:sp>
          <p:nvSpPr>
            <p:cNvPr id="62" name="TextBox 62"/>
            <p:cNvSpPr txBox="1"/>
            <p:nvPr/>
          </p:nvSpPr>
          <p:spPr>
            <a:xfrm>
              <a:off x="6743027" y="2051447"/>
              <a:ext cx="515696" cy="183356"/>
            </a:xfrm>
            <a:prstGeom prst="rect">
              <a:avLst/>
            </a:prstGeom>
            <a:noFill/>
            <a:ln>
              <a:noFill/>
            </a:ln>
          </p:spPr>
          <p:txBody>
            <a:bodyPr wrap="none" lIns="0" tIns="0" rIns="0" bIns="0" anchor="t" anchorCtr="0">
              <a:spAutoFit/>
            </a:bodyPr>
            <a:lstStyle/>
            <a:p>
              <a:pPr algn="ctr"/>
              <a:r>
                <a:rPr lang="zh-CN" sz="940" b="1" dirty="0">
                  <a:solidFill>
                    <a:srgbClr val="7A3E33"/>
                  </a:solidFill>
                  <a:latin typeface="+mn-lt"/>
                  <a:ea typeface="+mn-ea"/>
                  <a:cs typeface="+mn-cs"/>
                </a:rPr>
                <a:t>组织人员</a:t>
              </a:r>
            </a:p>
          </p:txBody>
        </p:sp>
        <p:sp>
          <p:nvSpPr>
            <p:cNvPr id="63" name="Rectangle 63"/>
            <p:cNvSpPr/>
            <p:nvPr/>
          </p:nvSpPr>
          <p:spPr>
            <a:xfrm>
              <a:off x="6096000" y="2266950"/>
              <a:ext cx="1809750" cy="933450"/>
            </a:xfrm>
            <a:prstGeom prst="rect">
              <a:avLst/>
            </a:prstGeom>
            <a:solidFill>
              <a:srgbClr val="F4F8EF"/>
            </a:solidFill>
            <a:ln>
              <a:noFill/>
            </a:ln>
          </p:spPr>
        </p:sp>
        <p:sp>
          <p:nvSpPr>
            <p:cNvPr id="64" name="TextBox 64"/>
            <p:cNvSpPr txBox="1"/>
            <p:nvPr/>
          </p:nvSpPr>
          <p:spPr>
            <a:xfrm>
              <a:off x="6243638" y="247983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学习知识</a:t>
              </a:r>
            </a:p>
          </p:txBody>
        </p:sp>
        <p:sp>
          <p:nvSpPr>
            <p:cNvPr id="65" name="Rectangle 65"/>
            <p:cNvSpPr/>
            <p:nvPr/>
          </p:nvSpPr>
          <p:spPr>
            <a:xfrm>
              <a:off x="6705600" y="2476500"/>
              <a:ext cx="952500" cy="76200"/>
            </a:xfrm>
            <a:prstGeom prst="rect">
              <a:avLst/>
            </a:prstGeom>
            <a:solidFill>
              <a:srgbClr val="9C594C"/>
            </a:solidFill>
            <a:ln>
              <a:noFill/>
            </a:ln>
          </p:spPr>
        </p:sp>
        <p:sp>
          <p:nvSpPr>
            <p:cNvPr id="66" name="TextBox 66"/>
            <p:cNvSpPr txBox="1"/>
            <p:nvPr/>
          </p:nvSpPr>
          <p:spPr>
            <a:xfrm>
              <a:off x="6243638" y="268938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层级依赖</a:t>
              </a:r>
            </a:p>
          </p:txBody>
        </p:sp>
        <p:sp>
          <p:nvSpPr>
            <p:cNvPr id="67" name="Rectangle 67"/>
            <p:cNvSpPr/>
            <p:nvPr/>
          </p:nvSpPr>
          <p:spPr>
            <a:xfrm>
              <a:off x="6705600" y="2686050"/>
              <a:ext cx="685800" cy="76200"/>
            </a:xfrm>
            <a:prstGeom prst="rect">
              <a:avLst/>
            </a:prstGeom>
            <a:solidFill>
              <a:srgbClr val="9C594C"/>
            </a:solidFill>
            <a:ln>
              <a:noFill/>
            </a:ln>
          </p:spPr>
        </p:sp>
        <p:sp>
          <p:nvSpPr>
            <p:cNvPr id="68" name="TextBox 68"/>
            <p:cNvSpPr txBox="1"/>
            <p:nvPr/>
          </p:nvSpPr>
          <p:spPr>
            <a:xfrm>
              <a:off x="6243638" y="2898934"/>
              <a:ext cx="375691"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增强关注</a:t>
              </a:r>
            </a:p>
          </p:txBody>
        </p:sp>
        <p:sp>
          <p:nvSpPr>
            <p:cNvPr id="69" name="Rectangle 69"/>
            <p:cNvSpPr/>
            <p:nvPr/>
          </p:nvSpPr>
          <p:spPr>
            <a:xfrm>
              <a:off x="6705600" y="2895600"/>
              <a:ext cx="476250" cy="76200"/>
            </a:xfrm>
            <a:prstGeom prst="rect">
              <a:avLst/>
            </a:prstGeom>
            <a:solidFill>
              <a:srgbClr val="9C594C"/>
            </a:solidFill>
            <a:ln>
              <a:noFill/>
            </a:ln>
          </p:spPr>
        </p:sp>
      </p:grpSp>
      <p:grpSp>
        <p:nvGrpSpPr>
          <p:cNvPr id="80" name="col-training"/>
          <p:cNvGrpSpPr/>
          <p:nvPr/>
        </p:nvGrpSpPr>
        <p:grpSpPr>
          <a:xfrm>
            <a:off x="8001000" y="1619250"/>
            <a:ext cx="1809750" cy="1581150"/>
            <a:chOff x="8001000" y="1619250"/>
            <a:chExt cx="1809750" cy="1581150"/>
          </a:xfrm>
        </p:grpSpPr>
        <p:sp>
          <p:nvSpPr>
            <p:cNvPr id="71" name="Rectangle 71"/>
            <p:cNvSpPr/>
            <p:nvPr/>
          </p:nvSpPr>
          <p:spPr>
            <a:xfrm>
              <a:off x="8001000" y="1619250"/>
              <a:ext cx="1809750" cy="47625"/>
            </a:xfrm>
            <a:prstGeom prst="rect">
              <a:avLst/>
            </a:prstGeom>
            <a:solidFill>
              <a:srgbClr val="9C594C"/>
            </a:solidFill>
            <a:ln>
              <a:noFill/>
            </a:ln>
          </p:spPr>
        </p:sp>
        <p:sp>
          <p:nvSpPr>
            <p:cNvPr id="72" name="TextBox 72"/>
            <p:cNvSpPr txBox="1"/>
            <p:nvPr/>
          </p:nvSpPr>
          <p:spPr>
            <a:xfrm>
              <a:off x="8614357" y="1807845"/>
              <a:ext cx="583037" cy="176212"/>
            </a:xfrm>
            <a:prstGeom prst="rect">
              <a:avLst/>
            </a:prstGeom>
            <a:noFill/>
            <a:ln>
              <a:noFill/>
            </a:ln>
          </p:spPr>
          <p:txBody>
            <a:bodyPr wrap="none" lIns="0" tIns="0" rIns="0" bIns="0" anchor="t" anchorCtr="0">
              <a:spAutoFit/>
            </a:bodyPr>
            <a:lstStyle/>
            <a:p>
              <a:pPr algn="ctr"/>
              <a:r>
                <a:rPr lang="en-US" sz="1500" b="1" dirty="0">
                  <a:solidFill>
                    <a:srgbClr val="9C594C"/>
                  </a:solidFill>
                  <a:latin typeface="+mn-lt"/>
                  <a:ea typeface="+mn-ea"/>
                  <a:cs typeface="+mn-cs"/>
                </a:rPr>
                <a:t>T</a:t>
              </a:r>
              <a:r>
                <a:rPr lang="en-US" sz="900" b="1" dirty="0">
                  <a:solidFill>
                    <a:srgbClr val="333333"/>
                  </a:solidFill>
                  <a:latin typeface="+mn-lt"/>
                  <a:ea typeface="+mn-ea"/>
                  <a:cs typeface="+mn-cs"/>
                </a:rPr>
                <a:t>RAINING</a:t>
              </a:r>
            </a:p>
          </p:txBody>
        </p:sp>
        <p:sp>
          <p:nvSpPr>
            <p:cNvPr id="73" name="TextBox 73"/>
            <p:cNvSpPr txBox="1"/>
            <p:nvPr/>
          </p:nvSpPr>
          <p:spPr>
            <a:xfrm>
              <a:off x="8648027" y="2051447"/>
              <a:ext cx="515696" cy="183356"/>
            </a:xfrm>
            <a:prstGeom prst="rect">
              <a:avLst/>
            </a:prstGeom>
            <a:noFill/>
            <a:ln>
              <a:noFill/>
            </a:ln>
          </p:spPr>
          <p:txBody>
            <a:bodyPr wrap="none" lIns="0" tIns="0" rIns="0" bIns="0" anchor="t" anchorCtr="0">
              <a:spAutoFit/>
            </a:bodyPr>
            <a:lstStyle/>
            <a:p>
              <a:pPr algn="ctr"/>
              <a:r>
                <a:rPr lang="zh-CN" sz="940" b="1" dirty="0">
                  <a:solidFill>
                    <a:srgbClr val="7A3E33"/>
                  </a:solidFill>
                  <a:latin typeface="+mn-lt"/>
                  <a:ea typeface="+mn-ea"/>
                  <a:cs typeface="+mn-cs"/>
                </a:rPr>
                <a:t>培训体系</a:t>
              </a:r>
            </a:p>
          </p:txBody>
        </p:sp>
        <p:sp>
          <p:nvSpPr>
            <p:cNvPr id="74" name="Rectangle 74"/>
            <p:cNvSpPr/>
            <p:nvPr/>
          </p:nvSpPr>
          <p:spPr>
            <a:xfrm>
              <a:off x="8001000" y="2266950"/>
              <a:ext cx="1809750" cy="933450"/>
            </a:xfrm>
            <a:prstGeom prst="rect">
              <a:avLst/>
            </a:prstGeom>
            <a:solidFill>
              <a:srgbClr val="F4F8EF"/>
            </a:solidFill>
            <a:ln>
              <a:noFill/>
            </a:ln>
          </p:spPr>
        </p:sp>
        <p:sp>
          <p:nvSpPr>
            <p:cNvPr id="75" name="TextBox 75"/>
            <p:cNvSpPr txBox="1"/>
            <p:nvPr/>
          </p:nvSpPr>
          <p:spPr>
            <a:xfrm>
              <a:off x="8148638" y="2399586"/>
              <a:ext cx="200685" cy="140494"/>
            </a:xfrm>
            <a:prstGeom prst="rect">
              <a:avLst/>
            </a:prstGeom>
            <a:noFill/>
            <a:ln>
              <a:noFill/>
            </a:ln>
          </p:spPr>
          <p:txBody>
            <a:bodyPr wrap="none" lIns="0" tIns="0" rIns="0" bIns="0" anchor="t" anchorCtr="0">
              <a:spAutoFit/>
            </a:bodyPr>
            <a:lstStyle/>
            <a:p>
              <a:pPr algn="l"/>
              <a:r>
                <a:rPr lang="zh-CN" sz="710" b="1" dirty="0">
                  <a:solidFill>
                    <a:srgbClr val="333333"/>
                  </a:solidFill>
                  <a:latin typeface="+mn-lt"/>
                  <a:ea typeface="+mn-ea"/>
                  <a:cs typeface="+mn-cs"/>
                </a:rPr>
                <a:t>目的</a:t>
              </a:r>
            </a:p>
          </p:txBody>
        </p:sp>
        <p:sp>
          <p:nvSpPr>
            <p:cNvPr id="76" name="Rectangle 76"/>
            <p:cNvSpPr/>
            <p:nvPr/>
          </p:nvSpPr>
          <p:spPr>
            <a:xfrm>
              <a:off x="8153400" y="2590800"/>
              <a:ext cx="1428750" cy="38100"/>
            </a:xfrm>
            <a:prstGeom prst="roundRect">
              <a:avLst>
                <a:gd name="adj" fmla="val 50000"/>
              </a:avLst>
            </a:prstGeom>
            <a:solidFill>
              <a:srgbClr val="C9D8BD"/>
            </a:solidFill>
            <a:ln>
              <a:noFill/>
            </a:ln>
          </p:spPr>
        </p:sp>
        <p:sp>
          <p:nvSpPr>
            <p:cNvPr id="77" name="Rectangle 77"/>
            <p:cNvSpPr/>
            <p:nvPr/>
          </p:nvSpPr>
          <p:spPr>
            <a:xfrm>
              <a:off x="8153400" y="2705100"/>
              <a:ext cx="1524000" cy="38100"/>
            </a:xfrm>
            <a:prstGeom prst="roundRect">
              <a:avLst>
                <a:gd name="adj" fmla="val 50000"/>
              </a:avLst>
            </a:prstGeom>
            <a:solidFill>
              <a:srgbClr val="C9D8BD"/>
            </a:solidFill>
            <a:ln>
              <a:noFill/>
            </a:ln>
          </p:spPr>
        </p:sp>
        <p:sp>
          <p:nvSpPr>
            <p:cNvPr id="78" name="Rectangle 78"/>
            <p:cNvSpPr/>
            <p:nvPr/>
          </p:nvSpPr>
          <p:spPr>
            <a:xfrm>
              <a:off x="8153400" y="2819400"/>
              <a:ext cx="1143000" cy="38100"/>
            </a:xfrm>
            <a:prstGeom prst="roundRect">
              <a:avLst>
                <a:gd name="adj" fmla="val 50000"/>
              </a:avLst>
            </a:prstGeom>
            <a:solidFill>
              <a:srgbClr val="C9D8BD"/>
            </a:solidFill>
            <a:ln>
              <a:noFill/>
            </a:ln>
          </p:spPr>
        </p:sp>
        <p:sp>
          <p:nvSpPr>
            <p:cNvPr id="79" name="Rectangle 79"/>
            <p:cNvSpPr/>
            <p:nvPr/>
          </p:nvSpPr>
          <p:spPr>
            <a:xfrm>
              <a:off x="8153400" y="2933700"/>
              <a:ext cx="1333500" cy="38100"/>
            </a:xfrm>
            <a:prstGeom prst="roundRect">
              <a:avLst>
                <a:gd name="adj" fmla="val 50000"/>
              </a:avLst>
            </a:prstGeom>
            <a:solidFill>
              <a:srgbClr val="C9D8BD"/>
            </a:solidFill>
            <a:ln>
              <a:noFill/>
            </a:ln>
          </p:spPr>
        </p:sp>
      </p:grpSp>
      <p:grpSp>
        <p:nvGrpSpPr>
          <p:cNvPr id="89" name="col-hardware"/>
          <p:cNvGrpSpPr/>
          <p:nvPr/>
        </p:nvGrpSpPr>
        <p:grpSpPr>
          <a:xfrm>
            <a:off x="9906000" y="1619250"/>
            <a:ext cx="1905000" cy="1581150"/>
            <a:chOff x="9906000" y="1619250"/>
            <a:chExt cx="1905000" cy="1581150"/>
          </a:xfrm>
        </p:grpSpPr>
        <p:sp>
          <p:nvSpPr>
            <p:cNvPr id="81" name="Rectangle 81"/>
            <p:cNvSpPr/>
            <p:nvPr/>
          </p:nvSpPr>
          <p:spPr>
            <a:xfrm>
              <a:off x="9906000" y="1619250"/>
              <a:ext cx="1905000" cy="47625"/>
            </a:xfrm>
            <a:prstGeom prst="rect">
              <a:avLst/>
            </a:prstGeom>
            <a:solidFill>
              <a:srgbClr val="9C594C"/>
            </a:solidFill>
            <a:ln>
              <a:noFill/>
            </a:ln>
          </p:spPr>
        </p:sp>
        <p:sp>
          <p:nvSpPr>
            <p:cNvPr id="82" name="TextBox 82"/>
            <p:cNvSpPr txBox="1"/>
            <p:nvPr/>
          </p:nvSpPr>
          <p:spPr>
            <a:xfrm>
              <a:off x="10519936" y="1807845"/>
              <a:ext cx="677128" cy="176212"/>
            </a:xfrm>
            <a:prstGeom prst="rect">
              <a:avLst/>
            </a:prstGeom>
            <a:noFill/>
            <a:ln>
              <a:noFill/>
            </a:ln>
          </p:spPr>
          <p:txBody>
            <a:bodyPr wrap="none" lIns="0" tIns="0" rIns="0" bIns="0" anchor="t" anchorCtr="0">
              <a:spAutoFit/>
            </a:bodyPr>
            <a:lstStyle/>
            <a:p>
              <a:pPr algn="ctr"/>
              <a:r>
                <a:rPr lang="en-US" sz="1500" b="1" dirty="0">
                  <a:solidFill>
                    <a:srgbClr val="9C594C"/>
                  </a:solidFill>
                  <a:latin typeface="+mn-lt"/>
                  <a:ea typeface="+mn-ea"/>
                  <a:cs typeface="+mn-cs"/>
                </a:rPr>
                <a:t>H</a:t>
              </a:r>
              <a:r>
                <a:rPr lang="en-US" sz="900" b="1" dirty="0">
                  <a:solidFill>
                    <a:srgbClr val="333333"/>
                  </a:solidFill>
                  <a:latin typeface="+mn-lt"/>
                  <a:ea typeface="+mn-ea"/>
                  <a:cs typeface="+mn-cs"/>
                </a:rPr>
                <a:t>ARDWARE</a:t>
              </a:r>
            </a:p>
          </p:txBody>
        </p:sp>
        <p:sp>
          <p:nvSpPr>
            <p:cNvPr id="83" name="TextBox 83"/>
            <p:cNvSpPr txBox="1"/>
            <p:nvPr/>
          </p:nvSpPr>
          <p:spPr>
            <a:xfrm>
              <a:off x="10600652" y="2051447"/>
              <a:ext cx="515696" cy="183356"/>
            </a:xfrm>
            <a:prstGeom prst="rect">
              <a:avLst/>
            </a:prstGeom>
            <a:noFill/>
            <a:ln>
              <a:noFill/>
            </a:ln>
          </p:spPr>
          <p:txBody>
            <a:bodyPr wrap="none" lIns="0" tIns="0" rIns="0" bIns="0" anchor="t" anchorCtr="0">
              <a:spAutoFit/>
            </a:bodyPr>
            <a:lstStyle/>
            <a:p>
              <a:pPr algn="ctr"/>
              <a:r>
                <a:rPr lang="zh-CN" sz="940" b="1" dirty="0">
                  <a:solidFill>
                    <a:srgbClr val="7A3E33"/>
                  </a:solidFill>
                  <a:latin typeface="+mn-lt"/>
                  <a:ea typeface="+mn-ea"/>
                  <a:cs typeface="+mn-cs"/>
                </a:rPr>
                <a:t>硬件基建</a:t>
              </a:r>
            </a:p>
          </p:txBody>
        </p:sp>
        <p:sp>
          <p:nvSpPr>
            <p:cNvPr id="84" name="Rectangle 84"/>
            <p:cNvSpPr/>
            <p:nvPr/>
          </p:nvSpPr>
          <p:spPr>
            <a:xfrm>
              <a:off x="9906000" y="2266950"/>
              <a:ext cx="1905000" cy="933450"/>
            </a:xfrm>
            <a:prstGeom prst="rect">
              <a:avLst/>
            </a:prstGeom>
            <a:solidFill>
              <a:srgbClr val="F4F8EF"/>
            </a:solidFill>
            <a:ln>
              <a:noFill/>
            </a:ln>
          </p:spPr>
        </p:sp>
        <p:sp>
          <p:nvSpPr>
            <p:cNvPr id="85" name="Rectangle 85"/>
            <p:cNvSpPr/>
            <p:nvPr/>
          </p:nvSpPr>
          <p:spPr>
            <a:xfrm>
              <a:off x="10334625" y="2381250"/>
              <a:ext cx="1047750" cy="171450"/>
            </a:xfrm>
            <a:prstGeom prst="roundRect">
              <a:avLst>
                <a:gd name="adj" fmla="val 16667"/>
              </a:avLst>
            </a:prstGeom>
            <a:solidFill>
              <a:srgbClr val="9C594C"/>
            </a:solidFill>
            <a:ln>
              <a:noFill/>
            </a:ln>
          </p:spPr>
        </p:sp>
        <p:sp>
          <p:nvSpPr>
            <p:cNvPr id="86" name="TextBox 86"/>
            <p:cNvSpPr txBox="1"/>
            <p:nvPr/>
          </p:nvSpPr>
          <p:spPr>
            <a:xfrm>
              <a:off x="10589911" y="2428161"/>
              <a:ext cx="537177"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图像AI能力​</a:t>
              </a:r>
            </a:p>
          </p:txBody>
        </p:sp>
        <p:sp>
          <p:nvSpPr>
            <p:cNvPr id="87" name="TextBox 87"/>
            <p:cNvSpPr txBox="1"/>
            <p:nvPr/>
          </p:nvSpPr>
          <p:spPr>
            <a:xfrm>
              <a:off x="10310950" y="2693432"/>
              <a:ext cx="1095101" cy="126206"/>
            </a:xfrm>
            <a:prstGeom prst="rect">
              <a:avLst/>
            </a:prstGeom>
            <a:noFill/>
            <a:ln>
              <a:noFill/>
            </a:ln>
          </p:spPr>
          <p:txBody>
            <a:bodyPr wrap="none" lIns="0" tIns="0" rIns="0" bIns="0" anchor="t" anchorCtr="0">
              <a:spAutoFit/>
            </a:bodyPr>
            <a:lstStyle/>
            <a:p>
              <a:pPr algn="ctr"/>
              <a:r>
                <a:rPr lang="zh-CN" sz="640" dirty="0">
                  <a:solidFill>
                    <a:srgbClr val="595959"/>
                  </a:solidFill>
                  <a:latin typeface="+mn-lt"/>
                  <a:ea typeface="+mn-ea"/>
                  <a:cs typeface="+mn-cs"/>
                </a:rPr>
                <a:t>人脸识别 物流体验 语义分析</a:t>
              </a:r>
            </a:p>
          </p:txBody>
        </p:sp>
        <p:sp>
          <p:nvSpPr>
            <p:cNvPr id="88" name="TextBox 88"/>
            <p:cNvSpPr txBox="1"/>
            <p:nvPr/>
          </p:nvSpPr>
          <p:spPr>
            <a:xfrm>
              <a:off x="10310950" y="2845832"/>
              <a:ext cx="1095101" cy="126206"/>
            </a:xfrm>
            <a:prstGeom prst="rect">
              <a:avLst/>
            </a:prstGeom>
            <a:noFill/>
            <a:ln>
              <a:noFill/>
            </a:ln>
          </p:spPr>
          <p:txBody>
            <a:bodyPr wrap="none" lIns="0" tIns="0" rIns="0" bIns="0" anchor="t" anchorCtr="0">
              <a:spAutoFit/>
            </a:bodyPr>
            <a:lstStyle/>
            <a:p>
              <a:pPr algn="ctr"/>
              <a:r>
                <a:rPr lang="zh-CN" sz="640" dirty="0">
                  <a:solidFill>
                    <a:srgbClr val="595959"/>
                  </a:solidFill>
                  <a:latin typeface="+mn-lt"/>
                  <a:ea typeface="+mn-ea"/>
                  <a:cs typeface="+mn-cs"/>
                </a:rPr>
                <a:t>图像识别 句法分析 拼写矫正</a:t>
              </a:r>
            </a:p>
          </p:txBody>
        </p:sp>
      </p:grpSp>
      <p:grpSp>
        <p:nvGrpSpPr>
          <p:cNvPr id="92" name="showcase-text"/>
          <p:cNvGrpSpPr/>
          <p:nvPr/>
        </p:nvGrpSpPr>
        <p:grpSpPr>
          <a:xfrm>
            <a:off x="566166" y="3449002"/>
            <a:ext cx="3354769" cy="704136"/>
            <a:chOff x="566166" y="3449002"/>
            <a:chExt cx="3354769" cy="704136"/>
          </a:xfrm>
        </p:grpSpPr>
        <p:sp>
          <p:nvSpPr>
            <p:cNvPr id="90" name="TextBox 90"/>
            <p:cNvSpPr txBox="1"/>
            <p:nvPr/>
          </p:nvSpPr>
          <p:spPr>
            <a:xfrm>
              <a:off x="566166" y="3449002"/>
              <a:ext cx="1267632" cy="205359"/>
            </a:xfrm>
            <a:prstGeom prst="rect">
              <a:avLst/>
            </a:prstGeom>
            <a:noFill/>
            <a:ln>
              <a:noFill/>
            </a:ln>
          </p:spPr>
          <p:txBody>
            <a:bodyPr wrap="none" lIns="0" tIns="0" rIns="0" bIns="0" anchor="t" anchorCtr="0">
              <a:spAutoFit/>
            </a:bodyPr>
            <a:lstStyle/>
            <a:p>
              <a:pPr algn="l"/>
              <a:r>
                <a:rPr lang="zh-CN" sz="1050" b="1" dirty="0">
                  <a:solidFill>
                    <a:srgbClr val="7A3E33"/>
                  </a:solidFill>
                  <a:latin typeface="+mn-lt"/>
                  <a:ea typeface="+mn-ea"/>
                  <a:cs typeface="+mn-cs"/>
                </a:rPr>
                <a:t>◉ 公司优秀过往展示</a:t>
              </a:r>
            </a:p>
          </p:txBody>
        </p:sp>
        <p:sp>
          <p:nvSpPr>
            <p:cNvPr id="91" name="TextBox 91"/>
            <p:cNvSpPr txBox="1"/>
            <p:nvPr/>
          </p:nvSpPr>
          <p:spPr>
            <a:xfrm>
              <a:off x="566738" y="3684032"/>
              <a:ext cx="3354197" cy="469106"/>
            </a:xfrm>
            <a:prstGeom prst="rect">
              <a:avLst/>
            </a:prstGeom>
            <a:noFill/>
            <a:ln>
              <a:noFill/>
            </a:ln>
          </p:spPr>
          <p:txBody>
            <a:bodyPr wrap="none" lIns="0" tIns="0" rIns="0" bIns="0" anchor="t" anchorCtr="0">
              <a:spAutoFit/>
            </a:bodyPr>
            <a:lstStyle/>
            <a:p>
              <a:pPr algn="l">
                <a:lnSpc>
                  <a:spcPts val="900"/>
                </a:lnSpc>
              </a:pPr>
              <a:r>
                <a:rPr lang="zh-CN" sz="640" dirty="0">
                  <a:solidFill>
                    <a:srgbClr val="595959"/>
                  </a:solidFill>
                  <a:latin typeface="+mn-lt"/>
                  <a:ea typeface="+mn-ea"/>
                  <a:cs typeface="+mn-cs"/>
                </a:rPr>
                <a:t>➤ 在通过定制化产出立体洞察之后,为了在电商环境精准地触达他们</a:t>
              </a:r>
              <a:br/>
              <a:r>
                <a:rPr lang="zh-CN" sz="640" dirty="0">
                  <a:solidFill>
                    <a:srgbClr val="595959"/>
                  </a:solidFill>
                  <a:latin typeface="+mn-lt"/>
                  <a:ea typeface="+mn-ea"/>
                  <a:cs typeface="+mn-cs"/>
                </a:rPr>
                <a:t>进一步知道这些 拥有老年犬的目标策略人群在淘内的行为是怎样的</a:t>
              </a:r>
              <a:br/>
              <a:r>
                <a:rPr lang="zh-CN" sz="640" dirty="0">
                  <a:solidFill>
                    <a:srgbClr val="595959"/>
                  </a:solidFill>
                  <a:latin typeface="+mn-lt"/>
                  <a:ea typeface="+mn-ea"/>
                  <a:cs typeface="+mn-cs"/>
                </a:rPr>
                <a:t>➤ 定制化产出立体洞察之后,为了在电商环境精准地触达他们进一步知道这些 拥有老年犬的目</a:t>
              </a:r>
              <a:br/>
              <a:r>
                <a:rPr lang="zh-CN" sz="640" dirty="0">
                  <a:solidFill>
                    <a:srgbClr val="595959"/>
                  </a:solidFill>
                  <a:latin typeface="+mn-lt"/>
                  <a:ea typeface="+mn-ea"/>
                  <a:cs typeface="+mn-cs"/>
                </a:rPr>
                <a:t>标策略人群在淘内的行为是怎样的</a:t>
              </a:r>
            </a:p>
          </p:txBody>
        </p:sp>
      </p:grpSp>
      <p:grpSp>
        <p:nvGrpSpPr>
          <p:cNvPr id="98" name="step-1"/>
          <p:cNvGrpSpPr/>
          <p:nvPr/>
        </p:nvGrpSpPr>
        <p:grpSpPr>
          <a:xfrm>
            <a:off x="571500" y="4829175"/>
            <a:ext cx="1809750" cy="695325"/>
            <a:chOff x="571500" y="4829175"/>
            <a:chExt cx="1809750" cy="695325"/>
          </a:xfrm>
        </p:grpSpPr>
        <p:sp>
          <p:nvSpPr>
            <p:cNvPr id="93" name="TextBox 93"/>
            <p:cNvSpPr txBox="1"/>
            <p:nvPr/>
          </p:nvSpPr>
          <p:spPr>
            <a:xfrm>
              <a:off x="1019205" y="4829175"/>
              <a:ext cx="819090" cy="293370"/>
            </a:xfrm>
            <a:prstGeom prst="rect">
              <a:avLst/>
            </a:prstGeom>
            <a:noFill/>
            <a:ln>
              <a:noFill/>
            </a:ln>
          </p:spPr>
          <p:txBody>
            <a:bodyPr wrap="none" lIns="0" tIns="0" rIns="0" bIns="0" anchor="t" anchorCtr="0">
              <a:spAutoFit/>
            </a:bodyPr>
            <a:lstStyle/>
            <a:p>
              <a:pPr algn="ctr"/>
              <a:r>
                <a:rPr lang="zh-CN" sz="1500" b="1" dirty="0">
                  <a:solidFill>
                    <a:srgbClr val="333333"/>
                  </a:solidFill>
                  <a:latin typeface="+mn-lt"/>
                  <a:ea typeface="+mn-ea"/>
                  <a:cs typeface="+mn-cs"/>
                </a:rPr>
                <a:t>20.5</a:t>
              </a:r>
              <a:r>
                <a:rPr lang="zh-CN" sz="820" b="1" dirty="0">
                  <a:solidFill>
                    <a:srgbClr val="333333"/>
                  </a:solidFill>
                  <a:latin typeface="+mn-lt"/>
                  <a:ea typeface="+mn-ea"/>
                  <a:cs typeface="+mn-cs"/>
                </a:rPr>
                <a:t>万个</a:t>
              </a:r>
              <a:r>
                <a:rPr lang="zh-CN" sz="1500" b="1" dirty="0">
                  <a:solidFill>
                    <a:srgbClr val="333333"/>
                  </a:solidFill>
                  <a:latin typeface="+mn-lt"/>
                  <a:ea typeface="+mn-ea"/>
                  <a:cs typeface="+mn-cs"/>
                </a:rPr>
                <a:t>​</a:t>
              </a:r>
            </a:p>
          </p:txBody>
        </p:sp>
        <p:sp>
          <p:nvSpPr>
            <p:cNvPr id="94" name="Rectangle 94"/>
            <p:cNvSpPr/>
            <p:nvPr/>
          </p:nvSpPr>
          <p:spPr>
            <a:xfrm>
              <a:off x="571500" y="5143500"/>
              <a:ext cx="1809750" cy="381000"/>
            </a:xfrm>
            <a:prstGeom prst="rect">
              <a:avLst/>
            </a:prstGeom>
            <a:solidFill>
              <a:srgbClr val="8C4B3F"/>
            </a:solidFill>
            <a:ln>
              <a:noFill/>
            </a:ln>
          </p:spPr>
        </p:sp>
        <p:sp>
          <p:nvSpPr>
            <p:cNvPr id="95" name="Ellipse 95"/>
            <p:cNvSpPr/>
            <p:nvPr/>
          </p:nvSpPr>
          <p:spPr>
            <a:xfrm>
              <a:off x="628650" y="5200650"/>
              <a:ext cx="266700" cy="266700"/>
            </a:xfrm>
            <a:prstGeom prst="ellipse">
              <a:avLst/>
            </a:prstGeom>
            <a:solidFill>
              <a:srgbClr val="333333"/>
            </a:solidFill>
            <a:ln>
              <a:noFill/>
            </a:ln>
          </p:spPr>
        </p:sp>
        <p:sp>
          <p:nvSpPr>
            <p:cNvPr id="96" name="TextBox 96"/>
            <p:cNvSpPr txBox="1"/>
            <p:nvPr/>
          </p:nvSpPr>
          <p:spPr>
            <a:xfrm>
              <a:off x="722253" y="52844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1</a:t>
              </a:r>
            </a:p>
          </p:txBody>
        </p:sp>
        <p:sp>
          <p:nvSpPr>
            <p:cNvPr id="97" name="TextBox 97"/>
            <p:cNvSpPr txBox="1"/>
            <p:nvPr/>
          </p:nvSpPr>
          <p:spPr>
            <a:xfrm>
              <a:off x="1346086" y="52925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新生企业</a:t>
              </a:r>
            </a:p>
          </p:txBody>
        </p:sp>
      </p:grpSp>
      <p:grpSp>
        <p:nvGrpSpPr>
          <p:cNvPr id="104" name="step-2"/>
          <p:cNvGrpSpPr/>
          <p:nvPr/>
        </p:nvGrpSpPr>
        <p:grpSpPr>
          <a:xfrm>
            <a:off x="2381250" y="4638675"/>
            <a:ext cx="1809750" cy="885825"/>
            <a:chOff x="2381250" y="4638675"/>
            <a:chExt cx="1809750" cy="885825"/>
          </a:xfrm>
        </p:grpSpPr>
        <p:sp>
          <p:nvSpPr>
            <p:cNvPr id="99" name="TextBox 99"/>
            <p:cNvSpPr txBox="1"/>
            <p:nvPr/>
          </p:nvSpPr>
          <p:spPr>
            <a:xfrm>
              <a:off x="2876580" y="4638675"/>
              <a:ext cx="819090" cy="293370"/>
            </a:xfrm>
            <a:prstGeom prst="rect">
              <a:avLst/>
            </a:prstGeom>
            <a:noFill/>
            <a:ln>
              <a:noFill/>
            </a:ln>
          </p:spPr>
          <p:txBody>
            <a:bodyPr wrap="none" lIns="0" tIns="0" rIns="0" bIns="0" anchor="t" anchorCtr="0">
              <a:spAutoFit/>
            </a:bodyPr>
            <a:lstStyle/>
            <a:p>
              <a:pPr algn="ctr"/>
              <a:r>
                <a:rPr lang="zh-CN" sz="1500" b="1" dirty="0">
                  <a:solidFill>
                    <a:srgbClr val="7A3E33"/>
                  </a:solidFill>
                  <a:latin typeface="+mn-lt"/>
                  <a:ea typeface="+mn-ea"/>
                  <a:cs typeface="+mn-cs"/>
                </a:rPr>
                <a:t>11.3</a:t>
              </a:r>
              <a:r>
                <a:rPr lang="zh-CN" sz="820" b="1" dirty="0">
                  <a:solidFill>
                    <a:srgbClr val="7A3E33"/>
                  </a:solidFill>
                  <a:latin typeface="+mn-lt"/>
                  <a:ea typeface="+mn-ea"/>
                  <a:cs typeface="+mn-cs"/>
                </a:rPr>
                <a:t>万个</a:t>
              </a:r>
              <a:r>
                <a:rPr lang="zh-CN" sz="1500" b="1" dirty="0">
                  <a:solidFill>
                    <a:srgbClr val="7A3E33"/>
                  </a:solidFill>
                  <a:latin typeface="+mn-lt"/>
                  <a:ea typeface="+mn-ea"/>
                  <a:cs typeface="+mn-cs"/>
                </a:rPr>
                <a:t>​</a:t>
              </a:r>
            </a:p>
          </p:txBody>
        </p:sp>
        <p:sp>
          <p:nvSpPr>
            <p:cNvPr id="100" name="Rectangle 100"/>
            <p:cNvSpPr/>
            <p:nvPr/>
          </p:nvSpPr>
          <p:spPr>
            <a:xfrm>
              <a:off x="2381250" y="4953000"/>
              <a:ext cx="1809750" cy="571500"/>
            </a:xfrm>
            <a:prstGeom prst="rect">
              <a:avLst/>
            </a:prstGeom>
            <a:solidFill>
              <a:srgbClr val="B5766A"/>
            </a:solidFill>
            <a:ln>
              <a:noFill/>
            </a:ln>
          </p:spPr>
        </p:sp>
        <p:sp>
          <p:nvSpPr>
            <p:cNvPr id="101" name="Ellipse 101"/>
            <p:cNvSpPr/>
            <p:nvPr/>
          </p:nvSpPr>
          <p:spPr>
            <a:xfrm>
              <a:off x="2438400" y="5010150"/>
              <a:ext cx="266700" cy="266700"/>
            </a:xfrm>
            <a:prstGeom prst="ellipse">
              <a:avLst/>
            </a:prstGeom>
            <a:solidFill>
              <a:srgbClr val="8C4B3F"/>
            </a:solidFill>
            <a:ln>
              <a:noFill/>
            </a:ln>
          </p:spPr>
        </p:sp>
        <p:sp>
          <p:nvSpPr>
            <p:cNvPr id="102" name="TextBox 102"/>
            <p:cNvSpPr txBox="1"/>
            <p:nvPr/>
          </p:nvSpPr>
          <p:spPr>
            <a:xfrm>
              <a:off x="2532003" y="50939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2</a:t>
              </a:r>
            </a:p>
          </p:txBody>
        </p:sp>
        <p:sp>
          <p:nvSpPr>
            <p:cNvPr id="103" name="TextBox 103"/>
            <p:cNvSpPr txBox="1"/>
            <p:nvPr/>
          </p:nvSpPr>
          <p:spPr>
            <a:xfrm>
              <a:off x="3155836" y="5102066"/>
              <a:ext cx="451079"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中标数量</a:t>
              </a:r>
            </a:p>
          </p:txBody>
        </p:sp>
      </p:grpSp>
      <p:grpSp>
        <p:nvGrpSpPr>
          <p:cNvPr id="111" name="step-3"/>
          <p:cNvGrpSpPr/>
          <p:nvPr/>
        </p:nvGrpSpPr>
        <p:grpSpPr>
          <a:xfrm>
            <a:off x="4191000" y="4429125"/>
            <a:ext cx="1809750" cy="1095375"/>
            <a:chOff x="4191000" y="4429125"/>
            <a:chExt cx="1809750" cy="1095375"/>
          </a:xfrm>
        </p:grpSpPr>
        <p:sp>
          <p:nvSpPr>
            <p:cNvPr id="105" name="TextBox 105"/>
            <p:cNvSpPr txBox="1"/>
            <p:nvPr/>
          </p:nvSpPr>
          <p:spPr>
            <a:xfrm>
              <a:off x="4686330" y="4429125"/>
              <a:ext cx="819090" cy="293370"/>
            </a:xfrm>
            <a:prstGeom prst="rect">
              <a:avLst/>
            </a:prstGeom>
            <a:noFill/>
            <a:ln>
              <a:noFill/>
            </a:ln>
          </p:spPr>
          <p:txBody>
            <a:bodyPr wrap="none" lIns="0" tIns="0" rIns="0" bIns="0" anchor="t" anchorCtr="0">
              <a:spAutoFit/>
            </a:bodyPr>
            <a:lstStyle/>
            <a:p>
              <a:pPr algn="ctr"/>
              <a:r>
                <a:rPr lang="zh-CN" sz="1500" b="1" dirty="0">
                  <a:solidFill>
                    <a:srgbClr val="B5766A"/>
                  </a:solidFill>
                  <a:latin typeface="+mn-lt"/>
                  <a:ea typeface="+mn-ea"/>
                  <a:cs typeface="+mn-cs"/>
                </a:rPr>
                <a:t>11.3</a:t>
              </a:r>
              <a:r>
                <a:rPr lang="zh-CN" sz="820" b="1" dirty="0">
                  <a:solidFill>
                    <a:srgbClr val="B5766A"/>
                  </a:solidFill>
                  <a:latin typeface="+mn-lt"/>
                  <a:ea typeface="+mn-ea"/>
                  <a:cs typeface="+mn-cs"/>
                </a:rPr>
                <a:t>万个</a:t>
              </a:r>
              <a:r>
                <a:rPr lang="zh-CN" sz="1500" b="1" dirty="0">
                  <a:solidFill>
                    <a:srgbClr val="B5766A"/>
                  </a:solidFill>
                  <a:latin typeface="+mn-lt"/>
                  <a:ea typeface="+mn-ea"/>
                  <a:cs typeface="+mn-cs"/>
                </a:rPr>
                <a:t>​</a:t>
              </a:r>
            </a:p>
          </p:txBody>
        </p:sp>
        <p:sp>
          <p:nvSpPr>
            <p:cNvPr id="106" name="Rectangle 106"/>
            <p:cNvSpPr/>
            <p:nvPr/>
          </p:nvSpPr>
          <p:spPr>
            <a:xfrm>
              <a:off x="4191000" y="4762500"/>
              <a:ext cx="1809750" cy="762000"/>
            </a:xfrm>
            <a:prstGeom prst="rect">
              <a:avLst/>
            </a:prstGeom>
            <a:solidFill>
              <a:srgbClr val="C8E0B8"/>
            </a:solidFill>
            <a:ln>
              <a:noFill/>
            </a:ln>
          </p:spPr>
        </p:sp>
        <p:sp>
          <p:nvSpPr>
            <p:cNvPr id="107" name="Ellipse 107"/>
            <p:cNvSpPr/>
            <p:nvPr/>
          </p:nvSpPr>
          <p:spPr>
            <a:xfrm>
              <a:off x="4248150" y="4819650"/>
              <a:ext cx="266700" cy="266700"/>
            </a:xfrm>
            <a:prstGeom prst="ellipse">
              <a:avLst/>
            </a:prstGeom>
            <a:solidFill>
              <a:srgbClr val="B5766A"/>
            </a:solidFill>
            <a:ln>
              <a:noFill/>
            </a:ln>
          </p:spPr>
        </p:sp>
        <p:sp>
          <p:nvSpPr>
            <p:cNvPr id="108" name="TextBox 108"/>
            <p:cNvSpPr txBox="1"/>
            <p:nvPr/>
          </p:nvSpPr>
          <p:spPr>
            <a:xfrm>
              <a:off x="4341753" y="49034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3</a:t>
              </a:r>
            </a:p>
          </p:txBody>
        </p:sp>
        <p:sp>
          <p:nvSpPr>
            <p:cNvPr id="109" name="TextBox 109"/>
            <p:cNvSpPr txBox="1"/>
            <p:nvPr/>
          </p:nvSpPr>
          <p:spPr>
            <a:xfrm>
              <a:off x="4965586" y="491156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中标数量</a:t>
              </a:r>
            </a:p>
          </p:txBody>
        </p:sp>
        <p:sp>
          <p:nvSpPr>
            <p:cNvPr id="110" name="TextBox 110"/>
            <p:cNvSpPr txBox="1"/>
            <p:nvPr/>
          </p:nvSpPr>
          <p:spPr>
            <a:xfrm>
              <a:off x="4761376" y="5207318"/>
              <a:ext cx="668998" cy="264033"/>
            </a:xfrm>
            <a:prstGeom prst="rect">
              <a:avLst/>
            </a:prstGeom>
            <a:noFill/>
            <a:ln>
              <a:noFill/>
            </a:ln>
          </p:spPr>
          <p:txBody>
            <a:bodyPr wrap="none" lIns="0" tIns="0" rIns="0" bIns="0" anchor="t" anchorCtr="0">
              <a:spAutoFit/>
            </a:bodyPr>
            <a:lstStyle/>
            <a:p>
              <a:pPr algn="ctr"/>
              <a:r>
                <a:rPr lang="en-US" sz="1350" b="1" dirty="0">
                  <a:solidFill>
                    <a:srgbClr val="7A3E33"/>
                  </a:solidFill>
                  <a:latin typeface="+mn-lt"/>
                  <a:ea typeface="+mn-ea"/>
                  <a:cs typeface="+mn-cs"/>
                </a:rPr>
                <a:t>TOP 04</a:t>
              </a:r>
            </a:p>
          </p:txBody>
        </p:sp>
      </p:grpSp>
      <p:grpSp>
        <p:nvGrpSpPr>
          <p:cNvPr id="120" name="step-4"/>
          <p:cNvGrpSpPr/>
          <p:nvPr/>
        </p:nvGrpSpPr>
        <p:grpSpPr>
          <a:xfrm>
            <a:off x="6000750" y="4143375"/>
            <a:ext cx="1809750" cy="1381125"/>
            <a:chOff x="6000750" y="4143375"/>
            <a:chExt cx="1809750" cy="1381125"/>
          </a:xfrm>
        </p:grpSpPr>
        <p:sp>
          <p:nvSpPr>
            <p:cNvPr id="112" name="TextBox 112"/>
            <p:cNvSpPr txBox="1"/>
            <p:nvPr/>
          </p:nvSpPr>
          <p:spPr>
            <a:xfrm>
              <a:off x="6496080" y="4143375"/>
              <a:ext cx="819090" cy="293370"/>
            </a:xfrm>
            <a:prstGeom prst="rect">
              <a:avLst/>
            </a:prstGeom>
            <a:noFill/>
            <a:ln>
              <a:noFill/>
            </a:ln>
          </p:spPr>
          <p:txBody>
            <a:bodyPr wrap="none" lIns="0" tIns="0" rIns="0" bIns="0" anchor="t" anchorCtr="0">
              <a:spAutoFit/>
            </a:bodyPr>
            <a:lstStyle/>
            <a:p>
              <a:pPr algn="ctr"/>
              <a:r>
                <a:rPr lang="zh-CN" sz="1500" b="1" dirty="0">
                  <a:solidFill>
                    <a:srgbClr val="333333"/>
                  </a:solidFill>
                  <a:latin typeface="+mn-lt"/>
                  <a:ea typeface="+mn-ea"/>
                  <a:cs typeface="+mn-cs"/>
                </a:rPr>
                <a:t>20.5</a:t>
              </a:r>
              <a:r>
                <a:rPr lang="zh-CN" sz="820" b="1" dirty="0">
                  <a:solidFill>
                    <a:srgbClr val="333333"/>
                  </a:solidFill>
                  <a:latin typeface="+mn-lt"/>
                  <a:ea typeface="+mn-ea"/>
                  <a:cs typeface="+mn-cs"/>
                </a:rPr>
                <a:t>万个</a:t>
              </a:r>
              <a:r>
                <a:rPr lang="zh-CN" sz="1500" b="1" dirty="0">
                  <a:solidFill>
                    <a:srgbClr val="333333"/>
                  </a:solidFill>
                  <a:latin typeface="+mn-lt"/>
                  <a:ea typeface="+mn-ea"/>
                  <a:cs typeface="+mn-cs"/>
                </a:rPr>
                <a:t>​</a:t>
              </a:r>
            </a:p>
          </p:txBody>
        </p:sp>
        <p:sp>
          <p:nvSpPr>
            <p:cNvPr id="113" name="Rectangle 113"/>
            <p:cNvSpPr/>
            <p:nvPr/>
          </p:nvSpPr>
          <p:spPr>
            <a:xfrm>
              <a:off x="6000750" y="4476750"/>
              <a:ext cx="1809750" cy="1047750"/>
            </a:xfrm>
            <a:prstGeom prst="rect">
              <a:avLst/>
            </a:prstGeom>
            <a:solidFill>
              <a:srgbClr val="FDF6E7"/>
            </a:solidFill>
            <a:ln>
              <a:noFill/>
            </a:ln>
          </p:spPr>
        </p:sp>
        <p:sp>
          <p:nvSpPr>
            <p:cNvPr id="114" name="Rectangle 114"/>
            <p:cNvSpPr/>
            <p:nvPr/>
          </p:nvSpPr>
          <p:spPr>
            <a:xfrm>
              <a:off x="6000750" y="4476750"/>
              <a:ext cx="1809750" cy="266700"/>
            </a:xfrm>
            <a:prstGeom prst="rect">
              <a:avLst/>
            </a:prstGeom>
            <a:solidFill>
              <a:srgbClr val="E9563C"/>
            </a:solidFill>
            <a:ln>
              <a:noFill/>
            </a:ln>
          </p:spPr>
        </p:sp>
        <p:sp>
          <p:nvSpPr>
            <p:cNvPr id="115" name="Ellipse 115"/>
            <p:cNvSpPr/>
            <p:nvPr/>
          </p:nvSpPr>
          <p:spPr>
            <a:xfrm>
              <a:off x="6057900" y="4476750"/>
              <a:ext cx="266700" cy="266700"/>
            </a:xfrm>
            <a:prstGeom prst="ellipse">
              <a:avLst/>
            </a:prstGeom>
            <a:solidFill>
              <a:srgbClr val="D6391E"/>
            </a:solidFill>
            <a:ln>
              <a:noFill/>
            </a:ln>
          </p:spPr>
        </p:sp>
        <p:sp>
          <p:nvSpPr>
            <p:cNvPr id="116" name="TextBox 116"/>
            <p:cNvSpPr txBox="1"/>
            <p:nvPr/>
          </p:nvSpPr>
          <p:spPr>
            <a:xfrm>
              <a:off x="6151503" y="45605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4</a:t>
              </a:r>
            </a:p>
          </p:txBody>
        </p:sp>
        <p:sp>
          <p:nvSpPr>
            <p:cNvPr id="117" name="TextBox 117"/>
            <p:cNvSpPr txBox="1"/>
            <p:nvPr/>
          </p:nvSpPr>
          <p:spPr>
            <a:xfrm>
              <a:off x="6712572" y="4568666"/>
              <a:ext cx="671855"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mn-lt"/>
                  <a:ea typeface="+mn-ea"/>
                  <a:cs typeface="+mn-cs"/>
                </a:rPr>
                <a:t>签订合同总额</a:t>
              </a:r>
            </a:p>
          </p:txBody>
        </p:sp>
        <p:sp>
          <p:nvSpPr>
            <p:cNvPr id="118" name="TextBox 118"/>
            <p:cNvSpPr txBox="1"/>
            <p:nvPr/>
          </p:nvSpPr>
          <p:spPr>
            <a:xfrm>
              <a:off x="6571126" y="4845368"/>
              <a:ext cx="668998" cy="264033"/>
            </a:xfrm>
            <a:prstGeom prst="rect">
              <a:avLst/>
            </a:prstGeom>
            <a:noFill/>
            <a:ln>
              <a:noFill/>
            </a:ln>
          </p:spPr>
          <p:txBody>
            <a:bodyPr wrap="none" lIns="0" tIns="0" rIns="0" bIns="0" anchor="t" anchorCtr="0">
              <a:spAutoFit/>
            </a:bodyPr>
            <a:lstStyle/>
            <a:p>
              <a:pPr algn="ctr"/>
              <a:r>
                <a:rPr lang="en-US" sz="1350" b="1" dirty="0">
                  <a:solidFill>
                    <a:srgbClr val="D6391E"/>
                  </a:solidFill>
                  <a:latin typeface="+mn-lt"/>
                  <a:ea typeface="+mn-ea"/>
                  <a:cs typeface="+mn-cs"/>
                </a:rPr>
                <a:t>TOP 03</a:t>
              </a:r>
            </a:p>
          </p:txBody>
        </p:sp>
        <p:sp>
          <p:nvSpPr>
            <p:cNvPr id="119" name="TextBox 119"/>
            <p:cNvSpPr txBox="1"/>
            <p:nvPr/>
          </p:nvSpPr>
          <p:spPr>
            <a:xfrm>
              <a:off x="6167438" y="5150882"/>
              <a:ext cx="898525" cy="240506"/>
            </a:xfrm>
            <a:prstGeom prst="rect">
              <a:avLst/>
            </a:prstGeom>
            <a:noFill/>
            <a:ln>
              <a:noFill/>
            </a:ln>
          </p:spPr>
          <p:txBody>
            <a:bodyPr wrap="none" lIns="0" tIns="0" rIns="0" bIns="0" anchor="t" anchorCtr="0">
              <a:spAutoFit/>
            </a:bodyPr>
            <a:lstStyle/>
            <a:p>
              <a:pPr algn="l" marL="76200" indent="-76200">
                <a:lnSpc>
                  <a:spcPts val="900"/>
                </a:lnSpc>
                <a:buClr>
                  <a:srgbClr val="333333"/>
                </a:buClr>
                <a:buSzTx/>
                <a:buFontTx/>
                <a:buChar char="•"/>
              </a:pPr>
              <a:r>
                <a:rPr lang="zh-CN" sz="640" dirty="0">
                  <a:solidFill>
                    <a:srgbClr val="333333"/>
                  </a:solidFill>
                  <a:latin typeface="+mn-lt"/>
                  <a:ea typeface="+mn-ea"/>
                  <a:cs typeface="+mn-cs"/>
                </a:rPr>
                <a:t>总共签订合同总额达到</a:t>
              </a:r>
              <a:br/>
              <a:r>
                <a:rPr lang="zh-CN" sz="640" dirty="0">
                  <a:solidFill>
                    <a:srgbClr val="333333"/>
                  </a:solidFill>
                  <a:latin typeface="+mn-lt"/>
                  <a:ea typeface="+mn-ea"/>
                  <a:cs typeface="+mn-cs"/>
                </a:rPr>
                <a:t>117.7万亿元​</a:t>
              </a:r>
            </a:p>
          </p:txBody>
        </p:sp>
      </p:grpSp>
      <p:grpSp>
        <p:nvGrpSpPr>
          <p:cNvPr id="128" name="step-5"/>
          <p:cNvGrpSpPr/>
          <p:nvPr/>
        </p:nvGrpSpPr>
        <p:grpSpPr>
          <a:xfrm>
            <a:off x="7810500" y="3857625"/>
            <a:ext cx="1809750" cy="1666875"/>
            <a:chOff x="7810500" y="3857625"/>
            <a:chExt cx="1809750" cy="1666875"/>
          </a:xfrm>
        </p:grpSpPr>
        <p:sp>
          <p:nvSpPr>
            <p:cNvPr id="121" name="TextBox 121"/>
            <p:cNvSpPr txBox="1"/>
            <p:nvPr/>
          </p:nvSpPr>
          <p:spPr>
            <a:xfrm>
              <a:off x="8250636" y="3857625"/>
              <a:ext cx="929478" cy="293370"/>
            </a:xfrm>
            <a:prstGeom prst="rect">
              <a:avLst/>
            </a:prstGeom>
            <a:noFill/>
            <a:ln>
              <a:noFill/>
            </a:ln>
          </p:spPr>
          <p:txBody>
            <a:bodyPr wrap="none" lIns="0" tIns="0" rIns="0" bIns="0" anchor="t" anchorCtr="0">
              <a:spAutoFit/>
            </a:bodyPr>
            <a:lstStyle/>
            <a:p>
              <a:pPr algn="ctr"/>
              <a:r>
                <a:rPr lang="zh-CN" sz="1500" b="1" dirty="0">
                  <a:solidFill>
                    <a:srgbClr val="333333"/>
                  </a:solidFill>
                  <a:latin typeface="+mn-lt"/>
                  <a:ea typeface="+mn-ea"/>
                  <a:cs typeface="+mn-cs"/>
                </a:rPr>
                <a:t>11.7</a:t>
              </a:r>
              <a:r>
                <a:rPr lang="zh-CN" sz="820" b="1" dirty="0">
                  <a:solidFill>
                    <a:srgbClr val="333333"/>
                  </a:solidFill>
                  <a:latin typeface="+mn-lt"/>
                  <a:ea typeface="+mn-ea"/>
                  <a:cs typeface="+mn-cs"/>
                </a:rPr>
                <a:t>万亿元</a:t>
              </a:r>
              <a:r>
                <a:rPr lang="zh-CN" sz="1500" b="1" dirty="0">
                  <a:solidFill>
                    <a:srgbClr val="333333"/>
                  </a:solidFill>
                  <a:latin typeface="+mn-lt"/>
                  <a:ea typeface="+mn-ea"/>
                  <a:cs typeface="+mn-cs"/>
                </a:rPr>
                <a:t>​</a:t>
              </a:r>
            </a:p>
          </p:txBody>
        </p:sp>
        <p:sp>
          <p:nvSpPr>
            <p:cNvPr id="122" name="Rectangle 122"/>
            <p:cNvSpPr/>
            <p:nvPr/>
          </p:nvSpPr>
          <p:spPr>
            <a:xfrm>
              <a:off x="7810500" y="4191000"/>
              <a:ext cx="1809750" cy="1333500"/>
            </a:xfrm>
            <a:prstGeom prst="rect">
              <a:avLst/>
            </a:prstGeom>
            <a:solidFill>
              <a:srgbClr val="FDF6E7"/>
            </a:solidFill>
            <a:ln>
              <a:noFill/>
            </a:ln>
          </p:spPr>
        </p:sp>
        <p:sp>
          <p:nvSpPr>
            <p:cNvPr id="123" name="Ellipse 123"/>
            <p:cNvSpPr/>
            <p:nvPr/>
          </p:nvSpPr>
          <p:spPr>
            <a:xfrm>
              <a:off x="7867650" y="4229100"/>
              <a:ext cx="266700" cy="266700"/>
            </a:xfrm>
            <a:prstGeom prst="ellipse">
              <a:avLst/>
            </a:prstGeom>
            <a:solidFill>
              <a:srgbClr val="F09180"/>
            </a:solidFill>
            <a:ln>
              <a:noFill/>
            </a:ln>
          </p:spPr>
        </p:sp>
        <p:sp>
          <p:nvSpPr>
            <p:cNvPr id="124" name="TextBox 124"/>
            <p:cNvSpPr txBox="1"/>
            <p:nvPr/>
          </p:nvSpPr>
          <p:spPr>
            <a:xfrm>
              <a:off x="7961253" y="431292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5</a:t>
              </a:r>
            </a:p>
          </p:txBody>
        </p:sp>
        <p:sp>
          <p:nvSpPr>
            <p:cNvPr id="125" name="TextBox 125"/>
            <p:cNvSpPr txBox="1"/>
            <p:nvPr/>
          </p:nvSpPr>
          <p:spPr>
            <a:xfrm>
              <a:off x="8474697" y="4321016"/>
              <a:ext cx="671855"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签订合同总额</a:t>
              </a:r>
            </a:p>
          </p:txBody>
        </p:sp>
        <p:sp>
          <p:nvSpPr>
            <p:cNvPr id="126" name="TextBox 126"/>
            <p:cNvSpPr txBox="1"/>
            <p:nvPr/>
          </p:nvSpPr>
          <p:spPr>
            <a:xfrm>
              <a:off x="8380876" y="4692968"/>
              <a:ext cx="668998" cy="264033"/>
            </a:xfrm>
            <a:prstGeom prst="rect">
              <a:avLst/>
            </a:prstGeom>
            <a:noFill/>
            <a:ln>
              <a:noFill/>
            </a:ln>
          </p:spPr>
          <p:txBody>
            <a:bodyPr wrap="none" lIns="0" tIns="0" rIns="0" bIns="0" anchor="t" anchorCtr="0">
              <a:spAutoFit/>
            </a:bodyPr>
            <a:lstStyle/>
            <a:p>
              <a:pPr algn="ctr"/>
              <a:r>
                <a:rPr lang="en-US" sz="1350" b="1" dirty="0">
                  <a:solidFill>
                    <a:srgbClr val="D6391E"/>
                  </a:solidFill>
                  <a:latin typeface="+mn-lt"/>
                  <a:ea typeface="+mn-ea"/>
                  <a:cs typeface="+mn-cs"/>
                </a:rPr>
                <a:t>TOP 02</a:t>
              </a:r>
            </a:p>
          </p:txBody>
        </p:sp>
        <p:sp>
          <p:nvSpPr>
            <p:cNvPr id="127" name="TextBox 127"/>
            <p:cNvSpPr txBox="1"/>
            <p:nvPr/>
          </p:nvSpPr>
          <p:spPr>
            <a:xfrm>
              <a:off x="7977188" y="5055632"/>
              <a:ext cx="898525" cy="240506"/>
            </a:xfrm>
            <a:prstGeom prst="rect">
              <a:avLst/>
            </a:prstGeom>
            <a:noFill/>
            <a:ln>
              <a:noFill/>
            </a:ln>
          </p:spPr>
          <p:txBody>
            <a:bodyPr wrap="none" lIns="0" tIns="0" rIns="0" bIns="0" anchor="t" anchorCtr="0">
              <a:spAutoFit/>
            </a:bodyPr>
            <a:lstStyle/>
            <a:p>
              <a:pPr algn="l" marL="76200" indent="-76200">
                <a:lnSpc>
                  <a:spcPts val="900"/>
                </a:lnSpc>
                <a:buClr>
                  <a:srgbClr val="333333"/>
                </a:buClr>
                <a:buSzTx/>
                <a:buFontTx/>
                <a:buChar char="•"/>
              </a:pPr>
              <a:r>
                <a:rPr lang="zh-CN" sz="640" dirty="0">
                  <a:solidFill>
                    <a:srgbClr val="333333"/>
                  </a:solidFill>
                  <a:latin typeface="+mn-lt"/>
                  <a:ea typeface="+mn-ea"/>
                  <a:cs typeface="+mn-cs"/>
                </a:rPr>
                <a:t>总共签订合同总额达到</a:t>
              </a:r>
              <a:br/>
              <a:r>
                <a:rPr lang="zh-CN" sz="640" dirty="0">
                  <a:solidFill>
                    <a:srgbClr val="333333"/>
                  </a:solidFill>
                  <a:latin typeface="+mn-lt"/>
                  <a:ea typeface="+mn-ea"/>
                  <a:cs typeface="+mn-cs"/>
                </a:rPr>
                <a:t>117.7万亿元​</a:t>
              </a:r>
            </a:p>
          </p:txBody>
        </p:sp>
      </p:grpSp>
      <p:grpSp>
        <p:nvGrpSpPr>
          <p:cNvPr id="137" name="step-6"/>
          <p:cNvGrpSpPr/>
          <p:nvPr/>
        </p:nvGrpSpPr>
        <p:grpSpPr>
          <a:xfrm>
            <a:off x="9620250" y="3543300"/>
            <a:ext cx="2190750" cy="1981200"/>
            <a:chOff x="9620250" y="3543300"/>
            <a:chExt cx="2190750" cy="1981200"/>
          </a:xfrm>
        </p:grpSpPr>
        <p:sp>
          <p:nvSpPr>
            <p:cNvPr id="129" name="Freeform 129"/>
            <p:cNvSpPr/>
            <p:nvPr/>
          </p:nvSpPr>
          <p:spPr>
            <a:xfrm>
              <a:off x="10620375" y="3543300"/>
              <a:ext cx="285751" cy="190500"/>
            </a:xfrm>
            <a:custGeom>
              <a:avLst/>
              <a:gdLst/>
              <a:ahLst/>
              <a:cxnLst/>
              <a:rect l="l" t="t" r="r" b="b"/>
              <a:pathLst>
                <a:path w="285751" h="190500">
                  <a:moveTo>
                    <a:pt x="142875" y="0"/>
                  </a:moveTo>
                  <a:lnTo>
                    <a:pt x="206375" y="95250"/>
                  </a:lnTo>
                  <a:lnTo>
                    <a:pt x="285751" y="31750"/>
                  </a:lnTo>
                  <a:lnTo>
                    <a:pt x="254001" y="190500"/>
                  </a:lnTo>
                  <a:lnTo>
                    <a:pt x="31750" y="190500"/>
                  </a:lnTo>
                  <a:lnTo>
                    <a:pt x="0" y="31750"/>
                  </a:lnTo>
                  <a:lnTo>
                    <a:pt x="79375" y="95250"/>
                  </a:lnTo>
                  <a:lnTo>
                    <a:pt x="142875" y="0"/>
                  </a:lnTo>
                </a:path>
              </a:pathLst>
            </a:custGeom>
            <a:noFill/>
            <a:ln w="31750">
              <a:solidFill>
                <a:srgbClr val="E9563C"/>
              </a:solidFill>
            </a:ln>
          </p:spPr>
        </p:sp>
        <p:sp>
          <p:nvSpPr>
            <p:cNvPr id="130" name="TextBox 130"/>
            <p:cNvSpPr txBox="1"/>
            <p:nvPr/>
          </p:nvSpPr>
          <p:spPr>
            <a:xfrm>
              <a:off x="10250886" y="3819525"/>
              <a:ext cx="929478" cy="293370"/>
            </a:xfrm>
            <a:prstGeom prst="rect">
              <a:avLst/>
            </a:prstGeom>
            <a:noFill/>
            <a:ln>
              <a:noFill/>
            </a:ln>
          </p:spPr>
          <p:txBody>
            <a:bodyPr wrap="none" lIns="0" tIns="0" rIns="0" bIns="0" anchor="t" anchorCtr="0">
              <a:spAutoFit/>
            </a:bodyPr>
            <a:lstStyle/>
            <a:p>
              <a:pPr algn="ctr"/>
              <a:r>
                <a:rPr lang="zh-CN" sz="1500" b="1" dirty="0">
                  <a:solidFill>
                    <a:srgbClr val="333333"/>
                  </a:solidFill>
                  <a:latin typeface="+mn-lt"/>
                  <a:ea typeface="+mn-ea"/>
                  <a:cs typeface="+mn-cs"/>
                </a:rPr>
                <a:t>20.5</a:t>
              </a:r>
              <a:r>
                <a:rPr lang="zh-CN" sz="820" b="1" dirty="0">
                  <a:solidFill>
                    <a:srgbClr val="333333"/>
                  </a:solidFill>
                  <a:latin typeface="+mn-lt"/>
                  <a:ea typeface="+mn-ea"/>
                  <a:cs typeface="+mn-cs"/>
                </a:rPr>
                <a:t>万亿元</a:t>
              </a:r>
              <a:r>
                <a:rPr lang="zh-CN" sz="1500" b="1" dirty="0">
                  <a:solidFill>
                    <a:srgbClr val="333333"/>
                  </a:solidFill>
                  <a:latin typeface="+mn-lt"/>
                  <a:ea typeface="+mn-ea"/>
                  <a:cs typeface="+mn-cs"/>
                </a:rPr>
                <a:t>​</a:t>
              </a:r>
            </a:p>
          </p:txBody>
        </p:sp>
        <p:sp>
          <p:nvSpPr>
            <p:cNvPr id="131" name="Rectangle 131"/>
            <p:cNvSpPr/>
            <p:nvPr/>
          </p:nvSpPr>
          <p:spPr>
            <a:xfrm>
              <a:off x="9620250" y="4095750"/>
              <a:ext cx="2190750" cy="1428750"/>
            </a:xfrm>
            <a:prstGeom prst="rect">
              <a:avLst/>
            </a:prstGeom>
            <a:solidFill>
              <a:srgbClr val="FBF0D8"/>
            </a:solidFill>
            <a:ln>
              <a:noFill/>
            </a:ln>
          </p:spPr>
        </p:sp>
        <p:sp>
          <p:nvSpPr>
            <p:cNvPr id="132" name="Ellipse 132"/>
            <p:cNvSpPr/>
            <p:nvPr/>
          </p:nvSpPr>
          <p:spPr>
            <a:xfrm>
              <a:off x="9677400" y="4133850"/>
              <a:ext cx="266700" cy="266700"/>
            </a:xfrm>
            <a:prstGeom prst="ellipse">
              <a:avLst/>
            </a:prstGeom>
            <a:solidFill>
              <a:srgbClr val="E9563C"/>
            </a:solidFill>
            <a:ln>
              <a:noFill/>
            </a:ln>
          </p:spPr>
        </p:sp>
        <p:sp>
          <p:nvSpPr>
            <p:cNvPr id="133" name="TextBox 133"/>
            <p:cNvSpPr txBox="1"/>
            <p:nvPr/>
          </p:nvSpPr>
          <p:spPr>
            <a:xfrm>
              <a:off x="9771003" y="4217670"/>
              <a:ext cx="794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6</a:t>
              </a:r>
            </a:p>
          </p:txBody>
        </p:sp>
        <p:sp>
          <p:nvSpPr>
            <p:cNvPr id="134" name="TextBox 134"/>
            <p:cNvSpPr txBox="1"/>
            <p:nvPr/>
          </p:nvSpPr>
          <p:spPr>
            <a:xfrm>
              <a:off x="10364559" y="4225766"/>
              <a:ext cx="89263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全国某某业总产值</a:t>
              </a:r>
            </a:p>
          </p:txBody>
        </p:sp>
        <p:sp>
          <p:nvSpPr>
            <p:cNvPr id="135" name="TextBox 135"/>
            <p:cNvSpPr txBox="1"/>
            <p:nvPr/>
          </p:nvSpPr>
          <p:spPr>
            <a:xfrm>
              <a:off x="10343960" y="4524375"/>
              <a:ext cx="743331" cy="293370"/>
            </a:xfrm>
            <a:prstGeom prst="rect">
              <a:avLst/>
            </a:prstGeom>
            <a:noFill/>
            <a:ln>
              <a:noFill/>
            </a:ln>
          </p:spPr>
          <p:txBody>
            <a:bodyPr wrap="none" lIns="0" tIns="0" rIns="0" bIns="0" anchor="t" anchorCtr="0">
              <a:spAutoFit/>
            </a:bodyPr>
            <a:lstStyle/>
            <a:p>
              <a:pPr algn="ctr"/>
              <a:r>
                <a:rPr lang="en-US" sz="1500" b="1" dirty="0">
                  <a:solidFill>
                    <a:srgbClr val="D6391E"/>
                  </a:solidFill>
                  <a:latin typeface="+mn-lt"/>
                  <a:ea typeface="+mn-ea"/>
                  <a:cs typeface="+mn-cs"/>
                </a:rPr>
                <a:t>TOP 01</a:t>
              </a:r>
            </a:p>
          </p:txBody>
        </p:sp>
        <p:sp>
          <p:nvSpPr>
            <p:cNvPr id="136" name="TextBox 136"/>
            <p:cNvSpPr txBox="1"/>
            <p:nvPr/>
          </p:nvSpPr>
          <p:spPr>
            <a:xfrm>
              <a:off x="9786938" y="4865132"/>
              <a:ext cx="1061085" cy="488156"/>
            </a:xfrm>
            <a:prstGeom prst="rect">
              <a:avLst/>
            </a:prstGeom>
            <a:noFill/>
            <a:ln>
              <a:noFill/>
            </a:ln>
          </p:spPr>
          <p:txBody>
            <a:bodyPr wrap="none" lIns="0" tIns="0" rIns="0" bIns="0" anchor="t" anchorCtr="0">
              <a:spAutoFit/>
            </a:bodyPr>
            <a:lstStyle/>
            <a:p>
              <a:pPr algn="l" marL="76200" indent="-76200">
                <a:lnSpc>
                  <a:spcPts val="900"/>
                </a:lnSpc>
                <a:buClr>
                  <a:srgbClr val="333333"/>
                </a:buClr>
                <a:buSzTx/>
                <a:buFontTx/>
                <a:buChar char="•"/>
              </a:pPr>
              <a:r>
                <a:rPr lang="zh-CN" sz="640" dirty="0">
                  <a:solidFill>
                    <a:srgbClr val="333333"/>
                  </a:solidFill>
                  <a:latin typeface="+mn-lt"/>
                  <a:ea typeface="+mn-ea"/>
                  <a:cs typeface="+mn-cs"/>
                </a:rPr>
                <a:t>公司的销售金额位于全国第</a:t>
              </a:r>
              <a:br/>
              <a:r>
                <a:rPr lang="zh-CN" sz="640" dirty="0">
                  <a:solidFill>
                    <a:srgbClr val="333333"/>
                  </a:solidFill>
                  <a:latin typeface="+mn-lt"/>
                  <a:ea typeface="+mn-ea"/>
                  <a:cs typeface="+mn-cs"/>
                </a:rPr>
                <a:t>一，总产值达20.5万亿元​</a:t>
              </a:r>
            </a:p>
            <a:p>
              <a:pPr algn="l" marL="76200" indent="-76200">
                <a:lnSpc>
                  <a:spcPts val="900"/>
                </a:lnSpc>
                <a:spcBef>
                  <a:spcPts val="150"/>
                </a:spcBef>
                <a:buClr>
                  <a:srgbClr val="333333"/>
                </a:buClr>
                <a:buSzTx/>
                <a:buFontTx/>
                <a:buChar char="•"/>
              </a:pPr>
              <a:r>
                <a:rPr lang="zh-CN" sz="640" dirty="0">
                  <a:solidFill>
                    <a:srgbClr val="333333"/>
                  </a:solidFill>
                  <a:latin typeface="+mn-lt"/>
                  <a:ea typeface="+mn-ea"/>
                  <a:cs typeface="+mn-cs"/>
                </a:rPr>
                <a:t>公司的销售金额位于全国第</a:t>
              </a:r>
              <a:br/>
              <a:r>
                <a:rPr lang="zh-CN" sz="640" dirty="0">
                  <a:solidFill>
                    <a:srgbClr val="333333"/>
                  </a:solidFill>
                  <a:latin typeface="+mn-lt"/>
                  <a:ea typeface="+mn-ea"/>
                  <a:cs typeface="+mn-cs"/>
                </a:rPr>
                <a:t>一，总产值达20.5万亿元​</a:t>
              </a:r>
            </a:p>
          </p:txBody>
        </p:sp>
      </p:grpSp>
      <p:grpSp>
        <p:nvGrpSpPr>
          <p:cNvPr id="140" name="page-footer"/>
          <p:cNvGrpSpPr/>
          <p:nvPr/>
        </p:nvGrpSpPr>
        <p:grpSpPr>
          <a:xfrm>
            <a:off x="376238" y="6689884"/>
            <a:ext cx="11439524" cy="133350"/>
            <a:chOff x="376238" y="6689884"/>
            <a:chExt cx="11439524" cy="133350"/>
          </a:xfrm>
        </p:grpSpPr>
        <p:sp>
          <p:nvSpPr>
            <p:cNvPr id="138" name="TextBox 138"/>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39" name="TextBox 139"/>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28</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32" name="funnel-col"/>
          <p:cNvGrpSpPr/>
          <p:nvPr/>
        </p:nvGrpSpPr>
        <p:grpSpPr>
          <a:xfrm>
            <a:off x="390017" y="1428750"/>
            <a:ext cx="2110296" cy="3714750"/>
            <a:chOff x="390017" y="1428750"/>
            <a:chExt cx="2110296" cy="3714750"/>
          </a:xfrm>
        </p:grpSpPr>
        <p:sp>
          <p:nvSpPr>
            <p:cNvPr id="8" name="Line 8"/>
            <p:cNvSpPr/>
            <p:nvPr/>
          </p:nvSpPr>
          <p:spPr>
            <a:xfrm>
              <a:off x="457200" y="1619250"/>
              <a:ext cx="1" cy="3524250"/>
            </a:xfrm>
            <a:prstGeom prst="line">
              <a:avLst/>
            </a:prstGeom>
            <a:noFill/>
            <a:ln w="14288">
              <a:solidFill>
                <a:srgbClr val="9C594C"/>
              </a:solidFill>
              <a:headEnd type="triangle" w="lg" len="lg"/>
              <a:tailEnd type="triangle" w="lg" len="lg"/>
            </a:ln>
          </p:spPr>
        </p:sp>
        <p:sp>
          <p:nvSpPr>
            <p:cNvPr id="9" name="TextBox 9"/>
            <p:cNvSpPr txBox="1"/>
            <p:nvPr/>
          </p:nvSpPr>
          <p:spPr>
            <a:xfrm>
              <a:off x="390017" y="2390299"/>
              <a:ext cx="134366" cy="705040"/>
            </a:xfrm>
            <a:prstGeom prst="rect">
              <a:avLst/>
            </a:prstGeom>
            <a:noFill/>
            <a:ln>
              <a:noFill/>
            </a:ln>
          </p:spPr>
          <p:txBody>
            <a:bodyPr wrap="none" lIns="0" tIns="0" rIns="0" bIns="0" anchor="t" anchorCtr="0">
              <a:spAutoFit/>
            </a:bodyPr>
            <a:lstStyle/>
            <a:p>
              <a:pPr algn="ctr">
                <a:lnSpc>
                  <a:spcPts val="1350"/>
                </a:lnSpc>
              </a:pPr>
              <a:r>
                <a:rPr lang="zh-CN" sz="980" b="1" dirty="0">
                  <a:solidFill>
                    <a:srgbClr val="7A3E33"/>
                  </a:solidFill>
                  <a:latin typeface="+mn-lt"/>
                  <a:ea typeface="+mn-ea"/>
                  <a:cs typeface="+mn-cs"/>
                </a:rPr>
                <a:t>客</a:t>
              </a:r>
              <a:br/>
              <a:r>
                <a:rPr lang="zh-CN" sz="980" b="1" dirty="0">
                  <a:solidFill>
                    <a:srgbClr val="7A3E33"/>
                  </a:solidFill>
                  <a:latin typeface="+mn-lt"/>
                  <a:ea typeface="+mn-ea"/>
                  <a:cs typeface="+mn-cs"/>
                </a:rPr>
                <a:t>户</a:t>
              </a:r>
              <a:br/>
              <a:r>
                <a:rPr lang="zh-CN" sz="980" b="1" dirty="0">
                  <a:solidFill>
                    <a:srgbClr val="7A3E33"/>
                  </a:solidFill>
                  <a:latin typeface="+mn-lt"/>
                  <a:ea typeface="+mn-ea"/>
                  <a:cs typeface="+mn-cs"/>
                </a:rPr>
                <a:t>成</a:t>
              </a:r>
              <a:br/>
              <a:r>
                <a:rPr lang="zh-CN" sz="980" b="1" dirty="0">
                  <a:solidFill>
                    <a:srgbClr val="7A3E33"/>
                  </a:solidFill>
                  <a:latin typeface="+mn-lt"/>
                  <a:ea typeface="+mn-ea"/>
                  <a:cs typeface="+mn-cs"/>
                </a:rPr>
                <a:t>功</a:t>
              </a:r>
            </a:p>
          </p:txBody>
        </p:sp>
        <p:sp>
          <p:nvSpPr>
            <p:cNvPr id="10" name="TextBox 10"/>
            <p:cNvSpPr txBox="1"/>
            <p:nvPr/>
          </p:nvSpPr>
          <p:spPr>
            <a:xfrm>
              <a:off x="390017" y="4085749"/>
              <a:ext cx="134366" cy="876490"/>
            </a:xfrm>
            <a:prstGeom prst="rect">
              <a:avLst/>
            </a:prstGeom>
            <a:noFill/>
            <a:ln>
              <a:noFill/>
            </a:ln>
          </p:spPr>
          <p:txBody>
            <a:bodyPr wrap="none" lIns="0" tIns="0" rIns="0" bIns="0" anchor="t" anchorCtr="0">
              <a:spAutoFit/>
            </a:bodyPr>
            <a:lstStyle/>
            <a:p>
              <a:pPr algn="ctr">
                <a:lnSpc>
                  <a:spcPts val="1350"/>
                </a:lnSpc>
              </a:pPr>
              <a:r>
                <a:rPr lang="zh-CN" sz="980" b="1" dirty="0">
                  <a:solidFill>
                    <a:srgbClr val="7A3E33"/>
                  </a:solidFill>
                  <a:latin typeface="+mn-lt"/>
                  <a:ea typeface="+mn-ea"/>
                  <a:cs typeface="+mn-cs"/>
                </a:rPr>
                <a:t>全</a:t>
              </a:r>
              <a:br/>
              <a:r>
                <a:rPr lang="zh-CN" sz="980" b="1" dirty="0">
                  <a:solidFill>
                    <a:srgbClr val="7A3E33"/>
                  </a:solidFill>
                  <a:latin typeface="+mn-lt"/>
                  <a:ea typeface="+mn-ea"/>
                  <a:cs typeface="+mn-cs"/>
                </a:rPr>
                <a:t>渠</a:t>
              </a:r>
              <a:br/>
              <a:r>
                <a:rPr lang="zh-CN" sz="980" b="1" dirty="0">
                  <a:solidFill>
                    <a:srgbClr val="7A3E33"/>
                  </a:solidFill>
                  <a:latin typeface="+mn-lt"/>
                  <a:ea typeface="+mn-ea"/>
                  <a:cs typeface="+mn-cs"/>
                </a:rPr>
                <a:t>道</a:t>
              </a:r>
              <a:br/>
              <a:r>
                <a:rPr lang="zh-CN" sz="980" b="1" dirty="0">
                  <a:solidFill>
                    <a:srgbClr val="7A3E33"/>
                  </a:solidFill>
                  <a:latin typeface="+mn-lt"/>
                  <a:ea typeface="+mn-ea"/>
                  <a:cs typeface="+mn-cs"/>
                </a:rPr>
                <a:t>整</a:t>
              </a:r>
              <a:br/>
              <a:r>
                <a:rPr lang="zh-CN" sz="980" b="1" dirty="0">
                  <a:solidFill>
                    <a:srgbClr val="7A3E33"/>
                  </a:solidFill>
                  <a:latin typeface="+mn-lt"/>
                  <a:ea typeface="+mn-ea"/>
                  <a:cs typeface="+mn-cs"/>
                </a:rPr>
                <a:t>合</a:t>
              </a:r>
            </a:p>
          </p:txBody>
        </p:sp>
        <p:sp>
          <p:nvSpPr>
            <p:cNvPr id="11" name="Freeform 11"/>
            <p:cNvSpPr/>
            <p:nvPr/>
          </p:nvSpPr>
          <p:spPr>
            <a:xfrm rot="10800000">
              <a:off x="619125" y="1428750"/>
              <a:ext cx="1619250" cy="457200"/>
            </a:xfrm>
            <a:prstGeom prst="trapezoid">
              <a:avLst>
                <a:gd name="adj" fmla="val 31250"/>
              </a:avLst>
            </a:prstGeom>
            <a:solidFill>
              <a:srgbClr val="C8E0B8"/>
            </a:solidFill>
            <a:ln>
              <a:noFill/>
            </a:ln>
          </p:spPr>
        </p:sp>
        <p:sp>
          <p:nvSpPr>
            <p:cNvPr id="12" name="TextBox 12"/>
            <p:cNvSpPr txBox="1"/>
            <p:nvPr/>
          </p:nvSpPr>
          <p:spPr>
            <a:xfrm>
              <a:off x="1319034" y="1503045"/>
              <a:ext cx="219431"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01.</a:t>
              </a:r>
            </a:p>
          </p:txBody>
        </p:sp>
        <p:sp>
          <p:nvSpPr>
            <p:cNvPr id="13" name="TextBox 13"/>
            <p:cNvSpPr txBox="1"/>
            <p:nvPr/>
          </p:nvSpPr>
          <p:spPr>
            <a:xfrm>
              <a:off x="1203211" y="16825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策划服务</a:t>
              </a:r>
            </a:p>
          </p:txBody>
        </p:sp>
        <p:sp>
          <p:nvSpPr>
            <p:cNvPr id="14" name="Freeform 14"/>
            <p:cNvSpPr/>
            <p:nvPr/>
          </p:nvSpPr>
          <p:spPr>
            <a:xfrm rot="10800000">
              <a:off x="762000" y="2000250"/>
              <a:ext cx="1333500" cy="457200"/>
            </a:xfrm>
            <a:prstGeom prst="trapezoid">
              <a:avLst>
                <a:gd name="adj" fmla="val 31250"/>
              </a:avLst>
            </a:prstGeom>
            <a:solidFill>
              <a:srgbClr val="F7B9AE"/>
            </a:solidFill>
            <a:ln>
              <a:noFill/>
            </a:ln>
          </p:spPr>
        </p:sp>
        <p:sp>
          <p:nvSpPr>
            <p:cNvPr id="15" name="TextBox 15"/>
            <p:cNvSpPr txBox="1"/>
            <p:nvPr/>
          </p:nvSpPr>
          <p:spPr>
            <a:xfrm>
              <a:off x="1319034" y="2074545"/>
              <a:ext cx="219431"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02.</a:t>
              </a:r>
            </a:p>
          </p:txBody>
        </p:sp>
        <p:sp>
          <p:nvSpPr>
            <p:cNvPr id="16" name="TextBox 16"/>
            <p:cNvSpPr txBox="1"/>
            <p:nvPr/>
          </p:nvSpPr>
          <p:spPr>
            <a:xfrm>
              <a:off x="1203211" y="22540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微吼引流</a:t>
              </a:r>
            </a:p>
          </p:txBody>
        </p:sp>
        <p:sp>
          <p:nvSpPr>
            <p:cNvPr id="17" name="Freeform 17"/>
            <p:cNvSpPr/>
            <p:nvPr/>
          </p:nvSpPr>
          <p:spPr>
            <a:xfrm rot="10800000">
              <a:off x="904875" y="2571750"/>
              <a:ext cx="1047750" cy="457200"/>
            </a:xfrm>
            <a:prstGeom prst="trapezoid">
              <a:avLst>
                <a:gd name="adj" fmla="val 20833"/>
              </a:avLst>
            </a:prstGeom>
            <a:solidFill>
              <a:srgbClr val="B5766A"/>
            </a:solidFill>
            <a:ln>
              <a:noFill/>
            </a:ln>
          </p:spPr>
        </p:sp>
        <p:sp>
          <p:nvSpPr>
            <p:cNvPr id="18" name="TextBox 18"/>
            <p:cNvSpPr txBox="1"/>
            <p:nvPr/>
          </p:nvSpPr>
          <p:spPr>
            <a:xfrm>
              <a:off x="1319034" y="2646045"/>
              <a:ext cx="21943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03.</a:t>
              </a:r>
            </a:p>
          </p:txBody>
        </p:sp>
        <p:sp>
          <p:nvSpPr>
            <p:cNvPr id="19" name="TextBox 19"/>
            <p:cNvSpPr txBox="1"/>
            <p:nvPr/>
          </p:nvSpPr>
          <p:spPr>
            <a:xfrm>
              <a:off x="1203211" y="28255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精准引流</a:t>
              </a:r>
            </a:p>
          </p:txBody>
        </p:sp>
        <p:sp>
          <p:nvSpPr>
            <p:cNvPr id="20" name="Freeform 20"/>
            <p:cNvSpPr/>
            <p:nvPr/>
          </p:nvSpPr>
          <p:spPr>
            <a:xfrm rot="10800000">
              <a:off x="1000125" y="3143250"/>
              <a:ext cx="857250" cy="457200"/>
            </a:xfrm>
            <a:prstGeom prst="trapezoid">
              <a:avLst>
                <a:gd name="adj" fmla="val 31250"/>
              </a:avLst>
            </a:prstGeom>
            <a:solidFill>
              <a:srgbClr val="F09180"/>
            </a:solidFill>
            <a:ln>
              <a:noFill/>
            </a:ln>
          </p:spPr>
        </p:sp>
        <p:sp>
          <p:nvSpPr>
            <p:cNvPr id="21" name="TextBox 21"/>
            <p:cNvSpPr txBox="1"/>
            <p:nvPr/>
          </p:nvSpPr>
          <p:spPr>
            <a:xfrm>
              <a:off x="1319034" y="3217545"/>
              <a:ext cx="219431"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04.</a:t>
              </a:r>
            </a:p>
          </p:txBody>
        </p:sp>
        <p:sp>
          <p:nvSpPr>
            <p:cNvPr id="22" name="TextBox 22"/>
            <p:cNvSpPr txBox="1"/>
            <p:nvPr/>
          </p:nvSpPr>
          <p:spPr>
            <a:xfrm>
              <a:off x="1203211" y="33970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推广平台</a:t>
              </a:r>
            </a:p>
          </p:txBody>
        </p:sp>
        <p:sp>
          <p:nvSpPr>
            <p:cNvPr id="23" name="TextBox 23"/>
            <p:cNvSpPr txBox="1"/>
            <p:nvPr/>
          </p:nvSpPr>
          <p:spPr>
            <a:xfrm>
              <a:off x="623024" y="3512582"/>
              <a:ext cx="354152"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站内平台</a:t>
              </a:r>
            </a:p>
          </p:txBody>
        </p:sp>
        <p:sp>
          <p:nvSpPr>
            <p:cNvPr id="24" name="TextBox 24"/>
            <p:cNvSpPr txBox="1"/>
            <p:nvPr/>
          </p:nvSpPr>
          <p:spPr>
            <a:xfrm>
              <a:off x="1880324" y="3512582"/>
              <a:ext cx="354152"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站外平台</a:t>
              </a:r>
            </a:p>
          </p:txBody>
        </p:sp>
        <p:sp>
          <p:nvSpPr>
            <p:cNvPr id="25" name="Freeform 25"/>
            <p:cNvSpPr/>
            <p:nvPr/>
          </p:nvSpPr>
          <p:spPr>
            <a:xfrm rot="10800000">
              <a:off x="1143000" y="3714750"/>
              <a:ext cx="571500" cy="457200"/>
            </a:xfrm>
            <a:prstGeom prst="trapezoid">
              <a:avLst>
                <a:gd name="adj" fmla="val 31250"/>
              </a:avLst>
            </a:prstGeom>
            <a:solidFill>
              <a:srgbClr val="9C594C"/>
            </a:solidFill>
            <a:ln>
              <a:noFill/>
            </a:ln>
          </p:spPr>
        </p:sp>
        <p:sp>
          <p:nvSpPr>
            <p:cNvPr id="26" name="TextBox 26"/>
            <p:cNvSpPr txBox="1"/>
            <p:nvPr/>
          </p:nvSpPr>
          <p:spPr>
            <a:xfrm>
              <a:off x="1354019" y="378904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05</a:t>
              </a:r>
            </a:p>
          </p:txBody>
        </p:sp>
        <p:sp>
          <p:nvSpPr>
            <p:cNvPr id="27" name="TextBox 27"/>
            <p:cNvSpPr txBox="1"/>
            <p:nvPr/>
          </p:nvSpPr>
          <p:spPr>
            <a:xfrm>
              <a:off x="1323022" y="3957638"/>
              <a:ext cx="21145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广告</a:t>
              </a:r>
            </a:p>
          </p:txBody>
        </p:sp>
        <p:sp>
          <p:nvSpPr>
            <p:cNvPr id="28" name="TextBox 28"/>
            <p:cNvSpPr txBox="1"/>
            <p:nvPr/>
          </p:nvSpPr>
          <p:spPr>
            <a:xfrm>
              <a:off x="737324" y="4217432"/>
              <a:ext cx="354152"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站内广告</a:t>
              </a:r>
            </a:p>
          </p:txBody>
        </p:sp>
        <p:sp>
          <p:nvSpPr>
            <p:cNvPr id="29" name="TextBox 29"/>
            <p:cNvSpPr txBox="1"/>
            <p:nvPr/>
          </p:nvSpPr>
          <p:spPr>
            <a:xfrm>
              <a:off x="1766024" y="4217432"/>
              <a:ext cx="354152" cy="126206"/>
            </a:xfrm>
            <a:prstGeom prst="rect">
              <a:avLst/>
            </a:prstGeom>
            <a:noFill/>
            <a:ln>
              <a:noFill/>
            </a:ln>
          </p:spPr>
          <p:txBody>
            <a:bodyPr wrap="none" lIns="0" tIns="0" rIns="0" bIns="0" anchor="t" anchorCtr="0">
              <a:spAutoFit/>
            </a:bodyPr>
            <a:lstStyle/>
            <a:p>
              <a:pPr algn="ctr"/>
              <a:r>
                <a:rPr lang="zh-CN" sz="640" dirty="0">
                  <a:solidFill>
                    <a:srgbClr val="333333"/>
                  </a:solidFill>
                  <a:latin typeface="+mn-lt"/>
                  <a:ea typeface="+mn-ea"/>
                  <a:cs typeface="+mn-cs"/>
                </a:rPr>
                <a:t>站外广告</a:t>
              </a:r>
            </a:p>
          </p:txBody>
        </p:sp>
        <p:sp>
          <p:nvSpPr>
            <p:cNvPr id="30" name="Line 30"/>
            <p:cNvSpPr/>
            <p:nvPr/>
          </p:nvSpPr>
          <p:spPr>
            <a:xfrm flipV="1">
              <a:off x="2457450" y="1638300"/>
              <a:ext cx="1" cy="2362200"/>
            </a:xfrm>
            <a:prstGeom prst="line">
              <a:avLst/>
            </a:prstGeom>
            <a:noFill/>
            <a:ln w="11430">
              <a:solidFill>
                <a:srgbClr val="E9563C"/>
              </a:solidFill>
              <a:custDash>
                <a:ds d="333333" sp="250000"/>
              </a:custDash>
              <a:tailEnd type="triangle" w="lg" len="lg"/>
            </a:ln>
          </p:spPr>
        </p:sp>
        <p:sp>
          <p:nvSpPr>
            <p:cNvPr id="31" name="TextBox 31"/>
            <p:cNvSpPr txBox="1"/>
            <p:nvPr/>
          </p:nvSpPr>
          <p:spPr>
            <a:xfrm>
              <a:off x="2414588" y="3078480"/>
              <a:ext cx="85725" cy="433388"/>
            </a:xfrm>
            <a:prstGeom prst="rect">
              <a:avLst/>
            </a:prstGeom>
            <a:noFill/>
            <a:ln>
              <a:noFill/>
            </a:ln>
          </p:spPr>
          <p:txBody>
            <a:bodyPr wrap="none" lIns="0" tIns="0" rIns="0" bIns="0" anchor="t" anchorCtr="0">
              <a:spAutoFit/>
            </a:bodyPr>
            <a:lstStyle/>
            <a:p>
              <a:pPr algn="ctr">
                <a:lnSpc>
                  <a:spcPts val="825"/>
                </a:lnSpc>
              </a:pPr>
              <a:r>
                <a:rPr lang="zh-CN" sz="600" dirty="0">
                  <a:solidFill>
                    <a:srgbClr val="D6391E"/>
                  </a:solidFill>
                  <a:latin typeface="+mn-lt"/>
                  <a:ea typeface="+mn-ea"/>
                  <a:cs typeface="+mn-cs"/>
                </a:rPr>
                <a:t>优</a:t>
              </a:r>
              <a:br/>
              <a:r>
                <a:rPr lang="zh-CN" sz="600" dirty="0">
                  <a:solidFill>
                    <a:srgbClr val="D6391E"/>
                  </a:solidFill>
                  <a:latin typeface="+mn-lt"/>
                  <a:ea typeface="+mn-ea"/>
                  <a:cs typeface="+mn-cs"/>
                </a:rPr>
                <a:t>化</a:t>
              </a:r>
              <a:br/>
              <a:r>
                <a:rPr lang="zh-CN" sz="600" dirty="0">
                  <a:solidFill>
                    <a:srgbClr val="D6391E"/>
                  </a:solidFill>
                  <a:latin typeface="+mn-lt"/>
                  <a:ea typeface="+mn-ea"/>
                  <a:cs typeface="+mn-cs"/>
                </a:rPr>
                <a:t>过</a:t>
              </a:r>
              <a:br/>
              <a:r>
                <a:rPr lang="zh-CN" sz="600" dirty="0">
                  <a:solidFill>
                    <a:srgbClr val="D6391E"/>
                  </a:solidFill>
                  <a:latin typeface="+mn-lt"/>
                  <a:ea typeface="+mn-ea"/>
                  <a:cs typeface="+mn-cs"/>
                </a:rPr>
                <a:t>程</a:t>
              </a:r>
            </a:p>
          </p:txBody>
        </p:sp>
      </p:grpSp>
      <p:grpSp>
        <p:nvGrpSpPr>
          <p:cNvPr id="45" name="col-define"/>
          <p:cNvGrpSpPr/>
          <p:nvPr/>
        </p:nvGrpSpPr>
        <p:grpSpPr>
          <a:xfrm>
            <a:off x="2667000" y="952500"/>
            <a:ext cx="1809750" cy="4327684"/>
            <a:chOff x="2667000" y="952500"/>
            <a:chExt cx="1809750" cy="4327684"/>
          </a:xfrm>
        </p:grpSpPr>
        <p:sp>
          <p:nvSpPr>
            <p:cNvPr id="33" name="Rectangle 33"/>
            <p:cNvSpPr/>
            <p:nvPr/>
          </p:nvSpPr>
          <p:spPr>
            <a:xfrm>
              <a:off x="2667000" y="952500"/>
              <a:ext cx="1809750" cy="266700"/>
            </a:xfrm>
            <a:prstGeom prst="roundRect">
              <a:avLst>
                <a:gd name="adj" fmla="val 14286"/>
              </a:avLst>
            </a:prstGeom>
            <a:solidFill>
              <a:srgbClr val="C8E0B8"/>
            </a:solidFill>
            <a:ln>
              <a:noFill/>
            </a:ln>
          </p:spPr>
        </p:sp>
        <p:sp>
          <p:nvSpPr>
            <p:cNvPr id="34" name="TextBox 34"/>
            <p:cNvSpPr txBox="1"/>
            <p:nvPr/>
          </p:nvSpPr>
          <p:spPr>
            <a:xfrm>
              <a:off x="3264611" y="1021556"/>
              <a:ext cx="614528" cy="220028"/>
            </a:xfrm>
            <a:prstGeom prst="rect">
              <a:avLst/>
            </a:prstGeom>
            <a:noFill/>
            <a:ln>
              <a:noFill/>
            </a:ln>
          </p:spPr>
          <p:txBody>
            <a:bodyPr wrap="none" lIns="0" tIns="0" rIns="0" bIns="0" anchor="t" anchorCtr="0">
              <a:spAutoFit/>
            </a:bodyPr>
            <a:lstStyle/>
            <a:p>
              <a:pPr algn="ctr"/>
              <a:r>
                <a:rPr lang="zh-CN" sz="1120" b="1" dirty="0">
                  <a:solidFill>
                    <a:srgbClr val="7A3E33"/>
                  </a:solidFill>
                  <a:latin typeface="+mn-lt"/>
                  <a:ea typeface="+mn-ea"/>
                  <a:cs typeface="+mn-cs"/>
                </a:rPr>
                <a:t>定义指标</a:t>
              </a:r>
            </a:p>
          </p:txBody>
        </p:sp>
        <p:sp>
          <p:nvSpPr>
            <p:cNvPr id="35" name="TextBox 35"/>
            <p:cNvSpPr txBox="1"/>
            <p:nvPr/>
          </p:nvSpPr>
          <p:spPr>
            <a:xfrm>
              <a:off x="3124213" y="1518047"/>
              <a:ext cx="895325"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设计师用研产品</a:t>
              </a:r>
            </a:p>
          </p:txBody>
        </p:sp>
        <p:sp>
          <p:nvSpPr>
            <p:cNvPr id="36" name="TextBox 36"/>
            <p:cNvSpPr txBox="1"/>
            <p:nvPr/>
          </p:nvSpPr>
          <p:spPr>
            <a:xfrm>
              <a:off x="2919412" y="1717834"/>
              <a:ext cx="1304925"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社会各行业的中坚力量，不断提升</a:t>
              </a:r>
              <a:br/>
              <a:r>
                <a:rPr lang="zh-CN" sz="680" dirty="0">
                  <a:solidFill>
                    <a:srgbClr val="595959"/>
                  </a:solidFill>
                  <a:latin typeface="+mn-lt"/>
                  <a:ea typeface="+mn-ea"/>
                  <a:cs typeface="+mn-cs"/>
                </a:rPr>
                <a:t>知识寻找个人发展</a:t>
              </a:r>
            </a:p>
          </p:txBody>
        </p:sp>
        <p:sp>
          <p:nvSpPr>
            <p:cNvPr id="37" name="TextBox 37"/>
            <p:cNvSpPr txBox="1"/>
            <p:nvPr/>
          </p:nvSpPr>
          <p:spPr>
            <a:xfrm>
              <a:off x="3024402" y="2280047"/>
              <a:ext cx="1094946"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关键业务+用户目标</a:t>
              </a:r>
            </a:p>
          </p:txBody>
        </p:sp>
        <p:sp>
          <p:nvSpPr>
            <p:cNvPr id="38" name="TextBox 38"/>
            <p:cNvSpPr txBox="1"/>
            <p:nvPr/>
          </p:nvSpPr>
          <p:spPr>
            <a:xfrm>
              <a:off x="2919412" y="2479834"/>
              <a:ext cx="1304925"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年轻人中最为进取的知识青年，代</a:t>
              </a:r>
              <a:br/>
              <a:r>
                <a:rPr lang="zh-CN" sz="680" dirty="0">
                  <a:solidFill>
                    <a:srgbClr val="595959"/>
                  </a:solidFill>
                  <a:latin typeface="+mn-lt"/>
                  <a:ea typeface="+mn-ea"/>
                  <a:cs typeface="+mn-cs"/>
                </a:rPr>
                <a:t>表时代的未来</a:t>
              </a:r>
            </a:p>
          </p:txBody>
        </p:sp>
        <p:sp>
          <p:nvSpPr>
            <p:cNvPr id="39" name="TextBox 39"/>
            <p:cNvSpPr txBox="1"/>
            <p:nvPr/>
          </p:nvSpPr>
          <p:spPr>
            <a:xfrm>
              <a:off x="3250756" y="3137297"/>
              <a:ext cx="642239"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设计师用研</a:t>
              </a:r>
            </a:p>
          </p:txBody>
        </p:sp>
        <p:sp>
          <p:nvSpPr>
            <p:cNvPr id="40" name="TextBox 40"/>
            <p:cNvSpPr txBox="1"/>
            <p:nvPr/>
          </p:nvSpPr>
          <p:spPr>
            <a:xfrm>
              <a:off x="2919412" y="3337084"/>
              <a:ext cx="1304925"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根据用户需求，匹配满足需求的产</a:t>
              </a:r>
              <a:br/>
              <a:r>
                <a:rPr lang="zh-CN" sz="680" dirty="0">
                  <a:solidFill>
                    <a:srgbClr val="595959"/>
                  </a:solidFill>
                  <a:latin typeface="+mn-lt"/>
                  <a:ea typeface="+mn-ea"/>
                  <a:cs typeface="+mn-cs"/>
                </a:rPr>
                <a:t>品，并陪伴式服务</a:t>
              </a:r>
            </a:p>
          </p:txBody>
        </p:sp>
        <p:sp>
          <p:nvSpPr>
            <p:cNvPr id="41" name="TextBox 41"/>
            <p:cNvSpPr txBox="1"/>
            <p:nvPr/>
          </p:nvSpPr>
          <p:spPr>
            <a:xfrm>
              <a:off x="3250756" y="3994547"/>
              <a:ext cx="642239"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可用性研究</a:t>
              </a:r>
            </a:p>
          </p:txBody>
        </p:sp>
        <p:sp>
          <p:nvSpPr>
            <p:cNvPr id="42" name="TextBox 42"/>
            <p:cNvSpPr txBox="1"/>
            <p:nvPr/>
          </p:nvSpPr>
          <p:spPr>
            <a:xfrm>
              <a:off x="3063634" y="4194334"/>
              <a:ext cx="1016483"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现场研究大量产品、用户</a:t>
              </a:r>
            </a:p>
          </p:txBody>
        </p:sp>
        <p:sp>
          <p:nvSpPr>
            <p:cNvPr id="43" name="TextBox 43"/>
            <p:cNvSpPr txBox="1"/>
            <p:nvPr/>
          </p:nvSpPr>
          <p:spPr>
            <a:xfrm>
              <a:off x="3314027" y="4947047"/>
              <a:ext cx="515696" cy="183356"/>
            </a:xfrm>
            <a:prstGeom prst="rect">
              <a:avLst/>
            </a:prstGeom>
            <a:noFill/>
            <a:ln>
              <a:noFill/>
            </a:ln>
          </p:spPr>
          <p:txBody>
            <a:bodyPr wrap="none" lIns="0" tIns="0" rIns="0" bIns="0" anchor="t" anchorCtr="0">
              <a:spAutoFit/>
            </a:bodyPr>
            <a:lstStyle/>
            <a:p>
              <a:pPr algn="ctr"/>
              <a:r>
                <a:rPr lang="zh-CN" sz="940" b="1" dirty="0">
                  <a:solidFill>
                    <a:srgbClr val="333333"/>
                  </a:solidFill>
                  <a:latin typeface="+mn-lt"/>
                  <a:ea typeface="+mn-ea"/>
                  <a:cs typeface="+mn-cs"/>
                </a:rPr>
                <a:t>态度数据</a:t>
              </a:r>
            </a:p>
          </p:txBody>
        </p:sp>
        <p:sp>
          <p:nvSpPr>
            <p:cNvPr id="44" name="TextBox 44"/>
            <p:cNvSpPr txBox="1"/>
            <p:nvPr/>
          </p:nvSpPr>
          <p:spPr>
            <a:xfrm>
              <a:off x="3199608" y="5146834"/>
              <a:ext cx="744535" cy="133350"/>
            </a:xfrm>
            <a:prstGeom prst="rect">
              <a:avLst/>
            </a:prstGeom>
            <a:noFill/>
            <a:ln>
              <a:noFill/>
            </a:ln>
          </p:spPr>
          <p:txBody>
            <a:bodyPr wrap="none" lIns="0" tIns="0" rIns="0" bIns="0" anchor="t" anchorCtr="0">
              <a:spAutoFit/>
            </a:bodyPr>
            <a:lstStyle/>
            <a:p>
              <a:pPr algn="ctr"/>
              <a:r>
                <a:rPr lang="zh-CN" sz="680" dirty="0">
                  <a:solidFill>
                    <a:srgbClr val="595959"/>
                  </a:solidFill>
                  <a:latin typeface="+mn-lt"/>
                  <a:ea typeface="+mn-ea"/>
                  <a:cs typeface="+mn-cs"/>
                </a:rPr>
                <a:t>行为数据CHI社区​</a:t>
              </a:r>
            </a:p>
          </p:txBody>
        </p:sp>
      </p:grpSp>
      <p:grpSp>
        <p:nvGrpSpPr>
          <p:cNvPr id="99" name="col-user-centric"/>
          <p:cNvGrpSpPr/>
          <p:nvPr/>
        </p:nvGrpSpPr>
        <p:grpSpPr>
          <a:xfrm>
            <a:off x="4572000" y="952500"/>
            <a:ext cx="3810000" cy="4419600"/>
            <a:chOff x="4572000" y="952500"/>
            <a:chExt cx="3810000" cy="4419600"/>
          </a:xfrm>
        </p:grpSpPr>
        <p:sp>
          <p:nvSpPr>
            <p:cNvPr id="46" name="Rectangle 46"/>
            <p:cNvSpPr/>
            <p:nvPr/>
          </p:nvSpPr>
          <p:spPr>
            <a:xfrm>
              <a:off x="4572000" y="952500"/>
              <a:ext cx="3810000" cy="4419600"/>
            </a:xfrm>
            <a:prstGeom prst="rect">
              <a:avLst/>
            </a:prstGeom>
            <a:solidFill>
              <a:srgbClr val="F7FBF4"/>
            </a:solidFill>
            <a:ln w="9525">
              <a:solidFill>
                <a:srgbClr val="C9D8BD"/>
              </a:solidFill>
            </a:ln>
          </p:spPr>
        </p:sp>
        <p:sp>
          <p:nvSpPr>
            <p:cNvPr id="47" name="Rectangle 47"/>
            <p:cNvSpPr/>
            <p:nvPr/>
          </p:nvSpPr>
          <p:spPr>
            <a:xfrm>
              <a:off x="4572000" y="952500"/>
              <a:ext cx="3810000" cy="266700"/>
            </a:xfrm>
            <a:prstGeom prst="rect">
              <a:avLst/>
            </a:prstGeom>
            <a:solidFill>
              <a:srgbClr val="CD9F96"/>
            </a:solidFill>
            <a:ln>
              <a:noFill/>
            </a:ln>
          </p:spPr>
        </p:sp>
        <p:sp>
          <p:nvSpPr>
            <p:cNvPr id="48" name="TextBox 48"/>
            <p:cNvSpPr txBox="1"/>
            <p:nvPr/>
          </p:nvSpPr>
          <p:spPr>
            <a:xfrm>
              <a:off x="5792800" y="1021556"/>
              <a:ext cx="1368400" cy="220028"/>
            </a:xfrm>
            <a:prstGeom prst="rect">
              <a:avLst/>
            </a:prstGeom>
            <a:noFill/>
            <a:ln>
              <a:noFill/>
            </a:ln>
          </p:spPr>
          <p:txBody>
            <a:bodyPr wrap="none" lIns="0" tIns="0" rIns="0" bIns="0" anchor="t" anchorCtr="0">
              <a:spAutoFit/>
            </a:bodyPr>
            <a:lstStyle/>
            <a:p>
              <a:pPr algn="ctr"/>
              <a:r>
                <a:rPr lang="zh-CN" sz="1120" b="1" dirty="0">
                  <a:solidFill>
                    <a:srgbClr val="7A3E33"/>
                  </a:solidFill>
                  <a:latin typeface="+mn-lt"/>
                  <a:ea typeface="+mn-ea"/>
                  <a:cs typeface="+mn-cs"/>
                </a:rPr>
                <a:t>大规模以用户为中心</a:t>
              </a:r>
            </a:p>
          </p:txBody>
        </p:sp>
        <p:sp>
          <p:nvSpPr>
            <p:cNvPr id="49" name="TextBox 49"/>
            <p:cNvSpPr txBox="1"/>
            <p:nvPr/>
          </p:nvSpPr>
          <p:spPr>
            <a:xfrm>
              <a:off x="6131181" y="1407795"/>
              <a:ext cx="691639"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WEB端后台​</a:t>
              </a:r>
            </a:p>
          </p:txBody>
        </p:sp>
        <p:sp>
          <p:nvSpPr>
            <p:cNvPr id="50" name="Rectangle 50"/>
            <p:cNvSpPr/>
            <p:nvPr/>
          </p:nvSpPr>
          <p:spPr>
            <a:xfrm>
              <a:off x="5905500" y="1581150"/>
              <a:ext cx="1143000" cy="152400"/>
            </a:xfrm>
            <a:prstGeom prst="rect">
              <a:avLst/>
            </a:prstGeom>
            <a:solidFill>
              <a:srgbClr val="DFF0D2"/>
            </a:solidFill>
            <a:ln>
              <a:noFill/>
            </a:ln>
          </p:spPr>
        </p:sp>
        <p:sp>
          <p:nvSpPr>
            <p:cNvPr id="51" name="TextBox 51"/>
            <p:cNvSpPr txBox="1"/>
            <p:nvPr/>
          </p:nvSpPr>
          <p:spPr>
            <a:xfrm>
              <a:off x="6210783" y="1622584"/>
              <a:ext cx="532435" cy="133350"/>
            </a:xfrm>
            <a:prstGeom prst="rect">
              <a:avLst/>
            </a:prstGeom>
            <a:noFill/>
            <a:ln>
              <a:noFill/>
            </a:ln>
          </p:spPr>
          <p:txBody>
            <a:bodyPr wrap="none" lIns="0" tIns="0" rIns="0" bIns="0" anchor="t" anchorCtr="0">
              <a:spAutoFit/>
            </a:bodyPr>
            <a:lstStyle/>
            <a:p>
              <a:pPr algn="ctr"/>
              <a:r>
                <a:rPr lang="zh-CN" sz="680" dirty="0">
                  <a:solidFill>
                    <a:srgbClr val="7A3E33"/>
                  </a:solidFill>
                  <a:latin typeface="+mn-lt"/>
                  <a:ea typeface="+mn-ea"/>
                  <a:cs typeface="+mn-cs"/>
                </a:rPr>
                <a:t>H5运营活动​</a:t>
              </a:r>
            </a:p>
          </p:txBody>
        </p:sp>
        <p:sp>
          <p:nvSpPr>
            <p:cNvPr id="52" name="Rectangle 52"/>
            <p:cNvSpPr/>
            <p:nvPr/>
          </p:nvSpPr>
          <p:spPr>
            <a:xfrm>
              <a:off x="5905500" y="1771650"/>
              <a:ext cx="1143000" cy="152400"/>
            </a:xfrm>
            <a:prstGeom prst="rect">
              <a:avLst/>
            </a:prstGeom>
            <a:solidFill>
              <a:srgbClr val="C8E0B8"/>
            </a:solidFill>
            <a:ln>
              <a:noFill/>
            </a:ln>
          </p:spPr>
        </p:sp>
        <p:sp>
          <p:nvSpPr>
            <p:cNvPr id="53" name="TextBox 53"/>
            <p:cNvSpPr txBox="1"/>
            <p:nvPr/>
          </p:nvSpPr>
          <p:spPr>
            <a:xfrm>
              <a:off x="6243384" y="1813084"/>
              <a:ext cx="467233" cy="133350"/>
            </a:xfrm>
            <a:prstGeom prst="rect">
              <a:avLst/>
            </a:prstGeom>
            <a:noFill/>
            <a:ln>
              <a:noFill/>
            </a:ln>
          </p:spPr>
          <p:txBody>
            <a:bodyPr wrap="none" lIns="0" tIns="0" rIns="0" bIns="0" anchor="t" anchorCtr="0">
              <a:spAutoFit/>
            </a:bodyPr>
            <a:lstStyle/>
            <a:p>
              <a:pPr algn="ctr"/>
              <a:r>
                <a:rPr lang="zh-CN" sz="680" dirty="0">
                  <a:solidFill>
                    <a:srgbClr val="7A3E33"/>
                  </a:solidFill>
                  <a:latin typeface="+mn-lt"/>
                  <a:ea typeface="+mn-ea"/>
                  <a:cs typeface="+mn-cs"/>
                </a:rPr>
                <a:t>云行业应用</a:t>
              </a:r>
            </a:p>
          </p:txBody>
        </p:sp>
        <p:sp>
          <p:nvSpPr>
            <p:cNvPr id="54" name="Rectangle 54"/>
            <p:cNvSpPr/>
            <p:nvPr/>
          </p:nvSpPr>
          <p:spPr>
            <a:xfrm>
              <a:off x="5905500" y="1962150"/>
              <a:ext cx="1143000" cy="152400"/>
            </a:xfrm>
            <a:prstGeom prst="rect">
              <a:avLst/>
            </a:prstGeom>
            <a:solidFill>
              <a:srgbClr val="9C594C"/>
            </a:solidFill>
            <a:ln>
              <a:noFill/>
            </a:ln>
          </p:spPr>
        </p:sp>
        <p:sp>
          <p:nvSpPr>
            <p:cNvPr id="55" name="TextBox 55"/>
            <p:cNvSpPr txBox="1"/>
            <p:nvPr/>
          </p:nvSpPr>
          <p:spPr>
            <a:xfrm>
              <a:off x="6243384" y="2003584"/>
              <a:ext cx="467233"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腾讯云助手</a:t>
              </a:r>
            </a:p>
          </p:txBody>
        </p:sp>
        <p:sp>
          <p:nvSpPr>
            <p:cNvPr id="56" name="TextBox 56"/>
            <p:cNvSpPr txBox="1"/>
            <p:nvPr/>
          </p:nvSpPr>
          <p:spPr>
            <a:xfrm>
              <a:off x="5163655" y="2311241"/>
              <a:ext cx="340690"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看洞察</a:t>
              </a:r>
            </a:p>
          </p:txBody>
        </p:sp>
        <p:sp>
          <p:nvSpPr>
            <p:cNvPr id="57" name="TextBox 57"/>
            <p:cNvSpPr txBox="1"/>
            <p:nvPr/>
          </p:nvSpPr>
          <p:spPr>
            <a:xfrm>
              <a:off x="4973312" y="2464832"/>
              <a:ext cx="721375" cy="126206"/>
            </a:xfrm>
            <a:prstGeom prst="rect">
              <a:avLst/>
            </a:prstGeom>
            <a:noFill/>
            <a:ln>
              <a:noFill/>
            </a:ln>
          </p:spPr>
          <p:txBody>
            <a:bodyPr wrap="none" lIns="0" tIns="0" rIns="0" bIns="0" anchor="t" anchorCtr="0">
              <a:spAutoFit/>
            </a:bodyPr>
            <a:lstStyle/>
            <a:p>
              <a:pPr algn="ctr"/>
              <a:r>
                <a:rPr lang="zh-CN" sz="640" dirty="0">
                  <a:solidFill>
                    <a:srgbClr val="595959"/>
                  </a:solidFill>
                  <a:latin typeface="+mn-lt"/>
                  <a:ea typeface="+mn-ea"/>
                  <a:cs typeface="+mn-cs"/>
                </a:rPr>
                <a:t>5G基站/卫星通信​</a:t>
              </a:r>
            </a:p>
          </p:txBody>
        </p:sp>
        <p:sp>
          <p:nvSpPr>
            <p:cNvPr id="58" name="TextBox 58"/>
            <p:cNvSpPr txBox="1"/>
            <p:nvPr/>
          </p:nvSpPr>
          <p:spPr>
            <a:xfrm>
              <a:off x="6306655" y="2311241"/>
              <a:ext cx="340690"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测卖点</a:t>
              </a:r>
            </a:p>
          </p:txBody>
        </p:sp>
        <p:sp>
          <p:nvSpPr>
            <p:cNvPr id="59" name="TextBox 59"/>
            <p:cNvSpPr txBox="1"/>
            <p:nvPr/>
          </p:nvSpPr>
          <p:spPr>
            <a:xfrm>
              <a:off x="6103917" y="2464832"/>
              <a:ext cx="746166" cy="126206"/>
            </a:xfrm>
            <a:prstGeom prst="rect">
              <a:avLst/>
            </a:prstGeom>
            <a:noFill/>
            <a:ln>
              <a:noFill/>
            </a:ln>
          </p:spPr>
          <p:txBody>
            <a:bodyPr wrap="none" lIns="0" tIns="0" rIns="0" bIns="0" anchor="t" anchorCtr="0">
              <a:spAutoFit/>
            </a:bodyPr>
            <a:lstStyle/>
            <a:p>
              <a:pPr algn="ctr"/>
              <a:r>
                <a:rPr lang="zh-CN" sz="640" dirty="0">
                  <a:solidFill>
                    <a:srgbClr val="595959"/>
                  </a:solidFill>
                  <a:latin typeface="+mn-lt"/>
                  <a:ea typeface="+mn-ea"/>
                  <a:cs typeface="+mn-cs"/>
                </a:rPr>
                <a:t>工业互联网/物联网</a:t>
              </a:r>
            </a:p>
          </p:txBody>
        </p:sp>
        <p:sp>
          <p:nvSpPr>
            <p:cNvPr id="60" name="TextBox 60"/>
            <p:cNvSpPr txBox="1"/>
            <p:nvPr/>
          </p:nvSpPr>
          <p:spPr>
            <a:xfrm>
              <a:off x="7449655" y="2311241"/>
              <a:ext cx="340690"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定方向</a:t>
              </a:r>
            </a:p>
          </p:txBody>
        </p:sp>
        <p:sp>
          <p:nvSpPr>
            <p:cNvPr id="61" name="TextBox 61"/>
            <p:cNvSpPr txBox="1"/>
            <p:nvPr/>
          </p:nvSpPr>
          <p:spPr>
            <a:xfrm>
              <a:off x="7289996" y="2464832"/>
              <a:ext cx="660009" cy="126206"/>
            </a:xfrm>
            <a:prstGeom prst="rect">
              <a:avLst/>
            </a:prstGeom>
            <a:noFill/>
            <a:ln>
              <a:noFill/>
            </a:ln>
          </p:spPr>
          <p:txBody>
            <a:bodyPr wrap="none" lIns="0" tIns="0" rIns="0" bIns="0" anchor="t" anchorCtr="0">
              <a:spAutoFit/>
            </a:bodyPr>
            <a:lstStyle/>
            <a:p>
              <a:pPr algn="ctr"/>
              <a:r>
                <a:rPr lang="zh-CN" sz="640" dirty="0">
                  <a:solidFill>
                    <a:srgbClr val="595959"/>
                  </a:solidFill>
                  <a:latin typeface="+mn-lt"/>
                  <a:ea typeface="+mn-ea"/>
                  <a:cs typeface="+mn-cs"/>
                </a:rPr>
                <a:t>区块链/数据分析</a:t>
              </a:r>
            </a:p>
          </p:txBody>
        </p:sp>
        <p:sp>
          <p:nvSpPr>
            <p:cNvPr id="62" name="Rectangle 62"/>
            <p:cNvSpPr/>
            <p:nvPr/>
          </p:nvSpPr>
          <p:spPr>
            <a:xfrm>
              <a:off x="4810125" y="2714625"/>
              <a:ext cx="1047750" cy="495300"/>
            </a:xfrm>
            <a:prstGeom prst="rect">
              <a:avLst/>
            </a:prstGeom>
            <a:solidFill>
              <a:srgbClr val="DFF0D2"/>
            </a:solidFill>
            <a:ln>
              <a:noFill/>
            </a:ln>
          </p:spPr>
        </p:sp>
        <p:sp>
          <p:nvSpPr>
            <p:cNvPr id="63" name="TextBox 63"/>
            <p:cNvSpPr txBox="1"/>
            <p:nvPr/>
          </p:nvSpPr>
          <p:spPr>
            <a:xfrm>
              <a:off x="5042497" y="2771061"/>
              <a:ext cx="583006" cy="140494"/>
            </a:xfrm>
            <a:prstGeom prst="rect">
              <a:avLst/>
            </a:prstGeom>
            <a:noFill/>
            <a:ln>
              <a:noFill/>
            </a:ln>
          </p:spPr>
          <p:txBody>
            <a:bodyPr wrap="none" lIns="0" tIns="0" rIns="0" bIns="0" anchor="t" anchorCtr="0">
              <a:spAutoFit/>
            </a:bodyPr>
            <a:lstStyle/>
            <a:p>
              <a:pPr algn="ctr"/>
              <a:r>
                <a:rPr lang="zh-CN" sz="710" b="1" dirty="0">
                  <a:solidFill>
                    <a:srgbClr val="7A3E33"/>
                  </a:solidFill>
                  <a:latin typeface="+mn-lt"/>
                  <a:ea typeface="+mn-ea"/>
                  <a:cs typeface="+mn-cs"/>
                </a:rPr>
                <a:t>基建核心内涵</a:t>
              </a:r>
            </a:p>
          </p:txBody>
        </p:sp>
        <p:sp>
          <p:nvSpPr>
            <p:cNvPr id="64" name="TextBox 64"/>
            <p:cNvSpPr txBox="1"/>
            <p:nvPr/>
          </p:nvSpPr>
          <p:spPr>
            <a:xfrm>
              <a:off x="5043488" y="2907030"/>
              <a:ext cx="226695" cy="290512"/>
            </a:xfrm>
            <a:prstGeom prst="rect">
              <a:avLst/>
            </a:prstGeom>
            <a:noFill/>
            <a:ln>
              <a:noFill/>
            </a:ln>
          </p:spPr>
          <p:txBody>
            <a:bodyPr wrap="none" lIns="0" tIns="0" rIns="0" bIns="0" anchor="t" anchorCtr="0">
              <a:spAutoFit/>
            </a:bodyPr>
            <a:lstStyle/>
            <a:p>
              <a:pPr algn="l">
                <a:lnSpc>
                  <a:spcPts val="675"/>
                </a:lnSpc>
              </a:pPr>
              <a:r>
                <a:rPr lang="zh-CN" sz="600" dirty="0">
                  <a:solidFill>
                    <a:srgbClr val="7A3E33"/>
                  </a:solidFill>
                  <a:latin typeface="+mn-lt"/>
                  <a:ea typeface="+mn-ea"/>
                  <a:cs typeface="+mn-cs"/>
                </a:rPr>
                <a:t>› 信息</a:t>
              </a:r>
              <a:br/>
              <a:r>
                <a:rPr lang="zh-CN" sz="600" dirty="0">
                  <a:solidFill>
                    <a:srgbClr val="7A3E33"/>
                  </a:solidFill>
                  <a:latin typeface="+mn-lt"/>
                  <a:ea typeface="+mn-ea"/>
                  <a:cs typeface="+mn-cs"/>
                </a:rPr>
                <a:t>› 基础</a:t>
              </a:r>
              <a:br/>
              <a:r>
                <a:rPr lang="zh-CN" sz="600" dirty="0">
                  <a:solidFill>
                    <a:srgbClr val="7A3E33"/>
                  </a:solidFill>
                  <a:latin typeface="+mn-lt"/>
                  <a:ea typeface="+mn-ea"/>
                  <a:cs typeface="+mn-cs"/>
                </a:rPr>
                <a:t>› 建设</a:t>
              </a:r>
            </a:p>
          </p:txBody>
        </p:sp>
        <p:sp>
          <p:nvSpPr>
            <p:cNvPr id="65" name="TextBox 65"/>
            <p:cNvSpPr txBox="1"/>
            <p:nvPr/>
          </p:nvSpPr>
          <p:spPr>
            <a:xfrm>
              <a:off x="5960465" y="2883218"/>
              <a:ext cx="118669" cy="264033"/>
            </a:xfrm>
            <a:prstGeom prst="rect">
              <a:avLst/>
            </a:prstGeom>
            <a:noFill/>
            <a:ln>
              <a:noFill/>
            </a:ln>
          </p:spPr>
          <p:txBody>
            <a:bodyPr wrap="none" lIns="0" tIns="0" rIns="0" bIns="0" anchor="t" anchorCtr="0">
              <a:spAutoFit/>
            </a:bodyPr>
            <a:lstStyle/>
            <a:p>
              <a:pPr algn="ctr"/>
              <a:r>
                <a:rPr lang="zh-CN" sz="1350" b="1" dirty="0">
                  <a:solidFill>
                    <a:srgbClr val="9C594C"/>
                  </a:solidFill>
                  <a:latin typeface="+mn-lt"/>
                  <a:ea typeface="+mn-ea"/>
                  <a:cs typeface="+mn-cs"/>
                </a:rPr>
                <a:t>+</a:t>
              </a:r>
            </a:p>
          </p:txBody>
        </p:sp>
        <p:sp>
          <p:nvSpPr>
            <p:cNvPr id="66" name="Rectangle 66"/>
            <p:cNvSpPr/>
            <p:nvPr/>
          </p:nvSpPr>
          <p:spPr>
            <a:xfrm>
              <a:off x="6191250" y="2714625"/>
              <a:ext cx="1143000" cy="495300"/>
            </a:xfrm>
            <a:prstGeom prst="rect">
              <a:avLst/>
            </a:prstGeom>
            <a:solidFill>
              <a:srgbClr val="FDF6E7"/>
            </a:solidFill>
            <a:ln>
              <a:noFill/>
            </a:ln>
          </p:spPr>
        </p:sp>
        <p:sp>
          <p:nvSpPr>
            <p:cNvPr id="67" name="TextBox 67"/>
            <p:cNvSpPr txBox="1"/>
            <p:nvPr/>
          </p:nvSpPr>
          <p:spPr>
            <a:xfrm>
              <a:off x="6471247" y="2771061"/>
              <a:ext cx="583006" cy="140494"/>
            </a:xfrm>
            <a:prstGeom prst="rect">
              <a:avLst/>
            </a:prstGeom>
            <a:noFill/>
            <a:ln>
              <a:noFill/>
            </a:ln>
          </p:spPr>
          <p:txBody>
            <a:bodyPr wrap="none" lIns="0" tIns="0" rIns="0" bIns="0" anchor="t" anchorCtr="0">
              <a:spAutoFit/>
            </a:bodyPr>
            <a:lstStyle/>
            <a:p>
              <a:pPr algn="ctr"/>
              <a:r>
                <a:rPr lang="zh-CN" sz="710" b="1" dirty="0">
                  <a:solidFill>
                    <a:srgbClr val="8A2210"/>
                  </a:solidFill>
                  <a:latin typeface="+mn-lt"/>
                  <a:ea typeface="+mn-ea"/>
                  <a:cs typeface="+mn-cs"/>
                </a:rPr>
                <a:t>创新基础设施</a:t>
              </a:r>
            </a:p>
          </p:txBody>
        </p:sp>
        <p:sp>
          <p:nvSpPr>
            <p:cNvPr id="68" name="Rectangle 68"/>
            <p:cNvSpPr/>
            <p:nvPr/>
          </p:nvSpPr>
          <p:spPr>
            <a:xfrm>
              <a:off x="6477000" y="2895600"/>
              <a:ext cx="571500" cy="133350"/>
            </a:xfrm>
            <a:prstGeom prst="rect">
              <a:avLst/>
            </a:prstGeom>
            <a:solidFill>
              <a:srgbClr val="E9563C"/>
            </a:solidFill>
            <a:ln>
              <a:noFill/>
            </a:ln>
          </p:spPr>
        </p:sp>
        <p:sp>
          <p:nvSpPr>
            <p:cNvPr id="69" name="TextBox 69"/>
            <p:cNvSpPr txBox="1"/>
            <p:nvPr/>
          </p:nvSpPr>
          <p:spPr>
            <a:xfrm>
              <a:off x="6596444" y="2926080"/>
              <a:ext cx="33261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建设内容</a:t>
              </a:r>
            </a:p>
          </p:txBody>
        </p:sp>
        <p:sp>
          <p:nvSpPr>
            <p:cNvPr id="70" name="Rectangle 70"/>
            <p:cNvSpPr/>
            <p:nvPr/>
          </p:nvSpPr>
          <p:spPr>
            <a:xfrm>
              <a:off x="6515100" y="3067050"/>
              <a:ext cx="228600" cy="95250"/>
            </a:xfrm>
            <a:prstGeom prst="rect">
              <a:avLst/>
            </a:prstGeom>
            <a:solidFill>
              <a:srgbClr val="F7B9AE"/>
            </a:solidFill>
            <a:ln>
              <a:noFill/>
            </a:ln>
          </p:spPr>
        </p:sp>
        <p:sp>
          <p:nvSpPr>
            <p:cNvPr id="71" name="Rectangle 71"/>
            <p:cNvSpPr/>
            <p:nvPr/>
          </p:nvSpPr>
          <p:spPr>
            <a:xfrm>
              <a:off x="6781800" y="3067050"/>
              <a:ext cx="228600" cy="95250"/>
            </a:xfrm>
            <a:prstGeom prst="rect">
              <a:avLst/>
            </a:prstGeom>
            <a:solidFill>
              <a:srgbClr val="F7B9AE"/>
            </a:solidFill>
            <a:ln>
              <a:noFill/>
            </a:ln>
          </p:spPr>
        </p:sp>
        <p:sp>
          <p:nvSpPr>
            <p:cNvPr id="72" name="Line 72"/>
            <p:cNvSpPr/>
            <p:nvPr/>
          </p:nvSpPr>
          <p:spPr>
            <a:xfrm>
              <a:off x="7391400" y="2962275"/>
              <a:ext cx="228600" cy="1"/>
            </a:xfrm>
            <a:prstGeom prst="line">
              <a:avLst/>
            </a:prstGeom>
            <a:noFill/>
            <a:ln w="11430">
              <a:solidFill>
                <a:srgbClr val="9C594C"/>
              </a:solidFill>
              <a:tailEnd type="triangle" w="lg" len="lg"/>
            </a:ln>
          </p:spPr>
        </p:sp>
        <p:sp>
          <p:nvSpPr>
            <p:cNvPr id="73" name="TextBox 73"/>
            <p:cNvSpPr txBox="1"/>
            <p:nvPr/>
          </p:nvSpPr>
          <p:spPr>
            <a:xfrm>
              <a:off x="7714298" y="2848689"/>
              <a:ext cx="611505" cy="288131"/>
            </a:xfrm>
            <a:prstGeom prst="rect">
              <a:avLst/>
            </a:prstGeom>
            <a:noFill/>
            <a:ln>
              <a:noFill/>
            </a:ln>
          </p:spPr>
          <p:txBody>
            <a:bodyPr wrap="none" lIns="0" tIns="0" rIns="0" bIns="0" anchor="t" anchorCtr="0">
              <a:spAutoFit/>
            </a:bodyPr>
            <a:lstStyle/>
            <a:p>
              <a:pPr algn="ctr">
                <a:lnSpc>
                  <a:spcPts val="1050"/>
                </a:lnSpc>
              </a:pPr>
              <a:r>
                <a:rPr lang="zh-CN" sz="790" b="1" dirty="0">
                  <a:solidFill>
                    <a:srgbClr val="7A3E33"/>
                  </a:solidFill>
                  <a:latin typeface="+mn-lt"/>
                  <a:ea typeface="+mn-ea"/>
                  <a:cs typeface="+mn-cs"/>
                </a:rPr>
                <a:t>实时互动</a:t>
              </a:r>
              <a:br/>
              <a:r>
                <a:rPr lang="zh-CN" sz="790" b="1" dirty="0">
                  <a:solidFill>
                    <a:srgbClr val="7A3E33"/>
                  </a:solidFill>
                  <a:latin typeface="+mn-lt"/>
                  <a:ea typeface="+mn-ea"/>
                  <a:cs typeface="+mn-cs"/>
                </a:rPr>
                <a:t>提高营销转化</a:t>
              </a:r>
            </a:p>
          </p:txBody>
        </p:sp>
        <p:sp>
          <p:nvSpPr>
            <p:cNvPr id="74" name="TextBox 74"/>
            <p:cNvSpPr txBox="1"/>
            <p:nvPr/>
          </p:nvSpPr>
          <p:spPr>
            <a:xfrm>
              <a:off x="6158865" y="3715702"/>
              <a:ext cx="293370"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挖掘</a:t>
              </a:r>
            </a:p>
          </p:txBody>
        </p:sp>
        <p:sp>
          <p:nvSpPr>
            <p:cNvPr id="75" name="Line 75"/>
            <p:cNvSpPr/>
            <p:nvPr/>
          </p:nvSpPr>
          <p:spPr>
            <a:xfrm>
              <a:off x="6572250" y="3771900"/>
              <a:ext cx="400050" cy="1"/>
            </a:xfrm>
            <a:prstGeom prst="line">
              <a:avLst/>
            </a:prstGeom>
            <a:noFill/>
            <a:ln w="19050">
              <a:solidFill>
                <a:srgbClr val="9C594C"/>
              </a:solidFill>
              <a:tailEnd type="triangle" w="lg" len="lg"/>
            </a:ln>
          </p:spPr>
        </p:sp>
        <p:sp>
          <p:nvSpPr>
            <p:cNvPr id="76" name="TextBox 76"/>
            <p:cNvSpPr txBox="1"/>
            <p:nvPr/>
          </p:nvSpPr>
          <p:spPr>
            <a:xfrm>
              <a:off x="7092315" y="3715702"/>
              <a:ext cx="293370"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分析</a:t>
              </a:r>
            </a:p>
          </p:txBody>
        </p:sp>
        <p:sp>
          <p:nvSpPr>
            <p:cNvPr id="77" name="Rectangle 77"/>
            <p:cNvSpPr/>
            <p:nvPr/>
          </p:nvSpPr>
          <p:spPr>
            <a:xfrm>
              <a:off x="4762500" y="4000500"/>
              <a:ext cx="666750" cy="190500"/>
            </a:xfrm>
            <a:prstGeom prst="rect">
              <a:avLst/>
            </a:prstGeom>
            <a:solidFill>
              <a:srgbClr val="DFF0D2"/>
            </a:solidFill>
            <a:ln>
              <a:noFill/>
            </a:ln>
          </p:spPr>
        </p:sp>
        <p:sp>
          <p:nvSpPr>
            <p:cNvPr id="78" name="TextBox 78"/>
            <p:cNvSpPr txBox="1"/>
            <p:nvPr/>
          </p:nvSpPr>
          <p:spPr>
            <a:xfrm>
              <a:off x="4899952" y="405693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智能管理</a:t>
              </a:r>
            </a:p>
          </p:txBody>
        </p:sp>
        <p:sp>
          <p:nvSpPr>
            <p:cNvPr id="79" name="Line 79"/>
            <p:cNvSpPr/>
            <p:nvPr/>
          </p:nvSpPr>
          <p:spPr>
            <a:xfrm>
              <a:off x="5448300" y="4095750"/>
              <a:ext cx="247650" cy="1"/>
            </a:xfrm>
            <a:prstGeom prst="line">
              <a:avLst/>
            </a:prstGeom>
            <a:noFill/>
            <a:ln w="9525">
              <a:solidFill>
                <a:srgbClr val="9C594C"/>
              </a:solidFill>
              <a:tailEnd type="triangle" w="lg" len="lg"/>
            </a:ln>
          </p:spPr>
        </p:sp>
        <p:sp>
          <p:nvSpPr>
            <p:cNvPr id="80" name="TextBox 80"/>
            <p:cNvSpPr txBox="1"/>
            <p:nvPr/>
          </p:nvSpPr>
          <p:spPr>
            <a:xfrm>
              <a:off x="5491975" y="3996928"/>
              <a:ext cx="160299" cy="111919"/>
            </a:xfrm>
            <a:prstGeom prst="rect">
              <a:avLst/>
            </a:prstGeom>
            <a:noFill/>
            <a:ln>
              <a:noFill/>
            </a:ln>
          </p:spPr>
          <p:txBody>
            <a:bodyPr wrap="none" lIns="0" tIns="0" rIns="0" bIns="0" anchor="t" anchorCtr="0">
              <a:spAutoFit/>
            </a:bodyPr>
            <a:lstStyle/>
            <a:p>
              <a:pPr algn="ctr"/>
              <a:r>
                <a:rPr lang="zh-CN" sz="560" dirty="0">
                  <a:solidFill>
                    <a:srgbClr val="595959"/>
                  </a:solidFill>
                  <a:latin typeface="+mn-lt"/>
                  <a:ea typeface="+mn-ea"/>
                  <a:cs typeface="+mn-cs"/>
                </a:rPr>
                <a:t>分析</a:t>
              </a:r>
            </a:p>
          </p:txBody>
        </p:sp>
        <p:sp>
          <p:nvSpPr>
            <p:cNvPr id="81" name="Rectangle 81"/>
            <p:cNvSpPr/>
            <p:nvPr/>
          </p:nvSpPr>
          <p:spPr>
            <a:xfrm>
              <a:off x="5715000" y="3962400"/>
              <a:ext cx="666750" cy="266700"/>
            </a:xfrm>
            <a:prstGeom prst="roundRect">
              <a:avLst>
                <a:gd name="adj" fmla="val 50000"/>
              </a:avLst>
            </a:prstGeom>
            <a:solidFill>
              <a:srgbClr val="FDF6E7"/>
            </a:solidFill>
            <a:ln>
              <a:noFill/>
            </a:ln>
          </p:spPr>
        </p:sp>
        <p:sp>
          <p:nvSpPr>
            <p:cNvPr id="82" name="TextBox 82"/>
            <p:cNvSpPr txBox="1"/>
            <p:nvPr/>
          </p:nvSpPr>
          <p:spPr>
            <a:xfrm>
              <a:off x="5902592" y="3998357"/>
              <a:ext cx="291567" cy="221456"/>
            </a:xfrm>
            <a:prstGeom prst="rect">
              <a:avLst/>
            </a:prstGeom>
            <a:noFill/>
            <a:ln>
              <a:noFill/>
            </a:ln>
          </p:spPr>
          <p:txBody>
            <a:bodyPr wrap="none" lIns="0" tIns="0" rIns="0" bIns="0" anchor="t" anchorCtr="0">
              <a:spAutoFit/>
            </a:bodyPr>
            <a:lstStyle/>
            <a:p>
              <a:pPr algn="ctr">
                <a:lnSpc>
                  <a:spcPts val="750"/>
                </a:lnSpc>
              </a:pPr>
              <a:r>
                <a:rPr lang="zh-CN" sz="640" b="1" dirty="0">
                  <a:solidFill>
                    <a:srgbClr val="8A2210"/>
                  </a:solidFill>
                  <a:latin typeface="+mn-lt"/>
                  <a:ea typeface="+mn-ea"/>
                  <a:cs typeface="+mn-cs"/>
                </a:rPr>
                <a:t>AI精度​</a:t>
              </a:r>
              <a:br/>
              <a:r>
                <a:rPr lang="zh-CN" sz="640" b="1" dirty="0">
                  <a:solidFill>
                    <a:srgbClr val="8A2210"/>
                  </a:solidFill>
                  <a:latin typeface="+mn-lt"/>
                  <a:ea typeface="+mn-ea"/>
                  <a:cs typeface="+mn-cs"/>
                </a:rPr>
                <a:t>分析</a:t>
              </a:r>
            </a:p>
          </p:txBody>
        </p:sp>
        <p:sp>
          <p:nvSpPr>
            <p:cNvPr id="83" name="Line 83"/>
            <p:cNvSpPr/>
            <p:nvPr/>
          </p:nvSpPr>
          <p:spPr>
            <a:xfrm>
              <a:off x="6400800" y="4095750"/>
              <a:ext cx="247650" cy="1"/>
            </a:xfrm>
            <a:prstGeom prst="line">
              <a:avLst/>
            </a:prstGeom>
            <a:noFill/>
            <a:ln w="9525">
              <a:solidFill>
                <a:srgbClr val="9C594C"/>
              </a:solidFill>
              <a:tailEnd type="triangle" w="lg" len="lg"/>
            </a:ln>
          </p:spPr>
        </p:sp>
        <p:sp>
          <p:nvSpPr>
            <p:cNvPr id="84" name="TextBox 84"/>
            <p:cNvSpPr txBox="1"/>
            <p:nvPr/>
          </p:nvSpPr>
          <p:spPr>
            <a:xfrm>
              <a:off x="6444475" y="3996928"/>
              <a:ext cx="160299" cy="111919"/>
            </a:xfrm>
            <a:prstGeom prst="rect">
              <a:avLst/>
            </a:prstGeom>
            <a:noFill/>
            <a:ln>
              <a:noFill/>
            </a:ln>
          </p:spPr>
          <p:txBody>
            <a:bodyPr wrap="none" lIns="0" tIns="0" rIns="0" bIns="0" anchor="t" anchorCtr="0">
              <a:spAutoFit/>
            </a:bodyPr>
            <a:lstStyle/>
            <a:p>
              <a:pPr algn="ctr"/>
              <a:r>
                <a:rPr lang="zh-CN" sz="560" dirty="0">
                  <a:solidFill>
                    <a:srgbClr val="595959"/>
                  </a:solidFill>
                  <a:latin typeface="+mn-lt"/>
                  <a:ea typeface="+mn-ea"/>
                  <a:cs typeface="+mn-cs"/>
                </a:rPr>
                <a:t>管理</a:t>
              </a:r>
            </a:p>
          </p:txBody>
        </p:sp>
        <p:sp>
          <p:nvSpPr>
            <p:cNvPr id="85" name="Rectangle 85"/>
            <p:cNvSpPr/>
            <p:nvPr/>
          </p:nvSpPr>
          <p:spPr>
            <a:xfrm>
              <a:off x="6667500" y="4000500"/>
              <a:ext cx="571500" cy="190500"/>
            </a:xfrm>
            <a:prstGeom prst="rect">
              <a:avLst/>
            </a:prstGeom>
            <a:solidFill>
              <a:srgbClr val="DFF0D2"/>
            </a:solidFill>
            <a:ln>
              <a:noFill/>
            </a:ln>
          </p:spPr>
        </p:sp>
        <p:sp>
          <p:nvSpPr>
            <p:cNvPr id="86" name="TextBox 86"/>
            <p:cNvSpPr txBox="1"/>
            <p:nvPr/>
          </p:nvSpPr>
          <p:spPr>
            <a:xfrm>
              <a:off x="6805117" y="4056936"/>
              <a:ext cx="29626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转化率</a:t>
              </a:r>
            </a:p>
          </p:txBody>
        </p:sp>
        <p:sp>
          <p:nvSpPr>
            <p:cNvPr id="87" name="TextBox 87"/>
            <p:cNvSpPr txBox="1"/>
            <p:nvPr/>
          </p:nvSpPr>
          <p:spPr>
            <a:xfrm>
              <a:off x="7294503" y="4055745"/>
              <a:ext cx="79494" cy="176212"/>
            </a:xfrm>
            <a:prstGeom prst="rect">
              <a:avLst/>
            </a:prstGeom>
            <a:noFill/>
            <a:ln>
              <a:noFill/>
            </a:ln>
          </p:spPr>
          <p:txBody>
            <a:bodyPr wrap="none" lIns="0" tIns="0" rIns="0" bIns="0" anchor="t" anchorCtr="0">
              <a:spAutoFit/>
            </a:bodyPr>
            <a:lstStyle/>
            <a:p>
              <a:pPr algn="ctr"/>
              <a:r>
                <a:rPr lang="zh-CN" sz="900" b="1" dirty="0">
                  <a:solidFill>
                    <a:srgbClr val="9C594C"/>
                  </a:solidFill>
                  <a:latin typeface="+mn-lt"/>
                  <a:ea typeface="+mn-ea"/>
                  <a:cs typeface="+mn-cs"/>
                </a:rPr>
                <a:t>+</a:t>
              </a:r>
            </a:p>
          </p:txBody>
        </p:sp>
        <p:sp>
          <p:nvSpPr>
            <p:cNvPr id="88" name="Rectangle 88"/>
            <p:cNvSpPr/>
            <p:nvPr/>
          </p:nvSpPr>
          <p:spPr>
            <a:xfrm>
              <a:off x="7429500" y="4000500"/>
              <a:ext cx="571500" cy="190500"/>
            </a:xfrm>
            <a:prstGeom prst="rect">
              <a:avLst/>
            </a:prstGeom>
            <a:solidFill>
              <a:srgbClr val="DFF0D2"/>
            </a:solidFill>
            <a:ln>
              <a:noFill/>
            </a:ln>
          </p:spPr>
        </p:sp>
        <p:sp>
          <p:nvSpPr>
            <p:cNvPr id="89" name="TextBox 89"/>
            <p:cNvSpPr txBox="1"/>
            <p:nvPr/>
          </p:nvSpPr>
          <p:spPr>
            <a:xfrm>
              <a:off x="7567117" y="4056936"/>
              <a:ext cx="29626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留存率</a:t>
              </a:r>
            </a:p>
          </p:txBody>
        </p:sp>
        <p:sp>
          <p:nvSpPr>
            <p:cNvPr id="90" name="Rectangle 90"/>
            <p:cNvSpPr/>
            <p:nvPr/>
          </p:nvSpPr>
          <p:spPr>
            <a:xfrm>
              <a:off x="4762500" y="4476750"/>
              <a:ext cx="3429000" cy="819150"/>
            </a:xfrm>
            <a:prstGeom prst="rect">
              <a:avLst/>
            </a:prstGeom>
            <a:solidFill>
              <a:srgbClr val="F4F8EF"/>
            </a:solidFill>
            <a:ln>
              <a:noFill/>
            </a:ln>
          </p:spPr>
        </p:sp>
        <p:sp>
          <p:nvSpPr>
            <p:cNvPr id="91" name="TextBox 91"/>
            <p:cNvSpPr txBox="1"/>
            <p:nvPr/>
          </p:nvSpPr>
          <p:spPr>
            <a:xfrm>
              <a:off x="6251461" y="455914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全度量域</a:t>
              </a:r>
            </a:p>
          </p:txBody>
        </p:sp>
        <p:sp>
          <p:nvSpPr>
            <p:cNvPr id="92" name="TextBox 92"/>
            <p:cNvSpPr txBox="1"/>
            <p:nvPr/>
          </p:nvSpPr>
          <p:spPr>
            <a:xfrm>
              <a:off x="5013642" y="4822984"/>
              <a:ext cx="354965"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333333"/>
                  </a:solidFill>
                  <a:latin typeface="+mn-lt"/>
                  <a:ea typeface="+mn-ea"/>
                  <a:cs typeface="+mn-cs"/>
                </a:rPr>
                <a:t>售后服务</a:t>
              </a:r>
              <a:br/>
              <a:r>
                <a:rPr lang="zh-CN" sz="680" dirty="0">
                  <a:solidFill>
                    <a:srgbClr val="333333"/>
                  </a:solidFill>
                  <a:latin typeface="+mn-lt"/>
                  <a:ea typeface="+mn-ea"/>
                  <a:cs typeface="+mn-cs"/>
                </a:rPr>
                <a:t>产生复购</a:t>
              </a:r>
            </a:p>
          </p:txBody>
        </p:sp>
        <p:sp>
          <p:nvSpPr>
            <p:cNvPr id="93" name="TextBox 93"/>
            <p:cNvSpPr txBox="1"/>
            <p:nvPr/>
          </p:nvSpPr>
          <p:spPr>
            <a:xfrm>
              <a:off x="5711050" y="4777978"/>
              <a:ext cx="160299" cy="111919"/>
            </a:xfrm>
            <a:prstGeom prst="rect">
              <a:avLst/>
            </a:prstGeom>
            <a:noFill/>
            <a:ln>
              <a:noFill/>
            </a:ln>
          </p:spPr>
          <p:txBody>
            <a:bodyPr wrap="none" lIns="0" tIns="0" rIns="0" bIns="0" anchor="t" anchorCtr="0">
              <a:spAutoFit/>
            </a:bodyPr>
            <a:lstStyle/>
            <a:p>
              <a:pPr algn="ctr"/>
              <a:r>
                <a:rPr lang="zh-CN" sz="560" dirty="0">
                  <a:solidFill>
                    <a:srgbClr val="595959"/>
                  </a:solidFill>
                  <a:latin typeface="+mn-lt"/>
                  <a:ea typeface="+mn-ea"/>
                  <a:cs typeface="+mn-cs"/>
                </a:rPr>
                <a:t>匹配</a:t>
              </a:r>
            </a:p>
          </p:txBody>
        </p:sp>
        <p:sp>
          <p:nvSpPr>
            <p:cNvPr id="94" name="Line 94"/>
            <p:cNvSpPr/>
            <p:nvPr/>
          </p:nvSpPr>
          <p:spPr>
            <a:xfrm>
              <a:off x="5524500" y="4914900"/>
              <a:ext cx="533400" cy="1"/>
            </a:xfrm>
            <a:prstGeom prst="line">
              <a:avLst/>
            </a:prstGeom>
            <a:noFill/>
            <a:ln w="9525">
              <a:solidFill>
                <a:srgbClr val="8C8C8C"/>
              </a:solidFill>
              <a:headEnd type="triangle" w="lg" len="lg"/>
              <a:tailEnd type="triangle" w="lg" len="lg"/>
            </a:ln>
          </p:spPr>
        </p:sp>
        <p:sp>
          <p:nvSpPr>
            <p:cNvPr id="95" name="TextBox 95"/>
            <p:cNvSpPr txBox="1"/>
            <p:nvPr/>
          </p:nvSpPr>
          <p:spPr>
            <a:xfrm>
              <a:off x="6299518" y="4822984"/>
              <a:ext cx="354965"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333333"/>
                  </a:solidFill>
                  <a:latin typeface="+mn-lt"/>
                  <a:ea typeface="+mn-ea"/>
                  <a:cs typeface="+mn-cs"/>
                </a:rPr>
                <a:t>客户运营</a:t>
              </a:r>
              <a:br/>
              <a:r>
                <a:rPr lang="zh-CN" sz="680" dirty="0">
                  <a:solidFill>
                    <a:srgbClr val="333333"/>
                  </a:solidFill>
                  <a:latin typeface="+mn-lt"/>
                  <a:ea typeface="+mn-ea"/>
                  <a:cs typeface="+mn-cs"/>
                </a:rPr>
                <a:t>追加销售</a:t>
              </a:r>
            </a:p>
          </p:txBody>
        </p:sp>
        <p:sp>
          <p:nvSpPr>
            <p:cNvPr id="96" name="TextBox 96"/>
            <p:cNvSpPr txBox="1"/>
            <p:nvPr/>
          </p:nvSpPr>
          <p:spPr>
            <a:xfrm>
              <a:off x="7082650" y="4777978"/>
              <a:ext cx="160299" cy="111919"/>
            </a:xfrm>
            <a:prstGeom prst="rect">
              <a:avLst/>
            </a:prstGeom>
            <a:noFill/>
            <a:ln>
              <a:noFill/>
            </a:ln>
          </p:spPr>
          <p:txBody>
            <a:bodyPr wrap="none" lIns="0" tIns="0" rIns="0" bIns="0" anchor="t" anchorCtr="0">
              <a:spAutoFit/>
            </a:bodyPr>
            <a:lstStyle/>
            <a:p>
              <a:pPr algn="ctr"/>
              <a:r>
                <a:rPr lang="zh-CN" sz="560" dirty="0">
                  <a:solidFill>
                    <a:srgbClr val="595959"/>
                  </a:solidFill>
                  <a:latin typeface="+mn-lt"/>
                  <a:ea typeface="+mn-ea"/>
                  <a:cs typeface="+mn-cs"/>
                </a:rPr>
                <a:t>匹配</a:t>
              </a:r>
            </a:p>
          </p:txBody>
        </p:sp>
        <p:sp>
          <p:nvSpPr>
            <p:cNvPr id="97" name="Line 97"/>
            <p:cNvSpPr/>
            <p:nvPr/>
          </p:nvSpPr>
          <p:spPr>
            <a:xfrm>
              <a:off x="6896100" y="4914900"/>
              <a:ext cx="533400" cy="1"/>
            </a:xfrm>
            <a:prstGeom prst="line">
              <a:avLst/>
            </a:prstGeom>
            <a:noFill/>
            <a:ln w="9525">
              <a:solidFill>
                <a:srgbClr val="8C8C8C"/>
              </a:solidFill>
              <a:headEnd type="triangle" w="lg" len="lg"/>
              <a:tailEnd type="triangle" w="lg" len="lg"/>
            </a:ln>
          </p:spPr>
        </p:sp>
        <p:sp>
          <p:nvSpPr>
            <p:cNvPr id="98" name="TextBox 98"/>
            <p:cNvSpPr txBox="1"/>
            <p:nvPr/>
          </p:nvSpPr>
          <p:spPr>
            <a:xfrm>
              <a:off x="7585392" y="4822984"/>
              <a:ext cx="354965"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333333"/>
                  </a:solidFill>
                  <a:latin typeface="+mn-lt"/>
                  <a:ea typeface="+mn-ea"/>
                  <a:cs typeface="+mn-cs"/>
                </a:rPr>
                <a:t>售后服务</a:t>
              </a:r>
              <a:br/>
              <a:r>
                <a:rPr lang="zh-CN" sz="680" dirty="0">
                  <a:solidFill>
                    <a:srgbClr val="333333"/>
                  </a:solidFill>
                  <a:latin typeface="+mn-lt"/>
                  <a:ea typeface="+mn-ea"/>
                  <a:cs typeface="+mn-cs"/>
                </a:rPr>
                <a:t>产生复购</a:t>
              </a:r>
            </a:p>
          </p:txBody>
        </p:sp>
      </p:grpSp>
      <p:grpSp>
        <p:nvGrpSpPr>
          <p:cNvPr id="127" name="col-retention"/>
          <p:cNvGrpSpPr/>
          <p:nvPr/>
        </p:nvGrpSpPr>
        <p:grpSpPr>
          <a:xfrm>
            <a:off x="8477250" y="952500"/>
            <a:ext cx="3333750" cy="3638550"/>
            <a:chOff x="8477250" y="952500"/>
            <a:chExt cx="3333750" cy="3638550"/>
          </a:xfrm>
        </p:grpSpPr>
        <p:sp>
          <p:nvSpPr>
            <p:cNvPr id="100" name="Rectangle 100"/>
            <p:cNvSpPr/>
            <p:nvPr/>
          </p:nvSpPr>
          <p:spPr>
            <a:xfrm>
              <a:off x="8477250" y="952500"/>
              <a:ext cx="3333750" cy="266700"/>
            </a:xfrm>
            <a:prstGeom prst="roundRect">
              <a:avLst>
                <a:gd name="adj" fmla="val 14286"/>
              </a:avLst>
            </a:prstGeom>
            <a:solidFill>
              <a:srgbClr val="F7B9AE"/>
            </a:solidFill>
            <a:ln>
              <a:noFill/>
            </a:ln>
          </p:spPr>
        </p:sp>
        <p:sp>
          <p:nvSpPr>
            <p:cNvPr id="101" name="TextBox 101"/>
            <p:cNvSpPr txBox="1"/>
            <p:nvPr/>
          </p:nvSpPr>
          <p:spPr>
            <a:xfrm>
              <a:off x="9610700" y="1021556"/>
              <a:ext cx="1066851" cy="220028"/>
            </a:xfrm>
            <a:prstGeom prst="rect">
              <a:avLst/>
            </a:prstGeom>
            <a:noFill/>
            <a:ln>
              <a:noFill/>
            </a:ln>
          </p:spPr>
          <p:txBody>
            <a:bodyPr wrap="none" lIns="0" tIns="0" rIns="0" bIns="0" anchor="t" anchorCtr="0">
              <a:spAutoFit/>
            </a:bodyPr>
            <a:lstStyle/>
            <a:p>
              <a:pPr algn="ctr"/>
              <a:r>
                <a:rPr lang="zh-CN" sz="1120" b="1" dirty="0">
                  <a:solidFill>
                    <a:srgbClr val="8A2210"/>
                  </a:solidFill>
                  <a:latin typeface="+mn-lt"/>
                  <a:ea typeface="+mn-ea"/>
                  <a:cs typeface="+mn-cs"/>
                </a:rPr>
                <a:t>智能化留存分析</a:t>
              </a:r>
            </a:p>
          </p:txBody>
        </p:sp>
        <p:sp>
          <p:nvSpPr>
            <p:cNvPr id="102" name="TextBox 102"/>
            <p:cNvSpPr txBox="1"/>
            <p:nvPr/>
          </p:nvSpPr>
          <p:spPr>
            <a:xfrm>
              <a:off x="10420922" y="1464945"/>
              <a:ext cx="494157"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项目启动</a:t>
              </a:r>
            </a:p>
          </p:txBody>
        </p:sp>
        <p:sp>
          <p:nvSpPr>
            <p:cNvPr id="103" name="TextBox 103"/>
            <p:cNvSpPr txBox="1"/>
            <p:nvPr/>
          </p:nvSpPr>
          <p:spPr>
            <a:xfrm>
              <a:off x="8567738" y="2300288"/>
              <a:ext cx="104775" cy="1262062"/>
            </a:xfrm>
            <a:prstGeom prst="rect">
              <a:avLst/>
            </a:prstGeom>
            <a:noFill/>
            <a:ln>
              <a:noFill/>
            </a:ln>
          </p:spPr>
          <p:txBody>
            <a:bodyPr wrap="none" lIns="0" tIns="0" rIns="0" bIns="0" anchor="t" anchorCtr="0">
              <a:spAutoFit/>
            </a:bodyPr>
            <a:lstStyle/>
            <a:p>
              <a:pPr algn="ctr">
                <a:lnSpc>
                  <a:spcPts val="975"/>
                </a:lnSpc>
              </a:pPr>
              <a:r>
                <a:rPr lang="zh-CN" sz="750" dirty="0">
                  <a:solidFill>
                    <a:srgbClr val="333333"/>
                  </a:solidFill>
                  <a:latin typeface="+mn-lt"/>
                  <a:ea typeface="+mn-ea"/>
                  <a:cs typeface="+mn-cs"/>
                </a:rPr>
                <a:t>判</a:t>
              </a:r>
              <a:br/>
              <a:r>
                <a:rPr lang="zh-CN" sz="750" dirty="0">
                  <a:solidFill>
                    <a:srgbClr val="333333"/>
                  </a:solidFill>
                  <a:latin typeface="+mn-lt"/>
                  <a:ea typeface="+mn-ea"/>
                  <a:cs typeface="+mn-cs"/>
                </a:rPr>
                <a:t>别</a:t>
              </a:r>
              <a:br/>
              <a:r>
                <a:rPr lang="zh-CN" sz="750" dirty="0">
                  <a:solidFill>
                    <a:srgbClr val="333333"/>
                  </a:solidFill>
                  <a:latin typeface="+mn-lt"/>
                  <a:ea typeface="+mn-ea"/>
                  <a:cs typeface="+mn-cs"/>
                </a:rPr>
                <a:t>企</a:t>
              </a:r>
              <a:br/>
              <a:r>
                <a:rPr lang="zh-CN" sz="750" dirty="0">
                  <a:solidFill>
                    <a:srgbClr val="333333"/>
                  </a:solidFill>
                  <a:latin typeface="+mn-lt"/>
                  <a:ea typeface="+mn-ea"/>
                  <a:cs typeface="+mn-cs"/>
                </a:rPr>
                <a:t>业</a:t>
              </a:r>
              <a:br/>
              <a:r>
                <a:rPr lang="zh-CN" sz="750" dirty="0">
                  <a:solidFill>
                    <a:srgbClr val="333333"/>
                  </a:solidFill>
                  <a:latin typeface="+mn-lt"/>
                  <a:ea typeface="+mn-ea"/>
                  <a:cs typeface="+mn-cs"/>
                </a:rPr>
                <a:t>核</a:t>
              </a:r>
              <a:br/>
              <a:r>
                <a:rPr lang="zh-CN" sz="750" dirty="0">
                  <a:solidFill>
                    <a:srgbClr val="333333"/>
                  </a:solidFill>
                  <a:latin typeface="+mn-lt"/>
                  <a:ea typeface="+mn-ea"/>
                  <a:cs typeface="+mn-cs"/>
                </a:rPr>
                <a:t>心</a:t>
              </a:r>
              <a:br/>
              <a:r>
                <a:rPr lang="zh-CN" sz="750" dirty="0">
                  <a:solidFill>
                    <a:srgbClr val="333333"/>
                  </a:solidFill>
                  <a:latin typeface="+mn-lt"/>
                  <a:ea typeface="+mn-ea"/>
                  <a:cs typeface="+mn-cs"/>
                </a:rPr>
                <a:t>资</a:t>
              </a:r>
              <a:br/>
              <a:r>
                <a:rPr lang="zh-CN" sz="750" dirty="0">
                  <a:solidFill>
                    <a:srgbClr val="333333"/>
                  </a:solidFill>
                  <a:latin typeface="+mn-lt"/>
                  <a:ea typeface="+mn-ea"/>
                  <a:cs typeface="+mn-cs"/>
                </a:rPr>
                <a:t>源</a:t>
              </a:r>
              <a:br/>
              <a:r>
                <a:rPr lang="zh-CN" sz="750" dirty="0">
                  <a:solidFill>
                    <a:srgbClr val="333333"/>
                  </a:solidFill>
                  <a:latin typeface="+mn-lt"/>
                  <a:ea typeface="+mn-ea"/>
                  <a:cs typeface="+mn-cs"/>
                </a:rPr>
                <a:t>系</a:t>
              </a:r>
              <a:br/>
              <a:r>
                <a:rPr lang="zh-CN" sz="750" dirty="0">
                  <a:solidFill>
                    <a:srgbClr val="333333"/>
                  </a:solidFill>
                  <a:latin typeface="+mn-lt"/>
                  <a:ea typeface="+mn-ea"/>
                  <a:cs typeface="+mn-cs"/>
                </a:rPr>
                <a:t>统</a:t>
              </a:r>
            </a:p>
          </p:txBody>
        </p:sp>
        <p:sp>
          <p:nvSpPr>
            <p:cNvPr id="104" name="Line 104"/>
            <p:cNvSpPr/>
            <p:nvPr/>
          </p:nvSpPr>
          <p:spPr>
            <a:xfrm>
              <a:off x="8743950" y="1838325"/>
              <a:ext cx="9525" cy="2533650"/>
            </a:xfrm>
            <a:custGeom>
              <a:avLst/>
              <a:gdLst/>
              <a:ahLst/>
              <a:cxnLst/>
              <a:rect l="l" t="t" r="r" b="b"/>
              <a:pathLst>
                <a:path w="9525" h="2533650">
                  <a:moveTo>
                    <a:pt x="0" y="0"/>
                  </a:moveTo>
                  <a:lnTo>
                    <a:pt x="0" y="2533650"/>
                  </a:lnTo>
                </a:path>
              </a:pathLst>
            </a:custGeom>
            <a:noFill/>
            <a:ln w="9525">
              <a:solidFill>
                <a:srgbClr val="BF857A"/>
              </a:solidFill>
              <a:custDash>
                <a:ds d="300000" sp="200000"/>
              </a:custDash>
            </a:ln>
          </p:spPr>
        </p:sp>
        <p:sp>
          <p:nvSpPr>
            <p:cNvPr id="105" name="Rectangle 105"/>
            <p:cNvSpPr/>
            <p:nvPr/>
          </p:nvSpPr>
          <p:spPr>
            <a:xfrm>
              <a:off x="8905875" y="1676400"/>
              <a:ext cx="1047750" cy="323850"/>
            </a:xfrm>
            <a:prstGeom prst="rect">
              <a:avLst/>
            </a:prstGeom>
            <a:solidFill>
              <a:srgbClr val="FFFFFF"/>
            </a:solidFill>
            <a:ln w="9525">
              <a:solidFill>
                <a:srgbClr val="BF857A"/>
              </a:solidFill>
            </a:ln>
          </p:spPr>
        </p:sp>
        <p:sp>
          <p:nvSpPr>
            <p:cNvPr id="106" name="TextBox 106"/>
            <p:cNvSpPr txBox="1"/>
            <p:nvPr/>
          </p:nvSpPr>
          <p:spPr>
            <a:xfrm>
              <a:off x="9273540" y="1804988"/>
              <a:ext cx="31242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稀缺性</a:t>
              </a:r>
            </a:p>
          </p:txBody>
        </p:sp>
        <p:sp>
          <p:nvSpPr>
            <p:cNvPr id="107" name="Rectangle 107"/>
            <p:cNvSpPr/>
            <p:nvPr/>
          </p:nvSpPr>
          <p:spPr>
            <a:xfrm>
              <a:off x="8905875" y="2038350"/>
              <a:ext cx="1047750" cy="323850"/>
            </a:xfrm>
            <a:prstGeom prst="rect">
              <a:avLst/>
            </a:prstGeom>
            <a:solidFill>
              <a:srgbClr val="FFFFFF"/>
            </a:solidFill>
            <a:ln w="9525">
              <a:solidFill>
                <a:srgbClr val="BF857A"/>
              </a:solidFill>
            </a:ln>
          </p:spPr>
        </p:sp>
        <p:sp>
          <p:nvSpPr>
            <p:cNvPr id="108" name="TextBox 108"/>
            <p:cNvSpPr txBox="1"/>
            <p:nvPr/>
          </p:nvSpPr>
          <p:spPr>
            <a:xfrm>
              <a:off x="9172575" y="2166938"/>
              <a:ext cx="51435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独一无二性</a:t>
              </a:r>
            </a:p>
          </p:txBody>
        </p:sp>
        <p:sp>
          <p:nvSpPr>
            <p:cNvPr id="109" name="Rectangle 109"/>
            <p:cNvSpPr/>
            <p:nvPr/>
          </p:nvSpPr>
          <p:spPr>
            <a:xfrm>
              <a:off x="8905875" y="2400300"/>
              <a:ext cx="1047750" cy="323850"/>
            </a:xfrm>
            <a:prstGeom prst="rect">
              <a:avLst/>
            </a:prstGeom>
            <a:solidFill>
              <a:srgbClr val="FFFFFF"/>
            </a:solidFill>
            <a:ln w="9525">
              <a:solidFill>
                <a:srgbClr val="BF857A"/>
              </a:solidFill>
            </a:ln>
          </p:spPr>
        </p:sp>
        <p:sp>
          <p:nvSpPr>
            <p:cNvPr id="110" name="TextBox 110"/>
            <p:cNvSpPr txBox="1"/>
            <p:nvPr/>
          </p:nvSpPr>
          <p:spPr>
            <a:xfrm>
              <a:off x="9273540" y="2528888"/>
              <a:ext cx="31242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持续性</a:t>
              </a:r>
            </a:p>
          </p:txBody>
        </p:sp>
        <p:sp>
          <p:nvSpPr>
            <p:cNvPr id="111" name="Rectangle 111"/>
            <p:cNvSpPr/>
            <p:nvPr/>
          </p:nvSpPr>
          <p:spPr>
            <a:xfrm>
              <a:off x="8905875" y="2762250"/>
              <a:ext cx="1047750" cy="323850"/>
            </a:xfrm>
            <a:prstGeom prst="rect">
              <a:avLst/>
            </a:prstGeom>
            <a:solidFill>
              <a:srgbClr val="FFFFFF"/>
            </a:solidFill>
            <a:ln w="9525">
              <a:solidFill>
                <a:srgbClr val="BF857A"/>
              </a:solidFill>
            </a:ln>
          </p:spPr>
        </p:sp>
        <p:sp>
          <p:nvSpPr>
            <p:cNvPr id="112" name="TextBox 112"/>
            <p:cNvSpPr txBox="1"/>
            <p:nvPr/>
          </p:nvSpPr>
          <p:spPr>
            <a:xfrm>
              <a:off x="9273540" y="2890838"/>
              <a:ext cx="31242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专用性</a:t>
              </a:r>
            </a:p>
          </p:txBody>
        </p:sp>
        <p:sp>
          <p:nvSpPr>
            <p:cNvPr id="113" name="Rectangle 113"/>
            <p:cNvSpPr/>
            <p:nvPr/>
          </p:nvSpPr>
          <p:spPr>
            <a:xfrm>
              <a:off x="8905875" y="3124200"/>
              <a:ext cx="1047750" cy="323850"/>
            </a:xfrm>
            <a:prstGeom prst="rect">
              <a:avLst/>
            </a:prstGeom>
            <a:solidFill>
              <a:srgbClr val="FFFFFF"/>
            </a:solidFill>
            <a:ln w="9525">
              <a:solidFill>
                <a:srgbClr val="BF857A"/>
              </a:solidFill>
            </a:ln>
          </p:spPr>
        </p:sp>
        <p:sp>
          <p:nvSpPr>
            <p:cNvPr id="114" name="TextBox 114"/>
            <p:cNvSpPr txBox="1"/>
            <p:nvPr/>
          </p:nvSpPr>
          <p:spPr>
            <a:xfrm>
              <a:off x="9172575" y="3252788"/>
              <a:ext cx="51435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不可模仿性</a:t>
              </a:r>
            </a:p>
          </p:txBody>
        </p:sp>
        <p:sp>
          <p:nvSpPr>
            <p:cNvPr id="115" name="Rectangle 115"/>
            <p:cNvSpPr/>
            <p:nvPr/>
          </p:nvSpPr>
          <p:spPr>
            <a:xfrm>
              <a:off x="8905875" y="3486150"/>
              <a:ext cx="1047750" cy="323850"/>
            </a:xfrm>
            <a:prstGeom prst="rect">
              <a:avLst/>
            </a:prstGeom>
            <a:solidFill>
              <a:srgbClr val="FFFFFF"/>
            </a:solidFill>
            <a:ln w="9525">
              <a:solidFill>
                <a:srgbClr val="BF857A"/>
              </a:solidFill>
            </a:ln>
          </p:spPr>
        </p:sp>
        <p:sp>
          <p:nvSpPr>
            <p:cNvPr id="116" name="TextBox 116"/>
            <p:cNvSpPr txBox="1"/>
            <p:nvPr/>
          </p:nvSpPr>
          <p:spPr>
            <a:xfrm>
              <a:off x="9223058" y="3614738"/>
              <a:ext cx="413385"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非交易性</a:t>
              </a:r>
            </a:p>
          </p:txBody>
        </p:sp>
        <p:sp>
          <p:nvSpPr>
            <p:cNvPr id="117" name="Rectangle 117"/>
            <p:cNvSpPr/>
            <p:nvPr/>
          </p:nvSpPr>
          <p:spPr>
            <a:xfrm>
              <a:off x="8905875" y="3848100"/>
              <a:ext cx="1047750" cy="323850"/>
            </a:xfrm>
            <a:prstGeom prst="rect">
              <a:avLst/>
            </a:prstGeom>
            <a:solidFill>
              <a:srgbClr val="FFFFFF"/>
            </a:solidFill>
            <a:ln w="9525">
              <a:solidFill>
                <a:srgbClr val="BF857A"/>
              </a:solidFill>
            </a:ln>
          </p:spPr>
        </p:sp>
        <p:sp>
          <p:nvSpPr>
            <p:cNvPr id="118" name="TextBox 118"/>
            <p:cNvSpPr txBox="1"/>
            <p:nvPr/>
          </p:nvSpPr>
          <p:spPr>
            <a:xfrm>
              <a:off x="9273540" y="3976688"/>
              <a:ext cx="31242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无形性</a:t>
              </a:r>
            </a:p>
          </p:txBody>
        </p:sp>
        <p:sp>
          <p:nvSpPr>
            <p:cNvPr id="119" name="Rectangle 119"/>
            <p:cNvSpPr/>
            <p:nvPr/>
          </p:nvSpPr>
          <p:spPr>
            <a:xfrm>
              <a:off x="8905875" y="4210050"/>
              <a:ext cx="1047750" cy="323850"/>
            </a:xfrm>
            <a:prstGeom prst="rect">
              <a:avLst/>
            </a:prstGeom>
            <a:solidFill>
              <a:srgbClr val="FFFFFF"/>
            </a:solidFill>
            <a:ln w="9525">
              <a:solidFill>
                <a:srgbClr val="BF857A"/>
              </a:solidFill>
            </a:ln>
          </p:spPr>
        </p:sp>
        <p:sp>
          <p:nvSpPr>
            <p:cNvPr id="120" name="TextBox 120"/>
            <p:cNvSpPr txBox="1"/>
            <p:nvPr/>
          </p:nvSpPr>
          <p:spPr>
            <a:xfrm>
              <a:off x="9223058" y="4338638"/>
              <a:ext cx="413385"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非替代性</a:t>
              </a:r>
            </a:p>
          </p:txBody>
        </p:sp>
        <p:sp>
          <p:nvSpPr>
            <p:cNvPr id="121" name="Line 121"/>
            <p:cNvSpPr/>
            <p:nvPr/>
          </p:nvSpPr>
          <p:spPr>
            <a:xfrm>
              <a:off x="9953625" y="1838325"/>
              <a:ext cx="809625" cy="9525"/>
            </a:xfrm>
            <a:custGeom>
              <a:avLst/>
              <a:gdLst/>
              <a:ahLst/>
              <a:cxnLst/>
              <a:rect l="l" t="t" r="r" b="b"/>
              <a:pathLst>
                <a:path w="809625" h="9525">
                  <a:moveTo>
                    <a:pt x="0" y="0"/>
                  </a:moveTo>
                  <a:lnTo>
                    <a:pt x="809625" y="0"/>
                  </a:lnTo>
                </a:path>
              </a:pathLst>
            </a:custGeom>
            <a:noFill/>
            <a:ln w="9525">
              <a:solidFill>
                <a:srgbClr val="BF857A"/>
              </a:solidFill>
              <a:custDash>
                <a:ds d="300000" sp="200000"/>
              </a:custDash>
            </a:ln>
          </p:spPr>
        </p:sp>
        <p:sp>
          <p:nvSpPr>
            <p:cNvPr id="122" name="Line 122"/>
            <p:cNvSpPr/>
            <p:nvPr/>
          </p:nvSpPr>
          <p:spPr>
            <a:xfrm>
              <a:off x="9953625" y="4371975"/>
              <a:ext cx="809625" cy="9525"/>
            </a:xfrm>
            <a:custGeom>
              <a:avLst/>
              <a:gdLst/>
              <a:ahLst/>
              <a:cxnLst/>
              <a:rect l="l" t="t" r="r" b="b"/>
              <a:pathLst>
                <a:path w="809625" h="9525">
                  <a:moveTo>
                    <a:pt x="0" y="0"/>
                  </a:moveTo>
                  <a:lnTo>
                    <a:pt x="809625" y="0"/>
                  </a:lnTo>
                </a:path>
              </a:pathLst>
            </a:custGeom>
            <a:noFill/>
            <a:ln w="9525">
              <a:solidFill>
                <a:srgbClr val="E9563C"/>
              </a:solidFill>
              <a:custDash>
                <a:ds d="300000" sp="200000"/>
              </a:custDash>
            </a:ln>
          </p:spPr>
        </p:sp>
        <p:sp>
          <p:nvSpPr>
            <p:cNvPr id="123" name="Freeform 123"/>
            <p:cNvSpPr/>
            <p:nvPr/>
          </p:nvSpPr>
          <p:spPr>
            <a:xfrm>
              <a:off x="10763250" y="1676400"/>
              <a:ext cx="476250" cy="1809750"/>
            </a:xfrm>
            <a:prstGeom prst="upDownArrow">
              <a:avLst/>
            </a:prstGeom>
            <a:solidFill>
              <a:srgbClr val="9C594C"/>
            </a:solidFill>
            <a:ln>
              <a:noFill/>
            </a:ln>
          </p:spPr>
        </p:sp>
        <p:sp>
          <p:nvSpPr>
            <p:cNvPr id="124" name="TextBox 124"/>
            <p:cNvSpPr txBox="1"/>
            <p:nvPr/>
          </p:nvSpPr>
          <p:spPr>
            <a:xfrm>
              <a:off x="10948988" y="2300288"/>
              <a:ext cx="104775" cy="547688"/>
            </a:xfrm>
            <a:prstGeom prst="rect">
              <a:avLst/>
            </a:prstGeom>
            <a:noFill/>
            <a:ln>
              <a:noFill/>
            </a:ln>
          </p:spPr>
          <p:txBody>
            <a:bodyPr wrap="none" lIns="0" tIns="0" rIns="0" bIns="0" anchor="t" anchorCtr="0">
              <a:spAutoFit/>
            </a:bodyPr>
            <a:lstStyle/>
            <a:p>
              <a:pPr algn="ctr">
                <a:lnSpc>
                  <a:spcPts val="1050"/>
                </a:lnSpc>
              </a:pPr>
              <a:r>
                <a:rPr lang="zh-CN" sz="750" b="1" dirty="0">
                  <a:solidFill>
                    <a:srgbClr val="FFFFFF"/>
                  </a:solidFill>
                  <a:latin typeface="+mn-lt"/>
                  <a:ea typeface="+mn-ea"/>
                  <a:cs typeface="+mn-cs"/>
                </a:rPr>
                <a:t>环</a:t>
              </a:r>
              <a:br/>
              <a:r>
                <a:rPr lang="zh-CN" sz="750" b="1" dirty="0">
                  <a:solidFill>
                    <a:srgbClr val="FFFFFF"/>
                  </a:solidFill>
                  <a:latin typeface="+mn-lt"/>
                  <a:ea typeface="+mn-ea"/>
                  <a:cs typeface="+mn-cs"/>
                </a:rPr>
                <a:t>境</a:t>
              </a:r>
              <a:br/>
              <a:r>
                <a:rPr lang="zh-CN" sz="750" b="1" dirty="0">
                  <a:solidFill>
                    <a:srgbClr val="FFFFFF"/>
                  </a:solidFill>
                  <a:latin typeface="+mn-lt"/>
                  <a:ea typeface="+mn-ea"/>
                  <a:cs typeface="+mn-cs"/>
                </a:rPr>
                <a:t>分</a:t>
              </a:r>
              <a:br/>
              <a:r>
                <a:rPr lang="zh-CN" sz="750" b="1" dirty="0">
                  <a:solidFill>
                    <a:srgbClr val="FFFFFF"/>
                  </a:solidFill>
                  <a:latin typeface="+mn-lt"/>
                  <a:ea typeface="+mn-ea"/>
                  <a:cs typeface="+mn-cs"/>
                </a:rPr>
                <a:t>析</a:t>
              </a:r>
            </a:p>
          </p:txBody>
        </p:sp>
        <p:sp>
          <p:nvSpPr>
            <p:cNvPr id="125" name="Freeform 125"/>
            <p:cNvSpPr/>
            <p:nvPr/>
          </p:nvSpPr>
          <p:spPr>
            <a:xfrm>
              <a:off x="10763250" y="3543300"/>
              <a:ext cx="476250" cy="1047750"/>
            </a:xfrm>
            <a:prstGeom prst="upDownArrow">
              <a:avLst/>
            </a:prstGeom>
            <a:solidFill>
              <a:srgbClr val="E9563C"/>
            </a:solidFill>
            <a:ln>
              <a:noFill/>
            </a:ln>
          </p:spPr>
        </p:sp>
        <p:sp>
          <p:nvSpPr>
            <p:cNvPr id="126" name="TextBox 126"/>
            <p:cNvSpPr txBox="1"/>
            <p:nvPr/>
          </p:nvSpPr>
          <p:spPr>
            <a:xfrm>
              <a:off x="10948988" y="3843338"/>
              <a:ext cx="104775" cy="547688"/>
            </a:xfrm>
            <a:prstGeom prst="rect">
              <a:avLst/>
            </a:prstGeom>
            <a:noFill/>
            <a:ln>
              <a:noFill/>
            </a:ln>
          </p:spPr>
          <p:txBody>
            <a:bodyPr wrap="none" lIns="0" tIns="0" rIns="0" bIns="0" anchor="t" anchorCtr="0">
              <a:spAutoFit/>
            </a:bodyPr>
            <a:lstStyle/>
            <a:p>
              <a:pPr algn="ctr">
                <a:lnSpc>
                  <a:spcPts val="1050"/>
                </a:lnSpc>
              </a:pPr>
              <a:r>
                <a:rPr lang="zh-CN" sz="750" b="1" dirty="0">
                  <a:solidFill>
                    <a:srgbClr val="FFFFFF"/>
                  </a:solidFill>
                  <a:latin typeface="+mn-lt"/>
                  <a:ea typeface="+mn-ea"/>
                  <a:cs typeface="+mn-cs"/>
                </a:rPr>
                <a:t>战</a:t>
              </a:r>
              <a:br/>
              <a:r>
                <a:rPr lang="zh-CN" sz="750" b="1" dirty="0">
                  <a:solidFill>
                    <a:srgbClr val="FFFFFF"/>
                  </a:solidFill>
                  <a:latin typeface="+mn-lt"/>
                  <a:ea typeface="+mn-ea"/>
                  <a:cs typeface="+mn-cs"/>
                </a:rPr>
                <a:t>略</a:t>
              </a:r>
              <a:br/>
              <a:r>
                <a:rPr lang="zh-CN" sz="750" b="1" dirty="0">
                  <a:solidFill>
                    <a:srgbClr val="FFFFFF"/>
                  </a:solidFill>
                  <a:latin typeface="+mn-lt"/>
                  <a:ea typeface="+mn-ea"/>
                  <a:cs typeface="+mn-cs"/>
                </a:rPr>
                <a:t>制</a:t>
              </a:r>
              <a:br/>
              <a:r>
                <a:rPr lang="zh-CN" sz="750" b="1" dirty="0">
                  <a:solidFill>
                    <a:srgbClr val="FFFFFF"/>
                  </a:solidFill>
                  <a:latin typeface="+mn-lt"/>
                  <a:ea typeface="+mn-ea"/>
                  <a:cs typeface="+mn-cs"/>
                </a:rPr>
                <a:t>定</a:t>
              </a:r>
            </a:p>
          </p:txBody>
        </p:sp>
      </p:grpSp>
      <p:grpSp>
        <p:nvGrpSpPr>
          <p:cNvPr id="138" name="col-tools"/>
          <p:cNvGrpSpPr/>
          <p:nvPr/>
        </p:nvGrpSpPr>
        <p:grpSpPr>
          <a:xfrm>
            <a:off x="8477250" y="4762500"/>
            <a:ext cx="3333750" cy="800100"/>
            <a:chOff x="8477250" y="4762500"/>
            <a:chExt cx="3333750" cy="800100"/>
          </a:xfrm>
        </p:grpSpPr>
        <p:sp>
          <p:nvSpPr>
            <p:cNvPr id="128" name="Rectangle 128"/>
            <p:cNvSpPr/>
            <p:nvPr/>
          </p:nvSpPr>
          <p:spPr>
            <a:xfrm>
              <a:off x="8477250" y="4762500"/>
              <a:ext cx="3333750" cy="800100"/>
            </a:xfrm>
            <a:prstGeom prst="rect">
              <a:avLst/>
            </a:prstGeom>
            <a:solidFill>
              <a:srgbClr val="F4F8EF"/>
            </a:solidFill>
            <a:ln>
              <a:noFill/>
            </a:ln>
          </p:spPr>
        </p:sp>
        <p:sp>
          <p:nvSpPr>
            <p:cNvPr id="129" name="Freeform 129"/>
            <p:cNvSpPr/>
            <p:nvPr/>
          </p:nvSpPr>
          <p:spPr>
            <a:xfrm>
              <a:off x="8667750" y="4876800"/>
              <a:ext cx="400050" cy="400050"/>
            </a:xfrm>
            <a:prstGeom prst="cube">
              <a:avLst/>
            </a:prstGeom>
            <a:solidFill>
              <a:srgbClr val="9C594C"/>
            </a:solidFill>
            <a:ln>
              <a:noFill/>
            </a:ln>
          </p:spPr>
        </p:sp>
        <p:sp>
          <p:nvSpPr>
            <p:cNvPr id="130" name="TextBox 130"/>
            <p:cNvSpPr txBox="1"/>
            <p:nvPr/>
          </p:nvSpPr>
          <p:spPr>
            <a:xfrm>
              <a:off x="8759530" y="508968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PS</a:t>
              </a:r>
            </a:p>
          </p:txBody>
        </p:sp>
        <p:sp>
          <p:nvSpPr>
            <p:cNvPr id="131" name="Freeform 131"/>
            <p:cNvSpPr/>
            <p:nvPr/>
          </p:nvSpPr>
          <p:spPr>
            <a:xfrm>
              <a:off x="9382125" y="4876800"/>
              <a:ext cx="400050" cy="400050"/>
            </a:xfrm>
            <a:prstGeom prst="cube">
              <a:avLst/>
            </a:prstGeom>
            <a:solidFill>
              <a:srgbClr val="E9563C"/>
            </a:solidFill>
            <a:ln>
              <a:noFill/>
            </a:ln>
          </p:spPr>
        </p:sp>
        <p:sp>
          <p:nvSpPr>
            <p:cNvPr id="132" name="TextBox 132"/>
            <p:cNvSpPr txBox="1"/>
            <p:nvPr/>
          </p:nvSpPr>
          <p:spPr>
            <a:xfrm>
              <a:off x="9486600" y="5089684"/>
              <a:ext cx="9585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AI</a:t>
              </a:r>
            </a:p>
          </p:txBody>
        </p:sp>
        <p:sp>
          <p:nvSpPr>
            <p:cNvPr id="133" name="Freeform 133"/>
            <p:cNvSpPr/>
            <p:nvPr/>
          </p:nvSpPr>
          <p:spPr>
            <a:xfrm>
              <a:off x="10096500" y="4876800"/>
              <a:ext cx="400050" cy="400050"/>
            </a:xfrm>
            <a:prstGeom prst="cube">
              <a:avLst/>
            </a:prstGeom>
            <a:solidFill>
              <a:srgbClr val="9C594C"/>
            </a:solidFill>
            <a:ln>
              <a:noFill/>
            </a:ln>
          </p:spPr>
        </p:sp>
        <p:sp>
          <p:nvSpPr>
            <p:cNvPr id="134" name="TextBox 134"/>
            <p:cNvSpPr txBox="1"/>
            <p:nvPr/>
          </p:nvSpPr>
          <p:spPr>
            <a:xfrm>
              <a:off x="10127643" y="5097780"/>
              <a:ext cx="242514" cy="119062"/>
            </a:xfrm>
            <a:prstGeom prst="rect">
              <a:avLst/>
            </a:prstGeom>
            <a:noFill/>
            <a:ln>
              <a:noFill/>
            </a:ln>
          </p:spPr>
          <p:txBody>
            <a:bodyPr wrap="none" lIns="0" tIns="0" rIns="0" bIns="0" anchor="t" anchorCtr="0">
              <a:spAutoFit/>
            </a:bodyPr>
            <a:lstStyle/>
            <a:p>
              <a:pPr algn="ctr"/>
              <a:r>
                <a:rPr lang="en-US" sz="600" b="1" dirty="0">
                  <a:solidFill>
                    <a:srgbClr val="FFFFFF"/>
                  </a:solidFill>
                  <a:latin typeface="+mn-lt"/>
                  <a:ea typeface="+mn-ea"/>
                  <a:cs typeface="+mn-cs"/>
                </a:rPr>
                <a:t>WORD</a:t>
              </a:r>
            </a:p>
          </p:txBody>
        </p:sp>
        <p:sp>
          <p:nvSpPr>
            <p:cNvPr id="135" name="Freeform 135"/>
            <p:cNvSpPr/>
            <p:nvPr/>
          </p:nvSpPr>
          <p:spPr>
            <a:xfrm>
              <a:off x="10810875" y="4876800"/>
              <a:ext cx="400050" cy="400050"/>
            </a:xfrm>
            <a:prstGeom prst="cube">
              <a:avLst/>
            </a:prstGeom>
            <a:solidFill>
              <a:srgbClr val="E9563C"/>
            </a:solidFill>
            <a:ln>
              <a:noFill/>
            </a:ln>
          </p:spPr>
        </p:sp>
        <p:sp>
          <p:nvSpPr>
            <p:cNvPr id="136" name="TextBox 136"/>
            <p:cNvSpPr txBox="1"/>
            <p:nvPr/>
          </p:nvSpPr>
          <p:spPr>
            <a:xfrm>
              <a:off x="10874726" y="5089684"/>
              <a:ext cx="177098"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PPT</a:t>
              </a:r>
            </a:p>
          </p:txBody>
        </p:sp>
        <p:sp>
          <p:nvSpPr>
            <p:cNvPr id="137" name="TextBox 137"/>
            <p:cNvSpPr txBox="1"/>
            <p:nvPr/>
          </p:nvSpPr>
          <p:spPr>
            <a:xfrm>
              <a:off x="9135770" y="5390436"/>
              <a:ext cx="2016709" cy="140494"/>
            </a:xfrm>
            <a:prstGeom prst="rect">
              <a:avLst/>
            </a:prstGeom>
            <a:noFill/>
            <a:ln>
              <a:noFill/>
            </a:ln>
          </p:spPr>
          <p:txBody>
            <a:bodyPr wrap="none" lIns="0" tIns="0" rIns="0" bIns="0" anchor="t" anchorCtr="0">
              <a:spAutoFit/>
            </a:bodyPr>
            <a:lstStyle/>
            <a:p>
              <a:pPr algn="ctr"/>
              <a:r>
                <a:rPr lang="zh-CN" sz="710" b="1" dirty="0">
                  <a:solidFill>
                    <a:srgbClr val="333333"/>
                  </a:solidFill>
                  <a:latin typeface="+mn-lt"/>
                  <a:ea typeface="+mn-ea"/>
                  <a:cs typeface="+mn-cs"/>
                </a:rPr>
                <a:t>熟练掌握各种专业技能，可以顺利完成各项任务</a:t>
              </a:r>
            </a:p>
          </p:txBody>
        </p:sp>
      </p:grpSp>
      <p:grpSp>
        <p:nvGrpSpPr>
          <p:cNvPr id="141" name="page-footer"/>
          <p:cNvGrpSpPr/>
          <p:nvPr/>
        </p:nvGrpSpPr>
        <p:grpSpPr>
          <a:xfrm>
            <a:off x="376238" y="6689884"/>
            <a:ext cx="11439524" cy="133350"/>
            <a:chOff x="376238" y="6689884"/>
            <a:chExt cx="11439524" cy="133350"/>
          </a:xfrm>
        </p:grpSpPr>
        <p:sp>
          <p:nvSpPr>
            <p:cNvPr id="139" name="TextBox 139"/>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40" name="TextBox 140"/>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29</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47" name="step-1"/>
          <p:cNvGrpSpPr/>
          <p:nvPr/>
        </p:nvGrpSpPr>
        <p:grpSpPr>
          <a:xfrm>
            <a:off x="381000" y="914400"/>
            <a:ext cx="3619500" cy="5372100"/>
            <a:chOff x="381000" y="914400"/>
            <a:chExt cx="3619500" cy="5372100"/>
          </a:xfrm>
        </p:grpSpPr>
        <p:sp>
          <p:nvSpPr>
            <p:cNvPr id="8" name="Rectangle 8"/>
            <p:cNvSpPr/>
            <p:nvPr/>
          </p:nvSpPr>
          <p:spPr>
            <a:xfrm>
              <a:off x="381000" y="1066800"/>
              <a:ext cx="3619500" cy="5219700"/>
            </a:xfrm>
            <a:prstGeom prst="rect">
              <a:avLst/>
            </a:prstGeom>
            <a:solidFill>
              <a:srgbClr val="FAFBF8"/>
            </a:solidFill>
            <a:ln w="11430">
              <a:solidFill>
                <a:srgbClr val="9AA69A"/>
              </a:solidFill>
              <a:custDash>
                <a:ds d="500000" sp="333333"/>
              </a:custDash>
            </a:ln>
          </p:spPr>
        </p:sp>
        <p:sp>
          <p:nvSpPr>
            <p:cNvPr id="9" name="Rectangle 9"/>
            <p:cNvSpPr/>
            <p:nvPr/>
          </p:nvSpPr>
          <p:spPr>
            <a:xfrm>
              <a:off x="381000" y="914400"/>
              <a:ext cx="1238250" cy="304800"/>
            </a:xfrm>
            <a:prstGeom prst="rect">
              <a:avLst/>
            </a:prstGeom>
            <a:solidFill>
              <a:srgbClr val="FFFFFF"/>
            </a:solidFill>
            <a:ln w="19050">
              <a:solidFill>
                <a:srgbClr val="595959"/>
              </a:solidFill>
            </a:ln>
          </p:spPr>
        </p:sp>
        <p:sp>
          <p:nvSpPr>
            <p:cNvPr id="10" name="Freeform 10"/>
            <p:cNvSpPr/>
            <p:nvPr/>
          </p:nvSpPr>
          <p:spPr>
            <a:xfrm>
              <a:off x="490366" y="1004114"/>
              <a:ext cx="142618" cy="126423"/>
            </a:xfrm>
            <a:custGeom>
              <a:avLst/>
              <a:gdLst/>
              <a:ahLst/>
              <a:cxnLst/>
              <a:rect l="l" t="t" r="r" b="b"/>
              <a:pathLst>
                <a:path w="142618" h="126423">
                  <a:moveTo>
                    <a:pt x="7315" y="119836"/>
                  </a:moveTo>
                  <a:lnTo>
                    <a:pt x="16602" y="91976"/>
                  </a:lnTo>
                  <a:cubicBezTo>
                    <a:pt x="0" y="67423"/>
                    <a:pt x="6415" y="35740"/>
                    <a:pt x="31604" y="17867"/>
                  </a:cubicBezTo>
                  <a:cubicBezTo>
                    <a:pt x="56793" y="0"/>
                    <a:pt x="92969" y="1464"/>
                    <a:pt x="116222" y="21296"/>
                  </a:cubicBezTo>
                  <a:cubicBezTo>
                    <a:pt x="139475" y="41134"/>
                    <a:pt x="142618" y="73202"/>
                    <a:pt x="123573" y="96312"/>
                  </a:cubicBezTo>
                  <a:cubicBezTo>
                    <a:pt x="104527" y="119422"/>
                    <a:pt x="69173" y="126423"/>
                    <a:pt x="40891" y="112693"/>
                  </a:cubicBezTo>
                  <a:lnTo>
                    <a:pt x="7315" y="119836"/>
                  </a:lnTo>
                </a:path>
              </a:pathLst>
            </a:custGeom>
            <a:noFill/>
            <a:ln w="14288">
              <a:solidFill>
                <a:srgbClr val="595959"/>
              </a:solidFill>
            </a:ln>
          </p:spPr>
        </p:sp>
        <p:sp>
          <p:nvSpPr>
            <p:cNvPr id="11" name="TextBox 11"/>
            <p:cNvSpPr txBox="1"/>
            <p:nvPr/>
          </p:nvSpPr>
          <p:spPr>
            <a:xfrm>
              <a:off x="718185" y="1002506"/>
              <a:ext cx="501118" cy="220028"/>
            </a:xfrm>
            <a:prstGeom prst="rect">
              <a:avLst/>
            </a:prstGeom>
            <a:noFill/>
            <a:ln>
              <a:noFill/>
            </a:ln>
          </p:spPr>
          <p:txBody>
            <a:bodyPr wrap="none" lIns="0" tIns="0" rIns="0" bIns="0" anchor="t" anchorCtr="0">
              <a:spAutoFit/>
            </a:bodyPr>
            <a:lstStyle/>
            <a:p>
              <a:pPr algn="l"/>
              <a:r>
                <a:rPr lang="en-US" sz="1120" b="1" dirty="0">
                  <a:solidFill>
                    <a:srgbClr val="333333"/>
                  </a:solidFill>
                  <a:latin typeface="+mn-lt"/>
                  <a:ea typeface="+mn-ea"/>
                  <a:cs typeface="+mn-cs"/>
                </a:rPr>
                <a:t>Step 1</a:t>
              </a:r>
            </a:p>
          </p:txBody>
        </p:sp>
        <p:sp>
          <p:nvSpPr>
            <p:cNvPr id="12" name="TextBox 12"/>
            <p:cNvSpPr txBox="1"/>
            <p:nvPr/>
          </p:nvSpPr>
          <p:spPr>
            <a:xfrm>
              <a:off x="1779270" y="1666875"/>
              <a:ext cx="822960" cy="293370"/>
            </a:xfrm>
            <a:prstGeom prst="rect">
              <a:avLst/>
            </a:prstGeom>
            <a:noFill/>
            <a:ln>
              <a:noFill/>
            </a:ln>
          </p:spPr>
          <p:txBody>
            <a:bodyPr wrap="none" lIns="0" tIns="0" rIns="0" bIns="0" anchor="t" anchorCtr="0">
              <a:spAutoFit/>
            </a:bodyPr>
            <a:lstStyle/>
            <a:p>
              <a:pPr algn="ctr"/>
              <a:r>
                <a:rPr lang="zh-CN" sz="1500" b="1" dirty="0">
                  <a:solidFill>
                    <a:srgbClr val="7A3E33"/>
                  </a:solidFill>
                  <a:latin typeface="+mn-lt"/>
                  <a:ea typeface="+mn-ea"/>
                  <a:cs typeface="+mn-cs"/>
                </a:rPr>
                <a:t>循环营销</a:t>
              </a:r>
            </a:p>
          </p:txBody>
        </p:sp>
        <p:sp>
          <p:nvSpPr>
            <p:cNvPr id="13" name="Rectangle 13"/>
            <p:cNvSpPr/>
            <p:nvPr/>
          </p:nvSpPr>
          <p:spPr>
            <a:xfrm>
              <a:off x="571500" y="2000250"/>
              <a:ext cx="1238250" cy="266700"/>
            </a:xfrm>
            <a:prstGeom prst="rect">
              <a:avLst/>
            </a:prstGeom>
            <a:solidFill>
              <a:srgbClr val="FBF0D8"/>
            </a:solidFill>
            <a:ln>
              <a:noFill/>
            </a:ln>
          </p:spPr>
        </p:sp>
        <p:sp>
          <p:nvSpPr>
            <p:cNvPr id="14" name="TextBox 14"/>
            <p:cNvSpPr txBox="1"/>
            <p:nvPr/>
          </p:nvSpPr>
          <p:spPr>
            <a:xfrm>
              <a:off x="965086" y="2092166"/>
              <a:ext cx="451079"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促进付费</a:t>
              </a:r>
            </a:p>
          </p:txBody>
        </p:sp>
        <p:sp>
          <p:nvSpPr>
            <p:cNvPr id="15" name="Rectangle 15"/>
            <p:cNvSpPr/>
            <p:nvPr/>
          </p:nvSpPr>
          <p:spPr>
            <a:xfrm>
              <a:off x="2476500" y="2000250"/>
              <a:ext cx="1333500" cy="266700"/>
            </a:xfrm>
            <a:prstGeom prst="rect">
              <a:avLst/>
            </a:prstGeom>
            <a:solidFill>
              <a:srgbClr val="DFF0D2"/>
            </a:solidFill>
            <a:ln>
              <a:noFill/>
            </a:ln>
          </p:spPr>
        </p:sp>
        <p:sp>
          <p:nvSpPr>
            <p:cNvPr id="16" name="TextBox 16"/>
            <p:cNvSpPr txBox="1"/>
            <p:nvPr/>
          </p:nvSpPr>
          <p:spPr>
            <a:xfrm>
              <a:off x="2862516" y="2092166"/>
              <a:ext cx="561467"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客户再转化</a:t>
              </a:r>
            </a:p>
          </p:txBody>
        </p:sp>
        <p:sp>
          <p:nvSpPr>
            <p:cNvPr id="17" name="Freeform 17"/>
            <p:cNvSpPr/>
            <p:nvPr/>
          </p:nvSpPr>
          <p:spPr>
            <a:xfrm>
              <a:off x="1143000" y="2762250"/>
              <a:ext cx="2095500" cy="2095500"/>
            </a:xfrm>
            <a:prstGeom prst="blockArc">
              <a:avLst>
                <a:gd name="adj1" fmla="val 14490000"/>
                <a:gd name="adj2" fmla="val 17910000"/>
                <a:gd name="adj3" fmla="val 27273"/>
              </a:avLst>
            </a:prstGeom>
            <a:solidFill>
              <a:srgbClr val="DFF0D2"/>
            </a:solidFill>
            <a:ln>
              <a:noFill/>
            </a:ln>
          </p:spPr>
        </p:sp>
        <p:sp>
          <p:nvSpPr>
            <p:cNvPr id="18" name="Freeform 18"/>
            <p:cNvSpPr/>
            <p:nvPr/>
          </p:nvSpPr>
          <p:spPr>
            <a:xfrm>
              <a:off x="1143000" y="2762250"/>
              <a:ext cx="2095500" cy="2095500"/>
            </a:xfrm>
            <a:prstGeom prst="blockArc">
              <a:avLst>
                <a:gd name="adj1" fmla="val 18090000"/>
                <a:gd name="adj2" fmla="val 21510000"/>
                <a:gd name="adj3" fmla="val 27273"/>
              </a:avLst>
            </a:prstGeom>
            <a:solidFill>
              <a:srgbClr val="C8E0B8"/>
            </a:solidFill>
            <a:ln>
              <a:noFill/>
            </a:ln>
          </p:spPr>
        </p:sp>
        <p:sp>
          <p:nvSpPr>
            <p:cNvPr id="19" name="Freeform 19"/>
            <p:cNvSpPr/>
            <p:nvPr/>
          </p:nvSpPr>
          <p:spPr>
            <a:xfrm>
              <a:off x="1143000" y="2762250"/>
              <a:ext cx="2095500" cy="2095500"/>
            </a:xfrm>
            <a:prstGeom prst="blockArc">
              <a:avLst>
                <a:gd name="adj1" fmla="val 90000"/>
                <a:gd name="adj2" fmla="val 3510000"/>
                <a:gd name="adj3" fmla="val 27273"/>
              </a:avLst>
            </a:prstGeom>
            <a:solidFill>
              <a:srgbClr val="F7B9AE"/>
            </a:solidFill>
            <a:ln>
              <a:noFill/>
            </a:ln>
          </p:spPr>
        </p:sp>
        <p:sp>
          <p:nvSpPr>
            <p:cNvPr id="20" name="Freeform 20"/>
            <p:cNvSpPr/>
            <p:nvPr/>
          </p:nvSpPr>
          <p:spPr>
            <a:xfrm>
              <a:off x="1143000" y="2762250"/>
              <a:ext cx="2095500" cy="2095500"/>
            </a:xfrm>
            <a:prstGeom prst="blockArc">
              <a:avLst>
                <a:gd name="adj1" fmla="val 3690000"/>
                <a:gd name="adj2" fmla="val 7110000"/>
                <a:gd name="adj3" fmla="val 27273"/>
              </a:avLst>
            </a:prstGeom>
            <a:solidFill>
              <a:srgbClr val="E9563C"/>
            </a:solidFill>
            <a:ln>
              <a:noFill/>
            </a:ln>
          </p:spPr>
        </p:sp>
        <p:sp>
          <p:nvSpPr>
            <p:cNvPr id="21" name="Freeform 21"/>
            <p:cNvSpPr/>
            <p:nvPr/>
          </p:nvSpPr>
          <p:spPr>
            <a:xfrm>
              <a:off x="1143000" y="2762250"/>
              <a:ext cx="2095500" cy="2095500"/>
            </a:xfrm>
            <a:prstGeom prst="blockArc">
              <a:avLst>
                <a:gd name="adj1" fmla="val 7290000"/>
                <a:gd name="adj2" fmla="val 10710000"/>
                <a:gd name="adj3" fmla="val 27273"/>
              </a:avLst>
            </a:prstGeom>
            <a:solidFill>
              <a:srgbClr val="9C594C"/>
            </a:solidFill>
            <a:ln>
              <a:noFill/>
            </a:ln>
          </p:spPr>
        </p:sp>
        <p:sp>
          <p:nvSpPr>
            <p:cNvPr id="22" name="Freeform 22"/>
            <p:cNvSpPr/>
            <p:nvPr/>
          </p:nvSpPr>
          <p:spPr>
            <a:xfrm>
              <a:off x="1143000" y="2762250"/>
              <a:ext cx="2095500" cy="2095500"/>
            </a:xfrm>
            <a:prstGeom prst="blockArc">
              <a:avLst>
                <a:gd name="adj1" fmla="val 10890000"/>
                <a:gd name="adj2" fmla="val 14310000"/>
                <a:gd name="adj3" fmla="val 27273"/>
              </a:avLst>
            </a:prstGeom>
            <a:solidFill>
              <a:srgbClr val="B5766A"/>
            </a:solidFill>
            <a:ln>
              <a:noFill/>
            </a:ln>
          </p:spPr>
        </p:sp>
        <p:sp>
          <p:nvSpPr>
            <p:cNvPr id="23" name="TextBox 23"/>
            <p:cNvSpPr txBox="1"/>
            <p:nvPr/>
          </p:nvSpPr>
          <p:spPr>
            <a:xfrm>
              <a:off x="1973288" y="3001089"/>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营销活动</a:t>
              </a:r>
            </a:p>
          </p:txBody>
        </p:sp>
        <p:sp>
          <p:nvSpPr>
            <p:cNvPr id="24" name="TextBox 24"/>
            <p:cNvSpPr txBox="1"/>
            <p:nvPr/>
          </p:nvSpPr>
          <p:spPr>
            <a:xfrm rot="3600000">
              <a:off x="2637112" y="3385899"/>
              <a:ext cx="434924" cy="154781"/>
            </a:xfrm>
            <a:prstGeom prst="rect">
              <a:avLst/>
            </a:prstGeom>
            <a:noFill/>
            <a:ln>
              <a:noFill/>
            </a:ln>
          </p:spPr>
          <p:txBody>
            <a:bodyPr wrap="none" lIns="0" tIns="0" rIns="0" bIns="0" anchor="t" anchorCtr="0">
              <a:spAutoFit/>
            </a:bodyPr>
            <a:lstStyle/>
            <a:p>
              <a:pPr algn="ctr"/>
              <a:r>
                <a:rPr lang="zh-CN" sz="790" b="1" dirty="0">
                  <a:solidFill>
                    <a:srgbClr val="7A3E33"/>
                  </a:solidFill>
                  <a:latin typeface="+mn-lt"/>
                  <a:ea typeface="+mn-ea"/>
                  <a:cs typeface="+mn-cs"/>
                </a:rPr>
                <a:t>促销活动</a:t>
              </a:r>
            </a:p>
          </p:txBody>
        </p:sp>
        <p:sp>
          <p:nvSpPr>
            <p:cNvPr id="25" name="TextBox 25"/>
            <p:cNvSpPr txBox="1"/>
            <p:nvPr/>
          </p:nvSpPr>
          <p:spPr>
            <a:xfrm rot="-3600000">
              <a:off x="2623914" y="4147899"/>
              <a:ext cx="434924" cy="154781"/>
            </a:xfrm>
            <a:prstGeom prst="rect">
              <a:avLst/>
            </a:prstGeom>
            <a:noFill/>
            <a:ln>
              <a:noFill/>
            </a:ln>
          </p:spPr>
          <p:txBody>
            <a:bodyPr wrap="none" lIns="0" tIns="0" rIns="0" bIns="0" anchor="t" anchorCtr="0">
              <a:spAutoFit/>
            </a:bodyPr>
            <a:lstStyle/>
            <a:p>
              <a:pPr algn="ctr"/>
              <a:r>
                <a:rPr lang="zh-CN" sz="790" b="1" dirty="0">
                  <a:solidFill>
                    <a:srgbClr val="8A2210"/>
                  </a:solidFill>
                  <a:latin typeface="+mn-lt"/>
                  <a:ea typeface="+mn-ea"/>
                  <a:cs typeface="+mn-cs"/>
                </a:rPr>
                <a:t>人员团队</a:t>
              </a:r>
            </a:p>
          </p:txBody>
        </p:sp>
        <p:sp>
          <p:nvSpPr>
            <p:cNvPr id="26" name="TextBox 26"/>
            <p:cNvSpPr txBox="1"/>
            <p:nvPr/>
          </p:nvSpPr>
          <p:spPr>
            <a:xfrm>
              <a:off x="2079638" y="452508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产品</a:t>
              </a:r>
            </a:p>
          </p:txBody>
        </p:sp>
        <p:sp>
          <p:nvSpPr>
            <p:cNvPr id="27" name="TextBox 27"/>
            <p:cNvSpPr txBox="1"/>
            <p:nvPr/>
          </p:nvSpPr>
          <p:spPr>
            <a:xfrm rot="3600000">
              <a:off x="1322662" y="4147899"/>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客户服务</a:t>
              </a:r>
            </a:p>
          </p:txBody>
        </p:sp>
        <p:sp>
          <p:nvSpPr>
            <p:cNvPr id="28" name="TextBox 28"/>
            <p:cNvSpPr txBox="1"/>
            <p:nvPr/>
          </p:nvSpPr>
          <p:spPr>
            <a:xfrm rot="-3600000">
              <a:off x="1415814" y="3385899"/>
              <a:ext cx="222225"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财务</a:t>
              </a:r>
            </a:p>
          </p:txBody>
        </p:sp>
        <p:sp>
          <p:nvSpPr>
            <p:cNvPr id="29" name="Ellipse 29"/>
            <p:cNvSpPr/>
            <p:nvPr/>
          </p:nvSpPr>
          <p:spPr>
            <a:xfrm>
              <a:off x="1752600" y="3371850"/>
              <a:ext cx="876300" cy="876300"/>
            </a:xfrm>
            <a:prstGeom prst="ellipse">
              <a:avLst/>
            </a:prstGeom>
            <a:solidFill>
              <a:srgbClr val="9C594C"/>
            </a:solidFill>
            <a:ln>
              <a:noFill/>
            </a:ln>
          </p:spPr>
        </p:sp>
        <p:grpSp>
          <p:nvGrpSpPr>
            <p:cNvPr id="38" name="Group 38"/>
            <p:cNvGrpSpPr/>
            <p:nvPr/>
          </p:nvGrpSpPr>
          <p:grpSpPr>
            <a:xfrm>
              <a:off x="2119312" y="3567112"/>
              <a:ext cx="144463" cy="152400"/>
              <a:chOff x="2119312" y="3567112"/>
              <a:chExt cx="144463" cy="152400"/>
            </a:xfrm>
          </p:grpSpPr>
          <p:sp>
            <p:nvSpPr>
              <p:cNvPr id="30" name="Freeform 30"/>
              <p:cNvSpPr/>
              <p:nvPr/>
            </p:nvSpPr>
            <p:spPr>
              <a:xfrm>
                <a:off x="2119312" y="3709987"/>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31" name="Freeform 31"/>
              <p:cNvSpPr/>
              <p:nvPr/>
            </p:nvSpPr>
            <p:spPr>
              <a:xfrm>
                <a:off x="2119312" y="3622675"/>
                <a:ext cx="142875" cy="9525"/>
              </a:xfrm>
              <a:custGeom>
                <a:avLst/>
                <a:gdLst/>
                <a:ahLst/>
                <a:cxnLst/>
                <a:rect l="l" t="t" r="r" b="b"/>
                <a:pathLst>
                  <a:path w="142875" h="9525">
                    <a:moveTo>
                      <a:pt x="0" y="0"/>
                    </a:moveTo>
                    <a:lnTo>
                      <a:pt x="142875" y="0"/>
                    </a:lnTo>
                  </a:path>
                </a:pathLst>
              </a:custGeom>
              <a:noFill/>
              <a:ln w="15875">
                <a:solidFill>
                  <a:srgbClr val="FFFFFF"/>
                </a:solidFill>
              </a:ln>
            </p:spPr>
          </p:sp>
          <p:sp>
            <p:nvSpPr>
              <p:cNvPr id="32" name="Freeform 32"/>
              <p:cNvSpPr/>
              <p:nvPr/>
            </p:nvSpPr>
            <p:spPr>
              <a:xfrm>
                <a:off x="2135187" y="3567112"/>
                <a:ext cx="111125" cy="23812"/>
              </a:xfrm>
              <a:custGeom>
                <a:avLst/>
                <a:gdLst/>
                <a:ahLst/>
                <a:cxnLst/>
                <a:rect l="l" t="t" r="r" b="b"/>
                <a:pathLst>
                  <a:path w="111125" h="23812">
                    <a:moveTo>
                      <a:pt x="0" y="23812"/>
                    </a:moveTo>
                    <a:lnTo>
                      <a:pt x="55562" y="0"/>
                    </a:lnTo>
                    <a:lnTo>
                      <a:pt x="111125" y="23812"/>
                    </a:lnTo>
                  </a:path>
                </a:pathLst>
              </a:custGeom>
              <a:noFill/>
              <a:ln w="15875">
                <a:solidFill>
                  <a:srgbClr val="FFFFFF"/>
                </a:solidFill>
              </a:ln>
            </p:spPr>
          </p:sp>
          <p:sp>
            <p:nvSpPr>
              <p:cNvPr id="33" name="Freeform 33"/>
              <p:cNvSpPr/>
              <p:nvPr/>
            </p:nvSpPr>
            <p:spPr>
              <a:xfrm>
                <a:off x="2127250" y="362267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34" name="Freeform 34"/>
              <p:cNvSpPr/>
              <p:nvPr/>
            </p:nvSpPr>
            <p:spPr>
              <a:xfrm>
                <a:off x="2254250" y="3622675"/>
                <a:ext cx="9525" cy="87312"/>
              </a:xfrm>
              <a:custGeom>
                <a:avLst/>
                <a:gdLst/>
                <a:ahLst/>
                <a:cxnLst/>
                <a:rect l="l" t="t" r="r" b="b"/>
                <a:pathLst>
                  <a:path w="9525" h="87312">
                    <a:moveTo>
                      <a:pt x="0" y="0"/>
                    </a:moveTo>
                    <a:lnTo>
                      <a:pt x="0" y="87312"/>
                    </a:lnTo>
                  </a:path>
                </a:pathLst>
              </a:custGeom>
              <a:noFill/>
              <a:ln w="15875">
                <a:solidFill>
                  <a:srgbClr val="FFFFFF"/>
                </a:solidFill>
              </a:ln>
            </p:spPr>
          </p:sp>
          <p:sp>
            <p:nvSpPr>
              <p:cNvPr id="35" name="Freeform 35"/>
              <p:cNvSpPr/>
              <p:nvPr/>
            </p:nvSpPr>
            <p:spPr>
              <a:xfrm>
                <a:off x="2159000" y="365442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36" name="Freeform 36"/>
              <p:cNvSpPr/>
              <p:nvPr/>
            </p:nvSpPr>
            <p:spPr>
              <a:xfrm>
                <a:off x="2190750" y="3654425"/>
                <a:ext cx="9525" cy="23812"/>
              </a:xfrm>
              <a:custGeom>
                <a:avLst/>
                <a:gdLst/>
                <a:ahLst/>
                <a:cxnLst/>
                <a:rect l="l" t="t" r="r" b="b"/>
                <a:pathLst>
                  <a:path w="9525" h="23812">
                    <a:moveTo>
                      <a:pt x="0" y="0"/>
                    </a:moveTo>
                    <a:lnTo>
                      <a:pt x="0" y="23812"/>
                    </a:lnTo>
                  </a:path>
                </a:pathLst>
              </a:custGeom>
              <a:noFill/>
              <a:ln w="15875">
                <a:solidFill>
                  <a:srgbClr val="FFFFFF"/>
                </a:solidFill>
              </a:ln>
            </p:spPr>
          </p:sp>
          <p:sp>
            <p:nvSpPr>
              <p:cNvPr id="37" name="Freeform 37"/>
              <p:cNvSpPr/>
              <p:nvPr/>
            </p:nvSpPr>
            <p:spPr>
              <a:xfrm>
                <a:off x="2222500" y="3654425"/>
                <a:ext cx="9525" cy="23812"/>
              </a:xfrm>
              <a:custGeom>
                <a:avLst/>
                <a:gdLst/>
                <a:ahLst/>
                <a:cxnLst/>
                <a:rect l="l" t="t" r="r" b="b"/>
                <a:pathLst>
                  <a:path w="9525" h="23812">
                    <a:moveTo>
                      <a:pt x="0" y="0"/>
                    </a:moveTo>
                    <a:lnTo>
                      <a:pt x="0" y="23812"/>
                    </a:lnTo>
                  </a:path>
                </a:pathLst>
              </a:custGeom>
              <a:noFill/>
              <a:ln w="15875">
                <a:solidFill>
                  <a:srgbClr val="FFFFFF"/>
                </a:solidFill>
              </a:ln>
            </p:spPr>
          </p:sp>
        </p:grpSp>
        <p:sp>
          <p:nvSpPr>
            <p:cNvPr id="39" name="TextBox 39"/>
            <p:cNvSpPr txBox="1"/>
            <p:nvPr/>
          </p:nvSpPr>
          <p:spPr>
            <a:xfrm>
              <a:off x="1965211" y="38161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循环营销</a:t>
              </a:r>
            </a:p>
          </p:txBody>
        </p:sp>
        <p:sp>
          <p:nvSpPr>
            <p:cNvPr id="40" name="TextBox 40"/>
            <p:cNvSpPr txBox="1"/>
            <p:nvPr/>
          </p:nvSpPr>
          <p:spPr>
            <a:xfrm>
              <a:off x="2013674" y="3969782"/>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促进付费</a:t>
              </a:r>
            </a:p>
          </p:txBody>
        </p:sp>
        <p:sp>
          <p:nvSpPr>
            <p:cNvPr id="41" name="Freeform 41"/>
            <p:cNvSpPr/>
            <p:nvPr/>
          </p:nvSpPr>
          <p:spPr>
            <a:xfrm>
              <a:off x="985324" y="3505200"/>
              <a:ext cx="52901" cy="609600"/>
            </a:xfrm>
            <a:custGeom>
              <a:avLst/>
              <a:gdLst/>
              <a:ahLst/>
              <a:cxnLst/>
              <a:rect l="l" t="t" r="r" b="b"/>
              <a:pathLst>
                <a:path w="52901" h="609600">
                  <a:moveTo>
                    <a:pt x="52901" y="609600"/>
                  </a:moveTo>
                  <a:cubicBezTo>
                    <a:pt x="0" y="409843"/>
                    <a:pt x="0" y="199757"/>
                    <a:pt x="52901" y="0"/>
                  </a:cubicBezTo>
                </a:path>
              </a:pathLst>
            </a:custGeom>
            <a:noFill/>
            <a:ln w="11430">
              <a:solidFill>
                <a:srgbClr val="9C594C"/>
              </a:solidFill>
              <a:custDash>
                <a:ds d="333333" sp="250000"/>
              </a:custDash>
              <a:tailEnd type="triangle" w="lg" len="lg"/>
            </a:ln>
          </p:spPr>
        </p:sp>
        <p:sp>
          <p:nvSpPr>
            <p:cNvPr id="42" name="Freeform 42"/>
            <p:cNvSpPr/>
            <p:nvPr/>
          </p:nvSpPr>
          <p:spPr>
            <a:xfrm>
              <a:off x="3343275" y="3505200"/>
              <a:ext cx="52901" cy="609600"/>
            </a:xfrm>
            <a:custGeom>
              <a:avLst/>
              <a:gdLst/>
              <a:ahLst/>
              <a:cxnLst/>
              <a:rect l="l" t="t" r="r" b="b"/>
              <a:pathLst>
                <a:path w="52901" h="609600">
                  <a:moveTo>
                    <a:pt x="0" y="0"/>
                  </a:moveTo>
                  <a:cubicBezTo>
                    <a:pt x="52901" y="199757"/>
                    <a:pt x="52901" y="409843"/>
                    <a:pt x="0" y="609600"/>
                  </a:cubicBezTo>
                </a:path>
              </a:pathLst>
            </a:custGeom>
            <a:noFill/>
            <a:ln w="11430">
              <a:solidFill>
                <a:srgbClr val="9C594C"/>
              </a:solidFill>
              <a:custDash>
                <a:ds d="333333" sp="250000"/>
              </a:custDash>
              <a:tailEnd type="triangle" w="lg" len="lg"/>
            </a:ln>
          </p:spPr>
        </p:sp>
        <p:sp>
          <p:nvSpPr>
            <p:cNvPr id="43" name="Rectangle 43"/>
            <p:cNvSpPr/>
            <p:nvPr/>
          </p:nvSpPr>
          <p:spPr>
            <a:xfrm>
              <a:off x="476250" y="5334000"/>
              <a:ext cx="1333500" cy="304800"/>
            </a:xfrm>
            <a:prstGeom prst="rect">
              <a:avLst/>
            </a:prstGeom>
            <a:solidFill>
              <a:srgbClr val="E9563C"/>
            </a:solidFill>
            <a:ln>
              <a:noFill/>
            </a:ln>
          </p:spPr>
        </p:sp>
        <p:sp>
          <p:nvSpPr>
            <p:cNvPr id="44" name="TextBox 44"/>
            <p:cNvSpPr txBox="1"/>
            <p:nvPr/>
          </p:nvSpPr>
          <p:spPr>
            <a:xfrm>
              <a:off x="807072" y="5444966"/>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定向广告投放</a:t>
              </a:r>
            </a:p>
          </p:txBody>
        </p:sp>
        <p:sp>
          <p:nvSpPr>
            <p:cNvPr id="45" name="Rectangle 45"/>
            <p:cNvSpPr/>
            <p:nvPr/>
          </p:nvSpPr>
          <p:spPr>
            <a:xfrm>
              <a:off x="2476500" y="5334000"/>
              <a:ext cx="1333500" cy="304800"/>
            </a:xfrm>
            <a:prstGeom prst="rect">
              <a:avLst/>
            </a:prstGeom>
            <a:solidFill>
              <a:srgbClr val="9C594C"/>
            </a:solidFill>
            <a:ln>
              <a:noFill/>
            </a:ln>
          </p:spPr>
        </p:sp>
        <p:sp>
          <p:nvSpPr>
            <p:cNvPr id="46" name="TextBox 46"/>
            <p:cNvSpPr txBox="1"/>
            <p:nvPr/>
          </p:nvSpPr>
          <p:spPr>
            <a:xfrm>
              <a:off x="2917711" y="54449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邮件营销</a:t>
              </a:r>
            </a:p>
          </p:txBody>
        </p:sp>
      </p:grpSp>
      <p:grpSp>
        <p:nvGrpSpPr>
          <p:cNvPr id="100" name="step-2"/>
          <p:cNvGrpSpPr/>
          <p:nvPr/>
        </p:nvGrpSpPr>
        <p:grpSpPr>
          <a:xfrm>
            <a:off x="4191000" y="914400"/>
            <a:ext cx="3714750" cy="5372100"/>
            <a:chOff x="4191000" y="914400"/>
            <a:chExt cx="3714750" cy="5372100"/>
          </a:xfrm>
        </p:grpSpPr>
        <p:sp>
          <p:nvSpPr>
            <p:cNvPr id="48" name="Rectangle 48"/>
            <p:cNvSpPr/>
            <p:nvPr/>
          </p:nvSpPr>
          <p:spPr>
            <a:xfrm>
              <a:off x="4191000" y="1066800"/>
              <a:ext cx="3714750" cy="5219700"/>
            </a:xfrm>
            <a:prstGeom prst="rect">
              <a:avLst/>
            </a:prstGeom>
            <a:solidFill>
              <a:srgbClr val="FFFDF7"/>
            </a:solidFill>
            <a:ln w="11430">
              <a:solidFill>
                <a:srgbClr val="E9563C"/>
              </a:solidFill>
              <a:custDash>
                <a:ds d="500000" sp="333333"/>
              </a:custDash>
            </a:ln>
          </p:spPr>
        </p:sp>
        <p:sp>
          <p:nvSpPr>
            <p:cNvPr id="49" name="Rectangle 49"/>
            <p:cNvSpPr/>
            <p:nvPr/>
          </p:nvSpPr>
          <p:spPr>
            <a:xfrm>
              <a:off x="4191000" y="914400"/>
              <a:ext cx="1238250" cy="304800"/>
            </a:xfrm>
            <a:prstGeom prst="rect">
              <a:avLst/>
            </a:prstGeom>
            <a:solidFill>
              <a:srgbClr val="FFFFFF"/>
            </a:solidFill>
            <a:ln w="19050">
              <a:solidFill>
                <a:srgbClr val="E9563C"/>
              </a:solidFill>
            </a:ln>
          </p:spPr>
        </p:sp>
        <p:grpSp>
          <p:nvGrpSpPr>
            <p:cNvPr id="53" name="Group 53"/>
            <p:cNvGrpSpPr/>
            <p:nvPr/>
          </p:nvGrpSpPr>
          <p:grpSpPr>
            <a:xfrm>
              <a:off x="4307681" y="1002506"/>
              <a:ext cx="128588" cy="128588"/>
              <a:chOff x="4307681" y="1002506"/>
              <a:chExt cx="128588" cy="128588"/>
            </a:xfrm>
          </p:grpSpPr>
          <p:sp>
            <p:nvSpPr>
              <p:cNvPr id="50" name="Freeform 50"/>
              <p:cNvSpPr/>
              <p:nvPr/>
            </p:nvSpPr>
            <p:spPr>
              <a:xfrm>
                <a:off x="4364831" y="105965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D6391E"/>
                </a:solidFill>
              </a:ln>
            </p:spPr>
          </p:sp>
          <p:sp>
            <p:nvSpPr>
              <p:cNvPr id="51" name="Freeform 51"/>
              <p:cNvSpPr/>
              <p:nvPr/>
            </p:nvSpPr>
            <p:spPr>
              <a:xfrm>
                <a:off x="4336256" y="103108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D6391E"/>
                </a:solidFill>
              </a:ln>
            </p:spPr>
          </p:sp>
          <p:sp>
            <p:nvSpPr>
              <p:cNvPr id="52" name="Freeform 52"/>
              <p:cNvSpPr/>
              <p:nvPr/>
            </p:nvSpPr>
            <p:spPr>
              <a:xfrm>
                <a:off x="4307681" y="100250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D6391E"/>
                </a:solidFill>
              </a:ln>
            </p:spPr>
          </p:sp>
        </p:grpSp>
        <p:sp>
          <p:nvSpPr>
            <p:cNvPr id="54" name="TextBox 54"/>
            <p:cNvSpPr txBox="1"/>
            <p:nvPr/>
          </p:nvSpPr>
          <p:spPr>
            <a:xfrm>
              <a:off x="4528185" y="1002506"/>
              <a:ext cx="501118" cy="220028"/>
            </a:xfrm>
            <a:prstGeom prst="rect">
              <a:avLst/>
            </a:prstGeom>
            <a:noFill/>
            <a:ln>
              <a:noFill/>
            </a:ln>
          </p:spPr>
          <p:txBody>
            <a:bodyPr wrap="none" lIns="0" tIns="0" rIns="0" bIns="0" anchor="t" anchorCtr="0">
              <a:spAutoFit/>
            </a:bodyPr>
            <a:lstStyle/>
            <a:p>
              <a:pPr algn="l"/>
              <a:r>
                <a:rPr lang="en-US" sz="1120" b="1" dirty="0">
                  <a:solidFill>
                    <a:srgbClr val="333333"/>
                  </a:solidFill>
                  <a:latin typeface="+mn-lt"/>
                  <a:ea typeface="+mn-ea"/>
                  <a:cs typeface="+mn-cs"/>
                </a:rPr>
                <a:t>Step 2</a:t>
              </a:r>
            </a:p>
          </p:txBody>
        </p:sp>
        <p:sp>
          <p:nvSpPr>
            <p:cNvPr id="55" name="TextBox 55"/>
            <p:cNvSpPr txBox="1"/>
            <p:nvPr/>
          </p:nvSpPr>
          <p:spPr>
            <a:xfrm>
              <a:off x="5636895" y="1666875"/>
              <a:ext cx="822960" cy="293370"/>
            </a:xfrm>
            <a:prstGeom prst="rect">
              <a:avLst/>
            </a:prstGeom>
            <a:noFill/>
            <a:ln>
              <a:noFill/>
            </a:ln>
          </p:spPr>
          <p:txBody>
            <a:bodyPr wrap="none" lIns="0" tIns="0" rIns="0" bIns="0" anchor="t" anchorCtr="0">
              <a:spAutoFit/>
            </a:bodyPr>
            <a:lstStyle/>
            <a:p>
              <a:pPr algn="ctr"/>
              <a:r>
                <a:rPr lang="zh-CN" sz="1500" b="1" dirty="0">
                  <a:solidFill>
                    <a:srgbClr val="D6391E"/>
                  </a:solidFill>
                  <a:latin typeface="+mn-lt"/>
                  <a:ea typeface="+mn-ea"/>
                  <a:cs typeface="+mn-cs"/>
                </a:rPr>
                <a:t>营销目标</a:t>
              </a:r>
            </a:p>
          </p:txBody>
        </p:sp>
        <p:sp>
          <p:nvSpPr>
            <p:cNvPr id="56" name="Ellipse 56"/>
            <p:cNvSpPr/>
            <p:nvPr/>
          </p:nvSpPr>
          <p:spPr>
            <a:xfrm>
              <a:off x="4362450" y="2028825"/>
              <a:ext cx="419100" cy="419100"/>
            </a:xfrm>
            <a:prstGeom prst="ellipse">
              <a:avLst/>
            </a:prstGeom>
            <a:solidFill>
              <a:srgbClr val="FDF6E7"/>
            </a:solidFill>
            <a:ln>
              <a:noFill/>
            </a:ln>
          </p:spPr>
        </p:sp>
        <p:sp>
          <p:nvSpPr>
            <p:cNvPr id="57" name="TextBox 57"/>
            <p:cNvSpPr txBox="1"/>
            <p:nvPr/>
          </p:nvSpPr>
          <p:spPr>
            <a:xfrm>
              <a:off x="4480878" y="2146459"/>
              <a:ext cx="182245"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客户</a:t>
              </a:r>
              <a:br/>
              <a:r>
                <a:rPr lang="zh-CN" sz="680" dirty="0">
                  <a:solidFill>
                    <a:srgbClr val="333333"/>
                  </a:solidFill>
                  <a:latin typeface="+mn-lt"/>
                  <a:ea typeface="+mn-ea"/>
                  <a:cs typeface="+mn-cs"/>
                </a:rPr>
                <a:t>价值</a:t>
              </a:r>
            </a:p>
          </p:txBody>
        </p:sp>
        <p:sp>
          <p:nvSpPr>
            <p:cNvPr id="58" name="Line 58"/>
            <p:cNvSpPr/>
            <p:nvPr/>
          </p:nvSpPr>
          <p:spPr>
            <a:xfrm>
              <a:off x="4819650" y="2238375"/>
              <a:ext cx="476250" cy="1"/>
            </a:xfrm>
            <a:prstGeom prst="line">
              <a:avLst/>
            </a:prstGeom>
            <a:noFill/>
            <a:ln w="9525">
              <a:solidFill>
                <a:srgbClr val="9C594C"/>
              </a:solidFill>
              <a:tailEnd type="triangle" w="lg" len="lg"/>
            </a:ln>
          </p:spPr>
        </p:sp>
        <p:sp>
          <p:nvSpPr>
            <p:cNvPr id="59" name="Ellipse 59"/>
            <p:cNvSpPr/>
            <p:nvPr/>
          </p:nvSpPr>
          <p:spPr>
            <a:xfrm>
              <a:off x="5334000" y="2028825"/>
              <a:ext cx="419100" cy="419100"/>
            </a:xfrm>
            <a:prstGeom prst="ellipse">
              <a:avLst/>
            </a:prstGeom>
            <a:solidFill>
              <a:srgbClr val="F7B9AE"/>
            </a:solidFill>
            <a:ln>
              <a:noFill/>
            </a:ln>
          </p:spPr>
        </p:sp>
        <p:sp>
          <p:nvSpPr>
            <p:cNvPr id="60" name="TextBox 60"/>
            <p:cNvSpPr txBox="1"/>
            <p:nvPr/>
          </p:nvSpPr>
          <p:spPr>
            <a:xfrm>
              <a:off x="5452427" y="2146459"/>
              <a:ext cx="182245"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法律</a:t>
              </a:r>
              <a:br/>
              <a:r>
                <a:rPr lang="zh-CN" sz="680" dirty="0">
                  <a:solidFill>
                    <a:srgbClr val="333333"/>
                  </a:solidFill>
                  <a:latin typeface="+mn-lt"/>
                  <a:ea typeface="+mn-ea"/>
                  <a:cs typeface="+mn-cs"/>
                </a:rPr>
                <a:t>政策</a:t>
              </a:r>
            </a:p>
          </p:txBody>
        </p:sp>
        <p:sp>
          <p:nvSpPr>
            <p:cNvPr id="61" name="Line 61"/>
            <p:cNvSpPr/>
            <p:nvPr/>
          </p:nvSpPr>
          <p:spPr>
            <a:xfrm>
              <a:off x="5791200" y="2238375"/>
              <a:ext cx="495300" cy="1"/>
            </a:xfrm>
            <a:prstGeom prst="line">
              <a:avLst/>
            </a:prstGeom>
            <a:noFill/>
            <a:ln w="9525">
              <a:solidFill>
                <a:srgbClr val="9C594C"/>
              </a:solidFill>
              <a:headEnd type="triangle" w="lg" len="lg"/>
              <a:tailEnd type="triangle" w="lg" len="lg"/>
            </a:ln>
          </p:spPr>
        </p:sp>
        <p:sp>
          <p:nvSpPr>
            <p:cNvPr id="62" name="Ellipse 62"/>
            <p:cNvSpPr/>
            <p:nvPr/>
          </p:nvSpPr>
          <p:spPr>
            <a:xfrm>
              <a:off x="6324600" y="2028825"/>
              <a:ext cx="419100" cy="419100"/>
            </a:xfrm>
            <a:prstGeom prst="ellipse">
              <a:avLst/>
            </a:prstGeom>
            <a:solidFill>
              <a:srgbClr val="F7B9AE"/>
            </a:solidFill>
            <a:ln>
              <a:noFill/>
            </a:ln>
          </p:spPr>
        </p:sp>
        <p:sp>
          <p:nvSpPr>
            <p:cNvPr id="63" name="TextBox 63"/>
            <p:cNvSpPr txBox="1"/>
            <p:nvPr/>
          </p:nvSpPr>
          <p:spPr>
            <a:xfrm>
              <a:off x="6443027" y="2146459"/>
              <a:ext cx="182245"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信息</a:t>
              </a:r>
              <a:br/>
              <a:r>
                <a:rPr lang="zh-CN" sz="680" dirty="0">
                  <a:solidFill>
                    <a:srgbClr val="333333"/>
                  </a:solidFill>
                  <a:latin typeface="+mn-lt"/>
                  <a:ea typeface="+mn-ea"/>
                  <a:cs typeface="+mn-cs"/>
                </a:rPr>
                <a:t>文化</a:t>
              </a:r>
            </a:p>
          </p:txBody>
        </p:sp>
        <p:sp>
          <p:nvSpPr>
            <p:cNvPr id="64" name="Line 64"/>
            <p:cNvSpPr/>
            <p:nvPr/>
          </p:nvSpPr>
          <p:spPr>
            <a:xfrm flipH="1">
              <a:off x="6781800" y="2238375"/>
              <a:ext cx="476250" cy="1"/>
            </a:xfrm>
            <a:prstGeom prst="line">
              <a:avLst/>
            </a:prstGeom>
            <a:noFill/>
            <a:ln w="9525">
              <a:solidFill>
                <a:srgbClr val="9C594C"/>
              </a:solidFill>
              <a:tailEnd type="triangle" w="lg" len="lg"/>
            </a:ln>
          </p:spPr>
        </p:sp>
        <p:sp>
          <p:nvSpPr>
            <p:cNvPr id="65" name="Ellipse 65"/>
            <p:cNvSpPr/>
            <p:nvPr/>
          </p:nvSpPr>
          <p:spPr>
            <a:xfrm>
              <a:off x="7296150" y="2028825"/>
              <a:ext cx="419100" cy="419100"/>
            </a:xfrm>
            <a:prstGeom prst="ellipse">
              <a:avLst/>
            </a:prstGeom>
            <a:solidFill>
              <a:srgbClr val="DFF0D2"/>
            </a:solidFill>
            <a:ln>
              <a:noFill/>
            </a:ln>
          </p:spPr>
        </p:sp>
        <p:sp>
          <p:nvSpPr>
            <p:cNvPr id="66" name="TextBox 66"/>
            <p:cNvSpPr txBox="1"/>
            <p:nvPr/>
          </p:nvSpPr>
          <p:spPr>
            <a:xfrm>
              <a:off x="7414577" y="2146459"/>
              <a:ext cx="182245"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客户</a:t>
              </a:r>
              <a:br/>
              <a:r>
                <a:rPr lang="zh-CN" sz="680" dirty="0">
                  <a:solidFill>
                    <a:srgbClr val="333333"/>
                  </a:solidFill>
                  <a:latin typeface="+mn-lt"/>
                  <a:ea typeface="+mn-ea"/>
                  <a:cs typeface="+mn-cs"/>
                </a:rPr>
                <a:t>级别</a:t>
              </a:r>
            </a:p>
          </p:txBody>
        </p:sp>
        <p:sp>
          <p:nvSpPr>
            <p:cNvPr id="67" name="Ellipse 67"/>
            <p:cNvSpPr/>
            <p:nvPr/>
          </p:nvSpPr>
          <p:spPr>
            <a:xfrm>
              <a:off x="4381500" y="2524125"/>
              <a:ext cx="1809750" cy="1809750"/>
            </a:xfrm>
            <a:prstGeom prst="ellipse">
              <a:avLst/>
            </a:prstGeom>
            <a:solidFill>
              <a:srgbClr val="FDF8EA"/>
            </a:solidFill>
            <a:ln w="11430">
              <a:solidFill>
                <a:srgbClr val="E9563C"/>
              </a:solidFill>
              <a:custDash>
                <a:ds d="416667" sp="333333"/>
              </a:custDash>
            </a:ln>
          </p:spPr>
        </p:sp>
        <p:sp>
          <p:nvSpPr>
            <p:cNvPr id="68" name="Ellipse 68"/>
            <p:cNvSpPr/>
            <p:nvPr/>
          </p:nvSpPr>
          <p:spPr>
            <a:xfrm>
              <a:off x="5905500" y="2524125"/>
              <a:ext cx="1809750" cy="1809750"/>
            </a:xfrm>
            <a:prstGeom prst="ellipse">
              <a:avLst/>
            </a:prstGeom>
            <a:solidFill>
              <a:srgbClr val="F4F8EF">
                <a:alpha val="90000"/>
              </a:srgbClr>
            </a:solidFill>
            <a:ln w="11430">
              <a:solidFill>
                <a:srgbClr val="C9D8BD"/>
              </a:solidFill>
              <a:custDash>
                <a:ds d="416667" sp="333333"/>
              </a:custDash>
            </a:ln>
          </p:spPr>
        </p:sp>
        <p:grpSp>
          <p:nvGrpSpPr>
            <p:cNvPr id="72" name="Group 72"/>
            <p:cNvGrpSpPr/>
            <p:nvPr/>
          </p:nvGrpSpPr>
          <p:grpSpPr>
            <a:xfrm>
              <a:off x="5210175" y="2943225"/>
              <a:ext cx="152400" cy="171450"/>
              <a:chOff x="5210175" y="2943225"/>
              <a:chExt cx="152400" cy="171450"/>
            </a:xfrm>
          </p:grpSpPr>
          <p:sp>
            <p:nvSpPr>
              <p:cNvPr id="69" name="Freeform 69"/>
              <p:cNvSpPr/>
              <p:nvPr/>
            </p:nvSpPr>
            <p:spPr>
              <a:xfrm>
                <a:off x="5210175" y="294322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D6391E"/>
                </a:solidFill>
              </a:ln>
            </p:spPr>
          </p:sp>
          <p:sp>
            <p:nvSpPr>
              <p:cNvPr id="70" name="Freeform 70"/>
              <p:cNvSpPr/>
              <p:nvPr/>
            </p:nvSpPr>
            <p:spPr>
              <a:xfrm>
                <a:off x="5210175" y="29718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D6391E"/>
                </a:solidFill>
              </a:ln>
            </p:spPr>
          </p:sp>
          <p:sp>
            <p:nvSpPr>
              <p:cNvPr id="71" name="Freeform 71"/>
              <p:cNvSpPr/>
              <p:nvPr/>
            </p:nvSpPr>
            <p:spPr>
              <a:xfrm>
                <a:off x="5210175" y="30289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D6391E"/>
                </a:solidFill>
              </a:ln>
            </p:spPr>
          </p:sp>
        </p:grpSp>
        <p:sp>
          <p:nvSpPr>
            <p:cNvPr id="73" name="TextBox 73"/>
            <p:cNvSpPr txBox="1"/>
            <p:nvPr/>
          </p:nvSpPr>
          <p:spPr>
            <a:xfrm>
              <a:off x="5022532" y="3260884"/>
              <a:ext cx="527685"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333333"/>
                  </a:solidFill>
                  <a:latin typeface="+mn-lt"/>
                  <a:ea typeface="+mn-ea"/>
                  <a:cs typeface="+mn-cs"/>
                </a:rPr>
                <a:t>数据清洗建模</a:t>
              </a:r>
              <a:br/>
              <a:r>
                <a:rPr lang="zh-CN" sz="680" dirty="0">
                  <a:solidFill>
                    <a:srgbClr val="333333"/>
                  </a:solidFill>
                  <a:latin typeface="+mn-lt"/>
                  <a:ea typeface="+mn-ea"/>
                  <a:cs typeface="+mn-cs"/>
                </a:rPr>
                <a:t>全面客户画像</a:t>
              </a:r>
            </a:p>
          </p:txBody>
        </p:sp>
        <p:grpSp>
          <p:nvGrpSpPr>
            <p:cNvPr id="78" name="Group 78"/>
            <p:cNvGrpSpPr/>
            <p:nvPr/>
          </p:nvGrpSpPr>
          <p:grpSpPr>
            <a:xfrm>
              <a:off x="6724650" y="2952750"/>
              <a:ext cx="171450" cy="161925"/>
              <a:chOff x="6724650" y="2952750"/>
              <a:chExt cx="171450" cy="161925"/>
            </a:xfrm>
          </p:grpSpPr>
          <p:sp>
            <p:nvSpPr>
              <p:cNvPr id="74" name="Freeform 74"/>
              <p:cNvSpPr/>
              <p:nvPr/>
            </p:nvSpPr>
            <p:spPr>
              <a:xfrm>
                <a:off x="6724650" y="30289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9C594C"/>
                </a:solidFill>
              </a:ln>
            </p:spPr>
          </p:sp>
          <p:sp>
            <p:nvSpPr>
              <p:cNvPr id="75" name="Freeform 75"/>
              <p:cNvSpPr/>
              <p:nvPr/>
            </p:nvSpPr>
            <p:spPr>
              <a:xfrm>
                <a:off x="6838950" y="29908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9C594C"/>
                </a:solidFill>
              </a:ln>
            </p:spPr>
          </p:sp>
          <p:sp>
            <p:nvSpPr>
              <p:cNvPr id="76" name="Freeform 76"/>
              <p:cNvSpPr/>
              <p:nvPr/>
            </p:nvSpPr>
            <p:spPr>
              <a:xfrm>
                <a:off x="6781800" y="29527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9C594C"/>
                </a:solidFill>
              </a:ln>
            </p:spPr>
          </p:sp>
          <p:sp>
            <p:nvSpPr>
              <p:cNvPr id="77" name="Freeform 77"/>
              <p:cNvSpPr/>
              <p:nvPr/>
            </p:nvSpPr>
            <p:spPr>
              <a:xfrm>
                <a:off x="6734175" y="3105150"/>
                <a:ext cx="133350" cy="9525"/>
              </a:xfrm>
              <a:custGeom>
                <a:avLst/>
                <a:gdLst/>
                <a:ahLst/>
                <a:cxnLst/>
                <a:rect l="l" t="t" r="r" b="b"/>
                <a:pathLst>
                  <a:path w="133350" h="9525">
                    <a:moveTo>
                      <a:pt x="0" y="0"/>
                    </a:moveTo>
                    <a:lnTo>
                      <a:pt x="133350" y="0"/>
                    </a:lnTo>
                  </a:path>
                </a:pathLst>
              </a:custGeom>
              <a:noFill/>
              <a:ln w="19050">
                <a:solidFill>
                  <a:srgbClr val="9C594C"/>
                </a:solidFill>
              </a:ln>
            </p:spPr>
          </p:sp>
        </p:grpSp>
        <p:sp>
          <p:nvSpPr>
            <p:cNvPr id="79" name="TextBox 79"/>
            <p:cNvSpPr txBox="1"/>
            <p:nvPr/>
          </p:nvSpPr>
          <p:spPr>
            <a:xfrm>
              <a:off x="6546532" y="3260884"/>
              <a:ext cx="527685"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333333"/>
                  </a:solidFill>
                  <a:latin typeface="+mn-lt"/>
                  <a:ea typeface="+mn-ea"/>
                  <a:cs typeface="+mn-cs"/>
                </a:rPr>
                <a:t>数据洞察应用</a:t>
              </a:r>
              <a:br/>
              <a:r>
                <a:rPr lang="zh-CN" sz="680" dirty="0">
                  <a:solidFill>
                    <a:srgbClr val="333333"/>
                  </a:solidFill>
                  <a:latin typeface="+mn-lt"/>
                  <a:ea typeface="+mn-ea"/>
                  <a:cs typeface="+mn-cs"/>
                </a:rPr>
                <a:t>客户分组</a:t>
              </a:r>
            </a:p>
          </p:txBody>
        </p:sp>
        <p:sp>
          <p:nvSpPr>
            <p:cNvPr id="80" name="TextBox 80"/>
            <p:cNvSpPr txBox="1"/>
            <p:nvPr/>
          </p:nvSpPr>
          <p:spPr>
            <a:xfrm>
              <a:off x="5986462" y="3179445"/>
              <a:ext cx="123825" cy="576262"/>
            </a:xfrm>
            <a:prstGeom prst="rect">
              <a:avLst/>
            </a:prstGeom>
            <a:noFill/>
            <a:ln>
              <a:noFill/>
            </a:ln>
          </p:spPr>
          <p:txBody>
            <a:bodyPr wrap="none" lIns="0" tIns="0" rIns="0" bIns="0" anchor="t" anchorCtr="0">
              <a:spAutoFit/>
            </a:bodyPr>
            <a:lstStyle/>
            <a:p>
              <a:pPr algn="ctr">
                <a:lnSpc>
                  <a:spcPts val="1050"/>
                </a:lnSpc>
              </a:pPr>
              <a:r>
                <a:rPr lang="zh-CN" sz="900" b="1" dirty="0">
                  <a:solidFill>
                    <a:srgbClr val="333333"/>
                  </a:solidFill>
                  <a:latin typeface="+mn-lt"/>
                  <a:ea typeface="+mn-ea"/>
                  <a:cs typeface="+mn-cs"/>
                </a:rPr>
                <a:t>营</a:t>
              </a:r>
              <a:br/>
              <a:r>
                <a:rPr lang="zh-CN" sz="900" b="1" dirty="0">
                  <a:solidFill>
                    <a:srgbClr val="333333"/>
                  </a:solidFill>
                  <a:latin typeface="+mn-lt"/>
                  <a:ea typeface="+mn-ea"/>
                  <a:cs typeface="+mn-cs"/>
                </a:rPr>
                <a:t>销</a:t>
              </a:r>
              <a:br/>
              <a:r>
                <a:rPr lang="zh-CN" sz="900" b="1" dirty="0">
                  <a:solidFill>
                    <a:srgbClr val="333333"/>
                  </a:solidFill>
                  <a:latin typeface="+mn-lt"/>
                  <a:ea typeface="+mn-ea"/>
                  <a:cs typeface="+mn-cs"/>
                </a:rPr>
                <a:t>目</a:t>
              </a:r>
              <a:br/>
              <a:r>
                <a:rPr lang="zh-CN" sz="900" b="1" dirty="0">
                  <a:solidFill>
                    <a:srgbClr val="333333"/>
                  </a:solidFill>
                  <a:latin typeface="+mn-lt"/>
                  <a:ea typeface="+mn-ea"/>
                  <a:cs typeface="+mn-cs"/>
                </a:rPr>
                <a:t>标</a:t>
              </a:r>
            </a:p>
          </p:txBody>
        </p:sp>
        <p:sp>
          <p:nvSpPr>
            <p:cNvPr id="81" name="TextBox 81"/>
            <p:cNvSpPr txBox="1"/>
            <p:nvPr/>
          </p:nvSpPr>
          <p:spPr>
            <a:xfrm rot="-4200000">
              <a:off x="4262849" y="3367677"/>
              <a:ext cx="494157"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信息生态主体</a:t>
              </a:r>
            </a:p>
          </p:txBody>
        </p:sp>
        <p:sp>
          <p:nvSpPr>
            <p:cNvPr id="82" name="TextBox 82"/>
            <p:cNvSpPr txBox="1"/>
            <p:nvPr/>
          </p:nvSpPr>
          <p:spPr>
            <a:xfrm rot="4200000">
              <a:off x="7339744" y="3367677"/>
              <a:ext cx="494157"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信息生态主体</a:t>
              </a:r>
            </a:p>
          </p:txBody>
        </p:sp>
        <p:sp>
          <p:nvSpPr>
            <p:cNvPr id="83" name="Ellipse 83"/>
            <p:cNvSpPr/>
            <p:nvPr/>
          </p:nvSpPr>
          <p:spPr>
            <a:xfrm>
              <a:off x="4362450" y="4267200"/>
              <a:ext cx="419100" cy="419100"/>
            </a:xfrm>
            <a:prstGeom prst="ellipse">
              <a:avLst/>
            </a:prstGeom>
            <a:solidFill>
              <a:srgbClr val="FDF6E7"/>
            </a:solidFill>
            <a:ln>
              <a:noFill/>
            </a:ln>
          </p:spPr>
        </p:sp>
        <p:sp>
          <p:nvSpPr>
            <p:cNvPr id="84" name="TextBox 84"/>
            <p:cNvSpPr txBox="1"/>
            <p:nvPr/>
          </p:nvSpPr>
          <p:spPr>
            <a:xfrm>
              <a:off x="4480878" y="4384834"/>
              <a:ext cx="182245"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客户</a:t>
              </a:r>
              <a:br/>
              <a:r>
                <a:rPr lang="zh-CN" sz="680" dirty="0">
                  <a:solidFill>
                    <a:srgbClr val="333333"/>
                  </a:solidFill>
                  <a:latin typeface="+mn-lt"/>
                  <a:ea typeface="+mn-ea"/>
                  <a:cs typeface="+mn-cs"/>
                </a:rPr>
                <a:t>价值</a:t>
              </a:r>
            </a:p>
          </p:txBody>
        </p:sp>
        <p:sp>
          <p:nvSpPr>
            <p:cNvPr id="85" name="Ellipse 85"/>
            <p:cNvSpPr/>
            <p:nvPr/>
          </p:nvSpPr>
          <p:spPr>
            <a:xfrm>
              <a:off x="5334000" y="4267200"/>
              <a:ext cx="419100" cy="419100"/>
            </a:xfrm>
            <a:prstGeom prst="ellipse">
              <a:avLst/>
            </a:prstGeom>
            <a:solidFill>
              <a:srgbClr val="F7B9AE"/>
            </a:solidFill>
            <a:ln>
              <a:noFill/>
            </a:ln>
          </p:spPr>
        </p:sp>
        <p:sp>
          <p:nvSpPr>
            <p:cNvPr id="86" name="TextBox 86"/>
            <p:cNvSpPr txBox="1"/>
            <p:nvPr/>
          </p:nvSpPr>
          <p:spPr>
            <a:xfrm>
              <a:off x="5452427" y="4384834"/>
              <a:ext cx="182245"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法律</a:t>
              </a:r>
              <a:br/>
              <a:r>
                <a:rPr lang="zh-CN" sz="680" dirty="0">
                  <a:solidFill>
                    <a:srgbClr val="333333"/>
                  </a:solidFill>
                  <a:latin typeface="+mn-lt"/>
                  <a:ea typeface="+mn-ea"/>
                  <a:cs typeface="+mn-cs"/>
                </a:rPr>
                <a:t>政策</a:t>
              </a:r>
            </a:p>
          </p:txBody>
        </p:sp>
        <p:sp>
          <p:nvSpPr>
            <p:cNvPr id="87" name="Ellipse 87"/>
            <p:cNvSpPr/>
            <p:nvPr/>
          </p:nvSpPr>
          <p:spPr>
            <a:xfrm>
              <a:off x="6324600" y="4267200"/>
              <a:ext cx="419100" cy="419100"/>
            </a:xfrm>
            <a:prstGeom prst="ellipse">
              <a:avLst/>
            </a:prstGeom>
            <a:solidFill>
              <a:srgbClr val="DFF0D2"/>
            </a:solidFill>
            <a:ln>
              <a:noFill/>
            </a:ln>
          </p:spPr>
        </p:sp>
        <p:sp>
          <p:nvSpPr>
            <p:cNvPr id="88" name="TextBox 88"/>
            <p:cNvSpPr txBox="1"/>
            <p:nvPr/>
          </p:nvSpPr>
          <p:spPr>
            <a:xfrm>
              <a:off x="6443027" y="4384834"/>
              <a:ext cx="182245"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信息</a:t>
              </a:r>
              <a:br/>
              <a:r>
                <a:rPr lang="zh-CN" sz="680" dirty="0">
                  <a:solidFill>
                    <a:srgbClr val="333333"/>
                  </a:solidFill>
                  <a:latin typeface="+mn-lt"/>
                  <a:ea typeface="+mn-ea"/>
                  <a:cs typeface="+mn-cs"/>
                </a:rPr>
                <a:t>文化</a:t>
              </a:r>
            </a:p>
          </p:txBody>
        </p:sp>
        <p:sp>
          <p:nvSpPr>
            <p:cNvPr id="89" name="Ellipse 89"/>
            <p:cNvSpPr/>
            <p:nvPr/>
          </p:nvSpPr>
          <p:spPr>
            <a:xfrm>
              <a:off x="7296150" y="4267200"/>
              <a:ext cx="419100" cy="419100"/>
            </a:xfrm>
            <a:prstGeom prst="ellipse">
              <a:avLst/>
            </a:prstGeom>
            <a:solidFill>
              <a:srgbClr val="DFF0D2"/>
            </a:solidFill>
            <a:ln>
              <a:noFill/>
            </a:ln>
          </p:spPr>
        </p:sp>
        <p:sp>
          <p:nvSpPr>
            <p:cNvPr id="90" name="TextBox 90"/>
            <p:cNvSpPr txBox="1"/>
            <p:nvPr/>
          </p:nvSpPr>
          <p:spPr>
            <a:xfrm>
              <a:off x="7414577" y="4384834"/>
              <a:ext cx="182245" cy="238125"/>
            </a:xfrm>
            <a:prstGeom prst="rect">
              <a:avLst/>
            </a:prstGeom>
            <a:noFill/>
            <a:ln>
              <a:noFill/>
            </a:ln>
          </p:spPr>
          <p:txBody>
            <a:bodyPr wrap="none" lIns="0" tIns="0" rIns="0" bIns="0" anchor="t" anchorCtr="0">
              <a:spAutoFit/>
            </a:bodyPr>
            <a:lstStyle/>
            <a:p>
              <a:pPr algn="ctr">
                <a:lnSpc>
                  <a:spcPts val="825"/>
                </a:lnSpc>
              </a:pPr>
              <a:r>
                <a:rPr lang="zh-CN" sz="680" dirty="0">
                  <a:solidFill>
                    <a:srgbClr val="333333"/>
                  </a:solidFill>
                  <a:latin typeface="+mn-lt"/>
                  <a:ea typeface="+mn-ea"/>
                  <a:cs typeface="+mn-cs"/>
                </a:rPr>
                <a:t>客户</a:t>
              </a:r>
              <a:br/>
              <a:r>
                <a:rPr lang="zh-CN" sz="680" dirty="0">
                  <a:solidFill>
                    <a:srgbClr val="333333"/>
                  </a:solidFill>
                  <a:latin typeface="+mn-lt"/>
                  <a:ea typeface="+mn-ea"/>
                  <a:cs typeface="+mn-cs"/>
                </a:rPr>
                <a:t>级别</a:t>
              </a:r>
            </a:p>
          </p:txBody>
        </p:sp>
        <p:sp>
          <p:nvSpPr>
            <p:cNvPr id="91" name="Line 91"/>
            <p:cNvSpPr/>
            <p:nvPr/>
          </p:nvSpPr>
          <p:spPr>
            <a:xfrm>
              <a:off x="4714875" y="4705350"/>
              <a:ext cx="47625" cy="419100"/>
            </a:xfrm>
            <a:custGeom>
              <a:avLst/>
              <a:gdLst/>
              <a:ahLst/>
              <a:cxnLst/>
              <a:rect l="l" t="t" r="r" b="b"/>
              <a:pathLst>
                <a:path w="47625" h="419100">
                  <a:moveTo>
                    <a:pt x="47625" y="0"/>
                  </a:moveTo>
                  <a:lnTo>
                    <a:pt x="0" y="419100"/>
                  </a:lnTo>
                </a:path>
              </a:pathLst>
            </a:custGeom>
            <a:noFill/>
            <a:ln w="9525">
              <a:solidFill>
                <a:srgbClr val="E9563C"/>
              </a:solidFill>
              <a:custDash>
                <a:ds d="300000" sp="200000"/>
              </a:custDash>
            </a:ln>
          </p:spPr>
        </p:sp>
        <p:sp>
          <p:nvSpPr>
            <p:cNvPr id="92" name="Line 92"/>
            <p:cNvSpPr/>
            <p:nvPr/>
          </p:nvSpPr>
          <p:spPr>
            <a:xfrm>
              <a:off x="5715000" y="4705350"/>
              <a:ext cx="95250" cy="419100"/>
            </a:xfrm>
            <a:custGeom>
              <a:avLst/>
              <a:gdLst/>
              <a:ahLst/>
              <a:cxnLst/>
              <a:rect l="l" t="t" r="r" b="b"/>
              <a:pathLst>
                <a:path w="95250" h="419100">
                  <a:moveTo>
                    <a:pt x="0" y="0"/>
                  </a:moveTo>
                  <a:lnTo>
                    <a:pt x="95250" y="419100"/>
                  </a:lnTo>
                </a:path>
              </a:pathLst>
            </a:custGeom>
            <a:noFill/>
            <a:ln w="9525">
              <a:solidFill>
                <a:srgbClr val="BF857A"/>
              </a:solidFill>
              <a:custDash>
                <a:ds d="300000" sp="200000"/>
              </a:custDash>
            </a:ln>
          </p:spPr>
        </p:sp>
        <p:sp>
          <p:nvSpPr>
            <p:cNvPr id="93" name="Line 93"/>
            <p:cNvSpPr/>
            <p:nvPr/>
          </p:nvSpPr>
          <p:spPr>
            <a:xfrm>
              <a:off x="6858000" y="4705350"/>
              <a:ext cx="238125" cy="419100"/>
            </a:xfrm>
            <a:custGeom>
              <a:avLst/>
              <a:gdLst/>
              <a:ahLst/>
              <a:cxnLst/>
              <a:rect l="l" t="t" r="r" b="b"/>
              <a:pathLst>
                <a:path w="238125" h="419100">
                  <a:moveTo>
                    <a:pt x="0" y="0"/>
                  </a:moveTo>
                  <a:lnTo>
                    <a:pt x="238125" y="419100"/>
                  </a:lnTo>
                </a:path>
              </a:pathLst>
            </a:custGeom>
            <a:noFill/>
            <a:ln w="9525">
              <a:solidFill>
                <a:srgbClr val="BF857A"/>
              </a:solidFill>
              <a:custDash>
                <a:ds d="300000" sp="200000"/>
              </a:custDash>
            </a:ln>
          </p:spPr>
        </p:sp>
        <p:sp>
          <p:nvSpPr>
            <p:cNvPr id="94" name="Rectangle 94"/>
            <p:cNvSpPr/>
            <p:nvPr/>
          </p:nvSpPr>
          <p:spPr>
            <a:xfrm>
              <a:off x="4238625" y="5143500"/>
              <a:ext cx="952500" cy="304800"/>
            </a:xfrm>
            <a:prstGeom prst="rect">
              <a:avLst/>
            </a:prstGeom>
            <a:solidFill>
              <a:srgbClr val="E9563C"/>
            </a:solidFill>
            <a:ln>
              <a:noFill/>
            </a:ln>
          </p:spPr>
        </p:sp>
        <p:sp>
          <p:nvSpPr>
            <p:cNvPr id="95" name="TextBox 95"/>
            <p:cNvSpPr txBox="1"/>
            <p:nvPr/>
          </p:nvSpPr>
          <p:spPr>
            <a:xfrm>
              <a:off x="4434142" y="5254466"/>
              <a:ext cx="56146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企业活跃度</a:t>
              </a:r>
            </a:p>
          </p:txBody>
        </p:sp>
        <p:sp>
          <p:nvSpPr>
            <p:cNvPr id="96" name="Rectangle 96"/>
            <p:cNvSpPr/>
            <p:nvPr/>
          </p:nvSpPr>
          <p:spPr>
            <a:xfrm>
              <a:off x="5334000" y="5143500"/>
              <a:ext cx="952500" cy="304800"/>
            </a:xfrm>
            <a:prstGeom prst="rect">
              <a:avLst/>
            </a:prstGeom>
            <a:solidFill>
              <a:srgbClr val="9C594C"/>
            </a:solidFill>
            <a:ln>
              <a:noFill/>
            </a:ln>
          </p:spPr>
        </p:sp>
        <p:sp>
          <p:nvSpPr>
            <p:cNvPr id="97" name="TextBox 97"/>
            <p:cNvSpPr txBox="1"/>
            <p:nvPr/>
          </p:nvSpPr>
          <p:spPr>
            <a:xfrm>
              <a:off x="5639905" y="5254466"/>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线索云</a:t>
              </a:r>
            </a:p>
          </p:txBody>
        </p:sp>
        <p:sp>
          <p:nvSpPr>
            <p:cNvPr id="98" name="Rectangle 98"/>
            <p:cNvSpPr/>
            <p:nvPr/>
          </p:nvSpPr>
          <p:spPr>
            <a:xfrm>
              <a:off x="6572250" y="5143500"/>
              <a:ext cx="1047750" cy="304800"/>
            </a:xfrm>
            <a:prstGeom prst="rect">
              <a:avLst/>
            </a:prstGeom>
            <a:solidFill>
              <a:srgbClr val="9C594C"/>
            </a:solidFill>
            <a:ln>
              <a:noFill/>
            </a:ln>
          </p:spPr>
        </p:sp>
        <p:sp>
          <p:nvSpPr>
            <p:cNvPr id="99" name="TextBox 99"/>
            <p:cNvSpPr txBox="1"/>
            <p:nvPr/>
          </p:nvSpPr>
          <p:spPr>
            <a:xfrm>
              <a:off x="6870586" y="52544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客户信息</a:t>
              </a:r>
            </a:p>
          </p:txBody>
        </p:sp>
      </p:grpSp>
      <p:grpSp>
        <p:nvGrpSpPr>
          <p:cNvPr id="146" name="step-3"/>
          <p:cNvGrpSpPr/>
          <p:nvPr/>
        </p:nvGrpSpPr>
        <p:grpSpPr>
          <a:xfrm>
            <a:off x="8096250" y="914400"/>
            <a:ext cx="3714750" cy="5372100"/>
            <a:chOff x="8096250" y="914400"/>
            <a:chExt cx="3714750" cy="5372100"/>
          </a:xfrm>
        </p:grpSpPr>
        <p:sp>
          <p:nvSpPr>
            <p:cNvPr id="101" name="Rectangle 101"/>
            <p:cNvSpPr/>
            <p:nvPr/>
          </p:nvSpPr>
          <p:spPr>
            <a:xfrm>
              <a:off x="8096250" y="1066800"/>
              <a:ext cx="3714750" cy="5219700"/>
            </a:xfrm>
            <a:prstGeom prst="rect">
              <a:avLst/>
            </a:prstGeom>
            <a:solidFill>
              <a:srgbClr val="FAFCF8"/>
            </a:solidFill>
            <a:ln w="11430">
              <a:solidFill>
                <a:srgbClr val="9C594C"/>
              </a:solidFill>
              <a:custDash>
                <a:ds d="500000" sp="333333"/>
              </a:custDash>
            </a:ln>
          </p:spPr>
        </p:sp>
        <p:sp>
          <p:nvSpPr>
            <p:cNvPr id="102" name="Rectangle 102"/>
            <p:cNvSpPr/>
            <p:nvPr/>
          </p:nvSpPr>
          <p:spPr>
            <a:xfrm>
              <a:off x="8096250" y="914400"/>
              <a:ext cx="1238250" cy="304800"/>
            </a:xfrm>
            <a:prstGeom prst="rect">
              <a:avLst/>
            </a:prstGeom>
            <a:solidFill>
              <a:srgbClr val="FFFFFF"/>
            </a:solidFill>
            <a:ln w="19050">
              <a:solidFill>
                <a:srgbClr val="9C594C"/>
              </a:solidFill>
            </a:ln>
          </p:spPr>
        </p:sp>
        <p:grpSp>
          <p:nvGrpSpPr>
            <p:cNvPr id="107" name="Group 107"/>
            <p:cNvGrpSpPr/>
            <p:nvPr/>
          </p:nvGrpSpPr>
          <p:grpSpPr>
            <a:xfrm>
              <a:off x="8212931" y="1002506"/>
              <a:ext cx="128588" cy="128588"/>
              <a:chOff x="8212931" y="1002506"/>
              <a:chExt cx="128588" cy="128588"/>
            </a:xfrm>
          </p:grpSpPr>
          <p:sp>
            <p:nvSpPr>
              <p:cNvPr id="103" name="Freeform 103"/>
              <p:cNvSpPr/>
              <p:nvPr/>
            </p:nvSpPr>
            <p:spPr>
              <a:xfrm>
                <a:off x="8227219" y="100250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7A3E33"/>
                </a:solidFill>
              </a:ln>
            </p:spPr>
          </p:sp>
          <p:sp>
            <p:nvSpPr>
              <p:cNvPr id="104" name="Freeform 104"/>
              <p:cNvSpPr/>
              <p:nvPr/>
            </p:nvSpPr>
            <p:spPr>
              <a:xfrm>
                <a:off x="8212931" y="108823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7A3E33"/>
                </a:solidFill>
              </a:ln>
            </p:spPr>
          </p:sp>
          <p:sp>
            <p:nvSpPr>
              <p:cNvPr id="105" name="Freeform 105"/>
              <p:cNvSpPr/>
              <p:nvPr/>
            </p:nvSpPr>
            <p:spPr>
              <a:xfrm>
                <a:off x="8305800" y="100343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7A3E33"/>
                </a:solidFill>
              </a:ln>
            </p:spPr>
          </p:sp>
          <p:sp>
            <p:nvSpPr>
              <p:cNvPr id="106" name="Freeform 106"/>
              <p:cNvSpPr/>
              <p:nvPr/>
            </p:nvSpPr>
            <p:spPr>
              <a:xfrm>
                <a:off x="8320088" y="108930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7A3E33"/>
                </a:solidFill>
              </a:ln>
            </p:spPr>
          </p:sp>
        </p:grpSp>
        <p:sp>
          <p:nvSpPr>
            <p:cNvPr id="108" name="TextBox 108"/>
            <p:cNvSpPr txBox="1"/>
            <p:nvPr/>
          </p:nvSpPr>
          <p:spPr>
            <a:xfrm>
              <a:off x="8433435" y="1002506"/>
              <a:ext cx="501118" cy="220028"/>
            </a:xfrm>
            <a:prstGeom prst="rect">
              <a:avLst/>
            </a:prstGeom>
            <a:noFill/>
            <a:ln>
              <a:noFill/>
            </a:ln>
          </p:spPr>
          <p:txBody>
            <a:bodyPr wrap="none" lIns="0" tIns="0" rIns="0" bIns="0" anchor="t" anchorCtr="0">
              <a:spAutoFit/>
            </a:bodyPr>
            <a:lstStyle/>
            <a:p>
              <a:pPr algn="l"/>
              <a:r>
                <a:rPr lang="en-US" sz="1120" b="1" dirty="0">
                  <a:solidFill>
                    <a:srgbClr val="333333"/>
                  </a:solidFill>
                  <a:latin typeface="+mn-lt"/>
                  <a:ea typeface="+mn-ea"/>
                  <a:cs typeface="+mn-cs"/>
                </a:rPr>
                <a:t>Step 3</a:t>
              </a:r>
            </a:p>
          </p:txBody>
        </p:sp>
        <p:sp>
          <p:nvSpPr>
            <p:cNvPr id="109" name="TextBox 109"/>
            <p:cNvSpPr txBox="1"/>
            <p:nvPr/>
          </p:nvSpPr>
          <p:spPr>
            <a:xfrm>
              <a:off x="9542145" y="1666875"/>
              <a:ext cx="822960" cy="293370"/>
            </a:xfrm>
            <a:prstGeom prst="rect">
              <a:avLst/>
            </a:prstGeom>
            <a:noFill/>
            <a:ln>
              <a:noFill/>
            </a:ln>
          </p:spPr>
          <p:txBody>
            <a:bodyPr wrap="none" lIns="0" tIns="0" rIns="0" bIns="0" anchor="t" anchorCtr="0">
              <a:spAutoFit/>
            </a:bodyPr>
            <a:lstStyle/>
            <a:p>
              <a:pPr algn="ctr"/>
              <a:r>
                <a:rPr lang="zh-CN" sz="1500" b="1" dirty="0">
                  <a:solidFill>
                    <a:srgbClr val="7A3E33"/>
                  </a:solidFill>
                  <a:latin typeface="+mn-lt"/>
                  <a:ea typeface="+mn-ea"/>
                  <a:cs typeface="+mn-cs"/>
                </a:rPr>
                <a:t>流量目标</a:t>
              </a:r>
            </a:p>
          </p:txBody>
        </p:sp>
        <p:sp>
          <p:nvSpPr>
            <p:cNvPr id="110" name="TextBox 110"/>
            <p:cNvSpPr txBox="1"/>
            <p:nvPr/>
          </p:nvSpPr>
          <p:spPr>
            <a:xfrm>
              <a:off x="9010561" y="2082641"/>
              <a:ext cx="1886128"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线索数据沉淀，全流程跟踪，无缝衔接</a:t>
              </a:r>
            </a:p>
          </p:txBody>
        </p:sp>
        <p:sp>
          <p:nvSpPr>
            <p:cNvPr id="111" name="Freeform 111"/>
            <p:cNvSpPr/>
            <p:nvPr/>
          </p:nvSpPr>
          <p:spPr>
            <a:xfrm>
              <a:off x="8572500" y="3143250"/>
              <a:ext cx="226118" cy="1143000"/>
            </a:xfrm>
            <a:custGeom>
              <a:avLst/>
              <a:gdLst/>
              <a:ahLst/>
              <a:cxnLst/>
              <a:rect l="l" t="t" r="r" b="b"/>
              <a:pathLst>
                <a:path w="226118" h="1143000">
                  <a:moveTo>
                    <a:pt x="0" y="0"/>
                  </a:moveTo>
                  <a:cubicBezTo>
                    <a:pt x="226118" y="347451"/>
                    <a:pt x="226118" y="795549"/>
                    <a:pt x="0" y="1143000"/>
                  </a:cubicBezTo>
                </a:path>
              </a:pathLst>
            </a:custGeom>
            <a:noFill/>
            <a:ln w="11430">
              <a:solidFill>
                <a:srgbClr val="BF857A"/>
              </a:solidFill>
              <a:custDash>
                <a:ds d="333333" sp="250000"/>
              </a:custDash>
            </a:ln>
          </p:spPr>
        </p:sp>
        <p:sp>
          <p:nvSpPr>
            <p:cNvPr id="112" name="Freeform 112"/>
            <p:cNvSpPr/>
            <p:nvPr/>
          </p:nvSpPr>
          <p:spPr>
            <a:xfrm>
              <a:off x="11108632" y="3143250"/>
              <a:ext cx="226118" cy="1143000"/>
            </a:xfrm>
            <a:custGeom>
              <a:avLst/>
              <a:gdLst/>
              <a:ahLst/>
              <a:cxnLst/>
              <a:rect l="l" t="t" r="r" b="b"/>
              <a:pathLst>
                <a:path w="226118" h="1143000">
                  <a:moveTo>
                    <a:pt x="226118" y="1143000"/>
                  </a:moveTo>
                  <a:cubicBezTo>
                    <a:pt x="0" y="795549"/>
                    <a:pt x="0" y="347451"/>
                    <a:pt x="226118" y="0"/>
                  </a:cubicBezTo>
                </a:path>
              </a:pathLst>
            </a:custGeom>
            <a:noFill/>
            <a:ln w="11430">
              <a:solidFill>
                <a:srgbClr val="BF857A"/>
              </a:solidFill>
              <a:custDash>
                <a:ds d="333333" sp="250000"/>
              </a:custDash>
            </a:ln>
          </p:spPr>
        </p:sp>
        <p:sp>
          <p:nvSpPr>
            <p:cNvPr id="113" name="Ellipse 113"/>
            <p:cNvSpPr/>
            <p:nvPr/>
          </p:nvSpPr>
          <p:spPr>
            <a:xfrm>
              <a:off x="8686800" y="2971800"/>
              <a:ext cx="1485900" cy="1485900"/>
            </a:xfrm>
            <a:prstGeom prst="ellipse">
              <a:avLst/>
            </a:prstGeom>
            <a:solidFill>
              <a:srgbClr val="9C594C"/>
            </a:solidFill>
            <a:ln>
              <a:noFill/>
            </a:ln>
          </p:spPr>
        </p:sp>
        <p:sp>
          <p:nvSpPr>
            <p:cNvPr id="114" name="Ellipse 114"/>
            <p:cNvSpPr/>
            <p:nvPr/>
          </p:nvSpPr>
          <p:spPr>
            <a:xfrm>
              <a:off x="9277350" y="3295650"/>
              <a:ext cx="304800" cy="304800"/>
            </a:xfrm>
            <a:prstGeom prst="ellipse">
              <a:avLst/>
            </a:prstGeom>
            <a:solidFill>
              <a:srgbClr val="FFFFFF"/>
            </a:solidFill>
            <a:ln>
              <a:noFill/>
            </a:ln>
          </p:spPr>
        </p:sp>
        <p:grpSp>
          <p:nvGrpSpPr>
            <p:cNvPr id="118" name="Group 118"/>
            <p:cNvGrpSpPr/>
            <p:nvPr/>
          </p:nvGrpSpPr>
          <p:grpSpPr>
            <a:xfrm>
              <a:off x="9386888" y="3383756"/>
              <a:ext cx="85725" cy="128588"/>
              <a:chOff x="9386888" y="3383756"/>
              <a:chExt cx="85725" cy="128588"/>
            </a:xfrm>
          </p:grpSpPr>
          <p:sp>
            <p:nvSpPr>
              <p:cNvPr id="115" name="Freeform 115"/>
              <p:cNvSpPr/>
              <p:nvPr/>
            </p:nvSpPr>
            <p:spPr>
              <a:xfrm>
                <a:off x="9386888" y="3383756"/>
                <a:ext cx="85725" cy="128588"/>
              </a:xfrm>
              <a:custGeom>
                <a:avLst/>
                <a:gdLst/>
                <a:ahLst/>
                <a:cxnLst/>
                <a:rect l="l" t="t" r="r" b="b"/>
                <a:pathLst>
                  <a:path w="85725" h="128588">
                    <a:moveTo>
                      <a:pt x="0" y="14288"/>
                    </a:moveTo>
                    <a:cubicBezTo>
                      <a:pt x="0" y="6397"/>
                      <a:pt x="6397" y="0"/>
                      <a:pt x="14288" y="0"/>
                    </a:cubicBezTo>
                    <a:lnTo>
                      <a:pt x="71438" y="0"/>
                    </a:lnTo>
                    <a:cubicBezTo>
                      <a:pt x="79328" y="0"/>
                      <a:pt x="85725" y="6397"/>
                      <a:pt x="85725" y="14288"/>
                    </a:cubicBezTo>
                    <a:lnTo>
                      <a:pt x="85725" y="114300"/>
                    </a:lnTo>
                    <a:cubicBezTo>
                      <a:pt x="85725" y="122191"/>
                      <a:pt x="79328" y="128588"/>
                      <a:pt x="71438" y="128588"/>
                    </a:cubicBezTo>
                    <a:lnTo>
                      <a:pt x="14288" y="128588"/>
                    </a:lnTo>
                    <a:cubicBezTo>
                      <a:pt x="6397" y="128588"/>
                      <a:pt x="0" y="122191"/>
                      <a:pt x="0" y="114300"/>
                    </a:cubicBezTo>
                    <a:lnTo>
                      <a:pt x="0" y="14288"/>
                    </a:lnTo>
                  </a:path>
                </a:pathLst>
              </a:custGeom>
              <a:noFill/>
              <a:ln w="14288">
                <a:solidFill>
                  <a:srgbClr val="9C594C"/>
                </a:solidFill>
              </a:ln>
            </p:spPr>
          </p:sp>
          <p:sp>
            <p:nvSpPr>
              <p:cNvPr id="116" name="Freeform 116"/>
              <p:cNvSpPr/>
              <p:nvPr/>
            </p:nvSpPr>
            <p:spPr>
              <a:xfrm>
                <a:off x="9422606" y="3390900"/>
                <a:ext cx="14288" cy="9525"/>
              </a:xfrm>
              <a:custGeom>
                <a:avLst/>
                <a:gdLst/>
                <a:ahLst/>
                <a:cxnLst/>
                <a:rect l="l" t="t" r="r" b="b"/>
                <a:pathLst>
                  <a:path w="14288" h="9525">
                    <a:moveTo>
                      <a:pt x="0" y="0"/>
                    </a:moveTo>
                    <a:lnTo>
                      <a:pt x="14288" y="0"/>
                    </a:lnTo>
                  </a:path>
                </a:pathLst>
              </a:custGeom>
              <a:noFill/>
              <a:ln w="14288">
                <a:solidFill>
                  <a:srgbClr val="9C594C"/>
                </a:solidFill>
              </a:ln>
            </p:spPr>
          </p:sp>
          <p:sp>
            <p:nvSpPr>
              <p:cNvPr id="117" name="Freeform 117"/>
              <p:cNvSpPr/>
              <p:nvPr/>
            </p:nvSpPr>
            <p:spPr>
              <a:xfrm>
                <a:off x="9429750" y="3483769"/>
                <a:ext cx="9525" cy="9525"/>
              </a:xfrm>
              <a:custGeom>
                <a:avLst/>
                <a:gdLst/>
                <a:ahLst/>
                <a:cxnLst/>
                <a:rect l="l" t="t" r="r" b="b"/>
                <a:pathLst>
                  <a:path w="9525" h="9525">
                    <a:moveTo>
                      <a:pt x="0" y="0"/>
                    </a:moveTo>
                    <a:lnTo>
                      <a:pt x="0" y="71"/>
                    </a:lnTo>
                  </a:path>
                </a:pathLst>
              </a:custGeom>
              <a:noFill/>
              <a:ln w="14288">
                <a:solidFill>
                  <a:srgbClr val="9C594C"/>
                </a:solidFill>
              </a:ln>
            </p:spPr>
          </p:sp>
        </p:grpSp>
        <p:sp>
          <p:nvSpPr>
            <p:cNvPr id="119" name="TextBox 119"/>
            <p:cNvSpPr txBox="1"/>
            <p:nvPr/>
          </p:nvSpPr>
          <p:spPr>
            <a:xfrm>
              <a:off x="9068372" y="37890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软件平台</a:t>
              </a:r>
            </a:p>
          </p:txBody>
        </p:sp>
        <p:sp>
          <p:nvSpPr>
            <p:cNvPr id="120" name="Ellipse 120"/>
            <p:cNvSpPr/>
            <p:nvPr/>
          </p:nvSpPr>
          <p:spPr>
            <a:xfrm>
              <a:off x="9734550" y="2971800"/>
              <a:ext cx="1485900" cy="1485900"/>
            </a:xfrm>
            <a:prstGeom prst="ellipse">
              <a:avLst/>
            </a:prstGeom>
            <a:solidFill>
              <a:srgbClr val="9C594C"/>
            </a:solidFill>
            <a:ln>
              <a:noFill/>
            </a:ln>
          </p:spPr>
        </p:sp>
        <p:sp>
          <p:nvSpPr>
            <p:cNvPr id="121" name="Ellipse 121"/>
            <p:cNvSpPr/>
            <p:nvPr/>
          </p:nvSpPr>
          <p:spPr>
            <a:xfrm>
              <a:off x="10325100" y="3295650"/>
              <a:ext cx="304800" cy="304800"/>
            </a:xfrm>
            <a:prstGeom prst="ellipse">
              <a:avLst/>
            </a:prstGeom>
            <a:solidFill>
              <a:srgbClr val="FFFFFF"/>
            </a:solidFill>
            <a:ln>
              <a:noFill/>
            </a:ln>
          </p:spPr>
        </p:sp>
        <p:grpSp>
          <p:nvGrpSpPr>
            <p:cNvPr id="126" name="Group 126"/>
            <p:cNvGrpSpPr/>
            <p:nvPr/>
          </p:nvGrpSpPr>
          <p:grpSpPr>
            <a:xfrm>
              <a:off x="10413206" y="3383756"/>
              <a:ext cx="128587" cy="128588"/>
              <a:chOff x="10413206" y="3383756"/>
              <a:chExt cx="128587" cy="128588"/>
            </a:xfrm>
          </p:grpSpPr>
          <p:sp>
            <p:nvSpPr>
              <p:cNvPr id="122" name="Freeform 122"/>
              <p:cNvSpPr/>
              <p:nvPr/>
            </p:nvSpPr>
            <p:spPr>
              <a:xfrm>
                <a:off x="10427494" y="3383756"/>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9C594C"/>
                </a:solidFill>
              </a:ln>
            </p:spPr>
          </p:sp>
          <p:sp>
            <p:nvSpPr>
              <p:cNvPr id="123" name="Freeform 123"/>
              <p:cNvSpPr/>
              <p:nvPr/>
            </p:nvSpPr>
            <p:spPr>
              <a:xfrm>
                <a:off x="10413206" y="3469481"/>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9C594C"/>
                </a:solidFill>
              </a:ln>
            </p:spPr>
          </p:sp>
          <p:sp>
            <p:nvSpPr>
              <p:cNvPr id="124" name="Freeform 124"/>
              <p:cNvSpPr/>
              <p:nvPr/>
            </p:nvSpPr>
            <p:spPr>
              <a:xfrm>
                <a:off x="10506075" y="3384685"/>
                <a:ext cx="21487" cy="55364"/>
              </a:xfrm>
              <a:custGeom>
                <a:avLst/>
                <a:gdLst/>
                <a:ahLst/>
                <a:cxnLst/>
                <a:rect l="l" t="t" r="r" b="b"/>
                <a:pathLst>
                  <a:path w="21487" h="55364">
                    <a:moveTo>
                      <a:pt x="0" y="0"/>
                    </a:moveTo>
                    <a:cubicBezTo>
                      <a:pt x="12644" y="3237"/>
                      <a:pt x="21487" y="14630"/>
                      <a:pt x="21487" y="27682"/>
                    </a:cubicBezTo>
                    <a:cubicBezTo>
                      <a:pt x="21487" y="40734"/>
                      <a:pt x="12644" y="52127"/>
                      <a:pt x="0" y="55364"/>
                    </a:cubicBezTo>
                  </a:path>
                </a:pathLst>
              </a:custGeom>
              <a:noFill/>
              <a:ln w="14288">
                <a:solidFill>
                  <a:srgbClr val="9C594C"/>
                </a:solidFill>
              </a:ln>
            </p:spPr>
          </p:sp>
          <p:sp>
            <p:nvSpPr>
              <p:cNvPr id="125" name="Freeform 125"/>
              <p:cNvSpPr/>
              <p:nvPr/>
            </p:nvSpPr>
            <p:spPr>
              <a:xfrm>
                <a:off x="10520362" y="3470553"/>
                <a:ext cx="21431" cy="41791"/>
              </a:xfrm>
              <a:custGeom>
                <a:avLst/>
                <a:gdLst/>
                <a:ahLst/>
                <a:cxnLst/>
                <a:rect l="l" t="t" r="r" b="b"/>
                <a:pathLst>
                  <a:path w="21431" h="41791">
                    <a:moveTo>
                      <a:pt x="21431" y="41791"/>
                    </a:moveTo>
                    <a:lnTo>
                      <a:pt x="21431" y="27503"/>
                    </a:lnTo>
                    <a:cubicBezTo>
                      <a:pt x="21357" y="14534"/>
                      <a:pt x="12557" y="3242"/>
                      <a:pt x="0" y="0"/>
                    </a:cubicBezTo>
                  </a:path>
                </a:pathLst>
              </a:custGeom>
              <a:noFill/>
              <a:ln w="14288">
                <a:solidFill>
                  <a:srgbClr val="9C594C"/>
                </a:solidFill>
              </a:ln>
            </p:spPr>
          </p:sp>
        </p:grpSp>
        <p:sp>
          <p:nvSpPr>
            <p:cNvPr id="127" name="TextBox 127"/>
            <p:cNvSpPr txBox="1"/>
            <p:nvPr/>
          </p:nvSpPr>
          <p:spPr>
            <a:xfrm>
              <a:off x="10344722" y="37890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平台用户</a:t>
              </a:r>
            </a:p>
          </p:txBody>
        </p:sp>
        <p:sp>
          <p:nvSpPr>
            <p:cNvPr id="128" name="Ellipse 128"/>
            <p:cNvSpPr/>
            <p:nvPr/>
          </p:nvSpPr>
          <p:spPr>
            <a:xfrm>
              <a:off x="9629775" y="3390900"/>
              <a:ext cx="647700" cy="647700"/>
            </a:xfrm>
            <a:prstGeom prst="ellipse">
              <a:avLst/>
            </a:prstGeom>
            <a:solidFill>
              <a:srgbClr val="E9563C"/>
            </a:solidFill>
            <a:ln>
              <a:noFill/>
            </a:ln>
          </p:spPr>
        </p:sp>
        <p:grpSp>
          <p:nvGrpSpPr>
            <p:cNvPr id="132" name="Group 132"/>
            <p:cNvGrpSpPr/>
            <p:nvPr/>
          </p:nvGrpSpPr>
          <p:grpSpPr>
            <a:xfrm>
              <a:off x="9910762" y="3526631"/>
              <a:ext cx="107156" cy="128588"/>
              <a:chOff x="9910762" y="3526631"/>
              <a:chExt cx="107156" cy="128588"/>
            </a:xfrm>
          </p:grpSpPr>
          <p:sp>
            <p:nvSpPr>
              <p:cNvPr id="129" name="Freeform 129"/>
              <p:cNvSpPr/>
              <p:nvPr/>
            </p:nvSpPr>
            <p:spPr>
              <a:xfrm>
                <a:off x="9925050" y="35266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130" name="Freeform 130"/>
              <p:cNvSpPr/>
              <p:nvPr/>
            </p:nvSpPr>
            <p:spPr>
              <a:xfrm>
                <a:off x="9910762" y="3612356"/>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14288">
                <a:solidFill>
                  <a:srgbClr val="FFFFFF"/>
                </a:solidFill>
              </a:ln>
            </p:spPr>
          </p:sp>
          <p:sp>
            <p:nvSpPr>
              <p:cNvPr id="131" name="Freeform 131"/>
              <p:cNvSpPr/>
              <p:nvPr/>
            </p:nvSpPr>
            <p:spPr>
              <a:xfrm>
                <a:off x="9975056" y="3626644"/>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133" name="TextBox 133"/>
            <p:cNvSpPr txBox="1"/>
            <p:nvPr/>
          </p:nvSpPr>
          <p:spPr>
            <a:xfrm>
              <a:off x="9776549" y="376023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品牌内容</a:t>
              </a:r>
            </a:p>
          </p:txBody>
        </p:sp>
        <p:sp>
          <p:nvSpPr>
            <p:cNvPr id="134" name="TextBox 134"/>
            <p:cNvSpPr txBox="1"/>
            <p:nvPr/>
          </p:nvSpPr>
          <p:spPr>
            <a:xfrm>
              <a:off x="9787318" y="2811780"/>
              <a:ext cx="332613"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品牌植入</a:t>
              </a:r>
            </a:p>
          </p:txBody>
        </p:sp>
        <p:sp>
          <p:nvSpPr>
            <p:cNvPr id="135" name="TextBox 135"/>
            <p:cNvSpPr txBox="1"/>
            <p:nvPr/>
          </p:nvSpPr>
          <p:spPr>
            <a:xfrm>
              <a:off x="9787318" y="4564380"/>
              <a:ext cx="332613"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品牌宣传</a:t>
              </a:r>
            </a:p>
          </p:txBody>
        </p:sp>
        <p:sp>
          <p:nvSpPr>
            <p:cNvPr id="136" name="Line 136"/>
            <p:cNvSpPr/>
            <p:nvPr/>
          </p:nvSpPr>
          <p:spPr>
            <a:xfrm>
              <a:off x="9429750" y="4476750"/>
              <a:ext cx="9525" cy="571500"/>
            </a:xfrm>
            <a:custGeom>
              <a:avLst/>
              <a:gdLst/>
              <a:ahLst/>
              <a:cxnLst/>
              <a:rect l="l" t="t" r="r" b="b"/>
              <a:pathLst>
                <a:path w="9525" h="571500">
                  <a:moveTo>
                    <a:pt x="0" y="0"/>
                  </a:moveTo>
                  <a:lnTo>
                    <a:pt x="0" y="571500"/>
                  </a:lnTo>
                </a:path>
              </a:pathLst>
            </a:custGeom>
            <a:noFill/>
            <a:ln w="9525">
              <a:solidFill>
                <a:srgbClr val="9C594C"/>
              </a:solidFill>
              <a:custDash>
                <a:ds d="300000" sp="200000"/>
              </a:custDash>
            </a:ln>
          </p:spPr>
        </p:sp>
        <p:sp>
          <p:nvSpPr>
            <p:cNvPr id="137" name="Ellipse 137"/>
            <p:cNvSpPr/>
            <p:nvPr/>
          </p:nvSpPr>
          <p:spPr>
            <a:xfrm>
              <a:off x="9401175" y="4448175"/>
              <a:ext cx="57150" cy="57150"/>
            </a:xfrm>
            <a:prstGeom prst="ellipse">
              <a:avLst/>
            </a:prstGeom>
            <a:solidFill>
              <a:srgbClr val="9C594C"/>
            </a:solidFill>
            <a:ln>
              <a:noFill/>
            </a:ln>
          </p:spPr>
        </p:sp>
        <p:sp>
          <p:nvSpPr>
            <p:cNvPr id="138" name="TextBox 138"/>
            <p:cNvSpPr txBox="1"/>
            <p:nvPr/>
          </p:nvSpPr>
          <p:spPr>
            <a:xfrm>
              <a:off x="9270048" y="4674632"/>
              <a:ext cx="90805" cy="335756"/>
            </a:xfrm>
            <a:prstGeom prst="rect">
              <a:avLst/>
            </a:prstGeom>
            <a:noFill/>
            <a:ln>
              <a:noFill/>
            </a:ln>
          </p:spPr>
          <p:txBody>
            <a:bodyPr wrap="none" lIns="0" tIns="0" rIns="0" bIns="0" anchor="t" anchorCtr="0">
              <a:spAutoFit/>
            </a:bodyPr>
            <a:lstStyle/>
            <a:p>
              <a:pPr algn="ctr">
                <a:lnSpc>
                  <a:spcPts val="825"/>
                </a:lnSpc>
              </a:pPr>
              <a:r>
                <a:rPr lang="zh-CN" sz="640" dirty="0">
                  <a:solidFill>
                    <a:srgbClr val="7A3E33"/>
                  </a:solidFill>
                  <a:latin typeface="+mn-lt"/>
                  <a:ea typeface="+mn-ea"/>
                  <a:cs typeface="+mn-cs"/>
                </a:rPr>
                <a:t>场</a:t>
              </a:r>
              <a:br/>
              <a:r>
                <a:rPr lang="zh-CN" sz="640" dirty="0">
                  <a:solidFill>
                    <a:srgbClr val="7A3E33"/>
                  </a:solidFill>
                  <a:latin typeface="+mn-lt"/>
                  <a:ea typeface="+mn-ea"/>
                  <a:cs typeface="+mn-cs"/>
                </a:rPr>
                <a:t>景</a:t>
              </a:r>
              <a:br/>
              <a:r>
                <a:rPr lang="zh-CN" sz="640" dirty="0">
                  <a:solidFill>
                    <a:srgbClr val="7A3E33"/>
                  </a:solidFill>
                  <a:latin typeface="+mn-lt"/>
                  <a:ea typeface="+mn-ea"/>
                  <a:cs typeface="+mn-cs"/>
                </a:rPr>
                <a:t>化</a:t>
              </a:r>
            </a:p>
          </p:txBody>
        </p:sp>
        <p:sp>
          <p:nvSpPr>
            <p:cNvPr id="139" name="Line 139"/>
            <p:cNvSpPr/>
            <p:nvPr/>
          </p:nvSpPr>
          <p:spPr>
            <a:xfrm>
              <a:off x="9953625" y="4057650"/>
              <a:ext cx="9525" cy="990600"/>
            </a:xfrm>
            <a:custGeom>
              <a:avLst/>
              <a:gdLst/>
              <a:ahLst/>
              <a:cxnLst/>
              <a:rect l="l" t="t" r="r" b="b"/>
              <a:pathLst>
                <a:path w="9525" h="990600">
                  <a:moveTo>
                    <a:pt x="0" y="0"/>
                  </a:moveTo>
                  <a:lnTo>
                    <a:pt x="0" y="990600"/>
                  </a:lnTo>
                </a:path>
              </a:pathLst>
            </a:custGeom>
            <a:noFill/>
            <a:ln w="9525">
              <a:solidFill>
                <a:srgbClr val="E9563C"/>
              </a:solidFill>
              <a:custDash>
                <a:ds d="300000" sp="200000"/>
              </a:custDash>
            </a:ln>
          </p:spPr>
        </p:sp>
        <p:sp>
          <p:nvSpPr>
            <p:cNvPr id="140" name="TextBox 140"/>
            <p:cNvSpPr txBox="1"/>
            <p:nvPr/>
          </p:nvSpPr>
          <p:spPr>
            <a:xfrm>
              <a:off x="10032048" y="4674632"/>
              <a:ext cx="90805" cy="440531"/>
            </a:xfrm>
            <a:prstGeom prst="rect">
              <a:avLst/>
            </a:prstGeom>
            <a:noFill/>
            <a:ln>
              <a:noFill/>
            </a:ln>
          </p:spPr>
          <p:txBody>
            <a:bodyPr wrap="none" lIns="0" tIns="0" rIns="0" bIns="0" anchor="t" anchorCtr="0">
              <a:spAutoFit/>
            </a:bodyPr>
            <a:lstStyle/>
            <a:p>
              <a:pPr algn="ctr">
                <a:lnSpc>
                  <a:spcPts val="825"/>
                </a:lnSpc>
              </a:pPr>
              <a:r>
                <a:rPr lang="zh-CN" sz="640" dirty="0">
                  <a:solidFill>
                    <a:srgbClr val="D6391E"/>
                  </a:solidFill>
                  <a:latin typeface="+mn-lt"/>
                  <a:ea typeface="+mn-ea"/>
                  <a:cs typeface="+mn-cs"/>
                </a:rPr>
                <a:t>业</a:t>
              </a:r>
              <a:br/>
              <a:r>
                <a:rPr lang="zh-CN" sz="640" dirty="0">
                  <a:solidFill>
                    <a:srgbClr val="D6391E"/>
                  </a:solidFill>
                  <a:latin typeface="+mn-lt"/>
                  <a:ea typeface="+mn-ea"/>
                  <a:cs typeface="+mn-cs"/>
                </a:rPr>
                <a:t>务</a:t>
              </a:r>
              <a:br/>
              <a:r>
                <a:rPr lang="zh-CN" sz="640" dirty="0">
                  <a:solidFill>
                    <a:srgbClr val="D6391E"/>
                  </a:solidFill>
                  <a:latin typeface="+mn-lt"/>
                  <a:ea typeface="+mn-ea"/>
                  <a:cs typeface="+mn-cs"/>
                </a:rPr>
                <a:t>增</a:t>
              </a:r>
              <a:br/>
              <a:r>
                <a:rPr lang="zh-CN" sz="640" dirty="0">
                  <a:solidFill>
                    <a:srgbClr val="D6391E"/>
                  </a:solidFill>
                  <a:latin typeface="+mn-lt"/>
                  <a:ea typeface="+mn-ea"/>
                  <a:cs typeface="+mn-cs"/>
                </a:rPr>
                <a:t>长</a:t>
              </a:r>
            </a:p>
          </p:txBody>
        </p:sp>
        <p:sp>
          <p:nvSpPr>
            <p:cNvPr id="141" name="Line 141"/>
            <p:cNvSpPr/>
            <p:nvPr/>
          </p:nvSpPr>
          <p:spPr>
            <a:xfrm>
              <a:off x="10477500" y="4476750"/>
              <a:ext cx="9525" cy="571500"/>
            </a:xfrm>
            <a:custGeom>
              <a:avLst/>
              <a:gdLst/>
              <a:ahLst/>
              <a:cxnLst/>
              <a:rect l="l" t="t" r="r" b="b"/>
              <a:pathLst>
                <a:path w="9525" h="571500">
                  <a:moveTo>
                    <a:pt x="0" y="0"/>
                  </a:moveTo>
                  <a:lnTo>
                    <a:pt x="0" y="571500"/>
                  </a:lnTo>
                </a:path>
              </a:pathLst>
            </a:custGeom>
            <a:noFill/>
            <a:ln w="9525">
              <a:solidFill>
                <a:srgbClr val="9C594C"/>
              </a:solidFill>
              <a:custDash>
                <a:ds d="300000" sp="200000"/>
              </a:custDash>
            </a:ln>
          </p:spPr>
        </p:sp>
        <p:sp>
          <p:nvSpPr>
            <p:cNvPr id="142" name="Ellipse 142"/>
            <p:cNvSpPr/>
            <p:nvPr/>
          </p:nvSpPr>
          <p:spPr>
            <a:xfrm>
              <a:off x="10448925" y="4448175"/>
              <a:ext cx="57150" cy="57150"/>
            </a:xfrm>
            <a:prstGeom prst="ellipse">
              <a:avLst/>
            </a:prstGeom>
            <a:solidFill>
              <a:srgbClr val="9C594C"/>
            </a:solidFill>
            <a:ln>
              <a:noFill/>
            </a:ln>
          </p:spPr>
        </p:sp>
        <p:sp>
          <p:nvSpPr>
            <p:cNvPr id="143" name="TextBox 143"/>
            <p:cNvSpPr txBox="1"/>
            <p:nvPr/>
          </p:nvSpPr>
          <p:spPr>
            <a:xfrm>
              <a:off x="10546398" y="4674632"/>
              <a:ext cx="90805" cy="335756"/>
            </a:xfrm>
            <a:prstGeom prst="rect">
              <a:avLst/>
            </a:prstGeom>
            <a:noFill/>
            <a:ln>
              <a:noFill/>
            </a:ln>
          </p:spPr>
          <p:txBody>
            <a:bodyPr wrap="none" lIns="0" tIns="0" rIns="0" bIns="0" anchor="t" anchorCtr="0">
              <a:spAutoFit/>
            </a:bodyPr>
            <a:lstStyle/>
            <a:p>
              <a:pPr algn="ctr">
                <a:lnSpc>
                  <a:spcPts val="825"/>
                </a:lnSpc>
              </a:pPr>
              <a:r>
                <a:rPr lang="zh-CN" sz="640" dirty="0">
                  <a:solidFill>
                    <a:srgbClr val="7A3E33"/>
                  </a:solidFill>
                  <a:latin typeface="+mn-lt"/>
                  <a:ea typeface="+mn-ea"/>
                  <a:cs typeface="+mn-cs"/>
                </a:rPr>
                <a:t>本</a:t>
              </a:r>
              <a:br/>
              <a:r>
                <a:rPr lang="zh-CN" sz="640" dirty="0">
                  <a:solidFill>
                    <a:srgbClr val="7A3E33"/>
                  </a:solidFill>
                  <a:latin typeface="+mn-lt"/>
                  <a:ea typeface="+mn-ea"/>
                  <a:cs typeface="+mn-cs"/>
                </a:rPr>
                <a:t>地</a:t>
              </a:r>
              <a:br/>
              <a:r>
                <a:rPr lang="zh-CN" sz="640" dirty="0">
                  <a:solidFill>
                    <a:srgbClr val="7A3E33"/>
                  </a:solidFill>
                  <a:latin typeface="+mn-lt"/>
                  <a:ea typeface="+mn-ea"/>
                  <a:cs typeface="+mn-cs"/>
                </a:rPr>
                <a:t>化</a:t>
              </a:r>
            </a:p>
          </p:txBody>
        </p:sp>
        <p:sp>
          <p:nvSpPr>
            <p:cNvPr id="144" name="Rectangle 144"/>
            <p:cNvSpPr/>
            <p:nvPr/>
          </p:nvSpPr>
          <p:spPr>
            <a:xfrm>
              <a:off x="8191500" y="5143500"/>
              <a:ext cx="3524250" cy="381000"/>
            </a:xfrm>
            <a:prstGeom prst="rect">
              <a:avLst/>
            </a:prstGeom>
            <a:solidFill>
              <a:srgbClr val="9C594C"/>
            </a:solidFill>
            <a:ln>
              <a:noFill/>
            </a:ln>
          </p:spPr>
        </p:sp>
        <p:sp>
          <p:nvSpPr>
            <p:cNvPr id="145" name="TextBox 145"/>
            <p:cNvSpPr txBox="1"/>
            <p:nvPr/>
          </p:nvSpPr>
          <p:spPr>
            <a:xfrm>
              <a:off x="9167812" y="5216366"/>
              <a:ext cx="1571625" cy="314325"/>
            </a:xfrm>
            <a:prstGeom prst="rect">
              <a:avLst/>
            </a:prstGeom>
            <a:noFill/>
            <a:ln>
              <a:noFill/>
            </a:ln>
          </p:spPr>
          <p:txBody>
            <a:bodyPr wrap="none" lIns="0" tIns="0" rIns="0" bIns="0" anchor="t" anchorCtr="0">
              <a:spAutoFit/>
            </a:bodyPr>
            <a:lstStyle/>
            <a:p>
              <a:pPr algn="ctr">
                <a:lnSpc>
                  <a:spcPts val="1200"/>
                </a:lnSpc>
              </a:pPr>
              <a:r>
                <a:rPr lang="zh-CN" sz="820" dirty="0">
                  <a:solidFill>
                    <a:srgbClr val="FFFFFF"/>
                  </a:solidFill>
                  <a:latin typeface="+mn-lt"/>
                  <a:ea typeface="+mn-ea"/>
                  <a:cs typeface="+mn-cs"/>
                </a:rPr>
                <a:t>线索数据沉淀，全流程跟踪，无缝</a:t>
              </a:r>
              <a:br/>
              <a:r>
                <a:rPr lang="zh-CN" sz="820" dirty="0">
                  <a:solidFill>
                    <a:srgbClr val="FFFFFF"/>
                  </a:solidFill>
                  <a:latin typeface="+mn-lt"/>
                  <a:ea typeface="+mn-ea"/>
                  <a:cs typeface="+mn-cs"/>
                </a:rPr>
                <a:t>衔接</a:t>
              </a:r>
            </a:p>
          </p:txBody>
        </p:sp>
      </p:grpSp>
      <p:grpSp>
        <p:nvGrpSpPr>
          <p:cNvPr id="149" name="page-footer"/>
          <p:cNvGrpSpPr/>
          <p:nvPr/>
        </p:nvGrpSpPr>
        <p:grpSpPr>
          <a:xfrm>
            <a:off x="376238" y="6689884"/>
            <a:ext cx="11439524" cy="133350"/>
            <a:chOff x="376238" y="6689884"/>
            <a:chExt cx="11439524" cy="133350"/>
          </a:xfrm>
        </p:grpSpPr>
        <p:sp>
          <p:nvSpPr>
            <p:cNvPr id="147" name="TextBox 147"/>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48" name="TextBox 148"/>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30</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Freeform 8"/>
          <p:cNvSpPr/>
          <p:nvPr/>
        </p:nvSpPr>
        <p:spPr>
          <a:xfrm>
            <a:off x="2857500" y="1428750"/>
            <a:ext cx="6477000" cy="3905250"/>
          </a:xfrm>
          <a:prstGeom prst="triangle">
            <a:avLst/>
          </a:prstGeom>
          <a:solidFill>
            <a:srgbClr val="F4F8EF"/>
          </a:solidFill>
          <a:ln w="14288">
            <a:solidFill>
              <a:srgbClr val="BF857A"/>
            </a:solidFill>
          </a:ln>
        </p:spPr>
      </p:sp>
      <p:sp>
        <p:nvSpPr>
          <p:cNvPr id="9" name="Line 9"/>
          <p:cNvSpPr/>
          <p:nvPr/>
        </p:nvSpPr>
        <p:spPr>
          <a:xfrm flipH="1">
            <a:off x="4819650" y="2019300"/>
            <a:ext cx="800100" cy="1123950"/>
          </a:xfrm>
          <a:prstGeom prst="line">
            <a:avLst/>
          </a:prstGeom>
          <a:noFill/>
          <a:ln w="11430">
            <a:solidFill>
              <a:srgbClr val="9C594C"/>
            </a:solidFill>
            <a:custDash>
              <a:ds d="333333" sp="250000"/>
            </a:custDash>
            <a:headEnd type="triangle" w="lg" len="lg"/>
            <a:tailEnd type="triangle" w="lg" len="lg"/>
          </a:ln>
        </p:spPr>
      </p:sp>
      <p:sp>
        <p:nvSpPr>
          <p:cNvPr id="10" name="Line 10"/>
          <p:cNvSpPr/>
          <p:nvPr/>
        </p:nvSpPr>
        <p:spPr>
          <a:xfrm>
            <a:off x="6572250" y="2019300"/>
            <a:ext cx="800100" cy="1123950"/>
          </a:xfrm>
          <a:prstGeom prst="line">
            <a:avLst/>
          </a:prstGeom>
          <a:noFill/>
          <a:ln w="11430">
            <a:solidFill>
              <a:srgbClr val="9C594C"/>
            </a:solidFill>
            <a:custDash>
              <a:ds d="333333" sp="250000"/>
            </a:custDash>
            <a:headEnd type="triangle" w="lg" len="lg"/>
            <a:tailEnd type="triangle" w="lg" len="lg"/>
          </a:ln>
        </p:spPr>
      </p:sp>
      <p:sp>
        <p:nvSpPr>
          <p:cNvPr id="11" name="Line 11"/>
          <p:cNvSpPr/>
          <p:nvPr/>
        </p:nvSpPr>
        <p:spPr>
          <a:xfrm flipV="1">
            <a:off x="3390900" y="4267200"/>
            <a:ext cx="2085975" cy="876300"/>
          </a:xfrm>
          <a:prstGeom prst="line">
            <a:avLst/>
          </a:prstGeom>
          <a:noFill/>
          <a:ln w="11430">
            <a:solidFill>
              <a:srgbClr val="9C594C"/>
            </a:solidFill>
            <a:tailEnd type="triangle" w="lg" len="lg"/>
          </a:ln>
        </p:spPr>
      </p:sp>
      <p:sp>
        <p:nvSpPr>
          <p:cNvPr id="12" name="Line 12"/>
          <p:cNvSpPr/>
          <p:nvPr/>
        </p:nvSpPr>
        <p:spPr>
          <a:xfrm flipH="1" flipV="1">
            <a:off x="6715125" y="4267200"/>
            <a:ext cx="2085975" cy="876300"/>
          </a:xfrm>
          <a:prstGeom prst="line">
            <a:avLst/>
          </a:prstGeom>
          <a:noFill/>
          <a:ln w="11430">
            <a:solidFill>
              <a:srgbClr val="9C594C"/>
            </a:solidFill>
            <a:tailEnd type="triangle" w="lg" len="lg"/>
          </a:ln>
        </p:spPr>
      </p:sp>
      <p:grpSp>
        <p:nvGrpSpPr>
          <p:cNvPr id="30" name="card-tl"/>
          <p:cNvGrpSpPr/>
          <p:nvPr/>
        </p:nvGrpSpPr>
        <p:grpSpPr>
          <a:xfrm>
            <a:off x="381000" y="914400"/>
            <a:ext cx="3676650" cy="1714500"/>
            <a:chOff x="381000" y="914400"/>
            <a:chExt cx="3676650" cy="1714500"/>
          </a:xfrm>
        </p:grpSpPr>
        <p:sp>
          <p:nvSpPr>
            <p:cNvPr id="13" name="Rectangle 13"/>
            <p:cNvSpPr/>
            <p:nvPr/>
          </p:nvSpPr>
          <p:spPr>
            <a:xfrm>
              <a:off x="381000" y="914400"/>
              <a:ext cx="3676650" cy="1714500"/>
            </a:xfrm>
            <a:prstGeom prst="rect">
              <a:avLst/>
            </a:prstGeom>
            <a:solidFill>
              <a:srgbClr val="FFFFFF"/>
            </a:solidFill>
            <a:ln w="11430">
              <a:solidFill>
                <a:srgbClr val="BF857A"/>
              </a:solidFill>
              <a:custDash>
                <a:ds d="416667" sp="250000"/>
              </a:custDash>
            </a:ln>
          </p:spPr>
        </p:sp>
        <p:sp>
          <p:nvSpPr>
            <p:cNvPr id="14" name="TextBox 14"/>
            <p:cNvSpPr txBox="1"/>
            <p:nvPr/>
          </p:nvSpPr>
          <p:spPr>
            <a:xfrm>
              <a:off x="490538" y="1026795"/>
              <a:ext cx="2164320" cy="176212"/>
            </a:xfrm>
            <a:prstGeom prst="rect">
              <a:avLst/>
            </a:prstGeom>
            <a:noFill/>
            <a:ln>
              <a:noFill/>
            </a:ln>
          </p:spPr>
          <p:txBody>
            <a:bodyPr wrap="none" lIns="0" tIns="0" rIns="0" bIns="0" anchor="t" anchorCtr="0">
              <a:spAutoFit/>
            </a:bodyPr>
            <a:lstStyle/>
            <a:p>
              <a:pPr algn="l"/>
              <a:r>
                <a:rPr lang="zh-CN" sz="900" b="1" dirty="0">
                  <a:solidFill>
                    <a:srgbClr val="333333"/>
                  </a:solidFill>
                  <a:latin typeface="+mn-lt"/>
                  <a:ea typeface="+mn-ea"/>
                  <a:cs typeface="+mn-cs"/>
                </a:rPr>
                <a:t>◉ 优化: 合理设定交互层级，减少误操作</a:t>
              </a:r>
            </a:p>
          </p:txBody>
        </p:sp>
        <p:sp>
          <p:nvSpPr>
            <p:cNvPr id="15" name="TextBox 15"/>
            <p:cNvSpPr txBox="1"/>
            <p:nvPr/>
          </p:nvSpPr>
          <p:spPr>
            <a:xfrm>
              <a:off x="490538" y="1241584"/>
              <a:ext cx="3127121" cy="266700"/>
            </a:xfrm>
            <a:prstGeom prst="rect">
              <a:avLst/>
            </a:prstGeom>
            <a:noFill/>
            <a:ln>
              <a:noFill/>
            </a:ln>
          </p:spPr>
          <p:txBody>
            <a:bodyPr wrap="none" lIns="0" tIns="0" rIns="0" bIns="0" anchor="t" anchorCtr="0">
              <a:spAutoFit/>
            </a:bodyPr>
            <a:lstStyle/>
            <a:p>
              <a:pPr algn="l">
                <a:lnSpc>
                  <a:spcPts val="1050"/>
                </a:lnSpc>
              </a:pPr>
              <a:r>
                <a:rPr lang="zh-CN" sz="680" dirty="0">
                  <a:solidFill>
                    <a:srgbClr val="595959"/>
                  </a:solidFill>
                  <a:latin typeface="+mn-lt"/>
                  <a:ea typeface="+mn-ea"/>
                  <a:cs typeface="+mn-cs"/>
                </a:rPr>
                <a:t>根据反馈重新梳理A列卡片功能优先级，降低次级功能交互层级，保证重要功能的​</a:t>
              </a:r>
              <a:br/>
              <a:r>
                <a:rPr lang="zh-CN" sz="680" dirty="0">
                  <a:solidFill>
                    <a:srgbClr val="595959"/>
                  </a:solidFill>
                  <a:latin typeface="+mn-lt"/>
                  <a:ea typeface="+mn-ea"/>
                  <a:cs typeface="+mn-cs"/>
                </a:rPr>
                <a:t>使用流畅度，并为可视化操作增加更多可能性</a:t>
              </a:r>
            </a:p>
          </p:txBody>
        </p:sp>
        <p:sp>
          <p:nvSpPr>
            <p:cNvPr id="16" name="TextBox 16"/>
            <p:cNvSpPr txBox="1"/>
            <p:nvPr/>
          </p:nvSpPr>
          <p:spPr>
            <a:xfrm>
              <a:off x="1343216" y="1630680"/>
              <a:ext cx="171069"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重要</a:t>
              </a:r>
            </a:p>
          </p:txBody>
        </p:sp>
        <p:sp>
          <p:nvSpPr>
            <p:cNvPr id="17" name="Line 17"/>
            <p:cNvSpPr/>
            <p:nvPr/>
          </p:nvSpPr>
          <p:spPr>
            <a:xfrm>
              <a:off x="1428750" y="1733550"/>
              <a:ext cx="9525" cy="762000"/>
            </a:xfrm>
            <a:custGeom>
              <a:avLst/>
              <a:gdLst/>
              <a:ahLst/>
              <a:cxnLst/>
              <a:rect l="l" t="t" r="r" b="b"/>
              <a:pathLst>
                <a:path w="9525" h="762000">
                  <a:moveTo>
                    <a:pt x="0" y="0"/>
                  </a:moveTo>
                  <a:lnTo>
                    <a:pt x="0" y="762000"/>
                  </a:lnTo>
                </a:path>
              </a:pathLst>
            </a:custGeom>
            <a:noFill/>
            <a:ln w="9525">
              <a:solidFill>
                <a:srgbClr val="9AA69A"/>
              </a:solidFill>
            </a:ln>
          </p:spPr>
        </p:sp>
        <p:sp>
          <p:nvSpPr>
            <p:cNvPr id="18" name="Line 18"/>
            <p:cNvSpPr/>
            <p:nvPr/>
          </p:nvSpPr>
          <p:spPr>
            <a:xfrm>
              <a:off x="590550" y="2152650"/>
              <a:ext cx="1676400" cy="1"/>
            </a:xfrm>
            <a:prstGeom prst="line">
              <a:avLst/>
            </a:prstGeom>
            <a:noFill/>
            <a:ln w="9525">
              <a:solidFill>
                <a:srgbClr val="9AA69A"/>
              </a:solidFill>
              <a:tailEnd type="triangle" w="lg" len="lg"/>
            </a:ln>
          </p:spPr>
        </p:sp>
        <p:sp>
          <p:nvSpPr>
            <p:cNvPr id="19" name="TextBox 19"/>
            <p:cNvSpPr txBox="1"/>
            <p:nvPr/>
          </p:nvSpPr>
          <p:spPr>
            <a:xfrm>
              <a:off x="2357438" y="2116455"/>
              <a:ext cx="171069" cy="119062"/>
            </a:xfrm>
            <a:prstGeom prst="rect">
              <a:avLst/>
            </a:prstGeom>
            <a:noFill/>
            <a:ln>
              <a:noFill/>
            </a:ln>
          </p:spPr>
          <p:txBody>
            <a:bodyPr wrap="none" lIns="0" tIns="0" rIns="0" bIns="0" anchor="t" anchorCtr="0">
              <a:spAutoFit/>
            </a:bodyPr>
            <a:lstStyle/>
            <a:p>
              <a:pPr algn="l"/>
              <a:r>
                <a:rPr lang="zh-CN" sz="600" dirty="0">
                  <a:solidFill>
                    <a:srgbClr val="8C8C8C"/>
                  </a:solidFill>
                  <a:latin typeface="+mn-lt"/>
                  <a:ea typeface="+mn-ea"/>
                  <a:cs typeface="+mn-cs"/>
                </a:rPr>
                <a:t>高频</a:t>
              </a:r>
            </a:p>
          </p:txBody>
        </p:sp>
        <p:sp>
          <p:nvSpPr>
            <p:cNvPr id="20" name="Rectangle 20"/>
            <p:cNvSpPr/>
            <p:nvPr/>
          </p:nvSpPr>
          <p:spPr>
            <a:xfrm>
              <a:off x="742950" y="1790700"/>
              <a:ext cx="571500" cy="133350"/>
            </a:xfrm>
            <a:prstGeom prst="rect">
              <a:avLst/>
            </a:prstGeom>
            <a:solidFill>
              <a:srgbClr val="FDF6E7"/>
            </a:solidFill>
            <a:ln w="9525">
              <a:solidFill>
                <a:srgbClr val="E9563C"/>
              </a:solidFill>
            </a:ln>
          </p:spPr>
        </p:sp>
        <p:sp>
          <p:nvSpPr>
            <p:cNvPr id="21" name="TextBox 21"/>
            <p:cNvSpPr txBox="1"/>
            <p:nvPr/>
          </p:nvSpPr>
          <p:spPr>
            <a:xfrm>
              <a:off x="873163" y="1829991"/>
              <a:ext cx="311074" cy="111919"/>
            </a:xfrm>
            <a:prstGeom prst="rect">
              <a:avLst/>
            </a:prstGeom>
            <a:noFill/>
            <a:ln>
              <a:noFill/>
            </a:ln>
          </p:spPr>
          <p:txBody>
            <a:bodyPr wrap="none" lIns="0" tIns="0" rIns="0" bIns="0" anchor="t" anchorCtr="0">
              <a:spAutoFit/>
            </a:bodyPr>
            <a:lstStyle/>
            <a:p>
              <a:pPr algn="ctr"/>
              <a:r>
                <a:rPr lang="zh-CN" sz="560" dirty="0">
                  <a:solidFill>
                    <a:srgbClr val="333333"/>
                  </a:solidFill>
                  <a:latin typeface="+mn-lt"/>
                  <a:ea typeface="+mn-ea"/>
                  <a:cs typeface="+mn-cs"/>
                </a:rPr>
                <a:t>当月收入</a:t>
              </a:r>
            </a:p>
          </p:txBody>
        </p:sp>
        <p:sp>
          <p:nvSpPr>
            <p:cNvPr id="22" name="Rectangle 22"/>
            <p:cNvSpPr/>
            <p:nvPr/>
          </p:nvSpPr>
          <p:spPr>
            <a:xfrm>
              <a:off x="1638300" y="1790700"/>
              <a:ext cx="571500" cy="133350"/>
            </a:xfrm>
            <a:prstGeom prst="rect">
              <a:avLst/>
            </a:prstGeom>
            <a:solidFill>
              <a:srgbClr val="FDF6E7"/>
            </a:solidFill>
            <a:ln w="9525">
              <a:solidFill>
                <a:srgbClr val="E9563C"/>
              </a:solidFill>
            </a:ln>
          </p:spPr>
        </p:sp>
        <p:sp>
          <p:nvSpPr>
            <p:cNvPr id="23" name="TextBox 23"/>
            <p:cNvSpPr txBox="1"/>
            <p:nvPr/>
          </p:nvSpPr>
          <p:spPr>
            <a:xfrm>
              <a:off x="1768513" y="1829991"/>
              <a:ext cx="311074" cy="111919"/>
            </a:xfrm>
            <a:prstGeom prst="rect">
              <a:avLst/>
            </a:prstGeom>
            <a:noFill/>
            <a:ln>
              <a:noFill/>
            </a:ln>
          </p:spPr>
          <p:txBody>
            <a:bodyPr wrap="none" lIns="0" tIns="0" rIns="0" bIns="0" anchor="t" anchorCtr="0">
              <a:spAutoFit/>
            </a:bodyPr>
            <a:lstStyle/>
            <a:p>
              <a:pPr algn="ctr"/>
              <a:r>
                <a:rPr lang="zh-CN" sz="560" dirty="0">
                  <a:solidFill>
                    <a:srgbClr val="333333"/>
                  </a:solidFill>
                  <a:latin typeface="+mn-lt"/>
                  <a:ea typeface="+mn-ea"/>
                  <a:cs typeface="+mn-cs"/>
                </a:rPr>
                <a:t>剩余预算</a:t>
              </a:r>
            </a:p>
          </p:txBody>
        </p:sp>
        <p:sp>
          <p:nvSpPr>
            <p:cNvPr id="24" name="Rectangle 24"/>
            <p:cNvSpPr/>
            <p:nvPr/>
          </p:nvSpPr>
          <p:spPr>
            <a:xfrm>
              <a:off x="1143000" y="2085975"/>
              <a:ext cx="571500" cy="133350"/>
            </a:xfrm>
            <a:prstGeom prst="rect">
              <a:avLst/>
            </a:prstGeom>
            <a:solidFill>
              <a:srgbClr val="F4F8EF"/>
            </a:solidFill>
            <a:ln w="9525">
              <a:solidFill>
                <a:srgbClr val="C9D8BD"/>
              </a:solidFill>
            </a:ln>
          </p:spPr>
        </p:sp>
        <p:sp>
          <p:nvSpPr>
            <p:cNvPr id="25" name="TextBox 25"/>
            <p:cNvSpPr txBox="1"/>
            <p:nvPr/>
          </p:nvSpPr>
          <p:spPr>
            <a:xfrm>
              <a:off x="1273213" y="2125266"/>
              <a:ext cx="311074" cy="111919"/>
            </a:xfrm>
            <a:prstGeom prst="rect">
              <a:avLst/>
            </a:prstGeom>
            <a:noFill/>
            <a:ln>
              <a:noFill/>
            </a:ln>
          </p:spPr>
          <p:txBody>
            <a:bodyPr wrap="none" lIns="0" tIns="0" rIns="0" bIns="0" anchor="t" anchorCtr="0">
              <a:spAutoFit/>
            </a:bodyPr>
            <a:lstStyle/>
            <a:p>
              <a:pPr algn="ctr"/>
              <a:r>
                <a:rPr lang="zh-CN" sz="560" dirty="0">
                  <a:solidFill>
                    <a:srgbClr val="333333"/>
                  </a:solidFill>
                  <a:latin typeface="+mn-lt"/>
                  <a:ea typeface="+mn-ea"/>
                  <a:cs typeface="+mn-cs"/>
                </a:rPr>
                <a:t>消费时间</a:t>
              </a:r>
            </a:p>
          </p:txBody>
        </p:sp>
        <p:sp>
          <p:nvSpPr>
            <p:cNvPr id="26" name="Rectangle 26"/>
            <p:cNvSpPr/>
            <p:nvPr/>
          </p:nvSpPr>
          <p:spPr>
            <a:xfrm>
              <a:off x="742950" y="2343150"/>
              <a:ext cx="571500" cy="133350"/>
            </a:xfrm>
            <a:prstGeom prst="rect">
              <a:avLst/>
            </a:prstGeom>
            <a:solidFill>
              <a:srgbClr val="FDF6E7"/>
            </a:solidFill>
            <a:ln w="9525">
              <a:solidFill>
                <a:srgbClr val="E9563C"/>
              </a:solidFill>
            </a:ln>
          </p:spPr>
        </p:sp>
        <p:sp>
          <p:nvSpPr>
            <p:cNvPr id="27" name="TextBox 27"/>
            <p:cNvSpPr txBox="1"/>
            <p:nvPr/>
          </p:nvSpPr>
          <p:spPr>
            <a:xfrm>
              <a:off x="873163" y="2382441"/>
              <a:ext cx="311074" cy="111919"/>
            </a:xfrm>
            <a:prstGeom prst="rect">
              <a:avLst/>
            </a:prstGeom>
            <a:noFill/>
            <a:ln>
              <a:noFill/>
            </a:ln>
          </p:spPr>
          <p:txBody>
            <a:bodyPr wrap="none" lIns="0" tIns="0" rIns="0" bIns="0" anchor="t" anchorCtr="0">
              <a:spAutoFit/>
            </a:bodyPr>
            <a:lstStyle/>
            <a:p>
              <a:pPr algn="ctr"/>
              <a:r>
                <a:rPr lang="zh-CN" sz="560" dirty="0">
                  <a:solidFill>
                    <a:srgbClr val="333333"/>
                  </a:solidFill>
                  <a:latin typeface="+mn-lt"/>
                  <a:ea typeface="+mn-ea"/>
                  <a:cs typeface="+mn-cs"/>
                </a:rPr>
                <a:t>消费金额</a:t>
              </a:r>
            </a:p>
          </p:txBody>
        </p:sp>
        <p:sp>
          <p:nvSpPr>
            <p:cNvPr id="28" name="Rectangle 28"/>
            <p:cNvSpPr/>
            <p:nvPr/>
          </p:nvSpPr>
          <p:spPr>
            <a:xfrm>
              <a:off x="1638300" y="2343150"/>
              <a:ext cx="571500" cy="133350"/>
            </a:xfrm>
            <a:prstGeom prst="rect">
              <a:avLst/>
            </a:prstGeom>
            <a:solidFill>
              <a:srgbClr val="FDF6E7"/>
            </a:solidFill>
            <a:ln w="9525">
              <a:solidFill>
                <a:srgbClr val="E9563C"/>
              </a:solidFill>
            </a:ln>
          </p:spPr>
        </p:sp>
        <p:sp>
          <p:nvSpPr>
            <p:cNvPr id="29" name="TextBox 29"/>
            <p:cNvSpPr txBox="1"/>
            <p:nvPr/>
          </p:nvSpPr>
          <p:spPr>
            <a:xfrm>
              <a:off x="1768513" y="2382441"/>
              <a:ext cx="311074" cy="111919"/>
            </a:xfrm>
            <a:prstGeom prst="rect">
              <a:avLst/>
            </a:prstGeom>
            <a:noFill/>
            <a:ln>
              <a:noFill/>
            </a:ln>
          </p:spPr>
          <p:txBody>
            <a:bodyPr wrap="none" lIns="0" tIns="0" rIns="0" bIns="0" anchor="t" anchorCtr="0">
              <a:spAutoFit/>
            </a:bodyPr>
            <a:lstStyle/>
            <a:p>
              <a:pPr algn="ctr"/>
              <a:r>
                <a:rPr lang="zh-CN" sz="560" dirty="0">
                  <a:solidFill>
                    <a:srgbClr val="333333"/>
                  </a:solidFill>
                  <a:latin typeface="+mn-lt"/>
                  <a:ea typeface="+mn-ea"/>
                  <a:cs typeface="+mn-cs"/>
                </a:rPr>
                <a:t>产品主图</a:t>
              </a:r>
            </a:p>
          </p:txBody>
        </p:sp>
      </p:grpSp>
      <p:grpSp>
        <p:nvGrpSpPr>
          <p:cNvPr id="67" name="card-bl"/>
          <p:cNvGrpSpPr/>
          <p:nvPr/>
        </p:nvGrpSpPr>
        <p:grpSpPr>
          <a:xfrm>
            <a:off x="381000" y="2762250"/>
            <a:ext cx="1866900" cy="2857500"/>
            <a:chOff x="381000" y="2762250"/>
            <a:chExt cx="1866900" cy="2857500"/>
          </a:xfrm>
        </p:grpSpPr>
        <p:sp>
          <p:nvSpPr>
            <p:cNvPr id="31" name="Rectangle 31"/>
            <p:cNvSpPr/>
            <p:nvPr/>
          </p:nvSpPr>
          <p:spPr>
            <a:xfrm>
              <a:off x="381000" y="2762250"/>
              <a:ext cx="1866900" cy="2857500"/>
            </a:xfrm>
            <a:prstGeom prst="rect">
              <a:avLst/>
            </a:prstGeom>
            <a:solidFill>
              <a:srgbClr val="FFFFFF"/>
            </a:solidFill>
            <a:ln w="11430">
              <a:solidFill>
                <a:srgbClr val="BF857A"/>
              </a:solidFill>
              <a:custDash>
                <a:ds d="416667" sp="250000"/>
              </a:custDash>
            </a:ln>
          </p:spPr>
        </p:sp>
        <p:sp>
          <p:nvSpPr>
            <p:cNvPr id="32" name="TextBox 32"/>
            <p:cNvSpPr txBox="1"/>
            <p:nvPr/>
          </p:nvSpPr>
          <p:spPr>
            <a:xfrm>
              <a:off x="490538" y="2931795"/>
              <a:ext cx="844607" cy="176212"/>
            </a:xfrm>
            <a:prstGeom prst="rect">
              <a:avLst/>
            </a:prstGeom>
            <a:noFill/>
            <a:ln>
              <a:noFill/>
            </a:ln>
          </p:spPr>
          <p:txBody>
            <a:bodyPr wrap="none" lIns="0" tIns="0" rIns="0" bIns="0" anchor="t" anchorCtr="0">
              <a:spAutoFit/>
            </a:bodyPr>
            <a:lstStyle/>
            <a:p>
              <a:pPr algn="l"/>
              <a:r>
                <a:rPr lang="zh-CN" sz="900" b="1" dirty="0">
                  <a:solidFill>
                    <a:srgbClr val="333333"/>
                  </a:solidFill>
                  <a:latin typeface="+mn-lt"/>
                  <a:ea typeface="+mn-ea"/>
                  <a:cs typeface="+mn-cs"/>
                </a:rPr>
                <a:t>◉ 内容基础数据</a:t>
              </a:r>
            </a:p>
          </p:txBody>
        </p:sp>
        <p:sp>
          <p:nvSpPr>
            <p:cNvPr id="33" name="TextBox 33"/>
            <p:cNvSpPr txBox="1"/>
            <p:nvPr/>
          </p:nvSpPr>
          <p:spPr>
            <a:xfrm>
              <a:off x="490538" y="3150632"/>
              <a:ext cx="582468" cy="126206"/>
            </a:xfrm>
            <a:prstGeom prst="rect">
              <a:avLst/>
            </a:prstGeom>
            <a:noFill/>
            <a:ln>
              <a:noFill/>
            </a:ln>
          </p:spPr>
          <p:txBody>
            <a:bodyPr wrap="none" lIns="0" tIns="0" rIns="0" bIns="0" anchor="t" anchorCtr="0">
              <a:spAutoFit/>
            </a:bodyPr>
            <a:lstStyle/>
            <a:p>
              <a:pPr algn="l"/>
              <a:r>
                <a:rPr lang="zh-CN" sz="640" dirty="0">
                  <a:solidFill>
                    <a:srgbClr val="595959"/>
                  </a:solidFill>
                  <a:latin typeface="+mn-lt"/>
                  <a:ea typeface="+mn-ea"/>
                  <a:cs typeface="+mn-cs"/>
                </a:rPr>
                <a:t>近7日新增/条​</a:t>
              </a:r>
            </a:p>
          </p:txBody>
        </p:sp>
        <p:sp>
          <p:nvSpPr>
            <p:cNvPr id="34" name="TextBox 34"/>
            <p:cNvSpPr txBox="1"/>
            <p:nvPr/>
          </p:nvSpPr>
          <p:spPr>
            <a:xfrm>
              <a:off x="485394" y="3408998"/>
              <a:ext cx="929406" cy="381381"/>
            </a:xfrm>
            <a:prstGeom prst="rect">
              <a:avLst/>
            </a:prstGeom>
            <a:noFill/>
            <a:ln>
              <a:noFill/>
            </a:ln>
          </p:spPr>
          <p:txBody>
            <a:bodyPr wrap="none" lIns="0" tIns="0" rIns="0" bIns="0" anchor="t" anchorCtr="0">
              <a:spAutoFit/>
            </a:bodyPr>
            <a:lstStyle/>
            <a:p>
              <a:pPr algn="l"/>
              <a:r>
                <a:rPr lang="zh-CN" sz="1950" b="1" dirty="0">
                  <a:solidFill>
                    <a:srgbClr val="7A3E33"/>
                  </a:solidFill>
                  <a:latin typeface="+mn-lt"/>
                  <a:ea typeface="+mn-ea"/>
                  <a:cs typeface="+mn-cs"/>
                </a:rPr>
                <a:t>28,603</a:t>
              </a:r>
            </a:p>
          </p:txBody>
        </p:sp>
        <p:sp>
          <p:nvSpPr>
            <p:cNvPr id="35" name="Rectangle 35"/>
            <p:cNvSpPr/>
            <p:nvPr/>
          </p:nvSpPr>
          <p:spPr>
            <a:xfrm>
              <a:off x="1524000" y="3486150"/>
              <a:ext cx="57150" cy="133350"/>
            </a:xfrm>
            <a:prstGeom prst="rect">
              <a:avLst/>
            </a:prstGeom>
            <a:solidFill>
              <a:srgbClr val="C8E0B8"/>
            </a:solidFill>
            <a:ln>
              <a:noFill/>
            </a:ln>
          </p:spPr>
        </p:sp>
        <p:sp>
          <p:nvSpPr>
            <p:cNvPr id="36" name="Rectangle 36"/>
            <p:cNvSpPr/>
            <p:nvPr/>
          </p:nvSpPr>
          <p:spPr>
            <a:xfrm>
              <a:off x="1609725" y="3409950"/>
              <a:ext cx="57150" cy="209550"/>
            </a:xfrm>
            <a:prstGeom prst="rect">
              <a:avLst/>
            </a:prstGeom>
            <a:solidFill>
              <a:srgbClr val="CD9F96"/>
            </a:solidFill>
            <a:ln>
              <a:noFill/>
            </a:ln>
          </p:spPr>
        </p:sp>
        <p:sp>
          <p:nvSpPr>
            <p:cNvPr id="37" name="Rectangle 37"/>
            <p:cNvSpPr/>
            <p:nvPr/>
          </p:nvSpPr>
          <p:spPr>
            <a:xfrm>
              <a:off x="1695450" y="3448050"/>
              <a:ext cx="57150" cy="171450"/>
            </a:xfrm>
            <a:prstGeom prst="rect">
              <a:avLst/>
            </a:prstGeom>
            <a:solidFill>
              <a:srgbClr val="C8E0B8"/>
            </a:solidFill>
            <a:ln>
              <a:noFill/>
            </a:ln>
          </p:spPr>
        </p:sp>
        <p:sp>
          <p:nvSpPr>
            <p:cNvPr id="38" name="Rectangle 38"/>
            <p:cNvSpPr/>
            <p:nvPr/>
          </p:nvSpPr>
          <p:spPr>
            <a:xfrm>
              <a:off x="1781175" y="3333750"/>
              <a:ext cx="57150" cy="285750"/>
            </a:xfrm>
            <a:prstGeom prst="rect">
              <a:avLst/>
            </a:prstGeom>
            <a:solidFill>
              <a:srgbClr val="B5766A"/>
            </a:solidFill>
            <a:ln>
              <a:noFill/>
            </a:ln>
          </p:spPr>
        </p:sp>
        <p:sp>
          <p:nvSpPr>
            <p:cNvPr id="39" name="Rectangle 39"/>
            <p:cNvSpPr/>
            <p:nvPr/>
          </p:nvSpPr>
          <p:spPr>
            <a:xfrm>
              <a:off x="1866900" y="3390900"/>
              <a:ext cx="57150" cy="228600"/>
            </a:xfrm>
            <a:prstGeom prst="rect">
              <a:avLst/>
            </a:prstGeom>
            <a:solidFill>
              <a:srgbClr val="CD9F96"/>
            </a:solidFill>
            <a:ln>
              <a:noFill/>
            </a:ln>
          </p:spPr>
        </p:sp>
        <p:sp>
          <p:nvSpPr>
            <p:cNvPr id="40" name="Rectangle 40"/>
            <p:cNvSpPr/>
            <p:nvPr/>
          </p:nvSpPr>
          <p:spPr>
            <a:xfrm>
              <a:off x="1952625" y="3295650"/>
              <a:ext cx="57150" cy="323850"/>
            </a:xfrm>
            <a:prstGeom prst="rect">
              <a:avLst/>
            </a:prstGeom>
            <a:solidFill>
              <a:srgbClr val="9C594C"/>
            </a:solidFill>
            <a:ln>
              <a:noFill/>
            </a:ln>
          </p:spPr>
        </p:sp>
        <p:sp>
          <p:nvSpPr>
            <p:cNvPr id="41" name="Rectangle 41"/>
            <p:cNvSpPr/>
            <p:nvPr/>
          </p:nvSpPr>
          <p:spPr>
            <a:xfrm>
              <a:off x="2038350" y="3352800"/>
              <a:ext cx="57150" cy="266700"/>
            </a:xfrm>
            <a:prstGeom prst="rect">
              <a:avLst/>
            </a:prstGeom>
            <a:solidFill>
              <a:srgbClr val="B5766A"/>
            </a:solidFill>
            <a:ln>
              <a:noFill/>
            </a:ln>
          </p:spPr>
        </p:sp>
        <p:sp>
          <p:nvSpPr>
            <p:cNvPr id="42" name="TextBox 42"/>
            <p:cNvSpPr txBox="1"/>
            <p:nvPr/>
          </p:nvSpPr>
          <p:spPr>
            <a:xfrm>
              <a:off x="490538" y="3827145"/>
              <a:ext cx="1444473" cy="176212"/>
            </a:xfrm>
            <a:prstGeom prst="rect">
              <a:avLst/>
            </a:prstGeom>
            <a:noFill/>
            <a:ln>
              <a:noFill/>
            </a:ln>
          </p:spPr>
          <p:txBody>
            <a:bodyPr wrap="none" lIns="0" tIns="0" rIns="0" bIns="0" anchor="t" anchorCtr="0">
              <a:spAutoFit/>
            </a:bodyPr>
            <a:lstStyle/>
            <a:p>
              <a:pPr algn="l"/>
              <a:r>
                <a:rPr lang="zh-CN" sz="900" b="1" dirty="0">
                  <a:solidFill>
                    <a:srgbClr val="333333"/>
                  </a:solidFill>
                  <a:latin typeface="+mn-lt"/>
                  <a:ea typeface="+mn-ea"/>
                  <a:cs typeface="+mn-cs"/>
                </a:rPr>
                <a:t>◉ 近七日发表前八位</a:t>
              </a:r>
              <a:r>
                <a:rPr lang="zh-CN" sz="640" dirty="0">
                  <a:solidFill>
                    <a:srgbClr val="595959"/>
                  </a:solidFill>
                  <a:latin typeface="+mn-lt"/>
                  <a:ea typeface="+mn-ea"/>
                  <a:cs typeface="+mn-cs"/>
                </a:rPr>
                <a:t xml:space="preserve"> 单位: 条</a:t>
              </a:r>
            </a:p>
          </p:txBody>
        </p:sp>
        <p:sp>
          <p:nvSpPr>
            <p:cNvPr id="43" name="TextBox 43"/>
            <p:cNvSpPr txBox="1"/>
            <p:nvPr/>
          </p:nvSpPr>
          <p:spPr>
            <a:xfrm>
              <a:off x="490538" y="4088130"/>
              <a:ext cx="17106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南京</a:t>
              </a:r>
            </a:p>
          </p:txBody>
        </p:sp>
        <p:sp>
          <p:nvSpPr>
            <p:cNvPr id="44" name="Rectangle 44"/>
            <p:cNvSpPr/>
            <p:nvPr/>
          </p:nvSpPr>
          <p:spPr>
            <a:xfrm>
              <a:off x="781050" y="4086225"/>
              <a:ext cx="1047750" cy="76200"/>
            </a:xfrm>
            <a:prstGeom prst="rect">
              <a:avLst/>
            </a:prstGeom>
            <a:solidFill>
              <a:srgbClr val="9C594C"/>
            </a:solidFill>
            <a:ln>
              <a:noFill/>
            </a:ln>
          </p:spPr>
        </p:sp>
        <p:sp>
          <p:nvSpPr>
            <p:cNvPr id="45" name="TextBox 45"/>
            <p:cNvSpPr txBox="1"/>
            <p:nvPr/>
          </p:nvSpPr>
          <p:spPr>
            <a:xfrm>
              <a:off x="1862138" y="4088130"/>
              <a:ext cx="14279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569</a:t>
              </a:r>
            </a:p>
          </p:txBody>
        </p:sp>
        <p:sp>
          <p:nvSpPr>
            <p:cNvPr id="46" name="TextBox 46"/>
            <p:cNvSpPr txBox="1"/>
            <p:nvPr/>
          </p:nvSpPr>
          <p:spPr>
            <a:xfrm>
              <a:off x="490538" y="4240530"/>
              <a:ext cx="17106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德州</a:t>
              </a:r>
            </a:p>
          </p:txBody>
        </p:sp>
        <p:sp>
          <p:nvSpPr>
            <p:cNvPr id="47" name="Rectangle 47"/>
            <p:cNvSpPr/>
            <p:nvPr/>
          </p:nvSpPr>
          <p:spPr>
            <a:xfrm>
              <a:off x="781050" y="4238625"/>
              <a:ext cx="1009650" cy="76200"/>
            </a:xfrm>
            <a:prstGeom prst="rect">
              <a:avLst/>
            </a:prstGeom>
            <a:solidFill>
              <a:srgbClr val="CD9F96"/>
            </a:solidFill>
            <a:ln>
              <a:noFill/>
            </a:ln>
          </p:spPr>
        </p:sp>
        <p:sp>
          <p:nvSpPr>
            <p:cNvPr id="48" name="TextBox 48"/>
            <p:cNvSpPr txBox="1"/>
            <p:nvPr/>
          </p:nvSpPr>
          <p:spPr>
            <a:xfrm>
              <a:off x="1824038" y="4240530"/>
              <a:ext cx="14279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544</a:t>
              </a:r>
            </a:p>
          </p:txBody>
        </p:sp>
        <p:sp>
          <p:nvSpPr>
            <p:cNvPr id="49" name="TextBox 49"/>
            <p:cNvSpPr txBox="1"/>
            <p:nvPr/>
          </p:nvSpPr>
          <p:spPr>
            <a:xfrm>
              <a:off x="490538" y="4392930"/>
              <a:ext cx="17106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苏州</a:t>
              </a:r>
            </a:p>
          </p:txBody>
        </p:sp>
        <p:sp>
          <p:nvSpPr>
            <p:cNvPr id="50" name="Rectangle 50"/>
            <p:cNvSpPr/>
            <p:nvPr/>
          </p:nvSpPr>
          <p:spPr>
            <a:xfrm>
              <a:off x="781050" y="4391025"/>
              <a:ext cx="914400" cy="76200"/>
            </a:xfrm>
            <a:prstGeom prst="rect">
              <a:avLst/>
            </a:prstGeom>
            <a:solidFill>
              <a:srgbClr val="9C594C"/>
            </a:solidFill>
            <a:ln>
              <a:noFill/>
            </a:ln>
          </p:spPr>
        </p:sp>
        <p:sp>
          <p:nvSpPr>
            <p:cNvPr id="51" name="TextBox 51"/>
            <p:cNvSpPr txBox="1"/>
            <p:nvPr/>
          </p:nvSpPr>
          <p:spPr>
            <a:xfrm>
              <a:off x="1728788" y="4392930"/>
              <a:ext cx="14279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497</a:t>
              </a:r>
            </a:p>
          </p:txBody>
        </p:sp>
        <p:sp>
          <p:nvSpPr>
            <p:cNvPr id="52" name="TextBox 52"/>
            <p:cNvSpPr txBox="1"/>
            <p:nvPr/>
          </p:nvSpPr>
          <p:spPr>
            <a:xfrm>
              <a:off x="490538" y="4545330"/>
              <a:ext cx="17106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邯郸</a:t>
              </a:r>
            </a:p>
          </p:txBody>
        </p:sp>
        <p:sp>
          <p:nvSpPr>
            <p:cNvPr id="53" name="Rectangle 53"/>
            <p:cNvSpPr/>
            <p:nvPr/>
          </p:nvSpPr>
          <p:spPr>
            <a:xfrm>
              <a:off x="781050" y="4543425"/>
              <a:ext cx="1143000" cy="76200"/>
            </a:xfrm>
            <a:prstGeom prst="rect">
              <a:avLst/>
            </a:prstGeom>
            <a:solidFill>
              <a:srgbClr val="CD9F96"/>
            </a:solidFill>
            <a:ln>
              <a:noFill/>
            </a:ln>
          </p:spPr>
        </p:sp>
        <p:sp>
          <p:nvSpPr>
            <p:cNvPr id="54" name="TextBox 54"/>
            <p:cNvSpPr txBox="1"/>
            <p:nvPr/>
          </p:nvSpPr>
          <p:spPr>
            <a:xfrm>
              <a:off x="1957388" y="4545330"/>
              <a:ext cx="14279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618</a:t>
              </a:r>
            </a:p>
          </p:txBody>
        </p:sp>
        <p:sp>
          <p:nvSpPr>
            <p:cNvPr id="55" name="TextBox 55"/>
            <p:cNvSpPr txBox="1"/>
            <p:nvPr/>
          </p:nvSpPr>
          <p:spPr>
            <a:xfrm>
              <a:off x="490538" y="4697730"/>
              <a:ext cx="17106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广宁</a:t>
              </a:r>
            </a:p>
          </p:txBody>
        </p:sp>
        <p:sp>
          <p:nvSpPr>
            <p:cNvPr id="56" name="Rectangle 56"/>
            <p:cNvSpPr/>
            <p:nvPr/>
          </p:nvSpPr>
          <p:spPr>
            <a:xfrm>
              <a:off x="781050" y="4695825"/>
              <a:ext cx="1019175" cy="76200"/>
            </a:xfrm>
            <a:prstGeom prst="rect">
              <a:avLst/>
            </a:prstGeom>
            <a:solidFill>
              <a:srgbClr val="9C594C"/>
            </a:solidFill>
            <a:ln>
              <a:noFill/>
            </a:ln>
          </p:spPr>
        </p:sp>
        <p:sp>
          <p:nvSpPr>
            <p:cNvPr id="57" name="TextBox 57"/>
            <p:cNvSpPr txBox="1"/>
            <p:nvPr/>
          </p:nvSpPr>
          <p:spPr>
            <a:xfrm>
              <a:off x="1833562" y="4697730"/>
              <a:ext cx="14279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550</a:t>
              </a:r>
            </a:p>
          </p:txBody>
        </p:sp>
        <p:sp>
          <p:nvSpPr>
            <p:cNvPr id="58" name="TextBox 58"/>
            <p:cNvSpPr txBox="1"/>
            <p:nvPr/>
          </p:nvSpPr>
          <p:spPr>
            <a:xfrm>
              <a:off x="490538" y="4850130"/>
              <a:ext cx="17106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博罗</a:t>
              </a:r>
            </a:p>
          </p:txBody>
        </p:sp>
        <p:sp>
          <p:nvSpPr>
            <p:cNvPr id="59" name="Rectangle 59"/>
            <p:cNvSpPr/>
            <p:nvPr/>
          </p:nvSpPr>
          <p:spPr>
            <a:xfrm>
              <a:off x="781050" y="4848225"/>
              <a:ext cx="390525" cy="76200"/>
            </a:xfrm>
            <a:prstGeom prst="rect">
              <a:avLst/>
            </a:prstGeom>
            <a:solidFill>
              <a:srgbClr val="CD9F96"/>
            </a:solidFill>
            <a:ln>
              <a:noFill/>
            </a:ln>
          </p:spPr>
        </p:sp>
        <p:sp>
          <p:nvSpPr>
            <p:cNvPr id="60" name="TextBox 60"/>
            <p:cNvSpPr txBox="1"/>
            <p:nvPr/>
          </p:nvSpPr>
          <p:spPr>
            <a:xfrm>
              <a:off x="1204912" y="4850130"/>
              <a:ext cx="14279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210</a:t>
              </a:r>
            </a:p>
          </p:txBody>
        </p:sp>
        <p:sp>
          <p:nvSpPr>
            <p:cNvPr id="61" name="TextBox 61"/>
            <p:cNvSpPr txBox="1"/>
            <p:nvPr/>
          </p:nvSpPr>
          <p:spPr>
            <a:xfrm>
              <a:off x="490538" y="5002530"/>
              <a:ext cx="17106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高雄</a:t>
              </a:r>
            </a:p>
          </p:txBody>
        </p:sp>
        <p:sp>
          <p:nvSpPr>
            <p:cNvPr id="62" name="Rectangle 62"/>
            <p:cNvSpPr/>
            <p:nvPr/>
          </p:nvSpPr>
          <p:spPr>
            <a:xfrm>
              <a:off x="781050" y="5000625"/>
              <a:ext cx="276225" cy="76200"/>
            </a:xfrm>
            <a:prstGeom prst="rect">
              <a:avLst/>
            </a:prstGeom>
            <a:solidFill>
              <a:srgbClr val="9C594C"/>
            </a:solidFill>
            <a:ln>
              <a:noFill/>
            </a:ln>
          </p:spPr>
        </p:sp>
        <p:sp>
          <p:nvSpPr>
            <p:cNvPr id="63" name="TextBox 63"/>
            <p:cNvSpPr txBox="1"/>
            <p:nvPr/>
          </p:nvSpPr>
          <p:spPr>
            <a:xfrm>
              <a:off x="1090612" y="5002530"/>
              <a:ext cx="14279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150</a:t>
              </a:r>
            </a:p>
          </p:txBody>
        </p:sp>
        <p:sp>
          <p:nvSpPr>
            <p:cNvPr id="64" name="TextBox 64"/>
            <p:cNvSpPr txBox="1"/>
            <p:nvPr/>
          </p:nvSpPr>
          <p:spPr>
            <a:xfrm>
              <a:off x="490538" y="5154930"/>
              <a:ext cx="17106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廊坊</a:t>
              </a:r>
            </a:p>
          </p:txBody>
        </p:sp>
        <p:sp>
          <p:nvSpPr>
            <p:cNvPr id="65" name="Rectangle 65"/>
            <p:cNvSpPr/>
            <p:nvPr/>
          </p:nvSpPr>
          <p:spPr>
            <a:xfrm>
              <a:off x="781050" y="5153025"/>
              <a:ext cx="314325" cy="76200"/>
            </a:xfrm>
            <a:prstGeom prst="rect">
              <a:avLst/>
            </a:prstGeom>
            <a:solidFill>
              <a:srgbClr val="CD9F96"/>
            </a:solidFill>
            <a:ln>
              <a:noFill/>
            </a:ln>
          </p:spPr>
        </p:sp>
        <p:sp>
          <p:nvSpPr>
            <p:cNvPr id="66" name="TextBox 66"/>
            <p:cNvSpPr txBox="1"/>
            <p:nvPr/>
          </p:nvSpPr>
          <p:spPr>
            <a:xfrm>
              <a:off x="1128712" y="5154930"/>
              <a:ext cx="142799"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172</a:t>
              </a:r>
            </a:p>
          </p:txBody>
        </p:sp>
      </p:grpSp>
      <p:grpSp>
        <p:nvGrpSpPr>
          <p:cNvPr id="98" name="card-tr"/>
          <p:cNvGrpSpPr/>
          <p:nvPr/>
        </p:nvGrpSpPr>
        <p:grpSpPr>
          <a:xfrm>
            <a:off x="8134350" y="914400"/>
            <a:ext cx="3676650" cy="1714500"/>
            <a:chOff x="8134350" y="914400"/>
            <a:chExt cx="3676650" cy="1714500"/>
          </a:xfrm>
        </p:grpSpPr>
        <p:sp>
          <p:nvSpPr>
            <p:cNvPr id="68" name="Rectangle 68"/>
            <p:cNvSpPr/>
            <p:nvPr/>
          </p:nvSpPr>
          <p:spPr>
            <a:xfrm>
              <a:off x="8134350" y="914400"/>
              <a:ext cx="3676650" cy="1714500"/>
            </a:xfrm>
            <a:prstGeom prst="rect">
              <a:avLst/>
            </a:prstGeom>
            <a:solidFill>
              <a:srgbClr val="FFFFFF"/>
            </a:solidFill>
            <a:ln w="11430">
              <a:solidFill>
                <a:srgbClr val="E9563C"/>
              </a:solidFill>
              <a:custDash>
                <a:ds d="416667" sp="250000"/>
              </a:custDash>
            </a:ln>
          </p:spPr>
        </p:sp>
        <p:sp>
          <p:nvSpPr>
            <p:cNvPr id="69" name="TextBox 69"/>
            <p:cNvSpPr txBox="1"/>
            <p:nvPr/>
          </p:nvSpPr>
          <p:spPr>
            <a:xfrm>
              <a:off x="8243888" y="1026795"/>
              <a:ext cx="481133" cy="176212"/>
            </a:xfrm>
            <a:prstGeom prst="rect">
              <a:avLst/>
            </a:prstGeom>
            <a:noFill/>
            <a:ln>
              <a:noFill/>
            </a:ln>
          </p:spPr>
          <p:txBody>
            <a:bodyPr wrap="none" lIns="0" tIns="0" rIns="0" bIns="0" anchor="t" anchorCtr="0">
              <a:spAutoFit/>
            </a:bodyPr>
            <a:lstStyle/>
            <a:p>
              <a:pPr algn="l"/>
              <a:r>
                <a:rPr lang="zh-CN" sz="900" b="1" dirty="0">
                  <a:solidFill>
                    <a:srgbClr val="D6391E"/>
                  </a:solidFill>
                  <a:latin typeface="+mn-lt"/>
                  <a:ea typeface="+mn-ea"/>
                  <a:cs typeface="+mn-cs"/>
                </a:rPr>
                <a:t>◉ 搜索栏</a:t>
              </a:r>
            </a:p>
          </p:txBody>
        </p:sp>
        <p:sp>
          <p:nvSpPr>
            <p:cNvPr id="70" name="TextBox 70"/>
            <p:cNvSpPr txBox="1"/>
            <p:nvPr/>
          </p:nvSpPr>
          <p:spPr>
            <a:xfrm>
              <a:off x="8243888" y="1241584"/>
              <a:ext cx="2146935" cy="266700"/>
            </a:xfrm>
            <a:prstGeom prst="rect">
              <a:avLst/>
            </a:prstGeom>
            <a:noFill/>
            <a:ln>
              <a:noFill/>
            </a:ln>
          </p:spPr>
          <p:txBody>
            <a:bodyPr wrap="none" lIns="0" tIns="0" rIns="0" bIns="0" anchor="t" anchorCtr="0">
              <a:spAutoFit/>
            </a:bodyPr>
            <a:lstStyle/>
            <a:p>
              <a:pPr algn="l">
                <a:lnSpc>
                  <a:spcPts val="1050"/>
                </a:lnSpc>
              </a:pPr>
              <a:r>
                <a:rPr lang="zh-CN" sz="680" dirty="0">
                  <a:solidFill>
                    <a:srgbClr val="595959"/>
                  </a:solidFill>
                  <a:latin typeface="+mn-lt"/>
                  <a:ea typeface="+mn-ea"/>
                  <a:cs typeface="+mn-cs"/>
                </a:rPr>
                <a:t>导航栏展示的不仅仅是APP的名称,同时还将扫一扫放在​</a:t>
              </a:r>
              <a:br/>
              <a:r>
                <a:rPr lang="zh-CN" sz="680" dirty="0">
                  <a:solidFill>
                    <a:srgbClr val="595959"/>
                  </a:solidFill>
                  <a:latin typeface="+mn-lt"/>
                  <a:ea typeface="+mn-ea"/>
                  <a:cs typeface="+mn-cs"/>
                </a:rPr>
                <a:t>此处,便业务在PC端登录时可以更方便操作。​</a:t>
              </a:r>
            </a:p>
          </p:txBody>
        </p:sp>
        <p:sp>
          <p:nvSpPr>
            <p:cNvPr id="71" name="Rectangle 71"/>
            <p:cNvSpPr/>
            <p:nvPr/>
          </p:nvSpPr>
          <p:spPr>
            <a:xfrm>
              <a:off x="8248650" y="1581150"/>
              <a:ext cx="1905000" cy="952500"/>
            </a:xfrm>
            <a:prstGeom prst="rect">
              <a:avLst/>
            </a:prstGeom>
            <a:solidFill>
              <a:srgbClr val="FDF6E7"/>
            </a:solidFill>
            <a:ln w="9525">
              <a:solidFill>
                <a:srgbClr val="E9563C"/>
              </a:solidFill>
              <a:custDash>
                <a:ds d="400000" sp="300000"/>
              </a:custDash>
            </a:ln>
          </p:spPr>
        </p:sp>
        <p:sp>
          <p:nvSpPr>
            <p:cNvPr id="72" name="TextBox 72"/>
            <p:cNvSpPr txBox="1"/>
            <p:nvPr/>
          </p:nvSpPr>
          <p:spPr>
            <a:xfrm>
              <a:off x="8339138" y="1686639"/>
              <a:ext cx="529841" cy="154781"/>
            </a:xfrm>
            <a:prstGeom prst="rect">
              <a:avLst/>
            </a:prstGeom>
            <a:noFill/>
            <a:ln>
              <a:noFill/>
            </a:ln>
          </p:spPr>
          <p:txBody>
            <a:bodyPr wrap="none" lIns="0" tIns="0" rIns="0" bIns="0" anchor="t" anchorCtr="0">
              <a:spAutoFit/>
            </a:bodyPr>
            <a:lstStyle/>
            <a:p>
              <a:pPr algn="l"/>
              <a:r>
                <a:rPr lang="zh-CN" sz="790" b="1" dirty="0">
                  <a:solidFill>
                    <a:srgbClr val="D6391E"/>
                  </a:solidFill>
                  <a:latin typeface="+mn-lt"/>
                  <a:ea typeface="+mn-ea"/>
                  <a:cs typeface="+mn-cs"/>
                </a:rPr>
                <a:t>◉ 优化配置</a:t>
              </a:r>
            </a:p>
          </p:txBody>
        </p:sp>
        <p:sp>
          <p:nvSpPr>
            <p:cNvPr id="73" name="Ellipse 73"/>
            <p:cNvSpPr/>
            <p:nvPr/>
          </p:nvSpPr>
          <p:spPr>
            <a:xfrm>
              <a:off x="8439150" y="1905000"/>
              <a:ext cx="266700" cy="266700"/>
            </a:xfrm>
            <a:prstGeom prst="ellipse">
              <a:avLst/>
            </a:prstGeom>
            <a:solidFill>
              <a:srgbClr val="F7B9AE"/>
            </a:solidFill>
            <a:ln>
              <a:noFill/>
            </a:ln>
          </p:spPr>
        </p:sp>
        <p:sp>
          <p:nvSpPr>
            <p:cNvPr id="74" name="Freeform 74"/>
            <p:cNvSpPr/>
            <p:nvPr/>
          </p:nvSpPr>
          <p:spPr>
            <a:xfrm>
              <a:off x="8515350" y="1981200"/>
              <a:ext cx="114300" cy="114300"/>
            </a:xfrm>
            <a:custGeom>
              <a:avLst/>
              <a:gdLst/>
              <a:ahLst/>
              <a:cxnLst/>
              <a:rect l="l" t="t" r="r" b="b"/>
              <a:pathLst>
                <a:path w="114300" h="114300">
                  <a:moveTo>
                    <a:pt x="6350" y="25400"/>
                  </a:moveTo>
                  <a:lnTo>
                    <a:pt x="25400" y="25400"/>
                  </a:lnTo>
                  <a:cubicBezTo>
                    <a:pt x="28907" y="25400"/>
                    <a:pt x="31750" y="22557"/>
                    <a:pt x="31750" y="19050"/>
                  </a:cubicBezTo>
                  <a:lnTo>
                    <a:pt x="31750" y="12700"/>
                  </a:lnTo>
                  <a:cubicBezTo>
                    <a:pt x="31750" y="5686"/>
                    <a:pt x="37436" y="0"/>
                    <a:pt x="44450" y="0"/>
                  </a:cubicBezTo>
                  <a:cubicBezTo>
                    <a:pt x="51464" y="0"/>
                    <a:pt x="57150" y="5686"/>
                    <a:pt x="57150" y="12700"/>
                  </a:cubicBezTo>
                  <a:lnTo>
                    <a:pt x="57150" y="19050"/>
                  </a:lnTo>
                  <a:cubicBezTo>
                    <a:pt x="57150" y="22557"/>
                    <a:pt x="59993" y="25400"/>
                    <a:pt x="63500" y="25400"/>
                  </a:cubicBezTo>
                  <a:lnTo>
                    <a:pt x="82550" y="25400"/>
                  </a:lnTo>
                  <a:cubicBezTo>
                    <a:pt x="86057" y="25400"/>
                    <a:pt x="88900" y="28243"/>
                    <a:pt x="88900" y="31750"/>
                  </a:cubicBezTo>
                  <a:lnTo>
                    <a:pt x="88900" y="50800"/>
                  </a:lnTo>
                  <a:cubicBezTo>
                    <a:pt x="88900" y="54307"/>
                    <a:pt x="91743" y="57150"/>
                    <a:pt x="95250" y="57150"/>
                  </a:cubicBezTo>
                  <a:lnTo>
                    <a:pt x="101600" y="57150"/>
                  </a:lnTo>
                  <a:cubicBezTo>
                    <a:pt x="108614" y="57150"/>
                    <a:pt x="114300" y="62836"/>
                    <a:pt x="114300" y="69850"/>
                  </a:cubicBezTo>
                  <a:cubicBezTo>
                    <a:pt x="114300" y="76864"/>
                    <a:pt x="108614" y="82550"/>
                    <a:pt x="101600" y="82550"/>
                  </a:cubicBezTo>
                  <a:lnTo>
                    <a:pt x="95250" y="82550"/>
                  </a:lnTo>
                  <a:cubicBezTo>
                    <a:pt x="91743" y="82550"/>
                    <a:pt x="88900" y="85393"/>
                    <a:pt x="88900" y="88900"/>
                  </a:cubicBezTo>
                  <a:lnTo>
                    <a:pt x="88900" y="107950"/>
                  </a:lnTo>
                  <a:cubicBezTo>
                    <a:pt x="88900" y="111457"/>
                    <a:pt x="86057" y="114300"/>
                    <a:pt x="82550" y="114300"/>
                  </a:cubicBezTo>
                  <a:lnTo>
                    <a:pt x="63500" y="114300"/>
                  </a:lnTo>
                  <a:cubicBezTo>
                    <a:pt x="59993" y="114300"/>
                    <a:pt x="57150" y="111457"/>
                    <a:pt x="57150" y="107950"/>
                  </a:cubicBezTo>
                  <a:lnTo>
                    <a:pt x="57150" y="101600"/>
                  </a:lnTo>
                  <a:cubicBezTo>
                    <a:pt x="57150" y="94586"/>
                    <a:pt x="51464" y="88900"/>
                    <a:pt x="44450" y="88900"/>
                  </a:cubicBezTo>
                  <a:cubicBezTo>
                    <a:pt x="37436" y="88900"/>
                    <a:pt x="31750" y="94586"/>
                    <a:pt x="31750" y="101600"/>
                  </a:cubicBezTo>
                  <a:lnTo>
                    <a:pt x="31750" y="107950"/>
                  </a:lnTo>
                  <a:cubicBezTo>
                    <a:pt x="31750" y="111457"/>
                    <a:pt x="28907" y="114300"/>
                    <a:pt x="25400" y="114300"/>
                  </a:cubicBezTo>
                  <a:lnTo>
                    <a:pt x="6350" y="114300"/>
                  </a:lnTo>
                  <a:cubicBezTo>
                    <a:pt x="2843" y="114300"/>
                    <a:pt x="0" y="111457"/>
                    <a:pt x="0" y="107950"/>
                  </a:cubicBezTo>
                  <a:lnTo>
                    <a:pt x="0" y="88900"/>
                  </a:lnTo>
                  <a:cubicBezTo>
                    <a:pt x="0" y="85393"/>
                    <a:pt x="2843" y="82550"/>
                    <a:pt x="6350" y="82550"/>
                  </a:cubicBezTo>
                  <a:lnTo>
                    <a:pt x="12700" y="82550"/>
                  </a:lnTo>
                  <a:cubicBezTo>
                    <a:pt x="19714" y="82550"/>
                    <a:pt x="25400" y="76864"/>
                    <a:pt x="25400" y="69850"/>
                  </a:cubicBezTo>
                  <a:cubicBezTo>
                    <a:pt x="25400" y="62836"/>
                    <a:pt x="19714" y="57150"/>
                    <a:pt x="12700" y="57150"/>
                  </a:cubicBezTo>
                  <a:lnTo>
                    <a:pt x="6350" y="57150"/>
                  </a:lnTo>
                  <a:cubicBezTo>
                    <a:pt x="2843" y="57150"/>
                    <a:pt x="0" y="54307"/>
                    <a:pt x="0" y="50800"/>
                  </a:cubicBezTo>
                  <a:lnTo>
                    <a:pt x="0" y="31750"/>
                  </a:lnTo>
                  <a:cubicBezTo>
                    <a:pt x="0" y="28243"/>
                    <a:pt x="2843" y="25400"/>
                    <a:pt x="6350" y="25400"/>
                  </a:cubicBezTo>
                </a:path>
              </a:pathLst>
            </a:custGeom>
            <a:noFill/>
            <a:ln w="12700">
              <a:solidFill>
                <a:srgbClr val="D6391E"/>
              </a:solidFill>
            </a:ln>
          </p:spPr>
        </p:sp>
        <p:sp>
          <p:nvSpPr>
            <p:cNvPr id="75" name="TextBox 75"/>
            <p:cNvSpPr txBox="1"/>
            <p:nvPr/>
          </p:nvSpPr>
          <p:spPr>
            <a:xfrm>
              <a:off x="8406194" y="2297430"/>
              <a:ext cx="332613"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基础信息</a:t>
              </a:r>
            </a:p>
          </p:txBody>
        </p:sp>
        <p:sp>
          <p:nvSpPr>
            <p:cNvPr id="76" name="Ellipse 76"/>
            <p:cNvSpPr/>
            <p:nvPr/>
          </p:nvSpPr>
          <p:spPr>
            <a:xfrm>
              <a:off x="9067800" y="1905000"/>
              <a:ext cx="266700" cy="266700"/>
            </a:xfrm>
            <a:prstGeom prst="ellipse">
              <a:avLst/>
            </a:prstGeom>
            <a:solidFill>
              <a:srgbClr val="F7B9AE"/>
            </a:solidFill>
            <a:ln>
              <a:noFill/>
            </a:ln>
          </p:spPr>
        </p:sp>
        <p:grpSp>
          <p:nvGrpSpPr>
            <p:cNvPr id="82" name="Group 82"/>
            <p:cNvGrpSpPr/>
            <p:nvPr/>
          </p:nvGrpSpPr>
          <p:grpSpPr>
            <a:xfrm>
              <a:off x="9156700" y="1981200"/>
              <a:ext cx="88900" cy="114300"/>
              <a:chOff x="9156700" y="1981200"/>
              <a:chExt cx="88900" cy="114300"/>
            </a:xfrm>
          </p:grpSpPr>
          <p:sp>
            <p:nvSpPr>
              <p:cNvPr id="77" name="Freeform 77"/>
              <p:cNvSpPr/>
              <p:nvPr/>
            </p:nvSpPr>
            <p:spPr>
              <a:xfrm>
                <a:off x="9213850" y="19812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D6391E"/>
                </a:solidFill>
              </a:ln>
            </p:spPr>
          </p:sp>
          <p:sp>
            <p:nvSpPr>
              <p:cNvPr id="78" name="Freeform 78"/>
              <p:cNvSpPr/>
              <p:nvPr/>
            </p:nvSpPr>
            <p:spPr>
              <a:xfrm>
                <a:off x="9156700" y="19812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D6391E"/>
                </a:solidFill>
              </a:ln>
            </p:spPr>
          </p:sp>
          <p:sp>
            <p:nvSpPr>
              <p:cNvPr id="79" name="Freeform 79"/>
              <p:cNvSpPr/>
              <p:nvPr/>
            </p:nvSpPr>
            <p:spPr>
              <a:xfrm>
                <a:off x="9182100" y="2019300"/>
                <a:ext cx="9525" cy="9525"/>
              </a:xfrm>
              <a:custGeom>
                <a:avLst/>
                <a:gdLst/>
                <a:ahLst/>
                <a:cxnLst/>
                <a:rect l="l" t="t" r="r" b="b"/>
                <a:pathLst>
                  <a:path w="9525" h="9525">
                    <a:moveTo>
                      <a:pt x="0" y="0"/>
                    </a:moveTo>
                    <a:lnTo>
                      <a:pt x="6350" y="0"/>
                    </a:lnTo>
                  </a:path>
                </a:pathLst>
              </a:custGeom>
              <a:noFill/>
              <a:ln w="12700">
                <a:solidFill>
                  <a:srgbClr val="D6391E"/>
                </a:solidFill>
              </a:ln>
            </p:spPr>
          </p:sp>
          <p:sp>
            <p:nvSpPr>
              <p:cNvPr id="80" name="Freeform 80"/>
              <p:cNvSpPr/>
              <p:nvPr/>
            </p:nvSpPr>
            <p:spPr>
              <a:xfrm>
                <a:off x="9182100" y="2044700"/>
                <a:ext cx="38100" cy="9525"/>
              </a:xfrm>
              <a:custGeom>
                <a:avLst/>
                <a:gdLst/>
                <a:ahLst/>
                <a:cxnLst/>
                <a:rect l="l" t="t" r="r" b="b"/>
                <a:pathLst>
                  <a:path w="38100" h="9525">
                    <a:moveTo>
                      <a:pt x="0" y="0"/>
                    </a:moveTo>
                    <a:lnTo>
                      <a:pt x="38100" y="0"/>
                    </a:lnTo>
                  </a:path>
                </a:pathLst>
              </a:custGeom>
              <a:noFill/>
              <a:ln w="12700">
                <a:solidFill>
                  <a:srgbClr val="D6391E"/>
                </a:solidFill>
              </a:ln>
            </p:spPr>
          </p:sp>
          <p:sp>
            <p:nvSpPr>
              <p:cNvPr id="81" name="Freeform 81"/>
              <p:cNvSpPr/>
              <p:nvPr/>
            </p:nvSpPr>
            <p:spPr>
              <a:xfrm>
                <a:off x="9182100" y="2070100"/>
                <a:ext cx="38100" cy="9525"/>
              </a:xfrm>
              <a:custGeom>
                <a:avLst/>
                <a:gdLst/>
                <a:ahLst/>
                <a:cxnLst/>
                <a:rect l="l" t="t" r="r" b="b"/>
                <a:pathLst>
                  <a:path w="38100" h="9525">
                    <a:moveTo>
                      <a:pt x="0" y="0"/>
                    </a:moveTo>
                    <a:lnTo>
                      <a:pt x="38100" y="0"/>
                    </a:lnTo>
                  </a:path>
                </a:pathLst>
              </a:custGeom>
              <a:noFill/>
              <a:ln w="12700">
                <a:solidFill>
                  <a:srgbClr val="D6391E"/>
                </a:solidFill>
              </a:ln>
            </p:spPr>
          </p:sp>
        </p:grpSp>
        <p:sp>
          <p:nvSpPr>
            <p:cNvPr id="83" name="TextBox 83"/>
            <p:cNvSpPr txBox="1"/>
            <p:nvPr/>
          </p:nvSpPr>
          <p:spPr>
            <a:xfrm>
              <a:off x="9034844" y="2297430"/>
              <a:ext cx="332613"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其他信息</a:t>
              </a:r>
            </a:p>
          </p:txBody>
        </p:sp>
        <p:sp>
          <p:nvSpPr>
            <p:cNvPr id="84" name="Ellipse 84"/>
            <p:cNvSpPr/>
            <p:nvPr/>
          </p:nvSpPr>
          <p:spPr>
            <a:xfrm>
              <a:off x="9696450" y="1905000"/>
              <a:ext cx="266700" cy="266700"/>
            </a:xfrm>
            <a:prstGeom prst="ellipse">
              <a:avLst/>
            </a:prstGeom>
            <a:solidFill>
              <a:srgbClr val="F7B9AE"/>
            </a:solidFill>
            <a:ln>
              <a:noFill/>
            </a:ln>
          </p:spPr>
        </p:sp>
        <p:grpSp>
          <p:nvGrpSpPr>
            <p:cNvPr id="89" name="Group 89"/>
            <p:cNvGrpSpPr/>
            <p:nvPr/>
          </p:nvGrpSpPr>
          <p:grpSpPr>
            <a:xfrm>
              <a:off x="9779000" y="1981200"/>
              <a:ext cx="101600" cy="114300"/>
              <a:chOff x="9779000" y="1981200"/>
              <a:chExt cx="101600" cy="114300"/>
            </a:xfrm>
          </p:grpSpPr>
          <p:sp>
            <p:nvSpPr>
              <p:cNvPr id="85" name="Freeform 85"/>
              <p:cNvSpPr/>
              <p:nvPr/>
            </p:nvSpPr>
            <p:spPr>
              <a:xfrm>
                <a:off x="9779000" y="2070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6391E"/>
                </a:solidFill>
              </a:ln>
            </p:spPr>
          </p:sp>
          <p:sp>
            <p:nvSpPr>
              <p:cNvPr id="86" name="Freeform 86"/>
              <p:cNvSpPr/>
              <p:nvPr/>
            </p:nvSpPr>
            <p:spPr>
              <a:xfrm>
                <a:off x="9848850" y="2070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D6391E"/>
                </a:solidFill>
              </a:ln>
            </p:spPr>
          </p:sp>
          <p:sp>
            <p:nvSpPr>
              <p:cNvPr id="87" name="Freeform 87"/>
              <p:cNvSpPr/>
              <p:nvPr/>
            </p:nvSpPr>
            <p:spPr>
              <a:xfrm>
                <a:off x="9779000" y="1981200"/>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D6391E"/>
                </a:solidFill>
              </a:ln>
            </p:spPr>
          </p:sp>
          <p:sp>
            <p:nvSpPr>
              <p:cNvPr id="88" name="Freeform 88"/>
              <p:cNvSpPr/>
              <p:nvPr/>
            </p:nvSpPr>
            <p:spPr>
              <a:xfrm>
                <a:off x="9791700" y="1993900"/>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D6391E"/>
                </a:solidFill>
              </a:ln>
            </p:spPr>
          </p:sp>
        </p:grpSp>
        <p:sp>
          <p:nvSpPr>
            <p:cNvPr id="90" name="TextBox 90"/>
            <p:cNvSpPr txBox="1"/>
            <p:nvPr/>
          </p:nvSpPr>
          <p:spPr>
            <a:xfrm>
              <a:off x="9663494" y="2297430"/>
              <a:ext cx="332613" cy="119062"/>
            </a:xfrm>
            <a:prstGeom prst="rect">
              <a:avLst/>
            </a:prstGeom>
            <a:noFill/>
            <a:ln>
              <a:noFill/>
            </a:ln>
          </p:spPr>
          <p:txBody>
            <a:bodyPr wrap="none" lIns="0" tIns="0" rIns="0" bIns="0" anchor="t" anchorCtr="0">
              <a:spAutoFit/>
            </a:bodyPr>
            <a:lstStyle/>
            <a:p>
              <a:pPr algn="ctr"/>
              <a:r>
                <a:rPr lang="zh-CN" sz="600" dirty="0">
                  <a:solidFill>
                    <a:srgbClr val="333333"/>
                  </a:solidFill>
                  <a:latin typeface="+mn-lt"/>
                  <a:ea typeface="+mn-ea"/>
                  <a:cs typeface="+mn-cs"/>
                </a:rPr>
                <a:t>市场销售</a:t>
              </a:r>
            </a:p>
          </p:txBody>
        </p:sp>
        <p:sp>
          <p:nvSpPr>
            <p:cNvPr id="91" name="Rectangle 91"/>
            <p:cNvSpPr/>
            <p:nvPr/>
          </p:nvSpPr>
          <p:spPr>
            <a:xfrm>
              <a:off x="10477500" y="952500"/>
              <a:ext cx="1143000" cy="1619250"/>
            </a:xfrm>
            <a:prstGeom prst="roundRect">
              <a:avLst>
                <a:gd name="adj" fmla="val 11667"/>
              </a:avLst>
            </a:prstGeom>
            <a:solidFill>
              <a:srgbClr val="FFFFFF"/>
            </a:solidFill>
            <a:ln w="11430">
              <a:solidFill>
                <a:srgbClr val="C9D8BD"/>
              </a:solidFill>
            </a:ln>
          </p:spPr>
        </p:sp>
        <p:sp>
          <p:nvSpPr>
            <p:cNvPr id="92" name="Rectangle 92"/>
            <p:cNvSpPr/>
            <p:nvPr/>
          </p:nvSpPr>
          <p:spPr>
            <a:xfrm>
              <a:off x="10572750" y="1085850"/>
              <a:ext cx="952500" cy="209550"/>
            </a:xfrm>
            <a:prstGeom prst="roundRect">
              <a:avLst>
                <a:gd name="adj" fmla="val 13636"/>
              </a:avLst>
            </a:prstGeom>
            <a:solidFill>
              <a:srgbClr val="9C594C"/>
            </a:solidFill>
            <a:ln>
              <a:noFill/>
            </a:ln>
          </p:spPr>
        </p:sp>
        <p:sp>
          <p:nvSpPr>
            <p:cNvPr id="93" name="Rectangle 93"/>
            <p:cNvSpPr/>
            <p:nvPr/>
          </p:nvSpPr>
          <p:spPr>
            <a:xfrm>
              <a:off x="10572750" y="1352550"/>
              <a:ext cx="952500" cy="381000"/>
            </a:xfrm>
            <a:prstGeom prst="roundRect">
              <a:avLst>
                <a:gd name="adj" fmla="val 7500"/>
              </a:avLst>
            </a:prstGeom>
            <a:solidFill>
              <a:srgbClr val="DFF0D2"/>
            </a:solidFill>
            <a:ln>
              <a:noFill/>
            </a:ln>
          </p:spPr>
        </p:sp>
        <p:sp>
          <p:nvSpPr>
            <p:cNvPr id="94" name="Rectangle 94"/>
            <p:cNvSpPr/>
            <p:nvPr/>
          </p:nvSpPr>
          <p:spPr>
            <a:xfrm>
              <a:off x="10572750" y="1790700"/>
              <a:ext cx="419100" cy="285750"/>
            </a:xfrm>
            <a:prstGeom prst="roundRect">
              <a:avLst>
                <a:gd name="adj" fmla="val 10000"/>
              </a:avLst>
            </a:prstGeom>
            <a:solidFill>
              <a:srgbClr val="F7B9AE"/>
            </a:solidFill>
            <a:ln>
              <a:noFill/>
            </a:ln>
          </p:spPr>
        </p:sp>
        <p:sp>
          <p:nvSpPr>
            <p:cNvPr id="95" name="Rectangle 95"/>
            <p:cNvSpPr/>
            <p:nvPr/>
          </p:nvSpPr>
          <p:spPr>
            <a:xfrm>
              <a:off x="11049000" y="1790700"/>
              <a:ext cx="476250" cy="285750"/>
            </a:xfrm>
            <a:prstGeom prst="roundRect">
              <a:avLst>
                <a:gd name="adj" fmla="val 10000"/>
              </a:avLst>
            </a:prstGeom>
            <a:solidFill>
              <a:srgbClr val="E5E9E2"/>
            </a:solidFill>
            <a:ln>
              <a:noFill/>
            </a:ln>
          </p:spPr>
        </p:sp>
        <p:sp>
          <p:nvSpPr>
            <p:cNvPr id="96" name="Rectangle 96"/>
            <p:cNvSpPr/>
            <p:nvPr/>
          </p:nvSpPr>
          <p:spPr>
            <a:xfrm>
              <a:off x="10572750" y="2152650"/>
              <a:ext cx="952500" cy="95250"/>
            </a:xfrm>
            <a:prstGeom prst="roundRect">
              <a:avLst>
                <a:gd name="adj" fmla="val 20000"/>
              </a:avLst>
            </a:prstGeom>
            <a:solidFill>
              <a:srgbClr val="E5E9E2"/>
            </a:solidFill>
            <a:ln>
              <a:noFill/>
            </a:ln>
          </p:spPr>
        </p:sp>
        <p:sp>
          <p:nvSpPr>
            <p:cNvPr id="97" name="Rectangle 97"/>
            <p:cNvSpPr/>
            <p:nvPr/>
          </p:nvSpPr>
          <p:spPr>
            <a:xfrm>
              <a:off x="10572750" y="2305050"/>
              <a:ext cx="952500" cy="95250"/>
            </a:xfrm>
            <a:prstGeom prst="roundRect">
              <a:avLst>
                <a:gd name="adj" fmla="val 20000"/>
              </a:avLst>
            </a:prstGeom>
            <a:solidFill>
              <a:srgbClr val="E5E9E2"/>
            </a:solidFill>
            <a:ln>
              <a:noFill/>
            </a:ln>
          </p:spPr>
        </p:sp>
      </p:grpSp>
      <p:grpSp>
        <p:nvGrpSpPr>
          <p:cNvPr id="111" name="card-br"/>
          <p:cNvGrpSpPr/>
          <p:nvPr/>
        </p:nvGrpSpPr>
        <p:grpSpPr>
          <a:xfrm>
            <a:off x="9944100" y="2762250"/>
            <a:ext cx="1866900" cy="2857500"/>
            <a:chOff x="9944100" y="2762250"/>
            <a:chExt cx="1866900" cy="2857500"/>
          </a:xfrm>
        </p:grpSpPr>
        <p:sp>
          <p:nvSpPr>
            <p:cNvPr id="99" name="Rectangle 99"/>
            <p:cNvSpPr/>
            <p:nvPr/>
          </p:nvSpPr>
          <p:spPr>
            <a:xfrm>
              <a:off x="9944100" y="2762250"/>
              <a:ext cx="1866900" cy="2857500"/>
            </a:xfrm>
            <a:prstGeom prst="rect">
              <a:avLst/>
            </a:prstGeom>
            <a:solidFill>
              <a:srgbClr val="FFFFFF"/>
            </a:solidFill>
            <a:ln w="11430">
              <a:solidFill>
                <a:srgbClr val="E9563C"/>
              </a:solidFill>
              <a:custDash>
                <a:ds d="416667" sp="250000"/>
              </a:custDash>
            </a:ln>
          </p:spPr>
        </p:sp>
        <p:sp>
          <p:nvSpPr>
            <p:cNvPr id="100" name="TextBox 100"/>
            <p:cNvSpPr txBox="1"/>
            <p:nvPr/>
          </p:nvSpPr>
          <p:spPr>
            <a:xfrm>
              <a:off x="10034588" y="2931795"/>
              <a:ext cx="723449" cy="176212"/>
            </a:xfrm>
            <a:prstGeom prst="rect">
              <a:avLst/>
            </a:prstGeom>
            <a:noFill/>
            <a:ln>
              <a:noFill/>
            </a:ln>
          </p:spPr>
          <p:txBody>
            <a:bodyPr wrap="none" lIns="0" tIns="0" rIns="0" bIns="0" anchor="t" anchorCtr="0">
              <a:spAutoFit/>
            </a:bodyPr>
            <a:lstStyle/>
            <a:p>
              <a:pPr algn="l"/>
              <a:r>
                <a:rPr lang="zh-CN" sz="900" b="1" dirty="0">
                  <a:solidFill>
                    <a:srgbClr val="D6391E"/>
                  </a:solidFill>
                  <a:latin typeface="+mn-lt"/>
                  <a:ea typeface="+mn-ea"/>
                  <a:cs typeface="+mn-cs"/>
                </a:rPr>
                <a:t>◉ 短期内衡量</a:t>
              </a:r>
            </a:p>
          </p:txBody>
        </p:sp>
        <p:sp>
          <p:nvSpPr>
            <p:cNvPr id="101" name="TextBox 101"/>
            <p:cNvSpPr txBox="1"/>
            <p:nvPr/>
          </p:nvSpPr>
          <p:spPr>
            <a:xfrm>
              <a:off x="10034588" y="3184684"/>
              <a:ext cx="1139317" cy="723900"/>
            </a:xfrm>
            <a:prstGeom prst="rect">
              <a:avLst/>
            </a:prstGeom>
            <a:noFill/>
            <a:ln>
              <a:noFill/>
            </a:ln>
          </p:spPr>
          <p:txBody>
            <a:bodyPr wrap="none" lIns="0" tIns="0" rIns="0" bIns="0" anchor="t" anchorCtr="0">
              <a:spAutoFit/>
            </a:bodyPr>
            <a:lstStyle/>
            <a:p>
              <a:pPr algn="l" marL="76200" indent="-76200">
                <a:lnSpc>
                  <a:spcPts val="975"/>
                </a:lnSpc>
                <a:buClr>
                  <a:srgbClr val="333333"/>
                </a:buClr>
                <a:buSzTx/>
                <a:buFontTx/>
                <a:buChar char="●"/>
              </a:pPr>
              <a:r>
                <a:rPr lang="zh-CN" sz="680" dirty="0">
                  <a:solidFill>
                    <a:srgbClr val="333333"/>
                  </a:solidFill>
                  <a:latin typeface="+mn-lt"/>
                  <a:ea typeface="+mn-ea"/>
                  <a:cs typeface="+mn-cs"/>
                </a:rPr>
                <a:t>用户幸福感的用户得分</a:t>
              </a:r>
            </a:p>
            <a:p>
              <a:pPr algn="l" marL="76200" indent="-76200">
                <a:lnSpc>
                  <a:spcPts val="975"/>
                </a:lnSpc>
                <a:spcBef>
                  <a:spcPts val="375"/>
                </a:spcBef>
                <a:buClr>
                  <a:srgbClr val="333333"/>
                </a:buClr>
                <a:buSzTx/>
                <a:buFontTx/>
                <a:buChar char="●"/>
              </a:pPr>
              <a:r>
                <a:rPr lang="zh-CN" sz="680" dirty="0">
                  <a:solidFill>
                    <a:srgbClr val="333333"/>
                  </a:solidFill>
                  <a:latin typeface="+mn-lt"/>
                  <a:ea typeface="+mn-ea"/>
                  <a:cs typeface="+mn-cs"/>
                </a:rPr>
                <a:t>受访者必须在1-5层次之间​</a:t>
              </a:r>
              <a:br/>
              <a:r>
                <a:rPr lang="zh-CN" sz="680" dirty="0">
                  <a:solidFill>
                    <a:srgbClr val="333333"/>
                  </a:solidFill>
                  <a:latin typeface="+mn-lt"/>
                  <a:ea typeface="+mn-ea"/>
                  <a:cs typeface="+mn-cs"/>
                </a:rPr>
                <a:t>表达对某一话题或内容的</a:t>
              </a:r>
              <a:br/>
              <a:r>
                <a:rPr lang="zh-CN" sz="680" dirty="0">
                  <a:solidFill>
                    <a:srgbClr val="333333"/>
                  </a:solidFill>
                  <a:latin typeface="+mn-lt"/>
                  <a:ea typeface="+mn-ea"/>
                  <a:cs typeface="+mn-cs"/>
                </a:rPr>
                <a:t>满意度</a:t>
              </a:r>
            </a:p>
            <a:p>
              <a:pPr algn="l" marL="76200" indent="-76200">
                <a:lnSpc>
                  <a:spcPts val="975"/>
                </a:lnSpc>
                <a:spcBef>
                  <a:spcPts val="375"/>
                </a:spcBef>
                <a:buClr>
                  <a:srgbClr val="333333"/>
                </a:buClr>
                <a:buSzTx/>
                <a:buFontTx/>
                <a:buChar char="●"/>
              </a:pPr>
              <a:r>
                <a:rPr lang="zh-CN" sz="680" dirty="0">
                  <a:solidFill>
                    <a:srgbClr val="333333"/>
                  </a:solidFill>
                  <a:latin typeface="+mn-lt"/>
                  <a:ea typeface="+mn-ea"/>
                  <a:cs typeface="+mn-cs"/>
                </a:rPr>
                <a:t>用户幸福感的用户得分</a:t>
              </a:r>
            </a:p>
          </p:txBody>
        </p:sp>
        <p:sp>
          <p:nvSpPr>
            <p:cNvPr id="102" name="Rectangle 102"/>
            <p:cNvSpPr/>
            <p:nvPr/>
          </p:nvSpPr>
          <p:spPr>
            <a:xfrm>
              <a:off x="10039350" y="4095750"/>
              <a:ext cx="1676400" cy="1047750"/>
            </a:xfrm>
            <a:prstGeom prst="roundRect">
              <a:avLst>
                <a:gd name="adj" fmla="val 5455"/>
              </a:avLst>
            </a:prstGeom>
            <a:solidFill>
              <a:srgbClr val="F4F8EF"/>
            </a:solidFill>
            <a:ln w="9525">
              <a:solidFill>
                <a:srgbClr val="C9D8BD"/>
              </a:solidFill>
            </a:ln>
          </p:spPr>
        </p:sp>
        <p:sp>
          <p:nvSpPr>
            <p:cNvPr id="103" name="Rectangle 103"/>
            <p:cNvSpPr/>
            <p:nvPr/>
          </p:nvSpPr>
          <p:spPr>
            <a:xfrm>
              <a:off x="10115550" y="4171950"/>
              <a:ext cx="1524000" cy="800100"/>
            </a:xfrm>
            <a:prstGeom prst="rect">
              <a:avLst/>
            </a:prstGeom>
            <a:solidFill>
              <a:srgbClr val="FFFFFF"/>
            </a:solidFill>
            <a:ln>
              <a:noFill/>
            </a:ln>
          </p:spPr>
        </p:sp>
        <p:sp>
          <p:nvSpPr>
            <p:cNvPr id="104" name="Rectangle 104"/>
            <p:cNvSpPr/>
            <p:nvPr/>
          </p:nvSpPr>
          <p:spPr>
            <a:xfrm>
              <a:off x="10191750" y="4248150"/>
              <a:ext cx="571500" cy="381000"/>
            </a:xfrm>
            <a:prstGeom prst="rect">
              <a:avLst/>
            </a:prstGeom>
            <a:solidFill>
              <a:srgbClr val="DFF0D2"/>
            </a:solidFill>
            <a:ln>
              <a:noFill/>
            </a:ln>
          </p:spPr>
        </p:sp>
        <p:sp>
          <p:nvSpPr>
            <p:cNvPr id="105" name="Rectangle 105"/>
            <p:cNvSpPr/>
            <p:nvPr/>
          </p:nvSpPr>
          <p:spPr>
            <a:xfrm>
              <a:off x="10820400" y="4248150"/>
              <a:ext cx="742950" cy="114300"/>
            </a:xfrm>
            <a:prstGeom prst="rect">
              <a:avLst/>
            </a:prstGeom>
            <a:solidFill>
              <a:srgbClr val="E9563C"/>
            </a:solidFill>
            <a:ln>
              <a:noFill/>
            </a:ln>
          </p:spPr>
        </p:sp>
        <p:sp>
          <p:nvSpPr>
            <p:cNvPr id="106" name="Rectangle 106"/>
            <p:cNvSpPr/>
            <p:nvPr/>
          </p:nvSpPr>
          <p:spPr>
            <a:xfrm>
              <a:off x="10820400" y="4419600"/>
              <a:ext cx="742950" cy="76200"/>
            </a:xfrm>
            <a:prstGeom prst="rect">
              <a:avLst/>
            </a:prstGeom>
            <a:solidFill>
              <a:srgbClr val="E5E9E2"/>
            </a:solidFill>
            <a:ln>
              <a:noFill/>
            </a:ln>
          </p:spPr>
        </p:sp>
        <p:sp>
          <p:nvSpPr>
            <p:cNvPr id="107" name="Rectangle 107"/>
            <p:cNvSpPr/>
            <p:nvPr/>
          </p:nvSpPr>
          <p:spPr>
            <a:xfrm>
              <a:off x="10820400" y="4552950"/>
              <a:ext cx="571500" cy="76200"/>
            </a:xfrm>
            <a:prstGeom prst="rect">
              <a:avLst/>
            </a:prstGeom>
            <a:solidFill>
              <a:srgbClr val="E5E9E2"/>
            </a:solidFill>
            <a:ln>
              <a:noFill/>
            </a:ln>
          </p:spPr>
        </p:sp>
        <p:sp>
          <p:nvSpPr>
            <p:cNvPr id="108" name="Rectangle 108"/>
            <p:cNvSpPr/>
            <p:nvPr/>
          </p:nvSpPr>
          <p:spPr>
            <a:xfrm>
              <a:off x="10191750" y="4705350"/>
              <a:ext cx="1371600" cy="76200"/>
            </a:xfrm>
            <a:prstGeom prst="rect">
              <a:avLst/>
            </a:prstGeom>
            <a:solidFill>
              <a:srgbClr val="E5E9E2"/>
            </a:solidFill>
            <a:ln>
              <a:noFill/>
            </a:ln>
          </p:spPr>
        </p:sp>
        <p:sp>
          <p:nvSpPr>
            <p:cNvPr id="109" name="Rectangle 109"/>
            <p:cNvSpPr/>
            <p:nvPr/>
          </p:nvSpPr>
          <p:spPr>
            <a:xfrm>
              <a:off x="10687050" y="5162550"/>
              <a:ext cx="381000" cy="95250"/>
            </a:xfrm>
            <a:prstGeom prst="rect">
              <a:avLst/>
            </a:prstGeom>
            <a:solidFill>
              <a:srgbClr val="C9D8BD"/>
            </a:solidFill>
            <a:ln>
              <a:noFill/>
            </a:ln>
          </p:spPr>
        </p:sp>
        <p:sp>
          <p:nvSpPr>
            <p:cNvPr id="110" name="Rectangle 110"/>
            <p:cNvSpPr/>
            <p:nvPr/>
          </p:nvSpPr>
          <p:spPr>
            <a:xfrm>
              <a:off x="10515600" y="5257800"/>
              <a:ext cx="723900" cy="57150"/>
            </a:xfrm>
            <a:prstGeom prst="roundRect">
              <a:avLst>
                <a:gd name="adj" fmla="val 50000"/>
              </a:avLst>
            </a:prstGeom>
            <a:solidFill>
              <a:srgbClr val="C9D8BD"/>
            </a:solidFill>
            <a:ln>
              <a:noFill/>
            </a:ln>
          </p:spPr>
        </p:sp>
      </p:grpSp>
      <p:grpSp>
        <p:nvGrpSpPr>
          <p:cNvPr id="116" name="node-top"/>
          <p:cNvGrpSpPr/>
          <p:nvPr/>
        </p:nvGrpSpPr>
        <p:grpSpPr>
          <a:xfrm>
            <a:off x="5562600" y="895350"/>
            <a:ext cx="1066800" cy="1066800"/>
            <a:chOff x="5562600" y="895350"/>
            <a:chExt cx="1066800" cy="1066800"/>
          </a:xfrm>
        </p:grpSpPr>
        <p:sp>
          <p:nvSpPr>
            <p:cNvPr id="112" name="Ellipse 112"/>
            <p:cNvSpPr/>
            <p:nvPr/>
          </p:nvSpPr>
          <p:spPr>
            <a:xfrm>
              <a:off x="5562600" y="895350"/>
              <a:ext cx="1066800" cy="1066800"/>
            </a:xfrm>
            <a:prstGeom prst="ellipse">
              <a:avLst/>
            </a:prstGeom>
            <a:solidFill>
              <a:srgbClr val="9C594C"/>
            </a:solidFill>
            <a:ln>
              <a:noFill/>
            </a:ln>
          </p:spPr>
        </p:sp>
        <p:sp>
          <p:nvSpPr>
            <p:cNvPr id="113" name="TextBox 113"/>
            <p:cNvSpPr txBox="1"/>
            <p:nvPr/>
          </p:nvSpPr>
          <p:spPr>
            <a:xfrm>
              <a:off x="5711609" y="1298972"/>
              <a:ext cx="768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品牌形象建立</a:t>
              </a:r>
            </a:p>
          </p:txBody>
        </p:sp>
        <p:sp>
          <p:nvSpPr>
            <p:cNvPr id="114" name="TextBox 114"/>
            <p:cNvSpPr txBox="1"/>
            <p:nvPr/>
          </p:nvSpPr>
          <p:spPr>
            <a:xfrm>
              <a:off x="5765996" y="1483757"/>
              <a:ext cx="660009"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新用户&amp;潜在用户</a:t>
              </a:r>
            </a:p>
          </p:txBody>
        </p:sp>
        <p:sp>
          <p:nvSpPr>
            <p:cNvPr id="115" name="TextBox 115"/>
            <p:cNvSpPr txBox="1"/>
            <p:nvPr/>
          </p:nvSpPr>
          <p:spPr>
            <a:xfrm>
              <a:off x="5918924" y="1607582"/>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建立认知</a:t>
              </a:r>
            </a:p>
          </p:txBody>
        </p:sp>
      </p:grpSp>
      <p:grpSp>
        <p:nvGrpSpPr>
          <p:cNvPr id="122" name="labels-left"/>
          <p:cNvGrpSpPr/>
          <p:nvPr/>
        </p:nvGrpSpPr>
        <p:grpSpPr>
          <a:xfrm>
            <a:off x="3847005" y="2806541"/>
            <a:ext cx="1077659" cy="2352675"/>
            <a:chOff x="3847005" y="2806541"/>
            <a:chExt cx="1077659" cy="2352675"/>
          </a:xfrm>
        </p:grpSpPr>
        <p:sp>
          <p:nvSpPr>
            <p:cNvPr id="117" name="TextBox 117"/>
            <p:cNvSpPr txBox="1"/>
            <p:nvPr/>
          </p:nvSpPr>
          <p:spPr>
            <a:xfrm>
              <a:off x="4409836" y="2806541"/>
              <a:ext cx="514828"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视觉/交互</a:t>
              </a:r>
            </a:p>
          </p:txBody>
        </p:sp>
        <p:sp>
          <p:nvSpPr>
            <p:cNvPr id="118" name="TextBox 118"/>
            <p:cNvSpPr txBox="1"/>
            <p:nvPr/>
          </p:nvSpPr>
          <p:spPr>
            <a:xfrm>
              <a:off x="4441711" y="353044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竞品分析</a:t>
              </a:r>
            </a:p>
          </p:txBody>
        </p:sp>
        <p:sp>
          <p:nvSpPr>
            <p:cNvPr id="119" name="TextBox 119"/>
            <p:cNvSpPr txBox="1"/>
            <p:nvPr/>
          </p:nvSpPr>
          <p:spPr>
            <a:xfrm>
              <a:off x="4441711" y="42733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用户分析</a:t>
              </a:r>
            </a:p>
          </p:txBody>
        </p:sp>
        <p:sp>
          <p:nvSpPr>
            <p:cNvPr id="120" name="TextBox 120"/>
            <p:cNvSpPr txBox="1"/>
            <p:nvPr/>
          </p:nvSpPr>
          <p:spPr>
            <a:xfrm>
              <a:off x="4441711" y="49972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风格确立</a:t>
              </a:r>
            </a:p>
          </p:txBody>
        </p:sp>
        <p:sp>
          <p:nvSpPr>
            <p:cNvPr id="121" name="TextBox 121"/>
            <p:cNvSpPr txBox="1"/>
            <p:nvPr/>
          </p:nvSpPr>
          <p:spPr>
            <a:xfrm rot="-3480000">
              <a:off x="3847005" y="3743868"/>
              <a:ext cx="983097" cy="126206"/>
            </a:xfrm>
            <a:prstGeom prst="rect">
              <a:avLst/>
            </a:prstGeom>
            <a:noFill/>
            <a:ln>
              <a:noFill/>
            </a:ln>
          </p:spPr>
          <p:txBody>
            <a:bodyPr wrap="none" lIns="0" tIns="0" rIns="0" bIns="0" anchor="t" anchorCtr="0">
              <a:spAutoFit/>
            </a:bodyPr>
            <a:lstStyle/>
            <a:p>
              <a:pPr algn="ctr"/>
              <a:r>
                <a:rPr lang="zh-CN" sz="640" dirty="0">
                  <a:solidFill>
                    <a:srgbClr val="8C8C8C"/>
                  </a:solidFill>
                  <a:latin typeface="+mn-lt"/>
                  <a:ea typeface="+mn-ea"/>
                  <a:cs typeface="+mn-cs"/>
                </a:rPr>
                <a:t>影响力提升 拓盘潜在用户</a:t>
              </a:r>
            </a:p>
          </p:txBody>
        </p:sp>
      </p:grpSp>
      <p:grpSp>
        <p:nvGrpSpPr>
          <p:cNvPr id="127" name="center-core"/>
          <p:cNvGrpSpPr/>
          <p:nvPr/>
        </p:nvGrpSpPr>
        <p:grpSpPr>
          <a:xfrm>
            <a:off x="5334000" y="3238500"/>
            <a:ext cx="1524000" cy="1524000"/>
            <a:chOff x="5334000" y="3238500"/>
            <a:chExt cx="1524000" cy="1524000"/>
          </a:xfrm>
        </p:grpSpPr>
        <p:sp>
          <p:nvSpPr>
            <p:cNvPr id="123" name="Freeform 123"/>
            <p:cNvSpPr/>
            <p:nvPr/>
          </p:nvSpPr>
          <p:spPr>
            <a:xfrm rot="10800000">
              <a:off x="5334000" y="3238500"/>
              <a:ext cx="1524000" cy="1524000"/>
            </a:xfrm>
            <a:prstGeom prst="triangle">
              <a:avLst/>
            </a:prstGeom>
            <a:noFill/>
            <a:ln w="11430">
              <a:solidFill>
                <a:srgbClr val="E9563C"/>
              </a:solidFill>
            </a:ln>
          </p:spPr>
        </p:sp>
        <p:sp>
          <p:nvSpPr>
            <p:cNvPr id="124" name="Ellipse 124"/>
            <p:cNvSpPr/>
            <p:nvPr/>
          </p:nvSpPr>
          <p:spPr>
            <a:xfrm>
              <a:off x="5429250" y="3333750"/>
              <a:ext cx="1333500" cy="1333500"/>
            </a:xfrm>
            <a:prstGeom prst="ellipse">
              <a:avLst/>
            </a:prstGeom>
            <a:solidFill>
              <a:srgbClr val="E9563C"/>
            </a:solidFill>
            <a:ln>
              <a:noFill/>
            </a:ln>
          </p:spPr>
        </p:sp>
        <p:sp>
          <p:nvSpPr>
            <p:cNvPr id="125" name="TextBox 125"/>
            <p:cNvSpPr txBox="1"/>
            <p:nvPr/>
          </p:nvSpPr>
          <p:spPr>
            <a:xfrm>
              <a:off x="5686044" y="3870960"/>
              <a:ext cx="81991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品牌一致性</a:t>
              </a:r>
            </a:p>
          </p:txBody>
        </p:sp>
        <p:sp>
          <p:nvSpPr>
            <p:cNvPr id="126" name="TextBox 126"/>
            <p:cNvSpPr txBox="1"/>
            <p:nvPr/>
          </p:nvSpPr>
          <p:spPr>
            <a:xfrm>
              <a:off x="5870461" y="4120991"/>
              <a:ext cx="451079" cy="161925"/>
            </a:xfrm>
            <a:prstGeom prst="rect">
              <a:avLst/>
            </a:prstGeom>
            <a:noFill/>
            <a:ln>
              <a:noFill/>
            </a:ln>
          </p:spPr>
          <p:txBody>
            <a:bodyPr wrap="none" lIns="0" tIns="0" rIns="0" bIns="0" anchor="t" anchorCtr="0">
              <a:spAutoFit/>
            </a:bodyPr>
            <a:lstStyle/>
            <a:p>
              <a:pPr algn="ctr"/>
              <a:r>
                <a:rPr lang="zh-CN" sz="820" dirty="0">
                  <a:solidFill>
                    <a:srgbClr val="FDF6E7"/>
                  </a:solidFill>
                  <a:latin typeface="+mn-lt"/>
                  <a:ea typeface="+mn-ea"/>
                  <a:cs typeface="+mn-cs"/>
                </a:rPr>
                <a:t>持续传递</a:t>
              </a:r>
            </a:p>
          </p:txBody>
        </p:sp>
      </p:grpSp>
      <p:grpSp>
        <p:nvGrpSpPr>
          <p:cNvPr id="133" name="labels-right"/>
          <p:cNvGrpSpPr/>
          <p:nvPr/>
        </p:nvGrpSpPr>
        <p:grpSpPr>
          <a:xfrm>
            <a:off x="7267336" y="2806541"/>
            <a:ext cx="967473" cy="2352675"/>
            <a:chOff x="7267336" y="2806541"/>
            <a:chExt cx="967473" cy="2352675"/>
          </a:xfrm>
        </p:grpSpPr>
        <p:sp>
          <p:nvSpPr>
            <p:cNvPr id="128" name="TextBox 128"/>
            <p:cNvSpPr txBox="1"/>
            <p:nvPr/>
          </p:nvSpPr>
          <p:spPr>
            <a:xfrm>
              <a:off x="7267336" y="2806541"/>
              <a:ext cx="514828"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品牌/营销</a:t>
              </a:r>
            </a:p>
          </p:txBody>
        </p:sp>
        <p:sp>
          <p:nvSpPr>
            <p:cNvPr id="129" name="TextBox 129"/>
            <p:cNvSpPr txBox="1"/>
            <p:nvPr/>
          </p:nvSpPr>
          <p:spPr>
            <a:xfrm>
              <a:off x="7354405" y="3530441"/>
              <a:ext cx="340690"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时间点</a:t>
              </a:r>
            </a:p>
          </p:txBody>
        </p:sp>
        <p:sp>
          <p:nvSpPr>
            <p:cNvPr id="130" name="TextBox 130"/>
            <p:cNvSpPr txBox="1"/>
            <p:nvPr/>
          </p:nvSpPr>
          <p:spPr>
            <a:xfrm>
              <a:off x="7299211" y="42733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清晰目标</a:t>
              </a:r>
            </a:p>
          </p:txBody>
        </p:sp>
        <p:sp>
          <p:nvSpPr>
            <p:cNvPr id="131" name="TextBox 131"/>
            <p:cNvSpPr txBox="1"/>
            <p:nvPr/>
          </p:nvSpPr>
          <p:spPr>
            <a:xfrm>
              <a:off x="7271989" y="4997291"/>
              <a:ext cx="505523" cy="161925"/>
            </a:xfrm>
            <a:prstGeom prst="rect">
              <a:avLst/>
            </a:prstGeom>
            <a:noFill/>
            <a:ln>
              <a:noFill/>
            </a:ln>
          </p:spPr>
          <p:txBody>
            <a:bodyPr wrap="none" lIns="0" tIns="0" rIns="0" bIns="0" anchor="t" anchorCtr="0">
              <a:spAutoFit/>
            </a:bodyPr>
            <a:lstStyle/>
            <a:p>
              <a:pPr algn="ctr"/>
              <a:r>
                <a:rPr lang="en-US" sz="820" b="1" dirty="0">
                  <a:solidFill>
                    <a:srgbClr val="333333"/>
                  </a:solidFill>
                  <a:latin typeface="+mn-lt"/>
                  <a:ea typeface="+mn-ea"/>
                  <a:cs typeface="+mn-cs"/>
                </a:rPr>
                <a:t>DAU/GMV</a:t>
              </a:r>
            </a:p>
          </p:txBody>
        </p:sp>
        <p:sp>
          <p:nvSpPr>
            <p:cNvPr id="132" name="TextBox 132"/>
            <p:cNvSpPr txBox="1"/>
            <p:nvPr/>
          </p:nvSpPr>
          <p:spPr>
            <a:xfrm rot="3480000">
              <a:off x="7510183" y="3743868"/>
              <a:ext cx="724626" cy="126206"/>
            </a:xfrm>
            <a:prstGeom prst="rect">
              <a:avLst/>
            </a:prstGeom>
            <a:noFill/>
            <a:ln>
              <a:noFill/>
            </a:ln>
          </p:spPr>
          <p:txBody>
            <a:bodyPr wrap="none" lIns="0" tIns="0" rIns="0" bIns="0" anchor="t" anchorCtr="0">
              <a:spAutoFit/>
            </a:bodyPr>
            <a:lstStyle/>
            <a:p>
              <a:pPr algn="ctr"/>
              <a:r>
                <a:rPr lang="zh-CN" sz="640" dirty="0">
                  <a:solidFill>
                    <a:srgbClr val="8C8C8C"/>
                  </a:solidFill>
                  <a:latin typeface="+mn-lt"/>
                  <a:ea typeface="+mn-ea"/>
                  <a:cs typeface="+mn-cs"/>
                </a:rPr>
                <a:t>体验专业 增强信任</a:t>
              </a:r>
            </a:p>
          </p:txBody>
        </p:sp>
      </p:grpSp>
      <p:grpSp>
        <p:nvGrpSpPr>
          <p:cNvPr id="138" name="node-left"/>
          <p:cNvGrpSpPr/>
          <p:nvPr/>
        </p:nvGrpSpPr>
        <p:grpSpPr>
          <a:xfrm>
            <a:off x="2324100" y="4800600"/>
            <a:ext cx="1066800" cy="1066800"/>
            <a:chOff x="2324100" y="4800600"/>
            <a:chExt cx="1066800" cy="1066800"/>
          </a:xfrm>
        </p:grpSpPr>
        <p:sp>
          <p:nvSpPr>
            <p:cNvPr id="134" name="Ellipse 134"/>
            <p:cNvSpPr/>
            <p:nvPr/>
          </p:nvSpPr>
          <p:spPr>
            <a:xfrm>
              <a:off x="2324100" y="4800600"/>
              <a:ext cx="1066800" cy="1066800"/>
            </a:xfrm>
            <a:prstGeom prst="ellipse">
              <a:avLst/>
            </a:prstGeom>
            <a:solidFill>
              <a:srgbClr val="9C594C"/>
            </a:solidFill>
            <a:ln>
              <a:noFill/>
            </a:ln>
          </p:spPr>
        </p:sp>
        <p:sp>
          <p:nvSpPr>
            <p:cNvPr id="135" name="TextBox 135"/>
            <p:cNvSpPr txBox="1"/>
            <p:nvPr/>
          </p:nvSpPr>
          <p:spPr>
            <a:xfrm>
              <a:off x="2536380" y="5204222"/>
              <a:ext cx="6422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品牌心智强</a:t>
              </a:r>
            </a:p>
          </p:txBody>
        </p:sp>
        <p:sp>
          <p:nvSpPr>
            <p:cNvPr id="136" name="TextBox 136"/>
            <p:cNvSpPr txBox="1"/>
            <p:nvPr/>
          </p:nvSpPr>
          <p:spPr>
            <a:xfrm>
              <a:off x="2680424" y="5389007"/>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意向用户</a:t>
              </a:r>
            </a:p>
          </p:txBody>
        </p:sp>
        <p:sp>
          <p:nvSpPr>
            <p:cNvPr id="137" name="TextBox 137"/>
            <p:cNvSpPr txBox="1"/>
            <p:nvPr/>
          </p:nvSpPr>
          <p:spPr>
            <a:xfrm>
              <a:off x="2680424" y="5512832"/>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提升认同</a:t>
              </a:r>
            </a:p>
          </p:txBody>
        </p:sp>
      </p:grpSp>
      <p:grpSp>
        <p:nvGrpSpPr>
          <p:cNvPr id="143" name="node-right"/>
          <p:cNvGrpSpPr/>
          <p:nvPr/>
        </p:nvGrpSpPr>
        <p:grpSpPr>
          <a:xfrm>
            <a:off x="8801100" y="4800600"/>
            <a:ext cx="1066800" cy="1066800"/>
            <a:chOff x="8801100" y="4800600"/>
            <a:chExt cx="1066800" cy="1066800"/>
          </a:xfrm>
        </p:grpSpPr>
        <p:sp>
          <p:nvSpPr>
            <p:cNvPr id="139" name="Ellipse 139"/>
            <p:cNvSpPr/>
            <p:nvPr/>
          </p:nvSpPr>
          <p:spPr>
            <a:xfrm>
              <a:off x="8801100" y="4800600"/>
              <a:ext cx="1066800" cy="1066800"/>
            </a:xfrm>
            <a:prstGeom prst="ellipse">
              <a:avLst/>
            </a:prstGeom>
            <a:solidFill>
              <a:srgbClr val="9C594C"/>
            </a:solidFill>
            <a:ln>
              <a:noFill/>
            </a:ln>
          </p:spPr>
        </p:sp>
        <p:sp>
          <p:nvSpPr>
            <p:cNvPr id="140" name="TextBox 140"/>
            <p:cNvSpPr txBox="1"/>
            <p:nvPr/>
          </p:nvSpPr>
          <p:spPr>
            <a:xfrm>
              <a:off x="9013380" y="5204222"/>
              <a:ext cx="6422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全链路透传</a:t>
              </a:r>
            </a:p>
          </p:txBody>
        </p:sp>
        <p:sp>
          <p:nvSpPr>
            <p:cNvPr id="141" name="TextBox 141"/>
            <p:cNvSpPr txBox="1"/>
            <p:nvPr/>
          </p:nvSpPr>
          <p:spPr>
            <a:xfrm>
              <a:off x="9157424" y="5389007"/>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签约用户</a:t>
              </a:r>
            </a:p>
          </p:txBody>
        </p:sp>
        <p:sp>
          <p:nvSpPr>
            <p:cNvPr id="142" name="TextBox 142"/>
            <p:cNvSpPr txBox="1"/>
            <p:nvPr/>
          </p:nvSpPr>
          <p:spPr>
            <a:xfrm>
              <a:off x="9157424" y="5512832"/>
              <a:ext cx="354152" cy="126206"/>
            </a:xfrm>
            <a:prstGeom prst="rect">
              <a:avLst/>
            </a:prstGeom>
            <a:noFill/>
            <a:ln>
              <a:noFill/>
            </a:ln>
          </p:spPr>
          <p:txBody>
            <a:bodyPr wrap="none" lIns="0" tIns="0" rIns="0" bIns="0" anchor="t" anchorCtr="0">
              <a:spAutoFit/>
            </a:bodyPr>
            <a:lstStyle/>
            <a:p>
              <a:pPr algn="ctr"/>
              <a:r>
                <a:rPr lang="zh-CN" sz="640" dirty="0">
                  <a:solidFill>
                    <a:srgbClr val="EAF4E2"/>
                  </a:solidFill>
                  <a:latin typeface="+mn-lt"/>
                  <a:ea typeface="+mn-ea"/>
                  <a:cs typeface="+mn-cs"/>
                </a:rPr>
                <a:t>合作顺畅</a:t>
              </a:r>
            </a:p>
          </p:txBody>
        </p:sp>
      </p:grpSp>
      <p:grpSp>
        <p:nvGrpSpPr>
          <p:cNvPr id="146" name="bottom-caption"/>
          <p:cNvGrpSpPr/>
          <p:nvPr/>
        </p:nvGrpSpPr>
        <p:grpSpPr>
          <a:xfrm>
            <a:off x="3619500" y="5638800"/>
            <a:ext cx="4953000" cy="200026"/>
            <a:chOff x="3619500" y="5638800"/>
            <a:chExt cx="4953000" cy="200026"/>
          </a:xfrm>
        </p:grpSpPr>
        <p:sp>
          <p:nvSpPr>
            <p:cNvPr id="144" name="Line 144"/>
            <p:cNvSpPr/>
            <p:nvPr/>
          </p:nvSpPr>
          <p:spPr>
            <a:xfrm>
              <a:off x="3619500" y="5638800"/>
              <a:ext cx="4953000" cy="9525"/>
            </a:xfrm>
            <a:custGeom>
              <a:avLst/>
              <a:gdLst/>
              <a:ahLst/>
              <a:cxnLst/>
              <a:rect l="l" t="t" r="r" b="b"/>
              <a:pathLst>
                <a:path w="4953000" h="9525">
                  <a:moveTo>
                    <a:pt x="0" y="0"/>
                  </a:moveTo>
                  <a:lnTo>
                    <a:pt x="4953000" y="0"/>
                  </a:lnTo>
                </a:path>
              </a:pathLst>
            </a:custGeom>
            <a:noFill/>
            <a:ln w="9525">
              <a:solidFill>
                <a:srgbClr val="C9D8BD"/>
              </a:solidFill>
              <a:custDash>
                <a:ds d="400000" sp="300000"/>
              </a:custDash>
            </a:ln>
          </p:spPr>
        </p:sp>
        <p:sp>
          <p:nvSpPr>
            <p:cNvPr id="145" name="TextBox 145"/>
            <p:cNvSpPr txBox="1"/>
            <p:nvPr/>
          </p:nvSpPr>
          <p:spPr>
            <a:xfrm>
              <a:off x="5586412" y="5691188"/>
              <a:ext cx="1019175"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价值有效传递产生认同</a:t>
              </a:r>
            </a:p>
          </p:txBody>
        </p:sp>
      </p:grpSp>
      <p:grpSp>
        <p:nvGrpSpPr>
          <p:cNvPr id="149" name="page-footer"/>
          <p:cNvGrpSpPr/>
          <p:nvPr/>
        </p:nvGrpSpPr>
        <p:grpSpPr>
          <a:xfrm>
            <a:off x="376238" y="6689884"/>
            <a:ext cx="11439524" cy="133350"/>
            <a:chOff x="376238" y="6689884"/>
            <a:chExt cx="11439524" cy="133350"/>
          </a:xfrm>
        </p:grpSpPr>
        <p:sp>
          <p:nvSpPr>
            <p:cNvPr id="147" name="TextBox 147"/>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48" name="TextBox 148"/>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31</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sp>
        <p:nvSpPr>
          <p:cNvPr id="8" name="Line 8"/>
          <p:cNvSpPr/>
          <p:nvPr/>
        </p:nvSpPr>
        <p:spPr>
          <a:xfrm>
            <a:off x="381000" y="5391150"/>
            <a:ext cx="11430000" cy="9525"/>
          </a:xfrm>
          <a:custGeom>
            <a:avLst/>
            <a:gdLst/>
            <a:ahLst/>
            <a:cxnLst/>
            <a:rect l="l" t="t" r="r" b="b"/>
            <a:pathLst>
              <a:path w="11430000" h="9525">
                <a:moveTo>
                  <a:pt x="0" y="0"/>
                </a:moveTo>
                <a:lnTo>
                  <a:pt x="11430000" y="0"/>
                </a:lnTo>
              </a:path>
            </a:pathLst>
          </a:custGeom>
          <a:noFill/>
          <a:ln w="19050">
            <a:solidFill>
              <a:srgbClr val="9C594C"/>
            </a:solidFill>
          </a:ln>
        </p:spPr>
      </p:sp>
      <p:sp>
        <p:nvSpPr>
          <p:cNvPr id="9" name="Line 9"/>
          <p:cNvSpPr/>
          <p:nvPr/>
        </p:nvSpPr>
        <p:spPr>
          <a:xfrm>
            <a:off x="3619500" y="2152650"/>
            <a:ext cx="4953000" cy="1"/>
          </a:xfrm>
          <a:prstGeom prst="line">
            <a:avLst/>
          </a:prstGeom>
          <a:noFill/>
          <a:ln w="11430">
            <a:solidFill>
              <a:srgbClr val="9C594C"/>
            </a:solidFill>
            <a:headEnd type="triangle" w="lg" len="lg"/>
            <a:tailEnd type="triangle" w="lg" len="lg"/>
          </a:ln>
        </p:spPr>
      </p:sp>
      <p:sp>
        <p:nvSpPr>
          <p:cNvPr id="10" name="Line 10"/>
          <p:cNvSpPr/>
          <p:nvPr/>
        </p:nvSpPr>
        <p:spPr>
          <a:xfrm>
            <a:off x="4095750" y="3162300"/>
            <a:ext cx="4000500" cy="1"/>
          </a:xfrm>
          <a:prstGeom prst="line">
            <a:avLst/>
          </a:prstGeom>
          <a:noFill/>
          <a:ln w="11430">
            <a:solidFill>
              <a:srgbClr val="9C594C"/>
            </a:solidFill>
            <a:headEnd type="triangle" w="lg" len="lg"/>
            <a:tailEnd type="triangle" w="lg" len="lg"/>
          </a:ln>
        </p:spPr>
      </p:sp>
      <p:sp>
        <p:nvSpPr>
          <p:cNvPr id="11" name="Line 11"/>
          <p:cNvSpPr/>
          <p:nvPr/>
        </p:nvSpPr>
        <p:spPr>
          <a:xfrm>
            <a:off x="4533900" y="4133850"/>
            <a:ext cx="3124200" cy="1"/>
          </a:xfrm>
          <a:prstGeom prst="line">
            <a:avLst/>
          </a:prstGeom>
          <a:noFill/>
          <a:ln w="11430">
            <a:solidFill>
              <a:srgbClr val="9C594C"/>
            </a:solidFill>
            <a:headEnd type="triangle" w="lg" len="lg"/>
            <a:tailEnd type="triangle" w="lg" len="lg"/>
          </a:ln>
        </p:spPr>
      </p:sp>
      <p:sp>
        <p:nvSpPr>
          <p:cNvPr id="12" name="Line 12"/>
          <p:cNvSpPr/>
          <p:nvPr/>
        </p:nvSpPr>
        <p:spPr>
          <a:xfrm>
            <a:off x="4876800" y="4914900"/>
            <a:ext cx="2438400" cy="1"/>
          </a:xfrm>
          <a:prstGeom prst="line">
            <a:avLst/>
          </a:prstGeom>
          <a:noFill/>
          <a:ln w="11430">
            <a:solidFill>
              <a:srgbClr val="9C594C"/>
            </a:solidFill>
            <a:headEnd type="triangle" w="lg" len="lg"/>
            <a:tailEnd type="triangle" w="lg" len="lg"/>
          </a:ln>
        </p:spPr>
      </p:sp>
      <p:grpSp>
        <p:nvGrpSpPr>
          <p:cNvPr id="17" name="banner-left"/>
          <p:cNvGrpSpPr/>
          <p:nvPr/>
        </p:nvGrpSpPr>
        <p:grpSpPr>
          <a:xfrm>
            <a:off x="381000" y="914400"/>
            <a:ext cx="5715000" cy="571500"/>
            <a:chOff x="381000" y="914400"/>
            <a:chExt cx="5715000" cy="571500"/>
          </a:xfrm>
        </p:grpSpPr>
        <p:sp>
          <p:nvSpPr>
            <p:cNvPr id="13" name="Rectangle 13"/>
            <p:cNvSpPr/>
            <p:nvPr/>
          </p:nvSpPr>
          <p:spPr>
            <a:xfrm>
              <a:off x="381000" y="914400"/>
              <a:ext cx="5715000" cy="571500"/>
            </a:xfrm>
            <a:prstGeom prst="rect">
              <a:avLst/>
            </a:prstGeom>
            <a:solidFill>
              <a:srgbClr val="FFFFFF"/>
            </a:solidFill>
            <a:ln w="11430">
              <a:solidFill>
                <a:srgbClr val="BF857A"/>
              </a:solidFill>
              <a:custDash>
                <a:ds d="416667" sp="250000"/>
              </a:custDash>
            </a:ln>
          </p:spPr>
        </p:sp>
        <p:sp>
          <p:nvSpPr>
            <p:cNvPr id="14" name="Rectangle 14"/>
            <p:cNvSpPr/>
            <p:nvPr/>
          </p:nvSpPr>
          <p:spPr>
            <a:xfrm>
              <a:off x="476250" y="1009650"/>
              <a:ext cx="1238250" cy="381000"/>
            </a:xfrm>
            <a:prstGeom prst="rect">
              <a:avLst/>
            </a:prstGeom>
            <a:solidFill>
              <a:srgbClr val="9C594C"/>
            </a:solidFill>
            <a:ln>
              <a:noFill/>
            </a:ln>
          </p:spPr>
        </p:sp>
        <p:sp>
          <p:nvSpPr>
            <p:cNvPr id="15" name="TextBox 15"/>
            <p:cNvSpPr txBox="1"/>
            <p:nvPr/>
          </p:nvSpPr>
          <p:spPr>
            <a:xfrm>
              <a:off x="807339" y="11344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车间优化</a:t>
              </a:r>
            </a:p>
          </p:txBody>
        </p:sp>
        <p:sp>
          <p:nvSpPr>
            <p:cNvPr id="16" name="TextBox 16"/>
            <p:cNvSpPr txBox="1"/>
            <p:nvPr/>
          </p:nvSpPr>
          <p:spPr>
            <a:xfrm>
              <a:off x="1900238" y="1012984"/>
              <a:ext cx="2270633" cy="400050"/>
            </a:xfrm>
            <a:prstGeom prst="rect">
              <a:avLst/>
            </a:prstGeom>
            <a:noFill/>
            <a:ln>
              <a:noFill/>
            </a:ln>
          </p:spPr>
          <p:txBody>
            <a:bodyPr wrap="none" lIns="0" tIns="0" rIns="0" bIns="0" anchor="t" anchorCtr="0">
              <a:spAutoFit/>
            </a:bodyPr>
            <a:lstStyle/>
            <a:p>
              <a:pPr algn="l" marL="76200" indent="-76200">
                <a:lnSpc>
                  <a:spcPts val="1050"/>
                </a:lnSpc>
                <a:buClr>
                  <a:srgbClr val="333333"/>
                </a:buClr>
                <a:buSzTx/>
                <a:buFontTx/>
                <a:buChar char="●"/>
              </a:pPr>
              <a:r>
                <a:rPr lang="zh-CN" sz="680" dirty="0">
                  <a:solidFill>
                    <a:srgbClr val="333333"/>
                  </a:solidFill>
                  <a:latin typeface="+mn-lt"/>
                  <a:ea typeface="+mn-ea"/>
                  <a:cs typeface="+mn-cs"/>
                </a:rPr>
                <a:t>利用一切可能的手段（品牌资产 后续调查，资产能力分析</a:t>
              </a:r>
              <a:br/>
              <a:r>
                <a:rPr lang="zh-CN" sz="680" dirty="0">
                  <a:solidFill>
                    <a:srgbClr val="333333"/>
                  </a:solidFill>
                  <a:latin typeface="+mn-lt"/>
                  <a:ea typeface="+mn-ea"/>
                  <a:cs typeface="+mn-cs"/>
                </a:rPr>
                <a:t>● 细胞/线工艺改进流程改进/库存红色。</a:t>
              </a:r>
              <a:br/>
              <a:r>
                <a:rPr lang="zh-CN" sz="680" dirty="0">
                  <a:solidFill>
                    <a:srgbClr val="333333"/>
                  </a:solidFill>
                  <a:latin typeface="+mn-lt"/>
                  <a:ea typeface="+mn-ea"/>
                  <a:cs typeface="+mn-cs"/>
                </a:rPr>
                <a:t>● ...</a:t>
              </a:r>
            </a:p>
          </p:txBody>
        </p:sp>
      </p:grpSp>
      <p:grpSp>
        <p:nvGrpSpPr>
          <p:cNvPr id="23" name="banner-right"/>
          <p:cNvGrpSpPr/>
          <p:nvPr/>
        </p:nvGrpSpPr>
        <p:grpSpPr>
          <a:xfrm>
            <a:off x="6191250" y="914400"/>
            <a:ext cx="5619750" cy="571500"/>
            <a:chOff x="6191250" y="914400"/>
            <a:chExt cx="5619750" cy="571500"/>
          </a:xfrm>
        </p:grpSpPr>
        <p:sp>
          <p:nvSpPr>
            <p:cNvPr id="18" name="Rectangle 18"/>
            <p:cNvSpPr/>
            <p:nvPr/>
          </p:nvSpPr>
          <p:spPr>
            <a:xfrm>
              <a:off x="6191250" y="914400"/>
              <a:ext cx="5619750" cy="571500"/>
            </a:xfrm>
            <a:prstGeom prst="rect">
              <a:avLst/>
            </a:prstGeom>
            <a:solidFill>
              <a:srgbClr val="FFFFFF"/>
            </a:solidFill>
            <a:ln w="11430">
              <a:solidFill>
                <a:srgbClr val="E9563C"/>
              </a:solidFill>
              <a:custDash>
                <a:ds d="416667" sp="250000"/>
              </a:custDash>
            </a:ln>
          </p:spPr>
        </p:sp>
        <p:sp>
          <p:nvSpPr>
            <p:cNvPr id="19" name="TextBox 19"/>
            <p:cNvSpPr txBox="1"/>
            <p:nvPr/>
          </p:nvSpPr>
          <p:spPr>
            <a:xfrm>
              <a:off x="6357938" y="1012984"/>
              <a:ext cx="1342263" cy="400050"/>
            </a:xfrm>
            <a:prstGeom prst="rect">
              <a:avLst/>
            </a:prstGeom>
            <a:noFill/>
            <a:ln>
              <a:noFill/>
            </a:ln>
          </p:spPr>
          <p:txBody>
            <a:bodyPr wrap="none" lIns="0" tIns="0" rIns="0" bIns="0" anchor="t" anchorCtr="0">
              <a:spAutoFit/>
            </a:bodyPr>
            <a:lstStyle/>
            <a:p>
              <a:pPr algn="l" marL="76200" indent="-76200">
                <a:lnSpc>
                  <a:spcPts val="1050"/>
                </a:lnSpc>
                <a:buClr>
                  <a:srgbClr val="333333"/>
                </a:buClr>
                <a:buSzTx/>
                <a:buFontTx/>
                <a:buChar char="●"/>
              </a:pPr>
              <a:r>
                <a:rPr lang="zh-CN" sz="680" dirty="0">
                  <a:solidFill>
                    <a:srgbClr val="333333"/>
                  </a:solidFill>
                  <a:latin typeface="+mn-lt"/>
                  <a:ea typeface="+mn-ea"/>
                  <a:cs typeface="+mn-cs"/>
                </a:rPr>
                <a:t>精益管理/支持能够适应市场变化</a:t>
              </a:r>
              <a:br/>
              <a:r>
                <a:rPr lang="zh-CN" sz="680" dirty="0">
                  <a:solidFill>
                    <a:srgbClr val="333333"/>
                  </a:solidFill>
                  <a:latin typeface="+mn-lt"/>
                  <a:ea typeface="+mn-ea"/>
                  <a:cs typeface="+mn-cs"/>
                </a:rPr>
                <a:t>● 越来越多的我</a:t>
              </a:r>
              <a:br/>
              <a:r>
                <a:rPr lang="zh-CN" sz="680" dirty="0">
                  <a:solidFill>
                    <a:srgbClr val="333333"/>
                  </a:solidFill>
                  <a:latin typeface="+mn-lt"/>
                  <a:ea typeface="+mn-ea"/>
                  <a:cs typeface="+mn-cs"/>
                </a:rPr>
                <a:t>● 标准操作程序</a:t>
              </a:r>
            </a:p>
          </p:txBody>
        </p:sp>
        <p:sp>
          <p:nvSpPr>
            <p:cNvPr id="20" name="TextBox 20"/>
            <p:cNvSpPr txBox="1"/>
            <p:nvPr/>
          </p:nvSpPr>
          <p:spPr>
            <a:xfrm>
              <a:off x="8281988" y="1012984"/>
              <a:ext cx="1342263" cy="400050"/>
            </a:xfrm>
            <a:prstGeom prst="rect">
              <a:avLst/>
            </a:prstGeom>
            <a:noFill/>
            <a:ln>
              <a:noFill/>
            </a:ln>
          </p:spPr>
          <p:txBody>
            <a:bodyPr wrap="none" lIns="0" tIns="0" rIns="0" bIns="0" anchor="t" anchorCtr="0">
              <a:spAutoFit/>
            </a:bodyPr>
            <a:lstStyle/>
            <a:p>
              <a:pPr algn="l" marL="76200" indent="-76200">
                <a:lnSpc>
                  <a:spcPts val="1050"/>
                </a:lnSpc>
                <a:buClr>
                  <a:srgbClr val="333333"/>
                </a:buClr>
                <a:buSzTx/>
                <a:buFontTx/>
                <a:buChar char="●"/>
              </a:pPr>
              <a:r>
                <a:rPr lang="zh-CN" sz="680" dirty="0">
                  <a:solidFill>
                    <a:srgbClr val="333333"/>
                  </a:solidFill>
                  <a:latin typeface="+mn-lt"/>
                  <a:ea typeface="+mn-ea"/>
                  <a:cs typeface="+mn-cs"/>
                </a:rPr>
                <a:t>精益管理/支持能够适应市场变化</a:t>
              </a:r>
              <a:br/>
              <a:r>
                <a:rPr lang="zh-CN" sz="680" dirty="0">
                  <a:solidFill>
                    <a:srgbClr val="333333"/>
                  </a:solidFill>
                  <a:latin typeface="+mn-lt"/>
                  <a:ea typeface="+mn-ea"/>
                  <a:cs typeface="+mn-cs"/>
                </a:rPr>
                <a:t>● 越来越多的我</a:t>
              </a:r>
              <a:br/>
              <a:r>
                <a:rPr lang="zh-CN" sz="680" dirty="0">
                  <a:solidFill>
                    <a:srgbClr val="333333"/>
                  </a:solidFill>
                  <a:latin typeface="+mn-lt"/>
                  <a:ea typeface="+mn-ea"/>
                  <a:cs typeface="+mn-cs"/>
                </a:rPr>
                <a:t>● 标准操作程序</a:t>
              </a:r>
            </a:p>
          </p:txBody>
        </p:sp>
        <p:sp>
          <p:nvSpPr>
            <p:cNvPr id="21" name="Rectangle 21"/>
            <p:cNvSpPr/>
            <p:nvPr/>
          </p:nvSpPr>
          <p:spPr>
            <a:xfrm>
              <a:off x="10477500" y="1009650"/>
              <a:ext cx="1238250" cy="381000"/>
            </a:xfrm>
            <a:prstGeom prst="rect">
              <a:avLst/>
            </a:prstGeom>
            <a:solidFill>
              <a:srgbClr val="E9563C"/>
            </a:solidFill>
            <a:ln>
              <a:noFill/>
            </a:ln>
          </p:spPr>
        </p:sp>
        <p:sp>
          <p:nvSpPr>
            <p:cNvPr id="22" name="TextBox 22"/>
            <p:cNvSpPr txBox="1"/>
            <p:nvPr/>
          </p:nvSpPr>
          <p:spPr>
            <a:xfrm>
              <a:off x="10808589" y="113442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架空精简</a:t>
              </a:r>
            </a:p>
          </p:txBody>
        </p:sp>
      </p:grpSp>
      <p:grpSp>
        <p:nvGrpSpPr>
          <p:cNvPr id="48" name="pyramid-left"/>
          <p:cNvGrpSpPr/>
          <p:nvPr/>
        </p:nvGrpSpPr>
        <p:grpSpPr>
          <a:xfrm>
            <a:off x="571500" y="1619250"/>
            <a:ext cx="4391025" cy="3733800"/>
            <a:chOff x="571500" y="1619250"/>
            <a:chExt cx="4391025" cy="3733800"/>
          </a:xfrm>
        </p:grpSpPr>
        <p:sp>
          <p:nvSpPr>
            <p:cNvPr id="24" name="Freeform 24"/>
            <p:cNvSpPr/>
            <p:nvPr/>
          </p:nvSpPr>
          <p:spPr>
            <a:xfrm>
              <a:off x="2809875" y="1619250"/>
              <a:ext cx="857250" cy="933450"/>
            </a:xfrm>
            <a:prstGeom prst="triangle">
              <a:avLst/>
            </a:prstGeom>
            <a:solidFill>
              <a:srgbClr val="DFF0D2"/>
            </a:solidFill>
            <a:ln>
              <a:noFill/>
            </a:ln>
          </p:spPr>
        </p:sp>
        <p:sp>
          <p:nvSpPr>
            <p:cNvPr id="25" name="TextBox 25"/>
            <p:cNvSpPr txBox="1"/>
            <p:nvPr/>
          </p:nvSpPr>
          <p:spPr>
            <a:xfrm>
              <a:off x="2991422" y="2169795"/>
              <a:ext cx="494157"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交换理论</a:t>
              </a:r>
            </a:p>
          </p:txBody>
        </p:sp>
        <p:sp>
          <p:nvSpPr>
            <p:cNvPr id="26" name="TextBox 26"/>
            <p:cNvSpPr txBox="1"/>
            <p:nvPr/>
          </p:nvSpPr>
          <p:spPr>
            <a:xfrm>
              <a:off x="2988374" y="2341007"/>
              <a:ext cx="500253" cy="230981"/>
            </a:xfrm>
            <a:prstGeom prst="rect">
              <a:avLst/>
            </a:prstGeom>
            <a:noFill/>
            <a:ln>
              <a:noFill/>
            </a:ln>
          </p:spPr>
          <p:txBody>
            <a:bodyPr wrap="none" lIns="0" tIns="0" rIns="0" bIns="0" anchor="t" anchorCtr="0">
              <a:spAutoFit/>
            </a:bodyPr>
            <a:lstStyle/>
            <a:p>
              <a:pPr algn="ctr" marL="76200" indent="-76200">
                <a:lnSpc>
                  <a:spcPts val="825"/>
                </a:lnSpc>
                <a:buClr>
                  <a:srgbClr val="333333"/>
                </a:buClr>
                <a:buSzTx/>
                <a:buFontTx/>
                <a:buChar char="◆"/>
              </a:pPr>
              <a:r>
                <a:rPr lang="zh-CN" sz="640" dirty="0">
                  <a:solidFill>
                    <a:srgbClr val="333333"/>
                  </a:solidFill>
                  <a:latin typeface="+mn-lt"/>
                  <a:ea typeface="+mn-ea"/>
                  <a:cs typeface="+mn-cs"/>
                </a:rPr>
                <a:t>“圈里人”和</a:t>
              </a:r>
              <a:br/>
              <a:r>
                <a:rPr lang="zh-CN" sz="640" dirty="0">
                  <a:solidFill>
                    <a:srgbClr val="333333"/>
                  </a:solidFill>
                  <a:latin typeface="+mn-lt"/>
                  <a:ea typeface="+mn-ea"/>
                  <a:cs typeface="+mn-cs"/>
                </a:rPr>
                <a:t>“圈外人”</a:t>
              </a:r>
            </a:p>
          </p:txBody>
        </p:sp>
        <p:sp>
          <p:nvSpPr>
            <p:cNvPr id="27" name="Freeform 27"/>
            <p:cNvSpPr/>
            <p:nvPr/>
          </p:nvSpPr>
          <p:spPr>
            <a:xfrm>
              <a:off x="2381250" y="2590800"/>
              <a:ext cx="1714500" cy="895350"/>
            </a:xfrm>
            <a:prstGeom prst="trapezoid">
              <a:avLst>
                <a:gd name="adj" fmla="val 46277"/>
              </a:avLst>
            </a:prstGeom>
            <a:solidFill>
              <a:srgbClr val="CD9F96"/>
            </a:solidFill>
            <a:ln>
              <a:noFill/>
            </a:ln>
          </p:spPr>
        </p:sp>
        <p:sp>
          <p:nvSpPr>
            <p:cNvPr id="28" name="TextBox 28"/>
            <p:cNvSpPr txBox="1"/>
            <p:nvPr/>
          </p:nvSpPr>
          <p:spPr>
            <a:xfrm>
              <a:off x="2991422" y="2779395"/>
              <a:ext cx="494157"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权变理论</a:t>
              </a:r>
            </a:p>
          </p:txBody>
        </p:sp>
        <p:sp>
          <p:nvSpPr>
            <p:cNvPr id="29" name="TextBox 29"/>
            <p:cNvSpPr txBox="1"/>
            <p:nvPr/>
          </p:nvSpPr>
          <p:spPr>
            <a:xfrm>
              <a:off x="2720658" y="2956084"/>
              <a:ext cx="1035685" cy="361950"/>
            </a:xfrm>
            <a:prstGeom prst="rect">
              <a:avLst/>
            </a:prstGeom>
            <a:noFill/>
            <a:ln>
              <a:noFill/>
            </a:ln>
          </p:spPr>
          <p:txBody>
            <a:bodyPr wrap="none" lIns="0" tIns="0" rIns="0" bIns="0" anchor="t" anchorCtr="0">
              <a:spAutoFit/>
            </a:bodyPr>
            <a:lstStyle/>
            <a:p>
              <a:pPr algn="ctr" marL="76200" indent="-76200">
                <a:lnSpc>
                  <a:spcPts val="900"/>
                </a:lnSpc>
                <a:buClr>
                  <a:srgbClr val="333333"/>
                </a:buClr>
                <a:buSzTx/>
                <a:buFontTx/>
                <a:buChar char="◆"/>
              </a:pPr>
              <a:r>
                <a:rPr lang="zh-CN" sz="680" dirty="0">
                  <a:solidFill>
                    <a:srgbClr val="333333"/>
                  </a:solidFill>
                  <a:latin typeface="+mn-lt"/>
                  <a:ea typeface="+mn-ea"/>
                  <a:cs typeface="+mn-cs"/>
                </a:rPr>
                <a:t>团队绩效的高低取决于领</a:t>
              </a:r>
              <a:br/>
              <a:r>
                <a:rPr lang="zh-CN" sz="680" dirty="0">
                  <a:solidFill>
                    <a:srgbClr val="333333"/>
                  </a:solidFill>
                  <a:latin typeface="+mn-lt"/>
                  <a:ea typeface="+mn-ea"/>
                  <a:cs typeface="+mn-cs"/>
                </a:rPr>
                <a:t>导者与情景因素之间是否</a:t>
              </a:r>
              <a:br/>
              <a:r>
                <a:rPr lang="zh-CN" sz="680" dirty="0">
                  <a:solidFill>
                    <a:srgbClr val="333333"/>
                  </a:solidFill>
                  <a:latin typeface="+mn-lt"/>
                  <a:ea typeface="+mn-ea"/>
                  <a:cs typeface="+mn-cs"/>
                </a:rPr>
                <a:t>搭配</a:t>
              </a:r>
            </a:p>
          </p:txBody>
        </p:sp>
        <p:sp>
          <p:nvSpPr>
            <p:cNvPr id="30" name="Freeform 30"/>
            <p:cNvSpPr/>
            <p:nvPr/>
          </p:nvSpPr>
          <p:spPr>
            <a:xfrm>
              <a:off x="1943100" y="3524250"/>
              <a:ext cx="2590800" cy="895350"/>
            </a:xfrm>
            <a:prstGeom prst="trapezoid">
              <a:avLst>
                <a:gd name="adj" fmla="val 46170"/>
              </a:avLst>
            </a:prstGeom>
            <a:solidFill>
              <a:srgbClr val="B5766A"/>
            </a:solidFill>
            <a:ln>
              <a:noFill/>
            </a:ln>
          </p:spPr>
        </p:sp>
        <p:sp>
          <p:nvSpPr>
            <p:cNvPr id="31" name="TextBox 31"/>
            <p:cNvSpPr txBox="1"/>
            <p:nvPr/>
          </p:nvSpPr>
          <p:spPr>
            <a:xfrm>
              <a:off x="2870263" y="369379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路径目标理论</a:t>
              </a:r>
            </a:p>
          </p:txBody>
        </p:sp>
        <p:sp>
          <p:nvSpPr>
            <p:cNvPr id="32" name="TextBox 32"/>
            <p:cNvSpPr txBox="1"/>
            <p:nvPr/>
          </p:nvSpPr>
          <p:spPr>
            <a:xfrm>
              <a:off x="2381694" y="3889534"/>
              <a:ext cx="1713611" cy="361950"/>
            </a:xfrm>
            <a:prstGeom prst="rect">
              <a:avLst/>
            </a:prstGeom>
            <a:noFill/>
            <a:ln>
              <a:noFill/>
            </a:ln>
          </p:spPr>
          <p:txBody>
            <a:bodyPr wrap="none" lIns="0" tIns="0" rIns="0" bIns="0" anchor="t" anchorCtr="0">
              <a:spAutoFit/>
            </a:bodyPr>
            <a:lstStyle/>
            <a:p>
              <a:pPr algn="ctr" marL="76200" indent="-76200">
                <a:lnSpc>
                  <a:spcPts val="900"/>
                </a:lnSpc>
                <a:buClr>
                  <a:srgbClr val="FFFFFF"/>
                </a:buClr>
                <a:buSzTx/>
                <a:buFontTx/>
                <a:buChar char="◆"/>
              </a:pPr>
              <a:r>
                <a:rPr lang="zh-CN" sz="680" dirty="0">
                  <a:solidFill>
                    <a:srgbClr val="FFFFFF"/>
                  </a:solidFill>
                  <a:latin typeface="+mn-lt"/>
                  <a:ea typeface="+mn-ea"/>
                  <a:cs typeface="+mn-cs"/>
                </a:rPr>
                <a:t>指导式: 让员工明确别人对他的期望，成功</a:t>
              </a:r>
              <a:br/>
              <a:r>
                <a:rPr lang="zh-CN" sz="680" dirty="0">
                  <a:solidFill>
                    <a:srgbClr val="FFFFFF"/>
                  </a:solidFill>
                  <a:latin typeface="+mn-lt"/>
                  <a:ea typeface="+mn-ea"/>
                  <a:cs typeface="+mn-cs"/>
                </a:rPr>
                <a:t>绩效的标 准和工作程序，努力建立绩效的工</a:t>
              </a:r>
              <a:br/>
              <a:r>
                <a:rPr lang="zh-CN" sz="680" dirty="0">
                  <a:solidFill>
                    <a:srgbClr val="FFFFFF"/>
                  </a:solidFill>
                  <a:latin typeface="+mn-lt"/>
                  <a:ea typeface="+mn-ea"/>
                  <a:cs typeface="+mn-cs"/>
                </a:rPr>
                <a:t>作环境，亲切友善，关心下属的要求。</a:t>
              </a:r>
            </a:p>
          </p:txBody>
        </p:sp>
        <p:sp>
          <p:nvSpPr>
            <p:cNvPr id="33" name="Freeform 33"/>
            <p:cNvSpPr/>
            <p:nvPr/>
          </p:nvSpPr>
          <p:spPr>
            <a:xfrm>
              <a:off x="1514475" y="4457700"/>
              <a:ext cx="3448050" cy="895350"/>
            </a:xfrm>
            <a:prstGeom prst="trapezoid">
              <a:avLst>
                <a:gd name="adj" fmla="val 46277"/>
              </a:avLst>
            </a:prstGeom>
            <a:solidFill>
              <a:srgbClr val="9C594C"/>
            </a:solidFill>
            <a:ln>
              <a:noFill/>
            </a:ln>
          </p:spPr>
        </p:sp>
        <p:sp>
          <p:nvSpPr>
            <p:cNvPr id="34" name="TextBox 34"/>
            <p:cNvSpPr txBox="1"/>
            <p:nvPr/>
          </p:nvSpPr>
          <p:spPr>
            <a:xfrm>
              <a:off x="2809684" y="4627245"/>
              <a:ext cx="85763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魅力型领导理论</a:t>
              </a:r>
            </a:p>
          </p:txBody>
        </p:sp>
        <p:sp>
          <p:nvSpPr>
            <p:cNvPr id="35" name="TextBox 35"/>
            <p:cNvSpPr txBox="1"/>
            <p:nvPr/>
          </p:nvSpPr>
          <p:spPr>
            <a:xfrm>
              <a:off x="2116138" y="4842034"/>
              <a:ext cx="2244725" cy="266700"/>
            </a:xfrm>
            <a:prstGeom prst="rect">
              <a:avLst/>
            </a:prstGeom>
            <a:noFill/>
            <a:ln>
              <a:noFill/>
            </a:ln>
          </p:spPr>
          <p:txBody>
            <a:bodyPr wrap="none" lIns="0" tIns="0" rIns="0" bIns="0" anchor="t" anchorCtr="0">
              <a:spAutoFit/>
            </a:bodyPr>
            <a:lstStyle/>
            <a:p>
              <a:pPr algn="ctr" marL="76200" indent="-76200">
                <a:lnSpc>
                  <a:spcPts val="1050"/>
                </a:lnSpc>
                <a:buClr>
                  <a:srgbClr val="FFFFFF"/>
                </a:buClr>
                <a:buSzTx/>
                <a:buFontTx/>
                <a:buChar char="◆"/>
              </a:pPr>
              <a:r>
                <a:rPr lang="zh-CN" sz="680" dirty="0">
                  <a:solidFill>
                    <a:srgbClr val="FFFFFF"/>
                  </a:solidFill>
                  <a:latin typeface="+mn-lt"/>
                  <a:ea typeface="+mn-ea"/>
                  <a:cs typeface="+mn-cs"/>
                </a:rPr>
                <a:t>有自信目信任下属，对下属有高期望，个性化风格领导者</a:t>
              </a:r>
              <a:br/>
              <a:r>
                <a:rPr lang="zh-CN" sz="680" dirty="0">
                  <a:solidFill>
                    <a:srgbClr val="FFFFFF"/>
                  </a:solidFill>
                  <a:latin typeface="+mn-lt"/>
                  <a:ea typeface="+mn-ea"/>
                  <a:cs typeface="+mn-cs"/>
                </a:rPr>
                <a:t>◆ 促使追随者产生出高于期望的绩效，以及强烈的归属感</a:t>
              </a:r>
            </a:p>
          </p:txBody>
        </p:sp>
        <p:sp>
          <p:nvSpPr>
            <p:cNvPr id="36" name="Rectangle 36"/>
            <p:cNvSpPr/>
            <p:nvPr/>
          </p:nvSpPr>
          <p:spPr>
            <a:xfrm>
              <a:off x="1905000" y="2114550"/>
              <a:ext cx="857250" cy="171450"/>
            </a:xfrm>
            <a:prstGeom prst="roundRect">
              <a:avLst>
                <a:gd name="adj" fmla="val 50000"/>
              </a:avLst>
            </a:prstGeom>
            <a:solidFill>
              <a:srgbClr val="DFF0D2"/>
            </a:solidFill>
            <a:ln>
              <a:noFill/>
            </a:ln>
          </p:spPr>
        </p:sp>
        <p:sp>
          <p:nvSpPr>
            <p:cNvPr id="37" name="TextBox 37"/>
            <p:cNvSpPr txBox="1"/>
            <p:nvPr/>
          </p:nvSpPr>
          <p:spPr>
            <a:xfrm>
              <a:off x="2016628" y="2165509"/>
              <a:ext cx="633994"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（LMX 理论）​</a:t>
              </a:r>
            </a:p>
          </p:txBody>
        </p:sp>
        <p:sp>
          <p:nvSpPr>
            <p:cNvPr id="38" name="Rectangle 38"/>
            <p:cNvSpPr/>
            <p:nvPr/>
          </p:nvSpPr>
          <p:spPr>
            <a:xfrm>
              <a:off x="1428750" y="3086100"/>
              <a:ext cx="762000" cy="171450"/>
            </a:xfrm>
            <a:prstGeom prst="roundRect">
              <a:avLst>
                <a:gd name="adj" fmla="val 50000"/>
              </a:avLst>
            </a:prstGeom>
            <a:solidFill>
              <a:srgbClr val="DFF0D2"/>
            </a:solidFill>
            <a:ln>
              <a:noFill/>
            </a:ln>
          </p:spPr>
        </p:sp>
        <p:sp>
          <p:nvSpPr>
            <p:cNvPr id="39" name="TextBox 39"/>
            <p:cNvSpPr txBox="1"/>
            <p:nvPr/>
          </p:nvSpPr>
          <p:spPr>
            <a:xfrm>
              <a:off x="1621904" y="3137059"/>
              <a:ext cx="375691"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权变理论</a:t>
              </a:r>
            </a:p>
          </p:txBody>
        </p:sp>
        <p:sp>
          <p:nvSpPr>
            <p:cNvPr id="40" name="Rectangle 40"/>
            <p:cNvSpPr/>
            <p:nvPr/>
          </p:nvSpPr>
          <p:spPr>
            <a:xfrm>
              <a:off x="952500" y="3981450"/>
              <a:ext cx="952500" cy="171450"/>
            </a:xfrm>
            <a:prstGeom prst="roundRect">
              <a:avLst>
                <a:gd name="adj" fmla="val 50000"/>
              </a:avLst>
            </a:prstGeom>
            <a:solidFill>
              <a:srgbClr val="DFF0D2"/>
            </a:solidFill>
            <a:ln>
              <a:noFill/>
            </a:ln>
          </p:spPr>
        </p:sp>
        <p:sp>
          <p:nvSpPr>
            <p:cNvPr id="41" name="TextBox 41"/>
            <p:cNvSpPr txBox="1"/>
            <p:nvPr/>
          </p:nvSpPr>
          <p:spPr>
            <a:xfrm>
              <a:off x="1149363" y="4032409"/>
              <a:ext cx="558775"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路径目标理论</a:t>
              </a:r>
            </a:p>
          </p:txBody>
        </p:sp>
        <p:sp>
          <p:nvSpPr>
            <p:cNvPr id="42" name="Rectangle 42"/>
            <p:cNvSpPr/>
            <p:nvPr/>
          </p:nvSpPr>
          <p:spPr>
            <a:xfrm>
              <a:off x="571500" y="4800600"/>
              <a:ext cx="952500" cy="171450"/>
            </a:xfrm>
            <a:prstGeom prst="roundRect">
              <a:avLst>
                <a:gd name="adj" fmla="val 50000"/>
              </a:avLst>
            </a:prstGeom>
            <a:solidFill>
              <a:srgbClr val="DFF0D2"/>
            </a:solidFill>
            <a:ln>
              <a:noFill/>
            </a:ln>
          </p:spPr>
        </p:sp>
        <p:sp>
          <p:nvSpPr>
            <p:cNvPr id="43" name="TextBox 43"/>
            <p:cNvSpPr txBox="1"/>
            <p:nvPr/>
          </p:nvSpPr>
          <p:spPr>
            <a:xfrm>
              <a:off x="768363" y="4851559"/>
              <a:ext cx="558775"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魅力领导理论</a:t>
              </a:r>
            </a:p>
          </p:txBody>
        </p:sp>
        <p:sp>
          <p:nvSpPr>
            <p:cNvPr id="44" name="Line 44"/>
            <p:cNvSpPr/>
            <p:nvPr/>
          </p:nvSpPr>
          <p:spPr>
            <a:xfrm flipV="1">
              <a:off x="666750" y="1714500"/>
              <a:ext cx="2190750" cy="3524250"/>
            </a:xfrm>
            <a:prstGeom prst="line">
              <a:avLst/>
            </a:prstGeom>
            <a:noFill/>
            <a:ln w="11430">
              <a:solidFill>
                <a:srgbClr val="9C594C"/>
              </a:solidFill>
              <a:custDash>
                <a:ds d="333333" sp="250000"/>
              </a:custDash>
              <a:tailEnd type="triangle" w="lg" len="lg"/>
            </a:ln>
          </p:spPr>
        </p:sp>
        <p:sp>
          <p:nvSpPr>
            <p:cNvPr id="45" name="TextBox 45"/>
            <p:cNvSpPr txBox="1"/>
            <p:nvPr/>
          </p:nvSpPr>
          <p:spPr>
            <a:xfrm>
              <a:off x="1240231" y="2754630"/>
              <a:ext cx="377038" cy="119062"/>
            </a:xfrm>
            <a:prstGeom prst="rect">
              <a:avLst/>
            </a:prstGeom>
            <a:noFill/>
            <a:ln>
              <a:noFill/>
            </a:ln>
          </p:spPr>
          <p:txBody>
            <a:bodyPr wrap="none" lIns="0" tIns="0" rIns="0" bIns="0" anchor="t" anchorCtr="0">
              <a:spAutoFit/>
            </a:bodyPr>
            <a:lstStyle/>
            <a:p>
              <a:pPr algn="ctr"/>
              <a:r>
                <a:rPr lang="zh-CN" sz="600" dirty="0">
                  <a:solidFill>
                    <a:srgbClr val="595959"/>
                  </a:solidFill>
                  <a:latin typeface="+mn-lt"/>
                  <a:ea typeface="+mn-ea"/>
                  <a:cs typeface="+mn-cs"/>
                </a:rPr>
                <a:t>演变/进步</a:t>
              </a:r>
            </a:p>
          </p:txBody>
        </p:sp>
        <p:sp>
          <p:nvSpPr>
            <p:cNvPr id="46" name="TextBox 46"/>
            <p:cNvSpPr txBox="1"/>
            <p:nvPr/>
          </p:nvSpPr>
          <p:spPr>
            <a:xfrm>
              <a:off x="954481" y="3669030"/>
              <a:ext cx="377038" cy="119062"/>
            </a:xfrm>
            <a:prstGeom prst="rect">
              <a:avLst/>
            </a:prstGeom>
            <a:noFill/>
            <a:ln>
              <a:noFill/>
            </a:ln>
          </p:spPr>
          <p:txBody>
            <a:bodyPr wrap="none" lIns="0" tIns="0" rIns="0" bIns="0" anchor="t" anchorCtr="0">
              <a:spAutoFit/>
            </a:bodyPr>
            <a:lstStyle/>
            <a:p>
              <a:pPr algn="ctr"/>
              <a:r>
                <a:rPr lang="zh-CN" sz="600" dirty="0">
                  <a:solidFill>
                    <a:srgbClr val="595959"/>
                  </a:solidFill>
                  <a:latin typeface="+mn-lt"/>
                  <a:ea typeface="+mn-ea"/>
                  <a:cs typeface="+mn-cs"/>
                </a:rPr>
                <a:t>演变/进步</a:t>
              </a:r>
            </a:p>
          </p:txBody>
        </p:sp>
        <p:sp>
          <p:nvSpPr>
            <p:cNvPr id="47" name="TextBox 47"/>
            <p:cNvSpPr txBox="1"/>
            <p:nvPr/>
          </p:nvSpPr>
          <p:spPr>
            <a:xfrm>
              <a:off x="668731" y="4564380"/>
              <a:ext cx="377038" cy="119062"/>
            </a:xfrm>
            <a:prstGeom prst="rect">
              <a:avLst/>
            </a:prstGeom>
            <a:noFill/>
            <a:ln>
              <a:noFill/>
            </a:ln>
          </p:spPr>
          <p:txBody>
            <a:bodyPr wrap="none" lIns="0" tIns="0" rIns="0" bIns="0" anchor="t" anchorCtr="0">
              <a:spAutoFit/>
            </a:bodyPr>
            <a:lstStyle/>
            <a:p>
              <a:pPr algn="ctr"/>
              <a:r>
                <a:rPr lang="zh-CN" sz="600" dirty="0">
                  <a:solidFill>
                    <a:srgbClr val="595959"/>
                  </a:solidFill>
                  <a:latin typeface="+mn-lt"/>
                  <a:ea typeface="+mn-ea"/>
                  <a:cs typeface="+mn-cs"/>
                </a:rPr>
                <a:t>演变/进步</a:t>
              </a:r>
            </a:p>
          </p:txBody>
        </p:sp>
      </p:grpSp>
      <p:grpSp>
        <p:nvGrpSpPr>
          <p:cNvPr id="59" name="middle-connectors"/>
          <p:cNvGrpSpPr/>
          <p:nvPr/>
        </p:nvGrpSpPr>
        <p:grpSpPr>
          <a:xfrm>
            <a:off x="5414582" y="1905952"/>
            <a:ext cx="1362837" cy="3472339"/>
            <a:chOff x="5414582" y="1905952"/>
            <a:chExt cx="1362837" cy="3472339"/>
          </a:xfrm>
        </p:grpSpPr>
        <p:sp>
          <p:nvSpPr>
            <p:cNvPr id="49" name="TextBox 49"/>
            <p:cNvSpPr txBox="1"/>
            <p:nvPr/>
          </p:nvSpPr>
          <p:spPr>
            <a:xfrm>
              <a:off x="5432677" y="1905952"/>
              <a:ext cx="1326646"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“圈里人”和“圈外人”</a:t>
              </a:r>
            </a:p>
          </p:txBody>
        </p:sp>
        <p:sp>
          <p:nvSpPr>
            <p:cNvPr id="50" name="TextBox 50"/>
            <p:cNvSpPr txBox="1"/>
            <p:nvPr/>
          </p:nvSpPr>
          <p:spPr>
            <a:xfrm>
              <a:off x="5499926" y="2274332"/>
              <a:ext cx="1192149" cy="4691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①对于同一个领导者而言的下属的</a:t>
              </a:r>
              <a:br/>
              <a:r>
                <a:rPr lang="zh-CN" sz="640" dirty="0">
                  <a:solidFill>
                    <a:srgbClr val="595959"/>
                  </a:solidFill>
                  <a:latin typeface="+mn-lt"/>
                  <a:ea typeface="+mn-ea"/>
                  <a:cs typeface="+mn-cs"/>
                </a:rPr>
                <a:t>“圈里人”与“圈外人”打交道时</a:t>
              </a:r>
              <a:br/>
              <a:r>
                <a:rPr lang="zh-CN" sz="640" dirty="0">
                  <a:solidFill>
                    <a:srgbClr val="595959"/>
                  </a:solidFill>
                  <a:latin typeface="+mn-lt"/>
                  <a:ea typeface="+mn-ea"/>
                  <a:cs typeface="+mn-cs"/>
                </a:rPr>
                <a:t>②在工作中“圈里人”比“圈外人”</a:t>
              </a:r>
              <a:br/>
              <a:r>
                <a:rPr lang="zh-CN" sz="640" dirty="0">
                  <a:solidFill>
                    <a:srgbClr val="595959"/>
                  </a:solidFill>
                  <a:latin typeface="+mn-lt"/>
                  <a:ea typeface="+mn-ea"/>
                  <a:cs typeface="+mn-cs"/>
                </a:rPr>
                <a:t>承担更高的 工作责任感</a:t>
              </a:r>
            </a:p>
          </p:txBody>
        </p:sp>
        <p:sp>
          <p:nvSpPr>
            <p:cNvPr id="51" name="TextBox 51"/>
            <p:cNvSpPr txBox="1"/>
            <p:nvPr/>
          </p:nvSpPr>
          <p:spPr>
            <a:xfrm>
              <a:off x="5737288" y="2915602"/>
              <a:ext cx="717423"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情景式因素</a:t>
              </a:r>
            </a:p>
          </p:txBody>
        </p:sp>
        <p:sp>
          <p:nvSpPr>
            <p:cNvPr id="52" name="TextBox 52"/>
            <p:cNvSpPr txBox="1"/>
            <p:nvPr/>
          </p:nvSpPr>
          <p:spPr>
            <a:xfrm>
              <a:off x="5414582" y="3303032"/>
              <a:ext cx="1362837" cy="354806"/>
            </a:xfrm>
            <a:prstGeom prst="rect">
              <a:avLst/>
            </a:prstGeom>
            <a:noFill/>
            <a:ln>
              <a:noFill/>
            </a:ln>
          </p:spPr>
          <p:txBody>
            <a:bodyPr wrap="none" lIns="0" tIns="0" rIns="0" bIns="0" anchor="t" anchorCtr="0">
              <a:spAutoFit/>
            </a:bodyPr>
            <a:lstStyle/>
            <a:p>
              <a:pPr algn="ctr">
                <a:lnSpc>
                  <a:spcPts val="900"/>
                </a:lnSpc>
              </a:pPr>
              <a:r>
                <a:rPr lang="zh-CN" sz="640" dirty="0">
                  <a:solidFill>
                    <a:srgbClr val="595959"/>
                  </a:solidFill>
                  <a:latin typeface="+mn-lt"/>
                  <a:ea typeface="+mn-ea"/>
                  <a:cs typeface="+mn-cs"/>
                </a:rPr>
                <a:t>①领导与下属的关系--下属信任、</a:t>
              </a:r>
              <a:br/>
              <a:r>
                <a:rPr lang="zh-CN" sz="640" dirty="0">
                  <a:solidFill>
                    <a:srgbClr val="595959"/>
                  </a:solidFill>
                  <a:latin typeface="+mn-lt"/>
                  <a:ea typeface="+mn-ea"/>
                  <a:cs typeface="+mn-cs"/>
                </a:rPr>
                <a:t>信赖和尊重程度</a:t>
              </a:r>
              <a:br/>
              <a:r>
                <a:rPr lang="zh-CN" sz="640" dirty="0">
                  <a:solidFill>
                    <a:srgbClr val="595959"/>
                  </a:solidFill>
                  <a:latin typeface="+mn-lt"/>
                  <a:ea typeface="+mn-ea"/>
                  <a:cs typeface="+mn-cs"/>
                </a:rPr>
                <a:t>②工作结构--工作程序化、规范化程度</a:t>
              </a:r>
            </a:p>
          </p:txBody>
        </p:sp>
        <p:sp>
          <p:nvSpPr>
            <p:cNvPr id="53" name="TextBox 53"/>
            <p:cNvSpPr txBox="1"/>
            <p:nvPr/>
          </p:nvSpPr>
          <p:spPr>
            <a:xfrm>
              <a:off x="5807964" y="3868102"/>
              <a:ext cx="576072"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领导行为</a:t>
              </a:r>
            </a:p>
          </p:txBody>
        </p:sp>
        <p:sp>
          <p:nvSpPr>
            <p:cNvPr id="54" name="TextBox 54"/>
            <p:cNvSpPr txBox="1"/>
            <p:nvPr/>
          </p:nvSpPr>
          <p:spPr>
            <a:xfrm>
              <a:off x="5417061" y="4255532"/>
              <a:ext cx="1357879" cy="126206"/>
            </a:xfrm>
            <a:prstGeom prst="rect">
              <a:avLst/>
            </a:prstGeom>
            <a:noFill/>
            <a:ln>
              <a:noFill/>
            </a:ln>
          </p:spPr>
          <p:txBody>
            <a:bodyPr wrap="none" lIns="0" tIns="0" rIns="0" bIns="0" anchor="t" anchorCtr="0">
              <a:spAutoFit/>
            </a:bodyPr>
            <a:lstStyle/>
            <a:p>
              <a:pPr algn="ctr"/>
              <a:r>
                <a:rPr lang="zh-CN" sz="640" dirty="0">
                  <a:solidFill>
                    <a:srgbClr val="595959"/>
                  </a:solidFill>
                  <a:latin typeface="+mn-lt"/>
                  <a:ea typeface="+mn-ea"/>
                  <a:cs typeface="+mn-cs"/>
                </a:rPr>
                <a:t>指导式/支持型/参与式/成就取向式</a:t>
              </a:r>
            </a:p>
          </p:txBody>
        </p:sp>
        <p:sp>
          <p:nvSpPr>
            <p:cNvPr id="55" name="TextBox 55"/>
            <p:cNvSpPr txBox="1"/>
            <p:nvPr/>
          </p:nvSpPr>
          <p:spPr>
            <a:xfrm>
              <a:off x="5807964" y="4668202"/>
              <a:ext cx="576072"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魅力领导</a:t>
              </a:r>
            </a:p>
          </p:txBody>
        </p:sp>
        <p:sp>
          <p:nvSpPr>
            <p:cNvPr id="56" name="TextBox 56"/>
            <p:cNvSpPr txBox="1"/>
            <p:nvPr/>
          </p:nvSpPr>
          <p:spPr>
            <a:xfrm>
              <a:off x="5809074" y="4998482"/>
              <a:ext cx="573852" cy="126206"/>
            </a:xfrm>
            <a:prstGeom prst="rect">
              <a:avLst/>
            </a:prstGeom>
            <a:noFill/>
            <a:ln>
              <a:noFill/>
            </a:ln>
          </p:spPr>
          <p:txBody>
            <a:bodyPr wrap="none" lIns="0" tIns="0" rIns="0" bIns="0" anchor="t" anchorCtr="0">
              <a:spAutoFit/>
            </a:bodyPr>
            <a:lstStyle/>
            <a:p>
              <a:pPr algn="ctr"/>
              <a:r>
                <a:rPr lang="zh-CN" sz="640" dirty="0">
                  <a:solidFill>
                    <a:srgbClr val="595959"/>
                  </a:solidFill>
                  <a:latin typeface="+mn-lt"/>
                  <a:ea typeface="+mn-ea"/>
                  <a:cs typeface="+mn-cs"/>
                </a:rPr>
                <a:t>交易型/变革型</a:t>
              </a:r>
            </a:p>
          </p:txBody>
        </p:sp>
        <p:sp>
          <p:nvSpPr>
            <p:cNvPr id="57" name="Rectangle 57"/>
            <p:cNvSpPr/>
            <p:nvPr/>
          </p:nvSpPr>
          <p:spPr>
            <a:xfrm>
              <a:off x="5715000" y="5143500"/>
              <a:ext cx="762000" cy="228600"/>
            </a:xfrm>
            <a:prstGeom prst="rect">
              <a:avLst/>
            </a:prstGeom>
            <a:solidFill>
              <a:srgbClr val="9C594C"/>
            </a:solidFill>
            <a:ln>
              <a:noFill/>
            </a:ln>
          </p:spPr>
        </p:sp>
        <p:sp>
          <p:nvSpPr>
            <p:cNvPr id="58" name="TextBox 58"/>
            <p:cNvSpPr txBox="1"/>
            <p:nvPr/>
          </p:nvSpPr>
          <p:spPr>
            <a:xfrm>
              <a:off x="5870461" y="52163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人力资源</a:t>
              </a:r>
            </a:p>
          </p:txBody>
        </p:sp>
      </p:grpSp>
      <p:grpSp>
        <p:nvGrpSpPr>
          <p:cNvPr id="84" name="pyramid-right"/>
          <p:cNvGrpSpPr/>
          <p:nvPr/>
        </p:nvGrpSpPr>
        <p:grpSpPr>
          <a:xfrm>
            <a:off x="7229475" y="1619250"/>
            <a:ext cx="4391025" cy="3733800"/>
            <a:chOff x="7229475" y="1619250"/>
            <a:chExt cx="4391025" cy="3733800"/>
          </a:xfrm>
        </p:grpSpPr>
        <p:sp>
          <p:nvSpPr>
            <p:cNvPr id="60" name="Freeform 60"/>
            <p:cNvSpPr/>
            <p:nvPr/>
          </p:nvSpPr>
          <p:spPr>
            <a:xfrm>
              <a:off x="8524875" y="1619250"/>
              <a:ext cx="857250" cy="933450"/>
            </a:xfrm>
            <a:prstGeom prst="triangle">
              <a:avLst/>
            </a:prstGeom>
            <a:solidFill>
              <a:srgbClr val="FDF6E7"/>
            </a:solidFill>
            <a:ln>
              <a:noFill/>
            </a:ln>
          </p:spPr>
        </p:sp>
        <p:sp>
          <p:nvSpPr>
            <p:cNvPr id="61" name="TextBox 61"/>
            <p:cNvSpPr txBox="1"/>
            <p:nvPr/>
          </p:nvSpPr>
          <p:spPr>
            <a:xfrm>
              <a:off x="8706422" y="2169795"/>
              <a:ext cx="494157"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绩效管理</a:t>
              </a:r>
            </a:p>
          </p:txBody>
        </p:sp>
        <p:sp>
          <p:nvSpPr>
            <p:cNvPr id="62" name="TextBox 62"/>
            <p:cNvSpPr txBox="1"/>
            <p:nvPr/>
          </p:nvSpPr>
          <p:spPr>
            <a:xfrm>
              <a:off x="8626158" y="2341007"/>
              <a:ext cx="654685" cy="230981"/>
            </a:xfrm>
            <a:prstGeom prst="rect">
              <a:avLst/>
            </a:prstGeom>
            <a:noFill/>
            <a:ln>
              <a:noFill/>
            </a:ln>
          </p:spPr>
          <p:txBody>
            <a:bodyPr wrap="none" lIns="0" tIns="0" rIns="0" bIns="0" anchor="t" anchorCtr="0">
              <a:spAutoFit/>
            </a:bodyPr>
            <a:lstStyle/>
            <a:p>
              <a:pPr algn="ctr" marL="76200" indent="-76200">
                <a:lnSpc>
                  <a:spcPts val="825"/>
                </a:lnSpc>
                <a:buClr>
                  <a:srgbClr val="333333"/>
                </a:buClr>
                <a:buSzTx/>
                <a:buFontTx/>
                <a:buChar char="◆"/>
              </a:pPr>
              <a:r>
                <a:rPr lang="zh-CN" sz="640" dirty="0">
                  <a:solidFill>
                    <a:srgbClr val="333333"/>
                  </a:solidFill>
                  <a:latin typeface="+mn-lt"/>
                  <a:ea typeface="+mn-ea"/>
                  <a:cs typeface="+mn-cs"/>
                </a:rPr>
                <a:t>个人绩效的紧密</a:t>
              </a:r>
              <a:br/>
              <a:r>
                <a:rPr lang="zh-CN" sz="640" dirty="0">
                  <a:solidFill>
                    <a:srgbClr val="333333"/>
                  </a:solidFill>
                  <a:latin typeface="+mn-lt"/>
                  <a:ea typeface="+mn-ea"/>
                  <a:cs typeface="+mn-cs"/>
                </a:rPr>
                <a:t>融合</a:t>
              </a:r>
            </a:p>
          </p:txBody>
        </p:sp>
        <p:sp>
          <p:nvSpPr>
            <p:cNvPr id="63" name="Freeform 63"/>
            <p:cNvSpPr/>
            <p:nvPr/>
          </p:nvSpPr>
          <p:spPr>
            <a:xfrm>
              <a:off x="8096250" y="2590800"/>
              <a:ext cx="1714500" cy="895350"/>
            </a:xfrm>
            <a:prstGeom prst="trapezoid">
              <a:avLst>
                <a:gd name="adj" fmla="val 46277"/>
              </a:avLst>
            </a:prstGeom>
            <a:solidFill>
              <a:srgbClr val="F7B9AE"/>
            </a:solidFill>
            <a:ln>
              <a:noFill/>
            </a:ln>
          </p:spPr>
        </p:sp>
        <p:sp>
          <p:nvSpPr>
            <p:cNvPr id="64" name="TextBox 64"/>
            <p:cNvSpPr txBox="1"/>
            <p:nvPr/>
          </p:nvSpPr>
          <p:spPr>
            <a:xfrm>
              <a:off x="8706422" y="2779395"/>
              <a:ext cx="494157"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绩效管理</a:t>
              </a:r>
            </a:p>
          </p:txBody>
        </p:sp>
        <p:sp>
          <p:nvSpPr>
            <p:cNvPr id="65" name="TextBox 65"/>
            <p:cNvSpPr txBox="1"/>
            <p:nvPr/>
          </p:nvSpPr>
          <p:spPr>
            <a:xfrm>
              <a:off x="8349298" y="2956084"/>
              <a:ext cx="1208405" cy="361950"/>
            </a:xfrm>
            <a:prstGeom prst="rect">
              <a:avLst/>
            </a:prstGeom>
            <a:noFill/>
            <a:ln>
              <a:noFill/>
            </a:ln>
          </p:spPr>
          <p:txBody>
            <a:bodyPr wrap="none" lIns="0" tIns="0" rIns="0" bIns="0" anchor="t" anchorCtr="0">
              <a:spAutoFit/>
            </a:bodyPr>
            <a:lstStyle/>
            <a:p>
              <a:pPr algn="ctr" marL="76200" indent="-76200">
                <a:lnSpc>
                  <a:spcPts val="900"/>
                </a:lnSpc>
                <a:buClr>
                  <a:srgbClr val="333333"/>
                </a:buClr>
                <a:buSzTx/>
                <a:buFontTx/>
                <a:buChar char="◆"/>
              </a:pPr>
              <a:r>
                <a:rPr lang="zh-CN" sz="680" dirty="0">
                  <a:solidFill>
                    <a:srgbClr val="333333"/>
                  </a:solidFill>
                  <a:latin typeface="+mn-lt"/>
                  <a:ea typeface="+mn-ea"/>
                  <a:cs typeface="+mn-cs"/>
                </a:rPr>
                <a:t>绩效管理的主要目的是建立客</a:t>
              </a:r>
              <a:br/>
              <a:r>
                <a:rPr lang="zh-CN" sz="680" dirty="0">
                  <a:solidFill>
                    <a:srgbClr val="333333"/>
                  </a:solidFill>
                  <a:latin typeface="+mn-lt"/>
                  <a:ea typeface="+mn-ea"/>
                  <a:cs typeface="+mn-cs"/>
                </a:rPr>
                <a:t>观、实现组织与个人绩效的紧</a:t>
              </a:r>
              <a:br/>
              <a:r>
                <a:rPr lang="zh-CN" sz="680" dirty="0">
                  <a:solidFill>
                    <a:srgbClr val="333333"/>
                  </a:solidFill>
                  <a:latin typeface="+mn-lt"/>
                  <a:ea typeface="+mn-ea"/>
                  <a:cs typeface="+mn-cs"/>
                </a:rPr>
                <a:t>密融合</a:t>
              </a:r>
            </a:p>
          </p:txBody>
        </p:sp>
        <p:sp>
          <p:nvSpPr>
            <p:cNvPr id="66" name="Freeform 66"/>
            <p:cNvSpPr/>
            <p:nvPr/>
          </p:nvSpPr>
          <p:spPr>
            <a:xfrm>
              <a:off x="7658100" y="3524250"/>
              <a:ext cx="2590800" cy="895350"/>
            </a:xfrm>
            <a:prstGeom prst="trapezoid">
              <a:avLst>
                <a:gd name="adj" fmla="val 46170"/>
              </a:avLst>
            </a:prstGeom>
            <a:solidFill>
              <a:srgbClr val="F09180"/>
            </a:solidFill>
            <a:ln>
              <a:noFill/>
            </a:ln>
          </p:spPr>
        </p:sp>
        <p:sp>
          <p:nvSpPr>
            <p:cNvPr id="67" name="TextBox 67"/>
            <p:cNvSpPr txBox="1"/>
            <p:nvPr/>
          </p:nvSpPr>
          <p:spPr>
            <a:xfrm>
              <a:off x="8524684" y="3693795"/>
              <a:ext cx="857631"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绩效计划的内容</a:t>
              </a:r>
            </a:p>
          </p:txBody>
        </p:sp>
        <p:sp>
          <p:nvSpPr>
            <p:cNvPr id="68" name="TextBox 68"/>
            <p:cNvSpPr txBox="1"/>
            <p:nvPr/>
          </p:nvSpPr>
          <p:spPr>
            <a:xfrm>
              <a:off x="8128318" y="3889534"/>
              <a:ext cx="1650365" cy="361950"/>
            </a:xfrm>
            <a:prstGeom prst="rect">
              <a:avLst/>
            </a:prstGeom>
            <a:noFill/>
            <a:ln>
              <a:noFill/>
            </a:ln>
          </p:spPr>
          <p:txBody>
            <a:bodyPr wrap="none" lIns="0" tIns="0" rIns="0" bIns="0" anchor="t" anchorCtr="0">
              <a:spAutoFit/>
            </a:bodyPr>
            <a:lstStyle/>
            <a:p>
              <a:pPr algn="ctr" marL="76200" indent="-76200">
                <a:lnSpc>
                  <a:spcPts val="900"/>
                </a:lnSpc>
                <a:buClr>
                  <a:srgbClr val="333333"/>
                </a:buClr>
                <a:buSzTx/>
                <a:buFontTx/>
                <a:buChar char="◆"/>
              </a:pPr>
              <a:r>
                <a:rPr lang="zh-CN" sz="680" dirty="0">
                  <a:solidFill>
                    <a:srgbClr val="333333"/>
                  </a:solidFill>
                  <a:latin typeface="+mn-lt"/>
                  <a:ea typeface="+mn-ea"/>
                  <a:cs typeface="+mn-cs"/>
                </a:rPr>
                <a:t>员工在该绩效期间内的目标以及各工作</a:t>
              </a:r>
              <a:br/>
              <a:r>
                <a:rPr lang="zh-CN" sz="680" dirty="0">
                  <a:solidFill>
                    <a:srgbClr val="333333"/>
                  </a:solidFill>
                  <a:latin typeface="+mn-lt"/>
                  <a:ea typeface="+mn-ea"/>
                  <a:cs typeface="+mn-cs"/>
                </a:rPr>
                <a:t>目标的权重与该目标的结果、结果的衡量方</a:t>
              </a:r>
              <a:br/>
              <a:r>
                <a:rPr lang="zh-CN" sz="680" dirty="0">
                  <a:solidFill>
                    <a:srgbClr val="333333"/>
                  </a:solidFill>
                  <a:latin typeface="+mn-lt"/>
                  <a:ea typeface="+mn-ea"/>
                  <a:cs typeface="+mn-cs"/>
                </a:rPr>
                <a:t>式和判别标准。</a:t>
              </a:r>
            </a:p>
          </p:txBody>
        </p:sp>
        <p:sp>
          <p:nvSpPr>
            <p:cNvPr id="69" name="Freeform 69"/>
            <p:cNvSpPr/>
            <p:nvPr/>
          </p:nvSpPr>
          <p:spPr>
            <a:xfrm>
              <a:off x="7229475" y="4457700"/>
              <a:ext cx="3448050" cy="895350"/>
            </a:xfrm>
            <a:prstGeom prst="trapezoid">
              <a:avLst>
                <a:gd name="adj" fmla="val 46277"/>
              </a:avLst>
            </a:prstGeom>
            <a:solidFill>
              <a:srgbClr val="E9563C"/>
            </a:solidFill>
            <a:ln>
              <a:noFill/>
            </a:ln>
          </p:spPr>
        </p:sp>
        <p:sp>
          <p:nvSpPr>
            <p:cNvPr id="70" name="TextBox 70"/>
            <p:cNvSpPr txBox="1"/>
            <p:nvPr/>
          </p:nvSpPr>
          <p:spPr>
            <a:xfrm>
              <a:off x="8524684" y="4627245"/>
              <a:ext cx="85763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绩效监控及辅导</a:t>
              </a:r>
            </a:p>
          </p:txBody>
        </p:sp>
        <p:sp>
          <p:nvSpPr>
            <p:cNvPr id="71" name="TextBox 71"/>
            <p:cNvSpPr txBox="1"/>
            <p:nvPr/>
          </p:nvSpPr>
          <p:spPr>
            <a:xfrm>
              <a:off x="7850568" y="4842034"/>
              <a:ext cx="2205863" cy="266700"/>
            </a:xfrm>
            <a:prstGeom prst="rect">
              <a:avLst/>
            </a:prstGeom>
            <a:noFill/>
            <a:ln>
              <a:noFill/>
            </a:ln>
          </p:spPr>
          <p:txBody>
            <a:bodyPr wrap="none" lIns="0" tIns="0" rIns="0" bIns="0" anchor="t" anchorCtr="0">
              <a:spAutoFit/>
            </a:bodyPr>
            <a:lstStyle/>
            <a:p>
              <a:pPr algn="ctr" marL="76200" indent="-76200">
                <a:lnSpc>
                  <a:spcPts val="1050"/>
                </a:lnSpc>
                <a:buClr>
                  <a:srgbClr val="FFFFFF"/>
                </a:buClr>
                <a:buSzTx/>
                <a:buFontTx/>
                <a:buChar char="◆"/>
              </a:pPr>
              <a:r>
                <a:rPr lang="zh-CN" sz="680" dirty="0">
                  <a:solidFill>
                    <a:srgbClr val="FFFFFF"/>
                  </a:solidFill>
                  <a:latin typeface="+mn-lt"/>
                  <a:ea typeface="+mn-ea"/>
                  <a:cs typeface="+mn-cs"/>
                </a:rPr>
                <a:t>有助于组织内部的沟通,有助于管理者节约成本</a:t>
              </a:r>
              <a:br/>
              <a:r>
                <a:rPr lang="zh-CN" sz="680" dirty="0">
                  <a:solidFill>
                    <a:srgbClr val="FFFFFF"/>
                  </a:solidFill>
                  <a:latin typeface="+mn-lt"/>
                  <a:ea typeface="+mn-ea"/>
                  <a:cs typeface="+mn-cs"/>
                </a:rPr>
                <a:t>◆ 有助于促进员工的自我发展,有助于建设和谐的组织文化</a:t>
              </a:r>
            </a:p>
          </p:txBody>
        </p:sp>
        <p:sp>
          <p:nvSpPr>
            <p:cNvPr id="72" name="Rectangle 72"/>
            <p:cNvSpPr/>
            <p:nvPr/>
          </p:nvSpPr>
          <p:spPr>
            <a:xfrm>
              <a:off x="9429750" y="2114550"/>
              <a:ext cx="857250" cy="171450"/>
            </a:xfrm>
            <a:prstGeom prst="roundRect">
              <a:avLst>
                <a:gd name="adj" fmla="val 50000"/>
              </a:avLst>
            </a:prstGeom>
            <a:solidFill>
              <a:srgbClr val="FBF0D8"/>
            </a:solidFill>
            <a:ln>
              <a:noFill/>
            </a:ln>
          </p:spPr>
        </p:sp>
        <p:sp>
          <p:nvSpPr>
            <p:cNvPr id="73" name="TextBox 73"/>
            <p:cNvSpPr txBox="1"/>
            <p:nvPr/>
          </p:nvSpPr>
          <p:spPr>
            <a:xfrm>
              <a:off x="9624758" y="2165509"/>
              <a:ext cx="467233"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战略性绩效</a:t>
              </a:r>
            </a:p>
          </p:txBody>
        </p:sp>
        <p:sp>
          <p:nvSpPr>
            <p:cNvPr id="74" name="Rectangle 74"/>
            <p:cNvSpPr/>
            <p:nvPr/>
          </p:nvSpPr>
          <p:spPr>
            <a:xfrm>
              <a:off x="10001250" y="3086100"/>
              <a:ext cx="762000" cy="171450"/>
            </a:xfrm>
            <a:prstGeom prst="roundRect">
              <a:avLst>
                <a:gd name="adj" fmla="val 50000"/>
              </a:avLst>
            </a:prstGeom>
            <a:solidFill>
              <a:srgbClr val="FBF0D8"/>
            </a:solidFill>
            <a:ln>
              <a:noFill/>
            </a:ln>
          </p:spPr>
        </p:sp>
        <p:sp>
          <p:nvSpPr>
            <p:cNvPr id="75" name="TextBox 75"/>
            <p:cNvSpPr txBox="1"/>
            <p:nvPr/>
          </p:nvSpPr>
          <p:spPr>
            <a:xfrm>
              <a:off x="10194404" y="3137059"/>
              <a:ext cx="375691"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绩效管理</a:t>
              </a:r>
            </a:p>
          </p:txBody>
        </p:sp>
        <p:sp>
          <p:nvSpPr>
            <p:cNvPr id="76" name="Rectangle 76"/>
            <p:cNvSpPr/>
            <p:nvPr/>
          </p:nvSpPr>
          <p:spPr>
            <a:xfrm>
              <a:off x="10287000" y="3981450"/>
              <a:ext cx="762000" cy="171450"/>
            </a:xfrm>
            <a:prstGeom prst="roundRect">
              <a:avLst>
                <a:gd name="adj" fmla="val 50000"/>
              </a:avLst>
            </a:prstGeom>
            <a:solidFill>
              <a:srgbClr val="FBF0D8"/>
            </a:solidFill>
            <a:ln>
              <a:noFill/>
            </a:ln>
          </p:spPr>
        </p:sp>
        <p:sp>
          <p:nvSpPr>
            <p:cNvPr id="77" name="TextBox 77"/>
            <p:cNvSpPr txBox="1"/>
            <p:nvPr/>
          </p:nvSpPr>
          <p:spPr>
            <a:xfrm>
              <a:off x="10480154" y="4032409"/>
              <a:ext cx="375691"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绩效计划</a:t>
              </a:r>
            </a:p>
          </p:txBody>
        </p:sp>
        <p:sp>
          <p:nvSpPr>
            <p:cNvPr id="78" name="Rectangle 78"/>
            <p:cNvSpPr/>
            <p:nvPr/>
          </p:nvSpPr>
          <p:spPr>
            <a:xfrm>
              <a:off x="10668000" y="4800600"/>
              <a:ext cx="952500" cy="171450"/>
            </a:xfrm>
            <a:prstGeom prst="roundRect">
              <a:avLst>
                <a:gd name="adj" fmla="val 50000"/>
              </a:avLst>
            </a:prstGeom>
            <a:solidFill>
              <a:srgbClr val="FBF0D8"/>
            </a:solidFill>
            <a:ln>
              <a:noFill/>
            </a:ln>
          </p:spPr>
        </p:sp>
        <p:sp>
          <p:nvSpPr>
            <p:cNvPr id="79" name="TextBox 79"/>
            <p:cNvSpPr txBox="1"/>
            <p:nvPr/>
          </p:nvSpPr>
          <p:spPr>
            <a:xfrm>
              <a:off x="10864863" y="4851559"/>
              <a:ext cx="558775" cy="133350"/>
            </a:xfrm>
            <a:prstGeom prst="rect">
              <a:avLst/>
            </a:prstGeom>
            <a:noFill/>
            <a:ln>
              <a:noFill/>
            </a:ln>
          </p:spPr>
          <p:txBody>
            <a:bodyPr wrap="none" lIns="0" tIns="0" rIns="0" bIns="0" anchor="t" anchorCtr="0">
              <a:spAutoFit/>
            </a:bodyPr>
            <a:lstStyle/>
            <a:p>
              <a:pPr algn="ctr"/>
              <a:r>
                <a:rPr lang="zh-CN" sz="680" dirty="0">
                  <a:solidFill>
                    <a:srgbClr val="333333"/>
                  </a:solidFill>
                  <a:latin typeface="+mn-lt"/>
                  <a:ea typeface="+mn-ea"/>
                  <a:cs typeface="+mn-cs"/>
                </a:rPr>
                <a:t>绩效监控辅导</a:t>
              </a:r>
            </a:p>
          </p:txBody>
        </p:sp>
        <p:sp>
          <p:nvSpPr>
            <p:cNvPr id="80" name="Line 80"/>
            <p:cNvSpPr/>
            <p:nvPr/>
          </p:nvSpPr>
          <p:spPr>
            <a:xfrm>
              <a:off x="9334500" y="1714500"/>
              <a:ext cx="2190750" cy="3524250"/>
            </a:xfrm>
            <a:prstGeom prst="line">
              <a:avLst/>
            </a:prstGeom>
            <a:noFill/>
            <a:ln w="11430">
              <a:solidFill>
                <a:srgbClr val="E9563C"/>
              </a:solidFill>
              <a:custDash>
                <a:ds d="333333" sp="250000"/>
              </a:custDash>
              <a:tailEnd type="triangle" w="lg" len="lg"/>
            </a:ln>
          </p:spPr>
        </p:sp>
        <p:sp>
          <p:nvSpPr>
            <p:cNvPr id="81" name="TextBox 81"/>
            <p:cNvSpPr txBox="1"/>
            <p:nvPr/>
          </p:nvSpPr>
          <p:spPr>
            <a:xfrm>
              <a:off x="10574731" y="2754630"/>
              <a:ext cx="377038" cy="119062"/>
            </a:xfrm>
            <a:prstGeom prst="rect">
              <a:avLst/>
            </a:prstGeom>
            <a:noFill/>
            <a:ln>
              <a:noFill/>
            </a:ln>
          </p:spPr>
          <p:txBody>
            <a:bodyPr wrap="none" lIns="0" tIns="0" rIns="0" bIns="0" anchor="t" anchorCtr="0">
              <a:spAutoFit/>
            </a:bodyPr>
            <a:lstStyle/>
            <a:p>
              <a:pPr algn="ctr"/>
              <a:r>
                <a:rPr lang="zh-CN" sz="600" dirty="0">
                  <a:solidFill>
                    <a:srgbClr val="595959"/>
                  </a:solidFill>
                  <a:latin typeface="+mn-lt"/>
                  <a:ea typeface="+mn-ea"/>
                  <a:cs typeface="+mn-cs"/>
                </a:rPr>
                <a:t>演变/进步</a:t>
              </a:r>
            </a:p>
          </p:txBody>
        </p:sp>
        <p:sp>
          <p:nvSpPr>
            <p:cNvPr id="82" name="TextBox 82"/>
            <p:cNvSpPr txBox="1"/>
            <p:nvPr/>
          </p:nvSpPr>
          <p:spPr>
            <a:xfrm>
              <a:off x="10860481" y="3669030"/>
              <a:ext cx="377038" cy="119062"/>
            </a:xfrm>
            <a:prstGeom prst="rect">
              <a:avLst/>
            </a:prstGeom>
            <a:noFill/>
            <a:ln>
              <a:noFill/>
            </a:ln>
          </p:spPr>
          <p:txBody>
            <a:bodyPr wrap="none" lIns="0" tIns="0" rIns="0" bIns="0" anchor="t" anchorCtr="0">
              <a:spAutoFit/>
            </a:bodyPr>
            <a:lstStyle/>
            <a:p>
              <a:pPr algn="ctr"/>
              <a:r>
                <a:rPr lang="zh-CN" sz="600" dirty="0">
                  <a:solidFill>
                    <a:srgbClr val="595959"/>
                  </a:solidFill>
                  <a:latin typeface="+mn-lt"/>
                  <a:ea typeface="+mn-ea"/>
                  <a:cs typeface="+mn-cs"/>
                </a:rPr>
                <a:t>演变/进步</a:t>
              </a:r>
            </a:p>
          </p:txBody>
        </p:sp>
        <p:sp>
          <p:nvSpPr>
            <p:cNvPr id="83" name="TextBox 83"/>
            <p:cNvSpPr txBox="1"/>
            <p:nvPr/>
          </p:nvSpPr>
          <p:spPr>
            <a:xfrm>
              <a:off x="11146231" y="4564380"/>
              <a:ext cx="377038" cy="119062"/>
            </a:xfrm>
            <a:prstGeom prst="rect">
              <a:avLst/>
            </a:prstGeom>
            <a:noFill/>
            <a:ln>
              <a:noFill/>
            </a:ln>
          </p:spPr>
          <p:txBody>
            <a:bodyPr wrap="none" lIns="0" tIns="0" rIns="0" bIns="0" anchor="t" anchorCtr="0">
              <a:spAutoFit/>
            </a:bodyPr>
            <a:lstStyle/>
            <a:p>
              <a:pPr algn="ctr"/>
              <a:r>
                <a:rPr lang="zh-CN" sz="600" dirty="0">
                  <a:solidFill>
                    <a:srgbClr val="595959"/>
                  </a:solidFill>
                  <a:latin typeface="+mn-lt"/>
                  <a:ea typeface="+mn-ea"/>
                  <a:cs typeface="+mn-cs"/>
                </a:rPr>
                <a:t>演变/进步</a:t>
              </a:r>
            </a:p>
          </p:txBody>
        </p:sp>
      </p:grpSp>
      <p:grpSp>
        <p:nvGrpSpPr>
          <p:cNvPr id="87" name="page-footer"/>
          <p:cNvGrpSpPr/>
          <p:nvPr/>
        </p:nvGrpSpPr>
        <p:grpSpPr>
          <a:xfrm>
            <a:off x="376238" y="6689884"/>
            <a:ext cx="11439524" cy="133350"/>
            <a:chOff x="376238" y="6689884"/>
            <a:chExt cx="11439524" cy="133350"/>
          </a:xfrm>
        </p:grpSpPr>
        <p:sp>
          <p:nvSpPr>
            <p:cNvPr id="85" name="TextBox 85"/>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86" name="TextBox 86"/>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32</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29" name="project-funnel"/>
          <p:cNvGrpSpPr/>
          <p:nvPr/>
        </p:nvGrpSpPr>
        <p:grpSpPr>
          <a:xfrm>
            <a:off x="-150479" y="914400"/>
            <a:ext cx="5520658" cy="5181600"/>
            <a:chOff x="-150479" y="914400"/>
            <a:chExt cx="5520658" cy="5181600"/>
          </a:xfrm>
        </p:grpSpPr>
        <p:sp>
          <p:nvSpPr>
            <p:cNvPr id="8" name="Ellipse 8"/>
            <p:cNvSpPr/>
            <p:nvPr/>
          </p:nvSpPr>
          <p:spPr>
            <a:xfrm>
              <a:off x="476250" y="914400"/>
              <a:ext cx="4191000" cy="647700"/>
            </a:xfrm>
            <a:prstGeom prst="ellipse">
              <a:avLst/>
            </a:prstGeom>
            <a:solidFill>
              <a:srgbClr val="E5E9E2"/>
            </a:solidFill>
            <a:ln w="9525">
              <a:solidFill>
                <a:srgbClr val="C9CFC6"/>
              </a:solidFill>
            </a:ln>
          </p:spPr>
        </p:sp>
        <p:sp>
          <p:nvSpPr>
            <p:cNvPr id="9" name="TextBox 9"/>
            <p:cNvSpPr txBox="1"/>
            <p:nvPr/>
          </p:nvSpPr>
          <p:spPr>
            <a:xfrm>
              <a:off x="2201418" y="1159192"/>
              <a:ext cx="740664" cy="264033"/>
            </a:xfrm>
            <a:prstGeom prst="rect">
              <a:avLst/>
            </a:prstGeom>
            <a:noFill/>
            <a:ln>
              <a:noFill/>
            </a:ln>
          </p:spPr>
          <p:txBody>
            <a:bodyPr wrap="none" lIns="0" tIns="0" rIns="0" bIns="0" anchor="t" anchorCtr="0">
              <a:spAutoFit/>
            </a:bodyPr>
            <a:lstStyle/>
            <a:p>
              <a:pPr algn="ctr"/>
              <a:r>
                <a:rPr lang="zh-CN" sz="1350" b="1" dirty="0">
                  <a:solidFill>
                    <a:srgbClr val="333333"/>
                  </a:solidFill>
                  <a:latin typeface="+mn-lt"/>
                  <a:ea typeface="+mn-ea"/>
                  <a:cs typeface="+mn-cs"/>
                </a:rPr>
                <a:t>项目启动</a:t>
              </a:r>
            </a:p>
          </p:txBody>
        </p:sp>
        <p:sp>
          <p:nvSpPr>
            <p:cNvPr id="10" name="Freeform 10"/>
            <p:cNvSpPr/>
            <p:nvPr/>
          </p:nvSpPr>
          <p:spPr>
            <a:xfrm rot="10800000">
              <a:off x="571500" y="1581150"/>
              <a:ext cx="4000500" cy="857250"/>
            </a:xfrm>
            <a:prstGeom prst="trapezoid">
              <a:avLst>
                <a:gd name="adj" fmla="val 44444"/>
              </a:avLst>
            </a:prstGeom>
            <a:solidFill>
              <a:srgbClr val="9C594C"/>
            </a:solidFill>
            <a:ln>
              <a:noFill/>
            </a:ln>
          </p:spPr>
        </p:sp>
        <p:sp>
          <p:nvSpPr>
            <p:cNvPr id="11" name="TextBox 11"/>
            <p:cNvSpPr txBox="1"/>
            <p:nvPr/>
          </p:nvSpPr>
          <p:spPr>
            <a:xfrm>
              <a:off x="2133878" y="1859756"/>
              <a:ext cx="87574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01.项目开始</a:t>
              </a:r>
            </a:p>
          </p:txBody>
        </p:sp>
        <p:sp>
          <p:nvSpPr>
            <p:cNvPr id="12" name="TextBox 12"/>
            <p:cNvSpPr txBox="1"/>
            <p:nvPr/>
          </p:nvSpPr>
          <p:spPr>
            <a:xfrm>
              <a:off x="2259740" y="2060734"/>
              <a:ext cx="624020" cy="133350"/>
            </a:xfrm>
            <a:prstGeom prst="rect">
              <a:avLst/>
            </a:prstGeom>
            <a:noFill/>
            <a:ln>
              <a:noFill/>
            </a:ln>
          </p:spPr>
          <p:txBody>
            <a:bodyPr wrap="none" lIns="0" tIns="0" rIns="0" bIns="0" anchor="t" anchorCtr="0">
              <a:spAutoFit/>
            </a:bodyPr>
            <a:lstStyle/>
            <a:p>
              <a:pPr algn="ctr"/>
              <a:r>
                <a:rPr lang="en-US" sz="680" dirty="0">
                  <a:solidFill>
                    <a:srgbClr val="EAF4E2"/>
                  </a:solidFill>
                  <a:latin typeface="+mn-lt"/>
                  <a:ea typeface="+mn-ea"/>
                  <a:cs typeface="+mn-cs"/>
                </a:rPr>
                <a:t>Project Start</a:t>
              </a:r>
            </a:p>
          </p:txBody>
        </p:sp>
        <p:sp>
          <p:nvSpPr>
            <p:cNvPr id="13" name="Freeform 13"/>
            <p:cNvSpPr/>
            <p:nvPr/>
          </p:nvSpPr>
          <p:spPr>
            <a:xfrm rot="10800000">
              <a:off x="971550" y="2495550"/>
              <a:ext cx="3200400" cy="857250"/>
            </a:xfrm>
            <a:prstGeom prst="trapezoid">
              <a:avLst>
                <a:gd name="adj" fmla="val 44444"/>
              </a:avLst>
            </a:prstGeom>
            <a:solidFill>
              <a:srgbClr val="CD9F96"/>
            </a:solidFill>
            <a:ln>
              <a:noFill/>
            </a:ln>
          </p:spPr>
        </p:sp>
        <p:sp>
          <p:nvSpPr>
            <p:cNvPr id="14" name="TextBox 14"/>
            <p:cNvSpPr txBox="1"/>
            <p:nvPr/>
          </p:nvSpPr>
          <p:spPr>
            <a:xfrm>
              <a:off x="2133878" y="2774156"/>
              <a:ext cx="87574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02.项目规划</a:t>
              </a:r>
            </a:p>
          </p:txBody>
        </p:sp>
        <p:sp>
          <p:nvSpPr>
            <p:cNvPr id="15" name="TextBox 15"/>
            <p:cNvSpPr txBox="1"/>
            <p:nvPr/>
          </p:nvSpPr>
          <p:spPr>
            <a:xfrm>
              <a:off x="2207281" y="2975134"/>
              <a:ext cx="728938" cy="133350"/>
            </a:xfrm>
            <a:prstGeom prst="rect">
              <a:avLst/>
            </a:prstGeom>
            <a:noFill/>
            <a:ln>
              <a:noFill/>
            </a:ln>
          </p:spPr>
          <p:txBody>
            <a:bodyPr wrap="none" lIns="0" tIns="0" rIns="0" bIns="0" anchor="t" anchorCtr="0">
              <a:spAutoFit/>
            </a:bodyPr>
            <a:lstStyle/>
            <a:p>
              <a:pPr algn="ctr"/>
              <a:r>
                <a:rPr lang="en-US" sz="680" dirty="0">
                  <a:solidFill>
                    <a:srgbClr val="F2F7EE"/>
                  </a:solidFill>
                  <a:latin typeface="+mn-lt"/>
                  <a:ea typeface="+mn-ea"/>
                  <a:cs typeface="+mn-cs"/>
                </a:rPr>
                <a:t>Project Planning</a:t>
              </a:r>
            </a:p>
          </p:txBody>
        </p:sp>
        <p:sp>
          <p:nvSpPr>
            <p:cNvPr id="16" name="Freeform 16"/>
            <p:cNvSpPr/>
            <p:nvPr/>
          </p:nvSpPr>
          <p:spPr>
            <a:xfrm rot="10800000">
              <a:off x="1371600" y="3409950"/>
              <a:ext cx="2400300" cy="857250"/>
            </a:xfrm>
            <a:prstGeom prst="trapezoid">
              <a:avLst>
                <a:gd name="adj" fmla="val 44444"/>
              </a:avLst>
            </a:prstGeom>
            <a:solidFill>
              <a:srgbClr val="E9563C"/>
            </a:solidFill>
            <a:ln>
              <a:noFill/>
            </a:ln>
          </p:spPr>
        </p:sp>
        <p:sp>
          <p:nvSpPr>
            <p:cNvPr id="17" name="TextBox 17"/>
            <p:cNvSpPr txBox="1"/>
            <p:nvPr/>
          </p:nvSpPr>
          <p:spPr>
            <a:xfrm>
              <a:off x="2133878" y="3688556"/>
              <a:ext cx="875744"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03.项目启动</a:t>
              </a:r>
            </a:p>
          </p:txBody>
        </p:sp>
        <p:sp>
          <p:nvSpPr>
            <p:cNvPr id="18" name="TextBox 18"/>
            <p:cNvSpPr txBox="1"/>
            <p:nvPr/>
          </p:nvSpPr>
          <p:spPr>
            <a:xfrm>
              <a:off x="2179952" y="3889534"/>
              <a:ext cx="783595" cy="133350"/>
            </a:xfrm>
            <a:prstGeom prst="rect">
              <a:avLst/>
            </a:prstGeom>
            <a:noFill/>
            <a:ln>
              <a:noFill/>
            </a:ln>
          </p:spPr>
          <p:txBody>
            <a:bodyPr wrap="none" lIns="0" tIns="0" rIns="0" bIns="0" anchor="t" anchorCtr="0">
              <a:spAutoFit/>
            </a:bodyPr>
            <a:lstStyle/>
            <a:p>
              <a:pPr algn="ctr"/>
              <a:r>
                <a:rPr lang="en-US" sz="680" dirty="0">
                  <a:solidFill>
                    <a:srgbClr val="FDF6E7"/>
                  </a:solidFill>
                  <a:latin typeface="+mn-lt"/>
                  <a:ea typeface="+mn-ea"/>
                  <a:cs typeface="+mn-cs"/>
                </a:rPr>
                <a:t>Project Initiation</a:t>
              </a:r>
            </a:p>
          </p:txBody>
        </p:sp>
        <p:sp>
          <p:nvSpPr>
            <p:cNvPr id="19" name="Freeform 19"/>
            <p:cNvSpPr/>
            <p:nvPr/>
          </p:nvSpPr>
          <p:spPr>
            <a:xfrm rot="10800000">
              <a:off x="1771650" y="4324350"/>
              <a:ext cx="1600200" cy="857250"/>
            </a:xfrm>
            <a:prstGeom prst="trapezoid">
              <a:avLst>
                <a:gd name="adj" fmla="val 44444"/>
              </a:avLst>
            </a:prstGeom>
            <a:solidFill>
              <a:srgbClr val="F7B9AE"/>
            </a:solidFill>
            <a:ln>
              <a:noFill/>
            </a:ln>
          </p:spPr>
        </p:sp>
        <p:sp>
          <p:nvSpPr>
            <p:cNvPr id="20" name="TextBox 20"/>
            <p:cNvSpPr txBox="1"/>
            <p:nvPr/>
          </p:nvSpPr>
          <p:spPr>
            <a:xfrm>
              <a:off x="2161269" y="4611052"/>
              <a:ext cx="820963" cy="205359"/>
            </a:xfrm>
            <a:prstGeom prst="rect">
              <a:avLst/>
            </a:prstGeom>
            <a:noFill/>
            <a:ln>
              <a:noFill/>
            </a:ln>
          </p:spPr>
          <p:txBody>
            <a:bodyPr wrap="none" lIns="0" tIns="0" rIns="0" bIns="0" anchor="t" anchorCtr="0">
              <a:spAutoFit/>
            </a:bodyPr>
            <a:lstStyle/>
            <a:p>
              <a:pPr algn="ctr"/>
              <a:r>
                <a:rPr lang="zh-CN" sz="1050" b="1" dirty="0">
                  <a:solidFill>
                    <a:srgbClr val="333333"/>
                  </a:solidFill>
                  <a:latin typeface="+mn-lt"/>
                  <a:ea typeface="+mn-ea"/>
                  <a:cs typeface="+mn-cs"/>
                </a:rPr>
                <a:t>04.项目性能</a:t>
              </a:r>
            </a:p>
          </p:txBody>
        </p:sp>
        <p:sp>
          <p:nvSpPr>
            <p:cNvPr id="21" name="TextBox 21"/>
            <p:cNvSpPr txBox="1"/>
            <p:nvPr/>
          </p:nvSpPr>
          <p:spPr>
            <a:xfrm>
              <a:off x="2126992" y="4807982"/>
              <a:ext cx="889516" cy="126206"/>
            </a:xfrm>
            <a:prstGeom prst="rect">
              <a:avLst/>
            </a:prstGeom>
            <a:noFill/>
            <a:ln>
              <a:noFill/>
            </a:ln>
          </p:spPr>
          <p:txBody>
            <a:bodyPr wrap="none" lIns="0" tIns="0" rIns="0" bIns="0" anchor="t" anchorCtr="0">
              <a:spAutoFit/>
            </a:bodyPr>
            <a:lstStyle/>
            <a:p>
              <a:pPr algn="ctr"/>
              <a:r>
                <a:rPr lang="en-US" sz="640" dirty="0">
                  <a:solidFill>
                    <a:srgbClr val="595959"/>
                  </a:solidFill>
                  <a:latin typeface="+mn-lt"/>
                  <a:ea typeface="+mn-ea"/>
                  <a:cs typeface="+mn-cs"/>
                </a:rPr>
                <a:t>Project Performance</a:t>
              </a:r>
            </a:p>
          </p:txBody>
        </p:sp>
        <p:sp>
          <p:nvSpPr>
            <p:cNvPr id="22" name="Freeform 22"/>
            <p:cNvSpPr/>
            <p:nvPr/>
          </p:nvSpPr>
          <p:spPr>
            <a:xfrm rot="10800000">
              <a:off x="2038350" y="5238750"/>
              <a:ext cx="1066800" cy="857250"/>
            </a:xfrm>
            <a:prstGeom prst="trapezoid">
              <a:avLst>
                <a:gd name="adj" fmla="val 40000"/>
              </a:avLst>
            </a:prstGeom>
            <a:solidFill>
              <a:srgbClr val="FDF6E7"/>
            </a:solidFill>
            <a:ln w="9525">
              <a:solidFill>
                <a:srgbClr val="E8B5AC"/>
              </a:solidFill>
            </a:ln>
          </p:spPr>
        </p:sp>
        <p:sp>
          <p:nvSpPr>
            <p:cNvPr id="23" name="TextBox 23"/>
            <p:cNvSpPr txBox="1"/>
            <p:nvPr/>
          </p:nvSpPr>
          <p:spPr>
            <a:xfrm>
              <a:off x="2219718" y="5541645"/>
              <a:ext cx="704063" cy="176212"/>
            </a:xfrm>
            <a:prstGeom prst="rect">
              <a:avLst/>
            </a:prstGeom>
            <a:noFill/>
            <a:ln>
              <a:noFill/>
            </a:ln>
          </p:spPr>
          <p:txBody>
            <a:bodyPr wrap="none" lIns="0" tIns="0" rIns="0" bIns="0" anchor="t" anchorCtr="0">
              <a:spAutoFit/>
            </a:bodyPr>
            <a:lstStyle/>
            <a:p>
              <a:pPr algn="ctr"/>
              <a:r>
                <a:rPr lang="zh-CN" sz="900" b="1" dirty="0">
                  <a:solidFill>
                    <a:srgbClr val="333333"/>
                  </a:solidFill>
                  <a:latin typeface="+mn-lt"/>
                  <a:ea typeface="+mn-ea"/>
                  <a:cs typeface="+mn-cs"/>
                </a:rPr>
                <a:t>05.项目关闭</a:t>
              </a:r>
            </a:p>
          </p:txBody>
        </p:sp>
        <p:sp>
          <p:nvSpPr>
            <p:cNvPr id="24" name="TextBox 24"/>
            <p:cNvSpPr txBox="1"/>
            <p:nvPr/>
          </p:nvSpPr>
          <p:spPr>
            <a:xfrm>
              <a:off x="2261643" y="5716905"/>
              <a:ext cx="620214" cy="119062"/>
            </a:xfrm>
            <a:prstGeom prst="rect">
              <a:avLst/>
            </a:prstGeom>
            <a:noFill/>
            <a:ln>
              <a:noFill/>
            </a:ln>
          </p:spPr>
          <p:txBody>
            <a:bodyPr wrap="none" lIns="0" tIns="0" rIns="0" bIns="0" anchor="t" anchorCtr="0">
              <a:spAutoFit/>
            </a:bodyPr>
            <a:lstStyle/>
            <a:p>
              <a:pPr algn="ctr"/>
              <a:r>
                <a:rPr lang="en-US" sz="600" dirty="0">
                  <a:solidFill>
                    <a:srgbClr val="595959"/>
                  </a:solidFill>
                  <a:latin typeface="+mn-lt"/>
                  <a:ea typeface="+mn-ea"/>
                  <a:cs typeface="+mn-cs"/>
                </a:rPr>
                <a:t>Project Closure</a:t>
              </a:r>
            </a:p>
          </p:txBody>
        </p:sp>
        <p:sp>
          <p:nvSpPr>
            <p:cNvPr id="25" name="Freeform 25"/>
            <p:cNvSpPr/>
            <p:nvPr/>
          </p:nvSpPr>
          <p:spPr>
            <a:xfrm>
              <a:off x="463550" y="2495550"/>
              <a:ext cx="603250" cy="2933700"/>
            </a:xfrm>
            <a:custGeom>
              <a:avLst/>
              <a:gdLst/>
              <a:ahLst/>
              <a:cxnLst/>
              <a:rect l="l" t="t" r="r" b="b"/>
              <a:pathLst>
                <a:path w="603250" h="2933700">
                  <a:moveTo>
                    <a:pt x="127000" y="0"/>
                  </a:moveTo>
                  <a:cubicBezTo>
                    <a:pt x="0" y="1003300"/>
                    <a:pt x="158750" y="1981200"/>
                    <a:pt x="603250" y="2933700"/>
                  </a:cubicBezTo>
                </a:path>
              </a:pathLst>
            </a:custGeom>
            <a:noFill/>
            <a:ln w="11430">
              <a:solidFill>
                <a:srgbClr val="9C594C"/>
              </a:solidFill>
              <a:custDash>
                <a:ds d="333333" sp="250000"/>
              </a:custDash>
              <a:tailEnd type="triangle" w="lg" len="lg"/>
            </a:ln>
          </p:spPr>
        </p:sp>
        <p:sp>
          <p:nvSpPr>
            <p:cNvPr id="26" name="TextBox 26"/>
            <p:cNvSpPr txBox="1"/>
            <p:nvPr/>
          </p:nvSpPr>
          <p:spPr>
            <a:xfrm rot="4800000">
              <a:off x="-150479" y="3844809"/>
              <a:ext cx="1301877"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数据分析是指用适当的统计分析方法</a:t>
              </a:r>
            </a:p>
          </p:txBody>
        </p:sp>
        <p:sp>
          <p:nvSpPr>
            <p:cNvPr id="27" name="Freeform 27"/>
            <p:cNvSpPr/>
            <p:nvPr/>
          </p:nvSpPr>
          <p:spPr>
            <a:xfrm>
              <a:off x="4076700" y="2495550"/>
              <a:ext cx="603250" cy="2933700"/>
            </a:xfrm>
            <a:custGeom>
              <a:avLst/>
              <a:gdLst/>
              <a:ahLst/>
              <a:cxnLst/>
              <a:rect l="l" t="t" r="r" b="b"/>
              <a:pathLst>
                <a:path w="603250" h="2933700">
                  <a:moveTo>
                    <a:pt x="476250" y="2933700"/>
                  </a:moveTo>
                  <a:cubicBezTo>
                    <a:pt x="603250" y="1981200"/>
                    <a:pt x="444500" y="1003300"/>
                    <a:pt x="0" y="0"/>
                  </a:cubicBezTo>
                </a:path>
              </a:pathLst>
            </a:custGeom>
            <a:noFill/>
            <a:ln w="11430">
              <a:solidFill>
                <a:srgbClr val="9C594C"/>
              </a:solidFill>
              <a:custDash>
                <a:ds d="333333" sp="250000"/>
              </a:custDash>
              <a:tailEnd type="triangle" w="lg" len="lg"/>
            </a:ln>
          </p:spPr>
        </p:sp>
        <p:sp>
          <p:nvSpPr>
            <p:cNvPr id="28" name="TextBox 28"/>
            <p:cNvSpPr txBox="1"/>
            <p:nvPr/>
          </p:nvSpPr>
          <p:spPr>
            <a:xfrm rot="-4800000">
              <a:off x="4068302" y="3844809"/>
              <a:ext cx="1301877"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数据分析是指用适当的统计分析方法</a:t>
              </a:r>
            </a:p>
          </p:txBody>
        </p:sp>
      </p:grpSp>
      <p:grpSp>
        <p:nvGrpSpPr>
          <p:cNvPr id="65" name="solution-card"/>
          <p:cNvGrpSpPr/>
          <p:nvPr/>
        </p:nvGrpSpPr>
        <p:grpSpPr>
          <a:xfrm>
            <a:off x="4953000" y="914400"/>
            <a:ext cx="6858000" cy="2609850"/>
            <a:chOff x="4953000" y="914400"/>
            <a:chExt cx="6858000" cy="2609850"/>
          </a:xfrm>
        </p:grpSpPr>
        <p:sp>
          <p:nvSpPr>
            <p:cNvPr id="30" name="Rectangle 30"/>
            <p:cNvSpPr/>
            <p:nvPr/>
          </p:nvSpPr>
          <p:spPr>
            <a:xfrm>
              <a:off x="4953000" y="914400"/>
              <a:ext cx="6858000" cy="2609850"/>
            </a:xfrm>
            <a:prstGeom prst="rect">
              <a:avLst/>
            </a:prstGeom>
            <a:solidFill>
              <a:srgbClr val="FFFFFF"/>
            </a:solidFill>
            <a:ln w="9525">
              <a:solidFill>
                <a:srgbClr val="C9D8BD"/>
              </a:solidFill>
            </a:ln>
          </p:spPr>
        </p:sp>
        <p:sp>
          <p:nvSpPr>
            <p:cNvPr id="31" name="Rectangle 31"/>
            <p:cNvSpPr/>
            <p:nvPr/>
          </p:nvSpPr>
          <p:spPr>
            <a:xfrm>
              <a:off x="4953000" y="914400"/>
              <a:ext cx="6858000" cy="361950"/>
            </a:xfrm>
            <a:prstGeom prst="rect">
              <a:avLst/>
            </a:prstGeom>
            <a:solidFill>
              <a:srgbClr val="CD9F96"/>
            </a:solidFill>
            <a:ln>
              <a:noFill/>
            </a:ln>
          </p:spPr>
        </p:sp>
        <p:sp>
          <p:nvSpPr>
            <p:cNvPr id="32" name="TextBox 32"/>
            <p:cNvSpPr txBox="1"/>
            <p:nvPr/>
          </p:nvSpPr>
          <p:spPr>
            <a:xfrm>
              <a:off x="7858582" y="967264"/>
              <a:ext cx="104683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营销解决方案</a:t>
              </a:r>
            </a:p>
          </p:txBody>
        </p:sp>
        <p:sp>
          <p:nvSpPr>
            <p:cNvPr id="33" name="TextBox 33"/>
            <p:cNvSpPr txBox="1"/>
            <p:nvPr/>
          </p:nvSpPr>
          <p:spPr>
            <a:xfrm>
              <a:off x="7958916" y="1159907"/>
              <a:ext cx="846167" cy="126206"/>
            </a:xfrm>
            <a:prstGeom prst="rect">
              <a:avLst/>
            </a:prstGeom>
            <a:noFill/>
            <a:ln>
              <a:noFill/>
            </a:ln>
          </p:spPr>
          <p:txBody>
            <a:bodyPr wrap="none" lIns="0" tIns="0" rIns="0" bIns="0" anchor="t" anchorCtr="0">
              <a:spAutoFit/>
            </a:bodyPr>
            <a:lstStyle/>
            <a:p>
              <a:pPr algn="ctr"/>
              <a:r>
                <a:rPr lang="en-US" sz="640" dirty="0">
                  <a:solidFill>
                    <a:srgbClr val="FFFFFF"/>
                  </a:solidFill>
                  <a:latin typeface="+mn-lt"/>
                  <a:ea typeface="+mn-ea"/>
                  <a:cs typeface="+mn-cs"/>
                </a:rPr>
                <a:t>Marketing Solutions</a:t>
              </a:r>
            </a:p>
          </p:txBody>
        </p:sp>
        <p:sp>
          <p:nvSpPr>
            <p:cNvPr id="34" name="Rectangle 34"/>
            <p:cNvSpPr/>
            <p:nvPr/>
          </p:nvSpPr>
          <p:spPr>
            <a:xfrm>
              <a:off x="5048250" y="1352550"/>
              <a:ext cx="6667500" cy="2076450"/>
            </a:xfrm>
            <a:prstGeom prst="rect">
              <a:avLst/>
            </a:prstGeom>
            <a:solidFill>
              <a:srgbClr val="FFFFFF"/>
            </a:solidFill>
            <a:ln w="9525">
              <a:solidFill>
                <a:srgbClr val="C9D8BD"/>
              </a:solidFill>
              <a:custDash>
                <a:ds d="400000" sp="300000"/>
              </a:custDash>
            </a:ln>
          </p:spPr>
        </p:sp>
        <p:sp>
          <p:nvSpPr>
            <p:cNvPr id="35" name="Ellipse 35"/>
            <p:cNvSpPr/>
            <p:nvPr/>
          </p:nvSpPr>
          <p:spPr>
            <a:xfrm>
              <a:off x="5200650" y="1543050"/>
              <a:ext cx="304800" cy="304800"/>
            </a:xfrm>
            <a:prstGeom prst="ellipse">
              <a:avLst/>
            </a:prstGeom>
            <a:solidFill>
              <a:srgbClr val="DFF0D2"/>
            </a:solidFill>
            <a:ln>
              <a:noFill/>
            </a:ln>
          </p:spPr>
        </p:sp>
        <p:grpSp>
          <p:nvGrpSpPr>
            <p:cNvPr id="39" name="Group 39"/>
            <p:cNvGrpSpPr/>
            <p:nvPr/>
          </p:nvGrpSpPr>
          <p:grpSpPr>
            <a:xfrm>
              <a:off x="5281612" y="1624012"/>
              <a:ext cx="142875" cy="142875"/>
              <a:chOff x="5281612" y="1624012"/>
              <a:chExt cx="142875" cy="142875"/>
            </a:xfrm>
          </p:grpSpPr>
          <p:sp>
            <p:nvSpPr>
              <p:cNvPr id="36" name="Freeform 36"/>
              <p:cNvSpPr/>
              <p:nvPr/>
            </p:nvSpPr>
            <p:spPr>
              <a:xfrm>
                <a:off x="5281612" y="1624012"/>
                <a:ext cx="142875" cy="71437"/>
              </a:xfrm>
              <a:custGeom>
                <a:avLst/>
                <a:gdLst/>
                <a:ahLst/>
                <a:cxnLst/>
                <a:rect l="l" t="t" r="r" b="b"/>
                <a:pathLst>
                  <a:path w="142875" h="71437">
                    <a:moveTo>
                      <a:pt x="0" y="71437"/>
                    </a:moveTo>
                    <a:lnTo>
                      <a:pt x="7937" y="71437"/>
                    </a:lnTo>
                    <a:moveTo>
                      <a:pt x="71437" y="0"/>
                    </a:moveTo>
                    <a:lnTo>
                      <a:pt x="71437" y="7937"/>
                    </a:lnTo>
                    <a:moveTo>
                      <a:pt x="134937" y="71437"/>
                    </a:moveTo>
                    <a:lnTo>
                      <a:pt x="142875" y="71437"/>
                    </a:lnTo>
                    <a:moveTo>
                      <a:pt x="20637" y="20637"/>
                    </a:moveTo>
                    <a:lnTo>
                      <a:pt x="26194" y="26194"/>
                    </a:lnTo>
                    <a:moveTo>
                      <a:pt x="122237" y="20637"/>
                    </a:moveTo>
                    <a:lnTo>
                      <a:pt x="116681" y="26194"/>
                    </a:lnTo>
                  </a:path>
                </a:pathLst>
              </a:custGeom>
              <a:noFill/>
              <a:ln w="15875">
                <a:solidFill>
                  <a:srgbClr val="9C594C"/>
                </a:solidFill>
              </a:ln>
            </p:spPr>
          </p:sp>
          <p:sp>
            <p:nvSpPr>
              <p:cNvPr id="37" name="Freeform 37"/>
              <p:cNvSpPr/>
              <p:nvPr/>
            </p:nvSpPr>
            <p:spPr>
              <a:xfrm>
                <a:off x="5309997" y="1655762"/>
                <a:ext cx="86106" cy="111125"/>
              </a:xfrm>
              <a:custGeom>
                <a:avLst/>
                <a:gdLst/>
                <a:ahLst/>
                <a:cxnLst/>
                <a:rect l="l" t="t" r="r" b="b"/>
                <a:pathLst>
                  <a:path w="86106" h="111125">
                    <a:moveTo>
                      <a:pt x="19240" y="71437"/>
                    </a:moveTo>
                    <a:cubicBezTo>
                      <a:pt x="5574" y="61188"/>
                      <a:pt x="0" y="43343"/>
                      <a:pt x="5402" y="27137"/>
                    </a:cubicBezTo>
                    <a:cubicBezTo>
                      <a:pt x="10804" y="10931"/>
                      <a:pt x="25970" y="0"/>
                      <a:pt x="43053" y="0"/>
                    </a:cubicBezTo>
                    <a:cubicBezTo>
                      <a:pt x="60136" y="0"/>
                      <a:pt x="75302" y="10931"/>
                      <a:pt x="80704" y="27137"/>
                    </a:cubicBezTo>
                    <a:cubicBezTo>
                      <a:pt x="86106" y="43343"/>
                      <a:pt x="80532" y="61188"/>
                      <a:pt x="66865" y="71437"/>
                    </a:cubicBezTo>
                    <a:cubicBezTo>
                      <a:pt x="60580" y="77659"/>
                      <a:pt x="57633" y="86502"/>
                      <a:pt x="58928" y="95250"/>
                    </a:cubicBezTo>
                    <a:cubicBezTo>
                      <a:pt x="58928" y="104017"/>
                      <a:pt x="51820" y="111125"/>
                      <a:pt x="43053" y="111125"/>
                    </a:cubicBezTo>
                    <a:cubicBezTo>
                      <a:pt x="34285" y="111125"/>
                      <a:pt x="27178" y="104017"/>
                      <a:pt x="27178" y="95250"/>
                    </a:cubicBezTo>
                    <a:cubicBezTo>
                      <a:pt x="28473" y="86502"/>
                      <a:pt x="25526" y="77659"/>
                      <a:pt x="19240" y="71437"/>
                    </a:cubicBezTo>
                  </a:path>
                </a:pathLst>
              </a:custGeom>
              <a:noFill/>
              <a:ln w="15875">
                <a:solidFill>
                  <a:srgbClr val="9C594C"/>
                </a:solidFill>
              </a:ln>
            </p:spPr>
          </p:sp>
          <p:sp>
            <p:nvSpPr>
              <p:cNvPr id="38" name="Freeform 38"/>
              <p:cNvSpPr/>
              <p:nvPr/>
            </p:nvSpPr>
            <p:spPr>
              <a:xfrm>
                <a:off x="5334794" y="1735137"/>
                <a:ext cx="36512" cy="9525"/>
              </a:xfrm>
              <a:custGeom>
                <a:avLst/>
                <a:gdLst/>
                <a:ahLst/>
                <a:cxnLst/>
                <a:rect l="l" t="t" r="r" b="b"/>
                <a:pathLst>
                  <a:path w="36512" h="9525">
                    <a:moveTo>
                      <a:pt x="0" y="0"/>
                    </a:moveTo>
                    <a:lnTo>
                      <a:pt x="36512" y="0"/>
                    </a:lnTo>
                  </a:path>
                </a:pathLst>
              </a:custGeom>
              <a:noFill/>
              <a:ln w="15875">
                <a:solidFill>
                  <a:srgbClr val="9C594C"/>
                </a:solidFill>
              </a:ln>
            </p:spPr>
          </p:sp>
        </p:grpSp>
        <p:sp>
          <p:nvSpPr>
            <p:cNvPr id="40" name="TextBox 40"/>
            <p:cNvSpPr txBox="1"/>
            <p:nvPr/>
          </p:nvSpPr>
          <p:spPr>
            <a:xfrm>
              <a:off x="5594985" y="1602581"/>
              <a:ext cx="614528" cy="220028"/>
            </a:xfrm>
            <a:prstGeom prst="rect">
              <a:avLst/>
            </a:prstGeom>
            <a:noFill/>
            <a:ln>
              <a:noFill/>
            </a:ln>
          </p:spPr>
          <p:txBody>
            <a:bodyPr wrap="none" lIns="0" tIns="0" rIns="0" bIns="0" anchor="t" anchorCtr="0">
              <a:spAutoFit/>
            </a:bodyPr>
            <a:lstStyle/>
            <a:p>
              <a:pPr algn="l"/>
              <a:r>
                <a:rPr lang="zh-CN" sz="1120" b="1" dirty="0">
                  <a:solidFill>
                    <a:srgbClr val="333333"/>
                  </a:solidFill>
                  <a:latin typeface="+mn-lt"/>
                  <a:ea typeface="+mn-ea"/>
                  <a:cs typeface="+mn-cs"/>
                </a:rPr>
                <a:t>项目信息</a:t>
              </a:r>
            </a:p>
          </p:txBody>
        </p:sp>
        <p:sp>
          <p:nvSpPr>
            <p:cNvPr id="41" name="TextBox 41"/>
            <p:cNvSpPr txBox="1"/>
            <p:nvPr/>
          </p:nvSpPr>
          <p:spPr>
            <a:xfrm>
              <a:off x="5595938" y="1788557"/>
              <a:ext cx="846167" cy="126206"/>
            </a:xfrm>
            <a:prstGeom prst="rect">
              <a:avLst/>
            </a:prstGeom>
            <a:noFill/>
            <a:ln>
              <a:noFill/>
            </a:ln>
          </p:spPr>
          <p:txBody>
            <a:bodyPr wrap="none" lIns="0" tIns="0" rIns="0" bIns="0" anchor="t" anchorCtr="0">
              <a:spAutoFit/>
            </a:bodyPr>
            <a:lstStyle/>
            <a:p>
              <a:pPr algn="l"/>
              <a:r>
                <a:rPr lang="en-US" sz="640" dirty="0">
                  <a:solidFill>
                    <a:srgbClr val="8C8C8C"/>
                  </a:solidFill>
                  <a:latin typeface="+mn-lt"/>
                  <a:ea typeface="+mn-ea"/>
                  <a:cs typeface="+mn-cs"/>
                </a:rPr>
                <a:t>Project Information</a:t>
              </a:r>
            </a:p>
          </p:txBody>
        </p:sp>
        <p:sp>
          <p:nvSpPr>
            <p:cNvPr id="42" name="Ellipse 42"/>
            <p:cNvSpPr/>
            <p:nvPr/>
          </p:nvSpPr>
          <p:spPr>
            <a:xfrm>
              <a:off x="5295900" y="2076450"/>
              <a:ext cx="114300" cy="114300"/>
            </a:xfrm>
            <a:prstGeom prst="ellipse">
              <a:avLst/>
            </a:prstGeom>
            <a:solidFill>
              <a:srgbClr val="9C594C"/>
            </a:solidFill>
            <a:ln>
              <a:noFill/>
            </a:ln>
          </p:spPr>
        </p:sp>
        <p:sp>
          <p:nvSpPr>
            <p:cNvPr id="43" name="TextBox 43"/>
            <p:cNvSpPr txBox="1"/>
            <p:nvPr/>
          </p:nvSpPr>
          <p:spPr>
            <a:xfrm>
              <a:off x="5500688" y="2082641"/>
              <a:ext cx="561467" cy="161925"/>
            </a:xfrm>
            <a:prstGeom prst="rect">
              <a:avLst/>
            </a:prstGeom>
            <a:noFill/>
            <a:ln>
              <a:noFill/>
            </a:ln>
          </p:spPr>
          <p:txBody>
            <a:bodyPr wrap="none" lIns="0" tIns="0" rIns="0" bIns="0" anchor="t" anchorCtr="0">
              <a:spAutoFit/>
            </a:bodyPr>
            <a:lstStyle/>
            <a:p>
              <a:pPr algn="l"/>
              <a:r>
                <a:rPr lang="zh-CN" sz="820" b="1" dirty="0">
                  <a:solidFill>
                    <a:srgbClr val="333333"/>
                  </a:solidFill>
                  <a:latin typeface="+mn-lt"/>
                  <a:ea typeface="+mn-ea"/>
                  <a:cs typeface="+mn-cs"/>
                </a:rPr>
                <a:t>新用户数量</a:t>
              </a:r>
            </a:p>
          </p:txBody>
        </p:sp>
        <p:sp>
          <p:nvSpPr>
            <p:cNvPr id="44" name="TextBox 44"/>
            <p:cNvSpPr txBox="1"/>
            <p:nvPr/>
          </p:nvSpPr>
          <p:spPr>
            <a:xfrm>
              <a:off x="5500688" y="2270284"/>
              <a:ext cx="208216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95959"/>
                  </a:solidFill>
                  <a:latin typeface="+mn-lt"/>
                  <a:ea typeface="+mn-ea"/>
                  <a:cs typeface="+mn-cs"/>
                </a:rPr>
                <a:t>数据分析是指有组织有目的地收集数据，分析数据，使</a:t>
              </a:r>
              <a:br/>
              <a:r>
                <a:rPr lang="zh-CN" sz="680" dirty="0">
                  <a:solidFill>
                    <a:srgbClr val="595959"/>
                  </a:solidFill>
                  <a:latin typeface="+mn-lt"/>
                  <a:ea typeface="+mn-ea"/>
                  <a:cs typeface="+mn-cs"/>
                </a:rPr>
                <a:t>之成为信息的过程</a:t>
              </a:r>
            </a:p>
          </p:txBody>
        </p:sp>
        <p:sp>
          <p:nvSpPr>
            <p:cNvPr id="45" name="Ellipse 45"/>
            <p:cNvSpPr/>
            <p:nvPr/>
          </p:nvSpPr>
          <p:spPr>
            <a:xfrm>
              <a:off x="5295900" y="2628900"/>
              <a:ext cx="114300" cy="114300"/>
            </a:xfrm>
            <a:prstGeom prst="ellipse">
              <a:avLst/>
            </a:prstGeom>
            <a:solidFill>
              <a:srgbClr val="333333"/>
            </a:solidFill>
            <a:ln>
              <a:noFill/>
            </a:ln>
          </p:spPr>
        </p:sp>
        <p:sp>
          <p:nvSpPr>
            <p:cNvPr id="46" name="TextBox 46"/>
            <p:cNvSpPr txBox="1"/>
            <p:nvPr/>
          </p:nvSpPr>
          <p:spPr>
            <a:xfrm>
              <a:off x="5500688" y="2635091"/>
              <a:ext cx="561467" cy="161925"/>
            </a:xfrm>
            <a:prstGeom prst="rect">
              <a:avLst/>
            </a:prstGeom>
            <a:noFill/>
            <a:ln>
              <a:noFill/>
            </a:ln>
          </p:spPr>
          <p:txBody>
            <a:bodyPr wrap="none" lIns="0" tIns="0" rIns="0" bIns="0" anchor="t" anchorCtr="0">
              <a:spAutoFit/>
            </a:bodyPr>
            <a:lstStyle/>
            <a:p>
              <a:pPr algn="l"/>
              <a:r>
                <a:rPr lang="zh-CN" sz="820" b="1" dirty="0">
                  <a:solidFill>
                    <a:srgbClr val="333333"/>
                  </a:solidFill>
                  <a:latin typeface="+mn-lt"/>
                  <a:ea typeface="+mn-ea"/>
                  <a:cs typeface="+mn-cs"/>
                </a:rPr>
                <a:t>新用户数量</a:t>
              </a:r>
            </a:p>
          </p:txBody>
        </p:sp>
        <p:sp>
          <p:nvSpPr>
            <p:cNvPr id="47" name="TextBox 47"/>
            <p:cNvSpPr txBox="1"/>
            <p:nvPr/>
          </p:nvSpPr>
          <p:spPr>
            <a:xfrm>
              <a:off x="5500688" y="2822734"/>
              <a:ext cx="208216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595959"/>
                  </a:solidFill>
                  <a:latin typeface="+mn-lt"/>
                  <a:ea typeface="+mn-ea"/>
                  <a:cs typeface="+mn-cs"/>
                </a:rPr>
                <a:t>数据分析是指有组织有目的地收集数据，分析数据，使</a:t>
              </a:r>
              <a:br/>
              <a:r>
                <a:rPr lang="zh-CN" sz="680" dirty="0">
                  <a:solidFill>
                    <a:srgbClr val="595959"/>
                  </a:solidFill>
                  <a:latin typeface="+mn-lt"/>
                  <a:ea typeface="+mn-ea"/>
                  <a:cs typeface="+mn-cs"/>
                </a:rPr>
                <a:t>之成为信息的过程</a:t>
              </a:r>
            </a:p>
          </p:txBody>
        </p:sp>
        <p:sp>
          <p:nvSpPr>
            <p:cNvPr id="48" name="Ellipse 48"/>
            <p:cNvSpPr/>
            <p:nvPr/>
          </p:nvSpPr>
          <p:spPr>
            <a:xfrm>
              <a:off x="8582025" y="1543050"/>
              <a:ext cx="304800" cy="304800"/>
            </a:xfrm>
            <a:prstGeom prst="ellipse">
              <a:avLst/>
            </a:prstGeom>
            <a:solidFill>
              <a:srgbClr val="F7B9AE"/>
            </a:solidFill>
            <a:ln>
              <a:noFill/>
            </a:ln>
          </p:spPr>
        </p:sp>
        <p:sp>
          <p:nvSpPr>
            <p:cNvPr id="49" name="Freeform 49"/>
            <p:cNvSpPr/>
            <p:nvPr/>
          </p:nvSpPr>
          <p:spPr>
            <a:xfrm>
              <a:off x="8662987" y="1624012"/>
              <a:ext cx="142875" cy="142875"/>
            </a:xfrm>
            <a:custGeom>
              <a:avLst/>
              <a:gdLst/>
              <a:ahLst/>
              <a:cxnLst/>
              <a:rect l="l" t="t" r="r" b="b"/>
              <a:pathLst>
                <a:path w="142875" h="142875">
                  <a:moveTo>
                    <a:pt x="7937" y="31750"/>
                  </a:moveTo>
                  <a:lnTo>
                    <a:pt x="31750" y="31750"/>
                  </a:lnTo>
                  <a:cubicBezTo>
                    <a:pt x="36134" y="31750"/>
                    <a:pt x="39687" y="28196"/>
                    <a:pt x="39687" y="23812"/>
                  </a:cubicBezTo>
                  <a:lnTo>
                    <a:pt x="39687" y="15875"/>
                  </a:lnTo>
                  <a:cubicBezTo>
                    <a:pt x="39687" y="7107"/>
                    <a:pt x="46795" y="0"/>
                    <a:pt x="55562" y="0"/>
                  </a:cubicBezTo>
                  <a:cubicBezTo>
                    <a:pt x="64330" y="0"/>
                    <a:pt x="71437" y="7107"/>
                    <a:pt x="71437" y="15875"/>
                  </a:cubicBezTo>
                  <a:lnTo>
                    <a:pt x="71437" y="23812"/>
                  </a:lnTo>
                  <a:cubicBezTo>
                    <a:pt x="71437" y="28196"/>
                    <a:pt x="74991" y="31750"/>
                    <a:pt x="79375" y="31750"/>
                  </a:cubicBezTo>
                  <a:lnTo>
                    <a:pt x="103187" y="31750"/>
                  </a:lnTo>
                  <a:cubicBezTo>
                    <a:pt x="107571" y="31750"/>
                    <a:pt x="111125" y="35304"/>
                    <a:pt x="111125" y="39687"/>
                  </a:cubicBezTo>
                  <a:lnTo>
                    <a:pt x="111125" y="63500"/>
                  </a:lnTo>
                  <a:cubicBezTo>
                    <a:pt x="111125" y="67884"/>
                    <a:pt x="114679" y="71437"/>
                    <a:pt x="119062" y="71437"/>
                  </a:cubicBezTo>
                  <a:lnTo>
                    <a:pt x="127000" y="71437"/>
                  </a:lnTo>
                  <a:cubicBezTo>
                    <a:pt x="135767" y="71437"/>
                    <a:pt x="142875" y="78545"/>
                    <a:pt x="142875" y="87312"/>
                  </a:cubicBezTo>
                  <a:cubicBezTo>
                    <a:pt x="142875" y="96080"/>
                    <a:pt x="135767" y="103187"/>
                    <a:pt x="127000" y="103187"/>
                  </a:cubicBezTo>
                  <a:lnTo>
                    <a:pt x="119062" y="103187"/>
                  </a:lnTo>
                  <a:cubicBezTo>
                    <a:pt x="114679" y="103187"/>
                    <a:pt x="111125" y="106741"/>
                    <a:pt x="111125" y="111125"/>
                  </a:cubicBezTo>
                  <a:lnTo>
                    <a:pt x="111125" y="134937"/>
                  </a:lnTo>
                  <a:cubicBezTo>
                    <a:pt x="111125" y="139321"/>
                    <a:pt x="107571" y="142875"/>
                    <a:pt x="103187" y="142875"/>
                  </a:cubicBezTo>
                  <a:lnTo>
                    <a:pt x="79375" y="142875"/>
                  </a:lnTo>
                  <a:cubicBezTo>
                    <a:pt x="74991" y="142875"/>
                    <a:pt x="71437" y="139321"/>
                    <a:pt x="71437" y="134937"/>
                  </a:cubicBezTo>
                  <a:lnTo>
                    <a:pt x="71437" y="127000"/>
                  </a:lnTo>
                  <a:cubicBezTo>
                    <a:pt x="71437" y="118232"/>
                    <a:pt x="64330" y="111125"/>
                    <a:pt x="55562" y="111125"/>
                  </a:cubicBezTo>
                  <a:cubicBezTo>
                    <a:pt x="46795" y="111125"/>
                    <a:pt x="39687" y="118232"/>
                    <a:pt x="39687" y="127000"/>
                  </a:cubicBezTo>
                  <a:lnTo>
                    <a:pt x="39687" y="134937"/>
                  </a:lnTo>
                  <a:cubicBezTo>
                    <a:pt x="39687" y="139321"/>
                    <a:pt x="36134" y="142875"/>
                    <a:pt x="31750" y="142875"/>
                  </a:cubicBezTo>
                  <a:lnTo>
                    <a:pt x="7937" y="142875"/>
                  </a:lnTo>
                  <a:cubicBezTo>
                    <a:pt x="3554" y="142875"/>
                    <a:pt x="0" y="139321"/>
                    <a:pt x="0" y="134937"/>
                  </a:cubicBezTo>
                  <a:lnTo>
                    <a:pt x="0" y="111125"/>
                  </a:lnTo>
                  <a:cubicBezTo>
                    <a:pt x="0" y="106741"/>
                    <a:pt x="3554" y="103187"/>
                    <a:pt x="7937" y="103187"/>
                  </a:cubicBezTo>
                  <a:lnTo>
                    <a:pt x="15875" y="103187"/>
                  </a:lnTo>
                  <a:cubicBezTo>
                    <a:pt x="24643" y="103187"/>
                    <a:pt x="31750" y="96080"/>
                    <a:pt x="31750" y="87312"/>
                  </a:cubicBezTo>
                  <a:cubicBezTo>
                    <a:pt x="31750" y="78545"/>
                    <a:pt x="24643" y="71437"/>
                    <a:pt x="15875" y="71437"/>
                  </a:cubicBezTo>
                  <a:lnTo>
                    <a:pt x="7937" y="71437"/>
                  </a:lnTo>
                  <a:cubicBezTo>
                    <a:pt x="3554" y="71437"/>
                    <a:pt x="0" y="67884"/>
                    <a:pt x="0" y="63500"/>
                  </a:cubicBezTo>
                  <a:lnTo>
                    <a:pt x="0" y="39687"/>
                  </a:lnTo>
                  <a:cubicBezTo>
                    <a:pt x="0" y="35304"/>
                    <a:pt x="3554" y="31750"/>
                    <a:pt x="7937" y="31750"/>
                  </a:cubicBezTo>
                </a:path>
              </a:pathLst>
            </a:custGeom>
            <a:noFill/>
            <a:ln w="15875">
              <a:solidFill>
                <a:srgbClr val="D6391E"/>
              </a:solidFill>
            </a:ln>
          </p:spPr>
        </p:sp>
        <p:sp>
          <p:nvSpPr>
            <p:cNvPr id="50" name="TextBox 50"/>
            <p:cNvSpPr txBox="1"/>
            <p:nvPr/>
          </p:nvSpPr>
          <p:spPr>
            <a:xfrm>
              <a:off x="8976360" y="1602581"/>
              <a:ext cx="614528" cy="220028"/>
            </a:xfrm>
            <a:prstGeom prst="rect">
              <a:avLst/>
            </a:prstGeom>
            <a:noFill/>
            <a:ln>
              <a:noFill/>
            </a:ln>
          </p:spPr>
          <p:txBody>
            <a:bodyPr wrap="none" lIns="0" tIns="0" rIns="0" bIns="0" anchor="t" anchorCtr="0">
              <a:spAutoFit/>
            </a:bodyPr>
            <a:lstStyle/>
            <a:p>
              <a:pPr algn="l"/>
              <a:r>
                <a:rPr lang="zh-CN" sz="1120" b="1" dirty="0">
                  <a:solidFill>
                    <a:srgbClr val="333333"/>
                  </a:solidFill>
                  <a:latin typeface="+mn-lt"/>
                  <a:ea typeface="+mn-ea"/>
                  <a:cs typeface="+mn-cs"/>
                </a:rPr>
                <a:t>项目信息</a:t>
              </a:r>
            </a:p>
          </p:txBody>
        </p:sp>
        <p:sp>
          <p:nvSpPr>
            <p:cNvPr id="51" name="TextBox 51"/>
            <p:cNvSpPr txBox="1"/>
            <p:nvPr/>
          </p:nvSpPr>
          <p:spPr>
            <a:xfrm>
              <a:off x="8977312" y="1788557"/>
              <a:ext cx="846167" cy="126206"/>
            </a:xfrm>
            <a:prstGeom prst="rect">
              <a:avLst/>
            </a:prstGeom>
            <a:noFill/>
            <a:ln>
              <a:noFill/>
            </a:ln>
          </p:spPr>
          <p:txBody>
            <a:bodyPr wrap="none" lIns="0" tIns="0" rIns="0" bIns="0" anchor="t" anchorCtr="0">
              <a:spAutoFit/>
            </a:bodyPr>
            <a:lstStyle/>
            <a:p>
              <a:pPr algn="l"/>
              <a:r>
                <a:rPr lang="en-US" sz="640" dirty="0">
                  <a:solidFill>
                    <a:srgbClr val="8C8C8C"/>
                  </a:solidFill>
                  <a:latin typeface="+mn-lt"/>
                  <a:ea typeface="+mn-ea"/>
                  <a:cs typeface="+mn-cs"/>
                </a:rPr>
                <a:t>Project Information</a:t>
              </a:r>
            </a:p>
          </p:txBody>
        </p:sp>
        <p:sp>
          <p:nvSpPr>
            <p:cNvPr id="52" name="Ellipse 52"/>
            <p:cNvSpPr/>
            <p:nvPr/>
          </p:nvSpPr>
          <p:spPr>
            <a:xfrm>
              <a:off x="8677275" y="2057400"/>
              <a:ext cx="114300" cy="114300"/>
            </a:xfrm>
            <a:prstGeom prst="ellipse">
              <a:avLst/>
            </a:prstGeom>
            <a:solidFill>
              <a:srgbClr val="9C594C"/>
            </a:solidFill>
            <a:ln>
              <a:noFill/>
            </a:ln>
          </p:spPr>
        </p:sp>
        <p:sp>
          <p:nvSpPr>
            <p:cNvPr id="53" name="TextBox 53"/>
            <p:cNvSpPr txBox="1"/>
            <p:nvPr/>
          </p:nvSpPr>
          <p:spPr>
            <a:xfrm>
              <a:off x="8872538" y="2067639"/>
              <a:ext cx="54127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项目管理人</a:t>
              </a:r>
            </a:p>
          </p:txBody>
        </p:sp>
        <p:sp>
          <p:nvSpPr>
            <p:cNvPr id="54" name="TextBox 54"/>
            <p:cNvSpPr txBox="1"/>
            <p:nvPr/>
          </p:nvSpPr>
          <p:spPr>
            <a:xfrm>
              <a:off x="9853612" y="2067639"/>
              <a:ext cx="758749" cy="154781"/>
            </a:xfrm>
            <a:prstGeom prst="rect">
              <a:avLst/>
            </a:prstGeom>
            <a:noFill/>
            <a:ln>
              <a:noFill/>
            </a:ln>
          </p:spPr>
          <p:txBody>
            <a:bodyPr wrap="none" lIns="0" tIns="0" rIns="0" bIns="0" anchor="t" anchorCtr="0">
              <a:spAutoFit/>
            </a:bodyPr>
            <a:lstStyle/>
            <a:p>
              <a:pPr algn="l"/>
              <a:r>
                <a:rPr lang="en-US" sz="790" b="1" dirty="0">
                  <a:solidFill>
                    <a:srgbClr val="333333"/>
                  </a:solidFill>
                  <a:latin typeface="+mn-lt"/>
                  <a:ea typeface="+mn-ea"/>
                  <a:cs typeface="+mn-cs"/>
                </a:rPr>
                <a:t>TEL: 5554455</a:t>
              </a:r>
            </a:p>
          </p:txBody>
        </p:sp>
        <p:sp>
          <p:nvSpPr>
            <p:cNvPr id="55" name="Ellipse 55"/>
            <p:cNvSpPr/>
            <p:nvPr/>
          </p:nvSpPr>
          <p:spPr>
            <a:xfrm>
              <a:off x="8677275" y="2343150"/>
              <a:ext cx="114300" cy="114300"/>
            </a:xfrm>
            <a:prstGeom prst="ellipse">
              <a:avLst/>
            </a:prstGeom>
            <a:solidFill>
              <a:srgbClr val="E9563C"/>
            </a:solidFill>
            <a:ln>
              <a:noFill/>
            </a:ln>
          </p:spPr>
        </p:sp>
        <p:sp>
          <p:nvSpPr>
            <p:cNvPr id="56" name="TextBox 56"/>
            <p:cNvSpPr txBox="1"/>
            <p:nvPr/>
          </p:nvSpPr>
          <p:spPr>
            <a:xfrm>
              <a:off x="8872538" y="235338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项目日期</a:t>
              </a:r>
            </a:p>
          </p:txBody>
        </p:sp>
        <p:sp>
          <p:nvSpPr>
            <p:cNvPr id="57" name="TextBox 57"/>
            <p:cNvSpPr txBox="1"/>
            <p:nvPr/>
          </p:nvSpPr>
          <p:spPr>
            <a:xfrm>
              <a:off x="9853612" y="2353389"/>
              <a:ext cx="881327" cy="154781"/>
            </a:xfrm>
            <a:prstGeom prst="rect">
              <a:avLst/>
            </a:prstGeom>
            <a:noFill/>
            <a:ln>
              <a:noFill/>
            </a:ln>
          </p:spPr>
          <p:txBody>
            <a:bodyPr wrap="none" lIns="0" tIns="0" rIns="0" bIns="0" anchor="t" anchorCtr="0">
              <a:spAutoFit/>
            </a:bodyPr>
            <a:lstStyle/>
            <a:p>
              <a:pPr algn="l"/>
              <a:r>
                <a:rPr lang="zh-CN" sz="790" b="1" dirty="0">
                  <a:solidFill>
                    <a:srgbClr val="333333"/>
                  </a:solidFill>
                  <a:latin typeface="+mn-lt"/>
                  <a:ea typeface="+mn-ea"/>
                  <a:cs typeface="+mn-cs"/>
                </a:rPr>
                <a:t>2022年10月10日​</a:t>
              </a:r>
            </a:p>
          </p:txBody>
        </p:sp>
        <p:sp>
          <p:nvSpPr>
            <p:cNvPr id="58" name="Ellipse 58"/>
            <p:cNvSpPr/>
            <p:nvPr/>
          </p:nvSpPr>
          <p:spPr>
            <a:xfrm>
              <a:off x="8677275" y="2628900"/>
              <a:ext cx="114300" cy="114300"/>
            </a:xfrm>
            <a:prstGeom prst="ellipse">
              <a:avLst/>
            </a:prstGeom>
            <a:solidFill>
              <a:srgbClr val="C8E0B8"/>
            </a:solidFill>
            <a:ln>
              <a:noFill/>
            </a:ln>
          </p:spPr>
        </p:sp>
        <p:sp>
          <p:nvSpPr>
            <p:cNvPr id="59" name="TextBox 59"/>
            <p:cNvSpPr txBox="1"/>
            <p:nvPr/>
          </p:nvSpPr>
          <p:spPr>
            <a:xfrm>
              <a:off x="8872538" y="2639139"/>
              <a:ext cx="434924" cy="154781"/>
            </a:xfrm>
            <a:prstGeom prst="rect">
              <a:avLst/>
            </a:prstGeom>
            <a:noFill/>
            <a:ln>
              <a:noFill/>
            </a:ln>
          </p:spPr>
          <p:txBody>
            <a:bodyPr wrap="none" lIns="0" tIns="0" rIns="0" bIns="0" anchor="t" anchorCtr="0">
              <a:spAutoFit/>
            </a:bodyPr>
            <a:lstStyle/>
            <a:p>
              <a:pPr algn="l"/>
              <a:r>
                <a:rPr lang="zh-CN" sz="790" dirty="0">
                  <a:solidFill>
                    <a:srgbClr val="333333"/>
                  </a:solidFill>
                  <a:latin typeface="+mn-lt"/>
                  <a:ea typeface="+mn-ea"/>
                  <a:cs typeface="+mn-cs"/>
                </a:rPr>
                <a:t>项目结束</a:t>
              </a:r>
            </a:p>
          </p:txBody>
        </p:sp>
        <p:sp>
          <p:nvSpPr>
            <p:cNvPr id="60" name="TextBox 60"/>
            <p:cNvSpPr txBox="1"/>
            <p:nvPr/>
          </p:nvSpPr>
          <p:spPr>
            <a:xfrm>
              <a:off x="9853612" y="2639139"/>
              <a:ext cx="881327" cy="154781"/>
            </a:xfrm>
            <a:prstGeom prst="rect">
              <a:avLst/>
            </a:prstGeom>
            <a:noFill/>
            <a:ln>
              <a:noFill/>
            </a:ln>
          </p:spPr>
          <p:txBody>
            <a:bodyPr wrap="none" lIns="0" tIns="0" rIns="0" bIns="0" anchor="t" anchorCtr="0">
              <a:spAutoFit/>
            </a:bodyPr>
            <a:lstStyle/>
            <a:p>
              <a:pPr algn="l"/>
              <a:r>
                <a:rPr lang="zh-CN" sz="790" b="1" dirty="0">
                  <a:solidFill>
                    <a:srgbClr val="333333"/>
                  </a:solidFill>
                  <a:latin typeface="+mn-lt"/>
                  <a:ea typeface="+mn-ea"/>
                  <a:cs typeface="+mn-cs"/>
                </a:rPr>
                <a:t>2022年11月15日​</a:t>
              </a:r>
            </a:p>
          </p:txBody>
        </p:sp>
        <p:sp>
          <p:nvSpPr>
            <p:cNvPr id="61" name="Rectangle 61"/>
            <p:cNvSpPr/>
            <p:nvPr/>
          </p:nvSpPr>
          <p:spPr>
            <a:xfrm>
              <a:off x="8905875" y="2857500"/>
              <a:ext cx="666750" cy="190500"/>
            </a:xfrm>
            <a:prstGeom prst="rect">
              <a:avLst/>
            </a:prstGeom>
            <a:solidFill>
              <a:srgbClr val="E9563C"/>
            </a:solidFill>
            <a:ln>
              <a:noFill/>
            </a:ln>
          </p:spPr>
        </p:sp>
        <p:sp>
          <p:nvSpPr>
            <p:cNvPr id="62" name="TextBox 62"/>
            <p:cNvSpPr txBox="1"/>
            <p:nvPr/>
          </p:nvSpPr>
          <p:spPr>
            <a:xfrm>
              <a:off x="9091117" y="2913936"/>
              <a:ext cx="296266"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医护端</a:t>
              </a:r>
            </a:p>
          </p:txBody>
        </p:sp>
        <p:sp>
          <p:nvSpPr>
            <p:cNvPr id="63" name="Rectangle 63"/>
            <p:cNvSpPr/>
            <p:nvPr/>
          </p:nvSpPr>
          <p:spPr>
            <a:xfrm>
              <a:off x="9667875" y="2857500"/>
              <a:ext cx="1524000" cy="190500"/>
            </a:xfrm>
            <a:prstGeom prst="rect">
              <a:avLst/>
            </a:prstGeom>
            <a:solidFill>
              <a:srgbClr val="9C594C"/>
            </a:solidFill>
            <a:ln>
              <a:noFill/>
            </a:ln>
          </p:spPr>
        </p:sp>
        <p:sp>
          <p:nvSpPr>
            <p:cNvPr id="64" name="TextBox 64"/>
            <p:cNvSpPr txBox="1"/>
            <p:nvPr/>
          </p:nvSpPr>
          <p:spPr>
            <a:xfrm>
              <a:off x="9928095" y="2913936"/>
              <a:ext cx="1003559"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患者端: 电脑端+手机端</a:t>
              </a:r>
            </a:p>
          </p:txBody>
        </p:sp>
      </p:grpSp>
      <p:grpSp>
        <p:nvGrpSpPr>
          <p:cNvPr id="101" name="visitors-card"/>
          <p:cNvGrpSpPr/>
          <p:nvPr/>
        </p:nvGrpSpPr>
        <p:grpSpPr>
          <a:xfrm>
            <a:off x="4953000" y="3638550"/>
            <a:ext cx="3333750" cy="1809750"/>
            <a:chOff x="4953000" y="3638550"/>
            <a:chExt cx="3333750" cy="1809750"/>
          </a:xfrm>
        </p:grpSpPr>
        <p:sp>
          <p:nvSpPr>
            <p:cNvPr id="66" name="Rectangle 66"/>
            <p:cNvSpPr/>
            <p:nvPr/>
          </p:nvSpPr>
          <p:spPr>
            <a:xfrm>
              <a:off x="4953000" y="3638550"/>
              <a:ext cx="3333750" cy="1809750"/>
            </a:xfrm>
            <a:prstGeom prst="rect">
              <a:avLst/>
            </a:prstGeom>
            <a:solidFill>
              <a:srgbClr val="FFFFFF"/>
            </a:solidFill>
            <a:ln w="11430">
              <a:solidFill>
                <a:srgbClr val="C9D8BD"/>
              </a:solidFill>
              <a:custDash>
                <a:ds d="416667" sp="250000"/>
              </a:custDash>
            </a:ln>
          </p:spPr>
        </p:sp>
        <p:sp>
          <p:nvSpPr>
            <p:cNvPr id="67" name="Ellipse 67"/>
            <p:cNvSpPr/>
            <p:nvPr/>
          </p:nvSpPr>
          <p:spPr>
            <a:xfrm>
              <a:off x="5038725" y="3790950"/>
              <a:ext cx="304800" cy="304800"/>
            </a:xfrm>
            <a:prstGeom prst="ellipse">
              <a:avLst/>
            </a:prstGeom>
            <a:solidFill>
              <a:srgbClr val="DFF0D2"/>
            </a:solidFill>
            <a:ln>
              <a:noFill/>
            </a:ln>
          </p:spPr>
        </p:sp>
        <p:grpSp>
          <p:nvGrpSpPr>
            <p:cNvPr id="70" name="Group 70"/>
            <p:cNvGrpSpPr/>
            <p:nvPr/>
          </p:nvGrpSpPr>
          <p:grpSpPr>
            <a:xfrm>
              <a:off x="5119687" y="3895725"/>
              <a:ext cx="142875" cy="95250"/>
              <a:chOff x="5119687" y="3895725"/>
              <a:chExt cx="142875" cy="95250"/>
            </a:xfrm>
          </p:grpSpPr>
          <p:sp>
            <p:nvSpPr>
              <p:cNvPr id="68" name="Freeform 68"/>
              <p:cNvSpPr/>
              <p:nvPr/>
            </p:nvSpPr>
            <p:spPr>
              <a:xfrm>
                <a:off x="5175250" y="392747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9C594C"/>
                </a:solidFill>
              </a:ln>
            </p:spPr>
          </p:sp>
          <p:sp>
            <p:nvSpPr>
              <p:cNvPr id="69" name="Freeform 69"/>
              <p:cNvSpPr/>
              <p:nvPr/>
            </p:nvSpPr>
            <p:spPr>
              <a:xfrm>
                <a:off x="5119687" y="3895725"/>
                <a:ext cx="142875" cy="95250"/>
              </a:xfrm>
              <a:custGeom>
                <a:avLst/>
                <a:gdLst/>
                <a:ahLst/>
                <a:cxnLst/>
                <a:rect l="l" t="t" r="r" b="b"/>
                <a:pathLst>
                  <a:path w="142875" h="95250">
                    <a:moveTo>
                      <a:pt x="142875" y="47625"/>
                    </a:moveTo>
                    <a:cubicBezTo>
                      <a:pt x="123825" y="79375"/>
                      <a:pt x="100012" y="95250"/>
                      <a:pt x="71437" y="95250"/>
                    </a:cubicBezTo>
                    <a:cubicBezTo>
                      <a:pt x="42862" y="95250"/>
                      <a:pt x="19050" y="79375"/>
                      <a:pt x="0" y="47625"/>
                    </a:cubicBezTo>
                    <a:cubicBezTo>
                      <a:pt x="19050" y="15875"/>
                      <a:pt x="42862" y="0"/>
                      <a:pt x="71437" y="0"/>
                    </a:cubicBezTo>
                    <a:cubicBezTo>
                      <a:pt x="100012" y="0"/>
                      <a:pt x="123825" y="15875"/>
                      <a:pt x="142875" y="47625"/>
                    </a:cubicBezTo>
                  </a:path>
                </a:pathLst>
              </a:custGeom>
              <a:noFill/>
              <a:ln w="15875">
                <a:solidFill>
                  <a:srgbClr val="9C594C"/>
                </a:solidFill>
              </a:ln>
            </p:spPr>
          </p:sp>
        </p:grpSp>
        <p:sp>
          <p:nvSpPr>
            <p:cNvPr id="71" name="TextBox 71"/>
            <p:cNvSpPr txBox="1"/>
            <p:nvPr/>
          </p:nvSpPr>
          <p:spPr>
            <a:xfrm>
              <a:off x="5423535" y="3850481"/>
              <a:ext cx="614528" cy="220028"/>
            </a:xfrm>
            <a:prstGeom prst="rect">
              <a:avLst/>
            </a:prstGeom>
            <a:noFill/>
            <a:ln>
              <a:noFill/>
            </a:ln>
          </p:spPr>
          <p:txBody>
            <a:bodyPr wrap="none" lIns="0" tIns="0" rIns="0" bIns="0" anchor="t" anchorCtr="0">
              <a:spAutoFit/>
            </a:bodyPr>
            <a:lstStyle/>
            <a:p>
              <a:pPr algn="l"/>
              <a:r>
                <a:rPr lang="zh-CN" sz="1120" b="1" dirty="0">
                  <a:solidFill>
                    <a:srgbClr val="333333"/>
                  </a:solidFill>
                  <a:latin typeface="+mn-lt"/>
                  <a:ea typeface="+mn-ea"/>
                  <a:cs typeface="+mn-cs"/>
                </a:rPr>
                <a:t>访客数据</a:t>
              </a:r>
            </a:p>
          </p:txBody>
        </p:sp>
        <p:sp>
          <p:nvSpPr>
            <p:cNvPr id="72" name="TextBox 72"/>
            <p:cNvSpPr txBox="1"/>
            <p:nvPr/>
          </p:nvSpPr>
          <p:spPr>
            <a:xfrm>
              <a:off x="5424488" y="4036457"/>
              <a:ext cx="471325" cy="126206"/>
            </a:xfrm>
            <a:prstGeom prst="rect">
              <a:avLst/>
            </a:prstGeom>
            <a:noFill/>
            <a:ln>
              <a:noFill/>
            </a:ln>
          </p:spPr>
          <p:txBody>
            <a:bodyPr wrap="none" lIns="0" tIns="0" rIns="0" bIns="0" anchor="t" anchorCtr="0">
              <a:spAutoFit/>
            </a:bodyPr>
            <a:lstStyle/>
            <a:p>
              <a:pPr algn="l"/>
              <a:r>
                <a:rPr lang="en-US" sz="640" dirty="0">
                  <a:solidFill>
                    <a:srgbClr val="8C8C8C"/>
                  </a:solidFill>
                  <a:latin typeface="+mn-lt"/>
                  <a:ea typeface="+mn-ea"/>
                  <a:cs typeface="+mn-cs"/>
                </a:rPr>
                <a:t>Top Visitor</a:t>
              </a:r>
            </a:p>
          </p:txBody>
        </p:sp>
        <p:sp>
          <p:nvSpPr>
            <p:cNvPr id="73" name="TextBox 73"/>
            <p:cNvSpPr txBox="1"/>
            <p:nvPr/>
          </p:nvSpPr>
          <p:spPr>
            <a:xfrm>
              <a:off x="5132012" y="4273153"/>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50</a:t>
              </a:r>
            </a:p>
          </p:txBody>
        </p:sp>
        <p:sp>
          <p:nvSpPr>
            <p:cNvPr id="74" name="TextBox 74"/>
            <p:cNvSpPr txBox="1"/>
            <p:nvPr/>
          </p:nvSpPr>
          <p:spPr>
            <a:xfrm>
              <a:off x="5132012" y="4444603"/>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40</a:t>
              </a:r>
            </a:p>
          </p:txBody>
        </p:sp>
        <p:sp>
          <p:nvSpPr>
            <p:cNvPr id="75" name="TextBox 75"/>
            <p:cNvSpPr txBox="1"/>
            <p:nvPr/>
          </p:nvSpPr>
          <p:spPr>
            <a:xfrm>
              <a:off x="5132012" y="4616053"/>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30</a:t>
              </a:r>
            </a:p>
          </p:txBody>
        </p:sp>
        <p:sp>
          <p:nvSpPr>
            <p:cNvPr id="76" name="TextBox 76"/>
            <p:cNvSpPr txBox="1"/>
            <p:nvPr/>
          </p:nvSpPr>
          <p:spPr>
            <a:xfrm>
              <a:off x="5132012" y="4787503"/>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20</a:t>
              </a:r>
            </a:p>
          </p:txBody>
        </p:sp>
        <p:sp>
          <p:nvSpPr>
            <p:cNvPr id="77" name="TextBox 77"/>
            <p:cNvSpPr txBox="1"/>
            <p:nvPr/>
          </p:nvSpPr>
          <p:spPr>
            <a:xfrm>
              <a:off x="5132012" y="4958953"/>
              <a:ext cx="92451"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10</a:t>
              </a:r>
            </a:p>
          </p:txBody>
        </p:sp>
        <p:sp>
          <p:nvSpPr>
            <p:cNvPr id="78" name="TextBox 78"/>
            <p:cNvSpPr txBox="1"/>
            <p:nvPr/>
          </p:nvSpPr>
          <p:spPr>
            <a:xfrm>
              <a:off x="5173475" y="5130403"/>
              <a:ext cx="50988" cy="111919"/>
            </a:xfrm>
            <a:prstGeom prst="rect">
              <a:avLst/>
            </a:prstGeom>
            <a:noFill/>
            <a:ln>
              <a:noFill/>
            </a:ln>
          </p:spPr>
          <p:txBody>
            <a:bodyPr wrap="none" lIns="0" tIns="0" rIns="0" bIns="0" anchor="t" anchorCtr="0">
              <a:spAutoFit/>
            </a:bodyPr>
            <a:lstStyle/>
            <a:p>
              <a:pPr algn="r"/>
              <a:r>
                <a:rPr lang="zh-CN" sz="560" dirty="0">
                  <a:solidFill>
                    <a:srgbClr val="8C8C8C"/>
                  </a:solidFill>
                  <a:latin typeface="+mn-lt"/>
                  <a:ea typeface="+mn-ea"/>
                  <a:cs typeface="+mn-cs"/>
                </a:rPr>
                <a:t>0</a:t>
              </a:r>
            </a:p>
          </p:txBody>
        </p:sp>
        <p:sp>
          <p:nvSpPr>
            <p:cNvPr id="79" name="Line 79"/>
            <p:cNvSpPr/>
            <p:nvPr/>
          </p:nvSpPr>
          <p:spPr>
            <a:xfrm>
              <a:off x="5295900" y="4305300"/>
              <a:ext cx="2705100" cy="9525"/>
            </a:xfrm>
            <a:custGeom>
              <a:avLst/>
              <a:gdLst/>
              <a:ahLst/>
              <a:cxnLst/>
              <a:rect l="l" t="t" r="r" b="b"/>
              <a:pathLst>
                <a:path w="2705100" h="9525">
                  <a:moveTo>
                    <a:pt x="0" y="0"/>
                  </a:moveTo>
                  <a:lnTo>
                    <a:pt x="2705100" y="0"/>
                  </a:lnTo>
                </a:path>
              </a:pathLst>
            </a:custGeom>
            <a:noFill/>
            <a:ln w="9525">
              <a:solidFill>
                <a:srgbClr val="EEF1EC"/>
              </a:solidFill>
            </a:ln>
          </p:spPr>
        </p:sp>
        <p:sp>
          <p:nvSpPr>
            <p:cNvPr id="80" name="Line 80"/>
            <p:cNvSpPr/>
            <p:nvPr/>
          </p:nvSpPr>
          <p:spPr>
            <a:xfrm>
              <a:off x="5295900" y="4476750"/>
              <a:ext cx="2705100" cy="9525"/>
            </a:xfrm>
            <a:custGeom>
              <a:avLst/>
              <a:gdLst/>
              <a:ahLst/>
              <a:cxnLst/>
              <a:rect l="l" t="t" r="r" b="b"/>
              <a:pathLst>
                <a:path w="2705100" h="9525">
                  <a:moveTo>
                    <a:pt x="0" y="0"/>
                  </a:moveTo>
                  <a:lnTo>
                    <a:pt x="2705100" y="0"/>
                  </a:lnTo>
                </a:path>
              </a:pathLst>
            </a:custGeom>
            <a:noFill/>
            <a:ln w="9525">
              <a:solidFill>
                <a:srgbClr val="EEF1EC"/>
              </a:solidFill>
            </a:ln>
          </p:spPr>
        </p:sp>
        <p:sp>
          <p:nvSpPr>
            <p:cNvPr id="81" name="Line 81"/>
            <p:cNvSpPr/>
            <p:nvPr/>
          </p:nvSpPr>
          <p:spPr>
            <a:xfrm>
              <a:off x="5295900" y="4648200"/>
              <a:ext cx="2705100" cy="9525"/>
            </a:xfrm>
            <a:custGeom>
              <a:avLst/>
              <a:gdLst/>
              <a:ahLst/>
              <a:cxnLst/>
              <a:rect l="l" t="t" r="r" b="b"/>
              <a:pathLst>
                <a:path w="2705100" h="9525">
                  <a:moveTo>
                    <a:pt x="0" y="0"/>
                  </a:moveTo>
                  <a:lnTo>
                    <a:pt x="2705100" y="0"/>
                  </a:lnTo>
                </a:path>
              </a:pathLst>
            </a:custGeom>
            <a:noFill/>
            <a:ln w="9525">
              <a:solidFill>
                <a:srgbClr val="EEF1EC"/>
              </a:solidFill>
            </a:ln>
          </p:spPr>
        </p:sp>
        <p:sp>
          <p:nvSpPr>
            <p:cNvPr id="82" name="Line 82"/>
            <p:cNvSpPr/>
            <p:nvPr/>
          </p:nvSpPr>
          <p:spPr>
            <a:xfrm>
              <a:off x="5295900" y="4819650"/>
              <a:ext cx="2705100" cy="9525"/>
            </a:xfrm>
            <a:custGeom>
              <a:avLst/>
              <a:gdLst/>
              <a:ahLst/>
              <a:cxnLst/>
              <a:rect l="l" t="t" r="r" b="b"/>
              <a:pathLst>
                <a:path w="2705100" h="9525">
                  <a:moveTo>
                    <a:pt x="0" y="0"/>
                  </a:moveTo>
                  <a:lnTo>
                    <a:pt x="2705100" y="0"/>
                  </a:lnTo>
                </a:path>
              </a:pathLst>
            </a:custGeom>
            <a:noFill/>
            <a:ln w="9525">
              <a:solidFill>
                <a:srgbClr val="EEF1EC"/>
              </a:solidFill>
            </a:ln>
          </p:spPr>
        </p:sp>
        <p:sp>
          <p:nvSpPr>
            <p:cNvPr id="83" name="Line 83"/>
            <p:cNvSpPr/>
            <p:nvPr/>
          </p:nvSpPr>
          <p:spPr>
            <a:xfrm>
              <a:off x="5295900" y="4991100"/>
              <a:ext cx="2705100" cy="9525"/>
            </a:xfrm>
            <a:custGeom>
              <a:avLst/>
              <a:gdLst/>
              <a:ahLst/>
              <a:cxnLst/>
              <a:rect l="l" t="t" r="r" b="b"/>
              <a:pathLst>
                <a:path w="2705100" h="9525">
                  <a:moveTo>
                    <a:pt x="0" y="0"/>
                  </a:moveTo>
                  <a:lnTo>
                    <a:pt x="2705100" y="0"/>
                  </a:lnTo>
                </a:path>
              </a:pathLst>
            </a:custGeom>
            <a:noFill/>
            <a:ln w="9525">
              <a:solidFill>
                <a:srgbClr val="EEF1EC"/>
              </a:solidFill>
            </a:ln>
          </p:spPr>
        </p:sp>
        <p:sp>
          <p:nvSpPr>
            <p:cNvPr id="84" name="Line 84"/>
            <p:cNvSpPr/>
            <p:nvPr/>
          </p:nvSpPr>
          <p:spPr>
            <a:xfrm>
              <a:off x="5295900" y="5162550"/>
              <a:ext cx="2705100" cy="9525"/>
            </a:xfrm>
            <a:custGeom>
              <a:avLst/>
              <a:gdLst/>
              <a:ahLst/>
              <a:cxnLst/>
              <a:rect l="l" t="t" r="r" b="b"/>
              <a:pathLst>
                <a:path w="2705100" h="9525">
                  <a:moveTo>
                    <a:pt x="0" y="0"/>
                  </a:moveTo>
                  <a:lnTo>
                    <a:pt x="2705100" y="0"/>
                  </a:lnTo>
                </a:path>
              </a:pathLst>
            </a:custGeom>
            <a:noFill/>
            <a:ln w="9525">
              <a:solidFill>
                <a:srgbClr val="C9CFC6"/>
              </a:solidFill>
            </a:ln>
          </p:spPr>
        </p:sp>
        <p:sp>
          <p:nvSpPr>
            <p:cNvPr id="85" name="Polyline 85"/>
            <p:cNvSpPr/>
            <p:nvPr/>
          </p:nvSpPr>
          <p:spPr>
            <a:xfrm>
              <a:off x="5353050" y="4438650"/>
              <a:ext cx="2619375" cy="85725"/>
            </a:xfrm>
            <a:custGeom>
              <a:avLst/>
              <a:gdLst/>
              <a:ahLst/>
              <a:cxnLst/>
              <a:rect l="l" t="t" r="r" b="b"/>
              <a:pathLst>
                <a:path w="2619375" h="85725">
                  <a:moveTo>
                    <a:pt x="0" y="19050"/>
                  </a:moveTo>
                  <a:lnTo>
                    <a:pt x="238125" y="38100"/>
                  </a:lnTo>
                  <a:lnTo>
                    <a:pt x="476250" y="57150"/>
                  </a:lnTo>
                  <a:lnTo>
                    <a:pt x="714375" y="85725"/>
                  </a:lnTo>
                  <a:lnTo>
                    <a:pt x="952500" y="0"/>
                  </a:lnTo>
                  <a:lnTo>
                    <a:pt x="1190625" y="19050"/>
                  </a:lnTo>
                  <a:lnTo>
                    <a:pt x="1428750" y="57150"/>
                  </a:lnTo>
                  <a:lnTo>
                    <a:pt x="1666875" y="0"/>
                  </a:lnTo>
                  <a:lnTo>
                    <a:pt x="1905000" y="19050"/>
                  </a:lnTo>
                  <a:lnTo>
                    <a:pt x="2143125" y="19050"/>
                  </a:lnTo>
                  <a:lnTo>
                    <a:pt x="2381250" y="38100"/>
                  </a:lnTo>
                  <a:lnTo>
                    <a:pt x="2619375" y="19050"/>
                  </a:lnTo>
                </a:path>
              </a:pathLst>
            </a:custGeom>
            <a:noFill/>
            <a:ln w="17145">
              <a:solidFill>
                <a:srgbClr val="9C594C"/>
              </a:solidFill>
            </a:ln>
          </p:spPr>
        </p:sp>
        <p:sp>
          <p:nvSpPr>
            <p:cNvPr id="86" name="Polyline 86"/>
            <p:cNvSpPr/>
            <p:nvPr/>
          </p:nvSpPr>
          <p:spPr>
            <a:xfrm>
              <a:off x="5353050" y="4495800"/>
              <a:ext cx="2619375" cy="409575"/>
            </a:xfrm>
            <a:custGeom>
              <a:avLst/>
              <a:gdLst/>
              <a:ahLst/>
              <a:cxnLst/>
              <a:rect l="l" t="t" r="r" b="b"/>
              <a:pathLst>
                <a:path w="2619375" h="409575">
                  <a:moveTo>
                    <a:pt x="0" y="0"/>
                  </a:moveTo>
                  <a:lnTo>
                    <a:pt x="238125" y="9525"/>
                  </a:lnTo>
                  <a:lnTo>
                    <a:pt x="476250" y="133350"/>
                  </a:lnTo>
                  <a:lnTo>
                    <a:pt x="714375" y="409575"/>
                  </a:lnTo>
                  <a:lnTo>
                    <a:pt x="952500" y="390525"/>
                  </a:lnTo>
                  <a:lnTo>
                    <a:pt x="1190625" y="352425"/>
                  </a:lnTo>
                  <a:lnTo>
                    <a:pt x="1428750" y="342900"/>
                  </a:lnTo>
                  <a:lnTo>
                    <a:pt x="1666875" y="390525"/>
                  </a:lnTo>
                  <a:lnTo>
                    <a:pt x="1905000" y="304800"/>
                  </a:lnTo>
                  <a:lnTo>
                    <a:pt x="2143125" y="342900"/>
                  </a:lnTo>
                  <a:lnTo>
                    <a:pt x="2381250" y="352425"/>
                  </a:lnTo>
                  <a:lnTo>
                    <a:pt x="2619375" y="219075"/>
                  </a:lnTo>
                </a:path>
              </a:pathLst>
            </a:custGeom>
            <a:noFill/>
            <a:ln w="17145">
              <a:solidFill>
                <a:srgbClr val="E9563C"/>
              </a:solidFill>
            </a:ln>
          </p:spPr>
        </p:sp>
        <p:sp>
          <p:nvSpPr>
            <p:cNvPr id="87" name="Rectangle 87"/>
            <p:cNvSpPr/>
            <p:nvPr/>
          </p:nvSpPr>
          <p:spPr>
            <a:xfrm>
              <a:off x="6572250" y="4133850"/>
              <a:ext cx="419100" cy="152400"/>
            </a:xfrm>
            <a:prstGeom prst="roundRect">
              <a:avLst>
                <a:gd name="adj" fmla="val 50000"/>
              </a:avLst>
            </a:prstGeom>
            <a:solidFill>
              <a:srgbClr val="9C594C"/>
            </a:solidFill>
            <a:ln>
              <a:noFill/>
            </a:ln>
          </p:spPr>
        </p:sp>
        <p:sp>
          <p:nvSpPr>
            <p:cNvPr id="88" name="TextBox 88"/>
            <p:cNvSpPr txBox="1"/>
            <p:nvPr/>
          </p:nvSpPr>
          <p:spPr>
            <a:xfrm>
              <a:off x="6673649" y="4179332"/>
              <a:ext cx="216301"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+78%</a:t>
              </a:r>
            </a:p>
          </p:txBody>
        </p:sp>
        <p:sp>
          <p:nvSpPr>
            <p:cNvPr id="89" name="TextBox 89"/>
            <p:cNvSpPr txBox="1"/>
            <p:nvPr/>
          </p:nvSpPr>
          <p:spPr>
            <a:xfrm>
              <a:off x="5269832" y="5258276"/>
              <a:ext cx="166436"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Jan​</a:t>
              </a:r>
            </a:p>
          </p:txBody>
        </p:sp>
        <p:sp>
          <p:nvSpPr>
            <p:cNvPr id="90" name="TextBox 90"/>
            <p:cNvSpPr txBox="1"/>
            <p:nvPr/>
          </p:nvSpPr>
          <p:spPr>
            <a:xfrm>
              <a:off x="5507957" y="5258276"/>
              <a:ext cx="166436"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Feb​</a:t>
              </a:r>
            </a:p>
          </p:txBody>
        </p:sp>
        <p:sp>
          <p:nvSpPr>
            <p:cNvPr id="91" name="TextBox 91"/>
            <p:cNvSpPr txBox="1"/>
            <p:nvPr/>
          </p:nvSpPr>
          <p:spPr>
            <a:xfrm>
              <a:off x="5738950" y="5258276"/>
              <a:ext cx="180701"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Mar​</a:t>
              </a:r>
            </a:p>
          </p:txBody>
        </p:sp>
        <p:sp>
          <p:nvSpPr>
            <p:cNvPr id="92" name="TextBox 92"/>
            <p:cNvSpPr txBox="1"/>
            <p:nvPr/>
          </p:nvSpPr>
          <p:spPr>
            <a:xfrm>
              <a:off x="5984207" y="5258276"/>
              <a:ext cx="166436"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Apr​</a:t>
              </a:r>
            </a:p>
          </p:txBody>
        </p:sp>
        <p:sp>
          <p:nvSpPr>
            <p:cNvPr id="93" name="TextBox 93"/>
            <p:cNvSpPr txBox="1"/>
            <p:nvPr/>
          </p:nvSpPr>
          <p:spPr>
            <a:xfrm>
              <a:off x="6215200" y="5258276"/>
              <a:ext cx="180701"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May​</a:t>
              </a:r>
            </a:p>
          </p:txBody>
        </p:sp>
        <p:sp>
          <p:nvSpPr>
            <p:cNvPr id="94" name="TextBox 94"/>
            <p:cNvSpPr txBox="1"/>
            <p:nvPr/>
          </p:nvSpPr>
          <p:spPr>
            <a:xfrm>
              <a:off x="6460457" y="5258276"/>
              <a:ext cx="166436"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Jun​</a:t>
              </a:r>
            </a:p>
          </p:txBody>
        </p:sp>
        <p:sp>
          <p:nvSpPr>
            <p:cNvPr id="95" name="TextBox 95"/>
            <p:cNvSpPr txBox="1"/>
            <p:nvPr/>
          </p:nvSpPr>
          <p:spPr>
            <a:xfrm>
              <a:off x="6707497" y="5258276"/>
              <a:ext cx="148605"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Jul​</a:t>
              </a:r>
            </a:p>
          </p:txBody>
        </p:sp>
        <p:sp>
          <p:nvSpPr>
            <p:cNvPr id="96" name="TextBox 96"/>
            <p:cNvSpPr txBox="1"/>
            <p:nvPr/>
          </p:nvSpPr>
          <p:spPr>
            <a:xfrm>
              <a:off x="6936707" y="5258276"/>
              <a:ext cx="166436"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Aug​</a:t>
              </a:r>
            </a:p>
          </p:txBody>
        </p:sp>
        <p:sp>
          <p:nvSpPr>
            <p:cNvPr id="97" name="TextBox 97"/>
            <p:cNvSpPr txBox="1"/>
            <p:nvPr/>
          </p:nvSpPr>
          <p:spPr>
            <a:xfrm>
              <a:off x="7174832" y="5258276"/>
              <a:ext cx="166436"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Sep​</a:t>
              </a:r>
            </a:p>
          </p:txBody>
        </p:sp>
        <p:sp>
          <p:nvSpPr>
            <p:cNvPr id="98" name="TextBox 98"/>
            <p:cNvSpPr txBox="1"/>
            <p:nvPr/>
          </p:nvSpPr>
          <p:spPr>
            <a:xfrm>
              <a:off x="7405825" y="5258276"/>
              <a:ext cx="180701"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Oct​</a:t>
              </a:r>
            </a:p>
          </p:txBody>
        </p:sp>
        <p:sp>
          <p:nvSpPr>
            <p:cNvPr id="99" name="TextBox 99"/>
            <p:cNvSpPr txBox="1"/>
            <p:nvPr/>
          </p:nvSpPr>
          <p:spPr>
            <a:xfrm>
              <a:off x="7651082" y="5258276"/>
              <a:ext cx="166436"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Nov​</a:t>
              </a:r>
            </a:p>
          </p:txBody>
        </p:sp>
        <p:sp>
          <p:nvSpPr>
            <p:cNvPr id="100" name="TextBox 100"/>
            <p:cNvSpPr txBox="1"/>
            <p:nvPr/>
          </p:nvSpPr>
          <p:spPr>
            <a:xfrm>
              <a:off x="7889207" y="5258276"/>
              <a:ext cx="166436" cy="104775"/>
            </a:xfrm>
            <a:prstGeom prst="rect">
              <a:avLst/>
            </a:prstGeom>
            <a:noFill/>
            <a:ln>
              <a:noFill/>
            </a:ln>
          </p:spPr>
          <p:txBody>
            <a:bodyPr wrap="none" lIns="0" tIns="0" rIns="0" bIns="0" anchor="t" anchorCtr="0">
              <a:spAutoFit/>
            </a:bodyPr>
            <a:lstStyle/>
            <a:p>
              <a:pPr algn="ctr"/>
              <a:r>
                <a:rPr lang="en-US" sz="520" dirty="0">
                  <a:solidFill>
                    <a:srgbClr val="8C8C8C"/>
                  </a:solidFill>
                  <a:latin typeface="+mn-lt"/>
                  <a:ea typeface="+mn-ea"/>
                  <a:cs typeface="+mn-cs"/>
                </a:rPr>
                <a:t>Dec​</a:t>
              </a:r>
            </a:p>
          </p:txBody>
        </p:sp>
      </p:grpSp>
      <p:grpSp>
        <p:nvGrpSpPr>
          <p:cNvPr id="121" name="ages-card"/>
          <p:cNvGrpSpPr/>
          <p:nvPr/>
        </p:nvGrpSpPr>
        <p:grpSpPr>
          <a:xfrm>
            <a:off x="8477250" y="3638550"/>
            <a:ext cx="3333750" cy="1809750"/>
            <a:chOff x="8477250" y="3638550"/>
            <a:chExt cx="3333750" cy="1809750"/>
          </a:xfrm>
        </p:grpSpPr>
        <p:sp>
          <p:nvSpPr>
            <p:cNvPr id="102" name="Rectangle 102"/>
            <p:cNvSpPr/>
            <p:nvPr/>
          </p:nvSpPr>
          <p:spPr>
            <a:xfrm>
              <a:off x="8477250" y="3638550"/>
              <a:ext cx="3333750" cy="1809750"/>
            </a:xfrm>
            <a:prstGeom prst="rect">
              <a:avLst/>
            </a:prstGeom>
            <a:solidFill>
              <a:srgbClr val="FFFFFF"/>
            </a:solidFill>
            <a:ln w="11430">
              <a:solidFill>
                <a:srgbClr val="E8B5AC"/>
              </a:solidFill>
              <a:custDash>
                <a:ds d="416667" sp="250000"/>
              </a:custDash>
            </a:ln>
          </p:spPr>
        </p:sp>
        <p:sp>
          <p:nvSpPr>
            <p:cNvPr id="103" name="Ellipse 103"/>
            <p:cNvSpPr/>
            <p:nvPr/>
          </p:nvSpPr>
          <p:spPr>
            <a:xfrm>
              <a:off x="8562975" y="3790950"/>
              <a:ext cx="304800" cy="304800"/>
            </a:xfrm>
            <a:prstGeom prst="ellipse">
              <a:avLst/>
            </a:prstGeom>
            <a:solidFill>
              <a:srgbClr val="F7B9AE"/>
            </a:solidFill>
            <a:ln>
              <a:noFill/>
            </a:ln>
          </p:spPr>
        </p:sp>
        <p:grpSp>
          <p:nvGrpSpPr>
            <p:cNvPr id="108" name="Group 108"/>
            <p:cNvGrpSpPr/>
            <p:nvPr/>
          </p:nvGrpSpPr>
          <p:grpSpPr>
            <a:xfrm>
              <a:off x="8643937" y="3871912"/>
              <a:ext cx="142875" cy="142875"/>
              <a:chOff x="8643937" y="3871912"/>
              <a:chExt cx="142875" cy="142875"/>
            </a:xfrm>
          </p:grpSpPr>
          <p:sp>
            <p:nvSpPr>
              <p:cNvPr id="104" name="Freeform 104"/>
              <p:cNvSpPr/>
              <p:nvPr/>
            </p:nvSpPr>
            <p:spPr>
              <a:xfrm>
                <a:off x="8659812" y="38719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D6391E"/>
                </a:solidFill>
              </a:ln>
            </p:spPr>
          </p:sp>
          <p:sp>
            <p:nvSpPr>
              <p:cNvPr id="105" name="Freeform 105"/>
              <p:cNvSpPr/>
              <p:nvPr/>
            </p:nvSpPr>
            <p:spPr>
              <a:xfrm>
                <a:off x="8643937" y="39671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D6391E"/>
                </a:solidFill>
              </a:ln>
            </p:spPr>
          </p:sp>
          <p:sp>
            <p:nvSpPr>
              <p:cNvPr id="106" name="Freeform 106"/>
              <p:cNvSpPr/>
              <p:nvPr/>
            </p:nvSpPr>
            <p:spPr>
              <a:xfrm>
                <a:off x="8747125" y="38729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D6391E"/>
                </a:solidFill>
              </a:ln>
            </p:spPr>
          </p:sp>
          <p:sp>
            <p:nvSpPr>
              <p:cNvPr id="107" name="Freeform 107"/>
              <p:cNvSpPr/>
              <p:nvPr/>
            </p:nvSpPr>
            <p:spPr>
              <a:xfrm>
                <a:off x="8763000" y="39683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D6391E"/>
                </a:solidFill>
              </a:ln>
            </p:spPr>
          </p:sp>
        </p:grpSp>
        <p:sp>
          <p:nvSpPr>
            <p:cNvPr id="109" name="TextBox 109"/>
            <p:cNvSpPr txBox="1"/>
            <p:nvPr/>
          </p:nvSpPr>
          <p:spPr>
            <a:xfrm>
              <a:off x="8947785" y="3850481"/>
              <a:ext cx="765302" cy="220028"/>
            </a:xfrm>
            <a:prstGeom prst="rect">
              <a:avLst/>
            </a:prstGeom>
            <a:noFill/>
            <a:ln>
              <a:noFill/>
            </a:ln>
          </p:spPr>
          <p:txBody>
            <a:bodyPr wrap="none" lIns="0" tIns="0" rIns="0" bIns="0" anchor="t" anchorCtr="0">
              <a:spAutoFit/>
            </a:bodyPr>
            <a:lstStyle/>
            <a:p>
              <a:pPr algn="l"/>
              <a:r>
                <a:rPr lang="zh-CN" sz="1120" b="1" dirty="0">
                  <a:solidFill>
                    <a:srgbClr val="333333"/>
                  </a:solidFill>
                  <a:latin typeface="+mn-lt"/>
                  <a:ea typeface="+mn-ea"/>
                  <a:cs typeface="+mn-cs"/>
                </a:rPr>
                <a:t>按年龄划分</a:t>
              </a:r>
            </a:p>
          </p:txBody>
        </p:sp>
        <p:sp>
          <p:nvSpPr>
            <p:cNvPr id="110" name="TextBox 110"/>
            <p:cNvSpPr txBox="1"/>
            <p:nvPr/>
          </p:nvSpPr>
          <p:spPr>
            <a:xfrm>
              <a:off x="8948738" y="4036457"/>
              <a:ext cx="420192" cy="126206"/>
            </a:xfrm>
            <a:prstGeom prst="rect">
              <a:avLst/>
            </a:prstGeom>
            <a:noFill/>
            <a:ln>
              <a:noFill/>
            </a:ln>
          </p:spPr>
          <p:txBody>
            <a:bodyPr wrap="none" lIns="0" tIns="0" rIns="0" bIns="0" anchor="t" anchorCtr="0">
              <a:spAutoFit/>
            </a:bodyPr>
            <a:lstStyle/>
            <a:p>
              <a:pPr algn="l"/>
              <a:r>
                <a:rPr lang="en-US" sz="640" dirty="0">
                  <a:solidFill>
                    <a:srgbClr val="8C8C8C"/>
                  </a:solidFill>
                  <a:latin typeface="+mn-lt"/>
                  <a:ea typeface="+mn-ea"/>
                  <a:cs typeface="+mn-cs"/>
                </a:rPr>
                <a:t>User Ages</a:t>
              </a:r>
            </a:p>
          </p:txBody>
        </p:sp>
        <p:sp>
          <p:nvSpPr>
            <p:cNvPr id="111" name="Ellipse 111"/>
            <p:cNvSpPr/>
            <p:nvPr/>
          </p:nvSpPr>
          <p:spPr>
            <a:xfrm>
              <a:off x="8677275" y="4257675"/>
              <a:ext cx="95250" cy="95250"/>
            </a:xfrm>
            <a:prstGeom prst="ellipse">
              <a:avLst/>
            </a:prstGeom>
            <a:solidFill>
              <a:srgbClr val="9C594C"/>
            </a:solidFill>
            <a:ln>
              <a:noFill/>
            </a:ln>
          </p:spPr>
        </p:sp>
        <p:sp>
          <p:nvSpPr>
            <p:cNvPr id="112" name="TextBox 112"/>
            <p:cNvSpPr txBox="1"/>
            <p:nvPr/>
          </p:nvSpPr>
          <p:spPr>
            <a:xfrm>
              <a:off x="8834438" y="4270534"/>
              <a:ext cx="964408" cy="133350"/>
            </a:xfrm>
            <a:prstGeom prst="rect">
              <a:avLst/>
            </a:prstGeom>
            <a:noFill/>
            <a:ln>
              <a:noFill/>
            </a:ln>
          </p:spPr>
          <p:txBody>
            <a:bodyPr wrap="none" lIns="0" tIns="0" rIns="0" bIns="0" anchor="t" anchorCtr="0">
              <a:spAutoFit/>
            </a:bodyPr>
            <a:lstStyle/>
            <a:p>
              <a:pPr algn="l"/>
              <a:r>
                <a:rPr lang="zh-CN" sz="680" dirty="0">
                  <a:solidFill>
                    <a:srgbClr val="333333"/>
                  </a:solidFill>
                  <a:latin typeface="+mn-lt"/>
                  <a:ea typeface="+mn-ea"/>
                  <a:cs typeface="+mn-cs"/>
                </a:rPr>
                <a:t>C端项目 个人项目作品​</a:t>
              </a:r>
            </a:p>
          </p:txBody>
        </p:sp>
        <p:sp>
          <p:nvSpPr>
            <p:cNvPr id="113" name="Ellipse 113"/>
            <p:cNvSpPr/>
            <p:nvPr/>
          </p:nvSpPr>
          <p:spPr>
            <a:xfrm>
              <a:off x="8677275" y="4505325"/>
              <a:ext cx="95250" cy="95250"/>
            </a:xfrm>
            <a:prstGeom prst="ellipse">
              <a:avLst/>
            </a:prstGeom>
            <a:solidFill>
              <a:srgbClr val="E9563C"/>
            </a:solidFill>
            <a:ln>
              <a:noFill/>
            </a:ln>
          </p:spPr>
        </p:sp>
        <p:sp>
          <p:nvSpPr>
            <p:cNvPr id="114" name="TextBox 114"/>
            <p:cNvSpPr txBox="1"/>
            <p:nvPr/>
          </p:nvSpPr>
          <p:spPr>
            <a:xfrm>
              <a:off x="8834438" y="4518184"/>
              <a:ext cx="113220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333333"/>
                  </a:solidFill>
                  <a:latin typeface="+mn-lt"/>
                  <a:ea typeface="+mn-ea"/>
                  <a:cs typeface="+mn-cs"/>
                </a:rPr>
                <a:t>针对用户实际工作场景中多</a:t>
              </a:r>
              <a:br/>
              <a:r>
                <a:rPr lang="zh-CN" sz="680" dirty="0">
                  <a:solidFill>
                    <a:srgbClr val="333333"/>
                  </a:solidFill>
                  <a:latin typeface="+mn-lt"/>
                  <a:ea typeface="+mn-ea"/>
                  <a:cs typeface="+mn-cs"/>
                </a:rPr>
                <a:t>样的项目需求，区别于传统。</a:t>
              </a:r>
            </a:p>
          </p:txBody>
        </p:sp>
        <p:sp>
          <p:nvSpPr>
            <p:cNvPr id="115" name="Ellipse 115"/>
            <p:cNvSpPr/>
            <p:nvPr/>
          </p:nvSpPr>
          <p:spPr>
            <a:xfrm>
              <a:off x="8677275" y="4886325"/>
              <a:ext cx="95250" cy="95250"/>
            </a:xfrm>
            <a:prstGeom prst="ellipse">
              <a:avLst/>
            </a:prstGeom>
            <a:solidFill>
              <a:srgbClr val="C8E0B8"/>
            </a:solidFill>
            <a:ln>
              <a:noFill/>
            </a:ln>
          </p:spPr>
        </p:sp>
        <p:sp>
          <p:nvSpPr>
            <p:cNvPr id="116" name="TextBox 116"/>
            <p:cNvSpPr txBox="1"/>
            <p:nvPr/>
          </p:nvSpPr>
          <p:spPr>
            <a:xfrm>
              <a:off x="8834438" y="4899184"/>
              <a:ext cx="1132205" cy="257175"/>
            </a:xfrm>
            <a:prstGeom prst="rect">
              <a:avLst/>
            </a:prstGeom>
            <a:noFill/>
            <a:ln>
              <a:noFill/>
            </a:ln>
          </p:spPr>
          <p:txBody>
            <a:bodyPr wrap="none" lIns="0" tIns="0" rIns="0" bIns="0" anchor="t" anchorCtr="0">
              <a:spAutoFit/>
            </a:bodyPr>
            <a:lstStyle/>
            <a:p>
              <a:pPr algn="l">
                <a:lnSpc>
                  <a:spcPts val="975"/>
                </a:lnSpc>
              </a:pPr>
              <a:r>
                <a:rPr lang="zh-CN" sz="680" dirty="0">
                  <a:solidFill>
                    <a:srgbClr val="333333"/>
                  </a:solidFill>
                  <a:latin typeface="+mn-lt"/>
                  <a:ea typeface="+mn-ea"/>
                  <a:cs typeface="+mn-cs"/>
                </a:rPr>
                <a:t>针对用户实际工作场景中多</a:t>
              </a:r>
              <a:br/>
              <a:r>
                <a:rPr lang="zh-CN" sz="680" dirty="0">
                  <a:solidFill>
                    <a:srgbClr val="333333"/>
                  </a:solidFill>
                  <a:latin typeface="+mn-lt"/>
                  <a:ea typeface="+mn-ea"/>
                  <a:cs typeface="+mn-cs"/>
                </a:rPr>
                <a:t>样的项目需求，区别于传统。</a:t>
              </a:r>
            </a:p>
          </p:txBody>
        </p:sp>
        <p:sp>
          <p:nvSpPr>
            <p:cNvPr id="117" name="Ellipse 117"/>
            <p:cNvSpPr/>
            <p:nvPr/>
          </p:nvSpPr>
          <p:spPr>
            <a:xfrm>
              <a:off x="10725150" y="4152900"/>
              <a:ext cx="647700" cy="647700"/>
            </a:xfrm>
            <a:prstGeom prst="ellipse">
              <a:avLst/>
            </a:prstGeom>
            <a:noFill/>
            <a:ln w="114300">
              <a:solidFill>
                <a:srgbClr val="E5E9E2"/>
              </a:solidFill>
            </a:ln>
          </p:spPr>
        </p:sp>
        <p:sp>
          <p:nvSpPr>
            <p:cNvPr id="118" name="Freeform 118"/>
            <p:cNvSpPr/>
            <p:nvPr/>
          </p:nvSpPr>
          <p:spPr>
            <a:xfrm>
              <a:off x="10668000" y="4095750"/>
              <a:ext cx="762000" cy="762000"/>
            </a:xfrm>
            <a:prstGeom prst="blockArc">
              <a:avLst>
                <a:gd name="adj1" fmla="val 16200000"/>
                <a:gd name="adj2" fmla="val 10800000"/>
                <a:gd name="adj3" fmla="val 15000"/>
              </a:avLst>
            </a:prstGeom>
            <a:solidFill>
              <a:srgbClr val="E9563C"/>
            </a:solidFill>
            <a:ln>
              <a:noFill/>
            </a:ln>
          </p:spPr>
        </p:sp>
        <p:sp>
          <p:nvSpPr>
            <p:cNvPr id="119" name="TextBox 119"/>
            <p:cNvSpPr txBox="1"/>
            <p:nvPr/>
          </p:nvSpPr>
          <p:spPr>
            <a:xfrm>
              <a:off x="10855770" y="4396978"/>
              <a:ext cx="386461" cy="111919"/>
            </a:xfrm>
            <a:prstGeom prst="rect">
              <a:avLst/>
            </a:prstGeom>
            <a:noFill/>
            <a:ln>
              <a:noFill/>
            </a:ln>
          </p:spPr>
          <p:txBody>
            <a:bodyPr wrap="none" lIns="0" tIns="0" rIns="0" bIns="0" anchor="t" anchorCtr="0">
              <a:spAutoFit/>
            </a:bodyPr>
            <a:lstStyle/>
            <a:p>
              <a:pPr algn="ctr"/>
              <a:r>
                <a:rPr lang="zh-CN" sz="560" dirty="0">
                  <a:solidFill>
                    <a:srgbClr val="595959"/>
                  </a:solidFill>
                  <a:latin typeface="+mn-lt"/>
                  <a:ea typeface="+mn-ea"/>
                  <a:cs typeface="+mn-cs"/>
                </a:rPr>
                <a:t>网站访问量</a:t>
              </a:r>
            </a:p>
          </p:txBody>
        </p:sp>
        <p:sp>
          <p:nvSpPr>
            <p:cNvPr id="120" name="TextBox 120"/>
            <p:cNvSpPr txBox="1"/>
            <p:nvPr/>
          </p:nvSpPr>
          <p:spPr>
            <a:xfrm>
              <a:off x="10869316" y="4500562"/>
              <a:ext cx="359369"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13,056</a:t>
              </a:r>
            </a:p>
          </p:txBody>
        </p:sp>
      </p:grpSp>
      <p:grpSp>
        <p:nvGrpSpPr>
          <p:cNvPr id="135" name="phase-timeline"/>
          <p:cNvGrpSpPr/>
          <p:nvPr/>
        </p:nvGrpSpPr>
        <p:grpSpPr>
          <a:xfrm>
            <a:off x="4948238" y="5694045"/>
            <a:ext cx="6834187" cy="684371"/>
            <a:chOff x="4948238" y="5694045"/>
            <a:chExt cx="6834187" cy="684371"/>
          </a:xfrm>
        </p:grpSpPr>
        <p:sp>
          <p:nvSpPr>
            <p:cNvPr id="122" name="TextBox 122"/>
            <p:cNvSpPr txBox="1"/>
            <p:nvPr/>
          </p:nvSpPr>
          <p:spPr>
            <a:xfrm>
              <a:off x="4948238" y="5694045"/>
              <a:ext cx="494157" cy="176212"/>
            </a:xfrm>
            <a:prstGeom prst="rect">
              <a:avLst/>
            </a:prstGeom>
            <a:noFill/>
            <a:ln>
              <a:noFill/>
            </a:ln>
          </p:spPr>
          <p:txBody>
            <a:bodyPr wrap="none" lIns="0" tIns="0" rIns="0" bIns="0" anchor="t" anchorCtr="0">
              <a:spAutoFit/>
            </a:bodyPr>
            <a:lstStyle/>
            <a:p>
              <a:pPr algn="l"/>
              <a:r>
                <a:rPr lang="zh-CN" sz="900" b="1" dirty="0">
                  <a:solidFill>
                    <a:srgbClr val="7A3E33"/>
                  </a:solidFill>
                  <a:latin typeface="+mn-lt"/>
                  <a:ea typeface="+mn-ea"/>
                  <a:cs typeface="+mn-cs"/>
                </a:rPr>
                <a:t>项目启动</a:t>
              </a:r>
            </a:p>
          </p:txBody>
        </p:sp>
        <p:sp>
          <p:nvSpPr>
            <p:cNvPr id="123" name="Rectangle 123"/>
            <p:cNvSpPr/>
            <p:nvPr/>
          </p:nvSpPr>
          <p:spPr>
            <a:xfrm>
              <a:off x="5524500" y="6019800"/>
              <a:ext cx="6191250" cy="57150"/>
            </a:xfrm>
            <a:prstGeom prst="roundRect">
              <a:avLst>
                <a:gd name="adj" fmla="val 50000"/>
              </a:avLst>
            </a:prstGeom>
            <a:solidFill>
              <a:srgbClr val="E5E9E2"/>
            </a:solidFill>
            <a:ln>
              <a:noFill/>
            </a:ln>
          </p:spPr>
        </p:sp>
        <p:sp>
          <p:nvSpPr>
            <p:cNvPr id="124" name="Rectangle 124"/>
            <p:cNvSpPr/>
            <p:nvPr/>
          </p:nvSpPr>
          <p:spPr>
            <a:xfrm>
              <a:off x="5524500" y="6019800"/>
              <a:ext cx="3238500" cy="57150"/>
            </a:xfrm>
            <a:prstGeom prst="roundRect">
              <a:avLst>
                <a:gd name="adj" fmla="val 50000"/>
              </a:avLst>
            </a:prstGeom>
            <a:solidFill>
              <a:srgbClr val="9C594C"/>
            </a:solidFill>
            <a:ln>
              <a:noFill/>
            </a:ln>
          </p:spPr>
        </p:sp>
        <p:sp>
          <p:nvSpPr>
            <p:cNvPr id="125" name="Ellipse 125"/>
            <p:cNvSpPr/>
            <p:nvPr/>
          </p:nvSpPr>
          <p:spPr>
            <a:xfrm>
              <a:off x="5457825" y="5981700"/>
              <a:ext cx="133350" cy="133350"/>
            </a:xfrm>
            <a:prstGeom prst="ellipse">
              <a:avLst/>
            </a:prstGeom>
            <a:solidFill>
              <a:srgbClr val="9C594C"/>
            </a:solidFill>
            <a:ln>
              <a:noFill/>
            </a:ln>
          </p:spPr>
        </p:sp>
        <p:sp>
          <p:nvSpPr>
            <p:cNvPr id="126" name="Ellipse 126"/>
            <p:cNvSpPr/>
            <p:nvPr/>
          </p:nvSpPr>
          <p:spPr>
            <a:xfrm>
              <a:off x="7077075" y="5981700"/>
              <a:ext cx="133350" cy="133350"/>
            </a:xfrm>
            <a:prstGeom prst="ellipse">
              <a:avLst/>
            </a:prstGeom>
            <a:solidFill>
              <a:srgbClr val="9C594C"/>
            </a:solidFill>
            <a:ln>
              <a:noFill/>
            </a:ln>
          </p:spPr>
        </p:sp>
        <p:sp>
          <p:nvSpPr>
            <p:cNvPr id="127" name="Ellipse 127"/>
            <p:cNvSpPr/>
            <p:nvPr/>
          </p:nvSpPr>
          <p:spPr>
            <a:xfrm>
              <a:off x="8696325" y="5981700"/>
              <a:ext cx="133350" cy="133350"/>
            </a:xfrm>
            <a:prstGeom prst="ellipse">
              <a:avLst/>
            </a:prstGeom>
            <a:solidFill>
              <a:srgbClr val="FFFFFF"/>
            </a:solidFill>
            <a:ln w="19050">
              <a:solidFill>
                <a:srgbClr val="9C594C"/>
              </a:solidFill>
            </a:ln>
          </p:spPr>
        </p:sp>
        <p:sp>
          <p:nvSpPr>
            <p:cNvPr id="128" name="Ellipse 128"/>
            <p:cNvSpPr/>
            <p:nvPr/>
          </p:nvSpPr>
          <p:spPr>
            <a:xfrm>
              <a:off x="10220325" y="5981700"/>
              <a:ext cx="133350" cy="133350"/>
            </a:xfrm>
            <a:prstGeom prst="ellipse">
              <a:avLst/>
            </a:prstGeom>
            <a:solidFill>
              <a:srgbClr val="FFFFFF"/>
            </a:solidFill>
            <a:ln w="19050">
              <a:solidFill>
                <a:srgbClr val="E9563C"/>
              </a:solidFill>
            </a:ln>
          </p:spPr>
        </p:sp>
        <p:sp>
          <p:nvSpPr>
            <p:cNvPr id="129" name="Ellipse 129"/>
            <p:cNvSpPr/>
            <p:nvPr/>
          </p:nvSpPr>
          <p:spPr>
            <a:xfrm>
              <a:off x="11649075" y="5981700"/>
              <a:ext cx="133350" cy="133350"/>
            </a:xfrm>
            <a:prstGeom prst="ellipse">
              <a:avLst/>
            </a:prstGeom>
            <a:solidFill>
              <a:srgbClr val="FFFFFF"/>
            </a:solidFill>
            <a:ln w="19050">
              <a:solidFill>
                <a:srgbClr val="E9563C"/>
              </a:solidFill>
            </a:ln>
          </p:spPr>
        </p:sp>
        <p:sp>
          <p:nvSpPr>
            <p:cNvPr id="130" name="TextBox 130"/>
            <p:cNvSpPr txBox="1"/>
            <p:nvPr/>
          </p:nvSpPr>
          <p:spPr>
            <a:xfrm>
              <a:off x="5409349" y="6216491"/>
              <a:ext cx="23030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开始</a:t>
              </a:r>
            </a:p>
          </p:txBody>
        </p:sp>
        <p:sp>
          <p:nvSpPr>
            <p:cNvPr id="131" name="TextBox 131"/>
            <p:cNvSpPr txBox="1"/>
            <p:nvPr/>
          </p:nvSpPr>
          <p:spPr>
            <a:xfrm>
              <a:off x="7028599" y="6216491"/>
              <a:ext cx="23030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规划</a:t>
              </a:r>
            </a:p>
          </p:txBody>
        </p:sp>
        <p:sp>
          <p:nvSpPr>
            <p:cNvPr id="132" name="TextBox 132"/>
            <p:cNvSpPr txBox="1"/>
            <p:nvPr/>
          </p:nvSpPr>
          <p:spPr>
            <a:xfrm>
              <a:off x="8647849" y="6216491"/>
              <a:ext cx="23030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执行</a:t>
              </a:r>
            </a:p>
          </p:txBody>
        </p:sp>
        <p:sp>
          <p:nvSpPr>
            <p:cNvPr id="133" name="TextBox 133"/>
            <p:cNvSpPr txBox="1"/>
            <p:nvPr/>
          </p:nvSpPr>
          <p:spPr>
            <a:xfrm>
              <a:off x="10171849" y="6216491"/>
              <a:ext cx="230302" cy="161925"/>
            </a:xfrm>
            <a:prstGeom prst="rect">
              <a:avLst/>
            </a:prstGeom>
            <a:noFill/>
            <a:ln>
              <a:noFill/>
            </a:ln>
          </p:spPr>
          <p:txBody>
            <a:bodyPr wrap="none" lIns="0" tIns="0" rIns="0" bIns="0" anchor="t" anchorCtr="0">
              <a:spAutoFit/>
            </a:bodyPr>
            <a:lstStyle/>
            <a:p>
              <a:pPr algn="ctr"/>
              <a:r>
                <a:rPr lang="zh-CN" sz="820" dirty="0">
                  <a:solidFill>
                    <a:srgbClr val="333333"/>
                  </a:solidFill>
                  <a:latin typeface="+mn-lt"/>
                  <a:ea typeface="+mn-ea"/>
                  <a:cs typeface="+mn-cs"/>
                </a:rPr>
                <a:t>性能</a:t>
              </a:r>
            </a:p>
          </p:txBody>
        </p:sp>
        <p:sp>
          <p:nvSpPr>
            <p:cNvPr id="134" name="TextBox 134"/>
            <p:cNvSpPr txBox="1"/>
            <p:nvPr/>
          </p:nvSpPr>
          <p:spPr>
            <a:xfrm>
              <a:off x="11547361" y="6216491"/>
              <a:ext cx="230302" cy="161925"/>
            </a:xfrm>
            <a:prstGeom prst="rect">
              <a:avLst/>
            </a:prstGeom>
            <a:noFill/>
            <a:ln>
              <a:noFill/>
            </a:ln>
          </p:spPr>
          <p:txBody>
            <a:bodyPr wrap="none" lIns="0" tIns="0" rIns="0" bIns="0" anchor="t" anchorCtr="0">
              <a:spAutoFit/>
            </a:bodyPr>
            <a:lstStyle/>
            <a:p>
              <a:pPr algn="r"/>
              <a:r>
                <a:rPr lang="zh-CN" sz="820" dirty="0">
                  <a:solidFill>
                    <a:srgbClr val="333333"/>
                  </a:solidFill>
                  <a:latin typeface="+mn-lt"/>
                  <a:ea typeface="+mn-ea"/>
                  <a:cs typeface="+mn-cs"/>
                </a:rPr>
                <a:t>关闭</a:t>
              </a:r>
            </a:p>
          </p:txBody>
        </p:sp>
      </p:grpSp>
      <p:grpSp>
        <p:nvGrpSpPr>
          <p:cNvPr id="138" name="page-footer"/>
          <p:cNvGrpSpPr/>
          <p:nvPr/>
        </p:nvGrpSpPr>
        <p:grpSpPr>
          <a:xfrm>
            <a:off x="376238" y="6689884"/>
            <a:ext cx="11439524" cy="133350"/>
            <a:chOff x="376238" y="6689884"/>
            <a:chExt cx="11439524" cy="133350"/>
          </a:xfrm>
        </p:grpSpPr>
        <p:sp>
          <p:nvSpPr>
            <p:cNvPr id="136" name="TextBox 136"/>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37" name="TextBox 137"/>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7" name="page-header"/>
          <p:cNvGrpSpPr/>
          <p:nvPr/>
        </p:nvGrpSpPr>
        <p:grpSpPr>
          <a:xfrm>
            <a:off x="0" y="0"/>
            <a:ext cx="11817477" cy="561404"/>
            <a:chOff x="0" y="0"/>
            <a:chExt cx="11817477"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9C594C"/>
            </a:solidFill>
            <a:ln>
              <a:noFill/>
            </a:ln>
          </p:spPr>
        </p:sp>
        <p:sp>
          <p:nvSpPr>
            <p:cNvPr id="3" name="TextBox 3"/>
            <p:cNvSpPr txBox="1"/>
            <p:nvPr/>
          </p:nvSpPr>
          <p:spPr>
            <a:xfrm>
              <a:off x="18573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33</a:t>
              </a:r>
            </a:p>
          </p:txBody>
        </p:sp>
        <p:sp>
          <p:nvSpPr>
            <p:cNvPr id="4" name="TextBox 4"/>
            <p:cNvSpPr txBox="1"/>
            <p:nvPr/>
          </p:nvSpPr>
          <p:spPr>
            <a:xfrm>
              <a:off x="904494" y="180023"/>
              <a:ext cx="6081293" cy="381381"/>
            </a:xfrm>
            <a:prstGeom prst="rect">
              <a:avLst/>
            </a:prstGeom>
            <a:noFill/>
            <a:ln>
              <a:noFill/>
            </a:ln>
          </p:spPr>
          <p:txBody>
            <a:bodyPr wrap="none" lIns="0" tIns="0" rIns="0" bIns="0" anchor="t" anchorCtr="0">
              <a:spAutoFit/>
            </a:bodyPr>
            <a:lstStyle/>
            <a:p>
              <a:pPr algn="l"/>
              <a:r>
                <a:rPr lang="zh-CN" sz="1950" b="1" dirty="0">
                  <a:solidFill>
                    <a:srgbClr val="262626"/>
                  </a:solidFill>
                  <a:latin typeface="+mn-lt"/>
                  <a:ea typeface="+mn-ea"/>
                  <a:cs typeface="+mn-cs"/>
                </a:rPr>
                <a:t>通用逻辑架构图PPT系列｜</a:t>
              </a:r>
              <a:r>
                <a:rPr lang="zh-CN" sz="1950" b="1" dirty="0">
                  <a:solidFill>
                    <a:srgbClr val="9C594C"/>
                  </a:solidFill>
                  <a:latin typeface="+mn-lt"/>
                  <a:ea typeface="+mn-ea"/>
                  <a:cs typeface="+mn-cs"/>
                </a:rPr>
                <a:t>营销 商务 调研 分析 汇报</a:t>
              </a:r>
            </a:p>
          </p:txBody>
        </p:sp>
        <p:sp>
          <p:nvSpPr>
            <p:cNvPr id="5" name="TextBox 5"/>
            <p:cNvSpPr txBox="1"/>
            <p:nvPr/>
          </p:nvSpPr>
          <p:spPr>
            <a:xfrm>
              <a:off x="11383948" y="252889"/>
              <a:ext cx="433529" cy="249364"/>
            </a:xfrm>
            <a:prstGeom prst="rect">
              <a:avLst/>
            </a:prstGeom>
            <a:noFill/>
            <a:ln>
              <a:noFill/>
            </a:ln>
          </p:spPr>
          <p:txBody>
            <a:bodyPr wrap="none" lIns="0" tIns="0" rIns="0" bIns="0" anchor="t" anchorCtr="0">
              <a:spAutoFit/>
            </a:bodyPr>
            <a:lstStyle/>
            <a:p>
              <a:pPr algn="r"/>
              <a:r>
                <a:rPr lang="en-US" sz="1280" b="1" dirty="0">
                  <a:solidFill>
                    <a:srgbClr val="E9563C"/>
                  </a:solidFill>
                  <a:latin typeface="+mn-lt"/>
                  <a:ea typeface="+mn-ea"/>
                  <a:cs typeface="+mn-cs"/>
                </a:rPr>
                <a:t>Z001</a:t>
              </a:r>
            </a:p>
          </p:txBody>
        </p:sp>
        <p:sp>
          <p:nvSpPr>
            <p:cNvPr id="6" name="Line 6"/>
            <p:cNvSpPr/>
            <p:nvPr/>
          </p:nvSpPr>
          <p:spPr>
            <a:xfrm>
              <a:off x="914400" y="533400"/>
              <a:ext cx="10896600" cy="9525"/>
            </a:xfrm>
            <a:custGeom>
              <a:avLst/>
              <a:gdLst/>
              <a:ahLst/>
              <a:cxnLst/>
              <a:rect l="l" t="t" r="r" b="b"/>
              <a:pathLst>
                <a:path w="10896600" h="9525">
                  <a:moveTo>
                    <a:pt x="0" y="0"/>
                  </a:moveTo>
                  <a:lnTo>
                    <a:pt x="10896600" y="0"/>
                  </a:lnTo>
                </a:path>
              </a:pathLst>
            </a:custGeom>
            <a:noFill/>
            <a:ln w="19050">
              <a:solidFill>
                <a:srgbClr val="9C594C"/>
              </a:solidFill>
            </a:ln>
          </p:spPr>
        </p:sp>
      </p:grpSp>
      <p:grpSp>
        <p:nvGrpSpPr>
          <p:cNvPr id="24" name="top-band"/>
          <p:cNvGrpSpPr/>
          <p:nvPr/>
        </p:nvGrpSpPr>
        <p:grpSpPr>
          <a:xfrm>
            <a:off x="381000" y="952500"/>
            <a:ext cx="11430000" cy="381000"/>
            <a:chOff x="381000" y="952500"/>
            <a:chExt cx="11430000" cy="381000"/>
          </a:xfrm>
        </p:grpSpPr>
        <p:sp>
          <p:nvSpPr>
            <p:cNvPr id="8" name="Freeform 8"/>
            <p:cNvSpPr/>
            <p:nvPr/>
          </p:nvSpPr>
          <p:spPr>
            <a:xfrm>
              <a:off x="438150" y="952500"/>
              <a:ext cx="1866900" cy="381000"/>
            </a:xfrm>
            <a:prstGeom prst="homePlate">
              <a:avLst/>
            </a:prstGeom>
            <a:solidFill>
              <a:srgbClr val="E9563C"/>
            </a:solidFill>
            <a:ln>
              <a:noFill/>
            </a:ln>
          </p:spPr>
        </p:sp>
        <p:sp>
          <p:nvSpPr>
            <p:cNvPr id="9" name="Freeform 9"/>
            <p:cNvSpPr/>
            <p:nvPr/>
          </p:nvSpPr>
          <p:spPr>
            <a:xfrm>
              <a:off x="2324100" y="952500"/>
              <a:ext cx="4552950" cy="381000"/>
            </a:xfrm>
            <a:prstGeom prst="chevron">
              <a:avLst/>
            </a:prstGeom>
            <a:solidFill>
              <a:srgbClr val="9C594C"/>
            </a:solidFill>
            <a:ln>
              <a:noFill/>
            </a:ln>
          </p:spPr>
        </p:sp>
        <p:sp>
          <p:nvSpPr>
            <p:cNvPr id="10" name="Freeform 10"/>
            <p:cNvSpPr/>
            <p:nvPr/>
          </p:nvSpPr>
          <p:spPr>
            <a:xfrm>
              <a:off x="6896100" y="952500"/>
              <a:ext cx="2762250" cy="381000"/>
            </a:xfrm>
            <a:prstGeom prst="chevron">
              <a:avLst/>
            </a:prstGeom>
            <a:solidFill>
              <a:srgbClr val="E9563C"/>
            </a:solidFill>
            <a:ln>
              <a:noFill/>
            </a:ln>
          </p:spPr>
        </p:sp>
        <p:sp>
          <p:nvSpPr>
            <p:cNvPr id="11" name="Freeform 11"/>
            <p:cNvSpPr/>
            <p:nvPr/>
          </p:nvSpPr>
          <p:spPr>
            <a:xfrm>
              <a:off x="9677400" y="952500"/>
              <a:ext cx="2133600" cy="381000"/>
            </a:xfrm>
            <a:prstGeom prst="chevron">
              <a:avLst/>
            </a:prstGeom>
            <a:solidFill>
              <a:srgbClr val="9C594C"/>
            </a:solidFill>
            <a:ln>
              <a:noFill/>
            </a:ln>
          </p:spPr>
        </p:sp>
        <p:sp>
          <p:nvSpPr>
            <p:cNvPr id="12" name="TextBox 12"/>
            <p:cNvSpPr txBox="1"/>
            <p:nvPr/>
          </p:nvSpPr>
          <p:spPr>
            <a:xfrm>
              <a:off x="1140714" y="10772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用户圈取</a:t>
              </a:r>
            </a:p>
          </p:txBody>
        </p:sp>
        <p:sp>
          <p:nvSpPr>
            <p:cNvPr id="13" name="TextBox 13"/>
            <p:cNvSpPr txBox="1"/>
            <p:nvPr/>
          </p:nvSpPr>
          <p:spPr>
            <a:xfrm>
              <a:off x="4379214" y="10772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深耕挖掘</a:t>
              </a:r>
            </a:p>
          </p:txBody>
        </p:sp>
        <p:sp>
          <p:nvSpPr>
            <p:cNvPr id="14" name="TextBox 14"/>
            <p:cNvSpPr txBox="1"/>
            <p:nvPr/>
          </p:nvSpPr>
          <p:spPr>
            <a:xfrm>
              <a:off x="8046339" y="10772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投放优化</a:t>
              </a:r>
            </a:p>
          </p:txBody>
        </p:sp>
        <p:sp>
          <p:nvSpPr>
            <p:cNvPr id="15" name="TextBox 15"/>
            <p:cNvSpPr txBox="1"/>
            <p:nvPr/>
          </p:nvSpPr>
          <p:spPr>
            <a:xfrm>
              <a:off x="10522839" y="107727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深耕挖掘</a:t>
              </a:r>
            </a:p>
          </p:txBody>
        </p:sp>
        <p:sp>
          <p:nvSpPr>
            <p:cNvPr id="16" name="Ellipse 16"/>
            <p:cNvSpPr/>
            <p:nvPr/>
          </p:nvSpPr>
          <p:spPr>
            <a:xfrm>
              <a:off x="381000" y="952500"/>
              <a:ext cx="342900" cy="342900"/>
            </a:xfrm>
            <a:prstGeom prst="ellipse">
              <a:avLst/>
            </a:prstGeom>
            <a:solidFill>
              <a:srgbClr val="F09180"/>
            </a:solidFill>
            <a:ln>
              <a:noFill/>
            </a:ln>
          </p:spPr>
        </p:sp>
        <p:sp>
          <p:nvSpPr>
            <p:cNvPr id="17" name="TextBox 17"/>
            <p:cNvSpPr txBox="1"/>
            <p:nvPr/>
          </p:nvSpPr>
          <p:spPr>
            <a:xfrm>
              <a:off x="506301" y="10677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1</a:t>
              </a:r>
            </a:p>
          </p:txBody>
        </p:sp>
        <p:sp>
          <p:nvSpPr>
            <p:cNvPr id="18" name="Ellipse 18"/>
            <p:cNvSpPr/>
            <p:nvPr/>
          </p:nvSpPr>
          <p:spPr>
            <a:xfrm>
              <a:off x="2286000" y="952500"/>
              <a:ext cx="342900" cy="342900"/>
            </a:xfrm>
            <a:prstGeom prst="ellipse">
              <a:avLst/>
            </a:prstGeom>
            <a:solidFill>
              <a:srgbClr val="8C4B3F"/>
            </a:solidFill>
            <a:ln>
              <a:noFill/>
            </a:ln>
          </p:spPr>
        </p:sp>
        <p:sp>
          <p:nvSpPr>
            <p:cNvPr id="19" name="TextBox 19"/>
            <p:cNvSpPr txBox="1"/>
            <p:nvPr/>
          </p:nvSpPr>
          <p:spPr>
            <a:xfrm>
              <a:off x="2411301" y="10677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a:t>
              </a:r>
            </a:p>
          </p:txBody>
        </p:sp>
        <p:sp>
          <p:nvSpPr>
            <p:cNvPr id="20" name="Ellipse 20"/>
            <p:cNvSpPr/>
            <p:nvPr/>
          </p:nvSpPr>
          <p:spPr>
            <a:xfrm>
              <a:off x="6858000" y="952500"/>
              <a:ext cx="342900" cy="342900"/>
            </a:xfrm>
            <a:prstGeom prst="ellipse">
              <a:avLst/>
            </a:prstGeom>
            <a:solidFill>
              <a:srgbClr val="F09180"/>
            </a:solidFill>
            <a:ln>
              <a:noFill/>
            </a:ln>
          </p:spPr>
        </p:sp>
        <p:sp>
          <p:nvSpPr>
            <p:cNvPr id="21" name="TextBox 21"/>
            <p:cNvSpPr txBox="1"/>
            <p:nvPr/>
          </p:nvSpPr>
          <p:spPr>
            <a:xfrm>
              <a:off x="6983301" y="10677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3</a:t>
              </a:r>
            </a:p>
          </p:txBody>
        </p:sp>
        <p:sp>
          <p:nvSpPr>
            <p:cNvPr id="22" name="Ellipse 22"/>
            <p:cNvSpPr/>
            <p:nvPr/>
          </p:nvSpPr>
          <p:spPr>
            <a:xfrm>
              <a:off x="9639300" y="952500"/>
              <a:ext cx="342900" cy="342900"/>
            </a:xfrm>
            <a:prstGeom prst="ellipse">
              <a:avLst/>
            </a:prstGeom>
            <a:solidFill>
              <a:srgbClr val="8C4B3F"/>
            </a:solidFill>
            <a:ln>
              <a:noFill/>
            </a:ln>
          </p:spPr>
        </p:sp>
        <p:sp>
          <p:nvSpPr>
            <p:cNvPr id="23" name="TextBox 23"/>
            <p:cNvSpPr txBox="1"/>
            <p:nvPr/>
          </p:nvSpPr>
          <p:spPr>
            <a:xfrm>
              <a:off x="9764601" y="10677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4</a:t>
              </a:r>
            </a:p>
          </p:txBody>
        </p:sp>
      </p:grpSp>
      <p:grpSp>
        <p:nvGrpSpPr>
          <p:cNvPr id="36" name="audience-card"/>
          <p:cNvGrpSpPr/>
          <p:nvPr/>
        </p:nvGrpSpPr>
        <p:grpSpPr>
          <a:xfrm>
            <a:off x="381000" y="1524000"/>
            <a:ext cx="1905000" cy="2857500"/>
            <a:chOff x="381000" y="1524000"/>
            <a:chExt cx="1905000" cy="2857500"/>
          </a:xfrm>
        </p:grpSpPr>
        <p:sp>
          <p:nvSpPr>
            <p:cNvPr id="25" name="Rectangle 25"/>
            <p:cNvSpPr/>
            <p:nvPr/>
          </p:nvSpPr>
          <p:spPr>
            <a:xfrm>
              <a:off x="381000" y="1524000"/>
              <a:ext cx="1905000" cy="2857500"/>
            </a:xfrm>
            <a:prstGeom prst="rect">
              <a:avLst/>
            </a:prstGeom>
            <a:solidFill>
              <a:srgbClr val="FDFCF6"/>
            </a:solidFill>
            <a:ln w="11430">
              <a:solidFill>
                <a:srgbClr val="E9563C"/>
              </a:solidFill>
              <a:custDash>
                <a:ds d="416667" sp="250000"/>
              </a:custDash>
            </a:ln>
          </p:spPr>
        </p:sp>
        <p:sp>
          <p:nvSpPr>
            <p:cNvPr id="26" name="TextBox 26"/>
            <p:cNvSpPr txBox="1"/>
            <p:nvPr/>
          </p:nvSpPr>
          <p:spPr>
            <a:xfrm>
              <a:off x="904113" y="1715452"/>
              <a:ext cx="858774" cy="205359"/>
            </a:xfrm>
            <a:prstGeom prst="rect">
              <a:avLst/>
            </a:prstGeom>
            <a:noFill/>
            <a:ln>
              <a:noFill/>
            </a:ln>
          </p:spPr>
          <p:txBody>
            <a:bodyPr wrap="none" lIns="0" tIns="0" rIns="0" bIns="0" anchor="t" anchorCtr="0">
              <a:spAutoFit/>
            </a:bodyPr>
            <a:lstStyle/>
            <a:p>
              <a:pPr algn="ctr"/>
              <a:r>
                <a:rPr lang="zh-CN" sz="1050" b="1" dirty="0">
                  <a:solidFill>
                    <a:srgbClr val="D6391E"/>
                  </a:solidFill>
                  <a:latin typeface="+mn-lt"/>
                  <a:ea typeface="+mn-ea"/>
                  <a:cs typeface="+mn-cs"/>
                </a:rPr>
                <a:t>核心人群分析</a:t>
              </a:r>
            </a:p>
          </p:txBody>
        </p:sp>
        <p:sp>
          <p:nvSpPr>
            <p:cNvPr id="27" name="Rectangle 27"/>
            <p:cNvSpPr/>
            <p:nvPr/>
          </p:nvSpPr>
          <p:spPr>
            <a:xfrm>
              <a:off x="495300" y="2000250"/>
              <a:ext cx="1676400" cy="628650"/>
            </a:xfrm>
            <a:prstGeom prst="rect">
              <a:avLst/>
            </a:prstGeom>
            <a:solidFill>
              <a:srgbClr val="FFFFFF"/>
            </a:solidFill>
            <a:ln w="9525">
              <a:solidFill>
                <a:srgbClr val="E8B5AC"/>
              </a:solidFill>
              <a:custDash>
                <a:ds d="300000" sp="200000"/>
              </a:custDash>
            </a:ln>
          </p:spPr>
        </p:sp>
        <p:sp>
          <p:nvSpPr>
            <p:cNvPr id="28" name="TextBox 28"/>
            <p:cNvSpPr txBox="1"/>
            <p:nvPr/>
          </p:nvSpPr>
          <p:spPr>
            <a:xfrm>
              <a:off x="1107961" y="21397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圈层分析</a:t>
              </a:r>
            </a:p>
          </p:txBody>
        </p:sp>
        <p:sp>
          <p:nvSpPr>
            <p:cNvPr id="29" name="TextBox 29"/>
            <p:cNvSpPr txBox="1"/>
            <p:nvPr/>
          </p:nvSpPr>
          <p:spPr>
            <a:xfrm>
              <a:off x="901256" y="2327434"/>
              <a:ext cx="864489"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体育 综艺 电影 明星等</a:t>
              </a:r>
              <a:br/>
              <a:r>
                <a:rPr lang="zh-CN" sz="680" dirty="0">
                  <a:solidFill>
                    <a:srgbClr val="595959"/>
                  </a:solidFill>
                  <a:latin typeface="+mn-lt"/>
                  <a:ea typeface="+mn-ea"/>
                  <a:cs typeface="+mn-cs"/>
                </a:rPr>
                <a:t>兴趣人群</a:t>
              </a:r>
            </a:p>
          </p:txBody>
        </p:sp>
        <p:sp>
          <p:nvSpPr>
            <p:cNvPr id="30" name="Rectangle 30"/>
            <p:cNvSpPr/>
            <p:nvPr/>
          </p:nvSpPr>
          <p:spPr>
            <a:xfrm>
              <a:off x="495300" y="2762250"/>
              <a:ext cx="1676400" cy="628650"/>
            </a:xfrm>
            <a:prstGeom prst="rect">
              <a:avLst/>
            </a:prstGeom>
            <a:solidFill>
              <a:srgbClr val="FFFFFF"/>
            </a:solidFill>
            <a:ln w="9525">
              <a:solidFill>
                <a:srgbClr val="E8B5AC"/>
              </a:solidFill>
              <a:custDash>
                <a:ds d="300000" sp="200000"/>
              </a:custDash>
            </a:ln>
          </p:spPr>
        </p:sp>
        <p:sp>
          <p:nvSpPr>
            <p:cNvPr id="31" name="TextBox 31"/>
            <p:cNvSpPr txBox="1"/>
            <p:nvPr/>
          </p:nvSpPr>
          <p:spPr>
            <a:xfrm>
              <a:off x="997572" y="2901791"/>
              <a:ext cx="671855"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业务场景分析</a:t>
              </a:r>
            </a:p>
          </p:txBody>
        </p:sp>
        <p:sp>
          <p:nvSpPr>
            <p:cNvPr id="32" name="TextBox 32"/>
            <p:cNvSpPr txBox="1"/>
            <p:nvPr/>
          </p:nvSpPr>
          <p:spPr>
            <a:xfrm>
              <a:off x="970344" y="3089434"/>
              <a:ext cx="726313"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场景分布 场景分布</a:t>
              </a:r>
              <a:br/>
              <a:r>
                <a:rPr lang="zh-CN" sz="680" dirty="0">
                  <a:solidFill>
                    <a:srgbClr val="595959"/>
                  </a:solidFill>
                  <a:latin typeface="+mn-lt"/>
                  <a:ea typeface="+mn-ea"/>
                  <a:cs typeface="+mn-cs"/>
                </a:rPr>
                <a:t>广告偏好</a:t>
              </a:r>
            </a:p>
          </p:txBody>
        </p:sp>
        <p:sp>
          <p:nvSpPr>
            <p:cNvPr id="33" name="Rectangle 33"/>
            <p:cNvSpPr/>
            <p:nvPr/>
          </p:nvSpPr>
          <p:spPr>
            <a:xfrm>
              <a:off x="495300" y="3524250"/>
              <a:ext cx="1676400" cy="628650"/>
            </a:xfrm>
            <a:prstGeom prst="rect">
              <a:avLst/>
            </a:prstGeom>
            <a:solidFill>
              <a:srgbClr val="FFFFFF"/>
            </a:solidFill>
            <a:ln w="9525">
              <a:solidFill>
                <a:srgbClr val="E8B5AC"/>
              </a:solidFill>
              <a:custDash>
                <a:ds d="300000" sp="200000"/>
              </a:custDash>
            </a:ln>
          </p:spPr>
        </p:sp>
        <p:sp>
          <p:nvSpPr>
            <p:cNvPr id="34" name="TextBox 34"/>
            <p:cNvSpPr txBox="1"/>
            <p:nvPr/>
          </p:nvSpPr>
          <p:spPr>
            <a:xfrm>
              <a:off x="1107961" y="3663791"/>
              <a:ext cx="451079" cy="161925"/>
            </a:xfrm>
            <a:prstGeom prst="rect">
              <a:avLst/>
            </a:prstGeom>
            <a:noFill/>
            <a:ln>
              <a:noFill/>
            </a:ln>
          </p:spPr>
          <p:txBody>
            <a:bodyPr wrap="none" lIns="0" tIns="0" rIns="0" bIns="0" anchor="t" anchorCtr="0">
              <a:spAutoFit/>
            </a:bodyPr>
            <a:lstStyle/>
            <a:p>
              <a:pPr algn="ctr"/>
              <a:r>
                <a:rPr lang="zh-CN" sz="820" b="1" dirty="0">
                  <a:solidFill>
                    <a:srgbClr val="333333"/>
                  </a:solidFill>
                  <a:latin typeface="+mn-lt"/>
                  <a:ea typeface="+mn-ea"/>
                  <a:cs typeface="+mn-cs"/>
                </a:rPr>
                <a:t>触点分析</a:t>
              </a:r>
            </a:p>
          </p:txBody>
        </p:sp>
        <p:sp>
          <p:nvSpPr>
            <p:cNvPr id="35" name="TextBox 35"/>
            <p:cNvSpPr txBox="1"/>
            <p:nvPr/>
          </p:nvSpPr>
          <p:spPr>
            <a:xfrm>
              <a:off x="1013524" y="3851434"/>
              <a:ext cx="639953" cy="247650"/>
            </a:xfrm>
            <a:prstGeom prst="rect">
              <a:avLst/>
            </a:prstGeom>
            <a:noFill/>
            <a:ln>
              <a:noFill/>
            </a:ln>
          </p:spPr>
          <p:txBody>
            <a:bodyPr wrap="none" lIns="0" tIns="0" rIns="0" bIns="0" anchor="t" anchorCtr="0">
              <a:spAutoFit/>
            </a:bodyPr>
            <a:lstStyle/>
            <a:p>
              <a:pPr algn="ctr">
                <a:lnSpc>
                  <a:spcPts val="900"/>
                </a:lnSpc>
              </a:pPr>
              <a:r>
                <a:rPr lang="zh-CN" sz="680" dirty="0">
                  <a:solidFill>
                    <a:srgbClr val="595959"/>
                  </a:solidFill>
                  <a:latin typeface="+mn-lt"/>
                  <a:ea typeface="+mn-ea"/>
                  <a:cs typeface="+mn-cs"/>
                </a:rPr>
                <a:t>曝光量 激活场景</a:t>
              </a:r>
              <a:br/>
              <a:r>
                <a:rPr lang="zh-CN" sz="680" dirty="0">
                  <a:solidFill>
                    <a:srgbClr val="595959"/>
                  </a:solidFill>
                  <a:latin typeface="+mn-lt"/>
                  <a:ea typeface="+mn-ea"/>
                  <a:cs typeface="+mn-cs"/>
                </a:rPr>
                <a:t>点击下载</a:t>
              </a:r>
            </a:p>
          </p:txBody>
        </p:sp>
      </p:grpSp>
      <p:grpSp>
        <p:nvGrpSpPr>
          <p:cNvPr id="43" name="push-connectors"/>
          <p:cNvGrpSpPr/>
          <p:nvPr/>
        </p:nvGrpSpPr>
        <p:grpSpPr>
          <a:xfrm>
            <a:off x="2343150" y="2202180"/>
            <a:ext cx="361950" cy="1645921"/>
            <a:chOff x="2343150" y="2202180"/>
            <a:chExt cx="361950" cy="1645921"/>
          </a:xfrm>
        </p:grpSpPr>
        <p:sp>
          <p:nvSpPr>
            <p:cNvPr id="37" name="TextBox 37"/>
            <p:cNvSpPr txBox="1"/>
            <p:nvPr/>
          </p:nvSpPr>
          <p:spPr>
            <a:xfrm>
              <a:off x="2429066" y="2202180"/>
              <a:ext cx="171069"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推动</a:t>
              </a:r>
            </a:p>
          </p:txBody>
        </p:sp>
        <p:sp>
          <p:nvSpPr>
            <p:cNvPr id="38" name="Line 38"/>
            <p:cNvSpPr/>
            <p:nvPr/>
          </p:nvSpPr>
          <p:spPr>
            <a:xfrm>
              <a:off x="2343150" y="2324100"/>
              <a:ext cx="361950" cy="1"/>
            </a:xfrm>
            <a:prstGeom prst="line">
              <a:avLst/>
            </a:prstGeom>
            <a:noFill/>
            <a:ln w="9525">
              <a:solidFill>
                <a:srgbClr val="8C8C8C"/>
              </a:solidFill>
              <a:custDash>
                <a:ds d="300000" sp="200000"/>
              </a:custDash>
              <a:tailEnd type="triangle" w="lg" len="lg"/>
            </a:ln>
          </p:spPr>
        </p:sp>
        <p:sp>
          <p:nvSpPr>
            <p:cNvPr id="39" name="TextBox 39"/>
            <p:cNvSpPr txBox="1"/>
            <p:nvPr/>
          </p:nvSpPr>
          <p:spPr>
            <a:xfrm>
              <a:off x="2429066" y="2964180"/>
              <a:ext cx="171069"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推动</a:t>
              </a:r>
            </a:p>
          </p:txBody>
        </p:sp>
        <p:sp>
          <p:nvSpPr>
            <p:cNvPr id="40" name="Line 40"/>
            <p:cNvSpPr/>
            <p:nvPr/>
          </p:nvSpPr>
          <p:spPr>
            <a:xfrm>
              <a:off x="2343150" y="3086100"/>
              <a:ext cx="361950" cy="1"/>
            </a:xfrm>
            <a:prstGeom prst="line">
              <a:avLst/>
            </a:prstGeom>
            <a:noFill/>
            <a:ln w="9525">
              <a:solidFill>
                <a:srgbClr val="8C8C8C"/>
              </a:solidFill>
              <a:custDash>
                <a:ds d="300000" sp="200000"/>
              </a:custDash>
              <a:tailEnd type="triangle" w="lg" len="lg"/>
            </a:ln>
          </p:spPr>
        </p:sp>
        <p:sp>
          <p:nvSpPr>
            <p:cNvPr id="41" name="TextBox 41"/>
            <p:cNvSpPr txBox="1"/>
            <p:nvPr/>
          </p:nvSpPr>
          <p:spPr>
            <a:xfrm>
              <a:off x="2429066" y="3726180"/>
              <a:ext cx="171069"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推动</a:t>
              </a:r>
            </a:p>
          </p:txBody>
        </p:sp>
        <p:sp>
          <p:nvSpPr>
            <p:cNvPr id="42" name="Line 42"/>
            <p:cNvSpPr/>
            <p:nvPr/>
          </p:nvSpPr>
          <p:spPr>
            <a:xfrm>
              <a:off x="2343150" y="3848100"/>
              <a:ext cx="361950" cy="1"/>
            </a:xfrm>
            <a:prstGeom prst="line">
              <a:avLst/>
            </a:prstGeom>
            <a:noFill/>
            <a:ln w="9525">
              <a:solidFill>
                <a:srgbClr val="8C8C8C"/>
              </a:solidFill>
              <a:custDash>
                <a:ds d="300000" sp="200000"/>
              </a:custDash>
              <a:tailEnd type="triangle" w="lg" len="lg"/>
            </a:ln>
          </p:spPr>
        </p:sp>
      </p:grpSp>
      <p:grpSp>
        <p:nvGrpSpPr>
          <p:cNvPr id="56" name="targeting-funnel"/>
          <p:cNvGrpSpPr/>
          <p:nvPr/>
        </p:nvGrpSpPr>
        <p:grpSpPr>
          <a:xfrm>
            <a:off x="2762250" y="1524000"/>
            <a:ext cx="3810000" cy="2828925"/>
            <a:chOff x="2762250" y="1524000"/>
            <a:chExt cx="3810000" cy="2828925"/>
          </a:xfrm>
        </p:grpSpPr>
        <p:sp>
          <p:nvSpPr>
            <p:cNvPr id="44" name="Freeform 44"/>
            <p:cNvSpPr/>
            <p:nvPr/>
          </p:nvSpPr>
          <p:spPr>
            <a:xfrm rot="10800000">
              <a:off x="2762250" y="1524000"/>
              <a:ext cx="3810000" cy="2667000"/>
            </a:xfrm>
            <a:prstGeom prst="triangle">
              <a:avLst/>
            </a:prstGeom>
            <a:solidFill>
              <a:srgbClr val="9C594C"/>
            </a:solidFill>
            <a:ln>
              <a:noFill/>
            </a:ln>
          </p:spPr>
        </p:sp>
        <p:sp>
          <p:nvSpPr>
            <p:cNvPr id="45" name="TextBox 45"/>
            <p:cNvSpPr txBox="1"/>
            <p:nvPr/>
          </p:nvSpPr>
          <p:spPr>
            <a:xfrm>
              <a:off x="4219352" y="1979295"/>
              <a:ext cx="895796"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精准定向 关键词</a:t>
              </a:r>
            </a:p>
          </p:txBody>
        </p:sp>
        <p:sp>
          <p:nvSpPr>
            <p:cNvPr id="46" name="Line 46"/>
            <p:cNvSpPr/>
            <p:nvPr/>
          </p:nvSpPr>
          <p:spPr>
            <a:xfrm>
              <a:off x="4667250" y="2152650"/>
              <a:ext cx="1" cy="209550"/>
            </a:xfrm>
            <a:prstGeom prst="line">
              <a:avLst/>
            </a:prstGeom>
            <a:noFill/>
            <a:ln w="11430">
              <a:solidFill>
                <a:srgbClr val="FFFFFF"/>
              </a:solidFill>
              <a:tailEnd type="triangle" w="lg" len="lg"/>
            </a:ln>
          </p:spPr>
        </p:sp>
        <p:sp>
          <p:nvSpPr>
            <p:cNvPr id="47" name="TextBox 47"/>
            <p:cNvSpPr txBox="1"/>
            <p:nvPr/>
          </p:nvSpPr>
          <p:spPr>
            <a:xfrm>
              <a:off x="4299014" y="245554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潜在目标人群</a:t>
              </a:r>
            </a:p>
          </p:txBody>
        </p:sp>
        <p:sp>
          <p:nvSpPr>
            <p:cNvPr id="48" name="Line 48"/>
            <p:cNvSpPr/>
            <p:nvPr/>
          </p:nvSpPr>
          <p:spPr>
            <a:xfrm>
              <a:off x="4667250" y="2628900"/>
              <a:ext cx="1" cy="209550"/>
            </a:xfrm>
            <a:prstGeom prst="line">
              <a:avLst/>
            </a:prstGeom>
            <a:noFill/>
            <a:ln w="11430">
              <a:solidFill>
                <a:srgbClr val="FFFFFF"/>
              </a:solidFill>
              <a:tailEnd type="triangle" w="lg" len="lg"/>
            </a:ln>
          </p:spPr>
        </p:sp>
        <p:sp>
          <p:nvSpPr>
            <p:cNvPr id="49" name="TextBox 49"/>
            <p:cNvSpPr txBox="1"/>
            <p:nvPr/>
          </p:nvSpPr>
          <p:spPr>
            <a:xfrm>
              <a:off x="4299014" y="2931795"/>
              <a:ext cx="73647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圈取目标人群</a:t>
              </a:r>
            </a:p>
          </p:txBody>
        </p:sp>
        <p:sp>
          <p:nvSpPr>
            <p:cNvPr id="50" name="Line 50"/>
            <p:cNvSpPr/>
            <p:nvPr/>
          </p:nvSpPr>
          <p:spPr>
            <a:xfrm>
              <a:off x="4667250" y="3105150"/>
              <a:ext cx="1" cy="209550"/>
            </a:xfrm>
            <a:prstGeom prst="line">
              <a:avLst/>
            </a:prstGeom>
            <a:noFill/>
            <a:ln w="11430">
              <a:solidFill>
                <a:srgbClr val="FFFFFF"/>
              </a:solidFill>
              <a:tailEnd type="triangle" w="lg" len="lg"/>
            </a:ln>
          </p:spPr>
        </p:sp>
        <p:sp>
          <p:nvSpPr>
            <p:cNvPr id="51" name="TextBox 51"/>
            <p:cNvSpPr txBox="1"/>
            <p:nvPr/>
          </p:nvSpPr>
          <p:spPr>
            <a:xfrm>
              <a:off x="4420172" y="340804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千人千面</a:t>
              </a:r>
            </a:p>
          </p:txBody>
        </p:sp>
        <p:sp>
          <p:nvSpPr>
            <p:cNvPr id="52" name="Line 52"/>
            <p:cNvSpPr/>
            <p:nvPr/>
          </p:nvSpPr>
          <p:spPr>
            <a:xfrm>
              <a:off x="4667250" y="3581400"/>
              <a:ext cx="1" cy="171450"/>
            </a:xfrm>
            <a:prstGeom prst="line">
              <a:avLst/>
            </a:prstGeom>
            <a:noFill/>
            <a:ln w="11430">
              <a:solidFill>
                <a:srgbClr val="FFFFFF"/>
              </a:solidFill>
              <a:tailEnd type="triangle" w="lg" len="lg"/>
            </a:ln>
          </p:spPr>
        </p:sp>
        <p:sp>
          <p:nvSpPr>
            <p:cNvPr id="53" name="TextBox 53"/>
            <p:cNvSpPr txBox="1"/>
            <p:nvPr/>
          </p:nvSpPr>
          <p:spPr>
            <a:xfrm>
              <a:off x="4541330" y="3827145"/>
              <a:ext cx="25184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效果</a:t>
              </a:r>
            </a:p>
          </p:txBody>
        </p:sp>
        <p:sp>
          <p:nvSpPr>
            <p:cNvPr id="54" name="Ellipse 54"/>
            <p:cNvSpPr/>
            <p:nvPr/>
          </p:nvSpPr>
          <p:spPr>
            <a:xfrm>
              <a:off x="4648200" y="4238625"/>
              <a:ext cx="38100" cy="38100"/>
            </a:xfrm>
            <a:prstGeom prst="ellipse">
              <a:avLst/>
            </a:prstGeom>
            <a:solidFill>
              <a:srgbClr val="9C594C"/>
            </a:solidFill>
            <a:ln>
              <a:noFill/>
            </a:ln>
          </p:spPr>
        </p:sp>
        <p:sp>
          <p:nvSpPr>
            <p:cNvPr id="55" name="Ellipse 55"/>
            <p:cNvSpPr/>
            <p:nvPr/>
          </p:nvSpPr>
          <p:spPr>
            <a:xfrm>
              <a:off x="4648200" y="4314825"/>
              <a:ext cx="38100" cy="38100"/>
            </a:xfrm>
            <a:prstGeom prst="ellipse">
              <a:avLst/>
            </a:prstGeom>
            <a:solidFill>
              <a:srgbClr val="9C594C"/>
            </a:solidFill>
            <a:ln>
              <a:noFill/>
            </a:ln>
          </p:spPr>
        </p:sp>
      </p:grpSp>
      <p:grpSp>
        <p:nvGrpSpPr>
          <p:cNvPr id="63" name="promote-connectors"/>
          <p:cNvGrpSpPr/>
          <p:nvPr/>
        </p:nvGrpSpPr>
        <p:grpSpPr>
          <a:xfrm>
            <a:off x="6629400" y="2202180"/>
            <a:ext cx="361950" cy="1645921"/>
            <a:chOff x="6629400" y="2202180"/>
            <a:chExt cx="361950" cy="1645921"/>
          </a:xfrm>
        </p:grpSpPr>
        <p:sp>
          <p:nvSpPr>
            <p:cNvPr id="57" name="TextBox 57"/>
            <p:cNvSpPr txBox="1"/>
            <p:nvPr/>
          </p:nvSpPr>
          <p:spPr>
            <a:xfrm>
              <a:off x="6715316" y="2202180"/>
              <a:ext cx="171069"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促进</a:t>
              </a:r>
            </a:p>
          </p:txBody>
        </p:sp>
        <p:sp>
          <p:nvSpPr>
            <p:cNvPr id="58" name="Line 58"/>
            <p:cNvSpPr/>
            <p:nvPr/>
          </p:nvSpPr>
          <p:spPr>
            <a:xfrm>
              <a:off x="6629400" y="2324100"/>
              <a:ext cx="361950" cy="1"/>
            </a:xfrm>
            <a:prstGeom prst="line">
              <a:avLst/>
            </a:prstGeom>
            <a:noFill/>
            <a:ln w="9525">
              <a:solidFill>
                <a:srgbClr val="8C8C8C"/>
              </a:solidFill>
              <a:custDash>
                <a:ds d="300000" sp="200000"/>
              </a:custDash>
              <a:tailEnd type="triangle" w="lg" len="lg"/>
            </a:ln>
          </p:spPr>
        </p:sp>
        <p:sp>
          <p:nvSpPr>
            <p:cNvPr id="59" name="TextBox 59"/>
            <p:cNvSpPr txBox="1"/>
            <p:nvPr/>
          </p:nvSpPr>
          <p:spPr>
            <a:xfrm>
              <a:off x="6715316" y="2964180"/>
              <a:ext cx="171069"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促进</a:t>
              </a:r>
            </a:p>
          </p:txBody>
        </p:sp>
        <p:sp>
          <p:nvSpPr>
            <p:cNvPr id="60" name="Line 60"/>
            <p:cNvSpPr/>
            <p:nvPr/>
          </p:nvSpPr>
          <p:spPr>
            <a:xfrm>
              <a:off x="6629400" y="3086100"/>
              <a:ext cx="361950" cy="1"/>
            </a:xfrm>
            <a:prstGeom prst="line">
              <a:avLst/>
            </a:prstGeom>
            <a:noFill/>
            <a:ln w="9525">
              <a:solidFill>
                <a:srgbClr val="8C8C8C"/>
              </a:solidFill>
              <a:custDash>
                <a:ds d="300000" sp="200000"/>
              </a:custDash>
              <a:tailEnd type="triangle" w="lg" len="lg"/>
            </a:ln>
          </p:spPr>
        </p:sp>
        <p:sp>
          <p:nvSpPr>
            <p:cNvPr id="61" name="TextBox 61"/>
            <p:cNvSpPr txBox="1"/>
            <p:nvPr/>
          </p:nvSpPr>
          <p:spPr>
            <a:xfrm>
              <a:off x="6715316" y="3726180"/>
              <a:ext cx="171069" cy="119062"/>
            </a:xfrm>
            <a:prstGeom prst="rect">
              <a:avLst/>
            </a:prstGeom>
            <a:noFill/>
            <a:ln>
              <a:noFill/>
            </a:ln>
          </p:spPr>
          <p:txBody>
            <a:bodyPr wrap="none" lIns="0" tIns="0" rIns="0" bIns="0" anchor="t" anchorCtr="0">
              <a:spAutoFit/>
            </a:bodyPr>
            <a:lstStyle/>
            <a:p>
              <a:pPr algn="ctr"/>
              <a:r>
                <a:rPr lang="zh-CN" sz="600" dirty="0">
                  <a:solidFill>
                    <a:srgbClr val="8C8C8C"/>
                  </a:solidFill>
                  <a:latin typeface="+mn-lt"/>
                  <a:ea typeface="+mn-ea"/>
                  <a:cs typeface="+mn-cs"/>
                </a:rPr>
                <a:t>促进</a:t>
              </a:r>
            </a:p>
          </p:txBody>
        </p:sp>
        <p:sp>
          <p:nvSpPr>
            <p:cNvPr id="62" name="Line 62"/>
            <p:cNvSpPr/>
            <p:nvPr/>
          </p:nvSpPr>
          <p:spPr>
            <a:xfrm>
              <a:off x="6629400" y="3848100"/>
              <a:ext cx="361950" cy="1"/>
            </a:xfrm>
            <a:prstGeom prst="line">
              <a:avLst/>
            </a:prstGeom>
            <a:noFill/>
            <a:ln w="9525">
              <a:solidFill>
                <a:srgbClr val="8C8C8C"/>
              </a:solidFill>
              <a:custDash>
                <a:ds d="300000" sp="200000"/>
              </a:custDash>
              <a:tailEnd type="triangle" w="lg" len="lg"/>
            </a:ln>
          </p:spPr>
        </p:sp>
      </p:grpSp>
      <p:grpSp>
        <p:nvGrpSpPr>
          <p:cNvPr id="89" name="data-card"/>
          <p:cNvGrpSpPr/>
          <p:nvPr/>
        </p:nvGrpSpPr>
        <p:grpSpPr>
          <a:xfrm>
            <a:off x="7048500" y="1524000"/>
            <a:ext cx="2495550" cy="2857500"/>
            <a:chOff x="7048500" y="1524000"/>
            <a:chExt cx="2495550" cy="2857500"/>
          </a:xfrm>
        </p:grpSpPr>
        <p:sp>
          <p:nvSpPr>
            <p:cNvPr id="64" name="Rectangle 64"/>
            <p:cNvSpPr/>
            <p:nvPr/>
          </p:nvSpPr>
          <p:spPr>
            <a:xfrm>
              <a:off x="7048500" y="1524000"/>
              <a:ext cx="2495550" cy="2857500"/>
            </a:xfrm>
            <a:prstGeom prst="rect">
              <a:avLst/>
            </a:prstGeom>
            <a:solidFill>
              <a:srgbClr val="FDFCF6"/>
            </a:solidFill>
            <a:ln w="11430">
              <a:solidFill>
                <a:srgbClr val="E9563C"/>
              </a:solidFill>
              <a:custDash>
                <a:ds d="416667" sp="250000"/>
              </a:custDash>
            </a:ln>
          </p:spPr>
        </p:sp>
        <p:sp>
          <p:nvSpPr>
            <p:cNvPr id="65" name="TextBox 65"/>
            <p:cNvSpPr txBox="1"/>
            <p:nvPr/>
          </p:nvSpPr>
          <p:spPr>
            <a:xfrm>
              <a:off x="7866888" y="1715452"/>
              <a:ext cx="858774" cy="205359"/>
            </a:xfrm>
            <a:prstGeom prst="rect">
              <a:avLst/>
            </a:prstGeom>
            <a:noFill/>
            <a:ln>
              <a:noFill/>
            </a:ln>
          </p:spPr>
          <p:txBody>
            <a:bodyPr wrap="none" lIns="0" tIns="0" rIns="0" bIns="0" anchor="t" anchorCtr="0">
              <a:spAutoFit/>
            </a:bodyPr>
            <a:lstStyle/>
            <a:p>
              <a:pPr algn="ctr"/>
              <a:r>
                <a:rPr lang="zh-CN" sz="1050" b="1" dirty="0">
                  <a:solidFill>
                    <a:srgbClr val="D6391E"/>
                  </a:solidFill>
                  <a:latin typeface="+mn-lt"/>
                  <a:ea typeface="+mn-ea"/>
                  <a:cs typeface="+mn-cs"/>
                </a:rPr>
                <a:t>投放数据展示</a:t>
              </a:r>
            </a:p>
          </p:txBody>
        </p:sp>
        <p:sp>
          <p:nvSpPr>
            <p:cNvPr id="66" name="TextBox 66"/>
            <p:cNvSpPr txBox="1"/>
            <p:nvPr/>
          </p:nvSpPr>
          <p:spPr>
            <a:xfrm>
              <a:off x="7195566" y="2058352"/>
              <a:ext cx="582079" cy="205359"/>
            </a:xfrm>
            <a:prstGeom prst="rect">
              <a:avLst/>
            </a:prstGeom>
            <a:noFill/>
            <a:ln>
              <a:noFill/>
            </a:ln>
          </p:spPr>
          <p:txBody>
            <a:bodyPr wrap="none" lIns="0" tIns="0" rIns="0" bIns="0" anchor="t" anchorCtr="0">
              <a:spAutoFit/>
            </a:bodyPr>
            <a:lstStyle/>
            <a:p>
              <a:pPr algn="l"/>
              <a:r>
                <a:rPr lang="zh-CN" sz="1050" b="1" dirty="0">
                  <a:solidFill>
                    <a:srgbClr val="333333"/>
                  </a:solidFill>
                  <a:latin typeface="+mn-lt"/>
                  <a:ea typeface="+mn-ea"/>
                  <a:cs typeface="+mn-cs"/>
                </a:rPr>
                <a:t>1,400+​</a:t>
              </a:r>
            </a:p>
          </p:txBody>
        </p:sp>
        <p:sp>
          <p:nvSpPr>
            <p:cNvPr id="67" name="TextBox 67"/>
            <p:cNvSpPr txBox="1"/>
            <p:nvPr/>
          </p:nvSpPr>
          <p:spPr>
            <a:xfrm>
              <a:off x="7767638" y="2106930"/>
              <a:ext cx="502234"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自有导购(人)</a:t>
              </a:r>
            </a:p>
          </p:txBody>
        </p:sp>
        <p:sp>
          <p:nvSpPr>
            <p:cNvPr id="68" name="TextBox 68"/>
            <p:cNvSpPr txBox="1"/>
            <p:nvPr/>
          </p:nvSpPr>
          <p:spPr>
            <a:xfrm>
              <a:off x="7195566" y="2306002"/>
              <a:ext cx="663710" cy="205359"/>
            </a:xfrm>
            <a:prstGeom prst="rect">
              <a:avLst/>
            </a:prstGeom>
            <a:noFill/>
            <a:ln>
              <a:noFill/>
            </a:ln>
          </p:spPr>
          <p:txBody>
            <a:bodyPr wrap="none" lIns="0" tIns="0" rIns="0" bIns="0" anchor="t" anchorCtr="0">
              <a:spAutoFit/>
            </a:bodyPr>
            <a:lstStyle/>
            <a:p>
              <a:pPr algn="l"/>
              <a:r>
                <a:rPr lang="zh-CN" sz="1050" b="1" dirty="0">
                  <a:solidFill>
                    <a:srgbClr val="333333"/>
                  </a:solidFill>
                  <a:latin typeface="+mn-lt"/>
                  <a:ea typeface="+mn-ea"/>
                  <a:cs typeface="+mn-cs"/>
                </a:rPr>
                <a:t>15,782+​</a:t>
              </a:r>
            </a:p>
          </p:txBody>
        </p:sp>
        <p:sp>
          <p:nvSpPr>
            <p:cNvPr id="69" name="TextBox 69"/>
            <p:cNvSpPr txBox="1"/>
            <p:nvPr/>
          </p:nvSpPr>
          <p:spPr>
            <a:xfrm>
              <a:off x="7862888" y="2354580"/>
              <a:ext cx="251841" cy="119062"/>
            </a:xfrm>
            <a:prstGeom prst="rect">
              <a:avLst/>
            </a:prstGeom>
            <a:noFill/>
            <a:ln>
              <a:noFill/>
            </a:ln>
          </p:spPr>
          <p:txBody>
            <a:bodyPr wrap="none" lIns="0" tIns="0" rIns="0" bIns="0" anchor="t" anchorCtr="0">
              <a:spAutoFit/>
            </a:bodyPr>
            <a:lstStyle/>
            <a:p>
              <a:pPr algn="l"/>
              <a:r>
                <a:rPr lang="zh-CN" sz="600" dirty="0">
                  <a:solidFill>
                    <a:srgbClr val="595959"/>
                  </a:solidFill>
                  <a:latin typeface="+mn-lt"/>
                  <a:ea typeface="+mn-ea"/>
                  <a:cs typeface="+mn-cs"/>
                </a:rPr>
                <a:t>售后点</a:t>
              </a:r>
            </a:p>
          </p:txBody>
        </p:sp>
        <p:sp>
          <p:nvSpPr>
            <p:cNvPr id="70" name="Ellipse 70"/>
            <p:cNvSpPr/>
            <p:nvPr/>
          </p:nvSpPr>
          <p:spPr>
            <a:xfrm>
              <a:off x="8763000" y="2076450"/>
              <a:ext cx="381000" cy="381000"/>
            </a:xfrm>
            <a:prstGeom prst="ellipse">
              <a:avLst/>
            </a:prstGeom>
            <a:noFill/>
            <a:ln w="76200">
              <a:solidFill>
                <a:srgbClr val="E5E9E2"/>
              </a:solidFill>
            </a:ln>
          </p:spPr>
        </p:sp>
        <p:sp>
          <p:nvSpPr>
            <p:cNvPr id="71" name="Freeform 71"/>
            <p:cNvSpPr/>
            <p:nvPr/>
          </p:nvSpPr>
          <p:spPr>
            <a:xfrm>
              <a:off x="8724900" y="2038350"/>
              <a:ext cx="457200" cy="457200"/>
            </a:xfrm>
            <a:prstGeom prst="blockArc">
              <a:avLst>
                <a:gd name="adj1" fmla="val 16200000"/>
                <a:gd name="adj2" fmla="val 11880000"/>
                <a:gd name="adj3" fmla="val 16667"/>
              </a:avLst>
            </a:prstGeom>
            <a:solidFill>
              <a:srgbClr val="E9563C"/>
            </a:solidFill>
            <a:ln>
              <a:noFill/>
            </a:ln>
          </p:spPr>
        </p:sp>
        <p:sp>
          <p:nvSpPr>
            <p:cNvPr id="72" name="TextBox 72"/>
            <p:cNvSpPr txBox="1"/>
            <p:nvPr/>
          </p:nvSpPr>
          <p:spPr>
            <a:xfrm>
              <a:off x="8849792" y="2195274"/>
              <a:ext cx="207416" cy="97631"/>
            </a:xfrm>
            <a:prstGeom prst="rect">
              <a:avLst/>
            </a:prstGeom>
            <a:noFill/>
            <a:ln>
              <a:noFill/>
            </a:ln>
          </p:spPr>
          <p:txBody>
            <a:bodyPr wrap="none" lIns="0" tIns="0" rIns="0" bIns="0" anchor="t" anchorCtr="0">
              <a:spAutoFit/>
            </a:bodyPr>
            <a:lstStyle/>
            <a:p>
              <a:pPr algn="ctr"/>
              <a:r>
                <a:rPr lang="zh-CN" sz="490" dirty="0">
                  <a:solidFill>
                    <a:srgbClr val="595959"/>
                  </a:solidFill>
                  <a:latin typeface="+mn-lt"/>
                  <a:ea typeface="+mn-ea"/>
                  <a:cs typeface="+mn-cs"/>
                </a:rPr>
                <a:t>投放量</a:t>
              </a:r>
            </a:p>
          </p:txBody>
        </p:sp>
        <p:sp>
          <p:nvSpPr>
            <p:cNvPr id="73" name="TextBox 73"/>
            <p:cNvSpPr txBox="1"/>
            <p:nvPr/>
          </p:nvSpPr>
          <p:spPr>
            <a:xfrm>
              <a:off x="8855446" y="2278380"/>
              <a:ext cx="196108" cy="119062"/>
            </a:xfrm>
            <a:prstGeom prst="rect">
              <a:avLst/>
            </a:prstGeom>
            <a:noFill/>
            <a:ln>
              <a:noFill/>
            </a:ln>
          </p:spPr>
          <p:txBody>
            <a:bodyPr wrap="none" lIns="0" tIns="0" rIns="0" bIns="0" anchor="t" anchorCtr="0">
              <a:spAutoFit/>
            </a:bodyPr>
            <a:lstStyle/>
            <a:p>
              <a:pPr algn="ctr"/>
              <a:r>
                <a:rPr lang="zh-CN" sz="600" b="1" dirty="0">
                  <a:solidFill>
                    <a:srgbClr val="333333"/>
                  </a:solidFill>
                  <a:latin typeface="+mn-lt"/>
                  <a:ea typeface="+mn-ea"/>
                  <a:cs typeface="+mn-cs"/>
                </a:rPr>
                <a:t>1250</a:t>
              </a:r>
            </a:p>
          </p:txBody>
        </p:sp>
        <p:sp>
          <p:nvSpPr>
            <p:cNvPr id="74" name="TextBox 74"/>
            <p:cNvSpPr txBox="1"/>
            <p:nvPr/>
          </p:nvSpPr>
          <p:spPr>
            <a:xfrm>
              <a:off x="7718742" y="2692241"/>
              <a:ext cx="1155065" cy="314325"/>
            </a:xfrm>
            <a:prstGeom prst="rect">
              <a:avLst/>
            </a:prstGeom>
            <a:noFill/>
            <a:ln>
              <a:noFill/>
            </a:ln>
          </p:spPr>
          <p:txBody>
            <a:bodyPr wrap="none" lIns="0" tIns="0" rIns="0" bIns="0" anchor="t" anchorCtr="0">
              <a:spAutoFit/>
            </a:bodyPr>
            <a:lstStyle/>
            <a:p>
              <a:pPr algn="ctr">
                <a:lnSpc>
                  <a:spcPts val="1200"/>
                </a:lnSpc>
              </a:pPr>
              <a:r>
                <a:rPr lang="zh-CN" sz="820" b="1" dirty="0">
                  <a:solidFill>
                    <a:srgbClr val="333333"/>
                  </a:solidFill>
                  <a:latin typeface="+mn-lt"/>
                  <a:ea typeface="+mn-ea"/>
                  <a:cs typeface="+mn-cs"/>
                </a:rPr>
                <a:t>元宇宙强调虚实相融</a:t>
              </a:r>
              <a:br/>
              <a:r>
                <a:rPr lang="zh-CN" sz="820" b="1" dirty="0">
                  <a:solidFill>
                    <a:srgbClr val="333333"/>
                  </a:solidFill>
                  <a:latin typeface="+mn-lt"/>
                  <a:ea typeface="+mn-ea"/>
                  <a:cs typeface="+mn-cs"/>
                </a:rPr>
                <a:t>还是能够反哺于现实社会</a:t>
              </a:r>
            </a:p>
          </p:txBody>
        </p:sp>
        <p:sp>
          <p:nvSpPr>
            <p:cNvPr id="75" name="Ellipse 75"/>
            <p:cNvSpPr/>
            <p:nvPr/>
          </p:nvSpPr>
          <p:spPr>
            <a:xfrm>
              <a:off x="7267575" y="3105150"/>
              <a:ext cx="419100" cy="419100"/>
            </a:xfrm>
            <a:prstGeom prst="ellipse">
              <a:avLst/>
            </a:prstGeom>
            <a:solidFill>
              <a:srgbClr val="E9563C"/>
            </a:solidFill>
            <a:ln>
              <a:noFill/>
            </a:ln>
          </p:spPr>
        </p:sp>
        <p:sp>
          <p:nvSpPr>
            <p:cNvPr id="76" name="TextBox 76"/>
            <p:cNvSpPr txBox="1"/>
            <p:nvPr/>
          </p:nvSpPr>
          <p:spPr>
            <a:xfrm>
              <a:off x="7365682" y="3234928"/>
              <a:ext cx="222885" cy="197644"/>
            </a:xfrm>
            <a:prstGeom prst="rect">
              <a:avLst/>
            </a:prstGeom>
            <a:noFill/>
            <a:ln>
              <a:noFill/>
            </a:ln>
          </p:spPr>
          <p:txBody>
            <a:bodyPr wrap="none" lIns="0" tIns="0" rIns="0" bIns="0" anchor="t" anchorCtr="0">
              <a:spAutoFit/>
            </a:bodyPr>
            <a:lstStyle/>
            <a:p>
              <a:pPr algn="ctr">
                <a:lnSpc>
                  <a:spcPts val="675"/>
                </a:lnSpc>
              </a:pPr>
              <a:r>
                <a:rPr lang="zh-CN" sz="560" b="1" dirty="0">
                  <a:solidFill>
                    <a:srgbClr val="FFFFFF"/>
                  </a:solidFill>
                  <a:latin typeface="+mn-lt"/>
                  <a:ea typeface="+mn-ea"/>
                  <a:cs typeface="+mn-cs"/>
                </a:rPr>
                <a:t>高消费</a:t>
              </a:r>
              <a:br/>
              <a:r>
                <a:rPr lang="zh-CN" sz="560" b="1" dirty="0">
                  <a:solidFill>
                    <a:srgbClr val="FFFFFF"/>
                  </a:solidFill>
                  <a:latin typeface="+mn-lt"/>
                  <a:ea typeface="+mn-ea"/>
                  <a:cs typeface="+mn-cs"/>
                </a:rPr>
                <a:t>人群</a:t>
              </a:r>
            </a:p>
          </p:txBody>
        </p:sp>
        <p:sp>
          <p:nvSpPr>
            <p:cNvPr id="77" name="Ellipse 77"/>
            <p:cNvSpPr/>
            <p:nvPr/>
          </p:nvSpPr>
          <p:spPr>
            <a:xfrm>
              <a:off x="7791450" y="3105150"/>
              <a:ext cx="419100" cy="419100"/>
            </a:xfrm>
            <a:prstGeom prst="ellipse">
              <a:avLst/>
            </a:prstGeom>
            <a:solidFill>
              <a:srgbClr val="E9563C"/>
            </a:solidFill>
            <a:ln>
              <a:noFill/>
            </a:ln>
          </p:spPr>
        </p:sp>
        <p:sp>
          <p:nvSpPr>
            <p:cNvPr id="78" name="TextBox 78"/>
            <p:cNvSpPr txBox="1"/>
            <p:nvPr/>
          </p:nvSpPr>
          <p:spPr>
            <a:xfrm>
              <a:off x="7889558" y="3234928"/>
              <a:ext cx="222885" cy="197644"/>
            </a:xfrm>
            <a:prstGeom prst="rect">
              <a:avLst/>
            </a:prstGeom>
            <a:noFill/>
            <a:ln>
              <a:noFill/>
            </a:ln>
          </p:spPr>
          <p:txBody>
            <a:bodyPr wrap="none" lIns="0" tIns="0" rIns="0" bIns="0" anchor="t" anchorCtr="0">
              <a:spAutoFit/>
            </a:bodyPr>
            <a:lstStyle/>
            <a:p>
              <a:pPr algn="ctr">
                <a:lnSpc>
                  <a:spcPts val="675"/>
                </a:lnSpc>
              </a:pPr>
              <a:r>
                <a:rPr lang="zh-CN" sz="560" b="1" dirty="0">
                  <a:solidFill>
                    <a:srgbClr val="FFFFFF"/>
                  </a:solidFill>
                  <a:latin typeface="+mn-lt"/>
                  <a:ea typeface="+mn-ea"/>
                  <a:cs typeface="+mn-cs"/>
                </a:rPr>
                <a:t>中消费</a:t>
              </a:r>
              <a:br/>
              <a:r>
                <a:rPr lang="zh-CN" sz="560" b="1" dirty="0">
                  <a:solidFill>
                    <a:srgbClr val="FFFFFF"/>
                  </a:solidFill>
                  <a:latin typeface="+mn-lt"/>
                  <a:ea typeface="+mn-ea"/>
                  <a:cs typeface="+mn-cs"/>
                </a:rPr>
                <a:t>人群</a:t>
              </a:r>
            </a:p>
          </p:txBody>
        </p:sp>
        <p:sp>
          <p:nvSpPr>
            <p:cNvPr id="79" name="Ellipse 79"/>
            <p:cNvSpPr/>
            <p:nvPr/>
          </p:nvSpPr>
          <p:spPr>
            <a:xfrm>
              <a:off x="8315325" y="3105150"/>
              <a:ext cx="419100" cy="419100"/>
            </a:xfrm>
            <a:prstGeom prst="ellipse">
              <a:avLst/>
            </a:prstGeom>
            <a:solidFill>
              <a:srgbClr val="E9563C"/>
            </a:solidFill>
            <a:ln>
              <a:noFill/>
            </a:ln>
          </p:spPr>
        </p:sp>
        <p:sp>
          <p:nvSpPr>
            <p:cNvPr id="80" name="TextBox 80"/>
            <p:cNvSpPr txBox="1"/>
            <p:nvPr/>
          </p:nvSpPr>
          <p:spPr>
            <a:xfrm>
              <a:off x="8448992" y="3234928"/>
              <a:ext cx="151765" cy="197644"/>
            </a:xfrm>
            <a:prstGeom prst="rect">
              <a:avLst/>
            </a:prstGeom>
            <a:noFill/>
            <a:ln>
              <a:noFill/>
            </a:ln>
          </p:spPr>
          <p:txBody>
            <a:bodyPr wrap="none" lIns="0" tIns="0" rIns="0" bIns="0" anchor="t" anchorCtr="0">
              <a:spAutoFit/>
            </a:bodyPr>
            <a:lstStyle/>
            <a:p>
              <a:pPr algn="ctr">
                <a:lnSpc>
                  <a:spcPts val="675"/>
                </a:lnSpc>
              </a:pPr>
              <a:r>
                <a:rPr lang="zh-CN" sz="560" b="1" dirty="0">
                  <a:solidFill>
                    <a:srgbClr val="FFFFFF"/>
                  </a:solidFill>
                  <a:latin typeface="+mn-lt"/>
                  <a:ea typeface="+mn-ea"/>
                  <a:cs typeface="+mn-cs"/>
                </a:rPr>
                <a:t>垂直</a:t>
              </a:r>
              <a:br/>
              <a:r>
                <a:rPr lang="zh-CN" sz="560" b="1" dirty="0">
                  <a:solidFill>
                    <a:srgbClr val="FFFFFF"/>
                  </a:solidFill>
                  <a:latin typeface="+mn-lt"/>
                  <a:ea typeface="+mn-ea"/>
                  <a:cs typeface="+mn-cs"/>
                </a:rPr>
                <a:t>人群</a:t>
              </a:r>
            </a:p>
          </p:txBody>
        </p:sp>
        <p:sp>
          <p:nvSpPr>
            <p:cNvPr id="81" name="Ellipse 81"/>
            <p:cNvSpPr/>
            <p:nvPr/>
          </p:nvSpPr>
          <p:spPr>
            <a:xfrm>
              <a:off x="8839200" y="3105150"/>
              <a:ext cx="419100" cy="419100"/>
            </a:xfrm>
            <a:prstGeom prst="ellipse">
              <a:avLst/>
            </a:prstGeom>
            <a:solidFill>
              <a:srgbClr val="E9563C"/>
            </a:solidFill>
            <a:ln>
              <a:noFill/>
            </a:ln>
          </p:spPr>
        </p:sp>
        <p:sp>
          <p:nvSpPr>
            <p:cNvPr id="82" name="TextBox 82"/>
            <p:cNvSpPr txBox="1"/>
            <p:nvPr/>
          </p:nvSpPr>
          <p:spPr>
            <a:xfrm>
              <a:off x="8972868" y="3234928"/>
              <a:ext cx="151765" cy="197644"/>
            </a:xfrm>
            <a:prstGeom prst="rect">
              <a:avLst/>
            </a:prstGeom>
            <a:noFill/>
            <a:ln>
              <a:noFill/>
            </a:ln>
          </p:spPr>
          <p:txBody>
            <a:bodyPr wrap="none" lIns="0" tIns="0" rIns="0" bIns="0" anchor="t" anchorCtr="0">
              <a:spAutoFit/>
            </a:bodyPr>
            <a:lstStyle/>
            <a:p>
              <a:pPr algn="ctr">
                <a:lnSpc>
                  <a:spcPts val="675"/>
                </a:lnSpc>
              </a:pPr>
              <a:r>
                <a:rPr lang="zh-CN" sz="560" b="1" dirty="0">
                  <a:solidFill>
                    <a:srgbClr val="FFFFFF"/>
                  </a:solidFill>
                  <a:latin typeface="+mn-lt"/>
                  <a:ea typeface="+mn-ea"/>
                  <a:cs typeface="+mn-cs"/>
                </a:rPr>
                <a:t>潜力</a:t>
              </a:r>
              <a:br/>
              <a:r>
                <a:rPr lang="zh-CN" sz="560" b="1" dirty="0">
                  <a:solidFill>
                    <a:srgbClr val="FFFFFF"/>
                  </a:solidFill>
                  <a:latin typeface="+mn-lt"/>
                  <a:ea typeface="+mn-ea"/>
                  <a:cs typeface="+mn-cs"/>
                </a:rPr>
                <a:t>人群</a:t>
              </a:r>
            </a:p>
          </p:txBody>
        </p:sp>
        <p:sp>
          <p:nvSpPr>
            <p:cNvPr id="83" name="Ellipse 83"/>
            <p:cNvSpPr/>
            <p:nvPr/>
          </p:nvSpPr>
          <p:spPr>
            <a:xfrm>
              <a:off x="7524750" y="3619500"/>
              <a:ext cx="419100" cy="419100"/>
            </a:xfrm>
            <a:prstGeom prst="ellipse">
              <a:avLst/>
            </a:prstGeom>
            <a:solidFill>
              <a:srgbClr val="E9563C"/>
            </a:solidFill>
            <a:ln>
              <a:noFill/>
            </a:ln>
          </p:spPr>
        </p:sp>
        <p:sp>
          <p:nvSpPr>
            <p:cNvPr id="84" name="TextBox 84"/>
            <p:cNvSpPr txBox="1"/>
            <p:nvPr/>
          </p:nvSpPr>
          <p:spPr>
            <a:xfrm>
              <a:off x="7658418" y="3749278"/>
              <a:ext cx="151765" cy="197644"/>
            </a:xfrm>
            <a:prstGeom prst="rect">
              <a:avLst/>
            </a:prstGeom>
            <a:noFill/>
            <a:ln>
              <a:noFill/>
            </a:ln>
          </p:spPr>
          <p:txBody>
            <a:bodyPr wrap="none" lIns="0" tIns="0" rIns="0" bIns="0" anchor="t" anchorCtr="0">
              <a:spAutoFit/>
            </a:bodyPr>
            <a:lstStyle/>
            <a:p>
              <a:pPr algn="ctr">
                <a:lnSpc>
                  <a:spcPts val="675"/>
                </a:lnSpc>
              </a:pPr>
              <a:r>
                <a:rPr lang="zh-CN" sz="560" b="1" dirty="0">
                  <a:solidFill>
                    <a:srgbClr val="FFFFFF"/>
                  </a:solidFill>
                  <a:latin typeface="+mn-lt"/>
                  <a:ea typeface="+mn-ea"/>
                  <a:cs typeface="+mn-cs"/>
                </a:rPr>
                <a:t>优质</a:t>
              </a:r>
              <a:br/>
              <a:r>
                <a:rPr lang="zh-CN" sz="560" b="1" dirty="0">
                  <a:solidFill>
                    <a:srgbClr val="FFFFFF"/>
                  </a:solidFill>
                  <a:latin typeface="+mn-lt"/>
                  <a:ea typeface="+mn-ea"/>
                  <a:cs typeface="+mn-cs"/>
                </a:rPr>
                <a:t>人群</a:t>
              </a:r>
            </a:p>
          </p:txBody>
        </p:sp>
        <p:sp>
          <p:nvSpPr>
            <p:cNvPr id="85" name="Ellipse 85"/>
            <p:cNvSpPr/>
            <p:nvPr/>
          </p:nvSpPr>
          <p:spPr>
            <a:xfrm>
              <a:off x="8048625" y="3619500"/>
              <a:ext cx="419100" cy="419100"/>
            </a:xfrm>
            <a:prstGeom prst="ellipse">
              <a:avLst/>
            </a:prstGeom>
            <a:solidFill>
              <a:srgbClr val="E9563C"/>
            </a:solidFill>
            <a:ln>
              <a:noFill/>
            </a:ln>
          </p:spPr>
        </p:sp>
        <p:sp>
          <p:nvSpPr>
            <p:cNvPr id="86" name="TextBox 86"/>
            <p:cNvSpPr txBox="1"/>
            <p:nvPr/>
          </p:nvSpPr>
          <p:spPr>
            <a:xfrm>
              <a:off x="8111173" y="3749278"/>
              <a:ext cx="294005" cy="197644"/>
            </a:xfrm>
            <a:prstGeom prst="rect">
              <a:avLst/>
            </a:prstGeom>
            <a:noFill/>
            <a:ln>
              <a:noFill/>
            </a:ln>
          </p:spPr>
          <p:txBody>
            <a:bodyPr wrap="none" lIns="0" tIns="0" rIns="0" bIns="0" anchor="t" anchorCtr="0">
              <a:spAutoFit/>
            </a:bodyPr>
            <a:lstStyle/>
            <a:p>
              <a:pPr algn="ctr">
                <a:lnSpc>
                  <a:spcPts val="675"/>
                </a:lnSpc>
              </a:pPr>
              <a:r>
                <a:rPr lang="zh-CN" sz="560" b="1" dirty="0">
                  <a:solidFill>
                    <a:srgbClr val="FFFFFF"/>
                  </a:solidFill>
                  <a:latin typeface="+mn-lt"/>
                  <a:ea typeface="+mn-ea"/>
                  <a:cs typeface="+mn-cs"/>
                </a:rPr>
                <a:t>重度消费</a:t>
              </a:r>
              <a:br/>
              <a:r>
                <a:rPr lang="zh-CN" sz="560" b="1" dirty="0">
                  <a:solidFill>
                    <a:srgbClr val="FFFFFF"/>
                  </a:solidFill>
                  <a:latin typeface="+mn-lt"/>
                  <a:ea typeface="+mn-ea"/>
                  <a:cs typeface="+mn-cs"/>
                </a:rPr>
                <a:t>人群</a:t>
              </a:r>
            </a:p>
          </p:txBody>
        </p:sp>
        <p:sp>
          <p:nvSpPr>
            <p:cNvPr id="87" name="Ellipse 87"/>
            <p:cNvSpPr/>
            <p:nvPr/>
          </p:nvSpPr>
          <p:spPr>
            <a:xfrm>
              <a:off x="8572500" y="3619500"/>
              <a:ext cx="419100" cy="419100"/>
            </a:xfrm>
            <a:prstGeom prst="ellipse">
              <a:avLst/>
            </a:prstGeom>
            <a:solidFill>
              <a:srgbClr val="E9563C"/>
            </a:solidFill>
            <a:ln>
              <a:noFill/>
            </a:ln>
          </p:spPr>
        </p:sp>
        <p:sp>
          <p:nvSpPr>
            <p:cNvPr id="88" name="TextBox 88"/>
            <p:cNvSpPr txBox="1"/>
            <p:nvPr/>
          </p:nvSpPr>
          <p:spPr>
            <a:xfrm>
              <a:off x="8706168" y="3749278"/>
              <a:ext cx="151765" cy="197644"/>
            </a:xfrm>
            <a:prstGeom prst="rect">
              <a:avLst/>
            </a:prstGeom>
            <a:noFill/>
            <a:ln>
              <a:noFill/>
            </a:ln>
          </p:spPr>
          <p:txBody>
            <a:bodyPr wrap="none" lIns="0" tIns="0" rIns="0" bIns="0" anchor="t" anchorCtr="0">
              <a:spAutoFit/>
            </a:bodyPr>
            <a:lstStyle/>
            <a:p>
              <a:pPr algn="ctr">
                <a:lnSpc>
                  <a:spcPts val="675"/>
                </a:lnSpc>
              </a:pPr>
              <a:r>
                <a:rPr lang="zh-CN" sz="560" b="1" dirty="0">
                  <a:solidFill>
                    <a:srgbClr val="FFFFFF"/>
                  </a:solidFill>
                  <a:latin typeface="+mn-lt"/>
                  <a:ea typeface="+mn-ea"/>
                  <a:cs typeface="+mn-cs"/>
                </a:rPr>
                <a:t>潜力</a:t>
              </a:r>
              <a:br/>
              <a:r>
                <a:rPr lang="zh-CN" sz="560" b="1" dirty="0">
                  <a:solidFill>
                    <a:srgbClr val="FFFFFF"/>
                  </a:solidFill>
                  <a:latin typeface="+mn-lt"/>
                  <a:ea typeface="+mn-ea"/>
                  <a:cs typeface="+mn-cs"/>
                </a:rPr>
                <a:t>人群</a:t>
              </a:r>
            </a:p>
          </p:txBody>
        </p:sp>
      </p:grpSp>
      <p:grpSp>
        <p:nvGrpSpPr>
          <p:cNvPr id="118" name="logic-card"/>
          <p:cNvGrpSpPr/>
          <p:nvPr/>
        </p:nvGrpSpPr>
        <p:grpSpPr>
          <a:xfrm>
            <a:off x="9620250" y="1524000"/>
            <a:ext cx="2190750" cy="2857500"/>
            <a:chOff x="9620250" y="1524000"/>
            <a:chExt cx="2190750" cy="2857500"/>
          </a:xfrm>
        </p:grpSpPr>
        <p:sp>
          <p:nvSpPr>
            <p:cNvPr id="90" name="Rectangle 90"/>
            <p:cNvSpPr/>
            <p:nvPr/>
          </p:nvSpPr>
          <p:spPr>
            <a:xfrm>
              <a:off x="9620250" y="1524000"/>
              <a:ext cx="2190750" cy="2857500"/>
            </a:xfrm>
            <a:prstGeom prst="rect">
              <a:avLst/>
            </a:prstGeom>
            <a:solidFill>
              <a:srgbClr val="F7FBF4"/>
            </a:solidFill>
            <a:ln w="11430">
              <a:solidFill>
                <a:srgbClr val="9C594C"/>
              </a:solidFill>
            </a:ln>
          </p:spPr>
        </p:sp>
        <p:sp>
          <p:nvSpPr>
            <p:cNvPr id="91" name="TextBox 91"/>
            <p:cNvSpPr txBox="1"/>
            <p:nvPr/>
          </p:nvSpPr>
          <p:spPr>
            <a:xfrm>
              <a:off x="10215562" y="1715452"/>
              <a:ext cx="1000125" cy="205359"/>
            </a:xfrm>
            <a:prstGeom prst="rect">
              <a:avLst/>
            </a:prstGeom>
            <a:noFill/>
            <a:ln>
              <a:noFill/>
            </a:ln>
          </p:spPr>
          <p:txBody>
            <a:bodyPr wrap="none" lIns="0" tIns="0" rIns="0" bIns="0" anchor="t" anchorCtr="0">
              <a:spAutoFit/>
            </a:bodyPr>
            <a:lstStyle/>
            <a:p>
              <a:pPr algn="ctr"/>
              <a:r>
                <a:rPr lang="zh-CN" sz="1050" b="1" dirty="0">
                  <a:solidFill>
                    <a:srgbClr val="7A3E33"/>
                  </a:solidFill>
                  <a:latin typeface="+mn-lt"/>
                  <a:ea typeface="+mn-ea"/>
                  <a:cs typeface="+mn-cs"/>
                </a:rPr>
                <a:t>深耕逻辑和方向</a:t>
              </a:r>
            </a:p>
          </p:txBody>
        </p:sp>
        <p:sp>
          <p:nvSpPr>
            <p:cNvPr id="92" name="TextBox 92"/>
            <p:cNvSpPr txBox="1"/>
            <p:nvPr/>
          </p:nvSpPr>
          <p:spPr>
            <a:xfrm>
              <a:off x="10214928" y="1980486"/>
              <a:ext cx="1001395" cy="273844"/>
            </a:xfrm>
            <a:prstGeom prst="rect">
              <a:avLst/>
            </a:prstGeom>
            <a:noFill/>
            <a:ln>
              <a:noFill/>
            </a:ln>
          </p:spPr>
          <p:txBody>
            <a:bodyPr wrap="none" lIns="0" tIns="0" rIns="0" bIns="0" anchor="t" anchorCtr="0">
              <a:spAutoFit/>
            </a:bodyPr>
            <a:lstStyle/>
            <a:p>
              <a:pPr algn="ctr">
                <a:lnSpc>
                  <a:spcPts val="1050"/>
                </a:lnSpc>
              </a:pPr>
              <a:r>
                <a:rPr lang="zh-CN" sz="710" dirty="0">
                  <a:solidFill>
                    <a:srgbClr val="333333"/>
                  </a:solidFill>
                  <a:latin typeface="+mn-lt"/>
                  <a:ea typeface="+mn-ea"/>
                  <a:cs typeface="+mn-cs"/>
                </a:rPr>
                <a:t>元宇宙强调虚实相融</a:t>
              </a:r>
              <a:br/>
              <a:r>
                <a:rPr lang="zh-CN" sz="710" dirty="0">
                  <a:solidFill>
                    <a:srgbClr val="333333"/>
                  </a:solidFill>
                  <a:latin typeface="+mn-lt"/>
                  <a:ea typeface="+mn-ea"/>
                  <a:cs typeface="+mn-cs"/>
                </a:rPr>
                <a:t>还是能够反哺于现实社会</a:t>
              </a:r>
            </a:p>
          </p:txBody>
        </p:sp>
        <p:sp>
          <p:nvSpPr>
            <p:cNvPr id="93" name="TextBox 93"/>
            <p:cNvSpPr txBox="1"/>
            <p:nvPr/>
          </p:nvSpPr>
          <p:spPr>
            <a:xfrm>
              <a:off x="10519702" y="262818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个人投资</a:t>
              </a:r>
            </a:p>
          </p:txBody>
        </p:sp>
        <p:sp>
          <p:nvSpPr>
            <p:cNvPr id="94" name="Freeform 94"/>
            <p:cNvSpPr/>
            <p:nvPr/>
          </p:nvSpPr>
          <p:spPr>
            <a:xfrm>
              <a:off x="10144125" y="2857500"/>
              <a:ext cx="1143000" cy="904875"/>
            </a:xfrm>
            <a:prstGeom prst="triangle">
              <a:avLst/>
            </a:prstGeom>
            <a:solidFill>
              <a:srgbClr val="DFF0D2"/>
            </a:solidFill>
            <a:ln w="9525">
              <a:solidFill>
                <a:srgbClr val="BF857A"/>
              </a:solidFill>
            </a:ln>
          </p:spPr>
        </p:sp>
        <p:sp>
          <p:nvSpPr>
            <p:cNvPr id="95" name="Ellipse 95"/>
            <p:cNvSpPr/>
            <p:nvPr/>
          </p:nvSpPr>
          <p:spPr>
            <a:xfrm>
              <a:off x="10601325" y="2743200"/>
              <a:ext cx="228600" cy="228600"/>
            </a:xfrm>
            <a:prstGeom prst="ellipse">
              <a:avLst/>
            </a:prstGeom>
            <a:solidFill>
              <a:srgbClr val="9C594C"/>
            </a:solidFill>
            <a:ln>
              <a:noFill/>
            </a:ln>
          </p:spPr>
        </p:sp>
        <p:grpSp>
          <p:nvGrpSpPr>
            <p:cNvPr id="99" name="Group 99"/>
            <p:cNvGrpSpPr/>
            <p:nvPr/>
          </p:nvGrpSpPr>
          <p:grpSpPr>
            <a:xfrm>
              <a:off x="10672762" y="2814638"/>
              <a:ext cx="85725" cy="85724"/>
              <a:chOff x="10672762" y="2814638"/>
              <a:chExt cx="85725" cy="85724"/>
            </a:xfrm>
          </p:grpSpPr>
          <p:sp>
            <p:nvSpPr>
              <p:cNvPr id="96" name="Freeform 96"/>
              <p:cNvSpPr/>
              <p:nvPr/>
            </p:nvSpPr>
            <p:spPr>
              <a:xfrm>
                <a:off x="10672762" y="2814638"/>
                <a:ext cx="85725" cy="42862"/>
              </a:xfrm>
              <a:custGeom>
                <a:avLst/>
                <a:gdLst/>
                <a:ahLst/>
                <a:cxnLst/>
                <a:rect l="l" t="t" r="r" b="b"/>
                <a:pathLst>
                  <a:path w="85725" h="42862">
                    <a:moveTo>
                      <a:pt x="9525" y="42862"/>
                    </a:moveTo>
                    <a:lnTo>
                      <a:pt x="0" y="42862"/>
                    </a:lnTo>
                    <a:lnTo>
                      <a:pt x="42862" y="0"/>
                    </a:lnTo>
                    <a:lnTo>
                      <a:pt x="85725" y="42862"/>
                    </a:lnTo>
                    <a:lnTo>
                      <a:pt x="76200" y="42862"/>
                    </a:lnTo>
                  </a:path>
                </a:pathLst>
              </a:custGeom>
              <a:noFill/>
              <a:ln w="9525">
                <a:solidFill>
                  <a:srgbClr val="FFFFFF"/>
                </a:solidFill>
              </a:ln>
            </p:spPr>
          </p:sp>
          <p:sp>
            <p:nvSpPr>
              <p:cNvPr id="97" name="Freeform 97"/>
              <p:cNvSpPr/>
              <p:nvPr/>
            </p:nvSpPr>
            <p:spPr>
              <a:xfrm>
                <a:off x="10682288" y="2857500"/>
                <a:ext cx="66675" cy="42862"/>
              </a:xfrm>
              <a:custGeom>
                <a:avLst/>
                <a:gdLst/>
                <a:ahLst/>
                <a:cxnLst/>
                <a:rect l="l" t="t" r="r" b="b"/>
                <a:pathLst>
                  <a:path w="66675" h="42862">
                    <a:moveTo>
                      <a:pt x="0" y="0"/>
                    </a:moveTo>
                    <a:lnTo>
                      <a:pt x="0" y="33338"/>
                    </a:lnTo>
                    <a:cubicBezTo>
                      <a:pt x="0" y="38598"/>
                      <a:pt x="4264" y="42862"/>
                      <a:pt x="9525" y="42862"/>
                    </a:cubicBezTo>
                    <a:lnTo>
                      <a:pt x="57150" y="42862"/>
                    </a:lnTo>
                    <a:cubicBezTo>
                      <a:pt x="62411" y="42862"/>
                      <a:pt x="66675" y="38598"/>
                      <a:pt x="66675" y="33338"/>
                    </a:cubicBezTo>
                    <a:lnTo>
                      <a:pt x="66675" y="0"/>
                    </a:lnTo>
                  </a:path>
                </a:pathLst>
              </a:custGeom>
              <a:noFill/>
              <a:ln w="9525">
                <a:solidFill>
                  <a:srgbClr val="FFFFFF"/>
                </a:solidFill>
              </a:ln>
            </p:spPr>
          </p:sp>
          <p:sp>
            <p:nvSpPr>
              <p:cNvPr id="98" name="Freeform 98"/>
              <p:cNvSpPr/>
              <p:nvPr/>
            </p:nvSpPr>
            <p:spPr>
              <a:xfrm>
                <a:off x="10701338" y="2862262"/>
                <a:ext cx="28575" cy="38100"/>
              </a:xfrm>
              <a:custGeom>
                <a:avLst/>
                <a:gdLst/>
                <a:ahLst/>
                <a:cxnLst/>
                <a:rect l="l" t="t" r="r" b="b"/>
                <a:pathLst>
                  <a:path w="28575" h="38100">
                    <a:moveTo>
                      <a:pt x="0" y="38100"/>
                    </a:moveTo>
                    <a:lnTo>
                      <a:pt x="0" y="9525"/>
                    </a:lnTo>
                    <a:cubicBezTo>
                      <a:pt x="0" y="4264"/>
                      <a:pt x="4264" y="0"/>
                      <a:pt x="9525" y="0"/>
                    </a:cubicBezTo>
                    <a:lnTo>
                      <a:pt x="19050" y="0"/>
                    </a:lnTo>
                    <a:cubicBezTo>
                      <a:pt x="24311" y="0"/>
                      <a:pt x="28575" y="4264"/>
                      <a:pt x="28575" y="9525"/>
                    </a:cubicBezTo>
                    <a:lnTo>
                      <a:pt x="28575" y="38100"/>
                    </a:lnTo>
                  </a:path>
                </a:pathLst>
              </a:custGeom>
              <a:noFill/>
              <a:ln w="9525">
                <a:solidFill>
                  <a:srgbClr val="FFFFFF"/>
                </a:solidFill>
              </a:ln>
            </p:spPr>
          </p:sp>
        </p:grpSp>
        <p:sp>
          <p:nvSpPr>
            <p:cNvPr id="100" name="Ellipse 100"/>
            <p:cNvSpPr/>
            <p:nvPr/>
          </p:nvSpPr>
          <p:spPr>
            <a:xfrm>
              <a:off x="10029825" y="3648075"/>
              <a:ext cx="228600" cy="228600"/>
            </a:xfrm>
            <a:prstGeom prst="ellipse">
              <a:avLst/>
            </a:prstGeom>
            <a:solidFill>
              <a:srgbClr val="9C594C"/>
            </a:solidFill>
            <a:ln>
              <a:noFill/>
            </a:ln>
          </p:spPr>
        </p:sp>
        <p:grpSp>
          <p:nvGrpSpPr>
            <p:cNvPr id="109" name="Group 109"/>
            <p:cNvGrpSpPr/>
            <p:nvPr/>
          </p:nvGrpSpPr>
          <p:grpSpPr>
            <a:xfrm>
              <a:off x="10101262" y="3719512"/>
              <a:ext cx="90488" cy="95251"/>
              <a:chOff x="10101262" y="3719512"/>
              <a:chExt cx="90488" cy="95251"/>
            </a:xfrm>
          </p:grpSpPr>
          <p:sp>
            <p:nvSpPr>
              <p:cNvPr id="101" name="Freeform 101"/>
              <p:cNvSpPr/>
              <p:nvPr/>
            </p:nvSpPr>
            <p:spPr>
              <a:xfrm>
                <a:off x="10101262" y="3805238"/>
                <a:ext cx="85725" cy="9525"/>
              </a:xfrm>
              <a:custGeom>
                <a:avLst/>
                <a:gdLst/>
                <a:ahLst/>
                <a:cxnLst/>
                <a:rect l="l" t="t" r="r" b="b"/>
                <a:pathLst>
                  <a:path w="85725" h="9525">
                    <a:moveTo>
                      <a:pt x="0" y="0"/>
                    </a:moveTo>
                    <a:lnTo>
                      <a:pt x="85725" y="0"/>
                    </a:lnTo>
                  </a:path>
                </a:pathLst>
              </a:custGeom>
              <a:noFill/>
              <a:ln w="9525">
                <a:solidFill>
                  <a:srgbClr val="FFFFFF"/>
                </a:solidFill>
              </a:ln>
            </p:spPr>
          </p:sp>
          <p:sp>
            <p:nvSpPr>
              <p:cNvPr id="102" name="Freeform 102"/>
              <p:cNvSpPr/>
              <p:nvPr/>
            </p:nvSpPr>
            <p:spPr>
              <a:xfrm>
                <a:off x="10101262" y="3752850"/>
                <a:ext cx="85725" cy="9525"/>
              </a:xfrm>
              <a:custGeom>
                <a:avLst/>
                <a:gdLst/>
                <a:ahLst/>
                <a:cxnLst/>
                <a:rect l="l" t="t" r="r" b="b"/>
                <a:pathLst>
                  <a:path w="85725" h="9525">
                    <a:moveTo>
                      <a:pt x="0" y="0"/>
                    </a:moveTo>
                    <a:lnTo>
                      <a:pt x="85725" y="0"/>
                    </a:lnTo>
                  </a:path>
                </a:pathLst>
              </a:custGeom>
              <a:noFill/>
              <a:ln w="9525">
                <a:solidFill>
                  <a:srgbClr val="FFFFFF"/>
                </a:solidFill>
              </a:ln>
            </p:spPr>
          </p:sp>
          <p:sp>
            <p:nvSpPr>
              <p:cNvPr id="103" name="Freeform 103"/>
              <p:cNvSpPr/>
              <p:nvPr/>
            </p:nvSpPr>
            <p:spPr>
              <a:xfrm>
                <a:off x="10110788" y="3719512"/>
                <a:ext cx="66675" cy="14288"/>
              </a:xfrm>
              <a:custGeom>
                <a:avLst/>
                <a:gdLst/>
                <a:ahLst/>
                <a:cxnLst/>
                <a:rect l="l" t="t" r="r" b="b"/>
                <a:pathLst>
                  <a:path w="66675" h="14288">
                    <a:moveTo>
                      <a:pt x="0" y="14288"/>
                    </a:moveTo>
                    <a:lnTo>
                      <a:pt x="33338" y="0"/>
                    </a:lnTo>
                    <a:lnTo>
                      <a:pt x="66675" y="14288"/>
                    </a:lnTo>
                  </a:path>
                </a:pathLst>
              </a:custGeom>
              <a:noFill/>
              <a:ln w="9525">
                <a:solidFill>
                  <a:srgbClr val="FFFFFF"/>
                </a:solidFill>
              </a:ln>
            </p:spPr>
          </p:sp>
          <p:sp>
            <p:nvSpPr>
              <p:cNvPr id="104" name="Freeform 104"/>
              <p:cNvSpPr/>
              <p:nvPr/>
            </p:nvSpPr>
            <p:spPr>
              <a:xfrm>
                <a:off x="10106025" y="3752850"/>
                <a:ext cx="9525" cy="52388"/>
              </a:xfrm>
              <a:custGeom>
                <a:avLst/>
                <a:gdLst/>
                <a:ahLst/>
                <a:cxnLst/>
                <a:rect l="l" t="t" r="r" b="b"/>
                <a:pathLst>
                  <a:path w="9525" h="52388">
                    <a:moveTo>
                      <a:pt x="0" y="0"/>
                    </a:moveTo>
                    <a:lnTo>
                      <a:pt x="0" y="52388"/>
                    </a:lnTo>
                  </a:path>
                </a:pathLst>
              </a:custGeom>
              <a:noFill/>
              <a:ln w="9525">
                <a:solidFill>
                  <a:srgbClr val="FFFFFF"/>
                </a:solidFill>
              </a:ln>
            </p:spPr>
          </p:sp>
          <p:sp>
            <p:nvSpPr>
              <p:cNvPr id="105" name="Freeform 105"/>
              <p:cNvSpPr/>
              <p:nvPr/>
            </p:nvSpPr>
            <p:spPr>
              <a:xfrm>
                <a:off x="10182225" y="3752850"/>
                <a:ext cx="9525" cy="52388"/>
              </a:xfrm>
              <a:custGeom>
                <a:avLst/>
                <a:gdLst/>
                <a:ahLst/>
                <a:cxnLst/>
                <a:rect l="l" t="t" r="r" b="b"/>
                <a:pathLst>
                  <a:path w="9525" h="52388">
                    <a:moveTo>
                      <a:pt x="0" y="0"/>
                    </a:moveTo>
                    <a:lnTo>
                      <a:pt x="0" y="52388"/>
                    </a:lnTo>
                  </a:path>
                </a:pathLst>
              </a:custGeom>
              <a:noFill/>
              <a:ln w="9525">
                <a:solidFill>
                  <a:srgbClr val="FFFFFF"/>
                </a:solidFill>
              </a:ln>
            </p:spPr>
          </p:sp>
          <p:sp>
            <p:nvSpPr>
              <p:cNvPr id="106" name="Freeform 106"/>
              <p:cNvSpPr/>
              <p:nvPr/>
            </p:nvSpPr>
            <p:spPr>
              <a:xfrm>
                <a:off x="10125075" y="3771900"/>
                <a:ext cx="9525" cy="14288"/>
              </a:xfrm>
              <a:custGeom>
                <a:avLst/>
                <a:gdLst/>
                <a:ahLst/>
                <a:cxnLst/>
                <a:rect l="l" t="t" r="r" b="b"/>
                <a:pathLst>
                  <a:path w="9525" h="14288">
                    <a:moveTo>
                      <a:pt x="0" y="0"/>
                    </a:moveTo>
                    <a:lnTo>
                      <a:pt x="0" y="14288"/>
                    </a:lnTo>
                  </a:path>
                </a:pathLst>
              </a:custGeom>
              <a:noFill/>
              <a:ln w="9525">
                <a:solidFill>
                  <a:srgbClr val="FFFFFF"/>
                </a:solidFill>
              </a:ln>
            </p:spPr>
          </p:sp>
          <p:sp>
            <p:nvSpPr>
              <p:cNvPr id="107" name="Freeform 107"/>
              <p:cNvSpPr/>
              <p:nvPr/>
            </p:nvSpPr>
            <p:spPr>
              <a:xfrm>
                <a:off x="10144125" y="3771900"/>
                <a:ext cx="9525" cy="14288"/>
              </a:xfrm>
              <a:custGeom>
                <a:avLst/>
                <a:gdLst/>
                <a:ahLst/>
                <a:cxnLst/>
                <a:rect l="l" t="t" r="r" b="b"/>
                <a:pathLst>
                  <a:path w="9525" h="14288">
                    <a:moveTo>
                      <a:pt x="0" y="0"/>
                    </a:moveTo>
                    <a:lnTo>
                      <a:pt x="0" y="14288"/>
                    </a:lnTo>
                  </a:path>
                </a:pathLst>
              </a:custGeom>
              <a:noFill/>
              <a:ln w="9525">
                <a:solidFill>
                  <a:srgbClr val="FFFFFF"/>
                </a:solidFill>
              </a:ln>
            </p:spPr>
          </p:sp>
          <p:sp>
            <p:nvSpPr>
              <p:cNvPr id="108" name="Freeform 108"/>
              <p:cNvSpPr/>
              <p:nvPr/>
            </p:nvSpPr>
            <p:spPr>
              <a:xfrm>
                <a:off x="10163175" y="3771900"/>
                <a:ext cx="9525" cy="14288"/>
              </a:xfrm>
              <a:custGeom>
                <a:avLst/>
                <a:gdLst/>
                <a:ahLst/>
                <a:cxnLst/>
                <a:rect l="l" t="t" r="r" b="b"/>
                <a:pathLst>
                  <a:path w="9525" h="14288">
                    <a:moveTo>
                      <a:pt x="0" y="0"/>
                    </a:moveTo>
                    <a:lnTo>
                      <a:pt x="0" y="14288"/>
                    </a:lnTo>
                  </a:path>
                </a:pathLst>
              </a:custGeom>
              <a:noFill/>
              <a:ln w="9525">
                <a:solidFill>
                  <a:srgbClr val="FFFFFF"/>
                </a:solidFill>
              </a:ln>
            </p:spPr>
          </p:sp>
        </p:grpSp>
        <p:sp>
          <p:nvSpPr>
            <p:cNvPr id="110" name="Ellipse 110"/>
            <p:cNvSpPr/>
            <p:nvPr/>
          </p:nvSpPr>
          <p:spPr>
            <a:xfrm>
              <a:off x="11172825" y="3648075"/>
              <a:ext cx="228600" cy="228600"/>
            </a:xfrm>
            <a:prstGeom prst="ellipse">
              <a:avLst/>
            </a:prstGeom>
            <a:solidFill>
              <a:srgbClr val="9C594C"/>
            </a:solidFill>
            <a:ln>
              <a:noFill/>
            </a:ln>
          </p:spPr>
        </p:sp>
        <p:grpSp>
          <p:nvGrpSpPr>
            <p:cNvPr id="115" name="Group 115"/>
            <p:cNvGrpSpPr/>
            <p:nvPr/>
          </p:nvGrpSpPr>
          <p:grpSpPr>
            <a:xfrm>
              <a:off x="11244262" y="3719512"/>
              <a:ext cx="85725" cy="80962"/>
              <a:chOff x="11244262" y="3719512"/>
              <a:chExt cx="85725" cy="80962"/>
            </a:xfrm>
          </p:grpSpPr>
          <p:sp>
            <p:nvSpPr>
              <p:cNvPr id="111" name="Freeform 111"/>
              <p:cNvSpPr/>
              <p:nvPr/>
            </p:nvSpPr>
            <p:spPr>
              <a:xfrm>
                <a:off x="11244262" y="3738562"/>
                <a:ext cx="85725" cy="61912"/>
              </a:xfrm>
              <a:custGeom>
                <a:avLst/>
                <a:gdLst/>
                <a:ahLst/>
                <a:cxnLst/>
                <a:rect l="l" t="t" r="r" b="b"/>
                <a:pathLst>
                  <a:path w="85725" h="61912">
                    <a:moveTo>
                      <a:pt x="0" y="9525"/>
                    </a:moveTo>
                    <a:cubicBezTo>
                      <a:pt x="0" y="4264"/>
                      <a:pt x="4264" y="0"/>
                      <a:pt x="9525" y="0"/>
                    </a:cubicBezTo>
                    <a:lnTo>
                      <a:pt x="76200" y="0"/>
                    </a:lnTo>
                    <a:cubicBezTo>
                      <a:pt x="81461" y="0"/>
                      <a:pt x="85725" y="4264"/>
                      <a:pt x="85725" y="9525"/>
                    </a:cubicBezTo>
                    <a:lnTo>
                      <a:pt x="85725" y="52388"/>
                    </a:lnTo>
                    <a:cubicBezTo>
                      <a:pt x="85725" y="57648"/>
                      <a:pt x="81461" y="61912"/>
                      <a:pt x="76200" y="61912"/>
                    </a:cubicBezTo>
                    <a:lnTo>
                      <a:pt x="9525" y="61912"/>
                    </a:lnTo>
                    <a:cubicBezTo>
                      <a:pt x="4264" y="61912"/>
                      <a:pt x="0" y="57648"/>
                      <a:pt x="0" y="52388"/>
                    </a:cubicBezTo>
                    <a:lnTo>
                      <a:pt x="0" y="9525"/>
                    </a:lnTo>
                  </a:path>
                </a:pathLst>
              </a:custGeom>
              <a:noFill/>
              <a:ln w="9525">
                <a:solidFill>
                  <a:srgbClr val="FFFFFF"/>
                </a:solidFill>
              </a:ln>
            </p:spPr>
          </p:sp>
          <p:sp>
            <p:nvSpPr>
              <p:cNvPr id="112" name="Freeform 112"/>
              <p:cNvSpPr/>
              <p:nvPr/>
            </p:nvSpPr>
            <p:spPr>
              <a:xfrm>
                <a:off x="11268075" y="3719512"/>
                <a:ext cx="38100" cy="19050"/>
              </a:xfrm>
              <a:custGeom>
                <a:avLst/>
                <a:gdLst/>
                <a:ahLst/>
                <a:cxnLst/>
                <a:rect l="l" t="t" r="r" b="b"/>
                <a:pathLst>
                  <a:path w="38100" h="19050">
                    <a:moveTo>
                      <a:pt x="0" y="19050"/>
                    </a:moveTo>
                    <a:lnTo>
                      <a:pt x="0" y="9525"/>
                    </a:lnTo>
                    <a:cubicBezTo>
                      <a:pt x="0" y="4264"/>
                      <a:pt x="4264" y="0"/>
                      <a:pt x="9525" y="0"/>
                    </a:cubicBezTo>
                    <a:lnTo>
                      <a:pt x="28575" y="0"/>
                    </a:lnTo>
                    <a:cubicBezTo>
                      <a:pt x="33836" y="0"/>
                      <a:pt x="38100" y="4264"/>
                      <a:pt x="38100" y="9525"/>
                    </a:cubicBezTo>
                    <a:lnTo>
                      <a:pt x="38100" y="19050"/>
                    </a:lnTo>
                  </a:path>
                </a:pathLst>
              </a:custGeom>
              <a:noFill/>
              <a:ln w="9525">
                <a:solidFill>
                  <a:srgbClr val="FFFFFF"/>
                </a:solidFill>
              </a:ln>
            </p:spPr>
          </p:sp>
          <p:sp>
            <p:nvSpPr>
              <p:cNvPr id="113" name="Freeform 113"/>
              <p:cNvSpPr/>
              <p:nvPr/>
            </p:nvSpPr>
            <p:spPr>
              <a:xfrm>
                <a:off x="11287125" y="3762375"/>
                <a:ext cx="9525" cy="9525"/>
              </a:xfrm>
              <a:custGeom>
                <a:avLst/>
                <a:gdLst/>
                <a:ahLst/>
                <a:cxnLst/>
                <a:rect l="l" t="t" r="r" b="b"/>
                <a:pathLst>
                  <a:path w="9525" h="9525">
                    <a:moveTo>
                      <a:pt x="0" y="0"/>
                    </a:moveTo>
                    <a:lnTo>
                      <a:pt x="0" y="48"/>
                    </a:lnTo>
                  </a:path>
                </a:pathLst>
              </a:custGeom>
              <a:noFill/>
              <a:ln w="9525">
                <a:solidFill>
                  <a:srgbClr val="FFFFFF"/>
                </a:solidFill>
              </a:ln>
            </p:spPr>
          </p:sp>
          <p:sp>
            <p:nvSpPr>
              <p:cNvPr id="114" name="Freeform 114"/>
              <p:cNvSpPr/>
              <p:nvPr/>
            </p:nvSpPr>
            <p:spPr>
              <a:xfrm>
                <a:off x="11244262" y="3767138"/>
                <a:ext cx="85725" cy="13585"/>
              </a:xfrm>
              <a:custGeom>
                <a:avLst/>
                <a:gdLst/>
                <a:ahLst/>
                <a:cxnLst/>
                <a:rect l="l" t="t" r="r" b="b"/>
                <a:pathLst>
                  <a:path w="85725" h="13585">
                    <a:moveTo>
                      <a:pt x="0" y="0"/>
                    </a:moveTo>
                    <a:cubicBezTo>
                      <a:pt x="26960" y="13585"/>
                      <a:pt x="58765" y="13585"/>
                      <a:pt x="85725" y="0"/>
                    </a:cubicBezTo>
                  </a:path>
                </a:pathLst>
              </a:custGeom>
              <a:noFill/>
              <a:ln w="9525">
                <a:solidFill>
                  <a:srgbClr val="FFFFFF"/>
                </a:solidFill>
              </a:ln>
            </p:spPr>
          </p:sp>
        </p:grpSp>
        <p:sp>
          <p:nvSpPr>
            <p:cNvPr id="116" name="TextBox 116"/>
            <p:cNvSpPr txBox="1"/>
            <p:nvPr/>
          </p:nvSpPr>
          <p:spPr>
            <a:xfrm>
              <a:off x="9948202" y="396168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机构投资</a:t>
              </a:r>
            </a:p>
          </p:txBody>
        </p:sp>
        <p:sp>
          <p:nvSpPr>
            <p:cNvPr id="117" name="TextBox 117"/>
            <p:cNvSpPr txBox="1"/>
            <p:nvPr/>
          </p:nvSpPr>
          <p:spPr>
            <a:xfrm>
              <a:off x="11091202" y="3961686"/>
              <a:ext cx="391846" cy="140494"/>
            </a:xfrm>
            <a:prstGeom prst="rect">
              <a:avLst/>
            </a:prstGeom>
            <a:noFill/>
            <a:ln>
              <a:noFill/>
            </a:ln>
          </p:spPr>
          <p:txBody>
            <a:bodyPr wrap="none" lIns="0" tIns="0" rIns="0" bIns="0" anchor="t" anchorCtr="0">
              <a:spAutoFit/>
            </a:bodyPr>
            <a:lstStyle/>
            <a:p>
              <a:pPr algn="ctr"/>
              <a:r>
                <a:rPr lang="zh-CN" sz="710" dirty="0">
                  <a:solidFill>
                    <a:srgbClr val="7A3E33"/>
                  </a:solidFill>
                  <a:latin typeface="+mn-lt"/>
                  <a:ea typeface="+mn-ea"/>
                  <a:cs typeface="+mn-cs"/>
                </a:rPr>
                <a:t>实体企业</a:t>
              </a:r>
            </a:p>
          </p:txBody>
        </p:sp>
      </p:grpSp>
      <p:grpSp>
        <p:nvGrpSpPr>
          <p:cNvPr id="155" name="timeline-band"/>
          <p:cNvGrpSpPr/>
          <p:nvPr/>
        </p:nvGrpSpPr>
        <p:grpSpPr>
          <a:xfrm>
            <a:off x="381000" y="4533900"/>
            <a:ext cx="11430000" cy="1047750"/>
            <a:chOff x="381000" y="4533900"/>
            <a:chExt cx="11430000" cy="1047750"/>
          </a:xfrm>
        </p:grpSpPr>
        <p:sp>
          <p:nvSpPr>
            <p:cNvPr id="119" name="Rectangle 119"/>
            <p:cNvSpPr/>
            <p:nvPr/>
          </p:nvSpPr>
          <p:spPr>
            <a:xfrm>
              <a:off x="381000" y="4533900"/>
              <a:ext cx="11430000" cy="1047750"/>
            </a:xfrm>
            <a:prstGeom prst="rect">
              <a:avLst/>
            </a:prstGeom>
            <a:solidFill>
              <a:srgbClr val="F4F8EF"/>
            </a:solidFill>
            <a:ln w="9525">
              <a:solidFill>
                <a:srgbClr val="BF857A"/>
              </a:solidFill>
            </a:ln>
          </p:spPr>
        </p:sp>
        <p:sp>
          <p:nvSpPr>
            <p:cNvPr id="120" name="Rectangle 120"/>
            <p:cNvSpPr/>
            <p:nvPr/>
          </p:nvSpPr>
          <p:spPr>
            <a:xfrm>
              <a:off x="381000" y="4533900"/>
              <a:ext cx="1809750" cy="1047750"/>
            </a:xfrm>
            <a:prstGeom prst="rect">
              <a:avLst/>
            </a:prstGeom>
            <a:solidFill>
              <a:srgbClr val="9C594C"/>
            </a:solidFill>
            <a:ln>
              <a:noFill/>
            </a:ln>
          </p:spPr>
        </p:sp>
        <p:grpSp>
          <p:nvGrpSpPr>
            <p:cNvPr id="127" name="Group 127"/>
            <p:cNvGrpSpPr/>
            <p:nvPr/>
          </p:nvGrpSpPr>
          <p:grpSpPr>
            <a:xfrm>
              <a:off x="576262" y="4919662"/>
              <a:ext cx="257176" cy="257175"/>
              <a:chOff x="576262" y="4919662"/>
              <a:chExt cx="257176" cy="257175"/>
            </a:xfrm>
          </p:grpSpPr>
          <p:sp>
            <p:nvSpPr>
              <p:cNvPr id="121" name="Freeform 121"/>
              <p:cNvSpPr/>
              <p:nvPr/>
            </p:nvSpPr>
            <p:spPr>
              <a:xfrm>
                <a:off x="676275" y="50339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FFFFFF"/>
                </a:solidFill>
              </a:ln>
            </p:spPr>
          </p:sp>
          <p:sp>
            <p:nvSpPr>
              <p:cNvPr id="122" name="Freeform 122"/>
              <p:cNvSpPr/>
              <p:nvPr/>
            </p:nvSpPr>
            <p:spPr>
              <a:xfrm>
                <a:off x="647700" y="5133975"/>
                <a:ext cx="114300" cy="42862"/>
              </a:xfrm>
              <a:custGeom>
                <a:avLst/>
                <a:gdLst/>
                <a:ahLst/>
                <a:cxnLst/>
                <a:rect l="l" t="t" r="r" b="b"/>
                <a:pathLst>
                  <a:path w="114300" h="42862">
                    <a:moveTo>
                      <a:pt x="0" y="42862"/>
                    </a:moveTo>
                    <a:lnTo>
                      <a:pt x="0" y="28575"/>
                    </a:lnTo>
                    <a:cubicBezTo>
                      <a:pt x="0" y="12793"/>
                      <a:pt x="12793" y="0"/>
                      <a:pt x="28575" y="0"/>
                    </a:cubicBezTo>
                    <a:lnTo>
                      <a:pt x="85725" y="0"/>
                    </a:lnTo>
                    <a:cubicBezTo>
                      <a:pt x="101507" y="0"/>
                      <a:pt x="114300" y="12793"/>
                      <a:pt x="114300" y="28575"/>
                    </a:cubicBezTo>
                    <a:lnTo>
                      <a:pt x="114300" y="42862"/>
                    </a:lnTo>
                  </a:path>
                </a:pathLst>
              </a:custGeom>
              <a:noFill/>
              <a:ln w="28575">
                <a:solidFill>
                  <a:srgbClr val="FFFFFF"/>
                </a:solidFill>
              </a:ln>
            </p:spPr>
          </p:sp>
          <p:sp>
            <p:nvSpPr>
              <p:cNvPr id="123" name="Freeform 123"/>
              <p:cNvSpPr/>
              <p:nvPr/>
            </p:nvSpPr>
            <p:spPr>
              <a:xfrm>
                <a:off x="747712" y="49196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FFFFFF"/>
                </a:solidFill>
              </a:ln>
            </p:spPr>
          </p:sp>
          <p:sp>
            <p:nvSpPr>
              <p:cNvPr id="124" name="Freeform 124"/>
              <p:cNvSpPr/>
              <p:nvPr/>
            </p:nvSpPr>
            <p:spPr>
              <a:xfrm>
                <a:off x="776288" y="5019675"/>
                <a:ext cx="57150" cy="42862"/>
              </a:xfrm>
              <a:custGeom>
                <a:avLst/>
                <a:gdLst/>
                <a:ahLst/>
                <a:cxnLst/>
                <a:rect l="l" t="t" r="r" b="b"/>
                <a:pathLst>
                  <a:path w="57150" h="42862">
                    <a:moveTo>
                      <a:pt x="0" y="0"/>
                    </a:moveTo>
                    <a:lnTo>
                      <a:pt x="28575" y="0"/>
                    </a:lnTo>
                    <a:cubicBezTo>
                      <a:pt x="44357" y="0"/>
                      <a:pt x="57150" y="12793"/>
                      <a:pt x="57150" y="28575"/>
                    </a:cubicBezTo>
                    <a:lnTo>
                      <a:pt x="57150" y="42862"/>
                    </a:lnTo>
                  </a:path>
                </a:pathLst>
              </a:custGeom>
              <a:noFill/>
              <a:ln w="28575">
                <a:solidFill>
                  <a:srgbClr val="FFFFFF"/>
                </a:solidFill>
              </a:ln>
            </p:spPr>
          </p:sp>
          <p:sp>
            <p:nvSpPr>
              <p:cNvPr id="125" name="Freeform 125"/>
              <p:cNvSpPr/>
              <p:nvPr/>
            </p:nvSpPr>
            <p:spPr>
              <a:xfrm>
                <a:off x="604838" y="4919662"/>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FFFFFF"/>
                </a:solidFill>
              </a:ln>
            </p:spPr>
          </p:sp>
          <p:sp>
            <p:nvSpPr>
              <p:cNvPr id="126" name="Freeform 126"/>
              <p:cNvSpPr/>
              <p:nvPr/>
            </p:nvSpPr>
            <p:spPr>
              <a:xfrm>
                <a:off x="576262" y="5019675"/>
                <a:ext cx="57150" cy="42862"/>
              </a:xfrm>
              <a:custGeom>
                <a:avLst/>
                <a:gdLst/>
                <a:ahLst/>
                <a:cxnLst/>
                <a:rect l="l" t="t" r="r" b="b"/>
                <a:pathLst>
                  <a:path w="57150" h="42862">
                    <a:moveTo>
                      <a:pt x="0" y="42862"/>
                    </a:moveTo>
                    <a:lnTo>
                      <a:pt x="0" y="28575"/>
                    </a:lnTo>
                    <a:cubicBezTo>
                      <a:pt x="0" y="12793"/>
                      <a:pt x="12793" y="0"/>
                      <a:pt x="28575" y="0"/>
                    </a:cubicBezTo>
                    <a:lnTo>
                      <a:pt x="57150" y="0"/>
                    </a:lnTo>
                  </a:path>
                </a:pathLst>
              </a:custGeom>
              <a:noFill/>
              <a:ln w="28575">
                <a:solidFill>
                  <a:srgbClr val="FFFFFF"/>
                </a:solidFill>
              </a:ln>
            </p:spPr>
          </p:sp>
        </p:grpSp>
        <p:sp>
          <p:nvSpPr>
            <p:cNvPr id="128" name="TextBox 128"/>
            <p:cNvSpPr txBox="1"/>
            <p:nvPr/>
          </p:nvSpPr>
          <p:spPr>
            <a:xfrm>
              <a:off x="983742" y="4864418"/>
              <a:ext cx="74066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精准人群</a:t>
              </a:r>
            </a:p>
          </p:txBody>
        </p:sp>
        <p:sp>
          <p:nvSpPr>
            <p:cNvPr id="129" name="TextBox 129"/>
            <p:cNvSpPr txBox="1"/>
            <p:nvPr/>
          </p:nvSpPr>
          <p:spPr>
            <a:xfrm>
              <a:off x="983742" y="5112068"/>
              <a:ext cx="55892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再营销</a:t>
              </a:r>
            </a:p>
          </p:txBody>
        </p:sp>
        <p:sp>
          <p:nvSpPr>
            <p:cNvPr id="130" name="Line 130"/>
            <p:cNvSpPr/>
            <p:nvPr/>
          </p:nvSpPr>
          <p:spPr>
            <a:xfrm>
              <a:off x="2571750" y="5067300"/>
              <a:ext cx="8953500" cy="9525"/>
            </a:xfrm>
            <a:custGeom>
              <a:avLst/>
              <a:gdLst/>
              <a:ahLst/>
              <a:cxnLst/>
              <a:rect l="l" t="t" r="r" b="b"/>
              <a:pathLst>
                <a:path w="8953500" h="9525">
                  <a:moveTo>
                    <a:pt x="0" y="0"/>
                  </a:moveTo>
                  <a:lnTo>
                    <a:pt x="8953500" y="0"/>
                  </a:lnTo>
                </a:path>
              </a:pathLst>
            </a:custGeom>
            <a:noFill/>
            <a:ln w="28575">
              <a:solidFill>
                <a:srgbClr val="C9D8BD"/>
              </a:solidFill>
            </a:ln>
          </p:spPr>
        </p:sp>
        <p:sp>
          <p:nvSpPr>
            <p:cNvPr id="131" name="Line 131"/>
            <p:cNvSpPr/>
            <p:nvPr/>
          </p:nvSpPr>
          <p:spPr>
            <a:xfrm>
              <a:off x="2571750" y="5067300"/>
              <a:ext cx="3524250" cy="9525"/>
            </a:xfrm>
            <a:custGeom>
              <a:avLst/>
              <a:gdLst/>
              <a:ahLst/>
              <a:cxnLst/>
              <a:rect l="l" t="t" r="r" b="b"/>
              <a:pathLst>
                <a:path w="3524250" h="9525">
                  <a:moveTo>
                    <a:pt x="0" y="0"/>
                  </a:moveTo>
                  <a:lnTo>
                    <a:pt x="3524250" y="0"/>
                  </a:lnTo>
                </a:path>
              </a:pathLst>
            </a:custGeom>
            <a:noFill/>
            <a:ln w="28575">
              <a:solidFill>
                <a:srgbClr val="9C594C"/>
              </a:solidFill>
            </a:ln>
          </p:spPr>
        </p:sp>
        <p:sp>
          <p:nvSpPr>
            <p:cNvPr id="132" name="Ellipse 132"/>
            <p:cNvSpPr/>
            <p:nvPr/>
          </p:nvSpPr>
          <p:spPr>
            <a:xfrm>
              <a:off x="2514600" y="5010150"/>
              <a:ext cx="114300" cy="114300"/>
            </a:xfrm>
            <a:prstGeom prst="ellipse">
              <a:avLst/>
            </a:prstGeom>
            <a:solidFill>
              <a:srgbClr val="9C594C"/>
            </a:solidFill>
            <a:ln>
              <a:noFill/>
            </a:ln>
          </p:spPr>
        </p:sp>
        <p:sp>
          <p:nvSpPr>
            <p:cNvPr id="133" name="Ellipse 133"/>
            <p:cNvSpPr/>
            <p:nvPr/>
          </p:nvSpPr>
          <p:spPr>
            <a:xfrm>
              <a:off x="6038850" y="5010150"/>
              <a:ext cx="114300" cy="114300"/>
            </a:xfrm>
            <a:prstGeom prst="ellipse">
              <a:avLst/>
            </a:prstGeom>
            <a:solidFill>
              <a:srgbClr val="9C594C"/>
            </a:solidFill>
            <a:ln>
              <a:noFill/>
            </a:ln>
          </p:spPr>
        </p:sp>
        <p:sp>
          <p:nvSpPr>
            <p:cNvPr id="134" name="Ellipse 134"/>
            <p:cNvSpPr/>
            <p:nvPr/>
          </p:nvSpPr>
          <p:spPr>
            <a:xfrm>
              <a:off x="9563100" y="5010150"/>
              <a:ext cx="114300" cy="114300"/>
            </a:xfrm>
            <a:prstGeom prst="ellipse">
              <a:avLst/>
            </a:prstGeom>
            <a:solidFill>
              <a:srgbClr val="FFFFFF"/>
            </a:solidFill>
            <a:ln w="19050">
              <a:solidFill>
                <a:srgbClr val="9C594C"/>
              </a:solidFill>
            </a:ln>
          </p:spPr>
        </p:sp>
        <p:sp>
          <p:nvSpPr>
            <p:cNvPr id="135" name="Ellipse 135"/>
            <p:cNvSpPr/>
            <p:nvPr/>
          </p:nvSpPr>
          <p:spPr>
            <a:xfrm>
              <a:off x="11468100" y="5010150"/>
              <a:ext cx="114300" cy="114300"/>
            </a:xfrm>
            <a:prstGeom prst="ellipse">
              <a:avLst/>
            </a:prstGeom>
            <a:solidFill>
              <a:srgbClr val="9C594C"/>
            </a:solidFill>
            <a:ln>
              <a:noFill/>
            </a:ln>
          </p:spPr>
        </p:sp>
        <p:sp>
          <p:nvSpPr>
            <p:cNvPr id="136" name="TextBox 136"/>
            <p:cNvSpPr txBox="1"/>
            <p:nvPr/>
          </p:nvSpPr>
          <p:spPr>
            <a:xfrm>
              <a:off x="2450373" y="4852988"/>
              <a:ext cx="242754"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8.31</a:t>
              </a:r>
            </a:p>
          </p:txBody>
        </p:sp>
        <p:sp>
          <p:nvSpPr>
            <p:cNvPr id="137" name="TextBox 137"/>
            <p:cNvSpPr txBox="1"/>
            <p:nvPr/>
          </p:nvSpPr>
          <p:spPr>
            <a:xfrm>
              <a:off x="4196994" y="4828699"/>
              <a:ext cx="273761"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线上</a:t>
              </a:r>
            </a:p>
          </p:txBody>
        </p:sp>
        <p:sp>
          <p:nvSpPr>
            <p:cNvPr id="138" name="TextBox 138"/>
            <p:cNvSpPr txBox="1"/>
            <p:nvPr/>
          </p:nvSpPr>
          <p:spPr>
            <a:xfrm>
              <a:off x="5974623" y="4852988"/>
              <a:ext cx="242754"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10.8</a:t>
              </a:r>
            </a:p>
          </p:txBody>
        </p:sp>
        <p:sp>
          <p:nvSpPr>
            <p:cNvPr id="139" name="TextBox 139"/>
            <p:cNvSpPr txBox="1"/>
            <p:nvPr/>
          </p:nvSpPr>
          <p:spPr>
            <a:xfrm>
              <a:off x="7721244" y="4828699"/>
              <a:ext cx="273761"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线下</a:t>
              </a:r>
            </a:p>
          </p:txBody>
        </p:sp>
        <p:sp>
          <p:nvSpPr>
            <p:cNvPr id="140" name="TextBox 140"/>
            <p:cNvSpPr txBox="1"/>
            <p:nvPr/>
          </p:nvSpPr>
          <p:spPr>
            <a:xfrm>
              <a:off x="9469719" y="4852988"/>
              <a:ext cx="301061"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10.21</a:t>
              </a:r>
            </a:p>
          </p:txBody>
        </p:sp>
        <p:sp>
          <p:nvSpPr>
            <p:cNvPr id="141" name="TextBox 141"/>
            <p:cNvSpPr txBox="1"/>
            <p:nvPr/>
          </p:nvSpPr>
          <p:spPr>
            <a:xfrm>
              <a:off x="10435869" y="4828699"/>
              <a:ext cx="273761" cy="190690"/>
            </a:xfrm>
            <a:prstGeom prst="rect">
              <a:avLst/>
            </a:prstGeom>
            <a:noFill/>
            <a:ln>
              <a:noFill/>
            </a:ln>
          </p:spPr>
          <p:txBody>
            <a:bodyPr wrap="none" lIns="0" tIns="0" rIns="0" bIns="0" anchor="t" anchorCtr="0">
              <a:spAutoFit/>
            </a:bodyPr>
            <a:lstStyle/>
            <a:p>
              <a:pPr algn="ctr"/>
              <a:r>
                <a:rPr lang="zh-CN" sz="980" b="1" dirty="0">
                  <a:solidFill>
                    <a:srgbClr val="333333"/>
                  </a:solidFill>
                  <a:latin typeface="+mn-lt"/>
                  <a:ea typeface="+mn-ea"/>
                  <a:cs typeface="+mn-cs"/>
                </a:rPr>
                <a:t>长尾</a:t>
              </a:r>
            </a:p>
          </p:txBody>
        </p:sp>
        <p:sp>
          <p:nvSpPr>
            <p:cNvPr id="142" name="TextBox 142"/>
            <p:cNvSpPr txBox="1"/>
            <p:nvPr/>
          </p:nvSpPr>
          <p:spPr>
            <a:xfrm>
              <a:off x="11374719" y="4852988"/>
              <a:ext cx="301061" cy="147638"/>
            </a:xfrm>
            <a:prstGeom prst="rect">
              <a:avLst/>
            </a:prstGeom>
            <a:noFill/>
            <a:ln>
              <a:noFill/>
            </a:ln>
          </p:spPr>
          <p:txBody>
            <a:bodyPr wrap="none" lIns="0" tIns="0" rIns="0" bIns="0" anchor="t" anchorCtr="0">
              <a:spAutoFit/>
            </a:bodyPr>
            <a:lstStyle/>
            <a:p>
              <a:pPr algn="ctr"/>
              <a:r>
                <a:rPr lang="zh-CN" sz="750" b="1" dirty="0">
                  <a:solidFill>
                    <a:srgbClr val="333333"/>
                  </a:solidFill>
                  <a:latin typeface="+mn-lt"/>
                  <a:ea typeface="+mn-ea"/>
                  <a:cs typeface="+mn-cs"/>
                </a:rPr>
                <a:t>10.30</a:t>
              </a:r>
            </a:p>
          </p:txBody>
        </p:sp>
        <p:sp>
          <p:nvSpPr>
            <p:cNvPr id="143" name="Rectangle 143"/>
            <p:cNvSpPr/>
            <p:nvPr/>
          </p:nvSpPr>
          <p:spPr>
            <a:xfrm>
              <a:off x="2571750" y="5219700"/>
              <a:ext cx="1333500" cy="266700"/>
            </a:xfrm>
            <a:prstGeom prst="rect">
              <a:avLst/>
            </a:prstGeom>
            <a:solidFill>
              <a:srgbClr val="FFFFFF"/>
            </a:solidFill>
            <a:ln w="9525">
              <a:solidFill>
                <a:srgbClr val="C9D8BD"/>
              </a:solidFill>
              <a:custDash>
                <a:ds d="400000" sp="300000"/>
              </a:custDash>
            </a:ln>
          </p:spPr>
        </p:sp>
        <p:sp>
          <p:nvSpPr>
            <p:cNvPr id="144" name="TextBox 144"/>
            <p:cNvSpPr txBox="1"/>
            <p:nvPr/>
          </p:nvSpPr>
          <p:spPr>
            <a:xfrm>
              <a:off x="3082290" y="5319712"/>
              <a:ext cx="31242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海选期</a:t>
              </a:r>
            </a:p>
          </p:txBody>
        </p:sp>
        <p:sp>
          <p:nvSpPr>
            <p:cNvPr id="145" name="Rectangle 145"/>
            <p:cNvSpPr/>
            <p:nvPr/>
          </p:nvSpPr>
          <p:spPr>
            <a:xfrm>
              <a:off x="4048125" y="5219700"/>
              <a:ext cx="1333500" cy="266700"/>
            </a:xfrm>
            <a:prstGeom prst="rect">
              <a:avLst/>
            </a:prstGeom>
            <a:solidFill>
              <a:srgbClr val="FFFFFF"/>
            </a:solidFill>
            <a:ln w="9525">
              <a:solidFill>
                <a:srgbClr val="C9D8BD"/>
              </a:solidFill>
              <a:custDash>
                <a:ds d="400000" sp="300000"/>
              </a:custDash>
            </a:ln>
          </p:spPr>
        </p:sp>
        <p:sp>
          <p:nvSpPr>
            <p:cNvPr id="146" name="TextBox 146"/>
            <p:cNvSpPr txBox="1"/>
            <p:nvPr/>
          </p:nvSpPr>
          <p:spPr>
            <a:xfrm>
              <a:off x="4558665" y="5319712"/>
              <a:ext cx="31242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打榜期</a:t>
              </a:r>
            </a:p>
          </p:txBody>
        </p:sp>
        <p:sp>
          <p:nvSpPr>
            <p:cNvPr id="147" name="Rectangle 147"/>
            <p:cNvSpPr/>
            <p:nvPr/>
          </p:nvSpPr>
          <p:spPr>
            <a:xfrm>
              <a:off x="5524500" y="5219700"/>
              <a:ext cx="1333500" cy="266700"/>
            </a:xfrm>
            <a:prstGeom prst="rect">
              <a:avLst/>
            </a:prstGeom>
            <a:solidFill>
              <a:srgbClr val="FFFFFF"/>
            </a:solidFill>
            <a:ln w="9525">
              <a:solidFill>
                <a:srgbClr val="C9D8BD"/>
              </a:solidFill>
              <a:custDash>
                <a:ds d="400000" sp="300000"/>
              </a:custDash>
            </a:ln>
          </p:spPr>
        </p:sp>
        <p:sp>
          <p:nvSpPr>
            <p:cNvPr id="148" name="TextBox 148"/>
            <p:cNvSpPr txBox="1"/>
            <p:nvPr/>
          </p:nvSpPr>
          <p:spPr>
            <a:xfrm>
              <a:off x="6035040" y="5319712"/>
              <a:ext cx="31242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决赛区</a:t>
              </a:r>
            </a:p>
          </p:txBody>
        </p:sp>
        <p:sp>
          <p:nvSpPr>
            <p:cNvPr id="149" name="Rectangle 149"/>
            <p:cNvSpPr/>
            <p:nvPr/>
          </p:nvSpPr>
          <p:spPr>
            <a:xfrm>
              <a:off x="7000875" y="5219700"/>
              <a:ext cx="1333500" cy="266700"/>
            </a:xfrm>
            <a:prstGeom prst="rect">
              <a:avLst/>
            </a:prstGeom>
            <a:solidFill>
              <a:srgbClr val="FFFFFF"/>
            </a:solidFill>
            <a:ln w="9525">
              <a:solidFill>
                <a:srgbClr val="C9D8BD"/>
              </a:solidFill>
              <a:custDash>
                <a:ds d="400000" sp="300000"/>
              </a:custDash>
            </a:ln>
          </p:spPr>
        </p:sp>
        <p:sp>
          <p:nvSpPr>
            <p:cNvPr id="150" name="TextBox 150"/>
            <p:cNvSpPr txBox="1"/>
            <p:nvPr/>
          </p:nvSpPr>
          <p:spPr>
            <a:xfrm>
              <a:off x="7511415" y="5319712"/>
              <a:ext cx="312420"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预热期</a:t>
              </a:r>
            </a:p>
          </p:txBody>
        </p:sp>
        <p:sp>
          <p:nvSpPr>
            <p:cNvPr id="151" name="Rectangle 151"/>
            <p:cNvSpPr/>
            <p:nvPr/>
          </p:nvSpPr>
          <p:spPr>
            <a:xfrm>
              <a:off x="8477250" y="5219700"/>
              <a:ext cx="1333500" cy="266700"/>
            </a:xfrm>
            <a:prstGeom prst="rect">
              <a:avLst/>
            </a:prstGeom>
            <a:solidFill>
              <a:srgbClr val="FFFFFF"/>
            </a:solidFill>
            <a:ln w="9525">
              <a:solidFill>
                <a:srgbClr val="C9D8BD"/>
              </a:solidFill>
              <a:custDash>
                <a:ds d="400000" sp="300000"/>
              </a:custDash>
            </a:ln>
          </p:spPr>
        </p:sp>
        <p:sp>
          <p:nvSpPr>
            <p:cNvPr id="152" name="TextBox 152"/>
            <p:cNvSpPr txBox="1"/>
            <p:nvPr/>
          </p:nvSpPr>
          <p:spPr>
            <a:xfrm>
              <a:off x="8937308" y="5319712"/>
              <a:ext cx="413385" cy="147638"/>
            </a:xfrm>
            <a:prstGeom prst="rect">
              <a:avLst/>
            </a:prstGeom>
            <a:noFill/>
            <a:ln>
              <a:noFill/>
            </a:ln>
          </p:spPr>
          <p:txBody>
            <a:bodyPr wrap="none" lIns="0" tIns="0" rIns="0" bIns="0" anchor="t" anchorCtr="0">
              <a:spAutoFit/>
            </a:bodyPr>
            <a:lstStyle/>
            <a:p>
              <a:pPr algn="ctr"/>
              <a:r>
                <a:rPr lang="zh-CN" sz="750" dirty="0">
                  <a:solidFill>
                    <a:srgbClr val="333333"/>
                  </a:solidFill>
                  <a:latin typeface="+mn-lt"/>
                  <a:ea typeface="+mn-ea"/>
                  <a:cs typeface="+mn-cs"/>
                </a:rPr>
                <a:t>活动开启</a:t>
              </a:r>
            </a:p>
          </p:txBody>
        </p:sp>
        <p:sp>
          <p:nvSpPr>
            <p:cNvPr id="153" name="Rectangle 153"/>
            <p:cNvSpPr/>
            <p:nvPr/>
          </p:nvSpPr>
          <p:spPr>
            <a:xfrm>
              <a:off x="9953625" y="5219700"/>
              <a:ext cx="1714500" cy="266700"/>
            </a:xfrm>
            <a:prstGeom prst="rect">
              <a:avLst/>
            </a:prstGeom>
            <a:solidFill>
              <a:srgbClr val="9C594C"/>
            </a:solidFill>
            <a:ln>
              <a:noFill/>
            </a:ln>
          </p:spPr>
        </p:sp>
        <p:sp>
          <p:nvSpPr>
            <p:cNvPr id="154" name="TextBox 154"/>
            <p:cNvSpPr txBox="1"/>
            <p:nvPr/>
          </p:nvSpPr>
          <p:spPr>
            <a:xfrm>
              <a:off x="10604182" y="5319712"/>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活动收官</a:t>
              </a:r>
            </a:p>
          </p:txBody>
        </p:sp>
      </p:grpSp>
      <p:grpSp>
        <p:nvGrpSpPr>
          <p:cNvPr id="158" name="page-footer"/>
          <p:cNvGrpSpPr/>
          <p:nvPr/>
        </p:nvGrpSpPr>
        <p:grpSpPr>
          <a:xfrm>
            <a:off x="376238" y="6689884"/>
            <a:ext cx="11439524" cy="133350"/>
            <a:chOff x="376238" y="6689884"/>
            <a:chExt cx="11439524" cy="133350"/>
          </a:xfrm>
        </p:grpSpPr>
        <p:sp>
          <p:nvSpPr>
            <p:cNvPr id="156" name="TextBox 156"/>
            <p:cNvSpPr txBox="1"/>
            <p:nvPr/>
          </p:nvSpPr>
          <p:spPr>
            <a:xfrm>
              <a:off x="376238" y="6689884"/>
              <a:ext cx="5034295" cy="133350"/>
            </a:xfrm>
            <a:prstGeom prst="rect">
              <a:avLst/>
            </a:prstGeom>
            <a:noFill/>
            <a:ln>
              <a:noFill/>
            </a:ln>
          </p:spPr>
          <p:txBody>
            <a:bodyPr wrap="none" lIns="0" tIns="0" rIns="0" bIns="0" anchor="t" anchorCtr="0">
              <a:spAutoFit/>
            </a:bodyPr>
            <a:lstStyle/>
            <a:p>
              <a:pPr algn="l"/>
              <a:r>
                <a:rPr lang="en-US" sz="680" dirty="0">
                  <a:solidFill>
                    <a:srgbClr val="A9B5A3"/>
                  </a:solidFill>
                  <a:latin typeface="+mn-lt"/>
                  <a:ea typeface="+mn-ea"/>
                  <a:cs typeface="+mn-cs"/>
                </a:rPr>
                <a:t>THE CONTENT OF THIS PPT IS FOR REFERENCE ONLY, IF THERE IS INFRINGEMENT, IT WILL BE INFRINGED AND DELETED</a:t>
              </a:r>
            </a:p>
          </p:txBody>
        </p:sp>
        <p:sp>
          <p:nvSpPr>
            <p:cNvPr id="157" name="TextBox 157"/>
            <p:cNvSpPr txBox="1"/>
            <p:nvPr/>
          </p:nvSpPr>
          <p:spPr>
            <a:xfrm>
              <a:off x="10977239" y="6689884"/>
              <a:ext cx="838523" cy="133350"/>
            </a:xfrm>
            <a:prstGeom prst="rect">
              <a:avLst/>
            </a:prstGeom>
            <a:noFill/>
            <a:ln>
              <a:noFill/>
            </a:ln>
          </p:spPr>
          <p:txBody>
            <a:bodyPr wrap="none" lIns="0" tIns="0" rIns="0" bIns="0" anchor="t" anchorCtr="0">
              <a:spAutoFit/>
            </a:bodyPr>
            <a:lstStyle/>
            <a:p>
              <a:pPr algn="r"/>
              <a:r>
                <a:rPr lang="zh-CN" sz="680" dirty="0">
                  <a:solidFill>
                    <a:srgbClr val="A9B5A3"/>
                  </a:solidFill>
                  <a:latin typeface="+mn-lt"/>
                  <a:ea typeface="+mn-ea"/>
                  <a:cs typeface="+mn-cs"/>
                </a:rPr>
                <a:t>@职场原创IdeaPoint</a:t>
              </a:r>
            </a:p>
          </p:txBody>
        </p:sp>
      </p:gr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ring-1"/>
          <p:cNvSpPr/>
          <p:nvPr/>
        </p:nvSpPr>
        <p:spPr>
          <a:xfrm>
            <a:off x="3714750" y="6210300"/>
            <a:ext cx="8953500" cy="1981200"/>
          </a:xfrm>
          <a:prstGeom prst="ellipse">
            <a:avLst/>
          </a:prstGeom>
          <a:noFill/>
          <a:ln w="28575">
            <a:solidFill>
              <a:srgbClr val="DCE8FA"/>
            </a:solidFill>
          </a:ln>
        </p:spPr>
      </p:sp>
      <p:sp>
        <p:nvSpPr>
          <p:cNvPr id="3" name="deco-ring-2"/>
          <p:cNvSpPr/>
          <p:nvPr/>
        </p:nvSpPr>
        <p:spPr>
          <a:xfrm>
            <a:off x="5143500" y="6477000"/>
            <a:ext cx="6477000" cy="1371600"/>
          </a:xfrm>
          <a:prstGeom prst="ellipse">
            <a:avLst/>
          </a:prstGeom>
          <a:noFill/>
          <a:ln w="28575">
            <a:solidFill>
              <a:srgbClr val="E6EFFC"/>
            </a:solidFill>
          </a:ln>
        </p:spPr>
      </p:sp>
      <p:sp>
        <p:nvSpPr>
          <p:cNvPr id="4" name="deco-bar-1"/>
          <p:cNvSpPr/>
          <p:nvPr/>
        </p:nvSpPr>
        <p:spPr>
          <a:xfrm>
            <a:off x="9010650" y="5429250"/>
            <a:ext cx="400050" cy="1428750"/>
          </a:xfrm>
          <a:prstGeom prst="rect">
            <a:avLst/>
          </a:prstGeom>
          <a:solidFill>
            <a:srgbClr val="E8F0FC"/>
          </a:solidFill>
          <a:ln>
            <a:noFill/>
          </a:ln>
        </p:spPr>
      </p:sp>
      <p:sp>
        <p:nvSpPr>
          <p:cNvPr id="5" name="deco-bar-2"/>
          <p:cNvSpPr/>
          <p:nvPr/>
        </p:nvSpPr>
        <p:spPr>
          <a:xfrm>
            <a:off x="9525000" y="4972050"/>
            <a:ext cx="400050" cy="1885950"/>
          </a:xfrm>
          <a:prstGeom prst="rect">
            <a:avLst/>
          </a:prstGeom>
          <a:solidFill>
            <a:srgbClr val="E2ECFB"/>
          </a:solidFill>
          <a:ln>
            <a:noFill/>
          </a:ln>
        </p:spPr>
      </p:sp>
      <p:sp>
        <p:nvSpPr>
          <p:cNvPr id="6" name="deco-bar-3"/>
          <p:cNvSpPr/>
          <p:nvPr/>
        </p:nvSpPr>
        <p:spPr>
          <a:xfrm>
            <a:off x="10039350" y="4476750"/>
            <a:ext cx="400050" cy="2381250"/>
          </a:xfrm>
          <a:prstGeom prst="rect">
            <a:avLst/>
          </a:prstGeom>
          <a:solidFill>
            <a:srgbClr val="DCE7FA"/>
          </a:solidFill>
          <a:ln>
            <a:noFill/>
          </a:ln>
        </p:spPr>
      </p:sp>
      <p:sp>
        <p:nvSpPr>
          <p:cNvPr id="7" name="deco-bar-4"/>
          <p:cNvSpPr/>
          <p:nvPr/>
        </p:nvSpPr>
        <p:spPr>
          <a:xfrm>
            <a:off x="10553700" y="3924300"/>
            <a:ext cx="400050" cy="2933700"/>
          </a:xfrm>
          <a:prstGeom prst="rect">
            <a:avLst/>
          </a:prstGeom>
          <a:solidFill>
            <a:srgbClr val="D5E3F9"/>
          </a:solidFill>
          <a:ln>
            <a:noFill/>
          </a:ln>
        </p:spPr>
      </p:sp>
      <p:sp>
        <p:nvSpPr>
          <p:cNvPr id="8" name="deco-bar-5"/>
          <p:cNvSpPr/>
          <p:nvPr/>
        </p:nvSpPr>
        <p:spPr>
          <a:xfrm>
            <a:off x="11068050" y="3333750"/>
            <a:ext cx="400050" cy="3524250"/>
          </a:xfrm>
          <a:prstGeom prst="rect">
            <a:avLst/>
          </a:prstGeom>
          <a:solidFill>
            <a:srgbClr val="CCDDF7"/>
          </a:solidFill>
          <a:ln>
            <a:noFill/>
          </a:ln>
        </p:spPr>
      </p:sp>
      <p:sp>
        <p:nvSpPr>
          <p:cNvPr id="9" name="deco-arrow"/>
          <p:cNvSpPr/>
          <p:nvPr/>
        </p:nvSpPr>
        <p:spPr>
          <a:xfrm>
            <a:off x="6486525" y="1323975"/>
            <a:ext cx="4486275" cy="3495675"/>
          </a:xfrm>
          <a:custGeom>
            <a:avLst/>
            <a:gdLst/>
            <a:ahLst/>
            <a:cxnLst/>
            <a:rect l="l" t="t" r="r" b="b"/>
            <a:pathLst>
              <a:path w="4486275" h="3495675">
                <a:moveTo>
                  <a:pt x="361950" y="3495675"/>
                </a:moveTo>
                <a:lnTo>
                  <a:pt x="3981450" y="781050"/>
                </a:lnTo>
                <a:lnTo>
                  <a:pt x="4200525" y="1066800"/>
                </a:lnTo>
                <a:lnTo>
                  <a:pt x="4486275" y="19050"/>
                </a:lnTo>
                <a:lnTo>
                  <a:pt x="3400425" y="0"/>
                </a:lnTo>
                <a:lnTo>
                  <a:pt x="3619500" y="285750"/>
                </a:lnTo>
                <a:lnTo>
                  <a:pt x="0" y="3000375"/>
                </a:lnTo>
                <a:close/>
              </a:path>
            </a:pathLst>
          </a:custGeom>
          <a:solidFill>
            <a:srgbClr val="F8D1C9"/>
          </a:solidFill>
          <a:ln>
            <a:noFill/>
          </a:ln>
        </p:spPr>
      </p:sp>
      <p:grpSp>
        <p:nvGrpSpPr>
          <p:cNvPr id="13" name="cover-title"/>
          <p:cNvGrpSpPr/>
          <p:nvPr/>
        </p:nvGrpSpPr>
        <p:grpSpPr>
          <a:xfrm>
            <a:off x="403098" y="898208"/>
            <a:ext cx="5968746" cy="616077"/>
            <a:chOff x="403098" y="898208"/>
            <a:chExt cx="5968746" cy="616077"/>
          </a:xfrm>
        </p:grpSpPr>
        <p:sp>
          <p:nvSpPr>
            <p:cNvPr id="10" name="TextBox 10"/>
            <p:cNvSpPr txBox="1"/>
            <p:nvPr/>
          </p:nvSpPr>
          <p:spPr>
            <a:xfrm>
              <a:off x="403098" y="898208"/>
              <a:ext cx="5968746" cy="616077"/>
            </a:xfrm>
            <a:prstGeom prst="rect">
              <a:avLst/>
            </a:prstGeom>
            <a:noFill/>
            <a:ln>
              <a:noFill/>
            </a:ln>
          </p:spPr>
          <p:txBody>
            <a:bodyPr wrap="none" lIns="0" tIns="0" rIns="0" bIns="0" anchor="t" anchorCtr="0">
              <a:spAutoFit/>
            </a:bodyPr>
            <a:lstStyle/>
            <a:p>
              <a:pPr algn="l"/>
              <a:r>
                <a:rPr lang="zh-CN" sz="3150" b="1" dirty="0">
                  <a:solidFill>
                    <a:srgbClr val="461910"/>
                  </a:solidFill>
                  <a:latin typeface="+mn-lt"/>
                  <a:ea typeface="+mn-ea"/>
                  <a:cs typeface="+mn-cs"/>
                </a:rPr>
                <a:t>销售没达标，工作总结怎么写？</a:t>
              </a:r>
            </a:p>
          </p:txBody>
        </p:sp>
        <p:sp>
          <p:nvSpPr>
            <p:cNvPr id="11" name="Rectangle 11"/>
            <p:cNvSpPr/>
            <p:nvPr/>
          </p:nvSpPr>
          <p:spPr>
            <a:xfrm>
              <a:off x="419100" y="1409700"/>
              <a:ext cx="1123950" cy="76200"/>
            </a:xfrm>
            <a:prstGeom prst="rect">
              <a:avLst/>
            </a:prstGeom>
            <a:solidFill>
              <a:srgbClr val="C03616"/>
            </a:solidFill>
            <a:ln>
              <a:noFill/>
            </a:ln>
          </p:spPr>
        </p:sp>
        <p:sp>
          <p:nvSpPr>
            <p:cNvPr id="12" name="Rectangle 12"/>
            <p:cNvSpPr/>
            <p:nvPr/>
          </p:nvSpPr>
          <p:spPr>
            <a:xfrm>
              <a:off x="1581150" y="1409700"/>
              <a:ext cx="495300" cy="76200"/>
            </a:xfrm>
            <a:prstGeom prst="rect">
              <a:avLst/>
            </a:prstGeom>
            <a:solidFill>
              <a:srgbClr val="B8351A"/>
            </a:solidFill>
            <a:ln>
              <a:noFill/>
            </a:ln>
          </p:spPr>
        </p:sp>
      </p:grpSp>
      <p:grpSp>
        <p:nvGrpSpPr>
          <p:cNvPr id="15" name="cover-subtitle"/>
          <p:cNvGrpSpPr/>
          <p:nvPr/>
        </p:nvGrpSpPr>
        <p:grpSpPr>
          <a:xfrm>
            <a:off x="409575" y="1769269"/>
            <a:ext cx="5333848" cy="366712"/>
            <a:chOff x="409575" y="1769269"/>
            <a:chExt cx="5333848" cy="366712"/>
          </a:xfrm>
        </p:grpSpPr>
        <p:sp>
          <p:nvSpPr>
            <p:cNvPr id="14" name="TextBox 14"/>
            <p:cNvSpPr txBox="1"/>
            <p:nvPr/>
          </p:nvSpPr>
          <p:spPr>
            <a:xfrm>
              <a:off x="409575" y="1769269"/>
              <a:ext cx="5333848" cy="366712"/>
            </a:xfrm>
            <a:prstGeom prst="rect">
              <a:avLst/>
            </a:prstGeom>
            <a:noFill/>
            <a:ln>
              <a:noFill/>
            </a:ln>
          </p:spPr>
          <p:txBody>
            <a:bodyPr wrap="none" lIns="0" tIns="0" rIns="0" bIns="0" anchor="t" anchorCtr="0">
              <a:spAutoFit/>
            </a:bodyPr>
            <a:lstStyle/>
            <a:p>
              <a:pPr algn="l"/>
              <a:r>
                <a:rPr lang="zh-CN" sz="1880" b="1" dirty="0">
                  <a:solidFill>
                    <a:srgbClr val="B8351A"/>
                  </a:solidFill>
                  <a:latin typeface="+mn-lt"/>
                  <a:ea typeface="+mn-ea"/>
                  <a:cs typeface="+mn-cs"/>
                </a:rPr>
                <a:t>逆风局下的胜败归因、追回路径与资源申请方法</a:t>
              </a:r>
            </a:p>
          </p:txBody>
        </p:sp>
      </p:grpSp>
      <p:grpSp>
        <p:nvGrpSpPr>
          <p:cNvPr id="24" name="cover-card-1"/>
          <p:cNvGrpSpPr/>
          <p:nvPr/>
        </p:nvGrpSpPr>
        <p:grpSpPr>
          <a:xfrm>
            <a:off x="400050" y="2400300"/>
            <a:ext cx="1428750" cy="1828800"/>
            <a:chOff x="400050" y="2400300"/>
            <a:chExt cx="1428750" cy="1828800"/>
          </a:xfrm>
        </p:grpSpPr>
        <p:sp>
          <p:nvSpPr>
            <p:cNvPr id="16" name="Rectangle 16"/>
            <p:cNvSpPr/>
            <p:nvPr/>
          </p:nvSpPr>
          <p:spPr>
            <a:xfrm>
              <a:off x="400050" y="2400300"/>
              <a:ext cx="1428750" cy="1828800"/>
            </a:xfrm>
            <a:prstGeom prst="roundRect">
              <a:avLst>
                <a:gd name="adj" fmla="val 8000"/>
              </a:avLst>
            </a:prstGeom>
            <a:solidFill>
              <a:srgbClr val="FFFFFF"/>
            </a:solidFill>
            <a:ln w="14288">
              <a:solidFill>
                <a:srgbClr val="C9D6EE"/>
              </a:solidFill>
            </a:ln>
          </p:spPr>
        </p:sp>
        <p:sp>
          <p:nvSpPr>
            <p:cNvPr id="17" name="Ellipse 17"/>
            <p:cNvSpPr/>
            <p:nvPr/>
          </p:nvSpPr>
          <p:spPr>
            <a:xfrm>
              <a:off x="857250" y="2581275"/>
              <a:ext cx="514350" cy="514350"/>
            </a:xfrm>
            <a:prstGeom prst="ellipse">
              <a:avLst/>
            </a:prstGeom>
            <a:solidFill>
              <a:srgbClr val="EAF1FB"/>
            </a:solidFill>
            <a:ln>
              <a:noFill/>
            </a:ln>
          </p:spPr>
        </p:sp>
        <p:grpSp>
          <p:nvGrpSpPr>
            <p:cNvPr id="21" name="Group 21"/>
            <p:cNvGrpSpPr/>
            <p:nvPr/>
          </p:nvGrpSpPr>
          <p:grpSpPr>
            <a:xfrm>
              <a:off x="978694" y="2702719"/>
              <a:ext cx="271462" cy="271462"/>
              <a:chOff x="978694" y="2702719"/>
              <a:chExt cx="271462" cy="271462"/>
            </a:xfrm>
          </p:grpSpPr>
          <p:sp>
            <p:nvSpPr>
              <p:cNvPr id="18" name="Freeform 18"/>
              <p:cNvSpPr/>
              <p:nvPr/>
            </p:nvSpPr>
            <p:spPr>
              <a:xfrm>
                <a:off x="1099343" y="2823368"/>
                <a:ext cx="30162" cy="30162"/>
              </a:xfrm>
              <a:custGeom>
                <a:avLst/>
                <a:gdLst/>
                <a:ahLst/>
                <a:cxnLst/>
                <a:rect l="l" t="t" r="r" b="b"/>
                <a:pathLst>
                  <a:path w="30162" h="30162">
                    <a:moveTo>
                      <a:pt x="0" y="15081"/>
                    </a:moveTo>
                    <a:cubicBezTo>
                      <a:pt x="0" y="23410"/>
                      <a:pt x="6752" y="30162"/>
                      <a:pt x="15081" y="30162"/>
                    </a:cubicBezTo>
                    <a:cubicBezTo>
                      <a:pt x="23410" y="30162"/>
                      <a:pt x="30162" y="23410"/>
                      <a:pt x="30162" y="15081"/>
                    </a:cubicBezTo>
                    <a:cubicBezTo>
                      <a:pt x="30162" y="6752"/>
                      <a:pt x="23410" y="0"/>
                      <a:pt x="15081" y="0"/>
                    </a:cubicBezTo>
                    <a:cubicBezTo>
                      <a:pt x="6752" y="0"/>
                      <a:pt x="0" y="6752"/>
                      <a:pt x="0" y="15081"/>
                    </a:cubicBezTo>
                  </a:path>
                </a:pathLst>
              </a:custGeom>
              <a:noFill/>
              <a:ln w="30162">
                <a:solidFill>
                  <a:srgbClr val="B8351A"/>
                </a:solidFill>
              </a:ln>
            </p:spPr>
          </p:sp>
          <p:sp>
            <p:nvSpPr>
              <p:cNvPr id="19" name="Freeform 19"/>
              <p:cNvSpPr/>
              <p:nvPr/>
            </p:nvSpPr>
            <p:spPr>
              <a:xfrm>
                <a:off x="1039019" y="2763044"/>
                <a:ext cx="150812" cy="150812"/>
              </a:xfrm>
              <a:custGeom>
                <a:avLst/>
                <a:gdLst/>
                <a:ahLst/>
                <a:cxnLst/>
                <a:rect l="l" t="t" r="r" b="b"/>
                <a:pathLst>
                  <a:path w="150812" h="150812">
                    <a:moveTo>
                      <a:pt x="0" y="75406"/>
                    </a:moveTo>
                    <a:cubicBezTo>
                      <a:pt x="0" y="117052"/>
                      <a:pt x="33760" y="150812"/>
                      <a:pt x="75406" y="150812"/>
                    </a:cubicBezTo>
                    <a:cubicBezTo>
                      <a:pt x="117052" y="150812"/>
                      <a:pt x="150812" y="117052"/>
                      <a:pt x="150812" y="75406"/>
                    </a:cubicBezTo>
                    <a:cubicBezTo>
                      <a:pt x="150812" y="33760"/>
                      <a:pt x="117052" y="0"/>
                      <a:pt x="75406" y="0"/>
                    </a:cubicBezTo>
                    <a:cubicBezTo>
                      <a:pt x="33760" y="0"/>
                      <a:pt x="0" y="33760"/>
                      <a:pt x="0" y="75406"/>
                    </a:cubicBezTo>
                  </a:path>
                </a:pathLst>
              </a:custGeom>
              <a:noFill/>
              <a:ln w="30162">
                <a:solidFill>
                  <a:srgbClr val="B8351A"/>
                </a:solidFill>
              </a:ln>
            </p:spPr>
          </p:sp>
          <p:sp>
            <p:nvSpPr>
              <p:cNvPr id="20" name="Freeform 20"/>
              <p:cNvSpPr/>
              <p:nvPr/>
            </p:nvSpPr>
            <p:spPr>
              <a:xfrm>
                <a:off x="978694" y="2702719"/>
                <a:ext cx="271462" cy="271462"/>
              </a:xfrm>
              <a:custGeom>
                <a:avLst/>
                <a:gdLst/>
                <a:ahLst/>
                <a:cxnLst/>
                <a:rect l="l" t="t" r="r" b="b"/>
                <a:pathLst>
                  <a:path w="271462" h="271462">
                    <a:moveTo>
                      <a:pt x="0" y="135731"/>
                    </a:moveTo>
                    <a:cubicBezTo>
                      <a:pt x="0" y="210693"/>
                      <a:pt x="60769" y="271462"/>
                      <a:pt x="135731" y="271462"/>
                    </a:cubicBezTo>
                    <a:cubicBezTo>
                      <a:pt x="210693" y="271462"/>
                      <a:pt x="271462" y="210693"/>
                      <a:pt x="271462" y="135731"/>
                    </a:cubicBezTo>
                    <a:cubicBezTo>
                      <a:pt x="271462" y="60769"/>
                      <a:pt x="210693" y="0"/>
                      <a:pt x="135731" y="0"/>
                    </a:cubicBezTo>
                    <a:cubicBezTo>
                      <a:pt x="60769" y="0"/>
                      <a:pt x="0" y="60769"/>
                      <a:pt x="0" y="135731"/>
                    </a:cubicBezTo>
                  </a:path>
                </a:pathLst>
              </a:custGeom>
              <a:noFill/>
              <a:ln w="30162">
                <a:solidFill>
                  <a:srgbClr val="B8351A"/>
                </a:solidFill>
              </a:ln>
            </p:spPr>
          </p:sp>
        </p:grpSp>
        <p:sp>
          <p:nvSpPr>
            <p:cNvPr id="22" name="TextBox 22"/>
            <p:cNvSpPr txBox="1"/>
            <p:nvPr/>
          </p:nvSpPr>
          <p:spPr>
            <a:xfrm>
              <a:off x="785241" y="3318510"/>
              <a:ext cx="658368" cy="234696"/>
            </a:xfrm>
            <a:prstGeom prst="rect">
              <a:avLst/>
            </a:prstGeom>
            <a:noFill/>
            <a:ln>
              <a:noFill/>
            </a:ln>
          </p:spPr>
          <p:txBody>
            <a:bodyPr wrap="none" lIns="0" tIns="0" rIns="0" bIns="0" anchor="t" anchorCtr="0">
              <a:spAutoFit/>
            </a:bodyPr>
            <a:lstStyle/>
            <a:p>
              <a:pPr algn="ctr"/>
              <a:r>
                <a:rPr lang="zh-CN" sz="1200" b="1" dirty="0">
                  <a:solidFill>
                    <a:srgbClr val="721E0D"/>
                  </a:solidFill>
                  <a:latin typeface="+mn-lt"/>
                  <a:ea typeface="+mn-ea"/>
                  <a:cs typeface="+mn-cs"/>
                </a:rPr>
                <a:t>胜败归因</a:t>
              </a:r>
            </a:p>
          </p:txBody>
        </p:sp>
        <p:sp>
          <p:nvSpPr>
            <p:cNvPr id="23" name="TextBox 23"/>
            <p:cNvSpPr txBox="1"/>
            <p:nvPr/>
          </p:nvSpPr>
          <p:spPr>
            <a:xfrm>
              <a:off x="693102" y="3625691"/>
              <a:ext cx="842645" cy="342900"/>
            </a:xfrm>
            <a:prstGeom prst="rect">
              <a:avLst/>
            </a:prstGeom>
            <a:noFill/>
            <a:ln>
              <a:noFill/>
            </a:ln>
          </p:spPr>
          <p:txBody>
            <a:bodyPr wrap="none" lIns="0" tIns="0" rIns="0" bIns="0" anchor="t" anchorCtr="0">
              <a:spAutoFit/>
            </a:bodyPr>
            <a:lstStyle/>
            <a:p>
              <a:pPr algn="ctr">
                <a:lnSpc>
                  <a:spcPts val="1425"/>
                </a:lnSpc>
              </a:pPr>
              <a:r>
                <a:rPr lang="zh-CN" sz="820" dirty="0">
                  <a:solidFill>
                    <a:srgbClr val="523E3A"/>
                  </a:solidFill>
                  <a:latin typeface="+mn-lt"/>
                  <a:ea typeface="+mn-ea"/>
                  <a:cs typeface="+mn-cs"/>
                </a:rPr>
                <a:t>聚焦关键驱动因素</a:t>
              </a:r>
              <a:br/>
              <a:r>
                <a:rPr lang="zh-CN" sz="820" dirty="0">
                  <a:solidFill>
                    <a:srgbClr val="523E3A"/>
                  </a:solidFill>
                  <a:latin typeface="+mn-lt"/>
                  <a:ea typeface="+mn-ea"/>
                  <a:cs typeface="+mn-cs"/>
                </a:rPr>
                <a:t>客观拆解差距因</a:t>
              </a:r>
            </a:p>
          </p:txBody>
        </p:sp>
      </p:grpSp>
      <p:grpSp>
        <p:nvGrpSpPr>
          <p:cNvPr id="33" name="cover-card-2"/>
          <p:cNvGrpSpPr/>
          <p:nvPr/>
        </p:nvGrpSpPr>
        <p:grpSpPr>
          <a:xfrm>
            <a:off x="1971675" y="2400300"/>
            <a:ext cx="1428750" cy="1828800"/>
            <a:chOff x="1971675" y="2400300"/>
            <a:chExt cx="1428750" cy="1828800"/>
          </a:xfrm>
        </p:grpSpPr>
        <p:sp>
          <p:nvSpPr>
            <p:cNvPr id="25" name="Rectangle 25"/>
            <p:cNvSpPr/>
            <p:nvPr/>
          </p:nvSpPr>
          <p:spPr>
            <a:xfrm>
              <a:off x="1971675" y="2400300"/>
              <a:ext cx="1428750" cy="1828800"/>
            </a:xfrm>
            <a:prstGeom prst="roundRect">
              <a:avLst>
                <a:gd name="adj" fmla="val 8000"/>
              </a:avLst>
            </a:prstGeom>
            <a:solidFill>
              <a:srgbClr val="FFFFFF"/>
            </a:solidFill>
            <a:ln w="14288">
              <a:solidFill>
                <a:srgbClr val="C9D6EE"/>
              </a:solidFill>
            </a:ln>
          </p:spPr>
        </p:sp>
        <p:sp>
          <p:nvSpPr>
            <p:cNvPr id="26" name="Ellipse 26"/>
            <p:cNvSpPr/>
            <p:nvPr/>
          </p:nvSpPr>
          <p:spPr>
            <a:xfrm>
              <a:off x="2428875" y="2581275"/>
              <a:ext cx="514350" cy="514350"/>
            </a:xfrm>
            <a:prstGeom prst="ellipse">
              <a:avLst/>
            </a:prstGeom>
            <a:solidFill>
              <a:srgbClr val="EAF1FB"/>
            </a:solidFill>
            <a:ln>
              <a:noFill/>
            </a:ln>
          </p:spPr>
        </p:sp>
        <p:grpSp>
          <p:nvGrpSpPr>
            <p:cNvPr id="30" name="Group 30"/>
            <p:cNvGrpSpPr/>
            <p:nvPr/>
          </p:nvGrpSpPr>
          <p:grpSpPr>
            <a:xfrm>
              <a:off x="2550319" y="2702719"/>
              <a:ext cx="271462" cy="271462"/>
              <a:chOff x="2550319" y="2702719"/>
              <a:chExt cx="271462" cy="271462"/>
            </a:xfrm>
          </p:grpSpPr>
          <p:sp>
            <p:nvSpPr>
              <p:cNvPr id="27" name="Freeform 27"/>
              <p:cNvSpPr/>
              <p:nvPr/>
            </p:nvSpPr>
            <p:spPr>
              <a:xfrm>
                <a:off x="2550319" y="2913856"/>
                <a:ext cx="60325" cy="60325"/>
              </a:xfrm>
              <a:custGeom>
                <a:avLst/>
                <a:gdLst/>
                <a:ahLst/>
                <a:cxnLst/>
                <a:rect l="l" t="t" r="r" b="b"/>
                <a:pathLst>
                  <a:path w="60325" h="60325">
                    <a:moveTo>
                      <a:pt x="0" y="30162"/>
                    </a:moveTo>
                    <a:cubicBezTo>
                      <a:pt x="0" y="46821"/>
                      <a:pt x="13504" y="60325"/>
                      <a:pt x="30162" y="60325"/>
                    </a:cubicBezTo>
                    <a:cubicBezTo>
                      <a:pt x="46821" y="60325"/>
                      <a:pt x="60325" y="46821"/>
                      <a:pt x="60325" y="30162"/>
                    </a:cubicBezTo>
                    <a:cubicBezTo>
                      <a:pt x="60325" y="13504"/>
                      <a:pt x="46821" y="0"/>
                      <a:pt x="30162" y="0"/>
                    </a:cubicBezTo>
                    <a:cubicBezTo>
                      <a:pt x="13504" y="0"/>
                      <a:pt x="0" y="13504"/>
                      <a:pt x="0" y="30162"/>
                    </a:cubicBezTo>
                  </a:path>
                </a:pathLst>
              </a:custGeom>
              <a:noFill/>
              <a:ln w="30162">
                <a:solidFill>
                  <a:srgbClr val="B8351A"/>
                </a:solidFill>
              </a:ln>
            </p:spPr>
          </p:sp>
          <p:sp>
            <p:nvSpPr>
              <p:cNvPr id="28" name="Freeform 28"/>
              <p:cNvSpPr/>
              <p:nvPr/>
            </p:nvSpPr>
            <p:spPr>
              <a:xfrm>
                <a:off x="2761456" y="2702719"/>
                <a:ext cx="60325" cy="60325"/>
              </a:xfrm>
              <a:custGeom>
                <a:avLst/>
                <a:gdLst/>
                <a:ahLst/>
                <a:cxnLst/>
                <a:rect l="l" t="t" r="r" b="b"/>
                <a:pathLst>
                  <a:path w="60325" h="60325">
                    <a:moveTo>
                      <a:pt x="30162" y="60325"/>
                    </a:moveTo>
                    <a:cubicBezTo>
                      <a:pt x="46821" y="60325"/>
                      <a:pt x="60325" y="46821"/>
                      <a:pt x="60325" y="30162"/>
                    </a:cubicBezTo>
                    <a:cubicBezTo>
                      <a:pt x="60325" y="13504"/>
                      <a:pt x="46821" y="0"/>
                      <a:pt x="30162" y="0"/>
                    </a:cubicBezTo>
                    <a:cubicBezTo>
                      <a:pt x="13504" y="0"/>
                      <a:pt x="0" y="13504"/>
                      <a:pt x="0" y="30162"/>
                    </a:cubicBezTo>
                    <a:cubicBezTo>
                      <a:pt x="0" y="46821"/>
                      <a:pt x="13504" y="60325"/>
                      <a:pt x="30162" y="60325"/>
                    </a:cubicBezTo>
                  </a:path>
                </a:pathLst>
              </a:custGeom>
              <a:noFill/>
              <a:ln w="30162">
                <a:solidFill>
                  <a:srgbClr val="B8351A"/>
                </a:solidFill>
              </a:ln>
            </p:spPr>
          </p:sp>
          <p:sp>
            <p:nvSpPr>
              <p:cNvPr id="29" name="Freeform 29"/>
              <p:cNvSpPr/>
              <p:nvPr/>
            </p:nvSpPr>
            <p:spPr>
              <a:xfrm>
                <a:off x="2580481" y="2732881"/>
                <a:ext cx="226218" cy="211137"/>
              </a:xfrm>
              <a:custGeom>
                <a:avLst/>
                <a:gdLst/>
                <a:ahLst/>
                <a:cxnLst/>
                <a:rect l="l" t="t" r="r" b="b"/>
                <a:pathLst>
                  <a:path w="226218" h="211137">
                    <a:moveTo>
                      <a:pt x="90487" y="211137"/>
                    </a:moveTo>
                    <a:lnTo>
                      <a:pt x="173434" y="211137"/>
                    </a:lnTo>
                    <a:cubicBezTo>
                      <a:pt x="202586" y="211137"/>
                      <a:pt x="226218" y="187505"/>
                      <a:pt x="226218" y="158353"/>
                    </a:cubicBezTo>
                    <a:cubicBezTo>
                      <a:pt x="226218" y="129201"/>
                      <a:pt x="202586" y="105569"/>
                      <a:pt x="173434" y="105569"/>
                    </a:cubicBezTo>
                    <a:lnTo>
                      <a:pt x="52784" y="105569"/>
                    </a:lnTo>
                    <a:cubicBezTo>
                      <a:pt x="23632" y="105569"/>
                      <a:pt x="0" y="81936"/>
                      <a:pt x="0" y="52784"/>
                    </a:cubicBezTo>
                    <a:cubicBezTo>
                      <a:pt x="0" y="23632"/>
                      <a:pt x="23632" y="0"/>
                      <a:pt x="52784" y="0"/>
                    </a:cubicBezTo>
                    <a:lnTo>
                      <a:pt x="120650" y="0"/>
                    </a:lnTo>
                  </a:path>
                </a:pathLst>
              </a:custGeom>
              <a:noFill/>
              <a:ln w="30162">
                <a:solidFill>
                  <a:srgbClr val="B8351A"/>
                </a:solidFill>
              </a:ln>
            </p:spPr>
          </p:sp>
        </p:grpSp>
        <p:sp>
          <p:nvSpPr>
            <p:cNvPr id="31" name="TextBox 31"/>
            <p:cNvSpPr txBox="1"/>
            <p:nvPr/>
          </p:nvSpPr>
          <p:spPr>
            <a:xfrm>
              <a:off x="2356866" y="3318510"/>
              <a:ext cx="658368" cy="234696"/>
            </a:xfrm>
            <a:prstGeom prst="rect">
              <a:avLst/>
            </a:prstGeom>
            <a:noFill/>
            <a:ln>
              <a:noFill/>
            </a:ln>
          </p:spPr>
          <p:txBody>
            <a:bodyPr wrap="none" lIns="0" tIns="0" rIns="0" bIns="0" anchor="t" anchorCtr="0">
              <a:spAutoFit/>
            </a:bodyPr>
            <a:lstStyle/>
            <a:p>
              <a:pPr algn="ctr"/>
              <a:r>
                <a:rPr lang="zh-CN" sz="1200" b="1" dirty="0">
                  <a:solidFill>
                    <a:srgbClr val="721E0D"/>
                  </a:solidFill>
                  <a:latin typeface="+mn-lt"/>
                  <a:ea typeface="+mn-ea"/>
                  <a:cs typeface="+mn-cs"/>
                </a:rPr>
                <a:t>追回路径</a:t>
              </a:r>
            </a:p>
          </p:txBody>
        </p:sp>
        <p:sp>
          <p:nvSpPr>
            <p:cNvPr id="32" name="TextBox 32"/>
            <p:cNvSpPr txBox="1"/>
            <p:nvPr/>
          </p:nvSpPr>
          <p:spPr>
            <a:xfrm>
              <a:off x="2212658" y="3625691"/>
              <a:ext cx="946785" cy="342900"/>
            </a:xfrm>
            <a:prstGeom prst="rect">
              <a:avLst/>
            </a:prstGeom>
            <a:noFill/>
            <a:ln>
              <a:noFill/>
            </a:ln>
          </p:spPr>
          <p:txBody>
            <a:bodyPr wrap="none" lIns="0" tIns="0" rIns="0" bIns="0" anchor="t" anchorCtr="0">
              <a:spAutoFit/>
            </a:bodyPr>
            <a:lstStyle/>
            <a:p>
              <a:pPr algn="ctr">
                <a:lnSpc>
                  <a:spcPts val="1425"/>
                </a:lnSpc>
              </a:pPr>
              <a:r>
                <a:rPr lang="zh-CN" sz="820" dirty="0">
                  <a:solidFill>
                    <a:srgbClr val="523E3A"/>
                  </a:solidFill>
                  <a:latin typeface="+mn-lt"/>
                  <a:ea typeface="+mn-ea"/>
                  <a:cs typeface="+mn-cs"/>
                </a:rPr>
                <a:t>明确策略与动作组合</a:t>
              </a:r>
              <a:br/>
              <a:r>
                <a:rPr lang="zh-CN" sz="820" dirty="0">
                  <a:solidFill>
                    <a:srgbClr val="523E3A"/>
                  </a:solidFill>
                  <a:latin typeface="+mn-lt"/>
                  <a:ea typeface="+mn-ea"/>
                  <a:cs typeface="+mn-cs"/>
                </a:rPr>
                <a:t>分阶段设定里程碑</a:t>
              </a:r>
            </a:p>
          </p:txBody>
        </p:sp>
      </p:grpSp>
      <p:grpSp>
        <p:nvGrpSpPr>
          <p:cNvPr id="43" name="cover-card-3"/>
          <p:cNvGrpSpPr/>
          <p:nvPr/>
        </p:nvGrpSpPr>
        <p:grpSpPr>
          <a:xfrm>
            <a:off x="3543300" y="2400300"/>
            <a:ext cx="1428750" cy="1828800"/>
            <a:chOff x="3543300" y="2400300"/>
            <a:chExt cx="1428750" cy="1828800"/>
          </a:xfrm>
        </p:grpSpPr>
        <p:sp>
          <p:nvSpPr>
            <p:cNvPr id="34" name="Rectangle 34"/>
            <p:cNvSpPr/>
            <p:nvPr/>
          </p:nvSpPr>
          <p:spPr>
            <a:xfrm>
              <a:off x="3543300" y="2400300"/>
              <a:ext cx="1428750" cy="1828800"/>
            </a:xfrm>
            <a:prstGeom prst="roundRect">
              <a:avLst>
                <a:gd name="adj" fmla="val 8000"/>
              </a:avLst>
            </a:prstGeom>
            <a:solidFill>
              <a:srgbClr val="FFFFFF"/>
            </a:solidFill>
            <a:ln w="14288">
              <a:solidFill>
                <a:srgbClr val="C9D6EE"/>
              </a:solidFill>
            </a:ln>
          </p:spPr>
        </p:sp>
        <p:sp>
          <p:nvSpPr>
            <p:cNvPr id="35" name="Ellipse 35"/>
            <p:cNvSpPr/>
            <p:nvPr/>
          </p:nvSpPr>
          <p:spPr>
            <a:xfrm>
              <a:off x="4000500" y="2581275"/>
              <a:ext cx="514350" cy="514350"/>
            </a:xfrm>
            <a:prstGeom prst="ellipse">
              <a:avLst/>
            </a:prstGeom>
            <a:solidFill>
              <a:srgbClr val="EAF1FB"/>
            </a:solidFill>
            <a:ln>
              <a:noFill/>
            </a:ln>
          </p:spPr>
        </p:sp>
        <p:grpSp>
          <p:nvGrpSpPr>
            <p:cNvPr id="40" name="Group 40"/>
            <p:cNvGrpSpPr/>
            <p:nvPr/>
          </p:nvGrpSpPr>
          <p:grpSpPr>
            <a:xfrm>
              <a:off x="4121944" y="2702719"/>
              <a:ext cx="271462" cy="271461"/>
              <a:chOff x="4121944" y="2702719"/>
              <a:chExt cx="271462" cy="271461"/>
            </a:xfrm>
          </p:grpSpPr>
          <p:sp>
            <p:nvSpPr>
              <p:cNvPr id="36" name="Freeform 36"/>
              <p:cNvSpPr/>
              <p:nvPr/>
            </p:nvSpPr>
            <p:spPr>
              <a:xfrm>
                <a:off x="4152106" y="2702719"/>
                <a:ext cx="120650" cy="120650"/>
              </a:xfrm>
              <a:custGeom>
                <a:avLst/>
                <a:gdLst/>
                <a:ahLst/>
                <a:cxnLst/>
                <a:rect l="l" t="t" r="r" b="b"/>
                <a:pathLst>
                  <a:path w="120650" h="120650">
                    <a:moveTo>
                      <a:pt x="0" y="60325"/>
                    </a:moveTo>
                    <a:cubicBezTo>
                      <a:pt x="0" y="93641"/>
                      <a:pt x="27008" y="120650"/>
                      <a:pt x="60325" y="120650"/>
                    </a:cubicBezTo>
                    <a:cubicBezTo>
                      <a:pt x="93641" y="120650"/>
                      <a:pt x="120650" y="93641"/>
                      <a:pt x="120650" y="60325"/>
                    </a:cubicBezTo>
                    <a:cubicBezTo>
                      <a:pt x="120650" y="27008"/>
                      <a:pt x="93641" y="0"/>
                      <a:pt x="60325" y="0"/>
                    </a:cubicBezTo>
                    <a:cubicBezTo>
                      <a:pt x="27008" y="0"/>
                      <a:pt x="0" y="27008"/>
                      <a:pt x="0" y="60325"/>
                    </a:cubicBezTo>
                  </a:path>
                </a:pathLst>
              </a:custGeom>
              <a:noFill/>
              <a:ln w="30162">
                <a:solidFill>
                  <a:srgbClr val="B8351A"/>
                </a:solidFill>
              </a:ln>
            </p:spPr>
          </p:sp>
          <p:sp>
            <p:nvSpPr>
              <p:cNvPr id="37" name="Freeform 37"/>
              <p:cNvSpPr/>
              <p:nvPr/>
            </p:nvSpPr>
            <p:spPr>
              <a:xfrm>
                <a:off x="4121944" y="2883693"/>
                <a:ext cx="180975" cy="90487"/>
              </a:xfrm>
              <a:custGeom>
                <a:avLst/>
                <a:gdLst/>
                <a:ahLst/>
                <a:cxnLst/>
                <a:rect l="l" t="t" r="r" b="b"/>
                <a:pathLst>
                  <a:path w="180975" h="90487">
                    <a:moveTo>
                      <a:pt x="0" y="90487"/>
                    </a:moveTo>
                    <a:lnTo>
                      <a:pt x="0" y="60325"/>
                    </a:lnTo>
                    <a:cubicBezTo>
                      <a:pt x="0" y="27008"/>
                      <a:pt x="27008" y="0"/>
                      <a:pt x="60325" y="0"/>
                    </a:cubicBezTo>
                    <a:lnTo>
                      <a:pt x="120650" y="0"/>
                    </a:lnTo>
                    <a:cubicBezTo>
                      <a:pt x="153966" y="0"/>
                      <a:pt x="180975" y="27008"/>
                      <a:pt x="180975" y="60325"/>
                    </a:cubicBezTo>
                    <a:lnTo>
                      <a:pt x="180975" y="90487"/>
                    </a:lnTo>
                  </a:path>
                </a:pathLst>
              </a:custGeom>
              <a:noFill/>
              <a:ln w="30162">
                <a:solidFill>
                  <a:srgbClr val="B8351A"/>
                </a:solidFill>
              </a:ln>
            </p:spPr>
          </p:sp>
          <p:sp>
            <p:nvSpPr>
              <p:cNvPr id="38" name="Freeform 38"/>
              <p:cNvSpPr/>
              <p:nvPr/>
            </p:nvSpPr>
            <p:spPr>
              <a:xfrm>
                <a:off x="4317999" y="2704679"/>
                <a:ext cx="45362" cy="116879"/>
              </a:xfrm>
              <a:custGeom>
                <a:avLst/>
                <a:gdLst/>
                <a:ahLst/>
                <a:cxnLst/>
                <a:rect l="l" t="t" r="r" b="b"/>
                <a:pathLst>
                  <a:path w="45362" h="116879">
                    <a:moveTo>
                      <a:pt x="0" y="0"/>
                    </a:moveTo>
                    <a:cubicBezTo>
                      <a:pt x="26692" y="6834"/>
                      <a:pt x="45362" y="30886"/>
                      <a:pt x="45362" y="58440"/>
                    </a:cubicBezTo>
                    <a:cubicBezTo>
                      <a:pt x="45362" y="85993"/>
                      <a:pt x="26692" y="110045"/>
                      <a:pt x="0" y="116879"/>
                    </a:cubicBezTo>
                  </a:path>
                </a:pathLst>
              </a:custGeom>
              <a:noFill/>
              <a:ln w="30162">
                <a:solidFill>
                  <a:srgbClr val="B8351A"/>
                </a:solidFill>
              </a:ln>
            </p:spPr>
          </p:sp>
          <p:sp>
            <p:nvSpPr>
              <p:cNvPr id="39" name="Freeform 39"/>
              <p:cNvSpPr/>
              <p:nvPr/>
            </p:nvSpPr>
            <p:spPr>
              <a:xfrm>
                <a:off x="4348162" y="2885955"/>
                <a:ext cx="45244" cy="88225"/>
              </a:xfrm>
              <a:custGeom>
                <a:avLst/>
                <a:gdLst/>
                <a:ahLst/>
                <a:cxnLst/>
                <a:rect l="l" t="t" r="r" b="b"/>
                <a:pathLst>
                  <a:path w="45244" h="88225">
                    <a:moveTo>
                      <a:pt x="45244" y="88225"/>
                    </a:moveTo>
                    <a:lnTo>
                      <a:pt x="45244" y="58063"/>
                    </a:lnTo>
                    <a:cubicBezTo>
                      <a:pt x="45086" y="30684"/>
                      <a:pt x="26510" y="6844"/>
                      <a:pt x="0" y="0"/>
                    </a:cubicBezTo>
                  </a:path>
                </a:pathLst>
              </a:custGeom>
              <a:noFill/>
              <a:ln w="30162">
                <a:solidFill>
                  <a:srgbClr val="B8351A"/>
                </a:solidFill>
              </a:ln>
            </p:spPr>
          </p:sp>
        </p:grpSp>
        <p:sp>
          <p:nvSpPr>
            <p:cNvPr id="41" name="TextBox 41"/>
            <p:cNvSpPr txBox="1"/>
            <p:nvPr/>
          </p:nvSpPr>
          <p:spPr>
            <a:xfrm>
              <a:off x="3928491" y="3318510"/>
              <a:ext cx="658368" cy="234696"/>
            </a:xfrm>
            <a:prstGeom prst="rect">
              <a:avLst/>
            </a:prstGeom>
            <a:noFill/>
            <a:ln>
              <a:noFill/>
            </a:ln>
          </p:spPr>
          <p:txBody>
            <a:bodyPr wrap="none" lIns="0" tIns="0" rIns="0" bIns="0" anchor="t" anchorCtr="0">
              <a:spAutoFit/>
            </a:bodyPr>
            <a:lstStyle/>
            <a:p>
              <a:pPr algn="ctr"/>
              <a:r>
                <a:rPr lang="zh-CN" sz="1200" b="1" dirty="0">
                  <a:solidFill>
                    <a:srgbClr val="721E0D"/>
                  </a:solidFill>
                  <a:latin typeface="+mn-lt"/>
                  <a:ea typeface="+mn-ea"/>
                  <a:cs typeface="+mn-cs"/>
                </a:rPr>
                <a:t>资源申请</a:t>
              </a:r>
            </a:p>
          </p:txBody>
        </p:sp>
        <p:sp>
          <p:nvSpPr>
            <p:cNvPr id="42" name="TextBox 42"/>
            <p:cNvSpPr txBox="1"/>
            <p:nvPr/>
          </p:nvSpPr>
          <p:spPr>
            <a:xfrm>
              <a:off x="3784282" y="3625691"/>
              <a:ext cx="946785" cy="342900"/>
            </a:xfrm>
            <a:prstGeom prst="rect">
              <a:avLst/>
            </a:prstGeom>
            <a:noFill/>
            <a:ln>
              <a:noFill/>
            </a:ln>
          </p:spPr>
          <p:txBody>
            <a:bodyPr wrap="none" lIns="0" tIns="0" rIns="0" bIns="0" anchor="t" anchorCtr="0">
              <a:spAutoFit/>
            </a:bodyPr>
            <a:lstStyle/>
            <a:p>
              <a:pPr algn="ctr">
                <a:lnSpc>
                  <a:spcPts val="1425"/>
                </a:lnSpc>
              </a:pPr>
              <a:r>
                <a:rPr lang="zh-CN" sz="820" dirty="0">
                  <a:solidFill>
                    <a:srgbClr val="523E3A"/>
                  </a:solidFill>
                  <a:latin typeface="+mn-lt"/>
                  <a:ea typeface="+mn-ea"/>
                  <a:cs typeface="+mn-cs"/>
                </a:rPr>
                <a:t>量化支持与投入回报</a:t>
              </a:r>
              <a:br/>
              <a:r>
                <a:rPr lang="zh-CN" sz="820" dirty="0">
                  <a:solidFill>
                    <a:srgbClr val="523E3A"/>
                  </a:solidFill>
                  <a:latin typeface="+mn-lt"/>
                  <a:ea typeface="+mn-ea"/>
                  <a:cs typeface="+mn-cs"/>
                </a:rPr>
                <a:t>争取必要资源保障</a:t>
              </a:r>
            </a:p>
          </p:txBody>
        </p:sp>
      </p:grpSp>
      <p:grpSp>
        <p:nvGrpSpPr>
          <p:cNvPr id="53" name="cover-card-4"/>
          <p:cNvGrpSpPr/>
          <p:nvPr/>
        </p:nvGrpSpPr>
        <p:grpSpPr>
          <a:xfrm>
            <a:off x="5114925" y="2400300"/>
            <a:ext cx="1428750" cy="1828800"/>
            <a:chOff x="5114925" y="2400300"/>
            <a:chExt cx="1428750" cy="1828800"/>
          </a:xfrm>
        </p:grpSpPr>
        <p:sp>
          <p:nvSpPr>
            <p:cNvPr id="44" name="Rectangle 44"/>
            <p:cNvSpPr/>
            <p:nvPr/>
          </p:nvSpPr>
          <p:spPr>
            <a:xfrm>
              <a:off x="5114925" y="2400300"/>
              <a:ext cx="1428750" cy="1828800"/>
            </a:xfrm>
            <a:prstGeom prst="roundRect">
              <a:avLst>
                <a:gd name="adj" fmla="val 8000"/>
              </a:avLst>
            </a:prstGeom>
            <a:solidFill>
              <a:srgbClr val="FFFFFF"/>
            </a:solidFill>
            <a:ln w="14288">
              <a:solidFill>
                <a:srgbClr val="C9D6EE"/>
              </a:solidFill>
            </a:ln>
          </p:spPr>
        </p:sp>
        <p:sp>
          <p:nvSpPr>
            <p:cNvPr id="45" name="Ellipse 45"/>
            <p:cNvSpPr/>
            <p:nvPr/>
          </p:nvSpPr>
          <p:spPr>
            <a:xfrm>
              <a:off x="5572125" y="2581275"/>
              <a:ext cx="514350" cy="514350"/>
            </a:xfrm>
            <a:prstGeom prst="ellipse">
              <a:avLst/>
            </a:prstGeom>
            <a:solidFill>
              <a:srgbClr val="FDECEC"/>
            </a:solidFill>
            <a:ln>
              <a:noFill/>
            </a:ln>
          </p:spPr>
        </p:sp>
        <p:grpSp>
          <p:nvGrpSpPr>
            <p:cNvPr id="49" name="Group 49"/>
            <p:cNvGrpSpPr/>
            <p:nvPr/>
          </p:nvGrpSpPr>
          <p:grpSpPr>
            <a:xfrm>
              <a:off x="5677204" y="2697708"/>
              <a:ext cx="304180" cy="261331"/>
              <a:chOff x="5677204" y="2697708"/>
              <a:chExt cx="304180" cy="261331"/>
            </a:xfrm>
          </p:grpSpPr>
          <p:sp>
            <p:nvSpPr>
              <p:cNvPr id="46" name="Freeform 46"/>
              <p:cNvSpPr/>
              <p:nvPr/>
            </p:nvSpPr>
            <p:spPr>
              <a:xfrm>
                <a:off x="5829300" y="2793206"/>
                <a:ext cx="9525" cy="60325"/>
              </a:xfrm>
              <a:custGeom>
                <a:avLst/>
                <a:gdLst/>
                <a:ahLst/>
                <a:cxnLst/>
                <a:rect l="l" t="t" r="r" b="b"/>
                <a:pathLst>
                  <a:path w="9525" h="60325">
                    <a:moveTo>
                      <a:pt x="0" y="0"/>
                    </a:moveTo>
                    <a:lnTo>
                      <a:pt x="0" y="60325"/>
                    </a:lnTo>
                  </a:path>
                </a:pathLst>
              </a:custGeom>
              <a:noFill/>
              <a:ln w="30162">
                <a:solidFill>
                  <a:srgbClr val="C03616"/>
                </a:solidFill>
              </a:ln>
            </p:spPr>
          </p:sp>
          <p:sp>
            <p:nvSpPr>
              <p:cNvPr id="47" name="Freeform 47"/>
              <p:cNvSpPr/>
              <p:nvPr/>
            </p:nvSpPr>
            <p:spPr>
              <a:xfrm>
                <a:off x="5677204" y="2697708"/>
                <a:ext cx="304180" cy="261331"/>
              </a:xfrm>
              <a:custGeom>
                <a:avLst/>
                <a:gdLst/>
                <a:ahLst/>
                <a:cxnLst/>
                <a:rect l="l" t="t" r="r" b="b"/>
                <a:pathLst>
                  <a:path w="304180" h="261331">
                    <a:moveTo>
                      <a:pt x="127408" y="13923"/>
                    </a:moveTo>
                    <a:lnTo>
                      <a:pt x="5160" y="218032"/>
                    </a:lnTo>
                    <a:cubicBezTo>
                      <a:pt x="31" y="226913"/>
                      <a:pt x="0" y="237848"/>
                      <a:pt x="5077" y="246758"/>
                    </a:cubicBezTo>
                    <a:cubicBezTo>
                      <a:pt x="10155" y="255668"/>
                      <a:pt x="19578" y="261215"/>
                      <a:pt x="29832" y="261331"/>
                    </a:cubicBezTo>
                    <a:lnTo>
                      <a:pt x="274359" y="261331"/>
                    </a:lnTo>
                    <a:cubicBezTo>
                      <a:pt x="284609" y="261212"/>
                      <a:pt x="294027" y="255667"/>
                      <a:pt x="299104" y="246762"/>
                    </a:cubicBezTo>
                    <a:cubicBezTo>
                      <a:pt x="304180" y="237857"/>
                      <a:pt x="304153" y="226927"/>
                      <a:pt x="299032" y="218048"/>
                    </a:cubicBezTo>
                    <a:lnTo>
                      <a:pt x="176784" y="13908"/>
                    </a:lnTo>
                    <a:cubicBezTo>
                      <a:pt x="171553" y="5274"/>
                      <a:pt x="162191" y="0"/>
                      <a:pt x="152096" y="0"/>
                    </a:cubicBezTo>
                    <a:cubicBezTo>
                      <a:pt x="142001" y="0"/>
                      <a:pt x="132639" y="5274"/>
                      <a:pt x="127408" y="13908"/>
                    </a:cubicBezTo>
                  </a:path>
                </a:pathLst>
              </a:custGeom>
              <a:noFill/>
              <a:ln w="30162">
                <a:solidFill>
                  <a:srgbClr val="C03616"/>
                </a:solidFill>
              </a:ln>
            </p:spPr>
          </p:sp>
          <p:sp>
            <p:nvSpPr>
              <p:cNvPr id="48" name="Freeform 48"/>
              <p:cNvSpPr/>
              <p:nvPr/>
            </p:nvSpPr>
            <p:spPr>
              <a:xfrm>
                <a:off x="5829300" y="2898774"/>
                <a:ext cx="9525" cy="9525"/>
              </a:xfrm>
              <a:custGeom>
                <a:avLst/>
                <a:gdLst/>
                <a:ahLst/>
                <a:cxnLst/>
                <a:rect l="l" t="t" r="r" b="b"/>
                <a:pathLst>
                  <a:path w="9525" h="9525">
                    <a:moveTo>
                      <a:pt x="0" y="0"/>
                    </a:moveTo>
                    <a:lnTo>
                      <a:pt x="151" y="0"/>
                    </a:lnTo>
                  </a:path>
                </a:pathLst>
              </a:custGeom>
              <a:noFill/>
              <a:ln w="30162">
                <a:solidFill>
                  <a:srgbClr val="C03616"/>
                </a:solidFill>
              </a:ln>
            </p:spPr>
          </p:sp>
        </p:grpSp>
        <p:sp>
          <p:nvSpPr>
            <p:cNvPr id="50" name="TextBox 50"/>
            <p:cNvSpPr txBox="1"/>
            <p:nvPr/>
          </p:nvSpPr>
          <p:spPr>
            <a:xfrm>
              <a:off x="5419344" y="3318510"/>
              <a:ext cx="819912" cy="234696"/>
            </a:xfrm>
            <a:prstGeom prst="rect">
              <a:avLst/>
            </a:prstGeom>
            <a:noFill/>
            <a:ln>
              <a:noFill/>
            </a:ln>
          </p:spPr>
          <p:txBody>
            <a:bodyPr wrap="none" lIns="0" tIns="0" rIns="0" bIns="0" anchor="t" anchorCtr="0">
              <a:spAutoFit/>
            </a:bodyPr>
            <a:lstStyle/>
            <a:p>
              <a:pPr algn="ctr"/>
              <a:r>
                <a:rPr lang="zh-CN" sz="1200" b="1" dirty="0">
                  <a:solidFill>
                    <a:srgbClr val="C03616"/>
                  </a:solidFill>
                  <a:latin typeface="+mn-lt"/>
                  <a:ea typeface="+mn-ea"/>
                  <a:cs typeface="+mn-cs"/>
                </a:rPr>
                <a:t>差距与风险</a:t>
              </a:r>
            </a:p>
          </p:txBody>
        </p:sp>
        <p:sp>
          <p:nvSpPr>
            <p:cNvPr id="51" name="TextBox 51"/>
            <p:cNvSpPr txBox="1"/>
            <p:nvPr/>
          </p:nvSpPr>
          <p:spPr>
            <a:xfrm>
              <a:off x="5355908" y="3625691"/>
              <a:ext cx="946785" cy="342900"/>
            </a:xfrm>
            <a:prstGeom prst="rect">
              <a:avLst/>
            </a:prstGeom>
            <a:noFill/>
            <a:ln>
              <a:noFill/>
            </a:ln>
          </p:spPr>
          <p:txBody>
            <a:bodyPr wrap="none" lIns="0" tIns="0" rIns="0" bIns="0" anchor="t" anchorCtr="0">
              <a:spAutoFit/>
            </a:bodyPr>
            <a:lstStyle/>
            <a:p>
              <a:pPr algn="ctr">
                <a:lnSpc>
                  <a:spcPts val="1425"/>
                </a:lnSpc>
              </a:pPr>
              <a:r>
                <a:rPr lang="zh-CN" sz="820" dirty="0">
                  <a:solidFill>
                    <a:srgbClr val="523E3A"/>
                  </a:solidFill>
                  <a:latin typeface="+mn-lt"/>
                  <a:ea typeface="+mn-ea"/>
                  <a:cs typeface="+mn-cs"/>
                </a:rPr>
                <a:t>正视问题与潜在风险</a:t>
              </a:r>
              <a:br/>
              <a:r>
                <a:rPr lang="zh-CN" sz="820" dirty="0">
                  <a:solidFill>
                    <a:srgbClr val="523E3A"/>
                  </a:solidFill>
                  <a:latin typeface="+mn-lt"/>
                  <a:ea typeface="+mn-ea"/>
                  <a:cs typeface="+mn-cs"/>
                </a:rPr>
                <a:t>提出对策方案与预案</a:t>
              </a:r>
            </a:p>
          </p:txBody>
        </p:sp>
        <p:sp>
          <p:nvSpPr>
            <p:cNvPr id="52" name="Rectangle 52"/>
            <p:cNvSpPr/>
            <p:nvPr/>
          </p:nvSpPr>
          <p:spPr>
            <a:xfrm>
              <a:off x="5495925" y="4114800"/>
              <a:ext cx="666750" cy="38100"/>
            </a:xfrm>
            <a:prstGeom prst="rect">
              <a:avLst/>
            </a:prstGeom>
            <a:solidFill>
              <a:srgbClr val="C03616"/>
            </a:solidFill>
            <a:ln>
              <a:noFill/>
            </a:ln>
          </p:spPr>
        </p:sp>
      </p:grpSp>
      <p:grpSp>
        <p:nvGrpSpPr>
          <p:cNvPr id="60" name="cover-quote"/>
          <p:cNvGrpSpPr/>
          <p:nvPr/>
        </p:nvGrpSpPr>
        <p:grpSpPr>
          <a:xfrm>
            <a:off x="381000" y="4457700"/>
            <a:ext cx="4038600" cy="571500"/>
            <a:chOff x="381000" y="4457700"/>
            <a:chExt cx="4038600" cy="571500"/>
          </a:xfrm>
        </p:grpSpPr>
        <p:sp>
          <p:nvSpPr>
            <p:cNvPr id="54" name="Rectangle 54"/>
            <p:cNvSpPr/>
            <p:nvPr/>
          </p:nvSpPr>
          <p:spPr>
            <a:xfrm>
              <a:off x="381000" y="4457700"/>
              <a:ext cx="4038600" cy="571500"/>
            </a:xfrm>
            <a:prstGeom prst="roundRect">
              <a:avLst>
                <a:gd name="adj" fmla="val 50000"/>
              </a:avLst>
            </a:prstGeom>
            <a:solidFill>
              <a:srgbClr val="EAF1FB"/>
            </a:solidFill>
            <a:ln w="14288">
              <a:solidFill>
                <a:srgbClr val="F0C2B9"/>
              </a:solidFill>
            </a:ln>
          </p:spPr>
        </p:sp>
        <p:sp>
          <p:nvSpPr>
            <p:cNvPr id="55" name="Ellipse 55"/>
            <p:cNvSpPr/>
            <p:nvPr/>
          </p:nvSpPr>
          <p:spPr>
            <a:xfrm>
              <a:off x="514350" y="4533900"/>
              <a:ext cx="419100" cy="419100"/>
            </a:xfrm>
            <a:prstGeom prst="ellipse">
              <a:avLst/>
            </a:prstGeom>
            <a:solidFill>
              <a:srgbClr val="721E0D"/>
            </a:solidFill>
            <a:ln>
              <a:noFill/>
            </a:ln>
          </p:spPr>
        </p:sp>
        <p:grpSp>
          <p:nvGrpSpPr>
            <p:cNvPr id="58" name="Group 58"/>
            <p:cNvGrpSpPr/>
            <p:nvPr/>
          </p:nvGrpSpPr>
          <p:grpSpPr>
            <a:xfrm>
              <a:off x="635000" y="4676775"/>
              <a:ext cx="177801" cy="153988"/>
              <a:chOff x="635000" y="4676775"/>
              <a:chExt cx="177801" cy="153988"/>
            </a:xfrm>
          </p:grpSpPr>
          <p:sp>
            <p:nvSpPr>
              <p:cNvPr id="56" name="Freeform 56"/>
              <p:cNvSpPr/>
              <p:nvPr/>
            </p:nvSpPr>
            <p:spPr>
              <a:xfrm>
                <a:off x="635000" y="4821238"/>
                <a:ext cx="177801" cy="9525"/>
              </a:xfrm>
              <a:custGeom>
                <a:avLst/>
                <a:gdLst/>
                <a:ahLst/>
                <a:cxnLst/>
                <a:rect l="l" t="t" r="r" b="b"/>
                <a:pathLst>
                  <a:path w="177801" h="9525">
                    <a:moveTo>
                      <a:pt x="0" y="0"/>
                    </a:moveTo>
                    <a:lnTo>
                      <a:pt x="177801" y="0"/>
                    </a:lnTo>
                  </a:path>
                </a:pathLst>
              </a:custGeom>
              <a:noFill/>
              <a:ln w="22225">
                <a:solidFill>
                  <a:srgbClr val="FFFFFF"/>
                </a:solidFill>
              </a:ln>
            </p:spPr>
          </p:sp>
          <p:sp>
            <p:nvSpPr>
              <p:cNvPr id="57" name="Freeform 57"/>
              <p:cNvSpPr/>
              <p:nvPr/>
            </p:nvSpPr>
            <p:spPr>
              <a:xfrm>
                <a:off x="635000" y="4676775"/>
                <a:ext cx="177801" cy="100013"/>
              </a:xfrm>
              <a:custGeom>
                <a:avLst/>
                <a:gdLst/>
                <a:ahLst/>
                <a:cxnLst/>
                <a:rect l="l" t="t" r="r" b="b"/>
                <a:pathLst>
                  <a:path w="177801" h="100013">
                    <a:moveTo>
                      <a:pt x="0" y="100013"/>
                    </a:moveTo>
                    <a:lnTo>
                      <a:pt x="44450" y="33338"/>
                    </a:lnTo>
                    <a:lnTo>
                      <a:pt x="88900" y="55563"/>
                    </a:lnTo>
                    <a:lnTo>
                      <a:pt x="133350" y="0"/>
                    </a:lnTo>
                    <a:lnTo>
                      <a:pt x="177801" y="44450"/>
                    </a:lnTo>
                  </a:path>
                </a:pathLst>
              </a:custGeom>
              <a:noFill/>
              <a:ln w="22225">
                <a:solidFill>
                  <a:srgbClr val="FFFFFF"/>
                </a:solidFill>
              </a:ln>
            </p:spPr>
          </p:sp>
        </p:grpSp>
        <p:sp>
          <p:nvSpPr>
            <p:cNvPr id="59" name="TextBox 59"/>
            <p:cNvSpPr txBox="1"/>
            <p:nvPr/>
          </p:nvSpPr>
          <p:spPr>
            <a:xfrm>
              <a:off x="1058799" y="4649629"/>
              <a:ext cx="2355698" cy="308039"/>
            </a:xfrm>
            <a:prstGeom prst="rect">
              <a:avLst/>
            </a:prstGeom>
            <a:noFill/>
            <a:ln>
              <a:noFill/>
            </a:ln>
          </p:spPr>
          <p:txBody>
            <a:bodyPr wrap="none" lIns="0" tIns="0" rIns="0" bIns="0" anchor="t" anchorCtr="0">
              <a:spAutoFit/>
            </a:bodyPr>
            <a:lstStyle/>
            <a:p>
              <a:pPr algn="l"/>
              <a:r>
                <a:rPr lang="zh-CN" sz="1580" b="1" dirty="0">
                  <a:solidFill>
                    <a:srgbClr val="721E0D"/>
                  </a:solidFill>
                  <a:latin typeface="+mn-lt"/>
                  <a:ea typeface="+mn-ea"/>
                  <a:cs typeface="+mn-cs"/>
                </a:rPr>
                <a:t>从解释过去，到证明未来</a:t>
              </a:r>
            </a:p>
          </p:txBody>
        </p:sp>
      </p:grpSp>
      <p:grpSp>
        <p:nvGrpSpPr>
          <p:cNvPr id="69" name="cover-period"/>
          <p:cNvGrpSpPr/>
          <p:nvPr/>
        </p:nvGrpSpPr>
        <p:grpSpPr>
          <a:xfrm>
            <a:off x="447675" y="5331619"/>
            <a:ext cx="2839692" cy="304609"/>
            <a:chOff x="447675" y="5331619"/>
            <a:chExt cx="2839692" cy="304609"/>
          </a:xfrm>
        </p:grpSpPr>
        <p:grpSp>
          <p:nvGrpSpPr>
            <p:cNvPr id="67" name="Group 67"/>
            <p:cNvGrpSpPr/>
            <p:nvPr/>
          </p:nvGrpSpPr>
          <p:grpSpPr>
            <a:xfrm>
              <a:off x="447675" y="5331619"/>
              <a:ext cx="190500" cy="214312"/>
              <a:chOff x="447675" y="5331619"/>
              <a:chExt cx="190500" cy="214312"/>
            </a:xfrm>
          </p:grpSpPr>
          <p:sp>
            <p:nvSpPr>
              <p:cNvPr id="61" name="Freeform 61"/>
              <p:cNvSpPr/>
              <p:nvPr/>
            </p:nvSpPr>
            <p:spPr>
              <a:xfrm>
                <a:off x="447675" y="5355431"/>
                <a:ext cx="190500" cy="190500"/>
              </a:xfrm>
              <a:custGeom>
                <a:avLst/>
                <a:gdLst/>
                <a:ahLst/>
                <a:cxnLst/>
                <a:rect l="l" t="t" r="r" b="b"/>
                <a:pathLst>
                  <a:path w="190500" h="190500">
                    <a:moveTo>
                      <a:pt x="0" y="23812"/>
                    </a:moveTo>
                    <a:cubicBezTo>
                      <a:pt x="0" y="10661"/>
                      <a:pt x="10661" y="0"/>
                      <a:pt x="23812" y="0"/>
                    </a:cubicBezTo>
                    <a:lnTo>
                      <a:pt x="166688" y="0"/>
                    </a:lnTo>
                    <a:cubicBezTo>
                      <a:pt x="179839" y="0"/>
                      <a:pt x="190500" y="10661"/>
                      <a:pt x="190500" y="23812"/>
                    </a:cubicBezTo>
                    <a:lnTo>
                      <a:pt x="190500" y="166688"/>
                    </a:lnTo>
                    <a:cubicBezTo>
                      <a:pt x="190500" y="179839"/>
                      <a:pt x="179839" y="190500"/>
                      <a:pt x="166688" y="190500"/>
                    </a:cubicBezTo>
                    <a:lnTo>
                      <a:pt x="23812" y="190500"/>
                    </a:lnTo>
                    <a:cubicBezTo>
                      <a:pt x="10661" y="190500"/>
                      <a:pt x="0" y="179839"/>
                      <a:pt x="0" y="166688"/>
                    </a:cubicBezTo>
                    <a:lnTo>
                      <a:pt x="0" y="23812"/>
                    </a:lnTo>
                  </a:path>
                </a:pathLst>
              </a:custGeom>
              <a:noFill/>
              <a:ln w="23812">
                <a:solidFill>
                  <a:srgbClr val="721E0D"/>
                </a:solidFill>
              </a:ln>
            </p:spPr>
          </p:sp>
          <p:sp>
            <p:nvSpPr>
              <p:cNvPr id="62" name="Freeform 62"/>
              <p:cNvSpPr/>
              <p:nvPr/>
            </p:nvSpPr>
            <p:spPr>
              <a:xfrm>
                <a:off x="590550" y="5331619"/>
                <a:ext cx="9525" cy="47625"/>
              </a:xfrm>
              <a:custGeom>
                <a:avLst/>
                <a:gdLst/>
                <a:ahLst/>
                <a:cxnLst/>
                <a:rect l="l" t="t" r="r" b="b"/>
                <a:pathLst>
                  <a:path w="9525" h="47625">
                    <a:moveTo>
                      <a:pt x="0" y="0"/>
                    </a:moveTo>
                    <a:lnTo>
                      <a:pt x="0" y="47625"/>
                    </a:lnTo>
                  </a:path>
                </a:pathLst>
              </a:custGeom>
              <a:noFill/>
              <a:ln w="23812">
                <a:solidFill>
                  <a:srgbClr val="721E0D"/>
                </a:solidFill>
              </a:ln>
            </p:spPr>
          </p:sp>
          <p:sp>
            <p:nvSpPr>
              <p:cNvPr id="63" name="Freeform 63"/>
              <p:cNvSpPr/>
              <p:nvPr/>
            </p:nvSpPr>
            <p:spPr>
              <a:xfrm>
                <a:off x="495300" y="5331619"/>
                <a:ext cx="9525" cy="47625"/>
              </a:xfrm>
              <a:custGeom>
                <a:avLst/>
                <a:gdLst/>
                <a:ahLst/>
                <a:cxnLst/>
                <a:rect l="l" t="t" r="r" b="b"/>
                <a:pathLst>
                  <a:path w="9525" h="47625">
                    <a:moveTo>
                      <a:pt x="0" y="0"/>
                    </a:moveTo>
                    <a:lnTo>
                      <a:pt x="0" y="47625"/>
                    </a:lnTo>
                  </a:path>
                </a:pathLst>
              </a:custGeom>
              <a:noFill/>
              <a:ln w="23812">
                <a:solidFill>
                  <a:srgbClr val="721E0D"/>
                </a:solidFill>
              </a:ln>
            </p:spPr>
          </p:sp>
          <p:sp>
            <p:nvSpPr>
              <p:cNvPr id="64" name="Freeform 64"/>
              <p:cNvSpPr/>
              <p:nvPr/>
            </p:nvSpPr>
            <p:spPr>
              <a:xfrm>
                <a:off x="447675" y="5426869"/>
                <a:ext cx="190500" cy="9525"/>
              </a:xfrm>
              <a:custGeom>
                <a:avLst/>
                <a:gdLst/>
                <a:ahLst/>
                <a:cxnLst/>
                <a:rect l="l" t="t" r="r" b="b"/>
                <a:pathLst>
                  <a:path w="190500" h="9525">
                    <a:moveTo>
                      <a:pt x="0" y="0"/>
                    </a:moveTo>
                    <a:lnTo>
                      <a:pt x="190500" y="0"/>
                    </a:lnTo>
                  </a:path>
                </a:pathLst>
              </a:custGeom>
              <a:noFill/>
              <a:ln w="23812">
                <a:solidFill>
                  <a:srgbClr val="721E0D"/>
                </a:solidFill>
              </a:ln>
            </p:spPr>
          </p:sp>
          <p:sp>
            <p:nvSpPr>
              <p:cNvPr id="65" name="Freeform 65"/>
              <p:cNvSpPr/>
              <p:nvPr/>
            </p:nvSpPr>
            <p:spPr>
              <a:xfrm>
                <a:off x="531019" y="5474494"/>
                <a:ext cx="11906" cy="9525"/>
              </a:xfrm>
              <a:custGeom>
                <a:avLst/>
                <a:gdLst/>
                <a:ahLst/>
                <a:cxnLst/>
                <a:rect l="l" t="t" r="r" b="b"/>
                <a:pathLst>
                  <a:path w="11906" h="9525">
                    <a:moveTo>
                      <a:pt x="0" y="0"/>
                    </a:moveTo>
                    <a:lnTo>
                      <a:pt x="11906" y="0"/>
                    </a:lnTo>
                  </a:path>
                </a:pathLst>
              </a:custGeom>
              <a:noFill/>
              <a:ln w="23812">
                <a:solidFill>
                  <a:srgbClr val="721E0D"/>
                </a:solidFill>
              </a:ln>
            </p:spPr>
          </p:sp>
          <p:sp>
            <p:nvSpPr>
              <p:cNvPr id="66" name="Freeform 66"/>
              <p:cNvSpPr/>
              <p:nvPr/>
            </p:nvSpPr>
            <p:spPr>
              <a:xfrm>
                <a:off x="542925" y="5474494"/>
                <a:ext cx="9525" cy="35719"/>
              </a:xfrm>
              <a:custGeom>
                <a:avLst/>
                <a:gdLst/>
                <a:ahLst/>
                <a:cxnLst/>
                <a:rect l="l" t="t" r="r" b="b"/>
                <a:pathLst>
                  <a:path w="9525" h="35719">
                    <a:moveTo>
                      <a:pt x="0" y="0"/>
                    </a:moveTo>
                    <a:lnTo>
                      <a:pt x="0" y="35719"/>
                    </a:lnTo>
                  </a:path>
                </a:pathLst>
              </a:custGeom>
              <a:noFill/>
              <a:ln w="23812">
                <a:solidFill>
                  <a:srgbClr val="721E0D"/>
                </a:solidFill>
              </a:ln>
            </p:spPr>
          </p:sp>
        </p:grpSp>
        <p:sp>
          <p:nvSpPr>
            <p:cNvPr id="68" name="TextBox 68"/>
            <p:cNvSpPr txBox="1"/>
            <p:nvPr/>
          </p:nvSpPr>
          <p:spPr>
            <a:xfrm>
              <a:off x="774573" y="5386864"/>
              <a:ext cx="2512794" cy="249364"/>
            </a:xfrm>
            <a:prstGeom prst="rect">
              <a:avLst/>
            </a:prstGeom>
            <a:noFill/>
            <a:ln>
              <a:noFill/>
            </a:ln>
          </p:spPr>
          <p:txBody>
            <a:bodyPr wrap="none" lIns="0" tIns="0" rIns="0" bIns="0" anchor="t" anchorCtr="0">
              <a:spAutoFit/>
            </a:bodyPr>
            <a:lstStyle/>
            <a:p>
              <a:pPr algn="l"/>
              <a:r>
                <a:rPr lang="zh-CN" sz="1280" b="1" dirty="0">
                  <a:solidFill>
                    <a:srgbClr val="461910"/>
                  </a:solidFill>
                  <a:latin typeface="+mn-lt"/>
                  <a:ea typeface="+mn-ea"/>
                  <a:cs typeface="+mn-cs"/>
                </a:rPr>
                <a:t xml:space="preserve">汇报周期：2026年1—6月      </a:t>
              </a:r>
            </a:p>
          </p:txBody>
        </p:sp>
      </p:grpSp>
      <p:grpSp>
        <p:nvGrpSpPr>
          <p:cNvPr id="96" name="cover-trend-card"/>
          <p:cNvGrpSpPr/>
          <p:nvPr/>
        </p:nvGrpSpPr>
        <p:grpSpPr>
          <a:xfrm>
            <a:off x="6896100" y="3810000"/>
            <a:ext cx="2457450" cy="2514600"/>
            <a:chOff x="6896100" y="3810000"/>
            <a:chExt cx="2457450" cy="2514600"/>
          </a:xfrm>
        </p:grpSpPr>
        <p:sp>
          <p:nvSpPr>
            <p:cNvPr id="70" name="Rectangle 70"/>
            <p:cNvSpPr/>
            <p:nvPr/>
          </p:nvSpPr>
          <p:spPr>
            <a:xfrm>
              <a:off x="6896100" y="3810000"/>
              <a:ext cx="2457450" cy="2514600"/>
            </a:xfrm>
            <a:prstGeom prst="roundRect">
              <a:avLst>
                <a:gd name="adj" fmla="val 4651"/>
              </a:avLst>
            </a:prstGeom>
            <a:solidFill>
              <a:srgbClr val="FFFFFF"/>
            </a:solidFill>
            <a:ln w="14288">
              <a:solidFill>
                <a:srgbClr val="C9D6EE"/>
              </a:solidFill>
            </a:ln>
          </p:spPr>
        </p:sp>
        <p:sp>
          <p:nvSpPr>
            <p:cNvPr id="71" name="Freeform 71"/>
            <p:cNvSpPr/>
            <p:nvPr/>
          </p:nvSpPr>
          <p:spPr>
            <a:xfrm>
              <a:off x="6915150" y="3943350"/>
              <a:ext cx="2419350" cy="152400"/>
            </a:xfrm>
            <a:custGeom>
              <a:avLst/>
              <a:gdLst/>
              <a:ahLst/>
              <a:cxnLst/>
              <a:rect l="l" t="t" r="r" b="b"/>
              <a:pathLst>
                <a:path w="2419350" h="152400">
                  <a:moveTo>
                    <a:pt x="95250" y="0"/>
                  </a:moveTo>
                  <a:lnTo>
                    <a:pt x="2324100" y="0"/>
                  </a:lnTo>
                  <a:cubicBezTo>
                    <a:pt x="2376705" y="0"/>
                    <a:pt x="2419350" y="42645"/>
                    <a:pt x="2419350" y="95250"/>
                  </a:cubicBezTo>
                  <a:lnTo>
                    <a:pt x="2419350" y="152400"/>
                  </a:lnTo>
                  <a:lnTo>
                    <a:pt x="0" y="152400"/>
                  </a:lnTo>
                  <a:lnTo>
                    <a:pt x="0" y="95250"/>
                  </a:lnTo>
                  <a:cubicBezTo>
                    <a:pt x="0" y="42645"/>
                    <a:pt x="42645" y="0"/>
                    <a:pt x="95250" y="0"/>
                  </a:cubicBezTo>
                  <a:close/>
                </a:path>
              </a:pathLst>
            </a:custGeom>
            <a:solidFill>
              <a:srgbClr val="721E0D"/>
            </a:solidFill>
            <a:ln>
              <a:noFill/>
            </a:ln>
          </p:spPr>
        </p:sp>
        <p:sp>
          <p:nvSpPr>
            <p:cNvPr id="72" name="TextBox 72"/>
            <p:cNvSpPr txBox="1"/>
            <p:nvPr/>
          </p:nvSpPr>
          <p:spPr>
            <a:xfrm>
              <a:off x="7724089" y="395239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目标达成趋势</a:t>
              </a:r>
            </a:p>
          </p:txBody>
        </p:sp>
        <p:sp>
          <p:nvSpPr>
            <p:cNvPr id="73" name="Line 73"/>
            <p:cNvSpPr/>
            <p:nvPr/>
          </p:nvSpPr>
          <p:spPr>
            <a:xfrm>
              <a:off x="7086600" y="4286250"/>
              <a:ext cx="228600" cy="9525"/>
            </a:xfrm>
            <a:custGeom>
              <a:avLst/>
              <a:gdLst/>
              <a:ahLst/>
              <a:cxnLst/>
              <a:rect l="l" t="t" r="r" b="b"/>
              <a:pathLst>
                <a:path w="228600" h="9525">
                  <a:moveTo>
                    <a:pt x="0" y="0"/>
                  </a:moveTo>
                  <a:lnTo>
                    <a:pt x="228600" y="0"/>
                  </a:lnTo>
                </a:path>
              </a:pathLst>
            </a:custGeom>
            <a:noFill/>
            <a:ln w="19050">
              <a:solidFill>
                <a:srgbClr val="C03616"/>
              </a:solidFill>
              <a:custDash>
                <a:ds d="250000" sp="200000"/>
              </a:custDash>
            </a:ln>
          </p:spPr>
        </p:sp>
        <p:sp>
          <p:nvSpPr>
            <p:cNvPr id="74" name="TextBox 74"/>
            <p:cNvSpPr txBox="1"/>
            <p:nvPr/>
          </p:nvSpPr>
          <p:spPr>
            <a:xfrm>
              <a:off x="7367588" y="4243388"/>
              <a:ext cx="211455"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目标</a:t>
              </a:r>
            </a:p>
          </p:txBody>
        </p:sp>
        <p:sp>
          <p:nvSpPr>
            <p:cNvPr id="75" name="Line 75"/>
            <p:cNvSpPr/>
            <p:nvPr/>
          </p:nvSpPr>
          <p:spPr>
            <a:xfrm>
              <a:off x="7734300" y="4286250"/>
              <a:ext cx="228600" cy="9525"/>
            </a:xfrm>
            <a:custGeom>
              <a:avLst/>
              <a:gdLst/>
              <a:ahLst/>
              <a:cxnLst/>
              <a:rect l="l" t="t" r="r" b="b"/>
              <a:pathLst>
                <a:path w="228600" h="9525">
                  <a:moveTo>
                    <a:pt x="0" y="0"/>
                  </a:moveTo>
                  <a:lnTo>
                    <a:pt x="228600" y="0"/>
                  </a:lnTo>
                </a:path>
              </a:pathLst>
            </a:custGeom>
            <a:noFill/>
            <a:ln w="23812">
              <a:solidFill>
                <a:srgbClr val="B8351A"/>
              </a:solidFill>
            </a:ln>
          </p:spPr>
        </p:sp>
        <p:sp>
          <p:nvSpPr>
            <p:cNvPr id="76" name="TextBox 76"/>
            <p:cNvSpPr txBox="1"/>
            <p:nvPr/>
          </p:nvSpPr>
          <p:spPr>
            <a:xfrm>
              <a:off x="8015288" y="4243388"/>
              <a:ext cx="211455"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实际</a:t>
              </a:r>
            </a:p>
          </p:txBody>
        </p:sp>
        <p:sp>
          <p:nvSpPr>
            <p:cNvPr id="77" name="Line 77"/>
            <p:cNvSpPr/>
            <p:nvPr/>
          </p:nvSpPr>
          <p:spPr>
            <a:xfrm>
              <a:off x="7067550" y="4438650"/>
              <a:ext cx="9525" cy="1524000"/>
            </a:xfrm>
            <a:custGeom>
              <a:avLst/>
              <a:gdLst/>
              <a:ahLst/>
              <a:cxnLst/>
              <a:rect l="l" t="t" r="r" b="b"/>
              <a:pathLst>
                <a:path w="9525" h="1524000">
                  <a:moveTo>
                    <a:pt x="0" y="0"/>
                  </a:moveTo>
                  <a:lnTo>
                    <a:pt x="0" y="1524000"/>
                  </a:lnTo>
                </a:path>
              </a:pathLst>
            </a:custGeom>
            <a:noFill/>
            <a:ln w="9525">
              <a:solidFill>
                <a:srgbClr val="C9D6EE"/>
              </a:solidFill>
            </a:ln>
          </p:spPr>
        </p:sp>
        <p:sp>
          <p:nvSpPr>
            <p:cNvPr id="78" name="Line 78"/>
            <p:cNvSpPr/>
            <p:nvPr/>
          </p:nvSpPr>
          <p:spPr>
            <a:xfrm>
              <a:off x="7067550" y="5962650"/>
              <a:ext cx="2152650" cy="9525"/>
            </a:xfrm>
            <a:custGeom>
              <a:avLst/>
              <a:gdLst/>
              <a:ahLst/>
              <a:cxnLst/>
              <a:rect l="l" t="t" r="r" b="b"/>
              <a:pathLst>
                <a:path w="2152650" h="9525">
                  <a:moveTo>
                    <a:pt x="0" y="0"/>
                  </a:moveTo>
                  <a:lnTo>
                    <a:pt x="2152650" y="0"/>
                  </a:lnTo>
                </a:path>
              </a:pathLst>
            </a:custGeom>
            <a:noFill/>
            <a:ln w="9525">
              <a:solidFill>
                <a:srgbClr val="C9D6EE"/>
              </a:solidFill>
            </a:ln>
          </p:spPr>
        </p:sp>
        <p:sp>
          <p:nvSpPr>
            <p:cNvPr id="79" name="Freeform 79"/>
            <p:cNvSpPr/>
            <p:nvPr/>
          </p:nvSpPr>
          <p:spPr>
            <a:xfrm>
              <a:off x="7181850" y="4610100"/>
              <a:ext cx="1943100" cy="1104900"/>
            </a:xfrm>
            <a:custGeom>
              <a:avLst/>
              <a:gdLst/>
              <a:ahLst/>
              <a:cxnLst/>
              <a:rect l="l" t="t" r="r" b="b"/>
              <a:pathLst>
                <a:path w="1943100" h="1104900">
                  <a:moveTo>
                    <a:pt x="0" y="1104900"/>
                  </a:moveTo>
                  <a:lnTo>
                    <a:pt x="1943100" y="0"/>
                  </a:lnTo>
                </a:path>
              </a:pathLst>
            </a:custGeom>
            <a:noFill/>
            <a:ln w="19050">
              <a:solidFill>
                <a:srgbClr val="C03616"/>
              </a:solidFill>
              <a:custDash>
                <a:ds d="300000" sp="250000"/>
              </a:custDash>
            </a:ln>
          </p:spPr>
        </p:sp>
        <p:sp>
          <p:nvSpPr>
            <p:cNvPr id="80" name="Freeform 80"/>
            <p:cNvSpPr/>
            <p:nvPr/>
          </p:nvSpPr>
          <p:spPr>
            <a:xfrm>
              <a:off x="7181850" y="4705350"/>
              <a:ext cx="1943100" cy="1143000"/>
            </a:xfrm>
            <a:custGeom>
              <a:avLst/>
              <a:gdLst/>
              <a:ahLst/>
              <a:cxnLst/>
              <a:rect l="l" t="t" r="r" b="b"/>
              <a:pathLst>
                <a:path w="1943100" h="1143000">
                  <a:moveTo>
                    <a:pt x="0" y="1143000"/>
                  </a:moveTo>
                  <a:lnTo>
                    <a:pt x="400050" y="1047750"/>
                  </a:lnTo>
                  <a:lnTo>
                    <a:pt x="800100" y="933450"/>
                  </a:lnTo>
                  <a:lnTo>
                    <a:pt x="1200150" y="685800"/>
                  </a:lnTo>
                  <a:lnTo>
                    <a:pt x="1600200" y="323850"/>
                  </a:lnTo>
                  <a:lnTo>
                    <a:pt x="1943100" y="0"/>
                  </a:lnTo>
                </a:path>
              </a:pathLst>
            </a:custGeom>
            <a:noFill/>
            <a:ln w="28575">
              <a:solidFill>
                <a:srgbClr val="B8351A"/>
              </a:solidFill>
            </a:ln>
          </p:spPr>
        </p:sp>
        <p:sp>
          <p:nvSpPr>
            <p:cNvPr id="81" name="Ellipse 81"/>
            <p:cNvSpPr/>
            <p:nvPr/>
          </p:nvSpPr>
          <p:spPr>
            <a:xfrm>
              <a:off x="7553325" y="5724525"/>
              <a:ext cx="57150" cy="57150"/>
            </a:xfrm>
            <a:prstGeom prst="ellipse">
              <a:avLst/>
            </a:prstGeom>
            <a:solidFill>
              <a:srgbClr val="B8351A"/>
            </a:solidFill>
            <a:ln>
              <a:noFill/>
            </a:ln>
          </p:spPr>
        </p:sp>
        <p:sp>
          <p:nvSpPr>
            <p:cNvPr id="82" name="Ellipse 82"/>
            <p:cNvSpPr/>
            <p:nvPr/>
          </p:nvSpPr>
          <p:spPr>
            <a:xfrm>
              <a:off x="7953375" y="5610225"/>
              <a:ext cx="57150" cy="57150"/>
            </a:xfrm>
            <a:prstGeom prst="ellipse">
              <a:avLst/>
            </a:prstGeom>
            <a:solidFill>
              <a:srgbClr val="B8351A"/>
            </a:solidFill>
            <a:ln>
              <a:noFill/>
            </a:ln>
          </p:spPr>
        </p:sp>
        <p:sp>
          <p:nvSpPr>
            <p:cNvPr id="83" name="Ellipse 83"/>
            <p:cNvSpPr/>
            <p:nvPr/>
          </p:nvSpPr>
          <p:spPr>
            <a:xfrm>
              <a:off x="8353425" y="5362575"/>
              <a:ext cx="57150" cy="57150"/>
            </a:xfrm>
            <a:prstGeom prst="ellipse">
              <a:avLst/>
            </a:prstGeom>
            <a:solidFill>
              <a:srgbClr val="B8351A"/>
            </a:solidFill>
            <a:ln>
              <a:noFill/>
            </a:ln>
          </p:spPr>
        </p:sp>
        <p:sp>
          <p:nvSpPr>
            <p:cNvPr id="84" name="Ellipse 84"/>
            <p:cNvSpPr/>
            <p:nvPr/>
          </p:nvSpPr>
          <p:spPr>
            <a:xfrm>
              <a:off x="8753475" y="5000625"/>
              <a:ext cx="57150" cy="57150"/>
            </a:xfrm>
            <a:prstGeom prst="ellipse">
              <a:avLst/>
            </a:prstGeom>
            <a:solidFill>
              <a:srgbClr val="B8351A"/>
            </a:solidFill>
            <a:ln>
              <a:noFill/>
            </a:ln>
          </p:spPr>
        </p:sp>
        <p:sp>
          <p:nvSpPr>
            <p:cNvPr id="85" name="TextBox 85"/>
            <p:cNvSpPr txBox="1"/>
            <p:nvPr/>
          </p:nvSpPr>
          <p:spPr>
            <a:xfrm>
              <a:off x="6945306" y="6076236"/>
              <a:ext cx="473089"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 xml:space="preserve">   1月   </a:t>
              </a:r>
            </a:p>
          </p:txBody>
        </p:sp>
        <p:sp>
          <p:nvSpPr>
            <p:cNvPr id="86" name="TextBox 86"/>
            <p:cNvSpPr txBox="1"/>
            <p:nvPr/>
          </p:nvSpPr>
          <p:spPr>
            <a:xfrm>
              <a:off x="7326306" y="6076236"/>
              <a:ext cx="473089"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 xml:space="preserve">   2月   </a:t>
              </a:r>
            </a:p>
          </p:txBody>
        </p:sp>
        <p:sp>
          <p:nvSpPr>
            <p:cNvPr id="87" name="TextBox 87"/>
            <p:cNvSpPr txBox="1"/>
            <p:nvPr/>
          </p:nvSpPr>
          <p:spPr>
            <a:xfrm>
              <a:off x="7707306" y="6076236"/>
              <a:ext cx="473089"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 xml:space="preserve">   3月   </a:t>
              </a:r>
            </a:p>
          </p:txBody>
        </p:sp>
        <p:sp>
          <p:nvSpPr>
            <p:cNvPr id="88" name="TextBox 88"/>
            <p:cNvSpPr txBox="1"/>
            <p:nvPr/>
          </p:nvSpPr>
          <p:spPr>
            <a:xfrm>
              <a:off x="8088306" y="6076236"/>
              <a:ext cx="473089"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 xml:space="preserve">   4月   </a:t>
              </a:r>
            </a:p>
          </p:txBody>
        </p:sp>
        <p:sp>
          <p:nvSpPr>
            <p:cNvPr id="89" name="TextBox 89"/>
            <p:cNvSpPr txBox="1"/>
            <p:nvPr/>
          </p:nvSpPr>
          <p:spPr>
            <a:xfrm>
              <a:off x="8469306" y="6076236"/>
              <a:ext cx="473089"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 xml:space="preserve">   5月   </a:t>
              </a:r>
            </a:p>
          </p:txBody>
        </p:sp>
        <p:sp>
          <p:nvSpPr>
            <p:cNvPr id="90" name="TextBox 90"/>
            <p:cNvSpPr txBox="1"/>
            <p:nvPr/>
          </p:nvSpPr>
          <p:spPr>
            <a:xfrm>
              <a:off x="8850306" y="6076236"/>
              <a:ext cx="473089"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 xml:space="preserve">   6月   </a:t>
              </a:r>
            </a:p>
          </p:txBody>
        </p:sp>
        <p:sp>
          <p:nvSpPr>
            <p:cNvPr id="91" name="TextBox 91"/>
            <p:cNvSpPr txBox="1"/>
            <p:nvPr/>
          </p:nvSpPr>
          <p:spPr>
            <a:xfrm>
              <a:off x="8110538" y="5253038"/>
              <a:ext cx="716280" cy="147638"/>
            </a:xfrm>
            <a:prstGeom prst="rect">
              <a:avLst/>
            </a:prstGeom>
            <a:noFill/>
            <a:ln>
              <a:noFill/>
            </a:ln>
          </p:spPr>
          <p:txBody>
            <a:bodyPr wrap="none" lIns="0" tIns="0" rIns="0" bIns="0" anchor="t" anchorCtr="0">
              <a:spAutoFit/>
            </a:bodyPr>
            <a:lstStyle/>
            <a:p>
              <a:pPr algn="l"/>
              <a:r>
                <a:rPr lang="zh-CN" sz="750" dirty="0">
                  <a:solidFill>
                    <a:srgbClr val="C03616"/>
                  </a:solidFill>
                  <a:latin typeface="+mn-lt"/>
                  <a:ea typeface="+mn-ea"/>
                  <a:cs typeface="+mn-cs"/>
                </a:rPr>
                <a:t>下半年追回缺口</a:t>
              </a:r>
            </a:p>
          </p:txBody>
        </p:sp>
        <p:sp>
          <p:nvSpPr>
            <p:cNvPr id="92" name="TextBox 92"/>
            <p:cNvSpPr txBox="1"/>
            <p:nvPr/>
          </p:nvSpPr>
          <p:spPr>
            <a:xfrm>
              <a:off x="8107680" y="5400675"/>
              <a:ext cx="640718" cy="293370"/>
            </a:xfrm>
            <a:prstGeom prst="rect">
              <a:avLst/>
            </a:prstGeom>
            <a:noFill/>
            <a:ln>
              <a:noFill/>
            </a:ln>
          </p:spPr>
          <p:txBody>
            <a:bodyPr wrap="none" lIns="0" tIns="0" rIns="0" bIns="0" anchor="t" anchorCtr="0">
              <a:spAutoFit/>
            </a:bodyPr>
            <a:lstStyle/>
            <a:p>
              <a:pPr algn="l"/>
              <a:r>
                <a:rPr lang="zh-CN" sz="1500" b="1" dirty="0">
                  <a:solidFill>
                    <a:srgbClr val="C03616"/>
                  </a:solidFill>
                  <a:latin typeface="+mn-lt"/>
                  <a:ea typeface="+mn-ea"/>
                  <a:cs typeface="+mn-cs"/>
                </a:rPr>
                <a:t xml:space="preserve">+32% </a:t>
              </a:r>
            </a:p>
          </p:txBody>
        </p:sp>
        <p:grpSp>
          <p:nvGrpSpPr>
            <p:cNvPr id="95" name="Group 95"/>
            <p:cNvGrpSpPr/>
            <p:nvPr/>
          </p:nvGrpSpPr>
          <p:grpSpPr>
            <a:xfrm>
              <a:off x="8704262" y="5446712"/>
              <a:ext cx="79375" cy="79375"/>
              <a:chOff x="8704262" y="5446712"/>
              <a:chExt cx="79375" cy="79375"/>
            </a:xfrm>
          </p:grpSpPr>
          <p:sp>
            <p:nvSpPr>
              <p:cNvPr id="93" name="Freeform 93"/>
              <p:cNvSpPr/>
              <p:nvPr/>
            </p:nvSpPr>
            <p:spPr>
              <a:xfrm>
                <a:off x="8704262" y="5446712"/>
                <a:ext cx="79375" cy="79375"/>
              </a:xfrm>
              <a:custGeom>
                <a:avLst/>
                <a:gdLst/>
                <a:ahLst/>
                <a:cxnLst/>
                <a:rect l="l" t="t" r="r" b="b"/>
                <a:pathLst>
                  <a:path w="79375" h="79375">
                    <a:moveTo>
                      <a:pt x="79375" y="0"/>
                    </a:moveTo>
                    <a:lnTo>
                      <a:pt x="0" y="79375"/>
                    </a:lnTo>
                  </a:path>
                </a:pathLst>
              </a:custGeom>
              <a:noFill/>
              <a:ln w="15875">
                <a:solidFill>
                  <a:srgbClr val="C03616"/>
                </a:solidFill>
              </a:ln>
            </p:spPr>
          </p:sp>
          <p:sp>
            <p:nvSpPr>
              <p:cNvPr id="94" name="Freeform 94"/>
              <p:cNvSpPr/>
              <p:nvPr/>
            </p:nvSpPr>
            <p:spPr>
              <a:xfrm>
                <a:off x="8712200" y="5446712"/>
                <a:ext cx="71437" cy="71437"/>
              </a:xfrm>
              <a:custGeom>
                <a:avLst/>
                <a:gdLst/>
                <a:ahLst/>
                <a:cxnLst/>
                <a:rect l="l" t="t" r="r" b="b"/>
                <a:pathLst>
                  <a:path w="71437" h="71437">
                    <a:moveTo>
                      <a:pt x="0" y="0"/>
                    </a:moveTo>
                    <a:lnTo>
                      <a:pt x="71437" y="0"/>
                    </a:lnTo>
                    <a:lnTo>
                      <a:pt x="71437" y="71437"/>
                    </a:lnTo>
                  </a:path>
                </a:pathLst>
              </a:custGeom>
              <a:noFill/>
              <a:ln w="15875">
                <a:solidFill>
                  <a:srgbClr val="C03616"/>
                </a:solidFill>
              </a:ln>
            </p:spPr>
          </p:sp>
        </p:grpSp>
      </p:grpSp>
      <p:grpSp>
        <p:nvGrpSpPr>
          <p:cNvPr id="105" name="cover-rate-card"/>
          <p:cNvGrpSpPr/>
          <p:nvPr/>
        </p:nvGrpSpPr>
        <p:grpSpPr>
          <a:xfrm>
            <a:off x="9486900" y="3200400"/>
            <a:ext cx="2324100" cy="1409700"/>
            <a:chOff x="9486900" y="3200400"/>
            <a:chExt cx="2324100" cy="1409700"/>
          </a:xfrm>
        </p:grpSpPr>
        <p:sp>
          <p:nvSpPr>
            <p:cNvPr id="97" name="Rectangle 97"/>
            <p:cNvSpPr/>
            <p:nvPr/>
          </p:nvSpPr>
          <p:spPr>
            <a:xfrm>
              <a:off x="9486900" y="3200400"/>
              <a:ext cx="2324100" cy="1409700"/>
            </a:xfrm>
            <a:prstGeom prst="roundRect">
              <a:avLst>
                <a:gd name="adj" fmla="val 8108"/>
              </a:avLst>
            </a:prstGeom>
            <a:solidFill>
              <a:srgbClr val="FFFFFF"/>
            </a:solidFill>
            <a:ln w="14288">
              <a:solidFill>
                <a:srgbClr val="C9D6EE"/>
              </a:solidFill>
            </a:ln>
          </p:spPr>
        </p:sp>
        <p:sp>
          <p:nvSpPr>
            <p:cNvPr id="98" name="Freeform 98"/>
            <p:cNvSpPr/>
            <p:nvPr/>
          </p:nvSpPr>
          <p:spPr>
            <a:xfrm>
              <a:off x="9486900" y="3200400"/>
              <a:ext cx="2324100" cy="285750"/>
            </a:xfrm>
            <a:custGeom>
              <a:avLst/>
              <a:gdLst/>
              <a:ahLst/>
              <a:cxnLst/>
              <a:rect l="l" t="t" r="r" b="b"/>
              <a:pathLst>
                <a:path w="2324100" h="285750">
                  <a:moveTo>
                    <a:pt x="114300" y="0"/>
                  </a:moveTo>
                  <a:lnTo>
                    <a:pt x="2209800" y="0"/>
                  </a:lnTo>
                  <a:cubicBezTo>
                    <a:pt x="2272926" y="0"/>
                    <a:pt x="2324100" y="51174"/>
                    <a:pt x="2324100" y="114300"/>
                  </a:cubicBezTo>
                  <a:lnTo>
                    <a:pt x="2324100" y="285750"/>
                  </a:lnTo>
                  <a:lnTo>
                    <a:pt x="0" y="285750"/>
                  </a:lnTo>
                  <a:lnTo>
                    <a:pt x="0" y="114300"/>
                  </a:lnTo>
                  <a:cubicBezTo>
                    <a:pt x="0" y="51174"/>
                    <a:pt x="51174" y="0"/>
                    <a:pt x="114300" y="0"/>
                  </a:cubicBezTo>
                  <a:close/>
                </a:path>
              </a:pathLst>
            </a:custGeom>
            <a:solidFill>
              <a:srgbClr val="721E0D"/>
            </a:solidFill>
            <a:ln>
              <a:noFill/>
            </a:ln>
          </p:spPr>
        </p:sp>
        <p:sp>
          <p:nvSpPr>
            <p:cNvPr id="99" name="TextBox 99"/>
            <p:cNvSpPr txBox="1"/>
            <p:nvPr/>
          </p:nvSpPr>
          <p:spPr>
            <a:xfrm>
              <a:off x="10314178" y="324754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目标达成率</a:t>
              </a:r>
            </a:p>
          </p:txBody>
        </p:sp>
        <p:sp>
          <p:nvSpPr>
            <p:cNvPr id="100" name="Ellipse 100"/>
            <p:cNvSpPr/>
            <p:nvPr/>
          </p:nvSpPr>
          <p:spPr>
            <a:xfrm>
              <a:off x="9715500" y="3771900"/>
              <a:ext cx="723900" cy="723900"/>
            </a:xfrm>
            <a:prstGeom prst="ellipse">
              <a:avLst/>
            </a:prstGeom>
            <a:noFill/>
            <a:ln w="142875">
              <a:solidFill>
                <a:srgbClr val="E3EBF8"/>
              </a:solidFill>
            </a:ln>
          </p:spPr>
        </p:sp>
        <p:sp>
          <p:nvSpPr>
            <p:cNvPr id="101" name="Freeform 101"/>
            <p:cNvSpPr/>
            <p:nvPr/>
          </p:nvSpPr>
          <p:spPr>
            <a:xfrm>
              <a:off x="9715500" y="3771900"/>
              <a:ext cx="723900" cy="723900"/>
            </a:xfrm>
            <a:prstGeom prst="blockArc">
              <a:avLst>
                <a:gd name="adj1" fmla="val 16200000"/>
                <a:gd name="adj2" fmla="val 9288000"/>
                <a:gd name="adj3" fmla="val 25000"/>
              </a:avLst>
            </a:prstGeom>
            <a:solidFill>
              <a:srgbClr val="B8351A"/>
            </a:solidFill>
            <a:ln>
              <a:noFill/>
            </a:ln>
          </p:spPr>
        </p:sp>
        <p:sp>
          <p:nvSpPr>
            <p:cNvPr id="102" name="TextBox 102"/>
            <p:cNvSpPr txBox="1"/>
            <p:nvPr/>
          </p:nvSpPr>
          <p:spPr>
            <a:xfrm>
              <a:off x="9751151" y="4050506"/>
              <a:ext cx="652598" cy="220028"/>
            </a:xfrm>
            <a:prstGeom prst="rect">
              <a:avLst/>
            </a:prstGeom>
            <a:noFill/>
            <a:ln>
              <a:noFill/>
            </a:ln>
          </p:spPr>
          <p:txBody>
            <a:bodyPr wrap="none" lIns="0" tIns="0" rIns="0" bIns="0" anchor="t" anchorCtr="0">
              <a:spAutoFit/>
            </a:bodyPr>
            <a:lstStyle/>
            <a:p>
              <a:pPr algn="ctr"/>
              <a:r>
                <a:rPr lang="zh-CN" sz="1120" b="1" dirty="0">
                  <a:solidFill>
                    <a:srgbClr val="721E0D"/>
                  </a:solidFill>
                  <a:latin typeface="+mn-lt"/>
                  <a:ea typeface="+mn-ea"/>
                  <a:cs typeface="+mn-cs"/>
                </a:rPr>
                <a:t xml:space="preserve">  68%  </a:t>
              </a:r>
            </a:p>
          </p:txBody>
        </p:sp>
        <p:sp>
          <p:nvSpPr>
            <p:cNvPr id="103" name="TextBox 103"/>
            <p:cNvSpPr txBox="1"/>
            <p:nvPr/>
          </p:nvSpPr>
          <p:spPr>
            <a:xfrm>
              <a:off x="10587038" y="3903345"/>
              <a:ext cx="742531" cy="176212"/>
            </a:xfrm>
            <a:prstGeom prst="rect">
              <a:avLst/>
            </a:prstGeom>
            <a:noFill/>
            <a:ln>
              <a:noFill/>
            </a:ln>
          </p:spPr>
          <p:txBody>
            <a:bodyPr wrap="none" lIns="0" tIns="0" rIns="0" bIns="0" anchor="t" anchorCtr="0">
              <a:spAutoFit/>
            </a:bodyPr>
            <a:lstStyle/>
            <a:p>
              <a:pPr algn="l"/>
              <a:r>
                <a:rPr lang="zh-CN" sz="900" dirty="0">
                  <a:solidFill>
                    <a:srgbClr val="523E3A"/>
                  </a:solidFill>
                  <a:latin typeface="+mn-lt"/>
                  <a:ea typeface="+mn-ea"/>
                  <a:cs typeface="+mn-cs"/>
                </a:rPr>
                <a:t xml:space="preserve">目标100%   </a:t>
              </a:r>
            </a:p>
          </p:txBody>
        </p:sp>
        <p:sp>
          <p:nvSpPr>
            <p:cNvPr id="104" name="TextBox 104"/>
            <p:cNvSpPr txBox="1"/>
            <p:nvPr/>
          </p:nvSpPr>
          <p:spPr>
            <a:xfrm>
              <a:off x="10587038" y="4170045"/>
              <a:ext cx="687101" cy="176212"/>
            </a:xfrm>
            <a:prstGeom prst="rect">
              <a:avLst/>
            </a:prstGeom>
            <a:noFill/>
            <a:ln>
              <a:noFill/>
            </a:ln>
          </p:spPr>
          <p:txBody>
            <a:bodyPr wrap="none" lIns="0" tIns="0" rIns="0" bIns="0" anchor="t" anchorCtr="0">
              <a:spAutoFit/>
            </a:bodyPr>
            <a:lstStyle/>
            <a:p>
              <a:pPr algn="l"/>
              <a:r>
                <a:rPr lang="zh-CN" sz="900" dirty="0">
                  <a:solidFill>
                    <a:srgbClr val="523E3A"/>
                  </a:solidFill>
                  <a:latin typeface="+mn-lt"/>
                  <a:ea typeface="+mn-ea"/>
                  <a:cs typeface="+mn-cs"/>
                </a:rPr>
                <a:t>差距</a:t>
              </a:r>
              <a:r>
                <a:rPr lang="zh-CN" sz="900" b="1" dirty="0">
                  <a:solidFill>
                    <a:srgbClr val="C03616"/>
                  </a:solidFill>
                  <a:latin typeface="+mn-lt"/>
                  <a:ea typeface="+mn-ea"/>
                  <a:cs typeface="+mn-cs"/>
                </a:rPr>
                <a:t>32%</a:t>
              </a:r>
              <a:r>
                <a:rPr lang="zh-CN" sz="900" dirty="0">
                  <a:solidFill>
                    <a:srgbClr val="523E3A"/>
                  </a:solidFill>
                  <a:latin typeface="+mn-lt"/>
                  <a:ea typeface="+mn-ea"/>
                  <a:cs typeface="+mn-cs"/>
                </a:rPr>
                <a:t xml:space="preserve">   </a:t>
              </a:r>
            </a:p>
          </p:txBody>
        </p:sp>
      </p:grpSp>
      <p:grpSp>
        <p:nvGrpSpPr>
          <p:cNvPr id="123" name="cover-radar-card"/>
          <p:cNvGrpSpPr/>
          <p:nvPr/>
        </p:nvGrpSpPr>
        <p:grpSpPr>
          <a:xfrm>
            <a:off x="9486900" y="4762500"/>
            <a:ext cx="2324100" cy="1562100"/>
            <a:chOff x="9486900" y="4762500"/>
            <a:chExt cx="2324100" cy="1562100"/>
          </a:xfrm>
        </p:grpSpPr>
        <p:sp>
          <p:nvSpPr>
            <p:cNvPr id="106" name="Rectangle 106"/>
            <p:cNvSpPr/>
            <p:nvPr/>
          </p:nvSpPr>
          <p:spPr>
            <a:xfrm>
              <a:off x="9486900" y="4762500"/>
              <a:ext cx="2324100" cy="1562100"/>
            </a:xfrm>
            <a:prstGeom prst="roundRect">
              <a:avLst>
                <a:gd name="adj" fmla="val 7317"/>
              </a:avLst>
            </a:prstGeom>
            <a:solidFill>
              <a:srgbClr val="FFFFFF"/>
            </a:solidFill>
            <a:ln w="14288">
              <a:solidFill>
                <a:srgbClr val="C9D6EE"/>
              </a:solidFill>
            </a:ln>
          </p:spPr>
        </p:sp>
        <p:sp>
          <p:nvSpPr>
            <p:cNvPr id="107" name="Freeform 107"/>
            <p:cNvSpPr/>
            <p:nvPr/>
          </p:nvSpPr>
          <p:spPr>
            <a:xfrm>
              <a:off x="9486900" y="4762500"/>
              <a:ext cx="2324100" cy="285750"/>
            </a:xfrm>
            <a:custGeom>
              <a:avLst/>
              <a:gdLst/>
              <a:ahLst/>
              <a:cxnLst/>
              <a:rect l="l" t="t" r="r" b="b"/>
              <a:pathLst>
                <a:path w="2324100" h="285750">
                  <a:moveTo>
                    <a:pt x="114300" y="0"/>
                  </a:moveTo>
                  <a:lnTo>
                    <a:pt x="2209800" y="0"/>
                  </a:lnTo>
                  <a:cubicBezTo>
                    <a:pt x="2272926" y="0"/>
                    <a:pt x="2324100" y="51174"/>
                    <a:pt x="2324100" y="114300"/>
                  </a:cubicBezTo>
                  <a:lnTo>
                    <a:pt x="2324100" y="285750"/>
                  </a:lnTo>
                  <a:lnTo>
                    <a:pt x="0" y="285750"/>
                  </a:lnTo>
                  <a:lnTo>
                    <a:pt x="0" y="114300"/>
                  </a:lnTo>
                  <a:cubicBezTo>
                    <a:pt x="0" y="51174"/>
                    <a:pt x="51174" y="0"/>
                    <a:pt x="114300" y="0"/>
                  </a:cubicBezTo>
                  <a:close/>
                </a:path>
              </a:pathLst>
            </a:custGeom>
            <a:solidFill>
              <a:srgbClr val="721E0D"/>
            </a:solidFill>
            <a:ln>
              <a:noFill/>
            </a:ln>
          </p:spPr>
        </p:sp>
        <p:sp>
          <p:nvSpPr>
            <p:cNvPr id="108" name="TextBox 108"/>
            <p:cNvSpPr txBox="1"/>
            <p:nvPr/>
          </p:nvSpPr>
          <p:spPr>
            <a:xfrm>
              <a:off x="10248214" y="4809649"/>
              <a:ext cx="80147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关键指标雷达</a:t>
              </a:r>
            </a:p>
          </p:txBody>
        </p:sp>
        <p:sp>
          <p:nvSpPr>
            <p:cNvPr id="109" name="Polygon 109"/>
            <p:cNvSpPr/>
            <p:nvPr/>
          </p:nvSpPr>
          <p:spPr>
            <a:xfrm>
              <a:off x="10214610" y="5257800"/>
              <a:ext cx="868680" cy="826770"/>
            </a:xfrm>
            <a:custGeom>
              <a:avLst/>
              <a:gdLst/>
              <a:ahLst/>
              <a:cxnLst/>
              <a:rect l="l" t="t" r="r" b="b"/>
              <a:pathLst>
                <a:path w="868680" h="826770">
                  <a:moveTo>
                    <a:pt x="434340" y="0"/>
                  </a:moveTo>
                  <a:lnTo>
                    <a:pt x="868680" y="316230"/>
                  </a:lnTo>
                  <a:lnTo>
                    <a:pt x="702945" y="826770"/>
                  </a:lnTo>
                  <a:lnTo>
                    <a:pt x="165735" y="826770"/>
                  </a:lnTo>
                  <a:lnTo>
                    <a:pt x="0" y="316230"/>
                  </a:lnTo>
                  <a:close/>
                </a:path>
              </a:pathLst>
            </a:custGeom>
            <a:noFill/>
            <a:ln w="11430">
              <a:solidFill>
                <a:srgbClr val="C9D6EE"/>
              </a:solidFill>
            </a:ln>
          </p:spPr>
        </p:sp>
        <p:sp>
          <p:nvSpPr>
            <p:cNvPr id="110" name="Polygon 110"/>
            <p:cNvSpPr/>
            <p:nvPr/>
          </p:nvSpPr>
          <p:spPr>
            <a:xfrm>
              <a:off x="10359390" y="5410200"/>
              <a:ext cx="579120" cy="551497"/>
            </a:xfrm>
            <a:custGeom>
              <a:avLst/>
              <a:gdLst/>
              <a:ahLst/>
              <a:cxnLst/>
              <a:rect l="l" t="t" r="r" b="b"/>
              <a:pathLst>
                <a:path w="579120" h="551497">
                  <a:moveTo>
                    <a:pt x="289560" y="0"/>
                  </a:moveTo>
                  <a:lnTo>
                    <a:pt x="579120" y="210503"/>
                  </a:lnTo>
                  <a:lnTo>
                    <a:pt x="468630" y="551497"/>
                  </a:lnTo>
                  <a:lnTo>
                    <a:pt x="110490" y="551497"/>
                  </a:lnTo>
                  <a:lnTo>
                    <a:pt x="0" y="210503"/>
                  </a:lnTo>
                  <a:close/>
                </a:path>
              </a:pathLst>
            </a:custGeom>
            <a:noFill/>
            <a:ln w="9525">
              <a:solidFill>
                <a:srgbClr val="C9D6EE"/>
              </a:solidFill>
            </a:ln>
          </p:spPr>
        </p:sp>
        <p:sp>
          <p:nvSpPr>
            <p:cNvPr id="111" name="Polygon 111"/>
            <p:cNvSpPr/>
            <p:nvPr/>
          </p:nvSpPr>
          <p:spPr>
            <a:xfrm>
              <a:off x="10504170" y="5562600"/>
              <a:ext cx="289560" cy="275272"/>
            </a:xfrm>
            <a:custGeom>
              <a:avLst/>
              <a:gdLst/>
              <a:ahLst/>
              <a:cxnLst/>
              <a:rect l="l" t="t" r="r" b="b"/>
              <a:pathLst>
                <a:path w="289560" h="275272">
                  <a:moveTo>
                    <a:pt x="144780" y="0"/>
                  </a:moveTo>
                  <a:lnTo>
                    <a:pt x="289560" y="105728"/>
                  </a:lnTo>
                  <a:lnTo>
                    <a:pt x="234315" y="275272"/>
                  </a:lnTo>
                  <a:lnTo>
                    <a:pt x="55245" y="275272"/>
                  </a:lnTo>
                  <a:lnTo>
                    <a:pt x="0" y="105728"/>
                  </a:lnTo>
                  <a:close/>
                </a:path>
              </a:pathLst>
            </a:custGeom>
            <a:noFill/>
            <a:ln w="9525">
              <a:solidFill>
                <a:srgbClr val="DCE6F6"/>
              </a:solidFill>
            </a:ln>
          </p:spPr>
        </p:sp>
        <p:sp>
          <p:nvSpPr>
            <p:cNvPr id="112" name="Line 112"/>
            <p:cNvSpPr/>
            <p:nvPr/>
          </p:nvSpPr>
          <p:spPr>
            <a:xfrm>
              <a:off x="10648950" y="5257800"/>
              <a:ext cx="9525" cy="457200"/>
            </a:xfrm>
            <a:custGeom>
              <a:avLst/>
              <a:gdLst/>
              <a:ahLst/>
              <a:cxnLst/>
              <a:rect l="l" t="t" r="r" b="b"/>
              <a:pathLst>
                <a:path w="9525" h="457200">
                  <a:moveTo>
                    <a:pt x="0" y="457200"/>
                  </a:moveTo>
                  <a:lnTo>
                    <a:pt x="0" y="0"/>
                  </a:lnTo>
                </a:path>
              </a:pathLst>
            </a:custGeom>
            <a:noFill/>
            <a:ln w="9525">
              <a:solidFill>
                <a:srgbClr val="DCE6F6"/>
              </a:solidFill>
            </a:ln>
          </p:spPr>
        </p:sp>
        <p:sp>
          <p:nvSpPr>
            <p:cNvPr id="113" name="Line 113"/>
            <p:cNvSpPr/>
            <p:nvPr/>
          </p:nvSpPr>
          <p:spPr>
            <a:xfrm>
              <a:off x="10648950" y="5574030"/>
              <a:ext cx="434340" cy="140970"/>
            </a:xfrm>
            <a:custGeom>
              <a:avLst/>
              <a:gdLst/>
              <a:ahLst/>
              <a:cxnLst/>
              <a:rect l="l" t="t" r="r" b="b"/>
              <a:pathLst>
                <a:path w="434340" h="140970">
                  <a:moveTo>
                    <a:pt x="0" y="140970"/>
                  </a:moveTo>
                  <a:lnTo>
                    <a:pt x="434340" y="0"/>
                  </a:lnTo>
                </a:path>
              </a:pathLst>
            </a:custGeom>
            <a:noFill/>
            <a:ln w="9525">
              <a:solidFill>
                <a:srgbClr val="DCE6F6"/>
              </a:solidFill>
            </a:ln>
          </p:spPr>
        </p:sp>
        <p:sp>
          <p:nvSpPr>
            <p:cNvPr id="114" name="Line 114"/>
            <p:cNvSpPr/>
            <p:nvPr/>
          </p:nvSpPr>
          <p:spPr>
            <a:xfrm>
              <a:off x="10648950" y="5715000"/>
              <a:ext cx="268605" cy="369570"/>
            </a:xfrm>
            <a:custGeom>
              <a:avLst/>
              <a:gdLst/>
              <a:ahLst/>
              <a:cxnLst/>
              <a:rect l="l" t="t" r="r" b="b"/>
              <a:pathLst>
                <a:path w="268605" h="369570">
                  <a:moveTo>
                    <a:pt x="0" y="0"/>
                  </a:moveTo>
                  <a:lnTo>
                    <a:pt x="268605" y="369570"/>
                  </a:lnTo>
                </a:path>
              </a:pathLst>
            </a:custGeom>
            <a:noFill/>
            <a:ln w="9525">
              <a:solidFill>
                <a:srgbClr val="DCE6F6"/>
              </a:solidFill>
            </a:ln>
          </p:spPr>
        </p:sp>
        <p:sp>
          <p:nvSpPr>
            <p:cNvPr id="115" name="Line 115"/>
            <p:cNvSpPr/>
            <p:nvPr/>
          </p:nvSpPr>
          <p:spPr>
            <a:xfrm>
              <a:off x="10380345" y="5715000"/>
              <a:ext cx="268605" cy="369570"/>
            </a:xfrm>
            <a:custGeom>
              <a:avLst/>
              <a:gdLst/>
              <a:ahLst/>
              <a:cxnLst/>
              <a:rect l="l" t="t" r="r" b="b"/>
              <a:pathLst>
                <a:path w="268605" h="369570">
                  <a:moveTo>
                    <a:pt x="268605" y="0"/>
                  </a:moveTo>
                  <a:lnTo>
                    <a:pt x="0" y="369570"/>
                  </a:lnTo>
                </a:path>
              </a:pathLst>
            </a:custGeom>
            <a:noFill/>
            <a:ln w="9525">
              <a:solidFill>
                <a:srgbClr val="DCE6F6"/>
              </a:solidFill>
            </a:ln>
          </p:spPr>
        </p:sp>
        <p:sp>
          <p:nvSpPr>
            <p:cNvPr id="116" name="Line 116"/>
            <p:cNvSpPr/>
            <p:nvPr/>
          </p:nvSpPr>
          <p:spPr>
            <a:xfrm>
              <a:off x="10214610" y="5574030"/>
              <a:ext cx="434340" cy="140970"/>
            </a:xfrm>
            <a:custGeom>
              <a:avLst/>
              <a:gdLst/>
              <a:ahLst/>
              <a:cxnLst/>
              <a:rect l="l" t="t" r="r" b="b"/>
              <a:pathLst>
                <a:path w="434340" h="140970">
                  <a:moveTo>
                    <a:pt x="434340" y="140970"/>
                  </a:moveTo>
                  <a:lnTo>
                    <a:pt x="0" y="0"/>
                  </a:lnTo>
                </a:path>
              </a:pathLst>
            </a:custGeom>
            <a:noFill/>
            <a:ln w="9525">
              <a:solidFill>
                <a:srgbClr val="DCE6F6"/>
              </a:solidFill>
            </a:ln>
          </p:spPr>
        </p:sp>
        <p:sp>
          <p:nvSpPr>
            <p:cNvPr id="117" name="Polygon 117"/>
            <p:cNvSpPr/>
            <p:nvPr/>
          </p:nvSpPr>
          <p:spPr>
            <a:xfrm>
              <a:off x="10366058" y="5385435"/>
              <a:ext cx="543878" cy="533400"/>
            </a:xfrm>
            <a:custGeom>
              <a:avLst/>
              <a:gdLst/>
              <a:ahLst/>
              <a:cxnLst/>
              <a:rect l="l" t="t" r="r" b="b"/>
              <a:pathLst>
                <a:path w="543878" h="533400">
                  <a:moveTo>
                    <a:pt x="282893" y="0"/>
                  </a:moveTo>
                  <a:lnTo>
                    <a:pt x="543878" y="244793"/>
                  </a:lnTo>
                  <a:lnTo>
                    <a:pt x="430530" y="533400"/>
                  </a:lnTo>
                  <a:lnTo>
                    <a:pt x="148590" y="514350"/>
                  </a:lnTo>
                  <a:lnTo>
                    <a:pt x="0" y="238125"/>
                  </a:lnTo>
                  <a:close/>
                </a:path>
              </a:pathLst>
            </a:custGeom>
            <a:solidFill>
              <a:srgbClr val="B8351A">
                <a:alpha val="25000"/>
              </a:srgbClr>
            </a:solidFill>
            <a:ln w="14288">
              <a:solidFill>
                <a:srgbClr val="B8351A"/>
              </a:solidFill>
            </a:ln>
          </p:spPr>
        </p:sp>
        <p:sp>
          <p:nvSpPr>
            <p:cNvPr id="118" name="TextBox 118"/>
            <p:cNvSpPr txBox="1"/>
            <p:nvPr/>
          </p:nvSpPr>
          <p:spPr>
            <a:xfrm>
              <a:off x="10453027" y="5123736"/>
              <a:ext cx="391846" cy="140494"/>
            </a:xfrm>
            <a:prstGeom prst="rect">
              <a:avLst/>
            </a:prstGeom>
            <a:noFill/>
            <a:ln>
              <a:noFill/>
            </a:ln>
          </p:spPr>
          <p:txBody>
            <a:bodyPr wrap="none" lIns="0" tIns="0" rIns="0" bIns="0" anchor="t" anchorCtr="0">
              <a:spAutoFit/>
            </a:bodyPr>
            <a:lstStyle/>
            <a:p>
              <a:pPr algn="ctr"/>
              <a:r>
                <a:rPr lang="zh-CN" sz="710" dirty="0">
                  <a:solidFill>
                    <a:srgbClr val="7A5B55"/>
                  </a:solidFill>
                  <a:latin typeface="+mn-lt"/>
                  <a:ea typeface="+mn-ea"/>
                  <a:cs typeface="+mn-cs"/>
                </a:rPr>
                <a:t>客户拓展</a:t>
              </a:r>
            </a:p>
          </p:txBody>
        </p:sp>
        <p:sp>
          <p:nvSpPr>
            <p:cNvPr id="119" name="TextBox 119"/>
            <p:cNvSpPr txBox="1"/>
            <p:nvPr/>
          </p:nvSpPr>
          <p:spPr>
            <a:xfrm>
              <a:off x="11139488" y="5533311"/>
              <a:ext cx="391846" cy="140494"/>
            </a:xfrm>
            <a:prstGeom prst="rect">
              <a:avLst/>
            </a:prstGeom>
            <a:noFill/>
            <a:ln>
              <a:noFill/>
            </a:ln>
          </p:spPr>
          <p:txBody>
            <a:bodyPr wrap="none" lIns="0" tIns="0" rIns="0" bIns="0" anchor="t" anchorCtr="0">
              <a:spAutoFit/>
            </a:bodyPr>
            <a:lstStyle/>
            <a:p>
              <a:pPr algn="l"/>
              <a:r>
                <a:rPr lang="zh-CN" sz="710" dirty="0">
                  <a:solidFill>
                    <a:srgbClr val="7A5B55"/>
                  </a:solidFill>
                  <a:latin typeface="+mn-lt"/>
                  <a:ea typeface="+mn-ea"/>
                  <a:cs typeface="+mn-cs"/>
                </a:rPr>
                <a:t>销售效率</a:t>
              </a:r>
            </a:p>
          </p:txBody>
        </p:sp>
        <p:sp>
          <p:nvSpPr>
            <p:cNvPr id="120" name="TextBox 120"/>
            <p:cNvSpPr txBox="1"/>
            <p:nvPr/>
          </p:nvSpPr>
          <p:spPr>
            <a:xfrm>
              <a:off x="10948988" y="6152436"/>
              <a:ext cx="296266" cy="140494"/>
            </a:xfrm>
            <a:prstGeom prst="rect">
              <a:avLst/>
            </a:prstGeom>
            <a:noFill/>
            <a:ln>
              <a:noFill/>
            </a:ln>
          </p:spPr>
          <p:txBody>
            <a:bodyPr wrap="none" lIns="0" tIns="0" rIns="0" bIns="0" anchor="t" anchorCtr="0">
              <a:spAutoFit/>
            </a:bodyPr>
            <a:lstStyle/>
            <a:p>
              <a:pPr algn="l"/>
              <a:r>
                <a:rPr lang="zh-CN" sz="710" dirty="0">
                  <a:solidFill>
                    <a:srgbClr val="7A5B55"/>
                  </a:solidFill>
                  <a:latin typeface="+mn-lt"/>
                  <a:ea typeface="+mn-ea"/>
                  <a:cs typeface="+mn-cs"/>
                </a:rPr>
                <a:t>客单价</a:t>
              </a:r>
            </a:p>
          </p:txBody>
        </p:sp>
        <p:sp>
          <p:nvSpPr>
            <p:cNvPr id="121" name="TextBox 121"/>
            <p:cNvSpPr txBox="1"/>
            <p:nvPr/>
          </p:nvSpPr>
          <p:spPr>
            <a:xfrm>
              <a:off x="10052647" y="6152436"/>
              <a:ext cx="296266" cy="140494"/>
            </a:xfrm>
            <a:prstGeom prst="rect">
              <a:avLst/>
            </a:prstGeom>
            <a:noFill/>
            <a:ln>
              <a:noFill/>
            </a:ln>
          </p:spPr>
          <p:txBody>
            <a:bodyPr wrap="none" lIns="0" tIns="0" rIns="0" bIns="0" anchor="t" anchorCtr="0">
              <a:spAutoFit/>
            </a:bodyPr>
            <a:lstStyle/>
            <a:p>
              <a:pPr algn="r"/>
              <a:r>
                <a:rPr lang="zh-CN" sz="710" dirty="0">
                  <a:solidFill>
                    <a:srgbClr val="7A5B55"/>
                  </a:solidFill>
                  <a:latin typeface="+mn-lt"/>
                  <a:ea typeface="+mn-ea"/>
                  <a:cs typeface="+mn-cs"/>
                </a:rPr>
                <a:t>转化率</a:t>
              </a:r>
            </a:p>
          </p:txBody>
        </p:sp>
        <p:sp>
          <p:nvSpPr>
            <p:cNvPr id="122" name="TextBox 122"/>
            <p:cNvSpPr txBox="1"/>
            <p:nvPr/>
          </p:nvSpPr>
          <p:spPr>
            <a:xfrm>
              <a:off x="9766567" y="5533311"/>
              <a:ext cx="391846" cy="140494"/>
            </a:xfrm>
            <a:prstGeom prst="rect">
              <a:avLst/>
            </a:prstGeom>
            <a:noFill/>
            <a:ln>
              <a:noFill/>
            </a:ln>
          </p:spPr>
          <p:txBody>
            <a:bodyPr wrap="none" lIns="0" tIns="0" rIns="0" bIns="0" anchor="t" anchorCtr="0">
              <a:spAutoFit/>
            </a:bodyPr>
            <a:lstStyle/>
            <a:p>
              <a:pPr algn="r"/>
              <a:r>
                <a:rPr lang="zh-CN" sz="710" dirty="0">
                  <a:solidFill>
                    <a:srgbClr val="7A5B55"/>
                  </a:solidFill>
                  <a:latin typeface="+mn-lt"/>
                  <a:ea typeface="+mn-ea"/>
                  <a:cs typeface="+mn-cs"/>
                </a:rPr>
                <a:t>管道质量</a:t>
              </a:r>
            </a:p>
          </p:txBody>
        </p:sp>
      </p:gr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268698" y="152876"/>
              <a:ext cx="18650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a:t>
              </a:r>
            </a:p>
          </p:txBody>
        </p:sp>
        <p:sp>
          <p:nvSpPr>
            <p:cNvPr id="4" name="TextBox 4"/>
            <p:cNvSpPr txBox="1"/>
            <p:nvPr/>
          </p:nvSpPr>
          <p:spPr>
            <a:xfrm>
              <a:off x="904494" y="180023"/>
              <a:ext cx="4219956"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没达标的总结，先回答老板</a:t>
              </a:r>
              <a:r>
                <a:rPr lang="zh-CN" sz="1950" b="1" dirty="0">
                  <a:solidFill>
                    <a:srgbClr val="B8351A"/>
                  </a:solidFill>
                  <a:latin typeface="+mn-lt"/>
                  <a:ea typeface="+mn-ea"/>
                  <a:cs typeface="+mn-cs"/>
                </a:rPr>
                <a:t>三个问题</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36" name="q1-card"/>
          <p:cNvGrpSpPr/>
          <p:nvPr/>
        </p:nvGrpSpPr>
        <p:grpSpPr>
          <a:xfrm>
            <a:off x="228600" y="704850"/>
            <a:ext cx="3810000" cy="4876800"/>
            <a:chOff x="228600" y="704850"/>
            <a:chExt cx="3810000" cy="4876800"/>
          </a:xfrm>
        </p:grpSpPr>
        <p:sp>
          <p:nvSpPr>
            <p:cNvPr id="7" name="Rectangle 7"/>
            <p:cNvSpPr/>
            <p:nvPr/>
          </p:nvSpPr>
          <p:spPr>
            <a:xfrm>
              <a:off x="228600" y="704850"/>
              <a:ext cx="3810000" cy="4876800"/>
            </a:xfrm>
            <a:prstGeom prst="roundRect">
              <a:avLst>
                <a:gd name="adj" fmla="val 3000"/>
              </a:avLst>
            </a:prstGeom>
            <a:solidFill>
              <a:srgbClr val="FFFFFF"/>
            </a:solidFill>
            <a:ln w="14288">
              <a:solidFill>
                <a:srgbClr val="C9D6EE"/>
              </a:solidFill>
            </a:ln>
          </p:spPr>
        </p:sp>
        <p:sp>
          <p:nvSpPr>
            <p:cNvPr id="8" name="Freeform 8"/>
            <p:cNvSpPr/>
            <p:nvPr/>
          </p:nvSpPr>
          <p:spPr>
            <a:xfrm>
              <a:off x="228600" y="704850"/>
              <a:ext cx="3810000" cy="323850"/>
            </a:xfrm>
            <a:custGeom>
              <a:avLst/>
              <a:gdLst/>
              <a:ahLst/>
              <a:cxnLst/>
              <a:rect l="l" t="t" r="r" b="b"/>
              <a:pathLst>
                <a:path w="3810000" h="323850">
                  <a:moveTo>
                    <a:pt x="114300" y="0"/>
                  </a:moveTo>
                  <a:lnTo>
                    <a:pt x="3695700" y="0"/>
                  </a:lnTo>
                  <a:cubicBezTo>
                    <a:pt x="3758826" y="0"/>
                    <a:pt x="3810000" y="51174"/>
                    <a:pt x="3810000" y="114300"/>
                  </a:cubicBezTo>
                  <a:lnTo>
                    <a:pt x="3810000" y="323850"/>
                  </a:lnTo>
                  <a:lnTo>
                    <a:pt x="0" y="323850"/>
                  </a:lnTo>
                  <a:lnTo>
                    <a:pt x="0" y="114300"/>
                  </a:lnTo>
                  <a:cubicBezTo>
                    <a:pt x="0" y="51174"/>
                    <a:pt x="51174" y="0"/>
                    <a:pt x="114300" y="0"/>
                  </a:cubicBezTo>
                  <a:close/>
                </a:path>
              </a:pathLst>
            </a:custGeom>
            <a:solidFill>
              <a:srgbClr val="721E0D"/>
            </a:solidFill>
            <a:ln>
              <a:noFill/>
            </a:ln>
          </p:spPr>
        </p:sp>
        <p:sp>
          <p:nvSpPr>
            <p:cNvPr id="9" name="TextBox 9"/>
            <p:cNvSpPr txBox="1"/>
            <p:nvPr/>
          </p:nvSpPr>
          <p:spPr>
            <a:xfrm>
              <a:off x="1901723" y="80248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问题一</a:t>
              </a:r>
            </a:p>
          </p:txBody>
        </p:sp>
        <p:sp>
          <p:nvSpPr>
            <p:cNvPr id="10" name="TextBox 10"/>
            <p:cNvSpPr txBox="1"/>
            <p:nvPr/>
          </p:nvSpPr>
          <p:spPr>
            <a:xfrm>
              <a:off x="1449400" y="1116806"/>
              <a:ext cx="1368400" cy="220028"/>
            </a:xfrm>
            <a:prstGeom prst="rect">
              <a:avLst/>
            </a:prstGeom>
            <a:noFill/>
            <a:ln>
              <a:noFill/>
            </a:ln>
          </p:spPr>
          <p:txBody>
            <a:bodyPr wrap="none" lIns="0" tIns="0" rIns="0" bIns="0" anchor="t" anchorCtr="0">
              <a:spAutoFit/>
            </a:bodyPr>
            <a:lstStyle/>
            <a:p>
              <a:pPr algn="ctr"/>
              <a:r>
                <a:rPr lang="zh-CN" sz="1120" b="1" dirty="0">
                  <a:solidFill>
                    <a:srgbClr val="721E0D"/>
                  </a:solidFill>
                  <a:latin typeface="+mn-lt"/>
                  <a:ea typeface="+mn-ea"/>
                  <a:cs typeface="+mn-cs"/>
                </a:rPr>
                <a:t>差距是怎么造成的？</a:t>
              </a:r>
            </a:p>
          </p:txBody>
        </p:sp>
        <p:sp>
          <p:nvSpPr>
            <p:cNvPr id="11" name="TextBox 11"/>
            <p:cNvSpPr txBox="1"/>
            <p:nvPr/>
          </p:nvSpPr>
          <p:spPr>
            <a:xfrm>
              <a:off x="1313141" y="1445895"/>
              <a:ext cx="1640917" cy="176212"/>
            </a:xfrm>
            <a:prstGeom prst="rect">
              <a:avLst/>
            </a:prstGeom>
            <a:noFill/>
            <a:ln>
              <a:noFill/>
            </a:ln>
          </p:spPr>
          <p:txBody>
            <a:bodyPr wrap="none" lIns="0" tIns="0" rIns="0" bIns="0" anchor="t" anchorCtr="0">
              <a:spAutoFit/>
            </a:bodyPr>
            <a:lstStyle/>
            <a:p>
              <a:pPr algn="ctr"/>
              <a:r>
                <a:rPr lang="zh-CN" sz="900" b="1" dirty="0">
                  <a:solidFill>
                    <a:srgbClr val="B8351A"/>
                  </a:solidFill>
                  <a:latin typeface="+mn-lt"/>
                  <a:ea typeface="+mn-ea"/>
                  <a:cs typeface="+mn-cs"/>
                </a:rPr>
                <a:t xml:space="preserve">   差距来源结构（示例）   </a:t>
              </a:r>
            </a:p>
          </p:txBody>
        </p:sp>
        <p:sp>
          <p:nvSpPr>
            <p:cNvPr id="12" name="Ellipse 12"/>
            <p:cNvSpPr/>
            <p:nvPr/>
          </p:nvSpPr>
          <p:spPr>
            <a:xfrm>
              <a:off x="552450" y="1809750"/>
              <a:ext cx="1181100" cy="1181100"/>
            </a:xfrm>
            <a:prstGeom prst="ellipse">
              <a:avLst/>
            </a:prstGeom>
            <a:solidFill>
              <a:srgbClr val="DCE7FA"/>
            </a:solidFill>
            <a:ln>
              <a:noFill/>
            </a:ln>
          </p:spPr>
        </p:sp>
        <p:sp>
          <p:nvSpPr>
            <p:cNvPr id="13" name="Freeform 13"/>
            <p:cNvSpPr/>
            <p:nvPr/>
          </p:nvSpPr>
          <p:spPr>
            <a:xfrm>
              <a:off x="552450" y="1809750"/>
              <a:ext cx="1181100" cy="1181100"/>
            </a:xfrm>
            <a:prstGeom prst="blockArc">
              <a:avLst>
                <a:gd name="adj1" fmla="val 16200000"/>
                <a:gd name="adj2" fmla="val 11880000"/>
                <a:gd name="adj3" fmla="val 50000"/>
              </a:avLst>
            </a:prstGeom>
            <a:solidFill>
              <a:srgbClr val="721E0D"/>
            </a:solidFill>
            <a:ln>
              <a:noFill/>
            </a:ln>
          </p:spPr>
        </p:sp>
        <p:sp>
          <p:nvSpPr>
            <p:cNvPr id="14" name="Ellipse 14"/>
            <p:cNvSpPr/>
            <p:nvPr/>
          </p:nvSpPr>
          <p:spPr>
            <a:xfrm>
              <a:off x="800100" y="2057400"/>
              <a:ext cx="685800" cy="685800"/>
            </a:xfrm>
            <a:prstGeom prst="ellipse">
              <a:avLst/>
            </a:prstGeom>
            <a:solidFill>
              <a:srgbClr val="FFFFFF"/>
            </a:solidFill>
            <a:ln>
              <a:noFill/>
            </a:ln>
          </p:spPr>
        </p:sp>
        <p:grpSp>
          <p:nvGrpSpPr>
            <p:cNvPr id="18" name="Group 18"/>
            <p:cNvGrpSpPr/>
            <p:nvPr/>
          </p:nvGrpSpPr>
          <p:grpSpPr>
            <a:xfrm>
              <a:off x="1057275" y="2219325"/>
              <a:ext cx="171450" cy="171450"/>
              <a:chOff x="1057275" y="2219325"/>
              <a:chExt cx="171450" cy="171450"/>
            </a:xfrm>
          </p:grpSpPr>
          <p:sp>
            <p:nvSpPr>
              <p:cNvPr id="15" name="Freeform 15"/>
              <p:cNvSpPr/>
              <p:nvPr/>
            </p:nvSpPr>
            <p:spPr>
              <a:xfrm>
                <a:off x="1133475" y="22955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721E0D"/>
                </a:solidFill>
              </a:ln>
            </p:spPr>
          </p:sp>
          <p:sp>
            <p:nvSpPr>
              <p:cNvPr id="16" name="Freeform 16"/>
              <p:cNvSpPr/>
              <p:nvPr/>
            </p:nvSpPr>
            <p:spPr>
              <a:xfrm>
                <a:off x="1095375" y="22574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721E0D"/>
                </a:solidFill>
              </a:ln>
            </p:spPr>
          </p:sp>
          <p:sp>
            <p:nvSpPr>
              <p:cNvPr id="17" name="Freeform 17"/>
              <p:cNvSpPr/>
              <p:nvPr/>
            </p:nvSpPr>
            <p:spPr>
              <a:xfrm>
                <a:off x="1057275" y="2219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721E0D"/>
                </a:solidFill>
              </a:ln>
            </p:spPr>
          </p:sp>
        </p:grpSp>
        <p:sp>
          <p:nvSpPr>
            <p:cNvPr id="19" name="TextBox 19"/>
            <p:cNvSpPr txBox="1"/>
            <p:nvPr/>
          </p:nvSpPr>
          <p:spPr>
            <a:xfrm>
              <a:off x="879767" y="2521982"/>
              <a:ext cx="526466"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差距来源占比</a:t>
              </a:r>
            </a:p>
          </p:txBody>
        </p:sp>
        <p:sp>
          <p:nvSpPr>
            <p:cNvPr id="20" name="TextBox 20"/>
            <p:cNvSpPr txBox="1"/>
            <p:nvPr/>
          </p:nvSpPr>
          <p:spPr>
            <a:xfrm>
              <a:off x="814197" y="2733199"/>
              <a:ext cx="494740" cy="190690"/>
            </a:xfrm>
            <a:prstGeom prst="rect">
              <a:avLst/>
            </a:prstGeom>
            <a:noFill/>
            <a:ln>
              <a:noFill/>
            </a:ln>
          </p:spPr>
          <p:txBody>
            <a:bodyPr wrap="none" lIns="0" tIns="0" rIns="0" bIns="0" anchor="t" anchorCtr="0">
              <a:spAutoFit/>
            </a:bodyPr>
            <a:lstStyle/>
            <a:p>
              <a:pPr algn="l"/>
              <a:r>
                <a:rPr lang="zh-CN" sz="980" b="1" dirty="0">
                  <a:solidFill>
                    <a:srgbClr val="FFFFFF"/>
                  </a:solidFill>
                  <a:latin typeface="+mn-lt"/>
                  <a:ea typeface="+mn-ea"/>
                  <a:cs typeface="+mn-cs"/>
                </a:rPr>
                <a:t xml:space="preserve">80%   </a:t>
              </a:r>
            </a:p>
          </p:txBody>
        </p:sp>
        <p:sp>
          <p:nvSpPr>
            <p:cNvPr id="21" name="TextBox 21"/>
            <p:cNvSpPr txBox="1"/>
            <p:nvPr/>
          </p:nvSpPr>
          <p:spPr>
            <a:xfrm>
              <a:off x="1423988" y="1960245"/>
              <a:ext cx="454781" cy="176212"/>
            </a:xfrm>
            <a:prstGeom prst="rect">
              <a:avLst/>
            </a:prstGeom>
            <a:noFill/>
            <a:ln>
              <a:noFill/>
            </a:ln>
          </p:spPr>
          <p:txBody>
            <a:bodyPr wrap="none" lIns="0" tIns="0" rIns="0" bIns="0" anchor="t" anchorCtr="0">
              <a:spAutoFit/>
            </a:bodyPr>
            <a:lstStyle/>
            <a:p>
              <a:pPr algn="l"/>
              <a:r>
                <a:rPr lang="zh-CN" sz="900" b="1" dirty="0">
                  <a:solidFill>
                    <a:srgbClr val="B8351A"/>
                  </a:solidFill>
                  <a:latin typeface="+mn-lt"/>
                  <a:ea typeface="+mn-ea"/>
                  <a:cs typeface="+mn-cs"/>
                </a:rPr>
                <a:t xml:space="preserve">20%   </a:t>
              </a:r>
            </a:p>
          </p:txBody>
        </p:sp>
        <p:sp>
          <p:nvSpPr>
            <p:cNvPr id="22" name="Rectangle 22"/>
            <p:cNvSpPr/>
            <p:nvPr/>
          </p:nvSpPr>
          <p:spPr>
            <a:xfrm>
              <a:off x="1905000" y="1790700"/>
              <a:ext cx="104775" cy="104775"/>
            </a:xfrm>
            <a:prstGeom prst="rect">
              <a:avLst/>
            </a:prstGeom>
            <a:solidFill>
              <a:srgbClr val="721E0D"/>
            </a:solidFill>
            <a:ln>
              <a:noFill/>
            </a:ln>
          </p:spPr>
        </p:sp>
        <p:sp>
          <p:nvSpPr>
            <p:cNvPr id="23" name="TextBox 23"/>
            <p:cNvSpPr txBox="1"/>
            <p:nvPr/>
          </p:nvSpPr>
          <p:spPr>
            <a:xfrm>
              <a:off x="2071688" y="1784747"/>
              <a:ext cx="1239837"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 xml:space="preserve">80% 内部可控      </a:t>
              </a:r>
            </a:p>
          </p:txBody>
        </p:sp>
        <p:sp>
          <p:nvSpPr>
            <p:cNvPr id="24" name="TextBox 24"/>
            <p:cNvSpPr txBox="1"/>
            <p:nvPr/>
          </p:nvSpPr>
          <p:spPr>
            <a:xfrm>
              <a:off x="2071688" y="1991439"/>
              <a:ext cx="131381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523E3A"/>
                  </a:solidFill>
                  <a:latin typeface="+mn-lt"/>
                  <a:ea typeface="+mn-ea"/>
                  <a:cs typeface="+mn-cs"/>
                </a:rPr>
                <a:t>流程执行不到位、能力不足、</a:t>
              </a:r>
              <a:br/>
              <a:r>
                <a:rPr lang="zh-CN" sz="790" dirty="0">
                  <a:solidFill>
                    <a:srgbClr val="523E3A"/>
                  </a:solidFill>
                  <a:latin typeface="+mn-lt"/>
                  <a:ea typeface="+mn-ea"/>
                  <a:cs typeface="+mn-cs"/>
                </a:rPr>
                <a:t>优先级错配、沟通协同低效等</a:t>
              </a:r>
            </a:p>
          </p:txBody>
        </p:sp>
        <p:sp>
          <p:nvSpPr>
            <p:cNvPr id="25" name="Rectangle 25"/>
            <p:cNvSpPr/>
            <p:nvPr/>
          </p:nvSpPr>
          <p:spPr>
            <a:xfrm>
              <a:off x="1905000" y="2647950"/>
              <a:ext cx="104775" cy="104775"/>
            </a:xfrm>
            <a:prstGeom prst="rect">
              <a:avLst/>
            </a:prstGeom>
            <a:solidFill>
              <a:srgbClr val="EEBAAF"/>
            </a:solidFill>
            <a:ln>
              <a:noFill/>
            </a:ln>
          </p:spPr>
        </p:sp>
        <p:sp>
          <p:nvSpPr>
            <p:cNvPr id="26" name="TextBox 26"/>
            <p:cNvSpPr txBox="1"/>
            <p:nvPr/>
          </p:nvSpPr>
          <p:spPr>
            <a:xfrm>
              <a:off x="2071688" y="2641997"/>
              <a:ext cx="1239837"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 xml:space="preserve">20% 外部影响      </a:t>
              </a:r>
            </a:p>
          </p:txBody>
        </p:sp>
        <p:sp>
          <p:nvSpPr>
            <p:cNvPr id="27" name="TextBox 27"/>
            <p:cNvSpPr txBox="1"/>
            <p:nvPr/>
          </p:nvSpPr>
          <p:spPr>
            <a:xfrm>
              <a:off x="2071688" y="2848689"/>
              <a:ext cx="1012825" cy="316706"/>
            </a:xfrm>
            <a:prstGeom prst="rect">
              <a:avLst/>
            </a:prstGeom>
            <a:noFill/>
            <a:ln>
              <a:noFill/>
            </a:ln>
          </p:spPr>
          <p:txBody>
            <a:bodyPr wrap="none" lIns="0" tIns="0" rIns="0" bIns="0" anchor="t" anchorCtr="0">
              <a:spAutoFit/>
            </a:bodyPr>
            <a:lstStyle/>
            <a:p>
              <a:pPr algn="l">
                <a:lnSpc>
                  <a:spcPts val="1275"/>
                </a:lnSpc>
              </a:pPr>
              <a:r>
                <a:rPr lang="zh-CN" sz="790" dirty="0">
                  <a:solidFill>
                    <a:srgbClr val="523E3A"/>
                  </a:solidFill>
                  <a:latin typeface="+mn-lt"/>
                  <a:ea typeface="+mn-ea"/>
                  <a:cs typeface="+mn-cs"/>
                </a:rPr>
                <a:t>市场变化、政策调整、</a:t>
              </a:r>
              <a:br/>
              <a:r>
                <a:rPr lang="zh-CN" sz="790" dirty="0">
                  <a:solidFill>
                    <a:srgbClr val="523E3A"/>
                  </a:solidFill>
                  <a:latin typeface="+mn-lt"/>
                  <a:ea typeface="+mn-ea"/>
                  <a:cs typeface="+mn-cs"/>
                </a:rPr>
                <a:t>供应链波动等</a:t>
              </a:r>
            </a:p>
          </p:txBody>
        </p:sp>
        <p:sp>
          <p:nvSpPr>
            <p:cNvPr id="28" name="Rectangle 28"/>
            <p:cNvSpPr/>
            <p:nvPr/>
          </p:nvSpPr>
          <p:spPr>
            <a:xfrm>
              <a:off x="342900" y="4457700"/>
              <a:ext cx="3581400" cy="952500"/>
            </a:xfrm>
            <a:prstGeom prst="roundRect">
              <a:avLst>
                <a:gd name="adj" fmla="val 10000"/>
              </a:avLst>
            </a:prstGeom>
            <a:solidFill>
              <a:srgbClr val="EAF1FB"/>
            </a:solidFill>
            <a:ln>
              <a:noFill/>
            </a:ln>
          </p:spPr>
        </p:sp>
        <p:sp>
          <p:nvSpPr>
            <p:cNvPr id="29" name="Ellipse 29"/>
            <p:cNvSpPr/>
            <p:nvPr/>
          </p:nvSpPr>
          <p:spPr>
            <a:xfrm>
              <a:off x="438150" y="4743450"/>
              <a:ext cx="381000" cy="381000"/>
            </a:xfrm>
            <a:prstGeom prst="ellipse">
              <a:avLst/>
            </a:prstGeom>
            <a:solidFill>
              <a:srgbClr val="721E0D"/>
            </a:solidFill>
            <a:ln>
              <a:noFill/>
            </a:ln>
          </p:spPr>
        </p:sp>
        <p:grpSp>
          <p:nvGrpSpPr>
            <p:cNvPr id="33" name="Group 33"/>
            <p:cNvGrpSpPr/>
            <p:nvPr/>
          </p:nvGrpSpPr>
          <p:grpSpPr>
            <a:xfrm>
              <a:off x="542925" y="4848225"/>
              <a:ext cx="171450" cy="171450"/>
              <a:chOff x="542925" y="4848225"/>
              <a:chExt cx="171450" cy="171450"/>
            </a:xfrm>
          </p:grpSpPr>
          <p:sp>
            <p:nvSpPr>
              <p:cNvPr id="30" name="Freeform 30"/>
              <p:cNvSpPr/>
              <p:nvPr/>
            </p:nvSpPr>
            <p:spPr>
              <a:xfrm>
                <a:off x="542925" y="4848225"/>
                <a:ext cx="171450" cy="85725"/>
              </a:xfrm>
              <a:custGeom>
                <a:avLst/>
                <a:gdLst/>
                <a:ahLst/>
                <a:cxnLst/>
                <a:rect l="l" t="t" r="r" b="b"/>
                <a:pathLst>
                  <a:path w="171450" h="85725">
                    <a:moveTo>
                      <a:pt x="0" y="85725"/>
                    </a:moveTo>
                    <a:lnTo>
                      <a:pt x="9525" y="85725"/>
                    </a:lnTo>
                    <a:moveTo>
                      <a:pt x="85725" y="0"/>
                    </a:moveTo>
                    <a:lnTo>
                      <a:pt x="85725" y="9525"/>
                    </a:lnTo>
                    <a:moveTo>
                      <a:pt x="161925" y="85725"/>
                    </a:moveTo>
                    <a:lnTo>
                      <a:pt x="171450" y="85725"/>
                    </a:lnTo>
                    <a:moveTo>
                      <a:pt x="24765" y="24765"/>
                    </a:moveTo>
                    <a:lnTo>
                      <a:pt x="31432" y="31432"/>
                    </a:lnTo>
                    <a:moveTo>
                      <a:pt x="146685" y="24765"/>
                    </a:moveTo>
                    <a:lnTo>
                      <a:pt x="140018" y="31432"/>
                    </a:lnTo>
                  </a:path>
                </a:pathLst>
              </a:custGeom>
              <a:noFill/>
              <a:ln w="19050">
                <a:solidFill>
                  <a:srgbClr val="FFFFFF"/>
                </a:solidFill>
              </a:ln>
            </p:spPr>
          </p:sp>
          <p:sp>
            <p:nvSpPr>
              <p:cNvPr id="31" name="Freeform 31"/>
              <p:cNvSpPr/>
              <p:nvPr/>
            </p:nvSpPr>
            <p:spPr>
              <a:xfrm>
                <a:off x="576987" y="4886325"/>
                <a:ext cx="103327" cy="133350"/>
              </a:xfrm>
              <a:custGeom>
                <a:avLst/>
                <a:gdLst/>
                <a:ahLst/>
                <a:cxnLst/>
                <a:rect l="l" t="t" r="r" b="b"/>
                <a:pathLst>
                  <a:path w="103327" h="133350">
                    <a:moveTo>
                      <a:pt x="23088" y="85725"/>
                    </a:moveTo>
                    <a:cubicBezTo>
                      <a:pt x="6689" y="73425"/>
                      <a:pt x="0" y="52012"/>
                      <a:pt x="6482" y="32565"/>
                    </a:cubicBezTo>
                    <a:cubicBezTo>
                      <a:pt x="12965" y="13117"/>
                      <a:pt x="31164" y="0"/>
                      <a:pt x="51663" y="0"/>
                    </a:cubicBezTo>
                    <a:cubicBezTo>
                      <a:pt x="72163" y="0"/>
                      <a:pt x="90362" y="13117"/>
                      <a:pt x="96845" y="32565"/>
                    </a:cubicBezTo>
                    <a:cubicBezTo>
                      <a:pt x="103327" y="52012"/>
                      <a:pt x="96638" y="73425"/>
                      <a:pt x="80238" y="85725"/>
                    </a:cubicBezTo>
                    <a:cubicBezTo>
                      <a:pt x="72696" y="93191"/>
                      <a:pt x="69159" y="103802"/>
                      <a:pt x="70713" y="114300"/>
                    </a:cubicBezTo>
                    <a:cubicBezTo>
                      <a:pt x="70713" y="124821"/>
                      <a:pt x="62184" y="133350"/>
                      <a:pt x="51663" y="133350"/>
                    </a:cubicBezTo>
                    <a:cubicBezTo>
                      <a:pt x="41142" y="133350"/>
                      <a:pt x="32613" y="124821"/>
                      <a:pt x="32613" y="114300"/>
                    </a:cubicBezTo>
                    <a:cubicBezTo>
                      <a:pt x="34168" y="103802"/>
                      <a:pt x="30631" y="93191"/>
                      <a:pt x="23088" y="85725"/>
                    </a:cubicBezTo>
                  </a:path>
                </a:pathLst>
              </a:custGeom>
              <a:noFill/>
              <a:ln w="19050">
                <a:solidFill>
                  <a:srgbClr val="FFFFFF"/>
                </a:solidFill>
              </a:ln>
            </p:spPr>
          </p:sp>
          <p:sp>
            <p:nvSpPr>
              <p:cNvPr id="32" name="Freeform 32"/>
              <p:cNvSpPr/>
              <p:nvPr/>
            </p:nvSpPr>
            <p:spPr>
              <a:xfrm>
                <a:off x="606742" y="4981575"/>
                <a:ext cx="43815" cy="9525"/>
              </a:xfrm>
              <a:custGeom>
                <a:avLst/>
                <a:gdLst/>
                <a:ahLst/>
                <a:cxnLst/>
                <a:rect l="l" t="t" r="r" b="b"/>
                <a:pathLst>
                  <a:path w="43815" h="9525">
                    <a:moveTo>
                      <a:pt x="0" y="0"/>
                    </a:moveTo>
                    <a:lnTo>
                      <a:pt x="43815" y="0"/>
                    </a:lnTo>
                  </a:path>
                </a:pathLst>
              </a:custGeom>
              <a:noFill/>
              <a:ln w="19050">
                <a:solidFill>
                  <a:srgbClr val="FFFFFF"/>
                </a:solidFill>
              </a:ln>
            </p:spPr>
          </p:sp>
        </p:grpSp>
        <p:sp>
          <p:nvSpPr>
            <p:cNvPr id="34" name="TextBox 34"/>
            <p:cNvSpPr txBox="1"/>
            <p:nvPr/>
          </p:nvSpPr>
          <p:spPr>
            <a:xfrm>
              <a:off x="928497" y="4676299"/>
              <a:ext cx="273761" cy="190690"/>
            </a:xfrm>
            <a:prstGeom prst="rect">
              <a:avLst/>
            </a:prstGeom>
            <a:noFill/>
            <a:ln>
              <a:noFill/>
            </a:ln>
          </p:spPr>
          <p:txBody>
            <a:bodyPr wrap="none" lIns="0" tIns="0" rIns="0" bIns="0" anchor="t" anchorCtr="0">
              <a:spAutoFit/>
            </a:bodyPr>
            <a:lstStyle/>
            <a:p>
              <a:pPr algn="l"/>
              <a:r>
                <a:rPr lang="zh-CN" sz="980" b="1" dirty="0">
                  <a:solidFill>
                    <a:srgbClr val="721E0D"/>
                  </a:solidFill>
                  <a:latin typeface="+mn-lt"/>
                  <a:ea typeface="+mn-ea"/>
                  <a:cs typeface="+mn-cs"/>
                </a:rPr>
                <a:t>结论</a:t>
              </a:r>
            </a:p>
          </p:txBody>
        </p:sp>
        <p:sp>
          <p:nvSpPr>
            <p:cNvPr id="35" name="TextBox 35"/>
            <p:cNvSpPr txBox="1"/>
            <p:nvPr/>
          </p:nvSpPr>
          <p:spPr>
            <a:xfrm>
              <a:off x="928688" y="4912995"/>
              <a:ext cx="1152525" cy="366712"/>
            </a:xfrm>
            <a:prstGeom prst="rect">
              <a:avLst/>
            </a:prstGeom>
            <a:noFill/>
            <a:ln>
              <a:noFill/>
            </a:ln>
          </p:spPr>
          <p:txBody>
            <a:bodyPr wrap="none" lIns="0" tIns="0" rIns="0" bIns="0" anchor="t" anchorCtr="0">
              <a:spAutoFit/>
            </a:bodyPr>
            <a:lstStyle/>
            <a:p>
              <a:pPr algn="l">
                <a:lnSpc>
                  <a:spcPts val="1500"/>
                </a:lnSpc>
              </a:pPr>
              <a:r>
                <a:rPr lang="zh-CN" sz="900" dirty="0">
                  <a:solidFill>
                    <a:srgbClr val="461910"/>
                  </a:solidFill>
                  <a:latin typeface="+mn-lt"/>
                  <a:ea typeface="+mn-ea"/>
                  <a:cs typeface="+mn-cs"/>
                </a:rPr>
                <a:t>主要差距来自内部，</a:t>
              </a:r>
              <a:br/>
              <a:r>
                <a:rPr lang="zh-CN" sz="900" dirty="0">
                  <a:solidFill>
                    <a:srgbClr val="461910"/>
                  </a:solidFill>
                  <a:latin typeface="+mn-lt"/>
                  <a:ea typeface="+mn-ea"/>
                  <a:cs typeface="+mn-cs"/>
                </a:rPr>
                <a:t>可通过系统改进解决。</a:t>
              </a:r>
            </a:p>
          </p:txBody>
        </p:sp>
      </p:grpSp>
      <p:grpSp>
        <p:nvGrpSpPr>
          <p:cNvPr id="105" name="q2-card"/>
          <p:cNvGrpSpPr/>
          <p:nvPr/>
        </p:nvGrpSpPr>
        <p:grpSpPr>
          <a:xfrm>
            <a:off x="4191000" y="704850"/>
            <a:ext cx="3810000" cy="4876800"/>
            <a:chOff x="4191000" y="704850"/>
            <a:chExt cx="3810000" cy="4876800"/>
          </a:xfrm>
        </p:grpSpPr>
        <p:sp>
          <p:nvSpPr>
            <p:cNvPr id="37" name="Rectangle 37"/>
            <p:cNvSpPr/>
            <p:nvPr/>
          </p:nvSpPr>
          <p:spPr>
            <a:xfrm>
              <a:off x="4191000" y="704850"/>
              <a:ext cx="3810000" cy="4876800"/>
            </a:xfrm>
            <a:prstGeom prst="roundRect">
              <a:avLst>
                <a:gd name="adj" fmla="val 3000"/>
              </a:avLst>
            </a:prstGeom>
            <a:solidFill>
              <a:srgbClr val="FFFFFF"/>
            </a:solidFill>
            <a:ln w="14288">
              <a:solidFill>
                <a:srgbClr val="C9D6EE"/>
              </a:solidFill>
            </a:ln>
          </p:spPr>
        </p:sp>
        <p:sp>
          <p:nvSpPr>
            <p:cNvPr id="38" name="Freeform 38"/>
            <p:cNvSpPr/>
            <p:nvPr/>
          </p:nvSpPr>
          <p:spPr>
            <a:xfrm>
              <a:off x="4191000" y="704850"/>
              <a:ext cx="3810000" cy="323850"/>
            </a:xfrm>
            <a:custGeom>
              <a:avLst/>
              <a:gdLst/>
              <a:ahLst/>
              <a:cxnLst/>
              <a:rect l="l" t="t" r="r" b="b"/>
              <a:pathLst>
                <a:path w="3810000" h="323850">
                  <a:moveTo>
                    <a:pt x="114300" y="0"/>
                  </a:moveTo>
                  <a:lnTo>
                    <a:pt x="3695700" y="0"/>
                  </a:lnTo>
                  <a:cubicBezTo>
                    <a:pt x="3758826" y="0"/>
                    <a:pt x="3810000" y="51174"/>
                    <a:pt x="3810000" y="114300"/>
                  </a:cubicBezTo>
                  <a:lnTo>
                    <a:pt x="3810000" y="323850"/>
                  </a:lnTo>
                  <a:lnTo>
                    <a:pt x="0" y="323850"/>
                  </a:lnTo>
                  <a:lnTo>
                    <a:pt x="0" y="114300"/>
                  </a:lnTo>
                  <a:cubicBezTo>
                    <a:pt x="0" y="51174"/>
                    <a:pt x="51174" y="0"/>
                    <a:pt x="114300" y="0"/>
                  </a:cubicBezTo>
                  <a:close/>
                </a:path>
              </a:pathLst>
            </a:custGeom>
            <a:solidFill>
              <a:srgbClr val="721E0D"/>
            </a:solidFill>
            <a:ln>
              <a:noFill/>
            </a:ln>
          </p:spPr>
        </p:sp>
        <p:sp>
          <p:nvSpPr>
            <p:cNvPr id="39" name="TextBox 39"/>
            <p:cNvSpPr txBox="1"/>
            <p:nvPr/>
          </p:nvSpPr>
          <p:spPr>
            <a:xfrm>
              <a:off x="5864123" y="80248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问题二</a:t>
              </a:r>
            </a:p>
          </p:txBody>
        </p:sp>
        <p:sp>
          <p:nvSpPr>
            <p:cNvPr id="40" name="TextBox 40"/>
            <p:cNvSpPr txBox="1"/>
            <p:nvPr/>
          </p:nvSpPr>
          <p:spPr>
            <a:xfrm>
              <a:off x="5336413" y="1116806"/>
              <a:ext cx="1519174" cy="220028"/>
            </a:xfrm>
            <a:prstGeom prst="rect">
              <a:avLst/>
            </a:prstGeom>
            <a:noFill/>
            <a:ln>
              <a:noFill/>
            </a:ln>
          </p:spPr>
          <p:txBody>
            <a:bodyPr wrap="none" lIns="0" tIns="0" rIns="0" bIns="0" anchor="t" anchorCtr="0">
              <a:spAutoFit/>
            </a:bodyPr>
            <a:lstStyle/>
            <a:p>
              <a:pPr algn="ctr"/>
              <a:r>
                <a:rPr lang="zh-CN" sz="1120" b="1" dirty="0">
                  <a:solidFill>
                    <a:srgbClr val="721E0D"/>
                  </a:solidFill>
                  <a:latin typeface="+mn-lt"/>
                  <a:ea typeface="+mn-ea"/>
                  <a:cs typeface="+mn-cs"/>
                </a:rPr>
                <a:t>下半年能不能追回来？</a:t>
              </a:r>
            </a:p>
          </p:txBody>
        </p:sp>
        <p:sp>
          <p:nvSpPr>
            <p:cNvPr id="41" name="TextBox 41"/>
            <p:cNvSpPr txBox="1"/>
            <p:nvPr/>
          </p:nvSpPr>
          <p:spPr>
            <a:xfrm>
              <a:off x="5546026" y="1445895"/>
              <a:ext cx="1099947" cy="176212"/>
            </a:xfrm>
            <a:prstGeom prst="rect">
              <a:avLst/>
            </a:prstGeom>
            <a:noFill/>
            <a:ln>
              <a:noFill/>
            </a:ln>
          </p:spPr>
          <p:txBody>
            <a:bodyPr wrap="none" lIns="0" tIns="0" rIns="0" bIns="0" anchor="t" anchorCtr="0">
              <a:spAutoFit/>
            </a:bodyPr>
            <a:lstStyle/>
            <a:p>
              <a:pPr algn="ctr"/>
              <a:r>
                <a:rPr lang="zh-CN" sz="900" b="1" dirty="0">
                  <a:solidFill>
                    <a:srgbClr val="B8351A"/>
                  </a:solidFill>
                  <a:latin typeface="+mn-lt"/>
                  <a:ea typeface="+mn-ea"/>
                  <a:cs typeface="+mn-cs"/>
                </a:rPr>
                <a:t>从学习到行动的闭环</a:t>
              </a:r>
            </a:p>
          </p:txBody>
        </p:sp>
        <p:sp>
          <p:nvSpPr>
            <p:cNvPr id="42" name="Freeform 42"/>
            <p:cNvSpPr/>
            <p:nvPr/>
          </p:nvSpPr>
          <p:spPr>
            <a:xfrm>
              <a:off x="5734050" y="1649526"/>
              <a:ext cx="723900" cy="188799"/>
            </a:xfrm>
            <a:custGeom>
              <a:avLst/>
              <a:gdLst/>
              <a:ahLst/>
              <a:cxnLst/>
              <a:rect l="l" t="t" r="r" b="b"/>
              <a:pathLst>
                <a:path w="723900" h="188799">
                  <a:moveTo>
                    <a:pt x="0" y="188799"/>
                  </a:moveTo>
                  <a:cubicBezTo>
                    <a:pt x="204370" y="0"/>
                    <a:pt x="519530" y="0"/>
                    <a:pt x="723900" y="188799"/>
                  </a:cubicBezTo>
                </a:path>
              </a:pathLst>
            </a:custGeom>
            <a:noFill/>
            <a:ln w="19050">
              <a:solidFill>
                <a:srgbClr val="B8351A"/>
              </a:solidFill>
              <a:tailEnd type="triangle" w="lg" len="lg"/>
            </a:ln>
          </p:spPr>
        </p:sp>
        <p:sp>
          <p:nvSpPr>
            <p:cNvPr id="43" name="Freeform 43"/>
            <p:cNvSpPr/>
            <p:nvPr/>
          </p:nvSpPr>
          <p:spPr>
            <a:xfrm>
              <a:off x="5734050" y="2676525"/>
              <a:ext cx="723900" cy="188799"/>
            </a:xfrm>
            <a:custGeom>
              <a:avLst/>
              <a:gdLst/>
              <a:ahLst/>
              <a:cxnLst/>
              <a:rect l="l" t="t" r="r" b="b"/>
              <a:pathLst>
                <a:path w="723900" h="188799">
                  <a:moveTo>
                    <a:pt x="723900" y="0"/>
                  </a:moveTo>
                  <a:cubicBezTo>
                    <a:pt x="519530" y="188799"/>
                    <a:pt x="204370" y="188799"/>
                    <a:pt x="0" y="0"/>
                  </a:cubicBezTo>
                </a:path>
              </a:pathLst>
            </a:custGeom>
            <a:noFill/>
            <a:ln w="19050">
              <a:solidFill>
                <a:srgbClr val="B8351A"/>
              </a:solidFill>
              <a:tailEnd type="triangle" w="lg" len="lg"/>
            </a:ln>
          </p:spPr>
        </p:sp>
        <p:sp>
          <p:nvSpPr>
            <p:cNvPr id="44" name="Ellipse 44"/>
            <p:cNvSpPr/>
            <p:nvPr/>
          </p:nvSpPr>
          <p:spPr>
            <a:xfrm>
              <a:off x="5753100" y="1914525"/>
              <a:ext cx="685800" cy="685800"/>
            </a:xfrm>
            <a:prstGeom prst="ellipse">
              <a:avLst/>
            </a:prstGeom>
            <a:solidFill>
              <a:srgbClr val="721E0D"/>
            </a:solidFill>
            <a:ln>
              <a:noFill/>
            </a:ln>
          </p:spPr>
        </p:sp>
        <p:sp>
          <p:nvSpPr>
            <p:cNvPr id="45" name="TextBox 45"/>
            <p:cNvSpPr txBox="1"/>
            <p:nvPr/>
          </p:nvSpPr>
          <p:spPr>
            <a:xfrm>
              <a:off x="5870461" y="2130266"/>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持续改进</a:t>
              </a:r>
            </a:p>
          </p:txBody>
        </p:sp>
        <p:sp>
          <p:nvSpPr>
            <p:cNvPr id="46" name="TextBox 46"/>
            <p:cNvSpPr txBox="1"/>
            <p:nvPr/>
          </p:nvSpPr>
          <p:spPr>
            <a:xfrm>
              <a:off x="5870461" y="22921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追回差距</a:t>
              </a:r>
            </a:p>
          </p:txBody>
        </p:sp>
        <p:sp>
          <p:nvSpPr>
            <p:cNvPr id="47" name="Ellipse 47"/>
            <p:cNvSpPr/>
            <p:nvPr/>
          </p:nvSpPr>
          <p:spPr>
            <a:xfrm>
              <a:off x="4495800" y="1714500"/>
              <a:ext cx="304800" cy="304800"/>
            </a:xfrm>
            <a:prstGeom prst="ellipse">
              <a:avLst/>
            </a:prstGeom>
            <a:solidFill>
              <a:srgbClr val="EAF1FB"/>
            </a:solidFill>
            <a:ln>
              <a:noFill/>
            </a:ln>
          </p:spPr>
        </p:sp>
        <p:grpSp>
          <p:nvGrpSpPr>
            <p:cNvPr id="50" name="Group 50"/>
            <p:cNvGrpSpPr/>
            <p:nvPr/>
          </p:nvGrpSpPr>
          <p:grpSpPr>
            <a:xfrm>
              <a:off x="4591050" y="1809750"/>
              <a:ext cx="114300" cy="114300"/>
              <a:chOff x="4591050" y="1809750"/>
              <a:chExt cx="114300" cy="114300"/>
            </a:xfrm>
          </p:grpSpPr>
          <p:sp>
            <p:nvSpPr>
              <p:cNvPr id="48" name="Freeform 48"/>
              <p:cNvSpPr/>
              <p:nvPr/>
            </p:nvSpPr>
            <p:spPr>
              <a:xfrm>
                <a:off x="4591050" y="180975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B8351A"/>
                </a:solidFill>
              </a:ln>
            </p:spPr>
          </p:sp>
          <p:sp>
            <p:nvSpPr>
              <p:cNvPr id="49" name="Freeform 49"/>
              <p:cNvSpPr/>
              <p:nvPr/>
            </p:nvSpPr>
            <p:spPr>
              <a:xfrm>
                <a:off x="4667250" y="1885950"/>
                <a:ext cx="38100" cy="38100"/>
              </a:xfrm>
              <a:custGeom>
                <a:avLst/>
                <a:gdLst/>
                <a:ahLst/>
                <a:cxnLst/>
                <a:rect l="l" t="t" r="r" b="b"/>
                <a:pathLst>
                  <a:path w="38100" h="38100">
                    <a:moveTo>
                      <a:pt x="38100" y="38100"/>
                    </a:moveTo>
                    <a:lnTo>
                      <a:pt x="0" y="0"/>
                    </a:lnTo>
                  </a:path>
                </a:pathLst>
              </a:custGeom>
              <a:noFill/>
              <a:ln w="12700">
                <a:solidFill>
                  <a:srgbClr val="B8351A"/>
                </a:solidFill>
              </a:ln>
            </p:spPr>
          </p:sp>
        </p:grpSp>
        <p:sp>
          <p:nvSpPr>
            <p:cNvPr id="51" name="TextBox 51"/>
            <p:cNvSpPr txBox="1"/>
            <p:nvPr/>
          </p:nvSpPr>
          <p:spPr>
            <a:xfrm>
              <a:off x="4872038" y="1735693"/>
              <a:ext cx="1043959" cy="169069"/>
            </a:xfrm>
            <a:prstGeom prst="rect">
              <a:avLst/>
            </a:prstGeom>
            <a:noFill/>
            <a:ln>
              <a:noFill/>
            </a:ln>
          </p:spPr>
          <p:txBody>
            <a:bodyPr wrap="none" lIns="0" tIns="0" rIns="0" bIns="0" anchor="t" anchorCtr="0">
              <a:spAutoFit/>
            </a:bodyPr>
            <a:lstStyle/>
            <a:p>
              <a:pPr algn="l"/>
              <a:r>
                <a:rPr lang="zh-CN" sz="860" b="1" dirty="0">
                  <a:solidFill>
                    <a:srgbClr val="461910"/>
                  </a:solidFill>
                  <a:latin typeface="+mn-lt"/>
                  <a:ea typeface="+mn-ea"/>
                  <a:cs typeface="+mn-cs"/>
                </a:rPr>
                <a:t xml:space="preserve">1. 复盘洞察      </a:t>
              </a:r>
            </a:p>
          </p:txBody>
        </p:sp>
        <p:sp>
          <p:nvSpPr>
            <p:cNvPr id="52" name="TextBox 52"/>
            <p:cNvSpPr txBox="1"/>
            <p:nvPr/>
          </p:nvSpPr>
          <p:spPr>
            <a:xfrm>
              <a:off x="4872038" y="1913811"/>
              <a:ext cx="965327"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定位关键差距找到根因</a:t>
              </a:r>
            </a:p>
          </p:txBody>
        </p:sp>
        <p:sp>
          <p:nvSpPr>
            <p:cNvPr id="53" name="Ellipse 53"/>
            <p:cNvSpPr/>
            <p:nvPr/>
          </p:nvSpPr>
          <p:spPr>
            <a:xfrm>
              <a:off x="6286500" y="1714500"/>
              <a:ext cx="304800" cy="304800"/>
            </a:xfrm>
            <a:prstGeom prst="ellipse">
              <a:avLst/>
            </a:prstGeom>
            <a:solidFill>
              <a:srgbClr val="EAF1FB"/>
            </a:solidFill>
            <a:ln>
              <a:noFill/>
            </a:ln>
          </p:spPr>
        </p:sp>
        <p:grpSp>
          <p:nvGrpSpPr>
            <p:cNvPr id="58" name="Group 58"/>
            <p:cNvGrpSpPr/>
            <p:nvPr/>
          </p:nvGrpSpPr>
          <p:grpSpPr>
            <a:xfrm>
              <a:off x="6394450" y="1816100"/>
              <a:ext cx="95250" cy="107950"/>
              <a:chOff x="6394450" y="1816100"/>
              <a:chExt cx="95250" cy="107950"/>
            </a:xfrm>
          </p:grpSpPr>
          <p:sp>
            <p:nvSpPr>
              <p:cNvPr id="54" name="Freeform 54"/>
              <p:cNvSpPr/>
              <p:nvPr/>
            </p:nvSpPr>
            <p:spPr>
              <a:xfrm>
                <a:off x="6394450" y="1816100"/>
                <a:ext cx="76200" cy="101600"/>
              </a:xfrm>
              <a:custGeom>
                <a:avLst/>
                <a:gdLst/>
                <a:ahLst/>
                <a:cxnLst/>
                <a:rect l="l" t="t" r="r" b="b"/>
                <a:pathLst>
                  <a:path w="76200" h="101600">
                    <a:moveTo>
                      <a:pt x="29305" y="101600"/>
                    </a:moveTo>
                    <a:lnTo>
                      <a:pt x="12700" y="101600"/>
                    </a:lnTo>
                    <a:cubicBezTo>
                      <a:pt x="5686" y="101600"/>
                      <a:pt x="0" y="95914"/>
                      <a:pt x="0" y="88900"/>
                    </a:cubicBezTo>
                    <a:lnTo>
                      <a:pt x="0" y="12700"/>
                    </a:lnTo>
                    <a:cubicBezTo>
                      <a:pt x="0" y="5686"/>
                      <a:pt x="5686" y="0"/>
                      <a:pt x="12700" y="0"/>
                    </a:cubicBezTo>
                    <a:lnTo>
                      <a:pt x="63500" y="0"/>
                    </a:lnTo>
                    <a:cubicBezTo>
                      <a:pt x="70514" y="0"/>
                      <a:pt x="76200" y="5686"/>
                      <a:pt x="76200" y="12700"/>
                    </a:cubicBezTo>
                    <a:lnTo>
                      <a:pt x="76200" y="63500"/>
                    </a:lnTo>
                  </a:path>
                </a:pathLst>
              </a:custGeom>
              <a:noFill/>
              <a:ln w="12700">
                <a:solidFill>
                  <a:srgbClr val="B8351A"/>
                </a:solidFill>
              </a:ln>
            </p:spPr>
          </p:sp>
          <p:sp>
            <p:nvSpPr>
              <p:cNvPr id="55" name="Freeform 55"/>
              <p:cNvSpPr/>
              <p:nvPr/>
            </p:nvSpPr>
            <p:spPr>
              <a:xfrm>
                <a:off x="6451600" y="1898650"/>
                <a:ext cx="38100" cy="25400"/>
              </a:xfrm>
              <a:custGeom>
                <a:avLst/>
                <a:gdLst/>
                <a:ahLst/>
                <a:cxnLst/>
                <a:rect l="l" t="t" r="r" b="b"/>
                <a:pathLst>
                  <a:path w="38100" h="25400">
                    <a:moveTo>
                      <a:pt x="0" y="12700"/>
                    </a:moveTo>
                    <a:lnTo>
                      <a:pt x="12700" y="25400"/>
                    </a:lnTo>
                    <a:lnTo>
                      <a:pt x="38100" y="0"/>
                    </a:lnTo>
                  </a:path>
                </a:pathLst>
              </a:custGeom>
              <a:noFill/>
              <a:ln w="12700">
                <a:solidFill>
                  <a:srgbClr val="B8351A"/>
                </a:solidFill>
              </a:ln>
            </p:spPr>
          </p:sp>
          <p:sp>
            <p:nvSpPr>
              <p:cNvPr id="56" name="Freeform 56"/>
              <p:cNvSpPr/>
              <p:nvPr/>
            </p:nvSpPr>
            <p:spPr>
              <a:xfrm>
                <a:off x="6419850" y="1841500"/>
                <a:ext cx="25400" cy="9525"/>
              </a:xfrm>
              <a:custGeom>
                <a:avLst/>
                <a:gdLst/>
                <a:ahLst/>
                <a:cxnLst/>
                <a:rect l="l" t="t" r="r" b="b"/>
                <a:pathLst>
                  <a:path w="25400" h="9525">
                    <a:moveTo>
                      <a:pt x="0" y="0"/>
                    </a:moveTo>
                    <a:lnTo>
                      <a:pt x="25400" y="0"/>
                    </a:lnTo>
                  </a:path>
                </a:pathLst>
              </a:custGeom>
              <a:noFill/>
              <a:ln w="12700">
                <a:solidFill>
                  <a:srgbClr val="B8351A"/>
                </a:solidFill>
              </a:ln>
            </p:spPr>
          </p:sp>
          <p:sp>
            <p:nvSpPr>
              <p:cNvPr id="57" name="Freeform 57"/>
              <p:cNvSpPr/>
              <p:nvPr/>
            </p:nvSpPr>
            <p:spPr>
              <a:xfrm>
                <a:off x="6419850" y="1866900"/>
                <a:ext cx="12700" cy="9525"/>
              </a:xfrm>
              <a:custGeom>
                <a:avLst/>
                <a:gdLst/>
                <a:ahLst/>
                <a:cxnLst/>
                <a:rect l="l" t="t" r="r" b="b"/>
                <a:pathLst>
                  <a:path w="12700" h="9525">
                    <a:moveTo>
                      <a:pt x="0" y="0"/>
                    </a:moveTo>
                    <a:lnTo>
                      <a:pt x="12700" y="0"/>
                    </a:lnTo>
                  </a:path>
                </a:pathLst>
              </a:custGeom>
              <a:noFill/>
              <a:ln w="12700">
                <a:solidFill>
                  <a:srgbClr val="B8351A"/>
                </a:solidFill>
              </a:ln>
            </p:spPr>
          </p:sp>
        </p:grpSp>
        <p:sp>
          <p:nvSpPr>
            <p:cNvPr id="59" name="TextBox 59"/>
            <p:cNvSpPr txBox="1"/>
            <p:nvPr/>
          </p:nvSpPr>
          <p:spPr>
            <a:xfrm>
              <a:off x="6662738" y="1735693"/>
              <a:ext cx="1043959" cy="169069"/>
            </a:xfrm>
            <a:prstGeom prst="rect">
              <a:avLst/>
            </a:prstGeom>
            <a:noFill/>
            <a:ln>
              <a:noFill/>
            </a:ln>
          </p:spPr>
          <p:txBody>
            <a:bodyPr wrap="none" lIns="0" tIns="0" rIns="0" bIns="0" anchor="t" anchorCtr="0">
              <a:spAutoFit/>
            </a:bodyPr>
            <a:lstStyle/>
            <a:p>
              <a:pPr algn="l"/>
              <a:r>
                <a:rPr lang="zh-CN" sz="860" b="1" dirty="0">
                  <a:solidFill>
                    <a:srgbClr val="461910"/>
                  </a:solidFill>
                  <a:latin typeface="+mn-lt"/>
                  <a:ea typeface="+mn-ea"/>
                  <a:cs typeface="+mn-cs"/>
                </a:rPr>
                <a:t xml:space="preserve">2. 制定计划      </a:t>
              </a:r>
            </a:p>
          </p:txBody>
        </p:sp>
        <p:sp>
          <p:nvSpPr>
            <p:cNvPr id="60" name="TextBox 60"/>
            <p:cNvSpPr txBox="1"/>
            <p:nvPr/>
          </p:nvSpPr>
          <p:spPr>
            <a:xfrm>
              <a:off x="6662738" y="1913811"/>
              <a:ext cx="1156487"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明确目标、策略与关键举措</a:t>
              </a:r>
            </a:p>
          </p:txBody>
        </p:sp>
        <p:sp>
          <p:nvSpPr>
            <p:cNvPr id="61" name="Ellipse 61"/>
            <p:cNvSpPr/>
            <p:nvPr/>
          </p:nvSpPr>
          <p:spPr>
            <a:xfrm>
              <a:off x="4495800" y="2495550"/>
              <a:ext cx="304800" cy="304800"/>
            </a:xfrm>
            <a:prstGeom prst="ellipse">
              <a:avLst/>
            </a:prstGeom>
            <a:solidFill>
              <a:srgbClr val="EAF1FB"/>
            </a:solidFill>
            <a:ln>
              <a:noFill/>
            </a:ln>
          </p:spPr>
        </p:sp>
        <p:grpSp>
          <p:nvGrpSpPr>
            <p:cNvPr id="66" name="Group 66"/>
            <p:cNvGrpSpPr/>
            <p:nvPr/>
          </p:nvGrpSpPr>
          <p:grpSpPr>
            <a:xfrm>
              <a:off x="4591050" y="2597150"/>
              <a:ext cx="114300" cy="111125"/>
              <a:chOff x="4591050" y="2597150"/>
              <a:chExt cx="114300" cy="111125"/>
            </a:xfrm>
          </p:grpSpPr>
          <p:sp>
            <p:nvSpPr>
              <p:cNvPr id="62" name="Freeform 62"/>
              <p:cNvSpPr/>
              <p:nvPr/>
            </p:nvSpPr>
            <p:spPr>
              <a:xfrm>
                <a:off x="4591050" y="26479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B8351A"/>
                </a:solidFill>
              </a:ln>
            </p:spPr>
          </p:sp>
          <p:sp>
            <p:nvSpPr>
              <p:cNvPr id="63" name="Freeform 63"/>
              <p:cNvSpPr/>
              <p:nvPr/>
            </p:nvSpPr>
            <p:spPr>
              <a:xfrm>
                <a:off x="4667250" y="26225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B8351A"/>
                </a:solidFill>
              </a:ln>
            </p:spPr>
          </p:sp>
          <p:sp>
            <p:nvSpPr>
              <p:cNvPr id="64" name="Freeform 64"/>
              <p:cNvSpPr/>
              <p:nvPr/>
            </p:nvSpPr>
            <p:spPr>
              <a:xfrm>
                <a:off x="4629150" y="25971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B8351A"/>
                </a:solidFill>
              </a:ln>
            </p:spPr>
          </p:sp>
          <p:sp>
            <p:nvSpPr>
              <p:cNvPr id="65" name="Freeform 65"/>
              <p:cNvSpPr/>
              <p:nvPr/>
            </p:nvSpPr>
            <p:spPr>
              <a:xfrm>
                <a:off x="4597400" y="2698750"/>
                <a:ext cx="88900" cy="9525"/>
              </a:xfrm>
              <a:custGeom>
                <a:avLst/>
                <a:gdLst/>
                <a:ahLst/>
                <a:cxnLst/>
                <a:rect l="l" t="t" r="r" b="b"/>
                <a:pathLst>
                  <a:path w="88900" h="9525">
                    <a:moveTo>
                      <a:pt x="0" y="0"/>
                    </a:moveTo>
                    <a:lnTo>
                      <a:pt x="88900" y="0"/>
                    </a:lnTo>
                  </a:path>
                </a:pathLst>
              </a:custGeom>
              <a:noFill/>
              <a:ln w="12700">
                <a:solidFill>
                  <a:srgbClr val="B8351A"/>
                </a:solidFill>
              </a:ln>
            </p:spPr>
          </p:sp>
        </p:grpSp>
        <p:sp>
          <p:nvSpPr>
            <p:cNvPr id="67" name="TextBox 67"/>
            <p:cNvSpPr txBox="1"/>
            <p:nvPr/>
          </p:nvSpPr>
          <p:spPr>
            <a:xfrm>
              <a:off x="4872038" y="2516743"/>
              <a:ext cx="1043959" cy="169069"/>
            </a:xfrm>
            <a:prstGeom prst="rect">
              <a:avLst/>
            </a:prstGeom>
            <a:noFill/>
            <a:ln>
              <a:noFill/>
            </a:ln>
          </p:spPr>
          <p:txBody>
            <a:bodyPr wrap="none" lIns="0" tIns="0" rIns="0" bIns="0" anchor="t" anchorCtr="0">
              <a:spAutoFit/>
            </a:bodyPr>
            <a:lstStyle/>
            <a:p>
              <a:pPr algn="l"/>
              <a:r>
                <a:rPr lang="zh-CN" sz="860" b="1" dirty="0">
                  <a:solidFill>
                    <a:srgbClr val="461910"/>
                  </a:solidFill>
                  <a:latin typeface="+mn-lt"/>
                  <a:ea typeface="+mn-ea"/>
                  <a:cs typeface="+mn-cs"/>
                </a:rPr>
                <a:t xml:space="preserve">4. 评估复盘      </a:t>
              </a:r>
            </a:p>
          </p:txBody>
        </p:sp>
        <p:sp>
          <p:nvSpPr>
            <p:cNvPr id="68" name="TextBox 68"/>
            <p:cNvSpPr txBox="1"/>
            <p:nvPr/>
          </p:nvSpPr>
          <p:spPr>
            <a:xfrm>
              <a:off x="4872038" y="2694861"/>
              <a:ext cx="1060907"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量化结果与效果沉淀经验</a:t>
              </a:r>
            </a:p>
          </p:txBody>
        </p:sp>
        <p:sp>
          <p:nvSpPr>
            <p:cNvPr id="69" name="Ellipse 69"/>
            <p:cNvSpPr/>
            <p:nvPr/>
          </p:nvSpPr>
          <p:spPr>
            <a:xfrm>
              <a:off x="6286500" y="2495550"/>
              <a:ext cx="304800" cy="304800"/>
            </a:xfrm>
            <a:prstGeom prst="ellipse">
              <a:avLst/>
            </a:prstGeom>
            <a:solidFill>
              <a:srgbClr val="EAF1FB"/>
            </a:solidFill>
            <a:ln>
              <a:noFill/>
            </a:ln>
          </p:spPr>
        </p:sp>
        <p:grpSp>
          <p:nvGrpSpPr>
            <p:cNvPr id="73" name="Group 73"/>
            <p:cNvGrpSpPr/>
            <p:nvPr/>
          </p:nvGrpSpPr>
          <p:grpSpPr>
            <a:xfrm>
              <a:off x="6386094" y="2597150"/>
              <a:ext cx="103606" cy="103606"/>
              <a:chOff x="6386094" y="2597150"/>
              <a:chExt cx="103606" cy="103606"/>
            </a:xfrm>
          </p:grpSpPr>
          <p:sp>
            <p:nvSpPr>
              <p:cNvPr id="70" name="Freeform 70"/>
              <p:cNvSpPr/>
              <p:nvPr/>
            </p:nvSpPr>
            <p:spPr>
              <a:xfrm>
                <a:off x="6388100" y="2597150"/>
                <a:ext cx="101600" cy="101600"/>
              </a:xfrm>
              <a:custGeom>
                <a:avLst/>
                <a:gdLst/>
                <a:ahLst/>
                <a:cxnLst/>
                <a:rect l="l" t="t" r="r" b="b"/>
                <a:pathLst>
                  <a:path w="101600" h="101600">
                    <a:moveTo>
                      <a:pt x="0" y="57150"/>
                    </a:moveTo>
                    <a:cubicBezTo>
                      <a:pt x="23306" y="59920"/>
                      <a:pt x="41680" y="78294"/>
                      <a:pt x="44450" y="101600"/>
                    </a:cubicBezTo>
                    <a:cubicBezTo>
                      <a:pt x="55861" y="95021"/>
                      <a:pt x="63065" y="83015"/>
                      <a:pt x="63500" y="69850"/>
                    </a:cubicBezTo>
                    <a:cubicBezTo>
                      <a:pt x="85304" y="62180"/>
                      <a:pt x="100342" y="42130"/>
                      <a:pt x="101600" y="19050"/>
                    </a:cubicBezTo>
                    <a:cubicBezTo>
                      <a:pt x="101600" y="8529"/>
                      <a:pt x="93071" y="0"/>
                      <a:pt x="82550" y="0"/>
                    </a:cubicBezTo>
                    <a:cubicBezTo>
                      <a:pt x="59470" y="1258"/>
                      <a:pt x="39420" y="16296"/>
                      <a:pt x="31750" y="38100"/>
                    </a:cubicBezTo>
                    <a:cubicBezTo>
                      <a:pt x="18585" y="38535"/>
                      <a:pt x="6579" y="45739"/>
                      <a:pt x="0" y="57150"/>
                    </a:cubicBezTo>
                  </a:path>
                </a:pathLst>
              </a:custGeom>
              <a:noFill/>
              <a:ln w="12700">
                <a:solidFill>
                  <a:srgbClr val="B8351A"/>
                </a:solidFill>
              </a:ln>
            </p:spPr>
          </p:sp>
          <p:sp>
            <p:nvSpPr>
              <p:cNvPr id="71" name="Freeform 71"/>
              <p:cNvSpPr/>
              <p:nvPr/>
            </p:nvSpPr>
            <p:spPr>
              <a:xfrm>
                <a:off x="6386094" y="2660650"/>
                <a:ext cx="40106" cy="40106"/>
              </a:xfrm>
              <a:custGeom>
                <a:avLst/>
                <a:gdLst/>
                <a:ahLst/>
                <a:cxnLst/>
                <a:rect l="l" t="t" r="r" b="b"/>
                <a:pathLst>
                  <a:path w="40106" h="40106">
                    <a:moveTo>
                      <a:pt x="21056" y="0"/>
                    </a:moveTo>
                    <a:cubicBezTo>
                      <a:pt x="7536" y="7633"/>
                      <a:pt x="0" y="22705"/>
                      <a:pt x="2006" y="38100"/>
                    </a:cubicBezTo>
                    <a:cubicBezTo>
                      <a:pt x="17401" y="40106"/>
                      <a:pt x="32473" y="32570"/>
                      <a:pt x="40106" y="19050"/>
                    </a:cubicBezTo>
                  </a:path>
                </a:pathLst>
              </a:custGeom>
              <a:noFill/>
              <a:ln w="12700">
                <a:solidFill>
                  <a:srgbClr val="B8351A"/>
                </a:solidFill>
              </a:ln>
            </p:spPr>
          </p:sp>
          <p:sp>
            <p:nvSpPr>
              <p:cNvPr id="72" name="Freeform 72"/>
              <p:cNvSpPr/>
              <p:nvPr/>
            </p:nvSpPr>
            <p:spPr>
              <a:xfrm>
                <a:off x="6451600" y="26225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B8351A"/>
                </a:solidFill>
              </a:ln>
            </p:spPr>
          </p:sp>
        </p:grpSp>
        <p:sp>
          <p:nvSpPr>
            <p:cNvPr id="74" name="TextBox 74"/>
            <p:cNvSpPr txBox="1"/>
            <p:nvPr/>
          </p:nvSpPr>
          <p:spPr>
            <a:xfrm>
              <a:off x="6662738" y="2516743"/>
              <a:ext cx="1043959" cy="169069"/>
            </a:xfrm>
            <a:prstGeom prst="rect">
              <a:avLst/>
            </a:prstGeom>
            <a:noFill/>
            <a:ln>
              <a:noFill/>
            </a:ln>
          </p:spPr>
          <p:txBody>
            <a:bodyPr wrap="none" lIns="0" tIns="0" rIns="0" bIns="0" anchor="t" anchorCtr="0">
              <a:spAutoFit/>
            </a:bodyPr>
            <a:lstStyle/>
            <a:p>
              <a:pPr algn="l"/>
              <a:r>
                <a:rPr lang="zh-CN" sz="860" b="1" dirty="0">
                  <a:solidFill>
                    <a:srgbClr val="461910"/>
                  </a:solidFill>
                  <a:latin typeface="+mn-lt"/>
                  <a:ea typeface="+mn-ea"/>
                  <a:cs typeface="+mn-cs"/>
                </a:rPr>
                <a:t xml:space="preserve">3. 快速执行      </a:t>
              </a:r>
            </a:p>
          </p:txBody>
        </p:sp>
        <p:sp>
          <p:nvSpPr>
            <p:cNvPr id="75" name="TextBox 75"/>
            <p:cNvSpPr txBox="1"/>
            <p:nvPr/>
          </p:nvSpPr>
          <p:spPr>
            <a:xfrm>
              <a:off x="6662738" y="2694861"/>
              <a:ext cx="869747"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资源聚焦到位里程碑</a:t>
              </a:r>
            </a:p>
          </p:txBody>
        </p:sp>
        <p:sp>
          <p:nvSpPr>
            <p:cNvPr id="76" name="TextBox 76"/>
            <p:cNvSpPr txBox="1"/>
            <p:nvPr/>
          </p:nvSpPr>
          <p:spPr>
            <a:xfrm>
              <a:off x="5253908" y="3088243"/>
              <a:ext cx="1684184" cy="169069"/>
            </a:xfrm>
            <a:prstGeom prst="rect">
              <a:avLst/>
            </a:prstGeom>
            <a:noFill/>
            <a:ln>
              <a:noFill/>
            </a:ln>
          </p:spPr>
          <p:txBody>
            <a:bodyPr wrap="none" lIns="0" tIns="0" rIns="0" bIns="0" anchor="t" anchorCtr="0">
              <a:spAutoFit/>
            </a:bodyPr>
            <a:lstStyle/>
            <a:p>
              <a:pPr algn="ctr"/>
              <a:r>
                <a:rPr lang="zh-CN" sz="860" b="1" dirty="0">
                  <a:solidFill>
                    <a:srgbClr val="B8351A"/>
                  </a:solidFill>
                  <a:latin typeface="+mn-lt"/>
                  <a:ea typeface="+mn-ea"/>
                  <a:cs typeface="+mn-cs"/>
                </a:rPr>
                <a:t xml:space="preserve">   下半年追回测算（示例）   </a:t>
              </a:r>
            </a:p>
          </p:txBody>
        </p:sp>
        <p:sp>
          <p:nvSpPr>
            <p:cNvPr id="77" name="Rectangle 77"/>
            <p:cNvSpPr/>
            <p:nvPr/>
          </p:nvSpPr>
          <p:spPr>
            <a:xfrm>
              <a:off x="4343400" y="3276600"/>
              <a:ext cx="3505200" cy="190500"/>
            </a:xfrm>
            <a:prstGeom prst="rect">
              <a:avLst/>
            </a:prstGeom>
            <a:solidFill>
              <a:srgbClr val="721E0D"/>
            </a:solidFill>
            <a:ln>
              <a:noFill/>
            </a:ln>
          </p:spPr>
        </p:sp>
        <p:sp>
          <p:nvSpPr>
            <p:cNvPr id="78" name="TextBox 78"/>
            <p:cNvSpPr txBox="1"/>
            <p:nvPr/>
          </p:nvSpPr>
          <p:spPr>
            <a:xfrm>
              <a:off x="4652632" y="33330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项目</a:t>
              </a:r>
            </a:p>
          </p:txBody>
        </p:sp>
        <p:sp>
          <p:nvSpPr>
            <p:cNvPr id="79" name="TextBox 79"/>
            <p:cNvSpPr txBox="1"/>
            <p:nvPr/>
          </p:nvSpPr>
          <p:spPr>
            <a:xfrm>
              <a:off x="5300002" y="33330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当前差距</a:t>
              </a:r>
            </a:p>
          </p:txBody>
        </p:sp>
        <p:sp>
          <p:nvSpPr>
            <p:cNvPr id="80" name="TextBox 80"/>
            <p:cNvSpPr txBox="1"/>
            <p:nvPr/>
          </p:nvSpPr>
          <p:spPr>
            <a:xfrm>
              <a:off x="6042622" y="3333036"/>
              <a:ext cx="58300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下半年可追回</a:t>
              </a:r>
            </a:p>
          </p:txBody>
        </p:sp>
        <p:sp>
          <p:nvSpPr>
            <p:cNvPr id="81" name="TextBox 81"/>
            <p:cNvSpPr txBox="1"/>
            <p:nvPr/>
          </p:nvSpPr>
          <p:spPr>
            <a:xfrm>
              <a:off x="7014502" y="33330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预计达成</a:t>
              </a:r>
            </a:p>
          </p:txBody>
        </p:sp>
        <p:sp>
          <p:nvSpPr>
            <p:cNvPr id="82" name="TextBox 82"/>
            <p:cNvSpPr txBox="1"/>
            <p:nvPr/>
          </p:nvSpPr>
          <p:spPr>
            <a:xfrm>
              <a:off x="7500442" y="3333036"/>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达成率</a:t>
              </a:r>
            </a:p>
          </p:txBody>
        </p:sp>
        <p:sp>
          <p:nvSpPr>
            <p:cNvPr id="83" name="Rectangle 83"/>
            <p:cNvSpPr/>
            <p:nvPr/>
          </p:nvSpPr>
          <p:spPr>
            <a:xfrm>
              <a:off x="4343400" y="3467100"/>
              <a:ext cx="3505200" cy="180975"/>
            </a:xfrm>
            <a:prstGeom prst="rect">
              <a:avLst/>
            </a:prstGeom>
            <a:solidFill>
              <a:srgbClr val="F3F7FD"/>
            </a:solidFill>
            <a:ln>
              <a:noFill/>
            </a:ln>
          </p:spPr>
        </p:sp>
        <p:sp>
          <p:nvSpPr>
            <p:cNvPr id="84" name="Rectangle 84"/>
            <p:cNvSpPr/>
            <p:nvPr/>
          </p:nvSpPr>
          <p:spPr>
            <a:xfrm>
              <a:off x="4343400" y="3648075"/>
              <a:ext cx="3505200" cy="180975"/>
            </a:xfrm>
            <a:prstGeom prst="rect">
              <a:avLst/>
            </a:prstGeom>
            <a:solidFill>
              <a:srgbClr val="FFFFFF"/>
            </a:solidFill>
            <a:ln>
              <a:noFill/>
            </a:ln>
          </p:spPr>
        </p:sp>
        <p:sp>
          <p:nvSpPr>
            <p:cNvPr id="85" name="Rectangle 85"/>
            <p:cNvSpPr/>
            <p:nvPr/>
          </p:nvSpPr>
          <p:spPr>
            <a:xfrm>
              <a:off x="4343400" y="3829050"/>
              <a:ext cx="3505200" cy="180975"/>
            </a:xfrm>
            <a:prstGeom prst="rect">
              <a:avLst/>
            </a:prstGeom>
            <a:solidFill>
              <a:srgbClr val="F3F7FD"/>
            </a:solidFill>
            <a:ln>
              <a:noFill/>
            </a:ln>
          </p:spPr>
        </p:sp>
        <p:sp>
          <p:nvSpPr>
            <p:cNvPr id="86" name="Line 86"/>
            <p:cNvSpPr/>
            <p:nvPr/>
          </p:nvSpPr>
          <p:spPr>
            <a:xfrm>
              <a:off x="4343400" y="4010025"/>
              <a:ext cx="3505200" cy="9525"/>
            </a:xfrm>
            <a:custGeom>
              <a:avLst/>
              <a:gdLst/>
              <a:ahLst/>
              <a:cxnLst/>
              <a:rect l="l" t="t" r="r" b="b"/>
              <a:pathLst>
                <a:path w="3505200" h="9525">
                  <a:moveTo>
                    <a:pt x="0" y="0"/>
                  </a:moveTo>
                  <a:lnTo>
                    <a:pt x="3505200" y="0"/>
                  </a:lnTo>
                </a:path>
              </a:pathLst>
            </a:custGeom>
            <a:noFill/>
            <a:ln w="9525">
              <a:solidFill>
                <a:srgbClr val="C9D6EE"/>
              </a:solidFill>
            </a:ln>
          </p:spPr>
        </p:sp>
        <p:sp>
          <p:nvSpPr>
            <p:cNvPr id="87" name="TextBox 87"/>
            <p:cNvSpPr txBox="1"/>
            <p:nvPr/>
          </p:nvSpPr>
          <p:spPr>
            <a:xfrm>
              <a:off x="4356334" y="3514011"/>
              <a:ext cx="793283"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 xml:space="preserve">  收入（万元）  </a:t>
              </a:r>
            </a:p>
          </p:txBody>
        </p:sp>
        <p:sp>
          <p:nvSpPr>
            <p:cNvPr id="88" name="TextBox 88"/>
            <p:cNvSpPr txBox="1"/>
            <p:nvPr/>
          </p:nvSpPr>
          <p:spPr>
            <a:xfrm>
              <a:off x="5215175" y="3514011"/>
              <a:ext cx="561501" cy="140494"/>
            </a:xfrm>
            <a:prstGeom prst="rect">
              <a:avLst/>
            </a:prstGeom>
            <a:noFill/>
            <a:ln>
              <a:noFill/>
            </a:ln>
          </p:spPr>
          <p:txBody>
            <a:bodyPr wrap="none" lIns="0" tIns="0" rIns="0" bIns="0" anchor="t" anchorCtr="0">
              <a:spAutoFit/>
            </a:bodyPr>
            <a:lstStyle/>
            <a:p>
              <a:pPr algn="ctr"/>
              <a:r>
                <a:rPr lang="zh-CN" sz="710" b="1" dirty="0">
                  <a:solidFill>
                    <a:srgbClr val="C03616"/>
                  </a:solidFill>
                  <a:latin typeface="+mn-lt"/>
                  <a:ea typeface="+mn-ea"/>
                  <a:cs typeface="+mn-cs"/>
                </a:rPr>
                <a:t xml:space="preserve">  -1,200  </a:t>
              </a:r>
            </a:p>
          </p:txBody>
        </p:sp>
        <p:sp>
          <p:nvSpPr>
            <p:cNvPr id="89" name="TextBox 89"/>
            <p:cNvSpPr txBox="1"/>
            <p:nvPr/>
          </p:nvSpPr>
          <p:spPr>
            <a:xfrm>
              <a:off x="6108572" y="3514011"/>
              <a:ext cx="451106" cy="140494"/>
            </a:xfrm>
            <a:prstGeom prst="rect">
              <a:avLst/>
            </a:prstGeom>
            <a:noFill/>
            <a:ln>
              <a:noFill/>
            </a:ln>
          </p:spPr>
          <p:txBody>
            <a:bodyPr wrap="none" lIns="0" tIns="0" rIns="0" bIns="0" anchor="t" anchorCtr="0">
              <a:spAutoFit/>
            </a:bodyPr>
            <a:lstStyle/>
            <a:p>
              <a:pPr algn="ctr"/>
              <a:r>
                <a:rPr lang="zh-CN" sz="710" b="1" dirty="0">
                  <a:solidFill>
                    <a:srgbClr val="B8351A"/>
                  </a:solidFill>
                  <a:latin typeface="+mn-lt"/>
                  <a:ea typeface="+mn-ea"/>
                  <a:cs typeface="+mn-cs"/>
                </a:rPr>
                <a:t xml:space="preserve">  +900  </a:t>
              </a:r>
            </a:p>
          </p:txBody>
        </p:sp>
        <p:sp>
          <p:nvSpPr>
            <p:cNvPr id="90" name="TextBox 90"/>
            <p:cNvSpPr txBox="1"/>
            <p:nvPr/>
          </p:nvSpPr>
          <p:spPr>
            <a:xfrm>
              <a:off x="6969102" y="3514011"/>
              <a:ext cx="482647"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 xml:space="preserve">  8,100  </a:t>
              </a:r>
            </a:p>
          </p:txBody>
        </p:sp>
        <p:sp>
          <p:nvSpPr>
            <p:cNvPr id="91" name="TextBox 91"/>
            <p:cNvSpPr txBox="1"/>
            <p:nvPr/>
          </p:nvSpPr>
          <p:spPr>
            <a:xfrm>
              <a:off x="7440585" y="3514011"/>
              <a:ext cx="415980"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90%  </a:t>
              </a:r>
            </a:p>
          </p:txBody>
        </p:sp>
        <p:sp>
          <p:nvSpPr>
            <p:cNvPr id="92" name="TextBox 92"/>
            <p:cNvSpPr txBox="1"/>
            <p:nvPr/>
          </p:nvSpPr>
          <p:spPr>
            <a:xfrm>
              <a:off x="4356334" y="3694986"/>
              <a:ext cx="793283"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 xml:space="preserve">  利润（万元）  </a:t>
              </a:r>
            </a:p>
          </p:txBody>
        </p:sp>
        <p:sp>
          <p:nvSpPr>
            <p:cNvPr id="93" name="TextBox 93"/>
            <p:cNvSpPr txBox="1"/>
            <p:nvPr/>
          </p:nvSpPr>
          <p:spPr>
            <a:xfrm>
              <a:off x="5270372" y="3694986"/>
              <a:ext cx="451106" cy="140494"/>
            </a:xfrm>
            <a:prstGeom prst="rect">
              <a:avLst/>
            </a:prstGeom>
            <a:noFill/>
            <a:ln>
              <a:noFill/>
            </a:ln>
          </p:spPr>
          <p:txBody>
            <a:bodyPr wrap="none" lIns="0" tIns="0" rIns="0" bIns="0" anchor="t" anchorCtr="0">
              <a:spAutoFit/>
            </a:bodyPr>
            <a:lstStyle/>
            <a:p>
              <a:pPr algn="ctr"/>
              <a:r>
                <a:rPr lang="zh-CN" sz="710" b="1" dirty="0">
                  <a:solidFill>
                    <a:srgbClr val="C03616"/>
                  </a:solidFill>
                  <a:latin typeface="+mn-lt"/>
                  <a:ea typeface="+mn-ea"/>
                  <a:cs typeface="+mn-cs"/>
                </a:rPr>
                <a:t xml:space="preserve">  -320  </a:t>
              </a:r>
            </a:p>
          </p:txBody>
        </p:sp>
        <p:sp>
          <p:nvSpPr>
            <p:cNvPr id="94" name="TextBox 94"/>
            <p:cNvSpPr txBox="1"/>
            <p:nvPr/>
          </p:nvSpPr>
          <p:spPr>
            <a:xfrm>
              <a:off x="6108572" y="3694986"/>
              <a:ext cx="451106" cy="140494"/>
            </a:xfrm>
            <a:prstGeom prst="rect">
              <a:avLst/>
            </a:prstGeom>
            <a:noFill/>
            <a:ln>
              <a:noFill/>
            </a:ln>
          </p:spPr>
          <p:txBody>
            <a:bodyPr wrap="none" lIns="0" tIns="0" rIns="0" bIns="0" anchor="t" anchorCtr="0">
              <a:spAutoFit/>
            </a:bodyPr>
            <a:lstStyle/>
            <a:p>
              <a:pPr algn="ctr"/>
              <a:r>
                <a:rPr lang="zh-CN" sz="710" b="1" dirty="0">
                  <a:solidFill>
                    <a:srgbClr val="B8351A"/>
                  </a:solidFill>
                  <a:latin typeface="+mn-lt"/>
                  <a:ea typeface="+mn-ea"/>
                  <a:cs typeface="+mn-cs"/>
                </a:rPr>
                <a:t xml:space="preserve">  +260  </a:t>
              </a:r>
            </a:p>
          </p:txBody>
        </p:sp>
        <p:sp>
          <p:nvSpPr>
            <p:cNvPr id="95" name="TextBox 95"/>
            <p:cNvSpPr txBox="1"/>
            <p:nvPr/>
          </p:nvSpPr>
          <p:spPr>
            <a:xfrm>
              <a:off x="6969102" y="3694986"/>
              <a:ext cx="482647"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 xml:space="preserve">  1,140  </a:t>
              </a:r>
            </a:p>
          </p:txBody>
        </p:sp>
        <p:sp>
          <p:nvSpPr>
            <p:cNvPr id="96" name="TextBox 96"/>
            <p:cNvSpPr txBox="1"/>
            <p:nvPr/>
          </p:nvSpPr>
          <p:spPr>
            <a:xfrm>
              <a:off x="7440585" y="3694986"/>
              <a:ext cx="415980"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91%  </a:t>
              </a:r>
            </a:p>
          </p:txBody>
        </p:sp>
        <p:sp>
          <p:nvSpPr>
            <p:cNvPr id="97" name="TextBox 97"/>
            <p:cNvSpPr txBox="1"/>
            <p:nvPr/>
          </p:nvSpPr>
          <p:spPr>
            <a:xfrm>
              <a:off x="4367109" y="3875961"/>
              <a:ext cx="771732"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 xml:space="preserve">   核心指标A   </a:t>
              </a:r>
            </a:p>
          </p:txBody>
        </p:sp>
        <p:sp>
          <p:nvSpPr>
            <p:cNvPr id="98" name="TextBox 98"/>
            <p:cNvSpPr txBox="1"/>
            <p:nvPr/>
          </p:nvSpPr>
          <p:spPr>
            <a:xfrm>
              <a:off x="5260336" y="3875961"/>
              <a:ext cx="471177" cy="140494"/>
            </a:xfrm>
            <a:prstGeom prst="rect">
              <a:avLst/>
            </a:prstGeom>
            <a:noFill/>
            <a:ln>
              <a:noFill/>
            </a:ln>
          </p:spPr>
          <p:txBody>
            <a:bodyPr wrap="none" lIns="0" tIns="0" rIns="0" bIns="0" anchor="t" anchorCtr="0">
              <a:spAutoFit/>
            </a:bodyPr>
            <a:lstStyle/>
            <a:p>
              <a:pPr algn="ctr"/>
              <a:r>
                <a:rPr lang="zh-CN" sz="710" b="1" dirty="0">
                  <a:solidFill>
                    <a:srgbClr val="C03616"/>
                  </a:solidFill>
                  <a:latin typeface="+mn-lt"/>
                  <a:ea typeface="+mn-ea"/>
                  <a:cs typeface="+mn-cs"/>
                </a:rPr>
                <a:t xml:space="preserve">  -12%  </a:t>
              </a:r>
            </a:p>
          </p:txBody>
        </p:sp>
        <p:sp>
          <p:nvSpPr>
            <p:cNvPr id="99" name="TextBox 99"/>
            <p:cNvSpPr txBox="1"/>
            <p:nvPr/>
          </p:nvSpPr>
          <p:spPr>
            <a:xfrm>
              <a:off x="6126135" y="3875961"/>
              <a:ext cx="415980" cy="140494"/>
            </a:xfrm>
            <a:prstGeom prst="rect">
              <a:avLst/>
            </a:prstGeom>
            <a:noFill/>
            <a:ln>
              <a:noFill/>
            </a:ln>
          </p:spPr>
          <p:txBody>
            <a:bodyPr wrap="none" lIns="0" tIns="0" rIns="0" bIns="0" anchor="t" anchorCtr="0">
              <a:spAutoFit/>
            </a:bodyPr>
            <a:lstStyle/>
            <a:p>
              <a:pPr algn="ctr"/>
              <a:r>
                <a:rPr lang="zh-CN" sz="710" b="1" dirty="0">
                  <a:solidFill>
                    <a:srgbClr val="B8351A"/>
                  </a:solidFill>
                  <a:latin typeface="+mn-lt"/>
                  <a:ea typeface="+mn-ea"/>
                  <a:cs typeface="+mn-cs"/>
                </a:rPr>
                <a:t xml:space="preserve">  +9%  </a:t>
              </a:r>
            </a:p>
          </p:txBody>
        </p:sp>
        <p:sp>
          <p:nvSpPr>
            <p:cNvPr id="100" name="TextBox 100"/>
            <p:cNvSpPr txBox="1"/>
            <p:nvPr/>
          </p:nvSpPr>
          <p:spPr>
            <a:xfrm>
              <a:off x="7012113" y="3875961"/>
              <a:ext cx="396625"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 xml:space="preserve">  87%  </a:t>
              </a:r>
            </a:p>
          </p:txBody>
        </p:sp>
        <p:sp>
          <p:nvSpPr>
            <p:cNvPr id="101" name="TextBox 101"/>
            <p:cNvSpPr txBox="1"/>
            <p:nvPr/>
          </p:nvSpPr>
          <p:spPr>
            <a:xfrm>
              <a:off x="7440585" y="3875961"/>
              <a:ext cx="415980"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96%  </a:t>
              </a:r>
            </a:p>
          </p:txBody>
        </p:sp>
        <p:sp>
          <p:nvSpPr>
            <p:cNvPr id="102" name="Ellipse 102"/>
            <p:cNvSpPr/>
            <p:nvPr/>
          </p:nvSpPr>
          <p:spPr>
            <a:xfrm>
              <a:off x="4362450" y="5143500"/>
              <a:ext cx="228600" cy="228600"/>
            </a:xfrm>
            <a:prstGeom prst="ellipse">
              <a:avLst/>
            </a:prstGeom>
            <a:solidFill>
              <a:srgbClr val="721E0D"/>
            </a:solidFill>
            <a:ln>
              <a:noFill/>
            </a:ln>
          </p:spPr>
        </p:sp>
        <p:sp>
          <p:nvSpPr>
            <p:cNvPr id="103" name="Freeform 103"/>
            <p:cNvSpPr/>
            <p:nvPr/>
          </p:nvSpPr>
          <p:spPr>
            <a:xfrm>
              <a:off x="4437856" y="5230019"/>
              <a:ext cx="83344" cy="55562"/>
            </a:xfrm>
            <a:custGeom>
              <a:avLst/>
              <a:gdLst/>
              <a:ahLst/>
              <a:cxnLst/>
              <a:rect l="l" t="t" r="r" b="b"/>
              <a:pathLst>
                <a:path w="83344" h="55562">
                  <a:moveTo>
                    <a:pt x="0" y="27781"/>
                  </a:moveTo>
                  <a:lnTo>
                    <a:pt x="27781" y="55562"/>
                  </a:lnTo>
                  <a:lnTo>
                    <a:pt x="83344" y="0"/>
                  </a:lnTo>
                </a:path>
              </a:pathLst>
            </a:custGeom>
            <a:noFill/>
            <a:ln w="11112">
              <a:solidFill>
                <a:srgbClr val="FFFFFF"/>
              </a:solidFill>
            </a:ln>
          </p:spPr>
        </p:sp>
        <p:sp>
          <p:nvSpPr>
            <p:cNvPr id="104" name="TextBox 104"/>
            <p:cNvSpPr txBox="1"/>
            <p:nvPr/>
          </p:nvSpPr>
          <p:spPr>
            <a:xfrm>
              <a:off x="4662488" y="5206841"/>
              <a:ext cx="1779905" cy="333375"/>
            </a:xfrm>
            <a:prstGeom prst="rect">
              <a:avLst/>
            </a:prstGeom>
            <a:noFill/>
            <a:ln>
              <a:noFill/>
            </a:ln>
          </p:spPr>
          <p:txBody>
            <a:bodyPr wrap="none" lIns="0" tIns="0" rIns="0" bIns="0" anchor="t" anchorCtr="0">
              <a:spAutoFit/>
            </a:bodyPr>
            <a:lstStyle/>
            <a:p>
              <a:pPr algn="l">
                <a:lnSpc>
                  <a:spcPts val="1350"/>
                </a:lnSpc>
              </a:pPr>
              <a:r>
                <a:rPr lang="zh-CN" sz="820" b="1" dirty="0">
                  <a:solidFill>
                    <a:srgbClr val="721E0D"/>
                  </a:solidFill>
                  <a:latin typeface="+mn-lt"/>
                  <a:ea typeface="+mn-ea"/>
                  <a:cs typeface="+mn-cs"/>
                </a:rPr>
                <a:t>结论：通过聚焦关键举措与资源保障，</a:t>
              </a:r>
              <a:br/>
              <a:r>
                <a:rPr lang="zh-CN" sz="820" b="1" dirty="0">
                  <a:solidFill>
                    <a:srgbClr val="721E0D"/>
                  </a:solidFill>
                  <a:latin typeface="+mn-lt"/>
                  <a:ea typeface="+mn-ea"/>
                  <a:cs typeface="+mn-cs"/>
                </a:rPr>
                <a:t>下半年可追回大部分差距。</a:t>
              </a:r>
            </a:p>
          </p:txBody>
        </p:sp>
      </p:grpSp>
      <p:grpSp>
        <p:nvGrpSpPr>
          <p:cNvPr id="170" name="q3-card"/>
          <p:cNvGrpSpPr/>
          <p:nvPr/>
        </p:nvGrpSpPr>
        <p:grpSpPr>
          <a:xfrm>
            <a:off x="8153400" y="704850"/>
            <a:ext cx="3810000" cy="4876800"/>
            <a:chOff x="8153400" y="704850"/>
            <a:chExt cx="3810000" cy="4876800"/>
          </a:xfrm>
        </p:grpSpPr>
        <p:sp>
          <p:nvSpPr>
            <p:cNvPr id="106" name="Rectangle 106"/>
            <p:cNvSpPr/>
            <p:nvPr/>
          </p:nvSpPr>
          <p:spPr>
            <a:xfrm>
              <a:off x="8153400" y="704850"/>
              <a:ext cx="3810000" cy="4876800"/>
            </a:xfrm>
            <a:prstGeom prst="roundRect">
              <a:avLst>
                <a:gd name="adj" fmla="val 3000"/>
              </a:avLst>
            </a:prstGeom>
            <a:solidFill>
              <a:srgbClr val="FFFFFF"/>
            </a:solidFill>
            <a:ln w="14288">
              <a:solidFill>
                <a:srgbClr val="C9D6EE"/>
              </a:solidFill>
            </a:ln>
          </p:spPr>
        </p:sp>
        <p:sp>
          <p:nvSpPr>
            <p:cNvPr id="107" name="Freeform 107"/>
            <p:cNvSpPr/>
            <p:nvPr/>
          </p:nvSpPr>
          <p:spPr>
            <a:xfrm>
              <a:off x="8153400" y="704850"/>
              <a:ext cx="3810000" cy="323850"/>
            </a:xfrm>
            <a:custGeom>
              <a:avLst/>
              <a:gdLst/>
              <a:ahLst/>
              <a:cxnLst/>
              <a:rect l="l" t="t" r="r" b="b"/>
              <a:pathLst>
                <a:path w="3810000" h="323850">
                  <a:moveTo>
                    <a:pt x="114300" y="0"/>
                  </a:moveTo>
                  <a:lnTo>
                    <a:pt x="3695700" y="0"/>
                  </a:lnTo>
                  <a:cubicBezTo>
                    <a:pt x="3758826" y="0"/>
                    <a:pt x="3810000" y="51174"/>
                    <a:pt x="3810000" y="114300"/>
                  </a:cubicBezTo>
                  <a:lnTo>
                    <a:pt x="3810000" y="323850"/>
                  </a:lnTo>
                  <a:lnTo>
                    <a:pt x="0" y="323850"/>
                  </a:lnTo>
                  <a:lnTo>
                    <a:pt x="0" y="114300"/>
                  </a:lnTo>
                  <a:cubicBezTo>
                    <a:pt x="0" y="51174"/>
                    <a:pt x="51174" y="0"/>
                    <a:pt x="114300" y="0"/>
                  </a:cubicBezTo>
                  <a:close/>
                </a:path>
              </a:pathLst>
            </a:custGeom>
            <a:solidFill>
              <a:srgbClr val="721E0D"/>
            </a:solidFill>
            <a:ln>
              <a:noFill/>
            </a:ln>
          </p:spPr>
        </p:sp>
        <p:sp>
          <p:nvSpPr>
            <p:cNvPr id="108" name="TextBox 108"/>
            <p:cNvSpPr txBox="1"/>
            <p:nvPr/>
          </p:nvSpPr>
          <p:spPr>
            <a:xfrm>
              <a:off x="9826523" y="80248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问题三</a:t>
              </a:r>
            </a:p>
          </p:txBody>
        </p:sp>
        <p:sp>
          <p:nvSpPr>
            <p:cNvPr id="109" name="TextBox 109"/>
            <p:cNvSpPr txBox="1"/>
            <p:nvPr/>
          </p:nvSpPr>
          <p:spPr>
            <a:xfrm>
              <a:off x="9148039" y="1116806"/>
              <a:ext cx="1820723" cy="220028"/>
            </a:xfrm>
            <a:prstGeom prst="rect">
              <a:avLst/>
            </a:prstGeom>
            <a:noFill/>
            <a:ln>
              <a:noFill/>
            </a:ln>
          </p:spPr>
          <p:txBody>
            <a:bodyPr wrap="none" lIns="0" tIns="0" rIns="0" bIns="0" anchor="t" anchorCtr="0">
              <a:spAutoFit/>
            </a:bodyPr>
            <a:lstStyle/>
            <a:p>
              <a:pPr algn="ctr"/>
              <a:r>
                <a:rPr lang="zh-CN" sz="1120" b="1" dirty="0">
                  <a:solidFill>
                    <a:srgbClr val="721E0D"/>
                  </a:solidFill>
                  <a:latin typeface="+mn-lt"/>
                  <a:ea typeface="+mn-ea"/>
                  <a:cs typeface="+mn-cs"/>
                </a:rPr>
                <a:t>需要什么资源、回报多少？</a:t>
              </a:r>
            </a:p>
          </p:txBody>
        </p:sp>
        <p:sp>
          <p:nvSpPr>
            <p:cNvPr id="110" name="TextBox 110"/>
            <p:cNvSpPr txBox="1"/>
            <p:nvPr/>
          </p:nvSpPr>
          <p:spPr>
            <a:xfrm>
              <a:off x="9690164" y="1445895"/>
              <a:ext cx="736473" cy="176212"/>
            </a:xfrm>
            <a:prstGeom prst="rect">
              <a:avLst/>
            </a:prstGeom>
            <a:noFill/>
            <a:ln>
              <a:noFill/>
            </a:ln>
          </p:spPr>
          <p:txBody>
            <a:bodyPr wrap="none" lIns="0" tIns="0" rIns="0" bIns="0" anchor="t" anchorCtr="0">
              <a:spAutoFit/>
            </a:bodyPr>
            <a:lstStyle/>
            <a:p>
              <a:pPr algn="ctr"/>
              <a:r>
                <a:rPr lang="zh-CN" sz="900" b="1" dirty="0">
                  <a:solidFill>
                    <a:srgbClr val="B8351A"/>
                  </a:solidFill>
                  <a:latin typeface="+mn-lt"/>
                  <a:ea typeface="+mn-ea"/>
                  <a:cs typeface="+mn-cs"/>
                </a:rPr>
                <a:t>三大支撑要素</a:t>
              </a:r>
            </a:p>
          </p:txBody>
        </p:sp>
        <p:sp>
          <p:nvSpPr>
            <p:cNvPr id="111" name="Ellipse 111"/>
            <p:cNvSpPr/>
            <p:nvPr/>
          </p:nvSpPr>
          <p:spPr>
            <a:xfrm>
              <a:off x="8667750" y="1704975"/>
              <a:ext cx="323850" cy="323850"/>
            </a:xfrm>
            <a:prstGeom prst="ellipse">
              <a:avLst/>
            </a:prstGeom>
            <a:solidFill>
              <a:srgbClr val="EAF1FB"/>
            </a:solidFill>
            <a:ln>
              <a:noFill/>
            </a:ln>
          </p:spPr>
        </p:sp>
        <p:grpSp>
          <p:nvGrpSpPr>
            <p:cNvPr id="115" name="Group 115"/>
            <p:cNvGrpSpPr/>
            <p:nvPr/>
          </p:nvGrpSpPr>
          <p:grpSpPr>
            <a:xfrm>
              <a:off x="8772525" y="1802606"/>
              <a:ext cx="114300" cy="128588"/>
              <a:chOff x="8772525" y="1802606"/>
              <a:chExt cx="114300" cy="128588"/>
            </a:xfrm>
          </p:grpSpPr>
          <p:sp>
            <p:nvSpPr>
              <p:cNvPr id="112" name="Freeform 112"/>
              <p:cNvSpPr/>
              <p:nvPr/>
            </p:nvSpPr>
            <p:spPr>
              <a:xfrm>
                <a:off x="8772525" y="1802606"/>
                <a:ext cx="114300" cy="42862"/>
              </a:xfrm>
              <a:custGeom>
                <a:avLst/>
                <a:gdLst/>
                <a:ahLst/>
                <a:cxnLst/>
                <a:rect l="l" t="t" r="r" b="b"/>
                <a:pathLst>
                  <a:path w="114300" h="42862">
                    <a:moveTo>
                      <a:pt x="0" y="21431"/>
                    </a:moveTo>
                    <a:cubicBezTo>
                      <a:pt x="0" y="33267"/>
                      <a:pt x="25587" y="42862"/>
                      <a:pt x="57150" y="42862"/>
                    </a:cubicBezTo>
                    <a:cubicBezTo>
                      <a:pt x="88713" y="42862"/>
                      <a:pt x="114300" y="33267"/>
                      <a:pt x="114300" y="21431"/>
                    </a:cubicBezTo>
                    <a:cubicBezTo>
                      <a:pt x="114300" y="9595"/>
                      <a:pt x="88713" y="0"/>
                      <a:pt x="57150" y="0"/>
                    </a:cubicBezTo>
                    <a:cubicBezTo>
                      <a:pt x="25587" y="0"/>
                      <a:pt x="0" y="9595"/>
                      <a:pt x="0" y="21431"/>
                    </a:cubicBezTo>
                  </a:path>
                </a:pathLst>
              </a:custGeom>
              <a:noFill/>
              <a:ln w="14288">
                <a:solidFill>
                  <a:srgbClr val="B8351A"/>
                </a:solidFill>
              </a:ln>
            </p:spPr>
          </p:sp>
          <p:sp>
            <p:nvSpPr>
              <p:cNvPr id="113" name="Freeform 113"/>
              <p:cNvSpPr/>
              <p:nvPr/>
            </p:nvSpPr>
            <p:spPr>
              <a:xfrm>
                <a:off x="8772525" y="1824038"/>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B8351A"/>
                </a:solidFill>
              </a:ln>
            </p:spPr>
          </p:sp>
          <p:sp>
            <p:nvSpPr>
              <p:cNvPr id="114" name="Freeform 114"/>
              <p:cNvSpPr/>
              <p:nvPr/>
            </p:nvSpPr>
            <p:spPr>
              <a:xfrm>
                <a:off x="8772525" y="1866900"/>
                <a:ext cx="114300" cy="64294"/>
              </a:xfrm>
              <a:custGeom>
                <a:avLst/>
                <a:gdLst/>
                <a:ahLst/>
                <a:cxnLst/>
                <a:rect l="l" t="t" r="r" b="b"/>
                <a:pathLst>
                  <a:path w="114300" h="64294">
                    <a:moveTo>
                      <a:pt x="0" y="0"/>
                    </a:moveTo>
                    <a:lnTo>
                      <a:pt x="0" y="42862"/>
                    </a:lnTo>
                    <a:cubicBezTo>
                      <a:pt x="0" y="54699"/>
                      <a:pt x="25587" y="64294"/>
                      <a:pt x="57150" y="64294"/>
                    </a:cubicBezTo>
                    <a:cubicBezTo>
                      <a:pt x="88713" y="64294"/>
                      <a:pt x="114300" y="54699"/>
                      <a:pt x="114300" y="42862"/>
                    </a:cubicBezTo>
                    <a:lnTo>
                      <a:pt x="114300" y="0"/>
                    </a:lnTo>
                  </a:path>
                </a:pathLst>
              </a:custGeom>
              <a:noFill/>
              <a:ln w="14288">
                <a:solidFill>
                  <a:srgbClr val="B8351A"/>
                </a:solidFill>
              </a:ln>
            </p:spPr>
          </p:sp>
        </p:grpSp>
        <p:sp>
          <p:nvSpPr>
            <p:cNvPr id="116" name="TextBox 116"/>
            <p:cNvSpPr txBox="1"/>
            <p:nvPr/>
          </p:nvSpPr>
          <p:spPr>
            <a:xfrm>
              <a:off x="8698370" y="2108597"/>
              <a:ext cx="262611"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数据</a:t>
              </a:r>
            </a:p>
          </p:txBody>
        </p:sp>
        <p:sp>
          <p:nvSpPr>
            <p:cNvPr id="117" name="TextBox 117"/>
            <p:cNvSpPr txBox="1"/>
            <p:nvPr/>
          </p:nvSpPr>
          <p:spPr>
            <a:xfrm>
              <a:off x="8490382" y="2294811"/>
              <a:ext cx="678586"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看得清、算得准</a:t>
              </a:r>
            </a:p>
          </p:txBody>
        </p:sp>
        <p:sp>
          <p:nvSpPr>
            <p:cNvPr id="118" name="TextBox 118"/>
            <p:cNvSpPr txBox="1"/>
            <p:nvPr/>
          </p:nvSpPr>
          <p:spPr>
            <a:xfrm>
              <a:off x="8415338" y="2517934"/>
              <a:ext cx="634975" cy="133350"/>
            </a:xfrm>
            <a:prstGeom prst="rect">
              <a:avLst/>
            </a:prstGeom>
            <a:noFill/>
            <a:ln>
              <a:noFill/>
            </a:ln>
          </p:spPr>
          <p:txBody>
            <a:bodyPr wrap="none" lIns="0" tIns="0" rIns="0" bIns="0" anchor="t" anchorCtr="0">
              <a:spAutoFit/>
            </a:bodyPr>
            <a:lstStyle/>
            <a:p>
              <a:pPr algn="l" marL="76200" indent="-76200">
                <a:buClr>
                  <a:srgbClr val="523E3A"/>
                </a:buClr>
                <a:buSzTx/>
                <a:buFontTx/>
                <a:buChar char="•"/>
              </a:pPr>
              <a:r>
                <a:rPr lang="zh-CN" sz="680" dirty="0">
                  <a:solidFill>
                    <a:srgbClr val="523E3A"/>
                  </a:solidFill>
                  <a:latin typeface="+mn-lt"/>
                  <a:ea typeface="+mn-ea"/>
                  <a:cs typeface="+mn-cs"/>
                </a:rPr>
                <a:t>关键数据看板</a:t>
              </a:r>
            </a:p>
          </p:txBody>
        </p:sp>
        <p:sp>
          <p:nvSpPr>
            <p:cNvPr id="119" name="TextBox 119"/>
            <p:cNvSpPr txBox="1"/>
            <p:nvPr/>
          </p:nvSpPr>
          <p:spPr>
            <a:xfrm>
              <a:off x="8415338" y="2679859"/>
              <a:ext cx="726516" cy="133350"/>
            </a:xfrm>
            <a:prstGeom prst="rect">
              <a:avLst/>
            </a:prstGeom>
            <a:noFill/>
            <a:ln>
              <a:noFill/>
            </a:ln>
          </p:spPr>
          <p:txBody>
            <a:bodyPr wrap="none" lIns="0" tIns="0" rIns="0" bIns="0" anchor="t" anchorCtr="0">
              <a:spAutoFit/>
            </a:bodyPr>
            <a:lstStyle/>
            <a:p>
              <a:pPr algn="l" marL="76200" indent="-76200">
                <a:buClr>
                  <a:srgbClr val="523E3A"/>
                </a:buClr>
                <a:buSzTx/>
                <a:buFontTx/>
                <a:buChar char="•"/>
              </a:pPr>
              <a:r>
                <a:rPr lang="zh-CN" sz="680" dirty="0">
                  <a:solidFill>
                    <a:srgbClr val="523E3A"/>
                  </a:solidFill>
                  <a:latin typeface="+mn-lt"/>
                  <a:ea typeface="+mn-ea"/>
                  <a:cs typeface="+mn-cs"/>
                </a:rPr>
                <a:t>预测与预警模型</a:t>
              </a:r>
            </a:p>
          </p:txBody>
        </p:sp>
        <p:sp>
          <p:nvSpPr>
            <p:cNvPr id="120" name="TextBox 120"/>
            <p:cNvSpPr txBox="1"/>
            <p:nvPr/>
          </p:nvSpPr>
          <p:spPr>
            <a:xfrm>
              <a:off x="8415338" y="2841784"/>
              <a:ext cx="634975" cy="133350"/>
            </a:xfrm>
            <a:prstGeom prst="rect">
              <a:avLst/>
            </a:prstGeom>
            <a:noFill/>
            <a:ln>
              <a:noFill/>
            </a:ln>
          </p:spPr>
          <p:txBody>
            <a:bodyPr wrap="none" lIns="0" tIns="0" rIns="0" bIns="0" anchor="t" anchorCtr="0">
              <a:spAutoFit/>
            </a:bodyPr>
            <a:lstStyle/>
            <a:p>
              <a:pPr algn="l" marL="76200" indent="-76200">
                <a:buClr>
                  <a:srgbClr val="523E3A"/>
                </a:buClr>
                <a:buSzTx/>
                <a:buFontTx/>
                <a:buChar char="•"/>
              </a:pPr>
              <a:r>
                <a:rPr lang="zh-CN" sz="680" dirty="0">
                  <a:solidFill>
                    <a:srgbClr val="523E3A"/>
                  </a:solidFill>
                  <a:latin typeface="+mn-lt"/>
                  <a:ea typeface="+mn-ea"/>
                  <a:cs typeface="+mn-cs"/>
                </a:rPr>
                <a:t>经营分析体系</a:t>
              </a:r>
            </a:p>
          </p:txBody>
        </p:sp>
        <p:sp>
          <p:nvSpPr>
            <p:cNvPr id="121" name="Rectangle 121"/>
            <p:cNvSpPr/>
            <p:nvPr/>
          </p:nvSpPr>
          <p:spPr>
            <a:xfrm>
              <a:off x="8267700" y="3028950"/>
              <a:ext cx="1123950" cy="533400"/>
            </a:xfrm>
            <a:prstGeom prst="roundRect">
              <a:avLst>
                <a:gd name="adj" fmla="val 10714"/>
              </a:avLst>
            </a:prstGeom>
            <a:solidFill>
              <a:srgbClr val="EAF1FB"/>
            </a:solidFill>
            <a:ln>
              <a:noFill/>
            </a:ln>
          </p:spPr>
        </p:sp>
        <p:sp>
          <p:nvSpPr>
            <p:cNvPr id="122" name="TextBox 122"/>
            <p:cNvSpPr txBox="1"/>
            <p:nvPr/>
          </p:nvSpPr>
          <p:spPr>
            <a:xfrm>
              <a:off x="8633752" y="3161586"/>
              <a:ext cx="39184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价值回报</a:t>
              </a:r>
            </a:p>
          </p:txBody>
        </p:sp>
        <p:sp>
          <p:nvSpPr>
            <p:cNvPr id="123" name="TextBox 123"/>
            <p:cNvSpPr txBox="1"/>
            <p:nvPr/>
          </p:nvSpPr>
          <p:spPr>
            <a:xfrm>
              <a:off x="8609520" y="3322082"/>
              <a:ext cx="440309"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决策更精准</a:t>
              </a:r>
            </a:p>
          </p:txBody>
        </p:sp>
        <p:sp>
          <p:nvSpPr>
            <p:cNvPr id="124" name="TextBox 124"/>
            <p:cNvSpPr txBox="1"/>
            <p:nvPr/>
          </p:nvSpPr>
          <p:spPr>
            <a:xfrm>
              <a:off x="8566442" y="3445907"/>
              <a:ext cx="526466"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减少试错成本</a:t>
              </a:r>
            </a:p>
          </p:txBody>
        </p:sp>
        <p:sp>
          <p:nvSpPr>
            <p:cNvPr id="125" name="Ellipse 125"/>
            <p:cNvSpPr/>
            <p:nvPr/>
          </p:nvSpPr>
          <p:spPr>
            <a:xfrm>
              <a:off x="9896475" y="1704975"/>
              <a:ext cx="323850" cy="323850"/>
            </a:xfrm>
            <a:prstGeom prst="ellipse">
              <a:avLst/>
            </a:prstGeom>
            <a:solidFill>
              <a:srgbClr val="EAF1FB"/>
            </a:solidFill>
            <a:ln>
              <a:noFill/>
            </a:ln>
          </p:spPr>
        </p:sp>
        <p:grpSp>
          <p:nvGrpSpPr>
            <p:cNvPr id="129" name="Group 129"/>
            <p:cNvGrpSpPr/>
            <p:nvPr/>
          </p:nvGrpSpPr>
          <p:grpSpPr>
            <a:xfrm>
              <a:off x="9994106" y="1802606"/>
              <a:ext cx="128588" cy="128588"/>
              <a:chOff x="9994106" y="1802606"/>
              <a:chExt cx="128588" cy="128588"/>
            </a:xfrm>
          </p:grpSpPr>
          <p:sp>
            <p:nvSpPr>
              <p:cNvPr id="126" name="Freeform 126"/>
              <p:cNvSpPr/>
              <p:nvPr/>
            </p:nvSpPr>
            <p:spPr>
              <a:xfrm>
                <a:off x="9994106" y="190261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B8351A"/>
                </a:solidFill>
              </a:ln>
            </p:spPr>
          </p:sp>
          <p:sp>
            <p:nvSpPr>
              <p:cNvPr id="127" name="Freeform 127"/>
              <p:cNvSpPr/>
              <p:nvPr/>
            </p:nvSpPr>
            <p:spPr>
              <a:xfrm>
                <a:off x="10094119" y="1802606"/>
                <a:ext cx="28575" cy="28575"/>
              </a:xfrm>
              <a:custGeom>
                <a:avLst/>
                <a:gdLst/>
                <a:ahLst/>
                <a:cxnLst/>
                <a:rect l="l" t="t" r="r" b="b"/>
                <a:pathLst>
                  <a:path w="28575" h="28575">
                    <a:moveTo>
                      <a:pt x="14288" y="28575"/>
                    </a:moveTo>
                    <a:cubicBezTo>
                      <a:pt x="22178" y="28575"/>
                      <a:pt x="28575" y="22178"/>
                      <a:pt x="28575" y="14288"/>
                    </a:cubicBezTo>
                    <a:cubicBezTo>
                      <a:pt x="28575" y="6397"/>
                      <a:pt x="22178" y="0"/>
                      <a:pt x="14288" y="0"/>
                    </a:cubicBezTo>
                    <a:cubicBezTo>
                      <a:pt x="6397" y="0"/>
                      <a:pt x="0" y="6397"/>
                      <a:pt x="0" y="14288"/>
                    </a:cubicBezTo>
                    <a:cubicBezTo>
                      <a:pt x="0" y="22178"/>
                      <a:pt x="6397" y="28575"/>
                      <a:pt x="14288" y="28575"/>
                    </a:cubicBezTo>
                  </a:path>
                </a:pathLst>
              </a:custGeom>
              <a:noFill/>
              <a:ln w="14288">
                <a:solidFill>
                  <a:srgbClr val="B8351A"/>
                </a:solidFill>
              </a:ln>
            </p:spPr>
          </p:sp>
          <p:sp>
            <p:nvSpPr>
              <p:cNvPr id="128" name="Freeform 128"/>
              <p:cNvSpPr/>
              <p:nvPr/>
            </p:nvSpPr>
            <p:spPr>
              <a:xfrm>
                <a:off x="10008394" y="1816894"/>
                <a:ext cx="107156" cy="100012"/>
              </a:xfrm>
              <a:custGeom>
                <a:avLst/>
                <a:gdLst/>
                <a:ahLst/>
                <a:cxnLst/>
                <a:rect l="l" t="t" r="r" b="b"/>
                <a:pathLst>
                  <a:path w="107156" h="100012">
                    <a:moveTo>
                      <a:pt x="42862" y="100012"/>
                    </a:moveTo>
                    <a:lnTo>
                      <a:pt x="82153" y="100012"/>
                    </a:lnTo>
                    <a:cubicBezTo>
                      <a:pt x="95962" y="100012"/>
                      <a:pt x="107156" y="88818"/>
                      <a:pt x="107156" y="75009"/>
                    </a:cubicBezTo>
                    <a:cubicBezTo>
                      <a:pt x="107156" y="61201"/>
                      <a:pt x="95962" y="50006"/>
                      <a:pt x="82153" y="50006"/>
                    </a:cubicBezTo>
                    <a:lnTo>
                      <a:pt x="25003" y="50006"/>
                    </a:lnTo>
                    <a:cubicBezTo>
                      <a:pt x="11194" y="50006"/>
                      <a:pt x="0" y="38812"/>
                      <a:pt x="0" y="25003"/>
                    </a:cubicBezTo>
                    <a:cubicBezTo>
                      <a:pt x="0" y="11194"/>
                      <a:pt x="11194" y="0"/>
                      <a:pt x="25003" y="0"/>
                    </a:cubicBezTo>
                    <a:lnTo>
                      <a:pt x="57150" y="0"/>
                    </a:lnTo>
                  </a:path>
                </a:pathLst>
              </a:custGeom>
              <a:noFill/>
              <a:ln w="14288">
                <a:solidFill>
                  <a:srgbClr val="B8351A"/>
                </a:solidFill>
              </a:ln>
            </p:spPr>
          </p:sp>
        </p:grpSp>
        <p:sp>
          <p:nvSpPr>
            <p:cNvPr id="130" name="TextBox 130"/>
            <p:cNvSpPr txBox="1"/>
            <p:nvPr/>
          </p:nvSpPr>
          <p:spPr>
            <a:xfrm>
              <a:off x="9927095" y="2108597"/>
              <a:ext cx="262611"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路径</a:t>
              </a:r>
            </a:p>
          </p:txBody>
        </p:sp>
        <p:sp>
          <p:nvSpPr>
            <p:cNvPr id="131" name="TextBox 131"/>
            <p:cNvSpPr txBox="1"/>
            <p:nvPr/>
          </p:nvSpPr>
          <p:spPr>
            <a:xfrm>
              <a:off x="9719107" y="2294811"/>
              <a:ext cx="678586"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方向对、方法优</a:t>
              </a:r>
            </a:p>
          </p:txBody>
        </p:sp>
        <p:sp>
          <p:nvSpPr>
            <p:cNvPr id="132" name="TextBox 132"/>
            <p:cNvSpPr txBox="1"/>
            <p:nvPr/>
          </p:nvSpPr>
          <p:spPr>
            <a:xfrm>
              <a:off x="9644062" y="2517934"/>
              <a:ext cx="634975" cy="133350"/>
            </a:xfrm>
            <a:prstGeom prst="rect">
              <a:avLst/>
            </a:prstGeom>
            <a:noFill/>
            <a:ln>
              <a:noFill/>
            </a:ln>
          </p:spPr>
          <p:txBody>
            <a:bodyPr wrap="none" lIns="0" tIns="0" rIns="0" bIns="0" anchor="t" anchorCtr="0">
              <a:spAutoFit/>
            </a:bodyPr>
            <a:lstStyle/>
            <a:p>
              <a:pPr algn="l" marL="76200" indent="-76200">
                <a:buClr>
                  <a:srgbClr val="523E3A"/>
                </a:buClr>
                <a:buSzTx/>
                <a:buFontTx/>
                <a:buChar char="•"/>
              </a:pPr>
              <a:r>
                <a:rPr lang="zh-CN" sz="680" dirty="0">
                  <a:solidFill>
                    <a:srgbClr val="523E3A"/>
                  </a:solidFill>
                  <a:latin typeface="+mn-lt"/>
                  <a:ea typeface="+mn-ea"/>
                  <a:cs typeface="+mn-cs"/>
                </a:rPr>
                <a:t>关键举措清单</a:t>
              </a:r>
            </a:p>
          </p:txBody>
        </p:sp>
        <p:sp>
          <p:nvSpPr>
            <p:cNvPr id="133" name="TextBox 133"/>
            <p:cNvSpPr txBox="1"/>
            <p:nvPr/>
          </p:nvSpPr>
          <p:spPr>
            <a:xfrm>
              <a:off x="9644062" y="2679859"/>
              <a:ext cx="634975" cy="133350"/>
            </a:xfrm>
            <a:prstGeom prst="rect">
              <a:avLst/>
            </a:prstGeom>
            <a:noFill/>
            <a:ln>
              <a:noFill/>
            </a:ln>
          </p:spPr>
          <p:txBody>
            <a:bodyPr wrap="none" lIns="0" tIns="0" rIns="0" bIns="0" anchor="t" anchorCtr="0">
              <a:spAutoFit/>
            </a:bodyPr>
            <a:lstStyle/>
            <a:p>
              <a:pPr algn="l" marL="76200" indent="-76200">
                <a:buClr>
                  <a:srgbClr val="523E3A"/>
                </a:buClr>
                <a:buSzTx/>
                <a:buFontTx/>
                <a:buChar char="•"/>
              </a:pPr>
              <a:r>
                <a:rPr lang="zh-CN" sz="680" dirty="0">
                  <a:solidFill>
                    <a:srgbClr val="523E3A"/>
                  </a:solidFill>
                  <a:latin typeface="+mn-lt"/>
                  <a:ea typeface="+mn-ea"/>
                  <a:cs typeface="+mn-cs"/>
                </a:rPr>
                <a:t>里程碑与节奏</a:t>
              </a:r>
            </a:p>
          </p:txBody>
        </p:sp>
        <p:sp>
          <p:nvSpPr>
            <p:cNvPr id="134" name="TextBox 134"/>
            <p:cNvSpPr txBox="1"/>
            <p:nvPr/>
          </p:nvSpPr>
          <p:spPr>
            <a:xfrm>
              <a:off x="9644062" y="2841784"/>
              <a:ext cx="543433" cy="133350"/>
            </a:xfrm>
            <a:prstGeom prst="rect">
              <a:avLst/>
            </a:prstGeom>
            <a:noFill/>
            <a:ln>
              <a:noFill/>
            </a:ln>
          </p:spPr>
          <p:txBody>
            <a:bodyPr wrap="none" lIns="0" tIns="0" rIns="0" bIns="0" anchor="t" anchorCtr="0">
              <a:spAutoFit/>
            </a:bodyPr>
            <a:lstStyle/>
            <a:p>
              <a:pPr algn="l" marL="76200" indent="-76200">
                <a:buClr>
                  <a:srgbClr val="523E3A"/>
                </a:buClr>
                <a:buSzTx/>
                <a:buFontTx/>
                <a:buChar char="•"/>
              </a:pPr>
              <a:r>
                <a:rPr lang="zh-CN" sz="680" dirty="0">
                  <a:solidFill>
                    <a:srgbClr val="523E3A"/>
                  </a:solidFill>
                  <a:latin typeface="+mn-lt"/>
                  <a:ea typeface="+mn-ea"/>
                  <a:cs typeface="+mn-cs"/>
                </a:rPr>
                <a:t>标准化流程</a:t>
              </a:r>
            </a:p>
          </p:txBody>
        </p:sp>
        <p:sp>
          <p:nvSpPr>
            <p:cNvPr id="135" name="Rectangle 135"/>
            <p:cNvSpPr/>
            <p:nvPr/>
          </p:nvSpPr>
          <p:spPr>
            <a:xfrm>
              <a:off x="9496425" y="3028950"/>
              <a:ext cx="1123950" cy="533400"/>
            </a:xfrm>
            <a:prstGeom prst="roundRect">
              <a:avLst>
                <a:gd name="adj" fmla="val 10714"/>
              </a:avLst>
            </a:prstGeom>
            <a:solidFill>
              <a:srgbClr val="EAF1FB"/>
            </a:solidFill>
            <a:ln>
              <a:noFill/>
            </a:ln>
          </p:spPr>
        </p:sp>
        <p:sp>
          <p:nvSpPr>
            <p:cNvPr id="136" name="TextBox 136"/>
            <p:cNvSpPr txBox="1"/>
            <p:nvPr/>
          </p:nvSpPr>
          <p:spPr>
            <a:xfrm>
              <a:off x="9862477" y="3161586"/>
              <a:ext cx="39184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价值回报</a:t>
              </a:r>
            </a:p>
          </p:txBody>
        </p:sp>
        <p:sp>
          <p:nvSpPr>
            <p:cNvPr id="137" name="TextBox 137"/>
            <p:cNvSpPr txBox="1"/>
            <p:nvPr/>
          </p:nvSpPr>
          <p:spPr>
            <a:xfrm>
              <a:off x="9838246" y="3322082"/>
              <a:ext cx="440309"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执行更高效</a:t>
              </a:r>
            </a:p>
          </p:txBody>
        </p:sp>
        <p:sp>
          <p:nvSpPr>
            <p:cNvPr id="138" name="TextBox 138"/>
            <p:cNvSpPr txBox="1"/>
            <p:nvPr/>
          </p:nvSpPr>
          <p:spPr>
            <a:xfrm>
              <a:off x="9795167" y="3445907"/>
              <a:ext cx="526466"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缩短达成时间</a:t>
              </a:r>
            </a:p>
          </p:txBody>
        </p:sp>
        <p:sp>
          <p:nvSpPr>
            <p:cNvPr id="139" name="Ellipse 139"/>
            <p:cNvSpPr/>
            <p:nvPr/>
          </p:nvSpPr>
          <p:spPr>
            <a:xfrm>
              <a:off x="11125200" y="1704975"/>
              <a:ext cx="323850" cy="323850"/>
            </a:xfrm>
            <a:prstGeom prst="ellipse">
              <a:avLst/>
            </a:prstGeom>
            <a:solidFill>
              <a:srgbClr val="EAF1FB"/>
            </a:solidFill>
            <a:ln>
              <a:noFill/>
            </a:ln>
          </p:spPr>
        </p:sp>
        <p:grpSp>
          <p:nvGrpSpPr>
            <p:cNvPr id="145" name="Group 145"/>
            <p:cNvGrpSpPr/>
            <p:nvPr/>
          </p:nvGrpSpPr>
          <p:grpSpPr>
            <a:xfrm>
              <a:off x="11222831" y="1801649"/>
              <a:ext cx="128588" cy="129545"/>
              <a:chOff x="11222831" y="1801649"/>
              <a:chExt cx="128588" cy="129545"/>
            </a:xfrm>
          </p:grpSpPr>
          <p:sp>
            <p:nvSpPr>
              <p:cNvPr id="140" name="Freeform 140"/>
              <p:cNvSpPr/>
              <p:nvPr/>
            </p:nvSpPr>
            <p:spPr>
              <a:xfrm>
                <a:off x="11265694" y="1859756"/>
                <a:ext cx="85725" cy="42862"/>
              </a:xfrm>
              <a:custGeom>
                <a:avLst/>
                <a:gdLst/>
                <a:ahLst/>
                <a:cxnLst/>
                <a:rect l="l" t="t" r="r" b="b"/>
                <a:pathLst>
                  <a:path w="85725" h="42862">
                    <a:moveTo>
                      <a:pt x="0" y="21431"/>
                    </a:moveTo>
                    <a:cubicBezTo>
                      <a:pt x="0" y="33268"/>
                      <a:pt x="19188" y="42862"/>
                      <a:pt x="42862" y="42862"/>
                    </a:cubicBezTo>
                    <a:cubicBezTo>
                      <a:pt x="66537" y="42862"/>
                      <a:pt x="85725" y="33268"/>
                      <a:pt x="85725" y="21431"/>
                    </a:cubicBezTo>
                    <a:cubicBezTo>
                      <a:pt x="85725" y="9594"/>
                      <a:pt x="66537" y="0"/>
                      <a:pt x="42862" y="0"/>
                    </a:cubicBezTo>
                    <a:cubicBezTo>
                      <a:pt x="19188" y="0"/>
                      <a:pt x="0" y="9594"/>
                      <a:pt x="0" y="21431"/>
                    </a:cubicBezTo>
                  </a:path>
                </a:pathLst>
              </a:custGeom>
              <a:noFill/>
              <a:ln w="14288">
                <a:solidFill>
                  <a:srgbClr val="B8351A"/>
                </a:solidFill>
              </a:ln>
            </p:spPr>
          </p:sp>
          <p:sp>
            <p:nvSpPr>
              <p:cNvPr id="141" name="Freeform 141"/>
              <p:cNvSpPr/>
              <p:nvPr/>
            </p:nvSpPr>
            <p:spPr>
              <a:xfrm>
                <a:off x="11265694" y="1881188"/>
                <a:ext cx="85725" cy="50006"/>
              </a:xfrm>
              <a:custGeom>
                <a:avLst/>
                <a:gdLst/>
                <a:ahLst/>
                <a:cxnLst/>
                <a:rect l="l" t="t" r="r" b="b"/>
                <a:pathLst>
                  <a:path w="85725" h="50006">
                    <a:moveTo>
                      <a:pt x="0" y="0"/>
                    </a:moveTo>
                    <a:lnTo>
                      <a:pt x="0" y="28575"/>
                    </a:lnTo>
                    <a:cubicBezTo>
                      <a:pt x="0" y="40405"/>
                      <a:pt x="19188" y="50006"/>
                      <a:pt x="42862" y="50006"/>
                    </a:cubicBezTo>
                    <a:cubicBezTo>
                      <a:pt x="66537" y="50006"/>
                      <a:pt x="85725" y="40405"/>
                      <a:pt x="85725" y="28575"/>
                    </a:cubicBezTo>
                    <a:lnTo>
                      <a:pt x="85725" y="0"/>
                    </a:lnTo>
                  </a:path>
                </a:pathLst>
              </a:custGeom>
              <a:noFill/>
              <a:ln w="14288">
                <a:solidFill>
                  <a:srgbClr val="B8351A"/>
                </a:solidFill>
              </a:ln>
            </p:spPr>
          </p:sp>
          <p:sp>
            <p:nvSpPr>
              <p:cNvPr id="142" name="Freeform 142"/>
              <p:cNvSpPr/>
              <p:nvPr/>
            </p:nvSpPr>
            <p:spPr>
              <a:xfrm>
                <a:off x="11222831" y="1801649"/>
                <a:ext cx="85725" cy="44777"/>
              </a:xfrm>
              <a:custGeom>
                <a:avLst/>
                <a:gdLst/>
                <a:ahLst/>
                <a:cxnLst/>
                <a:rect l="l" t="t" r="r" b="b"/>
                <a:pathLst>
                  <a:path w="85725" h="44777">
                    <a:moveTo>
                      <a:pt x="0" y="22389"/>
                    </a:moveTo>
                    <a:cubicBezTo>
                      <a:pt x="0" y="30047"/>
                      <a:pt x="8172" y="37119"/>
                      <a:pt x="21431" y="40948"/>
                    </a:cubicBezTo>
                    <a:cubicBezTo>
                      <a:pt x="34690" y="44777"/>
                      <a:pt x="51035" y="44777"/>
                      <a:pt x="64294" y="40948"/>
                    </a:cubicBezTo>
                    <a:cubicBezTo>
                      <a:pt x="77553" y="37119"/>
                      <a:pt x="85725" y="30047"/>
                      <a:pt x="85725" y="22389"/>
                    </a:cubicBezTo>
                    <a:cubicBezTo>
                      <a:pt x="85725" y="14730"/>
                      <a:pt x="77553" y="7658"/>
                      <a:pt x="64294" y="3829"/>
                    </a:cubicBezTo>
                    <a:cubicBezTo>
                      <a:pt x="51035" y="0"/>
                      <a:pt x="34690" y="0"/>
                      <a:pt x="21431" y="3829"/>
                    </a:cubicBezTo>
                    <a:cubicBezTo>
                      <a:pt x="8172" y="7658"/>
                      <a:pt x="0" y="14730"/>
                      <a:pt x="0" y="22389"/>
                    </a:cubicBezTo>
                  </a:path>
                </a:pathLst>
              </a:custGeom>
              <a:noFill/>
              <a:ln w="14288">
                <a:solidFill>
                  <a:srgbClr val="B8351A"/>
                </a:solidFill>
              </a:ln>
            </p:spPr>
          </p:sp>
          <p:sp>
            <p:nvSpPr>
              <p:cNvPr id="143" name="Freeform 143"/>
              <p:cNvSpPr/>
              <p:nvPr/>
            </p:nvSpPr>
            <p:spPr>
              <a:xfrm>
                <a:off x="11222831" y="1824038"/>
                <a:ext cx="14288" cy="85725"/>
              </a:xfrm>
              <a:custGeom>
                <a:avLst/>
                <a:gdLst/>
                <a:ahLst/>
                <a:cxnLst/>
                <a:rect l="l" t="t" r="r" b="b"/>
                <a:pathLst>
                  <a:path w="14288" h="85725">
                    <a:moveTo>
                      <a:pt x="0" y="0"/>
                    </a:moveTo>
                    <a:lnTo>
                      <a:pt x="0" y="71438"/>
                    </a:lnTo>
                    <a:cubicBezTo>
                      <a:pt x="0" y="77781"/>
                      <a:pt x="5515" y="81796"/>
                      <a:pt x="14288" y="85725"/>
                    </a:cubicBezTo>
                  </a:path>
                </a:pathLst>
              </a:custGeom>
              <a:noFill/>
              <a:ln w="14288">
                <a:solidFill>
                  <a:srgbClr val="B8351A"/>
                </a:solidFill>
              </a:ln>
            </p:spPr>
          </p:sp>
          <p:sp>
            <p:nvSpPr>
              <p:cNvPr id="144" name="Freeform 144"/>
              <p:cNvSpPr/>
              <p:nvPr/>
            </p:nvSpPr>
            <p:spPr>
              <a:xfrm>
                <a:off x="11222831" y="1859756"/>
                <a:ext cx="14288" cy="14288"/>
              </a:xfrm>
              <a:custGeom>
                <a:avLst/>
                <a:gdLst/>
                <a:ahLst/>
                <a:cxnLst/>
                <a:rect l="l" t="t" r="r" b="b"/>
                <a:pathLst>
                  <a:path w="14288" h="14288">
                    <a:moveTo>
                      <a:pt x="0" y="0"/>
                    </a:moveTo>
                    <a:cubicBezTo>
                      <a:pt x="0" y="6344"/>
                      <a:pt x="5515" y="10358"/>
                      <a:pt x="14288" y="14288"/>
                    </a:cubicBezTo>
                  </a:path>
                </a:pathLst>
              </a:custGeom>
              <a:noFill/>
              <a:ln w="14288">
                <a:solidFill>
                  <a:srgbClr val="B8351A"/>
                </a:solidFill>
              </a:ln>
            </p:spPr>
          </p:sp>
        </p:grpSp>
        <p:sp>
          <p:nvSpPr>
            <p:cNvPr id="146" name="TextBox 146"/>
            <p:cNvSpPr txBox="1"/>
            <p:nvPr/>
          </p:nvSpPr>
          <p:spPr>
            <a:xfrm>
              <a:off x="11155820" y="2108597"/>
              <a:ext cx="262611"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资源</a:t>
              </a:r>
            </a:p>
          </p:txBody>
        </p:sp>
        <p:sp>
          <p:nvSpPr>
            <p:cNvPr id="147" name="TextBox 147"/>
            <p:cNvSpPr txBox="1"/>
            <p:nvPr/>
          </p:nvSpPr>
          <p:spPr>
            <a:xfrm>
              <a:off x="10947832" y="2294811"/>
              <a:ext cx="678586"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保障足、协同强</a:t>
              </a:r>
            </a:p>
          </p:txBody>
        </p:sp>
        <p:sp>
          <p:nvSpPr>
            <p:cNvPr id="148" name="TextBox 148"/>
            <p:cNvSpPr txBox="1"/>
            <p:nvPr/>
          </p:nvSpPr>
          <p:spPr>
            <a:xfrm>
              <a:off x="10872788" y="2517934"/>
              <a:ext cx="634975" cy="133350"/>
            </a:xfrm>
            <a:prstGeom prst="rect">
              <a:avLst/>
            </a:prstGeom>
            <a:noFill/>
            <a:ln>
              <a:noFill/>
            </a:ln>
          </p:spPr>
          <p:txBody>
            <a:bodyPr wrap="none" lIns="0" tIns="0" rIns="0" bIns="0" anchor="t" anchorCtr="0">
              <a:spAutoFit/>
            </a:bodyPr>
            <a:lstStyle/>
            <a:p>
              <a:pPr algn="l" marL="76200" indent="-76200">
                <a:buClr>
                  <a:srgbClr val="523E3A"/>
                </a:buClr>
                <a:buSzTx/>
                <a:buFontTx/>
                <a:buChar char="•"/>
              </a:pPr>
              <a:r>
                <a:rPr lang="zh-CN" sz="680" dirty="0">
                  <a:solidFill>
                    <a:srgbClr val="523E3A"/>
                  </a:solidFill>
                  <a:latin typeface="+mn-lt"/>
                  <a:ea typeface="+mn-ea"/>
                  <a:cs typeface="+mn-cs"/>
                </a:rPr>
                <a:t>人力配置支持</a:t>
              </a:r>
            </a:p>
          </p:txBody>
        </p:sp>
        <p:sp>
          <p:nvSpPr>
            <p:cNvPr id="149" name="TextBox 149"/>
            <p:cNvSpPr txBox="1"/>
            <p:nvPr/>
          </p:nvSpPr>
          <p:spPr>
            <a:xfrm>
              <a:off x="10872788" y="2679859"/>
              <a:ext cx="726516" cy="133350"/>
            </a:xfrm>
            <a:prstGeom prst="rect">
              <a:avLst/>
            </a:prstGeom>
            <a:noFill/>
            <a:ln>
              <a:noFill/>
            </a:ln>
          </p:spPr>
          <p:txBody>
            <a:bodyPr wrap="none" lIns="0" tIns="0" rIns="0" bIns="0" anchor="t" anchorCtr="0">
              <a:spAutoFit/>
            </a:bodyPr>
            <a:lstStyle/>
            <a:p>
              <a:pPr algn="l" marL="76200" indent="-76200">
                <a:buClr>
                  <a:srgbClr val="523E3A"/>
                </a:buClr>
                <a:buSzTx/>
                <a:buFontTx/>
                <a:buChar char="•"/>
              </a:pPr>
              <a:r>
                <a:rPr lang="zh-CN" sz="680" dirty="0">
                  <a:solidFill>
                    <a:srgbClr val="523E3A"/>
                  </a:solidFill>
                  <a:latin typeface="+mn-lt"/>
                  <a:ea typeface="+mn-ea"/>
                  <a:cs typeface="+mn-cs"/>
                </a:rPr>
                <a:t>预算与资金保障</a:t>
              </a:r>
            </a:p>
          </p:txBody>
        </p:sp>
        <p:sp>
          <p:nvSpPr>
            <p:cNvPr id="150" name="TextBox 150"/>
            <p:cNvSpPr txBox="1"/>
            <p:nvPr/>
          </p:nvSpPr>
          <p:spPr>
            <a:xfrm>
              <a:off x="10872788" y="2841784"/>
              <a:ext cx="726516" cy="133350"/>
            </a:xfrm>
            <a:prstGeom prst="rect">
              <a:avLst/>
            </a:prstGeom>
            <a:noFill/>
            <a:ln>
              <a:noFill/>
            </a:ln>
          </p:spPr>
          <p:txBody>
            <a:bodyPr wrap="none" lIns="0" tIns="0" rIns="0" bIns="0" anchor="t" anchorCtr="0">
              <a:spAutoFit/>
            </a:bodyPr>
            <a:lstStyle/>
            <a:p>
              <a:pPr algn="l" marL="76200" indent="-76200">
                <a:buClr>
                  <a:srgbClr val="523E3A"/>
                </a:buClr>
                <a:buSzTx/>
                <a:buFontTx/>
                <a:buChar char="•"/>
              </a:pPr>
              <a:r>
                <a:rPr lang="zh-CN" sz="680" dirty="0">
                  <a:solidFill>
                    <a:srgbClr val="523E3A"/>
                  </a:solidFill>
                  <a:latin typeface="+mn-lt"/>
                  <a:ea typeface="+mn-ea"/>
                  <a:cs typeface="+mn-cs"/>
                </a:rPr>
                <a:t>跨部门协同机制</a:t>
              </a:r>
            </a:p>
          </p:txBody>
        </p:sp>
        <p:sp>
          <p:nvSpPr>
            <p:cNvPr id="151" name="Rectangle 151"/>
            <p:cNvSpPr/>
            <p:nvPr/>
          </p:nvSpPr>
          <p:spPr>
            <a:xfrm>
              <a:off x="10725150" y="3028950"/>
              <a:ext cx="1123950" cy="533400"/>
            </a:xfrm>
            <a:prstGeom prst="roundRect">
              <a:avLst>
                <a:gd name="adj" fmla="val 10714"/>
              </a:avLst>
            </a:prstGeom>
            <a:solidFill>
              <a:srgbClr val="EAF1FB"/>
            </a:solidFill>
            <a:ln>
              <a:noFill/>
            </a:ln>
          </p:spPr>
        </p:sp>
        <p:sp>
          <p:nvSpPr>
            <p:cNvPr id="152" name="TextBox 152"/>
            <p:cNvSpPr txBox="1"/>
            <p:nvPr/>
          </p:nvSpPr>
          <p:spPr>
            <a:xfrm>
              <a:off x="11091202" y="3161586"/>
              <a:ext cx="39184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价值回报</a:t>
              </a:r>
            </a:p>
          </p:txBody>
        </p:sp>
        <p:sp>
          <p:nvSpPr>
            <p:cNvPr id="153" name="TextBox 153"/>
            <p:cNvSpPr txBox="1"/>
            <p:nvPr/>
          </p:nvSpPr>
          <p:spPr>
            <a:xfrm>
              <a:off x="11066971" y="3322082"/>
              <a:ext cx="440309"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能力更充足</a:t>
              </a:r>
            </a:p>
          </p:txBody>
        </p:sp>
        <p:sp>
          <p:nvSpPr>
            <p:cNvPr id="154" name="TextBox 154"/>
            <p:cNvSpPr txBox="1"/>
            <p:nvPr/>
          </p:nvSpPr>
          <p:spPr>
            <a:xfrm>
              <a:off x="11023892" y="3445907"/>
              <a:ext cx="526466"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放大业绩结果</a:t>
              </a:r>
            </a:p>
          </p:txBody>
        </p:sp>
        <p:sp>
          <p:nvSpPr>
            <p:cNvPr id="155" name="Rectangle 155"/>
            <p:cNvSpPr/>
            <p:nvPr/>
          </p:nvSpPr>
          <p:spPr>
            <a:xfrm>
              <a:off x="8267700" y="4457700"/>
              <a:ext cx="3581400" cy="952500"/>
            </a:xfrm>
            <a:prstGeom prst="roundRect">
              <a:avLst>
                <a:gd name="adj" fmla="val 10000"/>
              </a:avLst>
            </a:prstGeom>
            <a:solidFill>
              <a:srgbClr val="FDECEC"/>
            </a:solidFill>
            <a:ln w="9525">
              <a:solidFill>
                <a:srgbClr val="F2C7C9"/>
              </a:solidFill>
            </a:ln>
          </p:spPr>
        </p:sp>
        <p:grpSp>
          <p:nvGrpSpPr>
            <p:cNvPr id="160" name="Group 160"/>
            <p:cNvGrpSpPr/>
            <p:nvPr/>
          </p:nvGrpSpPr>
          <p:grpSpPr>
            <a:xfrm>
              <a:off x="8436769" y="4810125"/>
              <a:ext cx="214313" cy="200025"/>
              <a:chOff x="8436769" y="4810125"/>
              <a:chExt cx="214313" cy="200025"/>
            </a:xfrm>
          </p:grpSpPr>
          <p:sp>
            <p:nvSpPr>
              <p:cNvPr id="156" name="Freeform 156"/>
              <p:cNvSpPr/>
              <p:nvPr/>
            </p:nvSpPr>
            <p:spPr>
              <a:xfrm>
                <a:off x="8436769" y="4905375"/>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C03616"/>
                </a:solidFill>
              </a:ln>
            </p:spPr>
          </p:sp>
          <p:sp>
            <p:nvSpPr>
              <p:cNvPr id="157" name="Freeform 157"/>
              <p:cNvSpPr/>
              <p:nvPr/>
            </p:nvSpPr>
            <p:spPr>
              <a:xfrm>
                <a:off x="8579644" y="4857750"/>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C03616"/>
                </a:solidFill>
              </a:ln>
            </p:spPr>
          </p:sp>
          <p:sp>
            <p:nvSpPr>
              <p:cNvPr id="158" name="Freeform 158"/>
              <p:cNvSpPr/>
              <p:nvPr/>
            </p:nvSpPr>
            <p:spPr>
              <a:xfrm>
                <a:off x="8508206" y="4810125"/>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C03616"/>
                </a:solidFill>
              </a:ln>
            </p:spPr>
          </p:sp>
          <p:sp>
            <p:nvSpPr>
              <p:cNvPr id="159" name="Freeform 159"/>
              <p:cNvSpPr/>
              <p:nvPr/>
            </p:nvSpPr>
            <p:spPr>
              <a:xfrm>
                <a:off x="8448675" y="5000625"/>
                <a:ext cx="166688" cy="9525"/>
              </a:xfrm>
              <a:custGeom>
                <a:avLst/>
                <a:gdLst/>
                <a:ahLst/>
                <a:cxnLst/>
                <a:rect l="l" t="t" r="r" b="b"/>
                <a:pathLst>
                  <a:path w="166688" h="9525">
                    <a:moveTo>
                      <a:pt x="0" y="0"/>
                    </a:moveTo>
                    <a:lnTo>
                      <a:pt x="166688" y="0"/>
                    </a:lnTo>
                  </a:path>
                </a:pathLst>
              </a:custGeom>
              <a:noFill/>
              <a:ln w="23812">
                <a:solidFill>
                  <a:srgbClr val="C03616"/>
                </a:solidFill>
              </a:ln>
            </p:spPr>
          </p:sp>
        </p:grpSp>
        <p:sp>
          <p:nvSpPr>
            <p:cNvPr id="161" name="TextBox 161"/>
            <p:cNvSpPr txBox="1"/>
            <p:nvPr/>
          </p:nvSpPr>
          <p:spPr>
            <a:xfrm>
              <a:off x="8795766" y="4630102"/>
              <a:ext cx="1476545" cy="205359"/>
            </a:xfrm>
            <a:prstGeom prst="rect">
              <a:avLst/>
            </a:prstGeom>
            <a:noFill/>
            <a:ln>
              <a:noFill/>
            </a:ln>
          </p:spPr>
          <p:txBody>
            <a:bodyPr wrap="none" lIns="0" tIns="0" rIns="0" bIns="0" anchor="t" anchorCtr="0">
              <a:spAutoFit/>
            </a:bodyPr>
            <a:lstStyle/>
            <a:p>
              <a:pPr algn="l"/>
              <a:r>
                <a:rPr lang="zh-CN" sz="1050" b="1" dirty="0">
                  <a:solidFill>
                    <a:srgbClr val="C03616"/>
                  </a:solidFill>
                  <a:latin typeface="+mn-lt"/>
                  <a:ea typeface="+mn-ea"/>
                  <a:cs typeface="+mn-cs"/>
                </a:rPr>
                <a:t xml:space="preserve">预期回报 </a:t>
              </a:r>
              <a:r>
                <a:rPr lang="zh-CN" sz="680" dirty="0">
                  <a:solidFill>
                    <a:srgbClr val="6E7686"/>
                  </a:solidFill>
                  <a:latin typeface="+mn-lt"/>
                  <a:ea typeface="+mn-ea"/>
                  <a:cs typeface="+mn-cs"/>
                </a:rPr>
                <a:t>（示例）</a:t>
              </a:r>
              <a:r>
                <a:rPr lang="zh-CN" sz="1050" b="1" dirty="0">
                  <a:solidFill>
                    <a:srgbClr val="C03616"/>
                  </a:solidFill>
                  <a:latin typeface="+mn-lt"/>
                  <a:ea typeface="+mn-ea"/>
                  <a:cs typeface="+mn-cs"/>
                </a:rPr>
                <a:t xml:space="preserve">      </a:t>
              </a:r>
            </a:p>
          </p:txBody>
        </p:sp>
        <p:sp>
          <p:nvSpPr>
            <p:cNvPr id="162" name="TextBox 162"/>
            <p:cNvSpPr txBox="1"/>
            <p:nvPr/>
          </p:nvSpPr>
          <p:spPr>
            <a:xfrm>
              <a:off x="8796338" y="4975384"/>
              <a:ext cx="192608" cy="133350"/>
            </a:xfrm>
            <a:prstGeom prst="rect">
              <a:avLst/>
            </a:prstGeom>
            <a:noFill/>
            <a:ln>
              <a:noFill/>
            </a:ln>
          </p:spPr>
          <p:txBody>
            <a:bodyPr wrap="none" lIns="0" tIns="0" rIns="0" bIns="0" anchor="t" anchorCtr="0">
              <a:spAutoFit/>
            </a:bodyPr>
            <a:lstStyle/>
            <a:p>
              <a:pPr algn="l"/>
              <a:r>
                <a:rPr lang="zh-CN" sz="680" dirty="0">
                  <a:solidFill>
                    <a:srgbClr val="6E7686"/>
                  </a:solidFill>
                  <a:latin typeface="+mn-lt"/>
                  <a:ea typeface="+mn-ea"/>
                  <a:cs typeface="+mn-cs"/>
                </a:rPr>
                <a:t>增收</a:t>
              </a:r>
            </a:p>
          </p:txBody>
        </p:sp>
        <p:sp>
          <p:nvSpPr>
            <p:cNvPr id="163" name="TextBox 163"/>
            <p:cNvSpPr txBox="1"/>
            <p:nvPr/>
          </p:nvSpPr>
          <p:spPr>
            <a:xfrm>
              <a:off x="8795576" y="5121354"/>
              <a:ext cx="750964" cy="212693"/>
            </a:xfrm>
            <a:prstGeom prst="rect">
              <a:avLst/>
            </a:prstGeom>
            <a:noFill/>
            <a:ln>
              <a:noFill/>
            </a:ln>
          </p:spPr>
          <p:txBody>
            <a:bodyPr wrap="none" lIns="0" tIns="0" rIns="0" bIns="0" anchor="t" anchorCtr="0">
              <a:spAutoFit/>
            </a:bodyPr>
            <a:lstStyle/>
            <a:p>
              <a:pPr algn="l"/>
              <a:r>
                <a:rPr lang="zh-CN" sz="1090" b="1" dirty="0">
                  <a:solidFill>
                    <a:srgbClr val="721E0D"/>
                  </a:solidFill>
                  <a:latin typeface="+mn-lt"/>
                  <a:ea typeface="+mn-ea"/>
                  <a:cs typeface="+mn-cs"/>
                </a:rPr>
                <a:t xml:space="preserve">900万+   </a:t>
              </a:r>
            </a:p>
          </p:txBody>
        </p:sp>
        <p:sp>
          <p:nvSpPr>
            <p:cNvPr id="164" name="Line 164"/>
            <p:cNvSpPr/>
            <p:nvPr/>
          </p:nvSpPr>
          <p:spPr>
            <a:xfrm>
              <a:off x="9925050" y="4610100"/>
              <a:ext cx="9525" cy="647700"/>
            </a:xfrm>
            <a:custGeom>
              <a:avLst/>
              <a:gdLst/>
              <a:ahLst/>
              <a:cxnLst/>
              <a:rect l="l" t="t" r="r" b="b"/>
              <a:pathLst>
                <a:path w="9525" h="647700">
                  <a:moveTo>
                    <a:pt x="0" y="0"/>
                  </a:moveTo>
                  <a:lnTo>
                    <a:pt x="0" y="647700"/>
                  </a:lnTo>
                </a:path>
              </a:pathLst>
            </a:custGeom>
            <a:noFill/>
            <a:ln w="9525">
              <a:solidFill>
                <a:srgbClr val="F2C7C9"/>
              </a:solidFill>
            </a:ln>
          </p:spPr>
        </p:sp>
        <p:sp>
          <p:nvSpPr>
            <p:cNvPr id="165" name="TextBox 165"/>
            <p:cNvSpPr txBox="1"/>
            <p:nvPr/>
          </p:nvSpPr>
          <p:spPr>
            <a:xfrm>
              <a:off x="10072688" y="4975384"/>
              <a:ext cx="192608" cy="133350"/>
            </a:xfrm>
            <a:prstGeom prst="rect">
              <a:avLst/>
            </a:prstGeom>
            <a:noFill/>
            <a:ln>
              <a:noFill/>
            </a:ln>
          </p:spPr>
          <p:txBody>
            <a:bodyPr wrap="none" lIns="0" tIns="0" rIns="0" bIns="0" anchor="t" anchorCtr="0">
              <a:spAutoFit/>
            </a:bodyPr>
            <a:lstStyle/>
            <a:p>
              <a:pPr algn="l"/>
              <a:r>
                <a:rPr lang="zh-CN" sz="680" dirty="0">
                  <a:solidFill>
                    <a:srgbClr val="6E7686"/>
                  </a:solidFill>
                  <a:latin typeface="+mn-lt"/>
                  <a:ea typeface="+mn-ea"/>
                  <a:cs typeface="+mn-cs"/>
                </a:rPr>
                <a:t>增利</a:t>
              </a:r>
            </a:p>
          </p:txBody>
        </p:sp>
        <p:sp>
          <p:nvSpPr>
            <p:cNvPr id="166" name="TextBox 166"/>
            <p:cNvSpPr txBox="1"/>
            <p:nvPr/>
          </p:nvSpPr>
          <p:spPr>
            <a:xfrm>
              <a:off x="10071926" y="5121354"/>
              <a:ext cx="750964" cy="212693"/>
            </a:xfrm>
            <a:prstGeom prst="rect">
              <a:avLst/>
            </a:prstGeom>
            <a:noFill/>
            <a:ln>
              <a:noFill/>
            </a:ln>
          </p:spPr>
          <p:txBody>
            <a:bodyPr wrap="none" lIns="0" tIns="0" rIns="0" bIns="0" anchor="t" anchorCtr="0">
              <a:spAutoFit/>
            </a:bodyPr>
            <a:lstStyle/>
            <a:p>
              <a:pPr algn="l"/>
              <a:r>
                <a:rPr lang="zh-CN" sz="1090" b="1" dirty="0">
                  <a:solidFill>
                    <a:srgbClr val="721E0D"/>
                  </a:solidFill>
                  <a:latin typeface="+mn-lt"/>
                  <a:ea typeface="+mn-ea"/>
                  <a:cs typeface="+mn-cs"/>
                </a:rPr>
                <a:t xml:space="preserve">260万+   </a:t>
              </a:r>
            </a:p>
          </p:txBody>
        </p:sp>
        <p:sp>
          <p:nvSpPr>
            <p:cNvPr id="167" name="Line 167"/>
            <p:cNvSpPr/>
            <p:nvPr/>
          </p:nvSpPr>
          <p:spPr>
            <a:xfrm>
              <a:off x="10915650" y="4610100"/>
              <a:ext cx="9525" cy="647700"/>
            </a:xfrm>
            <a:custGeom>
              <a:avLst/>
              <a:gdLst/>
              <a:ahLst/>
              <a:cxnLst/>
              <a:rect l="l" t="t" r="r" b="b"/>
              <a:pathLst>
                <a:path w="9525" h="647700">
                  <a:moveTo>
                    <a:pt x="0" y="0"/>
                  </a:moveTo>
                  <a:lnTo>
                    <a:pt x="0" y="647700"/>
                  </a:lnTo>
                </a:path>
              </a:pathLst>
            </a:custGeom>
            <a:noFill/>
            <a:ln w="9525">
              <a:solidFill>
                <a:srgbClr val="F2C7C9"/>
              </a:solidFill>
            </a:ln>
          </p:spPr>
        </p:sp>
        <p:sp>
          <p:nvSpPr>
            <p:cNvPr id="168" name="TextBox 168"/>
            <p:cNvSpPr txBox="1"/>
            <p:nvPr/>
          </p:nvSpPr>
          <p:spPr>
            <a:xfrm>
              <a:off x="11063288" y="4975384"/>
              <a:ext cx="315326" cy="133350"/>
            </a:xfrm>
            <a:prstGeom prst="rect">
              <a:avLst/>
            </a:prstGeom>
            <a:noFill/>
            <a:ln>
              <a:noFill/>
            </a:ln>
          </p:spPr>
          <p:txBody>
            <a:bodyPr wrap="none" lIns="0" tIns="0" rIns="0" bIns="0" anchor="t" anchorCtr="0">
              <a:spAutoFit/>
            </a:bodyPr>
            <a:lstStyle/>
            <a:p>
              <a:pPr algn="l"/>
              <a:r>
                <a:rPr lang="en-US" sz="680" dirty="0">
                  <a:solidFill>
                    <a:srgbClr val="6E7686"/>
                  </a:solidFill>
                  <a:latin typeface="+mn-lt"/>
                  <a:ea typeface="+mn-ea"/>
                  <a:cs typeface="+mn-cs"/>
                </a:rPr>
                <a:t>ROI</a:t>
              </a:r>
              <a:r>
                <a:rPr lang="zh-CN" sz="680" dirty="0">
                  <a:solidFill>
                    <a:srgbClr val="6E7686"/>
                  </a:solidFill>
                  <a:latin typeface="+mn-lt"/>
                  <a:ea typeface="+mn-ea"/>
                  <a:cs typeface="+mn-cs"/>
                </a:rPr>
                <a:t xml:space="preserve">   </a:t>
              </a:r>
            </a:p>
          </p:txBody>
        </p:sp>
        <p:sp>
          <p:nvSpPr>
            <p:cNvPr id="169" name="TextBox 169"/>
            <p:cNvSpPr txBox="1"/>
            <p:nvPr/>
          </p:nvSpPr>
          <p:spPr>
            <a:xfrm>
              <a:off x="11062526" y="5121354"/>
              <a:ext cx="604228" cy="212693"/>
            </a:xfrm>
            <a:prstGeom prst="rect">
              <a:avLst/>
            </a:prstGeom>
            <a:noFill/>
            <a:ln>
              <a:noFill/>
            </a:ln>
          </p:spPr>
          <p:txBody>
            <a:bodyPr wrap="none" lIns="0" tIns="0" rIns="0" bIns="0" anchor="t" anchorCtr="0">
              <a:spAutoFit/>
            </a:bodyPr>
            <a:lstStyle/>
            <a:p>
              <a:pPr algn="l"/>
              <a:r>
                <a:rPr lang="zh-CN" sz="1090" b="1" dirty="0">
                  <a:solidFill>
                    <a:srgbClr val="C03616"/>
                  </a:solidFill>
                  <a:latin typeface="+mn-lt"/>
                  <a:ea typeface="+mn-ea"/>
                  <a:cs typeface="+mn-cs"/>
                </a:rPr>
                <a:t xml:space="preserve">3.5+   </a:t>
              </a:r>
            </a:p>
          </p:txBody>
        </p:sp>
      </p:grpSp>
      <p:grpSp>
        <p:nvGrpSpPr>
          <p:cNvPr id="178" name="takeaway-banner"/>
          <p:cNvGrpSpPr/>
          <p:nvPr/>
        </p:nvGrpSpPr>
        <p:grpSpPr>
          <a:xfrm>
            <a:off x="228600" y="5676900"/>
            <a:ext cx="11734800" cy="571500"/>
            <a:chOff x="228600" y="5676900"/>
            <a:chExt cx="11734800" cy="571500"/>
          </a:xfrm>
        </p:grpSpPr>
        <p:sp>
          <p:nvSpPr>
            <p:cNvPr id="171" name="Rectangle 171"/>
            <p:cNvSpPr/>
            <p:nvPr/>
          </p:nvSpPr>
          <p:spPr>
            <a:xfrm>
              <a:off x="228600" y="5676900"/>
              <a:ext cx="11734800" cy="571500"/>
            </a:xfrm>
            <a:prstGeom prst="roundRect">
              <a:avLst>
                <a:gd name="adj" fmla="val 50000"/>
              </a:avLst>
            </a:prstGeom>
            <a:solidFill>
              <a:srgbClr val="721E0D"/>
            </a:solidFill>
            <a:ln>
              <a:noFill/>
            </a:ln>
          </p:spPr>
        </p:sp>
        <p:sp>
          <p:nvSpPr>
            <p:cNvPr id="172" name="Ellipse 172"/>
            <p:cNvSpPr/>
            <p:nvPr/>
          </p:nvSpPr>
          <p:spPr>
            <a:xfrm>
              <a:off x="3219450" y="5791200"/>
              <a:ext cx="342900" cy="342900"/>
            </a:xfrm>
            <a:prstGeom prst="ellipse">
              <a:avLst/>
            </a:prstGeom>
            <a:solidFill>
              <a:srgbClr val="FFFFFF"/>
            </a:solidFill>
            <a:ln>
              <a:noFill/>
            </a:ln>
          </p:spPr>
        </p:sp>
        <p:grpSp>
          <p:nvGrpSpPr>
            <p:cNvPr id="176" name="Group 176"/>
            <p:cNvGrpSpPr/>
            <p:nvPr/>
          </p:nvGrpSpPr>
          <p:grpSpPr>
            <a:xfrm>
              <a:off x="3305175" y="5876925"/>
              <a:ext cx="171450" cy="171450"/>
              <a:chOff x="3305175" y="5876925"/>
              <a:chExt cx="171450" cy="171450"/>
            </a:xfrm>
          </p:grpSpPr>
          <p:sp>
            <p:nvSpPr>
              <p:cNvPr id="173" name="Freeform 173"/>
              <p:cNvSpPr/>
              <p:nvPr/>
            </p:nvSpPr>
            <p:spPr>
              <a:xfrm>
                <a:off x="3381375" y="59531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721E0D"/>
                </a:solidFill>
              </a:ln>
            </p:spPr>
          </p:sp>
          <p:sp>
            <p:nvSpPr>
              <p:cNvPr id="174" name="Freeform 174"/>
              <p:cNvSpPr/>
              <p:nvPr/>
            </p:nvSpPr>
            <p:spPr>
              <a:xfrm>
                <a:off x="3343275" y="59150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721E0D"/>
                </a:solidFill>
              </a:ln>
            </p:spPr>
          </p:sp>
          <p:sp>
            <p:nvSpPr>
              <p:cNvPr id="175" name="Freeform 175"/>
              <p:cNvSpPr/>
              <p:nvPr/>
            </p:nvSpPr>
            <p:spPr>
              <a:xfrm>
                <a:off x="3305175" y="58769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721E0D"/>
                </a:solidFill>
              </a:ln>
            </p:spPr>
          </p:sp>
        </p:grpSp>
        <p:sp>
          <p:nvSpPr>
            <p:cNvPr id="177" name="TextBox 177"/>
            <p:cNvSpPr txBox="1"/>
            <p:nvPr/>
          </p:nvSpPr>
          <p:spPr>
            <a:xfrm>
              <a:off x="3670363" y="5895737"/>
              <a:ext cx="5354295" cy="242030"/>
            </a:xfrm>
            <a:prstGeom prst="rect">
              <a:avLst/>
            </a:prstGeom>
            <a:noFill/>
            <a:ln>
              <a:noFill/>
            </a:ln>
          </p:spPr>
          <p:txBody>
            <a:bodyPr wrap="none" lIns="0" tIns="0" rIns="0" bIns="0" anchor="t" anchorCtr="0">
              <a:spAutoFit/>
            </a:bodyPr>
            <a:lstStyle/>
            <a:p>
              <a:pPr algn="l"/>
              <a:r>
                <a:rPr lang="zh-CN" sz="1240" b="1" dirty="0">
                  <a:solidFill>
                    <a:srgbClr val="FFFFFF"/>
                  </a:solidFill>
                  <a:latin typeface="+mn-lt"/>
                  <a:ea typeface="+mn-ea"/>
                  <a:cs typeface="+mn-cs"/>
                </a:rPr>
                <a:t>老板关心的不是你有多努力，而是你能否解决问题、持续改进、带来结果</a:t>
              </a:r>
            </a:p>
          </p:txBody>
        </p:sp>
      </p:gr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03616"/>
            </a:solidFill>
            <a:ln>
              <a:noFill/>
            </a:ln>
          </p:spPr>
        </p:sp>
        <p:sp>
          <p:nvSpPr>
            <p:cNvPr id="3" name="TextBox 3"/>
            <p:cNvSpPr txBox="1"/>
            <p:nvPr/>
          </p:nvSpPr>
          <p:spPr>
            <a:xfrm>
              <a:off x="268698" y="152876"/>
              <a:ext cx="18650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2</a:t>
              </a:r>
            </a:p>
          </p:txBody>
        </p:sp>
        <p:sp>
          <p:nvSpPr>
            <p:cNvPr id="4" name="TextBox 4"/>
            <p:cNvSpPr txBox="1"/>
            <p:nvPr/>
          </p:nvSpPr>
          <p:spPr>
            <a:xfrm>
              <a:off x="904494" y="180023"/>
              <a:ext cx="5269992"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三类致命误区：为什么你的总结</a:t>
              </a:r>
              <a:r>
                <a:rPr lang="zh-CN" sz="1950" b="1" dirty="0">
                  <a:solidFill>
                    <a:srgbClr val="C03616"/>
                  </a:solidFill>
                  <a:latin typeface="+mn-lt"/>
                  <a:ea typeface="+mn-ea"/>
                  <a:cs typeface="+mn-cs"/>
                </a:rPr>
                <a:t>老板听不下去</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31" name="mistake-card-1"/>
          <p:cNvGrpSpPr/>
          <p:nvPr/>
        </p:nvGrpSpPr>
        <p:grpSpPr>
          <a:xfrm>
            <a:off x="228600" y="952500"/>
            <a:ext cx="3810000" cy="3524250"/>
            <a:chOff x="228600" y="952500"/>
            <a:chExt cx="3810000" cy="3524250"/>
          </a:xfrm>
        </p:grpSpPr>
        <p:sp>
          <p:nvSpPr>
            <p:cNvPr id="7" name="Rectangle 7"/>
            <p:cNvSpPr/>
            <p:nvPr/>
          </p:nvSpPr>
          <p:spPr>
            <a:xfrm>
              <a:off x="228600" y="952500"/>
              <a:ext cx="3810000" cy="3524250"/>
            </a:xfrm>
            <a:prstGeom prst="roundRect">
              <a:avLst>
                <a:gd name="adj" fmla="val 3243"/>
              </a:avLst>
            </a:prstGeom>
            <a:solidFill>
              <a:srgbClr val="FFFFFF"/>
            </a:solidFill>
            <a:ln w="14288">
              <a:solidFill>
                <a:srgbClr val="C9D6EE"/>
              </a:solidFill>
            </a:ln>
          </p:spPr>
        </p:sp>
        <p:grpSp>
          <p:nvGrpSpPr>
            <p:cNvPr id="11" name="Group 11"/>
            <p:cNvGrpSpPr/>
            <p:nvPr/>
          </p:nvGrpSpPr>
          <p:grpSpPr>
            <a:xfrm>
              <a:off x="403799" y="1098563"/>
              <a:ext cx="240143" cy="206314"/>
              <a:chOff x="403799" y="1098563"/>
              <a:chExt cx="240143" cy="206314"/>
            </a:xfrm>
          </p:grpSpPr>
          <p:sp>
            <p:nvSpPr>
              <p:cNvPr id="8" name="Freeform 8"/>
              <p:cNvSpPr/>
              <p:nvPr/>
            </p:nvSpPr>
            <p:spPr>
              <a:xfrm>
                <a:off x="523875" y="1173956"/>
                <a:ext cx="9525" cy="47625"/>
              </a:xfrm>
              <a:custGeom>
                <a:avLst/>
                <a:gdLst/>
                <a:ahLst/>
                <a:cxnLst/>
                <a:rect l="l" t="t" r="r" b="b"/>
                <a:pathLst>
                  <a:path w="9525" h="47625">
                    <a:moveTo>
                      <a:pt x="0" y="0"/>
                    </a:moveTo>
                    <a:lnTo>
                      <a:pt x="0" y="47625"/>
                    </a:lnTo>
                  </a:path>
                </a:pathLst>
              </a:custGeom>
              <a:noFill/>
              <a:ln w="23812">
                <a:solidFill>
                  <a:srgbClr val="C03616"/>
                </a:solidFill>
              </a:ln>
            </p:spPr>
          </p:sp>
          <p:sp>
            <p:nvSpPr>
              <p:cNvPr id="9" name="Freeform 9"/>
              <p:cNvSpPr/>
              <p:nvPr/>
            </p:nvSpPr>
            <p:spPr>
              <a:xfrm>
                <a:off x="403799" y="1098563"/>
                <a:ext cx="240143" cy="206314"/>
              </a:xfrm>
              <a:custGeom>
                <a:avLst/>
                <a:gdLst/>
                <a:ahLst/>
                <a:cxnLst/>
                <a:rect l="l" t="t" r="r" b="b"/>
                <a:pathLst>
                  <a:path w="240143" h="206314">
                    <a:moveTo>
                      <a:pt x="100585" y="10992"/>
                    </a:moveTo>
                    <a:lnTo>
                      <a:pt x="4073" y="172131"/>
                    </a:lnTo>
                    <a:cubicBezTo>
                      <a:pt x="25" y="179142"/>
                      <a:pt x="0" y="187775"/>
                      <a:pt x="4008" y="194810"/>
                    </a:cubicBezTo>
                    <a:cubicBezTo>
                      <a:pt x="8017" y="201844"/>
                      <a:pt x="15456" y="206223"/>
                      <a:pt x="23552" y="206314"/>
                    </a:cubicBezTo>
                    <a:lnTo>
                      <a:pt x="216600" y="206314"/>
                    </a:lnTo>
                    <a:cubicBezTo>
                      <a:pt x="224692" y="206221"/>
                      <a:pt x="232127" y="201843"/>
                      <a:pt x="236135" y="194813"/>
                    </a:cubicBezTo>
                    <a:cubicBezTo>
                      <a:pt x="240143" y="187782"/>
                      <a:pt x="240121" y="179154"/>
                      <a:pt x="236078" y="172143"/>
                    </a:cubicBezTo>
                    <a:lnTo>
                      <a:pt x="139566" y="10980"/>
                    </a:lnTo>
                    <a:cubicBezTo>
                      <a:pt x="135437" y="4164"/>
                      <a:pt x="128046" y="0"/>
                      <a:pt x="120076" y="0"/>
                    </a:cubicBezTo>
                    <a:cubicBezTo>
                      <a:pt x="112106" y="0"/>
                      <a:pt x="104715" y="4164"/>
                      <a:pt x="100585" y="10980"/>
                    </a:cubicBezTo>
                  </a:path>
                </a:pathLst>
              </a:custGeom>
              <a:noFill/>
              <a:ln w="23812">
                <a:solidFill>
                  <a:srgbClr val="C03616"/>
                </a:solidFill>
              </a:ln>
            </p:spPr>
          </p:sp>
          <p:sp>
            <p:nvSpPr>
              <p:cNvPr id="10" name="Freeform 10"/>
              <p:cNvSpPr/>
              <p:nvPr/>
            </p:nvSpPr>
            <p:spPr>
              <a:xfrm>
                <a:off x="523875" y="1257300"/>
                <a:ext cx="9525" cy="9525"/>
              </a:xfrm>
              <a:custGeom>
                <a:avLst/>
                <a:gdLst/>
                <a:ahLst/>
                <a:cxnLst/>
                <a:rect l="l" t="t" r="r" b="b"/>
                <a:pathLst>
                  <a:path w="9525" h="9525">
                    <a:moveTo>
                      <a:pt x="0" y="0"/>
                    </a:moveTo>
                    <a:lnTo>
                      <a:pt x="119" y="0"/>
                    </a:lnTo>
                  </a:path>
                </a:pathLst>
              </a:custGeom>
              <a:noFill/>
              <a:ln w="23812">
                <a:solidFill>
                  <a:srgbClr val="C03616"/>
                </a:solidFill>
              </a:ln>
            </p:spPr>
          </p:sp>
        </p:grpSp>
        <p:sp>
          <p:nvSpPr>
            <p:cNvPr id="12" name="TextBox 12"/>
            <p:cNvSpPr txBox="1"/>
            <p:nvPr/>
          </p:nvSpPr>
          <p:spPr>
            <a:xfrm>
              <a:off x="756094" y="1150858"/>
              <a:ext cx="1885721" cy="227362"/>
            </a:xfrm>
            <a:prstGeom prst="rect">
              <a:avLst/>
            </a:prstGeom>
            <a:noFill/>
            <a:ln>
              <a:noFill/>
            </a:ln>
          </p:spPr>
          <p:txBody>
            <a:bodyPr wrap="none" lIns="0" tIns="0" rIns="0" bIns="0" anchor="t" anchorCtr="0">
              <a:spAutoFit/>
            </a:bodyPr>
            <a:lstStyle/>
            <a:p>
              <a:pPr algn="l"/>
              <a:r>
                <a:rPr lang="zh-CN" sz="1160" b="1" dirty="0">
                  <a:solidFill>
                    <a:srgbClr val="461910"/>
                  </a:solidFill>
                  <a:latin typeface="+mn-lt"/>
                  <a:ea typeface="+mn-ea"/>
                  <a:cs typeface="+mn-cs"/>
                </a:rPr>
                <a:t>误区一：把锅甩给外部环境</a:t>
              </a:r>
            </a:p>
          </p:txBody>
        </p:sp>
        <p:sp>
          <p:nvSpPr>
            <p:cNvPr id="13" name="Ellipse 13"/>
            <p:cNvSpPr/>
            <p:nvPr/>
          </p:nvSpPr>
          <p:spPr>
            <a:xfrm>
              <a:off x="381000" y="1905000"/>
              <a:ext cx="990600" cy="990600"/>
            </a:xfrm>
            <a:prstGeom prst="ellipse">
              <a:avLst/>
            </a:prstGeom>
            <a:solidFill>
              <a:srgbClr val="FBE9E9"/>
            </a:solidFill>
            <a:ln>
              <a:noFill/>
            </a:ln>
          </p:spPr>
        </p:sp>
        <p:grpSp>
          <p:nvGrpSpPr>
            <p:cNvPr id="16" name="Group 16"/>
            <p:cNvGrpSpPr/>
            <p:nvPr/>
          </p:nvGrpSpPr>
          <p:grpSpPr>
            <a:xfrm>
              <a:off x="706834" y="2250241"/>
              <a:ext cx="352821" cy="305633"/>
              <a:chOff x="706834" y="2250241"/>
              <a:chExt cx="352821" cy="305633"/>
            </a:xfrm>
          </p:grpSpPr>
          <p:sp>
            <p:nvSpPr>
              <p:cNvPr id="14" name="Freeform 14"/>
              <p:cNvSpPr/>
              <p:nvPr/>
            </p:nvSpPr>
            <p:spPr>
              <a:xfrm>
                <a:off x="706834" y="2250241"/>
                <a:ext cx="352821" cy="235783"/>
              </a:xfrm>
              <a:custGeom>
                <a:avLst/>
                <a:gdLst/>
                <a:ahLst/>
                <a:cxnLst/>
                <a:rect l="l" t="t" r="r" b="b"/>
                <a:pathLst>
                  <a:path w="352821" h="235783">
                    <a:moveTo>
                      <a:pt x="82153" y="235783"/>
                    </a:moveTo>
                    <a:cubicBezTo>
                      <a:pt x="36781" y="235783"/>
                      <a:pt x="0" y="200601"/>
                      <a:pt x="0" y="157202"/>
                    </a:cubicBezTo>
                    <a:cubicBezTo>
                      <a:pt x="0" y="113803"/>
                      <a:pt x="36781" y="78621"/>
                      <a:pt x="82153" y="78621"/>
                    </a:cubicBezTo>
                    <a:cubicBezTo>
                      <a:pt x="92869" y="30882"/>
                      <a:pt x="144556" y="0"/>
                      <a:pt x="197599" y="9644"/>
                    </a:cubicBezTo>
                    <a:cubicBezTo>
                      <a:pt x="250643" y="19289"/>
                      <a:pt x="284956" y="65807"/>
                      <a:pt x="274240" y="113546"/>
                    </a:cubicBezTo>
                    <a:lnTo>
                      <a:pt x="291703" y="113546"/>
                    </a:lnTo>
                    <a:cubicBezTo>
                      <a:pt x="325457" y="113546"/>
                      <a:pt x="352821" y="140910"/>
                      <a:pt x="352821" y="174665"/>
                    </a:cubicBezTo>
                    <a:cubicBezTo>
                      <a:pt x="352821" y="208419"/>
                      <a:pt x="325457" y="235783"/>
                      <a:pt x="291703" y="235783"/>
                    </a:cubicBezTo>
                  </a:path>
                </a:pathLst>
              </a:custGeom>
              <a:noFill/>
              <a:ln w="34925">
                <a:solidFill>
                  <a:srgbClr val="C03616"/>
                </a:solidFill>
              </a:ln>
            </p:spPr>
          </p:sp>
          <p:sp>
            <p:nvSpPr>
              <p:cNvPr id="15" name="Freeform 15"/>
              <p:cNvSpPr/>
              <p:nvPr/>
            </p:nvSpPr>
            <p:spPr>
              <a:xfrm>
                <a:off x="858837" y="2398712"/>
                <a:ext cx="69850" cy="157162"/>
              </a:xfrm>
              <a:custGeom>
                <a:avLst/>
                <a:gdLst/>
                <a:ahLst/>
                <a:cxnLst/>
                <a:rect l="l" t="t" r="r" b="b"/>
                <a:pathLst>
                  <a:path w="69850" h="157162">
                    <a:moveTo>
                      <a:pt x="0" y="0"/>
                    </a:moveTo>
                    <a:lnTo>
                      <a:pt x="0" y="34925"/>
                    </a:lnTo>
                    <a:moveTo>
                      <a:pt x="0" y="87312"/>
                    </a:moveTo>
                    <a:lnTo>
                      <a:pt x="0" y="122237"/>
                    </a:lnTo>
                    <a:moveTo>
                      <a:pt x="69850" y="34925"/>
                    </a:moveTo>
                    <a:lnTo>
                      <a:pt x="69850" y="69850"/>
                    </a:lnTo>
                    <a:moveTo>
                      <a:pt x="69850" y="122237"/>
                    </a:moveTo>
                    <a:lnTo>
                      <a:pt x="69850" y="157162"/>
                    </a:lnTo>
                  </a:path>
                </a:pathLst>
              </a:custGeom>
              <a:noFill/>
              <a:ln w="34925">
                <a:solidFill>
                  <a:srgbClr val="C03616"/>
                </a:solidFill>
              </a:ln>
            </p:spPr>
          </p:sp>
        </p:grpSp>
        <p:sp>
          <p:nvSpPr>
            <p:cNvPr id="17" name="TextBox 17"/>
            <p:cNvSpPr txBox="1"/>
            <p:nvPr/>
          </p:nvSpPr>
          <p:spPr>
            <a:xfrm>
              <a:off x="629222" y="3007995"/>
              <a:ext cx="494157" cy="176212"/>
            </a:xfrm>
            <a:prstGeom prst="rect">
              <a:avLst/>
            </a:prstGeom>
            <a:noFill/>
            <a:ln>
              <a:noFill/>
            </a:ln>
          </p:spPr>
          <p:txBody>
            <a:bodyPr wrap="none" lIns="0" tIns="0" rIns="0" bIns="0" anchor="t" anchorCtr="0">
              <a:spAutoFit/>
            </a:bodyPr>
            <a:lstStyle/>
            <a:p>
              <a:pPr algn="ctr"/>
              <a:r>
                <a:rPr lang="zh-CN" sz="900" b="1" dirty="0">
                  <a:solidFill>
                    <a:srgbClr val="C03616"/>
                  </a:solidFill>
                  <a:latin typeface="+mn-lt"/>
                  <a:ea typeface="+mn-ea"/>
                  <a:cs typeface="+mn-cs"/>
                </a:rPr>
                <a:t>典型表现</a:t>
              </a:r>
            </a:p>
          </p:txBody>
        </p:sp>
        <p:sp>
          <p:nvSpPr>
            <p:cNvPr id="18" name="Ellipse 18"/>
            <p:cNvSpPr/>
            <p:nvPr/>
          </p:nvSpPr>
          <p:spPr>
            <a:xfrm>
              <a:off x="1595438" y="1557338"/>
              <a:ext cx="47625" cy="47625"/>
            </a:xfrm>
            <a:prstGeom prst="ellipse">
              <a:avLst/>
            </a:prstGeom>
            <a:solidFill>
              <a:srgbClr val="C03616"/>
            </a:solidFill>
            <a:ln>
              <a:noFill/>
            </a:ln>
          </p:spPr>
        </p:sp>
        <p:sp>
          <p:nvSpPr>
            <p:cNvPr id="19" name="TextBox 19"/>
            <p:cNvSpPr txBox="1"/>
            <p:nvPr/>
          </p:nvSpPr>
          <p:spPr>
            <a:xfrm>
              <a:off x="1728788" y="1530191"/>
              <a:ext cx="1155065" cy="342900"/>
            </a:xfrm>
            <a:prstGeom prst="rect">
              <a:avLst/>
            </a:prstGeom>
            <a:noFill/>
            <a:ln>
              <a:noFill/>
            </a:ln>
          </p:spPr>
          <p:txBody>
            <a:bodyPr wrap="none" lIns="0" tIns="0" rIns="0" bIns="0" anchor="t" anchorCtr="0">
              <a:spAutoFit/>
            </a:bodyPr>
            <a:lstStyle/>
            <a:p>
              <a:pPr algn="l">
                <a:lnSpc>
                  <a:spcPts val="1425"/>
                </a:lnSpc>
              </a:pPr>
              <a:r>
                <a:rPr lang="zh-CN" sz="820" dirty="0">
                  <a:solidFill>
                    <a:srgbClr val="523E3A"/>
                  </a:solidFill>
                  <a:latin typeface="+mn-lt"/>
                  <a:ea typeface="+mn-ea"/>
                  <a:cs typeface="+mn-cs"/>
                </a:rPr>
                <a:t>业绩差归咎于市场不好、</a:t>
              </a:r>
              <a:br/>
              <a:r>
                <a:rPr lang="zh-CN" sz="820" dirty="0">
                  <a:solidFill>
                    <a:srgbClr val="523E3A"/>
                  </a:solidFill>
                  <a:latin typeface="+mn-lt"/>
                  <a:ea typeface="+mn-ea"/>
                  <a:cs typeface="+mn-cs"/>
                </a:rPr>
                <a:t>经济下行、竞争太卷</a:t>
              </a:r>
            </a:p>
          </p:txBody>
        </p:sp>
        <p:sp>
          <p:nvSpPr>
            <p:cNvPr id="20" name="Ellipse 20"/>
            <p:cNvSpPr/>
            <p:nvPr/>
          </p:nvSpPr>
          <p:spPr>
            <a:xfrm>
              <a:off x="1595438" y="2033588"/>
              <a:ext cx="47625" cy="47625"/>
            </a:xfrm>
            <a:prstGeom prst="ellipse">
              <a:avLst/>
            </a:prstGeom>
            <a:solidFill>
              <a:srgbClr val="C03616"/>
            </a:solidFill>
            <a:ln>
              <a:noFill/>
            </a:ln>
          </p:spPr>
        </p:sp>
        <p:sp>
          <p:nvSpPr>
            <p:cNvPr id="21" name="TextBox 21"/>
            <p:cNvSpPr txBox="1"/>
            <p:nvPr/>
          </p:nvSpPr>
          <p:spPr>
            <a:xfrm>
              <a:off x="1728788" y="2006441"/>
              <a:ext cx="946785" cy="342900"/>
            </a:xfrm>
            <a:prstGeom prst="rect">
              <a:avLst/>
            </a:prstGeom>
            <a:noFill/>
            <a:ln>
              <a:noFill/>
            </a:ln>
          </p:spPr>
          <p:txBody>
            <a:bodyPr wrap="none" lIns="0" tIns="0" rIns="0" bIns="0" anchor="t" anchorCtr="0">
              <a:spAutoFit/>
            </a:bodyPr>
            <a:lstStyle/>
            <a:p>
              <a:pPr algn="l">
                <a:lnSpc>
                  <a:spcPts val="1425"/>
                </a:lnSpc>
              </a:pPr>
              <a:r>
                <a:rPr lang="zh-CN" sz="820" dirty="0">
                  <a:solidFill>
                    <a:srgbClr val="523E3A"/>
                  </a:solidFill>
                  <a:latin typeface="+mn-lt"/>
                  <a:ea typeface="+mn-ea"/>
                  <a:cs typeface="+mn-cs"/>
                </a:rPr>
                <a:t>过度强调客观困难，</a:t>
              </a:r>
              <a:br/>
              <a:r>
                <a:rPr lang="zh-CN" sz="820" dirty="0">
                  <a:solidFill>
                    <a:srgbClr val="523E3A"/>
                  </a:solidFill>
                  <a:latin typeface="+mn-lt"/>
                  <a:ea typeface="+mn-ea"/>
                  <a:cs typeface="+mn-cs"/>
                </a:rPr>
                <a:t>回避自身问题</a:t>
              </a:r>
            </a:p>
          </p:txBody>
        </p:sp>
        <p:sp>
          <p:nvSpPr>
            <p:cNvPr id="22" name="Ellipse 22"/>
            <p:cNvSpPr/>
            <p:nvPr/>
          </p:nvSpPr>
          <p:spPr>
            <a:xfrm>
              <a:off x="1595438" y="2509838"/>
              <a:ext cx="47625" cy="47625"/>
            </a:xfrm>
            <a:prstGeom prst="ellipse">
              <a:avLst/>
            </a:prstGeom>
            <a:solidFill>
              <a:srgbClr val="C03616"/>
            </a:solidFill>
            <a:ln>
              <a:noFill/>
            </a:ln>
          </p:spPr>
        </p:sp>
        <p:sp>
          <p:nvSpPr>
            <p:cNvPr id="23" name="TextBox 23"/>
            <p:cNvSpPr txBox="1"/>
            <p:nvPr/>
          </p:nvSpPr>
          <p:spPr>
            <a:xfrm>
              <a:off x="1728788" y="2482691"/>
              <a:ext cx="1405001" cy="342900"/>
            </a:xfrm>
            <a:prstGeom prst="rect">
              <a:avLst/>
            </a:prstGeom>
            <a:noFill/>
            <a:ln>
              <a:noFill/>
            </a:ln>
          </p:spPr>
          <p:txBody>
            <a:bodyPr wrap="none" lIns="0" tIns="0" rIns="0" bIns="0" anchor="t" anchorCtr="0">
              <a:spAutoFit/>
            </a:bodyPr>
            <a:lstStyle/>
            <a:p>
              <a:pPr algn="l">
                <a:lnSpc>
                  <a:spcPts val="1425"/>
                </a:lnSpc>
              </a:pPr>
              <a:r>
                <a:rPr lang="zh-CN" sz="820" dirty="0">
                  <a:solidFill>
                    <a:srgbClr val="523E3A"/>
                  </a:solidFill>
                  <a:latin typeface="+mn-lt"/>
                  <a:ea typeface="+mn-ea"/>
                  <a:cs typeface="+mn-cs"/>
                </a:rPr>
                <a:t xml:space="preserve">汇报变成“抱怨大会”，      </a:t>
              </a:r>
              <a:br/>
              <a:r>
                <a:rPr lang="zh-CN" sz="820" dirty="0">
                  <a:solidFill>
                    <a:srgbClr val="523E3A"/>
                  </a:solidFill>
                  <a:latin typeface="+mn-lt"/>
                  <a:ea typeface="+mn-ea"/>
                  <a:cs typeface="+mn-cs"/>
                </a:rPr>
                <a:t>让老板看到的是无力感</a:t>
              </a:r>
            </a:p>
          </p:txBody>
        </p:sp>
        <p:sp>
          <p:nvSpPr>
            <p:cNvPr id="24" name="Rectangle 24"/>
            <p:cNvSpPr/>
            <p:nvPr/>
          </p:nvSpPr>
          <p:spPr>
            <a:xfrm>
              <a:off x="342900" y="3619500"/>
              <a:ext cx="3581400" cy="723900"/>
            </a:xfrm>
            <a:prstGeom prst="roundRect">
              <a:avLst>
                <a:gd name="adj" fmla="val 13158"/>
              </a:avLst>
            </a:prstGeom>
            <a:solidFill>
              <a:srgbClr val="FDECEC"/>
            </a:solidFill>
            <a:ln>
              <a:noFill/>
            </a:ln>
          </p:spPr>
        </p:sp>
        <p:sp>
          <p:nvSpPr>
            <p:cNvPr id="25" name="Ellipse 25"/>
            <p:cNvSpPr/>
            <p:nvPr/>
          </p:nvSpPr>
          <p:spPr>
            <a:xfrm>
              <a:off x="466725" y="3857625"/>
              <a:ext cx="247650" cy="247650"/>
            </a:xfrm>
            <a:prstGeom prst="ellipse">
              <a:avLst/>
            </a:prstGeom>
            <a:solidFill>
              <a:srgbClr val="C03616"/>
            </a:solidFill>
            <a:ln>
              <a:noFill/>
            </a:ln>
          </p:spPr>
        </p:sp>
        <p:grpSp>
          <p:nvGrpSpPr>
            <p:cNvPr id="28" name="Group 28"/>
            <p:cNvGrpSpPr/>
            <p:nvPr/>
          </p:nvGrpSpPr>
          <p:grpSpPr>
            <a:xfrm>
              <a:off x="552450" y="3943350"/>
              <a:ext cx="76200" cy="76200"/>
              <a:chOff x="552450" y="3943350"/>
              <a:chExt cx="76200" cy="76200"/>
            </a:xfrm>
          </p:grpSpPr>
          <p:sp>
            <p:nvSpPr>
              <p:cNvPr id="26" name="Freeform 26"/>
              <p:cNvSpPr/>
              <p:nvPr/>
            </p:nvSpPr>
            <p:spPr>
              <a:xfrm>
                <a:off x="552450" y="3943350"/>
                <a:ext cx="76200" cy="76200"/>
              </a:xfrm>
              <a:custGeom>
                <a:avLst/>
                <a:gdLst/>
                <a:ahLst/>
                <a:cxnLst/>
                <a:rect l="l" t="t" r="r" b="b"/>
                <a:pathLst>
                  <a:path w="76200" h="76200">
                    <a:moveTo>
                      <a:pt x="76200" y="0"/>
                    </a:moveTo>
                    <a:lnTo>
                      <a:pt x="0" y="76200"/>
                    </a:lnTo>
                  </a:path>
                </a:pathLst>
              </a:custGeom>
              <a:noFill/>
              <a:ln w="12700">
                <a:solidFill>
                  <a:srgbClr val="FFFFFF"/>
                </a:solidFill>
              </a:ln>
            </p:spPr>
          </p:sp>
          <p:sp>
            <p:nvSpPr>
              <p:cNvPr id="27" name="Freeform 27"/>
              <p:cNvSpPr/>
              <p:nvPr/>
            </p:nvSpPr>
            <p:spPr>
              <a:xfrm>
                <a:off x="552450" y="3943350"/>
                <a:ext cx="76200" cy="76200"/>
              </a:xfrm>
              <a:custGeom>
                <a:avLst/>
                <a:gdLst/>
                <a:ahLst/>
                <a:cxnLst/>
                <a:rect l="l" t="t" r="r" b="b"/>
                <a:pathLst>
                  <a:path w="76200" h="76200">
                    <a:moveTo>
                      <a:pt x="0" y="0"/>
                    </a:moveTo>
                    <a:lnTo>
                      <a:pt x="76200" y="76200"/>
                    </a:lnTo>
                  </a:path>
                </a:pathLst>
              </a:custGeom>
              <a:noFill/>
              <a:ln w="12700">
                <a:solidFill>
                  <a:srgbClr val="FFFFFF"/>
                </a:solidFill>
              </a:ln>
            </p:spPr>
          </p:sp>
        </p:grpSp>
        <p:sp>
          <p:nvSpPr>
            <p:cNvPr id="29" name="TextBox 29"/>
            <p:cNvSpPr txBox="1"/>
            <p:nvPr/>
          </p:nvSpPr>
          <p:spPr>
            <a:xfrm>
              <a:off x="814388" y="3746897"/>
              <a:ext cx="515696" cy="183356"/>
            </a:xfrm>
            <a:prstGeom prst="rect">
              <a:avLst/>
            </a:prstGeom>
            <a:noFill/>
            <a:ln>
              <a:noFill/>
            </a:ln>
          </p:spPr>
          <p:txBody>
            <a:bodyPr wrap="none" lIns="0" tIns="0" rIns="0" bIns="0" anchor="t" anchorCtr="0">
              <a:spAutoFit/>
            </a:bodyPr>
            <a:lstStyle/>
            <a:p>
              <a:pPr algn="l"/>
              <a:r>
                <a:rPr lang="zh-CN" sz="940" b="1" dirty="0">
                  <a:solidFill>
                    <a:srgbClr val="C03616"/>
                  </a:solidFill>
                  <a:latin typeface="+mn-lt"/>
                  <a:ea typeface="+mn-ea"/>
                  <a:cs typeface="+mn-cs"/>
                </a:rPr>
                <a:t>问题本质</a:t>
              </a:r>
            </a:p>
          </p:txBody>
        </p:sp>
        <p:sp>
          <p:nvSpPr>
            <p:cNvPr id="30" name="TextBox 30"/>
            <p:cNvSpPr txBox="1"/>
            <p:nvPr/>
          </p:nvSpPr>
          <p:spPr>
            <a:xfrm>
              <a:off x="814388" y="3964543"/>
              <a:ext cx="1975485"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461910"/>
                  </a:solidFill>
                  <a:latin typeface="+mn-lt"/>
                  <a:ea typeface="+mn-ea"/>
                  <a:cs typeface="+mn-cs"/>
                </a:rPr>
                <a:t>放弃控制圈，无法体现你的思考与担当，</a:t>
              </a:r>
              <a:br/>
              <a:r>
                <a:rPr lang="zh-CN" sz="860" dirty="0">
                  <a:solidFill>
                    <a:srgbClr val="461910"/>
                  </a:solidFill>
                  <a:latin typeface="+mn-lt"/>
                  <a:ea typeface="+mn-ea"/>
                  <a:cs typeface="+mn-cs"/>
                </a:rPr>
                <a:t>老板听不到解决方案和改进方向。</a:t>
              </a:r>
            </a:p>
          </p:txBody>
        </p:sp>
      </p:grpSp>
      <p:grpSp>
        <p:nvGrpSpPr>
          <p:cNvPr id="58" name="mistake-card-2"/>
          <p:cNvGrpSpPr/>
          <p:nvPr/>
        </p:nvGrpSpPr>
        <p:grpSpPr>
          <a:xfrm>
            <a:off x="4191000" y="952500"/>
            <a:ext cx="3810000" cy="3524250"/>
            <a:chOff x="4191000" y="952500"/>
            <a:chExt cx="3810000" cy="3524250"/>
          </a:xfrm>
        </p:grpSpPr>
        <p:sp>
          <p:nvSpPr>
            <p:cNvPr id="32" name="Rectangle 32"/>
            <p:cNvSpPr/>
            <p:nvPr/>
          </p:nvSpPr>
          <p:spPr>
            <a:xfrm>
              <a:off x="4191000" y="952500"/>
              <a:ext cx="3810000" cy="3524250"/>
            </a:xfrm>
            <a:prstGeom prst="roundRect">
              <a:avLst>
                <a:gd name="adj" fmla="val 3243"/>
              </a:avLst>
            </a:prstGeom>
            <a:solidFill>
              <a:srgbClr val="FFFFFF"/>
            </a:solidFill>
            <a:ln w="14288">
              <a:solidFill>
                <a:srgbClr val="C9D6EE"/>
              </a:solidFill>
            </a:ln>
          </p:spPr>
        </p:sp>
        <p:grpSp>
          <p:nvGrpSpPr>
            <p:cNvPr id="36" name="Group 36"/>
            <p:cNvGrpSpPr/>
            <p:nvPr/>
          </p:nvGrpSpPr>
          <p:grpSpPr>
            <a:xfrm>
              <a:off x="4366199" y="1098563"/>
              <a:ext cx="240143" cy="206314"/>
              <a:chOff x="4366199" y="1098563"/>
              <a:chExt cx="240143" cy="206314"/>
            </a:xfrm>
          </p:grpSpPr>
          <p:sp>
            <p:nvSpPr>
              <p:cNvPr id="33" name="Freeform 33"/>
              <p:cNvSpPr/>
              <p:nvPr/>
            </p:nvSpPr>
            <p:spPr>
              <a:xfrm>
                <a:off x="4486275" y="1173956"/>
                <a:ext cx="9525" cy="47625"/>
              </a:xfrm>
              <a:custGeom>
                <a:avLst/>
                <a:gdLst/>
                <a:ahLst/>
                <a:cxnLst/>
                <a:rect l="l" t="t" r="r" b="b"/>
                <a:pathLst>
                  <a:path w="9525" h="47625">
                    <a:moveTo>
                      <a:pt x="0" y="0"/>
                    </a:moveTo>
                    <a:lnTo>
                      <a:pt x="0" y="47625"/>
                    </a:lnTo>
                  </a:path>
                </a:pathLst>
              </a:custGeom>
              <a:noFill/>
              <a:ln w="23812">
                <a:solidFill>
                  <a:srgbClr val="C03616"/>
                </a:solidFill>
              </a:ln>
            </p:spPr>
          </p:sp>
          <p:sp>
            <p:nvSpPr>
              <p:cNvPr id="34" name="Freeform 34"/>
              <p:cNvSpPr/>
              <p:nvPr/>
            </p:nvSpPr>
            <p:spPr>
              <a:xfrm>
                <a:off x="4366199" y="1098563"/>
                <a:ext cx="240143" cy="206314"/>
              </a:xfrm>
              <a:custGeom>
                <a:avLst/>
                <a:gdLst/>
                <a:ahLst/>
                <a:cxnLst/>
                <a:rect l="l" t="t" r="r" b="b"/>
                <a:pathLst>
                  <a:path w="240143" h="206314">
                    <a:moveTo>
                      <a:pt x="100585" y="10992"/>
                    </a:moveTo>
                    <a:lnTo>
                      <a:pt x="4073" y="172131"/>
                    </a:lnTo>
                    <a:cubicBezTo>
                      <a:pt x="25" y="179142"/>
                      <a:pt x="0" y="187775"/>
                      <a:pt x="4008" y="194810"/>
                    </a:cubicBezTo>
                    <a:cubicBezTo>
                      <a:pt x="8017" y="201844"/>
                      <a:pt x="15456" y="206223"/>
                      <a:pt x="23552" y="206314"/>
                    </a:cubicBezTo>
                    <a:lnTo>
                      <a:pt x="216600" y="206314"/>
                    </a:lnTo>
                    <a:cubicBezTo>
                      <a:pt x="224692" y="206221"/>
                      <a:pt x="232127" y="201843"/>
                      <a:pt x="236135" y="194813"/>
                    </a:cubicBezTo>
                    <a:cubicBezTo>
                      <a:pt x="240143" y="187782"/>
                      <a:pt x="240121" y="179154"/>
                      <a:pt x="236078" y="172143"/>
                    </a:cubicBezTo>
                    <a:lnTo>
                      <a:pt x="139566" y="10980"/>
                    </a:lnTo>
                    <a:cubicBezTo>
                      <a:pt x="135437" y="4164"/>
                      <a:pt x="128046" y="0"/>
                      <a:pt x="120076" y="0"/>
                    </a:cubicBezTo>
                    <a:cubicBezTo>
                      <a:pt x="112106" y="0"/>
                      <a:pt x="104715" y="4164"/>
                      <a:pt x="100585" y="10980"/>
                    </a:cubicBezTo>
                  </a:path>
                </a:pathLst>
              </a:custGeom>
              <a:noFill/>
              <a:ln w="23812">
                <a:solidFill>
                  <a:srgbClr val="C03616"/>
                </a:solidFill>
              </a:ln>
            </p:spPr>
          </p:sp>
          <p:sp>
            <p:nvSpPr>
              <p:cNvPr id="35" name="Freeform 35"/>
              <p:cNvSpPr/>
              <p:nvPr/>
            </p:nvSpPr>
            <p:spPr>
              <a:xfrm>
                <a:off x="4486275" y="1257300"/>
                <a:ext cx="9525" cy="9525"/>
              </a:xfrm>
              <a:custGeom>
                <a:avLst/>
                <a:gdLst/>
                <a:ahLst/>
                <a:cxnLst/>
                <a:rect l="l" t="t" r="r" b="b"/>
                <a:pathLst>
                  <a:path w="9525" h="9525">
                    <a:moveTo>
                      <a:pt x="0" y="0"/>
                    </a:moveTo>
                    <a:lnTo>
                      <a:pt x="119" y="0"/>
                    </a:lnTo>
                  </a:path>
                </a:pathLst>
              </a:custGeom>
              <a:noFill/>
              <a:ln w="23812">
                <a:solidFill>
                  <a:srgbClr val="C03616"/>
                </a:solidFill>
              </a:ln>
            </p:spPr>
          </p:sp>
        </p:grpSp>
        <p:sp>
          <p:nvSpPr>
            <p:cNvPr id="37" name="TextBox 37"/>
            <p:cNvSpPr txBox="1"/>
            <p:nvPr/>
          </p:nvSpPr>
          <p:spPr>
            <a:xfrm>
              <a:off x="4718494" y="1150858"/>
              <a:ext cx="1729562" cy="227362"/>
            </a:xfrm>
            <a:prstGeom prst="rect">
              <a:avLst/>
            </a:prstGeom>
            <a:noFill/>
            <a:ln>
              <a:noFill/>
            </a:ln>
          </p:spPr>
          <p:txBody>
            <a:bodyPr wrap="none" lIns="0" tIns="0" rIns="0" bIns="0" anchor="t" anchorCtr="0">
              <a:spAutoFit/>
            </a:bodyPr>
            <a:lstStyle/>
            <a:p>
              <a:pPr algn="l"/>
              <a:r>
                <a:rPr lang="zh-CN" sz="1160" b="1" dirty="0">
                  <a:solidFill>
                    <a:srgbClr val="461910"/>
                  </a:solidFill>
                  <a:latin typeface="+mn-lt"/>
                  <a:ea typeface="+mn-ea"/>
                  <a:cs typeface="+mn-cs"/>
                </a:rPr>
                <a:t>误区二：把责任推给团队</a:t>
              </a:r>
            </a:p>
          </p:txBody>
        </p:sp>
        <p:sp>
          <p:nvSpPr>
            <p:cNvPr id="38" name="Ellipse 38"/>
            <p:cNvSpPr/>
            <p:nvPr/>
          </p:nvSpPr>
          <p:spPr>
            <a:xfrm>
              <a:off x="4343400" y="1905000"/>
              <a:ext cx="990600" cy="990600"/>
            </a:xfrm>
            <a:prstGeom prst="ellipse">
              <a:avLst/>
            </a:prstGeom>
            <a:solidFill>
              <a:srgbClr val="FBE9E9"/>
            </a:solidFill>
            <a:ln>
              <a:noFill/>
            </a:ln>
          </p:spPr>
        </p:sp>
        <p:grpSp>
          <p:nvGrpSpPr>
            <p:cNvPr id="43" name="Group 43"/>
            <p:cNvGrpSpPr/>
            <p:nvPr/>
          </p:nvGrpSpPr>
          <p:grpSpPr>
            <a:xfrm>
              <a:off x="4681537" y="2224087"/>
              <a:ext cx="314324" cy="314325"/>
              <a:chOff x="4681537" y="2224087"/>
              <a:chExt cx="314324" cy="314325"/>
            </a:xfrm>
          </p:grpSpPr>
          <p:sp>
            <p:nvSpPr>
              <p:cNvPr id="39" name="Freeform 39"/>
              <p:cNvSpPr/>
              <p:nvPr/>
            </p:nvSpPr>
            <p:spPr>
              <a:xfrm>
                <a:off x="4716462" y="222408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34925">
                <a:solidFill>
                  <a:srgbClr val="C03616"/>
                </a:solidFill>
              </a:ln>
            </p:spPr>
          </p:sp>
          <p:sp>
            <p:nvSpPr>
              <p:cNvPr id="40" name="Freeform 40"/>
              <p:cNvSpPr/>
              <p:nvPr/>
            </p:nvSpPr>
            <p:spPr>
              <a:xfrm>
                <a:off x="4681537" y="2433637"/>
                <a:ext cx="209550" cy="104775"/>
              </a:xfrm>
              <a:custGeom>
                <a:avLst/>
                <a:gdLst/>
                <a:ahLst/>
                <a:cxnLst/>
                <a:rect l="l" t="t" r="r" b="b"/>
                <a:pathLst>
                  <a:path w="209550" h="104775">
                    <a:moveTo>
                      <a:pt x="0" y="104775"/>
                    </a:moveTo>
                    <a:lnTo>
                      <a:pt x="0" y="69850"/>
                    </a:lnTo>
                    <a:cubicBezTo>
                      <a:pt x="0" y="31273"/>
                      <a:pt x="31273" y="0"/>
                      <a:pt x="69850" y="0"/>
                    </a:cubicBezTo>
                    <a:lnTo>
                      <a:pt x="139700" y="0"/>
                    </a:lnTo>
                    <a:cubicBezTo>
                      <a:pt x="178277" y="0"/>
                      <a:pt x="209550" y="31273"/>
                      <a:pt x="209550" y="69850"/>
                    </a:cubicBezTo>
                    <a:lnTo>
                      <a:pt x="209550" y="104775"/>
                    </a:lnTo>
                  </a:path>
                </a:pathLst>
              </a:custGeom>
              <a:noFill/>
              <a:ln w="34925">
                <a:solidFill>
                  <a:srgbClr val="C03616"/>
                </a:solidFill>
              </a:ln>
            </p:spPr>
          </p:sp>
          <p:sp>
            <p:nvSpPr>
              <p:cNvPr id="41" name="Freeform 41"/>
              <p:cNvSpPr/>
              <p:nvPr/>
            </p:nvSpPr>
            <p:spPr>
              <a:xfrm>
                <a:off x="4908549" y="2226358"/>
                <a:ext cx="52524" cy="135334"/>
              </a:xfrm>
              <a:custGeom>
                <a:avLst/>
                <a:gdLst/>
                <a:ahLst/>
                <a:cxnLst/>
                <a:rect l="l" t="t" r="r" b="b"/>
                <a:pathLst>
                  <a:path w="52524" h="135334">
                    <a:moveTo>
                      <a:pt x="0" y="0"/>
                    </a:moveTo>
                    <a:cubicBezTo>
                      <a:pt x="30907" y="7913"/>
                      <a:pt x="52524" y="35763"/>
                      <a:pt x="52524" y="67667"/>
                    </a:cubicBezTo>
                    <a:cubicBezTo>
                      <a:pt x="52524" y="99571"/>
                      <a:pt x="30907" y="127421"/>
                      <a:pt x="0" y="135334"/>
                    </a:cubicBezTo>
                  </a:path>
                </a:pathLst>
              </a:custGeom>
              <a:noFill/>
              <a:ln w="34925">
                <a:solidFill>
                  <a:srgbClr val="C03616"/>
                </a:solidFill>
              </a:ln>
            </p:spPr>
          </p:sp>
          <p:sp>
            <p:nvSpPr>
              <p:cNvPr id="42" name="Freeform 42"/>
              <p:cNvSpPr/>
              <p:nvPr/>
            </p:nvSpPr>
            <p:spPr>
              <a:xfrm>
                <a:off x="4943474" y="2436256"/>
                <a:ext cx="52387" cy="102155"/>
              </a:xfrm>
              <a:custGeom>
                <a:avLst/>
                <a:gdLst/>
                <a:ahLst/>
                <a:cxnLst/>
                <a:rect l="l" t="t" r="r" b="b"/>
                <a:pathLst>
                  <a:path w="52387" h="102155">
                    <a:moveTo>
                      <a:pt x="52387" y="102155"/>
                    </a:moveTo>
                    <a:lnTo>
                      <a:pt x="52387" y="67231"/>
                    </a:lnTo>
                    <a:cubicBezTo>
                      <a:pt x="52205" y="35529"/>
                      <a:pt x="30696" y="7925"/>
                      <a:pt x="0" y="0"/>
                    </a:cubicBezTo>
                  </a:path>
                </a:pathLst>
              </a:custGeom>
              <a:noFill/>
              <a:ln w="34925">
                <a:solidFill>
                  <a:srgbClr val="C03616"/>
                </a:solidFill>
              </a:ln>
            </p:spPr>
          </p:sp>
        </p:grpSp>
        <p:sp>
          <p:nvSpPr>
            <p:cNvPr id="44" name="TextBox 44"/>
            <p:cNvSpPr txBox="1"/>
            <p:nvPr/>
          </p:nvSpPr>
          <p:spPr>
            <a:xfrm>
              <a:off x="4591622" y="3007995"/>
              <a:ext cx="494157" cy="176212"/>
            </a:xfrm>
            <a:prstGeom prst="rect">
              <a:avLst/>
            </a:prstGeom>
            <a:noFill/>
            <a:ln>
              <a:noFill/>
            </a:ln>
          </p:spPr>
          <p:txBody>
            <a:bodyPr wrap="none" lIns="0" tIns="0" rIns="0" bIns="0" anchor="t" anchorCtr="0">
              <a:spAutoFit/>
            </a:bodyPr>
            <a:lstStyle/>
            <a:p>
              <a:pPr algn="ctr"/>
              <a:r>
                <a:rPr lang="zh-CN" sz="900" b="1" dirty="0">
                  <a:solidFill>
                    <a:srgbClr val="C03616"/>
                  </a:solidFill>
                  <a:latin typeface="+mn-lt"/>
                  <a:ea typeface="+mn-ea"/>
                  <a:cs typeface="+mn-cs"/>
                </a:rPr>
                <a:t>典型表现</a:t>
              </a:r>
            </a:p>
          </p:txBody>
        </p:sp>
        <p:sp>
          <p:nvSpPr>
            <p:cNvPr id="45" name="Ellipse 45"/>
            <p:cNvSpPr/>
            <p:nvPr/>
          </p:nvSpPr>
          <p:spPr>
            <a:xfrm>
              <a:off x="5557838" y="1557338"/>
              <a:ext cx="47625" cy="47625"/>
            </a:xfrm>
            <a:prstGeom prst="ellipse">
              <a:avLst/>
            </a:prstGeom>
            <a:solidFill>
              <a:srgbClr val="C03616"/>
            </a:solidFill>
            <a:ln>
              <a:noFill/>
            </a:ln>
          </p:spPr>
        </p:sp>
        <p:sp>
          <p:nvSpPr>
            <p:cNvPr id="46" name="TextBox 46"/>
            <p:cNvSpPr txBox="1"/>
            <p:nvPr/>
          </p:nvSpPr>
          <p:spPr>
            <a:xfrm>
              <a:off x="5691188" y="1530191"/>
              <a:ext cx="1509141" cy="342900"/>
            </a:xfrm>
            <a:prstGeom prst="rect">
              <a:avLst/>
            </a:prstGeom>
            <a:noFill/>
            <a:ln>
              <a:noFill/>
            </a:ln>
          </p:spPr>
          <p:txBody>
            <a:bodyPr wrap="none" lIns="0" tIns="0" rIns="0" bIns="0" anchor="t" anchorCtr="0">
              <a:spAutoFit/>
            </a:bodyPr>
            <a:lstStyle/>
            <a:p>
              <a:pPr algn="l">
                <a:lnSpc>
                  <a:spcPts val="1425"/>
                </a:lnSpc>
              </a:pPr>
              <a:r>
                <a:rPr lang="zh-CN" sz="820" dirty="0">
                  <a:solidFill>
                    <a:srgbClr val="523E3A"/>
                  </a:solidFill>
                  <a:latin typeface="+mn-lt"/>
                  <a:ea typeface="+mn-ea"/>
                  <a:cs typeface="+mn-cs"/>
                </a:rPr>
                <a:t xml:space="preserve">业绩差是“团队执行不力”      </a:t>
              </a:r>
              <a:br/>
              <a:r>
                <a:rPr lang="zh-CN" sz="820" dirty="0">
                  <a:solidFill>
                    <a:srgbClr val="523E3A"/>
                  </a:solidFill>
                  <a:latin typeface="+mn-lt"/>
                  <a:ea typeface="+mn-ea"/>
                  <a:cs typeface="+mn-cs"/>
                </a:rPr>
                <a:t xml:space="preserve">“配合不到位”      </a:t>
              </a:r>
            </a:p>
          </p:txBody>
        </p:sp>
        <p:sp>
          <p:nvSpPr>
            <p:cNvPr id="47" name="Ellipse 47"/>
            <p:cNvSpPr/>
            <p:nvPr/>
          </p:nvSpPr>
          <p:spPr>
            <a:xfrm>
              <a:off x="5557838" y="2033588"/>
              <a:ext cx="47625" cy="47625"/>
            </a:xfrm>
            <a:prstGeom prst="ellipse">
              <a:avLst/>
            </a:prstGeom>
            <a:solidFill>
              <a:srgbClr val="C03616"/>
            </a:solidFill>
            <a:ln>
              <a:noFill/>
            </a:ln>
          </p:spPr>
        </p:sp>
        <p:sp>
          <p:nvSpPr>
            <p:cNvPr id="48" name="TextBox 48"/>
            <p:cNvSpPr txBox="1"/>
            <p:nvPr/>
          </p:nvSpPr>
          <p:spPr>
            <a:xfrm>
              <a:off x="5691188" y="2006441"/>
              <a:ext cx="842645" cy="342900"/>
            </a:xfrm>
            <a:prstGeom prst="rect">
              <a:avLst/>
            </a:prstGeom>
            <a:noFill/>
            <a:ln>
              <a:noFill/>
            </a:ln>
          </p:spPr>
          <p:txBody>
            <a:bodyPr wrap="none" lIns="0" tIns="0" rIns="0" bIns="0" anchor="t" anchorCtr="0">
              <a:spAutoFit/>
            </a:bodyPr>
            <a:lstStyle/>
            <a:p>
              <a:pPr algn="l">
                <a:lnSpc>
                  <a:spcPts val="1425"/>
                </a:lnSpc>
              </a:pPr>
              <a:r>
                <a:rPr lang="zh-CN" sz="820" dirty="0">
                  <a:solidFill>
                    <a:srgbClr val="523E3A"/>
                  </a:solidFill>
                  <a:latin typeface="+mn-lt"/>
                  <a:ea typeface="+mn-ea"/>
                  <a:cs typeface="+mn-cs"/>
                </a:rPr>
                <a:t>只说别人问题，</a:t>
              </a:r>
              <a:br/>
              <a:r>
                <a:rPr lang="zh-CN" sz="820" dirty="0">
                  <a:solidFill>
                    <a:srgbClr val="523E3A"/>
                  </a:solidFill>
                  <a:latin typeface="+mn-lt"/>
                  <a:ea typeface="+mn-ea"/>
                  <a:cs typeface="+mn-cs"/>
                </a:rPr>
                <a:t>不说自己管理问题</a:t>
              </a:r>
            </a:p>
          </p:txBody>
        </p:sp>
        <p:sp>
          <p:nvSpPr>
            <p:cNvPr id="49" name="Ellipse 49"/>
            <p:cNvSpPr/>
            <p:nvPr/>
          </p:nvSpPr>
          <p:spPr>
            <a:xfrm>
              <a:off x="5557838" y="2509838"/>
              <a:ext cx="47625" cy="47625"/>
            </a:xfrm>
            <a:prstGeom prst="ellipse">
              <a:avLst/>
            </a:prstGeom>
            <a:solidFill>
              <a:srgbClr val="C03616"/>
            </a:solidFill>
            <a:ln>
              <a:noFill/>
            </a:ln>
          </p:spPr>
        </p:sp>
        <p:sp>
          <p:nvSpPr>
            <p:cNvPr id="50" name="TextBox 50"/>
            <p:cNvSpPr txBox="1"/>
            <p:nvPr/>
          </p:nvSpPr>
          <p:spPr>
            <a:xfrm>
              <a:off x="5691188" y="2482691"/>
              <a:ext cx="1467485" cy="342900"/>
            </a:xfrm>
            <a:prstGeom prst="rect">
              <a:avLst/>
            </a:prstGeom>
            <a:noFill/>
            <a:ln>
              <a:noFill/>
            </a:ln>
          </p:spPr>
          <p:txBody>
            <a:bodyPr wrap="none" lIns="0" tIns="0" rIns="0" bIns="0" anchor="t" anchorCtr="0">
              <a:spAutoFit/>
            </a:bodyPr>
            <a:lstStyle/>
            <a:p>
              <a:pPr algn="l">
                <a:lnSpc>
                  <a:spcPts val="1425"/>
                </a:lnSpc>
              </a:pPr>
              <a:r>
                <a:rPr lang="zh-CN" sz="820" dirty="0">
                  <a:solidFill>
                    <a:srgbClr val="523E3A"/>
                  </a:solidFill>
                  <a:latin typeface="+mn-lt"/>
                  <a:ea typeface="+mn-ea"/>
                  <a:cs typeface="+mn-cs"/>
                </a:rPr>
                <a:t>缺乏具体改进动作和带教复盘，</a:t>
              </a:r>
              <a:br/>
              <a:r>
                <a:rPr lang="zh-CN" sz="820" dirty="0">
                  <a:solidFill>
                    <a:srgbClr val="523E3A"/>
                  </a:solidFill>
                  <a:latin typeface="+mn-lt"/>
                  <a:ea typeface="+mn-ea"/>
                  <a:cs typeface="+mn-cs"/>
                </a:rPr>
                <a:t>显得推诿</a:t>
              </a:r>
            </a:p>
          </p:txBody>
        </p:sp>
        <p:sp>
          <p:nvSpPr>
            <p:cNvPr id="51" name="Rectangle 51"/>
            <p:cNvSpPr/>
            <p:nvPr/>
          </p:nvSpPr>
          <p:spPr>
            <a:xfrm>
              <a:off x="4305300" y="3619500"/>
              <a:ext cx="3581400" cy="723900"/>
            </a:xfrm>
            <a:prstGeom prst="roundRect">
              <a:avLst>
                <a:gd name="adj" fmla="val 13158"/>
              </a:avLst>
            </a:prstGeom>
            <a:solidFill>
              <a:srgbClr val="FDECEC"/>
            </a:solidFill>
            <a:ln>
              <a:noFill/>
            </a:ln>
          </p:spPr>
        </p:sp>
        <p:sp>
          <p:nvSpPr>
            <p:cNvPr id="52" name="Ellipse 52"/>
            <p:cNvSpPr/>
            <p:nvPr/>
          </p:nvSpPr>
          <p:spPr>
            <a:xfrm>
              <a:off x="4429125" y="3857625"/>
              <a:ext cx="247650" cy="247650"/>
            </a:xfrm>
            <a:prstGeom prst="ellipse">
              <a:avLst/>
            </a:prstGeom>
            <a:solidFill>
              <a:srgbClr val="C03616"/>
            </a:solidFill>
            <a:ln>
              <a:noFill/>
            </a:ln>
          </p:spPr>
        </p:sp>
        <p:grpSp>
          <p:nvGrpSpPr>
            <p:cNvPr id="55" name="Group 55"/>
            <p:cNvGrpSpPr/>
            <p:nvPr/>
          </p:nvGrpSpPr>
          <p:grpSpPr>
            <a:xfrm>
              <a:off x="4514850" y="3943350"/>
              <a:ext cx="76200" cy="76200"/>
              <a:chOff x="4514850" y="3943350"/>
              <a:chExt cx="76200" cy="76200"/>
            </a:xfrm>
          </p:grpSpPr>
          <p:sp>
            <p:nvSpPr>
              <p:cNvPr id="53" name="Freeform 53"/>
              <p:cNvSpPr/>
              <p:nvPr/>
            </p:nvSpPr>
            <p:spPr>
              <a:xfrm>
                <a:off x="4514850" y="3943350"/>
                <a:ext cx="76200" cy="76200"/>
              </a:xfrm>
              <a:custGeom>
                <a:avLst/>
                <a:gdLst/>
                <a:ahLst/>
                <a:cxnLst/>
                <a:rect l="l" t="t" r="r" b="b"/>
                <a:pathLst>
                  <a:path w="76200" h="76200">
                    <a:moveTo>
                      <a:pt x="76200" y="0"/>
                    </a:moveTo>
                    <a:lnTo>
                      <a:pt x="0" y="76200"/>
                    </a:lnTo>
                  </a:path>
                </a:pathLst>
              </a:custGeom>
              <a:noFill/>
              <a:ln w="12700">
                <a:solidFill>
                  <a:srgbClr val="FFFFFF"/>
                </a:solidFill>
              </a:ln>
            </p:spPr>
          </p:sp>
          <p:sp>
            <p:nvSpPr>
              <p:cNvPr id="54" name="Freeform 54"/>
              <p:cNvSpPr/>
              <p:nvPr/>
            </p:nvSpPr>
            <p:spPr>
              <a:xfrm>
                <a:off x="4514850" y="3943350"/>
                <a:ext cx="76200" cy="76200"/>
              </a:xfrm>
              <a:custGeom>
                <a:avLst/>
                <a:gdLst/>
                <a:ahLst/>
                <a:cxnLst/>
                <a:rect l="l" t="t" r="r" b="b"/>
                <a:pathLst>
                  <a:path w="76200" h="76200">
                    <a:moveTo>
                      <a:pt x="0" y="0"/>
                    </a:moveTo>
                    <a:lnTo>
                      <a:pt x="76200" y="76200"/>
                    </a:lnTo>
                  </a:path>
                </a:pathLst>
              </a:custGeom>
              <a:noFill/>
              <a:ln w="12700">
                <a:solidFill>
                  <a:srgbClr val="FFFFFF"/>
                </a:solidFill>
              </a:ln>
            </p:spPr>
          </p:sp>
        </p:grpSp>
        <p:sp>
          <p:nvSpPr>
            <p:cNvPr id="56" name="TextBox 56"/>
            <p:cNvSpPr txBox="1"/>
            <p:nvPr/>
          </p:nvSpPr>
          <p:spPr>
            <a:xfrm>
              <a:off x="4776788" y="3746897"/>
              <a:ext cx="515696" cy="183356"/>
            </a:xfrm>
            <a:prstGeom prst="rect">
              <a:avLst/>
            </a:prstGeom>
            <a:noFill/>
            <a:ln>
              <a:noFill/>
            </a:ln>
          </p:spPr>
          <p:txBody>
            <a:bodyPr wrap="none" lIns="0" tIns="0" rIns="0" bIns="0" anchor="t" anchorCtr="0">
              <a:spAutoFit/>
            </a:bodyPr>
            <a:lstStyle/>
            <a:p>
              <a:pPr algn="l"/>
              <a:r>
                <a:rPr lang="zh-CN" sz="940" b="1" dirty="0">
                  <a:solidFill>
                    <a:srgbClr val="C03616"/>
                  </a:solidFill>
                  <a:latin typeface="+mn-lt"/>
                  <a:ea typeface="+mn-ea"/>
                  <a:cs typeface="+mn-cs"/>
                </a:rPr>
                <a:t>问题本质</a:t>
              </a:r>
            </a:p>
          </p:txBody>
        </p:sp>
        <p:sp>
          <p:nvSpPr>
            <p:cNvPr id="57" name="TextBox 57"/>
            <p:cNvSpPr txBox="1"/>
            <p:nvPr/>
          </p:nvSpPr>
          <p:spPr>
            <a:xfrm>
              <a:off x="4776788" y="3964543"/>
              <a:ext cx="1866265" cy="350044"/>
            </a:xfrm>
            <a:prstGeom prst="rect">
              <a:avLst/>
            </a:prstGeom>
            <a:noFill/>
            <a:ln>
              <a:noFill/>
            </a:ln>
          </p:spPr>
          <p:txBody>
            <a:bodyPr wrap="none" lIns="0" tIns="0" rIns="0" bIns="0" anchor="t" anchorCtr="0">
              <a:spAutoFit/>
            </a:bodyPr>
            <a:lstStyle/>
            <a:p>
              <a:pPr algn="l">
                <a:lnSpc>
                  <a:spcPts val="1425"/>
                </a:lnSpc>
              </a:pPr>
              <a:r>
                <a:rPr lang="zh-CN" sz="860" dirty="0">
                  <a:solidFill>
                    <a:srgbClr val="461910"/>
                  </a:solidFill>
                  <a:latin typeface="+mn-lt"/>
                  <a:ea typeface="+mn-ea"/>
                  <a:cs typeface="+mn-cs"/>
                </a:rPr>
                <a:t>缺乏第一责任人意识，无法赢得信任，</a:t>
              </a:r>
              <a:br/>
              <a:r>
                <a:rPr lang="zh-CN" sz="860" dirty="0">
                  <a:solidFill>
                    <a:srgbClr val="461910"/>
                  </a:solidFill>
                  <a:latin typeface="+mn-lt"/>
                  <a:ea typeface="+mn-ea"/>
                  <a:cs typeface="+mn-cs"/>
                </a:rPr>
                <a:t>老板看不到你解决问题的能力。</a:t>
              </a:r>
            </a:p>
          </p:txBody>
        </p:sp>
      </p:grpSp>
      <p:grpSp>
        <p:nvGrpSpPr>
          <p:cNvPr id="111" name="mistake-card-3"/>
          <p:cNvGrpSpPr/>
          <p:nvPr/>
        </p:nvGrpSpPr>
        <p:grpSpPr>
          <a:xfrm>
            <a:off x="8153400" y="952500"/>
            <a:ext cx="3810000" cy="3524250"/>
            <a:chOff x="8153400" y="952500"/>
            <a:chExt cx="3810000" cy="3524250"/>
          </a:xfrm>
        </p:grpSpPr>
        <p:sp>
          <p:nvSpPr>
            <p:cNvPr id="59" name="Rectangle 59"/>
            <p:cNvSpPr/>
            <p:nvPr/>
          </p:nvSpPr>
          <p:spPr>
            <a:xfrm>
              <a:off x="8153400" y="952500"/>
              <a:ext cx="3810000" cy="3524250"/>
            </a:xfrm>
            <a:prstGeom prst="roundRect">
              <a:avLst>
                <a:gd name="adj" fmla="val 3243"/>
              </a:avLst>
            </a:prstGeom>
            <a:solidFill>
              <a:srgbClr val="FFFFFF"/>
            </a:solidFill>
            <a:ln w="14288">
              <a:solidFill>
                <a:srgbClr val="C9D6EE"/>
              </a:solidFill>
            </a:ln>
          </p:spPr>
        </p:sp>
        <p:grpSp>
          <p:nvGrpSpPr>
            <p:cNvPr id="63" name="Group 63"/>
            <p:cNvGrpSpPr/>
            <p:nvPr/>
          </p:nvGrpSpPr>
          <p:grpSpPr>
            <a:xfrm>
              <a:off x="8328599" y="1098563"/>
              <a:ext cx="240143" cy="206314"/>
              <a:chOff x="8328599" y="1098563"/>
              <a:chExt cx="240143" cy="206314"/>
            </a:xfrm>
          </p:grpSpPr>
          <p:sp>
            <p:nvSpPr>
              <p:cNvPr id="60" name="Freeform 60"/>
              <p:cNvSpPr/>
              <p:nvPr/>
            </p:nvSpPr>
            <p:spPr>
              <a:xfrm>
                <a:off x="8448675" y="1173956"/>
                <a:ext cx="9525" cy="47625"/>
              </a:xfrm>
              <a:custGeom>
                <a:avLst/>
                <a:gdLst/>
                <a:ahLst/>
                <a:cxnLst/>
                <a:rect l="l" t="t" r="r" b="b"/>
                <a:pathLst>
                  <a:path w="9525" h="47625">
                    <a:moveTo>
                      <a:pt x="0" y="0"/>
                    </a:moveTo>
                    <a:lnTo>
                      <a:pt x="0" y="47625"/>
                    </a:lnTo>
                  </a:path>
                </a:pathLst>
              </a:custGeom>
              <a:noFill/>
              <a:ln w="23812">
                <a:solidFill>
                  <a:srgbClr val="C03616"/>
                </a:solidFill>
              </a:ln>
            </p:spPr>
          </p:sp>
          <p:sp>
            <p:nvSpPr>
              <p:cNvPr id="61" name="Freeform 61"/>
              <p:cNvSpPr/>
              <p:nvPr/>
            </p:nvSpPr>
            <p:spPr>
              <a:xfrm>
                <a:off x="8328599" y="1098563"/>
                <a:ext cx="240143" cy="206314"/>
              </a:xfrm>
              <a:custGeom>
                <a:avLst/>
                <a:gdLst/>
                <a:ahLst/>
                <a:cxnLst/>
                <a:rect l="l" t="t" r="r" b="b"/>
                <a:pathLst>
                  <a:path w="240143" h="206314">
                    <a:moveTo>
                      <a:pt x="100585" y="10992"/>
                    </a:moveTo>
                    <a:lnTo>
                      <a:pt x="4073" y="172131"/>
                    </a:lnTo>
                    <a:cubicBezTo>
                      <a:pt x="25" y="179142"/>
                      <a:pt x="0" y="187775"/>
                      <a:pt x="4008" y="194810"/>
                    </a:cubicBezTo>
                    <a:cubicBezTo>
                      <a:pt x="8017" y="201844"/>
                      <a:pt x="15456" y="206223"/>
                      <a:pt x="23552" y="206314"/>
                    </a:cubicBezTo>
                    <a:lnTo>
                      <a:pt x="216600" y="206314"/>
                    </a:lnTo>
                    <a:cubicBezTo>
                      <a:pt x="224692" y="206221"/>
                      <a:pt x="232127" y="201843"/>
                      <a:pt x="236135" y="194813"/>
                    </a:cubicBezTo>
                    <a:cubicBezTo>
                      <a:pt x="240143" y="187782"/>
                      <a:pt x="240121" y="179154"/>
                      <a:pt x="236078" y="172143"/>
                    </a:cubicBezTo>
                    <a:lnTo>
                      <a:pt x="139566" y="10980"/>
                    </a:lnTo>
                    <a:cubicBezTo>
                      <a:pt x="135437" y="4164"/>
                      <a:pt x="128046" y="0"/>
                      <a:pt x="120076" y="0"/>
                    </a:cubicBezTo>
                    <a:cubicBezTo>
                      <a:pt x="112106" y="0"/>
                      <a:pt x="104715" y="4164"/>
                      <a:pt x="100585" y="10980"/>
                    </a:cubicBezTo>
                  </a:path>
                </a:pathLst>
              </a:custGeom>
              <a:noFill/>
              <a:ln w="23812">
                <a:solidFill>
                  <a:srgbClr val="C03616"/>
                </a:solidFill>
              </a:ln>
            </p:spPr>
          </p:sp>
          <p:sp>
            <p:nvSpPr>
              <p:cNvPr id="62" name="Freeform 62"/>
              <p:cNvSpPr/>
              <p:nvPr/>
            </p:nvSpPr>
            <p:spPr>
              <a:xfrm>
                <a:off x="8448675" y="1257300"/>
                <a:ext cx="9525" cy="9525"/>
              </a:xfrm>
              <a:custGeom>
                <a:avLst/>
                <a:gdLst/>
                <a:ahLst/>
                <a:cxnLst/>
                <a:rect l="l" t="t" r="r" b="b"/>
                <a:pathLst>
                  <a:path w="9525" h="9525">
                    <a:moveTo>
                      <a:pt x="0" y="0"/>
                    </a:moveTo>
                    <a:lnTo>
                      <a:pt x="119" y="0"/>
                    </a:lnTo>
                  </a:path>
                </a:pathLst>
              </a:custGeom>
              <a:noFill/>
              <a:ln w="23812">
                <a:solidFill>
                  <a:srgbClr val="C03616"/>
                </a:solidFill>
              </a:ln>
            </p:spPr>
          </p:sp>
        </p:grpSp>
        <p:sp>
          <p:nvSpPr>
            <p:cNvPr id="64" name="TextBox 64"/>
            <p:cNvSpPr txBox="1"/>
            <p:nvPr/>
          </p:nvSpPr>
          <p:spPr>
            <a:xfrm>
              <a:off x="8680894" y="1150858"/>
              <a:ext cx="2198040" cy="227362"/>
            </a:xfrm>
            <a:prstGeom prst="rect">
              <a:avLst/>
            </a:prstGeom>
            <a:noFill/>
            <a:ln>
              <a:noFill/>
            </a:ln>
          </p:spPr>
          <p:txBody>
            <a:bodyPr wrap="none" lIns="0" tIns="0" rIns="0" bIns="0" anchor="t" anchorCtr="0">
              <a:spAutoFit/>
            </a:bodyPr>
            <a:lstStyle/>
            <a:p>
              <a:pPr algn="l"/>
              <a:r>
                <a:rPr lang="zh-CN" sz="1160" b="1" dirty="0">
                  <a:solidFill>
                    <a:srgbClr val="461910"/>
                  </a:solidFill>
                  <a:latin typeface="+mn-lt"/>
                  <a:ea typeface="+mn-ea"/>
                  <a:cs typeface="+mn-cs"/>
                </a:rPr>
                <a:t>误区三：没有充分归因就要资源</a:t>
              </a:r>
            </a:p>
          </p:txBody>
        </p:sp>
        <p:sp>
          <p:nvSpPr>
            <p:cNvPr id="65" name="TextBox 65"/>
            <p:cNvSpPr txBox="1"/>
            <p:nvPr/>
          </p:nvSpPr>
          <p:spPr>
            <a:xfrm>
              <a:off x="8301038" y="1492091"/>
              <a:ext cx="2654681" cy="333375"/>
            </a:xfrm>
            <a:prstGeom prst="rect">
              <a:avLst/>
            </a:prstGeom>
            <a:noFill/>
            <a:ln>
              <a:noFill/>
            </a:ln>
          </p:spPr>
          <p:txBody>
            <a:bodyPr wrap="none" lIns="0" tIns="0" rIns="0" bIns="0" anchor="t" anchorCtr="0">
              <a:spAutoFit/>
            </a:bodyPr>
            <a:lstStyle/>
            <a:p>
              <a:pPr algn="l">
                <a:lnSpc>
                  <a:spcPts val="1350"/>
                </a:lnSpc>
              </a:pPr>
              <a:r>
                <a:rPr lang="zh-CN" sz="820" dirty="0">
                  <a:solidFill>
                    <a:srgbClr val="523E3A"/>
                  </a:solidFill>
                  <a:latin typeface="+mn-lt"/>
                  <a:ea typeface="+mn-ea"/>
                  <a:cs typeface="+mn-cs"/>
                </a:rPr>
                <a:t>没有分析差距原因、机会空间和投入产出，</a:t>
              </a:r>
              <a:br/>
              <a:r>
                <a:rPr lang="zh-CN" sz="820" dirty="0">
                  <a:solidFill>
                    <a:srgbClr val="523E3A"/>
                  </a:solidFill>
                  <a:latin typeface="+mn-lt"/>
                  <a:ea typeface="+mn-ea"/>
                  <a:cs typeface="+mn-cs"/>
                </a:rPr>
                <a:t xml:space="preserve">直接提出资源需求，容易被判断为“拍脑袋要钱”。      </a:t>
              </a:r>
            </a:p>
          </p:txBody>
        </p:sp>
        <p:sp>
          <p:nvSpPr>
            <p:cNvPr id="66" name="Rectangle 66"/>
            <p:cNvSpPr/>
            <p:nvPr/>
          </p:nvSpPr>
          <p:spPr>
            <a:xfrm>
              <a:off x="8915400" y="1905000"/>
              <a:ext cx="1123950" cy="228600"/>
            </a:xfrm>
            <a:prstGeom prst="rect">
              <a:avLst/>
            </a:prstGeom>
            <a:solidFill>
              <a:srgbClr val="C03616"/>
            </a:solidFill>
            <a:ln>
              <a:noFill/>
            </a:ln>
          </p:spPr>
        </p:sp>
        <p:sp>
          <p:nvSpPr>
            <p:cNvPr id="67" name="Rectangle 67"/>
            <p:cNvSpPr/>
            <p:nvPr/>
          </p:nvSpPr>
          <p:spPr>
            <a:xfrm>
              <a:off x="10039350" y="1905000"/>
              <a:ext cx="1123950" cy="228600"/>
            </a:xfrm>
            <a:prstGeom prst="rect">
              <a:avLst/>
            </a:prstGeom>
            <a:solidFill>
              <a:srgbClr val="721E0D"/>
            </a:solidFill>
            <a:ln>
              <a:noFill/>
            </a:ln>
          </p:spPr>
        </p:sp>
        <p:sp>
          <p:nvSpPr>
            <p:cNvPr id="68" name="TextBox 68"/>
            <p:cNvSpPr txBox="1"/>
            <p:nvPr/>
          </p:nvSpPr>
          <p:spPr>
            <a:xfrm>
              <a:off x="9196642" y="1977866"/>
              <a:ext cx="56146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拍脑袋申请</a:t>
              </a:r>
            </a:p>
          </p:txBody>
        </p:sp>
        <p:sp>
          <p:nvSpPr>
            <p:cNvPr id="69" name="TextBox 69"/>
            <p:cNvSpPr txBox="1"/>
            <p:nvPr/>
          </p:nvSpPr>
          <p:spPr>
            <a:xfrm>
              <a:off x="10320592" y="1977866"/>
              <a:ext cx="56146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有依据申请</a:t>
              </a:r>
            </a:p>
          </p:txBody>
        </p:sp>
        <p:sp>
          <p:nvSpPr>
            <p:cNvPr id="70" name="Rectangle 70"/>
            <p:cNvSpPr/>
            <p:nvPr/>
          </p:nvSpPr>
          <p:spPr>
            <a:xfrm>
              <a:off x="8915400" y="2133600"/>
              <a:ext cx="1123950" cy="1285875"/>
            </a:xfrm>
            <a:prstGeom prst="rect">
              <a:avLst/>
            </a:prstGeom>
            <a:solidFill>
              <a:srgbClr val="FDECEC"/>
            </a:solidFill>
            <a:ln>
              <a:noFill/>
            </a:ln>
          </p:spPr>
        </p:sp>
        <p:sp>
          <p:nvSpPr>
            <p:cNvPr id="71" name="Rectangle 71"/>
            <p:cNvSpPr/>
            <p:nvPr/>
          </p:nvSpPr>
          <p:spPr>
            <a:xfrm>
              <a:off x="10039350" y="2133600"/>
              <a:ext cx="1123950" cy="1285875"/>
            </a:xfrm>
            <a:prstGeom prst="rect">
              <a:avLst/>
            </a:prstGeom>
            <a:solidFill>
              <a:srgbClr val="EAF1FB"/>
            </a:solidFill>
            <a:ln>
              <a:noFill/>
            </a:ln>
          </p:spPr>
        </p:sp>
        <p:grpSp>
          <p:nvGrpSpPr>
            <p:cNvPr id="76" name="Group 76"/>
            <p:cNvGrpSpPr/>
            <p:nvPr/>
          </p:nvGrpSpPr>
          <p:grpSpPr>
            <a:xfrm>
              <a:off x="8339138" y="2319338"/>
              <a:ext cx="85725" cy="85725"/>
              <a:chOff x="8339138" y="2319338"/>
              <a:chExt cx="85725" cy="85725"/>
            </a:xfrm>
          </p:grpSpPr>
          <p:sp>
            <p:nvSpPr>
              <p:cNvPr id="72" name="Freeform 72"/>
              <p:cNvSpPr/>
              <p:nvPr/>
            </p:nvSpPr>
            <p:spPr>
              <a:xfrm>
                <a:off x="8339138" y="2319338"/>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9525">
                <a:solidFill>
                  <a:srgbClr val="B8351A"/>
                </a:solidFill>
              </a:ln>
            </p:spPr>
          </p:sp>
          <p:sp>
            <p:nvSpPr>
              <p:cNvPr id="73" name="Freeform 73"/>
              <p:cNvSpPr/>
              <p:nvPr/>
            </p:nvSpPr>
            <p:spPr>
              <a:xfrm>
                <a:off x="8396288" y="2376488"/>
                <a:ext cx="28575" cy="28575"/>
              </a:xfrm>
              <a:custGeom>
                <a:avLst/>
                <a:gdLst/>
                <a:ahLst/>
                <a:cxnLst/>
                <a:rect l="l" t="t" r="r" b="b"/>
                <a:pathLst>
                  <a:path w="28575" h="28575">
                    <a:moveTo>
                      <a:pt x="28575" y="28575"/>
                    </a:moveTo>
                    <a:lnTo>
                      <a:pt x="0" y="0"/>
                    </a:lnTo>
                  </a:path>
                </a:pathLst>
              </a:custGeom>
              <a:noFill/>
              <a:ln w="9525">
                <a:solidFill>
                  <a:srgbClr val="B8351A"/>
                </a:solidFill>
              </a:ln>
            </p:spPr>
          </p:sp>
          <p:sp>
            <p:nvSpPr>
              <p:cNvPr id="74" name="Freeform 74"/>
              <p:cNvSpPr/>
              <p:nvPr/>
            </p:nvSpPr>
            <p:spPr>
              <a:xfrm>
                <a:off x="8372475" y="2366962"/>
                <a:ext cx="9525" cy="9525"/>
              </a:xfrm>
              <a:custGeom>
                <a:avLst/>
                <a:gdLst/>
                <a:ahLst/>
                <a:cxnLst/>
                <a:rect l="l" t="t" r="r" b="b"/>
                <a:pathLst>
                  <a:path w="9525" h="9525">
                    <a:moveTo>
                      <a:pt x="0" y="0"/>
                    </a:moveTo>
                    <a:lnTo>
                      <a:pt x="0" y="48"/>
                    </a:lnTo>
                  </a:path>
                </a:pathLst>
              </a:custGeom>
              <a:noFill/>
              <a:ln w="9525">
                <a:solidFill>
                  <a:srgbClr val="B8351A"/>
                </a:solidFill>
              </a:ln>
            </p:spPr>
          </p:sp>
          <p:sp>
            <p:nvSpPr>
              <p:cNvPr id="75" name="Freeform 75"/>
              <p:cNvSpPr/>
              <p:nvPr/>
            </p:nvSpPr>
            <p:spPr>
              <a:xfrm>
                <a:off x="8367046" y="2337666"/>
                <a:ext cx="13151" cy="15010"/>
              </a:xfrm>
              <a:custGeom>
                <a:avLst/>
                <a:gdLst/>
                <a:ahLst/>
                <a:cxnLst/>
                <a:rect l="l" t="t" r="r" b="b"/>
                <a:pathLst>
                  <a:path w="13151" h="15010">
                    <a:moveTo>
                      <a:pt x="5429" y="15009"/>
                    </a:moveTo>
                    <a:cubicBezTo>
                      <a:pt x="8733" y="15010"/>
                      <a:pt x="11607" y="12747"/>
                      <a:pt x="12379" y="9535"/>
                    </a:cubicBezTo>
                    <a:cubicBezTo>
                      <a:pt x="13151" y="6322"/>
                      <a:pt x="11620" y="3000"/>
                      <a:pt x="8676" y="1500"/>
                    </a:cubicBezTo>
                    <a:cubicBezTo>
                      <a:pt x="5733" y="0"/>
                      <a:pt x="2145" y="714"/>
                      <a:pt x="0" y="3226"/>
                    </a:cubicBezTo>
                  </a:path>
                </a:pathLst>
              </a:custGeom>
              <a:noFill/>
              <a:ln w="9525">
                <a:solidFill>
                  <a:srgbClr val="B8351A"/>
                </a:solidFill>
              </a:ln>
            </p:spPr>
          </p:sp>
        </p:grpSp>
        <p:sp>
          <p:nvSpPr>
            <p:cNvPr id="77" name="TextBox 77"/>
            <p:cNvSpPr txBox="1"/>
            <p:nvPr/>
          </p:nvSpPr>
          <p:spPr>
            <a:xfrm>
              <a:off x="8462962" y="2313861"/>
              <a:ext cx="200685"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思路</a:t>
              </a:r>
            </a:p>
          </p:txBody>
        </p:sp>
        <p:sp>
          <p:nvSpPr>
            <p:cNvPr id="78" name="TextBox 78"/>
            <p:cNvSpPr txBox="1"/>
            <p:nvPr/>
          </p:nvSpPr>
          <p:spPr>
            <a:xfrm>
              <a:off x="9138082" y="2313861"/>
              <a:ext cx="67858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凭感觉、凭经验</a:t>
              </a:r>
            </a:p>
          </p:txBody>
        </p:sp>
        <p:sp>
          <p:nvSpPr>
            <p:cNvPr id="79" name="TextBox 79"/>
            <p:cNvSpPr txBox="1"/>
            <p:nvPr/>
          </p:nvSpPr>
          <p:spPr>
            <a:xfrm>
              <a:off x="10262032" y="2313861"/>
              <a:ext cx="678586" cy="140494"/>
            </a:xfrm>
            <a:prstGeom prst="rect">
              <a:avLst/>
            </a:prstGeom>
            <a:noFill/>
            <a:ln>
              <a:noFill/>
            </a:ln>
          </p:spPr>
          <p:txBody>
            <a:bodyPr wrap="none" lIns="0" tIns="0" rIns="0" bIns="0" anchor="t" anchorCtr="0">
              <a:spAutoFit/>
            </a:bodyPr>
            <a:lstStyle/>
            <a:p>
              <a:pPr algn="ctr"/>
              <a:r>
                <a:rPr lang="zh-CN" sz="710" dirty="0">
                  <a:solidFill>
                    <a:srgbClr val="721E0D"/>
                  </a:solidFill>
                  <a:latin typeface="+mn-lt"/>
                  <a:ea typeface="+mn-ea"/>
                  <a:cs typeface="+mn-cs"/>
                </a:rPr>
                <a:t>基于数据和分析</a:t>
              </a:r>
            </a:p>
          </p:txBody>
        </p:sp>
        <p:grpSp>
          <p:nvGrpSpPr>
            <p:cNvPr id="85" name="Group 85"/>
            <p:cNvGrpSpPr/>
            <p:nvPr/>
          </p:nvGrpSpPr>
          <p:grpSpPr>
            <a:xfrm>
              <a:off x="8348662" y="2576512"/>
              <a:ext cx="66675" cy="85725"/>
              <a:chOff x="8348662" y="2576512"/>
              <a:chExt cx="66675" cy="85725"/>
            </a:xfrm>
          </p:grpSpPr>
          <p:sp>
            <p:nvSpPr>
              <p:cNvPr id="80" name="Freeform 80"/>
              <p:cNvSpPr/>
              <p:nvPr/>
            </p:nvSpPr>
            <p:spPr>
              <a:xfrm>
                <a:off x="8391525" y="2576512"/>
                <a:ext cx="23812" cy="23812"/>
              </a:xfrm>
              <a:custGeom>
                <a:avLst/>
                <a:gdLst/>
                <a:ahLst/>
                <a:cxnLst/>
                <a:rect l="l" t="t" r="r" b="b"/>
                <a:pathLst>
                  <a:path w="23812" h="23812">
                    <a:moveTo>
                      <a:pt x="0" y="0"/>
                    </a:moveTo>
                    <a:lnTo>
                      <a:pt x="0" y="19050"/>
                    </a:lnTo>
                    <a:cubicBezTo>
                      <a:pt x="0" y="21680"/>
                      <a:pt x="2132" y="23812"/>
                      <a:pt x="4762" y="23812"/>
                    </a:cubicBezTo>
                    <a:lnTo>
                      <a:pt x="23812" y="23812"/>
                    </a:lnTo>
                  </a:path>
                </a:pathLst>
              </a:custGeom>
              <a:noFill/>
              <a:ln w="9525">
                <a:solidFill>
                  <a:srgbClr val="B8351A"/>
                </a:solidFill>
              </a:ln>
            </p:spPr>
          </p:sp>
          <p:sp>
            <p:nvSpPr>
              <p:cNvPr id="81" name="Freeform 81"/>
              <p:cNvSpPr/>
              <p:nvPr/>
            </p:nvSpPr>
            <p:spPr>
              <a:xfrm>
                <a:off x="8348662" y="2576512"/>
                <a:ext cx="66675" cy="85725"/>
              </a:xfrm>
              <a:custGeom>
                <a:avLst/>
                <a:gdLst/>
                <a:ahLst/>
                <a:cxnLst/>
                <a:rect l="l" t="t" r="r" b="b"/>
                <a:pathLst>
                  <a:path w="66675" h="85725">
                    <a:moveTo>
                      <a:pt x="57150" y="85725"/>
                    </a:moveTo>
                    <a:lnTo>
                      <a:pt x="9525" y="85725"/>
                    </a:lnTo>
                    <a:cubicBezTo>
                      <a:pt x="4264" y="85725"/>
                      <a:pt x="0" y="81461"/>
                      <a:pt x="0" y="76200"/>
                    </a:cubicBezTo>
                    <a:lnTo>
                      <a:pt x="0" y="9525"/>
                    </a:lnTo>
                    <a:cubicBezTo>
                      <a:pt x="0" y="4264"/>
                      <a:pt x="4264" y="0"/>
                      <a:pt x="9525" y="0"/>
                    </a:cubicBezTo>
                    <a:lnTo>
                      <a:pt x="42862" y="0"/>
                    </a:lnTo>
                    <a:lnTo>
                      <a:pt x="66675" y="23812"/>
                    </a:lnTo>
                    <a:lnTo>
                      <a:pt x="66675" y="76200"/>
                    </a:lnTo>
                    <a:cubicBezTo>
                      <a:pt x="66675" y="81461"/>
                      <a:pt x="62411" y="85725"/>
                      <a:pt x="57150" y="85725"/>
                    </a:cubicBezTo>
                  </a:path>
                </a:pathLst>
              </a:custGeom>
              <a:noFill/>
              <a:ln w="9525">
                <a:solidFill>
                  <a:srgbClr val="B8351A"/>
                </a:solidFill>
              </a:ln>
            </p:spPr>
          </p:sp>
          <p:sp>
            <p:nvSpPr>
              <p:cNvPr id="82" name="Freeform 82"/>
              <p:cNvSpPr/>
              <p:nvPr/>
            </p:nvSpPr>
            <p:spPr>
              <a:xfrm>
                <a:off x="8367712" y="2605088"/>
                <a:ext cx="9525" cy="9525"/>
              </a:xfrm>
              <a:custGeom>
                <a:avLst/>
                <a:gdLst/>
                <a:ahLst/>
                <a:cxnLst/>
                <a:rect l="l" t="t" r="r" b="b"/>
                <a:pathLst>
                  <a:path w="9525" h="9525">
                    <a:moveTo>
                      <a:pt x="0" y="0"/>
                    </a:moveTo>
                    <a:lnTo>
                      <a:pt x="4762" y="0"/>
                    </a:lnTo>
                  </a:path>
                </a:pathLst>
              </a:custGeom>
              <a:noFill/>
              <a:ln w="9525">
                <a:solidFill>
                  <a:srgbClr val="B8351A"/>
                </a:solidFill>
              </a:ln>
            </p:spPr>
          </p:sp>
          <p:sp>
            <p:nvSpPr>
              <p:cNvPr id="83" name="Freeform 83"/>
              <p:cNvSpPr/>
              <p:nvPr/>
            </p:nvSpPr>
            <p:spPr>
              <a:xfrm>
                <a:off x="8367712" y="2624138"/>
                <a:ext cx="28575" cy="9525"/>
              </a:xfrm>
              <a:custGeom>
                <a:avLst/>
                <a:gdLst/>
                <a:ahLst/>
                <a:cxnLst/>
                <a:rect l="l" t="t" r="r" b="b"/>
                <a:pathLst>
                  <a:path w="28575" h="9525">
                    <a:moveTo>
                      <a:pt x="0" y="0"/>
                    </a:moveTo>
                    <a:lnTo>
                      <a:pt x="28575" y="0"/>
                    </a:lnTo>
                  </a:path>
                </a:pathLst>
              </a:custGeom>
              <a:noFill/>
              <a:ln w="9525">
                <a:solidFill>
                  <a:srgbClr val="B8351A"/>
                </a:solidFill>
              </a:ln>
            </p:spPr>
          </p:sp>
          <p:sp>
            <p:nvSpPr>
              <p:cNvPr id="84" name="Freeform 84"/>
              <p:cNvSpPr/>
              <p:nvPr/>
            </p:nvSpPr>
            <p:spPr>
              <a:xfrm>
                <a:off x="8367712" y="2643188"/>
                <a:ext cx="28575" cy="9525"/>
              </a:xfrm>
              <a:custGeom>
                <a:avLst/>
                <a:gdLst/>
                <a:ahLst/>
                <a:cxnLst/>
                <a:rect l="l" t="t" r="r" b="b"/>
                <a:pathLst>
                  <a:path w="28575" h="9525">
                    <a:moveTo>
                      <a:pt x="0" y="0"/>
                    </a:moveTo>
                    <a:lnTo>
                      <a:pt x="28575" y="0"/>
                    </a:lnTo>
                  </a:path>
                </a:pathLst>
              </a:custGeom>
              <a:noFill/>
              <a:ln w="9525">
                <a:solidFill>
                  <a:srgbClr val="B8351A"/>
                </a:solidFill>
              </a:ln>
            </p:spPr>
          </p:sp>
        </p:grpSp>
        <p:sp>
          <p:nvSpPr>
            <p:cNvPr id="86" name="TextBox 86"/>
            <p:cNvSpPr txBox="1"/>
            <p:nvPr/>
          </p:nvSpPr>
          <p:spPr>
            <a:xfrm>
              <a:off x="8462962" y="2571036"/>
              <a:ext cx="200685"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依据</a:t>
              </a:r>
            </a:p>
          </p:txBody>
        </p:sp>
        <p:sp>
          <p:nvSpPr>
            <p:cNvPr id="87" name="TextBox 87"/>
            <p:cNvSpPr txBox="1"/>
            <p:nvPr/>
          </p:nvSpPr>
          <p:spPr>
            <a:xfrm>
              <a:off x="9185872" y="2571036"/>
              <a:ext cx="58300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缺乏证据支撑</a:t>
              </a:r>
            </a:p>
          </p:txBody>
        </p:sp>
        <p:sp>
          <p:nvSpPr>
            <p:cNvPr id="88" name="TextBox 88"/>
            <p:cNvSpPr txBox="1"/>
            <p:nvPr/>
          </p:nvSpPr>
          <p:spPr>
            <a:xfrm>
              <a:off x="10166452" y="2571036"/>
              <a:ext cx="869747" cy="140494"/>
            </a:xfrm>
            <a:prstGeom prst="rect">
              <a:avLst/>
            </a:prstGeom>
            <a:noFill/>
            <a:ln>
              <a:noFill/>
            </a:ln>
          </p:spPr>
          <p:txBody>
            <a:bodyPr wrap="none" lIns="0" tIns="0" rIns="0" bIns="0" anchor="t" anchorCtr="0">
              <a:spAutoFit/>
            </a:bodyPr>
            <a:lstStyle/>
            <a:p>
              <a:pPr algn="ctr"/>
              <a:r>
                <a:rPr lang="zh-CN" sz="710" dirty="0">
                  <a:solidFill>
                    <a:srgbClr val="721E0D"/>
                  </a:solidFill>
                  <a:latin typeface="+mn-lt"/>
                  <a:ea typeface="+mn-ea"/>
                  <a:cs typeface="+mn-cs"/>
                </a:rPr>
                <a:t>有归因、测算和验证</a:t>
              </a:r>
            </a:p>
          </p:txBody>
        </p:sp>
        <p:grpSp>
          <p:nvGrpSpPr>
            <p:cNvPr id="91" name="Group 91"/>
            <p:cNvGrpSpPr/>
            <p:nvPr/>
          </p:nvGrpSpPr>
          <p:grpSpPr>
            <a:xfrm>
              <a:off x="8339138" y="2847975"/>
              <a:ext cx="85725" cy="57150"/>
              <a:chOff x="8339138" y="2847975"/>
              <a:chExt cx="85725" cy="57150"/>
            </a:xfrm>
          </p:grpSpPr>
          <p:sp>
            <p:nvSpPr>
              <p:cNvPr id="89" name="Freeform 89"/>
              <p:cNvSpPr/>
              <p:nvPr/>
            </p:nvSpPr>
            <p:spPr>
              <a:xfrm>
                <a:off x="8372475" y="28670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B8351A"/>
                </a:solidFill>
              </a:ln>
            </p:spPr>
          </p:sp>
          <p:sp>
            <p:nvSpPr>
              <p:cNvPr id="90" name="Freeform 90"/>
              <p:cNvSpPr/>
              <p:nvPr/>
            </p:nvSpPr>
            <p:spPr>
              <a:xfrm>
                <a:off x="8339138" y="2847975"/>
                <a:ext cx="85725" cy="57150"/>
              </a:xfrm>
              <a:custGeom>
                <a:avLst/>
                <a:gdLst/>
                <a:ahLst/>
                <a:cxnLst/>
                <a:rect l="l" t="t" r="r" b="b"/>
                <a:pathLst>
                  <a:path w="85725" h="57150">
                    <a:moveTo>
                      <a:pt x="85725" y="28575"/>
                    </a:moveTo>
                    <a:cubicBezTo>
                      <a:pt x="74295" y="47625"/>
                      <a:pt x="60007" y="57150"/>
                      <a:pt x="42862" y="57150"/>
                    </a:cubicBezTo>
                    <a:cubicBezTo>
                      <a:pt x="25718" y="57150"/>
                      <a:pt x="11430" y="47625"/>
                      <a:pt x="0" y="28575"/>
                    </a:cubicBezTo>
                    <a:cubicBezTo>
                      <a:pt x="11430" y="9525"/>
                      <a:pt x="25718" y="0"/>
                      <a:pt x="42862" y="0"/>
                    </a:cubicBezTo>
                    <a:cubicBezTo>
                      <a:pt x="60007" y="0"/>
                      <a:pt x="74295" y="9525"/>
                      <a:pt x="85725" y="28575"/>
                    </a:cubicBezTo>
                  </a:path>
                </a:pathLst>
              </a:custGeom>
              <a:noFill/>
              <a:ln w="9525">
                <a:solidFill>
                  <a:srgbClr val="B8351A"/>
                </a:solidFill>
              </a:ln>
            </p:spPr>
          </p:sp>
        </p:grpSp>
        <p:sp>
          <p:nvSpPr>
            <p:cNvPr id="92" name="TextBox 92"/>
            <p:cNvSpPr txBox="1"/>
            <p:nvPr/>
          </p:nvSpPr>
          <p:spPr>
            <a:xfrm>
              <a:off x="8462962" y="2828211"/>
              <a:ext cx="391846"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老板感受</a:t>
              </a:r>
            </a:p>
          </p:txBody>
        </p:sp>
        <p:sp>
          <p:nvSpPr>
            <p:cNvPr id="93" name="TextBox 93"/>
            <p:cNvSpPr txBox="1"/>
            <p:nvPr/>
          </p:nvSpPr>
          <p:spPr>
            <a:xfrm>
              <a:off x="9138082" y="2828211"/>
              <a:ext cx="67858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不专业、不靠谱</a:t>
              </a:r>
            </a:p>
          </p:txBody>
        </p:sp>
        <p:sp>
          <p:nvSpPr>
            <p:cNvPr id="94" name="TextBox 94"/>
            <p:cNvSpPr txBox="1"/>
            <p:nvPr/>
          </p:nvSpPr>
          <p:spPr>
            <a:xfrm>
              <a:off x="10309822" y="2828211"/>
              <a:ext cx="583006" cy="140494"/>
            </a:xfrm>
            <a:prstGeom prst="rect">
              <a:avLst/>
            </a:prstGeom>
            <a:noFill/>
            <a:ln>
              <a:noFill/>
            </a:ln>
          </p:spPr>
          <p:txBody>
            <a:bodyPr wrap="none" lIns="0" tIns="0" rIns="0" bIns="0" anchor="t" anchorCtr="0">
              <a:spAutoFit/>
            </a:bodyPr>
            <a:lstStyle/>
            <a:p>
              <a:pPr algn="ctr"/>
              <a:r>
                <a:rPr lang="zh-CN" sz="710" dirty="0">
                  <a:solidFill>
                    <a:srgbClr val="721E0D"/>
                  </a:solidFill>
                  <a:latin typeface="+mn-lt"/>
                  <a:ea typeface="+mn-ea"/>
                  <a:cs typeface="+mn-cs"/>
                </a:rPr>
                <a:t>专业、可信赖</a:t>
              </a:r>
            </a:p>
          </p:txBody>
        </p:sp>
        <p:grpSp>
          <p:nvGrpSpPr>
            <p:cNvPr id="97" name="Group 97"/>
            <p:cNvGrpSpPr/>
            <p:nvPr/>
          </p:nvGrpSpPr>
          <p:grpSpPr>
            <a:xfrm>
              <a:off x="8348662" y="3091312"/>
              <a:ext cx="66675" cy="85276"/>
              <a:chOff x="8348662" y="3091312"/>
              <a:chExt cx="66675" cy="85276"/>
            </a:xfrm>
          </p:grpSpPr>
          <p:sp>
            <p:nvSpPr>
              <p:cNvPr id="95" name="Freeform 95"/>
              <p:cNvSpPr/>
              <p:nvPr/>
            </p:nvSpPr>
            <p:spPr>
              <a:xfrm>
                <a:off x="8348662" y="3091312"/>
                <a:ext cx="66675" cy="61014"/>
              </a:xfrm>
              <a:custGeom>
                <a:avLst/>
                <a:gdLst/>
                <a:ahLst/>
                <a:cxnLst/>
                <a:rect l="l" t="t" r="r" b="b"/>
                <a:pathLst>
                  <a:path w="66675" h="61014">
                    <a:moveTo>
                      <a:pt x="0" y="9076"/>
                    </a:moveTo>
                    <a:cubicBezTo>
                      <a:pt x="9259" y="0"/>
                      <a:pt x="24078" y="0"/>
                      <a:pt x="33338" y="9076"/>
                    </a:cubicBezTo>
                    <a:cubicBezTo>
                      <a:pt x="42597" y="18152"/>
                      <a:pt x="57416" y="18152"/>
                      <a:pt x="66675" y="9076"/>
                    </a:cubicBezTo>
                    <a:lnTo>
                      <a:pt x="66675" y="51938"/>
                    </a:lnTo>
                    <a:cubicBezTo>
                      <a:pt x="57416" y="61014"/>
                      <a:pt x="42597" y="61014"/>
                      <a:pt x="33338" y="51938"/>
                    </a:cubicBezTo>
                    <a:cubicBezTo>
                      <a:pt x="24078" y="42862"/>
                      <a:pt x="9259" y="42862"/>
                      <a:pt x="0" y="51938"/>
                    </a:cubicBezTo>
                    <a:lnTo>
                      <a:pt x="0" y="9076"/>
                    </a:lnTo>
                  </a:path>
                </a:pathLst>
              </a:custGeom>
              <a:noFill/>
              <a:ln w="9525">
                <a:solidFill>
                  <a:srgbClr val="B8351A"/>
                </a:solidFill>
              </a:ln>
            </p:spPr>
          </p:sp>
          <p:sp>
            <p:nvSpPr>
              <p:cNvPr id="96" name="Freeform 96"/>
              <p:cNvSpPr/>
              <p:nvPr/>
            </p:nvSpPr>
            <p:spPr>
              <a:xfrm>
                <a:off x="8348662" y="3143250"/>
                <a:ext cx="9525" cy="33338"/>
              </a:xfrm>
              <a:custGeom>
                <a:avLst/>
                <a:gdLst/>
                <a:ahLst/>
                <a:cxnLst/>
                <a:rect l="l" t="t" r="r" b="b"/>
                <a:pathLst>
                  <a:path w="9525" h="33338">
                    <a:moveTo>
                      <a:pt x="0" y="33338"/>
                    </a:moveTo>
                    <a:lnTo>
                      <a:pt x="0" y="0"/>
                    </a:lnTo>
                  </a:path>
                </a:pathLst>
              </a:custGeom>
              <a:noFill/>
              <a:ln w="9525">
                <a:solidFill>
                  <a:srgbClr val="B8351A"/>
                </a:solidFill>
              </a:ln>
            </p:spPr>
          </p:sp>
        </p:grpSp>
        <p:sp>
          <p:nvSpPr>
            <p:cNvPr id="98" name="TextBox 98"/>
            <p:cNvSpPr txBox="1"/>
            <p:nvPr/>
          </p:nvSpPr>
          <p:spPr>
            <a:xfrm>
              <a:off x="8462962" y="3085386"/>
              <a:ext cx="200685"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结果</a:t>
              </a:r>
            </a:p>
          </p:txBody>
        </p:sp>
        <p:sp>
          <p:nvSpPr>
            <p:cNvPr id="99" name="TextBox 99"/>
            <p:cNvSpPr txBox="1"/>
            <p:nvPr/>
          </p:nvSpPr>
          <p:spPr>
            <a:xfrm>
              <a:off x="9138082" y="3085386"/>
              <a:ext cx="67858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难通过、易被砍</a:t>
              </a:r>
            </a:p>
          </p:txBody>
        </p:sp>
        <p:sp>
          <p:nvSpPr>
            <p:cNvPr id="100" name="TextBox 100"/>
            <p:cNvSpPr txBox="1"/>
            <p:nvPr/>
          </p:nvSpPr>
          <p:spPr>
            <a:xfrm>
              <a:off x="10309822" y="3085386"/>
              <a:ext cx="583006" cy="140494"/>
            </a:xfrm>
            <a:prstGeom prst="rect">
              <a:avLst/>
            </a:prstGeom>
            <a:noFill/>
            <a:ln>
              <a:noFill/>
            </a:ln>
          </p:spPr>
          <p:txBody>
            <a:bodyPr wrap="none" lIns="0" tIns="0" rIns="0" bIns="0" anchor="t" anchorCtr="0">
              <a:spAutoFit/>
            </a:bodyPr>
            <a:lstStyle/>
            <a:p>
              <a:pPr algn="ctr"/>
              <a:r>
                <a:rPr lang="zh-CN" sz="710" dirty="0">
                  <a:solidFill>
                    <a:srgbClr val="721E0D"/>
                  </a:solidFill>
                  <a:latin typeface="+mn-lt"/>
                  <a:ea typeface="+mn-ea"/>
                  <a:cs typeface="+mn-cs"/>
                </a:rPr>
                <a:t>更易获得支持</a:t>
              </a:r>
            </a:p>
          </p:txBody>
        </p:sp>
        <p:grpSp>
          <p:nvGrpSpPr>
            <p:cNvPr id="106" name="Group 106"/>
            <p:cNvGrpSpPr/>
            <p:nvPr/>
          </p:nvGrpSpPr>
          <p:grpSpPr>
            <a:xfrm>
              <a:off x="8339138" y="3347399"/>
              <a:ext cx="85724" cy="86364"/>
              <a:chOff x="8339138" y="3347399"/>
              <a:chExt cx="85724" cy="86364"/>
            </a:xfrm>
          </p:grpSpPr>
          <p:sp>
            <p:nvSpPr>
              <p:cNvPr id="101" name="Freeform 101"/>
              <p:cNvSpPr/>
              <p:nvPr/>
            </p:nvSpPr>
            <p:spPr>
              <a:xfrm>
                <a:off x="8367712" y="3386138"/>
                <a:ext cx="57150" cy="28575"/>
              </a:xfrm>
              <a:custGeom>
                <a:avLst/>
                <a:gdLst/>
                <a:ahLst/>
                <a:cxnLst/>
                <a:rect l="l" t="t" r="r" b="b"/>
                <a:pathLst>
                  <a:path w="57150" h="28575">
                    <a:moveTo>
                      <a:pt x="0" y="14288"/>
                    </a:moveTo>
                    <a:cubicBezTo>
                      <a:pt x="0" y="22179"/>
                      <a:pt x="12792" y="28575"/>
                      <a:pt x="28575" y="28575"/>
                    </a:cubicBezTo>
                    <a:cubicBezTo>
                      <a:pt x="44358" y="28575"/>
                      <a:pt x="57150" y="22179"/>
                      <a:pt x="57150" y="14288"/>
                    </a:cubicBezTo>
                    <a:cubicBezTo>
                      <a:pt x="57150" y="6396"/>
                      <a:pt x="44358" y="0"/>
                      <a:pt x="28575" y="0"/>
                    </a:cubicBezTo>
                    <a:cubicBezTo>
                      <a:pt x="12792" y="0"/>
                      <a:pt x="0" y="6396"/>
                      <a:pt x="0" y="14288"/>
                    </a:cubicBezTo>
                  </a:path>
                </a:pathLst>
              </a:custGeom>
              <a:noFill/>
              <a:ln w="9525">
                <a:solidFill>
                  <a:srgbClr val="B8351A"/>
                </a:solidFill>
              </a:ln>
            </p:spPr>
          </p:sp>
          <p:sp>
            <p:nvSpPr>
              <p:cNvPr id="102" name="Freeform 102"/>
              <p:cNvSpPr/>
              <p:nvPr/>
            </p:nvSpPr>
            <p:spPr>
              <a:xfrm>
                <a:off x="8367712" y="3400425"/>
                <a:ext cx="57150" cy="33338"/>
              </a:xfrm>
              <a:custGeom>
                <a:avLst/>
                <a:gdLst/>
                <a:ahLst/>
                <a:cxnLst/>
                <a:rect l="l" t="t" r="r" b="b"/>
                <a:pathLst>
                  <a:path w="57150" h="33338">
                    <a:moveTo>
                      <a:pt x="0" y="0"/>
                    </a:moveTo>
                    <a:lnTo>
                      <a:pt x="0" y="19050"/>
                    </a:lnTo>
                    <a:cubicBezTo>
                      <a:pt x="0" y="26937"/>
                      <a:pt x="12792" y="33338"/>
                      <a:pt x="28575" y="33338"/>
                    </a:cubicBezTo>
                    <a:cubicBezTo>
                      <a:pt x="44358" y="33338"/>
                      <a:pt x="57150" y="26937"/>
                      <a:pt x="57150" y="19050"/>
                    </a:cubicBezTo>
                    <a:lnTo>
                      <a:pt x="57150" y="0"/>
                    </a:lnTo>
                  </a:path>
                </a:pathLst>
              </a:custGeom>
              <a:noFill/>
              <a:ln w="9525">
                <a:solidFill>
                  <a:srgbClr val="B8351A"/>
                </a:solidFill>
              </a:ln>
            </p:spPr>
          </p:sp>
          <p:sp>
            <p:nvSpPr>
              <p:cNvPr id="103" name="Freeform 103"/>
              <p:cNvSpPr/>
              <p:nvPr/>
            </p:nvSpPr>
            <p:spPr>
              <a:xfrm>
                <a:off x="8339138" y="3347399"/>
                <a:ext cx="57150" cy="29851"/>
              </a:xfrm>
              <a:custGeom>
                <a:avLst/>
                <a:gdLst/>
                <a:ahLst/>
                <a:cxnLst/>
                <a:rect l="l" t="t" r="r" b="b"/>
                <a:pathLst>
                  <a:path w="57150" h="29851">
                    <a:moveTo>
                      <a:pt x="0" y="14926"/>
                    </a:moveTo>
                    <a:cubicBezTo>
                      <a:pt x="0" y="20031"/>
                      <a:pt x="5448" y="24746"/>
                      <a:pt x="14288" y="27299"/>
                    </a:cubicBezTo>
                    <a:cubicBezTo>
                      <a:pt x="23127" y="29851"/>
                      <a:pt x="34023" y="29851"/>
                      <a:pt x="42862" y="27299"/>
                    </a:cubicBezTo>
                    <a:cubicBezTo>
                      <a:pt x="51702" y="24746"/>
                      <a:pt x="57150" y="20031"/>
                      <a:pt x="57150" y="14926"/>
                    </a:cubicBezTo>
                    <a:cubicBezTo>
                      <a:pt x="57150" y="9820"/>
                      <a:pt x="51702" y="5105"/>
                      <a:pt x="42862" y="2553"/>
                    </a:cubicBezTo>
                    <a:cubicBezTo>
                      <a:pt x="34023" y="0"/>
                      <a:pt x="23127" y="0"/>
                      <a:pt x="14288" y="2553"/>
                    </a:cubicBezTo>
                    <a:cubicBezTo>
                      <a:pt x="5448" y="5105"/>
                      <a:pt x="0" y="9820"/>
                      <a:pt x="0" y="14926"/>
                    </a:cubicBezTo>
                  </a:path>
                </a:pathLst>
              </a:custGeom>
              <a:noFill/>
              <a:ln w="9525">
                <a:solidFill>
                  <a:srgbClr val="B8351A"/>
                </a:solidFill>
              </a:ln>
            </p:spPr>
          </p:sp>
          <p:sp>
            <p:nvSpPr>
              <p:cNvPr id="104" name="Freeform 104"/>
              <p:cNvSpPr/>
              <p:nvPr/>
            </p:nvSpPr>
            <p:spPr>
              <a:xfrm>
                <a:off x="8339138" y="3362325"/>
                <a:ext cx="9525" cy="57150"/>
              </a:xfrm>
              <a:custGeom>
                <a:avLst/>
                <a:gdLst/>
                <a:ahLst/>
                <a:cxnLst/>
                <a:rect l="l" t="t" r="r" b="b"/>
                <a:pathLst>
                  <a:path w="9525" h="57150">
                    <a:moveTo>
                      <a:pt x="0" y="0"/>
                    </a:moveTo>
                    <a:lnTo>
                      <a:pt x="0" y="47625"/>
                    </a:lnTo>
                    <a:cubicBezTo>
                      <a:pt x="0" y="51854"/>
                      <a:pt x="3677" y="54531"/>
                      <a:pt x="9525" y="57150"/>
                    </a:cubicBezTo>
                  </a:path>
                </a:pathLst>
              </a:custGeom>
              <a:noFill/>
              <a:ln w="9525">
                <a:solidFill>
                  <a:srgbClr val="B8351A"/>
                </a:solidFill>
              </a:ln>
            </p:spPr>
          </p:sp>
          <p:sp>
            <p:nvSpPr>
              <p:cNvPr id="105" name="Freeform 105"/>
              <p:cNvSpPr/>
              <p:nvPr/>
            </p:nvSpPr>
            <p:spPr>
              <a:xfrm>
                <a:off x="8339138" y="3386138"/>
                <a:ext cx="9525" cy="9525"/>
              </a:xfrm>
              <a:custGeom>
                <a:avLst/>
                <a:gdLst/>
                <a:ahLst/>
                <a:cxnLst/>
                <a:rect l="l" t="t" r="r" b="b"/>
                <a:pathLst>
                  <a:path w="9525" h="9525">
                    <a:moveTo>
                      <a:pt x="0" y="0"/>
                    </a:moveTo>
                    <a:cubicBezTo>
                      <a:pt x="0" y="4229"/>
                      <a:pt x="3677" y="6906"/>
                      <a:pt x="9525" y="9525"/>
                    </a:cubicBezTo>
                  </a:path>
                </a:pathLst>
              </a:custGeom>
              <a:noFill/>
              <a:ln w="9525">
                <a:solidFill>
                  <a:srgbClr val="B8351A"/>
                </a:solidFill>
              </a:ln>
            </p:spPr>
          </p:sp>
        </p:grpSp>
        <p:sp>
          <p:nvSpPr>
            <p:cNvPr id="107" name="TextBox 107"/>
            <p:cNvSpPr txBox="1"/>
            <p:nvPr/>
          </p:nvSpPr>
          <p:spPr>
            <a:xfrm>
              <a:off x="8462962" y="3342561"/>
              <a:ext cx="391846"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资源效果</a:t>
              </a:r>
            </a:p>
          </p:txBody>
        </p:sp>
        <p:sp>
          <p:nvSpPr>
            <p:cNvPr id="108" name="TextBox 108"/>
            <p:cNvSpPr txBox="1"/>
            <p:nvPr/>
          </p:nvSpPr>
          <p:spPr>
            <a:xfrm>
              <a:off x="8946921" y="3342561"/>
              <a:ext cx="1060907"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投入不清晰、回报不明确</a:t>
              </a:r>
            </a:p>
          </p:txBody>
        </p:sp>
        <p:sp>
          <p:nvSpPr>
            <p:cNvPr id="109" name="TextBox 109"/>
            <p:cNvSpPr txBox="1"/>
            <p:nvPr/>
          </p:nvSpPr>
          <p:spPr>
            <a:xfrm>
              <a:off x="10166452" y="3342561"/>
              <a:ext cx="869747" cy="140494"/>
            </a:xfrm>
            <a:prstGeom prst="rect">
              <a:avLst/>
            </a:prstGeom>
            <a:noFill/>
            <a:ln>
              <a:noFill/>
            </a:ln>
          </p:spPr>
          <p:txBody>
            <a:bodyPr wrap="none" lIns="0" tIns="0" rIns="0" bIns="0" anchor="t" anchorCtr="0">
              <a:spAutoFit/>
            </a:bodyPr>
            <a:lstStyle/>
            <a:p>
              <a:pPr algn="ctr"/>
              <a:r>
                <a:rPr lang="zh-CN" sz="710" dirty="0">
                  <a:solidFill>
                    <a:srgbClr val="721E0D"/>
                  </a:solidFill>
                  <a:latin typeface="+mn-lt"/>
                  <a:ea typeface="+mn-ea"/>
                  <a:cs typeface="+mn-cs"/>
                </a:rPr>
                <a:t>投入可控、回报可明</a:t>
              </a:r>
            </a:p>
          </p:txBody>
        </p:sp>
        <p:sp>
          <p:nvSpPr>
            <p:cNvPr id="110" name="Line 110"/>
            <p:cNvSpPr/>
            <p:nvPr/>
          </p:nvSpPr>
          <p:spPr>
            <a:xfrm>
              <a:off x="8305800" y="3419475"/>
              <a:ext cx="2857500" cy="9525"/>
            </a:xfrm>
            <a:custGeom>
              <a:avLst/>
              <a:gdLst/>
              <a:ahLst/>
              <a:cxnLst/>
              <a:rect l="l" t="t" r="r" b="b"/>
              <a:pathLst>
                <a:path w="2857500" h="9525">
                  <a:moveTo>
                    <a:pt x="0" y="0"/>
                  </a:moveTo>
                  <a:lnTo>
                    <a:pt x="2857500" y="0"/>
                  </a:lnTo>
                </a:path>
              </a:pathLst>
            </a:custGeom>
            <a:noFill/>
            <a:ln w="9525">
              <a:solidFill>
                <a:srgbClr val="C9D6EE"/>
              </a:solidFill>
            </a:ln>
          </p:spPr>
        </p:sp>
      </p:grpSp>
      <p:grpSp>
        <p:nvGrpSpPr>
          <p:cNvPr id="143" name="core-questions-band"/>
          <p:cNvGrpSpPr/>
          <p:nvPr/>
        </p:nvGrpSpPr>
        <p:grpSpPr>
          <a:xfrm>
            <a:off x="228600" y="4629150"/>
            <a:ext cx="11734800" cy="1695450"/>
            <a:chOff x="228600" y="4629150"/>
            <a:chExt cx="11734800" cy="1695450"/>
          </a:xfrm>
        </p:grpSpPr>
        <p:sp>
          <p:nvSpPr>
            <p:cNvPr id="112" name="Rectangle 112"/>
            <p:cNvSpPr/>
            <p:nvPr/>
          </p:nvSpPr>
          <p:spPr>
            <a:xfrm>
              <a:off x="228600" y="4629150"/>
              <a:ext cx="11734800" cy="1695450"/>
            </a:xfrm>
            <a:prstGeom prst="roundRect">
              <a:avLst>
                <a:gd name="adj" fmla="val 7865"/>
              </a:avLst>
            </a:prstGeom>
            <a:solidFill>
              <a:srgbClr val="721E0D"/>
            </a:solidFill>
            <a:ln>
              <a:noFill/>
            </a:ln>
          </p:spPr>
        </p:sp>
        <p:sp>
          <p:nvSpPr>
            <p:cNvPr id="113" name="TextBox 113"/>
            <p:cNvSpPr txBox="1"/>
            <p:nvPr/>
          </p:nvSpPr>
          <p:spPr>
            <a:xfrm>
              <a:off x="5610485" y="4888706"/>
              <a:ext cx="971031" cy="220028"/>
            </a:xfrm>
            <a:prstGeom prst="rect">
              <a:avLst/>
            </a:prstGeom>
            <a:noFill/>
            <a:ln>
              <a:noFill/>
            </a:ln>
          </p:spPr>
          <p:txBody>
            <a:bodyPr wrap="none" lIns="0" tIns="0" rIns="0" bIns="0" anchor="t" anchorCtr="0">
              <a:spAutoFit/>
            </a:bodyPr>
            <a:lstStyle/>
            <a:p>
              <a:pPr algn="ctr" marL="126949" indent="-126949">
                <a:buClr>
                  <a:srgbClr val="FFFFFF"/>
                </a:buClr>
                <a:buSzTx/>
                <a:buFontTx/>
                <a:buChar char="◆"/>
              </a:pPr>
              <a:r>
                <a:rPr lang="zh-CN" sz="1120" b="1" dirty="0">
                  <a:solidFill>
                    <a:srgbClr val="FFFFFF"/>
                  </a:solidFill>
                  <a:latin typeface="+mn-lt"/>
                  <a:ea typeface="+mn-ea"/>
                  <a:cs typeface="+mn-cs"/>
                </a:rPr>
                <a:t>核 心 问 题◆</a:t>
              </a:r>
            </a:p>
          </p:txBody>
        </p:sp>
        <p:sp>
          <p:nvSpPr>
            <p:cNvPr id="114" name="Ellipse 114"/>
            <p:cNvSpPr/>
            <p:nvPr/>
          </p:nvSpPr>
          <p:spPr>
            <a:xfrm>
              <a:off x="628650" y="5372100"/>
              <a:ext cx="495300" cy="495300"/>
            </a:xfrm>
            <a:prstGeom prst="ellipse">
              <a:avLst/>
            </a:prstGeom>
            <a:solidFill>
              <a:srgbClr val="B8351A"/>
            </a:solidFill>
            <a:ln>
              <a:noFill/>
            </a:ln>
          </p:spPr>
        </p:sp>
        <p:sp>
          <p:nvSpPr>
            <p:cNvPr id="115" name="TextBox 115"/>
            <p:cNvSpPr txBox="1"/>
            <p:nvPr/>
          </p:nvSpPr>
          <p:spPr>
            <a:xfrm>
              <a:off x="800150" y="5527358"/>
              <a:ext cx="152301"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SimSun"/>
                  <a:ea typeface="SimSun"/>
                  <a:cs typeface="SimSun"/>
                </a:rPr>
                <a:t>1</a:t>
              </a:r>
            </a:p>
          </p:txBody>
        </p:sp>
        <p:grpSp>
          <p:nvGrpSpPr>
            <p:cNvPr id="120" name="Group 120"/>
            <p:cNvGrpSpPr/>
            <p:nvPr/>
          </p:nvGrpSpPr>
          <p:grpSpPr>
            <a:xfrm>
              <a:off x="1259681" y="5431631"/>
              <a:ext cx="242889" cy="242889"/>
              <a:chOff x="1259681" y="5431631"/>
              <a:chExt cx="242889" cy="242889"/>
            </a:xfrm>
          </p:grpSpPr>
          <p:sp>
            <p:nvSpPr>
              <p:cNvPr id="116" name="Freeform 116"/>
              <p:cNvSpPr/>
              <p:nvPr/>
            </p:nvSpPr>
            <p:spPr>
              <a:xfrm>
                <a:off x="1259681" y="5431631"/>
                <a:ext cx="188913" cy="188913"/>
              </a:xfrm>
              <a:custGeom>
                <a:avLst/>
                <a:gdLst/>
                <a:ahLst/>
                <a:cxnLst/>
                <a:rect l="l" t="t" r="r" b="b"/>
                <a:pathLst>
                  <a:path w="188913" h="188913">
                    <a:moveTo>
                      <a:pt x="0" y="94456"/>
                    </a:moveTo>
                    <a:cubicBezTo>
                      <a:pt x="0" y="146623"/>
                      <a:pt x="42290" y="188913"/>
                      <a:pt x="94456" y="188913"/>
                    </a:cubicBezTo>
                    <a:cubicBezTo>
                      <a:pt x="146623" y="188913"/>
                      <a:pt x="188913" y="146623"/>
                      <a:pt x="188913" y="94456"/>
                    </a:cubicBezTo>
                    <a:cubicBezTo>
                      <a:pt x="188913" y="42290"/>
                      <a:pt x="146623" y="0"/>
                      <a:pt x="94456" y="0"/>
                    </a:cubicBezTo>
                    <a:cubicBezTo>
                      <a:pt x="42290" y="0"/>
                      <a:pt x="0" y="42290"/>
                      <a:pt x="0" y="94456"/>
                    </a:cubicBezTo>
                  </a:path>
                </a:pathLst>
              </a:custGeom>
              <a:noFill/>
              <a:ln w="26988">
                <a:solidFill>
                  <a:srgbClr val="FFFFFF"/>
                </a:solidFill>
              </a:ln>
            </p:spPr>
          </p:sp>
          <p:sp>
            <p:nvSpPr>
              <p:cNvPr id="117" name="Freeform 117"/>
              <p:cNvSpPr/>
              <p:nvPr/>
            </p:nvSpPr>
            <p:spPr>
              <a:xfrm>
                <a:off x="1421607" y="5593557"/>
                <a:ext cx="80963" cy="80963"/>
              </a:xfrm>
              <a:custGeom>
                <a:avLst/>
                <a:gdLst/>
                <a:ahLst/>
                <a:cxnLst/>
                <a:rect l="l" t="t" r="r" b="b"/>
                <a:pathLst>
                  <a:path w="80963" h="80963">
                    <a:moveTo>
                      <a:pt x="80963" y="80963"/>
                    </a:moveTo>
                    <a:lnTo>
                      <a:pt x="0" y="0"/>
                    </a:lnTo>
                  </a:path>
                </a:pathLst>
              </a:custGeom>
              <a:noFill/>
              <a:ln w="26988">
                <a:solidFill>
                  <a:srgbClr val="FFFFFF"/>
                </a:solidFill>
              </a:ln>
            </p:spPr>
          </p:sp>
          <p:sp>
            <p:nvSpPr>
              <p:cNvPr id="118" name="Freeform 118"/>
              <p:cNvSpPr/>
              <p:nvPr/>
            </p:nvSpPr>
            <p:spPr>
              <a:xfrm>
                <a:off x="1354138" y="5566569"/>
                <a:ext cx="9525" cy="9525"/>
              </a:xfrm>
              <a:custGeom>
                <a:avLst/>
                <a:gdLst/>
                <a:ahLst/>
                <a:cxnLst/>
                <a:rect l="l" t="t" r="r" b="b"/>
                <a:pathLst>
                  <a:path w="9525" h="9525">
                    <a:moveTo>
                      <a:pt x="0" y="0"/>
                    </a:moveTo>
                    <a:lnTo>
                      <a:pt x="0" y="135"/>
                    </a:lnTo>
                  </a:path>
                </a:pathLst>
              </a:custGeom>
              <a:noFill/>
              <a:ln w="26988">
                <a:solidFill>
                  <a:srgbClr val="FFFFFF"/>
                </a:solidFill>
              </a:ln>
            </p:spPr>
          </p:sp>
          <p:sp>
            <p:nvSpPr>
              <p:cNvPr id="119" name="Freeform 119"/>
              <p:cNvSpPr/>
              <p:nvPr/>
            </p:nvSpPr>
            <p:spPr>
              <a:xfrm>
                <a:off x="1338755" y="5483563"/>
                <a:ext cx="37261" cy="42529"/>
              </a:xfrm>
              <a:custGeom>
                <a:avLst/>
                <a:gdLst/>
                <a:ahLst/>
                <a:cxnLst/>
                <a:rect l="l" t="t" r="r" b="b"/>
                <a:pathLst>
                  <a:path w="37261" h="42529">
                    <a:moveTo>
                      <a:pt x="15383" y="42525"/>
                    </a:moveTo>
                    <a:cubicBezTo>
                      <a:pt x="24743" y="42529"/>
                      <a:pt x="32886" y="36116"/>
                      <a:pt x="35073" y="27015"/>
                    </a:cubicBezTo>
                    <a:cubicBezTo>
                      <a:pt x="37261" y="17914"/>
                      <a:pt x="32923" y="8500"/>
                      <a:pt x="24583" y="4250"/>
                    </a:cubicBezTo>
                    <a:cubicBezTo>
                      <a:pt x="16244" y="0"/>
                      <a:pt x="6078" y="2023"/>
                      <a:pt x="0" y="9141"/>
                    </a:cubicBezTo>
                  </a:path>
                </a:pathLst>
              </a:custGeom>
              <a:noFill/>
              <a:ln w="26988">
                <a:solidFill>
                  <a:srgbClr val="FFFFFF"/>
                </a:solidFill>
              </a:ln>
            </p:spPr>
          </p:sp>
        </p:grpSp>
        <p:sp>
          <p:nvSpPr>
            <p:cNvPr id="121" name="TextBox 121"/>
            <p:cNvSpPr txBox="1"/>
            <p:nvPr/>
          </p:nvSpPr>
          <p:spPr>
            <a:xfrm>
              <a:off x="1671066" y="5411152"/>
              <a:ext cx="128282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差距到底怎么造成？</a:t>
              </a:r>
            </a:p>
          </p:txBody>
        </p:sp>
        <p:sp>
          <p:nvSpPr>
            <p:cNvPr id="122" name="TextBox 122"/>
            <p:cNvSpPr txBox="1"/>
            <p:nvPr/>
          </p:nvSpPr>
          <p:spPr>
            <a:xfrm>
              <a:off x="1671638" y="5653088"/>
              <a:ext cx="1724025" cy="309562"/>
            </a:xfrm>
            <a:prstGeom prst="rect">
              <a:avLst/>
            </a:prstGeom>
            <a:noFill/>
            <a:ln>
              <a:noFill/>
            </a:ln>
          </p:spPr>
          <p:txBody>
            <a:bodyPr wrap="none" lIns="0" tIns="0" rIns="0" bIns="0" anchor="t" anchorCtr="0">
              <a:spAutoFit/>
            </a:bodyPr>
            <a:lstStyle/>
            <a:p>
              <a:pPr algn="l">
                <a:lnSpc>
                  <a:spcPts val="1275"/>
                </a:lnSpc>
              </a:pPr>
              <a:r>
                <a:rPr lang="zh-CN" sz="750" dirty="0">
                  <a:solidFill>
                    <a:srgbClr val="DCE6F8"/>
                  </a:solidFill>
                  <a:latin typeface="+mn-lt"/>
                  <a:ea typeface="+mn-ea"/>
                  <a:cs typeface="+mn-cs"/>
                </a:rPr>
                <a:t>找到差距的真实原因，厘清主客观因素，</a:t>
              </a:r>
              <a:br/>
              <a:r>
                <a:rPr lang="zh-CN" sz="750" dirty="0">
                  <a:solidFill>
                    <a:srgbClr val="DCE6F8"/>
                  </a:solidFill>
                  <a:latin typeface="+mn-lt"/>
                  <a:ea typeface="+mn-ea"/>
                  <a:cs typeface="+mn-cs"/>
                </a:rPr>
                <a:t>明确自身可控的改进点。</a:t>
              </a:r>
            </a:p>
          </p:txBody>
        </p:sp>
        <p:sp>
          <p:nvSpPr>
            <p:cNvPr id="123" name="Line 123"/>
            <p:cNvSpPr/>
            <p:nvPr/>
          </p:nvSpPr>
          <p:spPr>
            <a:xfrm>
              <a:off x="4133850" y="5334000"/>
              <a:ext cx="9525" cy="762000"/>
            </a:xfrm>
            <a:custGeom>
              <a:avLst/>
              <a:gdLst/>
              <a:ahLst/>
              <a:cxnLst/>
              <a:rect l="l" t="t" r="r" b="b"/>
              <a:pathLst>
                <a:path w="9525" h="762000">
                  <a:moveTo>
                    <a:pt x="0" y="0"/>
                  </a:moveTo>
                  <a:lnTo>
                    <a:pt x="0" y="762000"/>
                  </a:lnTo>
                </a:path>
              </a:pathLst>
            </a:custGeom>
            <a:noFill/>
            <a:ln w="9525">
              <a:solidFill>
                <a:srgbClr val="FFFFFF">
                  <a:alpha val="30000"/>
                </a:srgbClr>
              </a:solidFill>
            </a:ln>
          </p:spPr>
        </p:sp>
        <p:sp>
          <p:nvSpPr>
            <p:cNvPr id="124" name="Ellipse 124"/>
            <p:cNvSpPr/>
            <p:nvPr/>
          </p:nvSpPr>
          <p:spPr>
            <a:xfrm>
              <a:off x="4591050" y="5372100"/>
              <a:ext cx="495300" cy="495300"/>
            </a:xfrm>
            <a:prstGeom prst="ellipse">
              <a:avLst/>
            </a:prstGeom>
            <a:solidFill>
              <a:srgbClr val="B8351A"/>
            </a:solidFill>
            <a:ln>
              <a:noFill/>
            </a:ln>
          </p:spPr>
        </p:sp>
        <p:sp>
          <p:nvSpPr>
            <p:cNvPr id="125" name="TextBox 125"/>
            <p:cNvSpPr txBox="1"/>
            <p:nvPr/>
          </p:nvSpPr>
          <p:spPr>
            <a:xfrm>
              <a:off x="4762550" y="5527358"/>
              <a:ext cx="152301"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SimSun"/>
                  <a:ea typeface="SimSun"/>
                  <a:cs typeface="SimSun"/>
                </a:rPr>
                <a:t>2</a:t>
              </a:r>
            </a:p>
          </p:txBody>
        </p:sp>
        <p:grpSp>
          <p:nvGrpSpPr>
            <p:cNvPr id="129" name="Group 129"/>
            <p:cNvGrpSpPr/>
            <p:nvPr/>
          </p:nvGrpSpPr>
          <p:grpSpPr>
            <a:xfrm>
              <a:off x="5208588" y="5431631"/>
              <a:ext cx="269876" cy="242889"/>
              <a:chOff x="5208588" y="5431631"/>
              <a:chExt cx="269876" cy="242889"/>
            </a:xfrm>
          </p:grpSpPr>
          <p:sp>
            <p:nvSpPr>
              <p:cNvPr id="126" name="Freeform 126"/>
              <p:cNvSpPr/>
              <p:nvPr/>
            </p:nvSpPr>
            <p:spPr>
              <a:xfrm>
                <a:off x="5208588" y="5472113"/>
                <a:ext cx="269876" cy="202407"/>
              </a:xfrm>
              <a:custGeom>
                <a:avLst/>
                <a:gdLst/>
                <a:ahLst/>
                <a:cxnLst/>
                <a:rect l="l" t="t" r="r" b="b"/>
                <a:pathLst>
                  <a:path w="269876" h="202407">
                    <a:moveTo>
                      <a:pt x="269876" y="0"/>
                    </a:moveTo>
                    <a:lnTo>
                      <a:pt x="202407" y="0"/>
                    </a:lnTo>
                    <a:lnTo>
                      <a:pt x="202407" y="67469"/>
                    </a:lnTo>
                    <a:lnTo>
                      <a:pt x="134938" y="67469"/>
                    </a:lnTo>
                    <a:lnTo>
                      <a:pt x="134938" y="134938"/>
                    </a:lnTo>
                    <a:lnTo>
                      <a:pt x="67469" y="134938"/>
                    </a:lnTo>
                    <a:lnTo>
                      <a:pt x="67469" y="202407"/>
                    </a:lnTo>
                    <a:lnTo>
                      <a:pt x="0" y="202407"/>
                    </a:lnTo>
                  </a:path>
                </a:pathLst>
              </a:custGeom>
              <a:noFill/>
              <a:ln w="26988">
                <a:solidFill>
                  <a:srgbClr val="FFFFFF"/>
                </a:solidFill>
              </a:ln>
            </p:spPr>
          </p:sp>
          <p:sp>
            <p:nvSpPr>
              <p:cNvPr id="127" name="Freeform 127"/>
              <p:cNvSpPr/>
              <p:nvPr/>
            </p:nvSpPr>
            <p:spPr>
              <a:xfrm>
                <a:off x="5262563" y="5431631"/>
                <a:ext cx="9525" cy="94456"/>
              </a:xfrm>
              <a:custGeom>
                <a:avLst/>
                <a:gdLst/>
                <a:ahLst/>
                <a:cxnLst/>
                <a:rect l="l" t="t" r="r" b="b"/>
                <a:pathLst>
                  <a:path w="9525" h="94456">
                    <a:moveTo>
                      <a:pt x="0" y="94456"/>
                    </a:moveTo>
                    <a:lnTo>
                      <a:pt x="0" y="0"/>
                    </a:lnTo>
                  </a:path>
                </a:pathLst>
              </a:custGeom>
              <a:noFill/>
              <a:ln w="26988">
                <a:solidFill>
                  <a:srgbClr val="FFFFFF"/>
                </a:solidFill>
              </a:ln>
            </p:spPr>
          </p:sp>
          <p:sp>
            <p:nvSpPr>
              <p:cNvPr id="128" name="Freeform 128"/>
              <p:cNvSpPr/>
              <p:nvPr/>
            </p:nvSpPr>
            <p:spPr>
              <a:xfrm>
                <a:off x="5222081" y="5431631"/>
                <a:ext cx="80963" cy="40481"/>
              </a:xfrm>
              <a:custGeom>
                <a:avLst/>
                <a:gdLst/>
                <a:ahLst/>
                <a:cxnLst/>
                <a:rect l="l" t="t" r="r" b="b"/>
                <a:pathLst>
                  <a:path w="80963" h="40481">
                    <a:moveTo>
                      <a:pt x="0" y="40481"/>
                    </a:moveTo>
                    <a:lnTo>
                      <a:pt x="40481" y="0"/>
                    </a:lnTo>
                    <a:lnTo>
                      <a:pt x="80963" y="40481"/>
                    </a:lnTo>
                  </a:path>
                </a:pathLst>
              </a:custGeom>
              <a:noFill/>
              <a:ln w="26988">
                <a:solidFill>
                  <a:srgbClr val="FFFFFF"/>
                </a:solidFill>
              </a:ln>
            </p:spPr>
          </p:sp>
        </p:grpSp>
        <p:sp>
          <p:nvSpPr>
            <p:cNvPr id="130" name="TextBox 130"/>
            <p:cNvSpPr txBox="1"/>
            <p:nvPr/>
          </p:nvSpPr>
          <p:spPr>
            <a:xfrm>
              <a:off x="5633466" y="5411152"/>
              <a:ext cx="1141476"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下半年怎么追回？</a:t>
              </a:r>
            </a:p>
          </p:txBody>
        </p:sp>
        <p:sp>
          <p:nvSpPr>
            <p:cNvPr id="131" name="TextBox 131"/>
            <p:cNvSpPr txBox="1"/>
            <p:nvPr/>
          </p:nvSpPr>
          <p:spPr>
            <a:xfrm>
              <a:off x="5634038" y="5653088"/>
              <a:ext cx="1724025" cy="309562"/>
            </a:xfrm>
            <a:prstGeom prst="rect">
              <a:avLst/>
            </a:prstGeom>
            <a:noFill/>
            <a:ln>
              <a:noFill/>
            </a:ln>
          </p:spPr>
          <p:txBody>
            <a:bodyPr wrap="none" lIns="0" tIns="0" rIns="0" bIns="0" anchor="t" anchorCtr="0">
              <a:spAutoFit/>
            </a:bodyPr>
            <a:lstStyle/>
            <a:p>
              <a:pPr algn="l">
                <a:lnSpc>
                  <a:spcPts val="1275"/>
                </a:lnSpc>
              </a:pPr>
              <a:r>
                <a:rPr lang="zh-CN" sz="750" dirty="0">
                  <a:solidFill>
                    <a:srgbClr val="DCE6F8"/>
                  </a:solidFill>
                  <a:latin typeface="+mn-lt"/>
                  <a:ea typeface="+mn-ea"/>
                  <a:cs typeface="+mn-cs"/>
                </a:rPr>
                <a:t>制定可执行的行动计划，明确关键举措、</a:t>
              </a:r>
              <a:br/>
              <a:r>
                <a:rPr lang="zh-CN" sz="750" dirty="0">
                  <a:solidFill>
                    <a:srgbClr val="DCE6F8"/>
                  </a:solidFill>
                  <a:latin typeface="+mn-lt"/>
                  <a:ea typeface="+mn-ea"/>
                  <a:cs typeface="+mn-cs"/>
                </a:rPr>
                <a:t>里程碑和责任人，确保能执行、能闭环。</a:t>
              </a:r>
            </a:p>
          </p:txBody>
        </p:sp>
        <p:sp>
          <p:nvSpPr>
            <p:cNvPr id="132" name="Line 132"/>
            <p:cNvSpPr/>
            <p:nvPr/>
          </p:nvSpPr>
          <p:spPr>
            <a:xfrm>
              <a:off x="8096250" y="5334000"/>
              <a:ext cx="9525" cy="762000"/>
            </a:xfrm>
            <a:custGeom>
              <a:avLst/>
              <a:gdLst/>
              <a:ahLst/>
              <a:cxnLst/>
              <a:rect l="l" t="t" r="r" b="b"/>
              <a:pathLst>
                <a:path w="9525" h="762000">
                  <a:moveTo>
                    <a:pt x="0" y="0"/>
                  </a:moveTo>
                  <a:lnTo>
                    <a:pt x="0" y="762000"/>
                  </a:lnTo>
                </a:path>
              </a:pathLst>
            </a:custGeom>
            <a:noFill/>
            <a:ln w="9525">
              <a:solidFill>
                <a:srgbClr val="FFFFFF">
                  <a:alpha val="30000"/>
                </a:srgbClr>
              </a:solidFill>
            </a:ln>
          </p:spPr>
        </p:sp>
        <p:sp>
          <p:nvSpPr>
            <p:cNvPr id="133" name="Ellipse 133"/>
            <p:cNvSpPr/>
            <p:nvPr/>
          </p:nvSpPr>
          <p:spPr>
            <a:xfrm>
              <a:off x="8553450" y="5372100"/>
              <a:ext cx="495300" cy="495300"/>
            </a:xfrm>
            <a:prstGeom prst="ellipse">
              <a:avLst/>
            </a:prstGeom>
            <a:solidFill>
              <a:srgbClr val="B8351A"/>
            </a:solidFill>
            <a:ln>
              <a:noFill/>
            </a:ln>
          </p:spPr>
        </p:sp>
        <p:sp>
          <p:nvSpPr>
            <p:cNvPr id="134" name="TextBox 134"/>
            <p:cNvSpPr txBox="1"/>
            <p:nvPr/>
          </p:nvSpPr>
          <p:spPr>
            <a:xfrm>
              <a:off x="8724950" y="5527358"/>
              <a:ext cx="152301"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SimSun"/>
                  <a:ea typeface="SimSun"/>
                  <a:cs typeface="SimSun"/>
                </a:rPr>
                <a:t>3</a:t>
              </a:r>
            </a:p>
          </p:txBody>
        </p:sp>
        <p:grpSp>
          <p:nvGrpSpPr>
            <p:cNvPr id="140" name="Group 140"/>
            <p:cNvGrpSpPr/>
            <p:nvPr/>
          </p:nvGrpSpPr>
          <p:grpSpPr>
            <a:xfrm>
              <a:off x="9184481" y="5429823"/>
              <a:ext cx="242888" cy="244696"/>
              <a:chOff x="9184481" y="5429823"/>
              <a:chExt cx="242888" cy="244696"/>
            </a:xfrm>
          </p:grpSpPr>
          <p:sp>
            <p:nvSpPr>
              <p:cNvPr id="135" name="Freeform 135"/>
              <p:cNvSpPr/>
              <p:nvPr/>
            </p:nvSpPr>
            <p:spPr>
              <a:xfrm>
                <a:off x="9265444" y="5539582"/>
                <a:ext cx="161925" cy="80963"/>
              </a:xfrm>
              <a:custGeom>
                <a:avLst/>
                <a:gdLst/>
                <a:ahLst/>
                <a:cxnLst/>
                <a:rect l="l" t="t" r="r" b="b"/>
                <a:pathLst>
                  <a:path w="161925" h="80963">
                    <a:moveTo>
                      <a:pt x="0" y="40481"/>
                    </a:moveTo>
                    <a:cubicBezTo>
                      <a:pt x="0" y="62841"/>
                      <a:pt x="36244" y="80963"/>
                      <a:pt x="80963" y="80963"/>
                    </a:cubicBezTo>
                    <a:cubicBezTo>
                      <a:pt x="125681" y="80963"/>
                      <a:pt x="161925" y="62841"/>
                      <a:pt x="161925" y="40481"/>
                    </a:cubicBezTo>
                    <a:cubicBezTo>
                      <a:pt x="161925" y="18122"/>
                      <a:pt x="125681" y="0"/>
                      <a:pt x="80963" y="0"/>
                    </a:cubicBezTo>
                    <a:cubicBezTo>
                      <a:pt x="36244" y="0"/>
                      <a:pt x="0" y="18122"/>
                      <a:pt x="0" y="40481"/>
                    </a:cubicBezTo>
                  </a:path>
                </a:pathLst>
              </a:custGeom>
              <a:noFill/>
              <a:ln w="26988">
                <a:solidFill>
                  <a:srgbClr val="FFFFFF"/>
                </a:solidFill>
              </a:ln>
            </p:spPr>
          </p:sp>
          <p:sp>
            <p:nvSpPr>
              <p:cNvPr id="136" name="Freeform 136"/>
              <p:cNvSpPr/>
              <p:nvPr/>
            </p:nvSpPr>
            <p:spPr>
              <a:xfrm>
                <a:off x="9265444" y="5580063"/>
                <a:ext cx="161925" cy="94456"/>
              </a:xfrm>
              <a:custGeom>
                <a:avLst/>
                <a:gdLst/>
                <a:ahLst/>
                <a:cxnLst/>
                <a:rect l="l" t="t" r="r" b="b"/>
                <a:pathLst>
                  <a:path w="161925" h="94456">
                    <a:moveTo>
                      <a:pt x="0" y="0"/>
                    </a:moveTo>
                    <a:lnTo>
                      <a:pt x="0" y="53975"/>
                    </a:lnTo>
                    <a:cubicBezTo>
                      <a:pt x="0" y="76321"/>
                      <a:pt x="36244" y="94456"/>
                      <a:pt x="80963" y="94456"/>
                    </a:cubicBezTo>
                    <a:cubicBezTo>
                      <a:pt x="125681" y="94456"/>
                      <a:pt x="161925" y="76321"/>
                      <a:pt x="161925" y="53975"/>
                    </a:cubicBezTo>
                    <a:lnTo>
                      <a:pt x="161925" y="0"/>
                    </a:lnTo>
                  </a:path>
                </a:pathLst>
              </a:custGeom>
              <a:noFill/>
              <a:ln w="26988">
                <a:solidFill>
                  <a:srgbClr val="FFFFFF"/>
                </a:solidFill>
              </a:ln>
            </p:spPr>
          </p:sp>
          <p:sp>
            <p:nvSpPr>
              <p:cNvPr id="137" name="Freeform 137"/>
              <p:cNvSpPr/>
              <p:nvPr/>
            </p:nvSpPr>
            <p:spPr>
              <a:xfrm>
                <a:off x="9184481" y="5429823"/>
                <a:ext cx="161925" cy="84579"/>
              </a:xfrm>
              <a:custGeom>
                <a:avLst/>
                <a:gdLst/>
                <a:ahLst/>
                <a:cxnLst/>
                <a:rect l="l" t="t" r="r" b="b"/>
                <a:pathLst>
                  <a:path w="161925" h="84579">
                    <a:moveTo>
                      <a:pt x="0" y="42290"/>
                    </a:moveTo>
                    <a:cubicBezTo>
                      <a:pt x="0" y="56755"/>
                      <a:pt x="15437" y="70114"/>
                      <a:pt x="40481" y="77346"/>
                    </a:cubicBezTo>
                    <a:cubicBezTo>
                      <a:pt x="65526" y="84579"/>
                      <a:pt x="96400" y="84579"/>
                      <a:pt x="121444" y="77346"/>
                    </a:cubicBezTo>
                    <a:cubicBezTo>
                      <a:pt x="146488" y="70114"/>
                      <a:pt x="161925" y="56755"/>
                      <a:pt x="161925" y="42290"/>
                    </a:cubicBezTo>
                    <a:cubicBezTo>
                      <a:pt x="161925" y="27824"/>
                      <a:pt x="146488" y="14465"/>
                      <a:pt x="121444" y="7233"/>
                    </a:cubicBezTo>
                    <a:cubicBezTo>
                      <a:pt x="96400" y="0"/>
                      <a:pt x="65526" y="0"/>
                      <a:pt x="40481" y="7233"/>
                    </a:cubicBezTo>
                    <a:cubicBezTo>
                      <a:pt x="15437" y="14465"/>
                      <a:pt x="0" y="27824"/>
                      <a:pt x="0" y="42290"/>
                    </a:cubicBezTo>
                  </a:path>
                </a:pathLst>
              </a:custGeom>
              <a:noFill/>
              <a:ln w="26988">
                <a:solidFill>
                  <a:srgbClr val="FFFFFF"/>
                </a:solidFill>
              </a:ln>
            </p:spPr>
          </p:sp>
          <p:sp>
            <p:nvSpPr>
              <p:cNvPr id="138" name="Freeform 138"/>
              <p:cNvSpPr/>
              <p:nvPr/>
            </p:nvSpPr>
            <p:spPr>
              <a:xfrm>
                <a:off x="9184481" y="5472113"/>
                <a:ext cx="26988" cy="161925"/>
              </a:xfrm>
              <a:custGeom>
                <a:avLst/>
                <a:gdLst/>
                <a:ahLst/>
                <a:cxnLst/>
                <a:rect l="l" t="t" r="r" b="b"/>
                <a:pathLst>
                  <a:path w="26988" h="161925">
                    <a:moveTo>
                      <a:pt x="0" y="0"/>
                    </a:moveTo>
                    <a:lnTo>
                      <a:pt x="0" y="134938"/>
                    </a:lnTo>
                    <a:cubicBezTo>
                      <a:pt x="0" y="146920"/>
                      <a:pt x="10417" y="154504"/>
                      <a:pt x="26988" y="161925"/>
                    </a:cubicBezTo>
                  </a:path>
                </a:pathLst>
              </a:custGeom>
              <a:noFill/>
              <a:ln w="26988">
                <a:solidFill>
                  <a:srgbClr val="FFFFFF"/>
                </a:solidFill>
              </a:ln>
            </p:spPr>
          </p:sp>
          <p:sp>
            <p:nvSpPr>
              <p:cNvPr id="139" name="Freeform 139"/>
              <p:cNvSpPr/>
              <p:nvPr/>
            </p:nvSpPr>
            <p:spPr>
              <a:xfrm>
                <a:off x="9184481" y="5539582"/>
                <a:ext cx="26988" cy="26988"/>
              </a:xfrm>
              <a:custGeom>
                <a:avLst/>
                <a:gdLst/>
                <a:ahLst/>
                <a:cxnLst/>
                <a:rect l="l" t="t" r="r" b="b"/>
                <a:pathLst>
                  <a:path w="26988" h="26988">
                    <a:moveTo>
                      <a:pt x="0" y="0"/>
                    </a:moveTo>
                    <a:cubicBezTo>
                      <a:pt x="0" y="11982"/>
                      <a:pt x="10417" y="19566"/>
                      <a:pt x="26988" y="26988"/>
                    </a:cubicBezTo>
                  </a:path>
                </a:pathLst>
              </a:custGeom>
              <a:noFill/>
              <a:ln w="26988">
                <a:solidFill>
                  <a:srgbClr val="FFFFFF"/>
                </a:solidFill>
              </a:ln>
            </p:spPr>
          </p:sp>
        </p:grpSp>
        <p:sp>
          <p:nvSpPr>
            <p:cNvPr id="141" name="TextBox 141"/>
            <p:cNvSpPr txBox="1"/>
            <p:nvPr/>
          </p:nvSpPr>
          <p:spPr>
            <a:xfrm>
              <a:off x="9595866" y="5411152"/>
              <a:ext cx="1706880"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资源投入能带来多少回报？</a:t>
              </a:r>
            </a:p>
          </p:txBody>
        </p:sp>
        <p:sp>
          <p:nvSpPr>
            <p:cNvPr id="142" name="TextBox 142"/>
            <p:cNvSpPr txBox="1"/>
            <p:nvPr/>
          </p:nvSpPr>
          <p:spPr>
            <a:xfrm>
              <a:off x="9596438" y="5653088"/>
              <a:ext cx="1905000" cy="309562"/>
            </a:xfrm>
            <a:prstGeom prst="rect">
              <a:avLst/>
            </a:prstGeom>
            <a:noFill/>
            <a:ln>
              <a:noFill/>
            </a:ln>
          </p:spPr>
          <p:txBody>
            <a:bodyPr wrap="none" lIns="0" tIns="0" rIns="0" bIns="0" anchor="t" anchorCtr="0">
              <a:spAutoFit/>
            </a:bodyPr>
            <a:lstStyle/>
            <a:p>
              <a:pPr algn="l">
                <a:lnSpc>
                  <a:spcPts val="1275"/>
                </a:lnSpc>
              </a:pPr>
              <a:r>
                <a:rPr lang="zh-CN" sz="750" dirty="0">
                  <a:solidFill>
                    <a:srgbClr val="DCE6F8"/>
                  </a:solidFill>
                  <a:latin typeface="+mn-lt"/>
                  <a:ea typeface="+mn-ea"/>
                  <a:cs typeface="+mn-cs"/>
                </a:rPr>
                <a:t xml:space="preserve">量化资源投入与预期回报，评估ROI和      </a:t>
              </a:r>
              <a:br/>
              <a:r>
                <a:rPr lang="zh-CN" sz="750" dirty="0">
                  <a:solidFill>
                    <a:srgbClr val="DCE6F8"/>
                  </a:solidFill>
                  <a:latin typeface="+mn-lt"/>
                  <a:ea typeface="+mn-ea"/>
                  <a:cs typeface="+mn-cs"/>
                </a:rPr>
                <a:t>风险，确保投入产出比合理。</a:t>
              </a:r>
            </a:p>
          </p:txBody>
        </p:sp>
      </p:gr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268698" y="152876"/>
              <a:ext cx="18650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3</a:t>
              </a:r>
            </a:p>
          </p:txBody>
        </p:sp>
        <p:sp>
          <p:nvSpPr>
            <p:cNvPr id="4" name="TextBox 4"/>
            <p:cNvSpPr txBox="1"/>
            <p:nvPr/>
          </p:nvSpPr>
          <p:spPr>
            <a:xfrm>
              <a:off x="904494" y="180023"/>
              <a:ext cx="3957447"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第一层归因：用数据</a:t>
              </a:r>
              <a:r>
                <a:rPr lang="zh-CN" sz="1950" b="1" dirty="0">
                  <a:solidFill>
                    <a:srgbClr val="B8351A"/>
                  </a:solidFill>
                  <a:latin typeface="+mn-lt"/>
                  <a:ea typeface="+mn-ea"/>
                  <a:cs typeface="+mn-cs"/>
                </a:rPr>
                <a:t>锁定差距源头</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29" name="kpi-strip"/>
          <p:cNvGrpSpPr/>
          <p:nvPr/>
        </p:nvGrpSpPr>
        <p:grpSpPr>
          <a:xfrm>
            <a:off x="228600" y="704850"/>
            <a:ext cx="11734800" cy="723329"/>
            <a:chOff x="228600" y="704850"/>
            <a:chExt cx="11734800" cy="723329"/>
          </a:xfrm>
        </p:grpSpPr>
        <p:sp>
          <p:nvSpPr>
            <p:cNvPr id="7" name="Rectangle 7"/>
            <p:cNvSpPr/>
            <p:nvPr/>
          </p:nvSpPr>
          <p:spPr>
            <a:xfrm>
              <a:off x="228600" y="704850"/>
              <a:ext cx="11734800" cy="685800"/>
            </a:xfrm>
            <a:prstGeom prst="roundRect">
              <a:avLst>
                <a:gd name="adj" fmla="val 16667"/>
              </a:avLst>
            </a:prstGeom>
            <a:solidFill>
              <a:srgbClr val="FFFFFF"/>
            </a:solidFill>
            <a:ln w="14288">
              <a:solidFill>
                <a:srgbClr val="C9D6EE"/>
              </a:solidFill>
            </a:ln>
          </p:spPr>
        </p:sp>
        <p:sp>
          <p:nvSpPr>
            <p:cNvPr id="8" name="Line 8"/>
            <p:cNvSpPr/>
            <p:nvPr/>
          </p:nvSpPr>
          <p:spPr>
            <a:xfrm>
              <a:off x="4133850" y="800100"/>
              <a:ext cx="9525" cy="495300"/>
            </a:xfrm>
            <a:custGeom>
              <a:avLst/>
              <a:gdLst/>
              <a:ahLst/>
              <a:cxnLst/>
              <a:rect l="l" t="t" r="r" b="b"/>
              <a:pathLst>
                <a:path w="9525" h="495300">
                  <a:moveTo>
                    <a:pt x="0" y="0"/>
                  </a:moveTo>
                  <a:lnTo>
                    <a:pt x="0" y="495300"/>
                  </a:lnTo>
                </a:path>
              </a:pathLst>
            </a:custGeom>
            <a:noFill/>
            <a:ln w="14288">
              <a:solidFill>
                <a:srgbClr val="DCE6F6"/>
              </a:solidFill>
            </a:ln>
          </p:spPr>
        </p:sp>
        <p:sp>
          <p:nvSpPr>
            <p:cNvPr id="9" name="Line 9"/>
            <p:cNvSpPr/>
            <p:nvPr/>
          </p:nvSpPr>
          <p:spPr>
            <a:xfrm>
              <a:off x="8096250" y="800100"/>
              <a:ext cx="9525" cy="495300"/>
            </a:xfrm>
            <a:custGeom>
              <a:avLst/>
              <a:gdLst/>
              <a:ahLst/>
              <a:cxnLst/>
              <a:rect l="l" t="t" r="r" b="b"/>
              <a:pathLst>
                <a:path w="9525" h="495300">
                  <a:moveTo>
                    <a:pt x="0" y="0"/>
                  </a:moveTo>
                  <a:lnTo>
                    <a:pt x="0" y="495300"/>
                  </a:lnTo>
                </a:path>
              </a:pathLst>
            </a:custGeom>
            <a:noFill/>
            <a:ln w="14288">
              <a:solidFill>
                <a:srgbClr val="DCE6F6"/>
              </a:solidFill>
            </a:ln>
          </p:spPr>
        </p:sp>
        <p:sp>
          <p:nvSpPr>
            <p:cNvPr id="10" name="Ellipse 10"/>
            <p:cNvSpPr/>
            <p:nvPr/>
          </p:nvSpPr>
          <p:spPr>
            <a:xfrm>
              <a:off x="571500" y="800100"/>
              <a:ext cx="495300" cy="495300"/>
            </a:xfrm>
            <a:prstGeom prst="ellipse">
              <a:avLst/>
            </a:prstGeom>
            <a:solidFill>
              <a:srgbClr val="EAF1FB"/>
            </a:solidFill>
            <a:ln>
              <a:noFill/>
            </a:ln>
          </p:spPr>
        </p:sp>
        <p:grpSp>
          <p:nvGrpSpPr>
            <p:cNvPr id="14" name="Group 14"/>
            <p:cNvGrpSpPr/>
            <p:nvPr/>
          </p:nvGrpSpPr>
          <p:grpSpPr>
            <a:xfrm>
              <a:off x="704850" y="933450"/>
              <a:ext cx="228599" cy="228599"/>
              <a:chOff x="704850" y="933450"/>
              <a:chExt cx="228599" cy="228599"/>
            </a:xfrm>
          </p:grpSpPr>
          <p:sp>
            <p:nvSpPr>
              <p:cNvPr id="11" name="Freeform 11"/>
              <p:cNvSpPr/>
              <p:nvPr/>
            </p:nvSpPr>
            <p:spPr>
              <a:xfrm>
                <a:off x="806450" y="10350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B8351A"/>
                </a:solidFill>
              </a:ln>
            </p:spPr>
          </p:sp>
          <p:sp>
            <p:nvSpPr>
              <p:cNvPr id="12" name="Freeform 12"/>
              <p:cNvSpPr/>
              <p:nvPr/>
            </p:nvSpPr>
            <p:spPr>
              <a:xfrm>
                <a:off x="755650" y="98425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B8351A"/>
                </a:solidFill>
              </a:ln>
            </p:spPr>
          </p:sp>
          <p:sp>
            <p:nvSpPr>
              <p:cNvPr id="13" name="Freeform 13"/>
              <p:cNvSpPr/>
              <p:nvPr/>
            </p:nvSpPr>
            <p:spPr>
              <a:xfrm>
                <a:off x="704850" y="93345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B8351A"/>
                </a:solidFill>
              </a:ln>
            </p:spPr>
          </p:sp>
        </p:grpSp>
        <p:sp>
          <p:nvSpPr>
            <p:cNvPr id="15" name="TextBox 15"/>
            <p:cNvSpPr txBox="1"/>
            <p:nvPr/>
          </p:nvSpPr>
          <p:spPr>
            <a:xfrm>
              <a:off x="1233297" y="847249"/>
              <a:ext cx="669544" cy="190690"/>
            </a:xfrm>
            <a:prstGeom prst="rect">
              <a:avLst/>
            </a:prstGeom>
            <a:noFill/>
            <a:ln>
              <a:noFill/>
            </a:ln>
          </p:spPr>
          <p:txBody>
            <a:bodyPr wrap="none" lIns="0" tIns="0" rIns="0" bIns="0" anchor="t" anchorCtr="0">
              <a:spAutoFit/>
            </a:bodyPr>
            <a:lstStyle/>
            <a:p>
              <a:pPr algn="l"/>
              <a:r>
                <a:rPr lang="zh-CN" sz="980" b="1" dirty="0">
                  <a:solidFill>
                    <a:srgbClr val="461910"/>
                  </a:solidFill>
                  <a:latin typeface="+mn-lt"/>
                  <a:ea typeface="+mn-ea"/>
                  <a:cs typeface="+mn-cs"/>
                </a:rPr>
                <a:t>上半年目标</a:t>
              </a:r>
            </a:p>
          </p:txBody>
        </p:sp>
        <p:sp>
          <p:nvSpPr>
            <p:cNvPr id="16" name="TextBox 16"/>
            <p:cNvSpPr txBox="1"/>
            <p:nvPr/>
          </p:nvSpPr>
          <p:spPr>
            <a:xfrm>
              <a:off x="1228344" y="1046798"/>
              <a:ext cx="1124352" cy="381381"/>
            </a:xfrm>
            <a:prstGeom prst="rect">
              <a:avLst/>
            </a:prstGeom>
            <a:noFill/>
            <a:ln>
              <a:noFill/>
            </a:ln>
          </p:spPr>
          <p:txBody>
            <a:bodyPr wrap="none" lIns="0" tIns="0" rIns="0" bIns="0" anchor="t" anchorCtr="0">
              <a:spAutoFit/>
            </a:bodyPr>
            <a:lstStyle/>
            <a:p>
              <a:pPr algn="l"/>
              <a:r>
                <a:rPr lang="zh-CN" sz="1950" b="1" dirty="0">
                  <a:solidFill>
                    <a:srgbClr val="B8351A"/>
                  </a:solidFill>
                  <a:latin typeface="+mn-lt"/>
                  <a:ea typeface="+mn-ea"/>
                  <a:cs typeface="+mn-cs"/>
                </a:rPr>
                <a:t xml:space="preserve">3.50 </a:t>
              </a:r>
              <a:r>
                <a:rPr lang="zh-CN" sz="980" b="1" dirty="0">
                  <a:solidFill>
                    <a:srgbClr val="B8351A"/>
                  </a:solidFill>
                  <a:latin typeface="+mn-lt"/>
                  <a:ea typeface="+mn-ea"/>
                  <a:cs typeface="+mn-cs"/>
                </a:rPr>
                <a:t>亿元</a:t>
              </a:r>
              <a:r>
                <a:rPr lang="zh-CN" sz="1950" b="1" dirty="0">
                  <a:solidFill>
                    <a:srgbClr val="B8351A"/>
                  </a:solidFill>
                  <a:latin typeface="+mn-lt"/>
                  <a:ea typeface="+mn-ea"/>
                  <a:cs typeface="+mn-cs"/>
                </a:rPr>
                <a:t xml:space="preserve"> </a:t>
              </a:r>
            </a:p>
          </p:txBody>
        </p:sp>
        <p:sp>
          <p:nvSpPr>
            <p:cNvPr id="17" name="Ellipse 17"/>
            <p:cNvSpPr/>
            <p:nvPr/>
          </p:nvSpPr>
          <p:spPr>
            <a:xfrm>
              <a:off x="4476750" y="800100"/>
              <a:ext cx="495300" cy="495300"/>
            </a:xfrm>
            <a:prstGeom prst="ellipse">
              <a:avLst/>
            </a:prstGeom>
            <a:solidFill>
              <a:srgbClr val="EAF1FB"/>
            </a:solidFill>
            <a:ln>
              <a:noFill/>
            </a:ln>
          </p:spPr>
        </p:sp>
        <p:grpSp>
          <p:nvGrpSpPr>
            <p:cNvPr id="20" name="Group 20"/>
            <p:cNvGrpSpPr/>
            <p:nvPr/>
          </p:nvGrpSpPr>
          <p:grpSpPr>
            <a:xfrm>
              <a:off x="4622800" y="971550"/>
              <a:ext cx="203199" cy="174624"/>
              <a:chOff x="4622800" y="971550"/>
              <a:chExt cx="203199" cy="174624"/>
            </a:xfrm>
          </p:grpSpPr>
          <p:sp>
            <p:nvSpPr>
              <p:cNvPr id="18" name="Freeform 18"/>
              <p:cNvSpPr/>
              <p:nvPr/>
            </p:nvSpPr>
            <p:spPr>
              <a:xfrm>
                <a:off x="4622800" y="1136649"/>
                <a:ext cx="203199" cy="9525"/>
              </a:xfrm>
              <a:custGeom>
                <a:avLst/>
                <a:gdLst/>
                <a:ahLst/>
                <a:cxnLst/>
                <a:rect l="l" t="t" r="r" b="b"/>
                <a:pathLst>
                  <a:path w="203199" h="9525">
                    <a:moveTo>
                      <a:pt x="0" y="0"/>
                    </a:moveTo>
                    <a:lnTo>
                      <a:pt x="203199" y="0"/>
                    </a:lnTo>
                  </a:path>
                </a:pathLst>
              </a:custGeom>
              <a:noFill/>
              <a:ln w="25400">
                <a:solidFill>
                  <a:srgbClr val="B8351A"/>
                </a:solidFill>
              </a:ln>
            </p:spPr>
          </p:sp>
          <p:sp>
            <p:nvSpPr>
              <p:cNvPr id="19" name="Freeform 19"/>
              <p:cNvSpPr/>
              <p:nvPr/>
            </p:nvSpPr>
            <p:spPr>
              <a:xfrm>
                <a:off x="4622800" y="971550"/>
                <a:ext cx="203199" cy="114300"/>
              </a:xfrm>
              <a:custGeom>
                <a:avLst/>
                <a:gdLst/>
                <a:ahLst/>
                <a:cxnLst/>
                <a:rect l="l" t="t" r="r" b="b"/>
                <a:pathLst>
                  <a:path w="203199" h="114300">
                    <a:moveTo>
                      <a:pt x="0" y="114300"/>
                    </a:moveTo>
                    <a:lnTo>
                      <a:pt x="50800" y="38100"/>
                    </a:lnTo>
                    <a:lnTo>
                      <a:pt x="101600" y="63500"/>
                    </a:lnTo>
                    <a:lnTo>
                      <a:pt x="152400" y="0"/>
                    </a:lnTo>
                    <a:lnTo>
                      <a:pt x="203199" y="50800"/>
                    </a:lnTo>
                  </a:path>
                </a:pathLst>
              </a:custGeom>
              <a:noFill/>
              <a:ln w="25400">
                <a:solidFill>
                  <a:srgbClr val="B8351A"/>
                </a:solidFill>
              </a:ln>
            </p:spPr>
          </p:sp>
        </p:grpSp>
        <p:sp>
          <p:nvSpPr>
            <p:cNvPr id="21" name="TextBox 21"/>
            <p:cNvSpPr txBox="1"/>
            <p:nvPr/>
          </p:nvSpPr>
          <p:spPr>
            <a:xfrm>
              <a:off x="5138547" y="847249"/>
              <a:ext cx="537616" cy="190690"/>
            </a:xfrm>
            <a:prstGeom prst="rect">
              <a:avLst/>
            </a:prstGeom>
            <a:noFill/>
            <a:ln>
              <a:noFill/>
            </a:ln>
          </p:spPr>
          <p:txBody>
            <a:bodyPr wrap="none" lIns="0" tIns="0" rIns="0" bIns="0" anchor="t" anchorCtr="0">
              <a:spAutoFit/>
            </a:bodyPr>
            <a:lstStyle/>
            <a:p>
              <a:pPr algn="l"/>
              <a:r>
                <a:rPr lang="zh-CN" sz="980" b="1" dirty="0">
                  <a:solidFill>
                    <a:srgbClr val="461910"/>
                  </a:solidFill>
                  <a:latin typeface="+mn-lt"/>
                  <a:ea typeface="+mn-ea"/>
                  <a:cs typeface="+mn-cs"/>
                </a:rPr>
                <a:t>实际完成</a:t>
              </a:r>
            </a:p>
          </p:txBody>
        </p:sp>
        <p:sp>
          <p:nvSpPr>
            <p:cNvPr id="22" name="TextBox 22"/>
            <p:cNvSpPr txBox="1"/>
            <p:nvPr/>
          </p:nvSpPr>
          <p:spPr>
            <a:xfrm>
              <a:off x="5133594" y="1046798"/>
              <a:ext cx="1124352" cy="381381"/>
            </a:xfrm>
            <a:prstGeom prst="rect">
              <a:avLst/>
            </a:prstGeom>
            <a:noFill/>
            <a:ln>
              <a:noFill/>
            </a:ln>
          </p:spPr>
          <p:txBody>
            <a:bodyPr wrap="none" lIns="0" tIns="0" rIns="0" bIns="0" anchor="t" anchorCtr="0">
              <a:spAutoFit/>
            </a:bodyPr>
            <a:lstStyle/>
            <a:p>
              <a:pPr algn="l"/>
              <a:r>
                <a:rPr lang="zh-CN" sz="1950" b="1" dirty="0">
                  <a:solidFill>
                    <a:srgbClr val="B8351A"/>
                  </a:solidFill>
                  <a:latin typeface="+mn-lt"/>
                  <a:ea typeface="+mn-ea"/>
                  <a:cs typeface="+mn-cs"/>
                </a:rPr>
                <a:t xml:space="preserve">1.47 </a:t>
              </a:r>
              <a:r>
                <a:rPr lang="zh-CN" sz="980" b="1" dirty="0">
                  <a:solidFill>
                    <a:srgbClr val="B8351A"/>
                  </a:solidFill>
                  <a:latin typeface="+mn-lt"/>
                  <a:ea typeface="+mn-ea"/>
                  <a:cs typeface="+mn-cs"/>
                </a:rPr>
                <a:t>亿元</a:t>
              </a:r>
              <a:r>
                <a:rPr lang="zh-CN" sz="1950" b="1" dirty="0">
                  <a:solidFill>
                    <a:srgbClr val="B8351A"/>
                  </a:solidFill>
                  <a:latin typeface="+mn-lt"/>
                  <a:ea typeface="+mn-ea"/>
                  <a:cs typeface="+mn-cs"/>
                </a:rPr>
                <a:t xml:space="preserve"> </a:t>
              </a:r>
            </a:p>
          </p:txBody>
        </p:sp>
        <p:sp>
          <p:nvSpPr>
            <p:cNvPr id="23" name="Ellipse 23"/>
            <p:cNvSpPr/>
            <p:nvPr/>
          </p:nvSpPr>
          <p:spPr>
            <a:xfrm>
              <a:off x="8439150" y="800100"/>
              <a:ext cx="495300" cy="495300"/>
            </a:xfrm>
            <a:prstGeom prst="ellipse">
              <a:avLst/>
            </a:prstGeom>
            <a:solidFill>
              <a:srgbClr val="FDECEC"/>
            </a:solidFill>
            <a:ln>
              <a:noFill/>
            </a:ln>
          </p:spPr>
        </p:sp>
        <p:grpSp>
          <p:nvGrpSpPr>
            <p:cNvPr id="26" name="Group 26"/>
            <p:cNvGrpSpPr/>
            <p:nvPr/>
          </p:nvGrpSpPr>
          <p:grpSpPr>
            <a:xfrm>
              <a:off x="8623300" y="984250"/>
              <a:ext cx="127000" cy="127000"/>
              <a:chOff x="8623300" y="984250"/>
              <a:chExt cx="127000" cy="127000"/>
            </a:xfrm>
          </p:grpSpPr>
          <p:sp>
            <p:nvSpPr>
              <p:cNvPr id="24" name="Freeform 24"/>
              <p:cNvSpPr/>
              <p:nvPr/>
            </p:nvSpPr>
            <p:spPr>
              <a:xfrm>
                <a:off x="8623300" y="984250"/>
                <a:ext cx="127000" cy="127000"/>
              </a:xfrm>
              <a:custGeom>
                <a:avLst/>
                <a:gdLst/>
                <a:ahLst/>
                <a:cxnLst/>
                <a:rect l="l" t="t" r="r" b="b"/>
                <a:pathLst>
                  <a:path w="127000" h="127000">
                    <a:moveTo>
                      <a:pt x="0" y="0"/>
                    </a:moveTo>
                    <a:lnTo>
                      <a:pt x="127000" y="127000"/>
                    </a:lnTo>
                  </a:path>
                </a:pathLst>
              </a:custGeom>
              <a:noFill/>
              <a:ln w="25400">
                <a:solidFill>
                  <a:srgbClr val="C03616"/>
                </a:solidFill>
              </a:ln>
            </p:spPr>
          </p:sp>
          <p:sp>
            <p:nvSpPr>
              <p:cNvPr id="25" name="Freeform 25"/>
              <p:cNvSpPr/>
              <p:nvPr/>
            </p:nvSpPr>
            <p:spPr>
              <a:xfrm>
                <a:off x="8636000" y="996950"/>
                <a:ext cx="114300" cy="114300"/>
              </a:xfrm>
              <a:custGeom>
                <a:avLst/>
                <a:gdLst/>
                <a:ahLst/>
                <a:cxnLst/>
                <a:rect l="l" t="t" r="r" b="b"/>
                <a:pathLst>
                  <a:path w="114300" h="114300">
                    <a:moveTo>
                      <a:pt x="114300" y="0"/>
                    </a:moveTo>
                    <a:lnTo>
                      <a:pt x="114300" y="114300"/>
                    </a:lnTo>
                    <a:lnTo>
                      <a:pt x="0" y="114300"/>
                    </a:lnTo>
                  </a:path>
                </a:pathLst>
              </a:custGeom>
              <a:noFill/>
              <a:ln w="25400">
                <a:solidFill>
                  <a:srgbClr val="C03616"/>
                </a:solidFill>
              </a:ln>
            </p:spPr>
          </p:sp>
        </p:grpSp>
        <p:sp>
          <p:nvSpPr>
            <p:cNvPr id="27" name="TextBox 27"/>
            <p:cNvSpPr txBox="1"/>
            <p:nvPr/>
          </p:nvSpPr>
          <p:spPr>
            <a:xfrm>
              <a:off x="9100947" y="847249"/>
              <a:ext cx="273761" cy="190690"/>
            </a:xfrm>
            <a:prstGeom prst="rect">
              <a:avLst/>
            </a:prstGeom>
            <a:noFill/>
            <a:ln>
              <a:noFill/>
            </a:ln>
          </p:spPr>
          <p:txBody>
            <a:bodyPr wrap="none" lIns="0" tIns="0" rIns="0" bIns="0" anchor="t" anchorCtr="0">
              <a:spAutoFit/>
            </a:bodyPr>
            <a:lstStyle/>
            <a:p>
              <a:pPr algn="l"/>
              <a:r>
                <a:rPr lang="zh-CN" sz="980" b="1" dirty="0">
                  <a:solidFill>
                    <a:srgbClr val="461910"/>
                  </a:solidFill>
                  <a:latin typeface="+mn-lt"/>
                  <a:ea typeface="+mn-ea"/>
                  <a:cs typeface="+mn-cs"/>
                </a:rPr>
                <a:t>差额</a:t>
              </a:r>
            </a:p>
          </p:txBody>
        </p:sp>
        <p:sp>
          <p:nvSpPr>
            <p:cNvPr id="28" name="TextBox 28"/>
            <p:cNvSpPr txBox="1"/>
            <p:nvPr/>
          </p:nvSpPr>
          <p:spPr>
            <a:xfrm>
              <a:off x="9095994" y="1046798"/>
              <a:ext cx="1124352" cy="381381"/>
            </a:xfrm>
            <a:prstGeom prst="rect">
              <a:avLst/>
            </a:prstGeom>
            <a:noFill/>
            <a:ln>
              <a:noFill/>
            </a:ln>
          </p:spPr>
          <p:txBody>
            <a:bodyPr wrap="none" lIns="0" tIns="0" rIns="0" bIns="0" anchor="t" anchorCtr="0">
              <a:spAutoFit/>
            </a:bodyPr>
            <a:lstStyle/>
            <a:p>
              <a:pPr algn="l"/>
              <a:r>
                <a:rPr lang="zh-CN" sz="1950" b="1" dirty="0">
                  <a:solidFill>
                    <a:srgbClr val="C03616"/>
                  </a:solidFill>
                  <a:latin typeface="+mn-lt"/>
                  <a:ea typeface="+mn-ea"/>
                  <a:cs typeface="+mn-cs"/>
                </a:rPr>
                <a:t xml:space="preserve">2.03 </a:t>
              </a:r>
              <a:r>
                <a:rPr lang="zh-CN" sz="980" b="1" dirty="0">
                  <a:solidFill>
                    <a:srgbClr val="C03616"/>
                  </a:solidFill>
                  <a:latin typeface="+mn-lt"/>
                  <a:ea typeface="+mn-ea"/>
                  <a:cs typeface="+mn-cs"/>
                </a:rPr>
                <a:t>亿元</a:t>
              </a:r>
              <a:r>
                <a:rPr lang="zh-CN" sz="1950" b="1" dirty="0">
                  <a:solidFill>
                    <a:srgbClr val="C03616"/>
                  </a:solidFill>
                  <a:latin typeface="+mn-lt"/>
                  <a:ea typeface="+mn-ea"/>
                  <a:cs typeface="+mn-cs"/>
                </a:rPr>
                <a:t xml:space="preserve"> </a:t>
              </a:r>
            </a:p>
          </p:txBody>
        </p:sp>
      </p:grpSp>
      <p:grpSp>
        <p:nvGrpSpPr>
          <p:cNvPr id="55" name="gap-card-1"/>
          <p:cNvGrpSpPr/>
          <p:nvPr/>
        </p:nvGrpSpPr>
        <p:grpSpPr>
          <a:xfrm>
            <a:off x="228600" y="1485900"/>
            <a:ext cx="5753100" cy="1866900"/>
            <a:chOff x="228600" y="1485900"/>
            <a:chExt cx="5753100" cy="1866900"/>
          </a:xfrm>
        </p:grpSpPr>
        <p:sp>
          <p:nvSpPr>
            <p:cNvPr id="30" name="Rectangle 30"/>
            <p:cNvSpPr/>
            <p:nvPr/>
          </p:nvSpPr>
          <p:spPr>
            <a:xfrm>
              <a:off x="228600" y="1485900"/>
              <a:ext cx="5753100" cy="1866900"/>
            </a:xfrm>
            <a:prstGeom prst="roundRect">
              <a:avLst>
                <a:gd name="adj" fmla="val 5102"/>
              </a:avLst>
            </a:prstGeom>
            <a:solidFill>
              <a:srgbClr val="FFFFFF"/>
            </a:solidFill>
            <a:ln w="14288">
              <a:solidFill>
                <a:srgbClr val="C9D6EE"/>
              </a:solidFill>
            </a:ln>
          </p:spPr>
        </p:sp>
        <p:sp>
          <p:nvSpPr>
            <p:cNvPr id="31" name="Freeform 31"/>
            <p:cNvSpPr/>
            <p:nvPr/>
          </p:nvSpPr>
          <p:spPr>
            <a:xfrm>
              <a:off x="228600" y="1485900"/>
              <a:ext cx="5753100" cy="304800"/>
            </a:xfrm>
            <a:custGeom>
              <a:avLst/>
              <a:gdLst/>
              <a:ahLst/>
              <a:cxnLst/>
              <a:rect l="l" t="t" r="r" b="b"/>
              <a:pathLst>
                <a:path w="5753100" h="304800">
                  <a:moveTo>
                    <a:pt x="95250" y="0"/>
                  </a:moveTo>
                  <a:lnTo>
                    <a:pt x="5657850" y="0"/>
                  </a:lnTo>
                  <a:cubicBezTo>
                    <a:pt x="5710455" y="0"/>
                    <a:pt x="5753100" y="42645"/>
                    <a:pt x="5753100" y="95250"/>
                  </a:cubicBezTo>
                  <a:lnTo>
                    <a:pt x="5753100" y="304800"/>
                  </a:lnTo>
                  <a:lnTo>
                    <a:pt x="0" y="304800"/>
                  </a:lnTo>
                  <a:lnTo>
                    <a:pt x="0" y="95250"/>
                  </a:lnTo>
                  <a:cubicBezTo>
                    <a:pt x="0" y="42645"/>
                    <a:pt x="42645" y="0"/>
                    <a:pt x="95250" y="0"/>
                  </a:cubicBezTo>
                  <a:close/>
                </a:path>
              </a:pathLst>
            </a:custGeom>
            <a:solidFill>
              <a:srgbClr val="721E0D"/>
            </a:solidFill>
            <a:ln>
              <a:noFill/>
            </a:ln>
          </p:spPr>
        </p:sp>
        <p:sp>
          <p:nvSpPr>
            <p:cNvPr id="32" name="Rectangle 32"/>
            <p:cNvSpPr/>
            <p:nvPr/>
          </p:nvSpPr>
          <p:spPr>
            <a:xfrm>
              <a:off x="323850" y="1543050"/>
              <a:ext cx="323850" cy="190500"/>
            </a:xfrm>
            <a:prstGeom prst="roundRect">
              <a:avLst>
                <a:gd name="adj" fmla="val 20000"/>
              </a:avLst>
            </a:prstGeom>
            <a:solidFill>
              <a:srgbClr val="B8351A"/>
            </a:solidFill>
            <a:ln>
              <a:noFill/>
            </a:ln>
          </p:spPr>
        </p:sp>
        <p:sp>
          <p:nvSpPr>
            <p:cNvPr id="33" name="TextBox 33"/>
            <p:cNvSpPr txBox="1"/>
            <p:nvPr/>
          </p:nvSpPr>
          <p:spPr>
            <a:xfrm>
              <a:off x="407934" y="1584722"/>
              <a:ext cx="1556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01</a:t>
              </a:r>
            </a:p>
          </p:txBody>
        </p:sp>
        <p:sp>
          <p:nvSpPr>
            <p:cNvPr id="34" name="TextBox 34"/>
            <p:cNvSpPr txBox="1"/>
            <p:nvPr/>
          </p:nvSpPr>
          <p:spPr>
            <a:xfrm>
              <a:off x="756856" y="1576626"/>
              <a:ext cx="2584127"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 xml:space="preserve">丢在哪：丢单47个，影响1.72亿元      </a:t>
              </a:r>
            </a:p>
          </p:txBody>
        </p:sp>
        <p:sp>
          <p:nvSpPr>
            <p:cNvPr id="35" name="Ellipse 35"/>
            <p:cNvSpPr/>
            <p:nvPr/>
          </p:nvSpPr>
          <p:spPr>
            <a:xfrm>
              <a:off x="781050" y="2247900"/>
              <a:ext cx="647700" cy="647700"/>
            </a:xfrm>
            <a:prstGeom prst="ellipse">
              <a:avLst/>
            </a:prstGeom>
            <a:noFill/>
            <a:ln w="114300">
              <a:solidFill>
                <a:srgbClr val="E3EBF8"/>
              </a:solidFill>
            </a:ln>
          </p:spPr>
        </p:sp>
        <p:sp>
          <p:nvSpPr>
            <p:cNvPr id="36" name="Freeform 36"/>
            <p:cNvSpPr/>
            <p:nvPr/>
          </p:nvSpPr>
          <p:spPr>
            <a:xfrm>
              <a:off x="723900" y="2190750"/>
              <a:ext cx="762000" cy="762000"/>
            </a:xfrm>
            <a:prstGeom prst="blockArc">
              <a:avLst>
                <a:gd name="adj1" fmla="val 16200000"/>
                <a:gd name="adj2" fmla="val 12894000"/>
                <a:gd name="adj3" fmla="val 15000"/>
              </a:avLst>
            </a:prstGeom>
            <a:solidFill>
              <a:srgbClr val="721E0D"/>
            </a:solidFill>
            <a:ln>
              <a:noFill/>
            </a:ln>
          </p:spPr>
        </p:sp>
        <p:sp>
          <p:nvSpPr>
            <p:cNvPr id="37" name="TextBox 37"/>
            <p:cNvSpPr txBox="1"/>
            <p:nvPr/>
          </p:nvSpPr>
          <p:spPr>
            <a:xfrm>
              <a:off x="750896" y="2440781"/>
              <a:ext cx="708008" cy="220028"/>
            </a:xfrm>
            <a:prstGeom prst="rect">
              <a:avLst/>
            </a:prstGeom>
            <a:noFill/>
            <a:ln>
              <a:noFill/>
            </a:ln>
          </p:spPr>
          <p:txBody>
            <a:bodyPr wrap="none" lIns="0" tIns="0" rIns="0" bIns="0" anchor="t" anchorCtr="0">
              <a:spAutoFit/>
            </a:bodyPr>
            <a:lstStyle/>
            <a:p>
              <a:pPr algn="ctr"/>
              <a:r>
                <a:rPr lang="zh-CN" sz="1120" b="1" dirty="0">
                  <a:solidFill>
                    <a:srgbClr val="C03616"/>
                  </a:solidFill>
                  <a:latin typeface="+mn-lt"/>
                  <a:ea typeface="+mn-ea"/>
                  <a:cs typeface="+mn-cs"/>
                </a:rPr>
                <a:t xml:space="preserve">  1.72  </a:t>
              </a:r>
            </a:p>
          </p:txBody>
        </p:sp>
        <p:sp>
          <p:nvSpPr>
            <p:cNvPr id="38" name="TextBox 38"/>
            <p:cNvSpPr txBox="1"/>
            <p:nvPr/>
          </p:nvSpPr>
          <p:spPr>
            <a:xfrm>
              <a:off x="1004557" y="2637711"/>
              <a:ext cx="200685"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亿元</a:t>
              </a:r>
            </a:p>
          </p:txBody>
        </p:sp>
        <p:sp>
          <p:nvSpPr>
            <p:cNvPr id="39" name="TextBox 39"/>
            <p:cNvSpPr txBox="1"/>
            <p:nvPr/>
          </p:nvSpPr>
          <p:spPr>
            <a:xfrm>
              <a:off x="1633538" y="2349341"/>
              <a:ext cx="451079" cy="161925"/>
            </a:xfrm>
            <a:prstGeom prst="rect">
              <a:avLst/>
            </a:prstGeom>
            <a:noFill/>
            <a:ln>
              <a:noFill/>
            </a:ln>
          </p:spPr>
          <p:txBody>
            <a:bodyPr wrap="none" lIns="0" tIns="0" rIns="0" bIns="0" anchor="t" anchorCtr="0">
              <a:spAutoFit/>
            </a:bodyPr>
            <a:lstStyle/>
            <a:p>
              <a:pPr algn="l"/>
              <a:r>
                <a:rPr lang="zh-CN" sz="820" dirty="0">
                  <a:solidFill>
                    <a:srgbClr val="6E7686"/>
                  </a:solidFill>
                  <a:latin typeface="+mn-lt"/>
                  <a:ea typeface="+mn-ea"/>
                  <a:cs typeface="+mn-cs"/>
                </a:rPr>
                <a:t>占总差额</a:t>
              </a:r>
            </a:p>
          </p:txBody>
        </p:sp>
        <p:sp>
          <p:nvSpPr>
            <p:cNvPr id="40" name="TextBox 40"/>
            <p:cNvSpPr txBox="1"/>
            <p:nvPr/>
          </p:nvSpPr>
          <p:spPr>
            <a:xfrm>
              <a:off x="1630680" y="2562225"/>
              <a:ext cx="757333" cy="293370"/>
            </a:xfrm>
            <a:prstGeom prst="rect">
              <a:avLst/>
            </a:prstGeom>
            <a:noFill/>
            <a:ln>
              <a:noFill/>
            </a:ln>
          </p:spPr>
          <p:txBody>
            <a:bodyPr wrap="none" lIns="0" tIns="0" rIns="0" bIns="0" anchor="t" anchorCtr="0">
              <a:spAutoFit/>
            </a:bodyPr>
            <a:lstStyle/>
            <a:p>
              <a:pPr algn="l"/>
              <a:r>
                <a:rPr lang="zh-CN" sz="1500" b="1" dirty="0">
                  <a:solidFill>
                    <a:srgbClr val="C03616"/>
                  </a:solidFill>
                  <a:latin typeface="+mn-lt"/>
                  <a:ea typeface="+mn-ea"/>
                  <a:cs typeface="+mn-cs"/>
                </a:rPr>
                <a:t xml:space="preserve">84.7% </a:t>
              </a:r>
            </a:p>
          </p:txBody>
        </p:sp>
        <p:sp>
          <p:nvSpPr>
            <p:cNvPr id="41" name="Line 41"/>
            <p:cNvSpPr/>
            <p:nvPr/>
          </p:nvSpPr>
          <p:spPr>
            <a:xfrm>
              <a:off x="2647950" y="1981200"/>
              <a:ext cx="9525" cy="1181100"/>
            </a:xfrm>
            <a:custGeom>
              <a:avLst/>
              <a:gdLst/>
              <a:ahLst/>
              <a:cxnLst/>
              <a:rect l="l" t="t" r="r" b="b"/>
              <a:pathLst>
                <a:path w="9525" h="1181100">
                  <a:moveTo>
                    <a:pt x="0" y="0"/>
                  </a:moveTo>
                  <a:lnTo>
                    <a:pt x="0" y="1181100"/>
                  </a:lnTo>
                </a:path>
              </a:pathLst>
            </a:custGeom>
            <a:noFill/>
            <a:ln w="14288">
              <a:solidFill>
                <a:srgbClr val="DCE6F6"/>
              </a:solidFill>
            </a:ln>
          </p:spPr>
        </p:sp>
        <p:sp>
          <p:nvSpPr>
            <p:cNvPr id="42" name="TextBox 42"/>
            <p:cNvSpPr txBox="1"/>
            <p:nvPr/>
          </p:nvSpPr>
          <p:spPr>
            <a:xfrm>
              <a:off x="3780085" y="1975247"/>
              <a:ext cx="1050429"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TOP3原因   </a:t>
              </a:r>
            </a:p>
          </p:txBody>
        </p:sp>
        <p:sp>
          <p:nvSpPr>
            <p:cNvPr id="43" name="Ellipse 43"/>
            <p:cNvSpPr/>
            <p:nvPr/>
          </p:nvSpPr>
          <p:spPr>
            <a:xfrm>
              <a:off x="2809875" y="2219325"/>
              <a:ext cx="171450" cy="171450"/>
            </a:xfrm>
            <a:prstGeom prst="ellipse">
              <a:avLst/>
            </a:prstGeom>
            <a:solidFill>
              <a:srgbClr val="721E0D"/>
            </a:solidFill>
            <a:ln>
              <a:noFill/>
            </a:ln>
          </p:spPr>
        </p:sp>
        <p:sp>
          <p:nvSpPr>
            <p:cNvPr id="44" name="TextBox 44"/>
            <p:cNvSpPr txBox="1"/>
            <p:nvPr/>
          </p:nvSpPr>
          <p:spPr>
            <a:xfrm>
              <a:off x="2863239" y="22614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sp>
          <p:nvSpPr>
            <p:cNvPr id="45" name="TextBox 45"/>
            <p:cNvSpPr txBox="1"/>
            <p:nvPr/>
          </p:nvSpPr>
          <p:spPr>
            <a:xfrm>
              <a:off x="3043238" y="2250043"/>
              <a:ext cx="704164"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竞争对手赢单</a:t>
              </a:r>
            </a:p>
          </p:txBody>
        </p:sp>
        <p:sp>
          <p:nvSpPr>
            <p:cNvPr id="46" name="TextBox 46"/>
            <p:cNvSpPr txBox="1"/>
            <p:nvPr/>
          </p:nvSpPr>
          <p:spPr>
            <a:xfrm>
              <a:off x="5092440" y="224599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0.78亿元</a:t>
              </a:r>
            </a:p>
          </p:txBody>
        </p:sp>
        <p:sp>
          <p:nvSpPr>
            <p:cNvPr id="47" name="Ellipse 47"/>
            <p:cNvSpPr/>
            <p:nvPr/>
          </p:nvSpPr>
          <p:spPr>
            <a:xfrm>
              <a:off x="2809875" y="2486025"/>
              <a:ext cx="171450" cy="171450"/>
            </a:xfrm>
            <a:prstGeom prst="ellipse">
              <a:avLst/>
            </a:prstGeom>
            <a:solidFill>
              <a:srgbClr val="721E0D"/>
            </a:solidFill>
            <a:ln>
              <a:noFill/>
            </a:ln>
          </p:spPr>
        </p:sp>
        <p:sp>
          <p:nvSpPr>
            <p:cNvPr id="48" name="TextBox 48"/>
            <p:cNvSpPr txBox="1"/>
            <p:nvPr/>
          </p:nvSpPr>
          <p:spPr>
            <a:xfrm>
              <a:off x="2863239" y="25281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sp>
          <p:nvSpPr>
            <p:cNvPr id="49" name="TextBox 49"/>
            <p:cNvSpPr txBox="1"/>
            <p:nvPr/>
          </p:nvSpPr>
          <p:spPr>
            <a:xfrm>
              <a:off x="3043238" y="2516743"/>
              <a:ext cx="1149891"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 xml:space="preserve">需求变更/取消      </a:t>
              </a:r>
            </a:p>
          </p:txBody>
        </p:sp>
        <p:sp>
          <p:nvSpPr>
            <p:cNvPr id="50" name="TextBox 50"/>
            <p:cNvSpPr txBox="1"/>
            <p:nvPr/>
          </p:nvSpPr>
          <p:spPr>
            <a:xfrm>
              <a:off x="5092440" y="251269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0.46亿元</a:t>
              </a:r>
            </a:p>
          </p:txBody>
        </p:sp>
        <p:sp>
          <p:nvSpPr>
            <p:cNvPr id="51" name="Ellipse 51"/>
            <p:cNvSpPr/>
            <p:nvPr/>
          </p:nvSpPr>
          <p:spPr>
            <a:xfrm>
              <a:off x="2809875" y="2752725"/>
              <a:ext cx="171450" cy="171450"/>
            </a:xfrm>
            <a:prstGeom prst="ellipse">
              <a:avLst/>
            </a:prstGeom>
            <a:solidFill>
              <a:srgbClr val="721E0D"/>
            </a:solidFill>
            <a:ln>
              <a:noFill/>
            </a:ln>
          </p:spPr>
        </p:sp>
        <p:sp>
          <p:nvSpPr>
            <p:cNvPr id="52" name="TextBox 52"/>
            <p:cNvSpPr txBox="1"/>
            <p:nvPr/>
          </p:nvSpPr>
          <p:spPr>
            <a:xfrm>
              <a:off x="2863239" y="27948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sp>
          <p:nvSpPr>
            <p:cNvPr id="53" name="TextBox 53"/>
            <p:cNvSpPr txBox="1"/>
            <p:nvPr/>
          </p:nvSpPr>
          <p:spPr>
            <a:xfrm>
              <a:off x="3043238" y="2783443"/>
              <a:ext cx="472618"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预算不足</a:t>
              </a:r>
            </a:p>
          </p:txBody>
        </p:sp>
        <p:sp>
          <p:nvSpPr>
            <p:cNvPr id="54" name="TextBox 54"/>
            <p:cNvSpPr txBox="1"/>
            <p:nvPr/>
          </p:nvSpPr>
          <p:spPr>
            <a:xfrm>
              <a:off x="5092440" y="277939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0.30亿元</a:t>
              </a:r>
            </a:p>
          </p:txBody>
        </p:sp>
      </p:grpSp>
      <p:grpSp>
        <p:nvGrpSpPr>
          <p:cNvPr id="81" name="gap-card-2"/>
          <p:cNvGrpSpPr/>
          <p:nvPr/>
        </p:nvGrpSpPr>
        <p:grpSpPr>
          <a:xfrm>
            <a:off x="6210300" y="1485900"/>
            <a:ext cx="5753100" cy="1866900"/>
            <a:chOff x="6210300" y="1485900"/>
            <a:chExt cx="5753100" cy="1866900"/>
          </a:xfrm>
        </p:grpSpPr>
        <p:sp>
          <p:nvSpPr>
            <p:cNvPr id="56" name="Rectangle 56"/>
            <p:cNvSpPr/>
            <p:nvPr/>
          </p:nvSpPr>
          <p:spPr>
            <a:xfrm>
              <a:off x="6210300" y="1485900"/>
              <a:ext cx="5753100" cy="1866900"/>
            </a:xfrm>
            <a:prstGeom prst="roundRect">
              <a:avLst>
                <a:gd name="adj" fmla="val 5102"/>
              </a:avLst>
            </a:prstGeom>
            <a:solidFill>
              <a:srgbClr val="FFFFFF"/>
            </a:solidFill>
            <a:ln w="14288">
              <a:solidFill>
                <a:srgbClr val="C9D6EE"/>
              </a:solidFill>
            </a:ln>
          </p:spPr>
        </p:sp>
        <p:sp>
          <p:nvSpPr>
            <p:cNvPr id="57" name="Freeform 57"/>
            <p:cNvSpPr/>
            <p:nvPr/>
          </p:nvSpPr>
          <p:spPr>
            <a:xfrm>
              <a:off x="6210300" y="1485900"/>
              <a:ext cx="5753100" cy="304800"/>
            </a:xfrm>
            <a:custGeom>
              <a:avLst/>
              <a:gdLst/>
              <a:ahLst/>
              <a:cxnLst/>
              <a:rect l="l" t="t" r="r" b="b"/>
              <a:pathLst>
                <a:path w="5753100" h="304800">
                  <a:moveTo>
                    <a:pt x="95250" y="0"/>
                  </a:moveTo>
                  <a:lnTo>
                    <a:pt x="5657850" y="0"/>
                  </a:lnTo>
                  <a:cubicBezTo>
                    <a:pt x="5710455" y="0"/>
                    <a:pt x="5753100" y="42645"/>
                    <a:pt x="5753100" y="95250"/>
                  </a:cubicBezTo>
                  <a:lnTo>
                    <a:pt x="5753100" y="304800"/>
                  </a:lnTo>
                  <a:lnTo>
                    <a:pt x="0" y="304800"/>
                  </a:lnTo>
                  <a:lnTo>
                    <a:pt x="0" y="95250"/>
                  </a:lnTo>
                  <a:cubicBezTo>
                    <a:pt x="0" y="42645"/>
                    <a:pt x="42645" y="0"/>
                    <a:pt x="95250" y="0"/>
                  </a:cubicBezTo>
                  <a:close/>
                </a:path>
              </a:pathLst>
            </a:custGeom>
            <a:solidFill>
              <a:srgbClr val="721E0D"/>
            </a:solidFill>
            <a:ln>
              <a:noFill/>
            </a:ln>
          </p:spPr>
        </p:sp>
        <p:sp>
          <p:nvSpPr>
            <p:cNvPr id="58" name="Rectangle 58"/>
            <p:cNvSpPr/>
            <p:nvPr/>
          </p:nvSpPr>
          <p:spPr>
            <a:xfrm>
              <a:off x="6305550" y="1543050"/>
              <a:ext cx="323850" cy="190500"/>
            </a:xfrm>
            <a:prstGeom prst="roundRect">
              <a:avLst>
                <a:gd name="adj" fmla="val 20000"/>
              </a:avLst>
            </a:prstGeom>
            <a:solidFill>
              <a:srgbClr val="B8351A"/>
            </a:solidFill>
            <a:ln>
              <a:noFill/>
            </a:ln>
          </p:spPr>
        </p:sp>
        <p:sp>
          <p:nvSpPr>
            <p:cNvPr id="59" name="TextBox 59"/>
            <p:cNvSpPr txBox="1"/>
            <p:nvPr/>
          </p:nvSpPr>
          <p:spPr>
            <a:xfrm>
              <a:off x="6389634" y="1584722"/>
              <a:ext cx="1556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02</a:t>
              </a:r>
            </a:p>
          </p:txBody>
        </p:sp>
        <p:sp>
          <p:nvSpPr>
            <p:cNvPr id="60" name="TextBox 60"/>
            <p:cNvSpPr txBox="1"/>
            <p:nvPr/>
          </p:nvSpPr>
          <p:spPr>
            <a:xfrm>
              <a:off x="6738556" y="1576626"/>
              <a:ext cx="2584127"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 xml:space="preserve">慢在哪：延期28个，影响8600万元      </a:t>
              </a:r>
            </a:p>
          </p:txBody>
        </p:sp>
        <p:sp>
          <p:nvSpPr>
            <p:cNvPr id="61" name="Ellipse 61"/>
            <p:cNvSpPr/>
            <p:nvPr/>
          </p:nvSpPr>
          <p:spPr>
            <a:xfrm>
              <a:off x="6762750" y="2247900"/>
              <a:ext cx="647700" cy="647700"/>
            </a:xfrm>
            <a:prstGeom prst="ellipse">
              <a:avLst/>
            </a:prstGeom>
            <a:noFill/>
            <a:ln w="114300">
              <a:solidFill>
                <a:srgbClr val="E3EBF8"/>
              </a:solidFill>
            </a:ln>
          </p:spPr>
        </p:sp>
        <p:sp>
          <p:nvSpPr>
            <p:cNvPr id="62" name="Freeform 62"/>
            <p:cNvSpPr/>
            <p:nvPr/>
          </p:nvSpPr>
          <p:spPr>
            <a:xfrm>
              <a:off x="6705600" y="2190750"/>
              <a:ext cx="762000" cy="762000"/>
            </a:xfrm>
            <a:prstGeom prst="blockArc">
              <a:avLst>
                <a:gd name="adj1" fmla="val 16200000"/>
                <a:gd name="adj2" fmla="val 3758400"/>
                <a:gd name="adj3" fmla="val 15000"/>
              </a:avLst>
            </a:prstGeom>
            <a:solidFill>
              <a:srgbClr val="721E0D"/>
            </a:solidFill>
            <a:ln>
              <a:noFill/>
            </a:ln>
          </p:spPr>
        </p:sp>
        <p:sp>
          <p:nvSpPr>
            <p:cNvPr id="63" name="TextBox 63"/>
            <p:cNvSpPr txBox="1"/>
            <p:nvPr/>
          </p:nvSpPr>
          <p:spPr>
            <a:xfrm>
              <a:off x="6732596" y="2440781"/>
              <a:ext cx="708008" cy="220028"/>
            </a:xfrm>
            <a:prstGeom prst="rect">
              <a:avLst/>
            </a:prstGeom>
            <a:noFill/>
            <a:ln>
              <a:noFill/>
            </a:ln>
          </p:spPr>
          <p:txBody>
            <a:bodyPr wrap="none" lIns="0" tIns="0" rIns="0" bIns="0" anchor="t" anchorCtr="0">
              <a:spAutoFit/>
            </a:bodyPr>
            <a:lstStyle/>
            <a:p>
              <a:pPr algn="ctr"/>
              <a:r>
                <a:rPr lang="zh-CN" sz="1120" b="1" dirty="0">
                  <a:solidFill>
                    <a:srgbClr val="C03616"/>
                  </a:solidFill>
                  <a:latin typeface="+mn-lt"/>
                  <a:ea typeface="+mn-ea"/>
                  <a:cs typeface="+mn-cs"/>
                </a:rPr>
                <a:t xml:space="preserve">  0.86  </a:t>
              </a:r>
            </a:p>
          </p:txBody>
        </p:sp>
        <p:sp>
          <p:nvSpPr>
            <p:cNvPr id="64" name="TextBox 64"/>
            <p:cNvSpPr txBox="1"/>
            <p:nvPr/>
          </p:nvSpPr>
          <p:spPr>
            <a:xfrm>
              <a:off x="6986257" y="2637711"/>
              <a:ext cx="200685"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亿元</a:t>
              </a:r>
            </a:p>
          </p:txBody>
        </p:sp>
        <p:sp>
          <p:nvSpPr>
            <p:cNvPr id="65" name="TextBox 65"/>
            <p:cNvSpPr txBox="1"/>
            <p:nvPr/>
          </p:nvSpPr>
          <p:spPr>
            <a:xfrm>
              <a:off x="7615238" y="2349341"/>
              <a:ext cx="451079" cy="161925"/>
            </a:xfrm>
            <a:prstGeom prst="rect">
              <a:avLst/>
            </a:prstGeom>
            <a:noFill/>
            <a:ln>
              <a:noFill/>
            </a:ln>
          </p:spPr>
          <p:txBody>
            <a:bodyPr wrap="none" lIns="0" tIns="0" rIns="0" bIns="0" anchor="t" anchorCtr="0">
              <a:spAutoFit/>
            </a:bodyPr>
            <a:lstStyle/>
            <a:p>
              <a:pPr algn="l"/>
              <a:r>
                <a:rPr lang="zh-CN" sz="820" dirty="0">
                  <a:solidFill>
                    <a:srgbClr val="6E7686"/>
                  </a:solidFill>
                  <a:latin typeface="+mn-lt"/>
                  <a:ea typeface="+mn-ea"/>
                  <a:cs typeface="+mn-cs"/>
                </a:rPr>
                <a:t>占总差额</a:t>
              </a:r>
            </a:p>
          </p:txBody>
        </p:sp>
        <p:sp>
          <p:nvSpPr>
            <p:cNvPr id="66" name="TextBox 66"/>
            <p:cNvSpPr txBox="1"/>
            <p:nvPr/>
          </p:nvSpPr>
          <p:spPr>
            <a:xfrm>
              <a:off x="7612380" y="2562225"/>
              <a:ext cx="757333" cy="293370"/>
            </a:xfrm>
            <a:prstGeom prst="rect">
              <a:avLst/>
            </a:prstGeom>
            <a:noFill/>
            <a:ln>
              <a:noFill/>
            </a:ln>
          </p:spPr>
          <p:txBody>
            <a:bodyPr wrap="none" lIns="0" tIns="0" rIns="0" bIns="0" anchor="t" anchorCtr="0">
              <a:spAutoFit/>
            </a:bodyPr>
            <a:lstStyle/>
            <a:p>
              <a:pPr algn="l"/>
              <a:r>
                <a:rPr lang="zh-CN" sz="1500" b="1" dirty="0">
                  <a:solidFill>
                    <a:srgbClr val="C03616"/>
                  </a:solidFill>
                  <a:latin typeface="+mn-lt"/>
                  <a:ea typeface="+mn-ea"/>
                  <a:cs typeface="+mn-cs"/>
                </a:rPr>
                <a:t xml:space="preserve">42.4% </a:t>
              </a:r>
            </a:p>
          </p:txBody>
        </p:sp>
        <p:sp>
          <p:nvSpPr>
            <p:cNvPr id="67" name="Line 67"/>
            <p:cNvSpPr/>
            <p:nvPr/>
          </p:nvSpPr>
          <p:spPr>
            <a:xfrm>
              <a:off x="8629650" y="1981200"/>
              <a:ext cx="9525" cy="1181100"/>
            </a:xfrm>
            <a:custGeom>
              <a:avLst/>
              <a:gdLst/>
              <a:ahLst/>
              <a:cxnLst/>
              <a:rect l="l" t="t" r="r" b="b"/>
              <a:pathLst>
                <a:path w="9525" h="1181100">
                  <a:moveTo>
                    <a:pt x="0" y="0"/>
                  </a:moveTo>
                  <a:lnTo>
                    <a:pt x="0" y="1181100"/>
                  </a:lnTo>
                </a:path>
              </a:pathLst>
            </a:custGeom>
            <a:noFill/>
            <a:ln w="14288">
              <a:solidFill>
                <a:srgbClr val="DCE6F6"/>
              </a:solidFill>
            </a:ln>
          </p:spPr>
        </p:sp>
        <p:sp>
          <p:nvSpPr>
            <p:cNvPr id="68" name="TextBox 68"/>
            <p:cNvSpPr txBox="1"/>
            <p:nvPr/>
          </p:nvSpPr>
          <p:spPr>
            <a:xfrm>
              <a:off x="9761785" y="1975247"/>
              <a:ext cx="1050429"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TOP3原因   </a:t>
              </a:r>
            </a:p>
          </p:txBody>
        </p:sp>
        <p:sp>
          <p:nvSpPr>
            <p:cNvPr id="69" name="Ellipse 69"/>
            <p:cNvSpPr/>
            <p:nvPr/>
          </p:nvSpPr>
          <p:spPr>
            <a:xfrm>
              <a:off x="8791575" y="2219325"/>
              <a:ext cx="171450" cy="171450"/>
            </a:xfrm>
            <a:prstGeom prst="ellipse">
              <a:avLst/>
            </a:prstGeom>
            <a:solidFill>
              <a:srgbClr val="721E0D"/>
            </a:solidFill>
            <a:ln>
              <a:noFill/>
            </a:ln>
          </p:spPr>
        </p:sp>
        <p:sp>
          <p:nvSpPr>
            <p:cNvPr id="70" name="TextBox 70"/>
            <p:cNvSpPr txBox="1"/>
            <p:nvPr/>
          </p:nvSpPr>
          <p:spPr>
            <a:xfrm>
              <a:off x="8844939" y="22614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sp>
          <p:nvSpPr>
            <p:cNvPr id="71" name="TextBox 71"/>
            <p:cNvSpPr txBox="1"/>
            <p:nvPr/>
          </p:nvSpPr>
          <p:spPr>
            <a:xfrm>
              <a:off x="9024938" y="2250043"/>
              <a:ext cx="819937"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客户流程审批慢</a:t>
              </a:r>
            </a:p>
          </p:txBody>
        </p:sp>
        <p:sp>
          <p:nvSpPr>
            <p:cNvPr id="72" name="TextBox 72"/>
            <p:cNvSpPr txBox="1"/>
            <p:nvPr/>
          </p:nvSpPr>
          <p:spPr>
            <a:xfrm>
              <a:off x="11074140" y="224599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0.36亿元</a:t>
              </a:r>
            </a:p>
          </p:txBody>
        </p:sp>
        <p:sp>
          <p:nvSpPr>
            <p:cNvPr id="73" name="Ellipse 73"/>
            <p:cNvSpPr/>
            <p:nvPr/>
          </p:nvSpPr>
          <p:spPr>
            <a:xfrm>
              <a:off x="8791575" y="2486025"/>
              <a:ext cx="171450" cy="171450"/>
            </a:xfrm>
            <a:prstGeom prst="ellipse">
              <a:avLst/>
            </a:prstGeom>
            <a:solidFill>
              <a:srgbClr val="721E0D"/>
            </a:solidFill>
            <a:ln>
              <a:noFill/>
            </a:ln>
          </p:spPr>
        </p:sp>
        <p:sp>
          <p:nvSpPr>
            <p:cNvPr id="74" name="TextBox 74"/>
            <p:cNvSpPr txBox="1"/>
            <p:nvPr/>
          </p:nvSpPr>
          <p:spPr>
            <a:xfrm>
              <a:off x="8844939" y="25281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sp>
          <p:nvSpPr>
            <p:cNvPr id="75" name="TextBox 75"/>
            <p:cNvSpPr txBox="1"/>
            <p:nvPr/>
          </p:nvSpPr>
          <p:spPr>
            <a:xfrm>
              <a:off x="9024938" y="2516743"/>
              <a:ext cx="819937"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客户资源未到位</a:t>
              </a:r>
            </a:p>
          </p:txBody>
        </p:sp>
        <p:sp>
          <p:nvSpPr>
            <p:cNvPr id="76" name="TextBox 76"/>
            <p:cNvSpPr txBox="1"/>
            <p:nvPr/>
          </p:nvSpPr>
          <p:spPr>
            <a:xfrm>
              <a:off x="11074140" y="251269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0.26亿元</a:t>
              </a:r>
            </a:p>
          </p:txBody>
        </p:sp>
        <p:sp>
          <p:nvSpPr>
            <p:cNvPr id="77" name="Ellipse 77"/>
            <p:cNvSpPr/>
            <p:nvPr/>
          </p:nvSpPr>
          <p:spPr>
            <a:xfrm>
              <a:off x="8791575" y="2752725"/>
              <a:ext cx="171450" cy="171450"/>
            </a:xfrm>
            <a:prstGeom prst="ellipse">
              <a:avLst/>
            </a:prstGeom>
            <a:solidFill>
              <a:srgbClr val="721E0D"/>
            </a:solidFill>
            <a:ln>
              <a:noFill/>
            </a:ln>
          </p:spPr>
        </p:sp>
        <p:sp>
          <p:nvSpPr>
            <p:cNvPr id="78" name="TextBox 78"/>
            <p:cNvSpPr txBox="1"/>
            <p:nvPr/>
          </p:nvSpPr>
          <p:spPr>
            <a:xfrm>
              <a:off x="8844939" y="27948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sp>
          <p:nvSpPr>
            <p:cNvPr id="79" name="TextBox 79"/>
            <p:cNvSpPr txBox="1"/>
            <p:nvPr/>
          </p:nvSpPr>
          <p:spPr>
            <a:xfrm>
              <a:off x="9024938" y="2783443"/>
              <a:ext cx="1149891"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 xml:space="preserve">方案/技术反复      </a:t>
              </a:r>
            </a:p>
          </p:txBody>
        </p:sp>
        <p:sp>
          <p:nvSpPr>
            <p:cNvPr id="80" name="TextBox 80"/>
            <p:cNvSpPr txBox="1"/>
            <p:nvPr/>
          </p:nvSpPr>
          <p:spPr>
            <a:xfrm>
              <a:off x="11074140" y="277939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0.24亿元</a:t>
              </a:r>
            </a:p>
          </p:txBody>
        </p:sp>
      </p:grpSp>
      <p:grpSp>
        <p:nvGrpSpPr>
          <p:cNvPr id="107" name="gap-card-3"/>
          <p:cNvGrpSpPr/>
          <p:nvPr/>
        </p:nvGrpSpPr>
        <p:grpSpPr>
          <a:xfrm>
            <a:off x="228600" y="3448050"/>
            <a:ext cx="5753100" cy="1866900"/>
            <a:chOff x="228600" y="3448050"/>
            <a:chExt cx="5753100" cy="1866900"/>
          </a:xfrm>
        </p:grpSpPr>
        <p:sp>
          <p:nvSpPr>
            <p:cNvPr id="82" name="Rectangle 82"/>
            <p:cNvSpPr/>
            <p:nvPr/>
          </p:nvSpPr>
          <p:spPr>
            <a:xfrm>
              <a:off x="228600" y="3448050"/>
              <a:ext cx="5753100" cy="1866900"/>
            </a:xfrm>
            <a:prstGeom prst="roundRect">
              <a:avLst>
                <a:gd name="adj" fmla="val 5102"/>
              </a:avLst>
            </a:prstGeom>
            <a:solidFill>
              <a:srgbClr val="FFFFFF"/>
            </a:solidFill>
            <a:ln w="14288">
              <a:solidFill>
                <a:srgbClr val="C9D6EE"/>
              </a:solidFill>
            </a:ln>
          </p:spPr>
        </p:sp>
        <p:sp>
          <p:nvSpPr>
            <p:cNvPr id="83" name="Freeform 83"/>
            <p:cNvSpPr/>
            <p:nvPr/>
          </p:nvSpPr>
          <p:spPr>
            <a:xfrm>
              <a:off x="228600" y="3448050"/>
              <a:ext cx="5753100" cy="304800"/>
            </a:xfrm>
            <a:custGeom>
              <a:avLst/>
              <a:gdLst/>
              <a:ahLst/>
              <a:cxnLst/>
              <a:rect l="l" t="t" r="r" b="b"/>
              <a:pathLst>
                <a:path w="5753100" h="304800">
                  <a:moveTo>
                    <a:pt x="95250" y="0"/>
                  </a:moveTo>
                  <a:lnTo>
                    <a:pt x="5657850" y="0"/>
                  </a:lnTo>
                  <a:cubicBezTo>
                    <a:pt x="5710455" y="0"/>
                    <a:pt x="5753100" y="42645"/>
                    <a:pt x="5753100" y="95250"/>
                  </a:cubicBezTo>
                  <a:lnTo>
                    <a:pt x="5753100" y="304800"/>
                  </a:lnTo>
                  <a:lnTo>
                    <a:pt x="0" y="304800"/>
                  </a:lnTo>
                  <a:lnTo>
                    <a:pt x="0" y="95250"/>
                  </a:lnTo>
                  <a:cubicBezTo>
                    <a:pt x="0" y="42645"/>
                    <a:pt x="42645" y="0"/>
                    <a:pt x="95250" y="0"/>
                  </a:cubicBezTo>
                  <a:close/>
                </a:path>
              </a:pathLst>
            </a:custGeom>
            <a:solidFill>
              <a:srgbClr val="721E0D"/>
            </a:solidFill>
            <a:ln>
              <a:noFill/>
            </a:ln>
          </p:spPr>
        </p:sp>
        <p:sp>
          <p:nvSpPr>
            <p:cNvPr id="84" name="Rectangle 84"/>
            <p:cNvSpPr/>
            <p:nvPr/>
          </p:nvSpPr>
          <p:spPr>
            <a:xfrm>
              <a:off x="323850" y="3505200"/>
              <a:ext cx="323850" cy="190500"/>
            </a:xfrm>
            <a:prstGeom prst="roundRect">
              <a:avLst>
                <a:gd name="adj" fmla="val 20000"/>
              </a:avLst>
            </a:prstGeom>
            <a:solidFill>
              <a:srgbClr val="B8351A"/>
            </a:solidFill>
            <a:ln>
              <a:noFill/>
            </a:ln>
          </p:spPr>
        </p:sp>
        <p:sp>
          <p:nvSpPr>
            <p:cNvPr id="85" name="TextBox 85"/>
            <p:cNvSpPr txBox="1"/>
            <p:nvPr/>
          </p:nvSpPr>
          <p:spPr>
            <a:xfrm>
              <a:off x="407934" y="3546872"/>
              <a:ext cx="1556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03</a:t>
              </a:r>
            </a:p>
          </p:txBody>
        </p:sp>
        <p:sp>
          <p:nvSpPr>
            <p:cNvPr id="86" name="TextBox 86"/>
            <p:cNvSpPr txBox="1"/>
            <p:nvPr/>
          </p:nvSpPr>
          <p:spPr>
            <a:xfrm>
              <a:off x="756856" y="3538776"/>
              <a:ext cx="2291120"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 xml:space="preserve">少在哪：存量增购少2800万元      </a:t>
              </a:r>
            </a:p>
          </p:txBody>
        </p:sp>
        <p:sp>
          <p:nvSpPr>
            <p:cNvPr id="87" name="Ellipse 87"/>
            <p:cNvSpPr/>
            <p:nvPr/>
          </p:nvSpPr>
          <p:spPr>
            <a:xfrm>
              <a:off x="781050" y="4210050"/>
              <a:ext cx="647700" cy="647700"/>
            </a:xfrm>
            <a:prstGeom prst="ellipse">
              <a:avLst/>
            </a:prstGeom>
            <a:noFill/>
            <a:ln w="114300">
              <a:solidFill>
                <a:srgbClr val="E3EBF8"/>
              </a:solidFill>
            </a:ln>
          </p:spPr>
        </p:sp>
        <p:sp>
          <p:nvSpPr>
            <p:cNvPr id="88" name="Freeform 88"/>
            <p:cNvSpPr/>
            <p:nvPr/>
          </p:nvSpPr>
          <p:spPr>
            <a:xfrm>
              <a:off x="723900" y="4152900"/>
              <a:ext cx="762000" cy="762000"/>
            </a:xfrm>
            <a:prstGeom prst="blockArc">
              <a:avLst>
                <a:gd name="adj1" fmla="val 16200000"/>
                <a:gd name="adj2" fmla="val 19180800"/>
                <a:gd name="adj3" fmla="val 15000"/>
              </a:avLst>
            </a:prstGeom>
            <a:solidFill>
              <a:srgbClr val="B8351A"/>
            </a:solidFill>
            <a:ln>
              <a:noFill/>
            </a:ln>
          </p:spPr>
        </p:sp>
        <p:sp>
          <p:nvSpPr>
            <p:cNvPr id="89" name="TextBox 89"/>
            <p:cNvSpPr txBox="1"/>
            <p:nvPr/>
          </p:nvSpPr>
          <p:spPr>
            <a:xfrm>
              <a:off x="750896" y="4402931"/>
              <a:ext cx="708008" cy="220028"/>
            </a:xfrm>
            <a:prstGeom prst="rect">
              <a:avLst/>
            </a:prstGeom>
            <a:noFill/>
            <a:ln>
              <a:noFill/>
            </a:ln>
          </p:spPr>
          <p:txBody>
            <a:bodyPr wrap="none" lIns="0" tIns="0" rIns="0" bIns="0" anchor="t" anchorCtr="0">
              <a:spAutoFit/>
            </a:bodyPr>
            <a:lstStyle/>
            <a:p>
              <a:pPr algn="ctr"/>
              <a:r>
                <a:rPr lang="zh-CN" sz="1120" b="1" dirty="0">
                  <a:solidFill>
                    <a:srgbClr val="C03616"/>
                  </a:solidFill>
                  <a:latin typeface="+mn-lt"/>
                  <a:ea typeface="+mn-ea"/>
                  <a:cs typeface="+mn-cs"/>
                </a:rPr>
                <a:t xml:space="preserve">  0.28  </a:t>
              </a:r>
            </a:p>
          </p:txBody>
        </p:sp>
        <p:sp>
          <p:nvSpPr>
            <p:cNvPr id="90" name="TextBox 90"/>
            <p:cNvSpPr txBox="1"/>
            <p:nvPr/>
          </p:nvSpPr>
          <p:spPr>
            <a:xfrm>
              <a:off x="1004557" y="4599861"/>
              <a:ext cx="200685"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亿元</a:t>
              </a:r>
            </a:p>
          </p:txBody>
        </p:sp>
        <p:sp>
          <p:nvSpPr>
            <p:cNvPr id="91" name="TextBox 91"/>
            <p:cNvSpPr txBox="1"/>
            <p:nvPr/>
          </p:nvSpPr>
          <p:spPr>
            <a:xfrm>
              <a:off x="1633538" y="4311491"/>
              <a:ext cx="451079" cy="161925"/>
            </a:xfrm>
            <a:prstGeom prst="rect">
              <a:avLst/>
            </a:prstGeom>
            <a:noFill/>
            <a:ln>
              <a:noFill/>
            </a:ln>
          </p:spPr>
          <p:txBody>
            <a:bodyPr wrap="none" lIns="0" tIns="0" rIns="0" bIns="0" anchor="t" anchorCtr="0">
              <a:spAutoFit/>
            </a:bodyPr>
            <a:lstStyle/>
            <a:p>
              <a:pPr algn="l"/>
              <a:r>
                <a:rPr lang="zh-CN" sz="820" dirty="0">
                  <a:solidFill>
                    <a:srgbClr val="6E7686"/>
                  </a:solidFill>
                  <a:latin typeface="+mn-lt"/>
                  <a:ea typeface="+mn-ea"/>
                  <a:cs typeface="+mn-cs"/>
                </a:rPr>
                <a:t>占总差额</a:t>
              </a:r>
            </a:p>
          </p:txBody>
        </p:sp>
        <p:sp>
          <p:nvSpPr>
            <p:cNvPr id="92" name="TextBox 92"/>
            <p:cNvSpPr txBox="1"/>
            <p:nvPr/>
          </p:nvSpPr>
          <p:spPr>
            <a:xfrm>
              <a:off x="1630680" y="4524375"/>
              <a:ext cx="757333" cy="293370"/>
            </a:xfrm>
            <a:prstGeom prst="rect">
              <a:avLst/>
            </a:prstGeom>
            <a:noFill/>
            <a:ln>
              <a:noFill/>
            </a:ln>
          </p:spPr>
          <p:txBody>
            <a:bodyPr wrap="none" lIns="0" tIns="0" rIns="0" bIns="0" anchor="t" anchorCtr="0">
              <a:spAutoFit/>
            </a:bodyPr>
            <a:lstStyle/>
            <a:p>
              <a:pPr algn="l"/>
              <a:r>
                <a:rPr lang="zh-CN" sz="1500" b="1" dirty="0">
                  <a:solidFill>
                    <a:srgbClr val="C03616"/>
                  </a:solidFill>
                  <a:latin typeface="+mn-lt"/>
                  <a:ea typeface="+mn-ea"/>
                  <a:cs typeface="+mn-cs"/>
                </a:rPr>
                <a:t xml:space="preserve">13.8% </a:t>
              </a:r>
            </a:p>
          </p:txBody>
        </p:sp>
        <p:sp>
          <p:nvSpPr>
            <p:cNvPr id="93" name="Line 93"/>
            <p:cNvSpPr/>
            <p:nvPr/>
          </p:nvSpPr>
          <p:spPr>
            <a:xfrm>
              <a:off x="2647950" y="3943350"/>
              <a:ext cx="9525" cy="1181100"/>
            </a:xfrm>
            <a:custGeom>
              <a:avLst/>
              <a:gdLst/>
              <a:ahLst/>
              <a:cxnLst/>
              <a:rect l="l" t="t" r="r" b="b"/>
              <a:pathLst>
                <a:path w="9525" h="1181100">
                  <a:moveTo>
                    <a:pt x="0" y="0"/>
                  </a:moveTo>
                  <a:lnTo>
                    <a:pt x="0" y="1181100"/>
                  </a:lnTo>
                </a:path>
              </a:pathLst>
            </a:custGeom>
            <a:noFill/>
            <a:ln w="14288">
              <a:solidFill>
                <a:srgbClr val="DCE6F6"/>
              </a:solidFill>
            </a:ln>
          </p:spPr>
        </p:sp>
        <p:sp>
          <p:nvSpPr>
            <p:cNvPr id="94" name="TextBox 94"/>
            <p:cNvSpPr txBox="1"/>
            <p:nvPr/>
          </p:nvSpPr>
          <p:spPr>
            <a:xfrm>
              <a:off x="3780085" y="3937397"/>
              <a:ext cx="1050429"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TOP3原因   </a:t>
              </a:r>
            </a:p>
          </p:txBody>
        </p:sp>
        <p:sp>
          <p:nvSpPr>
            <p:cNvPr id="95" name="Ellipse 95"/>
            <p:cNvSpPr/>
            <p:nvPr/>
          </p:nvSpPr>
          <p:spPr>
            <a:xfrm>
              <a:off x="2809875" y="4181475"/>
              <a:ext cx="171450" cy="171450"/>
            </a:xfrm>
            <a:prstGeom prst="ellipse">
              <a:avLst/>
            </a:prstGeom>
            <a:solidFill>
              <a:srgbClr val="721E0D"/>
            </a:solidFill>
            <a:ln>
              <a:noFill/>
            </a:ln>
          </p:spPr>
        </p:sp>
        <p:sp>
          <p:nvSpPr>
            <p:cNvPr id="96" name="TextBox 96"/>
            <p:cNvSpPr txBox="1"/>
            <p:nvPr/>
          </p:nvSpPr>
          <p:spPr>
            <a:xfrm>
              <a:off x="2863239" y="422362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sp>
          <p:nvSpPr>
            <p:cNvPr id="97" name="TextBox 97"/>
            <p:cNvSpPr txBox="1"/>
            <p:nvPr/>
          </p:nvSpPr>
          <p:spPr>
            <a:xfrm>
              <a:off x="3043238" y="4212193"/>
              <a:ext cx="588391"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需求未挖掘</a:t>
              </a:r>
            </a:p>
          </p:txBody>
        </p:sp>
        <p:sp>
          <p:nvSpPr>
            <p:cNvPr id="98" name="TextBox 98"/>
            <p:cNvSpPr txBox="1"/>
            <p:nvPr/>
          </p:nvSpPr>
          <p:spPr>
            <a:xfrm>
              <a:off x="5092440" y="420814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0.12亿元</a:t>
              </a:r>
            </a:p>
          </p:txBody>
        </p:sp>
        <p:sp>
          <p:nvSpPr>
            <p:cNvPr id="99" name="Ellipse 99"/>
            <p:cNvSpPr/>
            <p:nvPr/>
          </p:nvSpPr>
          <p:spPr>
            <a:xfrm>
              <a:off x="2809875" y="4448175"/>
              <a:ext cx="171450" cy="171450"/>
            </a:xfrm>
            <a:prstGeom prst="ellipse">
              <a:avLst/>
            </a:prstGeom>
            <a:solidFill>
              <a:srgbClr val="721E0D"/>
            </a:solidFill>
            <a:ln>
              <a:noFill/>
            </a:ln>
          </p:spPr>
        </p:sp>
        <p:sp>
          <p:nvSpPr>
            <p:cNvPr id="100" name="TextBox 100"/>
            <p:cNvSpPr txBox="1"/>
            <p:nvPr/>
          </p:nvSpPr>
          <p:spPr>
            <a:xfrm>
              <a:off x="2863239" y="449032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sp>
          <p:nvSpPr>
            <p:cNvPr id="101" name="TextBox 101"/>
            <p:cNvSpPr txBox="1"/>
            <p:nvPr/>
          </p:nvSpPr>
          <p:spPr>
            <a:xfrm>
              <a:off x="3043238" y="4478893"/>
              <a:ext cx="588391"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产品迭代慢</a:t>
              </a:r>
            </a:p>
          </p:txBody>
        </p:sp>
        <p:sp>
          <p:nvSpPr>
            <p:cNvPr id="102" name="TextBox 102"/>
            <p:cNvSpPr txBox="1"/>
            <p:nvPr/>
          </p:nvSpPr>
          <p:spPr>
            <a:xfrm>
              <a:off x="5092440" y="447484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0.09亿元</a:t>
              </a:r>
            </a:p>
          </p:txBody>
        </p:sp>
        <p:sp>
          <p:nvSpPr>
            <p:cNvPr id="103" name="Ellipse 103"/>
            <p:cNvSpPr/>
            <p:nvPr/>
          </p:nvSpPr>
          <p:spPr>
            <a:xfrm>
              <a:off x="2809875" y="4714875"/>
              <a:ext cx="171450" cy="171450"/>
            </a:xfrm>
            <a:prstGeom prst="ellipse">
              <a:avLst/>
            </a:prstGeom>
            <a:solidFill>
              <a:srgbClr val="721E0D"/>
            </a:solidFill>
            <a:ln>
              <a:noFill/>
            </a:ln>
          </p:spPr>
        </p:sp>
        <p:sp>
          <p:nvSpPr>
            <p:cNvPr id="104" name="TextBox 104"/>
            <p:cNvSpPr txBox="1"/>
            <p:nvPr/>
          </p:nvSpPr>
          <p:spPr>
            <a:xfrm>
              <a:off x="2863239" y="475702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sp>
          <p:nvSpPr>
            <p:cNvPr id="105" name="TextBox 105"/>
            <p:cNvSpPr txBox="1"/>
            <p:nvPr/>
          </p:nvSpPr>
          <p:spPr>
            <a:xfrm>
              <a:off x="3043238" y="4745593"/>
              <a:ext cx="588391"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触达频次低</a:t>
              </a:r>
            </a:p>
          </p:txBody>
        </p:sp>
        <p:sp>
          <p:nvSpPr>
            <p:cNvPr id="106" name="TextBox 106"/>
            <p:cNvSpPr txBox="1"/>
            <p:nvPr/>
          </p:nvSpPr>
          <p:spPr>
            <a:xfrm>
              <a:off x="5092440" y="474154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0.07亿元</a:t>
              </a:r>
            </a:p>
          </p:txBody>
        </p:sp>
      </p:grpSp>
      <p:grpSp>
        <p:nvGrpSpPr>
          <p:cNvPr id="133" name="gap-card-4"/>
          <p:cNvGrpSpPr/>
          <p:nvPr/>
        </p:nvGrpSpPr>
        <p:grpSpPr>
          <a:xfrm>
            <a:off x="6210300" y="3448050"/>
            <a:ext cx="5753100" cy="1866900"/>
            <a:chOff x="6210300" y="3448050"/>
            <a:chExt cx="5753100" cy="1866900"/>
          </a:xfrm>
        </p:grpSpPr>
        <p:sp>
          <p:nvSpPr>
            <p:cNvPr id="108" name="Rectangle 108"/>
            <p:cNvSpPr/>
            <p:nvPr/>
          </p:nvSpPr>
          <p:spPr>
            <a:xfrm>
              <a:off x="6210300" y="3448050"/>
              <a:ext cx="5753100" cy="1866900"/>
            </a:xfrm>
            <a:prstGeom prst="roundRect">
              <a:avLst>
                <a:gd name="adj" fmla="val 5102"/>
              </a:avLst>
            </a:prstGeom>
            <a:solidFill>
              <a:srgbClr val="FFFFFF"/>
            </a:solidFill>
            <a:ln w="14288">
              <a:solidFill>
                <a:srgbClr val="C9D6EE"/>
              </a:solidFill>
            </a:ln>
          </p:spPr>
        </p:sp>
        <p:sp>
          <p:nvSpPr>
            <p:cNvPr id="109" name="Freeform 109"/>
            <p:cNvSpPr/>
            <p:nvPr/>
          </p:nvSpPr>
          <p:spPr>
            <a:xfrm>
              <a:off x="6210300" y="3448050"/>
              <a:ext cx="5753100" cy="304800"/>
            </a:xfrm>
            <a:custGeom>
              <a:avLst/>
              <a:gdLst/>
              <a:ahLst/>
              <a:cxnLst/>
              <a:rect l="l" t="t" r="r" b="b"/>
              <a:pathLst>
                <a:path w="5753100" h="304800">
                  <a:moveTo>
                    <a:pt x="95250" y="0"/>
                  </a:moveTo>
                  <a:lnTo>
                    <a:pt x="5657850" y="0"/>
                  </a:lnTo>
                  <a:cubicBezTo>
                    <a:pt x="5710455" y="0"/>
                    <a:pt x="5753100" y="42645"/>
                    <a:pt x="5753100" y="95250"/>
                  </a:cubicBezTo>
                  <a:lnTo>
                    <a:pt x="5753100" y="304800"/>
                  </a:lnTo>
                  <a:lnTo>
                    <a:pt x="0" y="304800"/>
                  </a:lnTo>
                  <a:lnTo>
                    <a:pt x="0" y="95250"/>
                  </a:lnTo>
                  <a:cubicBezTo>
                    <a:pt x="0" y="42645"/>
                    <a:pt x="42645" y="0"/>
                    <a:pt x="95250" y="0"/>
                  </a:cubicBezTo>
                  <a:close/>
                </a:path>
              </a:pathLst>
            </a:custGeom>
            <a:solidFill>
              <a:srgbClr val="721E0D"/>
            </a:solidFill>
            <a:ln>
              <a:noFill/>
            </a:ln>
          </p:spPr>
        </p:sp>
        <p:sp>
          <p:nvSpPr>
            <p:cNvPr id="110" name="Rectangle 110"/>
            <p:cNvSpPr/>
            <p:nvPr/>
          </p:nvSpPr>
          <p:spPr>
            <a:xfrm>
              <a:off x="6305550" y="3505200"/>
              <a:ext cx="323850" cy="190500"/>
            </a:xfrm>
            <a:prstGeom prst="roundRect">
              <a:avLst>
                <a:gd name="adj" fmla="val 20000"/>
              </a:avLst>
            </a:prstGeom>
            <a:solidFill>
              <a:srgbClr val="B8351A"/>
            </a:solidFill>
            <a:ln>
              <a:noFill/>
            </a:ln>
          </p:spPr>
        </p:sp>
        <p:sp>
          <p:nvSpPr>
            <p:cNvPr id="111" name="TextBox 111"/>
            <p:cNvSpPr txBox="1"/>
            <p:nvPr/>
          </p:nvSpPr>
          <p:spPr>
            <a:xfrm>
              <a:off x="6389634" y="3546872"/>
              <a:ext cx="1556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04</a:t>
              </a:r>
            </a:p>
          </p:txBody>
        </p:sp>
        <p:sp>
          <p:nvSpPr>
            <p:cNvPr id="112" name="TextBox 112"/>
            <p:cNvSpPr txBox="1"/>
            <p:nvPr/>
          </p:nvSpPr>
          <p:spPr>
            <a:xfrm>
              <a:off x="6738556" y="3538776"/>
              <a:ext cx="2291120"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 xml:space="preserve">新在哪：新客贡献少2200万元      </a:t>
              </a:r>
            </a:p>
          </p:txBody>
        </p:sp>
        <p:sp>
          <p:nvSpPr>
            <p:cNvPr id="113" name="Ellipse 113"/>
            <p:cNvSpPr/>
            <p:nvPr/>
          </p:nvSpPr>
          <p:spPr>
            <a:xfrm>
              <a:off x="6762750" y="4210050"/>
              <a:ext cx="647700" cy="647700"/>
            </a:xfrm>
            <a:prstGeom prst="ellipse">
              <a:avLst/>
            </a:prstGeom>
            <a:noFill/>
            <a:ln w="114300">
              <a:solidFill>
                <a:srgbClr val="E3EBF8"/>
              </a:solidFill>
            </a:ln>
          </p:spPr>
        </p:sp>
        <p:sp>
          <p:nvSpPr>
            <p:cNvPr id="114" name="Freeform 114"/>
            <p:cNvSpPr/>
            <p:nvPr/>
          </p:nvSpPr>
          <p:spPr>
            <a:xfrm>
              <a:off x="6705600" y="4152900"/>
              <a:ext cx="762000" cy="762000"/>
            </a:xfrm>
            <a:prstGeom prst="blockArc">
              <a:avLst>
                <a:gd name="adj1" fmla="val 16200000"/>
                <a:gd name="adj2" fmla="val 18532800"/>
                <a:gd name="adj3" fmla="val 15000"/>
              </a:avLst>
            </a:prstGeom>
            <a:solidFill>
              <a:srgbClr val="B8351A"/>
            </a:solidFill>
            <a:ln>
              <a:noFill/>
            </a:ln>
          </p:spPr>
        </p:sp>
        <p:sp>
          <p:nvSpPr>
            <p:cNvPr id="115" name="TextBox 115"/>
            <p:cNvSpPr txBox="1"/>
            <p:nvPr/>
          </p:nvSpPr>
          <p:spPr>
            <a:xfrm>
              <a:off x="6732596" y="4402931"/>
              <a:ext cx="708008" cy="220028"/>
            </a:xfrm>
            <a:prstGeom prst="rect">
              <a:avLst/>
            </a:prstGeom>
            <a:noFill/>
            <a:ln>
              <a:noFill/>
            </a:ln>
          </p:spPr>
          <p:txBody>
            <a:bodyPr wrap="none" lIns="0" tIns="0" rIns="0" bIns="0" anchor="t" anchorCtr="0">
              <a:spAutoFit/>
            </a:bodyPr>
            <a:lstStyle/>
            <a:p>
              <a:pPr algn="ctr"/>
              <a:r>
                <a:rPr lang="zh-CN" sz="1120" b="1" dirty="0">
                  <a:solidFill>
                    <a:srgbClr val="C03616"/>
                  </a:solidFill>
                  <a:latin typeface="+mn-lt"/>
                  <a:ea typeface="+mn-ea"/>
                  <a:cs typeface="+mn-cs"/>
                </a:rPr>
                <a:t xml:space="preserve">  0.22  </a:t>
              </a:r>
            </a:p>
          </p:txBody>
        </p:sp>
        <p:sp>
          <p:nvSpPr>
            <p:cNvPr id="116" name="TextBox 116"/>
            <p:cNvSpPr txBox="1"/>
            <p:nvPr/>
          </p:nvSpPr>
          <p:spPr>
            <a:xfrm>
              <a:off x="6986257" y="4599861"/>
              <a:ext cx="200685" cy="140494"/>
            </a:xfrm>
            <a:prstGeom prst="rect">
              <a:avLst/>
            </a:prstGeom>
            <a:noFill/>
            <a:ln>
              <a:noFill/>
            </a:ln>
          </p:spPr>
          <p:txBody>
            <a:bodyPr wrap="none" lIns="0" tIns="0" rIns="0" bIns="0" anchor="t" anchorCtr="0">
              <a:spAutoFit/>
            </a:bodyPr>
            <a:lstStyle/>
            <a:p>
              <a:pPr algn="ctr"/>
              <a:r>
                <a:rPr lang="zh-CN" sz="710" dirty="0">
                  <a:solidFill>
                    <a:srgbClr val="6E7686"/>
                  </a:solidFill>
                  <a:latin typeface="+mn-lt"/>
                  <a:ea typeface="+mn-ea"/>
                  <a:cs typeface="+mn-cs"/>
                </a:rPr>
                <a:t>亿元</a:t>
              </a:r>
            </a:p>
          </p:txBody>
        </p:sp>
        <p:sp>
          <p:nvSpPr>
            <p:cNvPr id="117" name="TextBox 117"/>
            <p:cNvSpPr txBox="1"/>
            <p:nvPr/>
          </p:nvSpPr>
          <p:spPr>
            <a:xfrm>
              <a:off x="7615238" y="4311491"/>
              <a:ext cx="451079" cy="161925"/>
            </a:xfrm>
            <a:prstGeom prst="rect">
              <a:avLst/>
            </a:prstGeom>
            <a:noFill/>
            <a:ln>
              <a:noFill/>
            </a:ln>
          </p:spPr>
          <p:txBody>
            <a:bodyPr wrap="none" lIns="0" tIns="0" rIns="0" bIns="0" anchor="t" anchorCtr="0">
              <a:spAutoFit/>
            </a:bodyPr>
            <a:lstStyle/>
            <a:p>
              <a:pPr algn="l"/>
              <a:r>
                <a:rPr lang="zh-CN" sz="820" dirty="0">
                  <a:solidFill>
                    <a:srgbClr val="6E7686"/>
                  </a:solidFill>
                  <a:latin typeface="+mn-lt"/>
                  <a:ea typeface="+mn-ea"/>
                  <a:cs typeface="+mn-cs"/>
                </a:rPr>
                <a:t>占总差额</a:t>
              </a:r>
            </a:p>
          </p:txBody>
        </p:sp>
        <p:sp>
          <p:nvSpPr>
            <p:cNvPr id="118" name="TextBox 118"/>
            <p:cNvSpPr txBox="1"/>
            <p:nvPr/>
          </p:nvSpPr>
          <p:spPr>
            <a:xfrm>
              <a:off x="7612380" y="4524375"/>
              <a:ext cx="757333" cy="293370"/>
            </a:xfrm>
            <a:prstGeom prst="rect">
              <a:avLst/>
            </a:prstGeom>
            <a:noFill/>
            <a:ln>
              <a:noFill/>
            </a:ln>
          </p:spPr>
          <p:txBody>
            <a:bodyPr wrap="none" lIns="0" tIns="0" rIns="0" bIns="0" anchor="t" anchorCtr="0">
              <a:spAutoFit/>
            </a:bodyPr>
            <a:lstStyle/>
            <a:p>
              <a:pPr algn="l"/>
              <a:r>
                <a:rPr lang="zh-CN" sz="1500" b="1" dirty="0">
                  <a:solidFill>
                    <a:srgbClr val="C03616"/>
                  </a:solidFill>
                  <a:latin typeface="+mn-lt"/>
                  <a:ea typeface="+mn-ea"/>
                  <a:cs typeface="+mn-cs"/>
                </a:rPr>
                <a:t xml:space="preserve">10.8% </a:t>
              </a:r>
            </a:p>
          </p:txBody>
        </p:sp>
        <p:sp>
          <p:nvSpPr>
            <p:cNvPr id="119" name="Line 119"/>
            <p:cNvSpPr/>
            <p:nvPr/>
          </p:nvSpPr>
          <p:spPr>
            <a:xfrm>
              <a:off x="8629650" y="3943350"/>
              <a:ext cx="9525" cy="1181100"/>
            </a:xfrm>
            <a:custGeom>
              <a:avLst/>
              <a:gdLst/>
              <a:ahLst/>
              <a:cxnLst/>
              <a:rect l="l" t="t" r="r" b="b"/>
              <a:pathLst>
                <a:path w="9525" h="1181100">
                  <a:moveTo>
                    <a:pt x="0" y="0"/>
                  </a:moveTo>
                  <a:lnTo>
                    <a:pt x="0" y="1181100"/>
                  </a:lnTo>
                </a:path>
              </a:pathLst>
            </a:custGeom>
            <a:noFill/>
            <a:ln w="14288">
              <a:solidFill>
                <a:srgbClr val="DCE6F6"/>
              </a:solidFill>
            </a:ln>
          </p:spPr>
        </p:sp>
        <p:sp>
          <p:nvSpPr>
            <p:cNvPr id="120" name="TextBox 120"/>
            <p:cNvSpPr txBox="1"/>
            <p:nvPr/>
          </p:nvSpPr>
          <p:spPr>
            <a:xfrm>
              <a:off x="9761785" y="3937397"/>
              <a:ext cx="1050429"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TOP3原因   </a:t>
              </a:r>
            </a:p>
          </p:txBody>
        </p:sp>
        <p:sp>
          <p:nvSpPr>
            <p:cNvPr id="121" name="Ellipse 121"/>
            <p:cNvSpPr/>
            <p:nvPr/>
          </p:nvSpPr>
          <p:spPr>
            <a:xfrm>
              <a:off x="8791575" y="4181475"/>
              <a:ext cx="171450" cy="171450"/>
            </a:xfrm>
            <a:prstGeom prst="ellipse">
              <a:avLst/>
            </a:prstGeom>
            <a:solidFill>
              <a:srgbClr val="721E0D"/>
            </a:solidFill>
            <a:ln>
              <a:noFill/>
            </a:ln>
          </p:spPr>
        </p:sp>
        <p:sp>
          <p:nvSpPr>
            <p:cNvPr id="122" name="TextBox 122"/>
            <p:cNvSpPr txBox="1"/>
            <p:nvPr/>
          </p:nvSpPr>
          <p:spPr>
            <a:xfrm>
              <a:off x="8844939" y="422362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sp>
          <p:nvSpPr>
            <p:cNvPr id="123" name="TextBox 123"/>
            <p:cNvSpPr txBox="1"/>
            <p:nvPr/>
          </p:nvSpPr>
          <p:spPr>
            <a:xfrm>
              <a:off x="9024938" y="4212193"/>
              <a:ext cx="704164"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线索数量不足</a:t>
              </a:r>
            </a:p>
          </p:txBody>
        </p:sp>
        <p:sp>
          <p:nvSpPr>
            <p:cNvPr id="124" name="TextBox 124"/>
            <p:cNvSpPr txBox="1"/>
            <p:nvPr/>
          </p:nvSpPr>
          <p:spPr>
            <a:xfrm>
              <a:off x="11074140" y="420814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0.09亿元</a:t>
              </a:r>
            </a:p>
          </p:txBody>
        </p:sp>
        <p:sp>
          <p:nvSpPr>
            <p:cNvPr id="125" name="Ellipse 125"/>
            <p:cNvSpPr/>
            <p:nvPr/>
          </p:nvSpPr>
          <p:spPr>
            <a:xfrm>
              <a:off x="8791575" y="4448175"/>
              <a:ext cx="171450" cy="171450"/>
            </a:xfrm>
            <a:prstGeom prst="ellipse">
              <a:avLst/>
            </a:prstGeom>
            <a:solidFill>
              <a:srgbClr val="721E0D"/>
            </a:solidFill>
            <a:ln>
              <a:noFill/>
            </a:ln>
          </p:spPr>
        </p:sp>
        <p:sp>
          <p:nvSpPr>
            <p:cNvPr id="126" name="TextBox 126"/>
            <p:cNvSpPr txBox="1"/>
            <p:nvPr/>
          </p:nvSpPr>
          <p:spPr>
            <a:xfrm>
              <a:off x="8844939" y="449032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sp>
          <p:nvSpPr>
            <p:cNvPr id="127" name="TextBox 127"/>
            <p:cNvSpPr txBox="1"/>
            <p:nvPr/>
          </p:nvSpPr>
          <p:spPr>
            <a:xfrm>
              <a:off x="9024938" y="4478893"/>
              <a:ext cx="588391"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转化率偏低</a:t>
              </a:r>
            </a:p>
          </p:txBody>
        </p:sp>
        <p:sp>
          <p:nvSpPr>
            <p:cNvPr id="128" name="TextBox 128"/>
            <p:cNvSpPr txBox="1"/>
            <p:nvPr/>
          </p:nvSpPr>
          <p:spPr>
            <a:xfrm>
              <a:off x="11074140" y="447484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0.08亿元</a:t>
              </a:r>
            </a:p>
          </p:txBody>
        </p:sp>
        <p:sp>
          <p:nvSpPr>
            <p:cNvPr id="129" name="Ellipse 129"/>
            <p:cNvSpPr/>
            <p:nvPr/>
          </p:nvSpPr>
          <p:spPr>
            <a:xfrm>
              <a:off x="8791575" y="4714875"/>
              <a:ext cx="171450" cy="171450"/>
            </a:xfrm>
            <a:prstGeom prst="ellipse">
              <a:avLst/>
            </a:prstGeom>
            <a:solidFill>
              <a:srgbClr val="721E0D"/>
            </a:solidFill>
            <a:ln>
              <a:noFill/>
            </a:ln>
          </p:spPr>
        </p:sp>
        <p:sp>
          <p:nvSpPr>
            <p:cNvPr id="130" name="TextBox 130"/>
            <p:cNvSpPr txBox="1"/>
            <p:nvPr/>
          </p:nvSpPr>
          <p:spPr>
            <a:xfrm>
              <a:off x="8844939" y="475702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sp>
          <p:nvSpPr>
            <p:cNvPr id="131" name="TextBox 131"/>
            <p:cNvSpPr txBox="1"/>
            <p:nvPr/>
          </p:nvSpPr>
          <p:spPr>
            <a:xfrm>
              <a:off x="9024938" y="4745593"/>
              <a:ext cx="1381437" cy="169069"/>
            </a:xfrm>
            <a:prstGeom prst="rect">
              <a:avLst/>
            </a:prstGeom>
            <a:noFill/>
            <a:ln>
              <a:noFill/>
            </a:ln>
          </p:spPr>
          <p:txBody>
            <a:bodyPr wrap="none" lIns="0" tIns="0" rIns="0" bIns="0" anchor="t" anchorCtr="0">
              <a:spAutoFit/>
            </a:bodyPr>
            <a:lstStyle/>
            <a:p>
              <a:pPr algn="l"/>
              <a:r>
                <a:rPr lang="zh-CN" sz="860" dirty="0">
                  <a:solidFill>
                    <a:srgbClr val="461910"/>
                  </a:solidFill>
                  <a:latin typeface="+mn-lt"/>
                  <a:ea typeface="+mn-ea"/>
                  <a:cs typeface="+mn-cs"/>
                </a:rPr>
                <a:t xml:space="preserve">覆盖行业/区域有限      </a:t>
              </a:r>
            </a:p>
          </p:txBody>
        </p:sp>
        <p:sp>
          <p:nvSpPr>
            <p:cNvPr id="132" name="TextBox 132"/>
            <p:cNvSpPr txBox="1"/>
            <p:nvPr/>
          </p:nvSpPr>
          <p:spPr>
            <a:xfrm>
              <a:off x="11074140" y="4741545"/>
              <a:ext cx="741622" cy="176212"/>
            </a:xfrm>
            <a:prstGeom prst="rect">
              <a:avLst/>
            </a:prstGeom>
            <a:noFill/>
            <a:ln>
              <a:noFill/>
            </a:ln>
          </p:spPr>
          <p:txBody>
            <a:bodyPr wrap="none" lIns="0" tIns="0" rIns="0" bIns="0" anchor="t" anchorCtr="0">
              <a:spAutoFit/>
            </a:bodyPr>
            <a:lstStyle/>
            <a:p>
              <a:pPr algn="r"/>
              <a:r>
                <a:rPr lang="zh-CN" sz="900" b="1" dirty="0">
                  <a:solidFill>
                    <a:srgbClr val="C03616"/>
                  </a:solidFill>
                  <a:latin typeface="+mn-lt"/>
                  <a:ea typeface="+mn-ea"/>
                  <a:cs typeface="+mn-cs"/>
                </a:rPr>
                <a:t xml:space="preserve">   0.05亿元</a:t>
              </a:r>
            </a:p>
          </p:txBody>
        </p:sp>
      </p:grpSp>
      <p:grpSp>
        <p:nvGrpSpPr>
          <p:cNvPr id="141" name="insight-bar"/>
          <p:cNvGrpSpPr/>
          <p:nvPr/>
        </p:nvGrpSpPr>
        <p:grpSpPr>
          <a:xfrm>
            <a:off x="228600" y="5486400"/>
            <a:ext cx="11734800" cy="609600"/>
            <a:chOff x="228600" y="5486400"/>
            <a:chExt cx="11734800" cy="609600"/>
          </a:xfrm>
        </p:grpSpPr>
        <p:sp>
          <p:nvSpPr>
            <p:cNvPr id="134" name="Rectangle 134"/>
            <p:cNvSpPr/>
            <p:nvPr/>
          </p:nvSpPr>
          <p:spPr>
            <a:xfrm>
              <a:off x="228600" y="5486400"/>
              <a:ext cx="11734800" cy="609600"/>
            </a:xfrm>
            <a:prstGeom prst="roundRect">
              <a:avLst>
                <a:gd name="adj" fmla="val 21875"/>
              </a:avLst>
            </a:prstGeom>
            <a:solidFill>
              <a:srgbClr val="FDECEC"/>
            </a:solidFill>
            <a:ln>
              <a:noFill/>
            </a:ln>
          </p:spPr>
        </p:sp>
        <p:sp>
          <p:nvSpPr>
            <p:cNvPr id="135" name="Ellipse 135"/>
            <p:cNvSpPr/>
            <p:nvPr/>
          </p:nvSpPr>
          <p:spPr>
            <a:xfrm>
              <a:off x="3990975" y="5610225"/>
              <a:ext cx="361950" cy="361950"/>
            </a:xfrm>
            <a:prstGeom prst="ellipse">
              <a:avLst/>
            </a:prstGeom>
            <a:solidFill>
              <a:srgbClr val="FFFFFF"/>
            </a:solidFill>
            <a:ln>
              <a:noFill/>
            </a:ln>
          </p:spPr>
        </p:sp>
        <p:grpSp>
          <p:nvGrpSpPr>
            <p:cNvPr id="139" name="Group 139"/>
            <p:cNvGrpSpPr/>
            <p:nvPr/>
          </p:nvGrpSpPr>
          <p:grpSpPr>
            <a:xfrm>
              <a:off x="4093369" y="5712619"/>
              <a:ext cx="157163" cy="157163"/>
              <a:chOff x="4093369" y="5712619"/>
              <a:chExt cx="157163" cy="157163"/>
            </a:xfrm>
          </p:grpSpPr>
          <p:sp>
            <p:nvSpPr>
              <p:cNvPr id="136" name="Freeform 136"/>
              <p:cNvSpPr/>
              <p:nvPr/>
            </p:nvSpPr>
            <p:spPr>
              <a:xfrm>
                <a:off x="4093369" y="5712619"/>
                <a:ext cx="157163" cy="78581"/>
              </a:xfrm>
              <a:custGeom>
                <a:avLst/>
                <a:gdLst/>
                <a:ahLst/>
                <a:cxnLst/>
                <a:rect l="l" t="t" r="r" b="b"/>
                <a:pathLst>
                  <a:path w="157163" h="78581">
                    <a:moveTo>
                      <a:pt x="0" y="78581"/>
                    </a:moveTo>
                    <a:lnTo>
                      <a:pt x="8731" y="78581"/>
                    </a:lnTo>
                    <a:moveTo>
                      <a:pt x="78581" y="0"/>
                    </a:moveTo>
                    <a:lnTo>
                      <a:pt x="78581" y="8731"/>
                    </a:lnTo>
                    <a:moveTo>
                      <a:pt x="148431" y="78581"/>
                    </a:moveTo>
                    <a:lnTo>
                      <a:pt x="157163" y="78581"/>
                    </a:lnTo>
                    <a:moveTo>
                      <a:pt x="22701" y="22701"/>
                    </a:moveTo>
                    <a:lnTo>
                      <a:pt x="28813" y="28813"/>
                    </a:lnTo>
                    <a:moveTo>
                      <a:pt x="134461" y="22701"/>
                    </a:moveTo>
                    <a:lnTo>
                      <a:pt x="128349" y="28813"/>
                    </a:lnTo>
                  </a:path>
                </a:pathLst>
              </a:custGeom>
              <a:noFill/>
              <a:ln w="17463">
                <a:solidFill>
                  <a:srgbClr val="C03616"/>
                </a:solidFill>
              </a:ln>
            </p:spPr>
          </p:sp>
          <p:sp>
            <p:nvSpPr>
              <p:cNvPr id="137" name="Freeform 137"/>
              <p:cNvSpPr/>
              <p:nvPr/>
            </p:nvSpPr>
            <p:spPr>
              <a:xfrm>
                <a:off x="4124592" y="5747544"/>
                <a:ext cx="94716" cy="122238"/>
              </a:xfrm>
              <a:custGeom>
                <a:avLst/>
                <a:gdLst/>
                <a:ahLst/>
                <a:cxnLst/>
                <a:rect l="l" t="t" r="r" b="b"/>
                <a:pathLst>
                  <a:path w="94716" h="122238">
                    <a:moveTo>
                      <a:pt x="21164" y="78581"/>
                    </a:moveTo>
                    <a:cubicBezTo>
                      <a:pt x="6132" y="67307"/>
                      <a:pt x="0" y="47678"/>
                      <a:pt x="5942" y="29851"/>
                    </a:cubicBezTo>
                    <a:cubicBezTo>
                      <a:pt x="11884" y="12024"/>
                      <a:pt x="28567" y="0"/>
                      <a:pt x="47358" y="0"/>
                    </a:cubicBezTo>
                    <a:cubicBezTo>
                      <a:pt x="66149" y="0"/>
                      <a:pt x="82832" y="12024"/>
                      <a:pt x="88774" y="29851"/>
                    </a:cubicBezTo>
                    <a:cubicBezTo>
                      <a:pt x="94716" y="47678"/>
                      <a:pt x="88585" y="67307"/>
                      <a:pt x="73552" y="78581"/>
                    </a:cubicBezTo>
                    <a:cubicBezTo>
                      <a:pt x="66638" y="85425"/>
                      <a:pt x="63396" y="95152"/>
                      <a:pt x="64821" y="104775"/>
                    </a:cubicBezTo>
                    <a:cubicBezTo>
                      <a:pt x="64821" y="114419"/>
                      <a:pt x="57002" y="122238"/>
                      <a:pt x="47358" y="122238"/>
                    </a:cubicBezTo>
                    <a:cubicBezTo>
                      <a:pt x="37714" y="122238"/>
                      <a:pt x="29896" y="114419"/>
                      <a:pt x="29896" y="104775"/>
                    </a:cubicBezTo>
                    <a:cubicBezTo>
                      <a:pt x="31320" y="95152"/>
                      <a:pt x="28078" y="85425"/>
                      <a:pt x="21164" y="78581"/>
                    </a:cubicBezTo>
                  </a:path>
                </a:pathLst>
              </a:custGeom>
              <a:noFill/>
              <a:ln w="17463">
                <a:solidFill>
                  <a:srgbClr val="C03616"/>
                </a:solidFill>
              </a:ln>
            </p:spPr>
          </p:sp>
          <p:sp>
            <p:nvSpPr>
              <p:cNvPr id="138" name="Freeform 138"/>
              <p:cNvSpPr/>
              <p:nvPr/>
            </p:nvSpPr>
            <p:spPr>
              <a:xfrm>
                <a:off x="4151868" y="5834856"/>
                <a:ext cx="40164" cy="9525"/>
              </a:xfrm>
              <a:custGeom>
                <a:avLst/>
                <a:gdLst/>
                <a:ahLst/>
                <a:cxnLst/>
                <a:rect l="l" t="t" r="r" b="b"/>
                <a:pathLst>
                  <a:path w="40164" h="9525">
                    <a:moveTo>
                      <a:pt x="0" y="0"/>
                    </a:moveTo>
                    <a:lnTo>
                      <a:pt x="40164" y="0"/>
                    </a:lnTo>
                  </a:path>
                </a:pathLst>
              </a:custGeom>
              <a:noFill/>
              <a:ln w="17463">
                <a:solidFill>
                  <a:srgbClr val="C03616"/>
                </a:solidFill>
              </a:ln>
            </p:spPr>
          </p:sp>
        </p:grpSp>
        <p:sp>
          <p:nvSpPr>
            <p:cNvPr id="140" name="TextBox 140"/>
            <p:cNvSpPr txBox="1"/>
            <p:nvPr/>
          </p:nvSpPr>
          <p:spPr>
            <a:xfrm>
              <a:off x="4470654" y="5728335"/>
              <a:ext cx="3404616" cy="234696"/>
            </a:xfrm>
            <a:prstGeom prst="rect">
              <a:avLst/>
            </a:prstGeom>
            <a:noFill/>
            <a:ln>
              <a:noFill/>
            </a:ln>
          </p:spPr>
          <p:txBody>
            <a:bodyPr wrap="none" lIns="0" tIns="0" rIns="0" bIns="0" anchor="t" anchorCtr="0">
              <a:spAutoFit/>
            </a:bodyPr>
            <a:lstStyle/>
            <a:p>
              <a:pPr algn="l"/>
              <a:r>
                <a:rPr lang="zh-CN" sz="1200" b="1" dirty="0">
                  <a:solidFill>
                    <a:srgbClr val="C03616"/>
                  </a:solidFill>
                  <a:latin typeface="+mn-lt"/>
                  <a:ea typeface="+mn-ea"/>
                  <a:cs typeface="+mn-cs"/>
                </a:rPr>
                <a:t>关键洞察：签约流失与延期项目贡献了主要缺口</a:t>
              </a:r>
            </a:p>
          </p:txBody>
        </p:sp>
      </p:gr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268698" y="152876"/>
              <a:ext cx="18650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4</a:t>
              </a:r>
            </a:p>
          </p:txBody>
        </p:sp>
        <p:sp>
          <p:nvSpPr>
            <p:cNvPr id="4" name="TextBox 4"/>
            <p:cNvSpPr txBox="1"/>
            <p:nvPr/>
          </p:nvSpPr>
          <p:spPr>
            <a:xfrm>
              <a:off x="904494" y="180023"/>
              <a:ext cx="6320028"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第二层归因：把差额</a:t>
              </a:r>
              <a:r>
                <a:rPr lang="zh-CN" sz="1950" b="1" dirty="0">
                  <a:solidFill>
                    <a:srgbClr val="B8351A"/>
                  </a:solidFill>
                  <a:latin typeface="+mn-lt"/>
                  <a:ea typeface="+mn-ea"/>
                  <a:cs typeface="+mn-cs"/>
                </a:rPr>
                <a:t>拆成四类</a:t>
              </a:r>
              <a:r>
                <a:rPr lang="zh-CN" sz="1950" b="1" dirty="0">
                  <a:solidFill>
                    <a:srgbClr val="461910"/>
                  </a:solidFill>
                  <a:latin typeface="+mn-lt"/>
                  <a:ea typeface="+mn-ea"/>
                  <a:cs typeface="+mn-cs"/>
                </a:rPr>
                <a:t>，为下半年策略提供依据</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30" name="class-card-lost"/>
          <p:cNvGrpSpPr/>
          <p:nvPr/>
        </p:nvGrpSpPr>
        <p:grpSpPr>
          <a:xfrm>
            <a:off x="228600" y="952500"/>
            <a:ext cx="2819400" cy="3524250"/>
            <a:chOff x="228600" y="952500"/>
            <a:chExt cx="2819400" cy="3524250"/>
          </a:xfrm>
        </p:grpSpPr>
        <p:sp>
          <p:nvSpPr>
            <p:cNvPr id="7" name="Rectangle 7"/>
            <p:cNvSpPr/>
            <p:nvPr/>
          </p:nvSpPr>
          <p:spPr>
            <a:xfrm>
              <a:off x="228600" y="952500"/>
              <a:ext cx="2819400" cy="3524250"/>
            </a:xfrm>
            <a:prstGeom prst="roundRect">
              <a:avLst>
                <a:gd name="adj" fmla="val 4054"/>
              </a:avLst>
            </a:prstGeom>
            <a:solidFill>
              <a:srgbClr val="FFFFFF"/>
            </a:solidFill>
            <a:ln w="14288">
              <a:solidFill>
                <a:srgbClr val="C03616"/>
              </a:solidFill>
            </a:ln>
          </p:spPr>
        </p:sp>
        <p:sp>
          <p:nvSpPr>
            <p:cNvPr id="8" name="Freeform 8"/>
            <p:cNvSpPr/>
            <p:nvPr/>
          </p:nvSpPr>
          <p:spPr>
            <a:xfrm>
              <a:off x="228600" y="952500"/>
              <a:ext cx="2819400" cy="438150"/>
            </a:xfrm>
            <a:custGeom>
              <a:avLst/>
              <a:gdLst/>
              <a:ahLst/>
              <a:cxnLst/>
              <a:rect l="l" t="t" r="r" b="b"/>
              <a:pathLst>
                <a:path w="2819400" h="438150">
                  <a:moveTo>
                    <a:pt x="114300" y="0"/>
                  </a:moveTo>
                  <a:lnTo>
                    <a:pt x="2705100" y="0"/>
                  </a:lnTo>
                  <a:cubicBezTo>
                    <a:pt x="2768226" y="0"/>
                    <a:pt x="2819400" y="51174"/>
                    <a:pt x="2819400" y="114300"/>
                  </a:cubicBezTo>
                  <a:lnTo>
                    <a:pt x="2819400" y="438150"/>
                  </a:lnTo>
                  <a:lnTo>
                    <a:pt x="0" y="438150"/>
                  </a:lnTo>
                  <a:lnTo>
                    <a:pt x="0" y="114300"/>
                  </a:lnTo>
                  <a:cubicBezTo>
                    <a:pt x="0" y="51174"/>
                    <a:pt x="51174" y="0"/>
                    <a:pt x="114300" y="0"/>
                  </a:cubicBezTo>
                  <a:close/>
                </a:path>
              </a:pathLst>
            </a:custGeom>
            <a:solidFill>
              <a:srgbClr val="FDECEC"/>
            </a:solidFill>
            <a:ln>
              <a:noFill/>
            </a:ln>
          </p:spPr>
        </p:sp>
        <p:sp>
          <p:nvSpPr>
            <p:cNvPr id="9" name="Ellipse 9"/>
            <p:cNvSpPr/>
            <p:nvPr/>
          </p:nvSpPr>
          <p:spPr>
            <a:xfrm>
              <a:off x="361950" y="1038225"/>
              <a:ext cx="266700" cy="266700"/>
            </a:xfrm>
            <a:prstGeom prst="ellipse">
              <a:avLst/>
            </a:prstGeom>
            <a:solidFill>
              <a:srgbClr val="C03616"/>
            </a:solidFill>
            <a:ln>
              <a:noFill/>
            </a:ln>
          </p:spPr>
        </p:sp>
        <p:grpSp>
          <p:nvGrpSpPr>
            <p:cNvPr id="12" name="Group 12"/>
            <p:cNvGrpSpPr/>
            <p:nvPr/>
          </p:nvGrpSpPr>
          <p:grpSpPr>
            <a:xfrm>
              <a:off x="452438" y="1128712"/>
              <a:ext cx="85725" cy="85725"/>
              <a:chOff x="452438" y="1128712"/>
              <a:chExt cx="85725" cy="85725"/>
            </a:xfrm>
          </p:grpSpPr>
          <p:sp>
            <p:nvSpPr>
              <p:cNvPr id="10" name="Freeform 10"/>
              <p:cNvSpPr/>
              <p:nvPr/>
            </p:nvSpPr>
            <p:spPr>
              <a:xfrm>
                <a:off x="452438" y="1128712"/>
                <a:ext cx="85725" cy="85725"/>
              </a:xfrm>
              <a:custGeom>
                <a:avLst/>
                <a:gdLst/>
                <a:ahLst/>
                <a:cxnLst/>
                <a:rect l="l" t="t" r="r" b="b"/>
                <a:pathLst>
                  <a:path w="85725" h="85725">
                    <a:moveTo>
                      <a:pt x="85725" y="0"/>
                    </a:moveTo>
                    <a:lnTo>
                      <a:pt x="0" y="85725"/>
                    </a:lnTo>
                  </a:path>
                </a:pathLst>
              </a:custGeom>
              <a:noFill/>
              <a:ln w="14288">
                <a:solidFill>
                  <a:srgbClr val="FFFFFF"/>
                </a:solidFill>
              </a:ln>
            </p:spPr>
          </p:sp>
          <p:sp>
            <p:nvSpPr>
              <p:cNvPr id="11" name="Freeform 11"/>
              <p:cNvSpPr/>
              <p:nvPr/>
            </p:nvSpPr>
            <p:spPr>
              <a:xfrm>
                <a:off x="452438" y="1128712"/>
                <a:ext cx="85725" cy="85725"/>
              </a:xfrm>
              <a:custGeom>
                <a:avLst/>
                <a:gdLst/>
                <a:ahLst/>
                <a:cxnLst/>
                <a:rect l="l" t="t" r="r" b="b"/>
                <a:pathLst>
                  <a:path w="85725" h="85725">
                    <a:moveTo>
                      <a:pt x="0" y="0"/>
                    </a:moveTo>
                    <a:lnTo>
                      <a:pt x="85725" y="85725"/>
                    </a:lnTo>
                  </a:path>
                </a:pathLst>
              </a:custGeom>
              <a:noFill/>
              <a:ln w="14288">
                <a:solidFill>
                  <a:srgbClr val="FFFFFF"/>
                </a:solidFill>
              </a:ln>
            </p:spPr>
          </p:sp>
        </p:grpSp>
        <p:sp>
          <p:nvSpPr>
            <p:cNvPr id="13" name="TextBox 13"/>
            <p:cNvSpPr txBox="1"/>
            <p:nvPr/>
          </p:nvSpPr>
          <p:spPr>
            <a:xfrm>
              <a:off x="698754" y="1099185"/>
              <a:ext cx="1769791" cy="234696"/>
            </a:xfrm>
            <a:prstGeom prst="rect">
              <a:avLst/>
            </a:prstGeom>
            <a:noFill/>
            <a:ln>
              <a:noFill/>
            </a:ln>
          </p:spPr>
          <p:txBody>
            <a:bodyPr wrap="none" lIns="0" tIns="0" rIns="0" bIns="0" anchor="t" anchorCtr="0">
              <a:spAutoFit/>
            </a:bodyPr>
            <a:lstStyle/>
            <a:p>
              <a:pPr algn="l"/>
              <a:r>
                <a:rPr lang="zh-CN" sz="1200" b="1" dirty="0">
                  <a:solidFill>
                    <a:srgbClr val="C03616"/>
                  </a:solidFill>
                  <a:latin typeface="+mn-lt"/>
                  <a:ea typeface="+mn-ea"/>
                  <a:cs typeface="+mn-cs"/>
                </a:rPr>
                <a:t xml:space="preserve">已丢失 </a:t>
              </a:r>
              <a:r>
                <a:rPr lang="zh-CN" sz="820" dirty="0">
                  <a:solidFill>
                    <a:srgbClr val="C03616"/>
                  </a:solidFill>
                  <a:latin typeface="+mn-lt"/>
                  <a:ea typeface="+mn-ea"/>
                  <a:cs typeface="+mn-cs"/>
                </a:rPr>
                <a:t>（无法追回）</a:t>
              </a:r>
              <a:r>
                <a:rPr lang="zh-CN" sz="1200" b="1" dirty="0">
                  <a:solidFill>
                    <a:srgbClr val="C03616"/>
                  </a:solidFill>
                  <a:latin typeface="+mn-lt"/>
                  <a:ea typeface="+mn-ea"/>
                  <a:cs typeface="+mn-cs"/>
                </a:rPr>
                <a:t xml:space="preserve">      </a:t>
              </a:r>
            </a:p>
          </p:txBody>
        </p:sp>
        <p:sp>
          <p:nvSpPr>
            <p:cNvPr id="14" name="TextBox 14"/>
            <p:cNvSpPr txBox="1"/>
            <p:nvPr/>
          </p:nvSpPr>
          <p:spPr>
            <a:xfrm>
              <a:off x="729048" y="1542098"/>
              <a:ext cx="1818503" cy="381381"/>
            </a:xfrm>
            <a:prstGeom prst="rect">
              <a:avLst/>
            </a:prstGeom>
            <a:noFill/>
            <a:ln>
              <a:noFill/>
            </a:ln>
          </p:spPr>
          <p:txBody>
            <a:bodyPr wrap="none" lIns="0" tIns="0" rIns="0" bIns="0" anchor="t" anchorCtr="0">
              <a:spAutoFit/>
            </a:bodyPr>
            <a:lstStyle/>
            <a:p>
              <a:pPr algn="ctr"/>
              <a:r>
                <a:rPr lang="zh-CN" sz="1950" b="1" dirty="0">
                  <a:solidFill>
                    <a:srgbClr val="C03616"/>
                  </a:solidFill>
                  <a:latin typeface="+mn-lt"/>
                  <a:ea typeface="+mn-ea"/>
                  <a:cs typeface="+mn-cs"/>
                </a:rPr>
                <a:t xml:space="preserve">   8600</a:t>
              </a:r>
              <a:r>
                <a:rPr lang="zh-CN" sz="1050" b="1" dirty="0">
                  <a:solidFill>
                    <a:srgbClr val="C03616"/>
                  </a:solidFill>
                  <a:latin typeface="+mn-lt"/>
                  <a:ea typeface="+mn-ea"/>
                  <a:cs typeface="+mn-cs"/>
                </a:rPr>
                <a:t>万元</a:t>
              </a:r>
              <a:r>
                <a:rPr lang="zh-CN" sz="1950" b="1" dirty="0">
                  <a:solidFill>
                    <a:srgbClr val="C03616"/>
                  </a:solidFill>
                  <a:latin typeface="+mn-lt"/>
                  <a:ea typeface="+mn-ea"/>
                  <a:cs typeface="+mn-cs"/>
                </a:rPr>
                <a:t xml:space="preserve">   </a:t>
              </a:r>
            </a:p>
          </p:txBody>
        </p:sp>
        <p:sp>
          <p:nvSpPr>
            <p:cNvPr id="15" name="Ellipse 15"/>
            <p:cNvSpPr/>
            <p:nvPr/>
          </p:nvSpPr>
          <p:spPr>
            <a:xfrm>
              <a:off x="1295400" y="2057400"/>
              <a:ext cx="685800" cy="685800"/>
            </a:xfrm>
            <a:prstGeom prst="ellipse">
              <a:avLst/>
            </a:prstGeom>
            <a:noFill/>
            <a:ln w="114300">
              <a:solidFill>
                <a:srgbClr val="E6EAF2"/>
              </a:solidFill>
            </a:ln>
          </p:spPr>
        </p:sp>
        <p:sp>
          <p:nvSpPr>
            <p:cNvPr id="16" name="Freeform 16"/>
            <p:cNvSpPr/>
            <p:nvPr/>
          </p:nvSpPr>
          <p:spPr>
            <a:xfrm>
              <a:off x="1238250" y="2000250"/>
              <a:ext cx="800100" cy="800100"/>
            </a:xfrm>
            <a:prstGeom prst="blockArc">
              <a:avLst>
                <a:gd name="adj1" fmla="val 16200000"/>
                <a:gd name="adj2" fmla="val 3758400"/>
                <a:gd name="adj3" fmla="val 15000"/>
              </a:avLst>
            </a:prstGeom>
            <a:solidFill>
              <a:srgbClr val="C03616"/>
            </a:solidFill>
            <a:ln>
              <a:noFill/>
            </a:ln>
          </p:spPr>
        </p:sp>
        <p:sp>
          <p:nvSpPr>
            <p:cNvPr id="17" name="TextBox 17"/>
            <p:cNvSpPr txBox="1"/>
            <p:nvPr/>
          </p:nvSpPr>
          <p:spPr>
            <a:xfrm>
              <a:off x="1178046" y="2306479"/>
              <a:ext cx="920507" cy="308039"/>
            </a:xfrm>
            <a:prstGeom prst="rect">
              <a:avLst/>
            </a:prstGeom>
            <a:noFill/>
            <a:ln>
              <a:noFill/>
            </a:ln>
          </p:spPr>
          <p:txBody>
            <a:bodyPr wrap="none" lIns="0" tIns="0" rIns="0" bIns="0" anchor="t" anchorCtr="0">
              <a:spAutoFit/>
            </a:bodyPr>
            <a:lstStyle/>
            <a:p>
              <a:pPr algn="ctr"/>
              <a:r>
                <a:rPr lang="zh-CN" sz="1580" b="1" dirty="0">
                  <a:solidFill>
                    <a:srgbClr val="C03616"/>
                  </a:solidFill>
                  <a:latin typeface="+mn-lt"/>
                  <a:ea typeface="+mn-ea"/>
                  <a:cs typeface="+mn-cs"/>
                </a:rPr>
                <a:t xml:space="preserve">  42%  </a:t>
              </a:r>
            </a:p>
          </p:txBody>
        </p:sp>
        <p:sp>
          <p:nvSpPr>
            <p:cNvPr id="18" name="Line 18"/>
            <p:cNvSpPr/>
            <p:nvPr/>
          </p:nvSpPr>
          <p:spPr>
            <a:xfrm>
              <a:off x="361950" y="2933700"/>
              <a:ext cx="2552700" cy="9525"/>
            </a:xfrm>
            <a:custGeom>
              <a:avLst/>
              <a:gdLst/>
              <a:ahLst/>
              <a:cxnLst/>
              <a:rect l="l" t="t" r="r" b="b"/>
              <a:pathLst>
                <a:path w="2552700" h="9525">
                  <a:moveTo>
                    <a:pt x="0" y="0"/>
                  </a:moveTo>
                  <a:lnTo>
                    <a:pt x="2552700" y="0"/>
                  </a:lnTo>
                </a:path>
              </a:pathLst>
            </a:custGeom>
            <a:noFill/>
            <a:ln w="9525">
              <a:solidFill>
                <a:srgbClr val="E6EAF2"/>
              </a:solidFill>
              <a:custDash>
                <a:ds d="400000" sp="300000"/>
              </a:custDash>
            </a:ln>
          </p:spPr>
        </p:sp>
        <p:sp>
          <p:nvSpPr>
            <p:cNvPr id="19" name="Rectangle 19"/>
            <p:cNvSpPr/>
            <p:nvPr/>
          </p:nvSpPr>
          <p:spPr>
            <a:xfrm>
              <a:off x="361950" y="3028950"/>
              <a:ext cx="76200" cy="76200"/>
            </a:xfrm>
            <a:prstGeom prst="rect">
              <a:avLst/>
            </a:prstGeom>
            <a:solidFill>
              <a:srgbClr val="C03616"/>
            </a:solidFill>
            <a:ln>
              <a:noFill/>
            </a:ln>
          </p:spPr>
        </p:sp>
        <p:sp>
          <p:nvSpPr>
            <p:cNvPr id="20" name="TextBox 20"/>
            <p:cNvSpPr txBox="1"/>
            <p:nvPr/>
          </p:nvSpPr>
          <p:spPr>
            <a:xfrm>
              <a:off x="490538" y="3007995"/>
              <a:ext cx="251841" cy="176212"/>
            </a:xfrm>
            <a:prstGeom prst="rect">
              <a:avLst/>
            </a:prstGeom>
            <a:noFill/>
            <a:ln>
              <a:noFill/>
            </a:ln>
          </p:spPr>
          <p:txBody>
            <a:bodyPr wrap="none" lIns="0" tIns="0" rIns="0" bIns="0" anchor="t" anchorCtr="0">
              <a:spAutoFit/>
            </a:bodyPr>
            <a:lstStyle/>
            <a:p>
              <a:pPr algn="l"/>
              <a:r>
                <a:rPr lang="zh-CN" sz="900" b="1" dirty="0">
                  <a:solidFill>
                    <a:srgbClr val="C03616"/>
                  </a:solidFill>
                  <a:latin typeface="+mn-lt"/>
                  <a:ea typeface="+mn-ea"/>
                  <a:cs typeface="+mn-cs"/>
                </a:rPr>
                <a:t>定义</a:t>
              </a:r>
            </a:p>
          </p:txBody>
        </p:sp>
        <p:sp>
          <p:nvSpPr>
            <p:cNvPr id="21" name="TextBox 21"/>
            <p:cNvSpPr txBox="1"/>
            <p:nvPr/>
          </p:nvSpPr>
          <p:spPr>
            <a:xfrm>
              <a:off x="357188" y="3210639"/>
              <a:ext cx="131381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523E3A"/>
                  </a:solidFill>
                  <a:latin typeface="+mn-lt"/>
                  <a:ea typeface="+mn-ea"/>
                  <a:cs typeface="+mn-cs"/>
                </a:rPr>
                <a:t>因客户流失、项目取消、政策</a:t>
              </a:r>
              <a:br/>
              <a:r>
                <a:rPr lang="zh-CN" sz="790" dirty="0">
                  <a:solidFill>
                    <a:srgbClr val="523E3A"/>
                  </a:solidFill>
                  <a:latin typeface="+mn-lt"/>
                  <a:ea typeface="+mn-ea"/>
                  <a:cs typeface="+mn-cs"/>
                </a:rPr>
                <a:t>变化等原因，已确定无法挽回</a:t>
              </a:r>
              <a:br/>
              <a:r>
                <a:rPr lang="zh-CN" sz="790" dirty="0">
                  <a:solidFill>
                    <a:srgbClr val="523E3A"/>
                  </a:solidFill>
                  <a:latin typeface="+mn-lt"/>
                  <a:ea typeface="+mn-ea"/>
                  <a:cs typeface="+mn-cs"/>
                </a:rPr>
                <a:t>的差额。</a:t>
              </a:r>
            </a:p>
          </p:txBody>
        </p:sp>
        <p:sp>
          <p:nvSpPr>
            <p:cNvPr id="22" name="Rectangle 22"/>
            <p:cNvSpPr/>
            <p:nvPr/>
          </p:nvSpPr>
          <p:spPr>
            <a:xfrm>
              <a:off x="361950" y="3848100"/>
              <a:ext cx="2552700" cy="533400"/>
            </a:xfrm>
            <a:prstGeom prst="roundRect">
              <a:avLst>
                <a:gd name="adj" fmla="val 14286"/>
              </a:avLst>
            </a:prstGeom>
            <a:solidFill>
              <a:srgbClr val="FDECEC"/>
            </a:solidFill>
            <a:ln>
              <a:noFill/>
            </a:ln>
          </p:spPr>
        </p:sp>
        <p:sp>
          <p:nvSpPr>
            <p:cNvPr id="23" name="Ellipse 23"/>
            <p:cNvSpPr/>
            <p:nvPr/>
          </p:nvSpPr>
          <p:spPr>
            <a:xfrm>
              <a:off x="447675" y="3990975"/>
              <a:ext cx="247650" cy="247650"/>
            </a:xfrm>
            <a:prstGeom prst="ellipse">
              <a:avLst/>
            </a:prstGeom>
            <a:solidFill>
              <a:srgbClr val="C03616"/>
            </a:solidFill>
            <a:ln>
              <a:noFill/>
            </a:ln>
          </p:spPr>
        </p:sp>
        <p:grpSp>
          <p:nvGrpSpPr>
            <p:cNvPr id="27" name="Group 27"/>
            <p:cNvGrpSpPr/>
            <p:nvPr/>
          </p:nvGrpSpPr>
          <p:grpSpPr>
            <a:xfrm>
              <a:off x="514350" y="4057650"/>
              <a:ext cx="114300" cy="114300"/>
              <a:chOff x="514350" y="4057650"/>
              <a:chExt cx="114300" cy="114300"/>
            </a:xfrm>
          </p:grpSpPr>
          <p:sp>
            <p:nvSpPr>
              <p:cNvPr id="24" name="Freeform 24"/>
              <p:cNvSpPr/>
              <p:nvPr/>
            </p:nvSpPr>
            <p:spPr>
              <a:xfrm>
                <a:off x="565150" y="41084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25" name="Freeform 25"/>
              <p:cNvSpPr/>
              <p:nvPr/>
            </p:nvSpPr>
            <p:spPr>
              <a:xfrm>
                <a:off x="539750" y="40830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FFFFFF"/>
                </a:solidFill>
              </a:ln>
            </p:spPr>
          </p:sp>
          <p:sp>
            <p:nvSpPr>
              <p:cNvPr id="26" name="Freeform 26"/>
              <p:cNvSpPr/>
              <p:nvPr/>
            </p:nvSpPr>
            <p:spPr>
              <a:xfrm>
                <a:off x="514350" y="40576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grpSp>
        <p:sp>
          <p:nvSpPr>
            <p:cNvPr id="28" name="TextBox 28"/>
            <p:cNvSpPr txBox="1"/>
            <p:nvPr/>
          </p:nvSpPr>
          <p:spPr>
            <a:xfrm>
              <a:off x="757238" y="3941445"/>
              <a:ext cx="857631" cy="176212"/>
            </a:xfrm>
            <a:prstGeom prst="rect">
              <a:avLst/>
            </a:prstGeom>
            <a:noFill/>
            <a:ln>
              <a:noFill/>
            </a:ln>
          </p:spPr>
          <p:txBody>
            <a:bodyPr wrap="none" lIns="0" tIns="0" rIns="0" bIns="0" anchor="t" anchorCtr="0">
              <a:spAutoFit/>
            </a:bodyPr>
            <a:lstStyle/>
            <a:p>
              <a:pPr algn="l"/>
              <a:r>
                <a:rPr lang="zh-CN" sz="900" b="1" dirty="0">
                  <a:solidFill>
                    <a:srgbClr val="C03616"/>
                  </a:solidFill>
                  <a:latin typeface="+mn-lt"/>
                  <a:ea typeface="+mn-ea"/>
                  <a:cs typeface="+mn-cs"/>
                </a:rPr>
                <a:t>策略：补新机会</a:t>
              </a:r>
            </a:p>
          </p:txBody>
        </p:sp>
        <p:sp>
          <p:nvSpPr>
            <p:cNvPr id="29" name="TextBox 29"/>
            <p:cNvSpPr txBox="1"/>
            <p:nvPr/>
          </p:nvSpPr>
          <p:spPr>
            <a:xfrm>
              <a:off x="757238" y="4114086"/>
              <a:ext cx="145224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523E3A"/>
                  </a:solidFill>
                  <a:latin typeface="+mn-lt"/>
                  <a:ea typeface="+mn-ea"/>
                  <a:cs typeface="+mn-cs"/>
                </a:rPr>
                <a:t>积极开拓新客户、新行业、新区域，</a:t>
              </a:r>
              <a:br/>
              <a:r>
                <a:rPr lang="zh-CN" sz="710" dirty="0">
                  <a:solidFill>
                    <a:srgbClr val="523E3A"/>
                  </a:solidFill>
                  <a:latin typeface="+mn-lt"/>
                  <a:ea typeface="+mn-ea"/>
                  <a:cs typeface="+mn-cs"/>
                </a:rPr>
                <a:t>用新增增量弥补损失。</a:t>
              </a:r>
            </a:p>
          </p:txBody>
        </p:sp>
      </p:grpSp>
      <p:grpSp>
        <p:nvGrpSpPr>
          <p:cNvPr id="51" name="class-card-delayed"/>
          <p:cNvGrpSpPr/>
          <p:nvPr/>
        </p:nvGrpSpPr>
        <p:grpSpPr>
          <a:xfrm>
            <a:off x="3200400" y="952500"/>
            <a:ext cx="2819400" cy="3524250"/>
            <a:chOff x="3200400" y="952500"/>
            <a:chExt cx="2819400" cy="3524250"/>
          </a:xfrm>
        </p:grpSpPr>
        <p:sp>
          <p:nvSpPr>
            <p:cNvPr id="31" name="Rectangle 31"/>
            <p:cNvSpPr/>
            <p:nvPr/>
          </p:nvSpPr>
          <p:spPr>
            <a:xfrm>
              <a:off x="3200400" y="952500"/>
              <a:ext cx="2819400" cy="3524250"/>
            </a:xfrm>
            <a:prstGeom prst="roundRect">
              <a:avLst>
                <a:gd name="adj" fmla="val 4054"/>
              </a:avLst>
            </a:prstGeom>
            <a:solidFill>
              <a:srgbClr val="FFFFFF"/>
            </a:solidFill>
            <a:ln w="14288">
              <a:solidFill>
                <a:srgbClr val="721E0D"/>
              </a:solidFill>
            </a:ln>
          </p:spPr>
        </p:sp>
        <p:sp>
          <p:nvSpPr>
            <p:cNvPr id="32" name="Freeform 32"/>
            <p:cNvSpPr/>
            <p:nvPr/>
          </p:nvSpPr>
          <p:spPr>
            <a:xfrm>
              <a:off x="3200400" y="952500"/>
              <a:ext cx="2819400" cy="438150"/>
            </a:xfrm>
            <a:custGeom>
              <a:avLst/>
              <a:gdLst/>
              <a:ahLst/>
              <a:cxnLst/>
              <a:rect l="l" t="t" r="r" b="b"/>
              <a:pathLst>
                <a:path w="2819400" h="438150">
                  <a:moveTo>
                    <a:pt x="114300" y="0"/>
                  </a:moveTo>
                  <a:lnTo>
                    <a:pt x="2705100" y="0"/>
                  </a:lnTo>
                  <a:cubicBezTo>
                    <a:pt x="2768226" y="0"/>
                    <a:pt x="2819400" y="51174"/>
                    <a:pt x="2819400" y="114300"/>
                  </a:cubicBezTo>
                  <a:lnTo>
                    <a:pt x="2819400" y="438150"/>
                  </a:lnTo>
                  <a:lnTo>
                    <a:pt x="0" y="438150"/>
                  </a:lnTo>
                  <a:lnTo>
                    <a:pt x="0" y="114300"/>
                  </a:lnTo>
                  <a:cubicBezTo>
                    <a:pt x="0" y="51174"/>
                    <a:pt x="51174" y="0"/>
                    <a:pt x="114300" y="0"/>
                  </a:cubicBezTo>
                  <a:close/>
                </a:path>
              </a:pathLst>
            </a:custGeom>
            <a:solidFill>
              <a:srgbClr val="721E0D"/>
            </a:solidFill>
            <a:ln>
              <a:noFill/>
            </a:ln>
          </p:spPr>
        </p:sp>
        <p:sp>
          <p:nvSpPr>
            <p:cNvPr id="33" name="Ellipse 33"/>
            <p:cNvSpPr/>
            <p:nvPr/>
          </p:nvSpPr>
          <p:spPr>
            <a:xfrm>
              <a:off x="3333750" y="1038225"/>
              <a:ext cx="266700" cy="266700"/>
            </a:xfrm>
            <a:prstGeom prst="ellipse">
              <a:avLst/>
            </a:prstGeom>
            <a:solidFill>
              <a:srgbClr val="FFFFFF"/>
            </a:solidFill>
            <a:ln>
              <a:noFill/>
            </a:ln>
          </p:spPr>
        </p:sp>
        <p:grpSp>
          <p:nvGrpSpPr>
            <p:cNvPr id="36" name="Group 36"/>
            <p:cNvGrpSpPr/>
            <p:nvPr/>
          </p:nvGrpSpPr>
          <p:grpSpPr>
            <a:xfrm>
              <a:off x="3402806" y="1107281"/>
              <a:ext cx="128588" cy="128588"/>
              <a:chOff x="3402806" y="1107281"/>
              <a:chExt cx="128588" cy="128588"/>
            </a:xfrm>
          </p:grpSpPr>
          <p:sp>
            <p:nvSpPr>
              <p:cNvPr id="34" name="Freeform 34"/>
              <p:cNvSpPr/>
              <p:nvPr/>
            </p:nvSpPr>
            <p:spPr>
              <a:xfrm>
                <a:off x="3402806" y="110728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721E0D"/>
                </a:solidFill>
              </a:ln>
            </p:spPr>
          </p:sp>
          <p:sp>
            <p:nvSpPr>
              <p:cNvPr id="35" name="Freeform 35"/>
              <p:cNvSpPr/>
              <p:nvPr/>
            </p:nvSpPr>
            <p:spPr>
              <a:xfrm>
                <a:off x="3467100" y="1135856"/>
                <a:ext cx="21431" cy="57150"/>
              </a:xfrm>
              <a:custGeom>
                <a:avLst/>
                <a:gdLst/>
                <a:ahLst/>
                <a:cxnLst/>
                <a:rect l="l" t="t" r="r" b="b"/>
                <a:pathLst>
                  <a:path w="21431" h="57150">
                    <a:moveTo>
                      <a:pt x="0" y="0"/>
                    </a:moveTo>
                    <a:lnTo>
                      <a:pt x="0" y="35719"/>
                    </a:lnTo>
                    <a:lnTo>
                      <a:pt x="21431" y="57150"/>
                    </a:lnTo>
                  </a:path>
                </a:pathLst>
              </a:custGeom>
              <a:noFill/>
              <a:ln w="14288">
                <a:solidFill>
                  <a:srgbClr val="721E0D"/>
                </a:solidFill>
              </a:ln>
            </p:spPr>
          </p:sp>
        </p:grpSp>
        <p:sp>
          <p:nvSpPr>
            <p:cNvPr id="37" name="TextBox 37"/>
            <p:cNvSpPr txBox="1"/>
            <p:nvPr/>
          </p:nvSpPr>
          <p:spPr>
            <a:xfrm>
              <a:off x="3670554" y="1099185"/>
              <a:ext cx="19905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 xml:space="preserve">已延期 </a:t>
              </a:r>
              <a:r>
                <a:rPr lang="zh-CN" sz="820" dirty="0">
                  <a:solidFill>
                    <a:srgbClr val="FFFFFF"/>
                  </a:solidFill>
                  <a:latin typeface="+mn-lt"/>
                  <a:ea typeface="+mn-ea"/>
                  <a:cs typeface="+mn-cs"/>
                </a:rPr>
                <a:t>（下半年可追回）</a:t>
              </a:r>
              <a:r>
                <a:rPr lang="zh-CN" sz="1200" b="1" dirty="0">
                  <a:solidFill>
                    <a:srgbClr val="FFFFFF"/>
                  </a:solidFill>
                  <a:latin typeface="+mn-lt"/>
                  <a:ea typeface="+mn-ea"/>
                  <a:cs typeface="+mn-cs"/>
                </a:rPr>
                <a:t xml:space="preserve">      </a:t>
              </a:r>
            </a:p>
          </p:txBody>
        </p:sp>
        <p:sp>
          <p:nvSpPr>
            <p:cNvPr id="38" name="TextBox 38"/>
            <p:cNvSpPr txBox="1"/>
            <p:nvPr/>
          </p:nvSpPr>
          <p:spPr>
            <a:xfrm>
              <a:off x="3700848" y="1542098"/>
              <a:ext cx="1818503" cy="381381"/>
            </a:xfrm>
            <a:prstGeom prst="rect">
              <a:avLst/>
            </a:prstGeom>
            <a:noFill/>
            <a:ln>
              <a:noFill/>
            </a:ln>
          </p:spPr>
          <p:txBody>
            <a:bodyPr wrap="none" lIns="0" tIns="0" rIns="0" bIns="0" anchor="t" anchorCtr="0">
              <a:spAutoFit/>
            </a:bodyPr>
            <a:lstStyle/>
            <a:p>
              <a:pPr algn="ctr"/>
              <a:r>
                <a:rPr lang="zh-CN" sz="1950" b="1" dirty="0">
                  <a:solidFill>
                    <a:srgbClr val="721E0D"/>
                  </a:solidFill>
                  <a:latin typeface="+mn-lt"/>
                  <a:ea typeface="+mn-ea"/>
                  <a:cs typeface="+mn-cs"/>
                </a:rPr>
                <a:t xml:space="preserve">   8600</a:t>
              </a:r>
              <a:r>
                <a:rPr lang="zh-CN" sz="1050" b="1" dirty="0">
                  <a:solidFill>
                    <a:srgbClr val="721E0D"/>
                  </a:solidFill>
                  <a:latin typeface="+mn-lt"/>
                  <a:ea typeface="+mn-ea"/>
                  <a:cs typeface="+mn-cs"/>
                </a:rPr>
                <a:t>万元</a:t>
              </a:r>
              <a:r>
                <a:rPr lang="zh-CN" sz="1950" b="1" dirty="0">
                  <a:solidFill>
                    <a:srgbClr val="721E0D"/>
                  </a:solidFill>
                  <a:latin typeface="+mn-lt"/>
                  <a:ea typeface="+mn-ea"/>
                  <a:cs typeface="+mn-cs"/>
                </a:rPr>
                <a:t xml:space="preserve">   </a:t>
              </a:r>
            </a:p>
          </p:txBody>
        </p:sp>
        <p:sp>
          <p:nvSpPr>
            <p:cNvPr id="39" name="Ellipse 39"/>
            <p:cNvSpPr/>
            <p:nvPr/>
          </p:nvSpPr>
          <p:spPr>
            <a:xfrm>
              <a:off x="4267200" y="2057400"/>
              <a:ext cx="685800" cy="685800"/>
            </a:xfrm>
            <a:prstGeom prst="ellipse">
              <a:avLst/>
            </a:prstGeom>
            <a:noFill/>
            <a:ln w="114300">
              <a:solidFill>
                <a:srgbClr val="E6EAF2"/>
              </a:solidFill>
            </a:ln>
          </p:spPr>
        </p:sp>
        <p:sp>
          <p:nvSpPr>
            <p:cNvPr id="40" name="Freeform 40"/>
            <p:cNvSpPr/>
            <p:nvPr/>
          </p:nvSpPr>
          <p:spPr>
            <a:xfrm>
              <a:off x="4210050" y="2000250"/>
              <a:ext cx="800100" cy="800100"/>
            </a:xfrm>
            <a:prstGeom prst="blockArc">
              <a:avLst>
                <a:gd name="adj1" fmla="val 16200000"/>
                <a:gd name="adj2" fmla="val 3758400"/>
                <a:gd name="adj3" fmla="val 15000"/>
              </a:avLst>
            </a:prstGeom>
            <a:solidFill>
              <a:srgbClr val="721E0D"/>
            </a:solidFill>
            <a:ln>
              <a:noFill/>
            </a:ln>
          </p:spPr>
        </p:sp>
        <p:sp>
          <p:nvSpPr>
            <p:cNvPr id="41" name="TextBox 41"/>
            <p:cNvSpPr txBox="1"/>
            <p:nvPr/>
          </p:nvSpPr>
          <p:spPr>
            <a:xfrm>
              <a:off x="4149846" y="2306479"/>
              <a:ext cx="920507" cy="308039"/>
            </a:xfrm>
            <a:prstGeom prst="rect">
              <a:avLst/>
            </a:prstGeom>
            <a:noFill/>
            <a:ln>
              <a:noFill/>
            </a:ln>
          </p:spPr>
          <p:txBody>
            <a:bodyPr wrap="none" lIns="0" tIns="0" rIns="0" bIns="0" anchor="t" anchorCtr="0">
              <a:spAutoFit/>
            </a:bodyPr>
            <a:lstStyle/>
            <a:p>
              <a:pPr algn="ctr"/>
              <a:r>
                <a:rPr lang="zh-CN" sz="1580" b="1" dirty="0">
                  <a:solidFill>
                    <a:srgbClr val="721E0D"/>
                  </a:solidFill>
                  <a:latin typeface="+mn-lt"/>
                  <a:ea typeface="+mn-ea"/>
                  <a:cs typeface="+mn-cs"/>
                </a:rPr>
                <a:t xml:space="preserve">  42%  </a:t>
              </a:r>
            </a:p>
          </p:txBody>
        </p:sp>
        <p:sp>
          <p:nvSpPr>
            <p:cNvPr id="42" name="Line 42"/>
            <p:cNvSpPr/>
            <p:nvPr/>
          </p:nvSpPr>
          <p:spPr>
            <a:xfrm>
              <a:off x="3333750" y="2933700"/>
              <a:ext cx="2552700" cy="9525"/>
            </a:xfrm>
            <a:custGeom>
              <a:avLst/>
              <a:gdLst/>
              <a:ahLst/>
              <a:cxnLst/>
              <a:rect l="l" t="t" r="r" b="b"/>
              <a:pathLst>
                <a:path w="2552700" h="9525">
                  <a:moveTo>
                    <a:pt x="0" y="0"/>
                  </a:moveTo>
                  <a:lnTo>
                    <a:pt x="2552700" y="0"/>
                  </a:lnTo>
                </a:path>
              </a:pathLst>
            </a:custGeom>
            <a:noFill/>
            <a:ln w="9525">
              <a:solidFill>
                <a:srgbClr val="E6EAF2"/>
              </a:solidFill>
              <a:custDash>
                <a:ds d="400000" sp="300000"/>
              </a:custDash>
            </a:ln>
          </p:spPr>
        </p:sp>
        <p:sp>
          <p:nvSpPr>
            <p:cNvPr id="43" name="Rectangle 43"/>
            <p:cNvSpPr/>
            <p:nvPr/>
          </p:nvSpPr>
          <p:spPr>
            <a:xfrm>
              <a:off x="3333750" y="3028950"/>
              <a:ext cx="76200" cy="76200"/>
            </a:xfrm>
            <a:prstGeom prst="rect">
              <a:avLst/>
            </a:prstGeom>
            <a:solidFill>
              <a:srgbClr val="721E0D"/>
            </a:solidFill>
            <a:ln>
              <a:noFill/>
            </a:ln>
          </p:spPr>
        </p:sp>
        <p:sp>
          <p:nvSpPr>
            <p:cNvPr id="44" name="TextBox 44"/>
            <p:cNvSpPr txBox="1"/>
            <p:nvPr/>
          </p:nvSpPr>
          <p:spPr>
            <a:xfrm>
              <a:off x="3462338" y="3007995"/>
              <a:ext cx="251841" cy="176212"/>
            </a:xfrm>
            <a:prstGeom prst="rect">
              <a:avLst/>
            </a:prstGeom>
            <a:noFill/>
            <a:ln>
              <a:noFill/>
            </a:ln>
          </p:spPr>
          <p:txBody>
            <a:bodyPr wrap="none" lIns="0" tIns="0" rIns="0" bIns="0" anchor="t" anchorCtr="0">
              <a:spAutoFit/>
            </a:bodyPr>
            <a:lstStyle/>
            <a:p>
              <a:pPr algn="l"/>
              <a:r>
                <a:rPr lang="zh-CN" sz="900" b="1" dirty="0">
                  <a:solidFill>
                    <a:srgbClr val="721E0D"/>
                  </a:solidFill>
                  <a:latin typeface="+mn-lt"/>
                  <a:ea typeface="+mn-ea"/>
                  <a:cs typeface="+mn-cs"/>
                </a:rPr>
                <a:t>定义</a:t>
              </a:r>
            </a:p>
          </p:txBody>
        </p:sp>
        <p:sp>
          <p:nvSpPr>
            <p:cNvPr id="45" name="TextBox 45"/>
            <p:cNvSpPr txBox="1"/>
            <p:nvPr/>
          </p:nvSpPr>
          <p:spPr>
            <a:xfrm>
              <a:off x="3328988" y="3210639"/>
              <a:ext cx="131381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523E3A"/>
                  </a:solidFill>
                  <a:latin typeface="+mn-lt"/>
                  <a:ea typeface="+mn-ea"/>
                  <a:cs typeface="+mn-cs"/>
                </a:rPr>
                <a:t>因决策流程、审批节奏、采购</a:t>
              </a:r>
              <a:br/>
              <a:r>
                <a:rPr lang="zh-CN" sz="790" dirty="0">
                  <a:solidFill>
                    <a:srgbClr val="523E3A"/>
                  </a:solidFill>
                  <a:latin typeface="+mn-lt"/>
                  <a:ea typeface="+mn-ea"/>
                  <a:cs typeface="+mn-cs"/>
                </a:rPr>
                <a:t>计划等原因，确认将延期至下</a:t>
              </a:r>
              <a:br/>
              <a:r>
                <a:rPr lang="zh-CN" sz="790" dirty="0">
                  <a:solidFill>
                    <a:srgbClr val="523E3A"/>
                  </a:solidFill>
                  <a:latin typeface="+mn-lt"/>
                  <a:ea typeface="+mn-ea"/>
                  <a:cs typeface="+mn-cs"/>
                </a:rPr>
                <a:t>半年落地的差额。</a:t>
              </a:r>
            </a:p>
          </p:txBody>
        </p:sp>
        <p:sp>
          <p:nvSpPr>
            <p:cNvPr id="46" name="Rectangle 46"/>
            <p:cNvSpPr/>
            <p:nvPr/>
          </p:nvSpPr>
          <p:spPr>
            <a:xfrm>
              <a:off x="3333750" y="3848100"/>
              <a:ext cx="2552700" cy="533400"/>
            </a:xfrm>
            <a:prstGeom prst="roundRect">
              <a:avLst>
                <a:gd name="adj" fmla="val 14286"/>
              </a:avLst>
            </a:prstGeom>
            <a:solidFill>
              <a:srgbClr val="EAF1FB"/>
            </a:solidFill>
            <a:ln>
              <a:noFill/>
            </a:ln>
          </p:spPr>
        </p:sp>
        <p:sp>
          <p:nvSpPr>
            <p:cNvPr id="47" name="Ellipse 47"/>
            <p:cNvSpPr/>
            <p:nvPr/>
          </p:nvSpPr>
          <p:spPr>
            <a:xfrm>
              <a:off x="3419475" y="3990975"/>
              <a:ext cx="247650" cy="247650"/>
            </a:xfrm>
            <a:prstGeom prst="ellipse">
              <a:avLst/>
            </a:prstGeom>
            <a:solidFill>
              <a:srgbClr val="721E0D"/>
            </a:solidFill>
            <a:ln>
              <a:noFill/>
            </a:ln>
          </p:spPr>
        </p:sp>
        <p:sp>
          <p:nvSpPr>
            <p:cNvPr id="48" name="Freeform 48"/>
            <p:cNvSpPr/>
            <p:nvPr/>
          </p:nvSpPr>
          <p:spPr>
            <a:xfrm>
              <a:off x="3511550" y="4064000"/>
              <a:ext cx="82550" cy="101600"/>
            </a:xfrm>
            <a:custGeom>
              <a:avLst/>
              <a:gdLst/>
              <a:ahLst/>
              <a:cxnLst/>
              <a:rect l="l" t="t" r="r" b="b"/>
              <a:pathLst>
                <a:path w="82550" h="101600">
                  <a:moveTo>
                    <a:pt x="0" y="0"/>
                  </a:moveTo>
                  <a:lnTo>
                    <a:pt x="0" y="101600"/>
                  </a:lnTo>
                  <a:lnTo>
                    <a:pt x="82550" y="50800"/>
                  </a:lnTo>
                  <a:lnTo>
                    <a:pt x="0" y="0"/>
                  </a:lnTo>
                </a:path>
              </a:pathLst>
            </a:custGeom>
            <a:noFill/>
            <a:ln w="12700">
              <a:solidFill>
                <a:srgbClr val="FFFFFF"/>
              </a:solidFill>
            </a:ln>
          </p:spPr>
        </p:sp>
        <p:sp>
          <p:nvSpPr>
            <p:cNvPr id="49" name="TextBox 49"/>
            <p:cNvSpPr txBox="1"/>
            <p:nvPr/>
          </p:nvSpPr>
          <p:spPr>
            <a:xfrm>
              <a:off x="3729038" y="3941445"/>
              <a:ext cx="857631" cy="176212"/>
            </a:xfrm>
            <a:prstGeom prst="rect">
              <a:avLst/>
            </a:prstGeom>
            <a:noFill/>
            <a:ln>
              <a:noFill/>
            </a:ln>
          </p:spPr>
          <p:txBody>
            <a:bodyPr wrap="none" lIns="0" tIns="0" rIns="0" bIns="0" anchor="t" anchorCtr="0">
              <a:spAutoFit/>
            </a:bodyPr>
            <a:lstStyle/>
            <a:p>
              <a:pPr algn="l"/>
              <a:r>
                <a:rPr lang="zh-CN" sz="900" b="1" dirty="0">
                  <a:solidFill>
                    <a:srgbClr val="721E0D"/>
                  </a:solidFill>
                  <a:latin typeface="+mn-lt"/>
                  <a:ea typeface="+mn-ea"/>
                  <a:cs typeface="+mn-cs"/>
                </a:rPr>
                <a:t>策略：加速延期</a:t>
              </a:r>
            </a:p>
          </p:txBody>
        </p:sp>
        <p:sp>
          <p:nvSpPr>
            <p:cNvPr id="50" name="TextBox 50"/>
            <p:cNvSpPr txBox="1"/>
            <p:nvPr/>
          </p:nvSpPr>
          <p:spPr>
            <a:xfrm>
              <a:off x="3729038" y="4114086"/>
              <a:ext cx="127190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523E3A"/>
                  </a:solidFill>
                  <a:latin typeface="+mn-lt"/>
                  <a:ea typeface="+mn-ea"/>
                  <a:cs typeface="+mn-cs"/>
                </a:rPr>
                <a:t>紧盯关键节点，推动审批与资源</a:t>
              </a:r>
              <a:br/>
              <a:r>
                <a:rPr lang="zh-CN" sz="710" dirty="0">
                  <a:solidFill>
                    <a:srgbClr val="523E3A"/>
                  </a:solidFill>
                  <a:latin typeface="+mn-lt"/>
                  <a:ea typeface="+mn-ea"/>
                  <a:cs typeface="+mn-cs"/>
                </a:rPr>
                <a:t>到位，确保按期转化落地。</a:t>
              </a:r>
            </a:p>
          </p:txBody>
        </p:sp>
      </p:grpSp>
      <p:grpSp>
        <p:nvGrpSpPr>
          <p:cNvPr id="76" name="class-card-recoverable"/>
          <p:cNvGrpSpPr/>
          <p:nvPr/>
        </p:nvGrpSpPr>
        <p:grpSpPr>
          <a:xfrm>
            <a:off x="6172200" y="952500"/>
            <a:ext cx="2819400" cy="3524250"/>
            <a:chOff x="6172200" y="952500"/>
            <a:chExt cx="2819400" cy="3524250"/>
          </a:xfrm>
        </p:grpSpPr>
        <p:sp>
          <p:nvSpPr>
            <p:cNvPr id="52" name="Rectangle 52"/>
            <p:cNvSpPr/>
            <p:nvPr/>
          </p:nvSpPr>
          <p:spPr>
            <a:xfrm>
              <a:off x="6172200" y="952500"/>
              <a:ext cx="2819400" cy="3524250"/>
            </a:xfrm>
            <a:prstGeom prst="roundRect">
              <a:avLst>
                <a:gd name="adj" fmla="val 4054"/>
              </a:avLst>
            </a:prstGeom>
            <a:solidFill>
              <a:srgbClr val="FFFFFF"/>
            </a:solidFill>
            <a:ln w="14288">
              <a:solidFill>
                <a:srgbClr val="B8351A"/>
              </a:solidFill>
            </a:ln>
          </p:spPr>
        </p:sp>
        <p:sp>
          <p:nvSpPr>
            <p:cNvPr id="53" name="Freeform 53"/>
            <p:cNvSpPr/>
            <p:nvPr/>
          </p:nvSpPr>
          <p:spPr>
            <a:xfrm>
              <a:off x="6172200" y="952500"/>
              <a:ext cx="2819400" cy="438150"/>
            </a:xfrm>
            <a:custGeom>
              <a:avLst/>
              <a:gdLst/>
              <a:ahLst/>
              <a:cxnLst/>
              <a:rect l="l" t="t" r="r" b="b"/>
              <a:pathLst>
                <a:path w="2819400" h="438150">
                  <a:moveTo>
                    <a:pt x="114300" y="0"/>
                  </a:moveTo>
                  <a:lnTo>
                    <a:pt x="2705100" y="0"/>
                  </a:lnTo>
                  <a:cubicBezTo>
                    <a:pt x="2768226" y="0"/>
                    <a:pt x="2819400" y="51174"/>
                    <a:pt x="2819400" y="114300"/>
                  </a:cubicBezTo>
                  <a:lnTo>
                    <a:pt x="2819400" y="438150"/>
                  </a:lnTo>
                  <a:lnTo>
                    <a:pt x="0" y="438150"/>
                  </a:lnTo>
                  <a:lnTo>
                    <a:pt x="0" y="114300"/>
                  </a:lnTo>
                  <a:cubicBezTo>
                    <a:pt x="0" y="51174"/>
                    <a:pt x="51174" y="0"/>
                    <a:pt x="114300" y="0"/>
                  </a:cubicBezTo>
                  <a:close/>
                </a:path>
              </a:pathLst>
            </a:custGeom>
            <a:solidFill>
              <a:srgbClr val="EAF1FB"/>
            </a:solidFill>
            <a:ln>
              <a:noFill/>
            </a:ln>
          </p:spPr>
        </p:sp>
        <p:sp>
          <p:nvSpPr>
            <p:cNvPr id="54" name="Ellipse 54"/>
            <p:cNvSpPr/>
            <p:nvPr/>
          </p:nvSpPr>
          <p:spPr>
            <a:xfrm>
              <a:off x="6305550" y="1038225"/>
              <a:ext cx="266700" cy="266700"/>
            </a:xfrm>
            <a:prstGeom prst="ellipse">
              <a:avLst/>
            </a:prstGeom>
            <a:solidFill>
              <a:srgbClr val="B8351A"/>
            </a:solidFill>
            <a:ln>
              <a:noFill/>
            </a:ln>
          </p:spPr>
        </p:sp>
        <p:grpSp>
          <p:nvGrpSpPr>
            <p:cNvPr id="59" name="Group 59"/>
            <p:cNvGrpSpPr/>
            <p:nvPr/>
          </p:nvGrpSpPr>
          <p:grpSpPr>
            <a:xfrm>
              <a:off x="6374606" y="1114425"/>
              <a:ext cx="128587" cy="123825"/>
              <a:chOff x="6374606" y="1114425"/>
              <a:chExt cx="128587" cy="123825"/>
            </a:xfrm>
          </p:grpSpPr>
          <p:sp>
            <p:nvSpPr>
              <p:cNvPr id="55" name="Freeform 55"/>
              <p:cNvSpPr/>
              <p:nvPr/>
            </p:nvSpPr>
            <p:spPr>
              <a:xfrm>
                <a:off x="6374606" y="117157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FFFFFF"/>
                </a:solidFill>
              </a:ln>
            </p:spPr>
          </p:sp>
          <p:sp>
            <p:nvSpPr>
              <p:cNvPr id="56" name="Freeform 56"/>
              <p:cNvSpPr/>
              <p:nvPr/>
            </p:nvSpPr>
            <p:spPr>
              <a:xfrm>
                <a:off x="6460331" y="114300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FFFFFF"/>
                </a:solidFill>
              </a:ln>
            </p:spPr>
          </p:sp>
          <p:sp>
            <p:nvSpPr>
              <p:cNvPr id="57" name="Freeform 57"/>
              <p:cNvSpPr/>
              <p:nvPr/>
            </p:nvSpPr>
            <p:spPr>
              <a:xfrm>
                <a:off x="6417469" y="111442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FFFFFF"/>
                </a:solidFill>
              </a:ln>
            </p:spPr>
          </p:sp>
          <p:sp>
            <p:nvSpPr>
              <p:cNvPr id="58" name="Freeform 58"/>
              <p:cNvSpPr/>
              <p:nvPr/>
            </p:nvSpPr>
            <p:spPr>
              <a:xfrm>
                <a:off x="6381750" y="1228725"/>
                <a:ext cx="100012" cy="9525"/>
              </a:xfrm>
              <a:custGeom>
                <a:avLst/>
                <a:gdLst/>
                <a:ahLst/>
                <a:cxnLst/>
                <a:rect l="l" t="t" r="r" b="b"/>
                <a:pathLst>
                  <a:path w="100012" h="9525">
                    <a:moveTo>
                      <a:pt x="0" y="0"/>
                    </a:moveTo>
                    <a:lnTo>
                      <a:pt x="100012" y="0"/>
                    </a:lnTo>
                  </a:path>
                </a:pathLst>
              </a:custGeom>
              <a:noFill/>
              <a:ln w="14288">
                <a:solidFill>
                  <a:srgbClr val="FFFFFF"/>
                </a:solidFill>
              </a:ln>
            </p:spPr>
          </p:sp>
        </p:grpSp>
        <p:sp>
          <p:nvSpPr>
            <p:cNvPr id="60" name="TextBox 60"/>
            <p:cNvSpPr txBox="1"/>
            <p:nvPr/>
          </p:nvSpPr>
          <p:spPr>
            <a:xfrm>
              <a:off x="6642354" y="1099185"/>
              <a:ext cx="1769791" cy="234696"/>
            </a:xfrm>
            <a:prstGeom prst="rect">
              <a:avLst/>
            </a:prstGeom>
            <a:noFill/>
            <a:ln>
              <a:noFill/>
            </a:ln>
          </p:spPr>
          <p:txBody>
            <a:bodyPr wrap="none" lIns="0" tIns="0" rIns="0" bIns="0" anchor="t" anchorCtr="0">
              <a:spAutoFit/>
            </a:bodyPr>
            <a:lstStyle/>
            <a:p>
              <a:pPr algn="l"/>
              <a:r>
                <a:rPr lang="zh-CN" sz="1200" b="1" dirty="0">
                  <a:solidFill>
                    <a:srgbClr val="B8351A"/>
                  </a:solidFill>
                  <a:latin typeface="+mn-lt"/>
                  <a:ea typeface="+mn-ea"/>
                  <a:cs typeface="+mn-cs"/>
                </a:rPr>
                <a:t xml:space="preserve">可追回 </a:t>
              </a:r>
              <a:r>
                <a:rPr lang="zh-CN" sz="820" dirty="0">
                  <a:solidFill>
                    <a:srgbClr val="B8351A"/>
                  </a:solidFill>
                  <a:latin typeface="+mn-lt"/>
                  <a:ea typeface="+mn-ea"/>
                  <a:cs typeface="+mn-cs"/>
                </a:rPr>
                <a:t>（存量挖潜）</a:t>
              </a:r>
              <a:r>
                <a:rPr lang="zh-CN" sz="1200" b="1" dirty="0">
                  <a:solidFill>
                    <a:srgbClr val="B8351A"/>
                  </a:solidFill>
                  <a:latin typeface="+mn-lt"/>
                  <a:ea typeface="+mn-ea"/>
                  <a:cs typeface="+mn-cs"/>
                </a:rPr>
                <a:t xml:space="preserve">      </a:t>
              </a:r>
            </a:p>
          </p:txBody>
        </p:sp>
        <p:sp>
          <p:nvSpPr>
            <p:cNvPr id="61" name="TextBox 61"/>
            <p:cNvSpPr txBox="1"/>
            <p:nvPr/>
          </p:nvSpPr>
          <p:spPr>
            <a:xfrm>
              <a:off x="6672648" y="1542098"/>
              <a:ext cx="1818503" cy="381381"/>
            </a:xfrm>
            <a:prstGeom prst="rect">
              <a:avLst/>
            </a:prstGeom>
            <a:noFill/>
            <a:ln>
              <a:noFill/>
            </a:ln>
          </p:spPr>
          <p:txBody>
            <a:bodyPr wrap="none" lIns="0" tIns="0" rIns="0" bIns="0" anchor="t" anchorCtr="0">
              <a:spAutoFit/>
            </a:bodyPr>
            <a:lstStyle/>
            <a:p>
              <a:pPr algn="ctr"/>
              <a:r>
                <a:rPr lang="zh-CN" sz="1950" b="1" dirty="0">
                  <a:solidFill>
                    <a:srgbClr val="B8351A"/>
                  </a:solidFill>
                  <a:latin typeface="+mn-lt"/>
                  <a:ea typeface="+mn-ea"/>
                  <a:cs typeface="+mn-cs"/>
                </a:rPr>
                <a:t xml:space="preserve">   2100</a:t>
              </a:r>
              <a:r>
                <a:rPr lang="zh-CN" sz="1050" b="1" dirty="0">
                  <a:solidFill>
                    <a:srgbClr val="B8351A"/>
                  </a:solidFill>
                  <a:latin typeface="+mn-lt"/>
                  <a:ea typeface="+mn-ea"/>
                  <a:cs typeface="+mn-cs"/>
                </a:rPr>
                <a:t>万元</a:t>
              </a:r>
              <a:r>
                <a:rPr lang="zh-CN" sz="1950" b="1" dirty="0">
                  <a:solidFill>
                    <a:srgbClr val="B8351A"/>
                  </a:solidFill>
                  <a:latin typeface="+mn-lt"/>
                  <a:ea typeface="+mn-ea"/>
                  <a:cs typeface="+mn-cs"/>
                </a:rPr>
                <a:t xml:space="preserve">   </a:t>
              </a:r>
            </a:p>
          </p:txBody>
        </p:sp>
        <p:sp>
          <p:nvSpPr>
            <p:cNvPr id="62" name="Ellipse 62"/>
            <p:cNvSpPr/>
            <p:nvPr/>
          </p:nvSpPr>
          <p:spPr>
            <a:xfrm>
              <a:off x="7239000" y="2057400"/>
              <a:ext cx="685800" cy="685800"/>
            </a:xfrm>
            <a:prstGeom prst="ellipse">
              <a:avLst/>
            </a:prstGeom>
            <a:noFill/>
            <a:ln w="114300">
              <a:solidFill>
                <a:srgbClr val="E6EAF2"/>
              </a:solidFill>
            </a:ln>
          </p:spPr>
        </p:sp>
        <p:sp>
          <p:nvSpPr>
            <p:cNvPr id="63" name="Freeform 63"/>
            <p:cNvSpPr/>
            <p:nvPr/>
          </p:nvSpPr>
          <p:spPr>
            <a:xfrm>
              <a:off x="7181850" y="2000250"/>
              <a:ext cx="800100" cy="800100"/>
            </a:xfrm>
            <a:prstGeom prst="blockArc">
              <a:avLst>
                <a:gd name="adj1" fmla="val 16200000"/>
                <a:gd name="adj2" fmla="val 18360000"/>
                <a:gd name="adj3" fmla="val 15000"/>
              </a:avLst>
            </a:prstGeom>
            <a:solidFill>
              <a:srgbClr val="B8351A"/>
            </a:solidFill>
            <a:ln>
              <a:noFill/>
            </a:ln>
          </p:spPr>
        </p:sp>
        <p:sp>
          <p:nvSpPr>
            <p:cNvPr id="64" name="TextBox 64"/>
            <p:cNvSpPr txBox="1"/>
            <p:nvPr/>
          </p:nvSpPr>
          <p:spPr>
            <a:xfrm>
              <a:off x="7121646" y="2306479"/>
              <a:ext cx="920507" cy="308039"/>
            </a:xfrm>
            <a:prstGeom prst="rect">
              <a:avLst/>
            </a:prstGeom>
            <a:noFill/>
            <a:ln>
              <a:noFill/>
            </a:ln>
          </p:spPr>
          <p:txBody>
            <a:bodyPr wrap="none" lIns="0" tIns="0" rIns="0" bIns="0" anchor="t" anchorCtr="0">
              <a:spAutoFit/>
            </a:bodyPr>
            <a:lstStyle/>
            <a:p>
              <a:pPr algn="ctr"/>
              <a:r>
                <a:rPr lang="zh-CN" sz="1580" b="1" dirty="0">
                  <a:solidFill>
                    <a:srgbClr val="B8351A"/>
                  </a:solidFill>
                  <a:latin typeface="+mn-lt"/>
                  <a:ea typeface="+mn-ea"/>
                  <a:cs typeface="+mn-cs"/>
                </a:rPr>
                <a:t xml:space="preserve">  10%  </a:t>
              </a:r>
            </a:p>
          </p:txBody>
        </p:sp>
        <p:sp>
          <p:nvSpPr>
            <p:cNvPr id="65" name="Line 65"/>
            <p:cNvSpPr/>
            <p:nvPr/>
          </p:nvSpPr>
          <p:spPr>
            <a:xfrm>
              <a:off x="6305550" y="2933700"/>
              <a:ext cx="2552700" cy="9525"/>
            </a:xfrm>
            <a:custGeom>
              <a:avLst/>
              <a:gdLst/>
              <a:ahLst/>
              <a:cxnLst/>
              <a:rect l="l" t="t" r="r" b="b"/>
              <a:pathLst>
                <a:path w="2552700" h="9525">
                  <a:moveTo>
                    <a:pt x="0" y="0"/>
                  </a:moveTo>
                  <a:lnTo>
                    <a:pt x="2552700" y="0"/>
                  </a:lnTo>
                </a:path>
              </a:pathLst>
            </a:custGeom>
            <a:noFill/>
            <a:ln w="9525">
              <a:solidFill>
                <a:srgbClr val="E6EAF2"/>
              </a:solidFill>
              <a:custDash>
                <a:ds d="400000" sp="300000"/>
              </a:custDash>
            </a:ln>
          </p:spPr>
        </p:sp>
        <p:sp>
          <p:nvSpPr>
            <p:cNvPr id="66" name="Rectangle 66"/>
            <p:cNvSpPr/>
            <p:nvPr/>
          </p:nvSpPr>
          <p:spPr>
            <a:xfrm>
              <a:off x="6305550" y="3028950"/>
              <a:ext cx="76200" cy="76200"/>
            </a:xfrm>
            <a:prstGeom prst="rect">
              <a:avLst/>
            </a:prstGeom>
            <a:solidFill>
              <a:srgbClr val="B8351A"/>
            </a:solidFill>
            <a:ln>
              <a:noFill/>
            </a:ln>
          </p:spPr>
        </p:sp>
        <p:sp>
          <p:nvSpPr>
            <p:cNvPr id="67" name="TextBox 67"/>
            <p:cNvSpPr txBox="1"/>
            <p:nvPr/>
          </p:nvSpPr>
          <p:spPr>
            <a:xfrm>
              <a:off x="6434138" y="3007995"/>
              <a:ext cx="251841" cy="176212"/>
            </a:xfrm>
            <a:prstGeom prst="rect">
              <a:avLst/>
            </a:prstGeom>
            <a:noFill/>
            <a:ln>
              <a:noFill/>
            </a:ln>
          </p:spPr>
          <p:txBody>
            <a:bodyPr wrap="none" lIns="0" tIns="0" rIns="0" bIns="0" anchor="t" anchorCtr="0">
              <a:spAutoFit/>
            </a:bodyPr>
            <a:lstStyle/>
            <a:p>
              <a:pPr algn="l"/>
              <a:r>
                <a:rPr lang="zh-CN" sz="900" b="1" dirty="0">
                  <a:solidFill>
                    <a:srgbClr val="B8351A"/>
                  </a:solidFill>
                  <a:latin typeface="+mn-lt"/>
                  <a:ea typeface="+mn-ea"/>
                  <a:cs typeface="+mn-cs"/>
                </a:rPr>
                <a:t>定义</a:t>
              </a:r>
            </a:p>
          </p:txBody>
        </p:sp>
        <p:sp>
          <p:nvSpPr>
            <p:cNvPr id="68" name="TextBox 68"/>
            <p:cNvSpPr txBox="1"/>
            <p:nvPr/>
          </p:nvSpPr>
          <p:spPr>
            <a:xfrm>
              <a:off x="6300788" y="3210639"/>
              <a:ext cx="131381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523E3A"/>
                  </a:solidFill>
                  <a:latin typeface="+mn-lt"/>
                  <a:ea typeface="+mn-ea"/>
                  <a:cs typeface="+mn-cs"/>
                </a:rPr>
                <a:t>客户仍有需求或预算未释放，</a:t>
              </a:r>
              <a:br/>
              <a:r>
                <a:rPr lang="zh-CN" sz="790" dirty="0">
                  <a:solidFill>
                    <a:srgbClr val="523E3A"/>
                  </a:solidFill>
                  <a:latin typeface="+mn-lt"/>
                  <a:ea typeface="+mn-ea"/>
                  <a:cs typeface="+mn-cs"/>
                </a:rPr>
                <a:t>通过方案优化、增购扩容等方</a:t>
              </a:r>
              <a:br/>
              <a:r>
                <a:rPr lang="zh-CN" sz="790" dirty="0">
                  <a:solidFill>
                    <a:srgbClr val="523E3A"/>
                  </a:solidFill>
                  <a:latin typeface="+mn-lt"/>
                  <a:ea typeface="+mn-ea"/>
                  <a:cs typeface="+mn-cs"/>
                </a:rPr>
                <a:t>式可挖掘并转化的差额。</a:t>
              </a:r>
            </a:p>
          </p:txBody>
        </p:sp>
        <p:sp>
          <p:nvSpPr>
            <p:cNvPr id="69" name="Rectangle 69"/>
            <p:cNvSpPr/>
            <p:nvPr/>
          </p:nvSpPr>
          <p:spPr>
            <a:xfrm>
              <a:off x="6305550" y="3848100"/>
              <a:ext cx="2552700" cy="533400"/>
            </a:xfrm>
            <a:prstGeom prst="roundRect">
              <a:avLst>
                <a:gd name="adj" fmla="val 14286"/>
              </a:avLst>
            </a:prstGeom>
            <a:solidFill>
              <a:srgbClr val="EAF1FB"/>
            </a:solidFill>
            <a:ln>
              <a:noFill/>
            </a:ln>
          </p:spPr>
        </p:sp>
        <p:sp>
          <p:nvSpPr>
            <p:cNvPr id="70" name="Ellipse 70"/>
            <p:cNvSpPr/>
            <p:nvPr/>
          </p:nvSpPr>
          <p:spPr>
            <a:xfrm>
              <a:off x="6391275" y="3990975"/>
              <a:ext cx="247650" cy="247650"/>
            </a:xfrm>
            <a:prstGeom prst="ellipse">
              <a:avLst/>
            </a:prstGeom>
            <a:solidFill>
              <a:srgbClr val="B8351A"/>
            </a:solidFill>
            <a:ln>
              <a:noFill/>
            </a:ln>
          </p:spPr>
        </p:sp>
        <p:grpSp>
          <p:nvGrpSpPr>
            <p:cNvPr id="73" name="Group 73"/>
            <p:cNvGrpSpPr/>
            <p:nvPr/>
          </p:nvGrpSpPr>
          <p:grpSpPr>
            <a:xfrm>
              <a:off x="6457950" y="4057650"/>
              <a:ext cx="114300" cy="114300"/>
              <a:chOff x="6457950" y="4057650"/>
              <a:chExt cx="114300" cy="114300"/>
            </a:xfrm>
          </p:grpSpPr>
          <p:sp>
            <p:nvSpPr>
              <p:cNvPr id="71" name="Freeform 71"/>
              <p:cNvSpPr/>
              <p:nvPr/>
            </p:nvSpPr>
            <p:spPr>
              <a:xfrm>
                <a:off x="6457950" y="405765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FFFFFF"/>
                </a:solidFill>
              </a:ln>
            </p:spPr>
          </p:sp>
          <p:sp>
            <p:nvSpPr>
              <p:cNvPr id="72" name="Freeform 72"/>
              <p:cNvSpPr/>
              <p:nvPr/>
            </p:nvSpPr>
            <p:spPr>
              <a:xfrm>
                <a:off x="6534150" y="4133850"/>
                <a:ext cx="38100" cy="38100"/>
              </a:xfrm>
              <a:custGeom>
                <a:avLst/>
                <a:gdLst/>
                <a:ahLst/>
                <a:cxnLst/>
                <a:rect l="l" t="t" r="r" b="b"/>
                <a:pathLst>
                  <a:path w="38100" h="38100">
                    <a:moveTo>
                      <a:pt x="38100" y="38100"/>
                    </a:moveTo>
                    <a:lnTo>
                      <a:pt x="0" y="0"/>
                    </a:lnTo>
                  </a:path>
                </a:pathLst>
              </a:custGeom>
              <a:noFill/>
              <a:ln w="12700">
                <a:solidFill>
                  <a:srgbClr val="FFFFFF"/>
                </a:solidFill>
              </a:ln>
            </p:spPr>
          </p:sp>
        </p:grpSp>
        <p:sp>
          <p:nvSpPr>
            <p:cNvPr id="74" name="TextBox 74"/>
            <p:cNvSpPr txBox="1"/>
            <p:nvPr/>
          </p:nvSpPr>
          <p:spPr>
            <a:xfrm>
              <a:off x="6700838" y="3941445"/>
              <a:ext cx="857631" cy="176212"/>
            </a:xfrm>
            <a:prstGeom prst="rect">
              <a:avLst/>
            </a:prstGeom>
            <a:noFill/>
            <a:ln>
              <a:noFill/>
            </a:ln>
          </p:spPr>
          <p:txBody>
            <a:bodyPr wrap="none" lIns="0" tIns="0" rIns="0" bIns="0" anchor="t" anchorCtr="0">
              <a:spAutoFit/>
            </a:bodyPr>
            <a:lstStyle/>
            <a:p>
              <a:pPr algn="l"/>
              <a:r>
                <a:rPr lang="zh-CN" sz="900" b="1" dirty="0">
                  <a:solidFill>
                    <a:srgbClr val="B8351A"/>
                  </a:solidFill>
                  <a:latin typeface="+mn-lt"/>
                  <a:ea typeface="+mn-ea"/>
                  <a:cs typeface="+mn-cs"/>
                </a:rPr>
                <a:t>策略：主动经营</a:t>
              </a:r>
            </a:p>
          </p:txBody>
        </p:sp>
        <p:sp>
          <p:nvSpPr>
            <p:cNvPr id="75" name="TextBox 75"/>
            <p:cNvSpPr txBox="1"/>
            <p:nvPr/>
          </p:nvSpPr>
          <p:spPr>
            <a:xfrm>
              <a:off x="6700838" y="4114086"/>
              <a:ext cx="136207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523E3A"/>
                  </a:solidFill>
                  <a:latin typeface="+mn-lt"/>
                  <a:ea typeface="+mn-ea"/>
                  <a:cs typeface="+mn-cs"/>
                </a:rPr>
                <a:t>深耕存量客户，挖掘增购、续约、</a:t>
              </a:r>
              <a:br/>
              <a:r>
                <a:rPr lang="zh-CN" sz="710" dirty="0">
                  <a:solidFill>
                    <a:srgbClr val="523E3A"/>
                  </a:solidFill>
                  <a:latin typeface="+mn-lt"/>
                  <a:ea typeface="+mn-ea"/>
                  <a:cs typeface="+mn-cs"/>
                </a:rPr>
                <a:t>升级等机会，提升钱包份额。</a:t>
              </a:r>
            </a:p>
          </p:txBody>
        </p:sp>
      </p:grpSp>
      <p:grpSp>
        <p:nvGrpSpPr>
          <p:cNvPr id="99" name="class-card-force"/>
          <p:cNvGrpSpPr/>
          <p:nvPr/>
        </p:nvGrpSpPr>
        <p:grpSpPr>
          <a:xfrm>
            <a:off x="9144000" y="952500"/>
            <a:ext cx="2819400" cy="3524250"/>
            <a:chOff x="9144000" y="952500"/>
            <a:chExt cx="2819400" cy="3524250"/>
          </a:xfrm>
        </p:grpSpPr>
        <p:sp>
          <p:nvSpPr>
            <p:cNvPr id="77" name="Rectangle 77"/>
            <p:cNvSpPr/>
            <p:nvPr/>
          </p:nvSpPr>
          <p:spPr>
            <a:xfrm>
              <a:off x="9144000" y="952500"/>
              <a:ext cx="2819400" cy="3524250"/>
            </a:xfrm>
            <a:prstGeom prst="roundRect">
              <a:avLst>
                <a:gd name="adj" fmla="val 4054"/>
              </a:avLst>
            </a:prstGeom>
            <a:solidFill>
              <a:srgbClr val="FFFFFF"/>
            </a:solidFill>
            <a:ln w="14288">
              <a:solidFill>
                <a:srgbClr val="E82C0C"/>
              </a:solidFill>
            </a:ln>
          </p:spPr>
        </p:sp>
        <p:sp>
          <p:nvSpPr>
            <p:cNvPr id="78" name="Freeform 78"/>
            <p:cNvSpPr/>
            <p:nvPr/>
          </p:nvSpPr>
          <p:spPr>
            <a:xfrm>
              <a:off x="9144000" y="952500"/>
              <a:ext cx="2819400" cy="438150"/>
            </a:xfrm>
            <a:custGeom>
              <a:avLst/>
              <a:gdLst/>
              <a:ahLst/>
              <a:cxnLst/>
              <a:rect l="l" t="t" r="r" b="b"/>
              <a:pathLst>
                <a:path w="2819400" h="438150">
                  <a:moveTo>
                    <a:pt x="114300" y="0"/>
                  </a:moveTo>
                  <a:lnTo>
                    <a:pt x="2705100" y="0"/>
                  </a:lnTo>
                  <a:cubicBezTo>
                    <a:pt x="2768226" y="0"/>
                    <a:pt x="2819400" y="51174"/>
                    <a:pt x="2819400" y="114300"/>
                  </a:cubicBezTo>
                  <a:lnTo>
                    <a:pt x="2819400" y="438150"/>
                  </a:lnTo>
                  <a:lnTo>
                    <a:pt x="0" y="438150"/>
                  </a:lnTo>
                  <a:lnTo>
                    <a:pt x="0" y="114300"/>
                  </a:lnTo>
                  <a:cubicBezTo>
                    <a:pt x="0" y="51174"/>
                    <a:pt x="51174" y="0"/>
                    <a:pt x="114300" y="0"/>
                  </a:cubicBezTo>
                  <a:close/>
                </a:path>
              </a:pathLst>
            </a:custGeom>
            <a:solidFill>
              <a:srgbClr val="FDEEE6"/>
            </a:solidFill>
            <a:ln>
              <a:noFill/>
            </a:ln>
          </p:spPr>
        </p:sp>
        <p:sp>
          <p:nvSpPr>
            <p:cNvPr id="79" name="Ellipse 79"/>
            <p:cNvSpPr/>
            <p:nvPr/>
          </p:nvSpPr>
          <p:spPr>
            <a:xfrm>
              <a:off x="9277350" y="1038225"/>
              <a:ext cx="266700" cy="266700"/>
            </a:xfrm>
            <a:prstGeom prst="ellipse">
              <a:avLst/>
            </a:prstGeom>
            <a:solidFill>
              <a:srgbClr val="E82C0C"/>
            </a:solidFill>
            <a:ln>
              <a:noFill/>
            </a:ln>
          </p:spPr>
        </p:sp>
        <p:grpSp>
          <p:nvGrpSpPr>
            <p:cNvPr id="82" name="Group 82"/>
            <p:cNvGrpSpPr/>
            <p:nvPr/>
          </p:nvGrpSpPr>
          <p:grpSpPr>
            <a:xfrm>
              <a:off x="9336765" y="1107281"/>
              <a:ext cx="139505" cy="128588"/>
              <a:chOff x="9336765" y="1107281"/>
              <a:chExt cx="139505" cy="128588"/>
            </a:xfrm>
          </p:grpSpPr>
          <p:sp>
            <p:nvSpPr>
              <p:cNvPr id="80" name="Freeform 80"/>
              <p:cNvSpPr/>
              <p:nvPr/>
            </p:nvSpPr>
            <p:spPr>
              <a:xfrm>
                <a:off x="9336765" y="110728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FFFFFF"/>
                </a:solidFill>
              </a:ln>
            </p:spPr>
          </p:sp>
          <p:sp>
            <p:nvSpPr>
              <p:cNvPr id="81" name="Freeform 81"/>
              <p:cNvSpPr/>
              <p:nvPr/>
            </p:nvSpPr>
            <p:spPr>
              <a:xfrm>
                <a:off x="9432131" y="1207294"/>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83" name="TextBox 83"/>
            <p:cNvSpPr txBox="1"/>
            <p:nvPr/>
          </p:nvSpPr>
          <p:spPr>
            <a:xfrm>
              <a:off x="9614154" y="1099185"/>
              <a:ext cx="1931335" cy="234696"/>
            </a:xfrm>
            <a:prstGeom prst="rect">
              <a:avLst/>
            </a:prstGeom>
            <a:noFill/>
            <a:ln>
              <a:noFill/>
            </a:ln>
          </p:spPr>
          <p:txBody>
            <a:bodyPr wrap="none" lIns="0" tIns="0" rIns="0" bIns="0" anchor="t" anchorCtr="0">
              <a:spAutoFit/>
            </a:bodyPr>
            <a:lstStyle/>
            <a:p>
              <a:pPr algn="l"/>
              <a:r>
                <a:rPr lang="zh-CN" sz="1200" b="1" dirty="0">
                  <a:solidFill>
                    <a:srgbClr val="E82C0C"/>
                  </a:solidFill>
                  <a:latin typeface="+mn-lt"/>
                  <a:ea typeface="+mn-ea"/>
                  <a:cs typeface="+mn-cs"/>
                </a:rPr>
                <a:t xml:space="preserve">不可追回 </a:t>
              </a:r>
              <a:r>
                <a:rPr lang="zh-CN" sz="820" dirty="0">
                  <a:solidFill>
                    <a:srgbClr val="E82C0C"/>
                  </a:solidFill>
                  <a:latin typeface="+mn-lt"/>
                  <a:ea typeface="+mn-ea"/>
                  <a:cs typeface="+mn-cs"/>
                </a:rPr>
                <a:t>（不可抗力）</a:t>
              </a:r>
              <a:r>
                <a:rPr lang="zh-CN" sz="1200" b="1" dirty="0">
                  <a:solidFill>
                    <a:srgbClr val="E82C0C"/>
                  </a:solidFill>
                  <a:latin typeface="+mn-lt"/>
                  <a:ea typeface="+mn-ea"/>
                  <a:cs typeface="+mn-cs"/>
                </a:rPr>
                <a:t xml:space="preserve">      </a:t>
              </a:r>
            </a:p>
          </p:txBody>
        </p:sp>
        <p:sp>
          <p:nvSpPr>
            <p:cNvPr id="84" name="TextBox 84"/>
            <p:cNvSpPr txBox="1"/>
            <p:nvPr/>
          </p:nvSpPr>
          <p:spPr>
            <a:xfrm>
              <a:off x="9720248" y="1542098"/>
              <a:ext cx="1666905" cy="381381"/>
            </a:xfrm>
            <a:prstGeom prst="rect">
              <a:avLst/>
            </a:prstGeom>
            <a:noFill/>
            <a:ln>
              <a:noFill/>
            </a:ln>
          </p:spPr>
          <p:txBody>
            <a:bodyPr wrap="none" lIns="0" tIns="0" rIns="0" bIns="0" anchor="t" anchorCtr="0">
              <a:spAutoFit/>
            </a:bodyPr>
            <a:lstStyle/>
            <a:p>
              <a:pPr algn="ctr"/>
              <a:r>
                <a:rPr lang="zh-CN" sz="1950" b="1" dirty="0">
                  <a:solidFill>
                    <a:srgbClr val="E82C0C"/>
                  </a:solidFill>
                  <a:latin typeface="+mn-lt"/>
                  <a:ea typeface="+mn-ea"/>
                  <a:cs typeface="+mn-cs"/>
                </a:rPr>
                <a:t xml:space="preserve">   700</a:t>
              </a:r>
              <a:r>
                <a:rPr lang="zh-CN" sz="1050" b="1" dirty="0">
                  <a:solidFill>
                    <a:srgbClr val="E82C0C"/>
                  </a:solidFill>
                  <a:latin typeface="+mn-lt"/>
                  <a:ea typeface="+mn-ea"/>
                  <a:cs typeface="+mn-cs"/>
                </a:rPr>
                <a:t>万元</a:t>
              </a:r>
              <a:r>
                <a:rPr lang="zh-CN" sz="1950" b="1" dirty="0">
                  <a:solidFill>
                    <a:srgbClr val="E82C0C"/>
                  </a:solidFill>
                  <a:latin typeface="+mn-lt"/>
                  <a:ea typeface="+mn-ea"/>
                  <a:cs typeface="+mn-cs"/>
                </a:rPr>
                <a:t xml:space="preserve">   </a:t>
              </a:r>
            </a:p>
          </p:txBody>
        </p:sp>
        <p:sp>
          <p:nvSpPr>
            <p:cNvPr id="85" name="Ellipse 85"/>
            <p:cNvSpPr/>
            <p:nvPr/>
          </p:nvSpPr>
          <p:spPr>
            <a:xfrm>
              <a:off x="10210800" y="2057400"/>
              <a:ext cx="685800" cy="685800"/>
            </a:xfrm>
            <a:prstGeom prst="ellipse">
              <a:avLst/>
            </a:prstGeom>
            <a:noFill/>
            <a:ln w="114300">
              <a:solidFill>
                <a:srgbClr val="E6EAF2"/>
              </a:solidFill>
            </a:ln>
          </p:spPr>
        </p:sp>
        <p:sp>
          <p:nvSpPr>
            <p:cNvPr id="86" name="Freeform 86"/>
            <p:cNvSpPr/>
            <p:nvPr/>
          </p:nvSpPr>
          <p:spPr>
            <a:xfrm>
              <a:off x="10153650" y="2000250"/>
              <a:ext cx="800100" cy="800100"/>
            </a:xfrm>
            <a:prstGeom prst="blockArc">
              <a:avLst>
                <a:gd name="adj1" fmla="val 16200000"/>
                <a:gd name="adj2" fmla="val 17064000"/>
                <a:gd name="adj3" fmla="val 15000"/>
              </a:avLst>
            </a:prstGeom>
            <a:solidFill>
              <a:srgbClr val="E82C0C"/>
            </a:solidFill>
            <a:ln>
              <a:noFill/>
            </a:ln>
          </p:spPr>
        </p:sp>
        <p:sp>
          <p:nvSpPr>
            <p:cNvPr id="87" name="TextBox 87"/>
            <p:cNvSpPr txBox="1"/>
            <p:nvPr/>
          </p:nvSpPr>
          <p:spPr>
            <a:xfrm>
              <a:off x="10400532" y="2306479"/>
              <a:ext cx="306337" cy="308039"/>
            </a:xfrm>
            <a:prstGeom prst="rect">
              <a:avLst/>
            </a:prstGeom>
            <a:noFill/>
            <a:ln>
              <a:noFill/>
            </a:ln>
          </p:spPr>
          <p:txBody>
            <a:bodyPr wrap="none" lIns="0" tIns="0" rIns="0" bIns="0" anchor="t" anchorCtr="0">
              <a:spAutoFit/>
            </a:bodyPr>
            <a:lstStyle/>
            <a:p>
              <a:pPr algn="ctr"/>
              <a:r>
                <a:rPr lang="zh-CN" sz="1580" b="1" dirty="0">
                  <a:solidFill>
                    <a:srgbClr val="E82C0C"/>
                  </a:solidFill>
                  <a:latin typeface="+mn-lt"/>
                  <a:ea typeface="+mn-ea"/>
                  <a:cs typeface="+mn-cs"/>
                </a:rPr>
                <a:t>4%</a:t>
              </a:r>
            </a:p>
          </p:txBody>
        </p:sp>
        <p:sp>
          <p:nvSpPr>
            <p:cNvPr id="88" name="Line 88"/>
            <p:cNvSpPr/>
            <p:nvPr/>
          </p:nvSpPr>
          <p:spPr>
            <a:xfrm>
              <a:off x="9277350" y="2933700"/>
              <a:ext cx="2552700" cy="9525"/>
            </a:xfrm>
            <a:custGeom>
              <a:avLst/>
              <a:gdLst/>
              <a:ahLst/>
              <a:cxnLst/>
              <a:rect l="l" t="t" r="r" b="b"/>
              <a:pathLst>
                <a:path w="2552700" h="9525">
                  <a:moveTo>
                    <a:pt x="0" y="0"/>
                  </a:moveTo>
                  <a:lnTo>
                    <a:pt x="2552700" y="0"/>
                  </a:lnTo>
                </a:path>
              </a:pathLst>
            </a:custGeom>
            <a:noFill/>
            <a:ln w="9525">
              <a:solidFill>
                <a:srgbClr val="E6EAF2"/>
              </a:solidFill>
              <a:custDash>
                <a:ds d="400000" sp="300000"/>
              </a:custDash>
            </a:ln>
          </p:spPr>
        </p:sp>
        <p:sp>
          <p:nvSpPr>
            <p:cNvPr id="89" name="Rectangle 89"/>
            <p:cNvSpPr/>
            <p:nvPr/>
          </p:nvSpPr>
          <p:spPr>
            <a:xfrm>
              <a:off x="9277350" y="3028950"/>
              <a:ext cx="76200" cy="76200"/>
            </a:xfrm>
            <a:prstGeom prst="rect">
              <a:avLst/>
            </a:prstGeom>
            <a:solidFill>
              <a:srgbClr val="E82C0C"/>
            </a:solidFill>
            <a:ln>
              <a:noFill/>
            </a:ln>
          </p:spPr>
        </p:sp>
        <p:sp>
          <p:nvSpPr>
            <p:cNvPr id="90" name="TextBox 90"/>
            <p:cNvSpPr txBox="1"/>
            <p:nvPr/>
          </p:nvSpPr>
          <p:spPr>
            <a:xfrm>
              <a:off x="9405938" y="3007995"/>
              <a:ext cx="251841" cy="176212"/>
            </a:xfrm>
            <a:prstGeom prst="rect">
              <a:avLst/>
            </a:prstGeom>
            <a:noFill/>
            <a:ln>
              <a:noFill/>
            </a:ln>
          </p:spPr>
          <p:txBody>
            <a:bodyPr wrap="none" lIns="0" tIns="0" rIns="0" bIns="0" anchor="t" anchorCtr="0">
              <a:spAutoFit/>
            </a:bodyPr>
            <a:lstStyle/>
            <a:p>
              <a:pPr algn="l"/>
              <a:r>
                <a:rPr lang="zh-CN" sz="900" b="1" dirty="0">
                  <a:solidFill>
                    <a:srgbClr val="E82C0C"/>
                  </a:solidFill>
                  <a:latin typeface="+mn-lt"/>
                  <a:ea typeface="+mn-ea"/>
                  <a:cs typeface="+mn-cs"/>
                </a:rPr>
                <a:t>定义</a:t>
              </a:r>
            </a:p>
          </p:txBody>
        </p:sp>
        <p:sp>
          <p:nvSpPr>
            <p:cNvPr id="91" name="TextBox 91"/>
            <p:cNvSpPr txBox="1"/>
            <p:nvPr/>
          </p:nvSpPr>
          <p:spPr>
            <a:xfrm>
              <a:off x="9272588" y="3210639"/>
              <a:ext cx="1313815" cy="478631"/>
            </a:xfrm>
            <a:prstGeom prst="rect">
              <a:avLst/>
            </a:prstGeom>
            <a:noFill/>
            <a:ln>
              <a:noFill/>
            </a:ln>
          </p:spPr>
          <p:txBody>
            <a:bodyPr wrap="none" lIns="0" tIns="0" rIns="0" bIns="0" anchor="t" anchorCtr="0">
              <a:spAutoFit/>
            </a:bodyPr>
            <a:lstStyle/>
            <a:p>
              <a:pPr algn="l">
                <a:lnSpc>
                  <a:spcPts val="1275"/>
                </a:lnSpc>
              </a:pPr>
              <a:r>
                <a:rPr lang="zh-CN" sz="790" dirty="0">
                  <a:solidFill>
                    <a:srgbClr val="523E3A"/>
                  </a:solidFill>
                  <a:latin typeface="+mn-lt"/>
                  <a:ea typeface="+mn-ea"/>
                  <a:cs typeface="+mn-cs"/>
                </a:rPr>
                <a:t>因自然灾害、重大政策变动、</a:t>
              </a:r>
              <a:br/>
              <a:r>
                <a:rPr lang="zh-CN" sz="790" dirty="0">
                  <a:solidFill>
                    <a:srgbClr val="523E3A"/>
                  </a:solidFill>
                  <a:latin typeface="+mn-lt"/>
                  <a:ea typeface="+mn-ea"/>
                  <a:cs typeface="+mn-cs"/>
                </a:rPr>
                <a:t>宏观经济等不可抗力因素导致</a:t>
              </a:r>
              <a:br/>
              <a:r>
                <a:rPr lang="zh-CN" sz="790" dirty="0">
                  <a:solidFill>
                    <a:srgbClr val="523E3A"/>
                  </a:solidFill>
                  <a:latin typeface="+mn-lt"/>
                  <a:ea typeface="+mn-ea"/>
                  <a:cs typeface="+mn-cs"/>
                </a:rPr>
                <a:t>的差额，无法追回。</a:t>
              </a:r>
            </a:p>
          </p:txBody>
        </p:sp>
        <p:sp>
          <p:nvSpPr>
            <p:cNvPr id="92" name="Rectangle 92"/>
            <p:cNvSpPr/>
            <p:nvPr/>
          </p:nvSpPr>
          <p:spPr>
            <a:xfrm>
              <a:off x="9277350" y="3848100"/>
              <a:ext cx="2552700" cy="533400"/>
            </a:xfrm>
            <a:prstGeom prst="roundRect">
              <a:avLst>
                <a:gd name="adj" fmla="val 14286"/>
              </a:avLst>
            </a:prstGeom>
            <a:solidFill>
              <a:srgbClr val="FDEEE6"/>
            </a:solidFill>
            <a:ln>
              <a:noFill/>
            </a:ln>
          </p:spPr>
        </p:sp>
        <p:sp>
          <p:nvSpPr>
            <p:cNvPr id="93" name="Ellipse 93"/>
            <p:cNvSpPr/>
            <p:nvPr/>
          </p:nvSpPr>
          <p:spPr>
            <a:xfrm>
              <a:off x="9363075" y="3990975"/>
              <a:ext cx="247650" cy="247650"/>
            </a:xfrm>
            <a:prstGeom prst="ellipse">
              <a:avLst/>
            </a:prstGeom>
            <a:solidFill>
              <a:srgbClr val="E82C0C"/>
            </a:solidFill>
            <a:ln>
              <a:noFill/>
            </a:ln>
          </p:spPr>
        </p:sp>
        <p:grpSp>
          <p:nvGrpSpPr>
            <p:cNvPr id="96" name="Group 96"/>
            <p:cNvGrpSpPr/>
            <p:nvPr/>
          </p:nvGrpSpPr>
          <p:grpSpPr>
            <a:xfrm>
              <a:off x="9421180" y="4057650"/>
              <a:ext cx="124004" cy="114300"/>
              <a:chOff x="9421180" y="4057650"/>
              <a:chExt cx="124004" cy="114300"/>
            </a:xfrm>
          </p:grpSpPr>
          <p:sp>
            <p:nvSpPr>
              <p:cNvPr id="94" name="Freeform 94"/>
              <p:cNvSpPr/>
              <p:nvPr/>
            </p:nvSpPr>
            <p:spPr>
              <a:xfrm>
                <a:off x="9421180" y="40576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FFFFFF"/>
                </a:solidFill>
              </a:ln>
            </p:spPr>
          </p:sp>
          <p:sp>
            <p:nvSpPr>
              <p:cNvPr id="95" name="Freeform 95"/>
              <p:cNvSpPr/>
              <p:nvPr/>
            </p:nvSpPr>
            <p:spPr>
              <a:xfrm>
                <a:off x="9505950" y="4146550"/>
                <a:ext cx="38100" cy="25400"/>
              </a:xfrm>
              <a:custGeom>
                <a:avLst/>
                <a:gdLst/>
                <a:ahLst/>
                <a:cxnLst/>
                <a:rect l="l" t="t" r="r" b="b"/>
                <a:pathLst>
                  <a:path w="38100" h="25400">
                    <a:moveTo>
                      <a:pt x="0" y="12700"/>
                    </a:moveTo>
                    <a:lnTo>
                      <a:pt x="12700" y="25400"/>
                    </a:lnTo>
                    <a:lnTo>
                      <a:pt x="38100" y="0"/>
                    </a:lnTo>
                  </a:path>
                </a:pathLst>
              </a:custGeom>
              <a:noFill/>
              <a:ln w="12700">
                <a:solidFill>
                  <a:srgbClr val="FFFFFF"/>
                </a:solidFill>
              </a:ln>
            </p:spPr>
          </p:sp>
        </p:grpSp>
        <p:sp>
          <p:nvSpPr>
            <p:cNvPr id="97" name="TextBox 97"/>
            <p:cNvSpPr txBox="1"/>
            <p:nvPr/>
          </p:nvSpPr>
          <p:spPr>
            <a:xfrm>
              <a:off x="9672638" y="3941445"/>
              <a:ext cx="857631" cy="176212"/>
            </a:xfrm>
            <a:prstGeom prst="rect">
              <a:avLst/>
            </a:prstGeom>
            <a:noFill/>
            <a:ln>
              <a:noFill/>
            </a:ln>
          </p:spPr>
          <p:txBody>
            <a:bodyPr wrap="none" lIns="0" tIns="0" rIns="0" bIns="0" anchor="t" anchorCtr="0">
              <a:spAutoFit/>
            </a:bodyPr>
            <a:lstStyle/>
            <a:p>
              <a:pPr algn="l"/>
              <a:r>
                <a:rPr lang="zh-CN" sz="900" b="1" dirty="0">
                  <a:solidFill>
                    <a:srgbClr val="E82C0C"/>
                  </a:solidFill>
                  <a:latin typeface="+mn-lt"/>
                  <a:ea typeface="+mn-ea"/>
                  <a:cs typeface="+mn-cs"/>
                </a:rPr>
                <a:t>策略：风险对冲</a:t>
              </a:r>
            </a:p>
          </p:txBody>
        </p:sp>
        <p:sp>
          <p:nvSpPr>
            <p:cNvPr id="98" name="TextBox 98"/>
            <p:cNvSpPr txBox="1"/>
            <p:nvPr/>
          </p:nvSpPr>
          <p:spPr>
            <a:xfrm>
              <a:off x="9672638" y="4114086"/>
              <a:ext cx="145224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523E3A"/>
                  </a:solidFill>
                  <a:latin typeface="+mn-lt"/>
                  <a:ea typeface="+mn-ea"/>
                  <a:cs typeface="+mn-cs"/>
                </a:rPr>
                <a:t>完善风险预警与保险、条款等机制，</a:t>
              </a:r>
              <a:br/>
              <a:r>
                <a:rPr lang="zh-CN" sz="710" dirty="0">
                  <a:solidFill>
                    <a:srgbClr val="523E3A"/>
                  </a:solidFill>
                  <a:latin typeface="+mn-lt"/>
                  <a:ea typeface="+mn-ea"/>
                  <a:cs typeface="+mn-cs"/>
                </a:rPr>
                <a:t>降低未来类似损失影响。</a:t>
              </a:r>
            </a:p>
          </p:txBody>
        </p:sp>
      </p:grpSp>
      <p:grpSp>
        <p:nvGrpSpPr>
          <p:cNvPr id="104" name="total-bar"/>
          <p:cNvGrpSpPr/>
          <p:nvPr/>
        </p:nvGrpSpPr>
        <p:grpSpPr>
          <a:xfrm>
            <a:off x="228600" y="4610100"/>
            <a:ext cx="11734800" cy="438150"/>
            <a:chOff x="228600" y="4610100"/>
            <a:chExt cx="11734800" cy="438150"/>
          </a:xfrm>
        </p:grpSpPr>
        <p:sp>
          <p:nvSpPr>
            <p:cNvPr id="100" name="Rectangle 100"/>
            <p:cNvSpPr/>
            <p:nvPr/>
          </p:nvSpPr>
          <p:spPr>
            <a:xfrm>
              <a:off x="228600" y="4610100"/>
              <a:ext cx="11734800" cy="438150"/>
            </a:xfrm>
            <a:prstGeom prst="roundRect">
              <a:avLst>
                <a:gd name="adj" fmla="val 21739"/>
              </a:avLst>
            </a:prstGeom>
            <a:solidFill>
              <a:srgbClr val="721E0D"/>
            </a:solidFill>
            <a:ln>
              <a:noFill/>
            </a:ln>
          </p:spPr>
        </p:sp>
        <p:sp>
          <p:nvSpPr>
            <p:cNvPr id="101" name="Line 101"/>
            <p:cNvSpPr/>
            <p:nvPr/>
          </p:nvSpPr>
          <p:spPr>
            <a:xfrm>
              <a:off x="4133850" y="4705350"/>
              <a:ext cx="9525" cy="247650"/>
            </a:xfrm>
            <a:custGeom>
              <a:avLst/>
              <a:gdLst/>
              <a:ahLst/>
              <a:cxnLst/>
              <a:rect l="l" t="t" r="r" b="b"/>
              <a:pathLst>
                <a:path w="9525" h="247650">
                  <a:moveTo>
                    <a:pt x="0" y="0"/>
                  </a:moveTo>
                  <a:lnTo>
                    <a:pt x="0" y="247650"/>
                  </a:lnTo>
                </a:path>
              </a:pathLst>
            </a:custGeom>
            <a:noFill/>
            <a:ln w="14288">
              <a:solidFill>
                <a:srgbClr val="FFFFFF">
                  <a:alpha val="35000"/>
                </a:srgbClr>
              </a:solidFill>
            </a:ln>
          </p:spPr>
        </p:sp>
        <p:sp>
          <p:nvSpPr>
            <p:cNvPr id="102" name="Line 102"/>
            <p:cNvSpPr/>
            <p:nvPr/>
          </p:nvSpPr>
          <p:spPr>
            <a:xfrm>
              <a:off x="8096250" y="4705350"/>
              <a:ext cx="9525" cy="247650"/>
            </a:xfrm>
            <a:custGeom>
              <a:avLst/>
              <a:gdLst/>
              <a:ahLst/>
              <a:cxnLst/>
              <a:rect l="l" t="t" r="r" b="b"/>
              <a:pathLst>
                <a:path w="9525" h="247650">
                  <a:moveTo>
                    <a:pt x="0" y="0"/>
                  </a:moveTo>
                  <a:lnTo>
                    <a:pt x="0" y="247650"/>
                  </a:lnTo>
                </a:path>
              </a:pathLst>
            </a:custGeom>
            <a:noFill/>
            <a:ln w="14288">
              <a:solidFill>
                <a:srgbClr val="FFFFFF">
                  <a:alpha val="35000"/>
                </a:srgbClr>
              </a:solidFill>
            </a:ln>
          </p:spPr>
        </p:sp>
        <p:sp>
          <p:nvSpPr>
            <p:cNvPr id="103" name="TextBox 103"/>
            <p:cNvSpPr txBox="1"/>
            <p:nvPr/>
          </p:nvSpPr>
          <p:spPr>
            <a:xfrm>
              <a:off x="4874112" y="4742021"/>
              <a:ext cx="2443777"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 xml:space="preserve">   合计差额</a:t>
              </a:r>
              <a:r>
                <a:rPr lang="zh-CN" sz="1800" b="1" dirty="0">
                  <a:solidFill>
                    <a:srgbClr val="FFFFFF"/>
                  </a:solidFill>
                  <a:latin typeface="+mn-lt"/>
                  <a:ea typeface="+mn-ea"/>
                  <a:cs typeface="+mn-cs"/>
                </a:rPr>
                <a:t>2.03</a:t>
              </a:r>
              <a:r>
                <a:rPr lang="zh-CN" sz="1420" b="1" dirty="0">
                  <a:solidFill>
                    <a:srgbClr val="FFFFFF"/>
                  </a:solidFill>
                  <a:latin typeface="+mn-lt"/>
                  <a:ea typeface="+mn-ea"/>
                  <a:cs typeface="+mn-cs"/>
                </a:rPr>
                <a:t xml:space="preserve"> 亿元   </a:t>
              </a:r>
            </a:p>
          </p:txBody>
        </p:sp>
      </p:grpSp>
      <p:grpSp>
        <p:nvGrpSpPr>
          <p:cNvPr id="112" name="strategy-bar"/>
          <p:cNvGrpSpPr/>
          <p:nvPr/>
        </p:nvGrpSpPr>
        <p:grpSpPr>
          <a:xfrm>
            <a:off x="228600" y="5181600"/>
            <a:ext cx="11734800" cy="514350"/>
            <a:chOff x="228600" y="5181600"/>
            <a:chExt cx="11734800" cy="514350"/>
          </a:xfrm>
        </p:grpSpPr>
        <p:sp>
          <p:nvSpPr>
            <p:cNvPr id="105" name="Rectangle 105"/>
            <p:cNvSpPr/>
            <p:nvPr/>
          </p:nvSpPr>
          <p:spPr>
            <a:xfrm>
              <a:off x="228600" y="5181600"/>
              <a:ext cx="11734800" cy="514350"/>
            </a:xfrm>
            <a:prstGeom prst="roundRect">
              <a:avLst>
                <a:gd name="adj" fmla="val 18519"/>
              </a:avLst>
            </a:prstGeom>
            <a:solidFill>
              <a:srgbClr val="FFFFFF"/>
            </a:solidFill>
            <a:ln w="19050">
              <a:solidFill>
                <a:srgbClr val="B8351A"/>
              </a:solidFill>
            </a:ln>
          </p:spPr>
        </p:sp>
        <p:sp>
          <p:nvSpPr>
            <p:cNvPr id="106" name="Ellipse 106"/>
            <p:cNvSpPr/>
            <p:nvPr/>
          </p:nvSpPr>
          <p:spPr>
            <a:xfrm>
              <a:off x="3190875" y="5276850"/>
              <a:ext cx="323850" cy="323850"/>
            </a:xfrm>
            <a:prstGeom prst="ellipse">
              <a:avLst/>
            </a:prstGeom>
            <a:solidFill>
              <a:srgbClr val="EAF1FB"/>
            </a:solidFill>
            <a:ln>
              <a:noFill/>
            </a:ln>
          </p:spPr>
        </p:sp>
        <p:grpSp>
          <p:nvGrpSpPr>
            <p:cNvPr id="110" name="Group 110"/>
            <p:cNvGrpSpPr/>
            <p:nvPr/>
          </p:nvGrpSpPr>
          <p:grpSpPr>
            <a:xfrm>
              <a:off x="3274219" y="5360194"/>
              <a:ext cx="157163" cy="157163"/>
              <a:chOff x="3274219" y="5360194"/>
              <a:chExt cx="157163" cy="157163"/>
            </a:xfrm>
          </p:grpSpPr>
          <p:sp>
            <p:nvSpPr>
              <p:cNvPr id="107" name="Freeform 107"/>
              <p:cNvSpPr/>
              <p:nvPr/>
            </p:nvSpPr>
            <p:spPr>
              <a:xfrm>
                <a:off x="3344069" y="543004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B8351A"/>
                </a:solidFill>
              </a:ln>
            </p:spPr>
          </p:sp>
          <p:sp>
            <p:nvSpPr>
              <p:cNvPr id="108" name="Freeform 108"/>
              <p:cNvSpPr/>
              <p:nvPr/>
            </p:nvSpPr>
            <p:spPr>
              <a:xfrm>
                <a:off x="3309144" y="539511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B8351A"/>
                </a:solidFill>
              </a:ln>
            </p:spPr>
          </p:sp>
          <p:sp>
            <p:nvSpPr>
              <p:cNvPr id="109" name="Freeform 109"/>
              <p:cNvSpPr/>
              <p:nvPr/>
            </p:nvSpPr>
            <p:spPr>
              <a:xfrm>
                <a:off x="3274219" y="53601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B8351A"/>
                </a:solidFill>
              </a:ln>
            </p:spPr>
          </p:sp>
        </p:grpSp>
        <p:sp>
          <p:nvSpPr>
            <p:cNvPr id="111" name="TextBox 111"/>
            <p:cNvSpPr txBox="1"/>
            <p:nvPr/>
          </p:nvSpPr>
          <p:spPr>
            <a:xfrm>
              <a:off x="3651123" y="5367814"/>
              <a:ext cx="4129526" cy="249364"/>
            </a:xfrm>
            <a:prstGeom prst="rect">
              <a:avLst/>
            </a:prstGeom>
            <a:noFill/>
            <a:ln>
              <a:noFill/>
            </a:ln>
          </p:spPr>
          <p:txBody>
            <a:bodyPr wrap="none" lIns="0" tIns="0" rIns="0" bIns="0" anchor="t" anchorCtr="0">
              <a:spAutoFit/>
            </a:bodyPr>
            <a:lstStyle/>
            <a:p>
              <a:pPr algn="l"/>
              <a:r>
                <a:rPr lang="zh-CN" sz="1280" b="1" dirty="0">
                  <a:solidFill>
                    <a:srgbClr val="721E0D"/>
                  </a:solidFill>
                  <a:latin typeface="+mn-lt"/>
                  <a:ea typeface="+mn-ea"/>
                  <a:cs typeface="+mn-cs"/>
                </a:rPr>
                <a:t>策略：补新机会 、 加速延期 、 主动经营 、 风险对冲</a:t>
              </a:r>
            </a:p>
          </p:txBody>
        </p:sp>
      </p:gr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268698" y="152876"/>
              <a:ext cx="18650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5</a:t>
              </a:r>
            </a:p>
          </p:txBody>
        </p:sp>
        <p:sp>
          <p:nvSpPr>
            <p:cNvPr id="4" name="TextBox 4"/>
            <p:cNvSpPr txBox="1"/>
            <p:nvPr/>
          </p:nvSpPr>
          <p:spPr>
            <a:xfrm>
              <a:off x="904494" y="180023"/>
              <a:ext cx="6355467"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第三层归因：</a:t>
              </a:r>
              <a:r>
                <a:rPr lang="zh-CN" sz="1950" b="1" dirty="0">
                  <a:solidFill>
                    <a:srgbClr val="B8351A"/>
                  </a:solidFill>
                  <a:latin typeface="+mn-lt"/>
                  <a:ea typeface="+mn-ea"/>
                  <a:cs typeface="+mn-cs"/>
                </a:rPr>
                <a:t>内部可控80%</a:t>
              </a:r>
              <a:r>
                <a:rPr lang="zh-CN" sz="1950" b="1" dirty="0">
                  <a:solidFill>
                    <a:srgbClr val="461910"/>
                  </a:solidFill>
                  <a:latin typeface="+mn-lt"/>
                  <a:ea typeface="+mn-ea"/>
                  <a:cs typeface="+mn-cs"/>
                </a:rPr>
                <a:t xml:space="preserve"> vs 外部不可控20%      </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100" name="internal-panel"/>
          <p:cNvGrpSpPr/>
          <p:nvPr/>
        </p:nvGrpSpPr>
        <p:grpSpPr>
          <a:xfrm>
            <a:off x="228600" y="704850"/>
            <a:ext cx="6409115" cy="4991100"/>
            <a:chOff x="228600" y="704850"/>
            <a:chExt cx="6409115" cy="4991100"/>
          </a:xfrm>
        </p:grpSpPr>
        <p:sp>
          <p:nvSpPr>
            <p:cNvPr id="7" name="Rectangle 7"/>
            <p:cNvSpPr/>
            <p:nvPr/>
          </p:nvSpPr>
          <p:spPr>
            <a:xfrm>
              <a:off x="228600" y="704850"/>
              <a:ext cx="6324600" cy="4991100"/>
            </a:xfrm>
            <a:prstGeom prst="roundRect">
              <a:avLst>
                <a:gd name="adj" fmla="val 1908"/>
              </a:avLst>
            </a:prstGeom>
            <a:solidFill>
              <a:srgbClr val="FFFFFF"/>
            </a:solidFill>
            <a:ln w="14288">
              <a:solidFill>
                <a:srgbClr val="C9D6EE"/>
              </a:solidFill>
            </a:ln>
          </p:spPr>
        </p:sp>
        <p:sp>
          <p:nvSpPr>
            <p:cNvPr id="8" name="Freeform 8"/>
            <p:cNvSpPr/>
            <p:nvPr/>
          </p:nvSpPr>
          <p:spPr>
            <a:xfrm>
              <a:off x="228600" y="704850"/>
              <a:ext cx="6324600" cy="419100"/>
            </a:xfrm>
            <a:custGeom>
              <a:avLst/>
              <a:gdLst/>
              <a:ahLst/>
              <a:cxnLst/>
              <a:rect l="l" t="t" r="r" b="b"/>
              <a:pathLst>
                <a:path w="6324600" h="419100">
                  <a:moveTo>
                    <a:pt x="95250" y="0"/>
                  </a:moveTo>
                  <a:lnTo>
                    <a:pt x="6229350" y="0"/>
                  </a:lnTo>
                  <a:cubicBezTo>
                    <a:pt x="6281955" y="0"/>
                    <a:pt x="6324600" y="42645"/>
                    <a:pt x="6324600" y="95250"/>
                  </a:cubicBezTo>
                  <a:lnTo>
                    <a:pt x="6324600" y="419100"/>
                  </a:lnTo>
                  <a:lnTo>
                    <a:pt x="0" y="419100"/>
                  </a:lnTo>
                  <a:lnTo>
                    <a:pt x="0" y="95250"/>
                  </a:lnTo>
                  <a:cubicBezTo>
                    <a:pt x="0" y="42645"/>
                    <a:pt x="42645" y="0"/>
                    <a:pt x="95250" y="0"/>
                  </a:cubicBezTo>
                  <a:close/>
                </a:path>
              </a:pathLst>
            </a:custGeom>
            <a:solidFill>
              <a:srgbClr val="721E0D"/>
            </a:solidFill>
            <a:ln>
              <a:noFill/>
            </a:ln>
          </p:spPr>
        </p:sp>
        <p:sp>
          <p:nvSpPr>
            <p:cNvPr id="9" name="TextBox 9"/>
            <p:cNvSpPr txBox="1"/>
            <p:nvPr/>
          </p:nvSpPr>
          <p:spPr>
            <a:xfrm>
              <a:off x="393573" y="852964"/>
              <a:ext cx="2667445"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 xml:space="preserve">内部可控因素 </a:t>
              </a:r>
              <a:r>
                <a:rPr lang="zh-CN" sz="900" dirty="0">
                  <a:solidFill>
                    <a:srgbClr val="FFFFFF"/>
                  </a:solidFill>
                  <a:latin typeface="+mn-lt"/>
                  <a:ea typeface="+mn-ea"/>
                  <a:cs typeface="+mn-cs"/>
                </a:rPr>
                <a:t>（下半年可改善）</a:t>
              </a:r>
              <a:r>
                <a:rPr lang="zh-CN" sz="1280" b="1" dirty="0">
                  <a:solidFill>
                    <a:srgbClr val="FFFFFF"/>
                  </a:solidFill>
                  <a:latin typeface="+mn-lt"/>
                  <a:ea typeface="+mn-ea"/>
                  <a:cs typeface="+mn-cs"/>
                </a:rPr>
                <a:t xml:space="preserve">      </a:t>
              </a:r>
            </a:p>
          </p:txBody>
        </p:sp>
        <p:sp>
          <p:nvSpPr>
            <p:cNvPr id="10" name="TextBox 10"/>
            <p:cNvSpPr txBox="1"/>
            <p:nvPr/>
          </p:nvSpPr>
          <p:spPr>
            <a:xfrm>
              <a:off x="5522778" y="772478"/>
              <a:ext cx="890976" cy="498729"/>
            </a:xfrm>
            <a:prstGeom prst="rect">
              <a:avLst/>
            </a:prstGeom>
            <a:noFill/>
            <a:ln>
              <a:noFill/>
            </a:ln>
          </p:spPr>
          <p:txBody>
            <a:bodyPr wrap="none" lIns="0" tIns="0" rIns="0" bIns="0" anchor="t" anchorCtr="0">
              <a:spAutoFit/>
            </a:bodyPr>
            <a:lstStyle/>
            <a:p>
              <a:pPr algn="r"/>
              <a:r>
                <a:rPr lang="zh-CN" sz="2550" b="1" dirty="0">
                  <a:solidFill>
                    <a:srgbClr val="FFFFFF"/>
                  </a:solidFill>
                  <a:latin typeface="+mn-lt"/>
                  <a:ea typeface="+mn-ea"/>
                  <a:cs typeface="+mn-cs"/>
                </a:rPr>
                <a:t xml:space="preserve"> 80%</a:t>
              </a:r>
            </a:p>
          </p:txBody>
        </p:sp>
        <p:sp>
          <p:nvSpPr>
            <p:cNvPr id="11" name="Rectangle 11"/>
            <p:cNvSpPr/>
            <p:nvPr/>
          </p:nvSpPr>
          <p:spPr>
            <a:xfrm>
              <a:off x="228600" y="1123950"/>
              <a:ext cx="6324600" cy="228600"/>
            </a:xfrm>
            <a:prstGeom prst="rect">
              <a:avLst/>
            </a:prstGeom>
            <a:solidFill>
              <a:srgbClr val="EAF1FB"/>
            </a:solidFill>
            <a:ln>
              <a:noFill/>
            </a:ln>
          </p:spPr>
        </p:sp>
        <p:sp>
          <p:nvSpPr>
            <p:cNvPr id="12" name="TextBox 12"/>
            <p:cNvSpPr txBox="1"/>
            <p:nvPr/>
          </p:nvSpPr>
          <p:spPr>
            <a:xfrm>
              <a:off x="384188" y="1191339"/>
              <a:ext cx="222225"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序号</a:t>
              </a:r>
            </a:p>
          </p:txBody>
        </p:sp>
        <p:sp>
          <p:nvSpPr>
            <p:cNvPr id="13" name="TextBox 13"/>
            <p:cNvSpPr txBox="1"/>
            <p:nvPr/>
          </p:nvSpPr>
          <p:spPr>
            <a:xfrm>
              <a:off x="1116038" y="11913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归因维度</a:t>
              </a:r>
            </a:p>
          </p:txBody>
        </p:sp>
        <p:sp>
          <p:nvSpPr>
            <p:cNvPr id="14" name="TextBox 14"/>
            <p:cNvSpPr txBox="1"/>
            <p:nvPr/>
          </p:nvSpPr>
          <p:spPr>
            <a:xfrm>
              <a:off x="2533688" y="1191339"/>
              <a:ext cx="6476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关键问题表现</a:t>
              </a:r>
            </a:p>
          </p:txBody>
        </p:sp>
        <p:sp>
          <p:nvSpPr>
            <p:cNvPr id="15" name="TextBox 15"/>
            <p:cNvSpPr txBox="1"/>
            <p:nvPr/>
          </p:nvSpPr>
          <p:spPr>
            <a:xfrm>
              <a:off x="3845688" y="1191339"/>
              <a:ext cx="1547875"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 xml:space="preserve">   改善抓手（下半年行动）   </a:t>
              </a:r>
            </a:p>
          </p:txBody>
        </p:sp>
        <p:sp>
          <p:nvSpPr>
            <p:cNvPr id="16" name="TextBox 16"/>
            <p:cNvSpPr txBox="1"/>
            <p:nvPr/>
          </p:nvSpPr>
          <p:spPr>
            <a:xfrm>
              <a:off x="5821388" y="11913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预期影响</a:t>
              </a:r>
            </a:p>
          </p:txBody>
        </p:sp>
        <p:sp>
          <p:nvSpPr>
            <p:cNvPr id="17" name="Ellipse 17"/>
            <p:cNvSpPr/>
            <p:nvPr/>
          </p:nvSpPr>
          <p:spPr>
            <a:xfrm>
              <a:off x="371475" y="1800225"/>
              <a:ext cx="247650" cy="247650"/>
            </a:xfrm>
            <a:prstGeom prst="ellipse">
              <a:avLst/>
            </a:prstGeom>
            <a:solidFill>
              <a:srgbClr val="721E0D"/>
            </a:solidFill>
            <a:ln>
              <a:noFill/>
            </a:ln>
          </p:spPr>
        </p:sp>
        <p:sp>
          <p:nvSpPr>
            <p:cNvPr id="18" name="TextBox 18"/>
            <p:cNvSpPr txBox="1"/>
            <p:nvPr/>
          </p:nvSpPr>
          <p:spPr>
            <a:xfrm>
              <a:off x="452253" y="186642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a:t>
              </a:r>
            </a:p>
          </p:txBody>
        </p:sp>
        <p:grpSp>
          <p:nvGrpSpPr>
            <p:cNvPr id="22" name="Group 22"/>
            <p:cNvGrpSpPr/>
            <p:nvPr/>
          </p:nvGrpSpPr>
          <p:grpSpPr>
            <a:xfrm>
              <a:off x="795338" y="1807369"/>
              <a:ext cx="178594" cy="214313"/>
              <a:chOff x="795338" y="1807369"/>
              <a:chExt cx="178594" cy="214313"/>
            </a:xfrm>
          </p:grpSpPr>
          <p:sp>
            <p:nvSpPr>
              <p:cNvPr id="19" name="Freeform 19"/>
              <p:cNvSpPr/>
              <p:nvPr/>
            </p:nvSpPr>
            <p:spPr>
              <a:xfrm>
                <a:off x="819150" y="1807369"/>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721E0D"/>
                </a:solidFill>
              </a:ln>
            </p:spPr>
          </p:sp>
          <p:sp>
            <p:nvSpPr>
              <p:cNvPr id="20" name="Freeform 20"/>
              <p:cNvSpPr/>
              <p:nvPr/>
            </p:nvSpPr>
            <p:spPr>
              <a:xfrm>
                <a:off x="795338" y="1950244"/>
                <a:ext cx="95250" cy="71438"/>
              </a:xfrm>
              <a:custGeom>
                <a:avLst/>
                <a:gdLst/>
                <a:ahLst/>
                <a:cxnLst/>
                <a:rect l="l" t="t" r="r" b="b"/>
                <a:pathLst>
                  <a:path w="95250" h="71438">
                    <a:moveTo>
                      <a:pt x="0" y="71438"/>
                    </a:moveTo>
                    <a:lnTo>
                      <a:pt x="0" y="47625"/>
                    </a:lnTo>
                    <a:cubicBezTo>
                      <a:pt x="0" y="21322"/>
                      <a:pt x="21322" y="0"/>
                      <a:pt x="47625" y="0"/>
                    </a:cubicBezTo>
                    <a:lnTo>
                      <a:pt x="95250" y="0"/>
                    </a:lnTo>
                  </a:path>
                </a:pathLst>
              </a:custGeom>
              <a:noFill/>
              <a:ln w="23812">
                <a:solidFill>
                  <a:srgbClr val="721E0D"/>
                </a:solidFill>
              </a:ln>
            </p:spPr>
          </p:sp>
          <p:sp>
            <p:nvSpPr>
              <p:cNvPr id="21" name="Freeform 21"/>
              <p:cNvSpPr/>
              <p:nvPr/>
            </p:nvSpPr>
            <p:spPr>
              <a:xfrm>
                <a:off x="902494" y="1974056"/>
                <a:ext cx="71438" cy="47625"/>
              </a:xfrm>
              <a:custGeom>
                <a:avLst/>
                <a:gdLst/>
                <a:ahLst/>
                <a:cxnLst/>
                <a:rect l="l" t="t" r="r" b="b"/>
                <a:pathLst>
                  <a:path w="71438" h="47625">
                    <a:moveTo>
                      <a:pt x="0" y="23812"/>
                    </a:moveTo>
                    <a:lnTo>
                      <a:pt x="23812" y="47625"/>
                    </a:lnTo>
                    <a:lnTo>
                      <a:pt x="71438" y="0"/>
                    </a:lnTo>
                  </a:path>
                </a:pathLst>
              </a:custGeom>
              <a:noFill/>
              <a:ln w="23812">
                <a:solidFill>
                  <a:srgbClr val="721E0D"/>
                </a:solidFill>
              </a:ln>
            </p:spPr>
          </p:sp>
        </p:grpSp>
        <p:sp>
          <p:nvSpPr>
            <p:cNvPr id="23" name="TextBox 23"/>
            <p:cNvSpPr txBox="1"/>
            <p:nvPr/>
          </p:nvSpPr>
          <p:spPr>
            <a:xfrm>
              <a:off x="1062038" y="1864995"/>
              <a:ext cx="736473" cy="176212"/>
            </a:xfrm>
            <a:prstGeom prst="rect">
              <a:avLst/>
            </a:prstGeom>
            <a:noFill/>
            <a:ln>
              <a:noFill/>
            </a:ln>
          </p:spPr>
          <p:txBody>
            <a:bodyPr wrap="none" lIns="0" tIns="0" rIns="0" bIns="0" anchor="t" anchorCtr="0">
              <a:spAutoFit/>
            </a:bodyPr>
            <a:lstStyle/>
            <a:p>
              <a:pPr algn="l"/>
              <a:r>
                <a:rPr lang="zh-CN" sz="900" b="1" dirty="0">
                  <a:solidFill>
                    <a:srgbClr val="461910"/>
                  </a:solidFill>
                  <a:latin typeface="+mn-lt"/>
                  <a:ea typeface="+mn-ea"/>
                  <a:cs typeface="+mn-cs"/>
                </a:rPr>
                <a:t>销售能力不足</a:t>
              </a:r>
            </a:p>
          </p:txBody>
        </p:sp>
        <p:sp>
          <p:nvSpPr>
            <p:cNvPr id="24" name="TextBox 24"/>
            <p:cNvSpPr txBox="1"/>
            <p:nvPr/>
          </p:nvSpPr>
          <p:spPr>
            <a:xfrm>
              <a:off x="2052638" y="1652588"/>
              <a:ext cx="999172"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商机转化率低于标杆</a:t>
              </a:r>
            </a:p>
          </p:txBody>
        </p:sp>
        <p:sp>
          <p:nvSpPr>
            <p:cNvPr id="25" name="TextBox 25"/>
            <p:cNvSpPr txBox="1"/>
            <p:nvPr/>
          </p:nvSpPr>
          <p:spPr>
            <a:xfrm>
              <a:off x="2052638" y="1862138"/>
              <a:ext cx="696278"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方案竞争力弱</a:t>
              </a:r>
            </a:p>
          </p:txBody>
        </p:sp>
        <p:sp>
          <p:nvSpPr>
            <p:cNvPr id="26" name="TextBox 26"/>
            <p:cNvSpPr txBox="1"/>
            <p:nvPr/>
          </p:nvSpPr>
          <p:spPr>
            <a:xfrm>
              <a:off x="2052638" y="2071688"/>
              <a:ext cx="696278"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谈判赢率偏低</a:t>
              </a:r>
            </a:p>
          </p:txBody>
        </p:sp>
        <p:sp>
          <p:nvSpPr>
            <p:cNvPr id="27" name="TextBox 27"/>
            <p:cNvSpPr txBox="1"/>
            <p:nvPr/>
          </p:nvSpPr>
          <p:spPr>
            <a:xfrm>
              <a:off x="3767138" y="1652588"/>
              <a:ext cx="1302068"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销售方法论赋能与实战演练</a:t>
              </a:r>
            </a:p>
          </p:txBody>
        </p:sp>
        <p:sp>
          <p:nvSpPr>
            <p:cNvPr id="28" name="TextBox 28"/>
            <p:cNvSpPr txBox="1"/>
            <p:nvPr/>
          </p:nvSpPr>
          <p:spPr>
            <a:xfrm>
              <a:off x="3767138" y="1862138"/>
              <a:ext cx="999172"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关键场景方案库建设</a:t>
              </a:r>
            </a:p>
          </p:txBody>
        </p:sp>
        <p:sp>
          <p:nvSpPr>
            <p:cNvPr id="29" name="TextBox 29"/>
            <p:cNvSpPr txBox="1"/>
            <p:nvPr/>
          </p:nvSpPr>
          <p:spPr>
            <a:xfrm>
              <a:off x="3767138" y="2071688"/>
              <a:ext cx="1201102"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谈判技巧与异议处理训练</a:t>
              </a:r>
            </a:p>
          </p:txBody>
        </p:sp>
        <p:grpSp>
          <p:nvGrpSpPr>
            <p:cNvPr id="32" name="Group 32"/>
            <p:cNvGrpSpPr/>
            <p:nvPr/>
          </p:nvGrpSpPr>
          <p:grpSpPr>
            <a:xfrm>
              <a:off x="5557838" y="1849438"/>
              <a:ext cx="200026" cy="111125"/>
              <a:chOff x="5557838" y="1849438"/>
              <a:chExt cx="200026" cy="111125"/>
            </a:xfrm>
          </p:grpSpPr>
          <p:sp>
            <p:nvSpPr>
              <p:cNvPr id="30" name="Freeform 30"/>
              <p:cNvSpPr/>
              <p:nvPr/>
            </p:nvSpPr>
            <p:spPr>
              <a:xfrm>
                <a:off x="5557838" y="18494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B8351A"/>
                </a:solidFill>
              </a:ln>
            </p:spPr>
          </p:sp>
          <p:sp>
            <p:nvSpPr>
              <p:cNvPr id="31" name="Freeform 31"/>
              <p:cNvSpPr/>
              <p:nvPr/>
            </p:nvSpPr>
            <p:spPr>
              <a:xfrm>
                <a:off x="5680075" y="1849438"/>
                <a:ext cx="77788" cy="77788"/>
              </a:xfrm>
              <a:custGeom>
                <a:avLst/>
                <a:gdLst/>
                <a:ahLst/>
                <a:cxnLst/>
                <a:rect l="l" t="t" r="r" b="b"/>
                <a:pathLst>
                  <a:path w="77788" h="77788">
                    <a:moveTo>
                      <a:pt x="0" y="0"/>
                    </a:moveTo>
                    <a:lnTo>
                      <a:pt x="77788" y="0"/>
                    </a:lnTo>
                    <a:lnTo>
                      <a:pt x="77788" y="77788"/>
                    </a:lnTo>
                  </a:path>
                </a:pathLst>
              </a:custGeom>
              <a:noFill/>
              <a:ln w="22225">
                <a:solidFill>
                  <a:srgbClr val="B8351A"/>
                </a:solidFill>
              </a:ln>
            </p:spPr>
          </p:sp>
        </p:grpSp>
        <p:sp>
          <p:nvSpPr>
            <p:cNvPr id="33" name="TextBox 33"/>
            <p:cNvSpPr txBox="1"/>
            <p:nvPr/>
          </p:nvSpPr>
          <p:spPr>
            <a:xfrm>
              <a:off x="5843588" y="1694736"/>
              <a:ext cx="487426"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转化率提升</a:t>
              </a:r>
            </a:p>
          </p:txBody>
        </p:sp>
        <p:sp>
          <p:nvSpPr>
            <p:cNvPr id="34" name="TextBox 34"/>
            <p:cNvSpPr txBox="1"/>
            <p:nvPr/>
          </p:nvSpPr>
          <p:spPr>
            <a:xfrm>
              <a:off x="5842635" y="1878806"/>
              <a:ext cx="620936" cy="220028"/>
            </a:xfrm>
            <a:prstGeom prst="rect">
              <a:avLst/>
            </a:prstGeom>
            <a:noFill/>
            <a:ln>
              <a:noFill/>
            </a:ln>
          </p:spPr>
          <p:txBody>
            <a:bodyPr wrap="none" lIns="0" tIns="0" rIns="0" bIns="0" anchor="t" anchorCtr="0">
              <a:spAutoFit/>
            </a:bodyPr>
            <a:lstStyle/>
            <a:p>
              <a:pPr algn="l"/>
              <a:r>
                <a:rPr lang="zh-CN" sz="1120" b="1" dirty="0">
                  <a:solidFill>
                    <a:srgbClr val="B8351A"/>
                  </a:solidFill>
                  <a:latin typeface="+mn-lt"/>
                  <a:ea typeface="+mn-ea"/>
                  <a:cs typeface="+mn-cs"/>
                </a:rPr>
                <a:t xml:space="preserve">+3~5   </a:t>
              </a:r>
            </a:p>
          </p:txBody>
        </p:sp>
        <p:sp>
          <p:nvSpPr>
            <p:cNvPr id="35" name="TextBox 35"/>
            <p:cNvSpPr txBox="1"/>
            <p:nvPr/>
          </p:nvSpPr>
          <p:spPr>
            <a:xfrm>
              <a:off x="5843588" y="2094786"/>
              <a:ext cx="324940" cy="140494"/>
            </a:xfrm>
            <a:prstGeom prst="rect">
              <a:avLst/>
            </a:prstGeom>
            <a:noFill/>
            <a:ln>
              <a:noFill/>
            </a:ln>
          </p:spPr>
          <p:txBody>
            <a:bodyPr wrap="none" lIns="0" tIns="0" rIns="0" bIns="0" anchor="t" anchorCtr="0">
              <a:spAutoFit/>
            </a:bodyPr>
            <a:lstStyle/>
            <a:p>
              <a:pPr algn="l"/>
              <a:r>
                <a:rPr lang="en-US" sz="710" dirty="0">
                  <a:solidFill>
                    <a:srgbClr val="523E3A"/>
                  </a:solidFill>
                  <a:latin typeface="+mn-lt"/>
                  <a:ea typeface="+mn-ea"/>
                  <a:cs typeface="+mn-cs"/>
                </a:rPr>
                <a:t>pct</a:t>
              </a:r>
              <a:r>
                <a:rPr lang="zh-CN" sz="710" dirty="0">
                  <a:solidFill>
                    <a:srgbClr val="523E3A"/>
                  </a:solidFill>
                  <a:latin typeface="+mn-lt"/>
                  <a:ea typeface="+mn-ea"/>
                  <a:cs typeface="+mn-cs"/>
                </a:rPr>
                <a:t xml:space="preserve">   </a:t>
              </a:r>
            </a:p>
          </p:txBody>
        </p:sp>
        <p:sp>
          <p:nvSpPr>
            <p:cNvPr id="36" name="Line 36"/>
            <p:cNvSpPr/>
            <p:nvPr/>
          </p:nvSpPr>
          <p:spPr>
            <a:xfrm>
              <a:off x="323850" y="2428875"/>
              <a:ext cx="6134100" cy="9525"/>
            </a:xfrm>
            <a:custGeom>
              <a:avLst/>
              <a:gdLst/>
              <a:ahLst/>
              <a:cxnLst/>
              <a:rect l="l" t="t" r="r" b="b"/>
              <a:pathLst>
                <a:path w="6134100" h="9525">
                  <a:moveTo>
                    <a:pt x="0" y="0"/>
                  </a:moveTo>
                  <a:lnTo>
                    <a:pt x="6134100" y="0"/>
                  </a:lnTo>
                </a:path>
              </a:pathLst>
            </a:custGeom>
            <a:noFill/>
            <a:ln w="9525">
              <a:solidFill>
                <a:srgbClr val="DCE6F6"/>
              </a:solidFill>
            </a:ln>
          </p:spPr>
        </p:sp>
        <p:sp>
          <p:nvSpPr>
            <p:cNvPr id="37" name="Ellipse 37"/>
            <p:cNvSpPr/>
            <p:nvPr/>
          </p:nvSpPr>
          <p:spPr>
            <a:xfrm>
              <a:off x="371475" y="2867025"/>
              <a:ext cx="247650" cy="247650"/>
            </a:xfrm>
            <a:prstGeom prst="ellipse">
              <a:avLst/>
            </a:prstGeom>
            <a:solidFill>
              <a:srgbClr val="721E0D"/>
            </a:solidFill>
            <a:ln>
              <a:noFill/>
            </a:ln>
          </p:spPr>
        </p:sp>
        <p:sp>
          <p:nvSpPr>
            <p:cNvPr id="38" name="TextBox 38"/>
            <p:cNvSpPr txBox="1"/>
            <p:nvPr/>
          </p:nvSpPr>
          <p:spPr>
            <a:xfrm>
              <a:off x="452253" y="293322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2</a:t>
              </a:r>
            </a:p>
          </p:txBody>
        </p:sp>
        <p:grpSp>
          <p:nvGrpSpPr>
            <p:cNvPr id="42" name="Group 42"/>
            <p:cNvGrpSpPr/>
            <p:nvPr/>
          </p:nvGrpSpPr>
          <p:grpSpPr>
            <a:xfrm>
              <a:off x="759619" y="2886075"/>
              <a:ext cx="214312" cy="190500"/>
              <a:chOff x="759619" y="2886075"/>
              <a:chExt cx="214312" cy="190500"/>
            </a:xfrm>
          </p:grpSpPr>
          <p:sp>
            <p:nvSpPr>
              <p:cNvPr id="39" name="Freeform 39"/>
              <p:cNvSpPr/>
              <p:nvPr/>
            </p:nvSpPr>
            <p:spPr>
              <a:xfrm>
                <a:off x="759619" y="2886075"/>
                <a:ext cx="214312" cy="190500"/>
              </a:xfrm>
              <a:custGeom>
                <a:avLst/>
                <a:gdLst/>
                <a:ahLst/>
                <a:cxnLst/>
                <a:rect l="l" t="t" r="r" b="b"/>
                <a:pathLst>
                  <a:path w="214312" h="190500">
                    <a:moveTo>
                      <a:pt x="0" y="35719"/>
                    </a:moveTo>
                    <a:lnTo>
                      <a:pt x="71438" y="0"/>
                    </a:lnTo>
                    <a:lnTo>
                      <a:pt x="142875" y="35719"/>
                    </a:lnTo>
                    <a:lnTo>
                      <a:pt x="214312" y="0"/>
                    </a:lnTo>
                    <a:lnTo>
                      <a:pt x="214312" y="154781"/>
                    </a:lnTo>
                    <a:lnTo>
                      <a:pt x="142875" y="190500"/>
                    </a:lnTo>
                    <a:lnTo>
                      <a:pt x="71438" y="154781"/>
                    </a:lnTo>
                    <a:lnTo>
                      <a:pt x="0" y="190500"/>
                    </a:lnTo>
                    <a:lnTo>
                      <a:pt x="0" y="35719"/>
                    </a:lnTo>
                  </a:path>
                </a:pathLst>
              </a:custGeom>
              <a:noFill/>
              <a:ln w="23812">
                <a:solidFill>
                  <a:srgbClr val="721E0D"/>
                </a:solidFill>
              </a:ln>
            </p:spPr>
          </p:sp>
          <p:sp>
            <p:nvSpPr>
              <p:cNvPr id="40" name="Freeform 40"/>
              <p:cNvSpPr/>
              <p:nvPr/>
            </p:nvSpPr>
            <p:spPr>
              <a:xfrm>
                <a:off x="831056" y="2886075"/>
                <a:ext cx="9525" cy="154781"/>
              </a:xfrm>
              <a:custGeom>
                <a:avLst/>
                <a:gdLst/>
                <a:ahLst/>
                <a:cxnLst/>
                <a:rect l="l" t="t" r="r" b="b"/>
                <a:pathLst>
                  <a:path w="9525" h="154781">
                    <a:moveTo>
                      <a:pt x="0" y="0"/>
                    </a:moveTo>
                    <a:lnTo>
                      <a:pt x="0" y="154781"/>
                    </a:lnTo>
                  </a:path>
                </a:pathLst>
              </a:custGeom>
              <a:noFill/>
              <a:ln w="23812">
                <a:solidFill>
                  <a:srgbClr val="721E0D"/>
                </a:solidFill>
              </a:ln>
            </p:spPr>
          </p:sp>
          <p:sp>
            <p:nvSpPr>
              <p:cNvPr id="41" name="Freeform 41"/>
              <p:cNvSpPr/>
              <p:nvPr/>
            </p:nvSpPr>
            <p:spPr>
              <a:xfrm>
                <a:off x="902494" y="2921794"/>
                <a:ext cx="9525" cy="154781"/>
              </a:xfrm>
              <a:custGeom>
                <a:avLst/>
                <a:gdLst/>
                <a:ahLst/>
                <a:cxnLst/>
                <a:rect l="l" t="t" r="r" b="b"/>
                <a:pathLst>
                  <a:path w="9525" h="154781">
                    <a:moveTo>
                      <a:pt x="0" y="0"/>
                    </a:moveTo>
                    <a:lnTo>
                      <a:pt x="0" y="154781"/>
                    </a:lnTo>
                  </a:path>
                </a:pathLst>
              </a:custGeom>
              <a:noFill/>
              <a:ln w="23812">
                <a:solidFill>
                  <a:srgbClr val="721E0D"/>
                </a:solidFill>
              </a:ln>
            </p:spPr>
          </p:sp>
        </p:grpSp>
        <p:sp>
          <p:nvSpPr>
            <p:cNvPr id="43" name="TextBox 43"/>
            <p:cNvSpPr txBox="1"/>
            <p:nvPr/>
          </p:nvSpPr>
          <p:spPr>
            <a:xfrm>
              <a:off x="1062038" y="2931795"/>
              <a:ext cx="736473" cy="176212"/>
            </a:xfrm>
            <a:prstGeom prst="rect">
              <a:avLst/>
            </a:prstGeom>
            <a:noFill/>
            <a:ln>
              <a:noFill/>
            </a:ln>
          </p:spPr>
          <p:txBody>
            <a:bodyPr wrap="none" lIns="0" tIns="0" rIns="0" bIns="0" anchor="t" anchorCtr="0">
              <a:spAutoFit/>
            </a:bodyPr>
            <a:lstStyle/>
            <a:p>
              <a:pPr algn="l"/>
              <a:r>
                <a:rPr lang="zh-CN" sz="900" b="1" dirty="0">
                  <a:solidFill>
                    <a:srgbClr val="461910"/>
                  </a:solidFill>
                  <a:latin typeface="+mn-lt"/>
                  <a:ea typeface="+mn-ea"/>
                  <a:cs typeface="+mn-cs"/>
                </a:rPr>
                <a:t>销售覆盖不足</a:t>
              </a:r>
            </a:p>
          </p:txBody>
        </p:sp>
        <p:sp>
          <p:nvSpPr>
            <p:cNvPr id="44" name="TextBox 44"/>
            <p:cNvSpPr txBox="1"/>
            <p:nvPr/>
          </p:nvSpPr>
          <p:spPr>
            <a:xfrm>
              <a:off x="2052638" y="2719388"/>
              <a:ext cx="1488853"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 xml:space="preserve">重点行业/区域覆盖盲区      </a:t>
              </a:r>
            </a:p>
          </p:txBody>
        </p:sp>
        <p:sp>
          <p:nvSpPr>
            <p:cNvPr id="45" name="TextBox 45"/>
            <p:cNvSpPr txBox="1"/>
            <p:nvPr/>
          </p:nvSpPr>
          <p:spPr>
            <a:xfrm>
              <a:off x="2052638" y="2928938"/>
              <a:ext cx="797242"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客户触达不充分</a:t>
              </a:r>
            </a:p>
          </p:txBody>
        </p:sp>
        <p:sp>
          <p:nvSpPr>
            <p:cNvPr id="46" name="TextBox 46"/>
            <p:cNvSpPr txBox="1"/>
            <p:nvPr/>
          </p:nvSpPr>
          <p:spPr>
            <a:xfrm>
              <a:off x="2052638" y="3138488"/>
              <a:ext cx="898208"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渠道伙伴覆盖薄弱</a:t>
              </a:r>
            </a:p>
          </p:txBody>
        </p:sp>
        <p:sp>
          <p:nvSpPr>
            <p:cNvPr id="47" name="TextBox 47"/>
            <p:cNvSpPr txBox="1"/>
            <p:nvPr/>
          </p:nvSpPr>
          <p:spPr>
            <a:xfrm>
              <a:off x="3767138" y="2719388"/>
              <a:ext cx="1201102"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重点行业深耕与地图计划</a:t>
              </a:r>
            </a:p>
          </p:txBody>
        </p:sp>
        <p:sp>
          <p:nvSpPr>
            <p:cNvPr id="48" name="TextBox 48"/>
            <p:cNvSpPr txBox="1"/>
            <p:nvPr/>
          </p:nvSpPr>
          <p:spPr>
            <a:xfrm>
              <a:off x="3767138" y="2928938"/>
              <a:ext cx="1201102"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客户分层与触达频次提升</a:t>
              </a:r>
            </a:p>
          </p:txBody>
        </p:sp>
        <p:sp>
          <p:nvSpPr>
            <p:cNvPr id="49" name="TextBox 49"/>
            <p:cNvSpPr txBox="1"/>
            <p:nvPr/>
          </p:nvSpPr>
          <p:spPr>
            <a:xfrm>
              <a:off x="3767138" y="3138488"/>
              <a:ext cx="1387888"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 xml:space="preserve">渠道/伙伴招募与赋能      </a:t>
              </a:r>
            </a:p>
          </p:txBody>
        </p:sp>
        <p:grpSp>
          <p:nvGrpSpPr>
            <p:cNvPr id="52" name="Group 52"/>
            <p:cNvGrpSpPr/>
            <p:nvPr/>
          </p:nvGrpSpPr>
          <p:grpSpPr>
            <a:xfrm>
              <a:off x="5557838" y="2916238"/>
              <a:ext cx="200026" cy="111125"/>
              <a:chOff x="5557838" y="2916238"/>
              <a:chExt cx="200026" cy="111125"/>
            </a:xfrm>
          </p:grpSpPr>
          <p:sp>
            <p:nvSpPr>
              <p:cNvPr id="50" name="Freeform 50"/>
              <p:cNvSpPr/>
              <p:nvPr/>
            </p:nvSpPr>
            <p:spPr>
              <a:xfrm>
                <a:off x="5557838" y="29162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B8351A"/>
                </a:solidFill>
              </a:ln>
            </p:spPr>
          </p:sp>
          <p:sp>
            <p:nvSpPr>
              <p:cNvPr id="51" name="Freeform 51"/>
              <p:cNvSpPr/>
              <p:nvPr/>
            </p:nvSpPr>
            <p:spPr>
              <a:xfrm>
                <a:off x="5680075" y="2916238"/>
                <a:ext cx="77788" cy="77788"/>
              </a:xfrm>
              <a:custGeom>
                <a:avLst/>
                <a:gdLst/>
                <a:ahLst/>
                <a:cxnLst/>
                <a:rect l="l" t="t" r="r" b="b"/>
                <a:pathLst>
                  <a:path w="77788" h="77788">
                    <a:moveTo>
                      <a:pt x="0" y="0"/>
                    </a:moveTo>
                    <a:lnTo>
                      <a:pt x="77788" y="0"/>
                    </a:lnTo>
                    <a:lnTo>
                      <a:pt x="77788" y="77788"/>
                    </a:lnTo>
                  </a:path>
                </a:pathLst>
              </a:custGeom>
              <a:noFill/>
              <a:ln w="22225">
                <a:solidFill>
                  <a:srgbClr val="B8351A"/>
                </a:solidFill>
              </a:ln>
            </p:spPr>
          </p:sp>
        </p:grpSp>
        <p:sp>
          <p:nvSpPr>
            <p:cNvPr id="53" name="TextBox 53"/>
            <p:cNvSpPr txBox="1"/>
            <p:nvPr/>
          </p:nvSpPr>
          <p:spPr>
            <a:xfrm>
              <a:off x="5843588" y="2761536"/>
              <a:ext cx="583006"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有效线索增长</a:t>
              </a:r>
            </a:p>
          </p:txBody>
        </p:sp>
        <p:sp>
          <p:nvSpPr>
            <p:cNvPr id="54" name="TextBox 54"/>
            <p:cNvSpPr txBox="1"/>
            <p:nvPr/>
          </p:nvSpPr>
          <p:spPr>
            <a:xfrm>
              <a:off x="5842635" y="2945606"/>
              <a:ext cx="795080" cy="220028"/>
            </a:xfrm>
            <a:prstGeom prst="rect">
              <a:avLst/>
            </a:prstGeom>
            <a:noFill/>
            <a:ln>
              <a:noFill/>
            </a:ln>
          </p:spPr>
          <p:txBody>
            <a:bodyPr wrap="none" lIns="0" tIns="0" rIns="0" bIns="0" anchor="t" anchorCtr="0">
              <a:spAutoFit/>
            </a:bodyPr>
            <a:lstStyle/>
            <a:p>
              <a:pPr algn="l"/>
              <a:r>
                <a:rPr lang="zh-CN" sz="1120" b="1" dirty="0">
                  <a:solidFill>
                    <a:srgbClr val="B8351A"/>
                  </a:solidFill>
                  <a:latin typeface="+mn-lt"/>
                  <a:ea typeface="+mn-ea"/>
                  <a:cs typeface="+mn-cs"/>
                </a:rPr>
                <a:t xml:space="preserve">+20~30   </a:t>
              </a:r>
            </a:p>
          </p:txBody>
        </p:sp>
        <p:sp>
          <p:nvSpPr>
            <p:cNvPr id="55" name="TextBox 55"/>
            <p:cNvSpPr txBox="1"/>
            <p:nvPr/>
          </p:nvSpPr>
          <p:spPr>
            <a:xfrm>
              <a:off x="5843588" y="3161586"/>
              <a:ext cx="81210"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a:t>
              </a:r>
            </a:p>
          </p:txBody>
        </p:sp>
        <p:sp>
          <p:nvSpPr>
            <p:cNvPr id="56" name="Line 56"/>
            <p:cNvSpPr/>
            <p:nvPr/>
          </p:nvSpPr>
          <p:spPr>
            <a:xfrm>
              <a:off x="323850" y="3495675"/>
              <a:ext cx="6134100" cy="9525"/>
            </a:xfrm>
            <a:custGeom>
              <a:avLst/>
              <a:gdLst/>
              <a:ahLst/>
              <a:cxnLst/>
              <a:rect l="l" t="t" r="r" b="b"/>
              <a:pathLst>
                <a:path w="6134100" h="9525">
                  <a:moveTo>
                    <a:pt x="0" y="0"/>
                  </a:moveTo>
                  <a:lnTo>
                    <a:pt x="6134100" y="0"/>
                  </a:lnTo>
                </a:path>
              </a:pathLst>
            </a:custGeom>
            <a:noFill/>
            <a:ln w="9525">
              <a:solidFill>
                <a:srgbClr val="DCE6F6"/>
              </a:solidFill>
            </a:ln>
          </p:spPr>
        </p:sp>
        <p:sp>
          <p:nvSpPr>
            <p:cNvPr id="57" name="Ellipse 57"/>
            <p:cNvSpPr/>
            <p:nvPr/>
          </p:nvSpPr>
          <p:spPr>
            <a:xfrm>
              <a:off x="371475" y="3933825"/>
              <a:ext cx="247650" cy="247650"/>
            </a:xfrm>
            <a:prstGeom prst="ellipse">
              <a:avLst/>
            </a:prstGeom>
            <a:solidFill>
              <a:srgbClr val="721E0D"/>
            </a:solidFill>
            <a:ln>
              <a:noFill/>
            </a:ln>
          </p:spPr>
        </p:sp>
        <p:sp>
          <p:nvSpPr>
            <p:cNvPr id="58" name="TextBox 58"/>
            <p:cNvSpPr txBox="1"/>
            <p:nvPr/>
          </p:nvSpPr>
          <p:spPr>
            <a:xfrm>
              <a:off x="452253" y="400002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a:t>
              </a:r>
            </a:p>
          </p:txBody>
        </p:sp>
        <p:grpSp>
          <p:nvGrpSpPr>
            <p:cNvPr id="65" name="Group 65"/>
            <p:cNvGrpSpPr/>
            <p:nvPr/>
          </p:nvGrpSpPr>
          <p:grpSpPr>
            <a:xfrm>
              <a:off x="759619" y="3940969"/>
              <a:ext cx="214312" cy="214312"/>
              <a:chOff x="759619" y="3940969"/>
              <a:chExt cx="214312" cy="214312"/>
            </a:xfrm>
          </p:grpSpPr>
          <p:sp>
            <p:nvSpPr>
              <p:cNvPr id="59" name="Freeform 59"/>
              <p:cNvSpPr/>
              <p:nvPr/>
            </p:nvSpPr>
            <p:spPr>
              <a:xfrm>
                <a:off x="842962" y="403621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721E0D"/>
                </a:solidFill>
              </a:ln>
            </p:spPr>
          </p:sp>
          <p:sp>
            <p:nvSpPr>
              <p:cNvPr id="60" name="Freeform 60"/>
              <p:cNvSpPr/>
              <p:nvPr/>
            </p:nvSpPr>
            <p:spPr>
              <a:xfrm>
                <a:off x="819150" y="4119562"/>
                <a:ext cx="95250" cy="35719"/>
              </a:xfrm>
              <a:custGeom>
                <a:avLst/>
                <a:gdLst/>
                <a:ahLst/>
                <a:cxnLst/>
                <a:rect l="l" t="t" r="r" b="b"/>
                <a:pathLst>
                  <a:path w="95250" h="35719">
                    <a:moveTo>
                      <a:pt x="0" y="35719"/>
                    </a:moveTo>
                    <a:lnTo>
                      <a:pt x="0" y="23812"/>
                    </a:lnTo>
                    <a:cubicBezTo>
                      <a:pt x="0" y="10661"/>
                      <a:pt x="10661" y="0"/>
                      <a:pt x="23812" y="0"/>
                    </a:cubicBezTo>
                    <a:lnTo>
                      <a:pt x="71438" y="0"/>
                    </a:lnTo>
                    <a:cubicBezTo>
                      <a:pt x="84589" y="0"/>
                      <a:pt x="95250" y="10661"/>
                      <a:pt x="95250" y="23812"/>
                    </a:cubicBezTo>
                    <a:lnTo>
                      <a:pt x="95250" y="35719"/>
                    </a:lnTo>
                  </a:path>
                </a:pathLst>
              </a:custGeom>
              <a:noFill/>
              <a:ln w="23812">
                <a:solidFill>
                  <a:srgbClr val="721E0D"/>
                </a:solidFill>
              </a:ln>
            </p:spPr>
          </p:sp>
          <p:sp>
            <p:nvSpPr>
              <p:cNvPr id="61" name="Freeform 61"/>
              <p:cNvSpPr/>
              <p:nvPr/>
            </p:nvSpPr>
            <p:spPr>
              <a:xfrm>
                <a:off x="902494" y="394096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721E0D"/>
                </a:solidFill>
              </a:ln>
            </p:spPr>
          </p:sp>
          <p:sp>
            <p:nvSpPr>
              <p:cNvPr id="62" name="Freeform 62"/>
              <p:cNvSpPr/>
              <p:nvPr/>
            </p:nvSpPr>
            <p:spPr>
              <a:xfrm>
                <a:off x="926306" y="4024312"/>
                <a:ext cx="47625" cy="35719"/>
              </a:xfrm>
              <a:custGeom>
                <a:avLst/>
                <a:gdLst/>
                <a:ahLst/>
                <a:cxnLst/>
                <a:rect l="l" t="t" r="r" b="b"/>
                <a:pathLst>
                  <a:path w="47625" h="35719">
                    <a:moveTo>
                      <a:pt x="0" y="0"/>
                    </a:moveTo>
                    <a:lnTo>
                      <a:pt x="23812" y="0"/>
                    </a:lnTo>
                    <a:cubicBezTo>
                      <a:pt x="36964" y="0"/>
                      <a:pt x="47625" y="10661"/>
                      <a:pt x="47625" y="23812"/>
                    </a:cubicBezTo>
                    <a:lnTo>
                      <a:pt x="47625" y="35719"/>
                    </a:lnTo>
                  </a:path>
                </a:pathLst>
              </a:custGeom>
              <a:noFill/>
              <a:ln w="23812">
                <a:solidFill>
                  <a:srgbClr val="721E0D"/>
                </a:solidFill>
              </a:ln>
            </p:spPr>
          </p:sp>
          <p:sp>
            <p:nvSpPr>
              <p:cNvPr id="63" name="Freeform 63"/>
              <p:cNvSpPr/>
              <p:nvPr/>
            </p:nvSpPr>
            <p:spPr>
              <a:xfrm>
                <a:off x="783431" y="3940969"/>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721E0D"/>
                </a:solidFill>
              </a:ln>
            </p:spPr>
          </p:sp>
          <p:sp>
            <p:nvSpPr>
              <p:cNvPr id="64" name="Freeform 64"/>
              <p:cNvSpPr/>
              <p:nvPr/>
            </p:nvSpPr>
            <p:spPr>
              <a:xfrm>
                <a:off x="759619" y="4024312"/>
                <a:ext cx="47625" cy="35719"/>
              </a:xfrm>
              <a:custGeom>
                <a:avLst/>
                <a:gdLst/>
                <a:ahLst/>
                <a:cxnLst/>
                <a:rect l="l" t="t" r="r" b="b"/>
                <a:pathLst>
                  <a:path w="47625" h="35719">
                    <a:moveTo>
                      <a:pt x="0" y="35719"/>
                    </a:moveTo>
                    <a:lnTo>
                      <a:pt x="0" y="23812"/>
                    </a:lnTo>
                    <a:cubicBezTo>
                      <a:pt x="0" y="10661"/>
                      <a:pt x="10661" y="0"/>
                      <a:pt x="23812" y="0"/>
                    </a:cubicBezTo>
                    <a:lnTo>
                      <a:pt x="47625" y="0"/>
                    </a:lnTo>
                  </a:path>
                </a:pathLst>
              </a:custGeom>
              <a:noFill/>
              <a:ln w="23812">
                <a:solidFill>
                  <a:srgbClr val="721E0D"/>
                </a:solidFill>
              </a:ln>
            </p:spPr>
          </p:sp>
        </p:grpSp>
        <p:sp>
          <p:nvSpPr>
            <p:cNvPr id="66" name="TextBox 66"/>
            <p:cNvSpPr txBox="1"/>
            <p:nvPr/>
          </p:nvSpPr>
          <p:spPr>
            <a:xfrm>
              <a:off x="1062038" y="3998595"/>
              <a:ext cx="736473" cy="176212"/>
            </a:xfrm>
            <a:prstGeom prst="rect">
              <a:avLst/>
            </a:prstGeom>
            <a:noFill/>
            <a:ln>
              <a:noFill/>
            </a:ln>
          </p:spPr>
          <p:txBody>
            <a:bodyPr wrap="none" lIns="0" tIns="0" rIns="0" bIns="0" anchor="t" anchorCtr="0">
              <a:spAutoFit/>
            </a:bodyPr>
            <a:lstStyle/>
            <a:p>
              <a:pPr algn="l"/>
              <a:r>
                <a:rPr lang="zh-CN" sz="900" b="1" dirty="0">
                  <a:solidFill>
                    <a:srgbClr val="461910"/>
                  </a:solidFill>
                  <a:latin typeface="+mn-lt"/>
                  <a:ea typeface="+mn-ea"/>
                  <a:cs typeface="+mn-cs"/>
                </a:rPr>
                <a:t>售前资源不足</a:t>
              </a:r>
            </a:p>
          </p:txBody>
        </p:sp>
        <p:sp>
          <p:nvSpPr>
            <p:cNvPr id="67" name="TextBox 67"/>
            <p:cNvSpPr txBox="1"/>
            <p:nvPr/>
          </p:nvSpPr>
          <p:spPr>
            <a:xfrm>
              <a:off x="2052638" y="3786188"/>
              <a:ext cx="797242"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售前人力缺口大</a:t>
              </a:r>
            </a:p>
          </p:txBody>
        </p:sp>
        <p:sp>
          <p:nvSpPr>
            <p:cNvPr id="68" name="TextBox 68"/>
            <p:cNvSpPr txBox="1"/>
            <p:nvPr/>
          </p:nvSpPr>
          <p:spPr>
            <a:xfrm>
              <a:off x="2052638" y="3995738"/>
              <a:ext cx="797242"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交付技术排期慢</a:t>
              </a:r>
            </a:p>
          </p:txBody>
        </p:sp>
        <p:sp>
          <p:nvSpPr>
            <p:cNvPr id="69" name="TextBox 69"/>
            <p:cNvSpPr txBox="1"/>
            <p:nvPr/>
          </p:nvSpPr>
          <p:spPr>
            <a:xfrm>
              <a:off x="2052638" y="4205288"/>
              <a:ext cx="999172"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专家支持响应不及时</a:t>
              </a:r>
            </a:p>
          </p:txBody>
        </p:sp>
        <p:sp>
          <p:nvSpPr>
            <p:cNvPr id="70" name="TextBox 70"/>
            <p:cNvSpPr txBox="1"/>
            <p:nvPr/>
          </p:nvSpPr>
          <p:spPr>
            <a:xfrm>
              <a:off x="3767138" y="3786188"/>
              <a:ext cx="1201102"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售前人力补充与团队建设</a:t>
              </a:r>
            </a:p>
          </p:txBody>
        </p:sp>
        <p:sp>
          <p:nvSpPr>
            <p:cNvPr id="71" name="TextBox 71"/>
            <p:cNvSpPr txBox="1"/>
            <p:nvPr/>
          </p:nvSpPr>
          <p:spPr>
            <a:xfrm>
              <a:off x="3767138" y="3995738"/>
              <a:ext cx="1100138"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资源池与快速调度机制</a:t>
              </a:r>
            </a:p>
          </p:txBody>
        </p:sp>
        <p:sp>
          <p:nvSpPr>
            <p:cNvPr id="72" name="TextBox 72"/>
            <p:cNvSpPr txBox="1"/>
            <p:nvPr/>
          </p:nvSpPr>
          <p:spPr>
            <a:xfrm>
              <a:off x="3767138" y="4205288"/>
              <a:ext cx="1201102"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专家网络与协同机制优化</a:t>
              </a:r>
            </a:p>
          </p:txBody>
        </p:sp>
        <p:grpSp>
          <p:nvGrpSpPr>
            <p:cNvPr id="75" name="Group 75"/>
            <p:cNvGrpSpPr/>
            <p:nvPr/>
          </p:nvGrpSpPr>
          <p:grpSpPr>
            <a:xfrm>
              <a:off x="5557838" y="3983038"/>
              <a:ext cx="200026" cy="111125"/>
              <a:chOff x="5557838" y="3983038"/>
              <a:chExt cx="200026" cy="111125"/>
            </a:xfrm>
          </p:grpSpPr>
          <p:sp>
            <p:nvSpPr>
              <p:cNvPr id="73" name="Freeform 73"/>
              <p:cNvSpPr/>
              <p:nvPr/>
            </p:nvSpPr>
            <p:spPr>
              <a:xfrm>
                <a:off x="5557838" y="39830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B8351A"/>
                </a:solidFill>
              </a:ln>
            </p:spPr>
          </p:sp>
          <p:sp>
            <p:nvSpPr>
              <p:cNvPr id="74" name="Freeform 74"/>
              <p:cNvSpPr/>
              <p:nvPr/>
            </p:nvSpPr>
            <p:spPr>
              <a:xfrm>
                <a:off x="5680075" y="3983038"/>
                <a:ext cx="77788" cy="77788"/>
              </a:xfrm>
              <a:custGeom>
                <a:avLst/>
                <a:gdLst/>
                <a:ahLst/>
                <a:cxnLst/>
                <a:rect l="l" t="t" r="r" b="b"/>
                <a:pathLst>
                  <a:path w="77788" h="77788">
                    <a:moveTo>
                      <a:pt x="0" y="0"/>
                    </a:moveTo>
                    <a:lnTo>
                      <a:pt x="77788" y="0"/>
                    </a:lnTo>
                    <a:lnTo>
                      <a:pt x="77788" y="77788"/>
                    </a:lnTo>
                  </a:path>
                </a:pathLst>
              </a:custGeom>
              <a:noFill/>
              <a:ln w="22225">
                <a:solidFill>
                  <a:srgbClr val="B8351A"/>
                </a:solidFill>
              </a:ln>
            </p:spPr>
          </p:sp>
        </p:grpSp>
        <p:sp>
          <p:nvSpPr>
            <p:cNvPr id="76" name="TextBox 76"/>
            <p:cNvSpPr txBox="1"/>
            <p:nvPr/>
          </p:nvSpPr>
          <p:spPr>
            <a:xfrm>
              <a:off x="5843588" y="3828336"/>
              <a:ext cx="487426"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赢单率提升</a:t>
              </a:r>
            </a:p>
          </p:txBody>
        </p:sp>
        <p:sp>
          <p:nvSpPr>
            <p:cNvPr id="77" name="TextBox 77"/>
            <p:cNvSpPr txBox="1"/>
            <p:nvPr/>
          </p:nvSpPr>
          <p:spPr>
            <a:xfrm>
              <a:off x="5842635" y="4012406"/>
              <a:ext cx="620936" cy="220028"/>
            </a:xfrm>
            <a:prstGeom prst="rect">
              <a:avLst/>
            </a:prstGeom>
            <a:noFill/>
            <a:ln>
              <a:noFill/>
            </a:ln>
          </p:spPr>
          <p:txBody>
            <a:bodyPr wrap="none" lIns="0" tIns="0" rIns="0" bIns="0" anchor="t" anchorCtr="0">
              <a:spAutoFit/>
            </a:bodyPr>
            <a:lstStyle/>
            <a:p>
              <a:pPr algn="l"/>
              <a:r>
                <a:rPr lang="zh-CN" sz="1120" b="1" dirty="0">
                  <a:solidFill>
                    <a:srgbClr val="B8351A"/>
                  </a:solidFill>
                  <a:latin typeface="+mn-lt"/>
                  <a:ea typeface="+mn-ea"/>
                  <a:cs typeface="+mn-cs"/>
                </a:rPr>
                <a:t xml:space="preserve">+2~4   </a:t>
              </a:r>
            </a:p>
          </p:txBody>
        </p:sp>
        <p:sp>
          <p:nvSpPr>
            <p:cNvPr id="78" name="TextBox 78"/>
            <p:cNvSpPr txBox="1"/>
            <p:nvPr/>
          </p:nvSpPr>
          <p:spPr>
            <a:xfrm>
              <a:off x="5843588" y="4228386"/>
              <a:ext cx="324940" cy="140494"/>
            </a:xfrm>
            <a:prstGeom prst="rect">
              <a:avLst/>
            </a:prstGeom>
            <a:noFill/>
            <a:ln>
              <a:noFill/>
            </a:ln>
          </p:spPr>
          <p:txBody>
            <a:bodyPr wrap="none" lIns="0" tIns="0" rIns="0" bIns="0" anchor="t" anchorCtr="0">
              <a:spAutoFit/>
            </a:bodyPr>
            <a:lstStyle/>
            <a:p>
              <a:pPr algn="l"/>
              <a:r>
                <a:rPr lang="en-US" sz="710" dirty="0">
                  <a:solidFill>
                    <a:srgbClr val="523E3A"/>
                  </a:solidFill>
                  <a:latin typeface="+mn-lt"/>
                  <a:ea typeface="+mn-ea"/>
                  <a:cs typeface="+mn-cs"/>
                </a:rPr>
                <a:t>pct</a:t>
              </a:r>
              <a:r>
                <a:rPr lang="zh-CN" sz="710" dirty="0">
                  <a:solidFill>
                    <a:srgbClr val="523E3A"/>
                  </a:solidFill>
                  <a:latin typeface="+mn-lt"/>
                  <a:ea typeface="+mn-ea"/>
                  <a:cs typeface="+mn-cs"/>
                </a:rPr>
                <a:t xml:space="preserve">   </a:t>
              </a:r>
            </a:p>
          </p:txBody>
        </p:sp>
        <p:sp>
          <p:nvSpPr>
            <p:cNvPr id="79" name="Line 79"/>
            <p:cNvSpPr/>
            <p:nvPr/>
          </p:nvSpPr>
          <p:spPr>
            <a:xfrm>
              <a:off x="323850" y="4562475"/>
              <a:ext cx="6134100" cy="9525"/>
            </a:xfrm>
            <a:custGeom>
              <a:avLst/>
              <a:gdLst/>
              <a:ahLst/>
              <a:cxnLst/>
              <a:rect l="l" t="t" r="r" b="b"/>
              <a:pathLst>
                <a:path w="6134100" h="9525">
                  <a:moveTo>
                    <a:pt x="0" y="0"/>
                  </a:moveTo>
                  <a:lnTo>
                    <a:pt x="6134100" y="0"/>
                  </a:lnTo>
                </a:path>
              </a:pathLst>
            </a:custGeom>
            <a:noFill/>
            <a:ln w="9525">
              <a:solidFill>
                <a:srgbClr val="DCE6F6"/>
              </a:solidFill>
            </a:ln>
          </p:spPr>
        </p:sp>
        <p:sp>
          <p:nvSpPr>
            <p:cNvPr id="80" name="Ellipse 80"/>
            <p:cNvSpPr/>
            <p:nvPr/>
          </p:nvSpPr>
          <p:spPr>
            <a:xfrm>
              <a:off x="371475" y="5000625"/>
              <a:ext cx="247650" cy="247650"/>
            </a:xfrm>
            <a:prstGeom prst="ellipse">
              <a:avLst/>
            </a:prstGeom>
            <a:solidFill>
              <a:srgbClr val="721E0D"/>
            </a:solidFill>
            <a:ln>
              <a:noFill/>
            </a:ln>
          </p:spPr>
        </p:sp>
        <p:sp>
          <p:nvSpPr>
            <p:cNvPr id="81" name="TextBox 81"/>
            <p:cNvSpPr txBox="1"/>
            <p:nvPr/>
          </p:nvSpPr>
          <p:spPr>
            <a:xfrm>
              <a:off x="452253" y="506682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4</a:t>
              </a:r>
            </a:p>
          </p:txBody>
        </p:sp>
        <p:grpSp>
          <p:nvGrpSpPr>
            <p:cNvPr id="86" name="Group 86"/>
            <p:cNvGrpSpPr/>
            <p:nvPr/>
          </p:nvGrpSpPr>
          <p:grpSpPr>
            <a:xfrm>
              <a:off x="783431" y="5019675"/>
              <a:ext cx="178595" cy="202406"/>
              <a:chOff x="783431" y="5019675"/>
              <a:chExt cx="178595" cy="202406"/>
            </a:xfrm>
          </p:grpSpPr>
          <p:sp>
            <p:nvSpPr>
              <p:cNvPr id="82" name="Freeform 82"/>
              <p:cNvSpPr/>
              <p:nvPr/>
            </p:nvSpPr>
            <p:spPr>
              <a:xfrm>
                <a:off x="783431" y="5019675"/>
                <a:ext cx="142875" cy="190500"/>
              </a:xfrm>
              <a:custGeom>
                <a:avLst/>
                <a:gdLst/>
                <a:ahLst/>
                <a:cxnLst/>
                <a:rect l="l" t="t" r="r" b="b"/>
                <a:pathLst>
                  <a:path w="142875" h="190500">
                    <a:moveTo>
                      <a:pt x="54947" y="190500"/>
                    </a:moveTo>
                    <a:lnTo>
                      <a:pt x="23812" y="190500"/>
                    </a:lnTo>
                    <a:cubicBezTo>
                      <a:pt x="10661" y="190500"/>
                      <a:pt x="0" y="179839"/>
                      <a:pt x="0" y="166688"/>
                    </a:cubicBezTo>
                    <a:lnTo>
                      <a:pt x="0" y="23812"/>
                    </a:lnTo>
                    <a:cubicBezTo>
                      <a:pt x="0" y="10661"/>
                      <a:pt x="10661" y="0"/>
                      <a:pt x="23812" y="0"/>
                    </a:cubicBezTo>
                    <a:lnTo>
                      <a:pt x="119062" y="0"/>
                    </a:lnTo>
                    <a:cubicBezTo>
                      <a:pt x="132214" y="0"/>
                      <a:pt x="142875" y="10661"/>
                      <a:pt x="142875" y="23812"/>
                    </a:cubicBezTo>
                    <a:lnTo>
                      <a:pt x="142875" y="119062"/>
                    </a:lnTo>
                  </a:path>
                </a:pathLst>
              </a:custGeom>
              <a:noFill/>
              <a:ln w="23812">
                <a:solidFill>
                  <a:srgbClr val="721E0D"/>
                </a:solidFill>
              </a:ln>
            </p:spPr>
          </p:sp>
          <p:sp>
            <p:nvSpPr>
              <p:cNvPr id="83" name="Freeform 83"/>
              <p:cNvSpPr/>
              <p:nvPr/>
            </p:nvSpPr>
            <p:spPr>
              <a:xfrm>
                <a:off x="890588" y="5174456"/>
                <a:ext cx="71438" cy="47625"/>
              </a:xfrm>
              <a:custGeom>
                <a:avLst/>
                <a:gdLst/>
                <a:ahLst/>
                <a:cxnLst/>
                <a:rect l="l" t="t" r="r" b="b"/>
                <a:pathLst>
                  <a:path w="71438" h="47625">
                    <a:moveTo>
                      <a:pt x="0" y="23812"/>
                    </a:moveTo>
                    <a:lnTo>
                      <a:pt x="23812" y="47625"/>
                    </a:lnTo>
                    <a:lnTo>
                      <a:pt x="71438" y="0"/>
                    </a:lnTo>
                  </a:path>
                </a:pathLst>
              </a:custGeom>
              <a:noFill/>
              <a:ln w="23812">
                <a:solidFill>
                  <a:srgbClr val="721E0D"/>
                </a:solidFill>
              </a:ln>
            </p:spPr>
          </p:sp>
          <p:sp>
            <p:nvSpPr>
              <p:cNvPr id="84" name="Freeform 84"/>
              <p:cNvSpPr/>
              <p:nvPr/>
            </p:nvSpPr>
            <p:spPr>
              <a:xfrm>
                <a:off x="831056" y="5067300"/>
                <a:ext cx="47625" cy="9525"/>
              </a:xfrm>
              <a:custGeom>
                <a:avLst/>
                <a:gdLst/>
                <a:ahLst/>
                <a:cxnLst/>
                <a:rect l="l" t="t" r="r" b="b"/>
                <a:pathLst>
                  <a:path w="47625" h="9525">
                    <a:moveTo>
                      <a:pt x="0" y="0"/>
                    </a:moveTo>
                    <a:lnTo>
                      <a:pt x="47625" y="0"/>
                    </a:lnTo>
                  </a:path>
                </a:pathLst>
              </a:custGeom>
              <a:noFill/>
              <a:ln w="23812">
                <a:solidFill>
                  <a:srgbClr val="721E0D"/>
                </a:solidFill>
              </a:ln>
            </p:spPr>
          </p:sp>
          <p:sp>
            <p:nvSpPr>
              <p:cNvPr id="85" name="Freeform 85"/>
              <p:cNvSpPr/>
              <p:nvPr/>
            </p:nvSpPr>
            <p:spPr>
              <a:xfrm>
                <a:off x="831056" y="5114925"/>
                <a:ext cx="23812" cy="9525"/>
              </a:xfrm>
              <a:custGeom>
                <a:avLst/>
                <a:gdLst/>
                <a:ahLst/>
                <a:cxnLst/>
                <a:rect l="l" t="t" r="r" b="b"/>
                <a:pathLst>
                  <a:path w="23812" h="9525">
                    <a:moveTo>
                      <a:pt x="0" y="0"/>
                    </a:moveTo>
                    <a:lnTo>
                      <a:pt x="23812" y="0"/>
                    </a:lnTo>
                  </a:path>
                </a:pathLst>
              </a:custGeom>
              <a:noFill/>
              <a:ln w="23812">
                <a:solidFill>
                  <a:srgbClr val="721E0D"/>
                </a:solidFill>
              </a:ln>
            </p:spPr>
          </p:sp>
        </p:grpSp>
        <p:sp>
          <p:nvSpPr>
            <p:cNvPr id="87" name="TextBox 87"/>
            <p:cNvSpPr txBox="1"/>
            <p:nvPr/>
          </p:nvSpPr>
          <p:spPr>
            <a:xfrm>
              <a:off x="1062038" y="5065395"/>
              <a:ext cx="736473" cy="176212"/>
            </a:xfrm>
            <a:prstGeom prst="rect">
              <a:avLst/>
            </a:prstGeom>
            <a:noFill/>
            <a:ln>
              <a:noFill/>
            </a:ln>
          </p:spPr>
          <p:txBody>
            <a:bodyPr wrap="none" lIns="0" tIns="0" rIns="0" bIns="0" anchor="t" anchorCtr="0">
              <a:spAutoFit/>
            </a:bodyPr>
            <a:lstStyle/>
            <a:p>
              <a:pPr algn="l"/>
              <a:r>
                <a:rPr lang="zh-CN" sz="900" b="1" dirty="0">
                  <a:solidFill>
                    <a:srgbClr val="461910"/>
                  </a:solidFill>
                  <a:latin typeface="+mn-lt"/>
                  <a:ea typeface="+mn-ea"/>
                  <a:cs typeface="+mn-cs"/>
                </a:rPr>
                <a:t>商务策略僵化</a:t>
              </a:r>
            </a:p>
          </p:txBody>
        </p:sp>
        <p:sp>
          <p:nvSpPr>
            <p:cNvPr id="88" name="TextBox 88"/>
            <p:cNvSpPr txBox="1"/>
            <p:nvPr/>
          </p:nvSpPr>
          <p:spPr>
            <a:xfrm>
              <a:off x="2052638" y="4852988"/>
              <a:ext cx="696278"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报价缺乏弹性</a:t>
              </a:r>
            </a:p>
          </p:txBody>
        </p:sp>
        <p:sp>
          <p:nvSpPr>
            <p:cNvPr id="89" name="TextBox 89"/>
            <p:cNvSpPr txBox="1"/>
            <p:nvPr/>
          </p:nvSpPr>
          <p:spPr>
            <a:xfrm>
              <a:off x="2052638" y="5062538"/>
              <a:ext cx="898208"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合同条款缺乏创新</a:t>
              </a:r>
            </a:p>
          </p:txBody>
        </p:sp>
        <p:sp>
          <p:nvSpPr>
            <p:cNvPr id="90" name="TextBox 90"/>
            <p:cNvSpPr txBox="1"/>
            <p:nvPr/>
          </p:nvSpPr>
          <p:spPr>
            <a:xfrm>
              <a:off x="2052638" y="5272088"/>
              <a:ext cx="999172" cy="147638"/>
            </a:xfrm>
            <a:prstGeom prst="rect">
              <a:avLst/>
            </a:prstGeom>
            <a:noFill/>
            <a:ln>
              <a:noFill/>
            </a:ln>
          </p:spPr>
          <p:txBody>
            <a:bodyPr wrap="none" lIns="0" tIns="0" rIns="0" bIns="0" anchor="t" anchorCtr="0">
              <a:spAutoFit/>
            </a:bodyPr>
            <a:lstStyle/>
            <a:p>
              <a:pPr algn="l" marL="80962" indent="-80962">
                <a:buClr>
                  <a:srgbClr val="523E3A"/>
                </a:buClr>
                <a:buSzTx/>
                <a:buFontTx/>
                <a:buChar char="•"/>
              </a:pPr>
              <a:r>
                <a:rPr lang="zh-CN" sz="750" dirty="0">
                  <a:solidFill>
                    <a:srgbClr val="523E3A"/>
                  </a:solidFill>
                  <a:latin typeface="+mn-lt"/>
                  <a:ea typeface="+mn-ea"/>
                  <a:cs typeface="+mn-cs"/>
                </a:rPr>
                <a:t>价值主张不够差异化</a:t>
              </a:r>
            </a:p>
          </p:txBody>
        </p:sp>
        <p:sp>
          <p:nvSpPr>
            <p:cNvPr id="91" name="TextBox 91"/>
            <p:cNvSpPr txBox="1"/>
            <p:nvPr/>
          </p:nvSpPr>
          <p:spPr>
            <a:xfrm>
              <a:off x="3767138" y="4852988"/>
              <a:ext cx="1201102"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分层定价与灵活报价机制</a:t>
              </a:r>
            </a:p>
          </p:txBody>
        </p:sp>
        <p:sp>
          <p:nvSpPr>
            <p:cNvPr id="92" name="TextBox 92"/>
            <p:cNvSpPr txBox="1"/>
            <p:nvPr/>
          </p:nvSpPr>
          <p:spPr>
            <a:xfrm>
              <a:off x="3767138" y="5062538"/>
              <a:ext cx="1201102"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合同条款优化与风险共担</a:t>
              </a:r>
            </a:p>
          </p:txBody>
        </p:sp>
        <p:sp>
          <p:nvSpPr>
            <p:cNvPr id="93" name="TextBox 93"/>
            <p:cNvSpPr txBox="1"/>
            <p:nvPr/>
          </p:nvSpPr>
          <p:spPr>
            <a:xfrm>
              <a:off x="3767138" y="5272088"/>
              <a:ext cx="1302068" cy="147638"/>
            </a:xfrm>
            <a:prstGeom prst="rect">
              <a:avLst/>
            </a:prstGeom>
            <a:noFill/>
            <a:ln>
              <a:noFill/>
            </a:ln>
          </p:spPr>
          <p:txBody>
            <a:bodyPr wrap="none" lIns="0" tIns="0" rIns="0" bIns="0" anchor="t" anchorCtr="0">
              <a:spAutoFit/>
            </a:bodyPr>
            <a:lstStyle/>
            <a:p>
              <a:pPr algn="l" marL="80962" indent="-80962">
                <a:buClr>
                  <a:srgbClr val="B8351A"/>
                </a:buClr>
                <a:buSzTx/>
                <a:buFontTx/>
                <a:buChar char="•"/>
              </a:pPr>
              <a:r>
                <a:rPr lang="zh-CN" sz="750" dirty="0">
                  <a:solidFill>
                    <a:srgbClr val="B8351A"/>
                  </a:solidFill>
                  <a:latin typeface="+mn-lt"/>
                  <a:ea typeface="+mn-ea"/>
                  <a:cs typeface="+mn-cs"/>
                </a:rPr>
                <a:t>差异化价值主张提炼与传播</a:t>
              </a:r>
            </a:p>
          </p:txBody>
        </p:sp>
        <p:grpSp>
          <p:nvGrpSpPr>
            <p:cNvPr id="96" name="Group 96"/>
            <p:cNvGrpSpPr/>
            <p:nvPr/>
          </p:nvGrpSpPr>
          <p:grpSpPr>
            <a:xfrm>
              <a:off x="5557838" y="5049838"/>
              <a:ext cx="200026" cy="111125"/>
              <a:chOff x="5557838" y="5049838"/>
              <a:chExt cx="200026" cy="111125"/>
            </a:xfrm>
          </p:grpSpPr>
          <p:sp>
            <p:nvSpPr>
              <p:cNvPr id="94" name="Freeform 94"/>
              <p:cNvSpPr/>
              <p:nvPr/>
            </p:nvSpPr>
            <p:spPr>
              <a:xfrm>
                <a:off x="5557838" y="50498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rgbClr val="B8351A"/>
                </a:solidFill>
              </a:ln>
            </p:spPr>
          </p:sp>
          <p:sp>
            <p:nvSpPr>
              <p:cNvPr id="95" name="Freeform 95"/>
              <p:cNvSpPr/>
              <p:nvPr/>
            </p:nvSpPr>
            <p:spPr>
              <a:xfrm>
                <a:off x="5680075" y="5049838"/>
                <a:ext cx="77788" cy="77788"/>
              </a:xfrm>
              <a:custGeom>
                <a:avLst/>
                <a:gdLst/>
                <a:ahLst/>
                <a:cxnLst/>
                <a:rect l="l" t="t" r="r" b="b"/>
                <a:pathLst>
                  <a:path w="77788" h="77788">
                    <a:moveTo>
                      <a:pt x="0" y="0"/>
                    </a:moveTo>
                    <a:lnTo>
                      <a:pt x="77788" y="0"/>
                    </a:lnTo>
                    <a:lnTo>
                      <a:pt x="77788" y="77788"/>
                    </a:lnTo>
                  </a:path>
                </a:pathLst>
              </a:custGeom>
              <a:noFill/>
              <a:ln w="22225">
                <a:solidFill>
                  <a:srgbClr val="B8351A"/>
                </a:solidFill>
              </a:ln>
            </p:spPr>
          </p:sp>
        </p:grpSp>
        <p:sp>
          <p:nvSpPr>
            <p:cNvPr id="97" name="TextBox 97"/>
            <p:cNvSpPr txBox="1"/>
            <p:nvPr/>
          </p:nvSpPr>
          <p:spPr>
            <a:xfrm>
              <a:off x="5843588" y="4895136"/>
              <a:ext cx="487426"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毛利率提升</a:t>
              </a:r>
            </a:p>
          </p:txBody>
        </p:sp>
        <p:sp>
          <p:nvSpPr>
            <p:cNvPr id="98" name="TextBox 98"/>
            <p:cNvSpPr txBox="1"/>
            <p:nvPr/>
          </p:nvSpPr>
          <p:spPr>
            <a:xfrm>
              <a:off x="5842635" y="5079206"/>
              <a:ext cx="620936" cy="220028"/>
            </a:xfrm>
            <a:prstGeom prst="rect">
              <a:avLst/>
            </a:prstGeom>
            <a:noFill/>
            <a:ln>
              <a:noFill/>
            </a:ln>
          </p:spPr>
          <p:txBody>
            <a:bodyPr wrap="none" lIns="0" tIns="0" rIns="0" bIns="0" anchor="t" anchorCtr="0">
              <a:spAutoFit/>
            </a:bodyPr>
            <a:lstStyle/>
            <a:p>
              <a:pPr algn="l"/>
              <a:r>
                <a:rPr lang="zh-CN" sz="1120" b="1" dirty="0">
                  <a:solidFill>
                    <a:srgbClr val="B8351A"/>
                  </a:solidFill>
                  <a:latin typeface="+mn-lt"/>
                  <a:ea typeface="+mn-ea"/>
                  <a:cs typeface="+mn-cs"/>
                </a:rPr>
                <a:t xml:space="preserve">+1~3   </a:t>
              </a:r>
            </a:p>
          </p:txBody>
        </p:sp>
        <p:sp>
          <p:nvSpPr>
            <p:cNvPr id="99" name="TextBox 99"/>
            <p:cNvSpPr txBox="1"/>
            <p:nvPr/>
          </p:nvSpPr>
          <p:spPr>
            <a:xfrm>
              <a:off x="5843588" y="5295186"/>
              <a:ext cx="324940" cy="140494"/>
            </a:xfrm>
            <a:prstGeom prst="rect">
              <a:avLst/>
            </a:prstGeom>
            <a:noFill/>
            <a:ln>
              <a:noFill/>
            </a:ln>
          </p:spPr>
          <p:txBody>
            <a:bodyPr wrap="none" lIns="0" tIns="0" rIns="0" bIns="0" anchor="t" anchorCtr="0">
              <a:spAutoFit/>
            </a:bodyPr>
            <a:lstStyle/>
            <a:p>
              <a:pPr algn="l"/>
              <a:r>
                <a:rPr lang="en-US" sz="710" dirty="0">
                  <a:solidFill>
                    <a:srgbClr val="523E3A"/>
                  </a:solidFill>
                  <a:latin typeface="+mn-lt"/>
                  <a:ea typeface="+mn-ea"/>
                  <a:cs typeface="+mn-cs"/>
                </a:rPr>
                <a:t>pct</a:t>
              </a:r>
              <a:r>
                <a:rPr lang="zh-CN" sz="710" dirty="0">
                  <a:solidFill>
                    <a:srgbClr val="523E3A"/>
                  </a:solidFill>
                  <a:latin typeface="+mn-lt"/>
                  <a:ea typeface="+mn-ea"/>
                  <a:cs typeface="+mn-cs"/>
                </a:rPr>
                <a:t xml:space="preserve">   </a:t>
              </a:r>
            </a:p>
          </p:txBody>
        </p:sp>
      </p:grpSp>
      <p:grpSp>
        <p:nvGrpSpPr>
          <p:cNvPr id="166" name="external-panel"/>
          <p:cNvGrpSpPr/>
          <p:nvPr/>
        </p:nvGrpSpPr>
        <p:grpSpPr>
          <a:xfrm>
            <a:off x="6705600" y="704850"/>
            <a:ext cx="5257800" cy="4991100"/>
            <a:chOff x="6705600" y="704850"/>
            <a:chExt cx="5257800" cy="4991100"/>
          </a:xfrm>
        </p:grpSpPr>
        <p:sp>
          <p:nvSpPr>
            <p:cNvPr id="101" name="Rectangle 101"/>
            <p:cNvSpPr/>
            <p:nvPr/>
          </p:nvSpPr>
          <p:spPr>
            <a:xfrm>
              <a:off x="6705600" y="704850"/>
              <a:ext cx="5257800" cy="4991100"/>
            </a:xfrm>
            <a:prstGeom prst="roundRect">
              <a:avLst>
                <a:gd name="adj" fmla="val 1908"/>
              </a:avLst>
            </a:prstGeom>
            <a:solidFill>
              <a:srgbClr val="FFFFFF"/>
            </a:solidFill>
            <a:ln w="14288">
              <a:solidFill>
                <a:srgbClr val="D5D8DF"/>
              </a:solidFill>
            </a:ln>
          </p:spPr>
        </p:sp>
        <p:sp>
          <p:nvSpPr>
            <p:cNvPr id="102" name="Freeform 102"/>
            <p:cNvSpPr/>
            <p:nvPr/>
          </p:nvSpPr>
          <p:spPr>
            <a:xfrm>
              <a:off x="6705600" y="704850"/>
              <a:ext cx="5257800" cy="419100"/>
            </a:xfrm>
            <a:custGeom>
              <a:avLst/>
              <a:gdLst/>
              <a:ahLst/>
              <a:cxnLst/>
              <a:rect l="l" t="t" r="r" b="b"/>
              <a:pathLst>
                <a:path w="5257800" h="419100">
                  <a:moveTo>
                    <a:pt x="95250" y="0"/>
                  </a:moveTo>
                  <a:lnTo>
                    <a:pt x="5162550" y="0"/>
                  </a:lnTo>
                  <a:cubicBezTo>
                    <a:pt x="5215155" y="0"/>
                    <a:pt x="5257800" y="42645"/>
                    <a:pt x="5257800" y="95250"/>
                  </a:cubicBezTo>
                  <a:lnTo>
                    <a:pt x="5257800" y="419100"/>
                  </a:lnTo>
                  <a:lnTo>
                    <a:pt x="0" y="419100"/>
                  </a:lnTo>
                  <a:lnTo>
                    <a:pt x="0" y="95250"/>
                  </a:lnTo>
                  <a:cubicBezTo>
                    <a:pt x="0" y="42645"/>
                    <a:pt x="42645" y="0"/>
                    <a:pt x="95250" y="0"/>
                  </a:cubicBezTo>
                  <a:close/>
                </a:path>
              </a:pathLst>
            </a:custGeom>
            <a:solidFill>
              <a:srgbClr val="707788"/>
            </a:solidFill>
            <a:ln>
              <a:noFill/>
            </a:ln>
          </p:spPr>
        </p:sp>
        <p:sp>
          <p:nvSpPr>
            <p:cNvPr id="103" name="TextBox 103"/>
            <p:cNvSpPr txBox="1"/>
            <p:nvPr/>
          </p:nvSpPr>
          <p:spPr>
            <a:xfrm>
              <a:off x="6870573" y="852964"/>
              <a:ext cx="271860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 xml:space="preserve">外部不可控因素 </a:t>
              </a:r>
              <a:r>
                <a:rPr lang="zh-CN" sz="900" dirty="0">
                  <a:solidFill>
                    <a:srgbClr val="FFFFFF"/>
                  </a:solidFill>
                  <a:latin typeface="+mn-lt"/>
                  <a:ea typeface="+mn-ea"/>
                  <a:cs typeface="+mn-cs"/>
                </a:rPr>
                <a:t>（规避或对冲）</a:t>
              </a:r>
              <a:r>
                <a:rPr lang="zh-CN" sz="1280" b="1" dirty="0">
                  <a:solidFill>
                    <a:srgbClr val="FFFFFF"/>
                  </a:solidFill>
                  <a:latin typeface="+mn-lt"/>
                  <a:ea typeface="+mn-ea"/>
                  <a:cs typeface="+mn-cs"/>
                </a:rPr>
                <a:t xml:space="preserve">      </a:t>
              </a:r>
            </a:p>
          </p:txBody>
        </p:sp>
        <p:sp>
          <p:nvSpPr>
            <p:cNvPr id="104" name="TextBox 104"/>
            <p:cNvSpPr txBox="1"/>
            <p:nvPr/>
          </p:nvSpPr>
          <p:spPr>
            <a:xfrm>
              <a:off x="10932978" y="772478"/>
              <a:ext cx="890976" cy="498729"/>
            </a:xfrm>
            <a:prstGeom prst="rect">
              <a:avLst/>
            </a:prstGeom>
            <a:noFill/>
            <a:ln>
              <a:noFill/>
            </a:ln>
          </p:spPr>
          <p:txBody>
            <a:bodyPr wrap="none" lIns="0" tIns="0" rIns="0" bIns="0" anchor="t" anchorCtr="0">
              <a:spAutoFit/>
            </a:bodyPr>
            <a:lstStyle/>
            <a:p>
              <a:pPr algn="r"/>
              <a:r>
                <a:rPr lang="zh-CN" sz="2550" b="1" dirty="0">
                  <a:solidFill>
                    <a:srgbClr val="FFFFFF"/>
                  </a:solidFill>
                  <a:latin typeface="+mn-lt"/>
                  <a:ea typeface="+mn-ea"/>
                  <a:cs typeface="+mn-cs"/>
                </a:rPr>
                <a:t xml:space="preserve"> 20%</a:t>
              </a:r>
            </a:p>
          </p:txBody>
        </p:sp>
        <p:sp>
          <p:nvSpPr>
            <p:cNvPr id="105" name="Rectangle 105"/>
            <p:cNvSpPr/>
            <p:nvPr/>
          </p:nvSpPr>
          <p:spPr>
            <a:xfrm>
              <a:off x="6705600" y="1123950"/>
              <a:ext cx="5257800" cy="228600"/>
            </a:xfrm>
            <a:prstGeom prst="rect">
              <a:avLst/>
            </a:prstGeom>
            <a:solidFill>
              <a:srgbClr val="F1F2F5"/>
            </a:solidFill>
            <a:ln>
              <a:noFill/>
            </a:ln>
          </p:spPr>
        </p:sp>
        <p:sp>
          <p:nvSpPr>
            <p:cNvPr id="106" name="TextBox 106"/>
            <p:cNvSpPr txBox="1"/>
            <p:nvPr/>
          </p:nvSpPr>
          <p:spPr>
            <a:xfrm>
              <a:off x="6823088" y="1191339"/>
              <a:ext cx="222225" cy="154781"/>
            </a:xfrm>
            <a:prstGeom prst="rect">
              <a:avLst/>
            </a:prstGeom>
            <a:noFill/>
            <a:ln>
              <a:noFill/>
            </a:ln>
          </p:spPr>
          <p:txBody>
            <a:bodyPr wrap="none" lIns="0" tIns="0" rIns="0" bIns="0" anchor="t" anchorCtr="0">
              <a:spAutoFit/>
            </a:bodyPr>
            <a:lstStyle/>
            <a:p>
              <a:pPr algn="ctr"/>
              <a:r>
                <a:rPr lang="zh-CN" sz="790" b="1" dirty="0">
                  <a:solidFill>
                    <a:srgbClr val="523E3A"/>
                  </a:solidFill>
                  <a:latin typeface="+mn-lt"/>
                  <a:ea typeface="+mn-ea"/>
                  <a:cs typeface="+mn-cs"/>
                </a:rPr>
                <a:t>序号</a:t>
              </a:r>
            </a:p>
          </p:txBody>
        </p:sp>
        <p:sp>
          <p:nvSpPr>
            <p:cNvPr id="107" name="TextBox 107"/>
            <p:cNvSpPr txBox="1"/>
            <p:nvPr/>
          </p:nvSpPr>
          <p:spPr>
            <a:xfrm>
              <a:off x="7554938" y="1191339"/>
              <a:ext cx="434924" cy="154781"/>
            </a:xfrm>
            <a:prstGeom prst="rect">
              <a:avLst/>
            </a:prstGeom>
            <a:noFill/>
            <a:ln>
              <a:noFill/>
            </a:ln>
          </p:spPr>
          <p:txBody>
            <a:bodyPr wrap="none" lIns="0" tIns="0" rIns="0" bIns="0" anchor="t" anchorCtr="0">
              <a:spAutoFit/>
            </a:bodyPr>
            <a:lstStyle/>
            <a:p>
              <a:pPr algn="ctr"/>
              <a:r>
                <a:rPr lang="zh-CN" sz="790" b="1" dirty="0">
                  <a:solidFill>
                    <a:srgbClr val="523E3A"/>
                  </a:solidFill>
                  <a:latin typeface="+mn-lt"/>
                  <a:ea typeface="+mn-ea"/>
                  <a:cs typeface="+mn-cs"/>
                </a:rPr>
                <a:t>归因维度</a:t>
              </a:r>
            </a:p>
          </p:txBody>
        </p:sp>
        <p:sp>
          <p:nvSpPr>
            <p:cNvPr id="108" name="TextBox 108"/>
            <p:cNvSpPr txBox="1"/>
            <p:nvPr/>
          </p:nvSpPr>
          <p:spPr>
            <a:xfrm>
              <a:off x="8783663" y="1191339"/>
              <a:ext cx="434924" cy="154781"/>
            </a:xfrm>
            <a:prstGeom prst="rect">
              <a:avLst/>
            </a:prstGeom>
            <a:noFill/>
            <a:ln>
              <a:noFill/>
            </a:ln>
          </p:spPr>
          <p:txBody>
            <a:bodyPr wrap="none" lIns="0" tIns="0" rIns="0" bIns="0" anchor="t" anchorCtr="0">
              <a:spAutoFit/>
            </a:bodyPr>
            <a:lstStyle/>
            <a:p>
              <a:pPr algn="ctr"/>
              <a:r>
                <a:rPr lang="zh-CN" sz="790" b="1" dirty="0">
                  <a:solidFill>
                    <a:srgbClr val="523E3A"/>
                  </a:solidFill>
                  <a:latin typeface="+mn-lt"/>
                  <a:ea typeface="+mn-ea"/>
                  <a:cs typeface="+mn-cs"/>
                </a:rPr>
                <a:t>核心影响</a:t>
              </a:r>
            </a:p>
          </p:txBody>
        </p:sp>
        <p:sp>
          <p:nvSpPr>
            <p:cNvPr id="109" name="TextBox 109"/>
            <p:cNvSpPr txBox="1"/>
            <p:nvPr/>
          </p:nvSpPr>
          <p:spPr>
            <a:xfrm>
              <a:off x="10017888" y="1191339"/>
              <a:ext cx="1547875" cy="154781"/>
            </a:xfrm>
            <a:prstGeom prst="rect">
              <a:avLst/>
            </a:prstGeom>
            <a:noFill/>
            <a:ln>
              <a:noFill/>
            </a:ln>
          </p:spPr>
          <p:txBody>
            <a:bodyPr wrap="none" lIns="0" tIns="0" rIns="0" bIns="0" anchor="t" anchorCtr="0">
              <a:spAutoFit/>
            </a:bodyPr>
            <a:lstStyle/>
            <a:p>
              <a:pPr algn="ctr"/>
              <a:r>
                <a:rPr lang="zh-CN" sz="790" b="1" dirty="0">
                  <a:solidFill>
                    <a:srgbClr val="523E3A"/>
                  </a:solidFill>
                  <a:latin typeface="+mn-lt"/>
                  <a:ea typeface="+mn-ea"/>
                  <a:cs typeface="+mn-cs"/>
                </a:rPr>
                <a:t xml:space="preserve">   应对策略（规避或对冲）   </a:t>
              </a:r>
            </a:p>
          </p:txBody>
        </p:sp>
        <p:sp>
          <p:nvSpPr>
            <p:cNvPr id="110" name="Ellipse 110"/>
            <p:cNvSpPr/>
            <p:nvPr/>
          </p:nvSpPr>
          <p:spPr>
            <a:xfrm>
              <a:off x="6810375" y="1800225"/>
              <a:ext cx="247650" cy="247650"/>
            </a:xfrm>
            <a:prstGeom prst="ellipse">
              <a:avLst/>
            </a:prstGeom>
            <a:solidFill>
              <a:srgbClr val="707788"/>
            </a:solidFill>
            <a:ln>
              <a:noFill/>
            </a:ln>
          </p:spPr>
        </p:sp>
        <p:sp>
          <p:nvSpPr>
            <p:cNvPr id="111" name="TextBox 111"/>
            <p:cNvSpPr txBox="1"/>
            <p:nvPr/>
          </p:nvSpPr>
          <p:spPr>
            <a:xfrm>
              <a:off x="6891153" y="186642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a:t>
              </a:r>
            </a:p>
          </p:txBody>
        </p:sp>
        <p:grpSp>
          <p:nvGrpSpPr>
            <p:cNvPr id="114" name="Group 114"/>
            <p:cNvGrpSpPr/>
            <p:nvPr/>
          </p:nvGrpSpPr>
          <p:grpSpPr>
            <a:xfrm>
              <a:off x="7240588" y="1858963"/>
              <a:ext cx="111125" cy="111125"/>
              <a:chOff x="7240588" y="1858963"/>
              <a:chExt cx="111125" cy="111125"/>
            </a:xfrm>
          </p:grpSpPr>
          <p:sp>
            <p:nvSpPr>
              <p:cNvPr id="112" name="Freeform 112"/>
              <p:cNvSpPr/>
              <p:nvPr/>
            </p:nvSpPr>
            <p:spPr>
              <a:xfrm>
                <a:off x="7240588" y="1858963"/>
                <a:ext cx="111125" cy="111125"/>
              </a:xfrm>
              <a:custGeom>
                <a:avLst/>
                <a:gdLst/>
                <a:ahLst/>
                <a:cxnLst/>
                <a:rect l="l" t="t" r="r" b="b"/>
                <a:pathLst>
                  <a:path w="111125" h="111125">
                    <a:moveTo>
                      <a:pt x="0" y="0"/>
                    </a:moveTo>
                    <a:lnTo>
                      <a:pt x="111125" y="111125"/>
                    </a:lnTo>
                  </a:path>
                </a:pathLst>
              </a:custGeom>
              <a:noFill/>
              <a:ln w="22225">
                <a:solidFill>
                  <a:srgbClr val="523E3A"/>
                </a:solidFill>
              </a:ln>
            </p:spPr>
          </p:sp>
          <p:sp>
            <p:nvSpPr>
              <p:cNvPr id="113" name="Freeform 113"/>
              <p:cNvSpPr/>
              <p:nvPr/>
            </p:nvSpPr>
            <p:spPr>
              <a:xfrm>
                <a:off x="7251700" y="1870075"/>
                <a:ext cx="100013" cy="100013"/>
              </a:xfrm>
              <a:custGeom>
                <a:avLst/>
                <a:gdLst/>
                <a:ahLst/>
                <a:cxnLst/>
                <a:rect l="l" t="t" r="r" b="b"/>
                <a:pathLst>
                  <a:path w="100013" h="100013">
                    <a:moveTo>
                      <a:pt x="100013" y="0"/>
                    </a:moveTo>
                    <a:lnTo>
                      <a:pt x="100013" y="100013"/>
                    </a:lnTo>
                    <a:lnTo>
                      <a:pt x="0" y="100013"/>
                    </a:lnTo>
                  </a:path>
                </a:pathLst>
              </a:custGeom>
              <a:noFill/>
              <a:ln w="22225">
                <a:solidFill>
                  <a:srgbClr val="523E3A"/>
                </a:solidFill>
              </a:ln>
            </p:spPr>
          </p:sp>
        </p:grpSp>
        <p:sp>
          <p:nvSpPr>
            <p:cNvPr id="115" name="TextBox 115"/>
            <p:cNvSpPr txBox="1"/>
            <p:nvPr/>
          </p:nvSpPr>
          <p:spPr>
            <a:xfrm>
              <a:off x="7500938" y="1864995"/>
              <a:ext cx="736473" cy="176212"/>
            </a:xfrm>
            <a:prstGeom prst="rect">
              <a:avLst/>
            </a:prstGeom>
            <a:noFill/>
            <a:ln>
              <a:noFill/>
            </a:ln>
          </p:spPr>
          <p:txBody>
            <a:bodyPr wrap="none" lIns="0" tIns="0" rIns="0" bIns="0" anchor="t" anchorCtr="0">
              <a:spAutoFit/>
            </a:bodyPr>
            <a:lstStyle/>
            <a:p>
              <a:pPr algn="l"/>
              <a:r>
                <a:rPr lang="zh-CN" sz="900" b="1" dirty="0">
                  <a:solidFill>
                    <a:srgbClr val="461910"/>
                  </a:solidFill>
                  <a:latin typeface="+mn-lt"/>
                  <a:ea typeface="+mn-ea"/>
                  <a:cs typeface="+mn-cs"/>
                </a:rPr>
                <a:t>行业预算收缩</a:t>
              </a:r>
            </a:p>
          </p:txBody>
        </p:sp>
        <p:sp>
          <p:nvSpPr>
            <p:cNvPr id="116" name="TextBox 116"/>
            <p:cNvSpPr txBox="1"/>
            <p:nvPr/>
          </p:nvSpPr>
          <p:spPr>
            <a:xfrm>
              <a:off x="8434388" y="1652588"/>
              <a:ext cx="91821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客户预算整体收紧，</a:t>
              </a:r>
            </a:p>
          </p:txBody>
        </p:sp>
        <p:sp>
          <p:nvSpPr>
            <p:cNvPr id="117" name="TextBox 117"/>
            <p:cNvSpPr txBox="1"/>
            <p:nvPr/>
          </p:nvSpPr>
          <p:spPr>
            <a:xfrm>
              <a:off x="8434388" y="1862138"/>
              <a:ext cx="71628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项目规模缩减，</a:t>
              </a:r>
            </a:p>
          </p:txBody>
        </p:sp>
        <p:sp>
          <p:nvSpPr>
            <p:cNvPr id="118" name="TextBox 118"/>
            <p:cNvSpPr txBox="1"/>
            <p:nvPr/>
          </p:nvSpPr>
          <p:spPr>
            <a:xfrm>
              <a:off x="8434388" y="2071688"/>
              <a:ext cx="71628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立项数量下降。</a:t>
              </a:r>
            </a:p>
          </p:txBody>
        </p:sp>
        <p:sp>
          <p:nvSpPr>
            <p:cNvPr id="119" name="TextBox 119"/>
            <p:cNvSpPr txBox="1"/>
            <p:nvPr/>
          </p:nvSpPr>
          <p:spPr>
            <a:xfrm>
              <a:off x="9672638" y="1652588"/>
              <a:ext cx="1805940"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 xml:space="preserve">聚焦刚需场景，优先高ROI项目      </a:t>
              </a:r>
            </a:p>
          </p:txBody>
        </p:sp>
        <p:sp>
          <p:nvSpPr>
            <p:cNvPr id="120" name="TextBox 120"/>
            <p:cNvSpPr txBox="1"/>
            <p:nvPr/>
          </p:nvSpPr>
          <p:spPr>
            <a:xfrm>
              <a:off x="9672638" y="1862138"/>
              <a:ext cx="1403032"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灵活商务政策，降低客户门槛</a:t>
              </a:r>
            </a:p>
          </p:txBody>
        </p:sp>
        <p:sp>
          <p:nvSpPr>
            <p:cNvPr id="121" name="TextBox 121"/>
            <p:cNvSpPr txBox="1"/>
            <p:nvPr/>
          </p:nvSpPr>
          <p:spPr>
            <a:xfrm>
              <a:off x="9672638" y="2071688"/>
              <a:ext cx="1201102"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提前锁单，缩短销售周期</a:t>
              </a:r>
            </a:p>
          </p:txBody>
        </p:sp>
        <p:sp>
          <p:nvSpPr>
            <p:cNvPr id="122" name="Line 122"/>
            <p:cNvSpPr/>
            <p:nvPr/>
          </p:nvSpPr>
          <p:spPr>
            <a:xfrm>
              <a:off x="6800850" y="2428875"/>
              <a:ext cx="5067300" cy="9525"/>
            </a:xfrm>
            <a:custGeom>
              <a:avLst/>
              <a:gdLst/>
              <a:ahLst/>
              <a:cxnLst/>
              <a:rect l="l" t="t" r="r" b="b"/>
              <a:pathLst>
                <a:path w="5067300" h="9525">
                  <a:moveTo>
                    <a:pt x="0" y="0"/>
                  </a:moveTo>
                  <a:lnTo>
                    <a:pt x="5067300" y="0"/>
                  </a:lnTo>
                </a:path>
              </a:pathLst>
            </a:custGeom>
            <a:noFill/>
            <a:ln w="9525">
              <a:solidFill>
                <a:srgbClr val="E3E5EA"/>
              </a:solidFill>
            </a:ln>
          </p:spPr>
        </p:sp>
        <p:sp>
          <p:nvSpPr>
            <p:cNvPr id="123" name="Ellipse 123"/>
            <p:cNvSpPr/>
            <p:nvPr/>
          </p:nvSpPr>
          <p:spPr>
            <a:xfrm>
              <a:off x="6810375" y="2867025"/>
              <a:ext cx="247650" cy="247650"/>
            </a:xfrm>
            <a:prstGeom prst="ellipse">
              <a:avLst/>
            </a:prstGeom>
            <a:solidFill>
              <a:srgbClr val="707788"/>
            </a:solidFill>
            <a:ln>
              <a:noFill/>
            </a:ln>
          </p:spPr>
        </p:sp>
        <p:sp>
          <p:nvSpPr>
            <p:cNvPr id="124" name="TextBox 124"/>
            <p:cNvSpPr txBox="1"/>
            <p:nvPr/>
          </p:nvSpPr>
          <p:spPr>
            <a:xfrm>
              <a:off x="6891153" y="293322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2</a:t>
              </a:r>
            </a:p>
          </p:txBody>
        </p:sp>
        <p:grpSp>
          <p:nvGrpSpPr>
            <p:cNvPr id="130" name="Group 130"/>
            <p:cNvGrpSpPr/>
            <p:nvPr/>
          </p:nvGrpSpPr>
          <p:grpSpPr>
            <a:xfrm>
              <a:off x="7196138" y="2881313"/>
              <a:ext cx="200025" cy="200025"/>
              <a:chOff x="7196138" y="2881313"/>
              <a:chExt cx="200025" cy="200025"/>
            </a:xfrm>
          </p:grpSpPr>
          <p:sp>
            <p:nvSpPr>
              <p:cNvPr id="125" name="Freeform 125"/>
              <p:cNvSpPr/>
              <p:nvPr/>
            </p:nvSpPr>
            <p:spPr>
              <a:xfrm>
                <a:off x="7273925" y="288131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523E3A"/>
                </a:solidFill>
              </a:ln>
            </p:spPr>
          </p:sp>
          <p:sp>
            <p:nvSpPr>
              <p:cNvPr id="126" name="Freeform 126"/>
              <p:cNvSpPr/>
              <p:nvPr/>
            </p:nvSpPr>
            <p:spPr>
              <a:xfrm>
                <a:off x="7196138" y="30368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523E3A"/>
                </a:solidFill>
              </a:ln>
            </p:spPr>
          </p:sp>
          <p:sp>
            <p:nvSpPr>
              <p:cNvPr id="127" name="Freeform 127"/>
              <p:cNvSpPr/>
              <p:nvPr/>
            </p:nvSpPr>
            <p:spPr>
              <a:xfrm>
                <a:off x="7351713" y="30368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523E3A"/>
                </a:solidFill>
              </a:ln>
            </p:spPr>
          </p:sp>
          <p:sp>
            <p:nvSpPr>
              <p:cNvPr id="128" name="Freeform 128"/>
              <p:cNvSpPr/>
              <p:nvPr/>
            </p:nvSpPr>
            <p:spPr>
              <a:xfrm>
                <a:off x="7235031" y="2992438"/>
                <a:ext cx="122238" cy="50006"/>
              </a:xfrm>
              <a:custGeom>
                <a:avLst/>
                <a:gdLst/>
                <a:ahLst/>
                <a:cxnLst/>
                <a:rect l="l" t="t" r="r" b="b"/>
                <a:pathLst>
                  <a:path w="122238" h="50006">
                    <a:moveTo>
                      <a:pt x="0" y="50006"/>
                    </a:moveTo>
                    <a:lnTo>
                      <a:pt x="61119" y="0"/>
                    </a:lnTo>
                    <a:lnTo>
                      <a:pt x="122238" y="50006"/>
                    </a:lnTo>
                  </a:path>
                </a:pathLst>
              </a:custGeom>
              <a:noFill/>
              <a:ln w="22225">
                <a:solidFill>
                  <a:srgbClr val="523E3A"/>
                </a:solidFill>
              </a:ln>
            </p:spPr>
          </p:sp>
          <p:sp>
            <p:nvSpPr>
              <p:cNvPr id="129" name="Freeform 129"/>
              <p:cNvSpPr/>
              <p:nvPr/>
            </p:nvSpPr>
            <p:spPr>
              <a:xfrm>
                <a:off x="7296150" y="2925763"/>
                <a:ext cx="9525" cy="66675"/>
              </a:xfrm>
              <a:custGeom>
                <a:avLst/>
                <a:gdLst/>
                <a:ahLst/>
                <a:cxnLst/>
                <a:rect l="l" t="t" r="r" b="b"/>
                <a:pathLst>
                  <a:path w="9525" h="66675">
                    <a:moveTo>
                      <a:pt x="0" y="0"/>
                    </a:moveTo>
                    <a:lnTo>
                      <a:pt x="0" y="66675"/>
                    </a:lnTo>
                  </a:path>
                </a:pathLst>
              </a:custGeom>
              <a:noFill/>
              <a:ln w="22225">
                <a:solidFill>
                  <a:srgbClr val="523E3A"/>
                </a:solidFill>
              </a:ln>
            </p:spPr>
          </p:sp>
        </p:grpSp>
        <p:sp>
          <p:nvSpPr>
            <p:cNvPr id="131" name="TextBox 131"/>
            <p:cNvSpPr txBox="1"/>
            <p:nvPr/>
          </p:nvSpPr>
          <p:spPr>
            <a:xfrm>
              <a:off x="7500938" y="2931795"/>
              <a:ext cx="615315" cy="176212"/>
            </a:xfrm>
            <a:prstGeom prst="rect">
              <a:avLst/>
            </a:prstGeom>
            <a:noFill/>
            <a:ln>
              <a:noFill/>
            </a:ln>
          </p:spPr>
          <p:txBody>
            <a:bodyPr wrap="none" lIns="0" tIns="0" rIns="0" bIns="0" anchor="t" anchorCtr="0">
              <a:spAutoFit/>
            </a:bodyPr>
            <a:lstStyle/>
            <a:p>
              <a:pPr algn="l"/>
              <a:r>
                <a:rPr lang="zh-CN" sz="900" b="1" dirty="0">
                  <a:solidFill>
                    <a:srgbClr val="461910"/>
                  </a:solidFill>
                  <a:latin typeface="+mn-lt"/>
                  <a:ea typeface="+mn-ea"/>
                  <a:cs typeface="+mn-cs"/>
                </a:rPr>
                <a:t>决策链拉长</a:t>
              </a:r>
            </a:p>
          </p:txBody>
        </p:sp>
        <p:sp>
          <p:nvSpPr>
            <p:cNvPr id="132" name="TextBox 132"/>
            <p:cNvSpPr txBox="1"/>
            <p:nvPr/>
          </p:nvSpPr>
          <p:spPr>
            <a:xfrm>
              <a:off x="8434388" y="2719388"/>
              <a:ext cx="817245"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多部门评审增加，</a:t>
              </a:r>
            </a:p>
          </p:txBody>
        </p:sp>
        <p:sp>
          <p:nvSpPr>
            <p:cNvPr id="133" name="TextBox 133"/>
            <p:cNvSpPr txBox="1"/>
            <p:nvPr/>
          </p:nvSpPr>
          <p:spPr>
            <a:xfrm>
              <a:off x="8434388" y="2928938"/>
              <a:ext cx="71628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决策流程变长，</a:t>
              </a:r>
            </a:p>
          </p:txBody>
        </p:sp>
        <p:sp>
          <p:nvSpPr>
            <p:cNvPr id="134" name="TextBox 134"/>
            <p:cNvSpPr txBox="1"/>
            <p:nvPr/>
          </p:nvSpPr>
          <p:spPr>
            <a:xfrm>
              <a:off x="8434388" y="3138488"/>
              <a:ext cx="71628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项目推进变慢。</a:t>
              </a:r>
            </a:p>
          </p:txBody>
        </p:sp>
        <p:sp>
          <p:nvSpPr>
            <p:cNvPr id="135" name="TextBox 135"/>
            <p:cNvSpPr txBox="1"/>
            <p:nvPr/>
          </p:nvSpPr>
          <p:spPr>
            <a:xfrm>
              <a:off x="9672638" y="2719388"/>
              <a:ext cx="1302068"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建立多层关系，扩大影响力</a:t>
              </a:r>
            </a:p>
          </p:txBody>
        </p:sp>
        <p:sp>
          <p:nvSpPr>
            <p:cNvPr id="136" name="TextBox 136"/>
            <p:cNvSpPr txBox="1"/>
            <p:nvPr/>
          </p:nvSpPr>
          <p:spPr>
            <a:xfrm>
              <a:off x="9672638" y="2928938"/>
              <a:ext cx="1201102"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提前介入，主导需求沟通</a:t>
              </a:r>
            </a:p>
          </p:txBody>
        </p:sp>
        <p:sp>
          <p:nvSpPr>
            <p:cNvPr id="137" name="TextBox 137"/>
            <p:cNvSpPr txBox="1"/>
            <p:nvPr/>
          </p:nvSpPr>
          <p:spPr>
            <a:xfrm>
              <a:off x="9672638" y="3138488"/>
              <a:ext cx="1403032"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分阶段推进，降低决策复杂度</a:t>
              </a:r>
            </a:p>
          </p:txBody>
        </p:sp>
        <p:sp>
          <p:nvSpPr>
            <p:cNvPr id="138" name="Line 138"/>
            <p:cNvSpPr/>
            <p:nvPr/>
          </p:nvSpPr>
          <p:spPr>
            <a:xfrm>
              <a:off x="6800850" y="3495675"/>
              <a:ext cx="5067300" cy="9525"/>
            </a:xfrm>
            <a:custGeom>
              <a:avLst/>
              <a:gdLst/>
              <a:ahLst/>
              <a:cxnLst/>
              <a:rect l="l" t="t" r="r" b="b"/>
              <a:pathLst>
                <a:path w="5067300" h="9525">
                  <a:moveTo>
                    <a:pt x="0" y="0"/>
                  </a:moveTo>
                  <a:lnTo>
                    <a:pt x="5067300" y="0"/>
                  </a:lnTo>
                </a:path>
              </a:pathLst>
            </a:custGeom>
            <a:noFill/>
            <a:ln w="9525">
              <a:solidFill>
                <a:srgbClr val="E3E5EA"/>
              </a:solidFill>
            </a:ln>
          </p:spPr>
        </p:sp>
        <p:sp>
          <p:nvSpPr>
            <p:cNvPr id="139" name="Ellipse 139"/>
            <p:cNvSpPr/>
            <p:nvPr/>
          </p:nvSpPr>
          <p:spPr>
            <a:xfrm>
              <a:off x="6810375" y="3933825"/>
              <a:ext cx="247650" cy="247650"/>
            </a:xfrm>
            <a:prstGeom prst="ellipse">
              <a:avLst/>
            </a:prstGeom>
            <a:solidFill>
              <a:srgbClr val="707788"/>
            </a:solidFill>
            <a:ln>
              <a:noFill/>
            </a:ln>
          </p:spPr>
        </p:sp>
        <p:sp>
          <p:nvSpPr>
            <p:cNvPr id="140" name="TextBox 140"/>
            <p:cNvSpPr txBox="1"/>
            <p:nvPr/>
          </p:nvSpPr>
          <p:spPr>
            <a:xfrm>
              <a:off x="6891153" y="400002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a:t>
              </a:r>
            </a:p>
          </p:txBody>
        </p:sp>
        <p:grpSp>
          <p:nvGrpSpPr>
            <p:cNvPr id="143" name="Group 143"/>
            <p:cNvGrpSpPr/>
            <p:nvPr/>
          </p:nvGrpSpPr>
          <p:grpSpPr>
            <a:xfrm>
              <a:off x="7181141" y="3948113"/>
              <a:ext cx="217008" cy="200025"/>
              <a:chOff x="7181141" y="3948113"/>
              <a:chExt cx="217008" cy="200025"/>
            </a:xfrm>
          </p:grpSpPr>
          <p:sp>
            <p:nvSpPr>
              <p:cNvPr id="141" name="Freeform 141"/>
              <p:cNvSpPr/>
              <p:nvPr/>
            </p:nvSpPr>
            <p:spPr>
              <a:xfrm>
                <a:off x="7181141" y="3948113"/>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22225">
                <a:solidFill>
                  <a:srgbClr val="523E3A"/>
                </a:solidFill>
              </a:ln>
            </p:spPr>
          </p:sp>
          <p:sp>
            <p:nvSpPr>
              <p:cNvPr id="142" name="Freeform 142"/>
              <p:cNvSpPr/>
              <p:nvPr/>
            </p:nvSpPr>
            <p:spPr>
              <a:xfrm>
                <a:off x="7329488" y="4103688"/>
                <a:ext cx="66675" cy="44450"/>
              </a:xfrm>
              <a:custGeom>
                <a:avLst/>
                <a:gdLst/>
                <a:ahLst/>
                <a:cxnLst/>
                <a:rect l="l" t="t" r="r" b="b"/>
                <a:pathLst>
                  <a:path w="66675" h="44450">
                    <a:moveTo>
                      <a:pt x="0" y="22225"/>
                    </a:moveTo>
                    <a:lnTo>
                      <a:pt x="22225" y="44450"/>
                    </a:lnTo>
                    <a:lnTo>
                      <a:pt x="66675" y="0"/>
                    </a:lnTo>
                  </a:path>
                </a:pathLst>
              </a:custGeom>
              <a:noFill/>
              <a:ln w="22225">
                <a:solidFill>
                  <a:srgbClr val="523E3A"/>
                </a:solidFill>
              </a:ln>
            </p:spPr>
          </p:sp>
        </p:grpSp>
        <p:sp>
          <p:nvSpPr>
            <p:cNvPr id="144" name="TextBox 144"/>
            <p:cNvSpPr txBox="1"/>
            <p:nvPr/>
          </p:nvSpPr>
          <p:spPr>
            <a:xfrm>
              <a:off x="7500938" y="3998595"/>
              <a:ext cx="736473" cy="176212"/>
            </a:xfrm>
            <a:prstGeom prst="rect">
              <a:avLst/>
            </a:prstGeom>
            <a:noFill/>
            <a:ln>
              <a:noFill/>
            </a:ln>
          </p:spPr>
          <p:txBody>
            <a:bodyPr wrap="none" lIns="0" tIns="0" rIns="0" bIns="0" anchor="t" anchorCtr="0">
              <a:spAutoFit/>
            </a:bodyPr>
            <a:lstStyle/>
            <a:p>
              <a:pPr algn="l"/>
              <a:r>
                <a:rPr lang="zh-CN" sz="900" b="1" dirty="0">
                  <a:solidFill>
                    <a:srgbClr val="461910"/>
                  </a:solidFill>
                  <a:latin typeface="+mn-lt"/>
                  <a:ea typeface="+mn-ea"/>
                  <a:cs typeface="+mn-cs"/>
                </a:rPr>
                <a:t>合规环境趋严</a:t>
              </a:r>
            </a:p>
          </p:txBody>
        </p:sp>
        <p:sp>
          <p:nvSpPr>
            <p:cNvPr id="145" name="TextBox 145"/>
            <p:cNvSpPr txBox="1"/>
            <p:nvPr/>
          </p:nvSpPr>
          <p:spPr>
            <a:xfrm>
              <a:off x="8434388" y="3786188"/>
              <a:ext cx="1104995"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 xml:space="preserve">政策/监管变化，      </a:t>
              </a:r>
            </a:p>
          </p:txBody>
        </p:sp>
        <p:sp>
          <p:nvSpPr>
            <p:cNvPr id="146" name="TextBox 146"/>
            <p:cNvSpPr txBox="1"/>
            <p:nvPr/>
          </p:nvSpPr>
          <p:spPr>
            <a:xfrm>
              <a:off x="8434388" y="3995738"/>
              <a:ext cx="71628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合规要求提高，</a:t>
              </a:r>
            </a:p>
          </p:txBody>
        </p:sp>
        <p:sp>
          <p:nvSpPr>
            <p:cNvPr id="147" name="TextBox 147"/>
            <p:cNvSpPr txBox="1"/>
            <p:nvPr/>
          </p:nvSpPr>
          <p:spPr>
            <a:xfrm>
              <a:off x="8434388" y="4205288"/>
              <a:ext cx="91821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项目不确定性上升。</a:t>
              </a:r>
            </a:p>
          </p:txBody>
        </p:sp>
        <p:sp>
          <p:nvSpPr>
            <p:cNvPr id="148" name="TextBox 148"/>
            <p:cNvSpPr txBox="1"/>
            <p:nvPr/>
          </p:nvSpPr>
          <p:spPr>
            <a:xfrm>
              <a:off x="9672638" y="3786188"/>
              <a:ext cx="1403032"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紧跟政策动态，提前合规准备</a:t>
              </a:r>
            </a:p>
          </p:txBody>
        </p:sp>
        <p:sp>
          <p:nvSpPr>
            <p:cNvPr id="149" name="TextBox 149"/>
            <p:cNvSpPr txBox="1"/>
            <p:nvPr/>
          </p:nvSpPr>
          <p:spPr>
            <a:xfrm>
              <a:off x="9672638" y="3995738"/>
              <a:ext cx="1201102"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加强合规方案与资质储备</a:t>
              </a:r>
            </a:p>
          </p:txBody>
        </p:sp>
        <p:sp>
          <p:nvSpPr>
            <p:cNvPr id="150" name="TextBox 150"/>
            <p:cNvSpPr txBox="1"/>
            <p:nvPr/>
          </p:nvSpPr>
          <p:spPr>
            <a:xfrm>
              <a:off x="9672638" y="4205288"/>
              <a:ext cx="1403032"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合作生态共建，共担合规风险</a:t>
              </a:r>
            </a:p>
          </p:txBody>
        </p:sp>
        <p:sp>
          <p:nvSpPr>
            <p:cNvPr id="151" name="Line 151"/>
            <p:cNvSpPr/>
            <p:nvPr/>
          </p:nvSpPr>
          <p:spPr>
            <a:xfrm>
              <a:off x="6800850" y="4562475"/>
              <a:ext cx="5067300" cy="9525"/>
            </a:xfrm>
            <a:custGeom>
              <a:avLst/>
              <a:gdLst/>
              <a:ahLst/>
              <a:cxnLst/>
              <a:rect l="l" t="t" r="r" b="b"/>
              <a:pathLst>
                <a:path w="5067300" h="9525">
                  <a:moveTo>
                    <a:pt x="0" y="0"/>
                  </a:moveTo>
                  <a:lnTo>
                    <a:pt x="5067300" y="0"/>
                  </a:lnTo>
                </a:path>
              </a:pathLst>
            </a:custGeom>
            <a:noFill/>
            <a:ln w="9525">
              <a:solidFill>
                <a:srgbClr val="E3E5EA"/>
              </a:solidFill>
            </a:ln>
          </p:spPr>
        </p:sp>
        <p:sp>
          <p:nvSpPr>
            <p:cNvPr id="152" name="Ellipse 152"/>
            <p:cNvSpPr/>
            <p:nvPr/>
          </p:nvSpPr>
          <p:spPr>
            <a:xfrm>
              <a:off x="6810375" y="5000625"/>
              <a:ext cx="247650" cy="247650"/>
            </a:xfrm>
            <a:prstGeom prst="ellipse">
              <a:avLst/>
            </a:prstGeom>
            <a:solidFill>
              <a:srgbClr val="707788"/>
            </a:solidFill>
            <a:ln>
              <a:noFill/>
            </a:ln>
          </p:spPr>
        </p:sp>
        <p:sp>
          <p:nvSpPr>
            <p:cNvPr id="153" name="TextBox 153"/>
            <p:cNvSpPr txBox="1"/>
            <p:nvPr/>
          </p:nvSpPr>
          <p:spPr>
            <a:xfrm>
              <a:off x="6891153" y="506682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4</a:t>
              </a:r>
            </a:p>
          </p:txBody>
        </p:sp>
        <p:grpSp>
          <p:nvGrpSpPr>
            <p:cNvPr id="158" name="Group 158"/>
            <p:cNvGrpSpPr/>
            <p:nvPr/>
          </p:nvGrpSpPr>
          <p:grpSpPr>
            <a:xfrm>
              <a:off x="7196138" y="5014913"/>
              <a:ext cx="200026" cy="200026"/>
              <a:chOff x="7196138" y="5014913"/>
              <a:chExt cx="200026" cy="200026"/>
            </a:xfrm>
          </p:grpSpPr>
          <p:sp>
            <p:nvSpPr>
              <p:cNvPr id="154" name="Freeform 154"/>
              <p:cNvSpPr/>
              <p:nvPr/>
            </p:nvSpPr>
            <p:spPr>
              <a:xfrm>
                <a:off x="7196138" y="5014913"/>
                <a:ext cx="200026" cy="200026"/>
              </a:xfrm>
              <a:custGeom>
                <a:avLst/>
                <a:gdLst/>
                <a:ahLst/>
                <a:cxnLst/>
                <a:rect l="l" t="t" r="r" b="b"/>
                <a:pathLst>
                  <a:path w="200026" h="200026">
                    <a:moveTo>
                      <a:pt x="200026" y="0"/>
                    </a:moveTo>
                    <a:lnTo>
                      <a:pt x="200026" y="55563"/>
                    </a:lnTo>
                    <a:lnTo>
                      <a:pt x="77788" y="155575"/>
                    </a:lnTo>
                    <a:lnTo>
                      <a:pt x="33338" y="200026"/>
                    </a:lnTo>
                    <a:lnTo>
                      <a:pt x="0" y="166688"/>
                    </a:lnTo>
                    <a:lnTo>
                      <a:pt x="44450" y="122238"/>
                    </a:lnTo>
                    <a:lnTo>
                      <a:pt x="144463" y="0"/>
                    </a:lnTo>
                    <a:lnTo>
                      <a:pt x="200026" y="0"/>
                    </a:lnTo>
                  </a:path>
                </a:pathLst>
              </a:custGeom>
              <a:noFill/>
              <a:ln w="22225">
                <a:solidFill>
                  <a:srgbClr val="523E3A"/>
                </a:solidFill>
              </a:ln>
            </p:spPr>
          </p:sp>
          <p:sp>
            <p:nvSpPr>
              <p:cNvPr id="155" name="Freeform 155"/>
              <p:cNvSpPr/>
              <p:nvPr/>
            </p:nvSpPr>
            <p:spPr>
              <a:xfrm>
                <a:off x="7218363" y="5126038"/>
                <a:ext cx="66675" cy="66675"/>
              </a:xfrm>
              <a:custGeom>
                <a:avLst/>
                <a:gdLst/>
                <a:ahLst/>
                <a:cxnLst/>
                <a:rect l="l" t="t" r="r" b="b"/>
                <a:pathLst>
                  <a:path w="66675" h="66675">
                    <a:moveTo>
                      <a:pt x="0" y="0"/>
                    </a:moveTo>
                    <a:lnTo>
                      <a:pt x="66675" y="66675"/>
                    </a:lnTo>
                  </a:path>
                </a:pathLst>
              </a:custGeom>
              <a:noFill/>
              <a:ln w="22225">
                <a:solidFill>
                  <a:srgbClr val="523E3A"/>
                </a:solidFill>
              </a:ln>
            </p:spPr>
          </p:sp>
          <p:sp>
            <p:nvSpPr>
              <p:cNvPr id="156" name="Freeform 156"/>
              <p:cNvSpPr/>
              <p:nvPr/>
            </p:nvSpPr>
            <p:spPr>
              <a:xfrm>
                <a:off x="7321931" y="5144207"/>
                <a:ext cx="74232" cy="70731"/>
              </a:xfrm>
              <a:custGeom>
                <a:avLst/>
                <a:gdLst/>
                <a:ahLst/>
                <a:cxnLst/>
                <a:rect l="l" t="t" r="r" b="b"/>
                <a:pathLst>
                  <a:path w="74232" h="70731">
                    <a:moveTo>
                      <a:pt x="0" y="29837"/>
                    </a:moveTo>
                    <a:lnTo>
                      <a:pt x="40894" y="70731"/>
                    </a:lnTo>
                    <a:lnTo>
                      <a:pt x="74232" y="37394"/>
                    </a:lnTo>
                    <a:lnTo>
                      <a:pt x="36838" y="0"/>
                    </a:lnTo>
                  </a:path>
                </a:pathLst>
              </a:custGeom>
              <a:noFill/>
              <a:ln w="22225">
                <a:solidFill>
                  <a:srgbClr val="523E3A"/>
                </a:solidFill>
              </a:ln>
            </p:spPr>
          </p:sp>
          <p:sp>
            <p:nvSpPr>
              <p:cNvPr id="157" name="Freeform 157"/>
              <p:cNvSpPr/>
              <p:nvPr/>
            </p:nvSpPr>
            <p:spPr>
              <a:xfrm>
                <a:off x="7196138" y="5014913"/>
                <a:ext cx="77788" cy="83344"/>
              </a:xfrm>
              <a:custGeom>
                <a:avLst/>
                <a:gdLst/>
                <a:ahLst/>
                <a:cxnLst/>
                <a:rect l="l" t="t" r="r" b="b"/>
                <a:pathLst>
                  <a:path w="77788" h="83344">
                    <a:moveTo>
                      <a:pt x="77788" y="27781"/>
                    </a:moveTo>
                    <a:lnTo>
                      <a:pt x="55563" y="0"/>
                    </a:lnTo>
                    <a:lnTo>
                      <a:pt x="0" y="0"/>
                    </a:lnTo>
                    <a:lnTo>
                      <a:pt x="0" y="55563"/>
                    </a:lnTo>
                    <a:lnTo>
                      <a:pt x="33338" y="83344"/>
                    </a:lnTo>
                  </a:path>
                </a:pathLst>
              </a:custGeom>
              <a:noFill/>
              <a:ln w="22225">
                <a:solidFill>
                  <a:srgbClr val="523E3A"/>
                </a:solidFill>
              </a:ln>
            </p:spPr>
          </p:sp>
        </p:grpSp>
        <p:sp>
          <p:nvSpPr>
            <p:cNvPr id="159" name="TextBox 159"/>
            <p:cNvSpPr txBox="1"/>
            <p:nvPr/>
          </p:nvSpPr>
          <p:spPr>
            <a:xfrm>
              <a:off x="7500938" y="5065395"/>
              <a:ext cx="615315" cy="176212"/>
            </a:xfrm>
            <a:prstGeom prst="rect">
              <a:avLst/>
            </a:prstGeom>
            <a:noFill/>
            <a:ln>
              <a:noFill/>
            </a:ln>
          </p:spPr>
          <p:txBody>
            <a:bodyPr wrap="none" lIns="0" tIns="0" rIns="0" bIns="0" anchor="t" anchorCtr="0">
              <a:spAutoFit/>
            </a:bodyPr>
            <a:lstStyle/>
            <a:p>
              <a:pPr algn="l"/>
              <a:r>
                <a:rPr lang="zh-CN" sz="900" b="1" dirty="0">
                  <a:solidFill>
                    <a:srgbClr val="461910"/>
                  </a:solidFill>
                  <a:latin typeface="+mn-lt"/>
                  <a:ea typeface="+mn-ea"/>
                  <a:cs typeface="+mn-cs"/>
                </a:rPr>
                <a:t>恶性价格战</a:t>
              </a:r>
            </a:p>
          </p:txBody>
        </p:sp>
        <p:sp>
          <p:nvSpPr>
            <p:cNvPr id="160" name="TextBox 160"/>
            <p:cNvSpPr txBox="1"/>
            <p:nvPr/>
          </p:nvSpPr>
          <p:spPr>
            <a:xfrm>
              <a:off x="8434388" y="4852988"/>
              <a:ext cx="91821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竞争对手低价抢单，</a:t>
              </a:r>
            </a:p>
          </p:txBody>
        </p:sp>
        <p:sp>
          <p:nvSpPr>
            <p:cNvPr id="161" name="TextBox 161"/>
            <p:cNvSpPr txBox="1"/>
            <p:nvPr/>
          </p:nvSpPr>
          <p:spPr>
            <a:xfrm>
              <a:off x="8434388" y="5062538"/>
              <a:ext cx="817245"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行业利润被压缩，</a:t>
              </a:r>
            </a:p>
          </p:txBody>
        </p:sp>
        <p:sp>
          <p:nvSpPr>
            <p:cNvPr id="162" name="TextBox 162"/>
            <p:cNvSpPr txBox="1"/>
            <p:nvPr/>
          </p:nvSpPr>
          <p:spPr>
            <a:xfrm>
              <a:off x="8434388" y="5272088"/>
              <a:ext cx="615315"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价值被低估。</a:t>
              </a:r>
            </a:p>
          </p:txBody>
        </p:sp>
        <p:sp>
          <p:nvSpPr>
            <p:cNvPr id="163" name="TextBox 163"/>
            <p:cNvSpPr txBox="1"/>
            <p:nvPr/>
          </p:nvSpPr>
          <p:spPr>
            <a:xfrm>
              <a:off x="9672638" y="4852988"/>
              <a:ext cx="1302068"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坚守底线，不参与低价竞争</a:t>
              </a:r>
            </a:p>
          </p:txBody>
        </p:sp>
        <p:sp>
          <p:nvSpPr>
            <p:cNvPr id="164" name="TextBox 164"/>
            <p:cNvSpPr txBox="1"/>
            <p:nvPr/>
          </p:nvSpPr>
          <p:spPr>
            <a:xfrm>
              <a:off x="9672638" y="5062538"/>
              <a:ext cx="1403032"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强化差异化价值，聚焦大客户</a:t>
              </a:r>
            </a:p>
          </p:txBody>
        </p:sp>
        <p:sp>
          <p:nvSpPr>
            <p:cNvPr id="165" name="TextBox 165"/>
            <p:cNvSpPr txBox="1"/>
            <p:nvPr/>
          </p:nvSpPr>
          <p:spPr>
            <a:xfrm>
              <a:off x="9672638" y="5272088"/>
              <a:ext cx="1201102" cy="147638"/>
            </a:xfrm>
            <a:prstGeom prst="rect">
              <a:avLst/>
            </a:prstGeom>
            <a:noFill/>
            <a:ln>
              <a:noFill/>
            </a:ln>
          </p:spPr>
          <p:txBody>
            <a:bodyPr wrap="none" lIns="0" tIns="0" rIns="0" bIns="0" anchor="t" anchorCtr="0">
              <a:spAutoFit/>
            </a:bodyPr>
            <a:lstStyle/>
            <a:p>
              <a:pPr algn="l" marL="80962" indent="-80962">
                <a:buClr>
                  <a:srgbClr val="C03616"/>
                </a:buClr>
                <a:buSzTx/>
                <a:buFontTx/>
                <a:buChar char="•"/>
              </a:pPr>
              <a:r>
                <a:rPr lang="zh-CN" sz="750" dirty="0">
                  <a:solidFill>
                    <a:srgbClr val="C03616"/>
                  </a:solidFill>
                  <a:latin typeface="+mn-lt"/>
                  <a:ea typeface="+mn-ea"/>
                  <a:cs typeface="+mn-cs"/>
                </a:rPr>
                <a:t>联盟合作，抵御恶性竞争</a:t>
              </a:r>
            </a:p>
          </p:txBody>
        </p:sp>
      </p:grpSp>
      <p:grpSp>
        <p:nvGrpSpPr>
          <p:cNvPr id="174" name="takeaway-banner"/>
          <p:cNvGrpSpPr/>
          <p:nvPr/>
        </p:nvGrpSpPr>
        <p:grpSpPr>
          <a:xfrm>
            <a:off x="228600" y="5810250"/>
            <a:ext cx="11734800" cy="514350"/>
            <a:chOff x="228600" y="5810250"/>
            <a:chExt cx="11734800" cy="514350"/>
          </a:xfrm>
        </p:grpSpPr>
        <p:sp>
          <p:nvSpPr>
            <p:cNvPr id="167" name="Rectangle 167"/>
            <p:cNvSpPr/>
            <p:nvPr/>
          </p:nvSpPr>
          <p:spPr>
            <a:xfrm>
              <a:off x="228600" y="5810250"/>
              <a:ext cx="11734800" cy="514350"/>
            </a:xfrm>
            <a:prstGeom prst="roundRect">
              <a:avLst>
                <a:gd name="adj" fmla="val 18519"/>
              </a:avLst>
            </a:prstGeom>
            <a:solidFill>
              <a:srgbClr val="721E0D"/>
            </a:solidFill>
            <a:ln>
              <a:noFill/>
            </a:ln>
          </p:spPr>
        </p:sp>
        <p:sp>
          <p:nvSpPr>
            <p:cNvPr id="168" name="Ellipse 168"/>
            <p:cNvSpPr/>
            <p:nvPr/>
          </p:nvSpPr>
          <p:spPr>
            <a:xfrm>
              <a:off x="2905125" y="5905500"/>
              <a:ext cx="323850" cy="323850"/>
            </a:xfrm>
            <a:prstGeom prst="ellipse">
              <a:avLst/>
            </a:prstGeom>
            <a:solidFill>
              <a:srgbClr val="FFFFFF"/>
            </a:solidFill>
            <a:ln>
              <a:noFill/>
            </a:ln>
          </p:spPr>
        </p:sp>
        <p:grpSp>
          <p:nvGrpSpPr>
            <p:cNvPr id="172" name="Group 172"/>
            <p:cNvGrpSpPr/>
            <p:nvPr/>
          </p:nvGrpSpPr>
          <p:grpSpPr>
            <a:xfrm>
              <a:off x="2988469" y="5988844"/>
              <a:ext cx="157163" cy="157163"/>
              <a:chOff x="2988469" y="5988844"/>
              <a:chExt cx="157163" cy="157163"/>
            </a:xfrm>
          </p:grpSpPr>
          <p:sp>
            <p:nvSpPr>
              <p:cNvPr id="169" name="Freeform 169"/>
              <p:cNvSpPr/>
              <p:nvPr/>
            </p:nvSpPr>
            <p:spPr>
              <a:xfrm>
                <a:off x="3058319" y="605869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721E0D"/>
                </a:solidFill>
              </a:ln>
            </p:spPr>
          </p:sp>
          <p:sp>
            <p:nvSpPr>
              <p:cNvPr id="170" name="Freeform 170"/>
              <p:cNvSpPr/>
              <p:nvPr/>
            </p:nvSpPr>
            <p:spPr>
              <a:xfrm>
                <a:off x="3023394" y="602376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721E0D"/>
                </a:solidFill>
              </a:ln>
            </p:spPr>
          </p:sp>
          <p:sp>
            <p:nvSpPr>
              <p:cNvPr id="171" name="Freeform 171"/>
              <p:cNvSpPr/>
              <p:nvPr/>
            </p:nvSpPr>
            <p:spPr>
              <a:xfrm>
                <a:off x="2988469" y="59888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721E0D"/>
                </a:solidFill>
              </a:ln>
            </p:spPr>
          </p:sp>
        </p:grpSp>
        <p:sp>
          <p:nvSpPr>
            <p:cNvPr id="173" name="TextBox 173"/>
            <p:cNvSpPr txBox="1"/>
            <p:nvPr/>
          </p:nvSpPr>
          <p:spPr>
            <a:xfrm>
              <a:off x="3345942" y="5988368"/>
              <a:ext cx="553988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 xml:space="preserve">优先解决内部可控问题，把80%的精力投入到能改变的事情上      </a:t>
              </a:r>
            </a:p>
          </p:txBody>
        </p:sp>
      </p:gr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268698" y="152876"/>
              <a:ext cx="18650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6</a:t>
              </a:r>
            </a:p>
          </p:txBody>
        </p:sp>
        <p:sp>
          <p:nvSpPr>
            <p:cNvPr id="4" name="TextBox 4"/>
            <p:cNvSpPr txBox="1"/>
            <p:nvPr/>
          </p:nvSpPr>
          <p:spPr>
            <a:xfrm>
              <a:off x="904494" y="180023"/>
              <a:ext cx="5007483"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追回路径总览：</a:t>
              </a:r>
              <a:r>
                <a:rPr lang="zh-CN" sz="1950" b="1" dirty="0">
                  <a:solidFill>
                    <a:srgbClr val="B8351A"/>
                  </a:solidFill>
                  <a:latin typeface="+mn-lt"/>
                  <a:ea typeface="+mn-ea"/>
                  <a:cs typeface="+mn-cs"/>
                </a:rPr>
                <a:t>下半年到底能不能追回来？</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14" name="key-assumptions"/>
          <p:cNvGrpSpPr/>
          <p:nvPr/>
        </p:nvGrpSpPr>
        <p:grpSpPr>
          <a:xfrm>
            <a:off x="287337" y="766762"/>
            <a:ext cx="3495345" cy="217314"/>
            <a:chOff x="287337" y="766762"/>
            <a:chExt cx="3495345" cy="217314"/>
          </a:xfrm>
        </p:grpSpPr>
        <p:grpSp>
          <p:nvGrpSpPr>
            <p:cNvPr id="12" name="Group 12"/>
            <p:cNvGrpSpPr/>
            <p:nvPr/>
          </p:nvGrpSpPr>
          <p:grpSpPr>
            <a:xfrm>
              <a:off x="287337" y="766762"/>
              <a:ext cx="111125" cy="142875"/>
              <a:chOff x="287337" y="766762"/>
              <a:chExt cx="111125" cy="142875"/>
            </a:xfrm>
          </p:grpSpPr>
          <p:sp>
            <p:nvSpPr>
              <p:cNvPr id="7" name="Freeform 7"/>
              <p:cNvSpPr/>
              <p:nvPr/>
            </p:nvSpPr>
            <p:spPr>
              <a:xfrm>
                <a:off x="358775" y="766762"/>
                <a:ext cx="39687" cy="39687"/>
              </a:xfrm>
              <a:custGeom>
                <a:avLst/>
                <a:gdLst/>
                <a:ahLst/>
                <a:cxnLst/>
                <a:rect l="l" t="t" r="r" b="b"/>
                <a:pathLst>
                  <a:path w="39687" h="39687">
                    <a:moveTo>
                      <a:pt x="0" y="0"/>
                    </a:moveTo>
                    <a:lnTo>
                      <a:pt x="0" y="31750"/>
                    </a:lnTo>
                    <a:cubicBezTo>
                      <a:pt x="0" y="36134"/>
                      <a:pt x="3554" y="39687"/>
                      <a:pt x="7937" y="39687"/>
                    </a:cubicBezTo>
                    <a:lnTo>
                      <a:pt x="39687" y="39687"/>
                    </a:lnTo>
                  </a:path>
                </a:pathLst>
              </a:custGeom>
              <a:noFill/>
              <a:ln w="15875">
                <a:solidFill>
                  <a:srgbClr val="721E0D"/>
                </a:solidFill>
              </a:ln>
            </p:spPr>
          </p:sp>
          <p:sp>
            <p:nvSpPr>
              <p:cNvPr id="8" name="Freeform 8"/>
              <p:cNvSpPr/>
              <p:nvPr/>
            </p:nvSpPr>
            <p:spPr>
              <a:xfrm>
                <a:off x="287337" y="766762"/>
                <a:ext cx="111125" cy="142875"/>
              </a:xfrm>
              <a:custGeom>
                <a:avLst/>
                <a:gdLst/>
                <a:ahLst/>
                <a:cxnLst/>
                <a:rect l="l" t="t" r="r" b="b"/>
                <a:pathLst>
                  <a:path w="111125" h="142875">
                    <a:moveTo>
                      <a:pt x="95250" y="142875"/>
                    </a:moveTo>
                    <a:lnTo>
                      <a:pt x="15875" y="142875"/>
                    </a:lnTo>
                    <a:cubicBezTo>
                      <a:pt x="7107" y="142875"/>
                      <a:pt x="0" y="135767"/>
                      <a:pt x="0" y="127000"/>
                    </a:cubicBezTo>
                    <a:lnTo>
                      <a:pt x="0" y="15875"/>
                    </a:lnTo>
                    <a:cubicBezTo>
                      <a:pt x="0" y="7107"/>
                      <a:pt x="7107" y="0"/>
                      <a:pt x="15875" y="0"/>
                    </a:cubicBezTo>
                    <a:lnTo>
                      <a:pt x="71437" y="0"/>
                    </a:lnTo>
                    <a:lnTo>
                      <a:pt x="111125" y="39687"/>
                    </a:lnTo>
                    <a:lnTo>
                      <a:pt x="111125" y="127000"/>
                    </a:lnTo>
                    <a:cubicBezTo>
                      <a:pt x="111125" y="135767"/>
                      <a:pt x="104017" y="142875"/>
                      <a:pt x="95250" y="142875"/>
                    </a:cubicBezTo>
                  </a:path>
                </a:pathLst>
              </a:custGeom>
              <a:noFill/>
              <a:ln w="15875">
                <a:solidFill>
                  <a:srgbClr val="721E0D"/>
                </a:solidFill>
              </a:ln>
            </p:spPr>
          </p:sp>
          <p:sp>
            <p:nvSpPr>
              <p:cNvPr id="9" name="Freeform 9"/>
              <p:cNvSpPr/>
              <p:nvPr/>
            </p:nvSpPr>
            <p:spPr>
              <a:xfrm>
                <a:off x="319087" y="814387"/>
                <a:ext cx="9525" cy="9525"/>
              </a:xfrm>
              <a:custGeom>
                <a:avLst/>
                <a:gdLst/>
                <a:ahLst/>
                <a:cxnLst/>
                <a:rect l="l" t="t" r="r" b="b"/>
                <a:pathLst>
                  <a:path w="9525" h="9525">
                    <a:moveTo>
                      <a:pt x="0" y="0"/>
                    </a:moveTo>
                    <a:lnTo>
                      <a:pt x="7937" y="0"/>
                    </a:lnTo>
                  </a:path>
                </a:pathLst>
              </a:custGeom>
              <a:noFill/>
              <a:ln w="15875">
                <a:solidFill>
                  <a:srgbClr val="721E0D"/>
                </a:solidFill>
              </a:ln>
            </p:spPr>
          </p:sp>
          <p:sp>
            <p:nvSpPr>
              <p:cNvPr id="10" name="Freeform 10"/>
              <p:cNvSpPr/>
              <p:nvPr/>
            </p:nvSpPr>
            <p:spPr>
              <a:xfrm>
                <a:off x="319087" y="846137"/>
                <a:ext cx="47625" cy="9525"/>
              </a:xfrm>
              <a:custGeom>
                <a:avLst/>
                <a:gdLst/>
                <a:ahLst/>
                <a:cxnLst/>
                <a:rect l="l" t="t" r="r" b="b"/>
                <a:pathLst>
                  <a:path w="47625" h="9525">
                    <a:moveTo>
                      <a:pt x="0" y="0"/>
                    </a:moveTo>
                    <a:lnTo>
                      <a:pt x="47625" y="0"/>
                    </a:lnTo>
                  </a:path>
                </a:pathLst>
              </a:custGeom>
              <a:noFill/>
              <a:ln w="15875">
                <a:solidFill>
                  <a:srgbClr val="721E0D"/>
                </a:solidFill>
              </a:ln>
            </p:spPr>
          </p:sp>
          <p:sp>
            <p:nvSpPr>
              <p:cNvPr id="11" name="Freeform 11"/>
              <p:cNvSpPr/>
              <p:nvPr/>
            </p:nvSpPr>
            <p:spPr>
              <a:xfrm>
                <a:off x="319087" y="877887"/>
                <a:ext cx="47625" cy="9525"/>
              </a:xfrm>
              <a:custGeom>
                <a:avLst/>
                <a:gdLst/>
                <a:ahLst/>
                <a:cxnLst/>
                <a:rect l="l" t="t" r="r" b="b"/>
                <a:pathLst>
                  <a:path w="47625" h="9525">
                    <a:moveTo>
                      <a:pt x="0" y="0"/>
                    </a:moveTo>
                    <a:lnTo>
                      <a:pt x="47625" y="0"/>
                    </a:lnTo>
                  </a:path>
                </a:pathLst>
              </a:custGeom>
              <a:noFill/>
              <a:ln w="15875">
                <a:solidFill>
                  <a:srgbClr val="721E0D"/>
                </a:solidFill>
              </a:ln>
            </p:spPr>
          </p:sp>
        </p:grpSp>
        <p:sp>
          <p:nvSpPr>
            <p:cNvPr id="13" name="TextBox 13"/>
            <p:cNvSpPr txBox="1"/>
            <p:nvPr/>
          </p:nvSpPr>
          <p:spPr>
            <a:xfrm>
              <a:off x="509206" y="786051"/>
              <a:ext cx="3273476" cy="198025"/>
            </a:xfrm>
            <a:prstGeom prst="rect">
              <a:avLst/>
            </a:prstGeom>
            <a:noFill/>
            <a:ln>
              <a:noFill/>
            </a:ln>
          </p:spPr>
          <p:txBody>
            <a:bodyPr wrap="none" lIns="0" tIns="0" rIns="0" bIns="0" anchor="t" anchorCtr="0">
              <a:spAutoFit/>
            </a:bodyPr>
            <a:lstStyle/>
            <a:p>
              <a:pPr algn="l"/>
              <a:r>
                <a:rPr lang="zh-CN" sz="1010" b="1" dirty="0">
                  <a:solidFill>
                    <a:srgbClr val="721E0D"/>
                  </a:solidFill>
                  <a:latin typeface="+mn-lt"/>
                  <a:ea typeface="+mn-ea"/>
                  <a:cs typeface="+mn-cs"/>
                </a:rPr>
                <a:t>关键假设：市场环境、客户预算、决策周期、竞争强度</a:t>
              </a:r>
            </a:p>
          </p:txBody>
        </p:sp>
      </p:grpSp>
      <p:grpSp>
        <p:nvGrpSpPr>
          <p:cNvPr id="18" name="recommend-pill"/>
          <p:cNvGrpSpPr/>
          <p:nvPr/>
        </p:nvGrpSpPr>
        <p:grpSpPr>
          <a:xfrm>
            <a:off x="8915400" y="704850"/>
            <a:ext cx="3048000" cy="253603"/>
            <a:chOff x="8915400" y="704850"/>
            <a:chExt cx="3048000" cy="253603"/>
          </a:xfrm>
        </p:grpSpPr>
        <p:sp>
          <p:nvSpPr>
            <p:cNvPr id="15" name="Rectangle 15"/>
            <p:cNvSpPr/>
            <p:nvPr/>
          </p:nvSpPr>
          <p:spPr>
            <a:xfrm>
              <a:off x="8915400" y="704850"/>
              <a:ext cx="3048000" cy="247650"/>
            </a:xfrm>
            <a:prstGeom prst="roundRect">
              <a:avLst>
                <a:gd name="adj" fmla="val 23077"/>
              </a:avLst>
            </a:prstGeom>
            <a:solidFill>
              <a:srgbClr val="721E0D"/>
            </a:solidFill>
            <a:ln>
              <a:noFill/>
            </a:ln>
          </p:spPr>
        </p:sp>
        <p:sp>
          <p:nvSpPr>
            <p:cNvPr id="16" name="Freeform 16"/>
            <p:cNvSpPr/>
            <p:nvPr/>
          </p:nvSpPr>
          <p:spPr>
            <a:xfrm>
              <a:off x="9137694" y="765188"/>
              <a:ext cx="126822" cy="120606"/>
            </a:xfrm>
            <a:custGeom>
              <a:avLst/>
              <a:gdLst/>
              <a:ahLst/>
              <a:cxnLst/>
              <a:rect l="l" t="t" r="r" b="b"/>
              <a:pathLst>
                <a:path w="126822" h="120606">
                  <a:moveTo>
                    <a:pt x="63456" y="100000"/>
                  </a:moveTo>
                  <a:lnTo>
                    <a:pt x="24263" y="120606"/>
                  </a:lnTo>
                  <a:lnTo>
                    <a:pt x="31750" y="76962"/>
                  </a:lnTo>
                  <a:lnTo>
                    <a:pt x="0" y="46057"/>
                  </a:lnTo>
                  <a:lnTo>
                    <a:pt x="43815" y="39707"/>
                  </a:lnTo>
                  <a:lnTo>
                    <a:pt x="63411" y="0"/>
                  </a:lnTo>
                  <a:lnTo>
                    <a:pt x="83007" y="39707"/>
                  </a:lnTo>
                  <a:lnTo>
                    <a:pt x="126822" y="46057"/>
                  </a:lnTo>
                  <a:lnTo>
                    <a:pt x="95072" y="76962"/>
                  </a:lnTo>
                  <a:lnTo>
                    <a:pt x="102559" y="120606"/>
                  </a:lnTo>
                  <a:lnTo>
                    <a:pt x="63456" y="100000"/>
                  </a:lnTo>
                </a:path>
              </a:pathLst>
            </a:custGeom>
            <a:noFill/>
            <a:ln w="12700">
              <a:solidFill>
                <a:srgbClr val="FFFFFF"/>
              </a:solidFill>
            </a:ln>
          </p:spPr>
        </p:sp>
        <p:sp>
          <p:nvSpPr>
            <p:cNvPr id="17" name="TextBox 17"/>
            <p:cNvSpPr txBox="1"/>
            <p:nvPr/>
          </p:nvSpPr>
          <p:spPr>
            <a:xfrm>
              <a:off x="9348788" y="775097"/>
              <a:ext cx="15280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建议以基准情景为核心目标</a:t>
              </a:r>
            </a:p>
          </p:txBody>
        </p:sp>
      </p:grpSp>
      <p:grpSp>
        <p:nvGrpSpPr>
          <p:cNvPr id="74" name="scenario-optimistic"/>
          <p:cNvGrpSpPr/>
          <p:nvPr/>
        </p:nvGrpSpPr>
        <p:grpSpPr>
          <a:xfrm>
            <a:off x="228600" y="1047750"/>
            <a:ext cx="3810000" cy="2857500"/>
            <a:chOff x="228600" y="1047750"/>
            <a:chExt cx="3810000" cy="2857500"/>
          </a:xfrm>
        </p:grpSpPr>
        <p:sp>
          <p:nvSpPr>
            <p:cNvPr id="19" name="Rectangle 19"/>
            <p:cNvSpPr/>
            <p:nvPr/>
          </p:nvSpPr>
          <p:spPr>
            <a:xfrm>
              <a:off x="228600" y="1047750"/>
              <a:ext cx="3810000" cy="2857500"/>
            </a:xfrm>
            <a:prstGeom prst="roundRect">
              <a:avLst>
                <a:gd name="adj" fmla="val 3333"/>
              </a:avLst>
            </a:prstGeom>
            <a:solidFill>
              <a:srgbClr val="FFFFFF"/>
            </a:solidFill>
            <a:ln w="14288">
              <a:solidFill>
                <a:srgbClr val="C9D6EE"/>
              </a:solidFill>
            </a:ln>
          </p:spPr>
        </p:sp>
        <p:sp>
          <p:nvSpPr>
            <p:cNvPr id="20" name="Freeform 20"/>
            <p:cNvSpPr/>
            <p:nvPr/>
          </p:nvSpPr>
          <p:spPr>
            <a:xfrm>
              <a:off x="228600" y="1047750"/>
              <a:ext cx="3810000" cy="361950"/>
            </a:xfrm>
            <a:custGeom>
              <a:avLst/>
              <a:gdLst/>
              <a:ahLst/>
              <a:cxnLst/>
              <a:rect l="l" t="t" r="r" b="b"/>
              <a:pathLst>
                <a:path w="3810000" h="361950">
                  <a:moveTo>
                    <a:pt x="95250" y="0"/>
                  </a:moveTo>
                  <a:lnTo>
                    <a:pt x="3714750" y="0"/>
                  </a:lnTo>
                  <a:cubicBezTo>
                    <a:pt x="3767355" y="0"/>
                    <a:pt x="3810000" y="42645"/>
                    <a:pt x="3810000" y="95250"/>
                  </a:cubicBezTo>
                  <a:lnTo>
                    <a:pt x="3810000" y="361950"/>
                  </a:lnTo>
                  <a:lnTo>
                    <a:pt x="0" y="361950"/>
                  </a:lnTo>
                  <a:lnTo>
                    <a:pt x="0" y="95250"/>
                  </a:lnTo>
                  <a:cubicBezTo>
                    <a:pt x="0" y="42645"/>
                    <a:pt x="42645" y="0"/>
                    <a:pt x="95250" y="0"/>
                  </a:cubicBezTo>
                  <a:close/>
                </a:path>
              </a:pathLst>
            </a:custGeom>
            <a:solidFill>
              <a:srgbClr val="721E0D"/>
            </a:solidFill>
            <a:ln>
              <a:noFill/>
            </a:ln>
          </p:spPr>
        </p:sp>
        <p:grpSp>
          <p:nvGrpSpPr>
            <p:cNvPr id="23" name="Group 23"/>
            <p:cNvGrpSpPr/>
            <p:nvPr/>
          </p:nvGrpSpPr>
          <p:grpSpPr>
            <a:xfrm>
              <a:off x="388144" y="1150144"/>
              <a:ext cx="157163" cy="157163"/>
              <a:chOff x="388144" y="1150144"/>
              <a:chExt cx="157163" cy="157163"/>
            </a:xfrm>
          </p:grpSpPr>
          <p:sp>
            <p:nvSpPr>
              <p:cNvPr id="21" name="Freeform 21"/>
              <p:cNvSpPr/>
              <p:nvPr/>
            </p:nvSpPr>
            <p:spPr>
              <a:xfrm>
                <a:off x="431800" y="1193800"/>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22" name="Freeform 22"/>
              <p:cNvSpPr/>
              <p:nvPr/>
            </p:nvSpPr>
            <p:spPr>
              <a:xfrm>
                <a:off x="388144" y="1150144"/>
                <a:ext cx="157163" cy="157163"/>
              </a:xfrm>
              <a:custGeom>
                <a:avLst/>
                <a:gdLst/>
                <a:ahLst/>
                <a:cxnLst/>
                <a:rect l="l" t="t" r="r" b="b"/>
                <a:pathLst>
                  <a:path w="157163" h="157163">
                    <a:moveTo>
                      <a:pt x="0" y="78581"/>
                    </a:moveTo>
                    <a:lnTo>
                      <a:pt x="8731" y="78581"/>
                    </a:lnTo>
                    <a:moveTo>
                      <a:pt x="78581" y="0"/>
                    </a:moveTo>
                    <a:lnTo>
                      <a:pt x="78581" y="8731"/>
                    </a:lnTo>
                    <a:moveTo>
                      <a:pt x="148431" y="78581"/>
                    </a:moveTo>
                    <a:lnTo>
                      <a:pt x="157163" y="78581"/>
                    </a:lnTo>
                    <a:moveTo>
                      <a:pt x="78581" y="148431"/>
                    </a:moveTo>
                    <a:lnTo>
                      <a:pt x="78581" y="157163"/>
                    </a:lnTo>
                    <a:moveTo>
                      <a:pt x="22701" y="22701"/>
                    </a:moveTo>
                    <a:lnTo>
                      <a:pt x="28813" y="28813"/>
                    </a:lnTo>
                    <a:moveTo>
                      <a:pt x="134461" y="22701"/>
                    </a:moveTo>
                    <a:lnTo>
                      <a:pt x="128349" y="28813"/>
                    </a:lnTo>
                    <a:moveTo>
                      <a:pt x="128349" y="128349"/>
                    </a:moveTo>
                    <a:lnTo>
                      <a:pt x="134461" y="134461"/>
                    </a:lnTo>
                    <a:moveTo>
                      <a:pt x="28813" y="128349"/>
                    </a:moveTo>
                    <a:lnTo>
                      <a:pt x="22701" y="134461"/>
                    </a:lnTo>
                  </a:path>
                </a:pathLst>
              </a:custGeom>
              <a:noFill/>
              <a:ln w="17463">
                <a:solidFill>
                  <a:srgbClr val="FFFFFF"/>
                </a:solidFill>
              </a:ln>
            </p:spPr>
          </p:sp>
        </p:grpSp>
        <p:sp>
          <p:nvSpPr>
            <p:cNvPr id="24" name="TextBox 24"/>
            <p:cNvSpPr txBox="1"/>
            <p:nvPr/>
          </p:nvSpPr>
          <p:spPr>
            <a:xfrm>
              <a:off x="641604" y="115633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乐观情景</a:t>
              </a:r>
            </a:p>
          </p:txBody>
        </p:sp>
        <p:sp>
          <p:nvSpPr>
            <p:cNvPr id="25" name="TextBox 25"/>
            <p:cNvSpPr txBox="1"/>
            <p:nvPr/>
          </p:nvSpPr>
          <p:spPr>
            <a:xfrm>
              <a:off x="3112960" y="1188720"/>
              <a:ext cx="797052" cy="176212"/>
            </a:xfrm>
            <a:prstGeom prst="rect">
              <a:avLst/>
            </a:prstGeom>
            <a:noFill/>
            <a:ln>
              <a:noFill/>
            </a:ln>
          </p:spPr>
          <p:txBody>
            <a:bodyPr wrap="none" lIns="0" tIns="0" rIns="0" bIns="0" anchor="t" anchorCtr="0">
              <a:spAutoFit/>
            </a:bodyPr>
            <a:lstStyle/>
            <a:p>
              <a:pPr algn="r"/>
              <a:r>
                <a:rPr lang="zh-CN" sz="900" dirty="0">
                  <a:solidFill>
                    <a:srgbClr val="FFFFFF"/>
                  </a:solidFill>
                  <a:latin typeface="+mn-lt"/>
                  <a:ea typeface="+mn-ea"/>
                  <a:cs typeface="+mn-cs"/>
                </a:rPr>
                <a:t xml:space="preserve">   完成率88%</a:t>
              </a:r>
            </a:p>
          </p:txBody>
        </p:sp>
        <p:sp>
          <p:nvSpPr>
            <p:cNvPr id="26" name="TextBox 26"/>
            <p:cNvSpPr txBox="1"/>
            <p:nvPr/>
          </p:nvSpPr>
          <p:spPr>
            <a:xfrm>
              <a:off x="1220086" y="1620202"/>
              <a:ext cx="1827028" cy="205359"/>
            </a:xfrm>
            <a:prstGeom prst="rect">
              <a:avLst/>
            </a:prstGeom>
            <a:noFill/>
            <a:ln>
              <a:noFill/>
            </a:ln>
          </p:spPr>
          <p:txBody>
            <a:bodyPr wrap="none" lIns="0" tIns="0" rIns="0" bIns="0" anchor="t" anchorCtr="0">
              <a:spAutoFit/>
            </a:bodyPr>
            <a:lstStyle/>
            <a:p>
              <a:pPr algn="ctr"/>
              <a:r>
                <a:rPr lang="zh-CN" sz="1050" dirty="0">
                  <a:solidFill>
                    <a:srgbClr val="523E3A"/>
                  </a:solidFill>
                  <a:latin typeface="+mn-lt"/>
                  <a:ea typeface="+mn-ea"/>
                  <a:cs typeface="+mn-cs"/>
                </a:rPr>
                <a:t xml:space="preserve">   追回 </a:t>
              </a:r>
              <a:r>
                <a:rPr lang="zh-CN" sz="2250" b="1" dirty="0">
                  <a:solidFill>
                    <a:srgbClr val="C03616"/>
                  </a:solidFill>
                  <a:latin typeface="+mn-lt"/>
                  <a:ea typeface="+mn-ea"/>
                  <a:cs typeface="+mn-cs"/>
                </a:rPr>
                <a:t>1.60</a:t>
              </a:r>
              <a:r>
                <a:rPr lang="zh-CN" sz="1050" dirty="0">
                  <a:solidFill>
                    <a:srgbClr val="523E3A"/>
                  </a:solidFill>
                  <a:latin typeface="+mn-lt"/>
                  <a:ea typeface="+mn-ea"/>
                  <a:cs typeface="+mn-cs"/>
                </a:rPr>
                <a:t xml:space="preserve"> 亿元   </a:t>
              </a:r>
            </a:p>
          </p:txBody>
        </p:sp>
        <p:sp>
          <p:nvSpPr>
            <p:cNvPr id="27" name="TextBox 27"/>
            <p:cNvSpPr txBox="1"/>
            <p:nvPr/>
          </p:nvSpPr>
          <p:spPr>
            <a:xfrm>
              <a:off x="2015182" y="1984534"/>
              <a:ext cx="770236" cy="133350"/>
            </a:xfrm>
            <a:prstGeom prst="rect">
              <a:avLst/>
            </a:prstGeom>
            <a:noFill/>
            <a:ln>
              <a:noFill/>
            </a:ln>
          </p:spPr>
          <p:txBody>
            <a:bodyPr wrap="none" lIns="0" tIns="0" rIns="0" bIns="0" anchor="t" anchorCtr="0">
              <a:spAutoFit/>
            </a:bodyPr>
            <a:lstStyle/>
            <a:p>
              <a:pPr algn="ctr"/>
              <a:r>
                <a:rPr lang="zh-CN" sz="680" b="1" dirty="0">
                  <a:solidFill>
                    <a:srgbClr val="6E7686"/>
                  </a:solidFill>
                  <a:latin typeface="+mn-lt"/>
                  <a:ea typeface="+mn-ea"/>
                  <a:cs typeface="+mn-cs"/>
                </a:rPr>
                <a:t xml:space="preserve">  金额（亿元）  </a:t>
              </a:r>
            </a:p>
          </p:txBody>
        </p:sp>
        <p:sp>
          <p:nvSpPr>
            <p:cNvPr id="28" name="TextBox 28"/>
            <p:cNvSpPr txBox="1"/>
            <p:nvPr/>
          </p:nvSpPr>
          <p:spPr>
            <a:xfrm>
              <a:off x="2905925" y="1984534"/>
              <a:ext cx="284150" cy="133350"/>
            </a:xfrm>
            <a:prstGeom prst="rect">
              <a:avLst/>
            </a:prstGeom>
            <a:noFill/>
            <a:ln>
              <a:noFill/>
            </a:ln>
          </p:spPr>
          <p:txBody>
            <a:bodyPr wrap="none" lIns="0" tIns="0" rIns="0" bIns="0" anchor="t" anchorCtr="0">
              <a:spAutoFit/>
            </a:bodyPr>
            <a:lstStyle/>
            <a:p>
              <a:pPr algn="ctr"/>
              <a:r>
                <a:rPr lang="zh-CN" sz="680" b="1" dirty="0">
                  <a:solidFill>
                    <a:srgbClr val="6E7686"/>
                  </a:solidFill>
                  <a:latin typeface="+mn-lt"/>
                  <a:ea typeface="+mn-ea"/>
                  <a:cs typeface="+mn-cs"/>
                </a:rPr>
                <a:t>转化率</a:t>
              </a:r>
            </a:p>
          </p:txBody>
        </p:sp>
        <p:sp>
          <p:nvSpPr>
            <p:cNvPr id="29" name="TextBox 29"/>
            <p:cNvSpPr txBox="1"/>
            <p:nvPr/>
          </p:nvSpPr>
          <p:spPr>
            <a:xfrm>
              <a:off x="3496475" y="1984534"/>
              <a:ext cx="284150" cy="133350"/>
            </a:xfrm>
            <a:prstGeom prst="rect">
              <a:avLst/>
            </a:prstGeom>
            <a:noFill/>
            <a:ln>
              <a:noFill/>
            </a:ln>
          </p:spPr>
          <p:txBody>
            <a:bodyPr wrap="none" lIns="0" tIns="0" rIns="0" bIns="0" anchor="t" anchorCtr="0">
              <a:spAutoFit/>
            </a:bodyPr>
            <a:lstStyle/>
            <a:p>
              <a:pPr algn="ctr"/>
              <a:r>
                <a:rPr lang="zh-CN" sz="680" b="1" dirty="0">
                  <a:solidFill>
                    <a:srgbClr val="6E7686"/>
                  </a:solidFill>
                  <a:latin typeface="+mn-lt"/>
                  <a:ea typeface="+mn-ea"/>
                  <a:cs typeface="+mn-cs"/>
                </a:rPr>
                <a:t>较基准</a:t>
              </a:r>
            </a:p>
          </p:txBody>
        </p:sp>
        <p:sp>
          <p:nvSpPr>
            <p:cNvPr id="30" name="Rectangle 30"/>
            <p:cNvSpPr/>
            <p:nvPr/>
          </p:nvSpPr>
          <p:spPr>
            <a:xfrm>
              <a:off x="342900" y="2152650"/>
              <a:ext cx="1524000" cy="266700"/>
            </a:xfrm>
            <a:prstGeom prst="roundRect">
              <a:avLst>
                <a:gd name="adj" fmla="val 14286"/>
              </a:avLst>
            </a:prstGeom>
            <a:solidFill>
              <a:srgbClr val="721E0D"/>
            </a:solidFill>
            <a:ln>
              <a:noFill/>
            </a:ln>
          </p:spPr>
        </p:sp>
        <p:grpSp>
          <p:nvGrpSpPr>
            <p:cNvPr id="35" name="Group 35"/>
            <p:cNvGrpSpPr/>
            <p:nvPr/>
          </p:nvGrpSpPr>
          <p:grpSpPr>
            <a:xfrm>
              <a:off x="454819" y="2235994"/>
              <a:ext cx="100012" cy="100012"/>
              <a:chOff x="454819" y="2235994"/>
              <a:chExt cx="100012" cy="100012"/>
            </a:xfrm>
          </p:grpSpPr>
          <p:sp>
            <p:nvSpPr>
              <p:cNvPr id="31" name="Freeform 31"/>
              <p:cNvSpPr/>
              <p:nvPr/>
            </p:nvSpPr>
            <p:spPr>
              <a:xfrm>
                <a:off x="465931" y="223599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FFFFFF"/>
                </a:solidFill>
              </a:ln>
            </p:spPr>
          </p:sp>
          <p:sp>
            <p:nvSpPr>
              <p:cNvPr id="32" name="Freeform 32"/>
              <p:cNvSpPr/>
              <p:nvPr/>
            </p:nvSpPr>
            <p:spPr>
              <a:xfrm>
                <a:off x="454819" y="230266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FFFFFF"/>
                </a:solidFill>
              </a:ln>
            </p:spPr>
          </p:sp>
          <p:sp>
            <p:nvSpPr>
              <p:cNvPr id="33" name="Freeform 33"/>
              <p:cNvSpPr/>
              <p:nvPr/>
            </p:nvSpPr>
            <p:spPr>
              <a:xfrm>
                <a:off x="527050" y="223671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FFFFFF"/>
                </a:solidFill>
              </a:ln>
            </p:spPr>
          </p:sp>
          <p:sp>
            <p:nvSpPr>
              <p:cNvPr id="34" name="Freeform 34"/>
              <p:cNvSpPr/>
              <p:nvPr/>
            </p:nvSpPr>
            <p:spPr>
              <a:xfrm>
                <a:off x="538162" y="230350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FFFFFF"/>
                </a:solidFill>
              </a:ln>
            </p:spPr>
          </p:sp>
        </p:grpSp>
        <p:sp>
          <p:nvSpPr>
            <p:cNvPr id="36" name="TextBox 36"/>
            <p:cNvSpPr txBox="1"/>
            <p:nvPr/>
          </p:nvSpPr>
          <p:spPr>
            <a:xfrm>
              <a:off x="623888" y="2239089"/>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线索机会池</a:t>
              </a:r>
            </a:p>
          </p:txBody>
        </p:sp>
        <p:sp>
          <p:nvSpPr>
            <p:cNvPr id="37" name="TextBox 37"/>
            <p:cNvSpPr txBox="1"/>
            <p:nvPr/>
          </p:nvSpPr>
          <p:spPr>
            <a:xfrm>
              <a:off x="2140540" y="22445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6.20  </a:t>
              </a:r>
            </a:p>
          </p:txBody>
        </p:sp>
        <p:sp>
          <p:nvSpPr>
            <p:cNvPr id="38" name="TextBox 38"/>
            <p:cNvSpPr txBox="1"/>
            <p:nvPr/>
          </p:nvSpPr>
          <p:spPr>
            <a:xfrm>
              <a:off x="3013991" y="2248614"/>
              <a:ext cx="68017"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a:t>
              </a:r>
            </a:p>
          </p:txBody>
        </p:sp>
        <p:sp>
          <p:nvSpPr>
            <p:cNvPr id="39" name="TextBox 39"/>
            <p:cNvSpPr txBox="1"/>
            <p:nvPr/>
          </p:nvSpPr>
          <p:spPr>
            <a:xfrm>
              <a:off x="3376953" y="2248614"/>
              <a:ext cx="523195" cy="154781"/>
            </a:xfrm>
            <a:prstGeom prst="rect">
              <a:avLst/>
            </a:prstGeom>
            <a:noFill/>
            <a:ln>
              <a:noFill/>
            </a:ln>
          </p:spPr>
          <p:txBody>
            <a:bodyPr wrap="none" lIns="0" tIns="0" rIns="0" bIns="0" anchor="t" anchorCtr="0">
              <a:spAutoFit/>
            </a:bodyPr>
            <a:lstStyle/>
            <a:p>
              <a:pPr algn="ctr"/>
              <a:r>
                <a:rPr lang="zh-CN" sz="790" b="1" dirty="0">
                  <a:solidFill>
                    <a:srgbClr val="C03616"/>
                  </a:solidFill>
                  <a:latin typeface="+mn-lt"/>
                  <a:ea typeface="+mn-ea"/>
                  <a:cs typeface="+mn-cs"/>
                </a:rPr>
                <a:t xml:space="preserve">  +29%  </a:t>
              </a:r>
            </a:p>
          </p:txBody>
        </p:sp>
        <p:sp>
          <p:nvSpPr>
            <p:cNvPr id="40" name="Line 40"/>
            <p:cNvSpPr/>
            <p:nvPr/>
          </p:nvSpPr>
          <p:spPr>
            <a:xfrm>
              <a:off x="2000250" y="2457450"/>
              <a:ext cx="1924050" cy="9525"/>
            </a:xfrm>
            <a:custGeom>
              <a:avLst/>
              <a:gdLst/>
              <a:ahLst/>
              <a:cxnLst/>
              <a:rect l="l" t="t" r="r" b="b"/>
              <a:pathLst>
                <a:path w="1924050" h="9525">
                  <a:moveTo>
                    <a:pt x="0" y="0"/>
                  </a:moveTo>
                  <a:lnTo>
                    <a:pt x="1924050" y="0"/>
                  </a:lnTo>
                </a:path>
              </a:pathLst>
            </a:custGeom>
            <a:noFill/>
            <a:ln w="9525">
              <a:solidFill>
                <a:srgbClr val="E6EAF2"/>
              </a:solidFill>
            </a:ln>
          </p:spPr>
        </p:sp>
        <p:sp>
          <p:nvSpPr>
            <p:cNvPr id="41" name="Rectangle 41"/>
            <p:cNvSpPr/>
            <p:nvPr/>
          </p:nvSpPr>
          <p:spPr>
            <a:xfrm>
              <a:off x="409575" y="2457450"/>
              <a:ext cx="1390650" cy="266700"/>
            </a:xfrm>
            <a:prstGeom prst="roundRect">
              <a:avLst>
                <a:gd name="adj" fmla="val 14286"/>
              </a:avLst>
            </a:prstGeom>
            <a:solidFill>
              <a:srgbClr val="B8351A"/>
            </a:solidFill>
            <a:ln>
              <a:noFill/>
            </a:ln>
          </p:spPr>
        </p:sp>
        <p:grpSp>
          <p:nvGrpSpPr>
            <p:cNvPr id="46" name="Group 46"/>
            <p:cNvGrpSpPr/>
            <p:nvPr/>
          </p:nvGrpSpPr>
          <p:grpSpPr>
            <a:xfrm>
              <a:off x="521494" y="2540794"/>
              <a:ext cx="100012" cy="94456"/>
              <a:chOff x="521494" y="2540794"/>
              <a:chExt cx="100012" cy="94456"/>
            </a:xfrm>
          </p:grpSpPr>
          <p:sp>
            <p:nvSpPr>
              <p:cNvPr id="42" name="Freeform 42"/>
              <p:cNvSpPr/>
              <p:nvPr/>
            </p:nvSpPr>
            <p:spPr>
              <a:xfrm>
                <a:off x="521494" y="2563019"/>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FFFFFF"/>
                </a:solidFill>
              </a:ln>
            </p:spPr>
          </p:sp>
          <p:sp>
            <p:nvSpPr>
              <p:cNvPr id="43" name="Freeform 43"/>
              <p:cNvSpPr/>
              <p:nvPr/>
            </p:nvSpPr>
            <p:spPr>
              <a:xfrm>
                <a:off x="549275" y="2540794"/>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FFFFFF"/>
                </a:solidFill>
              </a:ln>
            </p:spPr>
          </p:sp>
          <p:sp>
            <p:nvSpPr>
              <p:cNvPr id="44" name="Freeform 44"/>
              <p:cNvSpPr/>
              <p:nvPr/>
            </p:nvSpPr>
            <p:spPr>
              <a:xfrm>
                <a:off x="571500" y="2590800"/>
                <a:ext cx="9525" cy="9525"/>
              </a:xfrm>
              <a:custGeom>
                <a:avLst/>
                <a:gdLst/>
                <a:ahLst/>
                <a:cxnLst/>
                <a:rect l="l" t="t" r="r" b="b"/>
                <a:pathLst>
                  <a:path w="9525" h="9525">
                    <a:moveTo>
                      <a:pt x="0" y="0"/>
                    </a:moveTo>
                    <a:lnTo>
                      <a:pt x="0" y="56"/>
                    </a:lnTo>
                  </a:path>
                </a:pathLst>
              </a:custGeom>
              <a:noFill/>
              <a:ln w="11112">
                <a:solidFill>
                  <a:srgbClr val="FFFFFF"/>
                </a:solidFill>
              </a:ln>
            </p:spPr>
          </p:sp>
          <p:sp>
            <p:nvSpPr>
              <p:cNvPr id="45" name="Freeform 45"/>
              <p:cNvSpPr/>
              <p:nvPr/>
            </p:nvSpPr>
            <p:spPr>
              <a:xfrm>
                <a:off x="521494" y="2596356"/>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FFFFFF"/>
                </a:solidFill>
              </a:ln>
            </p:spPr>
          </p:sp>
        </p:grpSp>
        <p:sp>
          <p:nvSpPr>
            <p:cNvPr id="47" name="TextBox 47"/>
            <p:cNvSpPr txBox="1"/>
            <p:nvPr/>
          </p:nvSpPr>
          <p:spPr>
            <a:xfrm>
              <a:off x="690562" y="25438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有效商机</a:t>
              </a:r>
            </a:p>
          </p:txBody>
        </p:sp>
        <p:sp>
          <p:nvSpPr>
            <p:cNvPr id="48" name="TextBox 48"/>
            <p:cNvSpPr txBox="1"/>
            <p:nvPr/>
          </p:nvSpPr>
          <p:spPr>
            <a:xfrm>
              <a:off x="2140540" y="25493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3.10  </a:t>
              </a:r>
            </a:p>
          </p:txBody>
        </p:sp>
        <p:sp>
          <p:nvSpPr>
            <p:cNvPr id="49" name="TextBox 49"/>
            <p:cNvSpPr txBox="1"/>
            <p:nvPr/>
          </p:nvSpPr>
          <p:spPr>
            <a:xfrm>
              <a:off x="2827879" y="2553414"/>
              <a:ext cx="440242"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 xml:space="preserve">  50%  </a:t>
              </a:r>
            </a:p>
          </p:txBody>
        </p:sp>
        <p:sp>
          <p:nvSpPr>
            <p:cNvPr id="50" name="TextBox 50"/>
            <p:cNvSpPr txBox="1"/>
            <p:nvPr/>
          </p:nvSpPr>
          <p:spPr>
            <a:xfrm>
              <a:off x="3376953" y="2553414"/>
              <a:ext cx="523195" cy="154781"/>
            </a:xfrm>
            <a:prstGeom prst="rect">
              <a:avLst/>
            </a:prstGeom>
            <a:noFill/>
            <a:ln>
              <a:noFill/>
            </a:ln>
          </p:spPr>
          <p:txBody>
            <a:bodyPr wrap="none" lIns="0" tIns="0" rIns="0" bIns="0" anchor="t" anchorCtr="0">
              <a:spAutoFit/>
            </a:bodyPr>
            <a:lstStyle/>
            <a:p>
              <a:pPr algn="ctr"/>
              <a:r>
                <a:rPr lang="zh-CN" sz="790" b="1" dirty="0">
                  <a:solidFill>
                    <a:srgbClr val="C03616"/>
                  </a:solidFill>
                  <a:latin typeface="+mn-lt"/>
                  <a:ea typeface="+mn-ea"/>
                  <a:cs typeface="+mn-cs"/>
                </a:rPr>
                <a:t xml:space="preserve">  +25%  </a:t>
              </a:r>
            </a:p>
          </p:txBody>
        </p:sp>
        <p:sp>
          <p:nvSpPr>
            <p:cNvPr id="51" name="Line 51"/>
            <p:cNvSpPr/>
            <p:nvPr/>
          </p:nvSpPr>
          <p:spPr>
            <a:xfrm>
              <a:off x="2000250" y="2762250"/>
              <a:ext cx="1924050" cy="9525"/>
            </a:xfrm>
            <a:custGeom>
              <a:avLst/>
              <a:gdLst/>
              <a:ahLst/>
              <a:cxnLst/>
              <a:rect l="l" t="t" r="r" b="b"/>
              <a:pathLst>
                <a:path w="1924050" h="9525">
                  <a:moveTo>
                    <a:pt x="0" y="0"/>
                  </a:moveTo>
                  <a:lnTo>
                    <a:pt x="1924050" y="0"/>
                  </a:lnTo>
                </a:path>
              </a:pathLst>
            </a:custGeom>
            <a:noFill/>
            <a:ln w="9525">
              <a:solidFill>
                <a:srgbClr val="E6EAF2"/>
              </a:solidFill>
            </a:ln>
          </p:spPr>
        </p:sp>
        <p:sp>
          <p:nvSpPr>
            <p:cNvPr id="52" name="Rectangle 52"/>
            <p:cNvSpPr/>
            <p:nvPr/>
          </p:nvSpPr>
          <p:spPr>
            <a:xfrm>
              <a:off x="476250" y="2762250"/>
              <a:ext cx="1257300" cy="266700"/>
            </a:xfrm>
            <a:prstGeom prst="roundRect">
              <a:avLst>
                <a:gd name="adj" fmla="val 14286"/>
              </a:avLst>
            </a:prstGeom>
            <a:solidFill>
              <a:srgbClr val="721E0D"/>
            </a:solidFill>
            <a:ln>
              <a:noFill/>
            </a:ln>
          </p:spPr>
        </p:sp>
        <p:grpSp>
          <p:nvGrpSpPr>
            <p:cNvPr id="55" name="Group 55"/>
            <p:cNvGrpSpPr/>
            <p:nvPr/>
          </p:nvGrpSpPr>
          <p:grpSpPr>
            <a:xfrm>
              <a:off x="588169" y="2845594"/>
              <a:ext cx="100012" cy="100012"/>
              <a:chOff x="588169" y="2845594"/>
              <a:chExt cx="100012" cy="100012"/>
            </a:xfrm>
          </p:grpSpPr>
          <p:sp>
            <p:nvSpPr>
              <p:cNvPr id="53" name="Freeform 53"/>
              <p:cNvSpPr/>
              <p:nvPr/>
            </p:nvSpPr>
            <p:spPr>
              <a:xfrm>
                <a:off x="588169" y="28455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sp>
            <p:nvSpPr>
              <p:cNvPr id="54" name="Freeform 54"/>
              <p:cNvSpPr/>
              <p:nvPr/>
            </p:nvSpPr>
            <p:spPr>
              <a:xfrm>
                <a:off x="621506" y="2884487"/>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56" name="TextBox 56"/>
            <p:cNvSpPr txBox="1"/>
            <p:nvPr/>
          </p:nvSpPr>
          <p:spPr>
            <a:xfrm>
              <a:off x="757238" y="28486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预计签约</a:t>
              </a:r>
            </a:p>
          </p:txBody>
        </p:sp>
        <p:sp>
          <p:nvSpPr>
            <p:cNvPr id="57" name="TextBox 57"/>
            <p:cNvSpPr txBox="1"/>
            <p:nvPr/>
          </p:nvSpPr>
          <p:spPr>
            <a:xfrm>
              <a:off x="2140540" y="28541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2.00  </a:t>
              </a:r>
            </a:p>
          </p:txBody>
        </p:sp>
        <p:sp>
          <p:nvSpPr>
            <p:cNvPr id="58" name="TextBox 58"/>
            <p:cNvSpPr txBox="1"/>
            <p:nvPr/>
          </p:nvSpPr>
          <p:spPr>
            <a:xfrm>
              <a:off x="2827879" y="2858214"/>
              <a:ext cx="440242"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 xml:space="preserve">  64%  </a:t>
              </a:r>
            </a:p>
          </p:txBody>
        </p:sp>
        <p:sp>
          <p:nvSpPr>
            <p:cNvPr id="59" name="TextBox 59"/>
            <p:cNvSpPr txBox="1"/>
            <p:nvPr/>
          </p:nvSpPr>
          <p:spPr>
            <a:xfrm>
              <a:off x="3376953" y="2858214"/>
              <a:ext cx="523195" cy="154781"/>
            </a:xfrm>
            <a:prstGeom prst="rect">
              <a:avLst/>
            </a:prstGeom>
            <a:noFill/>
            <a:ln>
              <a:noFill/>
            </a:ln>
          </p:spPr>
          <p:txBody>
            <a:bodyPr wrap="none" lIns="0" tIns="0" rIns="0" bIns="0" anchor="t" anchorCtr="0">
              <a:spAutoFit/>
            </a:bodyPr>
            <a:lstStyle/>
            <a:p>
              <a:pPr algn="ctr"/>
              <a:r>
                <a:rPr lang="zh-CN" sz="790" b="1" dirty="0">
                  <a:solidFill>
                    <a:srgbClr val="C03616"/>
                  </a:solidFill>
                  <a:latin typeface="+mn-lt"/>
                  <a:ea typeface="+mn-ea"/>
                  <a:cs typeface="+mn-cs"/>
                </a:rPr>
                <a:t xml:space="preserve">  +23%  </a:t>
              </a:r>
            </a:p>
          </p:txBody>
        </p:sp>
        <p:sp>
          <p:nvSpPr>
            <p:cNvPr id="60" name="Line 60"/>
            <p:cNvSpPr/>
            <p:nvPr/>
          </p:nvSpPr>
          <p:spPr>
            <a:xfrm>
              <a:off x="2000250" y="3067050"/>
              <a:ext cx="1924050" cy="9525"/>
            </a:xfrm>
            <a:custGeom>
              <a:avLst/>
              <a:gdLst/>
              <a:ahLst/>
              <a:cxnLst/>
              <a:rect l="l" t="t" r="r" b="b"/>
              <a:pathLst>
                <a:path w="1924050" h="9525">
                  <a:moveTo>
                    <a:pt x="0" y="0"/>
                  </a:moveTo>
                  <a:lnTo>
                    <a:pt x="1924050" y="0"/>
                  </a:lnTo>
                </a:path>
              </a:pathLst>
            </a:custGeom>
            <a:noFill/>
            <a:ln w="9525">
              <a:solidFill>
                <a:srgbClr val="E6EAF2"/>
              </a:solidFill>
            </a:ln>
          </p:spPr>
        </p:sp>
        <p:sp>
          <p:nvSpPr>
            <p:cNvPr id="61" name="Rectangle 61"/>
            <p:cNvSpPr/>
            <p:nvPr/>
          </p:nvSpPr>
          <p:spPr>
            <a:xfrm>
              <a:off x="542925" y="3067050"/>
              <a:ext cx="1123950" cy="266700"/>
            </a:xfrm>
            <a:prstGeom prst="roundRect">
              <a:avLst>
                <a:gd name="adj" fmla="val 14286"/>
              </a:avLst>
            </a:prstGeom>
            <a:solidFill>
              <a:srgbClr val="B8351A"/>
            </a:solidFill>
            <a:ln>
              <a:noFill/>
            </a:ln>
          </p:spPr>
        </p:sp>
        <p:grpSp>
          <p:nvGrpSpPr>
            <p:cNvPr id="67" name="Group 67"/>
            <p:cNvGrpSpPr/>
            <p:nvPr/>
          </p:nvGrpSpPr>
          <p:grpSpPr>
            <a:xfrm>
              <a:off x="654844" y="3149649"/>
              <a:ext cx="100012" cy="100757"/>
              <a:chOff x="654844" y="3149649"/>
              <a:chExt cx="100012" cy="100757"/>
            </a:xfrm>
          </p:grpSpPr>
          <p:sp>
            <p:nvSpPr>
              <p:cNvPr id="62" name="Freeform 62"/>
              <p:cNvSpPr/>
              <p:nvPr/>
            </p:nvSpPr>
            <p:spPr>
              <a:xfrm>
                <a:off x="688181" y="3194844"/>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FFFFFF"/>
                </a:solidFill>
              </a:ln>
            </p:spPr>
          </p:sp>
          <p:sp>
            <p:nvSpPr>
              <p:cNvPr id="63" name="Freeform 63"/>
              <p:cNvSpPr/>
              <p:nvPr/>
            </p:nvSpPr>
            <p:spPr>
              <a:xfrm>
                <a:off x="688181" y="3211512"/>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FFFFFF"/>
                </a:solidFill>
              </a:ln>
            </p:spPr>
          </p:sp>
          <p:sp>
            <p:nvSpPr>
              <p:cNvPr id="64" name="Freeform 64"/>
              <p:cNvSpPr/>
              <p:nvPr/>
            </p:nvSpPr>
            <p:spPr>
              <a:xfrm>
                <a:off x="654844" y="3149649"/>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FFFFFF"/>
                </a:solidFill>
              </a:ln>
            </p:spPr>
          </p:sp>
          <p:sp>
            <p:nvSpPr>
              <p:cNvPr id="65" name="Freeform 65"/>
              <p:cNvSpPr/>
              <p:nvPr/>
            </p:nvSpPr>
            <p:spPr>
              <a:xfrm>
                <a:off x="654844" y="3167062"/>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FFFFFF"/>
                </a:solidFill>
              </a:ln>
            </p:spPr>
          </p:sp>
          <p:sp>
            <p:nvSpPr>
              <p:cNvPr id="66" name="Freeform 66"/>
              <p:cNvSpPr/>
              <p:nvPr/>
            </p:nvSpPr>
            <p:spPr>
              <a:xfrm>
                <a:off x="654844" y="3194844"/>
                <a:ext cx="11112" cy="11112"/>
              </a:xfrm>
              <a:custGeom>
                <a:avLst/>
                <a:gdLst/>
                <a:ahLst/>
                <a:cxnLst/>
                <a:rect l="l" t="t" r="r" b="b"/>
                <a:pathLst>
                  <a:path w="11112" h="11112">
                    <a:moveTo>
                      <a:pt x="0" y="0"/>
                    </a:moveTo>
                    <a:cubicBezTo>
                      <a:pt x="0" y="4934"/>
                      <a:pt x="4289" y="8057"/>
                      <a:pt x="11112" y="11112"/>
                    </a:cubicBezTo>
                  </a:path>
                </a:pathLst>
              </a:custGeom>
              <a:noFill/>
              <a:ln w="11112">
                <a:solidFill>
                  <a:srgbClr val="FFFFFF"/>
                </a:solidFill>
              </a:ln>
            </p:spPr>
          </p:sp>
        </p:grpSp>
        <p:sp>
          <p:nvSpPr>
            <p:cNvPr id="68" name="TextBox 68"/>
            <p:cNvSpPr txBox="1"/>
            <p:nvPr/>
          </p:nvSpPr>
          <p:spPr>
            <a:xfrm>
              <a:off x="823912" y="31534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追回金额</a:t>
              </a:r>
            </a:p>
          </p:txBody>
        </p:sp>
        <p:sp>
          <p:nvSpPr>
            <p:cNvPr id="69" name="TextBox 69"/>
            <p:cNvSpPr txBox="1"/>
            <p:nvPr/>
          </p:nvSpPr>
          <p:spPr>
            <a:xfrm>
              <a:off x="2140540" y="31589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1.60  </a:t>
              </a:r>
            </a:p>
          </p:txBody>
        </p:sp>
        <p:sp>
          <p:nvSpPr>
            <p:cNvPr id="70" name="TextBox 70"/>
            <p:cNvSpPr txBox="1"/>
            <p:nvPr/>
          </p:nvSpPr>
          <p:spPr>
            <a:xfrm>
              <a:off x="2827879" y="3163014"/>
              <a:ext cx="440242"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 xml:space="preserve">  80%  </a:t>
              </a:r>
            </a:p>
          </p:txBody>
        </p:sp>
        <p:sp>
          <p:nvSpPr>
            <p:cNvPr id="71" name="TextBox 71"/>
            <p:cNvSpPr txBox="1"/>
            <p:nvPr/>
          </p:nvSpPr>
          <p:spPr>
            <a:xfrm>
              <a:off x="3376953" y="3163014"/>
              <a:ext cx="523195" cy="154781"/>
            </a:xfrm>
            <a:prstGeom prst="rect">
              <a:avLst/>
            </a:prstGeom>
            <a:noFill/>
            <a:ln>
              <a:noFill/>
            </a:ln>
          </p:spPr>
          <p:txBody>
            <a:bodyPr wrap="none" lIns="0" tIns="0" rIns="0" bIns="0" anchor="t" anchorCtr="0">
              <a:spAutoFit/>
            </a:bodyPr>
            <a:lstStyle/>
            <a:p>
              <a:pPr algn="ctr"/>
              <a:r>
                <a:rPr lang="zh-CN" sz="790" b="1" dirty="0">
                  <a:solidFill>
                    <a:srgbClr val="C03616"/>
                  </a:solidFill>
                  <a:latin typeface="+mn-lt"/>
                  <a:ea typeface="+mn-ea"/>
                  <a:cs typeface="+mn-cs"/>
                </a:rPr>
                <a:t xml:space="preserve">  +33%  </a:t>
              </a:r>
            </a:p>
          </p:txBody>
        </p:sp>
        <p:sp>
          <p:nvSpPr>
            <p:cNvPr id="72" name="Line 72"/>
            <p:cNvSpPr/>
            <p:nvPr/>
          </p:nvSpPr>
          <p:spPr>
            <a:xfrm>
              <a:off x="342900" y="3448050"/>
              <a:ext cx="3581400" cy="9525"/>
            </a:xfrm>
            <a:custGeom>
              <a:avLst/>
              <a:gdLst/>
              <a:ahLst/>
              <a:cxnLst/>
              <a:rect l="l" t="t" r="r" b="b"/>
              <a:pathLst>
                <a:path w="3581400" h="9525">
                  <a:moveTo>
                    <a:pt x="0" y="0"/>
                  </a:moveTo>
                  <a:lnTo>
                    <a:pt x="3581400" y="0"/>
                  </a:lnTo>
                </a:path>
              </a:pathLst>
            </a:custGeom>
            <a:noFill/>
            <a:ln w="9525">
              <a:solidFill>
                <a:srgbClr val="DCE6F6"/>
              </a:solidFill>
            </a:ln>
          </p:spPr>
        </p:sp>
        <p:sp>
          <p:nvSpPr>
            <p:cNvPr id="73" name="TextBox 73"/>
            <p:cNvSpPr txBox="1"/>
            <p:nvPr/>
          </p:nvSpPr>
          <p:spPr>
            <a:xfrm>
              <a:off x="357188" y="3561636"/>
              <a:ext cx="190309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523E3A"/>
                  </a:solidFill>
                  <a:latin typeface="+mn-lt"/>
                  <a:ea typeface="+mn-ea"/>
                  <a:cs typeface="+mn-cs"/>
                </a:rPr>
                <a:t>关键假设：市场环境向好；客户预算释放顺畅；</a:t>
              </a:r>
              <a:br/>
              <a:r>
                <a:rPr lang="zh-CN" sz="710" dirty="0">
                  <a:solidFill>
                    <a:srgbClr val="523E3A"/>
                  </a:solidFill>
                  <a:latin typeface="+mn-lt"/>
                  <a:ea typeface="+mn-ea"/>
                  <a:cs typeface="+mn-cs"/>
                </a:rPr>
                <a:t>决策周期缩短；竞争强度可控</a:t>
              </a:r>
            </a:p>
          </p:txBody>
        </p:sp>
      </p:grpSp>
      <p:grpSp>
        <p:nvGrpSpPr>
          <p:cNvPr id="131" name="scenario-baseline"/>
          <p:cNvGrpSpPr/>
          <p:nvPr/>
        </p:nvGrpSpPr>
        <p:grpSpPr>
          <a:xfrm>
            <a:off x="4191000" y="1047750"/>
            <a:ext cx="3810000" cy="2857500"/>
            <a:chOff x="4191000" y="1047750"/>
            <a:chExt cx="3810000" cy="2857500"/>
          </a:xfrm>
        </p:grpSpPr>
        <p:sp>
          <p:nvSpPr>
            <p:cNvPr id="75" name="Rectangle 75"/>
            <p:cNvSpPr/>
            <p:nvPr/>
          </p:nvSpPr>
          <p:spPr>
            <a:xfrm>
              <a:off x="4191000" y="1047750"/>
              <a:ext cx="3810000" cy="2857500"/>
            </a:xfrm>
            <a:prstGeom prst="roundRect">
              <a:avLst>
                <a:gd name="adj" fmla="val 3333"/>
              </a:avLst>
            </a:prstGeom>
            <a:solidFill>
              <a:srgbClr val="FFFFFF"/>
            </a:solidFill>
            <a:ln w="14288">
              <a:solidFill>
                <a:srgbClr val="C9D6EE"/>
              </a:solidFill>
            </a:ln>
          </p:spPr>
        </p:sp>
        <p:sp>
          <p:nvSpPr>
            <p:cNvPr id="76" name="Freeform 76"/>
            <p:cNvSpPr/>
            <p:nvPr/>
          </p:nvSpPr>
          <p:spPr>
            <a:xfrm>
              <a:off x="4191000" y="1047750"/>
              <a:ext cx="3810000" cy="361950"/>
            </a:xfrm>
            <a:custGeom>
              <a:avLst/>
              <a:gdLst/>
              <a:ahLst/>
              <a:cxnLst/>
              <a:rect l="l" t="t" r="r" b="b"/>
              <a:pathLst>
                <a:path w="3810000" h="361950">
                  <a:moveTo>
                    <a:pt x="95250" y="0"/>
                  </a:moveTo>
                  <a:lnTo>
                    <a:pt x="3714750" y="0"/>
                  </a:lnTo>
                  <a:cubicBezTo>
                    <a:pt x="3767355" y="0"/>
                    <a:pt x="3810000" y="42645"/>
                    <a:pt x="3810000" y="95250"/>
                  </a:cubicBezTo>
                  <a:lnTo>
                    <a:pt x="3810000" y="361950"/>
                  </a:lnTo>
                  <a:lnTo>
                    <a:pt x="0" y="361950"/>
                  </a:lnTo>
                  <a:lnTo>
                    <a:pt x="0" y="95250"/>
                  </a:lnTo>
                  <a:cubicBezTo>
                    <a:pt x="0" y="42645"/>
                    <a:pt x="42645" y="0"/>
                    <a:pt x="95250" y="0"/>
                  </a:cubicBezTo>
                  <a:close/>
                </a:path>
              </a:pathLst>
            </a:custGeom>
            <a:solidFill>
              <a:srgbClr val="721E0D"/>
            </a:solidFill>
            <a:ln>
              <a:noFill/>
            </a:ln>
          </p:spPr>
        </p:sp>
        <p:grpSp>
          <p:nvGrpSpPr>
            <p:cNvPr id="80" name="Group 80"/>
            <p:cNvGrpSpPr/>
            <p:nvPr/>
          </p:nvGrpSpPr>
          <p:grpSpPr>
            <a:xfrm>
              <a:off x="4350544" y="1150144"/>
              <a:ext cx="157163" cy="157163"/>
              <a:chOff x="4350544" y="1150144"/>
              <a:chExt cx="157163" cy="157163"/>
            </a:xfrm>
          </p:grpSpPr>
          <p:sp>
            <p:nvSpPr>
              <p:cNvPr id="77" name="Freeform 77"/>
              <p:cNvSpPr/>
              <p:nvPr/>
            </p:nvSpPr>
            <p:spPr>
              <a:xfrm>
                <a:off x="4420394" y="121999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78" name="Freeform 78"/>
              <p:cNvSpPr/>
              <p:nvPr/>
            </p:nvSpPr>
            <p:spPr>
              <a:xfrm>
                <a:off x="4385469" y="118506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79" name="Freeform 79"/>
              <p:cNvSpPr/>
              <p:nvPr/>
            </p:nvSpPr>
            <p:spPr>
              <a:xfrm>
                <a:off x="4350544" y="11501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81" name="TextBox 81"/>
            <p:cNvSpPr txBox="1"/>
            <p:nvPr/>
          </p:nvSpPr>
          <p:spPr>
            <a:xfrm>
              <a:off x="4604004" y="115633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基准情景</a:t>
              </a:r>
            </a:p>
          </p:txBody>
        </p:sp>
        <p:sp>
          <p:nvSpPr>
            <p:cNvPr id="82" name="TextBox 82"/>
            <p:cNvSpPr txBox="1"/>
            <p:nvPr/>
          </p:nvSpPr>
          <p:spPr>
            <a:xfrm>
              <a:off x="7075360" y="1188720"/>
              <a:ext cx="797052" cy="176212"/>
            </a:xfrm>
            <a:prstGeom prst="rect">
              <a:avLst/>
            </a:prstGeom>
            <a:noFill/>
            <a:ln>
              <a:noFill/>
            </a:ln>
          </p:spPr>
          <p:txBody>
            <a:bodyPr wrap="none" lIns="0" tIns="0" rIns="0" bIns="0" anchor="t" anchorCtr="0">
              <a:spAutoFit/>
            </a:bodyPr>
            <a:lstStyle/>
            <a:p>
              <a:pPr algn="r"/>
              <a:r>
                <a:rPr lang="zh-CN" sz="900" dirty="0">
                  <a:solidFill>
                    <a:srgbClr val="FFFFFF"/>
                  </a:solidFill>
                  <a:latin typeface="+mn-lt"/>
                  <a:ea typeface="+mn-ea"/>
                  <a:cs typeface="+mn-cs"/>
                </a:rPr>
                <a:t xml:space="preserve">   完成率77%</a:t>
              </a:r>
            </a:p>
          </p:txBody>
        </p:sp>
        <p:sp>
          <p:nvSpPr>
            <p:cNvPr id="83" name="TextBox 83"/>
            <p:cNvSpPr txBox="1"/>
            <p:nvPr/>
          </p:nvSpPr>
          <p:spPr>
            <a:xfrm>
              <a:off x="5182486" y="1620202"/>
              <a:ext cx="1827028" cy="205359"/>
            </a:xfrm>
            <a:prstGeom prst="rect">
              <a:avLst/>
            </a:prstGeom>
            <a:noFill/>
            <a:ln>
              <a:noFill/>
            </a:ln>
          </p:spPr>
          <p:txBody>
            <a:bodyPr wrap="none" lIns="0" tIns="0" rIns="0" bIns="0" anchor="t" anchorCtr="0">
              <a:spAutoFit/>
            </a:bodyPr>
            <a:lstStyle/>
            <a:p>
              <a:pPr algn="ctr"/>
              <a:r>
                <a:rPr lang="zh-CN" sz="1050" dirty="0">
                  <a:solidFill>
                    <a:srgbClr val="523E3A"/>
                  </a:solidFill>
                  <a:latin typeface="+mn-lt"/>
                  <a:ea typeface="+mn-ea"/>
                  <a:cs typeface="+mn-cs"/>
                </a:rPr>
                <a:t xml:space="preserve">   追回 </a:t>
              </a:r>
              <a:r>
                <a:rPr lang="zh-CN" sz="2250" b="1" dirty="0">
                  <a:solidFill>
                    <a:srgbClr val="C03616"/>
                  </a:solidFill>
                  <a:latin typeface="+mn-lt"/>
                  <a:ea typeface="+mn-ea"/>
                  <a:cs typeface="+mn-cs"/>
                </a:rPr>
                <a:t>1.20</a:t>
              </a:r>
              <a:r>
                <a:rPr lang="zh-CN" sz="1050" dirty="0">
                  <a:solidFill>
                    <a:srgbClr val="523E3A"/>
                  </a:solidFill>
                  <a:latin typeface="+mn-lt"/>
                  <a:ea typeface="+mn-ea"/>
                  <a:cs typeface="+mn-cs"/>
                </a:rPr>
                <a:t xml:space="preserve"> 亿元   </a:t>
              </a:r>
            </a:p>
          </p:txBody>
        </p:sp>
        <p:sp>
          <p:nvSpPr>
            <p:cNvPr id="84" name="TextBox 84"/>
            <p:cNvSpPr txBox="1"/>
            <p:nvPr/>
          </p:nvSpPr>
          <p:spPr>
            <a:xfrm>
              <a:off x="5977582" y="1984534"/>
              <a:ext cx="770236" cy="133350"/>
            </a:xfrm>
            <a:prstGeom prst="rect">
              <a:avLst/>
            </a:prstGeom>
            <a:noFill/>
            <a:ln>
              <a:noFill/>
            </a:ln>
          </p:spPr>
          <p:txBody>
            <a:bodyPr wrap="none" lIns="0" tIns="0" rIns="0" bIns="0" anchor="t" anchorCtr="0">
              <a:spAutoFit/>
            </a:bodyPr>
            <a:lstStyle/>
            <a:p>
              <a:pPr algn="ctr"/>
              <a:r>
                <a:rPr lang="zh-CN" sz="680" b="1" dirty="0">
                  <a:solidFill>
                    <a:srgbClr val="6E7686"/>
                  </a:solidFill>
                  <a:latin typeface="+mn-lt"/>
                  <a:ea typeface="+mn-ea"/>
                  <a:cs typeface="+mn-cs"/>
                </a:rPr>
                <a:t xml:space="preserve">  金额（亿元）  </a:t>
              </a:r>
            </a:p>
          </p:txBody>
        </p:sp>
        <p:sp>
          <p:nvSpPr>
            <p:cNvPr id="85" name="TextBox 85"/>
            <p:cNvSpPr txBox="1"/>
            <p:nvPr/>
          </p:nvSpPr>
          <p:spPr>
            <a:xfrm>
              <a:off x="6868325" y="1984534"/>
              <a:ext cx="284150" cy="133350"/>
            </a:xfrm>
            <a:prstGeom prst="rect">
              <a:avLst/>
            </a:prstGeom>
            <a:noFill/>
            <a:ln>
              <a:noFill/>
            </a:ln>
          </p:spPr>
          <p:txBody>
            <a:bodyPr wrap="none" lIns="0" tIns="0" rIns="0" bIns="0" anchor="t" anchorCtr="0">
              <a:spAutoFit/>
            </a:bodyPr>
            <a:lstStyle/>
            <a:p>
              <a:pPr algn="ctr"/>
              <a:r>
                <a:rPr lang="zh-CN" sz="680" b="1" dirty="0">
                  <a:solidFill>
                    <a:srgbClr val="6E7686"/>
                  </a:solidFill>
                  <a:latin typeface="+mn-lt"/>
                  <a:ea typeface="+mn-ea"/>
                  <a:cs typeface="+mn-cs"/>
                </a:rPr>
                <a:t>转化率</a:t>
              </a:r>
            </a:p>
          </p:txBody>
        </p:sp>
        <p:sp>
          <p:nvSpPr>
            <p:cNvPr id="86" name="TextBox 86"/>
            <p:cNvSpPr txBox="1"/>
            <p:nvPr/>
          </p:nvSpPr>
          <p:spPr>
            <a:xfrm>
              <a:off x="7458875" y="1984534"/>
              <a:ext cx="284150" cy="133350"/>
            </a:xfrm>
            <a:prstGeom prst="rect">
              <a:avLst/>
            </a:prstGeom>
            <a:noFill/>
            <a:ln>
              <a:noFill/>
            </a:ln>
          </p:spPr>
          <p:txBody>
            <a:bodyPr wrap="none" lIns="0" tIns="0" rIns="0" bIns="0" anchor="t" anchorCtr="0">
              <a:spAutoFit/>
            </a:bodyPr>
            <a:lstStyle/>
            <a:p>
              <a:pPr algn="ctr"/>
              <a:r>
                <a:rPr lang="zh-CN" sz="680" b="1" dirty="0">
                  <a:solidFill>
                    <a:srgbClr val="6E7686"/>
                  </a:solidFill>
                  <a:latin typeface="+mn-lt"/>
                  <a:ea typeface="+mn-ea"/>
                  <a:cs typeface="+mn-cs"/>
                </a:rPr>
                <a:t>较基准</a:t>
              </a:r>
            </a:p>
          </p:txBody>
        </p:sp>
        <p:sp>
          <p:nvSpPr>
            <p:cNvPr id="87" name="Rectangle 87"/>
            <p:cNvSpPr/>
            <p:nvPr/>
          </p:nvSpPr>
          <p:spPr>
            <a:xfrm>
              <a:off x="4305300" y="2152650"/>
              <a:ext cx="1524000" cy="266700"/>
            </a:xfrm>
            <a:prstGeom prst="roundRect">
              <a:avLst>
                <a:gd name="adj" fmla="val 14286"/>
              </a:avLst>
            </a:prstGeom>
            <a:solidFill>
              <a:srgbClr val="721E0D"/>
            </a:solidFill>
            <a:ln>
              <a:noFill/>
            </a:ln>
          </p:spPr>
        </p:sp>
        <p:grpSp>
          <p:nvGrpSpPr>
            <p:cNvPr id="92" name="Group 92"/>
            <p:cNvGrpSpPr/>
            <p:nvPr/>
          </p:nvGrpSpPr>
          <p:grpSpPr>
            <a:xfrm>
              <a:off x="4417219" y="2235994"/>
              <a:ext cx="100012" cy="100012"/>
              <a:chOff x="4417219" y="2235994"/>
              <a:chExt cx="100012" cy="100012"/>
            </a:xfrm>
          </p:grpSpPr>
          <p:sp>
            <p:nvSpPr>
              <p:cNvPr id="88" name="Freeform 88"/>
              <p:cNvSpPr/>
              <p:nvPr/>
            </p:nvSpPr>
            <p:spPr>
              <a:xfrm>
                <a:off x="4428331" y="223599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FFFFFF"/>
                </a:solidFill>
              </a:ln>
            </p:spPr>
          </p:sp>
          <p:sp>
            <p:nvSpPr>
              <p:cNvPr id="89" name="Freeform 89"/>
              <p:cNvSpPr/>
              <p:nvPr/>
            </p:nvSpPr>
            <p:spPr>
              <a:xfrm>
                <a:off x="4417219" y="230266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FFFFFF"/>
                </a:solidFill>
              </a:ln>
            </p:spPr>
          </p:sp>
          <p:sp>
            <p:nvSpPr>
              <p:cNvPr id="90" name="Freeform 90"/>
              <p:cNvSpPr/>
              <p:nvPr/>
            </p:nvSpPr>
            <p:spPr>
              <a:xfrm>
                <a:off x="4489450" y="223671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FFFFFF"/>
                </a:solidFill>
              </a:ln>
            </p:spPr>
          </p:sp>
          <p:sp>
            <p:nvSpPr>
              <p:cNvPr id="91" name="Freeform 91"/>
              <p:cNvSpPr/>
              <p:nvPr/>
            </p:nvSpPr>
            <p:spPr>
              <a:xfrm>
                <a:off x="4500562" y="230350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FFFFFF"/>
                </a:solidFill>
              </a:ln>
            </p:spPr>
          </p:sp>
        </p:grpSp>
        <p:sp>
          <p:nvSpPr>
            <p:cNvPr id="93" name="TextBox 93"/>
            <p:cNvSpPr txBox="1"/>
            <p:nvPr/>
          </p:nvSpPr>
          <p:spPr>
            <a:xfrm>
              <a:off x="4586288" y="2239089"/>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线索机会池</a:t>
              </a:r>
            </a:p>
          </p:txBody>
        </p:sp>
        <p:sp>
          <p:nvSpPr>
            <p:cNvPr id="94" name="TextBox 94"/>
            <p:cNvSpPr txBox="1"/>
            <p:nvPr/>
          </p:nvSpPr>
          <p:spPr>
            <a:xfrm>
              <a:off x="6102940" y="22445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4.80  </a:t>
              </a:r>
            </a:p>
          </p:txBody>
        </p:sp>
        <p:sp>
          <p:nvSpPr>
            <p:cNvPr id="95" name="TextBox 95"/>
            <p:cNvSpPr txBox="1"/>
            <p:nvPr/>
          </p:nvSpPr>
          <p:spPr>
            <a:xfrm>
              <a:off x="6976391" y="2248614"/>
              <a:ext cx="68017"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a:t>
              </a:r>
            </a:p>
          </p:txBody>
        </p:sp>
        <p:sp>
          <p:nvSpPr>
            <p:cNvPr id="96" name="TextBox 96"/>
            <p:cNvSpPr txBox="1"/>
            <p:nvPr/>
          </p:nvSpPr>
          <p:spPr>
            <a:xfrm>
              <a:off x="7565479" y="2248614"/>
              <a:ext cx="70942" cy="154781"/>
            </a:xfrm>
            <a:prstGeom prst="rect">
              <a:avLst/>
            </a:prstGeom>
            <a:noFill/>
            <a:ln>
              <a:noFill/>
            </a:ln>
          </p:spPr>
          <p:txBody>
            <a:bodyPr wrap="none" lIns="0" tIns="0" rIns="0" bIns="0" anchor="t" anchorCtr="0">
              <a:spAutoFit/>
            </a:bodyPr>
            <a:lstStyle/>
            <a:p>
              <a:pPr algn="ctr"/>
              <a:r>
                <a:rPr lang="zh-CN" sz="790" b="1" dirty="0">
                  <a:solidFill>
                    <a:srgbClr val="6E7686"/>
                  </a:solidFill>
                  <a:latin typeface="+mn-lt"/>
                  <a:ea typeface="+mn-ea"/>
                  <a:cs typeface="+mn-cs"/>
                </a:rPr>
                <a:t>—</a:t>
              </a:r>
            </a:p>
          </p:txBody>
        </p:sp>
        <p:sp>
          <p:nvSpPr>
            <p:cNvPr id="97" name="Line 97"/>
            <p:cNvSpPr/>
            <p:nvPr/>
          </p:nvSpPr>
          <p:spPr>
            <a:xfrm>
              <a:off x="5962650" y="2457450"/>
              <a:ext cx="1924050" cy="9525"/>
            </a:xfrm>
            <a:custGeom>
              <a:avLst/>
              <a:gdLst/>
              <a:ahLst/>
              <a:cxnLst/>
              <a:rect l="l" t="t" r="r" b="b"/>
              <a:pathLst>
                <a:path w="1924050" h="9525">
                  <a:moveTo>
                    <a:pt x="0" y="0"/>
                  </a:moveTo>
                  <a:lnTo>
                    <a:pt x="1924050" y="0"/>
                  </a:lnTo>
                </a:path>
              </a:pathLst>
            </a:custGeom>
            <a:noFill/>
            <a:ln w="9525">
              <a:solidFill>
                <a:srgbClr val="E6EAF2"/>
              </a:solidFill>
            </a:ln>
          </p:spPr>
        </p:sp>
        <p:sp>
          <p:nvSpPr>
            <p:cNvPr id="98" name="Rectangle 98"/>
            <p:cNvSpPr/>
            <p:nvPr/>
          </p:nvSpPr>
          <p:spPr>
            <a:xfrm>
              <a:off x="4371975" y="2457450"/>
              <a:ext cx="1390650" cy="266700"/>
            </a:xfrm>
            <a:prstGeom prst="roundRect">
              <a:avLst>
                <a:gd name="adj" fmla="val 14286"/>
              </a:avLst>
            </a:prstGeom>
            <a:solidFill>
              <a:srgbClr val="B8351A"/>
            </a:solidFill>
            <a:ln>
              <a:noFill/>
            </a:ln>
          </p:spPr>
        </p:sp>
        <p:grpSp>
          <p:nvGrpSpPr>
            <p:cNvPr id="103" name="Group 103"/>
            <p:cNvGrpSpPr/>
            <p:nvPr/>
          </p:nvGrpSpPr>
          <p:grpSpPr>
            <a:xfrm>
              <a:off x="4483894" y="2540794"/>
              <a:ext cx="100012" cy="94456"/>
              <a:chOff x="4483894" y="2540794"/>
              <a:chExt cx="100012" cy="94456"/>
            </a:xfrm>
          </p:grpSpPr>
          <p:sp>
            <p:nvSpPr>
              <p:cNvPr id="99" name="Freeform 99"/>
              <p:cNvSpPr/>
              <p:nvPr/>
            </p:nvSpPr>
            <p:spPr>
              <a:xfrm>
                <a:off x="4483894" y="2563019"/>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FFFFFF"/>
                </a:solidFill>
              </a:ln>
            </p:spPr>
          </p:sp>
          <p:sp>
            <p:nvSpPr>
              <p:cNvPr id="100" name="Freeform 100"/>
              <p:cNvSpPr/>
              <p:nvPr/>
            </p:nvSpPr>
            <p:spPr>
              <a:xfrm>
                <a:off x="4511675" y="2540794"/>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FFFFFF"/>
                </a:solidFill>
              </a:ln>
            </p:spPr>
          </p:sp>
          <p:sp>
            <p:nvSpPr>
              <p:cNvPr id="101" name="Freeform 101"/>
              <p:cNvSpPr/>
              <p:nvPr/>
            </p:nvSpPr>
            <p:spPr>
              <a:xfrm>
                <a:off x="4533900" y="2590800"/>
                <a:ext cx="9525" cy="9525"/>
              </a:xfrm>
              <a:custGeom>
                <a:avLst/>
                <a:gdLst/>
                <a:ahLst/>
                <a:cxnLst/>
                <a:rect l="l" t="t" r="r" b="b"/>
                <a:pathLst>
                  <a:path w="9525" h="9525">
                    <a:moveTo>
                      <a:pt x="0" y="0"/>
                    </a:moveTo>
                    <a:lnTo>
                      <a:pt x="0" y="56"/>
                    </a:lnTo>
                  </a:path>
                </a:pathLst>
              </a:custGeom>
              <a:noFill/>
              <a:ln w="11112">
                <a:solidFill>
                  <a:srgbClr val="FFFFFF"/>
                </a:solidFill>
              </a:ln>
            </p:spPr>
          </p:sp>
          <p:sp>
            <p:nvSpPr>
              <p:cNvPr id="102" name="Freeform 102"/>
              <p:cNvSpPr/>
              <p:nvPr/>
            </p:nvSpPr>
            <p:spPr>
              <a:xfrm>
                <a:off x="4483894" y="2596356"/>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FFFFFF"/>
                </a:solidFill>
              </a:ln>
            </p:spPr>
          </p:sp>
        </p:grpSp>
        <p:sp>
          <p:nvSpPr>
            <p:cNvPr id="104" name="TextBox 104"/>
            <p:cNvSpPr txBox="1"/>
            <p:nvPr/>
          </p:nvSpPr>
          <p:spPr>
            <a:xfrm>
              <a:off x="4652962" y="25438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有效商机</a:t>
              </a:r>
            </a:p>
          </p:txBody>
        </p:sp>
        <p:sp>
          <p:nvSpPr>
            <p:cNvPr id="105" name="TextBox 105"/>
            <p:cNvSpPr txBox="1"/>
            <p:nvPr/>
          </p:nvSpPr>
          <p:spPr>
            <a:xfrm>
              <a:off x="6102940" y="25493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2.48  </a:t>
              </a:r>
            </a:p>
          </p:txBody>
        </p:sp>
        <p:sp>
          <p:nvSpPr>
            <p:cNvPr id="106" name="TextBox 106"/>
            <p:cNvSpPr txBox="1"/>
            <p:nvPr/>
          </p:nvSpPr>
          <p:spPr>
            <a:xfrm>
              <a:off x="6790279" y="2553414"/>
              <a:ext cx="440242"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 xml:space="preserve">  52%  </a:t>
              </a:r>
            </a:p>
          </p:txBody>
        </p:sp>
        <p:sp>
          <p:nvSpPr>
            <p:cNvPr id="107" name="TextBox 107"/>
            <p:cNvSpPr txBox="1"/>
            <p:nvPr/>
          </p:nvSpPr>
          <p:spPr>
            <a:xfrm>
              <a:off x="7565479" y="2553414"/>
              <a:ext cx="70942" cy="154781"/>
            </a:xfrm>
            <a:prstGeom prst="rect">
              <a:avLst/>
            </a:prstGeom>
            <a:noFill/>
            <a:ln>
              <a:noFill/>
            </a:ln>
          </p:spPr>
          <p:txBody>
            <a:bodyPr wrap="none" lIns="0" tIns="0" rIns="0" bIns="0" anchor="t" anchorCtr="0">
              <a:spAutoFit/>
            </a:bodyPr>
            <a:lstStyle/>
            <a:p>
              <a:pPr algn="ctr"/>
              <a:r>
                <a:rPr lang="zh-CN" sz="790" b="1" dirty="0">
                  <a:solidFill>
                    <a:srgbClr val="6E7686"/>
                  </a:solidFill>
                  <a:latin typeface="+mn-lt"/>
                  <a:ea typeface="+mn-ea"/>
                  <a:cs typeface="+mn-cs"/>
                </a:rPr>
                <a:t>—</a:t>
              </a:r>
            </a:p>
          </p:txBody>
        </p:sp>
        <p:sp>
          <p:nvSpPr>
            <p:cNvPr id="108" name="Line 108"/>
            <p:cNvSpPr/>
            <p:nvPr/>
          </p:nvSpPr>
          <p:spPr>
            <a:xfrm>
              <a:off x="5962650" y="2762250"/>
              <a:ext cx="1924050" cy="9525"/>
            </a:xfrm>
            <a:custGeom>
              <a:avLst/>
              <a:gdLst/>
              <a:ahLst/>
              <a:cxnLst/>
              <a:rect l="l" t="t" r="r" b="b"/>
              <a:pathLst>
                <a:path w="1924050" h="9525">
                  <a:moveTo>
                    <a:pt x="0" y="0"/>
                  </a:moveTo>
                  <a:lnTo>
                    <a:pt x="1924050" y="0"/>
                  </a:lnTo>
                </a:path>
              </a:pathLst>
            </a:custGeom>
            <a:noFill/>
            <a:ln w="9525">
              <a:solidFill>
                <a:srgbClr val="E6EAF2"/>
              </a:solidFill>
            </a:ln>
          </p:spPr>
        </p:sp>
        <p:sp>
          <p:nvSpPr>
            <p:cNvPr id="109" name="Rectangle 109"/>
            <p:cNvSpPr/>
            <p:nvPr/>
          </p:nvSpPr>
          <p:spPr>
            <a:xfrm>
              <a:off x="4438650" y="2762250"/>
              <a:ext cx="1257300" cy="266700"/>
            </a:xfrm>
            <a:prstGeom prst="roundRect">
              <a:avLst>
                <a:gd name="adj" fmla="val 14286"/>
              </a:avLst>
            </a:prstGeom>
            <a:solidFill>
              <a:srgbClr val="721E0D"/>
            </a:solidFill>
            <a:ln>
              <a:noFill/>
            </a:ln>
          </p:spPr>
        </p:sp>
        <p:grpSp>
          <p:nvGrpSpPr>
            <p:cNvPr id="112" name="Group 112"/>
            <p:cNvGrpSpPr/>
            <p:nvPr/>
          </p:nvGrpSpPr>
          <p:grpSpPr>
            <a:xfrm>
              <a:off x="4550569" y="2845594"/>
              <a:ext cx="100012" cy="100012"/>
              <a:chOff x="4550569" y="2845594"/>
              <a:chExt cx="100012" cy="100012"/>
            </a:xfrm>
          </p:grpSpPr>
          <p:sp>
            <p:nvSpPr>
              <p:cNvPr id="110" name="Freeform 110"/>
              <p:cNvSpPr/>
              <p:nvPr/>
            </p:nvSpPr>
            <p:spPr>
              <a:xfrm>
                <a:off x="4550569" y="28455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sp>
            <p:nvSpPr>
              <p:cNvPr id="111" name="Freeform 111"/>
              <p:cNvSpPr/>
              <p:nvPr/>
            </p:nvSpPr>
            <p:spPr>
              <a:xfrm>
                <a:off x="4583906" y="2884487"/>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113" name="TextBox 113"/>
            <p:cNvSpPr txBox="1"/>
            <p:nvPr/>
          </p:nvSpPr>
          <p:spPr>
            <a:xfrm>
              <a:off x="4719638" y="28486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预计签约</a:t>
              </a:r>
            </a:p>
          </p:txBody>
        </p:sp>
        <p:sp>
          <p:nvSpPr>
            <p:cNvPr id="114" name="TextBox 114"/>
            <p:cNvSpPr txBox="1"/>
            <p:nvPr/>
          </p:nvSpPr>
          <p:spPr>
            <a:xfrm>
              <a:off x="6102940" y="28541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1.50  </a:t>
              </a:r>
            </a:p>
          </p:txBody>
        </p:sp>
        <p:sp>
          <p:nvSpPr>
            <p:cNvPr id="115" name="TextBox 115"/>
            <p:cNvSpPr txBox="1"/>
            <p:nvPr/>
          </p:nvSpPr>
          <p:spPr>
            <a:xfrm>
              <a:off x="6790279" y="2858214"/>
              <a:ext cx="440242"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 xml:space="preserve">  60%  </a:t>
              </a:r>
            </a:p>
          </p:txBody>
        </p:sp>
        <p:sp>
          <p:nvSpPr>
            <p:cNvPr id="116" name="TextBox 116"/>
            <p:cNvSpPr txBox="1"/>
            <p:nvPr/>
          </p:nvSpPr>
          <p:spPr>
            <a:xfrm>
              <a:off x="7565479" y="2858214"/>
              <a:ext cx="70942" cy="154781"/>
            </a:xfrm>
            <a:prstGeom prst="rect">
              <a:avLst/>
            </a:prstGeom>
            <a:noFill/>
            <a:ln>
              <a:noFill/>
            </a:ln>
          </p:spPr>
          <p:txBody>
            <a:bodyPr wrap="none" lIns="0" tIns="0" rIns="0" bIns="0" anchor="t" anchorCtr="0">
              <a:spAutoFit/>
            </a:bodyPr>
            <a:lstStyle/>
            <a:p>
              <a:pPr algn="ctr"/>
              <a:r>
                <a:rPr lang="zh-CN" sz="790" b="1" dirty="0">
                  <a:solidFill>
                    <a:srgbClr val="6E7686"/>
                  </a:solidFill>
                  <a:latin typeface="+mn-lt"/>
                  <a:ea typeface="+mn-ea"/>
                  <a:cs typeface="+mn-cs"/>
                </a:rPr>
                <a:t>—</a:t>
              </a:r>
            </a:p>
          </p:txBody>
        </p:sp>
        <p:sp>
          <p:nvSpPr>
            <p:cNvPr id="117" name="Line 117"/>
            <p:cNvSpPr/>
            <p:nvPr/>
          </p:nvSpPr>
          <p:spPr>
            <a:xfrm>
              <a:off x="5962650" y="3067050"/>
              <a:ext cx="1924050" cy="9525"/>
            </a:xfrm>
            <a:custGeom>
              <a:avLst/>
              <a:gdLst/>
              <a:ahLst/>
              <a:cxnLst/>
              <a:rect l="l" t="t" r="r" b="b"/>
              <a:pathLst>
                <a:path w="1924050" h="9525">
                  <a:moveTo>
                    <a:pt x="0" y="0"/>
                  </a:moveTo>
                  <a:lnTo>
                    <a:pt x="1924050" y="0"/>
                  </a:lnTo>
                </a:path>
              </a:pathLst>
            </a:custGeom>
            <a:noFill/>
            <a:ln w="9525">
              <a:solidFill>
                <a:srgbClr val="E6EAF2"/>
              </a:solidFill>
            </a:ln>
          </p:spPr>
        </p:sp>
        <p:sp>
          <p:nvSpPr>
            <p:cNvPr id="118" name="Rectangle 118"/>
            <p:cNvSpPr/>
            <p:nvPr/>
          </p:nvSpPr>
          <p:spPr>
            <a:xfrm>
              <a:off x="4505325" y="3067050"/>
              <a:ext cx="1123950" cy="266700"/>
            </a:xfrm>
            <a:prstGeom prst="roundRect">
              <a:avLst>
                <a:gd name="adj" fmla="val 14286"/>
              </a:avLst>
            </a:prstGeom>
            <a:solidFill>
              <a:srgbClr val="B8351A"/>
            </a:solidFill>
            <a:ln>
              <a:noFill/>
            </a:ln>
          </p:spPr>
        </p:sp>
        <p:grpSp>
          <p:nvGrpSpPr>
            <p:cNvPr id="124" name="Group 124"/>
            <p:cNvGrpSpPr/>
            <p:nvPr/>
          </p:nvGrpSpPr>
          <p:grpSpPr>
            <a:xfrm>
              <a:off x="4617244" y="3149649"/>
              <a:ext cx="100012" cy="100757"/>
              <a:chOff x="4617244" y="3149649"/>
              <a:chExt cx="100012" cy="100757"/>
            </a:xfrm>
          </p:grpSpPr>
          <p:sp>
            <p:nvSpPr>
              <p:cNvPr id="119" name="Freeform 119"/>
              <p:cNvSpPr/>
              <p:nvPr/>
            </p:nvSpPr>
            <p:spPr>
              <a:xfrm>
                <a:off x="4650581" y="3194844"/>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FFFFFF"/>
                </a:solidFill>
              </a:ln>
            </p:spPr>
          </p:sp>
          <p:sp>
            <p:nvSpPr>
              <p:cNvPr id="120" name="Freeform 120"/>
              <p:cNvSpPr/>
              <p:nvPr/>
            </p:nvSpPr>
            <p:spPr>
              <a:xfrm>
                <a:off x="4650581" y="3211512"/>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FFFFFF"/>
                </a:solidFill>
              </a:ln>
            </p:spPr>
          </p:sp>
          <p:sp>
            <p:nvSpPr>
              <p:cNvPr id="121" name="Freeform 121"/>
              <p:cNvSpPr/>
              <p:nvPr/>
            </p:nvSpPr>
            <p:spPr>
              <a:xfrm>
                <a:off x="4617244" y="3149649"/>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FFFFFF"/>
                </a:solidFill>
              </a:ln>
            </p:spPr>
          </p:sp>
          <p:sp>
            <p:nvSpPr>
              <p:cNvPr id="122" name="Freeform 122"/>
              <p:cNvSpPr/>
              <p:nvPr/>
            </p:nvSpPr>
            <p:spPr>
              <a:xfrm>
                <a:off x="4617244" y="3167062"/>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FFFFFF"/>
                </a:solidFill>
              </a:ln>
            </p:spPr>
          </p:sp>
          <p:sp>
            <p:nvSpPr>
              <p:cNvPr id="123" name="Freeform 123"/>
              <p:cNvSpPr/>
              <p:nvPr/>
            </p:nvSpPr>
            <p:spPr>
              <a:xfrm>
                <a:off x="4617244" y="3194844"/>
                <a:ext cx="11112" cy="11112"/>
              </a:xfrm>
              <a:custGeom>
                <a:avLst/>
                <a:gdLst/>
                <a:ahLst/>
                <a:cxnLst/>
                <a:rect l="l" t="t" r="r" b="b"/>
                <a:pathLst>
                  <a:path w="11112" h="11112">
                    <a:moveTo>
                      <a:pt x="0" y="0"/>
                    </a:moveTo>
                    <a:cubicBezTo>
                      <a:pt x="0" y="4934"/>
                      <a:pt x="4289" y="8057"/>
                      <a:pt x="11112" y="11112"/>
                    </a:cubicBezTo>
                  </a:path>
                </a:pathLst>
              </a:custGeom>
              <a:noFill/>
              <a:ln w="11112">
                <a:solidFill>
                  <a:srgbClr val="FFFFFF"/>
                </a:solidFill>
              </a:ln>
            </p:spPr>
          </p:sp>
        </p:grpSp>
        <p:sp>
          <p:nvSpPr>
            <p:cNvPr id="125" name="TextBox 125"/>
            <p:cNvSpPr txBox="1"/>
            <p:nvPr/>
          </p:nvSpPr>
          <p:spPr>
            <a:xfrm>
              <a:off x="4786312" y="31534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追回金额</a:t>
              </a:r>
            </a:p>
          </p:txBody>
        </p:sp>
        <p:sp>
          <p:nvSpPr>
            <p:cNvPr id="126" name="TextBox 126"/>
            <p:cNvSpPr txBox="1"/>
            <p:nvPr/>
          </p:nvSpPr>
          <p:spPr>
            <a:xfrm>
              <a:off x="6102940" y="31589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1.20  </a:t>
              </a:r>
            </a:p>
          </p:txBody>
        </p:sp>
        <p:sp>
          <p:nvSpPr>
            <p:cNvPr id="127" name="TextBox 127"/>
            <p:cNvSpPr txBox="1"/>
            <p:nvPr/>
          </p:nvSpPr>
          <p:spPr>
            <a:xfrm>
              <a:off x="6790279" y="3163014"/>
              <a:ext cx="440242"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 xml:space="preserve">  80%  </a:t>
              </a:r>
            </a:p>
          </p:txBody>
        </p:sp>
        <p:sp>
          <p:nvSpPr>
            <p:cNvPr id="128" name="TextBox 128"/>
            <p:cNvSpPr txBox="1"/>
            <p:nvPr/>
          </p:nvSpPr>
          <p:spPr>
            <a:xfrm>
              <a:off x="7565479" y="3163014"/>
              <a:ext cx="70942" cy="154781"/>
            </a:xfrm>
            <a:prstGeom prst="rect">
              <a:avLst/>
            </a:prstGeom>
            <a:noFill/>
            <a:ln>
              <a:noFill/>
            </a:ln>
          </p:spPr>
          <p:txBody>
            <a:bodyPr wrap="none" lIns="0" tIns="0" rIns="0" bIns="0" anchor="t" anchorCtr="0">
              <a:spAutoFit/>
            </a:bodyPr>
            <a:lstStyle/>
            <a:p>
              <a:pPr algn="ctr"/>
              <a:r>
                <a:rPr lang="zh-CN" sz="790" b="1" dirty="0">
                  <a:solidFill>
                    <a:srgbClr val="6E7686"/>
                  </a:solidFill>
                  <a:latin typeface="+mn-lt"/>
                  <a:ea typeface="+mn-ea"/>
                  <a:cs typeface="+mn-cs"/>
                </a:rPr>
                <a:t>—</a:t>
              </a:r>
            </a:p>
          </p:txBody>
        </p:sp>
        <p:sp>
          <p:nvSpPr>
            <p:cNvPr id="129" name="Line 129"/>
            <p:cNvSpPr/>
            <p:nvPr/>
          </p:nvSpPr>
          <p:spPr>
            <a:xfrm>
              <a:off x="4305300" y="3448050"/>
              <a:ext cx="3581400" cy="9525"/>
            </a:xfrm>
            <a:custGeom>
              <a:avLst/>
              <a:gdLst/>
              <a:ahLst/>
              <a:cxnLst/>
              <a:rect l="l" t="t" r="r" b="b"/>
              <a:pathLst>
                <a:path w="3581400" h="9525">
                  <a:moveTo>
                    <a:pt x="0" y="0"/>
                  </a:moveTo>
                  <a:lnTo>
                    <a:pt x="3581400" y="0"/>
                  </a:lnTo>
                </a:path>
              </a:pathLst>
            </a:custGeom>
            <a:noFill/>
            <a:ln w="9525">
              <a:solidFill>
                <a:srgbClr val="DCE6F6"/>
              </a:solidFill>
            </a:ln>
          </p:spPr>
        </p:sp>
        <p:sp>
          <p:nvSpPr>
            <p:cNvPr id="130" name="TextBox 130"/>
            <p:cNvSpPr txBox="1"/>
            <p:nvPr/>
          </p:nvSpPr>
          <p:spPr>
            <a:xfrm>
              <a:off x="4319588" y="3561636"/>
              <a:ext cx="190309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523E3A"/>
                  </a:solidFill>
                  <a:latin typeface="+mn-lt"/>
                  <a:ea typeface="+mn-ea"/>
                  <a:cs typeface="+mn-cs"/>
                </a:rPr>
                <a:t>关键假设：市场环境中性；客户预算稳中有升；</a:t>
              </a:r>
              <a:br/>
              <a:r>
                <a:rPr lang="zh-CN" sz="710" dirty="0">
                  <a:solidFill>
                    <a:srgbClr val="523E3A"/>
                  </a:solidFill>
                  <a:latin typeface="+mn-lt"/>
                  <a:ea typeface="+mn-ea"/>
                  <a:cs typeface="+mn-cs"/>
                </a:rPr>
                <a:t>决策周期正常；竞争强度中等</a:t>
              </a:r>
            </a:p>
          </p:txBody>
        </p:sp>
      </p:grpSp>
      <p:grpSp>
        <p:nvGrpSpPr>
          <p:cNvPr id="187" name="scenario-conservative"/>
          <p:cNvGrpSpPr/>
          <p:nvPr/>
        </p:nvGrpSpPr>
        <p:grpSpPr>
          <a:xfrm>
            <a:off x="8153400" y="1047750"/>
            <a:ext cx="3810000" cy="2857500"/>
            <a:chOff x="8153400" y="1047750"/>
            <a:chExt cx="3810000" cy="2857500"/>
          </a:xfrm>
        </p:grpSpPr>
        <p:sp>
          <p:nvSpPr>
            <p:cNvPr id="132" name="Rectangle 132"/>
            <p:cNvSpPr/>
            <p:nvPr/>
          </p:nvSpPr>
          <p:spPr>
            <a:xfrm>
              <a:off x="8153400" y="1047750"/>
              <a:ext cx="3810000" cy="2857500"/>
            </a:xfrm>
            <a:prstGeom prst="roundRect">
              <a:avLst>
                <a:gd name="adj" fmla="val 3333"/>
              </a:avLst>
            </a:prstGeom>
            <a:solidFill>
              <a:srgbClr val="FFFFFF"/>
            </a:solidFill>
            <a:ln w="14288">
              <a:solidFill>
                <a:srgbClr val="C9D6EE"/>
              </a:solidFill>
            </a:ln>
          </p:spPr>
        </p:sp>
        <p:sp>
          <p:nvSpPr>
            <p:cNvPr id="133" name="Freeform 133"/>
            <p:cNvSpPr/>
            <p:nvPr/>
          </p:nvSpPr>
          <p:spPr>
            <a:xfrm>
              <a:off x="8153400" y="1047750"/>
              <a:ext cx="3810000" cy="361950"/>
            </a:xfrm>
            <a:custGeom>
              <a:avLst/>
              <a:gdLst/>
              <a:ahLst/>
              <a:cxnLst/>
              <a:rect l="l" t="t" r="r" b="b"/>
              <a:pathLst>
                <a:path w="3810000" h="361950">
                  <a:moveTo>
                    <a:pt x="95250" y="0"/>
                  </a:moveTo>
                  <a:lnTo>
                    <a:pt x="3714750" y="0"/>
                  </a:lnTo>
                  <a:cubicBezTo>
                    <a:pt x="3767355" y="0"/>
                    <a:pt x="3810000" y="42645"/>
                    <a:pt x="3810000" y="95250"/>
                  </a:cubicBezTo>
                  <a:lnTo>
                    <a:pt x="3810000" y="361950"/>
                  </a:lnTo>
                  <a:lnTo>
                    <a:pt x="0" y="361950"/>
                  </a:lnTo>
                  <a:lnTo>
                    <a:pt x="0" y="95250"/>
                  </a:lnTo>
                  <a:cubicBezTo>
                    <a:pt x="0" y="42645"/>
                    <a:pt x="42645" y="0"/>
                    <a:pt x="95250" y="0"/>
                  </a:cubicBezTo>
                  <a:close/>
                </a:path>
              </a:pathLst>
            </a:custGeom>
            <a:solidFill>
              <a:srgbClr val="721E0D"/>
            </a:solidFill>
            <a:ln>
              <a:noFill/>
            </a:ln>
          </p:spPr>
        </p:sp>
        <p:grpSp>
          <p:nvGrpSpPr>
            <p:cNvPr id="136" name="Group 136"/>
            <p:cNvGrpSpPr/>
            <p:nvPr/>
          </p:nvGrpSpPr>
          <p:grpSpPr>
            <a:xfrm>
              <a:off x="8306792" y="1163221"/>
              <a:ext cx="176411" cy="152816"/>
              <a:chOff x="8306792" y="1163221"/>
              <a:chExt cx="176411" cy="152816"/>
            </a:xfrm>
          </p:grpSpPr>
          <p:sp>
            <p:nvSpPr>
              <p:cNvPr id="134" name="Freeform 134"/>
              <p:cNvSpPr/>
              <p:nvPr/>
            </p:nvSpPr>
            <p:spPr>
              <a:xfrm>
                <a:off x="8306792" y="1163221"/>
                <a:ext cx="176411" cy="117892"/>
              </a:xfrm>
              <a:custGeom>
                <a:avLst/>
                <a:gdLst/>
                <a:ahLst/>
                <a:cxnLst/>
                <a:rect l="l" t="t" r="r" b="b"/>
                <a:pathLst>
                  <a:path w="176411" h="117892">
                    <a:moveTo>
                      <a:pt x="41077" y="117892"/>
                    </a:moveTo>
                    <a:cubicBezTo>
                      <a:pt x="18391" y="117892"/>
                      <a:pt x="0" y="100301"/>
                      <a:pt x="0" y="78601"/>
                    </a:cubicBezTo>
                    <a:cubicBezTo>
                      <a:pt x="0" y="56902"/>
                      <a:pt x="18391" y="39311"/>
                      <a:pt x="41077" y="39311"/>
                    </a:cubicBezTo>
                    <a:cubicBezTo>
                      <a:pt x="46435" y="15441"/>
                      <a:pt x="72278" y="0"/>
                      <a:pt x="98800" y="4822"/>
                    </a:cubicBezTo>
                    <a:cubicBezTo>
                      <a:pt x="125322" y="9644"/>
                      <a:pt x="142478" y="32904"/>
                      <a:pt x="137120" y="56773"/>
                    </a:cubicBezTo>
                    <a:lnTo>
                      <a:pt x="145852" y="56773"/>
                    </a:lnTo>
                    <a:cubicBezTo>
                      <a:pt x="162729" y="56773"/>
                      <a:pt x="176411" y="70455"/>
                      <a:pt x="176411" y="87332"/>
                    </a:cubicBezTo>
                    <a:cubicBezTo>
                      <a:pt x="176411" y="104210"/>
                      <a:pt x="162729" y="117892"/>
                      <a:pt x="145852" y="117892"/>
                    </a:cubicBezTo>
                  </a:path>
                </a:pathLst>
              </a:custGeom>
              <a:noFill/>
              <a:ln w="17463">
                <a:solidFill>
                  <a:srgbClr val="FFFFFF"/>
                </a:solidFill>
              </a:ln>
            </p:spPr>
          </p:sp>
          <p:sp>
            <p:nvSpPr>
              <p:cNvPr id="135" name="Freeform 135"/>
              <p:cNvSpPr/>
              <p:nvPr/>
            </p:nvSpPr>
            <p:spPr>
              <a:xfrm>
                <a:off x="8382794" y="1237456"/>
                <a:ext cx="34925" cy="78581"/>
              </a:xfrm>
              <a:custGeom>
                <a:avLst/>
                <a:gdLst/>
                <a:ahLst/>
                <a:cxnLst/>
                <a:rect l="l" t="t" r="r" b="b"/>
                <a:pathLst>
                  <a:path w="34925" h="78581">
                    <a:moveTo>
                      <a:pt x="0" y="0"/>
                    </a:moveTo>
                    <a:lnTo>
                      <a:pt x="0" y="17463"/>
                    </a:lnTo>
                    <a:moveTo>
                      <a:pt x="0" y="43656"/>
                    </a:moveTo>
                    <a:lnTo>
                      <a:pt x="0" y="61119"/>
                    </a:lnTo>
                    <a:moveTo>
                      <a:pt x="34925" y="17463"/>
                    </a:moveTo>
                    <a:lnTo>
                      <a:pt x="34925" y="34925"/>
                    </a:lnTo>
                    <a:moveTo>
                      <a:pt x="34925" y="61119"/>
                    </a:moveTo>
                    <a:lnTo>
                      <a:pt x="34925" y="78581"/>
                    </a:lnTo>
                  </a:path>
                </a:pathLst>
              </a:custGeom>
              <a:noFill/>
              <a:ln w="17463">
                <a:solidFill>
                  <a:srgbClr val="FFFFFF"/>
                </a:solidFill>
              </a:ln>
            </p:spPr>
          </p:sp>
        </p:grpSp>
        <p:sp>
          <p:nvSpPr>
            <p:cNvPr id="137" name="TextBox 137"/>
            <p:cNvSpPr txBox="1"/>
            <p:nvPr/>
          </p:nvSpPr>
          <p:spPr>
            <a:xfrm>
              <a:off x="8566404" y="115633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保守情景</a:t>
              </a:r>
            </a:p>
          </p:txBody>
        </p:sp>
        <p:sp>
          <p:nvSpPr>
            <p:cNvPr id="138" name="TextBox 138"/>
            <p:cNvSpPr txBox="1"/>
            <p:nvPr/>
          </p:nvSpPr>
          <p:spPr>
            <a:xfrm>
              <a:off x="11037760" y="1188720"/>
              <a:ext cx="797052" cy="176212"/>
            </a:xfrm>
            <a:prstGeom prst="rect">
              <a:avLst/>
            </a:prstGeom>
            <a:noFill/>
            <a:ln>
              <a:noFill/>
            </a:ln>
          </p:spPr>
          <p:txBody>
            <a:bodyPr wrap="none" lIns="0" tIns="0" rIns="0" bIns="0" anchor="t" anchorCtr="0">
              <a:spAutoFit/>
            </a:bodyPr>
            <a:lstStyle/>
            <a:p>
              <a:pPr algn="r"/>
              <a:r>
                <a:rPr lang="zh-CN" sz="900" dirty="0">
                  <a:solidFill>
                    <a:srgbClr val="FFFFFF"/>
                  </a:solidFill>
                  <a:latin typeface="+mn-lt"/>
                  <a:ea typeface="+mn-ea"/>
                  <a:cs typeface="+mn-cs"/>
                </a:rPr>
                <a:t xml:space="preserve">   完成率65%</a:t>
              </a:r>
            </a:p>
          </p:txBody>
        </p:sp>
        <p:sp>
          <p:nvSpPr>
            <p:cNvPr id="139" name="TextBox 139"/>
            <p:cNvSpPr txBox="1"/>
            <p:nvPr/>
          </p:nvSpPr>
          <p:spPr>
            <a:xfrm>
              <a:off x="9144886" y="1620202"/>
              <a:ext cx="1827028" cy="205359"/>
            </a:xfrm>
            <a:prstGeom prst="rect">
              <a:avLst/>
            </a:prstGeom>
            <a:noFill/>
            <a:ln>
              <a:noFill/>
            </a:ln>
          </p:spPr>
          <p:txBody>
            <a:bodyPr wrap="none" lIns="0" tIns="0" rIns="0" bIns="0" anchor="t" anchorCtr="0">
              <a:spAutoFit/>
            </a:bodyPr>
            <a:lstStyle/>
            <a:p>
              <a:pPr algn="ctr"/>
              <a:r>
                <a:rPr lang="zh-CN" sz="1050" dirty="0">
                  <a:solidFill>
                    <a:srgbClr val="523E3A"/>
                  </a:solidFill>
                  <a:latin typeface="+mn-lt"/>
                  <a:ea typeface="+mn-ea"/>
                  <a:cs typeface="+mn-cs"/>
                </a:rPr>
                <a:t xml:space="preserve">   追回 </a:t>
              </a:r>
              <a:r>
                <a:rPr lang="zh-CN" sz="2250" b="1" dirty="0">
                  <a:solidFill>
                    <a:srgbClr val="C03616"/>
                  </a:solidFill>
                  <a:latin typeface="+mn-lt"/>
                  <a:ea typeface="+mn-ea"/>
                  <a:cs typeface="+mn-cs"/>
                </a:rPr>
                <a:t>0.80</a:t>
              </a:r>
              <a:r>
                <a:rPr lang="zh-CN" sz="1050" dirty="0">
                  <a:solidFill>
                    <a:srgbClr val="523E3A"/>
                  </a:solidFill>
                  <a:latin typeface="+mn-lt"/>
                  <a:ea typeface="+mn-ea"/>
                  <a:cs typeface="+mn-cs"/>
                </a:rPr>
                <a:t xml:space="preserve"> 亿元   </a:t>
              </a:r>
            </a:p>
          </p:txBody>
        </p:sp>
        <p:sp>
          <p:nvSpPr>
            <p:cNvPr id="140" name="TextBox 140"/>
            <p:cNvSpPr txBox="1"/>
            <p:nvPr/>
          </p:nvSpPr>
          <p:spPr>
            <a:xfrm>
              <a:off x="9939982" y="1984534"/>
              <a:ext cx="770236" cy="133350"/>
            </a:xfrm>
            <a:prstGeom prst="rect">
              <a:avLst/>
            </a:prstGeom>
            <a:noFill/>
            <a:ln>
              <a:noFill/>
            </a:ln>
          </p:spPr>
          <p:txBody>
            <a:bodyPr wrap="none" lIns="0" tIns="0" rIns="0" bIns="0" anchor="t" anchorCtr="0">
              <a:spAutoFit/>
            </a:bodyPr>
            <a:lstStyle/>
            <a:p>
              <a:pPr algn="ctr"/>
              <a:r>
                <a:rPr lang="zh-CN" sz="680" b="1" dirty="0">
                  <a:solidFill>
                    <a:srgbClr val="6E7686"/>
                  </a:solidFill>
                  <a:latin typeface="+mn-lt"/>
                  <a:ea typeface="+mn-ea"/>
                  <a:cs typeface="+mn-cs"/>
                </a:rPr>
                <a:t xml:space="preserve">  金额（亿元）  </a:t>
              </a:r>
            </a:p>
          </p:txBody>
        </p:sp>
        <p:sp>
          <p:nvSpPr>
            <p:cNvPr id="141" name="TextBox 141"/>
            <p:cNvSpPr txBox="1"/>
            <p:nvPr/>
          </p:nvSpPr>
          <p:spPr>
            <a:xfrm>
              <a:off x="10830725" y="1984534"/>
              <a:ext cx="284150" cy="133350"/>
            </a:xfrm>
            <a:prstGeom prst="rect">
              <a:avLst/>
            </a:prstGeom>
            <a:noFill/>
            <a:ln>
              <a:noFill/>
            </a:ln>
          </p:spPr>
          <p:txBody>
            <a:bodyPr wrap="none" lIns="0" tIns="0" rIns="0" bIns="0" anchor="t" anchorCtr="0">
              <a:spAutoFit/>
            </a:bodyPr>
            <a:lstStyle/>
            <a:p>
              <a:pPr algn="ctr"/>
              <a:r>
                <a:rPr lang="zh-CN" sz="680" b="1" dirty="0">
                  <a:solidFill>
                    <a:srgbClr val="6E7686"/>
                  </a:solidFill>
                  <a:latin typeface="+mn-lt"/>
                  <a:ea typeface="+mn-ea"/>
                  <a:cs typeface="+mn-cs"/>
                </a:rPr>
                <a:t>转化率</a:t>
              </a:r>
            </a:p>
          </p:txBody>
        </p:sp>
        <p:sp>
          <p:nvSpPr>
            <p:cNvPr id="142" name="TextBox 142"/>
            <p:cNvSpPr txBox="1"/>
            <p:nvPr/>
          </p:nvSpPr>
          <p:spPr>
            <a:xfrm>
              <a:off x="11421275" y="1984534"/>
              <a:ext cx="284150" cy="133350"/>
            </a:xfrm>
            <a:prstGeom prst="rect">
              <a:avLst/>
            </a:prstGeom>
            <a:noFill/>
            <a:ln>
              <a:noFill/>
            </a:ln>
          </p:spPr>
          <p:txBody>
            <a:bodyPr wrap="none" lIns="0" tIns="0" rIns="0" bIns="0" anchor="t" anchorCtr="0">
              <a:spAutoFit/>
            </a:bodyPr>
            <a:lstStyle/>
            <a:p>
              <a:pPr algn="ctr"/>
              <a:r>
                <a:rPr lang="zh-CN" sz="680" b="1" dirty="0">
                  <a:solidFill>
                    <a:srgbClr val="6E7686"/>
                  </a:solidFill>
                  <a:latin typeface="+mn-lt"/>
                  <a:ea typeface="+mn-ea"/>
                  <a:cs typeface="+mn-cs"/>
                </a:rPr>
                <a:t>较基准</a:t>
              </a:r>
            </a:p>
          </p:txBody>
        </p:sp>
        <p:sp>
          <p:nvSpPr>
            <p:cNvPr id="143" name="Rectangle 143"/>
            <p:cNvSpPr/>
            <p:nvPr/>
          </p:nvSpPr>
          <p:spPr>
            <a:xfrm>
              <a:off x="8267700" y="2152650"/>
              <a:ext cx="1524000" cy="266700"/>
            </a:xfrm>
            <a:prstGeom prst="roundRect">
              <a:avLst>
                <a:gd name="adj" fmla="val 14286"/>
              </a:avLst>
            </a:prstGeom>
            <a:solidFill>
              <a:srgbClr val="721E0D"/>
            </a:solidFill>
            <a:ln>
              <a:noFill/>
            </a:ln>
          </p:spPr>
        </p:sp>
        <p:grpSp>
          <p:nvGrpSpPr>
            <p:cNvPr id="148" name="Group 148"/>
            <p:cNvGrpSpPr/>
            <p:nvPr/>
          </p:nvGrpSpPr>
          <p:grpSpPr>
            <a:xfrm>
              <a:off x="8379619" y="2235994"/>
              <a:ext cx="100012" cy="100012"/>
              <a:chOff x="8379619" y="2235994"/>
              <a:chExt cx="100012" cy="100012"/>
            </a:xfrm>
          </p:grpSpPr>
          <p:sp>
            <p:nvSpPr>
              <p:cNvPr id="144" name="Freeform 144"/>
              <p:cNvSpPr/>
              <p:nvPr/>
            </p:nvSpPr>
            <p:spPr>
              <a:xfrm>
                <a:off x="8390731" y="223599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FFFFFF"/>
                </a:solidFill>
              </a:ln>
            </p:spPr>
          </p:sp>
          <p:sp>
            <p:nvSpPr>
              <p:cNvPr id="145" name="Freeform 145"/>
              <p:cNvSpPr/>
              <p:nvPr/>
            </p:nvSpPr>
            <p:spPr>
              <a:xfrm>
                <a:off x="8379619" y="230266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FFFFFF"/>
                </a:solidFill>
              </a:ln>
            </p:spPr>
          </p:sp>
          <p:sp>
            <p:nvSpPr>
              <p:cNvPr id="146" name="Freeform 146"/>
              <p:cNvSpPr/>
              <p:nvPr/>
            </p:nvSpPr>
            <p:spPr>
              <a:xfrm>
                <a:off x="8451850" y="223671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FFFFFF"/>
                </a:solidFill>
              </a:ln>
            </p:spPr>
          </p:sp>
          <p:sp>
            <p:nvSpPr>
              <p:cNvPr id="147" name="Freeform 147"/>
              <p:cNvSpPr/>
              <p:nvPr/>
            </p:nvSpPr>
            <p:spPr>
              <a:xfrm>
                <a:off x="8462962" y="230350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FFFFFF"/>
                </a:solidFill>
              </a:ln>
            </p:spPr>
          </p:sp>
        </p:grpSp>
        <p:sp>
          <p:nvSpPr>
            <p:cNvPr id="149" name="TextBox 149"/>
            <p:cNvSpPr txBox="1"/>
            <p:nvPr/>
          </p:nvSpPr>
          <p:spPr>
            <a:xfrm>
              <a:off x="8548688" y="2239089"/>
              <a:ext cx="54127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线索机会池</a:t>
              </a:r>
            </a:p>
          </p:txBody>
        </p:sp>
        <p:sp>
          <p:nvSpPr>
            <p:cNvPr id="150" name="TextBox 150"/>
            <p:cNvSpPr txBox="1"/>
            <p:nvPr/>
          </p:nvSpPr>
          <p:spPr>
            <a:xfrm>
              <a:off x="10065340" y="22445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3.20  </a:t>
              </a:r>
            </a:p>
          </p:txBody>
        </p:sp>
        <p:sp>
          <p:nvSpPr>
            <p:cNvPr id="151" name="TextBox 151"/>
            <p:cNvSpPr txBox="1"/>
            <p:nvPr/>
          </p:nvSpPr>
          <p:spPr>
            <a:xfrm>
              <a:off x="10938791" y="2248614"/>
              <a:ext cx="68017"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a:t>
              </a:r>
            </a:p>
          </p:txBody>
        </p:sp>
        <p:sp>
          <p:nvSpPr>
            <p:cNvPr id="152" name="TextBox 152"/>
            <p:cNvSpPr txBox="1"/>
            <p:nvPr/>
          </p:nvSpPr>
          <p:spPr>
            <a:xfrm>
              <a:off x="11301753" y="2248614"/>
              <a:ext cx="523195" cy="154781"/>
            </a:xfrm>
            <a:prstGeom prst="rect">
              <a:avLst/>
            </a:prstGeom>
            <a:noFill/>
            <a:ln>
              <a:noFill/>
            </a:ln>
          </p:spPr>
          <p:txBody>
            <a:bodyPr wrap="none" lIns="0" tIns="0" rIns="0" bIns="0" anchor="t" anchorCtr="0">
              <a:spAutoFit/>
            </a:bodyPr>
            <a:lstStyle/>
            <a:p>
              <a:pPr algn="ctr"/>
              <a:r>
                <a:rPr lang="zh-CN" sz="790" b="1" dirty="0">
                  <a:solidFill>
                    <a:srgbClr val="C03616"/>
                  </a:solidFill>
                  <a:latin typeface="+mn-lt"/>
                  <a:ea typeface="+mn-ea"/>
                  <a:cs typeface="+mn-cs"/>
                </a:rPr>
                <a:t xml:space="preserve">  -33%  </a:t>
              </a:r>
            </a:p>
          </p:txBody>
        </p:sp>
        <p:sp>
          <p:nvSpPr>
            <p:cNvPr id="153" name="Line 153"/>
            <p:cNvSpPr/>
            <p:nvPr/>
          </p:nvSpPr>
          <p:spPr>
            <a:xfrm>
              <a:off x="9925050" y="2457450"/>
              <a:ext cx="1924050" cy="9525"/>
            </a:xfrm>
            <a:custGeom>
              <a:avLst/>
              <a:gdLst/>
              <a:ahLst/>
              <a:cxnLst/>
              <a:rect l="l" t="t" r="r" b="b"/>
              <a:pathLst>
                <a:path w="1924050" h="9525">
                  <a:moveTo>
                    <a:pt x="0" y="0"/>
                  </a:moveTo>
                  <a:lnTo>
                    <a:pt x="1924050" y="0"/>
                  </a:lnTo>
                </a:path>
              </a:pathLst>
            </a:custGeom>
            <a:noFill/>
            <a:ln w="9525">
              <a:solidFill>
                <a:srgbClr val="E6EAF2"/>
              </a:solidFill>
            </a:ln>
          </p:spPr>
        </p:sp>
        <p:sp>
          <p:nvSpPr>
            <p:cNvPr id="154" name="Rectangle 154"/>
            <p:cNvSpPr/>
            <p:nvPr/>
          </p:nvSpPr>
          <p:spPr>
            <a:xfrm>
              <a:off x="8334375" y="2457450"/>
              <a:ext cx="1390650" cy="266700"/>
            </a:xfrm>
            <a:prstGeom prst="roundRect">
              <a:avLst>
                <a:gd name="adj" fmla="val 14286"/>
              </a:avLst>
            </a:prstGeom>
            <a:solidFill>
              <a:srgbClr val="B8351A"/>
            </a:solidFill>
            <a:ln>
              <a:noFill/>
            </a:ln>
          </p:spPr>
        </p:sp>
        <p:grpSp>
          <p:nvGrpSpPr>
            <p:cNvPr id="159" name="Group 159"/>
            <p:cNvGrpSpPr/>
            <p:nvPr/>
          </p:nvGrpSpPr>
          <p:grpSpPr>
            <a:xfrm>
              <a:off x="8446294" y="2540794"/>
              <a:ext cx="100012" cy="94456"/>
              <a:chOff x="8446294" y="2540794"/>
              <a:chExt cx="100012" cy="94456"/>
            </a:xfrm>
          </p:grpSpPr>
          <p:sp>
            <p:nvSpPr>
              <p:cNvPr id="155" name="Freeform 155"/>
              <p:cNvSpPr/>
              <p:nvPr/>
            </p:nvSpPr>
            <p:spPr>
              <a:xfrm>
                <a:off x="8446294" y="2563019"/>
                <a:ext cx="100012" cy="72231"/>
              </a:xfrm>
              <a:custGeom>
                <a:avLst/>
                <a:gdLst/>
                <a:ahLst/>
                <a:cxnLst/>
                <a:rect l="l" t="t" r="r" b="b"/>
                <a:pathLst>
                  <a:path w="100012" h="72231">
                    <a:moveTo>
                      <a:pt x="0" y="11112"/>
                    </a:moveTo>
                    <a:cubicBezTo>
                      <a:pt x="0" y="4975"/>
                      <a:pt x="4975" y="0"/>
                      <a:pt x="11112" y="0"/>
                    </a:cubicBezTo>
                    <a:lnTo>
                      <a:pt x="88900" y="0"/>
                    </a:lnTo>
                    <a:cubicBezTo>
                      <a:pt x="95037" y="0"/>
                      <a:pt x="100012" y="4975"/>
                      <a:pt x="100012" y="11112"/>
                    </a:cubicBezTo>
                    <a:lnTo>
                      <a:pt x="100012" y="61119"/>
                    </a:lnTo>
                    <a:cubicBezTo>
                      <a:pt x="100012" y="67256"/>
                      <a:pt x="95037" y="72231"/>
                      <a:pt x="88900" y="72231"/>
                    </a:cubicBezTo>
                    <a:lnTo>
                      <a:pt x="11112" y="72231"/>
                    </a:lnTo>
                    <a:cubicBezTo>
                      <a:pt x="4975" y="72231"/>
                      <a:pt x="0" y="67256"/>
                      <a:pt x="0" y="61119"/>
                    </a:cubicBezTo>
                    <a:lnTo>
                      <a:pt x="0" y="11112"/>
                    </a:lnTo>
                  </a:path>
                </a:pathLst>
              </a:custGeom>
              <a:noFill/>
              <a:ln w="11112">
                <a:solidFill>
                  <a:srgbClr val="FFFFFF"/>
                </a:solidFill>
              </a:ln>
            </p:spPr>
          </p:sp>
          <p:sp>
            <p:nvSpPr>
              <p:cNvPr id="156" name="Freeform 156"/>
              <p:cNvSpPr/>
              <p:nvPr/>
            </p:nvSpPr>
            <p:spPr>
              <a:xfrm>
                <a:off x="8474075" y="2540794"/>
                <a:ext cx="44450" cy="22225"/>
              </a:xfrm>
              <a:custGeom>
                <a:avLst/>
                <a:gdLst/>
                <a:ahLst/>
                <a:cxnLst/>
                <a:rect l="l" t="t" r="r" b="b"/>
                <a:pathLst>
                  <a:path w="44450" h="22225">
                    <a:moveTo>
                      <a:pt x="0" y="22225"/>
                    </a:moveTo>
                    <a:lnTo>
                      <a:pt x="0" y="11112"/>
                    </a:lnTo>
                    <a:cubicBezTo>
                      <a:pt x="0" y="4975"/>
                      <a:pt x="4975" y="0"/>
                      <a:pt x="11112" y="0"/>
                    </a:cubicBezTo>
                    <a:lnTo>
                      <a:pt x="33337" y="0"/>
                    </a:lnTo>
                    <a:cubicBezTo>
                      <a:pt x="39475" y="0"/>
                      <a:pt x="44450" y="4975"/>
                      <a:pt x="44450" y="11112"/>
                    </a:cubicBezTo>
                    <a:lnTo>
                      <a:pt x="44450" y="22225"/>
                    </a:lnTo>
                  </a:path>
                </a:pathLst>
              </a:custGeom>
              <a:noFill/>
              <a:ln w="11112">
                <a:solidFill>
                  <a:srgbClr val="FFFFFF"/>
                </a:solidFill>
              </a:ln>
            </p:spPr>
          </p:sp>
          <p:sp>
            <p:nvSpPr>
              <p:cNvPr id="157" name="Freeform 157"/>
              <p:cNvSpPr/>
              <p:nvPr/>
            </p:nvSpPr>
            <p:spPr>
              <a:xfrm>
                <a:off x="8496300" y="2590800"/>
                <a:ext cx="9525" cy="9525"/>
              </a:xfrm>
              <a:custGeom>
                <a:avLst/>
                <a:gdLst/>
                <a:ahLst/>
                <a:cxnLst/>
                <a:rect l="l" t="t" r="r" b="b"/>
                <a:pathLst>
                  <a:path w="9525" h="9525">
                    <a:moveTo>
                      <a:pt x="0" y="0"/>
                    </a:moveTo>
                    <a:lnTo>
                      <a:pt x="0" y="56"/>
                    </a:lnTo>
                  </a:path>
                </a:pathLst>
              </a:custGeom>
              <a:noFill/>
              <a:ln w="11112">
                <a:solidFill>
                  <a:srgbClr val="FFFFFF"/>
                </a:solidFill>
              </a:ln>
            </p:spPr>
          </p:sp>
          <p:sp>
            <p:nvSpPr>
              <p:cNvPr id="158" name="Freeform 158"/>
              <p:cNvSpPr/>
              <p:nvPr/>
            </p:nvSpPr>
            <p:spPr>
              <a:xfrm>
                <a:off x="8446294" y="2596356"/>
                <a:ext cx="100012" cy="15850"/>
              </a:xfrm>
              <a:custGeom>
                <a:avLst/>
                <a:gdLst/>
                <a:ahLst/>
                <a:cxnLst/>
                <a:rect l="l" t="t" r="r" b="b"/>
                <a:pathLst>
                  <a:path w="100012" h="15850">
                    <a:moveTo>
                      <a:pt x="0" y="0"/>
                    </a:moveTo>
                    <a:cubicBezTo>
                      <a:pt x="31454" y="15850"/>
                      <a:pt x="68559" y="15850"/>
                      <a:pt x="100012" y="0"/>
                    </a:cubicBezTo>
                  </a:path>
                </a:pathLst>
              </a:custGeom>
              <a:noFill/>
              <a:ln w="11112">
                <a:solidFill>
                  <a:srgbClr val="FFFFFF"/>
                </a:solidFill>
              </a:ln>
            </p:spPr>
          </p:sp>
        </p:grpSp>
        <p:sp>
          <p:nvSpPr>
            <p:cNvPr id="160" name="TextBox 160"/>
            <p:cNvSpPr txBox="1"/>
            <p:nvPr/>
          </p:nvSpPr>
          <p:spPr>
            <a:xfrm>
              <a:off x="8615362" y="25438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有效商机</a:t>
              </a:r>
            </a:p>
          </p:txBody>
        </p:sp>
        <p:sp>
          <p:nvSpPr>
            <p:cNvPr id="161" name="TextBox 161"/>
            <p:cNvSpPr txBox="1"/>
            <p:nvPr/>
          </p:nvSpPr>
          <p:spPr>
            <a:xfrm>
              <a:off x="10065340" y="25493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1.44  </a:t>
              </a:r>
            </a:p>
          </p:txBody>
        </p:sp>
        <p:sp>
          <p:nvSpPr>
            <p:cNvPr id="162" name="TextBox 162"/>
            <p:cNvSpPr txBox="1"/>
            <p:nvPr/>
          </p:nvSpPr>
          <p:spPr>
            <a:xfrm>
              <a:off x="10752679" y="2553414"/>
              <a:ext cx="440242"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 xml:space="preserve">  45%  </a:t>
              </a:r>
            </a:p>
          </p:txBody>
        </p:sp>
        <p:sp>
          <p:nvSpPr>
            <p:cNvPr id="163" name="TextBox 163"/>
            <p:cNvSpPr txBox="1"/>
            <p:nvPr/>
          </p:nvSpPr>
          <p:spPr>
            <a:xfrm>
              <a:off x="11301753" y="2553414"/>
              <a:ext cx="523195" cy="154781"/>
            </a:xfrm>
            <a:prstGeom prst="rect">
              <a:avLst/>
            </a:prstGeom>
            <a:noFill/>
            <a:ln>
              <a:noFill/>
            </a:ln>
          </p:spPr>
          <p:txBody>
            <a:bodyPr wrap="none" lIns="0" tIns="0" rIns="0" bIns="0" anchor="t" anchorCtr="0">
              <a:spAutoFit/>
            </a:bodyPr>
            <a:lstStyle/>
            <a:p>
              <a:pPr algn="ctr"/>
              <a:r>
                <a:rPr lang="zh-CN" sz="790" b="1" dirty="0">
                  <a:solidFill>
                    <a:srgbClr val="C03616"/>
                  </a:solidFill>
                  <a:latin typeface="+mn-lt"/>
                  <a:ea typeface="+mn-ea"/>
                  <a:cs typeface="+mn-cs"/>
                </a:rPr>
                <a:t xml:space="preserve">  -42%  </a:t>
              </a:r>
            </a:p>
          </p:txBody>
        </p:sp>
        <p:sp>
          <p:nvSpPr>
            <p:cNvPr id="164" name="Line 164"/>
            <p:cNvSpPr/>
            <p:nvPr/>
          </p:nvSpPr>
          <p:spPr>
            <a:xfrm>
              <a:off x="9925050" y="2762250"/>
              <a:ext cx="1924050" cy="9525"/>
            </a:xfrm>
            <a:custGeom>
              <a:avLst/>
              <a:gdLst/>
              <a:ahLst/>
              <a:cxnLst/>
              <a:rect l="l" t="t" r="r" b="b"/>
              <a:pathLst>
                <a:path w="1924050" h="9525">
                  <a:moveTo>
                    <a:pt x="0" y="0"/>
                  </a:moveTo>
                  <a:lnTo>
                    <a:pt x="1924050" y="0"/>
                  </a:lnTo>
                </a:path>
              </a:pathLst>
            </a:custGeom>
            <a:noFill/>
            <a:ln w="9525">
              <a:solidFill>
                <a:srgbClr val="E6EAF2"/>
              </a:solidFill>
            </a:ln>
          </p:spPr>
        </p:sp>
        <p:sp>
          <p:nvSpPr>
            <p:cNvPr id="165" name="Rectangle 165"/>
            <p:cNvSpPr/>
            <p:nvPr/>
          </p:nvSpPr>
          <p:spPr>
            <a:xfrm>
              <a:off x="8401050" y="2762250"/>
              <a:ext cx="1257300" cy="266700"/>
            </a:xfrm>
            <a:prstGeom prst="roundRect">
              <a:avLst>
                <a:gd name="adj" fmla="val 14286"/>
              </a:avLst>
            </a:prstGeom>
            <a:solidFill>
              <a:srgbClr val="721E0D"/>
            </a:solidFill>
            <a:ln>
              <a:noFill/>
            </a:ln>
          </p:spPr>
        </p:sp>
        <p:grpSp>
          <p:nvGrpSpPr>
            <p:cNvPr id="168" name="Group 168"/>
            <p:cNvGrpSpPr/>
            <p:nvPr/>
          </p:nvGrpSpPr>
          <p:grpSpPr>
            <a:xfrm>
              <a:off x="8512969" y="2845594"/>
              <a:ext cx="100012" cy="100012"/>
              <a:chOff x="8512969" y="2845594"/>
              <a:chExt cx="100012" cy="100012"/>
            </a:xfrm>
          </p:grpSpPr>
          <p:sp>
            <p:nvSpPr>
              <p:cNvPr id="166" name="Freeform 166"/>
              <p:cNvSpPr/>
              <p:nvPr/>
            </p:nvSpPr>
            <p:spPr>
              <a:xfrm>
                <a:off x="8512969" y="28455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sp>
            <p:nvSpPr>
              <p:cNvPr id="167" name="Freeform 167"/>
              <p:cNvSpPr/>
              <p:nvPr/>
            </p:nvSpPr>
            <p:spPr>
              <a:xfrm>
                <a:off x="8546306" y="2884487"/>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169" name="TextBox 169"/>
            <p:cNvSpPr txBox="1"/>
            <p:nvPr/>
          </p:nvSpPr>
          <p:spPr>
            <a:xfrm>
              <a:off x="8682038" y="28486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预计签约</a:t>
              </a:r>
            </a:p>
          </p:txBody>
        </p:sp>
        <p:sp>
          <p:nvSpPr>
            <p:cNvPr id="170" name="TextBox 170"/>
            <p:cNvSpPr txBox="1"/>
            <p:nvPr/>
          </p:nvSpPr>
          <p:spPr>
            <a:xfrm>
              <a:off x="10065340" y="28541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1.00  </a:t>
              </a:r>
            </a:p>
          </p:txBody>
        </p:sp>
        <p:sp>
          <p:nvSpPr>
            <p:cNvPr id="171" name="TextBox 171"/>
            <p:cNvSpPr txBox="1"/>
            <p:nvPr/>
          </p:nvSpPr>
          <p:spPr>
            <a:xfrm>
              <a:off x="10752679" y="2858214"/>
              <a:ext cx="440242"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 xml:space="preserve">  69%  </a:t>
              </a:r>
            </a:p>
          </p:txBody>
        </p:sp>
        <p:sp>
          <p:nvSpPr>
            <p:cNvPr id="172" name="TextBox 172"/>
            <p:cNvSpPr txBox="1"/>
            <p:nvPr/>
          </p:nvSpPr>
          <p:spPr>
            <a:xfrm>
              <a:off x="11301753" y="2858214"/>
              <a:ext cx="523195" cy="154781"/>
            </a:xfrm>
            <a:prstGeom prst="rect">
              <a:avLst/>
            </a:prstGeom>
            <a:noFill/>
            <a:ln>
              <a:noFill/>
            </a:ln>
          </p:spPr>
          <p:txBody>
            <a:bodyPr wrap="none" lIns="0" tIns="0" rIns="0" bIns="0" anchor="t" anchorCtr="0">
              <a:spAutoFit/>
            </a:bodyPr>
            <a:lstStyle/>
            <a:p>
              <a:pPr algn="ctr"/>
              <a:r>
                <a:rPr lang="zh-CN" sz="790" b="1" dirty="0">
                  <a:solidFill>
                    <a:srgbClr val="C03616"/>
                  </a:solidFill>
                  <a:latin typeface="+mn-lt"/>
                  <a:ea typeface="+mn-ea"/>
                  <a:cs typeface="+mn-cs"/>
                </a:rPr>
                <a:t xml:space="preserve">  -33%  </a:t>
              </a:r>
            </a:p>
          </p:txBody>
        </p:sp>
        <p:sp>
          <p:nvSpPr>
            <p:cNvPr id="173" name="Line 173"/>
            <p:cNvSpPr/>
            <p:nvPr/>
          </p:nvSpPr>
          <p:spPr>
            <a:xfrm>
              <a:off x="9925050" y="3067050"/>
              <a:ext cx="1924050" cy="9525"/>
            </a:xfrm>
            <a:custGeom>
              <a:avLst/>
              <a:gdLst/>
              <a:ahLst/>
              <a:cxnLst/>
              <a:rect l="l" t="t" r="r" b="b"/>
              <a:pathLst>
                <a:path w="1924050" h="9525">
                  <a:moveTo>
                    <a:pt x="0" y="0"/>
                  </a:moveTo>
                  <a:lnTo>
                    <a:pt x="1924050" y="0"/>
                  </a:lnTo>
                </a:path>
              </a:pathLst>
            </a:custGeom>
            <a:noFill/>
            <a:ln w="9525">
              <a:solidFill>
                <a:srgbClr val="E6EAF2"/>
              </a:solidFill>
            </a:ln>
          </p:spPr>
        </p:sp>
        <p:sp>
          <p:nvSpPr>
            <p:cNvPr id="174" name="Rectangle 174"/>
            <p:cNvSpPr/>
            <p:nvPr/>
          </p:nvSpPr>
          <p:spPr>
            <a:xfrm>
              <a:off x="8467725" y="3067050"/>
              <a:ext cx="1123950" cy="266700"/>
            </a:xfrm>
            <a:prstGeom prst="roundRect">
              <a:avLst>
                <a:gd name="adj" fmla="val 14286"/>
              </a:avLst>
            </a:prstGeom>
            <a:solidFill>
              <a:srgbClr val="B8351A"/>
            </a:solidFill>
            <a:ln>
              <a:noFill/>
            </a:ln>
          </p:spPr>
        </p:sp>
        <p:grpSp>
          <p:nvGrpSpPr>
            <p:cNvPr id="180" name="Group 180"/>
            <p:cNvGrpSpPr/>
            <p:nvPr/>
          </p:nvGrpSpPr>
          <p:grpSpPr>
            <a:xfrm>
              <a:off x="8579644" y="3149649"/>
              <a:ext cx="100012" cy="100757"/>
              <a:chOff x="8579644" y="3149649"/>
              <a:chExt cx="100012" cy="100757"/>
            </a:xfrm>
          </p:grpSpPr>
          <p:sp>
            <p:nvSpPr>
              <p:cNvPr id="175" name="Freeform 175"/>
              <p:cNvSpPr/>
              <p:nvPr/>
            </p:nvSpPr>
            <p:spPr>
              <a:xfrm>
                <a:off x="8612981" y="3194844"/>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FFFFFF"/>
                </a:solidFill>
              </a:ln>
            </p:spPr>
          </p:sp>
          <p:sp>
            <p:nvSpPr>
              <p:cNvPr id="176" name="Freeform 176"/>
              <p:cNvSpPr/>
              <p:nvPr/>
            </p:nvSpPr>
            <p:spPr>
              <a:xfrm>
                <a:off x="8612981" y="3211512"/>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FFFFFF"/>
                </a:solidFill>
              </a:ln>
            </p:spPr>
          </p:sp>
          <p:sp>
            <p:nvSpPr>
              <p:cNvPr id="177" name="Freeform 177"/>
              <p:cNvSpPr/>
              <p:nvPr/>
            </p:nvSpPr>
            <p:spPr>
              <a:xfrm>
                <a:off x="8579644" y="3149649"/>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FFFFFF"/>
                </a:solidFill>
              </a:ln>
            </p:spPr>
          </p:sp>
          <p:sp>
            <p:nvSpPr>
              <p:cNvPr id="178" name="Freeform 178"/>
              <p:cNvSpPr/>
              <p:nvPr/>
            </p:nvSpPr>
            <p:spPr>
              <a:xfrm>
                <a:off x="8579644" y="3167062"/>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FFFFFF"/>
                </a:solidFill>
              </a:ln>
            </p:spPr>
          </p:sp>
          <p:sp>
            <p:nvSpPr>
              <p:cNvPr id="179" name="Freeform 179"/>
              <p:cNvSpPr/>
              <p:nvPr/>
            </p:nvSpPr>
            <p:spPr>
              <a:xfrm>
                <a:off x="8579644" y="3194844"/>
                <a:ext cx="11112" cy="11112"/>
              </a:xfrm>
              <a:custGeom>
                <a:avLst/>
                <a:gdLst/>
                <a:ahLst/>
                <a:cxnLst/>
                <a:rect l="l" t="t" r="r" b="b"/>
                <a:pathLst>
                  <a:path w="11112" h="11112">
                    <a:moveTo>
                      <a:pt x="0" y="0"/>
                    </a:moveTo>
                    <a:cubicBezTo>
                      <a:pt x="0" y="4934"/>
                      <a:pt x="4289" y="8057"/>
                      <a:pt x="11112" y="11112"/>
                    </a:cubicBezTo>
                  </a:path>
                </a:pathLst>
              </a:custGeom>
              <a:noFill/>
              <a:ln w="11112">
                <a:solidFill>
                  <a:srgbClr val="FFFFFF"/>
                </a:solidFill>
              </a:ln>
            </p:spPr>
          </p:sp>
        </p:grpSp>
        <p:sp>
          <p:nvSpPr>
            <p:cNvPr id="181" name="TextBox 181"/>
            <p:cNvSpPr txBox="1"/>
            <p:nvPr/>
          </p:nvSpPr>
          <p:spPr>
            <a:xfrm>
              <a:off x="8748712" y="3153489"/>
              <a:ext cx="434924"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追回金额</a:t>
              </a:r>
            </a:p>
          </p:txBody>
        </p:sp>
        <p:sp>
          <p:nvSpPr>
            <p:cNvPr id="182" name="TextBox 182"/>
            <p:cNvSpPr txBox="1"/>
            <p:nvPr/>
          </p:nvSpPr>
          <p:spPr>
            <a:xfrm>
              <a:off x="10065340" y="3158966"/>
              <a:ext cx="519519"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0.80  </a:t>
              </a:r>
            </a:p>
          </p:txBody>
        </p:sp>
        <p:sp>
          <p:nvSpPr>
            <p:cNvPr id="183" name="TextBox 183"/>
            <p:cNvSpPr txBox="1"/>
            <p:nvPr/>
          </p:nvSpPr>
          <p:spPr>
            <a:xfrm>
              <a:off x="10752679" y="3163014"/>
              <a:ext cx="440242" cy="154781"/>
            </a:xfrm>
            <a:prstGeom prst="rect">
              <a:avLst/>
            </a:prstGeom>
            <a:noFill/>
            <a:ln>
              <a:noFill/>
            </a:ln>
          </p:spPr>
          <p:txBody>
            <a:bodyPr wrap="none" lIns="0" tIns="0" rIns="0" bIns="0" anchor="t" anchorCtr="0">
              <a:spAutoFit/>
            </a:bodyPr>
            <a:lstStyle/>
            <a:p>
              <a:pPr algn="ctr"/>
              <a:r>
                <a:rPr lang="zh-CN" sz="790" dirty="0">
                  <a:solidFill>
                    <a:srgbClr val="523E3A"/>
                  </a:solidFill>
                  <a:latin typeface="+mn-lt"/>
                  <a:ea typeface="+mn-ea"/>
                  <a:cs typeface="+mn-cs"/>
                </a:rPr>
                <a:t xml:space="preserve">  80%  </a:t>
              </a:r>
            </a:p>
          </p:txBody>
        </p:sp>
        <p:sp>
          <p:nvSpPr>
            <p:cNvPr id="184" name="TextBox 184"/>
            <p:cNvSpPr txBox="1"/>
            <p:nvPr/>
          </p:nvSpPr>
          <p:spPr>
            <a:xfrm>
              <a:off x="11301753" y="3163014"/>
              <a:ext cx="523195" cy="154781"/>
            </a:xfrm>
            <a:prstGeom prst="rect">
              <a:avLst/>
            </a:prstGeom>
            <a:noFill/>
            <a:ln>
              <a:noFill/>
            </a:ln>
          </p:spPr>
          <p:txBody>
            <a:bodyPr wrap="none" lIns="0" tIns="0" rIns="0" bIns="0" anchor="t" anchorCtr="0">
              <a:spAutoFit/>
            </a:bodyPr>
            <a:lstStyle/>
            <a:p>
              <a:pPr algn="ctr"/>
              <a:r>
                <a:rPr lang="zh-CN" sz="790" b="1" dirty="0">
                  <a:solidFill>
                    <a:srgbClr val="C03616"/>
                  </a:solidFill>
                  <a:latin typeface="+mn-lt"/>
                  <a:ea typeface="+mn-ea"/>
                  <a:cs typeface="+mn-cs"/>
                </a:rPr>
                <a:t xml:space="preserve">  -33%  </a:t>
              </a:r>
            </a:p>
          </p:txBody>
        </p:sp>
        <p:sp>
          <p:nvSpPr>
            <p:cNvPr id="185" name="Line 185"/>
            <p:cNvSpPr/>
            <p:nvPr/>
          </p:nvSpPr>
          <p:spPr>
            <a:xfrm>
              <a:off x="8267700" y="3448050"/>
              <a:ext cx="3581400" cy="9525"/>
            </a:xfrm>
            <a:custGeom>
              <a:avLst/>
              <a:gdLst/>
              <a:ahLst/>
              <a:cxnLst/>
              <a:rect l="l" t="t" r="r" b="b"/>
              <a:pathLst>
                <a:path w="3581400" h="9525">
                  <a:moveTo>
                    <a:pt x="0" y="0"/>
                  </a:moveTo>
                  <a:lnTo>
                    <a:pt x="3581400" y="0"/>
                  </a:lnTo>
                </a:path>
              </a:pathLst>
            </a:custGeom>
            <a:noFill/>
            <a:ln w="9525">
              <a:solidFill>
                <a:srgbClr val="DCE6F6"/>
              </a:solidFill>
            </a:ln>
          </p:spPr>
        </p:sp>
        <p:sp>
          <p:nvSpPr>
            <p:cNvPr id="186" name="TextBox 186"/>
            <p:cNvSpPr txBox="1"/>
            <p:nvPr/>
          </p:nvSpPr>
          <p:spPr>
            <a:xfrm>
              <a:off x="8281988" y="3561636"/>
              <a:ext cx="1722755" cy="292894"/>
            </a:xfrm>
            <a:prstGeom prst="rect">
              <a:avLst/>
            </a:prstGeom>
            <a:noFill/>
            <a:ln>
              <a:noFill/>
            </a:ln>
          </p:spPr>
          <p:txBody>
            <a:bodyPr wrap="none" lIns="0" tIns="0" rIns="0" bIns="0" anchor="t" anchorCtr="0">
              <a:spAutoFit/>
            </a:bodyPr>
            <a:lstStyle/>
            <a:p>
              <a:pPr algn="l">
                <a:lnSpc>
                  <a:spcPts val="1200"/>
                </a:lnSpc>
              </a:pPr>
              <a:r>
                <a:rPr lang="zh-CN" sz="710" dirty="0">
                  <a:solidFill>
                    <a:srgbClr val="523E3A"/>
                  </a:solidFill>
                  <a:latin typeface="+mn-lt"/>
                  <a:ea typeface="+mn-ea"/>
                  <a:cs typeface="+mn-cs"/>
                </a:rPr>
                <a:t>关键假设：市场环境承压；客户预算收紧；</a:t>
              </a:r>
              <a:br/>
              <a:r>
                <a:rPr lang="zh-CN" sz="710" dirty="0">
                  <a:solidFill>
                    <a:srgbClr val="523E3A"/>
                  </a:solidFill>
                  <a:latin typeface="+mn-lt"/>
                  <a:ea typeface="+mn-ea"/>
                  <a:cs typeface="+mn-cs"/>
                </a:rPr>
                <a:t>决策周期延长；竞争强度加剧</a:t>
              </a:r>
            </a:p>
          </p:txBody>
        </p:sp>
      </p:grpSp>
      <p:grpSp>
        <p:nvGrpSpPr>
          <p:cNvPr id="225" name="scenario-meaning"/>
          <p:cNvGrpSpPr/>
          <p:nvPr/>
        </p:nvGrpSpPr>
        <p:grpSpPr>
          <a:xfrm>
            <a:off x="228600" y="4000500"/>
            <a:ext cx="6057900" cy="1619250"/>
            <a:chOff x="228600" y="4000500"/>
            <a:chExt cx="6057900" cy="1619250"/>
          </a:xfrm>
        </p:grpSpPr>
        <p:sp>
          <p:nvSpPr>
            <p:cNvPr id="188" name="Rectangle 188"/>
            <p:cNvSpPr/>
            <p:nvPr/>
          </p:nvSpPr>
          <p:spPr>
            <a:xfrm>
              <a:off x="228600" y="4000500"/>
              <a:ext cx="6057900" cy="1619250"/>
            </a:xfrm>
            <a:prstGeom prst="roundRect">
              <a:avLst>
                <a:gd name="adj" fmla="val 5882"/>
              </a:avLst>
            </a:prstGeom>
            <a:solidFill>
              <a:srgbClr val="FFFFFF"/>
            </a:solidFill>
            <a:ln w="14288">
              <a:solidFill>
                <a:srgbClr val="C9D6EE"/>
              </a:solidFill>
            </a:ln>
          </p:spPr>
        </p:sp>
        <p:grpSp>
          <p:nvGrpSpPr>
            <p:cNvPr id="193" name="Group 193"/>
            <p:cNvGrpSpPr/>
            <p:nvPr/>
          </p:nvGrpSpPr>
          <p:grpSpPr>
            <a:xfrm>
              <a:off x="366712" y="4127500"/>
              <a:ext cx="142875" cy="136525"/>
              <a:chOff x="366712" y="4127500"/>
              <a:chExt cx="142875" cy="136525"/>
            </a:xfrm>
          </p:grpSpPr>
          <p:sp>
            <p:nvSpPr>
              <p:cNvPr id="189" name="Freeform 189"/>
              <p:cNvSpPr/>
              <p:nvPr/>
            </p:nvSpPr>
            <p:spPr>
              <a:xfrm>
                <a:off x="366712" y="419100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721E0D"/>
                </a:solidFill>
              </a:ln>
            </p:spPr>
          </p:sp>
          <p:sp>
            <p:nvSpPr>
              <p:cNvPr id="190" name="Freeform 190"/>
              <p:cNvSpPr/>
              <p:nvPr/>
            </p:nvSpPr>
            <p:spPr>
              <a:xfrm>
                <a:off x="461962" y="415925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721E0D"/>
                </a:solidFill>
              </a:ln>
            </p:spPr>
          </p:sp>
          <p:sp>
            <p:nvSpPr>
              <p:cNvPr id="191" name="Freeform 191"/>
              <p:cNvSpPr/>
              <p:nvPr/>
            </p:nvSpPr>
            <p:spPr>
              <a:xfrm>
                <a:off x="414337" y="412750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721E0D"/>
                </a:solidFill>
              </a:ln>
            </p:spPr>
          </p:sp>
          <p:sp>
            <p:nvSpPr>
              <p:cNvPr id="192" name="Freeform 192"/>
              <p:cNvSpPr/>
              <p:nvPr/>
            </p:nvSpPr>
            <p:spPr>
              <a:xfrm>
                <a:off x="374650" y="4254500"/>
                <a:ext cx="111125" cy="9525"/>
              </a:xfrm>
              <a:custGeom>
                <a:avLst/>
                <a:gdLst/>
                <a:ahLst/>
                <a:cxnLst/>
                <a:rect l="l" t="t" r="r" b="b"/>
                <a:pathLst>
                  <a:path w="111125" h="9525">
                    <a:moveTo>
                      <a:pt x="0" y="0"/>
                    </a:moveTo>
                    <a:lnTo>
                      <a:pt x="111125" y="0"/>
                    </a:lnTo>
                  </a:path>
                </a:pathLst>
              </a:custGeom>
              <a:noFill/>
              <a:ln w="15875">
                <a:solidFill>
                  <a:srgbClr val="721E0D"/>
                </a:solidFill>
              </a:ln>
            </p:spPr>
          </p:sp>
        </p:grpSp>
        <p:sp>
          <p:nvSpPr>
            <p:cNvPr id="194" name="TextBox 194"/>
            <p:cNvSpPr txBox="1"/>
            <p:nvPr/>
          </p:nvSpPr>
          <p:spPr>
            <a:xfrm>
              <a:off x="604647" y="4142899"/>
              <a:ext cx="1329182" cy="190690"/>
            </a:xfrm>
            <a:prstGeom prst="rect">
              <a:avLst/>
            </a:prstGeom>
            <a:noFill/>
            <a:ln>
              <a:noFill/>
            </a:ln>
          </p:spPr>
          <p:txBody>
            <a:bodyPr wrap="none" lIns="0" tIns="0" rIns="0" bIns="0" anchor="t" anchorCtr="0">
              <a:spAutoFit/>
            </a:bodyPr>
            <a:lstStyle/>
            <a:p>
              <a:pPr algn="l"/>
              <a:r>
                <a:rPr lang="zh-CN" sz="980" b="1" dirty="0">
                  <a:solidFill>
                    <a:srgbClr val="721E0D"/>
                  </a:solidFill>
                  <a:latin typeface="+mn-lt"/>
                  <a:ea typeface="+mn-ea"/>
                  <a:cs typeface="+mn-cs"/>
                </a:rPr>
                <a:t>三种情景的定位与含义</a:t>
              </a:r>
            </a:p>
          </p:txBody>
        </p:sp>
        <p:sp>
          <p:nvSpPr>
            <p:cNvPr id="195" name="Line 195"/>
            <p:cNvSpPr/>
            <p:nvPr/>
          </p:nvSpPr>
          <p:spPr>
            <a:xfrm>
              <a:off x="342900" y="4343400"/>
              <a:ext cx="5829300" cy="9525"/>
            </a:xfrm>
            <a:custGeom>
              <a:avLst/>
              <a:gdLst/>
              <a:ahLst/>
              <a:cxnLst/>
              <a:rect l="l" t="t" r="r" b="b"/>
              <a:pathLst>
                <a:path w="5829300" h="9525">
                  <a:moveTo>
                    <a:pt x="0" y="0"/>
                  </a:moveTo>
                  <a:lnTo>
                    <a:pt x="5829300" y="0"/>
                  </a:lnTo>
                </a:path>
              </a:pathLst>
            </a:custGeom>
            <a:noFill/>
            <a:ln w="9525">
              <a:solidFill>
                <a:srgbClr val="E6EAF2"/>
              </a:solidFill>
            </a:ln>
          </p:spPr>
        </p:sp>
        <p:sp>
          <p:nvSpPr>
            <p:cNvPr id="196" name="Ellipse 196"/>
            <p:cNvSpPr/>
            <p:nvPr/>
          </p:nvSpPr>
          <p:spPr>
            <a:xfrm>
              <a:off x="371475" y="4448175"/>
              <a:ext cx="285750" cy="285750"/>
            </a:xfrm>
            <a:prstGeom prst="ellipse">
              <a:avLst/>
            </a:prstGeom>
            <a:solidFill>
              <a:srgbClr val="721E0D"/>
            </a:solidFill>
            <a:ln>
              <a:noFill/>
            </a:ln>
          </p:spPr>
        </p:sp>
        <p:grpSp>
          <p:nvGrpSpPr>
            <p:cNvPr id="203" name="Group 203"/>
            <p:cNvGrpSpPr/>
            <p:nvPr/>
          </p:nvGrpSpPr>
          <p:grpSpPr>
            <a:xfrm>
              <a:off x="450056" y="4533900"/>
              <a:ext cx="128588" cy="130969"/>
              <a:chOff x="450056" y="4533900"/>
              <a:chExt cx="128588" cy="130969"/>
            </a:xfrm>
          </p:grpSpPr>
          <p:sp>
            <p:nvSpPr>
              <p:cNvPr id="197" name="Freeform 197"/>
              <p:cNvSpPr/>
              <p:nvPr/>
            </p:nvSpPr>
            <p:spPr>
              <a:xfrm>
                <a:off x="485775" y="4655344"/>
                <a:ext cx="57150" cy="9525"/>
              </a:xfrm>
              <a:custGeom>
                <a:avLst/>
                <a:gdLst/>
                <a:ahLst/>
                <a:cxnLst/>
                <a:rect l="l" t="t" r="r" b="b"/>
                <a:pathLst>
                  <a:path w="57150" h="9525">
                    <a:moveTo>
                      <a:pt x="0" y="0"/>
                    </a:moveTo>
                    <a:lnTo>
                      <a:pt x="57150" y="0"/>
                    </a:lnTo>
                  </a:path>
                </a:pathLst>
              </a:custGeom>
              <a:noFill/>
              <a:ln w="14288">
                <a:solidFill>
                  <a:srgbClr val="FFFFFF"/>
                </a:solidFill>
              </a:ln>
            </p:spPr>
          </p:sp>
          <p:sp>
            <p:nvSpPr>
              <p:cNvPr id="198" name="Freeform 198"/>
              <p:cNvSpPr/>
              <p:nvPr/>
            </p:nvSpPr>
            <p:spPr>
              <a:xfrm>
                <a:off x="514350" y="4626769"/>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199" name="Freeform 199"/>
              <p:cNvSpPr/>
              <p:nvPr/>
            </p:nvSpPr>
            <p:spPr>
              <a:xfrm>
                <a:off x="478631" y="4533900"/>
                <a:ext cx="71438" cy="9525"/>
              </a:xfrm>
              <a:custGeom>
                <a:avLst/>
                <a:gdLst/>
                <a:ahLst/>
                <a:cxnLst/>
                <a:rect l="l" t="t" r="r" b="b"/>
                <a:pathLst>
                  <a:path w="71438" h="9525">
                    <a:moveTo>
                      <a:pt x="0" y="0"/>
                    </a:moveTo>
                    <a:lnTo>
                      <a:pt x="71438" y="0"/>
                    </a:lnTo>
                  </a:path>
                </a:pathLst>
              </a:custGeom>
              <a:noFill/>
              <a:ln w="14288">
                <a:solidFill>
                  <a:srgbClr val="FFFFFF"/>
                </a:solidFill>
              </a:ln>
            </p:spPr>
          </p:sp>
          <p:sp>
            <p:nvSpPr>
              <p:cNvPr id="200" name="Freeform 200"/>
              <p:cNvSpPr/>
              <p:nvPr/>
            </p:nvSpPr>
            <p:spPr>
              <a:xfrm>
                <a:off x="478631" y="4533900"/>
                <a:ext cx="71438" cy="92869"/>
              </a:xfrm>
              <a:custGeom>
                <a:avLst/>
                <a:gdLst/>
                <a:ahLst/>
                <a:cxnLst/>
                <a:rect l="l" t="t" r="r" b="b"/>
                <a:pathLst>
                  <a:path w="71438" h="92869">
                    <a:moveTo>
                      <a:pt x="71438" y="0"/>
                    </a:moveTo>
                    <a:lnTo>
                      <a:pt x="71438" y="57150"/>
                    </a:lnTo>
                    <a:cubicBezTo>
                      <a:pt x="71438" y="76877"/>
                      <a:pt x="55446" y="92869"/>
                      <a:pt x="35719" y="92869"/>
                    </a:cubicBezTo>
                    <a:cubicBezTo>
                      <a:pt x="15992" y="92869"/>
                      <a:pt x="0" y="76877"/>
                      <a:pt x="0" y="57150"/>
                    </a:cubicBezTo>
                    <a:lnTo>
                      <a:pt x="0" y="0"/>
                    </a:lnTo>
                  </a:path>
                </a:pathLst>
              </a:custGeom>
              <a:noFill/>
              <a:ln w="14288">
                <a:solidFill>
                  <a:srgbClr val="FFFFFF"/>
                </a:solidFill>
              </a:ln>
            </p:spPr>
          </p:sp>
          <p:sp>
            <p:nvSpPr>
              <p:cNvPr id="201" name="Freeform 201"/>
              <p:cNvSpPr/>
              <p:nvPr/>
            </p:nvSpPr>
            <p:spPr>
              <a:xfrm>
                <a:off x="450056" y="45553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202" name="Freeform 202"/>
              <p:cNvSpPr/>
              <p:nvPr/>
            </p:nvSpPr>
            <p:spPr>
              <a:xfrm>
                <a:off x="550069" y="45553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grpSp>
        <p:sp>
          <p:nvSpPr>
            <p:cNvPr id="204" name="TextBox 204"/>
            <p:cNvSpPr txBox="1"/>
            <p:nvPr/>
          </p:nvSpPr>
          <p:spPr>
            <a:xfrm>
              <a:off x="738188" y="4463891"/>
              <a:ext cx="863103" cy="161925"/>
            </a:xfrm>
            <a:prstGeom prst="rect">
              <a:avLst/>
            </a:prstGeom>
            <a:noFill/>
            <a:ln>
              <a:noFill/>
            </a:ln>
          </p:spPr>
          <p:txBody>
            <a:bodyPr wrap="none" lIns="0" tIns="0" rIns="0" bIns="0" anchor="t" anchorCtr="0">
              <a:spAutoFit/>
            </a:bodyPr>
            <a:lstStyle/>
            <a:p>
              <a:pPr algn="l"/>
              <a:r>
                <a:rPr lang="zh-CN" sz="820" b="1" dirty="0">
                  <a:solidFill>
                    <a:srgbClr val="721E0D"/>
                  </a:solidFill>
                  <a:latin typeface="+mn-lt"/>
                  <a:ea typeface="+mn-ea"/>
                  <a:cs typeface="+mn-cs"/>
                </a:rPr>
                <a:t xml:space="preserve">上限（乐观）   </a:t>
              </a:r>
            </a:p>
          </p:txBody>
        </p:sp>
        <p:sp>
          <p:nvSpPr>
            <p:cNvPr id="205" name="TextBox 205"/>
            <p:cNvSpPr txBox="1"/>
            <p:nvPr/>
          </p:nvSpPr>
          <p:spPr>
            <a:xfrm>
              <a:off x="737616" y="4630102"/>
              <a:ext cx="1304871" cy="205359"/>
            </a:xfrm>
            <a:prstGeom prst="rect">
              <a:avLst/>
            </a:prstGeom>
            <a:noFill/>
            <a:ln>
              <a:noFill/>
            </a:ln>
          </p:spPr>
          <p:txBody>
            <a:bodyPr wrap="none" lIns="0" tIns="0" rIns="0" bIns="0" anchor="t" anchorCtr="0">
              <a:spAutoFit/>
            </a:bodyPr>
            <a:lstStyle/>
            <a:p>
              <a:pPr algn="l"/>
              <a:r>
                <a:rPr lang="zh-CN" sz="1050" b="1" dirty="0">
                  <a:solidFill>
                    <a:srgbClr val="721E0D"/>
                  </a:solidFill>
                  <a:latin typeface="+mn-lt"/>
                  <a:ea typeface="+mn-ea"/>
                  <a:cs typeface="+mn-cs"/>
                </a:rPr>
                <a:t>1.60</a:t>
              </a:r>
              <a:r>
                <a:rPr lang="zh-CN" sz="710" dirty="0">
                  <a:solidFill>
                    <a:srgbClr val="523E3A"/>
                  </a:solidFill>
                  <a:latin typeface="+mn-lt"/>
                  <a:ea typeface="+mn-ea"/>
                  <a:cs typeface="+mn-cs"/>
                </a:rPr>
                <a:t>亿元 / 88%</a:t>
              </a:r>
              <a:r>
                <a:rPr lang="zh-CN" sz="1050" b="1" dirty="0">
                  <a:solidFill>
                    <a:srgbClr val="721E0D"/>
                  </a:solidFill>
                  <a:latin typeface="+mn-lt"/>
                  <a:ea typeface="+mn-ea"/>
                  <a:cs typeface="+mn-cs"/>
                </a:rPr>
                <a:t xml:space="preserve">      </a:t>
              </a:r>
            </a:p>
          </p:txBody>
        </p:sp>
        <p:sp>
          <p:nvSpPr>
            <p:cNvPr id="206" name="TextBox 206"/>
            <p:cNvSpPr txBox="1"/>
            <p:nvPr/>
          </p:nvSpPr>
          <p:spPr>
            <a:xfrm>
              <a:off x="376238" y="4956334"/>
              <a:ext cx="1391285" cy="285750"/>
            </a:xfrm>
            <a:prstGeom prst="rect">
              <a:avLst/>
            </a:prstGeom>
            <a:noFill/>
            <a:ln>
              <a:noFill/>
            </a:ln>
          </p:spPr>
          <p:txBody>
            <a:bodyPr wrap="none" lIns="0" tIns="0" rIns="0" bIns="0" anchor="t" anchorCtr="0">
              <a:spAutoFit/>
            </a:bodyPr>
            <a:lstStyle/>
            <a:p>
              <a:pPr algn="l">
                <a:lnSpc>
                  <a:spcPts val="1200"/>
                </a:lnSpc>
              </a:pPr>
              <a:r>
                <a:rPr lang="zh-CN" sz="680" dirty="0">
                  <a:solidFill>
                    <a:srgbClr val="523E3A"/>
                  </a:solidFill>
                  <a:latin typeface="+mn-lt"/>
                  <a:ea typeface="+mn-ea"/>
                  <a:cs typeface="+mn-cs"/>
                </a:rPr>
                <a:t>在有利条件充分释放下的潜在上限，</a:t>
              </a:r>
              <a:br/>
              <a:r>
                <a:rPr lang="zh-CN" sz="680" dirty="0">
                  <a:solidFill>
                    <a:srgbClr val="523E3A"/>
                  </a:solidFill>
                  <a:latin typeface="+mn-lt"/>
                  <a:ea typeface="+mn-ea"/>
                  <a:cs typeface="+mn-cs"/>
                </a:rPr>
                <a:t>用于设定挑战目标与资源上限。</a:t>
              </a:r>
            </a:p>
          </p:txBody>
        </p:sp>
        <p:sp>
          <p:nvSpPr>
            <p:cNvPr id="207" name="Ellipse 207"/>
            <p:cNvSpPr/>
            <p:nvPr/>
          </p:nvSpPr>
          <p:spPr>
            <a:xfrm>
              <a:off x="2352675" y="4448175"/>
              <a:ext cx="285750" cy="285750"/>
            </a:xfrm>
            <a:prstGeom prst="ellipse">
              <a:avLst/>
            </a:prstGeom>
            <a:solidFill>
              <a:srgbClr val="B8351A"/>
            </a:solidFill>
            <a:ln>
              <a:noFill/>
            </a:ln>
          </p:spPr>
        </p:sp>
        <p:grpSp>
          <p:nvGrpSpPr>
            <p:cNvPr id="211" name="Group 211"/>
            <p:cNvGrpSpPr/>
            <p:nvPr/>
          </p:nvGrpSpPr>
          <p:grpSpPr>
            <a:xfrm>
              <a:off x="2431256" y="4526756"/>
              <a:ext cx="128588" cy="128588"/>
              <a:chOff x="2431256" y="4526756"/>
              <a:chExt cx="128588" cy="128588"/>
            </a:xfrm>
          </p:grpSpPr>
          <p:sp>
            <p:nvSpPr>
              <p:cNvPr id="208" name="Freeform 208"/>
              <p:cNvSpPr/>
              <p:nvPr/>
            </p:nvSpPr>
            <p:spPr>
              <a:xfrm>
                <a:off x="2488406" y="458390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209" name="Freeform 209"/>
              <p:cNvSpPr/>
              <p:nvPr/>
            </p:nvSpPr>
            <p:spPr>
              <a:xfrm>
                <a:off x="2459831" y="455533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210" name="Freeform 210"/>
              <p:cNvSpPr/>
              <p:nvPr/>
            </p:nvSpPr>
            <p:spPr>
              <a:xfrm>
                <a:off x="2431256" y="45267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212" name="TextBox 212"/>
            <p:cNvSpPr txBox="1"/>
            <p:nvPr/>
          </p:nvSpPr>
          <p:spPr>
            <a:xfrm>
              <a:off x="2719388" y="4463891"/>
              <a:ext cx="1275128" cy="161925"/>
            </a:xfrm>
            <a:prstGeom prst="rect">
              <a:avLst/>
            </a:prstGeom>
            <a:noFill/>
            <a:ln>
              <a:noFill/>
            </a:ln>
          </p:spPr>
          <p:txBody>
            <a:bodyPr wrap="none" lIns="0" tIns="0" rIns="0" bIns="0" anchor="t" anchorCtr="0">
              <a:spAutoFit/>
            </a:bodyPr>
            <a:lstStyle/>
            <a:p>
              <a:pPr algn="l"/>
              <a:r>
                <a:rPr lang="zh-CN" sz="820" b="1" dirty="0">
                  <a:solidFill>
                    <a:srgbClr val="B8351A"/>
                  </a:solidFill>
                  <a:latin typeface="+mn-lt"/>
                  <a:ea typeface="+mn-ea"/>
                  <a:cs typeface="+mn-cs"/>
                </a:rPr>
                <a:t xml:space="preserve">可信目标（基准）      </a:t>
              </a:r>
            </a:p>
          </p:txBody>
        </p:sp>
        <p:sp>
          <p:nvSpPr>
            <p:cNvPr id="213" name="TextBox 213"/>
            <p:cNvSpPr txBox="1"/>
            <p:nvPr/>
          </p:nvSpPr>
          <p:spPr>
            <a:xfrm>
              <a:off x="2718816" y="4630102"/>
              <a:ext cx="1304871" cy="205359"/>
            </a:xfrm>
            <a:prstGeom prst="rect">
              <a:avLst/>
            </a:prstGeom>
            <a:noFill/>
            <a:ln>
              <a:noFill/>
            </a:ln>
          </p:spPr>
          <p:txBody>
            <a:bodyPr wrap="none" lIns="0" tIns="0" rIns="0" bIns="0" anchor="t" anchorCtr="0">
              <a:spAutoFit/>
            </a:bodyPr>
            <a:lstStyle/>
            <a:p>
              <a:pPr algn="l"/>
              <a:r>
                <a:rPr lang="zh-CN" sz="1050" b="1" dirty="0">
                  <a:solidFill>
                    <a:srgbClr val="B8351A"/>
                  </a:solidFill>
                  <a:latin typeface="+mn-lt"/>
                  <a:ea typeface="+mn-ea"/>
                  <a:cs typeface="+mn-cs"/>
                </a:rPr>
                <a:t>1.20</a:t>
              </a:r>
              <a:r>
                <a:rPr lang="zh-CN" sz="710" dirty="0">
                  <a:solidFill>
                    <a:srgbClr val="523E3A"/>
                  </a:solidFill>
                  <a:latin typeface="+mn-lt"/>
                  <a:ea typeface="+mn-ea"/>
                  <a:cs typeface="+mn-cs"/>
                </a:rPr>
                <a:t>亿元 / 77%</a:t>
              </a:r>
              <a:r>
                <a:rPr lang="zh-CN" sz="1050" b="1" dirty="0">
                  <a:solidFill>
                    <a:srgbClr val="B8351A"/>
                  </a:solidFill>
                  <a:latin typeface="+mn-lt"/>
                  <a:ea typeface="+mn-ea"/>
                  <a:cs typeface="+mn-cs"/>
                </a:rPr>
                <a:t xml:space="preserve">      </a:t>
              </a:r>
            </a:p>
          </p:txBody>
        </p:sp>
        <p:sp>
          <p:nvSpPr>
            <p:cNvPr id="214" name="TextBox 214"/>
            <p:cNvSpPr txBox="1"/>
            <p:nvPr/>
          </p:nvSpPr>
          <p:spPr>
            <a:xfrm>
              <a:off x="2357438" y="4956334"/>
              <a:ext cx="1304925" cy="285750"/>
            </a:xfrm>
            <a:prstGeom prst="rect">
              <a:avLst/>
            </a:prstGeom>
            <a:noFill/>
            <a:ln>
              <a:noFill/>
            </a:ln>
          </p:spPr>
          <p:txBody>
            <a:bodyPr wrap="none" lIns="0" tIns="0" rIns="0" bIns="0" anchor="t" anchorCtr="0">
              <a:spAutoFit/>
            </a:bodyPr>
            <a:lstStyle/>
            <a:p>
              <a:pPr algn="l">
                <a:lnSpc>
                  <a:spcPts val="1200"/>
                </a:lnSpc>
              </a:pPr>
              <a:r>
                <a:rPr lang="zh-CN" sz="680" dirty="0">
                  <a:solidFill>
                    <a:srgbClr val="523E3A"/>
                  </a:solidFill>
                  <a:latin typeface="+mn-lt"/>
                  <a:ea typeface="+mn-ea"/>
                  <a:cs typeface="+mn-cs"/>
                </a:rPr>
                <a:t>基于当前已知信息与可控资源的</a:t>
              </a:r>
              <a:br/>
              <a:r>
                <a:rPr lang="zh-CN" sz="680" dirty="0">
                  <a:solidFill>
                    <a:srgbClr val="523E3A"/>
                  </a:solidFill>
                  <a:latin typeface="+mn-lt"/>
                  <a:ea typeface="+mn-ea"/>
                  <a:cs typeface="+mn-cs"/>
                </a:rPr>
                <a:t>最可能结果，作为核心经营目标。</a:t>
              </a:r>
            </a:p>
          </p:txBody>
        </p:sp>
        <p:sp>
          <p:nvSpPr>
            <p:cNvPr id="215" name="Ellipse 215"/>
            <p:cNvSpPr/>
            <p:nvPr/>
          </p:nvSpPr>
          <p:spPr>
            <a:xfrm>
              <a:off x="4333875" y="4448175"/>
              <a:ext cx="285750" cy="285750"/>
            </a:xfrm>
            <a:prstGeom prst="ellipse">
              <a:avLst/>
            </a:prstGeom>
            <a:solidFill>
              <a:srgbClr val="C03616"/>
            </a:solidFill>
            <a:ln>
              <a:noFill/>
            </a:ln>
          </p:spPr>
        </p:sp>
        <p:grpSp>
          <p:nvGrpSpPr>
            <p:cNvPr id="219" name="Group 219"/>
            <p:cNvGrpSpPr/>
            <p:nvPr/>
          </p:nvGrpSpPr>
          <p:grpSpPr>
            <a:xfrm>
              <a:off x="4404704" y="4524383"/>
              <a:ext cx="144086" cy="123788"/>
              <a:chOff x="4404704" y="4524383"/>
              <a:chExt cx="144086" cy="123788"/>
            </a:xfrm>
          </p:grpSpPr>
          <p:sp>
            <p:nvSpPr>
              <p:cNvPr id="216" name="Freeform 216"/>
              <p:cNvSpPr/>
              <p:nvPr/>
            </p:nvSpPr>
            <p:spPr>
              <a:xfrm>
                <a:off x="4476750" y="4569619"/>
                <a:ext cx="9525" cy="28575"/>
              </a:xfrm>
              <a:custGeom>
                <a:avLst/>
                <a:gdLst/>
                <a:ahLst/>
                <a:cxnLst/>
                <a:rect l="l" t="t" r="r" b="b"/>
                <a:pathLst>
                  <a:path w="9525" h="28575">
                    <a:moveTo>
                      <a:pt x="0" y="0"/>
                    </a:moveTo>
                    <a:lnTo>
                      <a:pt x="0" y="28575"/>
                    </a:lnTo>
                  </a:path>
                </a:pathLst>
              </a:custGeom>
              <a:noFill/>
              <a:ln w="14288">
                <a:solidFill>
                  <a:srgbClr val="FFFFFF"/>
                </a:solidFill>
              </a:ln>
            </p:spPr>
          </p:sp>
          <p:sp>
            <p:nvSpPr>
              <p:cNvPr id="217" name="Freeform 217"/>
              <p:cNvSpPr/>
              <p:nvPr/>
            </p:nvSpPr>
            <p:spPr>
              <a:xfrm>
                <a:off x="4404704" y="4524383"/>
                <a:ext cx="144086" cy="123788"/>
              </a:xfrm>
              <a:custGeom>
                <a:avLst/>
                <a:gdLst/>
                <a:ahLst/>
                <a:cxnLst/>
                <a:rect l="l" t="t" r="r" b="b"/>
                <a:pathLst>
                  <a:path w="144086" h="123788">
                    <a:moveTo>
                      <a:pt x="60351" y="6595"/>
                    </a:moveTo>
                    <a:lnTo>
                      <a:pt x="2444" y="103279"/>
                    </a:lnTo>
                    <a:cubicBezTo>
                      <a:pt x="15" y="107485"/>
                      <a:pt x="0" y="112665"/>
                      <a:pt x="2405" y="116886"/>
                    </a:cubicBezTo>
                    <a:cubicBezTo>
                      <a:pt x="4810" y="121106"/>
                      <a:pt x="9274" y="123734"/>
                      <a:pt x="14131" y="123788"/>
                    </a:cubicBezTo>
                    <a:lnTo>
                      <a:pt x="129960" y="123788"/>
                    </a:lnTo>
                    <a:cubicBezTo>
                      <a:pt x="134815" y="123732"/>
                      <a:pt x="139276" y="121106"/>
                      <a:pt x="141681" y="116888"/>
                    </a:cubicBezTo>
                    <a:cubicBezTo>
                      <a:pt x="144086" y="112669"/>
                      <a:pt x="144073" y="107492"/>
                      <a:pt x="141647" y="103286"/>
                    </a:cubicBezTo>
                    <a:lnTo>
                      <a:pt x="83740" y="6588"/>
                    </a:lnTo>
                    <a:cubicBezTo>
                      <a:pt x="81262" y="2498"/>
                      <a:pt x="76827" y="0"/>
                      <a:pt x="72046" y="0"/>
                    </a:cubicBezTo>
                    <a:cubicBezTo>
                      <a:pt x="67264" y="0"/>
                      <a:pt x="62829" y="2498"/>
                      <a:pt x="60351" y="6588"/>
                    </a:cubicBezTo>
                  </a:path>
                </a:pathLst>
              </a:custGeom>
              <a:noFill/>
              <a:ln w="14288">
                <a:solidFill>
                  <a:srgbClr val="FFFFFF"/>
                </a:solidFill>
              </a:ln>
            </p:spPr>
          </p:sp>
          <p:sp>
            <p:nvSpPr>
              <p:cNvPr id="218" name="Freeform 218"/>
              <p:cNvSpPr/>
              <p:nvPr/>
            </p:nvSpPr>
            <p:spPr>
              <a:xfrm>
                <a:off x="4476750" y="4619625"/>
                <a:ext cx="9525" cy="9525"/>
              </a:xfrm>
              <a:custGeom>
                <a:avLst/>
                <a:gdLst/>
                <a:ahLst/>
                <a:cxnLst/>
                <a:rect l="l" t="t" r="r" b="b"/>
                <a:pathLst>
                  <a:path w="9525" h="9525">
                    <a:moveTo>
                      <a:pt x="0" y="0"/>
                    </a:moveTo>
                    <a:lnTo>
                      <a:pt x="71" y="0"/>
                    </a:lnTo>
                  </a:path>
                </a:pathLst>
              </a:custGeom>
              <a:noFill/>
              <a:ln w="14288">
                <a:solidFill>
                  <a:srgbClr val="FFFFFF"/>
                </a:solidFill>
              </a:ln>
            </p:spPr>
          </p:sp>
        </p:grpSp>
        <p:sp>
          <p:nvSpPr>
            <p:cNvPr id="220" name="TextBox 220"/>
            <p:cNvSpPr txBox="1"/>
            <p:nvPr/>
          </p:nvSpPr>
          <p:spPr>
            <a:xfrm>
              <a:off x="4700588" y="4463891"/>
              <a:ext cx="863103" cy="161925"/>
            </a:xfrm>
            <a:prstGeom prst="rect">
              <a:avLst/>
            </a:prstGeom>
            <a:noFill/>
            <a:ln>
              <a:noFill/>
            </a:ln>
          </p:spPr>
          <p:txBody>
            <a:bodyPr wrap="none" lIns="0" tIns="0" rIns="0" bIns="0" anchor="t" anchorCtr="0">
              <a:spAutoFit/>
            </a:bodyPr>
            <a:lstStyle/>
            <a:p>
              <a:pPr algn="l"/>
              <a:r>
                <a:rPr lang="zh-CN" sz="820" b="1" dirty="0">
                  <a:solidFill>
                    <a:srgbClr val="C03616"/>
                  </a:solidFill>
                  <a:latin typeface="+mn-lt"/>
                  <a:ea typeface="+mn-ea"/>
                  <a:cs typeface="+mn-cs"/>
                </a:rPr>
                <a:t xml:space="preserve">下限（保守）   </a:t>
              </a:r>
            </a:p>
          </p:txBody>
        </p:sp>
        <p:sp>
          <p:nvSpPr>
            <p:cNvPr id="221" name="TextBox 221"/>
            <p:cNvSpPr txBox="1"/>
            <p:nvPr/>
          </p:nvSpPr>
          <p:spPr>
            <a:xfrm>
              <a:off x="4700016" y="4630102"/>
              <a:ext cx="1304871" cy="205359"/>
            </a:xfrm>
            <a:prstGeom prst="rect">
              <a:avLst/>
            </a:prstGeom>
            <a:noFill/>
            <a:ln>
              <a:noFill/>
            </a:ln>
          </p:spPr>
          <p:txBody>
            <a:bodyPr wrap="none" lIns="0" tIns="0" rIns="0" bIns="0" anchor="t" anchorCtr="0">
              <a:spAutoFit/>
            </a:bodyPr>
            <a:lstStyle/>
            <a:p>
              <a:pPr algn="l"/>
              <a:r>
                <a:rPr lang="zh-CN" sz="1050" b="1" dirty="0">
                  <a:solidFill>
                    <a:srgbClr val="C03616"/>
                  </a:solidFill>
                  <a:latin typeface="+mn-lt"/>
                  <a:ea typeface="+mn-ea"/>
                  <a:cs typeface="+mn-cs"/>
                </a:rPr>
                <a:t>0.80</a:t>
              </a:r>
              <a:r>
                <a:rPr lang="zh-CN" sz="710" dirty="0">
                  <a:solidFill>
                    <a:srgbClr val="523E3A"/>
                  </a:solidFill>
                  <a:latin typeface="+mn-lt"/>
                  <a:ea typeface="+mn-ea"/>
                  <a:cs typeface="+mn-cs"/>
                </a:rPr>
                <a:t>亿元 / 65%</a:t>
              </a:r>
              <a:r>
                <a:rPr lang="zh-CN" sz="1050" b="1" dirty="0">
                  <a:solidFill>
                    <a:srgbClr val="C03616"/>
                  </a:solidFill>
                  <a:latin typeface="+mn-lt"/>
                  <a:ea typeface="+mn-ea"/>
                  <a:cs typeface="+mn-cs"/>
                </a:rPr>
                <a:t xml:space="preserve">      </a:t>
              </a:r>
            </a:p>
          </p:txBody>
        </p:sp>
        <p:sp>
          <p:nvSpPr>
            <p:cNvPr id="222" name="TextBox 222"/>
            <p:cNvSpPr txBox="1"/>
            <p:nvPr/>
          </p:nvSpPr>
          <p:spPr>
            <a:xfrm>
              <a:off x="4338638" y="4956334"/>
              <a:ext cx="1218565" cy="285750"/>
            </a:xfrm>
            <a:prstGeom prst="rect">
              <a:avLst/>
            </a:prstGeom>
            <a:noFill/>
            <a:ln>
              <a:noFill/>
            </a:ln>
          </p:spPr>
          <p:txBody>
            <a:bodyPr wrap="none" lIns="0" tIns="0" rIns="0" bIns="0" anchor="t" anchorCtr="0">
              <a:spAutoFit/>
            </a:bodyPr>
            <a:lstStyle/>
            <a:p>
              <a:pPr algn="l">
                <a:lnSpc>
                  <a:spcPts val="1200"/>
                </a:lnSpc>
              </a:pPr>
              <a:r>
                <a:rPr lang="zh-CN" sz="680" dirty="0">
                  <a:solidFill>
                    <a:srgbClr val="523E3A"/>
                  </a:solidFill>
                  <a:latin typeface="+mn-lt"/>
                  <a:ea typeface="+mn-ea"/>
                  <a:cs typeface="+mn-cs"/>
                </a:rPr>
                <a:t>在不利因素叠加下的风险底线，</a:t>
              </a:r>
              <a:br/>
              <a:r>
                <a:rPr lang="zh-CN" sz="680" dirty="0">
                  <a:solidFill>
                    <a:srgbClr val="523E3A"/>
                  </a:solidFill>
                  <a:latin typeface="+mn-lt"/>
                  <a:ea typeface="+mn-ea"/>
                  <a:cs typeface="+mn-cs"/>
                </a:rPr>
                <a:t>用于风险预警与资源保底安排。</a:t>
              </a:r>
            </a:p>
          </p:txBody>
        </p:sp>
        <p:sp>
          <p:nvSpPr>
            <p:cNvPr id="223" name="TextBox 223"/>
            <p:cNvSpPr txBox="1"/>
            <p:nvPr/>
          </p:nvSpPr>
          <p:spPr>
            <a:xfrm>
              <a:off x="2188565" y="4616768"/>
              <a:ext cx="118669" cy="264033"/>
            </a:xfrm>
            <a:prstGeom prst="rect">
              <a:avLst/>
            </a:prstGeom>
            <a:noFill/>
            <a:ln>
              <a:noFill/>
            </a:ln>
          </p:spPr>
          <p:txBody>
            <a:bodyPr wrap="none" lIns="0" tIns="0" rIns="0" bIns="0" anchor="t" anchorCtr="0">
              <a:spAutoFit/>
            </a:bodyPr>
            <a:lstStyle/>
            <a:p>
              <a:pPr algn="ctr"/>
              <a:r>
                <a:rPr lang="zh-CN" sz="1350" b="1" dirty="0">
                  <a:solidFill>
                    <a:srgbClr val="721E0D"/>
                  </a:solidFill>
                  <a:latin typeface="+mn-lt"/>
                  <a:ea typeface="+mn-ea"/>
                  <a:cs typeface="+mn-cs"/>
                </a:rPr>
                <a:t>›</a:t>
              </a:r>
            </a:p>
          </p:txBody>
        </p:sp>
        <p:sp>
          <p:nvSpPr>
            <p:cNvPr id="224" name="TextBox 224"/>
            <p:cNvSpPr txBox="1"/>
            <p:nvPr/>
          </p:nvSpPr>
          <p:spPr>
            <a:xfrm>
              <a:off x="4169765" y="4616768"/>
              <a:ext cx="118669" cy="264033"/>
            </a:xfrm>
            <a:prstGeom prst="rect">
              <a:avLst/>
            </a:prstGeom>
            <a:noFill/>
            <a:ln>
              <a:noFill/>
            </a:ln>
          </p:spPr>
          <p:txBody>
            <a:bodyPr wrap="none" lIns="0" tIns="0" rIns="0" bIns="0" anchor="t" anchorCtr="0">
              <a:spAutoFit/>
            </a:bodyPr>
            <a:lstStyle/>
            <a:p>
              <a:pPr algn="ctr"/>
              <a:r>
                <a:rPr lang="zh-CN" sz="1350" b="1" dirty="0">
                  <a:solidFill>
                    <a:srgbClr val="721E0D"/>
                  </a:solidFill>
                  <a:latin typeface="+mn-lt"/>
                  <a:ea typeface="+mn-ea"/>
                  <a:cs typeface="+mn-cs"/>
                </a:rPr>
                <a:t>›</a:t>
              </a:r>
            </a:p>
          </p:txBody>
        </p:sp>
      </p:grpSp>
      <p:grpSp>
        <p:nvGrpSpPr>
          <p:cNvPr id="276" name="resource-allocation"/>
          <p:cNvGrpSpPr/>
          <p:nvPr/>
        </p:nvGrpSpPr>
        <p:grpSpPr>
          <a:xfrm>
            <a:off x="6438900" y="4000500"/>
            <a:ext cx="5524500" cy="1625917"/>
            <a:chOff x="6438900" y="4000500"/>
            <a:chExt cx="5524500" cy="1625917"/>
          </a:xfrm>
        </p:grpSpPr>
        <p:sp>
          <p:nvSpPr>
            <p:cNvPr id="226" name="Rectangle 226"/>
            <p:cNvSpPr/>
            <p:nvPr/>
          </p:nvSpPr>
          <p:spPr>
            <a:xfrm>
              <a:off x="6438900" y="4000500"/>
              <a:ext cx="5524500" cy="1619250"/>
            </a:xfrm>
            <a:prstGeom prst="roundRect">
              <a:avLst>
                <a:gd name="adj" fmla="val 5882"/>
              </a:avLst>
            </a:prstGeom>
            <a:solidFill>
              <a:srgbClr val="FFFFFF"/>
            </a:solidFill>
            <a:ln w="14288">
              <a:solidFill>
                <a:srgbClr val="C9D6EE"/>
              </a:solidFill>
            </a:ln>
          </p:spPr>
        </p:sp>
        <p:grpSp>
          <p:nvGrpSpPr>
            <p:cNvPr id="233" name="Group 233"/>
            <p:cNvGrpSpPr/>
            <p:nvPr/>
          </p:nvGrpSpPr>
          <p:grpSpPr>
            <a:xfrm>
              <a:off x="6577012" y="4119562"/>
              <a:ext cx="142875" cy="142875"/>
              <a:chOff x="6577012" y="4119562"/>
              <a:chExt cx="142875" cy="142875"/>
            </a:xfrm>
          </p:grpSpPr>
          <p:sp>
            <p:nvSpPr>
              <p:cNvPr id="227" name="Freeform 227"/>
              <p:cNvSpPr/>
              <p:nvPr/>
            </p:nvSpPr>
            <p:spPr>
              <a:xfrm>
                <a:off x="6632575" y="41830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21E0D"/>
                </a:solidFill>
              </a:ln>
            </p:spPr>
          </p:sp>
          <p:sp>
            <p:nvSpPr>
              <p:cNvPr id="228" name="Freeform 228"/>
              <p:cNvSpPr/>
              <p:nvPr/>
            </p:nvSpPr>
            <p:spPr>
              <a:xfrm>
                <a:off x="6616700" y="4238625"/>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721E0D"/>
                </a:solidFill>
              </a:ln>
            </p:spPr>
          </p:sp>
          <p:sp>
            <p:nvSpPr>
              <p:cNvPr id="229" name="Freeform 229"/>
              <p:cNvSpPr/>
              <p:nvPr/>
            </p:nvSpPr>
            <p:spPr>
              <a:xfrm>
                <a:off x="6672262" y="41195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21E0D"/>
                </a:solidFill>
              </a:ln>
            </p:spPr>
          </p:sp>
          <p:sp>
            <p:nvSpPr>
              <p:cNvPr id="230" name="Freeform 230"/>
              <p:cNvSpPr/>
              <p:nvPr/>
            </p:nvSpPr>
            <p:spPr>
              <a:xfrm>
                <a:off x="6688137" y="4175125"/>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721E0D"/>
                </a:solidFill>
              </a:ln>
            </p:spPr>
          </p:sp>
          <p:sp>
            <p:nvSpPr>
              <p:cNvPr id="231" name="Freeform 231"/>
              <p:cNvSpPr/>
              <p:nvPr/>
            </p:nvSpPr>
            <p:spPr>
              <a:xfrm>
                <a:off x="6592887" y="4119562"/>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721E0D"/>
                </a:solidFill>
              </a:ln>
            </p:spPr>
          </p:sp>
          <p:sp>
            <p:nvSpPr>
              <p:cNvPr id="232" name="Freeform 232"/>
              <p:cNvSpPr/>
              <p:nvPr/>
            </p:nvSpPr>
            <p:spPr>
              <a:xfrm>
                <a:off x="6577012" y="4175125"/>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721E0D"/>
                </a:solidFill>
              </a:ln>
            </p:spPr>
          </p:sp>
        </p:grpSp>
        <p:sp>
          <p:nvSpPr>
            <p:cNvPr id="234" name="TextBox 234"/>
            <p:cNvSpPr txBox="1"/>
            <p:nvPr/>
          </p:nvSpPr>
          <p:spPr>
            <a:xfrm>
              <a:off x="6814947" y="4142899"/>
              <a:ext cx="2107878" cy="190690"/>
            </a:xfrm>
            <a:prstGeom prst="rect">
              <a:avLst/>
            </a:prstGeom>
            <a:noFill/>
            <a:ln>
              <a:noFill/>
            </a:ln>
          </p:spPr>
          <p:txBody>
            <a:bodyPr wrap="none" lIns="0" tIns="0" rIns="0" bIns="0" anchor="t" anchorCtr="0">
              <a:spAutoFit/>
            </a:bodyPr>
            <a:lstStyle/>
            <a:p>
              <a:pPr algn="l"/>
              <a:r>
                <a:rPr lang="zh-CN" sz="980" b="1" dirty="0">
                  <a:solidFill>
                    <a:srgbClr val="721E0D"/>
                  </a:solidFill>
                  <a:latin typeface="+mn-lt"/>
                  <a:ea typeface="+mn-ea"/>
                  <a:cs typeface="+mn-cs"/>
                </a:rPr>
                <a:t xml:space="preserve">资源配置建议 </a:t>
              </a:r>
              <a:r>
                <a:rPr lang="zh-CN" sz="750" dirty="0">
                  <a:solidFill>
                    <a:srgbClr val="6E7686"/>
                  </a:solidFill>
                  <a:latin typeface="+mn-lt"/>
                  <a:ea typeface="+mn-ea"/>
                  <a:cs typeface="+mn-cs"/>
                </a:rPr>
                <a:t>（围绕基准情景）</a:t>
              </a:r>
              <a:r>
                <a:rPr lang="zh-CN" sz="980" b="1" dirty="0">
                  <a:solidFill>
                    <a:srgbClr val="721E0D"/>
                  </a:solidFill>
                  <a:latin typeface="+mn-lt"/>
                  <a:ea typeface="+mn-ea"/>
                  <a:cs typeface="+mn-cs"/>
                </a:rPr>
                <a:t xml:space="preserve">      </a:t>
              </a:r>
            </a:p>
          </p:txBody>
        </p:sp>
        <p:sp>
          <p:nvSpPr>
            <p:cNvPr id="235" name="Rectangle 235"/>
            <p:cNvSpPr/>
            <p:nvPr/>
          </p:nvSpPr>
          <p:spPr>
            <a:xfrm>
              <a:off x="6553200" y="4343400"/>
              <a:ext cx="3543300" cy="190500"/>
            </a:xfrm>
            <a:prstGeom prst="rect">
              <a:avLst/>
            </a:prstGeom>
            <a:solidFill>
              <a:srgbClr val="EAF1FB"/>
            </a:solidFill>
            <a:ln>
              <a:noFill/>
            </a:ln>
          </p:spPr>
        </p:sp>
        <p:sp>
          <p:nvSpPr>
            <p:cNvPr id="236" name="TextBox 236"/>
            <p:cNvSpPr txBox="1"/>
            <p:nvPr/>
          </p:nvSpPr>
          <p:spPr>
            <a:xfrm>
              <a:off x="6833527" y="4399836"/>
              <a:ext cx="39184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投入方向</a:t>
              </a:r>
            </a:p>
          </p:txBody>
        </p:sp>
        <p:sp>
          <p:nvSpPr>
            <p:cNvPr id="237" name="TextBox 237"/>
            <p:cNvSpPr txBox="1"/>
            <p:nvPr/>
          </p:nvSpPr>
          <p:spPr>
            <a:xfrm>
              <a:off x="7633627" y="4399836"/>
              <a:ext cx="39184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资源占比</a:t>
              </a:r>
            </a:p>
          </p:txBody>
        </p:sp>
        <p:sp>
          <p:nvSpPr>
            <p:cNvPr id="238" name="TextBox 238"/>
            <p:cNvSpPr txBox="1"/>
            <p:nvPr/>
          </p:nvSpPr>
          <p:spPr>
            <a:xfrm>
              <a:off x="8929027" y="4399836"/>
              <a:ext cx="39184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核心动作</a:t>
              </a:r>
            </a:p>
          </p:txBody>
        </p:sp>
        <p:sp>
          <p:nvSpPr>
            <p:cNvPr id="239" name="TextBox 239"/>
            <p:cNvSpPr txBox="1"/>
            <p:nvPr/>
          </p:nvSpPr>
          <p:spPr>
            <a:xfrm>
              <a:off x="6737947" y="4590336"/>
              <a:ext cx="583006"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重点客户攻坚</a:t>
              </a:r>
            </a:p>
          </p:txBody>
        </p:sp>
        <p:sp>
          <p:nvSpPr>
            <p:cNvPr id="240" name="TextBox 240"/>
            <p:cNvSpPr txBox="1"/>
            <p:nvPr/>
          </p:nvSpPr>
          <p:spPr>
            <a:xfrm>
              <a:off x="7621560" y="4590336"/>
              <a:ext cx="415980"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45%  </a:t>
              </a:r>
            </a:p>
          </p:txBody>
        </p:sp>
        <p:sp>
          <p:nvSpPr>
            <p:cNvPr id="241" name="TextBox 241"/>
            <p:cNvSpPr txBox="1"/>
            <p:nvPr/>
          </p:nvSpPr>
          <p:spPr>
            <a:xfrm>
              <a:off x="8451126" y="4590336"/>
              <a:ext cx="1347648"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高层拜访、方案共创、预算锁定</a:t>
              </a:r>
            </a:p>
          </p:txBody>
        </p:sp>
        <p:sp>
          <p:nvSpPr>
            <p:cNvPr id="242" name="Line 242"/>
            <p:cNvSpPr/>
            <p:nvPr/>
          </p:nvSpPr>
          <p:spPr>
            <a:xfrm>
              <a:off x="6553200" y="473392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243" name="TextBox 243"/>
            <p:cNvSpPr txBox="1"/>
            <p:nvPr/>
          </p:nvSpPr>
          <p:spPr>
            <a:xfrm>
              <a:off x="6737947" y="4780836"/>
              <a:ext cx="583006"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商机转化加速</a:t>
              </a:r>
            </a:p>
          </p:txBody>
        </p:sp>
        <p:sp>
          <p:nvSpPr>
            <p:cNvPr id="244" name="TextBox 244"/>
            <p:cNvSpPr txBox="1"/>
            <p:nvPr/>
          </p:nvSpPr>
          <p:spPr>
            <a:xfrm>
              <a:off x="7621560" y="4780836"/>
              <a:ext cx="415980"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30%  </a:t>
              </a:r>
            </a:p>
          </p:txBody>
        </p:sp>
        <p:sp>
          <p:nvSpPr>
            <p:cNvPr id="245" name="TextBox 245"/>
            <p:cNvSpPr txBox="1"/>
            <p:nvPr/>
          </p:nvSpPr>
          <p:spPr>
            <a:xfrm>
              <a:off x="8451126" y="4780836"/>
              <a:ext cx="1347648"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方案优化、商务谈判、异议消除</a:t>
              </a:r>
            </a:p>
          </p:txBody>
        </p:sp>
        <p:sp>
          <p:nvSpPr>
            <p:cNvPr id="246" name="Line 246"/>
            <p:cNvSpPr/>
            <p:nvPr/>
          </p:nvSpPr>
          <p:spPr>
            <a:xfrm>
              <a:off x="6553200" y="492442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247" name="TextBox 247"/>
            <p:cNvSpPr txBox="1"/>
            <p:nvPr/>
          </p:nvSpPr>
          <p:spPr>
            <a:xfrm>
              <a:off x="6785737" y="4971336"/>
              <a:ext cx="487426"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新线索拓展</a:t>
              </a:r>
            </a:p>
          </p:txBody>
        </p:sp>
        <p:sp>
          <p:nvSpPr>
            <p:cNvPr id="248" name="TextBox 248"/>
            <p:cNvSpPr txBox="1"/>
            <p:nvPr/>
          </p:nvSpPr>
          <p:spPr>
            <a:xfrm>
              <a:off x="7621560" y="4971336"/>
              <a:ext cx="415980"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15%  </a:t>
              </a:r>
            </a:p>
          </p:txBody>
        </p:sp>
        <p:sp>
          <p:nvSpPr>
            <p:cNvPr id="249" name="TextBox 249"/>
            <p:cNvSpPr txBox="1"/>
            <p:nvPr/>
          </p:nvSpPr>
          <p:spPr>
            <a:xfrm>
              <a:off x="8451126" y="4971336"/>
              <a:ext cx="1347648"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行业活动、生态合作、内容营销</a:t>
              </a:r>
            </a:p>
          </p:txBody>
        </p:sp>
        <p:sp>
          <p:nvSpPr>
            <p:cNvPr id="250" name="Line 250"/>
            <p:cNvSpPr/>
            <p:nvPr/>
          </p:nvSpPr>
          <p:spPr>
            <a:xfrm>
              <a:off x="6553200" y="511492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251" name="TextBox 251"/>
            <p:cNvSpPr txBox="1"/>
            <p:nvPr/>
          </p:nvSpPr>
          <p:spPr>
            <a:xfrm>
              <a:off x="6785737" y="5161836"/>
              <a:ext cx="487426"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能力与保障</a:t>
              </a:r>
            </a:p>
          </p:txBody>
        </p:sp>
        <p:sp>
          <p:nvSpPr>
            <p:cNvPr id="252" name="TextBox 252"/>
            <p:cNvSpPr txBox="1"/>
            <p:nvPr/>
          </p:nvSpPr>
          <p:spPr>
            <a:xfrm>
              <a:off x="7621560" y="5161836"/>
              <a:ext cx="415980"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10%  </a:t>
              </a:r>
            </a:p>
          </p:txBody>
        </p:sp>
        <p:sp>
          <p:nvSpPr>
            <p:cNvPr id="253" name="TextBox 253"/>
            <p:cNvSpPr txBox="1"/>
            <p:nvPr/>
          </p:nvSpPr>
          <p:spPr>
            <a:xfrm>
              <a:off x="8451126" y="5161836"/>
              <a:ext cx="1347648"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工具赋能、过程管理、激励保障</a:t>
              </a:r>
            </a:p>
          </p:txBody>
        </p:sp>
        <p:sp>
          <p:nvSpPr>
            <p:cNvPr id="254" name="Line 254"/>
            <p:cNvSpPr/>
            <p:nvPr/>
          </p:nvSpPr>
          <p:spPr>
            <a:xfrm>
              <a:off x="6553200" y="530542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255" name="TextBox 255"/>
            <p:cNvSpPr txBox="1"/>
            <p:nvPr/>
          </p:nvSpPr>
          <p:spPr>
            <a:xfrm>
              <a:off x="6929107" y="5352336"/>
              <a:ext cx="200685"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合计</a:t>
              </a:r>
            </a:p>
          </p:txBody>
        </p:sp>
        <p:sp>
          <p:nvSpPr>
            <p:cNvPr id="256" name="TextBox 256"/>
            <p:cNvSpPr txBox="1"/>
            <p:nvPr/>
          </p:nvSpPr>
          <p:spPr>
            <a:xfrm>
              <a:off x="7593961" y="5352336"/>
              <a:ext cx="471177"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100%  </a:t>
              </a:r>
            </a:p>
          </p:txBody>
        </p:sp>
        <p:sp>
          <p:nvSpPr>
            <p:cNvPr id="257" name="TextBox 257"/>
            <p:cNvSpPr txBox="1"/>
            <p:nvPr/>
          </p:nvSpPr>
          <p:spPr>
            <a:xfrm>
              <a:off x="9093903" y="5352336"/>
              <a:ext cx="62094"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a:t>
              </a:r>
            </a:p>
          </p:txBody>
        </p:sp>
        <p:sp>
          <p:nvSpPr>
            <p:cNvPr id="258" name="Line 258"/>
            <p:cNvSpPr/>
            <p:nvPr/>
          </p:nvSpPr>
          <p:spPr>
            <a:xfrm>
              <a:off x="6553200" y="549592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259" name="Freeform 259"/>
            <p:cNvSpPr/>
            <p:nvPr/>
          </p:nvSpPr>
          <p:spPr>
            <a:xfrm>
              <a:off x="10572750" y="4476750"/>
              <a:ext cx="762000" cy="762000"/>
            </a:xfrm>
            <a:prstGeom prst="blockArc">
              <a:avLst>
                <a:gd name="adj1" fmla="val 16200000"/>
                <a:gd name="adj2" fmla="val 4320000"/>
                <a:gd name="adj3" fmla="val 17000"/>
              </a:avLst>
            </a:prstGeom>
            <a:solidFill>
              <a:srgbClr val="721E0D"/>
            </a:solidFill>
            <a:ln>
              <a:noFill/>
            </a:ln>
          </p:spPr>
        </p:sp>
        <p:sp>
          <p:nvSpPr>
            <p:cNvPr id="260" name="Freeform 260"/>
            <p:cNvSpPr/>
            <p:nvPr/>
          </p:nvSpPr>
          <p:spPr>
            <a:xfrm>
              <a:off x="10572750" y="4476750"/>
              <a:ext cx="762000" cy="762000"/>
            </a:xfrm>
            <a:prstGeom prst="blockArc">
              <a:avLst>
                <a:gd name="adj1" fmla="val 4320000"/>
                <a:gd name="adj2" fmla="val 10800000"/>
                <a:gd name="adj3" fmla="val 17000"/>
              </a:avLst>
            </a:prstGeom>
            <a:solidFill>
              <a:srgbClr val="B8351A"/>
            </a:solidFill>
            <a:ln>
              <a:noFill/>
            </a:ln>
          </p:spPr>
        </p:sp>
        <p:sp>
          <p:nvSpPr>
            <p:cNvPr id="261" name="Freeform 261"/>
            <p:cNvSpPr/>
            <p:nvPr/>
          </p:nvSpPr>
          <p:spPr>
            <a:xfrm>
              <a:off x="10572750" y="4476750"/>
              <a:ext cx="762000" cy="762000"/>
            </a:xfrm>
            <a:prstGeom prst="blockArc">
              <a:avLst>
                <a:gd name="adj1" fmla="val 10800000"/>
                <a:gd name="adj2" fmla="val 14040000"/>
                <a:gd name="adj3" fmla="val 17000"/>
              </a:avLst>
            </a:prstGeom>
            <a:solidFill>
              <a:srgbClr val="E8917F"/>
            </a:solidFill>
            <a:ln>
              <a:noFill/>
            </a:ln>
          </p:spPr>
        </p:sp>
        <p:sp>
          <p:nvSpPr>
            <p:cNvPr id="262" name="Freeform 262"/>
            <p:cNvSpPr/>
            <p:nvPr/>
          </p:nvSpPr>
          <p:spPr>
            <a:xfrm>
              <a:off x="10572750" y="4476750"/>
              <a:ext cx="762000" cy="762000"/>
            </a:xfrm>
            <a:prstGeom prst="blockArc">
              <a:avLst>
                <a:gd name="adj1" fmla="val 14040000"/>
                <a:gd name="adj2" fmla="val 16200000"/>
                <a:gd name="adj3" fmla="val 17000"/>
              </a:avLst>
            </a:prstGeom>
            <a:solidFill>
              <a:srgbClr val="F0C2B9"/>
            </a:solidFill>
            <a:ln>
              <a:noFill/>
            </a:ln>
          </p:spPr>
        </p:sp>
        <p:sp>
          <p:nvSpPr>
            <p:cNvPr id="263" name="TextBox 263"/>
            <p:cNvSpPr txBox="1"/>
            <p:nvPr/>
          </p:nvSpPr>
          <p:spPr>
            <a:xfrm>
              <a:off x="10765904" y="4813459"/>
              <a:ext cx="375691"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资源占比</a:t>
              </a:r>
            </a:p>
          </p:txBody>
        </p:sp>
        <p:sp>
          <p:nvSpPr>
            <p:cNvPr id="264" name="TextBox 264"/>
            <p:cNvSpPr txBox="1"/>
            <p:nvPr/>
          </p:nvSpPr>
          <p:spPr>
            <a:xfrm>
              <a:off x="11406188" y="4818936"/>
              <a:ext cx="360782" cy="140494"/>
            </a:xfrm>
            <a:prstGeom prst="rect">
              <a:avLst/>
            </a:prstGeom>
            <a:noFill/>
            <a:ln>
              <a:noFill/>
            </a:ln>
          </p:spPr>
          <p:txBody>
            <a:bodyPr wrap="none" lIns="0" tIns="0" rIns="0" bIns="0" anchor="t" anchorCtr="0">
              <a:spAutoFit/>
            </a:bodyPr>
            <a:lstStyle/>
            <a:p>
              <a:pPr algn="l"/>
              <a:r>
                <a:rPr lang="zh-CN" sz="710" b="1" dirty="0">
                  <a:solidFill>
                    <a:srgbClr val="721E0D"/>
                  </a:solidFill>
                  <a:latin typeface="+mn-lt"/>
                  <a:ea typeface="+mn-ea"/>
                  <a:cs typeface="+mn-cs"/>
                </a:rPr>
                <a:t xml:space="preserve">45%   </a:t>
              </a:r>
            </a:p>
          </p:txBody>
        </p:sp>
        <p:sp>
          <p:nvSpPr>
            <p:cNvPr id="265" name="TextBox 265"/>
            <p:cNvSpPr txBox="1"/>
            <p:nvPr/>
          </p:nvSpPr>
          <p:spPr>
            <a:xfrm>
              <a:off x="10567988" y="5257086"/>
              <a:ext cx="360782" cy="140494"/>
            </a:xfrm>
            <a:prstGeom prst="rect">
              <a:avLst/>
            </a:prstGeom>
            <a:noFill/>
            <a:ln>
              <a:noFill/>
            </a:ln>
          </p:spPr>
          <p:txBody>
            <a:bodyPr wrap="none" lIns="0" tIns="0" rIns="0" bIns="0" anchor="t" anchorCtr="0">
              <a:spAutoFit/>
            </a:bodyPr>
            <a:lstStyle/>
            <a:p>
              <a:pPr algn="l"/>
              <a:r>
                <a:rPr lang="zh-CN" sz="710" b="1" dirty="0">
                  <a:solidFill>
                    <a:srgbClr val="B8351A"/>
                  </a:solidFill>
                  <a:latin typeface="+mn-lt"/>
                  <a:ea typeface="+mn-ea"/>
                  <a:cs typeface="+mn-cs"/>
                </a:rPr>
                <a:t xml:space="preserve">30%   </a:t>
              </a:r>
            </a:p>
          </p:txBody>
        </p:sp>
        <p:sp>
          <p:nvSpPr>
            <p:cNvPr id="266" name="TextBox 266"/>
            <p:cNvSpPr txBox="1"/>
            <p:nvPr/>
          </p:nvSpPr>
          <p:spPr>
            <a:xfrm>
              <a:off x="10301288" y="4666536"/>
              <a:ext cx="360782" cy="140494"/>
            </a:xfrm>
            <a:prstGeom prst="rect">
              <a:avLst/>
            </a:prstGeom>
            <a:noFill/>
            <a:ln>
              <a:noFill/>
            </a:ln>
          </p:spPr>
          <p:txBody>
            <a:bodyPr wrap="none" lIns="0" tIns="0" rIns="0" bIns="0" anchor="t" anchorCtr="0">
              <a:spAutoFit/>
            </a:bodyPr>
            <a:lstStyle/>
            <a:p>
              <a:pPr algn="l"/>
              <a:r>
                <a:rPr lang="zh-CN" sz="710" b="1" dirty="0">
                  <a:solidFill>
                    <a:srgbClr val="E8917F"/>
                  </a:solidFill>
                  <a:latin typeface="+mn-lt"/>
                  <a:ea typeface="+mn-ea"/>
                  <a:cs typeface="+mn-cs"/>
                </a:rPr>
                <a:t xml:space="preserve">15%   </a:t>
              </a:r>
            </a:p>
          </p:txBody>
        </p:sp>
        <p:sp>
          <p:nvSpPr>
            <p:cNvPr id="267" name="TextBox 267"/>
            <p:cNvSpPr txBox="1"/>
            <p:nvPr/>
          </p:nvSpPr>
          <p:spPr>
            <a:xfrm>
              <a:off x="10606088" y="4361736"/>
              <a:ext cx="360782" cy="140494"/>
            </a:xfrm>
            <a:prstGeom prst="rect">
              <a:avLst/>
            </a:prstGeom>
            <a:noFill/>
            <a:ln>
              <a:noFill/>
            </a:ln>
          </p:spPr>
          <p:txBody>
            <a:bodyPr wrap="none" lIns="0" tIns="0" rIns="0" bIns="0" anchor="t" anchorCtr="0">
              <a:spAutoFit/>
            </a:bodyPr>
            <a:lstStyle/>
            <a:p>
              <a:pPr algn="l"/>
              <a:r>
                <a:rPr lang="zh-CN" sz="710" b="1" dirty="0">
                  <a:solidFill>
                    <a:srgbClr val="CF9A8F"/>
                  </a:solidFill>
                  <a:latin typeface="+mn-lt"/>
                  <a:ea typeface="+mn-ea"/>
                  <a:cs typeface="+mn-cs"/>
                </a:rPr>
                <a:t xml:space="preserve">10%   </a:t>
              </a:r>
            </a:p>
          </p:txBody>
        </p:sp>
        <p:sp>
          <p:nvSpPr>
            <p:cNvPr id="268" name="Rectangle 268"/>
            <p:cNvSpPr/>
            <p:nvPr/>
          </p:nvSpPr>
          <p:spPr>
            <a:xfrm>
              <a:off x="10267950" y="5391150"/>
              <a:ext cx="76200" cy="76200"/>
            </a:xfrm>
            <a:prstGeom prst="rect">
              <a:avLst/>
            </a:prstGeom>
            <a:solidFill>
              <a:srgbClr val="721E0D"/>
            </a:solidFill>
            <a:ln>
              <a:noFill/>
            </a:ln>
          </p:spPr>
        </p:sp>
        <p:sp>
          <p:nvSpPr>
            <p:cNvPr id="269" name="TextBox 269"/>
            <p:cNvSpPr txBox="1"/>
            <p:nvPr/>
          </p:nvSpPr>
          <p:spPr>
            <a:xfrm>
              <a:off x="10377488" y="5393055"/>
              <a:ext cx="494157"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重点客户攻坚</a:t>
              </a:r>
            </a:p>
          </p:txBody>
        </p:sp>
        <p:sp>
          <p:nvSpPr>
            <p:cNvPr id="270" name="Rectangle 270"/>
            <p:cNvSpPr/>
            <p:nvPr/>
          </p:nvSpPr>
          <p:spPr>
            <a:xfrm>
              <a:off x="11049000" y="5391150"/>
              <a:ext cx="76200" cy="76200"/>
            </a:xfrm>
            <a:prstGeom prst="rect">
              <a:avLst/>
            </a:prstGeom>
            <a:solidFill>
              <a:srgbClr val="B8351A"/>
            </a:solidFill>
            <a:ln>
              <a:noFill/>
            </a:ln>
          </p:spPr>
        </p:sp>
        <p:sp>
          <p:nvSpPr>
            <p:cNvPr id="271" name="TextBox 271"/>
            <p:cNvSpPr txBox="1"/>
            <p:nvPr/>
          </p:nvSpPr>
          <p:spPr>
            <a:xfrm>
              <a:off x="11158538" y="5393055"/>
              <a:ext cx="494157"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商机转化加速</a:t>
              </a:r>
            </a:p>
          </p:txBody>
        </p:sp>
        <p:sp>
          <p:nvSpPr>
            <p:cNvPr id="272" name="Rectangle 272"/>
            <p:cNvSpPr/>
            <p:nvPr/>
          </p:nvSpPr>
          <p:spPr>
            <a:xfrm>
              <a:off x="10267950" y="5505450"/>
              <a:ext cx="76200" cy="76200"/>
            </a:xfrm>
            <a:prstGeom prst="rect">
              <a:avLst/>
            </a:prstGeom>
            <a:solidFill>
              <a:srgbClr val="E8917F"/>
            </a:solidFill>
            <a:ln>
              <a:noFill/>
            </a:ln>
          </p:spPr>
        </p:sp>
        <p:sp>
          <p:nvSpPr>
            <p:cNvPr id="273" name="TextBox 273"/>
            <p:cNvSpPr txBox="1"/>
            <p:nvPr/>
          </p:nvSpPr>
          <p:spPr>
            <a:xfrm>
              <a:off x="10377488" y="5507355"/>
              <a:ext cx="413385"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新线索拓展</a:t>
              </a:r>
            </a:p>
          </p:txBody>
        </p:sp>
        <p:sp>
          <p:nvSpPr>
            <p:cNvPr id="274" name="Rectangle 274"/>
            <p:cNvSpPr/>
            <p:nvPr/>
          </p:nvSpPr>
          <p:spPr>
            <a:xfrm>
              <a:off x="11049000" y="5505450"/>
              <a:ext cx="76200" cy="76200"/>
            </a:xfrm>
            <a:prstGeom prst="rect">
              <a:avLst/>
            </a:prstGeom>
            <a:solidFill>
              <a:srgbClr val="F0C2B9"/>
            </a:solidFill>
            <a:ln>
              <a:noFill/>
            </a:ln>
          </p:spPr>
        </p:sp>
        <p:sp>
          <p:nvSpPr>
            <p:cNvPr id="275" name="TextBox 275"/>
            <p:cNvSpPr txBox="1"/>
            <p:nvPr/>
          </p:nvSpPr>
          <p:spPr>
            <a:xfrm>
              <a:off x="11158538" y="5507355"/>
              <a:ext cx="413385"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能力与保障</a:t>
              </a:r>
            </a:p>
          </p:txBody>
        </p:sp>
      </p:grpSp>
      <p:grpSp>
        <p:nvGrpSpPr>
          <p:cNvPr id="283" name="conclusion-bar"/>
          <p:cNvGrpSpPr/>
          <p:nvPr/>
        </p:nvGrpSpPr>
        <p:grpSpPr>
          <a:xfrm>
            <a:off x="228600" y="5695950"/>
            <a:ext cx="11734800" cy="514350"/>
            <a:chOff x="228600" y="5695950"/>
            <a:chExt cx="11734800" cy="514350"/>
          </a:xfrm>
        </p:grpSpPr>
        <p:sp>
          <p:nvSpPr>
            <p:cNvPr id="277" name="Rectangle 277"/>
            <p:cNvSpPr/>
            <p:nvPr/>
          </p:nvSpPr>
          <p:spPr>
            <a:xfrm>
              <a:off x="228600" y="5695950"/>
              <a:ext cx="11734800" cy="514350"/>
            </a:xfrm>
            <a:prstGeom prst="roundRect">
              <a:avLst>
                <a:gd name="adj" fmla="val 18519"/>
              </a:avLst>
            </a:prstGeom>
            <a:solidFill>
              <a:srgbClr val="EAF1FB"/>
            </a:solidFill>
            <a:ln w="14288">
              <a:solidFill>
                <a:srgbClr val="B8351A"/>
              </a:solidFill>
            </a:ln>
          </p:spPr>
        </p:sp>
        <p:grpSp>
          <p:nvGrpSpPr>
            <p:cNvPr id="281" name="Group 281"/>
            <p:cNvGrpSpPr/>
            <p:nvPr/>
          </p:nvGrpSpPr>
          <p:grpSpPr>
            <a:xfrm>
              <a:off x="523875" y="5867400"/>
              <a:ext cx="171450" cy="171450"/>
              <a:chOff x="523875" y="5867400"/>
              <a:chExt cx="171450" cy="171450"/>
            </a:xfrm>
          </p:grpSpPr>
          <p:sp>
            <p:nvSpPr>
              <p:cNvPr id="278" name="Freeform 278"/>
              <p:cNvSpPr/>
              <p:nvPr/>
            </p:nvSpPr>
            <p:spPr>
              <a:xfrm>
                <a:off x="523875" y="5867400"/>
                <a:ext cx="171450" cy="85725"/>
              </a:xfrm>
              <a:custGeom>
                <a:avLst/>
                <a:gdLst/>
                <a:ahLst/>
                <a:cxnLst/>
                <a:rect l="l" t="t" r="r" b="b"/>
                <a:pathLst>
                  <a:path w="171450" h="85725">
                    <a:moveTo>
                      <a:pt x="0" y="85725"/>
                    </a:moveTo>
                    <a:lnTo>
                      <a:pt x="9525" y="85725"/>
                    </a:lnTo>
                    <a:moveTo>
                      <a:pt x="85725" y="0"/>
                    </a:moveTo>
                    <a:lnTo>
                      <a:pt x="85725" y="9525"/>
                    </a:lnTo>
                    <a:moveTo>
                      <a:pt x="161925" y="85725"/>
                    </a:moveTo>
                    <a:lnTo>
                      <a:pt x="171450" y="85725"/>
                    </a:lnTo>
                    <a:moveTo>
                      <a:pt x="24765" y="24765"/>
                    </a:moveTo>
                    <a:lnTo>
                      <a:pt x="31432" y="31432"/>
                    </a:lnTo>
                    <a:moveTo>
                      <a:pt x="146685" y="24765"/>
                    </a:moveTo>
                    <a:lnTo>
                      <a:pt x="140018" y="31432"/>
                    </a:lnTo>
                  </a:path>
                </a:pathLst>
              </a:custGeom>
              <a:noFill/>
              <a:ln w="19050">
                <a:solidFill>
                  <a:srgbClr val="721E0D"/>
                </a:solidFill>
              </a:ln>
            </p:spPr>
          </p:sp>
          <p:sp>
            <p:nvSpPr>
              <p:cNvPr id="279" name="Freeform 279"/>
              <p:cNvSpPr/>
              <p:nvPr/>
            </p:nvSpPr>
            <p:spPr>
              <a:xfrm>
                <a:off x="557937" y="5905500"/>
                <a:ext cx="103327" cy="133350"/>
              </a:xfrm>
              <a:custGeom>
                <a:avLst/>
                <a:gdLst/>
                <a:ahLst/>
                <a:cxnLst/>
                <a:rect l="l" t="t" r="r" b="b"/>
                <a:pathLst>
                  <a:path w="103327" h="133350">
                    <a:moveTo>
                      <a:pt x="23088" y="85725"/>
                    </a:moveTo>
                    <a:cubicBezTo>
                      <a:pt x="6689" y="73425"/>
                      <a:pt x="0" y="52012"/>
                      <a:pt x="6482" y="32565"/>
                    </a:cubicBezTo>
                    <a:cubicBezTo>
                      <a:pt x="12965" y="13117"/>
                      <a:pt x="31164" y="0"/>
                      <a:pt x="51663" y="0"/>
                    </a:cubicBezTo>
                    <a:cubicBezTo>
                      <a:pt x="72163" y="0"/>
                      <a:pt x="90362" y="13117"/>
                      <a:pt x="96845" y="32565"/>
                    </a:cubicBezTo>
                    <a:cubicBezTo>
                      <a:pt x="103327" y="52012"/>
                      <a:pt x="96638" y="73425"/>
                      <a:pt x="80238" y="85725"/>
                    </a:cubicBezTo>
                    <a:cubicBezTo>
                      <a:pt x="72696" y="93191"/>
                      <a:pt x="69159" y="103802"/>
                      <a:pt x="70713" y="114300"/>
                    </a:cubicBezTo>
                    <a:cubicBezTo>
                      <a:pt x="70713" y="124821"/>
                      <a:pt x="62184" y="133350"/>
                      <a:pt x="51663" y="133350"/>
                    </a:cubicBezTo>
                    <a:cubicBezTo>
                      <a:pt x="41142" y="133350"/>
                      <a:pt x="32613" y="124821"/>
                      <a:pt x="32613" y="114300"/>
                    </a:cubicBezTo>
                    <a:cubicBezTo>
                      <a:pt x="34168" y="103802"/>
                      <a:pt x="30631" y="93191"/>
                      <a:pt x="23088" y="85725"/>
                    </a:cubicBezTo>
                  </a:path>
                </a:pathLst>
              </a:custGeom>
              <a:noFill/>
              <a:ln w="19050">
                <a:solidFill>
                  <a:srgbClr val="721E0D"/>
                </a:solidFill>
              </a:ln>
            </p:spPr>
          </p:sp>
          <p:sp>
            <p:nvSpPr>
              <p:cNvPr id="280" name="Freeform 280"/>
              <p:cNvSpPr/>
              <p:nvPr/>
            </p:nvSpPr>
            <p:spPr>
              <a:xfrm>
                <a:off x="587692" y="6000750"/>
                <a:ext cx="43815" cy="9525"/>
              </a:xfrm>
              <a:custGeom>
                <a:avLst/>
                <a:gdLst/>
                <a:ahLst/>
                <a:cxnLst/>
                <a:rect l="l" t="t" r="r" b="b"/>
                <a:pathLst>
                  <a:path w="43815" h="9525">
                    <a:moveTo>
                      <a:pt x="0" y="0"/>
                    </a:moveTo>
                    <a:lnTo>
                      <a:pt x="43815" y="0"/>
                    </a:lnTo>
                  </a:path>
                </a:pathLst>
              </a:custGeom>
              <a:noFill/>
              <a:ln w="19050">
                <a:solidFill>
                  <a:srgbClr val="721E0D"/>
                </a:solidFill>
              </a:ln>
            </p:spPr>
          </p:sp>
        </p:grpSp>
        <p:sp>
          <p:nvSpPr>
            <p:cNvPr id="282" name="TextBox 282"/>
            <p:cNvSpPr txBox="1"/>
            <p:nvPr/>
          </p:nvSpPr>
          <p:spPr>
            <a:xfrm>
              <a:off x="814388" y="5899547"/>
              <a:ext cx="8487893"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结论：下半年能追回多少，取决于我们对可控因素的有效管理与资源的精准投入。建议以基准情景为核心目标，向上争取、向下设防，确保经营确定性。</a:t>
              </a:r>
            </a:p>
          </p:txBody>
        </p:sp>
      </p:gr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268698" y="152876"/>
              <a:ext cx="18650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7</a:t>
              </a:r>
            </a:p>
          </p:txBody>
        </p:sp>
        <p:sp>
          <p:nvSpPr>
            <p:cNvPr id="4" name="TextBox 4"/>
            <p:cNvSpPr txBox="1"/>
            <p:nvPr/>
          </p:nvSpPr>
          <p:spPr>
            <a:xfrm>
              <a:off x="904494" y="180023"/>
              <a:ext cx="5898726"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路径一：存量挖潜——</a:t>
              </a:r>
              <a:r>
                <a:rPr lang="zh-CN" sz="1950" b="1" dirty="0">
                  <a:solidFill>
                    <a:srgbClr val="B8351A"/>
                  </a:solidFill>
                  <a:latin typeface="+mn-lt"/>
                  <a:ea typeface="+mn-ea"/>
                  <a:cs typeface="+mn-cs"/>
                </a:rPr>
                <a:t>最快、最稳、ROI最高</a:t>
              </a:r>
              <a:r>
                <a:rPr lang="zh-CN" sz="1950" b="1" dirty="0">
                  <a:solidFill>
                    <a:srgbClr val="461910"/>
                  </a:solidFill>
                  <a:latin typeface="+mn-lt"/>
                  <a:ea typeface="+mn-ea"/>
                  <a:cs typeface="+mn-cs"/>
                </a:rPr>
                <a:t xml:space="preserve">      </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41" name="core-advantages"/>
          <p:cNvGrpSpPr/>
          <p:nvPr/>
        </p:nvGrpSpPr>
        <p:grpSpPr>
          <a:xfrm>
            <a:off x="228600" y="704850"/>
            <a:ext cx="11620500" cy="552450"/>
            <a:chOff x="228600" y="704850"/>
            <a:chExt cx="11620500" cy="552450"/>
          </a:xfrm>
        </p:grpSpPr>
        <p:sp>
          <p:nvSpPr>
            <p:cNvPr id="7" name="Rectangle 7"/>
            <p:cNvSpPr/>
            <p:nvPr/>
          </p:nvSpPr>
          <p:spPr>
            <a:xfrm>
              <a:off x="228600" y="762000"/>
              <a:ext cx="1676400" cy="438150"/>
            </a:xfrm>
            <a:prstGeom prst="roundRect">
              <a:avLst>
                <a:gd name="adj" fmla="val 50000"/>
              </a:avLst>
            </a:prstGeom>
            <a:solidFill>
              <a:srgbClr val="721E0D"/>
            </a:solidFill>
            <a:ln>
              <a:noFill/>
            </a:ln>
          </p:spPr>
        </p:sp>
        <p:sp>
          <p:nvSpPr>
            <p:cNvPr id="8" name="Ellipse 8"/>
            <p:cNvSpPr/>
            <p:nvPr/>
          </p:nvSpPr>
          <p:spPr>
            <a:xfrm>
              <a:off x="333375" y="838200"/>
              <a:ext cx="285750" cy="285750"/>
            </a:xfrm>
            <a:prstGeom prst="ellipse">
              <a:avLst/>
            </a:prstGeom>
            <a:solidFill>
              <a:srgbClr val="FFFFFF"/>
            </a:solidFill>
            <a:ln>
              <a:noFill/>
            </a:ln>
          </p:spPr>
        </p:sp>
        <p:sp>
          <p:nvSpPr>
            <p:cNvPr id="9" name="Freeform 9"/>
            <p:cNvSpPr/>
            <p:nvPr/>
          </p:nvSpPr>
          <p:spPr>
            <a:xfrm>
              <a:off x="404863" y="909652"/>
              <a:ext cx="142675" cy="135681"/>
            </a:xfrm>
            <a:custGeom>
              <a:avLst/>
              <a:gdLst/>
              <a:ahLst/>
              <a:cxnLst/>
              <a:rect l="l" t="t" r="r" b="b"/>
              <a:pathLst>
                <a:path w="142675" h="135681">
                  <a:moveTo>
                    <a:pt x="71387" y="112500"/>
                  </a:moveTo>
                  <a:lnTo>
                    <a:pt x="27296" y="135681"/>
                  </a:lnTo>
                  <a:lnTo>
                    <a:pt x="35719" y="86582"/>
                  </a:lnTo>
                  <a:lnTo>
                    <a:pt x="0" y="51814"/>
                  </a:lnTo>
                  <a:lnTo>
                    <a:pt x="49292" y="44670"/>
                  </a:lnTo>
                  <a:lnTo>
                    <a:pt x="71337" y="0"/>
                  </a:lnTo>
                  <a:lnTo>
                    <a:pt x="93383" y="44670"/>
                  </a:lnTo>
                  <a:lnTo>
                    <a:pt x="142675" y="51814"/>
                  </a:lnTo>
                  <a:lnTo>
                    <a:pt x="106956" y="86582"/>
                  </a:lnTo>
                  <a:lnTo>
                    <a:pt x="115379" y="135681"/>
                  </a:lnTo>
                  <a:lnTo>
                    <a:pt x="71387" y="112500"/>
                  </a:lnTo>
                </a:path>
              </a:pathLst>
            </a:custGeom>
            <a:noFill/>
            <a:ln w="14288">
              <a:solidFill>
                <a:srgbClr val="721E0D"/>
              </a:solidFill>
            </a:ln>
          </p:spPr>
        </p:sp>
        <p:sp>
          <p:nvSpPr>
            <p:cNvPr id="10" name="TextBox 10"/>
            <p:cNvSpPr txBox="1"/>
            <p:nvPr/>
          </p:nvSpPr>
          <p:spPr>
            <a:xfrm>
              <a:off x="699135" y="916781"/>
              <a:ext cx="76530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核心优势：</a:t>
              </a:r>
            </a:p>
          </p:txBody>
        </p:sp>
        <p:sp>
          <p:nvSpPr>
            <p:cNvPr id="11" name="Rectangle 11"/>
            <p:cNvSpPr/>
            <p:nvPr/>
          </p:nvSpPr>
          <p:spPr>
            <a:xfrm>
              <a:off x="2038350" y="704850"/>
              <a:ext cx="2381250" cy="552450"/>
            </a:xfrm>
            <a:prstGeom prst="roundRect">
              <a:avLst>
                <a:gd name="adj" fmla="val 17241"/>
              </a:avLst>
            </a:prstGeom>
            <a:solidFill>
              <a:srgbClr val="FFFFFF"/>
            </a:solidFill>
            <a:ln w="14288">
              <a:solidFill>
                <a:srgbClr val="C9D6EE"/>
              </a:solidFill>
            </a:ln>
          </p:spPr>
        </p:sp>
        <p:sp>
          <p:nvSpPr>
            <p:cNvPr id="12" name="Ellipse 12"/>
            <p:cNvSpPr/>
            <p:nvPr/>
          </p:nvSpPr>
          <p:spPr>
            <a:xfrm>
              <a:off x="2143125" y="800100"/>
              <a:ext cx="361950" cy="361950"/>
            </a:xfrm>
            <a:prstGeom prst="ellipse">
              <a:avLst/>
            </a:prstGeom>
            <a:solidFill>
              <a:srgbClr val="721E0D"/>
            </a:solidFill>
            <a:ln>
              <a:noFill/>
            </a:ln>
          </p:spPr>
        </p:sp>
        <p:grpSp>
          <p:nvGrpSpPr>
            <p:cNvPr id="15" name="Group 15"/>
            <p:cNvGrpSpPr/>
            <p:nvPr/>
          </p:nvGrpSpPr>
          <p:grpSpPr>
            <a:xfrm>
              <a:off x="2245519" y="902494"/>
              <a:ext cx="157163" cy="157163"/>
              <a:chOff x="2245519" y="902494"/>
              <a:chExt cx="157163" cy="157163"/>
            </a:xfrm>
          </p:grpSpPr>
          <p:sp>
            <p:nvSpPr>
              <p:cNvPr id="13" name="Freeform 13"/>
              <p:cNvSpPr/>
              <p:nvPr/>
            </p:nvSpPr>
            <p:spPr>
              <a:xfrm>
                <a:off x="2245519" y="9024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sp>
            <p:nvSpPr>
              <p:cNvPr id="14" name="Freeform 14"/>
              <p:cNvSpPr/>
              <p:nvPr/>
            </p:nvSpPr>
            <p:spPr>
              <a:xfrm>
                <a:off x="2324100" y="937419"/>
                <a:ext cx="26194" cy="69850"/>
              </a:xfrm>
              <a:custGeom>
                <a:avLst/>
                <a:gdLst/>
                <a:ahLst/>
                <a:cxnLst/>
                <a:rect l="l" t="t" r="r" b="b"/>
                <a:pathLst>
                  <a:path w="26194" h="69850">
                    <a:moveTo>
                      <a:pt x="0" y="0"/>
                    </a:moveTo>
                    <a:lnTo>
                      <a:pt x="0" y="43656"/>
                    </a:lnTo>
                    <a:lnTo>
                      <a:pt x="26194" y="69850"/>
                    </a:lnTo>
                  </a:path>
                </a:pathLst>
              </a:custGeom>
              <a:noFill/>
              <a:ln w="17463">
                <a:solidFill>
                  <a:srgbClr val="FFFFFF"/>
                </a:solidFill>
              </a:ln>
            </p:spPr>
          </p:sp>
        </p:grpSp>
        <p:sp>
          <p:nvSpPr>
            <p:cNvPr id="16" name="TextBox 16"/>
            <p:cNvSpPr txBox="1"/>
            <p:nvPr/>
          </p:nvSpPr>
          <p:spPr>
            <a:xfrm>
              <a:off x="2623566" y="829628"/>
              <a:ext cx="434721" cy="205359"/>
            </a:xfrm>
            <a:prstGeom prst="rect">
              <a:avLst/>
            </a:prstGeom>
            <a:noFill/>
            <a:ln>
              <a:noFill/>
            </a:ln>
          </p:spPr>
          <p:txBody>
            <a:bodyPr wrap="none" lIns="0" tIns="0" rIns="0" bIns="0" anchor="t" anchorCtr="0">
              <a:spAutoFit/>
            </a:bodyPr>
            <a:lstStyle/>
            <a:p>
              <a:pPr algn="l"/>
              <a:r>
                <a:rPr lang="zh-CN" sz="1050" b="1" dirty="0">
                  <a:solidFill>
                    <a:srgbClr val="721E0D"/>
                  </a:solidFill>
                  <a:latin typeface="+mn-lt"/>
                  <a:ea typeface="+mn-ea"/>
                  <a:cs typeface="+mn-cs"/>
                </a:rPr>
                <a:t>周期短</a:t>
              </a:r>
            </a:p>
          </p:txBody>
        </p:sp>
        <p:sp>
          <p:nvSpPr>
            <p:cNvPr id="17" name="TextBox 17"/>
            <p:cNvSpPr txBox="1"/>
            <p:nvPr/>
          </p:nvSpPr>
          <p:spPr>
            <a:xfrm>
              <a:off x="2624138" y="1052512"/>
              <a:ext cx="112014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见效快，最快可当季转化</a:t>
              </a:r>
            </a:p>
          </p:txBody>
        </p:sp>
        <p:sp>
          <p:nvSpPr>
            <p:cNvPr id="18" name="Rectangle 18"/>
            <p:cNvSpPr/>
            <p:nvPr/>
          </p:nvSpPr>
          <p:spPr>
            <a:xfrm>
              <a:off x="4514850" y="704850"/>
              <a:ext cx="2381250" cy="552450"/>
            </a:xfrm>
            <a:prstGeom prst="roundRect">
              <a:avLst>
                <a:gd name="adj" fmla="val 17241"/>
              </a:avLst>
            </a:prstGeom>
            <a:solidFill>
              <a:srgbClr val="FFFFFF"/>
            </a:solidFill>
            <a:ln w="14288">
              <a:solidFill>
                <a:srgbClr val="C9D6EE"/>
              </a:solidFill>
            </a:ln>
          </p:spPr>
        </p:sp>
        <p:sp>
          <p:nvSpPr>
            <p:cNvPr id="19" name="Ellipse 19"/>
            <p:cNvSpPr/>
            <p:nvPr/>
          </p:nvSpPr>
          <p:spPr>
            <a:xfrm>
              <a:off x="4619625" y="800100"/>
              <a:ext cx="361950" cy="361950"/>
            </a:xfrm>
            <a:prstGeom prst="ellipse">
              <a:avLst/>
            </a:prstGeom>
            <a:solidFill>
              <a:srgbClr val="721E0D"/>
            </a:solidFill>
            <a:ln>
              <a:noFill/>
            </a:ln>
          </p:spPr>
        </p:sp>
        <p:grpSp>
          <p:nvGrpSpPr>
            <p:cNvPr id="24" name="Group 24"/>
            <p:cNvGrpSpPr/>
            <p:nvPr/>
          </p:nvGrpSpPr>
          <p:grpSpPr>
            <a:xfrm>
              <a:off x="4722019" y="902494"/>
              <a:ext cx="157163" cy="157163"/>
              <a:chOff x="4722019" y="902494"/>
              <a:chExt cx="157163" cy="157163"/>
            </a:xfrm>
          </p:grpSpPr>
          <p:sp>
            <p:nvSpPr>
              <p:cNvPr id="20" name="Freeform 20"/>
              <p:cNvSpPr/>
              <p:nvPr/>
            </p:nvSpPr>
            <p:spPr>
              <a:xfrm>
                <a:off x="4739481" y="9024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21" name="Freeform 21"/>
              <p:cNvSpPr/>
              <p:nvPr/>
            </p:nvSpPr>
            <p:spPr>
              <a:xfrm>
                <a:off x="4722019" y="100726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22" name="Freeform 22"/>
              <p:cNvSpPr/>
              <p:nvPr/>
            </p:nvSpPr>
            <p:spPr>
              <a:xfrm>
                <a:off x="4835525" y="90362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23" name="Freeform 23"/>
              <p:cNvSpPr/>
              <p:nvPr/>
            </p:nvSpPr>
            <p:spPr>
              <a:xfrm>
                <a:off x="4852988" y="100857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25" name="TextBox 25"/>
            <p:cNvSpPr txBox="1"/>
            <p:nvPr/>
          </p:nvSpPr>
          <p:spPr>
            <a:xfrm>
              <a:off x="5100066" y="829628"/>
              <a:ext cx="717423" cy="205359"/>
            </a:xfrm>
            <a:prstGeom prst="rect">
              <a:avLst/>
            </a:prstGeom>
            <a:noFill/>
            <a:ln>
              <a:noFill/>
            </a:ln>
          </p:spPr>
          <p:txBody>
            <a:bodyPr wrap="none" lIns="0" tIns="0" rIns="0" bIns="0" anchor="t" anchorCtr="0">
              <a:spAutoFit/>
            </a:bodyPr>
            <a:lstStyle/>
            <a:p>
              <a:pPr algn="l"/>
              <a:r>
                <a:rPr lang="zh-CN" sz="1050" b="1" dirty="0">
                  <a:solidFill>
                    <a:srgbClr val="721E0D"/>
                  </a:solidFill>
                  <a:latin typeface="+mn-lt"/>
                  <a:ea typeface="+mn-ea"/>
                  <a:cs typeface="+mn-cs"/>
                </a:rPr>
                <a:t>信任基础好</a:t>
              </a:r>
            </a:p>
          </p:txBody>
        </p:sp>
        <p:sp>
          <p:nvSpPr>
            <p:cNvPr id="26" name="TextBox 26"/>
            <p:cNvSpPr txBox="1"/>
            <p:nvPr/>
          </p:nvSpPr>
          <p:spPr>
            <a:xfrm>
              <a:off x="5100638" y="1052512"/>
              <a:ext cx="1221105"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已有合作关系，信任成本低</a:t>
              </a:r>
            </a:p>
          </p:txBody>
        </p:sp>
        <p:sp>
          <p:nvSpPr>
            <p:cNvPr id="27" name="Rectangle 27"/>
            <p:cNvSpPr/>
            <p:nvPr/>
          </p:nvSpPr>
          <p:spPr>
            <a:xfrm>
              <a:off x="6991350" y="704850"/>
              <a:ext cx="2381250" cy="552450"/>
            </a:xfrm>
            <a:prstGeom prst="roundRect">
              <a:avLst>
                <a:gd name="adj" fmla="val 17241"/>
              </a:avLst>
            </a:prstGeom>
            <a:solidFill>
              <a:srgbClr val="FFFFFF"/>
            </a:solidFill>
            <a:ln w="14288">
              <a:solidFill>
                <a:srgbClr val="C9D6EE"/>
              </a:solidFill>
            </a:ln>
          </p:spPr>
        </p:sp>
        <p:sp>
          <p:nvSpPr>
            <p:cNvPr id="28" name="Ellipse 28"/>
            <p:cNvSpPr/>
            <p:nvPr/>
          </p:nvSpPr>
          <p:spPr>
            <a:xfrm>
              <a:off x="7096125" y="800100"/>
              <a:ext cx="361950" cy="361950"/>
            </a:xfrm>
            <a:prstGeom prst="ellipse">
              <a:avLst/>
            </a:prstGeom>
            <a:solidFill>
              <a:srgbClr val="721E0D"/>
            </a:solidFill>
            <a:ln>
              <a:noFill/>
            </a:ln>
          </p:spPr>
        </p:sp>
        <p:grpSp>
          <p:nvGrpSpPr>
            <p:cNvPr id="31" name="Group 31"/>
            <p:cNvGrpSpPr/>
            <p:nvPr/>
          </p:nvGrpSpPr>
          <p:grpSpPr>
            <a:xfrm>
              <a:off x="7198519" y="937419"/>
              <a:ext cx="157163" cy="87313"/>
              <a:chOff x="7198519" y="937419"/>
              <a:chExt cx="157163" cy="87313"/>
            </a:xfrm>
          </p:grpSpPr>
          <p:sp>
            <p:nvSpPr>
              <p:cNvPr id="29" name="Freeform 29"/>
              <p:cNvSpPr/>
              <p:nvPr/>
            </p:nvSpPr>
            <p:spPr>
              <a:xfrm>
                <a:off x="7198519" y="93741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FFFFFF"/>
                </a:solidFill>
              </a:ln>
            </p:spPr>
          </p:sp>
          <p:sp>
            <p:nvSpPr>
              <p:cNvPr id="30" name="Freeform 30"/>
              <p:cNvSpPr/>
              <p:nvPr/>
            </p:nvSpPr>
            <p:spPr>
              <a:xfrm>
                <a:off x="7294563" y="937419"/>
                <a:ext cx="61119" cy="61119"/>
              </a:xfrm>
              <a:custGeom>
                <a:avLst/>
                <a:gdLst/>
                <a:ahLst/>
                <a:cxnLst/>
                <a:rect l="l" t="t" r="r" b="b"/>
                <a:pathLst>
                  <a:path w="61119" h="61119">
                    <a:moveTo>
                      <a:pt x="0" y="0"/>
                    </a:moveTo>
                    <a:lnTo>
                      <a:pt x="61119" y="0"/>
                    </a:lnTo>
                    <a:lnTo>
                      <a:pt x="61119" y="61119"/>
                    </a:lnTo>
                  </a:path>
                </a:pathLst>
              </a:custGeom>
              <a:noFill/>
              <a:ln w="17463">
                <a:solidFill>
                  <a:srgbClr val="FFFFFF"/>
                </a:solidFill>
              </a:ln>
            </p:spPr>
          </p:sp>
        </p:grpSp>
        <p:sp>
          <p:nvSpPr>
            <p:cNvPr id="32" name="TextBox 32"/>
            <p:cNvSpPr txBox="1"/>
            <p:nvPr/>
          </p:nvSpPr>
          <p:spPr>
            <a:xfrm>
              <a:off x="7576566" y="829628"/>
              <a:ext cx="858774" cy="205359"/>
            </a:xfrm>
            <a:prstGeom prst="rect">
              <a:avLst/>
            </a:prstGeom>
            <a:noFill/>
            <a:ln>
              <a:noFill/>
            </a:ln>
          </p:spPr>
          <p:txBody>
            <a:bodyPr wrap="none" lIns="0" tIns="0" rIns="0" bIns="0" anchor="t" anchorCtr="0">
              <a:spAutoFit/>
            </a:bodyPr>
            <a:lstStyle/>
            <a:p>
              <a:pPr algn="l"/>
              <a:r>
                <a:rPr lang="zh-CN" sz="1050" b="1" dirty="0">
                  <a:solidFill>
                    <a:srgbClr val="721E0D"/>
                  </a:solidFill>
                  <a:latin typeface="+mn-lt"/>
                  <a:ea typeface="+mn-ea"/>
                  <a:cs typeface="+mn-cs"/>
                </a:rPr>
                <a:t>客单价可提升</a:t>
              </a:r>
            </a:p>
          </p:txBody>
        </p:sp>
        <p:sp>
          <p:nvSpPr>
            <p:cNvPr id="33" name="TextBox 33"/>
            <p:cNvSpPr txBox="1"/>
            <p:nvPr/>
          </p:nvSpPr>
          <p:spPr>
            <a:xfrm>
              <a:off x="7577138" y="1052512"/>
              <a:ext cx="1019175"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需求清晰，增购空间大</a:t>
              </a:r>
            </a:p>
          </p:txBody>
        </p:sp>
        <p:sp>
          <p:nvSpPr>
            <p:cNvPr id="34" name="Rectangle 34"/>
            <p:cNvSpPr/>
            <p:nvPr/>
          </p:nvSpPr>
          <p:spPr>
            <a:xfrm>
              <a:off x="9467850" y="704850"/>
              <a:ext cx="2381250" cy="552450"/>
            </a:xfrm>
            <a:prstGeom prst="roundRect">
              <a:avLst>
                <a:gd name="adj" fmla="val 17241"/>
              </a:avLst>
            </a:prstGeom>
            <a:solidFill>
              <a:srgbClr val="FFFFFF"/>
            </a:solidFill>
            <a:ln w="14288">
              <a:solidFill>
                <a:srgbClr val="C9D6EE"/>
              </a:solidFill>
            </a:ln>
          </p:spPr>
        </p:sp>
        <p:sp>
          <p:nvSpPr>
            <p:cNvPr id="35" name="Ellipse 35"/>
            <p:cNvSpPr/>
            <p:nvPr/>
          </p:nvSpPr>
          <p:spPr>
            <a:xfrm>
              <a:off x="9572625" y="800100"/>
              <a:ext cx="361950" cy="361950"/>
            </a:xfrm>
            <a:prstGeom prst="ellipse">
              <a:avLst/>
            </a:prstGeom>
            <a:solidFill>
              <a:srgbClr val="721E0D"/>
            </a:solidFill>
            <a:ln>
              <a:noFill/>
            </a:ln>
          </p:spPr>
        </p:sp>
        <p:grpSp>
          <p:nvGrpSpPr>
            <p:cNvPr id="38" name="Group 38"/>
            <p:cNvGrpSpPr/>
            <p:nvPr/>
          </p:nvGrpSpPr>
          <p:grpSpPr>
            <a:xfrm>
              <a:off x="9683750" y="911225"/>
              <a:ext cx="139701" cy="139700"/>
              <a:chOff x="9683750" y="911225"/>
              <a:chExt cx="139701" cy="139700"/>
            </a:xfrm>
          </p:grpSpPr>
          <p:sp>
            <p:nvSpPr>
              <p:cNvPr id="36" name="Freeform 36"/>
              <p:cNvSpPr/>
              <p:nvPr/>
            </p:nvSpPr>
            <p:spPr>
              <a:xfrm>
                <a:off x="9683750" y="911225"/>
                <a:ext cx="130969" cy="139700"/>
              </a:xfrm>
              <a:custGeom>
                <a:avLst/>
                <a:gdLst/>
                <a:ahLst/>
                <a:cxnLst/>
                <a:rect l="l" t="t" r="r" b="b"/>
                <a:pathLst>
                  <a:path w="130969" h="139700">
                    <a:moveTo>
                      <a:pt x="113506" y="34925"/>
                    </a:moveTo>
                    <a:lnTo>
                      <a:pt x="113506" y="8731"/>
                    </a:lnTo>
                    <a:cubicBezTo>
                      <a:pt x="113506" y="3909"/>
                      <a:pt x="109597" y="0"/>
                      <a:pt x="104775" y="0"/>
                    </a:cubicBezTo>
                    <a:lnTo>
                      <a:pt x="17463" y="0"/>
                    </a:lnTo>
                    <a:cubicBezTo>
                      <a:pt x="7818" y="0"/>
                      <a:pt x="0" y="7818"/>
                      <a:pt x="0" y="17463"/>
                    </a:cubicBezTo>
                    <a:cubicBezTo>
                      <a:pt x="0" y="27107"/>
                      <a:pt x="7818" y="34925"/>
                      <a:pt x="17463" y="34925"/>
                    </a:cubicBezTo>
                    <a:lnTo>
                      <a:pt x="122238" y="34925"/>
                    </a:lnTo>
                    <a:cubicBezTo>
                      <a:pt x="127060" y="34925"/>
                      <a:pt x="130969" y="38834"/>
                      <a:pt x="130969" y="43656"/>
                    </a:cubicBezTo>
                    <a:lnTo>
                      <a:pt x="130969" y="69850"/>
                    </a:lnTo>
                    <a:moveTo>
                      <a:pt x="130969" y="104775"/>
                    </a:moveTo>
                    <a:lnTo>
                      <a:pt x="130969" y="130969"/>
                    </a:lnTo>
                    <a:cubicBezTo>
                      <a:pt x="130969" y="135791"/>
                      <a:pt x="127060" y="139700"/>
                      <a:pt x="122238" y="139700"/>
                    </a:cubicBezTo>
                    <a:lnTo>
                      <a:pt x="17463" y="139700"/>
                    </a:lnTo>
                    <a:cubicBezTo>
                      <a:pt x="7818" y="139700"/>
                      <a:pt x="0" y="131882"/>
                      <a:pt x="0" y="122238"/>
                    </a:cubicBezTo>
                    <a:lnTo>
                      <a:pt x="0" y="17463"/>
                    </a:lnTo>
                  </a:path>
                </a:pathLst>
              </a:custGeom>
              <a:noFill/>
              <a:ln w="17463">
                <a:solidFill>
                  <a:srgbClr val="FFFFFF"/>
                </a:solidFill>
              </a:ln>
            </p:spPr>
          </p:sp>
          <p:sp>
            <p:nvSpPr>
              <p:cNvPr id="37" name="Freeform 37"/>
              <p:cNvSpPr/>
              <p:nvPr/>
            </p:nvSpPr>
            <p:spPr>
              <a:xfrm>
                <a:off x="9771063" y="981075"/>
                <a:ext cx="52388" cy="34925"/>
              </a:xfrm>
              <a:custGeom>
                <a:avLst/>
                <a:gdLst/>
                <a:ahLst/>
                <a:cxnLst/>
                <a:rect l="l" t="t" r="r" b="b"/>
                <a:pathLst>
                  <a:path w="52388" h="34925">
                    <a:moveTo>
                      <a:pt x="52388" y="0"/>
                    </a:moveTo>
                    <a:lnTo>
                      <a:pt x="52388" y="34925"/>
                    </a:lnTo>
                    <a:lnTo>
                      <a:pt x="17463" y="34925"/>
                    </a:lnTo>
                    <a:cubicBezTo>
                      <a:pt x="7818" y="34925"/>
                      <a:pt x="0" y="27107"/>
                      <a:pt x="0" y="17463"/>
                    </a:cubicBezTo>
                    <a:cubicBezTo>
                      <a:pt x="0" y="7818"/>
                      <a:pt x="7818" y="0"/>
                      <a:pt x="17463" y="0"/>
                    </a:cubicBezTo>
                    <a:lnTo>
                      <a:pt x="52388" y="0"/>
                    </a:lnTo>
                  </a:path>
                </a:pathLst>
              </a:custGeom>
              <a:noFill/>
              <a:ln w="17463">
                <a:solidFill>
                  <a:srgbClr val="FFFFFF"/>
                </a:solidFill>
              </a:ln>
            </p:spPr>
          </p:sp>
        </p:grpSp>
        <p:sp>
          <p:nvSpPr>
            <p:cNvPr id="39" name="TextBox 39"/>
            <p:cNvSpPr txBox="1"/>
            <p:nvPr/>
          </p:nvSpPr>
          <p:spPr>
            <a:xfrm>
              <a:off x="10053066" y="829628"/>
              <a:ext cx="717423" cy="205359"/>
            </a:xfrm>
            <a:prstGeom prst="rect">
              <a:avLst/>
            </a:prstGeom>
            <a:noFill/>
            <a:ln>
              <a:noFill/>
            </a:ln>
          </p:spPr>
          <p:txBody>
            <a:bodyPr wrap="none" lIns="0" tIns="0" rIns="0" bIns="0" anchor="t" anchorCtr="0">
              <a:spAutoFit/>
            </a:bodyPr>
            <a:lstStyle/>
            <a:p>
              <a:pPr algn="l"/>
              <a:r>
                <a:rPr lang="zh-CN" sz="1050" b="1" dirty="0">
                  <a:solidFill>
                    <a:srgbClr val="721E0D"/>
                  </a:solidFill>
                  <a:latin typeface="+mn-lt"/>
                  <a:ea typeface="+mn-ea"/>
                  <a:cs typeface="+mn-cs"/>
                </a:rPr>
                <a:t>获客成本低</a:t>
              </a:r>
            </a:p>
          </p:txBody>
        </p:sp>
        <p:sp>
          <p:nvSpPr>
            <p:cNvPr id="40" name="TextBox 40"/>
            <p:cNvSpPr txBox="1"/>
            <p:nvPr/>
          </p:nvSpPr>
          <p:spPr>
            <a:xfrm>
              <a:off x="10053638" y="1052512"/>
              <a:ext cx="1321118"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 xml:space="preserve">边际成本低，ROI最高      </a:t>
              </a:r>
            </a:p>
          </p:txBody>
        </p:sp>
      </p:grpSp>
      <p:grpSp>
        <p:nvGrpSpPr>
          <p:cNvPr id="80" name="action-card-1"/>
          <p:cNvGrpSpPr/>
          <p:nvPr/>
        </p:nvGrpSpPr>
        <p:grpSpPr>
          <a:xfrm>
            <a:off x="228600" y="1390650"/>
            <a:ext cx="3830808" cy="3905250"/>
            <a:chOff x="228600" y="1390650"/>
            <a:chExt cx="3830808" cy="3905250"/>
          </a:xfrm>
        </p:grpSpPr>
        <p:sp>
          <p:nvSpPr>
            <p:cNvPr id="42" name="Rectangle 42"/>
            <p:cNvSpPr/>
            <p:nvPr/>
          </p:nvSpPr>
          <p:spPr>
            <a:xfrm>
              <a:off x="228600" y="1390650"/>
              <a:ext cx="3810000" cy="3905250"/>
            </a:xfrm>
            <a:prstGeom prst="roundRect">
              <a:avLst>
                <a:gd name="adj" fmla="val 2500"/>
              </a:avLst>
            </a:prstGeom>
            <a:solidFill>
              <a:srgbClr val="FFFFFF"/>
            </a:solidFill>
            <a:ln w="14288">
              <a:solidFill>
                <a:srgbClr val="C9D6EE"/>
              </a:solidFill>
            </a:ln>
          </p:spPr>
        </p:sp>
        <p:sp>
          <p:nvSpPr>
            <p:cNvPr id="43" name="Freeform 43"/>
            <p:cNvSpPr/>
            <p:nvPr/>
          </p:nvSpPr>
          <p:spPr>
            <a:xfrm>
              <a:off x="228600" y="1390650"/>
              <a:ext cx="3810000" cy="304800"/>
            </a:xfrm>
            <a:custGeom>
              <a:avLst/>
              <a:gdLst/>
              <a:ahLst/>
              <a:cxnLst/>
              <a:rect l="l" t="t" r="r" b="b"/>
              <a:pathLst>
                <a:path w="3810000" h="304800">
                  <a:moveTo>
                    <a:pt x="95250" y="0"/>
                  </a:moveTo>
                  <a:lnTo>
                    <a:pt x="3714750" y="0"/>
                  </a:lnTo>
                  <a:cubicBezTo>
                    <a:pt x="3767355" y="0"/>
                    <a:pt x="3810000" y="42645"/>
                    <a:pt x="3810000" y="95250"/>
                  </a:cubicBezTo>
                  <a:lnTo>
                    <a:pt x="3810000" y="304800"/>
                  </a:lnTo>
                  <a:lnTo>
                    <a:pt x="0" y="304800"/>
                  </a:lnTo>
                  <a:lnTo>
                    <a:pt x="0" y="95250"/>
                  </a:lnTo>
                  <a:cubicBezTo>
                    <a:pt x="0" y="42645"/>
                    <a:pt x="42645" y="0"/>
                    <a:pt x="95250" y="0"/>
                  </a:cubicBezTo>
                  <a:close/>
                </a:path>
              </a:pathLst>
            </a:custGeom>
            <a:solidFill>
              <a:srgbClr val="721E0D"/>
            </a:solidFill>
            <a:ln>
              <a:noFill/>
            </a:ln>
          </p:spPr>
        </p:sp>
        <p:sp>
          <p:nvSpPr>
            <p:cNvPr id="44" name="Rectangle 44"/>
            <p:cNvSpPr/>
            <p:nvPr/>
          </p:nvSpPr>
          <p:spPr>
            <a:xfrm>
              <a:off x="323850" y="1447800"/>
              <a:ext cx="323850" cy="190500"/>
            </a:xfrm>
            <a:prstGeom prst="roundRect">
              <a:avLst>
                <a:gd name="adj" fmla="val 20000"/>
              </a:avLst>
            </a:prstGeom>
            <a:solidFill>
              <a:srgbClr val="B8351A"/>
            </a:solidFill>
            <a:ln>
              <a:noFill/>
            </a:ln>
          </p:spPr>
        </p:sp>
        <p:sp>
          <p:nvSpPr>
            <p:cNvPr id="45" name="TextBox 45"/>
            <p:cNvSpPr txBox="1"/>
            <p:nvPr/>
          </p:nvSpPr>
          <p:spPr>
            <a:xfrm>
              <a:off x="407934" y="1489472"/>
              <a:ext cx="1556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01</a:t>
              </a:r>
            </a:p>
          </p:txBody>
        </p:sp>
        <p:sp>
          <p:nvSpPr>
            <p:cNvPr id="46" name="TextBox 46"/>
            <p:cNvSpPr txBox="1"/>
            <p:nvPr/>
          </p:nvSpPr>
          <p:spPr>
            <a:xfrm>
              <a:off x="737806" y="1481376"/>
              <a:ext cx="1913814"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动作一：存量客户增购潜力分级</a:t>
              </a:r>
            </a:p>
          </p:txBody>
        </p:sp>
        <p:sp>
          <p:nvSpPr>
            <p:cNvPr id="47" name="Rectangle 47"/>
            <p:cNvSpPr/>
            <p:nvPr/>
          </p:nvSpPr>
          <p:spPr>
            <a:xfrm>
              <a:off x="1524000" y="1771650"/>
              <a:ext cx="2438400" cy="152400"/>
            </a:xfrm>
            <a:prstGeom prst="rect">
              <a:avLst/>
            </a:prstGeom>
            <a:solidFill>
              <a:srgbClr val="EAF1FB"/>
            </a:solidFill>
            <a:ln>
              <a:noFill/>
            </a:ln>
          </p:spPr>
        </p:sp>
        <p:sp>
          <p:nvSpPr>
            <p:cNvPr id="48" name="TextBox 48"/>
            <p:cNvSpPr txBox="1"/>
            <p:nvPr/>
          </p:nvSpPr>
          <p:spPr>
            <a:xfrm>
              <a:off x="823481" y="1817132"/>
              <a:ext cx="181839" cy="126206"/>
            </a:xfrm>
            <a:prstGeom prst="rect">
              <a:avLst/>
            </a:prstGeom>
            <a:noFill/>
            <a:ln>
              <a:noFill/>
            </a:ln>
          </p:spPr>
          <p:txBody>
            <a:bodyPr wrap="none" lIns="0" tIns="0" rIns="0" bIns="0" anchor="t" anchorCtr="0">
              <a:spAutoFit/>
            </a:bodyPr>
            <a:lstStyle/>
            <a:p>
              <a:pPr algn="ctr"/>
              <a:r>
                <a:rPr lang="zh-CN" sz="640" b="1" dirty="0">
                  <a:solidFill>
                    <a:srgbClr val="721E0D"/>
                  </a:solidFill>
                  <a:latin typeface="+mn-lt"/>
                  <a:ea typeface="+mn-ea"/>
                  <a:cs typeface="+mn-cs"/>
                </a:rPr>
                <a:t>分级</a:t>
              </a:r>
            </a:p>
          </p:txBody>
        </p:sp>
        <p:sp>
          <p:nvSpPr>
            <p:cNvPr id="49" name="TextBox 49"/>
            <p:cNvSpPr txBox="1"/>
            <p:nvPr/>
          </p:nvSpPr>
          <p:spPr>
            <a:xfrm>
              <a:off x="2168344" y="1817132"/>
              <a:ext cx="997313" cy="126206"/>
            </a:xfrm>
            <a:prstGeom prst="rect">
              <a:avLst/>
            </a:prstGeom>
            <a:noFill/>
            <a:ln>
              <a:noFill/>
            </a:ln>
          </p:spPr>
          <p:txBody>
            <a:bodyPr wrap="none" lIns="0" tIns="0" rIns="0" bIns="0" anchor="t" anchorCtr="0">
              <a:spAutoFit/>
            </a:bodyPr>
            <a:lstStyle/>
            <a:p>
              <a:pPr algn="ctr"/>
              <a:r>
                <a:rPr lang="zh-CN" sz="640" b="1" dirty="0">
                  <a:solidFill>
                    <a:srgbClr val="721E0D"/>
                  </a:solidFill>
                  <a:latin typeface="+mn-lt"/>
                  <a:ea typeface="+mn-ea"/>
                  <a:cs typeface="+mn-cs"/>
                </a:rPr>
                <a:t xml:space="preserve">   判定标准（示例）   </a:t>
              </a:r>
            </a:p>
          </p:txBody>
        </p:sp>
        <p:sp>
          <p:nvSpPr>
            <p:cNvPr id="50" name="TextBox 50"/>
            <p:cNvSpPr txBox="1"/>
            <p:nvPr/>
          </p:nvSpPr>
          <p:spPr>
            <a:xfrm>
              <a:off x="3357131" y="1817132"/>
              <a:ext cx="181839" cy="126206"/>
            </a:xfrm>
            <a:prstGeom prst="rect">
              <a:avLst/>
            </a:prstGeom>
            <a:noFill/>
            <a:ln>
              <a:noFill/>
            </a:ln>
          </p:spPr>
          <p:txBody>
            <a:bodyPr wrap="none" lIns="0" tIns="0" rIns="0" bIns="0" anchor="t" anchorCtr="0">
              <a:spAutoFit/>
            </a:bodyPr>
            <a:lstStyle/>
            <a:p>
              <a:pPr algn="ctr"/>
              <a:r>
                <a:rPr lang="zh-CN" sz="640" b="1" dirty="0">
                  <a:solidFill>
                    <a:srgbClr val="721E0D"/>
                  </a:solidFill>
                  <a:latin typeface="+mn-lt"/>
                  <a:ea typeface="+mn-ea"/>
                  <a:cs typeface="+mn-cs"/>
                </a:rPr>
                <a:t>策略</a:t>
              </a:r>
            </a:p>
          </p:txBody>
        </p:sp>
        <p:sp>
          <p:nvSpPr>
            <p:cNvPr id="51" name="TextBox 51"/>
            <p:cNvSpPr txBox="1"/>
            <p:nvPr/>
          </p:nvSpPr>
          <p:spPr>
            <a:xfrm>
              <a:off x="3738131" y="1817132"/>
              <a:ext cx="181839" cy="126206"/>
            </a:xfrm>
            <a:prstGeom prst="rect">
              <a:avLst/>
            </a:prstGeom>
            <a:noFill/>
            <a:ln>
              <a:noFill/>
            </a:ln>
          </p:spPr>
          <p:txBody>
            <a:bodyPr wrap="none" lIns="0" tIns="0" rIns="0" bIns="0" anchor="t" anchorCtr="0">
              <a:spAutoFit/>
            </a:bodyPr>
            <a:lstStyle/>
            <a:p>
              <a:pPr algn="ctr"/>
              <a:r>
                <a:rPr lang="zh-CN" sz="640" b="1" dirty="0">
                  <a:solidFill>
                    <a:srgbClr val="721E0D"/>
                  </a:solidFill>
                  <a:latin typeface="+mn-lt"/>
                  <a:ea typeface="+mn-ea"/>
                  <a:cs typeface="+mn-cs"/>
                </a:rPr>
                <a:t>占比</a:t>
              </a:r>
            </a:p>
          </p:txBody>
        </p:sp>
        <p:sp>
          <p:nvSpPr>
            <p:cNvPr id="52" name="Freeform 52"/>
            <p:cNvSpPr/>
            <p:nvPr/>
          </p:nvSpPr>
          <p:spPr>
            <a:xfrm>
              <a:off x="771525" y="1905000"/>
              <a:ext cx="285750" cy="552450"/>
            </a:xfrm>
            <a:prstGeom prst="triangle">
              <a:avLst/>
            </a:prstGeom>
            <a:solidFill>
              <a:srgbClr val="C03616"/>
            </a:solidFill>
            <a:ln>
              <a:noFill/>
            </a:ln>
          </p:spPr>
        </p:sp>
        <p:sp>
          <p:nvSpPr>
            <p:cNvPr id="53" name="Freeform 53"/>
            <p:cNvSpPr/>
            <p:nvPr/>
          </p:nvSpPr>
          <p:spPr>
            <a:xfrm>
              <a:off x="628650" y="2457450"/>
              <a:ext cx="571500" cy="552450"/>
            </a:xfrm>
            <a:prstGeom prst="trapezoid">
              <a:avLst>
                <a:gd name="adj" fmla="val 25900"/>
              </a:avLst>
            </a:prstGeom>
            <a:solidFill>
              <a:srgbClr val="B8351A"/>
            </a:solidFill>
            <a:ln>
              <a:noFill/>
            </a:ln>
          </p:spPr>
        </p:sp>
        <p:sp>
          <p:nvSpPr>
            <p:cNvPr id="54" name="Freeform 54"/>
            <p:cNvSpPr/>
            <p:nvPr/>
          </p:nvSpPr>
          <p:spPr>
            <a:xfrm>
              <a:off x="485775" y="3009900"/>
              <a:ext cx="857250" cy="552450"/>
            </a:xfrm>
            <a:prstGeom prst="trapezoid">
              <a:avLst>
                <a:gd name="adj" fmla="val 25900"/>
              </a:avLst>
            </a:prstGeom>
            <a:solidFill>
              <a:srgbClr val="D6664F"/>
            </a:solidFill>
            <a:ln>
              <a:noFill/>
            </a:ln>
          </p:spPr>
        </p:sp>
        <p:sp>
          <p:nvSpPr>
            <p:cNvPr id="55" name="Freeform 55"/>
            <p:cNvSpPr/>
            <p:nvPr/>
          </p:nvSpPr>
          <p:spPr>
            <a:xfrm>
              <a:off x="342900" y="3562350"/>
              <a:ext cx="1143000" cy="552450"/>
            </a:xfrm>
            <a:prstGeom prst="trapezoid">
              <a:avLst>
                <a:gd name="adj" fmla="val 25900"/>
              </a:avLst>
            </a:prstGeom>
            <a:solidFill>
              <a:srgbClr val="E89E8F"/>
            </a:solidFill>
            <a:ln>
              <a:noFill/>
            </a:ln>
          </p:spPr>
        </p:sp>
        <p:sp>
          <p:nvSpPr>
            <p:cNvPr id="56" name="TextBox 56"/>
            <p:cNvSpPr txBox="1"/>
            <p:nvPr/>
          </p:nvSpPr>
          <p:spPr>
            <a:xfrm>
              <a:off x="869197" y="2247424"/>
              <a:ext cx="904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S</a:t>
              </a:r>
            </a:p>
          </p:txBody>
        </p:sp>
        <p:sp>
          <p:nvSpPr>
            <p:cNvPr id="57" name="TextBox 57"/>
            <p:cNvSpPr txBox="1"/>
            <p:nvPr/>
          </p:nvSpPr>
          <p:spPr>
            <a:xfrm>
              <a:off x="1538288" y="2154555"/>
              <a:ext cx="413385" cy="119062"/>
            </a:xfrm>
            <a:prstGeom prst="rect">
              <a:avLst/>
            </a:prstGeom>
            <a:noFill/>
            <a:ln>
              <a:noFill/>
            </a:ln>
          </p:spPr>
          <p:txBody>
            <a:bodyPr wrap="none" lIns="0" tIns="0" rIns="0" bIns="0" anchor="t" anchorCtr="0">
              <a:spAutoFit/>
            </a:bodyPr>
            <a:lstStyle/>
            <a:p>
              <a:pPr algn="l"/>
              <a:r>
                <a:rPr lang="zh-CN" sz="600" b="1" dirty="0">
                  <a:solidFill>
                    <a:srgbClr val="C03616"/>
                  </a:solidFill>
                  <a:latin typeface="+mn-lt"/>
                  <a:ea typeface="+mn-ea"/>
                  <a:cs typeface="+mn-cs"/>
                </a:rPr>
                <a:t>高潜高价值</a:t>
              </a:r>
            </a:p>
          </p:txBody>
        </p:sp>
        <p:sp>
          <p:nvSpPr>
            <p:cNvPr id="58" name="TextBox 58"/>
            <p:cNvSpPr txBox="1"/>
            <p:nvPr/>
          </p:nvSpPr>
          <p:spPr>
            <a:xfrm>
              <a:off x="2166938" y="1977628"/>
              <a:ext cx="1284097" cy="454819"/>
            </a:xfrm>
            <a:prstGeom prst="rect">
              <a:avLst/>
            </a:prstGeom>
            <a:noFill/>
            <a:ln>
              <a:noFill/>
            </a:ln>
          </p:spPr>
          <p:txBody>
            <a:bodyPr wrap="none" lIns="0" tIns="0" rIns="0" bIns="0" anchor="t" anchorCtr="0">
              <a:spAutoFit/>
            </a:bodyPr>
            <a:lstStyle/>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年度消费≥500万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合作≥2年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产品渗透率≥60%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近半年项目有扩张/新需求信号      </a:t>
              </a:r>
            </a:p>
          </p:txBody>
        </p:sp>
        <p:sp>
          <p:nvSpPr>
            <p:cNvPr id="59" name="TextBox 59"/>
            <p:cNvSpPr txBox="1"/>
            <p:nvPr/>
          </p:nvSpPr>
          <p:spPr>
            <a:xfrm>
              <a:off x="3252788" y="2116455"/>
              <a:ext cx="390525" cy="223838"/>
            </a:xfrm>
            <a:prstGeom prst="rect">
              <a:avLst/>
            </a:prstGeom>
            <a:noFill/>
            <a:ln>
              <a:noFill/>
            </a:ln>
          </p:spPr>
          <p:txBody>
            <a:bodyPr wrap="none" lIns="0" tIns="0" rIns="0" bIns="0" anchor="t" anchorCtr="0">
              <a:spAutoFit/>
            </a:bodyPr>
            <a:lstStyle/>
            <a:p>
              <a:pPr algn="ctr">
                <a:lnSpc>
                  <a:spcPts val="825"/>
                </a:lnSpc>
              </a:pPr>
              <a:r>
                <a:rPr lang="zh-CN" sz="600" b="1" dirty="0">
                  <a:solidFill>
                    <a:srgbClr val="C03616"/>
                  </a:solidFill>
                  <a:latin typeface="+mn-lt"/>
                  <a:ea typeface="+mn-ea"/>
                  <a:cs typeface="+mn-cs"/>
                </a:rPr>
                <a:t>重点经营</a:t>
              </a:r>
              <a:br/>
              <a:r>
                <a:rPr lang="zh-CN" sz="600" b="1" dirty="0">
                  <a:solidFill>
                    <a:srgbClr val="C03616"/>
                  </a:solidFill>
                  <a:latin typeface="+mn-lt"/>
                  <a:ea typeface="+mn-ea"/>
                  <a:cs typeface="+mn-cs"/>
                </a:rPr>
                <a:t>一对一深耕</a:t>
              </a:r>
            </a:p>
          </p:txBody>
        </p:sp>
        <p:sp>
          <p:nvSpPr>
            <p:cNvPr id="60" name="TextBox 60"/>
            <p:cNvSpPr txBox="1"/>
            <p:nvPr/>
          </p:nvSpPr>
          <p:spPr>
            <a:xfrm>
              <a:off x="3598691" y="2149078"/>
              <a:ext cx="460717"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 xml:space="preserve">  10~15%  </a:t>
              </a:r>
            </a:p>
          </p:txBody>
        </p:sp>
        <p:sp>
          <p:nvSpPr>
            <p:cNvPr id="61" name="TextBox 61"/>
            <p:cNvSpPr txBox="1"/>
            <p:nvPr/>
          </p:nvSpPr>
          <p:spPr>
            <a:xfrm>
              <a:off x="859018" y="2680335"/>
              <a:ext cx="11076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A</a:t>
              </a:r>
            </a:p>
          </p:txBody>
        </p:sp>
        <p:sp>
          <p:nvSpPr>
            <p:cNvPr id="62" name="TextBox 62"/>
            <p:cNvSpPr txBox="1"/>
            <p:nvPr/>
          </p:nvSpPr>
          <p:spPr>
            <a:xfrm>
              <a:off x="1538288" y="2707005"/>
              <a:ext cx="413385" cy="119062"/>
            </a:xfrm>
            <a:prstGeom prst="rect">
              <a:avLst/>
            </a:prstGeom>
            <a:noFill/>
            <a:ln>
              <a:noFill/>
            </a:ln>
          </p:spPr>
          <p:txBody>
            <a:bodyPr wrap="none" lIns="0" tIns="0" rIns="0" bIns="0" anchor="t" anchorCtr="0">
              <a:spAutoFit/>
            </a:bodyPr>
            <a:lstStyle/>
            <a:p>
              <a:pPr algn="l"/>
              <a:r>
                <a:rPr lang="zh-CN" sz="600" b="1" dirty="0">
                  <a:solidFill>
                    <a:srgbClr val="B8351A"/>
                  </a:solidFill>
                  <a:latin typeface="+mn-lt"/>
                  <a:ea typeface="+mn-ea"/>
                  <a:cs typeface="+mn-cs"/>
                </a:rPr>
                <a:t>高潜中价值</a:t>
              </a:r>
            </a:p>
          </p:txBody>
        </p:sp>
        <p:sp>
          <p:nvSpPr>
            <p:cNvPr id="63" name="TextBox 63"/>
            <p:cNvSpPr txBox="1"/>
            <p:nvPr/>
          </p:nvSpPr>
          <p:spPr>
            <a:xfrm>
              <a:off x="2166938" y="2530078"/>
              <a:ext cx="978281" cy="454819"/>
            </a:xfrm>
            <a:prstGeom prst="rect">
              <a:avLst/>
            </a:prstGeom>
            <a:noFill/>
            <a:ln>
              <a:noFill/>
            </a:ln>
          </p:spPr>
          <p:txBody>
            <a:bodyPr wrap="none" lIns="0" tIns="0" rIns="0" bIns="0" anchor="t" anchorCtr="0">
              <a:spAutoFit/>
            </a:bodyPr>
            <a:lstStyle/>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年度消费200~500万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合作≥1年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产品渗透率30%~60%      </a:t>
              </a:r>
            </a:p>
            <a:p>
              <a:pPr algn="l" marL="76200" indent="-76200">
                <a:lnSpc>
                  <a:spcPts val="900"/>
                </a:lnSpc>
                <a:buClr>
                  <a:srgbClr val="523E3A"/>
                </a:buClr>
                <a:buSzTx/>
                <a:buFontTx/>
                <a:buChar char="•"/>
              </a:pPr>
              <a:r>
                <a:rPr lang="zh-CN" sz="560" dirty="0">
                  <a:solidFill>
                    <a:srgbClr val="523E3A"/>
                  </a:solidFill>
                  <a:latin typeface="+mn-lt"/>
                  <a:ea typeface="+mn-ea"/>
                  <a:cs typeface="+mn-cs"/>
                </a:rPr>
                <a:t>有明确业务场景可延伸</a:t>
              </a:r>
            </a:p>
          </p:txBody>
        </p:sp>
        <p:sp>
          <p:nvSpPr>
            <p:cNvPr id="64" name="TextBox 64"/>
            <p:cNvSpPr txBox="1"/>
            <p:nvPr/>
          </p:nvSpPr>
          <p:spPr>
            <a:xfrm>
              <a:off x="3252788" y="2668905"/>
              <a:ext cx="390525" cy="223838"/>
            </a:xfrm>
            <a:prstGeom prst="rect">
              <a:avLst/>
            </a:prstGeom>
            <a:noFill/>
            <a:ln>
              <a:noFill/>
            </a:ln>
          </p:spPr>
          <p:txBody>
            <a:bodyPr wrap="none" lIns="0" tIns="0" rIns="0" bIns="0" anchor="t" anchorCtr="0">
              <a:spAutoFit/>
            </a:bodyPr>
            <a:lstStyle/>
            <a:p>
              <a:pPr algn="ctr">
                <a:lnSpc>
                  <a:spcPts val="825"/>
                </a:lnSpc>
              </a:pPr>
              <a:r>
                <a:rPr lang="zh-CN" sz="600" b="1" dirty="0">
                  <a:solidFill>
                    <a:srgbClr val="B8351A"/>
                  </a:solidFill>
                  <a:latin typeface="+mn-lt"/>
                  <a:ea typeface="+mn-ea"/>
                  <a:cs typeface="+mn-cs"/>
                </a:rPr>
                <a:t>重点培育</a:t>
              </a:r>
              <a:br/>
              <a:r>
                <a:rPr lang="zh-CN" sz="600" b="1" dirty="0">
                  <a:solidFill>
                    <a:srgbClr val="B8351A"/>
                  </a:solidFill>
                  <a:latin typeface="+mn-lt"/>
                  <a:ea typeface="+mn-ea"/>
                  <a:cs typeface="+mn-cs"/>
                </a:rPr>
                <a:t>场景化方案</a:t>
              </a:r>
            </a:p>
          </p:txBody>
        </p:sp>
        <p:sp>
          <p:nvSpPr>
            <p:cNvPr id="65" name="TextBox 65"/>
            <p:cNvSpPr txBox="1"/>
            <p:nvPr/>
          </p:nvSpPr>
          <p:spPr>
            <a:xfrm>
              <a:off x="3598691" y="2701528"/>
              <a:ext cx="460717"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 xml:space="preserve">  20~25%  </a:t>
              </a:r>
            </a:p>
          </p:txBody>
        </p:sp>
        <p:sp>
          <p:nvSpPr>
            <p:cNvPr id="66" name="TextBox 66"/>
            <p:cNvSpPr txBox="1"/>
            <p:nvPr/>
          </p:nvSpPr>
          <p:spPr>
            <a:xfrm>
              <a:off x="859018" y="3232785"/>
              <a:ext cx="11076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B</a:t>
              </a:r>
            </a:p>
          </p:txBody>
        </p:sp>
        <p:sp>
          <p:nvSpPr>
            <p:cNvPr id="67" name="TextBox 67"/>
            <p:cNvSpPr txBox="1"/>
            <p:nvPr/>
          </p:nvSpPr>
          <p:spPr>
            <a:xfrm>
              <a:off x="1538288" y="3259455"/>
              <a:ext cx="171069" cy="119062"/>
            </a:xfrm>
            <a:prstGeom prst="rect">
              <a:avLst/>
            </a:prstGeom>
            <a:noFill/>
            <a:ln>
              <a:noFill/>
            </a:ln>
          </p:spPr>
          <p:txBody>
            <a:bodyPr wrap="none" lIns="0" tIns="0" rIns="0" bIns="0" anchor="t" anchorCtr="0">
              <a:spAutoFit/>
            </a:bodyPr>
            <a:lstStyle/>
            <a:p>
              <a:pPr algn="l"/>
              <a:r>
                <a:rPr lang="zh-CN" sz="600" b="1" dirty="0">
                  <a:solidFill>
                    <a:srgbClr val="D6664F"/>
                  </a:solidFill>
                  <a:latin typeface="+mn-lt"/>
                  <a:ea typeface="+mn-ea"/>
                  <a:cs typeface="+mn-cs"/>
                </a:rPr>
                <a:t>中潜</a:t>
              </a:r>
            </a:p>
          </p:txBody>
        </p:sp>
        <p:sp>
          <p:nvSpPr>
            <p:cNvPr id="68" name="TextBox 68"/>
            <p:cNvSpPr txBox="1"/>
            <p:nvPr/>
          </p:nvSpPr>
          <p:spPr>
            <a:xfrm>
              <a:off x="2166938" y="3139678"/>
              <a:ext cx="910717" cy="340519"/>
            </a:xfrm>
            <a:prstGeom prst="rect">
              <a:avLst/>
            </a:prstGeom>
            <a:noFill/>
            <a:ln>
              <a:noFill/>
            </a:ln>
          </p:spPr>
          <p:txBody>
            <a:bodyPr wrap="none" lIns="0" tIns="0" rIns="0" bIns="0" anchor="t" anchorCtr="0">
              <a:spAutoFit/>
            </a:bodyPr>
            <a:lstStyle/>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年度消费50~200万      </a:t>
              </a:r>
            </a:p>
            <a:p>
              <a:pPr algn="l" marL="76200" indent="-76200">
                <a:lnSpc>
                  <a:spcPts val="900"/>
                </a:lnSpc>
                <a:buClr>
                  <a:srgbClr val="523E3A"/>
                </a:buClr>
                <a:buSzTx/>
                <a:buFontTx/>
                <a:buChar char="•"/>
              </a:pPr>
              <a:r>
                <a:rPr lang="zh-CN" sz="560" dirty="0">
                  <a:solidFill>
                    <a:srgbClr val="523E3A"/>
                  </a:solidFill>
                  <a:latin typeface="+mn-lt"/>
                  <a:ea typeface="+mn-ea"/>
                  <a:cs typeface="+mn-cs"/>
                </a:rPr>
                <a:t>单一产品为主</a:t>
              </a:r>
            </a:p>
            <a:p>
              <a:pPr algn="l" marL="76200" indent="-76200">
                <a:lnSpc>
                  <a:spcPts val="900"/>
                </a:lnSpc>
                <a:buClr>
                  <a:srgbClr val="523E3A"/>
                </a:buClr>
                <a:buSzTx/>
                <a:buFontTx/>
                <a:buChar char="•"/>
              </a:pPr>
              <a:r>
                <a:rPr lang="zh-CN" sz="560" dirty="0">
                  <a:solidFill>
                    <a:srgbClr val="523E3A"/>
                  </a:solidFill>
                  <a:latin typeface="+mn-lt"/>
                  <a:ea typeface="+mn-ea"/>
                  <a:cs typeface="+mn-cs"/>
                </a:rPr>
                <a:t>有增购可能但需求不明确</a:t>
              </a:r>
            </a:p>
          </p:txBody>
        </p:sp>
        <p:sp>
          <p:nvSpPr>
            <p:cNvPr id="69" name="TextBox 69"/>
            <p:cNvSpPr txBox="1"/>
            <p:nvPr/>
          </p:nvSpPr>
          <p:spPr>
            <a:xfrm>
              <a:off x="3290888" y="3221355"/>
              <a:ext cx="314325" cy="223838"/>
            </a:xfrm>
            <a:prstGeom prst="rect">
              <a:avLst/>
            </a:prstGeom>
            <a:noFill/>
            <a:ln>
              <a:noFill/>
            </a:ln>
          </p:spPr>
          <p:txBody>
            <a:bodyPr wrap="none" lIns="0" tIns="0" rIns="0" bIns="0" anchor="t" anchorCtr="0">
              <a:spAutoFit/>
            </a:bodyPr>
            <a:lstStyle/>
            <a:p>
              <a:pPr algn="ctr">
                <a:lnSpc>
                  <a:spcPts val="825"/>
                </a:lnSpc>
              </a:pPr>
              <a:r>
                <a:rPr lang="zh-CN" sz="600" b="1" dirty="0">
                  <a:solidFill>
                    <a:srgbClr val="D6664F"/>
                  </a:solidFill>
                  <a:latin typeface="+mn-lt"/>
                  <a:ea typeface="+mn-ea"/>
                  <a:cs typeface="+mn-cs"/>
                </a:rPr>
                <a:t>持续触达</a:t>
              </a:r>
              <a:br/>
              <a:r>
                <a:rPr lang="zh-CN" sz="600" b="1" dirty="0">
                  <a:solidFill>
                    <a:srgbClr val="D6664F"/>
                  </a:solidFill>
                  <a:latin typeface="+mn-lt"/>
                  <a:ea typeface="+mn-ea"/>
                  <a:cs typeface="+mn-cs"/>
                </a:rPr>
                <a:t>需求引导</a:t>
              </a:r>
            </a:p>
          </p:txBody>
        </p:sp>
        <p:sp>
          <p:nvSpPr>
            <p:cNvPr id="70" name="TextBox 70"/>
            <p:cNvSpPr txBox="1"/>
            <p:nvPr/>
          </p:nvSpPr>
          <p:spPr>
            <a:xfrm>
              <a:off x="3598691" y="3253978"/>
              <a:ext cx="460717"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 xml:space="preserve">  40~45%  </a:t>
              </a:r>
            </a:p>
          </p:txBody>
        </p:sp>
        <p:sp>
          <p:nvSpPr>
            <p:cNvPr id="71" name="TextBox 71"/>
            <p:cNvSpPr txBox="1"/>
            <p:nvPr/>
          </p:nvSpPr>
          <p:spPr>
            <a:xfrm>
              <a:off x="859018" y="3785235"/>
              <a:ext cx="11076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C</a:t>
              </a:r>
            </a:p>
          </p:txBody>
        </p:sp>
        <p:sp>
          <p:nvSpPr>
            <p:cNvPr id="72" name="TextBox 72"/>
            <p:cNvSpPr txBox="1"/>
            <p:nvPr/>
          </p:nvSpPr>
          <p:spPr>
            <a:xfrm>
              <a:off x="1538288" y="3811905"/>
              <a:ext cx="171069" cy="119062"/>
            </a:xfrm>
            <a:prstGeom prst="rect">
              <a:avLst/>
            </a:prstGeom>
            <a:noFill/>
            <a:ln>
              <a:noFill/>
            </a:ln>
          </p:spPr>
          <p:txBody>
            <a:bodyPr wrap="none" lIns="0" tIns="0" rIns="0" bIns="0" anchor="t" anchorCtr="0">
              <a:spAutoFit/>
            </a:bodyPr>
            <a:lstStyle/>
            <a:p>
              <a:pPr algn="l"/>
              <a:r>
                <a:rPr lang="zh-CN" sz="600" b="1" dirty="0">
                  <a:solidFill>
                    <a:srgbClr val="E89E8F"/>
                  </a:solidFill>
                  <a:latin typeface="+mn-lt"/>
                  <a:ea typeface="+mn-ea"/>
                  <a:cs typeface="+mn-cs"/>
                </a:rPr>
                <a:t>低潜</a:t>
              </a:r>
            </a:p>
          </p:txBody>
        </p:sp>
        <p:sp>
          <p:nvSpPr>
            <p:cNvPr id="73" name="TextBox 73"/>
            <p:cNvSpPr txBox="1"/>
            <p:nvPr/>
          </p:nvSpPr>
          <p:spPr>
            <a:xfrm>
              <a:off x="2166938" y="3692128"/>
              <a:ext cx="939165" cy="340519"/>
            </a:xfrm>
            <a:prstGeom prst="rect">
              <a:avLst/>
            </a:prstGeom>
            <a:noFill/>
            <a:ln>
              <a:noFill/>
            </a:ln>
          </p:spPr>
          <p:txBody>
            <a:bodyPr wrap="none" lIns="0" tIns="0" rIns="0" bIns="0" anchor="t" anchorCtr="0">
              <a:spAutoFit/>
            </a:bodyPr>
            <a:lstStyle/>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年度消费&lt;50万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合作时间短/不稳定      </a:t>
              </a:r>
            </a:p>
            <a:p>
              <a:pPr algn="l" marL="76200" indent="-76200">
                <a:lnSpc>
                  <a:spcPts val="900"/>
                </a:lnSpc>
                <a:buClr>
                  <a:srgbClr val="523E3A"/>
                </a:buClr>
                <a:buSzTx/>
                <a:buFontTx/>
                <a:buChar char="•"/>
              </a:pPr>
              <a:r>
                <a:rPr lang="zh-CN" sz="560" dirty="0">
                  <a:solidFill>
                    <a:srgbClr val="523E3A"/>
                  </a:solidFill>
                  <a:latin typeface="+mn-lt"/>
                  <a:ea typeface="+mn-ea"/>
                  <a:cs typeface="+mn-cs"/>
                </a:rPr>
                <a:t>需求不明确或暂无扩展计划</a:t>
              </a:r>
            </a:p>
          </p:txBody>
        </p:sp>
        <p:sp>
          <p:nvSpPr>
            <p:cNvPr id="74" name="TextBox 74"/>
            <p:cNvSpPr txBox="1"/>
            <p:nvPr/>
          </p:nvSpPr>
          <p:spPr>
            <a:xfrm>
              <a:off x="3252788" y="3773805"/>
              <a:ext cx="390525" cy="223838"/>
            </a:xfrm>
            <a:prstGeom prst="rect">
              <a:avLst/>
            </a:prstGeom>
            <a:noFill/>
            <a:ln>
              <a:noFill/>
            </a:ln>
          </p:spPr>
          <p:txBody>
            <a:bodyPr wrap="none" lIns="0" tIns="0" rIns="0" bIns="0" anchor="t" anchorCtr="0">
              <a:spAutoFit/>
            </a:bodyPr>
            <a:lstStyle/>
            <a:p>
              <a:pPr algn="ctr">
                <a:lnSpc>
                  <a:spcPts val="825"/>
                </a:lnSpc>
              </a:pPr>
              <a:r>
                <a:rPr lang="zh-CN" sz="600" b="1" dirty="0">
                  <a:solidFill>
                    <a:srgbClr val="E89E8F"/>
                  </a:solidFill>
                  <a:latin typeface="+mn-lt"/>
                  <a:ea typeface="+mn-ea"/>
                  <a:cs typeface="+mn-cs"/>
                </a:rPr>
                <a:t>低成本维护</a:t>
              </a:r>
              <a:br/>
              <a:r>
                <a:rPr lang="zh-CN" sz="600" b="1" dirty="0">
                  <a:solidFill>
                    <a:srgbClr val="E89E8F"/>
                  </a:solidFill>
                  <a:latin typeface="+mn-lt"/>
                  <a:ea typeface="+mn-ea"/>
                  <a:cs typeface="+mn-cs"/>
                </a:rPr>
                <a:t>自动化触达</a:t>
              </a:r>
            </a:p>
          </p:txBody>
        </p:sp>
        <p:sp>
          <p:nvSpPr>
            <p:cNvPr id="75" name="TextBox 75"/>
            <p:cNvSpPr txBox="1"/>
            <p:nvPr/>
          </p:nvSpPr>
          <p:spPr>
            <a:xfrm>
              <a:off x="3598691" y="3806428"/>
              <a:ext cx="460717"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 xml:space="preserve">  15~20%  </a:t>
              </a:r>
            </a:p>
          </p:txBody>
        </p:sp>
        <p:sp>
          <p:nvSpPr>
            <p:cNvPr id="76" name="Line 76"/>
            <p:cNvSpPr/>
            <p:nvPr/>
          </p:nvSpPr>
          <p:spPr>
            <a:xfrm>
              <a:off x="1524000" y="2457450"/>
              <a:ext cx="2438400" cy="9525"/>
            </a:xfrm>
            <a:custGeom>
              <a:avLst/>
              <a:gdLst/>
              <a:ahLst/>
              <a:cxnLst/>
              <a:rect l="l" t="t" r="r" b="b"/>
              <a:pathLst>
                <a:path w="2438400" h="9525">
                  <a:moveTo>
                    <a:pt x="0" y="0"/>
                  </a:moveTo>
                  <a:lnTo>
                    <a:pt x="2438400" y="0"/>
                  </a:lnTo>
                </a:path>
              </a:pathLst>
            </a:custGeom>
            <a:noFill/>
            <a:ln w="9525">
              <a:solidFill>
                <a:srgbClr val="E6EAF2"/>
              </a:solidFill>
            </a:ln>
          </p:spPr>
        </p:sp>
        <p:sp>
          <p:nvSpPr>
            <p:cNvPr id="77" name="Line 77"/>
            <p:cNvSpPr/>
            <p:nvPr/>
          </p:nvSpPr>
          <p:spPr>
            <a:xfrm>
              <a:off x="1524000" y="3009900"/>
              <a:ext cx="2438400" cy="9525"/>
            </a:xfrm>
            <a:custGeom>
              <a:avLst/>
              <a:gdLst/>
              <a:ahLst/>
              <a:cxnLst/>
              <a:rect l="l" t="t" r="r" b="b"/>
              <a:pathLst>
                <a:path w="2438400" h="9525">
                  <a:moveTo>
                    <a:pt x="0" y="0"/>
                  </a:moveTo>
                  <a:lnTo>
                    <a:pt x="2438400" y="0"/>
                  </a:lnTo>
                </a:path>
              </a:pathLst>
            </a:custGeom>
            <a:noFill/>
            <a:ln w="9525">
              <a:solidFill>
                <a:srgbClr val="E6EAF2"/>
              </a:solidFill>
            </a:ln>
          </p:spPr>
        </p:sp>
        <p:sp>
          <p:nvSpPr>
            <p:cNvPr id="78" name="Line 78"/>
            <p:cNvSpPr/>
            <p:nvPr/>
          </p:nvSpPr>
          <p:spPr>
            <a:xfrm>
              <a:off x="1524000" y="3562350"/>
              <a:ext cx="2438400" cy="9525"/>
            </a:xfrm>
            <a:custGeom>
              <a:avLst/>
              <a:gdLst/>
              <a:ahLst/>
              <a:cxnLst/>
              <a:rect l="l" t="t" r="r" b="b"/>
              <a:pathLst>
                <a:path w="2438400" h="9525">
                  <a:moveTo>
                    <a:pt x="0" y="0"/>
                  </a:moveTo>
                  <a:lnTo>
                    <a:pt x="2438400" y="0"/>
                  </a:lnTo>
                </a:path>
              </a:pathLst>
            </a:custGeom>
            <a:noFill/>
            <a:ln w="9525">
              <a:solidFill>
                <a:srgbClr val="E6EAF2"/>
              </a:solidFill>
            </a:ln>
          </p:spPr>
        </p:sp>
        <p:sp>
          <p:nvSpPr>
            <p:cNvPr id="79" name="TextBox 79"/>
            <p:cNvSpPr txBox="1"/>
            <p:nvPr/>
          </p:nvSpPr>
          <p:spPr>
            <a:xfrm>
              <a:off x="338138" y="4274582"/>
              <a:ext cx="2530018" cy="126206"/>
            </a:xfrm>
            <a:prstGeom prst="rect">
              <a:avLst/>
            </a:prstGeom>
            <a:noFill/>
            <a:ln>
              <a:noFill/>
            </a:ln>
          </p:spPr>
          <p:txBody>
            <a:bodyPr wrap="none" lIns="0" tIns="0" rIns="0" bIns="0" anchor="t" anchorCtr="0">
              <a:spAutoFit/>
            </a:bodyPr>
            <a:lstStyle/>
            <a:p>
              <a:pPr algn="l"/>
              <a:r>
                <a:rPr lang="zh-CN" sz="640" dirty="0">
                  <a:solidFill>
                    <a:srgbClr val="6E7686"/>
                  </a:solidFill>
                  <a:latin typeface="+mn-lt"/>
                  <a:ea typeface="+mn-ea"/>
                  <a:cs typeface="+mn-cs"/>
                </a:rPr>
                <a:t xml:space="preserve">注：分级每季度动态更新，结合RFM与业务信号综合评估。      </a:t>
              </a:r>
            </a:p>
          </p:txBody>
        </p:sp>
      </p:grpSp>
      <p:grpSp>
        <p:nvGrpSpPr>
          <p:cNvPr id="111" name="action-card-2"/>
          <p:cNvGrpSpPr/>
          <p:nvPr/>
        </p:nvGrpSpPr>
        <p:grpSpPr>
          <a:xfrm>
            <a:off x="4191000" y="1390650"/>
            <a:ext cx="3860483" cy="3905250"/>
            <a:chOff x="4191000" y="1390650"/>
            <a:chExt cx="3860483" cy="3905250"/>
          </a:xfrm>
        </p:grpSpPr>
        <p:sp>
          <p:nvSpPr>
            <p:cNvPr id="81" name="Rectangle 81"/>
            <p:cNvSpPr/>
            <p:nvPr/>
          </p:nvSpPr>
          <p:spPr>
            <a:xfrm>
              <a:off x="4191000" y="1390650"/>
              <a:ext cx="3810000" cy="3905250"/>
            </a:xfrm>
            <a:prstGeom prst="roundRect">
              <a:avLst>
                <a:gd name="adj" fmla="val 2500"/>
              </a:avLst>
            </a:prstGeom>
            <a:solidFill>
              <a:srgbClr val="FFFFFF"/>
            </a:solidFill>
            <a:ln w="14288">
              <a:solidFill>
                <a:srgbClr val="C9D6EE"/>
              </a:solidFill>
            </a:ln>
          </p:spPr>
        </p:sp>
        <p:sp>
          <p:nvSpPr>
            <p:cNvPr id="82" name="Freeform 82"/>
            <p:cNvSpPr/>
            <p:nvPr/>
          </p:nvSpPr>
          <p:spPr>
            <a:xfrm>
              <a:off x="4191000" y="1390650"/>
              <a:ext cx="3810000" cy="304800"/>
            </a:xfrm>
            <a:custGeom>
              <a:avLst/>
              <a:gdLst/>
              <a:ahLst/>
              <a:cxnLst/>
              <a:rect l="l" t="t" r="r" b="b"/>
              <a:pathLst>
                <a:path w="3810000" h="304800">
                  <a:moveTo>
                    <a:pt x="95250" y="0"/>
                  </a:moveTo>
                  <a:lnTo>
                    <a:pt x="3714750" y="0"/>
                  </a:lnTo>
                  <a:cubicBezTo>
                    <a:pt x="3767355" y="0"/>
                    <a:pt x="3810000" y="42645"/>
                    <a:pt x="3810000" y="95250"/>
                  </a:cubicBezTo>
                  <a:lnTo>
                    <a:pt x="3810000" y="304800"/>
                  </a:lnTo>
                  <a:lnTo>
                    <a:pt x="0" y="304800"/>
                  </a:lnTo>
                  <a:lnTo>
                    <a:pt x="0" y="95250"/>
                  </a:lnTo>
                  <a:cubicBezTo>
                    <a:pt x="0" y="42645"/>
                    <a:pt x="42645" y="0"/>
                    <a:pt x="95250" y="0"/>
                  </a:cubicBezTo>
                  <a:close/>
                </a:path>
              </a:pathLst>
            </a:custGeom>
            <a:solidFill>
              <a:srgbClr val="721E0D"/>
            </a:solidFill>
            <a:ln>
              <a:noFill/>
            </a:ln>
          </p:spPr>
        </p:sp>
        <p:sp>
          <p:nvSpPr>
            <p:cNvPr id="83" name="Rectangle 83"/>
            <p:cNvSpPr/>
            <p:nvPr/>
          </p:nvSpPr>
          <p:spPr>
            <a:xfrm>
              <a:off x="4286250" y="1447800"/>
              <a:ext cx="323850" cy="190500"/>
            </a:xfrm>
            <a:prstGeom prst="roundRect">
              <a:avLst>
                <a:gd name="adj" fmla="val 20000"/>
              </a:avLst>
            </a:prstGeom>
            <a:solidFill>
              <a:srgbClr val="B8351A"/>
            </a:solidFill>
            <a:ln>
              <a:noFill/>
            </a:ln>
          </p:spPr>
        </p:sp>
        <p:sp>
          <p:nvSpPr>
            <p:cNvPr id="84" name="TextBox 84"/>
            <p:cNvSpPr txBox="1"/>
            <p:nvPr/>
          </p:nvSpPr>
          <p:spPr>
            <a:xfrm>
              <a:off x="4370334" y="1489472"/>
              <a:ext cx="1556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02</a:t>
              </a:r>
            </a:p>
          </p:txBody>
        </p:sp>
        <p:sp>
          <p:nvSpPr>
            <p:cNvPr id="85" name="TextBox 85"/>
            <p:cNvSpPr txBox="1"/>
            <p:nvPr/>
          </p:nvSpPr>
          <p:spPr>
            <a:xfrm>
              <a:off x="4700206" y="1481376"/>
              <a:ext cx="1369949"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动作二：主动挖掘机会</a:t>
              </a:r>
            </a:p>
          </p:txBody>
        </p:sp>
        <p:sp>
          <p:nvSpPr>
            <p:cNvPr id="86" name="Freeform 86"/>
            <p:cNvSpPr/>
            <p:nvPr/>
          </p:nvSpPr>
          <p:spPr>
            <a:xfrm>
              <a:off x="6146482" y="2534602"/>
              <a:ext cx="386715" cy="386715"/>
            </a:xfrm>
            <a:custGeom>
              <a:avLst/>
              <a:gdLst/>
              <a:ahLst/>
              <a:cxnLst/>
              <a:rect l="l" t="t" r="r" b="b"/>
              <a:pathLst>
                <a:path w="386715" h="386715">
                  <a:moveTo>
                    <a:pt x="0" y="0"/>
                  </a:moveTo>
                  <a:cubicBezTo>
                    <a:pt x="179674" y="65493"/>
                    <a:pt x="321222" y="207041"/>
                    <a:pt x="386715" y="386715"/>
                  </a:cubicBezTo>
                </a:path>
              </a:pathLst>
            </a:custGeom>
            <a:noFill/>
            <a:ln w="19050">
              <a:solidFill>
                <a:srgbClr val="721E0D"/>
              </a:solidFill>
              <a:tailEnd type="triangle" w="lg" len="lg"/>
            </a:ln>
          </p:spPr>
        </p:sp>
        <p:sp>
          <p:nvSpPr>
            <p:cNvPr id="87" name="Freeform 87"/>
            <p:cNvSpPr/>
            <p:nvPr/>
          </p:nvSpPr>
          <p:spPr>
            <a:xfrm>
              <a:off x="6146482" y="3365182"/>
              <a:ext cx="386715" cy="386715"/>
            </a:xfrm>
            <a:custGeom>
              <a:avLst/>
              <a:gdLst/>
              <a:ahLst/>
              <a:cxnLst/>
              <a:rect l="l" t="t" r="r" b="b"/>
              <a:pathLst>
                <a:path w="386715" h="386715">
                  <a:moveTo>
                    <a:pt x="386715" y="0"/>
                  </a:moveTo>
                  <a:cubicBezTo>
                    <a:pt x="321222" y="179674"/>
                    <a:pt x="179674" y="321222"/>
                    <a:pt x="0" y="386715"/>
                  </a:cubicBezTo>
                </a:path>
              </a:pathLst>
            </a:custGeom>
            <a:noFill/>
            <a:ln w="19050">
              <a:solidFill>
                <a:srgbClr val="721E0D"/>
              </a:solidFill>
              <a:tailEnd type="triangle" w="lg" len="lg"/>
            </a:ln>
          </p:spPr>
        </p:sp>
        <p:sp>
          <p:nvSpPr>
            <p:cNvPr id="88" name="Freeform 88"/>
            <p:cNvSpPr/>
            <p:nvPr/>
          </p:nvSpPr>
          <p:spPr>
            <a:xfrm>
              <a:off x="5315903" y="3365182"/>
              <a:ext cx="386715" cy="386715"/>
            </a:xfrm>
            <a:custGeom>
              <a:avLst/>
              <a:gdLst/>
              <a:ahLst/>
              <a:cxnLst/>
              <a:rect l="l" t="t" r="r" b="b"/>
              <a:pathLst>
                <a:path w="386715" h="386715">
                  <a:moveTo>
                    <a:pt x="386715" y="386715"/>
                  </a:moveTo>
                  <a:cubicBezTo>
                    <a:pt x="207041" y="321222"/>
                    <a:pt x="65493" y="179674"/>
                    <a:pt x="0" y="0"/>
                  </a:cubicBezTo>
                </a:path>
              </a:pathLst>
            </a:custGeom>
            <a:noFill/>
            <a:ln w="19050">
              <a:solidFill>
                <a:srgbClr val="721E0D"/>
              </a:solidFill>
              <a:tailEnd type="triangle" w="lg" len="lg"/>
            </a:ln>
          </p:spPr>
        </p:sp>
        <p:sp>
          <p:nvSpPr>
            <p:cNvPr id="89" name="Freeform 89"/>
            <p:cNvSpPr/>
            <p:nvPr/>
          </p:nvSpPr>
          <p:spPr>
            <a:xfrm>
              <a:off x="5315902" y="2534602"/>
              <a:ext cx="386715" cy="386715"/>
            </a:xfrm>
            <a:custGeom>
              <a:avLst/>
              <a:gdLst/>
              <a:ahLst/>
              <a:cxnLst/>
              <a:rect l="l" t="t" r="r" b="b"/>
              <a:pathLst>
                <a:path w="386715" h="386715">
                  <a:moveTo>
                    <a:pt x="0" y="386715"/>
                  </a:moveTo>
                  <a:cubicBezTo>
                    <a:pt x="65493" y="207041"/>
                    <a:pt x="207041" y="65493"/>
                    <a:pt x="386715" y="0"/>
                  </a:cubicBezTo>
                </a:path>
              </a:pathLst>
            </a:custGeom>
            <a:noFill/>
            <a:ln w="19050">
              <a:solidFill>
                <a:srgbClr val="721E0D"/>
              </a:solidFill>
              <a:tailEnd type="triangle" w="lg" len="lg"/>
            </a:ln>
          </p:spPr>
        </p:sp>
        <p:sp>
          <p:nvSpPr>
            <p:cNvPr id="90" name="Ellipse 90"/>
            <p:cNvSpPr/>
            <p:nvPr/>
          </p:nvSpPr>
          <p:spPr>
            <a:xfrm>
              <a:off x="5524500" y="2743200"/>
              <a:ext cx="800100" cy="800100"/>
            </a:xfrm>
            <a:prstGeom prst="ellipse">
              <a:avLst/>
            </a:prstGeom>
            <a:solidFill>
              <a:srgbClr val="721E0D"/>
            </a:solidFill>
            <a:ln>
              <a:noFill/>
            </a:ln>
          </p:spPr>
        </p:sp>
        <p:sp>
          <p:nvSpPr>
            <p:cNvPr id="91" name="TextBox 91"/>
            <p:cNvSpPr txBox="1"/>
            <p:nvPr/>
          </p:nvSpPr>
          <p:spPr>
            <a:xfrm>
              <a:off x="5688241" y="3021568"/>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季度机会</a:t>
              </a:r>
            </a:p>
          </p:txBody>
        </p:sp>
        <p:sp>
          <p:nvSpPr>
            <p:cNvPr id="92" name="TextBox 92"/>
            <p:cNvSpPr txBox="1"/>
            <p:nvPr/>
          </p:nvSpPr>
          <p:spPr>
            <a:xfrm>
              <a:off x="5688241" y="31834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复盘闭环</a:t>
              </a:r>
            </a:p>
          </p:txBody>
        </p:sp>
        <p:sp>
          <p:nvSpPr>
            <p:cNvPr id="93" name="Ellipse 93"/>
            <p:cNvSpPr/>
            <p:nvPr/>
          </p:nvSpPr>
          <p:spPr>
            <a:xfrm>
              <a:off x="5762625" y="2076450"/>
              <a:ext cx="323850" cy="323850"/>
            </a:xfrm>
            <a:prstGeom prst="ellipse">
              <a:avLst/>
            </a:prstGeom>
            <a:solidFill>
              <a:srgbClr val="B8351A"/>
            </a:solidFill>
            <a:ln>
              <a:noFill/>
            </a:ln>
          </p:spPr>
        </p:sp>
        <p:sp>
          <p:nvSpPr>
            <p:cNvPr id="94" name="TextBox 94"/>
            <p:cNvSpPr txBox="1"/>
            <p:nvPr/>
          </p:nvSpPr>
          <p:spPr>
            <a:xfrm>
              <a:off x="5849819" y="218884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01</a:t>
              </a:r>
            </a:p>
          </p:txBody>
        </p:sp>
        <p:sp>
          <p:nvSpPr>
            <p:cNvPr id="95" name="Ellipse 95"/>
            <p:cNvSpPr/>
            <p:nvPr/>
          </p:nvSpPr>
          <p:spPr>
            <a:xfrm>
              <a:off x="6667500" y="2981325"/>
              <a:ext cx="323850" cy="323850"/>
            </a:xfrm>
            <a:prstGeom prst="ellipse">
              <a:avLst/>
            </a:prstGeom>
            <a:solidFill>
              <a:srgbClr val="B8351A"/>
            </a:solidFill>
            <a:ln>
              <a:noFill/>
            </a:ln>
          </p:spPr>
        </p:sp>
        <p:sp>
          <p:nvSpPr>
            <p:cNvPr id="96" name="TextBox 96"/>
            <p:cNvSpPr txBox="1"/>
            <p:nvPr/>
          </p:nvSpPr>
          <p:spPr>
            <a:xfrm>
              <a:off x="6754694" y="30937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02</a:t>
              </a:r>
            </a:p>
          </p:txBody>
        </p:sp>
        <p:sp>
          <p:nvSpPr>
            <p:cNvPr id="97" name="Ellipse 97"/>
            <p:cNvSpPr/>
            <p:nvPr/>
          </p:nvSpPr>
          <p:spPr>
            <a:xfrm>
              <a:off x="5762625" y="3886200"/>
              <a:ext cx="323850" cy="323850"/>
            </a:xfrm>
            <a:prstGeom prst="ellipse">
              <a:avLst/>
            </a:prstGeom>
            <a:solidFill>
              <a:srgbClr val="B8351A"/>
            </a:solidFill>
            <a:ln>
              <a:noFill/>
            </a:ln>
          </p:spPr>
        </p:sp>
        <p:sp>
          <p:nvSpPr>
            <p:cNvPr id="98" name="TextBox 98"/>
            <p:cNvSpPr txBox="1"/>
            <p:nvPr/>
          </p:nvSpPr>
          <p:spPr>
            <a:xfrm>
              <a:off x="5849819" y="3998595"/>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03</a:t>
              </a:r>
            </a:p>
          </p:txBody>
        </p:sp>
        <p:sp>
          <p:nvSpPr>
            <p:cNvPr id="99" name="Ellipse 99"/>
            <p:cNvSpPr/>
            <p:nvPr/>
          </p:nvSpPr>
          <p:spPr>
            <a:xfrm>
              <a:off x="4857750" y="2981325"/>
              <a:ext cx="323850" cy="323850"/>
            </a:xfrm>
            <a:prstGeom prst="ellipse">
              <a:avLst/>
            </a:prstGeom>
            <a:solidFill>
              <a:srgbClr val="B8351A"/>
            </a:solidFill>
            <a:ln>
              <a:noFill/>
            </a:ln>
          </p:spPr>
        </p:sp>
        <p:sp>
          <p:nvSpPr>
            <p:cNvPr id="100" name="TextBox 100"/>
            <p:cNvSpPr txBox="1"/>
            <p:nvPr/>
          </p:nvSpPr>
          <p:spPr>
            <a:xfrm>
              <a:off x="4944944" y="3093720"/>
              <a:ext cx="149462"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04</a:t>
              </a:r>
            </a:p>
          </p:txBody>
        </p:sp>
        <p:sp>
          <p:nvSpPr>
            <p:cNvPr id="101" name="TextBox 101"/>
            <p:cNvSpPr txBox="1"/>
            <p:nvPr/>
          </p:nvSpPr>
          <p:spPr>
            <a:xfrm>
              <a:off x="6148388" y="2067639"/>
              <a:ext cx="434924"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机会收集</a:t>
              </a:r>
            </a:p>
          </p:txBody>
        </p:sp>
        <p:sp>
          <p:nvSpPr>
            <p:cNvPr id="102" name="TextBox 102"/>
            <p:cNvSpPr txBox="1"/>
            <p:nvPr/>
          </p:nvSpPr>
          <p:spPr>
            <a:xfrm>
              <a:off x="6148388" y="2217182"/>
              <a:ext cx="1048893" cy="469106"/>
            </a:xfrm>
            <a:prstGeom prst="rect">
              <a:avLst/>
            </a:prstGeom>
            <a:noFill/>
            <a:ln>
              <a:noFill/>
            </a:ln>
          </p:spPr>
          <p:txBody>
            <a:bodyPr wrap="none" lIns="0" tIns="0" rIns="0" bIns="0" anchor="t" anchorCtr="0">
              <a:spAutoFit/>
            </a:bodyPr>
            <a:lstStyle/>
            <a:p>
              <a:pPr algn="l" marL="76200" indent="-76200">
                <a:lnSpc>
                  <a:spcPts val="900"/>
                </a:lnSpc>
                <a:buClr>
                  <a:srgbClr val="523E3A"/>
                </a:buClr>
                <a:buSzTx/>
                <a:buFontTx/>
                <a:buChar char="•"/>
              </a:pPr>
              <a:r>
                <a:rPr lang="zh-CN" sz="640" dirty="0">
                  <a:solidFill>
                    <a:srgbClr val="523E3A"/>
                  </a:solidFill>
                  <a:latin typeface="+mn-lt"/>
                  <a:ea typeface="+mn-ea"/>
                  <a:cs typeface="+mn-cs"/>
                </a:rPr>
                <a:t>客户拜访</a:t>
              </a:r>
            </a:p>
            <a:p>
              <a:pPr algn="l" marL="76200" indent="-76200">
                <a:lnSpc>
                  <a:spcPts val="900"/>
                </a:lnSpc>
                <a:buClr>
                  <a:srgbClr val="523E3A"/>
                </a:buClr>
                <a:buSzTx/>
                <a:buFontTx/>
                <a:buChar char="•"/>
              </a:pPr>
              <a:r>
                <a:rPr lang="zh-CN" sz="640" dirty="0">
                  <a:solidFill>
                    <a:srgbClr val="523E3A"/>
                  </a:solidFill>
                  <a:latin typeface="+mn-lt"/>
                  <a:ea typeface="+mn-ea"/>
                  <a:cs typeface="+mn-cs"/>
                </a:rPr>
                <a:t>项目交付反馈</a:t>
              </a:r>
            </a:p>
            <a:p>
              <a:pPr algn="l" marL="76200" indent="-76200">
                <a:lnSpc>
                  <a:spcPts val="900"/>
                </a:lnSpc>
                <a:buClr>
                  <a:srgbClr val="523E3A"/>
                </a:buClr>
                <a:buSzTx/>
                <a:buFontTx/>
                <a:buChar char="•"/>
              </a:pPr>
              <a:r>
                <a:rPr lang="zh-CN" sz="640" dirty="0">
                  <a:solidFill>
                    <a:srgbClr val="523E3A"/>
                  </a:solidFill>
                  <a:latin typeface="+mn-lt"/>
                  <a:ea typeface="+mn-ea"/>
                  <a:cs typeface="+mn-cs"/>
                </a:rPr>
                <a:t>行业与产品动态</a:t>
              </a:r>
            </a:p>
            <a:p>
              <a:pPr algn="l" marL="76200" indent="-76200">
                <a:lnSpc>
                  <a:spcPts val="900"/>
                </a:lnSpc>
                <a:buClr>
                  <a:srgbClr val="523E3A"/>
                </a:buClr>
                <a:buSzTx/>
                <a:buFontTx/>
                <a:buChar char="•"/>
              </a:pPr>
              <a:r>
                <a:rPr lang="zh-CN" sz="640" dirty="0">
                  <a:solidFill>
                    <a:srgbClr val="523E3A"/>
                  </a:solidFill>
                  <a:latin typeface="+mn-lt"/>
                  <a:ea typeface="+mn-ea"/>
                  <a:cs typeface="+mn-cs"/>
                </a:rPr>
                <a:t xml:space="preserve">客户组织/业务变化      </a:t>
              </a:r>
            </a:p>
          </p:txBody>
        </p:sp>
        <p:sp>
          <p:nvSpPr>
            <p:cNvPr id="103" name="TextBox 103"/>
            <p:cNvSpPr txBox="1"/>
            <p:nvPr/>
          </p:nvSpPr>
          <p:spPr>
            <a:xfrm>
              <a:off x="7062788" y="2943939"/>
              <a:ext cx="434924"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机会评估</a:t>
              </a:r>
            </a:p>
          </p:txBody>
        </p:sp>
        <p:sp>
          <p:nvSpPr>
            <p:cNvPr id="104" name="TextBox 104"/>
            <p:cNvSpPr txBox="1"/>
            <p:nvPr/>
          </p:nvSpPr>
          <p:spPr>
            <a:xfrm>
              <a:off x="7062788" y="3097530"/>
              <a:ext cx="988695" cy="461962"/>
            </a:xfrm>
            <a:prstGeom prst="rect">
              <a:avLst/>
            </a:prstGeom>
            <a:noFill/>
            <a:ln>
              <a:noFill/>
            </a:ln>
          </p:spPr>
          <p:txBody>
            <a:bodyPr wrap="none" lIns="0" tIns="0" rIns="0" bIns="0" anchor="t" anchorCtr="0">
              <a:spAutoFit/>
            </a:bodyPr>
            <a:lstStyle/>
            <a:p>
              <a:pPr algn="l" marL="76200" indent="-76200">
                <a:lnSpc>
                  <a:spcPts val="900"/>
                </a:lnSpc>
                <a:buClr>
                  <a:srgbClr val="523E3A"/>
                </a:buClr>
                <a:buSzTx/>
                <a:buFontTx/>
                <a:buChar char="•"/>
              </a:pPr>
              <a:r>
                <a:rPr lang="zh-CN" sz="600" dirty="0">
                  <a:solidFill>
                    <a:srgbClr val="523E3A"/>
                  </a:solidFill>
                  <a:latin typeface="+mn-lt"/>
                  <a:ea typeface="+mn-ea"/>
                  <a:cs typeface="+mn-cs"/>
                </a:rPr>
                <a:t xml:space="preserve">价值（规模/频次）      </a:t>
              </a:r>
            </a:p>
            <a:p>
              <a:pPr algn="l" marL="76200" indent="-76200">
                <a:lnSpc>
                  <a:spcPts val="900"/>
                </a:lnSpc>
                <a:buClr>
                  <a:srgbClr val="523E3A"/>
                </a:buClr>
                <a:buSzTx/>
                <a:buFontTx/>
                <a:buChar char="•"/>
              </a:pPr>
              <a:r>
                <a:rPr lang="zh-CN" sz="600" dirty="0">
                  <a:solidFill>
                    <a:srgbClr val="523E3A"/>
                  </a:solidFill>
                  <a:latin typeface="+mn-lt"/>
                  <a:ea typeface="+mn-ea"/>
                  <a:cs typeface="+mn-cs"/>
                </a:rPr>
                <a:t>紧迫度</a:t>
              </a:r>
            </a:p>
            <a:p>
              <a:pPr algn="l" marL="76200" indent="-76200">
                <a:lnSpc>
                  <a:spcPts val="900"/>
                </a:lnSpc>
                <a:buClr>
                  <a:srgbClr val="523E3A"/>
                </a:buClr>
                <a:buSzTx/>
                <a:buFontTx/>
                <a:buChar char="•"/>
              </a:pPr>
              <a:r>
                <a:rPr lang="zh-CN" sz="600" dirty="0">
                  <a:solidFill>
                    <a:srgbClr val="523E3A"/>
                  </a:solidFill>
                  <a:latin typeface="+mn-lt"/>
                  <a:ea typeface="+mn-ea"/>
                  <a:cs typeface="+mn-cs"/>
                </a:rPr>
                <a:t>胜率</a:t>
              </a:r>
            </a:p>
            <a:p>
              <a:pPr algn="l" marL="76200" indent="-76200">
                <a:lnSpc>
                  <a:spcPts val="900"/>
                </a:lnSpc>
                <a:buClr>
                  <a:srgbClr val="523E3A"/>
                </a:buClr>
                <a:buSzTx/>
                <a:buFontTx/>
                <a:buChar char="•"/>
              </a:pPr>
              <a:r>
                <a:rPr lang="zh-CN" sz="600" dirty="0">
                  <a:solidFill>
                    <a:srgbClr val="523E3A"/>
                  </a:solidFill>
                  <a:latin typeface="+mn-lt"/>
                  <a:ea typeface="+mn-ea"/>
                  <a:cs typeface="+mn-cs"/>
                </a:rPr>
                <a:t>所需资源</a:t>
              </a:r>
            </a:p>
          </p:txBody>
        </p:sp>
        <p:sp>
          <p:nvSpPr>
            <p:cNvPr id="105" name="TextBox 105"/>
            <p:cNvSpPr txBox="1"/>
            <p:nvPr/>
          </p:nvSpPr>
          <p:spPr>
            <a:xfrm>
              <a:off x="6148388" y="4105989"/>
              <a:ext cx="434924"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制定行动</a:t>
              </a:r>
            </a:p>
          </p:txBody>
        </p:sp>
        <p:sp>
          <p:nvSpPr>
            <p:cNvPr id="106" name="TextBox 106"/>
            <p:cNvSpPr txBox="1"/>
            <p:nvPr/>
          </p:nvSpPr>
          <p:spPr>
            <a:xfrm>
              <a:off x="6148388" y="4255532"/>
              <a:ext cx="1048893" cy="354806"/>
            </a:xfrm>
            <a:prstGeom prst="rect">
              <a:avLst/>
            </a:prstGeom>
            <a:noFill/>
            <a:ln>
              <a:noFill/>
            </a:ln>
          </p:spPr>
          <p:txBody>
            <a:bodyPr wrap="none" lIns="0" tIns="0" rIns="0" bIns="0" anchor="t" anchorCtr="0">
              <a:spAutoFit/>
            </a:bodyPr>
            <a:lstStyle/>
            <a:p>
              <a:pPr algn="l" marL="76200" indent="-76200">
                <a:lnSpc>
                  <a:spcPts val="900"/>
                </a:lnSpc>
                <a:buClr>
                  <a:srgbClr val="523E3A"/>
                </a:buClr>
                <a:buSzTx/>
                <a:buFontTx/>
                <a:buChar char="•"/>
              </a:pPr>
              <a:r>
                <a:rPr lang="zh-CN" sz="640" dirty="0">
                  <a:solidFill>
                    <a:srgbClr val="523E3A"/>
                  </a:solidFill>
                  <a:latin typeface="+mn-lt"/>
                  <a:ea typeface="+mn-ea"/>
                  <a:cs typeface="+mn-cs"/>
                </a:rPr>
                <a:t>明确方案与报价</a:t>
              </a:r>
            </a:p>
            <a:p>
              <a:pPr algn="l" marL="76200" indent="-76200">
                <a:lnSpc>
                  <a:spcPts val="900"/>
                </a:lnSpc>
                <a:buClr>
                  <a:srgbClr val="523E3A"/>
                </a:buClr>
                <a:buSzTx/>
                <a:buFontTx/>
                <a:buChar char="•"/>
              </a:pPr>
              <a:r>
                <a:rPr lang="zh-CN" sz="640" dirty="0">
                  <a:solidFill>
                    <a:srgbClr val="523E3A"/>
                  </a:solidFill>
                  <a:latin typeface="+mn-lt"/>
                  <a:ea typeface="+mn-ea"/>
                  <a:cs typeface="+mn-cs"/>
                </a:rPr>
                <a:t>明确负责人与时间表</a:t>
              </a:r>
            </a:p>
            <a:p>
              <a:pPr algn="l" marL="76200" indent="-76200">
                <a:lnSpc>
                  <a:spcPts val="900"/>
                </a:lnSpc>
                <a:buClr>
                  <a:srgbClr val="523E3A"/>
                </a:buClr>
                <a:buSzTx/>
                <a:buFontTx/>
                <a:buChar char="•"/>
              </a:pPr>
              <a:r>
                <a:rPr lang="zh-CN" sz="640" dirty="0">
                  <a:solidFill>
                    <a:srgbClr val="523E3A"/>
                  </a:solidFill>
                  <a:latin typeface="+mn-lt"/>
                  <a:ea typeface="+mn-ea"/>
                  <a:cs typeface="+mn-cs"/>
                </a:rPr>
                <a:t xml:space="preserve">协同产品/交付资源      </a:t>
              </a:r>
            </a:p>
          </p:txBody>
        </p:sp>
        <p:sp>
          <p:nvSpPr>
            <p:cNvPr id="107" name="TextBox 107"/>
            <p:cNvSpPr txBox="1"/>
            <p:nvPr/>
          </p:nvSpPr>
          <p:spPr>
            <a:xfrm>
              <a:off x="4389488" y="2943939"/>
              <a:ext cx="434924" cy="154781"/>
            </a:xfrm>
            <a:prstGeom prst="rect">
              <a:avLst/>
            </a:prstGeom>
            <a:noFill/>
            <a:ln>
              <a:noFill/>
            </a:ln>
          </p:spPr>
          <p:txBody>
            <a:bodyPr wrap="none" lIns="0" tIns="0" rIns="0" bIns="0" anchor="t" anchorCtr="0">
              <a:spAutoFit/>
            </a:bodyPr>
            <a:lstStyle/>
            <a:p>
              <a:pPr algn="r"/>
              <a:r>
                <a:rPr lang="zh-CN" sz="790" b="1" dirty="0">
                  <a:solidFill>
                    <a:srgbClr val="721E0D"/>
                  </a:solidFill>
                  <a:latin typeface="+mn-lt"/>
                  <a:ea typeface="+mn-ea"/>
                  <a:cs typeface="+mn-cs"/>
                </a:rPr>
                <a:t>跟进转化</a:t>
              </a:r>
            </a:p>
          </p:txBody>
        </p:sp>
        <p:sp>
          <p:nvSpPr>
            <p:cNvPr id="108" name="TextBox 108"/>
            <p:cNvSpPr txBox="1"/>
            <p:nvPr/>
          </p:nvSpPr>
          <p:spPr>
            <a:xfrm>
              <a:off x="4332288" y="3093482"/>
              <a:ext cx="492125" cy="469106"/>
            </a:xfrm>
            <a:prstGeom prst="rect">
              <a:avLst/>
            </a:prstGeom>
            <a:noFill/>
            <a:ln>
              <a:noFill/>
            </a:ln>
          </p:spPr>
          <p:txBody>
            <a:bodyPr wrap="none" lIns="0" tIns="0" rIns="0" bIns="0" anchor="t" anchorCtr="0">
              <a:spAutoFit/>
            </a:bodyPr>
            <a:lstStyle/>
            <a:p>
              <a:pPr algn="r" marL="76200" indent="-76200">
                <a:lnSpc>
                  <a:spcPts val="900"/>
                </a:lnSpc>
                <a:buClr>
                  <a:srgbClr val="523E3A"/>
                </a:buClr>
                <a:buSzTx/>
                <a:buFontTx/>
                <a:buChar char="•"/>
              </a:pPr>
              <a:r>
                <a:rPr lang="zh-CN" sz="640" dirty="0">
                  <a:solidFill>
                    <a:srgbClr val="523E3A"/>
                  </a:solidFill>
                  <a:latin typeface="+mn-lt"/>
                  <a:ea typeface="+mn-ea"/>
                  <a:cs typeface="+mn-cs"/>
                </a:rPr>
                <a:t>阶段复盘</a:t>
              </a:r>
            </a:p>
            <a:p>
              <a:pPr algn="r" marL="76200" indent="-76200">
                <a:lnSpc>
                  <a:spcPts val="900"/>
                </a:lnSpc>
                <a:buClr>
                  <a:srgbClr val="523E3A"/>
                </a:buClr>
                <a:buSzTx/>
                <a:buFontTx/>
                <a:buChar char="•"/>
              </a:pPr>
              <a:r>
                <a:rPr lang="zh-CN" sz="640" dirty="0">
                  <a:solidFill>
                    <a:srgbClr val="523E3A"/>
                  </a:solidFill>
                  <a:latin typeface="+mn-lt"/>
                  <a:ea typeface="+mn-ea"/>
                  <a:cs typeface="+mn-cs"/>
                </a:rPr>
                <a:t>风险识别</a:t>
              </a:r>
            </a:p>
            <a:p>
              <a:pPr algn="r" marL="76200" indent="-76200">
                <a:lnSpc>
                  <a:spcPts val="900"/>
                </a:lnSpc>
                <a:buClr>
                  <a:srgbClr val="523E3A"/>
                </a:buClr>
                <a:buSzTx/>
                <a:buFontTx/>
                <a:buChar char="•"/>
              </a:pPr>
              <a:r>
                <a:rPr lang="zh-CN" sz="640" dirty="0">
                  <a:solidFill>
                    <a:srgbClr val="523E3A"/>
                  </a:solidFill>
                  <a:latin typeface="+mn-lt"/>
                  <a:ea typeface="+mn-ea"/>
                  <a:cs typeface="+mn-cs"/>
                </a:rPr>
                <a:t>推进决策链</a:t>
              </a:r>
            </a:p>
            <a:p>
              <a:pPr algn="r" marL="76200" indent="-76200">
                <a:lnSpc>
                  <a:spcPts val="900"/>
                </a:lnSpc>
                <a:buClr>
                  <a:srgbClr val="523E3A"/>
                </a:buClr>
                <a:buSzTx/>
                <a:buFontTx/>
                <a:buChar char="•"/>
              </a:pPr>
              <a:r>
                <a:rPr lang="zh-CN" sz="640" dirty="0">
                  <a:solidFill>
                    <a:srgbClr val="523E3A"/>
                  </a:solidFill>
                  <a:latin typeface="+mn-lt"/>
                  <a:ea typeface="+mn-ea"/>
                  <a:cs typeface="+mn-cs"/>
                </a:rPr>
                <a:t>促成签约</a:t>
              </a:r>
            </a:p>
          </p:txBody>
        </p:sp>
        <p:sp>
          <p:nvSpPr>
            <p:cNvPr id="109" name="Rectangle 109"/>
            <p:cNvSpPr/>
            <p:nvPr/>
          </p:nvSpPr>
          <p:spPr>
            <a:xfrm>
              <a:off x="4305300" y="4895850"/>
              <a:ext cx="3581400" cy="266700"/>
            </a:xfrm>
            <a:prstGeom prst="roundRect">
              <a:avLst>
                <a:gd name="adj" fmla="val 21429"/>
              </a:avLst>
            </a:prstGeom>
            <a:solidFill>
              <a:srgbClr val="EAF1FB"/>
            </a:solidFill>
            <a:ln>
              <a:noFill/>
            </a:ln>
          </p:spPr>
        </p:sp>
        <p:sp>
          <p:nvSpPr>
            <p:cNvPr id="110" name="TextBox 110"/>
            <p:cNvSpPr txBox="1"/>
            <p:nvPr/>
          </p:nvSpPr>
          <p:spPr>
            <a:xfrm>
              <a:off x="4737139" y="4991814"/>
              <a:ext cx="2717723"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 xml:space="preserve">   频率：每季度一次机会复盘会（含客户分级更新）   </a:t>
              </a:r>
            </a:p>
          </p:txBody>
        </p:sp>
      </p:grpSp>
      <p:grpSp>
        <p:nvGrpSpPr>
          <p:cNvPr id="188" name="action-card-3"/>
          <p:cNvGrpSpPr/>
          <p:nvPr/>
        </p:nvGrpSpPr>
        <p:grpSpPr>
          <a:xfrm>
            <a:off x="8153400" y="1390650"/>
            <a:ext cx="3810000" cy="3905250"/>
            <a:chOff x="8153400" y="1390650"/>
            <a:chExt cx="3810000" cy="3905250"/>
          </a:xfrm>
        </p:grpSpPr>
        <p:sp>
          <p:nvSpPr>
            <p:cNvPr id="112" name="Rectangle 112"/>
            <p:cNvSpPr/>
            <p:nvPr/>
          </p:nvSpPr>
          <p:spPr>
            <a:xfrm>
              <a:off x="8153400" y="1390650"/>
              <a:ext cx="3810000" cy="3905250"/>
            </a:xfrm>
            <a:prstGeom prst="roundRect">
              <a:avLst>
                <a:gd name="adj" fmla="val 2500"/>
              </a:avLst>
            </a:prstGeom>
            <a:solidFill>
              <a:srgbClr val="FFFFFF"/>
            </a:solidFill>
            <a:ln w="14288">
              <a:solidFill>
                <a:srgbClr val="C9D6EE"/>
              </a:solidFill>
            </a:ln>
          </p:spPr>
        </p:sp>
        <p:sp>
          <p:nvSpPr>
            <p:cNvPr id="113" name="Freeform 113"/>
            <p:cNvSpPr/>
            <p:nvPr/>
          </p:nvSpPr>
          <p:spPr>
            <a:xfrm>
              <a:off x="8153400" y="1390650"/>
              <a:ext cx="3810000" cy="304800"/>
            </a:xfrm>
            <a:custGeom>
              <a:avLst/>
              <a:gdLst/>
              <a:ahLst/>
              <a:cxnLst/>
              <a:rect l="l" t="t" r="r" b="b"/>
              <a:pathLst>
                <a:path w="3810000" h="304800">
                  <a:moveTo>
                    <a:pt x="95250" y="0"/>
                  </a:moveTo>
                  <a:lnTo>
                    <a:pt x="3714750" y="0"/>
                  </a:lnTo>
                  <a:cubicBezTo>
                    <a:pt x="3767355" y="0"/>
                    <a:pt x="3810000" y="42645"/>
                    <a:pt x="3810000" y="95250"/>
                  </a:cubicBezTo>
                  <a:lnTo>
                    <a:pt x="3810000" y="304800"/>
                  </a:lnTo>
                  <a:lnTo>
                    <a:pt x="0" y="304800"/>
                  </a:lnTo>
                  <a:lnTo>
                    <a:pt x="0" y="95250"/>
                  </a:lnTo>
                  <a:cubicBezTo>
                    <a:pt x="0" y="42645"/>
                    <a:pt x="42645" y="0"/>
                    <a:pt x="95250" y="0"/>
                  </a:cubicBezTo>
                  <a:close/>
                </a:path>
              </a:pathLst>
            </a:custGeom>
            <a:solidFill>
              <a:srgbClr val="721E0D"/>
            </a:solidFill>
            <a:ln>
              <a:noFill/>
            </a:ln>
          </p:spPr>
        </p:sp>
        <p:sp>
          <p:nvSpPr>
            <p:cNvPr id="114" name="Rectangle 114"/>
            <p:cNvSpPr/>
            <p:nvPr/>
          </p:nvSpPr>
          <p:spPr>
            <a:xfrm>
              <a:off x="8248650" y="1447800"/>
              <a:ext cx="323850" cy="190500"/>
            </a:xfrm>
            <a:prstGeom prst="roundRect">
              <a:avLst>
                <a:gd name="adj" fmla="val 20000"/>
              </a:avLst>
            </a:prstGeom>
            <a:solidFill>
              <a:srgbClr val="B8351A"/>
            </a:solidFill>
            <a:ln>
              <a:noFill/>
            </a:ln>
          </p:spPr>
        </p:sp>
        <p:sp>
          <p:nvSpPr>
            <p:cNvPr id="115" name="TextBox 115"/>
            <p:cNvSpPr txBox="1"/>
            <p:nvPr/>
          </p:nvSpPr>
          <p:spPr>
            <a:xfrm>
              <a:off x="8332734" y="1489472"/>
              <a:ext cx="1556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03</a:t>
              </a:r>
            </a:p>
          </p:txBody>
        </p:sp>
        <p:sp>
          <p:nvSpPr>
            <p:cNvPr id="116" name="TextBox 116"/>
            <p:cNvSpPr txBox="1"/>
            <p:nvPr/>
          </p:nvSpPr>
          <p:spPr>
            <a:xfrm>
              <a:off x="8662606" y="1481376"/>
              <a:ext cx="1641881"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动作三：设置增购专项激励</a:t>
              </a:r>
            </a:p>
          </p:txBody>
        </p:sp>
        <p:sp>
          <p:nvSpPr>
            <p:cNvPr id="117" name="TextBox 117"/>
            <p:cNvSpPr txBox="1"/>
            <p:nvPr/>
          </p:nvSpPr>
          <p:spPr>
            <a:xfrm>
              <a:off x="8563586" y="1815941"/>
              <a:ext cx="1275128"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专项激励（建议）   </a:t>
              </a:r>
            </a:p>
          </p:txBody>
        </p:sp>
        <p:sp>
          <p:nvSpPr>
            <p:cNvPr id="118" name="Rectangle 118"/>
            <p:cNvSpPr/>
            <p:nvPr/>
          </p:nvSpPr>
          <p:spPr>
            <a:xfrm>
              <a:off x="8267700" y="2000250"/>
              <a:ext cx="1866900" cy="171450"/>
            </a:xfrm>
            <a:prstGeom prst="rect">
              <a:avLst/>
            </a:prstGeom>
            <a:solidFill>
              <a:srgbClr val="EAF1FB"/>
            </a:solidFill>
            <a:ln>
              <a:noFill/>
            </a:ln>
          </p:spPr>
        </p:sp>
        <p:sp>
          <p:nvSpPr>
            <p:cNvPr id="119" name="Rectangle 119"/>
            <p:cNvSpPr/>
            <p:nvPr/>
          </p:nvSpPr>
          <p:spPr>
            <a:xfrm>
              <a:off x="9372600" y="2000250"/>
              <a:ext cx="762000" cy="171450"/>
            </a:xfrm>
            <a:prstGeom prst="rect">
              <a:avLst/>
            </a:prstGeom>
            <a:solidFill>
              <a:srgbClr val="721E0D"/>
            </a:solidFill>
            <a:ln>
              <a:noFill/>
            </a:ln>
          </p:spPr>
        </p:sp>
        <p:sp>
          <p:nvSpPr>
            <p:cNvPr id="120" name="TextBox 120"/>
            <p:cNvSpPr txBox="1"/>
            <p:nvPr/>
          </p:nvSpPr>
          <p:spPr>
            <a:xfrm>
              <a:off x="8611830" y="2053828"/>
              <a:ext cx="873839" cy="111919"/>
            </a:xfrm>
            <a:prstGeom prst="rect">
              <a:avLst/>
            </a:prstGeom>
            <a:noFill/>
            <a:ln>
              <a:noFill/>
            </a:ln>
          </p:spPr>
          <p:txBody>
            <a:bodyPr wrap="none" lIns="0" tIns="0" rIns="0" bIns="0" anchor="t" anchorCtr="0">
              <a:spAutoFit/>
            </a:bodyPr>
            <a:lstStyle/>
            <a:p>
              <a:pPr algn="ctr"/>
              <a:r>
                <a:rPr lang="zh-CN" sz="560" b="1" dirty="0">
                  <a:solidFill>
                    <a:srgbClr val="721E0D"/>
                  </a:solidFill>
                  <a:latin typeface="+mn-lt"/>
                  <a:ea typeface="+mn-ea"/>
                  <a:cs typeface="+mn-cs"/>
                </a:rPr>
                <a:t xml:space="preserve">   常规激励（当前）   </a:t>
              </a:r>
            </a:p>
          </p:txBody>
        </p:sp>
        <p:sp>
          <p:nvSpPr>
            <p:cNvPr id="121" name="TextBox 121"/>
            <p:cNvSpPr txBox="1"/>
            <p:nvPr/>
          </p:nvSpPr>
          <p:spPr>
            <a:xfrm>
              <a:off x="9241293" y="2053828"/>
              <a:ext cx="1024614"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 xml:space="preserve">   增购专项激励（建议）   </a:t>
              </a:r>
            </a:p>
          </p:txBody>
        </p:sp>
        <p:sp>
          <p:nvSpPr>
            <p:cNvPr id="122" name="Rectangle 122"/>
            <p:cNvSpPr/>
            <p:nvPr/>
          </p:nvSpPr>
          <p:spPr>
            <a:xfrm>
              <a:off x="9372600" y="2171700"/>
              <a:ext cx="762000" cy="247650"/>
            </a:xfrm>
            <a:prstGeom prst="rect">
              <a:avLst/>
            </a:prstGeom>
            <a:solidFill>
              <a:srgbClr val="EAF1FB"/>
            </a:solidFill>
            <a:ln>
              <a:noFill/>
            </a:ln>
          </p:spPr>
        </p:sp>
        <p:sp>
          <p:nvSpPr>
            <p:cNvPr id="123" name="TextBox 123"/>
            <p:cNvSpPr txBox="1"/>
            <p:nvPr/>
          </p:nvSpPr>
          <p:spPr>
            <a:xfrm>
              <a:off x="8340763" y="2263378"/>
              <a:ext cx="311074"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适用范围</a:t>
              </a:r>
            </a:p>
          </p:txBody>
        </p:sp>
        <p:sp>
          <p:nvSpPr>
            <p:cNvPr id="124" name="TextBox 124"/>
            <p:cNvSpPr txBox="1"/>
            <p:nvPr/>
          </p:nvSpPr>
          <p:spPr>
            <a:xfrm>
              <a:off x="8817826" y="2263378"/>
              <a:ext cx="461848" cy="111919"/>
            </a:xfrm>
            <a:prstGeom prst="rect">
              <a:avLst/>
            </a:prstGeom>
            <a:noFill/>
            <a:ln>
              <a:noFill/>
            </a:ln>
          </p:spPr>
          <p:txBody>
            <a:bodyPr wrap="none" lIns="0" tIns="0" rIns="0" bIns="0" anchor="t" anchorCtr="0">
              <a:spAutoFit/>
            </a:bodyPr>
            <a:lstStyle/>
            <a:p>
              <a:pPr algn="ctr"/>
              <a:r>
                <a:rPr lang="zh-CN" sz="560" dirty="0">
                  <a:solidFill>
                    <a:srgbClr val="523E3A"/>
                  </a:solidFill>
                  <a:latin typeface="+mn-lt"/>
                  <a:ea typeface="+mn-ea"/>
                  <a:cs typeface="+mn-cs"/>
                </a:rPr>
                <a:t>所有新签项目</a:t>
              </a:r>
            </a:p>
          </p:txBody>
        </p:sp>
        <p:sp>
          <p:nvSpPr>
            <p:cNvPr id="125" name="TextBox 125"/>
            <p:cNvSpPr txBox="1"/>
            <p:nvPr/>
          </p:nvSpPr>
          <p:spPr>
            <a:xfrm>
              <a:off x="9447289" y="2263378"/>
              <a:ext cx="612623" cy="111919"/>
            </a:xfrm>
            <a:prstGeom prst="rect">
              <a:avLst/>
            </a:prstGeom>
            <a:noFill/>
            <a:ln>
              <a:noFill/>
            </a:ln>
          </p:spPr>
          <p:txBody>
            <a:bodyPr wrap="none" lIns="0" tIns="0" rIns="0" bIns="0" anchor="t" anchorCtr="0">
              <a:spAutoFit/>
            </a:bodyPr>
            <a:lstStyle/>
            <a:p>
              <a:pPr algn="ctr"/>
              <a:r>
                <a:rPr lang="zh-CN" sz="560" b="1" dirty="0">
                  <a:solidFill>
                    <a:srgbClr val="721E0D"/>
                  </a:solidFill>
                  <a:latin typeface="+mn-lt"/>
                  <a:ea typeface="+mn-ea"/>
                  <a:cs typeface="+mn-cs"/>
                </a:rPr>
                <a:t>存量客户增购项目</a:t>
              </a:r>
            </a:p>
          </p:txBody>
        </p:sp>
        <p:sp>
          <p:nvSpPr>
            <p:cNvPr id="126" name="Line 126"/>
            <p:cNvSpPr/>
            <p:nvPr/>
          </p:nvSpPr>
          <p:spPr>
            <a:xfrm>
              <a:off x="8267700" y="2419350"/>
              <a:ext cx="1866900" cy="9525"/>
            </a:xfrm>
            <a:custGeom>
              <a:avLst/>
              <a:gdLst/>
              <a:ahLst/>
              <a:cxnLst/>
              <a:rect l="l" t="t" r="r" b="b"/>
              <a:pathLst>
                <a:path w="1866900" h="9525">
                  <a:moveTo>
                    <a:pt x="0" y="0"/>
                  </a:moveTo>
                  <a:lnTo>
                    <a:pt x="1866900" y="0"/>
                  </a:lnTo>
                </a:path>
              </a:pathLst>
            </a:custGeom>
            <a:noFill/>
            <a:ln w="9525">
              <a:solidFill>
                <a:srgbClr val="E6EAF2"/>
              </a:solidFill>
            </a:ln>
          </p:spPr>
        </p:sp>
        <p:sp>
          <p:nvSpPr>
            <p:cNvPr id="127" name="Rectangle 127"/>
            <p:cNvSpPr/>
            <p:nvPr/>
          </p:nvSpPr>
          <p:spPr>
            <a:xfrm>
              <a:off x="9372600" y="2419350"/>
              <a:ext cx="762000" cy="247650"/>
            </a:xfrm>
            <a:prstGeom prst="rect">
              <a:avLst/>
            </a:prstGeom>
            <a:solidFill>
              <a:srgbClr val="EAF1FB"/>
            </a:solidFill>
            <a:ln>
              <a:noFill/>
            </a:ln>
          </p:spPr>
        </p:sp>
        <p:sp>
          <p:nvSpPr>
            <p:cNvPr id="128" name="TextBox 128"/>
            <p:cNvSpPr txBox="1"/>
            <p:nvPr/>
          </p:nvSpPr>
          <p:spPr>
            <a:xfrm>
              <a:off x="8340763" y="2511028"/>
              <a:ext cx="311074"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激励对象</a:t>
              </a:r>
            </a:p>
          </p:txBody>
        </p:sp>
        <p:sp>
          <p:nvSpPr>
            <p:cNvPr id="129" name="TextBox 129"/>
            <p:cNvSpPr txBox="1"/>
            <p:nvPr/>
          </p:nvSpPr>
          <p:spPr>
            <a:xfrm>
              <a:off x="8893213" y="2511028"/>
              <a:ext cx="311074" cy="111919"/>
            </a:xfrm>
            <a:prstGeom prst="rect">
              <a:avLst/>
            </a:prstGeom>
            <a:noFill/>
            <a:ln>
              <a:noFill/>
            </a:ln>
          </p:spPr>
          <p:txBody>
            <a:bodyPr wrap="none" lIns="0" tIns="0" rIns="0" bIns="0" anchor="t" anchorCtr="0">
              <a:spAutoFit/>
            </a:bodyPr>
            <a:lstStyle/>
            <a:p>
              <a:pPr algn="ctr"/>
              <a:r>
                <a:rPr lang="zh-CN" sz="560" dirty="0">
                  <a:solidFill>
                    <a:srgbClr val="523E3A"/>
                  </a:solidFill>
                  <a:latin typeface="+mn-lt"/>
                  <a:ea typeface="+mn-ea"/>
                  <a:cs typeface="+mn-cs"/>
                </a:rPr>
                <a:t>销售个人</a:t>
              </a:r>
            </a:p>
          </p:txBody>
        </p:sp>
        <p:sp>
          <p:nvSpPr>
            <p:cNvPr id="130" name="TextBox 130"/>
            <p:cNvSpPr txBox="1"/>
            <p:nvPr/>
          </p:nvSpPr>
          <p:spPr>
            <a:xfrm>
              <a:off x="9273144" y="2511028"/>
              <a:ext cx="960911" cy="111919"/>
            </a:xfrm>
            <a:prstGeom prst="rect">
              <a:avLst/>
            </a:prstGeom>
            <a:noFill/>
            <a:ln>
              <a:noFill/>
            </a:ln>
          </p:spPr>
          <p:txBody>
            <a:bodyPr wrap="none" lIns="0" tIns="0" rIns="0" bIns="0" anchor="t" anchorCtr="0">
              <a:spAutoFit/>
            </a:bodyPr>
            <a:lstStyle/>
            <a:p>
              <a:pPr algn="ctr"/>
              <a:r>
                <a:rPr lang="zh-CN" sz="560" b="1" dirty="0">
                  <a:solidFill>
                    <a:srgbClr val="721E0D"/>
                  </a:solidFill>
                  <a:latin typeface="+mn-lt"/>
                  <a:ea typeface="+mn-ea"/>
                  <a:cs typeface="+mn-cs"/>
                </a:rPr>
                <a:t xml:space="preserve">   销售+方案+交付团队   </a:t>
              </a:r>
            </a:p>
          </p:txBody>
        </p:sp>
        <p:sp>
          <p:nvSpPr>
            <p:cNvPr id="131" name="Line 131"/>
            <p:cNvSpPr/>
            <p:nvPr/>
          </p:nvSpPr>
          <p:spPr>
            <a:xfrm>
              <a:off x="8267700" y="2667000"/>
              <a:ext cx="1866900" cy="9525"/>
            </a:xfrm>
            <a:custGeom>
              <a:avLst/>
              <a:gdLst/>
              <a:ahLst/>
              <a:cxnLst/>
              <a:rect l="l" t="t" r="r" b="b"/>
              <a:pathLst>
                <a:path w="1866900" h="9525">
                  <a:moveTo>
                    <a:pt x="0" y="0"/>
                  </a:moveTo>
                  <a:lnTo>
                    <a:pt x="1866900" y="0"/>
                  </a:lnTo>
                </a:path>
              </a:pathLst>
            </a:custGeom>
            <a:noFill/>
            <a:ln w="9525">
              <a:solidFill>
                <a:srgbClr val="E6EAF2"/>
              </a:solidFill>
            </a:ln>
          </p:spPr>
        </p:sp>
        <p:sp>
          <p:nvSpPr>
            <p:cNvPr id="132" name="Rectangle 132"/>
            <p:cNvSpPr/>
            <p:nvPr/>
          </p:nvSpPr>
          <p:spPr>
            <a:xfrm>
              <a:off x="9372600" y="2667000"/>
              <a:ext cx="762000" cy="247650"/>
            </a:xfrm>
            <a:prstGeom prst="rect">
              <a:avLst/>
            </a:prstGeom>
            <a:solidFill>
              <a:srgbClr val="EAF1FB"/>
            </a:solidFill>
            <a:ln>
              <a:noFill/>
            </a:ln>
          </p:spPr>
        </p:sp>
        <p:sp>
          <p:nvSpPr>
            <p:cNvPr id="133" name="TextBox 133"/>
            <p:cNvSpPr txBox="1"/>
            <p:nvPr/>
          </p:nvSpPr>
          <p:spPr>
            <a:xfrm>
              <a:off x="8340763" y="2758678"/>
              <a:ext cx="311074"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激励基数</a:t>
              </a:r>
            </a:p>
          </p:txBody>
        </p:sp>
        <p:sp>
          <p:nvSpPr>
            <p:cNvPr id="134" name="TextBox 134"/>
            <p:cNvSpPr txBox="1"/>
            <p:nvPr/>
          </p:nvSpPr>
          <p:spPr>
            <a:xfrm>
              <a:off x="8893213" y="2758678"/>
              <a:ext cx="311074" cy="111919"/>
            </a:xfrm>
            <a:prstGeom prst="rect">
              <a:avLst/>
            </a:prstGeom>
            <a:noFill/>
            <a:ln>
              <a:noFill/>
            </a:ln>
          </p:spPr>
          <p:txBody>
            <a:bodyPr wrap="none" lIns="0" tIns="0" rIns="0" bIns="0" anchor="t" anchorCtr="0">
              <a:spAutoFit/>
            </a:bodyPr>
            <a:lstStyle/>
            <a:p>
              <a:pPr algn="ctr"/>
              <a:r>
                <a:rPr lang="zh-CN" sz="560" dirty="0">
                  <a:solidFill>
                    <a:srgbClr val="523E3A"/>
                  </a:solidFill>
                  <a:latin typeface="+mn-lt"/>
                  <a:ea typeface="+mn-ea"/>
                  <a:cs typeface="+mn-cs"/>
                </a:rPr>
                <a:t>项目毛利</a:t>
              </a:r>
            </a:p>
          </p:txBody>
        </p:sp>
        <p:sp>
          <p:nvSpPr>
            <p:cNvPr id="135" name="TextBox 135"/>
            <p:cNvSpPr txBox="1"/>
            <p:nvPr/>
          </p:nvSpPr>
          <p:spPr>
            <a:xfrm>
              <a:off x="9522676" y="2758678"/>
              <a:ext cx="461848" cy="111919"/>
            </a:xfrm>
            <a:prstGeom prst="rect">
              <a:avLst/>
            </a:prstGeom>
            <a:noFill/>
            <a:ln>
              <a:noFill/>
            </a:ln>
          </p:spPr>
          <p:txBody>
            <a:bodyPr wrap="none" lIns="0" tIns="0" rIns="0" bIns="0" anchor="t" anchorCtr="0">
              <a:spAutoFit/>
            </a:bodyPr>
            <a:lstStyle/>
            <a:p>
              <a:pPr algn="ctr"/>
              <a:r>
                <a:rPr lang="zh-CN" sz="560" b="1" dirty="0">
                  <a:solidFill>
                    <a:srgbClr val="721E0D"/>
                  </a:solidFill>
                  <a:latin typeface="+mn-lt"/>
                  <a:ea typeface="+mn-ea"/>
                  <a:cs typeface="+mn-cs"/>
                </a:rPr>
                <a:t>增购项目毛利</a:t>
              </a:r>
            </a:p>
          </p:txBody>
        </p:sp>
        <p:sp>
          <p:nvSpPr>
            <p:cNvPr id="136" name="Line 136"/>
            <p:cNvSpPr/>
            <p:nvPr/>
          </p:nvSpPr>
          <p:spPr>
            <a:xfrm>
              <a:off x="8267700" y="2914650"/>
              <a:ext cx="1866900" cy="9525"/>
            </a:xfrm>
            <a:custGeom>
              <a:avLst/>
              <a:gdLst/>
              <a:ahLst/>
              <a:cxnLst/>
              <a:rect l="l" t="t" r="r" b="b"/>
              <a:pathLst>
                <a:path w="1866900" h="9525">
                  <a:moveTo>
                    <a:pt x="0" y="0"/>
                  </a:moveTo>
                  <a:lnTo>
                    <a:pt x="1866900" y="0"/>
                  </a:lnTo>
                </a:path>
              </a:pathLst>
            </a:custGeom>
            <a:noFill/>
            <a:ln w="9525">
              <a:solidFill>
                <a:srgbClr val="E6EAF2"/>
              </a:solidFill>
            </a:ln>
          </p:spPr>
        </p:sp>
        <p:sp>
          <p:nvSpPr>
            <p:cNvPr id="137" name="Rectangle 137"/>
            <p:cNvSpPr/>
            <p:nvPr/>
          </p:nvSpPr>
          <p:spPr>
            <a:xfrm>
              <a:off x="9372600" y="2914650"/>
              <a:ext cx="762000" cy="247650"/>
            </a:xfrm>
            <a:prstGeom prst="rect">
              <a:avLst/>
            </a:prstGeom>
            <a:solidFill>
              <a:srgbClr val="EAF1FB"/>
            </a:solidFill>
            <a:ln>
              <a:noFill/>
            </a:ln>
          </p:spPr>
        </p:sp>
        <p:sp>
          <p:nvSpPr>
            <p:cNvPr id="138" name="TextBox 138"/>
            <p:cNvSpPr txBox="1"/>
            <p:nvPr/>
          </p:nvSpPr>
          <p:spPr>
            <a:xfrm>
              <a:off x="8340763" y="3006328"/>
              <a:ext cx="311074"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激励比例</a:t>
              </a:r>
            </a:p>
          </p:txBody>
        </p:sp>
        <p:sp>
          <p:nvSpPr>
            <p:cNvPr id="139" name="TextBox 139"/>
            <p:cNvSpPr txBox="1"/>
            <p:nvPr/>
          </p:nvSpPr>
          <p:spPr>
            <a:xfrm>
              <a:off x="8842327" y="3006328"/>
              <a:ext cx="412847" cy="111919"/>
            </a:xfrm>
            <a:prstGeom prst="rect">
              <a:avLst/>
            </a:prstGeom>
            <a:noFill/>
            <a:ln>
              <a:noFill/>
            </a:ln>
          </p:spPr>
          <p:txBody>
            <a:bodyPr wrap="none" lIns="0" tIns="0" rIns="0" bIns="0" anchor="t" anchorCtr="0">
              <a:spAutoFit/>
            </a:bodyPr>
            <a:lstStyle/>
            <a:p>
              <a:pPr algn="ctr"/>
              <a:r>
                <a:rPr lang="zh-CN" sz="560" dirty="0">
                  <a:solidFill>
                    <a:srgbClr val="523E3A"/>
                  </a:solidFill>
                  <a:latin typeface="+mn-lt"/>
                  <a:ea typeface="+mn-ea"/>
                  <a:cs typeface="+mn-cs"/>
                </a:rPr>
                <a:t xml:space="preserve">  1%~2%  </a:t>
              </a:r>
            </a:p>
          </p:txBody>
        </p:sp>
        <p:sp>
          <p:nvSpPr>
            <p:cNvPr id="140" name="TextBox 140"/>
            <p:cNvSpPr txBox="1"/>
            <p:nvPr/>
          </p:nvSpPr>
          <p:spPr>
            <a:xfrm>
              <a:off x="9537094" y="3006328"/>
              <a:ext cx="433013" cy="111919"/>
            </a:xfrm>
            <a:prstGeom prst="rect">
              <a:avLst/>
            </a:prstGeom>
            <a:noFill/>
            <a:ln>
              <a:noFill/>
            </a:ln>
          </p:spPr>
          <p:txBody>
            <a:bodyPr wrap="none" lIns="0" tIns="0" rIns="0" bIns="0" anchor="t" anchorCtr="0">
              <a:spAutoFit/>
            </a:bodyPr>
            <a:lstStyle/>
            <a:p>
              <a:pPr algn="ctr"/>
              <a:r>
                <a:rPr lang="zh-CN" sz="560" b="1" dirty="0">
                  <a:solidFill>
                    <a:srgbClr val="721E0D"/>
                  </a:solidFill>
                  <a:latin typeface="+mn-lt"/>
                  <a:ea typeface="+mn-ea"/>
                  <a:cs typeface="+mn-cs"/>
                </a:rPr>
                <a:t xml:space="preserve">  2%~5%  </a:t>
              </a:r>
            </a:p>
          </p:txBody>
        </p:sp>
        <p:sp>
          <p:nvSpPr>
            <p:cNvPr id="141" name="Line 141"/>
            <p:cNvSpPr/>
            <p:nvPr/>
          </p:nvSpPr>
          <p:spPr>
            <a:xfrm>
              <a:off x="8267700" y="3162300"/>
              <a:ext cx="1866900" cy="9525"/>
            </a:xfrm>
            <a:custGeom>
              <a:avLst/>
              <a:gdLst/>
              <a:ahLst/>
              <a:cxnLst/>
              <a:rect l="l" t="t" r="r" b="b"/>
              <a:pathLst>
                <a:path w="1866900" h="9525">
                  <a:moveTo>
                    <a:pt x="0" y="0"/>
                  </a:moveTo>
                  <a:lnTo>
                    <a:pt x="1866900" y="0"/>
                  </a:lnTo>
                </a:path>
              </a:pathLst>
            </a:custGeom>
            <a:noFill/>
            <a:ln w="9525">
              <a:solidFill>
                <a:srgbClr val="E6EAF2"/>
              </a:solidFill>
            </a:ln>
          </p:spPr>
        </p:sp>
        <p:sp>
          <p:nvSpPr>
            <p:cNvPr id="142" name="Rectangle 142"/>
            <p:cNvSpPr/>
            <p:nvPr/>
          </p:nvSpPr>
          <p:spPr>
            <a:xfrm>
              <a:off x="9372600" y="3162300"/>
              <a:ext cx="762000" cy="247650"/>
            </a:xfrm>
            <a:prstGeom prst="rect">
              <a:avLst/>
            </a:prstGeom>
            <a:solidFill>
              <a:srgbClr val="EAF1FB"/>
            </a:solidFill>
            <a:ln>
              <a:noFill/>
            </a:ln>
          </p:spPr>
        </p:sp>
        <p:sp>
          <p:nvSpPr>
            <p:cNvPr id="143" name="TextBox 143"/>
            <p:cNvSpPr txBox="1"/>
            <p:nvPr/>
          </p:nvSpPr>
          <p:spPr>
            <a:xfrm>
              <a:off x="8340763" y="3253978"/>
              <a:ext cx="311074"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超额档位</a:t>
              </a:r>
            </a:p>
          </p:txBody>
        </p:sp>
        <p:sp>
          <p:nvSpPr>
            <p:cNvPr id="144" name="TextBox 144"/>
            <p:cNvSpPr txBox="1"/>
            <p:nvPr/>
          </p:nvSpPr>
          <p:spPr>
            <a:xfrm>
              <a:off x="9006294" y="3253978"/>
              <a:ext cx="84912" cy="111919"/>
            </a:xfrm>
            <a:prstGeom prst="rect">
              <a:avLst/>
            </a:prstGeom>
            <a:noFill/>
            <a:ln>
              <a:noFill/>
            </a:ln>
          </p:spPr>
          <p:txBody>
            <a:bodyPr wrap="none" lIns="0" tIns="0" rIns="0" bIns="0" anchor="t" anchorCtr="0">
              <a:spAutoFit/>
            </a:bodyPr>
            <a:lstStyle/>
            <a:p>
              <a:pPr algn="ctr"/>
              <a:r>
                <a:rPr lang="zh-CN" sz="560" dirty="0">
                  <a:solidFill>
                    <a:srgbClr val="523E3A"/>
                  </a:solidFill>
                  <a:latin typeface="+mn-lt"/>
                  <a:ea typeface="+mn-ea"/>
                  <a:cs typeface="+mn-cs"/>
                </a:rPr>
                <a:t>无</a:t>
              </a:r>
            </a:p>
          </p:txBody>
        </p:sp>
        <p:sp>
          <p:nvSpPr>
            <p:cNvPr id="145" name="TextBox 145"/>
            <p:cNvSpPr txBox="1"/>
            <p:nvPr/>
          </p:nvSpPr>
          <p:spPr>
            <a:xfrm>
              <a:off x="9407080" y="3219926"/>
              <a:ext cx="693039" cy="200025"/>
            </a:xfrm>
            <a:prstGeom prst="rect">
              <a:avLst/>
            </a:prstGeom>
            <a:noFill/>
            <a:ln>
              <a:noFill/>
            </a:ln>
          </p:spPr>
          <p:txBody>
            <a:bodyPr wrap="none" lIns="0" tIns="0" rIns="0" bIns="0" anchor="t" anchorCtr="0">
              <a:spAutoFit/>
            </a:bodyPr>
            <a:lstStyle/>
            <a:p>
              <a:pPr algn="ctr">
                <a:lnSpc>
                  <a:spcPts val="750"/>
                </a:lnSpc>
              </a:pPr>
              <a:r>
                <a:rPr lang="zh-CN" sz="520" b="1" dirty="0">
                  <a:solidFill>
                    <a:srgbClr val="721E0D"/>
                  </a:solidFill>
                  <a:latin typeface="+mn-lt"/>
                  <a:ea typeface="+mn-ea"/>
                  <a:cs typeface="+mn-cs"/>
                </a:rPr>
                <a:t xml:space="preserve">超额阶梯：&gt;100%   </a:t>
              </a:r>
              <a:br/>
              <a:r>
                <a:rPr lang="zh-CN" sz="520" b="1" dirty="0">
                  <a:solidFill>
                    <a:srgbClr val="721E0D"/>
                  </a:solidFill>
                  <a:latin typeface="+mn-lt"/>
                  <a:ea typeface="+mn-ea"/>
                  <a:cs typeface="+mn-cs"/>
                </a:rPr>
                <a:t xml:space="preserve">   部分再+1%~2%   </a:t>
              </a:r>
            </a:p>
          </p:txBody>
        </p:sp>
        <p:sp>
          <p:nvSpPr>
            <p:cNvPr id="146" name="Line 146"/>
            <p:cNvSpPr/>
            <p:nvPr/>
          </p:nvSpPr>
          <p:spPr>
            <a:xfrm>
              <a:off x="8267700" y="3409950"/>
              <a:ext cx="1866900" cy="9525"/>
            </a:xfrm>
            <a:custGeom>
              <a:avLst/>
              <a:gdLst/>
              <a:ahLst/>
              <a:cxnLst/>
              <a:rect l="l" t="t" r="r" b="b"/>
              <a:pathLst>
                <a:path w="1866900" h="9525">
                  <a:moveTo>
                    <a:pt x="0" y="0"/>
                  </a:moveTo>
                  <a:lnTo>
                    <a:pt x="1866900" y="0"/>
                  </a:lnTo>
                </a:path>
              </a:pathLst>
            </a:custGeom>
            <a:noFill/>
            <a:ln w="9525">
              <a:solidFill>
                <a:srgbClr val="E6EAF2"/>
              </a:solidFill>
            </a:ln>
          </p:spPr>
        </p:sp>
        <p:sp>
          <p:nvSpPr>
            <p:cNvPr id="147" name="Rectangle 147"/>
            <p:cNvSpPr/>
            <p:nvPr/>
          </p:nvSpPr>
          <p:spPr>
            <a:xfrm>
              <a:off x="9372600" y="3409950"/>
              <a:ext cx="762000" cy="247650"/>
            </a:xfrm>
            <a:prstGeom prst="rect">
              <a:avLst/>
            </a:prstGeom>
            <a:solidFill>
              <a:srgbClr val="EAF1FB"/>
            </a:solidFill>
            <a:ln>
              <a:noFill/>
            </a:ln>
          </p:spPr>
        </p:sp>
        <p:sp>
          <p:nvSpPr>
            <p:cNvPr id="148" name="TextBox 148"/>
            <p:cNvSpPr txBox="1"/>
            <p:nvPr/>
          </p:nvSpPr>
          <p:spPr>
            <a:xfrm>
              <a:off x="8340763" y="3501628"/>
              <a:ext cx="311074"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支付节奏</a:t>
              </a:r>
            </a:p>
          </p:txBody>
        </p:sp>
        <p:sp>
          <p:nvSpPr>
            <p:cNvPr id="149" name="TextBox 149"/>
            <p:cNvSpPr txBox="1"/>
            <p:nvPr/>
          </p:nvSpPr>
          <p:spPr>
            <a:xfrm>
              <a:off x="8817826" y="3501628"/>
              <a:ext cx="461848" cy="111919"/>
            </a:xfrm>
            <a:prstGeom prst="rect">
              <a:avLst/>
            </a:prstGeom>
            <a:noFill/>
            <a:ln>
              <a:noFill/>
            </a:ln>
          </p:spPr>
          <p:txBody>
            <a:bodyPr wrap="none" lIns="0" tIns="0" rIns="0" bIns="0" anchor="t" anchorCtr="0">
              <a:spAutoFit/>
            </a:bodyPr>
            <a:lstStyle/>
            <a:p>
              <a:pPr algn="ctr"/>
              <a:r>
                <a:rPr lang="zh-CN" sz="560" dirty="0">
                  <a:solidFill>
                    <a:srgbClr val="523E3A"/>
                  </a:solidFill>
                  <a:latin typeface="+mn-lt"/>
                  <a:ea typeface="+mn-ea"/>
                  <a:cs typeface="+mn-cs"/>
                </a:rPr>
                <a:t>回款后一次性</a:t>
              </a:r>
            </a:p>
          </p:txBody>
        </p:sp>
        <p:sp>
          <p:nvSpPr>
            <p:cNvPr id="150" name="TextBox 150"/>
            <p:cNvSpPr txBox="1"/>
            <p:nvPr/>
          </p:nvSpPr>
          <p:spPr>
            <a:xfrm>
              <a:off x="9429369" y="3467576"/>
              <a:ext cx="648462" cy="200025"/>
            </a:xfrm>
            <a:prstGeom prst="rect">
              <a:avLst/>
            </a:prstGeom>
            <a:noFill/>
            <a:ln>
              <a:noFill/>
            </a:ln>
          </p:spPr>
          <p:txBody>
            <a:bodyPr wrap="none" lIns="0" tIns="0" rIns="0" bIns="0" anchor="t" anchorCtr="0">
              <a:spAutoFit/>
            </a:bodyPr>
            <a:lstStyle/>
            <a:p>
              <a:pPr algn="ctr">
                <a:lnSpc>
                  <a:spcPts val="750"/>
                </a:lnSpc>
              </a:pPr>
              <a:r>
                <a:rPr lang="zh-CN" sz="520" b="1" dirty="0">
                  <a:solidFill>
                    <a:srgbClr val="721E0D"/>
                  </a:solidFill>
                  <a:latin typeface="+mn-lt"/>
                  <a:ea typeface="+mn-ea"/>
                  <a:cs typeface="+mn-cs"/>
                </a:rPr>
                <a:t xml:space="preserve">首款到账发50%、   </a:t>
              </a:r>
              <a:br/>
              <a:r>
                <a:rPr lang="zh-CN" sz="520" b="1" dirty="0">
                  <a:solidFill>
                    <a:srgbClr val="721E0D"/>
                  </a:solidFill>
                  <a:latin typeface="+mn-lt"/>
                  <a:ea typeface="+mn-ea"/>
                  <a:cs typeface="+mn-cs"/>
                </a:rPr>
                <a:t xml:space="preserve">   验收后50%   </a:t>
              </a:r>
            </a:p>
          </p:txBody>
        </p:sp>
        <p:sp>
          <p:nvSpPr>
            <p:cNvPr id="151" name="Line 151"/>
            <p:cNvSpPr/>
            <p:nvPr/>
          </p:nvSpPr>
          <p:spPr>
            <a:xfrm>
              <a:off x="8267700" y="3657600"/>
              <a:ext cx="1866900" cy="9525"/>
            </a:xfrm>
            <a:custGeom>
              <a:avLst/>
              <a:gdLst/>
              <a:ahLst/>
              <a:cxnLst/>
              <a:rect l="l" t="t" r="r" b="b"/>
              <a:pathLst>
                <a:path w="1866900" h="9525">
                  <a:moveTo>
                    <a:pt x="0" y="0"/>
                  </a:moveTo>
                  <a:lnTo>
                    <a:pt x="1866900" y="0"/>
                  </a:lnTo>
                </a:path>
              </a:pathLst>
            </a:custGeom>
            <a:noFill/>
            <a:ln w="9525">
              <a:solidFill>
                <a:srgbClr val="E6EAF2"/>
              </a:solidFill>
            </a:ln>
          </p:spPr>
        </p:sp>
        <p:sp>
          <p:nvSpPr>
            <p:cNvPr id="152" name="TextBox 152"/>
            <p:cNvSpPr txBox="1"/>
            <p:nvPr/>
          </p:nvSpPr>
          <p:spPr>
            <a:xfrm>
              <a:off x="10317897" y="1844278"/>
              <a:ext cx="1500307" cy="111919"/>
            </a:xfrm>
            <a:prstGeom prst="rect">
              <a:avLst/>
            </a:prstGeom>
            <a:noFill/>
            <a:ln>
              <a:noFill/>
            </a:ln>
          </p:spPr>
          <p:txBody>
            <a:bodyPr wrap="none" lIns="0" tIns="0" rIns="0" bIns="0" anchor="t" anchorCtr="0">
              <a:spAutoFit/>
            </a:bodyPr>
            <a:lstStyle/>
            <a:p>
              <a:pPr algn="ctr"/>
              <a:r>
                <a:rPr lang="zh-CN" sz="560" b="1" dirty="0">
                  <a:solidFill>
                    <a:srgbClr val="721E0D"/>
                  </a:solidFill>
                  <a:latin typeface="+mn-lt"/>
                  <a:ea typeface="+mn-ea"/>
                  <a:cs typeface="+mn-cs"/>
                </a:rPr>
                <a:t xml:space="preserve">   激励对比（以1000万增购项目为例）   </a:t>
              </a:r>
            </a:p>
          </p:txBody>
        </p:sp>
        <p:sp>
          <p:nvSpPr>
            <p:cNvPr id="153" name="TextBox 153"/>
            <p:cNvSpPr txBox="1"/>
            <p:nvPr/>
          </p:nvSpPr>
          <p:spPr>
            <a:xfrm>
              <a:off x="10358438" y="1981676"/>
              <a:ext cx="800552" cy="104775"/>
            </a:xfrm>
            <a:prstGeom prst="rect">
              <a:avLst/>
            </a:prstGeom>
            <a:noFill/>
            <a:ln>
              <a:noFill/>
            </a:ln>
          </p:spPr>
          <p:txBody>
            <a:bodyPr wrap="none" lIns="0" tIns="0" rIns="0" bIns="0" anchor="t" anchorCtr="0">
              <a:spAutoFit/>
            </a:bodyPr>
            <a:lstStyle/>
            <a:p>
              <a:pPr algn="l"/>
              <a:r>
                <a:rPr lang="zh-CN" sz="520" dirty="0">
                  <a:solidFill>
                    <a:srgbClr val="6E7686"/>
                  </a:solidFill>
                  <a:latin typeface="+mn-lt"/>
                  <a:ea typeface="+mn-ea"/>
                  <a:cs typeface="+mn-cs"/>
                </a:rPr>
                <a:t xml:space="preserve">激励金额（万元）      </a:t>
              </a:r>
            </a:p>
          </p:txBody>
        </p:sp>
        <p:sp>
          <p:nvSpPr>
            <p:cNvPr id="154" name="Line 154"/>
            <p:cNvSpPr/>
            <p:nvPr/>
          </p:nvSpPr>
          <p:spPr>
            <a:xfrm>
              <a:off x="10458450" y="2190750"/>
              <a:ext cx="9525" cy="1428750"/>
            </a:xfrm>
            <a:custGeom>
              <a:avLst/>
              <a:gdLst/>
              <a:ahLst/>
              <a:cxnLst/>
              <a:rect l="l" t="t" r="r" b="b"/>
              <a:pathLst>
                <a:path w="9525" h="1428750">
                  <a:moveTo>
                    <a:pt x="0" y="0"/>
                  </a:moveTo>
                  <a:lnTo>
                    <a:pt x="0" y="1428750"/>
                  </a:lnTo>
                </a:path>
              </a:pathLst>
            </a:custGeom>
            <a:noFill/>
            <a:ln w="9525">
              <a:solidFill>
                <a:srgbClr val="C9D6EE"/>
              </a:solidFill>
            </a:ln>
          </p:spPr>
        </p:sp>
        <p:sp>
          <p:nvSpPr>
            <p:cNvPr id="155" name="Line 155"/>
            <p:cNvSpPr/>
            <p:nvPr/>
          </p:nvSpPr>
          <p:spPr>
            <a:xfrm>
              <a:off x="10458450" y="3619500"/>
              <a:ext cx="1390650" cy="9525"/>
            </a:xfrm>
            <a:custGeom>
              <a:avLst/>
              <a:gdLst/>
              <a:ahLst/>
              <a:cxnLst/>
              <a:rect l="l" t="t" r="r" b="b"/>
              <a:pathLst>
                <a:path w="1390650" h="9525">
                  <a:moveTo>
                    <a:pt x="0" y="0"/>
                  </a:moveTo>
                  <a:lnTo>
                    <a:pt x="1390650" y="0"/>
                  </a:lnTo>
                </a:path>
              </a:pathLst>
            </a:custGeom>
            <a:noFill/>
            <a:ln w="9525">
              <a:solidFill>
                <a:srgbClr val="C9D6EE"/>
              </a:solidFill>
            </a:ln>
          </p:spPr>
        </p:sp>
        <p:sp>
          <p:nvSpPr>
            <p:cNvPr id="156" name="TextBox 156"/>
            <p:cNvSpPr txBox="1"/>
            <p:nvPr/>
          </p:nvSpPr>
          <p:spPr>
            <a:xfrm>
              <a:off x="10377086" y="3586639"/>
              <a:ext cx="48026" cy="104775"/>
            </a:xfrm>
            <a:prstGeom prst="rect">
              <a:avLst/>
            </a:prstGeom>
            <a:noFill/>
            <a:ln>
              <a:noFill/>
            </a:ln>
          </p:spPr>
          <p:txBody>
            <a:bodyPr wrap="none" lIns="0" tIns="0" rIns="0" bIns="0" anchor="t" anchorCtr="0">
              <a:spAutoFit/>
            </a:bodyPr>
            <a:lstStyle/>
            <a:p>
              <a:pPr algn="r"/>
              <a:r>
                <a:rPr lang="zh-CN" sz="520" dirty="0">
                  <a:solidFill>
                    <a:srgbClr val="6E7686"/>
                  </a:solidFill>
                  <a:latin typeface="+mn-lt"/>
                  <a:ea typeface="+mn-ea"/>
                  <a:cs typeface="+mn-cs"/>
                </a:rPr>
                <a:t>0</a:t>
              </a:r>
            </a:p>
          </p:txBody>
        </p:sp>
        <p:sp>
          <p:nvSpPr>
            <p:cNvPr id="157" name="TextBox 157"/>
            <p:cNvSpPr txBox="1"/>
            <p:nvPr/>
          </p:nvSpPr>
          <p:spPr>
            <a:xfrm>
              <a:off x="10338585" y="3358039"/>
              <a:ext cx="86528" cy="104775"/>
            </a:xfrm>
            <a:prstGeom prst="rect">
              <a:avLst/>
            </a:prstGeom>
            <a:noFill/>
            <a:ln>
              <a:noFill/>
            </a:ln>
          </p:spPr>
          <p:txBody>
            <a:bodyPr wrap="none" lIns="0" tIns="0" rIns="0" bIns="0" anchor="t" anchorCtr="0">
              <a:spAutoFit/>
            </a:bodyPr>
            <a:lstStyle/>
            <a:p>
              <a:pPr algn="r"/>
              <a:r>
                <a:rPr lang="zh-CN" sz="520" dirty="0">
                  <a:solidFill>
                    <a:srgbClr val="6E7686"/>
                  </a:solidFill>
                  <a:latin typeface="+mn-lt"/>
                  <a:ea typeface="+mn-ea"/>
                  <a:cs typeface="+mn-cs"/>
                </a:rPr>
                <a:t>10</a:t>
              </a:r>
            </a:p>
          </p:txBody>
        </p:sp>
        <p:sp>
          <p:nvSpPr>
            <p:cNvPr id="158" name="Line 158"/>
            <p:cNvSpPr/>
            <p:nvPr/>
          </p:nvSpPr>
          <p:spPr>
            <a:xfrm>
              <a:off x="10458450" y="3390900"/>
              <a:ext cx="1390650" cy="9525"/>
            </a:xfrm>
            <a:custGeom>
              <a:avLst/>
              <a:gdLst/>
              <a:ahLst/>
              <a:cxnLst/>
              <a:rect l="l" t="t" r="r" b="b"/>
              <a:pathLst>
                <a:path w="1390650" h="9525">
                  <a:moveTo>
                    <a:pt x="0" y="0"/>
                  </a:moveTo>
                  <a:lnTo>
                    <a:pt x="1390650" y="0"/>
                  </a:lnTo>
                </a:path>
              </a:pathLst>
            </a:custGeom>
            <a:noFill/>
            <a:ln w="9525">
              <a:solidFill>
                <a:srgbClr val="EEF1F6"/>
              </a:solidFill>
            </a:ln>
          </p:spPr>
        </p:sp>
        <p:sp>
          <p:nvSpPr>
            <p:cNvPr id="159" name="TextBox 159"/>
            <p:cNvSpPr txBox="1"/>
            <p:nvPr/>
          </p:nvSpPr>
          <p:spPr>
            <a:xfrm>
              <a:off x="10338585" y="3129439"/>
              <a:ext cx="86528" cy="104775"/>
            </a:xfrm>
            <a:prstGeom prst="rect">
              <a:avLst/>
            </a:prstGeom>
            <a:noFill/>
            <a:ln>
              <a:noFill/>
            </a:ln>
          </p:spPr>
          <p:txBody>
            <a:bodyPr wrap="none" lIns="0" tIns="0" rIns="0" bIns="0" anchor="t" anchorCtr="0">
              <a:spAutoFit/>
            </a:bodyPr>
            <a:lstStyle/>
            <a:p>
              <a:pPr algn="r"/>
              <a:r>
                <a:rPr lang="zh-CN" sz="520" dirty="0">
                  <a:solidFill>
                    <a:srgbClr val="6E7686"/>
                  </a:solidFill>
                  <a:latin typeface="+mn-lt"/>
                  <a:ea typeface="+mn-ea"/>
                  <a:cs typeface="+mn-cs"/>
                </a:rPr>
                <a:t>20</a:t>
              </a:r>
            </a:p>
          </p:txBody>
        </p:sp>
        <p:sp>
          <p:nvSpPr>
            <p:cNvPr id="160" name="Line 160"/>
            <p:cNvSpPr/>
            <p:nvPr/>
          </p:nvSpPr>
          <p:spPr>
            <a:xfrm>
              <a:off x="10458450" y="3162300"/>
              <a:ext cx="1390650" cy="9525"/>
            </a:xfrm>
            <a:custGeom>
              <a:avLst/>
              <a:gdLst/>
              <a:ahLst/>
              <a:cxnLst/>
              <a:rect l="l" t="t" r="r" b="b"/>
              <a:pathLst>
                <a:path w="1390650" h="9525">
                  <a:moveTo>
                    <a:pt x="0" y="0"/>
                  </a:moveTo>
                  <a:lnTo>
                    <a:pt x="1390650" y="0"/>
                  </a:lnTo>
                </a:path>
              </a:pathLst>
            </a:custGeom>
            <a:noFill/>
            <a:ln w="9525">
              <a:solidFill>
                <a:srgbClr val="EEF1F6"/>
              </a:solidFill>
            </a:ln>
          </p:spPr>
        </p:sp>
        <p:sp>
          <p:nvSpPr>
            <p:cNvPr id="161" name="TextBox 161"/>
            <p:cNvSpPr txBox="1"/>
            <p:nvPr/>
          </p:nvSpPr>
          <p:spPr>
            <a:xfrm>
              <a:off x="10338585" y="2900839"/>
              <a:ext cx="86528" cy="104775"/>
            </a:xfrm>
            <a:prstGeom prst="rect">
              <a:avLst/>
            </a:prstGeom>
            <a:noFill/>
            <a:ln>
              <a:noFill/>
            </a:ln>
          </p:spPr>
          <p:txBody>
            <a:bodyPr wrap="none" lIns="0" tIns="0" rIns="0" bIns="0" anchor="t" anchorCtr="0">
              <a:spAutoFit/>
            </a:bodyPr>
            <a:lstStyle/>
            <a:p>
              <a:pPr algn="r"/>
              <a:r>
                <a:rPr lang="zh-CN" sz="520" dirty="0">
                  <a:solidFill>
                    <a:srgbClr val="6E7686"/>
                  </a:solidFill>
                  <a:latin typeface="+mn-lt"/>
                  <a:ea typeface="+mn-ea"/>
                  <a:cs typeface="+mn-cs"/>
                </a:rPr>
                <a:t>30</a:t>
              </a:r>
            </a:p>
          </p:txBody>
        </p:sp>
        <p:sp>
          <p:nvSpPr>
            <p:cNvPr id="162" name="Line 162"/>
            <p:cNvSpPr/>
            <p:nvPr/>
          </p:nvSpPr>
          <p:spPr>
            <a:xfrm>
              <a:off x="10458450" y="2933700"/>
              <a:ext cx="1390650" cy="9525"/>
            </a:xfrm>
            <a:custGeom>
              <a:avLst/>
              <a:gdLst/>
              <a:ahLst/>
              <a:cxnLst/>
              <a:rect l="l" t="t" r="r" b="b"/>
              <a:pathLst>
                <a:path w="1390650" h="9525">
                  <a:moveTo>
                    <a:pt x="0" y="0"/>
                  </a:moveTo>
                  <a:lnTo>
                    <a:pt x="1390650" y="0"/>
                  </a:lnTo>
                </a:path>
              </a:pathLst>
            </a:custGeom>
            <a:noFill/>
            <a:ln w="9525">
              <a:solidFill>
                <a:srgbClr val="EEF1F6"/>
              </a:solidFill>
            </a:ln>
          </p:spPr>
        </p:sp>
        <p:sp>
          <p:nvSpPr>
            <p:cNvPr id="163" name="TextBox 163"/>
            <p:cNvSpPr txBox="1"/>
            <p:nvPr/>
          </p:nvSpPr>
          <p:spPr>
            <a:xfrm>
              <a:off x="10338585" y="2672239"/>
              <a:ext cx="86528" cy="104775"/>
            </a:xfrm>
            <a:prstGeom prst="rect">
              <a:avLst/>
            </a:prstGeom>
            <a:noFill/>
            <a:ln>
              <a:noFill/>
            </a:ln>
          </p:spPr>
          <p:txBody>
            <a:bodyPr wrap="none" lIns="0" tIns="0" rIns="0" bIns="0" anchor="t" anchorCtr="0">
              <a:spAutoFit/>
            </a:bodyPr>
            <a:lstStyle/>
            <a:p>
              <a:pPr algn="r"/>
              <a:r>
                <a:rPr lang="zh-CN" sz="520" dirty="0">
                  <a:solidFill>
                    <a:srgbClr val="6E7686"/>
                  </a:solidFill>
                  <a:latin typeface="+mn-lt"/>
                  <a:ea typeface="+mn-ea"/>
                  <a:cs typeface="+mn-cs"/>
                </a:rPr>
                <a:t>40</a:t>
              </a:r>
            </a:p>
          </p:txBody>
        </p:sp>
        <p:sp>
          <p:nvSpPr>
            <p:cNvPr id="164" name="Line 164"/>
            <p:cNvSpPr/>
            <p:nvPr/>
          </p:nvSpPr>
          <p:spPr>
            <a:xfrm>
              <a:off x="10458450" y="2705100"/>
              <a:ext cx="1390650" cy="9525"/>
            </a:xfrm>
            <a:custGeom>
              <a:avLst/>
              <a:gdLst/>
              <a:ahLst/>
              <a:cxnLst/>
              <a:rect l="l" t="t" r="r" b="b"/>
              <a:pathLst>
                <a:path w="1390650" h="9525">
                  <a:moveTo>
                    <a:pt x="0" y="0"/>
                  </a:moveTo>
                  <a:lnTo>
                    <a:pt x="1390650" y="0"/>
                  </a:lnTo>
                </a:path>
              </a:pathLst>
            </a:custGeom>
            <a:noFill/>
            <a:ln w="9525">
              <a:solidFill>
                <a:srgbClr val="EEF1F6"/>
              </a:solidFill>
            </a:ln>
          </p:spPr>
        </p:sp>
        <p:sp>
          <p:nvSpPr>
            <p:cNvPr id="165" name="TextBox 165"/>
            <p:cNvSpPr txBox="1"/>
            <p:nvPr/>
          </p:nvSpPr>
          <p:spPr>
            <a:xfrm>
              <a:off x="10338585" y="2443639"/>
              <a:ext cx="86528" cy="104775"/>
            </a:xfrm>
            <a:prstGeom prst="rect">
              <a:avLst/>
            </a:prstGeom>
            <a:noFill/>
            <a:ln>
              <a:noFill/>
            </a:ln>
          </p:spPr>
          <p:txBody>
            <a:bodyPr wrap="none" lIns="0" tIns="0" rIns="0" bIns="0" anchor="t" anchorCtr="0">
              <a:spAutoFit/>
            </a:bodyPr>
            <a:lstStyle/>
            <a:p>
              <a:pPr algn="r"/>
              <a:r>
                <a:rPr lang="zh-CN" sz="520" dirty="0">
                  <a:solidFill>
                    <a:srgbClr val="6E7686"/>
                  </a:solidFill>
                  <a:latin typeface="+mn-lt"/>
                  <a:ea typeface="+mn-ea"/>
                  <a:cs typeface="+mn-cs"/>
                </a:rPr>
                <a:t>50</a:t>
              </a:r>
            </a:p>
          </p:txBody>
        </p:sp>
        <p:sp>
          <p:nvSpPr>
            <p:cNvPr id="166" name="Line 166"/>
            <p:cNvSpPr/>
            <p:nvPr/>
          </p:nvSpPr>
          <p:spPr>
            <a:xfrm>
              <a:off x="10458450" y="2476500"/>
              <a:ext cx="1390650" cy="9525"/>
            </a:xfrm>
            <a:custGeom>
              <a:avLst/>
              <a:gdLst/>
              <a:ahLst/>
              <a:cxnLst/>
              <a:rect l="l" t="t" r="r" b="b"/>
              <a:pathLst>
                <a:path w="1390650" h="9525">
                  <a:moveTo>
                    <a:pt x="0" y="0"/>
                  </a:moveTo>
                  <a:lnTo>
                    <a:pt x="1390650" y="0"/>
                  </a:lnTo>
                </a:path>
              </a:pathLst>
            </a:custGeom>
            <a:noFill/>
            <a:ln w="9525">
              <a:solidFill>
                <a:srgbClr val="EEF1F6"/>
              </a:solidFill>
            </a:ln>
          </p:spPr>
        </p:sp>
        <p:sp>
          <p:nvSpPr>
            <p:cNvPr id="167" name="TextBox 167"/>
            <p:cNvSpPr txBox="1"/>
            <p:nvPr/>
          </p:nvSpPr>
          <p:spPr>
            <a:xfrm>
              <a:off x="10338585" y="2215039"/>
              <a:ext cx="86528" cy="104775"/>
            </a:xfrm>
            <a:prstGeom prst="rect">
              <a:avLst/>
            </a:prstGeom>
            <a:noFill/>
            <a:ln>
              <a:noFill/>
            </a:ln>
          </p:spPr>
          <p:txBody>
            <a:bodyPr wrap="none" lIns="0" tIns="0" rIns="0" bIns="0" anchor="t" anchorCtr="0">
              <a:spAutoFit/>
            </a:bodyPr>
            <a:lstStyle/>
            <a:p>
              <a:pPr algn="r"/>
              <a:r>
                <a:rPr lang="zh-CN" sz="520" dirty="0">
                  <a:solidFill>
                    <a:srgbClr val="6E7686"/>
                  </a:solidFill>
                  <a:latin typeface="+mn-lt"/>
                  <a:ea typeface="+mn-ea"/>
                  <a:cs typeface="+mn-cs"/>
                </a:rPr>
                <a:t>60</a:t>
              </a:r>
            </a:p>
          </p:txBody>
        </p:sp>
        <p:sp>
          <p:nvSpPr>
            <p:cNvPr id="168" name="Line 168"/>
            <p:cNvSpPr/>
            <p:nvPr/>
          </p:nvSpPr>
          <p:spPr>
            <a:xfrm>
              <a:off x="10458450" y="2247900"/>
              <a:ext cx="1390650" cy="9525"/>
            </a:xfrm>
            <a:custGeom>
              <a:avLst/>
              <a:gdLst/>
              <a:ahLst/>
              <a:cxnLst/>
              <a:rect l="l" t="t" r="r" b="b"/>
              <a:pathLst>
                <a:path w="1390650" h="9525">
                  <a:moveTo>
                    <a:pt x="0" y="0"/>
                  </a:moveTo>
                  <a:lnTo>
                    <a:pt x="1390650" y="0"/>
                  </a:lnTo>
                </a:path>
              </a:pathLst>
            </a:custGeom>
            <a:noFill/>
            <a:ln w="9525">
              <a:solidFill>
                <a:srgbClr val="EEF1F6"/>
              </a:solidFill>
            </a:ln>
          </p:spPr>
        </p:sp>
        <p:sp>
          <p:nvSpPr>
            <p:cNvPr id="169" name="Rectangle 169"/>
            <p:cNvSpPr/>
            <p:nvPr/>
          </p:nvSpPr>
          <p:spPr>
            <a:xfrm>
              <a:off x="10591800" y="3209925"/>
              <a:ext cx="323850" cy="409575"/>
            </a:xfrm>
            <a:prstGeom prst="rect">
              <a:avLst/>
            </a:prstGeom>
            <a:solidFill>
              <a:srgbClr val="B8351A"/>
            </a:solidFill>
            <a:ln>
              <a:noFill/>
            </a:ln>
          </p:spPr>
        </p:sp>
        <p:sp>
          <p:nvSpPr>
            <p:cNvPr id="170" name="Rectangle 170"/>
            <p:cNvSpPr/>
            <p:nvPr/>
          </p:nvSpPr>
          <p:spPr>
            <a:xfrm>
              <a:off x="11353800" y="2705100"/>
              <a:ext cx="323850" cy="914400"/>
            </a:xfrm>
            <a:prstGeom prst="rect">
              <a:avLst/>
            </a:prstGeom>
            <a:solidFill>
              <a:srgbClr val="C03616"/>
            </a:solidFill>
            <a:ln>
              <a:noFill/>
            </a:ln>
          </p:spPr>
        </p:sp>
        <p:sp>
          <p:nvSpPr>
            <p:cNvPr id="171" name="TextBox 171"/>
            <p:cNvSpPr txBox="1"/>
            <p:nvPr/>
          </p:nvSpPr>
          <p:spPr>
            <a:xfrm>
              <a:off x="10452024" y="3088005"/>
              <a:ext cx="603401" cy="119062"/>
            </a:xfrm>
            <a:prstGeom prst="rect">
              <a:avLst/>
            </a:prstGeom>
            <a:noFill/>
            <a:ln>
              <a:noFill/>
            </a:ln>
          </p:spPr>
          <p:txBody>
            <a:bodyPr wrap="none" lIns="0" tIns="0" rIns="0" bIns="0" anchor="t" anchorCtr="0">
              <a:spAutoFit/>
            </a:bodyPr>
            <a:lstStyle/>
            <a:p>
              <a:pPr algn="ctr"/>
              <a:r>
                <a:rPr lang="zh-CN" sz="600" b="1" dirty="0">
                  <a:solidFill>
                    <a:srgbClr val="B8351A"/>
                  </a:solidFill>
                  <a:latin typeface="+mn-lt"/>
                  <a:ea typeface="+mn-ea"/>
                  <a:cs typeface="+mn-cs"/>
                </a:rPr>
                <a:t xml:space="preserve">   15~20万   </a:t>
              </a:r>
            </a:p>
          </p:txBody>
        </p:sp>
        <p:sp>
          <p:nvSpPr>
            <p:cNvPr id="172" name="TextBox 172"/>
            <p:cNvSpPr txBox="1"/>
            <p:nvPr/>
          </p:nvSpPr>
          <p:spPr>
            <a:xfrm>
              <a:off x="11214024" y="2583180"/>
              <a:ext cx="603401" cy="119062"/>
            </a:xfrm>
            <a:prstGeom prst="rect">
              <a:avLst/>
            </a:prstGeom>
            <a:noFill/>
            <a:ln>
              <a:noFill/>
            </a:ln>
          </p:spPr>
          <p:txBody>
            <a:bodyPr wrap="none" lIns="0" tIns="0" rIns="0" bIns="0" anchor="t" anchorCtr="0">
              <a:spAutoFit/>
            </a:bodyPr>
            <a:lstStyle/>
            <a:p>
              <a:pPr algn="ctr"/>
              <a:r>
                <a:rPr lang="zh-CN" sz="600" b="1" dirty="0">
                  <a:solidFill>
                    <a:srgbClr val="C03616"/>
                  </a:solidFill>
                  <a:latin typeface="+mn-lt"/>
                  <a:ea typeface="+mn-ea"/>
                  <a:cs typeface="+mn-cs"/>
                </a:rPr>
                <a:t xml:space="preserve">   30~50万   </a:t>
              </a:r>
            </a:p>
          </p:txBody>
        </p:sp>
        <p:sp>
          <p:nvSpPr>
            <p:cNvPr id="173" name="TextBox 173"/>
            <p:cNvSpPr txBox="1"/>
            <p:nvPr/>
          </p:nvSpPr>
          <p:spPr>
            <a:xfrm>
              <a:off x="11053331" y="2788682"/>
              <a:ext cx="181839" cy="126206"/>
            </a:xfrm>
            <a:prstGeom prst="rect">
              <a:avLst/>
            </a:prstGeom>
            <a:noFill/>
            <a:ln>
              <a:noFill/>
            </a:ln>
          </p:spPr>
          <p:txBody>
            <a:bodyPr wrap="none" lIns="0" tIns="0" rIns="0" bIns="0" anchor="t" anchorCtr="0">
              <a:spAutoFit/>
            </a:bodyPr>
            <a:lstStyle/>
            <a:p>
              <a:pPr algn="ctr"/>
              <a:r>
                <a:rPr lang="zh-CN" sz="640" b="1" dirty="0">
                  <a:solidFill>
                    <a:srgbClr val="C03616"/>
                  </a:solidFill>
                  <a:latin typeface="+mn-lt"/>
                  <a:ea typeface="+mn-ea"/>
                  <a:cs typeface="+mn-cs"/>
                </a:rPr>
                <a:t>提升</a:t>
              </a:r>
            </a:p>
          </p:txBody>
        </p:sp>
        <p:sp>
          <p:nvSpPr>
            <p:cNvPr id="174" name="TextBox 174"/>
            <p:cNvSpPr txBox="1"/>
            <p:nvPr/>
          </p:nvSpPr>
          <p:spPr>
            <a:xfrm>
              <a:off x="10748228" y="2902982"/>
              <a:ext cx="792044" cy="126206"/>
            </a:xfrm>
            <a:prstGeom prst="rect">
              <a:avLst/>
            </a:prstGeom>
            <a:noFill/>
            <a:ln>
              <a:noFill/>
            </a:ln>
          </p:spPr>
          <p:txBody>
            <a:bodyPr wrap="none" lIns="0" tIns="0" rIns="0" bIns="0" anchor="t" anchorCtr="0">
              <a:spAutoFit/>
            </a:bodyPr>
            <a:lstStyle/>
            <a:p>
              <a:pPr algn="ctr"/>
              <a:r>
                <a:rPr lang="zh-CN" sz="640" b="1" dirty="0">
                  <a:solidFill>
                    <a:srgbClr val="C03616"/>
                  </a:solidFill>
                  <a:latin typeface="+mn-lt"/>
                  <a:ea typeface="+mn-ea"/>
                  <a:cs typeface="+mn-cs"/>
                </a:rPr>
                <a:t xml:space="preserve">   100%~150%   </a:t>
              </a:r>
            </a:p>
          </p:txBody>
        </p:sp>
        <p:grpSp>
          <p:nvGrpSpPr>
            <p:cNvPr id="177" name="Group 177"/>
            <p:cNvGrpSpPr/>
            <p:nvPr/>
          </p:nvGrpSpPr>
          <p:grpSpPr>
            <a:xfrm>
              <a:off x="10998200" y="3073400"/>
              <a:ext cx="63500" cy="63500"/>
              <a:chOff x="10998200" y="3073400"/>
              <a:chExt cx="63500" cy="63500"/>
            </a:xfrm>
          </p:grpSpPr>
          <p:sp>
            <p:nvSpPr>
              <p:cNvPr id="175" name="Freeform 175"/>
              <p:cNvSpPr/>
              <p:nvPr/>
            </p:nvSpPr>
            <p:spPr>
              <a:xfrm>
                <a:off x="10998200" y="3073400"/>
                <a:ext cx="63500" cy="63500"/>
              </a:xfrm>
              <a:custGeom>
                <a:avLst/>
                <a:gdLst/>
                <a:ahLst/>
                <a:cxnLst/>
                <a:rect l="l" t="t" r="r" b="b"/>
                <a:pathLst>
                  <a:path w="63500" h="63500">
                    <a:moveTo>
                      <a:pt x="63500" y="0"/>
                    </a:moveTo>
                    <a:lnTo>
                      <a:pt x="0" y="63500"/>
                    </a:lnTo>
                  </a:path>
                </a:pathLst>
              </a:custGeom>
              <a:noFill/>
              <a:ln w="12700">
                <a:solidFill>
                  <a:srgbClr val="C03616"/>
                </a:solidFill>
              </a:ln>
            </p:spPr>
          </p:sp>
          <p:sp>
            <p:nvSpPr>
              <p:cNvPr id="176" name="Freeform 176"/>
              <p:cNvSpPr/>
              <p:nvPr/>
            </p:nvSpPr>
            <p:spPr>
              <a:xfrm>
                <a:off x="11004550" y="3073400"/>
                <a:ext cx="57150" cy="57150"/>
              </a:xfrm>
              <a:custGeom>
                <a:avLst/>
                <a:gdLst/>
                <a:ahLst/>
                <a:cxnLst/>
                <a:rect l="l" t="t" r="r" b="b"/>
                <a:pathLst>
                  <a:path w="57150" h="57150">
                    <a:moveTo>
                      <a:pt x="0" y="0"/>
                    </a:moveTo>
                    <a:lnTo>
                      <a:pt x="57150" y="0"/>
                    </a:lnTo>
                    <a:lnTo>
                      <a:pt x="57150" y="57150"/>
                    </a:lnTo>
                  </a:path>
                </a:pathLst>
              </a:custGeom>
              <a:noFill/>
              <a:ln w="12700">
                <a:solidFill>
                  <a:srgbClr val="C03616"/>
                </a:solidFill>
              </a:ln>
            </p:spPr>
          </p:sp>
        </p:grpSp>
        <p:sp>
          <p:nvSpPr>
            <p:cNvPr id="178" name="TextBox 178"/>
            <p:cNvSpPr txBox="1"/>
            <p:nvPr/>
          </p:nvSpPr>
          <p:spPr>
            <a:xfrm>
              <a:off x="10587418" y="3688080"/>
              <a:ext cx="332613" cy="119062"/>
            </a:xfrm>
            <a:prstGeom prst="rect">
              <a:avLst/>
            </a:prstGeom>
            <a:noFill/>
            <a:ln>
              <a:noFill/>
            </a:ln>
          </p:spPr>
          <p:txBody>
            <a:bodyPr wrap="none" lIns="0" tIns="0" rIns="0" bIns="0" anchor="t" anchorCtr="0">
              <a:spAutoFit/>
            </a:bodyPr>
            <a:lstStyle/>
            <a:p>
              <a:pPr algn="ctr"/>
              <a:r>
                <a:rPr lang="zh-CN" sz="600" dirty="0">
                  <a:solidFill>
                    <a:srgbClr val="523E3A"/>
                  </a:solidFill>
                  <a:latin typeface="+mn-lt"/>
                  <a:ea typeface="+mn-ea"/>
                  <a:cs typeface="+mn-cs"/>
                </a:rPr>
                <a:t>常规激励</a:t>
              </a:r>
            </a:p>
          </p:txBody>
        </p:sp>
        <p:sp>
          <p:nvSpPr>
            <p:cNvPr id="179" name="TextBox 179"/>
            <p:cNvSpPr txBox="1"/>
            <p:nvPr/>
          </p:nvSpPr>
          <p:spPr>
            <a:xfrm>
              <a:off x="10491704" y="3800951"/>
              <a:ext cx="524043" cy="104775"/>
            </a:xfrm>
            <a:prstGeom prst="rect">
              <a:avLst/>
            </a:prstGeom>
            <a:noFill/>
            <a:ln>
              <a:noFill/>
            </a:ln>
          </p:spPr>
          <p:txBody>
            <a:bodyPr wrap="none" lIns="0" tIns="0" rIns="0" bIns="0" anchor="t" anchorCtr="0">
              <a:spAutoFit/>
            </a:bodyPr>
            <a:lstStyle/>
            <a:p>
              <a:pPr algn="ctr"/>
              <a:r>
                <a:rPr lang="zh-CN" sz="520" dirty="0">
                  <a:solidFill>
                    <a:srgbClr val="6E7686"/>
                  </a:solidFill>
                  <a:latin typeface="+mn-lt"/>
                  <a:ea typeface="+mn-ea"/>
                  <a:cs typeface="+mn-cs"/>
                </a:rPr>
                <a:t xml:space="preserve">  （1%~2%）  </a:t>
              </a:r>
            </a:p>
          </p:txBody>
        </p:sp>
        <p:sp>
          <p:nvSpPr>
            <p:cNvPr id="180" name="TextBox 180"/>
            <p:cNvSpPr txBox="1"/>
            <p:nvPr/>
          </p:nvSpPr>
          <p:spPr>
            <a:xfrm>
              <a:off x="11268646" y="3688080"/>
              <a:ext cx="494157" cy="119062"/>
            </a:xfrm>
            <a:prstGeom prst="rect">
              <a:avLst/>
            </a:prstGeom>
            <a:noFill/>
            <a:ln>
              <a:noFill/>
            </a:ln>
          </p:spPr>
          <p:txBody>
            <a:bodyPr wrap="none" lIns="0" tIns="0" rIns="0" bIns="0" anchor="t" anchorCtr="0">
              <a:spAutoFit/>
            </a:bodyPr>
            <a:lstStyle/>
            <a:p>
              <a:pPr algn="ctr"/>
              <a:r>
                <a:rPr lang="zh-CN" sz="600" dirty="0">
                  <a:solidFill>
                    <a:srgbClr val="523E3A"/>
                  </a:solidFill>
                  <a:latin typeface="+mn-lt"/>
                  <a:ea typeface="+mn-ea"/>
                  <a:cs typeface="+mn-cs"/>
                </a:rPr>
                <a:t>增购专项激励</a:t>
              </a:r>
            </a:p>
          </p:txBody>
        </p:sp>
        <p:sp>
          <p:nvSpPr>
            <p:cNvPr id="181" name="TextBox 181"/>
            <p:cNvSpPr txBox="1"/>
            <p:nvPr/>
          </p:nvSpPr>
          <p:spPr>
            <a:xfrm>
              <a:off x="11253704" y="3800951"/>
              <a:ext cx="524043" cy="104775"/>
            </a:xfrm>
            <a:prstGeom prst="rect">
              <a:avLst/>
            </a:prstGeom>
            <a:noFill/>
            <a:ln>
              <a:noFill/>
            </a:ln>
          </p:spPr>
          <p:txBody>
            <a:bodyPr wrap="none" lIns="0" tIns="0" rIns="0" bIns="0" anchor="t" anchorCtr="0">
              <a:spAutoFit/>
            </a:bodyPr>
            <a:lstStyle/>
            <a:p>
              <a:pPr algn="ctr"/>
              <a:r>
                <a:rPr lang="zh-CN" sz="520" dirty="0">
                  <a:solidFill>
                    <a:srgbClr val="6E7686"/>
                  </a:solidFill>
                  <a:latin typeface="+mn-lt"/>
                  <a:ea typeface="+mn-ea"/>
                  <a:cs typeface="+mn-cs"/>
                </a:rPr>
                <a:t xml:space="preserve">  （2%~5%）  </a:t>
              </a:r>
            </a:p>
          </p:txBody>
        </p:sp>
        <p:sp>
          <p:nvSpPr>
            <p:cNvPr id="182" name="Rectangle 182"/>
            <p:cNvSpPr/>
            <p:nvPr/>
          </p:nvSpPr>
          <p:spPr>
            <a:xfrm>
              <a:off x="8267700" y="4895850"/>
              <a:ext cx="3581400" cy="266700"/>
            </a:xfrm>
            <a:prstGeom prst="roundRect">
              <a:avLst>
                <a:gd name="adj" fmla="val 21429"/>
              </a:avLst>
            </a:prstGeom>
            <a:solidFill>
              <a:srgbClr val="EAF1FB"/>
            </a:solidFill>
            <a:ln>
              <a:noFill/>
            </a:ln>
          </p:spPr>
        </p:sp>
        <p:grpSp>
          <p:nvGrpSpPr>
            <p:cNvPr id="186" name="Group 186"/>
            <p:cNvGrpSpPr/>
            <p:nvPr/>
          </p:nvGrpSpPr>
          <p:grpSpPr>
            <a:xfrm>
              <a:off x="8382000" y="4972050"/>
              <a:ext cx="114300" cy="114300"/>
              <a:chOff x="8382000" y="4972050"/>
              <a:chExt cx="114300" cy="114300"/>
            </a:xfrm>
          </p:grpSpPr>
          <p:sp>
            <p:nvSpPr>
              <p:cNvPr id="183" name="Freeform 183"/>
              <p:cNvSpPr/>
              <p:nvPr/>
            </p:nvSpPr>
            <p:spPr>
              <a:xfrm>
                <a:off x="8382000" y="497205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721E0D"/>
                </a:solidFill>
              </a:ln>
            </p:spPr>
          </p:sp>
          <p:sp>
            <p:nvSpPr>
              <p:cNvPr id="184" name="Freeform 184"/>
              <p:cNvSpPr/>
              <p:nvPr/>
            </p:nvSpPr>
            <p:spPr>
              <a:xfrm>
                <a:off x="8404708" y="499745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721E0D"/>
                </a:solidFill>
              </a:ln>
            </p:spPr>
          </p:sp>
          <p:sp>
            <p:nvSpPr>
              <p:cNvPr id="185" name="Freeform 185"/>
              <p:cNvSpPr/>
              <p:nvPr/>
            </p:nvSpPr>
            <p:spPr>
              <a:xfrm>
                <a:off x="8424545" y="5060950"/>
                <a:ext cx="29210" cy="9525"/>
              </a:xfrm>
              <a:custGeom>
                <a:avLst/>
                <a:gdLst/>
                <a:ahLst/>
                <a:cxnLst/>
                <a:rect l="l" t="t" r="r" b="b"/>
                <a:pathLst>
                  <a:path w="29210" h="9525">
                    <a:moveTo>
                      <a:pt x="0" y="0"/>
                    </a:moveTo>
                    <a:lnTo>
                      <a:pt x="29210" y="0"/>
                    </a:lnTo>
                  </a:path>
                </a:pathLst>
              </a:custGeom>
              <a:noFill/>
              <a:ln w="12700">
                <a:solidFill>
                  <a:srgbClr val="721E0D"/>
                </a:solidFill>
              </a:ln>
            </p:spPr>
          </p:sp>
        </p:grpSp>
        <p:sp>
          <p:nvSpPr>
            <p:cNvPr id="187" name="TextBox 187"/>
            <p:cNvSpPr txBox="1"/>
            <p:nvPr/>
          </p:nvSpPr>
          <p:spPr>
            <a:xfrm>
              <a:off x="8567738" y="4991814"/>
              <a:ext cx="2644341"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 xml:space="preserve">目标：让增购“更值得做”，让团队“更愿意推”。      </a:t>
              </a:r>
            </a:p>
          </p:txBody>
        </p:sp>
      </p:grpSp>
      <p:grpSp>
        <p:nvGrpSpPr>
          <p:cNvPr id="211" name="contribution-banner"/>
          <p:cNvGrpSpPr/>
          <p:nvPr/>
        </p:nvGrpSpPr>
        <p:grpSpPr>
          <a:xfrm>
            <a:off x="228600" y="5410200"/>
            <a:ext cx="11734800" cy="838200"/>
            <a:chOff x="228600" y="5410200"/>
            <a:chExt cx="11734800" cy="838200"/>
          </a:xfrm>
        </p:grpSpPr>
        <p:sp>
          <p:nvSpPr>
            <p:cNvPr id="189" name="Rectangle 189"/>
            <p:cNvSpPr/>
            <p:nvPr/>
          </p:nvSpPr>
          <p:spPr>
            <a:xfrm>
              <a:off x="228600" y="5410200"/>
              <a:ext cx="11734800" cy="838200"/>
            </a:xfrm>
            <a:prstGeom prst="roundRect">
              <a:avLst>
                <a:gd name="adj" fmla="val 13636"/>
              </a:avLst>
            </a:prstGeom>
            <a:solidFill>
              <a:srgbClr val="721E0D"/>
            </a:solidFill>
            <a:ln>
              <a:noFill/>
            </a:ln>
          </p:spPr>
        </p:sp>
        <p:sp>
          <p:nvSpPr>
            <p:cNvPr id="190" name="Ellipse 190"/>
            <p:cNvSpPr/>
            <p:nvPr/>
          </p:nvSpPr>
          <p:spPr>
            <a:xfrm>
              <a:off x="495300" y="5562600"/>
              <a:ext cx="533400" cy="533400"/>
            </a:xfrm>
            <a:prstGeom prst="ellipse">
              <a:avLst/>
            </a:prstGeom>
            <a:solidFill>
              <a:srgbClr val="FFFFFF"/>
            </a:solidFill>
            <a:ln>
              <a:noFill/>
            </a:ln>
          </p:spPr>
        </p:sp>
        <p:grpSp>
          <p:nvGrpSpPr>
            <p:cNvPr id="195" name="Group 195"/>
            <p:cNvGrpSpPr/>
            <p:nvPr/>
          </p:nvGrpSpPr>
          <p:grpSpPr>
            <a:xfrm>
              <a:off x="647700" y="5727700"/>
              <a:ext cx="228600" cy="212724"/>
              <a:chOff x="647700" y="5727700"/>
              <a:chExt cx="228600" cy="212724"/>
            </a:xfrm>
          </p:grpSpPr>
          <p:sp>
            <p:nvSpPr>
              <p:cNvPr id="191" name="Freeform 191"/>
              <p:cNvSpPr/>
              <p:nvPr/>
            </p:nvSpPr>
            <p:spPr>
              <a:xfrm>
                <a:off x="647700" y="5829300"/>
                <a:ext cx="76200" cy="101600"/>
              </a:xfrm>
              <a:custGeom>
                <a:avLst/>
                <a:gdLst/>
                <a:ahLst/>
                <a:cxnLst/>
                <a:rect l="l" t="t" r="r" b="b"/>
                <a:pathLst>
                  <a:path w="76200" h="101600">
                    <a:moveTo>
                      <a:pt x="0" y="12700"/>
                    </a:moveTo>
                    <a:cubicBezTo>
                      <a:pt x="0" y="5686"/>
                      <a:pt x="5686" y="0"/>
                      <a:pt x="12700" y="0"/>
                    </a:cubicBezTo>
                    <a:lnTo>
                      <a:pt x="63500" y="0"/>
                    </a:lnTo>
                    <a:cubicBezTo>
                      <a:pt x="70514" y="0"/>
                      <a:pt x="76200" y="5686"/>
                      <a:pt x="76200" y="12700"/>
                    </a:cubicBezTo>
                    <a:lnTo>
                      <a:pt x="76200" y="88900"/>
                    </a:lnTo>
                    <a:cubicBezTo>
                      <a:pt x="76200" y="95914"/>
                      <a:pt x="70514" y="101600"/>
                      <a:pt x="63500" y="101600"/>
                    </a:cubicBezTo>
                    <a:lnTo>
                      <a:pt x="12700" y="101600"/>
                    </a:lnTo>
                    <a:cubicBezTo>
                      <a:pt x="5686" y="101600"/>
                      <a:pt x="0" y="95914"/>
                      <a:pt x="0" y="88900"/>
                    </a:cubicBezTo>
                    <a:lnTo>
                      <a:pt x="0" y="12700"/>
                    </a:lnTo>
                  </a:path>
                </a:pathLst>
              </a:custGeom>
              <a:noFill/>
              <a:ln w="25400">
                <a:solidFill>
                  <a:srgbClr val="721E0D"/>
                </a:solidFill>
              </a:ln>
            </p:spPr>
          </p:sp>
          <p:sp>
            <p:nvSpPr>
              <p:cNvPr id="192" name="Freeform 192"/>
              <p:cNvSpPr/>
              <p:nvPr/>
            </p:nvSpPr>
            <p:spPr>
              <a:xfrm>
                <a:off x="800100" y="5778500"/>
                <a:ext cx="76200" cy="152400"/>
              </a:xfrm>
              <a:custGeom>
                <a:avLst/>
                <a:gdLst/>
                <a:ahLst/>
                <a:cxnLst/>
                <a:rect l="l" t="t" r="r" b="b"/>
                <a:pathLst>
                  <a:path w="76200" h="152400">
                    <a:moveTo>
                      <a:pt x="0" y="12700"/>
                    </a:moveTo>
                    <a:cubicBezTo>
                      <a:pt x="0" y="5686"/>
                      <a:pt x="5686" y="0"/>
                      <a:pt x="12700" y="0"/>
                    </a:cubicBezTo>
                    <a:lnTo>
                      <a:pt x="63500" y="0"/>
                    </a:lnTo>
                    <a:cubicBezTo>
                      <a:pt x="70514" y="0"/>
                      <a:pt x="76200" y="5686"/>
                      <a:pt x="76200" y="12700"/>
                    </a:cubicBezTo>
                    <a:lnTo>
                      <a:pt x="76200" y="139700"/>
                    </a:lnTo>
                    <a:cubicBezTo>
                      <a:pt x="76200" y="146714"/>
                      <a:pt x="70514" y="152400"/>
                      <a:pt x="63500" y="152400"/>
                    </a:cubicBezTo>
                    <a:lnTo>
                      <a:pt x="12700" y="152400"/>
                    </a:lnTo>
                    <a:cubicBezTo>
                      <a:pt x="5686" y="152400"/>
                      <a:pt x="0" y="146714"/>
                      <a:pt x="0" y="139700"/>
                    </a:cubicBezTo>
                    <a:lnTo>
                      <a:pt x="0" y="12700"/>
                    </a:lnTo>
                  </a:path>
                </a:pathLst>
              </a:custGeom>
              <a:noFill/>
              <a:ln w="25400">
                <a:solidFill>
                  <a:srgbClr val="721E0D"/>
                </a:solidFill>
              </a:ln>
            </p:spPr>
          </p:sp>
          <p:sp>
            <p:nvSpPr>
              <p:cNvPr id="193" name="Freeform 193"/>
              <p:cNvSpPr/>
              <p:nvPr/>
            </p:nvSpPr>
            <p:spPr>
              <a:xfrm>
                <a:off x="723900" y="5727700"/>
                <a:ext cx="76200" cy="203199"/>
              </a:xfrm>
              <a:custGeom>
                <a:avLst/>
                <a:gdLst/>
                <a:ahLst/>
                <a:cxnLst/>
                <a:rect l="l" t="t" r="r" b="b"/>
                <a:pathLst>
                  <a:path w="76200" h="203199">
                    <a:moveTo>
                      <a:pt x="0" y="12700"/>
                    </a:moveTo>
                    <a:cubicBezTo>
                      <a:pt x="0" y="5686"/>
                      <a:pt x="5686" y="0"/>
                      <a:pt x="12700" y="0"/>
                    </a:cubicBezTo>
                    <a:lnTo>
                      <a:pt x="63500" y="0"/>
                    </a:lnTo>
                    <a:cubicBezTo>
                      <a:pt x="70514" y="0"/>
                      <a:pt x="76200" y="5686"/>
                      <a:pt x="76200" y="12700"/>
                    </a:cubicBezTo>
                    <a:lnTo>
                      <a:pt x="76200" y="190500"/>
                    </a:lnTo>
                    <a:cubicBezTo>
                      <a:pt x="76200" y="197514"/>
                      <a:pt x="70514" y="203199"/>
                      <a:pt x="63500" y="203199"/>
                    </a:cubicBezTo>
                    <a:lnTo>
                      <a:pt x="12700" y="203199"/>
                    </a:lnTo>
                    <a:cubicBezTo>
                      <a:pt x="5686" y="203199"/>
                      <a:pt x="0" y="197514"/>
                      <a:pt x="0" y="190500"/>
                    </a:cubicBezTo>
                    <a:lnTo>
                      <a:pt x="0" y="12700"/>
                    </a:lnTo>
                  </a:path>
                </a:pathLst>
              </a:custGeom>
              <a:noFill/>
              <a:ln w="25400">
                <a:solidFill>
                  <a:srgbClr val="721E0D"/>
                </a:solidFill>
              </a:ln>
            </p:spPr>
          </p:sp>
          <p:sp>
            <p:nvSpPr>
              <p:cNvPr id="194" name="Freeform 194"/>
              <p:cNvSpPr/>
              <p:nvPr/>
            </p:nvSpPr>
            <p:spPr>
              <a:xfrm>
                <a:off x="660400" y="5930899"/>
                <a:ext cx="177800" cy="9525"/>
              </a:xfrm>
              <a:custGeom>
                <a:avLst/>
                <a:gdLst/>
                <a:ahLst/>
                <a:cxnLst/>
                <a:rect l="l" t="t" r="r" b="b"/>
                <a:pathLst>
                  <a:path w="177800" h="9525">
                    <a:moveTo>
                      <a:pt x="0" y="0"/>
                    </a:moveTo>
                    <a:lnTo>
                      <a:pt x="177800" y="0"/>
                    </a:lnTo>
                  </a:path>
                </a:pathLst>
              </a:custGeom>
              <a:noFill/>
              <a:ln w="25400">
                <a:solidFill>
                  <a:srgbClr val="721E0D"/>
                </a:solidFill>
              </a:ln>
            </p:spPr>
          </p:sp>
        </p:grpSp>
        <p:sp>
          <p:nvSpPr>
            <p:cNvPr id="196" name="TextBox 196"/>
            <p:cNvSpPr txBox="1"/>
            <p:nvPr/>
          </p:nvSpPr>
          <p:spPr>
            <a:xfrm>
              <a:off x="1174623" y="5758339"/>
              <a:ext cx="874522"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预计贡献：</a:t>
              </a:r>
            </a:p>
          </p:txBody>
        </p:sp>
        <p:sp>
          <p:nvSpPr>
            <p:cNvPr id="197" name="Line 197"/>
            <p:cNvSpPr/>
            <p:nvPr/>
          </p:nvSpPr>
          <p:spPr>
            <a:xfrm>
              <a:off x="2171700" y="5543550"/>
              <a:ext cx="9525" cy="571500"/>
            </a:xfrm>
            <a:custGeom>
              <a:avLst/>
              <a:gdLst/>
              <a:ahLst/>
              <a:cxnLst/>
              <a:rect l="l" t="t" r="r" b="b"/>
              <a:pathLst>
                <a:path w="9525" h="571500">
                  <a:moveTo>
                    <a:pt x="0" y="0"/>
                  </a:moveTo>
                  <a:lnTo>
                    <a:pt x="0" y="571500"/>
                  </a:lnTo>
                </a:path>
              </a:pathLst>
            </a:custGeom>
            <a:noFill/>
            <a:ln w="9525">
              <a:solidFill>
                <a:srgbClr val="FFFFFF">
                  <a:alpha val="35000"/>
                </a:srgbClr>
              </a:solidFill>
            </a:ln>
          </p:spPr>
        </p:sp>
        <p:sp>
          <p:nvSpPr>
            <p:cNvPr id="198" name="TextBox 198"/>
            <p:cNvSpPr txBox="1"/>
            <p:nvPr/>
          </p:nvSpPr>
          <p:spPr>
            <a:xfrm>
              <a:off x="2357438" y="5579745"/>
              <a:ext cx="251841" cy="176212"/>
            </a:xfrm>
            <a:prstGeom prst="rect">
              <a:avLst/>
            </a:prstGeom>
            <a:noFill/>
            <a:ln>
              <a:noFill/>
            </a:ln>
          </p:spPr>
          <p:txBody>
            <a:bodyPr wrap="none" lIns="0" tIns="0" rIns="0" bIns="0" anchor="t" anchorCtr="0">
              <a:spAutoFit/>
            </a:bodyPr>
            <a:lstStyle/>
            <a:p>
              <a:pPr algn="l"/>
              <a:r>
                <a:rPr lang="zh-CN" sz="900" dirty="0">
                  <a:solidFill>
                    <a:srgbClr val="DCE6F8"/>
                  </a:solidFill>
                  <a:latin typeface="+mn-lt"/>
                  <a:ea typeface="+mn-ea"/>
                  <a:cs typeface="+mn-cs"/>
                </a:rPr>
                <a:t>增购</a:t>
              </a:r>
            </a:p>
          </p:txBody>
        </p:sp>
        <p:sp>
          <p:nvSpPr>
            <p:cNvPr id="199" name="TextBox 199"/>
            <p:cNvSpPr txBox="1"/>
            <p:nvPr/>
          </p:nvSpPr>
          <p:spPr>
            <a:xfrm>
              <a:off x="2350770" y="5795962"/>
              <a:ext cx="1180171" cy="440055"/>
            </a:xfrm>
            <a:prstGeom prst="rect">
              <a:avLst/>
            </a:prstGeom>
            <a:noFill/>
            <a:ln>
              <a:noFill/>
            </a:ln>
          </p:spPr>
          <p:txBody>
            <a:bodyPr wrap="none" lIns="0" tIns="0" rIns="0" bIns="0" anchor="t" anchorCtr="0">
              <a:spAutoFit/>
            </a:bodyPr>
            <a:lstStyle/>
            <a:p>
              <a:pPr algn="l"/>
              <a:r>
                <a:rPr lang="zh-CN" sz="2250" b="1" dirty="0">
                  <a:solidFill>
                    <a:srgbClr val="F2664E"/>
                  </a:solidFill>
                  <a:latin typeface="+mn-lt"/>
                  <a:ea typeface="+mn-ea"/>
                  <a:cs typeface="+mn-cs"/>
                </a:rPr>
                <a:t>6400</a:t>
              </a:r>
              <a:r>
                <a:rPr lang="zh-CN" sz="1050" b="1" dirty="0">
                  <a:solidFill>
                    <a:srgbClr val="F2664E"/>
                  </a:solidFill>
                  <a:latin typeface="+mn-lt"/>
                  <a:ea typeface="+mn-ea"/>
                  <a:cs typeface="+mn-cs"/>
                </a:rPr>
                <a:t>万元</a:t>
              </a:r>
              <a:r>
                <a:rPr lang="zh-CN" sz="2250" b="1" dirty="0">
                  <a:solidFill>
                    <a:srgbClr val="F2664E"/>
                  </a:solidFill>
                  <a:latin typeface="+mn-lt"/>
                  <a:ea typeface="+mn-ea"/>
                  <a:cs typeface="+mn-cs"/>
                </a:rPr>
                <a:t xml:space="preserve"> </a:t>
              </a:r>
            </a:p>
          </p:txBody>
        </p:sp>
        <p:sp>
          <p:nvSpPr>
            <p:cNvPr id="200" name="TextBox 200"/>
            <p:cNvSpPr txBox="1"/>
            <p:nvPr/>
          </p:nvSpPr>
          <p:spPr>
            <a:xfrm>
              <a:off x="3749209" y="5776912"/>
              <a:ext cx="197782"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n-lt"/>
                  <a:ea typeface="+mn-ea"/>
                  <a:cs typeface="+mn-cs"/>
                </a:rPr>
                <a:t>+</a:t>
              </a:r>
            </a:p>
          </p:txBody>
        </p:sp>
        <p:sp>
          <p:nvSpPr>
            <p:cNvPr id="201" name="TextBox 201"/>
            <p:cNvSpPr txBox="1"/>
            <p:nvPr/>
          </p:nvSpPr>
          <p:spPr>
            <a:xfrm>
              <a:off x="4186238" y="5579745"/>
              <a:ext cx="494157" cy="176212"/>
            </a:xfrm>
            <a:prstGeom prst="rect">
              <a:avLst/>
            </a:prstGeom>
            <a:noFill/>
            <a:ln>
              <a:noFill/>
            </a:ln>
          </p:spPr>
          <p:txBody>
            <a:bodyPr wrap="none" lIns="0" tIns="0" rIns="0" bIns="0" anchor="t" anchorCtr="0">
              <a:spAutoFit/>
            </a:bodyPr>
            <a:lstStyle/>
            <a:p>
              <a:pPr algn="l"/>
              <a:r>
                <a:rPr lang="zh-CN" sz="900" dirty="0">
                  <a:solidFill>
                    <a:srgbClr val="DCE6F8"/>
                  </a:solidFill>
                  <a:latin typeface="+mn-lt"/>
                  <a:ea typeface="+mn-ea"/>
                  <a:cs typeface="+mn-cs"/>
                </a:rPr>
                <a:t>延期项目</a:t>
              </a:r>
            </a:p>
          </p:txBody>
        </p:sp>
        <p:sp>
          <p:nvSpPr>
            <p:cNvPr id="202" name="TextBox 202"/>
            <p:cNvSpPr txBox="1"/>
            <p:nvPr/>
          </p:nvSpPr>
          <p:spPr>
            <a:xfrm>
              <a:off x="4179570" y="5795962"/>
              <a:ext cx="1180171" cy="440055"/>
            </a:xfrm>
            <a:prstGeom prst="rect">
              <a:avLst/>
            </a:prstGeom>
            <a:noFill/>
            <a:ln>
              <a:noFill/>
            </a:ln>
          </p:spPr>
          <p:txBody>
            <a:bodyPr wrap="none" lIns="0" tIns="0" rIns="0" bIns="0" anchor="t" anchorCtr="0">
              <a:spAutoFit/>
            </a:bodyPr>
            <a:lstStyle/>
            <a:p>
              <a:pPr algn="l"/>
              <a:r>
                <a:rPr lang="zh-CN" sz="2250" b="1" dirty="0">
                  <a:solidFill>
                    <a:srgbClr val="F2664E"/>
                  </a:solidFill>
                  <a:latin typeface="+mn-lt"/>
                  <a:ea typeface="+mn-ea"/>
                  <a:cs typeface="+mn-cs"/>
                </a:rPr>
                <a:t>7200</a:t>
              </a:r>
              <a:r>
                <a:rPr lang="zh-CN" sz="1050" b="1" dirty="0">
                  <a:solidFill>
                    <a:srgbClr val="F2664E"/>
                  </a:solidFill>
                  <a:latin typeface="+mn-lt"/>
                  <a:ea typeface="+mn-ea"/>
                  <a:cs typeface="+mn-cs"/>
                </a:rPr>
                <a:t>万元</a:t>
              </a:r>
              <a:r>
                <a:rPr lang="zh-CN" sz="2250" b="1" dirty="0">
                  <a:solidFill>
                    <a:srgbClr val="F2664E"/>
                  </a:solidFill>
                  <a:latin typeface="+mn-lt"/>
                  <a:ea typeface="+mn-ea"/>
                  <a:cs typeface="+mn-cs"/>
                </a:rPr>
                <a:t xml:space="preserve"> </a:t>
              </a:r>
            </a:p>
          </p:txBody>
        </p:sp>
        <p:sp>
          <p:nvSpPr>
            <p:cNvPr id="203" name="TextBox 203"/>
            <p:cNvSpPr txBox="1"/>
            <p:nvPr/>
          </p:nvSpPr>
          <p:spPr>
            <a:xfrm>
              <a:off x="5597059" y="5776912"/>
              <a:ext cx="197782"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n-lt"/>
                  <a:ea typeface="+mn-ea"/>
                  <a:cs typeface="+mn-cs"/>
                </a:rPr>
                <a:t>=</a:t>
              </a:r>
            </a:p>
          </p:txBody>
        </p:sp>
        <p:sp>
          <p:nvSpPr>
            <p:cNvPr id="204" name="TextBox 204"/>
            <p:cNvSpPr txBox="1"/>
            <p:nvPr/>
          </p:nvSpPr>
          <p:spPr>
            <a:xfrm>
              <a:off x="6027420" y="5795962"/>
              <a:ext cx="1180171" cy="440055"/>
            </a:xfrm>
            <a:prstGeom prst="rect">
              <a:avLst/>
            </a:prstGeom>
            <a:noFill/>
            <a:ln>
              <a:noFill/>
            </a:ln>
          </p:spPr>
          <p:txBody>
            <a:bodyPr wrap="none" lIns="0" tIns="0" rIns="0" bIns="0" anchor="t" anchorCtr="0">
              <a:spAutoFit/>
            </a:bodyPr>
            <a:lstStyle/>
            <a:p>
              <a:pPr algn="l"/>
              <a:r>
                <a:rPr lang="zh-CN" sz="2250" b="1" dirty="0">
                  <a:solidFill>
                    <a:srgbClr val="F2664E"/>
                  </a:solidFill>
                  <a:latin typeface="+mn-lt"/>
                  <a:ea typeface="+mn-ea"/>
                  <a:cs typeface="+mn-cs"/>
                </a:rPr>
                <a:t>1.36</a:t>
              </a:r>
              <a:r>
                <a:rPr lang="zh-CN" sz="1050" b="1" dirty="0">
                  <a:solidFill>
                    <a:srgbClr val="F2664E"/>
                  </a:solidFill>
                  <a:latin typeface="+mn-lt"/>
                  <a:ea typeface="+mn-ea"/>
                  <a:cs typeface="+mn-cs"/>
                </a:rPr>
                <a:t>亿元</a:t>
              </a:r>
              <a:r>
                <a:rPr lang="zh-CN" sz="2250" b="1" dirty="0">
                  <a:solidFill>
                    <a:srgbClr val="F2664E"/>
                  </a:solidFill>
                  <a:latin typeface="+mn-lt"/>
                  <a:ea typeface="+mn-ea"/>
                  <a:cs typeface="+mn-cs"/>
                </a:rPr>
                <a:t xml:space="preserve"> </a:t>
              </a:r>
            </a:p>
          </p:txBody>
        </p:sp>
        <p:sp>
          <p:nvSpPr>
            <p:cNvPr id="205" name="Line 205"/>
            <p:cNvSpPr/>
            <p:nvPr/>
          </p:nvSpPr>
          <p:spPr>
            <a:xfrm>
              <a:off x="7867650" y="5543550"/>
              <a:ext cx="9525" cy="571500"/>
            </a:xfrm>
            <a:custGeom>
              <a:avLst/>
              <a:gdLst/>
              <a:ahLst/>
              <a:cxnLst/>
              <a:rect l="l" t="t" r="r" b="b"/>
              <a:pathLst>
                <a:path w="9525" h="571500">
                  <a:moveTo>
                    <a:pt x="0" y="0"/>
                  </a:moveTo>
                  <a:lnTo>
                    <a:pt x="0" y="571500"/>
                  </a:lnTo>
                </a:path>
              </a:pathLst>
            </a:custGeom>
            <a:noFill/>
            <a:ln w="9525">
              <a:solidFill>
                <a:srgbClr val="FFFFFF">
                  <a:alpha val="35000"/>
                </a:srgbClr>
              </a:solidFill>
            </a:ln>
          </p:spPr>
        </p:sp>
        <p:sp>
          <p:nvSpPr>
            <p:cNvPr id="206" name="TextBox 206"/>
            <p:cNvSpPr txBox="1"/>
            <p:nvPr/>
          </p:nvSpPr>
          <p:spPr>
            <a:xfrm>
              <a:off x="8110538" y="5579745"/>
              <a:ext cx="857631" cy="176212"/>
            </a:xfrm>
            <a:prstGeom prst="rect">
              <a:avLst/>
            </a:prstGeom>
            <a:noFill/>
            <a:ln>
              <a:noFill/>
            </a:ln>
          </p:spPr>
          <p:txBody>
            <a:bodyPr wrap="none" lIns="0" tIns="0" rIns="0" bIns="0" anchor="t" anchorCtr="0">
              <a:spAutoFit/>
            </a:bodyPr>
            <a:lstStyle/>
            <a:p>
              <a:pPr algn="l"/>
              <a:r>
                <a:rPr lang="zh-CN" sz="900" dirty="0">
                  <a:solidFill>
                    <a:srgbClr val="DCE6F8"/>
                  </a:solidFill>
                  <a:latin typeface="+mn-lt"/>
                  <a:ea typeface="+mn-ea"/>
                  <a:cs typeface="+mn-cs"/>
                </a:rPr>
                <a:t>占基准追回目标</a:t>
              </a:r>
            </a:p>
          </p:txBody>
        </p:sp>
        <p:sp>
          <p:nvSpPr>
            <p:cNvPr id="207" name="TextBox 207"/>
            <p:cNvSpPr txBox="1"/>
            <p:nvPr/>
          </p:nvSpPr>
          <p:spPr>
            <a:xfrm>
              <a:off x="8103870" y="5795962"/>
              <a:ext cx="961077" cy="440055"/>
            </a:xfrm>
            <a:prstGeom prst="rect">
              <a:avLst/>
            </a:prstGeom>
            <a:noFill/>
            <a:ln>
              <a:noFill/>
            </a:ln>
          </p:spPr>
          <p:txBody>
            <a:bodyPr wrap="none" lIns="0" tIns="0" rIns="0" bIns="0" anchor="t" anchorCtr="0">
              <a:spAutoFit/>
            </a:bodyPr>
            <a:lstStyle/>
            <a:p>
              <a:pPr algn="l"/>
              <a:r>
                <a:rPr lang="zh-CN" sz="2250" b="1" dirty="0">
                  <a:solidFill>
                    <a:srgbClr val="F2664E"/>
                  </a:solidFill>
                  <a:latin typeface="+mn-lt"/>
                  <a:ea typeface="+mn-ea"/>
                  <a:cs typeface="+mn-cs"/>
                </a:rPr>
                <a:t xml:space="preserve">113% </a:t>
              </a:r>
            </a:p>
          </p:txBody>
        </p:sp>
        <p:grpSp>
          <p:nvGrpSpPr>
            <p:cNvPr id="210" name="Group 210"/>
            <p:cNvGrpSpPr/>
            <p:nvPr/>
          </p:nvGrpSpPr>
          <p:grpSpPr>
            <a:xfrm>
              <a:off x="9113044" y="5855494"/>
              <a:ext cx="119062" cy="119062"/>
              <a:chOff x="9113044" y="5855494"/>
              <a:chExt cx="119062" cy="119062"/>
            </a:xfrm>
          </p:grpSpPr>
          <p:sp>
            <p:nvSpPr>
              <p:cNvPr id="208" name="Freeform 208"/>
              <p:cNvSpPr/>
              <p:nvPr/>
            </p:nvSpPr>
            <p:spPr>
              <a:xfrm>
                <a:off x="9113044" y="5855494"/>
                <a:ext cx="119062" cy="119062"/>
              </a:xfrm>
              <a:custGeom>
                <a:avLst/>
                <a:gdLst/>
                <a:ahLst/>
                <a:cxnLst/>
                <a:rect l="l" t="t" r="r" b="b"/>
                <a:pathLst>
                  <a:path w="119062" h="119062">
                    <a:moveTo>
                      <a:pt x="119062" y="0"/>
                    </a:moveTo>
                    <a:lnTo>
                      <a:pt x="0" y="119062"/>
                    </a:lnTo>
                  </a:path>
                </a:pathLst>
              </a:custGeom>
              <a:noFill/>
              <a:ln w="23812">
                <a:solidFill>
                  <a:srgbClr val="F2664E"/>
                </a:solidFill>
              </a:ln>
            </p:spPr>
          </p:sp>
          <p:sp>
            <p:nvSpPr>
              <p:cNvPr id="209" name="Freeform 209"/>
              <p:cNvSpPr/>
              <p:nvPr/>
            </p:nvSpPr>
            <p:spPr>
              <a:xfrm>
                <a:off x="9124950" y="5855494"/>
                <a:ext cx="107156" cy="107156"/>
              </a:xfrm>
              <a:custGeom>
                <a:avLst/>
                <a:gdLst/>
                <a:ahLst/>
                <a:cxnLst/>
                <a:rect l="l" t="t" r="r" b="b"/>
                <a:pathLst>
                  <a:path w="107156" h="107156">
                    <a:moveTo>
                      <a:pt x="0" y="0"/>
                    </a:moveTo>
                    <a:lnTo>
                      <a:pt x="107156" y="0"/>
                    </a:lnTo>
                    <a:lnTo>
                      <a:pt x="107156" y="107156"/>
                    </a:lnTo>
                  </a:path>
                </a:pathLst>
              </a:custGeom>
              <a:noFill/>
              <a:ln w="23812">
                <a:solidFill>
                  <a:srgbClr val="F2664E"/>
                </a:solidFill>
              </a:ln>
            </p:spPr>
          </p:sp>
        </p:grpSp>
      </p:gr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268698" y="152876"/>
              <a:ext cx="18650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8</a:t>
              </a:r>
            </a:p>
          </p:txBody>
        </p:sp>
        <p:sp>
          <p:nvSpPr>
            <p:cNvPr id="4" name="TextBox 4"/>
            <p:cNvSpPr txBox="1"/>
            <p:nvPr/>
          </p:nvSpPr>
          <p:spPr>
            <a:xfrm>
              <a:off x="904494" y="180023"/>
              <a:ext cx="6220275"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路径二：新客攻坚——</a:t>
              </a:r>
              <a:r>
                <a:rPr lang="zh-CN" sz="1950" b="1" dirty="0">
                  <a:solidFill>
                    <a:srgbClr val="B8351A"/>
                  </a:solidFill>
                  <a:latin typeface="+mn-lt"/>
                  <a:ea typeface="+mn-ea"/>
                  <a:cs typeface="+mn-cs"/>
                </a:rPr>
                <a:t>解决线索质量与转化周期</a:t>
              </a:r>
              <a:r>
                <a:rPr lang="zh-CN" sz="1950" b="1" dirty="0">
                  <a:solidFill>
                    <a:srgbClr val="461910"/>
                  </a:solidFill>
                  <a:latin typeface="+mn-lt"/>
                  <a:ea typeface="+mn-ea"/>
                  <a:cs typeface="+mn-cs"/>
                </a:rPr>
                <a:t xml:space="preserve">      </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16" name="goal-card"/>
          <p:cNvGrpSpPr/>
          <p:nvPr/>
        </p:nvGrpSpPr>
        <p:grpSpPr>
          <a:xfrm>
            <a:off x="228600" y="704850"/>
            <a:ext cx="3486150" cy="2114550"/>
            <a:chOff x="228600" y="704850"/>
            <a:chExt cx="3486150" cy="2114550"/>
          </a:xfrm>
        </p:grpSpPr>
        <p:sp>
          <p:nvSpPr>
            <p:cNvPr id="7" name="Rectangle 7"/>
            <p:cNvSpPr/>
            <p:nvPr/>
          </p:nvSpPr>
          <p:spPr>
            <a:xfrm>
              <a:off x="228600" y="704850"/>
              <a:ext cx="3486150" cy="2114550"/>
            </a:xfrm>
            <a:prstGeom prst="roundRect">
              <a:avLst>
                <a:gd name="adj" fmla="val 5405"/>
              </a:avLst>
            </a:prstGeom>
            <a:solidFill>
              <a:srgbClr val="FFFFFF"/>
            </a:solidFill>
            <a:ln w="14288">
              <a:solidFill>
                <a:srgbClr val="C9D6EE"/>
              </a:solidFill>
            </a:ln>
          </p:spPr>
        </p:sp>
        <p:sp>
          <p:nvSpPr>
            <p:cNvPr id="8" name="Freeform 8"/>
            <p:cNvSpPr/>
            <p:nvPr/>
          </p:nvSpPr>
          <p:spPr>
            <a:xfrm>
              <a:off x="228600" y="704850"/>
              <a:ext cx="1066800" cy="2114550"/>
            </a:xfrm>
            <a:custGeom>
              <a:avLst/>
              <a:gdLst/>
              <a:ahLst/>
              <a:cxnLst/>
              <a:rect l="l" t="t" r="r" b="b"/>
              <a:pathLst>
                <a:path w="1066800" h="2114550">
                  <a:moveTo>
                    <a:pt x="114300" y="0"/>
                  </a:moveTo>
                  <a:lnTo>
                    <a:pt x="1066800" y="0"/>
                  </a:lnTo>
                  <a:lnTo>
                    <a:pt x="1066800" y="2114550"/>
                  </a:lnTo>
                  <a:lnTo>
                    <a:pt x="114300" y="2114550"/>
                  </a:lnTo>
                  <a:cubicBezTo>
                    <a:pt x="51174" y="2114550"/>
                    <a:pt x="0" y="2063376"/>
                    <a:pt x="0" y="2000250"/>
                  </a:cubicBezTo>
                  <a:lnTo>
                    <a:pt x="0" y="114300"/>
                  </a:lnTo>
                  <a:cubicBezTo>
                    <a:pt x="0" y="51174"/>
                    <a:pt x="51174" y="0"/>
                    <a:pt x="114300" y="0"/>
                  </a:cubicBezTo>
                  <a:close/>
                </a:path>
              </a:pathLst>
            </a:custGeom>
            <a:solidFill>
              <a:srgbClr val="721E0D"/>
            </a:solidFill>
            <a:ln>
              <a:noFill/>
            </a:ln>
          </p:spPr>
        </p:sp>
        <p:grpSp>
          <p:nvGrpSpPr>
            <p:cNvPr id="12" name="Group 12"/>
            <p:cNvGrpSpPr/>
            <p:nvPr/>
          </p:nvGrpSpPr>
          <p:grpSpPr>
            <a:xfrm>
              <a:off x="571500" y="1533525"/>
              <a:ext cx="457201" cy="457201"/>
              <a:chOff x="571500" y="1533525"/>
              <a:chExt cx="457201" cy="457201"/>
            </a:xfrm>
          </p:grpSpPr>
          <p:sp>
            <p:nvSpPr>
              <p:cNvPr id="9" name="Freeform 9"/>
              <p:cNvSpPr/>
              <p:nvPr/>
            </p:nvSpPr>
            <p:spPr>
              <a:xfrm>
                <a:off x="774700" y="17367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50800">
                <a:solidFill>
                  <a:srgbClr val="FFFFFF"/>
                </a:solidFill>
              </a:ln>
            </p:spPr>
          </p:sp>
          <p:sp>
            <p:nvSpPr>
              <p:cNvPr id="10" name="Freeform 10"/>
              <p:cNvSpPr/>
              <p:nvPr/>
            </p:nvSpPr>
            <p:spPr>
              <a:xfrm>
                <a:off x="673100" y="1635125"/>
                <a:ext cx="254000" cy="254000"/>
              </a:xfrm>
              <a:custGeom>
                <a:avLst/>
                <a:gdLst/>
                <a:ahLst/>
                <a:cxnLst/>
                <a:rect l="l" t="t" r="r" b="b"/>
                <a:pathLst>
                  <a:path w="254000" h="254000">
                    <a:moveTo>
                      <a:pt x="0" y="127000"/>
                    </a:moveTo>
                    <a:cubicBezTo>
                      <a:pt x="0" y="197140"/>
                      <a:pt x="56860" y="254000"/>
                      <a:pt x="127000" y="254000"/>
                    </a:cubicBezTo>
                    <a:cubicBezTo>
                      <a:pt x="197140" y="254000"/>
                      <a:pt x="254000" y="197140"/>
                      <a:pt x="254000" y="127000"/>
                    </a:cubicBezTo>
                    <a:cubicBezTo>
                      <a:pt x="254000" y="56860"/>
                      <a:pt x="197140" y="0"/>
                      <a:pt x="127000" y="0"/>
                    </a:cubicBezTo>
                    <a:cubicBezTo>
                      <a:pt x="56860" y="0"/>
                      <a:pt x="0" y="56860"/>
                      <a:pt x="0" y="127000"/>
                    </a:cubicBezTo>
                  </a:path>
                </a:pathLst>
              </a:custGeom>
              <a:noFill/>
              <a:ln w="50800">
                <a:solidFill>
                  <a:srgbClr val="FFFFFF"/>
                </a:solidFill>
              </a:ln>
            </p:spPr>
          </p:sp>
          <p:sp>
            <p:nvSpPr>
              <p:cNvPr id="11" name="Freeform 11"/>
              <p:cNvSpPr/>
              <p:nvPr/>
            </p:nvSpPr>
            <p:spPr>
              <a:xfrm>
                <a:off x="571500" y="1533525"/>
                <a:ext cx="457201" cy="457201"/>
              </a:xfrm>
              <a:custGeom>
                <a:avLst/>
                <a:gdLst/>
                <a:ahLst/>
                <a:cxnLst/>
                <a:rect l="l" t="t" r="r" b="b"/>
                <a:pathLst>
                  <a:path w="457201" h="457201">
                    <a:moveTo>
                      <a:pt x="0" y="228600"/>
                    </a:moveTo>
                    <a:cubicBezTo>
                      <a:pt x="0" y="354853"/>
                      <a:pt x="102348" y="457201"/>
                      <a:pt x="228600" y="457201"/>
                    </a:cubicBezTo>
                    <a:cubicBezTo>
                      <a:pt x="354853" y="457201"/>
                      <a:pt x="457201" y="354853"/>
                      <a:pt x="457201" y="228600"/>
                    </a:cubicBezTo>
                    <a:cubicBezTo>
                      <a:pt x="457201" y="102348"/>
                      <a:pt x="354853" y="0"/>
                      <a:pt x="228600" y="0"/>
                    </a:cubicBezTo>
                    <a:cubicBezTo>
                      <a:pt x="102348" y="0"/>
                      <a:pt x="0" y="102348"/>
                      <a:pt x="0" y="228600"/>
                    </a:cubicBezTo>
                  </a:path>
                </a:pathLst>
              </a:custGeom>
              <a:noFill/>
              <a:ln w="50800">
                <a:solidFill>
                  <a:srgbClr val="FFFFFF"/>
                </a:solidFill>
              </a:ln>
            </p:spPr>
          </p:sp>
        </p:grpSp>
        <p:sp>
          <p:nvSpPr>
            <p:cNvPr id="13" name="TextBox 13"/>
            <p:cNvSpPr txBox="1"/>
            <p:nvPr/>
          </p:nvSpPr>
          <p:spPr>
            <a:xfrm>
              <a:off x="1497711" y="1065371"/>
              <a:ext cx="587959" cy="278702"/>
            </a:xfrm>
            <a:prstGeom prst="rect">
              <a:avLst/>
            </a:prstGeom>
            <a:noFill/>
            <a:ln>
              <a:noFill/>
            </a:ln>
          </p:spPr>
          <p:txBody>
            <a:bodyPr wrap="none" lIns="0" tIns="0" rIns="0" bIns="0" anchor="t" anchorCtr="0">
              <a:spAutoFit/>
            </a:bodyPr>
            <a:lstStyle/>
            <a:p>
              <a:pPr algn="l"/>
              <a:r>
                <a:rPr lang="zh-CN" sz="1420" b="1" dirty="0">
                  <a:solidFill>
                    <a:srgbClr val="721E0D"/>
                  </a:solidFill>
                  <a:latin typeface="+mn-lt"/>
                  <a:ea typeface="+mn-ea"/>
                  <a:cs typeface="+mn-cs"/>
                </a:rPr>
                <a:t>目标：</a:t>
              </a:r>
            </a:p>
          </p:txBody>
        </p:sp>
        <p:sp>
          <p:nvSpPr>
            <p:cNvPr id="14" name="TextBox 14"/>
            <p:cNvSpPr txBox="1"/>
            <p:nvPr/>
          </p:nvSpPr>
          <p:spPr>
            <a:xfrm>
              <a:off x="1499235" y="1459706"/>
              <a:ext cx="614528" cy="220028"/>
            </a:xfrm>
            <a:prstGeom prst="rect">
              <a:avLst/>
            </a:prstGeom>
            <a:noFill/>
            <a:ln>
              <a:noFill/>
            </a:ln>
          </p:spPr>
          <p:txBody>
            <a:bodyPr wrap="none" lIns="0" tIns="0" rIns="0" bIns="0" anchor="t" anchorCtr="0">
              <a:spAutoFit/>
            </a:bodyPr>
            <a:lstStyle/>
            <a:p>
              <a:pPr algn="l"/>
              <a:r>
                <a:rPr lang="zh-CN" sz="1120" dirty="0">
                  <a:solidFill>
                    <a:srgbClr val="523E3A"/>
                  </a:solidFill>
                  <a:latin typeface="+mn-lt"/>
                  <a:ea typeface="+mn-ea"/>
                  <a:cs typeface="+mn-cs"/>
                </a:rPr>
                <a:t>贡献签约</a:t>
              </a:r>
            </a:p>
          </p:txBody>
        </p:sp>
        <p:sp>
          <p:nvSpPr>
            <p:cNvPr id="15" name="TextBox 15"/>
            <p:cNvSpPr txBox="1"/>
            <p:nvPr/>
          </p:nvSpPr>
          <p:spPr>
            <a:xfrm>
              <a:off x="1487424" y="1894522"/>
              <a:ext cx="1720747" cy="674751"/>
            </a:xfrm>
            <a:prstGeom prst="rect">
              <a:avLst/>
            </a:prstGeom>
            <a:noFill/>
            <a:ln>
              <a:noFill/>
            </a:ln>
          </p:spPr>
          <p:txBody>
            <a:bodyPr wrap="none" lIns="0" tIns="0" rIns="0" bIns="0" anchor="t" anchorCtr="0">
              <a:spAutoFit/>
            </a:bodyPr>
            <a:lstStyle/>
            <a:p>
              <a:pPr algn="l"/>
              <a:r>
                <a:rPr lang="zh-CN" sz="3450" b="1" dirty="0">
                  <a:solidFill>
                    <a:srgbClr val="721E0D"/>
                  </a:solidFill>
                  <a:latin typeface="+mn-lt"/>
                  <a:ea typeface="+mn-ea"/>
                  <a:cs typeface="+mn-cs"/>
                </a:rPr>
                <a:t>5400</a:t>
              </a:r>
              <a:r>
                <a:rPr lang="zh-CN" sz="1280" b="1" dirty="0">
                  <a:solidFill>
                    <a:srgbClr val="721E0D"/>
                  </a:solidFill>
                  <a:latin typeface="+mn-lt"/>
                  <a:ea typeface="+mn-ea"/>
                  <a:cs typeface="+mn-cs"/>
                </a:rPr>
                <a:t>万元</a:t>
              </a:r>
              <a:r>
                <a:rPr lang="zh-CN" sz="3450" b="1" dirty="0">
                  <a:solidFill>
                    <a:srgbClr val="721E0D"/>
                  </a:solidFill>
                  <a:latin typeface="+mn-lt"/>
                  <a:ea typeface="+mn-ea"/>
                  <a:cs typeface="+mn-cs"/>
                </a:rPr>
                <a:t xml:space="preserve"> </a:t>
              </a:r>
            </a:p>
          </p:txBody>
        </p:sp>
      </p:grpSp>
      <p:grpSp>
        <p:nvGrpSpPr>
          <p:cNvPr id="25" name="challenge-card"/>
          <p:cNvGrpSpPr/>
          <p:nvPr/>
        </p:nvGrpSpPr>
        <p:grpSpPr>
          <a:xfrm>
            <a:off x="228600" y="2933700"/>
            <a:ext cx="3486150" cy="1905000"/>
            <a:chOff x="228600" y="2933700"/>
            <a:chExt cx="3486150" cy="1905000"/>
          </a:xfrm>
        </p:grpSpPr>
        <p:sp>
          <p:nvSpPr>
            <p:cNvPr id="17" name="Rectangle 17"/>
            <p:cNvSpPr/>
            <p:nvPr/>
          </p:nvSpPr>
          <p:spPr>
            <a:xfrm>
              <a:off x="228600" y="2933700"/>
              <a:ext cx="3486150" cy="1905000"/>
            </a:xfrm>
            <a:prstGeom prst="roundRect">
              <a:avLst>
                <a:gd name="adj" fmla="val 6000"/>
              </a:avLst>
            </a:prstGeom>
            <a:solidFill>
              <a:srgbClr val="FFFFFF"/>
            </a:solidFill>
            <a:ln w="14288">
              <a:solidFill>
                <a:srgbClr val="C9D6EE"/>
              </a:solidFill>
            </a:ln>
          </p:spPr>
        </p:sp>
        <p:sp>
          <p:nvSpPr>
            <p:cNvPr id="18" name="Freeform 18"/>
            <p:cNvSpPr/>
            <p:nvPr/>
          </p:nvSpPr>
          <p:spPr>
            <a:xfrm>
              <a:off x="228600" y="2933700"/>
              <a:ext cx="1066800" cy="1905000"/>
            </a:xfrm>
            <a:custGeom>
              <a:avLst/>
              <a:gdLst/>
              <a:ahLst/>
              <a:cxnLst/>
              <a:rect l="l" t="t" r="r" b="b"/>
              <a:pathLst>
                <a:path w="1066800" h="1905000">
                  <a:moveTo>
                    <a:pt x="114300" y="0"/>
                  </a:moveTo>
                  <a:lnTo>
                    <a:pt x="1066800" y="0"/>
                  </a:lnTo>
                  <a:lnTo>
                    <a:pt x="1066800" y="1905000"/>
                  </a:lnTo>
                  <a:lnTo>
                    <a:pt x="114300" y="1905000"/>
                  </a:lnTo>
                  <a:cubicBezTo>
                    <a:pt x="51174" y="1905000"/>
                    <a:pt x="0" y="1853826"/>
                    <a:pt x="0" y="1790700"/>
                  </a:cubicBezTo>
                  <a:lnTo>
                    <a:pt x="0" y="114300"/>
                  </a:lnTo>
                  <a:cubicBezTo>
                    <a:pt x="0" y="51174"/>
                    <a:pt x="51174" y="0"/>
                    <a:pt x="114300" y="0"/>
                  </a:cubicBezTo>
                  <a:close/>
                </a:path>
              </a:pathLst>
            </a:custGeom>
            <a:solidFill>
              <a:srgbClr val="721E0D"/>
            </a:solidFill>
            <a:ln>
              <a:noFill/>
            </a:ln>
          </p:spPr>
        </p:sp>
        <p:grpSp>
          <p:nvGrpSpPr>
            <p:cNvPr id="21" name="Group 21"/>
            <p:cNvGrpSpPr/>
            <p:nvPr/>
          </p:nvGrpSpPr>
          <p:grpSpPr>
            <a:xfrm>
              <a:off x="571500" y="3657600"/>
              <a:ext cx="457201" cy="457201"/>
              <a:chOff x="571500" y="3657600"/>
              <a:chExt cx="457201" cy="457201"/>
            </a:xfrm>
          </p:grpSpPr>
          <p:sp>
            <p:nvSpPr>
              <p:cNvPr id="19" name="Freeform 19"/>
              <p:cNvSpPr/>
              <p:nvPr/>
            </p:nvSpPr>
            <p:spPr>
              <a:xfrm>
                <a:off x="571500" y="3657600"/>
                <a:ext cx="457201" cy="457201"/>
              </a:xfrm>
              <a:custGeom>
                <a:avLst/>
                <a:gdLst/>
                <a:ahLst/>
                <a:cxnLst/>
                <a:rect l="l" t="t" r="r" b="b"/>
                <a:pathLst>
                  <a:path w="457201" h="457201">
                    <a:moveTo>
                      <a:pt x="0" y="228600"/>
                    </a:moveTo>
                    <a:cubicBezTo>
                      <a:pt x="0" y="354853"/>
                      <a:pt x="102348" y="457201"/>
                      <a:pt x="228600" y="457201"/>
                    </a:cubicBezTo>
                    <a:cubicBezTo>
                      <a:pt x="354853" y="457201"/>
                      <a:pt x="457201" y="354853"/>
                      <a:pt x="457201" y="228600"/>
                    </a:cubicBezTo>
                    <a:cubicBezTo>
                      <a:pt x="457201" y="102348"/>
                      <a:pt x="354853" y="0"/>
                      <a:pt x="228600" y="0"/>
                    </a:cubicBezTo>
                    <a:cubicBezTo>
                      <a:pt x="102348" y="0"/>
                      <a:pt x="0" y="102348"/>
                      <a:pt x="0" y="228600"/>
                    </a:cubicBezTo>
                  </a:path>
                </a:pathLst>
              </a:custGeom>
              <a:noFill/>
              <a:ln w="50800">
                <a:solidFill>
                  <a:srgbClr val="FFFFFF"/>
                </a:solidFill>
              </a:ln>
            </p:spPr>
          </p:sp>
          <p:sp>
            <p:nvSpPr>
              <p:cNvPr id="20" name="Freeform 20"/>
              <p:cNvSpPr/>
              <p:nvPr/>
            </p:nvSpPr>
            <p:spPr>
              <a:xfrm>
                <a:off x="800100" y="3759200"/>
                <a:ext cx="76200" cy="203200"/>
              </a:xfrm>
              <a:custGeom>
                <a:avLst/>
                <a:gdLst/>
                <a:ahLst/>
                <a:cxnLst/>
                <a:rect l="l" t="t" r="r" b="b"/>
                <a:pathLst>
                  <a:path w="76200" h="203200">
                    <a:moveTo>
                      <a:pt x="0" y="0"/>
                    </a:moveTo>
                    <a:lnTo>
                      <a:pt x="0" y="127000"/>
                    </a:lnTo>
                    <a:lnTo>
                      <a:pt x="76200" y="203200"/>
                    </a:lnTo>
                  </a:path>
                </a:pathLst>
              </a:custGeom>
              <a:noFill/>
              <a:ln w="50800">
                <a:solidFill>
                  <a:srgbClr val="FFFFFF"/>
                </a:solidFill>
              </a:ln>
            </p:spPr>
          </p:sp>
        </p:grpSp>
        <p:sp>
          <p:nvSpPr>
            <p:cNvPr id="22" name="TextBox 22"/>
            <p:cNvSpPr txBox="1"/>
            <p:nvPr/>
          </p:nvSpPr>
          <p:spPr>
            <a:xfrm>
              <a:off x="1497711" y="3198971"/>
              <a:ext cx="587959" cy="278702"/>
            </a:xfrm>
            <a:prstGeom prst="rect">
              <a:avLst/>
            </a:prstGeom>
            <a:noFill/>
            <a:ln>
              <a:noFill/>
            </a:ln>
          </p:spPr>
          <p:txBody>
            <a:bodyPr wrap="none" lIns="0" tIns="0" rIns="0" bIns="0" anchor="t" anchorCtr="0">
              <a:spAutoFit/>
            </a:bodyPr>
            <a:lstStyle/>
            <a:p>
              <a:pPr algn="l"/>
              <a:r>
                <a:rPr lang="zh-CN" sz="1420" b="1" dirty="0">
                  <a:solidFill>
                    <a:srgbClr val="721E0D"/>
                  </a:solidFill>
                  <a:latin typeface="+mn-lt"/>
                  <a:ea typeface="+mn-ea"/>
                  <a:cs typeface="+mn-cs"/>
                </a:rPr>
                <a:t>挑战：</a:t>
              </a:r>
            </a:p>
          </p:txBody>
        </p:sp>
        <p:sp>
          <p:nvSpPr>
            <p:cNvPr id="23" name="TextBox 23"/>
            <p:cNvSpPr txBox="1"/>
            <p:nvPr/>
          </p:nvSpPr>
          <p:spPr>
            <a:xfrm>
              <a:off x="1499235" y="3574256"/>
              <a:ext cx="916076" cy="220028"/>
            </a:xfrm>
            <a:prstGeom prst="rect">
              <a:avLst/>
            </a:prstGeom>
            <a:noFill/>
            <a:ln>
              <a:noFill/>
            </a:ln>
          </p:spPr>
          <p:txBody>
            <a:bodyPr wrap="none" lIns="0" tIns="0" rIns="0" bIns="0" anchor="t" anchorCtr="0">
              <a:spAutoFit/>
            </a:bodyPr>
            <a:lstStyle/>
            <a:p>
              <a:pPr algn="l"/>
              <a:r>
                <a:rPr lang="zh-CN" sz="1120" dirty="0">
                  <a:solidFill>
                    <a:srgbClr val="523E3A"/>
                  </a:solidFill>
                  <a:latin typeface="+mn-lt"/>
                  <a:ea typeface="+mn-ea"/>
                  <a:cs typeface="+mn-cs"/>
                </a:rPr>
                <a:t>平均销售周期</a:t>
              </a:r>
            </a:p>
          </p:txBody>
        </p:sp>
        <p:sp>
          <p:nvSpPr>
            <p:cNvPr id="24" name="TextBox 24"/>
            <p:cNvSpPr txBox="1"/>
            <p:nvPr/>
          </p:nvSpPr>
          <p:spPr>
            <a:xfrm>
              <a:off x="1487424" y="3970972"/>
              <a:ext cx="1280220" cy="674751"/>
            </a:xfrm>
            <a:prstGeom prst="rect">
              <a:avLst/>
            </a:prstGeom>
            <a:noFill/>
            <a:ln>
              <a:noFill/>
            </a:ln>
          </p:spPr>
          <p:txBody>
            <a:bodyPr wrap="none" lIns="0" tIns="0" rIns="0" bIns="0" anchor="t" anchorCtr="0">
              <a:spAutoFit/>
            </a:bodyPr>
            <a:lstStyle/>
            <a:p>
              <a:pPr algn="l"/>
              <a:r>
                <a:rPr lang="zh-CN" sz="3450" b="1" dirty="0">
                  <a:solidFill>
                    <a:srgbClr val="721E0D"/>
                  </a:solidFill>
                  <a:latin typeface="+mn-lt"/>
                  <a:ea typeface="+mn-ea"/>
                  <a:cs typeface="+mn-cs"/>
                </a:rPr>
                <a:t>116</a:t>
              </a:r>
              <a:r>
                <a:rPr lang="zh-CN" sz="1280" b="1" dirty="0">
                  <a:solidFill>
                    <a:srgbClr val="721E0D"/>
                  </a:solidFill>
                  <a:latin typeface="+mn-lt"/>
                  <a:ea typeface="+mn-ea"/>
                  <a:cs typeface="+mn-cs"/>
                </a:rPr>
                <a:t>天</a:t>
              </a:r>
              <a:r>
                <a:rPr lang="zh-CN" sz="3450" b="1" dirty="0">
                  <a:solidFill>
                    <a:srgbClr val="721E0D"/>
                  </a:solidFill>
                  <a:latin typeface="+mn-lt"/>
                  <a:ea typeface="+mn-ea"/>
                  <a:cs typeface="+mn-cs"/>
                </a:rPr>
                <a:t xml:space="preserve"> </a:t>
              </a:r>
            </a:p>
          </p:txBody>
        </p:sp>
      </p:grpSp>
      <p:grpSp>
        <p:nvGrpSpPr>
          <p:cNvPr id="77" name="funnel-stages"/>
          <p:cNvGrpSpPr/>
          <p:nvPr/>
        </p:nvGrpSpPr>
        <p:grpSpPr>
          <a:xfrm>
            <a:off x="3867150" y="704850"/>
            <a:ext cx="8096250" cy="1619250"/>
            <a:chOff x="3867150" y="704850"/>
            <a:chExt cx="8096250" cy="1619250"/>
          </a:xfrm>
        </p:grpSpPr>
        <p:sp>
          <p:nvSpPr>
            <p:cNvPr id="26" name="Freeform 26"/>
            <p:cNvSpPr/>
            <p:nvPr/>
          </p:nvSpPr>
          <p:spPr>
            <a:xfrm>
              <a:off x="3867150" y="704850"/>
              <a:ext cx="2038350" cy="323850"/>
            </a:xfrm>
            <a:prstGeom prst="chevron">
              <a:avLst>
                <a:gd name="adj" fmla="val 50000"/>
              </a:avLst>
            </a:prstGeom>
            <a:solidFill>
              <a:srgbClr val="721E0D"/>
            </a:solidFill>
            <a:ln>
              <a:noFill/>
            </a:ln>
          </p:spPr>
        </p:sp>
        <p:sp>
          <p:nvSpPr>
            <p:cNvPr id="27" name="Freeform 27"/>
            <p:cNvSpPr/>
            <p:nvPr/>
          </p:nvSpPr>
          <p:spPr>
            <a:xfrm>
              <a:off x="5867400" y="704850"/>
              <a:ext cx="2038350" cy="323850"/>
            </a:xfrm>
            <a:prstGeom prst="chevron">
              <a:avLst>
                <a:gd name="adj" fmla="val 50000"/>
              </a:avLst>
            </a:prstGeom>
            <a:solidFill>
              <a:srgbClr val="721E0D"/>
            </a:solidFill>
            <a:ln>
              <a:noFill/>
            </a:ln>
          </p:spPr>
        </p:sp>
        <p:sp>
          <p:nvSpPr>
            <p:cNvPr id="28" name="Freeform 28"/>
            <p:cNvSpPr/>
            <p:nvPr/>
          </p:nvSpPr>
          <p:spPr>
            <a:xfrm>
              <a:off x="7867650" y="704850"/>
              <a:ext cx="2038350" cy="323850"/>
            </a:xfrm>
            <a:prstGeom prst="chevron">
              <a:avLst>
                <a:gd name="adj" fmla="val 50000"/>
              </a:avLst>
            </a:prstGeom>
            <a:solidFill>
              <a:srgbClr val="B8351A"/>
            </a:solidFill>
            <a:ln>
              <a:noFill/>
            </a:ln>
          </p:spPr>
        </p:sp>
        <p:sp>
          <p:nvSpPr>
            <p:cNvPr id="29" name="Freeform 29"/>
            <p:cNvSpPr/>
            <p:nvPr/>
          </p:nvSpPr>
          <p:spPr>
            <a:xfrm>
              <a:off x="9867900" y="704850"/>
              <a:ext cx="2095500" cy="323850"/>
            </a:xfrm>
            <a:prstGeom prst="chevron">
              <a:avLst>
                <a:gd name="adj" fmla="val 50000"/>
              </a:avLst>
            </a:prstGeom>
            <a:solidFill>
              <a:srgbClr val="B8351A"/>
            </a:solidFill>
            <a:ln>
              <a:noFill/>
            </a:ln>
          </p:spPr>
        </p:sp>
        <p:sp>
          <p:nvSpPr>
            <p:cNvPr id="30" name="Ellipse 30"/>
            <p:cNvSpPr/>
            <p:nvPr/>
          </p:nvSpPr>
          <p:spPr>
            <a:xfrm>
              <a:off x="4362450" y="771525"/>
              <a:ext cx="190500" cy="190500"/>
            </a:xfrm>
            <a:prstGeom prst="ellipse">
              <a:avLst/>
            </a:prstGeom>
            <a:solidFill>
              <a:srgbClr val="FFFFFF"/>
            </a:solidFill>
            <a:ln>
              <a:noFill/>
            </a:ln>
          </p:spPr>
        </p:sp>
        <p:sp>
          <p:nvSpPr>
            <p:cNvPr id="31" name="TextBox 31"/>
            <p:cNvSpPr txBox="1"/>
            <p:nvPr/>
          </p:nvSpPr>
          <p:spPr>
            <a:xfrm>
              <a:off x="4421063" y="815816"/>
              <a:ext cx="73274"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1</a:t>
              </a:r>
            </a:p>
          </p:txBody>
        </p:sp>
        <p:sp>
          <p:nvSpPr>
            <p:cNvPr id="32" name="TextBox 32"/>
            <p:cNvSpPr txBox="1"/>
            <p:nvPr/>
          </p:nvSpPr>
          <p:spPr>
            <a:xfrm>
              <a:off x="4604766" y="80105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精准线索</a:t>
              </a:r>
            </a:p>
          </p:txBody>
        </p:sp>
        <p:sp>
          <p:nvSpPr>
            <p:cNvPr id="33" name="Ellipse 33"/>
            <p:cNvSpPr/>
            <p:nvPr/>
          </p:nvSpPr>
          <p:spPr>
            <a:xfrm>
              <a:off x="6362700" y="771525"/>
              <a:ext cx="190500" cy="190500"/>
            </a:xfrm>
            <a:prstGeom prst="ellipse">
              <a:avLst/>
            </a:prstGeom>
            <a:solidFill>
              <a:srgbClr val="FFFFFF"/>
            </a:solidFill>
            <a:ln>
              <a:noFill/>
            </a:ln>
          </p:spPr>
        </p:sp>
        <p:sp>
          <p:nvSpPr>
            <p:cNvPr id="34" name="TextBox 34"/>
            <p:cNvSpPr txBox="1"/>
            <p:nvPr/>
          </p:nvSpPr>
          <p:spPr>
            <a:xfrm>
              <a:off x="6421313" y="815816"/>
              <a:ext cx="73274"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2</a:t>
              </a:r>
            </a:p>
          </p:txBody>
        </p:sp>
        <p:sp>
          <p:nvSpPr>
            <p:cNvPr id="35" name="TextBox 35"/>
            <p:cNvSpPr txBox="1"/>
            <p:nvPr/>
          </p:nvSpPr>
          <p:spPr>
            <a:xfrm>
              <a:off x="6605016" y="801052"/>
              <a:ext cx="577039" cy="205359"/>
            </a:xfrm>
            <a:prstGeom prst="rect">
              <a:avLst/>
            </a:prstGeom>
            <a:noFill/>
            <a:ln>
              <a:noFill/>
            </a:ln>
          </p:spPr>
          <p:txBody>
            <a:bodyPr wrap="none" lIns="0" tIns="0" rIns="0" bIns="0" anchor="t" anchorCtr="0">
              <a:spAutoFit/>
            </a:bodyPr>
            <a:lstStyle/>
            <a:p>
              <a:pPr algn="l"/>
              <a:r>
                <a:rPr lang="en-US" sz="1050" b="1" dirty="0">
                  <a:solidFill>
                    <a:srgbClr val="FFFFFF"/>
                  </a:solidFill>
                  <a:latin typeface="+mn-lt"/>
                  <a:ea typeface="+mn-ea"/>
                  <a:cs typeface="+mn-cs"/>
                </a:rPr>
                <a:t>MQL</a:t>
              </a:r>
              <a:r>
                <a:rPr lang="zh-CN" sz="1050" b="1" dirty="0">
                  <a:solidFill>
                    <a:srgbClr val="FFFFFF"/>
                  </a:solidFill>
                  <a:latin typeface="+mn-lt"/>
                  <a:ea typeface="+mn-ea"/>
                  <a:cs typeface="+mn-cs"/>
                </a:rPr>
                <a:t xml:space="preserve">   </a:t>
              </a:r>
            </a:p>
          </p:txBody>
        </p:sp>
        <p:sp>
          <p:nvSpPr>
            <p:cNvPr id="36" name="Ellipse 36"/>
            <p:cNvSpPr/>
            <p:nvPr/>
          </p:nvSpPr>
          <p:spPr>
            <a:xfrm>
              <a:off x="8362950" y="771525"/>
              <a:ext cx="190500" cy="190500"/>
            </a:xfrm>
            <a:prstGeom prst="ellipse">
              <a:avLst/>
            </a:prstGeom>
            <a:solidFill>
              <a:srgbClr val="FFFFFF"/>
            </a:solidFill>
            <a:ln>
              <a:noFill/>
            </a:ln>
          </p:spPr>
        </p:sp>
        <p:sp>
          <p:nvSpPr>
            <p:cNvPr id="37" name="TextBox 37"/>
            <p:cNvSpPr txBox="1"/>
            <p:nvPr/>
          </p:nvSpPr>
          <p:spPr>
            <a:xfrm>
              <a:off x="8421563" y="815816"/>
              <a:ext cx="73274"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3</a:t>
              </a:r>
            </a:p>
          </p:txBody>
        </p:sp>
        <p:sp>
          <p:nvSpPr>
            <p:cNvPr id="38" name="TextBox 38"/>
            <p:cNvSpPr txBox="1"/>
            <p:nvPr/>
          </p:nvSpPr>
          <p:spPr>
            <a:xfrm>
              <a:off x="8605266" y="80105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方案验证</a:t>
              </a:r>
            </a:p>
          </p:txBody>
        </p:sp>
        <p:sp>
          <p:nvSpPr>
            <p:cNvPr id="39" name="Ellipse 39"/>
            <p:cNvSpPr/>
            <p:nvPr/>
          </p:nvSpPr>
          <p:spPr>
            <a:xfrm>
              <a:off x="10363200" y="771525"/>
              <a:ext cx="190500" cy="190500"/>
            </a:xfrm>
            <a:prstGeom prst="ellipse">
              <a:avLst/>
            </a:prstGeom>
            <a:solidFill>
              <a:srgbClr val="FFFFFF"/>
            </a:solidFill>
            <a:ln>
              <a:noFill/>
            </a:ln>
          </p:spPr>
        </p:sp>
        <p:sp>
          <p:nvSpPr>
            <p:cNvPr id="40" name="TextBox 40"/>
            <p:cNvSpPr txBox="1"/>
            <p:nvPr/>
          </p:nvSpPr>
          <p:spPr>
            <a:xfrm>
              <a:off x="10421813" y="815816"/>
              <a:ext cx="73274"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4</a:t>
              </a:r>
            </a:p>
          </p:txBody>
        </p:sp>
        <p:sp>
          <p:nvSpPr>
            <p:cNvPr id="41" name="TextBox 41"/>
            <p:cNvSpPr txBox="1"/>
            <p:nvPr/>
          </p:nvSpPr>
          <p:spPr>
            <a:xfrm>
              <a:off x="10605516" y="801052"/>
              <a:ext cx="293370"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签约</a:t>
              </a:r>
            </a:p>
          </p:txBody>
        </p:sp>
        <p:sp>
          <p:nvSpPr>
            <p:cNvPr id="42" name="Rectangle 42"/>
            <p:cNvSpPr/>
            <p:nvPr/>
          </p:nvSpPr>
          <p:spPr>
            <a:xfrm>
              <a:off x="3924300" y="1104900"/>
              <a:ext cx="1905000" cy="1219200"/>
            </a:xfrm>
            <a:prstGeom prst="roundRect">
              <a:avLst>
                <a:gd name="adj" fmla="val 6250"/>
              </a:avLst>
            </a:prstGeom>
            <a:solidFill>
              <a:srgbClr val="EAF1FB"/>
            </a:solidFill>
            <a:ln>
              <a:noFill/>
            </a:ln>
          </p:spPr>
        </p:sp>
        <p:grpSp>
          <p:nvGrpSpPr>
            <p:cNvPr id="47" name="Group 47"/>
            <p:cNvGrpSpPr/>
            <p:nvPr/>
          </p:nvGrpSpPr>
          <p:grpSpPr>
            <a:xfrm>
              <a:off x="4719637" y="1252537"/>
              <a:ext cx="314324" cy="314325"/>
              <a:chOff x="4719637" y="1252537"/>
              <a:chExt cx="314324" cy="314325"/>
            </a:xfrm>
          </p:grpSpPr>
          <p:sp>
            <p:nvSpPr>
              <p:cNvPr id="43" name="Freeform 43"/>
              <p:cNvSpPr/>
              <p:nvPr/>
            </p:nvSpPr>
            <p:spPr>
              <a:xfrm>
                <a:off x="4754562" y="125253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34925">
                <a:solidFill>
                  <a:srgbClr val="721E0D"/>
                </a:solidFill>
              </a:ln>
            </p:spPr>
          </p:sp>
          <p:sp>
            <p:nvSpPr>
              <p:cNvPr id="44" name="Freeform 44"/>
              <p:cNvSpPr/>
              <p:nvPr/>
            </p:nvSpPr>
            <p:spPr>
              <a:xfrm>
                <a:off x="4719637" y="1462087"/>
                <a:ext cx="209550" cy="104775"/>
              </a:xfrm>
              <a:custGeom>
                <a:avLst/>
                <a:gdLst/>
                <a:ahLst/>
                <a:cxnLst/>
                <a:rect l="l" t="t" r="r" b="b"/>
                <a:pathLst>
                  <a:path w="209550" h="104775">
                    <a:moveTo>
                      <a:pt x="0" y="104775"/>
                    </a:moveTo>
                    <a:lnTo>
                      <a:pt x="0" y="69850"/>
                    </a:lnTo>
                    <a:cubicBezTo>
                      <a:pt x="0" y="31273"/>
                      <a:pt x="31273" y="0"/>
                      <a:pt x="69850" y="0"/>
                    </a:cubicBezTo>
                    <a:lnTo>
                      <a:pt x="139700" y="0"/>
                    </a:lnTo>
                    <a:cubicBezTo>
                      <a:pt x="178277" y="0"/>
                      <a:pt x="209550" y="31273"/>
                      <a:pt x="209550" y="69850"/>
                    </a:cubicBezTo>
                    <a:lnTo>
                      <a:pt x="209550" y="104775"/>
                    </a:lnTo>
                  </a:path>
                </a:pathLst>
              </a:custGeom>
              <a:noFill/>
              <a:ln w="34925">
                <a:solidFill>
                  <a:srgbClr val="721E0D"/>
                </a:solidFill>
              </a:ln>
            </p:spPr>
          </p:sp>
          <p:sp>
            <p:nvSpPr>
              <p:cNvPr id="45" name="Freeform 45"/>
              <p:cNvSpPr/>
              <p:nvPr/>
            </p:nvSpPr>
            <p:spPr>
              <a:xfrm>
                <a:off x="4946649" y="1254808"/>
                <a:ext cx="52524" cy="135334"/>
              </a:xfrm>
              <a:custGeom>
                <a:avLst/>
                <a:gdLst/>
                <a:ahLst/>
                <a:cxnLst/>
                <a:rect l="l" t="t" r="r" b="b"/>
                <a:pathLst>
                  <a:path w="52524" h="135334">
                    <a:moveTo>
                      <a:pt x="0" y="0"/>
                    </a:moveTo>
                    <a:cubicBezTo>
                      <a:pt x="30907" y="7913"/>
                      <a:pt x="52524" y="35763"/>
                      <a:pt x="52524" y="67667"/>
                    </a:cubicBezTo>
                    <a:cubicBezTo>
                      <a:pt x="52524" y="99571"/>
                      <a:pt x="30907" y="127421"/>
                      <a:pt x="0" y="135334"/>
                    </a:cubicBezTo>
                  </a:path>
                </a:pathLst>
              </a:custGeom>
              <a:noFill/>
              <a:ln w="34925">
                <a:solidFill>
                  <a:srgbClr val="721E0D"/>
                </a:solidFill>
              </a:ln>
            </p:spPr>
          </p:sp>
          <p:sp>
            <p:nvSpPr>
              <p:cNvPr id="46" name="Freeform 46"/>
              <p:cNvSpPr/>
              <p:nvPr/>
            </p:nvSpPr>
            <p:spPr>
              <a:xfrm>
                <a:off x="4981574" y="1464706"/>
                <a:ext cx="52387" cy="102155"/>
              </a:xfrm>
              <a:custGeom>
                <a:avLst/>
                <a:gdLst/>
                <a:ahLst/>
                <a:cxnLst/>
                <a:rect l="l" t="t" r="r" b="b"/>
                <a:pathLst>
                  <a:path w="52387" h="102155">
                    <a:moveTo>
                      <a:pt x="52387" y="102155"/>
                    </a:moveTo>
                    <a:lnTo>
                      <a:pt x="52387" y="67231"/>
                    </a:lnTo>
                    <a:cubicBezTo>
                      <a:pt x="52205" y="35529"/>
                      <a:pt x="30696" y="7925"/>
                      <a:pt x="0" y="0"/>
                    </a:cubicBezTo>
                  </a:path>
                </a:pathLst>
              </a:custGeom>
              <a:noFill/>
              <a:ln w="34925">
                <a:solidFill>
                  <a:srgbClr val="721E0D"/>
                </a:solidFill>
              </a:ln>
            </p:spPr>
          </p:sp>
        </p:grpSp>
        <p:sp>
          <p:nvSpPr>
            <p:cNvPr id="48" name="TextBox 48"/>
            <p:cNvSpPr txBox="1"/>
            <p:nvPr/>
          </p:nvSpPr>
          <p:spPr>
            <a:xfrm>
              <a:off x="4690300" y="1750695"/>
              <a:ext cx="372999" cy="176212"/>
            </a:xfrm>
            <a:prstGeom prst="rect">
              <a:avLst/>
            </a:prstGeom>
            <a:noFill/>
            <a:ln>
              <a:noFill/>
            </a:ln>
          </p:spPr>
          <p:txBody>
            <a:bodyPr wrap="none" lIns="0" tIns="0" rIns="0" bIns="0" anchor="t" anchorCtr="0">
              <a:spAutoFit/>
            </a:bodyPr>
            <a:lstStyle/>
            <a:p>
              <a:pPr algn="ctr"/>
              <a:r>
                <a:rPr lang="zh-CN" sz="900" dirty="0">
                  <a:solidFill>
                    <a:srgbClr val="523E3A"/>
                  </a:solidFill>
                  <a:latin typeface="+mn-lt"/>
                  <a:ea typeface="+mn-ea"/>
                  <a:cs typeface="+mn-cs"/>
                </a:rPr>
                <a:t>线索池</a:t>
              </a:r>
            </a:p>
          </p:txBody>
        </p:sp>
        <p:sp>
          <p:nvSpPr>
            <p:cNvPr id="49" name="TextBox 49"/>
            <p:cNvSpPr txBox="1"/>
            <p:nvPr/>
          </p:nvSpPr>
          <p:spPr>
            <a:xfrm>
              <a:off x="4209696" y="1982629"/>
              <a:ext cx="1334208" cy="308039"/>
            </a:xfrm>
            <a:prstGeom prst="rect">
              <a:avLst/>
            </a:prstGeom>
            <a:noFill/>
            <a:ln>
              <a:noFill/>
            </a:ln>
          </p:spPr>
          <p:txBody>
            <a:bodyPr wrap="none" lIns="0" tIns="0" rIns="0" bIns="0" anchor="t" anchorCtr="0">
              <a:spAutoFit/>
            </a:bodyPr>
            <a:lstStyle/>
            <a:p>
              <a:pPr algn="ctr"/>
              <a:r>
                <a:rPr lang="zh-CN" sz="1580" b="1" dirty="0">
                  <a:solidFill>
                    <a:srgbClr val="721E0D"/>
                  </a:solidFill>
                  <a:latin typeface="+mn-lt"/>
                  <a:ea typeface="+mn-ea"/>
                  <a:cs typeface="+mn-cs"/>
                </a:rPr>
                <a:t xml:space="preserve">   600个   </a:t>
              </a:r>
            </a:p>
          </p:txBody>
        </p:sp>
        <p:sp>
          <p:nvSpPr>
            <p:cNvPr id="50" name="Rectangle 50"/>
            <p:cNvSpPr/>
            <p:nvPr/>
          </p:nvSpPr>
          <p:spPr>
            <a:xfrm>
              <a:off x="6038850" y="1104900"/>
              <a:ext cx="1714500" cy="1219200"/>
            </a:xfrm>
            <a:prstGeom prst="roundRect">
              <a:avLst>
                <a:gd name="adj" fmla="val 6250"/>
              </a:avLst>
            </a:prstGeom>
            <a:solidFill>
              <a:srgbClr val="EAF1FB"/>
            </a:solidFill>
            <a:ln>
              <a:noFill/>
            </a:ln>
          </p:spPr>
        </p:sp>
        <p:grpSp>
          <p:nvGrpSpPr>
            <p:cNvPr id="54" name="Group 54"/>
            <p:cNvGrpSpPr/>
            <p:nvPr/>
          </p:nvGrpSpPr>
          <p:grpSpPr>
            <a:xfrm>
              <a:off x="6791325" y="1252537"/>
              <a:ext cx="261937" cy="314325"/>
              <a:chOff x="6791325" y="1252537"/>
              <a:chExt cx="261937" cy="314325"/>
            </a:xfrm>
          </p:grpSpPr>
          <p:sp>
            <p:nvSpPr>
              <p:cNvPr id="51" name="Freeform 51"/>
              <p:cNvSpPr/>
              <p:nvPr/>
            </p:nvSpPr>
            <p:spPr>
              <a:xfrm>
                <a:off x="6826250" y="125253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34925">
                <a:solidFill>
                  <a:srgbClr val="721E0D"/>
                </a:solidFill>
              </a:ln>
            </p:spPr>
          </p:sp>
          <p:sp>
            <p:nvSpPr>
              <p:cNvPr id="52" name="Freeform 52"/>
              <p:cNvSpPr/>
              <p:nvPr/>
            </p:nvSpPr>
            <p:spPr>
              <a:xfrm>
                <a:off x="6791325" y="1462087"/>
                <a:ext cx="139700" cy="104775"/>
              </a:xfrm>
              <a:custGeom>
                <a:avLst/>
                <a:gdLst/>
                <a:ahLst/>
                <a:cxnLst/>
                <a:rect l="l" t="t" r="r" b="b"/>
                <a:pathLst>
                  <a:path w="139700" h="104775">
                    <a:moveTo>
                      <a:pt x="0" y="104775"/>
                    </a:moveTo>
                    <a:lnTo>
                      <a:pt x="0" y="69850"/>
                    </a:lnTo>
                    <a:cubicBezTo>
                      <a:pt x="0" y="31273"/>
                      <a:pt x="31273" y="0"/>
                      <a:pt x="69850" y="0"/>
                    </a:cubicBezTo>
                    <a:lnTo>
                      <a:pt x="139700" y="0"/>
                    </a:lnTo>
                  </a:path>
                </a:pathLst>
              </a:custGeom>
              <a:noFill/>
              <a:ln w="34925">
                <a:solidFill>
                  <a:srgbClr val="721E0D"/>
                </a:solidFill>
              </a:ln>
            </p:spPr>
          </p:sp>
          <p:sp>
            <p:nvSpPr>
              <p:cNvPr id="53" name="Freeform 53"/>
              <p:cNvSpPr/>
              <p:nvPr/>
            </p:nvSpPr>
            <p:spPr>
              <a:xfrm>
                <a:off x="6948487" y="1497012"/>
                <a:ext cx="104775" cy="69850"/>
              </a:xfrm>
              <a:custGeom>
                <a:avLst/>
                <a:gdLst/>
                <a:ahLst/>
                <a:cxnLst/>
                <a:rect l="l" t="t" r="r" b="b"/>
                <a:pathLst>
                  <a:path w="104775" h="69850">
                    <a:moveTo>
                      <a:pt x="0" y="34925"/>
                    </a:moveTo>
                    <a:lnTo>
                      <a:pt x="34925" y="69850"/>
                    </a:lnTo>
                    <a:lnTo>
                      <a:pt x="104775" y="0"/>
                    </a:lnTo>
                  </a:path>
                </a:pathLst>
              </a:custGeom>
              <a:noFill/>
              <a:ln w="34925">
                <a:solidFill>
                  <a:srgbClr val="721E0D"/>
                </a:solidFill>
              </a:ln>
            </p:spPr>
          </p:sp>
        </p:grpSp>
        <p:sp>
          <p:nvSpPr>
            <p:cNvPr id="55" name="TextBox 55"/>
            <p:cNvSpPr txBox="1"/>
            <p:nvPr/>
          </p:nvSpPr>
          <p:spPr>
            <a:xfrm>
              <a:off x="6626847" y="1750695"/>
              <a:ext cx="538505" cy="176212"/>
            </a:xfrm>
            <a:prstGeom prst="rect">
              <a:avLst/>
            </a:prstGeom>
            <a:noFill/>
            <a:ln>
              <a:noFill/>
            </a:ln>
          </p:spPr>
          <p:txBody>
            <a:bodyPr wrap="none" lIns="0" tIns="0" rIns="0" bIns="0" anchor="t" anchorCtr="0">
              <a:spAutoFit/>
            </a:bodyPr>
            <a:lstStyle/>
            <a:p>
              <a:pPr algn="ctr"/>
              <a:r>
                <a:rPr lang="zh-CN" sz="900" dirty="0">
                  <a:solidFill>
                    <a:srgbClr val="523E3A"/>
                  </a:solidFill>
                  <a:latin typeface="+mn-lt"/>
                  <a:ea typeface="+mn-ea"/>
                  <a:cs typeface="+mn-cs"/>
                </a:rPr>
                <a:t xml:space="preserve">  </a:t>
              </a:r>
              <a:r>
                <a:rPr lang="en-US" sz="900" dirty="0">
                  <a:solidFill>
                    <a:srgbClr val="523E3A"/>
                  </a:solidFill>
                  <a:latin typeface="+mn-lt"/>
                  <a:ea typeface="+mn-ea"/>
                  <a:cs typeface="+mn-cs"/>
                </a:rPr>
                <a:t>MQL</a:t>
              </a:r>
              <a:r>
                <a:rPr lang="zh-CN" sz="900" dirty="0">
                  <a:solidFill>
                    <a:srgbClr val="523E3A"/>
                  </a:solidFill>
                  <a:latin typeface="+mn-lt"/>
                  <a:ea typeface="+mn-ea"/>
                  <a:cs typeface="+mn-cs"/>
                </a:rPr>
                <a:t xml:space="preserve">  </a:t>
              </a:r>
            </a:p>
          </p:txBody>
        </p:sp>
        <p:sp>
          <p:nvSpPr>
            <p:cNvPr id="56" name="TextBox 56"/>
            <p:cNvSpPr txBox="1"/>
            <p:nvPr/>
          </p:nvSpPr>
          <p:spPr>
            <a:xfrm>
              <a:off x="6228996" y="1982629"/>
              <a:ext cx="1334208" cy="308039"/>
            </a:xfrm>
            <a:prstGeom prst="rect">
              <a:avLst/>
            </a:prstGeom>
            <a:noFill/>
            <a:ln>
              <a:noFill/>
            </a:ln>
          </p:spPr>
          <p:txBody>
            <a:bodyPr wrap="none" lIns="0" tIns="0" rIns="0" bIns="0" anchor="t" anchorCtr="0">
              <a:spAutoFit/>
            </a:bodyPr>
            <a:lstStyle/>
            <a:p>
              <a:pPr algn="ctr"/>
              <a:r>
                <a:rPr lang="zh-CN" sz="1580" b="1" dirty="0">
                  <a:solidFill>
                    <a:srgbClr val="721E0D"/>
                  </a:solidFill>
                  <a:latin typeface="+mn-lt"/>
                  <a:ea typeface="+mn-ea"/>
                  <a:cs typeface="+mn-cs"/>
                </a:rPr>
                <a:t xml:space="preserve">   240个   </a:t>
              </a:r>
            </a:p>
          </p:txBody>
        </p:sp>
        <p:sp>
          <p:nvSpPr>
            <p:cNvPr id="57" name="Rectangle 57"/>
            <p:cNvSpPr/>
            <p:nvPr/>
          </p:nvSpPr>
          <p:spPr>
            <a:xfrm>
              <a:off x="8153400" y="1104900"/>
              <a:ext cx="1524000" cy="1219200"/>
            </a:xfrm>
            <a:prstGeom prst="roundRect">
              <a:avLst>
                <a:gd name="adj" fmla="val 6250"/>
              </a:avLst>
            </a:prstGeom>
            <a:solidFill>
              <a:srgbClr val="EAF1FB"/>
            </a:solidFill>
            <a:ln>
              <a:noFill/>
            </a:ln>
          </p:spPr>
        </p:sp>
        <p:grpSp>
          <p:nvGrpSpPr>
            <p:cNvPr id="62" name="Group 62"/>
            <p:cNvGrpSpPr/>
            <p:nvPr/>
          </p:nvGrpSpPr>
          <p:grpSpPr>
            <a:xfrm>
              <a:off x="8758237" y="1252537"/>
              <a:ext cx="314324" cy="296862"/>
              <a:chOff x="8758237" y="1252537"/>
              <a:chExt cx="314324" cy="296862"/>
            </a:xfrm>
          </p:grpSpPr>
          <p:sp>
            <p:nvSpPr>
              <p:cNvPr id="58" name="Freeform 58"/>
              <p:cNvSpPr/>
              <p:nvPr/>
            </p:nvSpPr>
            <p:spPr>
              <a:xfrm>
                <a:off x="8758237" y="1322387"/>
                <a:ext cx="314324" cy="227012"/>
              </a:xfrm>
              <a:custGeom>
                <a:avLst/>
                <a:gdLst/>
                <a:ahLst/>
                <a:cxnLst/>
                <a:rect l="l" t="t" r="r" b="b"/>
                <a:pathLst>
                  <a:path w="314324" h="227012">
                    <a:moveTo>
                      <a:pt x="0" y="34925"/>
                    </a:moveTo>
                    <a:cubicBezTo>
                      <a:pt x="0" y="15636"/>
                      <a:pt x="15636" y="0"/>
                      <a:pt x="34925" y="0"/>
                    </a:cubicBezTo>
                    <a:lnTo>
                      <a:pt x="279399" y="0"/>
                    </a:lnTo>
                    <a:cubicBezTo>
                      <a:pt x="298688" y="0"/>
                      <a:pt x="314324" y="15636"/>
                      <a:pt x="314324" y="34925"/>
                    </a:cubicBezTo>
                    <a:lnTo>
                      <a:pt x="314324" y="192087"/>
                    </a:lnTo>
                    <a:cubicBezTo>
                      <a:pt x="314324" y="211376"/>
                      <a:pt x="298688" y="227012"/>
                      <a:pt x="279399" y="227012"/>
                    </a:cubicBezTo>
                    <a:lnTo>
                      <a:pt x="34925" y="227012"/>
                    </a:lnTo>
                    <a:cubicBezTo>
                      <a:pt x="15636" y="227012"/>
                      <a:pt x="0" y="211376"/>
                      <a:pt x="0" y="192087"/>
                    </a:cubicBezTo>
                    <a:lnTo>
                      <a:pt x="0" y="34925"/>
                    </a:lnTo>
                  </a:path>
                </a:pathLst>
              </a:custGeom>
              <a:noFill/>
              <a:ln w="34925">
                <a:solidFill>
                  <a:srgbClr val="721E0D"/>
                </a:solidFill>
              </a:ln>
            </p:spPr>
          </p:sp>
          <p:sp>
            <p:nvSpPr>
              <p:cNvPr id="59" name="Freeform 59"/>
              <p:cNvSpPr/>
              <p:nvPr/>
            </p:nvSpPr>
            <p:spPr>
              <a:xfrm>
                <a:off x="8845550" y="1252537"/>
                <a:ext cx="139700" cy="69850"/>
              </a:xfrm>
              <a:custGeom>
                <a:avLst/>
                <a:gdLst/>
                <a:ahLst/>
                <a:cxnLst/>
                <a:rect l="l" t="t" r="r" b="b"/>
                <a:pathLst>
                  <a:path w="139700" h="69850">
                    <a:moveTo>
                      <a:pt x="0" y="69850"/>
                    </a:moveTo>
                    <a:lnTo>
                      <a:pt x="0" y="34925"/>
                    </a:lnTo>
                    <a:cubicBezTo>
                      <a:pt x="0" y="15636"/>
                      <a:pt x="15636" y="0"/>
                      <a:pt x="34925" y="0"/>
                    </a:cubicBezTo>
                    <a:lnTo>
                      <a:pt x="104775" y="0"/>
                    </a:lnTo>
                    <a:cubicBezTo>
                      <a:pt x="124063" y="0"/>
                      <a:pt x="139700" y="15636"/>
                      <a:pt x="139700" y="34925"/>
                    </a:cubicBezTo>
                    <a:lnTo>
                      <a:pt x="139700" y="69850"/>
                    </a:lnTo>
                  </a:path>
                </a:pathLst>
              </a:custGeom>
              <a:noFill/>
              <a:ln w="34925">
                <a:solidFill>
                  <a:srgbClr val="721E0D"/>
                </a:solidFill>
              </a:ln>
            </p:spPr>
          </p:sp>
          <p:sp>
            <p:nvSpPr>
              <p:cNvPr id="60" name="Freeform 60"/>
              <p:cNvSpPr/>
              <p:nvPr/>
            </p:nvSpPr>
            <p:spPr>
              <a:xfrm>
                <a:off x="8915400" y="1409700"/>
                <a:ext cx="9525" cy="9525"/>
              </a:xfrm>
              <a:custGeom>
                <a:avLst/>
                <a:gdLst/>
                <a:ahLst/>
                <a:cxnLst/>
                <a:rect l="l" t="t" r="r" b="b"/>
                <a:pathLst>
                  <a:path w="9525" h="9525">
                    <a:moveTo>
                      <a:pt x="0" y="0"/>
                    </a:moveTo>
                    <a:lnTo>
                      <a:pt x="0" y="175"/>
                    </a:lnTo>
                  </a:path>
                </a:pathLst>
              </a:custGeom>
              <a:noFill/>
              <a:ln w="34925">
                <a:solidFill>
                  <a:srgbClr val="721E0D"/>
                </a:solidFill>
              </a:ln>
            </p:spPr>
          </p:sp>
          <p:sp>
            <p:nvSpPr>
              <p:cNvPr id="61" name="Freeform 61"/>
              <p:cNvSpPr/>
              <p:nvPr/>
            </p:nvSpPr>
            <p:spPr>
              <a:xfrm>
                <a:off x="8758237" y="1427162"/>
                <a:ext cx="314324" cy="49813"/>
              </a:xfrm>
              <a:custGeom>
                <a:avLst/>
                <a:gdLst/>
                <a:ahLst/>
                <a:cxnLst/>
                <a:rect l="l" t="t" r="r" b="b"/>
                <a:pathLst>
                  <a:path w="314324" h="49813">
                    <a:moveTo>
                      <a:pt x="0" y="0"/>
                    </a:moveTo>
                    <a:cubicBezTo>
                      <a:pt x="98854" y="49813"/>
                      <a:pt x="215470" y="49813"/>
                      <a:pt x="314324" y="0"/>
                    </a:cubicBezTo>
                  </a:path>
                </a:pathLst>
              </a:custGeom>
              <a:noFill/>
              <a:ln w="34925">
                <a:solidFill>
                  <a:srgbClr val="721E0D"/>
                </a:solidFill>
              </a:ln>
            </p:spPr>
          </p:sp>
        </p:grpSp>
        <p:sp>
          <p:nvSpPr>
            <p:cNvPr id="63" name="TextBox 63"/>
            <p:cNvSpPr txBox="1"/>
            <p:nvPr/>
          </p:nvSpPr>
          <p:spPr>
            <a:xfrm>
              <a:off x="8789480" y="1750695"/>
              <a:ext cx="251841" cy="176212"/>
            </a:xfrm>
            <a:prstGeom prst="rect">
              <a:avLst/>
            </a:prstGeom>
            <a:noFill/>
            <a:ln>
              <a:noFill/>
            </a:ln>
          </p:spPr>
          <p:txBody>
            <a:bodyPr wrap="none" lIns="0" tIns="0" rIns="0" bIns="0" anchor="t" anchorCtr="0">
              <a:spAutoFit/>
            </a:bodyPr>
            <a:lstStyle/>
            <a:p>
              <a:pPr algn="ctr"/>
              <a:r>
                <a:rPr lang="zh-CN" sz="900" dirty="0">
                  <a:solidFill>
                    <a:srgbClr val="523E3A"/>
                  </a:solidFill>
                  <a:latin typeface="+mn-lt"/>
                  <a:ea typeface="+mn-ea"/>
                  <a:cs typeface="+mn-cs"/>
                </a:rPr>
                <a:t>商机</a:t>
              </a:r>
            </a:p>
          </p:txBody>
        </p:sp>
        <p:sp>
          <p:nvSpPr>
            <p:cNvPr id="64" name="TextBox 64"/>
            <p:cNvSpPr txBox="1"/>
            <p:nvPr/>
          </p:nvSpPr>
          <p:spPr>
            <a:xfrm>
              <a:off x="8248296" y="1982629"/>
              <a:ext cx="1334208" cy="308039"/>
            </a:xfrm>
            <a:prstGeom prst="rect">
              <a:avLst/>
            </a:prstGeom>
            <a:noFill/>
            <a:ln>
              <a:noFill/>
            </a:ln>
          </p:spPr>
          <p:txBody>
            <a:bodyPr wrap="none" lIns="0" tIns="0" rIns="0" bIns="0" anchor="t" anchorCtr="0">
              <a:spAutoFit/>
            </a:bodyPr>
            <a:lstStyle/>
            <a:p>
              <a:pPr algn="ctr"/>
              <a:r>
                <a:rPr lang="zh-CN" sz="1580" b="1" dirty="0">
                  <a:solidFill>
                    <a:srgbClr val="721E0D"/>
                  </a:solidFill>
                  <a:latin typeface="+mn-lt"/>
                  <a:ea typeface="+mn-ea"/>
                  <a:cs typeface="+mn-cs"/>
                </a:rPr>
                <a:t xml:space="preserve">   120个   </a:t>
              </a:r>
            </a:p>
          </p:txBody>
        </p:sp>
        <p:sp>
          <p:nvSpPr>
            <p:cNvPr id="65" name="Rectangle 65"/>
            <p:cNvSpPr/>
            <p:nvPr/>
          </p:nvSpPr>
          <p:spPr>
            <a:xfrm>
              <a:off x="10267950" y="1104900"/>
              <a:ext cx="1333500" cy="1219200"/>
            </a:xfrm>
            <a:prstGeom prst="roundRect">
              <a:avLst>
                <a:gd name="adj" fmla="val 6250"/>
              </a:avLst>
            </a:prstGeom>
            <a:solidFill>
              <a:srgbClr val="EAF1FB"/>
            </a:solidFill>
            <a:ln>
              <a:noFill/>
            </a:ln>
          </p:spPr>
        </p:sp>
        <p:grpSp>
          <p:nvGrpSpPr>
            <p:cNvPr id="68" name="Group 68"/>
            <p:cNvGrpSpPr/>
            <p:nvPr/>
          </p:nvGrpSpPr>
          <p:grpSpPr>
            <a:xfrm>
              <a:off x="10777537" y="1252537"/>
              <a:ext cx="314324" cy="314324"/>
              <a:chOff x="10777537" y="1252537"/>
              <a:chExt cx="314324" cy="314324"/>
            </a:xfrm>
          </p:grpSpPr>
          <p:sp>
            <p:nvSpPr>
              <p:cNvPr id="66" name="Freeform 66"/>
              <p:cNvSpPr/>
              <p:nvPr/>
            </p:nvSpPr>
            <p:spPr>
              <a:xfrm>
                <a:off x="10777537" y="1252537"/>
                <a:ext cx="314324" cy="314324"/>
              </a:xfrm>
              <a:custGeom>
                <a:avLst/>
                <a:gdLst/>
                <a:ahLst/>
                <a:cxnLst/>
                <a:rect l="l" t="t" r="r" b="b"/>
                <a:pathLst>
                  <a:path w="314324" h="314324">
                    <a:moveTo>
                      <a:pt x="0" y="157162"/>
                    </a:moveTo>
                    <a:cubicBezTo>
                      <a:pt x="0" y="243961"/>
                      <a:pt x="70364" y="314324"/>
                      <a:pt x="157162" y="314324"/>
                    </a:cubicBezTo>
                    <a:cubicBezTo>
                      <a:pt x="243961" y="314324"/>
                      <a:pt x="314324" y="243961"/>
                      <a:pt x="314324" y="157162"/>
                    </a:cubicBezTo>
                    <a:cubicBezTo>
                      <a:pt x="314324" y="70364"/>
                      <a:pt x="243961" y="0"/>
                      <a:pt x="157162" y="0"/>
                    </a:cubicBezTo>
                    <a:cubicBezTo>
                      <a:pt x="70364" y="0"/>
                      <a:pt x="0" y="70364"/>
                      <a:pt x="0" y="157162"/>
                    </a:cubicBezTo>
                  </a:path>
                </a:pathLst>
              </a:custGeom>
              <a:noFill/>
              <a:ln w="34925">
                <a:solidFill>
                  <a:srgbClr val="721E0D"/>
                </a:solidFill>
              </a:ln>
            </p:spPr>
          </p:sp>
          <p:sp>
            <p:nvSpPr>
              <p:cNvPr id="67" name="Freeform 67"/>
              <p:cNvSpPr/>
              <p:nvPr/>
            </p:nvSpPr>
            <p:spPr>
              <a:xfrm>
                <a:off x="10882312" y="1374775"/>
                <a:ext cx="104775" cy="69850"/>
              </a:xfrm>
              <a:custGeom>
                <a:avLst/>
                <a:gdLst/>
                <a:ahLst/>
                <a:cxnLst/>
                <a:rect l="l" t="t" r="r" b="b"/>
                <a:pathLst>
                  <a:path w="104775" h="69850">
                    <a:moveTo>
                      <a:pt x="0" y="34925"/>
                    </a:moveTo>
                    <a:lnTo>
                      <a:pt x="34925" y="69850"/>
                    </a:lnTo>
                    <a:lnTo>
                      <a:pt x="104775" y="0"/>
                    </a:lnTo>
                  </a:path>
                </a:pathLst>
              </a:custGeom>
              <a:noFill/>
              <a:ln w="34925">
                <a:solidFill>
                  <a:srgbClr val="721E0D"/>
                </a:solidFill>
              </a:ln>
            </p:spPr>
          </p:sp>
        </p:grpSp>
        <p:sp>
          <p:nvSpPr>
            <p:cNvPr id="69" name="TextBox 69"/>
            <p:cNvSpPr txBox="1"/>
            <p:nvPr/>
          </p:nvSpPr>
          <p:spPr>
            <a:xfrm>
              <a:off x="10808780" y="1750695"/>
              <a:ext cx="251841" cy="176212"/>
            </a:xfrm>
            <a:prstGeom prst="rect">
              <a:avLst/>
            </a:prstGeom>
            <a:noFill/>
            <a:ln>
              <a:noFill/>
            </a:ln>
          </p:spPr>
          <p:txBody>
            <a:bodyPr wrap="none" lIns="0" tIns="0" rIns="0" bIns="0" anchor="t" anchorCtr="0">
              <a:spAutoFit/>
            </a:bodyPr>
            <a:lstStyle/>
            <a:p>
              <a:pPr algn="ctr"/>
              <a:r>
                <a:rPr lang="zh-CN" sz="900" dirty="0">
                  <a:solidFill>
                    <a:srgbClr val="523E3A"/>
                  </a:solidFill>
                  <a:latin typeface="+mn-lt"/>
                  <a:ea typeface="+mn-ea"/>
                  <a:cs typeface="+mn-cs"/>
                </a:rPr>
                <a:t>签约</a:t>
              </a:r>
            </a:p>
          </p:txBody>
        </p:sp>
        <p:sp>
          <p:nvSpPr>
            <p:cNvPr id="70" name="TextBox 70"/>
            <p:cNvSpPr txBox="1"/>
            <p:nvPr/>
          </p:nvSpPr>
          <p:spPr>
            <a:xfrm>
              <a:off x="10329013" y="1982629"/>
              <a:ext cx="1211374" cy="308039"/>
            </a:xfrm>
            <a:prstGeom prst="rect">
              <a:avLst/>
            </a:prstGeom>
            <a:noFill/>
            <a:ln>
              <a:noFill/>
            </a:ln>
          </p:spPr>
          <p:txBody>
            <a:bodyPr wrap="none" lIns="0" tIns="0" rIns="0" bIns="0" anchor="t" anchorCtr="0">
              <a:spAutoFit/>
            </a:bodyPr>
            <a:lstStyle/>
            <a:p>
              <a:pPr algn="ctr"/>
              <a:r>
                <a:rPr lang="zh-CN" sz="1580" b="1" dirty="0">
                  <a:solidFill>
                    <a:srgbClr val="721E0D"/>
                  </a:solidFill>
                  <a:latin typeface="+mn-lt"/>
                  <a:ea typeface="+mn-ea"/>
                  <a:cs typeface="+mn-cs"/>
                </a:rPr>
                <a:t xml:space="preserve">   22个   </a:t>
              </a:r>
            </a:p>
          </p:txBody>
        </p:sp>
        <p:sp>
          <p:nvSpPr>
            <p:cNvPr id="71" name="Ellipse 71"/>
            <p:cNvSpPr/>
            <p:nvPr/>
          </p:nvSpPr>
          <p:spPr>
            <a:xfrm>
              <a:off x="5781675" y="1590675"/>
              <a:ext cx="209550" cy="209550"/>
            </a:xfrm>
            <a:prstGeom prst="ellipse">
              <a:avLst/>
            </a:prstGeom>
            <a:solidFill>
              <a:srgbClr val="721E0D"/>
            </a:solidFill>
            <a:ln>
              <a:noFill/>
            </a:ln>
          </p:spPr>
        </p:sp>
        <p:sp>
          <p:nvSpPr>
            <p:cNvPr id="72" name="TextBox 72"/>
            <p:cNvSpPr txBox="1"/>
            <p:nvPr/>
          </p:nvSpPr>
          <p:spPr>
            <a:xfrm>
              <a:off x="5840301" y="16392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a:t>
              </a:r>
            </a:p>
          </p:txBody>
        </p:sp>
        <p:sp>
          <p:nvSpPr>
            <p:cNvPr id="73" name="Ellipse 73"/>
            <p:cNvSpPr/>
            <p:nvPr/>
          </p:nvSpPr>
          <p:spPr>
            <a:xfrm>
              <a:off x="7800975" y="1590675"/>
              <a:ext cx="209550" cy="209550"/>
            </a:xfrm>
            <a:prstGeom prst="ellipse">
              <a:avLst/>
            </a:prstGeom>
            <a:solidFill>
              <a:srgbClr val="721E0D"/>
            </a:solidFill>
            <a:ln>
              <a:noFill/>
            </a:ln>
          </p:spPr>
        </p:sp>
        <p:sp>
          <p:nvSpPr>
            <p:cNvPr id="74" name="TextBox 74"/>
            <p:cNvSpPr txBox="1"/>
            <p:nvPr/>
          </p:nvSpPr>
          <p:spPr>
            <a:xfrm>
              <a:off x="7859601" y="16392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a:t>
              </a:r>
            </a:p>
          </p:txBody>
        </p:sp>
        <p:sp>
          <p:nvSpPr>
            <p:cNvPr id="75" name="Ellipse 75"/>
            <p:cNvSpPr/>
            <p:nvPr/>
          </p:nvSpPr>
          <p:spPr>
            <a:xfrm>
              <a:off x="9820275" y="1590675"/>
              <a:ext cx="209550" cy="209550"/>
            </a:xfrm>
            <a:prstGeom prst="ellipse">
              <a:avLst/>
            </a:prstGeom>
            <a:solidFill>
              <a:srgbClr val="721E0D"/>
            </a:solidFill>
            <a:ln>
              <a:noFill/>
            </a:ln>
          </p:spPr>
        </p:sp>
        <p:sp>
          <p:nvSpPr>
            <p:cNvPr id="76" name="TextBox 76"/>
            <p:cNvSpPr txBox="1"/>
            <p:nvPr/>
          </p:nvSpPr>
          <p:spPr>
            <a:xfrm>
              <a:off x="9878901" y="1639252"/>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a:t>
              </a:r>
            </a:p>
          </p:txBody>
        </p:sp>
      </p:grpSp>
      <p:grpSp>
        <p:nvGrpSpPr>
          <p:cNvPr id="129" name="funnel-table"/>
          <p:cNvGrpSpPr/>
          <p:nvPr/>
        </p:nvGrpSpPr>
        <p:grpSpPr>
          <a:xfrm>
            <a:off x="3867150" y="2438400"/>
            <a:ext cx="8096250" cy="2400300"/>
            <a:chOff x="3867150" y="2438400"/>
            <a:chExt cx="8096250" cy="2400300"/>
          </a:xfrm>
        </p:grpSpPr>
        <p:sp>
          <p:nvSpPr>
            <p:cNvPr id="78" name="Rectangle 78"/>
            <p:cNvSpPr/>
            <p:nvPr/>
          </p:nvSpPr>
          <p:spPr>
            <a:xfrm>
              <a:off x="3867150" y="2438400"/>
              <a:ext cx="8096250" cy="2400300"/>
            </a:xfrm>
            <a:prstGeom prst="roundRect">
              <a:avLst>
                <a:gd name="adj" fmla="val 3175"/>
              </a:avLst>
            </a:prstGeom>
            <a:solidFill>
              <a:srgbClr val="FFFFFF"/>
            </a:solidFill>
            <a:ln w="14288">
              <a:solidFill>
                <a:srgbClr val="C9D6EE"/>
              </a:solidFill>
            </a:ln>
          </p:spPr>
        </p:sp>
        <p:sp>
          <p:nvSpPr>
            <p:cNvPr id="79" name="Rectangle 79"/>
            <p:cNvSpPr/>
            <p:nvPr/>
          </p:nvSpPr>
          <p:spPr>
            <a:xfrm>
              <a:off x="3867150" y="2438400"/>
              <a:ext cx="609600" cy="800100"/>
            </a:xfrm>
            <a:prstGeom prst="rect">
              <a:avLst/>
            </a:prstGeom>
            <a:solidFill>
              <a:srgbClr val="721E0D"/>
            </a:solidFill>
            <a:ln>
              <a:noFill/>
            </a:ln>
          </p:spPr>
        </p:sp>
        <p:grpSp>
          <p:nvGrpSpPr>
            <p:cNvPr id="83" name="Group 83"/>
            <p:cNvGrpSpPr/>
            <p:nvPr/>
          </p:nvGrpSpPr>
          <p:grpSpPr>
            <a:xfrm>
              <a:off x="3964781" y="2774156"/>
              <a:ext cx="128588" cy="128588"/>
              <a:chOff x="3964781" y="2774156"/>
              <a:chExt cx="128588" cy="128588"/>
            </a:xfrm>
          </p:grpSpPr>
          <p:sp>
            <p:nvSpPr>
              <p:cNvPr id="80" name="Freeform 80"/>
              <p:cNvSpPr/>
              <p:nvPr/>
            </p:nvSpPr>
            <p:spPr>
              <a:xfrm>
                <a:off x="4021931" y="2831306"/>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81" name="Freeform 81"/>
              <p:cNvSpPr/>
              <p:nvPr/>
            </p:nvSpPr>
            <p:spPr>
              <a:xfrm>
                <a:off x="3993356" y="2802731"/>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82" name="Freeform 82"/>
              <p:cNvSpPr/>
              <p:nvPr/>
            </p:nvSpPr>
            <p:spPr>
              <a:xfrm>
                <a:off x="3964781" y="2774156"/>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84" name="TextBox 84"/>
            <p:cNvSpPr txBox="1"/>
            <p:nvPr/>
          </p:nvSpPr>
          <p:spPr>
            <a:xfrm>
              <a:off x="4210368" y="2742486"/>
              <a:ext cx="189865" cy="254794"/>
            </a:xfrm>
            <a:prstGeom prst="rect">
              <a:avLst/>
            </a:prstGeom>
            <a:noFill/>
            <a:ln>
              <a:noFill/>
            </a:ln>
          </p:spPr>
          <p:txBody>
            <a:bodyPr wrap="none" lIns="0" tIns="0" rIns="0" bIns="0" anchor="t" anchorCtr="0">
              <a:spAutoFit/>
            </a:bodyPr>
            <a:lstStyle/>
            <a:p>
              <a:pPr algn="ctr">
                <a:lnSpc>
                  <a:spcPts val="900"/>
                </a:lnSpc>
              </a:pPr>
              <a:r>
                <a:rPr lang="zh-CN" sz="710" b="1" dirty="0">
                  <a:solidFill>
                    <a:srgbClr val="FFFFFF"/>
                  </a:solidFill>
                  <a:latin typeface="+mn-lt"/>
                  <a:ea typeface="+mn-ea"/>
                  <a:cs typeface="+mn-cs"/>
                </a:rPr>
                <a:t>关键</a:t>
              </a:r>
              <a:br/>
              <a:r>
                <a:rPr lang="zh-CN" sz="710" b="1" dirty="0">
                  <a:solidFill>
                    <a:srgbClr val="FFFFFF"/>
                  </a:solidFill>
                  <a:latin typeface="+mn-lt"/>
                  <a:ea typeface="+mn-ea"/>
                  <a:cs typeface="+mn-cs"/>
                </a:rPr>
                <a:t>动作</a:t>
              </a:r>
            </a:p>
          </p:txBody>
        </p:sp>
        <p:sp>
          <p:nvSpPr>
            <p:cNvPr id="85" name="Rectangle 85"/>
            <p:cNvSpPr/>
            <p:nvPr/>
          </p:nvSpPr>
          <p:spPr>
            <a:xfrm>
              <a:off x="3867150" y="3238500"/>
              <a:ext cx="609600" cy="419100"/>
            </a:xfrm>
            <a:prstGeom prst="rect">
              <a:avLst/>
            </a:prstGeom>
            <a:solidFill>
              <a:srgbClr val="721E0D"/>
            </a:solidFill>
            <a:ln>
              <a:noFill/>
            </a:ln>
          </p:spPr>
        </p:sp>
        <p:grpSp>
          <p:nvGrpSpPr>
            <p:cNvPr id="90" name="Group 90"/>
            <p:cNvGrpSpPr/>
            <p:nvPr/>
          </p:nvGrpSpPr>
          <p:grpSpPr>
            <a:xfrm>
              <a:off x="3964781" y="3390900"/>
              <a:ext cx="128587" cy="123825"/>
              <a:chOff x="3964781" y="3390900"/>
              <a:chExt cx="128587" cy="123825"/>
            </a:xfrm>
          </p:grpSpPr>
          <p:sp>
            <p:nvSpPr>
              <p:cNvPr id="86" name="Freeform 86"/>
              <p:cNvSpPr/>
              <p:nvPr/>
            </p:nvSpPr>
            <p:spPr>
              <a:xfrm>
                <a:off x="3964781" y="3448050"/>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FFFFFF"/>
                </a:solidFill>
              </a:ln>
            </p:spPr>
          </p:sp>
          <p:sp>
            <p:nvSpPr>
              <p:cNvPr id="87" name="Freeform 87"/>
              <p:cNvSpPr/>
              <p:nvPr/>
            </p:nvSpPr>
            <p:spPr>
              <a:xfrm>
                <a:off x="4050506" y="3419475"/>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FFFFFF"/>
                </a:solidFill>
              </a:ln>
            </p:spPr>
          </p:sp>
          <p:sp>
            <p:nvSpPr>
              <p:cNvPr id="88" name="Freeform 88"/>
              <p:cNvSpPr/>
              <p:nvPr/>
            </p:nvSpPr>
            <p:spPr>
              <a:xfrm>
                <a:off x="4007644" y="3390900"/>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FFFFFF"/>
                </a:solidFill>
              </a:ln>
            </p:spPr>
          </p:sp>
          <p:sp>
            <p:nvSpPr>
              <p:cNvPr id="89" name="Freeform 89"/>
              <p:cNvSpPr/>
              <p:nvPr/>
            </p:nvSpPr>
            <p:spPr>
              <a:xfrm>
                <a:off x="3971925" y="3505200"/>
                <a:ext cx="100012" cy="9525"/>
              </a:xfrm>
              <a:custGeom>
                <a:avLst/>
                <a:gdLst/>
                <a:ahLst/>
                <a:cxnLst/>
                <a:rect l="l" t="t" r="r" b="b"/>
                <a:pathLst>
                  <a:path w="100012" h="9525">
                    <a:moveTo>
                      <a:pt x="0" y="0"/>
                    </a:moveTo>
                    <a:lnTo>
                      <a:pt x="100012" y="0"/>
                    </a:lnTo>
                  </a:path>
                </a:pathLst>
              </a:custGeom>
              <a:noFill/>
              <a:ln w="14288">
                <a:solidFill>
                  <a:srgbClr val="FFFFFF"/>
                </a:solidFill>
              </a:ln>
            </p:spPr>
          </p:sp>
        </p:grpSp>
        <p:sp>
          <p:nvSpPr>
            <p:cNvPr id="91" name="TextBox 91"/>
            <p:cNvSpPr txBox="1"/>
            <p:nvPr/>
          </p:nvSpPr>
          <p:spPr>
            <a:xfrm>
              <a:off x="4210368" y="3352086"/>
              <a:ext cx="189865" cy="254794"/>
            </a:xfrm>
            <a:prstGeom prst="rect">
              <a:avLst/>
            </a:prstGeom>
            <a:noFill/>
            <a:ln>
              <a:noFill/>
            </a:ln>
          </p:spPr>
          <p:txBody>
            <a:bodyPr wrap="none" lIns="0" tIns="0" rIns="0" bIns="0" anchor="t" anchorCtr="0">
              <a:spAutoFit/>
            </a:bodyPr>
            <a:lstStyle/>
            <a:p>
              <a:pPr algn="ctr">
                <a:lnSpc>
                  <a:spcPts val="900"/>
                </a:lnSpc>
              </a:pPr>
              <a:r>
                <a:rPr lang="zh-CN" sz="710" b="1" dirty="0">
                  <a:solidFill>
                    <a:srgbClr val="FFFFFF"/>
                  </a:solidFill>
                  <a:latin typeface="+mn-lt"/>
                  <a:ea typeface="+mn-ea"/>
                  <a:cs typeface="+mn-cs"/>
                </a:rPr>
                <a:t>数量</a:t>
              </a:r>
              <a:br/>
              <a:r>
                <a:rPr lang="zh-CN" sz="710" b="1" dirty="0">
                  <a:solidFill>
                    <a:srgbClr val="FFFFFF"/>
                  </a:solidFill>
                  <a:latin typeface="+mn-lt"/>
                  <a:ea typeface="+mn-ea"/>
                  <a:cs typeface="+mn-cs"/>
                </a:rPr>
                <a:t>指标</a:t>
              </a:r>
            </a:p>
          </p:txBody>
        </p:sp>
        <p:sp>
          <p:nvSpPr>
            <p:cNvPr id="92" name="Rectangle 92"/>
            <p:cNvSpPr/>
            <p:nvPr/>
          </p:nvSpPr>
          <p:spPr>
            <a:xfrm>
              <a:off x="3867150" y="3657600"/>
              <a:ext cx="609600" cy="590550"/>
            </a:xfrm>
            <a:prstGeom prst="rect">
              <a:avLst/>
            </a:prstGeom>
            <a:solidFill>
              <a:srgbClr val="721E0D"/>
            </a:solidFill>
            <a:ln>
              <a:noFill/>
            </a:ln>
          </p:spPr>
        </p:sp>
        <p:sp>
          <p:nvSpPr>
            <p:cNvPr id="93" name="Freeform 93"/>
            <p:cNvSpPr/>
            <p:nvPr/>
          </p:nvSpPr>
          <p:spPr>
            <a:xfrm>
              <a:off x="3971925" y="3895725"/>
              <a:ext cx="114300" cy="121444"/>
            </a:xfrm>
            <a:custGeom>
              <a:avLst/>
              <a:gdLst/>
              <a:ahLst/>
              <a:cxnLst/>
              <a:rect l="l" t="t" r="r" b="b"/>
              <a:pathLst>
                <a:path w="114300" h="121444">
                  <a:moveTo>
                    <a:pt x="0" y="0"/>
                  </a:moveTo>
                  <a:lnTo>
                    <a:pt x="114300" y="0"/>
                  </a:lnTo>
                  <a:lnTo>
                    <a:pt x="114300" y="15516"/>
                  </a:lnTo>
                  <a:cubicBezTo>
                    <a:pt x="114299" y="19305"/>
                    <a:pt x="112793" y="22939"/>
                    <a:pt x="110114" y="25617"/>
                  </a:cubicBezTo>
                  <a:lnTo>
                    <a:pt x="78581" y="57150"/>
                  </a:lnTo>
                  <a:lnTo>
                    <a:pt x="78581" y="107156"/>
                  </a:lnTo>
                  <a:lnTo>
                    <a:pt x="35719" y="121444"/>
                  </a:lnTo>
                  <a:lnTo>
                    <a:pt x="35719" y="60722"/>
                  </a:lnTo>
                  <a:lnTo>
                    <a:pt x="3715" y="25517"/>
                  </a:lnTo>
                  <a:cubicBezTo>
                    <a:pt x="1325" y="22888"/>
                    <a:pt x="0" y="19462"/>
                    <a:pt x="0" y="15909"/>
                  </a:cubicBezTo>
                  <a:lnTo>
                    <a:pt x="0" y="0"/>
                  </a:lnTo>
                </a:path>
              </a:pathLst>
            </a:custGeom>
            <a:noFill/>
            <a:ln w="14288">
              <a:solidFill>
                <a:srgbClr val="FFFFFF"/>
              </a:solidFill>
            </a:ln>
          </p:spPr>
        </p:sp>
        <p:sp>
          <p:nvSpPr>
            <p:cNvPr id="94" name="TextBox 94"/>
            <p:cNvSpPr txBox="1"/>
            <p:nvPr/>
          </p:nvSpPr>
          <p:spPr>
            <a:xfrm>
              <a:off x="4157167" y="3914061"/>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转化率</a:t>
              </a:r>
            </a:p>
          </p:txBody>
        </p:sp>
        <p:sp>
          <p:nvSpPr>
            <p:cNvPr id="95" name="Rectangle 95"/>
            <p:cNvSpPr/>
            <p:nvPr/>
          </p:nvSpPr>
          <p:spPr>
            <a:xfrm>
              <a:off x="3867150" y="4248150"/>
              <a:ext cx="609600" cy="590550"/>
            </a:xfrm>
            <a:prstGeom prst="rect">
              <a:avLst/>
            </a:prstGeom>
            <a:solidFill>
              <a:srgbClr val="721E0D"/>
            </a:solidFill>
            <a:ln>
              <a:noFill/>
            </a:ln>
          </p:spPr>
        </p:sp>
        <p:grpSp>
          <p:nvGrpSpPr>
            <p:cNvPr id="98" name="Group 98"/>
            <p:cNvGrpSpPr/>
            <p:nvPr/>
          </p:nvGrpSpPr>
          <p:grpSpPr>
            <a:xfrm>
              <a:off x="3964781" y="4479131"/>
              <a:ext cx="128588" cy="128588"/>
              <a:chOff x="3964781" y="4479131"/>
              <a:chExt cx="128588" cy="128588"/>
            </a:xfrm>
          </p:grpSpPr>
          <p:sp>
            <p:nvSpPr>
              <p:cNvPr id="96" name="Freeform 96"/>
              <p:cNvSpPr/>
              <p:nvPr/>
            </p:nvSpPr>
            <p:spPr>
              <a:xfrm>
                <a:off x="3964781" y="44791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sp>
            <p:nvSpPr>
              <p:cNvPr id="97" name="Freeform 97"/>
              <p:cNvSpPr/>
              <p:nvPr/>
            </p:nvSpPr>
            <p:spPr>
              <a:xfrm>
                <a:off x="4029075" y="4507706"/>
                <a:ext cx="21431" cy="57150"/>
              </a:xfrm>
              <a:custGeom>
                <a:avLst/>
                <a:gdLst/>
                <a:ahLst/>
                <a:cxnLst/>
                <a:rect l="l" t="t" r="r" b="b"/>
                <a:pathLst>
                  <a:path w="21431" h="57150">
                    <a:moveTo>
                      <a:pt x="0" y="0"/>
                    </a:moveTo>
                    <a:lnTo>
                      <a:pt x="0" y="35719"/>
                    </a:lnTo>
                    <a:lnTo>
                      <a:pt x="21431" y="57150"/>
                    </a:lnTo>
                  </a:path>
                </a:pathLst>
              </a:custGeom>
              <a:noFill/>
              <a:ln w="14288">
                <a:solidFill>
                  <a:srgbClr val="FFFFFF"/>
                </a:solidFill>
              </a:ln>
            </p:spPr>
          </p:sp>
        </p:grpSp>
        <p:sp>
          <p:nvSpPr>
            <p:cNvPr id="99" name="TextBox 99"/>
            <p:cNvSpPr txBox="1"/>
            <p:nvPr/>
          </p:nvSpPr>
          <p:spPr>
            <a:xfrm>
              <a:off x="3970966" y="4447461"/>
              <a:ext cx="668668" cy="254794"/>
            </a:xfrm>
            <a:prstGeom prst="rect">
              <a:avLst/>
            </a:prstGeom>
            <a:noFill/>
            <a:ln>
              <a:noFill/>
            </a:ln>
          </p:spPr>
          <p:txBody>
            <a:bodyPr wrap="none" lIns="0" tIns="0" rIns="0" bIns="0" anchor="t" anchorCtr="0">
              <a:spAutoFit/>
            </a:bodyPr>
            <a:lstStyle/>
            <a:p>
              <a:pPr algn="ctr">
                <a:lnSpc>
                  <a:spcPts val="900"/>
                </a:lnSpc>
              </a:pPr>
              <a:r>
                <a:rPr lang="zh-CN" sz="710" b="1" dirty="0">
                  <a:solidFill>
                    <a:srgbClr val="FFFFFF"/>
                  </a:solidFill>
                  <a:latin typeface="+mn-lt"/>
                  <a:ea typeface="+mn-ea"/>
                  <a:cs typeface="+mn-cs"/>
                </a:rPr>
                <a:t>阶段</a:t>
              </a:r>
              <a:br/>
              <a:r>
                <a:rPr lang="zh-CN" sz="710" b="1" dirty="0">
                  <a:solidFill>
                    <a:srgbClr val="FFFFFF"/>
                  </a:solidFill>
                  <a:latin typeface="+mn-lt"/>
                  <a:ea typeface="+mn-ea"/>
                  <a:cs typeface="+mn-cs"/>
                </a:rPr>
                <a:t xml:space="preserve">  周期（天）  </a:t>
              </a:r>
            </a:p>
          </p:txBody>
        </p:sp>
        <p:sp>
          <p:nvSpPr>
            <p:cNvPr id="100" name="Line 100"/>
            <p:cNvSpPr/>
            <p:nvPr/>
          </p:nvSpPr>
          <p:spPr>
            <a:xfrm>
              <a:off x="4476750" y="3238500"/>
              <a:ext cx="7486650" cy="9525"/>
            </a:xfrm>
            <a:custGeom>
              <a:avLst/>
              <a:gdLst/>
              <a:ahLst/>
              <a:cxnLst/>
              <a:rect l="l" t="t" r="r" b="b"/>
              <a:pathLst>
                <a:path w="7486650" h="9525">
                  <a:moveTo>
                    <a:pt x="0" y="0"/>
                  </a:moveTo>
                  <a:lnTo>
                    <a:pt x="7486650" y="0"/>
                  </a:lnTo>
                </a:path>
              </a:pathLst>
            </a:custGeom>
            <a:noFill/>
            <a:ln w="9525">
              <a:solidFill>
                <a:srgbClr val="DCE6F6"/>
              </a:solidFill>
            </a:ln>
          </p:spPr>
        </p:sp>
        <p:sp>
          <p:nvSpPr>
            <p:cNvPr id="101" name="Line 101"/>
            <p:cNvSpPr/>
            <p:nvPr/>
          </p:nvSpPr>
          <p:spPr>
            <a:xfrm>
              <a:off x="4476750" y="3657600"/>
              <a:ext cx="7486650" cy="9525"/>
            </a:xfrm>
            <a:custGeom>
              <a:avLst/>
              <a:gdLst/>
              <a:ahLst/>
              <a:cxnLst/>
              <a:rect l="l" t="t" r="r" b="b"/>
              <a:pathLst>
                <a:path w="7486650" h="9525">
                  <a:moveTo>
                    <a:pt x="0" y="0"/>
                  </a:moveTo>
                  <a:lnTo>
                    <a:pt x="7486650" y="0"/>
                  </a:lnTo>
                </a:path>
              </a:pathLst>
            </a:custGeom>
            <a:noFill/>
            <a:ln w="9525">
              <a:solidFill>
                <a:srgbClr val="DCE6F6"/>
              </a:solidFill>
            </a:ln>
          </p:spPr>
        </p:sp>
        <p:sp>
          <p:nvSpPr>
            <p:cNvPr id="102" name="Line 102"/>
            <p:cNvSpPr/>
            <p:nvPr/>
          </p:nvSpPr>
          <p:spPr>
            <a:xfrm>
              <a:off x="4476750" y="4248150"/>
              <a:ext cx="7486650" cy="9525"/>
            </a:xfrm>
            <a:custGeom>
              <a:avLst/>
              <a:gdLst/>
              <a:ahLst/>
              <a:cxnLst/>
              <a:rect l="l" t="t" r="r" b="b"/>
              <a:pathLst>
                <a:path w="7486650" h="9525">
                  <a:moveTo>
                    <a:pt x="0" y="0"/>
                  </a:moveTo>
                  <a:lnTo>
                    <a:pt x="7486650" y="0"/>
                  </a:lnTo>
                </a:path>
              </a:pathLst>
            </a:custGeom>
            <a:noFill/>
            <a:ln w="9525">
              <a:solidFill>
                <a:srgbClr val="DCE6F6"/>
              </a:solidFill>
            </a:ln>
          </p:spPr>
        </p:sp>
        <p:sp>
          <p:nvSpPr>
            <p:cNvPr id="103" name="Line 103"/>
            <p:cNvSpPr/>
            <p:nvPr/>
          </p:nvSpPr>
          <p:spPr>
            <a:xfrm>
              <a:off x="6343650" y="2438400"/>
              <a:ext cx="9525" cy="2400300"/>
            </a:xfrm>
            <a:custGeom>
              <a:avLst/>
              <a:gdLst/>
              <a:ahLst/>
              <a:cxnLst/>
              <a:rect l="l" t="t" r="r" b="b"/>
              <a:pathLst>
                <a:path w="9525" h="2400300">
                  <a:moveTo>
                    <a:pt x="0" y="0"/>
                  </a:moveTo>
                  <a:lnTo>
                    <a:pt x="0" y="2400300"/>
                  </a:lnTo>
                </a:path>
              </a:pathLst>
            </a:custGeom>
            <a:noFill/>
            <a:ln w="9525">
              <a:solidFill>
                <a:srgbClr val="DCE6F6"/>
              </a:solidFill>
            </a:ln>
          </p:spPr>
        </p:sp>
        <p:sp>
          <p:nvSpPr>
            <p:cNvPr id="104" name="Line 104"/>
            <p:cNvSpPr/>
            <p:nvPr/>
          </p:nvSpPr>
          <p:spPr>
            <a:xfrm>
              <a:off x="8220075" y="2438400"/>
              <a:ext cx="9525" cy="2400300"/>
            </a:xfrm>
            <a:custGeom>
              <a:avLst/>
              <a:gdLst/>
              <a:ahLst/>
              <a:cxnLst/>
              <a:rect l="l" t="t" r="r" b="b"/>
              <a:pathLst>
                <a:path w="9525" h="2400300">
                  <a:moveTo>
                    <a:pt x="0" y="0"/>
                  </a:moveTo>
                  <a:lnTo>
                    <a:pt x="0" y="2400300"/>
                  </a:lnTo>
                </a:path>
              </a:pathLst>
            </a:custGeom>
            <a:noFill/>
            <a:ln w="9525">
              <a:solidFill>
                <a:srgbClr val="DCE6F6"/>
              </a:solidFill>
            </a:ln>
          </p:spPr>
        </p:sp>
        <p:sp>
          <p:nvSpPr>
            <p:cNvPr id="105" name="Line 105"/>
            <p:cNvSpPr/>
            <p:nvPr/>
          </p:nvSpPr>
          <p:spPr>
            <a:xfrm>
              <a:off x="10086975" y="2438400"/>
              <a:ext cx="9525" cy="2400300"/>
            </a:xfrm>
            <a:custGeom>
              <a:avLst/>
              <a:gdLst/>
              <a:ahLst/>
              <a:cxnLst/>
              <a:rect l="l" t="t" r="r" b="b"/>
              <a:pathLst>
                <a:path w="9525" h="2400300">
                  <a:moveTo>
                    <a:pt x="0" y="0"/>
                  </a:moveTo>
                  <a:lnTo>
                    <a:pt x="0" y="2400300"/>
                  </a:lnTo>
                </a:path>
              </a:pathLst>
            </a:custGeom>
            <a:noFill/>
            <a:ln w="9525">
              <a:solidFill>
                <a:srgbClr val="DCE6F6"/>
              </a:solidFill>
            </a:ln>
          </p:spPr>
        </p:sp>
        <p:sp>
          <p:nvSpPr>
            <p:cNvPr id="106" name="TextBox 106"/>
            <p:cNvSpPr txBox="1"/>
            <p:nvPr/>
          </p:nvSpPr>
          <p:spPr>
            <a:xfrm>
              <a:off x="4586288" y="2605088"/>
              <a:ext cx="1395412" cy="490538"/>
            </a:xfrm>
            <a:prstGeom prst="rect">
              <a:avLst/>
            </a:prstGeom>
            <a:noFill/>
            <a:ln>
              <a:noFill/>
            </a:ln>
          </p:spPr>
          <p:txBody>
            <a:bodyPr wrap="none" lIns="0" tIns="0" rIns="0" bIns="0" anchor="t" anchorCtr="0">
              <a:spAutoFit/>
            </a:bodyPr>
            <a:lstStyle/>
            <a:p>
              <a:pPr algn="l" marL="80962" indent="-80962">
                <a:lnSpc>
                  <a:spcPts val="1350"/>
                </a:lnSpc>
                <a:buClr>
                  <a:srgbClr val="523E3A"/>
                </a:buClr>
                <a:buSzTx/>
                <a:buFontTx/>
                <a:buChar char="•"/>
              </a:pPr>
              <a:r>
                <a:rPr lang="zh-CN" sz="750" dirty="0">
                  <a:solidFill>
                    <a:srgbClr val="523E3A"/>
                  </a:solidFill>
                  <a:latin typeface="+mn-lt"/>
                  <a:ea typeface="+mn-ea"/>
                  <a:cs typeface="+mn-cs"/>
                </a:rPr>
                <a:t xml:space="preserve">行业聚焦，精准定义ICP      </a:t>
              </a:r>
            </a:p>
            <a:p>
              <a:pPr algn="l" marL="80962" indent="-80962">
                <a:lnSpc>
                  <a:spcPts val="1350"/>
                </a:lnSpc>
                <a:buClr>
                  <a:srgbClr val="523E3A"/>
                </a:buClr>
                <a:buSzTx/>
                <a:buFontTx/>
                <a:buChar char="•"/>
              </a:pPr>
              <a:r>
                <a:rPr lang="zh-CN" sz="750" dirty="0">
                  <a:solidFill>
                    <a:srgbClr val="523E3A"/>
                  </a:solidFill>
                  <a:latin typeface="+mn-lt"/>
                  <a:ea typeface="+mn-ea"/>
                  <a:cs typeface="+mn-cs"/>
                </a:rPr>
                <a:t>多维数据筛选高潜线索</a:t>
              </a:r>
            </a:p>
            <a:p>
              <a:pPr algn="l" marL="80962" indent="-80962">
                <a:lnSpc>
                  <a:spcPts val="1350"/>
                </a:lnSpc>
                <a:buClr>
                  <a:srgbClr val="523E3A"/>
                </a:buClr>
                <a:buSzTx/>
                <a:buFontTx/>
                <a:buChar char="•"/>
              </a:pPr>
              <a:r>
                <a:rPr lang="zh-CN" sz="750" dirty="0">
                  <a:solidFill>
                    <a:srgbClr val="523E3A"/>
                  </a:solidFill>
                  <a:latin typeface="+mn-lt"/>
                  <a:ea typeface="+mn-ea"/>
                  <a:cs typeface="+mn-cs"/>
                </a:rPr>
                <a:t>清洗去重，提升有效性</a:t>
              </a:r>
            </a:p>
          </p:txBody>
        </p:sp>
        <p:sp>
          <p:nvSpPr>
            <p:cNvPr id="107" name="TextBox 107"/>
            <p:cNvSpPr txBox="1"/>
            <p:nvPr/>
          </p:nvSpPr>
          <p:spPr>
            <a:xfrm>
              <a:off x="6453188" y="2605088"/>
              <a:ext cx="1219200" cy="490538"/>
            </a:xfrm>
            <a:prstGeom prst="rect">
              <a:avLst/>
            </a:prstGeom>
            <a:noFill/>
            <a:ln>
              <a:noFill/>
            </a:ln>
          </p:spPr>
          <p:txBody>
            <a:bodyPr wrap="none" lIns="0" tIns="0" rIns="0" bIns="0" anchor="t" anchorCtr="0">
              <a:spAutoFit/>
            </a:bodyPr>
            <a:lstStyle/>
            <a:p>
              <a:pPr algn="l" marL="80962" indent="-80962">
                <a:lnSpc>
                  <a:spcPts val="1350"/>
                </a:lnSpc>
                <a:buClr>
                  <a:srgbClr val="523E3A"/>
                </a:buClr>
                <a:buSzTx/>
                <a:buFontTx/>
                <a:buChar char="•"/>
              </a:pPr>
              <a:r>
                <a:rPr lang="zh-CN" sz="750" dirty="0">
                  <a:solidFill>
                    <a:srgbClr val="523E3A"/>
                  </a:solidFill>
                  <a:latin typeface="+mn-lt"/>
                  <a:ea typeface="+mn-ea"/>
                  <a:cs typeface="+mn-cs"/>
                </a:rPr>
                <a:t>分层培育，内容触达</a:t>
              </a:r>
            </a:p>
            <a:p>
              <a:pPr algn="l" marL="80962" indent="-80962">
                <a:lnSpc>
                  <a:spcPts val="1350"/>
                </a:lnSpc>
                <a:buClr>
                  <a:srgbClr val="523E3A"/>
                </a:buClr>
                <a:buSzTx/>
                <a:buFontTx/>
                <a:buChar char="•"/>
              </a:pPr>
              <a:r>
                <a:rPr lang="zh-CN" sz="750" dirty="0">
                  <a:solidFill>
                    <a:srgbClr val="523E3A"/>
                  </a:solidFill>
                  <a:latin typeface="+mn-lt"/>
                  <a:ea typeface="+mn-ea"/>
                  <a:cs typeface="+mn-cs"/>
                </a:rPr>
                <a:t>需求识别与资格评估</a:t>
              </a:r>
            </a:p>
            <a:p>
              <a:pPr algn="l" marL="80962" indent="-80962">
                <a:lnSpc>
                  <a:spcPts val="1350"/>
                </a:lnSpc>
                <a:buClr>
                  <a:srgbClr val="523E3A"/>
                </a:buClr>
                <a:buSzTx/>
                <a:buFontTx/>
                <a:buChar char="•"/>
              </a:pPr>
              <a:r>
                <a:rPr lang="zh-CN" sz="750" dirty="0">
                  <a:solidFill>
                    <a:srgbClr val="523E3A"/>
                  </a:solidFill>
                  <a:latin typeface="+mn-lt"/>
                  <a:ea typeface="+mn-ea"/>
                  <a:cs typeface="+mn-cs"/>
                </a:rPr>
                <a:t xml:space="preserve">线上+线下联合触达      </a:t>
              </a:r>
            </a:p>
          </p:txBody>
        </p:sp>
        <p:sp>
          <p:nvSpPr>
            <p:cNvPr id="108" name="TextBox 108"/>
            <p:cNvSpPr txBox="1"/>
            <p:nvPr/>
          </p:nvSpPr>
          <p:spPr>
            <a:xfrm>
              <a:off x="8329612" y="2605088"/>
              <a:ext cx="1185862" cy="490538"/>
            </a:xfrm>
            <a:prstGeom prst="rect">
              <a:avLst/>
            </a:prstGeom>
            <a:noFill/>
            <a:ln>
              <a:noFill/>
            </a:ln>
          </p:spPr>
          <p:txBody>
            <a:bodyPr wrap="none" lIns="0" tIns="0" rIns="0" bIns="0" anchor="t" anchorCtr="0">
              <a:spAutoFit/>
            </a:bodyPr>
            <a:lstStyle/>
            <a:p>
              <a:pPr algn="l" marL="80962" indent="-80962">
                <a:lnSpc>
                  <a:spcPts val="1350"/>
                </a:lnSpc>
                <a:buClr>
                  <a:srgbClr val="523E3A"/>
                </a:buClr>
                <a:buSzTx/>
                <a:buFontTx/>
                <a:buChar char="•"/>
              </a:pPr>
              <a:r>
                <a:rPr lang="zh-CN" sz="750" dirty="0">
                  <a:solidFill>
                    <a:srgbClr val="523E3A"/>
                  </a:solidFill>
                  <a:latin typeface="+mn-lt"/>
                  <a:ea typeface="+mn-ea"/>
                  <a:cs typeface="+mn-cs"/>
                </a:rPr>
                <a:t>场景化方案共创</a:t>
              </a:r>
            </a:p>
            <a:p>
              <a:pPr algn="l" marL="80962" indent="-80962">
                <a:lnSpc>
                  <a:spcPts val="1350"/>
                </a:lnSpc>
                <a:buClr>
                  <a:srgbClr val="523E3A"/>
                </a:buClr>
                <a:buSzTx/>
                <a:buFontTx/>
                <a:buChar char="•"/>
              </a:pPr>
              <a:r>
                <a:rPr lang="zh-CN" sz="750" dirty="0">
                  <a:solidFill>
                    <a:srgbClr val="523E3A"/>
                  </a:solidFill>
                  <a:latin typeface="+mn-lt"/>
                  <a:ea typeface="+mn-ea"/>
                  <a:cs typeface="+mn-cs"/>
                </a:rPr>
                <a:t xml:space="preserve">PoC/案例验证价值      </a:t>
              </a:r>
            </a:p>
            <a:p>
              <a:pPr algn="l" marL="80962" indent="-80962">
                <a:lnSpc>
                  <a:spcPts val="1350"/>
                </a:lnSpc>
                <a:buClr>
                  <a:srgbClr val="523E3A"/>
                </a:buClr>
                <a:buSzTx/>
                <a:buFontTx/>
                <a:buChar char="•"/>
              </a:pPr>
              <a:r>
                <a:rPr lang="zh-CN" sz="750" dirty="0">
                  <a:solidFill>
                    <a:srgbClr val="523E3A"/>
                  </a:solidFill>
                  <a:latin typeface="+mn-lt"/>
                  <a:ea typeface="+mn-ea"/>
                  <a:cs typeface="+mn-cs"/>
                </a:rPr>
                <a:t>决策链深度经营</a:t>
              </a:r>
            </a:p>
          </p:txBody>
        </p:sp>
        <p:sp>
          <p:nvSpPr>
            <p:cNvPr id="109" name="TextBox 109"/>
            <p:cNvSpPr txBox="1"/>
            <p:nvPr/>
          </p:nvSpPr>
          <p:spPr>
            <a:xfrm>
              <a:off x="10196512" y="2605088"/>
              <a:ext cx="947738" cy="490538"/>
            </a:xfrm>
            <a:prstGeom prst="rect">
              <a:avLst/>
            </a:prstGeom>
            <a:noFill/>
            <a:ln>
              <a:noFill/>
            </a:ln>
          </p:spPr>
          <p:txBody>
            <a:bodyPr wrap="none" lIns="0" tIns="0" rIns="0" bIns="0" anchor="t" anchorCtr="0">
              <a:spAutoFit/>
            </a:bodyPr>
            <a:lstStyle/>
            <a:p>
              <a:pPr algn="l" marL="80962" indent="-80962">
                <a:lnSpc>
                  <a:spcPts val="1350"/>
                </a:lnSpc>
                <a:buClr>
                  <a:srgbClr val="523E3A"/>
                </a:buClr>
                <a:buSzTx/>
                <a:buFontTx/>
                <a:buChar char="•"/>
              </a:pPr>
              <a:r>
                <a:rPr lang="zh-CN" sz="750" dirty="0">
                  <a:solidFill>
                    <a:srgbClr val="523E3A"/>
                  </a:solidFill>
                  <a:latin typeface="+mn-lt"/>
                  <a:ea typeface="+mn-ea"/>
                  <a:cs typeface="+mn-cs"/>
                </a:rPr>
                <a:t>商务方案与商务谈判</a:t>
              </a:r>
            </a:p>
            <a:p>
              <a:pPr algn="l" marL="80962" indent="-80962">
                <a:lnSpc>
                  <a:spcPts val="1350"/>
                </a:lnSpc>
                <a:buClr>
                  <a:srgbClr val="523E3A"/>
                </a:buClr>
                <a:buSzTx/>
                <a:buFontTx/>
                <a:buChar char="•"/>
              </a:pPr>
              <a:r>
                <a:rPr lang="zh-CN" sz="750" dirty="0">
                  <a:solidFill>
                    <a:srgbClr val="523E3A"/>
                  </a:solidFill>
                  <a:latin typeface="+mn-lt"/>
                  <a:ea typeface="+mn-ea"/>
                  <a:cs typeface="+mn-cs"/>
                </a:rPr>
                <a:t>风险识别与消除</a:t>
              </a:r>
            </a:p>
            <a:p>
              <a:pPr algn="l" marL="80962" indent="-80962">
                <a:lnSpc>
                  <a:spcPts val="1350"/>
                </a:lnSpc>
                <a:buClr>
                  <a:srgbClr val="523E3A"/>
                </a:buClr>
                <a:buSzTx/>
                <a:buFontTx/>
                <a:buChar char="•"/>
              </a:pPr>
              <a:r>
                <a:rPr lang="zh-CN" sz="750" dirty="0">
                  <a:solidFill>
                    <a:srgbClr val="523E3A"/>
                  </a:solidFill>
                  <a:latin typeface="+mn-lt"/>
                  <a:ea typeface="+mn-ea"/>
                  <a:cs typeface="+mn-cs"/>
                </a:rPr>
                <a:t>合同推进与签约</a:t>
              </a:r>
            </a:p>
          </p:txBody>
        </p:sp>
        <p:sp>
          <p:nvSpPr>
            <p:cNvPr id="110" name="TextBox 110"/>
            <p:cNvSpPr txBox="1"/>
            <p:nvPr/>
          </p:nvSpPr>
          <p:spPr>
            <a:xfrm>
              <a:off x="4842595" y="3397091"/>
              <a:ext cx="1135211"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线索池：600个   </a:t>
              </a:r>
            </a:p>
          </p:txBody>
        </p:sp>
        <p:sp>
          <p:nvSpPr>
            <p:cNvPr id="111" name="TextBox 111"/>
            <p:cNvSpPr txBox="1"/>
            <p:nvPr/>
          </p:nvSpPr>
          <p:spPr>
            <a:xfrm>
              <a:off x="6744134" y="3397091"/>
              <a:ext cx="1065932"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MQL：240个   </a:t>
              </a:r>
            </a:p>
          </p:txBody>
        </p:sp>
        <p:sp>
          <p:nvSpPr>
            <p:cNvPr id="112" name="TextBox 112"/>
            <p:cNvSpPr txBox="1"/>
            <p:nvPr/>
          </p:nvSpPr>
          <p:spPr>
            <a:xfrm>
              <a:off x="8641114" y="3397091"/>
              <a:ext cx="1024822"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商机：120个   </a:t>
              </a:r>
            </a:p>
          </p:txBody>
        </p:sp>
        <p:sp>
          <p:nvSpPr>
            <p:cNvPr id="113" name="TextBox 113"/>
            <p:cNvSpPr txBox="1"/>
            <p:nvPr/>
          </p:nvSpPr>
          <p:spPr>
            <a:xfrm>
              <a:off x="10539888" y="3397091"/>
              <a:ext cx="961073"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签约：22个   </a:t>
              </a:r>
            </a:p>
          </p:txBody>
        </p:sp>
        <p:sp>
          <p:nvSpPr>
            <p:cNvPr id="114" name="TextBox 114"/>
            <p:cNvSpPr txBox="1"/>
            <p:nvPr/>
          </p:nvSpPr>
          <p:spPr>
            <a:xfrm>
              <a:off x="5372119" y="3903345"/>
              <a:ext cx="76162" cy="176212"/>
            </a:xfrm>
            <a:prstGeom prst="rect">
              <a:avLst/>
            </a:prstGeom>
            <a:noFill/>
            <a:ln>
              <a:noFill/>
            </a:ln>
          </p:spPr>
          <p:txBody>
            <a:bodyPr wrap="none" lIns="0" tIns="0" rIns="0" bIns="0" anchor="t" anchorCtr="0">
              <a:spAutoFit/>
            </a:bodyPr>
            <a:lstStyle/>
            <a:p>
              <a:pPr algn="ctr"/>
              <a:r>
                <a:rPr lang="zh-CN" sz="900" dirty="0">
                  <a:solidFill>
                    <a:srgbClr val="6E7686"/>
                  </a:solidFill>
                  <a:latin typeface="+mn-lt"/>
                  <a:ea typeface="+mn-ea"/>
                  <a:cs typeface="+mn-cs"/>
                </a:rPr>
                <a:t>—</a:t>
              </a:r>
            </a:p>
          </p:txBody>
        </p:sp>
        <p:sp>
          <p:nvSpPr>
            <p:cNvPr id="115" name="TextBox 115"/>
            <p:cNvSpPr txBox="1"/>
            <p:nvPr/>
          </p:nvSpPr>
          <p:spPr>
            <a:xfrm>
              <a:off x="6863281" y="3790236"/>
              <a:ext cx="827637"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 xml:space="preserve">   MQL转化率   </a:t>
              </a:r>
            </a:p>
          </p:txBody>
        </p:sp>
        <p:sp>
          <p:nvSpPr>
            <p:cNvPr id="116" name="TextBox 116"/>
            <p:cNvSpPr txBox="1"/>
            <p:nvPr/>
          </p:nvSpPr>
          <p:spPr>
            <a:xfrm>
              <a:off x="6927521" y="3966210"/>
              <a:ext cx="699158" cy="234696"/>
            </a:xfrm>
            <a:prstGeom prst="rect">
              <a:avLst/>
            </a:prstGeom>
            <a:noFill/>
            <a:ln>
              <a:noFill/>
            </a:ln>
          </p:spPr>
          <p:txBody>
            <a:bodyPr wrap="none" lIns="0" tIns="0" rIns="0" bIns="0" anchor="t" anchorCtr="0">
              <a:spAutoFit/>
            </a:bodyPr>
            <a:lstStyle/>
            <a:p>
              <a:pPr algn="ctr"/>
              <a:r>
                <a:rPr lang="zh-CN" sz="1200" b="1" dirty="0">
                  <a:solidFill>
                    <a:srgbClr val="721E0D"/>
                  </a:solidFill>
                  <a:latin typeface="+mn-lt"/>
                  <a:ea typeface="+mn-ea"/>
                  <a:cs typeface="+mn-cs"/>
                </a:rPr>
                <a:t xml:space="preserve">  40%  </a:t>
              </a:r>
            </a:p>
          </p:txBody>
        </p:sp>
        <p:sp>
          <p:nvSpPr>
            <p:cNvPr id="117" name="TextBox 117"/>
            <p:cNvSpPr txBox="1"/>
            <p:nvPr/>
          </p:nvSpPr>
          <p:spPr>
            <a:xfrm>
              <a:off x="8909812" y="3790236"/>
              <a:ext cx="48742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商机转化率</a:t>
              </a:r>
            </a:p>
          </p:txBody>
        </p:sp>
        <p:sp>
          <p:nvSpPr>
            <p:cNvPr id="118" name="TextBox 118"/>
            <p:cNvSpPr txBox="1"/>
            <p:nvPr/>
          </p:nvSpPr>
          <p:spPr>
            <a:xfrm>
              <a:off x="8803946" y="3966210"/>
              <a:ext cx="699158" cy="234696"/>
            </a:xfrm>
            <a:prstGeom prst="rect">
              <a:avLst/>
            </a:prstGeom>
            <a:noFill/>
            <a:ln>
              <a:noFill/>
            </a:ln>
          </p:spPr>
          <p:txBody>
            <a:bodyPr wrap="none" lIns="0" tIns="0" rIns="0" bIns="0" anchor="t" anchorCtr="0">
              <a:spAutoFit/>
            </a:bodyPr>
            <a:lstStyle/>
            <a:p>
              <a:pPr algn="ctr"/>
              <a:r>
                <a:rPr lang="zh-CN" sz="1200" b="1" dirty="0">
                  <a:solidFill>
                    <a:srgbClr val="721E0D"/>
                  </a:solidFill>
                  <a:latin typeface="+mn-lt"/>
                  <a:ea typeface="+mn-ea"/>
                  <a:cs typeface="+mn-cs"/>
                </a:rPr>
                <a:t xml:space="preserve">  50%  </a:t>
              </a:r>
            </a:p>
          </p:txBody>
        </p:sp>
        <p:sp>
          <p:nvSpPr>
            <p:cNvPr id="119" name="TextBox 119"/>
            <p:cNvSpPr txBox="1"/>
            <p:nvPr/>
          </p:nvSpPr>
          <p:spPr>
            <a:xfrm>
              <a:off x="10776712" y="3790236"/>
              <a:ext cx="48742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签约转化率</a:t>
              </a:r>
            </a:p>
          </p:txBody>
        </p:sp>
        <p:sp>
          <p:nvSpPr>
            <p:cNvPr id="120" name="TextBox 120"/>
            <p:cNvSpPr txBox="1"/>
            <p:nvPr/>
          </p:nvSpPr>
          <p:spPr>
            <a:xfrm>
              <a:off x="10670846" y="3966210"/>
              <a:ext cx="699158" cy="234696"/>
            </a:xfrm>
            <a:prstGeom prst="rect">
              <a:avLst/>
            </a:prstGeom>
            <a:noFill/>
            <a:ln>
              <a:noFill/>
            </a:ln>
          </p:spPr>
          <p:txBody>
            <a:bodyPr wrap="none" lIns="0" tIns="0" rIns="0" bIns="0" anchor="t" anchorCtr="0">
              <a:spAutoFit/>
            </a:bodyPr>
            <a:lstStyle/>
            <a:p>
              <a:pPr algn="ctr"/>
              <a:r>
                <a:rPr lang="zh-CN" sz="1200" b="1" dirty="0">
                  <a:solidFill>
                    <a:srgbClr val="C03616"/>
                  </a:solidFill>
                  <a:latin typeface="+mn-lt"/>
                  <a:ea typeface="+mn-ea"/>
                  <a:cs typeface="+mn-cs"/>
                </a:rPr>
                <a:t xml:space="preserve">  18%  </a:t>
              </a:r>
            </a:p>
          </p:txBody>
        </p:sp>
        <p:sp>
          <p:nvSpPr>
            <p:cNvPr id="121" name="TextBox 121"/>
            <p:cNvSpPr txBox="1"/>
            <p:nvPr/>
          </p:nvSpPr>
          <p:spPr>
            <a:xfrm>
              <a:off x="5214277" y="4399836"/>
              <a:ext cx="39184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线索获取</a:t>
              </a:r>
            </a:p>
          </p:txBody>
        </p:sp>
        <p:sp>
          <p:nvSpPr>
            <p:cNvPr id="122" name="TextBox 122"/>
            <p:cNvSpPr txBox="1"/>
            <p:nvPr/>
          </p:nvSpPr>
          <p:spPr>
            <a:xfrm>
              <a:off x="5031497" y="4597241"/>
              <a:ext cx="757406"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0~20天   </a:t>
              </a:r>
            </a:p>
          </p:txBody>
        </p:sp>
        <p:sp>
          <p:nvSpPr>
            <p:cNvPr id="123" name="TextBox 123"/>
            <p:cNvSpPr txBox="1"/>
            <p:nvPr/>
          </p:nvSpPr>
          <p:spPr>
            <a:xfrm>
              <a:off x="7081177" y="4399836"/>
              <a:ext cx="39184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线索培育</a:t>
              </a:r>
            </a:p>
          </p:txBody>
        </p:sp>
        <p:sp>
          <p:nvSpPr>
            <p:cNvPr id="124" name="TextBox 124"/>
            <p:cNvSpPr txBox="1"/>
            <p:nvPr/>
          </p:nvSpPr>
          <p:spPr>
            <a:xfrm>
              <a:off x="6866522" y="4597241"/>
              <a:ext cx="821156"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21~60天   </a:t>
              </a:r>
            </a:p>
          </p:txBody>
        </p:sp>
        <p:sp>
          <p:nvSpPr>
            <p:cNvPr id="125" name="TextBox 125"/>
            <p:cNvSpPr txBox="1"/>
            <p:nvPr/>
          </p:nvSpPr>
          <p:spPr>
            <a:xfrm>
              <a:off x="8957602" y="4399836"/>
              <a:ext cx="39184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方案验证</a:t>
              </a:r>
            </a:p>
          </p:txBody>
        </p:sp>
        <p:sp>
          <p:nvSpPr>
            <p:cNvPr id="126" name="TextBox 126"/>
            <p:cNvSpPr txBox="1"/>
            <p:nvPr/>
          </p:nvSpPr>
          <p:spPr>
            <a:xfrm>
              <a:off x="8711072" y="4597241"/>
              <a:ext cx="884905"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61~100天   </a:t>
              </a:r>
            </a:p>
          </p:txBody>
        </p:sp>
        <p:sp>
          <p:nvSpPr>
            <p:cNvPr id="127" name="TextBox 127"/>
            <p:cNvSpPr txBox="1"/>
            <p:nvPr/>
          </p:nvSpPr>
          <p:spPr>
            <a:xfrm>
              <a:off x="10824502" y="4399836"/>
              <a:ext cx="39184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商务谈判</a:t>
              </a:r>
            </a:p>
          </p:txBody>
        </p:sp>
        <p:sp>
          <p:nvSpPr>
            <p:cNvPr id="128" name="TextBox 128"/>
            <p:cNvSpPr txBox="1"/>
            <p:nvPr/>
          </p:nvSpPr>
          <p:spPr>
            <a:xfrm>
              <a:off x="10546098" y="4597241"/>
              <a:ext cx="948654" cy="161925"/>
            </a:xfrm>
            <a:prstGeom prst="rect">
              <a:avLst/>
            </a:prstGeom>
            <a:noFill/>
            <a:ln>
              <a:noFill/>
            </a:ln>
          </p:spPr>
          <p:txBody>
            <a:bodyPr wrap="none" lIns="0" tIns="0" rIns="0" bIns="0" anchor="t" anchorCtr="0">
              <a:spAutoFit/>
            </a:bodyPr>
            <a:lstStyle/>
            <a:p>
              <a:pPr algn="ctr"/>
              <a:r>
                <a:rPr lang="zh-CN" sz="820" b="1" dirty="0">
                  <a:solidFill>
                    <a:srgbClr val="721E0D"/>
                  </a:solidFill>
                  <a:latin typeface="+mn-lt"/>
                  <a:ea typeface="+mn-ea"/>
                  <a:cs typeface="+mn-cs"/>
                </a:rPr>
                <a:t xml:space="preserve">   101~116天   </a:t>
              </a:r>
            </a:p>
          </p:txBody>
        </p:sp>
      </p:grpSp>
      <p:grpSp>
        <p:nvGrpSpPr>
          <p:cNvPr id="159" name="focus-tags"/>
          <p:cNvGrpSpPr/>
          <p:nvPr/>
        </p:nvGrpSpPr>
        <p:grpSpPr>
          <a:xfrm>
            <a:off x="228600" y="4953000"/>
            <a:ext cx="11734800" cy="438150"/>
            <a:chOff x="228600" y="4953000"/>
            <a:chExt cx="11734800" cy="438150"/>
          </a:xfrm>
        </p:grpSpPr>
        <p:sp>
          <p:nvSpPr>
            <p:cNvPr id="130" name="Rectangle 130"/>
            <p:cNvSpPr/>
            <p:nvPr/>
          </p:nvSpPr>
          <p:spPr>
            <a:xfrm>
              <a:off x="228600" y="4953000"/>
              <a:ext cx="3848100" cy="438150"/>
            </a:xfrm>
            <a:prstGeom prst="roundRect">
              <a:avLst>
                <a:gd name="adj" fmla="val 17391"/>
              </a:avLst>
            </a:prstGeom>
            <a:solidFill>
              <a:srgbClr val="EAF1FB"/>
            </a:solidFill>
            <a:ln>
              <a:noFill/>
            </a:ln>
          </p:spPr>
        </p:sp>
        <p:grpSp>
          <p:nvGrpSpPr>
            <p:cNvPr id="139" name="Group 139"/>
            <p:cNvGrpSpPr/>
            <p:nvPr/>
          </p:nvGrpSpPr>
          <p:grpSpPr>
            <a:xfrm>
              <a:off x="395288" y="5072063"/>
              <a:ext cx="200026" cy="209550"/>
              <a:chOff x="395288" y="5072063"/>
              <a:chExt cx="200026" cy="209550"/>
            </a:xfrm>
          </p:grpSpPr>
          <p:sp>
            <p:nvSpPr>
              <p:cNvPr id="131" name="Freeform 131"/>
              <p:cNvSpPr/>
              <p:nvPr/>
            </p:nvSpPr>
            <p:spPr>
              <a:xfrm>
                <a:off x="395288" y="5272088"/>
                <a:ext cx="200026" cy="9525"/>
              </a:xfrm>
              <a:custGeom>
                <a:avLst/>
                <a:gdLst/>
                <a:ahLst/>
                <a:cxnLst/>
                <a:rect l="l" t="t" r="r" b="b"/>
                <a:pathLst>
                  <a:path w="200026" h="9525">
                    <a:moveTo>
                      <a:pt x="0" y="0"/>
                    </a:moveTo>
                    <a:lnTo>
                      <a:pt x="200026" y="0"/>
                    </a:lnTo>
                  </a:path>
                </a:pathLst>
              </a:custGeom>
              <a:noFill/>
              <a:ln w="22225">
                <a:solidFill>
                  <a:srgbClr val="721E0D"/>
                </a:solidFill>
              </a:ln>
            </p:spPr>
          </p:sp>
          <p:sp>
            <p:nvSpPr>
              <p:cNvPr id="132" name="Freeform 132"/>
              <p:cNvSpPr/>
              <p:nvPr/>
            </p:nvSpPr>
            <p:spPr>
              <a:xfrm>
                <a:off x="395288" y="5149850"/>
                <a:ext cx="200026" cy="9525"/>
              </a:xfrm>
              <a:custGeom>
                <a:avLst/>
                <a:gdLst/>
                <a:ahLst/>
                <a:cxnLst/>
                <a:rect l="l" t="t" r="r" b="b"/>
                <a:pathLst>
                  <a:path w="200026" h="9525">
                    <a:moveTo>
                      <a:pt x="0" y="0"/>
                    </a:moveTo>
                    <a:lnTo>
                      <a:pt x="200026" y="0"/>
                    </a:lnTo>
                  </a:path>
                </a:pathLst>
              </a:custGeom>
              <a:noFill/>
              <a:ln w="22225">
                <a:solidFill>
                  <a:srgbClr val="721E0D"/>
                </a:solidFill>
              </a:ln>
            </p:spPr>
          </p:sp>
          <p:sp>
            <p:nvSpPr>
              <p:cNvPr id="133" name="Freeform 133"/>
              <p:cNvSpPr/>
              <p:nvPr/>
            </p:nvSpPr>
            <p:spPr>
              <a:xfrm>
                <a:off x="417513" y="5072063"/>
                <a:ext cx="155575" cy="33338"/>
              </a:xfrm>
              <a:custGeom>
                <a:avLst/>
                <a:gdLst/>
                <a:ahLst/>
                <a:cxnLst/>
                <a:rect l="l" t="t" r="r" b="b"/>
                <a:pathLst>
                  <a:path w="155575" h="33338">
                    <a:moveTo>
                      <a:pt x="0" y="33338"/>
                    </a:moveTo>
                    <a:lnTo>
                      <a:pt x="77788" y="0"/>
                    </a:lnTo>
                    <a:lnTo>
                      <a:pt x="155575" y="33338"/>
                    </a:lnTo>
                  </a:path>
                </a:pathLst>
              </a:custGeom>
              <a:noFill/>
              <a:ln w="22225">
                <a:solidFill>
                  <a:srgbClr val="721E0D"/>
                </a:solidFill>
              </a:ln>
            </p:spPr>
          </p:sp>
          <p:sp>
            <p:nvSpPr>
              <p:cNvPr id="134" name="Freeform 134"/>
              <p:cNvSpPr/>
              <p:nvPr/>
            </p:nvSpPr>
            <p:spPr>
              <a:xfrm>
                <a:off x="406400" y="5149850"/>
                <a:ext cx="9525" cy="122238"/>
              </a:xfrm>
              <a:custGeom>
                <a:avLst/>
                <a:gdLst/>
                <a:ahLst/>
                <a:cxnLst/>
                <a:rect l="l" t="t" r="r" b="b"/>
                <a:pathLst>
                  <a:path w="9525" h="122238">
                    <a:moveTo>
                      <a:pt x="0" y="0"/>
                    </a:moveTo>
                    <a:lnTo>
                      <a:pt x="0" y="122238"/>
                    </a:lnTo>
                  </a:path>
                </a:pathLst>
              </a:custGeom>
              <a:noFill/>
              <a:ln w="22225">
                <a:solidFill>
                  <a:srgbClr val="721E0D"/>
                </a:solidFill>
              </a:ln>
            </p:spPr>
          </p:sp>
          <p:sp>
            <p:nvSpPr>
              <p:cNvPr id="135" name="Freeform 135"/>
              <p:cNvSpPr/>
              <p:nvPr/>
            </p:nvSpPr>
            <p:spPr>
              <a:xfrm>
                <a:off x="584201" y="5149850"/>
                <a:ext cx="9525" cy="122238"/>
              </a:xfrm>
              <a:custGeom>
                <a:avLst/>
                <a:gdLst/>
                <a:ahLst/>
                <a:cxnLst/>
                <a:rect l="l" t="t" r="r" b="b"/>
                <a:pathLst>
                  <a:path w="9525" h="122238">
                    <a:moveTo>
                      <a:pt x="0" y="0"/>
                    </a:moveTo>
                    <a:lnTo>
                      <a:pt x="0" y="122238"/>
                    </a:lnTo>
                  </a:path>
                </a:pathLst>
              </a:custGeom>
              <a:noFill/>
              <a:ln w="22225">
                <a:solidFill>
                  <a:srgbClr val="721E0D"/>
                </a:solidFill>
              </a:ln>
            </p:spPr>
          </p:sp>
          <p:sp>
            <p:nvSpPr>
              <p:cNvPr id="136" name="Freeform 136"/>
              <p:cNvSpPr/>
              <p:nvPr/>
            </p:nvSpPr>
            <p:spPr>
              <a:xfrm>
                <a:off x="450850" y="5194300"/>
                <a:ext cx="9525" cy="33338"/>
              </a:xfrm>
              <a:custGeom>
                <a:avLst/>
                <a:gdLst/>
                <a:ahLst/>
                <a:cxnLst/>
                <a:rect l="l" t="t" r="r" b="b"/>
                <a:pathLst>
                  <a:path w="9525" h="33338">
                    <a:moveTo>
                      <a:pt x="0" y="0"/>
                    </a:moveTo>
                    <a:lnTo>
                      <a:pt x="0" y="33338"/>
                    </a:lnTo>
                  </a:path>
                </a:pathLst>
              </a:custGeom>
              <a:noFill/>
              <a:ln w="22225">
                <a:solidFill>
                  <a:srgbClr val="721E0D"/>
                </a:solidFill>
              </a:ln>
            </p:spPr>
          </p:sp>
          <p:sp>
            <p:nvSpPr>
              <p:cNvPr id="137" name="Freeform 137"/>
              <p:cNvSpPr/>
              <p:nvPr/>
            </p:nvSpPr>
            <p:spPr>
              <a:xfrm>
                <a:off x="495300" y="5194300"/>
                <a:ext cx="9525" cy="33338"/>
              </a:xfrm>
              <a:custGeom>
                <a:avLst/>
                <a:gdLst/>
                <a:ahLst/>
                <a:cxnLst/>
                <a:rect l="l" t="t" r="r" b="b"/>
                <a:pathLst>
                  <a:path w="9525" h="33338">
                    <a:moveTo>
                      <a:pt x="0" y="0"/>
                    </a:moveTo>
                    <a:lnTo>
                      <a:pt x="0" y="33338"/>
                    </a:lnTo>
                  </a:path>
                </a:pathLst>
              </a:custGeom>
              <a:noFill/>
              <a:ln w="22225">
                <a:solidFill>
                  <a:srgbClr val="721E0D"/>
                </a:solidFill>
              </a:ln>
            </p:spPr>
          </p:sp>
          <p:sp>
            <p:nvSpPr>
              <p:cNvPr id="138" name="Freeform 138"/>
              <p:cNvSpPr/>
              <p:nvPr/>
            </p:nvSpPr>
            <p:spPr>
              <a:xfrm>
                <a:off x="539751" y="5194300"/>
                <a:ext cx="9525" cy="33338"/>
              </a:xfrm>
              <a:custGeom>
                <a:avLst/>
                <a:gdLst/>
                <a:ahLst/>
                <a:cxnLst/>
                <a:rect l="l" t="t" r="r" b="b"/>
                <a:pathLst>
                  <a:path w="9525" h="33338">
                    <a:moveTo>
                      <a:pt x="0" y="0"/>
                    </a:moveTo>
                    <a:lnTo>
                      <a:pt x="0" y="33338"/>
                    </a:lnTo>
                  </a:path>
                </a:pathLst>
              </a:custGeom>
              <a:noFill/>
              <a:ln w="22225">
                <a:solidFill>
                  <a:srgbClr val="721E0D"/>
                </a:solidFill>
              </a:ln>
            </p:spPr>
          </p:sp>
        </p:grpSp>
        <p:sp>
          <p:nvSpPr>
            <p:cNvPr id="140" name="TextBox 140"/>
            <p:cNvSpPr txBox="1"/>
            <p:nvPr/>
          </p:nvSpPr>
          <p:spPr>
            <a:xfrm>
              <a:off x="719138" y="5042297"/>
              <a:ext cx="642239"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行业聚焦：</a:t>
              </a:r>
            </a:p>
          </p:txBody>
        </p:sp>
        <p:sp>
          <p:nvSpPr>
            <p:cNvPr id="141" name="TextBox 141"/>
            <p:cNvSpPr txBox="1"/>
            <p:nvPr/>
          </p:nvSpPr>
          <p:spPr>
            <a:xfrm>
              <a:off x="719138" y="5225891"/>
              <a:ext cx="1665351"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高端制造、企业服务、数字化转型</a:t>
              </a:r>
            </a:p>
          </p:txBody>
        </p:sp>
        <p:sp>
          <p:nvSpPr>
            <p:cNvPr id="142" name="Rectangle 142"/>
            <p:cNvSpPr/>
            <p:nvPr/>
          </p:nvSpPr>
          <p:spPr>
            <a:xfrm>
              <a:off x="4171950" y="4953000"/>
              <a:ext cx="3848100" cy="438150"/>
            </a:xfrm>
            <a:prstGeom prst="roundRect">
              <a:avLst>
                <a:gd name="adj" fmla="val 17391"/>
              </a:avLst>
            </a:prstGeom>
            <a:solidFill>
              <a:srgbClr val="EAF1FB"/>
            </a:solidFill>
            <a:ln>
              <a:noFill/>
            </a:ln>
          </p:spPr>
        </p:sp>
        <p:grpSp>
          <p:nvGrpSpPr>
            <p:cNvPr id="149" name="Group 149"/>
            <p:cNvGrpSpPr/>
            <p:nvPr/>
          </p:nvGrpSpPr>
          <p:grpSpPr>
            <a:xfrm>
              <a:off x="4338638" y="5072063"/>
              <a:ext cx="200025" cy="200026"/>
              <a:chOff x="4338638" y="5072063"/>
              <a:chExt cx="200025" cy="200026"/>
            </a:xfrm>
          </p:grpSpPr>
          <p:sp>
            <p:nvSpPr>
              <p:cNvPr id="143" name="Freeform 143"/>
              <p:cNvSpPr/>
              <p:nvPr/>
            </p:nvSpPr>
            <p:spPr>
              <a:xfrm>
                <a:off x="4416425" y="516096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721E0D"/>
                </a:solidFill>
              </a:ln>
            </p:spPr>
          </p:sp>
          <p:sp>
            <p:nvSpPr>
              <p:cNvPr id="144" name="Freeform 144"/>
              <p:cNvSpPr/>
              <p:nvPr/>
            </p:nvSpPr>
            <p:spPr>
              <a:xfrm>
                <a:off x="4394200" y="5238751"/>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721E0D"/>
                </a:solidFill>
              </a:ln>
            </p:spPr>
          </p:sp>
          <p:sp>
            <p:nvSpPr>
              <p:cNvPr id="145" name="Freeform 145"/>
              <p:cNvSpPr/>
              <p:nvPr/>
            </p:nvSpPr>
            <p:spPr>
              <a:xfrm>
                <a:off x="4471988" y="507206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721E0D"/>
                </a:solidFill>
              </a:ln>
            </p:spPr>
          </p:sp>
          <p:sp>
            <p:nvSpPr>
              <p:cNvPr id="146" name="Freeform 146"/>
              <p:cNvSpPr/>
              <p:nvPr/>
            </p:nvSpPr>
            <p:spPr>
              <a:xfrm>
                <a:off x="4494213" y="5149850"/>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721E0D"/>
                </a:solidFill>
              </a:ln>
            </p:spPr>
          </p:sp>
          <p:sp>
            <p:nvSpPr>
              <p:cNvPr id="147" name="Freeform 147"/>
              <p:cNvSpPr/>
              <p:nvPr/>
            </p:nvSpPr>
            <p:spPr>
              <a:xfrm>
                <a:off x="4360863" y="507206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721E0D"/>
                </a:solidFill>
              </a:ln>
            </p:spPr>
          </p:sp>
          <p:sp>
            <p:nvSpPr>
              <p:cNvPr id="148" name="Freeform 148"/>
              <p:cNvSpPr/>
              <p:nvPr/>
            </p:nvSpPr>
            <p:spPr>
              <a:xfrm>
                <a:off x="4338638" y="5149850"/>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721E0D"/>
                </a:solidFill>
              </a:ln>
            </p:spPr>
          </p:sp>
        </p:grpSp>
        <p:sp>
          <p:nvSpPr>
            <p:cNvPr id="150" name="TextBox 150"/>
            <p:cNvSpPr txBox="1"/>
            <p:nvPr/>
          </p:nvSpPr>
          <p:spPr>
            <a:xfrm>
              <a:off x="4662488" y="5042297"/>
              <a:ext cx="642239"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加速转化：</a:t>
              </a:r>
            </a:p>
          </p:txBody>
        </p:sp>
        <p:sp>
          <p:nvSpPr>
            <p:cNvPr id="151" name="TextBox 151"/>
            <p:cNvSpPr txBox="1"/>
            <p:nvPr/>
          </p:nvSpPr>
          <p:spPr>
            <a:xfrm>
              <a:off x="4662488" y="5225891"/>
              <a:ext cx="892632"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配置专属售前资源</a:t>
              </a:r>
            </a:p>
          </p:txBody>
        </p:sp>
        <p:sp>
          <p:nvSpPr>
            <p:cNvPr id="152" name="Rectangle 152"/>
            <p:cNvSpPr/>
            <p:nvPr/>
          </p:nvSpPr>
          <p:spPr>
            <a:xfrm>
              <a:off x="8115300" y="4953000"/>
              <a:ext cx="3848100" cy="438150"/>
            </a:xfrm>
            <a:prstGeom prst="roundRect">
              <a:avLst>
                <a:gd name="adj" fmla="val 17391"/>
              </a:avLst>
            </a:prstGeom>
            <a:solidFill>
              <a:srgbClr val="EAF1FB"/>
            </a:solidFill>
            <a:ln>
              <a:noFill/>
            </a:ln>
          </p:spPr>
        </p:sp>
        <p:grpSp>
          <p:nvGrpSpPr>
            <p:cNvPr id="156" name="Group 156"/>
            <p:cNvGrpSpPr/>
            <p:nvPr/>
          </p:nvGrpSpPr>
          <p:grpSpPr>
            <a:xfrm>
              <a:off x="8293099" y="5077746"/>
              <a:ext cx="183215" cy="188636"/>
              <a:chOff x="8293099" y="5077746"/>
              <a:chExt cx="183215" cy="188636"/>
            </a:xfrm>
          </p:grpSpPr>
          <p:sp>
            <p:nvSpPr>
              <p:cNvPr id="153" name="Freeform 153"/>
              <p:cNvSpPr/>
              <p:nvPr/>
            </p:nvSpPr>
            <p:spPr>
              <a:xfrm>
                <a:off x="8348663" y="5138738"/>
                <a:ext cx="66675" cy="66675"/>
              </a:xfrm>
              <a:custGeom>
                <a:avLst/>
                <a:gdLst/>
                <a:ahLst/>
                <a:cxnLst/>
                <a:rect l="l" t="t" r="r" b="b"/>
                <a:pathLst>
                  <a:path w="66675" h="66675">
                    <a:moveTo>
                      <a:pt x="0" y="66675"/>
                    </a:moveTo>
                    <a:lnTo>
                      <a:pt x="66675" y="0"/>
                    </a:lnTo>
                  </a:path>
                </a:pathLst>
              </a:custGeom>
              <a:noFill/>
              <a:ln w="22225">
                <a:solidFill>
                  <a:srgbClr val="721E0D"/>
                </a:solidFill>
              </a:ln>
            </p:spPr>
          </p:sp>
          <p:sp>
            <p:nvSpPr>
              <p:cNvPr id="154" name="Freeform 154"/>
              <p:cNvSpPr/>
              <p:nvPr/>
            </p:nvSpPr>
            <p:spPr>
              <a:xfrm>
                <a:off x="8370888" y="5077746"/>
                <a:ext cx="105426" cy="105442"/>
              </a:xfrm>
              <a:custGeom>
                <a:avLst/>
                <a:gdLst/>
                <a:ahLst/>
                <a:cxnLst/>
                <a:rect l="l" t="t" r="r" b="b"/>
                <a:pathLst>
                  <a:path w="105426" h="105442">
                    <a:moveTo>
                      <a:pt x="0" y="27655"/>
                    </a:moveTo>
                    <a:lnTo>
                      <a:pt x="5145" y="21698"/>
                    </a:lnTo>
                    <a:cubicBezTo>
                      <a:pt x="26847" y="0"/>
                      <a:pt x="62029" y="2"/>
                      <a:pt x="83727" y="21704"/>
                    </a:cubicBezTo>
                    <a:cubicBezTo>
                      <a:pt x="105426" y="43405"/>
                      <a:pt x="105423" y="78588"/>
                      <a:pt x="83722" y="100286"/>
                    </a:cubicBezTo>
                    <a:lnTo>
                      <a:pt x="77788" y="105442"/>
                    </a:lnTo>
                  </a:path>
                </a:pathLst>
              </a:custGeom>
              <a:noFill/>
              <a:ln w="22225">
                <a:solidFill>
                  <a:srgbClr val="721E0D"/>
                </a:solidFill>
              </a:ln>
            </p:spPr>
          </p:sp>
          <p:sp>
            <p:nvSpPr>
              <p:cNvPr id="155" name="Freeform 155"/>
              <p:cNvSpPr/>
              <p:nvPr/>
            </p:nvSpPr>
            <p:spPr>
              <a:xfrm>
                <a:off x="8293099" y="5160963"/>
                <a:ext cx="100014" cy="105419"/>
              </a:xfrm>
              <a:custGeom>
                <a:avLst/>
                <a:gdLst/>
                <a:ahLst/>
                <a:cxnLst/>
                <a:rect l="l" t="t" r="r" b="b"/>
                <a:pathLst>
                  <a:path w="100014" h="105419">
                    <a:moveTo>
                      <a:pt x="100014" y="77788"/>
                    </a:moveTo>
                    <a:lnTo>
                      <a:pt x="95603" y="83722"/>
                    </a:lnTo>
                    <a:cubicBezTo>
                      <a:pt x="73661" y="105419"/>
                      <a:pt x="38345" y="105419"/>
                      <a:pt x="16404" y="83722"/>
                    </a:cubicBezTo>
                    <a:cubicBezTo>
                      <a:pt x="5907" y="73343"/>
                      <a:pt x="0" y="59195"/>
                      <a:pt x="0" y="44433"/>
                    </a:cubicBezTo>
                    <a:cubicBezTo>
                      <a:pt x="0" y="29672"/>
                      <a:pt x="5907" y="15524"/>
                      <a:pt x="16404" y="5145"/>
                    </a:cubicBezTo>
                    <a:lnTo>
                      <a:pt x="22227" y="0"/>
                    </a:lnTo>
                  </a:path>
                </a:pathLst>
              </a:custGeom>
              <a:noFill/>
              <a:ln w="22225">
                <a:solidFill>
                  <a:srgbClr val="721E0D"/>
                </a:solidFill>
              </a:ln>
            </p:spPr>
          </p:sp>
        </p:grpSp>
        <p:sp>
          <p:nvSpPr>
            <p:cNvPr id="157" name="TextBox 157"/>
            <p:cNvSpPr txBox="1"/>
            <p:nvPr/>
          </p:nvSpPr>
          <p:spPr>
            <a:xfrm>
              <a:off x="8605838" y="5042297"/>
              <a:ext cx="642239"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渠道共建：</a:t>
              </a:r>
            </a:p>
          </p:txBody>
        </p:sp>
        <p:sp>
          <p:nvSpPr>
            <p:cNvPr id="158" name="TextBox 158"/>
            <p:cNvSpPr txBox="1"/>
            <p:nvPr/>
          </p:nvSpPr>
          <p:spPr>
            <a:xfrm>
              <a:off x="8605838" y="5225891"/>
              <a:ext cx="671855"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伙伴联合获客</a:t>
              </a:r>
            </a:p>
          </p:txBody>
        </p:sp>
      </p:grpSp>
      <p:grpSp>
        <p:nvGrpSpPr>
          <p:cNvPr id="166" name="key-metric-banner"/>
          <p:cNvGrpSpPr/>
          <p:nvPr/>
        </p:nvGrpSpPr>
        <p:grpSpPr>
          <a:xfrm>
            <a:off x="228600" y="5505450"/>
            <a:ext cx="11734800" cy="742950"/>
            <a:chOff x="228600" y="5505450"/>
            <a:chExt cx="11734800" cy="742950"/>
          </a:xfrm>
        </p:grpSpPr>
        <p:sp>
          <p:nvSpPr>
            <p:cNvPr id="160" name="Rectangle 160"/>
            <p:cNvSpPr/>
            <p:nvPr/>
          </p:nvSpPr>
          <p:spPr>
            <a:xfrm>
              <a:off x="228600" y="5505450"/>
              <a:ext cx="11734800" cy="742950"/>
            </a:xfrm>
            <a:prstGeom prst="roundRect">
              <a:avLst>
                <a:gd name="adj" fmla="val 15385"/>
              </a:avLst>
            </a:prstGeom>
            <a:solidFill>
              <a:srgbClr val="721E0D"/>
            </a:solidFill>
            <a:ln>
              <a:noFill/>
            </a:ln>
          </p:spPr>
        </p:sp>
        <p:sp>
          <p:nvSpPr>
            <p:cNvPr id="161" name="Ellipse 161"/>
            <p:cNvSpPr/>
            <p:nvPr/>
          </p:nvSpPr>
          <p:spPr>
            <a:xfrm>
              <a:off x="438150" y="5629275"/>
              <a:ext cx="495300" cy="495300"/>
            </a:xfrm>
            <a:prstGeom prst="ellipse">
              <a:avLst/>
            </a:prstGeom>
            <a:solidFill>
              <a:srgbClr val="FFFFFF"/>
            </a:solidFill>
            <a:ln>
              <a:noFill/>
            </a:ln>
          </p:spPr>
        </p:sp>
        <p:grpSp>
          <p:nvGrpSpPr>
            <p:cNvPr id="164" name="Group 164"/>
            <p:cNvGrpSpPr/>
            <p:nvPr/>
          </p:nvGrpSpPr>
          <p:grpSpPr>
            <a:xfrm>
              <a:off x="584200" y="5800725"/>
              <a:ext cx="203199" cy="174624"/>
              <a:chOff x="584200" y="5800725"/>
              <a:chExt cx="203199" cy="174624"/>
            </a:xfrm>
          </p:grpSpPr>
          <p:sp>
            <p:nvSpPr>
              <p:cNvPr id="162" name="Freeform 162"/>
              <p:cNvSpPr/>
              <p:nvPr/>
            </p:nvSpPr>
            <p:spPr>
              <a:xfrm>
                <a:off x="584200" y="5965824"/>
                <a:ext cx="203199" cy="9525"/>
              </a:xfrm>
              <a:custGeom>
                <a:avLst/>
                <a:gdLst/>
                <a:ahLst/>
                <a:cxnLst/>
                <a:rect l="l" t="t" r="r" b="b"/>
                <a:pathLst>
                  <a:path w="203199" h="9525">
                    <a:moveTo>
                      <a:pt x="0" y="0"/>
                    </a:moveTo>
                    <a:lnTo>
                      <a:pt x="203199" y="0"/>
                    </a:lnTo>
                  </a:path>
                </a:pathLst>
              </a:custGeom>
              <a:noFill/>
              <a:ln w="25400">
                <a:solidFill>
                  <a:srgbClr val="721E0D"/>
                </a:solidFill>
              </a:ln>
            </p:spPr>
          </p:sp>
          <p:sp>
            <p:nvSpPr>
              <p:cNvPr id="163" name="Freeform 163"/>
              <p:cNvSpPr/>
              <p:nvPr/>
            </p:nvSpPr>
            <p:spPr>
              <a:xfrm>
                <a:off x="584200" y="5800725"/>
                <a:ext cx="203199" cy="114300"/>
              </a:xfrm>
              <a:custGeom>
                <a:avLst/>
                <a:gdLst/>
                <a:ahLst/>
                <a:cxnLst/>
                <a:rect l="l" t="t" r="r" b="b"/>
                <a:pathLst>
                  <a:path w="203199" h="114300">
                    <a:moveTo>
                      <a:pt x="0" y="114300"/>
                    </a:moveTo>
                    <a:lnTo>
                      <a:pt x="50800" y="38100"/>
                    </a:lnTo>
                    <a:lnTo>
                      <a:pt x="101600" y="63500"/>
                    </a:lnTo>
                    <a:lnTo>
                      <a:pt x="152400" y="0"/>
                    </a:lnTo>
                    <a:lnTo>
                      <a:pt x="203199" y="50800"/>
                    </a:lnTo>
                  </a:path>
                </a:pathLst>
              </a:custGeom>
              <a:noFill/>
              <a:ln w="25400">
                <a:solidFill>
                  <a:srgbClr val="721E0D"/>
                </a:solidFill>
              </a:ln>
            </p:spPr>
          </p:sp>
        </p:grpSp>
        <p:sp>
          <p:nvSpPr>
            <p:cNvPr id="165" name="TextBox 165"/>
            <p:cNvSpPr txBox="1"/>
            <p:nvPr/>
          </p:nvSpPr>
          <p:spPr>
            <a:xfrm>
              <a:off x="1077468" y="5803582"/>
              <a:ext cx="6638352" cy="322707"/>
            </a:xfrm>
            <a:prstGeom prst="rect">
              <a:avLst/>
            </a:prstGeom>
            <a:noFill/>
            <a:ln>
              <a:noFill/>
            </a:ln>
          </p:spPr>
          <p:txBody>
            <a:bodyPr wrap="none" lIns="0" tIns="0" rIns="0" bIns="0" anchor="t" anchorCtr="0">
              <a:spAutoFit/>
            </a:bodyPr>
            <a:lstStyle/>
            <a:p>
              <a:pPr algn="l"/>
              <a:r>
                <a:rPr lang="zh-CN" sz="1650" b="1" dirty="0">
                  <a:solidFill>
                    <a:srgbClr val="FFFFFF"/>
                  </a:solidFill>
                  <a:latin typeface="+mn-lt"/>
                  <a:ea typeface="+mn-ea"/>
                  <a:cs typeface="+mn-cs"/>
                </a:rPr>
                <a:t>关键指标：有效商机新增</a:t>
              </a:r>
              <a:r>
                <a:rPr lang="zh-CN" sz="2400" b="1" dirty="0">
                  <a:solidFill>
                    <a:srgbClr val="F2664E"/>
                  </a:solidFill>
                  <a:latin typeface="+mn-lt"/>
                  <a:ea typeface="+mn-ea"/>
                  <a:cs typeface="+mn-cs"/>
                </a:rPr>
                <a:t>120</a:t>
              </a:r>
              <a:r>
                <a:rPr lang="zh-CN" sz="1650" b="1" dirty="0">
                  <a:solidFill>
                    <a:srgbClr val="FFFFFF"/>
                  </a:solidFill>
                  <a:latin typeface="+mn-lt"/>
                  <a:ea typeface="+mn-ea"/>
                  <a:cs typeface="+mn-cs"/>
                </a:rPr>
                <a:t>个，商机转化率提升至</a:t>
              </a:r>
              <a:r>
                <a:rPr lang="zh-CN" sz="2400" b="1" dirty="0">
                  <a:solidFill>
                    <a:srgbClr val="F2664E"/>
                  </a:solidFill>
                  <a:latin typeface="+mn-lt"/>
                  <a:ea typeface="+mn-ea"/>
                  <a:cs typeface="+mn-cs"/>
                </a:rPr>
                <a:t>18%</a:t>
              </a:r>
              <a:r>
                <a:rPr lang="zh-CN" sz="1650" b="1" dirty="0">
                  <a:solidFill>
                    <a:srgbClr val="FFFFFF"/>
                  </a:solidFill>
                  <a:latin typeface="+mn-lt"/>
                  <a:ea typeface="+mn-ea"/>
                  <a:cs typeface="+mn-cs"/>
                </a:rPr>
                <a:t xml:space="preserve">      </a:t>
              </a:r>
            </a:p>
          </p:txBody>
        </p:sp>
      </p:gr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268698" y="152876"/>
              <a:ext cx="18650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9</a:t>
              </a:r>
            </a:p>
          </p:txBody>
        </p:sp>
        <p:sp>
          <p:nvSpPr>
            <p:cNvPr id="4" name="TextBox 4"/>
            <p:cNvSpPr txBox="1"/>
            <p:nvPr/>
          </p:nvSpPr>
          <p:spPr>
            <a:xfrm>
              <a:off x="904494" y="180023"/>
              <a:ext cx="6220275"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路径三：重点战役——</a:t>
              </a:r>
              <a:r>
                <a:rPr lang="zh-CN" sz="1950" b="1" dirty="0">
                  <a:solidFill>
                    <a:srgbClr val="B8351A"/>
                  </a:solidFill>
                  <a:latin typeface="+mn-lt"/>
                  <a:ea typeface="+mn-ea"/>
                  <a:cs typeface="+mn-cs"/>
                </a:rPr>
                <a:t>集中资源突破高价值场景</a:t>
              </a:r>
              <a:r>
                <a:rPr lang="zh-CN" sz="1950" b="1" dirty="0">
                  <a:solidFill>
                    <a:srgbClr val="461910"/>
                  </a:solidFill>
                  <a:latin typeface="+mn-lt"/>
                  <a:ea typeface="+mn-ea"/>
                  <a:cs typeface="+mn-cs"/>
                </a:rPr>
                <a:t xml:space="preserve">      </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45" name="kpi-row"/>
          <p:cNvGrpSpPr/>
          <p:nvPr/>
        </p:nvGrpSpPr>
        <p:grpSpPr>
          <a:xfrm>
            <a:off x="228600" y="685800"/>
            <a:ext cx="11715750" cy="666179"/>
            <a:chOff x="228600" y="685800"/>
            <a:chExt cx="11715750" cy="666179"/>
          </a:xfrm>
        </p:grpSpPr>
        <p:sp>
          <p:nvSpPr>
            <p:cNvPr id="7" name="Rectangle 7"/>
            <p:cNvSpPr/>
            <p:nvPr/>
          </p:nvSpPr>
          <p:spPr>
            <a:xfrm>
              <a:off x="228600" y="685800"/>
              <a:ext cx="2266950" cy="590550"/>
            </a:xfrm>
            <a:prstGeom prst="roundRect">
              <a:avLst>
                <a:gd name="adj" fmla="val 16129"/>
              </a:avLst>
            </a:prstGeom>
            <a:solidFill>
              <a:srgbClr val="721E0D"/>
            </a:solidFill>
            <a:ln>
              <a:noFill/>
            </a:ln>
          </p:spPr>
        </p:sp>
        <p:grpSp>
          <p:nvGrpSpPr>
            <p:cNvPr id="13" name="Group 13"/>
            <p:cNvGrpSpPr/>
            <p:nvPr/>
          </p:nvGrpSpPr>
          <p:grpSpPr>
            <a:xfrm>
              <a:off x="402431" y="857823"/>
              <a:ext cx="242888" cy="244696"/>
              <a:chOff x="402431" y="857823"/>
              <a:chExt cx="242888" cy="244696"/>
            </a:xfrm>
          </p:grpSpPr>
          <p:sp>
            <p:nvSpPr>
              <p:cNvPr id="8" name="Freeform 8"/>
              <p:cNvSpPr/>
              <p:nvPr/>
            </p:nvSpPr>
            <p:spPr>
              <a:xfrm>
                <a:off x="483394" y="967582"/>
                <a:ext cx="161925" cy="80963"/>
              </a:xfrm>
              <a:custGeom>
                <a:avLst/>
                <a:gdLst/>
                <a:ahLst/>
                <a:cxnLst/>
                <a:rect l="l" t="t" r="r" b="b"/>
                <a:pathLst>
                  <a:path w="161925" h="80963">
                    <a:moveTo>
                      <a:pt x="0" y="40481"/>
                    </a:moveTo>
                    <a:cubicBezTo>
                      <a:pt x="0" y="62841"/>
                      <a:pt x="36244" y="80963"/>
                      <a:pt x="80963" y="80963"/>
                    </a:cubicBezTo>
                    <a:cubicBezTo>
                      <a:pt x="125681" y="80963"/>
                      <a:pt x="161925" y="62841"/>
                      <a:pt x="161925" y="40481"/>
                    </a:cubicBezTo>
                    <a:cubicBezTo>
                      <a:pt x="161925" y="18122"/>
                      <a:pt x="125681" y="0"/>
                      <a:pt x="80963" y="0"/>
                    </a:cubicBezTo>
                    <a:cubicBezTo>
                      <a:pt x="36244" y="0"/>
                      <a:pt x="0" y="18122"/>
                      <a:pt x="0" y="40481"/>
                    </a:cubicBezTo>
                  </a:path>
                </a:pathLst>
              </a:custGeom>
              <a:noFill/>
              <a:ln w="26988">
                <a:solidFill>
                  <a:srgbClr val="FFFFFF"/>
                </a:solidFill>
              </a:ln>
            </p:spPr>
          </p:sp>
          <p:sp>
            <p:nvSpPr>
              <p:cNvPr id="9" name="Freeform 9"/>
              <p:cNvSpPr/>
              <p:nvPr/>
            </p:nvSpPr>
            <p:spPr>
              <a:xfrm>
                <a:off x="483394" y="1008063"/>
                <a:ext cx="161925" cy="94456"/>
              </a:xfrm>
              <a:custGeom>
                <a:avLst/>
                <a:gdLst/>
                <a:ahLst/>
                <a:cxnLst/>
                <a:rect l="l" t="t" r="r" b="b"/>
                <a:pathLst>
                  <a:path w="161925" h="94456">
                    <a:moveTo>
                      <a:pt x="0" y="0"/>
                    </a:moveTo>
                    <a:lnTo>
                      <a:pt x="0" y="53975"/>
                    </a:lnTo>
                    <a:cubicBezTo>
                      <a:pt x="0" y="76321"/>
                      <a:pt x="36244" y="94456"/>
                      <a:pt x="80963" y="94456"/>
                    </a:cubicBezTo>
                    <a:cubicBezTo>
                      <a:pt x="125681" y="94456"/>
                      <a:pt x="161925" y="76321"/>
                      <a:pt x="161925" y="53975"/>
                    </a:cubicBezTo>
                    <a:lnTo>
                      <a:pt x="161925" y="0"/>
                    </a:lnTo>
                  </a:path>
                </a:pathLst>
              </a:custGeom>
              <a:noFill/>
              <a:ln w="26988">
                <a:solidFill>
                  <a:srgbClr val="FFFFFF"/>
                </a:solidFill>
              </a:ln>
            </p:spPr>
          </p:sp>
          <p:sp>
            <p:nvSpPr>
              <p:cNvPr id="10" name="Freeform 10"/>
              <p:cNvSpPr/>
              <p:nvPr/>
            </p:nvSpPr>
            <p:spPr>
              <a:xfrm>
                <a:off x="402431" y="857823"/>
                <a:ext cx="161925" cy="84579"/>
              </a:xfrm>
              <a:custGeom>
                <a:avLst/>
                <a:gdLst/>
                <a:ahLst/>
                <a:cxnLst/>
                <a:rect l="l" t="t" r="r" b="b"/>
                <a:pathLst>
                  <a:path w="161925" h="84579">
                    <a:moveTo>
                      <a:pt x="0" y="42290"/>
                    </a:moveTo>
                    <a:cubicBezTo>
                      <a:pt x="0" y="56755"/>
                      <a:pt x="15437" y="70114"/>
                      <a:pt x="40481" y="77346"/>
                    </a:cubicBezTo>
                    <a:cubicBezTo>
                      <a:pt x="65526" y="84579"/>
                      <a:pt x="96400" y="84579"/>
                      <a:pt x="121444" y="77346"/>
                    </a:cubicBezTo>
                    <a:cubicBezTo>
                      <a:pt x="146488" y="70114"/>
                      <a:pt x="161925" y="56755"/>
                      <a:pt x="161925" y="42290"/>
                    </a:cubicBezTo>
                    <a:cubicBezTo>
                      <a:pt x="161925" y="27824"/>
                      <a:pt x="146488" y="14465"/>
                      <a:pt x="121444" y="7233"/>
                    </a:cubicBezTo>
                    <a:cubicBezTo>
                      <a:pt x="96400" y="0"/>
                      <a:pt x="65526" y="0"/>
                      <a:pt x="40481" y="7233"/>
                    </a:cubicBezTo>
                    <a:cubicBezTo>
                      <a:pt x="15437" y="14465"/>
                      <a:pt x="0" y="27824"/>
                      <a:pt x="0" y="42290"/>
                    </a:cubicBezTo>
                  </a:path>
                </a:pathLst>
              </a:custGeom>
              <a:noFill/>
              <a:ln w="26988">
                <a:solidFill>
                  <a:srgbClr val="FFFFFF"/>
                </a:solidFill>
              </a:ln>
            </p:spPr>
          </p:sp>
          <p:sp>
            <p:nvSpPr>
              <p:cNvPr id="11" name="Freeform 11"/>
              <p:cNvSpPr/>
              <p:nvPr/>
            </p:nvSpPr>
            <p:spPr>
              <a:xfrm>
                <a:off x="402431" y="900113"/>
                <a:ext cx="26988" cy="161925"/>
              </a:xfrm>
              <a:custGeom>
                <a:avLst/>
                <a:gdLst/>
                <a:ahLst/>
                <a:cxnLst/>
                <a:rect l="l" t="t" r="r" b="b"/>
                <a:pathLst>
                  <a:path w="26988" h="161925">
                    <a:moveTo>
                      <a:pt x="0" y="0"/>
                    </a:moveTo>
                    <a:lnTo>
                      <a:pt x="0" y="134938"/>
                    </a:lnTo>
                    <a:cubicBezTo>
                      <a:pt x="0" y="146920"/>
                      <a:pt x="10417" y="154504"/>
                      <a:pt x="26988" y="161925"/>
                    </a:cubicBezTo>
                  </a:path>
                </a:pathLst>
              </a:custGeom>
              <a:noFill/>
              <a:ln w="26988">
                <a:solidFill>
                  <a:srgbClr val="FFFFFF"/>
                </a:solidFill>
              </a:ln>
            </p:spPr>
          </p:sp>
          <p:sp>
            <p:nvSpPr>
              <p:cNvPr id="12" name="Freeform 12"/>
              <p:cNvSpPr/>
              <p:nvPr/>
            </p:nvSpPr>
            <p:spPr>
              <a:xfrm>
                <a:off x="402431" y="967582"/>
                <a:ext cx="26988" cy="26988"/>
              </a:xfrm>
              <a:custGeom>
                <a:avLst/>
                <a:gdLst/>
                <a:ahLst/>
                <a:cxnLst/>
                <a:rect l="l" t="t" r="r" b="b"/>
                <a:pathLst>
                  <a:path w="26988" h="26988">
                    <a:moveTo>
                      <a:pt x="0" y="0"/>
                    </a:moveTo>
                    <a:cubicBezTo>
                      <a:pt x="0" y="11982"/>
                      <a:pt x="10417" y="19566"/>
                      <a:pt x="26988" y="26988"/>
                    </a:cubicBezTo>
                  </a:path>
                </a:pathLst>
              </a:custGeom>
              <a:noFill/>
              <a:ln w="26988">
                <a:solidFill>
                  <a:srgbClr val="FFFFFF"/>
                </a:solidFill>
              </a:ln>
            </p:spPr>
          </p:sp>
        </p:grpSp>
        <p:sp>
          <p:nvSpPr>
            <p:cNvPr id="14" name="TextBox 14"/>
            <p:cNvSpPr txBox="1"/>
            <p:nvPr/>
          </p:nvSpPr>
          <p:spPr>
            <a:xfrm>
              <a:off x="776288" y="787241"/>
              <a:ext cx="561467" cy="161925"/>
            </a:xfrm>
            <a:prstGeom prst="rect">
              <a:avLst/>
            </a:prstGeom>
            <a:noFill/>
            <a:ln>
              <a:noFill/>
            </a:ln>
          </p:spPr>
          <p:txBody>
            <a:bodyPr wrap="none" lIns="0" tIns="0" rIns="0" bIns="0" anchor="t" anchorCtr="0">
              <a:spAutoFit/>
            </a:bodyPr>
            <a:lstStyle/>
            <a:p>
              <a:pPr algn="l"/>
              <a:r>
                <a:rPr lang="zh-CN" sz="820" dirty="0">
                  <a:solidFill>
                    <a:srgbClr val="DCE6F8"/>
                  </a:solidFill>
                  <a:latin typeface="+mn-lt"/>
                  <a:ea typeface="+mn-ea"/>
                  <a:cs typeface="+mn-cs"/>
                </a:rPr>
                <a:t>预计贡献约</a:t>
              </a:r>
            </a:p>
          </p:txBody>
        </p:sp>
        <p:sp>
          <p:nvSpPr>
            <p:cNvPr id="15" name="TextBox 15"/>
            <p:cNvSpPr txBox="1"/>
            <p:nvPr/>
          </p:nvSpPr>
          <p:spPr>
            <a:xfrm>
              <a:off x="771144" y="970598"/>
              <a:ext cx="1058288" cy="381381"/>
            </a:xfrm>
            <a:prstGeom prst="rect">
              <a:avLst/>
            </a:prstGeom>
            <a:noFill/>
            <a:ln>
              <a:noFill/>
            </a:ln>
          </p:spPr>
          <p:txBody>
            <a:bodyPr wrap="none" lIns="0" tIns="0" rIns="0" bIns="0" anchor="t" anchorCtr="0">
              <a:spAutoFit/>
            </a:bodyPr>
            <a:lstStyle/>
            <a:p>
              <a:pPr algn="l"/>
              <a:r>
                <a:rPr lang="zh-CN" sz="1950" b="1" dirty="0">
                  <a:solidFill>
                    <a:srgbClr val="FFFFFF"/>
                  </a:solidFill>
                  <a:latin typeface="+mn-lt"/>
                  <a:ea typeface="+mn-ea"/>
                  <a:cs typeface="+mn-cs"/>
                </a:rPr>
                <a:t>2000</a:t>
              </a:r>
              <a:r>
                <a:rPr lang="zh-CN" sz="900" b="1" dirty="0">
                  <a:solidFill>
                    <a:srgbClr val="FFFFFF"/>
                  </a:solidFill>
                  <a:latin typeface="+mn-lt"/>
                  <a:ea typeface="+mn-ea"/>
                  <a:cs typeface="+mn-cs"/>
                </a:rPr>
                <a:t xml:space="preserve"> 万元</a:t>
              </a:r>
              <a:r>
                <a:rPr lang="zh-CN" sz="1950" b="1" dirty="0">
                  <a:solidFill>
                    <a:srgbClr val="FFFFFF"/>
                  </a:solidFill>
                  <a:latin typeface="+mn-lt"/>
                  <a:ea typeface="+mn-ea"/>
                  <a:cs typeface="+mn-cs"/>
                </a:rPr>
                <a:t xml:space="preserve"> </a:t>
              </a:r>
            </a:p>
          </p:txBody>
        </p:sp>
        <p:sp>
          <p:nvSpPr>
            <p:cNvPr id="16" name="Rectangle 16"/>
            <p:cNvSpPr/>
            <p:nvPr/>
          </p:nvSpPr>
          <p:spPr>
            <a:xfrm>
              <a:off x="2590800" y="685800"/>
              <a:ext cx="2266950" cy="590550"/>
            </a:xfrm>
            <a:prstGeom prst="roundRect">
              <a:avLst>
                <a:gd name="adj" fmla="val 16129"/>
              </a:avLst>
            </a:prstGeom>
            <a:solidFill>
              <a:srgbClr val="FFFFFF"/>
            </a:solidFill>
            <a:ln w="14288">
              <a:solidFill>
                <a:srgbClr val="C9D6EE"/>
              </a:solidFill>
            </a:ln>
          </p:spPr>
        </p:sp>
        <p:grpSp>
          <p:nvGrpSpPr>
            <p:cNvPr id="21" name="Group 21"/>
            <p:cNvGrpSpPr/>
            <p:nvPr/>
          </p:nvGrpSpPr>
          <p:grpSpPr>
            <a:xfrm>
              <a:off x="2764631" y="873125"/>
              <a:ext cx="242889" cy="225426"/>
              <a:chOff x="2764631" y="873125"/>
              <a:chExt cx="242889" cy="225426"/>
            </a:xfrm>
          </p:grpSpPr>
          <p:sp>
            <p:nvSpPr>
              <p:cNvPr id="17" name="Freeform 17"/>
              <p:cNvSpPr/>
              <p:nvPr/>
            </p:nvSpPr>
            <p:spPr>
              <a:xfrm>
                <a:off x="2764631" y="981075"/>
                <a:ext cx="80963" cy="107950"/>
              </a:xfrm>
              <a:custGeom>
                <a:avLst/>
                <a:gdLst/>
                <a:ahLst/>
                <a:cxnLst/>
                <a:rect l="l" t="t" r="r" b="b"/>
                <a:pathLst>
                  <a:path w="80963" h="107950">
                    <a:moveTo>
                      <a:pt x="0" y="13494"/>
                    </a:moveTo>
                    <a:cubicBezTo>
                      <a:pt x="0" y="6041"/>
                      <a:pt x="6041" y="0"/>
                      <a:pt x="13494" y="0"/>
                    </a:cubicBezTo>
                    <a:lnTo>
                      <a:pt x="67469" y="0"/>
                    </a:lnTo>
                    <a:cubicBezTo>
                      <a:pt x="74921" y="0"/>
                      <a:pt x="80963" y="6041"/>
                      <a:pt x="80963" y="13494"/>
                    </a:cubicBezTo>
                    <a:lnTo>
                      <a:pt x="80963" y="94456"/>
                    </a:lnTo>
                    <a:cubicBezTo>
                      <a:pt x="80963" y="101909"/>
                      <a:pt x="74921" y="107950"/>
                      <a:pt x="67469" y="107950"/>
                    </a:cubicBezTo>
                    <a:lnTo>
                      <a:pt x="13494" y="107950"/>
                    </a:lnTo>
                    <a:cubicBezTo>
                      <a:pt x="6041" y="107950"/>
                      <a:pt x="0" y="101909"/>
                      <a:pt x="0" y="94456"/>
                    </a:cubicBezTo>
                    <a:lnTo>
                      <a:pt x="0" y="13494"/>
                    </a:lnTo>
                  </a:path>
                </a:pathLst>
              </a:custGeom>
              <a:noFill/>
              <a:ln w="26988">
                <a:solidFill>
                  <a:srgbClr val="721E0D"/>
                </a:solidFill>
              </a:ln>
            </p:spPr>
          </p:sp>
          <p:sp>
            <p:nvSpPr>
              <p:cNvPr id="18" name="Freeform 18"/>
              <p:cNvSpPr/>
              <p:nvPr/>
            </p:nvSpPr>
            <p:spPr>
              <a:xfrm>
                <a:off x="2926557" y="927100"/>
                <a:ext cx="80963" cy="161925"/>
              </a:xfrm>
              <a:custGeom>
                <a:avLst/>
                <a:gdLst/>
                <a:ahLst/>
                <a:cxnLst/>
                <a:rect l="l" t="t" r="r" b="b"/>
                <a:pathLst>
                  <a:path w="80963" h="161925">
                    <a:moveTo>
                      <a:pt x="0" y="13494"/>
                    </a:moveTo>
                    <a:cubicBezTo>
                      <a:pt x="0" y="6041"/>
                      <a:pt x="6041" y="0"/>
                      <a:pt x="13494" y="0"/>
                    </a:cubicBezTo>
                    <a:lnTo>
                      <a:pt x="67469" y="0"/>
                    </a:lnTo>
                    <a:cubicBezTo>
                      <a:pt x="74921" y="0"/>
                      <a:pt x="80963" y="6041"/>
                      <a:pt x="80963" y="13494"/>
                    </a:cubicBezTo>
                    <a:lnTo>
                      <a:pt x="80963" y="148432"/>
                    </a:lnTo>
                    <a:cubicBezTo>
                      <a:pt x="80963" y="155884"/>
                      <a:pt x="74921" y="161925"/>
                      <a:pt x="67469" y="161925"/>
                    </a:cubicBezTo>
                    <a:lnTo>
                      <a:pt x="13494" y="161925"/>
                    </a:lnTo>
                    <a:cubicBezTo>
                      <a:pt x="6041" y="161925"/>
                      <a:pt x="0" y="155884"/>
                      <a:pt x="0" y="148432"/>
                    </a:cubicBezTo>
                    <a:lnTo>
                      <a:pt x="0" y="13494"/>
                    </a:lnTo>
                  </a:path>
                </a:pathLst>
              </a:custGeom>
              <a:noFill/>
              <a:ln w="26988">
                <a:solidFill>
                  <a:srgbClr val="721E0D"/>
                </a:solidFill>
              </a:ln>
            </p:spPr>
          </p:sp>
          <p:sp>
            <p:nvSpPr>
              <p:cNvPr id="19" name="Freeform 19"/>
              <p:cNvSpPr/>
              <p:nvPr/>
            </p:nvSpPr>
            <p:spPr>
              <a:xfrm>
                <a:off x="2845594" y="873125"/>
                <a:ext cx="80963" cy="215901"/>
              </a:xfrm>
              <a:custGeom>
                <a:avLst/>
                <a:gdLst/>
                <a:ahLst/>
                <a:cxnLst/>
                <a:rect l="l" t="t" r="r" b="b"/>
                <a:pathLst>
                  <a:path w="80963" h="215901">
                    <a:moveTo>
                      <a:pt x="0" y="13494"/>
                    </a:moveTo>
                    <a:cubicBezTo>
                      <a:pt x="0" y="6041"/>
                      <a:pt x="6041" y="0"/>
                      <a:pt x="13494" y="0"/>
                    </a:cubicBezTo>
                    <a:lnTo>
                      <a:pt x="67469" y="0"/>
                    </a:lnTo>
                    <a:cubicBezTo>
                      <a:pt x="74921" y="0"/>
                      <a:pt x="80963" y="6041"/>
                      <a:pt x="80963" y="13494"/>
                    </a:cubicBezTo>
                    <a:lnTo>
                      <a:pt x="80963" y="202407"/>
                    </a:lnTo>
                    <a:cubicBezTo>
                      <a:pt x="80963" y="209859"/>
                      <a:pt x="74921" y="215901"/>
                      <a:pt x="67469" y="215901"/>
                    </a:cubicBezTo>
                    <a:lnTo>
                      <a:pt x="13494" y="215901"/>
                    </a:lnTo>
                    <a:cubicBezTo>
                      <a:pt x="6041" y="215901"/>
                      <a:pt x="0" y="209859"/>
                      <a:pt x="0" y="202407"/>
                    </a:cubicBezTo>
                    <a:lnTo>
                      <a:pt x="0" y="13494"/>
                    </a:lnTo>
                  </a:path>
                </a:pathLst>
              </a:custGeom>
              <a:noFill/>
              <a:ln w="26988">
                <a:solidFill>
                  <a:srgbClr val="721E0D"/>
                </a:solidFill>
              </a:ln>
            </p:spPr>
          </p:sp>
          <p:sp>
            <p:nvSpPr>
              <p:cNvPr id="20" name="Freeform 20"/>
              <p:cNvSpPr/>
              <p:nvPr/>
            </p:nvSpPr>
            <p:spPr>
              <a:xfrm>
                <a:off x="2778125" y="1089026"/>
                <a:ext cx="188913" cy="9525"/>
              </a:xfrm>
              <a:custGeom>
                <a:avLst/>
                <a:gdLst/>
                <a:ahLst/>
                <a:cxnLst/>
                <a:rect l="l" t="t" r="r" b="b"/>
                <a:pathLst>
                  <a:path w="188913" h="9525">
                    <a:moveTo>
                      <a:pt x="0" y="0"/>
                    </a:moveTo>
                    <a:lnTo>
                      <a:pt x="188913" y="0"/>
                    </a:lnTo>
                  </a:path>
                </a:pathLst>
              </a:custGeom>
              <a:noFill/>
              <a:ln w="26988">
                <a:solidFill>
                  <a:srgbClr val="721E0D"/>
                </a:solidFill>
              </a:ln>
            </p:spPr>
          </p:sp>
        </p:grpSp>
        <p:sp>
          <p:nvSpPr>
            <p:cNvPr id="22" name="TextBox 22"/>
            <p:cNvSpPr txBox="1"/>
            <p:nvPr/>
          </p:nvSpPr>
          <p:spPr>
            <a:xfrm>
              <a:off x="3138488" y="787241"/>
              <a:ext cx="671855"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潜在商机总额</a:t>
              </a:r>
            </a:p>
          </p:txBody>
        </p:sp>
        <p:sp>
          <p:nvSpPr>
            <p:cNvPr id="23" name="TextBox 23"/>
            <p:cNvSpPr txBox="1"/>
            <p:nvPr/>
          </p:nvSpPr>
          <p:spPr>
            <a:xfrm>
              <a:off x="3133344" y="970598"/>
              <a:ext cx="1209886" cy="381381"/>
            </a:xfrm>
            <a:prstGeom prst="rect">
              <a:avLst/>
            </a:prstGeom>
            <a:noFill/>
            <a:ln>
              <a:noFill/>
            </a:ln>
          </p:spPr>
          <p:txBody>
            <a:bodyPr wrap="none" lIns="0" tIns="0" rIns="0" bIns="0" anchor="t" anchorCtr="0">
              <a:spAutoFit/>
            </a:bodyPr>
            <a:lstStyle/>
            <a:p>
              <a:pPr algn="l"/>
              <a:r>
                <a:rPr lang="zh-CN" sz="1950" b="1" dirty="0">
                  <a:solidFill>
                    <a:srgbClr val="721E0D"/>
                  </a:solidFill>
                  <a:latin typeface="+mn-lt"/>
                  <a:ea typeface="+mn-ea"/>
                  <a:cs typeface="+mn-cs"/>
                </a:rPr>
                <a:t>3,650</a:t>
              </a:r>
              <a:r>
                <a:rPr lang="zh-CN" sz="900" b="1" dirty="0">
                  <a:solidFill>
                    <a:srgbClr val="721E0D"/>
                  </a:solidFill>
                  <a:latin typeface="+mn-lt"/>
                  <a:ea typeface="+mn-ea"/>
                  <a:cs typeface="+mn-cs"/>
                </a:rPr>
                <a:t xml:space="preserve"> 万元</a:t>
              </a:r>
              <a:r>
                <a:rPr lang="zh-CN" sz="1950" b="1" dirty="0">
                  <a:solidFill>
                    <a:srgbClr val="721E0D"/>
                  </a:solidFill>
                  <a:latin typeface="+mn-lt"/>
                  <a:ea typeface="+mn-ea"/>
                  <a:cs typeface="+mn-cs"/>
                </a:rPr>
                <a:t xml:space="preserve"> </a:t>
              </a:r>
            </a:p>
          </p:txBody>
        </p:sp>
        <p:sp>
          <p:nvSpPr>
            <p:cNvPr id="24" name="Rectangle 24"/>
            <p:cNvSpPr/>
            <p:nvPr/>
          </p:nvSpPr>
          <p:spPr>
            <a:xfrm>
              <a:off x="4953000" y="685800"/>
              <a:ext cx="2266950" cy="590550"/>
            </a:xfrm>
            <a:prstGeom prst="roundRect">
              <a:avLst>
                <a:gd name="adj" fmla="val 16129"/>
              </a:avLst>
            </a:prstGeom>
            <a:solidFill>
              <a:srgbClr val="FFFFFF"/>
            </a:solidFill>
            <a:ln w="14288">
              <a:solidFill>
                <a:srgbClr val="C9D6EE"/>
              </a:solidFill>
            </a:ln>
          </p:spPr>
        </p:sp>
        <p:grpSp>
          <p:nvGrpSpPr>
            <p:cNvPr id="28" name="Group 28"/>
            <p:cNvGrpSpPr/>
            <p:nvPr/>
          </p:nvGrpSpPr>
          <p:grpSpPr>
            <a:xfrm>
              <a:off x="5126831" y="859631"/>
              <a:ext cx="242888" cy="242888"/>
              <a:chOff x="5126831" y="859631"/>
              <a:chExt cx="242888" cy="242888"/>
            </a:xfrm>
          </p:grpSpPr>
          <p:sp>
            <p:nvSpPr>
              <p:cNvPr id="25" name="Freeform 25"/>
              <p:cNvSpPr/>
              <p:nvPr/>
            </p:nvSpPr>
            <p:spPr>
              <a:xfrm>
                <a:off x="5234782" y="967582"/>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6988">
                <a:solidFill>
                  <a:srgbClr val="721E0D"/>
                </a:solidFill>
              </a:ln>
            </p:spPr>
          </p:sp>
          <p:sp>
            <p:nvSpPr>
              <p:cNvPr id="26" name="Freeform 26"/>
              <p:cNvSpPr/>
              <p:nvPr/>
            </p:nvSpPr>
            <p:spPr>
              <a:xfrm>
                <a:off x="5180806" y="913606"/>
                <a:ext cx="134938" cy="134938"/>
              </a:xfrm>
              <a:custGeom>
                <a:avLst/>
                <a:gdLst/>
                <a:ahLst/>
                <a:cxnLst/>
                <a:rect l="l" t="t" r="r" b="b"/>
                <a:pathLst>
                  <a:path w="134938" h="134938">
                    <a:moveTo>
                      <a:pt x="0" y="67469"/>
                    </a:moveTo>
                    <a:cubicBezTo>
                      <a:pt x="0" y="104731"/>
                      <a:pt x="30207" y="134938"/>
                      <a:pt x="67469" y="134938"/>
                    </a:cubicBezTo>
                    <a:cubicBezTo>
                      <a:pt x="104731" y="134938"/>
                      <a:pt x="134938" y="104731"/>
                      <a:pt x="134938" y="67469"/>
                    </a:cubicBezTo>
                    <a:cubicBezTo>
                      <a:pt x="134938" y="30207"/>
                      <a:pt x="104731" y="0"/>
                      <a:pt x="67469" y="0"/>
                    </a:cubicBezTo>
                    <a:cubicBezTo>
                      <a:pt x="30207" y="0"/>
                      <a:pt x="0" y="30207"/>
                      <a:pt x="0" y="67469"/>
                    </a:cubicBezTo>
                  </a:path>
                </a:pathLst>
              </a:custGeom>
              <a:noFill/>
              <a:ln w="26988">
                <a:solidFill>
                  <a:srgbClr val="721E0D"/>
                </a:solidFill>
              </a:ln>
            </p:spPr>
          </p:sp>
          <p:sp>
            <p:nvSpPr>
              <p:cNvPr id="27" name="Freeform 27"/>
              <p:cNvSpPr/>
              <p:nvPr/>
            </p:nvSpPr>
            <p:spPr>
              <a:xfrm>
                <a:off x="5126831" y="859631"/>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26988">
                <a:solidFill>
                  <a:srgbClr val="721E0D"/>
                </a:solidFill>
              </a:ln>
            </p:spPr>
          </p:sp>
        </p:grpSp>
        <p:sp>
          <p:nvSpPr>
            <p:cNvPr id="29" name="TextBox 29"/>
            <p:cNvSpPr txBox="1"/>
            <p:nvPr/>
          </p:nvSpPr>
          <p:spPr>
            <a:xfrm>
              <a:off x="5500688" y="787241"/>
              <a:ext cx="561467"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目标赢单额</a:t>
              </a:r>
            </a:p>
          </p:txBody>
        </p:sp>
        <p:sp>
          <p:nvSpPr>
            <p:cNvPr id="30" name="TextBox 30"/>
            <p:cNvSpPr txBox="1"/>
            <p:nvPr/>
          </p:nvSpPr>
          <p:spPr>
            <a:xfrm>
              <a:off x="5495544" y="970598"/>
              <a:ext cx="1209886" cy="381381"/>
            </a:xfrm>
            <a:prstGeom prst="rect">
              <a:avLst/>
            </a:prstGeom>
            <a:noFill/>
            <a:ln>
              <a:noFill/>
            </a:ln>
          </p:spPr>
          <p:txBody>
            <a:bodyPr wrap="none" lIns="0" tIns="0" rIns="0" bIns="0" anchor="t" anchorCtr="0">
              <a:spAutoFit/>
            </a:bodyPr>
            <a:lstStyle/>
            <a:p>
              <a:pPr algn="l"/>
              <a:r>
                <a:rPr lang="zh-CN" sz="1950" b="1" dirty="0">
                  <a:solidFill>
                    <a:srgbClr val="721E0D"/>
                  </a:solidFill>
                  <a:latin typeface="+mn-lt"/>
                  <a:ea typeface="+mn-ea"/>
                  <a:cs typeface="+mn-cs"/>
                </a:rPr>
                <a:t>2,000</a:t>
              </a:r>
              <a:r>
                <a:rPr lang="zh-CN" sz="900" b="1" dirty="0">
                  <a:solidFill>
                    <a:srgbClr val="721E0D"/>
                  </a:solidFill>
                  <a:latin typeface="+mn-lt"/>
                  <a:ea typeface="+mn-ea"/>
                  <a:cs typeface="+mn-cs"/>
                </a:rPr>
                <a:t xml:space="preserve"> 万元</a:t>
              </a:r>
              <a:r>
                <a:rPr lang="zh-CN" sz="1950" b="1" dirty="0">
                  <a:solidFill>
                    <a:srgbClr val="721E0D"/>
                  </a:solidFill>
                  <a:latin typeface="+mn-lt"/>
                  <a:ea typeface="+mn-ea"/>
                  <a:cs typeface="+mn-cs"/>
                </a:rPr>
                <a:t xml:space="preserve"> </a:t>
              </a:r>
            </a:p>
          </p:txBody>
        </p:sp>
        <p:sp>
          <p:nvSpPr>
            <p:cNvPr id="31" name="Rectangle 31"/>
            <p:cNvSpPr/>
            <p:nvPr/>
          </p:nvSpPr>
          <p:spPr>
            <a:xfrm>
              <a:off x="7315200" y="685800"/>
              <a:ext cx="2266950" cy="590550"/>
            </a:xfrm>
            <a:prstGeom prst="roundRect">
              <a:avLst>
                <a:gd name="adj" fmla="val 16129"/>
              </a:avLst>
            </a:prstGeom>
            <a:solidFill>
              <a:srgbClr val="FFFFFF"/>
            </a:solidFill>
            <a:ln w="14288">
              <a:solidFill>
                <a:srgbClr val="C9D6EE"/>
              </a:solidFill>
            </a:ln>
          </p:spPr>
        </p:sp>
        <p:grpSp>
          <p:nvGrpSpPr>
            <p:cNvPr id="34" name="Group 34"/>
            <p:cNvGrpSpPr/>
            <p:nvPr/>
          </p:nvGrpSpPr>
          <p:grpSpPr>
            <a:xfrm>
              <a:off x="7485270" y="861952"/>
              <a:ext cx="243951" cy="244329"/>
              <a:chOff x="7485270" y="861952"/>
              <a:chExt cx="243951" cy="244329"/>
            </a:xfrm>
          </p:grpSpPr>
          <p:sp>
            <p:nvSpPr>
              <p:cNvPr id="32" name="Freeform 32"/>
              <p:cNvSpPr/>
              <p:nvPr/>
            </p:nvSpPr>
            <p:spPr>
              <a:xfrm>
                <a:off x="7485270" y="861952"/>
                <a:ext cx="243951" cy="244329"/>
              </a:xfrm>
              <a:custGeom>
                <a:avLst/>
                <a:gdLst/>
                <a:ahLst/>
                <a:cxnLst/>
                <a:rect l="l" t="t" r="r" b="b"/>
                <a:pathLst>
                  <a:path w="243951" h="244329">
                    <a:moveTo>
                      <a:pt x="98218" y="378"/>
                    </a:moveTo>
                    <a:cubicBezTo>
                      <a:pt x="39790" y="13923"/>
                      <a:pt x="0" y="68093"/>
                      <a:pt x="4550" y="127898"/>
                    </a:cubicBezTo>
                    <a:cubicBezTo>
                      <a:pt x="9100" y="187702"/>
                      <a:pt x="56627" y="235229"/>
                      <a:pt x="116431" y="239779"/>
                    </a:cubicBezTo>
                    <a:cubicBezTo>
                      <a:pt x="176236" y="244329"/>
                      <a:pt x="230406" y="204539"/>
                      <a:pt x="243951" y="146111"/>
                    </a:cubicBezTo>
                    <a:cubicBezTo>
                      <a:pt x="243951" y="138659"/>
                      <a:pt x="237909" y="132618"/>
                      <a:pt x="230457" y="132618"/>
                    </a:cubicBezTo>
                    <a:lnTo>
                      <a:pt x="138699" y="132618"/>
                    </a:lnTo>
                    <a:cubicBezTo>
                      <a:pt x="123794" y="132618"/>
                      <a:pt x="111712" y="120535"/>
                      <a:pt x="111712" y="105630"/>
                    </a:cubicBezTo>
                    <a:lnTo>
                      <a:pt x="111712" y="11173"/>
                    </a:lnTo>
                    <a:cubicBezTo>
                      <a:pt x="111373" y="7944"/>
                      <a:pt x="109755" y="4985"/>
                      <a:pt x="107220" y="2957"/>
                    </a:cubicBezTo>
                    <a:cubicBezTo>
                      <a:pt x="104685" y="929"/>
                      <a:pt x="101443" y="0"/>
                      <a:pt x="98218" y="378"/>
                    </a:cubicBezTo>
                  </a:path>
                </a:pathLst>
              </a:custGeom>
              <a:noFill/>
              <a:ln w="26988">
                <a:solidFill>
                  <a:srgbClr val="721E0D"/>
                </a:solidFill>
              </a:ln>
            </p:spPr>
          </p:sp>
          <p:sp>
            <p:nvSpPr>
              <p:cNvPr id="33" name="Freeform 33"/>
              <p:cNvSpPr/>
              <p:nvPr/>
            </p:nvSpPr>
            <p:spPr>
              <a:xfrm>
                <a:off x="7650957" y="866378"/>
                <a:ext cx="74216" cy="74216"/>
              </a:xfrm>
              <a:custGeom>
                <a:avLst/>
                <a:gdLst/>
                <a:ahLst/>
                <a:cxnLst/>
                <a:rect l="l" t="t" r="r" b="b"/>
                <a:pathLst>
                  <a:path w="74216" h="74216">
                    <a:moveTo>
                      <a:pt x="0" y="0"/>
                    </a:moveTo>
                    <a:cubicBezTo>
                      <a:pt x="34703" y="12219"/>
                      <a:pt x="61996" y="39512"/>
                      <a:pt x="74216" y="74216"/>
                    </a:cubicBezTo>
                    <a:lnTo>
                      <a:pt x="13494" y="74216"/>
                    </a:lnTo>
                    <a:cubicBezTo>
                      <a:pt x="6041" y="74216"/>
                      <a:pt x="0" y="68174"/>
                      <a:pt x="0" y="60722"/>
                    </a:cubicBezTo>
                    <a:lnTo>
                      <a:pt x="0" y="0"/>
                    </a:lnTo>
                  </a:path>
                </a:pathLst>
              </a:custGeom>
              <a:noFill/>
              <a:ln w="26988">
                <a:solidFill>
                  <a:srgbClr val="721E0D"/>
                </a:solidFill>
              </a:ln>
            </p:spPr>
          </p:sp>
        </p:grpSp>
        <p:sp>
          <p:nvSpPr>
            <p:cNvPr id="35" name="TextBox 35"/>
            <p:cNvSpPr txBox="1"/>
            <p:nvPr/>
          </p:nvSpPr>
          <p:spPr>
            <a:xfrm>
              <a:off x="7862888" y="787241"/>
              <a:ext cx="1736062"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 xml:space="preserve">预算投入（ROI预期：5:1）      </a:t>
              </a:r>
            </a:p>
          </p:txBody>
        </p:sp>
        <p:sp>
          <p:nvSpPr>
            <p:cNvPr id="36" name="TextBox 36"/>
            <p:cNvSpPr txBox="1"/>
            <p:nvPr/>
          </p:nvSpPr>
          <p:spPr>
            <a:xfrm>
              <a:off x="7857744" y="970598"/>
              <a:ext cx="906689" cy="381381"/>
            </a:xfrm>
            <a:prstGeom prst="rect">
              <a:avLst/>
            </a:prstGeom>
            <a:noFill/>
            <a:ln>
              <a:noFill/>
            </a:ln>
          </p:spPr>
          <p:txBody>
            <a:bodyPr wrap="none" lIns="0" tIns="0" rIns="0" bIns="0" anchor="t" anchorCtr="0">
              <a:spAutoFit/>
            </a:bodyPr>
            <a:lstStyle/>
            <a:p>
              <a:pPr algn="l"/>
              <a:r>
                <a:rPr lang="zh-CN" sz="1950" b="1" dirty="0">
                  <a:solidFill>
                    <a:srgbClr val="721E0D"/>
                  </a:solidFill>
                  <a:latin typeface="+mn-lt"/>
                  <a:ea typeface="+mn-ea"/>
                  <a:cs typeface="+mn-cs"/>
                </a:rPr>
                <a:t>400</a:t>
              </a:r>
              <a:r>
                <a:rPr lang="zh-CN" sz="900" b="1" dirty="0">
                  <a:solidFill>
                    <a:srgbClr val="721E0D"/>
                  </a:solidFill>
                  <a:latin typeface="+mn-lt"/>
                  <a:ea typeface="+mn-ea"/>
                  <a:cs typeface="+mn-cs"/>
                </a:rPr>
                <a:t xml:space="preserve"> 万元</a:t>
              </a:r>
              <a:r>
                <a:rPr lang="zh-CN" sz="1950" b="1" dirty="0">
                  <a:solidFill>
                    <a:srgbClr val="721E0D"/>
                  </a:solidFill>
                  <a:latin typeface="+mn-lt"/>
                  <a:ea typeface="+mn-ea"/>
                  <a:cs typeface="+mn-cs"/>
                </a:rPr>
                <a:t xml:space="preserve"> </a:t>
              </a:r>
            </a:p>
          </p:txBody>
        </p:sp>
        <p:sp>
          <p:nvSpPr>
            <p:cNvPr id="37" name="Rectangle 37"/>
            <p:cNvSpPr/>
            <p:nvPr/>
          </p:nvSpPr>
          <p:spPr>
            <a:xfrm>
              <a:off x="9677400" y="685800"/>
              <a:ext cx="2266950" cy="590550"/>
            </a:xfrm>
            <a:prstGeom prst="roundRect">
              <a:avLst>
                <a:gd name="adj" fmla="val 16129"/>
              </a:avLst>
            </a:prstGeom>
            <a:solidFill>
              <a:srgbClr val="FFFFFF"/>
            </a:solidFill>
            <a:ln w="14288">
              <a:solidFill>
                <a:srgbClr val="C9D6EE"/>
              </a:solidFill>
            </a:ln>
          </p:spPr>
        </p:sp>
        <p:grpSp>
          <p:nvGrpSpPr>
            <p:cNvPr id="42" name="Group 42"/>
            <p:cNvGrpSpPr/>
            <p:nvPr/>
          </p:nvGrpSpPr>
          <p:grpSpPr>
            <a:xfrm>
              <a:off x="9878219" y="873125"/>
              <a:ext cx="202407" cy="229394"/>
              <a:chOff x="9878219" y="873125"/>
              <a:chExt cx="202407" cy="229394"/>
            </a:xfrm>
          </p:grpSpPr>
          <p:sp>
            <p:nvSpPr>
              <p:cNvPr id="38" name="Freeform 38"/>
              <p:cNvSpPr/>
              <p:nvPr/>
            </p:nvSpPr>
            <p:spPr>
              <a:xfrm>
                <a:off x="9878219" y="873125"/>
                <a:ext cx="161925" cy="215901"/>
              </a:xfrm>
              <a:custGeom>
                <a:avLst/>
                <a:gdLst/>
                <a:ahLst/>
                <a:cxnLst/>
                <a:rect l="l" t="t" r="r" b="b"/>
                <a:pathLst>
                  <a:path w="161925" h="215901">
                    <a:moveTo>
                      <a:pt x="62274" y="215901"/>
                    </a:moveTo>
                    <a:lnTo>
                      <a:pt x="26988" y="215901"/>
                    </a:lnTo>
                    <a:cubicBezTo>
                      <a:pt x="12083" y="215901"/>
                      <a:pt x="0" y="203818"/>
                      <a:pt x="0" y="188913"/>
                    </a:cubicBezTo>
                    <a:lnTo>
                      <a:pt x="0" y="26988"/>
                    </a:lnTo>
                    <a:cubicBezTo>
                      <a:pt x="0" y="12083"/>
                      <a:pt x="12083" y="0"/>
                      <a:pt x="26988" y="0"/>
                    </a:cubicBezTo>
                    <a:lnTo>
                      <a:pt x="134938" y="0"/>
                    </a:lnTo>
                    <a:cubicBezTo>
                      <a:pt x="149843" y="0"/>
                      <a:pt x="161925" y="12083"/>
                      <a:pt x="161925" y="26988"/>
                    </a:cubicBezTo>
                    <a:lnTo>
                      <a:pt x="161925" y="134938"/>
                    </a:lnTo>
                  </a:path>
                </a:pathLst>
              </a:custGeom>
              <a:noFill/>
              <a:ln w="26988">
                <a:solidFill>
                  <a:srgbClr val="721E0D"/>
                </a:solidFill>
              </a:ln>
            </p:spPr>
          </p:sp>
          <p:sp>
            <p:nvSpPr>
              <p:cNvPr id="39" name="Freeform 39"/>
              <p:cNvSpPr/>
              <p:nvPr/>
            </p:nvSpPr>
            <p:spPr>
              <a:xfrm>
                <a:off x="9999663" y="1048544"/>
                <a:ext cx="80963" cy="53975"/>
              </a:xfrm>
              <a:custGeom>
                <a:avLst/>
                <a:gdLst/>
                <a:ahLst/>
                <a:cxnLst/>
                <a:rect l="l" t="t" r="r" b="b"/>
                <a:pathLst>
                  <a:path w="80963" h="53975">
                    <a:moveTo>
                      <a:pt x="0" y="26988"/>
                    </a:moveTo>
                    <a:lnTo>
                      <a:pt x="26988" y="53975"/>
                    </a:lnTo>
                    <a:lnTo>
                      <a:pt x="80963" y="0"/>
                    </a:lnTo>
                  </a:path>
                </a:pathLst>
              </a:custGeom>
              <a:noFill/>
              <a:ln w="26988">
                <a:solidFill>
                  <a:srgbClr val="721E0D"/>
                </a:solidFill>
              </a:ln>
            </p:spPr>
          </p:sp>
          <p:sp>
            <p:nvSpPr>
              <p:cNvPr id="40" name="Freeform 40"/>
              <p:cNvSpPr/>
              <p:nvPr/>
            </p:nvSpPr>
            <p:spPr>
              <a:xfrm>
                <a:off x="9932194" y="927100"/>
                <a:ext cx="53975" cy="9525"/>
              </a:xfrm>
              <a:custGeom>
                <a:avLst/>
                <a:gdLst/>
                <a:ahLst/>
                <a:cxnLst/>
                <a:rect l="l" t="t" r="r" b="b"/>
                <a:pathLst>
                  <a:path w="53975" h="9525">
                    <a:moveTo>
                      <a:pt x="0" y="0"/>
                    </a:moveTo>
                    <a:lnTo>
                      <a:pt x="53975" y="0"/>
                    </a:lnTo>
                  </a:path>
                </a:pathLst>
              </a:custGeom>
              <a:noFill/>
              <a:ln w="26988">
                <a:solidFill>
                  <a:srgbClr val="721E0D"/>
                </a:solidFill>
              </a:ln>
            </p:spPr>
          </p:sp>
          <p:sp>
            <p:nvSpPr>
              <p:cNvPr id="41" name="Freeform 41"/>
              <p:cNvSpPr/>
              <p:nvPr/>
            </p:nvSpPr>
            <p:spPr>
              <a:xfrm>
                <a:off x="9932194" y="981075"/>
                <a:ext cx="26988" cy="9525"/>
              </a:xfrm>
              <a:custGeom>
                <a:avLst/>
                <a:gdLst/>
                <a:ahLst/>
                <a:cxnLst/>
                <a:rect l="l" t="t" r="r" b="b"/>
                <a:pathLst>
                  <a:path w="26988" h="9525">
                    <a:moveTo>
                      <a:pt x="0" y="0"/>
                    </a:moveTo>
                    <a:lnTo>
                      <a:pt x="26988" y="0"/>
                    </a:lnTo>
                  </a:path>
                </a:pathLst>
              </a:custGeom>
              <a:noFill/>
              <a:ln w="26988">
                <a:solidFill>
                  <a:srgbClr val="721E0D"/>
                </a:solidFill>
              </a:ln>
            </p:spPr>
          </p:sp>
        </p:grpSp>
        <p:sp>
          <p:nvSpPr>
            <p:cNvPr id="43" name="TextBox 43"/>
            <p:cNvSpPr txBox="1"/>
            <p:nvPr/>
          </p:nvSpPr>
          <p:spPr>
            <a:xfrm>
              <a:off x="10225088" y="787241"/>
              <a:ext cx="451079"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目标周期</a:t>
              </a:r>
            </a:p>
          </p:txBody>
        </p:sp>
        <p:sp>
          <p:nvSpPr>
            <p:cNvPr id="44" name="TextBox 44"/>
            <p:cNvSpPr txBox="1"/>
            <p:nvPr/>
          </p:nvSpPr>
          <p:spPr>
            <a:xfrm>
              <a:off x="10219944" y="970598"/>
              <a:ext cx="1058288" cy="381381"/>
            </a:xfrm>
            <a:prstGeom prst="rect">
              <a:avLst/>
            </a:prstGeom>
            <a:noFill/>
            <a:ln>
              <a:noFill/>
            </a:ln>
          </p:spPr>
          <p:txBody>
            <a:bodyPr wrap="none" lIns="0" tIns="0" rIns="0" bIns="0" anchor="t" anchorCtr="0">
              <a:spAutoFit/>
            </a:bodyPr>
            <a:lstStyle/>
            <a:p>
              <a:pPr algn="l"/>
              <a:r>
                <a:rPr lang="zh-CN" sz="1950" b="1" dirty="0">
                  <a:solidFill>
                    <a:srgbClr val="721E0D"/>
                  </a:solidFill>
                  <a:latin typeface="+mn-lt"/>
                  <a:ea typeface="+mn-ea"/>
                  <a:cs typeface="+mn-cs"/>
                </a:rPr>
                <a:t>6–12</a:t>
              </a:r>
              <a:r>
                <a:rPr lang="zh-CN" sz="900" b="1" dirty="0">
                  <a:solidFill>
                    <a:srgbClr val="721E0D"/>
                  </a:solidFill>
                  <a:latin typeface="+mn-lt"/>
                  <a:ea typeface="+mn-ea"/>
                  <a:cs typeface="+mn-cs"/>
                </a:rPr>
                <a:t xml:space="preserve"> 个月</a:t>
              </a:r>
              <a:r>
                <a:rPr lang="zh-CN" sz="1950" b="1" dirty="0">
                  <a:solidFill>
                    <a:srgbClr val="721E0D"/>
                  </a:solidFill>
                  <a:latin typeface="+mn-lt"/>
                  <a:ea typeface="+mn-ea"/>
                  <a:cs typeface="+mn-cs"/>
                </a:rPr>
                <a:t xml:space="preserve"> </a:t>
              </a:r>
            </a:p>
          </p:txBody>
        </p:sp>
      </p:grpSp>
      <p:grpSp>
        <p:nvGrpSpPr>
          <p:cNvPr id="52" name="core-strategy"/>
          <p:cNvGrpSpPr/>
          <p:nvPr/>
        </p:nvGrpSpPr>
        <p:grpSpPr>
          <a:xfrm>
            <a:off x="228600" y="1371600"/>
            <a:ext cx="11734800" cy="304800"/>
            <a:chOff x="228600" y="1371600"/>
            <a:chExt cx="11734800" cy="304800"/>
          </a:xfrm>
        </p:grpSpPr>
        <p:sp>
          <p:nvSpPr>
            <p:cNvPr id="46" name="Rectangle 46"/>
            <p:cNvSpPr/>
            <p:nvPr/>
          </p:nvSpPr>
          <p:spPr>
            <a:xfrm>
              <a:off x="228600" y="1371600"/>
              <a:ext cx="11734800" cy="304800"/>
            </a:xfrm>
            <a:prstGeom prst="roundRect">
              <a:avLst>
                <a:gd name="adj" fmla="val 25000"/>
              </a:avLst>
            </a:prstGeom>
            <a:solidFill>
              <a:srgbClr val="EAF1FB"/>
            </a:solidFill>
            <a:ln>
              <a:noFill/>
            </a:ln>
          </p:spPr>
        </p:sp>
        <p:grpSp>
          <p:nvGrpSpPr>
            <p:cNvPr id="50" name="Group 50"/>
            <p:cNvGrpSpPr/>
            <p:nvPr/>
          </p:nvGrpSpPr>
          <p:grpSpPr>
            <a:xfrm>
              <a:off x="2062162" y="1452562"/>
              <a:ext cx="142875" cy="142875"/>
              <a:chOff x="2062162" y="1452562"/>
              <a:chExt cx="142875" cy="142875"/>
            </a:xfrm>
          </p:grpSpPr>
          <p:sp>
            <p:nvSpPr>
              <p:cNvPr id="47" name="Freeform 47"/>
              <p:cNvSpPr/>
              <p:nvPr/>
            </p:nvSpPr>
            <p:spPr>
              <a:xfrm>
                <a:off x="2125662" y="15160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721E0D"/>
                </a:solidFill>
              </a:ln>
            </p:spPr>
          </p:sp>
          <p:sp>
            <p:nvSpPr>
              <p:cNvPr id="48" name="Freeform 48"/>
              <p:cNvSpPr/>
              <p:nvPr/>
            </p:nvSpPr>
            <p:spPr>
              <a:xfrm>
                <a:off x="2093912" y="14843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721E0D"/>
                </a:solidFill>
              </a:ln>
            </p:spPr>
          </p:sp>
          <p:sp>
            <p:nvSpPr>
              <p:cNvPr id="49" name="Freeform 49"/>
              <p:cNvSpPr/>
              <p:nvPr/>
            </p:nvSpPr>
            <p:spPr>
              <a:xfrm>
                <a:off x="2062162" y="14525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721E0D"/>
                </a:solidFill>
              </a:ln>
            </p:spPr>
          </p:sp>
        </p:grpSp>
        <p:sp>
          <p:nvSpPr>
            <p:cNvPr id="51" name="TextBox 51"/>
            <p:cNvSpPr txBox="1"/>
            <p:nvPr/>
          </p:nvSpPr>
          <p:spPr>
            <a:xfrm>
              <a:off x="2318766" y="1467802"/>
              <a:ext cx="4550155" cy="205359"/>
            </a:xfrm>
            <a:prstGeom prst="rect">
              <a:avLst/>
            </a:prstGeom>
            <a:noFill/>
            <a:ln>
              <a:noFill/>
            </a:ln>
          </p:spPr>
          <p:txBody>
            <a:bodyPr wrap="none" lIns="0" tIns="0" rIns="0" bIns="0" anchor="t" anchorCtr="0">
              <a:spAutoFit/>
            </a:bodyPr>
            <a:lstStyle/>
            <a:p>
              <a:pPr algn="l"/>
              <a:r>
                <a:rPr lang="zh-CN" sz="1050" b="1" dirty="0">
                  <a:solidFill>
                    <a:srgbClr val="721E0D"/>
                  </a:solidFill>
                  <a:latin typeface="+mn-lt"/>
                  <a:ea typeface="+mn-ea"/>
                  <a:cs typeface="+mn-cs"/>
                </a:rPr>
                <a:t>核心策略：</a:t>
              </a:r>
              <a:r>
                <a:rPr lang="zh-CN" sz="1050" dirty="0">
                  <a:solidFill>
                    <a:srgbClr val="461910"/>
                  </a:solidFill>
                  <a:latin typeface="+mn-lt"/>
                  <a:ea typeface="+mn-ea"/>
                  <a:cs typeface="+mn-cs"/>
                </a:rPr>
                <a:t>锁定1—2个高价值场景，组建专项战队，形成标杆复制</a:t>
              </a:r>
              <a:r>
                <a:rPr lang="zh-CN" sz="1050" b="1" dirty="0">
                  <a:solidFill>
                    <a:srgbClr val="721E0D"/>
                  </a:solidFill>
                  <a:latin typeface="+mn-lt"/>
                  <a:ea typeface="+mn-ea"/>
                  <a:cs typeface="+mn-cs"/>
                </a:rPr>
                <a:t xml:space="preserve">      </a:t>
              </a:r>
            </a:p>
          </p:txBody>
        </p:sp>
      </p:grpSp>
      <p:grpSp>
        <p:nvGrpSpPr>
          <p:cNvPr id="89" name="three-step-flow"/>
          <p:cNvGrpSpPr/>
          <p:nvPr/>
        </p:nvGrpSpPr>
        <p:grpSpPr>
          <a:xfrm>
            <a:off x="228600" y="1771650"/>
            <a:ext cx="11734800" cy="819150"/>
            <a:chOff x="228600" y="1771650"/>
            <a:chExt cx="11734800" cy="819150"/>
          </a:xfrm>
        </p:grpSpPr>
        <p:sp>
          <p:nvSpPr>
            <p:cNvPr id="53" name="Rectangle 53"/>
            <p:cNvSpPr/>
            <p:nvPr/>
          </p:nvSpPr>
          <p:spPr>
            <a:xfrm>
              <a:off x="228600" y="1771650"/>
              <a:ext cx="3676650" cy="819150"/>
            </a:xfrm>
            <a:prstGeom prst="roundRect">
              <a:avLst>
                <a:gd name="adj" fmla="val 11628"/>
              </a:avLst>
            </a:prstGeom>
            <a:solidFill>
              <a:srgbClr val="F5F8FD"/>
            </a:solidFill>
            <a:ln w="9525">
              <a:solidFill>
                <a:srgbClr val="C9D6EE"/>
              </a:solidFill>
            </a:ln>
          </p:spPr>
        </p:sp>
        <p:sp>
          <p:nvSpPr>
            <p:cNvPr id="54" name="Rectangle 54"/>
            <p:cNvSpPr/>
            <p:nvPr/>
          </p:nvSpPr>
          <p:spPr>
            <a:xfrm>
              <a:off x="228600" y="1771650"/>
              <a:ext cx="247650" cy="247650"/>
            </a:xfrm>
            <a:prstGeom prst="roundRect">
              <a:avLst>
                <a:gd name="adj" fmla="val 19231"/>
              </a:avLst>
            </a:prstGeom>
            <a:solidFill>
              <a:srgbClr val="721E0D"/>
            </a:solidFill>
            <a:ln>
              <a:noFill/>
            </a:ln>
          </p:spPr>
        </p:sp>
        <p:sp>
          <p:nvSpPr>
            <p:cNvPr id="55" name="TextBox 55"/>
            <p:cNvSpPr txBox="1"/>
            <p:nvPr/>
          </p:nvSpPr>
          <p:spPr>
            <a:xfrm>
              <a:off x="306276" y="1839278"/>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1</a:t>
              </a:r>
            </a:p>
          </p:txBody>
        </p:sp>
        <p:sp>
          <p:nvSpPr>
            <p:cNvPr id="56" name="Ellipse 56"/>
            <p:cNvSpPr/>
            <p:nvPr/>
          </p:nvSpPr>
          <p:spPr>
            <a:xfrm>
              <a:off x="581025" y="1943100"/>
              <a:ext cx="476250" cy="476250"/>
            </a:xfrm>
            <a:prstGeom prst="ellipse">
              <a:avLst/>
            </a:prstGeom>
            <a:solidFill>
              <a:srgbClr val="FFFFFF"/>
            </a:solidFill>
            <a:ln w="14288">
              <a:solidFill>
                <a:srgbClr val="C9D6EE"/>
              </a:solidFill>
            </a:ln>
          </p:spPr>
        </p:sp>
        <p:grpSp>
          <p:nvGrpSpPr>
            <p:cNvPr id="60" name="Group 60"/>
            <p:cNvGrpSpPr/>
            <p:nvPr/>
          </p:nvGrpSpPr>
          <p:grpSpPr>
            <a:xfrm>
              <a:off x="704850" y="2066925"/>
              <a:ext cx="228599" cy="228599"/>
              <a:chOff x="704850" y="2066925"/>
              <a:chExt cx="228599" cy="228599"/>
            </a:xfrm>
          </p:grpSpPr>
          <p:sp>
            <p:nvSpPr>
              <p:cNvPr id="57" name="Freeform 57"/>
              <p:cNvSpPr/>
              <p:nvPr/>
            </p:nvSpPr>
            <p:spPr>
              <a:xfrm>
                <a:off x="806450" y="21685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721E0D"/>
                </a:solidFill>
              </a:ln>
            </p:spPr>
          </p:sp>
          <p:sp>
            <p:nvSpPr>
              <p:cNvPr id="58" name="Freeform 58"/>
              <p:cNvSpPr/>
              <p:nvPr/>
            </p:nvSpPr>
            <p:spPr>
              <a:xfrm>
                <a:off x="755650" y="211772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721E0D"/>
                </a:solidFill>
              </a:ln>
            </p:spPr>
          </p:sp>
          <p:sp>
            <p:nvSpPr>
              <p:cNvPr id="59" name="Freeform 59"/>
              <p:cNvSpPr/>
              <p:nvPr/>
            </p:nvSpPr>
            <p:spPr>
              <a:xfrm>
                <a:off x="704850" y="2066925"/>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721E0D"/>
                </a:solidFill>
              </a:ln>
            </p:spPr>
          </p:sp>
        </p:grpSp>
        <p:sp>
          <p:nvSpPr>
            <p:cNvPr id="61" name="TextBox 61"/>
            <p:cNvSpPr txBox="1"/>
            <p:nvPr/>
          </p:nvSpPr>
          <p:spPr>
            <a:xfrm>
              <a:off x="1175766" y="1867852"/>
              <a:ext cx="1000125" cy="205359"/>
            </a:xfrm>
            <a:prstGeom prst="rect">
              <a:avLst/>
            </a:prstGeom>
            <a:noFill/>
            <a:ln>
              <a:noFill/>
            </a:ln>
          </p:spPr>
          <p:txBody>
            <a:bodyPr wrap="none" lIns="0" tIns="0" rIns="0" bIns="0" anchor="t" anchorCtr="0">
              <a:spAutoFit/>
            </a:bodyPr>
            <a:lstStyle/>
            <a:p>
              <a:pPr algn="l"/>
              <a:r>
                <a:rPr lang="zh-CN" sz="1050" b="1" dirty="0">
                  <a:solidFill>
                    <a:srgbClr val="721E0D"/>
                  </a:solidFill>
                  <a:latin typeface="+mn-lt"/>
                  <a:ea typeface="+mn-ea"/>
                  <a:cs typeface="+mn-cs"/>
                </a:rPr>
                <a:t>聚焦高价值场景</a:t>
              </a:r>
            </a:p>
          </p:txBody>
        </p:sp>
        <p:sp>
          <p:nvSpPr>
            <p:cNvPr id="62" name="TextBox 62"/>
            <p:cNvSpPr txBox="1"/>
            <p:nvPr/>
          </p:nvSpPr>
          <p:spPr>
            <a:xfrm>
              <a:off x="1176338" y="2090738"/>
              <a:ext cx="1323975" cy="433388"/>
            </a:xfrm>
            <a:prstGeom prst="rect">
              <a:avLst/>
            </a:prstGeom>
            <a:noFill/>
            <a:ln>
              <a:noFill/>
            </a:ln>
          </p:spPr>
          <p:txBody>
            <a:bodyPr wrap="none" lIns="0" tIns="0" rIns="0" bIns="0" anchor="t" anchorCtr="0">
              <a:spAutoFit/>
            </a:bodyPr>
            <a:lstStyle/>
            <a:p>
              <a:pPr algn="l" marL="80962" indent="-80962">
                <a:lnSpc>
                  <a:spcPts val="1125"/>
                </a:lnSpc>
                <a:buClr>
                  <a:srgbClr val="523E3A"/>
                </a:buClr>
                <a:buSzTx/>
                <a:buFontTx/>
                <a:buChar char="•"/>
              </a:pPr>
              <a:r>
                <a:rPr lang="zh-CN" sz="750" dirty="0">
                  <a:solidFill>
                    <a:srgbClr val="523E3A"/>
                  </a:solidFill>
                  <a:latin typeface="+mn-lt"/>
                  <a:ea typeface="+mn-ea"/>
                  <a:cs typeface="+mn-cs"/>
                </a:rPr>
                <a:t>基于价值与可行性评估</a:t>
              </a:r>
            </a:p>
            <a:p>
              <a:pPr algn="l" marL="80962" indent="-80962">
                <a:lnSpc>
                  <a:spcPts val="1125"/>
                </a:lnSpc>
                <a:buClr>
                  <a:srgbClr val="523E3A"/>
                </a:buClr>
                <a:buSzTx/>
                <a:buFontTx/>
                <a:buChar char="•"/>
              </a:pPr>
              <a:r>
                <a:rPr lang="zh-CN" sz="750" dirty="0">
                  <a:solidFill>
                    <a:srgbClr val="523E3A"/>
                  </a:solidFill>
                  <a:latin typeface="+mn-lt"/>
                  <a:ea typeface="+mn-ea"/>
                  <a:cs typeface="+mn-cs"/>
                </a:rPr>
                <a:t xml:space="preserve">锁定1—2个高价值场景      </a:t>
              </a:r>
            </a:p>
            <a:p>
              <a:pPr algn="l" marL="80962" indent="-80962">
                <a:lnSpc>
                  <a:spcPts val="1125"/>
                </a:lnSpc>
                <a:buClr>
                  <a:srgbClr val="523E3A"/>
                </a:buClr>
                <a:buSzTx/>
                <a:buFontTx/>
                <a:buChar char="•"/>
              </a:pPr>
              <a:r>
                <a:rPr lang="zh-CN" sz="750" dirty="0">
                  <a:solidFill>
                    <a:srgbClr val="523E3A"/>
                  </a:solidFill>
                  <a:latin typeface="+mn-lt"/>
                  <a:ea typeface="+mn-ea"/>
                  <a:cs typeface="+mn-cs"/>
                </a:rPr>
                <a:t xml:space="preserve">明确成功标准与KPI      </a:t>
              </a:r>
            </a:p>
          </p:txBody>
        </p:sp>
        <p:sp>
          <p:nvSpPr>
            <p:cNvPr id="63" name="Rectangle 63"/>
            <p:cNvSpPr/>
            <p:nvPr/>
          </p:nvSpPr>
          <p:spPr>
            <a:xfrm>
              <a:off x="4257675" y="1771650"/>
              <a:ext cx="3676650" cy="819150"/>
            </a:xfrm>
            <a:prstGeom prst="roundRect">
              <a:avLst>
                <a:gd name="adj" fmla="val 11628"/>
              </a:avLst>
            </a:prstGeom>
            <a:solidFill>
              <a:srgbClr val="F5F8FD"/>
            </a:solidFill>
            <a:ln w="9525">
              <a:solidFill>
                <a:srgbClr val="C9D6EE"/>
              </a:solidFill>
            </a:ln>
          </p:spPr>
        </p:sp>
        <p:sp>
          <p:nvSpPr>
            <p:cNvPr id="64" name="Rectangle 64"/>
            <p:cNvSpPr/>
            <p:nvPr/>
          </p:nvSpPr>
          <p:spPr>
            <a:xfrm>
              <a:off x="4257675" y="1771650"/>
              <a:ext cx="247650" cy="247650"/>
            </a:xfrm>
            <a:prstGeom prst="roundRect">
              <a:avLst>
                <a:gd name="adj" fmla="val 19231"/>
              </a:avLst>
            </a:prstGeom>
            <a:solidFill>
              <a:srgbClr val="721E0D"/>
            </a:solidFill>
            <a:ln>
              <a:noFill/>
            </a:ln>
          </p:spPr>
        </p:sp>
        <p:sp>
          <p:nvSpPr>
            <p:cNvPr id="65" name="TextBox 65"/>
            <p:cNvSpPr txBox="1"/>
            <p:nvPr/>
          </p:nvSpPr>
          <p:spPr>
            <a:xfrm>
              <a:off x="4335351" y="1839278"/>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a:t>
              </a:r>
            </a:p>
          </p:txBody>
        </p:sp>
        <p:sp>
          <p:nvSpPr>
            <p:cNvPr id="66" name="Ellipse 66"/>
            <p:cNvSpPr/>
            <p:nvPr/>
          </p:nvSpPr>
          <p:spPr>
            <a:xfrm>
              <a:off x="4610100" y="1943100"/>
              <a:ext cx="476250" cy="476250"/>
            </a:xfrm>
            <a:prstGeom prst="ellipse">
              <a:avLst/>
            </a:prstGeom>
            <a:solidFill>
              <a:srgbClr val="FFFFFF"/>
            </a:solidFill>
            <a:ln w="14288">
              <a:solidFill>
                <a:srgbClr val="C9D6EE"/>
              </a:solidFill>
            </a:ln>
          </p:spPr>
        </p:sp>
        <p:grpSp>
          <p:nvGrpSpPr>
            <p:cNvPr id="73" name="Group 73"/>
            <p:cNvGrpSpPr/>
            <p:nvPr/>
          </p:nvGrpSpPr>
          <p:grpSpPr>
            <a:xfrm>
              <a:off x="4733925" y="2066925"/>
              <a:ext cx="228599" cy="228599"/>
              <a:chOff x="4733925" y="2066925"/>
              <a:chExt cx="228599" cy="228599"/>
            </a:xfrm>
          </p:grpSpPr>
          <p:sp>
            <p:nvSpPr>
              <p:cNvPr id="67" name="Freeform 67"/>
              <p:cNvSpPr/>
              <p:nvPr/>
            </p:nvSpPr>
            <p:spPr>
              <a:xfrm>
                <a:off x="4822825" y="21685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721E0D"/>
                </a:solidFill>
              </a:ln>
            </p:spPr>
          </p:sp>
          <p:sp>
            <p:nvSpPr>
              <p:cNvPr id="68" name="Freeform 68"/>
              <p:cNvSpPr/>
              <p:nvPr/>
            </p:nvSpPr>
            <p:spPr>
              <a:xfrm>
                <a:off x="4797425" y="2257424"/>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721E0D"/>
                </a:solidFill>
              </a:ln>
            </p:spPr>
          </p:sp>
          <p:sp>
            <p:nvSpPr>
              <p:cNvPr id="69" name="Freeform 69"/>
              <p:cNvSpPr/>
              <p:nvPr/>
            </p:nvSpPr>
            <p:spPr>
              <a:xfrm>
                <a:off x="4886325" y="20669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721E0D"/>
                </a:solidFill>
              </a:ln>
            </p:spPr>
          </p:sp>
          <p:sp>
            <p:nvSpPr>
              <p:cNvPr id="70" name="Freeform 70"/>
              <p:cNvSpPr/>
              <p:nvPr/>
            </p:nvSpPr>
            <p:spPr>
              <a:xfrm>
                <a:off x="4911724" y="2155825"/>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721E0D"/>
                </a:solidFill>
              </a:ln>
            </p:spPr>
          </p:sp>
          <p:sp>
            <p:nvSpPr>
              <p:cNvPr id="71" name="Freeform 71"/>
              <p:cNvSpPr/>
              <p:nvPr/>
            </p:nvSpPr>
            <p:spPr>
              <a:xfrm>
                <a:off x="4759325" y="20669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721E0D"/>
                </a:solidFill>
              </a:ln>
            </p:spPr>
          </p:sp>
          <p:sp>
            <p:nvSpPr>
              <p:cNvPr id="72" name="Freeform 72"/>
              <p:cNvSpPr/>
              <p:nvPr/>
            </p:nvSpPr>
            <p:spPr>
              <a:xfrm>
                <a:off x="4733925" y="2155825"/>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721E0D"/>
                </a:solidFill>
              </a:ln>
            </p:spPr>
          </p:sp>
        </p:grpSp>
        <p:sp>
          <p:nvSpPr>
            <p:cNvPr id="74" name="TextBox 74"/>
            <p:cNvSpPr txBox="1"/>
            <p:nvPr/>
          </p:nvSpPr>
          <p:spPr>
            <a:xfrm>
              <a:off x="5204841" y="1867852"/>
              <a:ext cx="858774" cy="205359"/>
            </a:xfrm>
            <a:prstGeom prst="rect">
              <a:avLst/>
            </a:prstGeom>
            <a:noFill/>
            <a:ln>
              <a:noFill/>
            </a:ln>
          </p:spPr>
          <p:txBody>
            <a:bodyPr wrap="none" lIns="0" tIns="0" rIns="0" bIns="0" anchor="t" anchorCtr="0">
              <a:spAutoFit/>
            </a:bodyPr>
            <a:lstStyle/>
            <a:p>
              <a:pPr algn="l"/>
              <a:r>
                <a:rPr lang="zh-CN" sz="1050" b="1" dirty="0">
                  <a:solidFill>
                    <a:srgbClr val="721E0D"/>
                  </a:solidFill>
                  <a:latin typeface="+mn-lt"/>
                  <a:ea typeface="+mn-ea"/>
                  <a:cs typeface="+mn-cs"/>
                </a:rPr>
                <a:t>集中资源攻坚</a:t>
              </a:r>
            </a:p>
          </p:txBody>
        </p:sp>
        <p:sp>
          <p:nvSpPr>
            <p:cNvPr id="75" name="TextBox 75"/>
            <p:cNvSpPr txBox="1"/>
            <p:nvPr/>
          </p:nvSpPr>
          <p:spPr>
            <a:xfrm>
              <a:off x="5205412" y="2090738"/>
              <a:ext cx="947738" cy="433388"/>
            </a:xfrm>
            <a:prstGeom prst="rect">
              <a:avLst/>
            </a:prstGeom>
            <a:noFill/>
            <a:ln>
              <a:noFill/>
            </a:ln>
          </p:spPr>
          <p:txBody>
            <a:bodyPr wrap="none" lIns="0" tIns="0" rIns="0" bIns="0" anchor="t" anchorCtr="0">
              <a:spAutoFit/>
            </a:bodyPr>
            <a:lstStyle/>
            <a:p>
              <a:pPr algn="l" marL="80962" indent="-80962">
                <a:lnSpc>
                  <a:spcPts val="1125"/>
                </a:lnSpc>
                <a:buClr>
                  <a:srgbClr val="523E3A"/>
                </a:buClr>
                <a:buSzTx/>
                <a:buFontTx/>
                <a:buChar char="•"/>
              </a:pPr>
              <a:r>
                <a:rPr lang="zh-CN" sz="750" dirty="0">
                  <a:solidFill>
                    <a:srgbClr val="523E3A"/>
                  </a:solidFill>
                  <a:latin typeface="+mn-lt"/>
                  <a:ea typeface="+mn-ea"/>
                  <a:cs typeface="+mn-cs"/>
                </a:rPr>
                <a:t>组建跨部门专项战队</a:t>
              </a:r>
            </a:p>
            <a:p>
              <a:pPr algn="l" marL="80962" indent="-80962">
                <a:lnSpc>
                  <a:spcPts val="1125"/>
                </a:lnSpc>
                <a:buClr>
                  <a:srgbClr val="523E3A"/>
                </a:buClr>
                <a:buSzTx/>
                <a:buFontTx/>
                <a:buChar char="•"/>
              </a:pPr>
              <a:r>
                <a:rPr lang="zh-CN" sz="750" dirty="0">
                  <a:solidFill>
                    <a:srgbClr val="523E3A"/>
                  </a:solidFill>
                  <a:latin typeface="+mn-lt"/>
                  <a:ea typeface="+mn-ea"/>
                  <a:cs typeface="+mn-cs"/>
                </a:rPr>
                <a:t>集中预算与关键资源</a:t>
              </a:r>
            </a:p>
            <a:p>
              <a:pPr algn="l" marL="80962" indent="-80962">
                <a:lnSpc>
                  <a:spcPts val="1125"/>
                </a:lnSpc>
                <a:buClr>
                  <a:srgbClr val="523E3A"/>
                </a:buClr>
                <a:buSzTx/>
                <a:buFontTx/>
                <a:buChar char="•"/>
              </a:pPr>
              <a:r>
                <a:rPr lang="zh-CN" sz="750" dirty="0">
                  <a:solidFill>
                    <a:srgbClr val="523E3A"/>
                  </a:solidFill>
                  <a:latin typeface="+mn-lt"/>
                  <a:ea typeface="+mn-ea"/>
                  <a:cs typeface="+mn-cs"/>
                </a:rPr>
                <a:t>快速验证与迭代优化</a:t>
              </a:r>
            </a:p>
          </p:txBody>
        </p:sp>
        <p:sp>
          <p:nvSpPr>
            <p:cNvPr id="76" name="Rectangle 76"/>
            <p:cNvSpPr/>
            <p:nvPr/>
          </p:nvSpPr>
          <p:spPr>
            <a:xfrm>
              <a:off x="8286750" y="1771650"/>
              <a:ext cx="3676650" cy="819150"/>
            </a:xfrm>
            <a:prstGeom prst="roundRect">
              <a:avLst>
                <a:gd name="adj" fmla="val 11628"/>
              </a:avLst>
            </a:prstGeom>
            <a:solidFill>
              <a:srgbClr val="F5F8FD"/>
            </a:solidFill>
            <a:ln w="9525">
              <a:solidFill>
                <a:srgbClr val="C9D6EE"/>
              </a:solidFill>
            </a:ln>
          </p:spPr>
        </p:sp>
        <p:sp>
          <p:nvSpPr>
            <p:cNvPr id="77" name="Rectangle 77"/>
            <p:cNvSpPr/>
            <p:nvPr/>
          </p:nvSpPr>
          <p:spPr>
            <a:xfrm>
              <a:off x="8286750" y="1771650"/>
              <a:ext cx="247650" cy="247650"/>
            </a:xfrm>
            <a:prstGeom prst="roundRect">
              <a:avLst>
                <a:gd name="adj" fmla="val 19231"/>
              </a:avLst>
            </a:prstGeom>
            <a:solidFill>
              <a:srgbClr val="721E0D"/>
            </a:solidFill>
            <a:ln>
              <a:noFill/>
            </a:ln>
          </p:spPr>
        </p:sp>
        <p:sp>
          <p:nvSpPr>
            <p:cNvPr id="78" name="TextBox 78"/>
            <p:cNvSpPr txBox="1"/>
            <p:nvPr/>
          </p:nvSpPr>
          <p:spPr>
            <a:xfrm>
              <a:off x="8364426" y="1839278"/>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3</a:t>
              </a:r>
            </a:p>
          </p:txBody>
        </p:sp>
        <p:sp>
          <p:nvSpPr>
            <p:cNvPr id="79" name="Ellipse 79"/>
            <p:cNvSpPr/>
            <p:nvPr/>
          </p:nvSpPr>
          <p:spPr>
            <a:xfrm>
              <a:off x="8639175" y="1943100"/>
              <a:ext cx="476250" cy="476250"/>
            </a:xfrm>
            <a:prstGeom prst="ellipse">
              <a:avLst/>
            </a:prstGeom>
            <a:solidFill>
              <a:srgbClr val="FFFFFF"/>
            </a:solidFill>
            <a:ln w="14288">
              <a:solidFill>
                <a:srgbClr val="C9D6EE"/>
              </a:solidFill>
            </a:ln>
          </p:spPr>
        </p:sp>
        <p:grpSp>
          <p:nvGrpSpPr>
            <p:cNvPr id="84" name="Group 84"/>
            <p:cNvGrpSpPr/>
            <p:nvPr/>
          </p:nvGrpSpPr>
          <p:grpSpPr>
            <a:xfrm>
              <a:off x="8763000" y="2079625"/>
              <a:ext cx="228600" cy="212724"/>
              <a:chOff x="8763000" y="2079625"/>
              <a:chExt cx="228600" cy="212724"/>
            </a:xfrm>
          </p:grpSpPr>
          <p:sp>
            <p:nvSpPr>
              <p:cNvPr id="80" name="Freeform 80"/>
              <p:cNvSpPr/>
              <p:nvPr/>
            </p:nvSpPr>
            <p:spPr>
              <a:xfrm>
                <a:off x="8763000" y="2181225"/>
                <a:ext cx="76200" cy="101600"/>
              </a:xfrm>
              <a:custGeom>
                <a:avLst/>
                <a:gdLst/>
                <a:ahLst/>
                <a:cxnLst/>
                <a:rect l="l" t="t" r="r" b="b"/>
                <a:pathLst>
                  <a:path w="76200" h="101600">
                    <a:moveTo>
                      <a:pt x="0" y="12700"/>
                    </a:moveTo>
                    <a:cubicBezTo>
                      <a:pt x="0" y="5686"/>
                      <a:pt x="5686" y="0"/>
                      <a:pt x="12700" y="0"/>
                    </a:cubicBezTo>
                    <a:lnTo>
                      <a:pt x="63500" y="0"/>
                    </a:lnTo>
                    <a:cubicBezTo>
                      <a:pt x="70514" y="0"/>
                      <a:pt x="76200" y="5686"/>
                      <a:pt x="76200" y="12700"/>
                    </a:cubicBezTo>
                    <a:lnTo>
                      <a:pt x="76200" y="88900"/>
                    </a:lnTo>
                    <a:cubicBezTo>
                      <a:pt x="76200" y="95914"/>
                      <a:pt x="70514" y="101600"/>
                      <a:pt x="63500" y="101600"/>
                    </a:cubicBezTo>
                    <a:lnTo>
                      <a:pt x="12700" y="101600"/>
                    </a:lnTo>
                    <a:cubicBezTo>
                      <a:pt x="5686" y="101600"/>
                      <a:pt x="0" y="95914"/>
                      <a:pt x="0" y="88900"/>
                    </a:cubicBezTo>
                    <a:lnTo>
                      <a:pt x="0" y="12700"/>
                    </a:lnTo>
                  </a:path>
                </a:pathLst>
              </a:custGeom>
              <a:noFill/>
              <a:ln w="25400">
                <a:solidFill>
                  <a:srgbClr val="721E0D"/>
                </a:solidFill>
              </a:ln>
            </p:spPr>
          </p:sp>
          <p:sp>
            <p:nvSpPr>
              <p:cNvPr id="81" name="Freeform 81"/>
              <p:cNvSpPr/>
              <p:nvPr/>
            </p:nvSpPr>
            <p:spPr>
              <a:xfrm>
                <a:off x="8915400" y="2130425"/>
                <a:ext cx="76200" cy="152400"/>
              </a:xfrm>
              <a:custGeom>
                <a:avLst/>
                <a:gdLst/>
                <a:ahLst/>
                <a:cxnLst/>
                <a:rect l="l" t="t" r="r" b="b"/>
                <a:pathLst>
                  <a:path w="76200" h="152400">
                    <a:moveTo>
                      <a:pt x="0" y="12700"/>
                    </a:moveTo>
                    <a:cubicBezTo>
                      <a:pt x="0" y="5686"/>
                      <a:pt x="5686" y="0"/>
                      <a:pt x="12700" y="0"/>
                    </a:cubicBezTo>
                    <a:lnTo>
                      <a:pt x="63500" y="0"/>
                    </a:lnTo>
                    <a:cubicBezTo>
                      <a:pt x="70514" y="0"/>
                      <a:pt x="76200" y="5686"/>
                      <a:pt x="76200" y="12700"/>
                    </a:cubicBezTo>
                    <a:lnTo>
                      <a:pt x="76200" y="139700"/>
                    </a:lnTo>
                    <a:cubicBezTo>
                      <a:pt x="76200" y="146714"/>
                      <a:pt x="70514" y="152400"/>
                      <a:pt x="63500" y="152400"/>
                    </a:cubicBezTo>
                    <a:lnTo>
                      <a:pt x="12700" y="152400"/>
                    </a:lnTo>
                    <a:cubicBezTo>
                      <a:pt x="5686" y="152400"/>
                      <a:pt x="0" y="146714"/>
                      <a:pt x="0" y="139700"/>
                    </a:cubicBezTo>
                    <a:lnTo>
                      <a:pt x="0" y="12700"/>
                    </a:lnTo>
                  </a:path>
                </a:pathLst>
              </a:custGeom>
              <a:noFill/>
              <a:ln w="25400">
                <a:solidFill>
                  <a:srgbClr val="721E0D"/>
                </a:solidFill>
              </a:ln>
            </p:spPr>
          </p:sp>
          <p:sp>
            <p:nvSpPr>
              <p:cNvPr id="82" name="Freeform 82"/>
              <p:cNvSpPr/>
              <p:nvPr/>
            </p:nvSpPr>
            <p:spPr>
              <a:xfrm>
                <a:off x="8839200" y="2079625"/>
                <a:ext cx="76200" cy="203199"/>
              </a:xfrm>
              <a:custGeom>
                <a:avLst/>
                <a:gdLst/>
                <a:ahLst/>
                <a:cxnLst/>
                <a:rect l="l" t="t" r="r" b="b"/>
                <a:pathLst>
                  <a:path w="76200" h="203199">
                    <a:moveTo>
                      <a:pt x="0" y="12700"/>
                    </a:moveTo>
                    <a:cubicBezTo>
                      <a:pt x="0" y="5686"/>
                      <a:pt x="5686" y="0"/>
                      <a:pt x="12700" y="0"/>
                    </a:cubicBezTo>
                    <a:lnTo>
                      <a:pt x="63500" y="0"/>
                    </a:lnTo>
                    <a:cubicBezTo>
                      <a:pt x="70514" y="0"/>
                      <a:pt x="76200" y="5686"/>
                      <a:pt x="76200" y="12700"/>
                    </a:cubicBezTo>
                    <a:lnTo>
                      <a:pt x="76200" y="190500"/>
                    </a:lnTo>
                    <a:cubicBezTo>
                      <a:pt x="76200" y="197514"/>
                      <a:pt x="70514" y="203199"/>
                      <a:pt x="63500" y="203199"/>
                    </a:cubicBezTo>
                    <a:lnTo>
                      <a:pt x="12700" y="203199"/>
                    </a:lnTo>
                    <a:cubicBezTo>
                      <a:pt x="5686" y="203199"/>
                      <a:pt x="0" y="197514"/>
                      <a:pt x="0" y="190500"/>
                    </a:cubicBezTo>
                    <a:lnTo>
                      <a:pt x="0" y="12700"/>
                    </a:lnTo>
                  </a:path>
                </a:pathLst>
              </a:custGeom>
              <a:noFill/>
              <a:ln w="25400">
                <a:solidFill>
                  <a:srgbClr val="721E0D"/>
                </a:solidFill>
              </a:ln>
            </p:spPr>
          </p:sp>
          <p:sp>
            <p:nvSpPr>
              <p:cNvPr id="83" name="Freeform 83"/>
              <p:cNvSpPr/>
              <p:nvPr/>
            </p:nvSpPr>
            <p:spPr>
              <a:xfrm>
                <a:off x="8775700" y="2282824"/>
                <a:ext cx="177800" cy="9525"/>
              </a:xfrm>
              <a:custGeom>
                <a:avLst/>
                <a:gdLst/>
                <a:ahLst/>
                <a:cxnLst/>
                <a:rect l="l" t="t" r="r" b="b"/>
                <a:pathLst>
                  <a:path w="177800" h="9525">
                    <a:moveTo>
                      <a:pt x="0" y="0"/>
                    </a:moveTo>
                    <a:lnTo>
                      <a:pt x="177800" y="0"/>
                    </a:lnTo>
                  </a:path>
                </a:pathLst>
              </a:custGeom>
              <a:noFill/>
              <a:ln w="25400">
                <a:solidFill>
                  <a:srgbClr val="721E0D"/>
                </a:solidFill>
              </a:ln>
            </p:spPr>
          </p:sp>
        </p:grpSp>
        <p:sp>
          <p:nvSpPr>
            <p:cNvPr id="85" name="TextBox 85"/>
            <p:cNvSpPr txBox="1"/>
            <p:nvPr/>
          </p:nvSpPr>
          <p:spPr>
            <a:xfrm>
              <a:off x="9233916" y="1867852"/>
              <a:ext cx="858774" cy="205359"/>
            </a:xfrm>
            <a:prstGeom prst="rect">
              <a:avLst/>
            </a:prstGeom>
            <a:noFill/>
            <a:ln>
              <a:noFill/>
            </a:ln>
          </p:spPr>
          <p:txBody>
            <a:bodyPr wrap="none" lIns="0" tIns="0" rIns="0" bIns="0" anchor="t" anchorCtr="0">
              <a:spAutoFit/>
            </a:bodyPr>
            <a:lstStyle/>
            <a:p>
              <a:pPr algn="l"/>
              <a:r>
                <a:rPr lang="zh-CN" sz="1050" b="1" dirty="0">
                  <a:solidFill>
                    <a:srgbClr val="721E0D"/>
                  </a:solidFill>
                  <a:latin typeface="+mn-lt"/>
                  <a:ea typeface="+mn-ea"/>
                  <a:cs typeface="+mn-cs"/>
                </a:rPr>
                <a:t>打造标杆复制</a:t>
              </a:r>
            </a:p>
          </p:txBody>
        </p:sp>
        <p:sp>
          <p:nvSpPr>
            <p:cNvPr id="86" name="TextBox 86"/>
            <p:cNvSpPr txBox="1"/>
            <p:nvPr/>
          </p:nvSpPr>
          <p:spPr>
            <a:xfrm>
              <a:off x="9234488" y="2090738"/>
              <a:ext cx="1042988" cy="433388"/>
            </a:xfrm>
            <a:prstGeom prst="rect">
              <a:avLst/>
            </a:prstGeom>
            <a:noFill/>
            <a:ln>
              <a:noFill/>
            </a:ln>
          </p:spPr>
          <p:txBody>
            <a:bodyPr wrap="none" lIns="0" tIns="0" rIns="0" bIns="0" anchor="t" anchorCtr="0">
              <a:spAutoFit/>
            </a:bodyPr>
            <a:lstStyle/>
            <a:p>
              <a:pPr algn="l" marL="80962" indent="-80962">
                <a:lnSpc>
                  <a:spcPts val="1125"/>
                </a:lnSpc>
                <a:buClr>
                  <a:srgbClr val="523E3A"/>
                </a:buClr>
                <a:buSzTx/>
                <a:buFontTx/>
                <a:buChar char="•"/>
              </a:pPr>
              <a:r>
                <a:rPr lang="zh-CN" sz="750" dirty="0">
                  <a:solidFill>
                    <a:srgbClr val="523E3A"/>
                  </a:solidFill>
                  <a:latin typeface="+mn-lt"/>
                  <a:ea typeface="+mn-ea"/>
                  <a:cs typeface="+mn-cs"/>
                </a:rPr>
                <a:t>形成可复制的解决方案</a:t>
              </a:r>
            </a:p>
            <a:p>
              <a:pPr algn="l" marL="80962" indent="-80962">
                <a:lnSpc>
                  <a:spcPts val="1125"/>
                </a:lnSpc>
                <a:buClr>
                  <a:srgbClr val="523E3A"/>
                </a:buClr>
                <a:buSzTx/>
                <a:buFontTx/>
                <a:buChar char="•"/>
              </a:pPr>
              <a:r>
                <a:rPr lang="zh-CN" sz="750" dirty="0">
                  <a:solidFill>
                    <a:srgbClr val="523E3A"/>
                  </a:solidFill>
                  <a:latin typeface="+mn-lt"/>
                  <a:ea typeface="+mn-ea"/>
                  <a:cs typeface="+mn-cs"/>
                </a:rPr>
                <a:t>沉淀方法论与工具包</a:t>
              </a:r>
            </a:p>
            <a:p>
              <a:pPr algn="l" marL="80962" indent="-80962">
                <a:lnSpc>
                  <a:spcPts val="1125"/>
                </a:lnSpc>
                <a:buClr>
                  <a:srgbClr val="523E3A"/>
                </a:buClr>
                <a:buSzTx/>
                <a:buFontTx/>
                <a:buChar char="•"/>
              </a:pPr>
              <a:r>
                <a:rPr lang="zh-CN" sz="750" dirty="0">
                  <a:solidFill>
                    <a:srgbClr val="523E3A"/>
                  </a:solidFill>
                  <a:latin typeface="+mn-lt"/>
                  <a:ea typeface="+mn-ea"/>
                  <a:cs typeface="+mn-cs"/>
                </a:rPr>
                <a:t>横向推广与规模化复制</a:t>
              </a:r>
            </a:p>
          </p:txBody>
        </p:sp>
        <p:sp>
          <p:nvSpPr>
            <p:cNvPr id="87" name="Freeform 87"/>
            <p:cNvSpPr/>
            <p:nvPr/>
          </p:nvSpPr>
          <p:spPr>
            <a:xfrm>
              <a:off x="3943350" y="2057400"/>
              <a:ext cx="285750" cy="247650"/>
            </a:xfrm>
            <a:prstGeom prst="rightArrow">
              <a:avLst/>
            </a:prstGeom>
            <a:solidFill>
              <a:srgbClr val="721E0D"/>
            </a:solidFill>
            <a:ln>
              <a:noFill/>
            </a:ln>
          </p:spPr>
        </p:sp>
        <p:sp>
          <p:nvSpPr>
            <p:cNvPr id="88" name="Freeform 88"/>
            <p:cNvSpPr/>
            <p:nvPr/>
          </p:nvSpPr>
          <p:spPr>
            <a:xfrm>
              <a:off x="7972425" y="2057400"/>
              <a:ext cx="285750" cy="247650"/>
            </a:xfrm>
            <a:prstGeom prst="rightArrow">
              <a:avLst/>
            </a:prstGeom>
            <a:solidFill>
              <a:srgbClr val="721E0D"/>
            </a:solidFill>
            <a:ln>
              <a:noFill/>
            </a:ln>
          </p:spPr>
        </p:sp>
      </p:grpSp>
      <p:grpSp>
        <p:nvGrpSpPr>
          <p:cNvPr id="144" name="battle-card-a"/>
          <p:cNvGrpSpPr/>
          <p:nvPr/>
        </p:nvGrpSpPr>
        <p:grpSpPr>
          <a:xfrm>
            <a:off x="130240" y="2686050"/>
            <a:ext cx="3908360" cy="3143250"/>
            <a:chOff x="130240" y="2686050"/>
            <a:chExt cx="3908360" cy="3143250"/>
          </a:xfrm>
        </p:grpSpPr>
        <p:sp>
          <p:nvSpPr>
            <p:cNvPr id="90" name="Rectangle 90"/>
            <p:cNvSpPr/>
            <p:nvPr/>
          </p:nvSpPr>
          <p:spPr>
            <a:xfrm>
              <a:off x="228600" y="2686050"/>
              <a:ext cx="3810000" cy="3143250"/>
            </a:xfrm>
            <a:prstGeom prst="roundRect">
              <a:avLst>
                <a:gd name="adj" fmla="val 3030"/>
              </a:avLst>
            </a:prstGeom>
            <a:solidFill>
              <a:srgbClr val="FFFFFF"/>
            </a:solidFill>
            <a:ln w="14288">
              <a:solidFill>
                <a:srgbClr val="C9D6EE"/>
              </a:solidFill>
            </a:ln>
          </p:spPr>
        </p:sp>
        <p:sp>
          <p:nvSpPr>
            <p:cNvPr id="91" name="Freeform 91"/>
            <p:cNvSpPr/>
            <p:nvPr/>
          </p:nvSpPr>
          <p:spPr>
            <a:xfrm>
              <a:off x="228600" y="2686050"/>
              <a:ext cx="3810000" cy="285750"/>
            </a:xfrm>
            <a:custGeom>
              <a:avLst/>
              <a:gdLst/>
              <a:ahLst/>
              <a:cxnLst/>
              <a:rect l="l" t="t" r="r" b="b"/>
              <a:pathLst>
                <a:path w="3810000" h="285750">
                  <a:moveTo>
                    <a:pt x="95250" y="0"/>
                  </a:moveTo>
                  <a:lnTo>
                    <a:pt x="3714750" y="0"/>
                  </a:lnTo>
                  <a:cubicBezTo>
                    <a:pt x="3767355" y="0"/>
                    <a:pt x="3810000" y="42645"/>
                    <a:pt x="3810000" y="95250"/>
                  </a:cubicBezTo>
                  <a:lnTo>
                    <a:pt x="3810000" y="285750"/>
                  </a:lnTo>
                  <a:lnTo>
                    <a:pt x="0" y="285750"/>
                  </a:lnTo>
                  <a:lnTo>
                    <a:pt x="0" y="95250"/>
                  </a:lnTo>
                  <a:cubicBezTo>
                    <a:pt x="0" y="42645"/>
                    <a:pt x="42645" y="0"/>
                    <a:pt x="95250" y="0"/>
                  </a:cubicBezTo>
                  <a:close/>
                </a:path>
              </a:pathLst>
            </a:custGeom>
            <a:solidFill>
              <a:srgbClr val="721E0D"/>
            </a:solidFill>
            <a:ln>
              <a:noFill/>
            </a:ln>
          </p:spPr>
        </p:sp>
        <p:grpSp>
          <p:nvGrpSpPr>
            <p:cNvPr id="96" name="Group 96"/>
            <p:cNvGrpSpPr/>
            <p:nvPr/>
          </p:nvGrpSpPr>
          <p:grpSpPr>
            <a:xfrm>
              <a:off x="364331" y="2764631"/>
              <a:ext cx="128588" cy="128588"/>
              <a:chOff x="364331" y="2764631"/>
              <a:chExt cx="128588" cy="128588"/>
            </a:xfrm>
          </p:grpSpPr>
          <p:sp>
            <p:nvSpPr>
              <p:cNvPr id="92" name="Freeform 92"/>
              <p:cNvSpPr/>
              <p:nvPr/>
            </p:nvSpPr>
            <p:spPr>
              <a:xfrm>
                <a:off x="364331" y="2764631"/>
                <a:ext cx="128588" cy="128588"/>
              </a:xfrm>
              <a:custGeom>
                <a:avLst/>
                <a:gdLst/>
                <a:ahLst/>
                <a:cxnLst/>
                <a:rect l="l" t="t" r="r" b="b"/>
                <a:pathLst>
                  <a:path w="128588" h="128588">
                    <a:moveTo>
                      <a:pt x="128588" y="0"/>
                    </a:moveTo>
                    <a:lnTo>
                      <a:pt x="128588" y="35719"/>
                    </a:lnTo>
                    <a:lnTo>
                      <a:pt x="50006" y="100012"/>
                    </a:lnTo>
                    <a:lnTo>
                      <a:pt x="21431" y="128588"/>
                    </a:lnTo>
                    <a:lnTo>
                      <a:pt x="0" y="107156"/>
                    </a:lnTo>
                    <a:lnTo>
                      <a:pt x="28575" y="78581"/>
                    </a:lnTo>
                    <a:lnTo>
                      <a:pt x="92869" y="0"/>
                    </a:lnTo>
                    <a:lnTo>
                      <a:pt x="128588" y="0"/>
                    </a:lnTo>
                  </a:path>
                </a:pathLst>
              </a:custGeom>
              <a:noFill/>
              <a:ln w="14288">
                <a:solidFill>
                  <a:srgbClr val="FFFFFF"/>
                </a:solidFill>
              </a:ln>
            </p:spPr>
          </p:sp>
          <p:sp>
            <p:nvSpPr>
              <p:cNvPr id="93" name="Freeform 93"/>
              <p:cNvSpPr/>
              <p:nvPr/>
            </p:nvSpPr>
            <p:spPr>
              <a:xfrm>
                <a:off x="378619" y="2836069"/>
                <a:ext cx="42862" cy="42862"/>
              </a:xfrm>
              <a:custGeom>
                <a:avLst/>
                <a:gdLst/>
                <a:ahLst/>
                <a:cxnLst/>
                <a:rect l="l" t="t" r="r" b="b"/>
                <a:pathLst>
                  <a:path w="42862" h="42862">
                    <a:moveTo>
                      <a:pt x="0" y="0"/>
                    </a:moveTo>
                    <a:lnTo>
                      <a:pt x="42862" y="42862"/>
                    </a:lnTo>
                  </a:path>
                </a:pathLst>
              </a:custGeom>
              <a:noFill/>
              <a:ln w="14288">
                <a:solidFill>
                  <a:srgbClr val="FFFFFF"/>
                </a:solidFill>
              </a:ln>
            </p:spPr>
          </p:sp>
          <p:sp>
            <p:nvSpPr>
              <p:cNvPr id="94" name="Freeform 94"/>
              <p:cNvSpPr/>
              <p:nvPr/>
            </p:nvSpPr>
            <p:spPr>
              <a:xfrm>
                <a:off x="445198" y="2847749"/>
                <a:ext cx="47720" cy="45470"/>
              </a:xfrm>
              <a:custGeom>
                <a:avLst/>
                <a:gdLst/>
                <a:ahLst/>
                <a:cxnLst/>
                <a:rect l="l" t="t" r="r" b="b"/>
                <a:pathLst>
                  <a:path w="47720" h="45470">
                    <a:moveTo>
                      <a:pt x="0" y="19181"/>
                    </a:moveTo>
                    <a:lnTo>
                      <a:pt x="26289" y="45470"/>
                    </a:lnTo>
                    <a:lnTo>
                      <a:pt x="47720" y="24039"/>
                    </a:lnTo>
                    <a:lnTo>
                      <a:pt x="23682" y="0"/>
                    </a:lnTo>
                  </a:path>
                </a:pathLst>
              </a:custGeom>
              <a:noFill/>
              <a:ln w="14288">
                <a:solidFill>
                  <a:srgbClr val="FFFFFF"/>
                </a:solidFill>
              </a:ln>
            </p:spPr>
          </p:sp>
          <p:sp>
            <p:nvSpPr>
              <p:cNvPr id="95" name="Freeform 95"/>
              <p:cNvSpPr/>
              <p:nvPr/>
            </p:nvSpPr>
            <p:spPr>
              <a:xfrm>
                <a:off x="364331" y="2764631"/>
                <a:ext cx="50006" cy="53578"/>
              </a:xfrm>
              <a:custGeom>
                <a:avLst/>
                <a:gdLst/>
                <a:ahLst/>
                <a:cxnLst/>
                <a:rect l="l" t="t" r="r" b="b"/>
                <a:pathLst>
                  <a:path w="50006" h="53578">
                    <a:moveTo>
                      <a:pt x="50006" y="17859"/>
                    </a:moveTo>
                    <a:lnTo>
                      <a:pt x="35719" y="0"/>
                    </a:lnTo>
                    <a:lnTo>
                      <a:pt x="0" y="0"/>
                    </a:lnTo>
                    <a:lnTo>
                      <a:pt x="0" y="35719"/>
                    </a:lnTo>
                    <a:lnTo>
                      <a:pt x="21431" y="53578"/>
                    </a:lnTo>
                  </a:path>
                </a:pathLst>
              </a:custGeom>
              <a:noFill/>
              <a:ln w="14288">
                <a:solidFill>
                  <a:srgbClr val="FFFFFF"/>
                </a:solidFill>
              </a:ln>
            </p:spPr>
          </p:sp>
        </p:grpSp>
        <p:sp>
          <p:nvSpPr>
            <p:cNvPr id="97" name="TextBox 97"/>
            <p:cNvSpPr txBox="1"/>
            <p:nvPr/>
          </p:nvSpPr>
          <p:spPr>
            <a:xfrm>
              <a:off x="585406" y="2767251"/>
              <a:ext cx="2060003"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 xml:space="preserve">战役A：智能制造装备服务      </a:t>
              </a:r>
            </a:p>
          </p:txBody>
        </p:sp>
        <p:sp>
          <p:nvSpPr>
            <p:cNvPr id="98" name="TextBox 98"/>
            <p:cNvSpPr txBox="1"/>
            <p:nvPr/>
          </p:nvSpPr>
          <p:spPr>
            <a:xfrm>
              <a:off x="350559" y="3104436"/>
              <a:ext cx="1089581"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 xml:space="preserve">   商机规模（潜在）   </a:t>
              </a:r>
            </a:p>
          </p:txBody>
        </p:sp>
        <p:sp>
          <p:nvSpPr>
            <p:cNvPr id="99" name="TextBox 99"/>
            <p:cNvSpPr txBox="1"/>
            <p:nvPr/>
          </p:nvSpPr>
          <p:spPr>
            <a:xfrm>
              <a:off x="130240" y="3248025"/>
              <a:ext cx="1530220"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 xml:space="preserve">   1,450</a:t>
              </a:r>
              <a:r>
                <a:rPr lang="zh-CN" sz="750" dirty="0">
                  <a:solidFill>
                    <a:srgbClr val="721E0D"/>
                  </a:solidFill>
                  <a:latin typeface="+mn-lt"/>
                  <a:ea typeface="+mn-ea"/>
                  <a:cs typeface="+mn-cs"/>
                </a:rPr>
                <a:t xml:space="preserve"> 万元</a:t>
              </a:r>
              <a:r>
                <a:rPr lang="zh-CN" sz="1500" b="1" dirty="0">
                  <a:solidFill>
                    <a:srgbClr val="721E0D"/>
                  </a:solidFill>
                  <a:latin typeface="+mn-lt"/>
                  <a:ea typeface="+mn-ea"/>
                  <a:cs typeface="+mn-cs"/>
                </a:rPr>
                <a:t xml:space="preserve">   </a:t>
              </a:r>
            </a:p>
          </p:txBody>
        </p:sp>
        <p:sp>
          <p:nvSpPr>
            <p:cNvPr id="100" name="Line 100"/>
            <p:cNvSpPr/>
            <p:nvPr/>
          </p:nvSpPr>
          <p:spPr>
            <a:xfrm>
              <a:off x="1504950" y="3086100"/>
              <a:ext cx="9525" cy="381000"/>
            </a:xfrm>
            <a:custGeom>
              <a:avLst/>
              <a:gdLst/>
              <a:ahLst/>
              <a:cxnLst/>
              <a:rect l="l" t="t" r="r" b="b"/>
              <a:pathLst>
                <a:path w="9525" h="381000">
                  <a:moveTo>
                    <a:pt x="0" y="0"/>
                  </a:moveTo>
                  <a:lnTo>
                    <a:pt x="0" y="381000"/>
                  </a:lnTo>
                </a:path>
              </a:pathLst>
            </a:custGeom>
            <a:noFill/>
            <a:ln w="9525">
              <a:solidFill>
                <a:srgbClr val="DCE6F6"/>
              </a:solidFill>
            </a:ln>
          </p:spPr>
        </p:sp>
        <p:sp>
          <p:nvSpPr>
            <p:cNvPr id="101" name="TextBox 101"/>
            <p:cNvSpPr txBox="1"/>
            <p:nvPr/>
          </p:nvSpPr>
          <p:spPr>
            <a:xfrm>
              <a:off x="1889887" y="3104436"/>
              <a:ext cx="48742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目标赢单额</a:t>
              </a:r>
            </a:p>
          </p:txBody>
        </p:sp>
        <p:sp>
          <p:nvSpPr>
            <p:cNvPr id="102" name="TextBox 102"/>
            <p:cNvSpPr txBox="1"/>
            <p:nvPr/>
          </p:nvSpPr>
          <p:spPr>
            <a:xfrm>
              <a:off x="1485105" y="3248025"/>
              <a:ext cx="1296991"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 xml:space="preserve">   800</a:t>
              </a:r>
              <a:r>
                <a:rPr lang="zh-CN" sz="750" dirty="0">
                  <a:solidFill>
                    <a:srgbClr val="721E0D"/>
                  </a:solidFill>
                  <a:latin typeface="+mn-lt"/>
                  <a:ea typeface="+mn-ea"/>
                  <a:cs typeface="+mn-cs"/>
                </a:rPr>
                <a:t xml:space="preserve"> 万元</a:t>
              </a:r>
              <a:r>
                <a:rPr lang="zh-CN" sz="1500" b="1" dirty="0">
                  <a:solidFill>
                    <a:srgbClr val="721E0D"/>
                  </a:solidFill>
                  <a:latin typeface="+mn-lt"/>
                  <a:ea typeface="+mn-ea"/>
                  <a:cs typeface="+mn-cs"/>
                </a:rPr>
                <a:t xml:space="preserve">   </a:t>
              </a:r>
            </a:p>
          </p:txBody>
        </p:sp>
        <p:sp>
          <p:nvSpPr>
            <p:cNvPr id="103" name="Line 103"/>
            <p:cNvSpPr/>
            <p:nvPr/>
          </p:nvSpPr>
          <p:spPr>
            <a:xfrm>
              <a:off x="2743200" y="3086100"/>
              <a:ext cx="9525" cy="381000"/>
            </a:xfrm>
            <a:custGeom>
              <a:avLst/>
              <a:gdLst/>
              <a:ahLst/>
              <a:cxnLst/>
              <a:rect l="l" t="t" r="r" b="b"/>
              <a:pathLst>
                <a:path w="9525" h="381000">
                  <a:moveTo>
                    <a:pt x="0" y="0"/>
                  </a:moveTo>
                  <a:lnTo>
                    <a:pt x="0" y="381000"/>
                  </a:lnTo>
                </a:path>
              </a:pathLst>
            </a:custGeom>
            <a:noFill/>
            <a:ln w="9525">
              <a:solidFill>
                <a:srgbClr val="DCE6F6"/>
              </a:solidFill>
            </a:ln>
          </p:spPr>
        </p:sp>
        <p:sp>
          <p:nvSpPr>
            <p:cNvPr id="104" name="TextBox 104"/>
            <p:cNvSpPr txBox="1"/>
            <p:nvPr/>
          </p:nvSpPr>
          <p:spPr>
            <a:xfrm>
              <a:off x="3175927" y="3104436"/>
              <a:ext cx="39184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预算投入</a:t>
              </a:r>
            </a:p>
          </p:txBody>
        </p:sp>
        <p:sp>
          <p:nvSpPr>
            <p:cNvPr id="105" name="TextBox 105"/>
            <p:cNvSpPr txBox="1"/>
            <p:nvPr/>
          </p:nvSpPr>
          <p:spPr>
            <a:xfrm>
              <a:off x="2723355" y="3248025"/>
              <a:ext cx="1296991"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 xml:space="preserve">   150</a:t>
              </a:r>
              <a:r>
                <a:rPr lang="zh-CN" sz="750" dirty="0">
                  <a:solidFill>
                    <a:srgbClr val="721E0D"/>
                  </a:solidFill>
                  <a:latin typeface="+mn-lt"/>
                  <a:ea typeface="+mn-ea"/>
                  <a:cs typeface="+mn-cs"/>
                </a:rPr>
                <a:t xml:space="preserve"> 万元</a:t>
              </a:r>
              <a:r>
                <a:rPr lang="zh-CN" sz="1500" b="1" dirty="0">
                  <a:solidFill>
                    <a:srgbClr val="721E0D"/>
                  </a:solidFill>
                  <a:latin typeface="+mn-lt"/>
                  <a:ea typeface="+mn-ea"/>
                  <a:cs typeface="+mn-cs"/>
                </a:rPr>
                <a:t xml:space="preserve">   </a:t>
              </a:r>
            </a:p>
          </p:txBody>
        </p:sp>
        <p:sp>
          <p:nvSpPr>
            <p:cNvPr id="106" name="Rectangle 106"/>
            <p:cNvSpPr/>
            <p:nvPr/>
          </p:nvSpPr>
          <p:spPr>
            <a:xfrm>
              <a:off x="323850" y="3524250"/>
              <a:ext cx="3619500" cy="209550"/>
            </a:xfrm>
            <a:prstGeom prst="roundRect">
              <a:avLst>
                <a:gd name="adj" fmla="val 18182"/>
              </a:avLst>
            </a:prstGeom>
            <a:solidFill>
              <a:srgbClr val="EAF1FB"/>
            </a:solidFill>
            <a:ln>
              <a:noFill/>
            </a:ln>
          </p:spPr>
        </p:sp>
        <p:grpSp>
          <p:nvGrpSpPr>
            <p:cNvPr id="110" name="Group 110"/>
            <p:cNvGrpSpPr/>
            <p:nvPr/>
          </p:nvGrpSpPr>
          <p:grpSpPr>
            <a:xfrm>
              <a:off x="414337" y="3579019"/>
              <a:ext cx="83344" cy="100012"/>
              <a:chOff x="414337" y="3579019"/>
              <a:chExt cx="83344" cy="100012"/>
            </a:xfrm>
          </p:grpSpPr>
          <p:sp>
            <p:nvSpPr>
              <p:cNvPr id="107" name="Freeform 107"/>
              <p:cNvSpPr/>
              <p:nvPr/>
            </p:nvSpPr>
            <p:spPr>
              <a:xfrm>
                <a:off x="425450" y="35790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721E0D"/>
                </a:solidFill>
              </a:ln>
            </p:spPr>
          </p:sp>
          <p:sp>
            <p:nvSpPr>
              <p:cNvPr id="108" name="Freeform 108"/>
              <p:cNvSpPr/>
              <p:nvPr/>
            </p:nvSpPr>
            <p:spPr>
              <a:xfrm>
                <a:off x="414337" y="364569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721E0D"/>
                </a:solidFill>
              </a:ln>
            </p:spPr>
          </p:sp>
          <p:sp>
            <p:nvSpPr>
              <p:cNvPr id="109" name="Freeform 109"/>
              <p:cNvSpPr/>
              <p:nvPr/>
            </p:nvSpPr>
            <p:spPr>
              <a:xfrm>
                <a:off x="464344" y="3656806"/>
                <a:ext cx="33337" cy="22225"/>
              </a:xfrm>
              <a:custGeom>
                <a:avLst/>
                <a:gdLst/>
                <a:ahLst/>
                <a:cxnLst/>
                <a:rect l="l" t="t" r="r" b="b"/>
                <a:pathLst>
                  <a:path w="33337" h="22225">
                    <a:moveTo>
                      <a:pt x="0" y="11112"/>
                    </a:moveTo>
                    <a:lnTo>
                      <a:pt x="11112" y="22225"/>
                    </a:lnTo>
                    <a:lnTo>
                      <a:pt x="33337" y="0"/>
                    </a:lnTo>
                  </a:path>
                </a:pathLst>
              </a:custGeom>
              <a:noFill/>
              <a:ln w="11112">
                <a:solidFill>
                  <a:srgbClr val="721E0D"/>
                </a:solidFill>
              </a:ln>
            </p:spPr>
          </p:sp>
        </p:grpSp>
        <p:sp>
          <p:nvSpPr>
            <p:cNvPr id="111" name="TextBox 111"/>
            <p:cNvSpPr txBox="1"/>
            <p:nvPr/>
          </p:nvSpPr>
          <p:spPr>
            <a:xfrm>
              <a:off x="566738" y="3582114"/>
              <a:ext cx="2079624"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 xml:space="preserve">战役负责人：张伟（解决方案总监）      </a:t>
              </a:r>
            </a:p>
          </p:txBody>
        </p:sp>
        <p:sp>
          <p:nvSpPr>
            <p:cNvPr id="112" name="TextBox 112"/>
            <p:cNvSpPr txBox="1"/>
            <p:nvPr/>
          </p:nvSpPr>
          <p:spPr>
            <a:xfrm>
              <a:off x="357188" y="3938588"/>
              <a:ext cx="295275" cy="271462"/>
            </a:xfrm>
            <a:prstGeom prst="rect">
              <a:avLst/>
            </a:prstGeom>
            <a:noFill/>
            <a:ln>
              <a:noFill/>
            </a:ln>
          </p:spPr>
          <p:txBody>
            <a:bodyPr wrap="none" lIns="0" tIns="0" rIns="0" bIns="0" anchor="t" anchorCtr="0">
              <a:spAutoFit/>
            </a:bodyPr>
            <a:lstStyle/>
            <a:p>
              <a:pPr algn="l">
                <a:lnSpc>
                  <a:spcPts val="975"/>
                </a:lnSpc>
              </a:pPr>
              <a:r>
                <a:rPr lang="zh-CN" sz="750" b="1" dirty="0">
                  <a:solidFill>
                    <a:srgbClr val="721E0D"/>
                  </a:solidFill>
                  <a:latin typeface="+mn-lt"/>
                  <a:ea typeface="+mn-ea"/>
                  <a:cs typeface="+mn-cs"/>
                </a:rPr>
                <a:t>关键</a:t>
              </a:r>
              <a:br/>
              <a:r>
                <a:rPr lang="zh-CN" sz="750" b="1" dirty="0">
                  <a:solidFill>
                    <a:srgbClr val="721E0D"/>
                  </a:solidFill>
                  <a:latin typeface="+mn-lt"/>
                  <a:ea typeface="+mn-ea"/>
                  <a:cs typeface="+mn-cs"/>
                </a:rPr>
                <a:t>里程碑</a:t>
              </a:r>
            </a:p>
          </p:txBody>
        </p:sp>
        <p:sp>
          <p:nvSpPr>
            <p:cNvPr id="113" name="Line 113"/>
            <p:cNvSpPr/>
            <p:nvPr/>
          </p:nvSpPr>
          <p:spPr>
            <a:xfrm>
              <a:off x="895350" y="4019550"/>
              <a:ext cx="3048000" cy="9525"/>
            </a:xfrm>
            <a:custGeom>
              <a:avLst/>
              <a:gdLst/>
              <a:ahLst/>
              <a:cxnLst/>
              <a:rect l="l" t="t" r="r" b="b"/>
              <a:pathLst>
                <a:path w="3048000" h="9525">
                  <a:moveTo>
                    <a:pt x="0" y="0"/>
                  </a:moveTo>
                  <a:lnTo>
                    <a:pt x="3048000" y="0"/>
                  </a:lnTo>
                </a:path>
              </a:pathLst>
            </a:custGeom>
            <a:noFill/>
            <a:ln w="14288">
              <a:solidFill>
                <a:srgbClr val="C9D6EE"/>
              </a:solidFill>
              <a:custDash>
                <a:ds d="266667" sp="200000"/>
              </a:custDash>
            </a:ln>
          </p:spPr>
        </p:sp>
        <p:sp>
          <p:nvSpPr>
            <p:cNvPr id="114" name="Ellipse 114"/>
            <p:cNvSpPr/>
            <p:nvPr/>
          </p:nvSpPr>
          <p:spPr>
            <a:xfrm>
              <a:off x="1019175" y="3952875"/>
              <a:ext cx="133350" cy="133350"/>
            </a:xfrm>
            <a:prstGeom prst="ellipse">
              <a:avLst/>
            </a:prstGeom>
            <a:solidFill>
              <a:srgbClr val="721E0D"/>
            </a:solidFill>
            <a:ln>
              <a:noFill/>
            </a:ln>
          </p:spPr>
        </p:sp>
        <p:sp>
          <p:nvSpPr>
            <p:cNvPr id="115" name="Freeform 115"/>
            <p:cNvSpPr/>
            <p:nvPr/>
          </p:nvSpPr>
          <p:spPr>
            <a:xfrm>
              <a:off x="1058069" y="3999706"/>
              <a:ext cx="59531" cy="39688"/>
            </a:xfrm>
            <a:custGeom>
              <a:avLst/>
              <a:gdLst/>
              <a:ahLst/>
              <a:cxnLst/>
              <a:rect l="l" t="t" r="r" b="b"/>
              <a:pathLst>
                <a:path w="59531" h="39688">
                  <a:moveTo>
                    <a:pt x="0" y="19844"/>
                  </a:moveTo>
                  <a:lnTo>
                    <a:pt x="19844" y="39688"/>
                  </a:lnTo>
                  <a:lnTo>
                    <a:pt x="59531" y="0"/>
                  </a:lnTo>
                </a:path>
              </a:pathLst>
            </a:custGeom>
            <a:noFill/>
            <a:ln w="7938">
              <a:solidFill>
                <a:srgbClr val="FFFFFF"/>
              </a:solidFill>
            </a:ln>
          </p:spPr>
        </p:sp>
        <p:sp>
          <p:nvSpPr>
            <p:cNvPr id="116" name="TextBox 116"/>
            <p:cNvSpPr txBox="1"/>
            <p:nvPr/>
          </p:nvSpPr>
          <p:spPr>
            <a:xfrm>
              <a:off x="90877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需求澄清</a:t>
              </a:r>
            </a:p>
          </p:txBody>
        </p:sp>
        <p:sp>
          <p:nvSpPr>
            <p:cNvPr id="117" name="TextBox 117"/>
            <p:cNvSpPr txBox="1"/>
            <p:nvPr/>
          </p:nvSpPr>
          <p:spPr>
            <a:xfrm>
              <a:off x="951852" y="4255532"/>
              <a:ext cx="267995"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已完成</a:t>
              </a:r>
            </a:p>
          </p:txBody>
        </p:sp>
        <p:sp>
          <p:nvSpPr>
            <p:cNvPr id="118" name="Ellipse 118"/>
            <p:cNvSpPr/>
            <p:nvPr/>
          </p:nvSpPr>
          <p:spPr>
            <a:xfrm>
              <a:off x="1685925" y="3952875"/>
              <a:ext cx="133350" cy="133350"/>
            </a:xfrm>
            <a:prstGeom prst="ellipse">
              <a:avLst/>
            </a:prstGeom>
            <a:solidFill>
              <a:srgbClr val="721E0D"/>
            </a:solidFill>
            <a:ln>
              <a:noFill/>
            </a:ln>
          </p:spPr>
        </p:sp>
        <p:sp>
          <p:nvSpPr>
            <p:cNvPr id="119" name="Freeform 119"/>
            <p:cNvSpPr/>
            <p:nvPr/>
          </p:nvSpPr>
          <p:spPr>
            <a:xfrm>
              <a:off x="1724819" y="3999706"/>
              <a:ext cx="59531" cy="39688"/>
            </a:xfrm>
            <a:custGeom>
              <a:avLst/>
              <a:gdLst/>
              <a:ahLst/>
              <a:cxnLst/>
              <a:rect l="l" t="t" r="r" b="b"/>
              <a:pathLst>
                <a:path w="59531" h="39688">
                  <a:moveTo>
                    <a:pt x="0" y="19844"/>
                  </a:moveTo>
                  <a:lnTo>
                    <a:pt x="19844" y="39688"/>
                  </a:lnTo>
                  <a:lnTo>
                    <a:pt x="59531" y="0"/>
                  </a:lnTo>
                </a:path>
              </a:pathLst>
            </a:custGeom>
            <a:noFill/>
            <a:ln w="7938">
              <a:solidFill>
                <a:srgbClr val="FFFFFF"/>
              </a:solidFill>
            </a:ln>
          </p:spPr>
        </p:sp>
        <p:sp>
          <p:nvSpPr>
            <p:cNvPr id="120" name="TextBox 120"/>
            <p:cNvSpPr txBox="1"/>
            <p:nvPr/>
          </p:nvSpPr>
          <p:spPr>
            <a:xfrm>
              <a:off x="157552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方案设计</a:t>
              </a:r>
            </a:p>
          </p:txBody>
        </p:sp>
        <p:sp>
          <p:nvSpPr>
            <p:cNvPr id="121" name="TextBox 121"/>
            <p:cNvSpPr txBox="1"/>
            <p:nvPr/>
          </p:nvSpPr>
          <p:spPr>
            <a:xfrm>
              <a:off x="1618602" y="4255532"/>
              <a:ext cx="267995"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已完成</a:t>
              </a:r>
            </a:p>
          </p:txBody>
        </p:sp>
        <p:sp>
          <p:nvSpPr>
            <p:cNvPr id="122" name="Ellipse 122"/>
            <p:cNvSpPr/>
            <p:nvPr/>
          </p:nvSpPr>
          <p:spPr>
            <a:xfrm>
              <a:off x="2352675" y="3952875"/>
              <a:ext cx="133350" cy="133350"/>
            </a:xfrm>
            <a:prstGeom prst="ellipse">
              <a:avLst/>
            </a:prstGeom>
            <a:solidFill>
              <a:srgbClr val="B8351A"/>
            </a:solidFill>
            <a:ln>
              <a:noFill/>
            </a:ln>
          </p:spPr>
        </p:sp>
        <p:sp>
          <p:nvSpPr>
            <p:cNvPr id="123" name="TextBox 123"/>
            <p:cNvSpPr txBox="1"/>
            <p:nvPr/>
          </p:nvSpPr>
          <p:spPr>
            <a:xfrm>
              <a:off x="224227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客户验证</a:t>
              </a:r>
            </a:p>
          </p:txBody>
        </p:sp>
        <p:sp>
          <p:nvSpPr>
            <p:cNvPr id="124" name="TextBox 124"/>
            <p:cNvSpPr txBox="1"/>
            <p:nvPr/>
          </p:nvSpPr>
          <p:spPr>
            <a:xfrm>
              <a:off x="2153963" y="4255532"/>
              <a:ext cx="530774"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 xml:space="preserve">  2025.06  </a:t>
              </a:r>
            </a:p>
          </p:txBody>
        </p:sp>
        <p:sp>
          <p:nvSpPr>
            <p:cNvPr id="125" name="Ellipse 125"/>
            <p:cNvSpPr/>
            <p:nvPr/>
          </p:nvSpPr>
          <p:spPr>
            <a:xfrm>
              <a:off x="3028950" y="3962400"/>
              <a:ext cx="114300" cy="114300"/>
            </a:xfrm>
            <a:prstGeom prst="ellipse">
              <a:avLst/>
            </a:prstGeom>
            <a:solidFill>
              <a:srgbClr val="FFFFFF"/>
            </a:solidFill>
            <a:ln w="14288">
              <a:solidFill>
                <a:srgbClr val="B8351A"/>
              </a:solidFill>
            </a:ln>
          </p:spPr>
        </p:sp>
        <p:sp>
          <p:nvSpPr>
            <p:cNvPr id="126" name="TextBox 126"/>
            <p:cNvSpPr txBox="1"/>
            <p:nvPr/>
          </p:nvSpPr>
          <p:spPr>
            <a:xfrm>
              <a:off x="290902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商务谈判</a:t>
              </a:r>
            </a:p>
          </p:txBody>
        </p:sp>
        <p:sp>
          <p:nvSpPr>
            <p:cNvPr id="127" name="TextBox 127"/>
            <p:cNvSpPr txBox="1"/>
            <p:nvPr/>
          </p:nvSpPr>
          <p:spPr>
            <a:xfrm>
              <a:off x="2820713" y="4255532"/>
              <a:ext cx="530774"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 xml:space="preserve">  2025.08  </a:t>
              </a:r>
            </a:p>
          </p:txBody>
        </p:sp>
        <p:sp>
          <p:nvSpPr>
            <p:cNvPr id="128" name="Ellipse 128"/>
            <p:cNvSpPr/>
            <p:nvPr/>
          </p:nvSpPr>
          <p:spPr>
            <a:xfrm>
              <a:off x="3695700" y="3962400"/>
              <a:ext cx="114300" cy="114300"/>
            </a:xfrm>
            <a:prstGeom prst="ellipse">
              <a:avLst/>
            </a:prstGeom>
            <a:solidFill>
              <a:srgbClr val="FFFFFF"/>
            </a:solidFill>
            <a:ln w="14288">
              <a:solidFill>
                <a:srgbClr val="B8351A"/>
              </a:solidFill>
            </a:ln>
          </p:spPr>
        </p:sp>
        <p:sp>
          <p:nvSpPr>
            <p:cNvPr id="129" name="TextBox 129"/>
            <p:cNvSpPr txBox="1"/>
            <p:nvPr/>
          </p:nvSpPr>
          <p:spPr>
            <a:xfrm>
              <a:off x="357577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赢单交付</a:t>
              </a:r>
            </a:p>
          </p:txBody>
        </p:sp>
        <p:sp>
          <p:nvSpPr>
            <p:cNvPr id="130" name="TextBox 130"/>
            <p:cNvSpPr txBox="1"/>
            <p:nvPr/>
          </p:nvSpPr>
          <p:spPr>
            <a:xfrm>
              <a:off x="3487463" y="4255532"/>
              <a:ext cx="530774"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 xml:space="preserve">  2025.10  </a:t>
              </a:r>
            </a:p>
          </p:txBody>
        </p:sp>
        <p:sp>
          <p:nvSpPr>
            <p:cNvPr id="131" name="Line 131"/>
            <p:cNvSpPr/>
            <p:nvPr/>
          </p:nvSpPr>
          <p:spPr>
            <a:xfrm>
              <a:off x="323850" y="4438650"/>
              <a:ext cx="3619500" cy="9525"/>
            </a:xfrm>
            <a:custGeom>
              <a:avLst/>
              <a:gdLst/>
              <a:ahLst/>
              <a:cxnLst/>
              <a:rect l="l" t="t" r="r" b="b"/>
              <a:pathLst>
                <a:path w="3619500" h="9525">
                  <a:moveTo>
                    <a:pt x="0" y="0"/>
                  </a:moveTo>
                  <a:lnTo>
                    <a:pt x="3619500" y="0"/>
                  </a:lnTo>
                </a:path>
              </a:pathLst>
            </a:custGeom>
            <a:noFill/>
            <a:ln w="9525">
              <a:solidFill>
                <a:srgbClr val="E6EAF2"/>
              </a:solidFill>
            </a:ln>
          </p:spPr>
        </p:sp>
        <p:sp>
          <p:nvSpPr>
            <p:cNvPr id="132" name="TextBox 132"/>
            <p:cNvSpPr txBox="1"/>
            <p:nvPr/>
          </p:nvSpPr>
          <p:spPr>
            <a:xfrm>
              <a:off x="357188" y="4852988"/>
              <a:ext cx="200025" cy="271462"/>
            </a:xfrm>
            <a:prstGeom prst="rect">
              <a:avLst/>
            </a:prstGeom>
            <a:noFill/>
            <a:ln>
              <a:noFill/>
            </a:ln>
          </p:spPr>
          <p:txBody>
            <a:bodyPr wrap="none" lIns="0" tIns="0" rIns="0" bIns="0" anchor="t" anchorCtr="0">
              <a:spAutoFit/>
            </a:bodyPr>
            <a:lstStyle/>
            <a:p>
              <a:pPr algn="l">
                <a:lnSpc>
                  <a:spcPts val="975"/>
                </a:lnSpc>
              </a:pPr>
              <a:r>
                <a:rPr lang="zh-CN" sz="750" b="1" dirty="0">
                  <a:solidFill>
                    <a:srgbClr val="721E0D"/>
                  </a:solidFill>
                  <a:latin typeface="+mn-lt"/>
                  <a:ea typeface="+mn-ea"/>
                  <a:cs typeface="+mn-cs"/>
                </a:rPr>
                <a:t>赢单</a:t>
              </a:r>
              <a:br/>
              <a:r>
                <a:rPr lang="zh-CN" sz="750" b="1" dirty="0">
                  <a:solidFill>
                    <a:srgbClr val="721E0D"/>
                  </a:solidFill>
                  <a:latin typeface="+mn-lt"/>
                  <a:ea typeface="+mn-ea"/>
                  <a:cs typeface="+mn-cs"/>
                </a:rPr>
                <a:t>概率</a:t>
              </a:r>
            </a:p>
          </p:txBody>
        </p:sp>
        <p:sp>
          <p:nvSpPr>
            <p:cNvPr id="133" name="Ellipse 133"/>
            <p:cNvSpPr/>
            <p:nvPr/>
          </p:nvSpPr>
          <p:spPr>
            <a:xfrm>
              <a:off x="895350" y="4857750"/>
              <a:ext cx="419100" cy="419100"/>
            </a:xfrm>
            <a:prstGeom prst="ellipse">
              <a:avLst/>
            </a:prstGeom>
            <a:noFill/>
            <a:ln w="114300">
              <a:solidFill>
                <a:srgbClr val="E3EBF8"/>
              </a:solidFill>
            </a:ln>
          </p:spPr>
        </p:sp>
        <p:sp>
          <p:nvSpPr>
            <p:cNvPr id="134" name="Freeform 134"/>
            <p:cNvSpPr/>
            <p:nvPr/>
          </p:nvSpPr>
          <p:spPr>
            <a:xfrm>
              <a:off x="838200" y="4800600"/>
              <a:ext cx="533400" cy="533400"/>
            </a:xfrm>
            <a:prstGeom prst="blockArc">
              <a:avLst>
                <a:gd name="adj1" fmla="val 16200000"/>
                <a:gd name="adj2" fmla="val 7560000"/>
                <a:gd name="adj3" fmla="val 21400"/>
              </a:avLst>
            </a:prstGeom>
            <a:solidFill>
              <a:srgbClr val="B8351A"/>
            </a:solidFill>
            <a:ln>
              <a:noFill/>
            </a:ln>
          </p:spPr>
        </p:sp>
        <p:sp>
          <p:nvSpPr>
            <p:cNvPr id="135" name="TextBox 135"/>
            <p:cNvSpPr txBox="1"/>
            <p:nvPr/>
          </p:nvSpPr>
          <p:spPr>
            <a:xfrm>
              <a:off x="819436" y="5009674"/>
              <a:ext cx="570928"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60%  </a:t>
              </a:r>
            </a:p>
          </p:txBody>
        </p:sp>
        <p:sp>
          <p:nvSpPr>
            <p:cNvPr id="136" name="TextBox 136"/>
            <p:cNvSpPr txBox="1"/>
            <p:nvPr/>
          </p:nvSpPr>
          <p:spPr>
            <a:xfrm>
              <a:off x="1557338" y="4582239"/>
              <a:ext cx="434924"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关键胜因</a:t>
              </a:r>
            </a:p>
          </p:txBody>
        </p:sp>
        <p:sp>
          <p:nvSpPr>
            <p:cNvPr id="137" name="TextBox 137"/>
            <p:cNvSpPr txBox="1"/>
            <p:nvPr/>
          </p:nvSpPr>
          <p:spPr>
            <a:xfrm>
              <a:off x="1557338" y="4784884"/>
              <a:ext cx="1199769" cy="438150"/>
            </a:xfrm>
            <a:prstGeom prst="rect">
              <a:avLst/>
            </a:prstGeom>
            <a:noFill/>
            <a:ln>
              <a:noFill/>
            </a:ln>
          </p:spPr>
          <p:txBody>
            <a:bodyPr wrap="none" lIns="0" tIns="0" rIns="0" bIns="0" anchor="t" anchorCtr="0">
              <a:spAutoFit/>
            </a:bodyPr>
            <a:lstStyle/>
            <a:p>
              <a:pPr algn="l" marL="76200" indent="-76200">
                <a:lnSpc>
                  <a:spcPts val="1200"/>
                </a:lnSpc>
                <a:buClr>
                  <a:srgbClr val="523E3A"/>
                </a:buClr>
                <a:buSzTx/>
                <a:buFontTx/>
                <a:buChar char="•"/>
              </a:pPr>
              <a:r>
                <a:rPr lang="zh-CN" sz="680" dirty="0">
                  <a:solidFill>
                    <a:srgbClr val="523E3A"/>
                  </a:solidFill>
                  <a:latin typeface="+mn-lt"/>
                  <a:ea typeface="+mn-ea"/>
                  <a:cs typeface="+mn-cs"/>
                </a:rPr>
                <a:t xml:space="preserve">客户痛点强，ROI清晰      </a:t>
              </a:r>
            </a:p>
            <a:p>
              <a:pPr algn="l" marL="76200" indent="-76200">
                <a:lnSpc>
                  <a:spcPts val="1200"/>
                </a:lnSpc>
                <a:buClr>
                  <a:srgbClr val="523E3A"/>
                </a:buClr>
                <a:buSzTx/>
                <a:buFontTx/>
                <a:buChar char="•"/>
              </a:pPr>
              <a:r>
                <a:rPr lang="zh-CN" sz="680" dirty="0">
                  <a:solidFill>
                    <a:srgbClr val="523E3A"/>
                  </a:solidFill>
                  <a:latin typeface="+mn-lt"/>
                  <a:ea typeface="+mn-ea"/>
                  <a:cs typeface="+mn-cs"/>
                </a:rPr>
                <a:t>设备更新改造政策利好</a:t>
              </a:r>
            </a:p>
            <a:p>
              <a:pPr algn="l" marL="76200" indent="-76200">
                <a:lnSpc>
                  <a:spcPts val="1200"/>
                </a:lnSpc>
                <a:buClr>
                  <a:srgbClr val="523E3A"/>
                </a:buClr>
                <a:buSzTx/>
                <a:buFontTx/>
                <a:buChar char="•"/>
              </a:pPr>
              <a:r>
                <a:rPr lang="zh-CN" sz="680" dirty="0">
                  <a:solidFill>
                    <a:srgbClr val="523E3A"/>
                  </a:solidFill>
                  <a:latin typeface="+mn-lt"/>
                  <a:ea typeface="+mn-ea"/>
                  <a:cs typeface="+mn-cs"/>
                </a:rPr>
                <a:t>存量客户信任基础好</a:t>
              </a:r>
            </a:p>
          </p:txBody>
        </p:sp>
        <p:grpSp>
          <p:nvGrpSpPr>
            <p:cNvPr id="141" name="Group 141"/>
            <p:cNvGrpSpPr/>
            <p:nvPr/>
          </p:nvGrpSpPr>
          <p:grpSpPr>
            <a:xfrm>
              <a:off x="2944340" y="4577298"/>
              <a:ext cx="112066" cy="96280"/>
              <a:chOff x="2944340" y="4577298"/>
              <a:chExt cx="112066" cy="96280"/>
            </a:xfrm>
          </p:grpSpPr>
          <p:sp>
            <p:nvSpPr>
              <p:cNvPr id="138" name="Freeform 138"/>
              <p:cNvSpPr/>
              <p:nvPr/>
            </p:nvSpPr>
            <p:spPr>
              <a:xfrm>
                <a:off x="3000375" y="4612481"/>
                <a:ext cx="9525" cy="22225"/>
              </a:xfrm>
              <a:custGeom>
                <a:avLst/>
                <a:gdLst/>
                <a:ahLst/>
                <a:cxnLst/>
                <a:rect l="l" t="t" r="r" b="b"/>
                <a:pathLst>
                  <a:path w="9525" h="22225">
                    <a:moveTo>
                      <a:pt x="0" y="0"/>
                    </a:moveTo>
                    <a:lnTo>
                      <a:pt x="0" y="22225"/>
                    </a:lnTo>
                  </a:path>
                </a:pathLst>
              </a:custGeom>
              <a:noFill/>
              <a:ln w="11112">
                <a:solidFill>
                  <a:srgbClr val="C03616"/>
                </a:solidFill>
              </a:ln>
            </p:spPr>
          </p:sp>
          <p:sp>
            <p:nvSpPr>
              <p:cNvPr id="139" name="Freeform 139"/>
              <p:cNvSpPr/>
              <p:nvPr/>
            </p:nvSpPr>
            <p:spPr>
              <a:xfrm>
                <a:off x="2944340" y="4577298"/>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C03616"/>
                </a:solidFill>
              </a:ln>
            </p:spPr>
          </p:sp>
          <p:sp>
            <p:nvSpPr>
              <p:cNvPr id="140" name="Freeform 140"/>
              <p:cNvSpPr/>
              <p:nvPr/>
            </p:nvSpPr>
            <p:spPr>
              <a:xfrm>
                <a:off x="3000375" y="4651375"/>
                <a:ext cx="9525" cy="9525"/>
              </a:xfrm>
              <a:custGeom>
                <a:avLst/>
                <a:gdLst/>
                <a:ahLst/>
                <a:cxnLst/>
                <a:rect l="l" t="t" r="r" b="b"/>
                <a:pathLst>
                  <a:path w="9525" h="9525">
                    <a:moveTo>
                      <a:pt x="0" y="0"/>
                    </a:moveTo>
                    <a:lnTo>
                      <a:pt x="56" y="0"/>
                    </a:lnTo>
                  </a:path>
                </a:pathLst>
              </a:custGeom>
              <a:noFill/>
              <a:ln w="11112">
                <a:solidFill>
                  <a:srgbClr val="C03616"/>
                </a:solidFill>
              </a:ln>
            </p:spPr>
          </p:sp>
        </p:grpSp>
        <p:sp>
          <p:nvSpPr>
            <p:cNvPr id="142" name="TextBox 142"/>
            <p:cNvSpPr txBox="1"/>
            <p:nvPr/>
          </p:nvSpPr>
          <p:spPr>
            <a:xfrm>
              <a:off x="3100388" y="4582239"/>
              <a:ext cx="434924" cy="154781"/>
            </a:xfrm>
            <a:prstGeom prst="rect">
              <a:avLst/>
            </a:prstGeom>
            <a:noFill/>
            <a:ln>
              <a:noFill/>
            </a:ln>
          </p:spPr>
          <p:txBody>
            <a:bodyPr wrap="none" lIns="0" tIns="0" rIns="0" bIns="0" anchor="t" anchorCtr="0">
              <a:spAutoFit/>
            </a:bodyPr>
            <a:lstStyle/>
            <a:p>
              <a:pPr algn="l"/>
              <a:r>
                <a:rPr lang="zh-CN" sz="790" b="1" dirty="0">
                  <a:solidFill>
                    <a:srgbClr val="C03616"/>
                  </a:solidFill>
                  <a:latin typeface="+mn-lt"/>
                  <a:ea typeface="+mn-ea"/>
                  <a:cs typeface="+mn-cs"/>
                </a:rPr>
                <a:t>主要风险</a:t>
              </a:r>
            </a:p>
          </p:txBody>
        </p:sp>
        <p:sp>
          <p:nvSpPr>
            <p:cNvPr id="143" name="TextBox 143"/>
            <p:cNvSpPr txBox="1"/>
            <p:nvPr/>
          </p:nvSpPr>
          <p:spPr>
            <a:xfrm>
              <a:off x="2928938" y="4784884"/>
              <a:ext cx="862965" cy="285750"/>
            </a:xfrm>
            <a:prstGeom prst="rect">
              <a:avLst/>
            </a:prstGeom>
            <a:noFill/>
            <a:ln>
              <a:noFill/>
            </a:ln>
          </p:spPr>
          <p:txBody>
            <a:bodyPr wrap="none" lIns="0" tIns="0" rIns="0" bIns="0" anchor="t" anchorCtr="0">
              <a:spAutoFit/>
            </a:bodyPr>
            <a:lstStyle/>
            <a:p>
              <a:pPr algn="l" marL="76200" indent="-76200">
                <a:lnSpc>
                  <a:spcPts val="1200"/>
                </a:lnSpc>
                <a:buClr>
                  <a:srgbClr val="523E3A"/>
                </a:buClr>
                <a:buSzTx/>
                <a:buFontTx/>
                <a:buChar char="•"/>
              </a:pPr>
              <a:r>
                <a:rPr lang="zh-CN" sz="680" dirty="0">
                  <a:solidFill>
                    <a:srgbClr val="523E3A"/>
                  </a:solidFill>
                  <a:latin typeface="+mn-lt"/>
                  <a:ea typeface="+mn-ea"/>
                  <a:cs typeface="+mn-cs"/>
                </a:rPr>
                <a:t>客户预算审批周期长</a:t>
              </a:r>
            </a:p>
            <a:p>
              <a:pPr algn="l" marL="76200" indent="-76200">
                <a:lnSpc>
                  <a:spcPts val="1200"/>
                </a:lnSpc>
                <a:buClr>
                  <a:srgbClr val="523E3A"/>
                </a:buClr>
                <a:buSzTx/>
                <a:buFontTx/>
                <a:buChar char="•"/>
              </a:pPr>
              <a:r>
                <a:rPr lang="zh-CN" sz="680" dirty="0">
                  <a:solidFill>
                    <a:srgbClr val="523E3A"/>
                  </a:solidFill>
                  <a:latin typeface="+mn-lt"/>
                  <a:ea typeface="+mn-ea"/>
                  <a:cs typeface="+mn-cs"/>
                </a:rPr>
                <a:t>竞品价格竞争激烈</a:t>
              </a:r>
            </a:p>
          </p:txBody>
        </p:sp>
      </p:grpSp>
      <p:grpSp>
        <p:nvGrpSpPr>
          <p:cNvPr id="199" name="battle-card-b"/>
          <p:cNvGrpSpPr/>
          <p:nvPr/>
        </p:nvGrpSpPr>
        <p:grpSpPr>
          <a:xfrm>
            <a:off x="4092640" y="2686050"/>
            <a:ext cx="3908360" cy="3143250"/>
            <a:chOff x="4092640" y="2686050"/>
            <a:chExt cx="3908360" cy="3143250"/>
          </a:xfrm>
        </p:grpSpPr>
        <p:sp>
          <p:nvSpPr>
            <p:cNvPr id="145" name="Rectangle 145"/>
            <p:cNvSpPr/>
            <p:nvPr/>
          </p:nvSpPr>
          <p:spPr>
            <a:xfrm>
              <a:off x="4191000" y="2686050"/>
              <a:ext cx="3810000" cy="3143250"/>
            </a:xfrm>
            <a:prstGeom prst="roundRect">
              <a:avLst>
                <a:gd name="adj" fmla="val 3030"/>
              </a:avLst>
            </a:prstGeom>
            <a:solidFill>
              <a:srgbClr val="FFFFFF"/>
            </a:solidFill>
            <a:ln w="14288">
              <a:solidFill>
                <a:srgbClr val="C9D6EE"/>
              </a:solidFill>
            </a:ln>
          </p:spPr>
        </p:sp>
        <p:sp>
          <p:nvSpPr>
            <p:cNvPr id="146" name="Freeform 146"/>
            <p:cNvSpPr/>
            <p:nvPr/>
          </p:nvSpPr>
          <p:spPr>
            <a:xfrm>
              <a:off x="4191000" y="2686050"/>
              <a:ext cx="3810000" cy="285750"/>
            </a:xfrm>
            <a:custGeom>
              <a:avLst/>
              <a:gdLst/>
              <a:ahLst/>
              <a:cxnLst/>
              <a:rect l="l" t="t" r="r" b="b"/>
              <a:pathLst>
                <a:path w="3810000" h="285750">
                  <a:moveTo>
                    <a:pt x="95250" y="0"/>
                  </a:moveTo>
                  <a:lnTo>
                    <a:pt x="3714750" y="0"/>
                  </a:lnTo>
                  <a:cubicBezTo>
                    <a:pt x="3767355" y="0"/>
                    <a:pt x="3810000" y="42645"/>
                    <a:pt x="3810000" y="95250"/>
                  </a:cubicBezTo>
                  <a:lnTo>
                    <a:pt x="3810000" y="285750"/>
                  </a:lnTo>
                  <a:lnTo>
                    <a:pt x="0" y="285750"/>
                  </a:lnTo>
                  <a:lnTo>
                    <a:pt x="0" y="95250"/>
                  </a:lnTo>
                  <a:cubicBezTo>
                    <a:pt x="0" y="42645"/>
                    <a:pt x="42645" y="0"/>
                    <a:pt x="95250" y="0"/>
                  </a:cubicBezTo>
                  <a:close/>
                </a:path>
              </a:pathLst>
            </a:custGeom>
            <a:solidFill>
              <a:srgbClr val="721E0D"/>
            </a:solidFill>
            <a:ln>
              <a:noFill/>
            </a:ln>
          </p:spPr>
        </p:sp>
        <p:grpSp>
          <p:nvGrpSpPr>
            <p:cNvPr id="151" name="Group 151"/>
            <p:cNvGrpSpPr/>
            <p:nvPr/>
          </p:nvGrpSpPr>
          <p:grpSpPr>
            <a:xfrm>
              <a:off x="4326731" y="2764631"/>
              <a:ext cx="128588" cy="128588"/>
              <a:chOff x="4326731" y="2764631"/>
              <a:chExt cx="128588" cy="128588"/>
            </a:xfrm>
          </p:grpSpPr>
          <p:sp>
            <p:nvSpPr>
              <p:cNvPr id="147" name="Freeform 147"/>
              <p:cNvSpPr/>
              <p:nvPr/>
            </p:nvSpPr>
            <p:spPr>
              <a:xfrm>
                <a:off x="4326731" y="2764631"/>
                <a:ext cx="128588" cy="128588"/>
              </a:xfrm>
              <a:custGeom>
                <a:avLst/>
                <a:gdLst/>
                <a:ahLst/>
                <a:cxnLst/>
                <a:rect l="l" t="t" r="r" b="b"/>
                <a:pathLst>
                  <a:path w="128588" h="128588">
                    <a:moveTo>
                      <a:pt x="128588" y="0"/>
                    </a:moveTo>
                    <a:lnTo>
                      <a:pt x="128588" y="35719"/>
                    </a:lnTo>
                    <a:lnTo>
                      <a:pt x="50006" y="100012"/>
                    </a:lnTo>
                    <a:lnTo>
                      <a:pt x="21431" y="128588"/>
                    </a:lnTo>
                    <a:lnTo>
                      <a:pt x="0" y="107156"/>
                    </a:lnTo>
                    <a:lnTo>
                      <a:pt x="28575" y="78581"/>
                    </a:lnTo>
                    <a:lnTo>
                      <a:pt x="92869" y="0"/>
                    </a:lnTo>
                    <a:lnTo>
                      <a:pt x="128588" y="0"/>
                    </a:lnTo>
                  </a:path>
                </a:pathLst>
              </a:custGeom>
              <a:noFill/>
              <a:ln w="14288">
                <a:solidFill>
                  <a:srgbClr val="FFFFFF"/>
                </a:solidFill>
              </a:ln>
            </p:spPr>
          </p:sp>
          <p:sp>
            <p:nvSpPr>
              <p:cNvPr id="148" name="Freeform 148"/>
              <p:cNvSpPr/>
              <p:nvPr/>
            </p:nvSpPr>
            <p:spPr>
              <a:xfrm>
                <a:off x="4341019" y="2836069"/>
                <a:ext cx="42862" cy="42862"/>
              </a:xfrm>
              <a:custGeom>
                <a:avLst/>
                <a:gdLst/>
                <a:ahLst/>
                <a:cxnLst/>
                <a:rect l="l" t="t" r="r" b="b"/>
                <a:pathLst>
                  <a:path w="42862" h="42862">
                    <a:moveTo>
                      <a:pt x="0" y="0"/>
                    </a:moveTo>
                    <a:lnTo>
                      <a:pt x="42862" y="42862"/>
                    </a:lnTo>
                  </a:path>
                </a:pathLst>
              </a:custGeom>
              <a:noFill/>
              <a:ln w="14288">
                <a:solidFill>
                  <a:srgbClr val="FFFFFF"/>
                </a:solidFill>
              </a:ln>
            </p:spPr>
          </p:sp>
          <p:sp>
            <p:nvSpPr>
              <p:cNvPr id="149" name="Freeform 149"/>
              <p:cNvSpPr/>
              <p:nvPr/>
            </p:nvSpPr>
            <p:spPr>
              <a:xfrm>
                <a:off x="4407598" y="2847749"/>
                <a:ext cx="47720" cy="45470"/>
              </a:xfrm>
              <a:custGeom>
                <a:avLst/>
                <a:gdLst/>
                <a:ahLst/>
                <a:cxnLst/>
                <a:rect l="l" t="t" r="r" b="b"/>
                <a:pathLst>
                  <a:path w="47720" h="45470">
                    <a:moveTo>
                      <a:pt x="0" y="19181"/>
                    </a:moveTo>
                    <a:lnTo>
                      <a:pt x="26289" y="45470"/>
                    </a:lnTo>
                    <a:lnTo>
                      <a:pt x="47720" y="24039"/>
                    </a:lnTo>
                    <a:lnTo>
                      <a:pt x="23682" y="0"/>
                    </a:lnTo>
                  </a:path>
                </a:pathLst>
              </a:custGeom>
              <a:noFill/>
              <a:ln w="14288">
                <a:solidFill>
                  <a:srgbClr val="FFFFFF"/>
                </a:solidFill>
              </a:ln>
            </p:spPr>
          </p:sp>
          <p:sp>
            <p:nvSpPr>
              <p:cNvPr id="150" name="Freeform 150"/>
              <p:cNvSpPr/>
              <p:nvPr/>
            </p:nvSpPr>
            <p:spPr>
              <a:xfrm>
                <a:off x="4326731" y="2764631"/>
                <a:ext cx="50006" cy="53578"/>
              </a:xfrm>
              <a:custGeom>
                <a:avLst/>
                <a:gdLst/>
                <a:ahLst/>
                <a:cxnLst/>
                <a:rect l="l" t="t" r="r" b="b"/>
                <a:pathLst>
                  <a:path w="50006" h="53578">
                    <a:moveTo>
                      <a:pt x="50006" y="17859"/>
                    </a:moveTo>
                    <a:lnTo>
                      <a:pt x="35719" y="0"/>
                    </a:lnTo>
                    <a:lnTo>
                      <a:pt x="0" y="0"/>
                    </a:lnTo>
                    <a:lnTo>
                      <a:pt x="0" y="35719"/>
                    </a:lnTo>
                    <a:lnTo>
                      <a:pt x="21431" y="53578"/>
                    </a:lnTo>
                  </a:path>
                </a:pathLst>
              </a:custGeom>
              <a:noFill/>
              <a:ln w="14288">
                <a:solidFill>
                  <a:srgbClr val="FFFFFF"/>
                </a:solidFill>
              </a:ln>
            </p:spPr>
          </p:sp>
        </p:grpSp>
        <p:sp>
          <p:nvSpPr>
            <p:cNvPr id="152" name="TextBox 152"/>
            <p:cNvSpPr txBox="1"/>
            <p:nvPr/>
          </p:nvSpPr>
          <p:spPr>
            <a:xfrm>
              <a:off x="4547806" y="2767251"/>
              <a:ext cx="2195969"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 xml:space="preserve">战役B：连锁企业数字化运营      </a:t>
              </a:r>
            </a:p>
          </p:txBody>
        </p:sp>
        <p:sp>
          <p:nvSpPr>
            <p:cNvPr id="153" name="TextBox 153"/>
            <p:cNvSpPr txBox="1"/>
            <p:nvPr/>
          </p:nvSpPr>
          <p:spPr>
            <a:xfrm>
              <a:off x="4312959" y="3104436"/>
              <a:ext cx="1089581"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 xml:space="preserve">   商机规模（潜在）   </a:t>
              </a:r>
            </a:p>
          </p:txBody>
        </p:sp>
        <p:sp>
          <p:nvSpPr>
            <p:cNvPr id="154" name="TextBox 154"/>
            <p:cNvSpPr txBox="1"/>
            <p:nvPr/>
          </p:nvSpPr>
          <p:spPr>
            <a:xfrm>
              <a:off x="4092640" y="3248025"/>
              <a:ext cx="1530220"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 xml:space="preserve">   1,350</a:t>
              </a:r>
              <a:r>
                <a:rPr lang="zh-CN" sz="750" dirty="0">
                  <a:solidFill>
                    <a:srgbClr val="721E0D"/>
                  </a:solidFill>
                  <a:latin typeface="+mn-lt"/>
                  <a:ea typeface="+mn-ea"/>
                  <a:cs typeface="+mn-cs"/>
                </a:rPr>
                <a:t xml:space="preserve"> 万元</a:t>
              </a:r>
              <a:r>
                <a:rPr lang="zh-CN" sz="1500" b="1" dirty="0">
                  <a:solidFill>
                    <a:srgbClr val="721E0D"/>
                  </a:solidFill>
                  <a:latin typeface="+mn-lt"/>
                  <a:ea typeface="+mn-ea"/>
                  <a:cs typeface="+mn-cs"/>
                </a:rPr>
                <a:t xml:space="preserve">   </a:t>
              </a:r>
            </a:p>
          </p:txBody>
        </p:sp>
        <p:sp>
          <p:nvSpPr>
            <p:cNvPr id="155" name="Line 155"/>
            <p:cNvSpPr/>
            <p:nvPr/>
          </p:nvSpPr>
          <p:spPr>
            <a:xfrm>
              <a:off x="5467350" y="3086100"/>
              <a:ext cx="9525" cy="381000"/>
            </a:xfrm>
            <a:custGeom>
              <a:avLst/>
              <a:gdLst/>
              <a:ahLst/>
              <a:cxnLst/>
              <a:rect l="l" t="t" r="r" b="b"/>
              <a:pathLst>
                <a:path w="9525" h="381000">
                  <a:moveTo>
                    <a:pt x="0" y="0"/>
                  </a:moveTo>
                  <a:lnTo>
                    <a:pt x="0" y="381000"/>
                  </a:lnTo>
                </a:path>
              </a:pathLst>
            </a:custGeom>
            <a:noFill/>
            <a:ln w="9525">
              <a:solidFill>
                <a:srgbClr val="DCE6F6"/>
              </a:solidFill>
            </a:ln>
          </p:spPr>
        </p:sp>
        <p:sp>
          <p:nvSpPr>
            <p:cNvPr id="156" name="TextBox 156"/>
            <p:cNvSpPr txBox="1"/>
            <p:nvPr/>
          </p:nvSpPr>
          <p:spPr>
            <a:xfrm>
              <a:off x="5852287" y="3104436"/>
              <a:ext cx="48742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目标赢单额</a:t>
              </a:r>
            </a:p>
          </p:txBody>
        </p:sp>
        <p:sp>
          <p:nvSpPr>
            <p:cNvPr id="157" name="TextBox 157"/>
            <p:cNvSpPr txBox="1"/>
            <p:nvPr/>
          </p:nvSpPr>
          <p:spPr>
            <a:xfrm>
              <a:off x="5447505" y="3248025"/>
              <a:ext cx="1296991"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 xml:space="preserve">   700</a:t>
              </a:r>
              <a:r>
                <a:rPr lang="zh-CN" sz="750" dirty="0">
                  <a:solidFill>
                    <a:srgbClr val="721E0D"/>
                  </a:solidFill>
                  <a:latin typeface="+mn-lt"/>
                  <a:ea typeface="+mn-ea"/>
                  <a:cs typeface="+mn-cs"/>
                </a:rPr>
                <a:t xml:space="preserve"> 万元</a:t>
              </a:r>
              <a:r>
                <a:rPr lang="zh-CN" sz="1500" b="1" dirty="0">
                  <a:solidFill>
                    <a:srgbClr val="721E0D"/>
                  </a:solidFill>
                  <a:latin typeface="+mn-lt"/>
                  <a:ea typeface="+mn-ea"/>
                  <a:cs typeface="+mn-cs"/>
                </a:rPr>
                <a:t xml:space="preserve">   </a:t>
              </a:r>
            </a:p>
          </p:txBody>
        </p:sp>
        <p:sp>
          <p:nvSpPr>
            <p:cNvPr id="158" name="Line 158"/>
            <p:cNvSpPr/>
            <p:nvPr/>
          </p:nvSpPr>
          <p:spPr>
            <a:xfrm>
              <a:off x="6705600" y="3086100"/>
              <a:ext cx="9525" cy="381000"/>
            </a:xfrm>
            <a:custGeom>
              <a:avLst/>
              <a:gdLst/>
              <a:ahLst/>
              <a:cxnLst/>
              <a:rect l="l" t="t" r="r" b="b"/>
              <a:pathLst>
                <a:path w="9525" h="381000">
                  <a:moveTo>
                    <a:pt x="0" y="0"/>
                  </a:moveTo>
                  <a:lnTo>
                    <a:pt x="0" y="381000"/>
                  </a:lnTo>
                </a:path>
              </a:pathLst>
            </a:custGeom>
            <a:noFill/>
            <a:ln w="9525">
              <a:solidFill>
                <a:srgbClr val="DCE6F6"/>
              </a:solidFill>
            </a:ln>
          </p:spPr>
        </p:sp>
        <p:sp>
          <p:nvSpPr>
            <p:cNvPr id="159" name="TextBox 159"/>
            <p:cNvSpPr txBox="1"/>
            <p:nvPr/>
          </p:nvSpPr>
          <p:spPr>
            <a:xfrm>
              <a:off x="7138327" y="3104436"/>
              <a:ext cx="39184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预算投入</a:t>
              </a:r>
            </a:p>
          </p:txBody>
        </p:sp>
        <p:sp>
          <p:nvSpPr>
            <p:cNvPr id="160" name="TextBox 160"/>
            <p:cNvSpPr txBox="1"/>
            <p:nvPr/>
          </p:nvSpPr>
          <p:spPr>
            <a:xfrm>
              <a:off x="6685755" y="3248025"/>
              <a:ext cx="1296991"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 xml:space="preserve">   120</a:t>
              </a:r>
              <a:r>
                <a:rPr lang="zh-CN" sz="750" dirty="0">
                  <a:solidFill>
                    <a:srgbClr val="721E0D"/>
                  </a:solidFill>
                  <a:latin typeface="+mn-lt"/>
                  <a:ea typeface="+mn-ea"/>
                  <a:cs typeface="+mn-cs"/>
                </a:rPr>
                <a:t xml:space="preserve"> 万元</a:t>
              </a:r>
              <a:r>
                <a:rPr lang="zh-CN" sz="1500" b="1" dirty="0">
                  <a:solidFill>
                    <a:srgbClr val="721E0D"/>
                  </a:solidFill>
                  <a:latin typeface="+mn-lt"/>
                  <a:ea typeface="+mn-ea"/>
                  <a:cs typeface="+mn-cs"/>
                </a:rPr>
                <a:t xml:space="preserve">   </a:t>
              </a:r>
            </a:p>
          </p:txBody>
        </p:sp>
        <p:sp>
          <p:nvSpPr>
            <p:cNvPr id="161" name="Rectangle 161"/>
            <p:cNvSpPr/>
            <p:nvPr/>
          </p:nvSpPr>
          <p:spPr>
            <a:xfrm>
              <a:off x="4286250" y="3524250"/>
              <a:ext cx="3619500" cy="209550"/>
            </a:xfrm>
            <a:prstGeom prst="roundRect">
              <a:avLst>
                <a:gd name="adj" fmla="val 18182"/>
              </a:avLst>
            </a:prstGeom>
            <a:solidFill>
              <a:srgbClr val="EAF1FB"/>
            </a:solidFill>
            <a:ln>
              <a:noFill/>
            </a:ln>
          </p:spPr>
        </p:sp>
        <p:grpSp>
          <p:nvGrpSpPr>
            <p:cNvPr id="165" name="Group 165"/>
            <p:cNvGrpSpPr/>
            <p:nvPr/>
          </p:nvGrpSpPr>
          <p:grpSpPr>
            <a:xfrm>
              <a:off x="4376737" y="3579019"/>
              <a:ext cx="83344" cy="100012"/>
              <a:chOff x="4376737" y="3579019"/>
              <a:chExt cx="83344" cy="100012"/>
            </a:xfrm>
          </p:grpSpPr>
          <p:sp>
            <p:nvSpPr>
              <p:cNvPr id="162" name="Freeform 162"/>
              <p:cNvSpPr/>
              <p:nvPr/>
            </p:nvSpPr>
            <p:spPr>
              <a:xfrm>
                <a:off x="4387850" y="35790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721E0D"/>
                </a:solidFill>
              </a:ln>
            </p:spPr>
          </p:sp>
          <p:sp>
            <p:nvSpPr>
              <p:cNvPr id="163" name="Freeform 163"/>
              <p:cNvSpPr/>
              <p:nvPr/>
            </p:nvSpPr>
            <p:spPr>
              <a:xfrm>
                <a:off x="4376737" y="364569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721E0D"/>
                </a:solidFill>
              </a:ln>
            </p:spPr>
          </p:sp>
          <p:sp>
            <p:nvSpPr>
              <p:cNvPr id="164" name="Freeform 164"/>
              <p:cNvSpPr/>
              <p:nvPr/>
            </p:nvSpPr>
            <p:spPr>
              <a:xfrm>
                <a:off x="4426744" y="3656806"/>
                <a:ext cx="33337" cy="22225"/>
              </a:xfrm>
              <a:custGeom>
                <a:avLst/>
                <a:gdLst/>
                <a:ahLst/>
                <a:cxnLst/>
                <a:rect l="l" t="t" r="r" b="b"/>
                <a:pathLst>
                  <a:path w="33337" h="22225">
                    <a:moveTo>
                      <a:pt x="0" y="11112"/>
                    </a:moveTo>
                    <a:lnTo>
                      <a:pt x="11112" y="22225"/>
                    </a:lnTo>
                    <a:lnTo>
                      <a:pt x="33337" y="0"/>
                    </a:lnTo>
                  </a:path>
                </a:pathLst>
              </a:custGeom>
              <a:noFill/>
              <a:ln w="11112">
                <a:solidFill>
                  <a:srgbClr val="721E0D"/>
                </a:solidFill>
              </a:ln>
            </p:spPr>
          </p:sp>
        </p:grpSp>
        <p:sp>
          <p:nvSpPr>
            <p:cNvPr id="166" name="TextBox 166"/>
            <p:cNvSpPr txBox="1"/>
            <p:nvPr/>
          </p:nvSpPr>
          <p:spPr>
            <a:xfrm>
              <a:off x="4529138" y="3582114"/>
              <a:ext cx="2079624"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 xml:space="preserve">战役负责人：李娜（客户成功总监）      </a:t>
              </a:r>
            </a:p>
          </p:txBody>
        </p:sp>
        <p:sp>
          <p:nvSpPr>
            <p:cNvPr id="167" name="TextBox 167"/>
            <p:cNvSpPr txBox="1"/>
            <p:nvPr/>
          </p:nvSpPr>
          <p:spPr>
            <a:xfrm>
              <a:off x="4319588" y="3938588"/>
              <a:ext cx="295275" cy="271462"/>
            </a:xfrm>
            <a:prstGeom prst="rect">
              <a:avLst/>
            </a:prstGeom>
            <a:noFill/>
            <a:ln>
              <a:noFill/>
            </a:ln>
          </p:spPr>
          <p:txBody>
            <a:bodyPr wrap="none" lIns="0" tIns="0" rIns="0" bIns="0" anchor="t" anchorCtr="0">
              <a:spAutoFit/>
            </a:bodyPr>
            <a:lstStyle/>
            <a:p>
              <a:pPr algn="l">
                <a:lnSpc>
                  <a:spcPts val="975"/>
                </a:lnSpc>
              </a:pPr>
              <a:r>
                <a:rPr lang="zh-CN" sz="750" b="1" dirty="0">
                  <a:solidFill>
                    <a:srgbClr val="721E0D"/>
                  </a:solidFill>
                  <a:latin typeface="+mn-lt"/>
                  <a:ea typeface="+mn-ea"/>
                  <a:cs typeface="+mn-cs"/>
                </a:rPr>
                <a:t>关键</a:t>
              </a:r>
              <a:br/>
              <a:r>
                <a:rPr lang="zh-CN" sz="750" b="1" dirty="0">
                  <a:solidFill>
                    <a:srgbClr val="721E0D"/>
                  </a:solidFill>
                  <a:latin typeface="+mn-lt"/>
                  <a:ea typeface="+mn-ea"/>
                  <a:cs typeface="+mn-cs"/>
                </a:rPr>
                <a:t>里程碑</a:t>
              </a:r>
            </a:p>
          </p:txBody>
        </p:sp>
        <p:sp>
          <p:nvSpPr>
            <p:cNvPr id="168" name="Line 168"/>
            <p:cNvSpPr/>
            <p:nvPr/>
          </p:nvSpPr>
          <p:spPr>
            <a:xfrm>
              <a:off x="4857750" y="4019550"/>
              <a:ext cx="3048000" cy="9525"/>
            </a:xfrm>
            <a:custGeom>
              <a:avLst/>
              <a:gdLst/>
              <a:ahLst/>
              <a:cxnLst/>
              <a:rect l="l" t="t" r="r" b="b"/>
              <a:pathLst>
                <a:path w="3048000" h="9525">
                  <a:moveTo>
                    <a:pt x="0" y="0"/>
                  </a:moveTo>
                  <a:lnTo>
                    <a:pt x="3048000" y="0"/>
                  </a:lnTo>
                </a:path>
              </a:pathLst>
            </a:custGeom>
            <a:noFill/>
            <a:ln w="14288">
              <a:solidFill>
                <a:srgbClr val="C9D6EE"/>
              </a:solidFill>
              <a:custDash>
                <a:ds d="266667" sp="200000"/>
              </a:custDash>
            </a:ln>
          </p:spPr>
        </p:sp>
        <p:sp>
          <p:nvSpPr>
            <p:cNvPr id="169" name="Ellipse 169"/>
            <p:cNvSpPr/>
            <p:nvPr/>
          </p:nvSpPr>
          <p:spPr>
            <a:xfrm>
              <a:off x="4981575" y="3952875"/>
              <a:ext cx="133350" cy="133350"/>
            </a:xfrm>
            <a:prstGeom prst="ellipse">
              <a:avLst/>
            </a:prstGeom>
            <a:solidFill>
              <a:srgbClr val="721E0D"/>
            </a:solidFill>
            <a:ln>
              <a:noFill/>
            </a:ln>
          </p:spPr>
        </p:sp>
        <p:sp>
          <p:nvSpPr>
            <p:cNvPr id="170" name="Freeform 170"/>
            <p:cNvSpPr/>
            <p:nvPr/>
          </p:nvSpPr>
          <p:spPr>
            <a:xfrm>
              <a:off x="5020469" y="3999706"/>
              <a:ext cx="59531" cy="39688"/>
            </a:xfrm>
            <a:custGeom>
              <a:avLst/>
              <a:gdLst/>
              <a:ahLst/>
              <a:cxnLst/>
              <a:rect l="l" t="t" r="r" b="b"/>
              <a:pathLst>
                <a:path w="59531" h="39688">
                  <a:moveTo>
                    <a:pt x="0" y="19844"/>
                  </a:moveTo>
                  <a:lnTo>
                    <a:pt x="19844" y="39688"/>
                  </a:lnTo>
                  <a:lnTo>
                    <a:pt x="59531" y="0"/>
                  </a:lnTo>
                </a:path>
              </a:pathLst>
            </a:custGeom>
            <a:noFill/>
            <a:ln w="7938">
              <a:solidFill>
                <a:srgbClr val="FFFFFF"/>
              </a:solidFill>
            </a:ln>
          </p:spPr>
        </p:sp>
        <p:sp>
          <p:nvSpPr>
            <p:cNvPr id="171" name="TextBox 171"/>
            <p:cNvSpPr txBox="1"/>
            <p:nvPr/>
          </p:nvSpPr>
          <p:spPr>
            <a:xfrm>
              <a:off x="487117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需求澄清</a:t>
              </a:r>
            </a:p>
          </p:txBody>
        </p:sp>
        <p:sp>
          <p:nvSpPr>
            <p:cNvPr id="172" name="TextBox 172"/>
            <p:cNvSpPr txBox="1"/>
            <p:nvPr/>
          </p:nvSpPr>
          <p:spPr>
            <a:xfrm>
              <a:off x="4914252" y="4255532"/>
              <a:ext cx="267995"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已完成</a:t>
              </a:r>
            </a:p>
          </p:txBody>
        </p:sp>
        <p:sp>
          <p:nvSpPr>
            <p:cNvPr id="173" name="Ellipse 173"/>
            <p:cNvSpPr/>
            <p:nvPr/>
          </p:nvSpPr>
          <p:spPr>
            <a:xfrm>
              <a:off x="5648325" y="3952875"/>
              <a:ext cx="133350" cy="133350"/>
            </a:xfrm>
            <a:prstGeom prst="ellipse">
              <a:avLst/>
            </a:prstGeom>
            <a:solidFill>
              <a:srgbClr val="721E0D"/>
            </a:solidFill>
            <a:ln>
              <a:noFill/>
            </a:ln>
          </p:spPr>
        </p:sp>
        <p:sp>
          <p:nvSpPr>
            <p:cNvPr id="174" name="Freeform 174"/>
            <p:cNvSpPr/>
            <p:nvPr/>
          </p:nvSpPr>
          <p:spPr>
            <a:xfrm>
              <a:off x="5687219" y="3999706"/>
              <a:ext cx="59531" cy="39688"/>
            </a:xfrm>
            <a:custGeom>
              <a:avLst/>
              <a:gdLst/>
              <a:ahLst/>
              <a:cxnLst/>
              <a:rect l="l" t="t" r="r" b="b"/>
              <a:pathLst>
                <a:path w="59531" h="39688">
                  <a:moveTo>
                    <a:pt x="0" y="19844"/>
                  </a:moveTo>
                  <a:lnTo>
                    <a:pt x="19844" y="39688"/>
                  </a:lnTo>
                  <a:lnTo>
                    <a:pt x="59531" y="0"/>
                  </a:lnTo>
                </a:path>
              </a:pathLst>
            </a:custGeom>
            <a:noFill/>
            <a:ln w="7938">
              <a:solidFill>
                <a:srgbClr val="FFFFFF"/>
              </a:solidFill>
            </a:ln>
          </p:spPr>
        </p:sp>
        <p:sp>
          <p:nvSpPr>
            <p:cNvPr id="175" name="TextBox 175"/>
            <p:cNvSpPr txBox="1"/>
            <p:nvPr/>
          </p:nvSpPr>
          <p:spPr>
            <a:xfrm>
              <a:off x="553792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方案设计</a:t>
              </a:r>
            </a:p>
          </p:txBody>
        </p:sp>
        <p:sp>
          <p:nvSpPr>
            <p:cNvPr id="176" name="TextBox 176"/>
            <p:cNvSpPr txBox="1"/>
            <p:nvPr/>
          </p:nvSpPr>
          <p:spPr>
            <a:xfrm>
              <a:off x="5581002" y="4255532"/>
              <a:ext cx="267995"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已完成</a:t>
              </a:r>
            </a:p>
          </p:txBody>
        </p:sp>
        <p:sp>
          <p:nvSpPr>
            <p:cNvPr id="177" name="Ellipse 177"/>
            <p:cNvSpPr/>
            <p:nvPr/>
          </p:nvSpPr>
          <p:spPr>
            <a:xfrm>
              <a:off x="6315075" y="3952875"/>
              <a:ext cx="133350" cy="133350"/>
            </a:xfrm>
            <a:prstGeom prst="ellipse">
              <a:avLst/>
            </a:prstGeom>
            <a:solidFill>
              <a:srgbClr val="B8351A"/>
            </a:solidFill>
            <a:ln>
              <a:noFill/>
            </a:ln>
          </p:spPr>
        </p:sp>
        <p:sp>
          <p:nvSpPr>
            <p:cNvPr id="178" name="TextBox 178"/>
            <p:cNvSpPr txBox="1"/>
            <p:nvPr/>
          </p:nvSpPr>
          <p:spPr>
            <a:xfrm>
              <a:off x="620467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试点上线</a:t>
              </a:r>
            </a:p>
          </p:txBody>
        </p:sp>
        <p:sp>
          <p:nvSpPr>
            <p:cNvPr id="179" name="TextBox 179"/>
            <p:cNvSpPr txBox="1"/>
            <p:nvPr/>
          </p:nvSpPr>
          <p:spPr>
            <a:xfrm>
              <a:off x="6116363" y="4255532"/>
              <a:ext cx="530774"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 xml:space="preserve">  2025.06  </a:t>
              </a:r>
            </a:p>
          </p:txBody>
        </p:sp>
        <p:sp>
          <p:nvSpPr>
            <p:cNvPr id="180" name="Ellipse 180"/>
            <p:cNvSpPr/>
            <p:nvPr/>
          </p:nvSpPr>
          <p:spPr>
            <a:xfrm>
              <a:off x="6991350" y="3962400"/>
              <a:ext cx="114300" cy="114300"/>
            </a:xfrm>
            <a:prstGeom prst="ellipse">
              <a:avLst/>
            </a:prstGeom>
            <a:solidFill>
              <a:srgbClr val="FFFFFF"/>
            </a:solidFill>
            <a:ln w="14288">
              <a:solidFill>
                <a:srgbClr val="B8351A"/>
              </a:solidFill>
            </a:ln>
          </p:spPr>
        </p:sp>
        <p:sp>
          <p:nvSpPr>
            <p:cNvPr id="181" name="TextBox 181"/>
            <p:cNvSpPr txBox="1"/>
            <p:nvPr/>
          </p:nvSpPr>
          <p:spPr>
            <a:xfrm>
              <a:off x="687142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规模推广</a:t>
              </a:r>
            </a:p>
          </p:txBody>
        </p:sp>
        <p:sp>
          <p:nvSpPr>
            <p:cNvPr id="182" name="TextBox 182"/>
            <p:cNvSpPr txBox="1"/>
            <p:nvPr/>
          </p:nvSpPr>
          <p:spPr>
            <a:xfrm>
              <a:off x="6783113" y="4255532"/>
              <a:ext cx="530774"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 xml:space="preserve">  2025.08  </a:t>
              </a:r>
            </a:p>
          </p:txBody>
        </p:sp>
        <p:sp>
          <p:nvSpPr>
            <p:cNvPr id="183" name="Ellipse 183"/>
            <p:cNvSpPr/>
            <p:nvPr/>
          </p:nvSpPr>
          <p:spPr>
            <a:xfrm>
              <a:off x="7658100" y="3962400"/>
              <a:ext cx="114300" cy="114300"/>
            </a:xfrm>
            <a:prstGeom prst="ellipse">
              <a:avLst/>
            </a:prstGeom>
            <a:solidFill>
              <a:srgbClr val="FFFFFF"/>
            </a:solidFill>
            <a:ln w="14288">
              <a:solidFill>
                <a:srgbClr val="B8351A"/>
              </a:solidFill>
            </a:ln>
          </p:spPr>
        </p:sp>
        <p:sp>
          <p:nvSpPr>
            <p:cNvPr id="184" name="TextBox 184"/>
            <p:cNvSpPr txBox="1"/>
            <p:nvPr/>
          </p:nvSpPr>
          <p:spPr>
            <a:xfrm>
              <a:off x="753817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全面交付</a:t>
              </a:r>
            </a:p>
          </p:txBody>
        </p:sp>
        <p:sp>
          <p:nvSpPr>
            <p:cNvPr id="185" name="TextBox 185"/>
            <p:cNvSpPr txBox="1"/>
            <p:nvPr/>
          </p:nvSpPr>
          <p:spPr>
            <a:xfrm>
              <a:off x="7449863" y="4255532"/>
              <a:ext cx="530774"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 xml:space="preserve">  2025.10  </a:t>
              </a:r>
            </a:p>
          </p:txBody>
        </p:sp>
        <p:sp>
          <p:nvSpPr>
            <p:cNvPr id="186" name="Line 186"/>
            <p:cNvSpPr/>
            <p:nvPr/>
          </p:nvSpPr>
          <p:spPr>
            <a:xfrm>
              <a:off x="4286250" y="4438650"/>
              <a:ext cx="3619500" cy="9525"/>
            </a:xfrm>
            <a:custGeom>
              <a:avLst/>
              <a:gdLst/>
              <a:ahLst/>
              <a:cxnLst/>
              <a:rect l="l" t="t" r="r" b="b"/>
              <a:pathLst>
                <a:path w="3619500" h="9525">
                  <a:moveTo>
                    <a:pt x="0" y="0"/>
                  </a:moveTo>
                  <a:lnTo>
                    <a:pt x="3619500" y="0"/>
                  </a:lnTo>
                </a:path>
              </a:pathLst>
            </a:custGeom>
            <a:noFill/>
            <a:ln w="9525">
              <a:solidFill>
                <a:srgbClr val="E6EAF2"/>
              </a:solidFill>
            </a:ln>
          </p:spPr>
        </p:sp>
        <p:sp>
          <p:nvSpPr>
            <p:cNvPr id="187" name="TextBox 187"/>
            <p:cNvSpPr txBox="1"/>
            <p:nvPr/>
          </p:nvSpPr>
          <p:spPr>
            <a:xfrm>
              <a:off x="4319588" y="4852988"/>
              <a:ext cx="200025" cy="271462"/>
            </a:xfrm>
            <a:prstGeom prst="rect">
              <a:avLst/>
            </a:prstGeom>
            <a:noFill/>
            <a:ln>
              <a:noFill/>
            </a:ln>
          </p:spPr>
          <p:txBody>
            <a:bodyPr wrap="none" lIns="0" tIns="0" rIns="0" bIns="0" anchor="t" anchorCtr="0">
              <a:spAutoFit/>
            </a:bodyPr>
            <a:lstStyle/>
            <a:p>
              <a:pPr algn="l">
                <a:lnSpc>
                  <a:spcPts val="975"/>
                </a:lnSpc>
              </a:pPr>
              <a:r>
                <a:rPr lang="zh-CN" sz="750" b="1" dirty="0">
                  <a:solidFill>
                    <a:srgbClr val="721E0D"/>
                  </a:solidFill>
                  <a:latin typeface="+mn-lt"/>
                  <a:ea typeface="+mn-ea"/>
                  <a:cs typeface="+mn-cs"/>
                </a:rPr>
                <a:t>赢单</a:t>
              </a:r>
              <a:br/>
              <a:r>
                <a:rPr lang="zh-CN" sz="750" b="1" dirty="0">
                  <a:solidFill>
                    <a:srgbClr val="721E0D"/>
                  </a:solidFill>
                  <a:latin typeface="+mn-lt"/>
                  <a:ea typeface="+mn-ea"/>
                  <a:cs typeface="+mn-cs"/>
                </a:rPr>
                <a:t>概率</a:t>
              </a:r>
            </a:p>
          </p:txBody>
        </p:sp>
        <p:sp>
          <p:nvSpPr>
            <p:cNvPr id="188" name="Ellipse 188"/>
            <p:cNvSpPr/>
            <p:nvPr/>
          </p:nvSpPr>
          <p:spPr>
            <a:xfrm>
              <a:off x="4857750" y="4857750"/>
              <a:ext cx="419100" cy="419100"/>
            </a:xfrm>
            <a:prstGeom prst="ellipse">
              <a:avLst/>
            </a:prstGeom>
            <a:noFill/>
            <a:ln w="114300">
              <a:solidFill>
                <a:srgbClr val="E3EBF8"/>
              </a:solidFill>
            </a:ln>
          </p:spPr>
        </p:sp>
        <p:sp>
          <p:nvSpPr>
            <p:cNvPr id="189" name="Freeform 189"/>
            <p:cNvSpPr/>
            <p:nvPr/>
          </p:nvSpPr>
          <p:spPr>
            <a:xfrm>
              <a:off x="4800600" y="4800600"/>
              <a:ext cx="533400" cy="533400"/>
            </a:xfrm>
            <a:prstGeom prst="blockArc">
              <a:avLst>
                <a:gd name="adj1" fmla="val 16200000"/>
                <a:gd name="adj2" fmla="val 6480000"/>
                <a:gd name="adj3" fmla="val 21400"/>
              </a:avLst>
            </a:prstGeom>
            <a:solidFill>
              <a:srgbClr val="B8351A"/>
            </a:solidFill>
            <a:ln>
              <a:noFill/>
            </a:ln>
          </p:spPr>
        </p:sp>
        <p:sp>
          <p:nvSpPr>
            <p:cNvPr id="190" name="TextBox 190"/>
            <p:cNvSpPr txBox="1"/>
            <p:nvPr/>
          </p:nvSpPr>
          <p:spPr>
            <a:xfrm>
              <a:off x="4781836" y="5009674"/>
              <a:ext cx="570928"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55%  </a:t>
              </a:r>
            </a:p>
          </p:txBody>
        </p:sp>
        <p:sp>
          <p:nvSpPr>
            <p:cNvPr id="191" name="TextBox 191"/>
            <p:cNvSpPr txBox="1"/>
            <p:nvPr/>
          </p:nvSpPr>
          <p:spPr>
            <a:xfrm>
              <a:off x="5519738" y="4582239"/>
              <a:ext cx="434924"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关键胜因</a:t>
              </a:r>
            </a:p>
          </p:txBody>
        </p:sp>
        <p:sp>
          <p:nvSpPr>
            <p:cNvPr id="192" name="TextBox 192"/>
            <p:cNvSpPr txBox="1"/>
            <p:nvPr/>
          </p:nvSpPr>
          <p:spPr>
            <a:xfrm>
              <a:off x="5519738" y="4784884"/>
              <a:ext cx="862965" cy="438150"/>
            </a:xfrm>
            <a:prstGeom prst="rect">
              <a:avLst/>
            </a:prstGeom>
            <a:noFill/>
            <a:ln>
              <a:noFill/>
            </a:ln>
          </p:spPr>
          <p:txBody>
            <a:bodyPr wrap="none" lIns="0" tIns="0" rIns="0" bIns="0" anchor="t" anchorCtr="0">
              <a:spAutoFit/>
            </a:bodyPr>
            <a:lstStyle/>
            <a:p>
              <a:pPr algn="l" marL="76200" indent="-76200">
                <a:lnSpc>
                  <a:spcPts val="1200"/>
                </a:lnSpc>
                <a:buClr>
                  <a:srgbClr val="523E3A"/>
                </a:buClr>
                <a:buSzTx/>
                <a:buFontTx/>
                <a:buChar char="•"/>
              </a:pPr>
              <a:r>
                <a:rPr lang="zh-CN" sz="680" dirty="0">
                  <a:solidFill>
                    <a:srgbClr val="523E3A"/>
                  </a:solidFill>
                  <a:latin typeface="+mn-lt"/>
                  <a:ea typeface="+mn-ea"/>
                  <a:cs typeface="+mn-cs"/>
                </a:rPr>
                <a:t>连锁行业方案成熟</a:t>
              </a:r>
            </a:p>
            <a:p>
              <a:pPr algn="l" marL="76200" indent="-76200">
                <a:lnSpc>
                  <a:spcPts val="1200"/>
                </a:lnSpc>
                <a:buClr>
                  <a:srgbClr val="523E3A"/>
                </a:buClr>
                <a:buSzTx/>
                <a:buFontTx/>
                <a:buChar char="•"/>
              </a:pPr>
              <a:r>
                <a:rPr lang="zh-CN" sz="680" dirty="0">
                  <a:solidFill>
                    <a:srgbClr val="523E3A"/>
                  </a:solidFill>
                  <a:latin typeface="+mn-lt"/>
                  <a:ea typeface="+mn-ea"/>
                  <a:cs typeface="+mn-cs"/>
                </a:rPr>
                <a:t>可快速看到运营效果</a:t>
              </a:r>
            </a:p>
            <a:p>
              <a:pPr algn="l" marL="76200" indent="-76200">
                <a:lnSpc>
                  <a:spcPts val="1200"/>
                </a:lnSpc>
                <a:buClr>
                  <a:srgbClr val="523E3A"/>
                </a:buClr>
                <a:buSzTx/>
                <a:buFontTx/>
                <a:buChar char="•"/>
              </a:pPr>
              <a:r>
                <a:rPr lang="zh-CN" sz="680" dirty="0">
                  <a:solidFill>
                    <a:srgbClr val="523E3A"/>
                  </a:solidFill>
                  <a:latin typeface="+mn-lt"/>
                  <a:ea typeface="+mn-ea"/>
                  <a:cs typeface="+mn-cs"/>
                </a:rPr>
                <a:t>决策链条清晰</a:t>
              </a:r>
            </a:p>
          </p:txBody>
        </p:sp>
        <p:grpSp>
          <p:nvGrpSpPr>
            <p:cNvPr id="196" name="Group 196"/>
            <p:cNvGrpSpPr/>
            <p:nvPr/>
          </p:nvGrpSpPr>
          <p:grpSpPr>
            <a:xfrm>
              <a:off x="6906740" y="4577298"/>
              <a:ext cx="112066" cy="96280"/>
              <a:chOff x="6906740" y="4577298"/>
              <a:chExt cx="112066" cy="96280"/>
            </a:xfrm>
          </p:grpSpPr>
          <p:sp>
            <p:nvSpPr>
              <p:cNvPr id="193" name="Freeform 193"/>
              <p:cNvSpPr/>
              <p:nvPr/>
            </p:nvSpPr>
            <p:spPr>
              <a:xfrm>
                <a:off x="6962775" y="4612481"/>
                <a:ext cx="9525" cy="22225"/>
              </a:xfrm>
              <a:custGeom>
                <a:avLst/>
                <a:gdLst/>
                <a:ahLst/>
                <a:cxnLst/>
                <a:rect l="l" t="t" r="r" b="b"/>
                <a:pathLst>
                  <a:path w="9525" h="22225">
                    <a:moveTo>
                      <a:pt x="0" y="0"/>
                    </a:moveTo>
                    <a:lnTo>
                      <a:pt x="0" y="22225"/>
                    </a:lnTo>
                  </a:path>
                </a:pathLst>
              </a:custGeom>
              <a:noFill/>
              <a:ln w="11112">
                <a:solidFill>
                  <a:srgbClr val="C03616"/>
                </a:solidFill>
              </a:ln>
            </p:spPr>
          </p:sp>
          <p:sp>
            <p:nvSpPr>
              <p:cNvPr id="194" name="Freeform 194"/>
              <p:cNvSpPr/>
              <p:nvPr/>
            </p:nvSpPr>
            <p:spPr>
              <a:xfrm>
                <a:off x="6906740" y="4577298"/>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C03616"/>
                </a:solidFill>
              </a:ln>
            </p:spPr>
          </p:sp>
          <p:sp>
            <p:nvSpPr>
              <p:cNvPr id="195" name="Freeform 195"/>
              <p:cNvSpPr/>
              <p:nvPr/>
            </p:nvSpPr>
            <p:spPr>
              <a:xfrm>
                <a:off x="6962775" y="4651375"/>
                <a:ext cx="9525" cy="9525"/>
              </a:xfrm>
              <a:custGeom>
                <a:avLst/>
                <a:gdLst/>
                <a:ahLst/>
                <a:cxnLst/>
                <a:rect l="l" t="t" r="r" b="b"/>
                <a:pathLst>
                  <a:path w="9525" h="9525">
                    <a:moveTo>
                      <a:pt x="0" y="0"/>
                    </a:moveTo>
                    <a:lnTo>
                      <a:pt x="56" y="0"/>
                    </a:lnTo>
                  </a:path>
                </a:pathLst>
              </a:custGeom>
              <a:noFill/>
              <a:ln w="11112">
                <a:solidFill>
                  <a:srgbClr val="C03616"/>
                </a:solidFill>
              </a:ln>
            </p:spPr>
          </p:sp>
        </p:grpSp>
        <p:sp>
          <p:nvSpPr>
            <p:cNvPr id="197" name="TextBox 197"/>
            <p:cNvSpPr txBox="1"/>
            <p:nvPr/>
          </p:nvSpPr>
          <p:spPr>
            <a:xfrm>
              <a:off x="7062788" y="4582239"/>
              <a:ext cx="434924" cy="154781"/>
            </a:xfrm>
            <a:prstGeom prst="rect">
              <a:avLst/>
            </a:prstGeom>
            <a:noFill/>
            <a:ln>
              <a:noFill/>
            </a:ln>
          </p:spPr>
          <p:txBody>
            <a:bodyPr wrap="none" lIns="0" tIns="0" rIns="0" bIns="0" anchor="t" anchorCtr="0">
              <a:spAutoFit/>
            </a:bodyPr>
            <a:lstStyle/>
            <a:p>
              <a:pPr algn="l"/>
              <a:r>
                <a:rPr lang="zh-CN" sz="790" b="1" dirty="0">
                  <a:solidFill>
                    <a:srgbClr val="C03616"/>
                  </a:solidFill>
                  <a:latin typeface="+mn-lt"/>
                  <a:ea typeface="+mn-ea"/>
                  <a:cs typeface="+mn-cs"/>
                </a:rPr>
                <a:t>主要风险</a:t>
              </a:r>
            </a:p>
          </p:txBody>
        </p:sp>
        <p:sp>
          <p:nvSpPr>
            <p:cNvPr id="198" name="TextBox 198"/>
            <p:cNvSpPr txBox="1"/>
            <p:nvPr/>
          </p:nvSpPr>
          <p:spPr>
            <a:xfrm>
              <a:off x="6891338" y="4784884"/>
              <a:ext cx="862965" cy="285750"/>
            </a:xfrm>
            <a:prstGeom prst="rect">
              <a:avLst/>
            </a:prstGeom>
            <a:noFill/>
            <a:ln>
              <a:noFill/>
            </a:ln>
          </p:spPr>
          <p:txBody>
            <a:bodyPr wrap="none" lIns="0" tIns="0" rIns="0" bIns="0" anchor="t" anchorCtr="0">
              <a:spAutoFit/>
            </a:bodyPr>
            <a:lstStyle/>
            <a:p>
              <a:pPr algn="l" marL="76200" indent="-76200">
                <a:lnSpc>
                  <a:spcPts val="1200"/>
                </a:lnSpc>
                <a:buClr>
                  <a:srgbClr val="523E3A"/>
                </a:buClr>
                <a:buSzTx/>
                <a:buFontTx/>
                <a:buChar char="•"/>
              </a:pPr>
              <a:r>
                <a:rPr lang="zh-CN" sz="680" dirty="0">
                  <a:solidFill>
                    <a:srgbClr val="523E3A"/>
                  </a:solidFill>
                  <a:latin typeface="+mn-lt"/>
                  <a:ea typeface="+mn-ea"/>
                  <a:cs typeface="+mn-cs"/>
                </a:rPr>
                <a:t>试点效果不及预期</a:t>
              </a:r>
            </a:p>
            <a:p>
              <a:pPr algn="l" marL="76200" indent="-76200">
                <a:lnSpc>
                  <a:spcPts val="1200"/>
                </a:lnSpc>
                <a:buClr>
                  <a:srgbClr val="523E3A"/>
                </a:buClr>
                <a:buSzTx/>
                <a:buFontTx/>
                <a:buChar char="•"/>
              </a:pPr>
              <a:r>
                <a:rPr lang="zh-CN" sz="680" dirty="0">
                  <a:solidFill>
                    <a:srgbClr val="523E3A"/>
                  </a:solidFill>
                  <a:latin typeface="+mn-lt"/>
                  <a:ea typeface="+mn-ea"/>
                  <a:cs typeface="+mn-cs"/>
                </a:rPr>
                <a:t>多系统集成复杂度高</a:t>
              </a:r>
            </a:p>
          </p:txBody>
        </p:sp>
      </p:grpSp>
      <p:grpSp>
        <p:nvGrpSpPr>
          <p:cNvPr id="254" name="battle-card-c"/>
          <p:cNvGrpSpPr/>
          <p:nvPr/>
        </p:nvGrpSpPr>
        <p:grpSpPr>
          <a:xfrm>
            <a:off x="8153400" y="2686050"/>
            <a:ext cx="3810000" cy="3143250"/>
            <a:chOff x="8153400" y="2686050"/>
            <a:chExt cx="3810000" cy="3143250"/>
          </a:xfrm>
        </p:grpSpPr>
        <p:sp>
          <p:nvSpPr>
            <p:cNvPr id="200" name="Rectangle 200"/>
            <p:cNvSpPr/>
            <p:nvPr/>
          </p:nvSpPr>
          <p:spPr>
            <a:xfrm>
              <a:off x="8153400" y="2686050"/>
              <a:ext cx="3810000" cy="3143250"/>
            </a:xfrm>
            <a:prstGeom prst="roundRect">
              <a:avLst>
                <a:gd name="adj" fmla="val 3030"/>
              </a:avLst>
            </a:prstGeom>
            <a:solidFill>
              <a:srgbClr val="FFFFFF"/>
            </a:solidFill>
            <a:ln w="14288">
              <a:solidFill>
                <a:srgbClr val="C9D6EE"/>
              </a:solidFill>
            </a:ln>
          </p:spPr>
        </p:sp>
        <p:sp>
          <p:nvSpPr>
            <p:cNvPr id="201" name="Freeform 201"/>
            <p:cNvSpPr/>
            <p:nvPr/>
          </p:nvSpPr>
          <p:spPr>
            <a:xfrm>
              <a:off x="8153400" y="2686050"/>
              <a:ext cx="3810000" cy="285750"/>
            </a:xfrm>
            <a:custGeom>
              <a:avLst/>
              <a:gdLst/>
              <a:ahLst/>
              <a:cxnLst/>
              <a:rect l="l" t="t" r="r" b="b"/>
              <a:pathLst>
                <a:path w="3810000" h="285750">
                  <a:moveTo>
                    <a:pt x="95250" y="0"/>
                  </a:moveTo>
                  <a:lnTo>
                    <a:pt x="3714750" y="0"/>
                  </a:lnTo>
                  <a:cubicBezTo>
                    <a:pt x="3767355" y="0"/>
                    <a:pt x="3810000" y="42645"/>
                    <a:pt x="3810000" y="95250"/>
                  </a:cubicBezTo>
                  <a:lnTo>
                    <a:pt x="3810000" y="285750"/>
                  </a:lnTo>
                  <a:lnTo>
                    <a:pt x="0" y="285750"/>
                  </a:lnTo>
                  <a:lnTo>
                    <a:pt x="0" y="95250"/>
                  </a:lnTo>
                  <a:cubicBezTo>
                    <a:pt x="0" y="42645"/>
                    <a:pt x="42645" y="0"/>
                    <a:pt x="95250" y="0"/>
                  </a:cubicBezTo>
                  <a:close/>
                </a:path>
              </a:pathLst>
            </a:custGeom>
            <a:solidFill>
              <a:srgbClr val="721E0D"/>
            </a:solidFill>
            <a:ln>
              <a:noFill/>
            </a:ln>
          </p:spPr>
        </p:sp>
        <p:grpSp>
          <p:nvGrpSpPr>
            <p:cNvPr id="206" name="Group 206"/>
            <p:cNvGrpSpPr/>
            <p:nvPr/>
          </p:nvGrpSpPr>
          <p:grpSpPr>
            <a:xfrm>
              <a:off x="8289131" y="2764631"/>
              <a:ext cx="128588" cy="128588"/>
              <a:chOff x="8289131" y="2764631"/>
              <a:chExt cx="128588" cy="128588"/>
            </a:xfrm>
          </p:grpSpPr>
          <p:sp>
            <p:nvSpPr>
              <p:cNvPr id="202" name="Freeform 202"/>
              <p:cNvSpPr/>
              <p:nvPr/>
            </p:nvSpPr>
            <p:spPr>
              <a:xfrm>
                <a:off x="8289131" y="2764631"/>
                <a:ext cx="128588" cy="128588"/>
              </a:xfrm>
              <a:custGeom>
                <a:avLst/>
                <a:gdLst/>
                <a:ahLst/>
                <a:cxnLst/>
                <a:rect l="l" t="t" r="r" b="b"/>
                <a:pathLst>
                  <a:path w="128588" h="128588">
                    <a:moveTo>
                      <a:pt x="128588" y="0"/>
                    </a:moveTo>
                    <a:lnTo>
                      <a:pt x="128588" y="35719"/>
                    </a:lnTo>
                    <a:lnTo>
                      <a:pt x="50006" y="100012"/>
                    </a:lnTo>
                    <a:lnTo>
                      <a:pt x="21431" y="128588"/>
                    </a:lnTo>
                    <a:lnTo>
                      <a:pt x="0" y="107156"/>
                    </a:lnTo>
                    <a:lnTo>
                      <a:pt x="28575" y="78581"/>
                    </a:lnTo>
                    <a:lnTo>
                      <a:pt x="92869" y="0"/>
                    </a:lnTo>
                    <a:lnTo>
                      <a:pt x="128588" y="0"/>
                    </a:lnTo>
                  </a:path>
                </a:pathLst>
              </a:custGeom>
              <a:noFill/>
              <a:ln w="14288">
                <a:solidFill>
                  <a:srgbClr val="FFFFFF"/>
                </a:solidFill>
              </a:ln>
            </p:spPr>
          </p:sp>
          <p:sp>
            <p:nvSpPr>
              <p:cNvPr id="203" name="Freeform 203"/>
              <p:cNvSpPr/>
              <p:nvPr/>
            </p:nvSpPr>
            <p:spPr>
              <a:xfrm>
                <a:off x="8303419" y="2836069"/>
                <a:ext cx="42862" cy="42862"/>
              </a:xfrm>
              <a:custGeom>
                <a:avLst/>
                <a:gdLst/>
                <a:ahLst/>
                <a:cxnLst/>
                <a:rect l="l" t="t" r="r" b="b"/>
                <a:pathLst>
                  <a:path w="42862" h="42862">
                    <a:moveTo>
                      <a:pt x="0" y="0"/>
                    </a:moveTo>
                    <a:lnTo>
                      <a:pt x="42862" y="42862"/>
                    </a:lnTo>
                  </a:path>
                </a:pathLst>
              </a:custGeom>
              <a:noFill/>
              <a:ln w="14288">
                <a:solidFill>
                  <a:srgbClr val="FFFFFF"/>
                </a:solidFill>
              </a:ln>
            </p:spPr>
          </p:sp>
          <p:sp>
            <p:nvSpPr>
              <p:cNvPr id="204" name="Freeform 204"/>
              <p:cNvSpPr/>
              <p:nvPr/>
            </p:nvSpPr>
            <p:spPr>
              <a:xfrm>
                <a:off x="8369998" y="2847749"/>
                <a:ext cx="47720" cy="45470"/>
              </a:xfrm>
              <a:custGeom>
                <a:avLst/>
                <a:gdLst/>
                <a:ahLst/>
                <a:cxnLst/>
                <a:rect l="l" t="t" r="r" b="b"/>
                <a:pathLst>
                  <a:path w="47720" h="45470">
                    <a:moveTo>
                      <a:pt x="0" y="19181"/>
                    </a:moveTo>
                    <a:lnTo>
                      <a:pt x="26289" y="45470"/>
                    </a:lnTo>
                    <a:lnTo>
                      <a:pt x="47720" y="24039"/>
                    </a:lnTo>
                    <a:lnTo>
                      <a:pt x="23682" y="0"/>
                    </a:lnTo>
                  </a:path>
                </a:pathLst>
              </a:custGeom>
              <a:noFill/>
              <a:ln w="14288">
                <a:solidFill>
                  <a:srgbClr val="FFFFFF"/>
                </a:solidFill>
              </a:ln>
            </p:spPr>
          </p:sp>
          <p:sp>
            <p:nvSpPr>
              <p:cNvPr id="205" name="Freeform 205"/>
              <p:cNvSpPr/>
              <p:nvPr/>
            </p:nvSpPr>
            <p:spPr>
              <a:xfrm>
                <a:off x="8289131" y="2764631"/>
                <a:ext cx="50006" cy="53578"/>
              </a:xfrm>
              <a:custGeom>
                <a:avLst/>
                <a:gdLst/>
                <a:ahLst/>
                <a:cxnLst/>
                <a:rect l="l" t="t" r="r" b="b"/>
                <a:pathLst>
                  <a:path w="50006" h="53578">
                    <a:moveTo>
                      <a:pt x="50006" y="17859"/>
                    </a:moveTo>
                    <a:lnTo>
                      <a:pt x="35719" y="0"/>
                    </a:lnTo>
                    <a:lnTo>
                      <a:pt x="0" y="0"/>
                    </a:lnTo>
                    <a:lnTo>
                      <a:pt x="0" y="35719"/>
                    </a:lnTo>
                    <a:lnTo>
                      <a:pt x="21431" y="53578"/>
                    </a:lnTo>
                  </a:path>
                </a:pathLst>
              </a:custGeom>
              <a:noFill/>
              <a:ln w="14288">
                <a:solidFill>
                  <a:srgbClr val="FFFFFF"/>
                </a:solidFill>
              </a:ln>
            </p:spPr>
          </p:sp>
        </p:grpSp>
        <p:sp>
          <p:nvSpPr>
            <p:cNvPr id="207" name="TextBox 207"/>
            <p:cNvSpPr txBox="1"/>
            <p:nvPr/>
          </p:nvSpPr>
          <p:spPr>
            <a:xfrm>
              <a:off x="8510206" y="2767251"/>
              <a:ext cx="2060003"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 xml:space="preserve">战役C：核心客户续约升级      </a:t>
              </a:r>
            </a:p>
          </p:txBody>
        </p:sp>
        <p:sp>
          <p:nvSpPr>
            <p:cNvPr id="208" name="TextBox 208"/>
            <p:cNvSpPr txBox="1"/>
            <p:nvPr/>
          </p:nvSpPr>
          <p:spPr>
            <a:xfrm>
              <a:off x="8275359" y="3104436"/>
              <a:ext cx="1089581"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 xml:space="preserve">   商机规模（潜在）   </a:t>
              </a:r>
            </a:p>
          </p:txBody>
        </p:sp>
        <p:sp>
          <p:nvSpPr>
            <p:cNvPr id="209" name="TextBox 209"/>
            <p:cNvSpPr txBox="1"/>
            <p:nvPr/>
          </p:nvSpPr>
          <p:spPr>
            <a:xfrm>
              <a:off x="8171655" y="3248025"/>
              <a:ext cx="1296991"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 xml:space="preserve">   850</a:t>
              </a:r>
              <a:r>
                <a:rPr lang="zh-CN" sz="750" dirty="0">
                  <a:solidFill>
                    <a:srgbClr val="721E0D"/>
                  </a:solidFill>
                  <a:latin typeface="+mn-lt"/>
                  <a:ea typeface="+mn-ea"/>
                  <a:cs typeface="+mn-cs"/>
                </a:rPr>
                <a:t xml:space="preserve"> 万元</a:t>
              </a:r>
              <a:r>
                <a:rPr lang="zh-CN" sz="1500" b="1" dirty="0">
                  <a:solidFill>
                    <a:srgbClr val="721E0D"/>
                  </a:solidFill>
                  <a:latin typeface="+mn-lt"/>
                  <a:ea typeface="+mn-ea"/>
                  <a:cs typeface="+mn-cs"/>
                </a:rPr>
                <a:t xml:space="preserve">   </a:t>
              </a:r>
            </a:p>
          </p:txBody>
        </p:sp>
        <p:sp>
          <p:nvSpPr>
            <p:cNvPr id="210" name="Line 210"/>
            <p:cNvSpPr/>
            <p:nvPr/>
          </p:nvSpPr>
          <p:spPr>
            <a:xfrm>
              <a:off x="9429750" y="3086100"/>
              <a:ext cx="9525" cy="381000"/>
            </a:xfrm>
            <a:custGeom>
              <a:avLst/>
              <a:gdLst/>
              <a:ahLst/>
              <a:cxnLst/>
              <a:rect l="l" t="t" r="r" b="b"/>
              <a:pathLst>
                <a:path w="9525" h="381000">
                  <a:moveTo>
                    <a:pt x="0" y="0"/>
                  </a:moveTo>
                  <a:lnTo>
                    <a:pt x="0" y="381000"/>
                  </a:lnTo>
                </a:path>
              </a:pathLst>
            </a:custGeom>
            <a:noFill/>
            <a:ln w="9525">
              <a:solidFill>
                <a:srgbClr val="DCE6F6"/>
              </a:solidFill>
            </a:ln>
          </p:spPr>
        </p:sp>
        <p:sp>
          <p:nvSpPr>
            <p:cNvPr id="211" name="TextBox 211"/>
            <p:cNvSpPr txBox="1"/>
            <p:nvPr/>
          </p:nvSpPr>
          <p:spPr>
            <a:xfrm>
              <a:off x="9814687" y="3104436"/>
              <a:ext cx="48742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目标赢单额</a:t>
              </a:r>
            </a:p>
          </p:txBody>
        </p:sp>
        <p:sp>
          <p:nvSpPr>
            <p:cNvPr id="212" name="TextBox 212"/>
            <p:cNvSpPr txBox="1"/>
            <p:nvPr/>
          </p:nvSpPr>
          <p:spPr>
            <a:xfrm>
              <a:off x="9409905" y="3248025"/>
              <a:ext cx="1296991"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 xml:space="preserve">   500</a:t>
              </a:r>
              <a:r>
                <a:rPr lang="zh-CN" sz="750" dirty="0">
                  <a:solidFill>
                    <a:srgbClr val="721E0D"/>
                  </a:solidFill>
                  <a:latin typeface="+mn-lt"/>
                  <a:ea typeface="+mn-ea"/>
                  <a:cs typeface="+mn-cs"/>
                </a:rPr>
                <a:t xml:space="preserve"> 万元</a:t>
              </a:r>
              <a:r>
                <a:rPr lang="zh-CN" sz="1500" b="1" dirty="0">
                  <a:solidFill>
                    <a:srgbClr val="721E0D"/>
                  </a:solidFill>
                  <a:latin typeface="+mn-lt"/>
                  <a:ea typeface="+mn-ea"/>
                  <a:cs typeface="+mn-cs"/>
                </a:rPr>
                <a:t xml:space="preserve">   </a:t>
              </a:r>
            </a:p>
          </p:txBody>
        </p:sp>
        <p:sp>
          <p:nvSpPr>
            <p:cNvPr id="213" name="Line 213"/>
            <p:cNvSpPr/>
            <p:nvPr/>
          </p:nvSpPr>
          <p:spPr>
            <a:xfrm>
              <a:off x="10668000" y="3086100"/>
              <a:ext cx="9525" cy="381000"/>
            </a:xfrm>
            <a:custGeom>
              <a:avLst/>
              <a:gdLst/>
              <a:ahLst/>
              <a:cxnLst/>
              <a:rect l="l" t="t" r="r" b="b"/>
              <a:pathLst>
                <a:path w="9525" h="381000">
                  <a:moveTo>
                    <a:pt x="0" y="0"/>
                  </a:moveTo>
                  <a:lnTo>
                    <a:pt x="0" y="381000"/>
                  </a:lnTo>
                </a:path>
              </a:pathLst>
            </a:custGeom>
            <a:noFill/>
            <a:ln w="9525">
              <a:solidFill>
                <a:srgbClr val="DCE6F6"/>
              </a:solidFill>
            </a:ln>
          </p:spPr>
        </p:sp>
        <p:sp>
          <p:nvSpPr>
            <p:cNvPr id="214" name="TextBox 214"/>
            <p:cNvSpPr txBox="1"/>
            <p:nvPr/>
          </p:nvSpPr>
          <p:spPr>
            <a:xfrm>
              <a:off x="11100727" y="3104436"/>
              <a:ext cx="39184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预算投入</a:t>
              </a:r>
            </a:p>
          </p:txBody>
        </p:sp>
        <p:sp>
          <p:nvSpPr>
            <p:cNvPr id="215" name="TextBox 215"/>
            <p:cNvSpPr txBox="1"/>
            <p:nvPr/>
          </p:nvSpPr>
          <p:spPr>
            <a:xfrm>
              <a:off x="10706462" y="3248025"/>
              <a:ext cx="1180376"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 xml:space="preserve">   80</a:t>
              </a:r>
              <a:r>
                <a:rPr lang="zh-CN" sz="750" dirty="0">
                  <a:solidFill>
                    <a:srgbClr val="721E0D"/>
                  </a:solidFill>
                  <a:latin typeface="+mn-lt"/>
                  <a:ea typeface="+mn-ea"/>
                  <a:cs typeface="+mn-cs"/>
                </a:rPr>
                <a:t xml:space="preserve"> 万元</a:t>
              </a:r>
              <a:r>
                <a:rPr lang="zh-CN" sz="1500" b="1" dirty="0">
                  <a:solidFill>
                    <a:srgbClr val="721E0D"/>
                  </a:solidFill>
                  <a:latin typeface="+mn-lt"/>
                  <a:ea typeface="+mn-ea"/>
                  <a:cs typeface="+mn-cs"/>
                </a:rPr>
                <a:t xml:space="preserve">   </a:t>
              </a:r>
            </a:p>
          </p:txBody>
        </p:sp>
        <p:sp>
          <p:nvSpPr>
            <p:cNvPr id="216" name="Rectangle 216"/>
            <p:cNvSpPr/>
            <p:nvPr/>
          </p:nvSpPr>
          <p:spPr>
            <a:xfrm>
              <a:off x="8248650" y="3524250"/>
              <a:ext cx="3619500" cy="209550"/>
            </a:xfrm>
            <a:prstGeom prst="roundRect">
              <a:avLst>
                <a:gd name="adj" fmla="val 18182"/>
              </a:avLst>
            </a:prstGeom>
            <a:solidFill>
              <a:srgbClr val="EAF1FB"/>
            </a:solidFill>
            <a:ln>
              <a:noFill/>
            </a:ln>
          </p:spPr>
        </p:sp>
        <p:grpSp>
          <p:nvGrpSpPr>
            <p:cNvPr id="220" name="Group 220"/>
            <p:cNvGrpSpPr/>
            <p:nvPr/>
          </p:nvGrpSpPr>
          <p:grpSpPr>
            <a:xfrm>
              <a:off x="8339137" y="3579019"/>
              <a:ext cx="83344" cy="100012"/>
              <a:chOff x="8339137" y="3579019"/>
              <a:chExt cx="83344" cy="100012"/>
            </a:xfrm>
          </p:grpSpPr>
          <p:sp>
            <p:nvSpPr>
              <p:cNvPr id="217" name="Freeform 217"/>
              <p:cNvSpPr/>
              <p:nvPr/>
            </p:nvSpPr>
            <p:spPr>
              <a:xfrm>
                <a:off x="8350250" y="35790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721E0D"/>
                </a:solidFill>
              </a:ln>
            </p:spPr>
          </p:sp>
          <p:sp>
            <p:nvSpPr>
              <p:cNvPr id="218" name="Freeform 218"/>
              <p:cNvSpPr/>
              <p:nvPr/>
            </p:nvSpPr>
            <p:spPr>
              <a:xfrm>
                <a:off x="8339137" y="3645694"/>
                <a:ext cx="44450" cy="33337"/>
              </a:xfrm>
              <a:custGeom>
                <a:avLst/>
                <a:gdLst/>
                <a:ahLst/>
                <a:cxnLst/>
                <a:rect l="l" t="t" r="r" b="b"/>
                <a:pathLst>
                  <a:path w="44450" h="33337">
                    <a:moveTo>
                      <a:pt x="0" y="33337"/>
                    </a:moveTo>
                    <a:lnTo>
                      <a:pt x="0" y="22225"/>
                    </a:lnTo>
                    <a:cubicBezTo>
                      <a:pt x="0" y="9950"/>
                      <a:pt x="9950" y="0"/>
                      <a:pt x="22225" y="0"/>
                    </a:cubicBezTo>
                    <a:lnTo>
                      <a:pt x="44450" y="0"/>
                    </a:lnTo>
                  </a:path>
                </a:pathLst>
              </a:custGeom>
              <a:noFill/>
              <a:ln w="11112">
                <a:solidFill>
                  <a:srgbClr val="721E0D"/>
                </a:solidFill>
              </a:ln>
            </p:spPr>
          </p:sp>
          <p:sp>
            <p:nvSpPr>
              <p:cNvPr id="219" name="Freeform 219"/>
              <p:cNvSpPr/>
              <p:nvPr/>
            </p:nvSpPr>
            <p:spPr>
              <a:xfrm>
                <a:off x="8389144" y="3656806"/>
                <a:ext cx="33337" cy="22225"/>
              </a:xfrm>
              <a:custGeom>
                <a:avLst/>
                <a:gdLst/>
                <a:ahLst/>
                <a:cxnLst/>
                <a:rect l="l" t="t" r="r" b="b"/>
                <a:pathLst>
                  <a:path w="33337" h="22225">
                    <a:moveTo>
                      <a:pt x="0" y="11112"/>
                    </a:moveTo>
                    <a:lnTo>
                      <a:pt x="11112" y="22225"/>
                    </a:lnTo>
                    <a:lnTo>
                      <a:pt x="33337" y="0"/>
                    </a:lnTo>
                  </a:path>
                </a:pathLst>
              </a:custGeom>
              <a:noFill/>
              <a:ln w="11112">
                <a:solidFill>
                  <a:srgbClr val="721E0D"/>
                </a:solidFill>
              </a:ln>
            </p:spPr>
          </p:sp>
        </p:grpSp>
        <p:sp>
          <p:nvSpPr>
            <p:cNvPr id="221" name="TextBox 221"/>
            <p:cNvSpPr txBox="1"/>
            <p:nvPr/>
          </p:nvSpPr>
          <p:spPr>
            <a:xfrm>
              <a:off x="8491538" y="3582114"/>
              <a:ext cx="1973274"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 xml:space="preserve">战役负责人：王强（大客户经理）      </a:t>
              </a:r>
            </a:p>
          </p:txBody>
        </p:sp>
        <p:sp>
          <p:nvSpPr>
            <p:cNvPr id="222" name="TextBox 222"/>
            <p:cNvSpPr txBox="1"/>
            <p:nvPr/>
          </p:nvSpPr>
          <p:spPr>
            <a:xfrm>
              <a:off x="8281988" y="3938588"/>
              <a:ext cx="295275" cy="271462"/>
            </a:xfrm>
            <a:prstGeom prst="rect">
              <a:avLst/>
            </a:prstGeom>
            <a:noFill/>
            <a:ln>
              <a:noFill/>
            </a:ln>
          </p:spPr>
          <p:txBody>
            <a:bodyPr wrap="none" lIns="0" tIns="0" rIns="0" bIns="0" anchor="t" anchorCtr="0">
              <a:spAutoFit/>
            </a:bodyPr>
            <a:lstStyle/>
            <a:p>
              <a:pPr algn="l">
                <a:lnSpc>
                  <a:spcPts val="975"/>
                </a:lnSpc>
              </a:pPr>
              <a:r>
                <a:rPr lang="zh-CN" sz="750" b="1" dirty="0">
                  <a:solidFill>
                    <a:srgbClr val="721E0D"/>
                  </a:solidFill>
                  <a:latin typeface="+mn-lt"/>
                  <a:ea typeface="+mn-ea"/>
                  <a:cs typeface="+mn-cs"/>
                </a:rPr>
                <a:t>关键</a:t>
              </a:r>
              <a:br/>
              <a:r>
                <a:rPr lang="zh-CN" sz="750" b="1" dirty="0">
                  <a:solidFill>
                    <a:srgbClr val="721E0D"/>
                  </a:solidFill>
                  <a:latin typeface="+mn-lt"/>
                  <a:ea typeface="+mn-ea"/>
                  <a:cs typeface="+mn-cs"/>
                </a:rPr>
                <a:t>里程碑</a:t>
              </a:r>
            </a:p>
          </p:txBody>
        </p:sp>
        <p:sp>
          <p:nvSpPr>
            <p:cNvPr id="223" name="Line 223"/>
            <p:cNvSpPr/>
            <p:nvPr/>
          </p:nvSpPr>
          <p:spPr>
            <a:xfrm>
              <a:off x="8820150" y="4019550"/>
              <a:ext cx="3048000" cy="9525"/>
            </a:xfrm>
            <a:custGeom>
              <a:avLst/>
              <a:gdLst/>
              <a:ahLst/>
              <a:cxnLst/>
              <a:rect l="l" t="t" r="r" b="b"/>
              <a:pathLst>
                <a:path w="3048000" h="9525">
                  <a:moveTo>
                    <a:pt x="0" y="0"/>
                  </a:moveTo>
                  <a:lnTo>
                    <a:pt x="3048000" y="0"/>
                  </a:lnTo>
                </a:path>
              </a:pathLst>
            </a:custGeom>
            <a:noFill/>
            <a:ln w="14288">
              <a:solidFill>
                <a:srgbClr val="C9D6EE"/>
              </a:solidFill>
              <a:custDash>
                <a:ds d="266667" sp="200000"/>
              </a:custDash>
            </a:ln>
          </p:spPr>
        </p:sp>
        <p:sp>
          <p:nvSpPr>
            <p:cNvPr id="224" name="Ellipse 224"/>
            <p:cNvSpPr/>
            <p:nvPr/>
          </p:nvSpPr>
          <p:spPr>
            <a:xfrm>
              <a:off x="8943975" y="3952875"/>
              <a:ext cx="133350" cy="133350"/>
            </a:xfrm>
            <a:prstGeom prst="ellipse">
              <a:avLst/>
            </a:prstGeom>
            <a:solidFill>
              <a:srgbClr val="721E0D"/>
            </a:solidFill>
            <a:ln>
              <a:noFill/>
            </a:ln>
          </p:spPr>
        </p:sp>
        <p:sp>
          <p:nvSpPr>
            <p:cNvPr id="225" name="Freeform 225"/>
            <p:cNvSpPr/>
            <p:nvPr/>
          </p:nvSpPr>
          <p:spPr>
            <a:xfrm>
              <a:off x="8982869" y="3999706"/>
              <a:ext cx="59531" cy="39688"/>
            </a:xfrm>
            <a:custGeom>
              <a:avLst/>
              <a:gdLst/>
              <a:ahLst/>
              <a:cxnLst/>
              <a:rect l="l" t="t" r="r" b="b"/>
              <a:pathLst>
                <a:path w="59531" h="39688">
                  <a:moveTo>
                    <a:pt x="0" y="19844"/>
                  </a:moveTo>
                  <a:lnTo>
                    <a:pt x="19844" y="39688"/>
                  </a:lnTo>
                  <a:lnTo>
                    <a:pt x="59531" y="0"/>
                  </a:lnTo>
                </a:path>
              </a:pathLst>
            </a:custGeom>
            <a:noFill/>
            <a:ln w="7938">
              <a:solidFill>
                <a:srgbClr val="FFFFFF"/>
              </a:solidFill>
            </a:ln>
          </p:spPr>
        </p:sp>
        <p:sp>
          <p:nvSpPr>
            <p:cNvPr id="226" name="TextBox 226"/>
            <p:cNvSpPr txBox="1"/>
            <p:nvPr/>
          </p:nvSpPr>
          <p:spPr>
            <a:xfrm>
              <a:off x="883357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需求回顾</a:t>
              </a:r>
            </a:p>
          </p:txBody>
        </p:sp>
        <p:sp>
          <p:nvSpPr>
            <p:cNvPr id="227" name="TextBox 227"/>
            <p:cNvSpPr txBox="1"/>
            <p:nvPr/>
          </p:nvSpPr>
          <p:spPr>
            <a:xfrm>
              <a:off x="8876652" y="4255532"/>
              <a:ext cx="267995"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已完成</a:t>
              </a:r>
            </a:p>
          </p:txBody>
        </p:sp>
        <p:sp>
          <p:nvSpPr>
            <p:cNvPr id="228" name="Ellipse 228"/>
            <p:cNvSpPr/>
            <p:nvPr/>
          </p:nvSpPr>
          <p:spPr>
            <a:xfrm>
              <a:off x="9610725" y="3952875"/>
              <a:ext cx="133350" cy="133350"/>
            </a:xfrm>
            <a:prstGeom prst="ellipse">
              <a:avLst/>
            </a:prstGeom>
            <a:solidFill>
              <a:srgbClr val="721E0D"/>
            </a:solidFill>
            <a:ln>
              <a:noFill/>
            </a:ln>
          </p:spPr>
        </p:sp>
        <p:sp>
          <p:nvSpPr>
            <p:cNvPr id="229" name="Freeform 229"/>
            <p:cNvSpPr/>
            <p:nvPr/>
          </p:nvSpPr>
          <p:spPr>
            <a:xfrm>
              <a:off x="9649619" y="3999706"/>
              <a:ext cx="59531" cy="39688"/>
            </a:xfrm>
            <a:custGeom>
              <a:avLst/>
              <a:gdLst/>
              <a:ahLst/>
              <a:cxnLst/>
              <a:rect l="l" t="t" r="r" b="b"/>
              <a:pathLst>
                <a:path w="59531" h="39688">
                  <a:moveTo>
                    <a:pt x="0" y="19844"/>
                  </a:moveTo>
                  <a:lnTo>
                    <a:pt x="19844" y="39688"/>
                  </a:lnTo>
                  <a:lnTo>
                    <a:pt x="59531" y="0"/>
                  </a:lnTo>
                </a:path>
              </a:pathLst>
            </a:custGeom>
            <a:noFill/>
            <a:ln w="7938">
              <a:solidFill>
                <a:srgbClr val="FFFFFF"/>
              </a:solidFill>
            </a:ln>
          </p:spPr>
        </p:sp>
        <p:sp>
          <p:nvSpPr>
            <p:cNvPr id="230" name="TextBox 230"/>
            <p:cNvSpPr txBox="1"/>
            <p:nvPr/>
          </p:nvSpPr>
          <p:spPr>
            <a:xfrm>
              <a:off x="950032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价值评估</a:t>
              </a:r>
            </a:p>
          </p:txBody>
        </p:sp>
        <p:sp>
          <p:nvSpPr>
            <p:cNvPr id="231" name="TextBox 231"/>
            <p:cNvSpPr txBox="1"/>
            <p:nvPr/>
          </p:nvSpPr>
          <p:spPr>
            <a:xfrm>
              <a:off x="9543402" y="4255532"/>
              <a:ext cx="267995"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已完成</a:t>
              </a:r>
            </a:p>
          </p:txBody>
        </p:sp>
        <p:sp>
          <p:nvSpPr>
            <p:cNvPr id="232" name="Ellipse 232"/>
            <p:cNvSpPr/>
            <p:nvPr/>
          </p:nvSpPr>
          <p:spPr>
            <a:xfrm>
              <a:off x="10277475" y="3952875"/>
              <a:ext cx="133350" cy="133350"/>
            </a:xfrm>
            <a:prstGeom prst="ellipse">
              <a:avLst/>
            </a:prstGeom>
            <a:solidFill>
              <a:srgbClr val="B8351A"/>
            </a:solidFill>
            <a:ln>
              <a:noFill/>
            </a:ln>
          </p:spPr>
        </p:sp>
        <p:sp>
          <p:nvSpPr>
            <p:cNvPr id="233" name="TextBox 233"/>
            <p:cNvSpPr txBox="1"/>
            <p:nvPr/>
          </p:nvSpPr>
          <p:spPr>
            <a:xfrm>
              <a:off x="1016707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方案报价</a:t>
              </a:r>
            </a:p>
          </p:txBody>
        </p:sp>
        <p:sp>
          <p:nvSpPr>
            <p:cNvPr id="234" name="TextBox 234"/>
            <p:cNvSpPr txBox="1"/>
            <p:nvPr/>
          </p:nvSpPr>
          <p:spPr>
            <a:xfrm>
              <a:off x="10078763" y="4255532"/>
              <a:ext cx="530774"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 xml:space="preserve">  2025.06  </a:t>
              </a:r>
            </a:p>
          </p:txBody>
        </p:sp>
        <p:sp>
          <p:nvSpPr>
            <p:cNvPr id="235" name="Ellipse 235"/>
            <p:cNvSpPr/>
            <p:nvPr/>
          </p:nvSpPr>
          <p:spPr>
            <a:xfrm>
              <a:off x="10953750" y="3962400"/>
              <a:ext cx="114300" cy="114300"/>
            </a:xfrm>
            <a:prstGeom prst="ellipse">
              <a:avLst/>
            </a:prstGeom>
            <a:solidFill>
              <a:srgbClr val="FFFFFF"/>
            </a:solidFill>
            <a:ln w="14288">
              <a:solidFill>
                <a:srgbClr val="B8351A"/>
              </a:solidFill>
            </a:ln>
          </p:spPr>
        </p:sp>
        <p:sp>
          <p:nvSpPr>
            <p:cNvPr id="236" name="TextBox 236"/>
            <p:cNvSpPr txBox="1"/>
            <p:nvPr/>
          </p:nvSpPr>
          <p:spPr>
            <a:xfrm>
              <a:off x="1083382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合同谈判</a:t>
              </a:r>
            </a:p>
          </p:txBody>
        </p:sp>
        <p:sp>
          <p:nvSpPr>
            <p:cNvPr id="237" name="TextBox 237"/>
            <p:cNvSpPr txBox="1"/>
            <p:nvPr/>
          </p:nvSpPr>
          <p:spPr>
            <a:xfrm>
              <a:off x="10745513" y="4255532"/>
              <a:ext cx="530774"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 xml:space="preserve">  2025.07  </a:t>
              </a:r>
            </a:p>
          </p:txBody>
        </p:sp>
        <p:sp>
          <p:nvSpPr>
            <p:cNvPr id="238" name="Ellipse 238"/>
            <p:cNvSpPr/>
            <p:nvPr/>
          </p:nvSpPr>
          <p:spPr>
            <a:xfrm>
              <a:off x="11620500" y="3962400"/>
              <a:ext cx="114300" cy="114300"/>
            </a:xfrm>
            <a:prstGeom prst="ellipse">
              <a:avLst/>
            </a:prstGeom>
            <a:solidFill>
              <a:srgbClr val="FFFFFF"/>
            </a:solidFill>
            <a:ln w="14288">
              <a:solidFill>
                <a:srgbClr val="B8351A"/>
              </a:solidFill>
            </a:ln>
          </p:spPr>
        </p:sp>
        <p:sp>
          <p:nvSpPr>
            <p:cNvPr id="239" name="TextBox 239"/>
            <p:cNvSpPr txBox="1"/>
            <p:nvPr/>
          </p:nvSpPr>
          <p:spPr>
            <a:xfrm>
              <a:off x="11500574" y="4141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续约签约</a:t>
              </a:r>
            </a:p>
          </p:txBody>
        </p:sp>
        <p:sp>
          <p:nvSpPr>
            <p:cNvPr id="240" name="TextBox 240"/>
            <p:cNvSpPr txBox="1"/>
            <p:nvPr/>
          </p:nvSpPr>
          <p:spPr>
            <a:xfrm>
              <a:off x="11412263" y="4255532"/>
              <a:ext cx="530774" cy="126206"/>
            </a:xfrm>
            <a:prstGeom prst="rect">
              <a:avLst/>
            </a:prstGeom>
            <a:noFill/>
            <a:ln>
              <a:noFill/>
            </a:ln>
          </p:spPr>
          <p:txBody>
            <a:bodyPr wrap="none" lIns="0" tIns="0" rIns="0" bIns="0" anchor="t" anchorCtr="0">
              <a:spAutoFit/>
            </a:bodyPr>
            <a:lstStyle/>
            <a:p>
              <a:pPr algn="ctr"/>
              <a:r>
                <a:rPr lang="zh-CN" sz="640" dirty="0">
                  <a:solidFill>
                    <a:srgbClr val="6E7686"/>
                  </a:solidFill>
                  <a:latin typeface="+mn-lt"/>
                  <a:ea typeface="+mn-ea"/>
                  <a:cs typeface="+mn-cs"/>
                </a:rPr>
                <a:t xml:space="preserve">  2025.08  </a:t>
              </a:r>
            </a:p>
          </p:txBody>
        </p:sp>
        <p:sp>
          <p:nvSpPr>
            <p:cNvPr id="241" name="Line 241"/>
            <p:cNvSpPr/>
            <p:nvPr/>
          </p:nvSpPr>
          <p:spPr>
            <a:xfrm>
              <a:off x="8248650" y="4438650"/>
              <a:ext cx="3619500" cy="9525"/>
            </a:xfrm>
            <a:custGeom>
              <a:avLst/>
              <a:gdLst/>
              <a:ahLst/>
              <a:cxnLst/>
              <a:rect l="l" t="t" r="r" b="b"/>
              <a:pathLst>
                <a:path w="3619500" h="9525">
                  <a:moveTo>
                    <a:pt x="0" y="0"/>
                  </a:moveTo>
                  <a:lnTo>
                    <a:pt x="3619500" y="0"/>
                  </a:lnTo>
                </a:path>
              </a:pathLst>
            </a:custGeom>
            <a:noFill/>
            <a:ln w="9525">
              <a:solidFill>
                <a:srgbClr val="E6EAF2"/>
              </a:solidFill>
            </a:ln>
          </p:spPr>
        </p:sp>
        <p:sp>
          <p:nvSpPr>
            <p:cNvPr id="242" name="TextBox 242"/>
            <p:cNvSpPr txBox="1"/>
            <p:nvPr/>
          </p:nvSpPr>
          <p:spPr>
            <a:xfrm>
              <a:off x="8281988" y="4852988"/>
              <a:ext cx="200025" cy="271462"/>
            </a:xfrm>
            <a:prstGeom prst="rect">
              <a:avLst/>
            </a:prstGeom>
            <a:noFill/>
            <a:ln>
              <a:noFill/>
            </a:ln>
          </p:spPr>
          <p:txBody>
            <a:bodyPr wrap="none" lIns="0" tIns="0" rIns="0" bIns="0" anchor="t" anchorCtr="0">
              <a:spAutoFit/>
            </a:bodyPr>
            <a:lstStyle/>
            <a:p>
              <a:pPr algn="l">
                <a:lnSpc>
                  <a:spcPts val="975"/>
                </a:lnSpc>
              </a:pPr>
              <a:r>
                <a:rPr lang="zh-CN" sz="750" b="1" dirty="0">
                  <a:solidFill>
                    <a:srgbClr val="721E0D"/>
                  </a:solidFill>
                  <a:latin typeface="+mn-lt"/>
                  <a:ea typeface="+mn-ea"/>
                  <a:cs typeface="+mn-cs"/>
                </a:rPr>
                <a:t>赢单</a:t>
              </a:r>
              <a:br/>
              <a:r>
                <a:rPr lang="zh-CN" sz="750" b="1" dirty="0">
                  <a:solidFill>
                    <a:srgbClr val="721E0D"/>
                  </a:solidFill>
                  <a:latin typeface="+mn-lt"/>
                  <a:ea typeface="+mn-ea"/>
                  <a:cs typeface="+mn-cs"/>
                </a:rPr>
                <a:t>概率</a:t>
              </a:r>
            </a:p>
          </p:txBody>
        </p:sp>
        <p:sp>
          <p:nvSpPr>
            <p:cNvPr id="243" name="Ellipse 243"/>
            <p:cNvSpPr/>
            <p:nvPr/>
          </p:nvSpPr>
          <p:spPr>
            <a:xfrm>
              <a:off x="8820150" y="4857750"/>
              <a:ext cx="419100" cy="419100"/>
            </a:xfrm>
            <a:prstGeom prst="ellipse">
              <a:avLst/>
            </a:prstGeom>
            <a:noFill/>
            <a:ln w="114300">
              <a:solidFill>
                <a:srgbClr val="E3EBF8"/>
              </a:solidFill>
            </a:ln>
          </p:spPr>
        </p:sp>
        <p:sp>
          <p:nvSpPr>
            <p:cNvPr id="244" name="Freeform 244"/>
            <p:cNvSpPr/>
            <p:nvPr/>
          </p:nvSpPr>
          <p:spPr>
            <a:xfrm>
              <a:off x="8763000" y="4800600"/>
              <a:ext cx="533400" cy="533400"/>
            </a:xfrm>
            <a:prstGeom prst="blockArc">
              <a:avLst>
                <a:gd name="adj1" fmla="val 16200000"/>
                <a:gd name="adj2" fmla="val 9720000"/>
                <a:gd name="adj3" fmla="val 21400"/>
              </a:avLst>
            </a:prstGeom>
            <a:solidFill>
              <a:srgbClr val="B8351A"/>
            </a:solidFill>
            <a:ln>
              <a:noFill/>
            </a:ln>
          </p:spPr>
        </p:sp>
        <p:sp>
          <p:nvSpPr>
            <p:cNvPr id="245" name="TextBox 245"/>
            <p:cNvSpPr txBox="1"/>
            <p:nvPr/>
          </p:nvSpPr>
          <p:spPr>
            <a:xfrm>
              <a:off x="8744236" y="5009674"/>
              <a:ext cx="570928"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70%  </a:t>
              </a:r>
            </a:p>
          </p:txBody>
        </p:sp>
        <p:sp>
          <p:nvSpPr>
            <p:cNvPr id="246" name="TextBox 246"/>
            <p:cNvSpPr txBox="1"/>
            <p:nvPr/>
          </p:nvSpPr>
          <p:spPr>
            <a:xfrm>
              <a:off x="9482138" y="4582239"/>
              <a:ext cx="434924"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关键胜因</a:t>
              </a:r>
            </a:p>
          </p:txBody>
        </p:sp>
        <p:sp>
          <p:nvSpPr>
            <p:cNvPr id="247" name="TextBox 247"/>
            <p:cNvSpPr txBox="1"/>
            <p:nvPr/>
          </p:nvSpPr>
          <p:spPr>
            <a:xfrm>
              <a:off x="9482138" y="4784884"/>
              <a:ext cx="776605" cy="438150"/>
            </a:xfrm>
            <a:prstGeom prst="rect">
              <a:avLst/>
            </a:prstGeom>
            <a:noFill/>
            <a:ln>
              <a:noFill/>
            </a:ln>
          </p:spPr>
          <p:txBody>
            <a:bodyPr wrap="none" lIns="0" tIns="0" rIns="0" bIns="0" anchor="t" anchorCtr="0">
              <a:spAutoFit/>
            </a:bodyPr>
            <a:lstStyle/>
            <a:p>
              <a:pPr algn="l" marL="76200" indent="-76200">
                <a:lnSpc>
                  <a:spcPts val="1200"/>
                </a:lnSpc>
                <a:buClr>
                  <a:srgbClr val="523E3A"/>
                </a:buClr>
                <a:buSzTx/>
                <a:buFontTx/>
                <a:buChar char="•"/>
              </a:pPr>
              <a:r>
                <a:rPr lang="zh-CN" sz="680" dirty="0">
                  <a:solidFill>
                    <a:srgbClr val="523E3A"/>
                  </a:solidFill>
                  <a:latin typeface="+mn-lt"/>
                  <a:ea typeface="+mn-ea"/>
                  <a:cs typeface="+mn-cs"/>
                </a:rPr>
                <a:t>客户满意度高</a:t>
              </a:r>
            </a:p>
            <a:p>
              <a:pPr algn="l" marL="76200" indent="-76200">
                <a:lnSpc>
                  <a:spcPts val="1200"/>
                </a:lnSpc>
                <a:buClr>
                  <a:srgbClr val="523E3A"/>
                </a:buClr>
                <a:buSzTx/>
                <a:buFontTx/>
                <a:buChar char="•"/>
              </a:pPr>
              <a:r>
                <a:rPr lang="zh-CN" sz="680" dirty="0">
                  <a:solidFill>
                    <a:srgbClr val="523E3A"/>
                  </a:solidFill>
                  <a:latin typeface="+mn-lt"/>
                  <a:ea typeface="+mn-ea"/>
                  <a:cs typeface="+mn-cs"/>
                </a:rPr>
                <a:t>业务规模扩张</a:t>
              </a:r>
            </a:p>
            <a:p>
              <a:pPr algn="l" marL="76200" indent="-76200">
                <a:lnSpc>
                  <a:spcPts val="1200"/>
                </a:lnSpc>
                <a:buClr>
                  <a:srgbClr val="523E3A"/>
                </a:buClr>
                <a:buSzTx/>
                <a:buFontTx/>
                <a:buChar char="•"/>
              </a:pPr>
              <a:r>
                <a:rPr lang="zh-CN" sz="680" dirty="0">
                  <a:solidFill>
                    <a:srgbClr val="523E3A"/>
                  </a:solidFill>
                  <a:latin typeface="+mn-lt"/>
                  <a:ea typeface="+mn-ea"/>
                  <a:cs typeface="+mn-cs"/>
                </a:rPr>
                <a:t>长期合作关系稳固</a:t>
              </a:r>
            </a:p>
          </p:txBody>
        </p:sp>
        <p:grpSp>
          <p:nvGrpSpPr>
            <p:cNvPr id="251" name="Group 251"/>
            <p:cNvGrpSpPr/>
            <p:nvPr/>
          </p:nvGrpSpPr>
          <p:grpSpPr>
            <a:xfrm>
              <a:off x="10869140" y="4577298"/>
              <a:ext cx="112066" cy="96280"/>
              <a:chOff x="10869140" y="4577298"/>
              <a:chExt cx="112066" cy="96280"/>
            </a:xfrm>
          </p:grpSpPr>
          <p:sp>
            <p:nvSpPr>
              <p:cNvPr id="248" name="Freeform 248"/>
              <p:cNvSpPr/>
              <p:nvPr/>
            </p:nvSpPr>
            <p:spPr>
              <a:xfrm>
                <a:off x="10925175" y="4612481"/>
                <a:ext cx="9525" cy="22225"/>
              </a:xfrm>
              <a:custGeom>
                <a:avLst/>
                <a:gdLst/>
                <a:ahLst/>
                <a:cxnLst/>
                <a:rect l="l" t="t" r="r" b="b"/>
                <a:pathLst>
                  <a:path w="9525" h="22225">
                    <a:moveTo>
                      <a:pt x="0" y="0"/>
                    </a:moveTo>
                    <a:lnTo>
                      <a:pt x="0" y="22225"/>
                    </a:lnTo>
                  </a:path>
                </a:pathLst>
              </a:custGeom>
              <a:noFill/>
              <a:ln w="11112">
                <a:solidFill>
                  <a:srgbClr val="C03616"/>
                </a:solidFill>
              </a:ln>
            </p:spPr>
          </p:sp>
          <p:sp>
            <p:nvSpPr>
              <p:cNvPr id="249" name="Freeform 249"/>
              <p:cNvSpPr/>
              <p:nvPr/>
            </p:nvSpPr>
            <p:spPr>
              <a:xfrm>
                <a:off x="10869140" y="4577298"/>
                <a:ext cx="112066" cy="96280"/>
              </a:xfrm>
              <a:custGeom>
                <a:avLst/>
                <a:gdLst/>
                <a:ahLst/>
                <a:cxnLst/>
                <a:rect l="l" t="t" r="r" b="b"/>
                <a:pathLst>
                  <a:path w="112066" h="96280">
                    <a:moveTo>
                      <a:pt x="46940" y="5130"/>
                    </a:moveTo>
                    <a:lnTo>
                      <a:pt x="1901" y="80328"/>
                    </a:lnTo>
                    <a:cubicBezTo>
                      <a:pt x="12" y="83600"/>
                      <a:pt x="0" y="87628"/>
                      <a:pt x="1871" y="90911"/>
                    </a:cubicBezTo>
                    <a:cubicBezTo>
                      <a:pt x="3741" y="94194"/>
                      <a:pt x="7213" y="96237"/>
                      <a:pt x="10991" y="96280"/>
                    </a:cubicBezTo>
                    <a:lnTo>
                      <a:pt x="101080" y="96280"/>
                    </a:lnTo>
                    <a:cubicBezTo>
                      <a:pt x="104856" y="96236"/>
                      <a:pt x="108326" y="94193"/>
                      <a:pt x="110196" y="90912"/>
                    </a:cubicBezTo>
                    <a:cubicBezTo>
                      <a:pt x="112066" y="87632"/>
                      <a:pt x="112056" y="83605"/>
                      <a:pt x="110170" y="80333"/>
                    </a:cubicBezTo>
                    <a:lnTo>
                      <a:pt x="65131" y="5124"/>
                    </a:lnTo>
                    <a:cubicBezTo>
                      <a:pt x="63204" y="1943"/>
                      <a:pt x="59755" y="0"/>
                      <a:pt x="56035" y="0"/>
                    </a:cubicBezTo>
                    <a:cubicBezTo>
                      <a:pt x="52316" y="0"/>
                      <a:pt x="48867" y="1943"/>
                      <a:pt x="46940" y="5124"/>
                    </a:cubicBezTo>
                  </a:path>
                </a:pathLst>
              </a:custGeom>
              <a:noFill/>
              <a:ln w="11112">
                <a:solidFill>
                  <a:srgbClr val="C03616"/>
                </a:solidFill>
              </a:ln>
            </p:spPr>
          </p:sp>
          <p:sp>
            <p:nvSpPr>
              <p:cNvPr id="250" name="Freeform 250"/>
              <p:cNvSpPr/>
              <p:nvPr/>
            </p:nvSpPr>
            <p:spPr>
              <a:xfrm>
                <a:off x="10925175" y="4651375"/>
                <a:ext cx="9525" cy="9525"/>
              </a:xfrm>
              <a:custGeom>
                <a:avLst/>
                <a:gdLst/>
                <a:ahLst/>
                <a:cxnLst/>
                <a:rect l="l" t="t" r="r" b="b"/>
                <a:pathLst>
                  <a:path w="9525" h="9525">
                    <a:moveTo>
                      <a:pt x="0" y="0"/>
                    </a:moveTo>
                    <a:lnTo>
                      <a:pt x="56" y="0"/>
                    </a:lnTo>
                  </a:path>
                </a:pathLst>
              </a:custGeom>
              <a:noFill/>
              <a:ln w="11112">
                <a:solidFill>
                  <a:srgbClr val="C03616"/>
                </a:solidFill>
              </a:ln>
            </p:spPr>
          </p:sp>
        </p:grpSp>
        <p:sp>
          <p:nvSpPr>
            <p:cNvPr id="252" name="TextBox 252"/>
            <p:cNvSpPr txBox="1"/>
            <p:nvPr/>
          </p:nvSpPr>
          <p:spPr>
            <a:xfrm>
              <a:off x="11025188" y="4582239"/>
              <a:ext cx="434924" cy="154781"/>
            </a:xfrm>
            <a:prstGeom prst="rect">
              <a:avLst/>
            </a:prstGeom>
            <a:noFill/>
            <a:ln>
              <a:noFill/>
            </a:ln>
          </p:spPr>
          <p:txBody>
            <a:bodyPr wrap="none" lIns="0" tIns="0" rIns="0" bIns="0" anchor="t" anchorCtr="0">
              <a:spAutoFit/>
            </a:bodyPr>
            <a:lstStyle/>
            <a:p>
              <a:pPr algn="l"/>
              <a:r>
                <a:rPr lang="zh-CN" sz="790" b="1" dirty="0">
                  <a:solidFill>
                    <a:srgbClr val="C03616"/>
                  </a:solidFill>
                  <a:latin typeface="+mn-lt"/>
                  <a:ea typeface="+mn-ea"/>
                  <a:cs typeface="+mn-cs"/>
                </a:rPr>
                <a:t>主要风险</a:t>
              </a:r>
            </a:p>
          </p:txBody>
        </p:sp>
        <p:sp>
          <p:nvSpPr>
            <p:cNvPr id="253" name="TextBox 253"/>
            <p:cNvSpPr txBox="1"/>
            <p:nvPr/>
          </p:nvSpPr>
          <p:spPr>
            <a:xfrm>
              <a:off x="10853738" y="4784884"/>
              <a:ext cx="862965" cy="285750"/>
            </a:xfrm>
            <a:prstGeom prst="rect">
              <a:avLst/>
            </a:prstGeom>
            <a:noFill/>
            <a:ln>
              <a:noFill/>
            </a:ln>
          </p:spPr>
          <p:txBody>
            <a:bodyPr wrap="none" lIns="0" tIns="0" rIns="0" bIns="0" anchor="t" anchorCtr="0">
              <a:spAutoFit/>
            </a:bodyPr>
            <a:lstStyle/>
            <a:p>
              <a:pPr algn="l" marL="76200" indent="-76200">
                <a:lnSpc>
                  <a:spcPts val="1200"/>
                </a:lnSpc>
                <a:buClr>
                  <a:srgbClr val="523E3A"/>
                </a:buClr>
                <a:buSzTx/>
                <a:buFontTx/>
                <a:buChar char="•"/>
              </a:pPr>
              <a:r>
                <a:rPr lang="zh-CN" sz="680" dirty="0">
                  <a:solidFill>
                    <a:srgbClr val="523E3A"/>
                  </a:solidFill>
                  <a:latin typeface="+mn-lt"/>
                  <a:ea typeface="+mn-ea"/>
                  <a:cs typeface="+mn-cs"/>
                </a:rPr>
                <a:t>客户压价诉求强烈</a:t>
              </a:r>
            </a:p>
            <a:p>
              <a:pPr algn="l" marL="76200" indent="-76200">
                <a:lnSpc>
                  <a:spcPts val="1200"/>
                </a:lnSpc>
                <a:buClr>
                  <a:srgbClr val="523E3A"/>
                </a:buClr>
                <a:buSzTx/>
                <a:buFontTx/>
                <a:buChar char="•"/>
              </a:pPr>
              <a:r>
                <a:rPr lang="zh-CN" sz="680" dirty="0">
                  <a:solidFill>
                    <a:srgbClr val="523E3A"/>
                  </a:solidFill>
                  <a:latin typeface="+mn-lt"/>
                  <a:ea typeface="+mn-ea"/>
                  <a:cs typeface="+mn-cs"/>
                </a:rPr>
                <a:t>新采购流程不确定性</a:t>
              </a:r>
            </a:p>
          </p:txBody>
        </p:sp>
      </p:grpSp>
      <p:grpSp>
        <p:nvGrpSpPr>
          <p:cNvPr id="256" name="footnote"/>
          <p:cNvGrpSpPr/>
          <p:nvPr/>
        </p:nvGrpSpPr>
        <p:grpSpPr>
          <a:xfrm>
            <a:off x="261938" y="6000036"/>
            <a:ext cx="4215054" cy="140494"/>
            <a:chOff x="261938" y="6000036"/>
            <a:chExt cx="4215054" cy="140494"/>
          </a:xfrm>
        </p:grpSpPr>
        <p:sp>
          <p:nvSpPr>
            <p:cNvPr id="255" name="TextBox 255"/>
            <p:cNvSpPr txBox="1"/>
            <p:nvPr/>
          </p:nvSpPr>
          <p:spPr>
            <a:xfrm>
              <a:off x="261938" y="6000036"/>
              <a:ext cx="4215054" cy="140494"/>
            </a:xfrm>
            <a:prstGeom prst="rect">
              <a:avLst/>
            </a:prstGeom>
            <a:noFill/>
            <a:ln>
              <a:noFill/>
            </a:ln>
          </p:spPr>
          <p:txBody>
            <a:bodyPr wrap="none" lIns="0" tIns="0" rIns="0" bIns="0" anchor="t" anchorCtr="0">
              <a:spAutoFit/>
            </a:bodyPr>
            <a:lstStyle/>
            <a:p>
              <a:pPr algn="l"/>
              <a:r>
                <a:rPr lang="zh-CN" sz="710" dirty="0">
                  <a:solidFill>
                    <a:srgbClr val="6E7686"/>
                  </a:solidFill>
                  <a:latin typeface="+mn-lt"/>
                  <a:ea typeface="+mn-ea"/>
                  <a:cs typeface="+mn-cs"/>
                </a:rPr>
                <a:t>说明：赢单金额为目标赢单额；时间节点为预计完成时间；里程碑状态：✓ 已完成● 进行中○ 待开始</a:t>
              </a:r>
            </a:p>
          </p:txBody>
        </p:sp>
      </p:gr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16668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10</a:t>
              </a:r>
            </a:p>
          </p:txBody>
        </p:sp>
        <p:sp>
          <p:nvSpPr>
            <p:cNvPr id="4" name="TextBox 4"/>
            <p:cNvSpPr txBox="1"/>
            <p:nvPr/>
          </p:nvSpPr>
          <p:spPr>
            <a:xfrm>
              <a:off x="904494" y="180023"/>
              <a:ext cx="3694938"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追回路径合计：</a:t>
              </a:r>
              <a:r>
                <a:rPr lang="zh-CN" sz="1950" b="1" dirty="0">
                  <a:solidFill>
                    <a:srgbClr val="B8351A"/>
                  </a:solidFill>
                  <a:latin typeface="+mn-lt"/>
                  <a:ea typeface="+mn-ea"/>
                  <a:cs typeface="+mn-cs"/>
                </a:rPr>
                <a:t>缺口能否覆盖？</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52" name="formula-row"/>
          <p:cNvGrpSpPr/>
          <p:nvPr/>
        </p:nvGrpSpPr>
        <p:grpSpPr>
          <a:xfrm>
            <a:off x="228600" y="685800"/>
            <a:ext cx="11734800" cy="684562"/>
            <a:chOff x="228600" y="685800"/>
            <a:chExt cx="11734800" cy="684562"/>
          </a:xfrm>
        </p:grpSpPr>
        <p:sp>
          <p:nvSpPr>
            <p:cNvPr id="7" name="Rectangle 7"/>
            <p:cNvSpPr/>
            <p:nvPr/>
          </p:nvSpPr>
          <p:spPr>
            <a:xfrm>
              <a:off x="228600" y="685800"/>
              <a:ext cx="2171700" cy="647700"/>
            </a:xfrm>
            <a:prstGeom prst="roundRect">
              <a:avLst>
                <a:gd name="adj" fmla="val 14706"/>
              </a:avLst>
            </a:prstGeom>
            <a:solidFill>
              <a:srgbClr val="FFFFFF"/>
            </a:solidFill>
            <a:ln w="14288">
              <a:solidFill>
                <a:srgbClr val="C9D6EE"/>
              </a:solidFill>
            </a:ln>
          </p:spPr>
        </p:sp>
        <p:sp>
          <p:nvSpPr>
            <p:cNvPr id="8" name="Ellipse 8"/>
            <p:cNvSpPr/>
            <p:nvPr/>
          </p:nvSpPr>
          <p:spPr>
            <a:xfrm>
              <a:off x="361950" y="800100"/>
              <a:ext cx="419100" cy="419100"/>
            </a:xfrm>
            <a:prstGeom prst="ellipse">
              <a:avLst/>
            </a:prstGeom>
            <a:solidFill>
              <a:srgbClr val="721E0D"/>
            </a:solidFill>
            <a:ln>
              <a:noFill/>
            </a:ln>
          </p:spPr>
        </p:sp>
        <p:grpSp>
          <p:nvGrpSpPr>
            <p:cNvPr id="11" name="Group 11"/>
            <p:cNvGrpSpPr/>
            <p:nvPr/>
          </p:nvGrpSpPr>
          <p:grpSpPr>
            <a:xfrm>
              <a:off x="519906" y="958056"/>
              <a:ext cx="103187" cy="103187"/>
              <a:chOff x="519906" y="958056"/>
              <a:chExt cx="103187" cy="103187"/>
            </a:xfrm>
          </p:grpSpPr>
          <p:sp>
            <p:nvSpPr>
              <p:cNvPr id="9" name="Freeform 9"/>
              <p:cNvSpPr/>
              <p:nvPr/>
            </p:nvSpPr>
            <p:spPr>
              <a:xfrm>
                <a:off x="519906" y="958056"/>
                <a:ext cx="103187" cy="103187"/>
              </a:xfrm>
              <a:custGeom>
                <a:avLst/>
                <a:gdLst/>
                <a:ahLst/>
                <a:cxnLst/>
                <a:rect l="l" t="t" r="r" b="b"/>
                <a:pathLst>
                  <a:path w="103187" h="103187">
                    <a:moveTo>
                      <a:pt x="0" y="0"/>
                    </a:moveTo>
                    <a:lnTo>
                      <a:pt x="103187" y="103187"/>
                    </a:lnTo>
                  </a:path>
                </a:pathLst>
              </a:custGeom>
              <a:noFill/>
              <a:ln w="20637">
                <a:solidFill>
                  <a:srgbClr val="FFFFFF"/>
                </a:solidFill>
              </a:ln>
            </p:spPr>
          </p:sp>
          <p:sp>
            <p:nvSpPr>
              <p:cNvPr id="10" name="Freeform 10"/>
              <p:cNvSpPr/>
              <p:nvPr/>
            </p:nvSpPr>
            <p:spPr>
              <a:xfrm>
                <a:off x="530225" y="968375"/>
                <a:ext cx="92868" cy="92868"/>
              </a:xfrm>
              <a:custGeom>
                <a:avLst/>
                <a:gdLst/>
                <a:ahLst/>
                <a:cxnLst/>
                <a:rect l="l" t="t" r="r" b="b"/>
                <a:pathLst>
                  <a:path w="92868" h="92868">
                    <a:moveTo>
                      <a:pt x="92868" y="0"/>
                    </a:moveTo>
                    <a:lnTo>
                      <a:pt x="92868" y="92868"/>
                    </a:lnTo>
                    <a:lnTo>
                      <a:pt x="0" y="92868"/>
                    </a:lnTo>
                  </a:path>
                </a:pathLst>
              </a:custGeom>
              <a:noFill/>
              <a:ln w="20637">
                <a:solidFill>
                  <a:srgbClr val="FFFFFF"/>
                </a:solidFill>
              </a:ln>
            </p:spPr>
          </p:sp>
        </p:grpSp>
        <p:sp>
          <p:nvSpPr>
            <p:cNvPr id="12" name="TextBox 12"/>
            <p:cNvSpPr txBox="1"/>
            <p:nvPr/>
          </p:nvSpPr>
          <p:spPr>
            <a:xfrm>
              <a:off x="890588" y="832247"/>
              <a:ext cx="515696" cy="183356"/>
            </a:xfrm>
            <a:prstGeom prst="rect">
              <a:avLst/>
            </a:prstGeom>
            <a:noFill/>
            <a:ln>
              <a:noFill/>
            </a:ln>
          </p:spPr>
          <p:txBody>
            <a:bodyPr wrap="none" lIns="0" tIns="0" rIns="0" bIns="0" anchor="t" anchorCtr="0">
              <a:spAutoFit/>
            </a:bodyPr>
            <a:lstStyle/>
            <a:p>
              <a:pPr algn="l"/>
              <a:r>
                <a:rPr lang="zh-CN" sz="940" b="1" dirty="0">
                  <a:solidFill>
                    <a:srgbClr val="461910"/>
                  </a:solidFill>
                  <a:latin typeface="+mn-lt"/>
                  <a:ea typeface="+mn-ea"/>
                  <a:cs typeface="+mn-cs"/>
                </a:rPr>
                <a:t>原始缺口</a:t>
              </a:r>
            </a:p>
          </p:txBody>
        </p:sp>
        <p:sp>
          <p:nvSpPr>
            <p:cNvPr id="13" name="TextBox 13"/>
            <p:cNvSpPr txBox="1"/>
            <p:nvPr/>
          </p:nvSpPr>
          <p:spPr>
            <a:xfrm>
              <a:off x="886587" y="1032986"/>
              <a:ext cx="940010" cy="337376"/>
            </a:xfrm>
            <a:prstGeom prst="rect">
              <a:avLst/>
            </a:prstGeom>
            <a:noFill/>
            <a:ln>
              <a:noFill/>
            </a:ln>
          </p:spPr>
          <p:txBody>
            <a:bodyPr wrap="none" lIns="0" tIns="0" rIns="0" bIns="0" anchor="t" anchorCtr="0">
              <a:spAutoFit/>
            </a:bodyPr>
            <a:lstStyle/>
            <a:p>
              <a:pPr algn="l"/>
              <a:r>
                <a:rPr lang="zh-CN" sz="1720" b="1" dirty="0">
                  <a:solidFill>
                    <a:srgbClr val="C03616"/>
                  </a:solidFill>
                  <a:latin typeface="+mn-lt"/>
                  <a:ea typeface="+mn-ea"/>
                  <a:cs typeface="+mn-cs"/>
                </a:rPr>
                <a:t>2.03</a:t>
              </a:r>
              <a:r>
                <a:rPr lang="zh-CN" sz="820" dirty="0">
                  <a:solidFill>
                    <a:srgbClr val="523E3A"/>
                  </a:solidFill>
                  <a:latin typeface="+mn-lt"/>
                  <a:ea typeface="+mn-ea"/>
                  <a:cs typeface="+mn-cs"/>
                </a:rPr>
                <a:t xml:space="preserve"> 亿元</a:t>
              </a:r>
              <a:r>
                <a:rPr lang="zh-CN" sz="1720" b="1" dirty="0">
                  <a:solidFill>
                    <a:srgbClr val="C03616"/>
                  </a:solidFill>
                  <a:latin typeface="+mn-lt"/>
                  <a:ea typeface="+mn-ea"/>
                  <a:cs typeface="+mn-cs"/>
                </a:rPr>
                <a:t xml:space="preserve"> </a:t>
              </a:r>
            </a:p>
          </p:txBody>
        </p:sp>
        <p:sp>
          <p:nvSpPr>
            <p:cNvPr id="14" name="Rectangle 14"/>
            <p:cNvSpPr/>
            <p:nvPr/>
          </p:nvSpPr>
          <p:spPr>
            <a:xfrm>
              <a:off x="2743200" y="685800"/>
              <a:ext cx="2171700" cy="647700"/>
            </a:xfrm>
            <a:prstGeom prst="roundRect">
              <a:avLst>
                <a:gd name="adj" fmla="val 14706"/>
              </a:avLst>
            </a:prstGeom>
            <a:solidFill>
              <a:srgbClr val="FFFFFF"/>
            </a:solidFill>
            <a:ln w="14288">
              <a:solidFill>
                <a:srgbClr val="C9D6EE"/>
              </a:solidFill>
            </a:ln>
          </p:spPr>
        </p:sp>
        <p:sp>
          <p:nvSpPr>
            <p:cNvPr id="15" name="Ellipse 15"/>
            <p:cNvSpPr/>
            <p:nvPr/>
          </p:nvSpPr>
          <p:spPr>
            <a:xfrm>
              <a:off x="2876550" y="800100"/>
              <a:ext cx="419100" cy="419100"/>
            </a:xfrm>
            <a:prstGeom prst="ellipse">
              <a:avLst/>
            </a:prstGeom>
            <a:solidFill>
              <a:srgbClr val="721E0D"/>
            </a:solidFill>
            <a:ln>
              <a:noFill/>
            </a:ln>
          </p:spPr>
        </p:sp>
        <p:grpSp>
          <p:nvGrpSpPr>
            <p:cNvPr id="21" name="Group 21"/>
            <p:cNvGrpSpPr/>
            <p:nvPr/>
          </p:nvGrpSpPr>
          <p:grpSpPr>
            <a:xfrm>
              <a:off x="2993231" y="915398"/>
              <a:ext cx="185737" cy="187120"/>
              <a:chOff x="2993231" y="915398"/>
              <a:chExt cx="185737" cy="187120"/>
            </a:xfrm>
          </p:grpSpPr>
          <p:sp>
            <p:nvSpPr>
              <p:cNvPr id="16" name="Freeform 16"/>
              <p:cNvSpPr/>
              <p:nvPr/>
            </p:nvSpPr>
            <p:spPr>
              <a:xfrm>
                <a:off x="3055143" y="999331"/>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FFFFFF"/>
                </a:solidFill>
              </a:ln>
            </p:spPr>
          </p:sp>
          <p:sp>
            <p:nvSpPr>
              <p:cNvPr id="17" name="Freeform 17"/>
              <p:cNvSpPr/>
              <p:nvPr/>
            </p:nvSpPr>
            <p:spPr>
              <a:xfrm>
                <a:off x="3055143" y="1030287"/>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FFFFFF"/>
                </a:solidFill>
              </a:ln>
            </p:spPr>
          </p:sp>
          <p:sp>
            <p:nvSpPr>
              <p:cNvPr id="18" name="Freeform 18"/>
              <p:cNvSpPr/>
              <p:nvPr/>
            </p:nvSpPr>
            <p:spPr>
              <a:xfrm>
                <a:off x="2993231" y="915398"/>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FFFFFF"/>
                </a:solidFill>
              </a:ln>
            </p:spPr>
          </p:sp>
          <p:sp>
            <p:nvSpPr>
              <p:cNvPr id="19" name="Freeform 19"/>
              <p:cNvSpPr/>
              <p:nvPr/>
            </p:nvSpPr>
            <p:spPr>
              <a:xfrm>
                <a:off x="2993231" y="947737"/>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FFFFFF"/>
                </a:solidFill>
              </a:ln>
            </p:spPr>
          </p:sp>
          <p:sp>
            <p:nvSpPr>
              <p:cNvPr id="20" name="Freeform 20"/>
              <p:cNvSpPr/>
              <p:nvPr/>
            </p:nvSpPr>
            <p:spPr>
              <a:xfrm>
                <a:off x="2993231" y="999331"/>
                <a:ext cx="20637" cy="20637"/>
              </a:xfrm>
              <a:custGeom>
                <a:avLst/>
                <a:gdLst/>
                <a:ahLst/>
                <a:cxnLst/>
                <a:rect l="l" t="t" r="r" b="b"/>
                <a:pathLst>
                  <a:path w="20637" h="20637">
                    <a:moveTo>
                      <a:pt x="0" y="0"/>
                    </a:moveTo>
                    <a:cubicBezTo>
                      <a:pt x="0" y="9163"/>
                      <a:pt x="7966" y="14962"/>
                      <a:pt x="20637" y="20637"/>
                    </a:cubicBezTo>
                  </a:path>
                </a:pathLst>
              </a:custGeom>
              <a:noFill/>
              <a:ln w="20637">
                <a:solidFill>
                  <a:srgbClr val="FFFFFF"/>
                </a:solidFill>
              </a:ln>
            </p:spPr>
          </p:sp>
        </p:grpSp>
        <p:sp>
          <p:nvSpPr>
            <p:cNvPr id="22" name="TextBox 22"/>
            <p:cNvSpPr txBox="1"/>
            <p:nvPr/>
          </p:nvSpPr>
          <p:spPr>
            <a:xfrm>
              <a:off x="3405188" y="832247"/>
              <a:ext cx="515696" cy="183356"/>
            </a:xfrm>
            <a:prstGeom prst="rect">
              <a:avLst/>
            </a:prstGeom>
            <a:noFill/>
            <a:ln>
              <a:noFill/>
            </a:ln>
          </p:spPr>
          <p:txBody>
            <a:bodyPr wrap="none" lIns="0" tIns="0" rIns="0" bIns="0" anchor="t" anchorCtr="0">
              <a:spAutoFit/>
            </a:bodyPr>
            <a:lstStyle/>
            <a:p>
              <a:pPr algn="l"/>
              <a:r>
                <a:rPr lang="zh-CN" sz="940" b="1" dirty="0">
                  <a:solidFill>
                    <a:srgbClr val="461910"/>
                  </a:solidFill>
                  <a:latin typeface="+mn-lt"/>
                  <a:ea typeface="+mn-ea"/>
                  <a:cs typeface="+mn-cs"/>
                </a:rPr>
                <a:t>存量挖潜</a:t>
              </a:r>
            </a:p>
          </p:txBody>
        </p:sp>
        <p:sp>
          <p:nvSpPr>
            <p:cNvPr id="23" name="TextBox 23"/>
            <p:cNvSpPr txBox="1"/>
            <p:nvPr/>
          </p:nvSpPr>
          <p:spPr>
            <a:xfrm>
              <a:off x="3401187" y="1032986"/>
              <a:ext cx="940010" cy="337376"/>
            </a:xfrm>
            <a:prstGeom prst="rect">
              <a:avLst/>
            </a:prstGeom>
            <a:noFill/>
            <a:ln>
              <a:noFill/>
            </a:ln>
          </p:spPr>
          <p:txBody>
            <a:bodyPr wrap="none" lIns="0" tIns="0" rIns="0" bIns="0" anchor="t" anchorCtr="0">
              <a:spAutoFit/>
            </a:bodyPr>
            <a:lstStyle/>
            <a:p>
              <a:pPr algn="l"/>
              <a:r>
                <a:rPr lang="zh-CN" sz="1720" b="1" dirty="0">
                  <a:solidFill>
                    <a:srgbClr val="721E0D"/>
                  </a:solidFill>
                  <a:latin typeface="+mn-lt"/>
                  <a:ea typeface="+mn-ea"/>
                  <a:cs typeface="+mn-cs"/>
                </a:rPr>
                <a:t>1.36</a:t>
              </a:r>
              <a:r>
                <a:rPr lang="zh-CN" sz="820" dirty="0">
                  <a:solidFill>
                    <a:srgbClr val="523E3A"/>
                  </a:solidFill>
                  <a:latin typeface="+mn-lt"/>
                  <a:ea typeface="+mn-ea"/>
                  <a:cs typeface="+mn-cs"/>
                </a:rPr>
                <a:t xml:space="preserve"> 亿元</a:t>
              </a:r>
              <a:r>
                <a:rPr lang="zh-CN" sz="1720" b="1" dirty="0">
                  <a:solidFill>
                    <a:srgbClr val="721E0D"/>
                  </a:solidFill>
                  <a:latin typeface="+mn-lt"/>
                  <a:ea typeface="+mn-ea"/>
                  <a:cs typeface="+mn-cs"/>
                </a:rPr>
                <a:t xml:space="preserve"> </a:t>
              </a:r>
            </a:p>
          </p:txBody>
        </p:sp>
        <p:sp>
          <p:nvSpPr>
            <p:cNvPr id="24" name="Rectangle 24"/>
            <p:cNvSpPr/>
            <p:nvPr/>
          </p:nvSpPr>
          <p:spPr>
            <a:xfrm>
              <a:off x="5257800" y="685800"/>
              <a:ext cx="2171700" cy="647700"/>
            </a:xfrm>
            <a:prstGeom prst="roundRect">
              <a:avLst>
                <a:gd name="adj" fmla="val 14706"/>
              </a:avLst>
            </a:prstGeom>
            <a:solidFill>
              <a:srgbClr val="FFFFFF"/>
            </a:solidFill>
            <a:ln w="14288">
              <a:solidFill>
                <a:srgbClr val="C9D6EE"/>
              </a:solidFill>
            </a:ln>
          </p:spPr>
        </p:sp>
        <p:sp>
          <p:nvSpPr>
            <p:cNvPr id="25" name="Ellipse 25"/>
            <p:cNvSpPr/>
            <p:nvPr/>
          </p:nvSpPr>
          <p:spPr>
            <a:xfrm>
              <a:off x="5391150" y="800100"/>
              <a:ext cx="419100" cy="419100"/>
            </a:xfrm>
            <a:prstGeom prst="ellipse">
              <a:avLst/>
            </a:prstGeom>
            <a:solidFill>
              <a:srgbClr val="721E0D"/>
            </a:solidFill>
            <a:ln>
              <a:noFill/>
            </a:ln>
          </p:spPr>
        </p:sp>
        <p:grpSp>
          <p:nvGrpSpPr>
            <p:cNvPr id="30" name="Group 30"/>
            <p:cNvGrpSpPr/>
            <p:nvPr/>
          </p:nvGrpSpPr>
          <p:grpSpPr>
            <a:xfrm>
              <a:off x="5507831" y="916781"/>
              <a:ext cx="185737" cy="185738"/>
              <a:chOff x="5507831" y="916781"/>
              <a:chExt cx="185737" cy="185738"/>
            </a:xfrm>
          </p:grpSpPr>
          <p:sp>
            <p:nvSpPr>
              <p:cNvPr id="26" name="Freeform 26"/>
              <p:cNvSpPr/>
              <p:nvPr/>
            </p:nvSpPr>
            <p:spPr>
              <a:xfrm>
                <a:off x="5528469" y="91678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27" name="Freeform 27"/>
              <p:cNvSpPr/>
              <p:nvPr/>
            </p:nvSpPr>
            <p:spPr>
              <a:xfrm>
                <a:off x="5507831" y="1040606"/>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28" name="Freeform 28"/>
              <p:cNvSpPr/>
              <p:nvPr/>
            </p:nvSpPr>
            <p:spPr>
              <a:xfrm>
                <a:off x="5641974" y="918123"/>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29" name="Freeform 29"/>
              <p:cNvSpPr/>
              <p:nvPr/>
            </p:nvSpPr>
            <p:spPr>
              <a:xfrm>
                <a:off x="5662612" y="1042154"/>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31" name="TextBox 31"/>
            <p:cNvSpPr txBox="1"/>
            <p:nvPr/>
          </p:nvSpPr>
          <p:spPr>
            <a:xfrm>
              <a:off x="5919788" y="832247"/>
              <a:ext cx="515696" cy="183356"/>
            </a:xfrm>
            <a:prstGeom prst="rect">
              <a:avLst/>
            </a:prstGeom>
            <a:noFill/>
            <a:ln>
              <a:noFill/>
            </a:ln>
          </p:spPr>
          <p:txBody>
            <a:bodyPr wrap="none" lIns="0" tIns="0" rIns="0" bIns="0" anchor="t" anchorCtr="0">
              <a:spAutoFit/>
            </a:bodyPr>
            <a:lstStyle/>
            <a:p>
              <a:pPr algn="l"/>
              <a:r>
                <a:rPr lang="zh-CN" sz="940" b="1" dirty="0">
                  <a:solidFill>
                    <a:srgbClr val="461910"/>
                  </a:solidFill>
                  <a:latin typeface="+mn-lt"/>
                  <a:ea typeface="+mn-ea"/>
                  <a:cs typeface="+mn-cs"/>
                </a:rPr>
                <a:t>新客攻坚</a:t>
              </a:r>
            </a:p>
          </p:txBody>
        </p:sp>
        <p:sp>
          <p:nvSpPr>
            <p:cNvPr id="32" name="TextBox 32"/>
            <p:cNvSpPr txBox="1"/>
            <p:nvPr/>
          </p:nvSpPr>
          <p:spPr>
            <a:xfrm>
              <a:off x="5915787" y="1032986"/>
              <a:ext cx="940010" cy="337376"/>
            </a:xfrm>
            <a:prstGeom prst="rect">
              <a:avLst/>
            </a:prstGeom>
            <a:noFill/>
            <a:ln>
              <a:noFill/>
            </a:ln>
          </p:spPr>
          <p:txBody>
            <a:bodyPr wrap="none" lIns="0" tIns="0" rIns="0" bIns="0" anchor="t" anchorCtr="0">
              <a:spAutoFit/>
            </a:bodyPr>
            <a:lstStyle/>
            <a:p>
              <a:pPr algn="l"/>
              <a:r>
                <a:rPr lang="zh-CN" sz="1720" b="1" dirty="0">
                  <a:solidFill>
                    <a:srgbClr val="721E0D"/>
                  </a:solidFill>
                  <a:latin typeface="+mn-lt"/>
                  <a:ea typeface="+mn-ea"/>
                  <a:cs typeface="+mn-cs"/>
                </a:rPr>
                <a:t>0.54</a:t>
              </a:r>
              <a:r>
                <a:rPr lang="zh-CN" sz="820" dirty="0">
                  <a:solidFill>
                    <a:srgbClr val="523E3A"/>
                  </a:solidFill>
                  <a:latin typeface="+mn-lt"/>
                  <a:ea typeface="+mn-ea"/>
                  <a:cs typeface="+mn-cs"/>
                </a:rPr>
                <a:t xml:space="preserve"> 亿元</a:t>
              </a:r>
              <a:r>
                <a:rPr lang="zh-CN" sz="1720" b="1" dirty="0">
                  <a:solidFill>
                    <a:srgbClr val="721E0D"/>
                  </a:solidFill>
                  <a:latin typeface="+mn-lt"/>
                  <a:ea typeface="+mn-ea"/>
                  <a:cs typeface="+mn-cs"/>
                </a:rPr>
                <a:t xml:space="preserve"> </a:t>
              </a:r>
            </a:p>
          </p:txBody>
        </p:sp>
        <p:sp>
          <p:nvSpPr>
            <p:cNvPr id="33" name="Rectangle 33"/>
            <p:cNvSpPr/>
            <p:nvPr/>
          </p:nvSpPr>
          <p:spPr>
            <a:xfrm>
              <a:off x="7772400" y="685800"/>
              <a:ext cx="2171700" cy="647700"/>
            </a:xfrm>
            <a:prstGeom prst="roundRect">
              <a:avLst>
                <a:gd name="adj" fmla="val 14706"/>
              </a:avLst>
            </a:prstGeom>
            <a:solidFill>
              <a:srgbClr val="FFFFFF"/>
            </a:solidFill>
            <a:ln w="14288">
              <a:solidFill>
                <a:srgbClr val="C9D6EE"/>
              </a:solidFill>
            </a:ln>
          </p:spPr>
        </p:sp>
        <p:sp>
          <p:nvSpPr>
            <p:cNvPr id="34" name="Ellipse 34"/>
            <p:cNvSpPr/>
            <p:nvPr/>
          </p:nvSpPr>
          <p:spPr>
            <a:xfrm>
              <a:off x="7905750" y="800100"/>
              <a:ext cx="419100" cy="419100"/>
            </a:xfrm>
            <a:prstGeom prst="ellipse">
              <a:avLst/>
            </a:prstGeom>
            <a:solidFill>
              <a:srgbClr val="721E0D"/>
            </a:solidFill>
            <a:ln>
              <a:noFill/>
            </a:ln>
          </p:spPr>
        </p:sp>
        <p:grpSp>
          <p:nvGrpSpPr>
            <p:cNvPr id="38" name="Group 38"/>
            <p:cNvGrpSpPr/>
            <p:nvPr/>
          </p:nvGrpSpPr>
          <p:grpSpPr>
            <a:xfrm>
              <a:off x="8022431" y="916781"/>
              <a:ext cx="185737" cy="185737"/>
              <a:chOff x="8022431" y="916781"/>
              <a:chExt cx="185737" cy="185737"/>
            </a:xfrm>
          </p:grpSpPr>
          <p:sp>
            <p:nvSpPr>
              <p:cNvPr id="35" name="Freeform 35"/>
              <p:cNvSpPr/>
              <p:nvPr/>
            </p:nvSpPr>
            <p:spPr>
              <a:xfrm>
                <a:off x="8104981" y="999331"/>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FFFFFF"/>
                </a:solidFill>
              </a:ln>
            </p:spPr>
          </p:sp>
          <p:sp>
            <p:nvSpPr>
              <p:cNvPr id="36" name="Freeform 36"/>
              <p:cNvSpPr/>
              <p:nvPr/>
            </p:nvSpPr>
            <p:spPr>
              <a:xfrm>
                <a:off x="8063706" y="958056"/>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FFFFFF"/>
                </a:solidFill>
              </a:ln>
            </p:spPr>
          </p:sp>
          <p:sp>
            <p:nvSpPr>
              <p:cNvPr id="37" name="Freeform 37"/>
              <p:cNvSpPr/>
              <p:nvPr/>
            </p:nvSpPr>
            <p:spPr>
              <a:xfrm>
                <a:off x="8022431" y="9167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grpSp>
        <p:sp>
          <p:nvSpPr>
            <p:cNvPr id="39" name="TextBox 39"/>
            <p:cNvSpPr txBox="1"/>
            <p:nvPr/>
          </p:nvSpPr>
          <p:spPr>
            <a:xfrm>
              <a:off x="8434388" y="832247"/>
              <a:ext cx="515696" cy="183356"/>
            </a:xfrm>
            <a:prstGeom prst="rect">
              <a:avLst/>
            </a:prstGeom>
            <a:noFill/>
            <a:ln>
              <a:noFill/>
            </a:ln>
          </p:spPr>
          <p:txBody>
            <a:bodyPr wrap="none" lIns="0" tIns="0" rIns="0" bIns="0" anchor="t" anchorCtr="0">
              <a:spAutoFit/>
            </a:bodyPr>
            <a:lstStyle/>
            <a:p>
              <a:pPr algn="l"/>
              <a:r>
                <a:rPr lang="zh-CN" sz="940" b="1" dirty="0">
                  <a:solidFill>
                    <a:srgbClr val="461910"/>
                  </a:solidFill>
                  <a:latin typeface="+mn-lt"/>
                  <a:ea typeface="+mn-ea"/>
                  <a:cs typeface="+mn-cs"/>
                </a:rPr>
                <a:t>重点战役</a:t>
              </a:r>
            </a:p>
          </p:txBody>
        </p:sp>
        <p:sp>
          <p:nvSpPr>
            <p:cNvPr id="40" name="TextBox 40"/>
            <p:cNvSpPr txBox="1"/>
            <p:nvPr/>
          </p:nvSpPr>
          <p:spPr>
            <a:xfrm>
              <a:off x="8430387" y="1032986"/>
              <a:ext cx="940010" cy="337376"/>
            </a:xfrm>
            <a:prstGeom prst="rect">
              <a:avLst/>
            </a:prstGeom>
            <a:noFill/>
            <a:ln>
              <a:noFill/>
            </a:ln>
          </p:spPr>
          <p:txBody>
            <a:bodyPr wrap="none" lIns="0" tIns="0" rIns="0" bIns="0" anchor="t" anchorCtr="0">
              <a:spAutoFit/>
            </a:bodyPr>
            <a:lstStyle/>
            <a:p>
              <a:pPr algn="l"/>
              <a:r>
                <a:rPr lang="zh-CN" sz="1720" b="1" dirty="0">
                  <a:solidFill>
                    <a:srgbClr val="721E0D"/>
                  </a:solidFill>
                  <a:latin typeface="+mn-lt"/>
                  <a:ea typeface="+mn-ea"/>
                  <a:cs typeface="+mn-cs"/>
                </a:rPr>
                <a:t>0.20</a:t>
              </a:r>
              <a:r>
                <a:rPr lang="zh-CN" sz="820" dirty="0">
                  <a:solidFill>
                    <a:srgbClr val="523E3A"/>
                  </a:solidFill>
                  <a:latin typeface="+mn-lt"/>
                  <a:ea typeface="+mn-ea"/>
                  <a:cs typeface="+mn-cs"/>
                </a:rPr>
                <a:t xml:space="preserve"> 亿元</a:t>
              </a:r>
              <a:r>
                <a:rPr lang="zh-CN" sz="1720" b="1" dirty="0">
                  <a:solidFill>
                    <a:srgbClr val="721E0D"/>
                  </a:solidFill>
                  <a:latin typeface="+mn-lt"/>
                  <a:ea typeface="+mn-ea"/>
                  <a:cs typeface="+mn-cs"/>
                </a:rPr>
                <a:t xml:space="preserve"> </a:t>
              </a:r>
            </a:p>
          </p:txBody>
        </p:sp>
        <p:sp>
          <p:nvSpPr>
            <p:cNvPr id="41" name="TextBox 41"/>
            <p:cNvSpPr txBox="1"/>
            <p:nvPr/>
          </p:nvSpPr>
          <p:spPr>
            <a:xfrm>
              <a:off x="2460402" y="878205"/>
              <a:ext cx="184596" cy="410718"/>
            </a:xfrm>
            <a:prstGeom prst="rect">
              <a:avLst/>
            </a:prstGeom>
            <a:noFill/>
            <a:ln>
              <a:noFill/>
            </a:ln>
          </p:spPr>
          <p:txBody>
            <a:bodyPr wrap="none" lIns="0" tIns="0" rIns="0" bIns="0" anchor="t" anchorCtr="0">
              <a:spAutoFit/>
            </a:bodyPr>
            <a:lstStyle/>
            <a:p>
              <a:pPr algn="ctr"/>
              <a:r>
                <a:rPr lang="zh-CN" sz="2100" b="1" dirty="0">
                  <a:solidFill>
                    <a:srgbClr val="721E0D"/>
                  </a:solidFill>
                  <a:latin typeface="+mn-lt"/>
                  <a:ea typeface="+mn-ea"/>
                  <a:cs typeface="+mn-cs"/>
                </a:rPr>
                <a:t>+</a:t>
              </a:r>
            </a:p>
          </p:txBody>
        </p:sp>
        <p:sp>
          <p:nvSpPr>
            <p:cNvPr id="42" name="TextBox 42"/>
            <p:cNvSpPr txBox="1"/>
            <p:nvPr/>
          </p:nvSpPr>
          <p:spPr>
            <a:xfrm>
              <a:off x="4975002" y="878205"/>
              <a:ext cx="184596" cy="410718"/>
            </a:xfrm>
            <a:prstGeom prst="rect">
              <a:avLst/>
            </a:prstGeom>
            <a:noFill/>
            <a:ln>
              <a:noFill/>
            </a:ln>
          </p:spPr>
          <p:txBody>
            <a:bodyPr wrap="none" lIns="0" tIns="0" rIns="0" bIns="0" anchor="t" anchorCtr="0">
              <a:spAutoFit/>
            </a:bodyPr>
            <a:lstStyle/>
            <a:p>
              <a:pPr algn="ctr"/>
              <a:r>
                <a:rPr lang="zh-CN" sz="2100" b="1" dirty="0">
                  <a:solidFill>
                    <a:srgbClr val="721E0D"/>
                  </a:solidFill>
                  <a:latin typeface="+mn-lt"/>
                  <a:ea typeface="+mn-ea"/>
                  <a:cs typeface="+mn-cs"/>
                </a:rPr>
                <a:t>+</a:t>
              </a:r>
            </a:p>
          </p:txBody>
        </p:sp>
        <p:sp>
          <p:nvSpPr>
            <p:cNvPr id="43" name="TextBox 43"/>
            <p:cNvSpPr txBox="1"/>
            <p:nvPr/>
          </p:nvSpPr>
          <p:spPr>
            <a:xfrm>
              <a:off x="7489602" y="878205"/>
              <a:ext cx="184596" cy="410718"/>
            </a:xfrm>
            <a:prstGeom prst="rect">
              <a:avLst/>
            </a:prstGeom>
            <a:noFill/>
            <a:ln>
              <a:noFill/>
            </a:ln>
          </p:spPr>
          <p:txBody>
            <a:bodyPr wrap="none" lIns="0" tIns="0" rIns="0" bIns="0" anchor="t" anchorCtr="0">
              <a:spAutoFit/>
            </a:bodyPr>
            <a:lstStyle/>
            <a:p>
              <a:pPr algn="ctr"/>
              <a:r>
                <a:rPr lang="zh-CN" sz="2100" b="1" dirty="0">
                  <a:solidFill>
                    <a:srgbClr val="721E0D"/>
                  </a:solidFill>
                  <a:latin typeface="+mn-lt"/>
                  <a:ea typeface="+mn-ea"/>
                  <a:cs typeface="+mn-cs"/>
                </a:rPr>
                <a:t>+</a:t>
              </a:r>
            </a:p>
          </p:txBody>
        </p:sp>
        <p:sp>
          <p:nvSpPr>
            <p:cNvPr id="44" name="TextBox 44"/>
            <p:cNvSpPr txBox="1"/>
            <p:nvPr/>
          </p:nvSpPr>
          <p:spPr>
            <a:xfrm>
              <a:off x="9985152" y="878205"/>
              <a:ext cx="184596" cy="410718"/>
            </a:xfrm>
            <a:prstGeom prst="rect">
              <a:avLst/>
            </a:prstGeom>
            <a:noFill/>
            <a:ln>
              <a:noFill/>
            </a:ln>
          </p:spPr>
          <p:txBody>
            <a:bodyPr wrap="none" lIns="0" tIns="0" rIns="0" bIns="0" anchor="t" anchorCtr="0">
              <a:spAutoFit/>
            </a:bodyPr>
            <a:lstStyle/>
            <a:p>
              <a:pPr algn="ctr"/>
              <a:r>
                <a:rPr lang="zh-CN" sz="2100" b="1" dirty="0">
                  <a:solidFill>
                    <a:srgbClr val="721E0D"/>
                  </a:solidFill>
                  <a:latin typeface="+mn-lt"/>
                  <a:ea typeface="+mn-ea"/>
                  <a:cs typeface="+mn-cs"/>
                </a:rPr>
                <a:t>=</a:t>
              </a:r>
            </a:p>
          </p:txBody>
        </p:sp>
        <p:sp>
          <p:nvSpPr>
            <p:cNvPr id="45" name="Rectangle 45"/>
            <p:cNvSpPr/>
            <p:nvPr/>
          </p:nvSpPr>
          <p:spPr>
            <a:xfrm>
              <a:off x="10229850" y="685800"/>
              <a:ext cx="1733550" cy="647700"/>
            </a:xfrm>
            <a:prstGeom prst="roundRect">
              <a:avLst>
                <a:gd name="adj" fmla="val 14706"/>
              </a:avLst>
            </a:prstGeom>
            <a:solidFill>
              <a:srgbClr val="721E0D"/>
            </a:solidFill>
            <a:ln>
              <a:noFill/>
            </a:ln>
          </p:spPr>
        </p:sp>
        <p:sp>
          <p:nvSpPr>
            <p:cNvPr id="46" name="Ellipse 46"/>
            <p:cNvSpPr/>
            <p:nvPr/>
          </p:nvSpPr>
          <p:spPr>
            <a:xfrm>
              <a:off x="10325100" y="819150"/>
              <a:ext cx="381000" cy="381000"/>
            </a:xfrm>
            <a:prstGeom prst="ellipse">
              <a:avLst/>
            </a:prstGeom>
            <a:solidFill>
              <a:srgbClr val="FFFFFF"/>
            </a:solidFill>
            <a:ln>
              <a:noFill/>
            </a:ln>
          </p:spPr>
        </p:sp>
        <p:grpSp>
          <p:nvGrpSpPr>
            <p:cNvPr id="49" name="Group 49"/>
            <p:cNvGrpSpPr/>
            <p:nvPr/>
          </p:nvGrpSpPr>
          <p:grpSpPr>
            <a:xfrm>
              <a:off x="10439400" y="952500"/>
              <a:ext cx="152400" cy="133350"/>
              <a:chOff x="10439400" y="952500"/>
              <a:chExt cx="152400" cy="133350"/>
            </a:xfrm>
          </p:grpSpPr>
          <p:sp>
            <p:nvSpPr>
              <p:cNvPr id="47" name="Freeform 47"/>
              <p:cNvSpPr/>
              <p:nvPr/>
            </p:nvSpPr>
            <p:spPr>
              <a:xfrm>
                <a:off x="10439400" y="1076325"/>
                <a:ext cx="152400" cy="9525"/>
              </a:xfrm>
              <a:custGeom>
                <a:avLst/>
                <a:gdLst/>
                <a:ahLst/>
                <a:cxnLst/>
                <a:rect l="l" t="t" r="r" b="b"/>
                <a:pathLst>
                  <a:path w="152400" h="9525">
                    <a:moveTo>
                      <a:pt x="0" y="0"/>
                    </a:moveTo>
                    <a:lnTo>
                      <a:pt x="152400" y="0"/>
                    </a:lnTo>
                  </a:path>
                </a:pathLst>
              </a:custGeom>
              <a:noFill/>
              <a:ln w="19050">
                <a:solidFill>
                  <a:srgbClr val="721E0D"/>
                </a:solidFill>
              </a:ln>
            </p:spPr>
          </p:sp>
          <p:sp>
            <p:nvSpPr>
              <p:cNvPr id="48" name="Freeform 48"/>
              <p:cNvSpPr/>
              <p:nvPr/>
            </p:nvSpPr>
            <p:spPr>
              <a:xfrm>
                <a:off x="10439400" y="95250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721E0D"/>
                </a:solidFill>
              </a:ln>
            </p:spPr>
          </p:sp>
        </p:grpSp>
        <p:sp>
          <p:nvSpPr>
            <p:cNvPr id="50" name="TextBox 50"/>
            <p:cNvSpPr txBox="1"/>
            <p:nvPr/>
          </p:nvSpPr>
          <p:spPr>
            <a:xfrm>
              <a:off x="10777538" y="836295"/>
              <a:ext cx="85763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可追回潜力合计</a:t>
              </a:r>
            </a:p>
          </p:txBody>
        </p:sp>
        <p:sp>
          <p:nvSpPr>
            <p:cNvPr id="51" name="TextBox 51"/>
            <p:cNvSpPr txBox="1"/>
            <p:nvPr/>
          </p:nvSpPr>
          <p:spPr>
            <a:xfrm>
              <a:off x="10773537" y="1032986"/>
              <a:ext cx="940010" cy="337376"/>
            </a:xfrm>
            <a:prstGeom prst="rect">
              <a:avLst/>
            </a:prstGeom>
            <a:noFill/>
            <a:ln>
              <a:noFill/>
            </a:ln>
          </p:spPr>
          <p:txBody>
            <a:bodyPr wrap="none" lIns="0" tIns="0" rIns="0" bIns="0" anchor="t" anchorCtr="0">
              <a:spAutoFit/>
            </a:bodyPr>
            <a:lstStyle/>
            <a:p>
              <a:pPr algn="l"/>
              <a:r>
                <a:rPr lang="zh-CN" sz="1720" b="1" dirty="0">
                  <a:solidFill>
                    <a:srgbClr val="FFFFFF"/>
                  </a:solidFill>
                  <a:latin typeface="+mn-lt"/>
                  <a:ea typeface="+mn-ea"/>
                  <a:cs typeface="+mn-cs"/>
                </a:rPr>
                <a:t>2.10</a:t>
              </a:r>
              <a:r>
                <a:rPr lang="zh-CN" sz="820" dirty="0">
                  <a:solidFill>
                    <a:srgbClr val="FFFFFF"/>
                  </a:solidFill>
                  <a:latin typeface="+mn-lt"/>
                  <a:ea typeface="+mn-ea"/>
                  <a:cs typeface="+mn-cs"/>
                </a:rPr>
                <a:t xml:space="preserve"> 亿元</a:t>
              </a:r>
              <a:r>
                <a:rPr lang="zh-CN" sz="1720" b="1" dirty="0">
                  <a:solidFill>
                    <a:srgbClr val="FFFFFF"/>
                  </a:solidFill>
                  <a:latin typeface="+mn-lt"/>
                  <a:ea typeface="+mn-ea"/>
                  <a:cs typeface="+mn-cs"/>
                </a:rPr>
                <a:t xml:space="preserve"> </a:t>
              </a:r>
            </a:p>
          </p:txBody>
        </p:sp>
      </p:grpSp>
      <p:grpSp>
        <p:nvGrpSpPr>
          <p:cNvPr id="93" name="waterfall-card"/>
          <p:cNvGrpSpPr/>
          <p:nvPr/>
        </p:nvGrpSpPr>
        <p:grpSpPr>
          <a:xfrm>
            <a:off x="228600" y="1428750"/>
            <a:ext cx="7829550" cy="3048000"/>
            <a:chOff x="228600" y="1428750"/>
            <a:chExt cx="7829550" cy="3048000"/>
          </a:xfrm>
        </p:grpSpPr>
        <p:sp>
          <p:nvSpPr>
            <p:cNvPr id="53" name="Rectangle 53"/>
            <p:cNvSpPr/>
            <p:nvPr/>
          </p:nvSpPr>
          <p:spPr>
            <a:xfrm>
              <a:off x="228600" y="1428750"/>
              <a:ext cx="7829550" cy="3048000"/>
            </a:xfrm>
            <a:prstGeom prst="roundRect">
              <a:avLst>
                <a:gd name="adj" fmla="val 3125"/>
              </a:avLst>
            </a:prstGeom>
            <a:solidFill>
              <a:srgbClr val="FFFFFF"/>
            </a:solidFill>
            <a:ln w="14288">
              <a:solidFill>
                <a:srgbClr val="C9D6EE"/>
              </a:solidFill>
            </a:ln>
          </p:spPr>
        </p:sp>
        <p:sp>
          <p:nvSpPr>
            <p:cNvPr id="54" name="Freeform 54"/>
            <p:cNvSpPr/>
            <p:nvPr/>
          </p:nvSpPr>
          <p:spPr>
            <a:xfrm>
              <a:off x="228600" y="1428750"/>
              <a:ext cx="7829550" cy="247650"/>
            </a:xfrm>
            <a:custGeom>
              <a:avLst/>
              <a:gdLst/>
              <a:ahLst/>
              <a:cxnLst/>
              <a:rect l="l" t="t" r="r" b="b"/>
              <a:pathLst>
                <a:path w="7829550" h="247650">
                  <a:moveTo>
                    <a:pt x="95250" y="0"/>
                  </a:moveTo>
                  <a:lnTo>
                    <a:pt x="7734300" y="0"/>
                  </a:lnTo>
                  <a:cubicBezTo>
                    <a:pt x="7786905" y="0"/>
                    <a:pt x="7829550" y="42645"/>
                    <a:pt x="7829550" y="95250"/>
                  </a:cubicBezTo>
                  <a:lnTo>
                    <a:pt x="7829550" y="247650"/>
                  </a:lnTo>
                  <a:lnTo>
                    <a:pt x="0" y="247650"/>
                  </a:lnTo>
                  <a:lnTo>
                    <a:pt x="0" y="95250"/>
                  </a:lnTo>
                  <a:cubicBezTo>
                    <a:pt x="0" y="42645"/>
                    <a:pt x="42645" y="0"/>
                    <a:pt x="95250" y="0"/>
                  </a:cubicBezTo>
                  <a:close/>
                </a:path>
              </a:pathLst>
            </a:custGeom>
            <a:solidFill>
              <a:srgbClr val="721E0D"/>
            </a:solidFill>
            <a:ln>
              <a:noFill/>
            </a:ln>
          </p:spPr>
        </p:sp>
        <p:sp>
          <p:nvSpPr>
            <p:cNvPr id="55" name="TextBox 55"/>
            <p:cNvSpPr txBox="1"/>
            <p:nvPr/>
          </p:nvSpPr>
          <p:spPr>
            <a:xfrm>
              <a:off x="3080600" y="1512570"/>
              <a:ext cx="212554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 xml:space="preserve">   追回路径瀑布图（单位：亿元）   </a:t>
              </a:r>
            </a:p>
          </p:txBody>
        </p:sp>
        <p:sp>
          <p:nvSpPr>
            <p:cNvPr id="56" name="Line 56"/>
            <p:cNvSpPr/>
            <p:nvPr/>
          </p:nvSpPr>
          <p:spPr>
            <a:xfrm>
              <a:off x="666750" y="4191000"/>
              <a:ext cx="7048500" cy="9525"/>
            </a:xfrm>
            <a:custGeom>
              <a:avLst/>
              <a:gdLst/>
              <a:ahLst/>
              <a:cxnLst/>
              <a:rect l="l" t="t" r="r" b="b"/>
              <a:pathLst>
                <a:path w="7048500" h="9525">
                  <a:moveTo>
                    <a:pt x="0" y="0"/>
                  </a:moveTo>
                  <a:lnTo>
                    <a:pt x="7048500" y="0"/>
                  </a:lnTo>
                </a:path>
              </a:pathLst>
            </a:custGeom>
            <a:noFill/>
            <a:ln w="9525">
              <a:solidFill>
                <a:srgbClr val="EEF1F6"/>
              </a:solidFill>
            </a:ln>
          </p:spPr>
        </p:sp>
        <p:sp>
          <p:nvSpPr>
            <p:cNvPr id="57" name="TextBox 57"/>
            <p:cNvSpPr txBox="1"/>
            <p:nvPr/>
          </p:nvSpPr>
          <p:spPr>
            <a:xfrm>
              <a:off x="384396" y="4151471"/>
              <a:ext cx="210917" cy="133350"/>
            </a:xfrm>
            <a:prstGeom prst="rect">
              <a:avLst/>
            </a:prstGeom>
            <a:noFill/>
            <a:ln>
              <a:noFill/>
            </a:ln>
          </p:spPr>
          <p:txBody>
            <a:bodyPr wrap="none" lIns="0" tIns="0" rIns="0" bIns="0" anchor="t" anchorCtr="0">
              <a:spAutoFit/>
            </a:bodyPr>
            <a:lstStyle/>
            <a:p>
              <a:pPr algn="r"/>
              <a:r>
                <a:rPr lang="zh-CN" sz="680" dirty="0">
                  <a:solidFill>
                    <a:srgbClr val="6E7686"/>
                  </a:solidFill>
                  <a:latin typeface="+mn-lt"/>
                  <a:ea typeface="+mn-ea"/>
                  <a:cs typeface="+mn-cs"/>
                </a:rPr>
                <a:t xml:space="preserve"> 0.0</a:t>
              </a:r>
            </a:p>
          </p:txBody>
        </p:sp>
        <p:sp>
          <p:nvSpPr>
            <p:cNvPr id="58" name="Line 58"/>
            <p:cNvSpPr/>
            <p:nvPr/>
          </p:nvSpPr>
          <p:spPr>
            <a:xfrm>
              <a:off x="666750" y="3714750"/>
              <a:ext cx="7048500" cy="9525"/>
            </a:xfrm>
            <a:custGeom>
              <a:avLst/>
              <a:gdLst/>
              <a:ahLst/>
              <a:cxnLst/>
              <a:rect l="l" t="t" r="r" b="b"/>
              <a:pathLst>
                <a:path w="7048500" h="9525">
                  <a:moveTo>
                    <a:pt x="0" y="0"/>
                  </a:moveTo>
                  <a:lnTo>
                    <a:pt x="7048500" y="0"/>
                  </a:lnTo>
                </a:path>
              </a:pathLst>
            </a:custGeom>
            <a:noFill/>
            <a:ln w="9525">
              <a:solidFill>
                <a:srgbClr val="EEF1F6"/>
              </a:solidFill>
            </a:ln>
          </p:spPr>
        </p:sp>
        <p:sp>
          <p:nvSpPr>
            <p:cNvPr id="59" name="TextBox 59"/>
            <p:cNvSpPr txBox="1"/>
            <p:nvPr/>
          </p:nvSpPr>
          <p:spPr>
            <a:xfrm>
              <a:off x="384396" y="3675221"/>
              <a:ext cx="210917" cy="133350"/>
            </a:xfrm>
            <a:prstGeom prst="rect">
              <a:avLst/>
            </a:prstGeom>
            <a:noFill/>
            <a:ln>
              <a:noFill/>
            </a:ln>
          </p:spPr>
          <p:txBody>
            <a:bodyPr wrap="none" lIns="0" tIns="0" rIns="0" bIns="0" anchor="t" anchorCtr="0">
              <a:spAutoFit/>
            </a:bodyPr>
            <a:lstStyle/>
            <a:p>
              <a:pPr algn="r"/>
              <a:r>
                <a:rPr lang="zh-CN" sz="680" dirty="0">
                  <a:solidFill>
                    <a:srgbClr val="6E7686"/>
                  </a:solidFill>
                  <a:latin typeface="+mn-lt"/>
                  <a:ea typeface="+mn-ea"/>
                  <a:cs typeface="+mn-cs"/>
                </a:rPr>
                <a:t xml:space="preserve"> 0.5</a:t>
              </a:r>
            </a:p>
          </p:txBody>
        </p:sp>
        <p:sp>
          <p:nvSpPr>
            <p:cNvPr id="60" name="Line 60"/>
            <p:cNvSpPr/>
            <p:nvPr/>
          </p:nvSpPr>
          <p:spPr>
            <a:xfrm>
              <a:off x="666750" y="3238500"/>
              <a:ext cx="7048500" cy="9525"/>
            </a:xfrm>
            <a:custGeom>
              <a:avLst/>
              <a:gdLst/>
              <a:ahLst/>
              <a:cxnLst/>
              <a:rect l="l" t="t" r="r" b="b"/>
              <a:pathLst>
                <a:path w="7048500" h="9525">
                  <a:moveTo>
                    <a:pt x="0" y="0"/>
                  </a:moveTo>
                  <a:lnTo>
                    <a:pt x="7048500" y="0"/>
                  </a:lnTo>
                </a:path>
              </a:pathLst>
            </a:custGeom>
            <a:noFill/>
            <a:ln w="9525">
              <a:solidFill>
                <a:srgbClr val="EEF1F6"/>
              </a:solidFill>
            </a:ln>
          </p:spPr>
        </p:sp>
        <p:sp>
          <p:nvSpPr>
            <p:cNvPr id="61" name="TextBox 61"/>
            <p:cNvSpPr txBox="1"/>
            <p:nvPr/>
          </p:nvSpPr>
          <p:spPr>
            <a:xfrm>
              <a:off x="384396" y="3198971"/>
              <a:ext cx="210917" cy="133350"/>
            </a:xfrm>
            <a:prstGeom prst="rect">
              <a:avLst/>
            </a:prstGeom>
            <a:noFill/>
            <a:ln>
              <a:noFill/>
            </a:ln>
          </p:spPr>
          <p:txBody>
            <a:bodyPr wrap="none" lIns="0" tIns="0" rIns="0" bIns="0" anchor="t" anchorCtr="0">
              <a:spAutoFit/>
            </a:bodyPr>
            <a:lstStyle/>
            <a:p>
              <a:pPr algn="r"/>
              <a:r>
                <a:rPr lang="zh-CN" sz="680" dirty="0">
                  <a:solidFill>
                    <a:srgbClr val="6E7686"/>
                  </a:solidFill>
                  <a:latin typeface="+mn-lt"/>
                  <a:ea typeface="+mn-ea"/>
                  <a:cs typeface="+mn-cs"/>
                </a:rPr>
                <a:t xml:space="preserve"> 1.0</a:t>
              </a:r>
            </a:p>
          </p:txBody>
        </p:sp>
        <p:sp>
          <p:nvSpPr>
            <p:cNvPr id="62" name="Line 62"/>
            <p:cNvSpPr/>
            <p:nvPr/>
          </p:nvSpPr>
          <p:spPr>
            <a:xfrm>
              <a:off x="666750" y="2762250"/>
              <a:ext cx="7048500" cy="9525"/>
            </a:xfrm>
            <a:custGeom>
              <a:avLst/>
              <a:gdLst/>
              <a:ahLst/>
              <a:cxnLst/>
              <a:rect l="l" t="t" r="r" b="b"/>
              <a:pathLst>
                <a:path w="7048500" h="9525">
                  <a:moveTo>
                    <a:pt x="0" y="0"/>
                  </a:moveTo>
                  <a:lnTo>
                    <a:pt x="7048500" y="0"/>
                  </a:lnTo>
                </a:path>
              </a:pathLst>
            </a:custGeom>
            <a:noFill/>
            <a:ln w="9525">
              <a:solidFill>
                <a:srgbClr val="EEF1F6"/>
              </a:solidFill>
            </a:ln>
          </p:spPr>
        </p:sp>
        <p:sp>
          <p:nvSpPr>
            <p:cNvPr id="63" name="TextBox 63"/>
            <p:cNvSpPr txBox="1"/>
            <p:nvPr/>
          </p:nvSpPr>
          <p:spPr>
            <a:xfrm>
              <a:off x="384396" y="2722721"/>
              <a:ext cx="210917" cy="133350"/>
            </a:xfrm>
            <a:prstGeom prst="rect">
              <a:avLst/>
            </a:prstGeom>
            <a:noFill/>
            <a:ln>
              <a:noFill/>
            </a:ln>
          </p:spPr>
          <p:txBody>
            <a:bodyPr wrap="none" lIns="0" tIns="0" rIns="0" bIns="0" anchor="t" anchorCtr="0">
              <a:spAutoFit/>
            </a:bodyPr>
            <a:lstStyle/>
            <a:p>
              <a:pPr algn="r"/>
              <a:r>
                <a:rPr lang="zh-CN" sz="680" dirty="0">
                  <a:solidFill>
                    <a:srgbClr val="6E7686"/>
                  </a:solidFill>
                  <a:latin typeface="+mn-lt"/>
                  <a:ea typeface="+mn-ea"/>
                  <a:cs typeface="+mn-cs"/>
                </a:rPr>
                <a:t xml:space="preserve"> 1.5</a:t>
              </a:r>
            </a:p>
          </p:txBody>
        </p:sp>
        <p:sp>
          <p:nvSpPr>
            <p:cNvPr id="64" name="Line 64"/>
            <p:cNvSpPr/>
            <p:nvPr/>
          </p:nvSpPr>
          <p:spPr>
            <a:xfrm>
              <a:off x="666750" y="2286000"/>
              <a:ext cx="7048500" cy="9525"/>
            </a:xfrm>
            <a:custGeom>
              <a:avLst/>
              <a:gdLst/>
              <a:ahLst/>
              <a:cxnLst/>
              <a:rect l="l" t="t" r="r" b="b"/>
              <a:pathLst>
                <a:path w="7048500" h="9525">
                  <a:moveTo>
                    <a:pt x="0" y="0"/>
                  </a:moveTo>
                  <a:lnTo>
                    <a:pt x="7048500" y="0"/>
                  </a:lnTo>
                </a:path>
              </a:pathLst>
            </a:custGeom>
            <a:noFill/>
            <a:ln w="9525">
              <a:solidFill>
                <a:srgbClr val="EEF1F6"/>
              </a:solidFill>
            </a:ln>
          </p:spPr>
        </p:sp>
        <p:sp>
          <p:nvSpPr>
            <p:cNvPr id="65" name="TextBox 65"/>
            <p:cNvSpPr txBox="1"/>
            <p:nvPr/>
          </p:nvSpPr>
          <p:spPr>
            <a:xfrm>
              <a:off x="384396" y="2246471"/>
              <a:ext cx="210917" cy="133350"/>
            </a:xfrm>
            <a:prstGeom prst="rect">
              <a:avLst/>
            </a:prstGeom>
            <a:noFill/>
            <a:ln>
              <a:noFill/>
            </a:ln>
          </p:spPr>
          <p:txBody>
            <a:bodyPr wrap="none" lIns="0" tIns="0" rIns="0" bIns="0" anchor="t" anchorCtr="0">
              <a:spAutoFit/>
            </a:bodyPr>
            <a:lstStyle/>
            <a:p>
              <a:pPr algn="r"/>
              <a:r>
                <a:rPr lang="zh-CN" sz="680" dirty="0">
                  <a:solidFill>
                    <a:srgbClr val="6E7686"/>
                  </a:solidFill>
                  <a:latin typeface="+mn-lt"/>
                  <a:ea typeface="+mn-ea"/>
                  <a:cs typeface="+mn-cs"/>
                </a:rPr>
                <a:t xml:space="preserve"> 2.0</a:t>
              </a:r>
            </a:p>
          </p:txBody>
        </p:sp>
        <p:sp>
          <p:nvSpPr>
            <p:cNvPr id="66" name="Line 66"/>
            <p:cNvSpPr/>
            <p:nvPr/>
          </p:nvSpPr>
          <p:spPr>
            <a:xfrm>
              <a:off x="666750" y="1809750"/>
              <a:ext cx="7048500" cy="9525"/>
            </a:xfrm>
            <a:custGeom>
              <a:avLst/>
              <a:gdLst/>
              <a:ahLst/>
              <a:cxnLst/>
              <a:rect l="l" t="t" r="r" b="b"/>
              <a:pathLst>
                <a:path w="7048500" h="9525">
                  <a:moveTo>
                    <a:pt x="0" y="0"/>
                  </a:moveTo>
                  <a:lnTo>
                    <a:pt x="7048500" y="0"/>
                  </a:lnTo>
                </a:path>
              </a:pathLst>
            </a:custGeom>
            <a:noFill/>
            <a:ln w="9525">
              <a:solidFill>
                <a:srgbClr val="EEF1F6"/>
              </a:solidFill>
            </a:ln>
          </p:spPr>
        </p:sp>
        <p:sp>
          <p:nvSpPr>
            <p:cNvPr id="67" name="TextBox 67"/>
            <p:cNvSpPr txBox="1"/>
            <p:nvPr/>
          </p:nvSpPr>
          <p:spPr>
            <a:xfrm>
              <a:off x="384396" y="1770221"/>
              <a:ext cx="210917" cy="133350"/>
            </a:xfrm>
            <a:prstGeom prst="rect">
              <a:avLst/>
            </a:prstGeom>
            <a:noFill/>
            <a:ln>
              <a:noFill/>
            </a:ln>
          </p:spPr>
          <p:txBody>
            <a:bodyPr wrap="none" lIns="0" tIns="0" rIns="0" bIns="0" anchor="t" anchorCtr="0">
              <a:spAutoFit/>
            </a:bodyPr>
            <a:lstStyle/>
            <a:p>
              <a:pPr algn="r"/>
              <a:r>
                <a:rPr lang="zh-CN" sz="680" dirty="0">
                  <a:solidFill>
                    <a:srgbClr val="6E7686"/>
                  </a:solidFill>
                  <a:latin typeface="+mn-lt"/>
                  <a:ea typeface="+mn-ea"/>
                  <a:cs typeface="+mn-cs"/>
                </a:rPr>
                <a:t xml:space="preserve"> 2.5</a:t>
              </a:r>
            </a:p>
          </p:txBody>
        </p:sp>
        <p:sp>
          <p:nvSpPr>
            <p:cNvPr id="68" name="Line 68"/>
            <p:cNvSpPr/>
            <p:nvPr/>
          </p:nvSpPr>
          <p:spPr>
            <a:xfrm>
              <a:off x="666750" y="1809750"/>
              <a:ext cx="9525" cy="2381250"/>
            </a:xfrm>
            <a:custGeom>
              <a:avLst/>
              <a:gdLst/>
              <a:ahLst/>
              <a:cxnLst/>
              <a:rect l="l" t="t" r="r" b="b"/>
              <a:pathLst>
                <a:path w="9525" h="2381250">
                  <a:moveTo>
                    <a:pt x="0" y="0"/>
                  </a:moveTo>
                  <a:lnTo>
                    <a:pt x="0" y="2381250"/>
                  </a:lnTo>
                </a:path>
              </a:pathLst>
            </a:custGeom>
            <a:noFill/>
            <a:ln w="9525">
              <a:solidFill>
                <a:srgbClr val="C9D6EE"/>
              </a:solidFill>
            </a:ln>
          </p:spPr>
        </p:sp>
        <p:sp>
          <p:nvSpPr>
            <p:cNvPr id="69" name="Line 69"/>
            <p:cNvSpPr/>
            <p:nvPr/>
          </p:nvSpPr>
          <p:spPr>
            <a:xfrm>
              <a:off x="666750" y="4191000"/>
              <a:ext cx="7048500" cy="9525"/>
            </a:xfrm>
            <a:custGeom>
              <a:avLst/>
              <a:gdLst/>
              <a:ahLst/>
              <a:cxnLst/>
              <a:rect l="l" t="t" r="r" b="b"/>
              <a:pathLst>
                <a:path w="7048500" h="9525">
                  <a:moveTo>
                    <a:pt x="0" y="0"/>
                  </a:moveTo>
                  <a:lnTo>
                    <a:pt x="7048500" y="0"/>
                  </a:lnTo>
                </a:path>
              </a:pathLst>
            </a:custGeom>
            <a:noFill/>
            <a:ln w="9525">
              <a:solidFill>
                <a:srgbClr val="C9D6EE"/>
              </a:solidFill>
            </a:ln>
          </p:spPr>
        </p:sp>
        <p:sp>
          <p:nvSpPr>
            <p:cNvPr id="70" name="Rectangle 70"/>
            <p:cNvSpPr/>
            <p:nvPr/>
          </p:nvSpPr>
          <p:spPr>
            <a:xfrm>
              <a:off x="1047750" y="2257425"/>
              <a:ext cx="762000" cy="1933575"/>
            </a:xfrm>
            <a:prstGeom prst="rect">
              <a:avLst/>
            </a:prstGeom>
            <a:solidFill>
              <a:srgbClr val="C03616"/>
            </a:solidFill>
            <a:ln>
              <a:noFill/>
            </a:ln>
          </p:spPr>
        </p:sp>
        <p:sp>
          <p:nvSpPr>
            <p:cNvPr id="71" name="TextBox 71"/>
            <p:cNvSpPr txBox="1"/>
            <p:nvPr/>
          </p:nvSpPr>
          <p:spPr>
            <a:xfrm>
              <a:off x="1119044" y="2095024"/>
              <a:ext cx="619412" cy="190690"/>
            </a:xfrm>
            <a:prstGeom prst="rect">
              <a:avLst/>
            </a:prstGeom>
            <a:noFill/>
            <a:ln>
              <a:noFill/>
            </a:ln>
          </p:spPr>
          <p:txBody>
            <a:bodyPr wrap="none" lIns="0" tIns="0" rIns="0" bIns="0" anchor="t" anchorCtr="0">
              <a:spAutoFit/>
            </a:bodyPr>
            <a:lstStyle/>
            <a:p>
              <a:pPr algn="ctr"/>
              <a:r>
                <a:rPr lang="zh-CN" sz="980" b="1" dirty="0">
                  <a:solidFill>
                    <a:srgbClr val="C03616"/>
                  </a:solidFill>
                  <a:latin typeface="+mn-lt"/>
                  <a:ea typeface="+mn-ea"/>
                  <a:cs typeface="+mn-cs"/>
                </a:rPr>
                <a:t xml:space="preserve">  2.03  </a:t>
              </a:r>
            </a:p>
          </p:txBody>
        </p:sp>
        <p:sp>
          <p:nvSpPr>
            <p:cNvPr id="72" name="TextBox 72"/>
            <p:cNvSpPr txBox="1"/>
            <p:nvPr/>
          </p:nvSpPr>
          <p:spPr>
            <a:xfrm>
              <a:off x="1222058" y="4281488"/>
              <a:ext cx="413385" cy="147638"/>
            </a:xfrm>
            <a:prstGeom prst="rect">
              <a:avLst/>
            </a:prstGeom>
            <a:noFill/>
            <a:ln>
              <a:noFill/>
            </a:ln>
          </p:spPr>
          <p:txBody>
            <a:bodyPr wrap="none" lIns="0" tIns="0" rIns="0" bIns="0" anchor="t" anchorCtr="0">
              <a:spAutoFit/>
            </a:bodyPr>
            <a:lstStyle/>
            <a:p>
              <a:pPr algn="ctr"/>
              <a:r>
                <a:rPr lang="zh-CN" sz="750" dirty="0">
                  <a:solidFill>
                    <a:srgbClr val="523E3A"/>
                  </a:solidFill>
                  <a:latin typeface="+mn-lt"/>
                  <a:ea typeface="+mn-ea"/>
                  <a:cs typeface="+mn-cs"/>
                </a:rPr>
                <a:t>原始缺口</a:t>
              </a:r>
            </a:p>
          </p:txBody>
        </p:sp>
        <p:sp>
          <p:nvSpPr>
            <p:cNvPr id="73" name="Rectangle 73"/>
            <p:cNvSpPr/>
            <p:nvPr/>
          </p:nvSpPr>
          <p:spPr>
            <a:xfrm>
              <a:off x="2476500" y="2895600"/>
              <a:ext cx="762000" cy="1295400"/>
            </a:xfrm>
            <a:prstGeom prst="rect">
              <a:avLst/>
            </a:prstGeom>
            <a:solidFill>
              <a:srgbClr val="B8351A"/>
            </a:solidFill>
            <a:ln>
              <a:noFill/>
            </a:ln>
          </p:spPr>
        </p:sp>
        <p:sp>
          <p:nvSpPr>
            <p:cNvPr id="74" name="TextBox 74"/>
            <p:cNvSpPr txBox="1"/>
            <p:nvPr/>
          </p:nvSpPr>
          <p:spPr>
            <a:xfrm>
              <a:off x="2547794" y="2733199"/>
              <a:ext cx="619412"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1.36  </a:t>
              </a:r>
            </a:p>
          </p:txBody>
        </p:sp>
        <p:sp>
          <p:nvSpPr>
            <p:cNvPr id="75" name="TextBox 75"/>
            <p:cNvSpPr txBox="1"/>
            <p:nvPr/>
          </p:nvSpPr>
          <p:spPr>
            <a:xfrm>
              <a:off x="2650808" y="4281488"/>
              <a:ext cx="413385" cy="147638"/>
            </a:xfrm>
            <a:prstGeom prst="rect">
              <a:avLst/>
            </a:prstGeom>
            <a:noFill/>
            <a:ln>
              <a:noFill/>
            </a:ln>
          </p:spPr>
          <p:txBody>
            <a:bodyPr wrap="none" lIns="0" tIns="0" rIns="0" bIns="0" anchor="t" anchorCtr="0">
              <a:spAutoFit/>
            </a:bodyPr>
            <a:lstStyle/>
            <a:p>
              <a:pPr algn="ctr"/>
              <a:r>
                <a:rPr lang="zh-CN" sz="750" dirty="0">
                  <a:solidFill>
                    <a:srgbClr val="523E3A"/>
                  </a:solidFill>
                  <a:latin typeface="+mn-lt"/>
                  <a:ea typeface="+mn-ea"/>
                  <a:cs typeface="+mn-cs"/>
                </a:rPr>
                <a:t>存量挖潜</a:t>
              </a:r>
            </a:p>
          </p:txBody>
        </p:sp>
        <p:sp>
          <p:nvSpPr>
            <p:cNvPr id="76" name="Rectangle 76"/>
            <p:cNvSpPr/>
            <p:nvPr/>
          </p:nvSpPr>
          <p:spPr>
            <a:xfrm>
              <a:off x="3905250" y="2381250"/>
              <a:ext cx="762000" cy="514350"/>
            </a:xfrm>
            <a:prstGeom prst="rect">
              <a:avLst/>
            </a:prstGeom>
            <a:solidFill>
              <a:srgbClr val="B8351A"/>
            </a:solidFill>
            <a:ln>
              <a:noFill/>
            </a:ln>
          </p:spPr>
        </p:sp>
        <p:sp>
          <p:nvSpPr>
            <p:cNvPr id="77" name="TextBox 77"/>
            <p:cNvSpPr txBox="1"/>
            <p:nvPr/>
          </p:nvSpPr>
          <p:spPr>
            <a:xfrm>
              <a:off x="3976544" y="2218849"/>
              <a:ext cx="619412"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0.54  </a:t>
              </a:r>
            </a:p>
          </p:txBody>
        </p:sp>
        <p:sp>
          <p:nvSpPr>
            <p:cNvPr id="78" name="TextBox 78"/>
            <p:cNvSpPr txBox="1"/>
            <p:nvPr/>
          </p:nvSpPr>
          <p:spPr>
            <a:xfrm>
              <a:off x="4079558" y="4281488"/>
              <a:ext cx="413385" cy="147638"/>
            </a:xfrm>
            <a:prstGeom prst="rect">
              <a:avLst/>
            </a:prstGeom>
            <a:noFill/>
            <a:ln>
              <a:noFill/>
            </a:ln>
          </p:spPr>
          <p:txBody>
            <a:bodyPr wrap="none" lIns="0" tIns="0" rIns="0" bIns="0" anchor="t" anchorCtr="0">
              <a:spAutoFit/>
            </a:bodyPr>
            <a:lstStyle/>
            <a:p>
              <a:pPr algn="ctr"/>
              <a:r>
                <a:rPr lang="zh-CN" sz="750" dirty="0">
                  <a:solidFill>
                    <a:srgbClr val="523E3A"/>
                  </a:solidFill>
                  <a:latin typeface="+mn-lt"/>
                  <a:ea typeface="+mn-ea"/>
                  <a:cs typeface="+mn-cs"/>
                </a:rPr>
                <a:t>新客攻坚</a:t>
              </a:r>
            </a:p>
          </p:txBody>
        </p:sp>
        <p:sp>
          <p:nvSpPr>
            <p:cNvPr id="79" name="Rectangle 79"/>
            <p:cNvSpPr/>
            <p:nvPr/>
          </p:nvSpPr>
          <p:spPr>
            <a:xfrm>
              <a:off x="5334000" y="2190750"/>
              <a:ext cx="762000" cy="190500"/>
            </a:xfrm>
            <a:prstGeom prst="rect">
              <a:avLst/>
            </a:prstGeom>
            <a:solidFill>
              <a:srgbClr val="B8351A"/>
            </a:solidFill>
            <a:ln>
              <a:noFill/>
            </a:ln>
          </p:spPr>
        </p:sp>
        <p:sp>
          <p:nvSpPr>
            <p:cNvPr id="80" name="TextBox 80"/>
            <p:cNvSpPr txBox="1"/>
            <p:nvPr/>
          </p:nvSpPr>
          <p:spPr>
            <a:xfrm>
              <a:off x="5405294" y="2028349"/>
              <a:ext cx="619412"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0.20  </a:t>
              </a:r>
            </a:p>
          </p:txBody>
        </p:sp>
        <p:sp>
          <p:nvSpPr>
            <p:cNvPr id="81" name="TextBox 81"/>
            <p:cNvSpPr txBox="1"/>
            <p:nvPr/>
          </p:nvSpPr>
          <p:spPr>
            <a:xfrm>
              <a:off x="5508308" y="4281488"/>
              <a:ext cx="413385" cy="147638"/>
            </a:xfrm>
            <a:prstGeom prst="rect">
              <a:avLst/>
            </a:prstGeom>
            <a:noFill/>
            <a:ln>
              <a:noFill/>
            </a:ln>
          </p:spPr>
          <p:txBody>
            <a:bodyPr wrap="none" lIns="0" tIns="0" rIns="0" bIns="0" anchor="t" anchorCtr="0">
              <a:spAutoFit/>
            </a:bodyPr>
            <a:lstStyle/>
            <a:p>
              <a:pPr algn="ctr"/>
              <a:r>
                <a:rPr lang="zh-CN" sz="750" dirty="0">
                  <a:solidFill>
                    <a:srgbClr val="523E3A"/>
                  </a:solidFill>
                  <a:latin typeface="+mn-lt"/>
                  <a:ea typeface="+mn-ea"/>
                  <a:cs typeface="+mn-cs"/>
                </a:rPr>
                <a:t>重点战役</a:t>
              </a:r>
            </a:p>
          </p:txBody>
        </p:sp>
        <p:sp>
          <p:nvSpPr>
            <p:cNvPr id="82" name="Rectangle 82"/>
            <p:cNvSpPr/>
            <p:nvPr/>
          </p:nvSpPr>
          <p:spPr>
            <a:xfrm>
              <a:off x="6762750" y="2190750"/>
              <a:ext cx="762000" cy="2000250"/>
            </a:xfrm>
            <a:prstGeom prst="rect">
              <a:avLst/>
            </a:prstGeom>
            <a:solidFill>
              <a:srgbClr val="721E0D"/>
            </a:solidFill>
            <a:ln>
              <a:noFill/>
            </a:ln>
          </p:spPr>
        </p:sp>
        <p:sp>
          <p:nvSpPr>
            <p:cNvPr id="83" name="TextBox 83"/>
            <p:cNvSpPr txBox="1"/>
            <p:nvPr/>
          </p:nvSpPr>
          <p:spPr>
            <a:xfrm>
              <a:off x="6834044" y="2028349"/>
              <a:ext cx="619412"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2.10  </a:t>
              </a:r>
            </a:p>
          </p:txBody>
        </p:sp>
        <p:sp>
          <p:nvSpPr>
            <p:cNvPr id="84" name="TextBox 84"/>
            <p:cNvSpPr txBox="1"/>
            <p:nvPr/>
          </p:nvSpPr>
          <p:spPr>
            <a:xfrm>
              <a:off x="6785610" y="4281488"/>
              <a:ext cx="716280" cy="147638"/>
            </a:xfrm>
            <a:prstGeom prst="rect">
              <a:avLst/>
            </a:prstGeom>
            <a:noFill/>
            <a:ln>
              <a:noFill/>
            </a:ln>
          </p:spPr>
          <p:txBody>
            <a:bodyPr wrap="none" lIns="0" tIns="0" rIns="0" bIns="0" anchor="t" anchorCtr="0">
              <a:spAutoFit/>
            </a:bodyPr>
            <a:lstStyle/>
            <a:p>
              <a:pPr algn="ctr"/>
              <a:r>
                <a:rPr lang="zh-CN" sz="750" dirty="0">
                  <a:solidFill>
                    <a:srgbClr val="523E3A"/>
                  </a:solidFill>
                  <a:latin typeface="+mn-lt"/>
                  <a:ea typeface="+mn-ea"/>
                  <a:cs typeface="+mn-cs"/>
                </a:rPr>
                <a:t>可追回潜力合计</a:t>
              </a:r>
            </a:p>
          </p:txBody>
        </p:sp>
        <p:sp>
          <p:nvSpPr>
            <p:cNvPr id="85" name="Line 85"/>
            <p:cNvSpPr/>
            <p:nvPr/>
          </p:nvSpPr>
          <p:spPr>
            <a:xfrm>
              <a:off x="3238500" y="2895600"/>
              <a:ext cx="666750" cy="9525"/>
            </a:xfrm>
            <a:custGeom>
              <a:avLst/>
              <a:gdLst/>
              <a:ahLst/>
              <a:cxnLst/>
              <a:rect l="l" t="t" r="r" b="b"/>
              <a:pathLst>
                <a:path w="666750" h="9525">
                  <a:moveTo>
                    <a:pt x="0" y="0"/>
                  </a:moveTo>
                  <a:lnTo>
                    <a:pt x="666750" y="0"/>
                  </a:lnTo>
                </a:path>
              </a:pathLst>
            </a:custGeom>
            <a:noFill/>
            <a:ln w="9525">
              <a:solidFill>
                <a:srgbClr val="523E3A"/>
              </a:solidFill>
              <a:custDash>
                <a:ds d="400000" sp="300000"/>
              </a:custDash>
            </a:ln>
          </p:spPr>
        </p:sp>
        <p:sp>
          <p:nvSpPr>
            <p:cNvPr id="86" name="Line 86"/>
            <p:cNvSpPr/>
            <p:nvPr/>
          </p:nvSpPr>
          <p:spPr>
            <a:xfrm>
              <a:off x="4667250" y="2381250"/>
              <a:ext cx="666750" cy="9525"/>
            </a:xfrm>
            <a:custGeom>
              <a:avLst/>
              <a:gdLst/>
              <a:ahLst/>
              <a:cxnLst/>
              <a:rect l="l" t="t" r="r" b="b"/>
              <a:pathLst>
                <a:path w="666750" h="9525">
                  <a:moveTo>
                    <a:pt x="0" y="0"/>
                  </a:moveTo>
                  <a:lnTo>
                    <a:pt x="666750" y="0"/>
                  </a:lnTo>
                </a:path>
              </a:pathLst>
            </a:custGeom>
            <a:noFill/>
            <a:ln w="9525">
              <a:solidFill>
                <a:srgbClr val="523E3A"/>
              </a:solidFill>
              <a:custDash>
                <a:ds d="400000" sp="300000"/>
              </a:custDash>
            </a:ln>
          </p:spPr>
        </p:sp>
        <p:sp>
          <p:nvSpPr>
            <p:cNvPr id="87" name="Line 87"/>
            <p:cNvSpPr/>
            <p:nvPr/>
          </p:nvSpPr>
          <p:spPr>
            <a:xfrm>
              <a:off x="6096000" y="2190750"/>
              <a:ext cx="666750" cy="9525"/>
            </a:xfrm>
            <a:custGeom>
              <a:avLst/>
              <a:gdLst/>
              <a:ahLst/>
              <a:cxnLst/>
              <a:rect l="l" t="t" r="r" b="b"/>
              <a:pathLst>
                <a:path w="666750" h="9525">
                  <a:moveTo>
                    <a:pt x="0" y="0"/>
                  </a:moveTo>
                  <a:lnTo>
                    <a:pt x="666750" y="0"/>
                  </a:lnTo>
                </a:path>
              </a:pathLst>
            </a:custGeom>
            <a:noFill/>
            <a:ln w="9525">
              <a:solidFill>
                <a:srgbClr val="523E3A"/>
              </a:solidFill>
              <a:custDash>
                <a:ds d="400000" sp="300000"/>
              </a:custDash>
            </a:ln>
          </p:spPr>
        </p:sp>
        <p:sp>
          <p:nvSpPr>
            <p:cNvPr id="88" name="Line 88"/>
            <p:cNvSpPr/>
            <p:nvPr/>
          </p:nvSpPr>
          <p:spPr>
            <a:xfrm>
              <a:off x="1809750" y="2257425"/>
              <a:ext cx="4953000" cy="9525"/>
            </a:xfrm>
            <a:custGeom>
              <a:avLst/>
              <a:gdLst/>
              <a:ahLst/>
              <a:cxnLst/>
              <a:rect l="l" t="t" r="r" b="b"/>
              <a:pathLst>
                <a:path w="4953000" h="9525">
                  <a:moveTo>
                    <a:pt x="0" y="0"/>
                  </a:moveTo>
                  <a:lnTo>
                    <a:pt x="4953000" y="0"/>
                  </a:lnTo>
                </a:path>
              </a:pathLst>
            </a:custGeom>
            <a:noFill/>
            <a:ln w="9525">
              <a:solidFill>
                <a:srgbClr val="C03616"/>
              </a:solidFill>
              <a:custDash>
                <a:ds d="500000" sp="400000"/>
              </a:custDash>
            </a:ln>
          </p:spPr>
        </p:sp>
        <p:sp>
          <p:nvSpPr>
            <p:cNvPr id="89" name="Rectangle 89"/>
            <p:cNvSpPr/>
            <p:nvPr/>
          </p:nvSpPr>
          <p:spPr>
            <a:xfrm>
              <a:off x="4476750" y="3143250"/>
              <a:ext cx="2095500" cy="762000"/>
            </a:xfrm>
            <a:prstGeom prst="roundRect">
              <a:avLst>
                <a:gd name="adj" fmla="val 7500"/>
              </a:avLst>
            </a:prstGeom>
            <a:solidFill>
              <a:srgbClr val="FFFFFF"/>
            </a:solidFill>
            <a:ln w="11430">
              <a:solidFill>
                <a:srgbClr val="C03616"/>
              </a:solidFill>
              <a:custDash>
                <a:ds d="416667" sp="250000"/>
              </a:custDash>
            </a:ln>
          </p:spPr>
        </p:sp>
        <p:sp>
          <p:nvSpPr>
            <p:cNvPr id="90" name="TextBox 90"/>
            <p:cNvSpPr txBox="1"/>
            <p:nvPr/>
          </p:nvSpPr>
          <p:spPr>
            <a:xfrm>
              <a:off x="4924044" y="3252788"/>
              <a:ext cx="1200912" cy="147638"/>
            </a:xfrm>
            <a:prstGeom prst="rect">
              <a:avLst/>
            </a:prstGeom>
            <a:noFill/>
            <a:ln>
              <a:noFill/>
            </a:ln>
          </p:spPr>
          <p:txBody>
            <a:bodyPr wrap="none" lIns="0" tIns="0" rIns="0" bIns="0" anchor="t" anchorCtr="0">
              <a:spAutoFit/>
            </a:bodyPr>
            <a:lstStyle/>
            <a:p>
              <a:pPr algn="ctr"/>
              <a:r>
                <a:rPr lang="zh-CN" sz="750" dirty="0">
                  <a:solidFill>
                    <a:srgbClr val="461910"/>
                  </a:solidFill>
                  <a:latin typeface="+mn-lt"/>
                  <a:ea typeface="+mn-ea"/>
                  <a:cs typeface="+mn-cs"/>
                </a:rPr>
                <a:t xml:space="preserve">   原始缺口 2.03亿元   </a:t>
              </a:r>
            </a:p>
          </p:txBody>
        </p:sp>
        <p:sp>
          <p:nvSpPr>
            <p:cNvPr id="91" name="TextBox 91"/>
            <p:cNvSpPr txBox="1"/>
            <p:nvPr/>
          </p:nvSpPr>
          <p:spPr>
            <a:xfrm>
              <a:off x="4772596" y="3424238"/>
              <a:ext cx="1503807" cy="147638"/>
            </a:xfrm>
            <a:prstGeom prst="rect">
              <a:avLst/>
            </a:prstGeom>
            <a:noFill/>
            <a:ln>
              <a:noFill/>
            </a:ln>
          </p:spPr>
          <p:txBody>
            <a:bodyPr wrap="none" lIns="0" tIns="0" rIns="0" bIns="0" anchor="t" anchorCtr="0">
              <a:spAutoFit/>
            </a:bodyPr>
            <a:lstStyle/>
            <a:p>
              <a:pPr algn="ctr"/>
              <a:r>
                <a:rPr lang="zh-CN" sz="750" dirty="0">
                  <a:solidFill>
                    <a:srgbClr val="461910"/>
                  </a:solidFill>
                  <a:latin typeface="+mn-lt"/>
                  <a:ea typeface="+mn-ea"/>
                  <a:cs typeface="+mn-cs"/>
                </a:rPr>
                <a:t xml:space="preserve">   可追回潜力合计 2.10亿元   </a:t>
              </a:r>
            </a:p>
          </p:txBody>
        </p:sp>
        <p:sp>
          <p:nvSpPr>
            <p:cNvPr id="92" name="TextBox 92"/>
            <p:cNvSpPr txBox="1"/>
            <p:nvPr/>
          </p:nvSpPr>
          <p:spPr>
            <a:xfrm>
              <a:off x="4884147" y="3639502"/>
              <a:ext cx="1280707" cy="205359"/>
            </a:xfrm>
            <a:prstGeom prst="rect">
              <a:avLst/>
            </a:prstGeom>
            <a:noFill/>
            <a:ln>
              <a:noFill/>
            </a:ln>
          </p:spPr>
          <p:txBody>
            <a:bodyPr wrap="none" lIns="0" tIns="0" rIns="0" bIns="0" anchor="t" anchorCtr="0">
              <a:spAutoFit/>
            </a:bodyPr>
            <a:lstStyle/>
            <a:p>
              <a:pPr algn="ctr"/>
              <a:r>
                <a:rPr lang="zh-CN" sz="1050" b="1" dirty="0">
                  <a:solidFill>
                    <a:srgbClr val="C03616"/>
                  </a:solidFill>
                  <a:latin typeface="+mn-lt"/>
                  <a:ea typeface="+mn-ea"/>
                  <a:cs typeface="+mn-cs"/>
                </a:rPr>
                <a:t xml:space="preserve">   覆盖率103%   </a:t>
              </a:r>
            </a:p>
          </p:txBody>
        </p:sp>
      </p:grpSp>
      <p:grpSp>
        <p:nvGrpSpPr>
          <p:cNvPr id="122" name="gauge-card"/>
          <p:cNvGrpSpPr/>
          <p:nvPr/>
        </p:nvGrpSpPr>
        <p:grpSpPr>
          <a:xfrm>
            <a:off x="8172450" y="1428750"/>
            <a:ext cx="3790950" cy="3048000"/>
            <a:chOff x="8172450" y="1428750"/>
            <a:chExt cx="3790950" cy="3048000"/>
          </a:xfrm>
        </p:grpSpPr>
        <p:sp>
          <p:nvSpPr>
            <p:cNvPr id="94" name="Rectangle 94"/>
            <p:cNvSpPr/>
            <p:nvPr/>
          </p:nvSpPr>
          <p:spPr>
            <a:xfrm>
              <a:off x="8172450" y="1428750"/>
              <a:ext cx="3790950" cy="3048000"/>
            </a:xfrm>
            <a:prstGeom prst="roundRect">
              <a:avLst>
                <a:gd name="adj" fmla="val 3125"/>
              </a:avLst>
            </a:prstGeom>
            <a:solidFill>
              <a:srgbClr val="FFFFFF"/>
            </a:solidFill>
            <a:ln w="14288">
              <a:solidFill>
                <a:srgbClr val="C9D6EE"/>
              </a:solidFill>
            </a:ln>
          </p:spPr>
        </p:sp>
        <p:sp>
          <p:nvSpPr>
            <p:cNvPr id="95" name="Freeform 95"/>
            <p:cNvSpPr/>
            <p:nvPr/>
          </p:nvSpPr>
          <p:spPr>
            <a:xfrm>
              <a:off x="8172450" y="1428750"/>
              <a:ext cx="3790950" cy="247650"/>
            </a:xfrm>
            <a:custGeom>
              <a:avLst/>
              <a:gdLst/>
              <a:ahLst/>
              <a:cxnLst/>
              <a:rect l="l" t="t" r="r" b="b"/>
              <a:pathLst>
                <a:path w="3790950" h="247650">
                  <a:moveTo>
                    <a:pt x="95250" y="0"/>
                  </a:moveTo>
                  <a:lnTo>
                    <a:pt x="3695700" y="0"/>
                  </a:lnTo>
                  <a:cubicBezTo>
                    <a:pt x="3748305" y="0"/>
                    <a:pt x="3790950" y="42645"/>
                    <a:pt x="3790950" y="95250"/>
                  </a:cubicBezTo>
                  <a:lnTo>
                    <a:pt x="3790950" y="247650"/>
                  </a:lnTo>
                  <a:lnTo>
                    <a:pt x="0" y="247650"/>
                  </a:lnTo>
                  <a:lnTo>
                    <a:pt x="0" y="95250"/>
                  </a:lnTo>
                  <a:cubicBezTo>
                    <a:pt x="0" y="42645"/>
                    <a:pt x="42645" y="0"/>
                    <a:pt x="95250" y="0"/>
                  </a:cubicBezTo>
                  <a:close/>
                </a:path>
              </a:pathLst>
            </a:custGeom>
            <a:solidFill>
              <a:srgbClr val="721E0D"/>
            </a:solidFill>
            <a:ln>
              <a:noFill/>
            </a:ln>
          </p:spPr>
        </p:sp>
        <p:sp>
          <p:nvSpPr>
            <p:cNvPr id="96" name="TextBox 96"/>
            <p:cNvSpPr txBox="1"/>
            <p:nvPr/>
          </p:nvSpPr>
          <p:spPr>
            <a:xfrm>
              <a:off x="9005150" y="1512570"/>
              <a:ext cx="212554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 xml:space="preserve">   目标与潜力对比（单位：亿元）   </a:t>
              </a:r>
            </a:p>
          </p:txBody>
        </p:sp>
        <p:sp>
          <p:nvSpPr>
            <p:cNvPr id="97" name="Freeform 97"/>
            <p:cNvSpPr/>
            <p:nvPr/>
          </p:nvSpPr>
          <p:spPr>
            <a:xfrm>
              <a:off x="9210675" y="2381250"/>
              <a:ext cx="1714500" cy="1714500"/>
            </a:xfrm>
            <a:prstGeom prst="blockArc">
              <a:avLst>
                <a:gd name="adj1" fmla="val 10800000"/>
                <a:gd name="adj2" fmla="val 15984000"/>
                <a:gd name="adj3" fmla="val 8000"/>
              </a:avLst>
            </a:prstGeom>
            <a:solidFill>
              <a:srgbClr val="E89E8F"/>
            </a:solidFill>
            <a:ln>
              <a:noFill/>
            </a:ln>
          </p:spPr>
        </p:sp>
        <p:sp>
          <p:nvSpPr>
            <p:cNvPr id="98" name="Freeform 98"/>
            <p:cNvSpPr/>
            <p:nvPr/>
          </p:nvSpPr>
          <p:spPr>
            <a:xfrm>
              <a:off x="9210675" y="2381250"/>
              <a:ext cx="1714500" cy="1714500"/>
            </a:xfrm>
            <a:prstGeom prst="blockArc">
              <a:avLst>
                <a:gd name="adj1" fmla="val 15984000"/>
                <a:gd name="adj2" fmla="val 19872000"/>
                <a:gd name="adj3" fmla="val 8000"/>
              </a:avLst>
            </a:prstGeom>
            <a:solidFill>
              <a:srgbClr val="B8351A"/>
            </a:solidFill>
            <a:ln>
              <a:noFill/>
            </a:ln>
          </p:spPr>
        </p:sp>
        <p:sp>
          <p:nvSpPr>
            <p:cNvPr id="99" name="Freeform 99"/>
            <p:cNvSpPr/>
            <p:nvPr/>
          </p:nvSpPr>
          <p:spPr>
            <a:xfrm>
              <a:off x="9210675" y="2381250"/>
              <a:ext cx="1714500" cy="1714500"/>
            </a:xfrm>
            <a:prstGeom prst="blockArc">
              <a:avLst>
                <a:gd name="adj1" fmla="val 19872000"/>
                <a:gd name="adj2" fmla="val 0"/>
                <a:gd name="adj3" fmla="val 8000"/>
              </a:avLst>
            </a:prstGeom>
            <a:solidFill>
              <a:srgbClr val="C03616"/>
            </a:solidFill>
            <a:ln>
              <a:noFill/>
            </a:ln>
          </p:spPr>
        </p:sp>
        <p:sp>
          <p:nvSpPr>
            <p:cNvPr id="100" name="TextBox 100"/>
            <p:cNvSpPr txBox="1"/>
            <p:nvPr/>
          </p:nvSpPr>
          <p:spPr>
            <a:xfrm>
              <a:off x="9107940" y="3298984"/>
              <a:ext cx="59873" cy="133350"/>
            </a:xfrm>
            <a:prstGeom prst="rect">
              <a:avLst/>
            </a:prstGeom>
            <a:noFill/>
            <a:ln>
              <a:noFill/>
            </a:ln>
          </p:spPr>
          <p:txBody>
            <a:bodyPr wrap="none" lIns="0" tIns="0" rIns="0" bIns="0" anchor="t" anchorCtr="0">
              <a:spAutoFit/>
            </a:bodyPr>
            <a:lstStyle/>
            <a:p>
              <a:pPr algn="r"/>
              <a:r>
                <a:rPr lang="zh-CN" sz="680" dirty="0">
                  <a:solidFill>
                    <a:srgbClr val="6E7686"/>
                  </a:solidFill>
                  <a:latin typeface="+mn-lt"/>
                  <a:ea typeface="+mn-ea"/>
                  <a:cs typeface="+mn-cs"/>
                </a:rPr>
                <a:t>0</a:t>
              </a:r>
            </a:p>
          </p:txBody>
        </p:sp>
        <p:sp>
          <p:nvSpPr>
            <p:cNvPr id="101" name="TextBox 101"/>
            <p:cNvSpPr txBox="1"/>
            <p:nvPr/>
          </p:nvSpPr>
          <p:spPr>
            <a:xfrm>
              <a:off x="9080721" y="2546509"/>
              <a:ext cx="210917" cy="133350"/>
            </a:xfrm>
            <a:prstGeom prst="rect">
              <a:avLst/>
            </a:prstGeom>
            <a:noFill/>
            <a:ln>
              <a:noFill/>
            </a:ln>
          </p:spPr>
          <p:txBody>
            <a:bodyPr wrap="none" lIns="0" tIns="0" rIns="0" bIns="0" anchor="t" anchorCtr="0">
              <a:spAutoFit/>
            </a:bodyPr>
            <a:lstStyle/>
            <a:p>
              <a:pPr algn="r"/>
              <a:r>
                <a:rPr lang="zh-CN" sz="680" dirty="0">
                  <a:solidFill>
                    <a:srgbClr val="6E7686"/>
                  </a:solidFill>
                  <a:latin typeface="+mn-lt"/>
                  <a:ea typeface="+mn-ea"/>
                  <a:cs typeface="+mn-cs"/>
                </a:rPr>
                <a:t xml:space="preserve"> 0.5</a:t>
              </a:r>
            </a:p>
          </p:txBody>
        </p:sp>
        <p:sp>
          <p:nvSpPr>
            <p:cNvPr id="102" name="TextBox 102"/>
            <p:cNvSpPr txBox="1"/>
            <p:nvPr/>
          </p:nvSpPr>
          <p:spPr>
            <a:xfrm>
              <a:off x="9582145" y="2175034"/>
              <a:ext cx="361960" cy="133350"/>
            </a:xfrm>
            <a:prstGeom prst="rect">
              <a:avLst/>
            </a:prstGeom>
            <a:noFill/>
            <a:ln>
              <a:noFill/>
            </a:ln>
          </p:spPr>
          <p:txBody>
            <a:bodyPr wrap="none" lIns="0" tIns="0" rIns="0" bIns="0" anchor="t" anchorCtr="0">
              <a:spAutoFit/>
            </a:bodyPr>
            <a:lstStyle/>
            <a:p>
              <a:pPr algn="ctr"/>
              <a:r>
                <a:rPr lang="zh-CN" sz="680" dirty="0">
                  <a:solidFill>
                    <a:srgbClr val="6E7686"/>
                  </a:solidFill>
                  <a:latin typeface="+mn-lt"/>
                  <a:ea typeface="+mn-ea"/>
                  <a:cs typeface="+mn-cs"/>
                </a:rPr>
                <a:t xml:space="preserve">  1.0  </a:t>
              </a:r>
            </a:p>
          </p:txBody>
        </p:sp>
        <p:sp>
          <p:nvSpPr>
            <p:cNvPr id="103" name="TextBox 103"/>
            <p:cNvSpPr txBox="1"/>
            <p:nvPr/>
          </p:nvSpPr>
          <p:spPr>
            <a:xfrm>
              <a:off x="10191745" y="2175034"/>
              <a:ext cx="361960" cy="133350"/>
            </a:xfrm>
            <a:prstGeom prst="rect">
              <a:avLst/>
            </a:prstGeom>
            <a:noFill/>
            <a:ln>
              <a:noFill/>
            </a:ln>
          </p:spPr>
          <p:txBody>
            <a:bodyPr wrap="none" lIns="0" tIns="0" rIns="0" bIns="0" anchor="t" anchorCtr="0">
              <a:spAutoFit/>
            </a:bodyPr>
            <a:lstStyle/>
            <a:p>
              <a:pPr algn="ctr"/>
              <a:r>
                <a:rPr lang="zh-CN" sz="680" dirty="0">
                  <a:solidFill>
                    <a:srgbClr val="6E7686"/>
                  </a:solidFill>
                  <a:latin typeface="+mn-lt"/>
                  <a:ea typeface="+mn-ea"/>
                  <a:cs typeface="+mn-cs"/>
                </a:rPr>
                <a:t xml:space="preserve">  1.5  </a:t>
              </a:r>
            </a:p>
          </p:txBody>
        </p:sp>
        <p:sp>
          <p:nvSpPr>
            <p:cNvPr id="104" name="TextBox 104"/>
            <p:cNvSpPr txBox="1"/>
            <p:nvPr/>
          </p:nvSpPr>
          <p:spPr>
            <a:xfrm>
              <a:off x="10853738" y="2546509"/>
              <a:ext cx="311612" cy="133350"/>
            </a:xfrm>
            <a:prstGeom prst="rect">
              <a:avLst/>
            </a:prstGeom>
            <a:noFill/>
            <a:ln>
              <a:noFill/>
            </a:ln>
          </p:spPr>
          <p:txBody>
            <a:bodyPr wrap="none" lIns="0" tIns="0" rIns="0" bIns="0" anchor="t" anchorCtr="0">
              <a:spAutoFit/>
            </a:bodyPr>
            <a:lstStyle/>
            <a:p>
              <a:pPr algn="l"/>
              <a:r>
                <a:rPr lang="zh-CN" sz="680" dirty="0">
                  <a:solidFill>
                    <a:srgbClr val="6E7686"/>
                  </a:solidFill>
                  <a:latin typeface="+mn-lt"/>
                  <a:ea typeface="+mn-ea"/>
                  <a:cs typeface="+mn-cs"/>
                </a:rPr>
                <a:t xml:space="preserve">2.0   </a:t>
              </a:r>
            </a:p>
          </p:txBody>
        </p:sp>
        <p:sp>
          <p:nvSpPr>
            <p:cNvPr id="105" name="TextBox 105"/>
            <p:cNvSpPr txBox="1"/>
            <p:nvPr/>
          </p:nvSpPr>
          <p:spPr>
            <a:xfrm>
              <a:off x="11025188" y="3222784"/>
              <a:ext cx="311612" cy="133350"/>
            </a:xfrm>
            <a:prstGeom prst="rect">
              <a:avLst/>
            </a:prstGeom>
            <a:noFill/>
            <a:ln>
              <a:noFill/>
            </a:ln>
          </p:spPr>
          <p:txBody>
            <a:bodyPr wrap="none" lIns="0" tIns="0" rIns="0" bIns="0" anchor="t" anchorCtr="0">
              <a:spAutoFit/>
            </a:bodyPr>
            <a:lstStyle/>
            <a:p>
              <a:pPr algn="l"/>
              <a:r>
                <a:rPr lang="zh-CN" sz="680" dirty="0">
                  <a:solidFill>
                    <a:srgbClr val="6E7686"/>
                  </a:solidFill>
                  <a:latin typeface="+mn-lt"/>
                  <a:ea typeface="+mn-ea"/>
                  <a:cs typeface="+mn-cs"/>
                </a:rPr>
                <a:t xml:space="preserve">2.5   </a:t>
              </a:r>
            </a:p>
          </p:txBody>
        </p:sp>
        <p:sp>
          <p:nvSpPr>
            <p:cNvPr id="106" name="Line 106"/>
            <p:cNvSpPr/>
            <p:nvPr/>
          </p:nvSpPr>
          <p:spPr>
            <a:xfrm>
              <a:off x="10067925" y="2881312"/>
              <a:ext cx="650557" cy="357188"/>
            </a:xfrm>
            <a:custGeom>
              <a:avLst/>
              <a:gdLst/>
              <a:ahLst/>
              <a:cxnLst/>
              <a:rect l="l" t="t" r="r" b="b"/>
              <a:pathLst>
                <a:path w="650557" h="357188">
                  <a:moveTo>
                    <a:pt x="0" y="357188"/>
                  </a:moveTo>
                  <a:lnTo>
                    <a:pt x="650557" y="0"/>
                  </a:lnTo>
                </a:path>
              </a:pathLst>
            </a:custGeom>
            <a:noFill/>
            <a:ln w="28575" cap="rnd">
              <a:solidFill>
                <a:srgbClr val="721E0D"/>
              </a:solidFill>
            </a:ln>
          </p:spPr>
        </p:sp>
        <p:sp>
          <p:nvSpPr>
            <p:cNvPr id="107" name="Ellipse 107"/>
            <p:cNvSpPr/>
            <p:nvPr/>
          </p:nvSpPr>
          <p:spPr>
            <a:xfrm>
              <a:off x="10020300" y="3190875"/>
              <a:ext cx="95250" cy="95250"/>
            </a:xfrm>
            <a:prstGeom prst="ellipse">
              <a:avLst/>
            </a:prstGeom>
            <a:solidFill>
              <a:srgbClr val="721E0D"/>
            </a:solidFill>
            <a:ln>
              <a:noFill/>
            </a:ln>
          </p:spPr>
        </p:sp>
        <p:sp>
          <p:nvSpPr>
            <p:cNvPr id="108" name="TextBox 108"/>
            <p:cNvSpPr txBox="1"/>
            <p:nvPr/>
          </p:nvSpPr>
          <p:spPr>
            <a:xfrm>
              <a:off x="9546439" y="2831782"/>
              <a:ext cx="1042972" cy="322707"/>
            </a:xfrm>
            <a:prstGeom prst="rect">
              <a:avLst/>
            </a:prstGeom>
            <a:noFill/>
            <a:ln>
              <a:noFill/>
            </a:ln>
          </p:spPr>
          <p:txBody>
            <a:bodyPr wrap="none" lIns="0" tIns="0" rIns="0" bIns="0" anchor="t" anchorCtr="0">
              <a:spAutoFit/>
            </a:bodyPr>
            <a:lstStyle/>
            <a:p>
              <a:pPr algn="ctr"/>
              <a:r>
                <a:rPr lang="zh-CN" sz="1650" b="1" dirty="0">
                  <a:solidFill>
                    <a:srgbClr val="721E0D"/>
                  </a:solidFill>
                  <a:latin typeface="+mn-lt"/>
                  <a:ea typeface="+mn-ea"/>
                  <a:cs typeface="+mn-cs"/>
                </a:rPr>
                <a:t xml:space="preserve">  2.10  </a:t>
              </a:r>
            </a:p>
          </p:txBody>
        </p:sp>
        <p:sp>
          <p:nvSpPr>
            <p:cNvPr id="109" name="TextBox 109"/>
            <p:cNvSpPr txBox="1"/>
            <p:nvPr/>
          </p:nvSpPr>
          <p:spPr>
            <a:xfrm>
              <a:off x="9728632" y="3085386"/>
              <a:ext cx="67858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可追回潜力合计</a:t>
              </a:r>
            </a:p>
          </p:txBody>
        </p:sp>
        <p:sp>
          <p:nvSpPr>
            <p:cNvPr id="110" name="Line 110"/>
            <p:cNvSpPr/>
            <p:nvPr/>
          </p:nvSpPr>
          <p:spPr>
            <a:xfrm>
              <a:off x="8286750" y="337185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111" name="Ellipse 111"/>
            <p:cNvSpPr/>
            <p:nvPr/>
          </p:nvSpPr>
          <p:spPr>
            <a:xfrm>
              <a:off x="8372475" y="3457575"/>
              <a:ext cx="95250" cy="95250"/>
            </a:xfrm>
            <a:prstGeom prst="ellipse">
              <a:avLst/>
            </a:prstGeom>
            <a:solidFill>
              <a:srgbClr val="B8351A"/>
            </a:solidFill>
            <a:ln>
              <a:noFill/>
            </a:ln>
          </p:spPr>
        </p:sp>
        <p:sp>
          <p:nvSpPr>
            <p:cNvPr id="112" name="TextBox 112"/>
            <p:cNvSpPr txBox="1"/>
            <p:nvPr/>
          </p:nvSpPr>
          <p:spPr>
            <a:xfrm>
              <a:off x="8548688" y="3454241"/>
              <a:ext cx="671855" cy="161925"/>
            </a:xfrm>
            <a:prstGeom prst="rect">
              <a:avLst/>
            </a:prstGeom>
            <a:noFill/>
            <a:ln>
              <a:noFill/>
            </a:ln>
          </p:spPr>
          <p:txBody>
            <a:bodyPr wrap="none" lIns="0" tIns="0" rIns="0" bIns="0" anchor="t" anchorCtr="0">
              <a:spAutoFit/>
            </a:bodyPr>
            <a:lstStyle/>
            <a:p>
              <a:pPr algn="l"/>
              <a:r>
                <a:rPr lang="zh-CN" sz="820" b="1" dirty="0">
                  <a:solidFill>
                    <a:srgbClr val="461910"/>
                  </a:solidFill>
                  <a:latin typeface="+mn-lt"/>
                  <a:ea typeface="+mn-ea"/>
                  <a:cs typeface="+mn-cs"/>
                </a:rPr>
                <a:t>基准情景目标</a:t>
              </a:r>
            </a:p>
          </p:txBody>
        </p:sp>
        <p:sp>
          <p:nvSpPr>
            <p:cNvPr id="113" name="TextBox 113"/>
            <p:cNvSpPr txBox="1"/>
            <p:nvPr/>
          </p:nvSpPr>
          <p:spPr>
            <a:xfrm>
              <a:off x="11014420" y="3429952"/>
              <a:ext cx="801914" cy="205359"/>
            </a:xfrm>
            <a:prstGeom prst="rect">
              <a:avLst/>
            </a:prstGeom>
            <a:noFill/>
            <a:ln>
              <a:noFill/>
            </a:ln>
          </p:spPr>
          <p:txBody>
            <a:bodyPr wrap="none" lIns="0" tIns="0" rIns="0" bIns="0" anchor="t" anchorCtr="0">
              <a:spAutoFit/>
            </a:bodyPr>
            <a:lstStyle/>
            <a:p>
              <a:pPr algn="r"/>
              <a:r>
                <a:rPr lang="zh-CN" sz="1050" b="1" dirty="0">
                  <a:solidFill>
                    <a:srgbClr val="721E0D"/>
                  </a:solidFill>
                  <a:latin typeface="+mn-lt"/>
                  <a:ea typeface="+mn-ea"/>
                  <a:cs typeface="+mn-cs"/>
                </a:rPr>
                <a:t xml:space="preserve">   1.20</a:t>
              </a:r>
              <a:r>
                <a:rPr lang="zh-CN" sz="710" dirty="0">
                  <a:solidFill>
                    <a:srgbClr val="523E3A"/>
                  </a:solidFill>
                  <a:latin typeface="+mn-lt"/>
                  <a:ea typeface="+mn-ea"/>
                  <a:cs typeface="+mn-cs"/>
                </a:rPr>
                <a:t xml:space="preserve"> 亿元</a:t>
              </a:r>
            </a:p>
          </p:txBody>
        </p:sp>
        <p:sp>
          <p:nvSpPr>
            <p:cNvPr id="114" name="Line 114"/>
            <p:cNvSpPr/>
            <p:nvPr/>
          </p:nvSpPr>
          <p:spPr>
            <a:xfrm>
              <a:off x="8286750" y="367665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115" name="Ellipse 115"/>
            <p:cNvSpPr/>
            <p:nvPr/>
          </p:nvSpPr>
          <p:spPr>
            <a:xfrm>
              <a:off x="8372475" y="3762375"/>
              <a:ext cx="95250" cy="95250"/>
            </a:xfrm>
            <a:prstGeom prst="ellipse">
              <a:avLst/>
            </a:prstGeom>
            <a:solidFill>
              <a:srgbClr val="721E0D"/>
            </a:solidFill>
            <a:ln>
              <a:noFill/>
            </a:ln>
          </p:spPr>
        </p:sp>
        <p:sp>
          <p:nvSpPr>
            <p:cNvPr id="116" name="TextBox 116"/>
            <p:cNvSpPr txBox="1"/>
            <p:nvPr/>
          </p:nvSpPr>
          <p:spPr>
            <a:xfrm>
              <a:off x="8548688" y="3759041"/>
              <a:ext cx="451079" cy="161925"/>
            </a:xfrm>
            <a:prstGeom prst="rect">
              <a:avLst/>
            </a:prstGeom>
            <a:noFill/>
            <a:ln>
              <a:noFill/>
            </a:ln>
          </p:spPr>
          <p:txBody>
            <a:bodyPr wrap="none" lIns="0" tIns="0" rIns="0" bIns="0" anchor="t" anchorCtr="0">
              <a:spAutoFit/>
            </a:bodyPr>
            <a:lstStyle/>
            <a:p>
              <a:pPr algn="l"/>
              <a:r>
                <a:rPr lang="zh-CN" sz="820" b="1" dirty="0">
                  <a:solidFill>
                    <a:srgbClr val="461910"/>
                  </a:solidFill>
                  <a:latin typeface="+mn-lt"/>
                  <a:ea typeface="+mn-ea"/>
                  <a:cs typeface="+mn-cs"/>
                </a:rPr>
                <a:t>安全冗余</a:t>
              </a:r>
            </a:p>
          </p:txBody>
        </p:sp>
        <p:sp>
          <p:nvSpPr>
            <p:cNvPr id="117" name="TextBox 117"/>
            <p:cNvSpPr txBox="1"/>
            <p:nvPr/>
          </p:nvSpPr>
          <p:spPr>
            <a:xfrm>
              <a:off x="11014420" y="3734752"/>
              <a:ext cx="801914" cy="205359"/>
            </a:xfrm>
            <a:prstGeom prst="rect">
              <a:avLst/>
            </a:prstGeom>
            <a:noFill/>
            <a:ln>
              <a:noFill/>
            </a:ln>
          </p:spPr>
          <p:txBody>
            <a:bodyPr wrap="none" lIns="0" tIns="0" rIns="0" bIns="0" anchor="t" anchorCtr="0">
              <a:spAutoFit/>
            </a:bodyPr>
            <a:lstStyle/>
            <a:p>
              <a:pPr algn="r"/>
              <a:r>
                <a:rPr lang="zh-CN" sz="1050" b="1" dirty="0">
                  <a:solidFill>
                    <a:srgbClr val="721E0D"/>
                  </a:solidFill>
                  <a:latin typeface="+mn-lt"/>
                  <a:ea typeface="+mn-ea"/>
                  <a:cs typeface="+mn-cs"/>
                </a:rPr>
                <a:t xml:space="preserve">   0.90</a:t>
              </a:r>
              <a:r>
                <a:rPr lang="zh-CN" sz="710" dirty="0">
                  <a:solidFill>
                    <a:srgbClr val="523E3A"/>
                  </a:solidFill>
                  <a:latin typeface="+mn-lt"/>
                  <a:ea typeface="+mn-ea"/>
                  <a:cs typeface="+mn-cs"/>
                </a:rPr>
                <a:t xml:space="preserve"> 亿元</a:t>
              </a:r>
            </a:p>
          </p:txBody>
        </p:sp>
        <p:sp>
          <p:nvSpPr>
            <p:cNvPr id="118" name="Line 118"/>
            <p:cNvSpPr/>
            <p:nvPr/>
          </p:nvSpPr>
          <p:spPr>
            <a:xfrm>
              <a:off x="8286750" y="398145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119" name="Ellipse 119"/>
            <p:cNvSpPr/>
            <p:nvPr/>
          </p:nvSpPr>
          <p:spPr>
            <a:xfrm>
              <a:off x="8372475" y="4067175"/>
              <a:ext cx="95250" cy="95250"/>
            </a:xfrm>
            <a:prstGeom prst="ellipse">
              <a:avLst/>
            </a:prstGeom>
            <a:solidFill>
              <a:srgbClr val="C03616"/>
            </a:solidFill>
            <a:ln>
              <a:noFill/>
            </a:ln>
          </p:spPr>
        </p:sp>
        <p:sp>
          <p:nvSpPr>
            <p:cNvPr id="120" name="TextBox 120"/>
            <p:cNvSpPr txBox="1"/>
            <p:nvPr/>
          </p:nvSpPr>
          <p:spPr>
            <a:xfrm>
              <a:off x="8548688" y="4063841"/>
              <a:ext cx="1629199" cy="161925"/>
            </a:xfrm>
            <a:prstGeom prst="rect">
              <a:avLst/>
            </a:prstGeom>
            <a:noFill/>
            <a:ln>
              <a:noFill/>
            </a:ln>
          </p:spPr>
          <p:txBody>
            <a:bodyPr wrap="none" lIns="0" tIns="0" rIns="0" bIns="0" anchor="t" anchorCtr="0">
              <a:spAutoFit/>
            </a:bodyPr>
            <a:lstStyle/>
            <a:p>
              <a:pPr algn="l"/>
              <a:r>
                <a:rPr lang="zh-CN" sz="820" b="1" dirty="0">
                  <a:solidFill>
                    <a:srgbClr val="461910"/>
                  </a:solidFill>
                  <a:latin typeface="+mn-lt"/>
                  <a:ea typeface="+mn-ea"/>
                  <a:cs typeface="+mn-cs"/>
                </a:rPr>
                <a:t xml:space="preserve">潜力 - 目标（安全冗余）      </a:t>
              </a:r>
            </a:p>
          </p:txBody>
        </p:sp>
        <p:sp>
          <p:nvSpPr>
            <p:cNvPr id="121" name="TextBox 121"/>
            <p:cNvSpPr txBox="1"/>
            <p:nvPr/>
          </p:nvSpPr>
          <p:spPr>
            <a:xfrm>
              <a:off x="11014420" y="4039552"/>
              <a:ext cx="801914" cy="205359"/>
            </a:xfrm>
            <a:prstGeom prst="rect">
              <a:avLst/>
            </a:prstGeom>
            <a:noFill/>
            <a:ln>
              <a:noFill/>
            </a:ln>
          </p:spPr>
          <p:txBody>
            <a:bodyPr wrap="none" lIns="0" tIns="0" rIns="0" bIns="0" anchor="t" anchorCtr="0">
              <a:spAutoFit/>
            </a:bodyPr>
            <a:lstStyle/>
            <a:p>
              <a:pPr algn="r"/>
              <a:r>
                <a:rPr lang="zh-CN" sz="1050" b="1" dirty="0">
                  <a:solidFill>
                    <a:srgbClr val="C03616"/>
                  </a:solidFill>
                  <a:latin typeface="+mn-lt"/>
                  <a:ea typeface="+mn-ea"/>
                  <a:cs typeface="+mn-cs"/>
                </a:rPr>
                <a:t xml:space="preserve">   0.90</a:t>
              </a:r>
              <a:r>
                <a:rPr lang="zh-CN" sz="710" dirty="0">
                  <a:solidFill>
                    <a:srgbClr val="523E3A"/>
                  </a:solidFill>
                  <a:latin typeface="+mn-lt"/>
                  <a:ea typeface="+mn-ea"/>
                  <a:cs typeface="+mn-cs"/>
                </a:rPr>
                <a:t xml:space="preserve"> 亿元</a:t>
              </a:r>
            </a:p>
          </p:txBody>
        </p:sp>
      </p:grpSp>
      <p:grpSp>
        <p:nvGrpSpPr>
          <p:cNvPr id="163" name="milestone-pace"/>
          <p:cNvGrpSpPr/>
          <p:nvPr/>
        </p:nvGrpSpPr>
        <p:grpSpPr>
          <a:xfrm>
            <a:off x="228600" y="4591050"/>
            <a:ext cx="7829550" cy="1085850"/>
            <a:chOff x="228600" y="4591050"/>
            <a:chExt cx="7829550" cy="1085850"/>
          </a:xfrm>
        </p:grpSpPr>
        <p:sp>
          <p:nvSpPr>
            <p:cNvPr id="123" name="Rectangle 123"/>
            <p:cNvSpPr/>
            <p:nvPr/>
          </p:nvSpPr>
          <p:spPr>
            <a:xfrm>
              <a:off x="228600" y="4591050"/>
              <a:ext cx="762000" cy="1085850"/>
            </a:xfrm>
            <a:prstGeom prst="roundRect">
              <a:avLst>
                <a:gd name="adj" fmla="val 10000"/>
              </a:avLst>
            </a:prstGeom>
            <a:solidFill>
              <a:srgbClr val="721E0D"/>
            </a:solidFill>
            <a:ln>
              <a:noFill/>
            </a:ln>
          </p:spPr>
        </p:sp>
        <p:sp>
          <p:nvSpPr>
            <p:cNvPr id="124" name="TextBox 124"/>
            <p:cNvSpPr txBox="1"/>
            <p:nvPr/>
          </p:nvSpPr>
          <p:spPr>
            <a:xfrm>
              <a:off x="376238" y="4979670"/>
              <a:ext cx="466725" cy="338138"/>
            </a:xfrm>
            <a:prstGeom prst="rect">
              <a:avLst/>
            </a:prstGeom>
            <a:noFill/>
            <a:ln>
              <a:noFill/>
            </a:ln>
          </p:spPr>
          <p:txBody>
            <a:bodyPr wrap="none" lIns="0" tIns="0" rIns="0" bIns="0" anchor="t" anchorCtr="0">
              <a:spAutoFit/>
            </a:bodyPr>
            <a:lstStyle/>
            <a:p>
              <a:pPr algn="ctr">
                <a:lnSpc>
                  <a:spcPts val="1275"/>
                </a:lnSpc>
              </a:pPr>
              <a:r>
                <a:rPr lang="zh-CN" sz="900" b="1" dirty="0">
                  <a:solidFill>
                    <a:srgbClr val="FFFFFF"/>
                  </a:solidFill>
                  <a:latin typeface="+mn-lt"/>
                  <a:ea typeface="+mn-ea"/>
                  <a:cs typeface="+mn-cs"/>
                </a:rPr>
                <a:t>里程碑</a:t>
              </a:r>
              <a:br/>
              <a:r>
                <a:rPr lang="zh-CN" sz="900" b="1" dirty="0">
                  <a:solidFill>
                    <a:srgbClr val="FFFFFF"/>
                  </a:solidFill>
                  <a:latin typeface="+mn-lt"/>
                  <a:ea typeface="+mn-ea"/>
                  <a:cs typeface="+mn-cs"/>
                </a:rPr>
                <a:t>推进节奏</a:t>
              </a:r>
            </a:p>
          </p:txBody>
        </p:sp>
        <p:sp>
          <p:nvSpPr>
            <p:cNvPr id="125" name="Rectangle 125"/>
            <p:cNvSpPr/>
            <p:nvPr/>
          </p:nvSpPr>
          <p:spPr>
            <a:xfrm>
              <a:off x="1104900" y="4591050"/>
              <a:ext cx="2076450" cy="1085850"/>
            </a:xfrm>
            <a:prstGeom prst="roundRect">
              <a:avLst>
                <a:gd name="adj" fmla="val 7018"/>
              </a:avLst>
            </a:prstGeom>
            <a:solidFill>
              <a:srgbClr val="F5F8FD"/>
            </a:solidFill>
            <a:ln w="9525">
              <a:solidFill>
                <a:srgbClr val="C9D6EE"/>
              </a:solidFill>
            </a:ln>
          </p:spPr>
        </p:sp>
        <p:sp>
          <p:nvSpPr>
            <p:cNvPr id="126" name="TextBox 126"/>
            <p:cNvSpPr txBox="1"/>
            <p:nvPr/>
          </p:nvSpPr>
          <p:spPr>
            <a:xfrm>
              <a:off x="1195388" y="4669393"/>
              <a:ext cx="1172177" cy="169069"/>
            </a:xfrm>
            <a:prstGeom prst="rect">
              <a:avLst/>
            </a:prstGeom>
            <a:noFill/>
            <a:ln>
              <a:noFill/>
            </a:ln>
          </p:spPr>
          <p:txBody>
            <a:bodyPr wrap="none" lIns="0" tIns="0" rIns="0" bIns="0" anchor="t" anchorCtr="0">
              <a:spAutoFit/>
            </a:bodyPr>
            <a:lstStyle/>
            <a:p>
              <a:pPr algn="l"/>
              <a:r>
                <a:rPr lang="zh-CN" sz="860" b="1" dirty="0">
                  <a:solidFill>
                    <a:srgbClr val="721E0D"/>
                  </a:solidFill>
                  <a:latin typeface="+mn-lt"/>
                  <a:ea typeface="+mn-ea"/>
                  <a:cs typeface="+mn-cs"/>
                </a:rPr>
                <a:t xml:space="preserve">7月：夯实基础      </a:t>
              </a:r>
            </a:p>
          </p:txBody>
        </p:sp>
        <p:grpSp>
          <p:nvGrpSpPr>
            <p:cNvPr id="133" name="Group 133"/>
            <p:cNvGrpSpPr/>
            <p:nvPr/>
          </p:nvGrpSpPr>
          <p:grpSpPr>
            <a:xfrm>
              <a:off x="1212850" y="4900612"/>
              <a:ext cx="127000" cy="142875"/>
              <a:chOff x="1212850" y="4900612"/>
              <a:chExt cx="127000" cy="142875"/>
            </a:xfrm>
          </p:grpSpPr>
          <p:sp>
            <p:nvSpPr>
              <p:cNvPr id="127" name="Freeform 127"/>
              <p:cNvSpPr/>
              <p:nvPr/>
            </p:nvSpPr>
            <p:spPr>
              <a:xfrm>
                <a:off x="1212850" y="49164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721E0D"/>
                </a:solidFill>
              </a:ln>
            </p:spPr>
          </p:sp>
          <p:sp>
            <p:nvSpPr>
              <p:cNvPr id="128" name="Freeform 128"/>
              <p:cNvSpPr/>
              <p:nvPr/>
            </p:nvSpPr>
            <p:spPr>
              <a:xfrm>
                <a:off x="1308100" y="4900612"/>
                <a:ext cx="9525" cy="31750"/>
              </a:xfrm>
              <a:custGeom>
                <a:avLst/>
                <a:gdLst/>
                <a:ahLst/>
                <a:cxnLst/>
                <a:rect l="l" t="t" r="r" b="b"/>
                <a:pathLst>
                  <a:path w="9525" h="31750">
                    <a:moveTo>
                      <a:pt x="0" y="0"/>
                    </a:moveTo>
                    <a:lnTo>
                      <a:pt x="0" y="31750"/>
                    </a:lnTo>
                  </a:path>
                </a:pathLst>
              </a:custGeom>
              <a:noFill/>
              <a:ln w="15875">
                <a:solidFill>
                  <a:srgbClr val="721E0D"/>
                </a:solidFill>
              </a:ln>
            </p:spPr>
          </p:sp>
          <p:sp>
            <p:nvSpPr>
              <p:cNvPr id="129" name="Freeform 129"/>
              <p:cNvSpPr/>
              <p:nvPr/>
            </p:nvSpPr>
            <p:spPr>
              <a:xfrm>
                <a:off x="1244600" y="4900612"/>
                <a:ext cx="9525" cy="31750"/>
              </a:xfrm>
              <a:custGeom>
                <a:avLst/>
                <a:gdLst/>
                <a:ahLst/>
                <a:cxnLst/>
                <a:rect l="l" t="t" r="r" b="b"/>
                <a:pathLst>
                  <a:path w="9525" h="31750">
                    <a:moveTo>
                      <a:pt x="0" y="0"/>
                    </a:moveTo>
                    <a:lnTo>
                      <a:pt x="0" y="31750"/>
                    </a:lnTo>
                  </a:path>
                </a:pathLst>
              </a:custGeom>
              <a:noFill/>
              <a:ln w="15875">
                <a:solidFill>
                  <a:srgbClr val="721E0D"/>
                </a:solidFill>
              </a:ln>
            </p:spPr>
          </p:sp>
          <p:sp>
            <p:nvSpPr>
              <p:cNvPr id="130" name="Freeform 130"/>
              <p:cNvSpPr/>
              <p:nvPr/>
            </p:nvSpPr>
            <p:spPr>
              <a:xfrm>
                <a:off x="1212850" y="4964112"/>
                <a:ext cx="127000" cy="9525"/>
              </a:xfrm>
              <a:custGeom>
                <a:avLst/>
                <a:gdLst/>
                <a:ahLst/>
                <a:cxnLst/>
                <a:rect l="l" t="t" r="r" b="b"/>
                <a:pathLst>
                  <a:path w="127000" h="9525">
                    <a:moveTo>
                      <a:pt x="0" y="0"/>
                    </a:moveTo>
                    <a:lnTo>
                      <a:pt x="127000" y="0"/>
                    </a:lnTo>
                  </a:path>
                </a:pathLst>
              </a:custGeom>
              <a:noFill/>
              <a:ln w="15875">
                <a:solidFill>
                  <a:srgbClr val="721E0D"/>
                </a:solidFill>
              </a:ln>
            </p:spPr>
          </p:sp>
          <p:sp>
            <p:nvSpPr>
              <p:cNvPr id="131" name="Freeform 131"/>
              <p:cNvSpPr/>
              <p:nvPr/>
            </p:nvSpPr>
            <p:spPr>
              <a:xfrm>
                <a:off x="1268412" y="4995862"/>
                <a:ext cx="9525" cy="9525"/>
              </a:xfrm>
              <a:custGeom>
                <a:avLst/>
                <a:gdLst/>
                <a:ahLst/>
                <a:cxnLst/>
                <a:rect l="l" t="t" r="r" b="b"/>
                <a:pathLst>
                  <a:path w="9525" h="9525">
                    <a:moveTo>
                      <a:pt x="0" y="0"/>
                    </a:moveTo>
                    <a:lnTo>
                      <a:pt x="7937" y="0"/>
                    </a:lnTo>
                  </a:path>
                </a:pathLst>
              </a:custGeom>
              <a:noFill/>
              <a:ln w="15875">
                <a:solidFill>
                  <a:srgbClr val="721E0D"/>
                </a:solidFill>
              </a:ln>
            </p:spPr>
          </p:sp>
          <p:sp>
            <p:nvSpPr>
              <p:cNvPr id="132" name="Freeform 132"/>
              <p:cNvSpPr/>
              <p:nvPr/>
            </p:nvSpPr>
            <p:spPr>
              <a:xfrm>
                <a:off x="1276350" y="4995862"/>
                <a:ext cx="9525" cy="23812"/>
              </a:xfrm>
              <a:custGeom>
                <a:avLst/>
                <a:gdLst/>
                <a:ahLst/>
                <a:cxnLst/>
                <a:rect l="l" t="t" r="r" b="b"/>
                <a:pathLst>
                  <a:path w="9525" h="23812">
                    <a:moveTo>
                      <a:pt x="0" y="0"/>
                    </a:moveTo>
                    <a:lnTo>
                      <a:pt x="0" y="23812"/>
                    </a:lnTo>
                  </a:path>
                </a:pathLst>
              </a:custGeom>
              <a:noFill/>
              <a:ln w="15875">
                <a:solidFill>
                  <a:srgbClr val="721E0D"/>
                </a:solidFill>
              </a:ln>
            </p:spPr>
          </p:sp>
        </p:grpSp>
        <p:sp>
          <p:nvSpPr>
            <p:cNvPr id="134" name="TextBox 134"/>
            <p:cNvSpPr txBox="1"/>
            <p:nvPr/>
          </p:nvSpPr>
          <p:spPr>
            <a:xfrm>
              <a:off x="1443038" y="4893707"/>
              <a:ext cx="1276477" cy="373856"/>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存量挖潜到位 ≥ 0.50亿元      </a:t>
              </a:r>
            </a:p>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新客攻坚 ≥ 0.10亿元      </a:t>
              </a:r>
            </a:p>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重点战役 ≥ 0.05亿元      </a:t>
              </a:r>
            </a:p>
          </p:txBody>
        </p:sp>
        <p:sp>
          <p:nvSpPr>
            <p:cNvPr id="135" name="Rectangle 135"/>
            <p:cNvSpPr/>
            <p:nvPr/>
          </p:nvSpPr>
          <p:spPr>
            <a:xfrm>
              <a:off x="1200150" y="5391150"/>
              <a:ext cx="1885950" cy="209550"/>
            </a:xfrm>
            <a:prstGeom prst="roundRect">
              <a:avLst>
                <a:gd name="adj" fmla="val 18182"/>
              </a:avLst>
            </a:prstGeom>
            <a:solidFill>
              <a:srgbClr val="721E0D"/>
            </a:solidFill>
            <a:ln>
              <a:noFill/>
            </a:ln>
          </p:spPr>
        </p:sp>
        <p:sp>
          <p:nvSpPr>
            <p:cNvPr id="136" name="TextBox 136"/>
            <p:cNvSpPr txBox="1"/>
            <p:nvPr/>
          </p:nvSpPr>
          <p:spPr>
            <a:xfrm>
              <a:off x="1517928" y="5457111"/>
              <a:ext cx="125039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 xml:space="preserve">   阶段合计 ≥ 0.65亿元   </a:t>
              </a:r>
            </a:p>
          </p:txBody>
        </p:sp>
        <p:sp>
          <p:nvSpPr>
            <p:cNvPr id="137" name="Rectangle 137"/>
            <p:cNvSpPr/>
            <p:nvPr/>
          </p:nvSpPr>
          <p:spPr>
            <a:xfrm>
              <a:off x="3543300" y="4591050"/>
              <a:ext cx="2076450" cy="1085850"/>
            </a:xfrm>
            <a:prstGeom prst="roundRect">
              <a:avLst>
                <a:gd name="adj" fmla="val 7018"/>
              </a:avLst>
            </a:prstGeom>
            <a:solidFill>
              <a:srgbClr val="F5F8FD"/>
            </a:solidFill>
            <a:ln w="9525">
              <a:solidFill>
                <a:srgbClr val="C9D6EE"/>
              </a:solidFill>
            </a:ln>
          </p:spPr>
        </p:sp>
        <p:sp>
          <p:nvSpPr>
            <p:cNvPr id="138" name="TextBox 138"/>
            <p:cNvSpPr txBox="1"/>
            <p:nvPr/>
          </p:nvSpPr>
          <p:spPr>
            <a:xfrm>
              <a:off x="3633788" y="4669393"/>
              <a:ext cx="1172177" cy="169069"/>
            </a:xfrm>
            <a:prstGeom prst="rect">
              <a:avLst/>
            </a:prstGeom>
            <a:noFill/>
            <a:ln>
              <a:noFill/>
            </a:ln>
          </p:spPr>
          <p:txBody>
            <a:bodyPr wrap="none" lIns="0" tIns="0" rIns="0" bIns="0" anchor="t" anchorCtr="0">
              <a:spAutoFit/>
            </a:bodyPr>
            <a:lstStyle/>
            <a:p>
              <a:pPr algn="l"/>
              <a:r>
                <a:rPr lang="zh-CN" sz="860" b="1" dirty="0">
                  <a:solidFill>
                    <a:srgbClr val="721E0D"/>
                  </a:solidFill>
                  <a:latin typeface="+mn-lt"/>
                  <a:ea typeface="+mn-ea"/>
                  <a:cs typeface="+mn-cs"/>
                </a:rPr>
                <a:t xml:space="preserve">9月：加速突破      </a:t>
              </a:r>
            </a:p>
          </p:txBody>
        </p:sp>
        <p:grpSp>
          <p:nvGrpSpPr>
            <p:cNvPr id="145" name="Group 145"/>
            <p:cNvGrpSpPr/>
            <p:nvPr/>
          </p:nvGrpSpPr>
          <p:grpSpPr>
            <a:xfrm>
              <a:off x="3651250" y="4900612"/>
              <a:ext cx="127000" cy="142875"/>
              <a:chOff x="3651250" y="4900612"/>
              <a:chExt cx="127000" cy="142875"/>
            </a:xfrm>
          </p:grpSpPr>
          <p:sp>
            <p:nvSpPr>
              <p:cNvPr id="139" name="Freeform 139"/>
              <p:cNvSpPr/>
              <p:nvPr/>
            </p:nvSpPr>
            <p:spPr>
              <a:xfrm>
                <a:off x="3651250" y="49164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721E0D"/>
                </a:solidFill>
              </a:ln>
            </p:spPr>
          </p:sp>
          <p:sp>
            <p:nvSpPr>
              <p:cNvPr id="140" name="Freeform 140"/>
              <p:cNvSpPr/>
              <p:nvPr/>
            </p:nvSpPr>
            <p:spPr>
              <a:xfrm>
                <a:off x="3746500" y="4900612"/>
                <a:ext cx="9525" cy="31750"/>
              </a:xfrm>
              <a:custGeom>
                <a:avLst/>
                <a:gdLst/>
                <a:ahLst/>
                <a:cxnLst/>
                <a:rect l="l" t="t" r="r" b="b"/>
                <a:pathLst>
                  <a:path w="9525" h="31750">
                    <a:moveTo>
                      <a:pt x="0" y="0"/>
                    </a:moveTo>
                    <a:lnTo>
                      <a:pt x="0" y="31750"/>
                    </a:lnTo>
                  </a:path>
                </a:pathLst>
              </a:custGeom>
              <a:noFill/>
              <a:ln w="15875">
                <a:solidFill>
                  <a:srgbClr val="721E0D"/>
                </a:solidFill>
              </a:ln>
            </p:spPr>
          </p:sp>
          <p:sp>
            <p:nvSpPr>
              <p:cNvPr id="141" name="Freeform 141"/>
              <p:cNvSpPr/>
              <p:nvPr/>
            </p:nvSpPr>
            <p:spPr>
              <a:xfrm>
                <a:off x="3683000" y="4900612"/>
                <a:ext cx="9525" cy="31750"/>
              </a:xfrm>
              <a:custGeom>
                <a:avLst/>
                <a:gdLst/>
                <a:ahLst/>
                <a:cxnLst/>
                <a:rect l="l" t="t" r="r" b="b"/>
                <a:pathLst>
                  <a:path w="9525" h="31750">
                    <a:moveTo>
                      <a:pt x="0" y="0"/>
                    </a:moveTo>
                    <a:lnTo>
                      <a:pt x="0" y="31750"/>
                    </a:lnTo>
                  </a:path>
                </a:pathLst>
              </a:custGeom>
              <a:noFill/>
              <a:ln w="15875">
                <a:solidFill>
                  <a:srgbClr val="721E0D"/>
                </a:solidFill>
              </a:ln>
            </p:spPr>
          </p:sp>
          <p:sp>
            <p:nvSpPr>
              <p:cNvPr id="142" name="Freeform 142"/>
              <p:cNvSpPr/>
              <p:nvPr/>
            </p:nvSpPr>
            <p:spPr>
              <a:xfrm>
                <a:off x="3651250" y="4964112"/>
                <a:ext cx="127000" cy="9525"/>
              </a:xfrm>
              <a:custGeom>
                <a:avLst/>
                <a:gdLst/>
                <a:ahLst/>
                <a:cxnLst/>
                <a:rect l="l" t="t" r="r" b="b"/>
                <a:pathLst>
                  <a:path w="127000" h="9525">
                    <a:moveTo>
                      <a:pt x="0" y="0"/>
                    </a:moveTo>
                    <a:lnTo>
                      <a:pt x="127000" y="0"/>
                    </a:lnTo>
                  </a:path>
                </a:pathLst>
              </a:custGeom>
              <a:noFill/>
              <a:ln w="15875">
                <a:solidFill>
                  <a:srgbClr val="721E0D"/>
                </a:solidFill>
              </a:ln>
            </p:spPr>
          </p:sp>
          <p:sp>
            <p:nvSpPr>
              <p:cNvPr id="143" name="Freeform 143"/>
              <p:cNvSpPr/>
              <p:nvPr/>
            </p:nvSpPr>
            <p:spPr>
              <a:xfrm>
                <a:off x="3706812" y="4995862"/>
                <a:ext cx="9525" cy="9525"/>
              </a:xfrm>
              <a:custGeom>
                <a:avLst/>
                <a:gdLst/>
                <a:ahLst/>
                <a:cxnLst/>
                <a:rect l="l" t="t" r="r" b="b"/>
                <a:pathLst>
                  <a:path w="9525" h="9525">
                    <a:moveTo>
                      <a:pt x="0" y="0"/>
                    </a:moveTo>
                    <a:lnTo>
                      <a:pt x="7937" y="0"/>
                    </a:lnTo>
                  </a:path>
                </a:pathLst>
              </a:custGeom>
              <a:noFill/>
              <a:ln w="15875">
                <a:solidFill>
                  <a:srgbClr val="721E0D"/>
                </a:solidFill>
              </a:ln>
            </p:spPr>
          </p:sp>
          <p:sp>
            <p:nvSpPr>
              <p:cNvPr id="144" name="Freeform 144"/>
              <p:cNvSpPr/>
              <p:nvPr/>
            </p:nvSpPr>
            <p:spPr>
              <a:xfrm>
                <a:off x="3714750" y="4995862"/>
                <a:ext cx="9525" cy="23812"/>
              </a:xfrm>
              <a:custGeom>
                <a:avLst/>
                <a:gdLst/>
                <a:ahLst/>
                <a:cxnLst/>
                <a:rect l="l" t="t" r="r" b="b"/>
                <a:pathLst>
                  <a:path w="9525" h="23812">
                    <a:moveTo>
                      <a:pt x="0" y="0"/>
                    </a:moveTo>
                    <a:lnTo>
                      <a:pt x="0" y="23812"/>
                    </a:lnTo>
                  </a:path>
                </a:pathLst>
              </a:custGeom>
              <a:noFill/>
              <a:ln w="15875">
                <a:solidFill>
                  <a:srgbClr val="721E0D"/>
                </a:solidFill>
              </a:ln>
            </p:spPr>
          </p:sp>
        </p:grpSp>
        <p:sp>
          <p:nvSpPr>
            <p:cNvPr id="146" name="TextBox 146"/>
            <p:cNvSpPr txBox="1"/>
            <p:nvPr/>
          </p:nvSpPr>
          <p:spPr>
            <a:xfrm>
              <a:off x="3881438" y="4893707"/>
              <a:ext cx="1276477" cy="373856"/>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存量挖潜到位 ≥ 0.90亿元      </a:t>
              </a:r>
            </a:p>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新客攻坚 ≥ 0.30亿元      </a:t>
              </a:r>
            </a:p>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重点战役 ≥ 0.15亿元      </a:t>
              </a:r>
            </a:p>
          </p:txBody>
        </p:sp>
        <p:sp>
          <p:nvSpPr>
            <p:cNvPr id="147" name="Rectangle 147"/>
            <p:cNvSpPr/>
            <p:nvPr/>
          </p:nvSpPr>
          <p:spPr>
            <a:xfrm>
              <a:off x="3638550" y="5391150"/>
              <a:ext cx="1885950" cy="209550"/>
            </a:xfrm>
            <a:prstGeom prst="roundRect">
              <a:avLst>
                <a:gd name="adj" fmla="val 18182"/>
              </a:avLst>
            </a:prstGeom>
            <a:solidFill>
              <a:srgbClr val="721E0D"/>
            </a:solidFill>
            <a:ln>
              <a:noFill/>
            </a:ln>
          </p:spPr>
        </p:sp>
        <p:sp>
          <p:nvSpPr>
            <p:cNvPr id="148" name="TextBox 148"/>
            <p:cNvSpPr txBox="1"/>
            <p:nvPr/>
          </p:nvSpPr>
          <p:spPr>
            <a:xfrm>
              <a:off x="3956328" y="5457111"/>
              <a:ext cx="125039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 xml:space="preserve">   阶段合计 ≥ 1.35亿元   </a:t>
              </a:r>
            </a:p>
          </p:txBody>
        </p:sp>
        <p:sp>
          <p:nvSpPr>
            <p:cNvPr id="149" name="Rectangle 149"/>
            <p:cNvSpPr/>
            <p:nvPr/>
          </p:nvSpPr>
          <p:spPr>
            <a:xfrm>
              <a:off x="5981700" y="4591050"/>
              <a:ext cx="2076450" cy="1085850"/>
            </a:xfrm>
            <a:prstGeom prst="roundRect">
              <a:avLst>
                <a:gd name="adj" fmla="val 7018"/>
              </a:avLst>
            </a:prstGeom>
            <a:solidFill>
              <a:srgbClr val="F5F8FD"/>
            </a:solidFill>
            <a:ln w="9525">
              <a:solidFill>
                <a:srgbClr val="C9D6EE"/>
              </a:solidFill>
            </a:ln>
          </p:spPr>
        </p:sp>
        <p:sp>
          <p:nvSpPr>
            <p:cNvPr id="150" name="TextBox 150"/>
            <p:cNvSpPr txBox="1"/>
            <p:nvPr/>
          </p:nvSpPr>
          <p:spPr>
            <a:xfrm>
              <a:off x="6072188" y="4669393"/>
              <a:ext cx="1239036" cy="169069"/>
            </a:xfrm>
            <a:prstGeom prst="rect">
              <a:avLst/>
            </a:prstGeom>
            <a:noFill/>
            <a:ln>
              <a:noFill/>
            </a:ln>
          </p:spPr>
          <p:txBody>
            <a:bodyPr wrap="none" lIns="0" tIns="0" rIns="0" bIns="0" anchor="t" anchorCtr="0">
              <a:spAutoFit/>
            </a:bodyPr>
            <a:lstStyle/>
            <a:p>
              <a:pPr algn="l"/>
              <a:r>
                <a:rPr lang="zh-CN" sz="860" b="1" dirty="0">
                  <a:solidFill>
                    <a:srgbClr val="721E0D"/>
                  </a:solidFill>
                  <a:latin typeface="+mn-lt"/>
                  <a:ea typeface="+mn-ea"/>
                  <a:cs typeface="+mn-cs"/>
                </a:rPr>
                <a:t xml:space="preserve">11月：全面收官      </a:t>
              </a:r>
            </a:p>
          </p:txBody>
        </p:sp>
        <p:grpSp>
          <p:nvGrpSpPr>
            <p:cNvPr id="157" name="Group 157"/>
            <p:cNvGrpSpPr/>
            <p:nvPr/>
          </p:nvGrpSpPr>
          <p:grpSpPr>
            <a:xfrm>
              <a:off x="6089650" y="4900612"/>
              <a:ext cx="127000" cy="142875"/>
              <a:chOff x="6089650" y="4900612"/>
              <a:chExt cx="127000" cy="142875"/>
            </a:xfrm>
          </p:grpSpPr>
          <p:sp>
            <p:nvSpPr>
              <p:cNvPr id="151" name="Freeform 151"/>
              <p:cNvSpPr/>
              <p:nvPr/>
            </p:nvSpPr>
            <p:spPr>
              <a:xfrm>
                <a:off x="6089650" y="4916487"/>
                <a:ext cx="127000" cy="127000"/>
              </a:xfrm>
              <a:custGeom>
                <a:avLst/>
                <a:gdLst/>
                <a:ahLst/>
                <a:cxnLst/>
                <a:rect l="l" t="t" r="r" b="b"/>
                <a:pathLst>
                  <a:path w="127000" h="127000">
                    <a:moveTo>
                      <a:pt x="0" y="15875"/>
                    </a:moveTo>
                    <a:cubicBezTo>
                      <a:pt x="0" y="7107"/>
                      <a:pt x="7107" y="0"/>
                      <a:pt x="15875" y="0"/>
                    </a:cubicBezTo>
                    <a:lnTo>
                      <a:pt x="111125" y="0"/>
                    </a:lnTo>
                    <a:cubicBezTo>
                      <a:pt x="119892" y="0"/>
                      <a:pt x="127000" y="7107"/>
                      <a:pt x="127000" y="15875"/>
                    </a:cubicBezTo>
                    <a:lnTo>
                      <a:pt x="127000" y="111125"/>
                    </a:lnTo>
                    <a:cubicBezTo>
                      <a:pt x="127000" y="119892"/>
                      <a:pt x="119892" y="127000"/>
                      <a:pt x="111125" y="127000"/>
                    </a:cubicBezTo>
                    <a:lnTo>
                      <a:pt x="15875" y="127000"/>
                    </a:lnTo>
                    <a:cubicBezTo>
                      <a:pt x="7107" y="127000"/>
                      <a:pt x="0" y="119892"/>
                      <a:pt x="0" y="111125"/>
                    </a:cubicBezTo>
                    <a:lnTo>
                      <a:pt x="0" y="15875"/>
                    </a:lnTo>
                  </a:path>
                </a:pathLst>
              </a:custGeom>
              <a:noFill/>
              <a:ln w="15875">
                <a:solidFill>
                  <a:srgbClr val="721E0D"/>
                </a:solidFill>
              </a:ln>
            </p:spPr>
          </p:sp>
          <p:sp>
            <p:nvSpPr>
              <p:cNvPr id="152" name="Freeform 152"/>
              <p:cNvSpPr/>
              <p:nvPr/>
            </p:nvSpPr>
            <p:spPr>
              <a:xfrm>
                <a:off x="6184900" y="4900612"/>
                <a:ext cx="9525" cy="31750"/>
              </a:xfrm>
              <a:custGeom>
                <a:avLst/>
                <a:gdLst/>
                <a:ahLst/>
                <a:cxnLst/>
                <a:rect l="l" t="t" r="r" b="b"/>
                <a:pathLst>
                  <a:path w="9525" h="31750">
                    <a:moveTo>
                      <a:pt x="0" y="0"/>
                    </a:moveTo>
                    <a:lnTo>
                      <a:pt x="0" y="31750"/>
                    </a:lnTo>
                  </a:path>
                </a:pathLst>
              </a:custGeom>
              <a:noFill/>
              <a:ln w="15875">
                <a:solidFill>
                  <a:srgbClr val="721E0D"/>
                </a:solidFill>
              </a:ln>
            </p:spPr>
          </p:sp>
          <p:sp>
            <p:nvSpPr>
              <p:cNvPr id="153" name="Freeform 153"/>
              <p:cNvSpPr/>
              <p:nvPr/>
            </p:nvSpPr>
            <p:spPr>
              <a:xfrm>
                <a:off x="6121400" y="4900612"/>
                <a:ext cx="9525" cy="31750"/>
              </a:xfrm>
              <a:custGeom>
                <a:avLst/>
                <a:gdLst/>
                <a:ahLst/>
                <a:cxnLst/>
                <a:rect l="l" t="t" r="r" b="b"/>
                <a:pathLst>
                  <a:path w="9525" h="31750">
                    <a:moveTo>
                      <a:pt x="0" y="0"/>
                    </a:moveTo>
                    <a:lnTo>
                      <a:pt x="0" y="31750"/>
                    </a:lnTo>
                  </a:path>
                </a:pathLst>
              </a:custGeom>
              <a:noFill/>
              <a:ln w="15875">
                <a:solidFill>
                  <a:srgbClr val="721E0D"/>
                </a:solidFill>
              </a:ln>
            </p:spPr>
          </p:sp>
          <p:sp>
            <p:nvSpPr>
              <p:cNvPr id="154" name="Freeform 154"/>
              <p:cNvSpPr/>
              <p:nvPr/>
            </p:nvSpPr>
            <p:spPr>
              <a:xfrm>
                <a:off x="6089650" y="4964112"/>
                <a:ext cx="127000" cy="9525"/>
              </a:xfrm>
              <a:custGeom>
                <a:avLst/>
                <a:gdLst/>
                <a:ahLst/>
                <a:cxnLst/>
                <a:rect l="l" t="t" r="r" b="b"/>
                <a:pathLst>
                  <a:path w="127000" h="9525">
                    <a:moveTo>
                      <a:pt x="0" y="0"/>
                    </a:moveTo>
                    <a:lnTo>
                      <a:pt x="127000" y="0"/>
                    </a:lnTo>
                  </a:path>
                </a:pathLst>
              </a:custGeom>
              <a:noFill/>
              <a:ln w="15875">
                <a:solidFill>
                  <a:srgbClr val="721E0D"/>
                </a:solidFill>
              </a:ln>
            </p:spPr>
          </p:sp>
          <p:sp>
            <p:nvSpPr>
              <p:cNvPr id="155" name="Freeform 155"/>
              <p:cNvSpPr/>
              <p:nvPr/>
            </p:nvSpPr>
            <p:spPr>
              <a:xfrm>
                <a:off x="6145212" y="4995862"/>
                <a:ext cx="9525" cy="9525"/>
              </a:xfrm>
              <a:custGeom>
                <a:avLst/>
                <a:gdLst/>
                <a:ahLst/>
                <a:cxnLst/>
                <a:rect l="l" t="t" r="r" b="b"/>
                <a:pathLst>
                  <a:path w="9525" h="9525">
                    <a:moveTo>
                      <a:pt x="0" y="0"/>
                    </a:moveTo>
                    <a:lnTo>
                      <a:pt x="7937" y="0"/>
                    </a:lnTo>
                  </a:path>
                </a:pathLst>
              </a:custGeom>
              <a:noFill/>
              <a:ln w="15875">
                <a:solidFill>
                  <a:srgbClr val="721E0D"/>
                </a:solidFill>
              </a:ln>
            </p:spPr>
          </p:sp>
          <p:sp>
            <p:nvSpPr>
              <p:cNvPr id="156" name="Freeform 156"/>
              <p:cNvSpPr/>
              <p:nvPr/>
            </p:nvSpPr>
            <p:spPr>
              <a:xfrm>
                <a:off x="6153150" y="4995862"/>
                <a:ext cx="9525" cy="23812"/>
              </a:xfrm>
              <a:custGeom>
                <a:avLst/>
                <a:gdLst/>
                <a:ahLst/>
                <a:cxnLst/>
                <a:rect l="l" t="t" r="r" b="b"/>
                <a:pathLst>
                  <a:path w="9525" h="23812">
                    <a:moveTo>
                      <a:pt x="0" y="0"/>
                    </a:moveTo>
                    <a:lnTo>
                      <a:pt x="0" y="23812"/>
                    </a:lnTo>
                  </a:path>
                </a:pathLst>
              </a:custGeom>
              <a:noFill/>
              <a:ln w="15875">
                <a:solidFill>
                  <a:srgbClr val="721E0D"/>
                </a:solidFill>
              </a:ln>
            </p:spPr>
          </p:sp>
        </p:grpSp>
        <p:sp>
          <p:nvSpPr>
            <p:cNvPr id="158" name="TextBox 158"/>
            <p:cNvSpPr txBox="1"/>
            <p:nvPr/>
          </p:nvSpPr>
          <p:spPr>
            <a:xfrm>
              <a:off x="6319838" y="4893707"/>
              <a:ext cx="1276477" cy="373856"/>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存量挖潜到位 ≥ 1.36亿元      </a:t>
              </a:r>
            </a:p>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新客攻坚 ≥ 0.54亿元      </a:t>
              </a:r>
            </a:p>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重点战役 ≥ 0.20亿元      </a:t>
              </a:r>
            </a:p>
          </p:txBody>
        </p:sp>
        <p:sp>
          <p:nvSpPr>
            <p:cNvPr id="159" name="Rectangle 159"/>
            <p:cNvSpPr/>
            <p:nvPr/>
          </p:nvSpPr>
          <p:spPr>
            <a:xfrm>
              <a:off x="6076950" y="5391150"/>
              <a:ext cx="1885950" cy="209550"/>
            </a:xfrm>
            <a:prstGeom prst="roundRect">
              <a:avLst>
                <a:gd name="adj" fmla="val 18182"/>
              </a:avLst>
            </a:prstGeom>
            <a:solidFill>
              <a:srgbClr val="721E0D"/>
            </a:solidFill>
            <a:ln>
              <a:noFill/>
            </a:ln>
          </p:spPr>
        </p:sp>
        <p:sp>
          <p:nvSpPr>
            <p:cNvPr id="160" name="TextBox 160"/>
            <p:cNvSpPr txBox="1"/>
            <p:nvPr/>
          </p:nvSpPr>
          <p:spPr>
            <a:xfrm>
              <a:off x="6394728" y="5457111"/>
              <a:ext cx="125039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 xml:space="preserve">   阶段合计 ≥ 2.10亿元   </a:t>
              </a:r>
            </a:p>
          </p:txBody>
        </p:sp>
        <p:sp>
          <p:nvSpPr>
            <p:cNvPr id="161" name="Freeform 161"/>
            <p:cNvSpPr/>
            <p:nvPr/>
          </p:nvSpPr>
          <p:spPr>
            <a:xfrm>
              <a:off x="3276600" y="5029200"/>
              <a:ext cx="228600" cy="209550"/>
            </a:xfrm>
            <a:prstGeom prst="rightArrow">
              <a:avLst/>
            </a:prstGeom>
            <a:solidFill>
              <a:srgbClr val="721E0D"/>
            </a:solidFill>
            <a:ln>
              <a:noFill/>
            </a:ln>
          </p:spPr>
        </p:sp>
        <p:sp>
          <p:nvSpPr>
            <p:cNvPr id="162" name="Freeform 162"/>
            <p:cNvSpPr/>
            <p:nvPr/>
          </p:nvSpPr>
          <p:spPr>
            <a:xfrm>
              <a:off x="5715000" y="5029200"/>
              <a:ext cx="228600" cy="209550"/>
            </a:xfrm>
            <a:prstGeom prst="rightArrow">
              <a:avLst/>
            </a:prstGeom>
            <a:solidFill>
              <a:srgbClr val="721E0D"/>
            </a:solidFill>
            <a:ln>
              <a:noFill/>
            </a:ln>
          </p:spPr>
        </p:sp>
      </p:grpSp>
      <p:grpSp>
        <p:nvGrpSpPr>
          <p:cNvPr id="201" name="responsibility-table"/>
          <p:cNvGrpSpPr/>
          <p:nvPr/>
        </p:nvGrpSpPr>
        <p:grpSpPr>
          <a:xfrm>
            <a:off x="8172450" y="4591050"/>
            <a:ext cx="3790950" cy="1085850"/>
            <a:chOff x="8172450" y="4591050"/>
            <a:chExt cx="3790950" cy="1085850"/>
          </a:xfrm>
        </p:grpSpPr>
        <p:sp>
          <p:nvSpPr>
            <p:cNvPr id="164" name="Rectangle 164"/>
            <p:cNvSpPr/>
            <p:nvPr/>
          </p:nvSpPr>
          <p:spPr>
            <a:xfrm>
              <a:off x="8172450" y="4591050"/>
              <a:ext cx="571500" cy="1085850"/>
            </a:xfrm>
            <a:prstGeom prst="roundRect">
              <a:avLst>
                <a:gd name="adj" fmla="val 13333"/>
              </a:avLst>
            </a:prstGeom>
            <a:solidFill>
              <a:srgbClr val="721E0D"/>
            </a:solidFill>
            <a:ln>
              <a:noFill/>
            </a:ln>
          </p:spPr>
        </p:sp>
        <p:sp>
          <p:nvSpPr>
            <p:cNvPr id="165" name="TextBox 165"/>
            <p:cNvSpPr txBox="1"/>
            <p:nvPr/>
          </p:nvSpPr>
          <p:spPr>
            <a:xfrm>
              <a:off x="8339138" y="4979670"/>
              <a:ext cx="238125" cy="338138"/>
            </a:xfrm>
            <a:prstGeom prst="rect">
              <a:avLst/>
            </a:prstGeom>
            <a:noFill/>
            <a:ln>
              <a:noFill/>
            </a:ln>
          </p:spPr>
          <p:txBody>
            <a:bodyPr wrap="none" lIns="0" tIns="0" rIns="0" bIns="0" anchor="t" anchorCtr="0">
              <a:spAutoFit/>
            </a:bodyPr>
            <a:lstStyle/>
            <a:p>
              <a:pPr algn="ctr">
                <a:lnSpc>
                  <a:spcPts val="1275"/>
                </a:lnSpc>
              </a:pPr>
              <a:r>
                <a:rPr lang="zh-CN" sz="900" b="1" dirty="0">
                  <a:solidFill>
                    <a:srgbClr val="FFFFFF"/>
                  </a:solidFill>
                  <a:latin typeface="+mn-lt"/>
                  <a:ea typeface="+mn-ea"/>
                  <a:cs typeface="+mn-cs"/>
                </a:rPr>
                <a:t>责任</a:t>
              </a:r>
              <a:br/>
              <a:r>
                <a:rPr lang="zh-CN" sz="900" b="1" dirty="0">
                  <a:solidFill>
                    <a:srgbClr val="FFFFFF"/>
                  </a:solidFill>
                  <a:latin typeface="+mn-lt"/>
                  <a:ea typeface="+mn-ea"/>
                  <a:cs typeface="+mn-cs"/>
                </a:rPr>
                <a:t>归属</a:t>
              </a:r>
            </a:p>
          </p:txBody>
        </p:sp>
        <p:sp>
          <p:nvSpPr>
            <p:cNvPr id="166" name="Rectangle 166"/>
            <p:cNvSpPr/>
            <p:nvPr/>
          </p:nvSpPr>
          <p:spPr>
            <a:xfrm>
              <a:off x="8801100" y="4591050"/>
              <a:ext cx="3162300" cy="209550"/>
            </a:xfrm>
            <a:prstGeom prst="rect">
              <a:avLst/>
            </a:prstGeom>
            <a:solidFill>
              <a:srgbClr val="EAF1FB"/>
            </a:solidFill>
            <a:ln>
              <a:noFill/>
            </a:ln>
          </p:spPr>
        </p:sp>
        <p:sp>
          <p:nvSpPr>
            <p:cNvPr id="167" name="TextBox 167"/>
            <p:cNvSpPr txBox="1"/>
            <p:nvPr/>
          </p:nvSpPr>
          <p:spPr>
            <a:xfrm>
              <a:off x="9100807" y="4657011"/>
              <a:ext cx="200685"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路径</a:t>
              </a:r>
            </a:p>
          </p:txBody>
        </p:sp>
        <p:sp>
          <p:nvSpPr>
            <p:cNvPr id="168" name="TextBox 168"/>
            <p:cNvSpPr txBox="1"/>
            <p:nvPr/>
          </p:nvSpPr>
          <p:spPr>
            <a:xfrm>
              <a:off x="9767227" y="4657011"/>
              <a:ext cx="39184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牵头部门</a:t>
              </a:r>
            </a:p>
          </p:txBody>
        </p:sp>
        <p:sp>
          <p:nvSpPr>
            <p:cNvPr id="169" name="TextBox 169"/>
            <p:cNvSpPr txBox="1"/>
            <p:nvPr/>
          </p:nvSpPr>
          <p:spPr>
            <a:xfrm>
              <a:off x="10481437" y="4657011"/>
              <a:ext cx="48742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核心负责人</a:t>
              </a:r>
            </a:p>
          </p:txBody>
        </p:sp>
        <p:sp>
          <p:nvSpPr>
            <p:cNvPr id="170" name="TextBox 170"/>
            <p:cNvSpPr txBox="1"/>
            <p:nvPr/>
          </p:nvSpPr>
          <p:spPr>
            <a:xfrm>
              <a:off x="11215027" y="4657011"/>
              <a:ext cx="39184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协同部门</a:t>
              </a:r>
            </a:p>
          </p:txBody>
        </p:sp>
        <p:grpSp>
          <p:nvGrpSpPr>
            <p:cNvPr id="176" name="Group 176"/>
            <p:cNvGrpSpPr/>
            <p:nvPr/>
          </p:nvGrpSpPr>
          <p:grpSpPr>
            <a:xfrm>
              <a:off x="8855869" y="4892724"/>
              <a:ext cx="100012" cy="100757"/>
              <a:chOff x="8855869" y="4892724"/>
              <a:chExt cx="100012" cy="100757"/>
            </a:xfrm>
          </p:grpSpPr>
          <p:sp>
            <p:nvSpPr>
              <p:cNvPr id="171" name="Freeform 171"/>
              <p:cNvSpPr/>
              <p:nvPr/>
            </p:nvSpPr>
            <p:spPr>
              <a:xfrm>
                <a:off x="8889206" y="4937919"/>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721E0D"/>
                </a:solidFill>
              </a:ln>
            </p:spPr>
          </p:sp>
          <p:sp>
            <p:nvSpPr>
              <p:cNvPr id="172" name="Freeform 172"/>
              <p:cNvSpPr/>
              <p:nvPr/>
            </p:nvSpPr>
            <p:spPr>
              <a:xfrm>
                <a:off x="8889206" y="4954587"/>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721E0D"/>
                </a:solidFill>
              </a:ln>
            </p:spPr>
          </p:sp>
          <p:sp>
            <p:nvSpPr>
              <p:cNvPr id="173" name="Freeform 173"/>
              <p:cNvSpPr/>
              <p:nvPr/>
            </p:nvSpPr>
            <p:spPr>
              <a:xfrm>
                <a:off x="8855869" y="4892724"/>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721E0D"/>
                </a:solidFill>
              </a:ln>
            </p:spPr>
          </p:sp>
          <p:sp>
            <p:nvSpPr>
              <p:cNvPr id="174" name="Freeform 174"/>
              <p:cNvSpPr/>
              <p:nvPr/>
            </p:nvSpPr>
            <p:spPr>
              <a:xfrm>
                <a:off x="8855869" y="4910137"/>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721E0D"/>
                </a:solidFill>
              </a:ln>
            </p:spPr>
          </p:sp>
          <p:sp>
            <p:nvSpPr>
              <p:cNvPr id="175" name="Freeform 175"/>
              <p:cNvSpPr/>
              <p:nvPr/>
            </p:nvSpPr>
            <p:spPr>
              <a:xfrm>
                <a:off x="8855869" y="4937919"/>
                <a:ext cx="11112" cy="11112"/>
              </a:xfrm>
              <a:custGeom>
                <a:avLst/>
                <a:gdLst/>
                <a:ahLst/>
                <a:cxnLst/>
                <a:rect l="l" t="t" r="r" b="b"/>
                <a:pathLst>
                  <a:path w="11112" h="11112">
                    <a:moveTo>
                      <a:pt x="0" y="0"/>
                    </a:moveTo>
                    <a:cubicBezTo>
                      <a:pt x="0" y="4934"/>
                      <a:pt x="4289" y="8057"/>
                      <a:pt x="11112" y="11112"/>
                    </a:cubicBezTo>
                  </a:path>
                </a:pathLst>
              </a:custGeom>
              <a:noFill/>
              <a:ln w="11112">
                <a:solidFill>
                  <a:srgbClr val="721E0D"/>
                </a:solidFill>
              </a:ln>
            </p:spPr>
          </p:sp>
        </p:grpSp>
        <p:sp>
          <p:nvSpPr>
            <p:cNvPr id="177" name="TextBox 177"/>
            <p:cNvSpPr txBox="1"/>
            <p:nvPr/>
          </p:nvSpPr>
          <p:spPr>
            <a:xfrm>
              <a:off x="9005888" y="4904661"/>
              <a:ext cx="391846"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存量挖潜</a:t>
              </a:r>
            </a:p>
          </p:txBody>
        </p:sp>
        <p:sp>
          <p:nvSpPr>
            <p:cNvPr id="178" name="TextBox 178"/>
            <p:cNvSpPr txBox="1"/>
            <p:nvPr/>
          </p:nvSpPr>
          <p:spPr>
            <a:xfrm>
              <a:off x="9719437" y="4904661"/>
              <a:ext cx="48742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运营管理部</a:t>
              </a:r>
            </a:p>
          </p:txBody>
        </p:sp>
        <p:sp>
          <p:nvSpPr>
            <p:cNvPr id="179" name="TextBox 179"/>
            <p:cNvSpPr txBox="1"/>
            <p:nvPr/>
          </p:nvSpPr>
          <p:spPr>
            <a:xfrm>
              <a:off x="10624807" y="4904661"/>
              <a:ext cx="200685"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张伟</a:t>
              </a:r>
            </a:p>
          </p:txBody>
        </p:sp>
        <p:sp>
          <p:nvSpPr>
            <p:cNvPr id="180" name="TextBox 180"/>
            <p:cNvSpPr txBox="1"/>
            <p:nvPr/>
          </p:nvSpPr>
          <p:spPr>
            <a:xfrm>
              <a:off x="11071657" y="4904661"/>
              <a:ext cx="67858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财务部、产品部</a:t>
              </a:r>
            </a:p>
          </p:txBody>
        </p:sp>
        <p:sp>
          <p:nvSpPr>
            <p:cNvPr id="181" name="Line 181"/>
            <p:cNvSpPr/>
            <p:nvPr/>
          </p:nvSpPr>
          <p:spPr>
            <a:xfrm>
              <a:off x="8801100" y="5086350"/>
              <a:ext cx="3162300" cy="9525"/>
            </a:xfrm>
            <a:custGeom>
              <a:avLst/>
              <a:gdLst/>
              <a:ahLst/>
              <a:cxnLst/>
              <a:rect l="l" t="t" r="r" b="b"/>
              <a:pathLst>
                <a:path w="3162300" h="9525">
                  <a:moveTo>
                    <a:pt x="0" y="0"/>
                  </a:moveTo>
                  <a:lnTo>
                    <a:pt x="3162300" y="0"/>
                  </a:lnTo>
                </a:path>
              </a:pathLst>
            </a:custGeom>
            <a:noFill/>
            <a:ln w="9525">
              <a:solidFill>
                <a:srgbClr val="E6EAF2"/>
              </a:solidFill>
            </a:ln>
          </p:spPr>
        </p:sp>
        <p:grpSp>
          <p:nvGrpSpPr>
            <p:cNvPr id="186" name="Group 186"/>
            <p:cNvGrpSpPr/>
            <p:nvPr/>
          </p:nvGrpSpPr>
          <p:grpSpPr>
            <a:xfrm>
              <a:off x="8855869" y="5179219"/>
              <a:ext cx="100012" cy="100012"/>
              <a:chOff x="8855869" y="5179219"/>
              <a:chExt cx="100012" cy="100012"/>
            </a:xfrm>
          </p:grpSpPr>
          <p:sp>
            <p:nvSpPr>
              <p:cNvPr id="182" name="Freeform 182"/>
              <p:cNvSpPr/>
              <p:nvPr/>
            </p:nvSpPr>
            <p:spPr>
              <a:xfrm>
                <a:off x="8866981" y="517921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721E0D"/>
                </a:solidFill>
              </a:ln>
            </p:spPr>
          </p:sp>
          <p:sp>
            <p:nvSpPr>
              <p:cNvPr id="183" name="Freeform 183"/>
              <p:cNvSpPr/>
              <p:nvPr/>
            </p:nvSpPr>
            <p:spPr>
              <a:xfrm>
                <a:off x="8855869" y="524589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721E0D"/>
                </a:solidFill>
              </a:ln>
            </p:spPr>
          </p:sp>
          <p:sp>
            <p:nvSpPr>
              <p:cNvPr id="184" name="Freeform 184"/>
              <p:cNvSpPr/>
              <p:nvPr/>
            </p:nvSpPr>
            <p:spPr>
              <a:xfrm>
                <a:off x="8928100" y="517994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721E0D"/>
                </a:solidFill>
              </a:ln>
            </p:spPr>
          </p:sp>
          <p:sp>
            <p:nvSpPr>
              <p:cNvPr id="185" name="Freeform 185"/>
              <p:cNvSpPr/>
              <p:nvPr/>
            </p:nvSpPr>
            <p:spPr>
              <a:xfrm>
                <a:off x="8939212" y="524672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721E0D"/>
                </a:solidFill>
              </a:ln>
            </p:spPr>
          </p:sp>
        </p:grpSp>
        <p:sp>
          <p:nvSpPr>
            <p:cNvPr id="187" name="TextBox 187"/>
            <p:cNvSpPr txBox="1"/>
            <p:nvPr/>
          </p:nvSpPr>
          <p:spPr>
            <a:xfrm>
              <a:off x="9005888" y="5190411"/>
              <a:ext cx="391846"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新客攻坚</a:t>
              </a:r>
            </a:p>
          </p:txBody>
        </p:sp>
        <p:sp>
          <p:nvSpPr>
            <p:cNvPr id="188" name="TextBox 188"/>
            <p:cNvSpPr txBox="1"/>
            <p:nvPr/>
          </p:nvSpPr>
          <p:spPr>
            <a:xfrm>
              <a:off x="9719437" y="5190411"/>
              <a:ext cx="48742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市场营销部</a:t>
              </a:r>
            </a:p>
          </p:txBody>
        </p:sp>
        <p:sp>
          <p:nvSpPr>
            <p:cNvPr id="189" name="TextBox 189"/>
            <p:cNvSpPr txBox="1"/>
            <p:nvPr/>
          </p:nvSpPr>
          <p:spPr>
            <a:xfrm>
              <a:off x="10624807" y="5190411"/>
              <a:ext cx="200685"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李娜</a:t>
              </a:r>
            </a:p>
          </p:txBody>
        </p:sp>
        <p:sp>
          <p:nvSpPr>
            <p:cNvPr id="190" name="TextBox 190"/>
            <p:cNvSpPr txBox="1"/>
            <p:nvPr/>
          </p:nvSpPr>
          <p:spPr>
            <a:xfrm>
              <a:off x="11023867" y="5190411"/>
              <a:ext cx="774167"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渠道中心、产品部</a:t>
              </a:r>
            </a:p>
          </p:txBody>
        </p:sp>
        <p:sp>
          <p:nvSpPr>
            <p:cNvPr id="191" name="Line 191"/>
            <p:cNvSpPr/>
            <p:nvPr/>
          </p:nvSpPr>
          <p:spPr>
            <a:xfrm>
              <a:off x="8801100" y="5372100"/>
              <a:ext cx="3162300" cy="9525"/>
            </a:xfrm>
            <a:custGeom>
              <a:avLst/>
              <a:gdLst/>
              <a:ahLst/>
              <a:cxnLst/>
              <a:rect l="l" t="t" r="r" b="b"/>
              <a:pathLst>
                <a:path w="3162300" h="9525">
                  <a:moveTo>
                    <a:pt x="0" y="0"/>
                  </a:moveTo>
                  <a:lnTo>
                    <a:pt x="3162300" y="0"/>
                  </a:lnTo>
                </a:path>
              </a:pathLst>
            </a:custGeom>
            <a:noFill/>
            <a:ln w="9525">
              <a:solidFill>
                <a:srgbClr val="E6EAF2"/>
              </a:solidFill>
            </a:ln>
          </p:spPr>
        </p:sp>
        <p:grpSp>
          <p:nvGrpSpPr>
            <p:cNvPr id="195" name="Group 195"/>
            <p:cNvGrpSpPr/>
            <p:nvPr/>
          </p:nvGrpSpPr>
          <p:grpSpPr>
            <a:xfrm>
              <a:off x="8855869" y="5464969"/>
              <a:ext cx="100012" cy="100012"/>
              <a:chOff x="8855869" y="5464969"/>
              <a:chExt cx="100012" cy="100012"/>
            </a:xfrm>
          </p:grpSpPr>
          <p:sp>
            <p:nvSpPr>
              <p:cNvPr id="192" name="Freeform 192"/>
              <p:cNvSpPr/>
              <p:nvPr/>
            </p:nvSpPr>
            <p:spPr>
              <a:xfrm>
                <a:off x="8900319" y="55094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721E0D"/>
                </a:solidFill>
              </a:ln>
            </p:spPr>
          </p:sp>
          <p:sp>
            <p:nvSpPr>
              <p:cNvPr id="193" name="Freeform 193"/>
              <p:cNvSpPr/>
              <p:nvPr/>
            </p:nvSpPr>
            <p:spPr>
              <a:xfrm>
                <a:off x="8878094" y="548719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721E0D"/>
                </a:solidFill>
              </a:ln>
            </p:spPr>
          </p:sp>
          <p:sp>
            <p:nvSpPr>
              <p:cNvPr id="194" name="Freeform 194"/>
              <p:cNvSpPr/>
              <p:nvPr/>
            </p:nvSpPr>
            <p:spPr>
              <a:xfrm>
                <a:off x="8855869" y="54649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721E0D"/>
                </a:solidFill>
              </a:ln>
            </p:spPr>
          </p:sp>
        </p:grpSp>
        <p:sp>
          <p:nvSpPr>
            <p:cNvPr id="196" name="TextBox 196"/>
            <p:cNvSpPr txBox="1"/>
            <p:nvPr/>
          </p:nvSpPr>
          <p:spPr>
            <a:xfrm>
              <a:off x="9005888" y="5476161"/>
              <a:ext cx="391846"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重点战役</a:t>
              </a:r>
            </a:p>
          </p:txBody>
        </p:sp>
        <p:sp>
          <p:nvSpPr>
            <p:cNvPr id="197" name="TextBox 197"/>
            <p:cNvSpPr txBox="1"/>
            <p:nvPr/>
          </p:nvSpPr>
          <p:spPr>
            <a:xfrm>
              <a:off x="9719437" y="5476161"/>
              <a:ext cx="487426"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战略项目部</a:t>
              </a:r>
            </a:p>
          </p:txBody>
        </p:sp>
        <p:sp>
          <p:nvSpPr>
            <p:cNvPr id="198" name="TextBox 198"/>
            <p:cNvSpPr txBox="1"/>
            <p:nvPr/>
          </p:nvSpPr>
          <p:spPr>
            <a:xfrm>
              <a:off x="10624807" y="5476161"/>
              <a:ext cx="200685"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王强</a:t>
              </a:r>
            </a:p>
          </p:txBody>
        </p:sp>
        <p:sp>
          <p:nvSpPr>
            <p:cNvPr id="199" name="TextBox 199"/>
            <p:cNvSpPr txBox="1"/>
            <p:nvPr/>
          </p:nvSpPr>
          <p:spPr>
            <a:xfrm>
              <a:off x="11023867" y="5476161"/>
              <a:ext cx="774167"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销售中心、运营部</a:t>
              </a:r>
            </a:p>
          </p:txBody>
        </p:sp>
        <p:sp>
          <p:nvSpPr>
            <p:cNvPr id="200" name="Line 200"/>
            <p:cNvSpPr/>
            <p:nvPr/>
          </p:nvSpPr>
          <p:spPr>
            <a:xfrm>
              <a:off x="8801100" y="5657850"/>
              <a:ext cx="3162300" cy="9525"/>
            </a:xfrm>
            <a:custGeom>
              <a:avLst/>
              <a:gdLst/>
              <a:ahLst/>
              <a:cxnLst/>
              <a:rect l="l" t="t" r="r" b="b"/>
              <a:pathLst>
                <a:path w="3162300" h="9525">
                  <a:moveTo>
                    <a:pt x="0" y="0"/>
                  </a:moveTo>
                  <a:lnTo>
                    <a:pt x="3162300" y="0"/>
                  </a:lnTo>
                </a:path>
              </a:pathLst>
            </a:custGeom>
            <a:noFill/>
            <a:ln w="9525">
              <a:solidFill>
                <a:srgbClr val="E6EAF2"/>
              </a:solidFill>
            </a:ln>
          </p:spPr>
        </p:sp>
      </p:grpSp>
      <p:grpSp>
        <p:nvGrpSpPr>
          <p:cNvPr id="209" name="conclusion-banner"/>
          <p:cNvGrpSpPr/>
          <p:nvPr/>
        </p:nvGrpSpPr>
        <p:grpSpPr>
          <a:xfrm>
            <a:off x="228600" y="5791200"/>
            <a:ext cx="11734800" cy="514350"/>
            <a:chOff x="228600" y="5791200"/>
            <a:chExt cx="11734800" cy="514350"/>
          </a:xfrm>
        </p:grpSpPr>
        <p:sp>
          <p:nvSpPr>
            <p:cNvPr id="202" name="Rectangle 202"/>
            <p:cNvSpPr/>
            <p:nvPr/>
          </p:nvSpPr>
          <p:spPr>
            <a:xfrm>
              <a:off x="228600" y="5791200"/>
              <a:ext cx="11734800" cy="514350"/>
            </a:xfrm>
            <a:prstGeom prst="roundRect">
              <a:avLst>
                <a:gd name="adj" fmla="val 18519"/>
              </a:avLst>
            </a:prstGeom>
            <a:solidFill>
              <a:srgbClr val="C03616"/>
            </a:solidFill>
            <a:ln>
              <a:noFill/>
            </a:ln>
          </p:spPr>
        </p:sp>
        <p:sp>
          <p:nvSpPr>
            <p:cNvPr id="203" name="Ellipse 203"/>
            <p:cNvSpPr/>
            <p:nvPr/>
          </p:nvSpPr>
          <p:spPr>
            <a:xfrm>
              <a:off x="3733800" y="5876925"/>
              <a:ext cx="342900" cy="342900"/>
            </a:xfrm>
            <a:prstGeom prst="ellipse">
              <a:avLst/>
            </a:prstGeom>
            <a:solidFill>
              <a:srgbClr val="FFFFFF"/>
            </a:solidFill>
            <a:ln>
              <a:noFill/>
            </a:ln>
          </p:spPr>
        </p:sp>
        <p:grpSp>
          <p:nvGrpSpPr>
            <p:cNvPr id="207" name="Group 207"/>
            <p:cNvGrpSpPr/>
            <p:nvPr/>
          </p:nvGrpSpPr>
          <p:grpSpPr>
            <a:xfrm>
              <a:off x="3819525" y="5962650"/>
              <a:ext cx="171450" cy="171450"/>
              <a:chOff x="3819525" y="5962650"/>
              <a:chExt cx="171450" cy="171450"/>
            </a:xfrm>
          </p:grpSpPr>
          <p:sp>
            <p:nvSpPr>
              <p:cNvPr id="204" name="Freeform 204"/>
              <p:cNvSpPr/>
              <p:nvPr/>
            </p:nvSpPr>
            <p:spPr>
              <a:xfrm>
                <a:off x="3895725" y="603885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C03616"/>
                </a:solidFill>
              </a:ln>
            </p:spPr>
          </p:sp>
          <p:sp>
            <p:nvSpPr>
              <p:cNvPr id="205" name="Freeform 205"/>
              <p:cNvSpPr/>
              <p:nvPr/>
            </p:nvSpPr>
            <p:spPr>
              <a:xfrm>
                <a:off x="3857625" y="600075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C03616"/>
                </a:solidFill>
              </a:ln>
            </p:spPr>
          </p:sp>
          <p:sp>
            <p:nvSpPr>
              <p:cNvPr id="206" name="Freeform 206"/>
              <p:cNvSpPr/>
              <p:nvPr/>
            </p:nvSpPr>
            <p:spPr>
              <a:xfrm>
                <a:off x="3819525" y="59626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616"/>
                </a:solidFill>
              </a:ln>
            </p:spPr>
          </p:sp>
        </p:grpSp>
        <p:sp>
          <p:nvSpPr>
            <p:cNvPr id="208" name="TextBox 208"/>
            <p:cNvSpPr txBox="1"/>
            <p:nvPr/>
          </p:nvSpPr>
          <p:spPr>
            <a:xfrm>
              <a:off x="4183380" y="5962650"/>
              <a:ext cx="385191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mn-lt"/>
                  <a:ea typeface="+mn-ea"/>
                  <a:cs typeface="+mn-cs"/>
                </a:rPr>
                <a:t>结论：路径潜力足够，但必须按里程碑推进</a:t>
              </a:r>
            </a:p>
          </p:txBody>
        </p:sp>
      </p:gr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16668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11</a:t>
              </a:r>
            </a:p>
          </p:txBody>
        </p:sp>
        <p:sp>
          <p:nvSpPr>
            <p:cNvPr id="4" name="TextBox 4"/>
            <p:cNvSpPr txBox="1"/>
            <p:nvPr/>
          </p:nvSpPr>
          <p:spPr>
            <a:xfrm>
              <a:off x="904494" y="180023"/>
              <a:ext cx="5957766"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资源申请不是‘要东西’，而是</a:t>
              </a:r>
              <a:r>
                <a:rPr lang="zh-CN" sz="1950" b="1" dirty="0">
                  <a:solidFill>
                    <a:srgbClr val="B8351A"/>
                  </a:solidFill>
                  <a:latin typeface="+mn-lt"/>
                  <a:ea typeface="+mn-ea"/>
                  <a:cs typeface="+mn-cs"/>
                </a:rPr>
                <a:t>提交投资方案</a:t>
              </a:r>
              <a:r>
                <a:rPr lang="zh-CN" sz="1950" b="1" dirty="0">
                  <a:solidFill>
                    <a:srgbClr val="461910"/>
                  </a:solidFill>
                  <a:latin typeface="+mn-lt"/>
                  <a:ea typeface="+mn-ea"/>
                  <a:cs typeface="+mn-cs"/>
                </a:rPr>
                <a:t xml:space="preserve">      </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22" name="step-titles"/>
          <p:cNvGrpSpPr/>
          <p:nvPr/>
        </p:nvGrpSpPr>
        <p:grpSpPr>
          <a:xfrm>
            <a:off x="228600" y="723900"/>
            <a:ext cx="8508060" cy="327851"/>
            <a:chOff x="228600" y="723900"/>
            <a:chExt cx="8508060" cy="327851"/>
          </a:xfrm>
        </p:grpSpPr>
        <p:sp>
          <p:nvSpPr>
            <p:cNvPr id="7" name="Rectangle 7"/>
            <p:cNvSpPr/>
            <p:nvPr/>
          </p:nvSpPr>
          <p:spPr>
            <a:xfrm>
              <a:off x="228600" y="723900"/>
              <a:ext cx="285750" cy="285750"/>
            </a:xfrm>
            <a:prstGeom prst="roundRect">
              <a:avLst>
                <a:gd name="adj" fmla="val 16667"/>
              </a:avLst>
            </a:prstGeom>
            <a:solidFill>
              <a:srgbClr val="721E0D"/>
            </a:solidFill>
            <a:ln>
              <a:noFill/>
            </a:ln>
          </p:spPr>
        </p:sp>
        <p:sp>
          <p:nvSpPr>
            <p:cNvPr id="8" name="TextBox 8"/>
            <p:cNvSpPr txBox="1"/>
            <p:nvPr/>
          </p:nvSpPr>
          <p:spPr>
            <a:xfrm>
              <a:off x="312140" y="787718"/>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1</a:t>
              </a:r>
            </a:p>
          </p:txBody>
        </p:sp>
        <p:sp>
          <p:nvSpPr>
            <p:cNvPr id="9" name="TextBox 9"/>
            <p:cNvSpPr txBox="1"/>
            <p:nvPr/>
          </p:nvSpPr>
          <p:spPr>
            <a:xfrm>
              <a:off x="603885" y="812006"/>
              <a:ext cx="916076"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申请什么资源</a:t>
              </a:r>
            </a:p>
          </p:txBody>
        </p:sp>
        <p:sp>
          <p:nvSpPr>
            <p:cNvPr id="10" name="TextBox 10"/>
            <p:cNvSpPr txBox="1"/>
            <p:nvPr/>
          </p:nvSpPr>
          <p:spPr>
            <a:xfrm>
              <a:off x="2379065" y="787718"/>
              <a:ext cx="118669" cy="264033"/>
            </a:xfrm>
            <a:prstGeom prst="rect">
              <a:avLst/>
            </a:prstGeom>
            <a:noFill/>
            <a:ln>
              <a:noFill/>
            </a:ln>
          </p:spPr>
          <p:txBody>
            <a:bodyPr wrap="none" lIns="0" tIns="0" rIns="0" bIns="0" anchor="t" anchorCtr="0">
              <a:spAutoFit/>
            </a:bodyPr>
            <a:lstStyle/>
            <a:p>
              <a:pPr algn="ctr"/>
              <a:r>
                <a:rPr lang="zh-CN" sz="1350" b="1" dirty="0">
                  <a:solidFill>
                    <a:srgbClr val="B8351A"/>
                  </a:solidFill>
                  <a:latin typeface="+mn-lt"/>
                  <a:ea typeface="+mn-ea"/>
                  <a:cs typeface="+mn-cs"/>
                </a:rPr>
                <a:t>→</a:t>
              </a:r>
            </a:p>
          </p:txBody>
        </p:sp>
        <p:sp>
          <p:nvSpPr>
            <p:cNvPr id="11" name="Rectangle 11"/>
            <p:cNvSpPr/>
            <p:nvPr/>
          </p:nvSpPr>
          <p:spPr>
            <a:xfrm>
              <a:off x="2533650" y="723900"/>
              <a:ext cx="285750" cy="285750"/>
            </a:xfrm>
            <a:prstGeom prst="roundRect">
              <a:avLst>
                <a:gd name="adj" fmla="val 16667"/>
              </a:avLst>
            </a:prstGeom>
            <a:solidFill>
              <a:srgbClr val="721E0D"/>
            </a:solidFill>
            <a:ln>
              <a:noFill/>
            </a:ln>
          </p:spPr>
        </p:sp>
        <p:sp>
          <p:nvSpPr>
            <p:cNvPr id="12" name="TextBox 12"/>
            <p:cNvSpPr txBox="1"/>
            <p:nvPr/>
          </p:nvSpPr>
          <p:spPr>
            <a:xfrm>
              <a:off x="2617190" y="787718"/>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2</a:t>
              </a:r>
            </a:p>
          </p:txBody>
        </p:sp>
        <p:sp>
          <p:nvSpPr>
            <p:cNvPr id="13" name="TextBox 13"/>
            <p:cNvSpPr txBox="1"/>
            <p:nvPr/>
          </p:nvSpPr>
          <p:spPr>
            <a:xfrm>
              <a:off x="2908935" y="812006"/>
              <a:ext cx="916076"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用资源做什么</a:t>
              </a:r>
            </a:p>
          </p:txBody>
        </p:sp>
        <p:sp>
          <p:nvSpPr>
            <p:cNvPr id="14" name="TextBox 14"/>
            <p:cNvSpPr txBox="1"/>
            <p:nvPr/>
          </p:nvSpPr>
          <p:spPr>
            <a:xfrm>
              <a:off x="4684115" y="787718"/>
              <a:ext cx="118669" cy="264033"/>
            </a:xfrm>
            <a:prstGeom prst="rect">
              <a:avLst/>
            </a:prstGeom>
            <a:noFill/>
            <a:ln>
              <a:noFill/>
            </a:ln>
          </p:spPr>
          <p:txBody>
            <a:bodyPr wrap="none" lIns="0" tIns="0" rIns="0" bIns="0" anchor="t" anchorCtr="0">
              <a:spAutoFit/>
            </a:bodyPr>
            <a:lstStyle/>
            <a:p>
              <a:pPr algn="ctr"/>
              <a:r>
                <a:rPr lang="zh-CN" sz="1350" b="1" dirty="0">
                  <a:solidFill>
                    <a:srgbClr val="B8351A"/>
                  </a:solidFill>
                  <a:latin typeface="+mn-lt"/>
                  <a:ea typeface="+mn-ea"/>
                  <a:cs typeface="+mn-cs"/>
                </a:rPr>
                <a:t>→</a:t>
              </a:r>
            </a:p>
          </p:txBody>
        </p:sp>
        <p:sp>
          <p:nvSpPr>
            <p:cNvPr id="15" name="Rectangle 15"/>
            <p:cNvSpPr/>
            <p:nvPr/>
          </p:nvSpPr>
          <p:spPr>
            <a:xfrm>
              <a:off x="4838700" y="723900"/>
              <a:ext cx="285750" cy="285750"/>
            </a:xfrm>
            <a:prstGeom prst="roundRect">
              <a:avLst>
                <a:gd name="adj" fmla="val 16667"/>
              </a:avLst>
            </a:prstGeom>
            <a:solidFill>
              <a:srgbClr val="721E0D"/>
            </a:solidFill>
            <a:ln>
              <a:noFill/>
            </a:ln>
          </p:spPr>
        </p:sp>
        <p:sp>
          <p:nvSpPr>
            <p:cNvPr id="16" name="TextBox 16"/>
            <p:cNvSpPr txBox="1"/>
            <p:nvPr/>
          </p:nvSpPr>
          <p:spPr>
            <a:xfrm>
              <a:off x="4922240" y="787718"/>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3</a:t>
              </a:r>
            </a:p>
          </p:txBody>
        </p:sp>
        <p:sp>
          <p:nvSpPr>
            <p:cNvPr id="17" name="TextBox 17"/>
            <p:cNvSpPr txBox="1"/>
            <p:nvPr/>
          </p:nvSpPr>
          <p:spPr>
            <a:xfrm>
              <a:off x="5213985" y="812006"/>
              <a:ext cx="916076"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带来什么回报</a:t>
              </a:r>
            </a:p>
          </p:txBody>
        </p:sp>
        <p:sp>
          <p:nvSpPr>
            <p:cNvPr id="18" name="TextBox 18"/>
            <p:cNvSpPr txBox="1"/>
            <p:nvPr/>
          </p:nvSpPr>
          <p:spPr>
            <a:xfrm>
              <a:off x="6989165" y="787718"/>
              <a:ext cx="118669" cy="264033"/>
            </a:xfrm>
            <a:prstGeom prst="rect">
              <a:avLst/>
            </a:prstGeom>
            <a:noFill/>
            <a:ln>
              <a:noFill/>
            </a:ln>
          </p:spPr>
          <p:txBody>
            <a:bodyPr wrap="none" lIns="0" tIns="0" rIns="0" bIns="0" anchor="t" anchorCtr="0">
              <a:spAutoFit/>
            </a:bodyPr>
            <a:lstStyle/>
            <a:p>
              <a:pPr algn="ctr"/>
              <a:r>
                <a:rPr lang="zh-CN" sz="1350" b="1" dirty="0">
                  <a:solidFill>
                    <a:srgbClr val="B8351A"/>
                  </a:solidFill>
                  <a:latin typeface="+mn-lt"/>
                  <a:ea typeface="+mn-ea"/>
                  <a:cs typeface="+mn-cs"/>
                </a:rPr>
                <a:t>→</a:t>
              </a:r>
            </a:p>
          </p:txBody>
        </p:sp>
        <p:sp>
          <p:nvSpPr>
            <p:cNvPr id="19" name="Rectangle 19"/>
            <p:cNvSpPr/>
            <p:nvPr/>
          </p:nvSpPr>
          <p:spPr>
            <a:xfrm>
              <a:off x="7143750" y="723900"/>
              <a:ext cx="285750" cy="285750"/>
            </a:xfrm>
            <a:prstGeom prst="roundRect">
              <a:avLst>
                <a:gd name="adj" fmla="val 16667"/>
              </a:avLst>
            </a:prstGeom>
            <a:solidFill>
              <a:srgbClr val="721E0D"/>
            </a:solidFill>
            <a:ln>
              <a:noFill/>
            </a:ln>
          </p:spPr>
        </p:sp>
        <p:sp>
          <p:nvSpPr>
            <p:cNvPr id="20" name="TextBox 20"/>
            <p:cNvSpPr txBox="1"/>
            <p:nvPr/>
          </p:nvSpPr>
          <p:spPr>
            <a:xfrm>
              <a:off x="7227290" y="787718"/>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4</a:t>
              </a:r>
            </a:p>
          </p:txBody>
        </p:sp>
        <p:sp>
          <p:nvSpPr>
            <p:cNvPr id="21" name="TextBox 21"/>
            <p:cNvSpPr txBox="1"/>
            <p:nvPr/>
          </p:nvSpPr>
          <p:spPr>
            <a:xfrm>
              <a:off x="7519035" y="812006"/>
              <a:ext cx="1217625"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资源不到位会怎样</a:t>
              </a:r>
            </a:p>
          </p:txBody>
        </p:sp>
      </p:grpSp>
      <p:grpSp>
        <p:nvGrpSpPr>
          <p:cNvPr id="62" name="step-card-1"/>
          <p:cNvGrpSpPr/>
          <p:nvPr/>
        </p:nvGrpSpPr>
        <p:grpSpPr>
          <a:xfrm>
            <a:off x="228600" y="1123950"/>
            <a:ext cx="2114550" cy="4457700"/>
            <a:chOff x="228600" y="1123950"/>
            <a:chExt cx="2114550" cy="4457700"/>
          </a:xfrm>
        </p:grpSpPr>
        <p:sp>
          <p:nvSpPr>
            <p:cNvPr id="23" name="Rectangle 23"/>
            <p:cNvSpPr/>
            <p:nvPr/>
          </p:nvSpPr>
          <p:spPr>
            <a:xfrm>
              <a:off x="228600" y="1123950"/>
              <a:ext cx="2114550" cy="4457700"/>
            </a:xfrm>
            <a:prstGeom prst="roundRect">
              <a:avLst>
                <a:gd name="adj" fmla="val 4505"/>
              </a:avLst>
            </a:prstGeom>
            <a:solidFill>
              <a:srgbClr val="FFFFFF"/>
            </a:solidFill>
            <a:ln w="14288">
              <a:solidFill>
                <a:srgbClr val="C9D6EE"/>
              </a:solidFill>
            </a:ln>
          </p:spPr>
        </p:sp>
        <p:grpSp>
          <p:nvGrpSpPr>
            <p:cNvPr id="28" name="Group 28"/>
            <p:cNvGrpSpPr/>
            <p:nvPr/>
          </p:nvGrpSpPr>
          <p:grpSpPr>
            <a:xfrm>
              <a:off x="459581" y="1450181"/>
              <a:ext cx="300038" cy="300038"/>
              <a:chOff x="459581" y="1450181"/>
              <a:chExt cx="300038" cy="300038"/>
            </a:xfrm>
          </p:grpSpPr>
          <p:sp>
            <p:nvSpPr>
              <p:cNvPr id="24" name="Freeform 24"/>
              <p:cNvSpPr/>
              <p:nvPr/>
            </p:nvSpPr>
            <p:spPr>
              <a:xfrm>
                <a:off x="492919" y="1450181"/>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33338">
                <a:solidFill>
                  <a:srgbClr val="721E0D"/>
                </a:solidFill>
              </a:ln>
            </p:spPr>
          </p:sp>
          <p:sp>
            <p:nvSpPr>
              <p:cNvPr id="25" name="Freeform 25"/>
              <p:cNvSpPr/>
              <p:nvPr/>
            </p:nvSpPr>
            <p:spPr>
              <a:xfrm>
                <a:off x="459581" y="1650206"/>
                <a:ext cx="200025" cy="100012"/>
              </a:xfrm>
              <a:custGeom>
                <a:avLst/>
                <a:gdLst/>
                <a:ahLst/>
                <a:cxnLst/>
                <a:rect l="l" t="t" r="r" b="b"/>
                <a:pathLst>
                  <a:path w="200025" h="100012">
                    <a:moveTo>
                      <a:pt x="0" y="100012"/>
                    </a:moveTo>
                    <a:lnTo>
                      <a:pt x="0" y="66675"/>
                    </a:lnTo>
                    <a:cubicBezTo>
                      <a:pt x="0" y="29851"/>
                      <a:pt x="29851" y="0"/>
                      <a:pt x="66675" y="0"/>
                    </a:cubicBezTo>
                    <a:lnTo>
                      <a:pt x="133350" y="0"/>
                    </a:lnTo>
                    <a:cubicBezTo>
                      <a:pt x="170174" y="0"/>
                      <a:pt x="200025" y="29851"/>
                      <a:pt x="200025" y="66675"/>
                    </a:cubicBezTo>
                    <a:lnTo>
                      <a:pt x="200025" y="100012"/>
                    </a:lnTo>
                  </a:path>
                </a:pathLst>
              </a:custGeom>
              <a:noFill/>
              <a:ln w="33338">
                <a:solidFill>
                  <a:srgbClr val="721E0D"/>
                </a:solidFill>
              </a:ln>
            </p:spPr>
          </p:sp>
          <p:sp>
            <p:nvSpPr>
              <p:cNvPr id="26" name="Freeform 26"/>
              <p:cNvSpPr/>
              <p:nvPr/>
            </p:nvSpPr>
            <p:spPr>
              <a:xfrm>
                <a:off x="676275" y="1452348"/>
                <a:ext cx="50137" cy="129183"/>
              </a:xfrm>
              <a:custGeom>
                <a:avLst/>
                <a:gdLst/>
                <a:ahLst/>
                <a:cxnLst/>
                <a:rect l="l" t="t" r="r" b="b"/>
                <a:pathLst>
                  <a:path w="50137" h="129183">
                    <a:moveTo>
                      <a:pt x="0" y="0"/>
                    </a:moveTo>
                    <a:cubicBezTo>
                      <a:pt x="29502" y="7554"/>
                      <a:pt x="50137" y="34137"/>
                      <a:pt x="50137" y="64591"/>
                    </a:cubicBezTo>
                    <a:cubicBezTo>
                      <a:pt x="50137" y="95045"/>
                      <a:pt x="29502" y="121629"/>
                      <a:pt x="0" y="129183"/>
                    </a:cubicBezTo>
                  </a:path>
                </a:pathLst>
              </a:custGeom>
              <a:noFill/>
              <a:ln w="33338">
                <a:solidFill>
                  <a:srgbClr val="721E0D"/>
                </a:solidFill>
              </a:ln>
            </p:spPr>
          </p:sp>
          <p:sp>
            <p:nvSpPr>
              <p:cNvPr id="27" name="Freeform 27"/>
              <p:cNvSpPr/>
              <p:nvPr/>
            </p:nvSpPr>
            <p:spPr>
              <a:xfrm>
                <a:off x="709613" y="1652707"/>
                <a:ext cx="50006" cy="97512"/>
              </a:xfrm>
              <a:custGeom>
                <a:avLst/>
                <a:gdLst/>
                <a:ahLst/>
                <a:cxnLst/>
                <a:rect l="l" t="t" r="r" b="b"/>
                <a:pathLst>
                  <a:path w="50006" h="97512">
                    <a:moveTo>
                      <a:pt x="50006" y="97512"/>
                    </a:moveTo>
                    <a:lnTo>
                      <a:pt x="50006" y="64175"/>
                    </a:lnTo>
                    <a:cubicBezTo>
                      <a:pt x="49832" y="33914"/>
                      <a:pt x="29301" y="7565"/>
                      <a:pt x="0" y="0"/>
                    </a:cubicBezTo>
                  </a:path>
                </a:pathLst>
              </a:custGeom>
              <a:noFill/>
              <a:ln w="33338">
                <a:solidFill>
                  <a:srgbClr val="721E0D"/>
                </a:solidFill>
              </a:ln>
            </p:spPr>
          </p:sp>
        </p:grpSp>
        <p:sp>
          <p:nvSpPr>
            <p:cNvPr id="29" name="TextBox 29"/>
            <p:cNvSpPr txBox="1"/>
            <p:nvPr/>
          </p:nvSpPr>
          <p:spPr>
            <a:xfrm>
              <a:off x="494449" y="1882616"/>
              <a:ext cx="230302"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人力</a:t>
              </a:r>
            </a:p>
          </p:txBody>
        </p:sp>
        <p:grpSp>
          <p:nvGrpSpPr>
            <p:cNvPr id="35" name="Group 35"/>
            <p:cNvGrpSpPr/>
            <p:nvPr/>
          </p:nvGrpSpPr>
          <p:grpSpPr>
            <a:xfrm>
              <a:off x="1135856" y="1447948"/>
              <a:ext cx="300038" cy="302271"/>
              <a:chOff x="1135856" y="1447948"/>
              <a:chExt cx="300038" cy="302271"/>
            </a:xfrm>
          </p:grpSpPr>
          <p:sp>
            <p:nvSpPr>
              <p:cNvPr id="30" name="Freeform 30"/>
              <p:cNvSpPr/>
              <p:nvPr/>
            </p:nvSpPr>
            <p:spPr>
              <a:xfrm>
                <a:off x="1235869" y="1583531"/>
                <a:ext cx="200025" cy="100012"/>
              </a:xfrm>
              <a:custGeom>
                <a:avLst/>
                <a:gdLst/>
                <a:ahLst/>
                <a:cxnLst/>
                <a:rect l="l" t="t" r="r" b="b"/>
                <a:pathLst>
                  <a:path w="200025" h="100012">
                    <a:moveTo>
                      <a:pt x="0" y="50006"/>
                    </a:moveTo>
                    <a:cubicBezTo>
                      <a:pt x="0" y="77626"/>
                      <a:pt x="44772" y="100012"/>
                      <a:pt x="100012" y="100012"/>
                    </a:cubicBezTo>
                    <a:cubicBezTo>
                      <a:pt x="155253" y="100012"/>
                      <a:pt x="200025" y="77626"/>
                      <a:pt x="200025" y="50006"/>
                    </a:cubicBezTo>
                    <a:cubicBezTo>
                      <a:pt x="200025" y="22386"/>
                      <a:pt x="155253" y="0"/>
                      <a:pt x="100012" y="0"/>
                    </a:cubicBezTo>
                    <a:cubicBezTo>
                      <a:pt x="44772" y="0"/>
                      <a:pt x="0" y="22386"/>
                      <a:pt x="0" y="50006"/>
                    </a:cubicBezTo>
                  </a:path>
                </a:pathLst>
              </a:custGeom>
              <a:noFill/>
              <a:ln w="33338">
                <a:solidFill>
                  <a:srgbClr val="721E0D"/>
                </a:solidFill>
              </a:ln>
            </p:spPr>
          </p:sp>
          <p:sp>
            <p:nvSpPr>
              <p:cNvPr id="31" name="Freeform 31"/>
              <p:cNvSpPr/>
              <p:nvPr/>
            </p:nvSpPr>
            <p:spPr>
              <a:xfrm>
                <a:off x="1235869" y="1633538"/>
                <a:ext cx="200025" cy="116681"/>
              </a:xfrm>
              <a:custGeom>
                <a:avLst/>
                <a:gdLst/>
                <a:ahLst/>
                <a:cxnLst/>
                <a:rect l="l" t="t" r="r" b="b"/>
                <a:pathLst>
                  <a:path w="200025" h="116681">
                    <a:moveTo>
                      <a:pt x="0" y="0"/>
                    </a:moveTo>
                    <a:lnTo>
                      <a:pt x="0" y="66675"/>
                    </a:lnTo>
                    <a:cubicBezTo>
                      <a:pt x="0" y="94278"/>
                      <a:pt x="44772" y="116681"/>
                      <a:pt x="100012" y="116681"/>
                    </a:cubicBezTo>
                    <a:cubicBezTo>
                      <a:pt x="155253" y="116681"/>
                      <a:pt x="200025" y="94278"/>
                      <a:pt x="200025" y="66675"/>
                    </a:cubicBezTo>
                    <a:lnTo>
                      <a:pt x="200025" y="0"/>
                    </a:lnTo>
                  </a:path>
                </a:pathLst>
              </a:custGeom>
              <a:noFill/>
              <a:ln w="33338">
                <a:solidFill>
                  <a:srgbClr val="721E0D"/>
                </a:solidFill>
              </a:ln>
            </p:spPr>
          </p:sp>
          <p:sp>
            <p:nvSpPr>
              <p:cNvPr id="32" name="Freeform 32"/>
              <p:cNvSpPr/>
              <p:nvPr/>
            </p:nvSpPr>
            <p:spPr>
              <a:xfrm>
                <a:off x="1135856" y="1447948"/>
                <a:ext cx="200025" cy="104480"/>
              </a:xfrm>
              <a:custGeom>
                <a:avLst/>
                <a:gdLst/>
                <a:ahLst/>
                <a:cxnLst/>
                <a:rect l="l" t="t" r="r" b="b"/>
                <a:pathLst>
                  <a:path w="200025" h="104480">
                    <a:moveTo>
                      <a:pt x="0" y="52240"/>
                    </a:moveTo>
                    <a:cubicBezTo>
                      <a:pt x="0" y="70109"/>
                      <a:pt x="19069" y="86611"/>
                      <a:pt x="50006" y="95545"/>
                    </a:cubicBezTo>
                    <a:cubicBezTo>
                      <a:pt x="80943" y="104480"/>
                      <a:pt x="119082" y="104480"/>
                      <a:pt x="150019" y="95545"/>
                    </a:cubicBezTo>
                    <a:cubicBezTo>
                      <a:pt x="180956" y="86611"/>
                      <a:pt x="200025" y="70109"/>
                      <a:pt x="200025" y="52240"/>
                    </a:cubicBezTo>
                    <a:cubicBezTo>
                      <a:pt x="200025" y="34371"/>
                      <a:pt x="180956" y="17869"/>
                      <a:pt x="150019" y="8934"/>
                    </a:cubicBezTo>
                    <a:cubicBezTo>
                      <a:pt x="119082" y="0"/>
                      <a:pt x="80943" y="0"/>
                      <a:pt x="50006" y="8934"/>
                    </a:cubicBezTo>
                    <a:cubicBezTo>
                      <a:pt x="19069" y="17869"/>
                      <a:pt x="0" y="34371"/>
                      <a:pt x="0" y="52240"/>
                    </a:cubicBezTo>
                  </a:path>
                </a:pathLst>
              </a:custGeom>
              <a:noFill/>
              <a:ln w="33338">
                <a:solidFill>
                  <a:srgbClr val="721E0D"/>
                </a:solidFill>
              </a:ln>
            </p:spPr>
          </p:sp>
          <p:sp>
            <p:nvSpPr>
              <p:cNvPr id="33" name="Freeform 33"/>
              <p:cNvSpPr/>
              <p:nvPr/>
            </p:nvSpPr>
            <p:spPr>
              <a:xfrm>
                <a:off x="1135856" y="1500188"/>
                <a:ext cx="33338" cy="200025"/>
              </a:xfrm>
              <a:custGeom>
                <a:avLst/>
                <a:gdLst/>
                <a:ahLst/>
                <a:cxnLst/>
                <a:rect l="l" t="t" r="r" b="b"/>
                <a:pathLst>
                  <a:path w="33338" h="200025">
                    <a:moveTo>
                      <a:pt x="0" y="0"/>
                    </a:moveTo>
                    <a:lnTo>
                      <a:pt x="0" y="166688"/>
                    </a:lnTo>
                    <a:cubicBezTo>
                      <a:pt x="0" y="181489"/>
                      <a:pt x="12868" y="190857"/>
                      <a:pt x="33338" y="200025"/>
                    </a:cubicBezTo>
                  </a:path>
                </a:pathLst>
              </a:custGeom>
              <a:noFill/>
              <a:ln w="33338">
                <a:solidFill>
                  <a:srgbClr val="721E0D"/>
                </a:solidFill>
              </a:ln>
            </p:spPr>
          </p:sp>
          <p:sp>
            <p:nvSpPr>
              <p:cNvPr id="34" name="Freeform 34"/>
              <p:cNvSpPr/>
              <p:nvPr/>
            </p:nvSpPr>
            <p:spPr>
              <a:xfrm>
                <a:off x="1135856" y="1583531"/>
                <a:ext cx="33338" cy="33338"/>
              </a:xfrm>
              <a:custGeom>
                <a:avLst/>
                <a:gdLst/>
                <a:ahLst/>
                <a:cxnLst/>
                <a:rect l="l" t="t" r="r" b="b"/>
                <a:pathLst>
                  <a:path w="33338" h="33338">
                    <a:moveTo>
                      <a:pt x="0" y="0"/>
                    </a:moveTo>
                    <a:cubicBezTo>
                      <a:pt x="0" y="14802"/>
                      <a:pt x="12868" y="24170"/>
                      <a:pt x="33338" y="33338"/>
                    </a:cubicBezTo>
                  </a:path>
                </a:pathLst>
              </a:custGeom>
              <a:noFill/>
              <a:ln w="33338">
                <a:solidFill>
                  <a:srgbClr val="721E0D"/>
                </a:solidFill>
              </a:ln>
            </p:spPr>
          </p:sp>
        </p:grpSp>
        <p:sp>
          <p:nvSpPr>
            <p:cNvPr id="36" name="TextBox 36"/>
            <p:cNvSpPr txBox="1"/>
            <p:nvPr/>
          </p:nvSpPr>
          <p:spPr>
            <a:xfrm>
              <a:off x="1170724" y="1882616"/>
              <a:ext cx="230302"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预算</a:t>
              </a:r>
            </a:p>
          </p:txBody>
        </p:sp>
        <p:grpSp>
          <p:nvGrpSpPr>
            <p:cNvPr id="40" name="Group 40"/>
            <p:cNvGrpSpPr/>
            <p:nvPr/>
          </p:nvGrpSpPr>
          <p:grpSpPr>
            <a:xfrm>
              <a:off x="1862138" y="1450181"/>
              <a:ext cx="250030" cy="300038"/>
              <a:chOff x="1862138" y="1450181"/>
              <a:chExt cx="250030" cy="300038"/>
            </a:xfrm>
          </p:grpSpPr>
          <p:sp>
            <p:nvSpPr>
              <p:cNvPr id="37" name="Freeform 37"/>
              <p:cNvSpPr/>
              <p:nvPr/>
            </p:nvSpPr>
            <p:spPr>
              <a:xfrm>
                <a:off x="1895475" y="1450181"/>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33338">
                <a:solidFill>
                  <a:srgbClr val="721E0D"/>
                </a:solidFill>
              </a:ln>
            </p:spPr>
          </p:sp>
          <p:sp>
            <p:nvSpPr>
              <p:cNvPr id="38" name="Freeform 38"/>
              <p:cNvSpPr/>
              <p:nvPr/>
            </p:nvSpPr>
            <p:spPr>
              <a:xfrm>
                <a:off x="1862138" y="1650206"/>
                <a:ext cx="133350" cy="100012"/>
              </a:xfrm>
              <a:custGeom>
                <a:avLst/>
                <a:gdLst/>
                <a:ahLst/>
                <a:cxnLst/>
                <a:rect l="l" t="t" r="r" b="b"/>
                <a:pathLst>
                  <a:path w="133350" h="100012">
                    <a:moveTo>
                      <a:pt x="0" y="100012"/>
                    </a:moveTo>
                    <a:lnTo>
                      <a:pt x="0" y="66675"/>
                    </a:lnTo>
                    <a:cubicBezTo>
                      <a:pt x="0" y="29851"/>
                      <a:pt x="29851" y="0"/>
                      <a:pt x="66675" y="0"/>
                    </a:cubicBezTo>
                    <a:lnTo>
                      <a:pt x="133350" y="0"/>
                    </a:lnTo>
                  </a:path>
                </a:pathLst>
              </a:custGeom>
              <a:noFill/>
              <a:ln w="33338">
                <a:solidFill>
                  <a:srgbClr val="721E0D"/>
                </a:solidFill>
              </a:ln>
            </p:spPr>
          </p:sp>
          <p:sp>
            <p:nvSpPr>
              <p:cNvPr id="39" name="Freeform 39"/>
              <p:cNvSpPr/>
              <p:nvPr/>
            </p:nvSpPr>
            <p:spPr>
              <a:xfrm>
                <a:off x="2012156" y="1683544"/>
                <a:ext cx="100012" cy="66675"/>
              </a:xfrm>
              <a:custGeom>
                <a:avLst/>
                <a:gdLst/>
                <a:ahLst/>
                <a:cxnLst/>
                <a:rect l="l" t="t" r="r" b="b"/>
                <a:pathLst>
                  <a:path w="100012" h="66675">
                    <a:moveTo>
                      <a:pt x="0" y="33338"/>
                    </a:moveTo>
                    <a:lnTo>
                      <a:pt x="33338" y="66675"/>
                    </a:lnTo>
                    <a:lnTo>
                      <a:pt x="100012" y="0"/>
                    </a:lnTo>
                  </a:path>
                </a:pathLst>
              </a:custGeom>
              <a:noFill/>
              <a:ln w="33338">
                <a:solidFill>
                  <a:srgbClr val="721E0D"/>
                </a:solidFill>
              </a:ln>
            </p:spPr>
          </p:sp>
        </p:grpSp>
        <p:sp>
          <p:nvSpPr>
            <p:cNvPr id="41" name="TextBox 41"/>
            <p:cNvSpPr txBox="1"/>
            <p:nvPr/>
          </p:nvSpPr>
          <p:spPr>
            <a:xfrm>
              <a:off x="1846999" y="1882616"/>
              <a:ext cx="230302"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售前</a:t>
              </a:r>
            </a:p>
          </p:txBody>
        </p:sp>
        <p:grpSp>
          <p:nvGrpSpPr>
            <p:cNvPr id="45" name="Group 45"/>
            <p:cNvGrpSpPr/>
            <p:nvPr/>
          </p:nvGrpSpPr>
          <p:grpSpPr>
            <a:xfrm>
              <a:off x="800100" y="2345531"/>
              <a:ext cx="266700" cy="300038"/>
              <a:chOff x="800100" y="2345531"/>
              <a:chExt cx="266700" cy="300038"/>
            </a:xfrm>
          </p:grpSpPr>
          <p:sp>
            <p:nvSpPr>
              <p:cNvPr id="42" name="Freeform 42"/>
              <p:cNvSpPr/>
              <p:nvPr/>
            </p:nvSpPr>
            <p:spPr>
              <a:xfrm>
                <a:off x="800100" y="2345531"/>
                <a:ext cx="266700" cy="100012"/>
              </a:xfrm>
              <a:custGeom>
                <a:avLst/>
                <a:gdLst/>
                <a:ahLst/>
                <a:cxnLst/>
                <a:rect l="l" t="t" r="r" b="b"/>
                <a:pathLst>
                  <a:path w="266700" h="100012">
                    <a:moveTo>
                      <a:pt x="0" y="50006"/>
                    </a:moveTo>
                    <a:cubicBezTo>
                      <a:pt x="0" y="77624"/>
                      <a:pt x="59703" y="100012"/>
                      <a:pt x="133350" y="100012"/>
                    </a:cubicBezTo>
                    <a:cubicBezTo>
                      <a:pt x="206997" y="100012"/>
                      <a:pt x="266700" y="77624"/>
                      <a:pt x="266700" y="50006"/>
                    </a:cubicBezTo>
                    <a:cubicBezTo>
                      <a:pt x="266700" y="22389"/>
                      <a:pt x="206997" y="0"/>
                      <a:pt x="133350" y="0"/>
                    </a:cubicBezTo>
                    <a:cubicBezTo>
                      <a:pt x="59703" y="0"/>
                      <a:pt x="0" y="22389"/>
                      <a:pt x="0" y="50006"/>
                    </a:cubicBezTo>
                  </a:path>
                </a:pathLst>
              </a:custGeom>
              <a:noFill/>
              <a:ln w="33338">
                <a:solidFill>
                  <a:srgbClr val="721E0D"/>
                </a:solidFill>
              </a:ln>
            </p:spPr>
          </p:sp>
          <p:sp>
            <p:nvSpPr>
              <p:cNvPr id="43" name="Freeform 43"/>
              <p:cNvSpPr/>
              <p:nvPr/>
            </p:nvSpPr>
            <p:spPr>
              <a:xfrm>
                <a:off x="800100" y="2395538"/>
                <a:ext cx="266700" cy="150019"/>
              </a:xfrm>
              <a:custGeom>
                <a:avLst/>
                <a:gdLst/>
                <a:ahLst/>
                <a:cxnLst/>
                <a:rect l="l" t="t" r="r" b="b"/>
                <a:pathLst>
                  <a:path w="266700" h="150019">
                    <a:moveTo>
                      <a:pt x="0" y="0"/>
                    </a:moveTo>
                    <a:lnTo>
                      <a:pt x="0" y="100012"/>
                    </a:lnTo>
                    <a:cubicBezTo>
                      <a:pt x="0" y="127630"/>
                      <a:pt x="59703" y="150019"/>
                      <a:pt x="133350" y="150019"/>
                    </a:cubicBezTo>
                    <a:cubicBezTo>
                      <a:pt x="206997" y="150019"/>
                      <a:pt x="266700" y="127630"/>
                      <a:pt x="266700" y="100012"/>
                    </a:cubicBezTo>
                    <a:lnTo>
                      <a:pt x="266700" y="0"/>
                    </a:lnTo>
                  </a:path>
                </a:pathLst>
              </a:custGeom>
              <a:noFill/>
              <a:ln w="33338">
                <a:solidFill>
                  <a:srgbClr val="721E0D"/>
                </a:solidFill>
              </a:ln>
            </p:spPr>
          </p:sp>
          <p:sp>
            <p:nvSpPr>
              <p:cNvPr id="44" name="Freeform 44"/>
              <p:cNvSpPr/>
              <p:nvPr/>
            </p:nvSpPr>
            <p:spPr>
              <a:xfrm>
                <a:off x="800100" y="2495550"/>
                <a:ext cx="266700" cy="150019"/>
              </a:xfrm>
              <a:custGeom>
                <a:avLst/>
                <a:gdLst/>
                <a:ahLst/>
                <a:cxnLst/>
                <a:rect l="l" t="t" r="r" b="b"/>
                <a:pathLst>
                  <a:path w="266700" h="150019">
                    <a:moveTo>
                      <a:pt x="0" y="0"/>
                    </a:moveTo>
                    <a:lnTo>
                      <a:pt x="0" y="100012"/>
                    </a:lnTo>
                    <a:cubicBezTo>
                      <a:pt x="0" y="127630"/>
                      <a:pt x="59703" y="150019"/>
                      <a:pt x="133350" y="150019"/>
                    </a:cubicBezTo>
                    <a:cubicBezTo>
                      <a:pt x="206997" y="150019"/>
                      <a:pt x="266700" y="127630"/>
                      <a:pt x="266700" y="100012"/>
                    </a:cubicBezTo>
                    <a:lnTo>
                      <a:pt x="266700" y="0"/>
                    </a:lnTo>
                  </a:path>
                </a:pathLst>
              </a:custGeom>
              <a:noFill/>
              <a:ln w="33338">
                <a:solidFill>
                  <a:srgbClr val="721E0D"/>
                </a:solidFill>
              </a:ln>
            </p:spPr>
          </p:sp>
        </p:grpSp>
        <p:sp>
          <p:nvSpPr>
            <p:cNvPr id="46" name="TextBox 46"/>
            <p:cNvSpPr txBox="1"/>
            <p:nvPr/>
          </p:nvSpPr>
          <p:spPr>
            <a:xfrm>
              <a:off x="818299" y="2777966"/>
              <a:ext cx="230302"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数据</a:t>
              </a:r>
            </a:p>
          </p:txBody>
        </p:sp>
        <p:grpSp>
          <p:nvGrpSpPr>
            <p:cNvPr id="50" name="Group 50"/>
            <p:cNvGrpSpPr/>
            <p:nvPr/>
          </p:nvGrpSpPr>
          <p:grpSpPr>
            <a:xfrm>
              <a:off x="1504948" y="2354056"/>
              <a:ext cx="274821" cy="282953"/>
              <a:chOff x="1504948" y="2354056"/>
              <a:chExt cx="274821" cy="282953"/>
            </a:xfrm>
          </p:grpSpPr>
          <p:sp>
            <p:nvSpPr>
              <p:cNvPr id="47" name="Freeform 47"/>
              <p:cNvSpPr/>
              <p:nvPr/>
            </p:nvSpPr>
            <p:spPr>
              <a:xfrm>
                <a:off x="1588294" y="2445544"/>
                <a:ext cx="100012" cy="100012"/>
              </a:xfrm>
              <a:custGeom>
                <a:avLst/>
                <a:gdLst/>
                <a:ahLst/>
                <a:cxnLst/>
                <a:rect l="l" t="t" r="r" b="b"/>
                <a:pathLst>
                  <a:path w="100012" h="100012">
                    <a:moveTo>
                      <a:pt x="0" y="100012"/>
                    </a:moveTo>
                    <a:lnTo>
                      <a:pt x="100012" y="0"/>
                    </a:lnTo>
                  </a:path>
                </a:pathLst>
              </a:custGeom>
              <a:noFill/>
              <a:ln w="33338">
                <a:solidFill>
                  <a:srgbClr val="721E0D"/>
                </a:solidFill>
              </a:ln>
            </p:spPr>
          </p:sp>
          <p:sp>
            <p:nvSpPr>
              <p:cNvPr id="48" name="Freeform 48"/>
              <p:cNvSpPr/>
              <p:nvPr/>
            </p:nvSpPr>
            <p:spPr>
              <a:xfrm>
                <a:off x="1621631" y="2354056"/>
                <a:ext cx="158138" cy="158163"/>
              </a:xfrm>
              <a:custGeom>
                <a:avLst/>
                <a:gdLst/>
                <a:ahLst/>
                <a:cxnLst/>
                <a:rect l="l" t="t" r="r" b="b"/>
                <a:pathLst>
                  <a:path w="158138" h="158163">
                    <a:moveTo>
                      <a:pt x="0" y="41482"/>
                    </a:moveTo>
                    <a:lnTo>
                      <a:pt x="7718" y="32547"/>
                    </a:lnTo>
                    <a:cubicBezTo>
                      <a:pt x="40270" y="0"/>
                      <a:pt x="93043" y="4"/>
                      <a:pt x="125591" y="32556"/>
                    </a:cubicBezTo>
                    <a:cubicBezTo>
                      <a:pt x="158138" y="65108"/>
                      <a:pt x="158134" y="117881"/>
                      <a:pt x="125582" y="150429"/>
                    </a:cubicBezTo>
                    <a:lnTo>
                      <a:pt x="116681" y="158163"/>
                    </a:lnTo>
                  </a:path>
                </a:pathLst>
              </a:custGeom>
              <a:noFill/>
              <a:ln w="33338">
                <a:solidFill>
                  <a:srgbClr val="721E0D"/>
                </a:solidFill>
              </a:ln>
            </p:spPr>
          </p:sp>
          <p:sp>
            <p:nvSpPr>
              <p:cNvPr id="49" name="Freeform 49"/>
              <p:cNvSpPr/>
              <p:nvPr/>
            </p:nvSpPr>
            <p:spPr>
              <a:xfrm>
                <a:off x="1504948" y="2478881"/>
                <a:ext cx="150021" cy="158128"/>
              </a:xfrm>
              <a:custGeom>
                <a:avLst/>
                <a:gdLst/>
                <a:ahLst/>
                <a:cxnLst/>
                <a:rect l="l" t="t" r="r" b="b"/>
                <a:pathLst>
                  <a:path w="150021" h="158128">
                    <a:moveTo>
                      <a:pt x="150021" y="116681"/>
                    </a:moveTo>
                    <a:lnTo>
                      <a:pt x="143404" y="125582"/>
                    </a:lnTo>
                    <a:cubicBezTo>
                      <a:pt x="110491" y="158128"/>
                      <a:pt x="57518" y="158128"/>
                      <a:pt x="24605" y="125582"/>
                    </a:cubicBezTo>
                    <a:cubicBezTo>
                      <a:pt x="8860" y="110014"/>
                      <a:pt x="0" y="88792"/>
                      <a:pt x="0" y="66650"/>
                    </a:cubicBezTo>
                    <a:cubicBezTo>
                      <a:pt x="0" y="44508"/>
                      <a:pt x="8860" y="23286"/>
                      <a:pt x="24605" y="7718"/>
                    </a:cubicBezTo>
                    <a:lnTo>
                      <a:pt x="33340" y="0"/>
                    </a:lnTo>
                  </a:path>
                </a:pathLst>
              </a:custGeom>
              <a:noFill/>
              <a:ln w="33338">
                <a:solidFill>
                  <a:srgbClr val="721E0D"/>
                </a:solidFill>
              </a:ln>
            </p:spPr>
          </p:sp>
        </p:grpSp>
        <p:sp>
          <p:nvSpPr>
            <p:cNvPr id="51" name="TextBox 51"/>
            <p:cNvSpPr txBox="1"/>
            <p:nvPr/>
          </p:nvSpPr>
          <p:spPr>
            <a:xfrm>
              <a:off x="1412761" y="2777966"/>
              <a:ext cx="451079"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协同支持</a:t>
              </a:r>
            </a:p>
          </p:txBody>
        </p:sp>
        <p:sp>
          <p:nvSpPr>
            <p:cNvPr id="52" name="Line 52"/>
            <p:cNvSpPr/>
            <p:nvPr/>
          </p:nvSpPr>
          <p:spPr>
            <a:xfrm>
              <a:off x="342900" y="3181350"/>
              <a:ext cx="1885950" cy="9525"/>
            </a:xfrm>
            <a:custGeom>
              <a:avLst/>
              <a:gdLst/>
              <a:ahLst/>
              <a:cxnLst/>
              <a:rect l="l" t="t" r="r" b="b"/>
              <a:pathLst>
                <a:path w="1885950" h="9525">
                  <a:moveTo>
                    <a:pt x="0" y="0"/>
                  </a:moveTo>
                  <a:lnTo>
                    <a:pt x="1885950" y="0"/>
                  </a:lnTo>
                </a:path>
              </a:pathLst>
            </a:custGeom>
            <a:noFill/>
            <a:ln w="9525">
              <a:solidFill>
                <a:srgbClr val="E6EAF2"/>
              </a:solidFill>
            </a:ln>
          </p:spPr>
        </p:sp>
        <p:sp>
          <p:nvSpPr>
            <p:cNvPr id="53" name="TextBox 53"/>
            <p:cNvSpPr txBox="1"/>
            <p:nvPr/>
          </p:nvSpPr>
          <p:spPr>
            <a:xfrm>
              <a:off x="357188" y="3401139"/>
              <a:ext cx="1198436" cy="611981"/>
            </a:xfrm>
            <a:prstGeom prst="rect">
              <a:avLst/>
            </a:prstGeom>
            <a:noFill/>
            <a:ln>
              <a:noFill/>
            </a:ln>
          </p:spPr>
          <p:txBody>
            <a:bodyPr wrap="none" lIns="0" tIns="0" rIns="0" bIns="0" anchor="t" anchorCtr="0">
              <a:spAutoFit/>
            </a:bodyPr>
            <a:lstStyle/>
            <a:p>
              <a:pPr algn="l" marL="85280" indent="-85280">
                <a:lnSpc>
                  <a:spcPts val="1800"/>
                </a:lnSpc>
                <a:buClr>
                  <a:srgbClr val="523E3A"/>
                </a:buClr>
                <a:buSzTx/>
                <a:buFontTx/>
                <a:buChar char="•"/>
              </a:pPr>
              <a:r>
                <a:rPr lang="zh-CN" sz="790" dirty="0">
                  <a:solidFill>
                    <a:srgbClr val="523E3A"/>
                  </a:solidFill>
                  <a:latin typeface="+mn-lt"/>
                  <a:ea typeface="+mn-ea"/>
                  <a:cs typeface="+mn-cs"/>
                </a:rPr>
                <a:t>明确所需资源类型与规模</a:t>
              </a:r>
            </a:p>
            <a:p>
              <a:pPr algn="l" marL="85280" indent="-85280">
                <a:lnSpc>
                  <a:spcPts val="1800"/>
                </a:lnSpc>
                <a:buClr>
                  <a:srgbClr val="523E3A"/>
                </a:buClr>
                <a:buSzTx/>
                <a:buFontTx/>
                <a:buChar char="•"/>
              </a:pPr>
              <a:r>
                <a:rPr lang="zh-CN" sz="790" dirty="0">
                  <a:solidFill>
                    <a:srgbClr val="523E3A"/>
                  </a:solidFill>
                  <a:latin typeface="+mn-lt"/>
                  <a:ea typeface="+mn-ea"/>
                  <a:cs typeface="+mn-cs"/>
                </a:rPr>
                <a:t>匹配阶段目标与关键动作</a:t>
              </a:r>
            </a:p>
            <a:p>
              <a:pPr algn="l" marL="85280" indent="-85280">
                <a:lnSpc>
                  <a:spcPts val="1800"/>
                </a:lnSpc>
                <a:buClr>
                  <a:srgbClr val="523E3A"/>
                </a:buClr>
                <a:buSzTx/>
                <a:buFontTx/>
                <a:buChar char="•"/>
              </a:pPr>
              <a:r>
                <a:rPr lang="zh-CN" sz="790" dirty="0">
                  <a:solidFill>
                    <a:srgbClr val="523E3A"/>
                  </a:solidFill>
                  <a:latin typeface="+mn-lt"/>
                  <a:ea typeface="+mn-ea"/>
                  <a:cs typeface="+mn-cs"/>
                </a:rPr>
                <a:t>说明使用期限与绑定条件</a:t>
              </a:r>
            </a:p>
          </p:txBody>
        </p:sp>
        <p:sp>
          <p:nvSpPr>
            <p:cNvPr id="54" name="Rectangle 54"/>
            <p:cNvSpPr/>
            <p:nvPr/>
          </p:nvSpPr>
          <p:spPr>
            <a:xfrm>
              <a:off x="323850" y="4476750"/>
              <a:ext cx="1924050" cy="819150"/>
            </a:xfrm>
            <a:prstGeom prst="roundRect">
              <a:avLst>
                <a:gd name="adj" fmla="val 9302"/>
              </a:avLst>
            </a:prstGeom>
            <a:solidFill>
              <a:srgbClr val="EAF1FB"/>
            </a:solidFill>
            <a:ln>
              <a:noFill/>
            </a:ln>
          </p:spPr>
        </p:sp>
        <p:sp>
          <p:nvSpPr>
            <p:cNvPr id="55" name="Ellipse 55"/>
            <p:cNvSpPr/>
            <p:nvPr/>
          </p:nvSpPr>
          <p:spPr>
            <a:xfrm>
              <a:off x="400050" y="4610100"/>
              <a:ext cx="304800" cy="304800"/>
            </a:xfrm>
            <a:prstGeom prst="ellipse">
              <a:avLst/>
            </a:prstGeom>
            <a:solidFill>
              <a:srgbClr val="721E0D"/>
            </a:solidFill>
            <a:ln>
              <a:noFill/>
            </a:ln>
          </p:spPr>
        </p:sp>
        <p:grpSp>
          <p:nvGrpSpPr>
            <p:cNvPr id="59" name="Group 59"/>
            <p:cNvGrpSpPr/>
            <p:nvPr/>
          </p:nvGrpSpPr>
          <p:grpSpPr>
            <a:xfrm>
              <a:off x="481012" y="4691062"/>
              <a:ext cx="142875" cy="142875"/>
              <a:chOff x="481012" y="4691062"/>
              <a:chExt cx="142875" cy="142875"/>
            </a:xfrm>
          </p:grpSpPr>
          <p:sp>
            <p:nvSpPr>
              <p:cNvPr id="56" name="Freeform 56"/>
              <p:cNvSpPr/>
              <p:nvPr/>
            </p:nvSpPr>
            <p:spPr>
              <a:xfrm>
                <a:off x="544512" y="47545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57" name="Freeform 57"/>
              <p:cNvSpPr/>
              <p:nvPr/>
            </p:nvSpPr>
            <p:spPr>
              <a:xfrm>
                <a:off x="512762" y="47228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58" name="Freeform 58"/>
              <p:cNvSpPr/>
              <p:nvPr/>
            </p:nvSpPr>
            <p:spPr>
              <a:xfrm>
                <a:off x="481012" y="46910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60" name="TextBox 60"/>
            <p:cNvSpPr txBox="1"/>
            <p:nvPr/>
          </p:nvSpPr>
          <p:spPr>
            <a:xfrm>
              <a:off x="795338" y="4627245"/>
              <a:ext cx="251841" cy="176212"/>
            </a:xfrm>
            <a:prstGeom prst="rect">
              <a:avLst/>
            </a:prstGeom>
            <a:noFill/>
            <a:ln>
              <a:noFill/>
            </a:ln>
          </p:spPr>
          <p:txBody>
            <a:bodyPr wrap="none" lIns="0" tIns="0" rIns="0" bIns="0" anchor="t" anchorCtr="0">
              <a:spAutoFit/>
            </a:bodyPr>
            <a:lstStyle/>
            <a:p>
              <a:pPr algn="l"/>
              <a:r>
                <a:rPr lang="zh-CN" sz="900" b="1" dirty="0">
                  <a:solidFill>
                    <a:srgbClr val="721E0D"/>
                  </a:solidFill>
                  <a:latin typeface="+mn-lt"/>
                  <a:ea typeface="+mn-ea"/>
                  <a:cs typeface="+mn-cs"/>
                </a:rPr>
                <a:t>输出</a:t>
              </a:r>
            </a:p>
          </p:txBody>
        </p:sp>
        <p:sp>
          <p:nvSpPr>
            <p:cNvPr id="61" name="TextBox 61"/>
            <p:cNvSpPr txBox="1"/>
            <p:nvPr/>
          </p:nvSpPr>
          <p:spPr>
            <a:xfrm>
              <a:off x="795338" y="4829889"/>
              <a:ext cx="1258634"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61910"/>
                  </a:solidFill>
                  <a:latin typeface="+mn-lt"/>
                  <a:ea typeface="+mn-ea"/>
                  <a:cs typeface="+mn-cs"/>
                </a:rPr>
                <a:t xml:space="preserve">资源清单 + 需求理由      </a:t>
              </a:r>
              <a:br/>
              <a:r>
                <a:rPr lang="zh-CN" sz="790" dirty="0">
                  <a:solidFill>
                    <a:srgbClr val="461910"/>
                  </a:solidFill>
                  <a:latin typeface="+mn-lt"/>
                  <a:ea typeface="+mn-ea"/>
                  <a:cs typeface="+mn-cs"/>
                </a:rPr>
                <a:t xml:space="preserve">+ 使用边界   </a:t>
              </a:r>
            </a:p>
          </p:txBody>
        </p:sp>
      </p:grpSp>
      <p:grpSp>
        <p:nvGrpSpPr>
          <p:cNvPr id="96" name="step-card-2"/>
          <p:cNvGrpSpPr/>
          <p:nvPr/>
        </p:nvGrpSpPr>
        <p:grpSpPr>
          <a:xfrm>
            <a:off x="2533650" y="1123950"/>
            <a:ext cx="2114550" cy="4457700"/>
            <a:chOff x="2533650" y="1123950"/>
            <a:chExt cx="2114550" cy="4457700"/>
          </a:xfrm>
        </p:grpSpPr>
        <p:sp>
          <p:nvSpPr>
            <p:cNvPr id="63" name="Rectangle 63"/>
            <p:cNvSpPr/>
            <p:nvPr/>
          </p:nvSpPr>
          <p:spPr>
            <a:xfrm>
              <a:off x="2533650" y="1123950"/>
              <a:ext cx="2114550" cy="4457700"/>
            </a:xfrm>
            <a:prstGeom prst="roundRect">
              <a:avLst>
                <a:gd name="adj" fmla="val 4505"/>
              </a:avLst>
            </a:prstGeom>
            <a:solidFill>
              <a:srgbClr val="FFFFFF"/>
            </a:solidFill>
            <a:ln w="14288">
              <a:solidFill>
                <a:srgbClr val="C9D6EE"/>
              </a:solidFill>
            </a:ln>
          </p:spPr>
        </p:sp>
        <p:grpSp>
          <p:nvGrpSpPr>
            <p:cNvPr id="67" name="Group 67"/>
            <p:cNvGrpSpPr/>
            <p:nvPr/>
          </p:nvGrpSpPr>
          <p:grpSpPr>
            <a:xfrm>
              <a:off x="2764631" y="1754981"/>
              <a:ext cx="300038" cy="300038"/>
              <a:chOff x="2764631" y="1754981"/>
              <a:chExt cx="300038" cy="300038"/>
            </a:xfrm>
          </p:grpSpPr>
          <p:sp>
            <p:nvSpPr>
              <p:cNvPr id="64" name="Freeform 64"/>
              <p:cNvSpPr/>
              <p:nvPr/>
            </p:nvSpPr>
            <p:spPr>
              <a:xfrm>
                <a:off x="2897981" y="1888331"/>
                <a:ext cx="33338" cy="33338"/>
              </a:xfrm>
              <a:custGeom>
                <a:avLst/>
                <a:gdLst/>
                <a:ahLst/>
                <a:cxnLst/>
                <a:rect l="l" t="t" r="r" b="b"/>
                <a:pathLst>
                  <a:path w="33338" h="33338">
                    <a:moveTo>
                      <a:pt x="0" y="16669"/>
                    </a:moveTo>
                    <a:cubicBezTo>
                      <a:pt x="0" y="25875"/>
                      <a:pt x="7463" y="33338"/>
                      <a:pt x="16669" y="33338"/>
                    </a:cubicBezTo>
                    <a:cubicBezTo>
                      <a:pt x="25875" y="33338"/>
                      <a:pt x="33338" y="25875"/>
                      <a:pt x="33338" y="16669"/>
                    </a:cubicBezTo>
                    <a:cubicBezTo>
                      <a:pt x="33338" y="7463"/>
                      <a:pt x="25875" y="0"/>
                      <a:pt x="16669" y="0"/>
                    </a:cubicBezTo>
                    <a:cubicBezTo>
                      <a:pt x="7463" y="0"/>
                      <a:pt x="0" y="7463"/>
                      <a:pt x="0" y="16669"/>
                    </a:cubicBezTo>
                  </a:path>
                </a:pathLst>
              </a:custGeom>
              <a:noFill/>
              <a:ln w="33338">
                <a:solidFill>
                  <a:srgbClr val="721E0D"/>
                </a:solidFill>
              </a:ln>
            </p:spPr>
          </p:sp>
          <p:sp>
            <p:nvSpPr>
              <p:cNvPr id="65" name="Freeform 65"/>
              <p:cNvSpPr/>
              <p:nvPr/>
            </p:nvSpPr>
            <p:spPr>
              <a:xfrm>
                <a:off x="2831306" y="1821656"/>
                <a:ext cx="166688" cy="166688"/>
              </a:xfrm>
              <a:custGeom>
                <a:avLst/>
                <a:gdLst/>
                <a:ahLst/>
                <a:cxnLst/>
                <a:rect l="l" t="t" r="r" b="b"/>
                <a:pathLst>
                  <a:path w="166688" h="166688">
                    <a:moveTo>
                      <a:pt x="0" y="83344"/>
                    </a:moveTo>
                    <a:cubicBezTo>
                      <a:pt x="0" y="129373"/>
                      <a:pt x="37314" y="166688"/>
                      <a:pt x="83344" y="166688"/>
                    </a:cubicBezTo>
                    <a:cubicBezTo>
                      <a:pt x="129373" y="166688"/>
                      <a:pt x="166688" y="129373"/>
                      <a:pt x="166688" y="83344"/>
                    </a:cubicBezTo>
                    <a:cubicBezTo>
                      <a:pt x="166688" y="37314"/>
                      <a:pt x="129373" y="0"/>
                      <a:pt x="83344" y="0"/>
                    </a:cubicBezTo>
                    <a:cubicBezTo>
                      <a:pt x="37314" y="0"/>
                      <a:pt x="0" y="37314"/>
                      <a:pt x="0" y="83344"/>
                    </a:cubicBezTo>
                  </a:path>
                </a:pathLst>
              </a:custGeom>
              <a:noFill/>
              <a:ln w="33338">
                <a:solidFill>
                  <a:srgbClr val="721E0D"/>
                </a:solidFill>
              </a:ln>
            </p:spPr>
          </p:sp>
          <p:sp>
            <p:nvSpPr>
              <p:cNvPr id="66" name="Freeform 66"/>
              <p:cNvSpPr/>
              <p:nvPr/>
            </p:nvSpPr>
            <p:spPr>
              <a:xfrm>
                <a:off x="2764631" y="1754981"/>
                <a:ext cx="300038" cy="300038"/>
              </a:xfrm>
              <a:custGeom>
                <a:avLst/>
                <a:gdLst/>
                <a:ahLst/>
                <a:cxnLst/>
                <a:rect l="l" t="t" r="r" b="b"/>
                <a:pathLst>
                  <a:path w="300038" h="300038">
                    <a:moveTo>
                      <a:pt x="0" y="150019"/>
                    </a:moveTo>
                    <a:cubicBezTo>
                      <a:pt x="0" y="232872"/>
                      <a:pt x="67166" y="300038"/>
                      <a:pt x="150019" y="300038"/>
                    </a:cubicBezTo>
                    <a:cubicBezTo>
                      <a:pt x="232872" y="300038"/>
                      <a:pt x="300038" y="232872"/>
                      <a:pt x="300038" y="150019"/>
                    </a:cubicBezTo>
                    <a:cubicBezTo>
                      <a:pt x="300038" y="67166"/>
                      <a:pt x="232872" y="0"/>
                      <a:pt x="150019" y="0"/>
                    </a:cubicBezTo>
                    <a:cubicBezTo>
                      <a:pt x="67166" y="0"/>
                      <a:pt x="0" y="67166"/>
                      <a:pt x="0" y="150019"/>
                    </a:cubicBezTo>
                  </a:path>
                </a:pathLst>
              </a:custGeom>
              <a:noFill/>
              <a:ln w="33338">
                <a:solidFill>
                  <a:srgbClr val="721E0D"/>
                </a:solidFill>
              </a:ln>
            </p:spPr>
          </p:sp>
        </p:grpSp>
        <p:sp>
          <p:nvSpPr>
            <p:cNvPr id="68" name="TextBox 68"/>
            <p:cNvSpPr txBox="1"/>
            <p:nvPr/>
          </p:nvSpPr>
          <p:spPr>
            <a:xfrm>
              <a:off x="2689111" y="2187416"/>
              <a:ext cx="451079"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目标客户</a:t>
              </a:r>
            </a:p>
          </p:txBody>
        </p:sp>
        <p:grpSp>
          <p:nvGrpSpPr>
            <p:cNvPr id="75" name="Group 75"/>
            <p:cNvGrpSpPr/>
            <p:nvPr/>
          </p:nvGrpSpPr>
          <p:grpSpPr>
            <a:xfrm>
              <a:off x="3457575" y="1754981"/>
              <a:ext cx="266700" cy="300038"/>
              <a:chOff x="3457575" y="1754981"/>
              <a:chExt cx="266700" cy="300038"/>
            </a:xfrm>
          </p:grpSpPr>
          <p:sp>
            <p:nvSpPr>
              <p:cNvPr id="69" name="Freeform 69"/>
              <p:cNvSpPr/>
              <p:nvPr/>
            </p:nvSpPr>
            <p:spPr>
              <a:xfrm>
                <a:off x="3457575" y="1788319"/>
                <a:ext cx="266700" cy="266700"/>
              </a:xfrm>
              <a:custGeom>
                <a:avLst/>
                <a:gdLst/>
                <a:ahLst/>
                <a:cxnLst/>
                <a:rect l="l" t="t" r="r" b="b"/>
                <a:pathLst>
                  <a:path w="266700" h="266700">
                    <a:moveTo>
                      <a:pt x="0" y="33338"/>
                    </a:moveTo>
                    <a:cubicBezTo>
                      <a:pt x="0" y="14926"/>
                      <a:pt x="14926" y="0"/>
                      <a:pt x="33338" y="0"/>
                    </a:cubicBezTo>
                    <a:lnTo>
                      <a:pt x="233362" y="0"/>
                    </a:lnTo>
                    <a:cubicBezTo>
                      <a:pt x="251774" y="0"/>
                      <a:pt x="266700" y="14926"/>
                      <a:pt x="266700" y="33338"/>
                    </a:cubicBezTo>
                    <a:lnTo>
                      <a:pt x="266700" y="233362"/>
                    </a:lnTo>
                    <a:cubicBezTo>
                      <a:pt x="266700" y="251774"/>
                      <a:pt x="251774" y="266700"/>
                      <a:pt x="233362" y="266700"/>
                    </a:cubicBezTo>
                    <a:lnTo>
                      <a:pt x="33338" y="266700"/>
                    </a:lnTo>
                    <a:cubicBezTo>
                      <a:pt x="14926" y="266700"/>
                      <a:pt x="0" y="251774"/>
                      <a:pt x="0" y="233362"/>
                    </a:cubicBezTo>
                    <a:lnTo>
                      <a:pt x="0" y="33338"/>
                    </a:lnTo>
                  </a:path>
                </a:pathLst>
              </a:custGeom>
              <a:noFill/>
              <a:ln w="33338">
                <a:solidFill>
                  <a:srgbClr val="721E0D"/>
                </a:solidFill>
              </a:ln>
            </p:spPr>
          </p:sp>
          <p:sp>
            <p:nvSpPr>
              <p:cNvPr id="70" name="Freeform 70"/>
              <p:cNvSpPr/>
              <p:nvPr/>
            </p:nvSpPr>
            <p:spPr>
              <a:xfrm>
                <a:off x="3657600" y="1754981"/>
                <a:ext cx="9525" cy="66675"/>
              </a:xfrm>
              <a:custGeom>
                <a:avLst/>
                <a:gdLst/>
                <a:ahLst/>
                <a:cxnLst/>
                <a:rect l="l" t="t" r="r" b="b"/>
                <a:pathLst>
                  <a:path w="9525" h="66675">
                    <a:moveTo>
                      <a:pt x="0" y="0"/>
                    </a:moveTo>
                    <a:lnTo>
                      <a:pt x="0" y="66675"/>
                    </a:lnTo>
                  </a:path>
                </a:pathLst>
              </a:custGeom>
              <a:noFill/>
              <a:ln w="33338">
                <a:solidFill>
                  <a:srgbClr val="721E0D"/>
                </a:solidFill>
              </a:ln>
            </p:spPr>
          </p:sp>
          <p:sp>
            <p:nvSpPr>
              <p:cNvPr id="71" name="Freeform 71"/>
              <p:cNvSpPr/>
              <p:nvPr/>
            </p:nvSpPr>
            <p:spPr>
              <a:xfrm>
                <a:off x="3524250" y="1754981"/>
                <a:ext cx="9525" cy="66675"/>
              </a:xfrm>
              <a:custGeom>
                <a:avLst/>
                <a:gdLst/>
                <a:ahLst/>
                <a:cxnLst/>
                <a:rect l="l" t="t" r="r" b="b"/>
                <a:pathLst>
                  <a:path w="9525" h="66675">
                    <a:moveTo>
                      <a:pt x="0" y="0"/>
                    </a:moveTo>
                    <a:lnTo>
                      <a:pt x="0" y="66675"/>
                    </a:lnTo>
                  </a:path>
                </a:pathLst>
              </a:custGeom>
              <a:noFill/>
              <a:ln w="33338">
                <a:solidFill>
                  <a:srgbClr val="721E0D"/>
                </a:solidFill>
              </a:ln>
            </p:spPr>
          </p:sp>
          <p:sp>
            <p:nvSpPr>
              <p:cNvPr id="72" name="Freeform 72"/>
              <p:cNvSpPr/>
              <p:nvPr/>
            </p:nvSpPr>
            <p:spPr>
              <a:xfrm>
                <a:off x="3457575" y="1888331"/>
                <a:ext cx="266700" cy="9525"/>
              </a:xfrm>
              <a:custGeom>
                <a:avLst/>
                <a:gdLst/>
                <a:ahLst/>
                <a:cxnLst/>
                <a:rect l="l" t="t" r="r" b="b"/>
                <a:pathLst>
                  <a:path w="266700" h="9525">
                    <a:moveTo>
                      <a:pt x="0" y="0"/>
                    </a:moveTo>
                    <a:lnTo>
                      <a:pt x="266700" y="0"/>
                    </a:lnTo>
                  </a:path>
                </a:pathLst>
              </a:custGeom>
              <a:noFill/>
              <a:ln w="33338">
                <a:solidFill>
                  <a:srgbClr val="721E0D"/>
                </a:solidFill>
              </a:ln>
            </p:spPr>
          </p:sp>
          <p:sp>
            <p:nvSpPr>
              <p:cNvPr id="73" name="Freeform 73"/>
              <p:cNvSpPr/>
              <p:nvPr/>
            </p:nvSpPr>
            <p:spPr>
              <a:xfrm>
                <a:off x="3574256" y="1955006"/>
                <a:ext cx="16669" cy="9525"/>
              </a:xfrm>
              <a:custGeom>
                <a:avLst/>
                <a:gdLst/>
                <a:ahLst/>
                <a:cxnLst/>
                <a:rect l="l" t="t" r="r" b="b"/>
                <a:pathLst>
                  <a:path w="16669" h="9525">
                    <a:moveTo>
                      <a:pt x="0" y="0"/>
                    </a:moveTo>
                    <a:lnTo>
                      <a:pt x="16669" y="0"/>
                    </a:lnTo>
                  </a:path>
                </a:pathLst>
              </a:custGeom>
              <a:noFill/>
              <a:ln w="33338">
                <a:solidFill>
                  <a:srgbClr val="721E0D"/>
                </a:solidFill>
              </a:ln>
            </p:spPr>
          </p:sp>
          <p:sp>
            <p:nvSpPr>
              <p:cNvPr id="74" name="Freeform 74"/>
              <p:cNvSpPr/>
              <p:nvPr/>
            </p:nvSpPr>
            <p:spPr>
              <a:xfrm>
                <a:off x="3590925" y="1955006"/>
                <a:ext cx="9525" cy="50006"/>
              </a:xfrm>
              <a:custGeom>
                <a:avLst/>
                <a:gdLst/>
                <a:ahLst/>
                <a:cxnLst/>
                <a:rect l="l" t="t" r="r" b="b"/>
                <a:pathLst>
                  <a:path w="9525" h="50006">
                    <a:moveTo>
                      <a:pt x="0" y="0"/>
                    </a:moveTo>
                    <a:lnTo>
                      <a:pt x="0" y="50006"/>
                    </a:lnTo>
                  </a:path>
                </a:pathLst>
              </a:custGeom>
              <a:noFill/>
              <a:ln w="33338">
                <a:solidFill>
                  <a:srgbClr val="721E0D"/>
                </a:solidFill>
              </a:ln>
            </p:spPr>
          </p:sp>
        </p:grpSp>
        <p:sp>
          <p:nvSpPr>
            <p:cNvPr id="76" name="TextBox 76"/>
            <p:cNvSpPr txBox="1"/>
            <p:nvPr/>
          </p:nvSpPr>
          <p:spPr>
            <a:xfrm>
              <a:off x="3365386" y="2187416"/>
              <a:ext cx="451079"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项目计划</a:t>
              </a:r>
            </a:p>
          </p:txBody>
        </p:sp>
        <p:grpSp>
          <p:nvGrpSpPr>
            <p:cNvPr id="81" name="Group 81"/>
            <p:cNvGrpSpPr/>
            <p:nvPr/>
          </p:nvGrpSpPr>
          <p:grpSpPr>
            <a:xfrm>
              <a:off x="4117181" y="1771650"/>
              <a:ext cx="300037" cy="276225"/>
              <a:chOff x="4117181" y="1771650"/>
              <a:chExt cx="300037" cy="276225"/>
            </a:xfrm>
          </p:grpSpPr>
          <p:sp>
            <p:nvSpPr>
              <p:cNvPr id="77" name="Freeform 77"/>
              <p:cNvSpPr/>
              <p:nvPr/>
            </p:nvSpPr>
            <p:spPr>
              <a:xfrm>
                <a:off x="4117181" y="1905000"/>
                <a:ext cx="100012" cy="133350"/>
              </a:xfrm>
              <a:custGeom>
                <a:avLst/>
                <a:gdLst/>
                <a:ahLst/>
                <a:cxnLst/>
                <a:rect l="l" t="t" r="r" b="b"/>
                <a:pathLst>
                  <a:path w="100012" h="133350">
                    <a:moveTo>
                      <a:pt x="0" y="16669"/>
                    </a:moveTo>
                    <a:cubicBezTo>
                      <a:pt x="0" y="7463"/>
                      <a:pt x="7463" y="0"/>
                      <a:pt x="16669" y="0"/>
                    </a:cubicBezTo>
                    <a:lnTo>
                      <a:pt x="83344" y="0"/>
                    </a:lnTo>
                    <a:cubicBezTo>
                      <a:pt x="92550" y="0"/>
                      <a:pt x="100012" y="7463"/>
                      <a:pt x="100012" y="16669"/>
                    </a:cubicBezTo>
                    <a:lnTo>
                      <a:pt x="100012" y="116681"/>
                    </a:lnTo>
                    <a:cubicBezTo>
                      <a:pt x="100012" y="125887"/>
                      <a:pt x="92550" y="133350"/>
                      <a:pt x="83344" y="133350"/>
                    </a:cubicBezTo>
                    <a:lnTo>
                      <a:pt x="16669" y="133350"/>
                    </a:lnTo>
                    <a:cubicBezTo>
                      <a:pt x="7463" y="133350"/>
                      <a:pt x="0" y="125887"/>
                      <a:pt x="0" y="116681"/>
                    </a:cubicBezTo>
                    <a:lnTo>
                      <a:pt x="0" y="16669"/>
                    </a:lnTo>
                  </a:path>
                </a:pathLst>
              </a:custGeom>
              <a:noFill/>
              <a:ln w="33338">
                <a:solidFill>
                  <a:srgbClr val="721E0D"/>
                </a:solidFill>
              </a:ln>
            </p:spPr>
          </p:sp>
          <p:sp>
            <p:nvSpPr>
              <p:cNvPr id="78" name="Freeform 78"/>
              <p:cNvSpPr/>
              <p:nvPr/>
            </p:nvSpPr>
            <p:spPr>
              <a:xfrm>
                <a:off x="4317206" y="1838325"/>
                <a:ext cx="100012" cy="200025"/>
              </a:xfrm>
              <a:custGeom>
                <a:avLst/>
                <a:gdLst/>
                <a:ahLst/>
                <a:cxnLst/>
                <a:rect l="l" t="t" r="r" b="b"/>
                <a:pathLst>
                  <a:path w="100012" h="200025">
                    <a:moveTo>
                      <a:pt x="0" y="16669"/>
                    </a:moveTo>
                    <a:cubicBezTo>
                      <a:pt x="0" y="7463"/>
                      <a:pt x="7463" y="0"/>
                      <a:pt x="16669" y="0"/>
                    </a:cubicBezTo>
                    <a:lnTo>
                      <a:pt x="83344" y="0"/>
                    </a:lnTo>
                    <a:cubicBezTo>
                      <a:pt x="92550" y="0"/>
                      <a:pt x="100012" y="7463"/>
                      <a:pt x="100012" y="16669"/>
                    </a:cubicBezTo>
                    <a:lnTo>
                      <a:pt x="100012" y="183356"/>
                    </a:lnTo>
                    <a:cubicBezTo>
                      <a:pt x="100012" y="192562"/>
                      <a:pt x="92550" y="200025"/>
                      <a:pt x="83344" y="200025"/>
                    </a:cubicBezTo>
                    <a:lnTo>
                      <a:pt x="16669" y="200025"/>
                    </a:lnTo>
                    <a:cubicBezTo>
                      <a:pt x="7463" y="200025"/>
                      <a:pt x="0" y="192562"/>
                      <a:pt x="0" y="183356"/>
                    </a:cubicBezTo>
                    <a:lnTo>
                      <a:pt x="0" y="16669"/>
                    </a:lnTo>
                  </a:path>
                </a:pathLst>
              </a:custGeom>
              <a:noFill/>
              <a:ln w="33338">
                <a:solidFill>
                  <a:srgbClr val="721E0D"/>
                </a:solidFill>
              </a:ln>
            </p:spPr>
          </p:sp>
          <p:sp>
            <p:nvSpPr>
              <p:cNvPr id="79" name="Freeform 79"/>
              <p:cNvSpPr/>
              <p:nvPr/>
            </p:nvSpPr>
            <p:spPr>
              <a:xfrm>
                <a:off x="4217194" y="1771650"/>
                <a:ext cx="100012" cy="266700"/>
              </a:xfrm>
              <a:custGeom>
                <a:avLst/>
                <a:gdLst/>
                <a:ahLst/>
                <a:cxnLst/>
                <a:rect l="l" t="t" r="r" b="b"/>
                <a:pathLst>
                  <a:path w="100012" h="266700">
                    <a:moveTo>
                      <a:pt x="0" y="16669"/>
                    </a:moveTo>
                    <a:cubicBezTo>
                      <a:pt x="0" y="7463"/>
                      <a:pt x="7463" y="0"/>
                      <a:pt x="16669" y="0"/>
                    </a:cubicBezTo>
                    <a:lnTo>
                      <a:pt x="83344" y="0"/>
                    </a:lnTo>
                    <a:cubicBezTo>
                      <a:pt x="92550" y="0"/>
                      <a:pt x="100012" y="7463"/>
                      <a:pt x="100012" y="16669"/>
                    </a:cubicBezTo>
                    <a:lnTo>
                      <a:pt x="100012" y="250031"/>
                    </a:lnTo>
                    <a:cubicBezTo>
                      <a:pt x="100012" y="259237"/>
                      <a:pt x="92550" y="266700"/>
                      <a:pt x="83344" y="266700"/>
                    </a:cubicBezTo>
                    <a:lnTo>
                      <a:pt x="16669" y="266700"/>
                    </a:lnTo>
                    <a:cubicBezTo>
                      <a:pt x="7463" y="266700"/>
                      <a:pt x="0" y="259237"/>
                      <a:pt x="0" y="250031"/>
                    </a:cubicBezTo>
                    <a:lnTo>
                      <a:pt x="0" y="16669"/>
                    </a:lnTo>
                  </a:path>
                </a:pathLst>
              </a:custGeom>
              <a:noFill/>
              <a:ln w="33338">
                <a:solidFill>
                  <a:srgbClr val="721E0D"/>
                </a:solidFill>
              </a:ln>
            </p:spPr>
          </p:sp>
          <p:sp>
            <p:nvSpPr>
              <p:cNvPr id="80" name="Freeform 80"/>
              <p:cNvSpPr/>
              <p:nvPr/>
            </p:nvSpPr>
            <p:spPr>
              <a:xfrm>
                <a:off x="4133850" y="2038350"/>
                <a:ext cx="233362" cy="9525"/>
              </a:xfrm>
              <a:custGeom>
                <a:avLst/>
                <a:gdLst/>
                <a:ahLst/>
                <a:cxnLst/>
                <a:rect l="l" t="t" r="r" b="b"/>
                <a:pathLst>
                  <a:path w="233362" h="9525">
                    <a:moveTo>
                      <a:pt x="0" y="0"/>
                    </a:moveTo>
                    <a:lnTo>
                      <a:pt x="233362" y="0"/>
                    </a:lnTo>
                  </a:path>
                </a:pathLst>
              </a:custGeom>
              <a:noFill/>
              <a:ln w="33338">
                <a:solidFill>
                  <a:srgbClr val="721E0D"/>
                </a:solidFill>
              </a:ln>
            </p:spPr>
          </p:sp>
        </p:grpSp>
        <p:sp>
          <p:nvSpPr>
            <p:cNvPr id="82" name="TextBox 82"/>
            <p:cNvSpPr txBox="1"/>
            <p:nvPr/>
          </p:nvSpPr>
          <p:spPr>
            <a:xfrm>
              <a:off x="4041661" y="2187416"/>
              <a:ext cx="451079"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成果指标</a:t>
              </a:r>
            </a:p>
          </p:txBody>
        </p:sp>
        <p:sp>
          <p:nvSpPr>
            <p:cNvPr id="83" name="TextBox 83"/>
            <p:cNvSpPr txBox="1"/>
            <p:nvPr/>
          </p:nvSpPr>
          <p:spPr>
            <a:xfrm>
              <a:off x="3201876" y="1839278"/>
              <a:ext cx="92298" cy="205359"/>
            </a:xfrm>
            <a:prstGeom prst="rect">
              <a:avLst/>
            </a:prstGeom>
            <a:noFill/>
            <a:ln>
              <a:noFill/>
            </a:ln>
          </p:spPr>
          <p:txBody>
            <a:bodyPr wrap="none" lIns="0" tIns="0" rIns="0" bIns="0" anchor="t" anchorCtr="0">
              <a:spAutoFit/>
            </a:bodyPr>
            <a:lstStyle/>
            <a:p>
              <a:pPr algn="ctr"/>
              <a:r>
                <a:rPr lang="zh-CN" sz="1050" b="1" dirty="0">
                  <a:solidFill>
                    <a:srgbClr val="B8351A"/>
                  </a:solidFill>
                  <a:latin typeface="+mn-lt"/>
                  <a:ea typeface="+mn-ea"/>
                  <a:cs typeface="+mn-cs"/>
                </a:rPr>
                <a:t>→</a:t>
              </a:r>
            </a:p>
          </p:txBody>
        </p:sp>
        <p:sp>
          <p:nvSpPr>
            <p:cNvPr id="84" name="TextBox 84"/>
            <p:cNvSpPr txBox="1"/>
            <p:nvPr/>
          </p:nvSpPr>
          <p:spPr>
            <a:xfrm>
              <a:off x="3878151" y="1839278"/>
              <a:ext cx="92298" cy="205359"/>
            </a:xfrm>
            <a:prstGeom prst="rect">
              <a:avLst/>
            </a:prstGeom>
            <a:noFill/>
            <a:ln>
              <a:noFill/>
            </a:ln>
          </p:spPr>
          <p:txBody>
            <a:bodyPr wrap="none" lIns="0" tIns="0" rIns="0" bIns="0" anchor="t" anchorCtr="0">
              <a:spAutoFit/>
            </a:bodyPr>
            <a:lstStyle/>
            <a:p>
              <a:pPr algn="ctr"/>
              <a:r>
                <a:rPr lang="zh-CN" sz="1050" b="1" dirty="0">
                  <a:solidFill>
                    <a:srgbClr val="B8351A"/>
                  </a:solidFill>
                  <a:latin typeface="+mn-lt"/>
                  <a:ea typeface="+mn-ea"/>
                  <a:cs typeface="+mn-cs"/>
                </a:rPr>
                <a:t>→</a:t>
              </a:r>
            </a:p>
          </p:txBody>
        </p:sp>
        <p:sp>
          <p:nvSpPr>
            <p:cNvPr id="85" name="Line 85"/>
            <p:cNvSpPr/>
            <p:nvPr/>
          </p:nvSpPr>
          <p:spPr>
            <a:xfrm>
              <a:off x="2647950" y="3181350"/>
              <a:ext cx="1885950" cy="9525"/>
            </a:xfrm>
            <a:custGeom>
              <a:avLst/>
              <a:gdLst/>
              <a:ahLst/>
              <a:cxnLst/>
              <a:rect l="l" t="t" r="r" b="b"/>
              <a:pathLst>
                <a:path w="1885950" h="9525">
                  <a:moveTo>
                    <a:pt x="0" y="0"/>
                  </a:moveTo>
                  <a:lnTo>
                    <a:pt x="1885950" y="0"/>
                  </a:lnTo>
                </a:path>
              </a:pathLst>
            </a:custGeom>
            <a:noFill/>
            <a:ln w="9525">
              <a:solidFill>
                <a:srgbClr val="E6EAF2"/>
              </a:solidFill>
            </a:ln>
          </p:spPr>
        </p:sp>
        <p:sp>
          <p:nvSpPr>
            <p:cNvPr id="86" name="TextBox 86"/>
            <p:cNvSpPr txBox="1"/>
            <p:nvPr/>
          </p:nvSpPr>
          <p:spPr>
            <a:xfrm>
              <a:off x="2662238" y="3401139"/>
              <a:ext cx="1298766" cy="611981"/>
            </a:xfrm>
            <a:prstGeom prst="rect">
              <a:avLst/>
            </a:prstGeom>
            <a:noFill/>
            <a:ln>
              <a:noFill/>
            </a:ln>
          </p:spPr>
          <p:txBody>
            <a:bodyPr wrap="none" lIns="0" tIns="0" rIns="0" bIns="0" anchor="t" anchorCtr="0">
              <a:spAutoFit/>
            </a:bodyPr>
            <a:lstStyle/>
            <a:p>
              <a:pPr algn="l" marL="85280" indent="-85280">
                <a:lnSpc>
                  <a:spcPts val="1800"/>
                </a:lnSpc>
                <a:buClr>
                  <a:srgbClr val="523E3A"/>
                </a:buClr>
                <a:buSzTx/>
                <a:buFontTx/>
                <a:buChar char="•"/>
              </a:pPr>
              <a:r>
                <a:rPr lang="zh-CN" sz="790" dirty="0">
                  <a:solidFill>
                    <a:srgbClr val="523E3A"/>
                  </a:solidFill>
                  <a:latin typeface="+mn-lt"/>
                  <a:ea typeface="+mn-ea"/>
                  <a:cs typeface="+mn-cs"/>
                </a:rPr>
                <a:t>明确目标客户与价值主张</a:t>
              </a:r>
            </a:p>
            <a:p>
              <a:pPr algn="l" marL="85280" indent="-85280">
                <a:lnSpc>
                  <a:spcPts val="1800"/>
                </a:lnSpc>
                <a:buClr>
                  <a:srgbClr val="523E3A"/>
                </a:buClr>
                <a:buSzTx/>
                <a:buFontTx/>
                <a:buChar char="•"/>
              </a:pPr>
              <a:r>
                <a:rPr lang="zh-CN" sz="790" dirty="0">
                  <a:solidFill>
                    <a:srgbClr val="523E3A"/>
                  </a:solidFill>
                  <a:latin typeface="+mn-lt"/>
                  <a:ea typeface="+mn-ea"/>
                  <a:cs typeface="+mn-cs"/>
                </a:rPr>
                <a:t>制定里程碑计划与关键动作</a:t>
              </a:r>
            </a:p>
            <a:p>
              <a:pPr algn="l" marL="85280" indent="-85280">
                <a:lnSpc>
                  <a:spcPts val="1800"/>
                </a:lnSpc>
                <a:buClr>
                  <a:srgbClr val="523E3A"/>
                </a:buClr>
                <a:buSzTx/>
                <a:buFontTx/>
                <a:buChar char="•"/>
              </a:pPr>
              <a:r>
                <a:rPr lang="zh-CN" sz="790" dirty="0">
                  <a:solidFill>
                    <a:srgbClr val="523E3A"/>
                  </a:solidFill>
                  <a:latin typeface="+mn-lt"/>
                  <a:ea typeface="+mn-ea"/>
                  <a:cs typeface="+mn-cs"/>
                </a:rPr>
                <a:t>量化成果指标与验收标准</a:t>
              </a:r>
            </a:p>
          </p:txBody>
        </p:sp>
        <p:sp>
          <p:nvSpPr>
            <p:cNvPr id="87" name="Rectangle 87"/>
            <p:cNvSpPr/>
            <p:nvPr/>
          </p:nvSpPr>
          <p:spPr>
            <a:xfrm>
              <a:off x="2628900" y="4476750"/>
              <a:ext cx="1924050" cy="819150"/>
            </a:xfrm>
            <a:prstGeom prst="roundRect">
              <a:avLst>
                <a:gd name="adj" fmla="val 9302"/>
              </a:avLst>
            </a:prstGeom>
            <a:solidFill>
              <a:srgbClr val="EAF1FB"/>
            </a:solidFill>
            <a:ln>
              <a:noFill/>
            </a:ln>
          </p:spPr>
        </p:sp>
        <p:sp>
          <p:nvSpPr>
            <p:cNvPr id="88" name="Ellipse 88"/>
            <p:cNvSpPr/>
            <p:nvPr/>
          </p:nvSpPr>
          <p:spPr>
            <a:xfrm>
              <a:off x="2705100" y="4610100"/>
              <a:ext cx="304800" cy="304800"/>
            </a:xfrm>
            <a:prstGeom prst="ellipse">
              <a:avLst/>
            </a:prstGeom>
            <a:solidFill>
              <a:srgbClr val="721E0D"/>
            </a:solidFill>
            <a:ln>
              <a:noFill/>
            </a:ln>
          </p:spPr>
        </p:sp>
        <p:grpSp>
          <p:nvGrpSpPr>
            <p:cNvPr id="93" name="Group 93"/>
            <p:cNvGrpSpPr/>
            <p:nvPr/>
          </p:nvGrpSpPr>
          <p:grpSpPr>
            <a:xfrm>
              <a:off x="2801937" y="4699000"/>
              <a:ext cx="119063" cy="134937"/>
              <a:chOff x="2801937" y="4699000"/>
              <a:chExt cx="119063" cy="134937"/>
            </a:xfrm>
          </p:grpSpPr>
          <p:sp>
            <p:nvSpPr>
              <p:cNvPr id="89" name="Freeform 89"/>
              <p:cNvSpPr/>
              <p:nvPr/>
            </p:nvSpPr>
            <p:spPr>
              <a:xfrm>
                <a:off x="2801937" y="4699000"/>
                <a:ext cx="95250" cy="127000"/>
              </a:xfrm>
              <a:custGeom>
                <a:avLst/>
                <a:gdLst/>
                <a:ahLst/>
                <a:cxnLst/>
                <a:rect l="l" t="t" r="r" b="b"/>
                <a:pathLst>
                  <a:path w="95250" h="127000">
                    <a:moveTo>
                      <a:pt x="36632" y="127000"/>
                    </a:moveTo>
                    <a:lnTo>
                      <a:pt x="15875" y="127000"/>
                    </a:lnTo>
                    <a:cubicBezTo>
                      <a:pt x="7107" y="127000"/>
                      <a:pt x="0" y="119892"/>
                      <a:pt x="0" y="111125"/>
                    </a:cubicBezTo>
                    <a:lnTo>
                      <a:pt x="0" y="15875"/>
                    </a:lnTo>
                    <a:cubicBezTo>
                      <a:pt x="0" y="7107"/>
                      <a:pt x="7107" y="0"/>
                      <a:pt x="15875" y="0"/>
                    </a:cubicBezTo>
                    <a:lnTo>
                      <a:pt x="79375" y="0"/>
                    </a:lnTo>
                    <a:cubicBezTo>
                      <a:pt x="88142" y="0"/>
                      <a:pt x="95250" y="7107"/>
                      <a:pt x="95250" y="15875"/>
                    </a:cubicBezTo>
                    <a:lnTo>
                      <a:pt x="95250" y="79375"/>
                    </a:lnTo>
                  </a:path>
                </a:pathLst>
              </a:custGeom>
              <a:noFill/>
              <a:ln w="15875">
                <a:solidFill>
                  <a:srgbClr val="FFFFFF"/>
                </a:solidFill>
              </a:ln>
            </p:spPr>
          </p:sp>
          <p:sp>
            <p:nvSpPr>
              <p:cNvPr id="90" name="Freeform 90"/>
              <p:cNvSpPr/>
              <p:nvPr/>
            </p:nvSpPr>
            <p:spPr>
              <a:xfrm>
                <a:off x="2873375" y="480218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sp>
            <p:nvSpPr>
              <p:cNvPr id="91" name="Freeform 91"/>
              <p:cNvSpPr/>
              <p:nvPr/>
            </p:nvSpPr>
            <p:spPr>
              <a:xfrm>
                <a:off x="2833687" y="4730750"/>
                <a:ext cx="31750" cy="9525"/>
              </a:xfrm>
              <a:custGeom>
                <a:avLst/>
                <a:gdLst/>
                <a:ahLst/>
                <a:cxnLst/>
                <a:rect l="l" t="t" r="r" b="b"/>
                <a:pathLst>
                  <a:path w="31750" h="9525">
                    <a:moveTo>
                      <a:pt x="0" y="0"/>
                    </a:moveTo>
                    <a:lnTo>
                      <a:pt x="31750" y="0"/>
                    </a:lnTo>
                  </a:path>
                </a:pathLst>
              </a:custGeom>
              <a:noFill/>
              <a:ln w="15875">
                <a:solidFill>
                  <a:srgbClr val="FFFFFF"/>
                </a:solidFill>
              </a:ln>
            </p:spPr>
          </p:sp>
          <p:sp>
            <p:nvSpPr>
              <p:cNvPr id="92" name="Freeform 92"/>
              <p:cNvSpPr/>
              <p:nvPr/>
            </p:nvSpPr>
            <p:spPr>
              <a:xfrm>
                <a:off x="2833687" y="4762500"/>
                <a:ext cx="15875" cy="9525"/>
              </a:xfrm>
              <a:custGeom>
                <a:avLst/>
                <a:gdLst/>
                <a:ahLst/>
                <a:cxnLst/>
                <a:rect l="l" t="t" r="r" b="b"/>
                <a:pathLst>
                  <a:path w="15875" h="9525">
                    <a:moveTo>
                      <a:pt x="0" y="0"/>
                    </a:moveTo>
                    <a:lnTo>
                      <a:pt x="15875" y="0"/>
                    </a:lnTo>
                  </a:path>
                </a:pathLst>
              </a:custGeom>
              <a:noFill/>
              <a:ln w="15875">
                <a:solidFill>
                  <a:srgbClr val="FFFFFF"/>
                </a:solidFill>
              </a:ln>
            </p:spPr>
          </p:sp>
        </p:grpSp>
        <p:sp>
          <p:nvSpPr>
            <p:cNvPr id="94" name="TextBox 94"/>
            <p:cNvSpPr txBox="1"/>
            <p:nvPr/>
          </p:nvSpPr>
          <p:spPr>
            <a:xfrm>
              <a:off x="3100388" y="4627245"/>
              <a:ext cx="251841" cy="176212"/>
            </a:xfrm>
            <a:prstGeom prst="rect">
              <a:avLst/>
            </a:prstGeom>
            <a:noFill/>
            <a:ln>
              <a:noFill/>
            </a:ln>
          </p:spPr>
          <p:txBody>
            <a:bodyPr wrap="none" lIns="0" tIns="0" rIns="0" bIns="0" anchor="t" anchorCtr="0">
              <a:spAutoFit/>
            </a:bodyPr>
            <a:lstStyle/>
            <a:p>
              <a:pPr algn="l"/>
              <a:r>
                <a:rPr lang="zh-CN" sz="900" b="1" dirty="0">
                  <a:solidFill>
                    <a:srgbClr val="721E0D"/>
                  </a:solidFill>
                  <a:latin typeface="+mn-lt"/>
                  <a:ea typeface="+mn-ea"/>
                  <a:cs typeface="+mn-cs"/>
                </a:rPr>
                <a:t>输出</a:t>
              </a:r>
            </a:p>
          </p:txBody>
        </p:sp>
        <p:sp>
          <p:nvSpPr>
            <p:cNvPr id="95" name="TextBox 95"/>
            <p:cNvSpPr txBox="1"/>
            <p:nvPr/>
          </p:nvSpPr>
          <p:spPr>
            <a:xfrm>
              <a:off x="3100388" y="4829889"/>
              <a:ext cx="1258634"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61910"/>
                  </a:solidFill>
                  <a:latin typeface="+mn-lt"/>
                  <a:ea typeface="+mn-ea"/>
                  <a:cs typeface="+mn-cs"/>
                </a:rPr>
                <a:t xml:space="preserve">目标客户 + 项目计划      </a:t>
              </a:r>
              <a:br/>
              <a:r>
                <a:rPr lang="zh-CN" sz="790" dirty="0">
                  <a:solidFill>
                    <a:srgbClr val="461910"/>
                  </a:solidFill>
                  <a:latin typeface="+mn-lt"/>
                  <a:ea typeface="+mn-ea"/>
                  <a:cs typeface="+mn-cs"/>
                </a:rPr>
                <a:t xml:space="preserve">+ 成果指标   </a:t>
              </a:r>
            </a:p>
          </p:txBody>
        </p:sp>
      </p:grpSp>
      <p:grpSp>
        <p:nvGrpSpPr>
          <p:cNvPr id="124" name="step-card-3"/>
          <p:cNvGrpSpPr/>
          <p:nvPr/>
        </p:nvGrpSpPr>
        <p:grpSpPr>
          <a:xfrm>
            <a:off x="4838700" y="1123950"/>
            <a:ext cx="2114550" cy="4457700"/>
            <a:chOff x="4838700" y="1123950"/>
            <a:chExt cx="2114550" cy="4457700"/>
          </a:xfrm>
        </p:grpSpPr>
        <p:sp>
          <p:nvSpPr>
            <p:cNvPr id="97" name="Rectangle 97"/>
            <p:cNvSpPr/>
            <p:nvPr/>
          </p:nvSpPr>
          <p:spPr>
            <a:xfrm>
              <a:off x="4838700" y="1123950"/>
              <a:ext cx="2114550" cy="4457700"/>
            </a:xfrm>
            <a:prstGeom prst="roundRect">
              <a:avLst>
                <a:gd name="adj" fmla="val 4505"/>
              </a:avLst>
            </a:prstGeom>
            <a:solidFill>
              <a:srgbClr val="FFFFFF"/>
            </a:solidFill>
            <a:ln w="14288">
              <a:solidFill>
                <a:srgbClr val="C9D6EE"/>
              </a:solidFill>
            </a:ln>
          </p:spPr>
        </p:sp>
        <p:grpSp>
          <p:nvGrpSpPr>
            <p:cNvPr id="101" name="Group 101"/>
            <p:cNvGrpSpPr/>
            <p:nvPr/>
          </p:nvGrpSpPr>
          <p:grpSpPr>
            <a:xfrm>
              <a:off x="5069681" y="1450181"/>
              <a:ext cx="300038" cy="300038"/>
              <a:chOff x="5069681" y="1450181"/>
              <a:chExt cx="300038" cy="300038"/>
            </a:xfrm>
          </p:grpSpPr>
          <p:sp>
            <p:nvSpPr>
              <p:cNvPr id="98" name="Freeform 98"/>
              <p:cNvSpPr/>
              <p:nvPr/>
            </p:nvSpPr>
            <p:spPr>
              <a:xfrm>
                <a:off x="5069681" y="1450181"/>
                <a:ext cx="300038" cy="300038"/>
              </a:xfrm>
              <a:custGeom>
                <a:avLst/>
                <a:gdLst/>
                <a:ahLst/>
                <a:cxnLst/>
                <a:rect l="l" t="t" r="r" b="b"/>
                <a:pathLst>
                  <a:path w="300038" h="300038">
                    <a:moveTo>
                      <a:pt x="0" y="150019"/>
                    </a:moveTo>
                    <a:cubicBezTo>
                      <a:pt x="0" y="232872"/>
                      <a:pt x="67166" y="300038"/>
                      <a:pt x="150019" y="300038"/>
                    </a:cubicBezTo>
                    <a:cubicBezTo>
                      <a:pt x="232872" y="300038"/>
                      <a:pt x="300038" y="232872"/>
                      <a:pt x="300038" y="150019"/>
                    </a:cubicBezTo>
                    <a:cubicBezTo>
                      <a:pt x="300038" y="67166"/>
                      <a:pt x="232872" y="0"/>
                      <a:pt x="150019" y="0"/>
                    </a:cubicBezTo>
                    <a:cubicBezTo>
                      <a:pt x="67166" y="0"/>
                      <a:pt x="0" y="67166"/>
                      <a:pt x="0" y="150019"/>
                    </a:cubicBezTo>
                  </a:path>
                </a:pathLst>
              </a:custGeom>
              <a:noFill/>
              <a:ln w="33338">
                <a:solidFill>
                  <a:srgbClr val="721E0D"/>
                </a:solidFill>
              </a:ln>
            </p:spPr>
          </p:sp>
          <p:sp>
            <p:nvSpPr>
              <p:cNvPr id="99" name="Freeform 99"/>
              <p:cNvSpPr/>
              <p:nvPr/>
            </p:nvSpPr>
            <p:spPr>
              <a:xfrm>
                <a:off x="5169694" y="1533110"/>
                <a:ext cx="100012" cy="134179"/>
              </a:xfrm>
              <a:custGeom>
                <a:avLst/>
                <a:gdLst/>
                <a:ahLst/>
                <a:cxnLst/>
                <a:rect l="l" t="t" r="r" b="b"/>
                <a:pathLst>
                  <a:path w="100012" h="134179">
                    <a:moveTo>
                      <a:pt x="96679" y="17083"/>
                    </a:moveTo>
                    <a:cubicBezTo>
                      <a:pt x="90526" y="6410"/>
                      <a:pt x="78988" y="0"/>
                      <a:pt x="66675" y="415"/>
                    </a:cubicBezTo>
                    <a:lnTo>
                      <a:pt x="33338" y="415"/>
                    </a:lnTo>
                    <a:cubicBezTo>
                      <a:pt x="14926" y="415"/>
                      <a:pt x="0" y="15340"/>
                      <a:pt x="0" y="33752"/>
                    </a:cubicBezTo>
                    <a:cubicBezTo>
                      <a:pt x="0" y="52164"/>
                      <a:pt x="14926" y="67090"/>
                      <a:pt x="33338" y="67090"/>
                    </a:cubicBezTo>
                    <a:lnTo>
                      <a:pt x="66675" y="67090"/>
                    </a:lnTo>
                    <a:cubicBezTo>
                      <a:pt x="85087" y="67090"/>
                      <a:pt x="100012" y="82015"/>
                      <a:pt x="100012" y="100427"/>
                    </a:cubicBezTo>
                    <a:cubicBezTo>
                      <a:pt x="100012" y="118839"/>
                      <a:pt x="85087" y="133765"/>
                      <a:pt x="66675" y="133765"/>
                    </a:cubicBezTo>
                    <a:lnTo>
                      <a:pt x="33338" y="133765"/>
                    </a:lnTo>
                    <a:cubicBezTo>
                      <a:pt x="21025" y="134179"/>
                      <a:pt x="9487" y="127769"/>
                      <a:pt x="3334" y="117096"/>
                    </a:cubicBezTo>
                  </a:path>
                </a:pathLst>
              </a:custGeom>
              <a:noFill/>
              <a:ln w="33338">
                <a:solidFill>
                  <a:srgbClr val="721E0D"/>
                </a:solidFill>
              </a:ln>
            </p:spPr>
          </p:sp>
          <p:sp>
            <p:nvSpPr>
              <p:cNvPr id="100" name="Freeform 100"/>
              <p:cNvSpPr/>
              <p:nvPr/>
            </p:nvSpPr>
            <p:spPr>
              <a:xfrm>
                <a:off x="5219700" y="1516856"/>
                <a:ext cx="9525" cy="166688"/>
              </a:xfrm>
              <a:custGeom>
                <a:avLst/>
                <a:gdLst/>
                <a:ahLst/>
                <a:cxnLst/>
                <a:rect l="l" t="t" r="r" b="b"/>
                <a:pathLst>
                  <a:path w="9525" h="166688">
                    <a:moveTo>
                      <a:pt x="0" y="0"/>
                    </a:moveTo>
                    <a:lnTo>
                      <a:pt x="0" y="166688"/>
                    </a:lnTo>
                  </a:path>
                </a:pathLst>
              </a:custGeom>
              <a:noFill/>
              <a:ln w="33338">
                <a:solidFill>
                  <a:srgbClr val="721E0D"/>
                </a:solidFill>
              </a:ln>
            </p:spPr>
          </p:sp>
        </p:grpSp>
        <p:sp>
          <p:nvSpPr>
            <p:cNvPr id="102" name="TextBox 102"/>
            <p:cNvSpPr txBox="1"/>
            <p:nvPr/>
          </p:nvSpPr>
          <p:spPr>
            <a:xfrm>
              <a:off x="5104549" y="1882616"/>
              <a:ext cx="230302"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收入</a:t>
              </a:r>
            </a:p>
          </p:txBody>
        </p:sp>
        <p:grpSp>
          <p:nvGrpSpPr>
            <p:cNvPr id="105" name="Group 105"/>
            <p:cNvGrpSpPr/>
            <p:nvPr/>
          </p:nvGrpSpPr>
          <p:grpSpPr>
            <a:xfrm>
              <a:off x="5762625" y="1500188"/>
              <a:ext cx="266700" cy="226218"/>
              <a:chOff x="5762625" y="1500188"/>
              <a:chExt cx="266700" cy="226218"/>
            </a:xfrm>
          </p:grpSpPr>
          <p:sp>
            <p:nvSpPr>
              <p:cNvPr id="103" name="Freeform 103"/>
              <p:cNvSpPr/>
              <p:nvPr/>
            </p:nvSpPr>
            <p:spPr>
              <a:xfrm>
                <a:off x="5762625" y="1716881"/>
                <a:ext cx="266700" cy="9525"/>
              </a:xfrm>
              <a:custGeom>
                <a:avLst/>
                <a:gdLst/>
                <a:ahLst/>
                <a:cxnLst/>
                <a:rect l="l" t="t" r="r" b="b"/>
                <a:pathLst>
                  <a:path w="266700" h="9525">
                    <a:moveTo>
                      <a:pt x="0" y="0"/>
                    </a:moveTo>
                    <a:lnTo>
                      <a:pt x="266700" y="0"/>
                    </a:lnTo>
                  </a:path>
                </a:pathLst>
              </a:custGeom>
              <a:noFill/>
              <a:ln w="33338">
                <a:solidFill>
                  <a:srgbClr val="721E0D"/>
                </a:solidFill>
              </a:ln>
            </p:spPr>
          </p:sp>
          <p:sp>
            <p:nvSpPr>
              <p:cNvPr id="104" name="Freeform 104"/>
              <p:cNvSpPr/>
              <p:nvPr/>
            </p:nvSpPr>
            <p:spPr>
              <a:xfrm>
                <a:off x="5762625" y="1500188"/>
                <a:ext cx="266700" cy="150019"/>
              </a:xfrm>
              <a:custGeom>
                <a:avLst/>
                <a:gdLst/>
                <a:ahLst/>
                <a:cxnLst/>
                <a:rect l="l" t="t" r="r" b="b"/>
                <a:pathLst>
                  <a:path w="266700" h="150019">
                    <a:moveTo>
                      <a:pt x="0" y="150019"/>
                    </a:moveTo>
                    <a:lnTo>
                      <a:pt x="66675" y="50006"/>
                    </a:lnTo>
                    <a:lnTo>
                      <a:pt x="133350" y="83344"/>
                    </a:lnTo>
                    <a:lnTo>
                      <a:pt x="200025" y="0"/>
                    </a:lnTo>
                    <a:lnTo>
                      <a:pt x="266700" y="66675"/>
                    </a:lnTo>
                  </a:path>
                </a:pathLst>
              </a:custGeom>
              <a:noFill/>
              <a:ln w="33338">
                <a:solidFill>
                  <a:srgbClr val="721E0D"/>
                </a:solidFill>
              </a:ln>
            </p:spPr>
          </p:sp>
        </p:grpSp>
        <p:sp>
          <p:nvSpPr>
            <p:cNvPr id="106" name="TextBox 106"/>
            <p:cNvSpPr txBox="1"/>
            <p:nvPr/>
          </p:nvSpPr>
          <p:spPr>
            <a:xfrm>
              <a:off x="5780824" y="1882616"/>
              <a:ext cx="230302"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毛利</a:t>
              </a:r>
            </a:p>
          </p:txBody>
        </p:sp>
        <p:grpSp>
          <p:nvGrpSpPr>
            <p:cNvPr id="109" name="Group 109"/>
            <p:cNvGrpSpPr/>
            <p:nvPr/>
          </p:nvGrpSpPr>
          <p:grpSpPr>
            <a:xfrm>
              <a:off x="6417585" y="1453047"/>
              <a:ext cx="301350" cy="301818"/>
              <a:chOff x="6417585" y="1453047"/>
              <a:chExt cx="301350" cy="301818"/>
            </a:xfrm>
          </p:grpSpPr>
          <p:sp>
            <p:nvSpPr>
              <p:cNvPr id="107" name="Freeform 107"/>
              <p:cNvSpPr/>
              <p:nvPr/>
            </p:nvSpPr>
            <p:spPr>
              <a:xfrm>
                <a:off x="6417585" y="1453047"/>
                <a:ext cx="301350" cy="301818"/>
              </a:xfrm>
              <a:custGeom>
                <a:avLst/>
                <a:gdLst/>
                <a:ahLst/>
                <a:cxnLst/>
                <a:rect l="l" t="t" r="r" b="b"/>
                <a:pathLst>
                  <a:path w="301350" h="301818">
                    <a:moveTo>
                      <a:pt x="121328" y="468"/>
                    </a:moveTo>
                    <a:cubicBezTo>
                      <a:pt x="49152" y="17199"/>
                      <a:pt x="0" y="84115"/>
                      <a:pt x="5620" y="157991"/>
                    </a:cubicBezTo>
                    <a:cubicBezTo>
                      <a:pt x="11241" y="231867"/>
                      <a:pt x="69951" y="290577"/>
                      <a:pt x="143826" y="296197"/>
                    </a:cubicBezTo>
                    <a:cubicBezTo>
                      <a:pt x="217702" y="301818"/>
                      <a:pt x="284618" y="252665"/>
                      <a:pt x="301350" y="180490"/>
                    </a:cubicBezTo>
                    <a:cubicBezTo>
                      <a:pt x="301350" y="171284"/>
                      <a:pt x="293887" y="163821"/>
                      <a:pt x="284681" y="163821"/>
                    </a:cubicBezTo>
                    <a:lnTo>
                      <a:pt x="221340" y="163821"/>
                    </a:lnTo>
                    <a:cubicBezTo>
                      <a:pt x="212960" y="196042"/>
                      <a:pt x="182582" y="217536"/>
                      <a:pt x="149409" y="214715"/>
                    </a:cubicBezTo>
                    <a:cubicBezTo>
                      <a:pt x="116236" y="211895"/>
                      <a:pt x="89923" y="185581"/>
                      <a:pt x="87102" y="152408"/>
                    </a:cubicBezTo>
                    <a:cubicBezTo>
                      <a:pt x="84282" y="119236"/>
                      <a:pt x="105776" y="88858"/>
                      <a:pt x="137996" y="80478"/>
                    </a:cubicBezTo>
                    <a:lnTo>
                      <a:pt x="137996" y="13803"/>
                    </a:lnTo>
                    <a:cubicBezTo>
                      <a:pt x="137578" y="9814"/>
                      <a:pt x="135580" y="6158"/>
                      <a:pt x="132448" y="3653"/>
                    </a:cubicBezTo>
                    <a:cubicBezTo>
                      <a:pt x="129316" y="1147"/>
                      <a:pt x="125311" y="0"/>
                      <a:pt x="121328" y="468"/>
                    </a:cubicBezTo>
                  </a:path>
                </a:pathLst>
              </a:custGeom>
              <a:noFill/>
              <a:ln w="33338">
                <a:solidFill>
                  <a:srgbClr val="721E0D"/>
                </a:solidFill>
              </a:ln>
            </p:spPr>
          </p:sp>
          <p:sp>
            <p:nvSpPr>
              <p:cNvPr id="108" name="Freeform 108"/>
              <p:cNvSpPr/>
              <p:nvPr/>
            </p:nvSpPr>
            <p:spPr>
              <a:xfrm>
                <a:off x="6622256" y="1458516"/>
                <a:ext cx="91678" cy="91678"/>
              </a:xfrm>
              <a:custGeom>
                <a:avLst/>
                <a:gdLst/>
                <a:ahLst/>
                <a:cxnLst/>
                <a:rect l="l" t="t" r="r" b="b"/>
                <a:pathLst>
                  <a:path w="91678" h="91678">
                    <a:moveTo>
                      <a:pt x="0" y="0"/>
                    </a:moveTo>
                    <a:cubicBezTo>
                      <a:pt x="42869" y="15095"/>
                      <a:pt x="76584" y="48809"/>
                      <a:pt x="91678" y="91678"/>
                    </a:cubicBezTo>
                    <a:lnTo>
                      <a:pt x="16669" y="91678"/>
                    </a:lnTo>
                    <a:cubicBezTo>
                      <a:pt x="11558" y="85693"/>
                      <a:pt x="5985" y="80120"/>
                      <a:pt x="0" y="75009"/>
                    </a:cubicBezTo>
                    <a:lnTo>
                      <a:pt x="0" y="0"/>
                    </a:lnTo>
                  </a:path>
                </a:pathLst>
              </a:custGeom>
              <a:noFill/>
              <a:ln w="33338">
                <a:solidFill>
                  <a:srgbClr val="721E0D"/>
                </a:solidFill>
              </a:ln>
            </p:spPr>
          </p:sp>
        </p:grpSp>
        <p:sp>
          <p:nvSpPr>
            <p:cNvPr id="110" name="TextBox 110"/>
            <p:cNvSpPr txBox="1"/>
            <p:nvPr/>
          </p:nvSpPr>
          <p:spPr>
            <a:xfrm>
              <a:off x="6352751" y="1882616"/>
              <a:ext cx="438998"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 xml:space="preserve">  </a:t>
              </a:r>
              <a:r>
                <a:rPr lang="en-US" sz="820" dirty="0">
                  <a:solidFill>
                    <a:srgbClr val="461910"/>
                  </a:solidFill>
                  <a:latin typeface="+mn-lt"/>
                  <a:ea typeface="+mn-ea"/>
                  <a:cs typeface="+mn-cs"/>
                </a:rPr>
                <a:t>ROI</a:t>
              </a:r>
              <a:r>
                <a:rPr lang="zh-CN" sz="820" dirty="0">
                  <a:solidFill>
                    <a:srgbClr val="461910"/>
                  </a:solidFill>
                  <a:latin typeface="+mn-lt"/>
                  <a:ea typeface="+mn-ea"/>
                  <a:cs typeface="+mn-cs"/>
                </a:rPr>
                <a:t xml:space="preserve">  </a:t>
              </a:r>
            </a:p>
          </p:txBody>
        </p:sp>
        <p:grpSp>
          <p:nvGrpSpPr>
            <p:cNvPr id="113" name="Group 113"/>
            <p:cNvGrpSpPr/>
            <p:nvPr/>
          </p:nvGrpSpPr>
          <p:grpSpPr>
            <a:xfrm>
              <a:off x="5762625" y="2355769"/>
              <a:ext cx="266700" cy="279563"/>
              <a:chOff x="5762625" y="2355769"/>
              <a:chExt cx="266700" cy="279563"/>
            </a:xfrm>
          </p:grpSpPr>
          <p:sp>
            <p:nvSpPr>
              <p:cNvPr id="111" name="Freeform 111"/>
              <p:cNvSpPr/>
              <p:nvPr/>
            </p:nvSpPr>
            <p:spPr>
              <a:xfrm>
                <a:off x="5762625" y="2355769"/>
                <a:ext cx="266700" cy="123113"/>
              </a:xfrm>
              <a:custGeom>
                <a:avLst/>
                <a:gdLst/>
                <a:ahLst/>
                <a:cxnLst/>
                <a:rect l="l" t="t" r="r" b="b"/>
                <a:pathLst>
                  <a:path w="266700" h="123113">
                    <a:moveTo>
                      <a:pt x="266700" y="123113"/>
                    </a:moveTo>
                    <a:cubicBezTo>
                      <a:pt x="258320" y="62814"/>
                      <a:pt x="210624" y="15581"/>
                      <a:pt x="150247" y="7791"/>
                    </a:cubicBezTo>
                    <a:cubicBezTo>
                      <a:pt x="89869" y="0"/>
                      <a:pt x="31746" y="33579"/>
                      <a:pt x="8334" y="89775"/>
                    </a:cubicBezTo>
                    <a:moveTo>
                      <a:pt x="0" y="23100"/>
                    </a:moveTo>
                    <a:lnTo>
                      <a:pt x="0" y="89775"/>
                    </a:lnTo>
                    <a:lnTo>
                      <a:pt x="66675" y="89775"/>
                    </a:lnTo>
                  </a:path>
                </a:pathLst>
              </a:custGeom>
              <a:noFill/>
              <a:ln w="33338">
                <a:solidFill>
                  <a:srgbClr val="721E0D"/>
                </a:solidFill>
              </a:ln>
            </p:spPr>
          </p:sp>
          <p:sp>
            <p:nvSpPr>
              <p:cNvPr id="112" name="Freeform 112"/>
              <p:cNvSpPr/>
              <p:nvPr/>
            </p:nvSpPr>
            <p:spPr>
              <a:xfrm>
                <a:off x="5762625" y="2512219"/>
                <a:ext cx="266700" cy="123113"/>
              </a:xfrm>
              <a:custGeom>
                <a:avLst/>
                <a:gdLst/>
                <a:ahLst/>
                <a:cxnLst/>
                <a:rect l="l" t="t" r="r" b="b"/>
                <a:pathLst>
                  <a:path w="266700" h="123113">
                    <a:moveTo>
                      <a:pt x="0" y="0"/>
                    </a:moveTo>
                    <a:cubicBezTo>
                      <a:pt x="8380" y="60299"/>
                      <a:pt x="56076" y="107531"/>
                      <a:pt x="116453" y="115322"/>
                    </a:cubicBezTo>
                    <a:cubicBezTo>
                      <a:pt x="176831" y="123113"/>
                      <a:pt x="234954" y="89534"/>
                      <a:pt x="258366" y="33338"/>
                    </a:cubicBezTo>
                    <a:moveTo>
                      <a:pt x="266700" y="100012"/>
                    </a:moveTo>
                    <a:lnTo>
                      <a:pt x="266700" y="33338"/>
                    </a:lnTo>
                    <a:lnTo>
                      <a:pt x="200025" y="33338"/>
                    </a:lnTo>
                  </a:path>
                </a:pathLst>
              </a:custGeom>
              <a:noFill/>
              <a:ln w="33338">
                <a:solidFill>
                  <a:srgbClr val="721E0D"/>
                </a:solidFill>
              </a:ln>
            </p:spPr>
          </p:sp>
        </p:grpSp>
        <p:sp>
          <p:nvSpPr>
            <p:cNvPr id="114" name="TextBox 114"/>
            <p:cNvSpPr txBox="1"/>
            <p:nvPr/>
          </p:nvSpPr>
          <p:spPr>
            <a:xfrm>
              <a:off x="5670436" y="2777966"/>
              <a:ext cx="451079" cy="161925"/>
            </a:xfrm>
            <a:prstGeom prst="rect">
              <a:avLst/>
            </a:prstGeom>
            <a:noFill/>
            <a:ln>
              <a:noFill/>
            </a:ln>
          </p:spPr>
          <p:txBody>
            <a:bodyPr wrap="none" lIns="0" tIns="0" rIns="0" bIns="0" anchor="t" anchorCtr="0">
              <a:spAutoFit/>
            </a:bodyPr>
            <a:lstStyle/>
            <a:p>
              <a:pPr algn="ctr"/>
              <a:r>
                <a:rPr lang="zh-CN" sz="820" dirty="0">
                  <a:solidFill>
                    <a:srgbClr val="461910"/>
                  </a:solidFill>
                  <a:latin typeface="+mn-lt"/>
                  <a:ea typeface="+mn-ea"/>
                  <a:cs typeface="+mn-cs"/>
                </a:rPr>
                <a:t>回收周期</a:t>
              </a:r>
            </a:p>
          </p:txBody>
        </p:sp>
        <p:sp>
          <p:nvSpPr>
            <p:cNvPr id="115" name="Line 115"/>
            <p:cNvSpPr/>
            <p:nvPr/>
          </p:nvSpPr>
          <p:spPr>
            <a:xfrm>
              <a:off x="4953000" y="3181350"/>
              <a:ext cx="1885950" cy="9525"/>
            </a:xfrm>
            <a:custGeom>
              <a:avLst/>
              <a:gdLst/>
              <a:ahLst/>
              <a:cxnLst/>
              <a:rect l="l" t="t" r="r" b="b"/>
              <a:pathLst>
                <a:path w="1885950" h="9525">
                  <a:moveTo>
                    <a:pt x="0" y="0"/>
                  </a:moveTo>
                  <a:lnTo>
                    <a:pt x="1885950" y="0"/>
                  </a:lnTo>
                </a:path>
              </a:pathLst>
            </a:custGeom>
            <a:noFill/>
            <a:ln w="9525">
              <a:solidFill>
                <a:srgbClr val="E6EAF2"/>
              </a:solidFill>
            </a:ln>
          </p:spPr>
        </p:sp>
        <p:sp>
          <p:nvSpPr>
            <p:cNvPr id="116" name="TextBox 116"/>
            <p:cNvSpPr txBox="1"/>
            <p:nvPr/>
          </p:nvSpPr>
          <p:spPr>
            <a:xfrm>
              <a:off x="4967288" y="3401139"/>
              <a:ext cx="1489392" cy="611981"/>
            </a:xfrm>
            <a:prstGeom prst="rect">
              <a:avLst/>
            </a:prstGeom>
            <a:noFill/>
            <a:ln>
              <a:noFill/>
            </a:ln>
          </p:spPr>
          <p:txBody>
            <a:bodyPr wrap="none" lIns="0" tIns="0" rIns="0" bIns="0" anchor="t" anchorCtr="0">
              <a:spAutoFit/>
            </a:bodyPr>
            <a:lstStyle/>
            <a:p>
              <a:pPr algn="l" marL="85280" indent="-85280">
                <a:lnSpc>
                  <a:spcPts val="1800"/>
                </a:lnSpc>
                <a:buClr>
                  <a:srgbClr val="523E3A"/>
                </a:buClr>
                <a:buSzTx/>
                <a:buFontTx/>
                <a:buChar char="•"/>
              </a:pPr>
              <a:r>
                <a:rPr lang="zh-CN" sz="790" dirty="0">
                  <a:solidFill>
                    <a:srgbClr val="523E3A"/>
                  </a:solidFill>
                  <a:latin typeface="+mn-lt"/>
                  <a:ea typeface="+mn-ea"/>
                  <a:cs typeface="+mn-cs"/>
                </a:rPr>
                <a:t>预测收入与毛利贡献</a:t>
              </a:r>
            </a:p>
            <a:p>
              <a:pPr algn="l" marL="85280" indent="-85280">
                <a:lnSpc>
                  <a:spcPts val="1800"/>
                </a:lnSpc>
                <a:buClr>
                  <a:srgbClr val="523E3A"/>
                </a:buClr>
                <a:buSzTx/>
                <a:buFontTx/>
                <a:buChar char="•"/>
              </a:pPr>
              <a:r>
                <a:rPr lang="zh-CN" sz="790" dirty="0">
                  <a:solidFill>
                    <a:srgbClr val="523E3A"/>
                  </a:solidFill>
                  <a:latin typeface="+mn-lt"/>
                  <a:ea typeface="+mn-ea"/>
                  <a:cs typeface="+mn-cs"/>
                </a:rPr>
                <a:t xml:space="preserve">计算投资回报率（ROI）      </a:t>
              </a:r>
            </a:p>
            <a:p>
              <a:pPr algn="l" marL="85280" indent="-85280">
                <a:lnSpc>
                  <a:spcPts val="1800"/>
                </a:lnSpc>
                <a:buClr>
                  <a:srgbClr val="523E3A"/>
                </a:buClr>
                <a:buSzTx/>
                <a:buFontTx/>
                <a:buChar char="•"/>
              </a:pPr>
              <a:r>
                <a:rPr lang="zh-CN" sz="790" dirty="0">
                  <a:solidFill>
                    <a:srgbClr val="523E3A"/>
                  </a:solidFill>
                  <a:latin typeface="+mn-lt"/>
                  <a:ea typeface="+mn-ea"/>
                  <a:cs typeface="+mn-cs"/>
                </a:rPr>
                <a:t>评估回收周期与现金流影响</a:t>
              </a:r>
            </a:p>
          </p:txBody>
        </p:sp>
        <p:sp>
          <p:nvSpPr>
            <p:cNvPr id="117" name="Rectangle 117"/>
            <p:cNvSpPr/>
            <p:nvPr/>
          </p:nvSpPr>
          <p:spPr>
            <a:xfrm>
              <a:off x="4933950" y="4476750"/>
              <a:ext cx="1924050" cy="819150"/>
            </a:xfrm>
            <a:prstGeom prst="roundRect">
              <a:avLst>
                <a:gd name="adj" fmla="val 9302"/>
              </a:avLst>
            </a:prstGeom>
            <a:solidFill>
              <a:srgbClr val="EAF1FB"/>
            </a:solidFill>
            <a:ln>
              <a:noFill/>
            </a:ln>
          </p:spPr>
        </p:sp>
        <p:sp>
          <p:nvSpPr>
            <p:cNvPr id="118" name="Ellipse 118"/>
            <p:cNvSpPr/>
            <p:nvPr/>
          </p:nvSpPr>
          <p:spPr>
            <a:xfrm>
              <a:off x="5010150" y="4610100"/>
              <a:ext cx="304800" cy="304800"/>
            </a:xfrm>
            <a:prstGeom prst="ellipse">
              <a:avLst/>
            </a:prstGeom>
            <a:solidFill>
              <a:srgbClr val="721E0D"/>
            </a:solidFill>
            <a:ln>
              <a:noFill/>
            </a:ln>
          </p:spPr>
        </p:sp>
        <p:grpSp>
          <p:nvGrpSpPr>
            <p:cNvPr id="121" name="Group 121"/>
            <p:cNvGrpSpPr/>
            <p:nvPr/>
          </p:nvGrpSpPr>
          <p:grpSpPr>
            <a:xfrm>
              <a:off x="5099050" y="4714875"/>
              <a:ext cx="127000" cy="112712"/>
              <a:chOff x="5099050" y="4714875"/>
              <a:chExt cx="127000" cy="112712"/>
            </a:xfrm>
          </p:grpSpPr>
          <p:sp>
            <p:nvSpPr>
              <p:cNvPr id="119" name="Freeform 119"/>
              <p:cNvSpPr/>
              <p:nvPr/>
            </p:nvSpPr>
            <p:spPr>
              <a:xfrm>
                <a:off x="5099050" y="4818062"/>
                <a:ext cx="127000" cy="9525"/>
              </a:xfrm>
              <a:custGeom>
                <a:avLst/>
                <a:gdLst/>
                <a:ahLst/>
                <a:cxnLst/>
                <a:rect l="l" t="t" r="r" b="b"/>
                <a:pathLst>
                  <a:path w="127000" h="9525">
                    <a:moveTo>
                      <a:pt x="0" y="0"/>
                    </a:moveTo>
                    <a:lnTo>
                      <a:pt x="127000" y="0"/>
                    </a:lnTo>
                  </a:path>
                </a:pathLst>
              </a:custGeom>
              <a:noFill/>
              <a:ln w="15875">
                <a:solidFill>
                  <a:srgbClr val="FFFFFF"/>
                </a:solidFill>
              </a:ln>
            </p:spPr>
          </p:sp>
          <p:sp>
            <p:nvSpPr>
              <p:cNvPr id="120" name="Freeform 120"/>
              <p:cNvSpPr/>
              <p:nvPr/>
            </p:nvSpPr>
            <p:spPr>
              <a:xfrm>
                <a:off x="5099050" y="4714875"/>
                <a:ext cx="127000" cy="71437"/>
              </a:xfrm>
              <a:custGeom>
                <a:avLst/>
                <a:gdLst/>
                <a:ahLst/>
                <a:cxnLst/>
                <a:rect l="l" t="t" r="r" b="b"/>
                <a:pathLst>
                  <a:path w="127000" h="71437">
                    <a:moveTo>
                      <a:pt x="0" y="71437"/>
                    </a:moveTo>
                    <a:lnTo>
                      <a:pt x="31750" y="23812"/>
                    </a:lnTo>
                    <a:lnTo>
                      <a:pt x="63500" y="39687"/>
                    </a:lnTo>
                    <a:lnTo>
                      <a:pt x="95250" y="0"/>
                    </a:lnTo>
                    <a:lnTo>
                      <a:pt x="127000" y="31750"/>
                    </a:lnTo>
                  </a:path>
                </a:pathLst>
              </a:custGeom>
              <a:noFill/>
              <a:ln w="15875">
                <a:solidFill>
                  <a:srgbClr val="FFFFFF"/>
                </a:solidFill>
              </a:ln>
            </p:spPr>
          </p:sp>
        </p:grpSp>
        <p:sp>
          <p:nvSpPr>
            <p:cNvPr id="122" name="TextBox 122"/>
            <p:cNvSpPr txBox="1"/>
            <p:nvPr/>
          </p:nvSpPr>
          <p:spPr>
            <a:xfrm>
              <a:off x="5405438" y="4627245"/>
              <a:ext cx="251841" cy="176212"/>
            </a:xfrm>
            <a:prstGeom prst="rect">
              <a:avLst/>
            </a:prstGeom>
            <a:noFill/>
            <a:ln>
              <a:noFill/>
            </a:ln>
          </p:spPr>
          <p:txBody>
            <a:bodyPr wrap="none" lIns="0" tIns="0" rIns="0" bIns="0" anchor="t" anchorCtr="0">
              <a:spAutoFit/>
            </a:bodyPr>
            <a:lstStyle/>
            <a:p>
              <a:pPr algn="l"/>
              <a:r>
                <a:rPr lang="zh-CN" sz="900" b="1" dirty="0">
                  <a:solidFill>
                    <a:srgbClr val="721E0D"/>
                  </a:solidFill>
                  <a:latin typeface="+mn-lt"/>
                  <a:ea typeface="+mn-ea"/>
                  <a:cs typeface="+mn-cs"/>
                </a:rPr>
                <a:t>输出</a:t>
              </a:r>
            </a:p>
          </p:txBody>
        </p:sp>
        <p:sp>
          <p:nvSpPr>
            <p:cNvPr id="123" name="TextBox 123"/>
            <p:cNvSpPr txBox="1"/>
            <p:nvPr/>
          </p:nvSpPr>
          <p:spPr>
            <a:xfrm>
              <a:off x="5405438" y="4829889"/>
              <a:ext cx="1258634"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61910"/>
                  </a:solidFill>
                  <a:latin typeface="+mn-lt"/>
                  <a:ea typeface="+mn-ea"/>
                  <a:cs typeface="+mn-cs"/>
                </a:rPr>
                <a:t xml:space="preserve">收入预测 + 毛利贡献      </a:t>
              </a:r>
              <a:br/>
              <a:r>
                <a:rPr lang="zh-CN" sz="790" dirty="0">
                  <a:solidFill>
                    <a:srgbClr val="461910"/>
                  </a:solidFill>
                  <a:latin typeface="+mn-lt"/>
                  <a:ea typeface="+mn-ea"/>
                  <a:cs typeface="+mn-cs"/>
                </a:rPr>
                <a:t xml:space="preserve">+ ROI + 回收周期      </a:t>
              </a:r>
            </a:p>
          </p:txBody>
        </p:sp>
      </p:grpSp>
      <p:grpSp>
        <p:nvGrpSpPr>
          <p:cNvPr id="152" name="step-card-4"/>
          <p:cNvGrpSpPr/>
          <p:nvPr/>
        </p:nvGrpSpPr>
        <p:grpSpPr>
          <a:xfrm>
            <a:off x="7143750" y="1123950"/>
            <a:ext cx="2114550" cy="4457700"/>
            <a:chOff x="7143750" y="1123950"/>
            <a:chExt cx="2114550" cy="4457700"/>
          </a:xfrm>
        </p:grpSpPr>
        <p:sp>
          <p:nvSpPr>
            <p:cNvPr id="125" name="Rectangle 125"/>
            <p:cNvSpPr/>
            <p:nvPr/>
          </p:nvSpPr>
          <p:spPr>
            <a:xfrm>
              <a:off x="7143750" y="1123950"/>
              <a:ext cx="2114550" cy="4457700"/>
            </a:xfrm>
            <a:prstGeom prst="roundRect">
              <a:avLst>
                <a:gd name="adj" fmla="val 4505"/>
              </a:avLst>
            </a:prstGeom>
            <a:solidFill>
              <a:srgbClr val="FFF7F7"/>
            </a:solidFill>
            <a:ln w="14288">
              <a:solidFill>
                <a:srgbClr val="C03616"/>
              </a:solidFill>
            </a:ln>
          </p:spPr>
        </p:sp>
        <p:grpSp>
          <p:nvGrpSpPr>
            <p:cNvPr id="129" name="Group 129"/>
            <p:cNvGrpSpPr/>
            <p:nvPr/>
          </p:nvGrpSpPr>
          <p:grpSpPr>
            <a:xfrm>
              <a:off x="7315200" y="1333500"/>
              <a:ext cx="228599" cy="228599"/>
              <a:chOff x="7315200" y="1333500"/>
              <a:chExt cx="228599" cy="228599"/>
            </a:xfrm>
          </p:grpSpPr>
          <p:sp>
            <p:nvSpPr>
              <p:cNvPr id="126" name="Freeform 126"/>
              <p:cNvSpPr/>
              <p:nvPr/>
            </p:nvSpPr>
            <p:spPr>
              <a:xfrm>
                <a:off x="7416800" y="1435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C03616"/>
                </a:solidFill>
              </a:ln>
            </p:spPr>
          </p:sp>
          <p:sp>
            <p:nvSpPr>
              <p:cNvPr id="127" name="Freeform 127"/>
              <p:cNvSpPr/>
              <p:nvPr/>
            </p:nvSpPr>
            <p:spPr>
              <a:xfrm>
                <a:off x="7366000" y="1384300"/>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C03616"/>
                </a:solidFill>
              </a:ln>
            </p:spPr>
          </p:sp>
          <p:sp>
            <p:nvSpPr>
              <p:cNvPr id="128" name="Freeform 128"/>
              <p:cNvSpPr/>
              <p:nvPr/>
            </p:nvSpPr>
            <p:spPr>
              <a:xfrm>
                <a:off x="7315200" y="133350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C03616"/>
                </a:solidFill>
              </a:ln>
            </p:spPr>
          </p:sp>
        </p:grpSp>
        <p:sp>
          <p:nvSpPr>
            <p:cNvPr id="130" name="TextBox 130"/>
            <p:cNvSpPr txBox="1"/>
            <p:nvPr/>
          </p:nvSpPr>
          <p:spPr>
            <a:xfrm>
              <a:off x="7672388" y="1346597"/>
              <a:ext cx="515696" cy="183356"/>
            </a:xfrm>
            <a:prstGeom prst="rect">
              <a:avLst/>
            </a:prstGeom>
            <a:noFill/>
            <a:ln>
              <a:noFill/>
            </a:ln>
          </p:spPr>
          <p:txBody>
            <a:bodyPr wrap="none" lIns="0" tIns="0" rIns="0" bIns="0" anchor="t" anchorCtr="0">
              <a:spAutoFit/>
            </a:bodyPr>
            <a:lstStyle/>
            <a:p>
              <a:pPr algn="l"/>
              <a:r>
                <a:rPr lang="zh-CN" sz="940" b="1" dirty="0">
                  <a:solidFill>
                    <a:srgbClr val="C03616"/>
                  </a:solidFill>
                  <a:latin typeface="+mn-lt"/>
                  <a:ea typeface="+mn-ea"/>
                  <a:cs typeface="+mn-cs"/>
                </a:rPr>
                <a:t>目标缺口</a:t>
              </a:r>
            </a:p>
          </p:txBody>
        </p:sp>
        <p:sp>
          <p:nvSpPr>
            <p:cNvPr id="131" name="TextBox 131"/>
            <p:cNvSpPr txBox="1"/>
            <p:nvPr/>
          </p:nvSpPr>
          <p:spPr>
            <a:xfrm>
              <a:off x="7672388" y="1523286"/>
              <a:ext cx="774167"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关键指标无法达成</a:t>
              </a:r>
            </a:p>
          </p:txBody>
        </p:sp>
        <p:grpSp>
          <p:nvGrpSpPr>
            <p:cNvPr id="134" name="Group 134"/>
            <p:cNvGrpSpPr/>
            <p:nvPr/>
          </p:nvGrpSpPr>
          <p:grpSpPr>
            <a:xfrm>
              <a:off x="7366000" y="1993900"/>
              <a:ext cx="127000" cy="127000"/>
              <a:chOff x="7366000" y="1993900"/>
              <a:chExt cx="127000" cy="127000"/>
            </a:xfrm>
          </p:grpSpPr>
          <p:sp>
            <p:nvSpPr>
              <p:cNvPr id="132" name="Freeform 132"/>
              <p:cNvSpPr/>
              <p:nvPr/>
            </p:nvSpPr>
            <p:spPr>
              <a:xfrm>
                <a:off x="7366000" y="1993900"/>
                <a:ext cx="127000" cy="127000"/>
              </a:xfrm>
              <a:custGeom>
                <a:avLst/>
                <a:gdLst/>
                <a:ahLst/>
                <a:cxnLst/>
                <a:rect l="l" t="t" r="r" b="b"/>
                <a:pathLst>
                  <a:path w="127000" h="127000">
                    <a:moveTo>
                      <a:pt x="0" y="0"/>
                    </a:moveTo>
                    <a:lnTo>
                      <a:pt x="127000" y="127000"/>
                    </a:lnTo>
                  </a:path>
                </a:pathLst>
              </a:custGeom>
              <a:noFill/>
              <a:ln w="25400">
                <a:solidFill>
                  <a:srgbClr val="C03616"/>
                </a:solidFill>
              </a:ln>
            </p:spPr>
          </p:sp>
          <p:sp>
            <p:nvSpPr>
              <p:cNvPr id="133" name="Freeform 133"/>
              <p:cNvSpPr/>
              <p:nvPr/>
            </p:nvSpPr>
            <p:spPr>
              <a:xfrm>
                <a:off x="7378700" y="2006600"/>
                <a:ext cx="114300" cy="114300"/>
              </a:xfrm>
              <a:custGeom>
                <a:avLst/>
                <a:gdLst/>
                <a:ahLst/>
                <a:cxnLst/>
                <a:rect l="l" t="t" r="r" b="b"/>
                <a:pathLst>
                  <a:path w="114300" h="114300">
                    <a:moveTo>
                      <a:pt x="114300" y="0"/>
                    </a:moveTo>
                    <a:lnTo>
                      <a:pt x="114300" y="114300"/>
                    </a:lnTo>
                    <a:lnTo>
                      <a:pt x="0" y="114300"/>
                    </a:lnTo>
                  </a:path>
                </a:pathLst>
              </a:custGeom>
              <a:noFill/>
              <a:ln w="25400">
                <a:solidFill>
                  <a:srgbClr val="C03616"/>
                </a:solidFill>
              </a:ln>
            </p:spPr>
          </p:sp>
        </p:grpSp>
        <p:sp>
          <p:nvSpPr>
            <p:cNvPr id="135" name="TextBox 135"/>
            <p:cNvSpPr txBox="1"/>
            <p:nvPr/>
          </p:nvSpPr>
          <p:spPr>
            <a:xfrm>
              <a:off x="7672388" y="1956197"/>
              <a:ext cx="515696" cy="183356"/>
            </a:xfrm>
            <a:prstGeom prst="rect">
              <a:avLst/>
            </a:prstGeom>
            <a:noFill/>
            <a:ln>
              <a:noFill/>
            </a:ln>
          </p:spPr>
          <p:txBody>
            <a:bodyPr wrap="none" lIns="0" tIns="0" rIns="0" bIns="0" anchor="t" anchorCtr="0">
              <a:spAutoFit/>
            </a:bodyPr>
            <a:lstStyle/>
            <a:p>
              <a:pPr algn="l"/>
              <a:r>
                <a:rPr lang="zh-CN" sz="940" b="1" dirty="0">
                  <a:solidFill>
                    <a:srgbClr val="C03616"/>
                  </a:solidFill>
                  <a:latin typeface="+mn-lt"/>
                  <a:ea typeface="+mn-ea"/>
                  <a:cs typeface="+mn-cs"/>
                </a:rPr>
                <a:t>机会损失</a:t>
              </a:r>
            </a:p>
          </p:txBody>
        </p:sp>
        <p:sp>
          <p:nvSpPr>
            <p:cNvPr id="136" name="TextBox 136"/>
            <p:cNvSpPr txBox="1"/>
            <p:nvPr/>
          </p:nvSpPr>
          <p:spPr>
            <a:xfrm>
              <a:off x="7672388" y="2132886"/>
              <a:ext cx="869747"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市场窗口与客户流失</a:t>
              </a:r>
            </a:p>
          </p:txBody>
        </p:sp>
        <p:grpSp>
          <p:nvGrpSpPr>
            <p:cNvPr id="140" name="Group 140"/>
            <p:cNvGrpSpPr/>
            <p:nvPr/>
          </p:nvGrpSpPr>
          <p:grpSpPr>
            <a:xfrm>
              <a:off x="7301419" y="2548481"/>
              <a:ext cx="256151" cy="220068"/>
              <a:chOff x="7301419" y="2548481"/>
              <a:chExt cx="256151" cy="220068"/>
            </a:xfrm>
          </p:grpSpPr>
          <p:sp>
            <p:nvSpPr>
              <p:cNvPr id="137" name="Freeform 137"/>
              <p:cNvSpPr/>
              <p:nvPr/>
            </p:nvSpPr>
            <p:spPr>
              <a:xfrm>
                <a:off x="7429500" y="2628900"/>
                <a:ext cx="9525" cy="50800"/>
              </a:xfrm>
              <a:custGeom>
                <a:avLst/>
                <a:gdLst/>
                <a:ahLst/>
                <a:cxnLst/>
                <a:rect l="l" t="t" r="r" b="b"/>
                <a:pathLst>
                  <a:path w="9525" h="50800">
                    <a:moveTo>
                      <a:pt x="0" y="0"/>
                    </a:moveTo>
                    <a:lnTo>
                      <a:pt x="0" y="50800"/>
                    </a:lnTo>
                  </a:path>
                </a:pathLst>
              </a:custGeom>
              <a:noFill/>
              <a:ln w="25400">
                <a:solidFill>
                  <a:srgbClr val="C03616"/>
                </a:solidFill>
              </a:ln>
            </p:spPr>
          </p:sp>
          <p:sp>
            <p:nvSpPr>
              <p:cNvPr id="138" name="Freeform 138"/>
              <p:cNvSpPr/>
              <p:nvPr/>
            </p:nvSpPr>
            <p:spPr>
              <a:xfrm>
                <a:off x="7301419" y="254848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25400">
                <a:solidFill>
                  <a:srgbClr val="C03616"/>
                </a:solidFill>
              </a:ln>
            </p:spPr>
          </p:sp>
          <p:sp>
            <p:nvSpPr>
              <p:cNvPr id="139" name="Freeform 139"/>
              <p:cNvSpPr/>
              <p:nvPr/>
            </p:nvSpPr>
            <p:spPr>
              <a:xfrm>
                <a:off x="7429500" y="2717799"/>
                <a:ext cx="9525" cy="9525"/>
              </a:xfrm>
              <a:custGeom>
                <a:avLst/>
                <a:gdLst/>
                <a:ahLst/>
                <a:cxnLst/>
                <a:rect l="l" t="t" r="r" b="b"/>
                <a:pathLst>
                  <a:path w="9525" h="9525">
                    <a:moveTo>
                      <a:pt x="0" y="0"/>
                    </a:moveTo>
                    <a:lnTo>
                      <a:pt x="127" y="0"/>
                    </a:lnTo>
                  </a:path>
                </a:pathLst>
              </a:custGeom>
              <a:noFill/>
              <a:ln w="25400">
                <a:solidFill>
                  <a:srgbClr val="C03616"/>
                </a:solidFill>
              </a:ln>
            </p:spPr>
          </p:sp>
        </p:grpSp>
        <p:sp>
          <p:nvSpPr>
            <p:cNvPr id="141" name="TextBox 141"/>
            <p:cNvSpPr txBox="1"/>
            <p:nvPr/>
          </p:nvSpPr>
          <p:spPr>
            <a:xfrm>
              <a:off x="7672388" y="2565797"/>
              <a:ext cx="515696" cy="183356"/>
            </a:xfrm>
            <a:prstGeom prst="rect">
              <a:avLst/>
            </a:prstGeom>
            <a:noFill/>
            <a:ln>
              <a:noFill/>
            </a:ln>
          </p:spPr>
          <p:txBody>
            <a:bodyPr wrap="none" lIns="0" tIns="0" rIns="0" bIns="0" anchor="t" anchorCtr="0">
              <a:spAutoFit/>
            </a:bodyPr>
            <a:lstStyle/>
            <a:p>
              <a:pPr algn="l"/>
              <a:r>
                <a:rPr lang="zh-CN" sz="940" b="1" dirty="0">
                  <a:solidFill>
                    <a:srgbClr val="C03616"/>
                  </a:solidFill>
                  <a:latin typeface="+mn-lt"/>
                  <a:ea typeface="+mn-ea"/>
                  <a:cs typeface="+mn-cs"/>
                </a:rPr>
                <a:t>风险清单</a:t>
              </a:r>
            </a:p>
          </p:txBody>
        </p:sp>
        <p:sp>
          <p:nvSpPr>
            <p:cNvPr id="142" name="TextBox 142"/>
            <p:cNvSpPr txBox="1"/>
            <p:nvPr/>
          </p:nvSpPr>
          <p:spPr>
            <a:xfrm>
              <a:off x="7672388" y="2742486"/>
              <a:ext cx="911225" cy="264319"/>
            </a:xfrm>
            <a:prstGeom prst="rect">
              <a:avLst/>
            </a:prstGeom>
            <a:noFill/>
            <a:ln>
              <a:noFill/>
            </a:ln>
          </p:spPr>
          <p:txBody>
            <a:bodyPr wrap="none" lIns="0" tIns="0" rIns="0" bIns="0" anchor="t" anchorCtr="0">
              <a:spAutoFit/>
            </a:bodyPr>
            <a:lstStyle/>
            <a:p>
              <a:pPr algn="l">
                <a:lnSpc>
                  <a:spcPts val="975"/>
                </a:lnSpc>
              </a:pPr>
              <a:r>
                <a:rPr lang="zh-CN" sz="710" dirty="0">
                  <a:solidFill>
                    <a:srgbClr val="523E3A"/>
                  </a:solidFill>
                  <a:latin typeface="+mn-lt"/>
                  <a:ea typeface="+mn-ea"/>
                  <a:cs typeface="+mn-cs"/>
                </a:rPr>
                <a:t>项目延期、预算失控、</a:t>
              </a:r>
              <a:br/>
              <a:r>
                <a:rPr lang="zh-CN" sz="710" dirty="0">
                  <a:solidFill>
                    <a:srgbClr val="523E3A"/>
                  </a:solidFill>
                  <a:latin typeface="+mn-lt"/>
                  <a:ea typeface="+mn-ea"/>
                  <a:cs typeface="+mn-cs"/>
                </a:rPr>
                <a:t>合规与交付风险</a:t>
              </a:r>
            </a:p>
          </p:txBody>
        </p:sp>
        <p:sp>
          <p:nvSpPr>
            <p:cNvPr id="143" name="Line 143"/>
            <p:cNvSpPr/>
            <p:nvPr/>
          </p:nvSpPr>
          <p:spPr>
            <a:xfrm>
              <a:off x="7258050" y="3181350"/>
              <a:ext cx="1885950" cy="9525"/>
            </a:xfrm>
            <a:custGeom>
              <a:avLst/>
              <a:gdLst/>
              <a:ahLst/>
              <a:cxnLst/>
              <a:rect l="l" t="t" r="r" b="b"/>
              <a:pathLst>
                <a:path w="1885950" h="9525">
                  <a:moveTo>
                    <a:pt x="0" y="0"/>
                  </a:moveTo>
                  <a:lnTo>
                    <a:pt x="1885950" y="0"/>
                  </a:lnTo>
                </a:path>
              </a:pathLst>
            </a:custGeom>
            <a:noFill/>
            <a:ln w="9525">
              <a:solidFill>
                <a:srgbClr val="F2C7C9"/>
              </a:solidFill>
            </a:ln>
          </p:spPr>
        </p:sp>
        <p:sp>
          <p:nvSpPr>
            <p:cNvPr id="144" name="TextBox 144"/>
            <p:cNvSpPr txBox="1"/>
            <p:nvPr/>
          </p:nvSpPr>
          <p:spPr>
            <a:xfrm>
              <a:off x="7272338" y="3401139"/>
              <a:ext cx="1198436" cy="611981"/>
            </a:xfrm>
            <a:prstGeom prst="rect">
              <a:avLst/>
            </a:prstGeom>
            <a:noFill/>
            <a:ln>
              <a:noFill/>
            </a:ln>
          </p:spPr>
          <p:txBody>
            <a:bodyPr wrap="none" lIns="0" tIns="0" rIns="0" bIns="0" anchor="t" anchorCtr="0">
              <a:spAutoFit/>
            </a:bodyPr>
            <a:lstStyle/>
            <a:p>
              <a:pPr algn="l" marL="85280" indent="-85280">
                <a:lnSpc>
                  <a:spcPts val="1800"/>
                </a:lnSpc>
                <a:buClr>
                  <a:srgbClr val="523E3A"/>
                </a:buClr>
                <a:buSzTx/>
                <a:buFontTx/>
                <a:buChar char="•"/>
              </a:pPr>
              <a:r>
                <a:rPr lang="zh-CN" sz="790" dirty="0">
                  <a:solidFill>
                    <a:srgbClr val="523E3A"/>
                  </a:solidFill>
                  <a:latin typeface="+mn-lt"/>
                  <a:ea typeface="+mn-ea"/>
                  <a:cs typeface="+mn-cs"/>
                </a:rPr>
                <a:t>量化目标缺口影响</a:t>
              </a:r>
            </a:p>
            <a:p>
              <a:pPr algn="l" marL="85280" indent="-85280">
                <a:lnSpc>
                  <a:spcPts val="1800"/>
                </a:lnSpc>
                <a:buClr>
                  <a:srgbClr val="523E3A"/>
                </a:buClr>
                <a:buSzTx/>
                <a:buFontTx/>
                <a:buChar char="•"/>
              </a:pPr>
              <a:r>
                <a:rPr lang="zh-CN" sz="790" dirty="0">
                  <a:solidFill>
                    <a:srgbClr val="523E3A"/>
                  </a:solidFill>
                  <a:latin typeface="+mn-lt"/>
                  <a:ea typeface="+mn-ea"/>
                  <a:cs typeface="+mn-cs"/>
                </a:rPr>
                <a:t>评估机会损失的财务影响</a:t>
              </a:r>
            </a:p>
            <a:p>
              <a:pPr algn="l" marL="85280" indent="-85280">
                <a:lnSpc>
                  <a:spcPts val="1800"/>
                </a:lnSpc>
                <a:buClr>
                  <a:srgbClr val="523E3A"/>
                </a:buClr>
                <a:buSzTx/>
                <a:buFontTx/>
                <a:buChar char="•"/>
              </a:pPr>
              <a:r>
                <a:rPr lang="zh-CN" sz="790" dirty="0">
                  <a:solidFill>
                    <a:srgbClr val="523E3A"/>
                  </a:solidFill>
                  <a:latin typeface="+mn-lt"/>
                  <a:ea typeface="+mn-ea"/>
                  <a:cs typeface="+mn-cs"/>
                </a:rPr>
                <a:t>列出主要风险与应对措施</a:t>
              </a:r>
            </a:p>
          </p:txBody>
        </p:sp>
        <p:sp>
          <p:nvSpPr>
            <p:cNvPr id="145" name="Rectangle 145"/>
            <p:cNvSpPr/>
            <p:nvPr/>
          </p:nvSpPr>
          <p:spPr>
            <a:xfrm>
              <a:off x="7239000" y="4476750"/>
              <a:ext cx="1924050" cy="819150"/>
            </a:xfrm>
            <a:prstGeom prst="roundRect">
              <a:avLst>
                <a:gd name="adj" fmla="val 9302"/>
              </a:avLst>
            </a:prstGeom>
            <a:solidFill>
              <a:srgbClr val="FDECEC"/>
            </a:solidFill>
            <a:ln>
              <a:noFill/>
            </a:ln>
          </p:spPr>
        </p:sp>
        <p:sp>
          <p:nvSpPr>
            <p:cNvPr id="146" name="Ellipse 146"/>
            <p:cNvSpPr/>
            <p:nvPr/>
          </p:nvSpPr>
          <p:spPr>
            <a:xfrm>
              <a:off x="7315200" y="4610100"/>
              <a:ext cx="304800" cy="304800"/>
            </a:xfrm>
            <a:prstGeom prst="ellipse">
              <a:avLst/>
            </a:prstGeom>
            <a:solidFill>
              <a:srgbClr val="C03616"/>
            </a:solidFill>
            <a:ln>
              <a:noFill/>
            </a:ln>
          </p:spPr>
        </p:sp>
        <p:grpSp>
          <p:nvGrpSpPr>
            <p:cNvPr id="149" name="Group 149"/>
            <p:cNvGrpSpPr/>
            <p:nvPr/>
          </p:nvGrpSpPr>
          <p:grpSpPr>
            <a:xfrm>
              <a:off x="7385450" y="4691062"/>
              <a:ext cx="155005" cy="142875"/>
              <a:chOff x="7385450" y="4691062"/>
              <a:chExt cx="155005" cy="142875"/>
            </a:xfrm>
          </p:grpSpPr>
          <p:sp>
            <p:nvSpPr>
              <p:cNvPr id="147" name="Freeform 147"/>
              <p:cNvSpPr/>
              <p:nvPr/>
            </p:nvSpPr>
            <p:spPr>
              <a:xfrm>
                <a:off x="7385450" y="4691062"/>
                <a:ext cx="155005" cy="141653"/>
              </a:xfrm>
              <a:custGeom>
                <a:avLst/>
                <a:gdLst/>
                <a:ahLst/>
                <a:cxnLst/>
                <a:rect l="l" t="t" r="r" b="b"/>
                <a:pathLst>
                  <a:path w="155005" h="141653">
                    <a:moveTo>
                      <a:pt x="77863" y="141653"/>
                    </a:moveTo>
                    <a:cubicBezTo>
                      <a:pt x="28138" y="126239"/>
                      <a:pt x="0" y="73759"/>
                      <a:pt x="14681" y="23812"/>
                    </a:cubicBezTo>
                    <a:cubicBezTo>
                      <a:pt x="39410" y="24944"/>
                      <a:pt x="63609" y="16403"/>
                      <a:pt x="82150" y="0"/>
                    </a:cubicBezTo>
                    <a:cubicBezTo>
                      <a:pt x="100690" y="16403"/>
                      <a:pt x="124889" y="24944"/>
                      <a:pt x="149618" y="23812"/>
                    </a:cubicBezTo>
                    <a:cubicBezTo>
                      <a:pt x="155005" y="42141"/>
                      <a:pt x="154756" y="61666"/>
                      <a:pt x="148904" y="79851"/>
                    </a:cubicBezTo>
                  </a:path>
                </a:pathLst>
              </a:custGeom>
              <a:noFill/>
              <a:ln w="15875">
                <a:solidFill>
                  <a:srgbClr val="FFFFFF"/>
                </a:solidFill>
              </a:ln>
            </p:spPr>
          </p:sp>
          <p:sp>
            <p:nvSpPr>
              <p:cNvPr id="148" name="Freeform 148"/>
              <p:cNvSpPr/>
              <p:nvPr/>
            </p:nvSpPr>
            <p:spPr>
              <a:xfrm>
                <a:off x="7491412" y="4802187"/>
                <a:ext cx="47625" cy="31750"/>
              </a:xfrm>
              <a:custGeom>
                <a:avLst/>
                <a:gdLst/>
                <a:ahLst/>
                <a:cxnLst/>
                <a:rect l="l" t="t" r="r" b="b"/>
                <a:pathLst>
                  <a:path w="47625" h="31750">
                    <a:moveTo>
                      <a:pt x="0" y="15875"/>
                    </a:moveTo>
                    <a:lnTo>
                      <a:pt x="15875" y="31750"/>
                    </a:lnTo>
                    <a:lnTo>
                      <a:pt x="47625" y="0"/>
                    </a:lnTo>
                  </a:path>
                </a:pathLst>
              </a:custGeom>
              <a:noFill/>
              <a:ln w="15875">
                <a:solidFill>
                  <a:srgbClr val="FFFFFF"/>
                </a:solidFill>
              </a:ln>
            </p:spPr>
          </p:sp>
        </p:grpSp>
        <p:sp>
          <p:nvSpPr>
            <p:cNvPr id="150" name="TextBox 150"/>
            <p:cNvSpPr txBox="1"/>
            <p:nvPr/>
          </p:nvSpPr>
          <p:spPr>
            <a:xfrm>
              <a:off x="7710488" y="4627245"/>
              <a:ext cx="251841" cy="176212"/>
            </a:xfrm>
            <a:prstGeom prst="rect">
              <a:avLst/>
            </a:prstGeom>
            <a:noFill/>
            <a:ln>
              <a:noFill/>
            </a:ln>
          </p:spPr>
          <p:txBody>
            <a:bodyPr wrap="none" lIns="0" tIns="0" rIns="0" bIns="0" anchor="t" anchorCtr="0">
              <a:spAutoFit/>
            </a:bodyPr>
            <a:lstStyle/>
            <a:p>
              <a:pPr algn="l"/>
              <a:r>
                <a:rPr lang="zh-CN" sz="900" b="1" dirty="0">
                  <a:solidFill>
                    <a:srgbClr val="C03616"/>
                  </a:solidFill>
                  <a:latin typeface="+mn-lt"/>
                  <a:ea typeface="+mn-ea"/>
                  <a:cs typeface="+mn-cs"/>
                </a:rPr>
                <a:t>输出</a:t>
              </a:r>
            </a:p>
          </p:txBody>
        </p:sp>
        <p:sp>
          <p:nvSpPr>
            <p:cNvPr id="151" name="TextBox 151"/>
            <p:cNvSpPr txBox="1"/>
            <p:nvPr/>
          </p:nvSpPr>
          <p:spPr>
            <a:xfrm>
              <a:off x="7710488" y="4829889"/>
              <a:ext cx="1258634" cy="307181"/>
            </a:xfrm>
            <a:prstGeom prst="rect">
              <a:avLst/>
            </a:prstGeom>
            <a:noFill/>
            <a:ln>
              <a:noFill/>
            </a:ln>
          </p:spPr>
          <p:txBody>
            <a:bodyPr wrap="none" lIns="0" tIns="0" rIns="0" bIns="0" anchor="t" anchorCtr="0">
              <a:spAutoFit/>
            </a:bodyPr>
            <a:lstStyle/>
            <a:p>
              <a:pPr algn="l">
                <a:lnSpc>
                  <a:spcPts val="1200"/>
                </a:lnSpc>
              </a:pPr>
              <a:r>
                <a:rPr lang="zh-CN" sz="790" dirty="0">
                  <a:solidFill>
                    <a:srgbClr val="461910"/>
                  </a:solidFill>
                  <a:latin typeface="+mn-lt"/>
                  <a:ea typeface="+mn-ea"/>
                  <a:cs typeface="+mn-cs"/>
                </a:rPr>
                <a:t xml:space="preserve">缺口影响 + 机会损失      </a:t>
              </a:r>
              <a:br/>
              <a:r>
                <a:rPr lang="zh-CN" sz="790" dirty="0">
                  <a:solidFill>
                    <a:srgbClr val="461910"/>
                  </a:solidFill>
                  <a:latin typeface="+mn-lt"/>
                  <a:ea typeface="+mn-ea"/>
                  <a:cs typeface="+mn-cs"/>
                </a:rPr>
                <a:t xml:space="preserve">+ 风险清单   </a:t>
              </a:r>
            </a:p>
          </p:txBody>
        </p:sp>
      </p:grpSp>
      <p:grpSp>
        <p:nvGrpSpPr>
          <p:cNvPr id="194" name="tips-sidebar"/>
          <p:cNvGrpSpPr/>
          <p:nvPr/>
        </p:nvGrpSpPr>
        <p:grpSpPr>
          <a:xfrm>
            <a:off x="9486900" y="685800"/>
            <a:ext cx="2476500" cy="4895850"/>
            <a:chOff x="9486900" y="685800"/>
            <a:chExt cx="2476500" cy="4895850"/>
          </a:xfrm>
        </p:grpSpPr>
        <p:sp>
          <p:nvSpPr>
            <p:cNvPr id="153" name="Rectangle 153"/>
            <p:cNvSpPr/>
            <p:nvPr/>
          </p:nvSpPr>
          <p:spPr>
            <a:xfrm>
              <a:off x="9486900" y="685800"/>
              <a:ext cx="2476500" cy="4895850"/>
            </a:xfrm>
            <a:prstGeom prst="roundRect">
              <a:avLst>
                <a:gd name="adj" fmla="val 3846"/>
              </a:avLst>
            </a:prstGeom>
            <a:solidFill>
              <a:srgbClr val="FFFFFF"/>
            </a:solidFill>
            <a:ln w="14288">
              <a:solidFill>
                <a:srgbClr val="C9D6EE"/>
              </a:solidFill>
            </a:ln>
          </p:spPr>
        </p:sp>
        <p:sp>
          <p:nvSpPr>
            <p:cNvPr id="154" name="Freeform 154"/>
            <p:cNvSpPr/>
            <p:nvPr/>
          </p:nvSpPr>
          <p:spPr>
            <a:xfrm>
              <a:off x="9486900" y="685800"/>
              <a:ext cx="2476500" cy="285750"/>
            </a:xfrm>
            <a:custGeom>
              <a:avLst/>
              <a:gdLst/>
              <a:ahLst/>
              <a:cxnLst/>
              <a:rect l="l" t="t" r="r" b="b"/>
              <a:pathLst>
                <a:path w="2476500" h="285750">
                  <a:moveTo>
                    <a:pt x="95250" y="0"/>
                  </a:moveTo>
                  <a:lnTo>
                    <a:pt x="2381250" y="0"/>
                  </a:lnTo>
                  <a:cubicBezTo>
                    <a:pt x="2433855" y="0"/>
                    <a:pt x="2476500" y="42645"/>
                    <a:pt x="2476500" y="95250"/>
                  </a:cubicBezTo>
                  <a:lnTo>
                    <a:pt x="2476500" y="285750"/>
                  </a:lnTo>
                  <a:lnTo>
                    <a:pt x="0" y="285750"/>
                  </a:lnTo>
                  <a:lnTo>
                    <a:pt x="0" y="95250"/>
                  </a:lnTo>
                  <a:cubicBezTo>
                    <a:pt x="0" y="42645"/>
                    <a:pt x="42645" y="0"/>
                    <a:pt x="95250" y="0"/>
                  </a:cubicBezTo>
                  <a:close/>
                </a:path>
              </a:pathLst>
            </a:custGeom>
            <a:solidFill>
              <a:srgbClr val="721E0D"/>
            </a:solidFill>
            <a:ln>
              <a:noFill/>
            </a:ln>
          </p:spPr>
        </p:sp>
        <p:sp>
          <p:nvSpPr>
            <p:cNvPr id="155" name="TextBox 155"/>
            <p:cNvSpPr txBox="1"/>
            <p:nvPr/>
          </p:nvSpPr>
          <p:spPr>
            <a:xfrm>
              <a:off x="9662375" y="779145"/>
              <a:ext cx="212554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 xml:space="preserve">   实操建议（让方案更有说服力）   </a:t>
              </a:r>
            </a:p>
          </p:txBody>
        </p:sp>
        <p:sp>
          <p:nvSpPr>
            <p:cNvPr id="156" name="Ellipse 156"/>
            <p:cNvSpPr/>
            <p:nvPr/>
          </p:nvSpPr>
          <p:spPr>
            <a:xfrm>
              <a:off x="9601200" y="1066800"/>
              <a:ext cx="190500" cy="190500"/>
            </a:xfrm>
            <a:prstGeom prst="ellipse">
              <a:avLst/>
            </a:prstGeom>
            <a:solidFill>
              <a:srgbClr val="721E0D"/>
            </a:solidFill>
            <a:ln>
              <a:noFill/>
            </a:ln>
          </p:spPr>
        </p:sp>
        <p:sp>
          <p:nvSpPr>
            <p:cNvPr id="157" name="TextBox 157"/>
            <p:cNvSpPr txBox="1"/>
            <p:nvPr/>
          </p:nvSpPr>
          <p:spPr>
            <a:xfrm>
              <a:off x="9659813" y="11110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a:t>
              </a:r>
            </a:p>
          </p:txBody>
        </p:sp>
        <p:sp>
          <p:nvSpPr>
            <p:cNvPr id="158" name="TextBox 158"/>
            <p:cNvSpPr txBox="1"/>
            <p:nvPr/>
          </p:nvSpPr>
          <p:spPr>
            <a:xfrm>
              <a:off x="9863138" y="1098947"/>
              <a:ext cx="1148410"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先讲回报，再谈资源</a:t>
              </a:r>
            </a:p>
          </p:txBody>
        </p:sp>
        <p:grpSp>
          <p:nvGrpSpPr>
            <p:cNvPr id="162" name="Group 162"/>
            <p:cNvGrpSpPr/>
            <p:nvPr/>
          </p:nvGrpSpPr>
          <p:grpSpPr>
            <a:xfrm>
              <a:off x="9629775" y="1438275"/>
              <a:ext cx="285751" cy="285751"/>
              <a:chOff x="9629775" y="1438275"/>
              <a:chExt cx="285751" cy="285751"/>
            </a:xfrm>
          </p:grpSpPr>
          <p:sp>
            <p:nvSpPr>
              <p:cNvPr id="159" name="Freeform 159"/>
              <p:cNvSpPr/>
              <p:nvPr/>
            </p:nvSpPr>
            <p:spPr>
              <a:xfrm>
                <a:off x="9756775" y="156527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31750">
                <a:solidFill>
                  <a:srgbClr val="721E0D"/>
                </a:solidFill>
              </a:ln>
            </p:spPr>
          </p:sp>
          <p:sp>
            <p:nvSpPr>
              <p:cNvPr id="160" name="Freeform 160"/>
              <p:cNvSpPr/>
              <p:nvPr/>
            </p:nvSpPr>
            <p:spPr>
              <a:xfrm>
                <a:off x="9693275" y="1501775"/>
                <a:ext cx="158750" cy="158750"/>
              </a:xfrm>
              <a:custGeom>
                <a:avLst/>
                <a:gdLst/>
                <a:ahLst/>
                <a:cxnLst/>
                <a:rect l="l" t="t" r="r" b="b"/>
                <a:pathLst>
                  <a:path w="158750" h="158750">
                    <a:moveTo>
                      <a:pt x="0" y="79375"/>
                    </a:moveTo>
                    <a:cubicBezTo>
                      <a:pt x="0" y="123213"/>
                      <a:pt x="35537" y="158750"/>
                      <a:pt x="79375" y="158750"/>
                    </a:cubicBezTo>
                    <a:cubicBezTo>
                      <a:pt x="123213" y="158750"/>
                      <a:pt x="158750" y="123213"/>
                      <a:pt x="158750" y="79375"/>
                    </a:cubicBezTo>
                    <a:cubicBezTo>
                      <a:pt x="158750" y="35537"/>
                      <a:pt x="123213" y="0"/>
                      <a:pt x="79375" y="0"/>
                    </a:cubicBezTo>
                    <a:cubicBezTo>
                      <a:pt x="35537" y="0"/>
                      <a:pt x="0" y="35537"/>
                      <a:pt x="0" y="79375"/>
                    </a:cubicBezTo>
                  </a:path>
                </a:pathLst>
              </a:custGeom>
              <a:noFill/>
              <a:ln w="31750">
                <a:solidFill>
                  <a:srgbClr val="721E0D"/>
                </a:solidFill>
              </a:ln>
            </p:spPr>
          </p:sp>
          <p:sp>
            <p:nvSpPr>
              <p:cNvPr id="161" name="Freeform 161"/>
              <p:cNvSpPr/>
              <p:nvPr/>
            </p:nvSpPr>
            <p:spPr>
              <a:xfrm>
                <a:off x="9629775" y="1438275"/>
                <a:ext cx="285751" cy="285751"/>
              </a:xfrm>
              <a:custGeom>
                <a:avLst/>
                <a:gdLst/>
                <a:ahLst/>
                <a:cxnLst/>
                <a:rect l="l" t="t" r="r" b="b"/>
                <a:pathLst>
                  <a:path w="285751" h="285751">
                    <a:moveTo>
                      <a:pt x="0" y="142875"/>
                    </a:moveTo>
                    <a:cubicBezTo>
                      <a:pt x="0" y="221783"/>
                      <a:pt x="63967" y="285751"/>
                      <a:pt x="142875" y="285751"/>
                    </a:cubicBezTo>
                    <a:cubicBezTo>
                      <a:pt x="221783" y="285751"/>
                      <a:pt x="285751" y="221783"/>
                      <a:pt x="285751" y="142875"/>
                    </a:cubicBezTo>
                    <a:cubicBezTo>
                      <a:pt x="285751" y="63967"/>
                      <a:pt x="221783" y="0"/>
                      <a:pt x="142875" y="0"/>
                    </a:cubicBezTo>
                    <a:cubicBezTo>
                      <a:pt x="63967" y="0"/>
                      <a:pt x="0" y="63967"/>
                      <a:pt x="0" y="142875"/>
                    </a:cubicBezTo>
                  </a:path>
                </a:pathLst>
              </a:custGeom>
              <a:noFill/>
              <a:ln w="31750">
                <a:solidFill>
                  <a:srgbClr val="721E0D"/>
                </a:solidFill>
              </a:ln>
            </p:spPr>
          </p:sp>
        </p:grpSp>
        <p:sp>
          <p:nvSpPr>
            <p:cNvPr id="163" name="TextBox 163"/>
            <p:cNvSpPr txBox="1"/>
            <p:nvPr/>
          </p:nvSpPr>
          <p:spPr>
            <a:xfrm>
              <a:off x="10053638" y="1408986"/>
              <a:ext cx="1447736" cy="426244"/>
            </a:xfrm>
            <a:prstGeom prst="rect">
              <a:avLst/>
            </a:prstGeom>
            <a:noFill/>
            <a:ln>
              <a:noFill/>
            </a:ln>
          </p:spPr>
          <p:txBody>
            <a:bodyPr wrap="none" lIns="0" tIns="0" rIns="0" bIns="0" anchor="t" anchorCtr="0">
              <a:spAutoFit/>
            </a:bodyPr>
            <a:lstStyle/>
            <a:p>
              <a:pPr algn="l">
                <a:lnSpc>
                  <a:spcPts val="1125"/>
                </a:lnSpc>
              </a:pPr>
              <a:r>
                <a:rPr lang="zh-CN" sz="710" dirty="0">
                  <a:solidFill>
                    <a:srgbClr val="523E3A"/>
                  </a:solidFill>
                  <a:latin typeface="+mn-lt"/>
                  <a:ea typeface="+mn-ea"/>
                  <a:cs typeface="+mn-cs"/>
                </a:rPr>
                <a:t xml:space="preserve">先给出收益与ROI，再对齐      </a:t>
              </a:r>
              <a:br/>
              <a:r>
                <a:rPr lang="zh-CN" sz="710" dirty="0">
                  <a:solidFill>
                    <a:srgbClr val="523E3A"/>
                  </a:solidFill>
                  <a:latin typeface="+mn-lt"/>
                  <a:ea typeface="+mn-ea"/>
                  <a:cs typeface="+mn-cs"/>
                </a:rPr>
                <a:t xml:space="preserve">所需资源，建立“投资—回报”      </a:t>
              </a:r>
              <a:br/>
              <a:r>
                <a:rPr lang="zh-CN" sz="710" dirty="0">
                  <a:solidFill>
                    <a:srgbClr val="523E3A"/>
                  </a:solidFill>
                  <a:latin typeface="+mn-lt"/>
                  <a:ea typeface="+mn-ea"/>
                  <a:cs typeface="+mn-cs"/>
                </a:rPr>
                <a:t>的因果关系。</a:t>
              </a:r>
            </a:p>
          </p:txBody>
        </p:sp>
        <p:sp>
          <p:nvSpPr>
            <p:cNvPr id="164" name="Line 164"/>
            <p:cNvSpPr/>
            <p:nvPr/>
          </p:nvSpPr>
          <p:spPr>
            <a:xfrm>
              <a:off x="9601200" y="2190750"/>
              <a:ext cx="2247900" cy="9525"/>
            </a:xfrm>
            <a:custGeom>
              <a:avLst/>
              <a:gdLst/>
              <a:ahLst/>
              <a:cxnLst/>
              <a:rect l="l" t="t" r="r" b="b"/>
              <a:pathLst>
                <a:path w="2247900" h="9525">
                  <a:moveTo>
                    <a:pt x="0" y="0"/>
                  </a:moveTo>
                  <a:lnTo>
                    <a:pt x="2247900" y="0"/>
                  </a:lnTo>
                </a:path>
              </a:pathLst>
            </a:custGeom>
            <a:noFill/>
            <a:ln w="9525">
              <a:solidFill>
                <a:srgbClr val="E6EAF2"/>
              </a:solidFill>
            </a:ln>
          </p:spPr>
        </p:sp>
        <p:sp>
          <p:nvSpPr>
            <p:cNvPr id="165" name="Ellipse 165"/>
            <p:cNvSpPr/>
            <p:nvPr/>
          </p:nvSpPr>
          <p:spPr>
            <a:xfrm>
              <a:off x="9601200" y="2286000"/>
              <a:ext cx="190500" cy="190500"/>
            </a:xfrm>
            <a:prstGeom prst="ellipse">
              <a:avLst/>
            </a:prstGeom>
            <a:solidFill>
              <a:srgbClr val="721E0D"/>
            </a:solidFill>
            <a:ln>
              <a:noFill/>
            </a:ln>
          </p:spPr>
        </p:sp>
        <p:sp>
          <p:nvSpPr>
            <p:cNvPr id="166" name="TextBox 166"/>
            <p:cNvSpPr txBox="1"/>
            <p:nvPr/>
          </p:nvSpPr>
          <p:spPr>
            <a:xfrm>
              <a:off x="9659813" y="23302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a:t>
              </a:r>
            </a:p>
          </p:txBody>
        </p:sp>
        <p:sp>
          <p:nvSpPr>
            <p:cNvPr id="167" name="TextBox 167"/>
            <p:cNvSpPr txBox="1"/>
            <p:nvPr/>
          </p:nvSpPr>
          <p:spPr>
            <a:xfrm>
              <a:off x="9863138" y="2318147"/>
              <a:ext cx="1274953"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用数据说话，量化一切</a:t>
              </a:r>
            </a:p>
          </p:txBody>
        </p:sp>
        <p:grpSp>
          <p:nvGrpSpPr>
            <p:cNvPr id="170" name="Group 170"/>
            <p:cNvGrpSpPr/>
            <p:nvPr/>
          </p:nvGrpSpPr>
          <p:grpSpPr>
            <a:xfrm>
              <a:off x="9629775" y="2657475"/>
              <a:ext cx="285750" cy="285750"/>
              <a:chOff x="9629775" y="2657475"/>
              <a:chExt cx="285750" cy="285750"/>
            </a:xfrm>
          </p:grpSpPr>
          <p:sp>
            <p:nvSpPr>
              <p:cNvPr id="168" name="Freeform 168"/>
              <p:cNvSpPr/>
              <p:nvPr/>
            </p:nvSpPr>
            <p:spPr>
              <a:xfrm>
                <a:off x="9629775" y="2657475"/>
                <a:ext cx="222250" cy="222250"/>
              </a:xfrm>
              <a:custGeom>
                <a:avLst/>
                <a:gdLst/>
                <a:ahLst/>
                <a:cxnLst/>
                <a:rect l="l" t="t" r="r" b="b"/>
                <a:pathLst>
                  <a:path w="222250" h="222250">
                    <a:moveTo>
                      <a:pt x="0" y="111125"/>
                    </a:moveTo>
                    <a:cubicBezTo>
                      <a:pt x="0" y="172498"/>
                      <a:pt x="49752" y="222250"/>
                      <a:pt x="111125" y="222250"/>
                    </a:cubicBezTo>
                    <a:cubicBezTo>
                      <a:pt x="172498" y="222250"/>
                      <a:pt x="222250" y="172498"/>
                      <a:pt x="222250" y="111125"/>
                    </a:cubicBezTo>
                    <a:cubicBezTo>
                      <a:pt x="222250" y="49752"/>
                      <a:pt x="172498" y="0"/>
                      <a:pt x="111125" y="0"/>
                    </a:cubicBezTo>
                    <a:cubicBezTo>
                      <a:pt x="49752" y="0"/>
                      <a:pt x="0" y="49752"/>
                      <a:pt x="0" y="111125"/>
                    </a:cubicBezTo>
                  </a:path>
                </a:pathLst>
              </a:custGeom>
              <a:noFill/>
              <a:ln w="31750">
                <a:solidFill>
                  <a:srgbClr val="721E0D"/>
                </a:solidFill>
              </a:ln>
            </p:spPr>
          </p:sp>
          <p:sp>
            <p:nvSpPr>
              <p:cNvPr id="169" name="Freeform 169"/>
              <p:cNvSpPr/>
              <p:nvPr/>
            </p:nvSpPr>
            <p:spPr>
              <a:xfrm>
                <a:off x="9820275" y="2847975"/>
                <a:ext cx="95250" cy="95250"/>
              </a:xfrm>
              <a:custGeom>
                <a:avLst/>
                <a:gdLst/>
                <a:ahLst/>
                <a:cxnLst/>
                <a:rect l="l" t="t" r="r" b="b"/>
                <a:pathLst>
                  <a:path w="95250" h="95250">
                    <a:moveTo>
                      <a:pt x="95250" y="95250"/>
                    </a:moveTo>
                    <a:lnTo>
                      <a:pt x="0" y="0"/>
                    </a:lnTo>
                  </a:path>
                </a:pathLst>
              </a:custGeom>
              <a:noFill/>
              <a:ln w="31750">
                <a:solidFill>
                  <a:srgbClr val="721E0D"/>
                </a:solidFill>
              </a:ln>
            </p:spPr>
          </p:sp>
        </p:grpSp>
        <p:sp>
          <p:nvSpPr>
            <p:cNvPr id="171" name="TextBox 171"/>
            <p:cNvSpPr txBox="1"/>
            <p:nvPr/>
          </p:nvSpPr>
          <p:spPr>
            <a:xfrm>
              <a:off x="10053638" y="2628186"/>
              <a:ext cx="1091565" cy="426244"/>
            </a:xfrm>
            <a:prstGeom prst="rect">
              <a:avLst/>
            </a:prstGeom>
            <a:noFill/>
            <a:ln>
              <a:noFill/>
            </a:ln>
          </p:spPr>
          <p:txBody>
            <a:bodyPr wrap="none" lIns="0" tIns="0" rIns="0" bIns="0" anchor="t" anchorCtr="0">
              <a:spAutoFit/>
            </a:bodyPr>
            <a:lstStyle/>
            <a:p>
              <a:pPr algn="l">
                <a:lnSpc>
                  <a:spcPts val="1125"/>
                </a:lnSpc>
              </a:pPr>
              <a:r>
                <a:rPr lang="zh-CN" sz="710" dirty="0">
                  <a:solidFill>
                    <a:srgbClr val="523E3A"/>
                  </a:solidFill>
                  <a:latin typeface="+mn-lt"/>
                  <a:ea typeface="+mn-ea"/>
                  <a:cs typeface="+mn-cs"/>
                </a:rPr>
                <a:t>所有关键假设、指标、影响</a:t>
              </a:r>
              <a:br/>
              <a:r>
                <a:rPr lang="zh-CN" sz="710" dirty="0">
                  <a:solidFill>
                    <a:srgbClr val="523E3A"/>
                  </a:solidFill>
                  <a:latin typeface="+mn-lt"/>
                  <a:ea typeface="+mn-ea"/>
                  <a:cs typeface="+mn-cs"/>
                </a:rPr>
                <a:t>尽量量化，展示测算逻辑与</a:t>
              </a:r>
              <a:br/>
              <a:r>
                <a:rPr lang="zh-CN" sz="710" dirty="0">
                  <a:solidFill>
                    <a:srgbClr val="523E3A"/>
                  </a:solidFill>
                  <a:latin typeface="+mn-lt"/>
                  <a:ea typeface="+mn-ea"/>
                  <a:cs typeface="+mn-cs"/>
                </a:rPr>
                <a:t>来源，减少主观判断。</a:t>
              </a:r>
            </a:p>
          </p:txBody>
        </p:sp>
        <p:sp>
          <p:nvSpPr>
            <p:cNvPr id="172" name="Line 172"/>
            <p:cNvSpPr/>
            <p:nvPr/>
          </p:nvSpPr>
          <p:spPr>
            <a:xfrm>
              <a:off x="9601200" y="3409950"/>
              <a:ext cx="2247900" cy="9525"/>
            </a:xfrm>
            <a:custGeom>
              <a:avLst/>
              <a:gdLst/>
              <a:ahLst/>
              <a:cxnLst/>
              <a:rect l="l" t="t" r="r" b="b"/>
              <a:pathLst>
                <a:path w="2247900" h="9525">
                  <a:moveTo>
                    <a:pt x="0" y="0"/>
                  </a:moveTo>
                  <a:lnTo>
                    <a:pt x="2247900" y="0"/>
                  </a:lnTo>
                </a:path>
              </a:pathLst>
            </a:custGeom>
            <a:noFill/>
            <a:ln w="9525">
              <a:solidFill>
                <a:srgbClr val="E6EAF2"/>
              </a:solidFill>
            </a:ln>
          </p:spPr>
        </p:sp>
        <p:sp>
          <p:nvSpPr>
            <p:cNvPr id="173" name="Ellipse 173"/>
            <p:cNvSpPr/>
            <p:nvPr/>
          </p:nvSpPr>
          <p:spPr>
            <a:xfrm>
              <a:off x="9601200" y="3505200"/>
              <a:ext cx="190500" cy="190500"/>
            </a:xfrm>
            <a:prstGeom prst="ellipse">
              <a:avLst/>
            </a:prstGeom>
            <a:solidFill>
              <a:srgbClr val="721E0D"/>
            </a:solidFill>
            <a:ln>
              <a:noFill/>
            </a:ln>
          </p:spPr>
        </p:sp>
        <p:sp>
          <p:nvSpPr>
            <p:cNvPr id="174" name="TextBox 174"/>
            <p:cNvSpPr txBox="1"/>
            <p:nvPr/>
          </p:nvSpPr>
          <p:spPr>
            <a:xfrm>
              <a:off x="9659813" y="35494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a:t>
              </a:r>
            </a:p>
          </p:txBody>
        </p:sp>
        <p:sp>
          <p:nvSpPr>
            <p:cNvPr id="175" name="TextBox 175"/>
            <p:cNvSpPr txBox="1"/>
            <p:nvPr/>
          </p:nvSpPr>
          <p:spPr>
            <a:xfrm>
              <a:off x="9863138" y="3537347"/>
              <a:ext cx="1021867"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有风险，更有对策</a:t>
              </a:r>
            </a:p>
          </p:txBody>
        </p:sp>
        <p:grpSp>
          <p:nvGrpSpPr>
            <p:cNvPr id="178" name="Group 178"/>
            <p:cNvGrpSpPr/>
            <p:nvPr/>
          </p:nvGrpSpPr>
          <p:grpSpPr>
            <a:xfrm>
              <a:off x="9608351" y="3876675"/>
              <a:ext cx="310011" cy="285751"/>
              <a:chOff x="9608351" y="3876675"/>
              <a:chExt cx="310011" cy="285751"/>
            </a:xfrm>
          </p:grpSpPr>
          <p:sp>
            <p:nvSpPr>
              <p:cNvPr id="176" name="Freeform 176"/>
              <p:cNvSpPr/>
              <p:nvPr/>
            </p:nvSpPr>
            <p:spPr>
              <a:xfrm>
                <a:off x="9608351" y="3876675"/>
                <a:ext cx="310011" cy="283306"/>
              </a:xfrm>
              <a:custGeom>
                <a:avLst/>
                <a:gdLst/>
                <a:ahLst/>
                <a:cxnLst/>
                <a:rect l="l" t="t" r="r" b="b"/>
                <a:pathLst>
                  <a:path w="310011" h="283306">
                    <a:moveTo>
                      <a:pt x="155727" y="283306"/>
                    </a:moveTo>
                    <a:cubicBezTo>
                      <a:pt x="56277" y="252479"/>
                      <a:pt x="0" y="147517"/>
                      <a:pt x="29362" y="47625"/>
                    </a:cubicBezTo>
                    <a:cubicBezTo>
                      <a:pt x="78821" y="49888"/>
                      <a:pt x="127218" y="32807"/>
                      <a:pt x="164299" y="0"/>
                    </a:cubicBezTo>
                    <a:cubicBezTo>
                      <a:pt x="201381" y="32807"/>
                      <a:pt x="249778" y="49888"/>
                      <a:pt x="299237" y="47625"/>
                    </a:cubicBezTo>
                    <a:cubicBezTo>
                      <a:pt x="310011" y="84282"/>
                      <a:pt x="309513" y="123332"/>
                      <a:pt x="297808" y="159703"/>
                    </a:cubicBezTo>
                  </a:path>
                </a:pathLst>
              </a:custGeom>
              <a:noFill/>
              <a:ln w="31750">
                <a:solidFill>
                  <a:srgbClr val="721E0D"/>
                </a:solidFill>
              </a:ln>
            </p:spPr>
          </p:sp>
          <p:sp>
            <p:nvSpPr>
              <p:cNvPr id="177" name="Freeform 177"/>
              <p:cNvSpPr/>
              <p:nvPr/>
            </p:nvSpPr>
            <p:spPr>
              <a:xfrm>
                <a:off x="9820275" y="4098926"/>
                <a:ext cx="95250" cy="63500"/>
              </a:xfrm>
              <a:custGeom>
                <a:avLst/>
                <a:gdLst/>
                <a:ahLst/>
                <a:cxnLst/>
                <a:rect l="l" t="t" r="r" b="b"/>
                <a:pathLst>
                  <a:path w="95250" h="63500">
                    <a:moveTo>
                      <a:pt x="0" y="31750"/>
                    </a:moveTo>
                    <a:lnTo>
                      <a:pt x="31750" y="63500"/>
                    </a:lnTo>
                    <a:lnTo>
                      <a:pt x="95250" y="0"/>
                    </a:lnTo>
                  </a:path>
                </a:pathLst>
              </a:custGeom>
              <a:noFill/>
              <a:ln w="31750">
                <a:solidFill>
                  <a:srgbClr val="721E0D"/>
                </a:solidFill>
              </a:ln>
            </p:spPr>
          </p:sp>
        </p:grpSp>
        <p:sp>
          <p:nvSpPr>
            <p:cNvPr id="179" name="TextBox 179"/>
            <p:cNvSpPr txBox="1"/>
            <p:nvPr/>
          </p:nvSpPr>
          <p:spPr>
            <a:xfrm>
              <a:off x="10053638" y="3847386"/>
              <a:ext cx="1091565" cy="426244"/>
            </a:xfrm>
            <a:prstGeom prst="rect">
              <a:avLst/>
            </a:prstGeom>
            <a:noFill/>
            <a:ln>
              <a:noFill/>
            </a:ln>
          </p:spPr>
          <p:txBody>
            <a:bodyPr wrap="none" lIns="0" tIns="0" rIns="0" bIns="0" anchor="t" anchorCtr="0">
              <a:spAutoFit/>
            </a:bodyPr>
            <a:lstStyle/>
            <a:p>
              <a:pPr algn="l">
                <a:lnSpc>
                  <a:spcPts val="1125"/>
                </a:lnSpc>
              </a:pPr>
              <a:r>
                <a:rPr lang="zh-CN" sz="710" dirty="0">
                  <a:solidFill>
                    <a:srgbClr val="523E3A"/>
                  </a:solidFill>
                  <a:latin typeface="+mn-lt"/>
                  <a:ea typeface="+mn-ea"/>
                  <a:cs typeface="+mn-cs"/>
                </a:rPr>
                <a:t>主动识别风险与不确定性，</a:t>
              </a:r>
              <a:br/>
              <a:r>
                <a:rPr lang="zh-CN" sz="710" dirty="0">
                  <a:solidFill>
                    <a:srgbClr val="523E3A"/>
                  </a:solidFill>
                  <a:latin typeface="+mn-lt"/>
                  <a:ea typeface="+mn-ea"/>
                  <a:cs typeface="+mn-cs"/>
                </a:rPr>
                <a:t>提出应对策略与备选方案，</a:t>
              </a:r>
              <a:br/>
              <a:r>
                <a:rPr lang="zh-CN" sz="710" dirty="0">
                  <a:solidFill>
                    <a:srgbClr val="523E3A"/>
                  </a:solidFill>
                  <a:latin typeface="+mn-lt"/>
                  <a:ea typeface="+mn-ea"/>
                  <a:cs typeface="+mn-cs"/>
                </a:rPr>
                <a:t>增强方案的可信度。</a:t>
              </a:r>
            </a:p>
          </p:txBody>
        </p:sp>
        <p:sp>
          <p:nvSpPr>
            <p:cNvPr id="180" name="Rectangle 180"/>
            <p:cNvSpPr/>
            <p:nvPr/>
          </p:nvSpPr>
          <p:spPr>
            <a:xfrm>
              <a:off x="9582150" y="4724400"/>
              <a:ext cx="2286000" cy="781050"/>
            </a:xfrm>
            <a:prstGeom prst="roundRect">
              <a:avLst>
                <a:gd name="adj" fmla="val 7317"/>
              </a:avLst>
            </a:prstGeom>
            <a:solidFill>
              <a:srgbClr val="F5F8FD"/>
            </a:solidFill>
            <a:ln w="9525">
              <a:solidFill>
                <a:srgbClr val="C9D6EE"/>
              </a:solidFill>
            </a:ln>
          </p:spPr>
        </p:sp>
        <p:sp>
          <p:nvSpPr>
            <p:cNvPr id="181" name="TextBox 181"/>
            <p:cNvSpPr txBox="1"/>
            <p:nvPr/>
          </p:nvSpPr>
          <p:spPr>
            <a:xfrm>
              <a:off x="9672638" y="4795838"/>
              <a:ext cx="615315" cy="147638"/>
            </a:xfrm>
            <a:prstGeom prst="rect">
              <a:avLst/>
            </a:prstGeom>
            <a:noFill/>
            <a:ln>
              <a:noFill/>
            </a:ln>
          </p:spPr>
          <p:txBody>
            <a:bodyPr wrap="none" lIns="0" tIns="0" rIns="0" bIns="0" anchor="t" anchorCtr="0">
              <a:spAutoFit/>
            </a:bodyPr>
            <a:lstStyle/>
            <a:p>
              <a:pPr algn="l"/>
              <a:r>
                <a:rPr lang="zh-CN" sz="750" b="1" dirty="0">
                  <a:solidFill>
                    <a:srgbClr val="721E0D"/>
                  </a:solidFill>
                  <a:latin typeface="+mn-lt"/>
                  <a:ea typeface="+mn-ea"/>
                  <a:cs typeface="+mn-cs"/>
                </a:rPr>
                <a:t>方案自检清单</a:t>
              </a:r>
            </a:p>
          </p:txBody>
        </p:sp>
        <p:sp>
          <p:nvSpPr>
            <p:cNvPr id="182" name="Rectangle 182"/>
            <p:cNvSpPr/>
            <p:nvPr/>
          </p:nvSpPr>
          <p:spPr>
            <a:xfrm>
              <a:off x="9677400" y="5010150"/>
              <a:ext cx="76200" cy="76200"/>
            </a:xfrm>
            <a:prstGeom prst="rect">
              <a:avLst/>
            </a:prstGeom>
            <a:solidFill>
              <a:srgbClr val="FFFFFF"/>
            </a:solidFill>
            <a:ln w="9525">
              <a:solidFill>
                <a:srgbClr val="721E0D"/>
              </a:solidFill>
            </a:ln>
          </p:spPr>
        </p:sp>
        <p:sp>
          <p:nvSpPr>
            <p:cNvPr id="183" name="TextBox 183"/>
            <p:cNvSpPr txBox="1"/>
            <p:nvPr/>
          </p:nvSpPr>
          <p:spPr>
            <a:xfrm>
              <a:off x="9786938" y="5016818"/>
              <a:ext cx="574929"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目标清晰可衡量</a:t>
              </a:r>
            </a:p>
          </p:txBody>
        </p:sp>
        <p:sp>
          <p:nvSpPr>
            <p:cNvPr id="184" name="Rectangle 184"/>
            <p:cNvSpPr/>
            <p:nvPr/>
          </p:nvSpPr>
          <p:spPr>
            <a:xfrm>
              <a:off x="10782300" y="5010150"/>
              <a:ext cx="76200" cy="76200"/>
            </a:xfrm>
            <a:prstGeom prst="rect">
              <a:avLst/>
            </a:prstGeom>
            <a:solidFill>
              <a:srgbClr val="FFFFFF"/>
            </a:solidFill>
            <a:ln w="9525">
              <a:solidFill>
                <a:srgbClr val="721E0D"/>
              </a:solidFill>
            </a:ln>
          </p:spPr>
        </p:sp>
        <p:sp>
          <p:nvSpPr>
            <p:cNvPr id="185" name="TextBox 185"/>
            <p:cNvSpPr txBox="1"/>
            <p:nvPr/>
          </p:nvSpPr>
          <p:spPr>
            <a:xfrm>
              <a:off x="10891838" y="5016818"/>
              <a:ext cx="494157"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风险识别完整</a:t>
              </a:r>
            </a:p>
          </p:txBody>
        </p:sp>
        <p:sp>
          <p:nvSpPr>
            <p:cNvPr id="186" name="Rectangle 186"/>
            <p:cNvSpPr/>
            <p:nvPr/>
          </p:nvSpPr>
          <p:spPr>
            <a:xfrm>
              <a:off x="9677400" y="5162550"/>
              <a:ext cx="76200" cy="76200"/>
            </a:xfrm>
            <a:prstGeom prst="rect">
              <a:avLst/>
            </a:prstGeom>
            <a:solidFill>
              <a:srgbClr val="FFFFFF"/>
            </a:solidFill>
            <a:ln w="9525">
              <a:solidFill>
                <a:srgbClr val="721E0D"/>
              </a:solidFill>
            </a:ln>
          </p:spPr>
        </p:sp>
        <p:sp>
          <p:nvSpPr>
            <p:cNvPr id="187" name="TextBox 187"/>
            <p:cNvSpPr txBox="1"/>
            <p:nvPr/>
          </p:nvSpPr>
          <p:spPr>
            <a:xfrm>
              <a:off x="9786938" y="5169218"/>
              <a:ext cx="736473"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回报可量化、可验证</a:t>
              </a:r>
            </a:p>
          </p:txBody>
        </p:sp>
        <p:sp>
          <p:nvSpPr>
            <p:cNvPr id="188" name="Rectangle 188"/>
            <p:cNvSpPr/>
            <p:nvPr/>
          </p:nvSpPr>
          <p:spPr>
            <a:xfrm>
              <a:off x="10782300" y="5162550"/>
              <a:ext cx="76200" cy="76200"/>
            </a:xfrm>
            <a:prstGeom prst="rect">
              <a:avLst/>
            </a:prstGeom>
            <a:solidFill>
              <a:srgbClr val="FFFFFF"/>
            </a:solidFill>
            <a:ln w="9525">
              <a:solidFill>
                <a:srgbClr val="721E0D"/>
              </a:solidFill>
            </a:ln>
          </p:spPr>
        </p:sp>
        <p:sp>
          <p:nvSpPr>
            <p:cNvPr id="189" name="TextBox 189"/>
            <p:cNvSpPr txBox="1"/>
            <p:nvPr/>
          </p:nvSpPr>
          <p:spPr>
            <a:xfrm>
              <a:off x="10891838" y="5169218"/>
              <a:ext cx="736473"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对策与备选方案充分</a:t>
              </a:r>
            </a:p>
          </p:txBody>
        </p:sp>
        <p:sp>
          <p:nvSpPr>
            <p:cNvPr id="190" name="Rectangle 190"/>
            <p:cNvSpPr/>
            <p:nvPr/>
          </p:nvSpPr>
          <p:spPr>
            <a:xfrm>
              <a:off x="9677400" y="5314950"/>
              <a:ext cx="76200" cy="76200"/>
            </a:xfrm>
            <a:prstGeom prst="rect">
              <a:avLst/>
            </a:prstGeom>
            <a:solidFill>
              <a:srgbClr val="FFFFFF"/>
            </a:solidFill>
            <a:ln w="9525">
              <a:solidFill>
                <a:srgbClr val="721E0D"/>
              </a:solidFill>
            </a:ln>
          </p:spPr>
        </p:sp>
        <p:sp>
          <p:nvSpPr>
            <p:cNvPr id="191" name="TextBox 191"/>
            <p:cNvSpPr txBox="1"/>
            <p:nvPr/>
          </p:nvSpPr>
          <p:spPr>
            <a:xfrm>
              <a:off x="9786938" y="5321618"/>
              <a:ext cx="898017"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资源需求合理且匹配目标</a:t>
              </a:r>
            </a:p>
          </p:txBody>
        </p:sp>
        <p:sp>
          <p:nvSpPr>
            <p:cNvPr id="192" name="Rectangle 192"/>
            <p:cNvSpPr/>
            <p:nvPr/>
          </p:nvSpPr>
          <p:spPr>
            <a:xfrm>
              <a:off x="10782300" y="5314950"/>
              <a:ext cx="76200" cy="76200"/>
            </a:xfrm>
            <a:prstGeom prst="rect">
              <a:avLst/>
            </a:prstGeom>
            <a:solidFill>
              <a:srgbClr val="FFFFFF"/>
            </a:solidFill>
            <a:ln w="9525">
              <a:solidFill>
                <a:srgbClr val="721E0D"/>
              </a:solidFill>
            </a:ln>
          </p:spPr>
        </p:sp>
        <p:sp>
          <p:nvSpPr>
            <p:cNvPr id="193" name="TextBox 193"/>
            <p:cNvSpPr txBox="1"/>
            <p:nvPr/>
          </p:nvSpPr>
          <p:spPr>
            <a:xfrm>
              <a:off x="10891838" y="5321618"/>
              <a:ext cx="817245" cy="119062"/>
            </a:xfrm>
            <a:prstGeom prst="rect">
              <a:avLst/>
            </a:prstGeom>
            <a:noFill/>
            <a:ln>
              <a:noFill/>
            </a:ln>
          </p:spPr>
          <p:txBody>
            <a:bodyPr wrap="none" lIns="0" tIns="0" rIns="0" bIns="0" anchor="t" anchorCtr="0">
              <a:spAutoFit/>
            </a:bodyPr>
            <a:lstStyle/>
            <a:p>
              <a:pPr algn="l"/>
              <a:r>
                <a:rPr lang="zh-CN" sz="600" dirty="0">
                  <a:solidFill>
                    <a:srgbClr val="523E3A"/>
                  </a:solidFill>
                  <a:latin typeface="+mn-lt"/>
                  <a:ea typeface="+mn-ea"/>
                  <a:cs typeface="+mn-cs"/>
                </a:rPr>
                <a:t>里程碑与验收标准明确</a:t>
              </a:r>
            </a:p>
          </p:txBody>
        </p:sp>
      </p:grpSp>
      <p:grpSp>
        <p:nvGrpSpPr>
          <p:cNvPr id="203" name="takeaway-banner"/>
          <p:cNvGrpSpPr/>
          <p:nvPr/>
        </p:nvGrpSpPr>
        <p:grpSpPr>
          <a:xfrm>
            <a:off x="228600" y="5695950"/>
            <a:ext cx="11734800" cy="552450"/>
            <a:chOff x="228600" y="5695950"/>
            <a:chExt cx="11734800" cy="552450"/>
          </a:xfrm>
        </p:grpSpPr>
        <p:sp>
          <p:nvSpPr>
            <p:cNvPr id="195" name="Rectangle 195"/>
            <p:cNvSpPr/>
            <p:nvPr/>
          </p:nvSpPr>
          <p:spPr>
            <a:xfrm>
              <a:off x="228600" y="5695950"/>
              <a:ext cx="11734800" cy="552450"/>
            </a:xfrm>
            <a:prstGeom prst="roundRect">
              <a:avLst>
                <a:gd name="adj" fmla="val 17241"/>
              </a:avLst>
            </a:prstGeom>
            <a:solidFill>
              <a:srgbClr val="721E0D"/>
            </a:solidFill>
            <a:ln>
              <a:noFill/>
            </a:ln>
          </p:spPr>
        </p:sp>
        <p:sp>
          <p:nvSpPr>
            <p:cNvPr id="196" name="Ellipse 196"/>
            <p:cNvSpPr/>
            <p:nvPr/>
          </p:nvSpPr>
          <p:spPr>
            <a:xfrm>
              <a:off x="2257425" y="5791200"/>
              <a:ext cx="361950" cy="361950"/>
            </a:xfrm>
            <a:prstGeom prst="ellipse">
              <a:avLst/>
            </a:prstGeom>
            <a:solidFill>
              <a:srgbClr val="FFFFFF"/>
            </a:solidFill>
            <a:ln>
              <a:noFill/>
            </a:ln>
          </p:spPr>
        </p:sp>
        <p:grpSp>
          <p:nvGrpSpPr>
            <p:cNvPr id="201" name="Group 201"/>
            <p:cNvGrpSpPr/>
            <p:nvPr/>
          </p:nvGrpSpPr>
          <p:grpSpPr>
            <a:xfrm>
              <a:off x="2352675" y="5895975"/>
              <a:ext cx="171450" cy="161925"/>
              <a:chOff x="2352675" y="5895975"/>
              <a:chExt cx="171450" cy="161925"/>
            </a:xfrm>
          </p:grpSpPr>
          <p:sp>
            <p:nvSpPr>
              <p:cNvPr id="197" name="Freeform 197"/>
              <p:cNvSpPr/>
              <p:nvPr/>
            </p:nvSpPr>
            <p:spPr>
              <a:xfrm>
                <a:off x="2352675" y="5972175"/>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721E0D"/>
                </a:solidFill>
              </a:ln>
            </p:spPr>
          </p:sp>
          <p:sp>
            <p:nvSpPr>
              <p:cNvPr id="198" name="Freeform 198"/>
              <p:cNvSpPr/>
              <p:nvPr/>
            </p:nvSpPr>
            <p:spPr>
              <a:xfrm>
                <a:off x="2466975" y="5934075"/>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721E0D"/>
                </a:solidFill>
              </a:ln>
            </p:spPr>
          </p:sp>
          <p:sp>
            <p:nvSpPr>
              <p:cNvPr id="199" name="Freeform 199"/>
              <p:cNvSpPr/>
              <p:nvPr/>
            </p:nvSpPr>
            <p:spPr>
              <a:xfrm>
                <a:off x="2409825" y="5895975"/>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721E0D"/>
                </a:solidFill>
              </a:ln>
            </p:spPr>
          </p:sp>
          <p:sp>
            <p:nvSpPr>
              <p:cNvPr id="200" name="Freeform 200"/>
              <p:cNvSpPr/>
              <p:nvPr/>
            </p:nvSpPr>
            <p:spPr>
              <a:xfrm>
                <a:off x="2362200" y="6048375"/>
                <a:ext cx="133350" cy="9525"/>
              </a:xfrm>
              <a:custGeom>
                <a:avLst/>
                <a:gdLst/>
                <a:ahLst/>
                <a:cxnLst/>
                <a:rect l="l" t="t" r="r" b="b"/>
                <a:pathLst>
                  <a:path w="133350" h="9525">
                    <a:moveTo>
                      <a:pt x="0" y="0"/>
                    </a:moveTo>
                    <a:lnTo>
                      <a:pt x="133350" y="0"/>
                    </a:lnTo>
                  </a:path>
                </a:pathLst>
              </a:custGeom>
              <a:noFill/>
              <a:ln w="19050">
                <a:solidFill>
                  <a:srgbClr val="721E0D"/>
                </a:solidFill>
              </a:ln>
            </p:spPr>
          </p:sp>
        </p:grpSp>
        <p:sp>
          <p:nvSpPr>
            <p:cNvPr id="202" name="TextBox 202"/>
            <p:cNvSpPr txBox="1"/>
            <p:nvPr/>
          </p:nvSpPr>
          <p:spPr>
            <a:xfrm>
              <a:off x="2735580" y="5886450"/>
              <a:ext cx="688086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mn-lt"/>
                  <a:ea typeface="+mn-ea"/>
                  <a:cs typeface="+mn-cs"/>
                </a:rPr>
                <a:t>用投资回报率替代成本，用具体方案替代笼统请求，用风险对冲替代情绪表达</a:t>
              </a:r>
            </a:p>
          </p:txBody>
        </p:sp>
      </p:gr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16668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12</a:t>
              </a:r>
            </a:p>
          </p:txBody>
        </p:sp>
        <p:sp>
          <p:nvSpPr>
            <p:cNvPr id="4" name="TextBox 4"/>
            <p:cNvSpPr txBox="1"/>
            <p:nvPr/>
          </p:nvSpPr>
          <p:spPr>
            <a:xfrm>
              <a:off x="904494" y="180023"/>
              <a:ext cx="6120546"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资源投入产出测算：每一笔资源都要</a:t>
              </a:r>
              <a:r>
                <a:rPr lang="zh-CN" sz="1950" b="1" dirty="0">
                  <a:solidFill>
                    <a:srgbClr val="B8351A"/>
                  </a:solidFill>
                  <a:latin typeface="+mn-lt"/>
                  <a:ea typeface="+mn-ea"/>
                  <a:cs typeface="+mn-cs"/>
                </a:rPr>
                <a:t>算清ROI</a:t>
              </a:r>
              <a:r>
                <a:rPr lang="zh-CN" sz="1950" b="1" dirty="0">
                  <a:solidFill>
                    <a:srgbClr val="461910"/>
                  </a:solidFill>
                  <a:latin typeface="+mn-lt"/>
                  <a:ea typeface="+mn-ea"/>
                  <a:cs typeface="+mn-cs"/>
                </a:rPr>
                <a:t xml:space="preserve">      </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41" name="col-heads"/>
          <p:cNvGrpSpPr/>
          <p:nvPr/>
        </p:nvGrpSpPr>
        <p:grpSpPr>
          <a:xfrm>
            <a:off x="228600" y="742950"/>
            <a:ext cx="11734800" cy="361950"/>
            <a:chOff x="228600" y="742950"/>
            <a:chExt cx="11734800" cy="361950"/>
          </a:xfrm>
        </p:grpSpPr>
        <p:sp>
          <p:nvSpPr>
            <p:cNvPr id="7" name="Rectangle 7"/>
            <p:cNvSpPr/>
            <p:nvPr/>
          </p:nvSpPr>
          <p:spPr>
            <a:xfrm>
              <a:off x="228600" y="742950"/>
              <a:ext cx="3048000" cy="361950"/>
            </a:xfrm>
            <a:prstGeom prst="roundRect">
              <a:avLst>
                <a:gd name="adj" fmla="val 21053"/>
              </a:avLst>
            </a:prstGeom>
            <a:solidFill>
              <a:srgbClr val="721E0D"/>
            </a:solidFill>
            <a:ln>
              <a:noFill/>
            </a:ln>
          </p:spPr>
        </p:sp>
        <p:grpSp>
          <p:nvGrpSpPr>
            <p:cNvPr id="14" name="Group 14"/>
            <p:cNvGrpSpPr/>
            <p:nvPr/>
          </p:nvGrpSpPr>
          <p:grpSpPr>
            <a:xfrm>
              <a:off x="423862" y="852487"/>
              <a:ext cx="142875" cy="142875"/>
              <a:chOff x="423862" y="852487"/>
              <a:chExt cx="142875" cy="142875"/>
            </a:xfrm>
          </p:grpSpPr>
          <p:sp>
            <p:nvSpPr>
              <p:cNvPr id="8" name="Freeform 8"/>
              <p:cNvSpPr/>
              <p:nvPr/>
            </p:nvSpPr>
            <p:spPr>
              <a:xfrm>
                <a:off x="479425" y="9159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9" name="Freeform 9"/>
              <p:cNvSpPr/>
              <p:nvPr/>
            </p:nvSpPr>
            <p:spPr>
              <a:xfrm>
                <a:off x="463550" y="971550"/>
                <a:ext cx="63500" cy="23812"/>
              </a:xfrm>
              <a:custGeom>
                <a:avLst/>
                <a:gdLst/>
                <a:ahLst/>
                <a:cxnLst/>
                <a:rect l="l" t="t" r="r" b="b"/>
                <a:pathLst>
                  <a:path w="63500" h="23812">
                    <a:moveTo>
                      <a:pt x="0" y="23812"/>
                    </a:moveTo>
                    <a:lnTo>
                      <a:pt x="0" y="15875"/>
                    </a:lnTo>
                    <a:cubicBezTo>
                      <a:pt x="0" y="7107"/>
                      <a:pt x="7107" y="0"/>
                      <a:pt x="15875" y="0"/>
                    </a:cubicBezTo>
                    <a:lnTo>
                      <a:pt x="47625" y="0"/>
                    </a:lnTo>
                    <a:cubicBezTo>
                      <a:pt x="56392" y="0"/>
                      <a:pt x="63500" y="7107"/>
                      <a:pt x="63500" y="15875"/>
                    </a:cubicBezTo>
                    <a:lnTo>
                      <a:pt x="63500" y="23812"/>
                    </a:lnTo>
                  </a:path>
                </a:pathLst>
              </a:custGeom>
              <a:noFill/>
              <a:ln w="15875">
                <a:solidFill>
                  <a:srgbClr val="FFFFFF"/>
                </a:solidFill>
              </a:ln>
            </p:spPr>
          </p:sp>
          <p:sp>
            <p:nvSpPr>
              <p:cNvPr id="10" name="Freeform 10"/>
              <p:cNvSpPr/>
              <p:nvPr/>
            </p:nvSpPr>
            <p:spPr>
              <a:xfrm>
                <a:off x="519112" y="8524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1" name="Freeform 11"/>
              <p:cNvSpPr/>
              <p:nvPr/>
            </p:nvSpPr>
            <p:spPr>
              <a:xfrm>
                <a:off x="534987" y="908050"/>
                <a:ext cx="31750" cy="23812"/>
              </a:xfrm>
              <a:custGeom>
                <a:avLst/>
                <a:gdLst/>
                <a:ahLst/>
                <a:cxnLst/>
                <a:rect l="l" t="t" r="r" b="b"/>
                <a:pathLst>
                  <a:path w="31750" h="23812">
                    <a:moveTo>
                      <a:pt x="0" y="0"/>
                    </a:moveTo>
                    <a:lnTo>
                      <a:pt x="15875" y="0"/>
                    </a:lnTo>
                    <a:cubicBezTo>
                      <a:pt x="24643" y="0"/>
                      <a:pt x="31750" y="7107"/>
                      <a:pt x="31750" y="15875"/>
                    </a:cubicBezTo>
                    <a:lnTo>
                      <a:pt x="31750" y="23812"/>
                    </a:lnTo>
                  </a:path>
                </a:pathLst>
              </a:custGeom>
              <a:noFill/>
              <a:ln w="15875">
                <a:solidFill>
                  <a:srgbClr val="FFFFFF"/>
                </a:solidFill>
              </a:ln>
            </p:spPr>
          </p:sp>
          <p:sp>
            <p:nvSpPr>
              <p:cNvPr id="12" name="Freeform 12"/>
              <p:cNvSpPr/>
              <p:nvPr/>
            </p:nvSpPr>
            <p:spPr>
              <a:xfrm>
                <a:off x="439737" y="852487"/>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5875">
                <a:solidFill>
                  <a:srgbClr val="FFFFFF"/>
                </a:solidFill>
              </a:ln>
            </p:spPr>
          </p:sp>
          <p:sp>
            <p:nvSpPr>
              <p:cNvPr id="13" name="Freeform 13"/>
              <p:cNvSpPr/>
              <p:nvPr/>
            </p:nvSpPr>
            <p:spPr>
              <a:xfrm>
                <a:off x="423862" y="908050"/>
                <a:ext cx="31750" cy="23812"/>
              </a:xfrm>
              <a:custGeom>
                <a:avLst/>
                <a:gdLst/>
                <a:ahLst/>
                <a:cxnLst/>
                <a:rect l="l" t="t" r="r" b="b"/>
                <a:pathLst>
                  <a:path w="31750" h="23812">
                    <a:moveTo>
                      <a:pt x="0" y="23812"/>
                    </a:moveTo>
                    <a:lnTo>
                      <a:pt x="0" y="15875"/>
                    </a:lnTo>
                    <a:cubicBezTo>
                      <a:pt x="0" y="7107"/>
                      <a:pt x="7107" y="0"/>
                      <a:pt x="15875" y="0"/>
                    </a:cubicBezTo>
                    <a:lnTo>
                      <a:pt x="31750" y="0"/>
                    </a:lnTo>
                  </a:path>
                </a:pathLst>
              </a:custGeom>
              <a:noFill/>
              <a:ln w="15875">
                <a:solidFill>
                  <a:srgbClr val="FFFFFF"/>
                </a:solidFill>
              </a:ln>
            </p:spPr>
          </p:sp>
        </p:grpSp>
        <p:sp>
          <p:nvSpPr>
            <p:cNvPr id="15" name="TextBox 15"/>
            <p:cNvSpPr txBox="1"/>
            <p:nvPr/>
          </p:nvSpPr>
          <p:spPr>
            <a:xfrm>
              <a:off x="680276" y="863679"/>
              <a:ext cx="744728" cy="212693"/>
            </a:xfrm>
            <a:prstGeom prst="rect">
              <a:avLst/>
            </a:prstGeom>
            <a:noFill/>
            <a:ln>
              <a:noFill/>
            </a:ln>
          </p:spPr>
          <p:txBody>
            <a:bodyPr wrap="none" lIns="0" tIns="0" rIns="0" bIns="0" anchor="t" anchorCtr="0">
              <a:spAutoFit/>
            </a:bodyPr>
            <a:lstStyle/>
            <a:p>
              <a:pPr algn="l"/>
              <a:r>
                <a:rPr lang="zh-CN" sz="1090" b="1" dirty="0">
                  <a:solidFill>
                    <a:srgbClr val="FFFFFF"/>
                  </a:solidFill>
                  <a:latin typeface="+mn-lt"/>
                  <a:ea typeface="+mn-ea"/>
                  <a:cs typeface="+mn-cs"/>
                </a:rPr>
                <a:t>资源与目标</a:t>
              </a:r>
            </a:p>
          </p:txBody>
        </p:sp>
        <p:sp>
          <p:nvSpPr>
            <p:cNvPr id="16" name="Rectangle 16"/>
            <p:cNvSpPr/>
            <p:nvPr/>
          </p:nvSpPr>
          <p:spPr>
            <a:xfrm>
              <a:off x="3333750" y="742950"/>
              <a:ext cx="1971675" cy="361950"/>
            </a:xfrm>
            <a:prstGeom prst="roundRect">
              <a:avLst>
                <a:gd name="adj" fmla="val 21053"/>
              </a:avLst>
            </a:prstGeom>
            <a:solidFill>
              <a:srgbClr val="721E0D"/>
            </a:solidFill>
            <a:ln>
              <a:noFill/>
            </a:ln>
          </p:spPr>
        </p:sp>
        <p:grpSp>
          <p:nvGrpSpPr>
            <p:cNvPr id="20" name="Group 20"/>
            <p:cNvGrpSpPr/>
            <p:nvPr/>
          </p:nvGrpSpPr>
          <p:grpSpPr>
            <a:xfrm>
              <a:off x="3529012" y="852487"/>
              <a:ext cx="142875" cy="142875"/>
              <a:chOff x="3529012" y="852487"/>
              <a:chExt cx="142875" cy="142875"/>
            </a:xfrm>
          </p:grpSpPr>
          <p:sp>
            <p:nvSpPr>
              <p:cNvPr id="17" name="Freeform 17"/>
              <p:cNvSpPr/>
              <p:nvPr/>
            </p:nvSpPr>
            <p:spPr>
              <a:xfrm>
                <a:off x="3529012" y="85248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sp>
            <p:nvSpPr>
              <p:cNvPr id="18" name="Freeform 18"/>
              <p:cNvSpPr/>
              <p:nvPr/>
            </p:nvSpPr>
            <p:spPr>
              <a:xfrm>
                <a:off x="3576637" y="891978"/>
                <a:ext cx="47625" cy="63895"/>
              </a:xfrm>
              <a:custGeom>
                <a:avLst/>
                <a:gdLst/>
                <a:ahLst/>
                <a:cxnLst/>
                <a:rect l="l" t="t" r="r" b="b"/>
                <a:pathLst>
                  <a:path w="47625" h="63895">
                    <a:moveTo>
                      <a:pt x="46037" y="8135"/>
                    </a:moveTo>
                    <a:cubicBezTo>
                      <a:pt x="43107" y="3052"/>
                      <a:pt x="37613" y="0"/>
                      <a:pt x="31750" y="197"/>
                    </a:cubicBezTo>
                    <a:lnTo>
                      <a:pt x="15875" y="197"/>
                    </a:lnTo>
                    <a:cubicBezTo>
                      <a:pt x="7107" y="197"/>
                      <a:pt x="0" y="7305"/>
                      <a:pt x="0" y="16072"/>
                    </a:cubicBezTo>
                    <a:cubicBezTo>
                      <a:pt x="0" y="24840"/>
                      <a:pt x="7107" y="31947"/>
                      <a:pt x="15875" y="31947"/>
                    </a:cubicBezTo>
                    <a:lnTo>
                      <a:pt x="31750" y="31947"/>
                    </a:lnTo>
                    <a:cubicBezTo>
                      <a:pt x="40518" y="31947"/>
                      <a:pt x="47625" y="39055"/>
                      <a:pt x="47625" y="47822"/>
                    </a:cubicBezTo>
                    <a:cubicBezTo>
                      <a:pt x="47625" y="56590"/>
                      <a:pt x="40518" y="63697"/>
                      <a:pt x="31750" y="63697"/>
                    </a:cubicBezTo>
                    <a:lnTo>
                      <a:pt x="15875" y="63697"/>
                    </a:lnTo>
                    <a:cubicBezTo>
                      <a:pt x="10012" y="63895"/>
                      <a:pt x="4517" y="60842"/>
                      <a:pt x="1587" y="55760"/>
                    </a:cubicBezTo>
                  </a:path>
                </a:pathLst>
              </a:custGeom>
              <a:noFill/>
              <a:ln w="15875">
                <a:solidFill>
                  <a:srgbClr val="FFFFFF"/>
                </a:solidFill>
              </a:ln>
            </p:spPr>
          </p:sp>
          <p:sp>
            <p:nvSpPr>
              <p:cNvPr id="19" name="Freeform 19"/>
              <p:cNvSpPr/>
              <p:nvPr/>
            </p:nvSpPr>
            <p:spPr>
              <a:xfrm>
                <a:off x="3600450" y="884237"/>
                <a:ext cx="9525" cy="79375"/>
              </a:xfrm>
              <a:custGeom>
                <a:avLst/>
                <a:gdLst/>
                <a:ahLst/>
                <a:cxnLst/>
                <a:rect l="l" t="t" r="r" b="b"/>
                <a:pathLst>
                  <a:path w="9525" h="79375">
                    <a:moveTo>
                      <a:pt x="0" y="0"/>
                    </a:moveTo>
                    <a:lnTo>
                      <a:pt x="0" y="79375"/>
                    </a:lnTo>
                  </a:path>
                </a:pathLst>
              </a:custGeom>
              <a:noFill/>
              <a:ln w="15875">
                <a:solidFill>
                  <a:srgbClr val="FFFFFF"/>
                </a:solidFill>
              </a:ln>
            </p:spPr>
          </p:sp>
        </p:grpSp>
        <p:sp>
          <p:nvSpPr>
            <p:cNvPr id="21" name="TextBox 21"/>
            <p:cNvSpPr txBox="1"/>
            <p:nvPr/>
          </p:nvSpPr>
          <p:spPr>
            <a:xfrm>
              <a:off x="3785426" y="863679"/>
              <a:ext cx="1145684" cy="212693"/>
            </a:xfrm>
            <a:prstGeom prst="rect">
              <a:avLst/>
            </a:prstGeom>
            <a:noFill/>
            <a:ln>
              <a:noFill/>
            </a:ln>
          </p:spPr>
          <p:txBody>
            <a:bodyPr wrap="none" lIns="0" tIns="0" rIns="0" bIns="0" anchor="t" anchorCtr="0">
              <a:spAutoFit/>
            </a:bodyPr>
            <a:lstStyle/>
            <a:p>
              <a:pPr algn="l"/>
              <a:r>
                <a:rPr lang="zh-CN" sz="1090" b="1" dirty="0">
                  <a:solidFill>
                    <a:srgbClr val="FFFFFF"/>
                  </a:solidFill>
                  <a:latin typeface="+mn-lt"/>
                  <a:ea typeface="+mn-ea"/>
                  <a:cs typeface="+mn-cs"/>
                </a:rPr>
                <a:t xml:space="preserve">投入（年度）   </a:t>
              </a:r>
            </a:p>
          </p:txBody>
        </p:sp>
        <p:sp>
          <p:nvSpPr>
            <p:cNvPr id="22" name="Rectangle 22"/>
            <p:cNvSpPr/>
            <p:nvPr/>
          </p:nvSpPr>
          <p:spPr>
            <a:xfrm>
              <a:off x="5362575" y="742950"/>
              <a:ext cx="1971675" cy="361950"/>
            </a:xfrm>
            <a:prstGeom prst="roundRect">
              <a:avLst>
                <a:gd name="adj" fmla="val 21053"/>
              </a:avLst>
            </a:prstGeom>
            <a:solidFill>
              <a:srgbClr val="721E0D"/>
            </a:solidFill>
            <a:ln>
              <a:noFill/>
            </a:ln>
          </p:spPr>
        </p:sp>
        <p:grpSp>
          <p:nvGrpSpPr>
            <p:cNvPr id="27" name="Group 27"/>
            <p:cNvGrpSpPr/>
            <p:nvPr/>
          </p:nvGrpSpPr>
          <p:grpSpPr>
            <a:xfrm>
              <a:off x="5557837" y="860425"/>
              <a:ext cx="142875" cy="136525"/>
              <a:chOff x="5557837" y="860425"/>
              <a:chExt cx="142875" cy="136525"/>
            </a:xfrm>
          </p:grpSpPr>
          <p:sp>
            <p:nvSpPr>
              <p:cNvPr id="23" name="Freeform 23"/>
              <p:cNvSpPr/>
              <p:nvPr/>
            </p:nvSpPr>
            <p:spPr>
              <a:xfrm>
                <a:off x="5557837" y="923925"/>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FFFFFF"/>
                </a:solidFill>
              </a:ln>
            </p:spPr>
          </p:sp>
          <p:sp>
            <p:nvSpPr>
              <p:cNvPr id="24" name="Freeform 24"/>
              <p:cNvSpPr/>
              <p:nvPr/>
            </p:nvSpPr>
            <p:spPr>
              <a:xfrm>
                <a:off x="5653087" y="892175"/>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FFFFFF"/>
                </a:solidFill>
              </a:ln>
            </p:spPr>
          </p:sp>
          <p:sp>
            <p:nvSpPr>
              <p:cNvPr id="25" name="Freeform 25"/>
              <p:cNvSpPr/>
              <p:nvPr/>
            </p:nvSpPr>
            <p:spPr>
              <a:xfrm>
                <a:off x="5605462" y="860425"/>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FFFFFF"/>
                </a:solidFill>
              </a:ln>
            </p:spPr>
          </p:sp>
          <p:sp>
            <p:nvSpPr>
              <p:cNvPr id="26" name="Freeform 26"/>
              <p:cNvSpPr/>
              <p:nvPr/>
            </p:nvSpPr>
            <p:spPr>
              <a:xfrm>
                <a:off x="5565775" y="987425"/>
                <a:ext cx="111125" cy="9525"/>
              </a:xfrm>
              <a:custGeom>
                <a:avLst/>
                <a:gdLst/>
                <a:ahLst/>
                <a:cxnLst/>
                <a:rect l="l" t="t" r="r" b="b"/>
                <a:pathLst>
                  <a:path w="111125" h="9525">
                    <a:moveTo>
                      <a:pt x="0" y="0"/>
                    </a:moveTo>
                    <a:lnTo>
                      <a:pt x="111125" y="0"/>
                    </a:lnTo>
                  </a:path>
                </a:pathLst>
              </a:custGeom>
              <a:noFill/>
              <a:ln w="15875">
                <a:solidFill>
                  <a:srgbClr val="FFFFFF"/>
                </a:solidFill>
              </a:ln>
            </p:spPr>
          </p:sp>
        </p:grpSp>
        <p:sp>
          <p:nvSpPr>
            <p:cNvPr id="28" name="TextBox 28"/>
            <p:cNvSpPr txBox="1"/>
            <p:nvPr/>
          </p:nvSpPr>
          <p:spPr>
            <a:xfrm>
              <a:off x="5814250" y="863679"/>
              <a:ext cx="1693375" cy="212693"/>
            </a:xfrm>
            <a:prstGeom prst="rect">
              <a:avLst/>
            </a:prstGeom>
            <a:noFill/>
            <a:ln>
              <a:noFill/>
            </a:ln>
          </p:spPr>
          <p:txBody>
            <a:bodyPr wrap="none" lIns="0" tIns="0" rIns="0" bIns="0" anchor="t" anchorCtr="0">
              <a:spAutoFit/>
            </a:bodyPr>
            <a:lstStyle/>
            <a:p>
              <a:pPr algn="l"/>
              <a:r>
                <a:rPr lang="zh-CN" sz="1090" b="1" dirty="0">
                  <a:solidFill>
                    <a:srgbClr val="FFFFFF"/>
                  </a:solidFill>
                  <a:latin typeface="+mn-lt"/>
                  <a:ea typeface="+mn-ea"/>
                  <a:cs typeface="+mn-cs"/>
                </a:rPr>
                <a:t xml:space="preserve">预计产出（年度）      </a:t>
              </a:r>
            </a:p>
          </p:txBody>
        </p:sp>
        <p:sp>
          <p:nvSpPr>
            <p:cNvPr id="29" name="Rectangle 29"/>
            <p:cNvSpPr/>
            <p:nvPr/>
          </p:nvSpPr>
          <p:spPr>
            <a:xfrm>
              <a:off x="7391400" y="742950"/>
              <a:ext cx="1971675" cy="361950"/>
            </a:xfrm>
            <a:prstGeom prst="roundRect">
              <a:avLst>
                <a:gd name="adj" fmla="val 21053"/>
              </a:avLst>
            </a:prstGeom>
            <a:solidFill>
              <a:srgbClr val="721E0D"/>
            </a:solidFill>
            <a:ln>
              <a:noFill/>
            </a:ln>
          </p:spPr>
        </p:sp>
        <p:grpSp>
          <p:nvGrpSpPr>
            <p:cNvPr id="33" name="Group 33"/>
            <p:cNvGrpSpPr/>
            <p:nvPr/>
          </p:nvGrpSpPr>
          <p:grpSpPr>
            <a:xfrm>
              <a:off x="7586662" y="852487"/>
              <a:ext cx="142875" cy="142875"/>
              <a:chOff x="7586662" y="852487"/>
              <a:chExt cx="142875" cy="142875"/>
            </a:xfrm>
          </p:grpSpPr>
          <p:sp>
            <p:nvSpPr>
              <p:cNvPr id="30" name="Freeform 30"/>
              <p:cNvSpPr/>
              <p:nvPr/>
            </p:nvSpPr>
            <p:spPr>
              <a:xfrm>
                <a:off x="7650162" y="91598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31" name="Freeform 31"/>
              <p:cNvSpPr/>
              <p:nvPr/>
            </p:nvSpPr>
            <p:spPr>
              <a:xfrm>
                <a:off x="7618412" y="88423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32" name="Freeform 32"/>
              <p:cNvSpPr/>
              <p:nvPr/>
            </p:nvSpPr>
            <p:spPr>
              <a:xfrm>
                <a:off x="7586662" y="85248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34" name="TextBox 34"/>
            <p:cNvSpPr txBox="1"/>
            <p:nvPr/>
          </p:nvSpPr>
          <p:spPr>
            <a:xfrm>
              <a:off x="7843076" y="863679"/>
              <a:ext cx="1745113" cy="212693"/>
            </a:xfrm>
            <a:prstGeom prst="rect">
              <a:avLst/>
            </a:prstGeom>
            <a:noFill/>
            <a:ln>
              <a:noFill/>
            </a:ln>
          </p:spPr>
          <p:txBody>
            <a:bodyPr wrap="none" lIns="0" tIns="0" rIns="0" bIns="0" anchor="t" anchorCtr="0">
              <a:spAutoFit/>
            </a:bodyPr>
            <a:lstStyle/>
            <a:p>
              <a:pPr algn="l"/>
              <a:r>
                <a:rPr lang="zh-CN" sz="1090" b="1" dirty="0">
                  <a:solidFill>
                    <a:srgbClr val="FFFFFF"/>
                  </a:solidFill>
                  <a:latin typeface="+mn-lt"/>
                  <a:ea typeface="+mn-ea"/>
                  <a:cs typeface="+mn-cs"/>
                </a:rPr>
                <a:t xml:space="preserve">ROI（产出/投入）      </a:t>
              </a:r>
            </a:p>
          </p:txBody>
        </p:sp>
        <p:sp>
          <p:nvSpPr>
            <p:cNvPr id="35" name="Rectangle 35"/>
            <p:cNvSpPr/>
            <p:nvPr/>
          </p:nvSpPr>
          <p:spPr>
            <a:xfrm>
              <a:off x="9420225" y="742950"/>
              <a:ext cx="2543175" cy="361950"/>
            </a:xfrm>
            <a:prstGeom prst="roundRect">
              <a:avLst>
                <a:gd name="adj" fmla="val 21053"/>
              </a:avLst>
            </a:prstGeom>
            <a:solidFill>
              <a:srgbClr val="721E0D"/>
            </a:solidFill>
            <a:ln>
              <a:noFill/>
            </a:ln>
          </p:spPr>
        </p:sp>
        <p:grpSp>
          <p:nvGrpSpPr>
            <p:cNvPr id="39" name="Group 39"/>
            <p:cNvGrpSpPr/>
            <p:nvPr/>
          </p:nvGrpSpPr>
          <p:grpSpPr>
            <a:xfrm>
              <a:off x="9606874" y="849850"/>
              <a:ext cx="160095" cy="137543"/>
              <a:chOff x="9606874" y="849850"/>
              <a:chExt cx="160095" cy="137543"/>
            </a:xfrm>
          </p:grpSpPr>
          <p:sp>
            <p:nvSpPr>
              <p:cNvPr id="36" name="Freeform 36"/>
              <p:cNvSpPr/>
              <p:nvPr/>
            </p:nvSpPr>
            <p:spPr>
              <a:xfrm>
                <a:off x="9686925" y="900112"/>
                <a:ext cx="9525" cy="31750"/>
              </a:xfrm>
              <a:custGeom>
                <a:avLst/>
                <a:gdLst/>
                <a:ahLst/>
                <a:cxnLst/>
                <a:rect l="l" t="t" r="r" b="b"/>
                <a:pathLst>
                  <a:path w="9525" h="31750">
                    <a:moveTo>
                      <a:pt x="0" y="0"/>
                    </a:moveTo>
                    <a:lnTo>
                      <a:pt x="0" y="31750"/>
                    </a:lnTo>
                  </a:path>
                </a:pathLst>
              </a:custGeom>
              <a:noFill/>
              <a:ln w="15875">
                <a:solidFill>
                  <a:srgbClr val="FFFFFF"/>
                </a:solidFill>
              </a:ln>
            </p:spPr>
          </p:sp>
          <p:sp>
            <p:nvSpPr>
              <p:cNvPr id="37" name="Freeform 37"/>
              <p:cNvSpPr/>
              <p:nvPr/>
            </p:nvSpPr>
            <p:spPr>
              <a:xfrm>
                <a:off x="9606874" y="849850"/>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FFFFFF"/>
                </a:solidFill>
              </a:ln>
            </p:spPr>
          </p:sp>
          <p:sp>
            <p:nvSpPr>
              <p:cNvPr id="38" name="Freeform 38"/>
              <p:cNvSpPr/>
              <p:nvPr/>
            </p:nvSpPr>
            <p:spPr>
              <a:xfrm>
                <a:off x="9686925" y="955675"/>
                <a:ext cx="9525" cy="9525"/>
              </a:xfrm>
              <a:custGeom>
                <a:avLst/>
                <a:gdLst/>
                <a:ahLst/>
                <a:cxnLst/>
                <a:rect l="l" t="t" r="r" b="b"/>
                <a:pathLst>
                  <a:path w="9525" h="9525">
                    <a:moveTo>
                      <a:pt x="0" y="0"/>
                    </a:moveTo>
                    <a:lnTo>
                      <a:pt x="79" y="0"/>
                    </a:lnTo>
                  </a:path>
                </a:pathLst>
              </a:custGeom>
              <a:noFill/>
              <a:ln w="15875">
                <a:solidFill>
                  <a:srgbClr val="FFFFFF"/>
                </a:solidFill>
              </a:ln>
            </p:spPr>
          </p:sp>
        </p:grpSp>
        <p:sp>
          <p:nvSpPr>
            <p:cNvPr id="40" name="TextBox 40"/>
            <p:cNvSpPr txBox="1"/>
            <p:nvPr/>
          </p:nvSpPr>
          <p:spPr>
            <a:xfrm>
              <a:off x="9871900" y="863679"/>
              <a:ext cx="597992" cy="212693"/>
            </a:xfrm>
            <a:prstGeom prst="rect">
              <a:avLst/>
            </a:prstGeom>
            <a:noFill/>
            <a:ln>
              <a:noFill/>
            </a:ln>
          </p:spPr>
          <p:txBody>
            <a:bodyPr wrap="none" lIns="0" tIns="0" rIns="0" bIns="0" anchor="t" anchorCtr="0">
              <a:spAutoFit/>
            </a:bodyPr>
            <a:lstStyle/>
            <a:p>
              <a:pPr algn="l"/>
              <a:r>
                <a:rPr lang="zh-CN" sz="1090" b="1" dirty="0">
                  <a:solidFill>
                    <a:srgbClr val="FFFFFF"/>
                  </a:solidFill>
                  <a:latin typeface="+mn-lt"/>
                  <a:ea typeface="+mn-ea"/>
                  <a:cs typeface="+mn-cs"/>
                </a:rPr>
                <a:t>下行风险</a:t>
              </a:r>
            </a:p>
          </p:txBody>
        </p:sp>
      </p:grpSp>
      <p:grpSp>
        <p:nvGrpSpPr>
          <p:cNvPr id="77" name="resource-row-01"/>
          <p:cNvGrpSpPr/>
          <p:nvPr/>
        </p:nvGrpSpPr>
        <p:grpSpPr>
          <a:xfrm>
            <a:off x="228600" y="1200150"/>
            <a:ext cx="11734800" cy="1238250"/>
            <a:chOff x="228600" y="1200150"/>
            <a:chExt cx="11734800" cy="1238250"/>
          </a:xfrm>
        </p:grpSpPr>
        <p:sp>
          <p:nvSpPr>
            <p:cNvPr id="42" name="Rectangle 42"/>
            <p:cNvSpPr/>
            <p:nvPr/>
          </p:nvSpPr>
          <p:spPr>
            <a:xfrm>
              <a:off x="228600" y="1200150"/>
              <a:ext cx="11734800" cy="1238250"/>
            </a:xfrm>
            <a:prstGeom prst="roundRect">
              <a:avLst>
                <a:gd name="adj" fmla="val 7692"/>
              </a:avLst>
            </a:prstGeom>
            <a:solidFill>
              <a:srgbClr val="F8FAFD"/>
            </a:solidFill>
            <a:ln w="9525">
              <a:solidFill>
                <a:srgbClr val="E0E7F3"/>
              </a:solidFill>
            </a:ln>
          </p:spPr>
        </p:sp>
        <p:sp>
          <p:nvSpPr>
            <p:cNvPr id="43" name="Rectangle 43"/>
            <p:cNvSpPr/>
            <p:nvPr/>
          </p:nvSpPr>
          <p:spPr>
            <a:xfrm>
              <a:off x="228600" y="1295400"/>
              <a:ext cx="266700" cy="285750"/>
            </a:xfrm>
            <a:prstGeom prst="roundRect">
              <a:avLst>
                <a:gd name="adj" fmla="val 17857"/>
              </a:avLst>
            </a:prstGeom>
            <a:solidFill>
              <a:srgbClr val="721E0D"/>
            </a:solidFill>
            <a:ln>
              <a:noFill/>
            </a:ln>
          </p:spPr>
        </p:sp>
        <p:sp>
          <p:nvSpPr>
            <p:cNvPr id="44" name="TextBox 44"/>
            <p:cNvSpPr txBox="1"/>
            <p:nvPr/>
          </p:nvSpPr>
          <p:spPr>
            <a:xfrm>
              <a:off x="280809" y="13901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01</a:t>
              </a:r>
            </a:p>
          </p:txBody>
        </p:sp>
        <p:sp>
          <p:nvSpPr>
            <p:cNvPr id="45" name="Ellipse 45"/>
            <p:cNvSpPr/>
            <p:nvPr/>
          </p:nvSpPr>
          <p:spPr>
            <a:xfrm>
              <a:off x="628650" y="1409700"/>
              <a:ext cx="419100" cy="419100"/>
            </a:xfrm>
            <a:prstGeom prst="ellipse">
              <a:avLst/>
            </a:prstGeom>
            <a:solidFill>
              <a:srgbClr val="EAF1FB"/>
            </a:solidFill>
            <a:ln>
              <a:noFill/>
            </a:ln>
          </p:spPr>
        </p:sp>
        <p:grpSp>
          <p:nvGrpSpPr>
            <p:cNvPr id="49" name="Group 49"/>
            <p:cNvGrpSpPr/>
            <p:nvPr/>
          </p:nvGrpSpPr>
          <p:grpSpPr>
            <a:xfrm>
              <a:off x="771525" y="1519238"/>
              <a:ext cx="166688" cy="200025"/>
              <a:chOff x="771525" y="1519238"/>
              <a:chExt cx="166688" cy="200025"/>
            </a:xfrm>
          </p:grpSpPr>
          <p:sp>
            <p:nvSpPr>
              <p:cNvPr id="46" name="Freeform 46"/>
              <p:cNvSpPr/>
              <p:nvPr/>
            </p:nvSpPr>
            <p:spPr>
              <a:xfrm>
                <a:off x="793750" y="15192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721E0D"/>
                </a:solidFill>
              </a:ln>
            </p:spPr>
          </p:sp>
          <p:sp>
            <p:nvSpPr>
              <p:cNvPr id="47" name="Freeform 47"/>
              <p:cNvSpPr/>
              <p:nvPr/>
            </p:nvSpPr>
            <p:spPr>
              <a:xfrm>
                <a:off x="771525" y="165258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721E0D"/>
                </a:solidFill>
              </a:ln>
            </p:spPr>
          </p:sp>
          <p:sp>
            <p:nvSpPr>
              <p:cNvPr id="48" name="Freeform 48"/>
              <p:cNvSpPr/>
              <p:nvPr/>
            </p:nvSpPr>
            <p:spPr>
              <a:xfrm>
                <a:off x="871538" y="1674813"/>
                <a:ext cx="66675" cy="44450"/>
              </a:xfrm>
              <a:custGeom>
                <a:avLst/>
                <a:gdLst/>
                <a:ahLst/>
                <a:cxnLst/>
                <a:rect l="l" t="t" r="r" b="b"/>
                <a:pathLst>
                  <a:path w="66675" h="44450">
                    <a:moveTo>
                      <a:pt x="0" y="22225"/>
                    </a:moveTo>
                    <a:lnTo>
                      <a:pt x="22225" y="44450"/>
                    </a:lnTo>
                    <a:lnTo>
                      <a:pt x="66675" y="0"/>
                    </a:lnTo>
                  </a:path>
                </a:pathLst>
              </a:custGeom>
              <a:noFill/>
              <a:ln w="22225">
                <a:solidFill>
                  <a:srgbClr val="721E0D"/>
                </a:solidFill>
              </a:ln>
            </p:spPr>
          </p:sp>
        </p:grpSp>
        <p:sp>
          <p:nvSpPr>
            <p:cNvPr id="50" name="TextBox 50"/>
            <p:cNvSpPr txBox="1"/>
            <p:nvPr/>
          </p:nvSpPr>
          <p:spPr>
            <a:xfrm>
              <a:off x="1157288" y="1384697"/>
              <a:ext cx="515696"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资源一：</a:t>
              </a:r>
            </a:p>
          </p:txBody>
        </p:sp>
        <p:sp>
          <p:nvSpPr>
            <p:cNvPr id="51" name="TextBox 51"/>
            <p:cNvSpPr txBox="1"/>
            <p:nvPr/>
          </p:nvSpPr>
          <p:spPr>
            <a:xfrm>
              <a:off x="1156144" y="1608058"/>
              <a:ext cx="1736199" cy="227362"/>
            </a:xfrm>
            <a:prstGeom prst="rect">
              <a:avLst/>
            </a:prstGeom>
            <a:noFill/>
            <a:ln>
              <a:noFill/>
            </a:ln>
          </p:spPr>
          <p:txBody>
            <a:bodyPr wrap="none" lIns="0" tIns="0" rIns="0" bIns="0" anchor="t" anchorCtr="0">
              <a:spAutoFit/>
            </a:bodyPr>
            <a:lstStyle/>
            <a:p>
              <a:pPr algn="l"/>
              <a:r>
                <a:rPr lang="zh-CN" sz="1160" b="1" dirty="0">
                  <a:solidFill>
                    <a:srgbClr val="461910"/>
                  </a:solidFill>
                  <a:latin typeface="+mn-lt"/>
                  <a:ea typeface="+mn-ea"/>
                  <a:cs typeface="+mn-cs"/>
                </a:rPr>
                <a:t xml:space="preserve">2名资深客户经理      </a:t>
              </a:r>
            </a:p>
          </p:txBody>
        </p:sp>
        <p:grpSp>
          <p:nvGrpSpPr>
            <p:cNvPr id="55" name="Group 55"/>
            <p:cNvGrpSpPr/>
            <p:nvPr/>
          </p:nvGrpSpPr>
          <p:grpSpPr>
            <a:xfrm>
              <a:off x="1178719" y="1845469"/>
              <a:ext cx="100012" cy="100012"/>
              <a:chOff x="1178719" y="1845469"/>
              <a:chExt cx="100012" cy="100012"/>
            </a:xfrm>
          </p:grpSpPr>
          <p:sp>
            <p:nvSpPr>
              <p:cNvPr id="52" name="Freeform 52"/>
              <p:cNvSpPr/>
              <p:nvPr/>
            </p:nvSpPr>
            <p:spPr>
              <a:xfrm>
                <a:off x="1223169" y="18899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B8351A"/>
                </a:solidFill>
              </a:ln>
            </p:spPr>
          </p:sp>
          <p:sp>
            <p:nvSpPr>
              <p:cNvPr id="53" name="Freeform 53"/>
              <p:cNvSpPr/>
              <p:nvPr/>
            </p:nvSpPr>
            <p:spPr>
              <a:xfrm>
                <a:off x="1200944" y="186769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B8351A"/>
                </a:solidFill>
              </a:ln>
            </p:spPr>
          </p:sp>
          <p:sp>
            <p:nvSpPr>
              <p:cNvPr id="54" name="Freeform 54"/>
              <p:cNvSpPr/>
              <p:nvPr/>
            </p:nvSpPr>
            <p:spPr>
              <a:xfrm>
                <a:off x="1178719" y="18454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B8351A"/>
                </a:solidFill>
              </a:ln>
            </p:spPr>
          </p:sp>
        </p:grpSp>
        <p:sp>
          <p:nvSpPr>
            <p:cNvPr id="56" name="TextBox 56"/>
            <p:cNvSpPr txBox="1"/>
            <p:nvPr/>
          </p:nvSpPr>
          <p:spPr>
            <a:xfrm>
              <a:off x="1347788" y="1848564"/>
              <a:ext cx="1604772" cy="154781"/>
            </a:xfrm>
            <a:prstGeom prst="rect">
              <a:avLst/>
            </a:prstGeom>
            <a:noFill/>
            <a:ln>
              <a:noFill/>
            </a:ln>
          </p:spPr>
          <p:txBody>
            <a:bodyPr wrap="none" lIns="0" tIns="0" rIns="0" bIns="0" anchor="t" anchorCtr="0">
              <a:spAutoFit/>
            </a:bodyPr>
            <a:lstStyle/>
            <a:p>
              <a:pPr algn="l"/>
              <a:r>
                <a:rPr lang="zh-CN" sz="790" dirty="0">
                  <a:solidFill>
                    <a:srgbClr val="523E3A"/>
                  </a:solidFill>
                  <a:latin typeface="+mn-lt"/>
                  <a:ea typeface="+mn-ea"/>
                  <a:cs typeface="+mn-cs"/>
                </a:rPr>
                <a:t>目标：拓展重点客户，提升转化率</a:t>
              </a:r>
            </a:p>
          </p:txBody>
        </p:sp>
        <p:grpSp>
          <p:nvGrpSpPr>
            <p:cNvPr id="60" name="Group 60"/>
            <p:cNvGrpSpPr/>
            <p:nvPr/>
          </p:nvGrpSpPr>
          <p:grpSpPr>
            <a:xfrm>
              <a:off x="3531394" y="1626394"/>
              <a:ext cx="271462" cy="271462"/>
              <a:chOff x="3531394" y="1626394"/>
              <a:chExt cx="271462" cy="271462"/>
            </a:xfrm>
          </p:grpSpPr>
          <p:sp>
            <p:nvSpPr>
              <p:cNvPr id="57" name="Freeform 57"/>
              <p:cNvSpPr/>
              <p:nvPr/>
            </p:nvSpPr>
            <p:spPr>
              <a:xfrm>
                <a:off x="3531394" y="1626394"/>
                <a:ext cx="271462" cy="271462"/>
              </a:xfrm>
              <a:custGeom>
                <a:avLst/>
                <a:gdLst/>
                <a:ahLst/>
                <a:cxnLst/>
                <a:rect l="l" t="t" r="r" b="b"/>
                <a:pathLst>
                  <a:path w="271462" h="271462">
                    <a:moveTo>
                      <a:pt x="0" y="135731"/>
                    </a:moveTo>
                    <a:cubicBezTo>
                      <a:pt x="0" y="210693"/>
                      <a:pt x="60769" y="271462"/>
                      <a:pt x="135731" y="271462"/>
                    </a:cubicBezTo>
                    <a:cubicBezTo>
                      <a:pt x="210693" y="271462"/>
                      <a:pt x="271462" y="210693"/>
                      <a:pt x="271462" y="135731"/>
                    </a:cubicBezTo>
                    <a:cubicBezTo>
                      <a:pt x="271462" y="60769"/>
                      <a:pt x="210693" y="0"/>
                      <a:pt x="135731" y="0"/>
                    </a:cubicBezTo>
                    <a:cubicBezTo>
                      <a:pt x="60769" y="0"/>
                      <a:pt x="0" y="60769"/>
                      <a:pt x="0" y="135731"/>
                    </a:cubicBezTo>
                  </a:path>
                </a:pathLst>
              </a:custGeom>
              <a:noFill/>
              <a:ln w="30162">
                <a:solidFill>
                  <a:srgbClr val="721E0D"/>
                </a:solidFill>
              </a:ln>
            </p:spPr>
          </p:sp>
          <p:sp>
            <p:nvSpPr>
              <p:cNvPr id="58" name="Freeform 58"/>
              <p:cNvSpPr/>
              <p:nvPr/>
            </p:nvSpPr>
            <p:spPr>
              <a:xfrm>
                <a:off x="3621881" y="1701425"/>
                <a:ext cx="90487" cy="121400"/>
              </a:xfrm>
              <a:custGeom>
                <a:avLst/>
                <a:gdLst/>
                <a:ahLst/>
                <a:cxnLst/>
                <a:rect l="l" t="t" r="r" b="b"/>
                <a:pathLst>
                  <a:path w="90487" h="121400">
                    <a:moveTo>
                      <a:pt x="87471" y="15456"/>
                    </a:moveTo>
                    <a:cubicBezTo>
                      <a:pt x="81904" y="5799"/>
                      <a:pt x="71465" y="0"/>
                      <a:pt x="60325" y="375"/>
                    </a:cubicBezTo>
                    <a:lnTo>
                      <a:pt x="30162" y="375"/>
                    </a:lnTo>
                    <a:cubicBezTo>
                      <a:pt x="13504" y="375"/>
                      <a:pt x="0" y="13879"/>
                      <a:pt x="0" y="30537"/>
                    </a:cubicBezTo>
                    <a:cubicBezTo>
                      <a:pt x="0" y="47196"/>
                      <a:pt x="13504" y="60700"/>
                      <a:pt x="30162" y="60700"/>
                    </a:cubicBezTo>
                    <a:lnTo>
                      <a:pt x="60325" y="60700"/>
                    </a:lnTo>
                    <a:cubicBezTo>
                      <a:pt x="76983" y="60700"/>
                      <a:pt x="90487" y="74204"/>
                      <a:pt x="90487" y="90862"/>
                    </a:cubicBezTo>
                    <a:cubicBezTo>
                      <a:pt x="90487" y="107521"/>
                      <a:pt x="76983" y="121025"/>
                      <a:pt x="60325" y="121025"/>
                    </a:cubicBezTo>
                    <a:lnTo>
                      <a:pt x="30162" y="121025"/>
                    </a:lnTo>
                    <a:cubicBezTo>
                      <a:pt x="19022" y="121400"/>
                      <a:pt x="8583" y="115600"/>
                      <a:pt x="3016" y="105944"/>
                    </a:cubicBezTo>
                  </a:path>
                </a:pathLst>
              </a:custGeom>
              <a:noFill/>
              <a:ln w="30162">
                <a:solidFill>
                  <a:srgbClr val="721E0D"/>
                </a:solidFill>
              </a:ln>
            </p:spPr>
          </p:sp>
          <p:sp>
            <p:nvSpPr>
              <p:cNvPr id="59" name="Freeform 59"/>
              <p:cNvSpPr/>
              <p:nvPr/>
            </p:nvSpPr>
            <p:spPr>
              <a:xfrm>
                <a:off x="3667125" y="1686719"/>
                <a:ext cx="9525" cy="150812"/>
              </a:xfrm>
              <a:custGeom>
                <a:avLst/>
                <a:gdLst/>
                <a:ahLst/>
                <a:cxnLst/>
                <a:rect l="l" t="t" r="r" b="b"/>
                <a:pathLst>
                  <a:path w="9525" h="150812">
                    <a:moveTo>
                      <a:pt x="0" y="0"/>
                    </a:moveTo>
                    <a:lnTo>
                      <a:pt x="0" y="150812"/>
                    </a:lnTo>
                  </a:path>
                </a:pathLst>
              </a:custGeom>
              <a:noFill/>
              <a:ln w="30162">
                <a:solidFill>
                  <a:srgbClr val="721E0D"/>
                </a:solidFill>
              </a:ln>
            </p:spPr>
          </p:sp>
        </p:grpSp>
        <p:sp>
          <p:nvSpPr>
            <p:cNvPr id="61" name="TextBox 61"/>
            <p:cNvSpPr txBox="1"/>
            <p:nvPr/>
          </p:nvSpPr>
          <p:spPr>
            <a:xfrm>
              <a:off x="3957638" y="1473041"/>
              <a:ext cx="230302"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投入</a:t>
              </a:r>
            </a:p>
          </p:txBody>
        </p:sp>
        <p:sp>
          <p:nvSpPr>
            <p:cNvPr id="62" name="TextBox 62"/>
            <p:cNvSpPr txBox="1"/>
            <p:nvPr/>
          </p:nvSpPr>
          <p:spPr>
            <a:xfrm>
              <a:off x="3950589" y="1711166"/>
              <a:ext cx="843377" cy="454724"/>
            </a:xfrm>
            <a:prstGeom prst="rect">
              <a:avLst/>
            </a:prstGeom>
            <a:noFill/>
            <a:ln>
              <a:noFill/>
            </a:ln>
          </p:spPr>
          <p:txBody>
            <a:bodyPr wrap="none" lIns="0" tIns="0" rIns="0" bIns="0" anchor="t" anchorCtr="0">
              <a:spAutoFit/>
            </a:bodyPr>
            <a:lstStyle/>
            <a:p>
              <a:pPr algn="l"/>
              <a:r>
                <a:rPr lang="zh-CN" sz="2320" b="1" dirty="0">
                  <a:solidFill>
                    <a:srgbClr val="721E0D"/>
                  </a:solidFill>
                  <a:latin typeface="+mn-lt"/>
                  <a:ea typeface="+mn-ea"/>
                  <a:cs typeface="+mn-cs"/>
                </a:rPr>
                <a:t>60</a:t>
              </a:r>
              <a:r>
                <a:rPr lang="zh-CN" sz="900" dirty="0">
                  <a:solidFill>
                    <a:srgbClr val="721E0D"/>
                  </a:solidFill>
                  <a:latin typeface="+mn-lt"/>
                  <a:ea typeface="+mn-ea"/>
                  <a:cs typeface="+mn-cs"/>
                </a:rPr>
                <a:t xml:space="preserve"> 万元</a:t>
              </a:r>
              <a:r>
                <a:rPr lang="zh-CN" sz="2320" b="1" dirty="0">
                  <a:solidFill>
                    <a:srgbClr val="721E0D"/>
                  </a:solidFill>
                  <a:latin typeface="+mn-lt"/>
                  <a:ea typeface="+mn-ea"/>
                  <a:cs typeface="+mn-cs"/>
                </a:rPr>
                <a:t xml:space="preserve"> </a:t>
              </a:r>
            </a:p>
          </p:txBody>
        </p:sp>
        <p:grpSp>
          <p:nvGrpSpPr>
            <p:cNvPr id="67" name="Group 67"/>
            <p:cNvGrpSpPr/>
            <p:nvPr/>
          </p:nvGrpSpPr>
          <p:grpSpPr>
            <a:xfrm>
              <a:off x="5569744" y="1641475"/>
              <a:ext cx="271461" cy="250824"/>
              <a:chOff x="5569744" y="1641475"/>
              <a:chExt cx="271461" cy="250824"/>
            </a:xfrm>
          </p:grpSpPr>
          <p:sp>
            <p:nvSpPr>
              <p:cNvPr id="63" name="Freeform 63"/>
              <p:cNvSpPr/>
              <p:nvPr/>
            </p:nvSpPr>
            <p:spPr>
              <a:xfrm>
                <a:off x="5569744" y="1762125"/>
                <a:ext cx="90487" cy="120650"/>
              </a:xfrm>
              <a:custGeom>
                <a:avLst/>
                <a:gdLst/>
                <a:ahLst/>
                <a:cxnLst/>
                <a:rect l="l" t="t" r="r" b="b"/>
                <a:pathLst>
                  <a:path w="90487" h="120650">
                    <a:moveTo>
                      <a:pt x="0" y="15081"/>
                    </a:moveTo>
                    <a:cubicBezTo>
                      <a:pt x="0" y="6752"/>
                      <a:pt x="6752" y="0"/>
                      <a:pt x="15081" y="0"/>
                    </a:cubicBezTo>
                    <a:lnTo>
                      <a:pt x="75406" y="0"/>
                    </a:lnTo>
                    <a:cubicBezTo>
                      <a:pt x="83735" y="0"/>
                      <a:pt x="90487" y="6752"/>
                      <a:pt x="90487" y="15081"/>
                    </a:cubicBezTo>
                    <a:lnTo>
                      <a:pt x="90487" y="105569"/>
                    </a:lnTo>
                    <a:cubicBezTo>
                      <a:pt x="90487" y="113898"/>
                      <a:pt x="83735" y="120650"/>
                      <a:pt x="75406" y="120650"/>
                    </a:cubicBezTo>
                    <a:lnTo>
                      <a:pt x="15081" y="120650"/>
                    </a:lnTo>
                    <a:cubicBezTo>
                      <a:pt x="6752" y="120650"/>
                      <a:pt x="0" y="113898"/>
                      <a:pt x="0" y="105569"/>
                    </a:cubicBezTo>
                    <a:lnTo>
                      <a:pt x="0" y="15081"/>
                    </a:lnTo>
                  </a:path>
                </a:pathLst>
              </a:custGeom>
              <a:noFill/>
              <a:ln w="30162">
                <a:solidFill>
                  <a:srgbClr val="721E0D"/>
                </a:solidFill>
              </a:ln>
            </p:spPr>
          </p:sp>
          <p:sp>
            <p:nvSpPr>
              <p:cNvPr id="64" name="Freeform 64"/>
              <p:cNvSpPr/>
              <p:nvPr/>
            </p:nvSpPr>
            <p:spPr>
              <a:xfrm>
                <a:off x="5750718" y="1701800"/>
                <a:ext cx="90487" cy="180975"/>
              </a:xfrm>
              <a:custGeom>
                <a:avLst/>
                <a:gdLst/>
                <a:ahLst/>
                <a:cxnLst/>
                <a:rect l="l" t="t" r="r" b="b"/>
                <a:pathLst>
                  <a:path w="90487" h="180975">
                    <a:moveTo>
                      <a:pt x="0" y="15081"/>
                    </a:moveTo>
                    <a:cubicBezTo>
                      <a:pt x="0" y="6752"/>
                      <a:pt x="6752" y="0"/>
                      <a:pt x="15081" y="0"/>
                    </a:cubicBezTo>
                    <a:lnTo>
                      <a:pt x="75406" y="0"/>
                    </a:lnTo>
                    <a:cubicBezTo>
                      <a:pt x="83735" y="0"/>
                      <a:pt x="90487" y="6752"/>
                      <a:pt x="90487" y="15081"/>
                    </a:cubicBezTo>
                    <a:lnTo>
                      <a:pt x="90487" y="165893"/>
                    </a:lnTo>
                    <a:cubicBezTo>
                      <a:pt x="90487" y="174223"/>
                      <a:pt x="83735" y="180975"/>
                      <a:pt x="75406" y="180975"/>
                    </a:cubicBezTo>
                    <a:lnTo>
                      <a:pt x="15081" y="180975"/>
                    </a:lnTo>
                    <a:cubicBezTo>
                      <a:pt x="6752" y="180975"/>
                      <a:pt x="0" y="174223"/>
                      <a:pt x="0" y="165893"/>
                    </a:cubicBezTo>
                    <a:lnTo>
                      <a:pt x="0" y="15081"/>
                    </a:lnTo>
                  </a:path>
                </a:pathLst>
              </a:custGeom>
              <a:noFill/>
              <a:ln w="30162">
                <a:solidFill>
                  <a:srgbClr val="721E0D"/>
                </a:solidFill>
              </a:ln>
            </p:spPr>
          </p:sp>
          <p:sp>
            <p:nvSpPr>
              <p:cNvPr id="65" name="Freeform 65"/>
              <p:cNvSpPr/>
              <p:nvPr/>
            </p:nvSpPr>
            <p:spPr>
              <a:xfrm>
                <a:off x="5660231" y="1641475"/>
                <a:ext cx="90487" cy="241299"/>
              </a:xfrm>
              <a:custGeom>
                <a:avLst/>
                <a:gdLst/>
                <a:ahLst/>
                <a:cxnLst/>
                <a:rect l="l" t="t" r="r" b="b"/>
                <a:pathLst>
                  <a:path w="90487" h="241299">
                    <a:moveTo>
                      <a:pt x="0" y="15081"/>
                    </a:moveTo>
                    <a:cubicBezTo>
                      <a:pt x="0" y="6752"/>
                      <a:pt x="6752" y="0"/>
                      <a:pt x="15081" y="0"/>
                    </a:cubicBezTo>
                    <a:lnTo>
                      <a:pt x="75406" y="0"/>
                    </a:lnTo>
                    <a:cubicBezTo>
                      <a:pt x="83735" y="0"/>
                      <a:pt x="90487" y="6752"/>
                      <a:pt x="90487" y="15081"/>
                    </a:cubicBezTo>
                    <a:lnTo>
                      <a:pt x="90487" y="226218"/>
                    </a:lnTo>
                    <a:cubicBezTo>
                      <a:pt x="90487" y="234547"/>
                      <a:pt x="83735" y="241299"/>
                      <a:pt x="75406" y="241299"/>
                    </a:cubicBezTo>
                    <a:lnTo>
                      <a:pt x="15081" y="241299"/>
                    </a:lnTo>
                    <a:cubicBezTo>
                      <a:pt x="6752" y="241299"/>
                      <a:pt x="0" y="234547"/>
                      <a:pt x="0" y="226218"/>
                    </a:cubicBezTo>
                    <a:lnTo>
                      <a:pt x="0" y="15081"/>
                    </a:lnTo>
                  </a:path>
                </a:pathLst>
              </a:custGeom>
              <a:noFill/>
              <a:ln w="30162">
                <a:solidFill>
                  <a:srgbClr val="721E0D"/>
                </a:solidFill>
              </a:ln>
            </p:spPr>
          </p:sp>
          <p:sp>
            <p:nvSpPr>
              <p:cNvPr id="66" name="Freeform 66"/>
              <p:cNvSpPr/>
              <p:nvPr/>
            </p:nvSpPr>
            <p:spPr>
              <a:xfrm>
                <a:off x="5584825" y="1882774"/>
                <a:ext cx="211137" cy="9525"/>
              </a:xfrm>
              <a:custGeom>
                <a:avLst/>
                <a:gdLst/>
                <a:ahLst/>
                <a:cxnLst/>
                <a:rect l="l" t="t" r="r" b="b"/>
                <a:pathLst>
                  <a:path w="211137" h="9525">
                    <a:moveTo>
                      <a:pt x="0" y="0"/>
                    </a:moveTo>
                    <a:lnTo>
                      <a:pt x="211137" y="0"/>
                    </a:lnTo>
                  </a:path>
                </a:pathLst>
              </a:custGeom>
              <a:noFill/>
              <a:ln w="30162">
                <a:solidFill>
                  <a:srgbClr val="721E0D"/>
                </a:solidFill>
              </a:ln>
            </p:spPr>
          </p:sp>
        </p:grpSp>
        <p:sp>
          <p:nvSpPr>
            <p:cNvPr id="68" name="TextBox 68"/>
            <p:cNvSpPr txBox="1"/>
            <p:nvPr/>
          </p:nvSpPr>
          <p:spPr>
            <a:xfrm>
              <a:off x="5995988" y="1473041"/>
              <a:ext cx="671855"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预计新增签约</a:t>
              </a:r>
            </a:p>
          </p:txBody>
        </p:sp>
        <p:sp>
          <p:nvSpPr>
            <p:cNvPr id="69" name="TextBox 69"/>
            <p:cNvSpPr txBox="1"/>
            <p:nvPr/>
          </p:nvSpPr>
          <p:spPr>
            <a:xfrm>
              <a:off x="5988939" y="1711166"/>
              <a:ext cx="1204105" cy="454724"/>
            </a:xfrm>
            <a:prstGeom prst="rect">
              <a:avLst/>
            </a:prstGeom>
            <a:noFill/>
            <a:ln>
              <a:noFill/>
            </a:ln>
          </p:spPr>
          <p:txBody>
            <a:bodyPr wrap="none" lIns="0" tIns="0" rIns="0" bIns="0" anchor="t" anchorCtr="0">
              <a:spAutoFit/>
            </a:bodyPr>
            <a:lstStyle/>
            <a:p>
              <a:pPr algn="l"/>
              <a:r>
                <a:rPr lang="zh-CN" sz="2320" b="1" dirty="0">
                  <a:solidFill>
                    <a:srgbClr val="721E0D"/>
                  </a:solidFill>
                  <a:latin typeface="+mn-lt"/>
                  <a:ea typeface="+mn-ea"/>
                  <a:cs typeface="+mn-cs"/>
                </a:rPr>
                <a:t>2000</a:t>
              </a:r>
              <a:r>
                <a:rPr lang="zh-CN" sz="900" dirty="0">
                  <a:solidFill>
                    <a:srgbClr val="721E0D"/>
                  </a:solidFill>
                  <a:latin typeface="+mn-lt"/>
                  <a:ea typeface="+mn-ea"/>
                  <a:cs typeface="+mn-cs"/>
                </a:rPr>
                <a:t xml:space="preserve"> 万元</a:t>
              </a:r>
              <a:r>
                <a:rPr lang="zh-CN" sz="2320" b="1" dirty="0">
                  <a:solidFill>
                    <a:srgbClr val="721E0D"/>
                  </a:solidFill>
                  <a:latin typeface="+mn-lt"/>
                  <a:ea typeface="+mn-ea"/>
                  <a:cs typeface="+mn-cs"/>
                </a:rPr>
                <a:t xml:space="preserve"> </a:t>
              </a:r>
            </a:p>
          </p:txBody>
        </p:sp>
        <p:sp>
          <p:nvSpPr>
            <p:cNvPr id="70" name="TextBox 70"/>
            <p:cNvSpPr txBox="1"/>
            <p:nvPr/>
          </p:nvSpPr>
          <p:spPr>
            <a:xfrm>
              <a:off x="8129767" y="1503045"/>
              <a:ext cx="504467" cy="176212"/>
            </a:xfrm>
            <a:prstGeom prst="rect">
              <a:avLst/>
            </a:prstGeom>
            <a:noFill/>
            <a:ln>
              <a:noFill/>
            </a:ln>
          </p:spPr>
          <p:txBody>
            <a:bodyPr wrap="none" lIns="0" tIns="0" rIns="0" bIns="0" anchor="t" anchorCtr="0">
              <a:spAutoFit/>
            </a:bodyPr>
            <a:lstStyle/>
            <a:p>
              <a:pPr algn="ctr"/>
              <a:r>
                <a:rPr lang="zh-CN" sz="900" b="1" dirty="0">
                  <a:solidFill>
                    <a:srgbClr val="6E7686"/>
                  </a:solidFill>
                  <a:latin typeface="+mn-lt"/>
                  <a:ea typeface="+mn-ea"/>
                  <a:cs typeface="+mn-cs"/>
                </a:rPr>
                <a:t xml:space="preserve">  </a:t>
              </a:r>
              <a:r>
                <a:rPr lang="en-US" sz="900" b="1" dirty="0">
                  <a:solidFill>
                    <a:srgbClr val="6E7686"/>
                  </a:solidFill>
                  <a:latin typeface="+mn-lt"/>
                  <a:ea typeface="+mn-ea"/>
                  <a:cs typeface="+mn-cs"/>
                </a:rPr>
                <a:t>ROI</a:t>
              </a:r>
              <a:r>
                <a:rPr lang="zh-CN" sz="900" b="1" dirty="0">
                  <a:solidFill>
                    <a:srgbClr val="6E7686"/>
                  </a:solidFill>
                  <a:latin typeface="+mn-lt"/>
                  <a:ea typeface="+mn-ea"/>
                  <a:cs typeface="+mn-cs"/>
                </a:rPr>
                <a:t xml:space="preserve">  </a:t>
              </a:r>
            </a:p>
          </p:txBody>
        </p:sp>
        <p:sp>
          <p:nvSpPr>
            <p:cNvPr id="71" name="TextBox 71"/>
            <p:cNvSpPr txBox="1"/>
            <p:nvPr/>
          </p:nvSpPr>
          <p:spPr>
            <a:xfrm>
              <a:off x="7553918" y="1754981"/>
              <a:ext cx="1656164" cy="513398"/>
            </a:xfrm>
            <a:prstGeom prst="rect">
              <a:avLst/>
            </a:prstGeom>
            <a:noFill/>
            <a:ln>
              <a:noFill/>
            </a:ln>
          </p:spPr>
          <p:txBody>
            <a:bodyPr wrap="none" lIns="0" tIns="0" rIns="0" bIns="0" anchor="t" anchorCtr="0">
              <a:spAutoFit/>
            </a:bodyPr>
            <a:lstStyle/>
            <a:p>
              <a:pPr algn="ctr"/>
              <a:r>
                <a:rPr lang="zh-CN" sz="2620" b="1" dirty="0">
                  <a:solidFill>
                    <a:srgbClr val="721E0D"/>
                  </a:solidFill>
                  <a:latin typeface="+mn-lt"/>
                  <a:ea typeface="+mn-ea"/>
                  <a:cs typeface="+mn-cs"/>
                </a:rPr>
                <a:t xml:space="preserve">  1:10  </a:t>
              </a:r>
            </a:p>
          </p:txBody>
        </p:sp>
        <p:grpSp>
          <p:nvGrpSpPr>
            <p:cNvPr id="75" name="Group 75"/>
            <p:cNvGrpSpPr/>
            <p:nvPr/>
          </p:nvGrpSpPr>
          <p:grpSpPr>
            <a:xfrm>
              <a:off x="9540199" y="1392775"/>
              <a:ext cx="160095" cy="137543"/>
              <a:chOff x="9540199" y="1392775"/>
              <a:chExt cx="160095" cy="137543"/>
            </a:xfrm>
          </p:grpSpPr>
          <p:sp>
            <p:nvSpPr>
              <p:cNvPr id="72" name="Freeform 72"/>
              <p:cNvSpPr/>
              <p:nvPr/>
            </p:nvSpPr>
            <p:spPr>
              <a:xfrm>
                <a:off x="9620250" y="1443037"/>
                <a:ext cx="9525" cy="31750"/>
              </a:xfrm>
              <a:custGeom>
                <a:avLst/>
                <a:gdLst/>
                <a:ahLst/>
                <a:cxnLst/>
                <a:rect l="l" t="t" r="r" b="b"/>
                <a:pathLst>
                  <a:path w="9525" h="31750">
                    <a:moveTo>
                      <a:pt x="0" y="0"/>
                    </a:moveTo>
                    <a:lnTo>
                      <a:pt x="0" y="31750"/>
                    </a:lnTo>
                  </a:path>
                </a:pathLst>
              </a:custGeom>
              <a:noFill/>
              <a:ln w="15875">
                <a:solidFill>
                  <a:srgbClr val="C03616"/>
                </a:solidFill>
              </a:ln>
            </p:spPr>
          </p:sp>
          <p:sp>
            <p:nvSpPr>
              <p:cNvPr id="73" name="Freeform 73"/>
              <p:cNvSpPr/>
              <p:nvPr/>
            </p:nvSpPr>
            <p:spPr>
              <a:xfrm>
                <a:off x="9540199" y="139277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C03616"/>
                </a:solidFill>
              </a:ln>
            </p:spPr>
          </p:sp>
          <p:sp>
            <p:nvSpPr>
              <p:cNvPr id="74" name="Freeform 74"/>
              <p:cNvSpPr/>
              <p:nvPr/>
            </p:nvSpPr>
            <p:spPr>
              <a:xfrm>
                <a:off x="9620250" y="1498600"/>
                <a:ext cx="9525" cy="9525"/>
              </a:xfrm>
              <a:custGeom>
                <a:avLst/>
                <a:gdLst/>
                <a:ahLst/>
                <a:cxnLst/>
                <a:rect l="l" t="t" r="r" b="b"/>
                <a:pathLst>
                  <a:path w="9525" h="9525">
                    <a:moveTo>
                      <a:pt x="0" y="0"/>
                    </a:moveTo>
                    <a:lnTo>
                      <a:pt x="79" y="0"/>
                    </a:lnTo>
                  </a:path>
                </a:pathLst>
              </a:custGeom>
              <a:noFill/>
              <a:ln w="15875">
                <a:solidFill>
                  <a:srgbClr val="C03616"/>
                </a:solidFill>
              </a:ln>
            </p:spPr>
          </p:sp>
        </p:grpSp>
        <p:sp>
          <p:nvSpPr>
            <p:cNvPr id="76" name="TextBox 76"/>
            <p:cNvSpPr txBox="1"/>
            <p:nvPr/>
          </p:nvSpPr>
          <p:spPr>
            <a:xfrm>
              <a:off x="9805988" y="1423988"/>
              <a:ext cx="1042988" cy="566738"/>
            </a:xfrm>
            <a:prstGeom prst="rect">
              <a:avLst/>
            </a:prstGeom>
            <a:noFill/>
            <a:ln>
              <a:noFill/>
            </a:ln>
          </p:spPr>
          <p:txBody>
            <a:bodyPr wrap="none" lIns="0" tIns="0" rIns="0" bIns="0" anchor="t" anchorCtr="0">
              <a:spAutoFit/>
            </a:bodyPr>
            <a:lstStyle/>
            <a:p>
              <a:pPr algn="l" marL="80962" indent="-80962">
                <a:lnSpc>
                  <a:spcPts val="1650"/>
                </a:lnSpc>
                <a:buClr>
                  <a:srgbClr val="523E3A"/>
                </a:buClr>
                <a:buSzTx/>
                <a:buFontTx/>
                <a:buChar char="•"/>
              </a:pPr>
              <a:r>
                <a:rPr lang="zh-CN" sz="750" dirty="0">
                  <a:solidFill>
                    <a:srgbClr val="523E3A"/>
                  </a:solidFill>
                  <a:latin typeface="+mn-lt"/>
                  <a:ea typeface="+mn-ea"/>
                  <a:cs typeface="+mn-cs"/>
                </a:rPr>
                <a:t>重点客户拓展不及预期</a:t>
              </a:r>
            </a:p>
            <a:p>
              <a:pPr algn="l" marL="80962" indent="-80962">
                <a:lnSpc>
                  <a:spcPts val="1650"/>
                </a:lnSpc>
                <a:buClr>
                  <a:srgbClr val="523E3A"/>
                </a:buClr>
                <a:buSzTx/>
                <a:buFontTx/>
                <a:buChar char="•"/>
              </a:pPr>
              <a:r>
                <a:rPr lang="zh-CN" sz="750" dirty="0">
                  <a:solidFill>
                    <a:srgbClr val="523E3A"/>
                  </a:solidFill>
                  <a:latin typeface="+mn-lt"/>
                  <a:ea typeface="+mn-ea"/>
                  <a:cs typeface="+mn-cs"/>
                </a:rPr>
                <a:t>客户决策周期延长</a:t>
              </a:r>
            </a:p>
            <a:p>
              <a:pPr algn="l" marL="80962" indent="-80962">
                <a:lnSpc>
                  <a:spcPts val="1650"/>
                </a:lnSpc>
                <a:buClr>
                  <a:srgbClr val="523E3A"/>
                </a:buClr>
                <a:buSzTx/>
                <a:buFontTx/>
                <a:buChar char="•"/>
              </a:pPr>
              <a:r>
                <a:rPr lang="zh-CN" sz="750" dirty="0">
                  <a:solidFill>
                    <a:srgbClr val="523E3A"/>
                  </a:solidFill>
                  <a:latin typeface="+mn-lt"/>
                  <a:ea typeface="+mn-ea"/>
                  <a:cs typeface="+mn-cs"/>
                </a:rPr>
                <a:t>销售能力爬坡低于预期</a:t>
              </a:r>
            </a:p>
          </p:txBody>
        </p:sp>
      </p:grpSp>
      <p:grpSp>
        <p:nvGrpSpPr>
          <p:cNvPr id="113" name="resource-row-02"/>
          <p:cNvGrpSpPr/>
          <p:nvPr/>
        </p:nvGrpSpPr>
        <p:grpSpPr>
          <a:xfrm>
            <a:off x="228600" y="2514600"/>
            <a:ext cx="11734800" cy="1238250"/>
            <a:chOff x="228600" y="2514600"/>
            <a:chExt cx="11734800" cy="1238250"/>
          </a:xfrm>
        </p:grpSpPr>
        <p:sp>
          <p:nvSpPr>
            <p:cNvPr id="78" name="Rectangle 78"/>
            <p:cNvSpPr/>
            <p:nvPr/>
          </p:nvSpPr>
          <p:spPr>
            <a:xfrm>
              <a:off x="228600" y="2514600"/>
              <a:ext cx="11734800" cy="1238250"/>
            </a:xfrm>
            <a:prstGeom prst="roundRect">
              <a:avLst>
                <a:gd name="adj" fmla="val 7692"/>
              </a:avLst>
            </a:prstGeom>
            <a:solidFill>
              <a:srgbClr val="F8FAFD"/>
            </a:solidFill>
            <a:ln w="9525">
              <a:solidFill>
                <a:srgbClr val="E0E7F3"/>
              </a:solidFill>
            </a:ln>
          </p:spPr>
        </p:sp>
        <p:sp>
          <p:nvSpPr>
            <p:cNvPr id="79" name="Rectangle 79"/>
            <p:cNvSpPr/>
            <p:nvPr/>
          </p:nvSpPr>
          <p:spPr>
            <a:xfrm>
              <a:off x="228600" y="2609850"/>
              <a:ext cx="266700" cy="285750"/>
            </a:xfrm>
            <a:prstGeom prst="roundRect">
              <a:avLst>
                <a:gd name="adj" fmla="val 17857"/>
              </a:avLst>
            </a:prstGeom>
            <a:solidFill>
              <a:srgbClr val="721E0D"/>
            </a:solidFill>
            <a:ln>
              <a:noFill/>
            </a:ln>
          </p:spPr>
        </p:sp>
        <p:sp>
          <p:nvSpPr>
            <p:cNvPr id="80" name="TextBox 80"/>
            <p:cNvSpPr txBox="1"/>
            <p:nvPr/>
          </p:nvSpPr>
          <p:spPr>
            <a:xfrm>
              <a:off x="280809" y="270462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02</a:t>
              </a:r>
            </a:p>
          </p:txBody>
        </p:sp>
        <p:sp>
          <p:nvSpPr>
            <p:cNvPr id="81" name="Ellipse 81"/>
            <p:cNvSpPr/>
            <p:nvPr/>
          </p:nvSpPr>
          <p:spPr>
            <a:xfrm>
              <a:off x="628650" y="2724150"/>
              <a:ext cx="419100" cy="419100"/>
            </a:xfrm>
            <a:prstGeom prst="ellipse">
              <a:avLst/>
            </a:prstGeom>
            <a:solidFill>
              <a:srgbClr val="EAF1FB"/>
            </a:solidFill>
            <a:ln>
              <a:noFill/>
            </a:ln>
          </p:spPr>
        </p:sp>
        <p:grpSp>
          <p:nvGrpSpPr>
            <p:cNvPr id="85" name="Group 85"/>
            <p:cNvGrpSpPr/>
            <p:nvPr/>
          </p:nvGrpSpPr>
          <p:grpSpPr>
            <a:xfrm>
              <a:off x="771525" y="2833688"/>
              <a:ext cx="166688" cy="200025"/>
              <a:chOff x="771525" y="2833688"/>
              <a:chExt cx="166688" cy="200025"/>
            </a:xfrm>
          </p:grpSpPr>
          <p:sp>
            <p:nvSpPr>
              <p:cNvPr id="82" name="Freeform 82"/>
              <p:cNvSpPr/>
              <p:nvPr/>
            </p:nvSpPr>
            <p:spPr>
              <a:xfrm>
                <a:off x="793750" y="28336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721E0D"/>
                </a:solidFill>
              </a:ln>
            </p:spPr>
          </p:sp>
          <p:sp>
            <p:nvSpPr>
              <p:cNvPr id="83" name="Freeform 83"/>
              <p:cNvSpPr/>
              <p:nvPr/>
            </p:nvSpPr>
            <p:spPr>
              <a:xfrm>
                <a:off x="771525" y="2967038"/>
                <a:ext cx="88900" cy="66675"/>
              </a:xfrm>
              <a:custGeom>
                <a:avLst/>
                <a:gdLst/>
                <a:ahLst/>
                <a:cxnLst/>
                <a:rect l="l" t="t" r="r" b="b"/>
                <a:pathLst>
                  <a:path w="88900" h="66675">
                    <a:moveTo>
                      <a:pt x="0" y="66675"/>
                    </a:moveTo>
                    <a:lnTo>
                      <a:pt x="0" y="44450"/>
                    </a:lnTo>
                    <a:cubicBezTo>
                      <a:pt x="0" y="19901"/>
                      <a:pt x="19901" y="0"/>
                      <a:pt x="44450" y="0"/>
                    </a:cubicBezTo>
                    <a:lnTo>
                      <a:pt x="88900" y="0"/>
                    </a:lnTo>
                  </a:path>
                </a:pathLst>
              </a:custGeom>
              <a:noFill/>
              <a:ln w="22225">
                <a:solidFill>
                  <a:srgbClr val="721E0D"/>
                </a:solidFill>
              </a:ln>
            </p:spPr>
          </p:sp>
          <p:sp>
            <p:nvSpPr>
              <p:cNvPr id="84" name="Freeform 84"/>
              <p:cNvSpPr/>
              <p:nvPr/>
            </p:nvSpPr>
            <p:spPr>
              <a:xfrm>
                <a:off x="871538" y="2989263"/>
                <a:ext cx="66675" cy="44450"/>
              </a:xfrm>
              <a:custGeom>
                <a:avLst/>
                <a:gdLst/>
                <a:ahLst/>
                <a:cxnLst/>
                <a:rect l="l" t="t" r="r" b="b"/>
                <a:pathLst>
                  <a:path w="66675" h="44450">
                    <a:moveTo>
                      <a:pt x="0" y="22225"/>
                    </a:moveTo>
                    <a:lnTo>
                      <a:pt x="22225" y="44450"/>
                    </a:lnTo>
                    <a:lnTo>
                      <a:pt x="66675" y="0"/>
                    </a:lnTo>
                  </a:path>
                </a:pathLst>
              </a:custGeom>
              <a:noFill/>
              <a:ln w="22225">
                <a:solidFill>
                  <a:srgbClr val="721E0D"/>
                </a:solidFill>
              </a:ln>
            </p:spPr>
          </p:sp>
        </p:grpSp>
        <p:sp>
          <p:nvSpPr>
            <p:cNvPr id="86" name="TextBox 86"/>
            <p:cNvSpPr txBox="1"/>
            <p:nvPr/>
          </p:nvSpPr>
          <p:spPr>
            <a:xfrm>
              <a:off x="1157288" y="2699147"/>
              <a:ext cx="515696"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资源二：</a:t>
              </a:r>
            </a:p>
          </p:txBody>
        </p:sp>
        <p:sp>
          <p:nvSpPr>
            <p:cNvPr id="87" name="TextBox 87"/>
            <p:cNvSpPr txBox="1"/>
            <p:nvPr/>
          </p:nvSpPr>
          <p:spPr>
            <a:xfrm>
              <a:off x="1156144" y="2922508"/>
              <a:ext cx="1736199" cy="227362"/>
            </a:xfrm>
            <a:prstGeom prst="rect">
              <a:avLst/>
            </a:prstGeom>
            <a:noFill/>
            <a:ln>
              <a:noFill/>
            </a:ln>
          </p:spPr>
          <p:txBody>
            <a:bodyPr wrap="none" lIns="0" tIns="0" rIns="0" bIns="0" anchor="t" anchorCtr="0">
              <a:spAutoFit/>
            </a:bodyPr>
            <a:lstStyle/>
            <a:p>
              <a:pPr algn="l"/>
              <a:r>
                <a:rPr lang="zh-CN" sz="1160" b="1" dirty="0">
                  <a:solidFill>
                    <a:srgbClr val="461910"/>
                  </a:solidFill>
                  <a:latin typeface="+mn-lt"/>
                  <a:ea typeface="+mn-ea"/>
                  <a:cs typeface="+mn-cs"/>
                </a:rPr>
                <a:t xml:space="preserve">1名行业售前专家      </a:t>
              </a:r>
            </a:p>
          </p:txBody>
        </p:sp>
        <p:grpSp>
          <p:nvGrpSpPr>
            <p:cNvPr id="91" name="Group 91"/>
            <p:cNvGrpSpPr/>
            <p:nvPr/>
          </p:nvGrpSpPr>
          <p:grpSpPr>
            <a:xfrm>
              <a:off x="1178719" y="3159919"/>
              <a:ext cx="100012" cy="100012"/>
              <a:chOff x="1178719" y="3159919"/>
              <a:chExt cx="100012" cy="100012"/>
            </a:xfrm>
          </p:grpSpPr>
          <p:sp>
            <p:nvSpPr>
              <p:cNvPr id="88" name="Freeform 88"/>
              <p:cNvSpPr/>
              <p:nvPr/>
            </p:nvSpPr>
            <p:spPr>
              <a:xfrm>
                <a:off x="1223169" y="320436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B8351A"/>
                </a:solidFill>
              </a:ln>
            </p:spPr>
          </p:sp>
          <p:sp>
            <p:nvSpPr>
              <p:cNvPr id="89" name="Freeform 89"/>
              <p:cNvSpPr/>
              <p:nvPr/>
            </p:nvSpPr>
            <p:spPr>
              <a:xfrm>
                <a:off x="1200944" y="318214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B8351A"/>
                </a:solidFill>
              </a:ln>
            </p:spPr>
          </p:sp>
          <p:sp>
            <p:nvSpPr>
              <p:cNvPr id="90" name="Freeform 90"/>
              <p:cNvSpPr/>
              <p:nvPr/>
            </p:nvSpPr>
            <p:spPr>
              <a:xfrm>
                <a:off x="1178719" y="315991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B8351A"/>
                </a:solidFill>
              </a:ln>
            </p:spPr>
          </p:sp>
        </p:grpSp>
        <p:sp>
          <p:nvSpPr>
            <p:cNvPr id="92" name="TextBox 92"/>
            <p:cNvSpPr txBox="1"/>
            <p:nvPr/>
          </p:nvSpPr>
          <p:spPr>
            <a:xfrm>
              <a:off x="1347788" y="3163014"/>
              <a:ext cx="1604772" cy="154781"/>
            </a:xfrm>
            <a:prstGeom prst="rect">
              <a:avLst/>
            </a:prstGeom>
            <a:noFill/>
            <a:ln>
              <a:noFill/>
            </a:ln>
          </p:spPr>
          <p:txBody>
            <a:bodyPr wrap="none" lIns="0" tIns="0" rIns="0" bIns="0" anchor="t" anchorCtr="0">
              <a:spAutoFit/>
            </a:bodyPr>
            <a:lstStyle/>
            <a:p>
              <a:pPr algn="l"/>
              <a:r>
                <a:rPr lang="zh-CN" sz="790" dirty="0">
                  <a:solidFill>
                    <a:srgbClr val="523E3A"/>
                  </a:solidFill>
                  <a:latin typeface="+mn-lt"/>
                  <a:ea typeface="+mn-ea"/>
                  <a:cs typeface="+mn-cs"/>
                </a:rPr>
                <a:t>目标：提升方案竞争力，促进增购</a:t>
              </a:r>
            </a:p>
          </p:txBody>
        </p:sp>
        <p:grpSp>
          <p:nvGrpSpPr>
            <p:cNvPr id="96" name="Group 96"/>
            <p:cNvGrpSpPr/>
            <p:nvPr/>
          </p:nvGrpSpPr>
          <p:grpSpPr>
            <a:xfrm>
              <a:off x="3531394" y="2940844"/>
              <a:ext cx="271462" cy="271462"/>
              <a:chOff x="3531394" y="2940844"/>
              <a:chExt cx="271462" cy="271462"/>
            </a:xfrm>
          </p:grpSpPr>
          <p:sp>
            <p:nvSpPr>
              <p:cNvPr id="93" name="Freeform 93"/>
              <p:cNvSpPr/>
              <p:nvPr/>
            </p:nvSpPr>
            <p:spPr>
              <a:xfrm>
                <a:off x="3531394" y="2940844"/>
                <a:ext cx="271462" cy="271462"/>
              </a:xfrm>
              <a:custGeom>
                <a:avLst/>
                <a:gdLst/>
                <a:ahLst/>
                <a:cxnLst/>
                <a:rect l="l" t="t" r="r" b="b"/>
                <a:pathLst>
                  <a:path w="271462" h="271462">
                    <a:moveTo>
                      <a:pt x="0" y="135731"/>
                    </a:moveTo>
                    <a:cubicBezTo>
                      <a:pt x="0" y="210693"/>
                      <a:pt x="60769" y="271462"/>
                      <a:pt x="135731" y="271462"/>
                    </a:cubicBezTo>
                    <a:cubicBezTo>
                      <a:pt x="210693" y="271462"/>
                      <a:pt x="271462" y="210693"/>
                      <a:pt x="271462" y="135731"/>
                    </a:cubicBezTo>
                    <a:cubicBezTo>
                      <a:pt x="271462" y="60769"/>
                      <a:pt x="210693" y="0"/>
                      <a:pt x="135731" y="0"/>
                    </a:cubicBezTo>
                    <a:cubicBezTo>
                      <a:pt x="60769" y="0"/>
                      <a:pt x="0" y="60769"/>
                      <a:pt x="0" y="135731"/>
                    </a:cubicBezTo>
                  </a:path>
                </a:pathLst>
              </a:custGeom>
              <a:noFill/>
              <a:ln w="30162">
                <a:solidFill>
                  <a:srgbClr val="721E0D"/>
                </a:solidFill>
              </a:ln>
            </p:spPr>
          </p:sp>
          <p:sp>
            <p:nvSpPr>
              <p:cNvPr id="94" name="Freeform 94"/>
              <p:cNvSpPr/>
              <p:nvPr/>
            </p:nvSpPr>
            <p:spPr>
              <a:xfrm>
                <a:off x="3621881" y="3015875"/>
                <a:ext cx="90487" cy="121400"/>
              </a:xfrm>
              <a:custGeom>
                <a:avLst/>
                <a:gdLst/>
                <a:ahLst/>
                <a:cxnLst/>
                <a:rect l="l" t="t" r="r" b="b"/>
                <a:pathLst>
                  <a:path w="90487" h="121400">
                    <a:moveTo>
                      <a:pt x="87471" y="15456"/>
                    </a:moveTo>
                    <a:cubicBezTo>
                      <a:pt x="81904" y="5799"/>
                      <a:pt x="71465" y="0"/>
                      <a:pt x="60325" y="375"/>
                    </a:cubicBezTo>
                    <a:lnTo>
                      <a:pt x="30162" y="375"/>
                    </a:lnTo>
                    <a:cubicBezTo>
                      <a:pt x="13504" y="375"/>
                      <a:pt x="0" y="13879"/>
                      <a:pt x="0" y="30537"/>
                    </a:cubicBezTo>
                    <a:cubicBezTo>
                      <a:pt x="0" y="47196"/>
                      <a:pt x="13504" y="60700"/>
                      <a:pt x="30162" y="60700"/>
                    </a:cubicBezTo>
                    <a:lnTo>
                      <a:pt x="60325" y="60700"/>
                    </a:lnTo>
                    <a:cubicBezTo>
                      <a:pt x="76983" y="60700"/>
                      <a:pt x="90487" y="74204"/>
                      <a:pt x="90487" y="90862"/>
                    </a:cubicBezTo>
                    <a:cubicBezTo>
                      <a:pt x="90487" y="107521"/>
                      <a:pt x="76983" y="121025"/>
                      <a:pt x="60325" y="121025"/>
                    </a:cubicBezTo>
                    <a:lnTo>
                      <a:pt x="30162" y="121025"/>
                    </a:lnTo>
                    <a:cubicBezTo>
                      <a:pt x="19022" y="121400"/>
                      <a:pt x="8583" y="115600"/>
                      <a:pt x="3016" y="105944"/>
                    </a:cubicBezTo>
                  </a:path>
                </a:pathLst>
              </a:custGeom>
              <a:noFill/>
              <a:ln w="30162">
                <a:solidFill>
                  <a:srgbClr val="721E0D"/>
                </a:solidFill>
              </a:ln>
            </p:spPr>
          </p:sp>
          <p:sp>
            <p:nvSpPr>
              <p:cNvPr id="95" name="Freeform 95"/>
              <p:cNvSpPr/>
              <p:nvPr/>
            </p:nvSpPr>
            <p:spPr>
              <a:xfrm>
                <a:off x="3667125" y="3001169"/>
                <a:ext cx="9525" cy="150812"/>
              </a:xfrm>
              <a:custGeom>
                <a:avLst/>
                <a:gdLst/>
                <a:ahLst/>
                <a:cxnLst/>
                <a:rect l="l" t="t" r="r" b="b"/>
                <a:pathLst>
                  <a:path w="9525" h="150812">
                    <a:moveTo>
                      <a:pt x="0" y="0"/>
                    </a:moveTo>
                    <a:lnTo>
                      <a:pt x="0" y="150812"/>
                    </a:lnTo>
                  </a:path>
                </a:pathLst>
              </a:custGeom>
              <a:noFill/>
              <a:ln w="30162">
                <a:solidFill>
                  <a:srgbClr val="721E0D"/>
                </a:solidFill>
              </a:ln>
            </p:spPr>
          </p:sp>
        </p:grpSp>
        <p:sp>
          <p:nvSpPr>
            <p:cNvPr id="97" name="TextBox 97"/>
            <p:cNvSpPr txBox="1"/>
            <p:nvPr/>
          </p:nvSpPr>
          <p:spPr>
            <a:xfrm>
              <a:off x="3957638" y="2787491"/>
              <a:ext cx="230302"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投入</a:t>
              </a:r>
            </a:p>
          </p:txBody>
        </p:sp>
        <p:sp>
          <p:nvSpPr>
            <p:cNvPr id="98" name="TextBox 98"/>
            <p:cNvSpPr txBox="1"/>
            <p:nvPr/>
          </p:nvSpPr>
          <p:spPr>
            <a:xfrm>
              <a:off x="3950589" y="3025616"/>
              <a:ext cx="843377" cy="454724"/>
            </a:xfrm>
            <a:prstGeom prst="rect">
              <a:avLst/>
            </a:prstGeom>
            <a:noFill/>
            <a:ln>
              <a:noFill/>
            </a:ln>
          </p:spPr>
          <p:txBody>
            <a:bodyPr wrap="none" lIns="0" tIns="0" rIns="0" bIns="0" anchor="t" anchorCtr="0">
              <a:spAutoFit/>
            </a:bodyPr>
            <a:lstStyle/>
            <a:p>
              <a:pPr algn="l"/>
              <a:r>
                <a:rPr lang="zh-CN" sz="2320" b="1" dirty="0">
                  <a:solidFill>
                    <a:srgbClr val="721E0D"/>
                  </a:solidFill>
                  <a:latin typeface="+mn-lt"/>
                  <a:ea typeface="+mn-ea"/>
                  <a:cs typeface="+mn-cs"/>
                </a:rPr>
                <a:t>40</a:t>
              </a:r>
              <a:r>
                <a:rPr lang="zh-CN" sz="900" dirty="0">
                  <a:solidFill>
                    <a:srgbClr val="721E0D"/>
                  </a:solidFill>
                  <a:latin typeface="+mn-lt"/>
                  <a:ea typeface="+mn-ea"/>
                  <a:cs typeface="+mn-cs"/>
                </a:rPr>
                <a:t xml:space="preserve"> 万元</a:t>
              </a:r>
              <a:r>
                <a:rPr lang="zh-CN" sz="2320" b="1" dirty="0">
                  <a:solidFill>
                    <a:srgbClr val="721E0D"/>
                  </a:solidFill>
                  <a:latin typeface="+mn-lt"/>
                  <a:ea typeface="+mn-ea"/>
                  <a:cs typeface="+mn-cs"/>
                </a:rPr>
                <a:t xml:space="preserve"> </a:t>
              </a:r>
            </a:p>
          </p:txBody>
        </p:sp>
        <p:grpSp>
          <p:nvGrpSpPr>
            <p:cNvPr id="103" name="Group 103"/>
            <p:cNvGrpSpPr/>
            <p:nvPr/>
          </p:nvGrpSpPr>
          <p:grpSpPr>
            <a:xfrm>
              <a:off x="5569744" y="2955925"/>
              <a:ext cx="271461" cy="250824"/>
              <a:chOff x="5569744" y="2955925"/>
              <a:chExt cx="271461" cy="250824"/>
            </a:xfrm>
          </p:grpSpPr>
          <p:sp>
            <p:nvSpPr>
              <p:cNvPr id="99" name="Freeform 99"/>
              <p:cNvSpPr/>
              <p:nvPr/>
            </p:nvSpPr>
            <p:spPr>
              <a:xfrm>
                <a:off x="5569744" y="3076575"/>
                <a:ext cx="90487" cy="120650"/>
              </a:xfrm>
              <a:custGeom>
                <a:avLst/>
                <a:gdLst/>
                <a:ahLst/>
                <a:cxnLst/>
                <a:rect l="l" t="t" r="r" b="b"/>
                <a:pathLst>
                  <a:path w="90487" h="120650">
                    <a:moveTo>
                      <a:pt x="0" y="15081"/>
                    </a:moveTo>
                    <a:cubicBezTo>
                      <a:pt x="0" y="6752"/>
                      <a:pt x="6752" y="0"/>
                      <a:pt x="15081" y="0"/>
                    </a:cubicBezTo>
                    <a:lnTo>
                      <a:pt x="75406" y="0"/>
                    </a:lnTo>
                    <a:cubicBezTo>
                      <a:pt x="83735" y="0"/>
                      <a:pt x="90487" y="6752"/>
                      <a:pt x="90487" y="15081"/>
                    </a:cubicBezTo>
                    <a:lnTo>
                      <a:pt x="90487" y="105569"/>
                    </a:lnTo>
                    <a:cubicBezTo>
                      <a:pt x="90487" y="113898"/>
                      <a:pt x="83735" y="120650"/>
                      <a:pt x="75406" y="120650"/>
                    </a:cubicBezTo>
                    <a:lnTo>
                      <a:pt x="15081" y="120650"/>
                    </a:lnTo>
                    <a:cubicBezTo>
                      <a:pt x="6752" y="120650"/>
                      <a:pt x="0" y="113898"/>
                      <a:pt x="0" y="105569"/>
                    </a:cubicBezTo>
                    <a:lnTo>
                      <a:pt x="0" y="15081"/>
                    </a:lnTo>
                  </a:path>
                </a:pathLst>
              </a:custGeom>
              <a:noFill/>
              <a:ln w="30162">
                <a:solidFill>
                  <a:srgbClr val="721E0D"/>
                </a:solidFill>
              </a:ln>
            </p:spPr>
          </p:sp>
          <p:sp>
            <p:nvSpPr>
              <p:cNvPr id="100" name="Freeform 100"/>
              <p:cNvSpPr/>
              <p:nvPr/>
            </p:nvSpPr>
            <p:spPr>
              <a:xfrm>
                <a:off x="5750718" y="3016250"/>
                <a:ext cx="90487" cy="180975"/>
              </a:xfrm>
              <a:custGeom>
                <a:avLst/>
                <a:gdLst/>
                <a:ahLst/>
                <a:cxnLst/>
                <a:rect l="l" t="t" r="r" b="b"/>
                <a:pathLst>
                  <a:path w="90487" h="180975">
                    <a:moveTo>
                      <a:pt x="0" y="15081"/>
                    </a:moveTo>
                    <a:cubicBezTo>
                      <a:pt x="0" y="6752"/>
                      <a:pt x="6752" y="0"/>
                      <a:pt x="15081" y="0"/>
                    </a:cubicBezTo>
                    <a:lnTo>
                      <a:pt x="75406" y="0"/>
                    </a:lnTo>
                    <a:cubicBezTo>
                      <a:pt x="83735" y="0"/>
                      <a:pt x="90487" y="6752"/>
                      <a:pt x="90487" y="15081"/>
                    </a:cubicBezTo>
                    <a:lnTo>
                      <a:pt x="90487" y="165893"/>
                    </a:lnTo>
                    <a:cubicBezTo>
                      <a:pt x="90487" y="174223"/>
                      <a:pt x="83735" y="180975"/>
                      <a:pt x="75406" y="180975"/>
                    </a:cubicBezTo>
                    <a:lnTo>
                      <a:pt x="15081" y="180975"/>
                    </a:lnTo>
                    <a:cubicBezTo>
                      <a:pt x="6752" y="180975"/>
                      <a:pt x="0" y="174223"/>
                      <a:pt x="0" y="165893"/>
                    </a:cubicBezTo>
                    <a:lnTo>
                      <a:pt x="0" y="15081"/>
                    </a:lnTo>
                  </a:path>
                </a:pathLst>
              </a:custGeom>
              <a:noFill/>
              <a:ln w="30162">
                <a:solidFill>
                  <a:srgbClr val="721E0D"/>
                </a:solidFill>
              </a:ln>
            </p:spPr>
          </p:sp>
          <p:sp>
            <p:nvSpPr>
              <p:cNvPr id="101" name="Freeform 101"/>
              <p:cNvSpPr/>
              <p:nvPr/>
            </p:nvSpPr>
            <p:spPr>
              <a:xfrm>
                <a:off x="5660231" y="2955925"/>
                <a:ext cx="90487" cy="241299"/>
              </a:xfrm>
              <a:custGeom>
                <a:avLst/>
                <a:gdLst/>
                <a:ahLst/>
                <a:cxnLst/>
                <a:rect l="l" t="t" r="r" b="b"/>
                <a:pathLst>
                  <a:path w="90487" h="241299">
                    <a:moveTo>
                      <a:pt x="0" y="15081"/>
                    </a:moveTo>
                    <a:cubicBezTo>
                      <a:pt x="0" y="6752"/>
                      <a:pt x="6752" y="0"/>
                      <a:pt x="15081" y="0"/>
                    </a:cubicBezTo>
                    <a:lnTo>
                      <a:pt x="75406" y="0"/>
                    </a:lnTo>
                    <a:cubicBezTo>
                      <a:pt x="83735" y="0"/>
                      <a:pt x="90487" y="6752"/>
                      <a:pt x="90487" y="15081"/>
                    </a:cubicBezTo>
                    <a:lnTo>
                      <a:pt x="90487" y="226218"/>
                    </a:lnTo>
                    <a:cubicBezTo>
                      <a:pt x="90487" y="234547"/>
                      <a:pt x="83735" y="241299"/>
                      <a:pt x="75406" y="241299"/>
                    </a:cubicBezTo>
                    <a:lnTo>
                      <a:pt x="15081" y="241299"/>
                    </a:lnTo>
                    <a:cubicBezTo>
                      <a:pt x="6752" y="241299"/>
                      <a:pt x="0" y="234547"/>
                      <a:pt x="0" y="226218"/>
                    </a:cubicBezTo>
                    <a:lnTo>
                      <a:pt x="0" y="15081"/>
                    </a:lnTo>
                  </a:path>
                </a:pathLst>
              </a:custGeom>
              <a:noFill/>
              <a:ln w="30162">
                <a:solidFill>
                  <a:srgbClr val="721E0D"/>
                </a:solidFill>
              </a:ln>
            </p:spPr>
          </p:sp>
          <p:sp>
            <p:nvSpPr>
              <p:cNvPr id="102" name="Freeform 102"/>
              <p:cNvSpPr/>
              <p:nvPr/>
            </p:nvSpPr>
            <p:spPr>
              <a:xfrm>
                <a:off x="5584825" y="3197224"/>
                <a:ext cx="211137" cy="9525"/>
              </a:xfrm>
              <a:custGeom>
                <a:avLst/>
                <a:gdLst/>
                <a:ahLst/>
                <a:cxnLst/>
                <a:rect l="l" t="t" r="r" b="b"/>
                <a:pathLst>
                  <a:path w="211137" h="9525">
                    <a:moveTo>
                      <a:pt x="0" y="0"/>
                    </a:moveTo>
                    <a:lnTo>
                      <a:pt x="211137" y="0"/>
                    </a:lnTo>
                  </a:path>
                </a:pathLst>
              </a:custGeom>
              <a:noFill/>
              <a:ln w="30162">
                <a:solidFill>
                  <a:srgbClr val="721E0D"/>
                </a:solidFill>
              </a:ln>
            </p:spPr>
          </p:sp>
        </p:grpSp>
        <p:sp>
          <p:nvSpPr>
            <p:cNvPr id="104" name="TextBox 104"/>
            <p:cNvSpPr txBox="1"/>
            <p:nvPr/>
          </p:nvSpPr>
          <p:spPr>
            <a:xfrm>
              <a:off x="5995988" y="2787491"/>
              <a:ext cx="671855"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预计增购签约</a:t>
              </a:r>
            </a:p>
          </p:txBody>
        </p:sp>
        <p:sp>
          <p:nvSpPr>
            <p:cNvPr id="105" name="TextBox 105"/>
            <p:cNvSpPr txBox="1"/>
            <p:nvPr/>
          </p:nvSpPr>
          <p:spPr>
            <a:xfrm>
              <a:off x="5988939" y="3025616"/>
              <a:ext cx="1204105" cy="454724"/>
            </a:xfrm>
            <a:prstGeom prst="rect">
              <a:avLst/>
            </a:prstGeom>
            <a:noFill/>
            <a:ln>
              <a:noFill/>
            </a:ln>
          </p:spPr>
          <p:txBody>
            <a:bodyPr wrap="none" lIns="0" tIns="0" rIns="0" bIns="0" anchor="t" anchorCtr="0">
              <a:spAutoFit/>
            </a:bodyPr>
            <a:lstStyle/>
            <a:p>
              <a:pPr algn="l"/>
              <a:r>
                <a:rPr lang="zh-CN" sz="2320" b="1" dirty="0">
                  <a:solidFill>
                    <a:srgbClr val="721E0D"/>
                  </a:solidFill>
                  <a:latin typeface="+mn-lt"/>
                  <a:ea typeface="+mn-ea"/>
                  <a:cs typeface="+mn-cs"/>
                </a:rPr>
                <a:t>1800</a:t>
              </a:r>
              <a:r>
                <a:rPr lang="zh-CN" sz="900" dirty="0">
                  <a:solidFill>
                    <a:srgbClr val="721E0D"/>
                  </a:solidFill>
                  <a:latin typeface="+mn-lt"/>
                  <a:ea typeface="+mn-ea"/>
                  <a:cs typeface="+mn-cs"/>
                </a:rPr>
                <a:t xml:space="preserve"> 万元</a:t>
              </a:r>
              <a:r>
                <a:rPr lang="zh-CN" sz="2320" b="1" dirty="0">
                  <a:solidFill>
                    <a:srgbClr val="721E0D"/>
                  </a:solidFill>
                  <a:latin typeface="+mn-lt"/>
                  <a:ea typeface="+mn-ea"/>
                  <a:cs typeface="+mn-cs"/>
                </a:rPr>
                <a:t xml:space="preserve"> </a:t>
              </a:r>
            </a:p>
          </p:txBody>
        </p:sp>
        <p:sp>
          <p:nvSpPr>
            <p:cNvPr id="106" name="TextBox 106"/>
            <p:cNvSpPr txBox="1"/>
            <p:nvPr/>
          </p:nvSpPr>
          <p:spPr>
            <a:xfrm>
              <a:off x="8129767" y="2817495"/>
              <a:ext cx="504467" cy="176212"/>
            </a:xfrm>
            <a:prstGeom prst="rect">
              <a:avLst/>
            </a:prstGeom>
            <a:noFill/>
            <a:ln>
              <a:noFill/>
            </a:ln>
          </p:spPr>
          <p:txBody>
            <a:bodyPr wrap="none" lIns="0" tIns="0" rIns="0" bIns="0" anchor="t" anchorCtr="0">
              <a:spAutoFit/>
            </a:bodyPr>
            <a:lstStyle/>
            <a:p>
              <a:pPr algn="ctr"/>
              <a:r>
                <a:rPr lang="zh-CN" sz="900" b="1" dirty="0">
                  <a:solidFill>
                    <a:srgbClr val="6E7686"/>
                  </a:solidFill>
                  <a:latin typeface="+mn-lt"/>
                  <a:ea typeface="+mn-ea"/>
                  <a:cs typeface="+mn-cs"/>
                </a:rPr>
                <a:t xml:space="preserve">  </a:t>
              </a:r>
              <a:r>
                <a:rPr lang="en-US" sz="900" b="1" dirty="0">
                  <a:solidFill>
                    <a:srgbClr val="6E7686"/>
                  </a:solidFill>
                  <a:latin typeface="+mn-lt"/>
                  <a:ea typeface="+mn-ea"/>
                  <a:cs typeface="+mn-cs"/>
                </a:rPr>
                <a:t>ROI</a:t>
              </a:r>
              <a:r>
                <a:rPr lang="zh-CN" sz="900" b="1" dirty="0">
                  <a:solidFill>
                    <a:srgbClr val="6E7686"/>
                  </a:solidFill>
                  <a:latin typeface="+mn-lt"/>
                  <a:ea typeface="+mn-ea"/>
                  <a:cs typeface="+mn-cs"/>
                </a:rPr>
                <a:t xml:space="preserve">  </a:t>
              </a:r>
            </a:p>
          </p:txBody>
        </p:sp>
        <p:sp>
          <p:nvSpPr>
            <p:cNvPr id="107" name="TextBox 107"/>
            <p:cNvSpPr txBox="1"/>
            <p:nvPr/>
          </p:nvSpPr>
          <p:spPr>
            <a:xfrm>
              <a:off x="7350231" y="3069431"/>
              <a:ext cx="2063538" cy="513398"/>
            </a:xfrm>
            <a:prstGeom prst="rect">
              <a:avLst/>
            </a:prstGeom>
            <a:noFill/>
            <a:ln>
              <a:noFill/>
            </a:ln>
          </p:spPr>
          <p:txBody>
            <a:bodyPr wrap="none" lIns="0" tIns="0" rIns="0" bIns="0" anchor="t" anchorCtr="0">
              <a:spAutoFit/>
            </a:bodyPr>
            <a:lstStyle/>
            <a:p>
              <a:pPr algn="ctr"/>
              <a:r>
                <a:rPr lang="zh-CN" sz="2620" b="1" dirty="0">
                  <a:solidFill>
                    <a:srgbClr val="721E0D"/>
                  </a:solidFill>
                  <a:latin typeface="+mn-lt"/>
                  <a:ea typeface="+mn-ea"/>
                  <a:cs typeface="+mn-cs"/>
                </a:rPr>
                <a:t xml:space="preserve">  1:13.5  </a:t>
              </a:r>
            </a:p>
          </p:txBody>
        </p:sp>
        <p:grpSp>
          <p:nvGrpSpPr>
            <p:cNvPr id="111" name="Group 111"/>
            <p:cNvGrpSpPr/>
            <p:nvPr/>
          </p:nvGrpSpPr>
          <p:grpSpPr>
            <a:xfrm>
              <a:off x="9540199" y="2707225"/>
              <a:ext cx="160095" cy="137543"/>
              <a:chOff x="9540199" y="2707225"/>
              <a:chExt cx="160095" cy="137543"/>
            </a:xfrm>
          </p:grpSpPr>
          <p:sp>
            <p:nvSpPr>
              <p:cNvPr id="108" name="Freeform 108"/>
              <p:cNvSpPr/>
              <p:nvPr/>
            </p:nvSpPr>
            <p:spPr>
              <a:xfrm>
                <a:off x="9620250" y="2757487"/>
                <a:ext cx="9525" cy="31750"/>
              </a:xfrm>
              <a:custGeom>
                <a:avLst/>
                <a:gdLst/>
                <a:ahLst/>
                <a:cxnLst/>
                <a:rect l="l" t="t" r="r" b="b"/>
                <a:pathLst>
                  <a:path w="9525" h="31750">
                    <a:moveTo>
                      <a:pt x="0" y="0"/>
                    </a:moveTo>
                    <a:lnTo>
                      <a:pt x="0" y="31750"/>
                    </a:lnTo>
                  </a:path>
                </a:pathLst>
              </a:custGeom>
              <a:noFill/>
              <a:ln w="15875">
                <a:solidFill>
                  <a:srgbClr val="C03616"/>
                </a:solidFill>
              </a:ln>
            </p:spPr>
          </p:sp>
          <p:sp>
            <p:nvSpPr>
              <p:cNvPr id="109" name="Freeform 109"/>
              <p:cNvSpPr/>
              <p:nvPr/>
            </p:nvSpPr>
            <p:spPr>
              <a:xfrm>
                <a:off x="9540199" y="270722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C03616"/>
                </a:solidFill>
              </a:ln>
            </p:spPr>
          </p:sp>
          <p:sp>
            <p:nvSpPr>
              <p:cNvPr id="110" name="Freeform 110"/>
              <p:cNvSpPr/>
              <p:nvPr/>
            </p:nvSpPr>
            <p:spPr>
              <a:xfrm>
                <a:off x="9620250" y="2813050"/>
                <a:ext cx="9525" cy="9525"/>
              </a:xfrm>
              <a:custGeom>
                <a:avLst/>
                <a:gdLst/>
                <a:ahLst/>
                <a:cxnLst/>
                <a:rect l="l" t="t" r="r" b="b"/>
                <a:pathLst>
                  <a:path w="9525" h="9525">
                    <a:moveTo>
                      <a:pt x="0" y="0"/>
                    </a:moveTo>
                    <a:lnTo>
                      <a:pt x="79" y="0"/>
                    </a:lnTo>
                  </a:path>
                </a:pathLst>
              </a:custGeom>
              <a:noFill/>
              <a:ln w="15875">
                <a:solidFill>
                  <a:srgbClr val="C03616"/>
                </a:solidFill>
              </a:ln>
            </p:spPr>
          </p:sp>
        </p:grpSp>
        <p:sp>
          <p:nvSpPr>
            <p:cNvPr id="112" name="TextBox 112"/>
            <p:cNvSpPr txBox="1"/>
            <p:nvPr/>
          </p:nvSpPr>
          <p:spPr>
            <a:xfrm>
              <a:off x="9805988" y="2738438"/>
              <a:ext cx="947738" cy="566738"/>
            </a:xfrm>
            <a:prstGeom prst="rect">
              <a:avLst/>
            </a:prstGeom>
            <a:noFill/>
            <a:ln>
              <a:noFill/>
            </a:ln>
          </p:spPr>
          <p:txBody>
            <a:bodyPr wrap="none" lIns="0" tIns="0" rIns="0" bIns="0" anchor="t" anchorCtr="0">
              <a:spAutoFit/>
            </a:bodyPr>
            <a:lstStyle/>
            <a:p>
              <a:pPr algn="l" marL="80962" indent="-80962">
                <a:lnSpc>
                  <a:spcPts val="1650"/>
                </a:lnSpc>
                <a:buClr>
                  <a:srgbClr val="523E3A"/>
                </a:buClr>
                <a:buSzTx/>
                <a:buFontTx/>
                <a:buChar char="•"/>
              </a:pPr>
              <a:r>
                <a:rPr lang="zh-CN" sz="750" dirty="0">
                  <a:solidFill>
                    <a:srgbClr val="523E3A"/>
                  </a:solidFill>
                  <a:latin typeface="+mn-lt"/>
                  <a:ea typeface="+mn-ea"/>
                  <a:cs typeface="+mn-cs"/>
                </a:rPr>
                <a:t>方案适配度不达预期</a:t>
              </a:r>
            </a:p>
            <a:p>
              <a:pPr algn="l" marL="80962" indent="-80962">
                <a:lnSpc>
                  <a:spcPts val="1650"/>
                </a:lnSpc>
                <a:buClr>
                  <a:srgbClr val="523E3A"/>
                </a:buClr>
                <a:buSzTx/>
                <a:buFontTx/>
                <a:buChar char="•"/>
              </a:pPr>
              <a:r>
                <a:rPr lang="zh-CN" sz="750" dirty="0">
                  <a:solidFill>
                    <a:srgbClr val="523E3A"/>
                  </a:solidFill>
                  <a:latin typeface="+mn-lt"/>
                  <a:ea typeface="+mn-ea"/>
                  <a:cs typeface="+mn-cs"/>
                </a:rPr>
                <a:t>客户内部评审未通过</a:t>
              </a:r>
            </a:p>
            <a:p>
              <a:pPr algn="l" marL="80962" indent="-80962">
                <a:lnSpc>
                  <a:spcPts val="1650"/>
                </a:lnSpc>
                <a:buClr>
                  <a:srgbClr val="523E3A"/>
                </a:buClr>
                <a:buSzTx/>
                <a:buFontTx/>
                <a:buChar char="•"/>
              </a:pPr>
              <a:r>
                <a:rPr lang="zh-CN" sz="750" dirty="0">
                  <a:solidFill>
                    <a:srgbClr val="523E3A"/>
                  </a:solidFill>
                  <a:latin typeface="+mn-lt"/>
                  <a:ea typeface="+mn-ea"/>
                  <a:cs typeface="+mn-cs"/>
                </a:rPr>
                <a:t>竞品方案优势超预期</a:t>
              </a:r>
            </a:p>
          </p:txBody>
        </p:sp>
      </p:grpSp>
      <p:grpSp>
        <p:nvGrpSpPr>
          <p:cNvPr id="149" name="resource-row-03"/>
          <p:cNvGrpSpPr/>
          <p:nvPr/>
        </p:nvGrpSpPr>
        <p:grpSpPr>
          <a:xfrm>
            <a:off x="228600" y="3829050"/>
            <a:ext cx="11734800" cy="1238250"/>
            <a:chOff x="228600" y="3829050"/>
            <a:chExt cx="11734800" cy="1238250"/>
          </a:xfrm>
        </p:grpSpPr>
        <p:sp>
          <p:nvSpPr>
            <p:cNvPr id="114" name="Rectangle 114"/>
            <p:cNvSpPr/>
            <p:nvPr/>
          </p:nvSpPr>
          <p:spPr>
            <a:xfrm>
              <a:off x="228600" y="3829050"/>
              <a:ext cx="11734800" cy="1238250"/>
            </a:xfrm>
            <a:prstGeom prst="roundRect">
              <a:avLst>
                <a:gd name="adj" fmla="val 7692"/>
              </a:avLst>
            </a:prstGeom>
            <a:solidFill>
              <a:srgbClr val="F8FAFD"/>
            </a:solidFill>
            <a:ln w="9525">
              <a:solidFill>
                <a:srgbClr val="E0E7F3"/>
              </a:solidFill>
            </a:ln>
          </p:spPr>
        </p:sp>
        <p:sp>
          <p:nvSpPr>
            <p:cNvPr id="115" name="Rectangle 115"/>
            <p:cNvSpPr/>
            <p:nvPr/>
          </p:nvSpPr>
          <p:spPr>
            <a:xfrm>
              <a:off x="228600" y="3924300"/>
              <a:ext cx="266700" cy="285750"/>
            </a:xfrm>
            <a:prstGeom prst="roundRect">
              <a:avLst>
                <a:gd name="adj" fmla="val 17857"/>
              </a:avLst>
            </a:prstGeom>
            <a:solidFill>
              <a:srgbClr val="721E0D"/>
            </a:solidFill>
            <a:ln>
              <a:noFill/>
            </a:ln>
          </p:spPr>
        </p:sp>
        <p:sp>
          <p:nvSpPr>
            <p:cNvPr id="116" name="TextBox 116"/>
            <p:cNvSpPr txBox="1"/>
            <p:nvPr/>
          </p:nvSpPr>
          <p:spPr>
            <a:xfrm>
              <a:off x="280809" y="4019074"/>
              <a:ext cx="16228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03</a:t>
              </a:r>
            </a:p>
          </p:txBody>
        </p:sp>
        <p:sp>
          <p:nvSpPr>
            <p:cNvPr id="117" name="Ellipse 117"/>
            <p:cNvSpPr/>
            <p:nvPr/>
          </p:nvSpPr>
          <p:spPr>
            <a:xfrm>
              <a:off x="628650" y="4038600"/>
              <a:ext cx="419100" cy="419100"/>
            </a:xfrm>
            <a:prstGeom prst="ellipse">
              <a:avLst/>
            </a:prstGeom>
            <a:solidFill>
              <a:srgbClr val="EAF1FB"/>
            </a:solidFill>
            <a:ln>
              <a:noFill/>
            </a:ln>
          </p:spPr>
        </p:sp>
        <p:grpSp>
          <p:nvGrpSpPr>
            <p:cNvPr id="121" name="Group 121"/>
            <p:cNvGrpSpPr/>
            <p:nvPr/>
          </p:nvGrpSpPr>
          <p:grpSpPr>
            <a:xfrm>
              <a:off x="760413" y="4148138"/>
              <a:ext cx="155575" cy="200025"/>
              <a:chOff x="760413" y="4148138"/>
              <a:chExt cx="155575" cy="200025"/>
            </a:xfrm>
          </p:grpSpPr>
          <p:sp>
            <p:nvSpPr>
              <p:cNvPr id="118" name="Freeform 118"/>
              <p:cNvSpPr/>
              <p:nvPr/>
            </p:nvSpPr>
            <p:spPr>
              <a:xfrm>
                <a:off x="760413" y="4214813"/>
                <a:ext cx="155575" cy="133350"/>
              </a:xfrm>
              <a:custGeom>
                <a:avLst/>
                <a:gdLst/>
                <a:ahLst/>
                <a:cxnLst/>
                <a:rect l="l" t="t" r="r" b="b"/>
                <a:pathLst>
                  <a:path w="155575" h="133350">
                    <a:moveTo>
                      <a:pt x="33338" y="0"/>
                    </a:moveTo>
                    <a:lnTo>
                      <a:pt x="22225" y="0"/>
                    </a:lnTo>
                    <a:cubicBezTo>
                      <a:pt x="9950" y="0"/>
                      <a:pt x="0" y="9950"/>
                      <a:pt x="0" y="22225"/>
                    </a:cubicBezTo>
                    <a:lnTo>
                      <a:pt x="0" y="111125"/>
                    </a:lnTo>
                    <a:cubicBezTo>
                      <a:pt x="0" y="123400"/>
                      <a:pt x="9950" y="133350"/>
                      <a:pt x="22225" y="133350"/>
                    </a:cubicBezTo>
                    <a:lnTo>
                      <a:pt x="133350" y="133350"/>
                    </a:lnTo>
                    <a:cubicBezTo>
                      <a:pt x="145625" y="133350"/>
                      <a:pt x="155575" y="123400"/>
                      <a:pt x="155575" y="111125"/>
                    </a:cubicBezTo>
                    <a:lnTo>
                      <a:pt x="155575" y="22225"/>
                    </a:lnTo>
                    <a:cubicBezTo>
                      <a:pt x="155575" y="9950"/>
                      <a:pt x="145625" y="0"/>
                      <a:pt x="133350" y="0"/>
                    </a:cubicBezTo>
                    <a:lnTo>
                      <a:pt x="122238" y="0"/>
                    </a:lnTo>
                  </a:path>
                </a:pathLst>
              </a:custGeom>
              <a:noFill/>
              <a:ln w="22225">
                <a:solidFill>
                  <a:srgbClr val="721E0D"/>
                </a:solidFill>
              </a:ln>
            </p:spPr>
          </p:sp>
          <p:sp>
            <p:nvSpPr>
              <p:cNvPr id="119" name="Freeform 119"/>
              <p:cNvSpPr/>
              <p:nvPr/>
            </p:nvSpPr>
            <p:spPr>
              <a:xfrm>
                <a:off x="838200" y="4148138"/>
                <a:ext cx="9525" cy="122238"/>
              </a:xfrm>
              <a:custGeom>
                <a:avLst/>
                <a:gdLst/>
                <a:ahLst/>
                <a:cxnLst/>
                <a:rect l="l" t="t" r="r" b="b"/>
                <a:pathLst>
                  <a:path w="9525" h="122238">
                    <a:moveTo>
                      <a:pt x="0" y="122238"/>
                    </a:moveTo>
                    <a:lnTo>
                      <a:pt x="0" y="0"/>
                    </a:lnTo>
                  </a:path>
                </a:pathLst>
              </a:custGeom>
              <a:noFill/>
              <a:ln w="22225">
                <a:solidFill>
                  <a:srgbClr val="721E0D"/>
                </a:solidFill>
              </a:ln>
            </p:spPr>
          </p:sp>
          <p:sp>
            <p:nvSpPr>
              <p:cNvPr id="120" name="Freeform 120"/>
              <p:cNvSpPr/>
              <p:nvPr/>
            </p:nvSpPr>
            <p:spPr>
              <a:xfrm>
                <a:off x="804863" y="4148138"/>
                <a:ext cx="66675" cy="33338"/>
              </a:xfrm>
              <a:custGeom>
                <a:avLst/>
                <a:gdLst/>
                <a:ahLst/>
                <a:cxnLst/>
                <a:rect l="l" t="t" r="r" b="b"/>
                <a:pathLst>
                  <a:path w="66675" h="33338">
                    <a:moveTo>
                      <a:pt x="0" y="33338"/>
                    </a:moveTo>
                    <a:lnTo>
                      <a:pt x="33338" y="0"/>
                    </a:lnTo>
                    <a:lnTo>
                      <a:pt x="66675" y="33338"/>
                    </a:lnTo>
                  </a:path>
                </a:pathLst>
              </a:custGeom>
              <a:noFill/>
              <a:ln w="22225">
                <a:solidFill>
                  <a:srgbClr val="721E0D"/>
                </a:solidFill>
              </a:ln>
            </p:spPr>
          </p:sp>
        </p:grpSp>
        <p:sp>
          <p:nvSpPr>
            <p:cNvPr id="122" name="TextBox 122"/>
            <p:cNvSpPr txBox="1"/>
            <p:nvPr/>
          </p:nvSpPr>
          <p:spPr>
            <a:xfrm>
              <a:off x="1157288" y="4013597"/>
              <a:ext cx="515696"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资源三：</a:t>
              </a:r>
            </a:p>
          </p:txBody>
        </p:sp>
        <p:sp>
          <p:nvSpPr>
            <p:cNvPr id="123" name="TextBox 123"/>
            <p:cNvSpPr txBox="1"/>
            <p:nvPr/>
          </p:nvSpPr>
          <p:spPr>
            <a:xfrm>
              <a:off x="1156144" y="4236958"/>
              <a:ext cx="2072722" cy="227362"/>
            </a:xfrm>
            <a:prstGeom prst="rect">
              <a:avLst/>
            </a:prstGeom>
            <a:noFill/>
            <a:ln>
              <a:noFill/>
            </a:ln>
          </p:spPr>
          <p:txBody>
            <a:bodyPr wrap="none" lIns="0" tIns="0" rIns="0" bIns="0" anchor="t" anchorCtr="0">
              <a:spAutoFit/>
            </a:bodyPr>
            <a:lstStyle/>
            <a:p>
              <a:pPr algn="l"/>
              <a:r>
                <a:rPr lang="zh-CN" sz="1160" b="1" dirty="0">
                  <a:solidFill>
                    <a:srgbClr val="461910"/>
                  </a:solidFill>
                  <a:latin typeface="+mn-lt"/>
                  <a:ea typeface="+mn-ea"/>
                  <a:cs typeface="+mn-cs"/>
                </a:rPr>
                <a:t xml:space="preserve">专项市场费用150万元      </a:t>
              </a:r>
            </a:p>
          </p:txBody>
        </p:sp>
        <p:grpSp>
          <p:nvGrpSpPr>
            <p:cNvPr id="127" name="Group 127"/>
            <p:cNvGrpSpPr/>
            <p:nvPr/>
          </p:nvGrpSpPr>
          <p:grpSpPr>
            <a:xfrm>
              <a:off x="1178719" y="4474369"/>
              <a:ext cx="100012" cy="100012"/>
              <a:chOff x="1178719" y="4474369"/>
              <a:chExt cx="100012" cy="100012"/>
            </a:xfrm>
          </p:grpSpPr>
          <p:sp>
            <p:nvSpPr>
              <p:cNvPr id="124" name="Freeform 124"/>
              <p:cNvSpPr/>
              <p:nvPr/>
            </p:nvSpPr>
            <p:spPr>
              <a:xfrm>
                <a:off x="1223169" y="45188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B8351A"/>
                </a:solidFill>
              </a:ln>
            </p:spPr>
          </p:sp>
          <p:sp>
            <p:nvSpPr>
              <p:cNvPr id="125" name="Freeform 125"/>
              <p:cNvSpPr/>
              <p:nvPr/>
            </p:nvSpPr>
            <p:spPr>
              <a:xfrm>
                <a:off x="1200944" y="449659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B8351A"/>
                </a:solidFill>
              </a:ln>
            </p:spPr>
          </p:sp>
          <p:sp>
            <p:nvSpPr>
              <p:cNvPr id="126" name="Freeform 126"/>
              <p:cNvSpPr/>
              <p:nvPr/>
            </p:nvSpPr>
            <p:spPr>
              <a:xfrm>
                <a:off x="1178719" y="44743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B8351A"/>
                </a:solidFill>
              </a:ln>
            </p:spPr>
          </p:sp>
        </p:grpSp>
        <p:sp>
          <p:nvSpPr>
            <p:cNvPr id="128" name="TextBox 128"/>
            <p:cNvSpPr txBox="1"/>
            <p:nvPr/>
          </p:nvSpPr>
          <p:spPr>
            <a:xfrm>
              <a:off x="1347788" y="4477464"/>
              <a:ext cx="1711122" cy="154781"/>
            </a:xfrm>
            <a:prstGeom prst="rect">
              <a:avLst/>
            </a:prstGeom>
            <a:noFill/>
            <a:ln>
              <a:noFill/>
            </a:ln>
          </p:spPr>
          <p:txBody>
            <a:bodyPr wrap="none" lIns="0" tIns="0" rIns="0" bIns="0" anchor="t" anchorCtr="0">
              <a:spAutoFit/>
            </a:bodyPr>
            <a:lstStyle/>
            <a:p>
              <a:pPr algn="l"/>
              <a:r>
                <a:rPr lang="zh-CN" sz="790" dirty="0">
                  <a:solidFill>
                    <a:srgbClr val="523E3A"/>
                  </a:solidFill>
                  <a:latin typeface="+mn-lt"/>
                  <a:ea typeface="+mn-ea"/>
                  <a:cs typeface="+mn-cs"/>
                </a:rPr>
                <a:t>目标：提升品牌影响，获取销售线索</a:t>
              </a:r>
            </a:p>
          </p:txBody>
        </p:sp>
        <p:grpSp>
          <p:nvGrpSpPr>
            <p:cNvPr id="132" name="Group 132"/>
            <p:cNvGrpSpPr/>
            <p:nvPr/>
          </p:nvGrpSpPr>
          <p:grpSpPr>
            <a:xfrm>
              <a:off x="3531394" y="4255294"/>
              <a:ext cx="271462" cy="271462"/>
              <a:chOff x="3531394" y="4255294"/>
              <a:chExt cx="271462" cy="271462"/>
            </a:xfrm>
          </p:grpSpPr>
          <p:sp>
            <p:nvSpPr>
              <p:cNvPr id="129" name="Freeform 129"/>
              <p:cNvSpPr/>
              <p:nvPr/>
            </p:nvSpPr>
            <p:spPr>
              <a:xfrm>
                <a:off x="3531394" y="4255294"/>
                <a:ext cx="271462" cy="271462"/>
              </a:xfrm>
              <a:custGeom>
                <a:avLst/>
                <a:gdLst/>
                <a:ahLst/>
                <a:cxnLst/>
                <a:rect l="l" t="t" r="r" b="b"/>
                <a:pathLst>
                  <a:path w="271462" h="271462">
                    <a:moveTo>
                      <a:pt x="0" y="135731"/>
                    </a:moveTo>
                    <a:cubicBezTo>
                      <a:pt x="0" y="210693"/>
                      <a:pt x="60769" y="271462"/>
                      <a:pt x="135731" y="271462"/>
                    </a:cubicBezTo>
                    <a:cubicBezTo>
                      <a:pt x="210693" y="271462"/>
                      <a:pt x="271462" y="210693"/>
                      <a:pt x="271462" y="135731"/>
                    </a:cubicBezTo>
                    <a:cubicBezTo>
                      <a:pt x="271462" y="60769"/>
                      <a:pt x="210693" y="0"/>
                      <a:pt x="135731" y="0"/>
                    </a:cubicBezTo>
                    <a:cubicBezTo>
                      <a:pt x="60769" y="0"/>
                      <a:pt x="0" y="60769"/>
                      <a:pt x="0" y="135731"/>
                    </a:cubicBezTo>
                  </a:path>
                </a:pathLst>
              </a:custGeom>
              <a:noFill/>
              <a:ln w="30162">
                <a:solidFill>
                  <a:srgbClr val="721E0D"/>
                </a:solidFill>
              </a:ln>
            </p:spPr>
          </p:sp>
          <p:sp>
            <p:nvSpPr>
              <p:cNvPr id="130" name="Freeform 130"/>
              <p:cNvSpPr/>
              <p:nvPr/>
            </p:nvSpPr>
            <p:spPr>
              <a:xfrm>
                <a:off x="3621881" y="4330325"/>
                <a:ext cx="90487" cy="121400"/>
              </a:xfrm>
              <a:custGeom>
                <a:avLst/>
                <a:gdLst/>
                <a:ahLst/>
                <a:cxnLst/>
                <a:rect l="l" t="t" r="r" b="b"/>
                <a:pathLst>
                  <a:path w="90487" h="121400">
                    <a:moveTo>
                      <a:pt x="87471" y="15456"/>
                    </a:moveTo>
                    <a:cubicBezTo>
                      <a:pt x="81904" y="5799"/>
                      <a:pt x="71465" y="0"/>
                      <a:pt x="60325" y="375"/>
                    </a:cubicBezTo>
                    <a:lnTo>
                      <a:pt x="30162" y="375"/>
                    </a:lnTo>
                    <a:cubicBezTo>
                      <a:pt x="13504" y="375"/>
                      <a:pt x="0" y="13879"/>
                      <a:pt x="0" y="30537"/>
                    </a:cubicBezTo>
                    <a:cubicBezTo>
                      <a:pt x="0" y="47196"/>
                      <a:pt x="13504" y="60700"/>
                      <a:pt x="30162" y="60700"/>
                    </a:cubicBezTo>
                    <a:lnTo>
                      <a:pt x="60325" y="60700"/>
                    </a:lnTo>
                    <a:cubicBezTo>
                      <a:pt x="76983" y="60700"/>
                      <a:pt x="90487" y="74204"/>
                      <a:pt x="90487" y="90862"/>
                    </a:cubicBezTo>
                    <a:cubicBezTo>
                      <a:pt x="90487" y="107521"/>
                      <a:pt x="76983" y="121025"/>
                      <a:pt x="60325" y="121025"/>
                    </a:cubicBezTo>
                    <a:lnTo>
                      <a:pt x="30162" y="121025"/>
                    </a:lnTo>
                    <a:cubicBezTo>
                      <a:pt x="19022" y="121400"/>
                      <a:pt x="8583" y="115600"/>
                      <a:pt x="3016" y="105944"/>
                    </a:cubicBezTo>
                  </a:path>
                </a:pathLst>
              </a:custGeom>
              <a:noFill/>
              <a:ln w="30162">
                <a:solidFill>
                  <a:srgbClr val="721E0D"/>
                </a:solidFill>
              </a:ln>
            </p:spPr>
          </p:sp>
          <p:sp>
            <p:nvSpPr>
              <p:cNvPr id="131" name="Freeform 131"/>
              <p:cNvSpPr/>
              <p:nvPr/>
            </p:nvSpPr>
            <p:spPr>
              <a:xfrm>
                <a:off x="3667125" y="4315619"/>
                <a:ext cx="9525" cy="150812"/>
              </a:xfrm>
              <a:custGeom>
                <a:avLst/>
                <a:gdLst/>
                <a:ahLst/>
                <a:cxnLst/>
                <a:rect l="l" t="t" r="r" b="b"/>
                <a:pathLst>
                  <a:path w="9525" h="150812">
                    <a:moveTo>
                      <a:pt x="0" y="0"/>
                    </a:moveTo>
                    <a:lnTo>
                      <a:pt x="0" y="150812"/>
                    </a:lnTo>
                  </a:path>
                </a:pathLst>
              </a:custGeom>
              <a:noFill/>
              <a:ln w="30162">
                <a:solidFill>
                  <a:srgbClr val="721E0D"/>
                </a:solidFill>
              </a:ln>
            </p:spPr>
          </p:sp>
        </p:grpSp>
        <p:sp>
          <p:nvSpPr>
            <p:cNvPr id="133" name="TextBox 133"/>
            <p:cNvSpPr txBox="1"/>
            <p:nvPr/>
          </p:nvSpPr>
          <p:spPr>
            <a:xfrm>
              <a:off x="3957638" y="4101941"/>
              <a:ext cx="230302"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投入</a:t>
              </a:r>
            </a:p>
          </p:txBody>
        </p:sp>
        <p:sp>
          <p:nvSpPr>
            <p:cNvPr id="134" name="TextBox 134"/>
            <p:cNvSpPr txBox="1"/>
            <p:nvPr/>
          </p:nvSpPr>
          <p:spPr>
            <a:xfrm>
              <a:off x="3950589" y="4340066"/>
              <a:ext cx="1023741" cy="454724"/>
            </a:xfrm>
            <a:prstGeom prst="rect">
              <a:avLst/>
            </a:prstGeom>
            <a:noFill/>
            <a:ln>
              <a:noFill/>
            </a:ln>
          </p:spPr>
          <p:txBody>
            <a:bodyPr wrap="none" lIns="0" tIns="0" rIns="0" bIns="0" anchor="t" anchorCtr="0">
              <a:spAutoFit/>
            </a:bodyPr>
            <a:lstStyle/>
            <a:p>
              <a:pPr algn="l"/>
              <a:r>
                <a:rPr lang="zh-CN" sz="2320" b="1" dirty="0">
                  <a:solidFill>
                    <a:srgbClr val="721E0D"/>
                  </a:solidFill>
                  <a:latin typeface="+mn-lt"/>
                  <a:ea typeface="+mn-ea"/>
                  <a:cs typeface="+mn-cs"/>
                </a:rPr>
                <a:t>150</a:t>
              </a:r>
              <a:r>
                <a:rPr lang="zh-CN" sz="900" dirty="0">
                  <a:solidFill>
                    <a:srgbClr val="721E0D"/>
                  </a:solidFill>
                  <a:latin typeface="+mn-lt"/>
                  <a:ea typeface="+mn-ea"/>
                  <a:cs typeface="+mn-cs"/>
                </a:rPr>
                <a:t xml:space="preserve"> 万元</a:t>
              </a:r>
              <a:r>
                <a:rPr lang="zh-CN" sz="2320" b="1" dirty="0">
                  <a:solidFill>
                    <a:srgbClr val="721E0D"/>
                  </a:solidFill>
                  <a:latin typeface="+mn-lt"/>
                  <a:ea typeface="+mn-ea"/>
                  <a:cs typeface="+mn-cs"/>
                </a:rPr>
                <a:t xml:space="preserve"> </a:t>
              </a:r>
            </a:p>
          </p:txBody>
        </p:sp>
        <p:grpSp>
          <p:nvGrpSpPr>
            <p:cNvPr id="139" name="Group 139"/>
            <p:cNvGrpSpPr/>
            <p:nvPr/>
          </p:nvGrpSpPr>
          <p:grpSpPr>
            <a:xfrm>
              <a:off x="5569744" y="4270375"/>
              <a:ext cx="271461" cy="250824"/>
              <a:chOff x="5569744" y="4270375"/>
              <a:chExt cx="271461" cy="250824"/>
            </a:xfrm>
          </p:grpSpPr>
          <p:sp>
            <p:nvSpPr>
              <p:cNvPr id="135" name="Freeform 135"/>
              <p:cNvSpPr/>
              <p:nvPr/>
            </p:nvSpPr>
            <p:spPr>
              <a:xfrm>
                <a:off x="5569744" y="4391025"/>
                <a:ext cx="90487" cy="120650"/>
              </a:xfrm>
              <a:custGeom>
                <a:avLst/>
                <a:gdLst/>
                <a:ahLst/>
                <a:cxnLst/>
                <a:rect l="l" t="t" r="r" b="b"/>
                <a:pathLst>
                  <a:path w="90487" h="120650">
                    <a:moveTo>
                      <a:pt x="0" y="15081"/>
                    </a:moveTo>
                    <a:cubicBezTo>
                      <a:pt x="0" y="6752"/>
                      <a:pt x="6752" y="0"/>
                      <a:pt x="15081" y="0"/>
                    </a:cubicBezTo>
                    <a:lnTo>
                      <a:pt x="75406" y="0"/>
                    </a:lnTo>
                    <a:cubicBezTo>
                      <a:pt x="83735" y="0"/>
                      <a:pt x="90487" y="6752"/>
                      <a:pt x="90487" y="15081"/>
                    </a:cubicBezTo>
                    <a:lnTo>
                      <a:pt x="90487" y="105569"/>
                    </a:lnTo>
                    <a:cubicBezTo>
                      <a:pt x="90487" y="113898"/>
                      <a:pt x="83735" y="120650"/>
                      <a:pt x="75406" y="120650"/>
                    </a:cubicBezTo>
                    <a:lnTo>
                      <a:pt x="15081" y="120650"/>
                    </a:lnTo>
                    <a:cubicBezTo>
                      <a:pt x="6752" y="120650"/>
                      <a:pt x="0" y="113898"/>
                      <a:pt x="0" y="105569"/>
                    </a:cubicBezTo>
                    <a:lnTo>
                      <a:pt x="0" y="15081"/>
                    </a:lnTo>
                  </a:path>
                </a:pathLst>
              </a:custGeom>
              <a:noFill/>
              <a:ln w="30162">
                <a:solidFill>
                  <a:srgbClr val="721E0D"/>
                </a:solidFill>
              </a:ln>
            </p:spPr>
          </p:sp>
          <p:sp>
            <p:nvSpPr>
              <p:cNvPr id="136" name="Freeform 136"/>
              <p:cNvSpPr/>
              <p:nvPr/>
            </p:nvSpPr>
            <p:spPr>
              <a:xfrm>
                <a:off x="5750718" y="4330700"/>
                <a:ext cx="90487" cy="180975"/>
              </a:xfrm>
              <a:custGeom>
                <a:avLst/>
                <a:gdLst/>
                <a:ahLst/>
                <a:cxnLst/>
                <a:rect l="l" t="t" r="r" b="b"/>
                <a:pathLst>
                  <a:path w="90487" h="180975">
                    <a:moveTo>
                      <a:pt x="0" y="15081"/>
                    </a:moveTo>
                    <a:cubicBezTo>
                      <a:pt x="0" y="6752"/>
                      <a:pt x="6752" y="0"/>
                      <a:pt x="15081" y="0"/>
                    </a:cubicBezTo>
                    <a:lnTo>
                      <a:pt x="75406" y="0"/>
                    </a:lnTo>
                    <a:cubicBezTo>
                      <a:pt x="83735" y="0"/>
                      <a:pt x="90487" y="6752"/>
                      <a:pt x="90487" y="15081"/>
                    </a:cubicBezTo>
                    <a:lnTo>
                      <a:pt x="90487" y="165893"/>
                    </a:lnTo>
                    <a:cubicBezTo>
                      <a:pt x="90487" y="174223"/>
                      <a:pt x="83735" y="180975"/>
                      <a:pt x="75406" y="180975"/>
                    </a:cubicBezTo>
                    <a:lnTo>
                      <a:pt x="15081" y="180975"/>
                    </a:lnTo>
                    <a:cubicBezTo>
                      <a:pt x="6752" y="180975"/>
                      <a:pt x="0" y="174223"/>
                      <a:pt x="0" y="165893"/>
                    </a:cubicBezTo>
                    <a:lnTo>
                      <a:pt x="0" y="15081"/>
                    </a:lnTo>
                  </a:path>
                </a:pathLst>
              </a:custGeom>
              <a:noFill/>
              <a:ln w="30162">
                <a:solidFill>
                  <a:srgbClr val="721E0D"/>
                </a:solidFill>
              </a:ln>
            </p:spPr>
          </p:sp>
          <p:sp>
            <p:nvSpPr>
              <p:cNvPr id="137" name="Freeform 137"/>
              <p:cNvSpPr/>
              <p:nvPr/>
            </p:nvSpPr>
            <p:spPr>
              <a:xfrm>
                <a:off x="5660231" y="4270375"/>
                <a:ext cx="90487" cy="241299"/>
              </a:xfrm>
              <a:custGeom>
                <a:avLst/>
                <a:gdLst/>
                <a:ahLst/>
                <a:cxnLst/>
                <a:rect l="l" t="t" r="r" b="b"/>
                <a:pathLst>
                  <a:path w="90487" h="241299">
                    <a:moveTo>
                      <a:pt x="0" y="15081"/>
                    </a:moveTo>
                    <a:cubicBezTo>
                      <a:pt x="0" y="6752"/>
                      <a:pt x="6752" y="0"/>
                      <a:pt x="15081" y="0"/>
                    </a:cubicBezTo>
                    <a:lnTo>
                      <a:pt x="75406" y="0"/>
                    </a:lnTo>
                    <a:cubicBezTo>
                      <a:pt x="83735" y="0"/>
                      <a:pt x="90487" y="6752"/>
                      <a:pt x="90487" y="15081"/>
                    </a:cubicBezTo>
                    <a:lnTo>
                      <a:pt x="90487" y="226218"/>
                    </a:lnTo>
                    <a:cubicBezTo>
                      <a:pt x="90487" y="234547"/>
                      <a:pt x="83735" y="241299"/>
                      <a:pt x="75406" y="241299"/>
                    </a:cubicBezTo>
                    <a:lnTo>
                      <a:pt x="15081" y="241299"/>
                    </a:lnTo>
                    <a:cubicBezTo>
                      <a:pt x="6752" y="241299"/>
                      <a:pt x="0" y="234547"/>
                      <a:pt x="0" y="226218"/>
                    </a:cubicBezTo>
                    <a:lnTo>
                      <a:pt x="0" y="15081"/>
                    </a:lnTo>
                  </a:path>
                </a:pathLst>
              </a:custGeom>
              <a:noFill/>
              <a:ln w="30162">
                <a:solidFill>
                  <a:srgbClr val="721E0D"/>
                </a:solidFill>
              </a:ln>
            </p:spPr>
          </p:sp>
          <p:sp>
            <p:nvSpPr>
              <p:cNvPr id="138" name="Freeform 138"/>
              <p:cNvSpPr/>
              <p:nvPr/>
            </p:nvSpPr>
            <p:spPr>
              <a:xfrm>
                <a:off x="5584825" y="4511674"/>
                <a:ext cx="211137" cy="9525"/>
              </a:xfrm>
              <a:custGeom>
                <a:avLst/>
                <a:gdLst/>
                <a:ahLst/>
                <a:cxnLst/>
                <a:rect l="l" t="t" r="r" b="b"/>
                <a:pathLst>
                  <a:path w="211137" h="9525">
                    <a:moveTo>
                      <a:pt x="0" y="0"/>
                    </a:moveTo>
                    <a:lnTo>
                      <a:pt x="211137" y="0"/>
                    </a:lnTo>
                  </a:path>
                </a:pathLst>
              </a:custGeom>
              <a:noFill/>
              <a:ln w="30162">
                <a:solidFill>
                  <a:srgbClr val="721E0D"/>
                </a:solidFill>
              </a:ln>
            </p:spPr>
          </p:sp>
        </p:grpSp>
        <p:sp>
          <p:nvSpPr>
            <p:cNvPr id="140" name="TextBox 140"/>
            <p:cNvSpPr txBox="1"/>
            <p:nvPr/>
          </p:nvSpPr>
          <p:spPr>
            <a:xfrm>
              <a:off x="5995988" y="4101941"/>
              <a:ext cx="671855" cy="161925"/>
            </a:xfrm>
            <a:prstGeom prst="rect">
              <a:avLst/>
            </a:prstGeom>
            <a:noFill/>
            <a:ln>
              <a:noFill/>
            </a:ln>
          </p:spPr>
          <p:txBody>
            <a:bodyPr wrap="none" lIns="0" tIns="0" rIns="0" bIns="0" anchor="t" anchorCtr="0">
              <a:spAutoFit/>
            </a:bodyPr>
            <a:lstStyle/>
            <a:p>
              <a:pPr algn="l"/>
              <a:r>
                <a:rPr lang="zh-CN" sz="820" dirty="0">
                  <a:solidFill>
                    <a:srgbClr val="523E3A"/>
                  </a:solidFill>
                  <a:latin typeface="+mn-lt"/>
                  <a:ea typeface="+mn-ea"/>
                  <a:cs typeface="+mn-cs"/>
                </a:rPr>
                <a:t>预计新增签约</a:t>
              </a:r>
            </a:p>
          </p:txBody>
        </p:sp>
        <p:sp>
          <p:nvSpPr>
            <p:cNvPr id="141" name="TextBox 141"/>
            <p:cNvSpPr txBox="1"/>
            <p:nvPr/>
          </p:nvSpPr>
          <p:spPr>
            <a:xfrm>
              <a:off x="5988939" y="4340066"/>
              <a:ext cx="1204105" cy="454724"/>
            </a:xfrm>
            <a:prstGeom prst="rect">
              <a:avLst/>
            </a:prstGeom>
            <a:noFill/>
            <a:ln>
              <a:noFill/>
            </a:ln>
          </p:spPr>
          <p:txBody>
            <a:bodyPr wrap="none" lIns="0" tIns="0" rIns="0" bIns="0" anchor="t" anchorCtr="0">
              <a:spAutoFit/>
            </a:bodyPr>
            <a:lstStyle/>
            <a:p>
              <a:pPr algn="l"/>
              <a:r>
                <a:rPr lang="zh-CN" sz="2320" b="1" dirty="0">
                  <a:solidFill>
                    <a:srgbClr val="721E0D"/>
                  </a:solidFill>
                  <a:latin typeface="+mn-lt"/>
                  <a:ea typeface="+mn-ea"/>
                  <a:cs typeface="+mn-cs"/>
                </a:rPr>
                <a:t>1200</a:t>
              </a:r>
              <a:r>
                <a:rPr lang="zh-CN" sz="900" dirty="0">
                  <a:solidFill>
                    <a:srgbClr val="721E0D"/>
                  </a:solidFill>
                  <a:latin typeface="+mn-lt"/>
                  <a:ea typeface="+mn-ea"/>
                  <a:cs typeface="+mn-cs"/>
                </a:rPr>
                <a:t xml:space="preserve"> 万元</a:t>
              </a:r>
              <a:r>
                <a:rPr lang="zh-CN" sz="2320" b="1" dirty="0">
                  <a:solidFill>
                    <a:srgbClr val="721E0D"/>
                  </a:solidFill>
                  <a:latin typeface="+mn-lt"/>
                  <a:ea typeface="+mn-ea"/>
                  <a:cs typeface="+mn-cs"/>
                </a:rPr>
                <a:t xml:space="preserve"> </a:t>
              </a:r>
            </a:p>
          </p:txBody>
        </p:sp>
        <p:sp>
          <p:nvSpPr>
            <p:cNvPr id="142" name="TextBox 142"/>
            <p:cNvSpPr txBox="1"/>
            <p:nvPr/>
          </p:nvSpPr>
          <p:spPr>
            <a:xfrm>
              <a:off x="8129767" y="4131945"/>
              <a:ext cx="504467" cy="176212"/>
            </a:xfrm>
            <a:prstGeom prst="rect">
              <a:avLst/>
            </a:prstGeom>
            <a:noFill/>
            <a:ln>
              <a:noFill/>
            </a:ln>
          </p:spPr>
          <p:txBody>
            <a:bodyPr wrap="none" lIns="0" tIns="0" rIns="0" bIns="0" anchor="t" anchorCtr="0">
              <a:spAutoFit/>
            </a:bodyPr>
            <a:lstStyle/>
            <a:p>
              <a:pPr algn="ctr"/>
              <a:r>
                <a:rPr lang="zh-CN" sz="900" b="1" dirty="0">
                  <a:solidFill>
                    <a:srgbClr val="6E7686"/>
                  </a:solidFill>
                  <a:latin typeface="+mn-lt"/>
                  <a:ea typeface="+mn-ea"/>
                  <a:cs typeface="+mn-cs"/>
                </a:rPr>
                <a:t xml:space="preserve">  </a:t>
              </a:r>
              <a:r>
                <a:rPr lang="en-US" sz="900" b="1" dirty="0">
                  <a:solidFill>
                    <a:srgbClr val="6E7686"/>
                  </a:solidFill>
                  <a:latin typeface="+mn-lt"/>
                  <a:ea typeface="+mn-ea"/>
                  <a:cs typeface="+mn-cs"/>
                </a:rPr>
                <a:t>ROI</a:t>
              </a:r>
              <a:r>
                <a:rPr lang="zh-CN" sz="900" b="1" dirty="0">
                  <a:solidFill>
                    <a:srgbClr val="6E7686"/>
                  </a:solidFill>
                  <a:latin typeface="+mn-lt"/>
                  <a:ea typeface="+mn-ea"/>
                  <a:cs typeface="+mn-cs"/>
                </a:rPr>
                <a:t xml:space="preserve">  </a:t>
              </a:r>
            </a:p>
          </p:txBody>
        </p:sp>
        <p:sp>
          <p:nvSpPr>
            <p:cNvPr id="143" name="TextBox 143"/>
            <p:cNvSpPr txBox="1"/>
            <p:nvPr/>
          </p:nvSpPr>
          <p:spPr>
            <a:xfrm>
              <a:off x="7452074" y="4383881"/>
              <a:ext cx="1859851" cy="513398"/>
            </a:xfrm>
            <a:prstGeom prst="rect">
              <a:avLst/>
            </a:prstGeom>
            <a:noFill/>
            <a:ln>
              <a:noFill/>
            </a:ln>
          </p:spPr>
          <p:txBody>
            <a:bodyPr wrap="none" lIns="0" tIns="0" rIns="0" bIns="0" anchor="t" anchorCtr="0">
              <a:spAutoFit/>
            </a:bodyPr>
            <a:lstStyle/>
            <a:p>
              <a:pPr algn="ctr"/>
              <a:r>
                <a:rPr lang="zh-CN" sz="2620" b="1" dirty="0">
                  <a:solidFill>
                    <a:srgbClr val="721E0D"/>
                  </a:solidFill>
                  <a:latin typeface="+mn-lt"/>
                  <a:ea typeface="+mn-ea"/>
                  <a:cs typeface="+mn-cs"/>
                </a:rPr>
                <a:t xml:space="preserve">  1:2.4  </a:t>
              </a:r>
            </a:p>
          </p:txBody>
        </p:sp>
        <p:grpSp>
          <p:nvGrpSpPr>
            <p:cNvPr id="147" name="Group 147"/>
            <p:cNvGrpSpPr/>
            <p:nvPr/>
          </p:nvGrpSpPr>
          <p:grpSpPr>
            <a:xfrm>
              <a:off x="9540199" y="4021675"/>
              <a:ext cx="160095" cy="137543"/>
              <a:chOff x="9540199" y="4021675"/>
              <a:chExt cx="160095" cy="137543"/>
            </a:xfrm>
          </p:grpSpPr>
          <p:sp>
            <p:nvSpPr>
              <p:cNvPr id="144" name="Freeform 144"/>
              <p:cNvSpPr/>
              <p:nvPr/>
            </p:nvSpPr>
            <p:spPr>
              <a:xfrm>
                <a:off x="9620250" y="4071937"/>
                <a:ext cx="9525" cy="31750"/>
              </a:xfrm>
              <a:custGeom>
                <a:avLst/>
                <a:gdLst/>
                <a:ahLst/>
                <a:cxnLst/>
                <a:rect l="l" t="t" r="r" b="b"/>
                <a:pathLst>
                  <a:path w="9525" h="31750">
                    <a:moveTo>
                      <a:pt x="0" y="0"/>
                    </a:moveTo>
                    <a:lnTo>
                      <a:pt x="0" y="31750"/>
                    </a:lnTo>
                  </a:path>
                </a:pathLst>
              </a:custGeom>
              <a:noFill/>
              <a:ln w="15875">
                <a:solidFill>
                  <a:srgbClr val="C03616"/>
                </a:solidFill>
              </a:ln>
            </p:spPr>
          </p:sp>
          <p:sp>
            <p:nvSpPr>
              <p:cNvPr id="145" name="Freeform 145"/>
              <p:cNvSpPr/>
              <p:nvPr/>
            </p:nvSpPr>
            <p:spPr>
              <a:xfrm>
                <a:off x="9540199" y="402167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C03616"/>
                </a:solidFill>
              </a:ln>
            </p:spPr>
          </p:sp>
          <p:sp>
            <p:nvSpPr>
              <p:cNvPr id="146" name="Freeform 146"/>
              <p:cNvSpPr/>
              <p:nvPr/>
            </p:nvSpPr>
            <p:spPr>
              <a:xfrm>
                <a:off x="9620250" y="4127500"/>
                <a:ext cx="9525" cy="9525"/>
              </a:xfrm>
              <a:custGeom>
                <a:avLst/>
                <a:gdLst/>
                <a:ahLst/>
                <a:cxnLst/>
                <a:rect l="l" t="t" r="r" b="b"/>
                <a:pathLst>
                  <a:path w="9525" h="9525">
                    <a:moveTo>
                      <a:pt x="0" y="0"/>
                    </a:moveTo>
                    <a:lnTo>
                      <a:pt x="79" y="0"/>
                    </a:lnTo>
                  </a:path>
                </a:pathLst>
              </a:custGeom>
              <a:noFill/>
              <a:ln w="15875">
                <a:solidFill>
                  <a:srgbClr val="C03616"/>
                </a:solidFill>
              </a:ln>
            </p:spPr>
          </p:sp>
        </p:grpSp>
        <p:sp>
          <p:nvSpPr>
            <p:cNvPr id="148" name="TextBox 148"/>
            <p:cNvSpPr txBox="1"/>
            <p:nvPr/>
          </p:nvSpPr>
          <p:spPr>
            <a:xfrm>
              <a:off x="9805988" y="4052888"/>
              <a:ext cx="1042988" cy="566738"/>
            </a:xfrm>
            <a:prstGeom prst="rect">
              <a:avLst/>
            </a:prstGeom>
            <a:noFill/>
            <a:ln>
              <a:noFill/>
            </a:ln>
          </p:spPr>
          <p:txBody>
            <a:bodyPr wrap="none" lIns="0" tIns="0" rIns="0" bIns="0" anchor="t" anchorCtr="0">
              <a:spAutoFit/>
            </a:bodyPr>
            <a:lstStyle/>
            <a:p>
              <a:pPr algn="l" marL="80962" indent="-80962">
                <a:lnSpc>
                  <a:spcPts val="1650"/>
                </a:lnSpc>
                <a:buClr>
                  <a:srgbClr val="523E3A"/>
                </a:buClr>
                <a:buSzTx/>
                <a:buFontTx/>
                <a:buChar char="•"/>
              </a:pPr>
              <a:r>
                <a:rPr lang="zh-CN" sz="750" dirty="0">
                  <a:solidFill>
                    <a:srgbClr val="523E3A"/>
                  </a:solidFill>
                  <a:latin typeface="+mn-lt"/>
                  <a:ea typeface="+mn-ea"/>
                  <a:cs typeface="+mn-cs"/>
                </a:rPr>
                <a:t>市场活动效果不及预期</a:t>
              </a:r>
            </a:p>
            <a:p>
              <a:pPr algn="l" marL="80962" indent="-80962">
                <a:lnSpc>
                  <a:spcPts val="1650"/>
                </a:lnSpc>
                <a:buClr>
                  <a:srgbClr val="523E3A"/>
                </a:buClr>
                <a:buSzTx/>
                <a:buFontTx/>
                <a:buChar char="•"/>
              </a:pPr>
              <a:r>
                <a:rPr lang="zh-CN" sz="750" dirty="0">
                  <a:solidFill>
                    <a:srgbClr val="523E3A"/>
                  </a:solidFill>
                  <a:latin typeface="+mn-lt"/>
                  <a:ea typeface="+mn-ea"/>
                  <a:cs typeface="+mn-cs"/>
                </a:rPr>
                <a:t>线索质量低于预期</a:t>
              </a:r>
            </a:p>
            <a:p>
              <a:pPr algn="l" marL="80962" indent="-80962">
                <a:lnSpc>
                  <a:spcPts val="1650"/>
                </a:lnSpc>
                <a:buClr>
                  <a:srgbClr val="523E3A"/>
                </a:buClr>
                <a:buSzTx/>
                <a:buFontTx/>
                <a:buChar char="•"/>
              </a:pPr>
              <a:r>
                <a:rPr lang="zh-CN" sz="750" dirty="0">
                  <a:solidFill>
                    <a:srgbClr val="523E3A"/>
                  </a:solidFill>
                  <a:latin typeface="+mn-lt"/>
                  <a:ea typeface="+mn-ea"/>
                  <a:cs typeface="+mn-cs"/>
                </a:rPr>
                <a:t>预算执行效率低</a:t>
              </a:r>
            </a:p>
          </p:txBody>
        </p:sp>
      </p:grpSp>
      <p:grpSp>
        <p:nvGrpSpPr>
          <p:cNvPr id="184" name="total-bar"/>
          <p:cNvGrpSpPr/>
          <p:nvPr/>
        </p:nvGrpSpPr>
        <p:grpSpPr>
          <a:xfrm>
            <a:off x="228600" y="5219700"/>
            <a:ext cx="11734800" cy="1133285"/>
            <a:chOff x="228600" y="5219700"/>
            <a:chExt cx="11734800" cy="1133285"/>
          </a:xfrm>
        </p:grpSpPr>
        <p:sp>
          <p:nvSpPr>
            <p:cNvPr id="150" name="Rectangle 150"/>
            <p:cNvSpPr/>
            <p:nvPr/>
          </p:nvSpPr>
          <p:spPr>
            <a:xfrm>
              <a:off x="228600" y="5219700"/>
              <a:ext cx="11734800" cy="1047750"/>
            </a:xfrm>
            <a:prstGeom prst="roundRect">
              <a:avLst>
                <a:gd name="adj" fmla="val 10909"/>
              </a:avLst>
            </a:prstGeom>
            <a:solidFill>
              <a:srgbClr val="EAF1FB"/>
            </a:solidFill>
            <a:ln>
              <a:noFill/>
            </a:ln>
          </p:spPr>
        </p:sp>
        <p:grpSp>
          <p:nvGrpSpPr>
            <p:cNvPr id="156" name="Group 156"/>
            <p:cNvGrpSpPr/>
            <p:nvPr/>
          </p:nvGrpSpPr>
          <p:grpSpPr>
            <a:xfrm>
              <a:off x="652463" y="5545547"/>
              <a:ext cx="371475" cy="374241"/>
              <a:chOff x="652463" y="5545547"/>
              <a:chExt cx="371475" cy="374241"/>
            </a:xfrm>
          </p:grpSpPr>
          <p:sp>
            <p:nvSpPr>
              <p:cNvPr id="151" name="Freeform 151"/>
              <p:cNvSpPr/>
              <p:nvPr/>
            </p:nvSpPr>
            <p:spPr>
              <a:xfrm>
                <a:off x="776288" y="5713413"/>
                <a:ext cx="247650" cy="123825"/>
              </a:xfrm>
              <a:custGeom>
                <a:avLst/>
                <a:gdLst/>
                <a:ahLst/>
                <a:cxnLst/>
                <a:rect l="l" t="t" r="r" b="b"/>
                <a:pathLst>
                  <a:path w="247650" h="123825">
                    <a:moveTo>
                      <a:pt x="0" y="61913"/>
                    </a:moveTo>
                    <a:cubicBezTo>
                      <a:pt x="0" y="96109"/>
                      <a:pt x="55432" y="123825"/>
                      <a:pt x="123825" y="123825"/>
                    </a:cubicBezTo>
                    <a:cubicBezTo>
                      <a:pt x="192218" y="123825"/>
                      <a:pt x="247650" y="96109"/>
                      <a:pt x="247650" y="61913"/>
                    </a:cubicBezTo>
                    <a:cubicBezTo>
                      <a:pt x="247650" y="27716"/>
                      <a:pt x="192218" y="0"/>
                      <a:pt x="123825" y="0"/>
                    </a:cubicBezTo>
                    <a:cubicBezTo>
                      <a:pt x="55432" y="0"/>
                      <a:pt x="0" y="27716"/>
                      <a:pt x="0" y="61913"/>
                    </a:cubicBezTo>
                  </a:path>
                </a:pathLst>
              </a:custGeom>
              <a:noFill/>
              <a:ln w="41275">
                <a:solidFill>
                  <a:srgbClr val="721E0D"/>
                </a:solidFill>
              </a:ln>
            </p:spPr>
          </p:sp>
          <p:sp>
            <p:nvSpPr>
              <p:cNvPr id="152" name="Freeform 152"/>
              <p:cNvSpPr/>
              <p:nvPr/>
            </p:nvSpPr>
            <p:spPr>
              <a:xfrm>
                <a:off x="776288" y="5775325"/>
                <a:ext cx="247650" cy="144463"/>
              </a:xfrm>
              <a:custGeom>
                <a:avLst/>
                <a:gdLst/>
                <a:ahLst/>
                <a:cxnLst/>
                <a:rect l="l" t="t" r="r" b="b"/>
                <a:pathLst>
                  <a:path w="247650" h="144463">
                    <a:moveTo>
                      <a:pt x="0" y="0"/>
                    </a:moveTo>
                    <a:lnTo>
                      <a:pt x="0" y="82550"/>
                    </a:lnTo>
                    <a:cubicBezTo>
                      <a:pt x="0" y="116726"/>
                      <a:pt x="55432" y="144463"/>
                      <a:pt x="123825" y="144463"/>
                    </a:cubicBezTo>
                    <a:cubicBezTo>
                      <a:pt x="192218" y="144463"/>
                      <a:pt x="247650" y="116726"/>
                      <a:pt x="247650" y="82550"/>
                    </a:cubicBezTo>
                    <a:lnTo>
                      <a:pt x="247650" y="0"/>
                    </a:lnTo>
                  </a:path>
                </a:pathLst>
              </a:custGeom>
              <a:noFill/>
              <a:ln w="41275">
                <a:solidFill>
                  <a:srgbClr val="721E0D"/>
                </a:solidFill>
              </a:ln>
            </p:spPr>
          </p:sp>
          <p:sp>
            <p:nvSpPr>
              <p:cNvPr id="153" name="Freeform 153"/>
              <p:cNvSpPr/>
              <p:nvPr/>
            </p:nvSpPr>
            <p:spPr>
              <a:xfrm>
                <a:off x="652463" y="5545547"/>
                <a:ext cx="247650" cy="129356"/>
              </a:xfrm>
              <a:custGeom>
                <a:avLst/>
                <a:gdLst/>
                <a:ahLst/>
                <a:cxnLst/>
                <a:rect l="l" t="t" r="r" b="b"/>
                <a:pathLst>
                  <a:path w="247650" h="129356">
                    <a:moveTo>
                      <a:pt x="0" y="64678"/>
                    </a:moveTo>
                    <a:cubicBezTo>
                      <a:pt x="0" y="86801"/>
                      <a:pt x="23609" y="107233"/>
                      <a:pt x="61913" y="118294"/>
                    </a:cubicBezTo>
                    <a:cubicBezTo>
                      <a:pt x="100216" y="129356"/>
                      <a:pt x="147435" y="129356"/>
                      <a:pt x="185738" y="118294"/>
                    </a:cubicBezTo>
                    <a:cubicBezTo>
                      <a:pt x="224041" y="107233"/>
                      <a:pt x="247650" y="86801"/>
                      <a:pt x="247650" y="64678"/>
                    </a:cubicBezTo>
                    <a:cubicBezTo>
                      <a:pt x="247650" y="42555"/>
                      <a:pt x="224041" y="22123"/>
                      <a:pt x="185738" y="11062"/>
                    </a:cubicBezTo>
                    <a:cubicBezTo>
                      <a:pt x="147435" y="0"/>
                      <a:pt x="100216" y="0"/>
                      <a:pt x="61913" y="11062"/>
                    </a:cubicBezTo>
                    <a:cubicBezTo>
                      <a:pt x="23609" y="22123"/>
                      <a:pt x="0" y="42555"/>
                      <a:pt x="0" y="64678"/>
                    </a:cubicBezTo>
                  </a:path>
                </a:pathLst>
              </a:custGeom>
              <a:noFill/>
              <a:ln w="41275">
                <a:solidFill>
                  <a:srgbClr val="721E0D"/>
                </a:solidFill>
              </a:ln>
            </p:spPr>
          </p:sp>
          <p:sp>
            <p:nvSpPr>
              <p:cNvPr id="154" name="Freeform 154"/>
              <p:cNvSpPr/>
              <p:nvPr/>
            </p:nvSpPr>
            <p:spPr>
              <a:xfrm>
                <a:off x="652463" y="5610225"/>
                <a:ext cx="41275" cy="247650"/>
              </a:xfrm>
              <a:custGeom>
                <a:avLst/>
                <a:gdLst/>
                <a:ahLst/>
                <a:cxnLst/>
                <a:rect l="l" t="t" r="r" b="b"/>
                <a:pathLst>
                  <a:path w="41275" h="247650">
                    <a:moveTo>
                      <a:pt x="0" y="0"/>
                    </a:moveTo>
                    <a:lnTo>
                      <a:pt x="0" y="206375"/>
                    </a:lnTo>
                    <a:cubicBezTo>
                      <a:pt x="0" y="224701"/>
                      <a:pt x="15932" y="236300"/>
                      <a:pt x="41275" y="247650"/>
                    </a:cubicBezTo>
                  </a:path>
                </a:pathLst>
              </a:custGeom>
              <a:noFill/>
              <a:ln w="41275">
                <a:solidFill>
                  <a:srgbClr val="721E0D"/>
                </a:solidFill>
              </a:ln>
            </p:spPr>
          </p:sp>
          <p:sp>
            <p:nvSpPr>
              <p:cNvPr id="155" name="Freeform 155"/>
              <p:cNvSpPr/>
              <p:nvPr/>
            </p:nvSpPr>
            <p:spPr>
              <a:xfrm>
                <a:off x="652463" y="5713413"/>
                <a:ext cx="41275" cy="41275"/>
              </a:xfrm>
              <a:custGeom>
                <a:avLst/>
                <a:gdLst/>
                <a:ahLst/>
                <a:cxnLst/>
                <a:rect l="l" t="t" r="r" b="b"/>
                <a:pathLst>
                  <a:path w="41275" h="41275">
                    <a:moveTo>
                      <a:pt x="0" y="0"/>
                    </a:moveTo>
                    <a:cubicBezTo>
                      <a:pt x="0" y="18326"/>
                      <a:pt x="15932" y="29924"/>
                      <a:pt x="41275" y="41275"/>
                    </a:cubicBezTo>
                  </a:path>
                </a:pathLst>
              </a:custGeom>
              <a:noFill/>
              <a:ln w="41275">
                <a:solidFill>
                  <a:srgbClr val="721E0D"/>
                </a:solidFill>
              </a:ln>
            </p:spPr>
          </p:sp>
        </p:grpSp>
        <p:sp>
          <p:nvSpPr>
            <p:cNvPr id="157" name="TextBox 157"/>
            <p:cNvSpPr txBox="1"/>
            <p:nvPr/>
          </p:nvSpPr>
          <p:spPr>
            <a:xfrm>
              <a:off x="1251966" y="5506402"/>
              <a:ext cx="576072"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投入合计</a:t>
              </a:r>
            </a:p>
          </p:txBody>
        </p:sp>
        <p:sp>
          <p:nvSpPr>
            <p:cNvPr id="158" name="TextBox 158"/>
            <p:cNvSpPr txBox="1"/>
            <p:nvPr/>
          </p:nvSpPr>
          <p:spPr>
            <a:xfrm>
              <a:off x="1241298" y="5736908"/>
              <a:ext cx="1358348" cy="616077"/>
            </a:xfrm>
            <a:prstGeom prst="rect">
              <a:avLst/>
            </a:prstGeom>
            <a:noFill/>
            <a:ln>
              <a:noFill/>
            </a:ln>
          </p:spPr>
          <p:txBody>
            <a:bodyPr wrap="none" lIns="0" tIns="0" rIns="0" bIns="0" anchor="t" anchorCtr="0">
              <a:spAutoFit/>
            </a:bodyPr>
            <a:lstStyle/>
            <a:p>
              <a:pPr algn="l"/>
              <a:r>
                <a:rPr lang="zh-CN" sz="3150" b="1" dirty="0">
                  <a:solidFill>
                    <a:srgbClr val="721E0D"/>
                  </a:solidFill>
                  <a:latin typeface="+mn-lt"/>
                  <a:ea typeface="+mn-ea"/>
                  <a:cs typeface="+mn-cs"/>
                </a:rPr>
                <a:t>250</a:t>
              </a:r>
              <a:r>
                <a:rPr lang="zh-CN" sz="1120" dirty="0">
                  <a:solidFill>
                    <a:srgbClr val="721E0D"/>
                  </a:solidFill>
                  <a:latin typeface="+mn-lt"/>
                  <a:ea typeface="+mn-ea"/>
                  <a:cs typeface="+mn-cs"/>
                </a:rPr>
                <a:t xml:space="preserve"> 万元</a:t>
              </a:r>
              <a:r>
                <a:rPr lang="zh-CN" sz="3150" b="1" dirty="0">
                  <a:solidFill>
                    <a:srgbClr val="721E0D"/>
                  </a:solidFill>
                  <a:latin typeface="+mn-lt"/>
                  <a:ea typeface="+mn-ea"/>
                  <a:cs typeface="+mn-cs"/>
                </a:rPr>
                <a:t xml:space="preserve"> </a:t>
              </a:r>
            </a:p>
          </p:txBody>
        </p:sp>
        <p:sp>
          <p:nvSpPr>
            <p:cNvPr id="159" name="Line 159"/>
            <p:cNvSpPr/>
            <p:nvPr/>
          </p:nvSpPr>
          <p:spPr>
            <a:xfrm>
              <a:off x="3657600" y="5353050"/>
              <a:ext cx="9525" cy="781050"/>
            </a:xfrm>
            <a:custGeom>
              <a:avLst/>
              <a:gdLst/>
              <a:ahLst/>
              <a:cxnLst/>
              <a:rect l="l" t="t" r="r" b="b"/>
              <a:pathLst>
                <a:path w="9525" h="781050">
                  <a:moveTo>
                    <a:pt x="0" y="0"/>
                  </a:moveTo>
                  <a:lnTo>
                    <a:pt x="0" y="781050"/>
                  </a:lnTo>
                </a:path>
              </a:pathLst>
            </a:custGeom>
            <a:noFill/>
            <a:ln w="14288">
              <a:solidFill>
                <a:srgbClr val="C9D6EE"/>
              </a:solidFill>
            </a:ln>
          </p:spPr>
        </p:sp>
        <p:grpSp>
          <p:nvGrpSpPr>
            <p:cNvPr id="165" name="Group 165"/>
            <p:cNvGrpSpPr/>
            <p:nvPr/>
          </p:nvGrpSpPr>
          <p:grpSpPr>
            <a:xfrm>
              <a:off x="4122738" y="5548313"/>
              <a:ext cx="288925" cy="371476"/>
              <a:chOff x="4122738" y="5548313"/>
              <a:chExt cx="288925" cy="371476"/>
            </a:xfrm>
          </p:grpSpPr>
          <p:sp>
            <p:nvSpPr>
              <p:cNvPr id="160" name="Freeform 160"/>
              <p:cNvSpPr/>
              <p:nvPr/>
            </p:nvSpPr>
            <p:spPr>
              <a:xfrm>
                <a:off x="4308475" y="5548313"/>
                <a:ext cx="103188" cy="103188"/>
              </a:xfrm>
              <a:custGeom>
                <a:avLst/>
                <a:gdLst/>
                <a:ahLst/>
                <a:cxnLst/>
                <a:rect l="l" t="t" r="r" b="b"/>
                <a:pathLst>
                  <a:path w="103188" h="103188">
                    <a:moveTo>
                      <a:pt x="0" y="0"/>
                    </a:moveTo>
                    <a:lnTo>
                      <a:pt x="0" y="82550"/>
                    </a:lnTo>
                    <a:cubicBezTo>
                      <a:pt x="0" y="93948"/>
                      <a:pt x="9240" y="103188"/>
                      <a:pt x="20638" y="103188"/>
                    </a:cubicBezTo>
                    <a:lnTo>
                      <a:pt x="103188" y="103188"/>
                    </a:lnTo>
                  </a:path>
                </a:pathLst>
              </a:custGeom>
              <a:noFill/>
              <a:ln w="41275">
                <a:solidFill>
                  <a:srgbClr val="721E0D"/>
                </a:solidFill>
              </a:ln>
            </p:spPr>
          </p:sp>
          <p:sp>
            <p:nvSpPr>
              <p:cNvPr id="161" name="Freeform 161"/>
              <p:cNvSpPr/>
              <p:nvPr/>
            </p:nvSpPr>
            <p:spPr>
              <a:xfrm>
                <a:off x="4122738" y="5548313"/>
                <a:ext cx="288925" cy="371476"/>
              </a:xfrm>
              <a:custGeom>
                <a:avLst/>
                <a:gdLst/>
                <a:ahLst/>
                <a:cxnLst/>
                <a:rect l="l" t="t" r="r" b="b"/>
                <a:pathLst>
                  <a:path w="288925" h="371476">
                    <a:moveTo>
                      <a:pt x="247650" y="371476"/>
                    </a:moveTo>
                    <a:lnTo>
                      <a:pt x="41275" y="371476"/>
                    </a:lnTo>
                    <a:cubicBezTo>
                      <a:pt x="18479" y="371476"/>
                      <a:pt x="0" y="352996"/>
                      <a:pt x="0" y="330201"/>
                    </a:cubicBezTo>
                    <a:lnTo>
                      <a:pt x="0" y="41275"/>
                    </a:lnTo>
                    <a:cubicBezTo>
                      <a:pt x="0" y="18479"/>
                      <a:pt x="18479" y="0"/>
                      <a:pt x="41275" y="0"/>
                    </a:cubicBezTo>
                    <a:lnTo>
                      <a:pt x="185738" y="0"/>
                    </a:lnTo>
                    <a:lnTo>
                      <a:pt x="288925" y="103188"/>
                    </a:lnTo>
                    <a:lnTo>
                      <a:pt x="288925" y="330201"/>
                    </a:lnTo>
                    <a:cubicBezTo>
                      <a:pt x="288925" y="352996"/>
                      <a:pt x="270446" y="371476"/>
                      <a:pt x="247650" y="371476"/>
                    </a:cubicBezTo>
                  </a:path>
                </a:pathLst>
              </a:custGeom>
              <a:noFill/>
              <a:ln w="41275">
                <a:solidFill>
                  <a:srgbClr val="721E0D"/>
                </a:solidFill>
              </a:ln>
            </p:spPr>
          </p:sp>
          <p:sp>
            <p:nvSpPr>
              <p:cNvPr id="162" name="Freeform 162"/>
              <p:cNvSpPr/>
              <p:nvPr/>
            </p:nvSpPr>
            <p:spPr>
              <a:xfrm>
                <a:off x="4205288" y="5672138"/>
                <a:ext cx="20638" cy="9525"/>
              </a:xfrm>
              <a:custGeom>
                <a:avLst/>
                <a:gdLst/>
                <a:ahLst/>
                <a:cxnLst/>
                <a:rect l="l" t="t" r="r" b="b"/>
                <a:pathLst>
                  <a:path w="20638" h="9525">
                    <a:moveTo>
                      <a:pt x="0" y="0"/>
                    </a:moveTo>
                    <a:lnTo>
                      <a:pt x="20638" y="0"/>
                    </a:lnTo>
                  </a:path>
                </a:pathLst>
              </a:custGeom>
              <a:noFill/>
              <a:ln w="41275">
                <a:solidFill>
                  <a:srgbClr val="721E0D"/>
                </a:solidFill>
              </a:ln>
            </p:spPr>
          </p:sp>
          <p:sp>
            <p:nvSpPr>
              <p:cNvPr id="163" name="Freeform 163"/>
              <p:cNvSpPr/>
              <p:nvPr/>
            </p:nvSpPr>
            <p:spPr>
              <a:xfrm>
                <a:off x="4205288" y="5754688"/>
                <a:ext cx="123825" cy="9525"/>
              </a:xfrm>
              <a:custGeom>
                <a:avLst/>
                <a:gdLst/>
                <a:ahLst/>
                <a:cxnLst/>
                <a:rect l="l" t="t" r="r" b="b"/>
                <a:pathLst>
                  <a:path w="123825" h="9525">
                    <a:moveTo>
                      <a:pt x="0" y="0"/>
                    </a:moveTo>
                    <a:lnTo>
                      <a:pt x="123825" y="0"/>
                    </a:lnTo>
                  </a:path>
                </a:pathLst>
              </a:custGeom>
              <a:noFill/>
              <a:ln w="41275">
                <a:solidFill>
                  <a:srgbClr val="721E0D"/>
                </a:solidFill>
              </a:ln>
            </p:spPr>
          </p:sp>
          <p:sp>
            <p:nvSpPr>
              <p:cNvPr id="164" name="Freeform 164"/>
              <p:cNvSpPr/>
              <p:nvPr/>
            </p:nvSpPr>
            <p:spPr>
              <a:xfrm>
                <a:off x="4205288" y="5837238"/>
                <a:ext cx="123825" cy="9525"/>
              </a:xfrm>
              <a:custGeom>
                <a:avLst/>
                <a:gdLst/>
                <a:ahLst/>
                <a:cxnLst/>
                <a:rect l="l" t="t" r="r" b="b"/>
                <a:pathLst>
                  <a:path w="123825" h="9525">
                    <a:moveTo>
                      <a:pt x="0" y="0"/>
                    </a:moveTo>
                    <a:lnTo>
                      <a:pt x="123825" y="0"/>
                    </a:lnTo>
                  </a:path>
                </a:pathLst>
              </a:custGeom>
              <a:noFill/>
              <a:ln w="41275">
                <a:solidFill>
                  <a:srgbClr val="721E0D"/>
                </a:solidFill>
              </a:ln>
            </p:spPr>
          </p:sp>
        </p:grpSp>
        <p:sp>
          <p:nvSpPr>
            <p:cNvPr id="166" name="TextBox 166"/>
            <p:cNvSpPr txBox="1"/>
            <p:nvPr/>
          </p:nvSpPr>
          <p:spPr>
            <a:xfrm>
              <a:off x="4680966" y="5506402"/>
              <a:ext cx="858774"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预期增量签约</a:t>
              </a:r>
            </a:p>
          </p:txBody>
        </p:sp>
        <p:sp>
          <p:nvSpPr>
            <p:cNvPr id="167" name="TextBox 167"/>
            <p:cNvSpPr txBox="1"/>
            <p:nvPr/>
          </p:nvSpPr>
          <p:spPr>
            <a:xfrm>
              <a:off x="4670298" y="5736908"/>
              <a:ext cx="1603238" cy="616077"/>
            </a:xfrm>
            <a:prstGeom prst="rect">
              <a:avLst/>
            </a:prstGeom>
            <a:noFill/>
            <a:ln>
              <a:noFill/>
            </a:ln>
          </p:spPr>
          <p:txBody>
            <a:bodyPr wrap="none" lIns="0" tIns="0" rIns="0" bIns="0" anchor="t" anchorCtr="0">
              <a:spAutoFit/>
            </a:bodyPr>
            <a:lstStyle/>
            <a:p>
              <a:pPr algn="l"/>
              <a:r>
                <a:rPr lang="zh-CN" sz="3150" b="1" dirty="0">
                  <a:solidFill>
                    <a:srgbClr val="721E0D"/>
                  </a:solidFill>
                  <a:latin typeface="+mn-lt"/>
                  <a:ea typeface="+mn-ea"/>
                  <a:cs typeface="+mn-cs"/>
                </a:rPr>
                <a:t>5000</a:t>
              </a:r>
              <a:r>
                <a:rPr lang="zh-CN" sz="1120" dirty="0">
                  <a:solidFill>
                    <a:srgbClr val="721E0D"/>
                  </a:solidFill>
                  <a:latin typeface="+mn-lt"/>
                  <a:ea typeface="+mn-ea"/>
                  <a:cs typeface="+mn-cs"/>
                </a:rPr>
                <a:t xml:space="preserve"> 万元</a:t>
              </a:r>
              <a:r>
                <a:rPr lang="zh-CN" sz="3150" b="1" dirty="0">
                  <a:solidFill>
                    <a:srgbClr val="721E0D"/>
                  </a:solidFill>
                  <a:latin typeface="+mn-lt"/>
                  <a:ea typeface="+mn-ea"/>
                  <a:cs typeface="+mn-cs"/>
                </a:rPr>
                <a:t xml:space="preserve"> </a:t>
              </a:r>
            </a:p>
          </p:txBody>
        </p:sp>
        <p:sp>
          <p:nvSpPr>
            <p:cNvPr id="168" name="Line 168"/>
            <p:cNvSpPr/>
            <p:nvPr/>
          </p:nvSpPr>
          <p:spPr>
            <a:xfrm>
              <a:off x="6934200" y="5353050"/>
              <a:ext cx="9525" cy="781050"/>
            </a:xfrm>
            <a:custGeom>
              <a:avLst/>
              <a:gdLst/>
              <a:ahLst/>
              <a:cxnLst/>
              <a:rect l="l" t="t" r="r" b="b"/>
              <a:pathLst>
                <a:path w="9525" h="781050">
                  <a:moveTo>
                    <a:pt x="0" y="0"/>
                  </a:moveTo>
                  <a:lnTo>
                    <a:pt x="0" y="781050"/>
                  </a:lnTo>
                </a:path>
              </a:pathLst>
            </a:custGeom>
            <a:noFill/>
            <a:ln w="14288">
              <a:solidFill>
                <a:srgbClr val="C9D6EE"/>
              </a:solidFill>
            </a:ln>
          </p:spPr>
        </p:sp>
        <p:grpSp>
          <p:nvGrpSpPr>
            <p:cNvPr id="171" name="Group 171"/>
            <p:cNvGrpSpPr/>
            <p:nvPr/>
          </p:nvGrpSpPr>
          <p:grpSpPr>
            <a:xfrm>
              <a:off x="7352310" y="5551861"/>
              <a:ext cx="373101" cy="373679"/>
              <a:chOff x="7352310" y="5551861"/>
              <a:chExt cx="373101" cy="373679"/>
            </a:xfrm>
          </p:grpSpPr>
          <p:sp>
            <p:nvSpPr>
              <p:cNvPr id="169" name="Freeform 169"/>
              <p:cNvSpPr/>
              <p:nvPr/>
            </p:nvSpPr>
            <p:spPr>
              <a:xfrm>
                <a:off x="7352310" y="5551861"/>
                <a:ext cx="373101" cy="373679"/>
              </a:xfrm>
              <a:custGeom>
                <a:avLst/>
                <a:gdLst/>
                <a:ahLst/>
                <a:cxnLst/>
                <a:rect l="l" t="t" r="r" b="b"/>
                <a:pathLst>
                  <a:path w="373101" h="373679">
                    <a:moveTo>
                      <a:pt x="150215" y="579"/>
                    </a:moveTo>
                    <a:cubicBezTo>
                      <a:pt x="60855" y="21295"/>
                      <a:pt x="0" y="104143"/>
                      <a:pt x="6959" y="195608"/>
                    </a:cubicBezTo>
                    <a:cubicBezTo>
                      <a:pt x="13917" y="287074"/>
                      <a:pt x="86606" y="359762"/>
                      <a:pt x="178071" y="366721"/>
                    </a:cubicBezTo>
                    <a:cubicBezTo>
                      <a:pt x="269537" y="373679"/>
                      <a:pt x="352385" y="312824"/>
                      <a:pt x="373101" y="223464"/>
                    </a:cubicBezTo>
                    <a:cubicBezTo>
                      <a:pt x="373101" y="212066"/>
                      <a:pt x="363861" y="202827"/>
                      <a:pt x="352463" y="202827"/>
                    </a:cubicBezTo>
                    <a:lnTo>
                      <a:pt x="212128" y="202827"/>
                    </a:lnTo>
                    <a:cubicBezTo>
                      <a:pt x="189332" y="202827"/>
                      <a:pt x="170853" y="184347"/>
                      <a:pt x="170853" y="161552"/>
                    </a:cubicBezTo>
                    <a:lnTo>
                      <a:pt x="170853" y="17089"/>
                    </a:lnTo>
                    <a:cubicBezTo>
                      <a:pt x="170335" y="12150"/>
                      <a:pt x="167861" y="7624"/>
                      <a:pt x="163983" y="4522"/>
                    </a:cubicBezTo>
                    <a:cubicBezTo>
                      <a:pt x="160106" y="1420"/>
                      <a:pt x="155147" y="0"/>
                      <a:pt x="150215" y="579"/>
                    </a:cubicBezTo>
                  </a:path>
                </a:pathLst>
              </a:custGeom>
              <a:noFill/>
              <a:ln w="41275">
                <a:solidFill>
                  <a:srgbClr val="721E0D"/>
                </a:solidFill>
              </a:ln>
            </p:spPr>
          </p:sp>
          <p:sp>
            <p:nvSpPr>
              <p:cNvPr id="170" name="Freeform 170"/>
              <p:cNvSpPr/>
              <p:nvPr/>
            </p:nvSpPr>
            <p:spPr>
              <a:xfrm>
                <a:off x="7605713" y="5558631"/>
                <a:ext cx="113506" cy="113506"/>
              </a:xfrm>
              <a:custGeom>
                <a:avLst/>
                <a:gdLst/>
                <a:ahLst/>
                <a:cxnLst/>
                <a:rect l="l" t="t" r="r" b="b"/>
                <a:pathLst>
                  <a:path w="113506" h="113506">
                    <a:moveTo>
                      <a:pt x="0" y="0"/>
                    </a:moveTo>
                    <a:cubicBezTo>
                      <a:pt x="53076" y="18689"/>
                      <a:pt x="94818" y="60431"/>
                      <a:pt x="113506" y="113506"/>
                    </a:cubicBezTo>
                    <a:lnTo>
                      <a:pt x="20638" y="113506"/>
                    </a:lnTo>
                    <a:cubicBezTo>
                      <a:pt x="9240" y="113506"/>
                      <a:pt x="0" y="104267"/>
                      <a:pt x="0" y="92869"/>
                    </a:cubicBezTo>
                    <a:lnTo>
                      <a:pt x="0" y="0"/>
                    </a:lnTo>
                  </a:path>
                </a:pathLst>
              </a:custGeom>
              <a:noFill/>
              <a:ln w="41275">
                <a:solidFill>
                  <a:srgbClr val="721E0D"/>
                </a:solidFill>
              </a:ln>
            </p:spPr>
          </p:sp>
        </p:grpSp>
        <p:sp>
          <p:nvSpPr>
            <p:cNvPr id="172" name="TextBox 172"/>
            <p:cNvSpPr txBox="1"/>
            <p:nvPr/>
          </p:nvSpPr>
          <p:spPr>
            <a:xfrm>
              <a:off x="7957566" y="5506402"/>
              <a:ext cx="803034"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 xml:space="preserve">综合ROI   </a:t>
              </a:r>
            </a:p>
          </p:txBody>
        </p:sp>
        <p:sp>
          <p:nvSpPr>
            <p:cNvPr id="173" name="TextBox 173"/>
            <p:cNvSpPr txBox="1"/>
            <p:nvPr/>
          </p:nvSpPr>
          <p:spPr>
            <a:xfrm>
              <a:off x="7946898" y="5736908"/>
              <a:ext cx="1011566" cy="616077"/>
            </a:xfrm>
            <a:prstGeom prst="rect">
              <a:avLst/>
            </a:prstGeom>
            <a:noFill/>
            <a:ln>
              <a:noFill/>
            </a:ln>
          </p:spPr>
          <p:txBody>
            <a:bodyPr wrap="none" lIns="0" tIns="0" rIns="0" bIns="0" anchor="t" anchorCtr="0">
              <a:spAutoFit/>
            </a:bodyPr>
            <a:lstStyle/>
            <a:p>
              <a:pPr algn="l"/>
              <a:r>
                <a:rPr lang="zh-CN" sz="3150" b="1" dirty="0">
                  <a:solidFill>
                    <a:srgbClr val="C03616"/>
                  </a:solidFill>
                  <a:latin typeface="+mn-lt"/>
                  <a:ea typeface="+mn-ea"/>
                  <a:cs typeface="+mn-cs"/>
                </a:rPr>
                <a:t xml:space="preserve">1:6 </a:t>
              </a:r>
            </a:p>
          </p:txBody>
        </p:sp>
        <p:sp>
          <p:nvSpPr>
            <p:cNvPr id="174" name="Line 174"/>
            <p:cNvSpPr/>
            <p:nvPr/>
          </p:nvSpPr>
          <p:spPr>
            <a:xfrm>
              <a:off x="10001250" y="5353050"/>
              <a:ext cx="9525" cy="781050"/>
            </a:xfrm>
            <a:custGeom>
              <a:avLst/>
              <a:gdLst/>
              <a:ahLst/>
              <a:cxnLst/>
              <a:rect l="l" t="t" r="r" b="b"/>
              <a:pathLst>
                <a:path w="9525" h="781050">
                  <a:moveTo>
                    <a:pt x="0" y="0"/>
                  </a:moveTo>
                  <a:lnTo>
                    <a:pt x="0" y="781050"/>
                  </a:lnTo>
                </a:path>
              </a:pathLst>
            </a:custGeom>
            <a:noFill/>
            <a:ln w="14288">
              <a:solidFill>
                <a:srgbClr val="C9D6EE"/>
              </a:solidFill>
            </a:ln>
          </p:spPr>
        </p:sp>
        <p:grpSp>
          <p:nvGrpSpPr>
            <p:cNvPr id="183" name="Group 183"/>
            <p:cNvGrpSpPr/>
            <p:nvPr/>
          </p:nvGrpSpPr>
          <p:grpSpPr>
            <a:xfrm>
              <a:off x="10779125" y="5474494"/>
              <a:ext cx="444501" cy="500063"/>
              <a:chOff x="10779125" y="5474494"/>
              <a:chExt cx="444501" cy="500063"/>
            </a:xfrm>
          </p:grpSpPr>
          <p:sp>
            <p:nvSpPr>
              <p:cNvPr id="175" name="Freeform 175"/>
              <p:cNvSpPr/>
              <p:nvPr/>
            </p:nvSpPr>
            <p:spPr>
              <a:xfrm>
                <a:off x="10779125" y="5474494"/>
                <a:ext cx="444501" cy="500063"/>
              </a:xfrm>
              <a:custGeom>
                <a:avLst/>
                <a:gdLst/>
                <a:ahLst/>
                <a:cxnLst/>
                <a:rect l="l" t="t" r="r" b="b"/>
                <a:pathLst>
                  <a:path w="444501" h="500063">
                    <a:moveTo>
                      <a:pt x="0" y="55563"/>
                    </a:moveTo>
                    <a:cubicBezTo>
                      <a:pt x="0" y="24876"/>
                      <a:pt x="24876" y="0"/>
                      <a:pt x="55563" y="0"/>
                    </a:cubicBezTo>
                    <a:lnTo>
                      <a:pt x="388938" y="0"/>
                    </a:lnTo>
                    <a:cubicBezTo>
                      <a:pt x="419624" y="0"/>
                      <a:pt x="444501" y="24876"/>
                      <a:pt x="444501" y="55563"/>
                    </a:cubicBezTo>
                    <a:lnTo>
                      <a:pt x="444501" y="444501"/>
                    </a:lnTo>
                    <a:cubicBezTo>
                      <a:pt x="444501" y="475187"/>
                      <a:pt x="419624" y="500063"/>
                      <a:pt x="388938" y="500063"/>
                    </a:cubicBezTo>
                    <a:lnTo>
                      <a:pt x="55563" y="500063"/>
                    </a:lnTo>
                    <a:cubicBezTo>
                      <a:pt x="24876" y="500063"/>
                      <a:pt x="0" y="475187"/>
                      <a:pt x="0" y="444501"/>
                    </a:cubicBezTo>
                    <a:lnTo>
                      <a:pt x="0" y="55563"/>
                    </a:lnTo>
                  </a:path>
                </a:pathLst>
              </a:custGeom>
              <a:noFill/>
              <a:ln w="55563">
                <a:solidFill>
                  <a:srgbClr val="721E0D"/>
                </a:solidFill>
              </a:ln>
            </p:spPr>
          </p:sp>
          <p:sp>
            <p:nvSpPr>
              <p:cNvPr id="176" name="Freeform 176"/>
              <p:cNvSpPr/>
              <p:nvPr/>
            </p:nvSpPr>
            <p:spPr>
              <a:xfrm>
                <a:off x="10890250" y="5585619"/>
                <a:ext cx="222250" cy="83344"/>
              </a:xfrm>
              <a:custGeom>
                <a:avLst/>
                <a:gdLst/>
                <a:ahLst/>
                <a:cxnLst/>
                <a:rect l="l" t="t" r="r" b="b"/>
                <a:pathLst>
                  <a:path w="222250" h="83344">
                    <a:moveTo>
                      <a:pt x="0" y="27781"/>
                    </a:moveTo>
                    <a:cubicBezTo>
                      <a:pt x="0" y="12438"/>
                      <a:pt x="12438" y="0"/>
                      <a:pt x="27781" y="0"/>
                    </a:cubicBezTo>
                    <a:lnTo>
                      <a:pt x="194469" y="0"/>
                    </a:lnTo>
                    <a:cubicBezTo>
                      <a:pt x="209812" y="0"/>
                      <a:pt x="222250" y="12438"/>
                      <a:pt x="222250" y="27781"/>
                    </a:cubicBezTo>
                    <a:lnTo>
                      <a:pt x="222250" y="55563"/>
                    </a:lnTo>
                    <a:cubicBezTo>
                      <a:pt x="222250" y="70906"/>
                      <a:pt x="209812" y="83344"/>
                      <a:pt x="194469" y="83344"/>
                    </a:cubicBezTo>
                    <a:lnTo>
                      <a:pt x="27781" y="83344"/>
                    </a:lnTo>
                    <a:cubicBezTo>
                      <a:pt x="12438" y="83344"/>
                      <a:pt x="0" y="70906"/>
                      <a:pt x="0" y="55563"/>
                    </a:cubicBezTo>
                    <a:lnTo>
                      <a:pt x="0" y="27781"/>
                    </a:lnTo>
                  </a:path>
                </a:pathLst>
              </a:custGeom>
              <a:noFill/>
              <a:ln w="55563">
                <a:solidFill>
                  <a:srgbClr val="721E0D"/>
                </a:solidFill>
              </a:ln>
            </p:spPr>
          </p:sp>
          <p:sp>
            <p:nvSpPr>
              <p:cNvPr id="177" name="Freeform 177"/>
              <p:cNvSpPr/>
              <p:nvPr/>
            </p:nvSpPr>
            <p:spPr>
              <a:xfrm>
                <a:off x="10890250" y="5780088"/>
                <a:ext cx="9525" cy="9525"/>
              </a:xfrm>
              <a:custGeom>
                <a:avLst/>
                <a:gdLst/>
                <a:ahLst/>
                <a:cxnLst/>
                <a:rect l="l" t="t" r="r" b="b"/>
                <a:pathLst>
                  <a:path w="9525" h="9525">
                    <a:moveTo>
                      <a:pt x="0" y="0"/>
                    </a:moveTo>
                    <a:lnTo>
                      <a:pt x="0" y="278"/>
                    </a:lnTo>
                  </a:path>
                </a:pathLst>
              </a:custGeom>
              <a:noFill/>
              <a:ln w="55563">
                <a:solidFill>
                  <a:srgbClr val="721E0D"/>
                </a:solidFill>
              </a:ln>
            </p:spPr>
          </p:sp>
          <p:sp>
            <p:nvSpPr>
              <p:cNvPr id="178" name="Freeform 178"/>
              <p:cNvSpPr/>
              <p:nvPr/>
            </p:nvSpPr>
            <p:spPr>
              <a:xfrm>
                <a:off x="11001375" y="5780088"/>
                <a:ext cx="9525" cy="9525"/>
              </a:xfrm>
              <a:custGeom>
                <a:avLst/>
                <a:gdLst/>
                <a:ahLst/>
                <a:cxnLst/>
                <a:rect l="l" t="t" r="r" b="b"/>
                <a:pathLst>
                  <a:path w="9525" h="9525">
                    <a:moveTo>
                      <a:pt x="0" y="0"/>
                    </a:moveTo>
                    <a:lnTo>
                      <a:pt x="0" y="278"/>
                    </a:lnTo>
                  </a:path>
                </a:pathLst>
              </a:custGeom>
              <a:noFill/>
              <a:ln w="55563">
                <a:solidFill>
                  <a:srgbClr val="721E0D"/>
                </a:solidFill>
              </a:ln>
            </p:spPr>
          </p:sp>
          <p:sp>
            <p:nvSpPr>
              <p:cNvPr id="179" name="Freeform 179"/>
              <p:cNvSpPr/>
              <p:nvPr/>
            </p:nvSpPr>
            <p:spPr>
              <a:xfrm>
                <a:off x="11112501" y="5780088"/>
                <a:ext cx="9525" cy="9525"/>
              </a:xfrm>
              <a:custGeom>
                <a:avLst/>
                <a:gdLst/>
                <a:ahLst/>
                <a:cxnLst/>
                <a:rect l="l" t="t" r="r" b="b"/>
                <a:pathLst>
                  <a:path w="9525" h="9525">
                    <a:moveTo>
                      <a:pt x="0" y="0"/>
                    </a:moveTo>
                    <a:lnTo>
                      <a:pt x="0" y="278"/>
                    </a:lnTo>
                  </a:path>
                </a:pathLst>
              </a:custGeom>
              <a:noFill/>
              <a:ln w="55563">
                <a:solidFill>
                  <a:srgbClr val="721E0D"/>
                </a:solidFill>
              </a:ln>
            </p:spPr>
          </p:sp>
          <p:sp>
            <p:nvSpPr>
              <p:cNvPr id="180" name="Freeform 180"/>
              <p:cNvSpPr/>
              <p:nvPr/>
            </p:nvSpPr>
            <p:spPr>
              <a:xfrm>
                <a:off x="10890250" y="5863432"/>
                <a:ext cx="9525" cy="9525"/>
              </a:xfrm>
              <a:custGeom>
                <a:avLst/>
                <a:gdLst/>
                <a:ahLst/>
                <a:cxnLst/>
                <a:rect l="l" t="t" r="r" b="b"/>
                <a:pathLst>
                  <a:path w="9525" h="9525">
                    <a:moveTo>
                      <a:pt x="0" y="0"/>
                    </a:moveTo>
                    <a:lnTo>
                      <a:pt x="0" y="278"/>
                    </a:lnTo>
                  </a:path>
                </a:pathLst>
              </a:custGeom>
              <a:noFill/>
              <a:ln w="55563">
                <a:solidFill>
                  <a:srgbClr val="721E0D"/>
                </a:solidFill>
              </a:ln>
            </p:spPr>
          </p:sp>
          <p:sp>
            <p:nvSpPr>
              <p:cNvPr id="181" name="Freeform 181"/>
              <p:cNvSpPr/>
              <p:nvPr/>
            </p:nvSpPr>
            <p:spPr>
              <a:xfrm>
                <a:off x="11001375" y="5863432"/>
                <a:ext cx="9525" cy="9525"/>
              </a:xfrm>
              <a:custGeom>
                <a:avLst/>
                <a:gdLst/>
                <a:ahLst/>
                <a:cxnLst/>
                <a:rect l="l" t="t" r="r" b="b"/>
                <a:pathLst>
                  <a:path w="9525" h="9525">
                    <a:moveTo>
                      <a:pt x="0" y="0"/>
                    </a:moveTo>
                    <a:lnTo>
                      <a:pt x="0" y="278"/>
                    </a:lnTo>
                  </a:path>
                </a:pathLst>
              </a:custGeom>
              <a:noFill/>
              <a:ln w="55563">
                <a:solidFill>
                  <a:srgbClr val="721E0D"/>
                </a:solidFill>
              </a:ln>
            </p:spPr>
          </p:sp>
          <p:sp>
            <p:nvSpPr>
              <p:cNvPr id="182" name="Freeform 182"/>
              <p:cNvSpPr/>
              <p:nvPr/>
            </p:nvSpPr>
            <p:spPr>
              <a:xfrm>
                <a:off x="11112501" y="5863432"/>
                <a:ext cx="9525" cy="9525"/>
              </a:xfrm>
              <a:custGeom>
                <a:avLst/>
                <a:gdLst/>
                <a:ahLst/>
                <a:cxnLst/>
                <a:rect l="l" t="t" r="r" b="b"/>
                <a:pathLst>
                  <a:path w="9525" h="9525">
                    <a:moveTo>
                      <a:pt x="0" y="0"/>
                    </a:moveTo>
                    <a:lnTo>
                      <a:pt x="0" y="278"/>
                    </a:lnTo>
                  </a:path>
                </a:pathLst>
              </a:custGeom>
              <a:noFill/>
              <a:ln w="55563">
                <a:solidFill>
                  <a:srgbClr val="721E0D"/>
                </a:solidFill>
              </a:ln>
            </p:spPr>
          </p:sp>
        </p:grpSp>
      </p:gr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16668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13</a:t>
              </a:r>
            </a:p>
          </p:txBody>
        </p:sp>
        <p:sp>
          <p:nvSpPr>
            <p:cNvPr id="4" name="TextBox 4"/>
            <p:cNvSpPr txBox="1"/>
            <p:nvPr/>
          </p:nvSpPr>
          <p:spPr>
            <a:xfrm>
              <a:off x="904494" y="180023"/>
              <a:ext cx="5269992"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资源竞标策略：</a:t>
              </a:r>
              <a:r>
                <a:rPr lang="zh-CN" sz="1950" b="1" dirty="0">
                  <a:solidFill>
                    <a:srgbClr val="B8351A"/>
                  </a:solidFill>
                  <a:latin typeface="+mn-lt"/>
                  <a:ea typeface="+mn-ea"/>
                  <a:cs typeface="+mn-cs"/>
                </a:rPr>
                <a:t>给老板选择题</a:t>
              </a:r>
              <a:r>
                <a:rPr lang="zh-CN" sz="1950" b="1" dirty="0">
                  <a:solidFill>
                    <a:srgbClr val="461910"/>
                  </a:solidFill>
                  <a:latin typeface="+mn-lt"/>
                  <a:ea typeface="+mn-ea"/>
                  <a:cs typeface="+mn-cs"/>
                </a:rPr>
                <a:t>，而不是判断题</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38" name="core-idea-strip"/>
          <p:cNvGrpSpPr/>
          <p:nvPr/>
        </p:nvGrpSpPr>
        <p:grpSpPr>
          <a:xfrm>
            <a:off x="228600" y="723900"/>
            <a:ext cx="11734800" cy="666750"/>
            <a:chOff x="228600" y="723900"/>
            <a:chExt cx="11734800" cy="666750"/>
          </a:xfrm>
        </p:grpSpPr>
        <p:sp>
          <p:nvSpPr>
            <p:cNvPr id="7" name="Freeform 7"/>
            <p:cNvSpPr/>
            <p:nvPr/>
          </p:nvSpPr>
          <p:spPr>
            <a:xfrm>
              <a:off x="228600" y="723900"/>
              <a:ext cx="2247900" cy="666750"/>
            </a:xfrm>
            <a:prstGeom prst="homePlate">
              <a:avLst>
                <a:gd name="adj" fmla="val 30000"/>
              </a:avLst>
            </a:prstGeom>
            <a:solidFill>
              <a:srgbClr val="721E0D"/>
            </a:solidFill>
            <a:ln>
              <a:noFill/>
            </a:ln>
          </p:spPr>
        </p:sp>
        <p:sp>
          <p:nvSpPr>
            <p:cNvPr id="8" name="Ellipse 8"/>
            <p:cNvSpPr/>
            <p:nvPr/>
          </p:nvSpPr>
          <p:spPr>
            <a:xfrm>
              <a:off x="409575" y="857250"/>
              <a:ext cx="400050" cy="400050"/>
            </a:xfrm>
            <a:prstGeom prst="ellipse">
              <a:avLst/>
            </a:prstGeom>
            <a:solidFill>
              <a:srgbClr val="FFFFFF"/>
            </a:solidFill>
            <a:ln>
              <a:noFill/>
            </a:ln>
          </p:spPr>
        </p:sp>
        <p:grpSp>
          <p:nvGrpSpPr>
            <p:cNvPr id="12" name="Group 12"/>
            <p:cNvGrpSpPr/>
            <p:nvPr/>
          </p:nvGrpSpPr>
          <p:grpSpPr>
            <a:xfrm>
              <a:off x="495300" y="942975"/>
              <a:ext cx="228599" cy="228599"/>
              <a:chOff x="495300" y="942975"/>
              <a:chExt cx="228599" cy="228599"/>
            </a:xfrm>
          </p:grpSpPr>
          <p:sp>
            <p:nvSpPr>
              <p:cNvPr id="9" name="Freeform 9"/>
              <p:cNvSpPr/>
              <p:nvPr/>
            </p:nvSpPr>
            <p:spPr>
              <a:xfrm>
                <a:off x="596900" y="10445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721E0D"/>
                </a:solidFill>
              </a:ln>
            </p:spPr>
          </p:sp>
          <p:sp>
            <p:nvSpPr>
              <p:cNvPr id="10" name="Freeform 10"/>
              <p:cNvSpPr/>
              <p:nvPr/>
            </p:nvSpPr>
            <p:spPr>
              <a:xfrm>
                <a:off x="546100" y="993775"/>
                <a:ext cx="127000" cy="127000"/>
              </a:xfrm>
              <a:custGeom>
                <a:avLst/>
                <a:gdLst/>
                <a:ahLst/>
                <a:cxnLst/>
                <a:rect l="l" t="t" r="r" b="b"/>
                <a:pathLst>
                  <a:path w="127000" h="127000">
                    <a:moveTo>
                      <a:pt x="0" y="63500"/>
                    </a:moveTo>
                    <a:cubicBezTo>
                      <a:pt x="0" y="98570"/>
                      <a:pt x="28430" y="127000"/>
                      <a:pt x="63500" y="127000"/>
                    </a:cubicBezTo>
                    <a:cubicBezTo>
                      <a:pt x="98570" y="127000"/>
                      <a:pt x="127000" y="98570"/>
                      <a:pt x="127000" y="63500"/>
                    </a:cubicBezTo>
                    <a:cubicBezTo>
                      <a:pt x="127000" y="28430"/>
                      <a:pt x="98570" y="0"/>
                      <a:pt x="63500" y="0"/>
                    </a:cubicBezTo>
                    <a:cubicBezTo>
                      <a:pt x="28430" y="0"/>
                      <a:pt x="0" y="28430"/>
                      <a:pt x="0" y="63500"/>
                    </a:cubicBezTo>
                  </a:path>
                </a:pathLst>
              </a:custGeom>
              <a:noFill/>
              <a:ln w="25400">
                <a:solidFill>
                  <a:srgbClr val="721E0D"/>
                </a:solidFill>
              </a:ln>
            </p:spPr>
          </p:sp>
          <p:sp>
            <p:nvSpPr>
              <p:cNvPr id="11" name="Freeform 11"/>
              <p:cNvSpPr/>
              <p:nvPr/>
            </p:nvSpPr>
            <p:spPr>
              <a:xfrm>
                <a:off x="495300" y="942975"/>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721E0D"/>
                </a:solidFill>
              </a:ln>
            </p:spPr>
          </p:sp>
        </p:grpSp>
        <p:sp>
          <p:nvSpPr>
            <p:cNvPr id="13" name="TextBox 13"/>
            <p:cNvSpPr txBox="1"/>
            <p:nvPr/>
          </p:nvSpPr>
          <p:spPr>
            <a:xfrm>
              <a:off x="925449" y="972979"/>
              <a:ext cx="866800" cy="308039"/>
            </a:xfrm>
            <a:prstGeom prst="rect">
              <a:avLst/>
            </a:prstGeom>
            <a:noFill/>
            <a:ln>
              <a:noFill/>
            </a:ln>
          </p:spPr>
          <p:txBody>
            <a:bodyPr wrap="none" lIns="0" tIns="0" rIns="0" bIns="0" anchor="t" anchorCtr="0">
              <a:spAutoFit/>
            </a:bodyPr>
            <a:lstStyle/>
            <a:p>
              <a:pPr algn="l"/>
              <a:r>
                <a:rPr lang="zh-CN" sz="1580" b="1" dirty="0">
                  <a:solidFill>
                    <a:srgbClr val="FFFFFF"/>
                  </a:solidFill>
                  <a:latin typeface="+mn-lt"/>
                  <a:ea typeface="+mn-ea"/>
                  <a:cs typeface="+mn-cs"/>
                </a:rPr>
                <a:t>核心思路</a:t>
              </a:r>
            </a:p>
          </p:txBody>
        </p:sp>
        <p:sp>
          <p:nvSpPr>
            <p:cNvPr id="14" name="Rectangle 14"/>
            <p:cNvSpPr/>
            <p:nvPr/>
          </p:nvSpPr>
          <p:spPr>
            <a:xfrm>
              <a:off x="2533650" y="762000"/>
              <a:ext cx="9010650" cy="590550"/>
            </a:xfrm>
            <a:prstGeom prst="roundRect">
              <a:avLst>
                <a:gd name="adj" fmla="val 12903"/>
              </a:avLst>
            </a:prstGeom>
            <a:solidFill>
              <a:srgbClr val="FFFFFF"/>
            </a:solidFill>
            <a:ln w="14288">
              <a:solidFill>
                <a:srgbClr val="721E0D"/>
              </a:solidFill>
            </a:ln>
          </p:spPr>
        </p:sp>
        <p:grpSp>
          <p:nvGrpSpPr>
            <p:cNvPr id="19" name="Group 19"/>
            <p:cNvGrpSpPr/>
            <p:nvPr/>
          </p:nvGrpSpPr>
          <p:grpSpPr>
            <a:xfrm>
              <a:off x="2807494" y="914400"/>
              <a:ext cx="250030" cy="283369"/>
              <a:chOff x="2807494" y="914400"/>
              <a:chExt cx="250030" cy="283369"/>
            </a:xfrm>
          </p:grpSpPr>
          <p:sp>
            <p:nvSpPr>
              <p:cNvPr id="15" name="Freeform 15"/>
              <p:cNvSpPr/>
              <p:nvPr/>
            </p:nvSpPr>
            <p:spPr>
              <a:xfrm>
                <a:off x="2807494" y="914400"/>
                <a:ext cx="200025" cy="266700"/>
              </a:xfrm>
              <a:custGeom>
                <a:avLst/>
                <a:gdLst/>
                <a:ahLst/>
                <a:cxnLst/>
                <a:rect l="l" t="t" r="r" b="b"/>
                <a:pathLst>
                  <a:path w="200025" h="266700">
                    <a:moveTo>
                      <a:pt x="76926" y="266700"/>
                    </a:moveTo>
                    <a:lnTo>
                      <a:pt x="33338" y="266700"/>
                    </a:lnTo>
                    <a:cubicBezTo>
                      <a:pt x="14926" y="266700"/>
                      <a:pt x="0" y="251774"/>
                      <a:pt x="0" y="233362"/>
                    </a:cubicBezTo>
                    <a:lnTo>
                      <a:pt x="0" y="33338"/>
                    </a:lnTo>
                    <a:cubicBezTo>
                      <a:pt x="0" y="14926"/>
                      <a:pt x="14926" y="0"/>
                      <a:pt x="33338" y="0"/>
                    </a:cubicBezTo>
                    <a:lnTo>
                      <a:pt x="166688" y="0"/>
                    </a:lnTo>
                    <a:cubicBezTo>
                      <a:pt x="185099" y="0"/>
                      <a:pt x="200025" y="14926"/>
                      <a:pt x="200025" y="33338"/>
                    </a:cubicBezTo>
                    <a:lnTo>
                      <a:pt x="200025" y="166688"/>
                    </a:lnTo>
                  </a:path>
                </a:pathLst>
              </a:custGeom>
              <a:noFill/>
              <a:ln w="33338">
                <a:solidFill>
                  <a:srgbClr val="721E0D"/>
                </a:solidFill>
              </a:ln>
            </p:spPr>
          </p:sp>
          <p:sp>
            <p:nvSpPr>
              <p:cNvPr id="16" name="Freeform 16"/>
              <p:cNvSpPr/>
              <p:nvPr/>
            </p:nvSpPr>
            <p:spPr>
              <a:xfrm>
                <a:off x="2957512" y="1131094"/>
                <a:ext cx="100012" cy="66675"/>
              </a:xfrm>
              <a:custGeom>
                <a:avLst/>
                <a:gdLst/>
                <a:ahLst/>
                <a:cxnLst/>
                <a:rect l="l" t="t" r="r" b="b"/>
                <a:pathLst>
                  <a:path w="100012" h="66675">
                    <a:moveTo>
                      <a:pt x="0" y="33338"/>
                    </a:moveTo>
                    <a:lnTo>
                      <a:pt x="33338" y="66675"/>
                    </a:lnTo>
                    <a:lnTo>
                      <a:pt x="100012" y="0"/>
                    </a:lnTo>
                  </a:path>
                </a:pathLst>
              </a:custGeom>
              <a:noFill/>
              <a:ln w="33338">
                <a:solidFill>
                  <a:srgbClr val="721E0D"/>
                </a:solidFill>
              </a:ln>
            </p:spPr>
          </p:sp>
          <p:sp>
            <p:nvSpPr>
              <p:cNvPr id="17" name="Freeform 17"/>
              <p:cNvSpPr/>
              <p:nvPr/>
            </p:nvSpPr>
            <p:spPr>
              <a:xfrm>
                <a:off x="2874169" y="981075"/>
                <a:ext cx="66675" cy="9525"/>
              </a:xfrm>
              <a:custGeom>
                <a:avLst/>
                <a:gdLst/>
                <a:ahLst/>
                <a:cxnLst/>
                <a:rect l="l" t="t" r="r" b="b"/>
                <a:pathLst>
                  <a:path w="66675" h="9525">
                    <a:moveTo>
                      <a:pt x="0" y="0"/>
                    </a:moveTo>
                    <a:lnTo>
                      <a:pt x="66675" y="0"/>
                    </a:lnTo>
                  </a:path>
                </a:pathLst>
              </a:custGeom>
              <a:noFill/>
              <a:ln w="33338">
                <a:solidFill>
                  <a:srgbClr val="721E0D"/>
                </a:solidFill>
              </a:ln>
            </p:spPr>
          </p:sp>
          <p:sp>
            <p:nvSpPr>
              <p:cNvPr id="18" name="Freeform 18"/>
              <p:cNvSpPr/>
              <p:nvPr/>
            </p:nvSpPr>
            <p:spPr>
              <a:xfrm>
                <a:off x="2874169" y="1047750"/>
                <a:ext cx="33338" cy="9525"/>
              </a:xfrm>
              <a:custGeom>
                <a:avLst/>
                <a:gdLst/>
                <a:ahLst/>
                <a:cxnLst/>
                <a:rect l="l" t="t" r="r" b="b"/>
                <a:pathLst>
                  <a:path w="33338" h="9525">
                    <a:moveTo>
                      <a:pt x="0" y="0"/>
                    </a:moveTo>
                    <a:lnTo>
                      <a:pt x="33338" y="0"/>
                    </a:lnTo>
                  </a:path>
                </a:pathLst>
              </a:custGeom>
              <a:noFill/>
              <a:ln w="33338">
                <a:solidFill>
                  <a:srgbClr val="721E0D"/>
                </a:solidFill>
              </a:ln>
            </p:spPr>
          </p:sp>
        </p:grpSp>
        <p:sp>
          <p:nvSpPr>
            <p:cNvPr id="20" name="TextBox 20"/>
            <p:cNvSpPr txBox="1"/>
            <p:nvPr/>
          </p:nvSpPr>
          <p:spPr>
            <a:xfrm>
              <a:off x="3251835" y="897731"/>
              <a:ext cx="916076"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提供可选方案</a:t>
              </a:r>
            </a:p>
          </p:txBody>
        </p:sp>
        <p:sp>
          <p:nvSpPr>
            <p:cNvPr id="21" name="TextBox 21"/>
            <p:cNvSpPr txBox="1"/>
            <p:nvPr/>
          </p:nvSpPr>
          <p:spPr>
            <a:xfrm>
              <a:off x="3252788" y="1075611"/>
              <a:ext cx="730885" cy="254794"/>
            </a:xfrm>
            <a:prstGeom prst="rect">
              <a:avLst/>
            </a:prstGeom>
            <a:noFill/>
            <a:ln>
              <a:noFill/>
            </a:ln>
          </p:spPr>
          <p:txBody>
            <a:bodyPr wrap="none" lIns="0" tIns="0" rIns="0" bIns="0" anchor="t" anchorCtr="0">
              <a:spAutoFit/>
            </a:bodyPr>
            <a:lstStyle/>
            <a:p>
              <a:pPr algn="l">
                <a:lnSpc>
                  <a:spcPts val="900"/>
                </a:lnSpc>
              </a:pPr>
              <a:r>
                <a:rPr lang="zh-CN" sz="710" dirty="0">
                  <a:solidFill>
                    <a:srgbClr val="523E3A"/>
                  </a:solidFill>
                  <a:latin typeface="+mn-lt"/>
                  <a:ea typeface="+mn-ea"/>
                  <a:cs typeface="+mn-cs"/>
                </a:rPr>
                <a:t>把不确定性转化为</a:t>
              </a:r>
              <a:br/>
              <a:r>
                <a:rPr lang="zh-CN" sz="710" dirty="0">
                  <a:solidFill>
                    <a:srgbClr val="523E3A"/>
                  </a:solidFill>
                  <a:latin typeface="+mn-lt"/>
                  <a:ea typeface="+mn-ea"/>
                  <a:cs typeface="+mn-cs"/>
                </a:rPr>
                <a:t>可比较的选择</a:t>
              </a:r>
            </a:p>
          </p:txBody>
        </p:sp>
        <p:grpSp>
          <p:nvGrpSpPr>
            <p:cNvPr id="27" name="Group 27"/>
            <p:cNvGrpSpPr/>
            <p:nvPr/>
          </p:nvGrpSpPr>
          <p:grpSpPr>
            <a:xfrm>
              <a:off x="5784056" y="897731"/>
              <a:ext cx="300037" cy="292894"/>
              <a:chOff x="5784056" y="897731"/>
              <a:chExt cx="300037" cy="292894"/>
            </a:xfrm>
          </p:grpSpPr>
          <p:sp>
            <p:nvSpPr>
              <p:cNvPr id="22" name="Freeform 22"/>
              <p:cNvSpPr/>
              <p:nvPr/>
            </p:nvSpPr>
            <p:spPr>
              <a:xfrm>
                <a:off x="5850731" y="1181100"/>
                <a:ext cx="166688" cy="9525"/>
              </a:xfrm>
              <a:custGeom>
                <a:avLst/>
                <a:gdLst/>
                <a:ahLst/>
                <a:cxnLst/>
                <a:rect l="l" t="t" r="r" b="b"/>
                <a:pathLst>
                  <a:path w="166688" h="9525">
                    <a:moveTo>
                      <a:pt x="0" y="0"/>
                    </a:moveTo>
                    <a:lnTo>
                      <a:pt x="166688" y="0"/>
                    </a:lnTo>
                  </a:path>
                </a:pathLst>
              </a:custGeom>
              <a:noFill/>
              <a:ln w="33338">
                <a:solidFill>
                  <a:srgbClr val="721E0D"/>
                </a:solidFill>
              </a:ln>
            </p:spPr>
          </p:sp>
          <p:sp>
            <p:nvSpPr>
              <p:cNvPr id="23" name="Freeform 23"/>
              <p:cNvSpPr/>
              <p:nvPr/>
            </p:nvSpPr>
            <p:spPr>
              <a:xfrm>
                <a:off x="5834062" y="931069"/>
                <a:ext cx="200025" cy="16669"/>
              </a:xfrm>
              <a:custGeom>
                <a:avLst/>
                <a:gdLst/>
                <a:ahLst/>
                <a:cxnLst/>
                <a:rect l="l" t="t" r="r" b="b"/>
                <a:pathLst>
                  <a:path w="200025" h="16669">
                    <a:moveTo>
                      <a:pt x="0" y="16669"/>
                    </a:moveTo>
                    <a:lnTo>
                      <a:pt x="100012" y="0"/>
                    </a:lnTo>
                    <a:lnTo>
                      <a:pt x="200025" y="16669"/>
                    </a:lnTo>
                  </a:path>
                </a:pathLst>
              </a:custGeom>
              <a:noFill/>
              <a:ln w="33338">
                <a:solidFill>
                  <a:srgbClr val="721E0D"/>
                </a:solidFill>
              </a:ln>
            </p:spPr>
          </p:sp>
          <p:sp>
            <p:nvSpPr>
              <p:cNvPr id="24" name="Freeform 24"/>
              <p:cNvSpPr/>
              <p:nvPr/>
            </p:nvSpPr>
            <p:spPr>
              <a:xfrm>
                <a:off x="5934075" y="897731"/>
                <a:ext cx="9525" cy="283369"/>
              </a:xfrm>
              <a:custGeom>
                <a:avLst/>
                <a:gdLst/>
                <a:ahLst/>
                <a:cxnLst/>
                <a:rect l="l" t="t" r="r" b="b"/>
                <a:pathLst>
                  <a:path w="9525" h="283369">
                    <a:moveTo>
                      <a:pt x="0" y="0"/>
                    </a:moveTo>
                    <a:lnTo>
                      <a:pt x="0" y="283369"/>
                    </a:lnTo>
                  </a:path>
                </a:pathLst>
              </a:custGeom>
              <a:noFill/>
              <a:ln w="33338">
                <a:solidFill>
                  <a:srgbClr val="721E0D"/>
                </a:solidFill>
              </a:ln>
            </p:spPr>
          </p:sp>
          <p:sp>
            <p:nvSpPr>
              <p:cNvPr id="25" name="Freeform 25"/>
              <p:cNvSpPr/>
              <p:nvPr/>
            </p:nvSpPr>
            <p:spPr>
              <a:xfrm>
                <a:off x="5784056" y="947738"/>
                <a:ext cx="100012" cy="150019"/>
              </a:xfrm>
              <a:custGeom>
                <a:avLst/>
                <a:gdLst/>
                <a:ahLst/>
                <a:cxnLst/>
                <a:rect l="l" t="t" r="r" b="b"/>
                <a:pathLst>
                  <a:path w="100012" h="150019">
                    <a:moveTo>
                      <a:pt x="100012" y="100012"/>
                    </a:moveTo>
                    <a:lnTo>
                      <a:pt x="50006" y="0"/>
                    </a:lnTo>
                    <a:lnTo>
                      <a:pt x="0" y="100012"/>
                    </a:lnTo>
                    <a:cubicBezTo>
                      <a:pt x="0" y="127630"/>
                      <a:pt x="22389" y="150019"/>
                      <a:pt x="50006" y="150019"/>
                    </a:cubicBezTo>
                    <a:cubicBezTo>
                      <a:pt x="77624" y="150019"/>
                      <a:pt x="100012" y="127630"/>
                      <a:pt x="100012" y="100012"/>
                    </a:cubicBezTo>
                  </a:path>
                </a:pathLst>
              </a:custGeom>
              <a:noFill/>
              <a:ln w="33338">
                <a:solidFill>
                  <a:srgbClr val="721E0D"/>
                </a:solidFill>
              </a:ln>
            </p:spPr>
          </p:sp>
          <p:sp>
            <p:nvSpPr>
              <p:cNvPr id="26" name="Freeform 26"/>
              <p:cNvSpPr/>
              <p:nvPr/>
            </p:nvSpPr>
            <p:spPr>
              <a:xfrm>
                <a:off x="5984081" y="947738"/>
                <a:ext cx="100012" cy="150019"/>
              </a:xfrm>
              <a:custGeom>
                <a:avLst/>
                <a:gdLst/>
                <a:ahLst/>
                <a:cxnLst/>
                <a:rect l="l" t="t" r="r" b="b"/>
                <a:pathLst>
                  <a:path w="100012" h="150019">
                    <a:moveTo>
                      <a:pt x="100012" y="100012"/>
                    </a:moveTo>
                    <a:lnTo>
                      <a:pt x="50006" y="0"/>
                    </a:lnTo>
                    <a:lnTo>
                      <a:pt x="0" y="100012"/>
                    </a:lnTo>
                    <a:cubicBezTo>
                      <a:pt x="0" y="127630"/>
                      <a:pt x="22389" y="150019"/>
                      <a:pt x="50006" y="150019"/>
                    </a:cubicBezTo>
                    <a:cubicBezTo>
                      <a:pt x="77624" y="150019"/>
                      <a:pt x="100012" y="127630"/>
                      <a:pt x="100012" y="100012"/>
                    </a:cubicBezTo>
                  </a:path>
                </a:pathLst>
              </a:custGeom>
              <a:noFill/>
              <a:ln w="33338">
                <a:solidFill>
                  <a:srgbClr val="721E0D"/>
                </a:solidFill>
              </a:ln>
            </p:spPr>
          </p:sp>
        </p:grpSp>
        <p:sp>
          <p:nvSpPr>
            <p:cNvPr id="28" name="TextBox 28"/>
            <p:cNvSpPr txBox="1"/>
            <p:nvPr/>
          </p:nvSpPr>
          <p:spPr>
            <a:xfrm>
              <a:off x="6261735" y="897731"/>
              <a:ext cx="916076"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量化投入产出</a:t>
              </a:r>
            </a:p>
          </p:txBody>
        </p:sp>
        <p:sp>
          <p:nvSpPr>
            <p:cNvPr id="29" name="TextBox 29"/>
            <p:cNvSpPr txBox="1"/>
            <p:nvPr/>
          </p:nvSpPr>
          <p:spPr>
            <a:xfrm>
              <a:off x="6262688" y="1075611"/>
              <a:ext cx="911225" cy="254794"/>
            </a:xfrm>
            <a:prstGeom prst="rect">
              <a:avLst/>
            </a:prstGeom>
            <a:noFill/>
            <a:ln>
              <a:noFill/>
            </a:ln>
          </p:spPr>
          <p:txBody>
            <a:bodyPr wrap="none" lIns="0" tIns="0" rIns="0" bIns="0" anchor="t" anchorCtr="0">
              <a:spAutoFit/>
            </a:bodyPr>
            <a:lstStyle/>
            <a:p>
              <a:pPr algn="l">
                <a:lnSpc>
                  <a:spcPts val="900"/>
                </a:lnSpc>
              </a:pPr>
              <a:r>
                <a:rPr lang="zh-CN" sz="710" dirty="0">
                  <a:solidFill>
                    <a:srgbClr val="523E3A"/>
                  </a:solidFill>
                  <a:latin typeface="+mn-lt"/>
                  <a:ea typeface="+mn-ea"/>
                  <a:cs typeface="+mn-cs"/>
                </a:rPr>
                <a:t>用数据说话，清晰展示</a:t>
              </a:r>
              <a:br/>
              <a:r>
                <a:rPr lang="zh-CN" sz="710" dirty="0">
                  <a:solidFill>
                    <a:srgbClr val="523E3A"/>
                  </a:solidFill>
                  <a:latin typeface="+mn-lt"/>
                  <a:ea typeface="+mn-ea"/>
                  <a:cs typeface="+mn-cs"/>
                </a:rPr>
                <a:t>回报与风险</a:t>
              </a:r>
            </a:p>
          </p:txBody>
        </p:sp>
        <p:grpSp>
          <p:nvGrpSpPr>
            <p:cNvPr id="32" name="Group 32"/>
            <p:cNvGrpSpPr/>
            <p:nvPr/>
          </p:nvGrpSpPr>
          <p:grpSpPr>
            <a:xfrm>
              <a:off x="8771461" y="897731"/>
              <a:ext cx="325511" cy="300038"/>
              <a:chOff x="8771461" y="897731"/>
              <a:chExt cx="325511" cy="300038"/>
            </a:xfrm>
          </p:grpSpPr>
          <p:sp>
            <p:nvSpPr>
              <p:cNvPr id="30" name="Freeform 30"/>
              <p:cNvSpPr/>
              <p:nvPr/>
            </p:nvSpPr>
            <p:spPr>
              <a:xfrm>
                <a:off x="8771461" y="897731"/>
                <a:ext cx="325511" cy="297471"/>
              </a:xfrm>
              <a:custGeom>
                <a:avLst/>
                <a:gdLst/>
                <a:ahLst/>
                <a:cxnLst/>
                <a:rect l="l" t="t" r="r" b="b"/>
                <a:pathLst>
                  <a:path w="325511" h="297471">
                    <a:moveTo>
                      <a:pt x="163513" y="297471"/>
                    </a:moveTo>
                    <a:cubicBezTo>
                      <a:pt x="59091" y="265102"/>
                      <a:pt x="0" y="154893"/>
                      <a:pt x="30830" y="50006"/>
                    </a:cubicBezTo>
                    <a:cubicBezTo>
                      <a:pt x="82762" y="52383"/>
                      <a:pt x="133579" y="34447"/>
                      <a:pt x="172514" y="0"/>
                    </a:cubicBezTo>
                    <a:cubicBezTo>
                      <a:pt x="211449" y="34447"/>
                      <a:pt x="262267" y="52383"/>
                      <a:pt x="314198" y="50006"/>
                    </a:cubicBezTo>
                    <a:cubicBezTo>
                      <a:pt x="325511" y="88496"/>
                      <a:pt x="324988" y="129499"/>
                      <a:pt x="312698" y="167688"/>
                    </a:cubicBezTo>
                  </a:path>
                </a:pathLst>
              </a:custGeom>
              <a:noFill/>
              <a:ln w="33338">
                <a:solidFill>
                  <a:srgbClr val="721E0D"/>
                </a:solidFill>
              </a:ln>
            </p:spPr>
          </p:sp>
          <p:sp>
            <p:nvSpPr>
              <p:cNvPr id="31" name="Freeform 31"/>
              <p:cNvSpPr/>
              <p:nvPr/>
            </p:nvSpPr>
            <p:spPr>
              <a:xfrm>
                <a:off x="8993981" y="1131094"/>
                <a:ext cx="100012" cy="66675"/>
              </a:xfrm>
              <a:custGeom>
                <a:avLst/>
                <a:gdLst/>
                <a:ahLst/>
                <a:cxnLst/>
                <a:rect l="l" t="t" r="r" b="b"/>
                <a:pathLst>
                  <a:path w="100012" h="66675">
                    <a:moveTo>
                      <a:pt x="0" y="33338"/>
                    </a:moveTo>
                    <a:lnTo>
                      <a:pt x="33338" y="66675"/>
                    </a:lnTo>
                    <a:lnTo>
                      <a:pt x="100012" y="0"/>
                    </a:lnTo>
                  </a:path>
                </a:pathLst>
              </a:custGeom>
              <a:noFill/>
              <a:ln w="33338">
                <a:solidFill>
                  <a:srgbClr val="721E0D"/>
                </a:solidFill>
              </a:ln>
            </p:spPr>
          </p:sp>
        </p:grpSp>
        <p:sp>
          <p:nvSpPr>
            <p:cNvPr id="33" name="TextBox 33"/>
            <p:cNvSpPr txBox="1"/>
            <p:nvPr/>
          </p:nvSpPr>
          <p:spPr>
            <a:xfrm>
              <a:off x="9271635" y="897731"/>
              <a:ext cx="765302"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老板做选择</a:t>
              </a:r>
            </a:p>
          </p:txBody>
        </p:sp>
        <p:sp>
          <p:nvSpPr>
            <p:cNvPr id="34" name="TextBox 34"/>
            <p:cNvSpPr txBox="1"/>
            <p:nvPr/>
          </p:nvSpPr>
          <p:spPr>
            <a:xfrm>
              <a:off x="9272588" y="1075611"/>
              <a:ext cx="730885" cy="254794"/>
            </a:xfrm>
            <a:prstGeom prst="rect">
              <a:avLst/>
            </a:prstGeom>
            <a:noFill/>
            <a:ln>
              <a:noFill/>
            </a:ln>
          </p:spPr>
          <p:txBody>
            <a:bodyPr wrap="none" lIns="0" tIns="0" rIns="0" bIns="0" anchor="t" anchorCtr="0">
              <a:spAutoFit/>
            </a:bodyPr>
            <a:lstStyle/>
            <a:p>
              <a:pPr algn="l">
                <a:lnSpc>
                  <a:spcPts val="900"/>
                </a:lnSpc>
              </a:pPr>
              <a:r>
                <a:rPr lang="zh-CN" sz="710" dirty="0">
                  <a:solidFill>
                    <a:srgbClr val="523E3A"/>
                  </a:solidFill>
                  <a:latin typeface="+mn-lt"/>
                  <a:ea typeface="+mn-ea"/>
                  <a:cs typeface="+mn-cs"/>
                </a:rPr>
                <a:t>决策权交给老板，</a:t>
              </a:r>
              <a:br/>
              <a:r>
                <a:rPr lang="zh-CN" sz="710" dirty="0">
                  <a:solidFill>
                    <a:srgbClr val="523E3A"/>
                  </a:solidFill>
                  <a:latin typeface="+mn-lt"/>
                  <a:ea typeface="+mn-ea"/>
                  <a:cs typeface="+mn-cs"/>
                </a:rPr>
                <a:t>我们负责执行</a:t>
              </a:r>
            </a:p>
          </p:txBody>
        </p:sp>
        <p:sp>
          <p:nvSpPr>
            <p:cNvPr id="35" name="Line 35"/>
            <p:cNvSpPr/>
            <p:nvPr/>
          </p:nvSpPr>
          <p:spPr>
            <a:xfrm>
              <a:off x="5505450" y="857250"/>
              <a:ext cx="9525" cy="400050"/>
            </a:xfrm>
            <a:custGeom>
              <a:avLst/>
              <a:gdLst/>
              <a:ahLst/>
              <a:cxnLst/>
              <a:rect l="l" t="t" r="r" b="b"/>
              <a:pathLst>
                <a:path w="9525" h="400050">
                  <a:moveTo>
                    <a:pt x="0" y="0"/>
                  </a:moveTo>
                  <a:lnTo>
                    <a:pt x="0" y="400050"/>
                  </a:lnTo>
                </a:path>
              </a:pathLst>
            </a:custGeom>
            <a:noFill/>
            <a:ln w="14288">
              <a:solidFill>
                <a:srgbClr val="DCE6F6"/>
              </a:solidFill>
            </a:ln>
          </p:spPr>
        </p:sp>
        <p:sp>
          <p:nvSpPr>
            <p:cNvPr id="36" name="Line 36"/>
            <p:cNvSpPr/>
            <p:nvPr/>
          </p:nvSpPr>
          <p:spPr>
            <a:xfrm>
              <a:off x="8515350" y="857250"/>
              <a:ext cx="9525" cy="400050"/>
            </a:xfrm>
            <a:custGeom>
              <a:avLst/>
              <a:gdLst/>
              <a:ahLst/>
              <a:cxnLst/>
              <a:rect l="l" t="t" r="r" b="b"/>
              <a:pathLst>
                <a:path w="9525" h="400050">
                  <a:moveTo>
                    <a:pt x="0" y="0"/>
                  </a:moveTo>
                  <a:lnTo>
                    <a:pt x="0" y="400050"/>
                  </a:lnTo>
                </a:path>
              </a:pathLst>
            </a:custGeom>
            <a:noFill/>
            <a:ln w="14288">
              <a:solidFill>
                <a:srgbClr val="DCE6F6"/>
              </a:solidFill>
            </a:ln>
          </p:spPr>
        </p:sp>
        <p:sp>
          <p:nvSpPr>
            <p:cNvPr id="37" name="Freeform 37"/>
            <p:cNvSpPr/>
            <p:nvPr/>
          </p:nvSpPr>
          <p:spPr>
            <a:xfrm>
              <a:off x="11544300" y="762000"/>
              <a:ext cx="419100" cy="590550"/>
            </a:xfrm>
            <a:prstGeom prst="chevron">
              <a:avLst>
                <a:gd name="adj" fmla="val 40000"/>
              </a:avLst>
            </a:prstGeom>
            <a:solidFill>
              <a:srgbClr val="721E0D"/>
            </a:solidFill>
            <a:ln>
              <a:noFill/>
            </a:ln>
          </p:spPr>
        </p:sp>
      </p:grpSp>
      <p:grpSp>
        <p:nvGrpSpPr>
          <p:cNvPr id="76" name="option-card-A"/>
          <p:cNvGrpSpPr/>
          <p:nvPr/>
        </p:nvGrpSpPr>
        <p:grpSpPr>
          <a:xfrm>
            <a:off x="228600" y="1524000"/>
            <a:ext cx="3810000" cy="3619500"/>
            <a:chOff x="228600" y="1524000"/>
            <a:chExt cx="3810000" cy="3619500"/>
          </a:xfrm>
        </p:grpSpPr>
        <p:sp>
          <p:nvSpPr>
            <p:cNvPr id="39" name="Rectangle 39"/>
            <p:cNvSpPr/>
            <p:nvPr/>
          </p:nvSpPr>
          <p:spPr>
            <a:xfrm>
              <a:off x="228600" y="1524000"/>
              <a:ext cx="3810000" cy="3619500"/>
            </a:xfrm>
            <a:prstGeom prst="roundRect">
              <a:avLst>
                <a:gd name="adj" fmla="val 3158"/>
              </a:avLst>
            </a:prstGeom>
            <a:solidFill>
              <a:srgbClr val="FFFFFF"/>
            </a:solidFill>
            <a:ln w="19050">
              <a:solidFill>
                <a:srgbClr val="C03616"/>
              </a:solidFill>
            </a:ln>
          </p:spPr>
        </p:sp>
        <p:sp>
          <p:nvSpPr>
            <p:cNvPr id="40" name="Freeform 40"/>
            <p:cNvSpPr/>
            <p:nvPr/>
          </p:nvSpPr>
          <p:spPr>
            <a:xfrm>
              <a:off x="228600" y="1524000"/>
              <a:ext cx="3810000" cy="381000"/>
            </a:xfrm>
            <a:custGeom>
              <a:avLst/>
              <a:gdLst/>
              <a:ahLst/>
              <a:cxnLst/>
              <a:rect l="l" t="t" r="r" b="b"/>
              <a:pathLst>
                <a:path w="3810000" h="381000">
                  <a:moveTo>
                    <a:pt x="114300" y="0"/>
                  </a:moveTo>
                  <a:lnTo>
                    <a:pt x="3695700" y="0"/>
                  </a:lnTo>
                  <a:cubicBezTo>
                    <a:pt x="3758826" y="0"/>
                    <a:pt x="3810000" y="51174"/>
                    <a:pt x="3810000" y="114300"/>
                  </a:cubicBezTo>
                  <a:lnTo>
                    <a:pt x="3810000" y="381000"/>
                  </a:lnTo>
                  <a:lnTo>
                    <a:pt x="0" y="381000"/>
                  </a:lnTo>
                  <a:lnTo>
                    <a:pt x="0" y="114300"/>
                  </a:lnTo>
                  <a:cubicBezTo>
                    <a:pt x="0" y="51174"/>
                    <a:pt x="51174" y="0"/>
                    <a:pt x="114300" y="0"/>
                  </a:cubicBezTo>
                  <a:close/>
                </a:path>
              </a:pathLst>
            </a:custGeom>
            <a:solidFill>
              <a:srgbClr val="C03616"/>
            </a:solidFill>
            <a:ln>
              <a:noFill/>
            </a:ln>
          </p:spPr>
        </p:sp>
        <p:sp>
          <p:nvSpPr>
            <p:cNvPr id="41" name="TextBox 41"/>
            <p:cNvSpPr txBox="1"/>
            <p:nvPr/>
          </p:nvSpPr>
          <p:spPr>
            <a:xfrm>
              <a:off x="473044" y="1614011"/>
              <a:ext cx="158813" cy="337376"/>
            </a:xfrm>
            <a:prstGeom prst="rect">
              <a:avLst/>
            </a:prstGeom>
            <a:noFill/>
            <a:ln>
              <a:noFill/>
            </a:ln>
          </p:spPr>
          <p:txBody>
            <a:bodyPr wrap="none" lIns="0" tIns="0" rIns="0" bIns="0" anchor="t" anchorCtr="0">
              <a:spAutoFit/>
            </a:bodyPr>
            <a:lstStyle/>
            <a:p>
              <a:pPr algn="ctr"/>
              <a:r>
                <a:rPr lang="en-US" sz="1720" b="1" i="1" dirty="0">
                  <a:solidFill>
                    <a:srgbClr val="FFFFFF"/>
                  </a:solidFill>
                  <a:latin typeface="+mn-lt"/>
                  <a:ea typeface="+mn-ea"/>
                  <a:cs typeface="+mn-cs"/>
                </a:rPr>
                <a:t>A</a:t>
              </a:r>
            </a:p>
          </p:txBody>
        </p:sp>
        <p:sp>
          <p:nvSpPr>
            <p:cNvPr id="42" name="Line 42"/>
            <p:cNvSpPr/>
            <p:nvPr/>
          </p:nvSpPr>
          <p:spPr>
            <a:xfrm>
              <a:off x="647700" y="1600200"/>
              <a:ext cx="76200" cy="247650"/>
            </a:xfrm>
            <a:custGeom>
              <a:avLst/>
              <a:gdLst/>
              <a:ahLst/>
              <a:cxnLst/>
              <a:rect l="l" t="t" r="r" b="b"/>
              <a:pathLst>
                <a:path w="76200" h="247650">
                  <a:moveTo>
                    <a:pt x="76200" y="0"/>
                  </a:moveTo>
                  <a:lnTo>
                    <a:pt x="0" y="247650"/>
                  </a:lnTo>
                </a:path>
              </a:pathLst>
            </a:custGeom>
            <a:noFill/>
            <a:ln w="19050">
              <a:solidFill>
                <a:srgbClr val="FFFFFF"/>
              </a:solidFill>
            </a:ln>
          </p:spPr>
        </p:sp>
        <p:sp>
          <p:nvSpPr>
            <p:cNvPr id="43" name="TextBox 43"/>
            <p:cNvSpPr txBox="1"/>
            <p:nvPr/>
          </p:nvSpPr>
          <p:spPr>
            <a:xfrm>
              <a:off x="888873" y="1662589"/>
              <a:ext cx="1806397"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 xml:space="preserve">选项A 充足火力      </a:t>
              </a:r>
            </a:p>
          </p:txBody>
        </p:sp>
        <p:sp>
          <p:nvSpPr>
            <p:cNvPr id="44" name="Ellipse 44"/>
            <p:cNvSpPr/>
            <p:nvPr/>
          </p:nvSpPr>
          <p:spPr>
            <a:xfrm>
              <a:off x="447675" y="1933575"/>
              <a:ext cx="400050" cy="400050"/>
            </a:xfrm>
            <a:prstGeom prst="ellipse">
              <a:avLst/>
            </a:prstGeom>
            <a:solidFill>
              <a:srgbClr val="FDECEC"/>
            </a:solidFill>
            <a:ln>
              <a:noFill/>
            </a:ln>
          </p:spPr>
        </p:sp>
        <p:grpSp>
          <p:nvGrpSpPr>
            <p:cNvPr id="47" name="Group 47"/>
            <p:cNvGrpSpPr/>
            <p:nvPr/>
          </p:nvGrpSpPr>
          <p:grpSpPr>
            <a:xfrm>
              <a:off x="558800" y="2044700"/>
              <a:ext cx="177800" cy="177801"/>
              <a:chOff x="558800" y="2044700"/>
              <a:chExt cx="177800" cy="177801"/>
            </a:xfrm>
          </p:grpSpPr>
          <p:sp>
            <p:nvSpPr>
              <p:cNvPr id="45" name="Freeform 45"/>
              <p:cNvSpPr/>
              <p:nvPr/>
            </p:nvSpPr>
            <p:spPr>
              <a:xfrm>
                <a:off x="558800" y="2044700"/>
                <a:ext cx="166688" cy="177801"/>
              </a:xfrm>
              <a:custGeom>
                <a:avLst/>
                <a:gdLst/>
                <a:ahLst/>
                <a:cxnLst/>
                <a:rect l="l" t="t" r="r" b="b"/>
                <a:pathLst>
                  <a:path w="166688" h="177801">
                    <a:moveTo>
                      <a:pt x="144463" y="44450"/>
                    </a:moveTo>
                    <a:lnTo>
                      <a:pt x="144463" y="11113"/>
                    </a:lnTo>
                    <a:cubicBezTo>
                      <a:pt x="144463" y="4975"/>
                      <a:pt x="139488" y="0"/>
                      <a:pt x="133350" y="0"/>
                    </a:cubicBezTo>
                    <a:lnTo>
                      <a:pt x="22225" y="0"/>
                    </a:lnTo>
                    <a:cubicBezTo>
                      <a:pt x="9950" y="0"/>
                      <a:pt x="0" y="9950"/>
                      <a:pt x="0" y="22225"/>
                    </a:cubicBezTo>
                    <a:cubicBezTo>
                      <a:pt x="0" y="34500"/>
                      <a:pt x="9950" y="44450"/>
                      <a:pt x="22225" y="44450"/>
                    </a:cubicBezTo>
                    <a:lnTo>
                      <a:pt x="155575" y="44450"/>
                    </a:lnTo>
                    <a:cubicBezTo>
                      <a:pt x="161713" y="44450"/>
                      <a:pt x="166688" y="49425"/>
                      <a:pt x="166688" y="55563"/>
                    </a:cubicBezTo>
                    <a:lnTo>
                      <a:pt x="166688" y="88900"/>
                    </a:lnTo>
                    <a:moveTo>
                      <a:pt x="166688" y="133350"/>
                    </a:moveTo>
                    <a:lnTo>
                      <a:pt x="166688" y="166688"/>
                    </a:lnTo>
                    <a:cubicBezTo>
                      <a:pt x="166688" y="172825"/>
                      <a:pt x="161713" y="177801"/>
                      <a:pt x="155575" y="177801"/>
                    </a:cubicBezTo>
                    <a:lnTo>
                      <a:pt x="22225" y="177801"/>
                    </a:lnTo>
                    <a:cubicBezTo>
                      <a:pt x="9950" y="177801"/>
                      <a:pt x="0" y="167850"/>
                      <a:pt x="0" y="155575"/>
                    </a:cubicBezTo>
                    <a:lnTo>
                      <a:pt x="0" y="22225"/>
                    </a:lnTo>
                  </a:path>
                </a:pathLst>
              </a:custGeom>
              <a:noFill/>
              <a:ln w="22225">
                <a:solidFill>
                  <a:srgbClr val="C03616"/>
                </a:solidFill>
              </a:ln>
            </p:spPr>
          </p:sp>
          <p:sp>
            <p:nvSpPr>
              <p:cNvPr id="46" name="Freeform 46"/>
              <p:cNvSpPr/>
              <p:nvPr/>
            </p:nvSpPr>
            <p:spPr>
              <a:xfrm>
                <a:off x="669925" y="2133600"/>
                <a:ext cx="66675" cy="44450"/>
              </a:xfrm>
              <a:custGeom>
                <a:avLst/>
                <a:gdLst/>
                <a:ahLst/>
                <a:cxnLst/>
                <a:rect l="l" t="t" r="r" b="b"/>
                <a:pathLst>
                  <a:path w="66675" h="44450">
                    <a:moveTo>
                      <a:pt x="66675" y="0"/>
                    </a:moveTo>
                    <a:lnTo>
                      <a:pt x="66675" y="44450"/>
                    </a:lnTo>
                    <a:lnTo>
                      <a:pt x="22225" y="44450"/>
                    </a:lnTo>
                    <a:cubicBezTo>
                      <a:pt x="9950" y="44450"/>
                      <a:pt x="0" y="34500"/>
                      <a:pt x="0" y="22225"/>
                    </a:cubicBezTo>
                    <a:cubicBezTo>
                      <a:pt x="0" y="9950"/>
                      <a:pt x="9950" y="0"/>
                      <a:pt x="22225" y="0"/>
                    </a:cubicBezTo>
                    <a:lnTo>
                      <a:pt x="66675" y="0"/>
                    </a:lnTo>
                  </a:path>
                </a:pathLst>
              </a:custGeom>
              <a:noFill/>
              <a:ln w="22225">
                <a:solidFill>
                  <a:srgbClr val="C03616"/>
                </a:solidFill>
              </a:ln>
            </p:spPr>
          </p:sp>
        </p:grpSp>
        <p:sp>
          <p:nvSpPr>
            <p:cNvPr id="48" name="TextBox 48"/>
            <p:cNvSpPr txBox="1"/>
            <p:nvPr/>
          </p:nvSpPr>
          <p:spPr>
            <a:xfrm>
              <a:off x="947166" y="2067878"/>
              <a:ext cx="293370"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投入</a:t>
              </a:r>
            </a:p>
          </p:txBody>
        </p:sp>
        <p:sp>
          <p:nvSpPr>
            <p:cNvPr id="49" name="Line 49"/>
            <p:cNvSpPr/>
            <p:nvPr/>
          </p:nvSpPr>
          <p:spPr>
            <a:xfrm>
              <a:off x="1676400" y="1943100"/>
              <a:ext cx="9525" cy="381000"/>
            </a:xfrm>
            <a:custGeom>
              <a:avLst/>
              <a:gdLst/>
              <a:ahLst/>
              <a:cxnLst/>
              <a:rect l="l" t="t" r="r" b="b"/>
              <a:pathLst>
                <a:path w="9525" h="381000">
                  <a:moveTo>
                    <a:pt x="0" y="0"/>
                  </a:moveTo>
                  <a:lnTo>
                    <a:pt x="0" y="381000"/>
                  </a:lnTo>
                </a:path>
              </a:pathLst>
            </a:custGeom>
            <a:noFill/>
            <a:ln w="14288">
              <a:solidFill>
                <a:srgbClr val="E0E7F3"/>
              </a:solidFill>
            </a:ln>
          </p:spPr>
        </p:sp>
        <p:sp>
          <p:nvSpPr>
            <p:cNvPr id="50" name="TextBox 50"/>
            <p:cNvSpPr txBox="1"/>
            <p:nvPr/>
          </p:nvSpPr>
          <p:spPr>
            <a:xfrm>
              <a:off x="1860614" y="2057162"/>
              <a:ext cx="1547901" cy="242030"/>
            </a:xfrm>
            <a:prstGeom prst="rect">
              <a:avLst/>
            </a:prstGeom>
            <a:noFill/>
            <a:ln>
              <a:noFill/>
            </a:ln>
          </p:spPr>
          <p:txBody>
            <a:bodyPr wrap="none" lIns="0" tIns="0" rIns="0" bIns="0" anchor="t" anchorCtr="0">
              <a:spAutoFit/>
            </a:bodyPr>
            <a:lstStyle/>
            <a:p>
              <a:pPr algn="l"/>
              <a:r>
                <a:rPr lang="zh-CN" sz="1240" b="1" dirty="0">
                  <a:solidFill>
                    <a:srgbClr val="C03616"/>
                  </a:solidFill>
                  <a:latin typeface="+mn-lt"/>
                  <a:ea typeface="+mn-ea"/>
                  <a:cs typeface="+mn-cs"/>
                </a:rPr>
                <a:t xml:space="preserve">投入250万元      </a:t>
              </a:r>
            </a:p>
          </p:txBody>
        </p:sp>
        <p:sp>
          <p:nvSpPr>
            <p:cNvPr id="51" name="Line 51"/>
            <p:cNvSpPr/>
            <p:nvPr/>
          </p:nvSpPr>
          <p:spPr>
            <a:xfrm>
              <a:off x="361950" y="240982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52" name="Ellipse 52"/>
            <p:cNvSpPr/>
            <p:nvPr/>
          </p:nvSpPr>
          <p:spPr>
            <a:xfrm>
              <a:off x="447675" y="2486025"/>
              <a:ext cx="400050" cy="400050"/>
            </a:xfrm>
            <a:prstGeom prst="ellipse">
              <a:avLst/>
            </a:prstGeom>
            <a:solidFill>
              <a:srgbClr val="FDECEC"/>
            </a:solidFill>
            <a:ln>
              <a:noFill/>
            </a:ln>
          </p:spPr>
        </p:sp>
        <p:grpSp>
          <p:nvGrpSpPr>
            <p:cNvPr id="57" name="Group 57"/>
            <p:cNvGrpSpPr/>
            <p:nvPr/>
          </p:nvGrpSpPr>
          <p:grpSpPr>
            <a:xfrm>
              <a:off x="547688" y="2597150"/>
              <a:ext cx="200025" cy="187326"/>
              <a:chOff x="547688" y="2597150"/>
              <a:chExt cx="200025" cy="187326"/>
            </a:xfrm>
          </p:grpSpPr>
          <p:sp>
            <p:nvSpPr>
              <p:cNvPr id="53" name="Freeform 53"/>
              <p:cNvSpPr/>
              <p:nvPr/>
            </p:nvSpPr>
            <p:spPr>
              <a:xfrm>
                <a:off x="547688" y="268605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C03616"/>
                </a:solidFill>
              </a:ln>
            </p:spPr>
          </p:sp>
          <p:sp>
            <p:nvSpPr>
              <p:cNvPr id="54" name="Freeform 54"/>
              <p:cNvSpPr/>
              <p:nvPr/>
            </p:nvSpPr>
            <p:spPr>
              <a:xfrm>
                <a:off x="681038" y="264160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C03616"/>
                </a:solidFill>
              </a:ln>
            </p:spPr>
          </p:sp>
          <p:sp>
            <p:nvSpPr>
              <p:cNvPr id="55" name="Freeform 55"/>
              <p:cNvSpPr/>
              <p:nvPr/>
            </p:nvSpPr>
            <p:spPr>
              <a:xfrm>
                <a:off x="614363" y="259715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C03616"/>
                </a:solidFill>
              </a:ln>
            </p:spPr>
          </p:sp>
          <p:sp>
            <p:nvSpPr>
              <p:cNvPr id="56" name="Freeform 56"/>
              <p:cNvSpPr/>
              <p:nvPr/>
            </p:nvSpPr>
            <p:spPr>
              <a:xfrm>
                <a:off x="558800" y="2774951"/>
                <a:ext cx="155575" cy="9525"/>
              </a:xfrm>
              <a:custGeom>
                <a:avLst/>
                <a:gdLst/>
                <a:ahLst/>
                <a:cxnLst/>
                <a:rect l="l" t="t" r="r" b="b"/>
                <a:pathLst>
                  <a:path w="155575" h="9525">
                    <a:moveTo>
                      <a:pt x="0" y="0"/>
                    </a:moveTo>
                    <a:lnTo>
                      <a:pt x="155575" y="0"/>
                    </a:lnTo>
                  </a:path>
                </a:pathLst>
              </a:custGeom>
              <a:noFill/>
              <a:ln w="22225">
                <a:solidFill>
                  <a:srgbClr val="C03616"/>
                </a:solidFill>
              </a:ln>
            </p:spPr>
          </p:sp>
        </p:grpSp>
        <p:sp>
          <p:nvSpPr>
            <p:cNvPr id="58" name="TextBox 58"/>
            <p:cNvSpPr txBox="1"/>
            <p:nvPr/>
          </p:nvSpPr>
          <p:spPr>
            <a:xfrm>
              <a:off x="947166" y="2620328"/>
              <a:ext cx="576072"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预计追回</a:t>
              </a:r>
            </a:p>
          </p:txBody>
        </p:sp>
        <p:sp>
          <p:nvSpPr>
            <p:cNvPr id="59" name="Line 59"/>
            <p:cNvSpPr/>
            <p:nvPr/>
          </p:nvSpPr>
          <p:spPr>
            <a:xfrm>
              <a:off x="1676400" y="2495550"/>
              <a:ext cx="9525" cy="381000"/>
            </a:xfrm>
            <a:custGeom>
              <a:avLst/>
              <a:gdLst/>
              <a:ahLst/>
              <a:cxnLst/>
              <a:rect l="l" t="t" r="r" b="b"/>
              <a:pathLst>
                <a:path w="9525" h="381000">
                  <a:moveTo>
                    <a:pt x="0" y="0"/>
                  </a:moveTo>
                  <a:lnTo>
                    <a:pt x="0" y="381000"/>
                  </a:lnTo>
                </a:path>
              </a:pathLst>
            </a:custGeom>
            <a:noFill/>
            <a:ln w="14288">
              <a:solidFill>
                <a:srgbClr val="E0E7F3"/>
              </a:solidFill>
            </a:ln>
          </p:spPr>
        </p:sp>
        <p:sp>
          <p:nvSpPr>
            <p:cNvPr id="60" name="TextBox 60"/>
            <p:cNvSpPr txBox="1"/>
            <p:nvPr/>
          </p:nvSpPr>
          <p:spPr>
            <a:xfrm>
              <a:off x="1860614" y="2609612"/>
              <a:ext cx="1978160" cy="242030"/>
            </a:xfrm>
            <a:prstGeom prst="rect">
              <a:avLst/>
            </a:prstGeom>
            <a:noFill/>
            <a:ln>
              <a:noFill/>
            </a:ln>
          </p:spPr>
          <p:txBody>
            <a:bodyPr wrap="none" lIns="0" tIns="0" rIns="0" bIns="0" anchor="t" anchorCtr="0">
              <a:spAutoFit/>
            </a:bodyPr>
            <a:lstStyle/>
            <a:p>
              <a:pPr algn="l"/>
              <a:r>
                <a:rPr lang="zh-CN" sz="1240" b="1" dirty="0">
                  <a:solidFill>
                    <a:srgbClr val="C03616"/>
                  </a:solidFill>
                  <a:latin typeface="+mn-lt"/>
                  <a:ea typeface="+mn-ea"/>
                  <a:cs typeface="+mn-cs"/>
                </a:rPr>
                <a:t xml:space="preserve">预计追回1.60亿元      </a:t>
              </a:r>
            </a:p>
          </p:txBody>
        </p:sp>
        <p:sp>
          <p:nvSpPr>
            <p:cNvPr id="61" name="Line 61"/>
            <p:cNvSpPr/>
            <p:nvPr/>
          </p:nvSpPr>
          <p:spPr>
            <a:xfrm>
              <a:off x="361950" y="296227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62" name="Ellipse 62"/>
            <p:cNvSpPr/>
            <p:nvPr/>
          </p:nvSpPr>
          <p:spPr>
            <a:xfrm>
              <a:off x="447675" y="3038475"/>
              <a:ext cx="400050" cy="400050"/>
            </a:xfrm>
            <a:prstGeom prst="ellipse">
              <a:avLst/>
            </a:prstGeom>
            <a:solidFill>
              <a:srgbClr val="FDECEC"/>
            </a:solidFill>
            <a:ln>
              <a:noFill/>
            </a:ln>
          </p:spPr>
        </p:sp>
        <p:grpSp>
          <p:nvGrpSpPr>
            <p:cNvPr id="65" name="Group 65"/>
            <p:cNvGrpSpPr/>
            <p:nvPr/>
          </p:nvGrpSpPr>
          <p:grpSpPr>
            <a:xfrm>
              <a:off x="544590" y="3140398"/>
              <a:ext cx="200901" cy="201212"/>
              <a:chOff x="544590" y="3140398"/>
              <a:chExt cx="200901" cy="201212"/>
            </a:xfrm>
          </p:grpSpPr>
          <p:sp>
            <p:nvSpPr>
              <p:cNvPr id="63" name="Freeform 63"/>
              <p:cNvSpPr/>
              <p:nvPr/>
            </p:nvSpPr>
            <p:spPr>
              <a:xfrm>
                <a:off x="544590" y="314039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47560" y="109214"/>
                    </a:lnTo>
                    <a:cubicBezTo>
                      <a:pt x="141974" y="130695"/>
                      <a:pt x="121722" y="145024"/>
                      <a:pt x="99606" y="143144"/>
                    </a:cubicBezTo>
                    <a:cubicBezTo>
                      <a:pt x="77491" y="141264"/>
                      <a:pt x="59949" y="123721"/>
                      <a:pt x="58068" y="101606"/>
                    </a:cubicBezTo>
                    <a:cubicBezTo>
                      <a:pt x="56188" y="79491"/>
                      <a:pt x="70517" y="59239"/>
                      <a:pt x="91998" y="53652"/>
                    </a:cubicBezTo>
                    <a:lnTo>
                      <a:pt x="91998" y="9202"/>
                    </a:lnTo>
                    <a:cubicBezTo>
                      <a:pt x="91719" y="6542"/>
                      <a:pt x="90387" y="4105"/>
                      <a:pt x="88299" y="2435"/>
                    </a:cubicBezTo>
                    <a:cubicBezTo>
                      <a:pt x="86211" y="765"/>
                      <a:pt x="83541" y="0"/>
                      <a:pt x="80885" y="312"/>
                    </a:cubicBezTo>
                  </a:path>
                </a:pathLst>
              </a:custGeom>
              <a:noFill/>
              <a:ln w="22225">
                <a:solidFill>
                  <a:srgbClr val="C03616"/>
                </a:solidFill>
              </a:ln>
            </p:spPr>
          </p:sp>
          <p:sp>
            <p:nvSpPr>
              <p:cNvPr id="64" name="Freeform 64"/>
              <p:cNvSpPr/>
              <p:nvPr/>
            </p:nvSpPr>
            <p:spPr>
              <a:xfrm>
                <a:off x="681038" y="3144044"/>
                <a:ext cx="61119" cy="61119"/>
              </a:xfrm>
              <a:custGeom>
                <a:avLst/>
                <a:gdLst/>
                <a:ahLst/>
                <a:cxnLst/>
                <a:rect l="l" t="t" r="r" b="b"/>
                <a:pathLst>
                  <a:path w="61119" h="61119">
                    <a:moveTo>
                      <a:pt x="0" y="0"/>
                    </a:moveTo>
                    <a:cubicBezTo>
                      <a:pt x="28579" y="10063"/>
                      <a:pt x="51056" y="32540"/>
                      <a:pt x="61119" y="61119"/>
                    </a:cubicBezTo>
                    <a:lnTo>
                      <a:pt x="11113" y="61119"/>
                    </a:lnTo>
                    <a:cubicBezTo>
                      <a:pt x="7706" y="57129"/>
                      <a:pt x="3990" y="53413"/>
                      <a:pt x="0" y="50006"/>
                    </a:cubicBezTo>
                    <a:lnTo>
                      <a:pt x="0" y="0"/>
                    </a:lnTo>
                  </a:path>
                </a:pathLst>
              </a:custGeom>
              <a:noFill/>
              <a:ln w="22225">
                <a:solidFill>
                  <a:srgbClr val="C03616"/>
                </a:solidFill>
              </a:ln>
            </p:spPr>
          </p:sp>
        </p:grpSp>
        <p:sp>
          <p:nvSpPr>
            <p:cNvPr id="66" name="TextBox 66"/>
            <p:cNvSpPr txBox="1"/>
            <p:nvPr/>
          </p:nvSpPr>
          <p:spPr>
            <a:xfrm>
              <a:off x="947166" y="3172778"/>
              <a:ext cx="434721"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完成率</a:t>
              </a:r>
            </a:p>
          </p:txBody>
        </p:sp>
        <p:sp>
          <p:nvSpPr>
            <p:cNvPr id="67" name="Line 67"/>
            <p:cNvSpPr/>
            <p:nvPr/>
          </p:nvSpPr>
          <p:spPr>
            <a:xfrm>
              <a:off x="1676400" y="3048000"/>
              <a:ext cx="9525" cy="381000"/>
            </a:xfrm>
            <a:custGeom>
              <a:avLst/>
              <a:gdLst/>
              <a:ahLst/>
              <a:cxnLst/>
              <a:rect l="l" t="t" r="r" b="b"/>
              <a:pathLst>
                <a:path w="9525" h="381000">
                  <a:moveTo>
                    <a:pt x="0" y="0"/>
                  </a:moveTo>
                  <a:lnTo>
                    <a:pt x="0" y="381000"/>
                  </a:lnTo>
                </a:path>
              </a:pathLst>
            </a:custGeom>
            <a:noFill/>
            <a:ln w="14288">
              <a:solidFill>
                <a:srgbClr val="E0E7F3"/>
              </a:solidFill>
            </a:ln>
          </p:spPr>
        </p:sp>
        <p:sp>
          <p:nvSpPr>
            <p:cNvPr id="68" name="TextBox 68"/>
            <p:cNvSpPr txBox="1"/>
            <p:nvPr/>
          </p:nvSpPr>
          <p:spPr>
            <a:xfrm>
              <a:off x="1860614" y="3162062"/>
              <a:ext cx="1126823" cy="242030"/>
            </a:xfrm>
            <a:prstGeom prst="rect">
              <a:avLst/>
            </a:prstGeom>
            <a:noFill/>
            <a:ln>
              <a:noFill/>
            </a:ln>
          </p:spPr>
          <p:txBody>
            <a:bodyPr wrap="none" lIns="0" tIns="0" rIns="0" bIns="0" anchor="t" anchorCtr="0">
              <a:spAutoFit/>
            </a:bodyPr>
            <a:lstStyle/>
            <a:p>
              <a:pPr algn="l"/>
              <a:r>
                <a:rPr lang="zh-CN" sz="1240" b="1" dirty="0">
                  <a:solidFill>
                    <a:srgbClr val="C03616"/>
                  </a:solidFill>
                  <a:latin typeface="+mn-lt"/>
                  <a:ea typeface="+mn-ea"/>
                  <a:cs typeface="+mn-cs"/>
                </a:rPr>
                <a:t xml:space="preserve">完成率88%   </a:t>
              </a:r>
            </a:p>
          </p:txBody>
        </p:sp>
        <p:sp>
          <p:nvSpPr>
            <p:cNvPr id="69" name="Rectangle 69"/>
            <p:cNvSpPr/>
            <p:nvPr/>
          </p:nvSpPr>
          <p:spPr>
            <a:xfrm>
              <a:off x="342900" y="3810000"/>
              <a:ext cx="3581400" cy="1200150"/>
            </a:xfrm>
            <a:prstGeom prst="roundRect">
              <a:avLst>
                <a:gd name="adj" fmla="val 7937"/>
              </a:avLst>
            </a:prstGeom>
            <a:solidFill>
              <a:srgbClr val="FDECEC"/>
            </a:solidFill>
            <a:ln>
              <a:noFill/>
            </a:ln>
          </p:spPr>
        </p:sp>
        <p:grpSp>
          <p:nvGrpSpPr>
            <p:cNvPr id="73" name="Group 73"/>
            <p:cNvGrpSpPr/>
            <p:nvPr/>
          </p:nvGrpSpPr>
          <p:grpSpPr>
            <a:xfrm>
              <a:off x="664014" y="4112698"/>
              <a:ext cx="272162" cy="233823"/>
              <a:chOff x="664014" y="4112698"/>
              <a:chExt cx="272162" cy="233823"/>
            </a:xfrm>
          </p:grpSpPr>
          <p:sp>
            <p:nvSpPr>
              <p:cNvPr id="70" name="Freeform 70"/>
              <p:cNvSpPr/>
              <p:nvPr/>
            </p:nvSpPr>
            <p:spPr>
              <a:xfrm>
                <a:off x="800100" y="4198144"/>
                <a:ext cx="9525" cy="53975"/>
              </a:xfrm>
              <a:custGeom>
                <a:avLst/>
                <a:gdLst/>
                <a:ahLst/>
                <a:cxnLst/>
                <a:rect l="l" t="t" r="r" b="b"/>
                <a:pathLst>
                  <a:path w="9525" h="53975">
                    <a:moveTo>
                      <a:pt x="0" y="0"/>
                    </a:moveTo>
                    <a:lnTo>
                      <a:pt x="0" y="53975"/>
                    </a:lnTo>
                  </a:path>
                </a:pathLst>
              </a:custGeom>
              <a:noFill/>
              <a:ln w="26988">
                <a:solidFill>
                  <a:srgbClr val="C03616"/>
                </a:solidFill>
              </a:ln>
            </p:spPr>
          </p:sp>
          <p:sp>
            <p:nvSpPr>
              <p:cNvPr id="71" name="Freeform 71"/>
              <p:cNvSpPr/>
              <p:nvPr/>
            </p:nvSpPr>
            <p:spPr>
              <a:xfrm>
                <a:off x="664014" y="4112698"/>
                <a:ext cx="272162" cy="233823"/>
              </a:xfrm>
              <a:custGeom>
                <a:avLst/>
                <a:gdLst/>
                <a:ahLst/>
                <a:cxnLst/>
                <a:rect l="l" t="t" r="r" b="b"/>
                <a:pathLst>
                  <a:path w="272162" h="233823">
                    <a:moveTo>
                      <a:pt x="113997" y="12458"/>
                    </a:moveTo>
                    <a:lnTo>
                      <a:pt x="4616" y="195083"/>
                    </a:lnTo>
                    <a:cubicBezTo>
                      <a:pt x="28" y="203029"/>
                      <a:pt x="0" y="212812"/>
                      <a:pt x="4543" y="220785"/>
                    </a:cubicBezTo>
                    <a:cubicBezTo>
                      <a:pt x="9086" y="228757"/>
                      <a:pt x="17517" y="233720"/>
                      <a:pt x="26692" y="233823"/>
                    </a:cubicBezTo>
                    <a:lnTo>
                      <a:pt x="245480" y="233823"/>
                    </a:lnTo>
                    <a:cubicBezTo>
                      <a:pt x="254651" y="233717"/>
                      <a:pt x="263078" y="228756"/>
                      <a:pt x="267620" y="220788"/>
                    </a:cubicBezTo>
                    <a:cubicBezTo>
                      <a:pt x="272162" y="212820"/>
                      <a:pt x="272138" y="203041"/>
                      <a:pt x="267556" y="195096"/>
                    </a:cubicBezTo>
                    <a:lnTo>
                      <a:pt x="158176" y="12444"/>
                    </a:lnTo>
                    <a:cubicBezTo>
                      <a:pt x="153495" y="4719"/>
                      <a:pt x="145119" y="0"/>
                      <a:pt x="136086" y="0"/>
                    </a:cubicBezTo>
                    <a:cubicBezTo>
                      <a:pt x="127054" y="0"/>
                      <a:pt x="118677" y="4719"/>
                      <a:pt x="113997" y="12444"/>
                    </a:cubicBezTo>
                  </a:path>
                </a:pathLst>
              </a:custGeom>
              <a:noFill/>
              <a:ln w="26988">
                <a:solidFill>
                  <a:srgbClr val="C03616"/>
                </a:solidFill>
              </a:ln>
            </p:spPr>
          </p:sp>
          <p:sp>
            <p:nvSpPr>
              <p:cNvPr id="72" name="Freeform 72"/>
              <p:cNvSpPr/>
              <p:nvPr/>
            </p:nvSpPr>
            <p:spPr>
              <a:xfrm>
                <a:off x="800100" y="4292601"/>
                <a:ext cx="9525" cy="9525"/>
              </a:xfrm>
              <a:custGeom>
                <a:avLst/>
                <a:gdLst/>
                <a:ahLst/>
                <a:cxnLst/>
                <a:rect l="l" t="t" r="r" b="b"/>
                <a:pathLst>
                  <a:path w="9525" h="9525">
                    <a:moveTo>
                      <a:pt x="0" y="0"/>
                    </a:moveTo>
                    <a:lnTo>
                      <a:pt x="135" y="0"/>
                    </a:lnTo>
                  </a:path>
                </a:pathLst>
              </a:custGeom>
              <a:noFill/>
              <a:ln w="26988">
                <a:solidFill>
                  <a:srgbClr val="C03616"/>
                </a:solidFill>
              </a:ln>
            </p:spPr>
          </p:sp>
        </p:grpSp>
        <p:sp>
          <p:nvSpPr>
            <p:cNvPr id="74" name="TextBox 74"/>
            <p:cNvSpPr txBox="1"/>
            <p:nvPr/>
          </p:nvSpPr>
          <p:spPr>
            <a:xfrm>
              <a:off x="523024" y="4557951"/>
              <a:ext cx="554152" cy="198025"/>
            </a:xfrm>
            <a:prstGeom prst="rect">
              <a:avLst/>
            </a:prstGeom>
            <a:noFill/>
            <a:ln>
              <a:noFill/>
            </a:ln>
          </p:spPr>
          <p:txBody>
            <a:bodyPr wrap="none" lIns="0" tIns="0" rIns="0" bIns="0" anchor="t" anchorCtr="0">
              <a:spAutoFit/>
            </a:bodyPr>
            <a:lstStyle/>
            <a:p>
              <a:pPr algn="ctr"/>
              <a:r>
                <a:rPr lang="zh-CN" sz="1010" b="1" dirty="0">
                  <a:solidFill>
                    <a:srgbClr val="C03616"/>
                  </a:solidFill>
                  <a:latin typeface="+mn-lt"/>
                  <a:ea typeface="+mn-ea"/>
                  <a:cs typeface="+mn-cs"/>
                </a:rPr>
                <a:t>主要风险</a:t>
              </a:r>
            </a:p>
          </p:txBody>
        </p:sp>
        <p:sp>
          <p:nvSpPr>
            <p:cNvPr id="75" name="TextBox 75"/>
            <p:cNvSpPr txBox="1"/>
            <p:nvPr/>
          </p:nvSpPr>
          <p:spPr>
            <a:xfrm>
              <a:off x="1652588" y="4010739"/>
              <a:ext cx="1399096" cy="611981"/>
            </a:xfrm>
            <a:prstGeom prst="rect">
              <a:avLst/>
            </a:prstGeom>
            <a:noFill/>
            <a:ln>
              <a:noFill/>
            </a:ln>
          </p:spPr>
          <p:txBody>
            <a:bodyPr wrap="none" lIns="0" tIns="0" rIns="0" bIns="0" anchor="t" anchorCtr="0">
              <a:spAutoFit/>
            </a:bodyPr>
            <a:lstStyle/>
            <a:p>
              <a:pPr algn="l" marL="85280" indent="-85280">
                <a:lnSpc>
                  <a:spcPts val="1800"/>
                </a:lnSpc>
                <a:buClr>
                  <a:srgbClr val="523E3A"/>
                </a:buClr>
                <a:buSzTx/>
                <a:buFontTx/>
                <a:buChar char="•"/>
              </a:pPr>
              <a:r>
                <a:rPr lang="zh-CN" sz="790" dirty="0">
                  <a:solidFill>
                    <a:srgbClr val="523E3A"/>
                  </a:solidFill>
                  <a:latin typeface="+mn-lt"/>
                  <a:ea typeface="+mn-ea"/>
                  <a:cs typeface="+mn-cs"/>
                </a:rPr>
                <a:t>投入较高，短期资金压力较大</a:t>
              </a:r>
            </a:p>
            <a:p>
              <a:pPr algn="l" marL="85280" indent="-85280">
                <a:lnSpc>
                  <a:spcPts val="1800"/>
                </a:lnSpc>
                <a:buClr>
                  <a:srgbClr val="523E3A"/>
                </a:buClr>
                <a:buSzTx/>
                <a:buFontTx/>
                <a:buChar char="•"/>
              </a:pPr>
              <a:r>
                <a:rPr lang="zh-CN" sz="790" dirty="0">
                  <a:solidFill>
                    <a:srgbClr val="523E3A"/>
                  </a:solidFill>
                  <a:latin typeface="+mn-lt"/>
                  <a:ea typeface="+mn-ea"/>
                  <a:cs typeface="+mn-cs"/>
                </a:rPr>
                <a:t>执行复杂度高，对团队要求高</a:t>
              </a:r>
            </a:p>
            <a:p>
              <a:pPr algn="l" marL="85280" indent="-85280">
                <a:lnSpc>
                  <a:spcPts val="1800"/>
                </a:lnSpc>
                <a:buClr>
                  <a:srgbClr val="523E3A"/>
                </a:buClr>
                <a:buSzTx/>
                <a:buFontTx/>
                <a:buChar char="•"/>
              </a:pPr>
              <a:r>
                <a:rPr lang="zh-CN" sz="790" dirty="0">
                  <a:solidFill>
                    <a:srgbClr val="523E3A"/>
                  </a:solidFill>
                  <a:latin typeface="+mn-lt"/>
                  <a:ea typeface="+mn-ea"/>
                  <a:cs typeface="+mn-cs"/>
                </a:rPr>
                <a:t>外部环境变化可能影响进度</a:t>
              </a:r>
            </a:p>
          </p:txBody>
        </p:sp>
      </p:grpSp>
      <p:grpSp>
        <p:nvGrpSpPr>
          <p:cNvPr id="114" name="option-card-B"/>
          <p:cNvGrpSpPr/>
          <p:nvPr/>
        </p:nvGrpSpPr>
        <p:grpSpPr>
          <a:xfrm>
            <a:off x="4191000" y="1524000"/>
            <a:ext cx="3810000" cy="3619500"/>
            <a:chOff x="4191000" y="1524000"/>
            <a:chExt cx="3810000" cy="3619500"/>
          </a:xfrm>
        </p:grpSpPr>
        <p:sp>
          <p:nvSpPr>
            <p:cNvPr id="77" name="Rectangle 77"/>
            <p:cNvSpPr/>
            <p:nvPr/>
          </p:nvSpPr>
          <p:spPr>
            <a:xfrm>
              <a:off x="4191000" y="1524000"/>
              <a:ext cx="3810000" cy="3619500"/>
            </a:xfrm>
            <a:prstGeom prst="roundRect">
              <a:avLst>
                <a:gd name="adj" fmla="val 3158"/>
              </a:avLst>
            </a:prstGeom>
            <a:solidFill>
              <a:srgbClr val="FFFFFF"/>
            </a:solidFill>
            <a:ln w="19050">
              <a:solidFill>
                <a:srgbClr val="721E0D"/>
              </a:solidFill>
            </a:ln>
          </p:spPr>
        </p:sp>
        <p:sp>
          <p:nvSpPr>
            <p:cNvPr id="78" name="Freeform 78"/>
            <p:cNvSpPr/>
            <p:nvPr/>
          </p:nvSpPr>
          <p:spPr>
            <a:xfrm>
              <a:off x="4191000" y="1524000"/>
              <a:ext cx="3810000" cy="381000"/>
            </a:xfrm>
            <a:custGeom>
              <a:avLst/>
              <a:gdLst/>
              <a:ahLst/>
              <a:cxnLst/>
              <a:rect l="l" t="t" r="r" b="b"/>
              <a:pathLst>
                <a:path w="3810000" h="381000">
                  <a:moveTo>
                    <a:pt x="114300" y="0"/>
                  </a:moveTo>
                  <a:lnTo>
                    <a:pt x="3695700" y="0"/>
                  </a:lnTo>
                  <a:cubicBezTo>
                    <a:pt x="3758826" y="0"/>
                    <a:pt x="3810000" y="51174"/>
                    <a:pt x="3810000" y="114300"/>
                  </a:cubicBezTo>
                  <a:lnTo>
                    <a:pt x="3810000" y="381000"/>
                  </a:lnTo>
                  <a:lnTo>
                    <a:pt x="0" y="381000"/>
                  </a:lnTo>
                  <a:lnTo>
                    <a:pt x="0" y="114300"/>
                  </a:lnTo>
                  <a:cubicBezTo>
                    <a:pt x="0" y="51174"/>
                    <a:pt x="51174" y="0"/>
                    <a:pt x="114300" y="0"/>
                  </a:cubicBezTo>
                  <a:close/>
                </a:path>
              </a:pathLst>
            </a:custGeom>
            <a:solidFill>
              <a:srgbClr val="721E0D"/>
            </a:solidFill>
            <a:ln>
              <a:noFill/>
            </a:ln>
          </p:spPr>
        </p:sp>
        <p:sp>
          <p:nvSpPr>
            <p:cNvPr id="79" name="TextBox 79"/>
            <p:cNvSpPr txBox="1"/>
            <p:nvPr/>
          </p:nvSpPr>
          <p:spPr>
            <a:xfrm>
              <a:off x="4435444" y="1614011"/>
              <a:ext cx="158813" cy="337376"/>
            </a:xfrm>
            <a:prstGeom prst="rect">
              <a:avLst/>
            </a:prstGeom>
            <a:noFill/>
            <a:ln>
              <a:noFill/>
            </a:ln>
          </p:spPr>
          <p:txBody>
            <a:bodyPr wrap="none" lIns="0" tIns="0" rIns="0" bIns="0" anchor="t" anchorCtr="0">
              <a:spAutoFit/>
            </a:bodyPr>
            <a:lstStyle/>
            <a:p>
              <a:pPr algn="ctr"/>
              <a:r>
                <a:rPr lang="en-US" sz="1720" b="1" i="1" dirty="0">
                  <a:solidFill>
                    <a:srgbClr val="FFFFFF"/>
                  </a:solidFill>
                  <a:latin typeface="+mn-lt"/>
                  <a:ea typeface="+mn-ea"/>
                  <a:cs typeface="+mn-cs"/>
                </a:rPr>
                <a:t>B</a:t>
              </a:r>
            </a:p>
          </p:txBody>
        </p:sp>
        <p:sp>
          <p:nvSpPr>
            <p:cNvPr id="80" name="Line 80"/>
            <p:cNvSpPr/>
            <p:nvPr/>
          </p:nvSpPr>
          <p:spPr>
            <a:xfrm>
              <a:off x="4610100" y="1600200"/>
              <a:ext cx="76200" cy="247650"/>
            </a:xfrm>
            <a:custGeom>
              <a:avLst/>
              <a:gdLst/>
              <a:ahLst/>
              <a:cxnLst/>
              <a:rect l="l" t="t" r="r" b="b"/>
              <a:pathLst>
                <a:path w="76200" h="247650">
                  <a:moveTo>
                    <a:pt x="76200" y="0"/>
                  </a:moveTo>
                  <a:lnTo>
                    <a:pt x="0" y="247650"/>
                  </a:lnTo>
                </a:path>
              </a:pathLst>
            </a:custGeom>
            <a:noFill/>
            <a:ln w="19050">
              <a:solidFill>
                <a:srgbClr val="FFFFFF"/>
              </a:solidFill>
            </a:ln>
          </p:spPr>
        </p:sp>
        <p:sp>
          <p:nvSpPr>
            <p:cNvPr id="81" name="TextBox 81"/>
            <p:cNvSpPr txBox="1"/>
            <p:nvPr/>
          </p:nvSpPr>
          <p:spPr>
            <a:xfrm>
              <a:off x="4851273" y="1662589"/>
              <a:ext cx="1806397"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 xml:space="preserve">选项B 精准打击      </a:t>
              </a:r>
            </a:p>
          </p:txBody>
        </p:sp>
        <p:sp>
          <p:nvSpPr>
            <p:cNvPr id="82" name="Ellipse 82"/>
            <p:cNvSpPr/>
            <p:nvPr/>
          </p:nvSpPr>
          <p:spPr>
            <a:xfrm>
              <a:off x="4410075" y="1933575"/>
              <a:ext cx="400050" cy="400050"/>
            </a:xfrm>
            <a:prstGeom prst="ellipse">
              <a:avLst/>
            </a:prstGeom>
            <a:solidFill>
              <a:srgbClr val="EAF1FB"/>
            </a:solidFill>
            <a:ln>
              <a:noFill/>
            </a:ln>
          </p:spPr>
        </p:sp>
        <p:grpSp>
          <p:nvGrpSpPr>
            <p:cNvPr id="85" name="Group 85"/>
            <p:cNvGrpSpPr/>
            <p:nvPr/>
          </p:nvGrpSpPr>
          <p:grpSpPr>
            <a:xfrm>
              <a:off x="4521200" y="2044700"/>
              <a:ext cx="177800" cy="177801"/>
              <a:chOff x="4521200" y="2044700"/>
              <a:chExt cx="177800" cy="177801"/>
            </a:xfrm>
          </p:grpSpPr>
          <p:sp>
            <p:nvSpPr>
              <p:cNvPr id="83" name="Freeform 83"/>
              <p:cNvSpPr/>
              <p:nvPr/>
            </p:nvSpPr>
            <p:spPr>
              <a:xfrm>
                <a:off x="4521200" y="2044700"/>
                <a:ext cx="166688" cy="177801"/>
              </a:xfrm>
              <a:custGeom>
                <a:avLst/>
                <a:gdLst/>
                <a:ahLst/>
                <a:cxnLst/>
                <a:rect l="l" t="t" r="r" b="b"/>
                <a:pathLst>
                  <a:path w="166688" h="177801">
                    <a:moveTo>
                      <a:pt x="144463" y="44450"/>
                    </a:moveTo>
                    <a:lnTo>
                      <a:pt x="144463" y="11113"/>
                    </a:lnTo>
                    <a:cubicBezTo>
                      <a:pt x="144463" y="4975"/>
                      <a:pt x="139488" y="0"/>
                      <a:pt x="133350" y="0"/>
                    </a:cubicBezTo>
                    <a:lnTo>
                      <a:pt x="22225" y="0"/>
                    </a:lnTo>
                    <a:cubicBezTo>
                      <a:pt x="9950" y="0"/>
                      <a:pt x="0" y="9950"/>
                      <a:pt x="0" y="22225"/>
                    </a:cubicBezTo>
                    <a:cubicBezTo>
                      <a:pt x="0" y="34500"/>
                      <a:pt x="9950" y="44450"/>
                      <a:pt x="22225" y="44450"/>
                    </a:cubicBezTo>
                    <a:lnTo>
                      <a:pt x="155575" y="44450"/>
                    </a:lnTo>
                    <a:cubicBezTo>
                      <a:pt x="161713" y="44450"/>
                      <a:pt x="166688" y="49425"/>
                      <a:pt x="166688" y="55563"/>
                    </a:cubicBezTo>
                    <a:lnTo>
                      <a:pt x="166688" y="88900"/>
                    </a:lnTo>
                    <a:moveTo>
                      <a:pt x="166688" y="133350"/>
                    </a:moveTo>
                    <a:lnTo>
                      <a:pt x="166688" y="166688"/>
                    </a:lnTo>
                    <a:cubicBezTo>
                      <a:pt x="166688" y="172825"/>
                      <a:pt x="161713" y="177801"/>
                      <a:pt x="155575" y="177801"/>
                    </a:cubicBezTo>
                    <a:lnTo>
                      <a:pt x="22225" y="177801"/>
                    </a:lnTo>
                    <a:cubicBezTo>
                      <a:pt x="9950" y="177801"/>
                      <a:pt x="0" y="167850"/>
                      <a:pt x="0" y="155575"/>
                    </a:cubicBezTo>
                    <a:lnTo>
                      <a:pt x="0" y="22225"/>
                    </a:lnTo>
                  </a:path>
                </a:pathLst>
              </a:custGeom>
              <a:noFill/>
              <a:ln w="22225">
                <a:solidFill>
                  <a:srgbClr val="721E0D"/>
                </a:solidFill>
              </a:ln>
            </p:spPr>
          </p:sp>
          <p:sp>
            <p:nvSpPr>
              <p:cNvPr id="84" name="Freeform 84"/>
              <p:cNvSpPr/>
              <p:nvPr/>
            </p:nvSpPr>
            <p:spPr>
              <a:xfrm>
                <a:off x="4632325" y="2133600"/>
                <a:ext cx="66675" cy="44450"/>
              </a:xfrm>
              <a:custGeom>
                <a:avLst/>
                <a:gdLst/>
                <a:ahLst/>
                <a:cxnLst/>
                <a:rect l="l" t="t" r="r" b="b"/>
                <a:pathLst>
                  <a:path w="66675" h="44450">
                    <a:moveTo>
                      <a:pt x="66675" y="0"/>
                    </a:moveTo>
                    <a:lnTo>
                      <a:pt x="66675" y="44450"/>
                    </a:lnTo>
                    <a:lnTo>
                      <a:pt x="22225" y="44450"/>
                    </a:lnTo>
                    <a:cubicBezTo>
                      <a:pt x="9950" y="44450"/>
                      <a:pt x="0" y="34500"/>
                      <a:pt x="0" y="22225"/>
                    </a:cubicBezTo>
                    <a:cubicBezTo>
                      <a:pt x="0" y="9950"/>
                      <a:pt x="9950" y="0"/>
                      <a:pt x="22225" y="0"/>
                    </a:cubicBezTo>
                    <a:lnTo>
                      <a:pt x="66675" y="0"/>
                    </a:lnTo>
                  </a:path>
                </a:pathLst>
              </a:custGeom>
              <a:noFill/>
              <a:ln w="22225">
                <a:solidFill>
                  <a:srgbClr val="721E0D"/>
                </a:solidFill>
              </a:ln>
            </p:spPr>
          </p:sp>
        </p:grpSp>
        <p:sp>
          <p:nvSpPr>
            <p:cNvPr id="86" name="TextBox 86"/>
            <p:cNvSpPr txBox="1"/>
            <p:nvPr/>
          </p:nvSpPr>
          <p:spPr>
            <a:xfrm>
              <a:off x="4909566" y="2067878"/>
              <a:ext cx="293370"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投入</a:t>
              </a:r>
            </a:p>
          </p:txBody>
        </p:sp>
        <p:sp>
          <p:nvSpPr>
            <p:cNvPr id="87" name="Line 87"/>
            <p:cNvSpPr/>
            <p:nvPr/>
          </p:nvSpPr>
          <p:spPr>
            <a:xfrm>
              <a:off x="5638800" y="1943100"/>
              <a:ext cx="9525" cy="381000"/>
            </a:xfrm>
            <a:custGeom>
              <a:avLst/>
              <a:gdLst/>
              <a:ahLst/>
              <a:cxnLst/>
              <a:rect l="l" t="t" r="r" b="b"/>
              <a:pathLst>
                <a:path w="9525" h="381000">
                  <a:moveTo>
                    <a:pt x="0" y="0"/>
                  </a:moveTo>
                  <a:lnTo>
                    <a:pt x="0" y="381000"/>
                  </a:lnTo>
                </a:path>
              </a:pathLst>
            </a:custGeom>
            <a:noFill/>
            <a:ln w="14288">
              <a:solidFill>
                <a:srgbClr val="E0E7F3"/>
              </a:solidFill>
            </a:ln>
          </p:spPr>
        </p:sp>
        <p:sp>
          <p:nvSpPr>
            <p:cNvPr id="88" name="TextBox 88"/>
            <p:cNvSpPr txBox="1"/>
            <p:nvPr/>
          </p:nvSpPr>
          <p:spPr>
            <a:xfrm>
              <a:off x="5823014" y="2057162"/>
              <a:ext cx="1547901" cy="242030"/>
            </a:xfrm>
            <a:prstGeom prst="rect">
              <a:avLst/>
            </a:prstGeom>
            <a:noFill/>
            <a:ln>
              <a:noFill/>
            </a:ln>
          </p:spPr>
          <p:txBody>
            <a:bodyPr wrap="none" lIns="0" tIns="0" rIns="0" bIns="0" anchor="t" anchorCtr="0">
              <a:spAutoFit/>
            </a:bodyPr>
            <a:lstStyle/>
            <a:p>
              <a:pPr algn="l"/>
              <a:r>
                <a:rPr lang="zh-CN" sz="1240" b="1" dirty="0">
                  <a:solidFill>
                    <a:srgbClr val="721E0D"/>
                  </a:solidFill>
                  <a:latin typeface="+mn-lt"/>
                  <a:ea typeface="+mn-ea"/>
                  <a:cs typeface="+mn-cs"/>
                </a:rPr>
                <a:t xml:space="preserve">投入150万元      </a:t>
              </a:r>
            </a:p>
          </p:txBody>
        </p:sp>
        <p:sp>
          <p:nvSpPr>
            <p:cNvPr id="89" name="Line 89"/>
            <p:cNvSpPr/>
            <p:nvPr/>
          </p:nvSpPr>
          <p:spPr>
            <a:xfrm>
              <a:off x="4324350" y="240982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90" name="Ellipse 90"/>
            <p:cNvSpPr/>
            <p:nvPr/>
          </p:nvSpPr>
          <p:spPr>
            <a:xfrm>
              <a:off x="4410075" y="2486025"/>
              <a:ext cx="400050" cy="400050"/>
            </a:xfrm>
            <a:prstGeom prst="ellipse">
              <a:avLst/>
            </a:prstGeom>
            <a:solidFill>
              <a:srgbClr val="EAF1FB"/>
            </a:solidFill>
            <a:ln>
              <a:noFill/>
            </a:ln>
          </p:spPr>
        </p:sp>
        <p:grpSp>
          <p:nvGrpSpPr>
            <p:cNvPr id="95" name="Group 95"/>
            <p:cNvGrpSpPr/>
            <p:nvPr/>
          </p:nvGrpSpPr>
          <p:grpSpPr>
            <a:xfrm>
              <a:off x="4510088" y="2597150"/>
              <a:ext cx="200025" cy="187326"/>
              <a:chOff x="4510088" y="2597150"/>
              <a:chExt cx="200025" cy="187326"/>
            </a:xfrm>
          </p:grpSpPr>
          <p:sp>
            <p:nvSpPr>
              <p:cNvPr id="91" name="Freeform 91"/>
              <p:cNvSpPr/>
              <p:nvPr/>
            </p:nvSpPr>
            <p:spPr>
              <a:xfrm>
                <a:off x="4510088" y="268605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721E0D"/>
                </a:solidFill>
              </a:ln>
            </p:spPr>
          </p:sp>
          <p:sp>
            <p:nvSpPr>
              <p:cNvPr id="92" name="Freeform 92"/>
              <p:cNvSpPr/>
              <p:nvPr/>
            </p:nvSpPr>
            <p:spPr>
              <a:xfrm>
                <a:off x="4643438" y="264160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721E0D"/>
                </a:solidFill>
              </a:ln>
            </p:spPr>
          </p:sp>
          <p:sp>
            <p:nvSpPr>
              <p:cNvPr id="93" name="Freeform 93"/>
              <p:cNvSpPr/>
              <p:nvPr/>
            </p:nvSpPr>
            <p:spPr>
              <a:xfrm>
                <a:off x="4576763" y="259715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721E0D"/>
                </a:solidFill>
              </a:ln>
            </p:spPr>
          </p:sp>
          <p:sp>
            <p:nvSpPr>
              <p:cNvPr id="94" name="Freeform 94"/>
              <p:cNvSpPr/>
              <p:nvPr/>
            </p:nvSpPr>
            <p:spPr>
              <a:xfrm>
                <a:off x="4521200" y="2774951"/>
                <a:ext cx="155575" cy="9525"/>
              </a:xfrm>
              <a:custGeom>
                <a:avLst/>
                <a:gdLst/>
                <a:ahLst/>
                <a:cxnLst/>
                <a:rect l="l" t="t" r="r" b="b"/>
                <a:pathLst>
                  <a:path w="155575" h="9525">
                    <a:moveTo>
                      <a:pt x="0" y="0"/>
                    </a:moveTo>
                    <a:lnTo>
                      <a:pt x="155575" y="0"/>
                    </a:lnTo>
                  </a:path>
                </a:pathLst>
              </a:custGeom>
              <a:noFill/>
              <a:ln w="22225">
                <a:solidFill>
                  <a:srgbClr val="721E0D"/>
                </a:solidFill>
              </a:ln>
            </p:spPr>
          </p:sp>
        </p:grpSp>
        <p:sp>
          <p:nvSpPr>
            <p:cNvPr id="96" name="TextBox 96"/>
            <p:cNvSpPr txBox="1"/>
            <p:nvPr/>
          </p:nvSpPr>
          <p:spPr>
            <a:xfrm>
              <a:off x="4909566" y="2620328"/>
              <a:ext cx="576072"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预计追回</a:t>
              </a:r>
            </a:p>
          </p:txBody>
        </p:sp>
        <p:sp>
          <p:nvSpPr>
            <p:cNvPr id="97" name="Line 97"/>
            <p:cNvSpPr/>
            <p:nvPr/>
          </p:nvSpPr>
          <p:spPr>
            <a:xfrm>
              <a:off x="5638800" y="2495550"/>
              <a:ext cx="9525" cy="381000"/>
            </a:xfrm>
            <a:custGeom>
              <a:avLst/>
              <a:gdLst/>
              <a:ahLst/>
              <a:cxnLst/>
              <a:rect l="l" t="t" r="r" b="b"/>
              <a:pathLst>
                <a:path w="9525" h="381000">
                  <a:moveTo>
                    <a:pt x="0" y="0"/>
                  </a:moveTo>
                  <a:lnTo>
                    <a:pt x="0" y="381000"/>
                  </a:lnTo>
                </a:path>
              </a:pathLst>
            </a:custGeom>
            <a:noFill/>
            <a:ln w="14288">
              <a:solidFill>
                <a:srgbClr val="E0E7F3"/>
              </a:solidFill>
            </a:ln>
          </p:spPr>
        </p:sp>
        <p:sp>
          <p:nvSpPr>
            <p:cNvPr id="98" name="TextBox 98"/>
            <p:cNvSpPr txBox="1"/>
            <p:nvPr/>
          </p:nvSpPr>
          <p:spPr>
            <a:xfrm>
              <a:off x="5823014" y="2609612"/>
              <a:ext cx="1978160" cy="242030"/>
            </a:xfrm>
            <a:prstGeom prst="rect">
              <a:avLst/>
            </a:prstGeom>
            <a:noFill/>
            <a:ln>
              <a:noFill/>
            </a:ln>
          </p:spPr>
          <p:txBody>
            <a:bodyPr wrap="none" lIns="0" tIns="0" rIns="0" bIns="0" anchor="t" anchorCtr="0">
              <a:spAutoFit/>
            </a:bodyPr>
            <a:lstStyle/>
            <a:p>
              <a:pPr algn="l"/>
              <a:r>
                <a:rPr lang="zh-CN" sz="1240" b="1" dirty="0">
                  <a:solidFill>
                    <a:srgbClr val="721E0D"/>
                  </a:solidFill>
                  <a:latin typeface="+mn-lt"/>
                  <a:ea typeface="+mn-ea"/>
                  <a:cs typeface="+mn-cs"/>
                </a:rPr>
                <a:t xml:space="preserve">预计追回1.20亿元      </a:t>
              </a:r>
            </a:p>
          </p:txBody>
        </p:sp>
        <p:sp>
          <p:nvSpPr>
            <p:cNvPr id="99" name="Line 99"/>
            <p:cNvSpPr/>
            <p:nvPr/>
          </p:nvSpPr>
          <p:spPr>
            <a:xfrm>
              <a:off x="4324350" y="296227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100" name="Ellipse 100"/>
            <p:cNvSpPr/>
            <p:nvPr/>
          </p:nvSpPr>
          <p:spPr>
            <a:xfrm>
              <a:off x="4410075" y="3038475"/>
              <a:ext cx="400050" cy="400050"/>
            </a:xfrm>
            <a:prstGeom prst="ellipse">
              <a:avLst/>
            </a:prstGeom>
            <a:solidFill>
              <a:srgbClr val="EAF1FB"/>
            </a:solidFill>
            <a:ln>
              <a:noFill/>
            </a:ln>
          </p:spPr>
        </p:sp>
        <p:grpSp>
          <p:nvGrpSpPr>
            <p:cNvPr id="103" name="Group 103"/>
            <p:cNvGrpSpPr/>
            <p:nvPr/>
          </p:nvGrpSpPr>
          <p:grpSpPr>
            <a:xfrm>
              <a:off x="4506990" y="3140398"/>
              <a:ext cx="200901" cy="201212"/>
              <a:chOff x="4506990" y="3140398"/>
              <a:chExt cx="200901" cy="201212"/>
            </a:xfrm>
          </p:grpSpPr>
          <p:sp>
            <p:nvSpPr>
              <p:cNvPr id="101" name="Freeform 101"/>
              <p:cNvSpPr/>
              <p:nvPr/>
            </p:nvSpPr>
            <p:spPr>
              <a:xfrm>
                <a:off x="4506990" y="314039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47560" y="109214"/>
                    </a:lnTo>
                    <a:cubicBezTo>
                      <a:pt x="141974" y="130695"/>
                      <a:pt x="121722" y="145024"/>
                      <a:pt x="99606" y="143144"/>
                    </a:cubicBezTo>
                    <a:cubicBezTo>
                      <a:pt x="77491" y="141264"/>
                      <a:pt x="59949" y="123721"/>
                      <a:pt x="58068" y="101606"/>
                    </a:cubicBezTo>
                    <a:cubicBezTo>
                      <a:pt x="56188" y="79491"/>
                      <a:pt x="70517" y="59239"/>
                      <a:pt x="91998" y="53652"/>
                    </a:cubicBezTo>
                    <a:lnTo>
                      <a:pt x="91998" y="9202"/>
                    </a:lnTo>
                    <a:cubicBezTo>
                      <a:pt x="91719" y="6542"/>
                      <a:pt x="90387" y="4105"/>
                      <a:pt x="88299" y="2435"/>
                    </a:cubicBezTo>
                    <a:cubicBezTo>
                      <a:pt x="86211" y="765"/>
                      <a:pt x="83541" y="0"/>
                      <a:pt x="80885" y="312"/>
                    </a:cubicBezTo>
                  </a:path>
                </a:pathLst>
              </a:custGeom>
              <a:noFill/>
              <a:ln w="22225">
                <a:solidFill>
                  <a:srgbClr val="721E0D"/>
                </a:solidFill>
              </a:ln>
            </p:spPr>
          </p:sp>
          <p:sp>
            <p:nvSpPr>
              <p:cNvPr id="102" name="Freeform 102"/>
              <p:cNvSpPr/>
              <p:nvPr/>
            </p:nvSpPr>
            <p:spPr>
              <a:xfrm>
                <a:off x="4643438" y="3144044"/>
                <a:ext cx="61119" cy="61119"/>
              </a:xfrm>
              <a:custGeom>
                <a:avLst/>
                <a:gdLst/>
                <a:ahLst/>
                <a:cxnLst/>
                <a:rect l="l" t="t" r="r" b="b"/>
                <a:pathLst>
                  <a:path w="61119" h="61119">
                    <a:moveTo>
                      <a:pt x="0" y="0"/>
                    </a:moveTo>
                    <a:cubicBezTo>
                      <a:pt x="28579" y="10063"/>
                      <a:pt x="51056" y="32540"/>
                      <a:pt x="61119" y="61119"/>
                    </a:cubicBezTo>
                    <a:lnTo>
                      <a:pt x="11113" y="61119"/>
                    </a:lnTo>
                    <a:cubicBezTo>
                      <a:pt x="7706" y="57129"/>
                      <a:pt x="3990" y="53413"/>
                      <a:pt x="0" y="50006"/>
                    </a:cubicBezTo>
                    <a:lnTo>
                      <a:pt x="0" y="0"/>
                    </a:lnTo>
                  </a:path>
                </a:pathLst>
              </a:custGeom>
              <a:noFill/>
              <a:ln w="22225">
                <a:solidFill>
                  <a:srgbClr val="721E0D"/>
                </a:solidFill>
              </a:ln>
            </p:spPr>
          </p:sp>
        </p:grpSp>
        <p:sp>
          <p:nvSpPr>
            <p:cNvPr id="104" name="TextBox 104"/>
            <p:cNvSpPr txBox="1"/>
            <p:nvPr/>
          </p:nvSpPr>
          <p:spPr>
            <a:xfrm>
              <a:off x="4909566" y="3172778"/>
              <a:ext cx="434721"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完成率</a:t>
              </a:r>
            </a:p>
          </p:txBody>
        </p:sp>
        <p:sp>
          <p:nvSpPr>
            <p:cNvPr id="105" name="Line 105"/>
            <p:cNvSpPr/>
            <p:nvPr/>
          </p:nvSpPr>
          <p:spPr>
            <a:xfrm>
              <a:off x="5638800" y="3048000"/>
              <a:ext cx="9525" cy="381000"/>
            </a:xfrm>
            <a:custGeom>
              <a:avLst/>
              <a:gdLst/>
              <a:ahLst/>
              <a:cxnLst/>
              <a:rect l="l" t="t" r="r" b="b"/>
              <a:pathLst>
                <a:path w="9525" h="381000">
                  <a:moveTo>
                    <a:pt x="0" y="0"/>
                  </a:moveTo>
                  <a:lnTo>
                    <a:pt x="0" y="381000"/>
                  </a:lnTo>
                </a:path>
              </a:pathLst>
            </a:custGeom>
            <a:noFill/>
            <a:ln w="14288">
              <a:solidFill>
                <a:srgbClr val="E0E7F3"/>
              </a:solidFill>
            </a:ln>
          </p:spPr>
        </p:sp>
        <p:sp>
          <p:nvSpPr>
            <p:cNvPr id="106" name="TextBox 106"/>
            <p:cNvSpPr txBox="1"/>
            <p:nvPr/>
          </p:nvSpPr>
          <p:spPr>
            <a:xfrm>
              <a:off x="5823014" y="3162062"/>
              <a:ext cx="1126823" cy="242030"/>
            </a:xfrm>
            <a:prstGeom prst="rect">
              <a:avLst/>
            </a:prstGeom>
            <a:noFill/>
            <a:ln>
              <a:noFill/>
            </a:ln>
          </p:spPr>
          <p:txBody>
            <a:bodyPr wrap="none" lIns="0" tIns="0" rIns="0" bIns="0" anchor="t" anchorCtr="0">
              <a:spAutoFit/>
            </a:bodyPr>
            <a:lstStyle/>
            <a:p>
              <a:pPr algn="l"/>
              <a:r>
                <a:rPr lang="zh-CN" sz="1240" b="1" dirty="0">
                  <a:solidFill>
                    <a:srgbClr val="721E0D"/>
                  </a:solidFill>
                  <a:latin typeface="+mn-lt"/>
                  <a:ea typeface="+mn-ea"/>
                  <a:cs typeface="+mn-cs"/>
                </a:rPr>
                <a:t xml:space="preserve">完成率77%   </a:t>
              </a:r>
            </a:p>
          </p:txBody>
        </p:sp>
        <p:sp>
          <p:nvSpPr>
            <p:cNvPr id="107" name="Rectangle 107"/>
            <p:cNvSpPr/>
            <p:nvPr/>
          </p:nvSpPr>
          <p:spPr>
            <a:xfrm>
              <a:off x="4305300" y="3810000"/>
              <a:ext cx="3581400" cy="1200150"/>
            </a:xfrm>
            <a:prstGeom prst="roundRect">
              <a:avLst>
                <a:gd name="adj" fmla="val 7937"/>
              </a:avLst>
            </a:prstGeom>
            <a:solidFill>
              <a:srgbClr val="EAF1FB"/>
            </a:solidFill>
            <a:ln>
              <a:noFill/>
            </a:ln>
          </p:spPr>
        </p:sp>
        <p:grpSp>
          <p:nvGrpSpPr>
            <p:cNvPr id="111" name="Group 111"/>
            <p:cNvGrpSpPr/>
            <p:nvPr/>
          </p:nvGrpSpPr>
          <p:grpSpPr>
            <a:xfrm>
              <a:off x="4626414" y="4112698"/>
              <a:ext cx="272162" cy="233823"/>
              <a:chOff x="4626414" y="4112698"/>
              <a:chExt cx="272162" cy="233823"/>
            </a:xfrm>
          </p:grpSpPr>
          <p:sp>
            <p:nvSpPr>
              <p:cNvPr id="108" name="Freeform 108"/>
              <p:cNvSpPr/>
              <p:nvPr/>
            </p:nvSpPr>
            <p:spPr>
              <a:xfrm>
                <a:off x="4762500" y="4198144"/>
                <a:ext cx="9525" cy="53975"/>
              </a:xfrm>
              <a:custGeom>
                <a:avLst/>
                <a:gdLst/>
                <a:ahLst/>
                <a:cxnLst/>
                <a:rect l="l" t="t" r="r" b="b"/>
                <a:pathLst>
                  <a:path w="9525" h="53975">
                    <a:moveTo>
                      <a:pt x="0" y="0"/>
                    </a:moveTo>
                    <a:lnTo>
                      <a:pt x="0" y="53975"/>
                    </a:lnTo>
                  </a:path>
                </a:pathLst>
              </a:custGeom>
              <a:noFill/>
              <a:ln w="26988">
                <a:solidFill>
                  <a:srgbClr val="721E0D"/>
                </a:solidFill>
              </a:ln>
            </p:spPr>
          </p:sp>
          <p:sp>
            <p:nvSpPr>
              <p:cNvPr id="109" name="Freeform 109"/>
              <p:cNvSpPr/>
              <p:nvPr/>
            </p:nvSpPr>
            <p:spPr>
              <a:xfrm>
                <a:off x="4626414" y="4112698"/>
                <a:ext cx="272162" cy="233823"/>
              </a:xfrm>
              <a:custGeom>
                <a:avLst/>
                <a:gdLst/>
                <a:ahLst/>
                <a:cxnLst/>
                <a:rect l="l" t="t" r="r" b="b"/>
                <a:pathLst>
                  <a:path w="272162" h="233823">
                    <a:moveTo>
                      <a:pt x="113997" y="12458"/>
                    </a:moveTo>
                    <a:lnTo>
                      <a:pt x="4616" y="195083"/>
                    </a:lnTo>
                    <a:cubicBezTo>
                      <a:pt x="28" y="203029"/>
                      <a:pt x="0" y="212812"/>
                      <a:pt x="4543" y="220785"/>
                    </a:cubicBezTo>
                    <a:cubicBezTo>
                      <a:pt x="9086" y="228757"/>
                      <a:pt x="17517" y="233720"/>
                      <a:pt x="26692" y="233823"/>
                    </a:cubicBezTo>
                    <a:lnTo>
                      <a:pt x="245480" y="233823"/>
                    </a:lnTo>
                    <a:cubicBezTo>
                      <a:pt x="254651" y="233717"/>
                      <a:pt x="263078" y="228756"/>
                      <a:pt x="267620" y="220788"/>
                    </a:cubicBezTo>
                    <a:cubicBezTo>
                      <a:pt x="272162" y="212820"/>
                      <a:pt x="272138" y="203041"/>
                      <a:pt x="267556" y="195096"/>
                    </a:cubicBezTo>
                    <a:lnTo>
                      <a:pt x="158176" y="12444"/>
                    </a:lnTo>
                    <a:cubicBezTo>
                      <a:pt x="153495" y="4719"/>
                      <a:pt x="145119" y="0"/>
                      <a:pt x="136086" y="0"/>
                    </a:cubicBezTo>
                    <a:cubicBezTo>
                      <a:pt x="127054" y="0"/>
                      <a:pt x="118677" y="4719"/>
                      <a:pt x="113997" y="12444"/>
                    </a:cubicBezTo>
                  </a:path>
                </a:pathLst>
              </a:custGeom>
              <a:noFill/>
              <a:ln w="26988">
                <a:solidFill>
                  <a:srgbClr val="721E0D"/>
                </a:solidFill>
              </a:ln>
            </p:spPr>
          </p:sp>
          <p:sp>
            <p:nvSpPr>
              <p:cNvPr id="110" name="Freeform 110"/>
              <p:cNvSpPr/>
              <p:nvPr/>
            </p:nvSpPr>
            <p:spPr>
              <a:xfrm>
                <a:off x="4762500" y="4292601"/>
                <a:ext cx="9525" cy="9525"/>
              </a:xfrm>
              <a:custGeom>
                <a:avLst/>
                <a:gdLst/>
                <a:ahLst/>
                <a:cxnLst/>
                <a:rect l="l" t="t" r="r" b="b"/>
                <a:pathLst>
                  <a:path w="9525" h="9525">
                    <a:moveTo>
                      <a:pt x="0" y="0"/>
                    </a:moveTo>
                    <a:lnTo>
                      <a:pt x="135" y="0"/>
                    </a:lnTo>
                  </a:path>
                </a:pathLst>
              </a:custGeom>
              <a:noFill/>
              <a:ln w="26988">
                <a:solidFill>
                  <a:srgbClr val="721E0D"/>
                </a:solidFill>
              </a:ln>
            </p:spPr>
          </p:sp>
        </p:grpSp>
        <p:sp>
          <p:nvSpPr>
            <p:cNvPr id="112" name="TextBox 112"/>
            <p:cNvSpPr txBox="1"/>
            <p:nvPr/>
          </p:nvSpPr>
          <p:spPr>
            <a:xfrm>
              <a:off x="4485424" y="4557951"/>
              <a:ext cx="554152" cy="198025"/>
            </a:xfrm>
            <a:prstGeom prst="rect">
              <a:avLst/>
            </a:prstGeom>
            <a:noFill/>
            <a:ln>
              <a:noFill/>
            </a:ln>
          </p:spPr>
          <p:txBody>
            <a:bodyPr wrap="none" lIns="0" tIns="0" rIns="0" bIns="0" anchor="t" anchorCtr="0">
              <a:spAutoFit/>
            </a:bodyPr>
            <a:lstStyle/>
            <a:p>
              <a:pPr algn="ctr"/>
              <a:r>
                <a:rPr lang="zh-CN" sz="1010" b="1" dirty="0">
                  <a:solidFill>
                    <a:srgbClr val="721E0D"/>
                  </a:solidFill>
                  <a:latin typeface="+mn-lt"/>
                  <a:ea typeface="+mn-ea"/>
                  <a:cs typeface="+mn-cs"/>
                </a:rPr>
                <a:t>主要风险</a:t>
              </a:r>
            </a:p>
          </p:txBody>
        </p:sp>
        <p:sp>
          <p:nvSpPr>
            <p:cNvPr id="113" name="TextBox 113"/>
            <p:cNvSpPr txBox="1"/>
            <p:nvPr/>
          </p:nvSpPr>
          <p:spPr>
            <a:xfrm>
              <a:off x="5614988" y="4010739"/>
              <a:ext cx="1399096" cy="611981"/>
            </a:xfrm>
            <a:prstGeom prst="rect">
              <a:avLst/>
            </a:prstGeom>
            <a:noFill/>
            <a:ln>
              <a:noFill/>
            </a:ln>
          </p:spPr>
          <p:txBody>
            <a:bodyPr wrap="none" lIns="0" tIns="0" rIns="0" bIns="0" anchor="t" anchorCtr="0">
              <a:spAutoFit/>
            </a:bodyPr>
            <a:lstStyle/>
            <a:p>
              <a:pPr algn="l" marL="85280" indent="-85280">
                <a:lnSpc>
                  <a:spcPts val="1800"/>
                </a:lnSpc>
                <a:buClr>
                  <a:srgbClr val="523E3A"/>
                </a:buClr>
                <a:buSzTx/>
                <a:buFontTx/>
                <a:buChar char="•"/>
              </a:pPr>
              <a:r>
                <a:rPr lang="zh-CN" sz="790" dirty="0">
                  <a:solidFill>
                    <a:srgbClr val="523E3A"/>
                  </a:solidFill>
                  <a:latin typeface="+mn-lt"/>
                  <a:ea typeface="+mn-ea"/>
                  <a:cs typeface="+mn-cs"/>
                </a:rPr>
                <a:t>资源相对有限，覆盖范围受限</a:t>
              </a:r>
            </a:p>
            <a:p>
              <a:pPr algn="l" marL="85280" indent="-85280">
                <a:lnSpc>
                  <a:spcPts val="1800"/>
                </a:lnSpc>
                <a:buClr>
                  <a:srgbClr val="523E3A"/>
                </a:buClr>
                <a:buSzTx/>
                <a:buFontTx/>
                <a:buChar char="•"/>
              </a:pPr>
              <a:r>
                <a:rPr lang="zh-CN" sz="790" dirty="0">
                  <a:solidFill>
                    <a:srgbClr val="523E3A"/>
                  </a:solidFill>
                  <a:latin typeface="+mn-lt"/>
                  <a:ea typeface="+mn-ea"/>
                  <a:cs typeface="+mn-cs"/>
                </a:rPr>
                <a:t>部分案件推进速度可能较慢</a:t>
              </a:r>
            </a:p>
            <a:p>
              <a:pPr algn="l" marL="85280" indent="-85280">
                <a:lnSpc>
                  <a:spcPts val="1800"/>
                </a:lnSpc>
                <a:buClr>
                  <a:srgbClr val="523E3A"/>
                </a:buClr>
                <a:buSzTx/>
                <a:buFontTx/>
                <a:buChar char="•"/>
              </a:pPr>
              <a:r>
                <a:rPr lang="zh-CN" sz="790" dirty="0">
                  <a:solidFill>
                    <a:srgbClr val="523E3A"/>
                  </a:solidFill>
                  <a:latin typeface="+mn-lt"/>
                  <a:ea typeface="+mn-ea"/>
                  <a:cs typeface="+mn-cs"/>
                </a:rPr>
                <a:t>对关键线索依赖度较高</a:t>
              </a:r>
            </a:p>
          </p:txBody>
        </p:sp>
      </p:grpSp>
      <p:grpSp>
        <p:nvGrpSpPr>
          <p:cNvPr id="152" name="option-card-C"/>
          <p:cNvGrpSpPr/>
          <p:nvPr/>
        </p:nvGrpSpPr>
        <p:grpSpPr>
          <a:xfrm>
            <a:off x="8153400" y="1524000"/>
            <a:ext cx="3810000" cy="3619500"/>
            <a:chOff x="8153400" y="1524000"/>
            <a:chExt cx="3810000" cy="3619500"/>
          </a:xfrm>
        </p:grpSpPr>
        <p:sp>
          <p:nvSpPr>
            <p:cNvPr id="115" name="Rectangle 115"/>
            <p:cNvSpPr/>
            <p:nvPr/>
          </p:nvSpPr>
          <p:spPr>
            <a:xfrm>
              <a:off x="8153400" y="1524000"/>
              <a:ext cx="3810000" cy="3619500"/>
            </a:xfrm>
            <a:prstGeom prst="roundRect">
              <a:avLst>
                <a:gd name="adj" fmla="val 3158"/>
              </a:avLst>
            </a:prstGeom>
            <a:solidFill>
              <a:srgbClr val="FFFFFF"/>
            </a:solidFill>
            <a:ln w="19050">
              <a:solidFill>
                <a:srgbClr val="707788"/>
              </a:solidFill>
            </a:ln>
          </p:spPr>
        </p:sp>
        <p:sp>
          <p:nvSpPr>
            <p:cNvPr id="116" name="Freeform 116"/>
            <p:cNvSpPr/>
            <p:nvPr/>
          </p:nvSpPr>
          <p:spPr>
            <a:xfrm>
              <a:off x="8153400" y="1524000"/>
              <a:ext cx="3810000" cy="381000"/>
            </a:xfrm>
            <a:custGeom>
              <a:avLst/>
              <a:gdLst/>
              <a:ahLst/>
              <a:cxnLst/>
              <a:rect l="l" t="t" r="r" b="b"/>
              <a:pathLst>
                <a:path w="3810000" h="381000">
                  <a:moveTo>
                    <a:pt x="114300" y="0"/>
                  </a:moveTo>
                  <a:lnTo>
                    <a:pt x="3695700" y="0"/>
                  </a:lnTo>
                  <a:cubicBezTo>
                    <a:pt x="3758826" y="0"/>
                    <a:pt x="3810000" y="51174"/>
                    <a:pt x="3810000" y="114300"/>
                  </a:cubicBezTo>
                  <a:lnTo>
                    <a:pt x="3810000" y="381000"/>
                  </a:lnTo>
                  <a:lnTo>
                    <a:pt x="0" y="381000"/>
                  </a:lnTo>
                  <a:lnTo>
                    <a:pt x="0" y="114300"/>
                  </a:lnTo>
                  <a:cubicBezTo>
                    <a:pt x="0" y="51174"/>
                    <a:pt x="51174" y="0"/>
                    <a:pt x="114300" y="0"/>
                  </a:cubicBezTo>
                  <a:close/>
                </a:path>
              </a:pathLst>
            </a:custGeom>
            <a:solidFill>
              <a:srgbClr val="707788"/>
            </a:solidFill>
            <a:ln>
              <a:noFill/>
            </a:ln>
          </p:spPr>
        </p:sp>
        <p:sp>
          <p:nvSpPr>
            <p:cNvPr id="117" name="TextBox 117"/>
            <p:cNvSpPr txBox="1"/>
            <p:nvPr/>
          </p:nvSpPr>
          <p:spPr>
            <a:xfrm>
              <a:off x="8397844" y="1614011"/>
              <a:ext cx="158813" cy="337376"/>
            </a:xfrm>
            <a:prstGeom prst="rect">
              <a:avLst/>
            </a:prstGeom>
            <a:noFill/>
            <a:ln>
              <a:noFill/>
            </a:ln>
          </p:spPr>
          <p:txBody>
            <a:bodyPr wrap="none" lIns="0" tIns="0" rIns="0" bIns="0" anchor="t" anchorCtr="0">
              <a:spAutoFit/>
            </a:bodyPr>
            <a:lstStyle/>
            <a:p>
              <a:pPr algn="ctr"/>
              <a:r>
                <a:rPr lang="en-US" sz="1720" b="1" i="1" dirty="0">
                  <a:solidFill>
                    <a:srgbClr val="FFFFFF"/>
                  </a:solidFill>
                  <a:latin typeface="+mn-lt"/>
                  <a:ea typeface="+mn-ea"/>
                  <a:cs typeface="+mn-cs"/>
                </a:rPr>
                <a:t>C</a:t>
              </a:r>
            </a:p>
          </p:txBody>
        </p:sp>
        <p:sp>
          <p:nvSpPr>
            <p:cNvPr id="118" name="Line 118"/>
            <p:cNvSpPr/>
            <p:nvPr/>
          </p:nvSpPr>
          <p:spPr>
            <a:xfrm>
              <a:off x="8572500" y="1600200"/>
              <a:ext cx="76200" cy="247650"/>
            </a:xfrm>
            <a:custGeom>
              <a:avLst/>
              <a:gdLst/>
              <a:ahLst/>
              <a:cxnLst/>
              <a:rect l="l" t="t" r="r" b="b"/>
              <a:pathLst>
                <a:path w="76200" h="247650">
                  <a:moveTo>
                    <a:pt x="76200" y="0"/>
                  </a:moveTo>
                  <a:lnTo>
                    <a:pt x="0" y="247650"/>
                  </a:lnTo>
                </a:path>
              </a:pathLst>
            </a:custGeom>
            <a:noFill/>
            <a:ln w="19050">
              <a:solidFill>
                <a:srgbClr val="FFFFFF"/>
              </a:solidFill>
            </a:ln>
          </p:spPr>
        </p:sp>
        <p:sp>
          <p:nvSpPr>
            <p:cNvPr id="119" name="TextBox 119"/>
            <p:cNvSpPr txBox="1"/>
            <p:nvPr/>
          </p:nvSpPr>
          <p:spPr>
            <a:xfrm>
              <a:off x="8813673" y="1662589"/>
              <a:ext cx="1806397"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 xml:space="preserve">选项C 最低配置      </a:t>
              </a:r>
            </a:p>
          </p:txBody>
        </p:sp>
        <p:sp>
          <p:nvSpPr>
            <p:cNvPr id="120" name="Ellipse 120"/>
            <p:cNvSpPr/>
            <p:nvPr/>
          </p:nvSpPr>
          <p:spPr>
            <a:xfrm>
              <a:off x="8372475" y="1933575"/>
              <a:ext cx="400050" cy="400050"/>
            </a:xfrm>
            <a:prstGeom prst="ellipse">
              <a:avLst/>
            </a:prstGeom>
            <a:solidFill>
              <a:srgbClr val="F1F2F5"/>
            </a:solidFill>
            <a:ln>
              <a:noFill/>
            </a:ln>
          </p:spPr>
        </p:sp>
        <p:grpSp>
          <p:nvGrpSpPr>
            <p:cNvPr id="123" name="Group 123"/>
            <p:cNvGrpSpPr/>
            <p:nvPr/>
          </p:nvGrpSpPr>
          <p:grpSpPr>
            <a:xfrm>
              <a:off x="8483600" y="2044700"/>
              <a:ext cx="177800" cy="177801"/>
              <a:chOff x="8483600" y="2044700"/>
              <a:chExt cx="177800" cy="177801"/>
            </a:xfrm>
          </p:grpSpPr>
          <p:sp>
            <p:nvSpPr>
              <p:cNvPr id="121" name="Freeform 121"/>
              <p:cNvSpPr/>
              <p:nvPr/>
            </p:nvSpPr>
            <p:spPr>
              <a:xfrm>
                <a:off x="8483600" y="2044700"/>
                <a:ext cx="166688" cy="177801"/>
              </a:xfrm>
              <a:custGeom>
                <a:avLst/>
                <a:gdLst/>
                <a:ahLst/>
                <a:cxnLst/>
                <a:rect l="l" t="t" r="r" b="b"/>
                <a:pathLst>
                  <a:path w="166688" h="177801">
                    <a:moveTo>
                      <a:pt x="144463" y="44450"/>
                    </a:moveTo>
                    <a:lnTo>
                      <a:pt x="144463" y="11113"/>
                    </a:lnTo>
                    <a:cubicBezTo>
                      <a:pt x="144463" y="4975"/>
                      <a:pt x="139488" y="0"/>
                      <a:pt x="133350" y="0"/>
                    </a:cubicBezTo>
                    <a:lnTo>
                      <a:pt x="22225" y="0"/>
                    </a:lnTo>
                    <a:cubicBezTo>
                      <a:pt x="9950" y="0"/>
                      <a:pt x="0" y="9950"/>
                      <a:pt x="0" y="22225"/>
                    </a:cubicBezTo>
                    <a:cubicBezTo>
                      <a:pt x="0" y="34500"/>
                      <a:pt x="9950" y="44450"/>
                      <a:pt x="22225" y="44450"/>
                    </a:cubicBezTo>
                    <a:lnTo>
                      <a:pt x="155575" y="44450"/>
                    </a:lnTo>
                    <a:cubicBezTo>
                      <a:pt x="161713" y="44450"/>
                      <a:pt x="166688" y="49425"/>
                      <a:pt x="166688" y="55563"/>
                    </a:cubicBezTo>
                    <a:lnTo>
                      <a:pt x="166688" y="88900"/>
                    </a:lnTo>
                    <a:moveTo>
                      <a:pt x="166688" y="133350"/>
                    </a:moveTo>
                    <a:lnTo>
                      <a:pt x="166688" y="166688"/>
                    </a:lnTo>
                    <a:cubicBezTo>
                      <a:pt x="166688" y="172825"/>
                      <a:pt x="161713" y="177801"/>
                      <a:pt x="155575" y="177801"/>
                    </a:cubicBezTo>
                    <a:lnTo>
                      <a:pt x="22225" y="177801"/>
                    </a:lnTo>
                    <a:cubicBezTo>
                      <a:pt x="9950" y="177801"/>
                      <a:pt x="0" y="167850"/>
                      <a:pt x="0" y="155575"/>
                    </a:cubicBezTo>
                    <a:lnTo>
                      <a:pt x="0" y="22225"/>
                    </a:lnTo>
                  </a:path>
                </a:pathLst>
              </a:custGeom>
              <a:noFill/>
              <a:ln w="22225">
                <a:solidFill>
                  <a:srgbClr val="707788"/>
                </a:solidFill>
              </a:ln>
            </p:spPr>
          </p:sp>
          <p:sp>
            <p:nvSpPr>
              <p:cNvPr id="122" name="Freeform 122"/>
              <p:cNvSpPr/>
              <p:nvPr/>
            </p:nvSpPr>
            <p:spPr>
              <a:xfrm>
                <a:off x="8594725" y="2133600"/>
                <a:ext cx="66675" cy="44450"/>
              </a:xfrm>
              <a:custGeom>
                <a:avLst/>
                <a:gdLst/>
                <a:ahLst/>
                <a:cxnLst/>
                <a:rect l="l" t="t" r="r" b="b"/>
                <a:pathLst>
                  <a:path w="66675" h="44450">
                    <a:moveTo>
                      <a:pt x="66675" y="0"/>
                    </a:moveTo>
                    <a:lnTo>
                      <a:pt x="66675" y="44450"/>
                    </a:lnTo>
                    <a:lnTo>
                      <a:pt x="22225" y="44450"/>
                    </a:lnTo>
                    <a:cubicBezTo>
                      <a:pt x="9950" y="44450"/>
                      <a:pt x="0" y="34500"/>
                      <a:pt x="0" y="22225"/>
                    </a:cubicBezTo>
                    <a:cubicBezTo>
                      <a:pt x="0" y="9950"/>
                      <a:pt x="9950" y="0"/>
                      <a:pt x="22225" y="0"/>
                    </a:cubicBezTo>
                    <a:lnTo>
                      <a:pt x="66675" y="0"/>
                    </a:lnTo>
                  </a:path>
                </a:pathLst>
              </a:custGeom>
              <a:noFill/>
              <a:ln w="22225">
                <a:solidFill>
                  <a:srgbClr val="707788"/>
                </a:solidFill>
              </a:ln>
            </p:spPr>
          </p:sp>
        </p:grpSp>
        <p:sp>
          <p:nvSpPr>
            <p:cNvPr id="124" name="TextBox 124"/>
            <p:cNvSpPr txBox="1"/>
            <p:nvPr/>
          </p:nvSpPr>
          <p:spPr>
            <a:xfrm>
              <a:off x="8871966" y="2067878"/>
              <a:ext cx="293370"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投入</a:t>
              </a:r>
            </a:p>
          </p:txBody>
        </p:sp>
        <p:sp>
          <p:nvSpPr>
            <p:cNvPr id="125" name="Line 125"/>
            <p:cNvSpPr/>
            <p:nvPr/>
          </p:nvSpPr>
          <p:spPr>
            <a:xfrm>
              <a:off x="9601200" y="1943100"/>
              <a:ext cx="9525" cy="381000"/>
            </a:xfrm>
            <a:custGeom>
              <a:avLst/>
              <a:gdLst/>
              <a:ahLst/>
              <a:cxnLst/>
              <a:rect l="l" t="t" r="r" b="b"/>
              <a:pathLst>
                <a:path w="9525" h="381000">
                  <a:moveTo>
                    <a:pt x="0" y="0"/>
                  </a:moveTo>
                  <a:lnTo>
                    <a:pt x="0" y="381000"/>
                  </a:lnTo>
                </a:path>
              </a:pathLst>
            </a:custGeom>
            <a:noFill/>
            <a:ln w="14288">
              <a:solidFill>
                <a:srgbClr val="E0E7F3"/>
              </a:solidFill>
            </a:ln>
          </p:spPr>
        </p:sp>
        <p:sp>
          <p:nvSpPr>
            <p:cNvPr id="126" name="TextBox 126"/>
            <p:cNvSpPr txBox="1"/>
            <p:nvPr/>
          </p:nvSpPr>
          <p:spPr>
            <a:xfrm>
              <a:off x="9785414" y="2057162"/>
              <a:ext cx="732036" cy="242030"/>
            </a:xfrm>
            <a:prstGeom prst="rect">
              <a:avLst/>
            </a:prstGeom>
            <a:noFill/>
            <a:ln>
              <a:noFill/>
            </a:ln>
          </p:spPr>
          <p:txBody>
            <a:bodyPr wrap="none" lIns="0" tIns="0" rIns="0" bIns="0" anchor="t" anchorCtr="0">
              <a:spAutoFit/>
            </a:bodyPr>
            <a:lstStyle/>
            <a:p>
              <a:pPr algn="l"/>
              <a:r>
                <a:rPr lang="zh-CN" sz="1240" b="1" dirty="0">
                  <a:solidFill>
                    <a:srgbClr val="707788"/>
                  </a:solidFill>
                  <a:latin typeface="+mn-lt"/>
                  <a:ea typeface="+mn-ea"/>
                  <a:cs typeface="+mn-cs"/>
                </a:rPr>
                <a:t xml:space="preserve">投入0   </a:t>
              </a:r>
            </a:p>
          </p:txBody>
        </p:sp>
        <p:sp>
          <p:nvSpPr>
            <p:cNvPr id="127" name="Line 127"/>
            <p:cNvSpPr/>
            <p:nvPr/>
          </p:nvSpPr>
          <p:spPr>
            <a:xfrm>
              <a:off x="8286750" y="240982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128" name="Ellipse 128"/>
            <p:cNvSpPr/>
            <p:nvPr/>
          </p:nvSpPr>
          <p:spPr>
            <a:xfrm>
              <a:off x="8372475" y="2486025"/>
              <a:ext cx="400050" cy="400050"/>
            </a:xfrm>
            <a:prstGeom prst="ellipse">
              <a:avLst/>
            </a:prstGeom>
            <a:solidFill>
              <a:srgbClr val="F1F2F5"/>
            </a:solidFill>
            <a:ln>
              <a:noFill/>
            </a:ln>
          </p:spPr>
        </p:sp>
        <p:grpSp>
          <p:nvGrpSpPr>
            <p:cNvPr id="133" name="Group 133"/>
            <p:cNvGrpSpPr/>
            <p:nvPr/>
          </p:nvGrpSpPr>
          <p:grpSpPr>
            <a:xfrm>
              <a:off x="8472488" y="2597150"/>
              <a:ext cx="200025" cy="187326"/>
              <a:chOff x="8472488" y="2597150"/>
              <a:chExt cx="200025" cy="187326"/>
            </a:xfrm>
          </p:grpSpPr>
          <p:sp>
            <p:nvSpPr>
              <p:cNvPr id="129" name="Freeform 129"/>
              <p:cNvSpPr/>
              <p:nvPr/>
            </p:nvSpPr>
            <p:spPr>
              <a:xfrm>
                <a:off x="8472488" y="268605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707788"/>
                </a:solidFill>
              </a:ln>
            </p:spPr>
          </p:sp>
          <p:sp>
            <p:nvSpPr>
              <p:cNvPr id="130" name="Freeform 130"/>
              <p:cNvSpPr/>
              <p:nvPr/>
            </p:nvSpPr>
            <p:spPr>
              <a:xfrm>
                <a:off x="8605838" y="264160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707788"/>
                </a:solidFill>
              </a:ln>
            </p:spPr>
          </p:sp>
          <p:sp>
            <p:nvSpPr>
              <p:cNvPr id="131" name="Freeform 131"/>
              <p:cNvSpPr/>
              <p:nvPr/>
            </p:nvSpPr>
            <p:spPr>
              <a:xfrm>
                <a:off x="8539163" y="259715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707788"/>
                </a:solidFill>
              </a:ln>
            </p:spPr>
          </p:sp>
          <p:sp>
            <p:nvSpPr>
              <p:cNvPr id="132" name="Freeform 132"/>
              <p:cNvSpPr/>
              <p:nvPr/>
            </p:nvSpPr>
            <p:spPr>
              <a:xfrm>
                <a:off x="8483600" y="2774951"/>
                <a:ext cx="155575" cy="9525"/>
              </a:xfrm>
              <a:custGeom>
                <a:avLst/>
                <a:gdLst/>
                <a:ahLst/>
                <a:cxnLst/>
                <a:rect l="l" t="t" r="r" b="b"/>
                <a:pathLst>
                  <a:path w="155575" h="9525">
                    <a:moveTo>
                      <a:pt x="0" y="0"/>
                    </a:moveTo>
                    <a:lnTo>
                      <a:pt x="155575" y="0"/>
                    </a:lnTo>
                  </a:path>
                </a:pathLst>
              </a:custGeom>
              <a:noFill/>
              <a:ln w="22225">
                <a:solidFill>
                  <a:srgbClr val="707788"/>
                </a:solidFill>
              </a:ln>
            </p:spPr>
          </p:sp>
        </p:grpSp>
        <p:sp>
          <p:nvSpPr>
            <p:cNvPr id="134" name="TextBox 134"/>
            <p:cNvSpPr txBox="1"/>
            <p:nvPr/>
          </p:nvSpPr>
          <p:spPr>
            <a:xfrm>
              <a:off x="8871966" y="2620328"/>
              <a:ext cx="576072"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预计追回</a:t>
              </a:r>
            </a:p>
          </p:txBody>
        </p:sp>
        <p:sp>
          <p:nvSpPr>
            <p:cNvPr id="135" name="Line 135"/>
            <p:cNvSpPr/>
            <p:nvPr/>
          </p:nvSpPr>
          <p:spPr>
            <a:xfrm>
              <a:off x="9601200" y="2495550"/>
              <a:ext cx="9525" cy="381000"/>
            </a:xfrm>
            <a:custGeom>
              <a:avLst/>
              <a:gdLst/>
              <a:ahLst/>
              <a:cxnLst/>
              <a:rect l="l" t="t" r="r" b="b"/>
              <a:pathLst>
                <a:path w="9525" h="381000">
                  <a:moveTo>
                    <a:pt x="0" y="0"/>
                  </a:moveTo>
                  <a:lnTo>
                    <a:pt x="0" y="381000"/>
                  </a:lnTo>
                </a:path>
              </a:pathLst>
            </a:custGeom>
            <a:noFill/>
            <a:ln w="14288">
              <a:solidFill>
                <a:srgbClr val="E0E7F3"/>
              </a:solidFill>
            </a:ln>
          </p:spPr>
        </p:sp>
        <p:sp>
          <p:nvSpPr>
            <p:cNvPr id="136" name="TextBox 136"/>
            <p:cNvSpPr txBox="1"/>
            <p:nvPr/>
          </p:nvSpPr>
          <p:spPr>
            <a:xfrm>
              <a:off x="9785414" y="2609612"/>
              <a:ext cx="1978160" cy="242030"/>
            </a:xfrm>
            <a:prstGeom prst="rect">
              <a:avLst/>
            </a:prstGeom>
            <a:noFill/>
            <a:ln>
              <a:noFill/>
            </a:ln>
          </p:spPr>
          <p:txBody>
            <a:bodyPr wrap="none" lIns="0" tIns="0" rIns="0" bIns="0" anchor="t" anchorCtr="0">
              <a:spAutoFit/>
            </a:bodyPr>
            <a:lstStyle/>
            <a:p>
              <a:pPr algn="l"/>
              <a:r>
                <a:rPr lang="zh-CN" sz="1240" b="1" dirty="0">
                  <a:solidFill>
                    <a:srgbClr val="707788"/>
                  </a:solidFill>
                  <a:latin typeface="+mn-lt"/>
                  <a:ea typeface="+mn-ea"/>
                  <a:cs typeface="+mn-cs"/>
                </a:rPr>
                <a:t xml:space="preserve">预计追回0.80亿元      </a:t>
              </a:r>
            </a:p>
          </p:txBody>
        </p:sp>
        <p:sp>
          <p:nvSpPr>
            <p:cNvPr id="137" name="Line 137"/>
            <p:cNvSpPr/>
            <p:nvPr/>
          </p:nvSpPr>
          <p:spPr>
            <a:xfrm>
              <a:off x="8286750" y="2962275"/>
              <a:ext cx="3543300" cy="9525"/>
            </a:xfrm>
            <a:custGeom>
              <a:avLst/>
              <a:gdLst/>
              <a:ahLst/>
              <a:cxnLst/>
              <a:rect l="l" t="t" r="r" b="b"/>
              <a:pathLst>
                <a:path w="3543300" h="9525">
                  <a:moveTo>
                    <a:pt x="0" y="0"/>
                  </a:moveTo>
                  <a:lnTo>
                    <a:pt x="3543300" y="0"/>
                  </a:lnTo>
                </a:path>
              </a:pathLst>
            </a:custGeom>
            <a:noFill/>
            <a:ln w="9525">
              <a:solidFill>
                <a:srgbClr val="E6EAF2"/>
              </a:solidFill>
            </a:ln>
          </p:spPr>
        </p:sp>
        <p:sp>
          <p:nvSpPr>
            <p:cNvPr id="138" name="Ellipse 138"/>
            <p:cNvSpPr/>
            <p:nvPr/>
          </p:nvSpPr>
          <p:spPr>
            <a:xfrm>
              <a:off x="8372475" y="3038475"/>
              <a:ext cx="400050" cy="400050"/>
            </a:xfrm>
            <a:prstGeom prst="ellipse">
              <a:avLst/>
            </a:prstGeom>
            <a:solidFill>
              <a:srgbClr val="F1F2F5"/>
            </a:solidFill>
            <a:ln>
              <a:noFill/>
            </a:ln>
          </p:spPr>
        </p:sp>
        <p:grpSp>
          <p:nvGrpSpPr>
            <p:cNvPr id="141" name="Group 141"/>
            <p:cNvGrpSpPr/>
            <p:nvPr/>
          </p:nvGrpSpPr>
          <p:grpSpPr>
            <a:xfrm>
              <a:off x="8469390" y="3140398"/>
              <a:ext cx="200901" cy="201212"/>
              <a:chOff x="8469390" y="3140398"/>
              <a:chExt cx="200901" cy="201212"/>
            </a:xfrm>
          </p:grpSpPr>
          <p:sp>
            <p:nvSpPr>
              <p:cNvPr id="139" name="Freeform 139"/>
              <p:cNvSpPr/>
              <p:nvPr/>
            </p:nvSpPr>
            <p:spPr>
              <a:xfrm>
                <a:off x="8469390" y="314039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47560" y="109214"/>
                    </a:lnTo>
                    <a:cubicBezTo>
                      <a:pt x="141974" y="130695"/>
                      <a:pt x="121722" y="145024"/>
                      <a:pt x="99606" y="143144"/>
                    </a:cubicBezTo>
                    <a:cubicBezTo>
                      <a:pt x="77491" y="141264"/>
                      <a:pt x="59949" y="123721"/>
                      <a:pt x="58068" y="101606"/>
                    </a:cubicBezTo>
                    <a:cubicBezTo>
                      <a:pt x="56188" y="79491"/>
                      <a:pt x="70517" y="59239"/>
                      <a:pt x="91998" y="53652"/>
                    </a:cubicBezTo>
                    <a:lnTo>
                      <a:pt x="91998" y="9202"/>
                    </a:lnTo>
                    <a:cubicBezTo>
                      <a:pt x="91719" y="6542"/>
                      <a:pt x="90387" y="4105"/>
                      <a:pt x="88299" y="2435"/>
                    </a:cubicBezTo>
                    <a:cubicBezTo>
                      <a:pt x="86211" y="765"/>
                      <a:pt x="83541" y="0"/>
                      <a:pt x="80885" y="312"/>
                    </a:cubicBezTo>
                  </a:path>
                </a:pathLst>
              </a:custGeom>
              <a:noFill/>
              <a:ln w="22225">
                <a:solidFill>
                  <a:srgbClr val="707788"/>
                </a:solidFill>
              </a:ln>
            </p:spPr>
          </p:sp>
          <p:sp>
            <p:nvSpPr>
              <p:cNvPr id="140" name="Freeform 140"/>
              <p:cNvSpPr/>
              <p:nvPr/>
            </p:nvSpPr>
            <p:spPr>
              <a:xfrm>
                <a:off x="8605838" y="3144044"/>
                <a:ext cx="61119" cy="61119"/>
              </a:xfrm>
              <a:custGeom>
                <a:avLst/>
                <a:gdLst/>
                <a:ahLst/>
                <a:cxnLst/>
                <a:rect l="l" t="t" r="r" b="b"/>
                <a:pathLst>
                  <a:path w="61119" h="61119">
                    <a:moveTo>
                      <a:pt x="0" y="0"/>
                    </a:moveTo>
                    <a:cubicBezTo>
                      <a:pt x="28579" y="10063"/>
                      <a:pt x="51056" y="32540"/>
                      <a:pt x="61119" y="61119"/>
                    </a:cubicBezTo>
                    <a:lnTo>
                      <a:pt x="11113" y="61119"/>
                    </a:lnTo>
                    <a:cubicBezTo>
                      <a:pt x="7706" y="57129"/>
                      <a:pt x="3990" y="53413"/>
                      <a:pt x="0" y="50006"/>
                    </a:cubicBezTo>
                    <a:lnTo>
                      <a:pt x="0" y="0"/>
                    </a:lnTo>
                  </a:path>
                </a:pathLst>
              </a:custGeom>
              <a:noFill/>
              <a:ln w="22225">
                <a:solidFill>
                  <a:srgbClr val="707788"/>
                </a:solidFill>
              </a:ln>
            </p:spPr>
          </p:sp>
        </p:grpSp>
        <p:sp>
          <p:nvSpPr>
            <p:cNvPr id="142" name="TextBox 142"/>
            <p:cNvSpPr txBox="1"/>
            <p:nvPr/>
          </p:nvSpPr>
          <p:spPr>
            <a:xfrm>
              <a:off x="8871966" y="3172778"/>
              <a:ext cx="434721" cy="205359"/>
            </a:xfrm>
            <a:prstGeom prst="rect">
              <a:avLst/>
            </a:prstGeom>
            <a:noFill/>
            <a:ln>
              <a:noFill/>
            </a:ln>
          </p:spPr>
          <p:txBody>
            <a:bodyPr wrap="none" lIns="0" tIns="0" rIns="0" bIns="0" anchor="t" anchorCtr="0">
              <a:spAutoFit/>
            </a:bodyPr>
            <a:lstStyle/>
            <a:p>
              <a:pPr algn="l"/>
              <a:r>
                <a:rPr lang="zh-CN" sz="1050" b="1" dirty="0">
                  <a:solidFill>
                    <a:srgbClr val="461910"/>
                  </a:solidFill>
                  <a:latin typeface="+mn-lt"/>
                  <a:ea typeface="+mn-ea"/>
                  <a:cs typeface="+mn-cs"/>
                </a:rPr>
                <a:t>完成率</a:t>
              </a:r>
            </a:p>
          </p:txBody>
        </p:sp>
        <p:sp>
          <p:nvSpPr>
            <p:cNvPr id="143" name="Line 143"/>
            <p:cNvSpPr/>
            <p:nvPr/>
          </p:nvSpPr>
          <p:spPr>
            <a:xfrm>
              <a:off x="9601200" y="3048000"/>
              <a:ext cx="9525" cy="381000"/>
            </a:xfrm>
            <a:custGeom>
              <a:avLst/>
              <a:gdLst/>
              <a:ahLst/>
              <a:cxnLst/>
              <a:rect l="l" t="t" r="r" b="b"/>
              <a:pathLst>
                <a:path w="9525" h="381000">
                  <a:moveTo>
                    <a:pt x="0" y="0"/>
                  </a:moveTo>
                  <a:lnTo>
                    <a:pt x="0" y="381000"/>
                  </a:lnTo>
                </a:path>
              </a:pathLst>
            </a:custGeom>
            <a:noFill/>
            <a:ln w="14288">
              <a:solidFill>
                <a:srgbClr val="E0E7F3"/>
              </a:solidFill>
            </a:ln>
          </p:spPr>
        </p:sp>
        <p:sp>
          <p:nvSpPr>
            <p:cNvPr id="144" name="TextBox 144"/>
            <p:cNvSpPr txBox="1"/>
            <p:nvPr/>
          </p:nvSpPr>
          <p:spPr>
            <a:xfrm>
              <a:off x="9785414" y="3162062"/>
              <a:ext cx="1126823" cy="242030"/>
            </a:xfrm>
            <a:prstGeom prst="rect">
              <a:avLst/>
            </a:prstGeom>
            <a:noFill/>
            <a:ln>
              <a:noFill/>
            </a:ln>
          </p:spPr>
          <p:txBody>
            <a:bodyPr wrap="none" lIns="0" tIns="0" rIns="0" bIns="0" anchor="t" anchorCtr="0">
              <a:spAutoFit/>
            </a:bodyPr>
            <a:lstStyle/>
            <a:p>
              <a:pPr algn="l"/>
              <a:r>
                <a:rPr lang="zh-CN" sz="1240" b="1" dirty="0">
                  <a:solidFill>
                    <a:srgbClr val="707788"/>
                  </a:solidFill>
                  <a:latin typeface="+mn-lt"/>
                  <a:ea typeface="+mn-ea"/>
                  <a:cs typeface="+mn-cs"/>
                </a:rPr>
                <a:t xml:space="preserve">完成率65%   </a:t>
              </a:r>
            </a:p>
          </p:txBody>
        </p:sp>
        <p:sp>
          <p:nvSpPr>
            <p:cNvPr id="145" name="Rectangle 145"/>
            <p:cNvSpPr/>
            <p:nvPr/>
          </p:nvSpPr>
          <p:spPr>
            <a:xfrm>
              <a:off x="8267700" y="3810000"/>
              <a:ext cx="3581400" cy="1200150"/>
            </a:xfrm>
            <a:prstGeom prst="roundRect">
              <a:avLst>
                <a:gd name="adj" fmla="val 7937"/>
              </a:avLst>
            </a:prstGeom>
            <a:solidFill>
              <a:srgbClr val="F1F2F5"/>
            </a:solidFill>
            <a:ln>
              <a:noFill/>
            </a:ln>
          </p:spPr>
        </p:sp>
        <p:grpSp>
          <p:nvGrpSpPr>
            <p:cNvPr id="149" name="Group 149"/>
            <p:cNvGrpSpPr/>
            <p:nvPr/>
          </p:nvGrpSpPr>
          <p:grpSpPr>
            <a:xfrm>
              <a:off x="8588814" y="4112698"/>
              <a:ext cx="272162" cy="233823"/>
              <a:chOff x="8588814" y="4112698"/>
              <a:chExt cx="272162" cy="233823"/>
            </a:xfrm>
          </p:grpSpPr>
          <p:sp>
            <p:nvSpPr>
              <p:cNvPr id="146" name="Freeform 146"/>
              <p:cNvSpPr/>
              <p:nvPr/>
            </p:nvSpPr>
            <p:spPr>
              <a:xfrm>
                <a:off x="8724900" y="4198144"/>
                <a:ext cx="9525" cy="53975"/>
              </a:xfrm>
              <a:custGeom>
                <a:avLst/>
                <a:gdLst/>
                <a:ahLst/>
                <a:cxnLst/>
                <a:rect l="l" t="t" r="r" b="b"/>
                <a:pathLst>
                  <a:path w="9525" h="53975">
                    <a:moveTo>
                      <a:pt x="0" y="0"/>
                    </a:moveTo>
                    <a:lnTo>
                      <a:pt x="0" y="53975"/>
                    </a:lnTo>
                  </a:path>
                </a:pathLst>
              </a:custGeom>
              <a:noFill/>
              <a:ln w="26988">
                <a:solidFill>
                  <a:srgbClr val="707788"/>
                </a:solidFill>
              </a:ln>
            </p:spPr>
          </p:sp>
          <p:sp>
            <p:nvSpPr>
              <p:cNvPr id="147" name="Freeform 147"/>
              <p:cNvSpPr/>
              <p:nvPr/>
            </p:nvSpPr>
            <p:spPr>
              <a:xfrm>
                <a:off x="8588814" y="4112698"/>
                <a:ext cx="272162" cy="233823"/>
              </a:xfrm>
              <a:custGeom>
                <a:avLst/>
                <a:gdLst/>
                <a:ahLst/>
                <a:cxnLst/>
                <a:rect l="l" t="t" r="r" b="b"/>
                <a:pathLst>
                  <a:path w="272162" h="233823">
                    <a:moveTo>
                      <a:pt x="113997" y="12458"/>
                    </a:moveTo>
                    <a:lnTo>
                      <a:pt x="4616" y="195083"/>
                    </a:lnTo>
                    <a:cubicBezTo>
                      <a:pt x="28" y="203029"/>
                      <a:pt x="0" y="212812"/>
                      <a:pt x="4543" y="220785"/>
                    </a:cubicBezTo>
                    <a:cubicBezTo>
                      <a:pt x="9086" y="228757"/>
                      <a:pt x="17517" y="233720"/>
                      <a:pt x="26692" y="233823"/>
                    </a:cubicBezTo>
                    <a:lnTo>
                      <a:pt x="245480" y="233823"/>
                    </a:lnTo>
                    <a:cubicBezTo>
                      <a:pt x="254651" y="233717"/>
                      <a:pt x="263078" y="228756"/>
                      <a:pt x="267620" y="220788"/>
                    </a:cubicBezTo>
                    <a:cubicBezTo>
                      <a:pt x="272162" y="212820"/>
                      <a:pt x="272138" y="203041"/>
                      <a:pt x="267556" y="195096"/>
                    </a:cubicBezTo>
                    <a:lnTo>
                      <a:pt x="158176" y="12444"/>
                    </a:lnTo>
                    <a:cubicBezTo>
                      <a:pt x="153495" y="4719"/>
                      <a:pt x="145119" y="0"/>
                      <a:pt x="136086" y="0"/>
                    </a:cubicBezTo>
                    <a:cubicBezTo>
                      <a:pt x="127054" y="0"/>
                      <a:pt x="118677" y="4719"/>
                      <a:pt x="113997" y="12444"/>
                    </a:cubicBezTo>
                  </a:path>
                </a:pathLst>
              </a:custGeom>
              <a:noFill/>
              <a:ln w="26988">
                <a:solidFill>
                  <a:srgbClr val="707788"/>
                </a:solidFill>
              </a:ln>
            </p:spPr>
          </p:sp>
          <p:sp>
            <p:nvSpPr>
              <p:cNvPr id="148" name="Freeform 148"/>
              <p:cNvSpPr/>
              <p:nvPr/>
            </p:nvSpPr>
            <p:spPr>
              <a:xfrm>
                <a:off x="8724900" y="4292601"/>
                <a:ext cx="9525" cy="9525"/>
              </a:xfrm>
              <a:custGeom>
                <a:avLst/>
                <a:gdLst/>
                <a:ahLst/>
                <a:cxnLst/>
                <a:rect l="l" t="t" r="r" b="b"/>
                <a:pathLst>
                  <a:path w="9525" h="9525">
                    <a:moveTo>
                      <a:pt x="0" y="0"/>
                    </a:moveTo>
                    <a:lnTo>
                      <a:pt x="135" y="0"/>
                    </a:lnTo>
                  </a:path>
                </a:pathLst>
              </a:custGeom>
              <a:noFill/>
              <a:ln w="26988">
                <a:solidFill>
                  <a:srgbClr val="707788"/>
                </a:solidFill>
              </a:ln>
            </p:spPr>
          </p:sp>
        </p:grpSp>
        <p:sp>
          <p:nvSpPr>
            <p:cNvPr id="150" name="TextBox 150"/>
            <p:cNvSpPr txBox="1"/>
            <p:nvPr/>
          </p:nvSpPr>
          <p:spPr>
            <a:xfrm>
              <a:off x="8447824" y="4557951"/>
              <a:ext cx="554152" cy="198025"/>
            </a:xfrm>
            <a:prstGeom prst="rect">
              <a:avLst/>
            </a:prstGeom>
            <a:noFill/>
            <a:ln>
              <a:noFill/>
            </a:ln>
          </p:spPr>
          <p:txBody>
            <a:bodyPr wrap="none" lIns="0" tIns="0" rIns="0" bIns="0" anchor="t" anchorCtr="0">
              <a:spAutoFit/>
            </a:bodyPr>
            <a:lstStyle/>
            <a:p>
              <a:pPr algn="ctr"/>
              <a:r>
                <a:rPr lang="zh-CN" sz="1010" b="1" dirty="0">
                  <a:solidFill>
                    <a:srgbClr val="707788"/>
                  </a:solidFill>
                  <a:latin typeface="+mn-lt"/>
                  <a:ea typeface="+mn-ea"/>
                  <a:cs typeface="+mn-cs"/>
                </a:rPr>
                <a:t>主要风险</a:t>
              </a:r>
            </a:p>
          </p:txBody>
        </p:sp>
        <p:sp>
          <p:nvSpPr>
            <p:cNvPr id="151" name="TextBox 151"/>
            <p:cNvSpPr txBox="1"/>
            <p:nvPr/>
          </p:nvSpPr>
          <p:spPr>
            <a:xfrm>
              <a:off x="9577388" y="4010739"/>
              <a:ext cx="1198436" cy="611981"/>
            </a:xfrm>
            <a:prstGeom prst="rect">
              <a:avLst/>
            </a:prstGeom>
            <a:noFill/>
            <a:ln>
              <a:noFill/>
            </a:ln>
          </p:spPr>
          <p:txBody>
            <a:bodyPr wrap="none" lIns="0" tIns="0" rIns="0" bIns="0" anchor="t" anchorCtr="0">
              <a:spAutoFit/>
            </a:bodyPr>
            <a:lstStyle/>
            <a:p>
              <a:pPr algn="l" marL="85280" indent="-85280">
                <a:lnSpc>
                  <a:spcPts val="1800"/>
                </a:lnSpc>
                <a:buClr>
                  <a:srgbClr val="523E3A"/>
                </a:buClr>
                <a:buSzTx/>
                <a:buFontTx/>
                <a:buChar char="•"/>
              </a:pPr>
              <a:r>
                <a:rPr lang="zh-CN" sz="790" dirty="0">
                  <a:solidFill>
                    <a:srgbClr val="523E3A"/>
                  </a:solidFill>
                  <a:latin typeface="+mn-lt"/>
                  <a:ea typeface="+mn-ea"/>
                  <a:cs typeface="+mn-cs"/>
                </a:rPr>
                <a:t>投入不足，回收效果有限</a:t>
              </a:r>
            </a:p>
            <a:p>
              <a:pPr algn="l" marL="85280" indent="-85280">
                <a:lnSpc>
                  <a:spcPts val="1800"/>
                </a:lnSpc>
                <a:buClr>
                  <a:srgbClr val="523E3A"/>
                </a:buClr>
                <a:buSzTx/>
                <a:buFontTx/>
                <a:buChar char="•"/>
              </a:pPr>
              <a:r>
                <a:rPr lang="zh-CN" sz="790" dirty="0">
                  <a:solidFill>
                    <a:srgbClr val="523E3A"/>
                  </a:solidFill>
                  <a:latin typeface="+mn-lt"/>
                  <a:ea typeface="+mn-ea"/>
                  <a:cs typeface="+mn-cs"/>
                </a:rPr>
                <a:t>可处置案件数量明显受限</a:t>
              </a:r>
            </a:p>
            <a:p>
              <a:pPr algn="l" marL="85280" indent="-85280">
                <a:lnSpc>
                  <a:spcPts val="1800"/>
                </a:lnSpc>
                <a:buClr>
                  <a:srgbClr val="523E3A"/>
                </a:buClr>
                <a:buSzTx/>
                <a:buFontTx/>
                <a:buChar char="•"/>
              </a:pPr>
              <a:r>
                <a:rPr lang="zh-CN" sz="790" dirty="0">
                  <a:solidFill>
                    <a:srgbClr val="523E3A"/>
                  </a:solidFill>
                  <a:latin typeface="+mn-lt"/>
                  <a:ea typeface="+mn-ea"/>
                  <a:cs typeface="+mn-cs"/>
                </a:rPr>
                <a:t>可能错失关键回收窗口期</a:t>
              </a:r>
            </a:p>
          </p:txBody>
        </p:sp>
      </p:grpSp>
      <p:grpSp>
        <p:nvGrpSpPr>
          <p:cNvPr id="163" name="final-advice"/>
          <p:cNvGrpSpPr/>
          <p:nvPr/>
        </p:nvGrpSpPr>
        <p:grpSpPr>
          <a:xfrm>
            <a:off x="228600" y="5295900"/>
            <a:ext cx="11734800" cy="800100"/>
            <a:chOff x="228600" y="5295900"/>
            <a:chExt cx="11734800" cy="800100"/>
          </a:xfrm>
        </p:grpSpPr>
        <p:sp>
          <p:nvSpPr>
            <p:cNvPr id="153" name="Rectangle 153"/>
            <p:cNvSpPr/>
            <p:nvPr/>
          </p:nvSpPr>
          <p:spPr>
            <a:xfrm>
              <a:off x="228600" y="5295900"/>
              <a:ext cx="11258550" cy="800100"/>
            </a:xfrm>
            <a:prstGeom prst="roundRect">
              <a:avLst>
                <a:gd name="adj" fmla="val 14286"/>
              </a:avLst>
            </a:prstGeom>
            <a:solidFill>
              <a:srgbClr val="721E0D"/>
            </a:solidFill>
            <a:ln>
              <a:noFill/>
            </a:ln>
          </p:spPr>
        </p:sp>
        <p:sp>
          <p:nvSpPr>
            <p:cNvPr id="154" name="Ellipse 154"/>
            <p:cNvSpPr/>
            <p:nvPr/>
          </p:nvSpPr>
          <p:spPr>
            <a:xfrm>
              <a:off x="533400" y="5467350"/>
              <a:ext cx="457200" cy="457200"/>
            </a:xfrm>
            <a:prstGeom prst="ellipse">
              <a:avLst/>
            </a:prstGeom>
            <a:solidFill>
              <a:srgbClr val="FFFFFF"/>
            </a:solidFill>
            <a:ln>
              <a:noFill/>
            </a:ln>
          </p:spPr>
        </p:sp>
        <p:grpSp>
          <p:nvGrpSpPr>
            <p:cNvPr id="158" name="Group 158"/>
            <p:cNvGrpSpPr/>
            <p:nvPr/>
          </p:nvGrpSpPr>
          <p:grpSpPr>
            <a:xfrm>
              <a:off x="633412" y="5567362"/>
              <a:ext cx="257175" cy="257175"/>
              <a:chOff x="633412" y="5567362"/>
              <a:chExt cx="257175" cy="257175"/>
            </a:xfrm>
          </p:grpSpPr>
          <p:sp>
            <p:nvSpPr>
              <p:cNvPr id="155" name="Freeform 155"/>
              <p:cNvSpPr/>
              <p:nvPr/>
            </p:nvSpPr>
            <p:spPr>
              <a:xfrm>
                <a:off x="747712" y="568166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721E0D"/>
                </a:solidFill>
              </a:ln>
            </p:spPr>
          </p:sp>
          <p:sp>
            <p:nvSpPr>
              <p:cNvPr id="156" name="Freeform 156"/>
              <p:cNvSpPr/>
              <p:nvPr/>
            </p:nvSpPr>
            <p:spPr>
              <a:xfrm>
                <a:off x="690562" y="5624512"/>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8575">
                <a:solidFill>
                  <a:srgbClr val="721E0D"/>
                </a:solidFill>
              </a:ln>
            </p:spPr>
          </p:sp>
          <p:sp>
            <p:nvSpPr>
              <p:cNvPr id="157" name="Freeform 157"/>
              <p:cNvSpPr/>
              <p:nvPr/>
            </p:nvSpPr>
            <p:spPr>
              <a:xfrm>
                <a:off x="633412" y="556736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8575">
                <a:solidFill>
                  <a:srgbClr val="721E0D"/>
                </a:solidFill>
              </a:ln>
            </p:spPr>
          </p:sp>
        </p:grpSp>
        <p:sp>
          <p:nvSpPr>
            <p:cNvPr id="159" name="TextBox 159"/>
            <p:cNvSpPr txBox="1"/>
            <p:nvPr/>
          </p:nvSpPr>
          <p:spPr>
            <a:xfrm>
              <a:off x="1133856" y="5596890"/>
              <a:ext cx="1229868"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mn-lt"/>
                  <a:ea typeface="+mn-ea"/>
                  <a:cs typeface="+mn-cs"/>
                </a:rPr>
                <a:t>最终建议：</a:t>
              </a:r>
            </a:p>
          </p:txBody>
        </p:sp>
        <p:sp>
          <p:nvSpPr>
            <p:cNvPr id="160" name="Rectangle 160"/>
            <p:cNvSpPr/>
            <p:nvPr/>
          </p:nvSpPr>
          <p:spPr>
            <a:xfrm>
              <a:off x="3143250" y="5429250"/>
              <a:ext cx="8191500" cy="533400"/>
            </a:xfrm>
            <a:prstGeom prst="roundRect">
              <a:avLst>
                <a:gd name="adj" fmla="val 17857"/>
              </a:avLst>
            </a:prstGeom>
            <a:solidFill>
              <a:srgbClr val="FFFFFF"/>
            </a:solidFill>
            <a:ln>
              <a:noFill/>
            </a:ln>
          </p:spPr>
        </p:sp>
        <p:sp>
          <p:nvSpPr>
            <p:cNvPr id="161" name="TextBox 161"/>
            <p:cNvSpPr txBox="1"/>
            <p:nvPr/>
          </p:nvSpPr>
          <p:spPr>
            <a:xfrm>
              <a:off x="4825114" y="5588794"/>
              <a:ext cx="4827772" cy="366712"/>
            </a:xfrm>
            <a:prstGeom prst="rect">
              <a:avLst/>
            </a:prstGeom>
            <a:noFill/>
            <a:ln>
              <a:noFill/>
            </a:ln>
          </p:spPr>
          <p:txBody>
            <a:bodyPr wrap="none" lIns="0" tIns="0" rIns="0" bIns="0" anchor="t" anchorCtr="0">
              <a:spAutoFit/>
            </a:bodyPr>
            <a:lstStyle/>
            <a:p>
              <a:pPr algn="ctr"/>
              <a:r>
                <a:rPr lang="zh-CN" sz="1880" b="1" dirty="0">
                  <a:solidFill>
                    <a:srgbClr val="461910"/>
                  </a:solidFill>
                  <a:latin typeface="+mn-lt"/>
                  <a:ea typeface="+mn-ea"/>
                  <a:cs typeface="+mn-cs"/>
                </a:rPr>
                <a:t xml:space="preserve">   优先 </a:t>
              </a:r>
              <a:r>
                <a:rPr lang="zh-CN" sz="1880" b="1" dirty="0">
                  <a:solidFill>
                    <a:srgbClr val="C03616"/>
                  </a:solidFill>
                  <a:latin typeface="+mn-lt"/>
                  <a:ea typeface="+mn-ea"/>
                  <a:cs typeface="+mn-cs"/>
                </a:rPr>
                <a:t>选项A</a:t>
              </a:r>
              <a:r>
                <a:rPr lang="zh-CN" sz="1880" b="1" dirty="0">
                  <a:solidFill>
                    <a:srgbClr val="461910"/>
                  </a:solidFill>
                  <a:latin typeface="+mn-lt"/>
                  <a:ea typeface="+mn-ea"/>
                  <a:cs typeface="+mn-cs"/>
                </a:rPr>
                <a:t xml:space="preserve">，选项B为最低可接受线   </a:t>
              </a:r>
            </a:p>
          </p:txBody>
        </p:sp>
        <p:sp>
          <p:nvSpPr>
            <p:cNvPr id="162" name="Freeform 162"/>
            <p:cNvSpPr/>
            <p:nvPr/>
          </p:nvSpPr>
          <p:spPr>
            <a:xfrm>
              <a:off x="11487150" y="5353050"/>
              <a:ext cx="476250" cy="685800"/>
            </a:xfrm>
            <a:prstGeom prst="chevron">
              <a:avLst>
                <a:gd name="adj" fmla="val 40000"/>
              </a:avLst>
            </a:prstGeom>
            <a:solidFill>
              <a:srgbClr val="B8351A"/>
            </a:solidFill>
            <a:ln>
              <a:noFill/>
            </a:ln>
          </p:spPr>
        </p:sp>
      </p:gr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C03616"/>
            </a:solidFill>
            <a:ln>
              <a:noFill/>
            </a:ln>
          </p:spPr>
        </p:sp>
        <p:sp>
          <p:nvSpPr>
            <p:cNvPr id="3" name="TextBox 3"/>
            <p:cNvSpPr txBox="1"/>
            <p:nvPr/>
          </p:nvSpPr>
          <p:spPr>
            <a:xfrm>
              <a:off x="16668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14</a:t>
              </a:r>
            </a:p>
          </p:txBody>
        </p:sp>
        <p:sp>
          <p:nvSpPr>
            <p:cNvPr id="4" name="TextBox 4"/>
            <p:cNvSpPr txBox="1"/>
            <p:nvPr/>
          </p:nvSpPr>
          <p:spPr>
            <a:xfrm>
              <a:off x="904494" y="180023"/>
              <a:ext cx="3169920"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下半年必须</a:t>
              </a:r>
              <a:r>
                <a:rPr lang="zh-CN" sz="1950" b="1" dirty="0">
                  <a:solidFill>
                    <a:srgbClr val="C03616"/>
                  </a:solidFill>
                  <a:latin typeface="+mn-lt"/>
                  <a:ea typeface="+mn-ea"/>
                  <a:cs typeface="+mn-cs"/>
                </a:rPr>
                <a:t>停止做</a:t>
              </a:r>
              <a:r>
                <a:rPr lang="zh-CN" sz="1950" b="1" dirty="0">
                  <a:solidFill>
                    <a:srgbClr val="461910"/>
                  </a:solidFill>
                  <a:latin typeface="+mn-lt"/>
                  <a:ea typeface="+mn-ea"/>
                  <a:cs typeface="+mn-cs"/>
                </a:rPr>
                <a:t>的三件事</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55" name="stop-card-1"/>
          <p:cNvGrpSpPr/>
          <p:nvPr/>
        </p:nvGrpSpPr>
        <p:grpSpPr>
          <a:xfrm>
            <a:off x="228600" y="723900"/>
            <a:ext cx="3810000" cy="4857750"/>
            <a:chOff x="228600" y="723900"/>
            <a:chExt cx="3810000" cy="4857750"/>
          </a:xfrm>
        </p:grpSpPr>
        <p:sp>
          <p:nvSpPr>
            <p:cNvPr id="7" name="Rectangle 7"/>
            <p:cNvSpPr/>
            <p:nvPr/>
          </p:nvSpPr>
          <p:spPr>
            <a:xfrm>
              <a:off x="228600" y="723900"/>
              <a:ext cx="3810000" cy="4857750"/>
            </a:xfrm>
            <a:prstGeom prst="roundRect">
              <a:avLst>
                <a:gd name="adj" fmla="val 3000"/>
              </a:avLst>
            </a:prstGeom>
            <a:solidFill>
              <a:srgbClr val="FFFFFF"/>
            </a:solidFill>
            <a:ln w="14288">
              <a:solidFill>
                <a:srgbClr val="C03616"/>
              </a:solidFill>
            </a:ln>
          </p:spPr>
        </p:sp>
        <p:sp>
          <p:nvSpPr>
            <p:cNvPr id="8" name="Freeform 8"/>
            <p:cNvSpPr/>
            <p:nvPr/>
          </p:nvSpPr>
          <p:spPr>
            <a:xfrm>
              <a:off x="228600" y="723900"/>
              <a:ext cx="3810000" cy="704850"/>
            </a:xfrm>
            <a:custGeom>
              <a:avLst/>
              <a:gdLst/>
              <a:ahLst/>
              <a:cxnLst/>
              <a:rect l="l" t="t" r="r" b="b"/>
              <a:pathLst>
                <a:path w="3810000" h="704850">
                  <a:moveTo>
                    <a:pt x="114300" y="0"/>
                  </a:moveTo>
                  <a:lnTo>
                    <a:pt x="3695700" y="0"/>
                  </a:lnTo>
                  <a:cubicBezTo>
                    <a:pt x="3758826" y="0"/>
                    <a:pt x="3810000" y="51174"/>
                    <a:pt x="3810000" y="114300"/>
                  </a:cubicBezTo>
                  <a:lnTo>
                    <a:pt x="3810000" y="704850"/>
                  </a:lnTo>
                  <a:lnTo>
                    <a:pt x="0" y="704850"/>
                  </a:lnTo>
                  <a:lnTo>
                    <a:pt x="0" y="114300"/>
                  </a:lnTo>
                  <a:cubicBezTo>
                    <a:pt x="0" y="51174"/>
                    <a:pt x="51174" y="0"/>
                    <a:pt x="114300" y="0"/>
                  </a:cubicBezTo>
                  <a:close/>
                </a:path>
              </a:pathLst>
            </a:custGeom>
            <a:solidFill>
              <a:srgbClr val="C03616"/>
            </a:solidFill>
            <a:ln>
              <a:noFill/>
            </a:ln>
          </p:spPr>
        </p:sp>
        <p:sp>
          <p:nvSpPr>
            <p:cNvPr id="9" name="Freeform 9"/>
            <p:cNvSpPr/>
            <p:nvPr/>
          </p:nvSpPr>
          <p:spPr>
            <a:xfrm>
              <a:off x="342900" y="809625"/>
              <a:ext cx="533400" cy="533400"/>
            </a:xfrm>
            <a:prstGeom prst="octagon">
              <a:avLst/>
            </a:prstGeom>
            <a:solidFill>
              <a:srgbClr val="FFFFFF"/>
            </a:solidFill>
            <a:ln>
              <a:noFill/>
            </a:ln>
          </p:spPr>
        </p:sp>
        <p:grpSp>
          <p:nvGrpSpPr>
            <p:cNvPr id="14" name="Group 14"/>
            <p:cNvGrpSpPr/>
            <p:nvPr/>
          </p:nvGrpSpPr>
          <p:grpSpPr>
            <a:xfrm>
              <a:off x="714123" y="933450"/>
              <a:ext cx="238377" cy="285755"/>
              <a:chOff x="714123" y="933450"/>
              <a:chExt cx="238377" cy="285755"/>
            </a:xfrm>
          </p:grpSpPr>
          <p:sp>
            <p:nvSpPr>
              <p:cNvPr id="10" name="Freeform 10"/>
              <p:cNvSpPr/>
              <p:nvPr/>
            </p:nvSpPr>
            <p:spPr>
              <a:xfrm>
                <a:off x="781050" y="962025"/>
                <a:ext cx="42862" cy="128588"/>
              </a:xfrm>
              <a:custGeom>
                <a:avLst/>
                <a:gdLst/>
                <a:ahLst/>
                <a:cxnLst/>
                <a:rect l="l" t="t" r="r" b="b"/>
                <a:pathLst>
                  <a:path w="42862" h="128588">
                    <a:moveTo>
                      <a:pt x="0" y="128588"/>
                    </a:moveTo>
                    <a:lnTo>
                      <a:pt x="0" y="21431"/>
                    </a:lnTo>
                    <a:cubicBezTo>
                      <a:pt x="0" y="9595"/>
                      <a:pt x="9595" y="0"/>
                      <a:pt x="21431" y="0"/>
                    </a:cubicBezTo>
                    <a:cubicBezTo>
                      <a:pt x="33267" y="0"/>
                      <a:pt x="42862" y="9595"/>
                      <a:pt x="42862" y="21431"/>
                    </a:cubicBezTo>
                    <a:lnTo>
                      <a:pt x="42862" y="114300"/>
                    </a:lnTo>
                  </a:path>
                </a:pathLst>
              </a:custGeom>
              <a:noFill/>
              <a:ln w="28575">
                <a:solidFill>
                  <a:srgbClr val="C03616"/>
                </a:solidFill>
              </a:ln>
            </p:spPr>
          </p:sp>
          <p:sp>
            <p:nvSpPr>
              <p:cNvPr id="11" name="Freeform 11"/>
              <p:cNvSpPr/>
              <p:nvPr/>
            </p:nvSpPr>
            <p:spPr>
              <a:xfrm>
                <a:off x="823912" y="933450"/>
                <a:ext cx="42862" cy="142875"/>
              </a:xfrm>
              <a:custGeom>
                <a:avLst/>
                <a:gdLst/>
                <a:ahLst/>
                <a:cxnLst/>
                <a:rect l="l" t="t" r="r" b="b"/>
                <a:pathLst>
                  <a:path w="42862" h="142875">
                    <a:moveTo>
                      <a:pt x="0" y="50006"/>
                    </a:moveTo>
                    <a:lnTo>
                      <a:pt x="0" y="21431"/>
                    </a:lnTo>
                    <a:cubicBezTo>
                      <a:pt x="0" y="9595"/>
                      <a:pt x="9595" y="0"/>
                      <a:pt x="21431" y="0"/>
                    </a:cubicBezTo>
                    <a:cubicBezTo>
                      <a:pt x="33267" y="0"/>
                      <a:pt x="42862" y="9595"/>
                      <a:pt x="42862" y="21431"/>
                    </a:cubicBezTo>
                    <a:lnTo>
                      <a:pt x="42862" y="142875"/>
                    </a:lnTo>
                  </a:path>
                </a:pathLst>
              </a:custGeom>
              <a:noFill/>
              <a:ln w="28575">
                <a:solidFill>
                  <a:srgbClr val="C03616"/>
                </a:solidFill>
              </a:ln>
            </p:spPr>
          </p:sp>
          <p:sp>
            <p:nvSpPr>
              <p:cNvPr id="12" name="Freeform 12"/>
              <p:cNvSpPr/>
              <p:nvPr/>
            </p:nvSpPr>
            <p:spPr>
              <a:xfrm>
                <a:off x="866775" y="962025"/>
                <a:ext cx="42862" cy="114300"/>
              </a:xfrm>
              <a:custGeom>
                <a:avLst/>
                <a:gdLst/>
                <a:ahLst/>
                <a:cxnLst/>
                <a:rect l="l" t="t" r="r" b="b"/>
                <a:pathLst>
                  <a:path w="42862" h="114300">
                    <a:moveTo>
                      <a:pt x="0" y="21431"/>
                    </a:moveTo>
                    <a:cubicBezTo>
                      <a:pt x="0" y="9595"/>
                      <a:pt x="9595" y="0"/>
                      <a:pt x="21431" y="0"/>
                    </a:cubicBezTo>
                    <a:cubicBezTo>
                      <a:pt x="33267" y="0"/>
                      <a:pt x="42862" y="9595"/>
                      <a:pt x="42862" y="21431"/>
                    </a:cubicBezTo>
                    <a:lnTo>
                      <a:pt x="42862" y="114300"/>
                    </a:lnTo>
                  </a:path>
                </a:pathLst>
              </a:custGeom>
              <a:noFill/>
              <a:ln w="28575">
                <a:solidFill>
                  <a:srgbClr val="C03616"/>
                </a:solidFill>
              </a:ln>
            </p:spPr>
          </p:sp>
          <p:sp>
            <p:nvSpPr>
              <p:cNvPr id="13" name="Freeform 13"/>
              <p:cNvSpPr/>
              <p:nvPr/>
            </p:nvSpPr>
            <p:spPr>
              <a:xfrm>
                <a:off x="714123" y="990600"/>
                <a:ext cx="238377" cy="228605"/>
              </a:xfrm>
              <a:custGeom>
                <a:avLst/>
                <a:gdLst/>
                <a:ahLst/>
                <a:cxnLst/>
                <a:rect l="l" t="t" r="r" b="b"/>
                <a:pathLst>
                  <a:path w="238377" h="228605">
                    <a:moveTo>
                      <a:pt x="195514" y="21431"/>
                    </a:moveTo>
                    <a:cubicBezTo>
                      <a:pt x="195514" y="9595"/>
                      <a:pt x="205109" y="0"/>
                      <a:pt x="216946" y="0"/>
                    </a:cubicBezTo>
                    <a:cubicBezTo>
                      <a:pt x="228782" y="0"/>
                      <a:pt x="238377" y="9595"/>
                      <a:pt x="238377" y="21431"/>
                    </a:cubicBezTo>
                    <a:lnTo>
                      <a:pt x="238377" y="142875"/>
                    </a:lnTo>
                    <a:cubicBezTo>
                      <a:pt x="238377" y="190220"/>
                      <a:pt x="199996" y="228600"/>
                      <a:pt x="152652" y="228600"/>
                    </a:cubicBezTo>
                    <a:lnTo>
                      <a:pt x="124077" y="228600"/>
                    </a:lnTo>
                    <a:lnTo>
                      <a:pt x="127049" y="228600"/>
                    </a:lnTo>
                    <a:cubicBezTo>
                      <a:pt x="98210" y="228605"/>
                      <a:pt x="71301" y="214109"/>
                      <a:pt x="55440" y="190024"/>
                    </a:cubicBezTo>
                    <a:cubicBezTo>
                      <a:pt x="54503" y="188597"/>
                      <a:pt x="53569" y="187169"/>
                      <a:pt x="52639" y="185738"/>
                    </a:cubicBezTo>
                    <a:cubicBezTo>
                      <a:pt x="48182" y="178894"/>
                      <a:pt x="32537" y="151619"/>
                      <a:pt x="5691" y="103899"/>
                    </a:cubicBezTo>
                    <a:cubicBezTo>
                      <a:pt x="0" y="93784"/>
                      <a:pt x="3395" y="80977"/>
                      <a:pt x="13349" y="75009"/>
                    </a:cubicBezTo>
                    <a:cubicBezTo>
                      <a:pt x="23840" y="68715"/>
                      <a:pt x="37268" y="70364"/>
                      <a:pt x="45924" y="79010"/>
                    </a:cubicBezTo>
                    <a:lnTo>
                      <a:pt x="66927" y="100012"/>
                    </a:lnTo>
                  </a:path>
                </a:pathLst>
              </a:custGeom>
              <a:noFill/>
              <a:ln w="28575">
                <a:solidFill>
                  <a:srgbClr val="C03616"/>
                </a:solidFill>
              </a:ln>
            </p:spPr>
          </p:sp>
        </p:grpSp>
        <p:sp>
          <p:nvSpPr>
            <p:cNvPr id="15" name="TextBox 15"/>
            <p:cNvSpPr txBox="1"/>
            <p:nvPr/>
          </p:nvSpPr>
          <p:spPr>
            <a:xfrm>
              <a:off x="1232154" y="88963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停止一：</a:t>
              </a:r>
            </a:p>
          </p:txBody>
        </p:sp>
        <p:sp>
          <p:nvSpPr>
            <p:cNvPr id="16" name="TextBox 16"/>
            <p:cNvSpPr txBox="1"/>
            <p:nvPr/>
          </p:nvSpPr>
          <p:spPr>
            <a:xfrm>
              <a:off x="1231773" y="1138714"/>
              <a:ext cx="156377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接低毛利的垃圾订单</a:t>
              </a:r>
            </a:p>
          </p:txBody>
        </p:sp>
        <p:sp>
          <p:nvSpPr>
            <p:cNvPr id="17" name="Rectangle 17"/>
            <p:cNvSpPr/>
            <p:nvPr/>
          </p:nvSpPr>
          <p:spPr>
            <a:xfrm>
              <a:off x="342900" y="1524000"/>
              <a:ext cx="3581400" cy="457200"/>
            </a:xfrm>
            <a:prstGeom prst="roundRect">
              <a:avLst>
                <a:gd name="adj" fmla="val 16667"/>
              </a:avLst>
            </a:prstGeom>
            <a:solidFill>
              <a:srgbClr val="FDECEC"/>
            </a:solidFill>
            <a:ln>
              <a:noFill/>
            </a:ln>
          </p:spPr>
        </p:sp>
        <p:grpSp>
          <p:nvGrpSpPr>
            <p:cNvPr id="21" name="Group 21"/>
            <p:cNvGrpSpPr/>
            <p:nvPr/>
          </p:nvGrpSpPr>
          <p:grpSpPr>
            <a:xfrm>
              <a:off x="457909" y="1656303"/>
              <a:ext cx="208123" cy="178805"/>
              <a:chOff x="457909" y="1656303"/>
              <a:chExt cx="208123" cy="178805"/>
            </a:xfrm>
          </p:grpSpPr>
          <p:sp>
            <p:nvSpPr>
              <p:cNvPr id="18" name="Freeform 18"/>
              <p:cNvSpPr/>
              <p:nvPr/>
            </p:nvSpPr>
            <p:spPr>
              <a:xfrm>
                <a:off x="561975" y="1721643"/>
                <a:ext cx="9525" cy="41275"/>
              </a:xfrm>
              <a:custGeom>
                <a:avLst/>
                <a:gdLst/>
                <a:ahLst/>
                <a:cxnLst/>
                <a:rect l="l" t="t" r="r" b="b"/>
                <a:pathLst>
                  <a:path w="9525" h="41275">
                    <a:moveTo>
                      <a:pt x="0" y="0"/>
                    </a:moveTo>
                    <a:lnTo>
                      <a:pt x="0" y="41275"/>
                    </a:lnTo>
                  </a:path>
                </a:pathLst>
              </a:custGeom>
              <a:noFill/>
              <a:ln w="20637">
                <a:solidFill>
                  <a:srgbClr val="C03616"/>
                </a:solidFill>
              </a:ln>
            </p:spPr>
          </p:sp>
          <p:sp>
            <p:nvSpPr>
              <p:cNvPr id="19" name="Freeform 19"/>
              <p:cNvSpPr/>
              <p:nvPr/>
            </p:nvSpPr>
            <p:spPr>
              <a:xfrm>
                <a:off x="457909" y="1656303"/>
                <a:ext cx="208123" cy="178805"/>
              </a:xfrm>
              <a:custGeom>
                <a:avLst/>
                <a:gdLst/>
                <a:ahLst/>
                <a:cxnLst/>
                <a:rect l="l" t="t" r="r" b="b"/>
                <a:pathLst>
                  <a:path w="208123" h="178805">
                    <a:moveTo>
                      <a:pt x="87174" y="9526"/>
                    </a:moveTo>
                    <a:lnTo>
                      <a:pt x="3530" y="149180"/>
                    </a:lnTo>
                    <a:cubicBezTo>
                      <a:pt x="21" y="155256"/>
                      <a:pt x="0" y="162738"/>
                      <a:pt x="3474" y="168834"/>
                    </a:cubicBezTo>
                    <a:cubicBezTo>
                      <a:pt x="6948" y="174931"/>
                      <a:pt x="13395" y="178726"/>
                      <a:pt x="20412" y="178805"/>
                    </a:cubicBezTo>
                    <a:lnTo>
                      <a:pt x="187719" y="178805"/>
                    </a:lnTo>
                    <a:cubicBezTo>
                      <a:pt x="194732" y="178724"/>
                      <a:pt x="201176" y="174930"/>
                      <a:pt x="204650" y="168837"/>
                    </a:cubicBezTo>
                    <a:cubicBezTo>
                      <a:pt x="208123" y="162744"/>
                      <a:pt x="208104" y="155266"/>
                      <a:pt x="204601" y="149190"/>
                    </a:cubicBezTo>
                    <a:lnTo>
                      <a:pt x="120957" y="9516"/>
                    </a:lnTo>
                    <a:cubicBezTo>
                      <a:pt x="117378" y="3609"/>
                      <a:pt x="110973" y="0"/>
                      <a:pt x="104065" y="0"/>
                    </a:cubicBezTo>
                    <a:cubicBezTo>
                      <a:pt x="97158" y="0"/>
                      <a:pt x="90753" y="3609"/>
                      <a:pt x="87174" y="9516"/>
                    </a:cubicBezTo>
                  </a:path>
                </a:pathLst>
              </a:custGeom>
              <a:noFill/>
              <a:ln w="20637">
                <a:solidFill>
                  <a:srgbClr val="C03616"/>
                </a:solidFill>
              </a:ln>
            </p:spPr>
          </p:sp>
          <p:sp>
            <p:nvSpPr>
              <p:cNvPr id="20" name="Freeform 20"/>
              <p:cNvSpPr/>
              <p:nvPr/>
            </p:nvSpPr>
            <p:spPr>
              <a:xfrm>
                <a:off x="561975" y="1793874"/>
                <a:ext cx="9525" cy="9525"/>
              </a:xfrm>
              <a:custGeom>
                <a:avLst/>
                <a:gdLst/>
                <a:ahLst/>
                <a:cxnLst/>
                <a:rect l="l" t="t" r="r" b="b"/>
                <a:pathLst>
                  <a:path w="9525" h="9525">
                    <a:moveTo>
                      <a:pt x="0" y="0"/>
                    </a:moveTo>
                    <a:lnTo>
                      <a:pt x="103" y="0"/>
                    </a:lnTo>
                  </a:path>
                </a:pathLst>
              </a:custGeom>
              <a:noFill/>
              <a:ln w="20637">
                <a:solidFill>
                  <a:srgbClr val="C03616"/>
                </a:solidFill>
              </a:ln>
            </p:spPr>
          </p:sp>
        </p:grpSp>
        <p:sp>
          <p:nvSpPr>
            <p:cNvPr id="22" name="TextBox 22"/>
            <p:cNvSpPr txBox="1"/>
            <p:nvPr/>
          </p:nvSpPr>
          <p:spPr>
            <a:xfrm>
              <a:off x="776288" y="1617345"/>
              <a:ext cx="1781746" cy="347662"/>
            </a:xfrm>
            <a:prstGeom prst="rect">
              <a:avLst/>
            </a:prstGeom>
            <a:noFill/>
            <a:ln>
              <a:noFill/>
            </a:ln>
          </p:spPr>
          <p:txBody>
            <a:bodyPr wrap="none" lIns="0" tIns="0" rIns="0" bIns="0" anchor="t" anchorCtr="0">
              <a:spAutoFit/>
            </a:bodyPr>
            <a:lstStyle/>
            <a:p>
              <a:pPr algn="l">
                <a:lnSpc>
                  <a:spcPts val="1350"/>
                </a:lnSpc>
              </a:pPr>
              <a:r>
                <a:rPr lang="zh-CN" sz="900" b="1" dirty="0">
                  <a:solidFill>
                    <a:srgbClr val="461910"/>
                  </a:solidFill>
                  <a:latin typeface="+mn-lt"/>
                  <a:ea typeface="+mn-ea"/>
                  <a:cs typeface="+mn-cs"/>
                </a:rPr>
                <a:t xml:space="preserve">毛利红线：硬件≥20%，      </a:t>
              </a:r>
              <a:br/>
              <a:r>
                <a:rPr lang="zh-CN" sz="900" b="1" dirty="0">
                  <a:solidFill>
                    <a:srgbClr val="461910"/>
                  </a:solidFill>
                  <a:latin typeface="+mn-lt"/>
                  <a:ea typeface="+mn-ea"/>
                  <a:cs typeface="+mn-cs"/>
                </a:rPr>
                <a:t xml:space="preserve">软件≥30%，解决方案≥25%      </a:t>
              </a:r>
            </a:p>
          </p:txBody>
        </p:sp>
        <p:sp>
          <p:nvSpPr>
            <p:cNvPr id="23" name="Rectangle 23"/>
            <p:cNvSpPr/>
            <p:nvPr/>
          </p:nvSpPr>
          <p:spPr>
            <a:xfrm>
              <a:off x="342900" y="2076450"/>
              <a:ext cx="3581400" cy="190500"/>
            </a:xfrm>
            <a:prstGeom prst="rect">
              <a:avLst/>
            </a:prstGeom>
            <a:solidFill>
              <a:srgbClr val="721E0D"/>
            </a:solidFill>
            <a:ln>
              <a:noFill/>
            </a:ln>
          </p:spPr>
        </p:sp>
        <p:sp>
          <p:nvSpPr>
            <p:cNvPr id="24" name="TextBox 24"/>
            <p:cNvSpPr txBox="1"/>
            <p:nvPr/>
          </p:nvSpPr>
          <p:spPr>
            <a:xfrm>
              <a:off x="1330453" y="2120741"/>
              <a:ext cx="160629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 xml:space="preserve">   毛利红线（含税毛利率）   </a:t>
              </a:r>
            </a:p>
          </p:txBody>
        </p:sp>
        <p:sp>
          <p:nvSpPr>
            <p:cNvPr id="25" name="Rectangle 25"/>
            <p:cNvSpPr/>
            <p:nvPr/>
          </p:nvSpPr>
          <p:spPr>
            <a:xfrm>
              <a:off x="342900" y="2266950"/>
              <a:ext cx="3581400" cy="190500"/>
            </a:xfrm>
            <a:prstGeom prst="rect">
              <a:avLst/>
            </a:prstGeom>
            <a:solidFill>
              <a:srgbClr val="EAF1FB"/>
            </a:solidFill>
            <a:ln>
              <a:noFill/>
            </a:ln>
          </p:spPr>
        </p:sp>
        <p:sp>
          <p:nvSpPr>
            <p:cNvPr id="26" name="TextBox 26"/>
            <p:cNvSpPr txBox="1"/>
            <p:nvPr/>
          </p:nvSpPr>
          <p:spPr>
            <a:xfrm>
              <a:off x="688658" y="2319338"/>
              <a:ext cx="413385" cy="147638"/>
            </a:xfrm>
            <a:prstGeom prst="rect">
              <a:avLst/>
            </a:prstGeom>
            <a:noFill/>
            <a:ln>
              <a:noFill/>
            </a:ln>
          </p:spPr>
          <p:txBody>
            <a:bodyPr wrap="none" lIns="0" tIns="0" rIns="0" bIns="0" anchor="t" anchorCtr="0">
              <a:spAutoFit/>
            </a:bodyPr>
            <a:lstStyle/>
            <a:p>
              <a:pPr algn="ctr"/>
              <a:r>
                <a:rPr lang="zh-CN" sz="750" b="1" dirty="0">
                  <a:solidFill>
                    <a:srgbClr val="721E0D"/>
                  </a:solidFill>
                  <a:latin typeface="+mn-lt"/>
                  <a:ea typeface="+mn-ea"/>
                  <a:cs typeface="+mn-cs"/>
                </a:rPr>
                <a:t>业务类型</a:t>
              </a:r>
            </a:p>
          </p:txBody>
        </p:sp>
        <p:sp>
          <p:nvSpPr>
            <p:cNvPr id="27" name="TextBox 27"/>
            <p:cNvSpPr txBox="1"/>
            <p:nvPr/>
          </p:nvSpPr>
          <p:spPr>
            <a:xfrm>
              <a:off x="1736408" y="2319338"/>
              <a:ext cx="413385" cy="147638"/>
            </a:xfrm>
            <a:prstGeom prst="rect">
              <a:avLst/>
            </a:prstGeom>
            <a:noFill/>
            <a:ln>
              <a:noFill/>
            </a:ln>
          </p:spPr>
          <p:txBody>
            <a:bodyPr wrap="none" lIns="0" tIns="0" rIns="0" bIns="0" anchor="t" anchorCtr="0">
              <a:spAutoFit/>
            </a:bodyPr>
            <a:lstStyle/>
            <a:p>
              <a:pPr algn="ctr"/>
              <a:r>
                <a:rPr lang="zh-CN" sz="750" b="1" dirty="0">
                  <a:solidFill>
                    <a:srgbClr val="721E0D"/>
                  </a:solidFill>
                  <a:latin typeface="+mn-lt"/>
                  <a:ea typeface="+mn-ea"/>
                  <a:cs typeface="+mn-cs"/>
                </a:rPr>
                <a:t>毛利红线</a:t>
              </a:r>
            </a:p>
          </p:txBody>
        </p:sp>
        <p:sp>
          <p:nvSpPr>
            <p:cNvPr id="28" name="TextBox 28"/>
            <p:cNvSpPr txBox="1"/>
            <p:nvPr/>
          </p:nvSpPr>
          <p:spPr>
            <a:xfrm>
              <a:off x="2727960" y="2319338"/>
              <a:ext cx="716280" cy="147638"/>
            </a:xfrm>
            <a:prstGeom prst="rect">
              <a:avLst/>
            </a:prstGeom>
            <a:noFill/>
            <a:ln>
              <a:noFill/>
            </a:ln>
          </p:spPr>
          <p:txBody>
            <a:bodyPr wrap="none" lIns="0" tIns="0" rIns="0" bIns="0" anchor="t" anchorCtr="0">
              <a:spAutoFit/>
            </a:bodyPr>
            <a:lstStyle/>
            <a:p>
              <a:pPr algn="ctr"/>
              <a:r>
                <a:rPr lang="zh-CN" sz="750" b="1" dirty="0">
                  <a:solidFill>
                    <a:srgbClr val="721E0D"/>
                  </a:solidFill>
                  <a:latin typeface="+mn-lt"/>
                  <a:ea typeface="+mn-ea"/>
                  <a:cs typeface="+mn-cs"/>
                </a:rPr>
                <a:t>低于红线的风险</a:t>
              </a:r>
            </a:p>
          </p:txBody>
        </p:sp>
        <p:grpSp>
          <p:nvGrpSpPr>
            <p:cNvPr id="32" name="Group 32"/>
            <p:cNvGrpSpPr/>
            <p:nvPr/>
          </p:nvGrpSpPr>
          <p:grpSpPr>
            <a:xfrm>
              <a:off x="504825" y="2719388"/>
              <a:ext cx="133350" cy="200026"/>
              <a:chOff x="504825" y="2719388"/>
              <a:chExt cx="133350" cy="200026"/>
            </a:xfrm>
          </p:grpSpPr>
          <p:sp>
            <p:nvSpPr>
              <p:cNvPr id="29" name="Freeform 29"/>
              <p:cNvSpPr/>
              <p:nvPr/>
            </p:nvSpPr>
            <p:spPr>
              <a:xfrm>
                <a:off x="504825" y="2719388"/>
                <a:ext cx="133350" cy="200026"/>
              </a:xfrm>
              <a:custGeom>
                <a:avLst/>
                <a:gdLst/>
                <a:ahLst/>
                <a:cxnLst/>
                <a:rect l="l" t="t" r="r" b="b"/>
                <a:pathLst>
                  <a:path w="133350" h="200026">
                    <a:moveTo>
                      <a:pt x="0" y="22225"/>
                    </a:moveTo>
                    <a:cubicBezTo>
                      <a:pt x="0" y="9950"/>
                      <a:pt x="9950" y="0"/>
                      <a:pt x="22225" y="0"/>
                    </a:cubicBezTo>
                    <a:lnTo>
                      <a:pt x="111125" y="0"/>
                    </a:lnTo>
                    <a:cubicBezTo>
                      <a:pt x="123400" y="0"/>
                      <a:pt x="133350" y="9950"/>
                      <a:pt x="133350" y="22225"/>
                    </a:cubicBezTo>
                    <a:lnTo>
                      <a:pt x="133350" y="177801"/>
                    </a:lnTo>
                    <a:cubicBezTo>
                      <a:pt x="133350" y="190075"/>
                      <a:pt x="123400" y="200026"/>
                      <a:pt x="111125" y="200026"/>
                    </a:cubicBezTo>
                    <a:lnTo>
                      <a:pt x="22225" y="200026"/>
                    </a:lnTo>
                    <a:cubicBezTo>
                      <a:pt x="9950" y="200026"/>
                      <a:pt x="0" y="190075"/>
                      <a:pt x="0" y="177801"/>
                    </a:cubicBezTo>
                    <a:lnTo>
                      <a:pt x="0" y="22225"/>
                    </a:lnTo>
                  </a:path>
                </a:pathLst>
              </a:custGeom>
              <a:noFill/>
              <a:ln w="22225">
                <a:solidFill>
                  <a:srgbClr val="721E0D"/>
                </a:solidFill>
              </a:ln>
            </p:spPr>
          </p:sp>
          <p:sp>
            <p:nvSpPr>
              <p:cNvPr id="30" name="Freeform 30"/>
              <p:cNvSpPr/>
              <p:nvPr/>
            </p:nvSpPr>
            <p:spPr>
              <a:xfrm>
                <a:off x="560388" y="2730500"/>
                <a:ext cx="22225" cy="9525"/>
              </a:xfrm>
              <a:custGeom>
                <a:avLst/>
                <a:gdLst/>
                <a:ahLst/>
                <a:cxnLst/>
                <a:rect l="l" t="t" r="r" b="b"/>
                <a:pathLst>
                  <a:path w="22225" h="9525">
                    <a:moveTo>
                      <a:pt x="0" y="0"/>
                    </a:moveTo>
                    <a:lnTo>
                      <a:pt x="22225" y="0"/>
                    </a:lnTo>
                  </a:path>
                </a:pathLst>
              </a:custGeom>
              <a:noFill/>
              <a:ln w="22225">
                <a:solidFill>
                  <a:srgbClr val="721E0D"/>
                </a:solidFill>
              </a:ln>
            </p:spPr>
          </p:sp>
          <p:sp>
            <p:nvSpPr>
              <p:cNvPr id="31" name="Freeform 31"/>
              <p:cNvSpPr/>
              <p:nvPr/>
            </p:nvSpPr>
            <p:spPr>
              <a:xfrm>
                <a:off x="571500" y="2874963"/>
                <a:ext cx="9525" cy="9525"/>
              </a:xfrm>
              <a:custGeom>
                <a:avLst/>
                <a:gdLst/>
                <a:ahLst/>
                <a:cxnLst/>
                <a:rect l="l" t="t" r="r" b="b"/>
                <a:pathLst>
                  <a:path w="9525" h="9525">
                    <a:moveTo>
                      <a:pt x="0" y="0"/>
                    </a:moveTo>
                    <a:lnTo>
                      <a:pt x="0" y="111"/>
                    </a:lnTo>
                  </a:path>
                </a:pathLst>
              </a:custGeom>
              <a:noFill/>
              <a:ln w="22225">
                <a:solidFill>
                  <a:srgbClr val="721E0D"/>
                </a:solidFill>
              </a:ln>
            </p:spPr>
          </p:sp>
        </p:grpSp>
        <p:sp>
          <p:nvSpPr>
            <p:cNvPr id="33" name="TextBox 33"/>
            <p:cNvSpPr txBox="1"/>
            <p:nvPr/>
          </p:nvSpPr>
          <p:spPr>
            <a:xfrm>
              <a:off x="776288" y="2773918"/>
              <a:ext cx="241071" cy="169069"/>
            </a:xfrm>
            <a:prstGeom prst="rect">
              <a:avLst/>
            </a:prstGeom>
            <a:noFill/>
            <a:ln>
              <a:noFill/>
            </a:ln>
          </p:spPr>
          <p:txBody>
            <a:bodyPr wrap="none" lIns="0" tIns="0" rIns="0" bIns="0" anchor="t" anchorCtr="0">
              <a:spAutoFit/>
            </a:bodyPr>
            <a:lstStyle/>
            <a:p>
              <a:pPr algn="l"/>
              <a:r>
                <a:rPr lang="zh-CN" sz="860" b="1" dirty="0">
                  <a:solidFill>
                    <a:srgbClr val="461910"/>
                  </a:solidFill>
                  <a:latin typeface="+mn-lt"/>
                  <a:ea typeface="+mn-ea"/>
                  <a:cs typeface="+mn-cs"/>
                </a:rPr>
                <a:t>硬件</a:t>
              </a:r>
            </a:p>
          </p:txBody>
        </p:sp>
        <p:sp>
          <p:nvSpPr>
            <p:cNvPr id="34" name="TextBox 34"/>
            <p:cNvSpPr txBox="1"/>
            <p:nvPr/>
          </p:nvSpPr>
          <p:spPr>
            <a:xfrm>
              <a:off x="1421429" y="2725579"/>
              <a:ext cx="1043341" cy="308039"/>
            </a:xfrm>
            <a:prstGeom prst="rect">
              <a:avLst/>
            </a:prstGeom>
            <a:noFill/>
            <a:ln>
              <a:noFill/>
            </a:ln>
          </p:spPr>
          <p:txBody>
            <a:bodyPr wrap="none" lIns="0" tIns="0" rIns="0" bIns="0" anchor="t" anchorCtr="0">
              <a:spAutoFit/>
            </a:bodyPr>
            <a:lstStyle/>
            <a:p>
              <a:pPr algn="ctr"/>
              <a:r>
                <a:rPr lang="zh-CN" sz="1580" b="1" dirty="0">
                  <a:solidFill>
                    <a:srgbClr val="C03616"/>
                  </a:solidFill>
                  <a:latin typeface="+mn-lt"/>
                  <a:ea typeface="+mn-ea"/>
                  <a:cs typeface="+mn-cs"/>
                </a:rPr>
                <a:t xml:space="preserve">  ≥20%  </a:t>
              </a:r>
            </a:p>
          </p:txBody>
        </p:sp>
        <p:sp>
          <p:nvSpPr>
            <p:cNvPr id="35" name="TextBox 35"/>
            <p:cNvSpPr txBox="1"/>
            <p:nvPr/>
          </p:nvSpPr>
          <p:spPr>
            <a:xfrm>
              <a:off x="2509838" y="2647236"/>
              <a:ext cx="627190" cy="445294"/>
            </a:xfrm>
            <a:prstGeom prst="rect">
              <a:avLst/>
            </a:prstGeom>
            <a:noFill/>
            <a:ln>
              <a:noFill/>
            </a:ln>
          </p:spPr>
          <p:txBody>
            <a:bodyPr wrap="none" lIns="0" tIns="0" rIns="0" bIns="0" anchor="t" anchorCtr="0">
              <a:spAutoFit/>
            </a:bodyPr>
            <a:lstStyle/>
            <a:p>
              <a:pPr algn="l" marL="76644" indent="-76644">
                <a:lnSpc>
                  <a:spcPts val="1200"/>
                </a:lnSpc>
                <a:buClr>
                  <a:srgbClr val="523E3A"/>
                </a:buClr>
                <a:buSzTx/>
                <a:buFontTx/>
                <a:buChar char="•"/>
              </a:pPr>
              <a:r>
                <a:rPr lang="zh-CN" sz="710" dirty="0">
                  <a:solidFill>
                    <a:srgbClr val="523E3A"/>
                  </a:solidFill>
                  <a:latin typeface="+mn-lt"/>
                  <a:ea typeface="+mn-ea"/>
                  <a:cs typeface="+mn-cs"/>
                </a:rPr>
                <a:t>价格战内卷</a:t>
              </a:r>
            </a:p>
            <a:p>
              <a:pPr algn="l" marL="76644" indent="-76644">
                <a:lnSpc>
                  <a:spcPts val="1200"/>
                </a:lnSpc>
                <a:buClr>
                  <a:srgbClr val="523E3A"/>
                </a:buClr>
                <a:buSzTx/>
                <a:buFontTx/>
                <a:buChar char="•"/>
              </a:pPr>
              <a:r>
                <a:rPr lang="zh-CN" sz="710" dirty="0">
                  <a:solidFill>
                    <a:srgbClr val="523E3A"/>
                  </a:solidFill>
                  <a:latin typeface="+mn-lt"/>
                  <a:ea typeface="+mn-ea"/>
                  <a:cs typeface="+mn-cs"/>
                </a:rPr>
                <a:t>现金流压力大</a:t>
              </a:r>
            </a:p>
            <a:p>
              <a:pPr algn="l" marL="76644" indent="-76644">
                <a:lnSpc>
                  <a:spcPts val="1200"/>
                </a:lnSpc>
                <a:buClr>
                  <a:srgbClr val="523E3A"/>
                </a:buClr>
                <a:buSzTx/>
                <a:buFontTx/>
                <a:buChar char="•"/>
              </a:pPr>
              <a:r>
                <a:rPr lang="zh-CN" sz="710" dirty="0">
                  <a:solidFill>
                    <a:srgbClr val="523E3A"/>
                  </a:solidFill>
                  <a:latin typeface="+mn-lt"/>
                  <a:ea typeface="+mn-ea"/>
                  <a:cs typeface="+mn-cs"/>
                </a:rPr>
                <a:t>无法持续服务</a:t>
              </a:r>
            </a:p>
          </p:txBody>
        </p:sp>
        <p:sp>
          <p:nvSpPr>
            <p:cNvPr id="36" name="Line 36"/>
            <p:cNvSpPr/>
            <p:nvPr/>
          </p:nvSpPr>
          <p:spPr>
            <a:xfrm>
              <a:off x="342900" y="3181350"/>
              <a:ext cx="3581400" cy="9525"/>
            </a:xfrm>
            <a:custGeom>
              <a:avLst/>
              <a:gdLst/>
              <a:ahLst/>
              <a:cxnLst/>
              <a:rect l="l" t="t" r="r" b="b"/>
              <a:pathLst>
                <a:path w="3581400" h="9525">
                  <a:moveTo>
                    <a:pt x="0" y="0"/>
                  </a:moveTo>
                  <a:lnTo>
                    <a:pt x="3581400" y="0"/>
                  </a:lnTo>
                </a:path>
              </a:pathLst>
            </a:custGeom>
            <a:noFill/>
            <a:ln w="9525">
              <a:solidFill>
                <a:srgbClr val="E6EAF2"/>
              </a:solidFill>
            </a:ln>
          </p:spPr>
        </p:sp>
        <p:grpSp>
          <p:nvGrpSpPr>
            <p:cNvPr id="39" name="Group 39"/>
            <p:cNvGrpSpPr/>
            <p:nvPr/>
          </p:nvGrpSpPr>
          <p:grpSpPr>
            <a:xfrm>
              <a:off x="466609" y="3438409"/>
              <a:ext cx="209782" cy="209782"/>
              <a:chOff x="466609" y="3438409"/>
              <a:chExt cx="209782" cy="209782"/>
            </a:xfrm>
          </p:grpSpPr>
          <p:sp>
            <p:nvSpPr>
              <p:cNvPr id="37" name="Freeform 37"/>
              <p:cNvSpPr/>
              <p:nvPr/>
            </p:nvSpPr>
            <p:spPr>
              <a:xfrm>
                <a:off x="466609" y="3438409"/>
                <a:ext cx="209782" cy="209782"/>
              </a:xfrm>
              <a:custGeom>
                <a:avLst/>
                <a:gdLst/>
                <a:ahLst/>
                <a:cxnLst/>
                <a:rect l="l" t="t" r="r" b="b"/>
                <a:pathLst>
                  <a:path w="209782" h="209782">
                    <a:moveTo>
                      <a:pt x="86278" y="19514"/>
                    </a:moveTo>
                    <a:cubicBezTo>
                      <a:pt x="91012" y="0"/>
                      <a:pt x="118771" y="0"/>
                      <a:pt x="123505" y="19514"/>
                    </a:cubicBezTo>
                    <a:cubicBezTo>
                      <a:pt x="124945" y="25459"/>
                      <a:pt x="129139" y="30360"/>
                      <a:pt x="134791" y="32701"/>
                    </a:cubicBezTo>
                    <a:cubicBezTo>
                      <a:pt x="140443" y="35043"/>
                      <a:pt x="146874" y="34544"/>
                      <a:pt x="152097" y="31360"/>
                    </a:cubicBezTo>
                    <a:cubicBezTo>
                      <a:pt x="169244" y="20914"/>
                      <a:pt x="188880" y="40539"/>
                      <a:pt x="178434" y="57696"/>
                    </a:cubicBezTo>
                    <a:cubicBezTo>
                      <a:pt x="175254" y="62918"/>
                      <a:pt x="174756" y="69343"/>
                      <a:pt x="177095" y="74992"/>
                    </a:cubicBezTo>
                    <a:cubicBezTo>
                      <a:pt x="179434" y="80640"/>
                      <a:pt x="184328" y="84833"/>
                      <a:pt x="190269" y="86278"/>
                    </a:cubicBezTo>
                    <a:cubicBezTo>
                      <a:pt x="209782" y="91012"/>
                      <a:pt x="209782" y="118771"/>
                      <a:pt x="190269" y="123505"/>
                    </a:cubicBezTo>
                    <a:cubicBezTo>
                      <a:pt x="184323" y="124945"/>
                      <a:pt x="179423" y="129139"/>
                      <a:pt x="177081" y="134791"/>
                    </a:cubicBezTo>
                    <a:cubicBezTo>
                      <a:pt x="174739" y="140443"/>
                      <a:pt x="175238" y="146874"/>
                      <a:pt x="178423" y="152097"/>
                    </a:cubicBezTo>
                    <a:cubicBezTo>
                      <a:pt x="188869" y="169244"/>
                      <a:pt x="169244" y="188880"/>
                      <a:pt x="152086" y="178434"/>
                    </a:cubicBezTo>
                    <a:cubicBezTo>
                      <a:pt x="146865" y="175254"/>
                      <a:pt x="140439" y="174756"/>
                      <a:pt x="134791" y="177095"/>
                    </a:cubicBezTo>
                    <a:cubicBezTo>
                      <a:pt x="129142" y="179434"/>
                      <a:pt x="124949" y="184328"/>
                      <a:pt x="123505" y="190269"/>
                    </a:cubicBezTo>
                    <a:cubicBezTo>
                      <a:pt x="118771" y="209782"/>
                      <a:pt x="91012" y="209782"/>
                      <a:pt x="86278" y="190269"/>
                    </a:cubicBezTo>
                    <a:cubicBezTo>
                      <a:pt x="84837" y="184323"/>
                      <a:pt x="80643" y="179423"/>
                      <a:pt x="74991" y="177081"/>
                    </a:cubicBezTo>
                    <a:cubicBezTo>
                      <a:pt x="69339" y="174739"/>
                      <a:pt x="62909" y="175238"/>
                      <a:pt x="57685" y="178423"/>
                    </a:cubicBezTo>
                    <a:cubicBezTo>
                      <a:pt x="40539" y="188869"/>
                      <a:pt x="20903" y="169244"/>
                      <a:pt x="31348" y="152086"/>
                    </a:cubicBezTo>
                    <a:cubicBezTo>
                      <a:pt x="34529" y="146865"/>
                      <a:pt x="35026" y="140439"/>
                      <a:pt x="32687" y="134791"/>
                    </a:cubicBezTo>
                    <a:cubicBezTo>
                      <a:pt x="30348" y="129142"/>
                      <a:pt x="25454" y="124949"/>
                      <a:pt x="19514" y="123505"/>
                    </a:cubicBezTo>
                    <a:cubicBezTo>
                      <a:pt x="0" y="118771"/>
                      <a:pt x="0" y="91012"/>
                      <a:pt x="19514" y="86278"/>
                    </a:cubicBezTo>
                    <a:cubicBezTo>
                      <a:pt x="25459" y="84837"/>
                      <a:pt x="30360" y="80643"/>
                      <a:pt x="32701" y="74991"/>
                    </a:cubicBezTo>
                    <a:cubicBezTo>
                      <a:pt x="35043" y="69339"/>
                      <a:pt x="34544" y="62909"/>
                      <a:pt x="31360" y="57685"/>
                    </a:cubicBezTo>
                    <a:cubicBezTo>
                      <a:pt x="20914" y="40539"/>
                      <a:pt x="40539" y="20903"/>
                      <a:pt x="57696" y="31348"/>
                    </a:cubicBezTo>
                    <a:cubicBezTo>
                      <a:pt x="68809" y="38105"/>
                      <a:pt x="83211" y="32126"/>
                      <a:pt x="86278" y="19514"/>
                    </a:cubicBezTo>
                  </a:path>
                </a:pathLst>
              </a:custGeom>
              <a:noFill/>
              <a:ln w="22225">
                <a:solidFill>
                  <a:srgbClr val="721E0D"/>
                </a:solidFill>
              </a:ln>
            </p:spPr>
          </p:sp>
          <p:sp>
            <p:nvSpPr>
              <p:cNvPr id="38" name="Freeform 38"/>
              <p:cNvSpPr/>
              <p:nvPr/>
            </p:nvSpPr>
            <p:spPr>
              <a:xfrm>
                <a:off x="538163" y="3509963"/>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22225">
                <a:solidFill>
                  <a:srgbClr val="721E0D"/>
                </a:solidFill>
              </a:ln>
            </p:spPr>
          </p:sp>
        </p:grpSp>
        <p:sp>
          <p:nvSpPr>
            <p:cNvPr id="40" name="TextBox 40"/>
            <p:cNvSpPr txBox="1"/>
            <p:nvPr/>
          </p:nvSpPr>
          <p:spPr>
            <a:xfrm>
              <a:off x="776288" y="3497818"/>
              <a:ext cx="241071" cy="169069"/>
            </a:xfrm>
            <a:prstGeom prst="rect">
              <a:avLst/>
            </a:prstGeom>
            <a:noFill/>
            <a:ln>
              <a:noFill/>
            </a:ln>
          </p:spPr>
          <p:txBody>
            <a:bodyPr wrap="none" lIns="0" tIns="0" rIns="0" bIns="0" anchor="t" anchorCtr="0">
              <a:spAutoFit/>
            </a:bodyPr>
            <a:lstStyle/>
            <a:p>
              <a:pPr algn="l"/>
              <a:r>
                <a:rPr lang="zh-CN" sz="860" b="1" dirty="0">
                  <a:solidFill>
                    <a:srgbClr val="461910"/>
                  </a:solidFill>
                  <a:latin typeface="+mn-lt"/>
                  <a:ea typeface="+mn-ea"/>
                  <a:cs typeface="+mn-cs"/>
                </a:rPr>
                <a:t>软件</a:t>
              </a:r>
            </a:p>
          </p:txBody>
        </p:sp>
        <p:sp>
          <p:nvSpPr>
            <p:cNvPr id="41" name="TextBox 41"/>
            <p:cNvSpPr txBox="1"/>
            <p:nvPr/>
          </p:nvSpPr>
          <p:spPr>
            <a:xfrm>
              <a:off x="1421429" y="3449479"/>
              <a:ext cx="1043341" cy="308039"/>
            </a:xfrm>
            <a:prstGeom prst="rect">
              <a:avLst/>
            </a:prstGeom>
            <a:noFill/>
            <a:ln>
              <a:noFill/>
            </a:ln>
          </p:spPr>
          <p:txBody>
            <a:bodyPr wrap="none" lIns="0" tIns="0" rIns="0" bIns="0" anchor="t" anchorCtr="0">
              <a:spAutoFit/>
            </a:bodyPr>
            <a:lstStyle/>
            <a:p>
              <a:pPr algn="ctr"/>
              <a:r>
                <a:rPr lang="zh-CN" sz="1580" b="1" dirty="0">
                  <a:solidFill>
                    <a:srgbClr val="C03616"/>
                  </a:solidFill>
                  <a:latin typeface="+mn-lt"/>
                  <a:ea typeface="+mn-ea"/>
                  <a:cs typeface="+mn-cs"/>
                </a:rPr>
                <a:t xml:space="preserve">  ≥30%  </a:t>
              </a:r>
            </a:p>
          </p:txBody>
        </p:sp>
        <p:sp>
          <p:nvSpPr>
            <p:cNvPr id="42" name="TextBox 42"/>
            <p:cNvSpPr txBox="1"/>
            <p:nvPr/>
          </p:nvSpPr>
          <p:spPr>
            <a:xfrm>
              <a:off x="2509838" y="3371136"/>
              <a:ext cx="717360" cy="445294"/>
            </a:xfrm>
            <a:prstGeom prst="rect">
              <a:avLst/>
            </a:prstGeom>
            <a:noFill/>
            <a:ln>
              <a:noFill/>
            </a:ln>
          </p:spPr>
          <p:txBody>
            <a:bodyPr wrap="none" lIns="0" tIns="0" rIns="0" bIns="0" anchor="t" anchorCtr="0">
              <a:spAutoFit/>
            </a:bodyPr>
            <a:lstStyle/>
            <a:p>
              <a:pPr algn="l" marL="76644" indent="-76644">
                <a:lnSpc>
                  <a:spcPts val="1200"/>
                </a:lnSpc>
                <a:buClr>
                  <a:srgbClr val="523E3A"/>
                </a:buClr>
                <a:buSzTx/>
                <a:buFontTx/>
                <a:buChar char="•"/>
              </a:pPr>
              <a:r>
                <a:rPr lang="zh-CN" sz="710" dirty="0">
                  <a:solidFill>
                    <a:srgbClr val="523E3A"/>
                  </a:solidFill>
                  <a:latin typeface="+mn-lt"/>
                  <a:ea typeface="+mn-ea"/>
                  <a:cs typeface="+mn-cs"/>
                </a:rPr>
                <a:t>研发投入难覆盖</a:t>
              </a:r>
            </a:p>
            <a:p>
              <a:pPr algn="l" marL="76644" indent="-76644">
                <a:lnSpc>
                  <a:spcPts val="1200"/>
                </a:lnSpc>
                <a:buClr>
                  <a:srgbClr val="523E3A"/>
                </a:buClr>
                <a:buSzTx/>
                <a:buFontTx/>
                <a:buChar char="•"/>
              </a:pPr>
              <a:r>
                <a:rPr lang="zh-CN" sz="710" dirty="0">
                  <a:solidFill>
                    <a:srgbClr val="523E3A"/>
                  </a:solidFill>
                  <a:latin typeface="+mn-lt"/>
                  <a:ea typeface="+mn-ea"/>
                  <a:cs typeface="+mn-cs"/>
                </a:rPr>
                <a:t>版本迭代受限</a:t>
              </a:r>
            </a:p>
            <a:p>
              <a:pPr algn="l" marL="76644" indent="-76644">
                <a:lnSpc>
                  <a:spcPts val="1200"/>
                </a:lnSpc>
                <a:buClr>
                  <a:srgbClr val="523E3A"/>
                </a:buClr>
                <a:buSzTx/>
                <a:buFontTx/>
                <a:buChar char="•"/>
              </a:pPr>
              <a:r>
                <a:rPr lang="zh-CN" sz="710" dirty="0">
                  <a:solidFill>
                    <a:srgbClr val="523E3A"/>
                  </a:solidFill>
                  <a:latin typeface="+mn-lt"/>
                  <a:ea typeface="+mn-ea"/>
                  <a:cs typeface="+mn-cs"/>
                </a:rPr>
                <a:t>团队士气受损</a:t>
              </a:r>
            </a:p>
          </p:txBody>
        </p:sp>
        <p:sp>
          <p:nvSpPr>
            <p:cNvPr id="43" name="Line 43"/>
            <p:cNvSpPr/>
            <p:nvPr/>
          </p:nvSpPr>
          <p:spPr>
            <a:xfrm>
              <a:off x="342900" y="3905250"/>
              <a:ext cx="3581400" cy="9525"/>
            </a:xfrm>
            <a:custGeom>
              <a:avLst/>
              <a:gdLst/>
              <a:ahLst/>
              <a:cxnLst/>
              <a:rect l="l" t="t" r="r" b="b"/>
              <a:pathLst>
                <a:path w="3581400" h="9525">
                  <a:moveTo>
                    <a:pt x="0" y="0"/>
                  </a:moveTo>
                  <a:lnTo>
                    <a:pt x="3581400" y="0"/>
                  </a:lnTo>
                </a:path>
              </a:pathLst>
            </a:custGeom>
            <a:noFill/>
            <a:ln w="9525">
              <a:solidFill>
                <a:srgbClr val="E6EAF2"/>
              </a:solidFill>
            </a:ln>
          </p:spPr>
        </p:sp>
        <p:sp>
          <p:nvSpPr>
            <p:cNvPr id="44" name="Freeform 44"/>
            <p:cNvSpPr/>
            <p:nvPr/>
          </p:nvSpPr>
          <p:spPr>
            <a:xfrm>
              <a:off x="471488" y="4167188"/>
              <a:ext cx="200026" cy="200026"/>
            </a:xfrm>
            <a:custGeom>
              <a:avLst/>
              <a:gdLst/>
              <a:ahLst/>
              <a:cxnLst/>
              <a:rect l="l" t="t" r="r" b="b"/>
              <a:pathLst>
                <a:path w="200026" h="200026">
                  <a:moveTo>
                    <a:pt x="11113" y="44450"/>
                  </a:moveTo>
                  <a:lnTo>
                    <a:pt x="44450" y="44450"/>
                  </a:lnTo>
                  <a:cubicBezTo>
                    <a:pt x="50587" y="44450"/>
                    <a:pt x="55563" y="39475"/>
                    <a:pt x="55563" y="33338"/>
                  </a:cubicBezTo>
                  <a:lnTo>
                    <a:pt x="55563" y="22225"/>
                  </a:lnTo>
                  <a:cubicBezTo>
                    <a:pt x="55563" y="9950"/>
                    <a:pt x="65513" y="0"/>
                    <a:pt x="77788" y="0"/>
                  </a:cubicBezTo>
                  <a:cubicBezTo>
                    <a:pt x="90062" y="0"/>
                    <a:pt x="100013" y="9950"/>
                    <a:pt x="100013" y="22225"/>
                  </a:cubicBezTo>
                  <a:lnTo>
                    <a:pt x="100013" y="33338"/>
                  </a:lnTo>
                  <a:cubicBezTo>
                    <a:pt x="100013" y="39475"/>
                    <a:pt x="104988" y="44450"/>
                    <a:pt x="111125" y="44450"/>
                  </a:cubicBezTo>
                  <a:lnTo>
                    <a:pt x="144463" y="44450"/>
                  </a:lnTo>
                  <a:cubicBezTo>
                    <a:pt x="150600" y="44450"/>
                    <a:pt x="155575" y="49425"/>
                    <a:pt x="155575" y="55563"/>
                  </a:cubicBezTo>
                  <a:lnTo>
                    <a:pt x="155575" y="88900"/>
                  </a:lnTo>
                  <a:cubicBezTo>
                    <a:pt x="155575" y="95038"/>
                    <a:pt x="160551" y="100013"/>
                    <a:pt x="166688" y="100013"/>
                  </a:cubicBezTo>
                  <a:lnTo>
                    <a:pt x="177801" y="100013"/>
                  </a:lnTo>
                  <a:cubicBezTo>
                    <a:pt x="190075" y="100013"/>
                    <a:pt x="200026" y="109963"/>
                    <a:pt x="200026" y="122238"/>
                  </a:cubicBezTo>
                  <a:cubicBezTo>
                    <a:pt x="200026" y="134512"/>
                    <a:pt x="190075" y="144463"/>
                    <a:pt x="177801" y="144463"/>
                  </a:cubicBezTo>
                  <a:lnTo>
                    <a:pt x="166688" y="144463"/>
                  </a:lnTo>
                  <a:cubicBezTo>
                    <a:pt x="160551" y="144463"/>
                    <a:pt x="155575" y="149438"/>
                    <a:pt x="155575" y="155575"/>
                  </a:cubicBezTo>
                  <a:lnTo>
                    <a:pt x="155575" y="188913"/>
                  </a:lnTo>
                  <a:cubicBezTo>
                    <a:pt x="155575" y="195050"/>
                    <a:pt x="150600" y="200026"/>
                    <a:pt x="144463" y="200026"/>
                  </a:cubicBezTo>
                  <a:lnTo>
                    <a:pt x="111125" y="200026"/>
                  </a:lnTo>
                  <a:cubicBezTo>
                    <a:pt x="104988" y="200026"/>
                    <a:pt x="100013" y="195050"/>
                    <a:pt x="100013" y="188913"/>
                  </a:cubicBezTo>
                  <a:lnTo>
                    <a:pt x="100013" y="177801"/>
                  </a:lnTo>
                  <a:cubicBezTo>
                    <a:pt x="100013" y="165526"/>
                    <a:pt x="90062" y="155575"/>
                    <a:pt x="77788" y="155575"/>
                  </a:cubicBezTo>
                  <a:cubicBezTo>
                    <a:pt x="65513" y="155575"/>
                    <a:pt x="55563" y="165526"/>
                    <a:pt x="55563" y="177801"/>
                  </a:cubicBezTo>
                  <a:lnTo>
                    <a:pt x="55563" y="188913"/>
                  </a:lnTo>
                  <a:cubicBezTo>
                    <a:pt x="55563" y="195050"/>
                    <a:pt x="50587" y="200026"/>
                    <a:pt x="44450" y="200026"/>
                  </a:cubicBezTo>
                  <a:lnTo>
                    <a:pt x="11113" y="200026"/>
                  </a:lnTo>
                  <a:cubicBezTo>
                    <a:pt x="4975" y="200026"/>
                    <a:pt x="0" y="195050"/>
                    <a:pt x="0" y="188913"/>
                  </a:cubicBezTo>
                  <a:lnTo>
                    <a:pt x="0" y="155575"/>
                  </a:lnTo>
                  <a:cubicBezTo>
                    <a:pt x="0" y="149438"/>
                    <a:pt x="4975" y="144463"/>
                    <a:pt x="11113" y="144463"/>
                  </a:cubicBezTo>
                  <a:lnTo>
                    <a:pt x="22225" y="144463"/>
                  </a:lnTo>
                  <a:cubicBezTo>
                    <a:pt x="34500" y="144463"/>
                    <a:pt x="44450" y="134512"/>
                    <a:pt x="44450" y="122238"/>
                  </a:cubicBezTo>
                  <a:cubicBezTo>
                    <a:pt x="44450" y="109963"/>
                    <a:pt x="34500" y="100013"/>
                    <a:pt x="22225" y="100013"/>
                  </a:cubicBezTo>
                  <a:lnTo>
                    <a:pt x="11113" y="100013"/>
                  </a:lnTo>
                  <a:cubicBezTo>
                    <a:pt x="4975" y="100013"/>
                    <a:pt x="0" y="95038"/>
                    <a:pt x="0" y="88900"/>
                  </a:cubicBezTo>
                  <a:lnTo>
                    <a:pt x="0" y="55563"/>
                  </a:lnTo>
                  <a:cubicBezTo>
                    <a:pt x="0" y="49425"/>
                    <a:pt x="4975" y="44450"/>
                    <a:pt x="11113" y="44450"/>
                  </a:cubicBezTo>
                </a:path>
              </a:pathLst>
            </a:custGeom>
            <a:noFill/>
            <a:ln w="22225">
              <a:solidFill>
                <a:srgbClr val="721E0D"/>
              </a:solidFill>
            </a:ln>
          </p:spPr>
        </p:sp>
        <p:sp>
          <p:nvSpPr>
            <p:cNvPr id="45" name="TextBox 45"/>
            <p:cNvSpPr txBox="1"/>
            <p:nvPr/>
          </p:nvSpPr>
          <p:spPr>
            <a:xfrm>
              <a:off x="776288" y="4221718"/>
              <a:ext cx="472618" cy="169069"/>
            </a:xfrm>
            <a:prstGeom prst="rect">
              <a:avLst/>
            </a:prstGeom>
            <a:noFill/>
            <a:ln>
              <a:noFill/>
            </a:ln>
          </p:spPr>
          <p:txBody>
            <a:bodyPr wrap="none" lIns="0" tIns="0" rIns="0" bIns="0" anchor="t" anchorCtr="0">
              <a:spAutoFit/>
            </a:bodyPr>
            <a:lstStyle/>
            <a:p>
              <a:pPr algn="l"/>
              <a:r>
                <a:rPr lang="zh-CN" sz="860" b="1" dirty="0">
                  <a:solidFill>
                    <a:srgbClr val="461910"/>
                  </a:solidFill>
                  <a:latin typeface="+mn-lt"/>
                  <a:ea typeface="+mn-ea"/>
                  <a:cs typeface="+mn-cs"/>
                </a:rPr>
                <a:t>解决方案</a:t>
              </a:r>
            </a:p>
          </p:txBody>
        </p:sp>
        <p:sp>
          <p:nvSpPr>
            <p:cNvPr id="46" name="TextBox 46"/>
            <p:cNvSpPr txBox="1"/>
            <p:nvPr/>
          </p:nvSpPr>
          <p:spPr>
            <a:xfrm>
              <a:off x="1421429" y="4173379"/>
              <a:ext cx="1043341" cy="308039"/>
            </a:xfrm>
            <a:prstGeom prst="rect">
              <a:avLst/>
            </a:prstGeom>
            <a:noFill/>
            <a:ln>
              <a:noFill/>
            </a:ln>
          </p:spPr>
          <p:txBody>
            <a:bodyPr wrap="none" lIns="0" tIns="0" rIns="0" bIns="0" anchor="t" anchorCtr="0">
              <a:spAutoFit/>
            </a:bodyPr>
            <a:lstStyle/>
            <a:p>
              <a:pPr algn="ctr"/>
              <a:r>
                <a:rPr lang="zh-CN" sz="1580" b="1" dirty="0">
                  <a:solidFill>
                    <a:srgbClr val="C03616"/>
                  </a:solidFill>
                  <a:latin typeface="+mn-lt"/>
                  <a:ea typeface="+mn-ea"/>
                  <a:cs typeface="+mn-cs"/>
                </a:rPr>
                <a:t xml:space="preserve">  ≥25%  </a:t>
              </a:r>
            </a:p>
          </p:txBody>
        </p:sp>
        <p:sp>
          <p:nvSpPr>
            <p:cNvPr id="47" name="TextBox 47"/>
            <p:cNvSpPr txBox="1"/>
            <p:nvPr/>
          </p:nvSpPr>
          <p:spPr>
            <a:xfrm>
              <a:off x="2509838" y="4095036"/>
              <a:ext cx="627190" cy="445294"/>
            </a:xfrm>
            <a:prstGeom prst="rect">
              <a:avLst/>
            </a:prstGeom>
            <a:noFill/>
            <a:ln>
              <a:noFill/>
            </a:ln>
          </p:spPr>
          <p:txBody>
            <a:bodyPr wrap="none" lIns="0" tIns="0" rIns="0" bIns="0" anchor="t" anchorCtr="0">
              <a:spAutoFit/>
            </a:bodyPr>
            <a:lstStyle/>
            <a:p>
              <a:pPr algn="l" marL="76644" indent="-76644">
                <a:lnSpc>
                  <a:spcPts val="1200"/>
                </a:lnSpc>
                <a:buClr>
                  <a:srgbClr val="523E3A"/>
                </a:buClr>
                <a:buSzTx/>
                <a:buFontTx/>
                <a:buChar char="•"/>
              </a:pPr>
              <a:r>
                <a:rPr lang="zh-CN" sz="710" dirty="0">
                  <a:solidFill>
                    <a:srgbClr val="523E3A"/>
                  </a:solidFill>
                  <a:latin typeface="+mn-lt"/>
                  <a:ea typeface="+mn-ea"/>
                  <a:cs typeface="+mn-cs"/>
                </a:rPr>
                <a:t>交付风险高</a:t>
              </a:r>
            </a:p>
            <a:p>
              <a:pPr algn="l" marL="76644" indent="-76644">
                <a:lnSpc>
                  <a:spcPts val="1200"/>
                </a:lnSpc>
                <a:buClr>
                  <a:srgbClr val="523E3A"/>
                </a:buClr>
                <a:buSzTx/>
                <a:buFontTx/>
                <a:buChar char="•"/>
              </a:pPr>
              <a:r>
                <a:rPr lang="zh-CN" sz="710" dirty="0">
                  <a:solidFill>
                    <a:srgbClr val="523E3A"/>
                  </a:solidFill>
                  <a:latin typeface="+mn-lt"/>
                  <a:ea typeface="+mn-ea"/>
                  <a:cs typeface="+mn-cs"/>
                </a:rPr>
                <a:t>变更不可控</a:t>
              </a:r>
            </a:p>
            <a:p>
              <a:pPr algn="l" marL="76644" indent="-76644">
                <a:lnSpc>
                  <a:spcPts val="1200"/>
                </a:lnSpc>
                <a:buClr>
                  <a:srgbClr val="523E3A"/>
                </a:buClr>
                <a:buSzTx/>
                <a:buFontTx/>
                <a:buChar char="•"/>
              </a:pPr>
              <a:r>
                <a:rPr lang="zh-CN" sz="710" dirty="0">
                  <a:solidFill>
                    <a:srgbClr val="523E3A"/>
                  </a:solidFill>
                  <a:latin typeface="+mn-lt"/>
                  <a:ea typeface="+mn-ea"/>
                  <a:cs typeface="+mn-cs"/>
                </a:rPr>
                <a:t>复用价值降低</a:t>
              </a:r>
            </a:p>
          </p:txBody>
        </p:sp>
        <p:sp>
          <p:nvSpPr>
            <p:cNvPr id="48" name="Line 48"/>
            <p:cNvSpPr/>
            <p:nvPr/>
          </p:nvSpPr>
          <p:spPr>
            <a:xfrm>
              <a:off x="342900" y="4629150"/>
              <a:ext cx="3581400" cy="9525"/>
            </a:xfrm>
            <a:custGeom>
              <a:avLst/>
              <a:gdLst/>
              <a:ahLst/>
              <a:cxnLst/>
              <a:rect l="l" t="t" r="r" b="b"/>
              <a:pathLst>
                <a:path w="3581400" h="9525">
                  <a:moveTo>
                    <a:pt x="0" y="0"/>
                  </a:moveTo>
                  <a:lnTo>
                    <a:pt x="3581400" y="0"/>
                  </a:lnTo>
                </a:path>
              </a:pathLst>
            </a:custGeom>
            <a:noFill/>
            <a:ln w="9525">
              <a:solidFill>
                <a:srgbClr val="E6EAF2"/>
              </a:solidFill>
            </a:ln>
          </p:spPr>
        </p:sp>
        <p:sp>
          <p:nvSpPr>
            <p:cNvPr id="49" name="Rectangle 49"/>
            <p:cNvSpPr/>
            <p:nvPr/>
          </p:nvSpPr>
          <p:spPr>
            <a:xfrm>
              <a:off x="342900" y="4762500"/>
              <a:ext cx="3581400" cy="381000"/>
            </a:xfrm>
            <a:prstGeom prst="roundRect">
              <a:avLst>
                <a:gd name="adj" fmla="val 20000"/>
              </a:avLst>
            </a:prstGeom>
            <a:solidFill>
              <a:srgbClr val="FDECEC"/>
            </a:solidFill>
            <a:ln>
              <a:noFill/>
            </a:ln>
          </p:spPr>
        </p:sp>
        <p:grpSp>
          <p:nvGrpSpPr>
            <p:cNvPr id="53" name="Group 53"/>
            <p:cNvGrpSpPr/>
            <p:nvPr/>
          </p:nvGrpSpPr>
          <p:grpSpPr>
            <a:xfrm>
              <a:off x="453349" y="4878925"/>
              <a:ext cx="160095" cy="137543"/>
              <a:chOff x="453349" y="4878925"/>
              <a:chExt cx="160095" cy="137543"/>
            </a:xfrm>
          </p:grpSpPr>
          <p:sp>
            <p:nvSpPr>
              <p:cNvPr id="50" name="Freeform 50"/>
              <p:cNvSpPr/>
              <p:nvPr/>
            </p:nvSpPr>
            <p:spPr>
              <a:xfrm>
                <a:off x="533400" y="4929187"/>
                <a:ext cx="9525" cy="31750"/>
              </a:xfrm>
              <a:custGeom>
                <a:avLst/>
                <a:gdLst/>
                <a:ahLst/>
                <a:cxnLst/>
                <a:rect l="l" t="t" r="r" b="b"/>
                <a:pathLst>
                  <a:path w="9525" h="31750">
                    <a:moveTo>
                      <a:pt x="0" y="0"/>
                    </a:moveTo>
                    <a:lnTo>
                      <a:pt x="0" y="31750"/>
                    </a:lnTo>
                  </a:path>
                </a:pathLst>
              </a:custGeom>
              <a:noFill/>
              <a:ln w="15875">
                <a:solidFill>
                  <a:srgbClr val="C03616"/>
                </a:solidFill>
              </a:ln>
            </p:spPr>
          </p:sp>
          <p:sp>
            <p:nvSpPr>
              <p:cNvPr id="51" name="Freeform 51"/>
              <p:cNvSpPr/>
              <p:nvPr/>
            </p:nvSpPr>
            <p:spPr>
              <a:xfrm>
                <a:off x="453349" y="487892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C03616"/>
                </a:solidFill>
              </a:ln>
            </p:spPr>
          </p:sp>
          <p:sp>
            <p:nvSpPr>
              <p:cNvPr id="52" name="Freeform 52"/>
              <p:cNvSpPr/>
              <p:nvPr/>
            </p:nvSpPr>
            <p:spPr>
              <a:xfrm>
                <a:off x="533400" y="4984750"/>
                <a:ext cx="9525" cy="9525"/>
              </a:xfrm>
              <a:custGeom>
                <a:avLst/>
                <a:gdLst/>
                <a:ahLst/>
                <a:cxnLst/>
                <a:rect l="l" t="t" r="r" b="b"/>
                <a:pathLst>
                  <a:path w="9525" h="9525">
                    <a:moveTo>
                      <a:pt x="0" y="0"/>
                    </a:moveTo>
                    <a:lnTo>
                      <a:pt x="79" y="0"/>
                    </a:lnTo>
                  </a:path>
                </a:pathLst>
              </a:custGeom>
              <a:noFill/>
              <a:ln w="15875">
                <a:solidFill>
                  <a:srgbClr val="C03616"/>
                </a:solidFill>
              </a:ln>
            </p:spPr>
          </p:sp>
        </p:grpSp>
        <p:sp>
          <p:nvSpPr>
            <p:cNvPr id="54" name="TextBox 54"/>
            <p:cNvSpPr txBox="1"/>
            <p:nvPr/>
          </p:nvSpPr>
          <p:spPr>
            <a:xfrm>
              <a:off x="700088" y="4915614"/>
              <a:ext cx="2668270" cy="154781"/>
            </a:xfrm>
            <a:prstGeom prst="rect">
              <a:avLst/>
            </a:prstGeom>
            <a:noFill/>
            <a:ln>
              <a:noFill/>
            </a:ln>
          </p:spPr>
          <p:txBody>
            <a:bodyPr wrap="none" lIns="0" tIns="0" rIns="0" bIns="0" anchor="t" anchorCtr="0">
              <a:spAutoFit/>
            </a:bodyPr>
            <a:lstStyle/>
            <a:p>
              <a:pPr algn="l"/>
              <a:r>
                <a:rPr lang="zh-CN" sz="790" b="1" dirty="0">
                  <a:solidFill>
                    <a:srgbClr val="C03616"/>
                  </a:solidFill>
                  <a:latin typeface="+mn-lt"/>
                  <a:ea typeface="+mn-ea"/>
                  <a:cs typeface="+mn-cs"/>
                </a:rPr>
                <a:t>低于红线的订单，坚决不接；已接的，立即提价或止损！</a:t>
              </a:r>
            </a:p>
          </p:txBody>
        </p:sp>
      </p:grpSp>
      <p:grpSp>
        <p:nvGrpSpPr>
          <p:cNvPr id="123" name="stop-card-2"/>
          <p:cNvGrpSpPr/>
          <p:nvPr/>
        </p:nvGrpSpPr>
        <p:grpSpPr>
          <a:xfrm>
            <a:off x="4191000" y="723900"/>
            <a:ext cx="3810000" cy="4857750"/>
            <a:chOff x="4191000" y="723900"/>
            <a:chExt cx="3810000" cy="4857750"/>
          </a:xfrm>
        </p:grpSpPr>
        <p:sp>
          <p:nvSpPr>
            <p:cNvPr id="56" name="Rectangle 56"/>
            <p:cNvSpPr/>
            <p:nvPr/>
          </p:nvSpPr>
          <p:spPr>
            <a:xfrm>
              <a:off x="4191000" y="723900"/>
              <a:ext cx="3810000" cy="4857750"/>
            </a:xfrm>
            <a:prstGeom prst="roundRect">
              <a:avLst>
                <a:gd name="adj" fmla="val 3000"/>
              </a:avLst>
            </a:prstGeom>
            <a:solidFill>
              <a:srgbClr val="FFFFFF"/>
            </a:solidFill>
            <a:ln w="14288">
              <a:solidFill>
                <a:srgbClr val="C03616"/>
              </a:solidFill>
            </a:ln>
          </p:spPr>
        </p:sp>
        <p:sp>
          <p:nvSpPr>
            <p:cNvPr id="57" name="Freeform 57"/>
            <p:cNvSpPr/>
            <p:nvPr/>
          </p:nvSpPr>
          <p:spPr>
            <a:xfrm>
              <a:off x="4191000" y="723900"/>
              <a:ext cx="3810000" cy="704850"/>
            </a:xfrm>
            <a:custGeom>
              <a:avLst/>
              <a:gdLst/>
              <a:ahLst/>
              <a:cxnLst/>
              <a:rect l="l" t="t" r="r" b="b"/>
              <a:pathLst>
                <a:path w="3810000" h="704850">
                  <a:moveTo>
                    <a:pt x="114300" y="0"/>
                  </a:moveTo>
                  <a:lnTo>
                    <a:pt x="3695700" y="0"/>
                  </a:lnTo>
                  <a:cubicBezTo>
                    <a:pt x="3758826" y="0"/>
                    <a:pt x="3810000" y="51174"/>
                    <a:pt x="3810000" y="114300"/>
                  </a:cubicBezTo>
                  <a:lnTo>
                    <a:pt x="3810000" y="704850"/>
                  </a:lnTo>
                  <a:lnTo>
                    <a:pt x="0" y="704850"/>
                  </a:lnTo>
                  <a:lnTo>
                    <a:pt x="0" y="114300"/>
                  </a:lnTo>
                  <a:cubicBezTo>
                    <a:pt x="0" y="51174"/>
                    <a:pt x="51174" y="0"/>
                    <a:pt x="114300" y="0"/>
                  </a:cubicBezTo>
                  <a:close/>
                </a:path>
              </a:pathLst>
            </a:custGeom>
            <a:solidFill>
              <a:srgbClr val="C03616"/>
            </a:solidFill>
            <a:ln>
              <a:noFill/>
            </a:ln>
          </p:spPr>
        </p:sp>
        <p:sp>
          <p:nvSpPr>
            <p:cNvPr id="58" name="Freeform 58"/>
            <p:cNvSpPr/>
            <p:nvPr/>
          </p:nvSpPr>
          <p:spPr>
            <a:xfrm>
              <a:off x="4305300" y="809625"/>
              <a:ext cx="533400" cy="533400"/>
            </a:xfrm>
            <a:prstGeom prst="octagon">
              <a:avLst/>
            </a:prstGeom>
            <a:solidFill>
              <a:srgbClr val="FFFFFF"/>
            </a:solidFill>
            <a:ln>
              <a:noFill/>
            </a:ln>
          </p:spPr>
        </p:sp>
        <p:grpSp>
          <p:nvGrpSpPr>
            <p:cNvPr id="63" name="Group 63"/>
            <p:cNvGrpSpPr/>
            <p:nvPr/>
          </p:nvGrpSpPr>
          <p:grpSpPr>
            <a:xfrm>
              <a:off x="4676523" y="933450"/>
              <a:ext cx="238377" cy="285755"/>
              <a:chOff x="4676523" y="933450"/>
              <a:chExt cx="238377" cy="285755"/>
            </a:xfrm>
          </p:grpSpPr>
          <p:sp>
            <p:nvSpPr>
              <p:cNvPr id="59" name="Freeform 59"/>
              <p:cNvSpPr/>
              <p:nvPr/>
            </p:nvSpPr>
            <p:spPr>
              <a:xfrm>
                <a:off x="4743450" y="962025"/>
                <a:ext cx="42862" cy="128588"/>
              </a:xfrm>
              <a:custGeom>
                <a:avLst/>
                <a:gdLst/>
                <a:ahLst/>
                <a:cxnLst/>
                <a:rect l="l" t="t" r="r" b="b"/>
                <a:pathLst>
                  <a:path w="42862" h="128588">
                    <a:moveTo>
                      <a:pt x="0" y="128588"/>
                    </a:moveTo>
                    <a:lnTo>
                      <a:pt x="0" y="21431"/>
                    </a:lnTo>
                    <a:cubicBezTo>
                      <a:pt x="0" y="9595"/>
                      <a:pt x="9595" y="0"/>
                      <a:pt x="21431" y="0"/>
                    </a:cubicBezTo>
                    <a:cubicBezTo>
                      <a:pt x="33267" y="0"/>
                      <a:pt x="42862" y="9595"/>
                      <a:pt x="42862" y="21431"/>
                    </a:cubicBezTo>
                    <a:lnTo>
                      <a:pt x="42862" y="114300"/>
                    </a:lnTo>
                  </a:path>
                </a:pathLst>
              </a:custGeom>
              <a:noFill/>
              <a:ln w="28575">
                <a:solidFill>
                  <a:srgbClr val="C03616"/>
                </a:solidFill>
              </a:ln>
            </p:spPr>
          </p:sp>
          <p:sp>
            <p:nvSpPr>
              <p:cNvPr id="60" name="Freeform 60"/>
              <p:cNvSpPr/>
              <p:nvPr/>
            </p:nvSpPr>
            <p:spPr>
              <a:xfrm>
                <a:off x="4786312" y="933450"/>
                <a:ext cx="42862" cy="142875"/>
              </a:xfrm>
              <a:custGeom>
                <a:avLst/>
                <a:gdLst/>
                <a:ahLst/>
                <a:cxnLst/>
                <a:rect l="l" t="t" r="r" b="b"/>
                <a:pathLst>
                  <a:path w="42862" h="142875">
                    <a:moveTo>
                      <a:pt x="0" y="50006"/>
                    </a:moveTo>
                    <a:lnTo>
                      <a:pt x="0" y="21431"/>
                    </a:lnTo>
                    <a:cubicBezTo>
                      <a:pt x="0" y="9595"/>
                      <a:pt x="9595" y="0"/>
                      <a:pt x="21431" y="0"/>
                    </a:cubicBezTo>
                    <a:cubicBezTo>
                      <a:pt x="33267" y="0"/>
                      <a:pt x="42862" y="9595"/>
                      <a:pt x="42862" y="21431"/>
                    </a:cubicBezTo>
                    <a:lnTo>
                      <a:pt x="42862" y="142875"/>
                    </a:lnTo>
                  </a:path>
                </a:pathLst>
              </a:custGeom>
              <a:noFill/>
              <a:ln w="28575">
                <a:solidFill>
                  <a:srgbClr val="C03616"/>
                </a:solidFill>
              </a:ln>
            </p:spPr>
          </p:sp>
          <p:sp>
            <p:nvSpPr>
              <p:cNvPr id="61" name="Freeform 61"/>
              <p:cNvSpPr/>
              <p:nvPr/>
            </p:nvSpPr>
            <p:spPr>
              <a:xfrm>
                <a:off x="4829175" y="962025"/>
                <a:ext cx="42862" cy="114300"/>
              </a:xfrm>
              <a:custGeom>
                <a:avLst/>
                <a:gdLst/>
                <a:ahLst/>
                <a:cxnLst/>
                <a:rect l="l" t="t" r="r" b="b"/>
                <a:pathLst>
                  <a:path w="42862" h="114300">
                    <a:moveTo>
                      <a:pt x="0" y="21431"/>
                    </a:moveTo>
                    <a:cubicBezTo>
                      <a:pt x="0" y="9595"/>
                      <a:pt x="9595" y="0"/>
                      <a:pt x="21431" y="0"/>
                    </a:cubicBezTo>
                    <a:cubicBezTo>
                      <a:pt x="33267" y="0"/>
                      <a:pt x="42862" y="9595"/>
                      <a:pt x="42862" y="21431"/>
                    </a:cubicBezTo>
                    <a:lnTo>
                      <a:pt x="42862" y="114300"/>
                    </a:lnTo>
                  </a:path>
                </a:pathLst>
              </a:custGeom>
              <a:noFill/>
              <a:ln w="28575">
                <a:solidFill>
                  <a:srgbClr val="C03616"/>
                </a:solidFill>
              </a:ln>
            </p:spPr>
          </p:sp>
          <p:sp>
            <p:nvSpPr>
              <p:cNvPr id="62" name="Freeform 62"/>
              <p:cNvSpPr/>
              <p:nvPr/>
            </p:nvSpPr>
            <p:spPr>
              <a:xfrm>
                <a:off x="4676523" y="990600"/>
                <a:ext cx="238377" cy="228605"/>
              </a:xfrm>
              <a:custGeom>
                <a:avLst/>
                <a:gdLst/>
                <a:ahLst/>
                <a:cxnLst/>
                <a:rect l="l" t="t" r="r" b="b"/>
                <a:pathLst>
                  <a:path w="238377" h="228605">
                    <a:moveTo>
                      <a:pt x="195514" y="21431"/>
                    </a:moveTo>
                    <a:cubicBezTo>
                      <a:pt x="195514" y="9595"/>
                      <a:pt x="205109" y="0"/>
                      <a:pt x="216946" y="0"/>
                    </a:cubicBezTo>
                    <a:cubicBezTo>
                      <a:pt x="228782" y="0"/>
                      <a:pt x="238377" y="9595"/>
                      <a:pt x="238377" y="21431"/>
                    </a:cubicBezTo>
                    <a:lnTo>
                      <a:pt x="238377" y="142875"/>
                    </a:lnTo>
                    <a:cubicBezTo>
                      <a:pt x="238377" y="190220"/>
                      <a:pt x="199996" y="228600"/>
                      <a:pt x="152652" y="228600"/>
                    </a:cubicBezTo>
                    <a:lnTo>
                      <a:pt x="124077" y="228600"/>
                    </a:lnTo>
                    <a:lnTo>
                      <a:pt x="127049" y="228600"/>
                    </a:lnTo>
                    <a:cubicBezTo>
                      <a:pt x="98210" y="228605"/>
                      <a:pt x="71301" y="214109"/>
                      <a:pt x="55440" y="190024"/>
                    </a:cubicBezTo>
                    <a:cubicBezTo>
                      <a:pt x="54503" y="188597"/>
                      <a:pt x="53569" y="187169"/>
                      <a:pt x="52639" y="185738"/>
                    </a:cubicBezTo>
                    <a:cubicBezTo>
                      <a:pt x="48182" y="178894"/>
                      <a:pt x="32537" y="151619"/>
                      <a:pt x="5691" y="103899"/>
                    </a:cubicBezTo>
                    <a:cubicBezTo>
                      <a:pt x="0" y="93784"/>
                      <a:pt x="3395" y="80977"/>
                      <a:pt x="13349" y="75009"/>
                    </a:cubicBezTo>
                    <a:cubicBezTo>
                      <a:pt x="23840" y="68715"/>
                      <a:pt x="37268" y="70364"/>
                      <a:pt x="45924" y="79010"/>
                    </a:cubicBezTo>
                    <a:lnTo>
                      <a:pt x="66927" y="100012"/>
                    </a:lnTo>
                  </a:path>
                </a:pathLst>
              </a:custGeom>
              <a:noFill/>
              <a:ln w="28575">
                <a:solidFill>
                  <a:srgbClr val="C03616"/>
                </a:solidFill>
              </a:ln>
            </p:spPr>
          </p:sp>
        </p:grpSp>
        <p:sp>
          <p:nvSpPr>
            <p:cNvPr id="64" name="TextBox 64"/>
            <p:cNvSpPr txBox="1"/>
            <p:nvPr/>
          </p:nvSpPr>
          <p:spPr>
            <a:xfrm>
              <a:off x="5194554" y="88963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停止二：</a:t>
              </a:r>
            </a:p>
          </p:txBody>
        </p:sp>
        <p:sp>
          <p:nvSpPr>
            <p:cNvPr id="65" name="TextBox 65"/>
            <p:cNvSpPr txBox="1"/>
            <p:nvPr/>
          </p:nvSpPr>
          <p:spPr>
            <a:xfrm>
              <a:off x="5194173" y="1138714"/>
              <a:ext cx="225303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售前资源平均分配给所有项目</a:t>
              </a:r>
            </a:p>
          </p:txBody>
        </p:sp>
        <p:sp>
          <p:nvSpPr>
            <p:cNvPr id="66" name="Rectangle 66"/>
            <p:cNvSpPr/>
            <p:nvPr/>
          </p:nvSpPr>
          <p:spPr>
            <a:xfrm>
              <a:off x="4305300" y="1524000"/>
              <a:ext cx="3581400" cy="457200"/>
            </a:xfrm>
            <a:prstGeom prst="roundRect">
              <a:avLst>
                <a:gd name="adj" fmla="val 16667"/>
              </a:avLst>
            </a:prstGeom>
            <a:solidFill>
              <a:srgbClr val="721E0D"/>
            </a:solidFill>
            <a:ln>
              <a:noFill/>
            </a:ln>
          </p:spPr>
        </p:sp>
        <p:grpSp>
          <p:nvGrpSpPr>
            <p:cNvPr id="70" name="Group 70"/>
            <p:cNvGrpSpPr/>
            <p:nvPr/>
          </p:nvGrpSpPr>
          <p:grpSpPr>
            <a:xfrm>
              <a:off x="4431506" y="1659731"/>
              <a:ext cx="185737" cy="185737"/>
              <a:chOff x="4431506" y="1659731"/>
              <a:chExt cx="185737" cy="185737"/>
            </a:xfrm>
          </p:grpSpPr>
          <p:sp>
            <p:nvSpPr>
              <p:cNvPr id="67" name="Freeform 67"/>
              <p:cNvSpPr/>
              <p:nvPr/>
            </p:nvSpPr>
            <p:spPr>
              <a:xfrm>
                <a:off x="4514056" y="1742281"/>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FFFFFF"/>
                </a:solidFill>
              </a:ln>
            </p:spPr>
          </p:sp>
          <p:sp>
            <p:nvSpPr>
              <p:cNvPr id="68" name="Freeform 68"/>
              <p:cNvSpPr/>
              <p:nvPr/>
            </p:nvSpPr>
            <p:spPr>
              <a:xfrm>
                <a:off x="4472781" y="1701006"/>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FFFFFF"/>
                </a:solidFill>
              </a:ln>
            </p:spPr>
          </p:sp>
          <p:sp>
            <p:nvSpPr>
              <p:cNvPr id="69" name="Freeform 69"/>
              <p:cNvSpPr/>
              <p:nvPr/>
            </p:nvSpPr>
            <p:spPr>
              <a:xfrm>
                <a:off x="4431506" y="16597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grpSp>
        <p:sp>
          <p:nvSpPr>
            <p:cNvPr id="71" name="TextBox 71"/>
            <p:cNvSpPr txBox="1"/>
            <p:nvPr/>
          </p:nvSpPr>
          <p:spPr>
            <a:xfrm>
              <a:off x="4738306" y="1690926"/>
              <a:ext cx="2112318"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 xml:space="preserve">70%售前资源聚焦TOP项目      </a:t>
              </a:r>
            </a:p>
          </p:txBody>
        </p:sp>
        <p:sp>
          <p:nvSpPr>
            <p:cNvPr id="72" name="Freeform 72"/>
            <p:cNvSpPr/>
            <p:nvPr/>
          </p:nvSpPr>
          <p:spPr>
            <a:xfrm>
              <a:off x="4648200" y="2324100"/>
              <a:ext cx="1181100" cy="1181100"/>
            </a:xfrm>
            <a:prstGeom prst="blockArc">
              <a:avLst>
                <a:gd name="adj1" fmla="val 16200000"/>
                <a:gd name="adj2" fmla="val 9720000"/>
                <a:gd name="adj3" fmla="val 21000"/>
              </a:avLst>
            </a:prstGeom>
            <a:solidFill>
              <a:srgbClr val="721E0D"/>
            </a:solidFill>
            <a:ln>
              <a:noFill/>
            </a:ln>
          </p:spPr>
        </p:sp>
        <p:sp>
          <p:nvSpPr>
            <p:cNvPr id="73" name="Freeform 73"/>
            <p:cNvSpPr/>
            <p:nvPr/>
          </p:nvSpPr>
          <p:spPr>
            <a:xfrm>
              <a:off x="4648200" y="2324100"/>
              <a:ext cx="1181100" cy="1181100"/>
            </a:xfrm>
            <a:prstGeom prst="blockArc">
              <a:avLst>
                <a:gd name="adj1" fmla="val 9720000"/>
                <a:gd name="adj2" fmla="val 16200000"/>
                <a:gd name="adj3" fmla="val 21000"/>
              </a:avLst>
            </a:prstGeom>
            <a:solidFill>
              <a:srgbClr val="F0C2B9"/>
            </a:solidFill>
            <a:ln>
              <a:noFill/>
            </a:ln>
          </p:spPr>
        </p:sp>
        <p:sp>
          <p:nvSpPr>
            <p:cNvPr id="74" name="TextBox 74"/>
            <p:cNvSpPr txBox="1"/>
            <p:nvPr/>
          </p:nvSpPr>
          <p:spPr>
            <a:xfrm>
              <a:off x="5429536" y="3018949"/>
              <a:ext cx="570928"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 xml:space="preserve">  70%  </a:t>
              </a:r>
            </a:p>
          </p:txBody>
        </p:sp>
        <p:sp>
          <p:nvSpPr>
            <p:cNvPr id="75" name="TextBox 75"/>
            <p:cNvSpPr txBox="1"/>
            <p:nvPr/>
          </p:nvSpPr>
          <p:spPr>
            <a:xfrm>
              <a:off x="4477036" y="2904649"/>
              <a:ext cx="570928"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30%  </a:t>
              </a:r>
            </a:p>
          </p:txBody>
        </p:sp>
        <p:grpSp>
          <p:nvGrpSpPr>
            <p:cNvPr id="80" name="Group 80"/>
            <p:cNvGrpSpPr/>
            <p:nvPr/>
          </p:nvGrpSpPr>
          <p:grpSpPr>
            <a:xfrm>
              <a:off x="5145881" y="2697956"/>
              <a:ext cx="185737" cy="185738"/>
              <a:chOff x="5145881" y="2697956"/>
              <a:chExt cx="185737" cy="185738"/>
            </a:xfrm>
          </p:grpSpPr>
          <p:sp>
            <p:nvSpPr>
              <p:cNvPr id="76" name="Freeform 76"/>
              <p:cNvSpPr/>
              <p:nvPr/>
            </p:nvSpPr>
            <p:spPr>
              <a:xfrm>
                <a:off x="5166519" y="26979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721E0D"/>
                </a:solidFill>
              </a:ln>
            </p:spPr>
          </p:sp>
          <p:sp>
            <p:nvSpPr>
              <p:cNvPr id="77" name="Freeform 77"/>
              <p:cNvSpPr/>
              <p:nvPr/>
            </p:nvSpPr>
            <p:spPr>
              <a:xfrm>
                <a:off x="5145881" y="28217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721E0D"/>
                </a:solidFill>
              </a:ln>
            </p:spPr>
          </p:sp>
          <p:sp>
            <p:nvSpPr>
              <p:cNvPr id="78" name="Freeform 78"/>
              <p:cNvSpPr/>
              <p:nvPr/>
            </p:nvSpPr>
            <p:spPr>
              <a:xfrm>
                <a:off x="5280024" y="26992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721E0D"/>
                </a:solidFill>
              </a:ln>
            </p:spPr>
          </p:sp>
          <p:sp>
            <p:nvSpPr>
              <p:cNvPr id="79" name="Freeform 79"/>
              <p:cNvSpPr/>
              <p:nvPr/>
            </p:nvSpPr>
            <p:spPr>
              <a:xfrm>
                <a:off x="5300662" y="28233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721E0D"/>
                </a:solidFill>
              </a:ln>
            </p:spPr>
          </p:sp>
        </p:grpSp>
        <p:sp>
          <p:nvSpPr>
            <p:cNvPr id="81" name="TextBox 81"/>
            <p:cNvSpPr txBox="1"/>
            <p:nvPr/>
          </p:nvSpPr>
          <p:spPr>
            <a:xfrm>
              <a:off x="5061674" y="29982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售前资源</a:t>
              </a:r>
            </a:p>
          </p:txBody>
        </p:sp>
        <p:sp>
          <p:nvSpPr>
            <p:cNvPr id="82" name="TextBox 82"/>
            <p:cNvSpPr txBox="1"/>
            <p:nvPr/>
          </p:nvSpPr>
          <p:spPr>
            <a:xfrm>
              <a:off x="5061674" y="3112532"/>
              <a:ext cx="354152" cy="126206"/>
            </a:xfrm>
            <a:prstGeom prst="rect">
              <a:avLst/>
            </a:prstGeom>
            <a:noFill/>
            <a:ln>
              <a:noFill/>
            </a:ln>
          </p:spPr>
          <p:txBody>
            <a:bodyPr wrap="none" lIns="0" tIns="0" rIns="0" bIns="0" anchor="t" anchorCtr="0">
              <a:spAutoFit/>
            </a:bodyPr>
            <a:lstStyle/>
            <a:p>
              <a:pPr algn="ctr"/>
              <a:r>
                <a:rPr lang="zh-CN" sz="640" dirty="0">
                  <a:solidFill>
                    <a:srgbClr val="461910"/>
                  </a:solidFill>
                  <a:latin typeface="+mn-lt"/>
                  <a:ea typeface="+mn-ea"/>
                  <a:cs typeface="+mn-cs"/>
                </a:rPr>
                <a:t>投放原则</a:t>
              </a:r>
            </a:p>
          </p:txBody>
        </p:sp>
        <p:sp>
          <p:nvSpPr>
            <p:cNvPr id="83" name="Rectangle 83"/>
            <p:cNvSpPr/>
            <p:nvPr/>
          </p:nvSpPr>
          <p:spPr>
            <a:xfrm>
              <a:off x="6096000" y="2609850"/>
              <a:ext cx="114300" cy="114300"/>
            </a:xfrm>
            <a:prstGeom prst="rect">
              <a:avLst/>
            </a:prstGeom>
            <a:solidFill>
              <a:srgbClr val="721E0D"/>
            </a:solidFill>
            <a:ln>
              <a:noFill/>
            </a:ln>
          </p:spPr>
        </p:sp>
        <p:sp>
          <p:nvSpPr>
            <p:cNvPr id="84" name="TextBox 84"/>
            <p:cNvSpPr txBox="1"/>
            <p:nvPr/>
          </p:nvSpPr>
          <p:spPr>
            <a:xfrm>
              <a:off x="6281738" y="2621518"/>
              <a:ext cx="679268" cy="169069"/>
            </a:xfrm>
            <a:prstGeom prst="rect">
              <a:avLst/>
            </a:prstGeom>
            <a:noFill/>
            <a:ln>
              <a:noFill/>
            </a:ln>
          </p:spPr>
          <p:txBody>
            <a:bodyPr wrap="none" lIns="0" tIns="0" rIns="0" bIns="0" anchor="t" anchorCtr="0">
              <a:spAutoFit/>
            </a:bodyPr>
            <a:lstStyle/>
            <a:p>
              <a:pPr algn="l"/>
              <a:r>
                <a:rPr lang="zh-CN" sz="860" b="1" dirty="0">
                  <a:solidFill>
                    <a:srgbClr val="461910"/>
                  </a:solidFill>
                  <a:latin typeface="+mn-lt"/>
                  <a:ea typeface="+mn-ea"/>
                  <a:cs typeface="+mn-cs"/>
                </a:rPr>
                <a:t xml:space="preserve">TOP项目   </a:t>
              </a:r>
            </a:p>
          </p:txBody>
        </p:sp>
        <p:sp>
          <p:nvSpPr>
            <p:cNvPr id="85" name="TextBox 85"/>
            <p:cNvSpPr txBox="1"/>
            <p:nvPr/>
          </p:nvSpPr>
          <p:spPr>
            <a:xfrm>
              <a:off x="6281738" y="2790111"/>
              <a:ext cx="1142150"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 xml:space="preserve">（高价值/高胜率）      </a:t>
              </a:r>
            </a:p>
          </p:txBody>
        </p:sp>
        <p:sp>
          <p:nvSpPr>
            <p:cNvPr id="86" name="Rectangle 86"/>
            <p:cNvSpPr/>
            <p:nvPr/>
          </p:nvSpPr>
          <p:spPr>
            <a:xfrm>
              <a:off x="6096000" y="3086100"/>
              <a:ext cx="114300" cy="114300"/>
            </a:xfrm>
            <a:prstGeom prst="rect">
              <a:avLst/>
            </a:prstGeom>
            <a:solidFill>
              <a:srgbClr val="F0C2B9"/>
            </a:solidFill>
            <a:ln>
              <a:noFill/>
            </a:ln>
          </p:spPr>
        </p:sp>
        <p:sp>
          <p:nvSpPr>
            <p:cNvPr id="87" name="TextBox 87"/>
            <p:cNvSpPr txBox="1"/>
            <p:nvPr/>
          </p:nvSpPr>
          <p:spPr>
            <a:xfrm>
              <a:off x="6281738" y="3097768"/>
              <a:ext cx="472618" cy="169069"/>
            </a:xfrm>
            <a:prstGeom prst="rect">
              <a:avLst/>
            </a:prstGeom>
            <a:noFill/>
            <a:ln>
              <a:noFill/>
            </a:ln>
          </p:spPr>
          <p:txBody>
            <a:bodyPr wrap="none" lIns="0" tIns="0" rIns="0" bIns="0" anchor="t" anchorCtr="0">
              <a:spAutoFit/>
            </a:bodyPr>
            <a:lstStyle/>
            <a:p>
              <a:pPr algn="l"/>
              <a:r>
                <a:rPr lang="zh-CN" sz="860" b="1" dirty="0">
                  <a:solidFill>
                    <a:srgbClr val="461910"/>
                  </a:solidFill>
                  <a:latin typeface="+mn-lt"/>
                  <a:ea typeface="+mn-ea"/>
                  <a:cs typeface="+mn-cs"/>
                </a:rPr>
                <a:t>其他项目</a:t>
              </a:r>
            </a:p>
          </p:txBody>
        </p:sp>
        <p:sp>
          <p:nvSpPr>
            <p:cNvPr id="88" name="TextBox 88"/>
            <p:cNvSpPr txBox="1"/>
            <p:nvPr/>
          </p:nvSpPr>
          <p:spPr>
            <a:xfrm>
              <a:off x="6281738" y="3266361"/>
              <a:ext cx="1142150" cy="140494"/>
            </a:xfrm>
            <a:prstGeom prst="rect">
              <a:avLst/>
            </a:prstGeom>
            <a:noFill/>
            <a:ln>
              <a:noFill/>
            </a:ln>
          </p:spPr>
          <p:txBody>
            <a:bodyPr wrap="none" lIns="0" tIns="0" rIns="0" bIns="0" anchor="t" anchorCtr="0">
              <a:spAutoFit/>
            </a:bodyPr>
            <a:lstStyle/>
            <a:p>
              <a:pPr algn="l"/>
              <a:r>
                <a:rPr lang="zh-CN" sz="710" dirty="0">
                  <a:solidFill>
                    <a:srgbClr val="523E3A"/>
                  </a:solidFill>
                  <a:latin typeface="+mn-lt"/>
                  <a:ea typeface="+mn-ea"/>
                  <a:cs typeface="+mn-cs"/>
                </a:rPr>
                <a:t xml:space="preserve">（低价值/低胜率）      </a:t>
              </a:r>
            </a:p>
          </p:txBody>
        </p:sp>
        <p:sp>
          <p:nvSpPr>
            <p:cNvPr id="89" name="Rectangle 89"/>
            <p:cNvSpPr/>
            <p:nvPr/>
          </p:nvSpPr>
          <p:spPr>
            <a:xfrm>
              <a:off x="4305300" y="3790950"/>
              <a:ext cx="3581400" cy="742950"/>
            </a:xfrm>
            <a:prstGeom prst="roundRect">
              <a:avLst>
                <a:gd name="adj" fmla="val 10256"/>
              </a:avLst>
            </a:prstGeom>
            <a:solidFill>
              <a:srgbClr val="F5F8FD"/>
            </a:solidFill>
            <a:ln w="9525">
              <a:solidFill>
                <a:srgbClr val="C9D6EE"/>
              </a:solidFill>
            </a:ln>
          </p:spPr>
        </p:sp>
        <p:sp>
          <p:nvSpPr>
            <p:cNvPr id="90" name="Rectangle 90"/>
            <p:cNvSpPr/>
            <p:nvPr/>
          </p:nvSpPr>
          <p:spPr>
            <a:xfrm>
              <a:off x="5753100" y="3695700"/>
              <a:ext cx="685800" cy="171450"/>
            </a:xfrm>
            <a:prstGeom prst="roundRect">
              <a:avLst>
                <a:gd name="adj" fmla="val 50000"/>
              </a:avLst>
            </a:prstGeom>
            <a:solidFill>
              <a:srgbClr val="721E0D"/>
            </a:solidFill>
            <a:ln>
              <a:noFill/>
            </a:ln>
          </p:spPr>
        </p:sp>
        <p:sp>
          <p:nvSpPr>
            <p:cNvPr id="91" name="TextBox 91"/>
            <p:cNvSpPr txBox="1"/>
            <p:nvPr/>
          </p:nvSpPr>
          <p:spPr>
            <a:xfrm>
              <a:off x="5900077" y="3742611"/>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聚焦标准</a:t>
              </a:r>
            </a:p>
          </p:txBody>
        </p:sp>
        <p:grpSp>
          <p:nvGrpSpPr>
            <p:cNvPr id="94" name="Group 94"/>
            <p:cNvGrpSpPr/>
            <p:nvPr/>
          </p:nvGrpSpPr>
          <p:grpSpPr>
            <a:xfrm>
              <a:off x="4555331" y="3994944"/>
              <a:ext cx="185737" cy="151789"/>
              <a:chOff x="4555331" y="3994944"/>
              <a:chExt cx="185737" cy="151789"/>
            </a:xfrm>
          </p:grpSpPr>
          <p:sp>
            <p:nvSpPr>
              <p:cNvPr id="92" name="Freeform 92"/>
              <p:cNvSpPr/>
              <p:nvPr/>
            </p:nvSpPr>
            <p:spPr>
              <a:xfrm>
                <a:off x="4555331" y="3994944"/>
                <a:ext cx="185737" cy="151789"/>
              </a:xfrm>
              <a:custGeom>
                <a:avLst/>
                <a:gdLst/>
                <a:ahLst/>
                <a:cxnLst/>
                <a:rect l="l" t="t" r="r" b="b"/>
                <a:pathLst>
                  <a:path w="185737" h="151789">
                    <a:moveTo>
                      <a:pt x="30956" y="0"/>
                    </a:moveTo>
                    <a:lnTo>
                      <a:pt x="154781" y="0"/>
                    </a:lnTo>
                    <a:lnTo>
                      <a:pt x="185737" y="51594"/>
                    </a:lnTo>
                    <a:lnTo>
                      <a:pt x="98028" y="149621"/>
                    </a:lnTo>
                    <a:cubicBezTo>
                      <a:pt x="96669" y="151008"/>
                      <a:pt x="94810" y="151789"/>
                      <a:pt x="92868" y="151789"/>
                    </a:cubicBezTo>
                    <a:cubicBezTo>
                      <a:pt x="90927" y="151789"/>
                      <a:pt x="89068" y="151008"/>
                      <a:pt x="87709" y="149621"/>
                    </a:cubicBezTo>
                    <a:lnTo>
                      <a:pt x="0" y="51594"/>
                    </a:lnTo>
                    <a:lnTo>
                      <a:pt x="30956" y="0"/>
                    </a:lnTo>
                  </a:path>
                </a:pathLst>
              </a:custGeom>
              <a:noFill/>
              <a:ln w="20637">
                <a:solidFill>
                  <a:srgbClr val="721E0D"/>
                </a:solidFill>
              </a:ln>
            </p:spPr>
          </p:sp>
          <p:sp>
            <p:nvSpPr>
              <p:cNvPr id="93" name="Freeform 93"/>
              <p:cNvSpPr/>
              <p:nvPr/>
            </p:nvSpPr>
            <p:spPr>
              <a:xfrm>
                <a:off x="4606925" y="4034155"/>
                <a:ext cx="20637" cy="33020"/>
              </a:xfrm>
              <a:custGeom>
                <a:avLst/>
                <a:gdLst/>
                <a:ahLst/>
                <a:cxnLst/>
                <a:rect l="l" t="t" r="r" b="b"/>
                <a:pathLst>
                  <a:path w="20637" h="33020">
                    <a:moveTo>
                      <a:pt x="20637" y="33020"/>
                    </a:moveTo>
                    <a:lnTo>
                      <a:pt x="0" y="10319"/>
                    </a:lnTo>
                    <a:lnTo>
                      <a:pt x="6191" y="0"/>
                    </a:lnTo>
                  </a:path>
                </a:pathLst>
              </a:custGeom>
              <a:noFill/>
              <a:ln w="20637">
                <a:solidFill>
                  <a:srgbClr val="721E0D"/>
                </a:solidFill>
              </a:ln>
            </p:spPr>
          </p:sp>
        </p:grpSp>
        <p:sp>
          <p:nvSpPr>
            <p:cNvPr id="95" name="TextBox 95"/>
            <p:cNvSpPr txBox="1"/>
            <p:nvPr/>
          </p:nvSpPr>
          <p:spPr>
            <a:xfrm>
              <a:off x="4414584" y="4327684"/>
              <a:ext cx="467233" cy="133350"/>
            </a:xfrm>
            <a:prstGeom prst="rect">
              <a:avLst/>
            </a:prstGeom>
            <a:noFill/>
            <a:ln>
              <a:noFill/>
            </a:ln>
          </p:spPr>
          <p:txBody>
            <a:bodyPr wrap="none" lIns="0" tIns="0" rIns="0" bIns="0" anchor="t" anchorCtr="0">
              <a:spAutoFit/>
            </a:bodyPr>
            <a:lstStyle/>
            <a:p>
              <a:pPr algn="ctr"/>
              <a:r>
                <a:rPr lang="zh-CN" sz="680" dirty="0">
                  <a:solidFill>
                    <a:srgbClr val="461910"/>
                  </a:solidFill>
                  <a:latin typeface="+mn-lt"/>
                  <a:ea typeface="+mn-ea"/>
                  <a:cs typeface="+mn-cs"/>
                </a:rPr>
                <a:t>战略价值高</a:t>
              </a:r>
            </a:p>
          </p:txBody>
        </p:sp>
        <p:grpSp>
          <p:nvGrpSpPr>
            <p:cNvPr id="100" name="Group 100"/>
            <p:cNvGrpSpPr/>
            <p:nvPr/>
          </p:nvGrpSpPr>
          <p:grpSpPr>
            <a:xfrm>
              <a:off x="5279231" y="3984625"/>
              <a:ext cx="185737" cy="174624"/>
              <a:chOff x="5279231" y="3984625"/>
              <a:chExt cx="185737" cy="174624"/>
            </a:xfrm>
          </p:grpSpPr>
          <p:sp>
            <p:nvSpPr>
              <p:cNvPr id="96" name="Freeform 96"/>
              <p:cNvSpPr/>
              <p:nvPr/>
            </p:nvSpPr>
            <p:spPr>
              <a:xfrm>
                <a:off x="5279231" y="406717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721E0D"/>
                </a:solidFill>
              </a:ln>
            </p:spPr>
          </p:sp>
          <p:sp>
            <p:nvSpPr>
              <p:cNvPr id="97" name="Freeform 97"/>
              <p:cNvSpPr/>
              <p:nvPr/>
            </p:nvSpPr>
            <p:spPr>
              <a:xfrm>
                <a:off x="5403056" y="402590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721E0D"/>
                </a:solidFill>
              </a:ln>
            </p:spPr>
          </p:sp>
          <p:sp>
            <p:nvSpPr>
              <p:cNvPr id="98" name="Freeform 98"/>
              <p:cNvSpPr/>
              <p:nvPr/>
            </p:nvSpPr>
            <p:spPr>
              <a:xfrm>
                <a:off x="5341143" y="398462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721E0D"/>
                </a:solidFill>
              </a:ln>
            </p:spPr>
          </p:sp>
          <p:sp>
            <p:nvSpPr>
              <p:cNvPr id="99" name="Freeform 99"/>
              <p:cNvSpPr/>
              <p:nvPr/>
            </p:nvSpPr>
            <p:spPr>
              <a:xfrm>
                <a:off x="5289550" y="4149724"/>
                <a:ext cx="144462" cy="9525"/>
              </a:xfrm>
              <a:custGeom>
                <a:avLst/>
                <a:gdLst/>
                <a:ahLst/>
                <a:cxnLst/>
                <a:rect l="l" t="t" r="r" b="b"/>
                <a:pathLst>
                  <a:path w="144462" h="9525">
                    <a:moveTo>
                      <a:pt x="0" y="0"/>
                    </a:moveTo>
                    <a:lnTo>
                      <a:pt x="144462" y="0"/>
                    </a:lnTo>
                  </a:path>
                </a:pathLst>
              </a:custGeom>
              <a:noFill/>
              <a:ln w="20637">
                <a:solidFill>
                  <a:srgbClr val="721E0D"/>
                </a:solidFill>
              </a:ln>
            </p:spPr>
          </p:sp>
        </p:grpSp>
        <p:sp>
          <p:nvSpPr>
            <p:cNvPr id="101" name="TextBox 101"/>
            <p:cNvSpPr txBox="1"/>
            <p:nvPr/>
          </p:nvSpPr>
          <p:spPr>
            <a:xfrm>
              <a:off x="5138484" y="4327684"/>
              <a:ext cx="467233" cy="133350"/>
            </a:xfrm>
            <a:prstGeom prst="rect">
              <a:avLst/>
            </a:prstGeom>
            <a:noFill/>
            <a:ln>
              <a:noFill/>
            </a:ln>
          </p:spPr>
          <p:txBody>
            <a:bodyPr wrap="none" lIns="0" tIns="0" rIns="0" bIns="0" anchor="t" anchorCtr="0">
              <a:spAutoFit/>
            </a:bodyPr>
            <a:lstStyle/>
            <a:p>
              <a:pPr algn="ctr"/>
              <a:r>
                <a:rPr lang="zh-CN" sz="680" dirty="0">
                  <a:solidFill>
                    <a:srgbClr val="461910"/>
                  </a:solidFill>
                  <a:latin typeface="+mn-lt"/>
                  <a:ea typeface="+mn-ea"/>
                  <a:cs typeface="+mn-cs"/>
                </a:rPr>
                <a:t>金额潜力大</a:t>
              </a:r>
            </a:p>
          </p:txBody>
        </p:sp>
        <p:grpSp>
          <p:nvGrpSpPr>
            <p:cNvPr id="105" name="Group 105"/>
            <p:cNvGrpSpPr/>
            <p:nvPr/>
          </p:nvGrpSpPr>
          <p:grpSpPr>
            <a:xfrm>
              <a:off x="6003131" y="3974306"/>
              <a:ext cx="185737" cy="185737"/>
              <a:chOff x="6003131" y="3974306"/>
              <a:chExt cx="185737" cy="185737"/>
            </a:xfrm>
          </p:grpSpPr>
          <p:sp>
            <p:nvSpPr>
              <p:cNvPr id="102" name="Freeform 102"/>
              <p:cNvSpPr/>
              <p:nvPr/>
            </p:nvSpPr>
            <p:spPr>
              <a:xfrm>
                <a:off x="6085681" y="405685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721E0D"/>
                </a:solidFill>
              </a:ln>
            </p:spPr>
          </p:sp>
          <p:sp>
            <p:nvSpPr>
              <p:cNvPr id="103" name="Freeform 103"/>
              <p:cNvSpPr/>
              <p:nvPr/>
            </p:nvSpPr>
            <p:spPr>
              <a:xfrm>
                <a:off x="6044406" y="401558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721E0D"/>
                </a:solidFill>
              </a:ln>
            </p:spPr>
          </p:sp>
          <p:sp>
            <p:nvSpPr>
              <p:cNvPr id="104" name="Freeform 104"/>
              <p:cNvSpPr/>
              <p:nvPr/>
            </p:nvSpPr>
            <p:spPr>
              <a:xfrm>
                <a:off x="6003131" y="39743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721E0D"/>
                </a:solidFill>
              </a:ln>
            </p:spPr>
          </p:sp>
        </p:grpSp>
        <p:sp>
          <p:nvSpPr>
            <p:cNvPr id="106" name="TextBox 106"/>
            <p:cNvSpPr txBox="1"/>
            <p:nvPr/>
          </p:nvSpPr>
          <p:spPr>
            <a:xfrm>
              <a:off x="5862384" y="4327684"/>
              <a:ext cx="467233" cy="133350"/>
            </a:xfrm>
            <a:prstGeom prst="rect">
              <a:avLst/>
            </a:prstGeom>
            <a:noFill/>
            <a:ln>
              <a:noFill/>
            </a:ln>
          </p:spPr>
          <p:txBody>
            <a:bodyPr wrap="none" lIns="0" tIns="0" rIns="0" bIns="0" anchor="t" anchorCtr="0">
              <a:spAutoFit/>
            </a:bodyPr>
            <a:lstStyle/>
            <a:p>
              <a:pPr algn="ctr"/>
              <a:r>
                <a:rPr lang="zh-CN" sz="680" dirty="0">
                  <a:solidFill>
                    <a:srgbClr val="461910"/>
                  </a:solidFill>
                  <a:latin typeface="+mn-lt"/>
                  <a:ea typeface="+mn-ea"/>
                  <a:cs typeface="+mn-cs"/>
                </a:rPr>
                <a:t>赢单概率高</a:t>
              </a:r>
            </a:p>
          </p:txBody>
        </p:sp>
        <p:grpSp>
          <p:nvGrpSpPr>
            <p:cNvPr id="111" name="Group 111"/>
            <p:cNvGrpSpPr/>
            <p:nvPr/>
          </p:nvGrpSpPr>
          <p:grpSpPr>
            <a:xfrm>
              <a:off x="6727031" y="3974306"/>
              <a:ext cx="185737" cy="185738"/>
              <a:chOff x="6727031" y="3974306"/>
              <a:chExt cx="185737" cy="185738"/>
            </a:xfrm>
          </p:grpSpPr>
          <p:sp>
            <p:nvSpPr>
              <p:cNvPr id="107" name="Freeform 107"/>
              <p:cNvSpPr/>
              <p:nvPr/>
            </p:nvSpPr>
            <p:spPr>
              <a:xfrm>
                <a:off x="6747669" y="397430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721E0D"/>
                </a:solidFill>
              </a:ln>
            </p:spPr>
          </p:sp>
          <p:sp>
            <p:nvSpPr>
              <p:cNvPr id="108" name="Freeform 108"/>
              <p:cNvSpPr/>
              <p:nvPr/>
            </p:nvSpPr>
            <p:spPr>
              <a:xfrm>
                <a:off x="6727031" y="409813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721E0D"/>
                </a:solidFill>
              </a:ln>
            </p:spPr>
          </p:sp>
          <p:sp>
            <p:nvSpPr>
              <p:cNvPr id="109" name="Freeform 109"/>
              <p:cNvSpPr/>
              <p:nvPr/>
            </p:nvSpPr>
            <p:spPr>
              <a:xfrm>
                <a:off x="6861174" y="397564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721E0D"/>
                </a:solidFill>
              </a:ln>
            </p:spPr>
          </p:sp>
          <p:sp>
            <p:nvSpPr>
              <p:cNvPr id="110" name="Freeform 110"/>
              <p:cNvSpPr/>
              <p:nvPr/>
            </p:nvSpPr>
            <p:spPr>
              <a:xfrm>
                <a:off x="6881812" y="409967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721E0D"/>
                </a:solidFill>
              </a:ln>
            </p:spPr>
          </p:sp>
        </p:grpSp>
        <p:sp>
          <p:nvSpPr>
            <p:cNvPr id="112" name="TextBox 112"/>
            <p:cNvSpPr txBox="1"/>
            <p:nvPr/>
          </p:nvSpPr>
          <p:spPr>
            <a:xfrm>
              <a:off x="6586284" y="4327684"/>
              <a:ext cx="467233" cy="133350"/>
            </a:xfrm>
            <a:prstGeom prst="rect">
              <a:avLst/>
            </a:prstGeom>
            <a:noFill/>
            <a:ln>
              <a:noFill/>
            </a:ln>
          </p:spPr>
          <p:txBody>
            <a:bodyPr wrap="none" lIns="0" tIns="0" rIns="0" bIns="0" anchor="t" anchorCtr="0">
              <a:spAutoFit/>
            </a:bodyPr>
            <a:lstStyle/>
            <a:p>
              <a:pPr algn="ctr"/>
              <a:r>
                <a:rPr lang="zh-CN" sz="680" dirty="0">
                  <a:solidFill>
                    <a:srgbClr val="461910"/>
                  </a:solidFill>
                  <a:latin typeface="+mn-lt"/>
                  <a:ea typeface="+mn-ea"/>
                  <a:cs typeface="+mn-cs"/>
                </a:rPr>
                <a:t>客户关系深</a:t>
              </a:r>
            </a:p>
          </p:txBody>
        </p:sp>
        <p:grpSp>
          <p:nvGrpSpPr>
            <p:cNvPr id="115" name="Group 115"/>
            <p:cNvGrpSpPr/>
            <p:nvPr/>
          </p:nvGrpSpPr>
          <p:grpSpPr>
            <a:xfrm>
              <a:off x="7461250" y="3980644"/>
              <a:ext cx="165099" cy="173061"/>
              <a:chOff x="7461250" y="3980644"/>
              <a:chExt cx="165099" cy="173061"/>
            </a:xfrm>
          </p:grpSpPr>
          <p:sp>
            <p:nvSpPr>
              <p:cNvPr id="113" name="Freeform 113"/>
              <p:cNvSpPr/>
              <p:nvPr/>
            </p:nvSpPr>
            <p:spPr>
              <a:xfrm>
                <a:off x="7461250" y="3980644"/>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721E0D"/>
                </a:solidFill>
              </a:ln>
            </p:spPr>
          </p:sp>
          <p:sp>
            <p:nvSpPr>
              <p:cNvPr id="114" name="Freeform 114"/>
              <p:cNvSpPr/>
              <p:nvPr/>
            </p:nvSpPr>
            <p:spPr>
              <a:xfrm>
                <a:off x="7461250" y="4077493"/>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721E0D"/>
                </a:solidFill>
              </a:ln>
            </p:spPr>
          </p:sp>
        </p:grpSp>
        <p:sp>
          <p:nvSpPr>
            <p:cNvPr id="116" name="TextBox 116"/>
            <p:cNvSpPr txBox="1"/>
            <p:nvPr/>
          </p:nvSpPr>
          <p:spPr>
            <a:xfrm>
              <a:off x="7310184" y="4327684"/>
              <a:ext cx="467233" cy="133350"/>
            </a:xfrm>
            <a:prstGeom prst="rect">
              <a:avLst/>
            </a:prstGeom>
            <a:noFill/>
            <a:ln>
              <a:noFill/>
            </a:ln>
          </p:spPr>
          <p:txBody>
            <a:bodyPr wrap="none" lIns="0" tIns="0" rIns="0" bIns="0" anchor="t" anchorCtr="0">
              <a:spAutoFit/>
            </a:bodyPr>
            <a:lstStyle/>
            <a:p>
              <a:pPr algn="ctr"/>
              <a:r>
                <a:rPr lang="zh-CN" sz="680" dirty="0">
                  <a:solidFill>
                    <a:srgbClr val="461910"/>
                  </a:solidFill>
                  <a:latin typeface="+mn-lt"/>
                  <a:ea typeface="+mn-ea"/>
                  <a:cs typeface="+mn-cs"/>
                </a:rPr>
                <a:t>可复制性强</a:t>
              </a:r>
            </a:p>
          </p:txBody>
        </p:sp>
        <p:sp>
          <p:nvSpPr>
            <p:cNvPr id="117" name="Rectangle 117"/>
            <p:cNvSpPr/>
            <p:nvPr/>
          </p:nvSpPr>
          <p:spPr>
            <a:xfrm>
              <a:off x="4305300" y="4762500"/>
              <a:ext cx="3581400" cy="381000"/>
            </a:xfrm>
            <a:prstGeom prst="roundRect">
              <a:avLst>
                <a:gd name="adj" fmla="val 20000"/>
              </a:avLst>
            </a:prstGeom>
            <a:solidFill>
              <a:srgbClr val="EAF1FB"/>
            </a:solidFill>
            <a:ln>
              <a:noFill/>
            </a:ln>
          </p:spPr>
        </p:sp>
        <p:grpSp>
          <p:nvGrpSpPr>
            <p:cNvPr id="121" name="Group 121"/>
            <p:cNvGrpSpPr/>
            <p:nvPr/>
          </p:nvGrpSpPr>
          <p:grpSpPr>
            <a:xfrm>
              <a:off x="4424362" y="4881562"/>
              <a:ext cx="142875" cy="142875"/>
              <a:chOff x="4424362" y="4881562"/>
              <a:chExt cx="142875" cy="142875"/>
            </a:xfrm>
          </p:grpSpPr>
          <p:sp>
            <p:nvSpPr>
              <p:cNvPr id="118" name="Freeform 118"/>
              <p:cNvSpPr/>
              <p:nvPr/>
            </p:nvSpPr>
            <p:spPr>
              <a:xfrm>
                <a:off x="4487862" y="494506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721E0D"/>
                </a:solidFill>
              </a:ln>
            </p:spPr>
          </p:sp>
          <p:sp>
            <p:nvSpPr>
              <p:cNvPr id="119" name="Freeform 119"/>
              <p:cNvSpPr/>
              <p:nvPr/>
            </p:nvSpPr>
            <p:spPr>
              <a:xfrm>
                <a:off x="4456112" y="491331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721E0D"/>
                </a:solidFill>
              </a:ln>
            </p:spPr>
          </p:sp>
          <p:sp>
            <p:nvSpPr>
              <p:cNvPr id="120" name="Freeform 120"/>
              <p:cNvSpPr/>
              <p:nvPr/>
            </p:nvSpPr>
            <p:spPr>
              <a:xfrm>
                <a:off x="4424362" y="488156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721E0D"/>
                </a:solidFill>
              </a:ln>
            </p:spPr>
          </p:sp>
        </p:grpSp>
        <p:sp>
          <p:nvSpPr>
            <p:cNvPr id="122" name="TextBox 122"/>
            <p:cNvSpPr txBox="1"/>
            <p:nvPr/>
          </p:nvSpPr>
          <p:spPr>
            <a:xfrm>
              <a:off x="4662488" y="4915614"/>
              <a:ext cx="2668270" cy="154781"/>
            </a:xfrm>
            <a:prstGeom prst="rect">
              <a:avLst/>
            </a:prstGeom>
            <a:noFill/>
            <a:ln>
              <a:noFill/>
            </a:ln>
          </p:spPr>
          <p:txBody>
            <a:bodyPr wrap="none" lIns="0" tIns="0" rIns="0" bIns="0" anchor="t" anchorCtr="0">
              <a:spAutoFit/>
            </a:bodyPr>
            <a:lstStyle/>
            <a:p>
              <a:pPr algn="l"/>
              <a:r>
                <a:rPr lang="zh-CN" sz="790" b="1" dirty="0">
                  <a:solidFill>
                    <a:srgbClr val="721E0D"/>
                  </a:solidFill>
                  <a:latin typeface="+mn-lt"/>
                  <a:ea typeface="+mn-ea"/>
                  <a:cs typeface="+mn-cs"/>
                </a:rPr>
                <a:t>资源有限，聚焦才有穿透力；分散投入，等于全军无功。</a:t>
              </a:r>
            </a:p>
          </p:txBody>
        </p:sp>
      </p:grpSp>
      <p:grpSp>
        <p:nvGrpSpPr>
          <p:cNvPr id="179" name="stop-card-3"/>
          <p:cNvGrpSpPr/>
          <p:nvPr/>
        </p:nvGrpSpPr>
        <p:grpSpPr>
          <a:xfrm>
            <a:off x="8153400" y="723900"/>
            <a:ext cx="3810000" cy="4857750"/>
            <a:chOff x="8153400" y="723900"/>
            <a:chExt cx="3810000" cy="4857750"/>
          </a:xfrm>
        </p:grpSpPr>
        <p:sp>
          <p:nvSpPr>
            <p:cNvPr id="124" name="Rectangle 124"/>
            <p:cNvSpPr/>
            <p:nvPr/>
          </p:nvSpPr>
          <p:spPr>
            <a:xfrm>
              <a:off x="8153400" y="723900"/>
              <a:ext cx="3810000" cy="4857750"/>
            </a:xfrm>
            <a:prstGeom prst="roundRect">
              <a:avLst>
                <a:gd name="adj" fmla="val 3000"/>
              </a:avLst>
            </a:prstGeom>
            <a:solidFill>
              <a:srgbClr val="FFFFFF"/>
            </a:solidFill>
            <a:ln w="14288">
              <a:solidFill>
                <a:srgbClr val="C03616"/>
              </a:solidFill>
            </a:ln>
          </p:spPr>
        </p:sp>
        <p:sp>
          <p:nvSpPr>
            <p:cNvPr id="125" name="Freeform 125"/>
            <p:cNvSpPr/>
            <p:nvPr/>
          </p:nvSpPr>
          <p:spPr>
            <a:xfrm>
              <a:off x="8153400" y="723900"/>
              <a:ext cx="3810000" cy="704850"/>
            </a:xfrm>
            <a:custGeom>
              <a:avLst/>
              <a:gdLst/>
              <a:ahLst/>
              <a:cxnLst/>
              <a:rect l="l" t="t" r="r" b="b"/>
              <a:pathLst>
                <a:path w="3810000" h="704850">
                  <a:moveTo>
                    <a:pt x="114300" y="0"/>
                  </a:moveTo>
                  <a:lnTo>
                    <a:pt x="3695700" y="0"/>
                  </a:lnTo>
                  <a:cubicBezTo>
                    <a:pt x="3758826" y="0"/>
                    <a:pt x="3810000" y="51174"/>
                    <a:pt x="3810000" y="114300"/>
                  </a:cubicBezTo>
                  <a:lnTo>
                    <a:pt x="3810000" y="704850"/>
                  </a:lnTo>
                  <a:lnTo>
                    <a:pt x="0" y="704850"/>
                  </a:lnTo>
                  <a:lnTo>
                    <a:pt x="0" y="114300"/>
                  </a:lnTo>
                  <a:cubicBezTo>
                    <a:pt x="0" y="51174"/>
                    <a:pt x="51174" y="0"/>
                    <a:pt x="114300" y="0"/>
                  </a:cubicBezTo>
                  <a:close/>
                </a:path>
              </a:pathLst>
            </a:custGeom>
            <a:solidFill>
              <a:srgbClr val="C03616"/>
            </a:solidFill>
            <a:ln>
              <a:noFill/>
            </a:ln>
          </p:spPr>
        </p:sp>
        <p:sp>
          <p:nvSpPr>
            <p:cNvPr id="126" name="Freeform 126"/>
            <p:cNvSpPr/>
            <p:nvPr/>
          </p:nvSpPr>
          <p:spPr>
            <a:xfrm>
              <a:off x="8267700" y="809625"/>
              <a:ext cx="533400" cy="533400"/>
            </a:xfrm>
            <a:prstGeom prst="octagon">
              <a:avLst/>
            </a:prstGeom>
            <a:solidFill>
              <a:srgbClr val="FFFFFF"/>
            </a:solidFill>
            <a:ln>
              <a:noFill/>
            </a:ln>
          </p:spPr>
        </p:sp>
        <p:grpSp>
          <p:nvGrpSpPr>
            <p:cNvPr id="131" name="Group 131"/>
            <p:cNvGrpSpPr/>
            <p:nvPr/>
          </p:nvGrpSpPr>
          <p:grpSpPr>
            <a:xfrm>
              <a:off x="8638923" y="933450"/>
              <a:ext cx="238377" cy="285755"/>
              <a:chOff x="8638923" y="933450"/>
              <a:chExt cx="238377" cy="285755"/>
            </a:xfrm>
          </p:grpSpPr>
          <p:sp>
            <p:nvSpPr>
              <p:cNvPr id="127" name="Freeform 127"/>
              <p:cNvSpPr/>
              <p:nvPr/>
            </p:nvSpPr>
            <p:spPr>
              <a:xfrm>
                <a:off x="8705850" y="962025"/>
                <a:ext cx="42862" cy="128588"/>
              </a:xfrm>
              <a:custGeom>
                <a:avLst/>
                <a:gdLst/>
                <a:ahLst/>
                <a:cxnLst/>
                <a:rect l="l" t="t" r="r" b="b"/>
                <a:pathLst>
                  <a:path w="42862" h="128588">
                    <a:moveTo>
                      <a:pt x="0" y="128588"/>
                    </a:moveTo>
                    <a:lnTo>
                      <a:pt x="0" y="21431"/>
                    </a:lnTo>
                    <a:cubicBezTo>
                      <a:pt x="0" y="9595"/>
                      <a:pt x="9595" y="0"/>
                      <a:pt x="21431" y="0"/>
                    </a:cubicBezTo>
                    <a:cubicBezTo>
                      <a:pt x="33267" y="0"/>
                      <a:pt x="42862" y="9595"/>
                      <a:pt x="42862" y="21431"/>
                    </a:cubicBezTo>
                    <a:lnTo>
                      <a:pt x="42862" y="114300"/>
                    </a:lnTo>
                  </a:path>
                </a:pathLst>
              </a:custGeom>
              <a:noFill/>
              <a:ln w="28575">
                <a:solidFill>
                  <a:srgbClr val="C03616"/>
                </a:solidFill>
              </a:ln>
            </p:spPr>
          </p:sp>
          <p:sp>
            <p:nvSpPr>
              <p:cNvPr id="128" name="Freeform 128"/>
              <p:cNvSpPr/>
              <p:nvPr/>
            </p:nvSpPr>
            <p:spPr>
              <a:xfrm>
                <a:off x="8748712" y="933450"/>
                <a:ext cx="42862" cy="142875"/>
              </a:xfrm>
              <a:custGeom>
                <a:avLst/>
                <a:gdLst/>
                <a:ahLst/>
                <a:cxnLst/>
                <a:rect l="l" t="t" r="r" b="b"/>
                <a:pathLst>
                  <a:path w="42862" h="142875">
                    <a:moveTo>
                      <a:pt x="0" y="50006"/>
                    </a:moveTo>
                    <a:lnTo>
                      <a:pt x="0" y="21431"/>
                    </a:lnTo>
                    <a:cubicBezTo>
                      <a:pt x="0" y="9595"/>
                      <a:pt x="9595" y="0"/>
                      <a:pt x="21431" y="0"/>
                    </a:cubicBezTo>
                    <a:cubicBezTo>
                      <a:pt x="33267" y="0"/>
                      <a:pt x="42862" y="9595"/>
                      <a:pt x="42862" y="21431"/>
                    </a:cubicBezTo>
                    <a:lnTo>
                      <a:pt x="42862" y="142875"/>
                    </a:lnTo>
                  </a:path>
                </a:pathLst>
              </a:custGeom>
              <a:noFill/>
              <a:ln w="28575">
                <a:solidFill>
                  <a:srgbClr val="C03616"/>
                </a:solidFill>
              </a:ln>
            </p:spPr>
          </p:sp>
          <p:sp>
            <p:nvSpPr>
              <p:cNvPr id="129" name="Freeform 129"/>
              <p:cNvSpPr/>
              <p:nvPr/>
            </p:nvSpPr>
            <p:spPr>
              <a:xfrm>
                <a:off x="8791575" y="962025"/>
                <a:ext cx="42862" cy="114300"/>
              </a:xfrm>
              <a:custGeom>
                <a:avLst/>
                <a:gdLst/>
                <a:ahLst/>
                <a:cxnLst/>
                <a:rect l="l" t="t" r="r" b="b"/>
                <a:pathLst>
                  <a:path w="42862" h="114300">
                    <a:moveTo>
                      <a:pt x="0" y="21431"/>
                    </a:moveTo>
                    <a:cubicBezTo>
                      <a:pt x="0" y="9595"/>
                      <a:pt x="9595" y="0"/>
                      <a:pt x="21431" y="0"/>
                    </a:cubicBezTo>
                    <a:cubicBezTo>
                      <a:pt x="33267" y="0"/>
                      <a:pt x="42862" y="9595"/>
                      <a:pt x="42862" y="21431"/>
                    </a:cubicBezTo>
                    <a:lnTo>
                      <a:pt x="42862" y="114300"/>
                    </a:lnTo>
                  </a:path>
                </a:pathLst>
              </a:custGeom>
              <a:noFill/>
              <a:ln w="28575">
                <a:solidFill>
                  <a:srgbClr val="C03616"/>
                </a:solidFill>
              </a:ln>
            </p:spPr>
          </p:sp>
          <p:sp>
            <p:nvSpPr>
              <p:cNvPr id="130" name="Freeform 130"/>
              <p:cNvSpPr/>
              <p:nvPr/>
            </p:nvSpPr>
            <p:spPr>
              <a:xfrm>
                <a:off x="8638923" y="990600"/>
                <a:ext cx="238377" cy="228605"/>
              </a:xfrm>
              <a:custGeom>
                <a:avLst/>
                <a:gdLst/>
                <a:ahLst/>
                <a:cxnLst/>
                <a:rect l="l" t="t" r="r" b="b"/>
                <a:pathLst>
                  <a:path w="238377" h="228605">
                    <a:moveTo>
                      <a:pt x="195514" y="21431"/>
                    </a:moveTo>
                    <a:cubicBezTo>
                      <a:pt x="195514" y="9595"/>
                      <a:pt x="205109" y="0"/>
                      <a:pt x="216946" y="0"/>
                    </a:cubicBezTo>
                    <a:cubicBezTo>
                      <a:pt x="228782" y="0"/>
                      <a:pt x="238377" y="9595"/>
                      <a:pt x="238377" y="21431"/>
                    </a:cubicBezTo>
                    <a:lnTo>
                      <a:pt x="238377" y="142875"/>
                    </a:lnTo>
                    <a:cubicBezTo>
                      <a:pt x="238377" y="190220"/>
                      <a:pt x="199996" y="228600"/>
                      <a:pt x="152652" y="228600"/>
                    </a:cubicBezTo>
                    <a:lnTo>
                      <a:pt x="124077" y="228600"/>
                    </a:lnTo>
                    <a:lnTo>
                      <a:pt x="127049" y="228600"/>
                    </a:lnTo>
                    <a:cubicBezTo>
                      <a:pt x="98210" y="228605"/>
                      <a:pt x="71301" y="214109"/>
                      <a:pt x="55440" y="190024"/>
                    </a:cubicBezTo>
                    <a:cubicBezTo>
                      <a:pt x="54503" y="188597"/>
                      <a:pt x="53569" y="187169"/>
                      <a:pt x="52639" y="185738"/>
                    </a:cubicBezTo>
                    <a:cubicBezTo>
                      <a:pt x="48182" y="178894"/>
                      <a:pt x="32537" y="151619"/>
                      <a:pt x="5691" y="103899"/>
                    </a:cubicBezTo>
                    <a:cubicBezTo>
                      <a:pt x="0" y="93784"/>
                      <a:pt x="3395" y="80977"/>
                      <a:pt x="13349" y="75009"/>
                    </a:cubicBezTo>
                    <a:cubicBezTo>
                      <a:pt x="23840" y="68715"/>
                      <a:pt x="37268" y="70364"/>
                      <a:pt x="45924" y="79010"/>
                    </a:cubicBezTo>
                    <a:lnTo>
                      <a:pt x="66927" y="100012"/>
                    </a:lnTo>
                  </a:path>
                </a:pathLst>
              </a:custGeom>
              <a:noFill/>
              <a:ln w="28575">
                <a:solidFill>
                  <a:srgbClr val="C03616"/>
                </a:solidFill>
              </a:ln>
            </p:spPr>
          </p:sp>
        </p:grpSp>
        <p:sp>
          <p:nvSpPr>
            <p:cNvPr id="132" name="TextBox 132"/>
            <p:cNvSpPr txBox="1"/>
            <p:nvPr/>
          </p:nvSpPr>
          <p:spPr>
            <a:xfrm>
              <a:off x="9156954" y="889635"/>
              <a:ext cx="6583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停止三：</a:t>
              </a:r>
            </a:p>
          </p:txBody>
        </p:sp>
        <p:sp>
          <p:nvSpPr>
            <p:cNvPr id="133" name="TextBox 133"/>
            <p:cNvSpPr txBox="1"/>
            <p:nvPr/>
          </p:nvSpPr>
          <p:spPr>
            <a:xfrm>
              <a:off x="9156573" y="1138714"/>
              <a:ext cx="156377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每月一次大会念数据</a:t>
              </a:r>
            </a:p>
          </p:txBody>
        </p:sp>
        <p:sp>
          <p:nvSpPr>
            <p:cNvPr id="134" name="Rectangle 134"/>
            <p:cNvSpPr/>
            <p:nvPr/>
          </p:nvSpPr>
          <p:spPr>
            <a:xfrm>
              <a:off x="8267700" y="1524000"/>
              <a:ext cx="3581400" cy="457200"/>
            </a:xfrm>
            <a:prstGeom prst="roundRect">
              <a:avLst>
                <a:gd name="adj" fmla="val 16667"/>
              </a:avLst>
            </a:prstGeom>
            <a:solidFill>
              <a:srgbClr val="EAF1FB"/>
            </a:solidFill>
            <a:ln>
              <a:noFill/>
            </a:ln>
          </p:spPr>
        </p:sp>
        <p:grpSp>
          <p:nvGrpSpPr>
            <p:cNvPr id="141" name="Group 141"/>
            <p:cNvGrpSpPr/>
            <p:nvPr/>
          </p:nvGrpSpPr>
          <p:grpSpPr>
            <a:xfrm>
              <a:off x="8404225" y="1659731"/>
              <a:ext cx="165099" cy="185737"/>
              <a:chOff x="8404225" y="1659731"/>
              <a:chExt cx="165099" cy="185737"/>
            </a:xfrm>
          </p:grpSpPr>
          <p:sp>
            <p:nvSpPr>
              <p:cNvPr id="135" name="Freeform 135"/>
              <p:cNvSpPr/>
              <p:nvPr/>
            </p:nvSpPr>
            <p:spPr>
              <a:xfrm>
                <a:off x="8404225" y="1680369"/>
                <a:ext cx="165099" cy="165099"/>
              </a:xfrm>
              <a:custGeom>
                <a:avLst/>
                <a:gdLst/>
                <a:ahLst/>
                <a:cxnLst/>
                <a:rect l="l" t="t" r="r" b="b"/>
                <a:pathLst>
                  <a:path w="165099" h="165099">
                    <a:moveTo>
                      <a:pt x="0" y="20637"/>
                    </a:moveTo>
                    <a:cubicBezTo>
                      <a:pt x="0" y="9240"/>
                      <a:pt x="9240" y="0"/>
                      <a:pt x="20637" y="0"/>
                    </a:cubicBezTo>
                    <a:lnTo>
                      <a:pt x="144462" y="0"/>
                    </a:lnTo>
                    <a:cubicBezTo>
                      <a:pt x="155860" y="0"/>
                      <a:pt x="165099" y="9240"/>
                      <a:pt x="165099" y="20637"/>
                    </a:cubicBezTo>
                    <a:lnTo>
                      <a:pt x="165099" y="144462"/>
                    </a:lnTo>
                    <a:cubicBezTo>
                      <a:pt x="165099" y="155860"/>
                      <a:pt x="155860" y="165099"/>
                      <a:pt x="144462" y="165099"/>
                    </a:cubicBezTo>
                    <a:lnTo>
                      <a:pt x="20637" y="165099"/>
                    </a:lnTo>
                    <a:cubicBezTo>
                      <a:pt x="9240" y="165099"/>
                      <a:pt x="0" y="155860"/>
                      <a:pt x="0" y="144462"/>
                    </a:cubicBezTo>
                    <a:lnTo>
                      <a:pt x="0" y="20637"/>
                    </a:lnTo>
                  </a:path>
                </a:pathLst>
              </a:custGeom>
              <a:noFill/>
              <a:ln w="20637">
                <a:solidFill>
                  <a:srgbClr val="721E0D"/>
                </a:solidFill>
              </a:ln>
            </p:spPr>
          </p:sp>
          <p:sp>
            <p:nvSpPr>
              <p:cNvPr id="136" name="Freeform 136"/>
              <p:cNvSpPr/>
              <p:nvPr/>
            </p:nvSpPr>
            <p:spPr>
              <a:xfrm>
                <a:off x="8528049" y="1659731"/>
                <a:ext cx="9525" cy="41275"/>
              </a:xfrm>
              <a:custGeom>
                <a:avLst/>
                <a:gdLst/>
                <a:ahLst/>
                <a:cxnLst/>
                <a:rect l="l" t="t" r="r" b="b"/>
                <a:pathLst>
                  <a:path w="9525" h="41275">
                    <a:moveTo>
                      <a:pt x="0" y="0"/>
                    </a:moveTo>
                    <a:lnTo>
                      <a:pt x="0" y="41275"/>
                    </a:lnTo>
                  </a:path>
                </a:pathLst>
              </a:custGeom>
              <a:noFill/>
              <a:ln w="20637">
                <a:solidFill>
                  <a:srgbClr val="721E0D"/>
                </a:solidFill>
              </a:ln>
            </p:spPr>
          </p:sp>
          <p:sp>
            <p:nvSpPr>
              <p:cNvPr id="137" name="Freeform 137"/>
              <p:cNvSpPr/>
              <p:nvPr/>
            </p:nvSpPr>
            <p:spPr>
              <a:xfrm>
                <a:off x="8445500" y="1659731"/>
                <a:ext cx="9525" cy="41275"/>
              </a:xfrm>
              <a:custGeom>
                <a:avLst/>
                <a:gdLst/>
                <a:ahLst/>
                <a:cxnLst/>
                <a:rect l="l" t="t" r="r" b="b"/>
                <a:pathLst>
                  <a:path w="9525" h="41275">
                    <a:moveTo>
                      <a:pt x="0" y="0"/>
                    </a:moveTo>
                    <a:lnTo>
                      <a:pt x="0" y="41275"/>
                    </a:lnTo>
                  </a:path>
                </a:pathLst>
              </a:custGeom>
              <a:noFill/>
              <a:ln w="20637">
                <a:solidFill>
                  <a:srgbClr val="721E0D"/>
                </a:solidFill>
              </a:ln>
            </p:spPr>
          </p:sp>
          <p:sp>
            <p:nvSpPr>
              <p:cNvPr id="138" name="Freeform 138"/>
              <p:cNvSpPr/>
              <p:nvPr/>
            </p:nvSpPr>
            <p:spPr>
              <a:xfrm>
                <a:off x="8404225" y="1742281"/>
                <a:ext cx="165099" cy="9525"/>
              </a:xfrm>
              <a:custGeom>
                <a:avLst/>
                <a:gdLst/>
                <a:ahLst/>
                <a:cxnLst/>
                <a:rect l="l" t="t" r="r" b="b"/>
                <a:pathLst>
                  <a:path w="165099" h="9525">
                    <a:moveTo>
                      <a:pt x="0" y="0"/>
                    </a:moveTo>
                    <a:lnTo>
                      <a:pt x="165099" y="0"/>
                    </a:lnTo>
                  </a:path>
                </a:pathLst>
              </a:custGeom>
              <a:noFill/>
              <a:ln w="20637">
                <a:solidFill>
                  <a:srgbClr val="721E0D"/>
                </a:solidFill>
              </a:ln>
            </p:spPr>
          </p:sp>
          <p:sp>
            <p:nvSpPr>
              <p:cNvPr id="139" name="Freeform 139"/>
              <p:cNvSpPr/>
              <p:nvPr/>
            </p:nvSpPr>
            <p:spPr>
              <a:xfrm>
                <a:off x="8476456" y="1783556"/>
                <a:ext cx="10319" cy="9525"/>
              </a:xfrm>
              <a:custGeom>
                <a:avLst/>
                <a:gdLst/>
                <a:ahLst/>
                <a:cxnLst/>
                <a:rect l="l" t="t" r="r" b="b"/>
                <a:pathLst>
                  <a:path w="10319" h="9525">
                    <a:moveTo>
                      <a:pt x="0" y="0"/>
                    </a:moveTo>
                    <a:lnTo>
                      <a:pt x="10319" y="0"/>
                    </a:lnTo>
                  </a:path>
                </a:pathLst>
              </a:custGeom>
              <a:noFill/>
              <a:ln w="20637">
                <a:solidFill>
                  <a:srgbClr val="721E0D"/>
                </a:solidFill>
              </a:ln>
            </p:spPr>
          </p:sp>
          <p:sp>
            <p:nvSpPr>
              <p:cNvPr id="140" name="Freeform 140"/>
              <p:cNvSpPr/>
              <p:nvPr/>
            </p:nvSpPr>
            <p:spPr>
              <a:xfrm>
                <a:off x="8486775" y="1783556"/>
                <a:ext cx="9525" cy="30956"/>
              </a:xfrm>
              <a:custGeom>
                <a:avLst/>
                <a:gdLst/>
                <a:ahLst/>
                <a:cxnLst/>
                <a:rect l="l" t="t" r="r" b="b"/>
                <a:pathLst>
                  <a:path w="9525" h="30956">
                    <a:moveTo>
                      <a:pt x="0" y="0"/>
                    </a:moveTo>
                    <a:lnTo>
                      <a:pt x="0" y="30956"/>
                    </a:lnTo>
                  </a:path>
                </a:pathLst>
              </a:custGeom>
              <a:noFill/>
              <a:ln w="20637">
                <a:solidFill>
                  <a:srgbClr val="721E0D"/>
                </a:solidFill>
              </a:ln>
            </p:spPr>
          </p:sp>
        </p:grpSp>
        <p:sp>
          <p:nvSpPr>
            <p:cNvPr id="142" name="TextBox 142"/>
            <p:cNvSpPr txBox="1"/>
            <p:nvPr/>
          </p:nvSpPr>
          <p:spPr>
            <a:xfrm>
              <a:off x="8700706" y="1690926"/>
              <a:ext cx="2185746" cy="198025"/>
            </a:xfrm>
            <a:prstGeom prst="rect">
              <a:avLst/>
            </a:prstGeom>
            <a:noFill/>
            <a:ln>
              <a:noFill/>
            </a:ln>
          </p:spPr>
          <p:txBody>
            <a:bodyPr wrap="none" lIns="0" tIns="0" rIns="0" bIns="0" anchor="t" anchorCtr="0">
              <a:spAutoFit/>
            </a:bodyPr>
            <a:lstStyle/>
            <a:p>
              <a:pPr algn="l"/>
              <a:r>
                <a:rPr lang="zh-CN" sz="1010" b="1" dirty="0">
                  <a:solidFill>
                    <a:srgbClr val="721E0D"/>
                  </a:solidFill>
                  <a:latin typeface="+mn-lt"/>
                  <a:ea typeface="+mn-ea"/>
                  <a:cs typeface="+mn-cs"/>
                </a:rPr>
                <a:t>周复盘、月拆解、季度客户健康评估</a:t>
              </a:r>
            </a:p>
          </p:txBody>
        </p:sp>
        <p:sp>
          <p:nvSpPr>
            <p:cNvPr id="143" name="Line 143"/>
            <p:cNvSpPr/>
            <p:nvPr/>
          </p:nvSpPr>
          <p:spPr>
            <a:xfrm>
              <a:off x="8439150" y="2362200"/>
              <a:ext cx="3295650" cy="1"/>
            </a:xfrm>
            <a:prstGeom prst="line">
              <a:avLst/>
            </a:prstGeom>
            <a:noFill/>
            <a:ln w="19050">
              <a:solidFill>
                <a:srgbClr val="721E0D"/>
              </a:solidFill>
              <a:tailEnd type="triangle" w="lg" len="lg"/>
            </a:ln>
          </p:spPr>
        </p:sp>
        <p:sp>
          <p:nvSpPr>
            <p:cNvPr id="144" name="Ellipse 144"/>
            <p:cNvSpPr/>
            <p:nvPr/>
          </p:nvSpPr>
          <p:spPr>
            <a:xfrm>
              <a:off x="8620125" y="2143125"/>
              <a:ext cx="438150" cy="438150"/>
            </a:xfrm>
            <a:prstGeom prst="ellipse">
              <a:avLst/>
            </a:prstGeom>
            <a:solidFill>
              <a:srgbClr val="FFFFFF"/>
            </a:solidFill>
            <a:ln w="19050">
              <a:solidFill>
                <a:srgbClr val="721E0D"/>
              </a:solidFill>
            </a:ln>
          </p:spPr>
        </p:sp>
        <p:grpSp>
          <p:nvGrpSpPr>
            <p:cNvPr id="149" name="Group 149"/>
            <p:cNvGrpSpPr/>
            <p:nvPr/>
          </p:nvGrpSpPr>
          <p:grpSpPr>
            <a:xfrm>
              <a:off x="8766969" y="2279650"/>
              <a:ext cx="154780" cy="175418"/>
              <a:chOff x="8766969" y="2279650"/>
              <a:chExt cx="154780" cy="175418"/>
            </a:xfrm>
          </p:grpSpPr>
          <p:sp>
            <p:nvSpPr>
              <p:cNvPr id="145" name="Freeform 145"/>
              <p:cNvSpPr/>
              <p:nvPr/>
            </p:nvSpPr>
            <p:spPr>
              <a:xfrm>
                <a:off x="8766969" y="2279650"/>
                <a:ext cx="123825" cy="165099"/>
              </a:xfrm>
              <a:custGeom>
                <a:avLst/>
                <a:gdLst/>
                <a:ahLst/>
                <a:cxnLst/>
                <a:rect l="l" t="t" r="r" b="b"/>
                <a:pathLst>
                  <a:path w="123825" h="165099">
                    <a:moveTo>
                      <a:pt x="47621" y="165099"/>
                    </a:moveTo>
                    <a:lnTo>
                      <a:pt x="20637" y="165099"/>
                    </a:lnTo>
                    <a:cubicBezTo>
                      <a:pt x="9240" y="165099"/>
                      <a:pt x="0" y="155860"/>
                      <a:pt x="0" y="144462"/>
                    </a:cubicBezTo>
                    <a:lnTo>
                      <a:pt x="0" y="20637"/>
                    </a:lnTo>
                    <a:cubicBezTo>
                      <a:pt x="0" y="9240"/>
                      <a:pt x="9240" y="0"/>
                      <a:pt x="20637" y="0"/>
                    </a:cubicBezTo>
                    <a:lnTo>
                      <a:pt x="103187" y="0"/>
                    </a:lnTo>
                    <a:cubicBezTo>
                      <a:pt x="114585" y="0"/>
                      <a:pt x="123825" y="9240"/>
                      <a:pt x="123825" y="20637"/>
                    </a:cubicBezTo>
                    <a:lnTo>
                      <a:pt x="123825" y="103187"/>
                    </a:lnTo>
                  </a:path>
                </a:pathLst>
              </a:custGeom>
              <a:noFill/>
              <a:ln w="20637">
                <a:solidFill>
                  <a:srgbClr val="721E0D"/>
                </a:solidFill>
              </a:ln>
            </p:spPr>
          </p:sp>
          <p:sp>
            <p:nvSpPr>
              <p:cNvPr id="146" name="Freeform 146"/>
              <p:cNvSpPr/>
              <p:nvPr/>
            </p:nvSpPr>
            <p:spPr>
              <a:xfrm>
                <a:off x="8859837" y="2413793"/>
                <a:ext cx="61912" cy="41275"/>
              </a:xfrm>
              <a:custGeom>
                <a:avLst/>
                <a:gdLst/>
                <a:ahLst/>
                <a:cxnLst/>
                <a:rect l="l" t="t" r="r" b="b"/>
                <a:pathLst>
                  <a:path w="61912" h="41275">
                    <a:moveTo>
                      <a:pt x="0" y="20637"/>
                    </a:moveTo>
                    <a:lnTo>
                      <a:pt x="20637" y="41275"/>
                    </a:lnTo>
                    <a:lnTo>
                      <a:pt x="61912" y="0"/>
                    </a:lnTo>
                  </a:path>
                </a:pathLst>
              </a:custGeom>
              <a:noFill/>
              <a:ln w="20637">
                <a:solidFill>
                  <a:srgbClr val="721E0D"/>
                </a:solidFill>
              </a:ln>
            </p:spPr>
          </p:sp>
          <p:sp>
            <p:nvSpPr>
              <p:cNvPr id="147" name="Freeform 147"/>
              <p:cNvSpPr/>
              <p:nvPr/>
            </p:nvSpPr>
            <p:spPr>
              <a:xfrm>
                <a:off x="8808243" y="2320925"/>
                <a:ext cx="41275" cy="9525"/>
              </a:xfrm>
              <a:custGeom>
                <a:avLst/>
                <a:gdLst/>
                <a:ahLst/>
                <a:cxnLst/>
                <a:rect l="l" t="t" r="r" b="b"/>
                <a:pathLst>
                  <a:path w="41275" h="9525">
                    <a:moveTo>
                      <a:pt x="0" y="0"/>
                    </a:moveTo>
                    <a:lnTo>
                      <a:pt x="41275" y="0"/>
                    </a:lnTo>
                  </a:path>
                </a:pathLst>
              </a:custGeom>
              <a:noFill/>
              <a:ln w="20637">
                <a:solidFill>
                  <a:srgbClr val="721E0D"/>
                </a:solidFill>
              </a:ln>
            </p:spPr>
          </p:sp>
          <p:sp>
            <p:nvSpPr>
              <p:cNvPr id="148" name="Freeform 148"/>
              <p:cNvSpPr/>
              <p:nvPr/>
            </p:nvSpPr>
            <p:spPr>
              <a:xfrm>
                <a:off x="8808243" y="2362200"/>
                <a:ext cx="20637" cy="9525"/>
              </a:xfrm>
              <a:custGeom>
                <a:avLst/>
                <a:gdLst/>
                <a:ahLst/>
                <a:cxnLst/>
                <a:rect l="l" t="t" r="r" b="b"/>
                <a:pathLst>
                  <a:path w="20637" h="9525">
                    <a:moveTo>
                      <a:pt x="0" y="0"/>
                    </a:moveTo>
                    <a:lnTo>
                      <a:pt x="20637" y="0"/>
                    </a:lnTo>
                  </a:path>
                </a:pathLst>
              </a:custGeom>
              <a:noFill/>
              <a:ln w="20637">
                <a:solidFill>
                  <a:srgbClr val="721E0D"/>
                </a:solidFill>
              </a:ln>
            </p:spPr>
          </p:sp>
        </p:grpSp>
        <p:sp>
          <p:nvSpPr>
            <p:cNvPr id="150" name="Rectangle 150"/>
            <p:cNvSpPr/>
            <p:nvPr/>
          </p:nvSpPr>
          <p:spPr>
            <a:xfrm>
              <a:off x="8572500" y="2667000"/>
              <a:ext cx="533400" cy="190500"/>
            </a:xfrm>
            <a:prstGeom prst="roundRect">
              <a:avLst>
                <a:gd name="adj" fmla="val 50000"/>
              </a:avLst>
            </a:prstGeom>
            <a:solidFill>
              <a:srgbClr val="721E0D"/>
            </a:solidFill>
            <a:ln>
              <a:noFill/>
            </a:ln>
          </p:spPr>
        </p:sp>
        <p:sp>
          <p:nvSpPr>
            <p:cNvPr id="151" name="TextBox 151"/>
            <p:cNvSpPr txBox="1"/>
            <p:nvPr/>
          </p:nvSpPr>
          <p:spPr>
            <a:xfrm>
              <a:off x="8674913" y="2715339"/>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周复盘</a:t>
              </a:r>
            </a:p>
          </p:txBody>
        </p:sp>
        <p:sp>
          <p:nvSpPr>
            <p:cNvPr id="152" name="TextBox 152"/>
            <p:cNvSpPr txBox="1"/>
            <p:nvPr/>
          </p:nvSpPr>
          <p:spPr>
            <a:xfrm>
              <a:off x="8518842" y="2971086"/>
              <a:ext cx="640715" cy="273844"/>
            </a:xfrm>
            <a:prstGeom prst="rect">
              <a:avLst/>
            </a:prstGeom>
            <a:noFill/>
            <a:ln>
              <a:noFill/>
            </a:ln>
          </p:spPr>
          <p:txBody>
            <a:bodyPr wrap="none" lIns="0" tIns="0" rIns="0" bIns="0" anchor="t" anchorCtr="0">
              <a:spAutoFit/>
            </a:bodyPr>
            <a:lstStyle/>
            <a:p>
              <a:pPr algn="ctr">
                <a:lnSpc>
                  <a:spcPts val="1050"/>
                </a:lnSpc>
              </a:pPr>
              <a:r>
                <a:rPr lang="zh-CN" sz="710" b="1" dirty="0">
                  <a:solidFill>
                    <a:srgbClr val="721E0D"/>
                  </a:solidFill>
                  <a:latin typeface="+mn-lt"/>
                  <a:ea typeface="+mn-ea"/>
                  <a:cs typeface="+mn-cs"/>
                </a:rPr>
                <a:t>对齐进展与阻塞</a:t>
              </a:r>
              <a:br/>
              <a:r>
                <a:rPr lang="zh-CN" sz="710" b="1" dirty="0">
                  <a:solidFill>
                    <a:srgbClr val="721E0D"/>
                  </a:solidFill>
                  <a:latin typeface="+mn-lt"/>
                  <a:ea typeface="+mn-ea"/>
                  <a:cs typeface="+mn-cs"/>
                </a:rPr>
                <a:t>快速纠偏</a:t>
              </a:r>
            </a:p>
          </p:txBody>
        </p:sp>
        <p:sp>
          <p:nvSpPr>
            <p:cNvPr id="153" name="TextBox 153"/>
            <p:cNvSpPr txBox="1"/>
            <p:nvPr/>
          </p:nvSpPr>
          <p:spPr>
            <a:xfrm>
              <a:off x="8339138" y="3390186"/>
              <a:ext cx="627190" cy="483394"/>
            </a:xfrm>
            <a:prstGeom prst="rect">
              <a:avLst/>
            </a:prstGeom>
            <a:noFill/>
            <a:ln>
              <a:noFill/>
            </a:ln>
          </p:spPr>
          <p:txBody>
            <a:bodyPr wrap="none" lIns="0" tIns="0" rIns="0" bIns="0" anchor="t" anchorCtr="0">
              <a:spAutoFit/>
            </a:bodyPr>
            <a:lstStyle/>
            <a:p>
              <a:pPr algn="l" marL="76644" indent="-76644">
                <a:lnSpc>
                  <a:spcPts val="1350"/>
                </a:lnSpc>
                <a:buClr>
                  <a:srgbClr val="523E3A"/>
                </a:buClr>
                <a:buSzTx/>
                <a:buFontTx/>
                <a:buChar char="•"/>
              </a:pPr>
              <a:r>
                <a:rPr lang="zh-CN" sz="710" dirty="0">
                  <a:solidFill>
                    <a:srgbClr val="523E3A"/>
                  </a:solidFill>
                  <a:latin typeface="+mn-lt"/>
                  <a:ea typeface="+mn-ea"/>
                  <a:cs typeface="+mn-cs"/>
                </a:rPr>
                <a:t>关键动作回顾</a:t>
              </a:r>
            </a:p>
            <a:p>
              <a:pPr algn="l" marL="76644" indent="-76644">
                <a:lnSpc>
                  <a:spcPts val="1350"/>
                </a:lnSpc>
                <a:buClr>
                  <a:srgbClr val="523E3A"/>
                </a:buClr>
                <a:buSzTx/>
                <a:buFontTx/>
                <a:buChar char="•"/>
              </a:pPr>
              <a:r>
                <a:rPr lang="zh-CN" sz="710" dirty="0">
                  <a:solidFill>
                    <a:srgbClr val="523E3A"/>
                  </a:solidFill>
                  <a:latin typeface="+mn-lt"/>
                  <a:ea typeface="+mn-ea"/>
                  <a:cs typeface="+mn-cs"/>
                </a:rPr>
                <a:t>风险与阻塞</a:t>
              </a:r>
            </a:p>
            <a:p>
              <a:pPr algn="l" marL="76644" indent="-76644">
                <a:lnSpc>
                  <a:spcPts val="1350"/>
                </a:lnSpc>
                <a:buClr>
                  <a:srgbClr val="523E3A"/>
                </a:buClr>
                <a:buSzTx/>
                <a:buFontTx/>
                <a:buChar char="•"/>
              </a:pPr>
              <a:r>
                <a:rPr lang="zh-CN" sz="710" dirty="0">
                  <a:solidFill>
                    <a:srgbClr val="523E3A"/>
                  </a:solidFill>
                  <a:latin typeface="+mn-lt"/>
                  <a:ea typeface="+mn-ea"/>
                  <a:cs typeface="+mn-cs"/>
                </a:rPr>
                <a:t>下周行动计划</a:t>
              </a:r>
            </a:p>
          </p:txBody>
        </p:sp>
        <p:sp>
          <p:nvSpPr>
            <p:cNvPr id="154" name="Ellipse 154"/>
            <p:cNvSpPr/>
            <p:nvPr/>
          </p:nvSpPr>
          <p:spPr>
            <a:xfrm>
              <a:off x="9839325" y="2143125"/>
              <a:ext cx="438150" cy="438150"/>
            </a:xfrm>
            <a:prstGeom prst="ellipse">
              <a:avLst/>
            </a:prstGeom>
            <a:solidFill>
              <a:srgbClr val="FFFFFF"/>
            </a:solidFill>
            <a:ln w="19050">
              <a:solidFill>
                <a:srgbClr val="721E0D"/>
              </a:solidFill>
            </a:ln>
          </p:spPr>
        </p:sp>
        <p:grpSp>
          <p:nvGrpSpPr>
            <p:cNvPr id="159" name="Group 159"/>
            <p:cNvGrpSpPr/>
            <p:nvPr/>
          </p:nvGrpSpPr>
          <p:grpSpPr>
            <a:xfrm>
              <a:off x="9965531" y="2279650"/>
              <a:ext cx="185737" cy="174624"/>
              <a:chOff x="9965531" y="2279650"/>
              <a:chExt cx="185737" cy="174624"/>
            </a:xfrm>
          </p:grpSpPr>
          <p:sp>
            <p:nvSpPr>
              <p:cNvPr id="155" name="Freeform 155"/>
              <p:cNvSpPr/>
              <p:nvPr/>
            </p:nvSpPr>
            <p:spPr>
              <a:xfrm>
                <a:off x="9965531" y="236220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721E0D"/>
                </a:solidFill>
              </a:ln>
            </p:spPr>
          </p:sp>
          <p:sp>
            <p:nvSpPr>
              <p:cNvPr id="156" name="Freeform 156"/>
              <p:cNvSpPr/>
              <p:nvPr/>
            </p:nvSpPr>
            <p:spPr>
              <a:xfrm>
                <a:off x="10089356" y="232092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721E0D"/>
                </a:solidFill>
              </a:ln>
            </p:spPr>
          </p:sp>
          <p:sp>
            <p:nvSpPr>
              <p:cNvPr id="157" name="Freeform 157"/>
              <p:cNvSpPr/>
              <p:nvPr/>
            </p:nvSpPr>
            <p:spPr>
              <a:xfrm>
                <a:off x="10027443" y="227965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721E0D"/>
                </a:solidFill>
              </a:ln>
            </p:spPr>
          </p:sp>
          <p:sp>
            <p:nvSpPr>
              <p:cNvPr id="158" name="Freeform 158"/>
              <p:cNvSpPr/>
              <p:nvPr/>
            </p:nvSpPr>
            <p:spPr>
              <a:xfrm>
                <a:off x="9975850" y="2444749"/>
                <a:ext cx="144462" cy="9525"/>
              </a:xfrm>
              <a:custGeom>
                <a:avLst/>
                <a:gdLst/>
                <a:ahLst/>
                <a:cxnLst/>
                <a:rect l="l" t="t" r="r" b="b"/>
                <a:pathLst>
                  <a:path w="144462" h="9525">
                    <a:moveTo>
                      <a:pt x="0" y="0"/>
                    </a:moveTo>
                    <a:lnTo>
                      <a:pt x="144462" y="0"/>
                    </a:lnTo>
                  </a:path>
                </a:pathLst>
              </a:custGeom>
              <a:noFill/>
              <a:ln w="20637">
                <a:solidFill>
                  <a:srgbClr val="721E0D"/>
                </a:solidFill>
              </a:ln>
            </p:spPr>
          </p:sp>
        </p:grpSp>
        <p:sp>
          <p:nvSpPr>
            <p:cNvPr id="160" name="Rectangle 160"/>
            <p:cNvSpPr/>
            <p:nvPr/>
          </p:nvSpPr>
          <p:spPr>
            <a:xfrm>
              <a:off x="9791700" y="2667000"/>
              <a:ext cx="533400" cy="190500"/>
            </a:xfrm>
            <a:prstGeom prst="roundRect">
              <a:avLst>
                <a:gd name="adj" fmla="val 50000"/>
              </a:avLst>
            </a:prstGeom>
            <a:solidFill>
              <a:srgbClr val="721E0D"/>
            </a:solidFill>
            <a:ln>
              <a:noFill/>
            </a:ln>
          </p:spPr>
        </p:sp>
        <p:sp>
          <p:nvSpPr>
            <p:cNvPr id="161" name="TextBox 161"/>
            <p:cNvSpPr txBox="1"/>
            <p:nvPr/>
          </p:nvSpPr>
          <p:spPr>
            <a:xfrm>
              <a:off x="9894113" y="2715339"/>
              <a:ext cx="3285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月拆解</a:t>
              </a:r>
            </a:p>
          </p:txBody>
        </p:sp>
        <p:sp>
          <p:nvSpPr>
            <p:cNvPr id="162" name="TextBox 162"/>
            <p:cNvSpPr txBox="1"/>
            <p:nvPr/>
          </p:nvSpPr>
          <p:spPr>
            <a:xfrm>
              <a:off x="9738042" y="2971086"/>
              <a:ext cx="640715" cy="273844"/>
            </a:xfrm>
            <a:prstGeom prst="rect">
              <a:avLst/>
            </a:prstGeom>
            <a:noFill/>
            <a:ln>
              <a:noFill/>
            </a:ln>
          </p:spPr>
          <p:txBody>
            <a:bodyPr wrap="none" lIns="0" tIns="0" rIns="0" bIns="0" anchor="t" anchorCtr="0">
              <a:spAutoFit/>
            </a:bodyPr>
            <a:lstStyle/>
            <a:p>
              <a:pPr algn="ctr">
                <a:lnSpc>
                  <a:spcPts val="1050"/>
                </a:lnSpc>
              </a:pPr>
              <a:r>
                <a:rPr lang="zh-CN" sz="710" b="1" dirty="0">
                  <a:solidFill>
                    <a:srgbClr val="721E0D"/>
                  </a:solidFill>
                  <a:latin typeface="+mn-lt"/>
                  <a:ea typeface="+mn-ea"/>
                  <a:cs typeface="+mn-cs"/>
                </a:rPr>
                <a:t>拆解目标与差距</a:t>
              </a:r>
              <a:br/>
              <a:r>
                <a:rPr lang="zh-CN" sz="710" b="1" dirty="0">
                  <a:solidFill>
                    <a:srgbClr val="721E0D"/>
                  </a:solidFill>
                  <a:latin typeface="+mn-lt"/>
                  <a:ea typeface="+mn-ea"/>
                  <a:cs typeface="+mn-cs"/>
                </a:rPr>
                <a:t>明确资源与策略</a:t>
              </a:r>
            </a:p>
          </p:txBody>
        </p:sp>
        <p:sp>
          <p:nvSpPr>
            <p:cNvPr id="163" name="TextBox 163"/>
            <p:cNvSpPr txBox="1"/>
            <p:nvPr/>
          </p:nvSpPr>
          <p:spPr>
            <a:xfrm>
              <a:off x="9558338" y="3390186"/>
              <a:ext cx="717360" cy="483394"/>
            </a:xfrm>
            <a:prstGeom prst="rect">
              <a:avLst/>
            </a:prstGeom>
            <a:noFill/>
            <a:ln>
              <a:noFill/>
            </a:ln>
          </p:spPr>
          <p:txBody>
            <a:bodyPr wrap="none" lIns="0" tIns="0" rIns="0" bIns="0" anchor="t" anchorCtr="0">
              <a:spAutoFit/>
            </a:bodyPr>
            <a:lstStyle/>
            <a:p>
              <a:pPr algn="l" marL="76644" indent="-76644">
                <a:lnSpc>
                  <a:spcPts val="1350"/>
                </a:lnSpc>
                <a:buClr>
                  <a:srgbClr val="523E3A"/>
                </a:buClr>
                <a:buSzTx/>
                <a:buFontTx/>
                <a:buChar char="•"/>
              </a:pPr>
              <a:r>
                <a:rPr lang="zh-CN" sz="710" dirty="0">
                  <a:solidFill>
                    <a:srgbClr val="523E3A"/>
                  </a:solidFill>
                  <a:latin typeface="+mn-lt"/>
                  <a:ea typeface="+mn-ea"/>
                  <a:cs typeface="+mn-cs"/>
                </a:rPr>
                <a:t>目标拆解</a:t>
              </a:r>
            </a:p>
            <a:p>
              <a:pPr algn="l" marL="76644" indent="-76644">
                <a:lnSpc>
                  <a:spcPts val="1350"/>
                </a:lnSpc>
                <a:buClr>
                  <a:srgbClr val="523E3A"/>
                </a:buClr>
                <a:buSzTx/>
                <a:buFontTx/>
                <a:buChar char="•"/>
              </a:pPr>
              <a:r>
                <a:rPr lang="zh-CN" sz="710" dirty="0">
                  <a:solidFill>
                    <a:srgbClr val="523E3A"/>
                  </a:solidFill>
                  <a:latin typeface="+mn-lt"/>
                  <a:ea typeface="+mn-ea"/>
                  <a:cs typeface="+mn-cs"/>
                </a:rPr>
                <a:t>差距分析</a:t>
              </a:r>
            </a:p>
            <a:p>
              <a:pPr algn="l" marL="76644" indent="-76644">
                <a:lnSpc>
                  <a:spcPts val="1350"/>
                </a:lnSpc>
                <a:buClr>
                  <a:srgbClr val="523E3A"/>
                </a:buClr>
                <a:buSzTx/>
                <a:buFontTx/>
                <a:buChar char="•"/>
              </a:pPr>
              <a:r>
                <a:rPr lang="zh-CN" sz="710" dirty="0">
                  <a:solidFill>
                    <a:srgbClr val="523E3A"/>
                  </a:solidFill>
                  <a:latin typeface="+mn-lt"/>
                  <a:ea typeface="+mn-ea"/>
                  <a:cs typeface="+mn-cs"/>
                </a:rPr>
                <a:t>资源与策略调整</a:t>
              </a:r>
            </a:p>
          </p:txBody>
        </p:sp>
        <p:sp>
          <p:nvSpPr>
            <p:cNvPr id="164" name="Ellipse 164"/>
            <p:cNvSpPr/>
            <p:nvPr/>
          </p:nvSpPr>
          <p:spPr>
            <a:xfrm>
              <a:off x="11058525" y="2143125"/>
              <a:ext cx="438150" cy="438150"/>
            </a:xfrm>
            <a:prstGeom prst="ellipse">
              <a:avLst/>
            </a:prstGeom>
            <a:solidFill>
              <a:srgbClr val="FFFFFF"/>
            </a:solidFill>
            <a:ln w="19050">
              <a:solidFill>
                <a:srgbClr val="721E0D"/>
              </a:solidFill>
            </a:ln>
          </p:spPr>
        </p:sp>
        <p:grpSp>
          <p:nvGrpSpPr>
            <p:cNvPr id="168" name="Group 168"/>
            <p:cNvGrpSpPr/>
            <p:nvPr/>
          </p:nvGrpSpPr>
          <p:grpSpPr>
            <a:xfrm>
              <a:off x="11215687" y="2269331"/>
              <a:ext cx="154781" cy="185737"/>
              <a:chOff x="11215687" y="2269331"/>
              <a:chExt cx="154781" cy="185737"/>
            </a:xfrm>
          </p:grpSpPr>
          <p:sp>
            <p:nvSpPr>
              <p:cNvPr id="165" name="Freeform 165"/>
              <p:cNvSpPr/>
              <p:nvPr/>
            </p:nvSpPr>
            <p:spPr>
              <a:xfrm>
                <a:off x="11236325" y="2269331"/>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721E0D"/>
                </a:solidFill>
              </a:ln>
            </p:spPr>
          </p:sp>
          <p:sp>
            <p:nvSpPr>
              <p:cNvPr id="166" name="Freeform 166"/>
              <p:cNvSpPr/>
              <p:nvPr/>
            </p:nvSpPr>
            <p:spPr>
              <a:xfrm>
                <a:off x="11215687" y="2393156"/>
                <a:ext cx="82550" cy="61912"/>
              </a:xfrm>
              <a:custGeom>
                <a:avLst/>
                <a:gdLst/>
                <a:ahLst/>
                <a:cxnLst/>
                <a:rect l="l" t="t" r="r" b="b"/>
                <a:pathLst>
                  <a:path w="82550" h="61912">
                    <a:moveTo>
                      <a:pt x="0" y="61912"/>
                    </a:moveTo>
                    <a:lnTo>
                      <a:pt x="0" y="41275"/>
                    </a:lnTo>
                    <a:cubicBezTo>
                      <a:pt x="0" y="18479"/>
                      <a:pt x="18479" y="0"/>
                      <a:pt x="41275" y="0"/>
                    </a:cubicBezTo>
                    <a:lnTo>
                      <a:pt x="82550" y="0"/>
                    </a:lnTo>
                  </a:path>
                </a:pathLst>
              </a:custGeom>
              <a:noFill/>
              <a:ln w="20637">
                <a:solidFill>
                  <a:srgbClr val="721E0D"/>
                </a:solidFill>
              </a:ln>
            </p:spPr>
          </p:sp>
          <p:sp>
            <p:nvSpPr>
              <p:cNvPr id="167" name="Freeform 167"/>
              <p:cNvSpPr/>
              <p:nvPr/>
            </p:nvSpPr>
            <p:spPr>
              <a:xfrm>
                <a:off x="11308556" y="2413793"/>
                <a:ext cx="61912" cy="41275"/>
              </a:xfrm>
              <a:custGeom>
                <a:avLst/>
                <a:gdLst/>
                <a:ahLst/>
                <a:cxnLst/>
                <a:rect l="l" t="t" r="r" b="b"/>
                <a:pathLst>
                  <a:path w="61912" h="41275">
                    <a:moveTo>
                      <a:pt x="0" y="20637"/>
                    </a:moveTo>
                    <a:lnTo>
                      <a:pt x="20637" y="41275"/>
                    </a:lnTo>
                    <a:lnTo>
                      <a:pt x="61912" y="0"/>
                    </a:lnTo>
                  </a:path>
                </a:pathLst>
              </a:custGeom>
              <a:noFill/>
              <a:ln w="20637">
                <a:solidFill>
                  <a:srgbClr val="721E0D"/>
                </a:solidFill>
              </a:ln>
            </p:spPr>
          </p:sp>
        </p:grpSp>
        <p:sp>
          <p:nvSpPr>
            <p:cNvPr id="169" name="Rectangle 169"/>
            <p:cNvSpPr/>
            <p:nvPr/>
          </p:nvSpPr>
          <p:spPr>
            <a:xfrm>
              <a:off x="10782300" y="2667000"/>
              <a:ext cx="990600" cy="190500"/>
            </a:xfrm>
            <a:prstGeom prst="roundRect">
              <a:avLst>
                <a:gd name="adj" fmla="val 50000"/>
              </a:avLst>
            </a:prstGeom>
            <a:solidFill>
              <a:srgbClr val="721E0D"/>
            </a:solidFill>
            <a:ln>
              <a:noFill/>
            </a:ln>
          </p:spPr>
        </p:sp>
        <p:sp>
          <p:nvSpPr>
            <p:cNvPr id="170" name="TextBox 170"/>
            <p:cNvSpPr txBox="1"/>
            <p:nvPr/>
          </p:nvSpPr>
          <p:spPr>
            <a:xfrm>
              <a:off x="10847438" y="2715339"/>
              <a:ext cx="86032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季度客户健康评估</a:t>
              </a:r>
            </a:p>
          </p:txBody>
        </p:sp>
        <p:sp>
          <p:nvSpPr>
            <p:cNvPr id="171" name="TextBox 171"/>
            <p:cNvSpPr txBox="1"/>
            <p:nvPr/>
          </p:nvSpPr>
          <p:spPr>
            <a:xfrm>
              <a:off x="10957242" y="2971086"/>
              <a:ext cx="640715" cy="273844"/>
            </a:xfrm>
            <a:prstGeom prst="rect">
              <a:avLst/>
            </a:prstGeom>
            <a:noFill/>
            <a:ln>
              <a:noFill/>
            </a:ln>
          </p:spPr>
          <p:txBody>
            <a:bodyPr wrap="none" lIns="0" tIns="0" rIns="0" bIns="0" anchor="t" anchorCtr="0">
              <a:spAutoFit/>
            </a:bodyPr>
            <a:lstStyle/>
            <a:p>
              <a:pPr algn="ctr">
                <a:lnSpc>
                  <a:spcPts val="1050"/>
                </a:lnSpc>
              </a:pPr>
              <a:r>
                <a:rPr lang="zh-CN" sz="710" b="1" dirty="0">
                  <a:solidFill>
                    <a:srgbClr val="721E0D"/>
                  </a:solidFill>
                  <a:latin typeface="+mn-lt"/>
                  <a:ea typeface="+mn-ea"/>
                  <a:cs typeface="+mn-cs"/>
                </a:rPr>
                <a:t>评估客户健康度</a:t>
              </a:r>
              <a:br/>
              <a:r>
                <a:rPr lang="zh-CN" sz="710" b="1" dirty="0">
                  <a:solidFill>
                    <a:srgbClr val="721E0D"/>
                  </a:solidFill>
                  <a:latin typeface="+mn-lt"/>
                  <a:ea typeface="+mn-ea"/>
                  <a:cs typeface="+mn-cs"/>
                </a:rPr>
                <a:t>提前干预风险</a:t>
              </a:r>
            </a:p>
          </p:txBody>
        </p:sp>
        <p:sp>
          <p:nvSpPr>
            <p:cNvPr id="172" name="TextBox 172"/>
            <p:cNvSpPr txBox="1"/>
            <p:nvPr/>
          </p:nvSpPr>
          <p:spPr>
            <a:xfrm>
              <a:off x="10777538" y="3390186"/>
              <a:ext cx="627190" cy="483394"/>
            </a:xfrm>
            <a:prstGeom prst="rect">
              <a:avLst/>
            </a:prstGeom>
            <a:noFill/>
            <a:ln>
              <a:noFill/>
            </a:ln>
          </p:spPr>
          <p:txBody>
            <a:bodyPr wrap="none" lIns="0" tIns="0" rIns="0" bIns="0" anchor="t" anchorCtr="0">
              <a:spAutoFit/>
            </a:bodyPr>
            <a:lstStyle/>
            <a:p>
              <a:pPr algn="l" marL="76644" indent="-76644">
                <a:lnSpc>
                  <a:spcPts val="1350"/>
                </a:lnSpc>
                <a:buClr>
                  <a:srgbClr val="523E3A"/>
                </a:buClr>
                <a:buSzTx/>
                <a:buFontTx/>
                <a:buChar char="•"/>
              </a:pPr>
              <a:r>
                <a:rPr lang="zh-CN" sz="710" dirty="0">
                  <a:solidFill>
                    <a:srgbClr val="523E3A"/>
                  </a:solidFill>
                  <a:latin typeface="+mn-lt"/>
                  <a:ea typeface="+mn-ea"/>
                  <a:cs typeface="+mn-cs"/>
                </a:rPr>
                <a:t>客户健康评分</a:t>
              </a:r>
            </a:p>
            <a:p>
              <a:pPr algn="l" marL="76644" indent="-76644">
                <a:lnSpc>
                  <a:spcPts val="1350"/>
                </a:lnSpc>
                <a:buClr>
                  <a:srgbClr val="523E3A"/>
                </a:buClr>
                <a:buSzTx/>
                <a:buFontTx/>
                <a:buChar char="•"/>
              </a:pPr>
              <a:r>
                <a:rPr lang="zh-CN" sz="710" dirty="0">
                  <a:solidFill>
                    <a:srgbClr val="523E3A"/>
                  </a:solidFill>
                  <a:latin typeface="+mn-lt"/>
                  <a:ea typeface="+mn-ea"/>
                  <a:cs typeface="+mn-cs"/>
                </a:rPr>
                <a:t>风险预警</a:t>
              </a:r>
            </a:p>
            <a:p>
              <a:pPr algn="l" marL="76644" indent="-76644">
                <a:lnSpc>
                  <a:spcPts val="1350"/>
                </a:lnSpc>
                <a:buClr>
                  <a:srgbClr val="523E3A"/>
                </a:buClr>
                <a:buSzTx/>
                <a:buFontTx/>
                <a:buChar char="•"/>
              </a:pPr>
              <a:r>
                <a:rPr lang="zh-CN" sz="710" dirty="0">
                  <a:solidFill>
                    <a:srgbClr val="523E3A"/>
                  </a:solidFill>
                  <a:latin typeface="+mn-lt"/>
                  <a:ea typeface="+mn-ea"/>
                  <a:cs typeface="+mn-cs"/>
                </a:rPr>
                <a:t>关键行动计划</a:t>
              </a:r>
            </a:p>
          </p:txBody>
        </p:sp>
        <p:sp>
          <p:nvSpPr>
            <p:cNvPr id="173" name="Rectangle 173"/>
            <p:cNvSpPr/>
            <p:nvPr/>
          </p:nvSpPr>
          <p:spPr>
            <a:xfrm>
              <a:off x="8267700" y="4762500"/>
              <a:ext cx="3581400" cy="381000"/>
            </a:xfrm>
            <a:prstGeom prst="roundRect">
              <a:avLst>
                <a:gd name="adj" fmla="val 20000"/>
              </a:avLst>
            </a:prstGeom>
            <a:solidFill>
              <a:srgbClr val="FDECEC"/>
            </a:solidFill>
            <a:ln>
              <a:noFill/>
            </a:ln>
          </p:spPr>
        </p:sp>
        <p:grpSp>
          <p:nvGrpSpPr>
            <p:cNvPr id="177" name="Group 177"/>
            <p:cNvGrpSpPr/>
            <p:nvPr/>
          </p:nvGrpSpPr>
          <p:grpSpPr>
            <a:xfrm>
              <a:off x="8378149" y="4878925"/>
              <a:ext cx="160095" cy="137543"/>
              <a:chOff x="8378149" y="4878925"/>
              <a:chExt cx="160095" cy="137543"/>
            </a:xfrm>
          </p:grpSpPr>
          <p:sp>
            <p:nvSpPr>
              <p:cNvPr id="174" name="Freeform 174"/>
              <p:cNvSpPr/>
              <p:nvPr/>
            </p:nvSpPr>
            <p:spPr>
              <a:xfrm>
                <a:off x="8458200" y="4929187"/>
                <a:ext cx="9525" cy="31750"/>
              </a:xfrm>
              <a:custGeom>
                <a:avLst/>
                <a:gdLst/>
                <a:ahLst/>
                <a:cxnLst/>
                <a:rect l="l" t="t" r="r" b="b"/>
                <a:pathLst>
                  <a:path w="9525" h="31750">
                    <a:moveTo>
                      <a:pt x="0" y="0"/>
                    </a:moveTo>
                    <a:lnTo>
                      <a:pt x="0" y="31750"/>
                    </a:lnTo>
                  </a:path>
                </a:pathLst>
              </a:custGeom>
              <a:noFill/>
              <a:ln w="15875">
                <a:solidFill>
                  <a:srgbClr val="C03616"/>
                </a:solidFill>
              </a:ln>
            </p:spPr>
          </p:sp>
          <p:sp>
            <p:nvSpPr>
              <p:cNvPr id="175" name="Freeform 175"/>
              <p:cNvSpPr/>
              <p:nvPr/>
            </p:nvSpPr>
            <p:spPr>
              <a:xfrm>
                <a:off x="8378149" y="4878925"/>
                <a:ext cx="160095" cy="137543"/>
              </a:xfrm>
              <a:custGeom>
                <a:avLst/>
                <a:gdLst/>
                <a:ahLst/>
                <a:cxnLst/>
                <a:rect l="l" t="t" r="r" b="b"/>
                <a:pathLst>
                  <a:path w="160095" h="137543">
                    <a:moveTo>
                      <a:pt x="67057" y="7328"/>
                    </a:moveTo>
                    <a:lnTo>
                      <a:pt x="2716" y="114754"/>
                    </a:lnTo>
                    <a:cubicBezTo>
                      <a:pt x="16" y="119428"/>
                      <a:pt x="0" y="125183"/>
                      <a:pt x="2672" y="129873"/>
                    </a:cubicBezTo>
                    <a:cubicBezTo>
                      <a:pt x="5344" y="134562"/>
                      <a:pt x="10304" y="137482"/>
                      <a:pt x="15701" y="137543"/>
                    </a:cubicBezTo>
                    <a:lnTo>
                      <a:pt x="144400" y="137543"/>
                    </a:lnTo>
                    <a:cubicBezTo>
                      <a:pt x="149794" y="137480"/>
                      <a:pt x="154751" y="134562"/>
                      <a:pt x="157423" y="129875"/>
                    </a:cubicBezTo>
                    <a:cubicBezTo>
                      <a:pt x="160095" y="125188"/>
                      <a:pt x="160081" y="119436"/>
                      <a:pt x="157386" y="114762"/>
                    </a:cubicBezTo>
                    <a:lnTo>
                      <a:pt x="93044" y="7320"/>
                    </a:lnTo>
                    <a:cubicBezTo>
                      <a:pt x="90291" y="2776"/>
                      <a:pt x="85364" y="0"/>
                      <a:pt x="80051" y="0"/>
                    </a:cubicBezTo>
                    <a:cubicBezTo>
                      <a:pt x="74737" y="0"/>
                      <a:pt x="69810" y="2776"/>
                      <a:pt x="67057" y="7320"/>
                    </a:cubicBezTo>
                  </a:path>
                </a:pathLst>
              </a:custGeom>
              <a:noFill/>
              <a:ln w="15875">
                <a:solidFill>
                  <a:srgbClr val="C03616"/>
                </a:solidFill>
              </a:ln>
            </p:spPr>
          </p:sp>
          <p:sp>
            <p:nvSpPr>
              <p:cNvPr id="176" name="Freeform 176"/>
              <p:cNvSpPr/>
              <p:nvPr/>
            </p:nvSpPr>
            <p:spPr>
              <a:xfrm>
                <a:off x="8458200" y="4984750"/>
                <a:ext cx="9525" cy="9525"/>
              </a:xfrm>
              <a:custGeom>
                <a:avLst/>
                <a:gdLst/>
                <a:ahLst/>
                <a:cxnLst/>
                <a:rect l="l" t="t" r="r" b="b"/>
                <a:pathLst>
                  <a:path w="9525" h="9525">
                    <a:moveTo>
                      <a:pt x="0" y="0"/>
                    </a:moveTo>
                    <a:lnTo>
                      <a:pt x="79" y="0"/>
                    </a:lnTo>
                  </a:path>
                </a:pathLst>
              </a:custGeom>
              <a:noFill/>
              <a:ln w="15875">
                <a:solidFill>
                  <a:srgbClr val="C03616"/>
                </a:solidFill>
              </a:ln>
            </p:spPr>
          </p:sp>
        </p:grpSp>
        <p:sp>
          <p:nvSpPr>
            <p:cNvPr id="178" name="TextBox 178"/>
            <p:cNvSpPr txBox="1"/>
            <p:nvPr/>
          </p:nvSpPr>
          <p:spPr>
            <a:xfrm>
              <a:off x="8624888" y="4915614"/>
              <a:ext cx="2750691" cy="154781"/>
            </a:xfrm>
            <a:prstGeom prst="rect">
              <a:avLst/>
            </a:prstGeom>
            <a:noFill/>
            <a:ln>
              <a:noFill/>
            </a:ln>
          </p:spPr>
          <p:txBody>
            <a:bodyPr wrap="none" lIns="0" tIns="0" rIns="0" bIns="0" anchor="t" anchorCtr="0">
              <a:spAutoFit/>
            </a:bodyPr>
            <a:lstStyle/>
            <a:p>
              <a:pPr algn="l"/>
              <a:r>
                <a:rPr lang="zh-CN" sz="790" b="1" dirty="0">
                  <a:solidFill>
                    <a:srgbClr val="C03616"/>
                  </a:solidFill>
                  <a:latin typeface="+mn-lt"/>
                  <a:ea typeface="+mn-ea"/>
                  <a:cs typeface="+mn-cs"/>
                </a:rPr>
                <a:t xml:space="preserve">从“念数据”到“用数据”，让复盘产生行动与结果。      </a:t>
              </a:r>
            </a:p>
          </p:txBody>
        </p:sp>
      </p:grpSp>
      <p:grpSp>
        <p:nvGrpSpPr>
          <p:cNvPr id="190" name="takeaway-banner"/>
          <p:cNvGrpSpPr/>
          <p:nvPr/>
        </p:nvGrpSpPr>
        <p:grpSpPr>
          <a:xfrm>
            <a:off x="228600" y="5695950"/>
            <a:ext cx="11734800" cy="552450"/>
            <a:chOff x="228600" y="5695950"/>
            <a:chExt cx="11734800" cy="552450"/>
          </a:xfrm>
        </p:grpSpPr>
        <p:sp>
          <p:nvSpPr>
            <p:cNvPr id="180" name="Rectangle 180"/>
            <p:cNvSpPr/>
            <p:nvPr/>
          </p:nvSpPr>
          <p:spPr>
            <a:xfrm>
              <a:off x="228600" y="5695950"/>
              <a:ext cx="11734800" cy="552450"/>
            </a:xfrm>
            <a:prstGeom prst="roundRect">
              <a:avLst>
                <a:gd name="adj" fmla="val 17241"/>
              </a:avLst>
            </a:prstGeom>
            <a:solidFill>
              <a:srgbClr val="721E0D"/>
            </a:solidFill>
            <a:ln>
              <a:noFill/>
            </a:ln>
          </p:spPr>
        </p:sp>
        <p:sp>
          <p:nvSpPr>
            <p:cNvPr id="181" name="Ellipse 181"/>
            <p:cNvSpPr/>
            <p:nvPr/>
          </p:nvSpPr>
          <p:spPr>
            <a:xfrm>
              <a:off x="457200" y="5762625"/>
              <a:ext cx="419100" cy="419100"/>
            </a:xfrm>
            <a:prstGeom prst="ellipse">
              <a:avLst/>
            </a:prstGeom>
            <a:solidFill>
              <a:srgbClr val="FFFFFF"/>
            </a:solidFill>
            <a:ln>
              <a:noFill/>
            </a:ln>
          </p:spPr>
        </p:sp>
        <p:grpSp>
          <p:nvGrpSpPr>
            <p:cNvPr id="188" name="Group 188"/>
            <p:cNvGrpSpPr/>
            <p:nvPr/>
          </p:nvGrpSpPr>
          <p:grpSpPr>
            <a:xfrm>
              <a:off x="566738" y="5883275"/>
              <a:ext cx="200025" cy="198438"/>
              <a:chOff x="566738" y="5883275"/>
              <a:chExt cx="200025" cy="198438"/>
            </a:xfrm>
          </p:grpSpPr>
          <p:sp>
            <p:nvSpPr>
              <p:cNvPr id="182" name="Freeform 182"/>
              <p:cNvSpPr/>
              <p:nvPr/>
            </p:nvSpPr>
            <p:spPr>
              <a:xfrm>
                <a:off x="622300" y="6072188"/>
                <a:ext cx="88900" cy="9525"/>
              </a:xfrm>
              <a:custGeom>
                <a:avLst/>
                <a:gdLst/>
                <a:ahLst/>
                <a:cxnLst/>
                <a:rect l="l" t="t" r="r" b="b"/>
                <a:pathLst>
                  <a:path w="88900" h="9525">
                    <a:moveTo>
                      <a:pt x="0" y="0"/>
                    </a:moveTo>
                    <a:lnTo>
                      <a:pt x="88900" y="0"/>
                    </a:lnTo>
                  </a:path>
                </a:pathLst>
              </a:custGeom>
              <a:noFill/>
              <a:ln w="22225">
                <a:solidFill>
                  <a:srgbClr val="721E0D"/>
                </a:solidFill>
              </a:ln>
            </p:spPr>
          </p:sp>
          <p:sp>
            <p:nvSpPr>
              <p:cNvPr id="183" name="Freeform 183"/>
              <p:cNvSpPr/>
              <p:nvPr/>
            </p:nvSpPr>
            <p:spPr>
              <a:xfrm>
                <a:off x="666750" y="6027738"/>
                <a:ext cx="9525" cy="44450"/>
              </a:xfrm>
              <a:custGeom>
                <a:avLst/>
                <a:gdLst/>
                <a:ahLst/>
                <a:cxnLst/>
                <a:rect l="l" t="t" r="r" b="b"/>
                <a:pathLst>
                  <a:path w="9525" h="44450">
                    <a:moveTo>
                      <a:pt x="0" y="0"/>
                    </a:moveTo>
                    <a:lnTo>
                      <a:pt x="0" y="44450"/>
                    </a:lnTo>
                  </a:path>
                </a:pathLst>
              </a:custGeom>
              <a:noFill/>
              <a:ln w="22225">
                <a:solidFill>
                  <a:srgbClr val="721E0D"/>
                </a:solidFill>
              </a:ln>
            </p:spPr>
          </p:sp>
          <p:sp>
            <p:nvSpPr>
              <p:cNvPr id="184" name="Freeform 184"/>
              <p:cNvSpPr/>
              <p:nvPr/>
            </p:nvSpPr>
            <p:spPr>
              <a:xfrm>
                <a:off x="611188" y="5883275"/>
                <a:ext cx="111125" cy="9525"/>
              </a:xfrm>
              <a:custGeom>
                <a:avLst/>
                <a:gdLst/>
                <a:ahLst/>
                <a:cxnLst/>
                <a:rect l="l" t="t" r="r" b="b"/>
                <a:pathLst>
                  <a:path w="111125" h="9525">
                    <a:moveTo>
                      <a:pt x="0" y="0"/>
                    </a:moveTo>
                    <a:lnTo>
                      <a:pt x="111125" y="0"/>
                    </a:lnTo>
                  </a:path>
                </a:pathLst>
              </a:custGeom>
              <a:noFill/>
              <a:ln w="22225">
                <a:solidFill>
                  <a:srgbClr val="721E0D"/>
                </a:solidFill>
              </a:ln>
            </p:spPr>
          </p:sp>
          <p:sp>
            <p:nvSpPr>
              <p:cNvPr id="185" name="Freeform 185"/>
              <p:cNvSpPr/>
              <p:nvPr/>
            </p:nvSpPr>
            <p:spPr>
              <a:xfrm>
                <a:off x="611188" y="5883275"/>
                <a:ext cx="111125" cy="144463"/>
              </a:xfrm>
              <a:custGeom>
                <a:avLst/>
                <a:gdLst/>
                <a:ahLst/>
                <a:cxnLst/>
                <a:rect l="l" t="t" r="r" b="b"/>
                <a:pathLst>
                  <a:path w="111125" h="144463">
                    <a:moveTo>
                      <a:pt x="111125" y="0"/>
                    </a:moveTo>
                    <a:lnTo>
                      <a:pt x="111125" y="88900"/>
                    </a:lnTo>
                    <a:cubicBezTo>
                      <a:pt x="111125" y="119587"/>
                      <a:pt x="86249" y="144463"/>
                      <a:pt x="55563" y="144463"/>
                    </a:cubicBezTo>
                    <a:cubicBezTo>
                      <a:pt x="24876" y="144463"/>
                      <a:pt x="0" y="119587"/>
                      <a:pt x="0" y="88900"/>
                    </a:cubicBezTo>
                    <a:lnTo>
                      <a:pt x="0" y="0"/>
                    </a:lnTo>
                  </a:path>
                </a:pathLst>
              </a:custGeom>
              <a:noFill/>
              <a:ln w="22225">
                <a:solidFill>
                  <a:srgbClr val="721E0D"/>
                </a:solidFill>
              </a:ln>
            </p:spPr>
          </p:sp>
          <p:sp>
            <p:nvSpPr>
              <p:cNvPr id="186" name="Freeform 186"/>
              <p:cNvSpPr/>
              <p:nvPr/>
            </p:nvSpPr>
            <p:spPr>
              <a:xfrm>
                <a:off x="566738" y="591661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721E0D"/>
                </a:solidFill>
              </a:ln>
            </p:spPr>
          </p:sp>
          <p:sp>
            <p:nvSpPr>
              <p:cNvPr id="187" name="Freeform 187"/>
              <p:cNvSpPr/>
              <p:nvPr/>
            </p:nvSpPr>
            <p:spPr>
              <a:xfrm>
                <a:off x="722313" y="5916613"/>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721E0D"/>
                </a:solidFill>
              </a:ln>
            </p:spPr>
          </p:sp>
        </p:grpSp>
        <p:sp>
          <p:nvSpPr>
            <p:cNvPr id="189" name="TextBox 189"/>
            <p:cNvSpPr txBox="1"/>
            <p:nvPr/>
          </p:nvSpPr>
          <p:spPr>
            <a:xfrm>
              <a:off x="3115556" y="5894546"/>
              <a:ext cx="6341887"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★停止做错的事，才能把资源、精力和时间投入到真正带来结果的事情上★</a:t>
              </a:r>
            </a:p>
          </p:txBody>
        </p:sp>
      </p:gr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16668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15</a:t>
              </a:r>
            </a:p>
          </p:txBody>
        </p:sp>
        <p:sp>
          <p:nvSpPr>
            <p:cNvPr id="4" name="TextBox 4"/>
            <p:cNvSpPr txBox="1"/>
            <p:nvPr/>
          </p:nvSpPr>
          <p:spPr>
            <a:xfrm>
              <a:off x="904494" y="180023"/>
              <a:ext cx="3169920"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下半年必须</a:t>
              </a:r>
              <a:r>
                <a:rPr lang="zh-CN" sz="1950" b="1" dirty="0">
                  <a:solidFill>
                    <a:srgbClr val="B8351A"/>
                  </a:solidFill>
                  <a:latin typeface="+mn-lt"/>
                  <a:ea typeface="+mn-ea"/>
                  <a:cs typeface="+mn-cs"/>
                </a:rPr>
                <a:t>开始做</a:t>
              </a:r>
              <a:r>
                <a:rPr lang="zh-CN" sz="1950" b="1" dirty="0">
                  <a:solidFill>
                    <a:srgbClr val="461910"/>
                  </a:solidFill>
                  <a:latin typeface="+mn-lt"/>
                  <a:ea typeface="+mn-ea"/>
                  <a:cs typeface="+mn-cs"/>
                </a:rPr>
                <a:t>的三件事</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76" name="start-card-1"/>
          <p:cNvGrpSpPr/>
          <p:nvPr/>
        </p:nvGrpSpPr>
        <p:grpSpPr>
          <a:xfrm>
            <a:off x="221705" y="704850"/>
            <a:ext cx="3816895" cy="4591050"/>
            <a:chOff x="221705" y="704850"/>
            <a:chExt cx="3816895" cy="4591050"/>
          </a:xfrm>
        </p:grpSpPr>
        <p:sp>
          <p:nvSpPr>
            <p:cNvPr id="7" name="Rectangle 7"/>
            <p:cNvSpPr/>
            <p:nvPr/>
          </p:nvSpPr>
          <p:spPr>
            <a:xfrm>
              <a:off x="228600" y="704850"/>
              <a:ext cx="3810000" cy="4591050"/>
            </a:xfrm>
            <a:prstGeom prst="roundRect">
              <a:avLst>
                <a:gd name="adj" fmla="val 3000"/>
              </a:avLst>
            </a:prstGeom>
            <a:solidFill>
              <a:srgbClr val="FFFFFF"/>
            </a:solidFill>
            <a:ln w="14288">
              <a:solidFill>
                <a:srgbClr val="C9D6EE"/>
              </a:solidFill>
            </a:ln>
          </p:spPr>
        </p:sp>
        <p:sp>
          <p:nvSpPr>
            <p:cNvPr id="8" name="Ellipse 8"/>
            <p:cNvSpPr/>
            <p:nvPr/>
          </p:nvSpPr>
          <p:spPr>
            <a:xfrm>
              <a:off x="342900" y="781050"/>
              <a:ext cx="533400" cy="533400"/>
            </a:xfrm>
            <a:prstGeom prst="ellipse">
              <a:avLst/>
            </a:prstGeom>
            <a:solidFill>
              <a:srgbClr val="721E0D"/>
            </a:solidFill>
            <a:ln>
              <a:noFill/>
            </a:ln>
          </p:spPr>
        </p:sp>
        <p:grpSp>
          <p:nvGrpSpPr>
            <p:cNvPr id="11" name="Group 11"/>
            <p:cNvGrpSpPr/>
            <p:nvPr/>
          </p:nvGrpSpPr>
          <p:grpSpPr>
            <a:xfrm>
              <a:off x="469946" y="926306"/>
              <a:ext cx="263510" cy="242888"/>
              <a:chOff x="469946" y="926306"/>
              <a:chExt cx="263510" cy="242888"/>
            </a:xfrm>
          </p:grpSpPr>
          <p:sp>
            <p:nvSpPr>
              <p:cNvPr id="9" name="Freeform 9"/>
              <p:cNvSpPr/>
              <p:nvPr/>
            </p:nvSpPr>
            <p:spPr>
              <a:xfrm>
                <a:off x="469946" y="926306"/>
                <a:ext cx="263510" cy="240810"/>
              </a:xfrm>
              <a:custGeom>
                <a:avLst/>
                <a:gdLst/>
                <a:ahLst/>
                <a:cxnLst/>
                <a:rect l="l" t="t" r="r" b="b"/>
                <a:pathLst>
                  <a:path w="263510" h="240810">
                    <a:moveTo>
                      <a:pt x="132368" y="240810"/>
                    </a:moveTo>
                    <a:cubicBezTo>
                      <a:pt x="47836" y="214607"/>
                      <a:pt x="0" y="125390"/>
                      <a:pt x="24957" y="40481"/>
                    </a:cubicBezTo>
                    <a:cubicBezTo>
                      <a:pt x="66998" y="42405"/>
                      <a:pt x="108135" y="27886"/>
                      <a:pt x="139655" y="0"/>
                    </a:cubicBezTo>
                    <a:cubicBezTo>
                      <a:pt x="171174" y="27886"/>
                      <a:pt x="212311" y="42405"/>
                      <a:pt x="254352" y="40481"/>
                    </a:cubicBezTo>
                    <a:cubicBezTo>
                      <a:pt x="263510" y="71640"/>
                      <a:pt x="263086" y="104832"/>
                      <a:pt x="253137" y="135747"/>
                    </a:cubicBezTo>
                  </a:path>
                </a:pathLst>
              </a:custGeom>
              <a:noFill/>
              <a:ln w="26988">
                <a:solidFill>
                  <a:srgbClr val="FFFFFF"/>
                </a:solidFill>
              </a:ln>
            </p:spPr>
          </p:sp>
          <p:sp>
            <p:nvSpPr>
              <p:cNvPr id="10" name="Freeform 10"/>
              <p:cNvSpPr/>
              <p:nvPr/>
            </p:nvSpPr>
            <p:spPr>
              <a:xfrm>
                <a:off x="650082" y="1115219"/>
                <a:ext cx="80963" cy="53975"/>
              </a:xfrm>
              <a:custGeom>
                <a:avLst/>
                <a:gdLst/>
                <a:ahLst/>
                <a:cxnLst/>
                <a:rect l="l" t="t" r="r" b="b"/>
                <a:pathLst>
                  <a:path w="80963" h="53975">
                    <a:moveTo>
                      <a:pt x="0" y="26988"/>
                    </a:moveTo>
                    <a:lnTo>
                      <a:pt x="26988" y="53975"/>
                    </a:lnTo>
                    <a:lnTo>
                      <a:pt x="80963" y="0"/>
                    </a:lnTo>
                  </a:path>
                </a:pathLst>
              </a:custGeom>
              <a:noFill/>
              <a:ln w="26988">
                <a:solidFill>
                  <a:srgbClr val="FFFFFF"/>
                </a:solidFill>
              </a:ln>
            </p:spPr>
          </p:sp>
        </p:grpSp>
        <p:sp>
          <p:nvSpPr>
            <p:cNvPr id="12" name="TextBox 12"/>
            <p:cNvSpPr txBox="1"/>
            <p:nvPr/>
          </p:nvSpPr>
          <p:spPr>
            <a:xfrm>
              <a:off x="984694" y="865108"/>
              <a:ext cx="2041881" cy="227362"/>
            </a:xfrm>
            <a:prstGeom prst="rect">
              <a:avLst/>
            </a:prstGeom>
            <a:noFill/>
            <a:ln>
              <a:noFill/>
            </a:ln>
          </p:spPr>
          <p:txBody>
            <a:bodyPr wrap="none" lIns="0" tIns="0" rIns="0" bIns="0" anchor="t" anchorCtr="0">
              <a:spAutoFit/>
            </a:bodyPr>
            <a:lstStyle/>
            <a:p>
              <a:pPr algn="l"/>
              <a:r>
                <a:rPr lang="zh-CN" sz="1160" b="1" dirty="0">
                  <a:solidFill>
                    <a:srgbClr val="721E0D"/>
                  </a:solidFill>
                  <a:latin typeface="+mn-lt"/>
                  <a:ea typeface="+mn-ea"/>
                  <a:cs typeface="+mn-cs"/>
                </a:rPr>
                <a:t>开始一：客户健康度月度评估</a:t>
              </a:r>
            </a:p>
          </p:txBody>
        </p:sp>
        <p:sp>
          <p:nvSpPr>
            <p:cNvPr id="13" name="TextBox 13"/>
            <p:cNvSpPr txBox="1"/>
            <p:nvPr/>
          </p:nvSpPr>
          <p:spPr>
            <a:xfrm>
              <a:off x="985838" y="1096089"/>
              <a:ext cx="171513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23E3A"/>
                  </a:solidFill>
                  <a:latin typeface="+mn-lt"/>
                  <a:ea typeface="+mn-ea"/>
                  <a:cs typeface="+mn-cs"/>
                </a:rPr>
                <a:t>建立客户健康度评分体系，月度评估、</a:t>
              </a:r>
              <a:br/>
              <a:r>
                <a:rPr lang="zh-CN" sz="790" dirty="0">
                  <a:solidFill>
                    <a:srgbClr val="523E3A"/>
                  </a:solidFill>
                  <a:latin typeface="+mn-lt"/>
                  <a:ea typeface="+mn-ea"/>
                  <a:cs typeface="+mn-cs"/>
                </a:rPr>
                <a:t>分级预警，提前识别风险，主动干预。</a:t>
              </a:r>
            </a:p>
          </p:txBody>
        </p:sp>
        <p:sp>
          <p:nvSpPr>
            <p:cNvPr id="14" name="Line 14"/>
            <p:cNvSpPr/>
            <p:nvPr/>
          </p:nvSpPr>
          <p:spPr>
            <a:xfrm>
              <a:off x="342900" y="1485900"/>
              <a:ext cx="3581400" cy="9525"/>
            </a:xfrm>
            <a:custGeom>
              <a:avLst/>
              <a:gdLst/>
              <a:ahLst/>
              <a:cxnLst/>
              <a:rect l="l" t="t" r="r" b="b"/>
              <a:pathLst>
                <a:path w="3581400" h="9525">
                  <a:moveTo>
                    <a:pt x="0" y="0"/>
                  </a:moveTo>
                  <a:lnTo>
                    <a:pt x="3581400" y="0"/>
                  </a:lnTo>
                </a:path>
              </a:pathLst>
            </a:custGeom>
            <a:noFill/>
            <a:ln w="9525">
              <a:solidFill>
                <a:srgbClr val="E6EAF2"/>
              </a:solidFill>
            </a:ln>
          </p:spPr>
        </p:sp>
        <p:sp>
          <p:nvSpPr>
            <p:cNvPr id="15" name="TextBox 15"/>
            <p:cNvSpPr txBox="1"/>
            <p:nvPr/>
          </p:nvSpPr>
          <p:spPr>
            <a:xfrm>
              <a:off x="357188" y="1587341"/>
              <a:ext cx="1687153" cy="161925"/>
            </a:xfrm>
            <a:prstGeom prst="rect">
              <a:avLst/>
            </a:prstGeom>
            <a:noFill/>
            <a:ln>
              <a:noFill/>
            </a:ln>
          </p:spPr>
          <p:txBody>
            <a:bodyPr wrap="none" lIns="0" tIns="0" rIns="0" bIns="0" anchor="t" anchorCtr="0">
              <a:spAutoFit/>
            </a:bodyPr>
            <a:lstStyle/>
            <a:p>
              <a:pPr algn="l"/>
              <a:r>
                <a:rPr lang="zh-CN" sz="820" b="1" dirty="0">
                  <a:solidFill>
                    <a:srgbClr val="721E0D"/>
                  </a:solidFill>
                  <a:latin typeface="+mn-lt"/>
                  <a:ea typeface="+mn-ea"/>
                  <a:cs typeface="+mn-cs"/>
                </a:rPr>
                <a:t xml:space="preserve">健康度评分卡（100分制）      </a:t>
              </a:r>
            </a:p>
          </p:txBody>
        </p:sp>
        <p:sp>
          <p:nvSpPr>
            <p:cNvPr id="16" name="Polygon 16"/>
            <p:cNvSpPr/>
            <p:nvPr/>
          </p:nvSpPr>
          <p:spPr>
            <a:xfrm>
              <a:off x="672465" y="2000250"/>
              <a:ext cx="979170" cy="930592"/>
            </a:xfrm>
            <a:custGeom>
              <a:avLst/>
              <a:gdLst/>
              <a:ahLst/>
              <a:cxnLst/>
              <a:rect l="l" t="t" r="r" b="b"/>
              <a:pathLst>
                <a:path w="979170" h="930592">
                  <a:moveTo>
                    <a:pt x="489585" y="0"/>
                  </a:moveTo>
                  <a:lnTo>
                    <a:pt x="979170" y="355283"/>
                  </a:lnTo>
                  <a:lnTo>
                    <a:pt x="791528" y="930592"/>
                  </a:lnTo>
                  <a:lnTo>
                    <a:pt x="187643" y="930592"/>
                  </a:lnTo>
                  <a:lnTo>
                    <a:pt x="0" y="355283"/>
                  </a:lnTo>
                  <a:close/>
                </a:path>
              </a:pathLst>
            </a:custGeom>
            <a:noFill/>
            <a:ln w="9525">
              <a:solidFill>
                <a:srgbClr val="C9D6EE"/>
              </a:solidFill>
            </a:ln>
          </p:spPr>
        </p:sp>
        <p:sp>
          <p:nvSpPr>
            <p:cNvPr id="17" name="Polygon 17"/>
            <p:cNvSpPr/>
            <p:nvPr/>
          </p:nvSpPr>
          <p:spPr>
            <a:xfrm>
              <a:off x="795338" y="2128838"/>
              <a:ext cx="733425" cy="698183"/>
            </a:xfrm>
            <a:custGeom>
              <a:avLst/>
              <a:gdLst/>
              <a:ahLst/>
              <a:cxnLst/>
              <a:rect l="l" t="t" r="r" b="b"/>
              <a:pathLst>
                <a:path w="733425" h="698183">
                  <a:moveTo>
                    <a:pt x="366712" y="0"/>
                  </a:moveTo>
                  <a:lnTo>
                    <a:pt x="733425" y="266700"/>
                  </a:lnTo>
                  <a:lnTo>
                    <a:pt x="593408" y="698183"/>
                  </a:lnTo>
                  <a:lnTo>
                    <a:pt x="140018" y="698183"/>
                  </a:lnTo>
                  <a:lnTo>
                    <a:pt x="0" y="266700"/>
                  </a:lnTo>
                  <a:close/>
                </a:path>
              </a:pathLst>
            </a:custGeom>
            <a:noFill/>
            <a:ln w="9525">
              <a:solidFill>
                <a:srgbClr val="C9D6EE"/>
              </a:solidFill>
            </a:ln>
          </p:spPr>
        </p:sp>
        <p:sp>
          <p:nvSpPr>
            <p:cNvPr id="18" name="Polygon 18"/>
            <p:cNvSpPr/>
            <p:nvPr/>
          </p:nvSpPr>
          <p:spPr>
            <a:xfrm>
              <a:off x="917258" y="2257425"/>
              <a:ext cx="489585" cy="464820"/>
            </a:xfrm>
            <a:custGeom>
              <a:avLst/>
              <a:gdLst/>
              <a:ahLst/>
              <a:cxnLst/>
              <a:rect l="l" t="t" r="r" b="b"/>
              <a:pathLst>
                <a:path w="489585" h="464820">
                  <a:moveTo>
                    <a:pt x="244793" y="0"/>
                  </a:moveTo>
                  <a:lnTo>
                    <a:pt x="489585" y="178117"/>
                  </a:lnTo>
                  <a:lnTo>
                    <a:pt x="396240" y="464820"/>
                  </a:lnTo>
                  <a:lnTo>
                    <a:pt x="93345" y="464820"/>
                  </a:lnTo>
                  <a:lnTo>
                    <a:pt x="0" y="178117"/>
                  </a:lnTo>
                  <a:close/>
                </a:path>
              </a:pathLst>
            </a:custGeom>
            <a:noFill/>
            <a:ln w="9525">
              <a:solidFill>
                <a:srgbClr val="C9D6EE"/>
              </a:solidFill>
            </a:ln>
          </p:spPr>
        </p:sp>
        <p:sp>
          <p:nvSpPr>
            <p:cNvPr id="19" name="Polygon 19"/>
            <p:cNvSpPr/>
            <p:nvPr/>
          </p:nvSpPr>
          <p:spPr>
            <a:xfrm>
              <a:off x="1040130" y="2386012"/>
              <a:ext cx="243840" cy="232410"/>
            </a:xfrm>
            <a:custGeom>
              <a:avLst/>
              <a:gdLst/>
              <a:ahLst/>
              <a:cxnLst/>
              <a:rect l="l" t="t" r="r" b="b"/>
              <a:pathLst>
                <a:path w="243840" h="232410">
                  <a:moveTo>
                    <a:pt x="121920" y="0"/>
                  </a:moveTo>
                  <a:lnTo>
                    <a:pt x="243840" y="88583"/>
                  </a:lnTo>
                  <a:lnTo>
                    <a:pt x="197168" y="232410"/>
                  </a:lnTo>
                  <a:lnTo>
                    <a:pt x="46672" y="232410"/>
                  </a:lnTo>
                  <a:lnTo>
                    <a:pt x="0" y="88583"/>
                  </a:lnTo>
                  <a:close/>
                </a:path>
              </a:pathLst>
            </a:custGeom>
            <a:noFill/>
            <a:ln w="9525">
              <a:solidFill>
                <a:srgbClr val="C9D6EE"/>
              </a:solidFill>
            </a:ln>
          </p:spPr>
        </p:sp>
        <p:sp>
          <p:nvSpPr>
            <p:cNvPr id="20" name="Line 20"/>
            <p:cNvSpPr/>
            <p:nvPr/>
          </p:nvSpPr>
          <p:spPr>
            <a:xfrm>
              <a:off x="1162050" y="2000250"/>
              <a:ext cx="9525" cy="514350"/>
            </a:xfrm>
            <a:custGeom>
              <a:avLst/>
              <a:gdLst/>
              <a:ahLst/>
              <a:cxnLst/>
              <a:rect l="l" t="t" r="r" b="b"/>
              <a:pathLst>
                <a:path w="9525" h="514350">
                  <a:moveTo>
                    <a:pt x="0" y="514350"/>
                  </a:moveTo>
                  <a:lnTo>
                    <a:pt x="0" y="0"/>
                  </a:lnTo>
                </a:path>
              </a:pathLst>
            </a:custGeom>
            <a:noFill/>
            <a:ln w="9525">
              <a:solidFill>
                <a:srgbClr val="DCE6F6"/>
              </a:solidFill>
            </a:ln>
          </p:spPr>
        </p:sp>
        <p:sp>
          <p:nvSpPr>
            <p:cNvPr id="21" name="Line 21"/>
            <p:cNvSpPr/>
            <p:nvPr/>
          </p:nvSpPr>
          <p:spPr>
            <a:xfrm>
              <a:off x="1162050" y="2355532"/>
              <a:ext cx="489585" cy="159067"/>
            </a:xfrm>
            <a:custGeom>
              <a:avLst/>
              <a:gdLst/>
              <a:ahLst/>
              <a:cxnLst/>
              <a:rect l="l" t="t" r="r" b="b"/>
              <a:pathLst>
                <a:path w="489585" h="159067">
                  <a:moveTo>
                    <a:pt x="0" y="159067"/>
                  </a:moveTo>
                  <a:lnTo>
                    <a:pt x="489585" y="0"/>
                  </a:lnTo>
                </a:path>
              </a:pathLst>
            </a:custGeom>
            <a:noFill/>
            <a:ln w="9525">
              <a:solidFill>
                <a:srgbClr val="DCE6F6"/>
              </a:solidFill>
            </a:ln>
          </p:spPr>
        </p:sp>
        <p:sp>
          <p:nvSpPr>
            <p:cNvPr id="22" name="Line 22"/>
            <p:cNvSpPr/>
            <p:nvPr/>
          </p:nvSpPr>
          <p:spPr>
            <a:xfrm>
              <a:off x="1162050" y="2514600"/>
              <a:ext cx="301942" cy="416242"/>
            </a:xfrm>
            <a:custGeom>
              <a:avLst/>
              <a:gdLst/>
              <a:ahLst/>
              <a:cxnLst/>
              <a:rect l="l" t="t" r="r" b="b"/>
              <a:pathLst>
                <a:path w="301942" h="416242">
                  <a:moveTo>
                    <a:pt x="0" y="0"/>
                  </a:moveTo>
                  <a:lnTo>
                    <a:pt x="301942" y="416242"/>
                  </a:lnTo>
                </a:path>
              </a:pathLst>
            </a:custGeom>
            <a:noFill/>
            <a:ln w="9525">
              <a:solidFill>
                <a:srgbClr val="DCE6F6"/>
              </a:solidFill>
            </a:ln>
          </p:spPr>
        </p:sp>
        <p:sp>
          <p:nvSpPr>
            <p:cNvPr id="23" name="Line 23"/>
            <p:cNvSpPr/>
            <p:nvPr/>
          </p:nvSpPr>
          <p:spPr>
            <a:xfrm>
              <a:off x="860108" y="2514600"/>
              <a:ext cx="301942" cy="416242"/>
            </a:xfrm>
            <a:custGeom>
              <a:avLst/>
              <a:gdLst/>
              <a:ahLst/>
              <a:cxnLst/>
              <a:rect l="l" t="t" r="r" b="b"/>
              <a:pathLst>
                <a:path w="301942" h="416242">
                  <a:moveTo>
                    <a:pt x="301942" y="0"/>
                  </a:moveTo>
                  <a:lnTo>
                    <a:pt x="0" y="416242"/>
                  </a:lnTo>
                </a:path>
              </a:pathLst>
            </a:custGeom>
            <a:noFill/>
            <a:ln w="9525">
              <a:solidFill>
                <a:srgbClr val="DCE6F6"/>
              </a:solidFill>
            </a:ln>
          </p:spPr>
        </p:sp>
        <p:sp>
          <p:nvSpPr>
            <p:cNvPr id="24" name="Line 24"/>
            <p:cNvSpPr/>
            <p:nvPr/>
          </p:nvSpPr>
          <p:spPr>
            <a:xfrm>
              <a:off x="672465" y="2355532"/>
              <a:ext cx="489585" cy="159067"/>
            </a:xfrm>
            <a:custGeom>
              <a:avLst/>
              <a:gdLst/>
              <a:ahLst/>
              <a:cxnLst/>
              <a:rect l="l" t="t" r="r" b="b"/>
              <a:pathLst>
                <a:path w="489585" h="159067">
                  <a:moveTo>
                    <a:pt x="489585" y="159067"/>
                  </a:moveTo>
                  <a:lnTo>
                    <a:pt x="0" y="0"/>
                  </a:lnTo>
                </a:path>
              </a:pathLst>
            </a:custGeom>
            <a:noFill/>
            <a:ln w="9525">
              <a:solidFill>
                <a:srgbClr val="DCE6F6"/>
              </a:solidFill>
            </a:ln>
          </p:spPr>
        </p:sp>
        <p:sp>
          <p:nvSpPr>
            <p:cNvPr id="25" name="Polygon 25"/>
            <p:cNvSpPr/>
            <p:nvPr/>
          </p:nvSpPr>
          <p:spPr>
            <a:xfrm>
              <a:off x="795338" y="2103120"/>
              <a:ext cx="660083" cy="702945"/>
            </a:xfrm>
            <a:custGeom>
              <a:avLst/>
              <a:gdLst/>
              <a:ahLst/>
              <a:cxnLst/>
              <a:rect l="l" t="t" r="r" b="b"/>
              <a:pathLst>
                <a:path w="660083" h="702945">
                  <a:moveTo>
                    <a:pt x="366712" y="0"/>
                  </a:moveTo>
                  <a:lnTo>
                    <a:pt x="660083" y="316230"/>
                  </a:lnTo>
                  <a:lnTo>
                    <a:pt x="578167" y="702945"/>
                  </a:lnTo>
                  <a:lnTo>
                    <a:pt x="170498" y="681990"/>
                  </a:lnTo>
                  <a:lnTo>
                    <a:pt x="0" y="292417"/>
                  </a:lnTo>
                  <a:close/>
                </a:path>
              </a:pathLst>
            </a:custGeom>
            <a:solidFill>
              <a:srgbClr val="B8351A">
                <a:alpha val="25000"/>
              </a:srgbClr>
            </a:solidFill>
            <a:ln w="14288">
              <a:solidFill>
                <a:srgbClr val="B8351A"/>
              </a:solidFill>
            </a:ln>
          </p:spPr>
        </p:sp>
        <p:sp>
          <p:nvSpPr>
            <p:cNvPr id="26" name="TextBox 26"/>
            <p:cNvSpPr txBox="1"/>
            <p:nvPr/>
          </p:nvSpPr>
          <p:spPr>
            <a:xfrm>
              <a:off x="1185862" y="2361962"/>
              <a:ext cx="82085" cy="97631"/>
            </a:xfrm>
            <a:prstGeom prst="rect">
              <a:avLst/>
            </a:prstGeom>
            <a:noFill/>
            <a:ln>
              <a:noFill/>
            </a:ln>
          </p:spPr>
          <p:txBody>
            <a:bodyPr wrap="none" lIns="0" tIns="0" rIns="0" bIns="0" anchor="t" anchorCtr="0">
              <a:spAutoFit/>
            </a:bodyPr>
            <a:lstStyle/>
            <a:p>
              <a:pPr algn="l"/>
              <a:r>
                <a:rPr lang="zh-CN" sz="490" dirty="0">
                  <a:solidFill>
                    <a:srgbClr val="6E7686"/>
                  </a:solidFill>
                  <a:latin typeface="+mn-lt"/>
                  <a:ea typeface="+mn-ea"/>
                  <a:cs typeface="+mn-cs"/>
                </a:rPr>
                <a:t>25</a:t>
              </a:r>
            </a:p>
          </p:txBody>
        </p:sp>
        <p:sp>
          <p:nvSpPr>
            <p:cNvPr id="27" name="TextBox 27"/>
            <p:cNvSpPr txBox="1"/>
            <p:nvPr/>
          </p:nvSpPr>
          <p:spPr>
            <a:xfrm>
              <a:off x="1185862" y="2233374"/>
              <a:ext cx="82085" cy="97631"/>
            </a:xfrm>
            <a:prstGeom prst="rect">
              <a:avLst/>
            </a:prstGeom>
            <a:noFill/>
            <a:ln>
              <a:noFill/>
            </a:ln>
          </p:spPr>
          <p:txBody>
            <a:bodyPr wrap="none" lIns="0" tIns="0" rIns="0" bIns="0" anchor="t" anchorCtr="0">
              <a:spAutoFit/>
            </a:bodyPr>
            <a:lstStyle/>
            <a:p>
              <a:pPr algn="l"/>
              <a:r>
                <a:rPr lang="zh-CN" sz="490" dirty="0">
                  <a:solidFill>
                    <a:srgbClr val="6E7686"/>
                  </a:solidFill>
                  <a:latin typeface="+mn-lt"/>
                  <a:ea typeface="+mn-ea"/>
                  <a:cs typeface="+mn-cs"/>
                </a:rPr>
                <a:t>50</a:t>
              </a:r>
            </a:p>
          </p:txBody>
        </p:sp>
        <p:sp>
          <p:nvSpPr>
            <p:cNvPr id="28" name="TextBox 28"/>
            <p:cNvSpPr txBox="1"/>
            <p:nvPr/>
          </p:nvSpPr>
          <p:spPr>
            <a:xfrm>
              <a:off x="1185862" y="2104787"/>
              <a:ext cx="82085" cy="97631"/>
            </a:xfrm>
            <a:prstGeom prst="rect">
              <a:avLst/>
            </a:prstGeom>
            <a:noFill/>
            <a:ln>
              <a:noFill/>
            </a:ln>
          </p:spPr>
          <p:txBody>
            <a:bodyPr wrap="none" lIns="0" tIns="0" rIns="0" bIns="0" anchor="t" anchorCtr="0">
              <a:spAutoFit/>
            </a:bodyPr>
            <a:lstStyle/>
            <a:p>
              <a:pPr algn="l"/>
              <a:r>
                <a:rPr lang="zh-CN" sz="490" dirty="0">
                  <a:solidFill>
                    <a:srgbClr val="6E7686"/>
                  </a:solidFill>
                  <a:latin typeface="+mn-lt"/>
                  <a:ea typeface="+mn-ea"/>
                  <a:cs typeface="+mn-cs"/>
                </a:rPr>
                <a:t>75</a:t>
              </a:r>
            </a:p>
          </p:txBody>
        </p:sp>
        <p:sp>
          <p:nvSpPr>
            <p:cNvPr id="29" name="TextBox 29"/>
            <p:cNvSpPr txBox="1"/>
            <p:nvPr/>
          </p:nvSpPr>
          <p:spPr>
            <a:xfrm>
              <a:off x="1185862" y="1976199"/>
              <a:ext cx="227206" cy="97631"/>
            </a:xfrm>
            <a:prstGeom prst="rect">
              <a:avLst/>
            </a:prstGeom>
            <a:noFill/>
            <a:ln>
              <a:noFill/>
            </a:ln>
          </p:spPr>
          <p:txBody>
            <a:bodyPr wrap="none" lIns="0" tIns="0" rIns="0" bIns="0" anchor="t" anchorCtr="0">
              <a:spAutoFit/>
            </a:bodyPr>
            <a:lstStyle/>
            <a:p>
              <a:pPr algn="l"/>
              <a:r>
                <a:rPr lang="zh-CN" sz="490" dirty="0">
                  <a:solidFill>
                    <a:srgbClr val="6E7686"/>
                  </a:solidFill>
                  <a:latin typeface="+mn-lt"/>
                  <a:ea typeface="+mn-ea"/>
                  <a:cs typeface="+mn-cs"/>
                </a:rPr>
                <a:t xml:space="preserve">100   </a:t>
              </a:r>
            </a:p>
          </p:txBody>
        </p:sp>
        <p:sp>
          <p:nvSpPr>
            <p:cNvPr id="30" name="TextBox 30"/>
            <p:cNvSpPr txBox="1"/>
            <p:nvPr/>
          </p:nvSpPr>
          <p:spPr>
            <a:xfrm>
              <a:off x="867728" y="1821180"/>
              <a:ext cx="588645" cy="214312"/>
            </a:xfrm>
            <a:prstGeom prst="rect">
              <a:avLst/>
            </a:prstGeom>
            <a:noFill/>
            <a:ln>
              <a:noFill/>
            </a:ln>
          </p:spPr>
          <p:txBody>
            <a:bodyPr wrap="none" lIns="0" tIns="0" rIns="0" bIns="0" anchor="t" anchorCtr="0">
              <a:spAutoFit/>
            </a:bodyPr>
            <a:lstStyle/>
            <a:p>
              <a:pPr algn="ctr">
                <a:lnSpc>
                  <a:spcPts val="750"/>
                </a:lnSpc>
              </a:pPr>
              <a:r>
                <a:rPr lang="zh-CN" sz="600" b="1" dirty="0">
                  <a:solidFill>
                    <a:srgbClr val="461910"/>
                  </a:solidFill>
                  <a:latin typeface="+mn-lt"/>
                  <a:ea typeface="+mn-ea"/>
                  <a:cs typeface="+mn-cs"/>
                </a:rPr>
                <a:t>战略重要性</a:t>
              </a:r>
              <a:br/>
              <a:r>
                <a:rPr lang="zh-CN" sz="600" dirty="0">
                  <a:solidFill>
                    <a:srgbClr val="6E7686"/>
                  </a:solidFill>
                  <a:latin typeface="+mn-lt"/>
                  <a:ea typeface="+mn-ea"/>
                  <a:cs typeface="+mn-cs"/>
                </a:rPr>
                <a:t xml:space="preserve">     20分     </a:t>
              </a:r>
            </a:p>
          </p:txBody>
        </p:sp>
        <p:sp>
          <p:nvSpPr>
            <p:cNvPr id="31" name="TextBox 31"/>
            <p:cNvSpPr txBox="1"/>
            <p:nvPr/>
          </p:nvSpPr>
          <p:spPr>
            <a:xfrm>
              <a:off x="1709738" y="2297430"/>
              <a:ext cx="314325" cy="214312"/>
            </a:xfrm>
            <a:prstGeom prst="rect">
              <a:avLst/>
            </a:prstGeom>
            <a:noFill/>
            <a:ln>
              <a:noFill/>
            </a:ln>
          </p:spPr>
          <p:txBody>
            <a:bodyPr wrap="none" lIns="0" tIns="0" rIns="0" bIns="0" anchor="t" anchorCtr="0">
              <a:spAutoFit/>
            </a:bodyPr>
            <a:lstStyle/>
            <a:p>
              <a:pPr algn="l">
                <a:lnSpc>
                  <a:spcPts val="750"/>
                </a:lnSpc>
              </a:pPr>
              <a:r>
                <a:rPr lang="zh-CN" sz="600" b="1" dirty="0">
                  <a:solidFill>
                    <a:srgbClr val="461910"/>
                  </a:solidFill>
                  <a:latin typeface="+mn-lt"/>
                  <a:ea typeface="+mn-ea"/>
                  <a:cs typeface="+mn-cs"/>
                </a:rPr>
                <a:t>业务规模</a:t>
              </a:r>
              <a:br/>
              <a:r>
                <a:rPr lang="zh-CN" sz="600" dirty="0">
                  <a:solidFill>
                    <a:srgbClr val="6E7686"/>
                  </a:solidFill>
                  <a:latin typeface="+mn-lt"/>
                  <a:ea typeface="+mn-ea"/>
                  <a:cs typeface="+mn-cs"/>
                </a:rPr>
                <a:t xml:space="preserve">20分   </a:t>
              </a:r>
            </a:p>
          </p:txBody>
        </p:sp>
        <p:sp>
          <p:nvSpPr>
            <p:cNvPr id="32" name="TextBox 32"/>
            <p:cNvSpPr txBox="1"/>
            <p:nvPr/>
          </p:nvSpPr>
          <p:spPr>
            <a:xfrm>
              <a:off x="1491615" y="3059430"/>
              <a:ext cx="314325" cy="214312"/>
            </a:xfrm>
            <a:prstGeom prst="rect">
              <a:avLst/>
            </a:prstGeom>
            <a:noFill/>
            <a:ln>
              <a:noFill/>
            </a:ln>
          </p:spPr>
          <p:txBody>
            <a:bodyPr wrap="none" lIns="0" tIns="0" rIns="0" bIns="0" anchor="t" anchorCtr="0">
              <a:spAutoFit/>
            </a:bodyPr>
            <a:lstStyle/>
            <a:p>
              <a:pPr algn="l">
                <a:lnSpc>
                  <a:spcPts val="750"/>
                </a:lnSpc>
              </a:pPr>
              <a:r>
                <a:rPr lang="zh-CN" sz="600" b="1" dirty="0">
                  <a:solidFill>
                    <a:srgbClr val="461910"/>
                  </a:solidFill>
                  <a:latin typeface="+mn-lt"/>
                  <a:ea typeface="+mn-ea"/>
                  <a:cs typeface="+mn-cs"/>
                </a:rPr>
                <a:t>合作深度</a:t>
              </a:r>
              <a:br/>
              <a:r>
                <a:rPr lang="zh-CN" sz="600" dirty="0">
                  <a:solidFill>
                    <a:srgbClr val="6E7686"/>
                  </a:solidFill>
                  <a:latin typeface="+mn-lt"/>
                  <a:ea typeface="+mn-ea"/>
                  <a:cs typeface="+mn-cs"/>
                </a:rPr>
                <a:t xml:space="preserve">20分   </a:t>
              </a:r>
            </a:p>
          </p:txBody>
        </p:sp>
        <p:sp>
          <p:nvSpPr>
            <p:cNvPr id="33" name="TextBox 33"/>
            <p:cNvSpPr txBox="1"/>
            <p:nvPr/>
          </p:nvSpPr>
          <p:spPr>
            <a:xfrm>
              <a:off x="594360" y="3059430"/>
              <a:ext cx="238125" cy="214312"/>
            </a:xfrm>
            <a:prstGeom prst="rect">
              <a:avLst/>
            </a:prstGeom>
            <a:noFill/>
            <a:ln>
              <a:noFill/>
            </a:ln>
          </p:spPr>
          <p:txBody>
            <a:bodyPr wrap="none" lIns="0" tIns="0" rIns="0" bIns="0" anchor="t" anchorCtr="0">
              <a:spAutoFit/>
            </a:bodyPr>
            <a:lstStyle/>
            <a:p>
              <a:pPr algn="r">
                <a:lnSpc>
                  <a:spcPts val="750"/>
                </a:lnSpc>
              </a:pPr>
              <a:r>
                <a:rPr lang="zh-CN" sz="600" b="1" dirty="0">
                  <a:solidFill>
                    <a:srgbClr val="461910"/>
                  </a:solidFill>
                  <a:latin typeface="+mn-lt"/>
                  <a:ea typeface="+mn-ea"/>
                  <a:cs typeface="+mn-cs"/>
                </a:rPr>
                <a:t>满意度</a:t>
              </a:r>
              <a:br/>
              <a:r>
                <a:rPr lang="zh-CN" sz="600" dirty="0">
                  <a:solidFill>
                    <a:srgbClr val="6E7686"/>
                  </a:solidFill>
                  <a:latin typeface="+mn-lt"/>
                  <a:ea typeface="+mn-ea"/>
                  <a:cs typeface="+mn-cs"/>
                </a:rPr>
                <a:t xml:space="preserve"> 20分</a:t>
              </a:r>
            </a:p>
          </p:txBody>
        </p:sp>
        <p:sp>
          <p:nvSpPr>
            <p:cNvPr id="34" name="TextBox 34"/>
            <p:cNvSpPr txBox="1"/>
            <p:nvPr/>
          </p:nvSpPr>
          <p:spPr>
            <a:xfrm>
              <a:off x="300038" y="2297430"/>
              <a:ext cx="314325" cy="214312"/>
            </a:xfrm>
            <a:prstGeom prst="rect">
              <a:avLst/>
            </a:prstGeom>
            <a:noFill/>
            <a:ln>
              <a:noFill/>
            </a:ln>
          </p:spPr>
          <p:txBody>
            <a:bodyPr wrap="none" lIns="0" tIns="0" rIns="0" bIns="0" anchor="t" anchorCtr="0">
              <a:spAutoFit/>
            </a:bodyPr>
            <a:lstStyle/>
            <a:p>
              <a:pPr algn="r">
                <a:lnSpc>
                  <a:spcPts val="750"/>
                </a:lnSpc>
              </a:pPr>
              <a:r>
                <a:rPr lang="zh-CN" sz="600" b="1" dirty="0">
                  <a:solidFill>
                    <a:srgbClr val="461910"/>
                  </a:solidFill>
                  <a:latin typeface="+mn-lt"/>
                  <a:ea typeface="+mn-ea"/>
                  <a:cs typeface="+mn-cs"/>
                </a:rPr>
                <a:t>增长潜力</a:t>
              </a:r>
              <a:br/>
              <a:r>
                <a:rPr lang="zh-CN" sz="600" dirty="0">
                  <a:solidFill>
                    <a:srgbClr val="6E7686"/>
                  </a:solidFill>
                  <a:latin typeface="+mn-lt"/>
                  <a:ea typeface="+mn-ea"/>
                  <a:cs typeface="+mn-cs"/>
                </a:rPr>
                <a:t xml:space="preserve"> 20分</a:t>
              </a:r>
            </a:p>
          </p:txBody>
        </p:sp>
        <p:sp>
          <p:nvSpPr>
            <p:cNvPr id="35" name="TextBox 35"/>
            <p:cNvSpPr txBox="1"/>
            <p:nvPr/>
          </p:nvSpPr>
          <p:spPr>
            <a:xfrm>
              <a:off x="2128838" y="1595438"/>
              <a:ext cx="1019175" cy="147638"/>
            </a:xfrm>
            <a:prstGeom prst="rect">
              <a:avLst/>
            </a:prstGeom>
            <a:noFill/>
            <a:ln>
              <a:noFill/>
            </a:ln>
          </p:spPr>
          <p:txBody>
            <a:bodyPr wrap="none" lIns="0" tIns="0" rIns="0" bIns="0" anchor="t" anchorCtr="0">
              <a:spAutoFit/>
            </a:bodyPr>
            <a:lstStyle/>
            <a:p>
              <a:pPr algn="l"/>
              <a:r>
                <a:rPr lang="zh-CN" sz="750" b="1" dirty="0">
                  <a:solidFill>
                    <a:srgbClr val="721E0D"/>
                  </a:solidFill>
                  <a:latin typeface="+mn-lt"/>
                  <a:ea typeface="+mn-ea"/>
                  <a:cs typeface="+mn-cs"/>
                </a:rPr>
                <a:t>健康度等级与处理策略</a:t>
              </a:r>
            </a:p>
          </p:txBody>
        </p:sp>
        <p:sp>
          <p:nvSpPr>
            <p:cNvPr id="36" name="Rectangle 36"/>
            <p:cNvSpPr/>
            <p:nvPr/>
          </p:nvSpPr>
          <p:spPr>
            <a:xfrm>
              <a:off x="2133600" y="1752600"/>
              <a:ext cx="1771650" cy="171450"/>
            </a:xfrm>
            <a:prstGeom prst="rect">
              <a:avLst/>
            </a:prstGeom>
            <a:solidFill>
              <a:srgbClr val="EAF1FB"/>
            </a:solidFill>
            <a:ln>
              <a:noFill/>
            </a:ln>
          </p:spPr>
        </p:sp>
        <p:sp>
          <p:nvSpPr>
            <p:cNvPr id="37" name="TextBox 37"/>
            <p:cNvSpPr txBox="1"/>
            <p:nvPr/>
          </p:nvSpPr>
          <p:spPr>
            <a:xfrm>
              <a:off x="2323046" y="1803559"/>
              <a:ext cx="192608"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等级</a:t>
              </a:r>
            </a:p>
          </p:txBody>
        </p:sp>
        <p:sp>
          <p:nvSpPr>
            <p:cNvPr id="38" name="TextBox 38"/>
            <p:cNvSpPr txBox="1"/>
            <p:nvPr/>
          </p:nvSpPr>
          <p:spPr>
            <a:xfrm>
              <a:off x="2822054" y="1803559"/>
              <a:ext cx="375691"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分数区间</a:t>
              </a:r>
            </a:p>
          </p:txBody>
        </p:sp>
        <p:sp>
          <p:nvSpPr>
            <p:cNvPr id="39" name="TextBox 39"/>
            <p:cNvSpPr txBox="1"/>
            <p:nvPr/>
          </p:nvSpPr>
          <p:spPr>
            <a:xfrm>
              <a:off x="3485096" y="1803559"/>
              <a:ext cx="192608"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策略</a:t>
              </a:r>
            </a:p>
          </p:txBody>
        </p:sp>
        <p:sp>
          <p:nvSpPr>
            <p:cNvPr id="40" name="TextBox 40"/>
            <p:cNvSpPr txBox="1"/>
            <p:nvPr/>
          </p:nvSpPr>
          <p:spPr>
            <a:xfrm>
              <a:off x="2205038" y="2018586"/>
              <a:ext cx="456412"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 xml:space="preserve">A 优质   </a:t>
              </a:r>
            </a:p>
          </p:txBody>
        </p:sp>
        <p:sp>
          <p:nvSpPr>
            <p:cNvPr id="41" name="TextBox 41"/>
            <p:cNvSpPr txBox="1"/>
            <p:nvPr/>
          </p:nvSpPr>
          <p:spPr>
            <a:xfrm>
              <a:off x="2821146" y="2018586"/>
              <a:ext cx="377509"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 xml:space="preserve">  ≥80  </a:t>
              </a:r>
            </a:p>
          </p:txBody>
        </p:sp>
        <p:sp>
          <p:nvSpPr>
            <p:cNvPr id="42" name="TextBox 42"/>
            <p:cNvSpPr txBox="1"/>
            <p:nvPr/>
          </p:nvSpPr>
          <p:spPr>
            <a:xfrm>
              <a:off x="3385477" y="2018586"/>
              <a:ext cx="391846"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深耕拓展</a:t>
              </a:r>
            </a:p>
          </p:txBody>
        </p:sp>
        <p:sp>
          <p:nvSpPr>
            <p:cNvPr id="43" name="Line 43"/>
            <p:cNvSpPr/>
            <p:nvPr/>
          </p:nvSpPr>
          <p:spPr>
            <a:xfrm>
              <a:off x="2133600" y="2171700"/>
              <a:ext cx="1771650" cy="9525"/>
            </a:xfrm>
            <a:custGeom>
              <a:avLst/>
              <a:gdLst/>
              <a:ahLst/>
              <a:cxnLst/>
              <a:rect l="l" t="t" r="r" b="b"/>
              <a:pathLst>
                <a:path w="1771650" h="9525">
                  <a:moveTo>
                    <a:pt x="0" y="0"/>
                  </a:moveTo>
                  <a:lnTo>
                    <a:pt x="1771650" y="0"/>
                  </a:lnTo>
                </a:path>
              </a:pathLst>
            </a:custGeom>
            <a:noFill/>
            <a:ln w="9525">
              <a:solidFill>
                <a:srgbClr val="E6EAF2"/>
              </a:solidFill>
            </a:ln>
          </p:spPr>
        </p:sp>
        <p:sp>
          <p:nvSpPr>
            <p:cNvPr id="44" name="TextBox 44"/>
            <p:cNvSpPr txBox="1"/>
            <p:nvPr/>
          </p:nvSpPr>
          <p:spPr>
            <a:xfrm>
              <a:off x="2205038" y="2266236"/>
              <a:ext cx="456412"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 xml:space="preserve">B 良好   </a:t>
              </a:r>
            </a:p>
          </p:txBody>
        </p:sp>
        <p:sp>
          <p:nvSpPr>
            <p:cNvPr id="45" name="TextBox 45"/>
            <p:cNvSpPr txBox="1"/>
            <p:nvPr/>
          </p:nvSpPr>
          <p:spPr>
            <a:xfrm>
              <a:off x="2768577" y="2266236"/>
              <a:ext cx="482647"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 xml:space="preserve">  60~79  </a:t>
              </a:r>
            </a:p>
          </p:txBody>
        </p:sp>
        <p:sp>
          <p:nvSpPr>
            <p:cNvPr id="46" name="TextBox 46"/>
            <p:cNvSpPr txBox="1"/>
            <p:nvPr/>
          </p:nvSpPr>
          <p:spPr>
            <a:xfrm>
              <a:off x="3385477" y="2266236"/>
              <a:ext cx="391846" cy="140494"/>
            </a:xfrm>
            <a:prstGeom prst="rect">
              <a:avLst/>
            </a:prstGeom>
            <a:noFill/>
            <a:ln>
              <a:noFill/>
            </a:ln>
          </p:spPr>
          <p:txBody>
            <a:bodyPr wrap="none" lIns="0" tIns="0" rIns="0" bIns="0" anchor="t" anchorCtr="0">
              <a:spAutoFit/>
            </a:bodyPr>
            <a:lstStyle/>
            <a:p>
              <a:pPr algn="ctr"/>
              <a:r>
                <a:rPr lang="zh-CN" sz="710" dirty="0">
                  <a:solidFill>
                    <a:srgbClr val="461910"/>
                  </a:solidFill>
                  <a:latin typeface="+mn-lt"/>
                  <a:ea typeface="+mn-ea"/>
                  <a:cs typeface="+mn-cs"/>
                </a:rPr>
                <a:t>稳定提升</a:t>
              </a:r>
            </a:p>
          </p:txBody>
        </p:sp>
        <p:sp>
          <p:nvSpPr>
            <p:cNvPr id="47" name="Line 47"/>
            <p:cNvSpPr/>
            <p:nvPr/>
          </p:nvSpPr>
          <p:spPr>
            <a:xfrm>
              <a:off x="2133600" y="2419350"/>
              <a:ext cx="1771650" cy="9525"/>
            </a:xfrm>
            <a:custGeom>
              <a:avLst/>
              <a:gdLst/>
              <a:ahLst/>
              <a:cxnLst/>
              <a:rect l="l" t="t" r="r" b="b"/>
              <a:pathLst>
                <a:path w="1771650" h="9525">
                  <a:moveTo>
                    <a:pt x="0" y="0"/>
                  </a:moveTo>
                  <a:lnTo>
                    <a:pt x="1771650" y="0"/>
                  </a:lnTo>
                </a:path>
              </a:pathLst>
            </a:custGeom>
            <a:noFill/>
            <a:ln w="9525">
              <a:solidFill>
                <a:srgbClr val="E6EAF2"/>
              </a:solidFill>
            </a:ln>
          </p:spPr>
        </p:sp>
        <p:sp>
          <p:nvSpPr>
            <p:cNvPr id="48" name="TextBox 48"/>
            <p:cNvSpPr txBox="1"/>
            <p:nvPr/>
          </p:nvSpPr>
          <p:spPr>
            <a:xfrm>
              <a:off x="2205038" y="2513886"/>
              <a:ext cx="456412" cy="140494"/>
            </a:xfrm>
            <a:prstGeom prst="rect">
              <a:avLst/>
            </a:prstGeom>
            <a:noFill/>
            <a:ln>
              <a:noFill/>
            </a:ln>
          </p:spPr>
          <p:txBody>
            <a:bodyPr wrap="none" lIns="0" tIns="0" rIns="0" bIns="0" anchor="t" anchorCtr="0">
              <a:spAutoFit/>
            </a:bodyPr>
            <a:lstStyle/>
            <a:p>
              <a:pPr algn="l"/>
              <a:r>
                <a:rPr lang="zh-CN" sz="710" b="1" dirty="0">
                  <a:solidFill>
                    <a:srgbClr val="C03616"/>
                  </a:solidFill>
                  <a:latin typeface="+mn-lt"/>
                  <a:ea typeface="+mn-ea"/>
                  <a:cs typeface="+mn-cs"/>
                </a:rPr>
                <a:t xml:space="preserve">C 预警   </a:t>
              </a:r>
            </a:p>
          </p:txBody>
        </p:sp>
        <p:sp>
          <p:nvSpPr>
            <p:cNvPr id="49" name="TextBox 49"/>
            <p:cNvSpPr txBox="1"/>
            <p:nvPr/>
          </p:nvSpPr>
          <p:spPr>
            <a:xfrm>
              <a:off x="2768577" y="2513886"/>
              <a:ext cx="482647" cy="140494"/>
            </a:xfrm>
            <a:prstGeom prst="rect">
              <a:avLst/>
            </a:prstGeom>
            <a:noFill/>
            <a:ln>
              <a:noFill/>
            </a:ln>
          </p:spPr>
          <p:txBody>
            <a:bodyPr wrap="none" lIns="0" tIns="0" rIns="0" bIns="0" anchor="t" anchorCtr="0">
              <a:spAutoFit/>
            </a:bodyPr>
            <a:lstStyle/>
            <a:p>
              <a:pPr algn="ctr"/>
              <a:r>
                <a:rPr lang="zh-CN" sz="710" dirty="0">
                  <a:solidFill>
                    <a:srgbClr val="C03616"/>
                  </a:solidFill>
                  <a:latin typeface="+mn-lt"/>
                  <a:ea typeface="+mn-ea"/>
                  <a:cs typeface="+mn-cs"/>
                </a:rPr>
                <a:t xml:space="preserve">  40~59  </a:t>
              </a:r>
            </a:p>
          </p:txBody>
        </p:sp>
        <p:sp>
          <p:nvSpPr>
            <p:cNvPr id="50" name="TextBox 50"/>
            <p:cNvSpPr txBox="1"/>
            <p:nvPr/>
          </p:nvSpPr>
          <p:spPr>
            <a:xfrm>
              <a:off x="3385477" y="2513886"/>
              <a:ext cx="391846" cy="140494"/>
            </a:xfrm>
            <a:prstGeom prst="rect">
              <a:avLst/>
            </a:prstGeom>
            <a:noFill/>
            <a:ln>
              <a:noFill/>
            </a:ln>
          </p:spPr>
          <p:txBody>
            <a:bodyPr wrap="none" lIns="0" tIns="0" rIns="0" bIns="0" anchor="t" anchorCtr="0">
              <a:spAutoFit/>
            </a:bodyPr>
            <a:lstStyle/>
            <a:p>
              <a:pPr algn="ctr"/>
              <a:r>
                <a:rPr lang="zh-CN" sz="710" dirty="0">
                  <a:solidFill>
                    <a:srgbClr val="C03616"/>
                  </a:solidFill>
                  <a:latin typeface="+mn-lt"/>
                  <a:ea typeface="+mn-ea"/>
                  <a:cs typeface="+mn-cs"/>
                </a:rPr>
                <a:t>重点关注</a:t>
              </a:r>
            </a:p>
          </p:txBody>
        </p:sp>
        <p:sp>
          <p:nvSpPr>
            <p:cNvPr id="51" name="Line 51"/>
            <p:cNvSpPr/>
            <p:nvPr/>
          </p:nvSpPr>
          <p:spPr>
            <a:xfrm>
              <a:off x="2133600" y="2667000"/>
              <a:ext cx="1771650" cy="9525"/>
            </a:xfrm>
            <a:custGeom>
              <a:avLst/>
              <a:gdLst/>
              <a:ahLst/>
              <a:cxnLst/>
              <a:rect l="l" t="t" r="r" b="b"/>
              <a:pathLst>
                <a:path w="1771650" h="9525">
                  <a:moveTo>
                    <a:pt x="0" y="0"/>
                  </a:moveTo>
                  <a:lnTo>
                    <a:pt x="1771650" y="0"/>
                  </a:lnTo>
                </a:path>
              </a:pathLst>
            </a:custGeom>
            <a:noFill/>
            <a:ln w="9525">
              <a:solidFill>
                <a:srgbClr val="E6EAF2"/>
              </a:solidFill>
            </a:ln>
          </p:spPr>
        </p:sp>
        <p:sp>
          <p:nvSpPr>
            <p:cNvPr id="52" name="TextBox 52"/>
            <p:cNvSpPr txBox="1"/>
            <p:nvPr/>
          </p:nvSpPr>
          <p:spPr>
            <a:xfrm>
              <a:off x="2205038" y="2761536"/>
              <a:ext cx="456412" cy="140494"/>
            </a:xfrm>
            <a:prstGeom prst="rect">
              <a:avLst/>
            </a:prstGeom>
            <a:noFill/>
            <a:ln>
              <a:noFill/>
            </a:ln>
          </p:spPr>
          <p:txBody>
            <a:bodyPr wrap="none" lIns="0" tIns="0" rIns="0" bIns="0" anchor="t" anchorCtr="0">
              <a:spAutoFit/>
            </a:bodyPr>
            <a:lstStyle/>
            <a:p>
              <a:pPr algn="l"/>
              <a:r>
                <a:rPr lang="zh-CN" sz="710" b="1" dirty="0">
                  <a:solidFill>
                    <a:srgbClr val="C03616"/>
                  </a:solidFill>
                  <a:latin typeface="+mn-lt"/>
                  <a:ea typeface="+mn-ea"/>
                  <a:cs typeface="+mn-cs"/>
                </a:rPr>
                <a:t xml:space="preserve">D 危险   </a:t>
              </a:r>
            </a:p>
          </p:txBody>
        </p:sp>
        <p:sp>
          <p:nvSpPr>
            <p:cNvPr id="53" name="TextBox 53"/>
            <p:cNvSpPr txBox="1"/>
            <p:nvPr/>
          </p:nvSpPr>
          <p:spPr>
            <a:xfrm>
              <a:off x="2821146" y="2761536"/>
              <a:ext cx="377509" cy="140494"/>
            </a:xfrm>
            <a:prstGeom prst="rect">
              <a:avLst/>
            </a:prstGeom>
            <a:noFill/>
            <a:ln>
              <a:noFill/>
            </a:ln>
          </p:spPr>
          <p:txBody>
            <a:bodyPr wrap="none" lIns="0" tIns="0" rIns="0" bIns="0" anchor="t" anchorCtr="0">
              <a:spAutoFit/>
            </a:bodyPr>
            <a:lstStyle/>
            <a:p>
              <a:pPr algn="ctr"/>
              <a:r>
                <a:rPr lang="zh-CN" sz="710" dirty="0">
                  <a:solidFill>
                    <a:srgbClr val="C03616"/>
                  </a:solidFill>
                  <a:latin typeface="+mn-lt"/>
                  <a:ea typeface="+mn-ea"/>
                  <a:cs typeface="+mn-cs"/>
                </a:rPr>
                <a:t xml:space="preserve">  &lt;40  </a:t>
              </a:r>
            </a:p>
          </p:txBody>
        </p:sp>
        <p:sp>
          <p:nvSpPr>
            <p:cNvPr id="54" name="TextBox 54"/>
            <p:cNvSpPr txBox="1"/>
            <p:nvPr/>
          </p:nvSpPr>
          <p:spPr>
            <a:xfrm>
              <a:off x="3385477" y="2761536"/>
              <a:ext cx="391846" cy="140494"/>
            </a:xfrm>
            <a:prstGeom prst="rect">
              <a:avLst/>
            </a:prstGeom>
            <a:noFill/>
            <a:ln>
              <a:noFill/>
            </a:ln>
          </p:spPr>
          <p:txBody>
            <a:bodyPr wrap="none" lIns="0" tIns="0" rIns="0" bIns="0" anchor="t" anchorCtr="0">
              <a:spAutoFit/>
            </a:bodyPr>
            <a:lstStyle/>
            <a:p>
              <a:pPr algn="ctr"/>
              <a:r>
                <a:rPr lang="zh-CN" sz="710" dirty="0">
                  <a:solidFill>
                    <a:srgbClr val="C03616"/>
                  </a:solidFill>
                  <a:latin typeface="+mn-lt"/>
                  <a:ea typeface="+mn-ea"/>
                  <a:cs typeface="+mn-cs"/>
                </a:rPr>
                <a:t>紧急干预</a:t>
              </a:r>
            </a:p>
          </p:txBody>
        </p:sp>
        <p:sp>
          <p:nvSpPr>
            <p:cNvPr id="55" name="Line 55"/>
            <p:cNvSpPr/>
            <p:nvPr/>
          </p:nvSpPr>
          <p:spPr>
            <a:xfrm>
              <a:off x="2133600" y="2914650"/>
              <a:ext cx="1771650" cy="9525"/>
            </a:xfrm>
            <a:custGeom>
              <a:avLst/>
              <a:gdLst/>
              <a:ahLst/>
              <a:cxnLst/>
              <a:rect l="l" t="t" r="r" b="b"/>
              <a:pathLst>
                <a:path w="1771650" h="9525">
                  <a:moveTo>
                    <a:pt x="0" y="0"/>
                  </a:moveTo>
                  <a:lnTo>
                    <a:pt x="1771650" y="0"/>
                  </a:lnTo>
                </a:path>
              </a:pathLst>
            </a:custGeom>
            <a:noFill/>
            <a:ln w="9525">
              <a:solidFill>
                <a:srgbClr val="E6EAF2"/>
              </a:solidFill>
            </a:ln>
          </p:spPr>
        </p:sp>
        <p:sp>
          <p:nvSpPr>
            <p:cNvPr id="56" name="TextBox 56"/>
            <p:cNvSpPr txBox="1"/>
            <p:nvPr/>
          </p:nvSpPr>
          <p:spPr>
            <a:xfrm>
              <a:off x="357188" y="3397091"/>
              <a:ext cx="671855" cy="161925"/>
            </a:xfrm>
            <a:prstGeom prst="rect">
              <a:avLst/>
            </a:prstGeom>
            <a:noFill/>
            <a:ln>
              <a:noFill/>
            </a:ln>
          </p:spPr>
          <p:txBody>
            <a:bodyPr wrap="none" lIns="0" tIns="0" rIns="0" bIns="0" anchor="t" anchorCtr="0">
              <a:spAutoFit/>
            </a:bodyPr>
            <a:lstStyle/>
            <a:p>
              <a:pPr algn="l"/>
              <a:r>
                <a:rPr lang="zh-CN" sz="820" b="1" dirty="0">
                  <a:solidFill>
                    <a:srgbClr val="721E0D"/>
                  </a:solidFill>
                  <a:latin typeface="+mn-lt"/>
                  <a:ea typeface="+mn-ea"/>
                  <a:cs typeface="+mn-cs"/>
                </a:rPr>
                <a:t>本月预警概览</a:t>
              </a:r>
            </a:p>
          </p:txBody>
        </p:sp>
        <p:sp>
          <p:nvSpPr>
            <p:cNvPr id="57" name="Rectangle 57"/>
            <p:cNvSpPr/>
            <p:nvPr/>
          </p:nvSpPr>
          <p:spPr>
            <a:xfrm>
              <a:off x="361950" y="3562350"/>
              <a:ext cx="819150" cy="571500"/>
            </a:xfrm>
            <a:prstGeom prst="roundRect">
              <a:avLst>
                <a:gd name="adj" fmla="val 10000"/>
              </a:avLst>
            </a:prstGeom>
            <a:solidFill>
              <a:srgbClr val="F5F8FD"/>
            </a:solidFill>
            <a:ln w="9525">
              <a:solidFill>
                <a:srgbClr val="C9D6EE"/>
              </a:solidFill>
            </a:ln>
          </p:spPr>
        </p:sp>
        <p:sp>
          <p:nvSpPr>
            <p:cNvPr id="58" name="TextBox 58"/>
            <p:cNvSpPr txBox="1"/>
            <p:nvPr/>
          </p:nvSpPr>
          <p:spPr>
            <a:xfrm>
              <a:off x="551370" y="3645932"/>
              <a:ext cx="440309"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评估客户数</a:t>
              </a:r>
            </a:p>
          </p:txBody>
        </p:sp>
        <p:sp>
          <p:nvSpPr>
            <p:cNvPr id="59" name="TextBox 59"/>
            <p:cNvSpPr txBox="1"/>
            <p:nvPr/>
          </p:nvSpPr>
          <p:spPr>
            <a:xfrm>
              <a:off x="221705" y="3830479"/>
              <a:ext cx="1099639" cy="308039"/>
            </a:xfrm>
            <a:prstGeom prst="rect">
              <a:avLst/>
            </a:prstGeom>
            <a:noFill/>
            <a:ln>
              <a:noFill/>
            </a:ln>
          </p:spPr>
          <p:txBody>
            <a:bodyPr wrap="none" lIns="0" tIns="0" rIns="0" bIns="0" anchor="t" anchorCtr="0">
              <a:spAutoFit/>
            </a:bodyPr>
            <a:lstStyle/>
            <a:p>
              <a:pPr algn="ctr"/>
              <a:r>
                <a:rPr lang="zh-CN" sz="1580" b="1" dirty="0">
                  <a:solidFill>
                    <a:srgbClr val="721E0D"/>
                  </a:solidFill>
                  <a:latin typeface="+mn-lt"/>
                  <a:ea typeface="+mn-ea"/>
                  <a:cs typeface="+mn-cs"/>
                </a:rPr>
                <a:t xml:space="preserve">   68</a:t>
              </a:r>
              <a:r>
                <a:rPr lang="zh-CN" sz="750" dirty="0">
                  <a:solidFill>
                    <a:srgbClr val="721E0D"/>
                  </a:solidFill>
                  <a:latin typeface="+mn-lt"/>
                  <a:ea typeface="+mn-ea"/>
                  <a:cs typeface="+mn-cs"/>
                </a:rPr>
                <a:t>家</a:t>
              </a:r>
              <a:r>
                <a:rPr lang="zh-CN" sz="1580" b="1" dirty="0">
                  <a:solidFill>
                    <a:srgbClr val="721E0D"/>
                  </a:solidFill>
                  <a:latin typeface="+mn-lt"/>
                  <a:ea typeface="+mn-ea"/>
                  <a:cs typeface="+mn-cs"/>
                </a:rPr>
                <a:t xml:space="preserve">   </a:t>
              </a:r>
            </a:p>
          </p:txBody>
        </p:sp>
        <p:sp>
          <p:nvSpPr>
            <p:cNvPr id="60" name="Rectangle 60"/>
            <p:cNvSpPr/>
            <p:nvPr/>
          </p:nvSpPr>
          <p:spPr>
            <a:xfrm>
              <a:off x="1257300" y="3562350"/>
              <a:ext cx="819150" cy="571500"/>
            </a:xfrm>
            <a:prstGeom prst="roundRect">
              <a:avLst>
                <a:gd name="adj" fmla="val 10000"/>
              </a:avLst>
            </a:prstGeom>
            <a:solidFill>
              <a:srgbClr val="F5F8FD"/>
            </a:solidFill>
            <a:ln w="9525">
              <a:solidFill>
                <a:srgbClr val="C9D6EE"/>
              </a:solidFill>
            </a:ln>
          </p:spPr>
        </p:sp>
        <p:sp>
          <p:nvSpPr>
            <p:cNvPr id="61" name="TextBox 61"/>
            <p:cNvSpPr txBox="1"/>
            <p:nvPr/>
          </p:nvSpPr>
          <p:spPr>
            <a:xfrm>
              <a:off x="1225436" y="3645932"/>
              <a:ext cx="882879"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 xml:space="preserve">   A/B类客户占比   </a:t>
              </a:r>
            </a:p>
          </p:txBody>
        </p:sp>
        <p:sp>
          <p:nvSpPr>
            <p:cNvPr id="62" name="TextBox 62"/>
            <p:cNvSpPr txBox="1"/>
            <p:nvPr/>
          </p:nvSpPr>
          <p:spPr>
            <a:xfrm>
              <a:off x="1252510" y="3830479"/>
              <a:ext cx="828730" cy="308039"/>
            </a:xfrm>
            <a:prstGeom prst="rect">
              <a:avLst/>
            </a:prstGeom>
            <a:noFill/>
            <a:ln>
              <a:noFill/>
            </a:ln>
          </p:spPr>
          <p:txBody>
            <a:bodyPr wrap="none" lIns="0" tIns="0" rIns="0" bIns="0" anchor="t" anchorCtr="0">
              <a:spAutoFit/>
            </a:bodyPr>
            <a:lstStyle/>
            <a:p>
              <a:pPr algn="ctr"/>
              <a:r>
                <a:rPr lang="zh-CN" sz="1580" b="1" dirty="0">
                  <a:solidFill>
                    <a:srgbClr val="721E0D"/>
                  </a:solidFill>
                  <a:latin typeface="+mn-lt"/>
                  <a:ea typeface="+mn-ea"/>
                  <a:cs typeface="+mn-cs"/>
                </a:rPr>
                <a:t xml:space="preserve">  76</a:t>
              </a:r>
              <a:r>
                <a:rPr lang="zh-CN" sz="750" dirty="0">
                  <a:solidFill>
                    <a:srgbClr val="721E0D"/>
                  </a:solidFill>
                  <a:latin typeface="+mn-lt"/>
                  <a:ea typeface="+mn-ea"/>
                  <a:cs typeface="+mn-cs"/>
                </a:rPr>
                <a:t>%</a:t>
              </a:r>
              <a:r>
                <a:rPr lang="zh-CN" sz="1580" b="1" dirty="0">
                  <a:solidFill>
                    <a:srgbClr val="721E0D"/>
                  </a:solidFill>
                  <a:latin typeface="+mn-lt"/>
                  <a:ea typeface="+mn-ea"/>
                  <a:cs typeface="+mn-cs"/>
                </a:rPr>
                <a:t xml:space="preserve">  </a:t>
              </a:r>
            </a:p>
          </p:txBody>
        </p:sp>
        <p:sp>
          <p:nvSpPr>
            <p:cNvPr id="63" name="Rectangle 63"/>
            <p:cNvSpPr/>
            <p:nvPr/>
          </p:nvSpPr>
          <p:spPr>
            <a:xfrm>
              <a:off x="2152650" y="3562350"/>
              <a:ext cx="819150" cy="571500"/>
            </a:xfrm>
            <a:prstGeom prst="roundRect">
              <a:avLst>
                <a:gd name="adj" fmla="val 10000"/>
              </a:avLst>
            </a:prstGeom>
            <a:solidFill>
              <a:srgbClr val="F5F8FD"/>
            </a:solidFill>
            <a:ln w="9525">
              <a:solidFill>
                <a:srgbClr val="C9D6EE"/>
              </a:solidFill>
            </a:ln>
          </p:spPr>
        </p:sp>
        <p:sp>
          <p:nvSpPr>
            <p:cNvPr id="64" name="TextBox 64"/>
            <p:cNvSpPr txBox="1"/>
            <p:nvPr/>
          </p:nvSpPr>
          <p:spPr>
            <a:xfrm>
              <a:off x="2342070" y="3645932"/>
              <a:ext cx="440309"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预警客户数</a:t>
              </a:r>
            </a:p>
          </p:txBody>
        </p:sp>
        <p:sp>
          <p:nvSpPr>
            <p:cNvPr id="65" name="TextBox 65"/>
            <p:cNvSpPr txBox="1"/>
            <p:nvPr/>
          </p:nvSpPr>
          <p:spPr>
            <a:xfrm>
              <a:off x="2073822" y="3830479"/>
              <a:ext cx="976805" cy="308039"/>
            </a:xfrm>
            <a:prstGeom prst="rect">
              <a:avLst/>
            </a:prstGeom>
            <a:noFill/>
            <a:ln>
              <a:noFill/>
            </a:ln>
          </p:spPr>
          <p:txBody>
            <a:bodyPr wrap="none" lIns="0" tIns="0" rIns="0" bIns="0" anchor="t" anchorCtr="0">
              <a:spAutoFit/>
            </a:bodyPr>
            <a:lstStyle/>
            <a:p>
              <a:pPr algn="ctr"/>
              <a:r>
                <a:rPr lang="zh-CN" sz="1580" b="1" dirty="0">
                  <a:solidFill>
                    <a:srgbClr val="C03616"/>
                  </a:solidFill>
                  <a:latin typeface="+mn-lt"/>
                  <a:ea typeface="+mn-ea"/>
                  <a:cs typeface="+mn-cs"/>
                </a:rPr>
                <a:t xml:space="preserve">   6</a:t>
              </a:r>
              <a:r>
                <a:rPr lang="zh-CN" sz="750" dirty="0">
                  <a:solidFill>
                    <a:srgbClr val="C03616"/>
                  </a:solidFill>
                  <a:latin typeface="+mn-lt"/>
                  <a:ea typeface="+mn-ea"/>
                  <a:cs typeface="+mn-cs"/>
                </a:rPr>
                <a:t>家</a:t>
              </a:r>
              <a:r>
                <a:rPr lang="zh-CN" sz="1580" b="1" dirty="0">
                  <a:solidFill>
                    <a:srgbClr val="C03616"/>
                  </a:solidFill>
                  <a:latin typeface="+mn-lt"/>
                  <a:ea typeface="+mn-ea"/>
                  <a:cs typeface="+mn-cs"/>
                </a:rPr>
                <a:t xml:space="preserve">   </a:t>
              </a:r>
            </a:p>
          </p:txBody>
        </p:sp>
        <p:sp>
          <p:nvSpPr>
            <p:cNvPr id="66" name="Rectangle 66"/>
            <p:cNvSpPr/>
            <p:nvPr/>
          </p:nvSpPr>
          <p:spPr>
            <a:xfrm>
              <a:off x="3048000" y="3562350"/>
              <a:ext cx="819150" cy="571500"/>
            </a:xfrm>
            <a:prstGeom prst="roundRect">
              <a:avLst>
                <a:gd name="adj" fmla="val 10000"/>
              </a:avLst>
            </a:prstGeom>
            <a:solidFill>
              <a:srgbClr val="F5F8FD"/>
            </a:solidFill>
            <a:ln w="9525">
              <a:solidFill>
                <a:srgbClr val="C9D6EE"/>
              </a:solidFill>
            </a:ln>
          </p:spPr>
        </p:sp>
        <p:sp>
          <p:nvSpPr>
            <p:cNvPr id="67" name="TextBox 67"/>
            <p:cNvSpPr txBox="1"/>
            <p:nvPr/>
          </p:nvSpPr>
          <p:spPr>
            <a:xfrm>
              <a:off x="3280499" y="3645932"/>
              <a:ext cx="354152" cy="126206"/>
            </a:xfrm>
            <a:prstGeom prst="rect">
              <a:avLst/>
            </a:prstGeom>
            <a:noFill/>
            <a:ln>
              <a:noFill/>
            </a:ln>
          </p:spPr>
          <p:txBody>
            <a:bodyPr wrap="none" lIns="0" tIns="0" rIns="0" bIns="0" anchor="t" anchorCtr="0">
              <a:spAutoFit/>
            </a:bodyPr>
            <a:lstStyle/>
            <a:p>
              <a:pPr algn="ctr"/>
              <a:r>
                <a:rPr lang="zh-CN" sz="640" dirty="0">
                  <a:solidFill>
                    <a:srgbClr val="523E3A"/>
                  </a:solidFill>
                  <a:latin typeface="+mn-lt"/>
                  <a:ea typeface="+mn-ea"/>
                  <a:cs typeface="+mn-cs"/>
                </a:rPr>
                <a:t>环比变化</a:t>
              </a:r>
            </a:p>
          </p:txBody>
        </p:sp>
        <p:sp>
          <p:nvSpPr>
            <p:cNvPr id="68" name="TextBox 68"/>
            <p:cNvSpPr txBox="1"/>
            <p:nvPr/>
          </p:nvSpPr>
          <p:spPr>
            <a:xfrm>
              <a:off x="2907755" y="3830479"/>
              <a:ext cx="1099639" cy="308039"/>
            </a:xfrm>
            <a:prstGeom prst="rect">
              <a:avLst/>
            </a:prstGeom>
            <a:noFill/>
            <a:ln>
              <a:noFill/>
            </a:ln>
          </p:spPr>
          <p:txBody>
            <a:bodyPr wrap="none" lIns="0" tIns="0" rIns="0" bIns="0" anchor="t" anchorCtr="0">
              <a:spAutoFit/>
            </a:bodyPr>
            <a:lstStyle/>
            <a:p>
              <a:pPr algn="ctr"/>
              <a:r>
                <a:rPr lang="zh-CN" sz="1580" b="1" dirty="0">
                  <a:solidFill>
                    <a:srgbClr val="C03616"/>
                  </a:solidFill>
                  <a:latin typeface="+mn-lt"/>
                  <a:ea typeface="+mn-ea"/>
                  <a:cs typeface="+mn-cs"/>
                </a:rPr>
                <a:t xml:space="preserve">   ↑2</a:t>
              </a:r>
              <a:r>
                <a:rPr lang="zh-CN" sz="750" dirty="0">
                  <a:solidFill>
                    <a:srgbClr val="C03616"/>
                  </a:solidFill>
                  <a:latin typeface="+mn-lt"/>
                  <a:ea typeface="+mn-ea"/>
                  <a:cs typeface="+mn-cs"/>
                </a:rPr>
                <a:t>家</a:t>
              </a:r>
              <a:r>
                <a:rPr lang="zh-CN" sz="1580" b="1" dirty="0">
                  <a:solidFill>
                    <a:srgbClr val="C03616"/>
                  </a:solidFill>
                  <a:latin typeface="+mn-lt"/>
                  <a:ea typeface="+mn-ea"/>
                  <a:cs typeface="+mn-cs"/>
                </a:rPr>
                <a:t xml:space="preserve">   </a:t>
              </a:r>
            </a:p>
          </p:txBody>
        </p:sp>
        <p:sp>
          <p:nvSpPr>
            <p:cNvPr id="69" name="Rectangle 69"/>
            <p:cNvSpPr/>
            <p:nvPr/>
          </p:nvSpPr>
          <p:spPr>
            <a:xfrm>
              <a:off x="342900" y="4648200"/>
              <a:ext cx="3581400" cy="495300"/>
            </a:xfrm>
            <a:prstGeom prst="roundRect">
              <a:avLst>
                <a:gd name="adj" fmla="val 15385"/>
              </a:avLst>
            </a:prstGeom>
            <a:solidFill>
              <a:srgbClr val="EAF1FB"/>
            </a:solidFill>
            <a:ln>
              <a:noFill/>
            </a:ln>
          </p:spPr>
        </p:sp>
        <p:grpSp>
          <p:nvGrpSpPr>
            <p:cNvPr id="74" name="Group 74"/>
            <p:cNvGrpSpPr/>
            <p:nvPr/>
          </p:nvGrpSpPr>
          <p:grpSpPr>
            <a:xfrm>
              <a:off x="490538" y="4795838"/>
              <a:ext cx="200026" cy="200026"/>
              <a:chOff x="490538" y="4795838"/>
              <a:chExt cx="200026" cy="200026"/>
            </a:xfrm>
          </p:grpSpPr>
          <p:sp>
            <p:nvSpPr>
              <p:cNvPr id="70" name="Freeform 70"/>
              <p:cNvSpPr/>
              <p:nvPr/>
            </p:nvSpPr>
            <p:spPr>
              <a:xfrm>
                <a:off x="490538" y="47958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721E0D"/>
                </a:solidFill>
              </a:ln>
            </p:spPr>
          </p:sp>
          <p:sp>
            <p:nvSpPr>
              <p:cNvPr id="71" name="Freeform 71"/>
              <p:cNvSpPr/>
              <p:nvPr/>
            </p:nvSpPr>
            <p:spPr>
              <a:xfrm>
                <a:off x="579438" y="488473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721E0D"/>
                </a:solidFill>
              </a:ln>
            </p:spPr>
          </p:sp>
          <p:sp>
            <p:nvSpPr>
              <p:cNvPr id="72" name="Freeform 72"/>
              <p:cNvSpPr/>
              <p:nvPr/>
            </p:nvSpPr>
            <p:spPr>
              <a:xfrm>
                <a:off x="606219" y="4851400"/>
                <a:ext cx="28781" cy="28781"/>
              </a:xfrm>
              <a:custGeom>
                <a:avLst/>
                <a:gdLst/>
                <a:ahLst/>
                <a:cxnLst/>
                <a:rect l="l" t="t" r="r" b="b"/>
                <a:pathLst>
                  <a:path w="28781" h="28781">
                    <a:moveTo>
                      <a:pt x="0" y="28781"/>
                    </a:moveTo>
                    <a:lnTo>
                      <a:pt x="28781" y="0"/>
                    </a:lnTo>
                  </a:path>
                </a:pathLst>
              </a:custGeom>
              <a:noFill/>
              <a:ln w="22225">
                <a:solidFill>
                  <a:srgbClr val="721E0D"/>
                </a:solidFill>
              </a:ln>
            </p:spPr>
          </p:sp>
          <p:sp>
            <p:nvSpPr>
              <p:cNvPr id="73" name="Freeform 73"/>
              <p:cNvSpPr/>
              <p:nvPr/>
            </p:nvSpPr>
            <p:spPr>
              <a:xfrm>
                <a:off x="534988" y="4840288"/>
                <a:ext cx="55563" cy="55563"/>
              </a:xfrm>
              <a:custGeom>
                <a:avLst/>
                <a:gdLst/>
                <a:ahLst/>
                <a:cxnLst/>
                <a:rect l="l" t="t" r="r" b="b"/>
                <a:pathLst>
                  <a:path w="55563" h="55563">
                    <a:moveTo>
                      <a:pt x="0" y="55563"/>
                    </a:moveTo>
                    <a:cubicBezTo>
                      <a:pt x="0" y="24876"/>
                      <a:pt x="24876" y="0"/>
                      <a:pt x="55563" y="0"/>
                    </a:cubicBezTo>
                  </a:path>
                </a:pathLst>
              </a:custGeom>
              <a:noFill/>
              <a:ln w="22225">
                <a:solidFill>
                  <a:srgbClr val="721E0D"/>
                </a:solidFill>
              </a:ln>
            </p:spPr>
          </p:sp>
        </p:grpSp>
        <p:sp>
          <p:nvSpPr>
            <p:cNvPr id="75" name="TextBox 75"/>
            <p:cNvSpPr txBox="1"/>
            <p:nvPr/>
          </p:nvSpPr>
          <p:spPr>
            <a:xfrm>
              <a:off x="832485" y="4850606"/>
              <a:ext cx="2138244"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 xml:space="preserve">流失率控制在 </a:t>
              </a:r>
              <a:r>
                <a:rPr lang="zh-CN" sz="1650" b="1" dirty="0">
                  <a:solidFill>
                    <a:srgbClr val="C03616"/>
                  </a:solidFill>
                  <a:latin typeface="+mn-lt"/>
                  <a:ea typeface="+mn-ea"/>
                  <a:cs typeface="+mn-cs"/>
                </a:rPr>
                <a:t>5%</a:t>
              </a:r>
              <a:r>
                <a:rPr lang="zh-CN" sz="1120" b="1" dirty="0">
                  <a:solidFill>
                    <a:srgbClr val="721E0D"/>
                  </a:solidFill>
                  <a:latin typeface="+mn-lt"/>
                  <a:ea typeface="+mn-ea"/>
                  <a:cs typeface="+mn-cs"/>
                </a:rPr>
                <a:t xml:space="preserve"> 以内      </a:t>
              </a:r>
            </a:p>
          </p:txBody>
        </p:sp>
      </p:grpSp>
      <p:grpSp>
        <p:nvGrpSpPr>
          <p:cNvPr id="162" name="start-card-2"/>
          <p:cNvGrpSpPr/>
          <p:nvPr/>
        </p:nvGrpSpPr>
        <p:grpSpPr>
          <a:xfrm>
            <a:off x="4191000" y="704850"/>
            <a:ext cx="3810000" cy="4591050"/>
            <a:chOff x="4191000" y="704850"/>
            <a:chExt cx="3810000" cy="4591050"/>
          </a:xfrm>
        </p:grpSpPr>
        <p:sp>
          <p:nvSpPr>
            <p:cNvPr id="77" name="Rectangle 77"/>
            <p:cNvSpPr/>
            <p:nvPr/>
          </p:nvSpPr>
          <p:spPr>
            <a:xfrm>
              <a:off x="4191000" y="704850"/>
              <a:ext cx="3810000" cy="4591050"/>
            </a:xfrm>
            <a:prstGeom prst="roundRect">
              <a:avLst>
                <a:gd name="adj" fmla="val 3000"/>
              </a:avLst>
            </a:prstGeom>
            <a:solidFill>
              <a:srgbClr val="FFFFFF"/>
            </a:solidFill>
            <a:ln w="14288">
              <a:solidFill>
                <a:srgbClr val="C9D6EE"/>
              </a:solidFill>
            </a:ln>
          </p:spPr>
        </p:sp>
        <p:sp>
          <p:nvSpPr>
            <p:cNvPr id="78" name="Ellipse 78"/>
            <p:cNvSpPr/>
            <p:nvPr/>
          </p:nvSpPr>
          <p:spPr>
            <a:xfrm>
              <a:off x="4305300" y="781050"/>
              <a:ext cx="533400" cy="533400"/>
            </a:xfrm>
            <a:prstGeom prst="ellipse">
              <a:avLst/>
            </a:prstGeom>
            <a:solidFill>
              <a:srgbClr val="721E0D"/>
            </a:solidFill>
            <a:ln>
              <a:noFill/>
            </a:ln>
          </p:spPr>
        </p:sp>
        <p:grpSp>
          <p:nvGrpSpPr>
            <p:cNvPr id="82" name="Group 82"/>
            <p:cNvGrpSpPr/>
            <p:nvPr/>
          </p:nvGrpSpPr>
          <p:grpSpPr>
            <a:xfrm>
              <a:off x="4450556" y="926306"/>
              <a:ext cx="242888" cy="242888"/>
              <a:chOff x="4450556" y="926306"/>
              <a:chExt cx="242888" cy="242888"/>
            </a:xfrm>
          </p:grpSpPr>
          <p:sp>
            <p:nvSpPr>
              <p:cNvPr id="79" name="Freeform 79"/>
              <p:cNvSpPr/>
              <p:nvPr/>
            </p:nvSpPr>
            <p:spPr>
              <a:xfrm>
                <a:off x="4558507" y="1034257"/>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6988">
                <a:solidFill>
                  <a:srgbClr val="FFFFFF"/>
                </a:solidFill>
              </a:ln>
            </p:spPr>
          </p:sp>
          <p:sp>
            <p:nvSpPr>
              <p:cNvPr id="80" name="Freeform 80"/>
              <p:cNvSpPr/>
              <p:nvPr/>
            </p:nvSpPr>
            <p:spPr>
              <a:xfrm>
                <a:off x="4504531" y="980281"/>
                <a:ext cx="134938" cy="134938"/>
              </a:xfrm>
              <a:custGeom>
                <a:avLst/>
                <a:gdLst/>
                <a:ahLst/>
                <a:cxnLst/>
                <a:rect l="l" t="t" r="r" b="b"/>
                <a:pathLst>
                  <a:path w="134938" h="134938">
                    <a:moveTo>
                      <a:pt x="0" y="67469"/>
                    </a:moveTo>
                    <a:cubicBezTo>
                      <a:pt x="0" y="104731"/>
                      <a:pt x="30207" y="134938"/>
                      <a:pt x="67469" y="134938"/>
                    </a:cubicBezTo>
                    <a:cubicBezTo>
                      <a:pt x="104731" y="134938"/>
                      <a:pt x="134938" y="104731"/>
                      <a:pt x="134938" y="67469"/>
                    </a:cubicBezTo>
                    <a:cubicBezTo>
                      <a:pt x="134938" y="30207"/>
                      <a:pt x="104731" y="0"/>
                      <a:pt x="67469" y="0"/>
                    </a:cubicBezTo>
                    <a:cubicBezTo>
                      <a:pt x="30207" y="0"/>
                      <a:pt x="0" y="30207"/>
                      <a:pt x="0" y="67469"/>
                    </a:cubicBezTo>
                  </a:path>
                </a:pathLst>
              </a:custGeom>
              <a:noFill/>
              <a:ln w="26988">
                <a:solidFill>
                  <a:srgbClr val="FFFFFF"/>
                </a:solidFill>
              </a:ln>
            </p:spPr>
          </p:sp>
          <p:sp>
            <p:nvSpPr>
              <p:cNvPr id="81" name="Freeform 81"/>
              <p:cNvSpPr/>
              <p:nvPr/>
            </p:nvSpPr>
            <p:spPr>
              <a:xfrm>
                <a:off x="4450556" y="926306"/>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26988">
                <a:solidFill>
                  <a:srgbClr val="FFFFFF"/>
                </a:solidFill>
              </a:ln>
            </p:spPr>
          </p:sp>
        </p:grpSp>
        <p:sp>
          <p:nvSpPr>
            <p:cNvPr id="83" name="TextBox 83"/>
            <p:cNvSpPr txBox="1"/>
            <p:nvPr/>
          </p:nvSpPr>
          <p:spPr>
            <a:xfrm>
              <a:off x="4947094" y="865108"/>
              <a:ext cx="1729562" cy="227362"/>
            </a:xfrm>
            <a:prstGeom prst="rect">
              <a:avLst/>
            </a:prstGeom>
            <a:noFill/>
            <a:ln>
              <a:noFill/>
            </a:ln>
          </p:spPr>
          <p:txBody>
            <a:bodyPr wrap="none" lIns="0" tIns="0" rIns="0" bIns="0" anchor="t" anchorCtr="0">
              <a:spAutoFit/>
            </a:bodyPr>
            <a:lstStyle/>
            <a:p>
              <a:pPr algn="l"/>
              <a:r>
                <a:rPr lang="zh-CN" sz="1160" b="1" dirty="0">
                  <a:solidFill>
                    <a:srgbClr val="721E0D"/>
                  </a:solidFill>
                  <a:latin typeface="+mn-lt"/>
                  <a:ea typeface="+mn-ea"/>
                  <a:cs typeface="+mn-cs"/>
                </a:rPr>
                <a:t>开始二：胜负单深度复盘</a:t>
              </a:r>
            </a:p>
          </p:txBody>
        </p:sp>
        <p:sp>
          <p:nvSpPr>
            <p:cNvPr id="84" name="TextBox 84"/>
            <p:cNvSpPr txBox="1"/>
            <p:nvPr/>
          </p:nvSpPr>
          <p:spPr>
            <a:xfrm>
              <a:off x="4948238" y="1096089"/>
              <a:ext cx="161480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23E3A"/>
                  </a:solidFill>
                  <a:latin typeface="+mn-lt"/>
                  <a:ea typeface="+mn-ea"/>
                  <a:cs typeface="+mn-cs"/>
                </a:rPr>
                <a:t>对胜负单进行结构化复盘，提炼关键</a:t>
              </a:r>
              <a:br/>
              <a:r>
                <a:rPr lang="zh-CN" sz="790" dirty="0">
                  <a:solidFill>
                    <a:srgbClr val="523E3A"/>
                  </a:solidFill>
                  <a:latin typeface="+mn-lt"/>
                  <a:ea typeface="+mn-ea"/>
                  <a:cs typeface="+mn-cs"/>
                </a:rPr>
                <a:t>成功要素与失利原因，沉淀方法论。</a:t>
              </a:r>
            </a:p>
          </p:txBody>
        </p:sp>
        <p:sp>
          <p:nvSpPr>
            <p:cNvPr id="85" name="Line 85"/>
            <p:cNvSpPr/>
            <p:nvPr/>
          </p:nvSpPr>
          <p:spPr>
            <a:xfrm>
              <a:off x="4305300" y="1485900"/>
              <a:ext cx="3581400" cy="9525"/>
            </a:xfrm>
            <a:custGeom>
              <a:avLst/>
              <a:gdLst/>
              <a:ahLst/>
              <a:cxnLst/>
              <a:rect l="l" t="t" r="r" b="b"/>
              <a:pathLst>
                <a:path w="3581400" h="9525">
                  <a:moveTo>
                    <a:pt x="0" y="0"/>
                  </a:moveTo>
                  <a:lnTo>
                    <a:pt x="3581400" y="0"/>
                  </a:lnTo>
                </a:path>
              </a:pathLst>
            </a:custGeom>
            <a:noFill/>
            <a:ln w="9525">
              <a:solidFill>
                <a:srgbClr val="E6EAF2"/>
              </a:solidFill>
            </a:ln>
          </p:spPr>
        </p:sp>
        <p:sp>
          <p:nvSpPr>
            <p:cNvPr id="86" name="TextBox 86"/>
            <p:cNvSpPr txBox="1"/>
            <p:nvPr/>
          </p:nvSpPr>
          <p:spPr>
            <a:xfrm>
              <a:off x="4319588" y="1587341"/>
              <a:ext cx="1113409" cy="161925"/>
            </a:xfrm>
            <a:prstGeom prst="rect">
              <a:avLst/>
            </a:prstGeom>
            <a:noFill/>
            <a:ln>
              <a:noFill/>
            </a:ln>
          </p:spPr>
          <p:txBody>
            <a:bodyPr wrap="none" lIns="0" tIns="0" rIns="0" bIns="0" anchor="t" anchorCtr="0">
              <a:spAutoFit/>
            </a:bodyPr>
            <a:lstStyle/>
            <a:p>
              <a:pPr algn="l"/>
              <a:r>
                <a:rPr lang="zh-CN" sz="820" b="1" dirty="0">
                  <a:solidFill>
                    <a:srgbClr val="721E0D"/>
                  </a:solidFill>
                  <a:latin typeface="+mn-lt"/>
                  <a:ea typeface="+mn-ea"/>
                  <a:cs typeface="+mn-cs"/>
                </a:rPr>
                <a:t>胜负单结构化复盘框架</a:t>
              </a:r>
            </a:p>
          </p:txBody>
        </p:sp>
        <p:sp>
          <p:nvSpPr>
            <p:cNvPr id="87" name="Rectangle 87"/>
            <p:cNvSpPr/>
            <p:nvPr/>
          </p:nvSpPr>
          <p:spPr>
            <a:xfrm>
              <a:off x="4324350" y="1771650"/>
              <a:ext cx="628650" cy="800100"/>
            </a:xfrm>
            <a:prstGeom prst="roundRect">
              <a:avLst>
                <a:gd name="adj" fmla="val 9091"/>
              </a:avLst>
            </a:prstGeom>
            <a:solidFill>
              <a:srgbClr val="F5F8FD"/>
            </a:solidFill>
            <a:ln w="9525">
              <a:solidFill>
                <a:srgbClr val="C9D6EE"/>
              </a:solidFill>
            </a:ln>
          </p:spPr>
        </p:sp>
        <p:grpSp>
          <p:nvGrpSpPr>
            <p:cNvPr id="93" name="Group 93"/>
            <p:cNvGrpSpPr/>
            <p:nvPr/>
          </p:nvGrpSpPr>
          <p:grpSpPr>
            <a:xfrm>
              <a:off x="4572000" y="1857375"/>
              <a:ext cx="133350" cy="171450"/>
              <a:chOff x="4572000" y="1857375"/>
              <a:chExt cx="133350" cy="171450"/>
            </a:xfrm>
          </p:grpSpPr>
          <p:sp>
            <p:nvSpPr>
              <p:cNvPr id="88" name="Freeform 88"/>
              <p:cNvSpPr/>
              <p:nvPr/>
            </p:nvSpPr>
            <p:spPr>
              <a:xfrm>
                <a:off x="4657725" y="18573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721E0D"/>
                </a:solidFill>
              </a:ln>
            </p:spPr>
          </p:sp>
          <p:sp>
            <p:nvSpPr>
              <p:cNvPr id="89" name="Freeform 89"/>
              <p:cNvSpPr/>
              <p:nvPr/>
            </p:nvSpPr>
            <p:spPr>
              <a:xfrm>
                <a:off x="4572000" y="18573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721E0D"/>
                </a:solidFill>
              </a:ln>
            </p:spPr>
          </p:sp>
          <p:sp>
            <p:nvSpPr>
              <p:cNvPr id="90" name="Freeform 90"/>
              <p:cNvSpPr/>
              <p:nvPr/>
            </p:nvSpPr>
            <p:spPr>
              <a:xfrm>
                <a:off x="4610100" y="1914525"/>
                <a:ext cx="9525" cy="9525"/>
              </a:xfrm>
              <a:custGeom>
                <a:avLst/>
                <a:gdLst/>
                <a:ahLst/>
                <a:cxnLst/>
                <a:rect l="l" t="t" r="r" b="b"/>
                <a:pathLst>
                  <a:path w="9525" h="9525">
                    <a:moveTo>
                      <a:pt x="0" y="0"/>
                    </a:moveTo>
                    <a:lnTo>
                      <a:pt x="9525" y="0"/>
                    </a:lnTo>
                  </a:path>
                </a:pathLst>
              </a:custGeom>
              <a:noFill/>
              <a:ln w="19050">
                <a:solidFill>
                  <a:srgbClr val="721E0D"/>
                </a:solidFill>
              </a:ln>
            </p:spPr>
          </p:sp>
          <p:sp>
            <p:nvSpPr>
              <p:cNvPr id="91" name="Freeform 91"/>
              <p:cNvSpPr/>
              <p:nvPr/>
            </p:nvSpPr>
            <p:spPr>
              <a:xfrm>
                <a:off x="4610100" y="1952625"/>
                <a:ext cx="57150" cy="9525"/>
              </a:xfrm>
              <a:custGeom>
                <a:avLst/>
                <a:gdLst/>
                <a:ahLst/>
                <a:cxnLst/>
                <a:rect l="l" t="t" r="r" b="b"/>
                <a:pathLst>
                  <a:path w="57150" h="9525">
                    <a:moveTo>
                      <a:pt x="0" y="0"/>
                    </a:moveTo>
                    <a:lnTo>
                      <a:pt x="57150" y="0"/>
                    </a:lnTo>
                  </a:path>
                </a:pathLst>
              </a:custGeom>
              <a:noFill/>
              <a:ln w="19050">
                <a:solidFill>
                  <a:srgbClr val="721E0D"/>
                </a:solidFill>
              </a:ln>
            </p:spPr>
          </p:sp>
          <p:sp>
            <p:nvSpPr>
              <p:cNvPr id="92" name="Freeform 92"/>
              <p:cNvSpPr/>
              <p:nvPr/>
            </p:nvSpPr>
            <p:spPr>
              <a:xfrm>
                <a:off x="4610100" y="1990725"/>
                <a:ext cx="57150" cy="9525"/>
              </a:xfrm>
              <a:custGeom>
                <a:avLst/>
                <a:gdLst/>
                <a:ahLst/>
                <a:cxnLst/>
                <a:rect l="l" t="t" r="r" b="b"/>
                <a:pathLst>
                  <a:path w="57150" h="9525">
                    <a:moveTo>
                      <a:pt x="0" y="0"/>
                    </a:moveTo>
                    <a:lnTo>
                      <a:pt x="57150" y="0"/>
                    </a:lnTo>
                  </a:path>
                </a:pathLst>
              </a:custGeom>
              <a:noFill/>
              <a:ln w="19050">
                <a:solidFill>
                  <a:srgbClr val="721E0D"/>
                </a:solidFill>
              </a:ln>
            </p:spPr>
          </p:sp>
        </p:grpSp>
        <p:sp>
          <p:nvSpPr>
            <p:cNvPr id="94" name="TextBox 94"/>
            <p:cNvSpPr txBox="1"/>
            <p:nvPr/>
          </p:nvSpPr>
          <p:spPr>
            <a:xfrm>
              <a:off x="4450829" y="2136934"/>
              <a:ext cx="375691"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项目概况</a:t>
              </a:r>
            </a:p>
          </p:txBody>
        </p:sp>
        <p:sp>
          <p:nvSpPr>
            <p:cNvPr id="95" name="TextBox 95"/>
            <p:cNvSpPr txBox="1"/>
            <p:nvPr/>
          </p:nvSpPr>
          <p:spPr>
            <a:xfrm>
              <a:off x="4420552" y="2282428"/>
              <a:ext cx="436245"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523E3A"/>
                  </a:solidFill>
                  <a:latin typeface="+mn-lt"/>
                  <a:ea typeface="+mn-ea"/>
                  <a:cs typeface="+mn-cs"/>
                </a:rPr>
                <a:t>背景、金额、</a:t>
              </a:r>
              <a:br/>
              <a:r>
                <a:rPr lang="zh-CN" sz="560" dirty="0">
                  <a:solidFill>
                    <a:srgbClr val="523E3A"/>
                  </a:solidFill>
                  <a:latin typeface="+mn-lt"/>
                  <a:ea typeface="+mn-ea"/>
                  <a:cs typeface="+mn-cs"/>
                </a:rPr>
                <a:t>时间</a:t>
              </a:r>
            </a:p>
          </p:txBody>
        </p:sp>
        <p:sp>
          <p:nvSpPr>
            <p:cNvPr id="96" name="TextBox 96"/>
            <p:cNvSpPr txBox="1"/>
            <p:nvPr/>
          </p:nvSpPr>
          <p:spPr>
            <a:xfrm>
              <a:off x="4966709" y="2128838"/>
              <a:ext cx="67832" cy="147638"/>
            </a:xfrm>
            <a:prstGeom prst="rect">
              <a:avLst/>
            </a:prstGeom>
            <a:noFill/>
            <a:ln>
              <a:noFill/>
            </a:ln>
          </p:spPr>
          <p:txBody>
            <a:bodyPr wrap="none" lIns="0" tIns="0" rIns="0" bIns="0" anchor="t" anchorCtr="0">
              <a:spAutoFit/>
            </a:bodyPr>
            <a:lstStyle/>
            <a:p>
              <a:pPr algn="ctr"/>
              <a:r>
                <a:rPr lang="zh-CN" sz="750" b="1" dirty="0">
                  <a:solidFill>
                    <a:srgbClr val="B8351A"/>
                  </a:solidFill>
                  <a:latin typeface="+mn-lt"/>
                  <a:ea typeface="+mn-ea"/>
                  <a:cs typeface="+mn-cs"/>
                </a:rPr>
                <a:t>→</a:t>
              </a:r>
            </a:p>
          </p:txBody>
        </p:sp>
        <p:sp>
          <p:nvSpPr>
            <p:cNvPr id="97" name="Rectangle 97"/>
            <p:cNvSpPr/>
            <p:nvPr/>
          </p:nvSpPr>
          <p:spPr>
            <a:xfrm>
              <a:off x="5048250" y="1771650"/>
              <a:ext cx="628650" cy="800100"/>
            </a:xfrm>
            <a:prstGeom prst="roundRect">
              <a:avLst>
                <a:gd name="adj" fmla="val 9091"/>
              </a:avLst>
            </a:prstGeom>
            <a:solidFill>
              <a:srgbClr val="F5F8FD"/>
            </a:solidFill>
            <a:ln w="9525">
              <a:solidFill>
                <a:srgbClr val="C9D6EE"/>
              </a:solidFill>
            </a:ln>
          </p:spPr>
        </p:sp>
        <p:grpSp>
          <p:nvGrpSpPr>
            <p:cNvPr id="102" name="Group 102"/>
            <p:cNvGrpSpPr/>
            <p:nvPr/>
          </p:nvGrpSpPr>
          <p:grpSpPr>
            <a:xfrm>
              <a:off x="5276850" y="1857375"/>
              <a:ext cx="171450" cy="171450"/>
              <a:chOff x="5276850" y="1857375"/>
              <a:chExt cx="171450" cy="171450"/>
            </a:xfrm>
          </p:grpSpPr>
          <p:sp>
            <p:nvSpPr>
              <p:cNvPr id="98" name="Freeform 98"/>
              <p:cNvSpPr/>
              <p:nvPr/>
            </p:nvSpPr>
            <p:spPr>
              <a:xfrm>
                <a:off x="5295900" y="18573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721E0D"/>
                </a:solidFill>
              </a:ln>
            </p:spPr>
          </p:sp>
          <p:sp>
            <p:nvSpPr>
              <p:cNvPr id="99" name="Freeform 99"/>
              <p:cNvSpPr/>
              <p:nvPr/>
            </p:nvSpPr>
            <p:spPr>
              <a:xfrm>
                <a:off x="5276850" y="19716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721E0D"/>
                </a:solidFill>
              </a:ln>
            </p:spPr>
          </p:sp>
          <p:sp>
            <p:nvSpPr>
              <p:cNvPr id="100" name="Freeform 100"/>
              <p:cNvSpPr/>
              <p:nvPr/>
            </p:nvSpPr>
            <p:spPr>
              <a:xfrm>
                <a:off x="5400675" y="18586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721E0D"/>
                </a:solidFill>
              </a:ln>
            </p:spPr>
          </p:sp>
          <p:sp>
            <p:nvSpPr>
              <p:cNvPr id="101" name="Freeform 101"/>
              <p:cNvSpPr/>
              <p:nvPr/>
            </p:nvSpPr>
            <p:spPr>
              <a:xfrm>
                <a:off x="5419725" y="19731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721E0D"/>
                </a:solidFill>
              </a:ln>
            </p:spPr>
          </p:sp>
        </p:grpSp>
        <p:sp>
          <p:nvSpPr>
            <p:cNvPr id="103" name="TextBox 103"/>
            <p:cNvSpPr txBox="1"/>
            <p:nvPr/>
          </p:nvSpPr>
          <p:spPr>
            <a:xfrm>
              <a:off x="5174729" y="2136934"/>
              <a:ext cx="375691"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决策分析</a:t>
              </a:r>
            </a:p>
          </p:txBody>
        </p:sp>
        <p:sp>
          <p:nvSpPr>
            <p:cNvPr id="104" name="TextBox 104"/>
            <p:cNvSpPr txBox="1"/>
            <p:nvPr/>
          </p:nvSpPr>
          <p:spPr>
            <a:xfrm>
              <a:off x="5180012" y="2282428"/>
              <a:ext cx="365125"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523E3A"/>
                  </a:solidFill>
                  <a:latin typeface="+mn-lt"/>
                  <a:ea typeface="+mn-ea"/>
                  <a:cs typeface="+mn-cs"/>
                </a:rPr>
                <a:t>决策链、</a:t>
              </a:r>
              <a:br/>
              <a:r>
                <a:rPr lang="zh-CN" sz="560" dirty="0">
                  <a:solidFill>
                    <a:srgbClr val="523E3A"/>
                  </a:solidFill>
                  <a:latin typeface="+mn-lt"/>
                  <a:ea typeface="+mn-ea"/>
                  <a:cs typeface="+mn-cs"/>
                </a:rPr>
                <a:t>影响力地图</a:t>
              </a:r>
            </a:p>
          </p:txBody>
        </p:sp>
        <p:sp>
          <p:nvSpPr>
            <p:cNvPr id="105" name="TextBox 105"/>
            <p:cNvSpPr txBox="1"/>
            <p:nvPr/>
          </p:nvSpPr>
          <p:spPr>
            <a:xfrm>
              <a:off x="5690609" y="2128838"/>
              <a:ext cx="67832" cy="147638"/>
            </a:xfrm>
            <a:prstGeom prst="rect">
              <a:avLst/>
            </a:prstGeom>
            <a:noFill/>
            <a:ln>
              <a:noFill/>
            </a:ln>
          </p:spPr>
          <p:txBody>
            <a:bodyPr wrap="none" lIns="0" tIns="0" rIns="0" bIns="0" anchor="t" anchorCtr="0">
              <a:spAutoFit/>
            </a:bodyPr>
            <a:lstStyle/>
            <a:p>
              <a:pPr algn="ctr"/>
              <a:r>
                <a:rPr lang="zh-CN" sz="750" b="1" dirty="0">
                  <a:solidFill>
                    <a:srgbClr val="B8351A"/>
                  </a:solidFill>
                  <a:latin typeface="+mn-lt"/>
                  <a:ea typeface="+mn-ea"/>
                  <a:cs typeface="+mn-cs"/>
                </a:rPr>
                <a:t>→</a:t>
              </a:r>
            </a:p>
          </p:txBody>
        </p:sp>
        <p:sp>
          <p:nvSpPr>
            <p:cNvPr id="106" name="Rectangle 106"/>
            <p:cNvSpPr/>
            <p:nvPr/>
          </p:nvSpPr>
          <p:spPr>
            <a:xfrm>
              <a:off x="5772150" y="1771650"/>
              <a:ext cx="628650" cy="800100"/>
            </a:xfrm>
            <a:prstGeom prst="roundRect">
              <a:avLst>
                <a:gd name="adj" fmla="val 9091"/>
              </a:avLst>
            </a:prstGeom>
            <a:solidFill>
              <a:srgbClr val="F5F8FD"/>
            </a:solidFill>
            <a:ln w="9525">
              <a:solidFill>
                <a:srgbClr val="C9D6EE"/>
              </a:solidFill>
            </a:ln>
          </p:spPr>
        </p:sp>
        <p:grpSp>
          <p:nvGrpSpPr>
            <p:cNvPr id="109" name="Group 109"/>
            <p:cNvGrpSpPr/>
            <p:nvPr/>
          </p:nvGrpSpPr>
          <p:grpSpPr>
            <a:xfrm>
              <a:off x="6000750" y="1857375"/>
              <a:ext cx="171450" cy="171450"/>
              <a:chOff x="6000750" y="1857375"/>
              <a:chExt cx="171450" cy="171450"/>
            </a:xfrm>
          </p:grpSpPr>
          <p:sp>
            <p:nvSpPr>
              <p:cNvPr id="107" name="Freeform 107"/>
              <p:cNvSpPr/>
              <p:nvPr/>
            </p:nvSpPr>
            <p:spPr>
              <a:xfrm>
                <a:off x="6000750" y="1857375"/>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19050">
                <a:solidFill>
                  <a:srgbClr val="721E0D"/>
                </a:solidFill>
              </a:ln>
            </p:spPr>
          </p:sp>
          <p:sp>
            <p:nvSpPr>
              <p:cNvPr id="108" name="Freeform 108"/>
              <p:cNvSpPr/>
              <p:nvPr/>
            </p:nvSpPr>
            <p:spPr>
              <a:xfrm>
                <a:off x="6115050" y="1971675"/>
                <a:ext cx="57150" cy="57150"/>
              </a:xfrm>
              <a:custGeom>
                <a:avLst/>
                <a:gdLst/>
                <a:ahLst/>
                <a:cxnLst/>
                <a:rect l="l" t="t" r="r" b="b"/>
                <a:pathLst>
                  <a:path w="57150" h="57150">
                    <a:moveTo>
                      <a:pt x="57150" y="57150"/>
                    </a:moveTo>
                    <a:lnTo>
                      <a:pt x="0" y="0"/>
                    </a:lnTo>
                  </a:path>
                </a:pathLst>
              </a:custGeom>
              <a:noFill/>
              <a:ln w="19050">
                <a:solidFill>
                  <a:srgbClr val="721E0D"/>
                </a:solidFill>
              </a:ln>
            </p:spPr>
          </p:sp>
        </p:grpSp>
        <p:sp>
          <p:nvSpPr>
            <p:cNvPr id="110" name="TextBox 110"/>
            <p:cNvSpPr txBox="1"/>
            <p:nvPr/>
          </p:nvSpPr>
          <p:spPr>
            <a:xfrm>
              <a:off x="5766466" y="2136934"/>
              <a:ext cx="640018"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 xml:space="preserve">  赢/输原因  </a:t>
              </a:r>
            </a:p>
          </p:txBody>
        </p:sp>
        <p:sp>
          <p:nvSpPr>
            <p:cNvPr id="111" name="TextBox 111"/>
            <p:cNvSpPr txBox="1"/>
            <p:nvPr/>
          </p:nvSpPr>
          <p:spPr>
            <a:xfrm>
              <a:off x="5868352" y="2282428"/>
              <a:ext cx="436245"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523E3A"/>
                  </a:solidFill>
                  <a:latin typeface="+mn-lt"/>
                  <a:ea typeface="+mn-ea"/>
                  <a:cs typeface="+mn-cs"/>
                </a:rPr>
                <a:t>关键成功要素</a:t>
              </a:r>
              <a:br/>
              <a:r>
                <a:rPr lang="zh-CN" sz="560" dirty="0">
                  <a:solidFill>
                    <a:srgbClr val="523E3A"/>
                  </a:solidFill>
                  <a:latin typeface="+mn-lt"/>
                  <a:ea typeface="+mn-ea"/>
                  <a:cs typeface="+mn-cs"/>
                </a:rPr>
                <a:t>失利根因</a:t>
              </a:r>
            </a:p>
          </p:txBody>
        </p:sp>
        <p:sp>
          <p:nvSpPr>
            <p:cNvPr id="112" name="TextBox 112"/>
            <p:cNvSpPr txBox="1"/>
            <p:nvPr/>
          </p:nvSpPr>
          <p:spPr>
            <a:xfrm>
              <a:off x="6414509" y="2128838"/>
              <a:ext cx="67832" cy="147638"/>
            </a:xfrm>
            <a:prstGeom prst="rect">
              <a:avLst/>
            </a:prstGeom>
            <a:noFill/>
            <a:ln>
              <a:noFill/>
            </a:ln>
          </p:spPr>
          <p:txBody>
            <a:bodyPr wrap="none" lIns="0" tIns="0" rIns="0" bIns="0" anchor="t" anchorCtr="0">
              <a:spAutoFit/>
            </a:bodyPr>
            <a:lstStyle/>
            <a:p>
              <a:pPr algn="ctr"/>
              <a:r>
                <a:rPr lang="zh-CN" sz="750" b="1" dirty="0">
                  <a:solidFill>
                    <a:srgbClr val="B8351A"/>
                  </a:solidFill>
                  <a:latin typeface="+mn-lt"/>
                  <a:ea typeface="+mn-ea"/>
                  <a:cs typeface="+mn-cs"/>
                </a:rPr>
                <a:t>→</a:t>
              </a:r>
            </a:p>
          </p:txBody>
        </p:sp>
        <p:sp>
          <p:nvSpPr>
            <p:cNvPr id="113" name="Rectangle 113"/>
            <p:cNvSpPr/>
            <p:nvPr/>
          </p:nvSpPr>
          <p:spPr>
            <a:xfrm>
              <a:off x="6496050" y="1771650"/>
              <a:ext cx="628650" cy="800100"/>
            </a:xfrm>
            <a:prstGeom prst="roundRect">
              <a:avLst>
                <a:gd name="adj" fmla="val 9091"/>
              </a:avLst>
            </a:prstGeom>
            <a:solidFill>
              <a:srgbClr val="F5F8FD"/>
            </a:solidFill>
            <a:ln w="9525">
              <a:solidFill>
                <a:srgbClr val="C9D6EE"/>
              </a:solidFill>
            </a:ln>
          </p:spPr>
        </p:sp>
        <p:grpSp>
          <p:nvGrpSpPr>
            <p:cNvPr id="118" name="Group 118"/>
            <p:cNvGrpSpPr/>
            <p:nvPr/>
          </p:nvGrpSpPr>
          <p:grpSpPr>
            <a:xfrm>
              <a:off x="6724650" y="1866900"/>
              <a:ext cx="171450" cy="161925"/>
              <a:chOff x="6724650" y="1866900"/>
              <a:chExt cx="171450" cy="161925"/>
            </a:xfrm>
          </p:grpSpPr>
          <p:sp>
            <p:nvSpPr>
              <p:cNvPr id="114" name="Freeform 114"/>
              <p:cNvSpPr/>
              <p:nvPr/>
            </p:nvSpPr>
            <p:spPr>
              <a:xfrm>
                <a:off x="6724650" y="19431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721E0D"/>
                </a:solidFill>
              </a:ln>
            </p:spPr>
          </p:sp>
          <p:sp>
            <p:nvSpPr>
              <p:cNvPr id="115" name="Freeform 115"/>
              <p:cNvSpPr/>
              <p:nvPr/>
            </p:nvSpPr>
            <p:spPr>
              <a:xfrm>
                <a:off x="6838950" y="19050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721E0D"/>
                </a:solidFill>
              </a:ln>
            </p:spPr>
          </p:sp>
          <p:sp>
            <p:nvSpPr>
              <p:cNvPr id="116" name="Freeform 116"/>
              <p:cNvSpPr/>
              <p:nvPr/>
            </p:nvSpPr>
            <p:spPr>
              <a:xfrm>
                <a:off x="6781800" y="18669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721E0D"/>
                </a:solidFill>
              </a:ln>
            </p:spPr>
          </p:sp>
          <p:sp>
            <p:nvSpPr>
              <p:cNvPr id="117" name="Freeform 117"/>
              <p:cNvSpPr/>
              <p:nvPr/>
            </p:nvSpPr>
            <p:spPr>
              <a:xfrm>
                <a:off x="6734175" y="2019300"/>
                <a:ext cx="133350" cy="9525"/>
              </a:xfrm>
              <a:custGeom>
                <a:avLst/>
                <a:gdLst/>
                <a:ahLst/>
                <a:cxnLst/>
                <a:rect l="l" t="t" r="r" b="b"/>
                <a:pathLst>
                  <a:path w="133350" h="9525">
                    <a:moveTo>
                      <a:pt x="0" y="0"/>
                    </a:moveTo>
                    <a:lnTo>
                      <a:pt x="133350" y="0"/>
                    </a:lnTo>
                  </a:path>
                </a:pathLst>
              </a:custGeom>
              <a:noFill/>
              <a:ln w="19050">
                <a:solidFill>
                  <a:srgbClr val="721E0D"/>
                </a:solidFill>
              </a:ln>
            </p:spPr>
          </p:sp>
        </p:grpSp>
        <p:sp>
          <p:nvSpPr>
            <p:cNvPr id="119" name="TextBox 119"/>
            <p:cNvSpPr txBox="1"/>
            <p:nvPr/>
          </p:nvSpPr>
          <p:spPr>
            <a:xfrm>
              <a:off x="6622529" y="2136934"/>
              <a:ext cx="375691"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过程复盘</a:t>
              </a:r>
            </a:p>
          </p:txBody>
        </p:sp>
        <p:sp>
          <p:nvSpPr>
            <p:cNvPr id="120" name="TextBox 120"/>
            <p:cNvSpPr txBox="1"/>
            <p:nvPr/>
          </p:nvSpPr>
          <p:spPr>
            <a:xfrm>
              <a:off x="6494462" y="2282428"/>
              <a:ext cx="631825"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523E3A"/>
                  </a:solidFill>
                  <a:latin typeface="+mn-lt"/>
                  <a:ea typeface="+mn-ea"/>
                  <a:cs typeface="+mn-cs"/>
                </a:rPr>
                <a:t>关键动作、策略</a:t>
              </a:r>
              <a:br/>
              <a:r>
                <a:rPr lang="zh-CN" sz="560" dirty="0">
                  <a:solidFill>
                    <a:srgbClr val="523E3A"/>
                  </a:solidFill>
                  <a:latin typeface="+mn-lt"/>
                  <a:ea typeface="+mn-ea"/>
                  <a:cs typeface="+mn-cs"/>
                </a:rPr>
                <a:t xml:space="preserve">  执行优点/不足  </a:t>
              </a:r>
            </a:p>
          </p:txBody>
        </p:sp>
        <p:sp>
          <p:nvSpPr>
            <p:cNvPr id="121" name="TextBox 121"/>
            <p:cNvSpPr txBox="1"/>
            <p:nvPr/>
          </p:nvSpPr>
          <p:spPr>
            <a:xfrm>
              <a:off x="7138409" y="2128838"/>
              <a:ext cx="67832" cy="147638"/>
            </a:xfrm>
            <a:prstGeom prst="rect">
              <a:avLst/>
            </a:prstGeom>
            <a:noFill/>
            <a:ln>
              <a:noFill/>
            </a:ln>
          </p:spPr>
          <p:txBody>
            <a:bodyPr wrap="none" lIns="0" tIns="0" rIns="0" bIns="0" anchor="t" anchorCtr="0">
              <a:spAutoFit/>
            </a:bodyPr>
            <a:lstStyle/>
            <a:p>
              <a:pPr algn="ctr"/>
              <a:r>
                <a:rPr lang="zh-CN" sz="750" b="1" dirty="0">
                  <a:solidFill>
                    <a:srgbClr val="B8351A"/>
                  </a:solidFill>
                  <a:latin typeface="+mn-lt"/>
                  <a:ea typeface="+mn-ea"/>
                  <a:cs typeface="+mn-cs"/>
                </a:rPr>
                <a:t>→</a:t>
              </a:r>
            </a:p>
          </p:txBody>
        </p:sp>
        <p:sp>
          <p:nvSpPr>
            <p:cNvPr id="122" name="Rectangle 122"/>
            <p:cNvSpPr/>
            <p:nvPr/>
          </p:nvSpPr>
          <p:spPr>
            <a:xfrm>
              <a:off x="7219950" y="1771650"/>
              <a:ext cx="628650" cy="800100"/>
            </a:xfrm>
            <a:prstGeom prst="roundRect">
              <a:avLst>
                <a:gd name="adj" fmla="val 9091"/>
              </a:avLst>
            </a:prstGeom>
            <a:solidFill>
              <a:srgbClr val="F5F8FD"/>
            </a:solidFill>
            <a:ln w="9525">
              <a:solidFill>
                <a:srgbClr val="C9D6EE"/>
              </a:solidFill>
            </a:ln>
          </p:spPr>
        </p:sp>
        <p:grpSp>
          <p:nvGrpSpPr>
            <p:cNvPr id="127" name="Group 127"/>
            <p:cNvGrpSpPr/>
            <p:nvPr/>
          </p:nvGrpSpPr>
          <p:grpSpPr>
            <a:xfrm>
              <a:off x="7467600" y="1866900"/>
              <a:ext cx="142875" cy="161925"/>
              <a:chOff x="7467600" y="1866900"/>
              <a:chExt cx="142875" cy="161925"/>
            </a:xfrm>
          </p:grpSpPr>
          <p:sp>
            <p:nvSpPr>
              <p:cNvPr id="123" name="Freeform 123"/>
              <p:cNvSpPr/>
              <p:nvPr/>
            </p:nvSpPr>
            <p:spPr>
              <a:xfrm>
                <a:off x="7467600" y="186690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721E0D"/>
                </a:solidFill>
              </a:ln>
            </p:spPr>
          </p:sp>
          <p:sp>
            <p:nvSpPr>
              <p:cNvPr id="124" name="Freeform 124"/>
              <p:cNvSpPr/>
              <p:nvPr/>
            </p:nvSpPr>
            <p:spPr>
              <a:xfrm>
                <a:off x="7553325" y="1990725"/>
                <a:ext cx="57150" cy="38100"/>
              </a:xfrm>
              <a:custGeom>
                <a:avLst/>
                <a:gdLst/>
                <a:ahLst/>
                <a:cxnLst/>
                <a:rect l="l" t="t" r="r" b="b"/>
                <a:pathLst>
                  <a:path w="57150" h="38100">
                    <a:moveTo>
                      <a:pt x="0" y="19050"/>
                    </a:moveTo>
                    <a:lnTo>
                      <a:pt x="19050" y="38100"/>
                    </a:lnTo>
                    <a:lnTo>
                      <a:pt x="57150" y="0"/>
                    </a:lnTo>
                  </a:path>
                </a:pathLst>
              </a:custGeom>
              <a:noFill/>
              <a:ln w="19050">
                <a:solidFill>
                  <a:srgbClr val="721E0D"/>
                </a:solidFill>
              </a:ln>
            </p:spPr>
          </p:sp>
          <p:sp>
            <p:nvSpPr>
              <p:cNvPr id="125" name="Freeform 125"/>
              <p:cNvSpPr/>
              <p:nvPr/>
            </p:nvSpPr>
            <p:spPr>
              <a:xfrm>
                <a:off x="7505700" y="1905000"/>
                <a:ext cx="38100" cy="9525"/>
              </a:xfrm>
              <a:custGeom>
                <a:avLst/>
                <a:gdLst/>
                <a:ahLst/>
                <a:cxnLst/>
                <a:rect l="l" t="t" r="r" b="b"/>
                <a:pathLst>
                  <a:path w="38100" h="9525">
                    <a:moveTo>
                      <a:pt x="0" y="0"/>
                    </a:moveTo>
                    <a:lnTo>
                      <a:pt x="38100" y="0"/>
                    </a:lnTo>
                  </a:path>
                </a:pathLst>
              </a:custGeom>
              <a:noFill/>
              <a:ln w="19050">
                <a:solidFill>
                  <a:srgbClr val="721E0D"/>
                </a:solidFill>
              </a:ln>
            </p:spPr>
          </p:sp>
          <p:sp>
            <p:nvSpPr>
              <p:cNvPr id="126" name="Freeform 126"/>
              <p:cNvSpPr/>
              <p:nvPr/>
            </p:nvSpPr>
            <p:spPr>
              <a:xfrm>
                <a:off x="7505700" y="1943100"/>
                <a:ext cx="19050" cy="9525"/>
              </a:xfrm>
              <a:custGeom>
                <a:avLst/>
                <a:gdLst/>
                <a:ahLst/>
                <a:cxnLst/>
                <a:rect l="l" t="t" r="r" b="b"/>
                <a:pathLst>
                  <a:path w="19050" h="9525">
                    <a:moveTo>
                      <a:pt x="0" y="0"/>
                    </a:moveTo>
                    <a:lnTo>
                      <a:pt x="19050" y="0"/>
                    </a:lnTo>
                  </a:path>
                </a:pathLst>
              </a:custGeom>
              <a:noFill/>
              <a:ln w="19050">
                <a:solidFill>
                  <a:srgbClr val="721E0D"/>
                </a:solidFill>
              </a:ln>
            </p:spPr>
          </p:sp>
        </p:grpSp>
        <p:sp>
          <p:nvSpPr>
            <p:cNvPr id="128" name="TextBox 128"/>
            <p:cNvSpPr txBox="1"/>
            <p:nvPr/>
          </p:nvSpPr>
          <p:spPr>
            <a:xfrm>
              <a:off x="7346429" y="2136934"/>
              <a:ext cx="375691"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改进行动</a:t>
              </a:r>
            </a:p>
          </p:txBody>
        </p:sp>
        <p:sp>
          <p:nvSpPr>
            <p:cNvPr id="129" name="TextBox 129"/>
            <p:cNvSpPr txBox="1"/>
            <p:nvPr/>
          </p:nvSpPr>
          <p:spPr>
            <a:xfrm>
              <a:off x="7316152" y="2282428"/>
              <a:ext cx="436245" cy="207169"/>
            </a:xfrm>
            <a:prstGeom prst="rect">
              <a:avLst/>
            </a:prstGeom>
            <a:noFill/>
            <a:ln>
              <a:noFill/>
            </a:ln>
          </p:spPr>
          <p:txBody>
            <a:bodyPr wrap="none" lIns="0" tIns="0" rIns="0" bIns="0" anchor="t" anchorCtr="0">
              <a:spAutoFit/>
            </a:bodyPr>
            <a:lstStyle/>
            <a:p>
              <a:pPr algn="ctr">
                <a:lnSpc>
                  <a:spcPts val="750"/>
                </a:lnSpc>
              </a:pPr>
              <a:r>
                <a:rPr lang="zh-CN" sz="560" dirty="0">
                  <a:solidFill>
                    <a:srgbClr val="523E3A"/>
                  </a:solidFill>
                  <a:latin typeface="+mn-lt"/>
                  <a:ea typeface="+mn-ea"/>
                  <a:cs typeface="+mn-cs"/>
                </a:rPr>
                <a:t>优化点、改进</a:t>
              </a:r>
              <a:br/>
              <a:r>
                <a:rPr lang="zh-CN" sz="560" dirty="0">
                  <a:solidFill>
                    <a:srgbClr val="523E3A"/>
                  </a:solidFill>
                  <a:latin typeface="+mn-lt"/>
                  <a:ea typeface="+mn-ea"/>
                  <a:cs typeface="+mn-cs"/>
                </a:rPr>
                <a:t>措施、责任人</a:t>
              </a:r>
            </a:p>
          </p:txBody>
        </p:sp>
        <p:sp>
          <p:nvSpPr>
            <p:cNvPr id="130" name="TextBox 130"/>
            <p:cNvSpPr txBox="1"/>
            <p:nvPr/>
          </p:nvSpPr>
          <p:spPr>
            <a:xfrm>
              <a:off x="4319588" y="2749391"/>
              <a:ext cx="1606293" cy="161925"/>
            </a:xfrm>
            <a:prstGeom prst="rect">
              <a:avLst/>
            </a:prstGeom>
            <a:noFill/>
            <a:ln>
              <a:noFill/>
            </a:ln>
          </p:spPr>
          <p:txBody>
            <a:bodyPr wrap="none" lIns="0" tIns="0" rIns="0" bIns="0" anchor="t" anchorCtr="0">
              <a:spAutoFit/>
            </a:bodyPr>
            <a:lstStyle/>
            <a:p>
              <a:pPr algn="l"/>
              <a:r>
                <a:rPr lang="zh-CN" sz="820" b="1" dirty="0">
                  <a:solidFill>
                    <a:srgbClr val="721E0D"/>
                  </a:solidFill>
                  <a:latin typeface="+mn-lt"/>
                  <a:ea typeface="+mn-ea"/>
                  <a:cs typeface="+mn-cs"/>
                </a:rPr>
                <a:t xml:space="preserve">上半年复盘成果（示例）      </a:t>
              </a:r>
            </a:p>
          </p:txBody>
        </p:sp>
        <p:sp>
          <p:nvSpPr>
            <p:cNvPr id="131" name="Rectangle 131"/>
            <p:cNvSpPr/>
            <p:nvPr/>
          </p:nvSpPr>
          <p:spPr>
            <a:xfrm>
              <a:off x="4324350" y="2914650"/>
              <a:ext cx="3562350" cy="190500"/>
            </a:xfrm>
            <a:prstGeom prst="rect">
              <a:avLst/>
            </a:prstGeom>
            <a:solidFill>
              <a:srgbClr val="EAF1FB"/>
            </a:solidFill>
            <a:ln>
              <a:noFill/>
            </a:ln>
          </p:spPr>
        </p:sp>
        <p:sp>
          <p:nvSpPr>
            <p:cNvPr id="132" name="TextBox 132"/>
            <p:cNvSpPr txBox="1"/>
            <p:nvPr/>
          </p:nvSpPr>
          <p:spPr>
            <a:xfrm>
              <a:off x="4394924" y="2979182"/>
              <a:ext cx="354152" cy="126206"/>
            </a:xfrm>
            <a:prstGeom prst="rect">
              <a:avLst/>
            </a:prstGeom>
            <a:noFill/>
            <a:ln>
              <a:noFill/>
            </a:ln>
          </p:spPr>
          <p:txBody>
            <a:bodyPr wrap="none" lIns="0" tIns="0" rIns="0" bIns="0" anchor="t" anchorCtr="0">
              <a:spAutoFit/>
            </a:bodyPr>
            <a:lstStyle/>
            <a:p>
              <a:pPr algn="ctr"/>
              <a:r>
                <a:rPr lang="zh-CN" sz="640" b="1" dirty="0">
                  <a:solidFill>
                    <a:srgbClr val="721E0D"/>
                  </a:solidFill>
                  <a:latin typeface="+mn-lt"/>
                  <a:ea typeface="+mn-ea"/>
                  <a:cs typeface="+mn-cs"/>
                </a:rPr>
                <a:t>项目类型</a:t>
              </a:r>
            </a:p>
          </p:txBody>
        </p:sp>
        <p:sp>
          <p:nvSpPr>
            <p:cNvPr id="133" name="TextBox 133"/>
            <p:cNvSpPr txBox="1"/>
            <p:nvPr/>
          </p:nvSpPr>
          <p:spPr>
            <a:xfrm>
              <a:off x="4923346" y="2979182"/>
              <a:ext cx="440309" cy="126206"/>
            </a:xfrm>
            <a:prstGeom prst="rect">
              <a:avLst/>
            </a:prstGeom>
            <a:noFill/>
            <a:ln>
              <a:noFill/>
            </a:ln>
          </p:spPr>
          <p:txBody>
            <a:bodyPr wrap="none" lIns="0" tIns="0" rIns="0" bIns="0" anchor="t" anchorCtr="0">
              <a:spAutoFit/>
            </a:bodyPr>
            <a:lstStyle/>
            <a:p>
              <a:pPr algn="ctr"/>
              <a:r>
                <a:rPr lang="zh-CN" sz="640" b="1" dirty="0">
                  <a:solidFill>
                    <a:srgbClr val="721E0D"/>
                  </a:solidFill>
                  <a:latin typeface="+mn-lt"/>
                  <a:ea typeface="+mn-ea"/>
                  <a:cs typeface="+mn-cs"/>
                </a:rPr>
                <a:t>复盘项目数</a:t>
              </a:r>
            </a:p>
          </p:txBody>
        </p:sp>
        <p:sp>
          <p:nvSpPr>
            <p:cNvPr id="134" name="TextBox 134"/>
            <p:cNvSpPr txBox="1"/>
            <p:nvPr/>
          </p:nvSpPr>
          <p:spPr>
            <a:xfrm>
              <a:off x="5523852" y="2979182"/>
              <a:ext cx="267995" cy="126206"/>
            </a:xfrm>
            <a:prstGeom prst="rect">
              <a:avLst/>
            </a:prstGeom>
            <a:noFill/>
            <a:ln>
              <a:noFill/>
            </a:ln>
          </p:spPr>
          <p:txBody>
            <a:bodyPr wrap="none" lIns="0" tIns="0" rIns="0" bIns="0" anchor="t" anchorCtr="0">
              <a:spAutoFit/>
            </a:bodyPr>
            <a:lstStyle/>
            <a:p>
              <a:pPr algn="ctr"/>
              <a:r>
                <a:rPr lang="zh-CN" sz="640" b="1" dirty="0">
                  <a:solidFill>
                    <a:srgbClr val="721E0D"/>
                  </a:solidFill>
                  <a:latin typeface="+mn-lt"/>
                  <a:ea typeface="+mn-ea"/>
                  <a:cs typeface="+mn-cs"/>
                </a:rPr>
                <a:t>胜单数</a:t>
              </a:r>
            </a:p>
          </p:txBody>
        </p:sp>
        <p:sp>
          <p:nvSpPr>
            <p:cNvPr id="135" name="TextBox 135"/>
            <p:cNvSpPr txBox="1"/>
            <p:nvPr/>
          </p:nvSpPr>
          <p:spPr>
            <a:xfrm>
              <a:off x="6005081" y="2979182"/>
              <a:ext cx="181839" cy="126206"/>
            </a:xfrm>
            <a:prstGeom prst="rect">
              <a:avLst/>
            </a:prstGeom>
            <a:noFill/>
            <a:ln>
              <a:noFill/>
            </a:ln>
          </p:spPr>
          <p:txBody>
            <a:bodyPr wrap="none" lIns="0" tIns="0" rIns="0" bIns="0" anchor="t" anchorCtr="0">
              <a:spAutoFit/>
            </a:bodyPr>
            <a:lstStyle/>
            <a:p>
              <a:pPr algn="ctr"/>
              <a:r>
                <a:rPr lang="zh-CN" sz="640" b="1" dirty="0">
                  <a:solidFill>
                    <a:srgbClr val="721E0D"/>
                  </a:solidFill>
                  <a:latin typeface="+mn-lt"/>
                  <a:ea typeface="+mn-ea"/>
                  <a:cs typeface="+mn-cs"/>
                </a:rPr>
                <a:t>胜率</a:t>
              </a:r>
            </a:p>
          </p:txBody>
        </p:sp>
        <p:sp>
          <p:nvSpPr>
            <p:cNvPr id="136" name="TextBox 136"/>
            <p:cNvSpPr txBox="1"/>
            <p:nvPr/>
          </p:nvSpPr>
          <p:spPr>
            <a:xfrm>
              <a:off x="6582116" y="2979182"/>
              <a:ext cx="1047068" cy="126206"/>
            </a:xfrm>
            <a:prstGeom prst="rect">
              <a:avLst/>
            </a:prstGeom>
            <a:noFill/>
            <a:ln>
              <a:noFill/>
            </a:ln>
          </p:spPr>
          <p:txBody>
            <a:bodyPr wrap="none" lIns="0" tIns="0" rIns="0" bIns="0" anchor="t" anchorCtr="0">
              <a:spAutoFit/>
            </a:bodyPr>
            <a:lstStyle/>
            <a:p>
              <a:pPr algn="ctr"/>
              <a:r>
                <a:rPr lang="zh-CN" sz="640" b="1" dirty="0">
                  <a:solidFill>
                    <a:srgbClr val="721E0D"/>
                  </a:solidFill>
                  <a:latin typeface="+mn-lt"/>
                  <a:ea typeface="+mn-ea"/>
                  <a:cs typeface="+mn-cs"/>
                </a:rPr>
                <a:t xml:space="preserve">   关键发现/改进方向   </a:t>
              </a:r>
            </a:p>
          </p:txBody>
        </p:sp>
        <p:sp>
          <p:nvSpPr>
            <p:cNvPr id="137" name="TextBox 137"/>
            <p:cNvSpPr txBox="1"/>
            <p:nvPr/>
          </p:nvSpPr>
          <p:spPr>
            <a:xfrm>
              <a:off x="4471657" y="3256836"/>
              <a:ext cx="200685" cy="140494"/>
            </a:xfrm>
            <a:prstGeom prst="rect">
              <a:avLst/>
            </a:prstGeom>
            <a:noFill/>
            <a:ln>
              <a:noFill/>
            </a:ln>
          </p:spPr>
          <p:txBody>
            <a:bodyPr wrap="none" lIns="0" tIns="0" rIns="0" bIns="0" anchor="t" anchorCtr="0">
              <a:spAutoFit/>
            </a:bodyPr>
            <a:lstStyle/>
            <a:p>
              <a:pPr algn="ctr"/>
              <a:r>
                <a:rPr lang="zh-CN" sz="710" b="1" dirty="0">
                  <a:solidFill>
                    <a:srgbClr val="461910"/>
                  </a:solidFill>
                  <a:latin typeface="+mn-lt"/>
                  <a:ea typeface="+mn-ea"/>
                  <a:cs typeface="+mn-cs"/>
                </a:rPr>
                <a:t>胜单</a:t>
              </a:r>
            </a:p>
          </p:txBody>
        </p:sp>
        <p:sp>
          <p:nvSpPr>
            <p:cNvPr id="138" name="TextBox 138"/>
            <p:cNvSpPr txBox="1"/>
            <p:nvPr/>
          </p:nvSpPr>
          <p:spPr>
            <a:xfrm>
              <a:off x="5086168" y="3256836"/>
              <a:ext cx="114663"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28</a:t>
              </a:r>
            </a:p>
          </p:txBody>
        </p:sp>
        <p:sp>
          <p:nvSpPr>
            <p:cNvPr id="139" name="TextBox 139"/>
            <p:cNvSpPr txBox="1"/>
            <p:nvPr/>
          </p:nvSpPr>
          <p:spPr>
            <a:xfrm>
              <a:off x="5600518" y="3256836"/>
              <a:ext cx="114663"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18</a:t>
              </a:r>
            </a:p>
          </p:txBody>
        </p:sp>
        <p:sp>
          <p:nvSpPr>
            <p:cNvPr id="140" name="TextBox 140"/>
            <p:cNvSpPr txBox="1"/>
            <p:nvPr/>
          </p:nvSpPr>
          <p:spPr>
            <a:xfrm>
              <a:off x="5888010" y="3256836"/>
              <a:ext cx="415980"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64%  </a:t>
              </a:r>
            </a:p>
          </p:txBody>
        </p:sp>
        <p:grpSp>
          <p:nvGrpSpPr>
            <p:cNvPr id="143" name="Group 143"/>
            <p:cNvGrpSpPr/>
            <p:nvPr/>
          </p:nvGrpSpPr>
          <p:grpSpPr>
            <a:xfrm>
              <a:off x="6419850" y="3238500"/>
              <a:ext cx="114300" cy="114300"/>
              <a:chOff x="6419850" y="3238500"/>
              <a:chExt cx="114300" cy="114300"/>
            </a:xfrm>
          </p:grpSpPr>
          <p:sp>
            <p:nvSpPr>
              <p:cNvPr id="141" name="Freeform 141"/>
              <p:cNvSpPr/>
              <p:nvPr/>
            </p:nvSpPr>
            <p:spPr>
              <a:xfrm>
                <a:off x="6419850" y="32385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9E331E"/>
                </a:solidFill>
              </a:ln>
            </p:spPr>
          </p:sp>
          <p:sp>
            <p:nvSpPr>
              <p:cNvPr id="142" name="Freeform 142"/>
              <p:cNvSpPr/>
              <p:nvPr/>
            </p:nvSpPr>
            <p:spPr>
              <a:xfrm>
                <a:off x="6457950" y="3282950"/>
                <a:ext cx="38100" cy="25400"/>
              </a:xfrm>
              <a:custGeom>
                <a:avLst/>
                <a:gdLst/>
                <a:ahLst/>
                <a:cxnLst/>
                <a:rect l="l" t="t" r="r" b="b"/>
                <a:pathLst>
                  <a:path w="38100" h="25400">
                    <a:moveTo>
                      <a:pt x="0" y="12700"/>
                    </a:moveTo>
                    <a:lnTo>
                      <a:pt x="12700" y="25400"/>
                    </a:lnTo>
                    <a:lnTo>
                      <a:pt x="38100" y="0"/>
                    </a:lnTo>
                  </a:path>
                </a:pathLst>
              </a:custGeom>
              <a:noFill/>
              <a:ln w="12700">
                <a:solidFill>
                  <a:srgbClr val="9E331E"/>
                </a:solidFill>
              </a:ln>
            </p:spPr>
          </p:sp>
        </p:grpSp>
        <p:sp>
          <p:nvSpPr>
            <p:cNvPr id="144" name="TextBox 144"/>
            <p:cNvSpPr txBox="1"/>
            <p:nvPr/>
          </p:nvSpPr>
          <p:spPr>
            <a:xfrm>
              <a:off x="6605588" y="3207782"/>
              <a:ext cx="57848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高层联合拜访是</a:t>
              </a:r>
              <a:br/>
              <a:r>
                <a:rPr lang="zh-CN" sz="640" dirty="0">
                  <a:solidFill>
                    <a:srgbClr val="523E3A"/>
                  </a:solidFill>
                  <a:latin typeface="+mn-lt"/>
                  <a:ea typeface="+mn-ea"/>
                  <a:cs typeface="+mn-cs"/>
                </a:rPr>
                <a:t>制胜关键</a:t>
              </a:r>
            </a:p>
          </p:txBody>
        </p:sp>
        <p:sp>
          <p:nvSpPr>
            <p:cNvPr id="145" name="Line 145"/>
            <p:cNvSpPr/>
            <p:nvPr/>
          </p:nvSpPr>
          <p:spPr>
            <a:xfrm>
              <a:off x="4324350" y="348615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146" name="TextBox 146"/>
            <p:cNvSpPr txBox="1"/>
            <p:nvPr/>
          </p:nvSpPr>
          <p:spPr>
            <a:xfrm>
              <a:off x="4471657" y="3637836"/>
              <a:ext cx="200685" cy="140494"/>
            </a:xfrm>
            <a:prstGeom prst="rect">
              <a:avLst/>
            </a:prstGeom>
            <a:noFill/>
            <a:ln>
              <a:noFill/>
            </a:ln>
          </p:spPr>
          <p:txBody>
            <a:bodyPr wrap="none" lIns="0" tIns="0" rIns="0" bIns="0" anchor="t" anchorCtr="0">
              <a:spAutoFit/>
            </a:bodyPr>
            <a:lstStyle/>
            <a:p>
              <a:pPr algn="ctr"/>
              <a:r>
                <a:rPr lang="zh-CN" sz="710" b="1" dirty="0">
                  <a:solidFill>
                    <a:srgbClr val="461910"/>
                  </a:solidFill>
                  <a:latin typeface="+mn-lt"/>
                  <a:ea typeface="+mn-ea"/>
                  <a:cs typeface="+mn-cs"/>
                </a:rPr>
                <a:t>负单</a:t>
              </a:r>
            </a:p>
          </p:txBody>
        </p:sp>
        <p:sp>
          <p:nvSpPr>
            <p:cNvPr id="147" name="TextBox 147"/>
            <p:cNvSpPr txBox="1"/>
            <p:nvPr/>
          </p:nvSpPr>
          <p:spPr>
            <a:xfrm>
              <a:off x="5086168" y="3637836"/>
              <a:ext cx="114663"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32</a:t>
              </a:r>
            </a:p>
          </p:txBody>
        </p:sp>
        <p:sp>
          <p:nvSpPr>
            <p:cNvPr id="148" name="TextBox 148"/>
            <p:cNvSpPr txBox="1"/>
            <p:nvPr/>
          </p:nvSpPr>
          <p:spPr>
            <a:xfrm>
              <a:off x="5600518" y="3637836"/>
              <a:ext cx="114663" cy="140494"/>
            </a:xfrm>
            <a:prstGeom prst="rect">
              <a:avLst/>
            </a:prstGeom>
            <a:noFill/>
            <a:ln>
              <a:noFill/>
            </a:ln>
          </p:spPr>
          <p:txBody>
            <a:bodyPr wrap="none" lIns="0" tIns="0" rIns="0" bIns="0" anchor="t" anchorCtr="0">
              <a:spAutoFit/>
            </a:bodyPr>
            <a:lstStyle/>
            <a:p>
              <a:pPr algn="ctr"/>
              <a:r>
                <a:rPr lang="zh-CN" sz="710" dirty="0">
                  <a:solidFill>
                    <a:srgbClr val="523E3A"/>
                  </a:solidFill>
                  <a:latin typeface="+mn-lt"/>
                  <a:ea typeface="+mn-ea"/>
                  <a:cs typeface="+mn-cs"/>
                </a:rPr>
                <a:t>12</a:t>
              </a:r>
            </a:p>
          </p:txBody>
        </p:sp>
        <p:sp>
          <p:nvSpPr>
            <p:cNvPr id="149" name="TextBox 149"/>
            <p:cNvSpPr txBox="1"/>
            <p:nvPr/>
          </p:nvSpPr>
          <p:spPr>
            <a:xfrm>
              <a:off x="5888010" y="3637836"/>
              <a:ext cx="415980"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 xml:space="preserve">  38%  </a:t>
              </a:r>
            </a:p>
          </p:txBody>
        </p:sp>
        <p:grpSp>
          <p:nvGrpSpPr>
            <p:cNvPr id="153" name="Group 153"/>
            <p:cNvGrpSpPr/>
            <p:nvPr/>
          </p:nvGrpSpPr>
          <p:grpSpPr>
            <a:xfrm>
              <a:off x="6412960" y="3617390"/>
              <a:ext cx="128076" cy="110034"/>
              <a:chOff x="6412960" y="3617390"/>
              <a:chExt cx="128076" cy="110034"/>
            </a:xfrm>
          </p:grpSpPr>
          <p:sp>
            <p:nvSpPr>
              <p:cNvPr id="150" name="Freeform 150"/>
              <p:cNvSpPr/>
              <p:nvPr/>
            </p:nvSpPr>
            <p:spPr>
              <a:xfrm>
                <a:off x="6477000" y="3657600"/>
                <a:ext cx="9525" cy="25400"/>
              </a:xfrm>
              <a:custGeom>
                <a:avLst/>
                <a:gdLst/>
                <a:ahLst/>
                <a:cxnLst/>
                <a:rect l="l" t="t" r="r" b="b"/>
                <a:pathLst>
                  <a:path w="9525" h="25400">
                    <a:moveTo>
                      <a:pt x="0" y="0"/>
                    </a:moveTo>
                    <a:lnTo>
                      <a:pt x="0" y="25400"/>
                    </a:lnTo>
                  </a:path>
                </a:pathLst>
              </a:custGeom>
              <a:noFill/>
              <a:ln w="12700">
                <a:solidFill>
                  <a:srgbClr val="C03616"/>
                </a:solidFill>
              </a:ln>
            </p:spPr>
          </p:sp>
          <p:sp>
            <p:nvSpPr>
              <p:cNvPr id="151" name="Freeform 151"/>
              <p:cNvSpPr/>
              <p:nvPr/>
            </p:nvSpPr>
            <p:spPr>
              <a:xfrm>
                <a:off x="6412960" y="361739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C03616"/>
                </a:solidFill>
              </a:ln>
            </p:spPr>
          </p:sp>
          <p:sp>
            <p:nvSpPr>
              <p:cNvPr id="152" name="Freeform 152"/>
              <p:cNvSpPr/>
              <p:nvPr/>
            </p:nvSpPr>
            <p:spPr>
              <a:xfrm>
                <a:off x="6477000" y="3702050"/>
                <a:ext cx="9525" cy="9525"/>
              </a:xfrm>
              <a:custGeom>
                <a:avLst/>
                <a:gdLst/>
                <a:ahLst/>
                <a:cxnLst/>
                <a:rect l="l" t="t" r="r" b="b"/>
                <a:pathLst>
                  <a:path w="9525" h="9525">
                    <a:moveTo>
                      <a:pt x="0" y="0"/>
                    </a:moveTo>
                    <a:lnTo>
                      <a:pt x="64" y="0"/>
                    </a:lnTo>
                  </a:path>
                </a:pathLst>
              </a:custGeom>
              <a:noFill/>
              <a:ln w="12700">
                <a:solidFill>
                  <a:srgbClr val="C03616"/>
                </a:solidFill>
              </a:ln>
            </p:spPr>
          </p:sp>
        </p:grpSp>
        <p:sp>
          <p:nvSpPr>
            <p:cNvPr id="154" name="TextBox 154"/>
            <p:cNvSpPr txBox="1"/>
            <p:nvPr/>
          </p:nvSpPr>
          <p:spPr>
            <a:xfrm>
              <a:off x="6605588" y="3588782"/>
              <a:ext cx="57848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竞品方案差异化</a:t>
              </a:r>
              <a:br/>
              <a:r>
                <a:rPr lang="zh-CN" sz="640" dirty="0">
                  <a:solidFill>
                    <a:srgbClr val="523E3A"/>
                  </a:solidFill>
                  <a:latin typeface="+mn-lt"/>
                  <a:ea typeface="+mn-ea"/>
                  <a:cs typeface="+mn-cs"/>
                </a:rPr>
                <a:t>不足</a:t>
              </a:r>
            </a:p>
          </p:txBody>
        </p:sp>
        <p:sp>
          <p:nvSpPr>
            <p:cNvPr id="155" name="Line 155"/>
            <p:cNvSpPr/>
            <p:nvPr/>
          </p:nvSpPr>
          <p:spPr>
            <a:xfrm>
              <a:off x="4324350" y="386715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156" name="Rectangle 156"/>
            <p:cNvSpPr/>
            <p:nvPr/>
          </p:nvSpPr>
          <p:spPr>
            <a:xfrm>
              <a:off x="4305300" y="4648200"/>
              <a:ext cx="3581400" cy="495300"/>
            </a:xfrm>
            <a:prstGeom prst="roundRect">
              <a:avLst>
                <a:gd name="adj" fmla="val 15385"/>
              </a:avLst>
            </a:prstGeom>
            <a:solidFill>
              <a:srgbClr val="EAF1FB"/>
            </a:solidFill>
            <a:ln>
              <a:noFill/>
            </a:ln>
          </p:spPr>
        </p:sp>
        <p:grpSp>
          <p:nvGrpSpPr>
            <p:cNvPr id="160" name="Group 160"/>
            <p:cNvGrpSpPr/>
            <p:nvPr/>
          </p:nvGrpSpPr>
          <p:grpSpPr>
            <a:xfrm>
              <a:off x="4452938" y="4795838"/>
              <a:ext cx="200026" cy="200026"/>
              <a:chOff x="4452938" y="4795838"/>
              <a:chExt cx="200026" cy="200026"/>
            </a:xfrm>
          </p:grpSpPr>
          <p:sp>
            <p:nvSpPr>
              <p:cNvPr id="157" name="Freeform 157"/>
              <p:cNvSpPr/>
              <p:nvPr/>
            </p:nvSpPr>
            <p:spPr>
              <a:xfrm>
                <a:off x="4541838" y="488473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721E0D"/>
                </a:solidFill>
              </a:ln>
            </p:spPr>
          </p:sp>
          <p:sp>
            <p:nvSpPr>
              <p:cNvPr id="158" name="Freeform 158"/>
              <p:cNvSpPr/>
              <p:nvPr/>
            </p:nvSpPr>
            <p:spPr>
              <a:xfrm>
                <a:off x="4497388" y="4840288"/>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22225">
                <a:solidFill>
                  <a:srgbClr val="721E0D"/>
                </a:solidFill>
              </a:ln>
            </p:spPr>
          </p:sp>
          <p:sp>
            <p:nvSpPr>
              <p:cNvPr id="159" name="Freeform 159"/>
              <p:cNvSpPr/>
              <p:nvPr/>
            </p:nvSpPr>
            <p:spPr>
              <a:xfrm>
                <a:off x="4452938" y="47958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721E0D"/>
                </a:solidFill>
              </a:ln>
            </p:spPr>
          </p:sp>
        </p:grpSp>
        <p:sp>
          <p:nvSpPr>
            <p:cNvPr id="161" name="TextBox 161"/>
            <p:cNvSpPr txBox="1"/>
            <p:nvPr/>
          </p:nvSpPr>
          <p:spPr>
            <a:xfrm>
              <a:off x="4794885" y="4850606"/>
              <a:ext cx="2566420"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 xml:space="preserve">整体攻单胜率提升 </a:t>
              </a:r>
              <a:r>
                <a:rPr lang="zh-CN" sz="1650" b="1" dirty="0">
                  <a:solidFill>
                    <a:srgbClr val="C03616"/>
                  </a:solidFill>
                  <a:latin typeface="+mn-lt"/>
                  <a:ea typeface="+mn-ea"/>
                  <a:cs typeface="+mn-cs"/>
                </a:rPr>
                <a:t>3</a:t>
              </a:r>
              <a:r>
                <a:rPr lang="zh-CN" sz="1120" b="1" dirty="0">
                  <a:solidFill>
                    <a:srgbClr val="721E0D"/>
                  </a:solidFill>
                  <a:latin typeface="+mn-lt"/>
                  <a:ea typeface="+mn-ea"/>
                  <a:cs typeface="+mn-cs"/>
                </a:rPr>
                <a:t xml:space="preserve"> 个百分点      </a:t>
              </a:r>
            </a:p>
          </p:txBody>
        </p:sp>
      </p:grpSp>
      <p:grpSp>
        <p:nvGrpSpPr>
          <p:cNvPr id="230" name="start-card-3"/>
          <p:cNvGrpSpPr/>
          <p:nvPr/>
        </p:nvGrpSpPr>
        <p:grpSpPr>
          <a:xfrm>
            <a:off x="8138360" y="704850"/>
            <a:ext cx="3825040" cy="4591050"/>
            <a:chOff x="8138360" y="704850"/>
            <a:chExt cx="3825040" cy="4591050"/>
          </a:xfrm>
        </p:grpSpPr>
        <p:sp>
          <p:nvSpPr>
            <p:cNvPr id="163" name="Rectangle 163"/>
            <p:cNvSpPr/>
            <p:nvPr/>
          </p:nvSpPr>
          <p:spPr>
            <a:xfrm>
              <a:off x="8153400" y="704850"/>
              <a:ext cx="3810000" cy="4591050"/>
            </a:xfrm>
            <a:prstGeom prst="roundRect">
              <a:avLst>
                <a:gd name="adj" fmla="val 3000"/>
              </a:avLst>
            </a:prstGeom>
            <a:solidFill>
              <a:srgbClr val="FFFFFF"/>
            </a:solidFill>
            <a:ln w="14288">
              <a:solidFill>
                <a:srgbClr val="C9D6EE"/>
              </a:solidFill>
            </a:ln>
          </p:spPr>
        </p:sp>
        <p:sp>
          <p:nvSpPr>
            <p:cNvPr id="164" name="Ellipse 164"/>
            <p:cNvSpPr/>
            <p:nvPr/>
          </p:nvSpPr>
          <p:spPr>
            <a:xfrm>
              <a:off x="8267700" y="781050"/>
              <a:ext cx="533400" cy="533400"/>
            </a:xfrm>
            <a:prstGeom prst="ellipse">
              <a:avLst/>
            </a:prstGeom>
            <a:solidFill>
              <a:srgbClr val="721E0D"/>
            </a:solidFill>
            <a:ln>
              <a:noFill/>
            </a:ln>
          </p:spPr>
        </p:sp>
        <p:grpSp>
          <p:nvGrpSpPr>
            <p:cNvPr id="171" name="Group 171"/>
            <p:cNvGrpSpPr/>
            <p:nvPr/>
          </p:nvGrpSpPr>
          <p:grpSpPr>
            <a:xfrm>
              <a:off x="8412956" y="926306"/>
              <a:ext cx="242888" cy="242888"/>
              <a:chOff x="8412956" y="926306"/>
              <a:chExt cx="242888" cy="242888"/>
            </a:xfrm>
          </p:grpSpPr>
          <p:sp>
            <p:nvSpPr>
              <p:cNvPr id="165" name="Freeform 165"/>
              <p:cNvSpPr/>
              <p:nvPr/>
            </p:nvSpPr>
            <p:spPr>
              <a:xfrm>
                <a:off x="8507413" y="1034257"/>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FFFFFF"/>
                </a:solidFill>
              </a:ln>
            </p:spPr>
          </p:sp>
          <p:sp>
            <p:nvSpPr>
              <p:cNvPr id="166" name="Freeform 166"/>
              <p:cNvSpPr/>
              <p:nvPr/>
            </p:nvSpPr>
            <p:spPr>
              <a:xfrm>
                <a:off x="8480425" y="1128713"/>
                <a:ext cx="107950" cy="40481"/>
              </a:xfrm>
              <a:custGeom>
                <a:avLst/>
                <a:gdLst/>
                <a:ahLst/>
                <a:cxnLst/>
                <a:rect l="l" t="t" r="r" b="b"/>
                <a:pathLst>
                  <a:path w="107950" h="40481">
                    <a:moveTo>
                      <a:pt x="0" y="40481"/>
                    </a:moveTo>
                    <a:lnTo>
                      <a:pt x="0" y="26988"/>
                    </a:lnTo>
                    <a:cubicBezTo>
                      <a:pt x="0" y="12083"/>
                      <a:pt x="12083" y="0"/>
                      <a:pt x="26988" y="0"/>
                    </a:cubicBezTo>
                    <a:lnTo>
                      <a:pt x="80963" y="0"/>
                    </a:lnTo>
                    <a:cubicBezTo>
                      <a:pt x="95868" y="0"/>
                      <a:pt x="107950" y="12083"/>
                      <a:pt x="107950" y="26988"/>
                    </a:cubicBezTo>
                    <a:lnTo>
                      <a:pt x="107950" y="40481"/>
                    </a:lnTo>
                  </a:path>
                </a:pathLst>
              </a:custGeom>
              <a:noFill/>
              <a:ln w="26988">
                <a:solidFill>
                  <a:srgbClr val="FFFFFF"/>
                </a:solidFill>
              </a:ln>
            </p:spPr>
          </p:sp>
          <p:sp>
            <p:nvSpPr>
              <p:cNvPr id="167" name="Freeform 167"/>
              <p:cNvSpPr/>
              <p:nvPr/>
            </p:nvSpPr>
            <p:spPr>
              <a:xfrm>
                <a:off x="8574882" y="926306"/>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FFFFFF"/>
                </a:solidFill>
              </a:ln>
            </p:spPr>
          </p:sp>
          <p:sp>
            <p:nvSpPr>
              <p:cNvPr id="168" name="Freeform 168"/>
              <p:cNvSpPr/>
              <p:nvPr/>
            </p:nvSpPr>
            <p:spPr>
              <a:xfrm>
                <a:off x="8601869" y="1020763"/>
                <a:ext cx="53975" cy="40481"/>
              </a:xfrm>
              <a:custGeom>
                <a:avLst/>
                <a:gdLst/>
                <a:ahLst/>
                <a:cxnLst/>
                <a:rect l="l" t="t" r="r" b="b"/>
                <a:pathLst>
                  <a:path w="53975" h="40481">
                    <a:moveTo>
                      <a:pt x="0" y="0"/>
                    </a:moveTo>
                    <a:lnTo>
                      <a:pt x="26988" y="0"/>
                    </a:lnTo>
                    <a:cubicBezTo>
                      <a:pt x="41892" y="0"/>
                      <a:pt x="53975" y="12083"/>
                      <a:pt x="53975" y="26988"/>
                    </a:cubicBezTo>
                    <a:lnTo>
                      <a:pt x="53975" y="40481"/>
                    </a:lnTo>
                  </a:path>
                </a:pathLst>
              </a:custGeom>
              <a:noFill/>
              <a:ln w="26988">
                <a:solidFill>
                  <a:srgbClr val="FFFFFF"/>
                </a:solidFill>
              </a:ln>
            </p:spPr>
          </p:sp>
          <p:sp>
            <p:nvSpPr>
              <p:cNvPr id="169" name="Freeform 169"/>
              <p:cNvSpPr/>
              <p:nvPr/>
            </p:nvSpPr>
            <p:spPr>
              <a:xfrm>
                <a:off x="8439944" y="926306"/>
                <a:ext cx="53975" cy="53975"/>
              </a:xfrm>
              <a:custGeom>
                <a:avLst/>
                <a:gdLst/>
                <a:ahLst/>
                <a:cxnLst/>
                <a:rect l="l" t="t" r="r" b="b"/>
                <a:pathLst>
                  <a:path w="53975" h="53975">
                    <a:moveTo>
                      <a:pt x="0" y="26988"/>
                    </a:moveTo>
                    <a:cubicBezTo>
                      <a:pt x="0" y="41892"/>
                      <a:pt x="12083" y="53975"/>
                      <a:pt x="26988" y="53975"/>
                    </a:cubicBezTo>
                    <a:cubicBezTo>
                      <a:pt x="41892" y="53975"/>
                      <a:pt x="53975" y="41892"/>
                      <a:pt x="53975" y="26988"/>
                    </a:cubicBezTo>
                    <a:cubicBezTo>
                      <a:pt x="53975" y="12083"/>
                      <a:pt x="41892" y="0"/>
                      <a:pt x="26988" y="0"/>
                    </a:cubicBezTo>
                    <a:cubicBezTo>
                      <a:pt x="12083" y="0"/>
                      <a:pt x="0" y="12083"/>
                      <a:pt x="0" y="26988"/>
                    </a:cubicBezTo>
                  </a:path>
                </a:pathLst>
              </a:custGeom>
              <a:noFill/>
              <a:ln w="26988">
                <a:solidFill>
                  <a:srgbClr val="FFFFFF"/>
                </a:solidFill>
              </a:ln>
            </p:spPr>
          </p:sp>
          <p:sp>
            <p:nvSpPr>
              <p:cNvPr id="170" name="Freeform 170"/>
              <p:cNvSpPr/>
              <p:nvPr/>
            </p:nvSpPr>
            <p:spPr>
              <a:xfrm>
                <a:off x="8412956" y="1020763"/>
                <a:ext cx="53975" cy="40481"/>
              </a:xfrm>
              <a:custGeom>
                <a:avLst/>
                <a:gdLst/>
                <a:ahLst/>
                <a:cxnLst/>
                <a:rect l="l" t="t" r="r" b="b"/>
                <a:pathLst>
                  <a:path w="53975" h="40481">
                    <a:moveTo>
                      <a:pt x="0" y="40481"/>
                    </a:moveTo>
                    <a:lnTo>
                      <a:pt x="0" y="26988"/>
                    </a:lnTo>
                    <a:cubicBezTo>
                      <a:pt x="0" y="12083"/>
                      <a:pt x="12083" y="0"/>
                      <a:pt x="26988" y="0"/>
                    </a:cubicBezTo>
                    <a:lnTo>
                      <a:pt x="53975" y="0"/>
                    </a:lnTo>
                  </a:path>
                </a:pathLst>
              </a:custGeom>
              <a:noFill/>
              <a:ln w="26988">
                <a:solidFill>
                  <a:srgbClr val="FFFFFF"/>
                </a:solidFill>
              </a:ln>
            </p:spPr>
          </p:sp>
        </p:grpSp>
        <p:sp>
          <p:nvSpPr>
            <p:cNvPr id="172" name="TextBox 172"/>
            <p:cNvSpPr txBox="1"/>
            <p:nvPr/>
          </p:nvSpPr>
          <p:spPr>
            <a:xfrm>
              <a:off x="8909494" y="865108"/>
              <a:ext cx="1885721" cy="227362"/>
            </a:xfrm>
            <a:prstGeom prst="rect">
              <a:avLst/>
            </a:prstGeom>
            <a:noFill/>
            <a:ln>
              <a:noFill/>
            </a:ln>
          </p:spPr>
          <p:txBody>
            <a:bodyPr wrap="none" lIns="0" tIns="0" rIns="0" bIns="0" anchor="t" anchorCtr="0">
              <a:spAutoFit/>
            </a:bodyPr>
            <a:lstStyle/>
            <a:p>
              <a:pPr algn="l"/>
              <a:r>
                <a:rPr lang="zh-CN" sz="1160" b="1" dirty="0">
                  <a:solidFill>
                    <a:srgbClr val="721E0D"/>
                  </a:solidFill>
                  <a:latin typeface="+mn-lt"/>
                  <a:ea typeface="+mn-ea"/>
                  <a:cs typeface="+mn-cs"/>
                </a:rPr>
                <a:t>开始三：高层关系专项攻坚</a:t>
              </a:r>
            </a:p>
          </p:txBody>
        </p:sp>
        <p:sp>
          <p:nvSpPr>
            <p:cNvPr id="173" name="TextBox 173"/>
            <p:cNvSpPr txBox="1"/>
            <p:nvPr/>
          </p:nvSpPr>
          <p:spPr>
            <a:xfrm>
              <a:off x="8910638" y="1096089"/>
              <a:ext cx="1715135" cy="297656"/>
            </a:xfrm>
            <a:prstGeom prst="rect">
              <a:avLst/>
            </a:prstGeom>
            <a:noFill/>
            <a:ln>
              <a:noFill/>
            </a:ln>
          </p:spPr>
          <p:txBody>
            <a:bodyPr wrap="none" lIns="0" tIns="0" rIns="0" bIns="0" anchor="t" anchorCtr="0">
              <a:spAutoFit/>
            </a:bodyPr>
            <a:lstStyle/>
            <a:p>
              <a:pPr algn="l">
                <a:lnSpc>
                  <a:spcPts val="1125"/>
                </a:lnSpc>
              </a:pPr>
              <a:r>
                <a:rPr lang="zh-CN" sz="790" dirty="0">
                  <a:solidFill>
                    <a:srgbClr val="523E3A"/>
                  </a:solidFill>
                  <a:latin typeface="+mn-lt"/>
                  <a:ea typeface="+mn-ea"/>
                  <a:cs typeface="+mn-cs"/>
                </a:rPr>
                <a:t>聚焦核心客户高层关系突破，建立深度</a:t>
              </a:r>
              <a:br/>
              <a:r>
                <a:rPr lang="zh-CN" sz="790" dirty="0">
                  <a:solidFill>
                    <a:srgbClr val="523E3A"/>
                  </a:solidFill>
                  <a:latin typeface="+mn-lt"/>
                  <a:ea typeface="+mn-ea"/>
                  <a:cs typeface="+mn-cs"/>
                </a:rPr>
                <a:t>连接，提升战略信任与合作广度。</a:t>
              </a:r>
            </a:p>
          </p:txBody>
        </p:sp>
        <p:sp>
          <p:nvSpPr>
            <p:cNvPr id="174" name="Line 174"/>
            <p:cNvSpPr/>
            <p:nvPr/>
          </p:nvSpPr>
          <p:spPr>
            <a:xfrm>
              <a:off x="8267700" y="1485900"/>
              <a:ext cx="3581400" cy="9525"/>
            </a:xfrm>
            <a:custGeom>
              <a:avLst/>
              <a:gdLst/>
              <a:ahLst/>
              <a:cxnLst/>
              <a:rect l="l" t="t" r="r" b="b"/>
              <a:pathLst>
                <a:path w="3581400" h="9525">
                  <a:moveTo>
                    <a:pt x="0" y="0"/>
                  </a:moveTo>
                  <a:lnTo>
                    <a:pt x="3581400" y="0"/>
                  </a:lnTo>
                </a:path>
              </a:pathLst>
            </a:custGeom>
            <a:noFill/>
            <a:ln w="9525">
              <a:solidFill>
                <a:srgbClr val="E6EAF2"/>
              </a:solidFill>
            </a:ln>
          </p:spPr>
        </p:sp>
        <p:sp>
          <p:nvSpPr>
            <p:cNvPr id="175" name="TextBox 175"/>
            <p:cNvSpPr txBox="1"/>
            <p:nvPr/>
          </p:nvSpPr>
          <p:spPr>
            <a:xfrm>
              <a:off x="8281988" y="1587341"/>
              <a:ext cx="2077964" cy="161925"/>
            </a:xfrm>
            <a:prstGeom prst="rect">
              <a:avLst/>
            </a:prstGeom>
            <a:noFill/>
            <a:ln>
              <a:noFill/>
            </a:ln>
          </p:spPr>
          <p:txBody>
            <a:bodyPr wrap="none" lIns="0" tIns="0" rIns="0" bIns="0" anchor="t" anchorCtr="0">
              <a:spAutoFit/>
            </a:bodyPr>
            <a:lstStyle/>
            <a:p>
              <a:pPr algn="l"/>
              <a:r>
                <a:rPr lang="zh-CN" sz="820" b="1" dirty="0">
                  <a:solidFill>
                    <a:srgbClr val="721E0D"/>
                  </a:solidFill>
                  <a:latin typeface="+mn-lt"/>
                  <a:ea typeface="+mn-ea"/>
                  <a:cs typeface="+mn-cs"/>
                </a:rPr>
                <a:t xml:space="preserve">高层关系攻坚清单（TOP10客户）      </a:t>
              </a:r>
            </a:p>
          </p:txBody>
        </p:sp>
        <p:sp>
          <p:nvSpPr>
            <p:cNvPr id="176" name="Rectangle 176"/>
            <p:cNvSpPr/>
            <p:nvPr/>
          </p:nvSpPr>
          <p:spPr>
            <a:xfrm>
              <a:off x="8286750" y="1771650"/>
              <a:ext cx="3562350" cy="247650"/>
            </a:xfrm>
            <a:prstGeom prst="rect">
              <a:avLst/>
            </a:prstGeom>
            <a:solidFill>
              <a:srgbClr val="721E0D"/>
            </a:solidFill>
            <a:ln>
              <a:noFill/>
            </a:ln>
          </p:spPr>
        </p:sp>
        <p:sp>
          <p:nvSpPr>
            <p:cNvPr id="177" name="TextBox 177"/>
            <p:cNvSpPr txBox="1"/>
            <p:nvPr/>
          </p:nvSpPr>
          <p:spPr>
            <a:xfrm>
              <a:off x="8443481" y="1864757"/>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客户</a:t>
              </a:r>
            </a:p>
          </p:txBody>
        </p:sp>
        <p:sp>
          <p:nvSpPr>
            <p:cNvPr id="178" name="TextBox 178"/>
            <p:cNvSpPr txBox="1"/>
            <p:nvPr/>
          </p:nvSpPr>
          <p:spPr>
            <a:xfrm>
              <a:off x="8770074" y="1825228"/>
              <a:ext cx="671652" cy="197644"/>
            </a:xfrm>
            <a:prstGeom prst="rect">
              <a:avLst/>
            </a:prstGeom>
            <a:noFill/>
            <a:ln>
              <a:noFill/>
            </a:ln>
          </p:spPr>
          <p:txBody>
            <a:bodyPr wrap="none" lIns="0" tIns="0" rIns="0" bIns="0" anchor="t" anchorCtr="0">
              <a:spAutoFit/>
            </a:bodyPr>
            <a:lstStyle/>
            <a:p>
              <a:pPr algn="ctr">
                <a:lnSpc>
                  <a:spcPts val="675"/>
                </a:lnSpc>
              </a:pPr>
              <a:r>
                <a:rPr lang="zh-CN" sz="560" b="1" dirty="0">
                  <a:solidFill>
                    <a:srgbClr val="FFFFFF"/>
                  </a:solidFill>
                  <a:latin typeface="+mn-lt"/>
                  <a:ea typeface="+mn-ea"/>
                  <a:cs typeface="+mn-cs"/>
                </a:rPr>
                <a:t>目标高层</a:t>
              </a:r>
              <a:br/>
              <a:r>
                <a:rPr lang="zh-CN" sz="560" b="1" dirty="0">
                  <a:solidFill>
                    <a:srgbClr val="FFFFFF"/>
                  </a:solidFill>
                  <a:latin typeface="+mn-lt"/>
                  <a:ea typeface="+mn-ea"/>
                  <a:cs typeface="+mn-cs"/>
                </a:rPr>
                <a:t xml:space="preserve">  （副总级以上）  </a:t>
              </a:r>
            </a:p>
          </p:txBody>
        </p:sp>
        <p:sp>
          <p:nvSpPr>
            <p:cNvPr id="179" name="TextBox 179"/>
            <p:cNvSpPr txBox="1"/>
            <p:nvPr/>
          </p:nvSpPr>
          <p:spPr>
            <a:xfrm>
              <a:off x="9576524" y="18647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关系现状</a:t>
              </a:r>
            </a:p>
          </p:txBody>
        </p:sp>
        <p:sp>
          <p:nvSpPr>
            <p:cNvPr id="180" name="TextBox 180"/>
            <p:cNvSpPr txBox="1"/>
            <p:nvPr/>
          </p:nvSpPr>
          <p:spPr>
            <a:xfrm>
              <a:off x="10471874" y="18647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关键动作</a:t>
              </a:r>
            </a:p>
          </p:txBody>
        </p:sp>
        <p:sp>
          <p:nvSpPr>
            <p:cNvPr id="181" name="TextBox 181"/>
            <p:cNvSpPr txBox="1"/>
            <p:nvPr/>
          </p:nvSpPr>
          <p:spPr>
            <a:xfrm>
              <a:off x="11242967" y="1864757"/>
              <a:ext cx="526466"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目标达成时间</a:t>
              </a:r>
            </a:p>
          </p:txBody>
        </p:sp>
        <p:sp>
          <p:nvSpPr>
            <p:cNvPr id="182" name="TextBox 182"/>
            <p:cNvSpPr txBox="1"/>
            <p:nvPr/>
          </p:nvSpPr>
          <p:spPr>
            <a:xfrm>
              <a:off x="8138360" y="2146459"/>
              <a:ext cx="792080" cy="133350"/>
            </a:xfrm>
            <a:prstGeom prst="rect">
              <a:avLst/>
            </a:prstGeom>
            <a:noFill/>
            <a:ln>
              <a:noFill/>
            </a:ln>
          </p:spPr>
          <p:txBody>
            <a:bodyPr wrap="none" lIns="0" tIns="0" rIns="0" bIns="0" anchor="t" anchorCtr="0">
              <a:spAutoFit/>
            </a:bodyPr>
            <a:lstStyle/>
            <a:p>
              <a:pPr algn="ctr"/>
              <a:r>
                <a:rPr lang="zh-CN" sz="680" b="1" dirty="0">
                  <a:solidFill>
                    <a:srgbClr val="461910"/>
                  </a:solidFill>
                  <a:latin typeface="+mn-lt"/>
                  <a:ea typeface="+mn-ea"/>
                  <a:cs typeface="+mn-cs"/>
                </a:rPr>
                <a:t xml:space="preserve">     客户A     </a:t>
              </a:r>
            </a:p>
          </p:txBody>
        </p:sp>
        <p:sp>
          <p:nvSpPr>
            <p:cNvPr id="183" name="TextBox 183"/>
            <p:cNvSpPr txBox="1"/>
            <p:nvPr/>
          </p:nvSpPr>
          <p:spPr>
            <a:xfrm>
              <a:off x="8879149" y="2146459"/>
              <a:ext cx="45350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3人   </a:t>
              </a:r>
            </a:p>
          </p:txBody>
        </p:sp>
        <p:sp>
          <p:nvSpPr>
            <p:cNvPr id="184" name="TextBox 184"/>
            <p:cNvSpPr txBox="1"/>
            <p:nvPr/>
          </p:nvSpPr>
          <p:spPr>
            <a:xfrm>
              <a:off x="9519984" y="2146459"/>
              <a:ext cx="467233" cy="133350"/>
            </a:xfrm>
            <a:prstGeom prst="rect">
              <a:avLst/>
            </a:prstGeom>
            <a:noFill/>
            <a:ln>
              <a:noFill/>
            </a:ln>
          </p:spPr>
          <p:txBody>
            <a:bodyPr wrap="none" lIns="0" tIns="0" rIns="0" bIns="0" anchor="t" anchorCtr="0">
              <a:spAutoFit/>
            </a:bodyPr>
            <a:lstStyle/>
            <a:p>
              <a:pPr algn="ctr"/>
              <a:r>
                <a:rPr lang="zh-CN" sz="680" dirty="0">
                  <a:solidFill>
                    <a:srgbClr val="E92300"/>
                  </a:solidFill>
                  <a:latin typeface="+mn-lt"/>
                  <a:ea typeface="+mn-ea"/>
                  <a:cs typeface="+mn-cs"/>
                </a:rPr>
                <a:t>★★★☆☆</a:t>
              </a:r>
            </a:p>
          </p:txBody>
        </p:sp>
        <p:sp>
          <p:nvSpPr>
            <p:cNvPr id="185" name="TextBox 185"/>
            <p:cNvSpPr txBox="1"/>
            <p:nvPr/>
          </p:nvSpPr>
          <p:spPr>
            <a:xfrm>
              <a:off x="10101804" y="2146459"/>
              <a:ext cx="1094293"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高层拜访+价值共创   </a:t>
              </a:r>
            </a:p>
          </p:txBody>
        </p:sp>
        <p:sp>
          <p:nvSpPr>
            <p:cNvPr id="186" name="TextBox 186"/>
            <p:cNvSpPr txBox="1"/>
            <p:nvPr/>
          </p:nvSpPr>
          <p:spPr>
            <a:xfrm>
              <a:off x="11224524" y="2146459"/>
              <a:ext cx="56335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2025/09  </a:t>
              </a:r>
            </a:p>
          </p:txBody>
        </p:sp>
        <p:sp>
          <p:nvSpPr>
            <p:cNvPr id="187" name="Line 187"/>
            <p:cNvSpPr/>
            <p:nvPr/>
          </p:nvSpPr>
          <p:spPr>
            <a:xfrm>
              <a:off x="8286750" y="234315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188" name="Rectangle 188"/>
            <p:cNvSpPr/>
            <p:nvPr/>
          </p:nvSpPr>
          <p:spPr>
            <a:xfrm>
              <a:off x="8286750" y="2343150"/>
              <a:ext cx="3562350" cy="323850"/>
            </a:xfrm>
            <a:prstGeom prst="rect">
              <a:avLst/>
            </a:prstGeom>
            <a:solidFill>
              <a:srgbClr val="F5F8FD"/>
            </a:solidFill>
            <a:ln>
              <a:noFill/>
            </a:ln>
          </p:spPr>
        </p:sp>
        <p:sp>
          <p:nvSpPr>
            <p:cNvPr id="189" name="TextBox 189"/>
            <p:cNvSpPr txBox="1"/>
            <p:nvPr/>
          </p:nvSpPr>
          <p:spPr>
            <a:xfrm>
              <a:off x="8138360" y="2470309"/>
              <a:ext cx="792080" cy="133350"/>
            </a:xfrm>
            <a:prstGeom prst="rect">
              <a:avLst/>
            </a:prstGeom>
            <a:noFill/>
            <a:ln>
              <a:noFill/>
            </a:ln>
          </p:spPr>
          <p:txBody>
            <a:bodyPr wrap="none" lIns="0" tIns="0" rIns="0" bIns="0" anchor="t" anchorCtr="0">
              <a:spAutoFit/>
            </a:bodyPr>
            <a:lstStyle/>
            <a:p>
              <a:pPr algn="ctr"/>
              <a:r>
                <a:rPr lang="zh-CN" sz="680" b="1" dirty="0">
                  <a:solidFill>
                    <a:srgbClr val="461910"/>
                  </a:solidFill>
                  <a:latin typeface="+mn-lt"/>
                  <a:ea typeface="+mn-ea"/>
                  <a:cs typeface="+mn-cs"/>
                </a:rPr>
                <a:t xml:space="preserve">     客户B     </a:t>
              </a:r>
            </a:p>
          </p:txBody>
        </p:sp>
        <p:sp>
          <p:nvSpPr>
            <p:cNvPr id="190" name="TextBox 190"/>
            <p:cNvSpPr txBox="1"/>
            <p:nvPr/>
          </p:nvSpPr>
          <p:spPr>
            <a:xfrm>
              <a:off x="8879149" y="2470309"/>
              <a:ext cx="45350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2人   </a:t>
              </a:r>
            </a:p>
          </p:txBody>
        </p:sp>
        <p:sp>
          <p:nvSpPr>
            <p:cNvPr id="191" name="TextBox 191"/>
            <p:cNvSpPr txBox="1"/>
            <p:nvPr/>
          </p:nvSpPr>
          <p:spPr>
            <a:xfrm>
              <a:off x="9519984" y="2470309"/>
              <a:ext cx="467233" cy="133350"/>
            </a:xfrm>
            <a:prstGeom prst="rect">
              <a:avLst/>
            </a:prstGeom>
            <a:noFill/>
            <a:ln>
              <a:noFill/>
            </a:ln>
          </p:spPr>
          <p:txBody>
            <a:bodyPr wrap="none" lIns="0" tIns="0" rIns="0" bIns="0" anchor="t" anchorCtr="0">
              <a:spAutoFit/>
            </a:bodyPr>
            <a:lstStyle/>
            <a:p>
              <a:pPr algn="ctr"/>
              <a:r>
                <a:rPr lang="zh-CN" sz="680" dirty="0">
                  <a:solidFill>
                    <a:srgbClr val="E92300"/>
                  </a:solidFill>
                  <a:latin typeface="+mn-lt"/>
                  <a:ea typeface="+mn-ea"/>
                  <a:cs typeface="+mn-cs"/>
                </a:rPr>
                <a:t>★★☆☆☆</a:t>
              </a:r>
            </a:p>
          </p:txBody>
        </p:sp>
        <p:sp>
          <p:nvSpPr>
            <p:cNvPr id="192" name="TextBox 192"/>
            <p:cNvSpPr txBox="1"/>
            <p:nvPr/>
          </p:nvSpPr>
          <p:spPr>
            <a:xfrm>
              <a:off x="10056033" y="2470309"/>
              <a:ext cx="1185835"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高层闭门会+方案共创   </a:t>
              </a:r>
            </a:p>
          </p:txBody>
        </p:sp>
        <p:sp>
          <p:nvSpPr>
            <p:cNvPr id="193" name="TextBox 193"/>
            <p:cNvSpPr txBox="1"/>
            <p:nvPr/>
          </p:nvSpPr>
          <p:spPr>
            <a:xfrm>
              <a:off x="11224524" y="2470309"/>
              <a:ext cx="56335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2025/08  </a:t>
              </a:r>
            </a:p>
          </p:txBody>
        </p:sp>
        <p:sp>
          <p:nvSpPr>
            <p:cNvPr id="194" name="Line 194"/>
            <p:cNvSpPr/>
            <p:nvPr/>
          </p:nvSpPr>
          <p:spPr>
            <a:xfrm>
              <a:off x="8286750" y="266700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195" name="TextBox 195"/>
            <p:cNvSpPr txBox="1"/>
            <p:nvPr/>
          </p:nvSpPr>
          <p:spPr>
            <a:xfrm>
              <a:off x="8138360" y="2794159"/>
              <a:ext cx="792080" cy="133350"/>
            </a:xfrm>
            <a:prstGeom prst="rect">
              <a:avLst/>
            </a:prstGeom>
            <a:noFill/>
            <a:ln>
              <a:noFill/>
            </a:ln>
          </p:spPr>
          <p:txBody>
            <a:bodyPr wrap="none" lIns="0" tIns="0" rIns="0" bIns="0" anchor="t" anchorCtr="0">
              <a:spAutoFit/>
            </a:bodyPr>
            <a:lstStyle/>
            <a:p>
              <a:pPr algn="ctr"/>
              <a:r>
                <a:rPr lang="zh-CN" sz="680" b="1" dirty="0">
                  <a:solidFill>
                    <a:srgbClr val="461910"/>
                  </a:solidFill>
                  <a:latin typeface="+mn-lt"/>
                  <a:ea typeface="+mn-ea"/>
                  <a:cs typeface="+mn-cs"/>
                </a:rPr>
                <a:t xml:space="preserve">     客户C     </a:t>
              </a:r>
            </a:p>
          </p:txBody>
        </p:sp>
        <p:sp>
          <p:nvSpPr>
            <p:cNvPr id="196" name="TextBox 196"/>
            <p:cNvSpPr txBox="1"/>
            <p:nvPr/>
          </p:nvSpPr>
          <p:spPr>
            <a:xfrm>
              <a:off x="8879149" y="2794159"/>
              <a:ext cx="45350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4人   </a:t>
              </a:r>
            </a:p>
          </p:txBody>
        </p:sp>
        <p:sp>
          <p:nvSpPr>
            <p:cNvPr id="197" name="TextBox 197"/>
            <p:cNvSpPr txBox="1"/>
            <p:nvPr/>
          </p:nvSpPr>
          <p:spPr>
            <a:xfrm>
              <a:off x="9519984" y="2794159"/>
              <a:ext cx="467233" cy="133350"/>
            </a:xfrm>
            <a:prstGeom prst="rect">
              <a:avLst/>
            </a:prstGeom>
            <a:noFill/>
            <a:ln>
              <a:noFill/>
            </a:ln>
          </p:spPr>
          <p:txBody>
            <a:bodyPr wrap="none" lIns="0" tIns="0" rIns="0" bIns="0" anchor="t" anchorCtr="0">
              <a:spAutoFit/>
            </a:bodyPr>
            <a:lstStyle/>
            <a:p>
              <a:pPr algn="ctr"/>
              <a:r>
                <a:rPr lang="zh-CN" sz="680" dirty="0">
                  <a:solidFill>
                    <a:srgbClr val="E92300"/>
                  </a:solidFill>
                  <a:latin typeface="+mn-lt"/>
                  <a:ea typeface="+mn-ea"/>
                  <a:cs typeface="+mn-cs"/>
                </a:rPr>
                <a:t>★★★☆☆</a:t>
              </a:r>
            </a:p>
          </p:txBody>
        </p:sp>
        <p:sp>
          <p:nvSpPr>
            <p:cNvPr id="198" name="TextBox 198"/>
            <p:cNvSpPr txBox="1"/>
            <p:nvPr/>
          </p:nvSpPr>
          <p:spPr>
            <a:xfrm>
              <a:off x="10056033" y="2794159"/>
              <a:ext cx="1185835"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行业研讨会+高层互动   </a:t>
              </a:r>
            </a:p>
          </p:txBody>
        </p:sp>
        <p:sp>
          <p:nvSpPr>
            <p:cNvPr id="199" name="TextBox 199"/>
            <p:cNvSpPr txBox="1"/>
            <p:nvPr/>
          </p:nvSpPr>
          <p:spPr>
            <a:xfrm>
              <a:off x="11224524" y="2794159"/>
              <a:ext cx="56335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2025/10  </a:t>
              </a:r>
            </a:p>
          </p:txBody>
        </p:sp>
        <p:sp>
          <p:nvSpPr>
            <p:cNvPr id="200" name="Line 200"/>
            <p:cNvSpPr/>
            <p:nvPr/>
          </p:nvSpPr>
          <p:spPr>
            <a:xfrm>
              <a:off x="8286750" y="299085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201" name="Rectangle 201"/>
            <p:cNvSpPr/>
            <p:nvPr/>
          </p:nvSpPr>
          <p:spPr>
            <a:xfrm>
              <a:off x="8286750" y="2990850"/>
              <a:ext cx="3562350" cy="323850"/>
            </a:xfrm>
            <a:prstGeom prst="rect">
              <a:avLst/>
            </a:prstGeom>
            <a:solidFill>
              <a:srgbClr val="F5F8FD"/>
            </a:solidFill>
            <a:ln>
              <a:noFill/>
            </a:ln>
          </p:spPr>
        </p:sp>
        <p:sp>
          <p:nvSpPr>
            <p:cNvPr id="202" name="TextBox 202"/>
            <p:cNvSpPr txBox="1"/>
            <p:nvPr/>
          </p:nvSpPr>
          <p:spPr>
            <a:xfrm>
              <a:off x="8138360" y="3118009"/>
              <a:ext cx="792080" cy="133350"/>
            </a:xfrm>
            <a:prstGeom prst="rect">
              <a:avLst/>
            </a:prstGeom>
            <a:noFill/>
            <a:ln>
              <a:noFill/>
            </a:ln>
          </p:spPr>
          <p:txBody>
            <a:bodyPr wrap="none" lIns="0" tIns="0" rIns="0" bIns="0" anchor="t" anchorCtr="0">
              <a:spAutoFit/>
            </a:bodyPr>
            <a:lstStyle/>
            <a:p>
              <a:pPr algn="ctr"/>
              <a:r>
                <a:rPr lang="zh-CN" sz="680" b="1" dirty="0">
                  <a:solidFill>
                    <a:srgbClr val="461910"/>
                  </a:solidFill>
                  <a:latin typeface="+mn-lt"/>
                  <a:ea typeface="+mn-ea"/>
                  <a:cs typeface="+mn-cs"/>
                </a:rPr>
                <a:t xml:space="preserve">     客户D     </a:t>
              </a:r>
            </a:p>
          </p:txBody>
        </p:sp>
        <p:sp>
          <p:nvSpPr>
            <p:cNvPr id="203" name="TextBox 203"/>
            <p:cNvSpPr txBox="1"/>
            <p:nvPr/>
          </p:nvSpPr>
          <p:spPr>
            <a:xfrm>
              <a:off x="8879149" y="3118009"/>
              <a:ext cx="45350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2人   </a:t>
              </a:r>
            </a:p>
          </p:txBody>
        </p:sp>
        <p:sp>
          <p:nvSpPr>
            <p:cNvPr id="204" name="TextBox 204"/>
            <p:cNvSpPr txBox="1"/>
            <p:nvPr/>
          </p:nvSpPr>
          <p:spPr>
            <a:xfrm>
              <a:off x="9519984" y="3118009"/>
              <a:ext cx="467233" cy="133350"/>
            </a:xfrm>
            <a:prstGeom prst="rect">
              <a:avLst/>
            </a:prstGeom>
            <a:noFill/>
            <a:ln>
              <a:noFill/>
            </a:ln>
          </p:spPr>
          <p:txBody>
            <a:bodyPr wrap="none" lIns="0" tIns="0" rIns="0" bIns="0" anchor="t" anchorCtr="0">
              <a:spAutoFit/>
            </a:bodyPr>
            <a:lstStyle/>
            <a:p>
              <a:pPr algn="ctr"/>
              <a:r>
                <a:rPr lang="zh-CN" sz="680" dirty="0">
                  <a:solidFill>
                    <a:srgbClr val="E92300"/>
                  </a:solidFill>
                  <a:latin typeface="+mn-lt"/>
                  <a:ea typeface="+mn-ea"/>
                  <a:cs typeface="+mn-cs"/>
                </a:rPr>
                <a:t>★★☆☆☆</a:t>
              </a:r>
            </a:p>
          </p:txBody>
        </p:sp>
        <p:sp>
          <p:nvSpPr>
            <p:cNvPr id="205" name="TextBox 205"/>
            <p:cNvSpPr txBox="1"/>
            <p:nvPr/>
          </p:nvSpPr>
          <p:spPr>
            <a:xfrm>
              <a:off x="10101804" y="3118009"/>
              <a:ext cx="1094293"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高层拜访+联合攻关   </a:t>
              </a:r>
            </a:p>
          </p:txBody>
        </p:sp>
        <p:sp>
          <p:nvSpPr>
            <p:cNvPr id="206" name="TextBox 206"/>
            <p:cNvSpPr txBox="1"/>
            <p:nvPr/>
          </p:nvSpPr>
          <p:spPr>
            <a:xfrm>
              <a:off x="11224524" y="3118009"/>
              <a:ext cx="56335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2025/09  </a:t>
              </a:r>
            </a:p>
          </p:txBody>
        </p:sp>
        <p:sp>
          <p:nvSpPr>
            <p:cNvPr id="207" name="Line 207"/>
            <p:cNvSpPr/>
            <p:nvPr/>
          </p:nvSpPr>
          <p:spPr>
            <a:xfrm>
              <a:off x="8286750" y="331470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208" name="TextBox 208"/>
            <p:cNvSpPr txBox="1"/>
            <p:nvPr/>
          </p:nvSpPr>
          <p:spPr>
            <a:xfrm>
              <a:off x="8138360" y="3441859"/>
              <a:ext cx="792080" cy="133350"/>
            </a:xfrm>
            <a:prstGeom prst="rect">
              <a:avLst/>
            </a:prstGeom>
            <a:noFill/>
            <a:ln>
              <a:noFill/>
            </a:ln>
          </p:spPr>
          <p:txBody>
            <a:bodyPr wrap="none" lIns="0" tIns="0" rIns="0" bIns="0" anchor="t" anchorCtr="0">
              <a:spAutoFit/>
            </a:bodyPr>
            <a:lstStyle/>
            <a:p>
              <a:pPr algn="ctr"/>
              <a:r>
                <a:rPr lang="zh-CN" sz="680" b="1" dirty="0">
                  <a:solidFill>
                    <a:srgbClr val="461910"/>
                  </a:solidFill>
                  <a:latin typeface="+mn-lt"/>
                  <a:ea typeface="+mn-ea"/>
                  <a:cs typeface="+mn-cs"/>
                </a:rPr>
                <a:t xml:space="preserve">     客户E     </a:t>
              </a:r>
            </a:p>
          </p:txBody>
        </p:sp>
        <p:sp>
          <p:nvSpPr>
            <p:cNvPr id="209" name="TextBox 209"/>
            <p:cNvSpPr txBox="1"/>
            <p:nvPr/>
          </p:nvSpPr>
          <p:spPr>
            <a:xfrm>
              <a:off x="8879149" y="3441859"/>
              <a:ext cx="45350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3人   </a:t>
              </a:r>
            </a:p>
          </p:txBody>
        </p:sp>
        <p:sp>
          <p:nvSpPr>
            <p:cNvPr id="210" name="TextBox 210"/>
            <p:cNvSpPr txBox="1"/>
            <p:nvPr/>
          </p:nvSpPr>
          <p:spPr>
            <a:xfrm>
              <a:off x="9519984" y="3441859"/>
              <a:ext cx="467233" cy="133350"/>
            </a:xfrm>
            <a:prstGeom prst="rect">
              <a:avLst/>
            </a:prstGeom>
            <a:noFill/>
            <a:ln>
              <a:noFill/>
            </a:ln>
          </p:spPr>
          <p:txBody>
            <a:bodyPr wrap="none" lIns="0" tIns="0" rIns="0" bIns="0" anchor="t" anchorCtr="0">
              <a:spAutoFit/>
            </a:bodyPr>
            <a:lstStyle/>
            <a:p>
              <a:pPr algn="ctr"/>
              <a:r>
                <a:rPr lang="zh-CN" sz="680" dirty="0">
                  <a:solidFill>
                    <a:srgbClr val="E92300"/>
                  </a:solidFill>
                  <a:latin typeface="+mn-lt"/>
                  <a:ea typeface="+mn-ea"/>
                  <a:cs typeface="+mn-cs"/>
                </a:rPr>
                <a:t>★★★★☆</a:t>
              </a:r>
            </a:p>
          </p:txBody>
        </p:sp>
        <p:sp>
          <p:nvSpPr>
            <p:cNvPr id="211" name="TextBox 211"/>
            <p:cNvSpPr txBox="1"/>
            <p:nvPr/>
          </p:nvSpPr>
          <p:spPr>
            <a:xfrm>
              <a:off x="10369563" y="3441859"/>
              <a:ext cx="558775"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高层战略对话</a:t>
              </a:r>
            </a:p>
          </p:txBody>
        </p:sp>
        <p:sp>
          <p:nvSpPr>
            <p:cNvPr id="212" name="TextBox 212"/>
            <p:cNvSpPr txBox="1"/>
            <p:nvPr/>
          </p:nvSpPr>
          <p:spPr>
            <a:xfrm>
              <a:off x="11224524" y="3441859"/>
              <a:ext cx="563352"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2025/08  </a:t>
              </a:r>
            </a:p>
          </p:txBody>
        </p:sp>
        <p:sp>
          <p:nvSpPr>
            <p:cNvPr id="213" name="Line 213"/>
            <p:cNvSpPr/>
            <p:nvPr/>
          </p:nvSpPr>
          <p:spPr>
            <a:xfrm>
              <a:off x="8286750" y="363855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214" name="Rectangle 214"/>
            <p:cNvSpPr/>
            <p:nvPr/>
          </p:nvSpPr>
          <p:spPr>
            <a:xfrm>
              <a:off x="8286750" y="3638550"/>
              <a:ext cx="3562350" cy="323850"/>
            </a:xfrm>
            <a:prstGeom prst="rect">
              <a:avLst/>
            </a:prstGeom>
            <a:solidFill>
              <a:srgbClr val="F5F8FD"/>
            </a:solidFill>
            <a:ln>
              <a:noFill/>
            </a:ln>
          </p:spPr>
        </p:sp>
        <p:sp>
          <p:nvSpPr>
            <p:cNvPr id="215" name="TextBox 215"/>
            <p:cNvSpPr txBox="1"/>
            <p:nvPr/>
          </p:nvSpPr>
          <p:spPr>
            <a:xfrm>
              <a:off x="8214391" y="3765709"/>
              <a:ext cx="640018" cy="133350"/>
            </a:xfrm>
            <a:prstGeom prst="rect">
              <a:avLst/>
            </a:prstGeom>
            <a:noFill/>
            <a:ln>
              <a:noFill/>
            </a:ln>
          </p:spPr>
          <p:txBody>
            <a:bodyPr wrap="none" lIns="0" tIns="0" rIns="0" bIns="0" anchor="t" anchorCtr="0">
              <a:spAutoFit/>
            </a:bodyPr>
            <a:lstStyle/>
            <a:p>
              <a:pPr algn="ctr"/>
              <a:r>
                <a:rPr lang="zh-CN" sz="680" b="1" dirty="0">
                  <a:solidFill>
                    <a:srgbClr val="461910"/>
                  </a:solidFill>
                  <a:latin typeface="+mn-lt"/>
                  <a:ea typeface="+mn-ea"/>
                  <a:cs typeface="+mn-cs"/>
                </a:rPr>
                <a:t xml:space="preserve">  合计/备注  </a:t>
              </a:r>
            </a:p>
          </p:txBody>
        </p:sp>
        <p:sp>
          <p:nvSpPr>
            <p:cNvPr id="216" name="TextBox 216"/>
            <p:cNvSpPr txBox="1"/>
            <p:nvPr/>
          </p:nvSpPr>
          <p:spPr>
            <a:xfrm>
              <a:off x="9075964" y="3765709"/>
              <a:ext cx="59873"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a:t>
              </a:r>
            </a:p>
          </p:txBody>
        </p:sp>
        <p:sp>
          <p:nvSpPr>
            <p:cNvPr id="217" name="TextBox 217"/>
            <p:cNvSpPr txBox="1"/>
            <p:nvPr/>
          </p:nvSpPr>
          <p:spPr>
            <a:xfrm>
              <a:off x="9369862" y="3761661"/>
              <a:ext cx="767476" cy="140494"/>
            </a:xfrm>
            <a:prstGeom prst="rect">
              <a:avLst/>
            </a:prstGeom>
            <a:noFill/>
            <a:ln>
              <a:noFill/>
            </a:ln>
          </p:spPr>
          <p:txBody>
            <a:bodyPr wrap="none" lIns="0" tIns="0" rIns="0" bIns="0" anchor="t" anchorCtr="0">
              <a:spAutoFit/>
            </a:bodyPr>
            <a:lstStyle/>
            <a:p>
              <a:pPr algn="ctr"/>
              <a:r>
                <a:rPr lang="zh-CN" sz="710" b="1" dirty="0">
                  <a:solidFill>
                    <a:srgbClr val="C03616"/>
                  </a:solidFill>
                  <a:latin typeface="+mn-lt"/>
                  <a:ea typeface="+mn-ea"/>
                  <a:cs typeface="+mn-cs"/>
                </a:rPr>
                <a:t xml:space="preserve">     14人     </a:t>
              </a:r>
            </a:p>
          </p:txBody>
        </p:sp>
        <p:sp>
          <p:nvSpPr>
            <p:cNvPr id="218" name="TextBox 218"/>
            <p:cNvSpPr txBox="1"/>
            <p:nvPr/>
          </p:nvSpPr>
          <p:spPr>
            <a:xfrm>
              <a:off x="10619014" y="3765709"/>
              <a:ext cx="59873"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a:t>
              </a:r>
            </a:p>
          </p:txBody>
        </p:sp>
        <p:sp>
          <p:nvSpPr>
            <p:cNvPr id="219" name="TextBox 219"/>
            <p:cNvSpPr txBox="1"/>
            <p:nvPr/>
          </p:nvSpPr>
          <p:spPr>
            <a:xfrm>
              <a:off x="11476264" y="3765709"/>
              <a:ext cx="59873"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a:t>
              </a:r>
            </a:p>
          </p:txBody>
        </p:sp>
        <p:sp>
          <p:nvSpPr>
            <p:cNvPr id="220" name="Line 220"/>
            <p:cNvSpPr/>
            <p:nvPr/>
          </p:nvSpPr>
          <p:spPr>
            <a:xfrm>
              <a:off x="8286750" y="3962400"/>
              <a:ext cx="3562350" cy="9525"/>
            </a:xfrm>
            <a:custGeom>
              <a:avLst/>
              <a:gdLst/>
              <a:ahLst/>
              <a:cxnLst/>
              <a:rect l="l" t="t" r="r" b="b"/>
              <a:pathLst>
                <a:path w="3562350" h="9525">
                  <a:moveTo>
                    <a:pt x="0" y="0"/>
                  </a:moveTo>
                  <a:lnTo>
                    <a:pt x="3562350" y="0"/>
                  </a:lnTo>
                </a:path>
              </a:pathLst>
            </a:custGeom>
            <a:noFill/>
            <a:ln w="9525">
              <a:solidFill>
                <a:srgbClr val="E6EAF2"/>
              </a:solidFill>
            </a:ln>
          </p:spPr>
        </p:sp>
        <p:sp>
          <p:nvSpPr>
            <p:cNvPr id="221" name="Rectangle 221"/>
            <p:cNvSpPr/>
            <p:nvPr/>
          </p:nvSpPr>
          <p:spPr>
            <a:xfrm>
              <a:off x="8267700" y="4648200"/>
              <a:ext cx="3581400" cy="495300"/>
            </a:xfrm>
            <a:prstGeom prst="roundRect">
              <a:avLst>
                <a:gd name="adj" fmla="val 15385"/>
              </a:avLst>
            </a:prstGeom>
            <a:solidFill>
              <a:srgbClr val="EAF1FB"/>
            </a:solidFill>
            <a:ln>
              <a:noFill/>
            </a:ln>
          </p:spPr>
        </p:sp>
        <p:grpSp>
          <p:nvGrpSpPr>
            <p:cNvPr id="228" name="Group 228"/>
            <p:cNvGrpSpPr/>
            <p:nvPr/>
          </p:nvGrpSpPr>
          <p:grpSpPr>
            <a:xfrm>
              <a:off x="8415338" y="4795838"/>
              <a:ext cx="200025" cy="200026"/>
              <a:chOff x="8415338" y="4795838"/>
              <a:chExt cx="200025" cy="200026"/>
            </a:xfrm>
          </p:grpSpPr>
          <p:sp>
            <p:nvSpPr>
              <p:cNvPr id="222" name="Freeform 222"/>
              <p:cNvSpPr/>
              <p:nvPr/>
            </p:nvSpPr>
            <p:spPr>
              <a:xfrm>
                <a:off x="8493125" y="48847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721E0D"/>
                </a:solidFill>
              </a:ln>
            </p:spPr>
          </p:sp>
          <p:sp>
            <p:nvSpPr>
              <p:cNvPr id="223" name="Freeform 223"/>
              <p:cNvSpPr/>
              <p:nvPr/>
            </p:nvSpPr>
            <p:spPr>
              <a:xfrm>
                <a:off x="8470900" y="496252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721E0D"/>
                </a:solidFill>
              </a:ln>
            </p:spPr>
          </p:sp>
          <p:sp>
            <p:nvSpPr>
              <p:cNvPr id="224" name="Freeform 224"/>
              <p:cNvSpPr/>
              <p:nvPr/>
            </p:nvSpPr>
            <p:spPr>
              <a:xfrm>
                <a:off x="8548688" y="47958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721E0D"/>
                </a:solidFill>
              </a:ln>
            </p:spPr>
          </p:sp>
          <p:sp>
            <p:nvSpPr>
              <p:cNvPr id="225" name="Freeform 225"/>
              <p:cNvSpPr/>
              <p:nvPr/>
            </p:nvSpPr>
            <p:spPr>
              <a:xfrm>
                <a:off x="8570913" y="487362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721E0D"/>
                </a:solidFill>
              </a:ln>
            </p:spPr>
          </p:sp>
          <p:sp>
            <p:nvSpPr>
              <p:cNvPr id="226" name="Freeform 226"/>
              <p:cNvSpPr/>
              <p:nvPr/>
            </p:nvSpPr>
            <p:spPr>
              <a:xfrm>
                <a:off x="8437563" y="479583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721E0D"/>
                </a:solidFill>
              </a:ln>
            </p:spPr>
          </p:sp>
          <p:sp>
            <p:nvSpPr>
              <p:cNvPr id="227" name="Freeform 227"/>
              <p:cNvSpPr/>
              <p:nvPr/>
            </p:nvSpPr>
            <p:spPr>
              <a:xfrm>
                <a:off x="8415338" y="487362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721E0D"/>
                </a:solidFill>
              </a:ln>
            </p:spPr>
          </p:sp>
        </p:grpSp>
        <p:sp>
          <p:nvSpPr>
            <p:cNvPr id="229" name="TextBox 229"/>
            <p:cNvSpPr txBox="1"/>
            <p:nvPr/>
          </p:nvSpPr>
          <p:spPr>
            <a:xfrm>
              <a:off x="8757285" y="4850606"/>
              <a:ext cx="3138164"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TOP10客户</a:t>
              </a:r>
              <a:r>
                <a:rPr lang="zh-CN" sz="1120" b="1" dirty="0">
                  <a:solidFill>
                    <a:srgbClr val="C03616"/>
                  </a:solidFill>
                  <a:latin typeface="+mn-lt"/>
                  <a:ea typeface="+mn-ea"/>
                  <a:cs typeface="+mn-cs"/>
                </a:rPr>
                <a:t>副总级以上高层领导</a:t>
              </a:r>
              <a:r>
                <a:rPr lang="zh-CN" sz="1120" b="1" dirty="0">
                  <a:solidFill>
                    <a:srgbClr val="721E0D"/>
                  </a:solidFill>
                  <a:latin typeface="+mn-lt"/>
                  <a:ea typeface="+mn-ea"/>
                  <a:cs typeface="+mn-cs"/>
                </a:rPr>
                <a:t xml:space="preserve">全覆盖      </a:t>
              </a:r>
            </a:p>
          </p:txBody>
        </p:sp>
      </p:grpSp>
      <p:grpSp>
        <p:nvGrpSpPr>
          <p:cNvPr id="262" name="customer-loop"/>
          <p:cNvGrpSpPr/>
          <p:nvPr/>
        </p:nvGrpSpPr>
        <p:grpSpPr>
          <a:xfrm>
            <a:off x="914400" y="5505450"/>
            <a:ext cx="10515600" cy="879301"/>
            <a:chOff x="914400" y="5505450"/>
            <a:chExt cx="10515600" cy="879301"/>
          </a:xfrm>
        </p:grpSpPr>
        <p:sp>
          <p:nvSpPr>
            <p:cNvPr id="231" name="Ellipse 231"/>
            <p:cNvSpPr/>
            <p:nvPr/>
          </p:nvSpPr>
          <p:spPr>
            <a:xfrm>
              <a:off x="1314450" y="5505450"/>
              <a:ext cx="419100" cy="419100"/>
            </a:xfrm>
            <a:prstGeom prst="ellipse">
              <a:avLst/>
            </a:prstGeom>
            <a:solidFill>
              <a:srgbClr val="721E0D"/>
            </a:solidFill>
            <a:ln>
              <a:noFill/>
            </a:ln>
          </p:spPr>
        </p:sp>
        <p:grpSp>
          <p:nvGrpSpPr>
            <p:cNvPr id="235" name="Group 235"/>
            <p:cNvGrpSpPr/>
            <p:nvPr/>
          </p:nvGrpSpPr>
          <p:grpSpPr>
            <a:xfrm>
              <a:off x="1419934" y="5618703"/>
              <a:ext cx="208123" cy="178805"/>
              <a:chOff x="1419934" y="5618703"/>
              <a:chExt cx="208123" cy="178805"/>
            </a:xfrm>
          </p:grpSpPr>
          <p:sp>
            <p:nvSpPr>
              <p:cNvPr id="232" name="Freeform 232"/>
              <p:cNvSpPr/>
              <p:nvPr/>
            </p:nvSpPr>
            <p:spPr>
              <a:xfrm>
                <a:off x="1524000" y="5684043"/>
                <a:ext cx="9525" cy="41275"/>
              </a:xfrm>
              <a:custGeom>
                <a:avLst/>
                <a:gdLst/>
                <a:ahLst/>
                <a:cxnLst/>
                <a:rect l="l" t="t" r="r" b="b"/>
                <a:pathLst>
                  <a:path w="9525" h="41275">
                    <a:moveTo>
                      <a:pt x="0" y="0"/>
                    </a:moveTo>
                    <a:lnTo>
                      <a:pt x="0" y="41275"/>
                    </a:lnTo>
                  </a:path>
                </a:pathLst>
              </a:custGeom>
              <a:noFill/>
              <a:ln w="20637">
                <a:solidFill>
                  <a:srgbClr val="FFFFFF"/>
                </a:solidFill>
              </a:ln>
            </p:spPr>
          </p:sp>
          <p:sp>
            <p:nvSpPr>
              <p:cNvPr id="233" name="Freeform 233"/>
              <p:cNvSpPr/>
              <p:nvPr/>
            </p:nvSpPr>
            <p:spPr>
              <a:xfrm>
                <a:off x="1419934" y="5618703"/>
                <a:ext cx="208123" cy="178805"/>
              </a:xfrm>
              <a:custGeom>
                <a:avLst/>
                <a:gdLst/>
                <a:ahLst/>
                <a:cxnLst/>
                <a:rect l="l" t="t" r="r" b="b"/>
                <a:pathLst>
                  <a:path w="208123" h="178805">
                    <a:moveTo>
                      <a:pt x="87174" y="9526"/>
                    </a:moveTo>
                    <a:lnTo>
                      <a:pt x="3530" y="149180"/>
                    </a:lnTo>
                    <a:cubicBezTo>
                      <a:pt x="21" y="155256"/>
                      <a:pt x="0" y="162738"/>
                      <a:pt x="3474" y="168834"/>
                    </a:cubicBezTo>
                    <a:cubicBezTo>
                      <a:pt x="6948" y="174931"/>
                      <a:pt x="13395" y="178726"/>
                      <a:pt x="20412" y="178805"/>
                    </a:cubicBezTo>
                    <a:lnTo>
                      <a:pt x="187719" y="178805"/>
                    </a:lnTo>
                    <a:cubicBezTo>
                      <a:pt x="194732" y="178724"/>
                      <a:pt x="201176" y="174930"/>
                      <a:pt x="204650" y="168837"/>
                    </a:cubicBezTo>
                    <a:cubicBezTo>
                      <a:pt x="208123" y="162744"/>
                      <a:pt x="208104" y="155266"/>
                      <a:pt x="204601" y="149190"/>
                    </a:cubicBezTo>
                    <a:lnTo>
                      <a:pt x="120957" y="9516"/>
                    </a:lnTo>
                    <a:cubicBezTo>
                      <a:pt x="117378" y="3609"/>
                      <a:pt x="110973" y="0"/>
                      <a:pt x="104065" y="0"/>
                    </a:cubicBezTo>
                    <a:cubicBezTo>
                      <a:pt x="97158" y="0"/>
                      <a:pt x="90753" y="3609"/>
                      <a:pt x="87174" y="9516"/>
                    </a:cubicBezTo>
                  </a:path>
                </a:pathLst>
              </a:custGeom>
              <a:noFill/>
              <a:ln w="20637">
                <a:solidFill>
                  <a:srgbClr val="FFFFFF"/>
                </a:solidFill>
              </a:ln>
            </p:spPr>
          </p:sp>
          <p:sp>
            <p:nvSpPr>
              <p:cNvPr id="234" name="Freeform 234"/>
              <p:cNvSpPr/>
              <p:nvPr/>
            </p:nvSpPr>
            <p:spPr>
              <a:xfrm>
                <a:off x="1524000" y="5756274"/>
                <a:ext cx="9525" cy="9525"/>
              </a:xfrm>
              <a:custGeom>
                <a:avLst/>
                <a:gdLst/>
                <a:ahLst/>
                <a:cxnLst/>
                <a:rect l="l" t="t" r="r" b="b"/>
                <a:pathLst>
                  <a:path w="9525" h="9525">
                    <a:moveTo>
                      <a:pt x="0" y="0"/>
                    </a:moveTo>
                    <a:lnTo>
                      <a:pt x="103" y="0"/>
                    </a:lnTo>
                  </a:path>
                </a:pathLst>
              </a:custGeom>
              <a:noFill/>
              <a:ln w="20637">
                <a:solidFill>
                  <a:srgbClr val="FFFFFF"/>
                </a:solidFill>
              </a:ln>
            </p:spPr>
          </p:sp>
        </p:grpSp>
        <p:sp>
          <p:nvSpPr>
            <p:cNvPr id="236" name="TextBox 236"/>
            <p:cNvSpPr txBox="1"/>
            <p:nvPr/>
          </p:nvSpPr>
          <p:spPr>
            <a:xfrm>
              <a:off x="1842135" y="5564981"/>
              <a:ext cx="312979"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预警</a:t>
              </a:r>
            </a:p>
          </p:txBody>
        </p:sp>
        <p:sp>
          <p:nvSpPr>
            <p:cNvPr id="237" name="TextBox 237"/>
            <p:cNvSpPr txBox="1"/>
            <p:nvPr/>
          </p:nvSpPr>
          <p:spPr>
            <a:xfrm>
              <a:off x="1843088" y="5786438"/>
              <a:ext cx="91821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识别风险，提前预警</a:t>
              </a:r>
            </a:p>
          </p:txBody>
        </p:sp>
        <p:sp>
          <p:nvSpPr>
            <p:cNvPr id="238" name="Ellipse 238"/>
            <p:cNvSpPr/>
            <p:nvPr/>
          </p:nvSpPr>
          <p:spPr>
            <a:xfrm>
              <a:off x="3790950" y="5505450"/>
              <a:ext cx="419100" cy="419100"/>
            </a:xfrm>
            <a:prstGeom prst="ellipse">
              <a:avLst/>
            </a:prstGeom>
            <a:solidFill>
              <a:srgbClr val="721E0D"/>
            </a:solidFill>
            <a:ln>
              <a:noFill/>
            </a:ln>
          </p:spPr>
        </p:sp>
        <p:grpSp>
          <p:nvGrpSpPr>
            <p:cNvPr id="241" name="Group 241"/>
            <p:cNvGrpSpPr/>
            <p:nvPr/>
          </p:nvGrpSpPr>
          <p:grpSpPr>
            <a:xfrm>
              <a:off x="3917950" y="5628469"/>
              <a:ext cx="165099" cy="173061"/>
              <a:chOff x="3917950" y="5628469"/>
              <a:chExt cx="165099" cy="173061"/>
            </a:xfrm>
          </p:grpSpPr>
          <p:sp>
            <p:nvSpPr>
              <p:cNvPr id="239" name="Freeform 239"/>
              <p:cNvSpPr/>
              <p:nvPr/>
            </p:nvSpPr>
            <p:spPr>
              <a:xfrm>
                <a:off x="3917950" y="5628469"/>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FFFFFF"/>
                </a:solidFill>
              </a:ln>
            </p:spPr>
          </p:sp>
          <p:sp>
            <p:nvSpPr>
              <p:cNvPr id="240" name="Freeform 240"/>
              <p:cNvSpPr/>
              <p:nvPr/>
            </p:nvSpPr>
            <p:spPr>
              <a:xfrm>
                <a:off x="3917950" y="5725318"/>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FFFFFF"/>
                </a:solidFill>
              </a:ln>
            </p:spPr>
          </p:sp>
        </p:grpSp>
        <p:sp>
          <p:nvSpPr>
            <p:cNvPr id="242" name="TextBox 242"/>
            <p:cNvSpPr txBox="1"/>
            <p:nvPr/>
          </p:nvSpPr>
          <p:spPr>
            <a:xfrm>
              <a:off x="4318635" y="5564981"/>
              <a:ext cx="312979"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复盘</a:t>
              </a:r>
            </a:p>
          </p:txBody>
        </p:sp>
        <p:sp>
          <p:nvSpPr>
            <p:cNvPr id="243" name="TextBox 243"/>
            <p:cNvSpPr txBox="1"/>
            <p:nvPr/>
          </p:nvSpPr>
          <p:spPr>
            <a:xfrm>
              <a:off x="4319588" y="5786438"/>
              <a:ext cx="91821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深度复盘，总结规律</a:t>
              </a:r>
            </a:p>
          </p:txBody>
        </p:sp>
        <p:sp>
          <p:nvSpPr>
            <p:cNvPr id="244" name="Ellipse 244"/>
            <p:cNvSpPr/>
            <p:nvPr/>
          </p:nvSpPr>
          <p:spPr>
            <a:xfrm>
              <a:off x="6267450" y="5505450"/>
              <a:ext cx="419100" cy="419100"/>
            </a:xfrm>
            <a:prstGeom prst="ellipse">
              <a:avLst/>
            </a:prstGeom>
            <a:solidFill>
              <a:srgbClr val="721E0D"/>
            </a:solidFill>
            <a:ln>
              <a:noFill/>
            </a:ln>
          </p:spPr>
        </p:sp>
        <p:grpSp>
          <p:nvGrpSpPr>
            <p:cNvPr id="247" name="Group 247"/>
            <p:cNvGrpSpPr/>
            <p:nvPr/>
          </p:nvGrpSpPr>
          <p:grpSpPr>
            <a:xfrm>
              <a:off x="6384131" y="5663406"/>
              <a:ext cx="185737" cy="103187"/>
              <a:chOff x="6384131" y="5663406"/>
              <a:chExt cx="185737" cy="103187"/>
            </a:xfrm>
          </p:grpSpPr>
          <p:sp>
            <p:nvSpPr>
              <p:cNvPr id="245" name="Freeform 245"/>
              <p:cNvSpPr/>
              <p:nvPr/>
            </p:nvSpPr>
            <p:spPr>
              <a:xfrm>
                <a:off x="6384131" y="5663406"/>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FFFFFF"/>
                </a:solidFill>
              </a:ln>
            </p:spPr>
          </p:sp>
          <p:sp>
            <p:nvSpPr>
              <p:cNvPr id="246" name="Freeform 246"/>
              <p:cNvSpPr/>
              <p:nvPr/>
            </p:nvSpPr>
            <p:spPr>
              <a:xfrm>
                <a:off x="6497637" y="5663406"/>
                <a:ext cx="72231" cy="72231"/>
              </a:xfrm>
              <a:custGeom>
                <a:avLst/>
                <a:gdLst/>
                <a:ahLst/>
                <a:cxnLst/>
                <a:rect l="l" t="t" r="r" b="b"/>
                <a:pathLst>
                  <a:path w="72231" h="72231">
                    <a:moveTo>
                      <a:pt x="0" y="0"/>
                    </a:moveTo>
                    <a:lnTo>
                      <a:pt x="72231" y="0"/>
                    </a:lnTo>
                    <a:lnTo>
                      <a:pt x="72231" y="72231"/>
                    </a:lnTo>
                  </a:path>
                </a:pathLst>
              </a:custGeom>
              <a:noFill/>
              <a:ln w="20637">
                <a:solidFill>
                  <a:srgbClr val="FFFFFF"/>
                </a:solidFill>
              </a:ln>
            </p:spPr>
          </p:sp>
        </p:grpSp>
        <p:sp>
          <p:nvSpPr>
            <p:cNvPr id="248" name="TextBox 248"/>
            <p:cNvSpPr txBox="1"/>
            <p:nvPr/>
          </p:nvSpPr>
          <p:spPr>
            <a:xfrm>
              <a:off x="6795135" y="5564981"/>
              <a:ext cx="312979"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改进</a:t>
              </a:r>
            </a:p>
          </p:txBody>
        </p:sp>
        <p:sp>
          <p:nvSpPr>
            <p:cNvPr id="249" name="TextBox 249"/>
            <p:cNvSpPr txBox="1"/>
            <p:nvPr/>
          </p:nvSpPr>
          <p:spPr>
            <a:xfrm>
              <a:off x="6796088" y="5786438"/>
              <a:ext cx="91821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优化策略，改进行动</a:t>
              </a:r>
            </a:p>
          </p:txBody>
        </p:sp>
        <p:sp>
          <p:nvSpPr>
            <p:cNvPr id="250" name="Ellipse 250"/>
            <p:cNvSpPr/>
            <p:nvPr/>
          </p:nvSpPr>
          <p:spPr>
            <a:xfrm>
              <a:off x="8743950" y="5505450"/>
              <a:ext cx="419100" cy="419100"/>
            </a:xfrm>
            <a:prstGeom prst="ellipse">
              <a:avLst/>
            </a:prstGeom>
            <a:solidFill>
              <a:srgbClr val="721E0D"/>
            </a:solidFill>
            <a:ln>
              <a:noFill/>
            </a:ln>
          </p:spPr>
        </p:sp>
        <p:grpSp>
          <p:nvGrpSpPr>
            <p:cNvPr id="253" name="Group 253"/>
            <p:cNvGrpSpPr/>
            <p:nvPr/>
          </p:nvGrpSpPr>
          <p:grpSpPr>
            <a:xfrm>
              <a:off x="8860631" y="5653087"/>
              <a:ext cx="185737" cy="123825"/>
              <a:chOff x="8860631" y="5653087"/>
              <a:chExt cx="185737" cy="123825"/>
            </a:xfrm>
          </p:grpSpPr>
          <p:sp>
            <p:nvSpPr>
              <p:cNvPr id="251" name="Freeform 251"/>
              <p:cNvSpPr/>
              <p:nvPr/>
            </p:nvSpPr>
            <p:spPr>
              <a:xfrm>
                <a:off x="8932862" y="5694362"/>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252" name="Freeform 252"/>
              <p:cNvSpPr/>
              <p:nvPr/>
            </p:nvSpPr>
            <p:spPr>
              <a:xfrm>
                <a:off x="8860631" y="5653087"/>
                <a:ext cx="185737" cy="123825"/>
              </a:xfrm>
              <a:custGeom>
                <a:avLst/>
                <a:gdLst/>
                <a:ahLst/>
                <a:cxnLst/>
                <a:rect l="l" t="t" r="r" b="b"/>
                <a:pathLst>
                  <a:path w="185737" h="123825">
                    <a:moveTo>
                      <a:pt x="185737" y="61912"/>
                    </a:moveTo>
                    <a:cubicBezTo>
                      <a:pt x="160972" y="103187"/>
                      <a:pt x="130016" y="123825"/>
                      <a:pt x="92868" y="123825"/>
                    </a:cubicBezTo>
                    <a:cubicBezTo>
                      <a:pt x="55721" y="123825"/>
                      <a:pt x="24765" y="103187"/>
                      <a:pt x="0" y="61912"/>
                    </a:cubicBezTo>
                    <a:cubicBezTo>
                      <a:pt x="24765" y="20637"/>
                      <a:pt x="55721" y="0"/>
                      <a:pt x="92868" y="0"/>
                    </a:cubicBezTo>
                    <a:cubicBezTo>
                      <a:pt x="130016" y="0"/>
                      <a:pt x="160972" y="20637"/>
                      <a:pt x="185737" y="61912"/>
                    </a:cubicBezTo>
                  </a:path>
                </a:pathLst>
              </a:custGeom>
              <a:noFill/>
              <a:ln w="20637">
                <a:solidFill>
                  <a:srgbClr val="FFFFFF"/>
                </a:solidFill>
              </a:ln>
            </p:spPr>
          </p:sp>
        </p:grpSp>
        <p:sp>
          <p:nvSpPr>
            <p:cNvPr id="254" name="TextBox 254"/>
            <p:cNvSpPr txBox="1"/>
            <p:nvPr/>
          </p:nvSpPr>
          <p:spPr>
            <a:xfrm>
              <a:off x="9271635" y="5564981"/>
              <a:ext cx="312979" cy="220028"/>
            </a:xfrm>
            <a:prstGeom prst="rect">
              <a:avLst/>
            </a:prstGeom>
            <a:noFill/>
            <a:ln>
              <a:noFill/>
            </a:ln>
          </p:spPr>
          <p:txBody>
            <a:bodyPr wrap="none" lIns="0" tIns="0" rIns="0" bIns="0" anchor="t" anchorCtr="0">
              <a:spAutoFit/>
            </a:bodyPr>
            <a:lstStyle/>
            <a:p>
              <a:pPr algn="l"/>
              <a:r>
                <a:rPr lang="zh-CN" sz="1120" b="1" dirty="0">
                  <a:solidFill>
                    <a:srgbClr val="721E0D"/>
                  </a:solidFill>
                  <a:latin typeface="+mn-lt"/>
                  <a:ea typeface="+mn-ea"/>
                  <a:cs typeface="+mn-cs"/>
                </a:rPr>
                <a:t>跟踪</a:t>
              </a:r>
            </a:p>
          </p:txBody>
        </p:sp>
        <p:sp>
          <p:nvSpPr>
            <p:cNvPr id="255" name="TextBox 255"/>
            <p:cNvSpPr txBox="1"/>
            <p:nvPr/>
          </p:nvSpPr>
          <p:spPr>
            <a:xfrm>
              <a:off x="9272588" y="5786438"/>
              <a:ext cx="918210" cy="147638"/>
            </a:xfrm>
            <a:prstGeom prst="rect">
              <a:avLst/>
            </a:prstGeom>
            <a:noFill/>
            <a:ln>
              <a:noFill/>
            </a:ln>
          </p:spPr>
          <p:txBody>
            <a:bodyPr wrap="none" lIns="0" tIns="0" rIns="0" bIns="0" anchor="t" anchorCtr="0">
              <a:spAutoFit/>
            </a:bodyPr>
            <a:lstStyle/>
            <a:p>
              <a:pPr algn="l"/>
              <a:r>
                <a:rPr lang="zh-CN" sz="750" dirty="0">
                  <a:solidFill>
                    <a:srgbClr val="523E3A"/>
                  </a:solidFill>
                  <a:latin typeface="+mn-lt"/>
                  <a:ea typeface="+mn-ea"/>
                  <a:cs typeface="+mn-cs"/>
                </a:rPr>
                <a:t>跟踪效果，持续闭环</a:t>
              </a:r>
            </a:p>
          </p:txBody>
        </p:sp>
        <p:sp>
          <p:nvSpPr>
            <p:cNvPr id="256" name="Freeform 256"/>
            <p:cNvSpPr/>
            <p:nvPr/>
          </p:nvSpPr>
          <p:spPr>
            <a:xfrm>
              <a:off x="3143250" y="5619750"/>
              <a:ext cx="342900" cy="190500"/>
            </a:xfrm>
            <a:prstGeom prst="rightArrow">
              <a:avLst/>
            </a:prstGeom>
            <a:solidFill>
              <a:srgbClr val="721E0D"/>
            </a:solidFill>
            <a:ln>
              <a:noFill/>
            </a:ln>
          </p:spPr>
        </p:sp>
        <p:sp>
          <p:nvSpPr>
            <p:cNvPr id="257" name="Freeform 257"/>
            <p:cNvSpPr/>
            <p:nvPr/>
          </p:nvSpPr>
          <p:spPr>
            <a:xfrm>
              <a:off x="5619750" y="5619750"/>
              <a:ext cx="342900" cy="190500"/>
            </a:xfrm>
            <a:prstGeom prst="rightArrow">
              <a:avLst/>
            </a:prstGeom>
            <a:solidFill>
              <a:srgbClr val="721E0D"/>
            </a:solidFill>
            <a:ln>
              <a:noFill/>
            </a:ln>
          </p:spPr>
        </p:sp>
        <p:sp>
          <p:nvSpPr>
            <p:cNvPr id="258" name="Freeform 258"/>
            <p:cNvSpPr/>
            <p:nvPr/>
          </p:nvSpPr>
          <p:spPr>
            <a:xfrm>
              <a:off x="8096250" y="5619750"/>
              <a:ext cx="342900" cy="190500"/>
            </a:xfrm>
            <a:prstGeom prst="rightArrow">
              <a:avLst/>
            </a:prstGeom>
            <a:solidFill>
              <a:srgbClr val="721E0D"/>
            </a:solidFill>
            <a:ln>
              <a:noFill/>
            </a:ln>
          </p:spPr>
        </p:sp>
        <p:sp>
          <p:nvSpPr>
            <p:cNvPr id="259" name="Freeform 259"/>
            <p:cNvSpPr/>
            <p:nvPr/>
          </p:nvSpPr>
          <p:spPr>
            <a:xfrm>
              <a:off x="914400" y="5715000"/>
              <a:ext cx="10515600" cy="533400"/>
            </a:xfrm>
            <a:custGeom>
              <a:avLst/>
              <a:gdLst/>
              <a:ahLst/>
              <a:cxnLst/>
              <a:rect l="l" t="t" r="r" b="b"/>
              <a:pathLst>
                <a:path w="10515600" h="533400">
                  <a:moveTo>
                    <a:pt x="10039350" y="0"/>
                  </a:moveTo>
                  <a:lnTo>
                    <a:pt x="10515600" y="0"/>
                  </a:lnTo>
                  <a:lnTo>
                    <a:pt x="10515600" y="533400"/>
                  </a:lnTo>
                  <a:lnTo>
                    <a:pt x="0" y="533400"/>
                  </a:lnTo>
                  <a:lnTo>
                    <a:pt x="0" y="0"/>
                  </a:lnTo>
                  <a:lnTo>
                    <a:pt x="266700" y="0"/>
                  </a:lnTo>
                </a:path>
              </a:pathLst>
            </a:custGeom>
            <a:noFill/>
            <a:ln w="19050">
              <a:solidFill>
                <a:srgbClr val="721E0D"/>
              </a:solidFill>
              <a:tailEnd type="triangle" w="lg" len="lg"/>
            </a:ln>
          </p:spPr>
        </p:sp>
        <p:sp>
          <p:nvSpPr>
            <p:cNvPr id="260" name="Rectangle 260"/>
            <p:cNvSpPr/>
            <p:nvPr/>
          </p:nvSpPr>
          <p:spPr>
            <a:xfrm>
              <a:off x="4191000" y="6115050"/>
              <a:ext cx="3810000" cy="266700"/>
            </a:xfrm>
            <a:prstGeom prst="roundRect">
              <a:avLst>
                <a:gd name="adj" fmla="val 21429"/>
              </a:avLst>
            </a:prstGeom>
            <a:solidFill>
              <a:srgbClr val="FFFFFF"/>
            </a:solidFill>
            <a:ln>
              <a:noFill/>
            </a:ln>
          </p:spPr>
        </p:sp>
        <p:sp>
          <p:nvSpPr>
            <p:cNvPr id="261" name="TextBox 261"/>
            <p:cNvSpPr txBox="1"/>
            <p:nvPr/>
          </p:nvSpPr>
          <p:spPr>
            <a:xfrm>
              <a:off x="4717768" y="6186726"/>
              <a:ext cx="2756464" cy="198025"/>
            </a:xfrm>
            <a:prstGeom prst="rect">
              <a:avLst/>
            </a:prstGeom>
            <a:noFill/>
            <a:ln>
              <a:noFill/>
            </a:ln>
          </p:spPr>
          <p:txBody>
            <a:bodyPr wrap="none" lIns="0" tIns="0" rIns="0" bIns="0" anchor="t" anchorCtr="0">
              <a:spAutoFit/>
            </a:bodyPr>
            <a:lstStyle/>
            <a:p>
              <a:pPr algn="ctr"/>
              <a:r>
                <a:rPr lang="zh-CN" sz="1010" b="1" dirty="0">
                  <a:solidFill>
                    <a:srgbClr val="721E0D"/>
                  </a:solidFill>
                  <a:latin typeface="+mn-lt"/>
                  <a:ea typeface="+mn-ea"/>
                  <a:cs typeface="+mn-cs"/>
                </a:rPr>
                <a:t xml:space="preserve">   客户经营闭环：预警—复盘—改进—跟踪   </a:t>
              </a:r>
            </a:p>
          </p:txBody>
        </p:sp>
      </p:gr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16668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16</a:t>
              </a:r>
            </a:p>
          </p:txBody>
        </p:sp>
        <p:sp>
          <p:nvSpPr>
            <p:cNvPr id="4" name="TextBox 4"/>
            <p:cNvSpPr txBox="1"/>
            <p:nvPr/>
          </p:nvSpPr>
          <p:spPr>
            <a:xfrm>
              <a:off x="904494" y="180023"/>
              <a:ext cx="4744974"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下半年作战地图：</a:t>
              </a:r>
              <a:r>
                <a:rPr lang="zh-CN" sz="1950" b="1" dirty="0">
                  <a:solidFill>
                    <a:srgbClr val="B8351A"/>
                  </a:solidFill>
                  <a:latin typeface="+mn-lt"/>
                  <a:ea typeface="+mn-ea"/>
                  <a:cs typeface="+mn-cs"/>
                </a:rPr>
                <a:t>分月节奏与关键里程碑</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20" name="month-timeline"/>
          <p:cNvGrpSpPr/>
          <p:nvPr/>
        </p:nvGrpSpPr>
        <p:grpSpPr>
          <a:xfrm>
            <a:off x="228600" y="771525"/>
            <a:ext cx="11620500" cy="361950"/>
            <a:chOff x="228600" y="771525"/>
            <a:chExt cx="11620500" cy="361950"/>
          </a:xfrm>
        </p:grpSpPr>
        <p:sp>
          <p:nvSpPr>
            <p:cNvPr id="7" name="Line 7"/>
            <p:cNvSpPr/>
            <p:nvPr/>
          </p:nvSpPr>
          <p:spPr>
            <a:xfrm>
              <a:off x="228600" y="952500"/>
              <a:ext cx="11620500" cy="1"/>
            </a:xfrm>
            <a:prstGeom prst="line">
              <a:avLst/>
            </a:prstGeom>
            <a:noFill/>
            <a:ln w="23812">
              <a:solidFill>
                <a:srgbClr val="721E0D"/>
              </a:solidFill>
              <a:tailEnd type="triangle" w="lg" len="lg"/>
            </a:ln>
          </p:spPr>
        </p:sp>
        <p:sp>
          <p:nvSpPr>
            <p:cNvPr id="8" name="Ellipse 8"/>
            <p:cNvSpPr/>
            <p:nvPr/>
          </p:nvSpPr>
          <p:spPr>
            <a:xfrm>
              <a:off x="981075" y="771525"/>
              <a:ext cx="361950" cy="361950"/>
            </a:xfrm>
            <a:prstGeom prst="ellipse">
              <a:avLst/>
            </a:prstGeom>
            <a:solidFill>
              <a:srgbClr val="FFFFFF"/>
            </a:solidFill>
            <a:ln w="23812">
              <a:solidFill>
                <a:srgbClr val="721E0D"/>
              </a:solidFill>
            </a:ln>
          </p:spPr>
        </p:sp>
        <p:sp>
          <p:nvSpPr>
            <p:cNvPr id="9" name="TextBox 9"/>
            <p:cNvSpPr txBox="1"/>
            <p:nvPr/>
          </p:nvSpPr>
          <p:spPr>
            <a:xfrm>
              <a:off x="838241" y="898922"/>
              <a:ext cx="647617"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7月   </a:t>
              </a:r>
            </a:p>
          </p:txBody>
        </p:sp>
        <p:sp>
          <p:nvSpPr>
            <p:cNvPr id="10" name="Ellipse 10"/>
            <p:cNvSpPr/>
            <p:nvPr/>
          </p:nvSpPr>
          <p:spPr>
            <a:xfrm>
              <a:off x="2952750" y="771525"/>
              <a:ext cx="361950" cy="361950"/>
            </a:xfrm>
            <a:prstGeom prst="ellipse">
              <a:avLst/>
            </a:prstGeom>
            <a:solidFill>
              <a:srgbClr val="FFFFFF"/>
            </a:solidFill>
            <a:ln w="23812">
              <a:solidFill>
                <a:srgbClr val="721E0D"/>
              </a:solidFill>
            </a:ln>
          </p:spPr>
        </p:sp>
        <p:sp>
          <p:nvSpPr>
            <p:cNvPr id="11" name="TextBox 11"/>
            <p:cNvSpPr txBox="1"/>
            <p:nvPr/>
          </p:nvSpPr>
          <p:spPr>
            <a:xfrm>
              <a:off x="2809916" y="898922"/>
              <a:ext cx="647617"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8月   </a:t>
              </a:r>
            </a:p>
          </p:txBody>
        </p:sp>
        <p:sp>
          <p:nvSpPr>
            <p:cNvPr id="12" name="Ellipse 12"/>
            <p:cNvSpPr/>
            <p:nvPr/>
          </p:nvSpPr>
          <p:spPr>
            <a:xfrm>
              <a:off x="4924425" y="771525"/>
              <a:ext cx="361950" cy="361950"/>
            </a:xfrm>
            <a:prstGeom prst="ellipse">
              <a:avLst/>
            </a:prstGeom>
            <a:solidFill>
              <a:srgbClr val="FFFFFF"/>
            </a:solidFill>
            <a:ln w="23812">
              <a:solidFill>
                <a:srgbClr val="721E0D"/>
              </a:solidFill>
            </a:ln>
          </p:spPr>
        </p:sp>
        <p:sp>
          <p:nvSpPr>
            <p:cNvPr id="13" name="TextBox 13"/>
            <p:cNvSpPr txBox="1"/>
            <p:nvPr/>
          </p:nvSpPr>
          <p:spPr>
            <a:xfrm>
              <a:off x="4781591" y="898922"/>
              <a:ext cx="647617"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9月   </a:t>
              </a:r>
            </a:p>
          </p:txBody>
        </p:sp>
        <p:sp>
          <p:nvSpPr>
            <p:cNvPr id="14" name="Ellipse 14"/>
            <p:cNvSpPr/>
            <p:nvPr/>
          </p:nvSpPr>
          <p:spPr>
            <a:xfrm>
              <a:off x="6896100" y="771525"/>
              <a:ext cx="361950" cy="361950"/>
            </a:xfrm>
            <a:prstGeom prst="ellipse">
              <a:avLst/>
            </a:prstGeom>
            <a:solidFill>
              <a:srgbClr val="FFFFFF"/>
            </a:solidFill>
            <a:ln w="23812">
              <a:solidFill>
                <a:srgbClr val="721E0D"/>
              </a:solidFill>
            </a:ln>
          </p:spPr>
        </p:sp>
        <p:sp>
          <p:nvSpPr>
            <p:cNvPr id="15" name="TextBox 15"/>
            <p:cNvSpPr txBox="1"/>
            <p:nvPr/>
          </p:nvSpPr>
          <p:spPr>
            <a:xfrm>
              <a:off x="6716727" y="898922"/>
              <a:ext cx="720696"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10月   </a:t>
              </a:r>
            </a:p>
          </p:txBody>
        </p:sp>
        <p:sp>
          <p:nvSpPr>
            <p:cNvPr id="16" name="Ellipse 16"/>
            <p:cNvSpPr/>
            <p:nvPr/>
          </p:nvSpPr>
          <p:spPr>
            <a:xfrm>
              <a:off x="8867775" y="771525"/>
              <a:ext cx="361950" cy="361950"/>
            </a:xfrm>
            <a:prstGeom prst="ellipse">
              <a:avLst/>
            </a:prstGeom>
            <a:solidFill>
              <a:srgbClr val="FFFFFF"/>
            </a:solidFill>
            <a:ln w="23812">
              <a:solidFill>
                <a:srgbClr val="721E0D"/>
              </a:solidFill>
            </a:ln>
          </p:spPr>
        </p:sp>
        <p:sp>
          <p:nvSpPr>
            <p:cNvPr id="17" name="TextBox 17"/>
            <p:cNvSpPr txBox="1"/>
            <p:nvPr/>
          </p:nvSpPr>
          <p:spPr>
            <a:xfrm>
              <a:off x="8688402" y="898922"/>
              <a:ext cx="720696"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11月   </a:t>
              </a:r>
            </a:p>
          </p:txBody>
        </p:sp>
        <p:sp>
          <p:nvSpPr>
            <p:cNvPr id="18" name="Ellipse 18"/>
            <p:cNvSpPr/>
            <p:nvPr/>
          </p:nvSpPr>
          <p:spPr>
            <a:xfrm>
              <a:off x="10839450" y="771525"/>
              <a:ext cx="361950" cy="361950"/>
            </a:xfrm>
            <a:prstGeom prst="ellipse">
              <a:avLst/>
            </a:prstGeom>
            <a:solidFill>
              <a:srgbClr val="FFFFFF"/>
            </a:solidFill>
            <a:ln w="23812">
              <a:solidFill>
                <a:srgbClr val="721E0D"/>
              </a:solidFill>
            </a:ln>
          </p:spPr>
        </p:sp>
        <p:sp>
          <p:nvSpPr>
            <p:cNvPr id="19" name="TextBox 19"/>
            <p:cNvSpPr txBox="1"/>
            <p:nvPr/>
          </p:nvSpPr>
          <p:spPr>
            <a:xfrm>
              <a:off x="10660077" y="898922"/>
              <a:ext cx="720696" cy="183356"/>
            </a:xfrm>
            <a:prstGeom prst="rect">
              <a:avLst/>
            </a:prstGeom>
            <a:noFill/>
            <a:ln>
              <a:noFill/>
            </a:ln>
          </p:spPr>
          <p:txBody>
            <a:bodyPr wrap="none" lIns="0" tIns="0" rIns="0" bIns="0" anchor="t" anchorCtr="0">
              <a:spAutoFit/>
            </a:bodyPr>
            <a:lstStyle/>
            <a:p>
              <a:pPr algn="ctr"/>
              <a:r>
                <a:rPr lang="zh-CN" sz="940" b="1" dirty="0">
                  <a:solidFill>
                    <a:srgbClr val="721E0D"/>
                  </a:solidFill>
                  <a:latin typeface="+mn-lt"/>
                  <a:ea typeface="+mn-ea"/>
                  <a:cs typeface="+mn-cs"/>
                </a:rPr>
                <a:t xml:space="preserve">   12月   </a:t>
              </a:r>
            </a:p>
          </p:txBody>
        </p:sp>
      </p:grpSp>
      <p:grpSp>
        <p:nvGrpSpPr>
          <p:cNvPr id="61" name="month-col-1"/>
          <p:cNvGrpSpPr/>
          <p:nvPr/>
        </p:nvGrpSpPr>
        <p:grpSpPr>
          <a:xfrm>
            <a:off x="228600" y="1238250"/>
            <a:ext cx="1866900" cy="4476750"/>
            <a:chOff x="228600" y="1238250"/>
            <a:chExt cx="1866900" cy="4476750"/>
          </a:xfrm>
        </p:grpSpPr>
        <p:sp>
          <p:nvSpPr>
            <p:cNvPr id="21" name="Rectangle 21"/>
            <p:cNvSpPr/>
            <p:nvPr/>
          </p:nvSpPr>
          <p:spPr>
            <a:xfrm>
              <a:off x="228600" y="1238250"/>
              <a:ext cx="1866900" cy="4476750"/>
            </a:xfrm>
            <a:prstGeom prst="roundRect">
              <a:avLst>
                <a:gd name="adj" fmla="val 5102"/>
              </a:avLst>
            </a:prstGeom>
            <a:solidFill>
              <a:srgbClr val="F5F8FD"/>
            </a:solidFill>
            <a:ln w="9525">
              <a:solidFill>
                <a:srgbClr val="C9D6EE"/>
              </a:solidFill>
            </a:ln>
          </p:spPr>
        </p:sp>
        <p:sp>
          <p:nvSpPr>
            <p:cNvPr id="22" name="Rectangle 22"/>
            <p:cNvSpPr/>
            <p:nvPr/>
          </p:nvSpPr>
          <p:spPr>
            <a:xfrm>
              <a:off x="228600" y="1238250"/>
              <a:ext cx="1866900" cy="590550"/>
            </a:xfrm>
            <a:prstGeom prst="roundRect">
              <a:avLst>
                <a:gd name="adj" fmla="val 16129"/>
              </a:avLst>
            </a:prstGeom>
            <a:solidFill>
              <a:srgbClr val="721E0D"/>
            </a:solidFill>
            <a:ln>
              <a:noFill/>
            </a:ln>
          </p:spPr>
        </p:sp>
        <p:sp>
          <p:nvSpPr>
            <p:cNvPr id="23" name="TextBox 23"/>
            <p:cNvSpPr txBox="1"/>
            <p:nvPr/>
          </p:nvSpPr>
          <p:spPr>
            <a:xfrm>
              <a:off x="625221" y="1360170"/>
              <a:ext cx="1073658" cy="338138"/>
            </a:xfrm>
            <a:prstGeom prst="rect">
              <a:avLst/>
            </a:prstGeom>
            <a:noFill/>
            <a:ln>
              <a:noFill/>
            </a:ln>
          </p:spPr>
          <p:txBody>
            <a:bodyPr wrap="none" lIns="0" tIns="0" rIns="0" bIns="0" anchor="t" anchorCtr="0">
              <a:spAutoFit/>
            </a:bodyPr>
            <a:lstStyle/>
            <a:p>
              <a:pPr algn="ctr">
                <a:lnSpc>
                  <a:spcPts val="1275"/>
                </a:lnSpc>
              </a:pPr>
              <a:r>
                <a:rPr lang="zh-CN" sz="900" b="1" dirty="0">
                  <a:solidFill>
                    <a:srgbClr val="FFFFFF"/>
                  </a:solidFill>
                  <a:latin typeface="+mn-lt"/>
                  <a:ea typeface="+mn-ea"/>
                  <a:cs typeface="+mn-cs"/>
                </a:rPr>
                <a:t xml:space="preserve">7月：总结对齐，   </a:t>
              </a:r>
              <a:br/>
              <a:r>
                <a:rPr lang="zh-CN" sz="900" b="1" dirty="0">
                  <a:solidFill>
                    <a:srgbClr val="FFFFFF"/>
                  </a:solidFill>
                  <a:latin typeface="+mn-lt"/>
                  <a:ea typeface="+mn-ea"/>
                  <a:cs typeface="+mn-cs"/>
                </a:rPr>
                <a:t>锁定重点战役</a:t>
              </a:r>
            </a:p>
          </p:txBody>
        </p:sp>
        <p:sp>
          <p:nvSpPr>
            <p:cNvPr id="24" name="Ellipse 24"/>
            <p:cNvSpPr/>
            <p:nvPr/>
          </p:nvSpPr>
          <p:spPr>
            <a:xfrm>
              <a:off x="295275" y="1952625"/>
              <a:ext cx="171450" cy="171450"/>
            </a:xfrm>
            <a:prstGeom prst="ellipse">
              <a:avLst/>
            </a:prstGeom>
            <a:solidFill>
              <a:srgbClr val="721E0D"/>
            </a:solidFill>
            <a:ln>
              <a:noFill/>
            </a:ln>
          </p:spPr>
        </p:sp>
        <p:sp>
          <p:nvSpPr>
            <p:cNvPr id="25" name="TextBox 25"/>
            <p:cNvSpPr txBox="1"/>
            <p:nvPr/>
          </p:nvSpPr>
          <p:spPr>
            <a:xfrm>
              <a:off x="348639" y="19947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grpSp>
          <p:nvGrpSpPr>
            <p:cNvPr id="29" name="Group 29"/>
            <p:cNvGrpSpPr/>
            <p:nvPr/>
          </p:nvGrpSpPr>
          <p:grpSpPr>
            <a:xfrm>
              <a:off x="542925" y="1952625"/>
              <a:ext cx="171450" cy="171450"/>
              <a:chOff x="542925" y="1952625"/>
              <a:chExt cx="171450" cy="171450"/>
            </a:xfrm>
          </p:grpSpPr>
          <p:sp>
            <p:nvSpPr>
              <p:cNvPr id="26" name="Freeform 26"/>
              <p:cNvSpPr/>
              <p:nvPr/>
            </p:nvSpPr>
            <p:spPr>
              <a:xfrm>
                <a:off x="619125" y="20288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721E0D"/>
                </a:solidFill>
              </a:ln>
            </p:spPr>
          </p:sp>
          <p:sp>
            <p:nvSpPr>
              <p:cNvPr id="27" name="Freeform 27"/>
              <p:cNvSpPr/>
              <p:nvPr/>
            </p:nvSpPr>
            <p:spPr>
              <a:xfrm>
                <a:off x="581025" y="19907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721E0D"/>
                </a:solidFill>
              </a:ln>
            </p:spPr>
          </p:sp>
          <p:sp>
            <p:nvSpPr>
              <p:cNvPr id="28" name="Freeform 28"/>
              <p:cNvSpPr/>
              <p:nvPr/>
            </p:nvSpPr>
            <p:spPr>
              <a:xfrm>
                <a:off x="542925" y="1952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721E0D"/>
                </a:solidFill>
              </a:ln>
            </p:spPr>
          </p:sp>
        </p:grpSp>
        <p:sp>
          <p:nvSpPr>
            <p:cNvPr id="30" name="TextBox 30"/>
            <p:cNvSpPr txBox="1"/>
            <p:nvPr/>
          </p:nvSpPr>
          <p:spPr>
            <a:xfrm>
              <a:off x="814388" y="19669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上半年复盘总结</a:t>
              </a:r>
            </a:p>
          </p:txBody>
        </p:sp>
        <p:sp>
          <p:nvSpPr>
            <p:cNvPr id="31" name="TextBox 31"/>
            <p:cNvSpPr txBox="1"/>
            <p:nvPr/>
          </p:nvSpPr>
          <p:spPr>
            <a:xfrm>
              <a:off x="814388" y="21219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对目标、差距与问题</a:t>
              </a:r>
              <a:br/>
              <a:r>
                <a:rPr lang="zh-CN" sz="640" dirty="0">
                  <a:solidFill>
                    <a:srgbClr val="523E3A"/>
                  </a:solidFill>
                  <a:latin typeface="+mn-lt"/>
                  <a:ea typeface="+mn-ea"/>
                  <a:cs typeface="+mn-cs"/>
                </a:rPr>
                <a:t>全面复盘，明确改进</a:t>
              </a:r>
              <a:br/>
              <a:r>
                <a:rPr lang="zh-CN" sz="640" dirty="0">
                  <a:solidFill>
                    <a:srgbClr val="523E3A"/>
                  </a:solidFill>
                  <a:latin typeface="+mn-lt"/>
                  <a:ea typeface="+mn-ea"/>
                  <a:cs typeface="+mn-cs"/>
                </a:rPr>
                <a:t>方向。</a:t>
              </a:r>
            </a:p>
          </p:txBody>
        </p:sp>
        <p:sp>
          <p:nvSpPr>
            <p:cNvPr id="32" name="Ellipse 32"/>
            <p:cNvSpPr/>
            <p:nvPr/>
          </p:nvSpPr>
          <p:spPr>
            <a:xfrm>
              <a:off x="295275" y="2828925"/>
              <a:ext cx="171450" cy="171450"/>
            </a:xfrm>
            <a:prstGeom prst="ellipse">
              <a:avLst/>
            </a:prstGeom>
            <a:solidFill>
              <a:srgbClr val="721E0D"/>
            </a:solidFill>
            <a:ln>
              <a:noFill/>
            </a:ln>
          </p:spPr>
        </p:sp>
        <p:sp>
          <p:nvSpPr>
            <p:cNvPr id="33" name="TextBox 33"/>
            <p:cNvSpPr txBox="1"/>
            <p:nvPr/>
          </p:nvSpPr>
          <p:spPr>
            <a:xfrm>
              <a:off x="348639" y="28710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grpSp>
          <p:nvGrpSpPr>
            <p:cNvPr id="38" name="Group 38"/>
            <p:cNvGrpSpPr/>
            <p:nvPr/>
          </p:nvGrpSpPr>
          <p:grpSpPr>
            <a:xfrm>
              <a:off x="542925" y="2828925"/>
              <a:ext cx="171450" cy="171450"/>
              <a:chOff x="542925" y="2828925"/>
              <a:chExt cx="171450" cy="171450"/>
            </a:xfrm>
          </p:grpSpPr>
          <p:sp>
            <p:nvSpPr>
              <p:cNvPr id="34" name="Freeform 34"/>
              <p:cNvSpPr/>
              <p:nvPr/>
            </p:nvSpPr>
            <p:spPr>
              <a:xfrm>
                <a:off x="561975" y="28289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721E0D"/>
                </a:solidFill>
              </a:ln>
            </p:spPr>
          </p:sp>
          <p:sp>
            <p:nvSpPr>
              <p:cNvPr id="35" name="Freeform 35"/>
              <p:cNvSpPr/>
              <p:nvPr/>
            </p:nvSpPr>
            <p:spPr>
              <a:xfrm>
                <a:off x="542925" y="29432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721E0D"/>
                </a:solidFill>
              </a:ln>
            </p:spPr>
          </p:sp>
          <p:sp>
            <p:nvSpPr>
              <p:cNvPr id="36" name="Freeform 36"/>
              <p:cNvSpPr/>
              <p:nvPr/>
            </p:nvSpPr>
            <p:spPr>
              <a:xfrm>
                <a:off x="666750" y="28301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721E0D"/>
                </a:solidFill>
              </a:ln>
            </p:spPr>
          </p:sp>
          <p:sp>
            <p:nvSpPr>
              <p:cNvPr id="37" name="Freeform 37"/>
              <p:cNvSpPr/>
              <p:nvPr/>
            </p:nvSpPr>
            <p:spPr>
              <a:xfrm>
                <a:off x="685800" y="29446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721E0D"/>
                </a:solidFill>
              </a:ln>
            </p:spPr>
          </p:sp>
        </p:grpSp>
        <p:sp>
          <p:nvSpPr>
            <p:cNvPr id="39" name="TextBox 39"/>
            <p:cNvSpPr txBox="1"/>
            <p:nvPr/>
          </p:nvSpPr>
          <p:spPr>
            <a:xfrm>
              <a:off x="814388" y="28432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统一思路与战役</a:t>
              </a:r>
            </a:p>
          </p:txBody>
        </p:sp>
        <p:sp>
          <p:nvSpPr>
            <p:cNvPr id="40" name="TextBox 40"/>
            <p:cNvSpPr txBox="1"/>
            <p:nvPr/>
          </p:nvSpPr>
          <p:spPr>
            <a:xfrm>
              <a:off x="814388" y="29982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对齐业务策略与战役</a:t>
              </a:r>
              <a:br/>
              <a:r>
                <a:rPr lang="zh-CN" sz="640" dirty="0">
                  <a:solidFill>
                    <a:srgbClr val="523E3A"/>
                  </a:solidFill>
                  <a:latin typeface="+mn-lt"/>
                  <a:ea typeface="+mn-ea"/>
                  <a:cs typeface="+mn-cs"/>
                </a:rPr>
                <a:t>优先级，锁定下半年</a:t>
              </a:r>
              <a:br/>
              <a:r>
                <a:rPr lang="zh-CN" sz="640" dirty="0">
                  <a:solidFill>
                    <a:srgbClr val="523E3A"/>
                  </a:solidFill>
                  <a:latin typeface="+mn-lt"/>
                  <a:ea typeface="+mn-ea"/>
                  <a:cs typeface="+mn-cs"/>
                </a:rPr>
                <a:t>重点战役。</a:t>
              </a:r>
            </a:p>
          </p:txBody>
        </p:sp>
        <p:sp>
          <p:nvSpPr>
            <p:cNvPr id="41" name="Ellipse 41"/>
            <p:cNvSpPr/>
            <p:nvPr/>
          </p:nvSpPr>
          <p:spPr>
            <a:xfrm>
              <a:off x="295275" y="3705225"/>
              <a:ext cx="171450" cy="171450"/>
            </a:xfrm>
            <a:prstGeom prst="ellipse">
              <a:avLst/>
            </a:prstGeom>
            <a:solidFill>
              <a:srgbClr val="721E0D"/>
            </a:solidFill>
            <a:ln>
              <a:noFill/>
            </a:ln>
          </p:spPr>
        </p:sp>
        <p:sp>
          <p:nvSpPr>
            <p:cNvPr id="42" name="TextBox 42"/>
            <p:cNvSpPr txBox="1"/>
            <p:nvPr/>
          </p:nvSpPr>
          <p:spPr>
            <a:xfrm>
              <a:off x="348639" y="37473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grpSp>
          <p:nvGrpSpPr>
            <p:cNvPr id="47" name="Group 47"/>
            <p:cNvGrpSpPr/>
            <p:nvPr/>
          </p:nvGrpSpPr>
          <p:grpSpPr>
            <a:xfrm>
              <a:off x="561975" y="3714750"/>
              <a:ext cx="142875" cy="161925"/>
              <a:chOff x="561975" y="3714750"/>
              <a:chExt cx="142875" cy="161925"/>
            </a:xfrm>
          </p:grpSpPr>
          <p:sp>
            <p:nvSpPr>
              <p:cNvPr id="43" name="Freeform 43"/>
              <p:cNvSpPr/>
              <p:nvPr/>
            </p:nvSpPr>
            <p:spPr>
              <a:xfrm>
                <a:off x="561975" y="3714750"/>
                <a:ext cx="114300" cy="152400"/>
              </a:xfrm>
              <a:custGeom>
                <a:avLst/>
                <a:gdLst/>
                <a:ahLst/>
                <a:cxnLst/>
                <a:rect l="l" t="t" r="r" b="b"/>
                <a:pathLst>
                  <a:path w="114300" h="152400">
                    <a:moveTo>
                      <a:pt x="43958" y="152400"/>
                    </a:moveTo>
                    <a:lnTo>
                      <a:pt x="19050" y="152400"/>
                    </a:lnTo>
                    <a:cubicBezTo>
                      <a:pt x="8529" y="152400"/>
                      <a:pt x="0" y="143871"/>
                      <a:pt x="0" y="133350"/>
                    </a:cubicBezTo>
                    <a:lnTo>
                      <a:pt x="0" y="19050"/>
                    </a:lnTo>
                    <a:cubicBezTo>
                      <a:pt x="0" y="8529"/>
                      <a:pt x="8529" y="0"/>
                      <a:pt x="19050" y="0"/>
                    </a:cubicBezTo>
                    <a:lnTo>
                      <a:pt x="95250" y="0"/>
                    </a:lnTo>
                    <a:cubicBezTo>
                      <a:pt x="105771" y="0"/>
                      <a:pt x="114300" y="8529"/>
                      <a:pt x="114300" y="19050"/>
                    </a:cubicBezTo>
                    <a:lnTo>
                      <a:pt x="114300" y="95250"/>
                    </a:lnTo>
                  </a:path>
                </a:pathLst>
              </a:custGeom>
              <a:noFill/>
              <a:ln w="19050">
                <a:solidFill>
                  <a:srgbClr val="721E0D"/>
                </a:solidFill>
              </a:ln>
            </p:spPr>
          </p:sp>
          <p:sp>
            <p:nvSpPr>
              <p:cNvPr id="44" name="Freeform 44"/>
              <p:cNvSpPr/>
              <p:nvPr/>
            </p:nvSpPr>
            <p:spPr>
              <a:xfrm>
                <a:off x="647700" y="3838575"/>
                <a:ext cx="57150" cy="38100"/>
              </a:xfrm>
              <a:custGeom>
                <a:avLst/>
                <a:gdLst/>
                <a:ahLst/>
                <a:cxnLst/>
                <a:rect l="l" t="t" r="r" b="b"/>
                <a:pathLst>
                  <a:path w="57150" h="38100">
                    <a:moveTo>
                      <a:pt x="0" y="19050"/>
                    </a:moveTo>
                    <a:lnTo>
                      <a:pt x="19050" y="38100"/>
                    </a:lnTo>
                    <a:lnTo>
                      <a:pt x="57150" y="0"/>
                    </a:lnTo>
                  </a:path>
                </a:pathLst>
              </a:custGeom>
              <a:noFill/>
              <a:ln w="19050">
                <a:solidFill>
                  <a:srgbClr val="721E0D"/>
                </a:solidFill>
              </a:ln>
            </p:spPr>
          </p:sp>
          <p:sp>
            <p:nvSpPr>
              <p:cNvPr id="45" name="Freeform 45"/>
              <p:cNvSpPr/>
              <p:nvPr/>
            </p:nvSpPr>
            <p:spPr>
              <a:xfrm>
                <a:off x="600075" y="3752850"/>
                <a:ext cx="38100" cy="9525"/>
              </a:xfrm>
              <a:custGeom>
                <a:avLst/>
                <a:gdLst/>
                <a:ahLst/>
                <a:cxnLst/>
                <a:rect l="l" t="t" r="r" b="b"/>
                <a:pathLst>
                  <a:path w="38100" h="9525">
                    <a:moveTo>
                      <a:pt x="0" y="0"/>
                    </a:moveTo>
                    <a:lnTo>
                      <a:pt x="38100" y="0"/>
                    </a:lnTo>
                  </a:path>
                </a:pathLst>
              </a:custGeom>
              <a:noFill/>
              <a:ln w="19050">
                <a:solidFill>
                  <a:srgbClr val="721E0D"/>
                </a:solidFill>
              </a:ln>
            </p:spPr>
          </p:sp>
          <p:sp>
            <p:nvSpPr>
              <p:cNvPr id="46" name="Freeform 46"/>
              <p:cNvSpPr/>
              <p:nvPr/>
            </p:nvSpPr>
            <p:spPr>
              <a:xfrm>
                <a:off x="600075" y="3790950"/>
                <a:ext cx="19050" cy="9525"/>
              </a:xfrm>
              <a:custGeom>
                <a:avLst/>
                <a:gdLst/>
                <a:ahLst/>
                <a:cxnLst/>
                <a:rect l="l" t="t" r="r" b="b"/>
                <a:pathLst>
                  <a:path w="19050" h="9525">
                    <a:moveTo>
                      <a:pt x="0" y="0"/>
                    </a:moveTo>
                    <a:lnTo>
                      <a:pt x="19050" y="0"/>
                    </a:lnTo>
                  </a:path>
                </a:pathLst>
              </a:custGeom>
              <a:noFill/>
              <a:ln w="19050">
                <a:solidFill>
                  <a:srgbClr val="721E0D"/>
                </a:solidFill>
              </a:ln>
            </p:spPr>
          </p:sp>
        </p:grpSp>
        <p:sp>
          <p:nvSpPr>
            <p:cNvPr id="48" name="TextBox 48"/>
            <p:cNvSpPr txBox="1"/>
            <p:nvPr/>
          </p:nvSpPr>
          <p:spPr>
            <a:xfrm>
              <a:off x="814388" y="37195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目标分解与承诺</a:t>
              </a:r>
            </a:p>
          </p:txBody>
        </p:sp>
        <p:sp>
          <p:nvSpPr>
            <p:cNvPr id="49" name="TextBox 49"/>
            <p:cNvSpPr txBox="1"/>
            <p:nvPr/>
          </p:nvSpPr>
          <p:spPr>
            <a:xfrm>
              <a:off x="814388" y="38745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分解至团队与个人，</a:t>
              </a:r>
              <a:br/>
              <a:r>
                <a:rPr lang="zh-CN" sz="640" dirty="0">
                  <a:solidFill>
                    <a:srgbClr val="523E3A"/>
                  </a:solidFill>
                  <a:latin typeface="+mn-lt"/>
                  <a:ea typeface="+mn-ea"/>
                  <a:cs typeface="+mn-cs"/>
                </a:rPr>
                <a:t>明确关键指标与承诺</a:t>
              </a:r>
              <a:br/>
              <a:r>
                <a:rPr lang="zh-CN" sz="640" dirty="0">
                  <a:solidFill>
                    <a:srgbClr val="523E3A"/>
                  </a:solidFill>
                  <a:latin typeface="+mn-lt"/>
                  <a:ea typeface="+mn-ea"/>
                  <a:cs typeface="+mn-cs"/>
                </a:rPr>
                <a:t>节点。</a:t>
              </a:r>
            </a:p>
          </p:txBody>
        </p:sp>
        <p:sp>
          <p:nvSpPr>
            <p:cNvPr id="50" name="Rectangle 50"/>
            <p:cNvSpPr/>
            <p:nvPr/>
          </p:nvSpPr>
          <p:spPr>
            <a:xfrm>
              <a:off x="304800" y="4552950"/>
              <a:ext cx="1714500" cy="1047750"/>
            </a:xfrm>
            <a:prstGeom prst="roundRect">
              <a:avLst>
                <a:gd name="adj" fmla="val 7273"/>
              </a:avLst>
            </a:prstGeom>
            <a:solidFill>
              <a:srgbClr val="FFFFFF"/>
            </a:solidFill>
            <a:ln w="14288">
              <a:solidFill>
                <a:srgbClr val="C03616"/>
              </a:solidFill>
            </a:ln>
          </p:spPr>
        </p:sp>
        <p:sp>
          <p:nvSpPr>
            <p:cNvPr id="51" name="Rectangle 51"/>
            <p:cNvSpPr/>
            <p:nvPr/>
          </p:nvSpPr>
          <p:spPr>
            <a:xfrm>
              <a:off x="381000" y="4667250"/>
              <a:ext cx="323850" cy="323850"/>
            </a:xfrm>
            <a:prstGeom prst="roundRect">
              <a:avLst>
                <a:gd name="adj" fmla="val 17647"/>
              </a:avLst>
            </a:prstGeom>
            <a:solidFill>
              <a:srgbClr val="C03616"/>
            </a:solidFill>
            <a:ln>
              <a:noFill/>
            </a:ln>
          </p:spPr>
        </p:sp>
        <p:grpSp>
          <p:nvGrpSpPr>
            <p:cNvPr id="58" name="Group 58"/>
            <p:cNvGrpSpPr/>
            <p:nvPr/>
          </p:nvGrpSpPr>
          <p:grpSpPr>
            <a:xfrm>
              <a:off x="464344" y="4759325"/>
              <a:ext cx="157162" cy="157956"/>
              <a:chOff x="464344" y="4759325"/>
              <a:chExt cx="157162" cy="157956"/>
            </a:xfrm>
          </p:grpSpPr>
          <p:sp>
            <p:nvSpPr>
              <p:cNvPr id="52" name="Freeform 52"/>
              <p:cNvSpPr/>
              <p:nvPr/>
            </p:nvSpPr>
            <p:spPr>
              <a:xfrm>
                <a:off x="508000" y="4907756"/>
                <a:ext cx="69850" cy="9525"/>
              </a:xfrm>
              <a:custGeom>
                <a:avLst/>
                <a:gdLst/>
                <a:ahLst/>
                <a:cxnLst/>
                <a:rect l="l" t="t" r="r" b="b"/>
                <a:pathLst>
                  <a:path w="69850" h="9525">
                    <a:moveTo>
                      <a:pt x="0" y="0"/>
                    </a:moveTo>
                    <a:lnTo>
                      <a:pt x="69850" y="0"/>
                    </a:lnTo>
                  </a:path>
                </a:pathLst>
              </a:custGeom>
              <a:noFill/>
              <a:ln w="17463">
                <a:solidFill>
                  <a:srgbClr val="FFFFFF"/>
                </a:solidFill>
              </a:ln>
            </p:spPr>
          </p:sp>
          <p:sp>
            <p:nvSpPr>
              <p:cNvPr id="53" name="Freeform 53"/>
              <p:cNvSpPr/>
              <p:nvPr/>
            </p:nvSpPr>
            <p:spPr>
              <a:xfrm>
                <a:off x="542925" y="4872831"/>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54" name="Freeform 54"/>
              <p:cNvSpPr/>
              <p:nvPr/>
            </p:nvSpPr>
            <p:spPr>
              <a:xfrm>
                <a:off x="499269" y="4759325"/>
                <a:ext cx="87313" cy="9525"/>
              </a:xfrm>
              <a:custGeom>
                <a:avLst/>
                <a:gdLst/>
                <a:ahLst/>
                <a:cxnLst/>
                <a:rect l="l" t="t" r="r" b="b"/>
                <a:pathLst>
                  <a:path w="87313" h="9525">
                    <a:moveTo>
                      <a:pt x="0" y="0"/>
                    </a:moveTo>
                    <a:lnTo>
                      <a:pt x="87313" y="0"/>
                    </a:lnTo>
                  </a:path>
                </a:pathLst>
              </a:custGeom>
              <a:noFill/>
              <a:ln w="17463">
                <a:solidFill>
                  <a:srgbClr val="FFFFFF"/>
                </a:solidFill>
              </a:ln>
            </p:spPr>
          </p:sp>
          <p:sp>
            <p:nvSpPr>
              <p:cNvPr id="55" name="Freeform 55"/>
              <p:cNvSpPr/>
              <p:nvPr/>
            </p:nvSpPr>
            <p:spPr>
              <a:xfrm>
                <a:off x="499269" y="4759325"/>
                <a:ext cx="87313" cy="113506"/>
              </a:xfrm>
              <a:custGeom>
                <a:avLst/>
                <a:gdLst/>
                <a:ahLst/>
                <a:cxnLst/>
                <a:rect l="l" t="t" r="r" b="b"/>
                <a:pathLst>
                  <a:path w="87313" h="113506">
                    <a:moveTo>
                      <a:pt x="87313" y="0"/>
                    </a:moveTo>
                    <a:lnTo>
                      <a:pt x="87313" y="69850"/>
                    </a:lnTo>
                    <a:cubicBezTo>
                      <a:pt x="87313" y="93961"/>
                      <a:pt x="67767" y="113506"/>
                      <a:pt x="43656" y="113506"/>
                    </a:cubicBezTo>
                    <a:cubicBezTo>
                      <a:pt x="19546" y="113506"/>
                      <a:pt x="0" y="93961"/>
                      <a:pt x="0" y="69850"/>
                    </a:cubicBezTo>
                    <a:lnTo>
                      <a:pt x="0" y="0"/>
                    </a:lnTo>
                  </a:path>
                </a:pathLst>
              </a:custGeom>
              <a:noFill/>
              <a:ln w="17463">
                <a:solidFill>
                  <a:srgbClr val="FFFFFF"/>
                </a:solidFill>
              </a:ln>
            </p:spPr>
          </p:sp>
          <p:sp>
            <p:nvSpPr>
              <p:cNvPr id="56" name="Freeform 56"/>
              <p:cNvSpPr/>
              <p:nvPr/>
            </p:nvSpPr>
            <p:spPr>
              <a:xfrm>
                <a:off x="464344" y="47855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sp>
            <p:nvSpPr>
              <p:cNvPr id="57" name="Freeform 57"/>
              <p:cNvSpPr/>
              <p:nvPr/>
            </p:nvSpPr>
            <p:spPr>
              <a:xfrm>
                <a:off x="586581" y="47855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FFFFFF"/>
                </a:solidFill>
              </a:ln>
            </p:spPr>
          </p:sp>
        </p:grpSp>
        <p:sp>
          <p:nvSpPr>
            <p:cNvPr id="59" name="TextBox 59"/>
            <p:cNvSpPr txBox="1"/>
            <p:nvPr/>
          </p:nvSpPr>
          <p:spPr>
            <a:xfrm>
              <a:off x="776288" y="4693920"/>
              <a:ext cx="372999" cy="176212"/>
            </a:xfrm>
            <a:prstGeom prst="rect">
              <a:avLst/>
            </a:prstGeom>
            <a:noFill/>
            <a:ln>
              <a:noFill/>
            </a:ln>
          </p:spPr>
          <p:txBody>
            <a:bodyPr wrap="none" lIns="0" tIns="0" rIns="0" bIns="0" anchor="t" anchorCtr="0">
              <a:spAutoFit/>
            </a:bodyPr>
            <a:lstStyle/>
            <a:p>
              <a:pPr algn="l"/>
              <a:r>
                <a:rPr lang="zh-CN" sz="900" b="1" dirty="0">
                  <a:solidFill>
                    <a:srgbClr val="C03616"/>
                  </a:solidFill>
                  <a:latin typeface="+mn-lt"/>
                  <a:ea typeface="+mn-ea"/>
                  <a:cs typeface="+mn-cs"/>
                </a:rPr>
                <a:t>里程碑</a:t>
              </a:r>
            </a:p>
          </p:txBody>
        </p:sp>
        <p:sp>
          <p:nvSpPr>
            <p:cNvPr id="60" name="TextBox 60"/>
            <p:cNvSpPr txBox="1"/>
            <p:nvPr/>
          </p:nvSpPr>
          <p:spPr>
            <a:xfrm>
              <a:off x="776288" y="4893707"/>
              <a:ext cx="817245" cy="25003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完成下半年作战计划</a:t>
              </a:r>
              <a:br/>
              <a:r>
                <a:rPr lang="zh-CN" sz="640" dirty="0">
                  <a:solidFill>
                    <a:srgbClr val="523E3A"/>
                  </a:solidFill>
                  <a:latin typeface="+mn-lt"/>
                  <a:ea typeface="+mn-ea"/>
                  <a:cs typeface="+mn-cs"/>
                </a:rPr>
                <a:t>与战役清单发布</a:t>
              </a:r>
            </a:p>
          </p:txBody>
        </p:sp>
      </p:grpSp>
      <p:grpSp>
        <p:nvGrpSpPr>
          <p:cNvPr id="98" name="month-col-2"/>
          <p:cNvGrpSpPr/>
          <p:nvPr/>
        </p:nvGrpSpPr>
        <p:grpSpPr>
          <a:xfrm>
            <a:off x="2200275" y="1238250"/>
            <a:ext cx="1866900" cy="4476750"/>
            <a:chOff x="2200275" y="1238250"/>
            <a:chExt cx="1866900" cy="4476750"/>
          </a:xfrm>
        </p:grpSpPr>
        <p:sp>
          <p:nvSpPr>
            <p:cNvPr id="62" name="Rectangle 62"/>
            <p:cNvSpPr/>
            <p:nvPr/>
          </p:nvSpPr>
          <p:spPr>
            <a:xfrm>
              <a:off x="2200275" y="1238250"/>
              <a:ext cx="1866900" cy="4476750"/>
            </a:xfrm>
            <a:prstGeom prst="roundRect">
              <a:avLst>
                <a:gd name="adj" fmla="val 5102"/>
              </a:avLst>
            </a:prstGeom>
            <a:solidFill>
              <a:srgbClr val="F5F8FD"/>
            </a:solidFill>
            <a:ln w="9525">
              <a:solidFill>
                <a:srgbClr val="C9D6EE"/>
              </a:solidFill>
            </a:ln>
          </p:spPr>
        </p:sp>
        <p:sp>
          <p:nvSpPr>
            <p:cNvPr id="63" name="Rectangle 63"/>
            <p:cNvSpPr/>
            <p:nvPr/>
          </p:nvSpPr>
          <p:spPr>
            <a:xfrm>
              <a:off x="2200275" y="1238250"/>
              <a:ext cx="1866900" cy="590550"/>
            </a:xfrm>
            <a:prstGeom prst="roundRect">
              <a:avLst>
                <a:gd name="adj" fmla="val 16129"/>
              </a:avLst>
            </a:prstGeom>
            <a:solidFill>
              <a:srgbClr val="721E0D"/>
            </a:solidFill>
            <a:ln>
              <a:noFill/>
            </a:ln>
          </p:spPr>
        </p:sp>
        <p:sp>
          <p:nvSpPr>
            <p:cNvPr id="64" name="TextBox 64"/>
            <p:cNvSpPr txBox="1"/>
            <p:nvPr/>
          </p:nvSpPr>
          <p:spPr>
            <a:xfrm>
              <a:off x="2425446" y="1360170"/>
              <a:ext cx="1416558" cy="338138"/>
            </a:xfrm>
            <a:prstGeom prst="rect">
              <a:avLst/>
            </a:prstGeom>
            <a:noFill/>
            <a:ln>
              <a:noFill/>
            </a:ln>
          </p:spPr>
          <p:txBody>
            <a:bodyPr wrap="none" lIns="0" tIns="0" rIns="0" bIns="0" anchor="t" anchorCtr="0">
              <a:spAutoFit/>
            </a:bodyPr>
            <a:lstStyle/>
            <a:p>
              <a:pPr algn="ctr">
                <a:lnSpc>
                  <a:spcPts val="1275"/>
                </a:lnSpc>
              </a:pPr>
              <a:r>
                <a:rPr lang="zh-CN" sz="900" b="1" dirty="0">
                  <a:solidFill>
                    <a:srgbClr val="FFFFFF"/>
                  </a:solidFill>
                  <a:latin typeface="+mn-lt"/>
                  <a:ea typeface="+mn-ea"/>
                  <a:cs typeface="+mn-cs"/>
                </a:rPr>
                <a:t xml:space="preserve">8月：存量增购攻坚月，   </a:t>
              </a:r>
              <a:br/>
              <a:r>
                <a:rPr lang="zh-CN" sz="900" b="1" dirty="0">
                  <a:solidFill>
                    <a:srgbClr val="FFFFFF"/>
                  </a:solidFill>
                  <a:latin typeface="+mn-lt"/>
                  <a:ea typeface="+mn-ea"/>
                  <a:cs typeface="+mn-cs"/>
                </a:rPr>
                <a:t>资源到位</a:t>
              </a:r>
            </a:p>
          </p:txBody>
        </p:sp>
        <p:sp>
          <p:nvSpPr>
            <p:cNvPr id="65" name="Ellipse 65"/>
            <p:cNvSpPr/>
            <p:nvPr/>
          </p:nvSpPr>
          <p:spPr>
            <a:xfrm>
              <a:off x="2266950" y="1952625"/>
              <a:ext cx="171450" cy="171450"/>
            </a:xfrm>
            <a:prstGeom prst="ellipse">
              <a:avLst/>
            </a:prstGeom>
            <a:solidFill>
              <a:srgbClr val="721E0D"/>
            </a:solidFill>
            <a:ln>
              <a:noFill/>
            </a:ln>
          </p:spPr>
        </p:sp>
        <p:sp>
          <p:nvSpPr>
            <p:cNvPr id="66" name="TextBox 66"/>
            <p:cNvSpPr txBox="1"/>
            <p:nvPr/>
          </p:nvSpPr>
          <p:spPr>
            <a:xfrm>
              <a:off x="2320314" y="19947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grpSp>
          <p:nvGrpSpPr>
            <p:cNvPr id="69" name="Group 69"/>
            <p:cNvGrpSpPr/>
            <p:nvPr/>
          </p:nvGrpSpPr>
          <p:grpSpPr>
            <a:xfrm>
              <a:off x="2514600" y="1990725"/>
              <a:ext cx="171450" cy="95250"/>
              <a:chOff x="2514600" y="1990725"/>
              <a:chExt cx="171450" cy="95250"/>
            </a:xfrm>
          </p:grpSpPr>
          <p:sp>
            <p:nvSpPr>
              <p:cNvPr id="67" name="Freeform 67"/>
              <p:cNvSpPr/>
              <p:nvPr/>
            </p:nvSpPr>
            <p:spPr>
              <a:xfrm>
                <a:off x="2514600" y="199072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721E0D"/>
                </a:solidFill>
              </a:ln>
            </p:spPr>
          </p:sp>
          <p:sp>
            <p:nvSpPr>
              <p:cNvPr id="68" name="Freeform 68"/>
              <p:cNvSpPr/>
              <p:nvPr/>
            </p:nvSpPr>
            <p:spPr>
              <a:xfrm>
                <a:off x="2619375" y="1990725"/>
                <a:ext cx="66675" cy="66675"/>
              </a:xfrm>
              <a:custGeom>
                <a:avLst/>
                <a:gdLst/>
                <a:ahLst/>
                <a:cxnLst/>
                <a:rect l="l" t="t" r="r" b="b"/>
                <a:pathLst>
                  <a:path w="66675" h="66675">
                    <a:moveTo>
                      <a:pt x="0" y="0"/>
                    </a:moveTo>
                    <a:lnTo>
                      <a:pt x="66675" y="0"/>
                    </a:lnTo>
                    <a:lnTo>
                      <a:pt x="66675" y="66675"/>
                    </a:lnTo>
                  </a:path>
                </a:pathLst>
              </a:custGeom>
              <a:noFill/>
              <a:ln w="19050">
                <a:solidFill>
                  <a:srgbClr val="721E0D"/>
                </a:solidFill>
              </a:ln>
            </p:spPr>
          </p:sp>
        </p:grpSp>
        <p:sp>
          <p:nvSpPr>
            <p:cNvPr id="70" name="TextBox 70"/>
            <p:cNvSpPr txBox="1"/>
            <p:nvPr/>
          </p:nvSpPr>
          <p:spPr>
            <a:xfrm>
              <a:off x="2786062" y="1966912"/>
              <a:ext cx="615315"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存量客户深挖</a:t>
              </a:r>
            </a:p>
          </p:txBody>
        </p:sp>
        <p:sp>
          <p:nvSpPr>
            <p:cNvPr id="71" name="TextBox 71"/>
            <p:cNvSpPr txBox="1"/>
            <p:nvPr/>
          </p:nvSpPr>
          <p:spPr>
            <a:xfrm>
              <a:off x="2786062" y="2121932"/>
              <a:ext cx="822325" cy="2405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梳理高价值存量客户，</a:t>
              </a:r>
              <a:br/>
              <a:r>
                <a:rPr lang="zh-CN" sz="640" dirty="0">
                  <a:solidFill>
                    <a:srgbClr val="523E3A"/>
                  </a:solidFill>
                  <a:latin typeface="+mn-lt"/>
                  <a:ea typeface="+mn-ea"/>
                  <a:cs typeface="+mn-cs"/>
                </a:rPr>
                <a:t>制定增购与扩量方案。</a:t>
              </a:r>
            </a:p>
          </p:txBody>
        </p:sp>
        <p:sp>
          <p:nvSpPr>
            <p:cNvPr id="72" name="Ellipse 72"/>
            <p:cNvSpPr/>
            <p:nvPr/>
          </p:nvSpPr>
          <p:spPr>
            <a:xfrm>
              <a:off x="2266950" y="2828925"/>
              <a:ext cx="171450" cy="171450"/>
            </a:xfrm>
            <a:prstGeom prst="ellipse">
              <a:avLst/>
            </a:prstGeom>
            <a:solidFill>
              <a:srgbClr val="721E0D"/>
            </a:solidFill>
            <a:ln>
              <a:noFill/>
            </a:ln>
          </p:spPr>
        </p:sp>
        <p:sp>
          <p:nvSpPr>
            <p:cNvPr id="73" name="TextBox 73"/>
            <p:cNvSpPr txBox="1"/>
            <p:nvPr/>
          </p:nvSpPr>
          <p:spPr>
            <a:xfrm>
              <a:off x="2320314" y="28710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grpSp>
          <p:nvGrpSpPr>
            <p:cNvPr id="77" name="Group 77"/>
            <p:cNvGrpSpPr/>
            <p:nvPr/>
          </p:nvGrpSpPr>
          <p:grpSpPr>
            <a:xfrm>
              <a:off x="2524125" y="2828925"/>
              <a:ext cx="152400" cy="171450"/>
              <a:chOff x="2524125" y="2828925"/>
              <a:chExt cx="152400" cy="171450"/>
            </a:xfrm>
          </p:grpSpPr>
          <p:sp>
            <p:nvSpPr>
              <p:cNvPr id="74" name="Freeform 74"/>
              <p:cNvSpPr/>
              <p:nvPr/>
            </p:nvSpPr>
            <p:spPr>
              <a:xfrm>
                <a:off x="2524125" y="2828925"/>
                <a:ext cx="152400" cy="57150"/>
              </a:xfrm>
              <a:custGeom>
                <a:avLst/>
                <a:gdLst/>
                <a:ahLst/>
                <a:cxnLst/>
                <a:rect l="l" t="t" r="r" b="b"/>
                <a:pathLst>
                  <a:path w="152400" h="57150">
                    <a:moveTo>
                      <a:pt x="0" y="28575"/>
                    </a:moveTo>
                    <a:cubicBezTo>
                      <a:pt x="0" y="44357"/>
                      <a:pt x="34116" y="57150"/>
                      <a:pt x="76200" y="57150"/>
                    </a:cubicBezTo>
                    <a:cubicBezTo>
                      <a:pt x="118284" y="57150"/>
                      <a:pt x="152400" y="44357"/>
                      <a:pt x="152400" y="28575"/>
                    </a:cubicBezTo>
                    <a:cubicBezTo>
                      <a:pt x="152400" y="12793"/>
                      <a:pt x="118284" y="0"/>
                      <a:pt x="76200" y="0"/>
                    </a:cubicBezTo>
                    <a:cubicBezTo>
                      <a:pt x="34116" y="0"/>
                      <a:pt x="0" y="12793"/>
                      <a:pt x="0" y="28575"/>
                    </a:cubicBezTo>
                  </a:path>
                </a:pathLst>
              </a:custGeom>
              <a:noFill/>
              <a:ln w="19050">
                <a:solidFill>
                  <a:srgbClr val="721E0D"/>
                </a:solidFill>
              </a:ln>
            </p:spPr>
          </p:sp>
          <p:sp>
            <p:nvSpPr>
              <p:cNvPr id="75" name="Freeform 75"/>
              <p:cNvSpPr/>
              <p:nvPr/>
            </p:nvSpPr>
            <p:spPr>
              <a:xfrm>
                <a:off x="2524125" y="285750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721E0D"/>
                </a:solidFill>
              </a:ln>
            </p:spPr>
          </p:sp>
          <p:sp>
            <p:nvSpPr>
              <p:cNvPr id="76" name="Freeform 76"/>
              <p:cNvSpPr/>
              <p:nvPr/>
            </p:nvSpPr>
            <p:spPr>
              <a:xfrm>
                <a:off x="2524125" y="2914650"/>
                <a:ext cx="152400" cy="85725"/>
              </a:xfrm>
              <a:custGeom>
                <a:avLst/>
                <a:gdLst/>
                <a:ahLst/>
                <a:cxnLst/>
                <a:rect l="l" t="t" r="r" b="b"/>
                <a:pathLst>
                  <a:path w="152400" h="85725">
                    <a:moveTo>
                      <a:pt x="0" y="0"/>
                    </a:moveTo>
                    <a:lnTo>
                      <a:pt x="0" y="57150"/>
                    </a:lnTo>
                    <a:cubicBezTo>
                      <a:pt x="0" y="72932"/>
                      <a:pt x="34116" y="85725"/>
                      <a:pt x="76200" y="85725"/>
                    </a:cubicBezTo>
                    <a:cubicBezTo>
                      <a:pt x="118284" y="85725"/>
                      <a:pt x="152400" y="72932"/>
                      <a:pt x="152400" y="57150"/>
                    </a:cubicBezTo>
                    <a:lnTo>
                      <a:pt x="152400" y="0"/>
                    </a:lnTo>
                  </a:path>
                </a:pathLst>
              </a:custGeom>
              <a:noFill/>
              <a:ln w="19050">
                <a:solidFill>
                  <a:srgbClr val="721E0D"/>
                </a:solidFill>
              </a:ln>
            </p:spPr>
          </p:sp>
        </p:grpSp>
        <p:sp>
          <p:nvSpPr>
            <p:cNvPr id="78" name="TextBox 78"/>
            <p:cNvSpPr txBox="1"/>
            <p:nvPr/>
          </p:nvSpPr>
          <p:spPr>
            <a:xfrm>
              <a:off x="2786062" y="28432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资源与政策到位</a:t>
              </a:r>
            </a:p>
          </p:txBody>
        </p:sp>
        <p:sp>
          <p:nvSpPr>
            <p:cNvPr id="79" name="TextBox 79"/>
            <p:cNvSpPr txBox="1"/>
            <p:nvPr/>
          </p:nvSpPr>
          <p:spPr>
            <a:xfrm>
              <a:off x="2786062" y="2998232"/>
              <a:ext cx="82232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争取预算、产能、政策</a:t>
              </a:r>
              <a:br/>
              <a:r>
                <a:rPr lang="zh-CN" sz="640" dirty="0">
                  <a:solidFill>
                    <a:srgbClr val="523E3A"/>
                  </a:solidFill>
                  <a:latin typeface="+mn-lt"/>
                  <a:ea typeface="+mn-ea"/>
                  <a:cs typeface="+mn-cs"/>
                </a:rPr>
                <a:t>与激励，保障战役</a:t>
              </a:r>
              <a:br/>
              <a:r>
                <a:rPr lang="zh-CN" sz="640" dirty="0">
                  <a:solidFill>
                    <a:srgbClr val="523E3A"/>
                  </a:solidFill>
                  <a:latin typeface="+mn-lt"/>
                  <a:ea typeface="+mn-ea"/>
                  <a:cs typeface="+mn-cs"/>
                </a:rPr>
                <a:t>推进。</a:t>
              </a:r>
            </a:p>
          </p:txBody>
        </p:sp>
        <p:sp>
          <p:nvSpPr>
            <p:cNvPr id="80" name="Ellipse 80"/>
            <p:cNvSpPr/>
            <p:nvPr/>
          </p:nvSpPr>
          <p:spPr>
            <a:xfrm>
              <a:off x="2266950" y="3705225"/>
              <a:ext cx="171450" cy="171450"/>
            </a:xfrm>
            <a:prstGeom prst="ellipse">
              <a:avLst/>
            </a:prstGeom>
            <a:solidFill>
              <a:srgbClr val="721E0D"/>
            </a:solidFill>
            <a:ln>
              <a:noFill/>
            </a:ln>
          </p:spPr>
        </p:sp>
        <p:sp>
          <p:nvSpPr>
            <p:cNvPr id="81" name="TextBox 81"/>
            <p:cNvSpPr txBox="1"/>
            <p:nvPr/>
          </p:nvSpPr>
          <p:spPr>
            <a:xfrm>
              <a:off x="2320314" y="37473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grpSp>
          <p:nvGrpSpPr>
            <p:cNvPr id="88" name="Group 88"/>
            <p:cNvGrpSpPr/>
            <p:nvPr/>
          </p:nvGrpSpPr>
          <p:grpSpPr>
            <a:xfrm>
              <a:off x="2514600" y="3705225"/>
              <a:ext cx="171450" cy="171450"/>
              <a:chOff x="2514600" y="3705225"/>
              <a:chExt cx="171450" cy="171450"/>
            </a:xfrm>
          </p:grpSpPr>
          <p:sp>
            <p:nvSpPr>
              <p:cNvPr id="82" name="Freeform 82"/>
              <p:cNvSpPr/>
              <p:nvPr/>
            </p:nvSpPr>
            <p:spPr>
              <a:xfrm>
                <a:off x="2581275" y="37814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21E0D"/>
                </a:solidFill>
              </a:ln>
            </p:spPr>
          </p:sp>
          <p:sp>
            <p:nvSpPr>
              <p:cNvPr id="83" name="Freeform 83"/>
              <p:cNvSpPr/>
              <p:nvPr/>
            </p:nvSpPr>
            <p:spPr>
              <a:xfrm>
                <a:off x="2562225" y="3848100"/>
                <a:ext cx="76200" cy="28575"/>
              </a:xfrm>
              <a:custGeom>
                <a:avLst/>
                <a:gdLst/>
                <a:ahLst/>
                <a:cxnLst/>
                <a:rect l="l" t="t" r="r" b="b"/>
                <a:pathLst>
                  <a:path w="76200" h="28575">
                    <a:moveTo>
                      <a:pt x="0" y="28575"/>
                    </a:moveTo>
                    <a:lnTo>
                      <a:pt x="0" y="19050"/>
                    </a:lnTo>
                    <a:cubicBezTo>
                      <a:pt x="0" y="8529"/>
                      <a:pt x="8529" y="0"/>
                      <a:pt x="19050" y="0"/>
                    </a:cubicBezTo>
                    <a:lnTo>
                      <a:pt x="57150" y="0"/>
                    </a:lnTo>
                    <a:cubicBezTo>
                      <a:pt x="67671" y="0"/>
                      <a:pt x="76200" y="8529"/>
                      <a:pt x="76200" y="19050"/>
                    </a:cubicBezTo>
                    <a:lnTo>
                      <a:pt x="76200" y="28575"/>
                    </a:lnTo>
                  </a:path>
                </a:pathLst>
              </a:custGeom>
              <a:noFill/>
              <a:ln w="19050">
                <a:solidFill>
                  <a:srgbClr val="721E0D"/>
                </a:solidFill>
              </a:ln>
            </p:spPr>
          </p:sp>
          <p:sp>
            <p:nvSpPr>
              <p:cNvPr id="84" name="Freeform 84"/>
              <p:cNvSpPr/>
              <p:nvPr/>
            </p:nvSpPr>
            <p:spPr>
              <a:xfrm>
                <a:off x="2628900" y="37052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21E0D"/>
                </a:solidFill>
              </a:ln>
            </p:spPr>
          </p:sp>
          <p:sp>
            <p:nvSpPr>
              <p:cNvPr id="85" name="Freeform 85"/>
              <p:cNvSpPr/>
              <p:nvPr/>
            </p:nvSpPr>
            <p:spPr>
              <a:xfrm>
                <a:off x="2647950" y="3771900"/>
                <a:ext cx="38100" cy="28575"/>
              </a:xfrm>
              <a:custGeom>
                <a:avLst/>
                <a:gdLst/>
                <a:ahLst/>
                <a:cxnLst/>
                <a:rect l="l" t="t" r="r" b="b"/>
                <a:pathLst>
                  <a:path w="38100" h="28575">
                    <a:moveTo>
                      <a:pt x="0" y="0"/>
                    </a:moveTo>
                    <a:lnTo>
                      <a:pt x="19050" y="0"/>
                    </a:lnTo>
                    <a:cubicBezTo>
                      <a:pt x="29571" y="0"/>
                      <a:pt x="38100" y="8529"/>
                      <a:pt x="38100" y="19050"/>
                    </a:cubicBezTo>
                    <a:lnTo>
                      <a:pt x="38100" y="28575"/>
                    </a:lnTo>
                  </a:path>
                </a:pathLst>
              </a:custGeom>
              <a:noFill/>
              <a:ln w="19050">
                <a:solidFill>
                  <a:srgbClr val="721E0D"/>
                </a:solidFill>
              </a:ln>
            </p:spPr>
          </p:sp>
          <p:sp>
            <p:nvSpPr>
              <p:cNvPr id="86" name="Freeform 86"/>
              <p:cNvSpPr/>
              <p:nvPr/>
            </p:nvSpPr>
            <p:spPr>
              <a:xfrm>
                <a:off x="2533650" y="37052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721E0D"/>
                </a:solidFill>
              </a:ln>
            </p:spPr>
          </p:sp>
          <p:sp>
            <p:nvSpPr>
              <p:cNvPr id="87" name="Freeform 87"/>
              <p:cNvSpPr/>
              <p:nvPr/>
            </p:nvSpPr>
            <p:spPr>
              <a:xfrm>
                <a:off x="2514600" y="3771900"/>
                <a:ext cx="38100" cy="28575"/>
              </a:xfrm>
              <a:custGeom>
                <a:avLst/>
                <a:gdLst/>
                <a:ahLst/>
                <a:cxnLst/>
                <a:rect l="l" t="t" r="r" b="b"/>
                <a:pathLst>
                  <a:path w="38100" h="28575">
                    <a:moveTo>
                      <a:pt x="0" y="28575"/>
                    </a:moveTo>
                    <a:lnTo>
                      <a:pt x="0" y="19050"/>
                    </a:lnTo>
                    <a:cubicBezTo>
                      <a:pt x="0" y="8529"/>
                      <a:pt x="8529" y="0"/>
                      <a:pt x="19050" y="0"/>
                    </a:cubicBezTo>
                    <a:lnTo>
                      <a:pt x="38100" y="0"/>
                    </a:lnTo>
                  </a:path>
                </a:pathLst>
              </a:custGeom>
              <a:noFill/>
              <a:ln w="19050">
                <a:solidFill>
                  <a:srgbClr val="721E0D"/>
                </a:solidFill>
              </a:ln>
            </p:spPr>
          </p:sp>
        </p:grpSp>
        <p:sp>
          <p:nvSpPr>
            <p:cNvPr id="89" name="TextBox 89"/>
            <p:cNvSpPr txBox="1"/>
            <p:nvPr/>
          </p:nvSpPr>
          <p:spPr>
            <a:xfrm>
              <a:off x="2786062" y="37195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团队动员与协同</a:t>
              </a:r>
            </a:p>
          </p:txBody>
        </p:sp>
        <p:sp>
          <p:nvSpPr>
            <p:cNvPr id="90" name="TextBox 90"/>
            <p:cNvSpPr txBox="1"/>
            <p:nvPr/>
          </p:nvSpPr>
          <p:spPr>
            <a:xfrm>
              <a:off x="2786062" y="3874532"/>
              <a:ext cx="82232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明确分工与协同机制，</a:t>
              </a:r>
              <a:br/>
              <a:r>
                <a:rPr lang="zh-CN" sz="640" dirty="0">
                  <a:solidFill>
                    <a:srgbClr val="523E3A"/>
                  </a:solidFill>
                  <a:latin typeface="+mn-lt"/>
                  <a:ea typeface="+mn-ea"/>
                  <a:cs typeface="+mn-cs"/>
                </a:rPr>
                <a:t>确保资源快速落地与</a:t>
              </a:r>
              <a:br/>
              <a:r>
                <a:rPr lang="zh-CN" sz="640" dirty="0">
                  <a:solidFill>
                    <a:srgbClr val="523E3A"/>
                  </a:solidFill>
                  <a:latin typeface="+mn-lt"/>
                  <a:ea typeface="+mn-ea"/>
                  <a:cs typeface="+mn-cs"/>
                </a:rPr>
                <a:t>协同作战。</a:t>
              </a:r>
            </a:p>
          </p:txBody>
        </p:sp>
        <p:sp>
          <p:nvSpPr>
            <p:cNvPr id="91" name="Rectangle 91"/>
            <p:cNvSpPr/>
            <p:nvPr/>
          </p:nvSpPr>
          <p:spPr>
            <a:xfrm>
              <a:off x="2276475" y="4552950"/>
              <a:ext cx="1714500" cy="1047750"/>
            </a:xfrm>
            <a:prstGeom prst="roundRect">
              <a:avLst>
                <a:gd name="adj" fmla="val 7273"/>
              </a:avLst>
            </a:prstGeom>
            <a:solidFill>
              <a:srgbClr val="FFFFFF"/>
            </a:solidFill>
            <a:ln w="14288">
              <a:solidFill>
                <a:srgbClr val="C03616"/>
              </a:solidFill>
            </a:ln>
          </p:spPr>
        </p:sp>
        <p:sp>
          <p:nvSpPr>
            <p:cNvPr id="92" name="Rectangle 92"/>
            <p:cNvSpPr/>
            <p:nvPr/>
          </p:nvSpPr>
          <p:spPr>
            <a:xfrm>
              <a:off x="2352675" y="4667250"/>
              <a:ext cx="323850" cy="323850"/>
            </a:xfrm>
            <a:prstGeom prst="roundRect">
              <a:avLst>
                <a:gd name="adj" fmla="val 17647"/>
              </a:avLst>
            </a:prstGeom>
            <a:solidFill>
              <a:srgbClr val="C03616"/>
            </a:solidFill>
            <a:ln>
              <a:noFill/>
            </a:ln>
          </p:spPr>
        </p:sp>
        <p:grpSp>
          <p:nvGrpSpPr>
            <p:cNvPr id="95" name="Group 95"/>
            <p:cNvGrpSpPr/>
            <p:nvPr/>
          </p:nvGrpSpPr>
          <p:grpSpPr>
            <a:xfrm>
              <a:off x="2453481" y="4751417"/>
              <a:ext cx="122238" cy="156340"/>
              <a:chOff x="2453481" y="4751417"/>
              <a:chExt cx="122238" cy="156340"/>
            </a:xfrm>
          </p:grpSpPr>
          <p:sp>
            <p:nvSpPr>
              <p:cNvPr id="93" name="Freeform 93"/>
              <p:cNvSpPr/>
              <p:nvPr/>
            </p:nvSpPr>
            <p:spPr>
              <a:xfrm>
                <a:off x="2453481" y="4751417"/>
                <a:ext cx="122238" cy="111860"/>
              </a:xfrm>
              <a:custGeom>
                <a:avLst/>
                <a:gdLst/>
                <a:ahLst/>
                <a:cxnLst/>
                <a:rect l="l" t="t" r="r" b="b"/>
                <a:pathLst>
                  <a:path w="122238" h="111860">
                    <a:moveTo>
                      <a:pt x="0" y="16639"/>
                    </a:moveTo>
                    <a:cubicBezTo>
                      <a:pt x="16975" y="0"/>
                      <a:pt x="44143" y="0"/>
                      <a:pt x="61119" y="16639"/>
                    </a:cubicBezTo>
                    <a:cubicBezTo>
                      <a:pt x="78094" y="33279"/>
                      <a:pt x="105262" y="33279"/>
                      <a:pt x="122238" y="16639"/>
                    </a:cubicBezTo>
                    <a:lnTo>
                      <a:pt x="122238" y="95221"/>
                    </a:lnTo>
                    <a:cubicBezTo>
                      <a:pt x="105262" y="111860"/>
                      <a:pt x="78094" y="111860"/>
                      <a:pt x="61119" y="95221"/>
                    </a:cubicBezTo>
                    <a:cubicBezTo>
                      <a:pt x="44143" y="78581"/>
                      <a:pt x="16975" y="78581"/>
                      <a:pt x="0" y="95221"/>
                    </a:cubicBezTo>
                    <a:lnTo>
                      <a:pt x="0" y="16639"/>
                    </a:lnTo>
                  </a:path>
                </a:pathLst>
              </a:custGeom>
              <a:noFill/>
              <a:ln w="17463">
                <a:solidFill>
                  <a:srgbClr val="FFFFFF"/>
                </a:solidFill>
              </a:ln>
            </p:spPr>
          </p:sp>
          <p:sp>
            <p:nvSpPr>
              <p:cNvPr id="94" name="Freeform 94"/>
              <p:cNvSpPr/>
              <p:nvPr/>
            </p:nvSpPr>
            <p:spPr>
              <a:xfrm>
                <a:off x="2453481" y="4846638"/>
                <a:ext cx="9525" cy="61119"/>
              </a:xfrm>
              <a:custGeom>
                <a:avLst/>
                <a:gdLst/>
                <a:ahLst/>
                <a:cxnLst/>
                <a:rect l="l" t="t" r="r" b="b"/>
                <a:pathLst>
                  <a:path w="9525" h="61119">
                    <a:moveTo>
                      <a:pt x="0" y="61119"/>
                    </a:moveTo>
                    <a:lnTo>
                      <a:pt x="0" y="0"/>
                    </a:lnTo>
                  </a:path>
                </a:pathLst>
              </a:custGeom>
              <a:noFill/>
              <a:ln w="17463">
                <a:solidFill>
                  <a:srgbClr val="FFFFFF"/>
                </a:solidFill>
              </a:ln>
            </p:spPr>
          </p:sp>
        </p:grpSp>
        <p:sp>
          <p:nvSpPr>
            <p:cNvPr id="96" name="TextBox 96"/>
            <p:cNvSpPr txBox="1"/>
            <p:nvPr/>
          </p:nvSpPr>
          <p:spPr>
            <a:xfrm>
              <a:off x="2747962" y="4693920"/>
              <a:ext cx="372999" cy="176212"/>
            </a:xfrm>
            <a:prstGeom prst="rect">
              <a:avLst/>
            </a:prstGeom>
            <a:noFill/>
            <a:ln>
              <a:noFill/>
            </a:ln>
          </p:spPr>
          <p:txBody>
            <a:bodyPr wrap="none" lIns="0" tIns="0" rIns="0" bIns="0" anchor="t" anchorCtr="0">
              <a:spAutoFit/>
            </a:bodyPr>
            <a:lstStyle/>
            <a:p>
              <a:pPr algn="l"/>
              <a:r>
                <a:rPr lang="zh-CN" sz="900" b="1" dirty="0">
                  <a:solidFill>
                    <a:srgbClr val="C03616"/>
                  </a:solidFill>
                  <a:latin typeface="+mn-lt"/>
                  <a:ea typeface="+mn-ea"/>
                  <a:cs typeface="+mn-cs"/>
                </a:rPr>
                <a:t>里程碑</a:t>
              </a:r>
            </a:p>
          </p:txBody>
        </p:sp>
        <p:sp>
          <p:nvSpPr>
            <p:cNvPr id="97" name="TextBox 97"/>
            <p:cNvSpPr txBox="1"/>
            <p:nvPr/>
          </p:nvSpPr>
          <p:spPr>
            <a:xfrm>
              <a:off x="2747962" y="4893707"/>
              <a:ext cx="1199261" cy="25003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资源与政策100%到位，      </a:t>
              </a:r>
              <a:br/>
              <a:r>
                <a:rPr lang="zh-CN" sz="640" dirty="0">
                  <a:solidFill>
                    <a:srgbClr val="523E3A"/>
                  </a:solidFill>
                  <a:latin typeface="+mn-lt"/>
                  <a:ea typeface="+mn-ea"/>
                  <a:cs typeface="+mn-cs"/>
                </a:rPr>
                <a:t>存量增购计划启动</a:t>
              </a:r>
            </a:p>
          </p:txBody>
        </p:sp>
      </p:grpSp>
      <p:grpSp>
        <p:nvGrpSpPr>
          <p:cNvPr id="130" name="month-col-3"/>
          <p:cNvGrpSpPr/>
          <p:nvPr/>
        </p:nvGrpSpPr>
        <p:grpSpPr>
          <a:xfrm>
            <a:off x="4171950" y="1238250"/>
            <a:ext cx="1866900" cy="4476750"/>
            <a:chOff x="4171950" y="1238250"/>
            <a:chExt cx="1866900" cy="4476750"/>
          </a:xfrm>
        </p:grpSpPr>
        <p:sp>
          <p:nvSpPr>
            <p:cNvPr id="99" name="Rectangle 99"/>
            <p:cNvSpPr/>
            <p:nvPr/>
          </p:nvSpPr>
          <p:spPr>
            <a:xfrm>
              <a:off x="4171950" y="1238250"/>
              <a:ext cx="1866900" cy="4476750"/>
            </a:xfrm>
            <a:prstGeom prst="roundRect">
              <a:avLst>
                <a:gd name="adj" fmla="val 5102"/>
              </a:avLst>
            </a:prstGeom>
            <a:solidFill>
              <a:srgbClr val="F5F8FD"/>
            </a:solidFill>
            <a:ln w="9525">
              <a:solidFill>
                <a:srgbClr val="C9D6EE"/>
              </a:solidFill>
            </a:ln>
          </p:spPr>
        </p:sp>
        <p:sp>
          <p:nvSpPr>
            <p:cNvPr id="100" name="Rectangle 100"/>
            <p:cNvSpPr/>
            <p:nvPr/>
          </p:nvSpPr>
          <p:spPr>
            <a:xfrm>
              <a:off x="4171950" y="1238250"/>
              <a:ext cx="1866900" cy="590550"/>
            </a:xfrm>
            <a:prstGeom prst="roundRect">
              <a:avLst>
                <a:gd name="adj" fmla="val 16129"/>
              </a:avLst>
            </a:prstGeom>
            <a:solidFill>
              <a:srgbClr val="721E0D"/>
            </a:solidFill>
            <a:ln>
              <a:noFill/>
            </a:ln>
          </p:spPr>
        </p:sp>
        <p:sp>
          <p:nvSpPr>
            <p:cNvPr id="101" name="TextBox 101"/>
            <p:cNvSpPr txBox="1"/>
            <p:nvPr/>
          </p:nvSpPr>
          <p:spPr>
            <a:xfrm>
              <a:off x="4511421" y="1360170"/>
              <a:ext cx="1187958" cy="338138"/>
            </a:xfrm>
            <a:prstGeom prst="rect">
              <a:avLst/>
            </a:prstGeom>
            <a:noFill/>
            <a:ln>
              <a:noFill/>
            </a:ln>
          </p:spPr>
          <p:txBody>
            <a:bodyPr wrap="none" lIns="0" tIns="0" rIns="0" bIns="0" anchor="t" anchorCtr="0">
              <a:spAutoFit/>
            </a:bodyPr>
            <a:lstStyle/>
            <a:p>
              <a:pPr algn="ctr">
                <a:lnSpc>
                  <a:spcPts val="1275"/>
                </a:lnSpc>
              </a:pPr>
              <a:r>
                <a:rPr lang="zh-CN" sz="900" b="1" dirty="0">
                  <a:solidFill>
                    <a:srgbClr val="FFFFFF"/>
                  </a:solidFill>
                  <a:latin typeface="+mn-lt"/>
                  <a:ea typeface="+mn-ea"/>
                  <a:cs typeface="+mn-cs"/>
                </a:rPr>
                <a:t xml:space="preserve">9月：三季度复盘，   </a:t>
              </a:r>
              <a:br/>
              <a:r>
                <a:rPr lang="zh-CN" sz="900" b="1" dirty="0">
                  <a:solidFill>
                    <a:srgbClr val="FFFFFF"/>
                  </a:solidFill>
                  <a:latin typeface="+mn-lt"/>
                  <a:ea typeface="+mn-ea"/>
                  <a:cs typeface="+mn-cs"/>
                </a:rPr>
                <a:t>能力提升</a:t>
              </a:r>
            </a:p>
          </p:txBody>
        </p:sp>
        <p:sp>
          <p:nvSpPr>
            <p:cNvPr id="102" name="Ellipse 102"/>
            <p:cNvSpPr/>
            <p:nvPr/>
          </p:nvSpPr>
          <p:spPr>
            <a:xfrm>
              <a:off x="4238625" y="1952625"/>
              <a:ext cx="171450" cy="171450"/>
            </a:xfrm>
            <a:prstGeom prst="ellipse">
              <a:avLst/>
            </a:prstGeom>
            <a:solidFill>
              <a:srgbClr val="721E0D"/>
            </a:solidFill>
            <a:ln>
              <a:noFill/>
            </a:ln>
          </p:spPr>
        </p:sp>
        <p:sp>
          <p:nvSpPr>
            <p:cNvPr id="103" name="TextBox 103"/>
            <p:cNvSpPr txBox="1"/>
            <p:nvPr/>
          </p:nvSpPr>
          <p:spPr>
            <a:xfrm>
              <a:off x="4291989" y="19947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grpSp>
          <p:nvGrpSpPr>
            <p:cNvPr id="106" name="Group 106"/>
            <p:cNvGrpSpPr/>
            <p:nvPr/>
          </p:nvGrpSpPr>
          <p:grpSpPr>
            <a:xfrm>
              <a:off x="4483620" y="1954263"/>
              <a:ext cx="172200" cy="172467"/>
              <a:chOff x="4483620" y="1954263"/>
              <a:chExt cx="172200" cy="172467"/>
            </a:xfrm>
          </p:grpSpPr>
          <p:sp>
            <p:nvSpPr>
              <p:cNvPr id="104" name="Freeform 104"/>
              <p:cNvSpPr/>
              <p:nvPr/>
            </p:nvSpPr>
            <p:spPr>
              <a:xfrm>
                <a:off x="4483620" y="1954263"/>
                <a:ext cx="172200" cy="172467"/>
              </a:xfrm>
              <a:custGeom>
                <a:avLst/>
                <a:gdLst/>
                <a:ahLst/>
                <a:cxnLst/>
                <a:rect l="l" t="t" r="r" b="b"/>
                <a:pathLst>
                  <a:path w="172200" h="172467">
                    <a:moveTo>
                      <a:pt x="69330" y="267"/>
                    </a:moveTo>
                    <a:cubicBezTo>
                      <a:pt x="28087" y="9828"/>
                      <a:pt x="0" y="48066"/>
                      <a:pt x="3212" y="90281"/>
                    </a:cubicBezTo>
                    <a:cubicBezTo>
                      <a:pt x="6423" y="132495"/>
                      <a:pt x="39972" y="166044"/>
                      <a:pt x="82187" y="169255"/>
                    </a:cubicBezTo>
                    <a:cubicBezTo>
                      <a:pt x="124401" y="172467"/>
                      <a:pt x="162639" y="144380"/>
                      <a:pt x="172200" y="103137"/>
                    </a:cubicBezTo>
                    <a:cubicBezTo>
                      <a:pt x="172200" y="97877"/>
                      <a:pt x="167936" y="93612"/>
                      <a:pt x="162675" y="93612"/>
                    </a:cubicBezTo>
                    <a:lnTo>
                      <a:pt x="97905" y="93612"/>
                    </a:lnTo>
                    <a:cubicBezTo>
                      <a:pt x="87384" y="93612"/>
                      <a:pt x="78855" y="85083"/>
                      <a:pt x="78855" y="74562"/>
                    </a:cubicBezTo>
                    <a:lnTo>
                      <a:pt x="78855" y="7887"/>
                    </a:lnTo>
                    <a:cubicBezTo>
                      <a:pt x="78616" y="5608"/>
                      <a:pt x="77474" y="3519"/>
                      <a:pt x="75684" y="2087"/>
                    </a:cubicBezTo>
                    <a:cubicBezTo>
                      <a:pt x="73895" y="655"/>
                      <a:pt x="71606" y="0"/>
                      <a:pt x="69330" y="267"/>
                    </a:cubicBezTo>
                  </a:path>
                </a:pathLst>
              </a:custGeom>
              <a:noFill/>
              <a:ln w="19050">
                <a:solidFill>
                  <a:srgbClr val="721E0D"/>
                </a:solidFill>
              </a:ln>
            </p:spPr>
          </p:sp>
          <p:sp>
            <p:nvSpPr>
              <p:cNvPr id="105" name="Freeform 105"/>
              <p:cNvSpPr/>
              <p:nvPr/>
            </p:nvSpPr>
            <p:spPr>
              <a:xfrm>
                <a:off x="4600575" y="1957388"/>
                <a:ext cx="52388" cy="52388"/>
              </a:xfrm>
              <a:custGeom>
                <a:avLst/>
                <a:gdLst/>
                <a:ahLst/>
                <a:cxnLst/>
                <a:rect l="l" t="t" r="r" b="b"/>
                <a:pathLst>
                  <a:path w="52388" h="52388">
                    <a:moveTo>
                      <a:pt x="0" y="0"/>
                    </a:moveTo>
                    <a:cubicBezTo>
                      <a:pt x="24496" y="8625"/>
                      <a:pt x="43762" y="27891"/>
                      <a:pt x="52388" y="52388"/>
                    </a:cubicBezTo>
                    <a:lnTo>
                      <a:pt x="9525" y="52388"/>
                    </a:lnTo>
                    <a:cubicBezTo>
                      <a:pt x="4264" y="52388"/>
                      <a:pt x="0" y="48123"/>
                      <a:pt x="0" y="42862"/>
                    </a:cubicBezTo>
                    <a:lnTo>
                      <a:pt x="0" y="0"/>
                    </a:lnTo>
                  </a:path>
                </a:pathLst>
              </a:custGeom>
              <a:noFill/>
              <a:ln w="19050">
                <a:solidFill>
                  <a:srgbClr val="721E0D"/>
                </a:solidFill>
              </a:ln>
            </p:spPr>
          </p:sp>
        </p:grpSp>
        <p:sp>
          <p:nvSpPr>
            <p:cNvPr id="107" name="TextBox 107"/>
            <p:cNvSpPr txBox="1"/>
            <p:nvPr/>
          </p:nvSpPr>
          <p:spPr>
            <a:xfrm>
              <a:off x="4757738" y="19669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三季度经营复盘</a:t>
              </a:r>
            </a:p>
          </p:txBody>
        </p:sp>
        <p:sp>
          <p:nvSpPr>
            <p:cNvPr id="108" name="TextBox 108"/>
            <p:cNvSpPr txBox="1"/>
            <p:nvPr/>
          </p:nvSpPr>
          <p:spPr>
            <a:xfrm>
              <a:off x="4757738" y="21219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复盘目标达成、战役</a:t>
              </a:r>
              <a:br/>
              <a:r>
                <a:rPr lang="zh-CN" sz="640" dirty="0">
                  <a:solidFill>
                    <a:srgbClr val="523E3A"/>
                  </a:solidFill>
                  <a:latin typeface="+mn-lt"/>
                  <a:ea typeface="+mn-ea"/>
                  <a:cs typeface="+mn-cs"/>
                </a:rPr>
                <a:t>进展与关键问题，</a:t>
              </a:r>
              <a:br/>
              <a:r>
                <a:rPr lang="zh-CN" sz="640" dirty="0">
                  <a:solidFill>
                    <a:srgbClr val="523E3A"/>
                  </a:solidFill>
                  <a:latin typeface="+mn-lt"/>
                  <a:ea typeface="+mn-ea"/>
                  <a:cs typeface="+mn-cs"/>
                </a:rPr>
                <a:t>形成改进清单。</a:t>
              </a:r>
            </a:p>
          </p:txBody>
        </p:sp>
        <p:sp>
          <p:nvSpPr>
            <p:cNvPr id="109" name="Ellipse 109"/>
            <p:cNvSpPr/>
            <p:nvPr/>
          </p:nvSpPr>
          <p:spPr>
            <a:xfrm>
              <a:off x="4238625" y="2828925"/>
              <a:ext cx="171450" cy="171450"/>
            </a:xfrm>
            <a:prstGeom prst="ellipse">
              <a:avLst/>
            </a:prstGeom>
            <a:solidFill>
              <a:srgbClr val="721E0D"/>
            </a:solidFill>
            <a:ln>
              <a:noFill/>
            </a:ln>
          </p:spPr>
        </p:sp>
        <p:sp>
          <p:nvSpPr>
            <p:cNvPr id="110" name="TextBox 110"/>
            <p:cNvSpPr txBox="1"/>
            <p:nvPr/>
          </p:nvSpPr>
          <p:spPr>
            <a:xfrm>
              <a:off x="4291989" y="28710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grpSp>
          <p:nvGrpSpPr>
            <p:cNvPr id="113" name="Group 113"/>
            <p:cNvGrpSpPr/>
            <p:nvPr/>
          </p:nvGrpSpPr>
          <p:grpSpPr>
            <a:xfrm>
              <a:off x="4476750" y="2847975"/>
              <a:ext cx="190500" cy="133350"/>
              <a:chOff x="4476750" y="2847975"/>
              <a:chExt cx="190500" cy="133350"/>
            </a:xfrm>
          </p:grpSpPr>
          <p:sp>
            <p:nvSpPr>
              <p:cNvPr id="111" name="Freeform 111"/>
              <p:cNvSpPr/>
              <p:nvPr/>
            </p:nvSpPr>
            <p:spPr>
              <a:xfrm>
                <a:off x="4476750" y="2847975"/>
                <a:ext cx="190500" cy="95250"/>
              </a:xfrm>
              <a:custGeom>
                <a:avLst/>
                <a:gdLst/>
                <a:ahLst/>
                <a:cxnLst/>
                <a:rect l="l" t="t" r="r" b="b"/>
                <a:pathLst>
                  <a:path w="190500" h="95250">
                    <a:moveTo>
                      <a:pt x="190500" y="38100"/>
                    </a:moveTo>
                    <a:lnTo>
                      <a:pt x="95250" y="0"/>
                    </a:lnTo>
                    <a:lnTo>
                      <a:pt x="0" y="38100"/>
                    </a:lnTo>
                    <a:lnTo>
                      <a:pt x="95250" y="76200"/>
                    </a:lnTo>
                    <a:lnTo>
                      <a:pt x="190500" y="38100"/>
                    </a:lnTo>
                    <a:lnTo>
                      <a:pt x="190500" y="95250"/>
                    </a:lnTo>
                  </a:path>
                </a:pathLst>
              </a:custGeom>
              <a:noFill/>
              <a:ln w="19050">
                <a:solidFill>
                  <a:srgbClr val="721E0D"/>
                </a:solidFill>
              </a:ln>
            </p:spPr>
          </p:sp>
          <p:sp>
            <p:nvSpPr>
              <p:cNvPr id="112" name="Freeform 112"/>
              <p:cNvSpPr/>
              <p:nvPr/>
            </p:nvSpPr>
            <p:spPr>
              <a:xfrm>
                <a:off x="4514850" y="2901315"/>
                <a:ext cx="114300" cy="80010"/>
              </a:xfrm>
              <a:custGeom>
                <a:avLst/>
                <a:gdLst/>
                <a:ahLst/>
                <a:cxnLst/>
                <a:rect l="l" t="t" r="r" b="b"/>
                <a:pathLst>
                  <a:path w="114300" h="80010">
                    <a:moveTo>
                      <a:pt x="0" y="0"/>
                    </a:moveTo>
                    <a:lnTo>
                      <a:pt x="0" y="51435"/>
                    </a:lnTo>
                    <a:cubicBezTo>
                      <a:pt x="0" y="67217"/>
                      <a:pt x="25587" y="80010"/>
                      <a:pt x="57150" y="80010"/>
                    </a:cubicBezTo>
                    <a:cubicBezTo>
                      <a:pt x="88713" y="80010"/>
                      <a:pt x="114300" y="67217"/>
                      <a:pt x="114300" y="51435"/>
                    </a:cubicBezTo>
                    <a:lnTo>
                      <a:pt x="114300" y="0"/>
                    </a:lnTo>
                  </a:path>
                </a:pathLst>
              </a:custGeom>
              <a:noFill/>
              <a:ln w="19050">
                <a:solidFill>
                  <a:srgbClr val="721E0D"/>
                </a:solidFill>
              </a:ln>
            </p:spPr>
          </p:sp>
        </p:grpSp>
        <p:sp>
          <p:nvSpPr>
            <p:cNvPr id="114" name="TextBox 114"/>
            <p:cNvSpPr txBox="1"/>
            <p:nvPr/>
          </p:nvSpPr>
          <p:spPr>
            <a:xfrm>
              <a:off x="4757738" y="28432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能力评估与提升</a:t>
              </a:r>
            </a:p>
          </p:txBody>
        </p:sp>
        <p:sp>
          <p:nvSpPr>
            <p:cNvPr id="115" name="TextBox 115"/>
            <p:cNvSpPr txBox="1"/>
            <p:nvPr/>
          </p:nvSpPr>
          <p:spPr>
            <a:xfrm>
              <a:off x="4757738" y="29982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识别能力短板，开展</a:t>
              </a:r>
              <a:br/>
              <a:r>
                <a:rPr lang="zh-CN" sz="640" dirty="0">
                  <a:solidFill>
                    <a:srgbClr val="523E3A"/>
                  </a:solidFill>
                  <a:latin typeface="+mn-lt"/>
                  <a:ea typeface="+mn-ea"/>
                  <a:cs typeface="+mn-cs"/>
                </a:rPr>
                <a:t>培训与赋能，提升团</a:t>
              </a:r>
              <a:br/>
              <a:r>
                <a:rPr lang="zh-CN" sz="640" dirty="0">
                  <a:solidFill>
                    <a:srgbClr val="523E3A"/>
                  </a:solidFill>
                  <a:latin typeface="+mn-lt"/>
                  <a:ea typeface="+mn-ea"/>
                  <a:cs typeface="+mn-cs"/>
                </a:rPr>
                <a:t>队战斗力。</a:t>
              </a:r>
            </a:p>
          </p:txBody>
        </p:sp>
        <p:sp>
          <p:nvSpPr>
            <p:cNvPr id="116" name="Ellipse 116"/>
            <p:cNvSpPr/>
            <p:nvPr/>
          </p:nvSpPr>
          <p:spPr>
            <a:xfrm>
              <a:off x="4238625" y="3705225"/>
              <a:ext cx="171450" cy="171450"/>
            </a:xfrm>
            <a:prstGeom prst="ellipse">
              <a:avLst/>
            </a:prstGeom>
            <a:solidFill>
              <a:srgbClr val="721E0D"/>
            </a:solidFill>
            <a:ln>
              <a:noFill/>
            </a:ln>
          </p:spPr>
        </p:sp>
        <p:sp>
          <p:nvSpPr>
            <p:cNvPr id="117" name="TextBox 117"/>
            <p:cNvSpPr txBox="1"/>
            <p:nvPr/>
          </p:nvSpPr>
          <p:spPr>
            <a:xfrm>
              <a:off x="4291989" y="37473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grpSp>
          <p:nvGrpSpPr>
            <p:cNvPr id="120" name="Group 120"/>
            <p:cNvGrpSpPr/>
            <p:nvPr/>
          </p:nvGrpSpPr>
          <p:grpSpPr>
            <a:xfrm>
              <a:off x="4482094" y="3701044"/>
              <a:ext cx="179813" cy="179813"/>
              <a:chOff x="4482094" y="3701044"/>
              <a:chExt cx="179813" cy="179813"/>
            </a:xfrm>
          </p:grpSpPr>
          <p:sp>
            <p:nvSpPr>
              <p:cNvPr id="118" name="Freeform 118"/>
              <p:cNvSpPr/>
              <p:nvPr/>
            </p:nvSpPr>
            <p:spPr>
              <a:xfrm>
                <a:off x="4482094" y="3701044"/>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721E0D"/>
                </a:solidFill>
              </a:ln>
            </p:spPr>
          </p:sp>
          <p:sp>
            <p:nvSpPr>
              <p:cNvPr id="119" name="Freeform 119"/>
              <p:cNvSpPr/>
              <p:nvPr/>
            </p:nvSpPr>
            <p:spPr>
              <a:xfrm>
                <a:off x="4543425" y="3762375"/>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721E0D"/>
                </a:solidFill>
              </a:ln>
            </p:spPr>
          </p:sp>
        </p:grpSp>
        <p:sp>
          <p:nvSpPr>
            <p:cNvPr id="121" name="TextBox 121"/>
            <p:cNvSpPr txBox="1"/>
            <p:nvPr/>
          </p:nvSpPr>
          <p:spPr>
            <a:xfrm>
              <a:off x="4757738" y="37195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打法优化与分享</a:t>
              </a:r>
            </a:p>
          </p:txBody>
        </p:sp>
        <p:sp>
          <p:nvSpPr>
            <p:cNvPr id="122" name="TextBox 122"/>
            <p:cNvSpPr txBox="1"/>
            <p:nvPr/>
          </p:nvSpPr>
          <p:spPr>
            <a:xfrm>
              <a:off x="4757738" y="3874532"/>
              <a:ext cx="82232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沉淀有效打法与案例，</a:t>
              </a:r>
              <a:br/>
              <a:r>
                <a:rPr lang="zh-CN" sz="640" dirty="0">
                  <a:solidFill>
                    <a:srgbClr val="523E3A"/>
                  </a:solidFill>
                  <a:latin typeface="+mn-lt"/>
                  <a:ea typeface="+mn-ea"/>
                  <a:cs typeface="+mn-cs"/>
                </a:rPr>
                <a:t>复制推广，提升组织</a:t>
              </a:r>
              <a:br/>
              <a:r>
                <a:rPr lang="zh-CN" sz="640" dirty="0">
                  <a:solidFill>
                    <a:srgbClr val="523E3A"/>
                  </a:solidFill>
                  <a:latin typeface="+mn-lt"/>
                  <a:ea typeface="+mn-ea"/>
                  <a:cs typeface="+mn-cs"/>
                </a:rPr>
                <a:t>作战能力。</a:t>
              </a:r>
            </a:p>
          </p:txBody>
        </p:sp>
        <p:sp>
          <p:nvSpPr>
            <p:cNvPr id="123" name="Rectangle 123"/>
            <p:cNvSpPr/>
            <p:nvPr/>
          </p:nvSpPr>
          <p:spPr>
            <a:xfrm>
              <a:off x="4248150" y="4552950"/>
              <a:ext cx="1714500" cy="1047750"/>
            </a:xfrm>
            <a:prstGeom prst="roundRect">
              <a:avLst>
                <a:gd name="adj" fmla="val 7273"/>
              </a:avLst>
            </a:prstGeom>
            <a:solidFill>
              <a:srgbClr val="FFFFFF"/>
            </a:solidFill>
            <a:ln w="14288">
              <a:solidFill>
                <a:srgbClr val="C03616"/>
              </a:solidFill>
            </a:ln>
          </p:spPr>
        </p:sp>
        <p:sp>
          <p:nvSpPr>
            <p:cNvPr id="124" name="Rectangle 124"/>
            <p:cNvSpPr/>
            <p:nvPr/>
          </p:nvSpPr>
          <p:spPr>
            <a:xfrm>
              <a:off x="4324350" y="4667250"/>
              <a:ext cx="323850" cy="323850"/>
            </a:xfrm>
            <a:prstGeom prst="roundRect">
              <a:avLst>
                <a:gd name="adj" fmla="val 17647"/>
              </a:avLst>
            </a:prstGeom>
            <a:solidFill>
              <a:srgbClr val="C03616"/>
            </a:solidFill>
            <a:ln>
              <a:noFill/>
            </a:ln>
          </p:spPr>
        </p:sp>
        <p:grpSp>
          <p:nvGrpSpPr>
            <p:cNvPr id="127" name="Group 127"/>
            <p:cNvGrpSpPr/>
            <p:nvPr/>
          </p:nvGrpSpPr>
          <p:grpSpPr>
            <a:xfrm>
              <a:off x="4407694" y="4785519"/>
              <a:ext cx="157163" cy="87313"/>
              <a:chOff x="4407694" y="4785519"/>
              <a:chExt cx="157163" cy="87313"/>
            </a:xfrm>
          </p:grpSpPr>
          <p:sp>
            <p:nvSpPr>
              <p:cNvPr id="125" name="Freeform 125"/>
              <p:cNvSpPr/>
              <p:nvPr/>
            </p:nvSpPr>
            <p:spPr>
              <a:xfrm>
                <a:off x="4407694" y="478551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FFFFFF"/>
                </a:solidFill>
              </a:ln>
            </p:spPr>
          </p:sp>
          <p:sp>
            <p:nvSpPr>
              <p:cNvPr id="126" name="Freeform 126"/>
              <p:cNvSpPr/>
              <p:nvPr/>
            </p:nvSpPr>
            <p:spPr>
              <a:xfrm>
                <a:off x="4503738" y="4785519"/>
                <a:ext cx="61119" cy="61119"/>
              </a:xfrm>
              <a:custGeom>
                <a:avLst/>
                <a:gdLst/>
                <a:ahLst/>
                <a:cxnLst/>
                <a:rect l="l" t="t" r="r" b="b"/>
                <a:pathLst>
                  <a:path w="61119" h="61119">
                    <a:moveTo>
                      <a:pt x="0" y="0"/>
                    </a:moveTo>
                    <a:lnTo>
                      <a:pt x="61119" y="0"/>
                    </a:lnTo>
                    <a:lnTo>
                      <a:pt x="61119" y="61119"/>
                    </a:lnTo>
                  </a:path>
                </a:pathLst>
              </a:custGeom>
              <a:noFill/>
              <a:ln w="17463">
                <a:solidFill>
                  <a:srgbClr val="FFFFFF"/>
                </a:solidFill>
              </a:ln>
            </p:spPr>
          </p:sp>
        </p:grpSp>
        <p:sp>
          <p:nvSpPr>
            <p:cNvPr id="128" name="TextBox 128"/>
            <p:cNvSpPr txBox="1"/>
            <p:nvPr/>
          </p:nvSpPr>
          <p:spPr>
            <a:xfrm>
              <a:off x="4719638" y="4693920"/>
              <a:ext cx="372999" cy="176212"/>
            </a:xfrm>
            <a:prstGeom prst="rect">
              <a:avLst/>
            </a:prstGeom>
            <a:noFill/>
            <a:ln>
              <a:noFill/>
            </a:ln>
          </p:spPr>
          <p:txBody>
            <a:bodyPr wrap="none" lIns="0" tIns="0" rIns="0" bIns="0" anchor="t" anchorCtr="0">
              <a:spAutoFit/>
            </a:bodyPr>
            <a:lstStyle/>
            <a:p>
              <a:pPr algn="l"/>
              <a:r>
                <a:rPr lang="zh-CN" sz="900" b="1" dirty="0">
                  <a:solidFill>
                    <a:srgbClr val="C03616"/>
                  </a:solidFill>
                  <a:latin typeface="+mn-lt"/>
                  <a:ea typeface="+mn-ea"/>
                  <a:cs typeface="+mn-cs"/>
                </a:rPr>
                <a:t>里程碑</a:t>
              </a:r>
            </a:p>
          </p:txBody>
        </p:sp>
        <p:sp>
          <p:nvSpPr>
            <p:cNvPr id="129" name="TextBox 129"/>
            <p:cNvSpPr txBox="1"/>
            <p:nvPr/>
          </p:nvSpPr>
          <p:spPr>
            <a:xfrm>
              <a:off x="4719638" y="4893707"/>
              <a:ext cx="817245" cy="373856"/>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产出复盘报告与改进</a:t>
              </a:r>
              <a:br/>
              <a:r>
                <a:rPr lang="zh-CN" sz="640" dirty="0">
                  <a:solidFill>
                    <a:srgbClr val="523E3A"/>
                  </a:solidFill>
                  <a:latin typeface="+mn-lt"/>
                  <a:ea typeface="+mn-ea"/>
                  <a:cs typeface="+mn-cs"/>
                </a:rPr>
                <a:t>清单，完成重点能力</a:t>
              </a:r>
              <a:br/>
              <a:r>
                <a:rPr lang="zh-CN" sz="640" dirty="0">
                  <a:solidFill>
                    <a:srgbClr val="523E3A"/>
                  </a:solidFill>
                  <a:latin typeface="+mn-lt"/>
                  <a:ea typeface="+mn-ea"/>
                  <a:cs typeface="+mn-cs"/>
                </a:rPr>
                <a:t>提升</a:t>
              </a:r>
            </a:p>
          </p:txBody>
        </p:sp>
      </p:grpSp>
      <p:grpSp>
        <p:nvGrpSpPr>
          <p:cNvPr id="163" name="month-col-4"/>
          <p:cNvGrpSpPr/>
          <p:nvPr/>
        </p:nvGrpSpPr>
        <p:grpSpPr>
          <a:xfrm>
            <a:off x="6143625" y="1238250"/>
            <a:ext cx="1866900" cy="4476750"/>
            <a:chOff x="6143625" y="1238250"/>
            <a:chExt cx="1866900" cy="4476750"/>
          </a:xfrm>
        </p:grpSpPr>
        <p:sp>
          <p:nvSpPr>
            <p:cNvPr id="131" name="Rectangle 131"/>
            <p:cNvSpPr/>
            <p:nvPr/>
          </p:nvSpPr>
          <p:spPr>
            <a:xfrm>
              <a:off x="6143625" y="1238250"/>
              <a:ext cx="1866900" cy="4476750"/>
            </a:xfrm>
            <a:prstGeom prst="roundRect">
              <a:avLst>
                <a:gd name="adj" fmla="val 5102"/>
              </a:avLst>
            </a:prstGeom>
            <a:solidFill>
              <a:srgbClr val="F5F8FD"/>
            </a:solidFill>
            <a:ln w="9525">
              <a:solidFill>
                <a:srgbClr val="C9D6EE"/>
              </a:solidFill>
            </a:ln>
          </p:spPr>
        </p:sp>
        <p:sp>
          <p:nvSpPr>
            <p:cNvPr id="132" name="Rectangle 132"/>
            <p:cNvSpPr/>
            <p:nvPr/>
          </p:nvSpPr>
          <p:spPr>
            <a:xfrm>
              <a:off x="6143625" y="1238250"/>
              <a:ext cx="1866900" cy="590550"/>
            </a:xfrm>
            <a:prstGeom prst="roundRect">
              <a:avLst>
                <a:gd name="adj" fmla="val 16129"/>
              </a:avLst>
            </a:prstGeom>
            <a:solidFill>
              <a:srgbClr val="721E0D"/>
            </a:solidFill>
            <a:ln>
              <a:noFill/>
            </a:ln>
          </p:spPr>
        </p:sp>
        <p:sp>
          <p:nvSpPr>
            <p:cNvPr id="133" name="TextBox 133"/>
            <p:cNvSpPr txBox="1"/>
            <p:nvPr/>
          </p:nvSpPr>
          <p:spPr>
            <a:xfrm>
              <a:off x="6507242" y="1360170"/>
              <a:ext cx="1139666" cy="338138"/>
            </a:xfrm>
            <a:prstGeom prst="rect">
              <a:avLst/>
            </a:prstGeom>
            <a:noFill/>
            <a:ln>
              <a:noFill/>
            </a:ln>
          </p:spPr>
          <p:txBody>
            <a:bodyPr wrap="none" lIns="0" tIns="0" rIns="0" bIns="0" anchor="t" anchorCtr="0">
              <a:spAutoFit/>
            </a:bodyPr>
            <a:lstStyle/>
            <a:p>
              <a:pPr algn="ctr">
                <a:lnSpc>
                  <a:spcPts val="1275"/>
                </a:lnSpc>
              </a:pPr>
              <a:r>
                <a:rPr lang="zh-CN" sz="900" b="1" dirty="0">
                  <a:solidFill>
                    <a:srgbClr val="FFFFFF"/>
                  </a:solidFill>
                  <a:latin typeface="+mn-lt"/>
                  <a:ea typeface="+mn-ea"/>
                  <a:cs typeface="+mn-cs"/>
                </a:rPr>
                <a:t xml:space="preserve">10月：新客攻坚，   </a:t>
              </a:r>
              <a:br/>
              <a:r>
                <a:rPr lang="zh-CN" sz="900" b="1" dirty="0">
                  <a:solidFill>
                    <a:srgbClr val="FFFFFF"/>
                  </a:solidFill>
                  <a:latin typeface="+mn-lt"/>
                  <a:ea typeface="+mn-ea"/>
                  <a:cs typeface="+mn-cs"/>
                </a:rPr>
                <a:t>转化提速</a:t>
              </a:r>
            </a:p>
          </p:txBody>
        </p:sp>
        <p:sp>
          <p:nvSpPr>
            <p:cNvPr id="134" name="Ellipse 134"/>
            <p:cNvSpPr/>
            <p:nvPr/>
          </p:nvSpPr>
          <p:spPr>
            <a:xfrm>
              <a:off x="6210300" y="1952625"/>
              <a:ext cx="171450" cy="171450"/>
            </a:xfrm>
            <a:prstGeom prst="ellipse">
              <a:avLst/>
            </a:prstGeom>
            <a:solidFill>
              <a:srgbClr val="721E0D"/>
            </a:solidFill>
            <a:ln>
              <a:noFill/>
            </a:ln>
          </p:spPr>
        </p:sp>
        <p:sp>
          <p:nvSpPr>
            <p:cNvPr id="135" name="TextBox 135"/>
            <p:cNvSpPr txBox="1"/>
            <p:nvPr/>
          </p:nvSpPr>
          <p:spPr>
            <a:xfrm>
              <a:off x="6263664" y="19947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grpSp>
          <p:nvGrpSpPr>
            <p:cNvPr id="139" name="Group 139"/>
            <p:cNvGrpSpPr/>
            <p:nvPr/>
          </p:nvGrpSpPr>
          <p:grpSpPr>
            <a:xfrm>
              <a:off x="6486525" y="1952625"/>
              <a:ext cx="142875" cy="171450"/>
              <a:chOff x="6486525" y="1952625"/>
              <a:chExt cx="142875" cy="171450"/>
            </a:xfrm>
          </p:grpSpPr>
          <p:sp>
            <p:nvSpPr>
              <p:cNvPr id="136" name="Freeform 136"/>
              <p:cNvSpPr/>
              <p:nvPr/>
            </p:nvSpPr>
            <p:spPr>
              <a:xfrm>
                <a:off x="6505575" y="19526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721E0D"/>
                </a:solidFill>
              </a:ln>
            </p:spPr>
          </p:sp>
          <p:sp>
            <p:nvSpPr>
              <p:cNvPr id="137" name="Freeform 137"/>
              <p:cNvSpPr/>
              <p:nvPr/>
            </p:nvSpPr>
            <p:spPr>
              <a:xfrm>
                <a:off x="6486525" y="2066925"/>
                <a:ext cx="76200" cy="57150"/>
              </a:xfrm>
              <a:custGeom>
                <a:avLst/>
                <a:gdLst/>
                <a:ahLst/>
                <a:cxnLst/>
                <a:rect l="l" t="t" r="r" b="b"/>
                <a:pathLst>
                  <a:path w="76200" h="57150">
                    <a:moveTo>
                      <a:pt x="0" y="57150"/>
                    </a:moveTo>
                    <a:lnTo>
                      <a:pt x="0" y="38100"/>
                    </a:lnTo>
                    <a:cubicBezTo>
                      <a:pt x="0" y="17058"/>
                      <a:pt x="17058" y="0"/>
                      <a:pt x="38100" y="0"/>
                    </a:cubicBezTo>
                    <a:lnTo>
                      <a:pt x="76200" y="0"/>
                    </a:lnTo>
                  </a:path>
                </a:pathLst>
              </a:custGeom>
              <a:noFill/>
              <a:ln w="19050">
                <a:solidFill>
                  <a:srgbClr val="721E0D"/>
                </a:solidFill>
              </a:ln>
            </p:spPr>
          </p:sp>
          <p:sp>
            <p:nvSpPr>
              <p:cNvPr id="138" name="Freeform 138"/>
              <p:cNvSpPr/>
              <p:nvPr/>
            </p:nvSpPr>
            <p:spPr>
              <a:xfrm>
                <a:off x="6572250" y="2085975"/>
                <a:ext cx="57150" cy="38100"/>
              </a:xfrm>
              <a:custGeom>
                <a:avLst/>
                <a:gdLst/>
                <a:ahLst/>
                <a:cxnLst/>
                <a:rect l="l" t="t" r="r" b="b"/>
                <a:pathLst>
                  <a:path w="57150" h="38100">
                    <a:moveTo>
                      <a:pt x="0" y="19050"/>
                    </a:moveTo>
                    <a:lnTo>
                      <a:pt x="19050" y="38100"/>
                    </a:lnTo>
                    <a:lnTo>
                      <a:pt x="57150" y="0"/>
                    </a:lnTo>
                  </a:path>
                </a:pathLst>
              </a:custGeom>
              <a:noFill/>
              <a:ln w="19050">
                <a:solidFill>
                  <a:srgbClr val="721E0D"/>
                </a:solidFill>
              </a:ln>
            </p:spPr>
          </p:sp>
        </p:grpSp>
        <p:sp>
          <p:nvSpPr>
            <p:cNvPr id="140" name="TextBox 140"/>
            <p:cNvSpPr txBox="1"/>
            <p:nvPr/>
          </p:nvSpPr>
          <p:spPr>
            <a:xfrm>
              <a:off x="6729412" y="1966912"/>
              <a:ext cx="615315"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新客线索攻坚</a:t>
              </a:r>
            </a:p>
          </p:txBody>
        </p:sp>
        <p:sp>
          <p:nvSpPr>
            <p:cNvPr id="141" name="TextBox 141"/>
            <p:cNvSpPr txBox="1"/>
            <p:nvPr/>
          </p:nvSpPr>
          <p:spPr>
            <a:xfrm>
              <a:off x="6729412" y="21219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加大线索获取与筛选</a:t>
              </a:r>
              <a:br/>
              <a:r>
                <a:rPr lang="zh-CN" sz="640" dirty="0">
                  <a:solidFill>
                    <a:srgbClr val="523E3A"/>
                  </a:solidFill>
                  <a:latin typeface="+mn-lt"/>
                  <a:ea typeface="+mn-ea"/>
                  <a:cs typeface="+mn-cs"/>
                </a:rPr>
                <a:t>力度，聚焦高潜新客</a:t>
              </a:r>
              <a:br/>
              <a:r>
                <a:rPr lang="zh-CN" sz="640" dirty="0">
                  <a:solidFill>
                    <a:srgbClr val="523E3A"/>
                  </a:solidFill>
                  <a:latin typeface="+mn-lt"/>
                  <a:ea typeface="+mn-ea"/>
                  <a:cs typeface="+mn-cs"/>
                </a:rPr>
                <a:t>重点突破。</a:t>
              </a:r>
            </a:p>
          </p:txBody>
        </p:sp>
        <p:sp>
          <p:nvSpPr>
            <p:cNvPr id="142" name="Ellipse 142"/>
            <p:cNvSpPr/>
            <p:nvPr/>
          </p:nvSpPr>
          <p:spPr>
            <a:xfrm>
              <a:off x="6210300" y="2828925"/>
              <a:ext cx="171450" cy="171450"/>
            </a:xfrm>
            <a:prstGeom prst="ellipse">
              <a:avLst/>
            </a:prstGeom>
            <a:solidFill>
              <a:srgbClr val="721E0D"/>
            </a:solidFill>
            <a:ln>
              <a:noFill/>
            </a:ln>
          </p:spPr>
        </p:sp>
        <p:sp>
          <p:nvSpPr>
            <p:cNvPr id="143" name="TextBox 143"/>
            <p:cNvSpPr txBox="1"/>
            <p:nvPr/>
          </p:nvSpPr>
          <p:spPr>
            <a:xfrm>
              <a:off x="6263664" y="28710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sp>
          <p:nvSpPr>
            <p:cNvPr id="144" name="Freeform 144"/>
            <p:cNvSpPr/>
            <p:nvPr/>
          </p:nvSpPr>
          <p:spPr>
            <a:xfrm>
              <a:off x="6467475" y="2838450"/>
              <a:ext cx="152400" cy="161925"/>
            </a:xfrm>
            <a:custGeom>
              <a:avLst/>
              <a:gdLst/>
              <a:ahLst/>
              <a:cxnLst/>
              <a:rect l="l" t="t" r="r" b="b"/>
              <a:pathLst>
                <a:path w="152400" h="161925">
                  <a:moveTo>
                    <a:pt x="0" y="0"/>
                  </a:moveTo>
                  <a:lnTo>
                    <a:pt x="152400" y="0"/>
                  </a:lnTo>
                  <a:lnTo>
                    <a:pt x="152400" y="20688"/>
                  </a:lnTo>
                  <a:cubicBezTo>
                    <a:pt x="152399" y="25740"/>
                    <a:pt x="150391" y="30585"/>
                    <a:pt x="146818" y="34157"/>
                  </a:cubicBezTo>
                  <a:lnTo>
                    <a:pt x="104775" y="76200"/>
                  </a:lnTo>
                  <a:lnTo>
                    <a:pt x="104775" y="142875"/>
                  </a:lnTo>
                  <a:lnTo>
                    <a:pt x="47625" y="161925"/>
                  </a:lnTo>
                  <a:lnTo>
                    <a:pt x="47625" y="80962"/>
                  </a:lnTo>
                  <a:lnTo>
                    <a:pt x="4953" y="34023"/>
                  </a:lnTo>
                  <a:cubicBezTo>
                    <a:pt x="1766" y="30517"/>
                    <a:pt x="1" y="25950"/>
                    <a:pt x="0" y="21212"/>
                  </a:cubicBezTo>
                  <a:lnTo>
                    <a:pt x="0" y="0"/>
                  </a:lnTo>
                </a:path>
              </a:pathLst>
            </a:custGeom>
            <a:noFill/>
            <a:ln w="19050">
              <a:solidFill>
                <a:srgbClr val="721E0D"/>
              </a:solidFill>
            </a:ln>
          </p:spPr>
        </p:sp>
        <p:sp>
          <p:nvSpPr>
            <p:cNvPr id="145" name="TextBox 145"/>
            <p:cNvSpPr txBox="1"/>
            <p:nvPr/>
          </p:nvSpPr>
          <p:spPr>
            <a:xfrm>
              <a:off x="6729412" y="2843212"/>
              <a:ext cx="615315"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转化流程提速</a:t>
              </a:r>
            </a:p>
          </p:txBody>
        </p:sp>
        <p:sp>
          <p:nvSpPr>
            <p:cNvPr id="146" name="TextBox 146"/>
            <p:cNvSpPr txBox="1"/>
            <p:nvPr/>
          </p:nvSpPr>
          <p:spPr>
            <a:xfrm>
              <a:off x="6729412" y="2998232"/>
              <a:ext cx="82232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优化转化流程与跟进</a:t>
              </a:r>
              <a:br/>
              <a:r>
                <a:rPr lang="zh-CN" sz="640" dirty="0">
                  <a:solidFill>
                    <a:srgbClr val="523E3A"/>
                  </a:solidFill>
                  <a:latin typeface="+mn-lt"/>
                  <a:ea typeface="+mn-ea"/>
                  <a:cs typeface="+mn-cs"/>
                </a:rPr>
                <a:t>机制，缩短转化周期，</a:t>
              </a:r>
              <a:br/>
              <a:r>
                <a:rPr lang="zh-CN" sz="640" dirty="0">
                  <a:solidFill>
                    <a:srgbClr val="523E3A"/>
                  </a:solidFill>
                  <a:latin typeface="+mn-lt"/>
                  <a:ea typeface="+mn-ea"/>
                  <a:cs typeface="+mn-cs"/>
                </a:rPr>
                <a:t>提升转化效率。</a:t>
              </a:r>
            </a:p>
          </p:txBody>
        </p:sp>
        <p:sp>
          <p:nvSpPr>
            <p:cNvPr id="147" name="Ellipse 147"/>
            <p:cNvSpPr/>
            <p:nvPr/>
          </p:nvSpPr>
          <p:spPr>
            <a:xfrm>
              <a:off x="6210300" y="3705225"/>
              <a:ext cx="171450" cy="171450"/>
            </a:xfrm>
            <a:prstGeom prst="ellipse">
              <a:avLst/>
            </a:prstGeom>
            <a:solidFill>
              <a:srgbClr val="721E0D"/>
            </a:solidFill>
            <a:ln>
              <a:noFill/>
            </a:ln>
          </p:spPr>
        </p:sp>
        <p:sp>
          <p:nvSpPr>
            <p:cNvPr id="148" name="TextBox 148"/>
            <p:cNvSpPr txBox="1"/>
            <p:nvPr/>
          </p:nvSpPr>
          <p:spPr>
            <a:xfrm>
              <a:off x="6263664" y="37473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grpSp>
          <p:nvGrpSpPr>
            <p:cNvPr id="152" name="Group 152"/>
            <p:cNvGrpSpPr/>
            <p:nvPr/>
          </p:nvGrpSpPr>
          <p:grpSpPr>
            <a:xfrm>
              <a:off x="6467474" y="3710096"/>
              <a:ext cx="157041" cy="161688"/>
              <a:chOff x="6467474" y="3710096"/>
              <a:chExt cx="157041" cy="161688"/>
            </a:xfrm>
          </p:grpSpPr>
          <p:sp>
            <p:nvSpPr>
              <p:cNvPr id="149" name="Freeform 149"/>
              <p:cNvSpPr/>
              <p:nvPr/>
            </p:nvSpPr>
            <p:spPr>
              <a:xfrm>
                <a:off x="6515100" y="3762375"/>
                <a:ext cx="57150" cy="57150"/>
              </a:xfrm>
              <a:custGeom>
                <a:avLst/>
                <a:gdLst/>
                <a:ahLst/>
                <a:cxnLst/>
                <a:rect l="l" t="t" r="r" b="b"/>
                <a:pathLst>
                  <a:path w="57150" h="57150">
                    <a:moveTo>
                      <a:pt x="0" y="57150"/>
                    </a:moveTo>
                    <a:lnTo>
                      <a:pt x="57150" y="0"/>
                    </a:lnTo>
                  </a:path>
                </a:pathLst>
              </a:custGeom>
              <a:noFill/>
              <a:ln w="19050">
                <a:solidFill>
                  <a:srgbClr val="721E0D"/>
                </a:solidFill>
              </a:ln>
            </p:spPr>
          </p:sp>
          <p:sp>
            <p:nvSpPr>
              <p:cNvPr id="150" name="Freeform 150"/>
              <p:cNvSpPr/>
              <p:nvPr/>
            </p:nvSpPr>
            <p:spPr>
              <a:xfrm>
                <a:off x="6534150" y="3710096"/>
                <a:ext cx="90365" cy="90379"/>
              </a:xfrm>
              <a:custGeom>
                <a:avLst/>
                <a:gdLst/>
                <a:ahLst/>
                <a:cxnLst/>
                <a:rect l="l" t="t" r="r" b="b"/>
                <a:pathLst>
                  <a:path w="90365" h="90379">
                    <a:moveTo>
                      <a:pt x="0" y="23704"/>
                    </a:moveTo>
                    <a:lnTo>
                      <a:pt x="4410" y="18599"/>
                    </a:lnTo>
                    <a:cubicBezTo>
                      <a:pt x="23011" y="0"/>
                      <a:pt x="53168" y="2"/>
                      <a:pt x="71766" y="18603"/>
                    </a:cubicBezTo>
                    <a:cubicBezTo>
                      <a:pt x="90365" y="37204"/>
                      <a:pt x="90363" y="67361"/>
                      <a:pt x="71761" y="85959"/>
                    </a:cubicBezTo>
                    <a:lnTo>
                      <a:pt x="66675" y="90379"/>
                    </a:lnTo>
                  </a:path>
                </a:pathLst>
              </a:custGeom>
              <a:noFill/>
              <a:ln w="19050">
                <a:solidFill>
                  <a:srgbClr val="721E0D"/>
                </a:solidFill>
              </a:ln>
            </p:spPr>
          </p:sp>
          <p:sp>
            <p:nvSpPr>
              <p:cNvPr id="151" name="Freeform 151"/>
              <p:cNvSpPr/>
              <p:nvPr/>
            </p:nvSpPr>
            <p:spPr>
              <a:xfrm>
                <a:off x="6467474" y="3781425"/>
                <a:ext cx="85726" cy="90359"/>
              </a:xfrm>
              <a:custGeom>
                <a:avLst/>
                <a:gdLst/>
                <a:ahLst/>
                <a:cxnLst/>
                <a:rect l="l" t="t" r="r" b="b"/>
                <a:pathLst>
                  <a:path w="85726" h="90359">
                    <a:moveTo>
                      <a:pt x="85726" y="66675"/>
                    </a:moveTo>
                    <a:lnTo>
                      <a:pt x="81945" y="71761"/>
                    </a:lnTo>
                    <a:cubicBezTo>
                      <a:pt x="63138" y="90359"/>
                      <a:pt x="32867" y="90359"/>
                      <a:pt x="14060" y="71761"/>
                    </a:cubicBezTo>
                    <a:cubicBezTo>
                      <a:pt x="5063" y="62865"/>
                      <a:pt x="0" y="50738"/>
                      <a:pt x="0" y="38086"/>
                    </a:cubicBezTo>
                    <a:cubicBezTo>
                      <a:pt x="0" y="25433"/>
                      <a:pt x="5063" y="13306"/>
                      <a:pt x="14060" y="4410"/>
                    </a:cubicBezTo>
                    <a:lnTo>
                      <a:pt x="19051" y="0"/>
                    </a:lnTo>
                  </a:path>
                </a:pathLst>
              </a:custGeom>
              <a:noFill/>
              <a:ln w="19050">
                <a:solidFill>
                  <a:srgbClr val="721E0D"/>
                </a:solidFill>
              </a:ln>
            </p:spPr>
          </p:sp>
        </p:grpSp>
        <p:sp>
          <p:nvSpPr>
            <p:cNvPr id="153" name="TextBox 153"/>
            <p:cNvSpPr txBox="1"/>
            <p:nvPr/>
          </p:nvSpPr>
          <p:spPr>
            <a:xfrm>
              <a:off x="6729412" y="3719512"/>
              <a:ext cx="615315"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重点大单突破</a:t>
              </a:r>
            </a:p>
          </p:txBody>
        </p:sp>
        <p:sp>
          <p:nvSpPr>
            <p:cNvPr id="154" name="TextBox 154"/>
            <p:cNvSpPr txBox="1"/>
            <p:nvPr/>
          </p:nvSpPr>
          <p:spPr>
            <a:xfrm>
              <a:off x="6729412" y="3874532"/>
              <a:ext cx="82232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聚焦重点客户与大单，</a:t>
              </a:r>
              <a:br/>
              <a:r>
                <a:rPr lang="zh-CN" sz="640" dirty="0">
                  <a:solidFill>
                    <a:srgbClr val="523E3A"/>
                  </a:solidFill>
                  <a:latin typeface="+mn-lt"/>
                  <a:ea typeface="+mn-ea"/>
                  <a:cs typeface="+mn-cs"/>
                </a:rPr>
                <a:t>高层协同推进，快速</a:t>
              </a:r>
              <a:br/>
              <a:r>
                <a:rPr lang="zh-CN" sz="640" dirty="0">
                  <a:solidFill>
                    <a:srgbClr val="523E3A"/>
                  </a:solidFill>
                  <a:latin typeface="+mn-lt"/>
                  <a:ea typeface="+mn-ea"/>
                  <a:cs typeface="+mn-cs"/>
                </a:rPr>
                <a:t>形成突破。</a:t>
              </a:r>
            </a:p>
          </p:txBody>
        </p:sp>
        <p:sp>
          <p:nvSpPr>
            <p:cNvPr id="155" name="Rectangle 155"/>
            <p:cNvSpPr/>
            <p:nvPr/>
          </p:nvSpPr>
          <p:spPr>
            <a:xfrm>
              <a:off x="6219825" y="4552950"/>
              <a:ext cx="1714500" cy="1047750"/>
            </a:xfrm>
            <a:prstGeom prst="roundRect">
              <a:avLst>
                <a:gd name="adj" fmla="val 7273"/>
              </a:avLst>
            </a:prstGeom>
            <a:solidFill>
              <a:srgbClr val="FFFFFF"/>
            </a:solidFill>
            <a:ln w="14288">
              <a:solidFill>
                <a:srgbClr val="C03616"/>
              </a:solidFill>
            </a:ln>
          </p:spPr>
        </p:sp>
        <p:sp>
          <p:nvSpPr>
            <p:cNvPr id="156" name="Rectangle 156"/>
            <p:cNvSpPr/>
            <p:nvPr/>
          </p:nvSpPr>
          <p:spPr>
            <a:xfrm>
              <a:off x="6296025" y="4667250"/>
              <a:ext cx="323850" cy="323850"/>
            </a:xfrm>
            <a:prstGeom prst="roundRect">
              <a:avLst>
                <a:gd name="adj" fmla="val 17647"/>
              </a:avLst>
            </a:prstGeom>
            <a:solidFill>
              <a:srgbClr val="C03616"/>
            </a:solidFill>
            <a:ln>
              <a:noFill/>
            </a:ln>
          </p:spPr>
        </p:sp>
        <p:grpSp>
          <p:nvGrpSpPr>
            <p:cNvPr id="160" name="Group 160"/>
            <p:cNvGrpSpPr/>
            <p:nvPr/>
          </p:nvGrpSpPr>
          <p:grpSpPr>
            <a:xfrm>
              <a:off x="6379369" y="4750594"/>
              <a:ext cx="157163" cy="157163"/>
              <a:chOff x="6379369" y="4750594"/>
              <a:chExt cx="157163" cy="157163"/>
            </a:xfrm>
          </p:grpSpPr>
          <p:sp>
            <p:nvSpPr>
              <p:cNvPr id="157" name="Freeform 157"/>
              <p:cNvSpPr/>
              <p:nvPr/>
            </p:nvSpPr>
            <p:spPr>
              <a:xfrm>
                <a:off x="6449219" y="482044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158" name="Freeform 158"/>
              <p:cNvSpPr/>
              <p:nvPr/>
            </p:nvSpPr>
            <p:spPr>
              <a:xfrm>
                <a:off x="6414294" y="478551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159" name="Freeform 159"/>
              <p:cNvSpPr/>
              <p:nvPr/>
            </p:nvSpPr>
            <p:spPr>
              <a:xfrm>
                <a:off x="6379369" y="47505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161" name="TextBox 161"/>
            <p:cNvSpPr txBox="1"/>
            <p:nvPr/>
          </p:nvSpPr>
          <p:spPr>
            <a:xfrm>
              <a:off x="6691312" y="4693920"/>
              <a:ext cx="372999" cy="176212"/>
            </a:xfrm>
            <a:prstGeom prst="rect">
              <a:avLst/>
            </a:prstGeom>
            <a:noFill/>
            <a:ln>
              <a:noFill/>
            </a:ln>
          </p:spPr>
          <p:txBody>
            <a:bodyPr wrap="none" lIns="0" tIns="0" rIns="0" bIns="0" anchor="t" anchorCtr="0">
              <a:spAutoFit/>
            </a:bodyPr>
            <a:lstStyle/>
            <a:p>
              <a:pPr algn="l"/>
              <a:r>
                <a:rPr lang="zh-CN" sz="900" b="1" dirty="0">
                  <a:solidFill>
                    <a:srgbClr val="C03616"/>
                  </a:solidFill>
                  <a:latin typeface="+mn-lt"/>
                  <a:ea typeface="+mn-ea"/>
                  <a:cs typeface="+mn-cs"/>
                </a:rPr>
                <a:t>里程碑</a:t>
              </a:r>
            </a:p>
          </p:txBody>
        </p:sp>
        <p:sp>
          <p:nvSpPr>
            <p:cNvPr id="162" name="TextBox 162"/>
            <p:cNvSpPr txBox="1"/>
            <p:nvPr/>
          </p:nvSpPr>
          <p:spPr>
            <a:xfrm>
              <a:off x="6691312" y="4893707"/>
              <a:ext cx="898525" cy="25003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新客转化率提升，重点</a:t>
              </a:r>
              <a:br/>
              <a:r>
                <a:rPr lang="zh-CN" sz="640" dirty="0">
                  <a:solidFill>
                    <a:srgbClr val="523E3A"/>
                  </a:solidFill>
                  <a:latin typeface="+mn-lt"/>
                  <a:ea typeface="+mn-ea"/>
                  <a:cs typeface="+mn-cs"/>
                </a:rPr>
                <a:t>大单实现阶段性突破</a:t>
              </a:r>
            </a:p>
          </p:txBody>
        </p:sp>
      </p:grpSp>
      <p:grpSp>
        <p:nvGrpSpPr>
          <p:cNvPr id="197" name="month-col-5"/>
          <p:cNvGrpSpPr/>
          <p:nvPr/>
        </p:nvGrpSpPr>
        <p:grpSpPr>
          <a:xfrm>
            <a:off x="8115300" y="1238250"/>
            <a:ext cx="1866900" cy="4476750"/>
            <a:chOff x="8115300" y="1238250"/>
            <a:chExt cx="1866900" cy="4476750"/>
          </a:xfrm>
        </p:grpSpPr>
        <p:sp>
          <p:nvSpPr>
            <p:cNvPr id="164" name="Rectangle 164"/>
            <p:cNvSpPr/>
            <p:nvPr/>
          </p:nvSpPr>
          <p:spPr>
            <a:xfrm>
              <a:off x="8115300" y="1238250"/>
              <a:ext cx="1866900" cy="4476750"/>
            </a:xfrm>
            <a:prstGeom prst="roundRect">
              <a:avLst>
                <a:gd name="adj" fmla="val 5102"/>
              </a:avLst>
            </a:prstGeom>
            <a:solidFill>
              <a:srgbClr val="F5F8FD"/>
            </a:solidFill>
            <a:ln w="9525">
              <a:solidFill>
                <a:srgbClr val="C9D6EE"/>
              </a:solidFill>
            </a:ln>
          </p:spPr>
        </p:sp>
        <p:sp>
          <p:nvSpPr>
            <p:cNvPr id="165" name="Rectangle 165"/>
            <p:cNvSpPr/>
            <p:nvPr/>
          </p:nvSpPr>
          <p:spPr>
            <a:xfrm>
              <a:off x="8115300" y="1238250"/>
              <a:ext cx="1866900" cy="590550"/>
            </a:xfrm>
            <a:prstGeom prst="roundRect">
              <a:avLst>
                <a:gd name="adj" fmla="val 16129"/>
              </a:avLst>
            </a:prstGeom>
            <a:solidFill>
              <a:srgbClr val="721E0D"/>
            </a:solidFill>
            <a:ln>
              <a:noFill/>
            </a:ln>
          </p:spPr>
        </p:sp>
        <p:sp>
          <p:nvSpPr>
            <p:cNvPr id="166" name="TextBox 166"/>
            <p:cNvSpPr txBox="1"/>
            <p:nvPr/>
          </p:nvSpPr>
          <p:spPr>
            <a:xfrm>
              <a:off x="8536067" y="1360170"/>
              <a:ext cx="1025366" cy="338138"/>
            </a:xfrm>
            <a:prstGeom prst="rect">
              <a:avLst/>
            </a:prstGeom>
            <a:noFill/>
            <a:ln>
              <a:noFill/>
            </a:ln>
          </p:spPr>
          <p:txBody>
            <a:bodyPr wrap="none" lIns="0" tIns="0" rIns="0" bIns="0" anchor="t" anchorCtr="0">
              <a:spAutoFit/>
            </a:bodyPr>
            <a:lstStyle/>
            <a:p>
              <a:pPr algn="ctr">
                <a:lnSpc>
                  <a:spcPts val="1275"/>
                </a:lnSpc>
              </a:pPr>
              <a:r>
                <a:rPr lang="zh-CN" sz="900" b="1" dirty="0">
                  <a:solidFill>
                    <a:srgbClr val="FFFFFF"/>
                  </a:solidFill>
                  <a:latin typeface="+mn-lt"/>
                  <a:ea typeface="+mn-ea"/>
                  <a:cs typeface="+mn-cs"/>
                </a:rPr>
                <a:t xml:space="preserve">11月：全年签约   </a:t>
              </a:r>
              <a:br/>
              <a:r>
                <a:rPr lang="zh-CN" sz="900" b="1" dirty="0">
                  <a:solidFill>
                    <a:srgbClr val="FFFFFF"/>
                  </a:solidFill>
                  <a:latin typeface="+mn-lt"/>
                  <a:ea typeface="+mn-ea"/>
                  <a:cs typeface="+mn-cs"/>
                </a:rPr>
                <a:t>目标冲刺</a:t>
              </a:r>
            </a:p>
          </p:txBody>
        </p:sp>
        <p:sp>
          <p:nvSpPr>
            <p:cNvPr id="167" name="Ellipse 167"/>
            <p:cNvSpPr/>
            <p:nvPr/>
          </p:nvSpPr>
          <p:spPr>
            <a:xfrm>
              <a:off x="8181975" y="1952625"/>
              <a:ext cx="171450" cy="171450"/>
            </a:xfrm>
            <a:prstGeom prst="ellipse">
              <a:avLst/>
            </a:prstGeom>
            <a:solidFill>
              <a:srgbClr val="721E0D"/>
            </a:solidFill>
            <a:ln>
              <a:noFill/>
            </a:ln>
          </p:spPr>
        </p:sp>
        <p:sp>
          <p:nvSpPr>
            <p:cNvPr id="168" name="TextBox 168"/>
            <p:cNvSpPr txBox="1"/>
            <p:nvPr/>
          </p:nvSpPr>
          <p:spPr>
            <a:xfrm>
              <a:off x="8235339" y="19947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grpSp>
          <p:nvGrpSpPr>
            <p:cNvPr id="172" name="Group 172"/>
            <p:cNvGrpSpPr/>
            <p:nvPr/>
          </p:nvGrpSpPr>
          <p:grpSpPr>
            <a:xfrm>
              <a:off x="8436141" y="1962150"/>
              <a:ext cx="155409" cy="155409"/>
              <a:chOff x="8436141" y="1962150"/>
              <a:chExt cx="155409" cy="155409"/>
            </a:xfrm>
          </p:grpSpPr>
          <p:sp>
            <p:nvSpPr>
              <p:cNvPr id="169" name="Freeform 169"/>
              <p:cNvSpPr/>
              <p:nvPr/>
            </p:nvSpPr>
            <p:spPr>
              <a:xfrm>
                <a:off x="8439150" y="1962150"/>
                <a:ext cx="152400" cy="152400"/>
              </a:xfrm>
              <a:custGeom>
                <a:avLst/>
                <a:gdLst/>
                <a:ahLst/>
                <a:cxnLst/>
                <a:rect l="l" t="t" r="r" b="b"/>
                <a:pathLst>
                  <a:path w="152400" h="152400">
                    <a:moveTo>
                      <a:pt x="0" y="85725"/>
                    </a:moveTo>
                    <a:cubicBezTo>
                      <a:pt x="34959" y="89880"/>
                      <a:pt x="62520" y="117441"/>
                      <a:pt x="66675" y="152400"/>
                    </a:cubicBezTo>
                    <a:cubicBezTo>
                      <a:pt x="83792" y="142532"/>
                      <a:pt x="94598" y="124522"/>
                      <a:pt x="95250" y="104775"/>
                    </a:cubicBezTo>
                    <a:cubicBezTo>
                      <a:pt x="127957" y="93269"/>
                      <a:pt x="150512" y="63195"/>
                      <a:pt x="152400" y="28575"/>
                    </a:cubicBezTo>
                    <a:cubicBezTo>
                      <a:pt x="152400" y="12793"/>
                      <a:pt x="139607" y="0"/>
                      <a:pt x="123825" y="0"/>
                    </a:cubicBezTo>
                    <a:cubicBezTo>
                      <a:pt x="89205" y="1888"/>
                      <a:pt x="59131" y="24443"/>
                      <a:pt x="47625" y="57150"/>
                    </a:cubicBezTo>
                    <a:cubicBezTo>
                      <a:pt x="27878" y="57802"/>
                      <a:pt x="9868" y="68608"/>
                      <a:pt x="0" y="85725"/>
                    </a:cubicBezTo>
                  </a:path>
                </a:pathLst>
              </a:custGeom>
              <a:noFill/>
              <a:ln w="19050">
                <a:solidFill>
                  <a:srgbClr val="721E0D"/>
                </a:solidFill>
              </a:ln>
            </p:spPr>
          </p:sp>
          <p:sp>
            <p:nvSpPr>
              <p:cNvPr id="170" name="Freeform 170"/>
              <p:cNvSpPr/>
              <p:nvPr/>
            </p:nvSpPr>
            <p:spPr>
              <a:xfrm>
                <a:off x="8436141" y="2057400"/>
                <a:ext cx="60159" cy="60159"/>
              </a:xfrm>
              <a:custGeom>
                <a:avLst/>
                <a:gdLst/>
                <a:ahLst/>
                <a:cxnLst/>
                <a:rect l="l" t="t" r="r" b="b"/>
                <a:pathLst>
                  <a:path w="60159" h="60159">
                    <a:moveTo>
                      <a:pt x="31584" y="0"/>
                    </a:moveTo>
                    <a:cubicBezTo>
                      <a:pt x="11304" y="11449"/>
                      <a:pt x="0" y="34057"/>
                      <a:pt x="3009" y="57150"/>
                    </a:cubicBezTo>
                    <a:cubicBezTo>
                      <a:pt x="26101" y="60159"/>
                      <a:pt x="48710" y="48854"/>
                      <a:pt x="60159" y="28575"/>
                    </a:cubicBezTo>
                  </a:path>
                </a:pathLst>
              </a:custGeom>
              <a:noFill/>
              <a:ln w="19050">
                <a:solidFill>
                  <a:srgbClr val="721E0D"/>
                </a:solidFill>
              </a:ln>
            </p:spPr>
          </p:sp>
          <p:sp>
            <p:nvSpPr>
              <p:cNvPr id="171" name="Freeform 171"/>
              <p:cNvSpPr/>
              <p:nvPr/>
            </p:nvSpPr>
            <p:spPr>
              <a:xfrm>
                <a:off x="8534400" y="200025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721E0D"/>
                </a:solidFill>
              </a:ln>
            </p:spPr>
          </p:sp>
        </p:grpSp>
        <p:sp>
          <p:nvSpPr>
            <p:cNvPr id="173" name="TextBox 173"/>
            <p:cNvSpPr txBox="1"/>
            <p:nvPr/>
          </p:nvSpPr>
          <p:spPr>
            <a:xfrm>
              <a:off x="8701088" y="1966912"/>
              <a:ext cx="615315"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签约目标冲刺</a:t>
              </a:r>
            </a:p>
          </p:txBody>
        </p:sp>
        <p:sp>
          <p:nvSpPr>
            <p:cNvPr id="174" name="TextBox 174"/>
            <p:cNvSpPr txBox="1"/>
            <p:nvPr/>
          </p:nvSpPr>
          <p:spPr>
            <a:xfrm>
              <a:off x="8701088" y="21219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聚焦签约转化，全力</a:t>
              </a:r>
              <a:br/>
              <a:r>
                <a:rPr lang="zh-CN" sz="640" dirty="0">
                  <a:solidFill>
                    <a:srgbClr val="523E3A"/>
                  </a:solidFill>
                  <a:latin typeface="+mn-lt"/>
                  <a:ea typeface="+mn-ea"/>
                  <a:cs typeface="+mn-cs"/>
                </a:rPr>
                <a:t>推进关键项目落地，</a:t>
              </a:r>
              <a:br/>
              <a:r>
                <a:rPr lang="zh-CN" sz="640" dirty="0">
                  <a:solidFill>
                    <a:srgbClr val="523E3A"/>
                  </a:solidFill>
                  <a:latin typeface="+mn-lt"/>
                  <a:ea typeface="+mn-ea"/>
                  <a:cs typeface="+mn-cs"/>
                </a:rPr>
                <a:t>冲刺全年目标。</a:t>
              </a:r>
            </a:p>
          </p:txBody>
        </p:sp>
        <p:sp>
          <p:nvSpPr>
            <p:cNvPr id="175" name="Ellipse 175"/>
            <p:cNvSpPr/>
            <p:nvPr/>
          </p:nvSpPr>
          <p:spPr>
            <a:xfrm>
              <a:off x="8181975" y="2828925"/>
              <a:ext cx="171450" cy="171450"/>
            </a:xfrm>
            <a:prstGeom prst="ellipse">
              <a:avLst/>
            </a:prstGeom>
            <a:solidFill>
              <a:srgbClr val="721E0D"/>
            </a:solidFill>
            <a:ln>
              <a:noFill/>
            </a:ln>
          </p:spPr>
        </p:sp>
        <p:sp>
          <p:nvSpPr>
            <p:cNvPr id="176" name="TextBox 176"/>
            <p:cNvSpPr txBox="1"/>
            <p:nvPr/>
          </p:nvSpPr>
          <p:spPr>
            <a:xfrm>
              <a:off x="8235339" y="28710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grpSp>
          <p:nvGrpSpPr>
            <p:cNvPr id="180" name="Group 180"/>
            <p:cNvGrpSpPr/>
            <p:nvPr/>
          </p:nvGrpSpPr>
          <p:grpSpPr>
            <a:xfrm>
              <a:off x="8433454" y="2828925"/>
              <a:ext cx="163773" cy="170402"/>
              <a:chOff x="8433454" y="2828925"/>
              <a:chExt cx="163773" cy="170402"/>
            </a:xfrm>
          </p:grpSpPr>
          <p:sp>
            <p:nvSpPr>
              <p:cNvPr id="177" name="Freeform 177"/>
              <p:cNvSpPr/>
              <p:nvPr/>
            </p:nvSpPr>
            <p:spPr>
              <a:xfrm>
                <a:off x="8458200" y="28289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721E0D"/>
                </a:solidFill>
              </a:ln>
            </p:spPr>
          </p:sp>
          <p:sp>
            <p:nvSpPr>
              <p:cNvPr id="178" name="Freeform 178"/>
              <p:cNvSpPr/>
              <p:nvPr/>
            </p:nvSpPr>
            <p:spPr>
              <a:xfrm>
                <a:off x="8515350" y="291465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721E0D"/>
                </a:solidFill>
              </a:ln>
            </p:spPr>
          </p:sp>
          <p:sp>
            <p:nvSpPr>
              <p:cNvPr id="179" name="Freeform 179"/>
              <p:cNvSpPr/>
              <p:nvPr/>
            </p:nvSpPr>
            <p:spPr>
              <a:xfrm>
                <a:off x="8433454" y="291465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721E0D"/>
                </a:solidFill>
              </a:ln>
            </p:spPr>
          </p:sp>
        </p:grpSp>
        <p:sp>
          <p:nvSpPr>
            <p:cNvPr id="181" name="TextBox 181"/>
            <p:cNvSpPr txBox="1"/>
            <p:nvPr/>
          </p:nvSpPr>
          <p:spPr>
            <a:xfrm>
              <a:off x="8701088" y="2843212"/>
              <a:ext cx="615315"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促签策略加码</a:t>
              </a:r>
            </a:p>
          </p:txBody>
        </p:sp>
        <p:sp>
          <p:nvSpPr>
            <p:cNvPr id="182" name="TextBox 182"/>
            <p:cNvSpPr txBox="1"/>
            <p:nvPr/>
          </p:nvSpPr>
          <p:spPr>
            <a:xfrm>
              <a:off x="8701088" y="2998232"/>
              <a:ext cx="82232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加大政策与激励力度，</a:t>
              </a:r>
              <a:br/>
              <a:r>
                <a:rPr lang="zh-CN" sz="640" dirty="0">
                  <a:solidFill>
                    <a:srgbClr val="523E3A"/>
                  </a:solidFill>
                  <a:latin typeface="+mn-lt"/>
                  <a:ea typeface="+mn-ea"/>
                  <a:cs typeface="+mn-cs"/>
                </a:rPr>
                <a:t>灵活定制方案，促进</a:t>
              </a:r>
              <a:br/>
              <a:r>
                <a:rPr lang="zh-CN" sz="640" dirty="0">
                  <a:solidFill>
                    <a:srgbClr val="523E3A"/>
                  </a:solidFill>
                  <a:latin typeface="+mn-lt"/>
                  <a:ea typeface="+mn-ea"/>
                  <a:cs typeface="+mn-cs"/>
                </a:rPr>
                <a:t>客户决策。</a:t>
              </a:r>
            </a:p>
          </p:txBody>
        </p:sp>
        <p:sp>
          <p:nvSpPr>
            <p:cNvPr id="183" name="Ellipse 183"/>
            <p:cNvSpPr/>
            <p:nvPr/>
          </p:nvSpPr>
          <p:spPr>
            <a:xfrm>
              <a:off x="8181975" y="3705225"/>
              <a:ext cx="171450" cy="171450"/>
            </a:xfrm>
            <a:prstGeom prst="ellipse">
              <a:avLst/>
            </a:prstGeom>
            <a:solidFill>
              <a:srgbClr val="721E0D"/>
            </a:solidFill>
            <a:ln>
              <a:noFill/>
            </a:ln>
          </p:spPr>
        </p:sp>
        <p:sp>
          <p:nvSpPr>
            <p:cNvPr id="184" name="TextBox 184"/>
            <p:cNvSpPr txBox="1"/>
            <p:nvPr/>
          </p:nvSpPr>
          <p:spPr>
            <a:xfrm>
              <a:off x="8235339" y="37473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grpSp>
          <p:nvGrpSpPr>
            <p:cNvPr id="187" name="Group 187"/>
            <p:cNvGrpSpPr/>
            <p:nvPr/>
          </p:nvGrpSpPr>
          <p:grpSpPr>
            <a:xfrm>
              <a:off x="8439150" y="3733800"/>
              <a:ext cx="152400" cy="133350"/>
              <a:chOff x="8439150" y="3733800"/>
              <a:chExt cx="152400" cy="133350"/>
            </a:xfrm>
          </p:grpSpPr>
          <p:sp>
            <p:nvSpPr>
              <p:cNvPr id="185" name="Freeform 185"/>
              <p:cNvSpPr/>
              <p:nvPr/>
            </p:nvSpPr>
            <p:spPr>
              <a:xfrm>
                <a:off x="8439150" y="3857625"/>
                <a:ext cx="152400" cy="9525"/>
              </a:xfrm>
              <a:custGeom>
                <a:avLst/>
                <a:gdLst/>
                <a:ahLst/>
                <a:cxnLst/>
                <a:rect l="l" t="t" r="r" b="b"/>
                <a:pathLst>
                  <a:path w="152400" h="9525">
                    <a:moveTo>
                      <a:pt x="0" y="0"/>
                    </a:moveTo>
                    <a:lnTo>
                      <a:pt x="152400" y="0"/>
                    </a:lnTo>
                  </a:path>
                </a:pathLst>
              </a:custGeom>
              <a:noFill/>
              <a:ln w="19050">
                <a:solidFill>
                  <a:srgbClr val="721E0D"/>
                </a:solidFill>
              </a:ln>
            </p:spPr>
          </p:sp>
          <p:sp>
            <p:nvSpPr>
              <p:cNvPr id="186" name="Freeform 186"/>
              <p:cNvSpPr/>
              <p:nvPr/>
            </p:nvSpPr>
            <p:spPr>
              <a:xfrm>
                <a:off x="8439150" y="373380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721E0D"/>
                </a:solidFill>
              </a:ln>
            </p:spPr>
          </p:sp>
        </p:grpSp>
        <p:sp>
          <p:nvSpPr>
            <p:cNvPr id="188" name="TextBox 188"/>
            <p:cNvSpPr txBox="1"/>
            <p:nvPr/>
          </p:nvSpPr>
          <p:spPr>
            <a:xfrm>
              <a:off x="8701088" y="37195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过程管控与预警</a:t>
              </a:r>
            </a:p>
          </p:txBody>
        </p:sp>
        <p:sp>
          <p:nvSpPr>
            <p:cNvPr id="189" name="TextBox 189"/>
            <p:cNvSpPr txBox="1"/>
            <p:nvPr/>
          </p:nvSpPr>
          <p:spPr>
            <a:xfrm>
              <a:off x="8701088" y="3874532"/>
              <a:ext cx="82232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聚焦重点项目跟踪与</a:t>
              </a:r>
              <a:br/>
              <a:r>
                <a:rPr lang="zh-CN" sz="640" dirty="0">
                  <a:solidFill>
                    <a:srgbClr val="523E3A"/>
                  </a:solidFill>
                  <a:latin typeface="+mn-lt"/>
                  <a:ea typeface="+mn-ea"/>
                  <a:cs typeface="+mn-cs"/>
                </a:rPr>
                <a:t>风险预警，及时纠偏，</a:t>
              </a:r>
              <a:br/>
              <a:r>
                <a:rPr lang="zh-CN" sz="640" dirty="0">
                  <a:solidFill>
                    <a:srgbClr val="523E3A"/>
                  </a:solidFill>
                  <a:latin typeface="+mn-lt"/>
                  <a:ea typeface="+mn-ea"/>
                  <a:cs typeface="+mn-cs"/>
                </a:rPr>
                <a:t>确保目标达成。</a:t>
              </a:r>
            </a:p>
          </p:txBody>
        </p:sp>
        <p:sp>
          <p:nvSpPr>
            <p:cNvPr id="190" name="Rectangle 190"/>
            <p:cNvSpPr/>
            <p:nvPr/>
          </p:nvSpPr>
          <p:spPr>
            <a:xfrm>
              <a:off x="8191500" y="4552950"/>
              <a:ext cx="1714500" cy="1047750"/>
            </a:xfrm>
            <a:prstGeom prst="roundRect">
              <a:avLst>
                <a:gd name="adj" fmla="val 7273"/>
              </a:avLst>
            </a:prstGeom>
            <a:solidFill>
              <a:srgbClr val="FFFFFF"/>
            </a:solidFill>
            <a:ln w="14288">
              <a:solidFill>
                <a:srgbClr val="C03616"/>
              </a:solidFill>
            </a:ln>
          </p:spPr>
        </p:sp>
        <p:sp>
          <p:nvSpPr>
            <p:cNvPr id="191" name="Rectangle 191"/>
            <p:cNvSpPr/>
            <p:nvPr/>
          </p:nvSpPr>
          <p:spPr>
            <a:xfrm>
              <a:off x="8267700" y="4667250"/>
              <a:ext cx="323850" cy="323850"/>
            </a:xfrm>
            <a:prstGeom prst="roundRect">
              <a:avLst>
                <a:gd name="adj" fmla="val 17647"/>
              </a:avLst>
            </a:prstGeom>
            <a:solidFill>
              <a:srgbClr val="C03616"/>
            </a:solidFill>
            <a:ln>
              <a:noFill/>
            </a:ln>
          </p:spPr>
        </p:sp>
        <p:grpSp>
          <p:nvGrpSpPr>
            <p:cNvPr id="194" name="Group 194"/>
            <p:cNvGrpSpPr/>
            <p:nvPr/>
          </p:nvGrpSpPr>
          <p:grpSpPr>
            <a:xfrm>
              <a:off x="8368506" y="4751417"/>
              <a:ext cx="122238" cy="156340"/>
              <a:chOff x="8368506" y="4751417"/>
              <a:chExt cx="122238" cy="156340"/>
            </a:xfrm>
          </p:grpSpPr>
          <p:sp>
            <p:nvSpPr>
              <p:cNvPr id="192" name="Freeform 192"/>
              <p:cNvSpPr/>
              <p:nvPr/>
            </p:nvSpPr>
            <p:spPr>
              <a:xfrm>
                <a:off x="8368506" y="4751417"/>
                <a:ext cx="122238" cy="111860"/>
              </a:xfrm>
              <a:custGeom>
                <a:avLst/>
                <a:gdLst/>
                <a:ahLst/>
                <a:cxnLst/>
                <a:rect l="l" t="t" r="r" b="b"/>
                <a:pathLst>
                  <a:path w="122238" h="111860">
                    <a:moveTo>
                      <a:pt x="0" y="16639"/>
                    </a:moveTo>
                    <a:cubicBezTo>
                      <a:pt x="16975" y="0"/>
                      <a:pt x="44143" y="0"/>
                      <a:pt x="61119" y="16639"/>
                    </a:cubicBezTo>
                    <a:cubicBezTo>
                      <a:pt x="78094" y="33279"/>
                      <a:pt x="105262" y="33279"/>
                      <a:pt x="122238" y="16639"/>
                    </a:cubicBezTo>
                    <a:lnTo>
                      <a:pt x="122238" y="95221"/>
                    </a:lnTo>
                    <a:cubicBezTo>
                      <a:pt x="105262" y="111860"/>
                      <a:pt x="78094" y="111860"/>
                      <a:pt x="61119" y="95221"/>
                    </a:cubicBezTo>
                    <a:cubicBezTo>
                      <a:pt x="44143" y="78581"/>
                      <a:pt x="16975" y="78581"/>
                      <a:pt x="0" y="95221"/>
                    </a:cubicBezTo>
                    <a:lnTo>
                      <a:pt x="0" y="16639"/>
                    </a:lnTo>
                  </a:path>
                </a:pathLst>
              </a:custGeom>
              <a:noFill/>
              <a:ln w="17463">
                <a:solidFill>
                  <a:srgbClr val="FFFFFF"/>
                </a:solidFill>
              </a:ln>
            </p:spPr>
          </p:sp>
          <p:sp>
            <p:nvSpPr>
              <p:cNvPr id="193" name="Freeform 193"/>
              <p:cNvSpPr/>
              <p:nvPr/>
            </p:nvSpPr>
            <p:spPr>
              <a:xfrm>
                <a:off x="8368506" y="4846638"/>
                <a:ext cx="9525" cy="61119"/>
              </a:xfrm>
              <a:custGeom>
                <a:avLst/>
                <a:gdLst/>
                <a:ahLst/>
                <a:cxnLst/>
                <a:rect l="l" t="t" r="r" b="b"/>
                <a:pathLst>
                  <a:path w="9525" h="61119">
                    <a:moveTo>
                      <a:pt x="0" y="61119"/>
                    </a:moveTo>
                    <a:lnTo>
                      <a:pt x="0" y="0"/>
                    </a:lnTo>
                  </a:path>
                </a:pathLst>
              </a:custGeom>
              <a:noFill/>
              <a:ln w="17463">
                <a:solidFill>
                  <a:srgbClr val="FFFFFF"/>
                </a:solidFill>
              </a:ln>
            </p:spPr>
          </p:sp>
        </p:grpSp>
        <p:sp>
          <p:nvSpPr>
            <p:cNvPr id="195" name="TextBox 195"/>
            <p:cNvSpPr txBox="1"/>
            <p:nvPr/>
          </p:nvSpPr>
          <p:spPr>
            <a:xfrm>
              <a:off x="8662988" y="4693920"/>
              <a:ext cx="372999" cy="176212"/>
            </a:xfrm>
            <a:prstGeom prst="rect">
              <a:avLst/>
            </a:prstGeom>
            <a:noFill/>
            <a:ln>
              <a:noFill/>
            </a:ln>
          </p:spPr>
          <p:txBody>
            <a:bodyPr wrap="none" lIns="0" tIns="0" rIns="0" bIns="0" anchor="t" anchorCtr="0">
              <a:spAutoFit/>
            </a:bodyPr>
            <a:lstStyle/>
            <a:p>
              <a:pPr algn="l"/>
              <a:r>
                <a:rPr lang="zh-CN" sz="900" b="1" dirty="0">
                  <a:solidFill>
                    <a:srgbClr val="C03616"/>
                  </a:solidFill>
                  <a:latin typeface="+mn-lt"/>
                  <a:ea typeface="+mn-ea"/>
                  <a:cs typeface="+mn-cs"/>
                </a:rPr>
                <a:t>里程碑</a:t>
              </a:r>
            </a:p>
          </p:txBody>
        </p:sp>
        <p:sp>
          <p:nvSpPr>
            <p:cNvPr id="196" name="TextBox 196"/>
            <p:cNvSpPr txBox="1"/>
            <p:nvPr/>
          </p:nvSpPr>
          <p:spPr>
            <a:xfrm>
              <a:off x="8662988" y="4893707"/>
              <a:ext cx="735965" cy="25003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完成全年签约目标</a:t>
              </a:r>
              <a:br/>
              <a:r>
                <a:rPr lang="zh-CN" sz="640" dirty="0">
                  <a:solidFill>
                    <a:srgbClr val="523E3A"/>
                  </a:solidFill>
                  <a:latin typeface="+mn-lt"/>
                  <a:ea typeface="+mn-ea"/>
                  <a:cs typeface="+mn-cs"/>
                </a:rPr>
                <a:t xml:space="preserve">80%以上   </a:t>
              </a:r>
            </a:p>
          </p:txBody>
        </p:sp>
      </p:grpSp>
      <p:grpSp>
        <p:nvGrpSpPr>
          <p:cNvPr id="238" name="month-col-6"/>
          <p:cNvGrpSpPr/>
          <p:nvPr/>
        </p:nvGrpSpPr>
        <p:grpSpPr>
          <a:xfrm>
            <a:off x="10086975" y="1238250"/>
            <a:ext cx="1866900" cy="4476750"/>
            <a:chOff x="10086975" y="1238250"/>
            <a:chExt cx="1866900" cy="4476750"/>
          </a:xfrm>
        </p:grpSpPr>
        <p:sp>
          <p:nvSpPr>
            <p:cNvPr id="198" name="Rectangle 198"/>
            <p:cNvSpPr/>
            <p:nvPr/>
          </p:nvSpPr>
          <p:spPr>
            <a:xfrm>
              <a:off x="10086975" y="1238250"/>
              <a:ext cx="1866900" cy="4476750"/>
            </a:xfrm>
            <a:prstGeom prst="roundRect">
              <a:avLst>
                <a:gd name="adj" fmla="val 5102"/>
              </a:avLst>
            </a:prstGeom>
            <a:solidFill>
              <a:srgbClr val="F5F8FD"/>
            </a:solidFill>
            <a:ln w="9525">
              <a:solidFill>
                <a:srgbClr val="C9D6EE"/>
              </a:solidFill>
            </a:ln>
          </p:spPr>
        </p:sp>
        <p:sp>
          <p:nvSpPr>
            <p:cNvPr id="199" name="Rectangle 199"/>
            <p:cNvSpPr/>
            <p:nvPr/>
          </p:nvSpPr>
          <p:spPr>
            <a:xfrm>
              <a:off x="10086975" y="1238250"/>
              <a:ext cx="1866900" cy="590550"/>
            </a:xfrm>
            <a:prstGeom prst="roundRect">
              <a:avLst>
                <a:gd name="adj" fmla="val 16129"/>
              </a:avLst>
            </a:prstGeom>
            <a:solidFill>
              <a:srgbClr val="721E0D"/>
            </a:solidFill>
            <a:ln>
              <a:noFill/>
            </a:ln>
          </p:spPr>
        </p:sp>
        <p:sp>
          <p:nvSpPr>
            <p:cNvPr id="200" name="TextBox 200"/>
            <p:cNvSpPr txBox="1"/>
            <p:nvPr/>
          </p:nvSpPr>
          <p:spPr>
            <a:xfrm>
              <a:off x="10450592" y="1360170"/>
              <a:ext cx="1139666" cy="338138"/>
            </a:xfrm>
            <a:prstGeom prst="rect">
              <a:avLst/>
            </a:prstGeom>
            <a:noFill/>
            <a:ln>
              <a:noFill/>
            </a:ln>
          </p:spPr>
          <p:txBody>
            <a:bodyPr wrap="none" lIns="0" tIns="0" rIns="0" bIns="0" anchor="t" anchorCtr="0">
              <a:spAutoFit/>
            </a:bodyPr>
            <a:lstStyle/>
            <a:p>
              <a:pPr algn="ctr">
                <a:lnSpc>
                  <a:spcPts val="1275"/>
                </a:lnSpc>
              </a:pPr>
              <a:r>
                <a:rPr lang="zh-CN" sz="900" b="1" dirty="0">
                  <a:solidFill>
                    <a:srgbClr val="FFFFFF"/>
                  </a:solidFill>
                  <a:latin typeface="+mn-lt"/>
                  <a:ea typeface="+mn-ea"/>
                  <a:cs typeface="+mn-cs"/>
                </a:rPr>
                <a:t xml:space="preserve">12月：复盘兑现，   </a:t>
              </a:r>
              <a:br/>
              <a:r>
                <a:rPr lang="zh-CN" sz="900" b="1" dirty="0">
                  <a:solidFill>
                    <a:srgbClr val="FFFFFF"/>
                  </a:solidFill>
                  <a:latin typeface="+mn-lt"/>
                  <a:ea typeface="+mn-ea"/>
                  <a:cs typeface="+mn-cs"/>
                </a:rPr>
                <a:t>规划闭环</a:t>
              </a:r>
            </a:p>
          </p:txBody>
        </p:sp>
        <p:sp>
          <p:nvSpPr>
            <p:cNvPr id="201" name="Ellipse 201"/>
            <p:cNvSpPr/>
            <p:nvPr/>
          </p:nvSpPr>
          <p:spPr>
            <a:xfrm>
              <a:off x="10153650" y="1952625"/>
              <a:ext cx="171450" cy="171450"/>
            </a:xfrm>
            <a:prstGeom prst="ellipse">
              <a:avLst/>
            </a:prstGeom>
            <a:solidFill>
              <a:srgbClr val="721E0D"/>
            </a:solidFill>
            <a:ln>
              <a:noFill/>
            </a:ln>
          </p:spPr>
        </p:sp>
        <p:sp>
          <p:nvSpPr>
            <p:cNvPr id="202" name="TextBox 202"/>
            <p:cNvSpPr txBox="1"/>
            <p:nvPr/>
          </p:nvSpPr>
          <p:spPr>
            <a:xfrm>
              <a:off x="10207014" y="19947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1</a:t>
              </a:r>
            </a:p>
          </p:txBody>
        </p:sp>
        <p:grpSp>
          <p:nvGrpSpPr>
            <p:cNvPr id="208" name="Group 208"/>
            <p:cNvGrpSpPr/>
            <p:nvPr/>
          </p:nvGrpSpPr>
          <p:grpSpPr>
            <a:xfrm>
              <a:off x="10420350" y="1952625"/>
              <a:ext cx="133350" cy="171450"/>
              <a:chOff x="10420350" y="1952625"/>
              <a:chExt cx="133350" cy="171450"/>
            </a:xfrm>
          </p:grpSpPr>
          <p:sp>
            <p:nvSpPr>
              <p:cNvPr id="203" name="Freeform 203"/>
              <p:cNvSpPr/>
              <p:nvPr/>
            </p:nvSpPr>
            <p:spPr>
              <a:xfrm>
                <a:off x="10506075" y="195262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721E0D"/>
                </a:solidFill>
              </a:ln>
            </p:spPr>
          </p:sp>
          <p:sp>
            <p:nvSpPr>
              <p:cNvPr id="204" name="Freeform 204"/>
              <p:cNvSpPr/>
              <p:nvPr/>
            </p:nvSpPr>
            <p:spPr>
              <a:xfrm>
                <a:off x="10420350" y="195262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721E0D"/>
                </a:solidFill>
              </a:ln>
            </p:spPr>
          </p:sp>
          <p:sp>
            <p:nvSpPr>
              <p:cNvPr id="205" name="Freeform 205"/>
              <p:cNvSpPr/>
              <p:nvPr/>
            </p:nvSpPr>
            <p:spPr>
              <a:xfrm>
                <a:off x="10458450" y="2009775"/>
                <a:ext cx="9525" cy="9525"/>
              </a:xfrm>
              <a:custGeom>
                <a:avLst/>
                <a:gdLst/>
                <a:ahLst/>
                <a:cxnLst/>
                <a:rect l="l" t="t" r="r" b="b"/>
                <a:pathLst>
                  <a:path w="9525" h="9525">
                    <a:moveTo>
                      <a:pt x="0" y="0"/>
                    </a:moveTo>
                    <a:lnTo>
                      <a:pt x="9525" y="0"/>
                    </a:lnTo>
                  </a:path>
                </a:pathLst>
              </a:custGeom>
              <a:noFill/>
              <a:ln w="19050">
                <a:solidFill>
                  <a:srgbClr val="721E0D"/>
                </a:solidFill>
              </a:ln>
            </p:spPr>
          </p:sp>
          <p:sp>
            <p:nvSpPr>
              <p:cNvPr id="206" name="Freeform 206"/>
              <p:cNvSpPr/>
              <p:nvPr/>
            </p:nvSpPr>
            <p:spPr>
              <a:xfrm>
                <a:off x="10458450" y="2047875"/>
                <a:ext cx="57150" cy="9525"/>
              </a:xfrm>
              <a:custGeom>
                <a:avLst/>
                <a:gdLst/>
                <a:ahLst/>
                <a:cxnLst/>
                <a:rect l="l" t="t" r="r" b="b"/>
                <a:pathLst>
                  <a:path w="57150" h="9525">
                    <a:moveTo>
                      <a:pt x="0" y="0"/>
                    </a:moveTo>
                    <a:lnTo>
                      <a:pt x="57150" y="0"/>
                    </a:lnTo>
                  </a:path>
                </a:pathLst>
              </a:custGeom>
              <a:noFill/>
              <a:ln w="19050">
                <a:solidFill>
                  <a:srgbClr val="721E0D"/>
                </a:solidFill>
              </a:ln>
            </p:spPr>
          </p:sp>
          <p:sp>
            <p:nvSpPr>
              <p:cNvPr id="207" name="Freeform 207"/>
              <p:cNvSpPr/>
              <p:nvPr/>
            </p:nvSpPr>
            <p:spPr>
              <a:xfrm>
                <a:off x="10458450" y="2085975"/>
                <a:ext cx="57150" cy="9525"/>
              </a:xfrm>
              <a:custGeom>
                <a:avLst/>
                <a:gdLst/>
                <a:ahLst/>
                <a:cxnLst/>
                <a:rect l="l" t="t" r="r" b="b"/>
                <a:pathLst>
                  <a:path w="57150" h="9525">
                    <a:moveTo>
                      <a:pt x="0" y="0"/>
                    </a:moveTo>
                    <a:lnTo>
                      <a:pt x="57150" y="0"/>
                    </a:lnTo>
                  </a:path>
                </a:pathLst>
              </a:custGeom>
              <a:noFill/>
              <a:ln w="19050">
                <a:solidFill>
                  <a:srgbClr val="721E0D"/>
                </a:solidFill>
              </a:ln>
            </p:spPr>
          </p:sp>
        </p:grpSp>
        <p:sp>
          <p:nvSpPr>
            <p:cNvPr id="209" name="TextBox 209"/>
            <p:cNvSpPr txBox="1"/>
            <p:nvPr/>
          </p:nvSpPr>
          <p:spPr>
            <a:xfrm>
              <a:off x="10672762" y="1966912"/>
              <a:ext cx="615315"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年度复盘归因</a:t>
              </a:r>
            </a:p>
          </p:txBody>
        </p:sp>
        <p:sp>
          <p:nvSpPr>
            <p:cNvPr id="210" name="TextBox 210"/>
            <p:cNvSpPr txBox="1"/>
            <p:nvPr/>
          </p:nvSpPr>
          <p:spPr>
            <a:xfrm>
              <a:off x="10672762" y="21219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复盘全年目标达成与</a:t>
              </a:r>
              <a:br/>
              <a:r>
                <a:rPr lang="zh-CN" sz="640" dirty="0">
                  <a:solidFill>
                    <a:srgbClr val="523E3A"/>
                  </a:solidFill>
                  <a:latin typeface="+mn-lt"/>
                  <a:ea typeface="+mn-ea"/>
                  <a:cs typeface="+mn-cs"/>
                </a:rPr>
                <a:t>战役成效，归因成功</a:t>
              </a:r>
              <a:br/>
              <a:r>
                <a:rPr lang="zh-CN" sz="640" dirty="0">
                  <a:solidFill>
                    <a:srgbClr val="523E3A"/>
                  </a:solidFill>
                  <a:latin typeface="+mn-lt"/>
                  <a:ea typeface="+mn-ea"/>
                  <a:cs typeface="+mn-cs"/>
                </a:rPr>
                <a:t>与不足。</a:t>
              </a:r>
            </a:p>
          </p:txBody>
        </p:sp>
        <p:sp>
          <p:nvSpPr>
            <p:cNvPr id="211" name="Ellipse 211"/>
            <p:cNvSpPr/>
            <p:nvPr/>
          </p:nvSpPr>
          <p:spPr>
            <a:xfrm>
              <a:off x="10153650" y="2828925"/>
              <a:ext cx="171450" cy="171450"/>
            </a:xfrm>
            <a:prstGeom prst="ellipse">
              <a:avLst/>
            </a:prstGeom>
            <a:solidFill>
              <a:srgbClr val="721E0D"/>
            </a:solidFill>
            <a:ln>
              <a:noFill/>
            </a:ln>
          </p:spPr>
        </p:sp>
        <p:sp>
          <p:nvSpPr>
            <p:cNvPr id="212" name="TextBox 212"/>
            <p:cNvSpPr txBox="1"/>
            <p:nvPr/>
          </p:nvSpPr>
          <p:spPr>
            <a:xfrm>
              <a:off x="10207014" y="28710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2</a:t>
              </a:r>
            </a:p>
          </p:txBody>
        </p:sp>
        <p:grpSp>
          <p:nvGrpSpPr>
            <p:cNvPr id="216" name="Group 216"/>
            <p:cNvGrpSpPr/>
            <p:nvPr/>
          </p:nvGrpSpPr>
          <p:grpSpPr>
            <a:xfrm>
              <a:off x="10405129" y="2828925"/>
              <a:ext cx="163773" cy="170402"/>
              <a:chOff x="10405129" y="2828925"/>
              <a:chExt cx="163773" cy="170402"/>
            </a:xfrm>
          </p:grpSpPr>
          <p:sp>
            <p:nvSpPr>
              <p:cNvPr id="213" name="Freeform 213"/>
              <p:cNvSpPr/>
              <p:nvPr/>
            </p:nvSpPr>
            <p:spPr>
              <a:xfrm>
                <a:off x="10429875" y="28289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9050">
                <a:solidFill>
                  <a:srgbClr val="721E0D"/>
                </a:solidFill>
              </a:ln>
            </p:spPr>
          </p:sp>
          <p:sp>
            <p:nvSpPr>
              <p:cNvPr id="214" name="Freeform 214"/>
              <p:cNvSpPr/>
              <p:nvPr/>
            </p:nvSpPr>
            <p:spPr>
              <a:xfrm>
                <a:off x="10487025" y="2914650"/>
                <a:ext cx="81877" cy="84677"/>
              </a:xfrm>
              <a:custGeom>
                <a:avLst/>
                <a:gdLst/>
                <a:ahLst/>
                <a:cxnLst/>
                <a:rect l="l" t="t" r="r" b="b"/>
                <a:pathLst>
                  <a:path w="81877" h="84677">
                    <a:moveTo>
                      <a:pt x="0" y="28575"/>
                    </a:moveTo>
                    <a:lnTo>
                      <a:pt x="32385" y="84677"/>
                    </a:lnTo>
                    <a:lnTo>
                      <a:pt x="47606" y="53883"/>
                    </a:lnTo>
                    <a:lnTo>
                      <a:pt x="81877" y="56093"/>
                    </a:lnTo>
                    <a:lnTo>
                      <a:pt x="49492" y="0"/>
                    </a:lnTo>
                  </a:path>
                </a:pathLst>
              </a:custGeom>
              <a:noFill/>
              <a:ln w="19050">
                <a:solidFill>
                  <a:srgbClr val="721E0D"/>
                </a:solidFill>
              </a:ln>
            </p:spPr>
          </p:sp>
          <p:sp>
            <p:nvSpPr>
              <p:cNvPr id="215" name="Freeform 215"/>
              <p:cNvSpPr/>
              <p:nvPr/>
            </p:nvSpPr>
            <p:spPr>
              <a:xfrm>
                <a:off x="10405129" y="2914650"/>
                <a:ext cx="81877" cy="84668"/>
              </a:xfrm>
              <a:custGeom>
                <a:avLst/>
                <a:gdLst/>
                <a:ahLst/>
                <a:cxnLst/>
                <a:rect l="l" t="t" r="r" b="b"/>
                <a:pathLst>
                  <a:path w="81877" h="84668">
                    <a:moveTo>
                      <a:pt x="32385" y="0"/>
                    </a:moveTo>
                    <a:lnTo>
                      <a:pt x="0" y="56102"/>
                    </a:lnTo>
                    <a:lnTo>
                      <a:pt x="34271" y="53883"/>
                    </a:lnTo>
                    <a:lnTo>
                      <a:pt x="49492" y="84668"/>
                    </a:lnTo>
                    <a:lnTo>
                      <a:pt x="81877" y="28575"/>
                    </a:lnTo>
                  </a:path>
                </a:pathLst>
              </a:custGeom>
              <a:noFill/>
              <a:ln w="19050">
                <a:solidFill>
                  <a:srgbClr val="721E0D"/>
                </a:solidFill>
              </a:ln>
            </p:spPr>
          </p:sp>
        </p:grpSp>
        <p:sp>
          <p:nvSpPr>
            <p:cNvPr id="217" name="TextBox 217"/>
            <p:cNvSpPr txBox="1"/>
            <p:nvPr/>
          </p:nvSpPr>
          <p:spPr>
            <a:xfrm>
              <a:off x="10672762" y="2843212"/>
              <a:ext cx="716280"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兑现激励与表彰</a:t>
              </a:r>
            </a:p>
          </p:txBody>
        </p:sp>
        <p:sp>
          <p:nvSpPr>
            <p:cNvPr id="218" name="TextBox 218"/>
            <p:cNvSpPr txBox="1"/>
            <p:nvPr/>
          </p:nvSpPr>
          <p:spPr>
            <a:xfrm>
              <a:off x="10672762" y="29982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兑现激励政策，表彰</a:t>
              </a:r>
              <a:br/>
              <a:r>
                <a:rPr lang="zh-CN" sz="640" dirty="0">
                  <a:solidFill>
                    <a:srgbClr val="523E3A"/>
                  </a:solidFill>
                  <a:latin typeface="+mn-lt"/>
                  <a:ea typeface="+mn-ea"/>
                  <a:cs typeface="+mn-cs"/>
                </a:rPr>
                <a:t>绩优团队与个人，激</a:t>
              </a:r>
              <a:br/>
              <a:r>
                <a:rPr lang="zh-CN" sz="640" dirty="0">
                  <a:solidFill>
                    <a:srgbClr val="523E3A"/>
                  </a:solidFill>
                  <a:latin typeface="+mn-lt"/>
                  <a:ea typeface="+mn-ea"/>
                  <a:cs typeface="+mn-cs"/>
                </a:rPr>
                <a:t>发组织活力。</a:t>
              </a:r>
            </a:p>
          </p:txBody>
        </p:sp>
        <p:sp>
          <p:nvSpPr>
            <p:cNvPr id="219" name="Ellipse 219"/>
            <p:cNvSpPr/>
            <p:nvPr/>
          </p:nvSpPr>
          <p:spPr>
            <a:xfrm>
              <a:off x="10153650" y="3705225"/>
              <a:ext cx="171450" cy="171450"/>
            </a:xfrm>
            <a:prstGeom prst="ellipse">
              <a:avLst/>
            </a:prstGeom>
            <a:solidFill>
              <a:srgbClr val="721E0D"/>
            </a:solidFill>
            <a:ln>
              <a:noFill/>
            </a:ln>
          </p:spPr>
        </p:sp>
        <p:sp>
          <p:nvSpPr>
            <p:cNvPr id="220" name="TextBox 220"/>
            <p:cNvSpPr txBox="1"/>
            <p:nvPr/>
          </p:nvSpPr>
          <p:spPr>
            <a:xfrm>
              <a:off x="10207014" y="3747373"/>
              <a:ext cx="64723"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3</a:t>
              </a:r>
            </a:p>
          </p:txBody>
        </p:sp>
        <p:grpSp>
          <p:nvGrpSpPr>
            <p:cNvPr id="227" name="Group 227"/>
            <p:cNvGrpSpPr/>
            <p:nvPr/>
          </p:nvGrpSpPr>
          <p:grpSpPr>
            <a:xfrm>
              <a:off x="10410825" y="3705225"/>
              <a:ext cx="152400" cy="171450"/>
              <a:chOff x="10410825" y="3705225"/>
              <a:chExt cx="152400" cy="171450"/>
            </a:xfrm>
          </p:grpSpPr>
          <p:sp>
            <p:nvSpPr>
              <p:cNvPr id="221" name="Freeform 221"/>
              <p:cNvSpPr/>
              <p:nvPr/>
            </p:nvSpPr>
            <p:spPr>
              <a:xfrm>
                <a:off x="10410825" y="3724275"/>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721E0D"/>
                </a:solidFill>
              </a:ln>
            </p:spPr>
          </p:sp>
          <p:sp>
            <p:nvSpPr>
              <p:cNvPr id="222" name="Freeform 222"/>
              <p:cNvSpPr/>
              <p:nvPr/>
            </p:nvSpPr>
            <p:spPr>
              <a:xfrm>
                <a:off x="10525125" y="3705225"/>
                <a:ext cx="9525" cy="38100"/>
              </a:xfrm>
              <a:custGeom>
                <a:avLst/>
                <a:gdLst/>
                <a:ahLst/>
                <a:cxnLst/>
                <a:rect l="l" t="t" r="r" b="b"/>
                <a:pathLst>
                  <a:path w="9525" h="38100">
                    <a:moveTo>
                      <a:pt x="0" y="0"/>
                    </a:moveTo>
                    <a:lnTo>
                      <a:pt x="0" y="38100"/>
                    </a:lnTo>
                  </a:path>
                </a:pathLst>
              </a:custGeom>
              <a:noFill/>
              <a:ln w="19050">
                <a:solidFill>
                  <a:srgbClr val="721E0D"/>
                </a:solidFill>
              </a:ln>
            </p:spPr>
          </p:sp>
          <p:sp>
            <p:nvSpPr>
              <p:cNvPr id="223" name="Freeform 223"/>
              <p:cNvSpPr/>
              <p:nvPr/>
            </p:nvSpPr>
            <p:spPr>
              <a:xfrm>
                <a:off x="10448925" y="3705225"/>
                <a:ext cx="9525" cy="38100"/>
              </a:xfrm>
              <a:custGeom>
                <a:avLst/>
                <a:gdLst/>
                <a:ahLst/>
                <a:cxnLst/>
                <a:rect l="l" t="t" r="r" b="b"/>
                <a:pathLst>
                  <a:path w="9525" h="38100">
                    <a:moveTo>
                      <a:pt x="0" y="0"/>
                    </a:moveTo>
                    <a:lnTo>
                      <a:pt x="0" y="38100"/>
                    </a:lnTo>
                  </a:path>
                </a:pathLst>
              </a:custGeom>
              <a:noFill/>
              <a:ln w="19050">
                <a:solidFill>
                  <a:srgbClr val="721E0D"/>
                </a:solidFill>
              </a:ln>
            </p:spPr>
          </p:sp>
          <p:sp>
            <p:nvSpPr>
              <p:cNvPr id="224" name="Freeform 224"/>
              <p:cNvSpPr/>
              <p:nvPr/>
            </p:nvSpPr>
            <p:spPr>
              <a:xfrm>
                <a:off x="10410825" y="3781425"/>
                <a:ext cx="152400" cy="9525"/>
              </a:xfrm>
              <a:custGeom>
                <a:avLst/>
                <a:gdLst/>
                <a:ahLst/>
                <a:cxnLst/>
                <a:rect l="l" t="t" r="r" b="b"/>
                <a:pathLst>
                  <a:path w="152400" h="9525">
                    <a:moveTo>
                      <a:pt x="0" y="0"/>
                    </a:moveTo>
                    <a:lnTo>
                      <a:pt x="152400" y="0"/>
                    </a:lnTo>
                  </a:path>
                </a:pathLst>
              </a:custGeom>
              <a:noFill/>
              <a:ln w="19050">
                <a:solidFill>
                  <a:srgbClr val="721E0D"/>
                </a:solidFill>
              </a:ln>
            </p:spPr>
          </p:sp>
          <p:sp>
            <p:nvSpPr>
              <p:cNvPr id="225" name="Freeform 225"/>
              <p:cNvSpPr/>
              <p:nvPr/>
            </p:nvSpPr>
            <p:spPr>
              <a:xfrm>
                <a:off x="10477500" y="3819525"/>
                <a:ext cx="9525" cy="9525"/>
              </a:xfrm>
              <a:custGeom>
                <a:avLst/>
                <a:gdLst/>
                <a:ahLst/>
                <a:cxnLst/>
                <a:rect l="l" t="t" r="r" b="b"/>
                <a:pathLst>
                  <a:path w="9525" h="9525">
                    <a:moveTo>
                      <a:pt x="0" y="0"/>
                    </a:moveTo>
                    <a:lnTo>
                      <a:pt x="9525" y="0"/>
                    </a:lnTo>
                  </a:path>
                </a:pathLst>
              </a:custGeom>
              <a:noFill/>
              <a:ln w="19050">
                <a:solidFill>
                  <a:srgbClr val="721E0D"/>
                </a:solidFill>
              </a:ln>
            </p:spPr>
          </p:sp>
          <p:sp>
            <p:nvSpPr>
              <p:cNvPr id="226" name="Freeform 226"/>
              <p:cNvSpPr/>
              <p:nvPr/>
            </p:nvSpPr>
            <p:spPr>
              <a:xfrm>
                <a:off x="10487025" y="3819525"/>
                <a:ext cx="9525" cy="28575"/>
              </a:xfrm>
              <a:custGeom>
                <a:avLst/>
                <a:gdLst/>
                <a:ahLst/>
                <a:cxnLst/>
                <a:rect l="l" t="t" r="r" b="b"/>
                <a:pathLst>
                  <a:path w="9525" h="28575">
                    <a:moveTo>
                      <a:pt x="0" y="0"/>
                    </a:moveTo>
                    <a:lnTo>
                      <a:pt x="0" y="28575"/>
                    </a:lnTo>
                  </a:path>
                </a:pathLst>
              </a:custGeom>
              <a:noFill/>
              <a:ln w="19050">
                <a:solidFill>
                  <a:srgbClr val="721E0D"/>
                </a:solidFill>
              </a:ln>
            </p:spPr>
          </p:sp>
        </p:grpSp>
        <p:sp>
          <p:nvSpPr>
            <p:cNvPr id="228" name="TextBox 228"/>
            <p:cNvSpPr txBox="1"/>
            <p:nvPr/>
          </p:nvSpPr>
          <p:spPr>
            <a:xfrm>
              <a:off x="10672762" y="3719512"/>
              <a:ext cx="615315" cy="147638"/>
            </a:xfrm>
            <a:prstGeom prst="rect">
              <a:avLst/>
            </a:prstGeom>
            <a:noFill/>
            <a:ln>
              <a:noFill/>
            </a:ln>
          </p:spPr>
          <p:txBody>
            <a:bodyPr wrap="none" lIns="0" tIns="0" rIns="0" bIns="0" anchor="t" anchorCtr="0">
              <a:spAutoFit/>
            </a:bodyPr>
            <a:lstStyle/>
            <a:p>
              <a:pPr algn="l"/>
              <a:r>
                <a:rPr lang="zh-CN" sz="750" b="1" dirty="0">
                  <a:solidFill>
                    <a:srgbClr val="461910"/>
                  </a:solidFill>
                  <a:latin typeface="+mn-lt"/>
                  <a:ea typeface="+mn-ea"/>
                  <a:cs typeface="+mn-cs"/>
                </a:rPr>
                <a:t>来年规划闭环</a:t>
              </a:r>
            </a:p>
          </p:txBody>
        </p:sp>
        <p:sp>
          <p:nvSpPr>
            <p:cNvPr id="229" name="TextBox 229"/>
            <p:cNvSpPr txBox="1"/>
            <p:nvPr/>
          </p:nvSpPr>
          <p:spPr>
            <a:xfrm>
              <a:off x="10672762" y="3874532"/>
              <a:ext cx="741045" cy="354806"/>
            </a:xfrm>
            <a:prstGeom prst="rect">
              <a:avLst/>
            </a:prstGeom>
            <a:noFill/>
            <a:ln>
              <a:noFill/>
            </a:ln>
          </p:spPr>
          <p:txBody>
            <a:bodyPr wrap="none" lIns="0" tIns="0" rIns="0" bIns="0" anchor="t" anchorCtr="0">
              <a:spAutoFit/>
            </a:bodyPr>
            <a:lstStyle/>
            <a:p>
              <a:pPr algn="l">
                <a:lnSpc>
                  <a:spcPts val="900"/>
                </a:lnSpc>
              </a:pPr>
              <a:r>
                <a:rPr lang="zh-CN" sz="640" dirty="0">
                  <a:solidFill>
                    <a:srgbClr val="523E3A"/>
                  </a:solidFill>
                  <a:latin typeface="+mn-lt"/>
                  <a:ea typeface="+mn-ea"/>
                  <a:cs typeface="+mn-cs"/>
                </a:rPr>
                <a:t>制定下年度策略与战</a:t>
              </a:r>
              <a:br/>
              <a:r>
                <a:rPr lang="zh-CN" sz="640" dirty="0">
                  <a:solidFill>
                    <a:srgbClr val="523E3A"/>
                  </a:solidFill>
                  <a:latin typeface="+mn-lt"/>
                  <a:ea typeface="+mn-ea"/>
                  <a:cs typeface="+mn-cs"/>
                </a:rPr>
                <a:t>役规划，明确目标与</a:t>
              </a:r>
              <a:br/>
              <a:r>
                <a:rPr lang="zh-CN" sz="640" dirty="0">
                  <a:solidFill>
                    <a:srgbClr val="523E3A"/>
                  </a:solidFill>
                  <a:latin typeface="+mn-lt"/>
                  <a:ea typeface="+mn-ea"/>
                  <a:cs typeface="+mn-cs"/>
                </a:rPr>
                <a:t>重点，形成闭环。</a:t>
              </a:r>
            </a:p>
          </p:txBody>
        </p:sp>
        <p:sp>
          <p:nvSpPr>
            <p:cNvPr id="230" name="Rectangle 230"/>
            <p:cNvSpPr/>
            <p:nvPr/>
          </p:nvSpPr>
          <p:spPr>
            <a:xfrm>
              <a:off x="10163175" y="4552950"/>
              <a:ext cx="1714500" cy="1047750"/>
            </a:xfrm>
            <a:prstGeom prst="roundRect">
              <a:avLst>
                <a:gd name="adj" fmla="val 7273"/>
              </a:avLst>
            </a:prstGeom>
            <a:solidFill>
              <a:srgbClr val="FFFFFF"/>
            </a:solidFill>
            <a:ln w="14288">
              <a:solidFill>
                <a:srgbClr val="C03616"/>
              </a:solidFill>
            </a:ln>
          </p:spPr>
        </p:sp>
        <p:sp>
          <p:nvSpPr>
            <p:cNvPr id="231" name="Rectangle 231"/>
            <p:cNvSpPr/>
            <p:nvPr/>
          </p:nvSpPr>
          <p:spPr>
            <a:xfrm>
              <a:off x="10239375" y="4667250"/>
              <a:ext cx="323850" cy="323850"/>
            </a:xfrm>
            <a:prstGeom prst="roundRect">
              <a:avLst>
                <a:gd name="adj" fmla="val 17647"/>
              </a:avLst>
            </a:prstGeom>
            <a:solidFill>
              <a:srgbClr val="C03616"/>
            </a:solidFill>
            <a:ln>
              <a:noFill/>
            </a:ln>
          </p:spPr>
        </p:sp>
        <p:grpSp>
          <p:nvGrpSpPr>
            <p:cNvPr id="235" name="Group 235"/>
            <p:cNvGrpSpPr/>
            <p:nvPr/>
          </p:nvGrpSpPr>
          <p:grpSpPr>
            <a:xfrm>
              <a:off x="10326229" y="4750594"/>
              <a:ext cx="150125" cy="156202"/>
              <a:chOff x="10326229" y="4750594"/>
              <a:chExt cx="150125" cy="156202"/>
            </a:xfrm>
          </p:grpSpPr>
          <p:sp>
            <p:nvSpPr>
              <p:cNvPr id="232" name="Freeform 232"/>
              <p:cNvSpPr/>
              <p:nvPr/>
            </p:nvSpPr>
            <p:spPr>
              <a:xfrm>
                <a:off x="10348913" y="4750594"/>
                <a:ext cx="104775" cy="104775"/>
              </a:xfrm>
              <a:custGeom>
                <a:avLst/>
                <a:gdLst/>
                <a:ahLst/>
                <a:cxnLst/>
                <a:rect l="l" t="t" r="r" b="b"/>
                <a:pathLst>
                  <a:path w="104775" h="104775">
                    <a:moveTo>
                      <a:pt x="0" y="52388"/>
                    </a:moveTo>
                    <a:cubicBezTo>
                      <a:pt x="0" y="81320"/>
                      <a:pt x="23455" y="104775"/>
                      <a:pt x="52388" y="104775"/>
                    </a:cubicBezTo>
                    <a:cubicBezTo>
                      <a:pt x="81320" y="104775"/>
                      <a:pt x="104775" y="81320"/>
                      <a:pt x="104775" y="52388"/>
                    </a:cubicBezTo>
                    <a:cubicBezTo>
                      <a:pt x="104775" y="23455"/>
                      <a:pt x="81320" y="0"/>
                      <a:pt x="52388" y="0"/>
                    </a:cubicBezTo>
                    <a:cubicBezTo>
                      <a:pt x="23455" y="0"/>
                      <a:pt x="0" y="23455"/>
                      <a:pt x="0" y="52388"/>
                    </a:cubicBezTo>
                  </a:path>
                </a:pathLst>
              </a:custGeom>
              <a:noFill/>
              <a:ln w="17463">
                <a:solidFill>
                  <a:srgbClr val="FFFFFF"/>
                </a:solidFill>
              </a:ln>
            </p:spPr>
          </p:sp>
          <p:sp>
            <p:nvSpPr>
              <p:cNvPr id="233" name="Freeform 233"/>
              <p:cNvSpPr/>
              <p:nvPr/>
            </p:nvSpPr>
            <p:spPr>
              <a:xfrm>
                <a:off x="10401300" y="4829175"/>
                <a:ext cx="75054" cy="77621"/>
              </a:xfrm>
              <a:custGeom>
                <a:avLst/>
                <a:gdLst/>
                <a:ahLst/>
                <a:cxnLst/>
                <a:rect l="l" t="t" r="r" b="b"/>
                <a:pathLst>
                  <a:path w="75054" h="77621">
                    <a:moveTo>
                      <a:pt x="0" y="26194"/>
                    </a:moveTo>
                    <a:lnTo>
                      <a:pt x="29686" y="77621"/>
                    </a:lnTo>
                    <a:lnTo>
                      <a:pt x="43639" y="49393"/>
                    </a:lnTo>
                    <a:lnTo>
                      <a:pt x="75054" y="51418"/>
                    </a:lnTo>
                    <a:lnTo>
                      <a:pt x="45368" y="0"/>
                    </a:lnTo>
                  </a:path>
                </a:pathLst>
              </a:custGeom>
              <a:noFill/>
              <a:ln w="17463">
                <a:solidFill>
                  <a:srgbClr val="FFFFFF"/>
                </a:solidFill>
              </a:ln>
            </p:spPr>
          </p:sp>
          <p:sp>
            <p:nvSpPr>
              <p:cNvPr id="234" name="Freeform 234"/>
              <p:cNvSpPr/>
              <p:nvPr/>
            </p:nvSpPr>
            <p:spPr>
              <a:xfrm>
                <a:off x="10326229" y="4829175"/>
                <a:ext cx="75054" cy="77612"/>
              </a:xfrm>
              <a:custGeom>
                <a:avLst/>
                <a:gdLst/>
                <a:ahLst/>
                <a:cxnLst/>
                <a:rect l="l" t="t" r="r" b="b"/>
                <a:pathLst>
                  <a:path w="75054" h="77612">
                    <a:moveTo>
                      <a:pt x="29686" y="0"/>
                    </a:moveTo>
                    <a:lnTo>
                      <a:pt x="0" y="51427"/>
                    </a:lnTo>
                    <a:lnTo>
                      <a:pt x="31415" y="49393"/>
                    </a:lnTo>
                    <a:lnTo>
                      <a:pt x="45368" y="77612"/>
                    </a:lnTo>
                    <a:lnTo>
                      <a:pt x="75054" y="26194"/>
                    </a:lnTo>
                  </a:path>
                </a:pathLst>
              </a:custGeom>
              <a:noFill/>
              <a:ln w="17463">
                <a:solidFill>
                  <a:srgbClr val="FFFFFF"/>
                </a:solidFill>
              </a:ln>
            </p:spPr>
          </p:sp>
        </p:grpSp>
        <p:sp>
          <p:nvSpPr>
            <p:cNvPr id="236" name="TextBox 236"/>
            <p:cNvSpPr txBox="1"/>
            <p:nvPr/>
          </p:nvSpPr>
          <p:spPr>
            <a:xfrm>
              <a:off x="10634662" y="4693920"/>
              <a:ext cx="372999" cy="176212"/>
            </a:xfrm>
            <a:prstGeom prst="rect">
              <a:avLst/>
            </a:prstGeom>
            <a:noFill/>
            <a:ln>
              <a:noFill/>
            </a:ln>
          </p:spPr>
          <p:txBody>
            <a:bodyPr wrap="none" lIns="0" tIns="0" rIns="0" bIns="0" anchor="t" anchorCtr="0">
              <a:spAutoFit/>
            </a:bodyPr>
            <a:lstStyle/>
            <a:p>
              <a:pPr algn="l"/>
              <a:r>
                <a:rPr lang="zh-CN" sz="900" b="1" dirty="0">
                  <a:solidFill>
                    <a:srgbClr val="C03616"/>
                  </a:solidFill>
                  <a:latin typeface="+mn-lt"/>
                  <a:ea typeface="+mn-ea"/>
                  <a:cs typeface="+mn-cs"/>
                </a:rPr>
                <a:t>里程碑</a:t>
              </a:r>
            </a:p>
          </p:txBody>
        </p:sp>
        <p:sp>
          <p:nvSpPr>
            <p:cNvPr id="237" name="TextBox 237"/>
            <p:cNvSpPr txBox="1"/>
            <p:nvPr/>
          </p:nvSpPr>
          <p:spPr>
            <a:xfrm>
              <a:off x="10634662" y="4893707"/>
              <a:ext cx="898525" cy="25003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完成复盘与激励兑现，</a:t>
              </a:r>
              <a:br/>
              <a:r>
                <a:rPr lang="zh-CN" sz="640" dirty="0">
                  <a:solidFill>
                    <a:srgbClr val="523E3A"/>
                  </a:solidFill>
                  <a:latin typeface="+mn-lt"/>
                  <a:ea typeface="+mn-ea"/>
                  <a:cs typeface="+mn-cs"/>
                </a:rPr>
                <a:t>发布来年作战计划</a:t>
              </a:r>
            </a:p>
          </p:txBody>
        </p:sp>
      </p:grpSp>
      <p:grpSp>
        <p:nvGrpSpPr>
          <p:cNvPr id="285" name="mainline-band"/>
          <p:cNvGrpSpPr/>
          <p:nvPr/>
        </p:nvGrpSpPr>
        <p:grpSpPr>
          <a:xfrm>
            <a:off x="228600" y="5829300"/>
            <a:ext cx="11734800" cy="609600"/>
            <a:chOff x="228600" y="5829300"/>
            <a:chExt cx="11734800" cy="609600"/>
          </a:xfrm>
        </p:grpSpPr>
        <p:sp>
          <p:nvSpPr>
            <p:cNvPr id="239" name="Freeform 239"/>
            <p:cNvSpPr/>
            <p:nvPr/>
          </p:nvSpPr>
          <p:spPr>
            <a:xfrm>
              <a:off x="228600" y="5829300"/>
              <a:ext cx="11734800" cy="609600"/>
            </a:xfrm>
            <a:prstGeom prst="homePlate">
              <a:avLst>
                <a:gd name="adj" fmla="val 40000"/>
              </a:avLst>
            </a:prstGeom>
            <a:solidFill>
              <a:srgbClr val="721E0D"/>
            </a:solidFill>
            <a:ln>
              <a:noFill/>
            </a:ln>
          </p:spPr>
        </p:sp>
        <p:sp>
          <p:nvSpPr>
            <p:cNvPr id="240" name="TextBox 240"/>
            <p:cNvSpPr txBox="1"/>
            <p:nvPr/>
          </p:nvSpPr>
          <p:spPr>
            <a:xfrm>
              <a:off x="374523" y="6063139"/>
              <a:ext cx="874522"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作战主线：</a:t>
              </a:r>
            </a:p>
          </p:txBody>
        </p:sp>
        <p:sp>
          <p:nvSpPr>
            <p:cNvPr id="241" name="Ellipse 241"/>
            <p:cNvSpPr/>
            <p:nvPr/>
          </p:nvSpPr>
          <p:spPr>
            <a:xfrm>
              <a:off x="1638300" y="5962650"/>
              <a:ext cx="342900" cy="342900"/>
            </a:xfrm>
            <a:prstGeom prst="ellipse">
              <a:avLst/>
            </a:prstGeom>
            <a:solidFill>
              <a:srgbClr val="FFFFFF"/>
            </a:solidFill>
            <a:ln>
              <a:noFill/>
            </a:ln>
          </p:spPr>
        </p:sp>
        <p:grpSp>
          <p:nvGrpSpPr>
            <p:cNvPr id="245" name="Group 245"/>
            <p:cNvGrpSpPr/>
            <p:nvPr/>
          </p:nvGrpSpPr>
          <p:grpSpPr>
            <a:xfrm>
              <a:off x="1731169" y="6055519"/>
              <a:ext cx="157163" cy="157163"/>
              <a:chOff x="1731169" y="6055519"/>
              <a:chExt cx="157163" cy="157163"/>
            </a:xfrm>
          </p:grpSpPr>
          <p:sp>
            <p:nvSpPr>
              <p:cNvPr id="242" name="Freeform 242"/>
              <p:cNvSpPr/>
              <p:nvPr/>
            </p:nvSpPr>
            <p:spPr>
              <a:xfrm>
                <a:off x="1801019" y="612536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721E0D"/>
                </a:solidFill>
              </a:ln>
            </p:spPr>
          </p:sp>
          <p:sp>
            <p:nvSpPr>
              <p:cNvPr id="243" name="Freeform 243"/>
              <p:cNvSpPr/>
              <p:nvPr/>
            </p:nvSpPr>
            <p:spPr>
              <a:xfrm>
                <a:off x="1766094" y="609044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721E0D"/>
                </a:solidFill>
              </a:ln>
            </p:spPr>
          </p:sp>
          <p:sp>
            <p:nvSpPr>
              <p:cNvPr id="244" name="Freeform 244"/>
              <p:cNvSpPr/>
              <p:nvPr/>
            </p:nvSpPr>
            <p:spPr>
              <a:xfrm>
                <a:off x="1731169" y="6055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721E0D"/>
                </a:solidFill>
              </a:ln>
            </p:spPr>
          </p:sp>
        </p:grpSp>
        <p:sp>
          <p:nvSpPr>
            <p:cNvPr id="246" name="TextBox 246"/>
            <p:cNvSpPr txBox="1"/>
            <p:nvPr/>
          </p:nvSpPr>
          <p:spPr>
            <a:xfrm>
              <a:off x="2052256" y="6072426"/>
              <a:ext cx="554152"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复盘对齐</a:t>
              </a:r>
            </a:p>
          </p:txBody>
        </p:sp>
        <p:sp>
          <p:nvSpPr>
            <p:cNvPr id="247" name="TextBox 247"/>
            <p:cNvSpPr txBox="1"/>
            <p:nvPr/>
          </p:nvSpPr>
          <p:spPr>
            <a:xfrm>
              <a:off x="2880958" y="60617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a:t>
              </a:r>
            </a:p>
          </p:txBody>
        </p:sp>
        <p:sp>
          <p:nvSpPr>
            <p:cNvPr id="248" name="Ellipse 248"/>
            <p:cNvSpPr/>
            <p:nvPr/>
          </p:nvSpPr>
          <p:spPr>
            <a:xfrm>
              <a:off x="3276600" y="5962650"/>
              <a:ext cx="342900" cy="342900"/>
            </a:xfrm>
            <a:prstGeom prst="ellipse">
              <a:avLst/>
            </a:prstGeom>
            <a:solidFill>
              <a:srgbClr val="FFFFFF"/>
            </a:solidFill>
            <a:ln>
              <a:noFill/>
            </a:ln>
          </p:spPr>
        </p:sp>
        <p:grpSp>
          <p:nvGrpSpPr>
            <p:cNvPr id="252" name="Group 252"/>
            <p:cNvGrpSpPr/>
            <p:nvPr/>
          </p:nvGrpSpPr>
          <p:grpSpPr>
            <a:xfrm>
              <a:off x="3378200" y="6055519"/>
              <a:ext cx="139700" cy="157162"/>
              <a:chOff x="3378200" y="6055519"/>
              <a:chExt cx="139700" cy="157162"/>
            </a:xfrm>
          </p:grpSpPr>
          <p:sp>
            <p:nvSpPr>
              <p:cNvPr id="249" name="Freeform 249"/>
              <p:cNvSpPr/>
              <p:nvPr/>
            </p:nvSpPr>
            <p:spPr>
              <a:xfrm>
                <a:off x="3378200" y="6055519"/>
                <a:ext cx="139700" cy="52388"/>
              </a:xfrm>
              <a:custGeom>
                <a:avLst/>
                <a:gdLst/>
                <a:ahLst/>
                <a:cxnLst/>
                <a:rect l="l" t="t" r="r" b="b"/>
                <a:pathLst>
                  <a:path w="139700" h="52388">
                    <a:moveTo>
                      <a:pt x="0" y="26194"/>
                    </a:moveTo>
                    <a:cubicBezTo>
                      <a:pt x="0" y="40660"/>
                      <a:pt x="31273" y="52388"/>
                      <a:pt x="69850" y="52388"/>
                    </a:cubicBezTo>
                    <a:cubicBezTo>
                      <a:pt x="108427" y="52388"/>
                      <a:pt x="139700" y="40660"/>
                      <a:pt x="139700" y="26194"/>
                    </a:cubicBezTo>
                    <a:cubicBezTo>
                      <a:pt x="139700" y="11727"/>
                      <a:pt x="108427" y="0"/>
                      <a:pt x="69850" y="0"/>
                    </a:cubicBezTo>
                    <a:cubicBezTo>
                      <a:pt x="31273" y="0"/>
                      <a:pt x="0" y="11727"/>
                      <a:pt x="0" y="26194"/>
                    </a:cubicBezTo>
                  </a:path>
                </a:pathLst>
              </a:custGeom>
              <a:noFill/>
              <a:ln w="17463">
                <a:solidFill>
                  <a:srgbClr val="721E0D"/>
                </a:solidFill>
              </a:ln>
            </p:spPr>
          </p:sp>
          <p:sp>
            <p:nvSpPr>
              <p:cNvPr id="250" name="Freeform 250"/>
              <p:cNvSpPr/>
              <p:nvPr/>
            </p:nvSpPr>
            <p:spPr>
              <a:xfrm>
                <a:off x="3378200" y="6081713"/>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721E0D"/>
                </a:solidFill>
              </a:ln>
            </p:spPr>
          </p:sp>
          <p:sp>
            <p:nvSpPr>
              <p:cNvPr id="251" name="Freeform 251"/>
              <p:cNvSpPr/>
              <p:nvPr/>
            </p:nvSpPr>
            <p:spPr>
              <a:xfrm>
                <a:off x="3378200" y="6134100"/>
                <a:ext cx="139700" cy="78581"/>
              </a:xfrm>
              <a:custGeom>
                <a:avLst/>
                <a:gdLst/>
                <a:ahLst/>
                <a:cxnLst/>
                <a:rect l="l" t="t" r="r" b="b"/>
                <a:pathLst>
                  <a:path w="139700" h="78581">
                    <a:moveTo>
                      <a:pt x="0" y="0"/>
                    </a:moveTo>
                    <a:lnTo>
                      <a:pt x="0" y="52388"/>
                    </a:lnTo>
                    <a:cubicBezTo>
                      <a:pt x="0" y="66854"/>
                      <a:pt x="31273" y="78581"/>
                      <a:pt x="69850" y="78581"/>
                    </a:cubicBezTo>
                    <a:cubicBezTo>
                      <a:pt x="108427" y="78581"/>
                      <a:pt x="139700" y="66854"/>
                      <a:pt x="139700" y="52388"/>
                    </a:cubicBezTo>
                    <a:lnTo>
                      <a:pt x="139700" y="0"/>
                    </a:lnTo>
                  </a:path>
                </a:pathLst>
              </a:custGeom>
              <a:noFill/>
              <a:ln w="17463">
                <a:solidFill>
                  <a:srgbClr val="721E0D"/>
                </a:solidFill>
              </a:ln>
            </p:spPr>
          </p:sp>
        </p:grpSp>
        <p:sp>
          <p:nvSpPr>
            <p:cNvPr id="253" name="TextBox 253"/>
            <p:cNvSpPr txBox="1"/>
            <p:nvPr/>
          </p:nvSpPr>
          <p:spPr>
            <a:xfrm>
              <a:off x="3690556" y="6072426"/>
              <a:ext cx="554152"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资源到位</a:t>
              </a:r>
            </a:p>
          </p:txBody>
        </p:sp>
        <p:sp>
          <p:nvSpPr>
            <p:cNvPr id="254" name="TextBox 254"/>
            <p:cNvSpPr txBox="1"/>
            <p:nvPr/>
          </p:nvSpPr>
          <p:spPr>
            <a:xfrm>
              <a:off x="4519258" y="60617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a:t>
              </a:r>
            </a:p>
          </p:txBody>
        </p:sp>
        <p:sp>
          <p:nvSpPr>
            <p:cNvPr id="255" name="Ellipse 255"/>
            <p:cNvSpPr/>
            <p:nvPr/>
          </p:nvSpPr>
          <p:spPr>
            <a:xfrm>
              <a:off x="4914900" y="5962650"/>
              <a:ext cx="342900" cy="342900"/>
            </a:xfrm>
            <a:prstGeom prst="ellipse">
              <a:avLst/>
            </a:prstGeom>
            <a:solidFill>
              <a:srgbClr val="FFFFFF"/>
            </a:solidFill>
            <a:ln>
              <a:noFill/>
            </a:ln>
          </p:spPr>
        </p:sp>
        <p:grpSp>
          <p:nvGrpSpPr>
            <p:cNvPr id="260" name="Group 260"/>
            <p:cNvGrpSpPr/>
            <p:nvPr/>
          </p:nvGrpSpPr>
          <p:grpSpPr>
            <a:xfrm>
              <a:off x="5007769" y="6064250"/>
              <a:ext cx="157163" cy="149225"/>
              <a:chOff x="5007769" y="6064250"/>
              <a:chExt cx="157163" cy="149225"/>
            </a:xfrm>
          </p:grpSpPr>
          <p:sp>
            <p:nvSpPr>
              <p:cNvPr id="256" name="Freeform 256"/>
              <p:cNvSpPr/>
              <p:nvPr/>
            </p:nvSpPr>
            <p:spPr>
              <a:xfrm>
                <a:off x="5007769" y="6134100"/>
                <a:ext cx="52388" cy="69850"/>
              </a:xfrm>
              <a:custGeom>
                <a:avLst/>
                <a:gdLst/>
                <a:ahLst/>
                <a:cxnLst/>
                <a:rect l="l" t="t" r="r" b="b"/>
                <a:pathLst>
                  <a:path w="52388" h="69850">
                    <a:moveTo>
                      <a:pt x="0" y="8731"/>
                    </a:moveTo>
                    <a:cubicBezTo>
                      <a:pt x="0" y="3909"/>
                      <a:pt x="3909" y="0"/>
                      <a:pt x="8731" y="0"/>
                    </a:cubicBezTo>
                    <a:lnTo>
                      <a:pt x="43656" y="0"/>
                    </a:lnTo>
                    <a:cubicBezTo>
                      <a:pt x="48478" y="0"/>
                      <a:pt x="52388" y="3909"/>
                      <a:pt x="52388" y="8731"/>
                    </a:cubicBezTo>
                    <a:lnTo>
                      <a:pt x="52388" y="61119"/>
                    </a:lnTo>
                    <a:cubicBezTo>
                      <a:pt x="52388" y="65941"/>
                      <a:pt x="48478" y="69850"/>
                      <a:pt x="43656" y="69850"/>
                    </a:cubicBezTo>
                    <a:lnTo>
                      <a:pt x="8731" y="69850"/>
                    </a:lnTo>
                    <a:cubicBezTo>
                      <a:pt x="3909" y="69850"/>
                      <a:pt x="0" y="65941"/>
                      <a:pt x="0" y="61119"/>
                    </a:cubicBezTo>
                    <a:lnTo>
                      <a:pt x="0" y="8731"/>
                    </a:lnTo>
                  </a:path>
                </a:pathLst>
              </a:custGeom>
              <a:noFill/>
              <a:ln w="17463">
                <a:solidFill>
                  <a:srgbClr val="721E0D"/>
                </a:solidFill>
              </a:ln>
            </p:spPr>
          </p:sp>
          <p:sp>
            <p:nvSpPr>
              <p:cNvPr id="257" name="Freeform 257"/>
              <p:cNvSpPr/>
              <p:nvPr/>
            </p:nvSpPr>
            <p:spPr>
              <a:xfrm>
                <a:off x="5112544" y="6099175"/>
                <a:ext cx="52388" cy="104775"/>
              </a:xfrm>
              <a:custGeom>
                <a:avLst/>
                <a:gdLst/>
                <a:ahLst/>
                <a:cxnLst/>
                <a:rect l="l" t="t" r="r" b="b"/>
                <a:pathLst>
                  <a:path w="52388" h="104775">
                    <a:moveTo>
                      <a:pt x="0" y="8731"/>
                    </a:moveTo>
                    <a:cubicBezTo>
                      <a:pt x="0" y="3909"/>
                      <a:pt x="3909" y="0"/>
                      <a:pt x="8731" y="0"/>
                    </a:cubicBezTo>
                    <a:lnTo>
                      <a:pt x="43656" y="0"/>
                    </a:lnTo>
                    <a:cubicBezTo>
                      <a:pt x="48478" y="0"/>
                      <a:pt x="52388" y="3909"/>
                      <a:pt x="52388" y="8731"/>
                    </a:cubicBezTo>
                    <a:lnTo>
                      <a:pt x="52388" y="96044"/>
                    </a:lnTo>
                    <a:cubicBezTo>
                      <a:pt x="52388" y="100866"/>
                      <a:pt x="48478" y="104775"/>
                      <a:pt x="43656" y="104775"/>
                    </a:cubicBezTo>
                    <a:lnTo>
                      <a:pt x="8731" y="104775"/>
                    </a:lnTo>
                    <a:cubicBezTo>
                      <a:pt x="3909" y="104775"/>
                      <a:pt x="0" y="100866"/>
                      <a:pt x="0" y="96044"/>
                    </a:cubicBezTo>
                    <a:lnTo>
                      <a:pt x="0" y="8731"/>
                    </a:lnTo>
                  </a:path>
                </a:pathLst>
              </a:custGeom>
              <a:noFill/>
              <a:ln w="17463">
                <a:solidFill>
                  <a:srgbClr val="721E0D"/>
                </a:solidFill>
              </a:ln>
            </p:spPr>
          </p:sp>
          <p:sp>
            <p:nvSpPr>
              <p:cNvPr id="258" name="Freeform 258"/>
              <p:cNvSpPr/>
              <p:nvPr/>
            </p:nvSpPr>
            <p:spPr>
              <a:xfrm>
                <a:off x="5060156" y="6064250"/>
                <a:ext cx="52388" cy="139700"/>
              </a:xfrm>
              <a:custGeom>
                <a:avLst/>
                <a:gdLst/>
                <a:ahLst/>
                <a:cxnLst/>
                <a:rect l="l" t="t" r="r" b="b"/>
                <a:pathLst>
                  <a:path w="52388" h="139700">
                    <a:moveTo>
                      <a:pt x="0" y="8731"/>
                    </a:moveTo>
                    <a:cubicBezTo>
                      <a:pt x="0" y="3909"/>
                      <a:pt x="3909" y="0"/>
                      <a:pt x="8731" y="0"/>
                    </a:cubicBezTo>
                    <a:lnTo>
                      <a:pt x="43656" y="0"/>
                    </a:lnTo>
                    <a:cubicBezTo>
                      <a:pt x="48478" y="0"/>
                      <a:pt x="52388" y="3909"/>
                      <a:pt x="52388" y="8731"/>
                    </a:cubicBezTo>
                    <a:lnTo>
                      <a:pt x="52388" y="130969"/>
                    </a:lnTo>
                    <a:cubicBezTo>
                      <a:pt x="52388" y="135791"/>
                      <a:pt x="48478" y="139700"/>
                      <a:pt x="43656" y="139700"/>
                    </a:cubicBezTo>
                    <a:lnTo>
                      <a:pt x="8731" y="139700"/>
                    </a:lnTo>
                    <a:cubicBezTo>
                      <a:pt x="3909" y="139700"/>
                      <a:pt x="0" y="135791"/>
                      <a:pt x="0" y="130969"/>
                    </a:cubicBezTo>
                    <a:lnTo>
                      <a:pt x="0" y="8731"/>
                    </a:lnTo>
                  </a:path>
                </a:pathLst>
              </a:custGeom>
              <a:noFill/>
              <a:ln w="17463">
                <a:solidFill>
                  <a:srgbClr val="721E0D"/>
                </a:solidFill>
              </a:ln>
            </p:spPr>
          </p:sp>
          <p:sp>
            <p:nvSpPr>
              <p:cNvPr id="259" name="Freeform 259"/>
              <p:cNvSpPr/>
              <p:nvPr/>
            </p:nvSpPr>
            <p:spPr>
              <a:xfrm>
                <a:off x="5016500" y="6203950"/>
                <a:ext cx="122238" cy="9525"/>
              </a:xfrm>
              <a:custGeom>
                <a:avLst/>
                <a:gdLst/>
                <a:ahLst/>
                <a:cxnLst/>
                <a:rect l="l" t="t" r="r" b="b"/>
                <a:pathLst>
                  <a:path w="122238" h="9525">
                    <a:moveTo>
                      <a:pt x="0" y="0"/>
                    </a:moveTo>
                    <a:lnTo>
                      <a:pt x="122238" y="0"/>
                    </a:lnTo>
                  </a:path>
                </a:pathLst>
              </a:custGeom>
              <a:noFill/>
              <a:ln w="17463">
                <a:solidFill>
                  <a:srgbClr val="721E0D"/>
                </a:solidFill>
              </a:ln>
            </p:spPr>
          </p:sp>
        </p:grpSp>
        <p:sp>
          <p:nvSpPr>
            <p:cNvPr id="261" name="TextBox 261"/>
            <p:cNvSpPr txBox="1"/>
            <p:nvPr/>
          </p:nvSpPr>
          <p:spPr>
            <a:xfrm>
              <a:off x="5328856" y="6072426"/>
              <a:ext cx="554152"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能力提升</a:t>
              </a:r>
            </a:p>
          </p:txBody>
        </p:sp>
        <p:sp>
          <p:nvSpPr>
            <p:cNvPr id="262" name="TextBox 262"/>
            <p:cNvSpPr txBox="1"/>
            <p:nvPr/>
          </p:nvSpPr>
          <p:spPr>
            <a:xfrm>
              <a:off x="6157558" y="60617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a:t>
              </a:r>
            </a:p>
          </p:txBody>
        </p:sp>
        <p:sp>
          <p:nvSpPr>
            <p:cNvPr id="263" name="Ellipse 263"/>
            <p:cNvSpPr/>
            <p:nvPr/>
          </p:nvSpPr>
          <p:spPr>
            <a:xfrm>
              <a:off x="6553200" y="5962650"/>
              <a:ext cx="342900" cy="342900"/>
            </a:xfrm>
            <a:prstGeom prst="ellipse">
              <a:avLst/>
            </a:prstGeom>
            <a:solidFill>
              <a:srgbClr val="FFFFFF"/>
            </a:solidFill>
            <a:ln>
              <a:noFill/>
            </a:ln>
          </p:spPr>
        </p:sp>
        <p:grpSp>
          <p:nvGrpSpPr>
            <p:cNvPr id="268" name="Group 268"/>
            <p:cNvGrpSpPr/>
            <p:nvPr/>
          </p:nvGrpSpPr>
          <p:grpSpPr>
            <a:xfrm>
              <a:off x="6646069" y="6055519"/>
              <a:ext cx="157163" cy="157163"/>
              <a:chOff x="6646069" y="6055519"/>
              <a:chExt cx="157163" cy="157163"/>
            </a:xfrm>
          </p:grpSpPr>
          <p:sp>
            <p:nvSpPr>
              <p:cNvPr id="264" name="Freeform 264"/>
              <p:cNvSpPr/>
              <p:nvPr/>
            </p:nvSpPr>
            <p:spPr>
              <a:xfrm>
                <a:off x="6663531" y="60555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721E0D"/>
                </a:solidFill>
              </a:ln>
            </p:spPr>
          </p:sp>
          <p:sp>
            <p:nvSpPr>
              <p:cNvPr id="265" name="Freeform 265"/>
              <p:cNvSpPr/>
              <p:nvPr/>
            </p:nvSpPr>
            <p:spPr>
              <a:xfrm>
                <a:off x="6646069" y="616029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721E0D"/>
                </a:solidFill>
              </a:ln>
            </p:spPr>
          </p:sp>
          <p:sp>
            <p:nvSpPr>
              <p:cNvPr id="266" name="Freeform 266"/>
              <p:cNvSpPr/>
              <p:nvPr/>
            </p:nvSpPr>
            <p:spPr>
              <a:xfrm>
                <a:off x="6759575" y="605665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721E0D"/>
                </a:solidFill>
              </a:ln>
            </p:spPr>
          </p:sp>
          <p:sp>
            <p:nvSpPr>
              <p:cNvPr id="267" name="Freeform 267"/>
              <p:cNvSpPr/>
              <p:nvPr/>
            </p:nvSpPr>
            <p:spPr>
              <a:xfrm>
                <a:off x="6777038" y="616160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721E0D"/>
                </a:solidFill>
              </a:ln>
            </p:spPr>
          </p:sp>
        </p:grpSp>
        <p:sp>
          <p:nvSpPr>
            <p:cNvPr id="269" name="TextBox 269"/>
            <p:cNvSpPr txBox="1"/>
            <p:nvPr/>
          </p:nvSpPr>
          <p:spPr>
            <a:xfrm>
              <a:off x="6967156" y="6072426"/>
              <a:ext cx="554152"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新客转化</a:t>
              </a:r>
            </a:p>
          </p:txBody>
        </p:sp>
        <p:sp>
          <p:nvSpPr>
            <p:cNvPr id="270" name="TextBox 270"/>
            <p:cNvSpPr txBox="1"/>
            <p:nvPr/>
          </p:nvSpPr>
          <p:spPr>
            <a:xfrm>
              <a:off x="7795858" y="60617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a:t>
              </a:r>
            </a:p>
          </p:txBody>
        </p:sp>
        <p:sp>
          <p:nvSpPr>
            <p:cNvPr id="271" name="Ellipse 271"/>
            <p:cNvSpPr/>
            <p:nvPr/>
          </p:nvSpPr>
          <p:spPr>
            <a:xfrm>
              <a:off x="8191500" y="5962650"/>
              <a:ext cx="342900" cy="342900"/>
            </a:xfrm>
            <a:prstGeom prst="ellipse">
              <a:avLst/>
            </a:prstGeom>
            <a:solidFill>
              <a:srgbClr val="FFFFFF"/>
            </a:solidFill>
            <a:ln>
              <a:noFill/>
            </a:ln>
          </p:spPr>
        </p:sp>
        <p:grpSp>
          <p:nvGrpSpPr>
            <p:cNvPr id="275" name="Group 275"/>
            <p:cNvGrpSpPr/>
            <p:nvPr/>
          </p:nvGrpSpPr>
          <p:grpSpPr>
            <a:xfrm>
              <a:off x="8290342" y="6064250"/>
              <a:ext cx="142458" cy="142458"/>
              <a:chOff x="8290342" y="6064250"/>
              <a:chExt cx="142458" cy="142458"/>
            </a:xfrm>
          </p:grpSpPr>
          <p:sp>
            <p:nvSpPr>
              <p:cNvPr id="272" name="Freeform 272"/>
              <p:cNvSpPr/>
              <p:nvPr/>
            </p:nvSpPr>
            <p:spPr>
              <a:xfrm>
                <a:off x="8293100" y="6064250"/>
                <a:ext cx="139700" cy="139700"/>
              </a:xfrm>
              <a:custGeom>
                <a:avLst/>
                <a:gdLst/>
                <a:ahLst/>
                <a:cxnLst/>
                <a:rect l="l" t="t" r="r" b="b"/>
                <a:pathLst>
                  <a:path w="139700" h="139700">
                    <a:moveTo>
                      <a:pt x="0" y="78581"/>
                    </a:moveTo>
                    <a:cubicBezTo>
                      <a:pt x="32045" y="82390"/>
                      <a:pt x="57310" y="107655"/>
                      <a:pt x="61119" y="139700"/>
                    </a:cubicBezTo>
                    <a:cubicBezTo>
                      <a:pt x="76809" y="130654"/>
                      <a:pt x="86715" y="114145"/>
                      <a:pt x="87313" y="96044"/>
                    </a:cubicBezTo>
                    <a:cubicBezTo>
                      <a:pt x="117294" y="85497"/>
                      <a:pt x="137970" y="57929"/>
                      <a:pt x="139700" y="26194"/>
                    </a:cubicBezTo>
                    <a:cubicBezTo>
                      <a:pt x="139700" y="11727"/>
                      <a:pt x="127973" y="0"/>
                      <a:pt x="113506" y="0"/>
                    </a:cubicBezTo>
                    <a:cubicBezTo>
                      <a:pt x="81771" y="1730"/>
                      <a:pt x="54203" y="22406"/>
                      <a:pt x="43656" y="52388"/>
                    </a:cubicBezTo>
                    <a:cubicBezTo>
                      <a:pt x="25555" y="52985"/>
                      <a:pt x="9046" y="62891"/>
                      <a:pt x="0" y="78581"/>
                    </a:cubicBezTo>
                  </a:path>
                </a:pathLst>
              </a:custGeom>
              <a:noFill/>
              <a:ln w="17463">
                <a:solidFill>
                  <a:srgbClr val="721E0D"/>
                </a:solidFill>
              </a:ln>
            </p:spPr>
          </p:sp>
          <p:sp>
            <p:nvSpPr>
              <p:cNvPr id="273" name="Freeform 273"/>
              <p:cNvSpPr/>
              <p:nvPr/>
            </p:nvSpPr>
            <p:spPr>
              <a:xfrm>
                <a:off x="8290342" y="6151563"/>
                <a:ext cx="55145" cy="55145"/>
              </a:xfrm>
              <a:custGeom>
                <a:avLst/>
                <a:gdLst/>
                <a:ahLst/>
                <a:cxnLst/>
                <a:rect l="l" t="t" r="r" b="b"/>
                <a:pathLst>
                  <a:path w="55145" h="55145">
                    <a:moveTo>
                      <a:pt x="28952" y="0"/>
                    </a:moveTo>
                    <a:cubicBezTo>
                      <a:pt x="10362" y="10495"/>
                      <a:pt x="0" y="31219"/>
                      <a:pt x="2758" y="52388"/>
                    </a:cubicBezTo>
                    <a:cubicBezTo>
                      <a:pt x="23926" y="55145"/>
                      <a:pt x="44651" y="44783"/>
                      <a:pt x="55145" y="26194"/>
                    </a:cubicBezTo>
                  </a:path>
                </a:pathLst>
              </a:custGeom>
              <a:noFill/>
              <a:ln w="17463">
                <a:solidFill>
                  <a:srgbClr val="721E0D"/>
                </a:solidFill>
              </a:ln>
            </p:spPr>
          </p:sp>
          <p:sp>
            <p:nvSpPr>
              <p:cNvPr id="274" name="Freeform 274"/>
              <p:cNvSpPr/>
              <p:nvPr/>
            </p:nvSpPr>
            <p:spPr>
              <a:xfrm>
                <a:off x="8380413" y="6099175"/>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721E0D"/>
                </a:solidFill>
              </a:ln>
            </p:spPr>
          </p:sp>
        </p:grpSp>
        <p:sp>
          <p:nvSpPr>
            <p:cNvPr id="276" name="TextBox 276"/>
            <p:cNvSpPr txBox="1"/>
            <p:nvPr/>
          </p:nvSpPr>
          <p:spPr>
            <a:xfrm>
              <a:off x="8605456" y="6072426"/>
              <a:ext cx="554152"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目标冲刺</a:t>
              </a:r>
            </a:p>
          </p:txBody>
        </p:sp>
        <p:sp>
          <p:nvSpPr>
            <p:cNvPr id="277" name="TextBox 277"/>
            <p:cNvSpPr txBox="1"/>
            <p:nvPr/>
          </p:nvSpPr>
          <p:spPr>
            <a:xfrm>
              <a:off x="9434158" y="60617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a:t>
              </a:r>
            </a:p>
          </p:txBody>
        </p:sp>
        <p:sp>
          <p:nvSpPr>
            <p:cNvPr id="278" name="Ellipse 278"/>
            <p:cNvSpPr/>
            <p:nvPr/>
          </p:nvSpPr>
          <p:spPr>
            <a:xfrm>
              <a:off x="9829800" y="5962650"/>
              <a:ext cx="342900" cy="342900"/>
            </a:xfrm>
            <a:prstGeom prst="ellipse">
              <a:avLst/>
            </a:prstGeom>
            <a:solidFill>
              <a:srgbClr val="FFFFFF"/>
            </a:solidFill>
            <a:ln>
              <a:noFill/>
            </a:ln>
          </p:spPr>
        </p:sp>
        <p:grpSp>
          <p:nvGrpSpPr>
            <p:cNvPr id="283" name="Group 283"/>
            <p:cNvGrpSpPr/>
            <p:nvPr/>
          </p:nvGrpSpPr>
          <p:grpSpPr>
            <a:xfrm>
              <a:off x="9940131" y="6064250"/>
              <a:ext cx="130970" cy="148431"/>
              <a:chOff x="9940131" y="6064250"/>
              <a:chExt cx="130970" cy="148431"/>
            </a:xfrm>
          </p:grpSpPr>
          <p:sp>
            <p:nvSpPr>
              <p:cNvPr id="279" name="Freeform 279"/>
              <p:cNvSpPr/>
              <p:nvPr/>
            </p:nvSpPr>
            <p:spPr>
              <a:xfrm>
                <a:off x="9940131" y="6064250"/>
                <a:ext cx="104775" cy="139700"/>
              </a:xfrm>
              <a:custGeom>
                <a:avLst/>
                <a:gdLst/>
                <a:ahLst/>
                <a:cxnLst/>
                <a:rect l="l" t="t" r="r" b="b"/>
                <a:pathLst>
                  <a:path w="104775" h="139700">
                    <a:moveTo>
                      <a:pt x="40295" y="139700"/>
                    </a:moveTo>
                    <a:lnTo>
                      <a:pt x="17463" y="139700"/>
                    </a:lnTo>
                    <a:cubicBezTo>
                      <a:pt x="7818" y="139700"/>
                      <a:pt x="0" y="131882"/>
                      <a:pt x="0" y="122238"/>
                    </a:cubicBezTo>
                    <a:lnTo>
                      <a:pt x="0" y="17463"/>
                    </a:lnTo>
                    <a:cubicBezTo>
                      <a:pt x="0" y="7818"/>
                      <a:pt x="7818" y="0"/>
                      <a:pt x="17463" y="0"/>
                    </a:cubicBezTo>
                    <a:lnTo>
                      <a:pt x="87313" y="0"/>
                    </a:lnTo>
                    <a:cubicBezTo>
                      <a:pt x="96957" y="0"/>
                      <a:pt x="104775" y="7818"/>
                      <a:pt x="104775" y="17463"/>
                    </a:cubicBezTo>
                    <a:lnTo>
                      <a:pt x="104775" y="87313"/>
                    </a:lnTo>
                  </a:path>
                </a:pathLst>
              </a:custGeom>
              <a:noFill/>
              <a:ln w="17463">
                <a:solidFill>
                  <a:srgbClr val="721E0D"/>
                </a:solidFill>
              </a:ln>
            </p:spPr>
          </p:sp>
          <p:sp>
            <p:nvSpPr>
              <p:cNvPr id="280" name="Freeform 280"/>
              <p:cNvSpPr/>
              <p:nvPr/>
            </p:nvSpPr>
            <p:spPr>
              <a:xfrm>
                <a:off x="10018713" y="6177756"/>
                <a:ext cx="52388" cy="34925"/>
              </a:xfrm>
              <a:custGeom>
                <a:avLst/>
                <a:gdLst/>
                <a:ahLst/>
                <a:cxnLst/>
                <a:rect l="l" t="t" r="r" b="b"/>
                <a:pathLst>
                  <a:path w="52388" h="34925">
                    <a:moveTo>
                      <a:pt x="0" y="17463"/>
                    </a:moveTo>
                    <a:lnTo>
                      <a:pt x="17463" y="34925"/>
                    </a:lnTo>
                    <a:lnTo>
                      <a:pt x="52388" y="0"/>
                    </a:lnTo>
                  </a:path>
                </a:pathLst>
              </a:custGeom>
              <a:noFill/>
              <a:ln w="17463">
                <a:solidFill>
                  <a:srgbClr val="721E0D"/>
                </a:solidFill>
              </a:ln>
            </p:spPr>
          </p:sp>
          <p:sp>
            <p:nvSpPr>
              <p:cNvPr id="281" name="Freeform 281"/>
              <p:cNvSpPr/>
              <p:nvPr/>
            </p:nvSpPr>
            <p:spPr>
              <a:xfrm>
                <a:off x="9975056" y="6099175"/>
                <a:ext cx="34925" cy="9525"/>
              </a:xfrm>
              <a:custGeom>
                <a:avLst/>
                <a:gdLst/>
                <a:ahLst/>
                <a:cxnLst/>
                <a:rect l="l" t="t" r="r" b="b"/>
                <a:pathLst>
                  <a:path w="34925" h="9525">
                    <a:moveTo>
                      <a:pt x="0" y="0"/>
                    </a:moveTo>
                    <a:lnTo>
                      <a:pt x="34925" y="0"/>
                    </a:lnTo>
                  </a:path>
                </a:pathLst>
              </a:custGeom>
              <a:noFill/>
              <a:ln w="17463">
                <a:solidFill>
                  <a:srgbClr val="721E0D"/>
                </a:solidFill>
              </a:ln>
            </p:spPr>
          </p:sp>
          <p:sp>
            <p:nvSpPr>
              <p:cNvPr id="282" name="Freeform 282"/>
              <p:cNvSpPr/>
              <p:nvPr/>
            </p:nvSpPr>
            <p:spPr>
              <a:xfrm>
                <a:off x="9975056" y="6134100"/>
                <a:ext cx="17463" cy="9525"/>
              </a:xfrm>
              <a:custGeom>
                <a:avLst/>
                <a:gdLst/>
                <a:ahLst/>
                <a:cxnLst/>
                <a:rect l="l" t="t" r="r" b="b"/>
                <a:pathLst>
                  <a:path w="17463" h="9525">
                    <a:moveTo>
                      <a:pt x="0" y="0"/>
                    </a:moveTo>
                    <a:lnTo>
                      <a:pt x="17463" y="0"/>
                    </a:lnTo>
                  </a:path>
                </a:pathLst>
              </a:custGeom>
              <a:noFill/>
              <a:ln w="17463">
                <a:solidFill>
                  <a:srgbClr val="721E0D"/>
                </a:solidFill>
              </a:ln>
            </p:spPr>
          </p:sp>
        </p:grpSp>
        <p:sp>
          <p:nvSpPr>
            <p:cNvPr id="284" name="TextBox 284"/>
            <p:cNvSpPr txBox="1"/>
            <p:nvPr/>
          </p:nvSpPr>
          <p:spPr>
            <a:xfrm>
              <a:off x="10243756" y="6072426"/>
              <a:ext cx="554152"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复盘归因</a:t>
              </a:r>
            </a:p>
          </p:txBody>
        </p:sp>
      </p:gr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6" name="page-header"/>
          <p:cNvGrpSpPr/>
          <p:nvPr/>
        </p:nvGrpSpPr>
        <p:grpSpPr>
          <a:xfrm>
            <a:off x="0" y="0"/>
            <a:ext cx="11582400" cy="561404"/>
            <a:chOff x="0" y="0"/>
            <a:chExt cx="11582400" cy="561404"/>
          </a:xfrm>
        </p:grpSpPr>
        <p:sp>
          <p:nvSpPr>
            <p:cNvPr id="2" name="Polygon 2"/>
            <p:cNvSpPr/>
            <p:nvPr/>
          </p:nvSpPr>
          <p:spPr>
            <a:xfrm>
              <a:off x="0" y="0"/>
              <a:ext cx="762000" cy="495300"/>
            </a:xfrm>
            <a:custGeom>
              <a:avLst/>
              <a:gdLst/>
              <a:ahLst/>
              <a:cxnLst/>
              <a:rect l="l" t="t" r="r" b="b"/>
              <a:pathLst>
                <a:path w="762000" h="495300">
                  <a:moveTo>
                    <a:pt x="0" y="0"/>
                  </a:moveTo>
                  <a:lnTo>
                    <a:pt x="762000" y="0"/>
                  </a:lnTo>
                  <a:lnTo>
                    <a:pt x="609600" y="495300"/>
                  </a:lnTo>
                  <a:lnTo>
                    <a:pt x="0" y="495300"/>
                  </a:lnTo>
                  <a:close/>
                </a:path>
              </a:pathLst>
            </a:custGeom>
            <a:solidFill>
              <a:srgbClr val="721E0D"/>
            </a:solidFill>
            <a:ln>
              <a:noFill/>
            </a:ln>
          </p:spPr>
        </p:sp>
        <p:sp>
          <p:nvSpPr>
            <p:cNvPr id="3" name="TextBox 3"/>
            <p:cNvSpPr txBox="1"/>
            <p:nvPr/>
          </p:nvSpPr>
          <p:spPr>
            <a:xfrm>
              <a:off x="166683" y="152876"/>
              <a:ext cx="352434" cy="396050"/>
            </a:xfrm>
            <a:prstGeom prst="rect">
              <a:avLst/>
            </a:prstGeom>
            <a:noFill/>
            <a:ln>
              <a:noFill/>
            </a:ln>
          </p:spPr>
          <p:txBody>
            <a:bodyPr wrap="none" lIns="0" tIns="0" rIns="0" bIns="0" anchor="t" anchorCtr="0">
              <a:spAutoFit/>
            </a:bodyPr>
            <a:lstStyle/>
            <a:p>
              <a:pPr algn="ctr"/>
              <a:r>
                <a:rPr lang="zh-CN" sz="2020" b="1" dirty="0">
                  <a:solidFill>
                    <a:srgbClr val="FFFFFF"/>
                  </a:solidFill>
                  <a:latin typeface="SimSun"/>
                  <a:ea typeface="SimSun"/>
                  <a:cs typeface="SimSun"/>
                </a:rPr>
                <a:t>17</a:t>
              </a:r>
            </a:p>
          </p:txBody>
        </p:sp>
        <p:sp>
          <p:nvSpPr>
            <p:cNvPr id="4" name="TextBox 4"/>
            <p:cNvSpPr txBox="1"/>
            <p:nvPr/>
          </p:nvSpPr>
          <p:spPr>
            <a:xfrm>
              <a:off x="904494" y="180023"/>
              <a:ext cx="5532501" cy="381381"/>
            </a:xfrm>
            <a:prstGeom prst="rect">
              <a:avLst/>
            </a:prstGeom>
            <a:noFill/>
            <a:ln>
              <a:noFill/>
            </a:ln>
          </p:spPr>
          <p:txBody>
            <a:bodyPr wrap="none" lIns="0" tIns="0" rIns="0" bIns="0" anchor="t" anchorCtr="0">
              <a:spAutoFit/>
            </a:bodyPr>
            <a:lstStyle/>
            <a:p>
              <a:pPr algn="l"/>
              <a:r>
                <a:rPr lang="zh-CN" sz="1950" b="1" dirty="0">
                  <a:solidFill>
                    <a:srgbClr val="461910"/>
                  </a:solidFill>
                  <a:latin typeface="+mn-lt"/>
                  <a:ea typeface="+mn-ea"/>
                  <a:cs typeface="+mn-cs"/>
                </a:rPr>
                <a:t>结论：逆风局总结不是解释过去，</a:t>
              </a:r>
              <a:r>
                <a:rPr lang="zh-CN" sz="1950" b="1" dirty="0">
                  <a:solidFill>
                    <a:srgbClr val="B8351A"/>
                  </a:solidFill>
                  <a:latin typeface="+mn-lt"/>
                  <a:ea typeface="+mn-ea"/>
                  <a:cs typeface="+mn-cs"/>
                </a:rPr>
                <a:t>而是证明未来</a:t>
              </a:r>
            </a:p>
          </p:txBody>
        </p:sp>
        <p:sp>
          <p:nvSpPr>
            <p:cNvPr id="5" name="Line 5"/>
            <p:cNvSpPr/>
            <p:nvPr/>
          </p:nvSpPr>
          <p:spPr>
            <a:xfrm>
              <a:off x="914400" y="533400"/>
              <a:ext cx="10668000" cy="9525"/>
            </a:xfrm>
            <a:custGeom>
              <a:avLst/>
              <a:gdLst/>
              <a:ahLst/>
              <a:cxnLst/>
              <a:rect l="l" t="t" r="r" b="b"/>
              <a:pathLst>
                <a:path w="10668000" h="9525">
                  <a:moveTo>
                    <a:pt x="0" y="0"/>
                  </a:moveTo>
                  <a:lnTo>
                    <a:pt x="10668000" y="0"/>
                  </a:lnTo>
                </a:path>
              </a:pathLst>
            </a:custGeom>
            <a:noFill/>
            <a:ln w="19050">
              <a:solidFill>
                <a:srgbClr val="721E0D"/>
              </a:solidFill>
            </a:ln>
          </p:spPr>
        </p:sp>
      </p:grpSp>
      <p:grpSp>
        <p:nvGrpSpPr>
          <p:cNvPr id="66" name="judgment-1"/>
          <p:cNvGrpSpPr/>
          <p:nvPr/>
        </p:nvGrpSpPr>
        <p:grpSpPr>
          <a:xfrm>
            <a:off x="228600" y="704850"/>
            <a:ext cx="2838450" cy="3390900"/>
            <a:chOff x="228600" y="704850"/>
            <a:chExt cx="2838450" cy="3390900"/>
          </a:xfrm>
        </p:grpSpPr>
        <p:sp>
          <p:nvSpPr>
            <p:cNvPr id="7" name="Rectangle 7"/>
            <p:cNvSpPr/>
            <p:nvPr/>
          </p:nvSpPr>
          <p:spPr>
            <a:xfrm>
              <a:off x="228600" y="704850"/>
              <a:ext cx="2838450" cy="3390900"/>
            </a:xfrm>
            <a:prstGeom prst="roundRect">
              <a:avLst>
                <a:gd name="adj" fmla="val 3356"/>
              </a:avLst>
            </a:prstGeom>
            <a:solidFill>
              <a:srgbClr val="FFFFFF"/>
            </a:solidFill>
            <a:ln w="14288">
              <a:solidFill>
                <a:srgbClr val="C9D6EE"/>
              </a:solidFill>
            </a:ln>
          </p:spPr>
        </p:sp>
        <p:grpSp>
          <p:nvGrpSpPr>
            <p:cNvPr id="10" name="Group 10"/>
            <p:cNvGrpSpPr/>
            <p:nvPr/>
          </p:nvGrpSpPr>
          <p:grpSpPr>
            <a:xfrm>
              <a:off x="369094" y="826294"/>
              <a:ext cx="157163" cy="157163"/>
              <a:chOff x="369094" y="826294"/>
              <a:chExt cx="157163" cy="157163"/>
            </a:xfrm>
          </p:grpSpPr>
          <p:sp>
            <p:nvSpPr>
              <p:cNvPr id="8" name="Freeform 8"/>
              <p:cNvSpPr/>
              <p:nvPr/>
            </p:nvSpPr>
            <p:spPr>
              <a:xfrm>
                <a:off x="369094" y="8262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721E0D"/>
                </a:solidFill>
              </a:ln>
            </p:spPr>
          </p:sp>
          <p:sp>
            <p:nvSpPr>
              <p:cNvPr id="9" name="Freeform 9"/>
              <p:cNvSpPr/>
              <p:nvPr/>
            </p:nvSpPr>
            <p:spPr>
              <a:xfrm>
                <a:off x="421481" y="887413"/>
                <a:ext cx="52388" cy="34925"/>
              </a:xfrm>
              <a:custGeom>
                <a:avLst/>
                <a:gdLst/>
                <a:ahLst/>
                <a:cxnLst/>
                <a:rect l="l" t="t" r="r" b="b"/>
                <a:pathLst>
                  <a:path w="52388" h="34925">
                    <a:moveTo>
                      <a:pt x="0" y="17463"/>
                    </a:moveTo>
                    <a:lnTo>
                      <a:pt x="17463" y="34925"/>
                    </a:lnTo>
                    <a:lnTo>
                      <a:pt x="52388" y="0"/>
                    </a:lnTo>
                  </a:path>
                </a:pathLst>
              </a:custGeom>
              <a:noFill/>
              <a:ln w="17463">
                <a:solidFill>
                  <a:srgbClr val="721E0D"/>
                </a:solidFill>
              </a:ln>
            </p:spPr>
          </p:sp>
        </p:grpSp>
        <p:sp>
          <p:nvSpPr>
            <p:cNvPr id="11" name="TextBox 11"/>
            <p:cNvSpPr txBox="1"/>
            <p:nvPr/>
          </p:nvSpPr>
          <p:spPr>
            <a:xfrm>
              <a:off x="604838" y="860822"/>
              <a:ext cx="1528039"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判断一：差距来源已经量化</a:t>
              </a:r>
            </a:p>
          </p:txBody>
        </p:sp>
        <p:sp>
          <p:nvSpPr>
            <p:cNvPr id="12" name="Line 12"/>
            <p:cNvSpPr/>
            <p:nvPr/>
          </p:nvSpPr>
          <p:spPr>
            <a:xfrm>
              <a:off x="323850" y="1047750"/>
              <a:ext cx="2647950" cy="9525"/>
            </a:xfrm>
            <a:custGeom>
              <a:avLst/>
              <a:gdLst/>
              <a:ahLst/>
              <a:cxnLst/>
              <a:rect l="l" t="t" r="r" b="b"/>
              <a:pathLst>
                <a:path w="2647950" h="9525">
                  <a:moveTo>
                    <a:pt x="0" y="0"/>
                  </a:moveTo>
                  <a:lnTo>
                    <a:pt x="2647950" y="0"/>
                  </a:lnTo>
                </a:path>
              </a:pathLst>
            </a:custGeom>
            <a:noFill/>
            <a:ln w="9525">
              <a:solidFill>
                <a:srgbClr val="E6EAF2"/>
              </a:solidFill>
            </a:ln>
          </p:spPr>
        </p:sp>
        <p:sp>
          <p:nvSpPr>
            <p:cNvPr id="13" name="TextBox 13"/>
            <p:cNvSpPr txBox="1"/>
            <p:nvPr/>
          </p:nvSpPr>
          <p:spPr>
            <a:xfrm>
              <a:off x="338138" y="1142286"/>
              <a:ext cx="1296512"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 xml:space="preserve">目标差距分解（万元）      </a:t>
              </a:r>
            </a:p>
          </p:txBody>
        </p:sp>
        <p:sp>
          <p:nvSpPr>
            <p:cNvPr id="14" name="Rectangle 14"/>
            <p:cNvSpPr/>
            <p:nvPr/>
          </p:nvSpPr>
          <p:spPr>
            <a:xfrm>
              <a:off x="2000250" y="1085850"/>
              <a:ext cx="971550" cy="285750"/>
            </a:xfrm>
            <a:prstGeom prst="roundRect">
              <a:avLst>
                <a:gd name="adj" fmla="val 16667"/>
              </a:avLst>
            </a:prstGeom>
            <a:solidFill>
              <a:srgbClr val="FDECEC"/>
            </a:solidFill>
            <a:ln w="9525">
              <a:solidFill>
                <a:srgbClr val="F2C7C9"/>
              </a:solidFill>
            </a:ln>
          </p:spPr>
        </p:sp>
        <p:sp>
          <p:nvSpPr>
            <p:cNvPr id="15" name="TextBox 15"/>
            <p:cNvSpPr txBox="1"/>
            <p:nvPr/>
          </p:nvSpPr>
          <p:spPr>
            <a:xfrm>
              <a:off x="2330488" y="1129903"/>
              <a:ext cx="311074" cy="111919"/>
            </a:xfrm>
            <a:prstGeom prst="rect">
              <a:avLst/>
            </a:prstGeom>
            <a:noFill/>
            <a:ln>
              <a:noFill/>
            </a:ln>
          </p:spPr>
          <p:txBody>
            <a:bodyPr wrap="none" lIns="0" tIns="0" rIns="0" bIns="0" anchor="t" anchorCtr="0">
              <a:spAutoFit/>
            </a:bodyPr>
            <a:lstStyle/>
            <a:p>
              <a:pPr algn="ctr"/>
              <a:r>
                <a:rPr lang="zh-CN" sz="560" dirty="0">
                  <a:solidFill>
                    <a:srgbClr val="6E7686"/>
                  </a:solidFill>
                  <a:latin typeface="+mn-lt"/>
                  <a:ea typeface="+mn-ea"/>
                  <a:cs typeface="+mn-cs"/>
                </a:rPr>
                <a:t>差距合计</a:t>
              </a:r>
            </a:p>
          </p:txBody>
        </p:sp>
        <p:sp>
          <p:nvSpPr>
            <p:cNvPr id="16" name="TextBox 16"/>
            <p:cNvSpPr txBox="1"/>
            <p:nvPr/>
          </p:nvSpPr>
          <p:spPr>
            <a:xfrm>
              <a:off x="2020253" y="1234916"/>
              <a:ext cx="931544" cy="161925"/>
            </a:xfrm>
            <a:prstGeom prst="rect">
              <a:avLst/>
            </a:prstGeom>
            <a:noFill/>
            <a:ln>
              <a:noFill/>
            </a:ln>
          </p:spPr>
          <p:txBody>
            <a:bodyPr wrap="none" lIns="0" tIns="0" rIns="0" bIns="0" anchor="t" anchorCtr="0">
              <a:spAutoFit/>
            </a:bodyPr>
            <a:lstStyle/>
            <a:p>
              <a:pPr algn="ctr"/>
              <a:r>
                <a:rPr lang="zh-CN" sz="820" b="1" dirty="0">
                  <a:solidFill>
                    <a:srgbClr val="C03616"/>
                  </a:solidFill>
                  <a:latin typeface="+mn-lt"/>
                  <a:ea typeface="+mn-ea"/>
                  <a:cs typeface="+mn-cs"/>
                </a:rPr>
                <a:t xml:space="preserve">   9,000万元   </a:t>
              </a:r>
            </a:p>
          </p:txBody>
        </p:sp>
        <p:sp>
          <p:nvSpPr>
            <p:cNvPr id="17" name="Rectangle 17"/>
            <p:cNvSpPr/>
            <p:nvPr/>
          </p:nvSpPr>
          <p:spPr>
            <a:xfrm>
              <a:off x="438150" y="1390650"/>
              <a:ext cx="266700" cy="857250"/>
            </a:xfrm>
            <a:prstGeom prst="rect">
              <a:avLst/>
            </a:prstGeom>
            <a:solidFill>
              <a:srgbClr val="721E0D"/>
            </a:solidFill>
            <a:ln>
              <a:noFill/>
            </a:ln>
          </p:spPr>
        </p:sp>
        <p:sp>
          <p:nvSpPr>
            <p:cNvPr id="18" name="TextBox 18"/>
            <p:cNvSpPr txBox="1"/>
            <p:nvPr/>
          </p:nvSpPr>
          <p:spPr>
            <a:xfrm>
              <a:off x="349057" y="1291828"/>
              <a:ext cx="444886" cy="111919"/>
            </a:xfrm>
            <a:prstGeom prst="rect">
              <a:avLst/>
            </a:prstGeom>
            <a:noFill/>
            <a:ln>
              <a:noFill/>
            </a:ln>
          </p:spPr>
          <p:txBody>
            <a:bodyPr wrap="none" lIns="0" tIns="0" rIns="0" bIns="0" anchor="t" anchorCtr="0">
              <a:spAutoFit/>
            </a:bodyPr>
            <a:lstStyle/>
            <a:p>
              <a:pPr algn="ctr"/>
              <a:r>
                <a:rPr lang="zh-CN" sz="560" b="1" dirty="0">
                  <a:solidFill>
                    <a:srgbClr val="721E0D"/>
                  </a:solidFill>
                  <a:latin typeface="+mn-lt"/>
                  <a:ea typeface="+mn-ea"/>
                  <a:cs typeface="+mn-cs"/>
                </a:rPr>
                <a:t xml:space="preserve">  18,000  </a:t>
              </a:r>
            </a:p>
          </p:txBody>
        </p:sp>
        <p:sp>
          <p:nvSpPr>
            <p:cNvPr id="19" name="TextBox 19"/>
            <p:cNvSpPr txBox="1"/>
            <p:nvPr/>
          </p:nvSpPr>
          <p:spPr>
            <a:xfrm>
              <a:off x="496735" y="2296001"/>
              <a:ext cx="149530" cy="104775"/>
            </a:xfrm>
            <a:prstGeom prst="rect">
              <a:avLst/>
            </a:prstGeom>
            <a:noFill/>
            <a:ln>
              <a:noFill/>
            </a:ln>
          </p:spPr>
          <p:txBody>
            <a:bodyPr wrap="none" lIns="0" tIns="0" rIns="0" bIns="0" anchor="t" anchorCtr="0">
              <a:spAutoFit/>
            </a:bodyPr>
            <a:lstStyle/>
            <a:p>
              <a:pPr algn="ctr"/>
              <a:r>
                <a:rPr lang="zh-CN" sz="520" dirty="0">
                  <a:solidFill>
                    <a:srgbClr val="523E3A"/>
                  </a:solidFill>
                  <a:latin typeface="+mn-lt"/>
                  <a:ea typeface="+mn-ea"/>
                  <a:cs typeface="+mn-cs"/>
                </a:rPr>
                <a:t>目标</a:t>
              </a:r>
            </a:p>
          </p:txBody>
        </p:sp>
        <p:sp>
          <p:nvSpPr>
            <p:cNvPr id="20" name="Line 20"/>
            <p:cNvSpPr/>
            <p:nvPr/>
          </p:nvSpPr>
          <p:spPr>
            <a:xfrm>
              <a:off x="704850" y="1390650"/>
              <a:ext cx="152400" cy="9525"/>
            </a:xfrm>
            <a:custGeom>
              <a:avLst/>
              <a:gdLst/>
              <a:ahLst/>
              <a:cxnLst/>
              <a:rect l="l" t="t" r="r" b="b"/>
              <a:pathLst>
                <a:path w="152400" h="9525">
                  <a:moveTo>
                    <a:pt x="0" y="0"/>
                  </a:moveTo>
                  <a:lnTo>
                    <a:pt x="152400" y="0"/>
                  </a:lnTo>
                </a:path>
              </a:pathLst>
            </a:custGeom>
            <a:noFill/>
            <a:ln w="7620">
              <a:solidFill>
                <a:srgbClr val="6E7686"/>
              </a:solidFill>
              <a:prstDash val="sysDot"/>
            </a:ln>
          </p:spPr>
        </p:sp>
        <p:sp>
          <p:nvSpPr>
            <p:cNvPr id="21" name="Rectangle 21"/>
            <p:cNvSpPr/>
            <p:nvPr/>
          </p:nvSpPr>
          <p:spPr>
            <a:xfrm>
              <a:off x="857250" y="1390650"/>
              <a:ext cx="266700" cy="171450"/>
            </a:xfrm>
            <a:prstGeom prst="rect">
              <a:avLst/>
            </a:prstGeom>
            <a:solidFill>
              <a:srgbClr val="C03616"/>
            </a:solidFill>
            <a:ln>
              <a:noFill/>
            </a:ln>
          </p:spPr>
        </p:sp>
        <p:sp>
          <p:nvSpPr>
            <p:cNvPr id="22" name="TextBox 22"/>
            <p:cNvSpPr txBox="1"/>
            <p:nvPr/>
          </p:nvSpPr>
          <p:spPr>
            <a:xfrm>
              <a:off x="789925" y="1291828"/>
              <a:ext cx="401350" cy="111919"/>
            </a:xfrm>
            <a:prstGeom prst="rect">
              <a:avLst/>
            </a:prstGeom>
            <a:noFill/>
            <a:ln>
              <a:noFill/>
            </a:ln>
          </p:spPr>
          <p:txBody>
            <a:bodyPr wrap="none" lIns="0" tIns="0" rIns="0" bIns="0" anchor="t" anchorCtr="0">
              <a:spAutoFit/>
            </a:bodyPr>
            <a:lstStyle/>
            <a:p>
              <a:pPr algn="ctr"/>
              <a:r>
                <a:rPr lang="zh-CN" sz="560" b="1" dirty="0">
                  <a:solidFill>
                    <a:srgbClr val="C03616"/>
                  </a:solidFill>
                  <a:latin typeface="+mn-lt"/>
                  <a:ea typeface="+mn-ea"/>
                  <a:cs typeface="+mn-cs"/>
                </a:rPr>
                <a:t xml:space="preserve">  3,600  </a:t>
              </a:r>
            </a:p>
          </p:txBody>
        </p:sp>
        <p:sp>
          <p:nvSpPr>
            <p:cNvPr id="23" name="TextBox 23"/>
            <p:cNvSpPr txBox="1"/>
            <p:nvPr/>
          </p:nvSpPr>
          <p:spPr>
            <a:xfrm>
              <a:off x="845833" y="2296001"/>
              <a:ext cx="289535" cy="104775"/>
            </a:xfrm>
            <a:prstGeom prst="rect">
              <a:avLst/>
            </a:prstGeom>
            <a:noFill/>
            <a:ln>
              <a:noFill/>
            </a:ln>
          </p:spPr>
          <p:txBody>
            <a:bodyPr wrap="none" lIns="0" tIns="0" rIns="0" bIns="0" anchor="t" anchorCtr="0">
              <a:spAutoFit/>
            </a:bodyPr>
            <a:lstStyle/>
            <a:p>
              <a:pPr algn="ctr"/>
              <a:r>
                <a:rPr lang="zh-CN" sz="520" dirty="0">
                  <a:solidFill>
                    <a:srgbClr val="523E3A"/>
                  </a:solidFill>
                  <a:latin typeface="+mn-lt"/>
                  <a:ea typeface="+mn-ea"/>
                  <a:cs typeface="+mn-cs"/>
                </a:rPr>
                <a:t>需求不足</a:t>
              </a:r>
            </a:p>
          </p:txBody>
        </p:sp>
        <p:sp>
          <p:nvSpPr>
            <p:cNvPr id="24" name="Line 24"/>
            <p:cNvSpPr/>
            <p:nvPr/>
          </p:nvSpPr>
          <p:spPr>
            <a:xfrm>
              <a:off x="1123950" y="1562100"/>
              <a:ext cx="152400" cy="9525"/>
            </a:xfrm>
            <a:custGeom>
              <a:avLst/>
              <a:gdLst/>
              <a:ahLst/>
              <a:cxnLst/>
              <a:rect l="l" t="t" r="r" b="b"/>
              <a:pathLst>
                <a:path w="152400" h="9525">
                  <a:moveTo>
                    <a:pt x="0" y="0"/>
                  </a:moveTo>
                  <a:lnTo>
                    <a:pt x="152400" y="0"/>
                  </a:lnTo>
                </a:path>
              </a:pathLst>
            </a:custGeom>
            <a:noFill/>
            <a:ln w="7620">
              <a:solidFill>
                <a:srgbClr val="6E7686"/>
              </a:solidFill>
              <a:prstDash val="sysDot"/>
            </a:ln>
          </p:spPr>
        </p:sp>
        <p:sp>
          <p:nvSpPr>
            <p:cNvPr id="25" name="Rectangle 25"/>
            <p:cNvSpPr/>
            <p:nvPr/>
          </p:nvSpPr>
          <p:spPr>
            <a:xfrm>
              <a:off x="1276350" y="1562100"/>
              <a:ext cx="266700" cy="114300"/>
            </a:xfrm>
            <a:prstGeom prst="rect">
              <a:avLst/>
            </a:prstGeom>
            <a:solidFill>
              <a:srgbClr val="C03616"/>
            </a:solidFill>
            <a:ln>
              <a:noFill/>
            </a:ln>
          </p:spPr>
        </p:sp>
        <p:sp>
          <p:nvSpPr>
            <p:cNvPr id="26" name="TextBox 26"/>
            <p:cNvSpPr txBox="1"/>
            <p:nvPr/>
          </p:nvSpPr>
          <p:spPr>
            <a:xfrm>
              <a:off x="1209025" y="1463278"/>
              <a:ext cx="401350" cy="111919"/>
            </a:xfrm>
            <a:prstGeom prst="rect">
              <a:avLst/>
            </a:prstGeom>
            <a:noFill/>
            <a:ln>
              <a:noFill/>
            </a:ln>
          </p:spPr>
          <p:txBody>
            <a:bodyPr wrap="none" lIns="0" tIns="0" rIns="0" bIns="0" anchor="t" anchorCtr="0">
              <a:spAutoFit/>
            </a:bodyPr>
            <a:lstStyle/>
            <a:p>
              <a:pPr algn="ctr"/>
              <a:r>
                <a:rPr lang="zh-CN" sz="560" b="1" dirty="0">
                  <a:solidFill>
                    <a:srgbClr val="C03616"/>
                  </a:solidFill>
                  <a:latin typeface="+mn-lt"/>
                  <a:ea typeface="+mn-ea"/>
                  <a:cs typeface="+mn-cs"/>
                </a:rPr>
                <a:t xml:space="preserve">  2,400  </a:t>
              </a:r>
            </a:p>
          </p:txBody>
        </p:sp>
        <p:sp>
          <p:nvSpPr>
            <p:cNvPr id="27" name="TextBox 27"/>
            <p:cNvSpPr txBox="1"/>
            <p:nvPr/>
          </p:nvSpPr>
          <p:spPr>
            <a:xfrm>
              <a:off x="1264933" y="2296001"/>
              <a:ext cx="289535" cy="104775"/>
            </a:xfrm>
            <a:prstGeom prst="rect">
              <a:avLst/>
            </a:prstGeom>
            <a:noFill/>
            <a:ln>
              <a:noFill/>
            </a:ln>
          </p:spPr>
          <p:txBody>
            <a:bodyPr wrap="none" lIns="0" tIns="0" rIns="0" bIns="0" anchor="t" anchorCtr="0">
              <a:spAutoFit/>
            </a:bodyPr>
            <a:lstStyle/>
            <a:p>
              <a:pPr algn="ctr"/>
              <a:r>
                <a:rPr lang="zh-CN" sz="520" dirty="0">
                  <a:solidFill>
                    <a:srgbClr val="523E3A"/>
                  </a:solidFill>
                  <a:latin typeface="+mn-lt"/>
                  <a:ea typeface="+mn-ea"/>
                  <a:cs typeface="+mn-cs"/>
                </a:rPr>
                <a:t>转化偏低</a:t>
              </a:r>
            </a:p>
          </p:txBody>
        </p:sp>
        <p:sp>
          <p:nvSpPr>
            <p:cNvPr id="28" name="Line 28"/>
            <p:cNvSpPr/>
            <p:nvPr/>
          </p:nvSpPr>
          <p:spPr>
            <a:xfrm>
              <a:off x="1543050" y="1676400"/>
              <a:ext cx="152400" cy="9525"/>
            </a:xfrm>
            <a:custGeom>
              <a:avLst/>
              <a:gdLst/>
              <a:ahLst/>
              <a:cxnLst/>
              <a:rect l="l" t="t" r="r" b="b"/>
              <a:pathLst>
                <a:path w="152400" h="9525">
                  <a:moveTo>
                    <a:pt x="0" y="0"/>
                  </a:moveTo>
                  <a:lnTo>
                    <a:pt x="152400" y="0"/>
                  </a:lnTo>
                </a:path>
              </a:pathLst>
            </a:custGeom>
            <a:noFill/>
            <a:ln w="7620">
              <a:solidFill>
                <a:srgbClr val="6E7686"/>
              </a:solidFill>
              <a:prstDash val="sysDot"/>
            </a:ln>
          </p:spPr>
        </p:sp>
        <p:sp>
          <p:nvSpPr>
            <p:cNvPr id="29" name="Rectangle 29"/>
            <p:cNvSpPr/>
            <p:nvPr/>
          </p:nvSpPr>
          <p:spPr>
            <a:xfrm>
              <a:off x="1695450" y="1676400"/>
              <a:ext cx="266700" cy="85725"/>
            </a:xfrm>
            <a:prstGeom prst="rect">
              <a:avLst/>
            </a:prstGeom>
            <a:solidFill>
              <a:srgbClr val="C03616"/>
            </a:solidFill>
            <a:ln>
              <a:noFill/>
            </a:ln>
          </p:spPr>
        </p:sp>
        <p:sp>
          <p:nvSpPr>
            <p:cNvPr id="30" name="TextBox 30"/>
            <p:cNvSpPr txBox="1"/>
            <p:nvPr/>
          </p:nvSpPr>
          <p:spPr>
            <a:xfrm>
              <a:off x="1628125" y="1577578"/>
              <a:ext cx="401350" cy="111919"/>
            </a:xfrm>
            <a:prstGeom prst="rect">
              <a:avLst/>
            </a:prstGeom>
            <a:noFill/>
            <a:ln>
              <a:noFill/>
            </a:ln>
          </p:spPr>
          <p:txBody>
            <a:bodyPr wrap="none" lIns="0" tIns="0" rIns="0" bIns="0" anchor="t" anchorCtr="0">
              <a:spAutoFit/>
            </a:bodyPr>
            <a:lstStyle/>
            <a:p>
              <a:pPr algn="ctr"/>
              <a:r>
                <a:rPr lang="zh-CN" sz="560" b="1" dirty="0">
                  <a:solidFill>
                    <a:srgbClr val="C03616"/>
                  </a:solidFill>
                  <a:latin typeface="+mn-lt"/>
                  <a:ea typeface="+mn-ea"/>
                  <a:cs typeface="+mn-cs"/>
                </a:rPr>
                <a:t xml:space="preserve">  1,800  </a:t>
              </a:r>
            </a:p>
          </p:txBody>
        </p:sp>
        <p:sp>
          <p:nvSpPr>
            <p:cNvPr id="31" name="TextBox 31"/>
            <p:cNvSpPr txBox="1"/>
            <p:nvPr/>
          </p:nvSpPr>
          <p:spPr>
            <a:xfrm>
              <a:off x="1684033" y="2296001"/>
              <a:ext cx="289535" cy="104775"/>
            </a:xfrm>
            <a:prstGeom prst="rect">
              <a:avLst/>
            </a:prstGeom>
            <a:noFill/>
            <a:ln>
              <a:noFill/>
            </a:ln>
          </p:spPr>
          <p:txBody>
            <a:bodyPr wrap="none" lIns="0" tIns="0" rIns="0" bIns="0" anchor="t" anchorCtr="0">
              <a:spAutoFit/>
            </a:bodyPr>
            <a:lstStyle/>
            <a:p>
              <a:pPr algn="ctr"/>
              <a:r>
                <a:rPr lang="zh-CN" sz="520" dirty="0">
                  <a:solidFill>
                    <a:srgbClr val="523E3A"/>
                  </a:solidFill>
                  <a:latin typeface="+mn-lt"/>
                  <a:ea typeface="+mn-ea"/>
                  <a:cs typeface="+mn-cs"/>
                </a:rPr>
                <a:t>客单偏低</a:t>
              </a:r>
            </a:p>
          </p:txBody>
        </p:sp>
        <p:sp>
          <p:nvSpPr>
            <p:cNvPr id="32" name="Line 32"/>
            <p:cNvSpPr/>
            <p:nvPr/>
          </p:nvSpPr>
          <p:spPr>
            <a:xfrm>
              <a:off x="1962150" y="1762125"/>
              <a:ext cx="152400" cy="9525"/>
            </a:xfrm>
            <a:custGeom>
              <a:avLst/>
              <a:gdLst/>
              <a:ahLst/>
              <a:cxnLst/>
              <a:rect l="l" t="t" r="r" b="b"/>
              <a:pathLst>
                <a:path w="152400" h="9525">
                  <a:moveTo>
                    <a:pt x="0" y="0"/>
                  </a:moveTo>
                  <a:lnTo>
                    <a:pt x="152400" y="0"/>
                  </a:lnTo>
                </a:path>
              </a:pathLst>
            </a:custGeom>
            <a:noFill/>
            <a:ln w="7620">
              <a:solidFill>
                <a:srgbClr val="6E7686"/>
              </a:solidFill>
              <a:prstDash val="sysDot"/>
            </a:ln>
          </p:spPr>
        </p:sp>
        <p:sp>
          <p:nvSpPr>
            <p:cNvPr id="33" name="Rectangle 33"/>
            <p:cNvSpPr/>
            <p:nvPr/>
          </p:nvSpPr>
          <p:spPr>
            <a:xfrm>
              <a:off x="2114550" y="1762125"/>
              <a:ext cx="266700" cy="57150"/>
            </a:xfrm>
            <a:prstGeom prst="rect">
              <a:avLst/>
            </a:prstGeom>
            <a:solidFill>
              <a:srgbClr val="C03616"/>
            </a:solidFill>
            <a:ln>
              <a:noFill/>
            </a:ln>
          </p:spPr>
        </p:sp>
        <p:sp>
          <p:nvSpPr>
            <p:cNvPr id="34" name="TextBox 34"/>
            <p:cNvSpPr txBox="1"/>
            <p:nvPr/>
          </p:nvSpPr>
          <p:spPr>
            <a:xfrm>
              <a:off x="2047225" y="1663303"/>
              <a:ext cx="401350" cy="111919"/>
            </a:xfrm>
            <a:prstGeom prst="rect">
              <a:avLst/>
            </a:prstGeom>
            <a:noFill/>
            <a:ln>
              <a:noFill/>
            </a:ln>
          </p:spPr>
          <p:txBody>
            <a:bodyPr wrap="none" lIns="0" tIns="0" rIns="0" bIns="0" anchor="t" anchorCtr="0">
              <a:spAutoFit/>
            </a:bodyPr>
            <a:lstStyle/>
            <a:p>
              <a:pPr algn="ctr"/>
              <a:r>
                <a:rPr lang="zh-CN" sz="560" b="1" dirty="0">
                  <a:solidFill>
                    <a:srgbClr val="C03616"/>
                  </a:solidFill>
                  <a:latin typeface="+mn-lt"/>
                  <a:ea typeface="+mn-ea"/>
                  <a:cs typeface="+mn-cs"/>
                </a:rPr>
                <a:t xml:space="preserve">  1,200  </a:t>
              </a:r>
            </a:p>
          </p:txBody>
        </p:sp>
        <p:sp>
          <p:nvSpPr>
            <p:cNvPr id="35" name="TextBox 35"/>
            <p:cNvSpPr txBox="1"/>
            <p:nvPr/>
          </p:nvSpPr>
          <p:spPr>
            <a:xfrm>
              <a:off x="2103133" y="2296001"/>
              <a:ext cx="289535" cy="104775"/>
            </a:xfrm>
            <a:prstGeom prst="rect">
              <a:avLst/>
            </a:prstGeom>
            <a:noFill/>
            <a:ln>
              <a:noFill/>
            </a:ln>
          </p:spPr>
          <p:txBody>
            <a:bodyPr wrap="none" lIns="0" tIns="0" rIns="0" bIns="0" anchor="t" anchorCtr="0">
              <a:spAutoFit/>
            </a:bodyPr>
            <a:lstStyle/>
            <a:p>
              <a:pPr algn="ctr"/>
              <a:r>
                <a:rPr lang="zh-CN" sz="520" dirty="0">
                  <a:solidFill>
                    <a:srgbClr val="523E3A"/>
                  </a:solidFill>
                  <a:latin typeface="+mn-lt"/>
                  <a:ea typeface="+mn-ea"/>
                  <a:cs typeface="+mn-cs"/>
                </a:rPr>
                <a:t>其他损耗</a:t>
              </a:r>
            </a:p>
          </p:txBody>
        </p:sp>
        <p:sp>
          <p:nvSpPr>
            <p:cNvPr id="36" name="Line 36"/>
            <p:cNvSpPr/>
            <p:nvPr/>
          </p:nvSpPr>
          <p:spPr>
            <a:xfrm>
              <a:off x="2381250" y="1819275"/>
              <a:ext cx="152400" cy="9525"/>
            </a:xfrm>
            <a:custGeom>
              <a:avLst/>
              <a:gdLst/>
              <a:ahLst/>
              <a:cxnLst/>
              <a:rect l="l" t="t" r="r" b="b"/>
              <a:pathLst>
                <a:path w="152400" h="9525">
                  <a:moveTo>
                    <a:pt x="0" y="0"/>
                  </a:moveTo>
                  <a:lnTo>
                    <a:pt x="152400" y="0"/>
                  </a:lnTo>
                </a:path>
              </a:pathLst>
            </a:custGeom>
            <a:noFill/>
            <a:ln w="7620">
              <a:solidFill>
                <a:srgbClr val="6E7686"/>
              </a:solidFill>
              <a:prstDash val="sysDot"/>
            </a:ln>
          </p:spPr>
        </p:sp>
        <p:sp>
          <p:nvSpPr>
            <p:cNvPr id="37" name="Rectangle 37"/>
            <p:cNvSpPr/>
            <p:nvPr/>
          </p:nvSpPr>
          <p:spPr>
            <a:xfrm>
              <a:off x="2533650" y="1819275"/>
              <a:ext cx="266700" cy="428625"/>
            </a:xfrm>
            <a:prstGeom prst="rect">
              <a:avLst/>
            </a:prstGeom>
            <a:solidFill>
              <a:srgbClr val="721E0D"/>
            </a:solidFill>
            <a:ln>
              <a:noFill/>
            </a:ln>
          </p:spPr>
        </p:sp>
        <p:sp>
          <p:nvSpPr>
            <p:cNvPr id="38" name="TextBox 38"/>
            <p:cNvSpPr txBox="1"/>
            <p:nvPr/>
          </p:nvSpPr>
          <p:spPr>
            <a:xfrm>
              <a:off x="2466325" y="1720453"/>
              <a:ext cx="401350" cy="111919"/>
            </a:xfrm>
            <a:prstGeom prst="rect">
              <a:avLst/>
            </a:prstGeom>
            <a:noFill/>
            <a:ln>
              <a:noFill/>
            </a:ln>
          </p:spPr>
          <p:txBody>
            <a:bodyPr wrap="none" lIns="0" tIns="0" rIns="0" bIns="0" anchor="t" anchorCtr="0">
              <a:spAutoFit/>
            </a:bodyPr>
            <a:lstStyle/>
            <a:p>
              <a:pPr algn="ctr"/>
              <a:r>
                <a:rPr lang="zh-CN" sz="560" b="1" dirty="0">
                  <a:solidFill>
                    <a:srgbClr val="721E0D"/>
                  </a:solidFill>
                  <a:latin typeface="+mn-lt"/>
                  <a:ea typeface="+mn-ea"/>
                  <a:cs typeface="+mn-cs"/>
                </a:rPr>
                <a:t xml:space="preserve">  9,000  </a:t>
              </a:r>
            </a:p>
          </p:txBody>
        </p:sp>
        <p:sp>
          <p:nvSpPr>
            <p:cNvPr id="39" name="TextBox 39"/>
            <p:cNvSpPr txBox="1"/>
            <p:nvPr/>
          </p:nvSpPr>
          <p:spPr>
            <a:xfrm>
              <a:off x="2522233" y="2296001"/>
              <a:ext cx="289535" cy="104775"/>
            </a:xfrm>
            <a:prstGeom prst="rect">
              <a:avLst/>
            </a:prstGeom>
            <a:noFill/>
            <a:ln>
              <a:noFill/>
            </a:ln>
          </p:spPr>
          <p:txBody>
            <a:bodyPr wrap="none" lIns="0" tIns="0" rIns="0" bIns="0" anchor="t" anchorCtr="0">
              <a:spAutoFit/>
            </a:bodyPr>
            <a:lstStyle/>
            <a:p>
              <a:pPr algn="ctr"/>
              <a:r>
                <a:rPr lang="zh-CN" sz="520" dirty="0">
                  <a:solidFill>
                    <a:srgbClr val="523E3A"/>
                  </a:solidFill>
                  <a:latin typeface="+mn-lt"/>
                  <a:ea typeface="+mn-ea"/>
                  <a:cs typeface="+mn-cs"/>
                </a:rPr>
                <a:t>实际达成</a:t>
              </a:r>
            </a:p>
          </p:txBody>
        </p:sp>
        <p:sp>
          <p:nvSpPr>
            <p:cNvPr id="40" name="Line 40"/>
            <p:cNvSpPr/>
            <p:nvPr/>
          </p:nvSpPr>
          <p:spPr>
            <a:xfrm>
              <a:off x="381000" y="2247900"/>
              <a:ext cx="2571750" cy="9525"/>
            </a:xfrm>
            <a:custGeom>
              <a:avLst/>
              <a:gdLst/>
              <a:ahLst/>
              <a:cxnLst/>
              <a:rect l="l" t="t" r="r" b="b"/>
              <a:pathLst>
                <a:path w="2571750" h="9525">
                  <a:moveTo>
                    <a:pt x="0" y="0"/>
                  </a:moveTo>
                  <a:lnTo>
                    <a:pt x="2571750" y="0"/>
                  </a:lnTo>
                </a:path>
              </a:pathLst>
            </a:custGeom>
            <a:noFill/>
            <a:ln w="9525">
              <a:solidFill>
                <a:srgbClr val="C9D6EE"/>
              </a:solidFill>
            </a:ln>
          </p:spPr>
        </p:sp>
        <p:sp>
          <p:nvSpPr>
            <p:cNvPr id="41" name="Rectangle 41"/>
            <p:cNvSpPr/>
            <p:nvPr/>
          </p:nvSpPr>
          <p:spPr>
            <a:xfrm>
              <a:off x="342900" y="2495550"/>
              <a:ext cx="2628900" cy="152400"/>
            </a:xfrm>
            <a:prstGeom prst="rect">
              <a:avLst/>
            </a:prstGeom>
            <a:solidFill>
              <a:srgbClr val="721E0D"/>
            </a:solidFill>
            <a:ln>
              <a:noFill/>
            </a:ln>
          </p:spPr>
        </p:sp>
        <p:sp>
          <p:nvSpPr>
            <p:cNvPr id="42" name="TextBox 42"/>
            <p:cNvSpPr txBox="1"/>
            <p:nvPr/>
          </p:nvSpPr>
          <p:spPr>
            <a:xfrm>
              <a:off x="739813" y="2544366"/>
              <a:ext cx="311074"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差距来源</a:t>
              </a:r>
            </a:p>
          </p:txBody>
        </p:sp>
        <p:sp>
          <p:nvSpPr>
            <p:cNvPr id="43" name="TextBox 43"/>
            <p:cNvSpPr txBox="1"/>
            <p:nvPr/>
          </p:nvSpPr>
          <p:spPr>
            <a:xfrm>
              <a:off x="1563330" y="2544366"/>
              <a:ext cx="873839"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 xml:space="preserve">   差距金额（万元）   </a:t>
              </a:r>
            </a:p>
          </p:txBody>
        </p:sp>
        <p:sp>
          <p:nvSpPr>
            <p:cNvPr id="44" name="TextBox 44"/>
            <p:cNvSpPr txBox="1"/>
            <p:nvPr/>
          </p:nvSpPr>
          <p:spPr>
            <a:xfrm>
              <a:off x="2530513" y="2544366"/>
              <a:ext cx="311074" cy="111919"/>
            </a:xfrm>
            <a:prstGeom prst="rect">
              <a:avLst/>
            </a:prstGeom>
            <a:noFill/>
            <a:ln>
              <a:noFill/>
            </a:ln>
          </p:spPr>
          <p:txBody>
            <a:bodyPr wrap="none" lIns="0" tIns="0" rIns="0" bIns="0" anchor="t" anchorCtr="0">
              <a:spAutoFit/>
            </a:bodyPr>
            <a:lstStyle/>
            <a:p>
              <a:pPr algn="ctr"/>
              <a:r>
                <a:rPr lang="zh-CN" sz="560" b="1" dirty="0">
                  <a:solidFill>
                    <a:srgbClr val="FFFFFF"/>
                  </a:solidFill>
                  <a:latin typeface="+mn-lt"/>
                  <a:ea typeface="+mn-ea"/>
                  <a:cs typeface="+mn-cs"/>
                </a:rPr>
                <a:t>占差距比</a:t>
              </a:r>
            </a:p>
          </p:txBody>
        </p:sp>
        <p:sp>
          <p:nvSpPr>
            <p:cNvPr id="45" name="TextBox 45"/>
            <p:cNvSpPr txBox="1"/>
            <p:nvPr/>
          </p:nvSpPr>
          <p:spPr>
            <a:xfrm>
              <a:off x="376238" y="2701528"/>
              <a:ext cx="1087562" cy="111919"/>
            </a:xfrm>
            <a:prstGeom prst="rect">
              <a:avLst/>
            </a:prstGeom>
            <a:noFill/>
            <a:ln>
              <a:noFill/>
            </a:ln>
          </p:spPr>
          <p:txBody>
            <a:bodyPr wrap="none" lIns="0" tIns="0" rIns="0" bIns="0" anchor="t" anchorCtr="0">
              <a:spAutoFit/>
            </a:bodyPr>
            <a:lstStyle/>
            <a:p>
              <a:pPr algn="l"/>
              <a:r>
                <a:rPr lang="zh-CN" sz="560" dirty="0">
                  <a:solidFill>
                    <a:srgbClr val="461910"/>
                  </a:solidFill>
                  <a:latin typeface="+mn-lt"/>
                  <a:ea typeface="+mn-ea"/>
                  <a:cs typeface="+mn-cs"/>
                </a:rPr>
                <a:t xml:space="preserve">需求不足（线索量缺口）      </a:t>
              </a:r>
            </a:p>
          </p:txBody>
        </p:sp>
        <p:sp>
          <p:nvSpPr>
            <p:cNvPr id="46" name="TextBox 46"/>
            <p:cNvSpPr txBox="1"/>
            <p:nvPr/>
          </p:nvSpPr>
          <p:spPr>
            <a:xfrm>
              <a:off x="1808904" y="2701528"/>
              <a:ext cx="382692" cy="111919"/>
            </a:xfrm>
            <a:prstGeom prst="rect">
              <a:avLst/>
            </a:prstGeom>
            <a:noFill/>
            <a:ln>
              <a:noFill/>
            </a:ln>
          </p:spPr>
          <p:txBody>
            <a:bodyPr wrap="none" lIns="0" tIns="0" rIns="0" bIns="0" anchor="t" anchorCtr="0">
              <a:spAutoFit/>
            </a:bodyPr>
            <a:lstStyle/>
            <a:p>
              <a:pPr algn="ctr"/>
              <a:r>
                <a:rPr lang="zh-CN" sz="560" dirty="0">
                  <a:solidFill>
                    <a:srgbClr val="461910"/>
                  </a:solidFill>
                  <a:latin typeface="+mn-lt"/>
                  <a:ea typeface="+mn-ea"/>
                  <a:cs typeface="+mn-cs"/>
                </a:rPr>
                <a:t xml:space="preserve">  3,600  </a:t>
              </a:r>
            </a:p>
          </p:txBody>
        </p:sp>
        <p:sp>
          <p:nvSpPr>
            <p:cNvPr id="47" name="TextBox 47"/>
            <p:cNvSpPr txBox="1"/>
            <p:nvPr/>
          </p:nvSpPr>
          <p:spPr>
            <a:xfrm>
              <a:off x="2528628" y="2701528"/>
              <a:ext cx="314843" cy="111919"/>
            </a:xfrm>
            <a:prstGeom prst="rect">
              <a:avLst/>
            </a:prstGeom>
            <a:noFill/>
            <a:ln>
              <a:noFill/>
            </a:ln>
          </p:spPr>
          <p:txBody>
            <a:bodyPr wrap="none" lIns="0" tIns="0" rIns="0" bIns="0" anchor="t" anchorCtr="0">
              <a:spAutoFit/>
            </a:bodyPr>
            <a:lstStyle/>
            <a:p>
              <a:pPr algn="ctr"/>
              <a:r>
                <a:rPr lang="zh-CN" sz="560" dirty="0">
                  <a:solidFill>
                    <a:srgbClr val="721E0D"/>
                  </a:solidFill>
                  <a:latin typeface="+mn-lt"/>
                  <a:ea typeface="+mn-ea"/>
                  <a:cs typeface="+mn-cs"/>
                </a:rPr>
                <a:t xml:space="preserve">  40%  </a:t>
              </a:r>
            </a:p>
          </p:txBody>
        </p:sp>
        <p:sp>
          <p:nvSpPr>
            <p:cNvPr id="48" name="Line 48"/>
            <p:cNvSpPr/>
            <p:nvPr/>
          </p:nvSpPr>
          <p:spPr>
            <a:xfrm>
              <a:off x="342900" y="2809875"/>
              <a:ext cx="2628900" cy="9525"/>
            </a:xfrm>
            <a:custGeom>
              <a:avLst/>
              <a:gdLst/>
              <a:ahLst/>
              <a:cxnLst/>
              <a:rect l="l" t="t" r="r" b="b"/>
              <a:pathLst>
                <a:path w="2628900" h="9525">
                  <a:moveTo>
                    <a:pt x="0" y="0"/>
                  </a:moveTo>
                  <a:lnTo>
                    <a:pt x="2628900" y="0"/>
                  </a:lnTo>
                </a:path>
              </a:pathLst>
            </a:custGeom>
            <a:noFill/>
            <a:ln w="7620">
              <a:solidFill>
                <a:srgbClr val="E6EAF2"/>
              </a:solidFill>
            </a:ln>
          </p:spPr>
        </p:sp>
        <p:sp>
          <p:nvSpPr>
            <p:cNvPr id="49" name="TextBox 49"/>
            <p:cNvSpPr txBox="1"/>
            <p:nvPr/>
          </p:nvSpPr>
          <p:spPr>
            <a:xfrm>
              <a:off x="376238" y="2863453"/>
              <a:ext cx="1053638" cy="111919"/>
            </a:xfrm>
            <a:prstGeom prst="rect">
              <a:avLst/>
            </a:prstGeom>
            <a:noFill/>
            <a:ln>
              <a:noFill/>
            </a:ln>
          </p:spPr>
          <p:txBody>
            <a:bodyPr wrap="none" lIns="0" tIns="0" rIns="0" bIns="0" anchor="t" anchorCtr="0">
              <a:spAutoFit/>
            </a:bodyPr>
            <a:lstStyle/>
            <a:p>
              <a:pPr algn="l"/>
              <a:r>
                <a:rPr lang="zh-CN" sz="560" dirty="0">
                  <a:solidFill>
                    <a:srgbClr val="461910"/>
                  </a:solidFill>
                  <a:latin typeface="+mn-lt"/>
                  <a:ea typeface="+mn-ea"/>
                  <a:cs typeface="+mn-cs"/>
                </a:rPr>
                <a:t xml:space="preserve">转化偏低（线索→商机）      </a:t>
              </a:r>
            </a:p>
          </p:txBody>
        </p:sp>
        <p:sp>
          <p:nvSpPr>
            <p:cNvPr id="50" name="TextBox 50"/>
            <p:cNvSpPr txBox="1"/>
            <p:nvPr/>
          </p:nvSpPr>
          <p:spPr>
            <a:xfrm>
              <a:off x="1808904" y="2863453"/>
              <a:ext cx="382692" cy="111919"/>
            </a:xfrm>
            <a:prstGeom prst="rect">
              <a:avLst/>
            </a:prstGeom>
            <a:noFill/>
            <a:ln>
              <a:noFill/>
            </a:ln>
          </p:spPr>
          <p:txBody>
            <a:bodyPr wrap="none" lIns="0" tIns="0" rIns="0" bIns="0" anchor="t" anchorCtr="0">
              <a:spAutoFit/>
            </a:bodyPr>
            <a:lstStyle/>
            <a:p>
              <a:pPr algn="ctr"/>
              <a:r>
                <a:rPr lang="zh-CN" sz="560" dirty="0">
                  <a:solidFill>
                    <a:srgbClr val="461910"/>
                  </a:solidFill>
                  <a:latin typeface="+mn-lt"/>
                  <a:ea typeface="+mn-ea"/>
                  <a:cs typeface="+mn-cs"/>
                </a:rPr>
                <a:t xml:space="preserve">  2,400  </a:t>
              </a:r>
            </a:p>
          </p:txBody>
        </p:sp>
        <p:sp>
          <p:nvSpPr>
            <p:cNvPr id="51" name="TextBox 51"/>
            <p:cNvSpPr txBox="1"/>
            <p:nvPr/>
          </p:nvSpPr>
          <p:spPr>
            <a:xfrm>
              <a:off x="2528628" y="2863453"/>
              <a:ext cx="314843" cy="111919"/>
            </a:xfrm>
            <a:prstGeom prst="rect">
              <a:avLst/>
            </a:prstGeom>
            <a:noFill/>
            <a:ln>
              <a:noFill/>
            </a:ln>
          </p:spPr>
          <p:txBody>
            <a:bodyPr wrap="none" lIns="0" tIns="0" rIns="0" bIns="0" anchor="t" anchorCtr="0">
              <a:spAutoFit/>
            </a:bodyPr>
            <a:lstStyle/>
            <a:p>
              <a:pPr algn="ctr"/>
              <a:r>
                <a:rPr lang="zh-CN" sz="560" dirty="0">
                  <a:solidFill>
                    <a:srgbClr val="721E0D"/>
                  </a:solidFill>
                  <a:latin typeface="+mn-lt"/>
                  <a:ea typeface="+mn-ea"/>
                  <a:cs typeface="+mn-cs"/>
                </a:rPr>
                <a:t xml:space="preserve">  27%  </a:t>
              </a:r>
            </a:p>
          </p:txBody>
        </p:sp>
        <p:sp>
          <p:nvSpPr>
            <p:cNvPr id="52" name="Line 52"/>
            <p:cNvSpPr/>
            <p:nvPr/>
          </p:nvSpPr>
          <p:spPr>
            <a:xfrm>
              <a:off x="342900" y="2971800"/>
              <a:ext cx="2628900" cy="9525"/>
            </a:xfrm>
            <a:custGeom>
              <a:avLst/>
              <a:gdLst/>
              <a:ahLst/>
              <a:cxnLst/>
              <a:rect l="l" t="t" r="r" b="b"/>
              <a:pathLst>
                <a:path w="2628900" h="9525">
                  <a:moveTo>
                    <a:pt x="0" y="0"/>
                  </a:moveTo>
                  <a:lnTo>
                    <a:pt x="2628900" y="0"/>
                  </a:lnTo>
                </a:path>
              </a:pathLst>
            </a:custGeom>
            <a:noFill/>
            <a:ln w="7620">
              <a:solidFill>
                <a:srgbClr val="E6EAF2"/>
              </a:solidFill>
            </a:ln>
          </p:spPr>
        </p:sp>
        <p:sp>
          <p:nvSpPr>
            <p:cNvPr id="53" name="TextBox 53"/>
            <p:cNvSpPr txBox="1"/>
            <p:nvPr/>
          </p:nvSpPr>
          <p:spPr>
            <a:xfrm>
              <a:off x="376238" y="3025378"/>
              <a:ext cx="1053638" cy="111919"/>
            </a:xfrm>
            <a:prstGeom prst="rect">
              <a:avLst/>
            </a:prstGeom>
            <a:noFill/>
            <a:ln>
              <a:noFill/>
            </a:ln>
          </p:spPr>
          <p:txBody>
            <a:bodyPr wrap="none" lIns="0" tIns="0" rIns="0" bIns="0" anchor="t" anchorCtr="0">
              <a:spAutoFit/>
            </a:bodyPr>
            <a:lstStyle/>
            <a:p>
              <a:pPr algn="l"/>
              <a:r>
                <a:rPr lang="zh-CN" sz="560" dirty="0">
                  <a:solidFill>
                    <a:srgbClr val="461910"/>
                  </a:solidFill>
                  <a:latin typeface="+mn-lt"/>
                  <a:ea typeface="+mn-ea"/>
                  <a:cs typeface="+mn-cs"/>
                </a:rPr>
                <a:t xml:space="preserve">客单偏低（商机→订单）      </a:t>
              </a:r>
            </a:p>
          </p:txBody>
        </p:sp>
        <p:sp>
          <p:nvSpPr>
            <p:cNvPr id="54" name="TextBox 54"/>
            <p:cNvSpPr txBox="1"/>
            <p:nvPr/>
          </p:nvSpPr>
          <p:spPr>
            <a:xfrm>
              <a:off x="1808904" y="3025378"/>
              <a:ext cx="382692" cy="111919"/>
            </a:xfrm>
            <a:prstGeom prst="rect">
              <a:avLst/>
            </a:prstGeom>
            <a:noFill/>
            <a:ln>
              <a:noFill/>
            </a:ln>
          </p:spPr>
          <p:txBody>
            <a:bodyPr wrap="none" lIns="0" tIns="0" rIns="0" bIns="0" anchor="t" anchorCtr="0">
              <a:spAutoFit/>
            </a:bodyPr>
            <a:lstStyle/>
            <a:p>
              <a:pPr algn="ctr"/>
              <a:r>
                <a:rPr lang="zh-CN" sz="560" dirty="0">
                  <a:solidFill>
                    <a:srgbClr val="461910"/>
                  </a:solidFill>
                  <a:latin typeface="+mn-lt"/>
                  <a:ea typeface="+mn-ea"/>
                  <a:cs typeface="+mn-cs"/>
                </a:rPr>
                <a:t xml:space="preserve">  1,800  </a:t>
              </a:r>
            </a:p>
          </p:txBody>
        </p:sp>
        <p:sp>
          <p:nvSpPr>
            <p:cNvPr id="55" name="TextBox 55"/>
            <p:cNvSpPr txBox="1"/>
            <p:nvPr/>
          </p:nvSpPr>
          <p:spPr>
            <a:xfrm>
              <a:off x="2528628" y="3025378"/>
              <a:ext cx="314843" cy="111919"/>
            </a:xfrm>
            <a:prstGeom prst="rect">
              <a:avLst/>
            </a:prstGeom>
            <a:noFill/>
            <a:ln>
              <a:noFill/>
            </a:ln>
          </p:spPr>
          <p:txBody>
            <a:bodyPr wrap="none" lIns="0" tIns="0" rIns="0" bIns="0" anchor="t" anchorCtr="0">
              <a:spAutoFit/>
            </a:bodyPr>
            <a:lstStyle/>
            <a:p>
              <a:pPr algn="ctr"/>
              <a:r>
                <a:rPr lang="zh-CN" sz="560" dirty="0">
                  <a:solidFill>
                    <a:srgbClr val="721E0D"/>
                  </a:solidFill>
                  <a:latin typeface="+mn-lt"/>
                  <a:ea typeface="+mn-ea"/>
                  <a:cs typeface="+mn-cs"/>
                </a:rPr>
                <a:t xml:space="preserve">  20%  </a:t>
              </a:r>
            </a:p>
          </p:txBody>
        </p:sp>
        <p:sp>
          <p:nvSpPr>
            <p:cNvPr id="56" name="Line 56"/>
            <p:cNvSpPr/>
            <p:nvPr/>
          </p:nvSpPr>
          <p:spPr>
            <a:xfrm>
              <a:off x="342900" y="3133725"/>
              <a:ext cx="2628900" cy="9525"/>
            </a:xfrm>
            <a:custGeom>
              <a:avLst/>
              <a:gdLst/>
              <a:ahLst/>
              <a:cxnLst/>
              <a:rect l="l" t="t" r="r" b="b"/>
              <a:pathLst>
                <a:path w="2628900" h="9525">
                  <a:moveTo>
                    <a:pt x="0" y="0"/>
                  </a:moveTo>
                  <a:lnTo>
                    <a:pt x="2628900" y="0"/>
                  </a:lnTo>
                </a:path>
              </a:pathLst>
            </a:custGeom>
            <a:noFill/>
            <a:ln w="7620">
              <a:solidFill>
                <a:srgbClr val="E6EAF2"/>
              </a:solidFill>
            </a:ln>
          </p:spPr>
        </p:sp>
        <p:sp>
          <p:nvSpPr>
            <p:cNvPr id="57" name="TextBox 57"/>
            <p:cNvSpPr txBox="1"/>
            <p:nvPr/>
          </p:nvSpPr>
          <p:spPr>
            <a:xfrm>
              <a:off x="376238" y="3187303"/>
              <a:ext cx="1245875" cy="111919"/>
            </a:xfrm>
            <a:prstGeom prst="rect">
              <a:avLst/>
            </a:prstGeom>
            <a:noFill/>
            <a:ln>
              <a:noFill/>
            </a:ln>
          </p:spPr>
          <p:txBody>
            <a:bodyPr wrap="none" lIns="0" tIns="0" rIns="0" bIns="0" anchor="t" anchorCtr="0">
              <a:spAutoFit/>
            </a:bodyPr>
            <a:lstStyle/>
            <a:p>
              <a:pPr algn="l"/>
              <a:r>
                <a:rPr lang="zh-CN" sz="560" dirty="0">
                  <a:solidFill>
                    <a:srgbClr val="461910"/>
                  </a:solidFill>
                  <a:latin typeface="+mn-lt"/>
                  <a:ea typeface="+mn-ea"/>
                  <a:cs typeface="+mn-cs"/>
                </a:rPr>
                <a:t xml:space="preserve">其他损耗（价格/交付/流失）      </a:t>
              </a:r>
            </a:p>
          </p:txBody>
        </p:sp>
        <p:sp>
          <p:nvSpPr>
            <p:cNvPr id="58" name="TextBox 58"/>
            <p:cNvSpPr txBox="1"/>
            <p:nvPr/>
          </p:nvSpPr>
          <p:spPr>
            <a:xfrm>
              <a:off x="1808904" y="3187303"/>
              <a:ext cx="382692" cy="111919"/>
            </a:xfrm>
            <a:prstGeom prst="rect">
              <a:avLst/>
            </a:prstGeom>
            <a:noFill/>
            <a:ln>
              <a:noFill/>
            </a:ln>
          </p:spPr>
          <p:txBody>
            <a:bodyPr wrap="none" lIns="0" tIns="0" rIns="0" bIns="0" anchor="t" anchorCtr="0">
              <a:spAutoFit/>
            </a:bodyPr>
            <a:lstStyle/>
            <a:p>
              <a:pPr algn="ctr"/>
              <a:r>
                <a:rPr lang="zh-CN" sz="560" dirty="0">
                  <a:solidFill>
                    <a:srgbClr val="461910"/>
                  </a:solidFill>
                  <a:latin typeface="+mn-lt"/>
                  <a:ea typeface="+mn-ea"/>
                  <a:cs typeface="+mn-cs"/>
                </a:rPr>
                <a:t xml:space="preserve">  1,200  </a:t>
              </a:r>
            </a:p>
          </p:txBody>
        </p:sp>
        <p:sp>
          <p:nvSpPr>
            <p:cNvPr id="59" name="TextBox 59"/>
            <p:cNvSpPr txBox="1"/>
            <p:nvPr/>
          </p:nvSpPr>
          <p:spPr>
            <a:xfrm>
              <a:off x="2528628" y="3187303"/>
              <a:ext cx="314843" cy="111919"/>
            </a:xfrm>
            <a:prstGeom prst="rect">
              <a:avLst/>
            </a:prstGeom>
            <a:noFill/>
            <a:ln>
              <a:noFill/>
            </a:ln>
          </p:spPr>
          <p:txBody>
            <a:bodyPr wrap="none" lIns="0" tIns="0" rIns="0" bIns="0" anchor="t" anchorCtr="0">
              <a:spAutoFit/>
            </a:bodyPr>
            <a:lstStyle/>
            <a:p>
              <a:pPr algn="ctr"/>
              <a:r>
                <a:rPr lang="zh-CN" sz="560" dirty="0">
                  <a:solidFill>
                    <a:srgbClr val="721E0D"/>
                  </a:solidFill>
                  <a:latin typeface="+mn-lt"/>
                  <a:ea typeface="+mn-ea"/>
                  <a:cs typeface="+mn-cs"/>
                </a:rPr>
                <a:t xml:space="preserve">  13%  </a:t>
              </a:r>
            </a:p>
          </p:txBody>
        </p:sp>
        <p:sp>
          <p:nvSpPr>
            <p:cNvPr id="60" name="Line 60"/>
            <p:cNvSpPr/>
            <p:nvPr/>
          </p:nvSpPr>
          <p:spPr>
            <a:xfrm>
              <a:off x="342900" y="3295650"/>
              <a:ext cx="2628900" cy="9525"/>
            </a:xfrm>
            <a:custGeom>
              <a:avLst/>
              <a:gdLst/>
              <a:ahLst/>
              <a:cxnLst/>
              <a:rect l="l" t="t" r="r" b="b"/>
              <a:pathLst>
                <a:path w="2628900" h="9525">
                  <a:moveTo>
                    <a:pt x="0" y="0"/>
                  </a:moveTo>
                  <a:lnTo>
                    <a:pt x="2628900" y="0"/>
                  </a:lnTo>
                </a:path>
              </a:pathLst>
            </a:custGeom>
            <a:noFill/>
            <a:ln w="7620">
              <a:solidFill>
                <a:srgbClr val="E6EAF2"/>
              </a:solidFill>
            </a:ln>
          </p:spPr>
        </p:sp>
        <p:sp>
          <p:nvSpPr>
            <p:cNvPr id="61" name="Rectangle 61"/>
            <p:cNvSpPr/>
            <p:nvPr/>
          </p:nvSpPr>
          <p:spPr>
            <a:xfrm>
              <a:off x="342900" y="3295650"/>
              <a:ext cx="2628900" cy="161925"/>
            </a:xfrm>
            <a:prstGeom prst="rect">
              <a:avLst/>
            </a:prstGeom>
            <a:solidFill>
              <a:srgbClr val="EAF1FB"/>
            </a:solidFill>
            <a:ln>
              <a:noFill/>
            </a:ln>
          </p:spPr>
        </p:sp>
        <p:sp>
          <p:nvSpPr>
            <p:cNvPr id="62" name="TextBox 62"/>
            <p:cNvSpPr txBox="1"/>
            <p:nvPr/>
          </p:nvSpPr>
          <p:spPr>
            <a:xfrm>
              <a:off x="815200" y="3349228"/>
              <a:ext cx="160299"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合计</a:t>
              </a:r>
            </a:p>
          </p:txBody>
        </p:sp>
        <p:sp>
          <p:nvSpPr>
            <p:cNvPr id="63" name="TextBox 63"/>
            <p:cNvSpPr txBox="1"/>
            <p:nvPr/>
          </p:nvSpPr>
          <p:spPr>
            <a:xfrm>
              <a:off x="1799575" y="3349228"/>
              <a:ext cx="401350" cy="111919"/>
            </a:xfrm>
            <a:prstGeom prst="rect">
              <a:avLst/>
            </a:prstGeom>
            <a:noFill/>
            <a:ln>
              <a:noFill/>
            </a:ln>
          </p:spPr>
          <p:txBody>
            <a:bodyPr wrap="none" lIns="0" tIns="0" rIns="0" bIns="0" anchor="t" anchorCtr="0">
              <a:spAutoFit/>
            </a:bodyPr>
            <a:lstStyle/>
            <a:p>
              <a:pPr algn="ctr"/>
              <a:r>
                <a:rPr lang="zh-CN" sz="560" b="1" dirty="0">
                  <a:solidFill>
                    <a:srgbClr val="461910"/>
                  </a:solidFill>
                  <a:latin typeface="+mn-lt"/>
                  <a:ea typeface="+mn-ea"/>
                  <a:cs typeface="+mn-cs"/>
                </a:rPr>
                <a:t xml:space="preserve">  9,000  </a:t>
              </a:r>
            </a:p>
          </p:txBody>
        </p:sp>
        <p:sp>
          <p:nvSpPr>
            <p:cNvPr id="64" name="TextBox 64"/>
            <p:cNvSpPr txBox="1"/>
            <p:nvPr/>
          </p:nvSpPr>
          <p:spPr>
            <a:xfrm>
              <a:off x="2499227" y="3349228"/>
              <a:ext cx="373645" cy="111919"/>
            </a:xfrm>
            <a:prstGeom prst="rect">
              <a:avLst/>
            </a:prstGeom>
            <a:noFill/>
            <a:ln>
              <a:noFill/>
            </a:ln>
          </p:spPr>
          <p:txBody>
            <a:bodyPr wrap="none" lIns="0" tIns="0" rIns="0" bIns="0" anchor="t" anchorCtr="0">
              <a:spAutoFit/>
            </a:bodyPr>
            <a:lstStyle/>
            <a:p>
              <a:pPr algn="ctr"/>
              <a:r>
                <a:rPr lang="zh-CN" sz="560" b="1" dirty="0">
                  <a:solidFill>
                    <a:srgbClr val="721E0D"/>
                  </a:solidFill>
                  <a:latin typeface="+mn-lt"/>
                  <a:ea typeface="+mn-ea"/>
                  <a:cs typeface="+mn-cs"/>
                </a:rPr>
                <a:t xml:space="preserve">  100%  </a:t>
              </a:r>
            </a:p>
          </p:txBody>
        </p:sp>
        <p:sp>
          <p:nvSpPr>
            <p:cNvPr id="65" name="Line 65"/>
            <p:cNvSpPr/>
            <p:nvPr/>
          </p:nvSpPr>
          <p:spPr>
            <a:xfrm>
              <a:off x="342900" y="3457575"/>
              <a:ext cx="2628900" cy="9525"/>
            </a:xfrm>
            <a:custGeom>
              <a:avLst/>
              <a:gdLst/>
              <a:ahLst/>
              <a:cxnLst/>
              <a:rect l="l" t="t" r="r" b="b"/>
              <a:pathLst>
                <a:path w="2628900" h="9525">
                  <a:moveTo>
                    <a:pt x="0" y="0"/>
                  </a:moveTo>
                  <a:lnTo>
                    <a:pt x="2628900" y="0"/>
                  </a:lnTo>
                </a:path>
              </a:pathLst>
            </a:custGeom>
            <a:noFill/>
            <a:ln w="7620">
              <a:solidFill>
                <a:srgbClr val="E6EAF2"/>
              </a:solidFill>
            </a:ln>
          </p:spPr>
        </p:sp>
      </p:grpSp>
      <p:grpSp>
        <p:nvGrpSpPr>
          <p:cNvPr id="124" name="judgment-2"/>
          <p:cNvGrpSpPr/>
          <p:nvPr/>
        </p:nvGrpSpPr>
        <p:grpSpPr>
          <a:xfrm>
            <a:off x="3190875" y="704850"/>
            <a:ext cx="2838450" cy="3390900"/>
            <a:chOff x="3190875" y="704850"/>
            <a:chExt cx="2838450" cy="3390900"/>
          </a:xfrm>
        </p:grpSpPr>
        <p:sp>
          <p:nvSpPr>
            <p:cNvPr id="67" name="Rectangle 67"/>
            <p:cNvSpPr/>
            <p:nvPr/>
          </p:nvSpPr>
          <p:spPr>
            <a:xfrm>
              <a:off x="3190875" y="704850"/>
              <a:ext cx="2838450" cy="3390900"/>
            </a:xfrm>
            <a:prstGeom prst="roundRect">
              <a:avLst>
                <a:gd name="adj" fmla="val 3356"/>
              </a:avLst>
            </a:prstGeom>
            <a:solidFill>
              <a:srgbClr val="FFFFFF"/>
            </a:solidFill>
            <a:ln w="14288">
              <a:solidFill>
                <a:srgbClr val="C9D6EE"/>
              </a:solidFill>
            </a:ln>
          </p:spPr>
        </p:sp>
        <p:grpSp>
          <p:nvGrpSpPr>
            <p:cNvPr id="70" name="Group 70"/>
            <p:cNvGrpSpPr/>
            <p:nvPr/>
          </p:nvGrpSpPr>
          <p:grpSpPr>
            <a:xfrm>
              <a:off x="3331369" y="826294"/>
              <a:ext cx="157163" cy="157163"/>
              <a:chOff x="3331369" y="826294"/>
              <a:chExt cx="157163" cy="157163"/>
            </a:xfrm>
          </p:grpSpPr>
          <p:sp>
            <p:nvSpPr>
              <p:cNvPr id="68" name="Freeform 68"/>
              <p:cNvSpPr/>
              <p:nvPr/>
            </p:nvSpPr>
            <p:spPr>
              <a:xfrm>
                <a:off x="3331369" y="8262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721E0D"/>
                </a:solidFill>
              </a:ln>
            </p:spPr>
          </p:sp>
          <p:sp>
            <p:nvSpPr>
              <p:cNvPr id="69" name="Freeform 69"/>
              <p:cNvSpPr/>
              <p:nvPr/>
            </p:nvSpPr>
            <p:spPr>
              <a:xfrm>
                <a:off x="3383756" y="887413"/>
                <a:ext cx="52388" cy="34925"/>
              </a:xfrm>
              <a:custGeom>
                <a:avLst/>
                <a:gdLst/>
                <a:ahLst/>
                <a:cxnLst/>
                <a:rect l="l" t="t" r="r" b="b"/>
                <a:pathLst>
                  <a:path w="52388" h="34925">
                    <a:moveTo>
                      <a:pt x="0" y="17463"/>
                    </a:moveTo>
                    <a:lnTo>
                      <a:pt x="17463" y="34925"/>
                    </a:lnTo>
                    <a:lnTo>
                      <a:pt x="52388" y="0"/>
                    </a:lnTo>
                  </a:path>
                </a:pathLst>
              </a:custGeom>
              <a:noFill/>
              <a:ln w="17463">
                <a:solidFill>
                  <a:srgbClr val="721E0D"/>
                </a:solidFill>
              </a:ln>
            </p:spPr>
          </p:sp>
        </p:grpSp>
        <p:sp>
          <p:nvSpPr>
            <p:cNvPr id="71" name="TextBox 71"/>
            <p:cNvSpPr txBox="1"/>
            <p:nvPr/>
          </p:nvSpPr>
          <p:spPr>
            <a:xfrm>
              <a:off x="3567112" y="860822"/>
              <a:ext cx="2385366"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 xml:space="preserve">判断二：基准情景可追回1.20亿元      </a:t>
              </a:r>
            </a:p>
          </p:txBody>
        </p:sp>
        <p:sp>
          <p:nvSpPr>
            <p:cNvPr id="72" name="Line 72"/>
            <p:cNvSpPr/>
            <p:nvPr/>
          </p:nvSpPr>
          <p:spPr>
            <a:xfrm>
              <a:off x="3286125" y="1047750"/>
              <a:ext cx="2647950" cy="9525"/>
            </a:xfrm>
            <a:custGeom>
              <a:avLst/>
              <a:gdLst/>
              <a:ahLst/>
              <a:cxnLst/>
              <a:rect l="l" t="t" r="r" b="b"/>
              <a:pathLst>
                <a:path w="2647950" h="9525">
                  <a:moveTo>
                    <a:pt x="0" y="0"/>
                  </a:moveTo>
                  <a:lnTo>
                    <a:pt x="2647950" y="0"/>
                  </a:lnTo>
                </a:path>
              </a:pathLst>
            </a:custGeom>
            <a:noFill/>
            <a:ln w="9525">
              <a:solidFill>
                <a:srgbClr val="E6EAF2"/>
              </a:solidFill>
            </a:ln>
          </p:spPr>
        </p:sp>
        <p:sp>
          <p:nvSpPr>
            <p:cNvPr id="73" name="TextBox 73"/>
            <p:cNvSpPr txBox="1"/>
            <p:nvPr/>
          </p:nvSpPr>
          <p:spPr>
            <a:xfrm>
              <a:off x="3300412" y="1142286"/>
              <a:ext cx="1583253"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 xml:space="preserve">基准情景（不增加额外资源）      </a:t>
              </a:r>
            </a:p>
          </p:txBody>
        </p:sp>
        <p:sp>
          <p:nvSpPr>
            <p:cNvPr id="74" name="Rectangle 74"/>
            <p:cNvSpPr/>
            <p:nvPr/>
          </p:nvSpPr>
          <p:spPr>
            <a:xfrm>
              <a:off x="4962525" y="1085850"/>
              <a:ext cx="971550" cy="285750"/>
            </a:xfrm>
            <a:prstGeom prst="roundRect">
              <a:avLst>
                <a:gd name="adj" fmla="val 16667"/>
              </a:avLst>
            </a:prstGeom>
            <a:solidFill>
              <a:srgbClr val="FDECEC"/>
            </a:solidFill>
            <a:ln w="9525">
              <a:solidFill>
                <a:srgbClr val="F2C7C9"/>
              </a:solidFill>
            </a:ln>
          </p:spPr>
        </p:sp>
        <p:sp>
          <p:nvSpPr>
            <p:cNvPr id="75" name="TextBox 75"/>
            <p:cNvSpPr txBox="1"/>
            <p:nvPr/>
          </p:nvSpPr>
          <p:spPr>
            <a:xfrm>
              <a:off x="5330457" y="1129903"/>
              <a:ext cx="235687" cy="111919"/>
            </a:xfrm>
            <a:prstGeom prst="rect">
              <a:avLst/>
            </a:prstGeom>
            <a:noFill/>
            <a:ln>
              <a:noFill/>
            </a:ln>
          </p:spPr>
          <p:txBody>
            <a:bodyPr wrap="none" lIns="0" tIns="0" rIns="0" bIns="0" anchor="t" anchorCtr="0">
              <a:spAutoFit/>
            </a:bodyPr>
            <a:lstStyle/>
            <a:p>
              <a:pPr algn="ctr"/>
              <a:r>
                <a:rPr lang="zh-CN" sz="560" dirty="0">
                  <a:solidFill>
                    <a:srgbClr val="6E7686"/>
                  </a:solidFill>
                  <a:latin typeface="+mn-lt"/>
                  <a:ea typeface="+mn-ea"/>
                  <a:cs typeface="+mn-cs"/>
                </a:rPr>
                <a:t>可追回</a:t>
              </a:r>
            </a:p>
          </p:txBody>
        </p:sp>
        <p:sp>
          <p:nvSpPr>
            <p:cNvPr id="76" name="TextBox 76"/>
            <p:cNvSpPr txBox="1"/>
            <p:nvPr/>
          </p:nvSpPr>
          <p:spPr>
            <a:xfrm>
              <a:off x="5014403" y="1234916"/>
              <a:ext cx="867795" cy="161925"/>
            </a:xfrm>
            <a:prstGeom prst="rect">
              <a:avLst/>
            </a:prstGeom>
            <a:noFill/>
            <a:ln>
              <a:noFill/>
            </a:ln>
          </p:spPr>
          <p:txBody>
            <a:bodyPr wrap="none" lIns="0" tIns="0" rIns="0" bIns="0" anchor="t" anchorCtr="0">
              <a:spAutoFit/>
            </a:bodyPr>
            <a:lstStyle/>
            <a:p>
              <a:pPr algn="ctr"/>
              <a:r>
                <a:rPr lang="zh-CN" sz="820" b="1" dirty="0">
                  <a:solidFill>
                    <a:srgbClr val="C03616"/>
                  </a:solidFill>
                  <a:latin typeface="+mn-lt"/>
                  <a:ea typeface="+mn-ea"/>
                  <a:cs typeface="+mn-cs"/>
                </a:rPr>
                <a:t xml:space="preserve">   1.20亿元   </a:t>
              </a:r>
            </a:p>
          </p:txBody>
        </p:sp>
        <p:sp>
          <p:nvSpPr>
            <p:cNvPr id="77" name="Rectangle 77"/>
            <p:cNvSpPr/>
            <p:nvPr/>
          </p:nvSpPr>
          <p:spPr>
            <a:xfrm>
              <a:off x="3571875" y="1575435"/>
              <a:ext cx="342900" cy="672465"/>
            </a:xfrm>
            <a:prstGeom prst="rect">
              <a:avLst/>
            </a:prstGeom>
            <a:solidFill>
              <a:srgbClr val="9AA3B5"/>
            </a:solidFill>
            <a:ln>
              <a:noFill/>
            </a:ln>
          </p:spPr>
        </p:sp>
        <p:sp>
          <p:nvSpPr>
            <p:cNvPr id="78" name="TextBox 78"/>
            <p:cNvSpPr txBox="1"/>
            <p:nvPr/>
          </p:nvSpPr>
          <p:spPr>
            <a:xfrm>
              <a:off x="3528656" y="1472565"/>
              <a:ext cx="429337" cy="119062"/>
            </a:xfrm>
            <a:prstGeom prst="rect">
              <a:avLst/>
            </a:prstGeom>
            <a:noFill/>
            <a:ln>
              <a:noFill/>
            </a:ln>
          </p:spPr>
          <p:txBody>
            <a:bodyPr wrap="none" lIns="0" tIns="0" rIns="0" bIns="0" anchor="t" anchorCtr="0">
              <a:spAutoFit/>
            </a:bodyPr>
            <a:lstStyle/>
            <a:p>
              <a:pPr algn="ctr"/>
              <a:r>
                <a:rPr lang="zh-CN" sz="600" b="1" dirty="0">
                  <a:solidFill>
                    <a:srgbClr val="461910"/>
                  </a:solidFill>
                  <a:latin typeface="+mn-lt"/>
                  <a:ea typeface="+mn-ea"/>
                  <a:cs typeface="+mn-cs"/>
                </a:rPr>
                <a:t xml:space="preserve">  9,000  </a:t>
              </a:r>
            </a:p>
          </p:txBody>
        </p:sp>
        <p:sp>
          <p:nvSpPr>
            <p:cNvPr id="79" name="TextBox 79"/>
            <p:cNvSpPr txBox="1"/>
            <p:nvPr/>
          </p:nvSpPr>
          <p:spPr>
            <a:xfrm>
              <a:off x="3587788" y="2291953"/>
              <a:ext cx="311074" cy="111919"/>
            </a:xfrm>
            <a:prstGeom prst="rect">
              <a:avLst/>
            </a:prstGeom>
            <a:noFill/>
            <a:ln>
              <a:noFill/>
            </a:ln>
          </p:spPr>
          <p:txBody>
            <a:bodyPr wrap="none" lIns="0" tIns="0" rIns="0" bIns="0" anchor="t" anchorCtr="0">
              <a:spAutoFit/>
            </a:bodyPr>
            <a:lstStyle/>
            <a:p>
              <a:pPr algn="ctr"/>
              <a:r>
                <a:rPr lang="zh-CN" sz="560" dirty="0">
                  <a:solidFill>
                    <a:srgbClr val="523E3A"/>
                  </a:solidFill>
                  <a:latin typeface="+mn-lt"/>
                  <a:ea typeface="+mn-ea"/>
                  <a:cs typeface="+mn-cs"/>
                </a:rPr>
                <a:t>当前达成</a:t>
              </a:r>
            </a:p>
          </p:txBody>
        </p:sp>
        <p:sp>
          <p:nvSpPr>
            <p:cNvPr id="80" name="Rectangle 80"/>
            <p:cNvSpPr/>
            <p:nvPr/>
          </p:nvSpPr>
          <p:spPr>
            <a:xfrm>
              <a:off x="4429125" y="1485900"/>
              <a:ext cx="342900" cy="762000"/>
            </a:xfrm>
            <a:prstGeom prst="rect">
              <a:avLst/>
            </a:prstGeom>
            <a:solidFill>
              <a:srgbClr val="721E0D"/>
            </a:solidFill>
            <a:ln>
              <a:noFill/>
            </a:ln>
          </p:spPr>
        </p:sp>
        <p:sp>
          <p:nvSpPr>
            <p:cNvPr id="81" name="TextBox 81"/>
            <p:cNvSpPr txBox="1"/>
            <p:nvPr/>
          </p:nvSpPr>
          <p:spPr>
            <a:xfrm>
              <a:off x="4362583" y="1383030"/>
              <a:ext cx="475983" cy="119062"/>
            </a:xfrm>
            <a:prstGeom prst="rect">
              <a:avLst/>
            </a:prstGeom>
            <a:noFill/>
            <a:ln>
              <a:noFill/>
            </a:ln>
          </p:spPr>
          <p:txBody>
            <a:bodyPr wrap="none" lIns="0" tIns="0" rIns="0" bIns="0" anchor="t" anchorCtr="0">
              <a:spAutoFit/>
            </a:bodyPr>
            <a:lstStyle/>
            <a:p>
              <a:pPr algn="ctr"/>
              <a:r>
                <a:rPr lang="zh-CN" sz="600" b="1" dirty="0">
                  <a:solidFill>
                    <a:srgbClr val="461910"/>
                  </a:solidFill>
                  <a:latin typeface="+mn-lt"/>
                  <a:ea typeface="+mn-ea"/>
                  <a:cs typeface="+mn-cs"/>
                </a:rPr>
                <a:t xml:space="preserve">  10,200  </a:t>
              </a:r>
            </a:p>
          </p:txBody>
        </p:sp>
        <p:sp>
          <p:nvSpPr>
            <p:cNvPr id="82" name="TextBox 82"/>
            <p:cNvSpPr txBox="1"/>
            <p:nvPr/>
          </p:nvSpPr>
          <p:spPr>
            <a:xfrm>
              <a:off x="4445038" y="2291953"/>
              <a:ext cx="311074" cy="111919"/>
            </a:xfrm>
            <a:prstGeom prst="rect">
              <a:avLst/>
            </a:prstGeom>
            <a:noFill/>
            <a:ln>
              <a:noFill/>
            </a:ln>
          </p:spPr>
          <p:txBody>
            <a:bodyPr wrap="none" lIns="0" tIns="0" rIns="0" bIns="0" anchor="t" anchorCtr="0">
              <a:spAutoFit/>
            </a:bodyPr>
            <a:lstStyle/>
            <a:p>
              <a:pPr algn="ctr"/>
              <a:r>
                <a:rPr lang="zh-CN" sz="560" dirty="0">
                  <a:solidFill>
                    <a:srgbClr val="523E3A"/>
                  </a:solidFill>
                  <a:latin typeface="+mn-lt"/>
                  <a:ea typeface="+mn-ea"/>
                  <a:cs typeface="+mn-cs"/>
                </a:rPr>
                <a:t>基准可达</a:t>
              </a:r>
            </a:p>
          </p:txBody>
        </p:sp>
        <p:sp>
          <p:nvSpPr>
            <p:cNvPr id="83" name="Rectangle 83"/>
            <p:cNvSpPr/>
            <p:nvPr/>
          </p:nvSpPr>
          <p:spPr>
            <a:xfrm>
              <a:off x="5286375" y="2158365"/>
              <a:ext cx="342900" cy="89535"/>
            </a:xfrm>
            <a:prstGeom prst="rect">
              <a:avLst/>
            </a:prstGeom>
            <a:solidFill>
              <a:srgbClr val="FDECEC"/>
            </a:solidFill>
            <a:ln w="9525">
              <a:solidFill>
                <a:srgbClr val="C03616"/>
              </a:solidFill>
              <a:custDash>
                <a:ds d="300000" sp="200000"/>
              </a:custDash>
            </a:ln>
          </p:spPr>
        </p:sp>
        <p:sp>
          <p:nvSpPr>
            <p:cNvPr id="84" name="TextBox 84"/>
            <p:cNvSpPr txBox="1"/>
            <p:nvPr/>
          </p:nvSpPr>
          <p:spPr>
            <a:xfrm>
              <a:off x="5243156" y="2055495"/>
              <a:ext cx="429337" cy="119062"/>
            </a:xfrm>
            <a:prstGeom prst="rect">
              <a:avLst/>
            </a:prstGeom>
            <a:noFill/>
            <a:ln>
              <a:noFill/>
            </a:ln>
          </p:spPr>
          <p:txBody>
            <a:bodyPr wrap="none" lIns="0" tIns="0" rIns="0" bIns="0" anchor="t" anchorCtr="0">
              <a:spAutoFit/>
            </a:bodyPr>
            <a:lstStyle/>
            <a:p>
              <a:pPr algn="ctr"/>
              <a:r>
                <a:rPr lang="zh-CN" sz="600" b="1" dirty="0">
                  <a:solidFill>
                    <a:srgbClr val="C03616"/>
                  </a:solidFill>
                  <a:latin typeface="+mn-lt"/>
                  <a:ea typeface="+mn-ea"/>
                  <a:cs typeface="+mn-cs"/>
                </a:rPr>
                <a:t xml:space="preserve">  1,200  </a:t>
              </a:r>
            </a:p>
          </p:txBody>
        </p:sp>
        <p:sp>
          <p:nvSpPr>
            <p:cNvPr id="85" name="TextBox 85"/>
            <p:cNvSpPr txBox="1"/>
            <p:nvPr/>
          </p:nvSpPr>
          <p:spPr>
            <a:xfrm>
              <a:off x="5339982" y="2291953"/>
              <a:ext cx="235687" cy="111919"/>
            </a:xfrm>
            <a:prstGeom prst="rect">
              <a:avLst/>
            </a:prstGeom>
            <a:noFill/>
            <a:ln>
              <a:noFill/>
            </a:ln>
          </p:spPr>
          <p:txBody>
            <a:bodyPr wrap="none" lIns="0" tIns="0" rIns="0" bIns="0" anchor="t" anchorCtr="0">
              <a:spAutoFit/>
            </a:bodyPr>
            <a:lstStyle/>
            <a:p>
              <a:pPr algn="ctr"/>
              <a:r>
                <a:rPr lang="zh-CN" sz="560" dirty="0">
                  <a:solidFill>
                    <a:srgbClr val="523E3A"/>
                  </a:solidFill>
                  <a:latin typeface="+mn-lt"/>
                  <a:ea typeface="+mn-ea"/>
                  <a:cs typeface="+mn-cs"/>
                </a:rPr>
                <a:t>可追回</a:t>
              </a:r>
            </a:p>
          </p:txBody>
        </p:sp>
        <p:sp>
          <p:nvSpPr>
            <p:cNvPr id="86" name="TextBox 86"/>
            <p:cNvSpPr txBox="1"/>
            <p:nvPr/>
          </p:nvSpPr>
          <p:spPr>
            <a:xfrm>
              <a:off x="3939159" y="1649730"/>
              <a:ext cx="465582" cy="223838"/>
            </a:xfrm>
            <a:prstGeom prst="rect">
              <a:avLst/>
            </a:prstGeom>
            <a:noFill/>
            <a:ln>
              <a:noFill/>
            </a:ln>
          </p:spPr>
          <p:txBody>
            <a:bodyPr wrap="none" lIns="0" tIns="0" rIns="0" bIns="0" anchor="t" anchorCtr="0">
              <a:spAutoFit/>
            </a:bodyPr>
            <a:lstStyle/>
            <a:p>
              <a:pPr algn="ctr">
                <a:lnSpc>
                  <a:spcPts val="825"/>
                </a:lnSpc>
              </a:pPr>
              <a:r>
                <a:rPr lang="zh-CN" sz="600" b="1" dirty="0">
                  <a:solidFill>
                    <a:srgbClr val="721E0D"/>
                  </a:solidFill>
                  <a:latin typeface="+mn-lt"/>
                  <a:ea typeface="+mn-ea"/>
                  <a:cs typeface="+mn-cs"/>
                </a:rPr>
                <a:t xml:space="preserve">+1,200  </a:t>
              </a:r>
              <a:br/>
              <a:r>
                <a:rPr lang="zh-CN" sz="600" b="1" dirty="0">
                  <a:solidFill>
                    <a:srgbClr val="721E0D"/>
                  </a:solidFill>
                  <a:latin typeface="+mn-lt"/>
                  <a:ea typeface="+mn-ea"/>
                  <a:cs typeface="+mn-cs"/>
                </a:rPr>
                <a:t xml:space="preserve">  +13.3%  </a:t>
              </a:r>
            </a:p>
          </p:txBody>
        </p:sp>
        <p:grpSp>
          <p:nvGrpSpPr>
            <p:cNvPr id="89" name="Group 89"/>
            <p:cNvGrpSpPr/>
            <p:nvPr/>
          </p:nvGrpSpPr>
          <p:grpSpPr>
            <a:xfrm>
              <a:off x="4140200" y="1911350"/>
              <a:ext cx="63500" cy="63500"/>
              <a:chOff x="4140200" y="1911350"/>
              <a:chExt cx="63500" cy="63500"/>
            </a:xfrm>
          </p:grpSpPr>
          <p:sp>
            <p:nvSpPr>
              <p:cNvPr id="87" name="Freeform 87"/>
              <p:cNvSpPr/>
              <p:nvPr/>
            </p:nvSpPr>
            <p:spPr>
              <a:xfrm>
                <a:off x="4140200" y="1911350"/>
                <a:ext cx="63500" cy="63500"/>
              </a:xfrm>
              <a:custGeom>
                <a:avLst/>
                <a:gdLst/>
                <a:ahLst/>
                <a:cxnLst/>
                <a:rect l="l" t="t" r="r" b="b"/>
                <a:pathLst>
                  <a:path w="63500" h="63500">
                    <a:moveTo>
                      <a:pt x="63500" y="0"/>
                    </a:moveTo>
                    <a:lnTo>
                      <a:pt x="0" y="63500"/>
                    </a:lnTo>
                  </a:path>
                </a:pathLst>
              </a:custGeom>
              <a:noFill/>
              <a:ln w="12700">
                <a:solidFill>
                  <a:srgbClr val="721E0D"/>
                </a:solidFill>
              </a:ln>
            </p:spPr>
          </p:sp>
          <p:sp>
            <p:nvSpPr>
              <p:cNvPr id="88" name="Freeform 88"/>
              <p:cNvSpPr/>
              <p:nvPr/>
            </p:nvSpPr>
            <p:spPr>
              <a:xfrm>
                <a:off x="4146550" y="1911350"/>
                <a:ext cx="57150" cy="57150"/>
              </a:xfrm>
              <a:custGeom>
                <a:avLst/>
                <a:gdLst/>
                <a:ahLst/>
                <a:cxnLst/>
                <a:rect l="l" t="t" r="r" b="b"/>
                <a:pathLst>
                  <a:path w="57150" h="57150">
                    <a:moveTo>
                      <a:pt x="0" y="0"/>
                    </a:moveTo>
                    <a:lnTo>
                      <a:pt x="57150" y="0"/>
                    </a:lnTo>
                    <a:lnTo>
                      <a:pt x="57150" y="57150"/>
                    </a:lnTo>
                  </a:path>
                </a:pathLst>
              </a:custGeom>
              <a:noFill/>
              <a:ln w="12700">
                <a:solidFill>
                  <a:srgbClr val="721E0D"/>
                </a:solidFill>
              </a:ln>
            </p:spPr>
          </p:sp>
        </p:grpSp>
        <p:sp>
          <p:nvSpPr>
            <p:cNvPr id="90" name="Line 90"/>
            <p:cNvSpPr/>
            <p:nvPr/>
          </p:nvSpPr>
          <p:spPr>
            <a:xfrm>
              <a:off x="3343275" y="2247900"/>
              <a:ext cx="2571750" cy="9525"/>
            </a:xfrm>
            <a:custGeom>
              <a:avLst/>
              <a:gdLst/>
              <a:ahLst/>
              <a:cxnLst/>
              <a:rect l="l" t="t" r="r" b="b"/>
              <a:pathLst>
                <a:path w="2571750" h="9525">
                  <a:moveTo>
                    <a:pt x="0" y="0"/>
                  </a:moveTo>
                  <a:lnTo>
                    <a:pt x="2571750" y="0"/>
                  </a:lnTo>
                </a:path>
              </a:pathLst>
            </a:custGeom>
            <a:noFill/>
            <a:ln w="9525">
              <a:solidFill>
                <a:srgbClr val="C9D6EE"/>
              </a:solidFill>
            </a:ln>
          </p:spPr>
        </p:sp>
        <p:sp>
          <p:nvSpPr>
            <p:cNvPr id="91" name="TextBox 91"/>
            <p:cNvSpPr txBox="1"/>
            <p:nvPr/>
          </p:nvSpPr>
          <p:spPr>
            <a:xfrm>
              <a:off x="3300412" y="2456736"/>
              <a:ext cx="583006"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基准追回抓手</a:t>
              </a:r>
            </a:p>
          </p:txBody>
        </p:sp>
        <p:sp>
          <p:nvSpPr>
            <p:cNvPr id="92" name="TextBox 92"/>
            <p:cNvSpPr txBox="1"/>
            <p:nvPr/>
          </p:nvSpPr>
          <p:spPr>
            <a:xfrm>
              <a:off x="5552376" y="2472928"/>
              <a:ext cx="386461" cy="111919"/>
            </a:xfrm>
            <a:prstGeom prst="rect">
              <a:avLst/>
            </a:prstGeom>
            <a:noFill/>
            <a:ln>
              <a:noFill/>
            </a:ln>
          </p:spPr>
          <p:txBody>
            <a:bodyPr wrap="none" lIns="0" tIns="0" rIns="0" bIns="0" anchor="t" anchorCtr="0">
              <a:spAutoFit/>
            </a:bodyPr>
            <a:lstStyle/>
            <a:p>
              <a:pPr algn="r"/>
              <a:r>
                <a:rPr lang="zh-CN" sz="560" dirty="0">
                  <a:solidFill>
                    <a:srgbClr val="6E7686"/>
                  </a:solidFill>
                  <a:latin typeface="+mn-lt"/>
                  <a:ea typeface="+mn-ea"/>
                  <a:cs typeface="+mn-cs"/>
                </a:rPr>
                <a:t>单位：万元</a:t>
              </a:r>
            </a:p>
          </p:txBody>
        </p:sp>
        <p:sp>
          <p:nvSpPr>
            <p:cNvPr id="93" name="Freeform 93"/>
            <p:cNvSpPr/>
            <p:nvPr/>
          </p:nvSpPr>
          <p:spPr>
            <a:xfrm>
              <a:off x="3341687" y="2646362"/>
              <a:ext cx="69850" cy="74216"/>
            </a:xfrm>
            <a:custGeom>
              <a:avLst/>
              <a:gdLst/>
              <a:ahLst/>
              <a:cxnLst/>
              <a:rect l="l" t="t" r="r" b="b"/>
              <a:pathLst>
                <a:path w="69850" h="74216">
                  <a:moveTo>
                    <a:pt x="0" y="0"/>
                  </a:moveTo>
                  <a:lnTo>
                    <a:pt x="69850" y="0"/>
                  </a:lnTo>
                  <a:lnTo>
                    <a:pt x="69850" y="9482"/>
                  </a:lnTo>
                  <a:cubicBezTo>
                    <a:pt x="69849" y="11798"/>
                    <a:pt x="68929" y="14018"/>
                    <a:pt x="67292" y="15655"/>
                  </a:cubicBezTo>
                  <a:lnTo>
                    <a:pt x="48022" y="34925"/>
                  </a:lnTo>
                  <a:lnTo>
                    <a:pt x="48022" y="65484"/>
                  </a:lnTo>
                  <a:lnTo>
                    <a:pt x="21828" y="74216"/>
                  </a:lnTo>
                  <a:lnTo>
                    <a:pt x="21828" y="37108"/>
                  </a:lnTo>
                  <a:lnTo>
                    <a:pt x="2270" y="15594"/>
                  </a:lnTo>
                  <a:cubicBezTo>
                    <a:pt x="810" y="13987"/>
                    <a:pt x="0" y="11894"/>
                    <a:pt x="0" y="9722"/>
                  </a:cubicBezTo>
                  <a:lnTo>
                    <a:pt x="0" y="0"/>
                  </a:lnTo>
                </a:path>
              </a:pathLst>
            </a:custGeom>
            <a:noFill/>
            <a:ln w="8731">
              <a:solidFill>
                <a:srgbClr val="721E0D"/>
              </a:solidFill>
            </a:ln>
          </p:spPr>
        </p:sp>
        <p:sp>
          <p:nvSpPr>
            <p:cNvPr id="94" name="TextBox 94"/>
            <p:cNvSpPr txBox="1"/>
            <p:nvPr/>
          </p:nvSpPr>
          <p:spPr>
            <a:xfrm>
              <a:off x="3471862" y="2653903"/>
              <a:ext cx="688010" cy="111919"/>
            </a:xfrm>
            <a:prstGeom prst="rect">
              <a:avLst/>
            </a:prstGeom>
            <a:noFill/>
            <a:ln>
              <a:noFill/>
            </a:ln>
          </p:spPr>
          <p:txBody>
            <a:bodyPr wrap="none" lIns="0" tIns="0" rIns="0" bIns="0" anchor="t" anchorCtr="0">
              <a:spAutoFit/>
            </a:bodyPr>
            <a:lstStyle/>
            <a:p>
              <a:pPr algn="l"/>
              <a:r>
                <a:rPr lang="zh-CN" sz="560" dirty="0">
                  <a:solidFill>
                    <a:srgbClr val="523E3A"/>
                  </a:solidFill>
                  <a:latin typeface="+mn-lt"/>
                  <a:ea typeface="+mn-ea"/>
                  <a:cs typeface="+mn-cs"/>
                </a:rPr>
                <a:t>线索清洗与精准分配</a:t>
              </a:r>
            </a:p>
          </p:txBody>
        </p:sp>
        <p:sp>
          <p:nvSpPr>
            <p:cNvPr id="95" name="TextBox 95"/>
            <p:cNvSpPr txBox="1"/>
            <p:nvPr/>
          </p:nvSpPr>
          <p:spPr>
            <a:xfrm>
              <a:off x="5657983" y="2649855"/>
              <a:ext cx="242754" cy="119062"/>
            </a:xfrm>
            <a:prstGeom prst="rect">
              <a:avLst/>
            </a:prstGeom>
            <a:noFill/>
            <a:ln>
              <a:noFill/>
            </a:ln>
          </p:spPr>
          <p:txBody>
            <a:bodyPr wrap="none" lIns="0" tIns="0" rIns="0" bIns="0" anchor="t" anchorCtr="0">
              <a:spAutoFit/>
            </a:bodyPr>
            <a:lstStyle/>
            <a:p>
              <a:pPr algn="r"/>
              <a:r>
                <a:rPr lang="zh-CN" sz="600" b="1" dirty="0">
                  <a:solidFill>
                    <a:srgbClr val="721E0D"/>
                  </a:solidFill>
                  <a:latin typeface="+mn-lt"/>
                  <a:ea typeface="+mn-ea"/>
                  <a:cs typeface="+mn-cs"/>
                </a:rPr>
                <a:t xml:space="preserve"> +400</a:t>
              </a:r>
            </a:p>
          </p:txBody>
        </p:sp>
        <p:sp>
          <p:nvSpPr>
            <p:cNvPr id="96" name="Line 96"/>
            <p:cNvSpPr/>
            <p:nvPr/>
          </p:nvSpPr>
          <p:spPr>
            <a:xfrm>
              <a:off x="3305175" y="2762250"/>
              <a:ext cx="2628900" cy="9525"/>
            </a:xfrm>
            <a:custGeom>
              <a:avLst/>
              <a:gdLst/>
              <a:ahLst/>
              <a:cxnLst/>
              <a:rect l="l" t="t" r="r" b="b"/>
              <a:pathLst>
                <a:path w="2628900" h="9525">
                  <a:moveTo>
                    <a:pt x="0" y="0"/>
                  </a:moveTo>
                  <a:lnTo>
                    <a:pt x="2628900" y="0"/>
                  </a:lnTo>
                </a:path>
              </a:pathLst>
            </a:custGeom>
            <a:noFill/>
            <a:ln w="7620">
              <a:solidFill>
                <a:srgbClr val="E6EAF2"/>
              </a:solidFill>
            </a:ln>
          </p:spPr>
        </p:sp>
        <p:grpSp>
          <p:nvGrpSpPr>
            <p:cNvPr id="101" name="Group 101"/>
            <p:cNvGrpSpPr/>
            <p:nvPr/>
          </p:nvGrpSpPr>
          <p:grpSpPr>
            <a:xfrm>
              <a:off x="3346053" y="2798762"/>
              <a:ext cx="65485" cy="74216"/>
              <a:chOff x="3346053" y="2798762"/>
              <a:chExt cx="65485" cy="74216"/>
            </a:xfrm>
          </p:grpSpPr>
          <p:sp>
            <p:nvSpPr>
              <p:cNvPr id="97" name="Freeform 97"/>
              <p:cNvSpPr/>
              <p:nvPr/>
            </p:nvSpPr>
            <p:spPr>
              <a:xfrm>
                <a:off x="3346053" y="2798762"/>
                <a:ext cx="52387" cy="69850"/>
              </a:xfrm>
              <a:custGeom>
                <a:avLst/>
                <a:gdLst/>
                <a:ahLst/>
                <a:cxnLst/>
                <a:rect l="l" t="t" r="r" b="b"/>
                <a:pathLst>
                  <a:path w="52387" h="69850">
                    <a:moveTo>
                      <a:pt x="20147" y="69850"/>
                    </a:moveTo>
                    <a:lnTo>
                      <a:pt x="8731" y="69850"/>
                    </a:lnTo>
                    <a:cubicBezTo>
                      <a:pt x="3909" y="69850"/>
                      <a:pt x="0" y="65941"/>
                      <a:pt x="0" y="61119"/>
                    </a:cubicBezTo>
                    <a:lnTo>
                      <a:pt x="0" y="8731"/>
                    </a:lnTo>
                    <a:cubicBezTo>
                      <a:pt x="0" y="3909"/>
                      <a:pt x="3909" y="0"/>
                      <a:pt x="8731" y="0"/>
                    </a:cubicBezTo>
                    <a:lnTo>
                      <a:pt x="43656" y="0"/>
                    </a:lnTo>
                    <a:cubicBezTo>
                      <a:pt x="48478" y="0"/>
                      <a:pt x="52387" y="3909"/>
                      <a:pt x="52387" y="8731"/>
                    </a:cubicBezTo>
                    <a:lnTo>
                      <a:pt x="52387" y="43656"/>
                    </a:lnTo>
                  </a:path>
                </a:pathLst>
              </a:custGeom>
              <a:noFill/>
              <a:ln w="8731">
                <a:solidFill>
                  <a:srgbClr val="721E0D"/>
                </a:solidFill>
              </a:ln>
            </p:spPr>
          </p:sp>
          <p:sp>
            <p:nvSpPr>
              <p:cNvPr id="98" name="Freeform 98"/>
              <p:cNvSpPr/>
              <p:nvPr/>
            </p:nvSpPr>
            <p:spPr>
              <a:xfrm>
                <a:off x="3385344" y="2855516"/>
                <a:ext cx="26194" cy="17462"/>
              </a:xfrm>
              <a:custGeom>
                <a:avLst/>
                <a:gdLst/>
                <a:ahLst/>
                <a:cxnLst/>
                <a:rect l="l" t="t" r="r" b="b"/>
                <a:pathLst>
                  <a:path w="26194" h="17462">
                    <a:moveTo>
                      <a:pt x="0" y="8731"/>
                    </a:moveTo>
                    <a:lnTo>
                      <a:pt x="8731" y="17462"/>
                    </a:lnTo>
                    <a:lnTo>
                      <a:pt x="26194" y="0"/>
                    </a:lnTo>
                  </a:path>
                </a:pathLst>
              </a:custGeom>
              <a:noFill/>
              <a:ln w="8731">
                <a:solidFill>
                  <a:srgbClr val="721E0D"/>
                </a:solidFill>
              </a:ln>
            </p:spPr>
          </p:sp>
          <p:sp>
            <p:nvSpPr>
              <p:cNvPr id="99" name="Freeform 99"/>
              <p:cNvSpPr/>
              <p:nvPr/>
            </p:nvSpPr>
            <p:spPr>
              <a:xfrm>
                <a:off x="3363516" y="2816225"/>
                <a:ext cx="17462" cy="9525"/>
              </a:xfrm>
              <a:custGeom>
                <a:avLst/>
                <a:gdLst/>
                <a:ahLst/>
                <a:cxnLst/>
                <a:rect l="l" t="t" r="r" b="b"/>
                <a:pathLst>
                  <a:path w="17462" h="9525">
                    <a:moveTo>
                      <a:pt x="0" y="0"/>
                    </a:moveTo>
                    <a:lnTo>
                      <a:pt x="17462" y="0"/>
                    </a:lnTo>
                  </a:path>
                </a:pathLst>
              </a:custGeom>
              <a:noFill/>
              <a:ln w="8731">
                <a:solidFill>
                  <a:srgbClr val="721E0D"/>
                </a:solidFill>
              </a:ln>
            </p:spPr>
          </p:sp>
          <p:sp>
            <p:nvSpPr>
              <p:cNvPr id="100" name="Freeform 100"/>
              <p:cNvSpPr/>
              <p:nvPr/>
            </p:nvSpPr>
            <p:spPr>
              <a:xfrm>
                <a:off x="3363516" y="2833687"/>
                <a:ext cx="9525" cy="9525"/>
              </a:xfrm>
              <a:custGeom>
                <a:avLst/>
                <a:gdLst/>
                <a:ahLst/>
                <a:cxnLst/>
                <a:rect l="l" t="t" r="r" b="b"/>
                <a:pathLst>
                  <a:path w="9525" h="9525">
                    <a:moveTo>
                      <a:pt x="0" y="0"/>
                    </a:moveTo>
                    <a:lnTo>
                      <a:pt x="8731" y="0"/>
                    </a:lnTo>
                  </a:path>
                </a:pathLst>
              </a:custGeom>
              <a:noFill/>
              <a:ln w="8731">
                <a:solidFill>
                  <a:srgbClr val="721E0D"/>
                </a:solidFill>
              </a:ln>
            </p:spPr>
          </p:sp>
        </p:grpSp>
        <p:sp>
          <p:nvSpPr>
            <p:cNvPr id="102" name="TextBox 102"/>
            <p:cNvSpPr txBox="1"/>
            <p:nvPr/>
          </p:nvSpPr>
          <p:spPr>
            <a:xfrm>
              <a:off x="3471862" y="2806303"/>
              <a:ext cx="1084148" cy="111919"/>
            </a:xfrm>
            <a:prstGeom prst="rect">
              <a:avLst/>
            </a:prstGeom>
            <a:noFill/>
            <a:ln>
              <a:noFill/>
            </a:ln>
          </p:spPr>
          <p:txBody>
            <a:bodyPr wrap="none" lIns="0" tIns="0" rIns="0" bIns="0" anchor="t" anchorCtr="0">
              <a:spAutoFit/>
            </a:bodyPr>
            <a:lstStyle/>
            <a:p>
              <a:pPr algn="l"/>
              <a:r>
                <a:rPr lang="zh-CN" sz="560" dirty="0">
                  <a:solidFill>
                    <a:srgbClr val="523E3A"/>
                  </a:solidFill>
                  <a:latin typeface="+mn-lt"/>
                  <a:ea typeface="+mn-ea"/>
                  <a:cs typeface="+mn-cs"/>
                </a:rPr>
                <a:t xml:space="preserve">销售动作SOP与过程管控      </a:t>
              </a:r>
            </a:p>
          </p:txBody>
        </p:sp>
        <p:sp>
          <p:nvSpPr>
            <p:cNvPr id="103" name="TextBox 103"/>
            <p:cNvSpPr txBox="1"/>
            <p:nvPr/>
          </p:nvSpPr>
          <p:spPr>
            <a:xfrm>
              <a:off x="5657983" y="2802255"/>
              <a:ext cx="242754" cy="119062"/>
            </a:xfrm>
            <a:prstGeom prst="rect">
              <a:avLst/>
            </a:prstGeom>
            <a:noFill/>
            <a:ln>
              <a:noFill/>
            </a:ln>
          </p:spPr>
          <p:txBody>
            <a:bodyPr wrap="none" lIns="0" tIns="0" rIns="0" bIns="0" anchor="t" anchorCtr="0">
              <a:spAutoFit/>
            </a:bodyPr>
            <a:lstStyle/>
            <a:p>
              <a:pPr algn="r"/>
              <a:r>
                <a:rPr lang="zh-CN" sz="600" b="1" dirty="0">
                  <a:solidFill>
                    <a:srgbClr val="721E0D"/>
                  </a:solidFill>
                  <a:latin typeface="+mn-lt"/>
                  <a:ea typeface="+mn-ea"/>
                  <a:cs typeface="+mn-cs"/>
                </a:rPr>
                <a:t xml:space="preserve"> +350</a:t>
              </a:r>
            </a:p>
          </p:txBody>
        </p:sp>
        <p:sp>
          <p:nvSpPr>
            <p:cNvPr id="104" name="Line 104"/>
            <p:cNvSpPr/>
            <p:nvPr/>
          </p:nvSpPr>
          <p:spPr>
            <a:xfrm>
              <a:off x="3305175" y="2914650"/>
              <a:ext cx="2628900" cy="9525"/>
            </a:xfrm>
            <a:custGeom>
              <a:avLst/>
              <a:gdLst/>
              <a:ahLst/>
              <a:cxnLst/>
              <a:rect l="l" t="t" r="r" b="b"/>
              <a:pathLst>
                <a:path w="2628900" h="9525">
                  <a:moveTo>
                    <a:pt x="0" y="0"/>
                  </a:moveTo>
                  <a:lnTo>
                    <a:pt x="2628900" y="0"/>
                  </a:lnTo>
                </a:path>
              </a:pathLst>
            </a:custGeom>
            <a:noFill/>
            <a:ln w="7620">
              <a:solidFill>
                <a:srgbClr val="E6EAF2"/>
              </a:solidFill>
            </a:ln>
          </p:spPr>
        </p:sp>
        <p:grpSp>
          <p:nvGrpSpPr>
            <p:cNvPr id="107" name="Group 107"/>
            <p:cNvGrpSpPr/>
            <p:nvPr/>
          </p:nvGrpSpPr>
          <p:grpSpPr>
            <a:xfrm>
              <a:off x="3337322" y="2946797"/>
              <a:ext cx="78581" cy="78581"/>
              <a:chOff x="3337322" y="2946797"/>
              <a:chExt cx="78581" cy="78581"/>
            </a:xfrm>
          </p:grpSpPr>
          <p:sp>
            <p:nvSpPr>
              <p:cNvPr id="105" name="Freeform 105"/>
              <p:cNvSpPr/>
              <p:nvPr/>
            </p:nvSpPr>
            <p:spPr>
              <a:xfrm>
                <a:off x="3337322" y="2946797"/>
                <a:ext cx="61119" cy="61119"/>
              </a:xfrm>
              <a:custGeom>
                <a:avLst/>
                <a:gdLst/>
                <a:ahLst/>
                <a:cxnLst/>
                <a:rect l="l" t="t" r="r" b="b"/>
                <a:pathLst>
                  <a:path w="61119" h="61119">
                    <a:moveTo>
                      <a:pt x="0" y="30559"/>
                    </a:moveTo>
                    <a:cubicBezTo>
                      <a:pt x="0" y="47437"/>
                      <a:pt x="13682" y="61119"/>
                      <a:pt x="30559" y="61119"/>
                    </a:cubicBezTo>
                    <a:cubicBezTo>
                      <a:pt x="47437" y="61119"/>
                      <a:pt x="61119" y="47437"/>
                      <a:pt x="61119" y="30559"/>
                    </a:cubicBezTo>
                    <a:cubicBezTo>
                      <a:pt x="61119" y="13682"/>
                      <a:pt x="47437" y="0"/>
                      <a:pt x="30559" y="0"/>
                    </a:cubicBezTo>
                    <a:cubicBezTo>
                      <a:pt x="13682" y="0"/>
                      <a:pt x="0" y="13682"/>
                      <a:pt x="0" y="30559"/>
                    </a:cubicBezTo>
                  </a:path>
                </a:pathLst>
              </a:custGeom>
              <a:noFill/>
              <a:ln w="8731">
                <a:solidFill>
                  <a:srgbClr val="721E0D"/>
                </a:solidFill>
              </a:ln>
            </p:spPr>
          </p:sp>
          <p:sp>
            <p:nvSpPr>
              <p:cNvPr id="106" name="Freeform 106"/>
              <p:cNvSpPr/>
              <p:nvPr/>
            </p:nvSpPr>
            <p:spPr>
              <a:xfrm>
                <a:off x="3389709" y="2999184"/>
                <a:ext cx="26194" cy="26194"/>
              </a:xfrm>
              <a:custGeom>
                <a:avLst/>
                <a:gdLst/>
                <a:ahLst/>
                <a:cxnLst/>
                <a:rect l="l" t="t" r="r" b="b"/>
                <a:pathLst>
                  <a:path w="26194" h="26194">
                    <a:moveTo>
                      <a:pt x="26194" y="26194"/>
                    </a:moveTo>
                    <a:lnTo>
                      <a:pt x="0" y="0"/>
                    </a:lnTo>
                  </a:path>
                </a:pathLst>
              </a:custGeom>
              <a:noFill/>
              <a:ln w="8731">
                <a:solidFill>
                  <a:srgbClr val="721E0D"/>
                </a:solidFill>
              </a:ln>
            </p:spPr>
          </p:sp>
        </p:grpSp>
        <p:sp>
          <p:nvSpPr>
            <p:cNvPr id="108" name="TextBox 108"/>
            <p:cNvSpPr txBox="1"/>
            <p:nvPr/>
          </p:nvSpPr>
          <p:spPr>
            <a:xfrm>
              <a:off x="3471862" y="2958703"/>
              <a:ext cx="914171" cy="111919"/>
            </a:xfrm>
            <a:prstGeom prst="rect">
              <a:avLst/>
            </a:prstGeom>
            <a:noFill/>
            <a:ln>
              <a:noFill/>
            </a:ln>
          </p:spPr>
          <p:txBody>
            <a:bodyPr wrap="none" lIns="0" tIns="0" rIns="0" bIns="0" anchor="t" anchorCtr="0">
              <a:spAutoFit/>
            </a:bodyPr>
            <a:lstStyle/>
            <a:p>
              <a:pPr algn="l"/>
              <a:r>
                <a:rPr lang="zh-CN" sz="560" dirty="0">
                  <a:solidFill>
                    <a:srgbClr val="523E3A"/>
                  </a:solidFill>
                  <a:latin typeface="+mn-lt"/>
                  <a:ea typeface="+mn-ea"/>
                  <a:cs typeface="+mn-cs"/>
                </a:rPr>
                <a:t>商机评审与方案竞争力提升</a:t>
              </a:r>
            </a:p>
          </p:txBody>
        </p:sp>
        <p:sp>
          <p:nvSpPr>
            <p:cNvPr id="109" name="TextBox 109"/>
            <p:cNvSpPr txBox="1"/>
            <p:nvPr/>
          </p:nvSpPr>
          <p:spPr>
            <a:xfrm>
              <a:off x="5657983" y="2954655"/>
              <a:ext cx="242754" cy="119062"/>
            </a:xfrm>
            <a:prstGeom prst="rect">
              <a:avLst/>
            </a:prstGeom>
            <a:noFill/>
            <a:ln>
              <a:noFill/>
            </a:ln>
          </p:spPr>
          <p:txBody>
            <a:bodyPr wrap="none" lIns="0" tIns="0" rIns="0" bIns="0" anchor="t" anchorCtr="0">
              <a:spAutoFit/>
            </a:bodyPr>
            <a:lstStyle/>
            <a:p>
              <a:pPr algn="r"/>
              <a:r>
                <a:rPr lang="zh-CN" sz="600" b="1" dirty="0">
                  <a:solidFill>
                    <a:srgbClr val="721E0D"/>
                  </a:solidFill>
                  <a:latin typeface="+mn-lt"/>
                  <a:ea typeface="+mn-ea"/>
                  <a:cs typeface="+mn-cs"/>
                </a:rPr>
                <a:t xml:space="preserve"> +250</a:t>
              </a:r>
            </a:p>
          </p:txBody>
        </p:sp>
        <p:sp>
          <p:nvSpPr>
            <p:cNvPr id="110" name="Line 110"/>
            <p:cNvSpPr/>
            <p:nvPr/>
          </p:nvSpPr>
          <p:spPr>
            <a:xfrm>
              <a:off x="3305175" y="3067050"/>
              <a:ext cx="2628900" cy="9525"/>
            </a:xfrm>
            <a:custGeom>
              <a:avLst/>
              <a:gdLst/>
              <a:ahLst/>
              <a:cxnLst/>
              <a:rect l="l" t="t" r="r" b="b"/>
              <a:pathLst>
                <a:path w="2628900" h="9525">
                  <a:moveTo>
                    <a:pt x="0" y="0"/>
                  </a:moveTo>
                  <a:lnTo>
                    <a:pt x="2628900" y="0"/>
                  </a:lnTo>
                </a:path>
              </a:pathLst>
            </a:custGeom>
            <a:noFill/>
            <a:ln w="7620">
              <a:solidFill>
                <a:srgbClr val="E6EAF2"/>
              </a:solidFill>
            </a:ln>
          </p:spPr>
        </p:sp>
        <p:grpSp>
          <p:nvGrpSpPr>
            <p:cNvPr id="117" name="Group 117"/>
            <p:cNvGrpSpPr/>
            <p:nvPr/>
          </p:nvGrpSpPr>
          <p:grpSpPr>
            <a:xfrm>
              <a:off x="3337322" y="3099197"/>
              <a:ext cx="78581" cy="78581"/>
              <a:chOff x="3337322" y="3099197"/>
              <a:chExt cx="78581" cy="78581"/>
            </a:xfrm>
          </p:grpSpPr>
          <p:sp>
            <p:nvSpPr>
              <p:cNvPr id="111" name="Freeform 111"/>
              <p:cNvSpPr/>
              <p:nvPr/>
            </p:nvSpPr>
            <p:spPr>
              <a:xfrm>
                <a:off x="3367881" y="3134122"/>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721E0D"/>
                </a:solidFill>
              </a:ln>
            </p:spPr>
          </p:sp>
          <p:sp>
            <p:nvSpPr>
              <p:cNvPr id="112" name="Freeform 112"/>
              <p:cNvSpPr/>
              <p:nvPr/>
            </p:nvSpPr>
            <p:spPr>
              <a:xfrm>
                <a:off x="3359150" y="3164681"/>
                <a:ext cx="34925" cy="13097"/>
              </a:xfrm>
              <a:custGeom>
                <a:avLst/>
                <a:gdLst/>
                <a:ahLst/>
                <a:cxnLst/>
                <a:rect l="l" t="t" r="r" b="b"/>
                <a:pathLst>
                  <a:path w="34925" h="13097">
                    <a:moveTo>
                      <a:pt x="0" y="13097"/>
                    </a:moveTo>
                    <a:lnTo>
                      <a:pt x="0" y="8731"/>
                    </a:lnTo>
                    <a:cubicBezTo>
                      <a:pt x="0" y="3909"/>
                      <a:pt x="3909" y="0"/>
                      <a:pt x="8731" y="0"/>
                    </a:cubicBezTo>
                    <a:lnTo>
                      <a:pt x="26194" y="0"/>
                    </a:lnTo>
                    <a:cubicBezTo>
                      <a:pt x="31016" y="0"/>
                      <a:pt x="34925" y="3909"/>
                      <a:pt x="34925" y="8731"/>
                    </a:cubicBezTo>
                    <a:lnTo>
                      <a:pt x="34925" y="13097"/>
                    </a:lnTo>
                  </a:path>
                </a:pathLst>
              </a:custGeom>
              <a:noFill/>
              <a:ln w="8731">
                <a:solidFill>
                  <a:srgbClr val="721E0D"/>
                </a:solidFill>
              </a:ln>
            </p:spPr>
          </p:sp>
          <p:sp>
            <p:nvSpPr>
              <p:cNvPr id="113" name="Freeform 113"/>
              <p:cNvSpPr/>
              <p:nvPr/>
            </p:nvSpPr>
            <p:spPr>
              <a:xfrm>
                <a:off x="3389709" y="3099197"/>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721E0D"/>
                </a:solidFill>
              </a:ln>
            </p:spPr>
          </p:sp>
          <p:sp>
            <p:nvSpPr>
              <p:cNvPr id="114" name="Freeform 114"/>
              <p:cNvSpPr/>
              <p:nvPr/>
            </p:nvSpPr>
            <p:spPr>
              <a:xfrm>
                <a:off x="3398441" y="3129756"/>
                <a:ext cx="17462" cy="13097"/>
              </a:xfrm>
              <a:custGeom>
                <a:avLst/>
                <a:gdLst/>
                <a:ahLst/>
                <a:cxnLst/>
                <a:rect l="l" t="t" r="r" b="b"/>
                <a:pathLst>
                  <a:path w="17462" h="13097">
                    <a:moveTo>
                      <a:pt x="0" y="0"/>
                    </a:moveTo>
                    <a:lnTo>
                      <a:pt x="8731" y="0"/>
                    </a:lnTo>
                    <a:cubicBezTo>
                      <a:pt x="13553" y="0"/>
                      <a:pt x="17462" y="3909"/>
                      <a:pt x="17462" y="8731"/>
                    </a:cubicBezTo>
                    <a:lnTo>
                      <a:pt x="17462" y="13097"/>
                    </a:lnTo>
                  </a:path>
                </a:pathLst>
              </a:custGeom>
              <a:noFill/>
              <a:ln w="8731">
                <a:solidFill>
                  <a:srgbClr val="721E0D"/>
                </a:solidFill>
              </a:ln>
            </p:spPr>
          </p:sp>
          <p:sp>
            <p:nvSpPr>
              <p:cNvPr id="115" name="Freeform 115"/>
              <p:cNvSpPr/>
              <p:nvPr/>
            </p:nvSpPr>
            <p:spPr>
              <a:xfrm>
                <a:off x="3346053" y="3099197"/>
                <a:ext cx="17462" cy="17462"/>
              </a:xfrm>
              <a:custGeom>
                <a:avLst/>
                <a:gdLst/>
                <a:ahLst/>
                <a:cxnLst/>
                <a:rect l="l" t="t" r="r" b="b"/>
                <a:pathLst>
                  <a:path w="17462" h="17462">
                    <a:moveTo>
                      <a:pt x="0" y="8731"/>
                    </a:moveTo>
                    <a:cubicBezTo>
                      <a:pt x="0" y="13553"/>
                      <a:pt x="3909" y="17462"/>
                      <a:pt x="8731" y="17462"/>
                    </a:cubicBezTo>
                    <a:cubicBezTo>
                      <a:pt x="13553" y="17462"/>
                      <a:pt x="17462" y="13553"/>
                      <a:pt x="17462" y="8731"/>
                    </a:cubicBezTo>
                    <a:cubicBezTo>
                      <a:pt x="17462" y="3909"/>
                      <a:pt x="13553" y="0"/>
                      <a:pt x="8731" y="0"/>
                    </a:cubicBezTo>
                    <a:cubicBezTo>
                      <a:pt x="3909" y="0"/>
                      <a:pt x="0" y="3909"/>
                      <a:pt x="0" y="8731"/>
                    </a:cubicBezTo>
                  </a:path>
                </a:pathLst>
              </a:custGeom>
              <a:noFill/>
              <a:ln w="8731">
                <a:solidFill>
                  <a:srgbClr val="721E0D"/>
                </a:solidFill>
              </a:ln>
            </p:spPr>
          </p:sp>
          <p:sp>
            <p:nvSpPr>
              <p:cNvPr id="116" name="Freeform 116"/>
              <p:cNvSpPr/>
              <p:nvPr/>
            </p:nvSpPr>
            <p:spPr>
              <a:xfrm>
                <a:off x="3337322" y="3129756"/>
                <a:ext cx="17462" cy="13097"/>
              </a:xfrm>
              <a:custGeom>
                <a:avLst/>
                <a:gdLst/>
                <a:ahLst/>
                <a:cxnLst/>
                <a:rect l="l" t="t" r="r" b="b"/>
                <a:pathLst>
                  <a:path w="17462" h="13097">
                    <a:moveTo>
                      <a:pt x="0" y="13097"/>
                    </a:moveTo>
                    <a:lnTo>
                      <a:pt x="0" y="8731"/>
                    </a:lnTo>
                    <a:cubicBezTo>
                      <a:pt x="0" y="3909"/>
                      <a:pt x="3909" y="0"/>
                      <a:pt x="8731" y="0"/>
                    </a:cubicBezTo>
                    <a:lnTo>
                      <a:pt x="17462" y="0"/>
                    </a:lnTo>
                  </a:path>
                </a:pathLst>
              </a:custGeom>
              <a:noFill/>
              <a:ln w="8731">
                <a:solidFill>
                  <a:srgbClr val="721E0D"/>
                </a:solidFill>
              </a:ln>
            </p:spPr>
          </p:sp>
        </p:grpSp>
        <p:sp>
          <p:nvSpPr>
            <p:cNvPr id="118" name="TextBox 118"/>
            <p:cNvSpPr txBox="1"/>
            <p:nvPr/>
          </p:nvSpPr>
          <p:spPr>
            <a:xfrm>
              <a:off x="3471862" y="3111103"/>
              <a:ext cx="688010" cy="111919"/>
            </a:xfrm>
            <a:prstGeom prst="rect">
              <a:avLst/>
            </a:prstGeom>
            <a:noFill/>
            <a:ln>
              <a:noFill/>
            </a:ln>
          </p:spPr>
          <p:txBody>
            <a:bodyPr wrap="none" lIns="0" tIns="0" rIns="0" bIns="0" anchor="t" anchorCtr="0">
              <a:spAutoFit/>
            </a:bodyPr>
            <a:lstStyle/>
            <a:p>
              <a:pPr algn="l"/>
              <a:r>
                <a:rPr lang="zh-CN" sz="560" dirty="0">
                  <a:solidFill>
                    <a:srgbClr val="523E3A"/>
                  </a:solidFill>
                  <a:latin typeface="+mn-lt"/>
                  <a:ea typeface="+mn-ea"/>
                  <a:cs typeface="+mn-cs"/>
                </a:rPr>
                <a:t>高层支持与复盘加速</a:t>
              </a:r>
            </a:p>
          </p:txBody>
        </p:sp>
        <p:sp>
          <p:nvSpPr>
            <p:cNvPr id="119" name="TextBox 119"/>
            <p:cNvSpPr txBox="1"/>
            <p:nvPr/>
          </p:nvSpPr>
          <p:spPr>
            <a:xfrm>
              <a:off x="5657983" y="3107055"/>
              <a:ext cx="242754" cy="119062"/>
            </a:xfrm>
            <a:prstGeom prst="rect">
              <a:avLst/>
            </a:prstGeom>
            <a:noFill/>
            <a:ln>
              <a:noFill/>
            </a:ln>
          </p:spPr>
          <p:txBody>
            <a:bodyPr wrap="none" lIns="0" tIns="0" rIns="0" bIns="0" anchor="t" anchorCtr="0">
              <a:spAutoFit/>
            </a:bodyPr>
            <a:lstStyle/>
            <a:p>
              <a:pPr algn="r"/>
              <a:r>
                <a:rPr lang="zh-CN" sz="600" b="1" dirty="0">
                  <a:solidFill>
                    <a:srgbClr val="721E0D"/>
                  </a:solidFill>
                  <a:latin typeface="+mn-lt"/>
                  <a:ea typeface="+mn-ea"/>
                  <a:cs typeface="+mn-cs"/>
                </a:rPr>
                <a:t xml:space="preserve"> +200</a:t>
              </a:r>
            </a:p>
          </p:txBody>
        </p:sp>
        <p:sp>
          <p:nvSpPr>
            <p:cNvPr id="120" name="Line 120"/>
            <p:cNvSpPr/>
            <p:nvPr/>
          </p:nvSpPr>
          <p:spPr>
            <a:xfrm>
              <a:off x="3305175" y="3219450"/>
              <a:ext cx="2628900" cy="9525"/>
            </a:xfrm>
            <a:custGeom>
              <a:avLst/>
              <a:gdLst/>
              <a:ahLst/>
              <a:cxnLst/>
              <a:rect l="l" t="t" r="r" b="b"/>
              <a:pathLst>
                <a:path w="2628900" h="9525">
                  <a:moveTo>
                    <a:pt x="0" y="0"/>
                  </a:moveTo>
                  <a:lnTo>
                    <a:pt x="2628900" y="0"/>
                  </a:lnTo>
                </a:path>
              </a:pathLst>
            </a:custGeom>
            <a:noFill/>
            <a:ln w="7620">
              <a:solidFill>
                <a:srgbClr val="E6EAF2"/>
              </a:solidFill>
            </a:ln>
          </p:spPr>
        </p:sp>
        <p:sp>
          <p:nvSpPr>
            <p:cNvPr id="121" name="Rectangle 121"/>
            <p:cNvSpPr/>
            <p:nvPr/>
          </p:nvSpPr>
          <p:spPr>
            <a:xfrm>
              <a:off x="3305175" y="3219450"/>
              <a:ext cx="2628900" cy="161925"/>
            </a:xfrm>
            <a:prstGeom prst="rect">
              <a:avLst/>
            </a:prstGeom>
            <a:solidFill>
              <a:srgbClr val="EAF1FB"/>
            </a:solidFill>
            <a:ln>
              <a:noFill/>
            </a:ln>
          </p:spPr>
        </p:sp>
        <p:sp>
          <p:nvSpPr>
            <p:cNvPr id="122" name="TextBox 122"/>
            <p:cNvSpPr txBox="1"/>
            <p:nvPr/>
          </p:nvSpPr>
          <p:spPr>
            <a:xfrm>
              <a:off x="4534090" y="3268980"/>
              <a:ext cx="171069" cy="119062"/>
            </a:xfrm>
            <a:prstGeom prst="rect">
              <a:avLst/>
            </a:prstGeom>
            <a:noFill/>
            <a:ln>
              <a:noFill/>
            </a:ln>
          </p:spPr>
          <p:txBody>
            <a:bodyPr wrap="none" lIns="0" tIns="0" rIns="0" bIns="0" anchor="t" anchorCtr="0">
              <a:spAutoFit/>
            </a:bodyPr>
            <a:lstStyle/>
            <a:p>
              <a:pPr algn="ctr"/>
              <a:r>
                <a:rPr lang="zh-CN" sz="600" b="1" dirty="0">
                  <a:solidFill>
                    <a:srgbClr val="461910"/>
                  </a:solidFill>
                  <a:latin typeface="+mn-lt"/>
                  <a:ea typeface="+mn-ea"/>
                  <a:cs typeface="+mn-cs"/>
                </a:rPr>
                <a:t>合计</a:t>
              </a:r>
            </a:p>
          </p:txBody>
        </p:sp>
        <p:sp>
          <p:nvSpPr>
            <p:cNvPr id="123" name="TextBox 123"/>
            <p:cNvSpPr txBox="1"/>
            <p:nvPr/>
          </p:nvSpPr>
          <p:spPr>
            <a:xfrm>
              <a:off x="5471400" y="3268980"/>
              <a:ext cx="429337" cy="119062"/>
            </a:xfrm>
            <a:prstGeom prst="rect">
              <a:avLst/>
            </a:prstGeom>
            <a:noFill/>
            <a:ln>
              <a:noFill/>
            </a:ln>
          </p:spPr>
          <p:txBody>
            <a:bodyPr wrap="none" lIns="0" tIns="0" rIns="0" bIns="0" anchor="t" anchorCtr="0">
              <a:spAutoFit/>
            </a:bodyPr>
            <a:lstStyle/>
            <a:p>
              <a:pPr algn="r"/>
              <a:r>
                <a:rPr lang="zh-CN" sz="600" b="1" dirty="0">
                  <a:solidFill>
                    <a:srgbClr val="721E0D"/>
                  </a:solidFill>
                  <a:latin typeface="+mn-lt"/>
                  <a:ea typeface="+mn-ea"/>
                  <a:cs typeface="+mn-cs"/>
                </a:rPr>
                <a:t xml:space="preserve">   +1,200</a:t>
              </a:r>
            </a:p>
          </p:txBody>
        </p:sp>
      </p:grpSp>
      <p:grpSp>
        <p:nvGrpSpPr>
          <p:cNvPr id="171" name="judgment-3"/>
          <p:cNvGrpSpPr/>
          <p:nvPr/>
        </p:nvGrpSpPr>
        <p:grpSpPr>
          <a:xfrm>
            <a:off x="6153150" y="704850"/>
            <a:ext cx="2838450" cy="3390900"/>
            <a:chOff x="6153150" y="704850"/>
            <a:chExt cx="2838450" cy="3390900"/>
          </a:xfrm>
        </p:grpSpPr>
        <p:sp>
          <p:nvSpPr>
            <p:cNvPr id="125" name="Rectangle 125"/>
            <p:cNvSpPr/>
            <p:nvPr/>
          </p:nvSpPr>
          <p:spPr>
            <a:xfrm>
              <a:off x="6153150" y="704850"/>
              <a:ext cx="2838450" cy="3390900"/>
            </a:xfrm>
            <a:prstGeom prst="roundRect">
              <a:avLst>
                <a:gd name="adj" fmla="val 3356"/>
              </a:avLst>
            </a:prstGeom>
            <a:solidFill>
              <a:srgbClr val="FFFFFF"/>
            </a:solidFill>
            <a:ln w="14288">
              <a:solidFill>
                <a:srgbClr val="C9D6EE"/>
              </a:solidFill>
            </a:ln>
          </p:spPr>
        </p:sp>
        <p:grpSp>
          <p:nvGrpSpPr>
            <p:cNvPr id="128" name="Group 128"/>
            <p:cNvGrpSpPr/>
            <p:nvPr/>
          </p:nvGrpSpPr>
          <p:grpSpPr>
            <a:xfrm>
              <a:off x="6293644" y="826294"/>
              <a:ext cx="157163" cy="157163"/>
              <a:chOff x="6293644" y="826294"/>
              <a:chExt cx="157163" cy="157163"/>
            </a:xfrm>
          </p:grpSpPr>
          <p:sp>
            <p:nvSpPr>
              <p:cNvPr id="126" name="Freeform 126"/>
              <p:cNvSpPr/>
              <p:nvPr/>
            </p:nvSpPr>
            <p:spPr>
              <a:xfrm>
                <a:off x="6293644" y="8262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721E0D"/>
                </a:solidFill>
              </a:ln>
            </p:spPr>
          </p:sp>
          <p:sp>
            <p:nvSpPr>
              <p:cNvPr id="127" name="Freeform 127"/>
              <p:cNvSpPr/>
              <p:nvPr/>
            </p:nvSpPr>
            <p:spPr>
              <a:xfrm>
                <a:off x="6346031" y="887413"/>
                <a:ext cx="52388" cy="34925"/>
              </a:xfrm>
              <a:custGeom>
                <a:avLst/>
                <a:gdLst/>
                <a:ahLst/>
                <a:cxnLst/>
                <a:rect l="l" t="t" r="r" b="b"/>
                <a:pathLst>
                  <a:path w="52388" h="34925">
                    <a:moveTo>
                      <a:pt x="0" y="17463"/>
                    </a:moveTo>
                    <a:lnTo>
                      <a:pt x="17463" y="34925"/>
                    </a:lnTo>
                    <a:lnTo>
                      <a:pt x="52388" y="0"/>
                    </a:lnTo>
                  </a:path>
                </a:pathLst>
              </a:custGeom>
              <a:noFill/>
              <a:ln w="17463">
                <a:solidFill>
                  <a:srgbClr val="721E0D"/>
                </a:solidFill>
              </a:ln>
            </p:spPr>
          </p:sp>
        </p:grpSp>
        <p:sp>
          <p:nvSpPr>
            <p:cNvPr id="129" name="TextBox 129"/>
            <p:cNvSpPr txBox="1"/>
            <p:nvPr/>
          </p:nvSpPr>
          <p:spPr>
            <a:xfrm>
              <a:off x="6529388" y="860822"/>
              <a:ext cx="2258823"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 xml:space="preserve">判断三：路径潜力合计2.10亿元      </a:t>
              </a:r>
            </a:p>
          </p:txBody>
        </p:sp>
        <p:sp>
          <p:nvSpPr>
            <p:cNvPr id="130" name="Line 130"/>
            <p:cNvSpPr/>
            <p:nvPr/>
          </p:nvSpPr>
          <p:spPr>
            <a:xfrm>
              <a:off x="6248400" y="1047750"/>
              <a:ext cx="2647950" cy="9525"/>
            </a:xfrm>
            <a:custGeom>
              <a:avLst/>
              <a:gdLst/>
              <a:ahLst/>
              <a:cxnLst/>
              <a:rect l="l" t="t" r="r" b="b"/>
              <a:pathLst>
                <a:path w="2647950" h="9525">
                  <a:moveTo>
                    <a:pt x="0" y="0"/>
                  </a:moveTo>
                  <a:lnTo>
                    <a:pt x="2647950" y="0"/>
                  </a:lnTo>
                </a:path>
              </a:pathLst>
            </a:custGeom>
            <a:noFill/>
            <a:ln w="9525">
              <a:solidFill>
                <a:srgbClr val="E6EAF2"/>
              </a:solidFill>
            </a:ln>
          </p:spPr>
        </p:sp>
        <p:sp>
          <p:nvSpPr>
            <p:cNvPr id="131" name="TextBox 131"/>
            <p:cNvSpPr txBox="1"/>
            <p:nvPr/>
          </p:nvSpPr>
          <p:spPr>
            <a:xfrm>
              <a:off x="6262688" y="1142286"/>
              <a:ext cx="1774413"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 xml:space="preserve">三条路径额外潜力（在基准之上）      </a:t>
              </a:r>
            </a:p>
          </p:txBody>
        </p:sp>
        <p:sp>
          <p:nvSpPr>
            <p:cNvPr id="132" name="Rectangle 132"/>
            <p:cNvSpPr/>
            <p:nvPr/>
          </p:nvSpPr>
          <p:spPr>
            <a:xfrm>
              <a:off x="7924800" y="1085850"/>
              <a:ext cx="971550" cy="285750"/>
            </a:xfrm>
            <a:prstGeom prst="roundRect">
              <a:avLst>
                <a:gd name="adj" fmla="val 16667"/>
              </a:avLst>
            </a:prstGeom>
            <a:solidFill>
              <a:srgbClr val="FDECEC"/>
            </a:solidFill>
            <a:ln w="9525">
              <a:solidFill>
                <a:srgbClr val="F2C7C9"/>
              </a:solidFill>
            </a:ln>
          </p:spPr>
        </p:sp>
        <p:sp>
          <p:nvSpPr>
            <p:cNvPr id="133" name="TextBox 133"/>
            <p:cNvSpPr txBox="1"/>
            <p:nvPr/>
          </p:nvSpPr>
          <p:spPr>
            <a:xfrm>
              <a:off x="8179651" y="1129903"/>
              <a:ext cx="461848" cy="111919"/>
            </a:xfrm>
            <a:prstGeom prst="rect">
              <a:avLst/>
            </a:prstGeom>
            <a:noFill/>
            <a:ln>
              <a:noFill/>
            </a:ln>
          </p:spPr>
          <p:txBody>
            <a:bodyPr wrap="none" lIns="0" tIns="0" rIns="0" bIns="0" anchor="t" anchorCtr="0">
              <a:spAutoFit/>
            </a:bodyPr>
            <a:lstStyle/>
            <a:p>
              <a:pPr algn="ctr"/>
              <a:r>
                <a:rPr lang="zh-CN" sz="560" dirty="0">
                  <a:solidFill>
                    <a:srgbClr val="6E7686"/>
                  </a:solidFill>
                  <a:latin typeface="+mn-lt"/>
                  <a:ea typeface="+mn-ea"/>
                  <a:cs typeface="+mn-cs"/>
                </a:rPr>
                <a:t>路径潜力合计</a:t>
              </a:r>
            </a:p>
          </p:txBody>
        </p:sp>
        <p:sp>
          <p:nvSpPr>
            <p:cNvPr id="134" name="TextBox 134"/>
            <p:cNvSpPr txBox="1"/>
            <p:nvPr/>
          </p:nvSpPr>
          <p:spPr>
            <a:xfrm>
              <a:off x="7976678" y="1234916"/>
              <a:ext cx="867795" cy="161925"/>
            </a:xfrm>
            <a:prstGeom prst="rect">
              <a:avLst/>
            </a:prstGeom>
            <a:noFill/>
            <a:ln>
              <a:noFill/>
            </a:ln>
          </p:spPr>
          <p:txBody>
            <a:bodyPr wrap="none" lIns="0" tIns="0" rIns="0" bIns="0" anchor="t" anchorCtr="0">
              <a:spAutoFit/>
            </a:bodyPr>
            <a:lstStyle/>
            <a:p>
              <a:pPr algn="ctr"/>
              <a:r>
                <a:rPr lang="zh-CN" sz="820" b="1" dirty="0">
                  <a:solidFill>
                    <a:srgbClr val="C03616"/>
                  </a:solidFill>
                  <a:latin typeface="+mn-lt"/>
                  <a:ea typeface="+mn-ea"/>
                  <a:cs typeface="+mn-cs"/>
                </a:rPr>
                <a:t xml:space="preserve">   2.10亿元   </a:t>
              </a:r>
            </a:p>
          </p:txBody>
        </p:sp>
        <p:sp>
          <p:nvSpPr>
            <p:cNvPr id="135" name="TextBox 135"/>
            <p:cNvSpPr txBox="1"/>
            <p:nvPr/>
          </p:nvSpPr>
          <p:spPr>
            <a:xfrm>
              <a:off x="8514652" y="1463278"/>
              <a:ext cx="386461" cy="111919"/>
            </a:xfrm>
            <a:prstGeom prst="rect">
              <a:avLst/>
            </a:prstGeom>
            <a:noFill/>
            <a:ln>
              <a:noFill/>
            </a:ln>
          </p:spPr>
          <p:txBody>
            <a:bodyPr wrap="none" lIns="0" tIns="0" rIns="0" bIns="0" anchor="t" anchorCtr="0">
              <a:spAutoFit/>
            </a:bodyPr>
            <a:lstStyle/>
            <a:p>
              <a:pPr algn="r"/>
              <a:r>
                <a:rPr lang="zh-CN" sz="560" dirty="0">
                  <a:solidFill>
                    <a:srgbClr val="6E7686"/>
                  </a:solidFill>
                  <a:latin typeface="+mn-lt"/>
                  <a:ea typeface="+mn-ea"/>
                  <a:cs typeface="+mn-cs"/>
                </a:rPr>
                <a:t>单位：万元</a:t>
              </a:r>
            </a:p>
          </p:txBody>
        </p:sp>
        <p:sp>
          <p:nvSpPr>
            <p:cNvPr id="136" name="Ellipse 136"/>
            <p:cNvSpPr/>
            <p:nvPr/>
          </p:nvSpPr>
          <p:spPr>
            <a:xfrm>
              <a:off x="6276975" y="1590675"/>
              <a:ext cx="247650" cy="247650"/>
            </a:xfrm>
            <a:prstGeom prst="ellipse">
              <a:avLst/>
            </a:prstGeom>
            <a:solidFill>
              <a:srgbClr val="721E0D"/>
            </a:solidFill>
            <a:ln>
              <a:noFill/>
            </a:ln>
          </p:spPr>
        </p:sp>
        <p:grpSp>
          <p:nvGrpSpPr>
            <p:cNvPr id="141" name="Group 141"/>
            <p:cNvGrpSpPr/>
            <p:nvPr/>
          </p:nvGrpSpPr>
          <p:grpSpPr>
            <a:xfrm>
              <a:off x="6343650" y="1657350"/>
              <a:ext cx="114300" cy="114301"/>
              <a:chOff x="6343650" y="1657350"/>
              <a:chExt cx="114300" cy="114301"/>
            </a:xfrm>
          </p:grpSpPr>
          <p:sp>
            <p:nvSpPr>
              <p:cNvPr id="137" name="Freeform 137"/>
              <p:cNvSpPr/>
              <p:nvPr/>
            </p:nvSpPr>
            <p:spPr>
              <a:xfrm>
                <a:off x="6356350" y="1657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38" name="Freeform 138"/>
              <p:cNvSpPr/>
              <p:nvPr/>
            </p:nvSpPr>
            <p:spPr>
              <a:xfrm>
                <a:off x="6343650" y="17335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139" name="Freeform 139"/>
              <p:cNvSpPr/>
              <p:nvPr/>
            </p:nvSpPr>
            <p:spPr>
              <a:xfrm>
                <a:off x="6426200" y="165817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140" name="Freeform 140"/>
              <p:cNvSpPr/>
              <p:nvPr/>
            </p:nvSpPr>
            <p:spPr>
              <a:xfrm>
                <a:off x="6438900" y="173450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142" name="TextBox 142"/>
            <p:cNvSpPr txBox="1"/>
            <p:nvPr/>
          </p:nvSpPr>
          <p:spPr>
            <a:xfrm>
              <a:off x="6586538" y="1603534"/>
              <a:ext cx="375691" cy="133350"/>
            </a:xfrm>
            <a:prstGeom prst="rect">
              <a:avLst/>
            </a:prstGeom>
            <a:noFill/>
            <a:ln>
              <a:noFill/>
            </a:ln>
          </p:spPr>
          <p:txBody>
            <a:bodyPr wrap="none" lIns="0" tIns="0" rIns="0" bIns="0" anchor="t" anchorCtr="0">
              <a:spAutoFit/>
            </a:bodyPr>
            <a:lstStyle/>
            <a:p>
              <a:pPr algn="l"/>
              <a:r>
                <a:rPr lang="zh-CN" sz="680" b="1" dirty="0">
                  <a:solidFill>
                    <a:srgbClr val="461910"/>
                  </a:solidFill>
                  <a:latin typeface="+mn-lt"/>
                  <a:ea typeface="+mn-ea"/>
                  <a:cs typeface="+mn-cs"/>
                </a:rPr>
                <a:t>增长路径</a:t>
              </a:r>
            </a:p>
          </p:txBody>
        </p:sp>
        <p:sp>
          <p:nvSpPr>
            <p:cNvPr id="143" name="TextBox 143"/>
            <p:cNvSpPr txBox="1"/>
            <p:nvPr/>
          </p:nvSpPr>
          <p:spPr>
            <a:xfrm>
              <a:off x="6586538" y="1743551"/>
              <a:ext cx="639547" cy="104775"/>
            </a:xfrm>
            <a:prstGeom prst="rect">
              <a:avLst/>
            </a:prstGeom>
            <a:noFill/>
            <a:ln>
              <a:noFill/>
            </a:ln>
          </p:spPr>
          <p:txBody>
            <a:bodyPr wrap="none" lIns="0" tIns="0" rIns="0" bIns="0" anchor="t" anchorCtr="0">
              <a:spAutoFit/>
            </a:bodyPr>
            <a:lstStyle/>
            <a:p>
              <a:pPr algn="l"/>
              <a:r>
                <a:rPr lang="zh-CN" sz="520" dirty="0">
                  <a:solidFill>
                    <a:srgbClr val="6E7686"/>
                  </a:solidFill>
                  <a:latin typeface="+mn-lt"/>
                  <a:ea typeface="+mn-ea"/>
                  <a:cs typeface="+mn-cs"/>
                </a:rPr>
                <a:t>新增线索与新客突破</a:t>
              </a:r>
            </a:p>
          </p:txBody>
        </p:sp>
        <p:sp>
          <p:nvSpPr>
            <p:cNvPr id="144" name="Rectangle 144"/>
            <p:cNvSpPr/>
            <p:nvPr/>
          </p:nvSpPr>
          <p:spPr>
            <a:xfrm>
              <a:off x="7410450" y="1638300"/>
              <a:ext cx="1047750" cy="152400"/>
            </a:xfrm>
            <a:prstGeom prst="rect">
              <a:avLst/>
            </a:prstGeom>
            <a:solidFill>
              <a:srgbClr val="721E0D"/>
            </a:solidFill>
            <a:ln>
              <a:noFill/>
            </a:ln>
          </p:spPr>
        </p:sp>
        <p:sp>
          <p:nvSpPr>
            <p:cNvPr id="145" name="TextBox 145"/>
            <p:cNvSpPr txBox="1"/>
            <p:nvPr/>
          </p:nvSpPr>
          <p:spPr>
            <a:xfrm>
              <a:off x="8491538" y="1679734"/>
              <a:ext cx="432447" cy="133350"/>
            </a:xfrm>
            <a:prstGeom prst="rect">
              <a:avLst/>
            </a:prstGeom>
            <a:noFill/>
            <a:ln>
              <a:noFill/>
            </a:ln>
          </p:spPr>
          <p:txBody>
            <a:bodyPr wrap="none" lIns="0" tIns="0" rIns="0" bIns="0" anchor="t" anchorCtr="0">
              <a:spAutoFit/>
            </a:bodyPr>
            <a:lstStyle/>
            <a:p>
              <a:pPr algn="l"/>
              <a:r>
                <a:rPr lang="zh-CN" sz="680" b="1" dirty="0">
                  <a:solidFill>
                    <a:srgbClr val="721E0D"/>
                  </a:solidFill>
                  <a:latin typeface="+mn-lt"/>
                  <a:ea typeface="+mn-ea"/>
                  <a:cs typeface="+mn-cs"/>
                </a:rPr>
                <a:t xml:space="preserve">9,000   </a:t>
              </a:r>
            </a:p>
          </p:txBody>
        </p:sp>
        <p:sp>
          <p:nvSpPr>
            <p:cNvPr id="146" name="Ellipse 146"/>
            <p:cNvSpPr/>
            <p:nvPr/>
          </p:nvSpPr>
          <p:spPr>
            <a:xfrm>
              <a:off x="6276975" y="2085975"/>
              <a:ext cx="247650" cy="247650"/>
            </a:xfrm>
            <a:prstGeom prst="ellipse">
              <a:avLst/>
            </a:prstGeom>
            <a:solidFill>
              <a:srgbClr val="721E0D"/>
            </a:solidFill>
            <a:ln>
              <a:noFill/>
            </a:ln>
          </p:spPr>
        </p:sp>
        <p:grpSp>
          <p:nvGrpSpPr>
            <p:cNvPr id="149" name="Group 149"/>
            <p:cNvGrpSpPr/>
            <p:nvPr/>
          </p:nvGrpSpPr>
          <p:grpSpPr>
            <a:xfrm>
              <a:off x="6343650" y="2178050"/>
              <a:ext cx="114300" cy="63500"/>
              <a:chOff x="6343650" y="2178050"/>
              <a:chExt cx="114300" cy="63500"/>
            </a:xfrm>
          </p:grpSpPr>
          <p:sp>
            <p:nvSpPr>
              <p:cNvPr id="147" name="Freeform 147"/>
              <p:cNvSpPr/>
              <p:nvPr/>
            </p:nvSpPr>
            <p:spPr>
              <a:xfrm>
                <a:off x="6343650" y="21780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FFFFFF"/>
                </a:solidFill>
              </a:ln>
            </p:spPr>
          </p:sp>
          <p:sp>
            <p:nvSpPr>
              <p:cNvPr id="148" name="Freeform 148"/>
              <p:cNvSpPr/>
              <p:nvPr/>
            </p:nvSpPr>
            <p:spPr>
              <a:xfrm>
                <a:off x="6413500" y="2178050"/>
                <a:ext cx="44450" cy="44450"/>
              </a:xfrm>
              <a:custGeom>
                <a:avLst/>
                <a:gdLst/>
                <a:ahLst/>
                <a:cxnLst/>
                <a:rect l="l" t="t" r="r" b="b"/>
                <a:pathLst>
                  <a:path w="44450" h="44450">
                    <a:moveTo>
                      <a:pt x="0" y="0"/>
                    </a:moveTo>
                    <a:lnTo>
                      <a:pt x="44450" y="0"/>
                    </a:lnTo>
                    <a:lnTo>
                      <a:pt x="44450" y="44450"/>
                    </a:lnTo>
                  </a:path>
                </a:pathLst>
              </a:custGeom>
              <a:noFill/>
              <a:ln w="12700">
                <a:solidFill>
                  <a:srgbClr val="FFFFFF"/>
                </a:solidFill>
              </a:ln>
            </p:spPr>
          </p:sp>
        </p:grpSp>
        <p:sp>
          <p:nvSpPr>
            <p:cNvPr id="150" name="TextBox 150"/>
            <p:cNvSpPr txBox="1"/>
            <p:nvPr/>
          </p:nvSpPr>
          <p:spPr>
            <a:xfrm>
              <a:off x="6586538" y="2098834"/>
              <a:ext cx="375691" cy="133350"/>
            </a:xfrm>
            <a:prstGeom prst="rect">
              <a:avLst/>
            </a:prstGeom>
            <a:noFill/>
            <a:ln>
              <a:noFill/>
            </a:ln>
          </p:spPr>
          <p:txBody>
            <a:bodyPr wrap="none" lIns="0" tIns="0" rIns="0" bIns="0" anchor="t" anchorCtr="0">
              <a:spAutoFit/>
            </a:bodyPr>
            <a:lstStyle/>
            <a:p>
              <a:pPr algn="l"/>
              <a:r>
                <a:rPr lang="zh-CN" sz="680" b="1" dirty="0">
                  <a:solidFill>
                    <a:srgbClr val="461910"/>
                  </a:solidFill>
                  <a:latin typeface="+mn-lt"/>
                  <a:ea typeface="+mn-ea"/>
                  <a:cs typeface="+mn-cs"/>
                </a:rPr>
                <a:t>效率路径</a:t>
              </a:r>
            </a:p>
          </p:txBody>
        </p:sp>
        <p:sp>
          <p:nvSpPr>
            <p:cNvPr id="151" name="TextBox 151"/>
            <p:cNvSpPr txBox="1"/>
            <p:nvPr/>
          </p:nvSpPr>
          <p:spPr>
            <a:xfrm>
              <a:off x="6586538" y="2238851"/>
              <a:ext cx="569544" cy="104775"/>
            </a:xfrm>
            <a:prstGeom prst="rect">
              <a:avLst/>
            </a:prstGeom>
            <a:noFill/>
            <a:ln>
              <a:noFill/>
            </a:ln>
          </p:spPr>
          <p:txBody>
            <a:bodyPr wrap="none" lIns="0" tIns="0" rIns="0" bIns="0" anchor="t" anchorCtr="0">
              <a:spAutoFit/>
            </a:bodyPr>
            <a:lstStyle/>
            <a:p>
              <a:pPr algn="l"/>
              <a:r>
                <a:rPr lang="zh-CN" sz="520" dirty="0">
                  <a:solidFill>
                    <a:srgbClr val="6E7686"/>
                  </a:solidFill>
                  <a:latin typeface="+mn-lt"/>
                  <a:ea typeface="+mn-ea"/>
                  <a:cs typeface="+mn-cs"/>
                </a:rPr>
                <a:t>转化率与节奏提升</a:t>
              </a:r>
            </a:p>
          </p:txBody>
        </p:sp>
        <p:sp>
          <p:nvSpPr>
            <p:cNvPr id="152" name="Rectangle 152"/>
            <p:cNvSpPr/>
            <p:nvPr/>
          </p:nvSpPr>
          <p:spPr>
            <a:xfrm>
              <a:off x="7410450" y="2133600"/>
              <a:ext cx="819150" cy="152400"/>
            </a:xfrm>
            <a:prstGeom prst="rect">
              <a:avLst/>
            </a:prstGeom>
            <a:solidFill>
              <a:srgbClr val="721E0D"/>
            </a:solidFill>
            <a:ln>
              <a:noFill/>
            </a:ln>
          </p:spPr>
        </p:sp>
        <p:sp>
          <p:nvSpPr>
            <p:cNvPr id="153" name="TextBox 153"/>
            <p:cNvSpPr txBox="1"/>
            <p:nvPr/>
          </p:nvSpPr>
          <p:spPr>
            <a:xfrm>
              <a:off x="8262938" y="2175034"/>
              <a:ext cx="432447" cy="133350"/>
            </a:xfrm>
            <a:prstGeom prst="rect">
              <a:avLst/>
            </a:prstGeom>
            <a:noFill/>
            <a:ln>
              <a:noFill/>
            </a:ln>
          </p:spPr>
          <p:txBody>
            <a:bodyPr wrap="none" lIns="0" tIns="0" rIns="0" bIns="0" anchor="t" anchorCtr="0">
              <a:spAutoFit/>
            </a:bodyPr>
            <a:lstStyle/>
            <a:p>
              <a:pPr algn="l"/>
              <a:r>
                <a:rPr lang="zh-CN" sz="680" b="1" dirty="0">
                  <a:solidFill>
                    <a:srgbClr val="721E0D"/>
                  </a:solidFill>
                  <a:latin typeface="+mn-lt"/>
                  <a:ea typeface="+mn-ea"/>
                  <a:cs typeface="+mn-cs"/>
                </a:rPr>
                <a:t xml:space="preserve">7,000   </a:t>
              </a:r>
            </a:p>
          </p:txBody>
        </p:sp>
        <p:sp>
          <p:nvSpPr>
            <p:cNvPr id="154" name="Ellipse 154"/>
            <p:cNvSpPr/>
            <p:nvPr/>
          </p:nvSpPr>
          <p:spPr>
            <a:xfrm>
              <a:off x="6276975" y="2581275"/>
              <a:ext cx="247650" cy="247650"/>
            </a:xfrm>
            <a:prstGeom prst="ellipse">
              <a:avLst/>
            </a:prstGeom>
            <a:solidFill>
              <a:srgbClr val="721E0D"/>
            </a:solidFill>
            <a:ln>
              <a:noFill/>
            </a:ln>
          </p:spPr>
        </p:sp>
        <p:grpSp>
          <p:nvGrpSpPr>
            <p:cNvPr id="160" name="Group 160"/>
            <p:cNvGrpSpPr/>
            <p:nvPr/>
          </p:nvGrpSpPr>
          <p:grpSpPr>
            <a:xfrm>
              <a:off x="6343650" y="2647950"/>
              <a:ext cx="114300" cy="114300"/>
              <a:chOff x="6343650" y="2647950"/>
              <a:chExt cx="114300" cy="114300"/>
            </a:xfrm>
          </p:grpSpPr>
          <p:sp>
            <p:nvSpPr>
              <p:cNvPr id="155" name="Freeform 155"/>
              <p:cNvSpPr/>
              <p:nvPr/>
            </p:nvSpPr>
            <p:spPr>
              <a:xfrm>
                <a:off x="6388100" y="26479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56" name="Freeform 156"/>
              <p:cNvSpPr/>
              <p:nvPr/>
            </p:nvSpPr>
            <p:spPr>
              <a:xfrm>
                <a:off x="6343650" y="27368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57" name="Freeform 157"/>
              <p:cNvSpPr/>
              <p:nvPr/>
            </p:nvSpPr>
            <p:spPr>
              <a:xfrm>
                <a:off x="6432550" y="27368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58" name="Freeform 158"/>
              <p:cNvSpPr/>
              <p:nvPr/>
            </p:nvSpPr>
            <p:spPr>
              <a:xfrm>
                <a:off x="6365875" y="2711450"/>
                <a:ext cx="69850" cy="28575"/>
              </a:xfrm>
              <a:custGeom>
                <a:avLst/>
                <a:gdLst/>
                <a:ahLst/>
                <a:cxnLst/>
                <a:rect l="l" t="t" r="r" b="b"/>
                <a:pathLst>
                  <a:path w="69850" h="28575">
                    <a:moveTo>
                      <a:pt x="0" y="28575"/>
                    </a:moveTo>
                    <a:lnTo>
                      <a:pt x="34925" y="0"/>
                    </a:lnTo>
                    <a:lnTo>
                      <a:pt x="69850" y="28575"/>
                    </a:lnTo>
                  </a:path>
                </a:pathLst>
              </a:custGeom>
              <a:noFill/>
              <a:ln w="12700">
                <a:solidFill>
                  <a:srgbClr val="FFFFFF"/>
                </a:solidFill>
              </a:ln>
            </p:spPr>
          </p:sp>
          <p:sp>
            <p:nvSpPr>
              <p:cNvPr id="159" name="Freeform 159"/>
              <p:cNvSpPr/>
              <p:nvPr/>
            </p:nvSpPr>
            <p:spPr>
              <a:xfrm>
                <a:off x="6400800" y="2673350"/>
                <a:ext cx="9525" cy="38100"/>
              </a:xfrm>
              <a:custGeom>
                <a:avLst/>
                <a:gdLst/>
                <a:ahLst/>
                <a:cxnLst/>
                <a:rect l="l" t="t" r="r" b="b"/>
                <a:pathLst>
                  <a:path w="9525" h="38100">
                    <a:moveTo>
                      <a:pt x="0" y="0"/>
                    </a:moveTo>
                    <a:lnTo>
                      <a:pt x="0" y="38100"/>
                    </a:lnTo>
                  </a:path>
                </a:pathLst>
              </a:custGeom>
              <a:noFill/>
              <a:ln w="12700">
                <a:solidFill>
                  <a:srgbClr val="FFFFFF"/>
                </a:solidFill>
              </a:ln>
            </p:spPr>
          </p:sp>
        </p:grpSp>
        <p:sp>
          <p:nvSpPr>
            <p:cNvPr id="161" name="TextBox 161"/>
            <p:cNvSpPr txBox="1"/>
            <p:nvPr/>
          </p:nvSpPr>
          <p:spPr>
            <a:xfrm>
              <a:off x="6586538" y="2594134"/>
              <a:ext cx="375691" cy="133350"/>
            </a:xfrm>
            <a:prstGeom prst="rect">
              <a:avLst/>
            </a:prstGeom>
            <a:noFill/>
            <a:ln>
              <a:noFill/>
            </a:ln>
          </p:spPr>
          <p:txBody>
            <a:bodyPr wrap="none" lIns="0" tIns="0" rIns="0" bIns="0" anchor="t" anchorCtr="0">
              <a:spAutoFit/>
            </a:bodyPr>
            <a:lstStyle/>
            <a:p>
              <a:pPr algn="l"/>
              <a:r>
                <a:rPr lang="zh-CN" sz="680" b="1" dirty="0">
                  <a:solidFill>
                    <a:srgbClr val="461910"/>
                  </a:solidFill>
                  <a:latin typeface="+mn-lt"/>
                  <a:ea typeface="+mn-ea"/>
                  <a:cs typeface="+mn-cs"/>
                </a:rPr>
                <a:t>结构路径</a:t>
              </a:r>
            </a:p>
          </p:txBody>
        </p:sp>
        <p:sp>
          <p:nvSpPr>
            <p:cNvPr id="162" name="TextBox 162"/>
            <p:cNvSpPr txBox="1"/>
            <p:nvPr/>
          </p:nvSpPr>
          <p:spPr>
            <a:xfrm>
              <a:off x="6586538" y="2734151"/>
              <a:ext cx="709549" cy="104775"/>
            </a:xfrm>
            <a:prstGeom prst="rect">
              <a:avLst/>
            </a:prstGeom>
            <a:noFill/>
            <a:ln>
              <a:noFill/>
            </a:ln>
          </p:spPr>
          <p:txBody>
            <a:bodyPr wrap="none" lIns="0" tIns="0" rIns="0" bIns="0" anchor="t" anchorCtr="0">
              <a:spAutoFit/>
            </a:bodyPr>
            <a:lstStyle/>
            <a:p>
              <a:pPr algn="l"/>
              <a:r>
                <a:rPr lang="zh-CN" sz="520" dirty="0">
                  <a:solidFill>
                    <a:srgbClr val="6E7686"/>
                  </a:solidFill>
                  <a:latin typeface="+mn-lt"/>
                  <a:ea typeface="+mn-ea"/>
                  <a:cs typeface="+mn-cs"/>
                </a:rPr>
                <a:t>高价值产品与场景结构</a:t>
              </a:r>
            </a:p>
          </p:txBody>
        </p:sp>
        <p:sp>
          <p:nvSpPr>
            <p:cNvPr id="163" name="Rectangle 163"/>
            <p:cNvSpPr/>
            <p:nvPr/>
          </p:nvSpPr>
          <p:spPr>
            <a:xfrm>
              <a:off x="7410450" y="2628900"/>
              <a:ext cx="466725" cy="152400"/>
            </a:xfrm>
            <a:prstGeom prst="rect">
              <a:avLst/>
            </a:prstGeom>
            <a:solidFill>
              <a:srgbClr val="721E0D"/>
            </a:solidFill>
            <a:ln>
              <a:noFill/>
            </a:ln>
          </p:spPr>
        </p:sp>
        <p:sp>
          <p:nvSpPr>
            <p:cNvPr id="164" name="TextBox 164"/>
            <p:cNvSpPr txBox="1"/>
            <p:nvPr/>
          </p:nvSpPr>
          <p:spPr>
            <a:xfrm>
              <a:off x="7910512" y="2670334"/>
              <a:ext cx="432447" cy="133350"/>
            </a:xfrm>
            <a:prstGeom prst="rect">
              <a:avLst/>
            </a:prstGeom>
            <a:noFill/>
            <a:ln>
              <a:noFill/>
            </a:ln>
          </p:spPr>
          <p:txBody>
            <a:bodyPr wrap="none" lIns="0" tIns="0" rIns="0" bIns="0" anchor="t" anchorCtr="0">
              <a:spAutoFit/>
            </a:bodyPr>
            <a:lstStyle/>
            <a:p>
              <a:pPr algn="l"/>
              <a:r>
                <a:rPr lang="zh-CN" sz="680" b="1" dirty="0">
                  <a:solidFill>
                    <a:srgbClr val="721E0D"/>
                  </a:solidFill>
                  <a:latin typeface="+mn-lt"/>
                  <a:ea typeface="+mn-ea"/>
                  <a:cs typeface="+mn-cs"/>
                </a:rPr>
                <a:t xml:space="preserve">4,000   </a:t>
              </a:r>
            </a:p>
          </p:txBody>
        </p:sp>
        <p:sp>
          <p:nvSpPr>
            <p:cNvPr id="165" name="Rectangle 165"/>
            <p:cNvSpPr/>
            <p:nvPr/>
          </p:nvSpPr>
          <p:spPr>
            <a:xfrm>
              <a:off x="6267450" y="3200400"/>
              <a:ext cx="1276350" cy="571500"/>
            </a:xfrm>
            <a:prstGeom prst="roundRect">
              <a:avLst>
                <a:gd name="adj" fmla="val 10000"/>
              </a:avLst>
            </a:prstGeom>
            <a:solidFill>
              <a:srgbClr val="F5F8FD"/>
            </a:solidFill>
            <a:ln w="9525">
              <a:solidFill>
                <a:srgbClr val="C9D6EE"/>
              </a:solidFill>
            </a:ln>
          </p:spPr>
        </p:sp>
        <p:sp>
          <p:nvSpPr>
            <p:cNvPr id="166" name="TextBox 166"/>
            <p:cNvSpPr txBox="1"/>
            <p:nvPr/>
          </p:nvSpPr>
          <p:spPr>
            <a:xfrm>
              <a:off x="6626238" y="3298984"/>
              <a:ext cx="558775"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路径潜力合计</a:t>
              </a:r>
            </a:p>
          </p:txBody>
        </p:sp>
        <p:sp>
          <p:nvSpPr>
            <p:cNvPr id="167" name="TextBox 167"/>
            <p:cNvSpPr txBox="1"/>
            <p:nvPr/>
          </p:nvSpPr>
          <p:spPr>
            <a:xfrm>
              <a:off x="6310051" y="3500914"/>
              <a:ext cx="1191148" cy="249364"/>
            </a:xfrm>
            <a:prstGeom prst="rect">
              <a:avLst/>
            </a:prstGeom>
            <a:noFill/>
            <a:ln>
              <a:noFill/>
            </a:ln>
          </p:spPr>
          <p:txBody>
            <a:bodyPr wrap="none" lIns="0" tIns="0" rIns="0" bIns="0" anchor="t" anchorCtr="0">
              <a:spAutoFit/>
            </a:bodyPr>
            <a:lstStyle/>
            <a:p>
              <a:pPr algn="ctr"/>
              <a:r>
                <a:rPr lang="zh-CN" sz="1280" b="1" dirty="0">
                  <a:solidFill>
                    <a:srgbClr val="C03616"/>
                  </a:solidFill>
                  <a:latin typeface="+mn-lt"/>
                  <a:ea typeface="+mn-ea"/>
                  <a:cs typeface="+mn-cs"/>
                </a:rPr>
                <a:t xml:space="preserve">   2.10</a:t>
              </a:r>
              <a:r>
                <a:rPr lang="zh-CN" sz="680" dirty="0">
                  <a:solidFill>
                    <a:srgbClr val="C03616"/>
                  </a:solidFill>
                  <a:latin typeface="+mn-lt"/>
                  <a:ea typeface="+mn-ea"/>
                  <a:cs typeface="+mn-cs"/>
                </a:rPr>
                <a:t>亿元</a:t>
              </a:r>
              <a:r>
                <a:rPr lang="zh-CN" sz="1280" b="1" dirty="0">
                  <a:solidFill>
                    <a:srgbClr val="C03616"/>
                  </a:solidFill>
                  <a:latin typeface="+mn-lt"/>
                  <a:ea typeface="+mn-ea"/>
                  <a:cs typeface="+mn-cs"/>
                </a:rPr>
                <a:t xml:space="preserve">   </a:t>
              </a:r>
            </a:p>
          </p:txBody>
        </p:sp>
        <p:sp>
          <p:nvSpPr>
            <p:cNvPr id="168" name="Rectangle 168"/>
            <p:cNvSpPr/>
            <p:nvPr/>
          </p:nvSpPr>
          <p:spPr>
            <a:xfrm>
              <a:off x="7600950" y="3200400"/>
              <a:ext cx="1276350" cy="571500"/>
            </a:xfrm>
            <a:prstGeom prst="roundRect">
              <a:avLst>
                <a:gd name="adj" fmla="val 10000"/>
              </a:avLst>
            </a:prstGeom>
            <a:solidFill>
              <a:srgbClr val="F5F8FD"/>
            </a:solidFill>
            <a:ln w="9525">
              <a:solidFill>
                <a:srgbClr val="C9D6EE"/>
              </a:solidFill>
            </a:ln>
          </p:spPr>
        </p:sp>
        <p:sp>
          <p:nvSpPr>
            <p:cNvPr id="169" name="TextBox 169"/>
            <p:cNvSpPr txBox="1"/>
            <p:nvPr/>
          </p:nvSpPr>
          <p:spPr>
            <a:xfrm>
              <a:off x="7833868" y="3298984"/>
              <a:ext cx="810514" cy="133350"/>
            </a:xfrm>
            <a:prstGeom prst="rect">
              <a:avLst/>
            </a:prstGeom>
            <a:noFill/>
            <a:ln>
              <a:noFill/>
            </a:ln>
          </p:spPr>
          <p:txBody>
            <a:bodyPr wrap="none" lIns="0" tIns="0" rIns="0" bIns="0" anchor="t" anchorCtr="0">
              <a:spAutoFit/>
            </a:bodyPr>
            <a:lstStyle/>
            <a:p>
              <a:pPr algn="ctr"/>
              <a:r>
                <a:rPr lang="zh-CN" sz="680" dirty="0">
                  <a:solidFill>
                    <a:srgbClr val="523E3A"/>
                  </a:solidFill>
                  <a:latin typeface="+mn-lt"/>
                  <a:ea typeface="+mn-ea"/>
                  <a:cs typeface="+mn-cs"/>
                </a:rPr>
                <a:t xml:space="preserve">  潜力/基准可达  </a:t>
              </a:r>
            </a:p>
          </p:txBody>
        </p:sp>
        <p:sp>
          <p:nvSpPr>
            <p:cNvPr id="170" name="TextBox 170"/>
            <p:cNvSpPr txBox="1"/>
            <p:nvPr/>
          </p:nvSpPr>
          <p:spPr>
            <a:xfrm>
              <a:off x="7766755" y="3500914"/>
              <a:ext cx="944740" cy="249364"/>
            </a:xfrm>
            <a:prstGeom prst="rect">
              <a:avLst/>
            </a:prstGeom>
            <a:noFill/>
            <a:ln>
              <a:noFill/>
            </a:ln>
          </p:spPr>
          <p:txBody>
            <a:bodyPr wrap="none" lIns="0" tIns="0" rIns="0" bIns="0" anchor="t" anchorCtr="0">
              <a:spAutoFit/>
            </a:bodyPr>
            <a:lstStyle/>
            <a:p>
              <a:pPr algn="ctr"/>
              <a:r>
                <a:rPr lang="zh-CN" sz="1280" b="1" dirty="0">
                  <a:solidFill>
                    <a:srgbClr val="C03616"/>
                  </a:solidFill>
                  <a:latin typeface="+mn-lt"/>
                  <a:ea typeface="+mn-ea"/>
                  <a:cs typeface="+mn-cs"/>
                </a:rPr>
                <a:t xml:space="preserve">  20.6%  </a:t>
              </a:r>
            </a:p>
          </p:txBody>
        </p:sp>
      </p:grpSp>
      <p:grpSp>
        <p:nvGrpSpPr>
          <p:cNvPr id="202" name="judgment-4"/>
          <p:cNvGrpSpPr/>
          <p:nvPr/>
        </p:nvGrpSpPr>
        <p:grpSpPr>
          <a:xfrm>
            <a:off x="9115425" y="704850"/>
            <a:ext cx="2838450" cy="3390900"/>
            <a:chOff x="9115425" y="704850"/>
            <a:chExt cx="2838450" cy="3390900"/>
          </a:xfrm>
        </p:grpSpPr>
        <p:sp>
          <p:nvSpPr>
            <p:cNvPr id="172" name="Rectangle 172"/>
            <p:cNvSpPr/>
            <p:nvPr/>
          </p:nvSpPr>
          <p:spPr>
            <a:xfrm>
              <a:off x="9115425" y="704850"/>
              <a:ext cx="2838450" cy="3390900"/>
            </a:xfrm>
            <a:prstGeom prst="roundRect">
              <a:avLst>
                <a:gd name="adj" fmla="val 3356"/>
              </a:avLst>
            </a:prstGeom>
            <a:solidFill>
              <a:srgbClr val="FFFFFF"/>
            </a:solidFill>
            <a:ln w="14288">
              <a:solidFill>
                <a:srgbClr val="C9D6EE"/>
              </a:solidFill>
            </a:ln>
          </p:spPr>
        </p:sp>
        <p:grpSp>
          <p:nvGrpSpPr>
            <p:cNvPr id="175" name="Group 175"/>
            <p:cNvGrpSpPr/>
            <p:nvPr/>
          </p:nvGrpSpPr>
          <p:grpSpPr>
            <a:xfrm>
              <a:off x="9255919" y="826294"/>
              <a:ext cx="157163" cy="157163"/>
              <a:chOff x="9255919" y="826294"/>
              <a:chExt cx="157163" cy="157163"/>
            </a:xfrm>
          </p:grpSpPr>
          <p:sp>
            <p:nvSpPr>
              <p:cNvPr id="173" name="Freeform 173"/>
              <p:cNvSpPr/>
              <p:nvPr/>
            </p:nvSpPr>
            <p:spPr>
              <a:xfrm>
                <a:off x="9255919" y="8262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721E0D"/>
                </a:solidFill>
              </a:ln>
            </p:spPr>
          </p:sp>
          <p:sp>
            <p:nvSpPr>
              <p:cNvPr id="174" name="Freeform 174"/>
              <p:cNvSpPr/>
              <p:nvPr/>
            </p:nvSpPr>
            <p:spPr>
              <a:xfrm>
                <a:off x="9308306" y="887413"/>
                <a:ext cx="52388" cy="34925"/>
              </a:xfrm>
              <a:custGeom>
                <a:avLst/>
                <a:gdLst/>
                <a:ahLst/>
                <a:cxnLst/>
                <a:rect l="l" t="t" r="r" b="b"/>
                <a:pathLst>
                  <a:path w="52388" h="34925">
                    <a:moveTo>
                      <a:pt x="0" y="17463"/>
                    </a:moveTo>
                    <a:lnTo>
                      <a:pt x="17463" y="34925"/>
                    </a:lnTo>
                    <a:lnTo>
                      <a:pt x="52388" y="0"/>
                    </a:lnTo>
                  </a:path>
                </a:pathLst>
              </a:custGeom>
              <a:noFill/>
              <a:ln w="17463">
                <a:solidFill>
                  <a:srgbClr val="721E0D"/>
                </a:solidFill>
              </a:ln>
            </p:spPr>
          </p:sp>
        </p:grpSp>
        <p:sp>
          <p:nvSpPr>
            <p:cNvPr id="176" name="TextBox 176"/>
            <p:cNvSpPr txBox="1"/>
            <p:nvPr/>
          </p:nvSpPr>
          <p:spPr>
            <a:xfrm>
              <a:off x="9491662" y="860822"/>
              <a:ext cx="2236631" cy="183356"/>
            </a:xfrm>
            <a:prstGeom prst="rect">
              <a:avLst/>
            </a:prstGeom>
            <a:noFill/>
            <a:ln>
              <a:noFill/>
            </a:ln>
          </p:spPr>
          <p:txBody>
            <a:bodyPr wrap="none" lIns="0" tIns="0" rIns="0" bIns="0" anchor="t" anchorCtr="0">
              <a:spAutoFit/>
            </a:bodyPr>
            <a:lstStyle/>
            <a:p>
              <a:pPr algn="l"/>
              <a:r>
                <a:rPr lang="zh-CN" sz="940" b="1" dirty="0">
                  <a:solidFill>
                    <a:srgbClr val="721E0D"/>
                  </a:solidFill>
                  <a:latin typeface="+mn-lt"/>
                  <a:ea typeface="+mn-ea"/>
                  <a:cs typeface="+mn-cs"/>
                </a:rPr>
                <a:t xml:space="preserve">判断四：资源投入综合ROI 1:6      </a:t>
              </a:r>
            </a:p>
          </p:txBody>
        </p:sp>
        <p:sp>
          <p:nvSpPr>
            <p:cNvPr id="177" name="Line 177"/>
            <p:cNvSpPr/>
            <p:nvPr/>
          </p:nvSpPr>
          <p:spPr>
            <a:xfrm>
              <a:off x="9210675" y="1047750"/>
              <a:ext cx="2647950" cy="9525"/>
            </a:xfrm>
            <a:custGeom>
              <a:avLst/>
              <a:gdLst/>
              <a:ahLst/>
              <a:cxnLst/>
              <a:rect l="l" t="t" r="r" b="b"/>
              <a:pathLst>
                <a:path w="2647950" h="9525">
                  <a:moveTo>
                    <a:pt x="0" y="0"/>
                  </a:moveTo>
                  <a:lnTo>
                    <a:pt x="2647950" y="0"/>
                  </a:lnTo>
                </a:path>
              </a:pathLst>
            </a:custGeom>
            <a:noFill/>
            <a:ln w="9525">
              <a:solidFill>
                <a:srgbClr val="E6EAF2"/>
              </a:solidFill>
            </a:ln>
          </p:spPr>
        </p:sp>
        <p:sp>
          <p:nvSpPr>
            <p:cNvPr id="178" name="TextBox 178"/>
            <p:cNvSpPr txBox="1"/>
            <p:nvPr/>
          </p:nvSpPr>
          <p:spPr>
            <a:xfrm>
              <a:off x="9224962" y="1142286"/>
              <a:ext cx="1598068" cy="140494"/>
            </a:xfrm>
            <a:prstGeom prst="rect">
              <a:avLst/>
            </a:prstGeom>
            <a:noFill/>
            <a:ln>
              <a:noFill/>
            </a:ln>
          </p:spPr>
          <p:txBody>
            <a:bodyPr wrap="none" lIns="0" tIns="0" rIns="0" bIns="0" anchor="t" anchorCtr="0">
              <a:spAutoFit/>
            </a:bodyPr>
            <a:lstStyle/>
            <a:p>
              <a:pPr algn="l"/>
              <a:r>
                <a:rPr lang="zh-CN" sz="710" b="1" dirty="0">
                  <a:solidFill>
                    <a:srgbClr val="461910"/>
                  </a:solidFill>
                  <a:latin typeface="+mn-lt"/>
                  <a:ea typeface="+mn-ea"/>
                  <a:cs typeface="+mn-cs"/>
                </a:rPr>
                <a:t xml:space="preserve">投入产出测算（未来12个月）      </a:t>
              </a:r>
            </a:p>
          </p:txBody>
        </p:sp>
        <p:sp>
          <p:nvSpPr>
            <p:cNvPr id="179" name="Rectangle 179"/>
            <p:cNvSpPr/>
            <p:nvPr/>
          </p:nvSpPr>
          <p:spPr>
            <a:xfrm>
              <a:off x="10887075" y="1085850"/>
              <a:ext cx="971550" cy="285750"/>
            </a:xfrm>
            <a:prstGeom prst="roundRect">
              <a:avLst>
                <a:gd name="adj" fmla="val 16667"/>
              </a:avLst>
            </a:prstGeom>
            <a:solidFill>
              <a:srgbClr val="FDECEC"/>
            </a:solidFill>
            <a:ln w="9525">
              <a:solidFill>
                <a:srgbClr val="F2C7C9"/>
              </a:solidFill>
            </a:ln>
          </p:spPr>
        </p:sp>
        <p:sp>
          <p:nvSpPr>
            <p:cNvPr id="180" name="TextBox 180"/>
            <p:cNvSpPr txBox="1"/>
            <p:nvPr/>
          </p:nvSpPr>
          <p:spPr>
            <a:xfrm>
              <a:off x="11101067" y="1129903"/>
              <a:ext cx="543565" cy="111919"/>
            </a:xfrm>
            <a:prstGeom prst="rect">
              <a:avLst/>
            </a:prstGeom>
            <a:noFill/>
            <a:ln>
              <a:noFill/>
            </a:ln>
          </p:spPr>
          <p:txBody>
            <a:bodyPr wrap="none" lIns="0" tIns="0" rIns="0" bIns="0" anchor="t" anchorCtr="0">
              <a:spAutoFit/>
            </a:bodyPr>
            <a:lstStyle/>
            <a:p>
              <a:pPr algn="ctr"/>
              <a:r>
                <a:rPr lang="zh-CN" sz="560" dirty="0">
                  <a:solidFill>
                    <a:srgbClr val="6E7686"/>
                  </a:solidFill>
                  <a:latin typeface="+mn-lt"/>
                  <a:ea typeface="+mn-ea"/>
                  <a:cs typeface="+mn-cs"/>
                </a:rPr>
                <a:t xml:space="preserve">   综合ROI   </a:t>
              </a:r>
            </a:p>
          </p:txBody>
        </p:sp>
        <p:sp>
          <p:nvSpPr>
            <p:cNvPr id="181" name="TextBox 181"/>
            <p:cNvSpPr txBox="1"/>
            <p:nvPr/>
          </p:nvSpPr>
          <p:spPr>
            <a:xfrm>
              <a:off x="11144965" y="1234916"/>
              <a:ext cx="455770" cy="161925"/>
            </a:xfrm>
            <a:prstGeom prst="rect">
              <a:avLst/>
            </a:prstGeom>
            <a:noFill/>
            <a:ln>
              <a:noFill/>
            </a:ln>
          </p:spPr>
          <p:txBody>
            <a:bodyPr wrap="none" lIns="0" tIns="0" rIns="0" bIns="0" anchor="t" anchorCtr="0">
              <a:spAutoFit/>
            </a:bodyPr>
            <a:lstStyle/>
            <a:p>
              <a:pPr algn="ctr"/>
              <a:r>
                <a:rPr lang="zh-CN" sz="820" b="1" dirty="0">
                  <a:solidFill>
                    <a:srgbClr val="C03616"/>
                  </a:solidFill>
                  <a:latin typeface="+mn-lt"/>
                  <a:ea typeface="+mn-ea"/>
                  <a:cs typeface="+mn-cs"/>
                </a:rPr>
                <a:t xml:space="preserve">  1:6  </a:t>
              </a:r>
            </a:p>
          </p:txBody>
        </p:sp>
        <p:sp>
          <p:nvSpPr>
            <p:cNvPr id="182" name="Rectangle 182"/>
            <p:cNvSpPr/>
            <p:nvPr/>
          </p:nvSpPr>
          <p:spPr>
            <a:xfrm>
              <a:off x="9229725" y="1447800"/>
              <a:ext cx="1276350" cy="1428750"/>
            </a:xfrm>
            <a:prstGeom prst="roundRect">
              <a:avLst>
                <a:gd name="adj" fmla="val 4478"/>
              </a:avLst>
            </a:prstGeom>
            <a:solidFill>
              <a:srgbClr val="F5F8FD"/>
            </a:solidFill>
            <a:ln w="9525">
              <a:solidFill>
                <a:srgbClr val="C9D6EE"/>
              </a:solidFill>
            </a:ln>
          </p:spPr>
        </p:sp>
        <p:sp>
          <p:nvSpPr>
            <p:cNvPr id="183" name="TextBox 183"/>
            <p:cNvSpPr txBox="1"/>
            <p:nvPr/>
          </p:nvSpPr>
          <p:spPr>
            <a:xfrm>
              <a:off x="9671977" y="1523286"/>
              <a:ext cx="391846" cy="140494"/>
            </a:xfrm>
            <a:prstGeom prst="rect">
              <a:avLst/>
            </a:prstGeom>
            <a:noFill/>
            <a:ln>
              <a:noFill/>
            </a:ln>
          </p:spPr>
          <p:txBody>
            <a:bodyPr wrap="none" lIns="0" tIns="0" rIns="0" bIns="0" anchor="t" anchorCtr="0">
              <a:spAutoFit/>
            </a:bodyPr>
            <a:lstStyle/>
            <a:p>
              <a:pPr algn="ctr"/>
              <a:r>
                <a:rPr lang="zh-CN" sz="710" b="1" dirty="0">
                  <a:solidFill>
                    <a:srgbClr val="721E0D"/>
                  </a:solidFill>
                  <a:latin typeface="+mn-lt"/>
                  <a:ea typeface="+mn-ea"/>
                  <a:cs typeface="+mn-cs"/>
                </a:rPr>
                <a:t>资源投入</a:t>
              </a:r>
            </a:p>
          </p:txBody>
        </p:sp>
        <p:grpSp>
          <p:nvGrpSpPr>
            <p:cNvPr id="189" name="Group 189"/>
            <p:cNvGrpSpPr/>
            <p:nvPr/>
          </p:nvGrpSpPr>
          <p:grpSpPr>
            <a:xfrm>
              <a:off x="9753600" y="1712798"/>
              <a:ext cx="228600" cy="230302"/>
              <a:chOff x="9753600" y="1712798"/>
              <a:chExt cx="228600" cy="230302"/>
            </a:xfrm>
          </p:grpSpPr>
          <p:sp>
            <p:nvSpPr>
              <p:cNvPr id="184" name="Freeform 184"/>
              <p:cNvSpPr/>
              <p:nvPr/>
            </p:nvSpPr>
            <p:spPr>
              <a:xfrm>
                <a:off x="9829800" y="1816100"/>
                <a:ext cx="152400" cy="76200"/>
              </a:xfrm>
              <a:custGeom>
                <a:avLst/>
                <a:gdLst/>
                <a:ahLst/>
                <a:cxnLst/>
                <a:rect l="l" t="t" r="r" b="b"/>
                <a:pathLst>
                  <a:path w="152400" h="76200">
                    <a:moveTo>
                      <a:pt x="0" y="38100"/>
                    </a:moveTo>
                    <a:cubicBezTo>
                      <a:pt x="0" y="59144"/>
                      <a:pt x="34112" y="76200"/>
                      <a:pt x="76200" y="76200"/>
                    </a:cubicBezTo>
                    <a:cubicBezTo>
                      <a:pt x="118288" y="76200"/>
                      <a:pt x="152400" y="59144"/>
                      <a:pt x="152400" y="38100"/>
                    </a:cubicBezTo>
                    <a:cubicBezTo>
                      <a:pt x="152400" y="17056"/>
                      <a:pt x="118288" y="0"/>
                      <a:pt x="76200" y="0"/>
                    </a:cubicBezTo>
                    <a:cubicBezTo>
                      <a:pt x="34112" y="0"/>
                      <a:pt x="0" y="17056"/>
                      <a:pt x="0" y="38100"/>
                    </a:cubicBezTo>
                  </a:path>
                </a:pathLst>
              </a:custGeom>
              <a:noFill/>
              <a:ln w="25400">
                <a:solidFill>
                  <a:srgbClr val="721E0D"/>
                </a:solidFill>
              </a:ln>
            </p:spPr>
          </p:sp>
          <p:sp>
            <p:nvSpPr>
              <p:cNvPr id="185" name="Freeform 185"/>
              <p:cNvSpPr/>
              <p:nvPr/>
            </p:nvSpPr>
            <p:spPr>
              <a:xfrm>
                <a:off x="9829800" y="1854200"/>
                <a:ext cx="152400" cy="88900"/>
              </a:xfrm>
              <a:custGeom>
                <a:avLst/>
                <a:gdLst/>
                <a:ahLst/>
                <a:cxnLst/>
                <a:rect l="l" t="t" r="r" b="b"/>
                <a:pathLst>
                  <a:path w="152400" h="88900">
                    <a:moveTo>
                      <a:pt x="0" y="0"/>
                    </a:moveTo>
                    <a:lnTo>
                      <a:pt x="0" y="50800"/>
                    </a:lnTo>
                    <a:cubicBezTo>
                      <a:pt x="0" y="71831"/>
                      <a:pt x="34112" y="88900"/>
                      <a:pt x="76200" y="88900"/>
                    </a:cubicBezTo>
                    <a:cubicBezTo>
                      <a:pt x="118288" y="88900"/>
                      <a:pt x="152400" y="71831"/>
                      <a:pt x="152400" y="50800"/>
                    </a:cubicBezTo>
                    <a:lnTo>
                      <a:pt x="152400" y="0"/>
                    </a:lnTo>
                  </a:path>
                </a:pathLst>
              </a:custGeom>
              <a:noFill/>
              <a:ln w="25400">
                <a:solidFill>
                  <a:srgbClr val="721E0D"/>
                </a:solidFill>
              </a:ln>
            </p:spPr>
          </p:sp>
          <p:sp>
            <p:nvSpPr>
              <p:cNvPr id="186" name="Freeform 186"/>
              <p:cNvSpPr/>
              <p:nvPr/>
            </p:nvSpPr>
            <p:spPr>
              <a:xfrm>
                <a:off x="9753600" y="1712798"/>
                <a:ext cx="152400" cy="79603"/>
              </a:xfrm>
              <a:custGeom>
                <a:avLst/>
                <a:gdLst/>
                <a:ahLst/>
                <a:cxnLst/>
                <a:rect l="l" t="t" r="r" b="b"/>
                <a:pathLst>
                  <a:path w="152400" h="79603">
                    <a:moveTo>
                      <a:pt x="0" y="39802"/>
                    </a:moveTo>
                    <a:cubicBezTo>
                      <a:pt x="0" y="53416"/>
                      <a:pt x="14529" y="65989"/>
                      <a:pt x="38100" y="72796"/>
                    </a:cubicBezTo>
                    <a:cubicBezTo>
                      <a:pt x="61671" y="79603"/>
                      <a:pt x="90729" y="79603"/>
                      <a:pt x="114300" y="72796"/>
                    </a:cubicBezTo>
                    <a:cubicBezTo>
                      <a:pt x="137871" y="65989"/>
                      <a:pt x="152400" y="53416"/>
                      <a:pt x="152400" y="39802"/>
                    </a:cubicBezTo>
                    <a:cubicBezTo>
                      <a:pt x="152400" y="26187"/>
                      <a:pt x="137871" y="13614"/>
                      <a:pt x="114300" y="6807"/>
                    </a:cubicBezTo>
                    <a:cubicBezTo>
                      <a:pt x="90729" y="0"/>
                      <a:pt x="61671" y="0"/>
                      <a:pt x="38100" y="6807"/>
                    </a:cubicBezTo>
                    <a:cubicBezTo>
                      <a:pt x="14529" y="13614"/>
                      <a:pt x="0" y="26187"/>
                      <a:pt x="0" y="39802"/>
                    </a:cubicBezTo>
                  </a:path>
                </a:pathLst>
              </a:custGeom>
              <a:noFill/>
              <a:ln w="25400">
                <a:solidFill>
                  <a:srgbClr val="721E0D"/>
                </a:solidFill>
              </a:ln>
            </p:spPr>
          </p:sp>
          <p:sp>
            <p:nvSpPr>
              <p:cNvPr id="187" name="Freeform 187"/>
              <p:cNvSpPr/>
              <p:nvPr/>
            </p:nvSpPr>
            <p:spPr>
              <a:xfrm>
                <a:off x="9753600" y="1752600"/>
                <a:ext cx="25400" cy="152400"/>
              </a:xfrm>
              <a:custGeom>
                <a:avLst/>
                <a:gdLst/>
                <a:ahLst/>
                <a:cxnLst/>
                <a:rect l="l" t="t" r="r" b="b"/>
                <a:pathLst>
                  <a:path w="25400" h="152400">
                    <a:moveTo>
                      <a:pt x="0" y="0"/>
                    </a:moveTo>
                    <a:lnTo>
                      <a:pt x="0" y="127000"/>
                    </a:lnTo>
                    <a:cubicBezTo>
                      <a:pt x="0" y="138277"/>
                      <a:pt x="9804" y="145415"/>
                      <a:pt x="25400" y="152400"/>
                    </a:cubicBezTo>
                  </a:path>
                </a:pathLst>
              </a:custGeom>
              <a:noFill/>
              <a:ln w="25400">
                <a:solidFill>
                  <a:srgbClr val="721E0D"/>
                </a:solidFill>
              </a:ln>
            </p:spPr>
          </p:sp>
          <p:sp>
            <p:nvSpPr>
              <p:cNvPr id="188" name="Freeform 188"/>
              <p:cNvSpPr/>
              <p:nvPr/>
            </p:nvSpPr>
            <p:spPr>
              <a:xfrm>
                <a:off x="9753600" y="1816100"/>
                <a:ext cx="25400" cy="25400"/>
              </a:xfrm>
              <a:custGeom>
                <a:avLst/>
                <a:gdLst/>
                <a:ahLst/>
                <a:cxnLst/>
                <a:rect l="l" t="t" r="r" b="b"/>
                <a:pathLst>
                  <a:path w="25400" h="25400">
                    <a:moveTo>
                      <a:pt x="0" y="0"/>
                    </a:moveTo>
                    <a:cubicBezTo>
                      <a:pt x="0" y="11278"/>
                      <a:pt x="9804" y="18415"/>
                      <a:pt x="25400" y="25400"/>
                    </a:cubicBezTo>
                  </a:path>
                </a:pathLst>
              </a:custGeom>
              <a:noFill/>
              <a:ln w="25400">
                <a:solidFill>
                  <a:srgbClr val="721E0D"/>
                </a:solidFill>
              </a:ln>
            </p:spPr>
          </p:sp>
        </p:grpSp>
        <p:sp>
          <p:nvSpPr>
            <p:cNvPr id="190" name="TextBox 190"/>
            <p:cNvSpPr txBox="1"/>
            <p:nvPr/>
          </p:nvSpPr>
          <p:spPr>
            <a:xfrm>
              <a:off x="9363140" y="2104549"/>
              <a:ext cx="1009520"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3,500</a:t>
              </a:r>
              <a:r>
                <a:rPr lang="zh-CN" sz="600" dirty="0">
                  <a:solidFill>
                    <a:srgbClr val="721E0D"/>
                  </a:solidFill>
                  <a:latin typeface="+mn-lt"/>
                  <a:ea typeface="+mn-ea"/>
                  <a:cs typeface="+mn-cs"/>
                </a:rPr>
                <a:t>万元</a:t>
              </a:r>
              <a:r>
                <a:rPr lang="zh-CN" sz="980" b="1" dirty="0">
                  <a:solidFill>
                    <a:srgbClr val="721E0D"/>
                  </a:solidFill>
                  <a:latin typeface="+mn-lt"/>
                  <a:ea typeface="+mn-ea"/>
                  <a:cs typeface="+mn-cs"/>
                </a:rPr>
                <a:t xml:space="preserve">   </a:t>
              </a:r>
            </a:p>
          </p:txBody>
        </p:sp>
        <p:sp>
          <p:nvSpPr>
            <p:cNvPr id="191" name="TextBox 191"/>
            <p:cNvSpPr txBox="1"/>
            <p:nvPr/>
          </p:nvSpPr>
          <p:spPr>
            <a:xfrm>
              <a:off x="9320212" y="2320528"/>
              <a:ext cx="1013841" cy="454819"/>
            </a:xfrm>
            <a:prstGeom prst="rect">
              <a:avLst/>
            </a:prstGeom>
            <a:noFill/>
            <a:ln>
              <a:noFill/>
            </a:ln>
          </p:spPr>
          <p:txBody>
            <a:bodyPr wrap="none" lIns="0" tIns="0" rIns="0" bIns="0" anchor="t" anchorCtr="0">
              <a:spAutoFit/>
            </a:bodyPr>
            <a:lstStyle/>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人力与激励：1,800万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市场与活动：900万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工具与数据：500万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赋能与培训：300万      </a:t>
              </a:r>
            </a:p>
          </p:txBody>
        </p:sp>
        <p:sp>
          <p:nvSpPr>
            <p:cNvPr id="192" name="Rectangle 192"/>
            <p:cNvSpPr/>
            <p:nvPr/>
          </p:nvSpPr>
          <p:spPr>
            <a:xfrm>
              <a:off x="10563225" y="1447800"/>
              <a:ext cx="1276350" cy="1428750"/>
            </a:xfrm>
            <a:prstGeom prst="roundRect">
              <a:avLst>
                <a:gd name="adj" fmla="val 4478"/>
              </a:avLst>
            </a:prstGeom>
            <a:solidFill>
              <a:srgbClr val="F5F8FD"/>
            </a:solidFill>
            <a:ln w="9525">
              <a:solidFill>
                <a:srgbClr val="C9D6EE"/>
              </a:solidFill>
            </a:ln>
          </p:spPr>
        </p:sp>
        <p:sp>
          <p:nvSpPr>
            <p:cNvPr id="193" name="TextBox 193"/>
            <p:cNvSpPr txBox="1"/>
            <p:nvPr/>
          </p:nvSpPr>
          <p:spPr>
            <a:xfrm>
              <a:off x="10553901" y="1527334"/>
              <a:ext cx="1294998" cy="133350"/>
            </a:xfrm>
            <a:prstGeom prst="rect">
              <a:avLst/>
            </a:prstGeom>
            <a:noFill/>
            <a:ln>
              <a:noFill/>
            </a:ln>
          </p:spPr>
          <p:txBody>
            <a:bodyPr wrap="none" lIns="0" tIns="0" rIns="0" bIns="0" anchor="t" anchorCtr="0">
              <a:spAutoFit/>
            </a:bodyPr>
            <a:lstStyle/>
            <a:p>
              <a:pPr algn="ctr"/>
              <a:r>
                <a:rPr lang="zh-CN" sz="680" b="1" dirty="0">
                  <a:solidFill>
                    <a:srgbClr val="721E0D"/>
                  </a:solidFill>
                  <a:latin typeface="+mn-lt"/>
                  <a:ea typeface="+mn-ea"/>
                  <a:cs typeface="+mn-cs"/>
                </a:rPr>
                <a:t xml:space="preserve">   预期收益（基准+路径）   </a:t>
              </a:r>
            </a:p>
          </p:txBody>
        </p:sp>
        <p:grpSp>
          <p:nvGrpSpPr>
            <p:cNvPr id="196" name="Group 196"/>
            <p:cNvGrpSpPr/>
            <p:nvPr/>
          </p:nvGrpSpPr>
          <p:grpSpPr>
            <a:xfrm>
              <a:off x="11099800" y="1752600"/>
              <a:ext cx="203199" cy="174624"/>
              <a:chOff x="11099800" y="1752600"/>
              <a:chExt cx="203199" cy="174624"/>
            </a:xfrm>
          </p:grpSpPr>
          <p:sp>
            <p:nvSpPr>
              <p:cNvPr id="194" name="Freeform 194"/>
              <p:cNvSpPr/>
              <p:nvPr/>
            </p:nvSpPr>
            <p:spPr>
              <a:xfrm>
                <a:off x="11099800" y="1917699"/>
                <a:ext cx="203199" cy="9525"/>
              </a:xfrm>
              <a:custGeom>
                <a:avLst/>
                <a:gdLst/>
                <a:ahLst/>
                <a:cxnLst/>
                <a:rect l="l" t="t" r="r" b="b"/>
                <a:pathLst>
                  <a:path w="203199" h="9525">
                    <a:moveTo>
                      <a:pt x="0" y="0"/>
                    </a:moveTo>
                    <a:lnTo>
                      <a:pt x="203199" y="0"/>
                    </a:lnTo>
                  </a:path>
                </a:pathLst>
              </a:custGeom>
              <a:noFill/>
              <a:ln w="25400">
                <a:solidFill>
                  <a:srgbClr val="721E0D"/>
                </a:solidFill>
              </a:ln>
            </p:spPr>
          </p:sp>
          <p:sp>
            <p:nvSpPr>
              <p:cNvPr id="195" name="Freeform 195"/>
              <p:cNvSpPr/>
              <p:nvPr/>
            </p:nvSpPr>
            <p:spPr>
              <a:xfrm>
                <a:off x="11099800" y="1752600"/>
                <a:ext cx="203199" cy="114300"/>
              </a:xfrm>
              <a:custGeom>
                <a:avLst/>
                <a:gdLst/>
                <a:ahLst/>
                <a:cxnLst/>
                <a:rect l="l" t="t" r="r" b="b"/>
                <a:pathLst>
                  <a:path w="203199" h="114300">
                    <a:moveTo>
                      <a:pt x="0" y="114300"/>
                    </a:moveTo>
                    <a:lnTo>
                      <a:pt x="50800" y="38100"/>
                    </a:lnTo>
                    <a:lnTo>
                      <a:pt x="101600" y="63500"/>
                    </a:lnTo>
                    <a:lnTo>
                      <a:pt x="152400" y="0"/>
                    </a:lnTo>
                    <a:lnTo>
                      <a:pt x="203199" y="50800"/>
                    </a:lnTo>
                  </a:path>
                </a:pathLst>
              </a:custGeom>
              <a:noFill/>
              <a:ln w="25400">
                <a:solidFill>
                  <a:srgbClr val="721E0D"/>
                </a:solidFill>
              </a:ln>
            </p:spPr>
          </p:sp>
        </p:grpSp>
        <p:sp>
          <p:nvSpPr>
            <p:cNvPr id="197" name="TextBox 197"/>
            <p:cNvSpPr txBox="1"/>
            <p:nvPr/>
          </p:nvSpPr>
          <p:spPr>
            <a:xfrm>
              <a:off x="10734734" y="2104549"/>
              <a:ext cx="933332" cy="190690"/>
            </a:xfrm>
            <a:prstGeom prst="rect">
              <a:avLst/>
            </a:prstGeom>
            <a:noFill/>
            <a:ln>
              <a:noFill/>
            </a:ln>
          </p:spPr>
          <p:txBody>
            <a:bodyPr wrap="none" lIns="0" tIns="0" rIns="0" bIns="0" anchor="t" anchorCtr="0">
              <a:spAutoFit/>
            </a:bodyPr>
            <a:lstStyle/>
            <a:p>
              <a:pPr algn="ctr"/>
              <a:r>
                <a:rPr lang="zh-CN" sz="980" b="1" dirty="0">
                  <a:solidFill>
                    <a:srgbClr val="721E0D"/>
                  </a:solidFill>
                  <a:latin typeface="+mn-lt"/>
                  <a:ea typeface="+mn-ea"/>
                  <a:cs typeface="+mn-cs"/>
                </a:rPr>
                <a:t xml:space="preserve">   2.10</a:t>
              </a:r>
              <a:r>
                <a:rPr lang="zh-CN" sz="600" dirty="0">
                  <a:solidFill>
                    <a:srgbClr val="721E0D"/>
                  </a:solidFill>
                  <a:latin typeface="+mn-lt"/>
                  <a:ea typeface="+mn-ea"/>
                  <a:cs typeface="+mn-cs"/>
                </a:rPr>
                <a:t>亿元</a:t>
              </a:r>
              <a:r>
                <a:rPr lang="zh-CN" sz="980" b="1" dirty="0">
                  <a:solidFill>
                    <a:srgbClr val="721E0D"/>
                  </a:solidFill>
                  <a:latin typeface="+mn-lt"/>
                  <a:ea typeface="+mn-ea"/>
                  <a:cs typeface="+mn-cs"/>
                </a:rPr>
                <a:t xml:space="preserve">   </a:t>
              </a:r>
            </a:p>
          </p:txBody>
        </p:sp>
        <p:sp>
          <p:nvSpPr>
            <p:cNvPr id="198" name="TextBox 198"/>
            <p:cNvSpPr txBox="1"/>
            <p:nvPr/>
          </p:nvSpPr>
          <p:spPr>
            <a:xfrm>
              <a:off x="10653712" y="2320528"/>
              <a:ext cx="1045845" cy="340519"/>
            </a:xfrm>
            <a:prstGeom prst="rect">
              <a:avLst/>
            </a:prstGeom>
            <a:noFill/>
            <a:ln>
              <a:noFill/>
            </a:ln>
          </p:spPr>
          <p:txBody>
            <a:bodyPr wrap="none" lIns="0" tIns="0" rIns="0" bIns="0" anchor="t" anchorCtr="0">
              <a:spAutoFit/>
            </a:bodyPr>
            <a:lstStyle/>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基准可追回：1.20亿元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路径潜力：2.10亿元      </a:t>
              </a:r>
            </a:p>
            <a:p>
              <a:pPr algn="l" marL="76200" indent="-76200">
                <a:lnSpc>
                  <a:spcPts val="900"/>
                </a:lnSpc>
                <a:buClr>
                  <a:srgbClr val="523E3A"/>
                </a:buClr>
                <a:buSzTx/>
                <a:buFontTx/>
                <a:buChar char="•"/>
              </a:pPr>
              <a:r>
                <a:rPr lang="zh-CN" sz="560" dirty="0">
                  <a:solidFill>
                    <a:srgbClr val="523E3A"/>
                  </a:solidFill>
                  <a:latin typeface="+mn-lt"/>
                  <a:ea typeface="+mn-ea"/>
                  <a:cs typeface="+mn-cs"/>
                </a:rPr>
                <a:t xml:space="preserve">合计收益：3.30亿元      </a:t>
              </a:r>
            </a:p>
          </p:txBody>
        </p:sp>
        <p:sp>
          <p:nvSpPr>
            <p:cNvPr id="199" name="Rectangle 199"/>
            <p:cNvSpPr/>
            <p:nvPr/>
          </p:nvSpPr>
          <p:spPr>
            <a:xfrm>
              <a:off x="9229725" y="2990850"/>
              <a:ext cx="2609850" cy="781050"/>
            </a:xfrm>
            <a:prstGeom prst="roundRect">
              <a:avLst>
                <a:gd name="adj" fmla="val 7317"/>
              </a:avLst>
            </a:prstGeom>
            <a:solidFill>
              <a:srgbClr val="721E0D"/>
            </a:solidFill>
            <a:ln>
              <a:noFill/>
            </a:ln>
          </p:spPr>
        </p:sp>
        <p:sp>
          <p:nvSpPr>
            <p:cNvPr id="200" name="TextBox 200"/>
            <p:cNvSpPr txBox="1"/>
            <p:nvPr/>
          </p:nvSpPr>
          <p:spPr>
            <a:xfrm>
              <a:off x="9700459" y="3180636"/>
              <a:ext cx="1668382"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 xml:space="preserve">   综合ROI = 预期收益 / 资源投入   </a:t>
              </a:r>
            </a:p>
          </p:txBody>
        </p:sp>
        <p:sp>
          <p:nvSpPr>
            <p:cNvPr id="201" name="TextBox 201"/>
            <p:cNvSpPr txBox="1"/>
            <p:nvPr/>
          </p:nvSpPr>
          <p:spPr>
            <a:xfrm>
              <a:off x="9301946" y="3443764"/>
              <a:ext cx="2465407"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 xml:space="preserve">   3.30亿 / 0.35亿 = </a:t>
              </a:r>
              <a:r>
                <a:rPr lang="zh-CN" sz="1280" b="1" dirty="0">
                  <a:solidFill>
                    <a:srgbClr val="FF725A"/>
                  </a:solidFill>
                  <a:latin typeface="+mn-lt"/>
                  <a:ea typeface="+mn-ea"/>
                  <a:cs typeface="+mn-cs"/>
                </a:rPr>
                <a:t>1:6</a:t>
              </a:r>
              <a:r>
                <a:rPr lang="zh-CN" sz="1280" b="1" dirty="0">
                  <a:solidFill>
                    <a:srgbClr val="FFFFFF"/>
                  </a:solidFill>
                  <a:latin typeface="+mn-lt"/>
                  <a:ea typeface="+mn-ea"/>
                  <a:cs typeface="+mn-cs"/>
                </a:rPr>
                <a:t xml:space="preserve">   </a:t>
              </a:r>
            </a:p>
          </p:txBody>
        </p:sp>
      </p:grpSp>
      <p:grpSp>
        <p:nvGrpSpPr>
          <p:cNvPr id="242" name="question-1"/>
          <p:cNvGrpSpPr/>
          <p:nvPr/>
        </p:nvGrpSpPr>
        <p:grpSpPr>
          <a:xfrm>
            <a:off x="228600" y="4210050"/>
            <a:ext cx="3810000" cy="1466850"/>
            <a:chOff x="228600" y="4210050"/>
            <a:chExt cx="3810000" cy="1466850"/>
          </a:xfrm>
        </p:grpSpPr>
        <p:sp>
          <p:nvSpPr>
            <p:cNvPr id="203" name="Rectangle 203"/>
            <p:cNvSpPr/>
            <p:nvPr/>
          </p:nvSpPr>
          <p:spPr>
            <a:xfrm>
              <a:off x="228600" y="4210050"/>
              <a:ext cx="3810000" cy="1466850"/>
            </a:xfrm>
            <a:prstGeom prst="roundRect">
              <a:avLst>
                <a:gd name="adj" fmla="val 6494"/>
              </a:avLst>
            </a:prstGeom>
            <a:solidFill>
              <a:srgbClr val="FFFFFF"/>
            </a:solidFill>
            <a:ln w="14288">
              <a:solidFill>
                <a:srgbClr val="C9D6EE"/>
              </a:solidFill>
            </a:ln>
          </p:spPr>
        </p:sp>
        <p:sp>
          <p:nvSpPr>
            <p:cNvPr id="204" name="Freeform 204"/>
            <p:cNvSpPr/>
            <p:nvPr/>
          </p:nvSpPr>
          <p:spPr>
            <a:xfrm>
              <a:off x="228600" y="4210050"/>
              <a:ext cx="3810000" cy="285750"/>
            </a:xfrm>
            <a:custGeom>
              <a:avLst/>
              <a:gdLst/>
              <a:ahLst/>
              <a:cxnLst/>
              <a:rect l="l" t="t" r="r" b="b"/>
              <a:pathLst>
                <a:path w="3810000" h="285750">
                  <a:moveTo>
                    <a:pt x="95250" y="0"/>
                  </a:moveTo>
                  <a:lnTo>
                    <a:pt x="3714750" y="0"/>
                  </a:lnTo>
                  <a:cubicBezTo>
                    <a:pt x="3767355" y="0"/>
                    <a:pt x="3810000" y="42645"/>
                    <a:pt x="3810000" y="95250"/>
                  </a:cubicBezTo>
                  <a:lnTo>
                    <a:pt x="3810000" y="285750"/>
                  </a:lnTo>
                  <a:lnTo>
                    <a:pt x="0" y="285750"/>
                  </a:lnTo>
                  <a:lnTo>
                    <a:pt x="0" y="95250"/>
                  </a:lnTo>
                  <a:cubicBezTo>
                    <a:pt x="0" y="42645"/>
                    <a:pt x="42645" y="0"/>
                    <a:pt x="95250" y="0"/>
                  </a:cubicBezTo>
                  <a:close/>
                </a:path>
              </a:pathLst>
            </a:custGeom>
            <a:solidFill>
              <a:srgbClr val="721E0D"/>
            </a:solidFill>
            <a:ln>
              <a:noFill/>
            </a:ln>
          </p:spPr>
        </p:sp>
        <p:grpSp>
          <p:nvGrpSpPr>
            <p:cNvPr id="208" name="Group 208"/>
            <p:cNvGrpSpPr/>
            <p:nvPr/>
          </p:nvGrpSpPr>
          <p:grpSpPr>
            <a:xfrm>
              <a:off x="1583531" y="4288631"/>
              <a:ext cx="128588" cy="128588"/>
              <a:chOff x="1583531" y="4288631"/>
              <a:chExt cx="128588" cy="128588"/>
            </a:xfrm>
          </p:grpSpPr>
          <p:sp>
            <p:nvSpPr>
              <p:cNvPr id="205" name="Freeform 205"/>
              <p:cNvSpPr/>
              <p:nvPr/>
            </p:nvSpPr>
            <p:spPr>
              <a:xfrm>
                <a:off x="1640681" y="43457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206" name="Freeform 206"/>
              <p:cNvSpPr/>
              <p:nvPr/>
            </p:nvSpPr>
            <p:spPr>
              <a:xfrm>
                <a:off x="1612106" y="43172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207" name="Freeform 207"/>
              <p:cNvSpPr/>
              <p:nvPr/>
            </p:nvSpPr>
            <p:spPr>
              <a:xfrm>
                <a:off x="1583531" y="42886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209" name="TextBox 209"/>
            <p:cNvSpPr txBox="1"/>
            <p:nvPr/>
          </p:nvSpPr>
          <p:spPr>
            <a:xfrm>
              <a:off x="1804606" y="4300776"/>
              <a:ext cx="962050"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你能控制什么？</a:t>
              </a:r>
            </a:p>
          </p:txBody>
        </p:sp>
        <p:grpSp>
          <p:nvGrpSpPr>
            <p:cNvPr id="213" name="Group 213"/>
            <p:cNvGrpSpPr/>
            <p:nvPr/>
          </p:nvGrpSpPr>
          <p:grpSpPr>
            <a:xfrm>
              <a:off x="611981" y="4602956"/>
              <a:ext cx="185737" cy="185737"/>
              <a:chOff x="611981" y="4602956"/>
              <a:chExt cx="185737" cy="185737"/>
            </a:xfrm>
          </p:grpSpPr>
          <p:sp>
            <p:nvSpPr>
              <p:cNvPr id="210" name="Freeform 210"/>
              <p:cNvSpPr/>
              <p:nvPr/>
            </p:nvSpPr>
            <p:spPr>
              <a:xfrm>
                <a:off x="694531" y="468550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721E0D"/>
                </a:solidFill>
              </a:ln>
            </p:spPr>
          </p:sp>
          <p:sp>
            <p:nvSpPr>
              <p:cNvPr id="211" name="Freeform 211"/>
              <p:cNvSpPr/>
              <p:nvPr/>
            </p:nvSpPr>
            <p:spPr>
              <a:xfrm>
                <a:off x="653256" y="464423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721E0D"/>
                </a:solidFill>
              </a:ln>
            </p:spPr>
          </p:sp>
          <p:sp>
            <p:nvSpPr>
              <p:cNvPr id="212" name="Freeform 212"/>
              <p:cNvSpPr/>
              <p:nvPr/>
            </p:nvSpPr>
            <p:spPr>
              <a:xfrm>
                <a:off x="611981" y="4602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721E0D"/>
                </a:solidFill>
              </a:ln>
            </p:spPr>
          </p:sp>
        </p:grpSp>
        <p:sp>
          <p:nvSpPr>
            <p:cNvPr id="214" name="TextBox 214"/>
            <p:cNvSpPr txBox="1"/>
            <p:nvPr/>
          </p:nvSpPr>
          <p:spPr>
            <a:xfrm>
              <a:off x="4873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可控目标</a:t>
              </a:r>
            </a:p>
          </p:txBody>
        </p:sp>
        <p:sp>
          <p:nvSpPr>
            <p:cNvPr id="215" name="TextBox 215"/>
            <p:cNvSpPr txBox="1"/>
            <p:nvPr/>
          </p:nvSpPr>
          <p:spPr>
            <a:xfrm>
              <a:off x="338138" y="5074682"/>
              <a:ext cx="492125" cy="49768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线索量</a:t>
              </a:r>
            </a:p>
            <a:p>
              <a:pPr algn="l" marL="76200" indent="-76200">
                <a:lnSpc>
                  <a:spcPts val="975"/>
                </a:lnSpc>
                <a:buClr>
                  <a:srgbClr val="523E3A"/>
                </a:buClr>
                <a:buSzTx/>
                <a:buFontTx/>
                <a:buChar char="•"/>
              </a:pPr>
              <a:r>
                <a:rPr lang="zh-CN" sz="640" dirty="0">
                  <a:solidFill>
                    <a:srgbClr val="523E3A"/>
                  </a:solidFill>
                  <a:latin typeface="+mn-lt"/>
                  <a:ea typeface="+mn-ea"/>
                  <a:cs typeface="+mn-cs"/>
                </a:rPr>
                <a:t>商机转化率</a:t>
              </a:r>
            </a:p>
            <a:p>
              <a:pPr algn="l" marL="76200" indent="-76200">
                <a:lnSpc>
                  <a:spcPts val="975"/>
                </a:lnSpc>
                <a:buClr>
                  <a:srgbClr val="523E3A"/>
                </a:buClr>
                <a:buSzTx/>
                <a:buFontTx/>
                <a:buChar char="•"/>
              </a:pPr>
              <a:r>
                <a:rPr lang="zh-CN" sz="640" dirty="0">
                  <a:solidFill>
                    <a:srgbClr val="523E3A"/>
                  </a:solidFill>
                  <a:latin typeface="+mn-lt"/>
                  <a:ea typeface="+mn-ea"/>
                  <a:cs typeface="+mn-cs"/>
                </a:rPr>
                <a:t>客单价</a:t>
              </a:r>
            </a:p>
            <a:p>
              <a:pPr algn="l" marL="76200" indent="-76200">
                <a:lnSpc>
                  <a:spcPts val="975"/>
                </a:lnSpc>
                <a:buClr>
                  <a:srgbClr val="523E3A"/>
                </a:buClr>
                <a:buSzTx/>
                <a:buFontTx/>
                <a:buChar char="•"/>
              </a:pPr>
              <a:r>
                <a:rPr lang="zh-CN" sz="640" dirty="0">
                  <a:solidFill>
                    <a:srgbClr val="523E3A"/>
                  </a:solidFill>
                  <a:latin typeface="+mn-lt"/>
                  <a:ea typeface="+mn-ea"/>
                  <a:cs typeface="+mn-cs"/>
                </a:rPr>
                <a:t>回款与交付</a:t>
              </a:r>
            </a:p>
          </p:txBody>
        </p:sp>
        <p:sp>
          <p:nvSpPr>
            <p:cNvPr id="216" name="Line 216"/>
            <p:cNvSpPr/>
            <p:nvPr/>
          </p:nvSpPr>
          <p:spPr>
            <a:xfrm>
              <a:off x="1181100" y="4591050"/>
              <a:ext cx="9525" cy="1009650"/>
            </a:xfrm>
            <a:custGeom>
              <a:avLst/>
              <a:gdLst/>
              <a:ahLst/>
              <a:cxnLst/>
              <a:rect l="l" t="t" r="r" b="b"/>
              <a:pathLst>
                <a:path w="9525" h="1009650">
                  <a:moveTo>
                    <a:pt x="0" y="0"/>
                  </a:moveTo>
                  <a:lnTo>
                    <a:pt x="0" y="1009650"/>
                  </a:lnTo>
                </a:path>
              </a:pathLst>
            </a:custGeom>
            <a:noFill/>
            <a:ln w="9525">
              <a:solidFill>
                <a:srgbClr val="E6EAF2"/>
              </a:solidFill>
            </a:ln>
          </p:spPr>
        </p:sp>
        <p:grpSp>
          <p:nvGrpSpPr>
            <p:cNvPr id="219" name="Group 219"/>
            <p:cNvGrpSpPr/>
            <p:nvPr/>
          </p:nvGrpSpPr>
          <p:grpSpPr>
            <a:xfrm>
              <a:off x="1559951" y="4598426"/>
              <a:ext cx="194797" cy="194797"/>
              <a:chOff x="1559951" y="4598426"/>
              <a:chExt cx="194797" cy="194797"/>
            </a:xfrm>
          </p:grpSpPr>
          <p:sp>
            <p:nvSpPr>
              <p:cNvPr id="217" name="Freeform 217"/>
              <p:cNvSpPr/>
              <p:nvPr/>
            </p:nvSpPr>
            <p:spPr>
              <a:xfrm>
                <a:off x="1559951" y="4598426"/>
                <a:ext cx="194797" cy="194797"/>
              </a:xfrm>
              <a:custGeom>
                <a:avLst/>
                <a:gdLst/>
                <a:ahLst/>
                <a:cxnLst/>
                <a:rect l="l" t="t" r="r" b="b"/>
                <a:pathLst>
                  <a:path w="194797" h="194797">
                    <a:moveTo>
                      <a:pt x="80115" y="18120"/>
                    </a:moveTo>
                    <a:cubicBezTo>
                      <a:pt x="84510" y="0"/>
                      <a:pt x="110286" y="0"/>
                      <a:pt x="114682" y="18120"/>
                    </a:cubicBezTo>
                    <a:cubicBezTo>
                      <a:pt x="116020" y="23641"/>
                      <a:pt x="119914" y="28191"/>
                      <a:pt x="125162" y="30365"/>
                    </a:cubicBezTo>
                    <a:cubicBezTo>
                      <a:pt x="130411" y="32540"/>
                      <a:pt x="136382" y="32077"/>
                      <a:pt x="141232" y="29119"/>
                    </a:cubicBezTo>
                    <a:cubicBezTo>
                      <a:pt x="157154" y="19420"/>
                      <a:pt x="175387" y="37643"/>
                      <a:pt x="165688" y="53575"/>
                    </a:cubicBezTo>
                    <a:cubicBezTo>
                      <a:pt x="162735" y="58423"/>
                      <a:pt x="162273" y="64390"/>
                      <a:pt x="164445" y="69635"/>
                    </a:cubicBezTo>
                    <a:cubicBezTo>
                      <a:pt x="166616" y="74880"/>
                      <a:pt x="171161" y="78773"/>
                      <a:pt x="176677" y="80115"/>
                    </a:cubicBezTo>
                    <a:cubicBezTo>
                      <a:pt x="194797" y="84510"/>
                      <a:pt x="194797" y="110286"/>
                      <a:pt x="176677" y="114682"/>
                    </a:cubicBezTo>
                    <a:cubicBezTo>
                      <a:pt x="171156" y="116020"/>
                      <a:pt x="166606" y="119914"/>
                      <a:pt x="164431" y="125162"/>
                    </a:cubicBezTo>
                    <a:cubicBezTo>
                      <a:pt x="162257" y="130411"/>
                      <a:pt x="162720" y="136382"/>
                      <a:pt x="165677" y="141232"/>
                    </a:cubicBezTo>
                    <a:cubicBezTo>
                      <a:pt x="175377" y="157154"/>
                      <a:pt x="157154" y="175387"/>
                      <a:pt x="141222" y="165688"/>
                    </a:cubicBezTo>
                    <a:cubicBezTo>
                      <a:pt x="136374" y="162735"/>
                      <a:pt x="130407" y="162273"/>
                      <a:pt x="125162" y="164445"/>
                    </a:cubicBezTo>
                    <a:cubicBezTo>
                      <a:pt x="119917" y="166616"/>
                      <a:pt x="116024" y="171161"/>
                      <a:pt x="114682" y="176677"/>
                    </a:cubicBezTo>
                    <a:cubicBezTo>
                      <a:pt x="110286" y="194797"/>
                      <a:pt x="84510" y="194797"/>
                      <a:pt x="80115" y="176677"/>
                    </a:cubicBezTo>
                    <a:cubicBezTo>
                      <a:pt x="78777" y="171156"/>
                      <a:pt x="74883" y="166606"/>
                      <a:pt x="69634" y="164431"/>
                    </a:cubicBezTo>
                    <a:cubicBezTo>
                      <a:pt x="64386" y="162257"/>
                      <a:pt x="58415" y="162720"/>
                      <a:pt x="53564" y="165677"/>
                    </a:cubicBezTo>
                    <a:cubicBezTo>
                      <a:pt x="37643" y="175377"/>
                      <a:pt x="19410" y="157154"/>
                      <a:pt x="29109" y="141222"/>
                    </a:cubicBezTo>
                    <a:cubicBezTo>
                      <a:pt x="32062" y="136374"/>
                      <a:pt x="32524" y="130407"/>
                      <a:pt x="30352" y="125162"/>
                    </a:cubicBezTo>
                    <a:cubicBezTo>
                      <a:pt x="28180" y="119917"/>
                      <a:pt x="23636" y="116024"/>
                      <a:pt x="18120" y="114682"/>
                    </a:cubicBezTo>
                    <a:cubicBezTo>
                      <a:pt x="0" y="110286"/>
                      <a:pt x="0" y="84510"/>
                      <a:pt x="18120" y="80115"/>
                    </a:cubicBezTo>
                    <a:cubicBezTo>
                      <a:pt x="23641" y="78777"/>
                      <a:pt x="28191" y="74883"/>
                      <a:pt x="30365" y="69634"/>
                    </a:cubicBezTo>
                    <a:cubicBezTo>
                      <a:pt x="32540" y="64386"/>
                      <a:pt x="32077" y="58415"/>
                      <a:pt x="29119" y="53564"/>
                    </a:cubicBezTo>
                    <a:cubicBezTo>
                      <a:pt x="19420" y="37643"/>
                      <a:pt x="37643" y="19410"/>
                      <a:pt x="53575" y="29109"/>
                    </a:cubicBezTo>
                    <a:cubicBezTo>
                      <a:pt x="63894" y="35383"/>
                      <a:pt x="77267" y="29831"/>
                      <a:pt x="80115" y="18120"/>
                    </a:cubicBezTo>
                  </a:path>
                </a:pathLst>
              </a:custGeom>
              <a:noFill/>
              <a:ln w="20637">
                <a:solidFill>
                  <a:srgbClr val="721E0D"/>
                </a:solidFill>
              </a:ln>
            </p:spPr>
          </p:sp>
          <p:sp>
            <p:nvSpPr>
              <p:cNvPr id="218" name="Freeform 218"/>
              <p:cNvSpPr/>
              <p:nvPr/>
            </p:nvSpPr>
            <p:spPr>
              <a:xfrm>
                <a:off x="1626393" y="4664868"/>
                <a:ext cx="61912" cy="61912"/>
              </a:xfrm>
              <a:custGeom>
                <a:avLst/>
                <a:gdLst/>
                <a:ahLst/>
                <a:cxnLst/>
                <a:rect l="l" t="t" r="r" b="b"/>
                <a:pathLst>
                  <a:path w="61912" h="61912">
                    <a:moveTo>
                      <a:pt x="0" y="30956"/>
                    </a:moveTo>
                    <a:cubicBezTo>
                      <a:pt x="0" y="48053"/>
                      <a:pt x="13860" y="61912"/>
                      <a:pt x="30956" y="61912"/>
                    </a:cubicBezTo>
                    <a:cubicBezTo>
                      <a:pt x="48053" y="61912"/>
                      <a:pt x="61912" y="48053"/>
                      <a:pt x="61912" y="30956"/>
                    </a:cubicBezTo>
                    <a:cubicBezTo>
                      <a:pt x="61912" y="13860"/>
                      <a:pt x="48053" y="0"/>
                      <a:pt x="30956" y="0"/>
                    </a:cubicBezTo>
                    <a:cubicBezTo>
                      <a:pt x="13860" y="0"/>
                      <a:pt x="0" y="13860"/>
                      <a:pt x="0" y="30956"/>
                    </a:cubicBezTo>
                  </a:path>
                </a:pathLst>
              </a:custGeom>
              <a:noFill/>
              <a:ln w="20637">
                <a:solidFill>
                  <a:srgbClr val="721E0D"/>
                </a:solidFill>
              </a:ln>
            </p:spPr>
          </p:sp>
        </p:grpSp>
        <p:sp>
          <p:nvSpPr>
            <p:cNvPr id="220" name="TextBox 220"/>
            <p:cNvSpPr txBox="1"/>
            <p:nvPr/>
          </p:nvSpPr>
          <p:spPr>
            <a:xfrm>
              <a:off x="14398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可控动作</a:t>
              </a:r>
            </a:p>
          </p:txBody>
        </p:sp>
        <p:sp>
          <p:nvSpPr>
            <p:cNvPr id="221" name="TextBox 221"/>
            <p:cNvSpPr txBox="1"/>
            <p:nvPr/>
          </p:nvSpPr>
          <p:spPr>
            <a:xfrm>
              <a:off x="1290638" y="5074682"/>
              <a:ext cx="410845" cy="49768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过程管控</a:t>
              </a:r>
            </a:p>
            <a:p>
              <a:pPr algn="l" marL="76200" indent="-76200">
                <a:lnSpc>
                  <a:spcPts val="975"/>
                </a:lnSpc>
                <a:buClr>
                  <a:srgbClr val="523E3A"/>
                </a:buClr>
                <a:buSzTx/>
                <a:buFontTx/>
                <a:buChar char="•"/>
              </a:pPr>
              <a:r>
                <a:rPr lang="zh-CN" sz="640" dirty="0">
                  <a:solidFill>
                    <a:srgbClr val="523E3A"/>
                  </a:solidFill>
                  <a:latin typeface="+mn-lt"/>
                  <a:ea typeface="+mn-ea"/>
                  <a:cs typeface="+mn-cs"/>
                </a:rPr>
                <a:t>标准执行</a:t>
              </a:r>
            </a:p>
            <a:p>
              <a:pPr algn="l" marL="76200" indent="-76200">
                <a:lnSpc>
                  <a:spcPts val="975"/>
                </a:lnSpc>
                <a:buClr>
                  <a:srgbClr val="523E3A"/>
                </a:buClr>
                <a:buSzTx/>
                <a:buFontTx/>
                <a:buChar char="•"/>
              </a:pPr>
              <a:r>
                <a:rPr lang="zh-CN" sz="640" dirty="0">
                  <a:solidFill>
                    <a:srgbClr val="523E3A"/>
                  </a:solidFill>
                  <a:latin typeface="+mn-lt"/>
                  <a:ea typeface="+mn-ea"/>
                  <a:cs typeface="+mn-cs"/>
                </a:rPr>
                <a:t>重点大单</a:t>
              </a:r>
            </a:p>
            <a:p>
              <a:pPr algn="l" marL="76200" indent="-76200">
                <a:lnSpc>
                  <a:spcPts val="975"/>
                </a:lnSpc>
                <a:buClr>
                  <a:srgbClr val="523E3A"/>
                </a:buClr>
                <a:buSzTx/>
                <a:buFontTx/>
                <a:buChar char="•"/>
              </a:pPr>
              <a:r>
                <a:rPr lang="zh-CN" sz="640" dirty="0">
                  <a:solidFill>
                    <a:srgbClr val="523E3A"/>
                  </a:solidFill>
                  <a:latin typeface="+mn-lt"/>
                  <a:ea typeface="+mn-ea"/>
                  <a:cs typeface="+mn-cs"/>
                </a:rPr>
                <a:t>资源调度</a:t>
              </a:r>
            </a:p>
          </p:txBody>
        </p:sp>
        <p:sp>
          <p:nvSpPr>
            <p:cNvPr id="222" name="Line 222"/>
            <p:cNvSpPr/>
            <p:nvPr/>
          </p:nvSpPr>
          <p:spPr>
            <a:xfrm>
              <a:off x="2133600" y="4591050"/>
              <a:ext cx="9525" cy="1009650"/>
            </a:xfrm>
            <a:custGeom>
              <a:avLst/>
              <a:gdLst/>
              <a:ahLst/>
              <a:cxnLst/>
              <a:rect l="l" t="t" r="r" b="b"/>
              <a:pathLst>
                <a:path w="9525" h="1009650">
                  <a:moveTo>
                    <a:pt x="0" y="0"/>
                  </a:moveTo>
                  <a:lnTo>
                    <a:pt x="0" y="1009650"/>
                  </a:lnTo>
                </a:path>
              </a:pathLst>
            </a:custGeom>
            <a:noFill/>
            <a:ln w="9525">
              <a:solidFill>
                <a:srgbClr val="E6EAF2"/>
              </a:solidFill>
            </a:ln>
          </p:spPr>
        </p:sp>
        <p:grpSp>
          <p:nvGrpSpPr>
            <p:cNvPr id="229" name="Group 229"/>
            <p:cNvGrpSpPr/>
            <p:nvPr/>
          </p:nvGrpSpPr>
          <p:grpSpPr>
            <a:xfrm>
              <a:off x="2527300" y="4602956"/>
              <a:ext cx="165099" cy="185737"/>
              <a:chOff x="2527300" y="4602956"/>
              <a:chExt cx="165099" cy="185737"/>
            </a:xfrm>
          </p:grpSpPr>
          <p:sp>
            <p:nvSpPr>
              <p:cNvPr id="223" name="Freeform 223"/>
              <p:cNvSpPr/>
              <p:nvPr/>
            </p:nvSpPr>
            <p:spPr>
              <a:xfrm>
                <a:off x="2527300" y="4623594"/>
                <a:ext cx="165099" cy="165099"/>
              </a:xfrm>
              <a:custGeom>
                <a:avLst/>
                <a:gdLst/>
                <a:ahLst/>
                <a:cxnLst/>
                <a:rect l="l" t="t" r="r" b="b"/>
                <a:pathLst>
                  <a:path w="165099" h="165099">
                    <a:moveTo>
                      <a:pt x="0" y="20637"/>
                    </a:moveTo>
                    <a:cubicBezTo>
                      <a:pt x="0" y="9240"/>
                      <a:pt x="9240" y="0"/>
                      <a:pt x="20637" y="0"/>
                    </a:cubicBezTo>
                    <a:lnTo>
                      <a:pt x="144462" y="0"/>
                    </a:lnTo>
                    <a:cubicBezTo>
                      <a:pt x="155860" y="0"/>
                      <a:pt x="165099" y="9240"/>
                      <a:pt x="165099" y="20637"/>
                    </a:cubicBezTo>
                    <a:lnTo>
                      <a:pt x="165099" y="144462"/>
                    </a:lnTo>
                    <a:cubicBezTo>
                      <a:pt x="165099" y="155860"/>
                      <a:pt x="155860" y="165099"/>
                      <a:pt x="144462" y="165099"/>
                    </a:cubicBezTo>
                    <a:lnTo>
                      <a:pt x="20637" y="165099"/>
                    </a:lnTo>
                    <a:cubicBezTo>
                      <a:pt x="9240" y="165099"/>
                      <a:pt x="0" y="155860"/>
                      <a:pt x="0" y="144462"/>
                    </a:cubicBezTo>
                    <a:lnTo>
                      <a:pt x="0" y="20637"/>
                    </a:lnTo>
                  </a:path>
                </a:pathLst>
              </a:custGeom>
              <a:noFill/>
              <a:ln w="20637">
                <a:solidFill>
                  <a:srgbClr val="721E0D"/>
                </a:solidFill>
              </a:ln>
            </p:spPr>
          </p:sp>
          <p:sp>
            <p:nvSpPr>
              <p:cNvPr id="224" name="Freeform 224"/>
              <p:cNvSpPr/>
              <p:nvPr/>
            </p:nvSpPr>
            <p:spPr>
              <a:xfrm>
                <a:off x="2651124" y="4602956"/>
                <a:ext cx="9525" cy="41275"/>
              </a:xfrm>
              <a:custGeom>
                <a:avLst/>
                <a:gdLst/>
                <a:ahLst/>
                <a:cxnLst/>
                <a:rect l="l" t="t" r="r" b="b"/>
                <a:pathLst>
                  <a:path w="9525" h="41275">
                    <a:moveTo>
                      <a:pt x="0" y="0"/>
                    </a:moveTo>
                    <a:lnTo>
                      <a:pt x="0" y="41275"/>
                    </a:lnTo>
                  </a:path>
                </a:pathLst>
              </a:custGeom>
              <a:noFill/>
              <a:ln w="20637">
                <a:solidFill>
                  <a:srgbClr val="721E0D"/>
                </a:solidFill>
              </a:ln>
            </p:spPr>
          </p:sp>
          <p:sp>
            <p:nvSpPr>
              <p:cNvPr id="225" name="Freeform 225"/>
              <p:cNvSpPr/>
              <p:nvPr/>
            </p:nvSpPr>
            <p:spPr>
              <a:xfrm>
                <a:off x="2568575" y="4602956"/>
                <a:ext cx="9525" cy="41275"/>
              </a:xfrm>
              <a:custGeom>
                <a:avLst/>
                <a:gdLst/>
                <a:ahLst/>
                <a:cxnLst/>
                <a:rect l="l" t="t" r="r" b="b"/>
                <a:pathLst>
                  <a:path w="9525" h="41275">
                    <a:moveTo>
                      <a:pt x="0" y="0"/>
                    </a:moveTo>
                    <a:lnTo>
                      <a:pt x="0" y="41275"/>
                    </a:lnTo>
                  </a:path>
                </a:pathLst>
              </a:custGeom>
              <a:noFill/>
              <a:ln w="20637">
                <a:solidFill>
                  <a:srgbClr val="721E0D"/>
                </a:solidFill>
              </a:ln>
            </p:spPr>
          </p:sp>
          <p:sp>
            <p:nvSpPr>
              <p:cNvPr id="226" name="Freeform 226"/>
              <p:cNvSpPr/>
              <p:nvPr/>
            </p:nvSpPr>
            <p:spPr>
              <a:xfrm>
                <a:off x="2527300" y="4685506"/>
                <a:ext cx="165099" cy="9525"/>
              </a:xfrm>
              <a:custGeom>
                <a:avLst/>
                <a:gdLst/>
                <a:ahLst/>
                <a:cxnLst/>
                <a:rect l="l" t="t" r="r" b="b"/>
                <a:pathLst>
                  <a:path w="165099" h="9525">
                    <a:moveTo>
                      <a:pt x="0" y="0"/>
                    </a:moveTo>
                    <a:lnTo>
                      <a:pt x="165099" y="0"/>
                    </a:lnTo>
                  </a:path>
                </a:pathLst>
              </a:custGeom>
              <a:noFill/>
              <a:ln w="20637">
                <a:solidFill>
                  <a:srgbClr val="721E0D"/>
                </a:solidFill>
              </a:ln>
            </p:spPr>
          </p:sp>
          <p:sp>
            <p:nvSpPr>
              <p:cNvPr id="227" name="Freeform 227"/>
              <p:cNvSpPr/>
              <p:nvPr/>
            </p:nvSpPr>
            <p:spPr>
              <a:xfrm>
                <a:off x="2599531" y="4726781"/>
                <a:ext cx="10319" cy="9525"/>
              </a:xfrm>
              <a:custGeom>
                <a:avLst/>
                <a:gdLst/>
                <a:ahLst/>
                <a:cxnLst/>
                <a:rect l="l" t="t" r="r" b="b"/>
                <a:pathLst>
                  <a:path w="10319" h="9525">
                    <a:moveTo>
                      <a:pt x="0" y="0"/>
                    </a:moveTo>
                    <a:lnTo>
                      <a:pt x="10319" y="0"/>
                    </a:lnTo>
                  </a:path>
                </a:pathLst>
              </a:custGeom>
              <a:noFill/>
              <a:ln w="20637">
                <a:solidFill>
                  <a:srgbClr val="721E0D"/>
                </a:solidFill>
              </a:ln>
            </p:spPr>
          </p:sp>
          <p:sp>
            <p:nvSpPr>
              <p:cNvPr id="228" name="Freeform 228"/>
              <p:cNvSpPr/>
              <p:nvPr/>
            </p:nvSpPr>
            <p:spPr>
              <a:xfrm>
                <a:off x="2609850" y="4726781"/>
                <a:ext cx="9525" cy="30956"/>
              </a:xfrm>
              <a:custGeom>
                <a:avLst/>
                <a:gdLst/>
                <a:ahLst/>
                <a:cxnLst/>
                <a:rect l="l" t="t" r="r" b="b"/>
                <a:pathLst>
                  <a:path w="9525" h="30956">
                    <a:moveTo>
                      <a:pt x="0" y="0"/>
                    </a:moveTo>
                    <a:lnTo>
                      <a:pt x="0" y="30956"/>
                    </a:lnTo>
                  </a:path>
                </a:pathLst>
              </a:custGeom>
              <a:noFill/>
              <a:ln w="20637">
                <a:solidFill>
                  <a:srgbClr val="721E0D"/>
                </a:solidFill>
              </a:ln>
            </p:spPr>
          </p:sp>
        </p:grpSp>
        <p:sp>
          <p:nvSpPr>
            <p:cNvPr id="230" name="TextBox 230"/>
            <p:cNvSpPr txBox="1"/>
            <p:nvPr/>
          </p:nvSpPr>
          <p:spPr>
            <a:xfrm>
              <a:off x="23923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可控节奏</a:t>
              </a:r>
            </a:p>
          </p:txBody>
        </p:sp>
        <p:sp>
          <p:nvSpPr>
            <p:cNvPr id="231" name="TextBox 231"/>
            <p:cNvSpPr txBox="1"/>
            <p:nvPr/>
          </p:nvSpPr>
          <p:spPr>
            <a:xfrm>
              <a:off x="2243138" y="5074682"/>
              <a:ext cx="329565" cy="49768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周例会</a:t>
              </a:r>
            </a:p>
            <a:p>
              <a:pPr algn="l" marL="76200" indent="-76200">
                <a:lnSpc>
                  <a:spcPts val="975"/>
                </a:lnSpc>
                <a:buClr>
                  <a:srgbClr val="523E3A"/>
                </a:buClr>
                <a:buSzTx/>
                <a:buFontTx/>
                <a:buChar char="•"/>
              </a:pPr>
              <a:r>
                <a:rPr lang="zh-CN" sz="640" dirty="0">
                  <a:solidFill>
                    <a:srgbClr val="523E3A"/>
                  </a:solidFill>
                  <a:latin typeface="+mn-lt"/>
                  <a:ea typeface="+mn-ea"/>
                  <a:cs typeface="+mn-cs"/>
                </a:rPr>
                <a:t>月复盘</a:t>
              </a:r>
            </a:p>
            <a:p>
              <a:pPr algn="l" marL="76200" indent="-76200">
                <a:lnSpc>
                  <a:spcPts val="975"/>
                </a:lnSpc>
                <a:buClr>
                  <a:srgbClr val="523E3A"/>
                </a:buClr>
                <a:buSzTx/>
                <a:buFontTx/>
                <a:buChar char="•"/>
              </a:pPr>
              <a:r>
                <a:rPr lang="zh-CN" sz="640" dirty="0">
                  <a:solidFill>
                    <a:srgbClr val="523E3A"/>
                  </a:solidFill>
                  <a:latin typeface="+mn-lt"/>
                  <a:ea typeface="+mn-ea"/>
                  <a:cs typeface="+mn-cs"/>
                </a:rPr>
                <a:t>季冲刺</a:t>
              </a:r>
            </a:p>
            <a:p>
              <a:pPr algn="l" marL="76200" indent="-76200">
                <a:lnSpc>
                  <a:spcPts val="975"/>
                </a:lnSpc>
                <a:buClr>
                  <a:srgbClr val="523E3A"/>
                </a:buClr>
                <a:buSzTx/>
                <a:buFontTx/>
                <a:buChar char="•"/>
              </a:pPr>
              <a:r>
                <a:rPr lang="zh-CN" sz="640" dirty="0">
                  <a:solidFill>
                    <a:srgbClr val="523E3A"/>
                  </a:solidFill>
                  <a:latin typeface="+mn-lt"/>
                  <a:ea typeface="+mn-ea"/>
                  <a:cs typeface="+mn-cs"/>
                </a:rPr>
                <a:t>年规划</a:t>
              </a:r>
            </a:p>
          </p:txBody>
        </p:sp>
        <p:sp>
          <p:nvSpPr>
            <p:cNvPr id="232" name="Line 232"/>
            <p:cNvSpPr/>
            <p:nvPr/>
          </p:nvSpPr>
          <p:spPr>
            <a:xfrm>
              <a:off x="3086100" y="4591050"/>
              <a:ext cx="9525" cy="1009650"/>
            </a:xfrm>
            <a:custGeom>
              <a:avLst/>
              <a:gdLst/>
              <a:ahLst/>
              <a:cxnLst/>
              <a:rect l="l" t="t" r="r" b="b"/>
              <a:pathLst>
                <a:path w="9525" h="1009650">
                  <a:moveTo>
                    <a:pt x="0" y="0"/>
                  </a:moveTo>
                  <a:lnTo>
                    <a:pt x="0" y="1009650"/>
                  </a:lnTo>
                </a:path>
              </a:pathLst>
            </a:custGeom>
            <a:noFill/>
            <a:ln w="9525">
              <a:solidFill>
                <a:srgbClr val="E6EAF2"/>
              </a:solidFill>
            </a:ln>
          </p:spPr>
        </p:sp>
        <p:grpSp>
          <p:nvGrpSpPr>
            <p:cNvPr id="239" name="Group 239"/>
            <p:cNvGrpSpPr/>
            <p:nvPr/>
          </p:nvGrpSpPr>
          <p:grpSpPr>
            <a:xfrm>
              <a:off x="3469481" y="4613275"/>
              <a:ext cx="185737" cy="184943"/>
              <a:chOff x="3469481" y="4613275"/>
              <a:chExt cx="185737" cy="184943"/>
            </a:xfrm>
          </p:grpSpPr>
          <p:sp>
            <p:nvSpPr>
              <p:cNvPr id="233" name="Freeform 233"/>
              <p:cNvSpPr/>
              <p:nvPr/>
            </p:nvSpPr>
            <p:spPr>
              <a:xfrm>
                <a:off x="3521075" y="4788693"/>
                <a:ext cx="82550" cy="9525"/>
              </a:xfrm>
              <a:custGeom>
                <a:avLst/>
                <a:gdLst/>
                <a:ahLst/>
                <a:cxnLst/>
                <a:rect l="l" t="t" r="r" b="b"/>
                <a:pathLst>
                  <a:path w="82550" h="9525">
                    <a:moveTo>
                      <a:pt x="0" y="0"/>
                    </a:moveTo>
                    <a:lnTo>
                      <a:pt x="82550" y="0"/>
                    </a:lnTo>
                  </a:path>
                </a:pathLst>
              </a:custGeom>
              <a:noFill/>
              <a:ln w="20637">
                <a:solidFill>
                  <a:srgbClr val="721E0D"/>
                </a:solidFill>
              </a:ln>
            </p:spPr>
          </p:sp>
          <p:sp>
            <p:nvSpPr>
              <p:cNvPr id="234" name="Freeform 234"/>
              <p:cNvSpPr/>
              <p:nvPr/>
            </p:nvSpPr>
            <p:spPr>
              <a:xfrm>
                <a:off x="3562350" y="4747418"/>
                <a:ext cx="9525" cy="41275"/>
              </a:xfrm>
              <a:custGeom>
                <a:avLst/>
                <a:gdLst/>
                <a:ahLst/>
                <a:cxnLst/>
                <a:rect l="l" t="t" r="r" b="b"/>
                <a:pathLst>
                  <a:path w="9525" h="41275">
                    <a:moveTo>
                      <a:pt x="0" y="0"/>
                    </a:moveTo>
                    <a:lnTo>
                      <a:pt x="0" y="41275"/>
                    </a:lnTo>
                  </a:path>
                </a:pathLst>
              </a:custGeom>
              <a:noFill/>
              <a:ln w="20637">
                <a:solidFill>
                  <a:srgbClr val="721E0D"/>
                </a:solidFill>
              </a:ln>
            </p:spPr>
          </p:sp>
          <p:sp>
            <p:nvSpPr>
              <p:cNvPr id="235" name="Freeform 235"/>
              <p:cNvSpPr/>
              <p:nvPr/>
            </p:nvSpPr>
            <p:spPr>
              <a:xfrm>
                <a:off x="3510756" y="4613275"/>
                <a:ext cx="103187" cy="9525"/>
              </a:xfrm>
              <a:custGeom>
                <a:avLst/>
                <a:gdLst/>
                <a:ahLst/>
                <a:cxnLst/>
                <a:rect l="l" t="t" r="r" b="b"/>
                <a:pathLst>
                  <a:path w="103187" h="9525">
                    <a:moveTo>
                      <a:pt x="0" y="0"/>
                    </a:moveTo>
                    <a:lnTo>
                      <a:pt x="103187" y="0"/>
                    </a:lnTo>
                  </a:path>
                </a:pathLst>
              </a:custGeom>
              <a:noFill/>
              <a:ln w="20637">
                <a:solidFill>
                  <a:srgbClr val="721E0D"/>
                </a:solidFill>
              </a:ln>
            </p:spPr>
          </p:sp>
          <p:sp>
            <p:nvSpPr>
              <p:cNvPr id="236" name="Freeform 236"/>
              <p:cNvSpPr/>
              <p:nvPr/>
            </p:nvSpPr>
            <p:spPr>
              <a:xfrm>
                <a:off x="3510756" y="4613275"/>
                <a:ext cx="103187" cy="134143"/>
              </a:xfrm>
              <a:custGeom>
                <a:avLst/>
                <a:gdLst/>
                <a:ahLst/>
                <a:cxnLst/>
                <a:rect l="l" t="t" r="r" b="b"/>
                <a:pathLst>
                  <a:path w="103187" h="134143">
                    <a:moveTo>
                      <a:pt x="103187" y="0"/>
                    </a:moveTo>
                    <a:lnTo>
                      <a:pt x="103187" y="82550"/>
                    </a:lnTo>
                    <a:cubicBezTo>
                      <a:pt x="103187" y="111044"/>
                      <a:pt x="80088" y="134143"/>
                      <a:pt x="51594" y="134143"/>
                    </a:cubicBezTo>
                    <a:cubicBezTo>
                      <a:pt x="23099" y="134143"/>
                      <a:pt x="0" y="111044"/>
                      <a:pt x="0" y="82550"/>
                    </a:cubicBezTo>
                    <a:lnTo>
                      <a:pt x="0" y="0"/>
                    </a:lnTo>
                  </a:path>
                </a:pathLst>
              </a:custGeom>
              <a:noFill/>
              <a:ln w="20637">
                <a:solidFill>
                  <a:srgbClr val="721E0D"/>
                </a:solidFill>
              </a:ln>
            </p:spPr>
          </p:sp>
          <p:sp>
            <p:nvSpPr>
              <p:cNvPr id="237" name="Freeform 237"/>
              <p:cNvSpPr/>
              <p:nvPr/>
            </p:nvSpPr>
            <p:spPr>
              <a:xfrm>
                <a:off x="3469481" y="46442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721E0D"/>
                </a:solidFill>
              </a:ln>
            </p:spPr>
          </p:sp>
          <p:sp>
            <p:nvSpPr>
              <p:cNvPr id="238" name="Freeform 238"/>
              <p:cNvSpPr/>
              <p:nvPr/>
            </p:nvSpPr>
            <p:spPr>
              <a:xfrm>
                <a:off x="3613943" y="46442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721E0D"/>
                </a:solidFill>
              </a:ln>
            </p:spPr>
          </p:sp>
        </p:grpSp>
        <p:sp>
          <p:nvSpPr>
            <p:cNvPr id="240" name="TextBox 240"/>
            <p:cNvSpPr txBox="1"/>
            <p:nvPr/>
          </p:nvSpPr>
          <p:spPr>
            <a:xfrm>
              <a:off x="33448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可控结果</a:t>
              </a:r>
            </a:p>
          </p:txBody>
        </p:sp>
        <p:sp>
          <p:nvSpPr>
            <p:cNvPr id="241" name="TextBox 241"/>
            <p:cNvSpPr txBox="1"/>
            <p:nvPr/>
          </p:nvSpPr>
          <p:spPr>
            <a:xfrm>
              <a:off x="3195638" y="5074682"/>
              <a:ext cx="492125" cy="49768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漏斗健康度</a:t>
              </a:r>
            </a:p>
            <a:p>
              <a:pPr algn="l" marL="76200" indent="-76200">
                <a:lnSpc>
                  <a:spcPts val="975"/>
                </a:lnSpc>
                <a:buClr>
                  <a:srgbClr val="523E3A"/>
                </a:buClr>
                <a:buSzTx/>
                <a:buFontTx/>
                <a:buChar char="•"/>
              </a:pPr>
              <a:r>
                <a:rPr lang="zh-CN" sz="640" dirty="0">
                  <a:solidFill>
                    <a:srgbClr val="523E3A"/>
                  </a:solidFill>
                  <a:latin typeface="+mn-lt"/>
                  <a:ea typeface="+mn-ea"/>
                  <a:cs typeface="+mn-cs"/>
                </a:rPr>
                <a:t>关键指标</a:t>
              </a:r>
            </a:p>
            <a:p>
              <a:pPr algn="l" marL="76200" indent="-76200">
                <a:lnSpc>
                  <a:spcPts val="975"/>
                </a:lnSpc>
                <a:buClr>
                  <a:srgbClr val="523E3A"/>
                </a:buClr>
                <a:buSzTx/>
                <a:buFontTx/>
                <a:buChar char="•"/>
              </a:pPr>
              <a:r>
                <a:rPr lang="zh-CN" sz="640" dirty="0">
                  <a:solidFill>
                    <a:srgbClr val="523E3A"/>
                  </a:solidFill>
                  <a:latin typeface="+mn-lt"/>
                  <a:ea typeface="+mn-ea"/>
                  <a:cs typeface="+mn-cs"/>
                </a:rPr>
                <a:t>客户满意度</a:t>
              </a:r>
            </a:p>
            <a:p>
              <a:pPr algn="l" marL="76200" indent="-76200">
                <a:lnSpc>
                  <a:spcPts val="975"/>
                </a:lnSpc>
                <a:buClr>
                  <a:srgbClr val="523E3A"/>
                </a:buClr>
                <a:buSzTx/>
                <a:buFontTx/>
                <a:buChar char="•"/>
              </a:pPr>
              <a:r>
                <a:rPr lang="zh-CN" sz="640" dirty="0">
                  <a:solidFill>
                    <a:srgbClr val="523E3A"/>
                  </a:solidFill>
                  <a:latin typeface="+mn-lt"/>
                  <a:ea typeface="+mn-ea"/>
                  <a:cs typeface="+mn-cs"/>
                </a:rPr>
                <a:t>团队战斗力</a:t>
              </a:r>
            </a:p>
          </p:txBody>
        </p:sp>
      </p:grpSp>
      <p:grpSp>
        <p:nvGrpSpPr>
          <p:cNvPr id="280" name="question-2"/>
          <p:cNvGrpSpPr/>
          <p:nvPr/>
        </p:nvGrpSpPr>
        <p:grpSpPr>
          <a:xfrm>
            <a:off x="4191000" y="4210050"/>
            <a:ext cx="3810000" cy="1466850"/>
            <a:chOff x="4191000" y="4210050"/>
            <a:chExt cx="3810000" cy="1466850"/>
          </a:xfrm>
        </p:grpSpPr>
        <p:sp>
          <p:nvSpPr>
            <p:cNvPr id="243" name="Rectangle 243"/>
            <p:cNvSpPr/>
            <p:nvPr/>
          </p:nvSpPr>
          <p:spPr>
            <a:xfrm>
              <a:off x="4191000" y="4210050"/>
              <a:ext cx="3810000" cy="1466850"/>
            </a:xfrm>
            <a:prstGeom prst="roundRect">
              <a:avLst>
                <a:gd name="adj" fmla="val 6494"/>
              </a:avLst>
            </a:prstGeom>
            <a:solidFill>
              <a:srgbClr val="FFFFFF"/>
            </a:solidFill>
            <a:ln w="14288">
              <a:solidFill>
                <a:srgbClr val="C9D6EE"/>
              </a:solidFill>
            </a:ln>
          </p:spPr>
        </p:sp>
        <p:sp>
          <p:nvSpPr>
            <p:cNvPr id="244" name="Freeform 244"/>
            <p:cNvSpPr/>
            <p:nvPr/>
          </p:nvSpPr>
          <p:spPr>
            <a:xfrm>
              <a:off x="4191000" y="4210050"/>
              <a:ext cx="3810000" cy="285750"/>
            </a:xfrm>
            <a:custGeom>
              <a:avLst/>
              <a:gdLst/>
              <a:ahLst/>
              <a:cxnLst/>
              <a:rect l="l" t="t" r="r" b="b"/>
              <a:pathLst>
                <a:path w="3810000" h="285750">
                  <a:moveTo>
                    <a:pt x="95250" y="0"/>
                  </a:moveTo>
                  <a:lnTo>
                    <a:pt x="3714750" y="0"/>
                  </a:lnTo>
                  <a:cubicBezTo>
                    <a:pt x="3767355" y="0"/>
                    <a:pt x="3810000" y="42645"/>
                    <a:pt x="3810000" y="95250"/>
                  </a:cubicBezTo>
                  <a:lnTo>
                    <a:pt x="3810000" y="285750"/>
                  </a:lnTo>
                  <a:lnTo>
                    <a:pt x="0" y="285750"/>
                  </a:lnTo>
                  <a:lnTo>
                    <a:pt x="0" y="95250"/>
                  </a:lnTo>
                  <a:cubicBezTo>
                    <a:pt x="0" y="42645"/>
                    <a:pt x="42645" y="0"/>
                    <a:pt x="95250" y="0"/>
                  </a:cubicBezTo>
                  <a:close/>
                </a:path>
              </a:pathLst>
            </a:custGeom>
            <a:solidFill>
              <a:srgbClr val="721E0D"/>
            </a:solidFill>
            <a:ln>
              <a:noFill/>
            </a:ln>
          </p:spPr>
        </p:sp>
        <p:grpSp>
          <p:nvGrpSpPr>
            <p:cNvPr id="248" name="Group 248"/>
            <p:cNvGrpSpPr/>
            <p:nvPr/>
          </p:nvGrpSpPr>
          <p:grpSpPr>
            <a:xfrm>
              <a:off x="5560219" y="4295775"/>
              <a:ext cx="100012" cy="114300"/>
              <a:chOff x="5560219" y="4295775"/>
              <a:chExt cx="100012" cy="114300"/>
            </a:xfrm>
          </p:grpSpPr>
          <p:sp>
            <p:nvSpPr>
              <p:cNvPr id="245" name="Freeform 245"/>
              <p:cNvSpPr/>
              <p:nvPr/>
            </p:nvSpPr>
            <p:spPr>
              <a:xfrm>
                <a:off x="5560219" y="4295775"/>
                <a:ext cx="100012" cy="114300"/>
              </a:xfrm>
              <a:custGeom>
                <a:avLst/>
                <a:gdLst/>
                <a:ahLst/>
                <a:cxnLst/>
                <a:rect l="l" t="t" r="r" b="b"/>
                <a:pathLst>
                  <a:path w="100012" h="114300">
                    <a:moveTo>
                      <a:pt x="100012" y="0"/>
                    </a:moveTo>
                    <a:lnTo>
                      <a:pt x="100012" y="114300"/>
                    </a:lnTo>
                    <a:lnTo>
                      <a:pt x="14288" y="114300"/>
                    </a:lnTo>
                    <a:cubicBezTo>
                      <a:pt x="6397" y="114300"/>
                      <a:pt x="0" y="107903"/>
                      <a:pt x="0" y="100012"/>
                    </a:cubicBezTo>
                    <a:lnTo>
                      <a:pt x="0" y="14288"/>
                    </a:lnTo>
                    <a:cubicBezTo>
                      <a:pt x="0" y="6397"/>
                      <a:pt x="6397" y="0"/>
                      <a:pt x="14288" y="0"/>
                    </a:cubicBezTo>
                    <a:lnTo>
                      <a:pt x="100012" y="0"/>
                    </a:lnTo>
                  </a:path>
                </a:pathLst>
              </a:custGeom>
              <a:noFill/>
              <a:ln w="14288">
                <a:solidFill>
                  <a:srgbClr val="FFFFFF"/>
                </a:solidFill>
              </a:ln>
            </p:spPr>
          </p:sp>
          <p:sp>
            <p:nvSpPr>
              <p:cNvPr id="246" name="Freeform 246"/>
              <p:cNvSpPr/>
              <p:nvPr/>
            </p:nvSpPr>
            <p:spPr>
              <a:xfrm>
                <a:off x="5560219" y="4381500"/>
                <a:ext cx="100012" cy="14288"/>
              </a:xfrm>
              <a:custGeom>
                <a:avLst/>
                <a:gdLst/>
                <a:ahLst/>
                <a:cxnLst/>
                <a:rect l="l" t="t" r="r" b="b"/>
                <a:pathLst>
                  <a:path w="100012" h="14288">
                    <a:moveTo>
                      <a:pt x="100012" y="0"/>
                    </a:moveTo>
                    <a:lnTo>
                      <a:pt x="14288" y="0"/>
                    </a:lnTo>
                    <a:cubicBezTo>
                      <a:pt x="6397" y="0"/>
                      <a:pt x="0" y="6397"/>
                      <a:pt x="0" y="14288"/>
                    </a:cubicBezTo>
                  </a:path>
                </a:pathLst>
              </a:custGeom>
              <a:noFill/>
              <a:ln w="14288">
                <a:solidFill>
                  <a:srgbClr val="FFFFFF"/>
                </a:solidFill>
              </a:ln>
            </p:spPr>
          </p:sp>
          <p:sp>
            <p:nvSpPr>
              <p:cNvPr id="247" name="Freeform 247"/>
              <p:cNvSpPr/>
              <p:nvPr/>
            </p:nvSpPr>
            <p:spPr>
              <a:xfrm>
                <a:off x="5588794" y="4324350"/>
                <a:ext cx="42862" cy="9525"/>
              </a:xfrm>
              <a:custGeom>
                <a:avLst/>
                <a:gdLst/>
                <a:ahLst/>
                <a:cxnLst/>
                <a:rect l="l" t="t" r="r" b="b"/>
                <a:pathLst>
                  <a:path w="42862" h="9525">
                    <a:moveTo>
                      <a:pt x="0" y="0"/>
                    </a:moveTo>
                    <a:lnTo>
                      <a:pt x="42862" y="0"/>
                    </a:lnTo>
                  </a:path>
                </a:pathLst>
              </a:custGeom>
              <a:noFill/>
              <a:ln w="14288">
                <a:solidFill>
                  <a:srgbClr val="FFFFFF"/>
                </a:solidFill>
              </a:ln>
            </p:spPr>
          </p:sp>
        </p:grpSp>
        <p:sp>
          <p:nvSpPr>
            <p:cNvPr id="249" name="TextBox 249"/>
            <p:cNvSpPr txBox="1"/>
            <p:nvPr/>
          </p:nvSpPr>
          <p:spPr>
            <a:xfrm>
              <a:off x="5767006" y="4300776"/>
              <a:ext cx="962050"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你学到了什么？</a:t>
              </a:r>
            </a:p>
          </p:txBody>
        </p:sp>
        <p:grpSp>
          <p:nvGrpSpPr>
            <p:cNvPr id="253" name="Group 253"/>
            <p:cNvGrpSpPr/>
            <p:nvPr/>
          </p:nvGrpSpPr>
          <p:grpSpPr>
            <a:xfrm>
              <a:off x="4574381" y="4602956"/>
              <a:ext cx="185737" cy="185737"/>
              <a:chOff x="4574381" y="4602956"/>
              <a:chExt cx="185737" cy="185737"/>
            </a:xfrm>
          </p:grpSpPr>
          <p:sp>
            <p:nvSpPr>
              <p:cNvPr id="250" name="Freeform 250"/>
              <p:cNvSpPr/>
              <p:nvPr/>
            </p:nvSpPr>
            <p:spPr>
              <a:xfrm>
                <a:off x="4574381" y="4602956"/>
                <a:ext cx="185737" cy="92868"/>
              </a:xfrm>
              <a:custGeom>
                <a:avLst/>
                <a:gdLst/>
                <a:ahLst/>
                <a:cxnLst/>
                <a:rect l="l" t="t" r="r" b="b"/>
                <a:pathLst>
                  <a:path w="185737" h="92868">
                    <a:moveTo>
                      <a:pt x="0" y="92868"/>
                    </a:moveTo>
                    <a:lnTo>
                      <a:pt x="10319" y="92868"/>
                    </a:lnTo>
                    <a:moveTo>
                      <a:pt x="92868" y="0"/>
                    </a:moveTo>
                    <a:lnTo>
                      <a:pt x="92868" y="10319"/>
                    </a:lnTo>
                    <a:moveTo>
                      <a:pt x="175418" y="92868"/>
                    </a:moveTo>
                    <a:lnTo>
                      <a:pt x="185737" y="92868"/>
                    </a:lnTo>
                    <a:moveTo>
                      <a:pt x="26829" y="26829"/>
                    </a:moveTo>
                    <a:lnTo>
                      <a:pt x="34052" y="34052"/>
                    </a:lnTo>
                    <a:moveTo>
                      <a:pt x="158908" y="26829"/>
                    </a:moveTo>
                    <a:lnTo>
                      <a:pt x="151685" y="34052"/>
                    </a:lnTo>
                  </a:path>
                </a:pathLst>
              </a:custGeom>
              <a:noFill/>
              <a:ln w="20637">
                <a:solidFill>
                  <a:srgbClr val="721E0D"/>
                </a:solidFill>
              </a:ln>
            </p:spPr>
          </p:sp>
          <p:sp>
            <p:nvSpPr>
              <p:cNvPr id="251" name="Freeform 251"/>
              <p:cNvSpPr/>
              <p:nvPr/>
            </p:nvSpPr>
            <p:spPr>
              <a:xfrm>
                <a:off x="4611281" y="4644231"/>
                <a:ext cx="111937" cy="144462"/>
              </a:xfrm>
              <a:custGeom>
                <a:avLst/>
                <a:gdLst/>
                <a:ahLst/>
                <a:cxnLst/>
                <a:rect l="l" t="t" r="r" b="b"/>
                <a:pathLst>
                  <a:path w="111937" h="144462">
                    <a:moveTo>
                      <a:pt x="25012" y="92868"/>
                    </a:moveTo>
                    <a:cubicBezTo>
                      <a:pt x="7246" y="79544"/>
                      <a:pt x="0" y="56346"/>
                      <a:pt x="7023" y="35278"/>
                    </a:cubicBezTo>
                    <a:cubicBezTo>
                      <a:pt x="14045" y="14210"/>
                      <a:pt x="33761" y="0"/>
                      <a:pt x="55969" y="0"/>
                    </a:cubicBezTo>
                    <a:cubicBezTo>
                      <a:pt x="78176" y="0"/>
                      <a:pt x="97892" y="14210"/>
                      <a:pt x="104915" y="35278"/>
                    </a:cubicBezTo>
                    <a:cubicBezTo>
                      <a:pt x="111937" y="56346"/>
                      <a:pt x="104691" y="79544"/>
                      <a:pt x="86925" y="92868"/>
                    </a:cubicBezTo>
                    <a:cubicBezTo>
                      <a:pt x="78754" y="100957"/>
                      <a:pt x="74922" y="112452"/>
                      <a:pt x="76606" y="123825"/>
                    </a:cubicBezTo>
                    <a:cubicBezTo>
                      <a:pt x="76606" y="135222"/>
                      <a:pt x="67366" y="144462"/>
                      <a:pt x="55969" y="144462"/>
                    </a:cubicBezTo>
                    <a:cubicBezTo>
                      <a:pt x="44571" y="144462"/>
                      <a:pt x="35331" y="135222"/>
                      <a:pt x="35331" y="123825"/>
                    </a:cubicBezTo>
                    <a:cubicBezTo>
                      <a:pt x="37015" y="112452"/>
                      <a:pt x="33183" y="100957"/>
                      <a:pt x="25012" y="92868"/>
                    </a:cubicBezTo>
                  </a:path>
                </a:pathLst>
              </a:custGeom>
              <a:noFill/>
              <a:ln w="20637">
                <a:solidFill>
                  <a:srgbClr val="721E0D"/>
                </a:solidFill>
              </a:ln>
            </p:spPr>
          </p:sp>
          <p:sp>
            <p:nvSpPr>
              <p:cNvPr id="252" name="Freeform 252"/>
              <p:cNvSpPr/>
              <p:nvPr/>
            </p:nvSpPr>
            <p:spPr>
              <a:xfrm>
                <a:off x="4643517" y="4747418"/>
                <a:ext cx="47466" cy="9525"/>
              </a:xfrm>
              <a:custGeom>
                <a:avLst/>
                <a:gdLst/>
                <a:ahLst/>
                <a:cxnLst/>
                <a:rect l="l" t="t" r="r" b="b"/>
                <a:pathLst>
                  <a:path w="47466" h="9525">
                    <a:moveTo>
                      <a:pt x="0" y="0"/>
                    </a:moveTo>
                    <a:lnTo>
                      <a:pt x="47466" y="0"/>
                    </a:lnTo>
                  </a:path>
                </a:pathLst>
              </a:custGeom>
              <a:noFill/>
              <a:ln w="20637">
                <a:solidFill>
                  <a:srgbClr val="721E0D"/>
                </a:solidFill>
              </a:ln>
            </p:spPr>
          </p:sp>
        </p:grpSp>
        <p:sp>
          <p:nvSpPr>
            <p:cNvPr id="254" name="TextBox 254"/>
            <p:cNvSpPr txBox="1"/>
            <p:nvPr/>
          </p:nvSpPr>
          <p:spPr>
            <a:xfrm>
              <a:off x="44497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认知升级</a:t>
              </a:r>
            </a:p>
          </p:txBody>
        </p:sp>
        <p:sp>
          <p:nvSpPr>
            <p:cNvPr id="255" name="TextBox 255"/>
            <p:cNvSpPr txBox="1"/>
            <p:nvPr/>
          </p:nvSpPr>
          <p:spPr>
            <a:xfrm>
              <a:off x="4300538" y="5074682"/>
              <a:ext cx="492125" cy="373856"/>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市场与客户</a:t>
              </a:r>
            </a:p>
            <a:p>
              <a:pPr algn="l" marL="76200" indent="-76200">
                <a:lnSpc>
                  <a:spcPts val="975"/>
                </a:lnSpc>
                <a:buClr>
                  <a:srgbClr val="523E3A"/>
                </a:buClr>
                <a:buSzTx/>
                <a:buFontTx/>
                <a:buChar char="•"/>
              </a:pPr>
              <a:r>
                <a:rPr lang="zh-CN" sz="640" dirty="0">
                  <a:solidFill>
                    <a:srgbClr val="523E3A"/>
                  </a:solidFill>
                  <a:latin typeface="+mn-lt"/>
                  <a:ea typeface="+mn-ea"/>
                  <a:cs typeface="+mn-cs"/>
                </a:rPr>
                <a:t>业务与产品</a:t>
              </a:r>
            </a:p>
            <a:p>
              <a:pPr algn="l" marL="76200" indent="-76200">
                <a:lnSpc>
                  <a:spcPts val="975"/>
                </a:lnSpc>
                <a:buClr>
                  <a:srgbClr val="523E3A"/>
                </a:buClr>
                <a:buSzTx/>
                <a:buFontTx/>
                <a:buChar char="•"/>
              </a:pPr>
              <a:r>
                <a:rPr lang="zh-CN" sz="640" dirty="0">
                  <a:solidFill>
                    <a:srgbClr val="523E3A"/>
                  </a:solidFill>
                  <a:latin typeface="+mn-lt"/>
                  <a:ea typeface="+mn-ea"/>
                  <a:cs typeface="+mn-cs"/>
                </a:rPr>
                <a:t>自身与团队</a:t>
              </a:r>
            </a:p>
          </p:txBody>
        </p:sp>
        <p:sp>
          <p:nvSpPr>
            <p:cNvPr id="256" name="Line 256"/>
            <p:cNvSpPr/>
            <p:nvPr/>
          </p:nvSpPr>
          <p:spPr>
            <a:xfrm>
              <a:off x="5143500" y="4591050"/>
              <a:ext cx="9525" cy="1009650"/>
            </a:xfrm>
            <a:custGeom>
              <a:avLst/>
              <a:gdLst/>
              <a:ahLst/>
              <a:cxnLst/>
              <a:rect l="l" t="t" r="r" b="b"/>
              <a:pathLst>
                <a:path w="9525" h="1009650">
                  <a:moveTo>
                    <a:pt x="0" y="0"/>
                  </a:moveTo>
                  <a:lnTo>
                    <a:pt x="0" y="1009650"/>
                  </a:lnTo>
                </a:path>
              </a:pathLst>
            </a:custGeom>
            <a:noFill/>
            <a:ln w="9525">
              <a:solidFill>
                <a:srgbClr val="E6EAF2"/>
              </a:solidFill>
            </a:ln>
          </p:spPr>
        </p:sp>
        <p:grpSp>
          <p:nvGrpSpPr>
            <p:cNvPr id="261" name="Group 261"/>
            <p:cNvGrpSpPr/>
            <p:nvPr/>
          </p:nvGrpSpPr>
          <p:grpSpPr>
            <a:xfrm>
              <a:off x="5547519" y="4613275"/>
              <a:ext cx="154780" cy="175418"/>
              <a:chOff x="5547519" y="4613275"/>
              <a:chExt cx="154780" cy="175418"/>
            </a:xfrm>
          </p:grpSpPr>
          <p:sp>
            <p:nvSpPr>
              <p:cNvPr id="257" name="Freeform 257"/>
              <p:cNvSpPr/>
              <p:nvPr/>
            </p:nvSpPr>
            <p:spPr>
              <a:xfrm>
                <a:off x="5547519" y="4613275"/>
                <a:ext cx="123825" cy="165099"/>
              </a:xfrm>
              <a:custGeom>
                <a:avLst/>
                <a:gdLst/>
                <a:ahLst/>
                <a:cxnLst/>
                <a:rect l="l" t="t" r="r" b="b"/>
                <a:pathLst>
                  <a:path w="123825" h="165099">
                    <a:moveTo>
                      <a:pt x="47621" y="165099"/>
                    </a:moveTo>
                    <a:lnTo>
                      <a:pt x="20637" y="165099"/>
                    </a:lnTo>
                    <a:cubicBezTo>
                      <a:pt x="9240" y="165099"/>
                      <a:pt x="0" y="155860"/>
                      <a:pt x="0" y="144462"/>
                    </a:cubicBezTo>
                    <a:lnTo>
                      <a:pt x="0" y="20637"/>
                    </a:lnTo>
                    <a:cubicBezTo>
                      <a:pt x="0" y="9240"/>
                      <a:pt x="9240" y="0"/>
                      <a:pt x="20637" y="0"/>
                    </a:cubicBezTo>
                    <a:lnTo>
                      <a:pt x="103187" y="0"/>
                    </a:lnTo>
                    <a:cubicBezTo>
                      <a:pt x="114585" y="0"/>
                      <a:pt x="123825" y="9240"/>
                      <a:pt x="123825" y="20637"/>
                    </a:cubicBezTo>
                    <a:lnTo>
                      <a:pt x="123825" y="103187"/>
                    </a:lnTo>
                  </a:path>
                </a:pathLst>
              </a:custGeom>
              <a:noFill/>
              <a:ln w="20637">
                <a:solidFill>
                  <a:srgbClr val="721E0D"/>
                </a:solidFill>
              </a:ln>
            </p:spPr>
          </p:sp>
          <p:sp>
            <p:nvSpPr>
              <p:cNvPr id="258" name="Freeform 258"/>
              <p:cNvSpPr/>
              <p:nvPr/>
            </p:nvSpPr>
            <p:spPr>
              <a:xfrm>
                <a:off x="5640387" y="4747418"/>
                <a:ext cx="61912" cy="41275"/>
              </a:xfrm>
              <a:custGeom>
                <a:avLst/>
                <a:gdLst/>
                <a:ahLst/>
                <a:cxnLst/>
                <a:rect l="l" t="t" r="r" b="b"/>
                <a:pathLst>
                  <a:path w="61912" h="41275">
                    <a:moveTo>
                      <a:pt x="0" y="20637"/>
                    </a:moveTo>
                    <a:lnTo>
                      <a:pt x="20637" y="41275"/>
                    </a:lnTo>
                    <a:lnTo>
                      <a:pt x="61912" y="0"/>
                    </a:lnTo>
                  </a:path>
                </a:pathLst>
              </a:custGeom>
              <a:noFill/>
              <a:ln w="20637">
                <a:solidFill>
                  <a:srgbClr val="721E0D"/>
                </a:solidFill>
              </a:ln>
            </p:spPr>
          </p:sp>
          <p:sp>
            <p:nvSpPr>
              <p:cNvPr id="259" name="Freeform 259"/>
              <p:cNvSpPr/>
              <p:nvPr/>
            </p:nvSpPr>
            <p:spPr>
              <a:xfrm>
                <a:off x="5588793" y="4654550"/>
                <a:ext cx="41275" cy="9525"/>
              </a:xfrm>
              <a:custGeom>
                <a:avLst/>
                <a:gdLst/>
                <a:ahLst/>
                <a:cxnLst/>
                <a:rect l="l" t="t" r="r" b="b"/>
                <a:pathLst>
                  <a:path w="41275" h="9525">
                    <a:moveTo>
                      <a:pt x="0" y="0"/>
                    </a:moveTo>
                    <a:lnTo>
                      <a:pt x="41275" y="0"/>
                    </a:lnTo>
                  </a:path>
                </a:pathLst>
              </a:custGeom>
              <a:noFill/>
              <a:ln w="20637">
                <a:solidFill>
                  <a:srgbClr val="721E0D"/>
                </a:solidFill>
              </a:ln>
            </p:spPr>
          </p:sp>
          <p:sp>
            <p:nvSpPr>
              <p:cNvPr id="260" name="Freeform 260"/>
              <p:cNvSpPr/>
              <p:nvPr/>
            </p:nvSpPr>
            <p:spPr>
              <a:xfrm>
                <a:off x="5588793" y="4695825"/>
                <a:ext cx="20637" cy="9525"/>
              </a:xfrm>
              <a:custGeom>
                <a:avLst/>
                <a:gdLst/>
                <a:ahLst/>
                <a:cxnLst/>
                <a:rect l="l" t="t" r="r" b="b"/>
                <a:pathLst>
                  <a:path w="20637" h="9525">
                    <a:moveTo>
                      <a:pt x="0" y="0"/>
                    </a:moveTo>
                    <a:lnTo>
                      <a:pt x="20637" y="0"/>
                    </a:lnTo>
                  </a:path>
                </a:pathLst>
              </a:custGeom>
              <a:noFill/>
              <a:ln w="20637">
                <a:solidFill>
                  <a:srgbClr val="721E0D"/>
                </a:solidFill>
              </a:ln>
            </p:spPr>
          </p:sp>
        </p:grpSp>
        <p:sp>
          <p:nvSpPr>
            <p:cNvPr id="262" name="TextBox 262"/>
            <p:cNvSpPr txBox="1"/>
            <p:nvPr/>
          </p:nvSpPr>
          <p:spPr>
            <a:xfrm>
              <a:off x="54022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方法沉淀</a:t>
              </a:r>
            </a:p>
          </p:txBody>
        </p:sp>
        <p:sp>
          <p:nvSpPr>
            <p:cNvPr id="263" name="TextBox 263"/>
            <p:cNvSpPr txBox="1"/>
            <p:nvPr/>
          </p:nvSpPr>
          <p:spPr>
            <a:xfrm>
              <a:off x="5253038" y="5074682"/>
              <a:ext cx="748157" cy="373856"/>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SOP与工具      </a:t>
              </a:r>
            </a:p>
            <a:p>
              <a:pPr algn="l" marL="76200" indent="-76200">
                <a:lnSpc>
                  <a:spcPts val="975"/>
                </a:lnSpc>
                <a:buClr>
                  <a:srgbClr val="523E3A"/>
                </a:buClr>
                <a:buSzTx/>
                <a:buFontTx/>
                <a:buChar char="•"/>
              </a:pPr>
              <a:r>
                <a:rPr lang="zh-CN" sz="640" dirty="0">
                  <a:solidFill>
                    <a:srgbClr val="523E3A"/>
                  </a:solidFill>
                  <a:latin typeface="+mn-lt"/>
                  <a:ea typeface="+mn-ea"/>
                  <a:cs typeface="+mn-cs"/>
                </a:rPr>
                <a:t>模型与看板</a:t>
              </a:r>
            </a:p>
            <a:p>
              <a:pPr algn="l" marL="76200" indent="-76200">
                <a:lnSpc>
                  <a:spcPts val="975"/>
                </a:lnSpc>
                <a:buClr>
                  <a:srgbClr val="523E3A"/>
                </a:buClr>
                <a:buSzTx/>
                <a:buFontTx/>
                <a:buChar char="•"/>
              </a:pPr>
              <a:r>
                <a:rPr lang="zh-CN" sz="640" dirty="0">
                  <a:solidFill>
                    <a:srgbClr val="523E3A"/>
                  </a:solidFill>
                  <a:latin typeface="+mn-lt"/>
                  <a:ea typeface="+mn-ea"/>
                  <a:cs typeface="+mn-cs"/>
                </a:rPr>
                <a:t>复盘方法论</a:t>
              </a:r>
            </a:p>
          </p:txBody>
        </p:sp>
        <p:sp>
          <p:nvSpPr>
            <p:cNvPr id="264" name="Line 264"/>
            <p:cNvSpPr/>
            <p:nvPr/>
          </p:nvSpPr>
          <p:spPr>
            <a:xfrm>
              <a:off x="6096000" y="4591050"/>
              <a:ext cx="9525" cy="1009650"/>
            </a:xfrm>
            <a:custGeom>
              <a:avLst/>
              <a:gdLst/>
              <a:ahLst/>
              <a:cxnLst/>
              <a:rect l="l" t="t" r="r" b="b"/>
              <a:pathLst>
                <a:path w="9525" h="1009650">
                  <a:moveTo>
                    <a:pt x="0" y="0"/>
                  </a:moveTo>
                  <a:lnTo>
                    <a:pt x="0" y="1009650"/>
                  </a:lnTo>
                </a:path>
              </a:pathLst>
            </a:custGeom>
            <a:noFill/>
            <a:ln w="9525">
              <a:solidFill>
                <a:srgbClr val="E6EAF2"/>
              </a:solidFill>
            </a:ln>
          </p:spPr>
        </p:sp>
        <p:grpSp>
          <p:nvGrpSpPr>
            <p:cNvPr id="267" name="Group 267"/>
            <p:cNvGrpSpPr/>
            <p:nvPr/>
          </p:nvGrpSpPr>
          <p:grpSpPr>
            <a:xfrm>
              <a:off x="6489700" y="4609294"/>
              <a:ext cx="165099" cy="173061"/>
              <a:chOff x="6489700" y="4609294"/>
              <a:chExt cx="165099" cy="173061"/>
            </a:xfrm>
          </p:grpSpPr>
          <p:sp>
            <p:nvSpPr>
              <p:cNvPr id="265" name="Freeform 265"/>
              <p:cNvSpPr/>
              <p:nvPr/>
            </p:nvSpPr>
            <p:spPr>
              <a:xfrm>
                <a:off x="6489700" y="4609294"/>
                <a:ext cx="165099" cy="76212"/>
              </a:xfrm>
              <a:custGeom>
                <a:avLst/>
                <a:gdLst/>
                <a:ahLst/>
                <a:cxnLst/>
                <a:rect l="l" t="t" r="r" b="b"/>
                <a:pathLst>
                  <a:path w="165099" h="76212">
                    <a:moveTo>
                      <a:pt x="165099" y="76212"/>
                    </a:moveTo>
                    <a:cubicBezTo>
                      <a:pt x="159912" y="38885"/>
                      <a:pt x="130386" y="9646"/>
                      <a:pt x="93010" y="4823"/>
                    </a:cubicBezTo>
                    <a:cubicBezTo>
                      <a:pt x="55633" y="0"/>
                      <a:pt x="19652" y="20787"/>
                      <a:pt x="5159" y="55575"/>
                    </a:cubicBezTo>
                    <a:moveTo>
                      <a:pt x="0" y="14300"/>
                    </a:moveTo>
                    <a:lnTo>
                      <a:pt x="0" y="55575"/>
                    </a:lnTo>
                    <a:lnTo>
                      <a:pt x="41275" y="55575"/>
                    </a:lnTo>
                  </a:path>
                </a:pathLst>
              </a:custGeom>
              <a:noFill/>
              <a:ln w="20637">
                <a:solidFill>
                  <a:srgbClr val="721E0D"/>
                </a:solidFill>
              </a:ln>
            </p:spPr>
          </p:sp>
          <p:sp>
            <p:nvSpPr>
              <p:cNvPr id="266" name="Freeform 266"/>
              <p:cNvSpPr/>
              <p:nvPr/>
            </p:nvSpPr>
            <p:spPr>
              <a:xfrm>
                <a:off x="6489700" y="4706143"/>
                <a:ext cx="165099" cy="76212"/>
              </a:xfrm>
              <a:custGeom>
                <a:avLst/>
                <a:gdLst/>
                <a:ahLst/>
                <a:cxnLst/>
                <a:rect l="l" t="t" r="r" b="b"/>
                <a:pathLst>
                  <a:path w="165099" h="76212">
                    <a:moveTo>
                      <a:pt x="0" y="0"/>
                    </a:moveTo>
                    <a:cubicBezTo>
                      <a:pt x="5187" y="37328"/>
                      <a:pt x="34714" y="66567"/>
                      <a:pt x="72090" y="71390"/>
                    </a:cubicBezTo>
                    <a:cubicBezTo>
                      <a:pt x="109466" y="76212"/>
                      <a:pt x="145447" y="55426"/>
                      <a:pt x="159940" y="20637"/>
                    </a:cubicBezTo>
                    <a:moveTo>
                      <a:pt x="165099" y="61912"/>
                    </a:moveTo>
                    <a:lnTo>
                      <a:pt x="165099" y="20637"/>
                    </a:lnTo>
                    <a:lnTo>
                      <a:pt x="123825" y="20637"/>
                    </a:lnTo>
                  </a:path>
                </a:pathLst>
              </a:custGeom>
              <a:noFill/>
              <a:ln w="20637">
                <a:solidFill>
                  <a:srgbClr val="721E0D"/>
                </a:solidFill>
              </a:ln>
            </p:spPr>
          </p:sp>
        </p:grpSp>
        <p:sp>
          <p:nvSpPr>
            <p:cNvPr id="268" name="TextBox 268"/>
            <p:cNvSpPr txBox="1"/>
            <p:nvPr/>
          </p:nvSpPr>
          <p:spPr>
            <a:xfrm>
              <a:off x="63547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经验复用</a:t>
              </a:r>
            </a:p>
          </p:txBody>
        </p:sp>
        <p:sp>
          <p:nvSpPr>
            <p:cNvPr id="269" name="TextBox 269"/>
            <p:cNvSpPr txBox="1"/>
            <p:nvPr/>
          </p:nvSpPr>
          <p:spPr>
            <a:xfrm>
              <a:off x="6205538" y="5074682"/>
              <a:ext cx="492125" cy="373856"/>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成功可复制</a:t>
              </a:r>
            </a:p>
            <a:p>
              <a:pPr algn="l" marL="76200" indent="-76200">
                <a:lnSpc>
                  <a:spcPts val="975"/>
                </a:lnSpc>
                <a:buClr>
                  <a:srgbClr val="523E3A"/>
                </a:buClr>
                <a:buSzTx/>
                <a:buFontTx/>
                <a:buChar char="•"/>
              </a:pPr>
              <a:r>
                <a:rPr lang="zh-CN" sz="640" dirty="0">
                  <a:solidFill>
                    <a:srgbClr val="523E3A"/>
                  </a:solidFill>
                  <a:latin typeface="+mn-lt"/>
                  <a:ea typeface="+mn-ea"/>
                  <a:cs typeface="+mn-cs"/>
                </a:rPr>
                <a:t>失误可改进</a:t>
              </a:r>
            </a:p>
            <a:p>
              <a:pPr algn="l" marL="76200" indent="-76200">
                <a:lnSpc>
                  <a:spcPts val="975"/>
                </a:lnSpc>
                <a:buClr>
                  <a:srgbClr val="523E3A"/>
                </a:buClr>
                <a:buSzTx/>
                <a:buFontTx/>
                <a:buChar char="•"/>
              </a:pPr>
              <a:r>
                <a:rPr lang="zh-CN" sz="640" dirty="0">
                  <a:solidFill>
                    <a:srgbClr val="523E3A"/>
                  </a:solidFill>
                  <a:latin typeface="+mn-lt"/>
                  <a:ea typeface="+mn-ea"/>
                  <a:cs typeface="+mn-cs"/>
                </a:rPr>
                <a:t>最佳实践库</a:t>
              </a:r>
            </a:p>
          </p:txBody>
        </p:sp>
        <p:sp>
          <p:nvSpPr>
            <p:cNvPr id="270" name="Line 270"/>
            <p:cNvSpPr/>
            <p:nvPr/>
          </p:nvSpPr>
          <p:spPr>
            <a:xfrm>
              <a:off x="7048500" y="4591050"/>
              <a:ext cx="9525" cy="1009650"/>
            </a:xfrm>
            <a:custGeom>
              <a:avLst/>
              <a:gdLst/>
              <a:ahLst/>
              <a:cxnLst/>
              <a:rect l="l" t="t" r="r" b="b"/>
              <a:pathLst>
                <a:path w="9525" h="1009650">
                  <a:moveTo>
                    <a:pt x="0" y="0"/>
                  </a:moveTo>
                  <a:lnTo>
                    <a:pt x="0" y="1009650"/>
                  </a:lnTo>
                </a:path>
              </a:pathLst>
            </a:custGeom>
            <a:noFill/>
            <a:ln w="9525">
              <a:solidFill>
                <a:srgbClr val="E6EAF2"/>
              </a:solidFill>
            </a:ln>
          </p:spPr>
        </p:sp>
        <p:grpSp>
          <p:nvGrpSpPr>
            <p:cNvPr id="277" name="Group 277"/>
            <p:cNvGrpSpPr/>
            <p:nvPr/>
          </p:nvGrpSpPr>
          <p:grpSpPr>
            <a:xfrm>
              <a:off x="7431881" y="4602956"/>
              <a:ext cx="185737" cy="185737"/>
              <a:chOff x="7431881" y="4602956"/>
              <a:chExt cx="185737" cy="185737"/>
            </a:xfrm>
          </p:grpSpPr>
          <p:sp>
            <p:nvSpPr>
              <p:cNvPr id="271" name="Freeform 271"/>
              <p:cNvSpPr/>
              <p:nvPr/>
            </p:nvSpPr>
            <p:spPr>
              <a:xfrm>
                <a:off x="7504112" y="468550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721E0D"/>
                </a:solidFill>
              </a:ln>
            </p:spPr>
          </p:sp>
          <p:sp>
            <p:nvSpPr>
              <p:cNvPr id="272" name="Freeform 272"/>
              <p:cNvSpPr/>
              <p:nvPr/>
            </p:nvSpPr>
            <p:spPr>
              <a:xfrm>
                <a:off x="7483475" y="4757737"/>
                <a:ext cx="82550" cy="30956"/>
              </a:xfrm>
              <a:custGeom>
                <a:avLst/>
                <a:gdLst/>
                <a:ahLst/>
                <a:cxnLst/>
                <a:rect l="l" t="t" r="r" b="b"/>
                <a:pathLst>
                  <a:path w="82550" h="30956">
                    <a:moveTo>
                      <a:pt x="0" y="30956"/>
                    </a:moveTo>
                    <a:lnTo>
                      <a:pt x="0" y="20637"/>
                    </a:lnTo>
                    <a:cubicBezTo>
                      <a:pt x="0" y="9240"/>
                      <a:pt x="9240" y="0"/>
                      <a:pt x="20637" y="0"/>
                    </a:cubicBezTo>
                    <a:lnTo>
                      <a:pt x="61912" y="0"/>
                    </a:lnTo>
                    <a:cubicBezTo>
                      <a:pt x="73310" y="0"/>
                      <a:pt x="82550" y="9240"/>
                      <a:pt x="82550" y="20637"/>
                    </a:cubicBezTo>
                    <a:lnTo>
                      <a:pt x="82550" y="30956"/>
                    </a:lnTo>
                  </a:path>
                </a:pathLst>
              </a:custGeom>
              <a:noFill/>
              <a:ln w="20637">
                <a:solidFill>
                  <a:srgbClr val="721E0D"/>
                </a:solidFill>
              </a:ln>
            </p:spPr>
          </p:sp>
          <p:sp>
            <p:nvSpPr>
              <p:cNvPr id="273" name="Freeform 273"/>
              <p:cNvSpPr/>
              <p:nvPr/>
            </p:nvSpPr>
            <p:spPr>
              <a:xfrm>
                <a:off x="7555706" y="46029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721E0D"/>
                </a:solidFill>
              </a:ln>
            </p:spPr>
          </p:sp>
          <p:sp>
            <p:nvSpPr>
              <p:cNvPr id="274" name="Freeform 274"/>
              <p:cNvSpPr/>
              <p:nvPr/>
            </p:nvSpPr>
            <p:spPr>
              <a:xfrm>
                <a:off x="7576343" y="4675187"/>
                <a:ext cx="41275" cy="30956"/>
              </a:xfrm>
              <a:custGeom>
                <a:avLst/>
                <a:gdLst/>
                <a:ahLst/>
                <a:cxnLst/>
                <a:rect l="l" t="t" r="r" b="b"/>
                <a:pathLst>
                  <a:path w="41275" h="30956">
                    <a:moveTo>
                      <a:pt x="0" y="0"/>
                    </a:moveTo>
                    <a:lnTo>
                      <a:pt x="20637" y="0"/>
                    </a:lnTo>
                    <a:cubicBezTo>
                      <a:pt x="32035" y="0"/>
                      <a:pt x="41275" y="9240"/>
                      <a:pt x="41275" y="20637"/>
                    </a:cubicBezTo>
                    <a:lnTo>
                      <a:pt x="41275" y="30956"/>
                    </a:lnTo>
                  </a:path>
                </a:pathLst>
              </a:custGeom>
              <a:noFill/>
              <a:ln w="20637">
                <a:solidFill>
                  <a:srgbClr val="721E0D"/>
                </a:solidFill>
              </a:ln>
            </p:spPr>
          </p:sp>
          <p:sp>
            <p:nvSpPr>
              <p:cNvPr id="275" name="Freeform 275"/>
              <p:cNvSpPr/>
              <p:nvPr/>
            </p:nvSpPr>
            <p:spPr>
              <a:xfrm>
                <a:off x="7452519" y="46029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721E0D"/>
                </a:solidFill>
              </a:ln>
            </p:spPr>
          </p:sp>
          <p:sp>
            <p:nvSpPr>
              <p:cNvPr id="276" name="Freeform 276"/>
              <p:cNvSpPr/>
              <p:nvPr/>
            </p:nvSpPr>
            <p:spPr>
              <a:xfrm>
                <a:off x="7431881" y="4675187"/>
                <a:ext cx="41275" cy="30956"/>
              </a:xfrm>
              <a:custGeom>
                <a:avLst/>
                <a:gdLst/>
                <a:ahLst/>
                <a:cxnLst/>
                <a:rect l="l" t="t" r="r" b="b"/>
                <a:pathLst>
                  <a:path w="41275" h="30956">
                    <a:moveTo>
                      <a:pt x="0" y="30956"/>
                    </a:moveTo>
                    <a:lnTo>
                      <a:pt x="0" y="20637"/>
                    </a:lnTo>
                    <a:cubicBezTo>
                      <a:pt x="0" y="9240"/>
                      <a:pt x="9240" y="0"/>
                      <a:pt x="20637" y="0"/>
                    </a:cubicBezTo>
                    <a:lnTo>
                      <a:pt x="41275" y="0"/>
                    </a:lnTo>
                  </a:path>
                </a:pathLst>
              </a:custGeom>
              <a:noFill/>
              <a:ln w="20637">
                <a:solidFill>
                  <a:srgbClr val="721E0D"/>
                </a:solidFill>
              </a:ln>
            </p:spPr>
          </p:sp>
        </p:grpSp>
        <p:sp>
          <p:nvSpPr>
            <p:cNvPr id="278" name="TextBox 278"/>
            <p:cNvSpPr txBox="1"/>
            <p:nvPr/>
          </p:nvSpPr>
          <p:spPr>
            <a:xfrm>
              <a:off x="73072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组织能力</a:t>
              </a:r>
            </a:p>
          </p:txBody>
        </p:sp>
        <p:sp>
          <p:nvSpPr>
            <p:cNvPr id="279" name="TextBox 279"/>
            <p:cNvSpPr txBox="1"/>
            <p:nvPr/>
          </p:nvSpPr>
          <p:spPr>
            <a:xfrm>
              <a:off x="7158038" y="5074682"/>
              <a:ext cx="329565" cy="373856"/>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流程化</a:t>
              </a:r>
            </a:p>
            <a:p>
              <a:pPr algn="l" marL="76200" indent="-76200">
                <a:lnSpc>
                  <a:spcPts val="975"/>
                </a:lnSpc>
                <a:buClr>
                  <a:srgbClr val="523E3A"/>
                </a:buClr>
                <a:buSzTx/>
                <a:buFontTx/>
                <a:buChar char="•"/>
              </a:pPr>
              <a:r>
                <a:rPr lang="zh-CN" sz="640" dirty="0">
                  <a:solidFill>
                    <a:srgbClr val="523E3A"/>
                  </a:solidFill>
                  <a:latin typeface="+mn-lt"/>
                  <a:ea typeface="+mn-ea"/>
                  <a:cs typeface="+mn-cs"/>
                </a:rPr>
                <a:t>标准化</a:t>
              </a:r>
            </a:p>
            <a:p>
              <a:pPr algn="l" marL="76200" indent="-76200">
                <a:lnSpc>
                  <a:spcPts val="975"/>
                </a:lnSpc>
                <a:buClr>
                  <a:srgbClr val="523E3A"/>
                </a:buClr>
                <a:buSzTx/>
                <a:buFontTx/>
                <a:buChar char="•"/>
              </a:pPr>
              <a:r>
                <a:rPr lang="zh-CN" sz="640" dirty="0">
                  <a:solidFill>
                    <a:srgbClr val="523E3A"/>
                  </a:solidFill>
                  <a:latin typeface="+mn-lt"/>
                  <a:ea typeface="+mn-ea"/>
                  <a:cs typeface="+mn-cs"/>
                </a:rPr>
                <a:t>数字化</a:t>
              </a:r>
            </a:p>
          </p:txBody>
        </p:sp>
      </p:grpSp>
      <p:grpSp>
        <p:nvGrpSpPr>
          <p:cNvPr id="317" name="question-3"/>
          <p:cNvGrpSpPr/>
          <p:nvPr/>
        </p:nvGrpSpPr>
        <p:grpSpPr>
          <a:xfrm>
            <a:off x="8153400" y="4210050"/>
            <a:ext cx="3810000" cy="1466850"/>
            <a:chOff x="8153400" y="4210050"/>
            <a:chExt cx="3810000" cy="1466850"/>
          </a:xfrm>
        </p:grpSpPr>
        <p:sp>
          <p:nvSpPr>
            <p:cNvPr id="281" name="Rectangle 281"/>
            <p:cNvSpPr/>
            <p:nvPr/>
          </p:nvSpPr>
          <p:spPr>
            <a:xfrm>
              <a:off x="8153400" y="4210050"/>
              <a:ext cx="3810000" cy="1466850"/>
            </a:xfrm>
            <a:prstGeom prst="roundRect">
              <a:avLst>
                <a:gd name="adj" fmla="val 6494"/>
              </a:avLst>
            </a:prstGeom>
            <a:solidFill>
              <a:srgbClr val="FFFFFF"/>
            </a:solidFill>
            <a:ln w="14288">
              <a:solidFill>
                <a:srgbClr val="C9D6EE"/>
              </a:solidFill>
            </a:ln>
          </p:spPr>
        </p:sp>
        <p:sp>
          <p:nvSpPr>
            <p:cNvPr id="282" name="Freeform 282"/>
            <p:cNvSpPr/>
            <p:nvPr/>
          </p:nvSpPr>
          <p:spPr>
            <a:xfrm>
              <a:off x="8153400" y="4210050"/>
              <a:ext cx="3810000" cy="285750"/>
            </a:xfrm>
            <a:custGeom>
              <a:avLst/>
              <a:gdLst/>
              <a:ahLst/>
              <a:cxnLst/>
              <a:rect l="l" t="t" r="r" b="b"/>
              <a:pathLst>
                <a:path w="3810000" h="285750">
                  <a:moveTo>
                    <a:pt x="95250" y="0"/>
                  </a:moveTo>
                  <a:lnTo>
                    <a:pt x="3714750" y="0"/>
                  </a:lnTo>
                  <a:cubicBezTo>
                    <a:pt x="3767355" y="0"/>
                    <a:pt x="3810000" y="42645"/>
                    <a:pt x="3810000" y="95250"/>
                  </a:cubicBezTo>
                  <a:lnTo>
                    <a:pt x="3810000" y="285750"/>
                  </a:lnTo>
                  <a:lnTo>
                    <a:pt x="0" y="285750"/>
                  </a:lnTo>
                  <a:lnTo>
                    <a:pt x="0" y="95250"/>
                  </a:lnTo>
                  <a:cubicBezTo>
                    <a:pt x="0" y="42645"/>
                    <a:pt x="42645" y="0"/>
                    <a:pt x="95250" y="0"/>
                  </a:cubicBezTo>
                  <a:close/>
                </a:path>
              </a:pathLst>
            </a:custGeom>
            <a:solidFill>
              <a:srgbClr val="721E0D"/>
            </a:solidFill>
            <a:ln>
              <a:noFill/>
            </a:ln>
          </p:spPr>
        </p:sp>
        <p:grpSp>
          <p:nvGrpSpPr>
            <p:cNvPr id="285" name="Group 285"/>
            <p:cNvGrpSpPr/>
            <p:nvPr/>
          </p:nvGrpSpPr>
          <p:grpSpPr>
            <a:xfrm>
              <a:off x="9498690" y="4288631"/>
              <a:ext cx="139505" cy="128588"/>
              <a:chOff x="9498690" y="4288631"/>
              <a:chExt cx="139505" cy="128588"/>
            </a:xfrm>
          </p:grpSpPr>
          <p:sp>
            <p:nvSpPr>
              <p:cNvPr id="283" name="Freeform 283"/>
              <p:cNvSpPr/>
              <p:nvPr/>
            </p:nvSpPr>
            <p:spPr>
              <a:xfrm>
                <a:off x="9498690" y="428863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FFFFFF"/>
                </a:solidFill>
              </a:ln>
            </p:spPr>
          </p:sp>
          <p:sp>
            <p:nvSpPr>
              <p:cNvPr id="284" name="Freeform 284"/>
              <p:cNvSpPr/>
              <p:nvPr/>
            </p:nvSpPr>
            <p:spPr>
              <a:xfrm>
                <a:off x="9594056" y="4388644"/>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286" name="TextBox 286"/>
            <p:cNvSpPr txBox="1"/>
            <p:nvPr/>
          </p:nvSpPr>
          <p:spPr>
            <a:xfrm>
              <a:off x="9729406" y="4300776"/>
              <a:ext cx="1233983"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你的信心从哪里来？</a:t>
              </a:r>
            </a:p>
          </p:txBody>
        </p:sp>
        <p:grpSp>
          <p:nvGrpSpPr>
            <p:cNvPr id="291" name="Group 291"/>
            <p:cNvGrpSpPr/>
            <p:nvPr/>
          </p:nvGrpSpPr>
          <p:grpSpPr>
            <a:xfrm>
              <a:off x="8536781" y="4613275"/>
              <a:ext cx="185737" cy="174624"/>
              <a:chOff x="8536781" y="4613275"/>
              <a:chExt cx="185737" cy="174624"/>
            </a:xfrm>
          </p:grpSpPr>
          <p:sp>
            <p:nvSpPr>
              <p:cNvPr id="287" name="Freeform 287"/>
              <p:cNvSpPr/>
              <p:nvPr/>
            </p:nvSpPr>
            <p:spPr>
              <a:xfrm>
                <a:off x="8536781" y="4695825"/>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721E0D"/>
                </a:solidFill>
              </a:ln>
            </p:spPr>
          </p:sp>
          <p:sp>
            <p:nvSpPr>
              <p:cNvPr id="288" name="Freeform 288"/>
              <p:cNvSpPr/>
              <p:nvPr/>
            </p:nvSpPr>
            <p:spPr>
              <a:xfrm>
                <a:off x="8660606" y="4654550"/>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721E0D"/>
                </a:solidFill>
              </a:ln>
            </p:spPr>
          </p:sp>
          <p:sp>
            <p:nvSpPr>
              <p:cNvPr id="289" name="Freeform 289"/>
              <p:cNvSpPr/>
              <p:nvPr/>
            </p:nvSpPr>
            <p:spPr>
              <a:xfrm>
                <a:off x="8598693" y="4613275"/>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721E0D"/>
                </a:solidFill>
              </a:ln>
            </p:spPr>
          </p:sp>
          <p:sp>
            <p:nvSpPr>
              <p:cNvPr id="290" name="Freeform 290"/>
              <p:cNvSpPr/>
              <p:nvPr/>
            </p:nvSpPr>
            <p:spPr>
              <a:xfrm>
                <a:off x="8547100" y="4778374"/>
                <a:ext cx="144462" cy="9525"/>
              </a:xfrm>
              <a:custGeom>
                <a:avLst/>
                <a:gdLst/>
                <a:ahLst/>
                <a:cxnLst/>
                <a:rect l="l" t="t" r="r" b="b"/>
                <a:pathLst>
                  <a:path w="144462" h="9525">
                    <a:moveTo>
                      <a:pt x="0" y="0"/>
                    </a:moveTo>
                    <a:lnTo>
                      <a:pt x="144462" y="0"/>
                    </a:lnTo>
                  </a:path>
                </a:pathLst>
              </a:custGeom>
              <a:noFill/>
              <a:ln w="20637">
                <a:solidFill>
                  <a:srgbClr val="721E0D"/>
                </a:solidFill>
              </a:ln>
            </p:spPr>
          </p:sp>
        </p:grpSp>
        <p:sp>
          <p:nvSpPr>
            <p:cNvPr id="292" name="TextBox 292"/>
            <p:cNvSpPr txBox="1"/>
            <p:nvPr/>
          </p:nvSpPr>
          <p:spPr>
            <a:xfrm>
              <a:off x="84121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数据支撑</a:t>
              </a:r>
            </a:p>
          </p:txBody>
        </p:sp>
        <p:sp>
          <p:nvSpPr>
            <p:cNvPr id="293" name="TextBox 293"/>
            <p:cNvSpPr txBox="1"/>
            <p:nvPr/>
          </p:nvSpPr>
          <p:spPr>
            <a:xfrm>
              <a:off x="8262938" y="5074682"/>
              <a:ext cx="646557" cy="49768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差距量化</a:t>
              </a:r>
            </a:p>
            <a:p>
              <a:pPr algn="l" marL="76200" indent="-76200">
                <a:lnSpc>
                  <a:spcPts val="975"/>
                </a:lnSpc>
                <a:buClr>
                  <a:srgbClr val="523E3A"/>
                </a:buClr>
                <a:buSzTx/>
                <a:buFontTx/>
                <a:buChar char="•"/>
              </a:pPr>
              <a:r>
                <a:rPr lang="zh-CN" sz="640" dirty="0">
                  <a:solidFill>
                    <a:srgbClr val="523E3A"/>
                  </a:solidFill>
                  <a:latin typeface="+mn-lt"/>
                  <a:ea typeface="+mn-ea"/>
                  <a:cs typeface="+mn-cs"/>
                </a:rPr>
                <a:t>路径可达</a:t>
              </a:r>
            </a:p>
            <a:p>
              <a:pPr algn="l" marL="76200" indent="-76200">
                <a:lnSpc>
                  <a:spcPts val="975"/>
                </a:lnSpc>
                <a:buClr>
                  <a:srgbClr val="523E3A"/>
                </a:buClr>
                <a:buSzTx/>
                <a:buFontTx/>
                <a:buChar char="•"/>
              </a:pPr>
              <a:r>
                <a:rPr lang="zh-CN" sz="640" dirty="0">
                  <a:solidFill>
                    <a:srgbClr val="523E3A"/>
                  </a:solidFill>
                  <a:latin typeface="+mn-lt"/>
                  <a:ea typeface="+mn-ea"/>
                  <a:cs typeface="+mn-cs"/>
                </a:rPr>
                <a:t>资源测算</a:t>
              </a:r>
            </a:p>
            <a:p>
              <a:pPr algn="l" marL="76200" indent="-76200">
                <a:lnSpc>
                  <a:spcPts val="975"/>
                </a:lnSpc>
                <a:buClr>
                  <a:srgbClr val="523E3A"/>
                </a:buClr>
                <a:buSzTx/>
                <a:buFontTx/>
                <a:buChar char="•"/>
              </a:pPr>
              <a:r>
                <a:rPr lang="zh-CN" sz="640" dirty="0">
                  <a:solidFill>
                    <a:srgbClr val="523E3A"/>
                  </a:solidFill>
                  <a:latin typeface="+mn-lt"/>
                  <a:ea typeface="+mn-ea"/>
                  <a:cs typeface="+mn-cs"/>
                </a:rPr>
                <a:t xml:space="preserve">ROI清晰      </a:t>
              </a:r>
            </a:p>
          </p:txBody>
        </p:sp>
        <p:sp>
          <p:nvSpPr>
            <p:cNvPr id="294" name="Line 294"/>
            <p:cNvSpPr/>
            <p:nvPr/>
          </p:nvSpPr>
          <p:spPr>
            <a:xfrm>
              <a:off x="9105900" y="4591050"/>
              <a:ext cx="9525" cy="1009650"/>
            </a:xfrm>
            <a:custGeom>
              <a:avLst/>
              <a:gdLst/>
              <a:ahLst/>
              <a:cxnLst/>
              <a:rect l="l" t="t" r="r" b="b"/>
              <a:pathLst>
                <a:path w="9525" h="1009650">
                  <a:moveTo>
                    <a:pt x="0" y="0"/>
                  </a:moveTo>
                  <a:lnTo>
                    <a:pt x="0" y="1009650"/>
                  </a:lnTo>
                </a:path>
              </a:pathLst>
            </a:custGeom>
            <a:noFill/>
            <a:ln w="9525">
              <a:solidFill>
                <a:srgbClr val="E6EAF2"/>
              </a:solidFill>
            </a:ln>
          </p:spPr>
        </p:sp>
        <p:grpSp>
          <p:nvGrpSpPr>
            <p:cNvPr id="297" name="Group 297"/>
            <p:cNvGrpSpPr/>
            <p:nvPr/>
          </p:nvGrpSpPr>
          <p:grpSpPr>
            <a:xfrm>
              <a:off x="9489281" y="4623594"/>
              <a:ext cx="185737" cy="151789"/>
              <a:chOff x="9489281" y="4623594"/>
              <a:chExt cx="185737" cy="151789"/>
            </a:xfrm>
          </p:grpSpPr>
          <p:sp>
            <p:nvSpPr>
              <p:cNvPr id="295" name="Freeform 295"/>
              <p:cNvSpPr/>
              <p:nvPr/>
            </p:nvSpPr>
            <p:spPr>
              <a:xfrm>
                <a:off x="9489281" y="4623594"/>
                <a:ext cx="185737" cy="151789"/>
              </a:xfrm>
              <a:custGeom>
                <a:avLst/>
                <a:gdLst/>
                <a:ahLst/>
                <a:cxnLst/>
                <a:rect l="l" t="t" r="r" b="b"/>
                <a:pathLst>
                  <a:path w="185737" h="151789">
                    <a:moveTo>
                      <a:pt x="30956" y="0"/>
                    </a:moveTo>
                    <a:lnTo>
                      <a:pt x="154781" y="0"/>
                    </a:lnTo>
                    <a:lnTo>
                      <a:pt x="185737" y="51594"/>
                    </a:lnTo>
                    <a:lnTo>
                      <a:pt x="98028" y="149621"/>
                    </a:lnTo>
                    <a:cubicBezTo>
                      <a:pt x="96669" y="151008"/>
                      <a:pt x="94810" y="151789"/>
                      <a:pt x="92868" y="151789"/>
                    </a:cubicBezTo>
                    <a:cubicBezTo>
                      <a:pt x="90927" y="151789"/>
                      <a:pt x="89068" y="151008"/>
                      <a:pt x="87709" y="149621"/>
                    </a:cubicBezTo>
                    <a:lnTo>
                      <a:pt x="0" y="51594"/>
                    </a:lnTo>
                    <a:lnTo>
                      <a:pt x="30956" y="0"/>
                    </a:lnTo>
                  </a:path>
                </a:pathLst>
              </a:custGeom>
              <a:noFill/>
              <a:ln w="20637">
                <a:solidFill>
                  <a:srgbClr val="721E0D"/>
                </a:solidFill>
              </a:ln>
            </p:spPr>
          </p:sp>
          <p:sp>
            <p:nvSpPr>
              <p:cNvPr id="296" name="Freeform 296"/>
              <p:cNvSpPr/>
              <p:nvPr/>
            </p:nvSpPr>
            <p:spPr>
              <a:xfrm>
                <a:off x="9540875" y="4662805"/>
                <a:ext cx="20637" cy="33020"/>
              </a:xfrm>
              <a:custGeom>
                <a:avLst/>
                <a:gdLst/>
                <a:ahLst/>
                <a:cxnLst/>
                <a:rect l="l" t="t" r="r" b="b"/>
                <a:pathLst>
                  <a:path w="20637" h="33020">
                    <a:moveTo>
                      <a:pt x="20637" y="33020"/>
                    </a:moveTo>
                    <a:lnTo>
                      <a:pt x="0" y="10319"/>
                    </a:lnTo>
                    <a:lnTo>
                      <a:pt x="6191" y="0"/>
                    </a:lnTo>
                  </a:path>
                </a:pathLst>
              </a:custGeom>
              <a:noFill/>
              <a:ln w="20637">
                <a:solidFill>
                  <a:srgbClr val="721E0D"/>
                </a:solidFill>
              </a:ln>
            </p:spPr>
          </p:sp>
        </p:grpSp>
        <p:sp>
          <p:nvSpPr>
            <p:cNvPr id="298" name="TextBox 298"/>
            <p:cNvSpPr txBox="1"/>
            <p:nvPr/>
          </p:nvSpPr>
          <p:spPr>
            <a:xfrm>
              <a:off x="93646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客户价值</a:t>
              </a:r>
            </a:p>
          </p:txBody>
        </p:sp>
        <p:sp>
          <p:nvSpPr>
            <p:cNvPr id="299" name="TextBox 299"/>
            <p:cNvSpPr txBox="1"/>
            <p:nvPr/>
          </p:nvSpPr>
          <p:spPr>
            <a:xfrm>
              <a:off x="9215438" y="5074682"/>
              <a:ext cx="410845" cy="49768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需求真实</a:t>
              </a:r>
            </a:p>
            <a:p>
              <a:pPr algn="l" marL="76200" indent="-76200">
                <a:lnSpc>
                  <a:spcPts val="975"/>
                </a:lnSpc>
                <a:buClr>
                  <a:srgbClr val="523E3A"/>
                </a:buClr>
                <a:buSzTx/>
                <a:buFontTx/>
                <a:buChar char="•"/>
              </a:pPr>
              <a:r>
                <a:rPr lang="zh-CN" sz="640" dirty="0">
                  <a:solidFill>
                    <a:srgbClr val="523E3A"/>
                  </a:solidFill>
                  <a:latin typeface="+mn-lt"/>
                  <a:ea typeface="+mn-ea"/>
                  <a:cs typeface="+mn-cs"/>
                </a:rPr>
                <a:t>价值明确</a:t>
              </a:r>
            </a:p>
            <a:p>
              <a:pPr algn="l" marL="76200" indent="-76200">
                <a:lnSpc>
                  <a:spcPts val="975"/>
                </a:lnSpc>
                <a:buClr>
                  <a:srgbClr val="523E3A"/>
                </a:buClr>
                <a:buSzTx/>
                <a:buFontTx/>
                <a:buChar char="•"/>
              </a:pPr>
              <a:r>
                <a:rPr lang="zh-CN" sz="640" dirty="0">
                  <a:solidFill>
                    <a:srgbClr val="523E3A"/>
                  </a:solidFill>
                  <a:latin typeface="+mn-lt"/>
                  <a:ea typeface="+mn-ea"/>
                  <a:cs typeface="+mn-cs"/>
                </a:rPr>
                <a:t>意愿增强</a:t>
              </a:r>
            </a:p>
            <a:p>
              <a:pPr algn="l" marL="76200" indent="-76200">
                <a:lnSpc>
                  <a:spcPts val="975"/>
                </a:lnSpc>
                <a:buClr>
                  <a:srgbClr val="523E3A"/>
                </a:buClr>
                <a:buSzTx/>
                <a:buFontTx/>
                <a:buChar char="•"/>
              </a:pPr>
              <a:r>
                <a:rPr lang="zh-CN" sz="640" dirty="0">
                  <a:solidFill>
                    <a:srgbClr val="523E3A"/>
                  </a:solidFill>
                  <a:latin typeface="+mn-lt"/>
                  <a:ea typeface="+mn-ea"/>
                  <a:cs typeface="+mn-cs"/>
                </a:rPr>
                <a:t>长期合作</a:t>
              </a:r>
            </a:p>
          </p:txBody>
        </p:sp>
        <p:sp>
          <p:nvSpPr>
            <p:cNvPr id="300" name="Line 300"/>
            <p:cNvSpPr/>
            <p:nvPr/>
          </p:nvSpPr>
          <p:spPr>
            <a:xfrm>
              <a:off x="10058400" y="4591050"/>
              <a:ext cx="9525" cy="1009650"/>
            </a:xfrm>
            <a:custGeom>
              <a:avLst/>
              <a:gdLst/>
              <a:ahLst/>
              <a:cxnLst/>
              <a:rect l="l" t="t" r="r" b="b"/>
              <a:pathLst>
                <a:path w="9525" h="1009650">
                  <a:moveTo>
                    <a:pt x="0" y="0"/>
                  </a:moveTo>
                  <a:lnTo>
                    <a:pt x="0" y="1009650"/>
                  </a:lnTo>
                </a:path>
              </a:pathLst>
            </a:custGeom>
            <a:noFill/>
            <a:ln w="9525">
              <a:solidFill>
                <a:srgbClr val="E6EAF2"/>
              </a:solidFill>
            </a:ln>
          </p:spPr>
        </p:sp>
        <p:grpSp>
          <p:nvGrpSpPr>
            <p:cNvPr id="305" name="Group 305"/>
            <p:cNvGrpSpPr/>
            <p:nvPr/>
          </p:nvGrpSpPr>
          <p:grpSpPr>
            <a:xfrm>
              <a:off x="10441781" y="4602956"/>
              <a:ext cx="185737" cy="185738"/>
              <a:chOff x="10441781" y="4602956"/>
              <a:chExt cx="185737" cy="185738"/>
            </a:xfrm>
          </p:grpSpPr>
          <p:sp>
            <p:nvSpPr>
              <p:cNvPr id="301" name="Freeform 301"/>
              <p:cNvSpPr/>
              <p:nvPr/>
            </p:nvSpPr>
            <p:spPr>
              <a:xfrm>
                <a:off x="10462419" y="46029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721E0D"/>
                </a:solidFill>
              </a:ln>
            </p:spPr>
          </p:sp>
          <p:sp>
            <p:nvSpPr>
              <p:cNvPr id="302" name="Freeform 302"/>
              <p:cNvSpPr/>
              <p:nvPr/>
            </p:nvSpPr>
            <p:spPr>
              <a:xfrm>
                <a:off x="10441781" y="47267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721E0D"/>
                </a:solidFill>
              </a:ln>
            </p:spPr>
          </p:sp>
          <p:sp>
            <p:nvSpPr>
              <p:cNvPr id="303" name="Freeform 303"/>
              <p:cNvSpPr/>
              <p:nvPr/>
            </p:nvSpPr>
            <p:spPr>
              <a:xfrm>
                <a:off x="10575924" y="46042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721E0D"/>
                </a:solidFill>
              </a:ln>
            </p:spPr>
          </p:sp>
          <p:sp>
            <p:nvSpPr>
              <p:cNvPr id="304" name="Freeform 304"/>
              <p:cNvSpPr/>
              <p:nvPr/>
            </p:nvSpPr>
            <p:spPr>
              <a:xfrm>
                <a:off x="10596562" y="47283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721E0D"/>
                </a:solidFill>
              </a:ln>
            </p:spPr>
          </p:sp>
        </p:grpSp>
        <p:sp>
          <p:nvSpPr>
            <p:cNvPr id="306" name="TextBox 306"/>
            <p:cNvSpPr txBox="1"/>
            <p:nvPr/>
          </p:nvSpPr>
          <p:spPr>
            <a:xfrm>
              <a:off x="103171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团队能力</a:t>
              </a:r>
            </a:p>
          </p:txBody>
        </p:sp>
        <p:sp>
          <p:nvSpPr>
            <p:cNvPr id="307" name="TextBox 307"/>
            <p:cNvSpPr txBox="1"/>
            <p:nvPr/>
          </p:nvSpPr>
          <p:spPr>
            <a:xfrm>
              <a:off x="10167938" y="5074682"/>
              <a:ext cx="410845" cy="49768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关键人才</a:t>
              </a:r>
            </a:p>
            <a:p>
              <a:pPr algn="l" marL="76200" indent="-76200">
                <a:lnSpc>
                  <a:spcPts val="975"/>
                </a:lnSpc>
                <a:buClr>
                  <a:srgbClr val="523E3A"/>
                </a:buClr>
                <a:buSzTx/>
                <a:buFontTx/>
                <a:buChar char="•"/>
              </a:pPr>
              <a:r>
                <a:rPr lang="zh-CN" sz="640" dirty="0">
                  <a:solidFill>
                    <a:srgbClr val="523E3A"/>
                  </a:solidFill>
                  <a:latin typeface="+mn-lt"/>
                  <a:ea typeface="+mn-ea"/>
                  <a:cs typeface="+mn-cs"/>
                </a:rPr>
                <a:t>执行文化</a:t>
              </a:r>
            </a:p>
            <a:p>
              <a:pPr algn="l" marL="76200" indent="-76200">
                <a:lnSpc>
                  <a:spcPts val="975"/>
                </a:lnSpc>
                <a:buClr>
                  <a:srgbClr val="523E3A"/>
                </a:buClr>
                <a:buSzTx/>
                <a:buFontTx/>
                <a:buChar char="•"/>
              </a:pPr>
              <a:r>
                <a:rPr lang="zh-CN" sz="640" dirty="0">
                  <a:solidFill>
                    <a:srgbClr val="523E3A"/>
                  </a:solidFill>
                  <a:latin typeface="+mn-lt"/>
                  <a:ea typeface="+mn-ea"/>
                  <a:cs typeface="+mn-cs"/>
                </a:rPr>
                <a:t>协同作战</a:t>
              </a:r>
            </a:p>
            <a:p>
              <a:pPr algn="l" marL="76200" indent="-76200">
                <a:lnSpc>
                  <a:spcPts val="975"/>
                </a:lnSpc>
                <a:buClr>
                  <a:srgbClr val="523E3A"/>
                </a:buClr>
                <a:buSzTx/>
                <a:buFontTx/>
                <a:buChar char="•"/>
              </a:pPr>
              <a:r>
                <a:rPr lang="zh-CN" sz="640" dirty="0">
                  <a:solidFill>
                    <a:srgbClr val="523E3A"/>
                  </a:solidFill>
                  <a:latin typeface="+mn-lt"/>
                  <a:ea typeface="+mn-ea"/>
                  <a:cs typeface="+mn-cs"/>
                </a:rPr>
                <a:t>持续成长</a:t>
              </a:r>
            </a:p>
          </p:txBody>
        </p:sp>
        <p:sp>
          <p:nvSpPr>
            <p:cNvPr id="308" name="Line 308"/>
            <p:cNvSpPr/>
            <p:nvPr/>
          </p:nvSpPr>
          <p:spPr>
            <a:xfrm>
              <a:off x="11010900" y="4591050"/>
              <a:ext cx="9525" cy="1009650"/>
            </a:xfrm>
            <a:custGeom>
              <a:avLst/>
              <a:gdLst/>
              <a:ahLst/>
              <a:cxnLst/>
              <a:rect l="l" t="t" r="r" b="b"/>
              <a:pathLst>
                <a:path w="9525" h="1009650">
                  <a:moveTo>
                    <a:pt x="0" y="0"/>
                  </a:moveTo>
                  <a:lnTo>
                    <a:pt x="0" y="1009650"/>
                  </a:lnTo>
                </a:path>
              </a:pathLst>
            </a:custGeom>
            <a:noFill/>
            <a:ln w="9525">
              <a:solidFill>
                <a:srgbClr val="E6EAF2"/>
              </a:solidFill>
            </a:ln>
          </p:spPr>
        </p:sp>
        <p:grpSp>
          <p:nvGrpSpPr>
            <p:cNvPr id="314" name="Group 314"/>
            <p:cNvGrpSpPr/>
            <p:nvPr/>
          </p:nvGrpSpPr>
          <p:grpSpPr>
            <a:xfrm>
              <a:off x="11394281" y="4601573"/>
              <a:ext cx="185737" cy="187120"/>
              <a:chOff x="11394281" y="4601573"/>
              <a:chExt cx="185737" cy="187120"/>
            </a:xfrm>
          </p:grpSpPr>
          <p:sp>
            <p:nvSpPr>
              <p:cNvPr id="309" name="Freeform 309"/>
              <p:cNvSpPr/>
              <p:nvPr/>
            </p:nvSpPr>
            <p:spPr>
              <a:xfrm>
                <a:off x="11456193" y="4685506"/>
                <a:ext cx="123825" cy="61912"/>
              </a:xfrm>
              <a:custGeom>
                <a:avLst/>
                <a:gdLst/>
                <a:ahLst/>
                <a:cxnLst/>
                <a:rect l="l" t="t" r="r" b="b"/>
                <a:pathLst>
                  <a:path w="123825" h="61912">
                    <a:moveTo>
                      <a:pt x="0" y="30956"/>
                    </a:moveTo>
                    <a:cubicBezTo>
                      <a:pt x="0" y="48054"/>
                      <a:pt x="27716" y="61912"/>
                      <a:pt x="61912" y="61912"/>
                    </a:cubicBezTo>
                    <a:cubicBezTo>
                      <a:pt x="96109" y="61912"/>
                      <a:pt x="123825" y="48054"/>
                      <a:pt x="123825" y="30956"/>
                    </a:cubicBezTo>
                    <a:cubicBezTo>
                      <a:pt x="123825" y="13858"/>
                      <a:pt x="96109" y="0"/>
                      <a:pt x="61912" y="0"/>
                    </a:cubicBezTo>
                    <a:cubicBezTo>
                      <a:pt x="27716" y="0"/>
                      <a:pt x="0" y="13858"/>
                      <a:pt x="0" y="30956"/>
                    </a:cubicBezTo>
                  </a:path>
                </a:pathLst>
              </a:custGeom>
              <a:noFill/>
              <a:ln w="20637">
                <a:solidFill>
                  <a:srgbClr val="721E0D"/>
                </a:solidFill>
              </a:ln>
            </p:spPr>
          </p:sp>
          <p:sp>
            <p:nvSpPr>
              <p:cNvPr id="310" name="Freeform 310"/>
              <p:cNvSpPr/>
              <p:nvPr/>
            </p:nvSpPr>
            <p:spPr>
              <a:xfrm>
                <a:off x="11456193" y="4716462"/>
                <a:ext cx="123825" cy="72231"/>
              </a:xfrm>
              <a:custGeom>
                <a:avLst/>
                <a:gdLst/>
                <a:ahLst/>
                <a:cxnLst/>
                <a:rect l="l" t="t" r="r" b="b"/>
                <a:pathLst>
                  <a:path w="123825" h="72231">
                    <a:moveTo>
                      <a:pt x="0" y="0"/>
                    </a:moveTo>
                    <a:lnTo>
                      <a:pt x="0" y="41275"/>
                    </a:lnTo>
                    <a:cubicBezTo>
                      <a:pt x="0" y="58363"/>
                      <a:pt x="27716" y="72231"/>
                      <a:pt x="61912" y="72231"/>
                    </a:cubicBezTo>
                    <a:cubicBezTo>
                      <a:pt x="96109" y="72231"/>
                      <a:pt x="123825" y="58363"/>
                      <a:pt x="123825" y="41275"/>
                    </a:cubicBezTo>
                    <a:lnTo>
                      <a:pt x="123825" y="0"/>
                    </a:lnTo>
                  </a:path>
                </a:pathLst>
              </a:custGeom>
              <a:noFill/>
              <a:ln w="20637">
                <a:solidFill>
                  <a:srgbClr val="721E0D"/>
                </a:solidFill>
              </a:ln>
            </p:spPr>
          </p:sp>
          <p:sp>
            <p:nvSpPr>
              <p:cNvPr id="311" name="Freeform 311"/>
              <p:cNvSpPr/>
              <p:nvPr/>
            </p:nvSpPr>
            <p:spPr>
              <a:xfrm>
                <a:off x="11394281" y="4601573"/>
                <a:ext cx="123825" cy="64678"/>
              </a:xfrm>
              <a:custGeom>
                <a:avLst/>
                <a:gdLst/>
                <a:ahLst/>
                <a:cxnLst/>
                <a:rect l="l" t="t" r="r" b="b"/>
                <a:pathLst>
                  <a:path w="123825" h="64678">
                    <a:moveTo>
                      <a:pt x="0" y="32339"/>
                    </a:moveTo>
                    <a:cubicBezTo>
                      <a:pt x="0" y="43401"/>
                      <a:pt x="11805" y="53616"/>
                      <a:pt x="30956" y="59147"/>
                    </a:cubicBezTo>
                    <a:cubicBezTo>
                      <a:pt x="50108" y="64678"/>
                      <a:pt x="73717" y="64678"/>
                      <a:pt x="92868" y="59147"/>
                    </a:cubicBezTo>
                    <a:cubicBezTo>
                      <a:pt x="112020" y="53616"/>
                      <a:pt x="123825" y="43401"/>
                      <a:pt x="123825" y="32339"/>
                    </a:cubicBezTo>
                    <a:cubicBezTo>
                      <a:pt x="123825" y="21277"/>
                      <a:pt x="112020" y="11062"/>
                      <a:pt x="92868" y="5531"/>
                    </a:cubicBezTo>
                    <a:cubicBezTo>
                      <a:pt x="73717" y="0"/>
                      <a:pt x="50108" y="0"/>
                      <a:pt x="30956" y="5531"/>
                    </a:cubicBezTo>
                    <a:cubicBezTo>
                      <a:pt x="11805" y="11062"/>
                      <a:pt x="0" y="21277"/>
                      <a:pt x="0" y="32339"/>
                    </a:cubicBezTo>
                  </a:path>
                </a:pathLst>
              </a:custGeom>
              <a:noFill/>
              <a:ln w="20637">
                <a:solidFill>
                  <a:srgbClr val="721E0D"/>
                </a:solidFill>
              </a:ln>
            </p:spPr>
          </p:sp>
          <p:sp>
            <p:nvSpPr>
              <p:cNvPr id="312" name="Freeform 312"/>
              <p:cNvSpPr/>
              <p:nvPr/>
            </p:nvSpPr>
            <p:spPr>
              <a:xfrm>
                <a:off x="11394281" y="4633912"/>
                <a:ext cx="20637" cy="123825"/>
              </a:xfrm>
              <a:custGeom>
                <a:avLst/>
                <a:gdLst/>
                <a:ahLst/>
                <a:cxnLst/>
                <a:rect l="l" t="t" r="r" b="b"/>
                <a:pathLst>
                  <a:path w="20637" h="123825">
                    <a:moveTo>
                      <a:pt x="0" y="0"/>
                    </a:moveTo>
                    <a:lnTo>
                      <a:pt x="0" y="103187"/>
                    </a:lnTo>
                    <a:cubicBezTo>
                      <a:pt x="0" y="112350"/>
                      <a:pt x="7966" y="118149"/>
                      <a:pt x="20637" y="123825"/>
                    </a:cubicBezTo>
                  </a:path>
                </a:pathLst>
              </a:custGeom>
              <a:noFill/>
              <a:ln w="20637">
                <a:solidFill>
                  <a:srgbClr val="721E0D"/>
                </a:solidFill>
              </a:ln>
            </p:spPr>
          </p:sp>
          <p:sp>
            <p:nvSpPr>
              <p:cNvPr id="313" name="Freeform 313"/>
              <p:cNvSpPr/>
              <p:nvPr/>
            </p:nvSpPr>
            <p:spPr>
              <a:xfrm>
                <a:off x="11394281" y="4685506"/>
                <a:ext cx="20637" cy="20637"/>
              </a:xfrm>
              <a:custGeom>
                <a:avLst/>
                <a:gdLst/>
                <a:ahLst/>
                <a:cxnLst/>
                <a:rect l="l" t="t" r="r" b="b"/>
                <a:pathLst>
                  <a:path w="20637" h="20637">
                    <a:moveTo>
                      <a:pt x="0" y="0"/>
                    </a:moveTo>
                    <a:cubicBezTo>
                      <a:pt x="0" y="9163"/>
                      <a:pt x="7966" y="14962"/>
                      <a:pt x="20637" y="20637"/>
                    </a:cubicBezTo>
                  </a:path>
                </a:pathLst>
              </a:custGeom>
              <a:noFill/>
              <a:ln w="20637">
                <a:solidFill>
                  <a:srgbClr val="721E0D"/>
                </a:solidFill>
              </a:ln>
            </p:spPr>
          </p:sp>
        </p:grpSp>
        <p:sp>
          <p:nvSpPr>
            <p:cNvPr id="315" name="TextBox 315"/>
            <p:cNvSpPr txBox="1"/>
            <p:nvPr/>
          </p:nvSpPr>
          <p:spPr>
            <a:xfrm>
              <a:off x="11269688" y="4887039"/>
              <a:ext cx="434924" cy="154781"/>
            </a:xfrm>
            <a:prstGeom prst="rect">
              <a:avLst/>
            </a:prstGeom>
            <a:noFill/>
            <a:ln>
              <a:noFill/>
            </a:ln>
          </p:spPr>
          <p:txBody>
            <a:bodyPr wrap="none" lIns="0" tIns="0" rIns="0" bIns="0" anchor="t" anchorCtr="0">
              <a:spAutoFit/>
            </a:bodyPr>
            <a:lstStyle/>
            <a:p>
              <a:pPr algn="ctr"/>
              <a:r>
                <a:rPr lang="zh-CN" sz="790" b="1" dirty="0">
                  <a:solidFill>
                    <a:srgbClr val="721E0D"/>
                  </a:solidFill>
                  <a:latin typeface="+mn-lt"/>
                  <a:ea typeface="+mn-ea"/>
                  <a:cs typeface="+mn-cs"/>
                </a:rPr>
                <a:t>资源保障</a:t>
              </a:r>
            </a:p>
          </p:txBody>
        </p:sp>
        <p:sp>
          <p:nvSpPr>
            <p:cNvPr id="316" name="TextBox 316"/>
            <p:cNvSpPr txBox="1"/>
            <p:nvPr/>
          </p:nvSpPr>
          <p:spPr>
            <a:xfrm>
              <a:off x="11120438" y="5074682"/>
              <a:ext cx="492125" cy="497681"/>
            </a:xfrm>
            <a:prstGeom prst="rect">
              <a:avLst/>
            </a:prstGeom>
            <a:noFill/>
            <a:ln>
              <a:noFill/>
            </a:ln>
          </p:spPr>
          <p:txBody>
            <a:bodyPr wrap="none" lIns="0" tIns="0" rIns="0" bIns="0" anchor="t" anchorCtr="0">
              <a:spAutoFit/>
            </a:bodyPr>
            <a:lstStyle/>
            <a:p>
              <a:pPr algn="l" marL="76200" indent="-76200">
                <a:lnSpc>
                  <a:spcPts val="975"/>
                </a:lnSpc>
                <a:buClr>
                  <a:srgbClr val="523E3A"/>
                </a:buClr>
                <a:buSzTx/>
                <a:buFontTx/>
                <a:buChar char="•"/>
              </a:pPr>
              <a:r>
                <a:rPr lang="zh-CN" sz="640" dirty="0">
                  <a:solidFill>
                    <a:srgbClr val="523E3A"/>
                  </a:solidFill>
                  <a:latin typeface="+mn-lt"/>
                  <a:ea typeface="+mn-ea"/>
                  <a:cs typeface="+mn-cs"/>
                </a:rPr>
                <a:t>资金到位</a:t>
              </a:r>
            </a:p>
            <a:p>
              <a:pPr algn="l" marL="76200" indent="-76200">
                <a:lnSpc>
                  <a:spcPts val="975"/>
                </a:lnSpc>
                <a:buClr>
                  <a:srgbClr val="523E3A"/>
                </a:buClr>
                <a:buSzTx/>
                <a:buFontTx/>
                <a:buChar char="•"/>
              </a:pPr>
              <a:r>
                <a:rPr lang="zh-CN" sz="640" dirty="0">
                  <a:solidFill>
                    <a:srgbClr val="523E3A"/>
                  </a:solidFill>
                  <a:latin typeface="+mn-lt"/>
                  <a:ea typeface="+mn-ea"/>
                  <a:cs typeface="+mn-cs"/>
                </a:rPr>
                <a:t>政策支持</a:t>
              </a:r>
            </a:p>
            <a:p>
              <a:pPr algn="l" marL="76200" indent="-76200">
                <a:lnSpc>
                  <a:spcPts val="975"/>
                </a:lnSpc>
                <a:buClr>
                  <a:srgbClr val="523E3A"/>
                </a:buClr>
                <a:buSzTx/>
                <a:buFontTx/>
                <a:buChar char="•"/>
              </a:pPr>
              <a:r>
                <a:rPr lang="zh-CN" sz="640" dirty="0">
                  <a:solidFill>
                    <a:srgbClr val="523E3A"/>
                  </a:solidFill>
                  <a:latin typeface="+mn-lt"/>
                  <a:ea typeface="+mn-ea"/>
                  <a:cs typeface="+mn-cs"/>
                </a:rPr>
                <a:t>跨部门协同</a:t>
              </a:r>
            </a:p>
            <a:p>
              <a:pPr algn="l" marL="76200" indent="-76200">
                <a:lnSpc>
                  <a:spcPts val="975"/>
                </a:lnSpc>
                <a:buClr>
                  <a:srgbClr val="523E3A"/>
                </a:buClr>
                <a:buSzTx/>
                <a:buFontTx/>
                <a:buChar char="•"/>
              </a:pPr>
              <a:r>
                <a:rPr lang="zh-CN" sz="640" dirty="0">
                  <a:solidFill>
                    <a:srgbClr val="523E3A"/>
                  </a:solidFill>
                  <a:latin typeface="+mn-lt"/>
                  <a:ea typeface="+mn-ea"/>
                  <a:cs typeface="+mn-cs"/>
                </a:rPr>
                <a:t>决策效率</a:t>
              </a:r>
            </a:p>
          </p:txBody>
        </p:sp>
      </p:grpSp>
      <p:grpSp>
        <p:nvGrpSpPr>
          <p:cNvPr id="319" name="q-arrow-1"/>
          <p:cNvGrpSpPr/>
          <p:nvPr/>
        </p:nvGrpSpPr>
        <p:grpSpPr>
          <a:xfrm>
            <a:off x="4048873" y="4848225"/>
            <a:ext cx="131855" cy="293370"/>
            <a:chOff x="4048873" y="4848225"/>
            <a:chExt cx="131855" cy="293370"/>
          </a:xfrm>
        </p:grpSpPr>
        <p:sp>
          <p:nvSpPr>
            <p:cNvPr id="318" name="TextBox 318"/>
            <p:cNvSpPr txBox="1"/>
            <p:nvPr/>
          </p:nvSpPr>
          <p:spPr>
            <a:xfrm>
              <a:off x="4048873" y="4848225"/>
              <a:ext cx="131855"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a:t>
              </a:r>
            </a:p>
          </p:txBody>
        </p:sp>
      </p:grpSp>
      <p:grpSp>
        <p:nvGrpSpPr>
          <p:cNvPr id="321" name="q-arrow-2"/>
          <p:cNvGrpSpPr/>
          <p:nvPr/>
        </p:nvGrpSpPr>
        <p:grpSpPr>
          <a:xfrm>
            <a:off x="8011273" y="4848225"/>
            <a:ext cx="131855" cy="293370"/>
            <a:chOff x="8011273" y="4848225"/>
            <a:chExt cx="131855" cy="293370"/>
          </a:xfrm>
        </p:grpSpPr>
        <p:sp>
          <p:nvSpPr>
            <p:cNvPr id="320" name="TextBox 320"/>
            <p:cNvSpPr txBox="1"/>
            <p:nvPr/>
          </p:nvSpPr>
          <p:spPr>
            <a:xfrm>
              <a:off x="8011273" y="4848225"/>
              <a:ext cx="131855" cy="293370"/>
            </a:xfrm>
            <a:prstGeom prst="rect">
              <a:avLst/>
            </a:prstGeom>
            <a:noFill/>
            <a:ln>
              <a:noFill/>
            </a:ln>
          </p:spPr>
          <p:txBody>
            <a:bodyPr wrap="none" lIns="0" tIns="0" rIns="0" bIns="0" anchor="t" anchorCtr="0">
              <a:spAutoFit/>
            </a:bodyPr>
            <a:lstStyle/>
            <a:p>
              <a:pPr algn="ctr"/>
              <a:r>
                <a:rPr lang="zh-CN" sz="1500" b="1" dirty="0">
                  <a:solidFill>
                    <a:srgbClr val="721E0D"/>
                  </a:solidFill>
                  <a:latin typeface="+mn-lt"/>
                  <a:ea typeface="+mn-ea"/>
                  <a:cs typeface="+mn-cs"/>
                </a:rPr>
                <a:t>›</a:t>
              </a:r>
            </a:p>
          </p:txBody>
        </p:sp>
      </p:grpSp>
      <p:grpSp>
        <p:nvGrpSpPr>
          <p:cNvPr id="329" name="final-banner"/>
          <p:cNvGrpSpPr/>
          <p:nvPr/>
        </p:nvGrpSpPr>
        <p:grpSpPr>
          <a:xfrm>
            <a:off x="228600" y="5791200"/>
            <a:ext cx="11734800" cy="642557"/>
            <a:chOff x="228600" y="5791200"/>
            <a:chExt cx="11734800" cy="642557"/>
          </a:xfrm>
        </p:grpSpPr>
        <p:sp>
          <p:nvSpPr>
            <p:cNvPr id="322" name="Rectangle 322"/>
            <p:cNvSpPr/>
            <p:nvPr/>
          </p:nvSpPr>
          <p:spPr>
            <a:xfrm>
              <a:off x="228600" y="5791200"/>
              <a:ext cx="11734800" cy="552450"/>
            </a:xfrm>
            <a:prstGeom prst="roundRect">
              <a:avLst>
                <a:gd name="adj" fmla="val 17241"/>
              </a:avLst>
            </a:prstGeom>
            <a:solidFill>
              <a:srgbClr val="721E0D"/>
            </a:solidFill>
            <a:ln>
              <a:noFill/>
            </a:ln>
          </p:spPr>
        </p:sp>
        <p:grpSp>
          <p:nvGrpSpPr>
            <p:cNvPr id="325" name="Group 325"/>
            <p:cNvGrpSpPr/>
            <p:nvPr/>
          </p:nvGrpSpPr>
          <p:grpSpPr>
            <a:xfrm>
              <a:off x="535781" y="5961391"/>
              <a:ext cx="166688" cy="213191"/>
              <a:chOff x="535781" y="5961391"/>
              <a:chExt cx="166688" cy="213191"/>
            </a:xfrm>
          </p:grpSpPr>
          <p:sp>
            <p:nvSpPr>
              <p:cNvPr id="323" name="Freeform 323"/>
              <p:cNvSpPr/>
              <p:nvPr/>
            </p:nvSpPr>
            <p:spPr>
              <a:xfrm>
                <a:off x="535781" y="5961391"/>
                <a:ext cx="166688" cy="152536"/>
              </a:xfrm>
              <a:custGeom>
                <a:avLst/>
                <a:gdLst/>
                <a:ahLst/>
                <a:cxnLst/>
                <a:rect l="l" t="t" r="r" b="b"/>
                <a:pathLst>
                  <a:path w="166688" h="152536">
                    <a:moveTo>
                      <a:pt x="0" y="22690"/>
                    </a:moveTo>
                    <a:cubicBezTo>
                      <a:pt x="23148" y="0"/>
                      <a:pt x="60195" y="0"/>
                      <a:pt x="83344" y="22690"/>
                    </a:cubicBezTo>
                    <a:cubicBezTo>
                      <a:pt x="106492" y="45380"/>
                      <a:pt x="143539" y="45380"/>
                      <a:pt x="166688" y="22690"/>
                    </a:cubicBezTo>
                    <a:lnTo>
                      <a:pt x="166688" y="129846"/>
                    </a:lnTo>
                    <a:cubicBezTo>
                      <a:pt x="143539" y="152536"/>
                      <a:pt x="106492" y="152536"/>
                      <a:pt x="83344" y="129846"/>
                    </a:cubicBezTo>
                    <a:cubicBezTo>
                      <a:pt x="60195" y="107156"/>
                      <a:pt x="23148" y="107156"/>
                      <a:pt x="0" y="129846"/>
                    </a:cubicBezTo>
                    <a:lnTo>
                      <a:pt x="0" y="22690"/>
                    </a:lnTo>
                  </a:path>
                </a:pathLst>
              </a:custGeom>
              <a:noFill/>
              <a:ln w="23812">
                <a:solidFill>
                  <a:srgbClr val="FFFFFF"/>
                </a:solidFill>
              </a:ln>
            </p:spPr>
          </p:sp>
          <p:sp>
            <p:nvSpPr>
              <p:cNvPr id="324" name="Freeform 324"/>
              <p:cNvSpPr/>
              <p:nvPr/>
            </p:nvSpPr>
            <p:spPr>
              <a:xfrm>
                <a:off x="535781" y="6091238"/>
                <a:ext cx="9525" cy="83344"/>
              </a:xfrm>
              <a:custGeom>
                <a:avLst/>
                <a:gdLst/>
                <a:ahLst/>
                <a:cxnLst/>
                <a:rect l="l" t="t" r="r" b="b"/>
                <a:pathLst>
                  <a:path w="9525" h="83344">
                    <a:moveTo>
                      <a:pt x="0" y="83344"/>
                    </a:moveTo>
                    <a:lnTo>
                      <a:pt x="0" y="0"/>
                    </a:lnTo>
                  </a:path>
                </a:pathLst>
              </a:custGeom>
              <a:noFill/>
              <a:ln w="23812">
                <a:solidFill>
                  <a:srgbClr val="FFFFFF"/>
                </a:solidFill>
              </a:ln>
            </p:spPr>
          </p:sp>
        </p:grpSp>
        <p:sp>
          <p:nvSpPr>
            <p:cNvPr id="326" name="TextBox 326"/>
            <p:cNvSpPr txBox="1"/>
            <p:nvPr/>
          </p:nvSpPr>
          <p:spPr>
            <a:xfrm>
              <a:off x="887730" y="5991225"/>
              <a:ext cx="183261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mn-lt"/>
                  <a:ea typeface="+mn-ea"/>
                  <a:cs typeface="+mn-cs"/>
                </a:rPr>
                <a:t>老板最后只看三件事</a:t>
              </a:r>
            </a:p>
          </p:txBody>
        </p:sp>
        <p:sp>
          <p:nvSpPr>
            <p:cNvPr id="327" name="Line 327"/>
            <p:cNvSpPr/>
            <p:nvPr/>
          </p:nvSpPr>
          <p:spPr>
            <a:xfrm>
              <a:off x="3143250" y="5905500"/>
              <a:ext cx="9525" cy="323850"/>
            </a:xfrm>
            <a:custGeom>
              <a:avLst/>
              <a:gdLst/>
              <a:ahLst/>
              <a:cxnLst/>
              <a:rect l="l" t="t" r="r" b="b"/>
              <a:pathLst>
                <a:path w="9525" h="323850">
                  <a:moveTo>
                    <a:pt x="0" y="0"/>
                  </a:moveTo>
                  <a:lnTo>
                    <a:pt x="0" y="323850"/>
                  </a:lnTo>
                </a:path>
              </a:pathLst>
            </a:custGeom>
            <a:noFill/>
            <a:ln w="14288">
              <a:solidFill>
                <a:srgbClr val="FFFFFF">
                  <a:alpha val="50000"/>
                </a:srgbClr>
              </a:solidFill>
            </a:ln>
          </p:spPr>
        </p:sp>
        <p:sp>
          <p:nvSpPr>
            <p:cNvPr id="328" name="TextBox 328"/>
            <p:cNvSpPr txBox="1"/>
            <p:nvPr/>
          </p:nvSpPr>
          <p:spPr>
            <a:xfrm>
              <a:off x="3473196" y="5935028"/>
              <a:ext cx="3458718" cy="498729"/>
            </a:xfrm>
            <a:prstGeom prst="rect">
              <a:avLst/>
            </a:prstGeom>
            <a:noFill/>
            <a:ln>
              <a:noFill/>
            </a:ln>
          </p:spPr>
          <p:txBody>
            <a:bodyPr wrap="none" lIns="0" tIns="0" rIns="0" bIns="0" anchor="t" anchorCtr="0">
              <a:spAutoFit/>
            </a:bodyPr>
            <a:lstStyle/>
            <a:p>
              <a:pPr algn="l"/>
              <a:r>
                <a:rPr lang="zh-CN" sz="2550" b="1" dirty="0">
                  <a:solidFill>
                    <a:srgbClr val="FFFFFF"/>
                  </a:solidFill>
                  <a:latin typeface="+mn-lt"/>
                  <a:ea typeface="+mn-ea"/>
                  <a:cs typeface="+mn-cs"/>
                </a:rPr>
                <a:t>我有</a:t>
              </a:r>
              <a:r>
                <a:rPr lang="zh-CN" sz="2550" b="1" dirty="0">
                  <a:solidFill>
                    <a:srgbClr val="FF725A"/>
                  </a:solidFill>
                  <a:latin typeface="+mn-lt"/>
                  <a:ea typeface="+mn-ea"/>
                  <a:cs typeface="+mn-cs"/>
                </a:rPr>
                <a:t>办法</a:t>
              </a:r>
              <a:r>
                <a:rPr lang="zh-CN" sz="2550" b="1" dirty="0">
                  <a:solidFill>
                    <a:srgbClr val="FFFFFF"/>
                  </a:solidFill>
                  <a:latin typeface="+mn-lt"/>
                  <a:ea typeface="+mn-ea"/>
                  <a:cs typeface="+mn-cs"/>
                </a:rPr>
                <a:t>，我需要</a:t>
              </a:r>
              <a:r>
                <a:rPr lang="zh-CN" sz="2550" b="1" dirty="0">
                  <a:solidFill>
                    <a:srgbClr val="FF725A"/>
                  </a:solidFill>
                  <a:latin typeface="+mn-lt"/>
                  <a:ea typeface="+mn-ea"/>
                  <a:cs typeface="+mn-cs"/>
                </a:rPr>
                <a:t>支持</a:t>
              </a:r>
            </a:p>
          </p:txBody>
        </p:sp>
      </p:gr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 name="cover-title-block"/>
          <p:cNvGrpSpPr/>
          <p:nvPr/>
        </p:nvGrpSpPr>
        <p:grpSpPr>
          <a:xfrm>
            <a:off x="514350" y="2153602"/>
            <a:ext cx="5798820" cy="1754982"/>
            <a:chOff x="514350" y="2153602"/>
            <a:chExt cx="5798820" cy="1754982"/>
          </a:xfrm>
        </p:grpSpPr>
        <p:sp>
          <p:nvSpPr>
            <p:cNvPr id="2" name="TextBox 2"/>
            <p:cNvSpPr txBox="1"/>
            <p:nvPr/>
          </p:nvSpPr>
          <p:spPr>
            <a:xfrm>
              <a:off x="514350" y="2153602"/>
              <a:ext cx="5798820" cy="790575"/>
            </a:xfrm>
            <a:prstGeom prst="rect">
              <a:avLst/>
            </a:prstGeom>
            <a:noFill/>
            <a:ln>
              <a:noFill/>
            </a:ln>
          </p:spPr>
          <p:txBody>
            <a:bodyPr wrap="none" lIns="0" tIns="0" rIns="0" bIns="0" anchor="t" anchorCtr="0">
              <a:spAutoFit/>
            </a:bodyPr>
            <a:lstStyle/>
            <a:p>
              <a:pPr algn="l"/>
              <a:r>
                <a:rPr lang="zh-CN" sz="4050" b="1" dirty="0">
                  <a:solidFill>
                    <a:srgbClr val="55251B"/>
                  </a:solidFill>
                  <a:latin typeface="+mj-lt"/>
                  <a:ea typeface="+mj-ea"/>
                  <a:cs typeface="+mj-cs"/>
                </a:rPr>
                <a:t>麦肯锡思维模型方法论</a:t>
              </a:r>
            </a:p>
          </p:txBody>
        </p:sp>
        <p:sp>
          <p:nvSpPr>
            <p:cNvPr id="3" name="Rectangle 3"/>
            <p:cNvSpPr/>
            <p:nvPr/>
          </p:nvSpPr>
          <p:spPr>
            <a:xfrm>
              <a:off x="552450" y="2781300"/>
              <a:ext cx="552450" cy="57150"/>
            </a:xfrm>
            <a:prstGeom prst="rect">
              <a:avLst/>
            </a:prstGeom>
            <a:solidFill>
              <a:srgbClr val="4E0D00"/>
            </a:solidFill>
            <a:ln>
              <a:noFill/>
            </a:ln>
          </p:spPr>
        </p:sp>
        <p:sp>
          <p:nvSpPr>
            <p:cNvPr id="4" name="Line 4"/>
            <p:cNvSpPr/>
            <p:nvPr/>
          </p:nvSpPr>
          <p:spPr>
            <a:xfrm>
              <a:off x="1200150" y="2809875"/>
              <a:ext cx="4724400" cy="9525"/>
            </a:xfrm>
            <a:custGeom>
              <a:avLst/>
              <a:gdLst/>
              <a:ahLst/>
              <a:cxnLst/>
              <a:rect l="l" t="t" r="r" b="b"/>
              <a:pathLst>
                <a:path w="4724400" h="9525">
                  <a:moveTo>
                    <a:pt x="0" y="0"/>
                  </a:moveTo>
                  <a:lnTo>
                    <a:pt x="4724400" y="0"/>
                  </a:lnTo>
                </a:path>
              </a:pathLst>
            </a:custGeom>
            <a:noFill/>
            <a:ln w="14288">
              <a:solidFill>
                <a:srgbClr val="C9D3E4"/>
              </a:solidFill>
            </a:ln>
          </p:spPr>
        </p:sp>
        <p:sp>
          <p:nvSpPr>
            <p:cNvPr id="5" name="TextBox 5"/>
            <p:cNvSpPr txBox="1"/>
            <p:nvPr/>
          </p:nvSpPr>
          <p:spPr>
            <a:xfrm>
              <a:off x="526923" y="3138964"/>
              <a:ext cx="5234056" cy="249364"/>
            </a:xfrm>
            <a:prstGeom prst="rect">
              <a:avLst/>
            </a:prstGeom>
            <a:noFill/>
            <a:ln>
              <a:noFill/>
            </a:ln>
          </p:spPr>
          <p:txBody>
            <a:bodyPr wrap="none" lIns="0" tIns="0" rIns="0" bIns="0" anchor="t" anchorCtr="0">
              <a:spAutoFit/>
            </a:bodyPr>
            <a:lstStyle/>
            <a:p>
              <a:pPr algn="l"/>
              <a:r>
                <a:rPr lang="zh-CN" sz="1280" dirty="0">
                  <a:solidFill>
                    <a:srgbClr val="563F3A"/>
                  </a:solidFill>
                  <a:latin typeface="+mn-lt"/>
                  <a:ea typeface="+mn-ea"/>
                  <a:cs typeface="+mn-cs"/>
                </a:rPr>
                <a:t>问题定义 × 结构拆解 × 战略判断 × 增长选择 × 组织变革 × 决策表达​</a:t>
              </a:r>
            </a:p>
          </p:txBody>
        </p:sp>
        <p:sp>
          <p:nvSpPr>
            <p:cNvPr id="6" name="Rectangle 6"/>
            <p:cNvSpPr/>
            <p:nvPr/>
          </p:nvSpPr>
          <p:spPr>
            <a:xfrm>
              <a:off x="533400" y="3657600"/>
              <a:ext cx="33338" cy="190500"/>
            </a:xfrm>
            <a:prstGeom prst="rect">
              <a:avLst/>
            </a:prstGeom>
            <a:solidFill>
              <a:srgbClr val="4E0D00"/>
            </a:solidFill>
            <a:ln>
              <a:noFill/>
            </a:ln>
          </p:spPr>
        </p:sp>
        <p:sp>
          <p:nvSpPr>
            <p:cNvPr id="7" name="TextBox 7"/>
            <p:cNvSpPr txBox="1"/>
            <p:nvPr/>
          </p:nvSpPr>
          <p:spPr>
            <a:xfrm>
              <a:off x="661035" y="3688556"/>
              <a:ext cx="2589672" cy="220028"/>
            </a:xfrm>
            <a:prstGeom prst="rect">
              <a:avLst/>
            </a:prstGeom>
            <a:noFill/>
            <a:ln>
              <a:noFill/>
            </a:ln>
          </p:spPr>
          <p:txBody>
            <a:bodyPr wrap="none" lIns="0" tIns="0" rIns="0" bIns="0" anchor="t" anchorCtr="0">
              <a:spAutoFit/>
            </a:bodyPr>
            <a:lstStyle/>
            <a:p>
              <a:pPr algn="l"/>
              <a:r>
                <a:rPr lang="zh-CN" sz="1120" dirty="0">
                  <a:solidFill>
                    <a:srgbClr val="684F4A"/>
                  </a:solidFill>
                  <a:latin typeface="+mn-lt"/>
                  <a:ea typeface="+mn-ea"/>
                  <a:cs typeface="+mn-cs"/>
                </a:rPr>
                <a:t>16个核心模型｜从复杂问题到组织影响</a:t>
              </a:r>
            </a:p>
          </p:txBody>
        </p:sp>
      </p:grpSp>
      <p:grpSp>
        <p:nvGrpSpPr>
          <p:cNvPr id="84" name="cover-network"/>
          <p:cNvGrpSpPr/>
          <p:nvPr/>
        </p:nvGrpSpPr>
        <p:grpSpPr>
          <a:xfrm>
            <a:off x="6316258" y="286933"/>
            <a:ext cx="6131734" cy="6131734"/>
            <a:chOff x="6316258" y="286933"/>
            <a:chExt cx="6131734" cy="6131734"/>
          </a:xfrm>
        </p:grpSpPr>
        <p:sp>
          <p:nvSpPr>
            <p:cNvPr id="9" name="Ellipse 9"/>
            <p:cNvSpPr/>
            <p:nvPr/>
          </p:nvSpPr>
          <p:spPr>
            <a:xfrm rot="7080000">
              <a:off x="7115175" y="1085850"/>
              <a:ext cx="4533900" cy="4533900"/>
            </a:xfrm>
            <a:prstGeom prst="ellipse">
              <a:avLst/>
            </a:prstGeom>
            <a:noFill/>
            <a:ln w="228600">
              <a:solidFill>
                <a:srgbClr val="EEF3FA"/>
              </a:solidFill>
              <a:custDash>
                <a:ds d="1958333" sp="4270833"/>
              </a:custDash>
            </a:ln>
          </p:spPr>
        </p:sp>
        <p:sp>
          <p:nvSpPr>
            <p:cNvPr id="10" name="Ellipse 10"/>
            <p:cNvSpPr/>
            <p:nvPr/>
          </p:nvSpPr>
          <p:spPr>
            <a:xfrm rot="-2760000">
              <a:off x="7419975" y="1390650"/>
              <a:ext cx="3924300" cy="3924300"/>
            </a:xfrm>
            <a:prstGeom prst="ellipse">
              <a:avLst/>
            </a:prstGeom>
            <a:noFill/>
            <a:ln w="285750">
              <a:solidFill>
                <a:srgbClr val="E4EBF6"/>
              </a:solidFill>
              <a:custDash>
                <a:ds d="2000000" sp="2316667"/>
              </a:custDash>
            </a:ln>
          </p:spPr>
        </p:sp>
        <p:sp>
          <p:nvSpPr>
            <p:cNvPr id="11" name="Ellipse 11"/>
            <p:cNvSpPr/>
            <p:nvPr/>
          </p:nvSpPr>
          <p:spPr>
            <a:xfrm>
              <a:off x="7972425" y="1943100"/>
              <a:ext cx="2819400" cy="2819400"/>
            </a:xfrm>
            <a:prstGeom prst="ellipse">
              <a:avLst/>
            </a:prstGeom>
            <a:noFill/>
            <a:ln w="11430">
              <a:solidFill>
                <a:srgbClr val="D9B1A9"/>
              </a:solidFill>
              <a:custDash>
                <a:ds d="333333" sp="500000"/>
              </a:custDash>
            </a:ln>
          </p:spPr>
        </p:sp>
        <p:grpSp>
          <p:nvGrpSpPr>
            <p:cNvPr id="32" name="net-mesh"/>
            <p:cNvGrpSpPr/>
            <p:nvPr/>
          </p:nvGrpSpPr>
          <p:grpSpPr>
            <a:xfrm>
              <a:off x="7972425" y="1943100"/>
              <a:ext cx="2819400" cy="2819400"/>
              <a:chOff x="7972425" y="1943100"/>
              <a:chExt cx="2819400" cy="2819400"/>
            </a:xfrm>
          </p:grpSpPr>
          <p:sp>
            <p:nvSpPr>
              <p:cNvPr id="12" name="Line 12"/>
              <p:cNvSpPr/>
              <p:nvPr/>
            </p:nvSpPr>
            <p:spPr>
              <a:xfrm>
                <a:off x="10601325" y="3352800"/>
                <a:ext cx="190500" cy="704850"/>
              </a:xfrm>
              <a:custGeom>
                <a:avLst/>
                <a:gdLst/>
                <a:ahLst/>
                <a:cxnLst/>
                <a:rect l="l" t="t" r="r" b="b"/>
                <a:pathLst>
                  <a:path w="190500" h="704850">
                    <a:moveTo>
                      <a:pt x="190500" y="0"/>
                    </a:moveTo>
                    <a:lnTo>
                      <a:pt x="0" y="704850"/>
                    </a:lnTo>
                  </a:path>
                </a:pathLst>
              </a:custGeom>
              <a:noFill/>
              <a:ln w="11430">
                <a:solidFill>
                  <a:srgbClr val="C4D0E6"/>
                </a:solidFill>
              </a:ln>
            </p:spPr>
          </p:sp>
          <p:sp>
            <p:nvSpPr>
              <p:cNvPr id="13" name="Line 13"/>
              <p:cNvSpPr/>
              <p:nvPr/>
            </p:nvSpPr>
            <p:spPr>
              <a:xfrm>
                <a:off x="10067925" y="4057650"/>
                <a:ext cx="533400" cy="542925"/>
              </a:xfrm>
              <a:custGeom>
                <a:avLst/>
                <a:gdLst/>
                <a:ahLst/>
                <a:cxnLst/>
                <a:rect l="l" t="t" r="r" b="b"/>
                <a:pathLst>
                  <a:path w="533400" h="542925">
                    <a:moveTo>
                      <a:pt x="533400" y="0"/>
                    </a:moveTo>
                    <a:lnTo>
                      <a:pt x="0" y="542925"/>
                    </a:lnTo>
                  </a:path>
                </a:pathLst>
              </a:custGeom>
              <a:noFill/>
              <a:ln w="11430">
                <a:solidFill>
                  <a:srgbClr val="C4D0E6"/>
                </a:solidFill>
              </a:ln>
            </p:spPr>
          </p:sp>
          <p:sp>
            <p:nvSpPr>
              <p:cNvPr id="14" name="Line 14"/>
              <p:cNvSpPr/>
              <p:nvPr/>
            </p:nvSpPr>
            <p:spPr>
              <a:xfrm>
                <a:off x="9382125" y="4600575"/>
                <a:ext cx="685800" cy="161925"/>
              </a:xfrm>
              <a:custGeom>
                <a:avLst/>
                <a:gdLst/>
                <a:ahLst/>
                <a:cxnLst/>
                <a:rect l="l" t="t" r="r" b="b"/>
                <a:pathLst>
                  <a:path w="685800" h="161925">
                    <a:moveTo>
                      <a:pt x="685800" y="0"/>
                    </a:moveTo>
                    <a:lnTo>
                      <a:pt x="0" y="161925"/>
                    </a:lnTo>
                  </a:path>
                </a:pathLst>
              </a:custGeom>
              <a:noFill/>
              <a:ln w="11430">
                <a:solidFill>
                  <a:srgbClr val="C4D0E6"/>
                </a:solidFill>
              </a:ln>
            </p:spPr>
          </p:sp>
          <p:sp>
            <p:nvSpPr>
              <p:cNvPr id="15" name="Line 15"/>
              <p:cNvSpPr/>
              <p:nvPr/>
            </p:nvSpPr>
            <p:spPr>
              <a:xfrm>
                <a:off x="8696325" y="4600575"/>
                <a:ext cx="685800" cy="161925"/>
              </a:xfrm>
              <a:custGeom>
                <a:avLst/>
                <a:gdLst/>
                <a:ahLst/>
                <a:cxnLst/>
                <a:rect l="l" t="t" r="r" b="b"/>
                <a:pathLst>
                  <a:path w="685800" h="161925">
                    <a:moveTo>
                      <a:pt x="685800" y="161925"/>
                    </a:moveTo>
                    <a:lnTo>
                      <a:pt x="0" y="0"/>
                    </a:lnTo>
                  </a:path>
                </a:pathLst>
              </a:custGeom>
              <a:noFill/>
              <a:ln w="11430">
                <a:solidFill>
                  <a:srgbClr val="C4D0E6"/>
                </a:solidFill>
              </a:ln>
            </p:spPr>
          </p:sp>
          <p:sp>
            <p:nvSpPr>
              <p:cNvPr id="16" name="Line 16"/>
              <p:cNvSpPr/>
              <p:nvPr/>
            </p:nvSpPr>
            <p:spPr>
              <a:xfrm>
                <a:off x="8162925" y="4057650"/>
                <a:ext cx="533400" cy="542925"/>
              </a:xfrm>
              <a:custGeom>
                <a:avLst/>
                <a:gdLst/>
                <a:ahLst/>
                <a:cxnLst/>
                <a:rect l="l" t="t" r="r" b="b"/>
                <a:pathLst>
                  <a:path w="533400" h="542925">
                    <a:moveTo>
                      <a:pt x="533400" y="542925"/>
                    </a:moveTo>
                    <a:lnTo>
                      <a:pt x="0" y="0"/>
                    </a:lnTo>
                  </a:path>
                </a:pathLst>
              </a:custGeom>
              <a:noFill/>
              <a:ln w="11430">
                <a:solidFill>
                  <a:srgbClr val="C4D0E6"/>
                </a:solidFill>
              </a:ln>
            </p:spPr>
          </p:sp>
          <p:sp>
            <p:nvSpPr>
              <p:cNvPr id="17" name="Line 17"/>
              <p:cNvSpPr/>
              <p:nvPr/>
            </p:nvSpPr>
            <p:spPr>
              <a:xfrm>
                <a:off x="7972425" y="3352800"/>
                <a:ext cx="190500" cy="704850"/>
              </a:xfrm>
              <a:custGeom>
                <a:avLst/>
                <a:gdLst/>
                <a:ahLst/>
                <a:cxnLst/>
                <a:rect l="l" t="t" r="r" b="b"/>
                <a:pathLst>
                  <a:path w="190500" h="704850">
                    <a:moveTo>
                      <a:pt x="190500" y="704850"/>
                    </a:moveTo>
                    <a:lnTo>
                      <a:pt x="0" y="0"/>
                    </a:lnTo>
                  </a:path>
                </a:pathLst>
              </a:custGeom>
              <a:noFill/>
              <a:ln w="11430">
                <a:solidFill>
                  <a:srgbClr val="C4D0E6"/>
                </a:solidFill>
              </a:ln>
            </p:spPr>
          </p:sp>
          <p:sp>
            <p:nvSpPr>
              <p:cNvPr id="18" name="Line 18"/>
              <p:cNvSpPr/>
              <p:nvPr/>
            </p:nvSpPr>
            <p:spPr>
              <a:xfrm>
                <a:off x="7972425" y="2647950"/>
                <a:ext cx="190500" cy="704850"/>
              </a:xfrm>
              <a:custGeom>
                <a:avLst/>
                <a:gdLst/>
                <a:ahLst/>
                <a:cxnLst/>
                <a:rect l="l" t="t" r="r" b="b"/>
                <a:pathLst>
                  <a:path w="190500" h="704850">
                    <a:moveTo>
                      <a:pt x="0" y="704850"/>
                    </a:moveTo>
                    <a:lnTo>
                      <a:pt x="190500" y="0"/>
                    </a:lnTo>
                  </a:path>
                </a:pathLst>
              </a:custGeom>
              <a:noFill/>
              <a:ln w="11430">
                <a:solidFill>
                  <a:srgbClr val="C4D0E6"/>
                </a:solidFill>
              </a:ln>
            </p:spPr>
          </p:sp>
          <p:sp>
            <p:nvSpPr>
              <p:cNvPr id="19" name="Line 19"/>
              <p:cNvSpPr/>
              <p:nvPr/>
            </p:nvSpPr>
            <p:spPr>
              <a:xfrm>
                <a:off x="8162925" y="2105025"/>
                <a:ext cx="533400" cy="542925"/>
              </a:xfrm>
              <a:custGeom>
                <a:avLst/>
                <a:gdLst/>
                <a:ahLst/>
                <a:cxnLst/>
                <a:rect l="l" t="t" r="r" b="b"/>
                <a:pathLst>
                  <a:path w="533400" h="542925">
                    <a:moveTo>
                      <a:pt x="0" y="542925"/>
                    </a:moveTo>
                    <a:lnTo>
                      <a:pt x="533400" y="0"/>
                    </a:lnTo>
                  </a:path>
                </a:pathLst>
              </a:custGeom>
              <a:noFill/>
              <a:ln w="11430">
                <a:solidFill>
                  <a:srgbClr val="C4D0E6"/>
                </a:solidFill>
              </a:ln>
            </p:spPr>
          </p:sp>
          <p:sp>
            <p:nvSpPr>
              <p:cNvPr id="20" name="Line 20"/>
              <p:cNvSpPr/>
              <p:nvPr/>
            </p:nvSpPr>
            <p:spPr>
              <a:xfrm>
                <a:off x="8696325" y="1943100"/>
                <a:ext cx="685800" cy="161925"/>
              </a:xfrm>
              <a:custGeom>
                <a:avLst/>
                <a:gdLst/>
                <a:ahLst/>
                <a:cxnLst/>
                <a:rect l="l" t="t" r="r" b="b"/>
                <a:pathLst>
                  <a:path w="685800" h="161925">
                    <a:moveTo>
                      <a:pt x="0" y="161925"/>
                    </a:moveTo>
                    <a:lnTo>
                      <a:pt x="685800" y="0"/>
                    </a:lnTo>
                  </a:path>
                </a:pathLst>
              </a:custGeom>
              <a:noFill/>
              <a:ln w="11430">
                <a:solidFill>
                  <a:srgbClr val="C4D0E6"/>
                </a:solidFill>
              </a:ln>
            </p:spPr>
          </p:sp>
          <p:sp>
            <p:nvSpPr>
              <p:cNvPr id="21" name="Line 21"/>
              <p:cNvSpPr/>
              <p:nvPr/>
            </p:nvSpPr>
            <p:spPr>
              <a:xfrm>
                <a:off x="9382125" y="1943100"/>
                <a:ext cx="685800" cy="161925"/>
              </a:xfrm>
              <a:custGeom>
                <a:avLst/>
                <a:gdLst/>
                <a:ahLst/>
                <a:cxnLst/>
                <a:rect l="l" t="t" r="r" b="b"/>
                <a:pathLst>
                  <a:path w="685800" h="161925">
                    <a:moveTo>
                      <a:pt x="0" y="0"/>
                    </a:moveTo>
                    <a:lnTo>
                      <a:pt x="685800" y="161925"/>
                    </a:lnTo>
                  </a:path>
                </a:pathLst>
              </a:custGeom>
              <a:noFill/>
              <a:ln w="11430">
                <a:solidFill>
                  <a:srgbClr val="C4D0E6"/>
                </a:solidFill>
              </a:ln>
            </p:spPr>
          </p:sp>
          <p:sp>
            <p:nvSpPr>
              <p:cNvPr id="22" name="Line 22"/>
              <p:cNvSpPr/>
              <p:nvPr/>
            </p:nvSpPr>
            <p:spPr>
              <a:xfrm>
                <a:off x="10067925" y="2105025"/>
                <a:ext cx="533400" cy="542925"/>
              </a:xfrm>
              <a:custGeom>
                <a:avLst/>
                <a:gdLst/>
                <a:ahLst/>
                <a:cxnLst/>
                <a:rect l="l" t="t" r="r" b="b"/>
                <a:pathLst>
                  <a:path w="533400" h="542925">
                    <a:moveTo>
                      <a:pt x="0" y="0"/>
                    </a:moveTo>
                    <a:lnTo>
                      <a:pt x="533400" y="542925"/>
                    </a:lnTo>
                  </a:path>
                </a:pathLst>
              </a:custGeom>
              <a:noFill/>
              <a:ln w="11430">
                <a:solidFill>
                  <a:srgbClr val="C4D0E6"/>
                </a:solidFill>
              </a:ln>
            </p:spPr>
          </p:sp>
          <p:sp>
            <p:nvSpPr>
              <p:cNvPr id="23" name="Line 23"/>
              <p:cNvSpPr/>
              <p:nvPr/>
            </p:nvSpPr>
            <p:spPr>
              <a:xfrm>
                <a:off x="10601325" y="2647950"/>
                <a:ext cx="190500" cy="704850"/>
              </a:xfrm>
              <a:custGeom>
                <a:avLst/>
                <a:gdLst/>
                <a:ahLst/>
                <a:cxnLst/>
                <a:rect l="l" t="t" r="r" b="b"/>
                <a:pathLst>
                  <a:path w="190500" h="704850">
                    <a:moveTo>
                      <a:pt x="0" y="0"/>
                    </a:moveTo>
                    <a:lnTo>
                      <a:pt x="190500" y="704850"/>
                    </a:lnTo>
                  </a:path>
                </a:pathLst>
              </a:custGeom>
              <a:noFill/>
              <a:ln w="11430">
                <a:solidFill>
                  <a:srgbClr val="C4D0E6"/>
                </a:solidFill>
              </a:ln>
            </p:spPr>
          </p:sp>
          <p:sp>
            <p:nvSpPr>
              <p:cNvPr id="24" name="Line 24"/>
              <p:cNvSpPr/>
              <p:nvPr/>
            </p:nvSpPr>
            <p:spPr>
              <a:xfrm>
                <a:off x="9972675" y="2762250"/>
                <a:ext cx="438150" cy="228600"/>
              </a:xfrm>
              <a:custGeom>
                <a:avLst/>
                <a:gdLst/>
                <a:ahLst/>
                <a:cxnLst/>
                <a:rect l="l" t="t" r="r" b="b"/>
                <a:pathLst>
                  <a:path w="438150" h="228600">
                    <a:moveTo>
                      <a:pt x="0" y="0"/>
                    </a:moveTo>
                    <a:lnTo>
                      <a:pt x="438150" y="228600"/>
                    </a:lnTo>
                  </a:path>
                </a:pathLst>
              </a:custGeom>
              <a:noFill/>
              <a:ln w="11430">
                <a:solidFill>
                  <a:srgbClr val="C4D0E6"/>
                </a:solidFill>
              </a:ln>
            </p:spPr>
          </p:sp>
          <p:sp>
            <p:nvSpPr>
              <p:cNvPr id="25" name="Line 25"/>
              <p:cNvSpPr/>
              <p:nvPr/>
            </p:nvSpPr>
            <p:spPr>
              <a:xfrm>
                <a:off x="9972675" y="3714750"/>
                <a:ext cx="438150" cy="228600"/>
              </a:xfrm>
              <a:custGeom>
                <a:avLst/>
                <a:gdLst/>
                <a:ahLst/>
                <a:cxnLst/>
                <a:rect l="l" t="t" r="r" b="b"/>
                <a:pathLst>
                  <a:path w="438150" h="228600">
                    <a:moveTo>
                      <a:pt x="0" y="228600"/>
                    </a:moveTo>
                    <a:lnTo>
                      <a:pt x="438150" y="0"/>
                    </a:lnTo>
                  </a:path>
                </a:pathLst>
              </a:custGeom>
              <a:noFill/>
              <a:ln w="11430">
                <a:solidFill>
                  <a:srgbClr val="C4D0E6"/>
                </a:solidFill>
              </a:ln>
            </p:spPr>
          </p:sp>
          <p:sp>
            <p:nvSpPr>
              <p:cNvPr id="26" name="Line 26"/>
              <p:cNvSpPr/>
              <p:nvPr/>
            </p:nvSpPr>
            <p:spPr>
              <a:xfrm>
                <a:off x="8353425" y="2762250"/>
                <a:ext cx="438150" cy="228600"/>
              </a:xfrm>
              <a:custGeom>
                <a:avLst/>
                <a:gdLst/>
                <a:ahLst/>
                <a:cxnLst/>
                <a:rect l="l" t="t" r="r" b="b"/>
                <a:pathLst>
                  <a:path w="438150" h="228600">
                    <a:moveTo>
                      <a:pt x="438150" y="0"/>
                    </a:moveTo>
                    <a:lnTo>
                      <a:pt x="0" y="228600"/>
                    </a:lnTo>
                  </a:path>
                </a:pathLst>
              </a:custGeom>
              <a:noFill/>
              <a:ln w="11430">
                <a:solidFill>
                  <a:srgbClr val="C4D0E6"/>
                </a:solidFill>
              </a:ln>
            </p:spPr>
          </p:sp>
          <p:sp>
            <p:nvSpPr>
              <p:cNvPr id="27" name="Line 27"/>
              <p:cNvSpPr/>
              <p:nvPr/>
            </p:nvSpPr>
            <p:spPr>
              <a:xfrm>
                <a:off x="8353425" y="3714750"/>
                <a:ext cx="438150" cy="228600"/>
              </a:xfrm>
              <a:custGeom>
                <a:avLst/>
                <a:gdLst/>
                <a:ahLst/>
                <a:cxnLst/>
                <a:rect l="l" t="t" r="r" b="b"/>
                <a:pathLst>
                  <a:path w="438150" h="228600">
                    <a:moveTo>
                      <a:pt x="438150" y="228600"/>
                    </a:moveTo>
                    <a:lnTo>
                      <a:pt x="0" y="0"/>
                    </a:lnTo>
                  </a:path>
                </a:pathLst>
              </a:custGeom>
              <a:noFill/>
              <a:ln w="11430">
                <a:solidFill>
                  <a:srgbClr val="C4D0E6"/>
                </a:solidFill>
              </a:ln>
            </p:spPr>
          </p:sp>
          <p:sp>
            <p:nvSpPr>
              <p:cNvPr id="28" name="Line 28"/>
              <p:cNvSpPr/>
              <p:nvPr/>
            </p:nvSpPr>
            <p:spPr>
              <a:xfrm>
                <a:off x="9972675" y="2190750"/>
                <a:ext cx="9525" cy="571500"/>
              </a:xfrm>
              <a:custGeom>
                <a:avLst/>
                <a:gdLst/>
                <a:ahLst/>
                <a:cxnLst/>
                <a:rect l="l" t="t" r="r" b="b"/>
                <a:pathLst>
                  <a:path w="9525" h="571500">
                    <a:moveTo>
                      <a:pt x="0" y="571500"/>
                    </a:moveTo>
                    <a:lnTo>
                      <a:pt x="0" y="0"/>
                    </a:lnTo>
                  </a:path>
                </a:pathLst>
              </a:custGeom>
              <a:noFill/>
              <a:ln w="11430">
                <a:solidFill>
                  <a:srgbClr val="C4D0E6"/>
                </a:solidFill>
              </a:ln>
            </p:spPr>
          </p:sp>
          <p:sp>
            <p:nvSpPr>
              <p:cNvPr id="29" name="Line 29"/>
              <p:cNvSpPr/>
              <p:nvPr/>
            </p:nvSpPr>
            <p:spPr>
              <a:xfrm>
                <a:off x="8791575" y="3943350"/>
                <a:ext cx="9525" cy="571500"/>
              </a:xfrm>
              <a:custGeom>
                <a:avLst/>
                <a:gdLst/>
                <a:ahLst/>
                <a:cxnLst/>
                <a:rect l="l" t="t" r="r" b="b"/>
                <a:pathLst>
                  <a:path w="9525" h="571500">
                    <a:moveTo>
                      <a:pt x="0" y="0"/>
                    </a:moveTo>
                    <a:lnTo>
                      <a:pt x="0" y="571500"/>
                    </a:lnTo>
                  </a:path>
                </a:pathLst>
              </a:custGeom>
              <a:noFill/>
              <a:ln w="11430">
                <a:solidFill>
                  <a:srgbClr val="C4D0E6"/>
                </a:solidFill>
              </a:ln>
            </p:spPr>
          </p:sp>
          <p:sp>
            <p:nvSpPr>
              <p:cNvPr id="30" name="Line 30"/>
              <p:cNvSpPr/>
              <p:nvPr/>
            </p:nvSpPr>
            <p:spPr>
              <a:xfrm>
                <a:off x="9972675" y="3943350"/>
                <a:ext cx="9525" cy="571500"/>
              </a:xfrm>
              <a:custGeom>
                <a:avLst/>
                <a:gdLst/>
                <a:ahLst/>
                <a:cxnLst/>
                <a:rect l="l" t="t" r="r" b="b"/>
                <a:pathLst>
                  <a:path w="9525" h="571500">
                    <a:moveTo>
                      <a:pt x="0" y="0"/>
                    </a:moveTo>
                    <a:lnTo>
                      <a:pt x="0" y="571500"/>
                    </a:lnTo>
                  </a:path>
                </a:pathLst>
              </a:custGeom>
              <a:noFill/>
              <a:ln w="11430">
                <a:solidFill>
                  <a:srgbClr val="C4D0E6"/>
                </a:solidFill>
              </a:ln>
            </p:spPr>
          </p:sp>
          <p:sp>
            <p:nvSpPr>
              <p:cNvPr id="31" name="Line 31"/>
              <p:cNvSpPr/>
              <p:nvPr/>
            </p:nvSpPr>
            <p:spPr>
              <a:xfrm>
                <a:off x="8791575" y="2190750"/>
                <a:ext cx="9525" cy="571500"/>
              </a:xfrm>
              <a:custGeom>
                <a:avLst/>
                <a:gdLst/>
                <a:ahLst/>
                <a:cxnLst/>
                <a:rect l="l" t="t" r="r" b="b"/>
                <a:pathLst>
                  <a:path w="9525" h="571500">
                    <a:moveTo>
                      <a:pt x="0" y="571500"/>
                    </a:moveTo>
                    <a:lnTo>
                      <a:pt x="0" y="0"/>
                    </a:lnTo>
                  </a:path>
                </a:pathLst>
              </a:custGeom>
              <a:noFill/>
              <a:ln w="11430">
                <a:solidFill>
                  <a:srgbClr val="C4D0E6"/>
                </a:solidFill>
              </a:ln>
            </p:spPr>
          </p:sp>
        </p:grpSp>
        <p:grpSp>
          <p:nvGrpSpPr>
            <p:cNvPr id="53" name="net-inner"/>
            <p:cNvGrpSpPr/>
            <p:nvPr/>
          </p:nvGrpSpPr>
          <p:grpSpPr>
            <a:xfrm>
              <a:off x="8953500" y="1981200"/>
              <a:ext cx="1019175" cy="2743200"/>
              <a:chOff x="8953500" y="1981200"/>
              <a:chExt cx="1019175" cy="2743200"/>
            </a:xfrm>
          </p:grpSpPr>
          <p:sp>
            <p:nvSpPr>
              <p:cNvPr id="33" name="Line 33"/>
              <p:cNvSpPr/>
              <p:nvPr/>
            </p:nvSpPr>
            <p:spPr>
              <a:xfrm>
                <a:off x="9782175" y="2762250"/>
                <a:ext cx="190500" cy="209550"/>
              </a:xfrm>
              <a:custGeom>
                <a:avLst/>
                <a:gdLst/>
                <a:ahLst/>
                <a:cxnLst/>
                <a:rect l="l" t="t" r="r" b="b"/>
                <a:pathLst>
                  <a:path w="190500" h="209550">
                    <a:moveTo>
                      <a:pt x="190500" y="0"/>
                    </a:moveTo>
                    <a:lnTo>
                      <a:pt x="0" y="209550"/>
                    </a:lnTo>
                  </a:path>
                </a:pathLst>
              </a:custGeom>
              <a:noFill/>
              <a:ln w="9525">
                <a:solidFill>
                  <a:srgbClr val="C4D0E6"/>
                </a:solidFill>
              </a:ln>
            </p:spPr>
          </p:sp>
          <p:sp>
            <p:nvSpPr>
              <p:cNvPr id="34" name="Line 34"/>
              <p:cNvSpPr/>
              <p:nvPr/>
            </p:nvSpPr>
            <p:spPr>
              <a:xfrm>
                <a:off x="9525000" y="2971800"/>
                <a:ext cx="257175" cy="76200"/>
              </a:xfrm>
              <a:custGeom>
                <a:avLst/>
                <a:gdLst/>
                <a:ahLst/>
                <a:cxnLst/>
                <a:rect l="l" t="t" r="r" b="b"/>
                <a:pathLst>
                  <a:path w="257175" h="76200">
                    <a:moveTo>
                      <a:pt x="257175" y="0"/>
                    </a:moveTo>
                    <a:lnTo>
                      <a:pt x="0" y="76200"/>
                    </a:lnTo>
                  </a:path>
                </a:pathLst>
              </a:custGeom>
              <a:noFill/>
              <a:ln w="9525">
                <a:solidFill>
                  <a:srgbClr val="C4D0E6"/>
                </a:solidFill>
              </a:ln>
            </p:spPr>
          </p:sp>
          <p:sp>
            <p:nvSpPr>
              <p:cNvPr id="35" name="Line 35"/>
              <p:cNvSpPr/>
              <p:nvPr/>
            </p:nvSpPr>
            <p:spPr>
              <a:xfrm>
                <a:off x="9258300" y="2990850"/>
                <a:ext cx="266700" cy="57150"/>
              </a:xfrm>
              <a:custGeom>
                <a:avLst/>
                <a:gdLst/>
                <a:ahLst/>
                <a:cxnLst/>
                <a:rect l="l" t="t" r="r" b="b"/>
                <a:pathLst>
                  <a:path w="266700" h="57150">
                    <a:moveTo>
                      <a:pt x="266700" y="57150"/>
                    </a:moveTo>
                    <a:lnTo>
                      <a:pt x="0" y="0"/>
                    </a:lnTo>
                  </a:path>
                </a:pathLst>
              </a:custGeom>
              <a:noFill/>
              <a:ln w="9525">
                <a:solidFill>
                  <a:srgbClr val="C4D0E6"/>
                </a:solidFill>
              </a:ln>
            </p:spPr>
          </p:sp>
          <p:sp>
            <p:nvSpPr>
              <p:cNvPr id="36" name="Line 36"/>
              <p:cNvSpPr/>
              <p:nvPr/>
            </p:nvSpPr>
            <p:spPr>
              <a:xfrm>
                <a:off x="9039225" y="2781300"/>
                <a:ext cx="219075" cy="209550"/>
              </a:xfrm>
              <a:custGeom>
                <a:avLst/>
                <a:gdLst/>
                <a:ahLst/>
                <a:cxnLst/>
                <a:rect l="l" t="t" r="r" b="b"/>
                <a:pathLst>
                  <a:path w="219075" h="209550">
                    <a:moveTo>
                      <a:pt x="219075" y="209550"/>
                    </a:moveTo>
                    <a:lnTo>
                      <a:pt x="0" y="0"/>
                    </a:lnTo>
                  </a:path>
                </a:pathLst>
              </a:custGeom>
              <a:noFill/>
              <a:ln w="9525">
                <a:solidFill>
                  <a:srgbClr val="C4D0E6"/>
                </a:solidFill>
              </a:ln>
            </p:spPr>
          </p:sp>
          <p:sp>
            <p:nvSpPr>
              <p:cNvPr id="37" name="Line 37"/>
              <p:cNvSpPr/>
              <p:nvPr/>
            </p:nvSpPr>
            <p:spPr>
              <a:xfrm>
                <a:off x="8953500" y="2524125"/>
                <a:ext cx="85725" cy="257175"/>
              </a:xfrm>
              <a:custGeom>
                <a:avLst/>
                <a:gdLst/>
                <a:ahLst/>
                <a:cxnLst/>
                <a:rect l="l" t="t" r="r" b="b"/>
                <a:pathLst>
                  <a:path w="85725" h="257175">
                    <a:moveTo>
                      <a:pt x="85725" y="257175"/>
                    </a:moveTo>
                    <a:lnTo>
                      <a:pt x="0" y="0"/>
                    </a:lnTo>
                  </a:path>
                </a:pathLst>
              </a:custGeom>
              <a:noFill/>
              <a:ln w="9525">
                <a:solidFill>
                  <a:srgbClr val="C4D0E6"/>
                </a:solidFill>
              </a:ln>
            </p:spPr>
          </p:sp>
          <p:sp>
            <p:nvSpPr>
              <p:cNvPr id="38" name="Line 38"/>
              <p:cNvSpPr/>
              <p:nvPr/>
            </p:nvSpPr>
            <p:spPr>
              <a:xfrm>
                <a:off x="8953500" y="2266950"/>
                <a:ext cx="85725" cy="257175"/>
              </a:xfrm>
              <a:custGeom>
                <a:avLst/>
                <a:gdLst/>
                <a:ahLst/>
                <a:cxnLst/>
                <a:rect l="l" t="t" r="r" b="b"/>
                <a:pathLst>
                  <a:path w="85725" h="257175">
                    <a:moveTo>
                      <a:pt x="0" y="257175"/>
                    </a:moveTo>
                    <a:lnTo>
                      <a:pt x="85725" y="0"/>
                    </a:lnTo>
                  </a:path>
                </a:pathLst>
              </a:custGeom>
              <a:noFill/>
              <a:ln w="9525">
                <a:solidFill>
                  <a:srgbClr val="C4D0E6"/>
                </a:solidFill>
              </a:ln>
            </p:spPr>
          </p:sp>
          <p:sp>
            <p:nvSpPr>
              <p:cNvPr id="39" name="Line 39"/>
              <p:cNvSpPr/>
              <p:nvPr/>
            </p:nvSpPr>
            <p:spPr>
              <a:xfrm>
                <a:off x="9039225" y="2057400"/>
                <a:ext cx="219075" cy="209550"/>
              </a:xfrm>
              <a:custGeom>
                <a:avLst/>
                <a:gdLst/>
                <a:ahLst/>
                <a:cxnLst/>
                <a:rect l="l" t="t" r="r" b="b"/>
                <a:pathLst>
                  <a:path w="219075" h="209550">
                    <a:moveTo>
                      <a:pt x="0" y="209550"/>
                    </a:moveTo>
                    <a:lnTo>
                      <a:pt x="219075" y="0"/>
                    </a:lnTo>
                  </a:path>
                </a:pathLst>
              </a:custGeom>
              <a:noFill/>
              <a:ln w="9525">
                <a:solidFill>
                  <a:srgbClr val="C4D0E6"/>
                </a:solidFill>
              </a:ln>
            </p:spPr>
          </p:sp>
          <p:sp>
            <p:nvSpPr>
              <p:cNvPr id="40" name="Line 40"/>
              <p:cNvSpPr/>
              <p:nvPr/>
            </p:nvSpPr>
            <p:spPr>
              <a:xfrm>
                <a:off x="9258300" y="1981200"/>
                <a:ext cx="266700" cy="76200"/>
              </a:xfrm>
              <a:custGeom>
                <a:avLst/>
                <a:gdLst/>
                <a:ahLst/>
                <a:cxnLst/>
                <a:rect l="l" t="t" r="r" b="b"/>
                <a:pathLst>
                  <a:path w="266700" h="76200">
                    <a:moveTo>
                      <a:pt x="0" y="76200"/>
                    </a:moveTo>
                    <a:lnTo>
                      <a:pt x="266700" y="0"/>
                    </a:lnTo>
                  </a:path>
                </a:pathLst>
              </a:custGeom>
              <a:noFill/>
              <a:ln w="9525">
                <a:solidFill>
                  <a:srgbClr val="C4D0E6"/>
                </a:solidFill>
              </a:ln>
            </p:spPr>
          </p:sp>
          <p:sp>
            <p:nvSpPr>
              <p:cNvPr id="41" name="Line 41"/>
              <p:cNvSpPr/>
              <p:nvPr/>
            </p:nvSpPr>
            <p:spPr>
              <a:xfrm>
                <a:off x="9525000" y="1981200"/>
                <a:ext cx="257175" cy="76200"/>
              </a:xfrm>
              <a:custGeom>
                <a:avLst/>
                <a:gdLst/>
                <a:ahLst/>
                <a:cxnLst/>
                <a:rect l="l" t="t" r="r" b="b"/>
                <a:pathLst>
                  <a:path w="257175" h="76200">
                    <a:moveTo>
                      <a:pt x="0" y="0"/>
                    </a:moveTo>
                    <a:lnTo>
                      <a:pt x="257175" y="76200"/>
                    </a:lnTo>
                  </a:path>
                </a:pathLst>
              </a:custGeom>
              <a:noFill/>
              <a:ln w="9525">
                <a:solidFill>
                  <a:srgbClr val="C4D0E6"/>
                </a:solidFill>
              </a:ln>
            </p:spPr>
          </p:sp>
          <p:sp>
            <p:nvSpPr>
              <p:cNvPr id="42" name="Line 42"/>
              <p:cNvSpPr/>
              <p:nvPr/>
            </p:nvSpPr>
            <p:spPr>
              <a:xfrm>
                <a:off x="9782175" y="2057400"/>
                <a:ext cx="190500" cy="209550"/>
              </a:xfrm>
              <a:custGeom>
                <a:avLst/>
                <a:gdLst/>
                <a:ahLst/>
                <a:cxnLst/>
                <a:rect l="l" t="t" r="r" b="b"/>
                <a:pathLst>
                  <a:path w="190500" h="209550">
                    <a:moveTo>
                      <a:pt x="0" y="0"/>
                    </a:moveTo>
                    <a:lnTo>
                      <a:pt x="190500" y="209550"/>
                    </a:lnTo>
                  </a:path>
                </a:pathLst>
              </a:custGeom>
              <a:noFill/>
              <a:ln w="9525">
                <a:solidFill>
                  <a:srgbClr val="C4D0E6"/>
                </a:solidFill>
              </a:ln>
            </p:spPr>
          </p:sp>
          <p:sp>
            <p:nvSpPr>
              <p:cNvPr id="43" name="Line 43"/>
              <p:cNvSpPr/>
              <p:nvPr/>
            </p:nvSpPr>
            <p:spPr>
              <a:xfrm>
                <a:off x="9782175" y="3733800"/>
                <a:ext cx="190500" cy="209550"/>
              </a:xfrm>
              <a:custGeom>
                <a:avLst/>
                <a:gdLst/>
                <a:ahLst/>
                <a:cxnLst/>
                <a:rect l="l" t="t" r="r" b="b"/>
                <a:pathLst>
                  <a:path w="190500" h="209550">
                    <a:moveTo>
                      <a:pt x="190500" y="209550"/>
                    </a:moveTo>
                    <a:lnTo>
                      <a:pt x="0" y="0"/>
                    </a:lnTo>
                  </a:path>
                </a:pathLst>
              </a:custGeom>
              <a:noFill/>
              <a:ln w="9525">
                <a:solidFill>
                  <a:srgbClr val="C4D0E6"/>
                </a:solidFill>
              </a:ln>
            </p:spPr>
          </p:sp>
          <p:sp>
            <p:nvSpPr>
              <p:cNvPr id="44" name="Line 44"/>
              <p:cNvSpPr/>
              <p:nvPr/>
            </p:nvSpPr>
            <p:spPr>
              <a:xfrm>
                <a:off x="9525000" y="3657600"/>
                <a:ext cx="257175" cy="76200"/>
              </a:xfrm>
              <a:custGeom>
                <a:avLst/>
                <a:gdLst/>
                <a:ahLst/>
                <a:cxnLst/>
                <a:rect l="l" t="t" r="r" b="b"/>
                <a:pathLst>
                  <a:path w="257175" h="76200">
                    <a:moveTo>
                      <a:pt x="257175" y="76200"/>
                    </a:moveTo>
                    <a:lnTo>
                      <a:pt x="0" y="0"/>
                    </a:lnTo>
                  </a:path>
                </a:pathLst>
              </a:custGeom>
              <a:noFill/>
              <a:ln w="9525">
                <a:solidFill>
                  <a:srgbClr val="C4D0E6"/>
                </a:solidFill>
              </a:ln>
            </p:spPr>
          </p:sp>
          <p:sp>
            <p:nvSpPr>
              <p:cNvPr id="45" name="Line 45"/>
              <p:cNvSpPr/>
              <p:nvPr/>
            </p:nvSpPr>
            <p:spPr>
              <a:xfrm>
                <a:off x="9258300" y="3657600"/>
                <a:ext cx="266700" cy="57150"/>
              </a:xfrm>
              <a:custGeom>
                <a:avLst/>
                <a:gdLst/>
                <a:ahLst/>
                <a:cxnLst/>
                <a:rect l="l" t="t" r="r" b="b"/>
                <a:pathLst>
                  <a:path w="266700" h="57150">
                    <a:moveTo>
                      <a:pt x="266700" y="0"/>
                    </a:moveTo>
                    <a:lnTo>
                      <a:pt x="0" y="57150"/>
                    </a:lnTo>
                  </a:path>
                </a:pathLst>
              </a:custGeom>
              <a:noFill/>
              <a:ln w="9525">
                <a:solidFill>
                  <a:srgbClr val="C4D0E6"/>
                </a:solidFill>
              </a:ln>
            </p:spPr>
          </p:sp>
          <p:sp>
            <p:nvSpPr>
              <p:cNvPr id="46" name="Line 46"/>
              <p:cNvSpPr/>
              <p:nvPr/>
            </p:nvSpPr>
            <p:spPr>
              <a:xfrm>
                <a:off x="9039225" y="3714750"/>
                <a:ext cx="219075" cy="209550"/>
              </a:xfrm>
              <a:custGeom>
                <a:avLst/>
                <a:gdLst/>
                <a:ahLst/>
                <a:cxnLst/>
                <a:rect l="l" t="t" r="r" b="b"/>
                <a:pathLst>
                  <a:path w="219075" h="209550">
                    <a:moveTo>
                      <a:pt x="219075" y="0"/>
                    </a:moveTo>
                    <a:lnTo>
                      <a:pt x="0" y="209550"/>
                    </a:lnTo>
                  </a:path>
                </a:pathLst>
              </a:custGeom>
              <a:noFill/>
              <a:ln w="9525">
                <a:solidFill>
                  <a:srgbClr val="C4D0E6"/>
                </a:solidFill>
              </a:ln>
            </p:spPr>
          </p:sp>
          <p:sp>
            <p:nvSpPr>
              <p:cNvPr id="47" name="Line 47"/>
              <p:cNvSpPr/>
              <p:nvPr/>
            </p:nvSpPr>
            <p:spPr>
              <a:xfrm>
                <a:off x="8953500" y="3924300"/>
                <a:ext cx="85725" cy="257175"/>
              </a:xfrm>
              <a:custGeom>
                <a:avLst/>
                <a:gdLst/>
                <a:ahLst/>
                <a:cxnLst/>
                <a:rect l="l" t="t" r="r" b="b"/>
                <a:pathLst>
                  <a:path w="85725" h="257175">
                    <a:moveTo>
                      <a:pt x="85725" y="0"/>
                    </a:moveTo>
                    <a:lnTo>
                      <a:pt x="0" y="257175"/>
                    </a:lnTo>
                  </a:path>
                </a:pathLst>
              </a:custGeom>
              <a:noFill/>
              <a:ln w="9525">
                <a:solidFill>
                  <a:srgbClr val="C4D0E6"/>
                </a:solidFill>
              </a:ln>
            </p:spPr>
          </p:sp>
          <p:sp>
            <p:nvSpPr>
              <p:cNvPr id="48" name="Line 48"/>
              <p:cNvSpPr/>
              <p:nvPr/>
            </p:nvSpPr>
            <p:spPr>
              <a:xfrm>
                <a:off x="8953500" y="4181475"/>
                <a:ext cx="85725" cy="257175"/>
              </a:xfrm>
              <a:custGeom>
                <a:avLst/>
                <a:gdLst/>
                <a:ahLst/>
                <a:cxnLst/>
                <a:rect l="l" t="t" r="r" b="b"/>
                <a:pathLst>
                  <a:path w="85725" h="257175">
                    <a:moveTo>
                      <a:pt x="0" y="0"/>
                    </a:moveTo>
                    <a:lnTo>
                      <a:pt x="85725" y="257175"/>
                    </a:lnTo>
                  </a:path>
                </a:pathLst>
              </a:custGeom>
              <a:noFill/>
              <a:ln w="9525">
                <a:solidFill>
                  <a:srgbClr val="C4D0E6"/>
                </a:solidFill>
              </a:ln>
            </p:spPr>
          </p:sp>
          <p:sp>
            <p:nvSpPr>
              <p:cNvPr id="49" name="Line 49"/>
              <p:cNvSpPr/>
              <p:nvPr/>
            </p:nvSpPr>
            <p:spPr>
              <a:xfrm>
                <a:off x="9039225" y="4438650"/>
                <a:ext cx="219075" cy="209550"/>
              </a:xfrm>
              <a:custGeom>
                <a:avLst/>
                <a:gdLst/>
                <a:ahLst/>
                <a:cxnLst/>
                <a:rect l="l" t="t" r="r" b="b"/>
                <a:pathLst>
                  <a:path w="219075" h="209550">
                    <a:moveTo>
                      <a:pt x="0" y="0"/>
                    </a:moveTo>
                    <a:lnTo>
                      <a:pt x="219075" y="209550"/>
                    </a:lnTo>
                  </a:path>
                </a:pathLst>
              </a:custGeom>
              <a:noFill/>
              <a:ln w="9525">
                <a:solidFill>
                  <a:srgbClr val="C4D0E6"/>
                </a:solidFill>
              </a:ln>
            </p:spPr>
          </p:sp>
          <p:sp>
            <p:nvSpPr>
              <p:cNvPr id="50" name="Line 50"/>
              <p:cNvSpPr/>
              <p:nvPr/>
            </p:nvSpPr>
            <p:spPr>
              <a:xfrm>
                <a:off x="9258300" y="4648200"/>
                <a:ext cx="266700" cy="76200"/>
              </a:xfrm>
              <a:custGeom>
                <a:avLst/>
                <a:gdLst/>
                <a:ahLst/>
                <a:cxnLst/>
                <a:rect l="l" t="t" r="r" b="b"/>
                <a:pathLst>
                  <a:path w="266700" h="76200">
                    <a:moveTo>
                      <a:pt x="0" y="0"/>
                    </a:moveTo>
                    <a:lnTo>
                      <a:pt x="266700" y="76200"/>
                    </a:lnTo>
                  </a:path>
                </a:pathLst>
              </a:custGeom>
              <a:noFill/>
              <a:ln w="9525">
                <a:solidFill>
                  <a:srgbClr val="C4D0E6"/>
                </a:solidFill>
              </a:ln>
            </p:spPr>
          </p:sp>
          <p:sp>
            <p:nvSpPr>
              <p:cNvPr id="51" name="Line 51"/>
              <p:cNvSpPr/>
              <p:nvPr/>
            </p:nvSpPr>
            <p:spPr>
              <a:xfrm>
                <a:off x="9525000" y="4648200"/>
                <a:ext cx="257175" cy="76200"/>
              </a:xfrm>
              <a:custGeom>
                <a:avLst/>
                <a:gdLst/>
                <a:ahLst/>
                <a:cxnLst/>
                <a:rect l="l" t="t" r="r" b="b"/>
                <a:pathLst>
                  <a:path w="257175" h="76200">
                    <a:moveTo>
                      <a:pt x="0" y="76200"/>
                    </a:moveTo>
                    <a:lnTo>
                      <a:pt x="257175" y="0"/>
                    </a:lnTo>
                  </a:path>
                </a:pathLst>
              </a:custGeom>
              <a:noFill/>
              <a:ln w="9525">
                <a:solidFill>
                  <a:srgbClr val="C4D0E6"/>
                </a:solidFill>
              </a:ln>
            </p:spPr>
          </p:sp>
          <p:sp>
            <p:nvSpPr>
              <p:cNvPr id="52" name="Line 52"/>
              <p:cNvSpPr/>
              <p:nvPr/>
            </p:nvSpPr>
            <p:spPr>
              <a:xfrm>
                <a:off x="9782175" y="4438650"/>
                <a:ext cx="190500" cy="209550"/>
              </a:xfrm>
              <a:custGeom>
                <a:avLst/>
                <a:gdLst/>
                <a:ahLst/>
                <a:cxnLst/>
                <a:rect l="l" t="t" r="r" b="b"/>
                <a:pathLst>
                  <a:path w="190500" h="209550">
                    <a:moveTo>
                      <a:pt x="0" y="209550"/>
                    </a:moveTo>
                    <a:lnTo>
                      <a:pt x="190500" y="0"/>
                    </a:lnTo>
                  </a:path>
                </a:pathLst>
              </a:custGeom>
              <a:noFill/>
              <a:ln w="9525">
                <a:solidFill>
                  <a:srgbClr val="C4D0E6"/>
                </a:solidFill>
              </a:ln>
            </p:spPr>
          </p:sp>
        </p:grpSp>
        <p:grpSp>
          <p:nvGrpSpPr>
            <p:cNvPr id="79" name="net-nodes"/>
            <p:cNvGrpSpPr/>
            <p:nvPr/>
          </p:nvGrpSpPr>
          <p:grpSpPr>
            <a:xfrm>
              <a:off x="7038975" y="1500188"/>
              <a:ext cx="4557712" cy="4333875"/>
              <a:chOff x="7038975" y="1500188"/>
              <a:chExt cx="4557712" cy="4333875"/>
            </a:xfrm>
          </p:grpSpPr>
          <p:sp>
            <p:nvSpPr>
              <p:cNvPr id="54" name="Ellipse 54"/>
              <p:cNvSpPr/>
              <p:nvPr/>
            </p:nvSpPr>
            <p:spPr>
              <a:xfrm>
                <a:off x="10710862" y="3271838"/>
                <a:ext cx="161925" cy="161925"/>
              </a:xfrm>
              <a:prstGeom prst="ellipse">
                <a:avLst/>
              </a:prstGeom>
              <a:solidFill>
                <a:srgbClr val="A0230A"/>
              </a:solidFill>
              <a:ln>
                <a:noFill/>
              </a:ln>
            </p:spPr>
          </p:sp>
          <p:sp>
            <p:nvSpPr>
              <p:cNvPr id="55" name="Ellipse 55"/>
              <p:cNvSpPr/>
              <p:nvPr/>
            </p:nvSpPr>
            <p:spPr>
              <a:xfrm>
                <a:off x="10520362" y="3976688"/>
                <a:ext cx="161925" cy="161925"/>
              </a:xfrm>
              <a:prstGeom prst="ellipse">
                <a:avLst/>
              </a:prstGeom>
              <a:solidFill>
                <a:srgbClr val="5A1406"/>
              </a:solidFill>
              <a:ln>
                <a:noFill/>
              </a:ln>
            </p:spPr>
          </p:sp>
          <p:sp>
            <p:nvSpPr>
              <p:cNvPr id="56" name="Ellipse 56"/>
              <p:cNvSpPr/>
              <p:nvPr/>
            </p:nvSpPr>
            <p:spPr>
              <a:xfrm>
                <a:off x="9986962" y="4519612"/>
                <a:ext cx="161925" cy="161925"/>
              </a:xfrm>
              <a:prstGeom prst="ellipse">
                <a:avLst/>
              </a:prstGeom>
              <a:solidFill>
                <a:srgbClr val="A0230A"/>
              </a:solidFill>
              <a:ln>
                <a:noFill/>
              </a:ln>
            </p:spPr>
          </p:sp>
          <p:sp>
            <p:nvSpPr>
              <p:cNvPr id="57" name="Ellipse 57"/>
              <p:cNvSpPr/>
              <p:nvPr/>
            </p:nvSpPr>
            <p:spPr>
              <a:xfrm>
                <a:off x="9301162" y="4681538"/>
                <a:ext cx="161925" cy="161925"/>
              </a:xfrm>
              <a:prstGeom prst="ellipse">
                <a:avLst/>
              </a:prstGeom>
              <a:solidFill>
                <a:srgbClr val="5A1406"/>
              </a:solidFill>
              <a:ln>
                <a:noFill/>
              </a:ln>
            </p:spPr>
          </p:sp>
          <p:sp>
            <p:nvSpPr>
              <p:cNvPr id="58" name="Ellipse 58"/>
              <p:cNvSpPr/>
              <p:nvPr/>
            </p:nvSpPr>
            <p:spPr>
              <a:xfrm>
                <a:off x="8615362" y="4519612"/>
                <a:ext cx="161925" cy="161925"/>
              </a:xfrm>
              <a:prstGeom prst="ellipse">
                <a:avLst/>
              </a:prstGeom>
              <a:solidFill>
                <a:srgbClr val="A0230A"/>
              </a:solidFill>
              <a:ln>
                <a:noFill/>
              </a:ln>
            </p:spPr>
          </p:sp>
          <p:sp>
            <p:nvSpPr>
              <p:cNvPr id="59" name="Ellipse 59"/>
              <p:cNvSpPr/>
              <p:nvPr/>
            </p:nvSpPr>
            <p:spPr>
              <a:xfrm>
                <a:off x="8081962" y="3976688"/>
                <a:ext cx="161925" cy="161925"/>
              </a:xfrm>
              <a:prstGeom prst="ellipse">
                <a:avLst/>
              </a:prstGeom>
              <a:solidFill>
                <a:srgbClr val="5A1406"/>
              </a:solidFill>
              <a:ln>
                <a:noFill/>
              </a:ln>
            </p:spPr>
          </p:sp>
          <p:sp>
            <p:nvSpPr>
              <p:cNvPr id="60" name="Ellipse 60"/>
              <p:cNvSpPr/>
              <p:nvPr/>
            </p:nvSpPr>
            <p:spPr>
              <a:xfrm>
                <a:off x="7891462" y="3271838"/>
                <a:ext cx="161925" cy="161925"/>
              </a:xfrm>
              <a:prstGeom prst="ellipse">
                <a:avLst/>
              </a:prstGeom>
              <a:solidFill>
                <a:srgbClr val="A0230A"/>
              </a:solidFill>
              <a:ln>
                <a:noFill/>
              </a:ln>
            </p:spPr>
          </p:sp>
          <p:sp>
            <p:nvSpPr>
              <p:cNvPr id="61" name="Ellipse 61"/>
              <p:cNvSpPr/>
              <p:nvPr/>
            </p:nvSpPr>
            <p:spPr>
              <a:xfrm>
                <a:off x="8081962" y="2566988"/>
                <a:ext cx="161925" cy="161925"/>
              </a:xfrm>
              <a:prstGeom prst="ellipse">
                <a:avLst/>
              </a:prstGeom>
              <a:solidFill>
                <a:srgbClr val="5A1406"/>
              </a:solidFill>
              <a:ln>
                <a:noFill/>
              </a:ln>
            </p:spPr>
          </p:sp>
          <p:sp>
            <p:nvSpPr>
              <p:cNvPr id="62" name="Ellipse 62"/>
              <p:cNvSpPr/>
              <p:nvPr/>
            </p:nvSpPr>
            <p:spPr>
              <a:xfrm>
                <a:off x="8615362" y="2024062"/>
                <a:ext cx="161925" cy="161925"/>
              </a:xfrm>
              <a:prstGeom prst="ellipse">
                <a:avLst/>
              </a:prstGeom>
              <a:solidFill>
                <a:srgbClr val="A0230A"/>
              </a:solidFill>
              <a:ln>
                <a:noFill/>
              </a:ln>
            </p:spPr>
          </p:sp>
          <p:sp>
            <p:nvSpPr>
              <p:cNvPr id="63" name="Ellipse 63"/>
              <p:cNvSpPr/>
              <p:nvPr/>
            </p:nvSpPr>
            <p:spPr>
              <a:xfrm>
                <a:off x="9301162" y="1862138"/>
                <a:ext cx="161925" cy="161925"/>
              </a:xfrm>
              <a:prstGeom prst="ellipse">
                <a:avLst/>
              </a:prstGeom>
              <a:solidFill>
                <a:srgbClr val="5A1406"/>
              </a:solidFill>
              <a:ln>
                <a:noFill/>
              </a:ln>
            </p:spPr>
          </p:sp>
          <p:sp>
            <p:nvSpPr>
              <p:cNvPr id="64" name="Ellipse 64"/>
              <p:cNvSpPr/>
              <p:nvPr/>
            </p:nvSpPr>
            <p:spPr>
              <a:xfrm>
                <a:off x="9986962" y="2024062"/>
                <a:ext cx="161925" cy="161925"/>
              </a:xfrm>
              <a:prstGeom prst="ellipse">
                <a:avLst/>
              </a:prstGeom>
              <a:solidFill>
                <a:srgbClr val="A0230A"/>
              </a:solidFill>
              <a:ln>
                <a:noFill/>
              </a:ln>
            </p:spPr>
          </p:sp>
          <p:sp>
            <p:nvSpPr>
              <p:cNvPr id="65" name="Ellipse 65"/>
              <p:cNvSpPr/>
              <p:nvPr/>
            </p:nvSpPr>
            <p:spPr>
              <a:xfrm>
                <a:off x="10520362" y="2566988"/>
                <a:ext cx="161925" cy="161925"/>
              </a:xfrm>
              <a:prstGeom prst="ellipse">
                <a:avLst/>
              </a:prstGeom>
              <a:solidFill>
                <a:srgbClr val="5A1406"/>
              </a:solidFill>
              <a:ln>
                <a:noFill/>
              </a:ln>
            </p:spPr>
          </p:sp>
          <p:sp>
            <p:nvSpPr>
              <p:cNvPr id="66" name="Ellipse 66"/>
              <p:cNvSpPr/>
              <p:nvPr/>
            </p:nvSpPr>
            <p:spPr>
              <a:xfrm>
                <a:off x="9915525" y="2705100"/>
                <a:ext cx="114300" cy="114300"/>
              </a:xfrm>
              <a:prstGeom prst="ellipse">
                <a:avLst/>
              </a:prstGeom>
              <a:solidFill>
                <a:srgbClr val="A0230A"/>
              </a:solidFill>
              <a:ln>
                <a:noFill/>
              </a:ln>
            </p:spPr>
          </p:sp>
          <p:sp>
            <p:nvSpPr>
              <p:cNvPr id="67" name="Ellipse 67"/>
              <p:cNvSpPr/>
              <p:nvPr/>
            </p:nvSpPr>
            <p:spPr>
              <a:xfrm>
                <a:off x="9915525" y="3886200"/>
                <a:ext cx="114300" cy="114300"/>
              </a:xfrm>
              <a:prstGeom prst="ellipse">
                <a:avLst/>
              </a:prstGeom>
              <a:solidFill>
                <a:srgbClr val="5A1406"/>
              </a:solidFill>
              <a:ln>
                <a:noFill/>
              </a:ln>
            </p:spPr>
          </p:sp>
          <p:sp>
            <p:nvSpPr>
              <p:cNvPr id="68" name="Ellipse 68"/>
              <p:cNvSpPr/>
              <p:nvPr/>
            </p:nvSpPr>
            <p:spPr>
              <a:xfrm>
                <a:off x="8734425" y="2705100"/>
                <a:ext cx="114300" cy="114300"/>
              </a:xfrm>
              <a:prstGeom prst="ellipse">
                <a:avLst/>
              </a:prstGeom>
              <a:solidFill>
                <a:srgbClr val="A0230A"/>
              </a:solidFill>
              <a:ln>
                <a:noFill/>
              </a:ln>
            </p:spPr>
          </p:sp>
          <p:sp>
            <p:nvSpPr>
              <p:cNvPr id="69" name="Ellipse 69"/>
              <p:cNvSpPr/>
              <p:nvPr/>
            </p:nvSpPr>
            <p:spPr>
              <a:xfrm>
                <a:off x="8734425" y="3886200"/>
                <a:ext cx="114300" cy="114300"/>
              </a:xfrm>
              <a:prstGeom prst="ellipse">
                <a:avLst/>
              </a:prstGeom>
              <a:solidFill>
                <a:srgbClr val="5A1406"/>
              </a:solidFill>
              <a:ln>
                <a:noFill/>
              </a:ln>
            </p:spPr>
          </p:sp>
          <p:sp>
            <p:nvSpPr>
              <p:cNvPr id="70" name="Ellipse 70"/>
              <p:cNvSpPr/>
              <p:nvPr/>
            </p:nvSpPr>
            <p:spPr>
              <a:xfrm>
                <a:off x="9929812" y="2147888"/>
                <a:ext cx="85725" cy="85725"/>
              </a:xfrm>
              <a:prstGeom prst="ellipse">
                <a:avLst/>
              </a:prstGeom>
              <a:solidFill>
                <a:srgbClr val="C6897C"/>
              </a:solidFill>
              <a:ln>
                <a:noFill/>
              </a:ln>
            </p:spPr>
          </p:sp>
          <p:sp>
            <p:nvSpPr>
              <p:cNvPr id="71" name="Ellipse 71"/>
              <p:cNvSpPr/>
              <p:nvPr/>
            </p:nvSpPr>
            <p:spPr>
              <a:xfrm>
                <a:off x="9929812" y="4471988"/>
                <a:ext cx="85725" cy="85725"/>
              </a:xfrm>
              <a:prstGeom prst="ellipse">
                <a:avLst/>
              </a:prstGeom>
              <a:solidFill>
                <a:srgbClr val="C6897C"/>
              </a:solidFill>
              <a:ln>
                <a:noFill/>
              </a:ln>
            </p:spPr>
          </p:sp>
          <p:sp>
            <p:nvSpPr>
              <p:cNvPr id="72" name="Ellipse 72"/>
              <p:cNvSpPr/>
              <p:nvPr/>
            </p:nvSpPr>
            <p:spPr>
              <a:xfrm>
                <a:off x="8748712" y="2147888"/>
                <a:ext cx="85725" cy="85725"/>
              </a:xfrm>
              <a:prstGeom prst="ellipse">
                <a:avLst/>
              </a:prstGeom>
              <a:solidFill>
                <a:srgbClr val="C6897C"/>
              </a:solidFill>
              <a:ln>
                <a:noFill/>
              </a:ln>
            </p:spPr>
          </p:sp>
          <p:sp>
            <p:nvSpPr>
              <p:cNvPr id="73" name="Ellipse 73"/>
              <p:cNvSpPr/>
              <p:nvPr/>
            </p:nvSpPr>
            <p:spPr>
              <a:xfrm>
                <a:off x="8748712" y="4471988"/>
                <a:ext cx="85725" cy="85725"/>
              </a:xfrm>
              <a:prstGeom prst="ellipse">
                <a:avLst/>
              </a:prstGeom>
              <a:solidFill>
                <a:srgbClr val="C6897C"/>
              </a:solidFill>
              <a:ln>
                <a:noFill/>
              </a:ln>
            </p:spPr>
          </p:sp>
          <p:sp>
            <p:nvSpPr>
              <p:cNvPr id="74" name="Ellipse 74"/>
              <p:cNvSpPr/>
              <p:nvPr/>
            </p:nvSpPr>
            <p:spPr>
              <a:xfrm>
                <a:off x="11215688" y="1690688"/>
                <a:ext cx="47625" cy="47625"/>
              </a:xfrm>
              <a:prstGeom prst="ellipse">
                <a:avLst/>
              </a:prstGeom>
              <a:solidFill>
                <a:srgbClr val="B9C7DE"/>
              </a:solidFill>
              <a:ln>
                <a:noFill/>
              </a:ln>
            </p:spPr>
          </p:sp>
          <p:sp>
            <p:nvSpPr>
              <p:cNvPr id="75" name="Ellipse 75"/>
              <p:cNvSpPr/>
              <p:nvPr/>
            </p:nvSpPr>
            <p:spPr>
              <a:xfrm>
                <a:off x="11549062" y="4452938"/>
                <a:ext cx="47625" cy="47625"/>
              </a:xfrm>
              <a:prstGeom prst="ellipse">
                <a:avLst/>
              </a:prstGeom>
              <a:solidFill>
                <a:srgbClr val="B9C7DE"/>
              </a:solidFill>
              <a:ln>
                <a:noFill/>
              </a:ln>
            </p:spPr>
          </p:sp>
          <p:sp>
            <p:nvSpPr>
              <p:cNvPr id="76" name="Ellipse 76"/>
              <p:cNvSpPr/>
              <p:nvPr/>
            </p:nvSpPr>
            <p:spPr>
              <a:xfrm>
                <a:off x="7215188" y="1500188"/>
                <a:ext cx="47625" cy="47625"/>
              </a:xfrm>
              <a:prstGeom prst="ellipse">
                <a:avLst/>
              </a:prstGeom>
              <a:solidFill>
                <a:srgbClr val="B9C7DE"/>
              </a:solidFill>
              <a:ln>
                <a:noFill/>
              </a:ln>
            </p:spPr>
          </p:sp>
          <p:sp>
            <p:nvSpPr>
              <p:cNvPr id="77" name="Ellipse 77"/>
              <p:cNvSpPr/>
              <p:nvPr/>
            </p:nvSpPr>
            <p:spPr>
              <a:xfrm>
                <a:off x="7038975" y="4924425"/>
                <a:ext cx="57150" cy="57150"/>
              </a:xfrm>
              <a:prstGeom prst="ellipse">
                <a:avLst/>
              </a:prstGeom>
              <a:solidFill>
                <a:srgbClr val="B9C7DE"/>
              </a:solidFill>
              <a:ln>
                <a:noFill/>
              </a:ln>
            </p:spPr>
          </p:sp>
          <p:sp>
            <p:nvSpPr>
              <p:cNvPr id="78" name="Ellipse 78"/>
              <p:cNvSpPr/>
              <p:nvPr/>
            </p:nvSpPr>
            <p:spPr>
              <a:xfrm>
                <a:off x="10929938" y="5786438"/>
                <a:ext cx="47625" cy="47625"/>
              </a:xfrm>
              <a:prstGeom prst="ellipse">
                <a:avLst/>
              </a:prstGeom>
              <a:solidFill>
                <a:srgbClr val="B9C7DE"/>
              </a:solidFill>
              <a:ln>
                <a:noFill/>
              </a:ln>
            </p:spPr>
          </p:sp>
        </p:grpSp>
        <p:sp>
          <p:nvSpPr>
            <p:cNvPr id="80" name="Ellipse 80"/>
            <p:cNvSpPr/>
            <p:nvPr/>
          </p:nvSpPr>
          <p:spPr>
            <a:xfrm>
              <a:off x="8582025" y="2552700"/>
              <a:ext cx="1600200" cy="1600200"/>
            </a:xfrm>
            <a:prstGeom prst="ellipse">
              <a:avLst/>
            </a:prstGeom>
            <a:solidFill>
              <a:srgbClr val="5A1406"/>
            </a:solidFill>
            <a:ln>
              <a:noFill/>
            </a:ln>
          </p:spPr>
        </p:sp>
        <p:sp>
          <p:nvSpPr>
            <p:cNvPr id="81" name="TextBox 81"/>
            <p:cNvSpPr txBox="1"/>
            <p:nvPr/>
          </p:nvSpPr>
          <p:spPr>
            <a:xfrm>
              <a:off x="8888901" y="3065621"/>
              <a:ext cx="986447" cy="278702"/>
            </a:xfrm>
            <a:prstGeom prst="rect">
              <a:avLst/>
            </a:prstGeom>
            <a:noFill/>
            <a:ln>
              <a:noFill/>
            </a:ln>
          </p:spPr>
          <p:txBody>
            <a:bodyPr wrap="none" lIns="0" tIns="0" rIns="0" bIns="0" anchor="t" anchorCtr="0">
              <a:spAutoFit/>
            </a:bodyPr>
            <a:lstStyle/>
            <a:p>
              <a:pPr algn="ctr"/>
              <a:r>
                <a:rPr lang="en-US" sz="1420" b="1" dirty="0">
                  <a:solidFill>
                    <a:srgbClr val="FFFFFF"/>
                  </a:solidFill>
                  <a:latin typeface="+mj-lt"/>
                  <a:ea typeface="+mj-ea"/>
                  <a:cs typeface="+mj-cs"/>
                </a:rPr>
                <a:t>McKinsey</a:t>
              </a:r>
            </a:p>
          </p:txBody>
        </p:sp>
        <p:sp>
          <p:nvSpPr>
            <p:cNvPr id="82" name="TextBox 82"/>
            <p:cNvSpPr txBox="1"/>
            <p:nvPr/>
          </p:nvSpPr>
          <p:spPr>
            <a:xfrm>
              <a:off x="8914787" y="3334702"/>
              <a:ext cx="934677" cy="205359"/>
            </a:xfrm>
            <a:prstGeom prst="rect">
              <a:avLst/>
            </a:prstGeom>
            <a:noFill/>
            <a:ln>
              <a:noFill/>
            </a:ln>
          </p:spPr>
          <p:txBody>
            <a:bodyPr wrap="none" lIns="0" tIns="0" rIns="0" bIns="0" anchor="t" anchorCtr="0">
              <a:spAutoFit/>
            </a:bodyPr>
            <a:lstStyle/>
            <a:p>
              <a:pPr algn="ctr"/>
              <a:r>
                <a:rPr lang="en-US" sz="1050" b="1" spc="150" dirty="0">
                  <a:solidFill>
                    <a:srgbClr val="FFFFFF"/>
                  </a:solidFill>
                  <a:latin typeface="+mj-lt"/>
                  <a:ea typeface="+mj-ea"/>
                  <a:cs typeface="+mj-cs"/>
                </a:rPr>
                <a:t>THINKING</a:t>
              </a:r>
            </a:p>
          </p:txBody>
        </p:sp>
        <p:sp>
          <p:nvSpPr>
            <p:cNvPr id="83" name="TextBox 83"/>
            <p:cNvSpPr txBox="1"/>
            <p:nvPr/>
          </p:nvSpPr>
          <p:spPr>
            <a:xfrm>
              <a:off x="8978779" y="3544252"/>
              <a:ext cx="806691" cy="205359"/>
            </a:xfrm>
            <a:prstGeom prst="rect">
              <a:avLst/>
            </a:prstGeom>
            <a:noFill/>
            <a:ln>
              <a:noFill/>
            </a:ln>
          </p:spPr>
          <p:txBody>
            <a:bodyPr wrap="none" lIns="0" tIns="0" rIns="0" bIns="0" anchor="t" anchorCtr="0">
              <a:spAutoFit/>
            </a:bodyPr>
            <a:lstStyle/>
            <a:p>
              <a:pPr algn="ctr"/>
              <a:r>
                <a:rPr lang="en-US" sz="1050" b="1" spc="150" dirty="0">
                  <a:solidFill>
                    <a:srgbClr val="FFFFFF"/>
                  </a:solidFill>
                  <a:latin typeface="+mj-lt"/>
                  <a:ea typeface="+mj-ea"/>
                  <a:cs typeface="+mj-cs"/>
                </a:rPr>
                <a:t>SYSTEM</a:t>
              </a:r>
            </a:p>
          </p:txBody>
        </p:sp>
      </p:gr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4842662"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MECE｜把一团乱麻切成完整结构</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14" name="flow-strip"/>
          <p:cNvGrpSpPr/>
          <p:nvPr/>
        </p:nvGrpSpPr>
        <p:grpSpPr>
          <a:xfrm>
            <a:off x="228600" y="781050"/>
            <a:ext cx="5048250" cy="285750"/>
            <a:chOff x="228600" y="781050"/>
            <a:chExt cx="5048250" cy="285750"/>
          </a:xfrm>
        </p:grpSpPr>
        <p:sp>
          <p:nvSpPr>
            <p:cNvPr id="6" name="Rectangle 6"/>
            <p:cNvSpPr/>
            <p:nvPr/>
          </p:nvSpPr>
          <p:spPr>
            <a:xfrm>
              <a:off x="228600" y="781050"/>
              <a:ext cx="1047750" cy="285750"/>
            </a:xfrm>
            <a:prstGeom prst="rect">
              <a:avLst/>
            </a:prstGeom>
            <a:solidFill>
              <a:srgbClr val="4E0D00"/>
            </a:solidFill>
            <a:ln>
              <a:noFill/>
            </a:ln>
          </p:spPr>
        </p:sp>
        <p:sp>
          <p:nvSpPr>
            <p:cNvPr id="7" name="TextBox 7"/>
            <p:cNvSpPr txBox="1"/>
            <p:nvPr/>
          </p:nvSpPr>
          <p:spPr>
            <a:xfrm>
              <a:off x="483667" y="8662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复杂问题</a:t>
              </a:r>
            </a:p>
          </p:txBody>
        </p:sp>
        <p:sp>
          <p:nvSpPr>
            <p:cNvPr id="8" name="Line 8"/>
            <p:cNvSpPr/>
            <p:nvPr/>
          </p:nvSpPr>
          <p:spPr>
            <a:xfrm>
              <a:off x="1333500" y="923925"/>
              <a:ext cx="152400" cy="1"/>
            </a:xfrm>
            <a:prstGeom prst="line">
              <a:avLst/>
            </a:prstGeom>
            <a:noFill/>
            <a:ln w="19050">
              <a:solidFill>
                <a:srgbClr val="944130"/>
              </a:solidFill>
              <a:tailEnd type="triangle" w="lg" len="lg"/>
            </a:ln>
          </p:spPr>
        </p:sp>
        <p:sp>
          <p:nvSpPr>
            <p:cNvPr id="9" name="Rectangle 9"/>
            <p:cNvSpPr/>
            <p:nvPr/>
          </p:nvSpPr>
          <p:spPr>
            <a:xfrm>
              <a:off x="1562100" y="781050"/>
              <a:ext cx="1047750" cy="285750"/>
            </a:xfrm>
            <a:prstGeom prst="rect">
              <a:avLst/>
            </a:prstGeom>
            <a:solidFill>
              <a:srgbClr val="4E0D00"/>
            </a:solidFill>
            <a:ln>
              <a:noFill/>
            </a:ln>
          </p:spPr>
        </p:sp>
        <p:sp>
          <p:nvSpPr>
            <p:cNvPr id="10" name="TextBox 10"/>
            <p:cNvSpPr txBox="1"/>
            <p:nvPr/>
          </p:nvSpPr>
          <p:spPr>
            <a:xfrm>
              <a:off x="1817167" y="8662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分类维度</a:t>
              </a:r>
            </a:p>
          </p:txBody>
        </p:sp>
        <p:sp>
          <p:nvSpPr>
            <p:cNvPr id="11" name="Line 11"/>
            <p:cNvSpPr/>
            <p:nvPr/>
          </p:nvSpPr>
          <p:spPr>
            <a:xfrm>
              <a:off x="2667000" y="923925"/>
              <a:ext cx="152400" cy="1"/>
            </a:xfrm>
            <a:prstGeom prst="line">
              <a:avLst/>
            </a:prstGeom>
            <a:noFill/>
            <a:ln w="19050">
              <a:solidFill>
                <a:srgbClr val="944130"/>
              </a:solidFill>
              <a:tailEnd type="triangle" w="lg" len="lg"/>
            </a:ln>
          </p:spPr>
        </p:sp>
        <p:sp>
          <p:nvSpPr>
            <p:cNvPr id="12" name="Rectangle 12"/>
            <p:cNvSpPr/>
            <p:nvPr/>
          </p:nvSpPr>
          <p:spPr>
            <a:xfrm>
              <a:off x="2895600" y="781050"/>
              <a:ext cx="2381250" cy="285750"/>
            </a:xfrm>
            <a:prstGeom prst="rect">
              <a:avLst/>
            </a:prstGeom>
            <a:solidFill>
              <a:srgbClr val="4E0D00"/>
            </a:solidFill>
            <a:ln>
              <a:noFill/>
            </a:ln>
          </p:spPr>
        </p:sp>
        <p:sp>
          <p:nvSpPr>
            <p:cNvPr id="13" name="TextBox 13"/>
            <p:cNvSpPr txBox="1"/>
            <p:nvPr/>
          </p:nvSpPr>
          <p:spPr>
            <a:xfrm>
              <a:off x="3180469" y="870347"/>
              <a:ext cx="181151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MECE结构（示例：销售下滑）​</a:t>
              </a:r>
            </a:p>
          </p:txBody>
        </p:sp>
      </p:grpSp>
      <p:grpSp>
        <p:nvGrpSpPr>
          <p:cNvPr id="43" name="tangle"/>
          <p:cNvGrpSpPr/>
          <p:nvPr/>
        </p:nvGrpSpPr>
        <p:grpSpPr>
          <a:xfrm>
            <a:off x="231457" y="1385888"/>
            <a:ext cx="2092643" cy="2824162"/>
            <a:chOff x="231457" y="1385888"/>
            <a:chExt cx="2092643" cy="2824162"/>
          </a:xfrm>
        </p:grpSpPr>
        <p:grpSp>
          <p:nvGrpSpPr>
            <p:cNvPr id="23" name="Group 23"/>
            <p:cNvGrpSpPr/>
            <p:nvPr/>
          </p:nvGrpSpPr>
          <p:grpSpPr>
            <a:xfrm>
              <a:off x="631629" y="1829849"/>
              <a:ext cx="1308492" cy="1372071"/>
              <a:chOff x="631629" y="1829849"/>
              <a:chExt cx="1308492" cy="1372071"/>
            </a:xfrm>
          </p:grpSpPr>
          <p:sp>
            <p:nvSpPr>
              <p:cNvPr id="15" name="Ellipse 15"/>
              <p:cNvSpPr/>
              <p:nvPr/>
            </p:nvSpPr>
            <p:spPr>
              <a:xfrm rot="900000">
                <a:off x="695325" y="2200275"/>
                <a:ext cx="1181100" cy="647700"/>
              </a:xfrm>
              <a:prstGeom prst="ellipse">
                <a:avLst/>
              </a:prstGeom>
              <a:noFill/>
              <a:ln w="9525">
                <a:solidFill>
                  <a:srgbClr val="8F5F55">
                    <a:alpha val="55000"/>
                  </a:srgbClr>
                </a:solidFill>
              </a:ln>
            </p:spPr>
          </p:sp>
          <p:sp>
            <p:nvSpPr>
              <p:cNvPr id="16" name="Ellipse 16"/>
              <p:cNvSpPr/>
              <p:nvPr/>
            </p:nvSpPr>
            <p:spPr>
              <a:xfrm rot="-1500000">
                <a:off x="714375" y="2209800"/>
                <a:ext cx="1143000" cy="571500"/>
              </a:xfrm>
              <a:prstGeom prst="ellipse">
                <a:avLst/>
              </a:prstGeom>
              <a:noFill/>
              <a:ln w="9525">
                <a:solidFill>
                  <a:srgbClr val="8F5F55">
                    <a:alpha val="55000"/>
                  </a:srgbClr>
                </a:solidFill>
              </a:ln>
            </p:spPr>
          </p:sp>
          <p:sp>
            <p:nvSpPr>
              <p:cNvPr id="17" name="Ellipse 17"/>
              <p:cNvSpPr/>
              <p:nvPr/>
            </p:nvSpPr>
            <p:spPr>
              <a:xfrm rot="3300000">
                <a:off x="762000" y="2209800"/>
                <a:ext cx="1104900" cy="685800"/>
              </a:xfrm>
              <a:prstGeom prst="ellipse">
                <a:avLst/>
              </a:prstGeom>
              <a:noFill/>
              <a:ln w="9525">
                <a:solidFill>
                  <a:srgbClr val="8F5F55">
                    <a:alpha val="55000"/>
                  </a:srgbClr>
                </a:solidFill>
              </a:ln>
            </p:spPr>
          </p:sp>
          <p:sp>
            <p:nvSpPr>
              <p:cNvPr id="18" name="Ellipse 18"/>
              <p:cNvSpPr/>
              <p:nvPr/>
            </p:nvSpPr>
            <p:spPr>
              <a:xfrm rot="4800000">
                <a:off x="628650" y="2209800"/>
                <a:ext cx="1219200" cy="533400"/>
              </a:xfrm>
              <a:prstGeom prst="ellipse">
                <a:avLst/>
              </a:prstGeom>
              <a:noFill/>
              <a:ln w="9525">
                <a:solidFill>
                  <a:srgbClr val="8F5F55">
                    <a:alpha val="55000"/>
                  </a:srgbClr>
                </a:solidFill>
              </a:ln>
            </p:spPr>
          </p:sp>
          <p:sp>
            <p:nvSpPr>
              <p:cNvPr id="19" name="Ellipse 19"/>
              <p:cNvSpPr/>
              <p:nvPr/>
            </p:nvSpPr>
            <p:spPr>
              <a:xfrm rot="-3600000">
                <a:off x="800100" y="2266950"/>
                <a:ext cx="1066800" cy="609600"/>
              </a:xfrm>
              <a:prstGeom prst="ellipse">
                <a:avLst/>
              </a:prstGeom>
              <a:noFill/>
              <a:ln w="9525">
                <a:solidFill>
                  <a:srgbClr val="8F5F55">
                    <a:alpha val="55000"/>
                  </a:srgbClr>
                </a:solidFill>
              </a:ln>
            </p:spPr>
          </p:sp>
          <p:sp>
            <p:nvSpPr>
              <p:cNvPr id="20" name="Ellipse 20"/>
              <p:cNvSpPr/>
              <p:nvPr/>
            </p:nvSpPr>
            <p:spPr>
              <a:xfrm rot="2100000">
                <a:off x="685800" y="2266950"/>
                <a:ext cx="1143000" cy="495300"/>
              </a:xfrm>
              <a:prstGeom prst="ellipse">
                <a:avLst/>
              </a:prstGeom>
              <a:noFill/>
              <a:ln w="9525">
                <a:solidFill>
                  <a:srgbClr val="8F5F55">
                    <a:alpha val="55000"/>
                  </a:srgbClr>
                </a:solidFill>
              </a:ln>
            </p:spPr>
          </p:sp>
          <p:sp>
            <p:nvSpPr>
              <p:cNvPr id="21" name="Ellipse 21"/>
              <p:cNvSpPr/>
              <p:nvPr/>
            </p:nvSpPr>
            <p:spPr>
              <a:xfrm rot="-480000">
                <a:off x="695325" y="2247900"/>
                <a:ext cx="1200150" cy="571500"/>
              </a:xfrm>
              <a:prstGeom prst="ellipse">
                <a:avLst/>
              </a:prstGeom>
              <a:noFill/>
              <a:ln w="9525">
                <a:solidFill>
                  <a:srgbClr val="8F5F55">
                    <a:alpha val="55000"/>
                  </a:srgbClr>
                </a:solidFill>
              </a:ln>
            </p:spPr>
          </p:sp>
          <p:sp>
            <p:nvSpPr>
              <p:cNvPr id="22" name="Ellipse 22"/>
              <p:cNvSpPr/>
              <p:nvPr/>
            </p:nvSpPr>
            <p:spPr>
              <a:xfrm rot="-2520000">
                <a:off x="752475" y="2181225"/>
                <a:ext cx="1047750" cy="647700"/>
              </a:xfrm>
              <a:prstGeom prst="ellipse">
                <a:avLst/>
              </a:prstGeom>
              <a:noFill/>
              <a:ln w="9525">
                <a:solidFill>
                  <a:srgbClr val="8F5F55">
                    <a:alpha val="55000"/>
                  </a:srgbClr>
                </a:solidFill>
              </a:ln>
            </p:spPr>
          </p:sp>
        </p:grpSp>
        <p:sp>
          <p:nvSpPr>
            <p:cNvPr id="24" name="Ellipse 24"/>
            <p:cNvSpPr/>
            <p:nvPr/>
          </p:nvSpPr>
          <p:spPr>
            <a:xfrm>
              <a:off x="981075" y="1504950"/>
              <a:ext cx="38100" cy="38100"/>
            </a:xfrm>
            <a:prstGeom prst="ellipse">
              <a:avLst/>
            </a:prstGeom>
            <a:solidFill>
              <a:srgbClr val="4E0D00"/>
            </a:solidFill>
            <a:ln>
              <a:noFill/>
            </a:ln>
          </p:spPr>
        </p:sp>
        <p:sp>
          <p:nvSpPr>
            <p:cNvPr id="25" name="TextBox 25"/>
            <p:cNvSpPr txBox="1"/>
            <p:nvPr/>
          </p:nvSpPr>
          <p:spPr>
            <a:xfrm>
              <a:off x="698182" y="1385888"/>
              <a:ext cx="413385" cy="147638"/>
            </a:xfrm>
            <a:prstGeom prst="rect">
              <a:avLst/>
            </a:prstGeom>
            <a:noFill/>
            <a:ln>
              <a:noFill/>
            </a:ln>
          </p:spPr>
          <p:txBody>
            <a:bodyPr wrap="none" lIns="0" tIns="0" rIns="0" bIns="0" anchor="t" anchorCtr="0">
              <a:spAutoFit/>
            </a:bodyPr>
            <a:lstStyle/>
            <a:p>
              <a:pPr algn="ctr"/>
              <a:r>
                <a:rPr lang="zh-CN" sz="750" dirty="0">
                  <a:solidFill>
                    <a:srgbClr val="40322F"/>
                  </a:solidFill>
                  <a:latin typeface="+mn-lt"/>
                  <a:ea typeface="+mn-ea"/>
                  <a:cs typeface="+mn-cs"/>
                </a:rPr>
                <a:t>竞争加剧</a:t>
              </a:r>
            </a:p>
          </p:txBody>
        </p:sp>
        <p:sp>
          <p:nvSpPr>
            <p:cNvPr id="26" name="Ellipse 26"/>
            <p:cNvSpPr/>
            <p:nvPr/>
          </p:nvSpPr>
          <p:spPr>
            <a:xfrm>
              <a:off x="1743075" y="1600200"/>
              <a:ext cx="38100" cy="38100"/>
            </a:xfrm>
            <a:prstGeom prst="ellipse">
              <a:avLst/>
            </a:prstGeom>
            <a:solidFill>
              <a:srgbClr val="4E0D00"/>
            </a:solidFill>
            <a:ln>
              <a:noFill/>
            </a:ln>
          </p:spPr>
        </p:sp>
        <p:sp>
          <p:nvSpPr>
            <p:cNvPr id="27" name="TextBox 27"/>
            <p:cNvSpPr txBox="1"/>
            <p:nvPr/>
          </p:nvSpPr>
          <p:spPr>
            <a:xfrm>
              <a:off x="1679258" y="1462088"/>
              <a:ext cx="413385" cy="147638"/>
            </a:xfrm>
            <a:prstGeom prst="rect">
              <a:avLst/>
            </a:prstGeom>
            <a:noFill/>
            <a:ln>
              <a:noFill/>
            </a:ln>
          </p:spPr>
          <p:txBody>
            <a:bodyPr wrap="none" lIns="0" tIns="0" rIns="0" bIns="0" anchor="t" anchorCtr="0">
              <a:spAutoFit/>
            </a:bodyPr>
            <a:lstStyle/>
            <a:p>
              <a:pPr algn="ctr"/>
              <a:r>
                <a:rPr lang="zh-CN" sz="750" dirty="0">
                  <a:solidFill>
                    <a:srgbClr val="40322F"/>
                  </a:solidFill>
                  <a:latin typeface="+mn-lt"/>
                  <a:ea typeface="+mn-ea"/>
                  <a:cs typeface="+mn-cs"/>
                </a:rPr>
                <a:t>价格下降</a:t>
              </a:r>
            </a:p>
          </p:txBody>
        </p:sp>
        <p:sp>
          <p:nvSpPr>
            <p:cNvPr id="28" name="Ellipse 28"/>
            <p:cNvSpPr/>
            <p:nvPr/>
          </p:nvSpPr>
          <p:spPr>
            <a:xfrm>
              <a:off x="704850" y="2266950"/>
              <a:ext cx="38100" cy="38100"/>
            </a:xfrm>
            <a:prstGeom prst="ellipse">
              <a:avLst/>
            </a:prstGeom>
            <a:solidFill>
              <a:srgbClr val="4E0D00"/>
            </a:solidFill>
            <a:ln>
              <a:noFill/>
            </a:ln>
          </p:spPr>
        </p:sp>
        <p:sp>
          <p:nvSpPr>
            <p:cNvPr id="29" name="TextBox 29"/>
            <p:cNvSpPr txBox="1"/>
            <p:nvPr/>
          </p:nvSpPr>
          <p:spPr>
            <a:xfrm>
              <a:off x="269558" y="2185988"/>
              <a:ext cx="413385" cy="147638"/>
            </a:xfrm>
            <a:prstGeom prst="rect">
              <a:avLst/>
            </a:prstGeom>
            <a:noFill/>
            <a:ln>
              <a:noFill/>
            </a:ln>
          </p:spPr>
          <p:txBody>
            <a:bodyPr wrap="none" lIns="0" tIns="0" rIns="0" bIns="0" anchor="t" anchorCtr="0">
              <a:spAutoFit/>
            </a:bodyPr>
            <a:lstStyle/>
            <a:p>
              <a:pPr algn="ctr"/>
              <a:r>
                <a:rPr lang="zh-CN" sz="750" dirty="0">
                  <a:solidFill>
                    <a:srgbClr val="40322F"/>
                  </a:solidFill>
                  <a:latin typeface="+mn-lt"/>
                  <a:ea typeface="+mn-ea"/>
                  <a:cs typeface="+mn-cs"/>
                </a:rPr>
                <a:t>客户流失</a:t>
              </a:r>
            </a:p>
          </p:txBody>
        </p:sp>
        <p:sp>
          <p:nvSpPr>
            <p:cNvPr id="30" name="Ellipse 30"/>
            <p:cNvSpPr/>
            <p:nvPr/>
          </p:nvSpPr>
          <p:spPr>
            <a:xfrm>
              <a:off x="1847850" y="2381250"/>
              <a:ext cx="38100" cy="38100"/>
            </a:xfrm>
            <a:prstGeom prst="ellipse">
              <a:avLst/>
            </a:prstGeom>
            <a:solidFill>
              <a:srgbClr val="4E0D00"/>
            </a:solidFill>
            <a:ln>
              <a:noFill/>
            </a:ln>
          </p:spPr>
        </p:sp>
        <p:sp>
          <p:nvSpPr>
            <p:cNvPr id="31" name="TextBox 31"/>
            <p:cNvSpPr txBox="1"/>
            <p:nvPr/>
          </p:nvSpPr>
          <p:spPr>
            <a:xfrm>
              <a:off x="1793558" y="2281238"/>
              <a:ext cx="413385" cy="147638"/>
            </a:xfrm>
            <a:prstGeom prst="rect">
              <a:avLst/>
            </a:prstGeom>
            <a:noFill/>
            <a:ln>
              <a:noFill/>
            </a:ln>
          </p:spPr>
          <p:txBody>
            <a:bodyPr wrap="none" lIns="0" tIns="0" rIns="0" bIns="0" anchor="t" anchorCtr="0">
              <a:spAutoFit/>
            </a:bodyPr>
            <a:lstStyle/>
            <a:p>
              <a:pPr algn="ctr"/>
              <a:r>
                <a:rPr lang="zh-CN" sz="750" dirty="0">
                  <a:solidFill>
                    <a:srgbClr val="40322F"/>
                  </a:solidFill>
                  <a:latin typeface="+mn-lt"/>
                  <a:ea typeface="+mn-ea"/>
                  <a:cs typeface="+mn-cs"/>
                </a:rPr>
                <a:t>渠道问题</a:t>
              </a:r>
            </a:p>
          </p:txBody>
        </p:sp>
        <p:sp>
          <p:nvSpPr>
            <p:cNvPr id="32" name="Ellipse 32"/>
            <p:cNvSpPr/>
            <p:nvPr/>
          </p:nvSpPr>
          <p:spPr>
            <a:xfrm>
              <a:off x="647700" y="2838450"/>
              <a:ext cx="38100" cy="38100"/>
            </a:xfrm>
            <a:prstGeom prst="ellipse">
              <a:avLst/>
            </a:prstGeom>
            <a:solidFill>
              <a:srgbClr val="4E0D00"/>
            </a:solidFill>
            <a:ln>
              <a:noFill/>
            </a:ln>
          </p:spPr>
        </p:sp>
        <p:sp>
          <p:nvSpPr>
            <p:cNvPr id="33" name="TextBox 33"/>
            <p:cNvSpPr txBox="1"/>
            <p:nvPr/>
          </p:nvSpPr>
          <p:spPr>
            <a:xfrm>
              <a:off x="231457" y="2814638"/>
              <a:ext cx="413385" cy="147638"/>
            </a:xfrm>
            <a:prstGeom prst="rect">
              <a:avLst/>
            </a:prstGeom>
            <a:noFill/>
            <a:ln>
              <a:noFill/>
            </a:ln>
          </p:spPr>
          <p:txBody>
            <a:bodyPr wrap="none" lIns="0" tIns="0" rIns="0" bIns="0" anchor="t" anchorCtr="0">
              <a:spAutoFit/>
            </a:bodyPr>
            <a:lstStyle/>
            <a:p>
              <a:pPr algn="ctr"/>
              <a:r>
                <a:rPr lang="zh-CN" sz="750" dirty="0">
                  <a:solidFill>
                    <a:srgbClr val="40322F"/>
                  </a:solidFill>
                  <a:latin typeface="+mn-lt"/>
                  <a:ea typeface="+mn-ea"/>
                  <a:cs typeface="+mn-cs"/>
                </a:rPr>
                <a:t>产品老化</a:t>
              </a:r>
            </a:p>
          </p:txBody>
        </p:sp>
        <p:sp>
          <p:nvSpPr>
            <p:cNvPr id="34" name="Ellipse 34"/>
            <p:cNvSpPr/>
            <p:nvPr/>
          </p:nvSpPr>
          <p:spPr>
            <a:xfrm>
              <a:off x="1847850" y="2952750"/>
              <a:ext cx="38100" cy="38100"/>
            </a:xfrm>
            <a:prstGeom prst="ellipse">
              <a:avLst/>
            </a:prstGeom>
            <a:solidFill>
              <a:srgbClr val="4E0D00"/>
            </a:solidFill>
            <a:ln>
              <a:noFill/>
            </a:ln>
          </p:spPr>
        </p:sp>
        <p:sp>
          <p:nvSpPr>
            <p:cNvPr id="35" name="TextBox 35"/>
            <p:cNvSpPr txBox="1"/>
            <p:nvPr/>
          </p:nvSpPr>
          <p:spPr>
            <a:xfrm>
              <a:off x="1793558" y="2928938"/>
              <a:ext cx="413385" cy="147638"/>
            </a:xfrm>
            <a:prstGeom prst="rect">
              <a:avLst/>
            </a:prstGeom>
            <a:noFill/>
            <a:ln>
              <a:noFill/>
            </a:ln>
          </p:spPr>
          <p:txBody>
            <a:bodyPr wrap="none" lIns="0" tIns="0" rIns="0" bIns="0" anchor="t" anchorCtr="0">
              <a:spAutoFit/>
            </a:bodyPr>
            <a:lstStyle/>
            <a:p>
              <a:pPr algn="ctr"/>
              <a:r>
                <a:rPr lang="zh-CN" sz="750" dirty="0">
                  <a:solidFill>
                    <a:srgbClr val="40322F"/>
                  </a:solidFill>
                  <a:latin typeface="+mn-lt"/>
                  <a:ea typeface="+mn-ea"/>
                  <a:cs typeface="+mn-cs"/>
                </a:rPr>
                <a:t>促销不足</a:t>
              </a:r>
            </a:p>
          </p:txBody>
        </p:sp>
        <p:sp>
          <p:nvSpPr>
            <p:cNvPr id="36" name="Ellipse 36"/>
            <p:cNvSpPr/>
            <p:nvPr/>
          </p:nvSpPr>
          <p:spPr>
            <a:xfrm>
              <a:off x="857250" y="3409950"/>
              <a:ext cx="38100" cy="38100"/>
            </a:xfrm>
            <a:prstGeom prst="ellipse">
              <a:avLst/>
            </a:prstGeom>
            <a:solidFill>
              <a:srgbClr val="4E0D00"/>
            </a:solidFill>
            <a:ln>
              <a:noFill/>
            </a:ln>
          </p:spPr>
        </p:sp>
        <p:sp>
          <p:nvSpPr>
            <p:cNvPr id="37" name="TextBox 37"/>
            <p:cNvSpPr txBox="1"/>
            <p:nvPr/>
          </p:nvSpPr>
          <p:spPr>
            <a:xfrm>
              <a:off x="542925" y="3500438"/>
              <a:ext cx="514350" cy="147638"/>
            </a:xfrm>
            <a:prstGeom prst="rect">
              <a:avLst/>
            </a:prstGeom>
            <a:noFill/>
            <a:ln>
              <a:noFill/>
            </a:ln>
          </p:spPr>
          <p:txBody>
            <a:bodyPr wrap="none" lIns="0" tIns="0" rIns="0" bIns="0" anchor="t" anchorCtr="0">
              <a:spAutoFit/>
            </a:bodyPr>
            <a:lstStyle/>
            <a:p>
              <a:pPr algn="ctr"/>
              <a:r>
                <a:rPr lang="zh-CN" sz="750" dirty="0">
                  <a:solidFill>
                    <a:srgbClr val="40322F"/>
                  </a:solidFill>
                  <a:latin typeface="+mn-lt"/>
                  <a:ea typeface="+mn-ea"/>
                  <a:cs typeface="+mn-cs"/>
                </a:rPr>
                <a:t>服务体验差</a:t>
              </a:r>
            </a:p>
          </p:txBody>
        </p:sp>
        <p:sp>
          <p:nvSpPr>
            <p:cNvPr id="38" name="Ellipse 38"/>
            <p:cNvSpPr/>
            <p:nvPr/>
          </p:nvSpPr>
          <p:spPr>
            <a:xfrm>
              <a:off x="1619250" y="3429000"/>
              <a:ext cx="38100" cy="38100"/>
            </a:xfrm>
            <a:prstGeom prst="ellipse">
              <a:avLst/>
            </a:prstGeom>
            <a:solidFill>
              <a:srgbClr val="4E0D00"/>
            </a:solidFill>
            <a:ln>
              <a:noFill/>
            </a:ln>
          </p:spPr>
        </p:sp>
        <p:sp>
          <p:nvSpPr>
            <p:cNvPr id="39" name="TextBox 39"/>
            <p:cNvSpPr txBox="1"/>
            <p:nvPr/>
          </p:nvSpPr>
          <p:spPr>
            <a:xfrm>
              <a:off x="1526858" y="3519488"/>
              <a:ext cx="413385" cy="147638"/>
            </a:xfrm>
            <a:prstGeom prst="rect">
              <a:avLst/>
            </a:prstGeom>
            <a:noFill/>
            <a:ln>
              <a:noFill/>
            </a:ln>
          </p:spPr>
          <p:txBody>
            <a:bodyPr wrap="none" lIns="0" tIns="0" rIns="0" bIns="0" anchor="t" anchorCtr="0">
              <a:spAutoFit/>
            </a:bodyPr>
            <a:lstStyle/>
            <a:p>
              <a:pPr algn="ctr"/>
              <a:r>
                <a:rPr lang="zh-CN" sz="750" dirty="0">
                  <a:solidFill>
                    <a:srgbClr val="40322F"/>
                  </a:solidFill>
                  <a:latin typeface="+mn-lt"/>
                  <a:ea typeface="+mn-ea"/>
                  <a:cs typeface="+mn-cs"/>
                </a:rPr>
                <a:t>团队能力</a:t>
              </a:r>
            </a:p>
          </p:txBody>
        </p:sp>
        <p:sp>
          <p:nvSpPr>
            <p:cNvPr id="40" name="Rectangle 40"/>
            <p:cNvSpPr/>
            <p:nvPr/>
          </p:nvSpPr>
          <p:spPr>
            <a:xfrm>
              <a:off x="266700" y="3790950"/>
              <a:ext cx="2057400" cy="419100"/>
            </a:xfrm>
            <a:prstGeom prst="rect">
              <a:avLst/>
            </a:prstGeom>
            <a:solidFill>
              <a:srgbClr val="EFF3FA"/>
            </a:solidFill>
            <a:ln w="9525">
              <a:solidFill>
                <a:srgbClr val="C7D2E4"/>
              </a:solidFill>
            </a:ln>
          </p:spPr>
        </p:sp>
        <p:sp>
          <p:nvSpPr>
            <p:cNvPr id="41" name="TextBox 41"/>
            <p:cNvSpPr txBox="1"/>
            <p:nvPr/>
          </p:nvSpPr>
          <p:spPr>
            <a:xfrm>
              <a:off x="717156" y="3885486"/>
              <a:ext cx="1156487" cy="140494"/>
            </a:xfrm>
            <a:prstGeom prst="rect">
              <a:avLst/>
            </a:prstGeom>
            <a:noFill/>
            <a:ln>
              <a:noFill/>
            </a:ln>
          </p:spPr>
          <p:txBody>
            <a:bodyPr wrap="none" lIns="0" tIns="0" rIns="0" bIns="0" anchor="t" anchorCtr="0">
              <a:spAutoFit/>
            </a:bodyPr>
            <a:lstStyle/>
            <a:p>
              <a:pPr algn="ctr"/>
              <a:r>
                <a:rPr lang="zh-CN" sz="710" dirty="0">
                  <a:solidFill>
                    <a:srgbClr val="453633"/>
                  </a:solidFill>
                  <a:latin typeface="+mn-lt"/>
                  <a:ea typeface="+mn-ea"/>
                  <a:cs typeface="+mn-cs"/>
                </a:rPr>
                <a:t>现象多、线索杂、相互纠缠</a:t>
              </a:r>
            </a:p>
          </p:txBody>
        </p:sp>
        <p:sp>
          <p:nvSpPr>
            <p:cNvPr id="42" name="TextBox 42"/>
            <p:cNvSpPr txBox="1"/>
            <p:nvPr/>
          </p:nvSpPr>
          <p:spPr>
            <a:xfrm>
              <a:off x="812736" y="4028361"/>
              <a:ext cx="965327" cy="140494"/>
            </a:xfrm>
            <a:prstGeom prst="rect">
              <a:avLst/>
            </a:prstGeom>
            <a:noFill/>
            <a:ln>
              <a:noFill/>
            </a:ln>
          </p:spPr>
          <p:txBody>
            <a:bodyPr wrap="none" lIns="0" tIns="0" rIns="0" bIns="0" anchor="t" anchorCtr="0">
              <a:spAutoFit/>
            </a:bodyPr>
            <a:lstStyle/>
            <a:p>
              <a:pPr algn="ctr"/>
              <a:r>
                <a:rPr lang="zh-CN" sz="710" dirty="0">
                  <a:solidFill>
                    <a:srgbClr val="453633"/>
                  </a:solidFill>
                  <a:latin typeface="+mn-lt"/>
                  <a:ea typeface="+mn-ea"/>
                  <a:cs typeface="+mn-cs"/>
                </a:rPr>
                <a:t>难以判断主因与优先级</a:t>
              </a:r>
            </a:p>
          </p:txBody>
        </p:sp>
      </p:grpSp>
      <p:grpSp>
        <p:nvGrpSpPr>
          <p:cNvPr id="86" name="dimensions"/>
          <p:cNvGrpSpPr/>
          <p:nvPr/>
        </p:nvGrpSpPr>
        <p:grpSpPr>
          <a:xfrm>
            <a:off x="2457450" y="1276350"/>
            <a:ext cx="1085850" cy="2933700"/>
            <a:chOff x="2457450" y="1276350"/>
            <a:chExt cx="1085850" cy="2933700"/>
          </a:xfrm>
        </p:grpSpPr>
        <p:sp>
          <p:nvSpPr>
            <p:cNvPr id="44" name="Rectangle 44"/>
            <p:cNvSpPr/>
            <p:nvPr/>
          </p:nvSpPr>
          <p:spPr>
            <a:xfrm>
              <a:off x="2457450" y="1276350"/>
              <a:ext cx="1085850" cy="533400"/>
            </a:xfrm>
            <a:prstGeom prst="roundRect">
              <a:avLst>
                <a:gd name="adj" fmla="val 7143"/>
              </a:avLst>
            </a:prstGeom>
            <a:solidFill>
              <a:srgbClr val="FFFFFF"/>
            </a:solidFill>
            <a:ln w="9525">
              <a:solidFill>
                <a:srgbClr val="C7D2E4"/>
              </a:solidFill>
            </a:ln>
          </p:spPr>
        </p:sp>
        <p:sp>
          <p:nvSpPr>
            <p:cNvPr id="45" name="Ellipse 45"/>
            <p:cNvSpPr/>
            <p:nvPr/>
          </p:nvSpPr>
          <p:spPr>
            <a:xfrm>
              <a:off x="2514600" y="1409700"/>
              <a:ext cx="266700" cy="266700"/>
            </a:xfrm>
            <a:prstGeom prst="ellipse">
              <a:avLst/>
            </a:prstGeom>
            <a:solidFill>
              <a:srgbClr val="4E0D00"/>
            </a:solidFill>
            <a:ln>
              <a:noFill/>
            </a:ln>
          </p:spPr>
        </p:sp>
        <p:grpSp>
          <p:nvGrpSpPr>
            <p:cNvPr id="50" name="Group 50"/>
            <p:cNvGrpSpPr/>
            <p:nvPr/>
          </p:nvGrpSpPr>
          <p:grpSpPr>
            <a:xfrm>
              <a:off x="2590800" y="1485900"/>
              <a:ext cx="114300" cy="114301"/>
              <a:chOff x="2590800" y="1485900"/>
              <a:chExt cx="114300" cy="114301"/>
            </a:xfrm>
          </p:grpSpPr>
          <p:sp>
            <p:nvSpPr>
              <p:cNvPr id="46" name="Freeform 46"/>
              <p:cNvSpPr/>
              <p:nvPr/>
            </p:nvSpPr>
            <p:spPr>
              <a:xfrm>
                <a:off x="2603500" y="14859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47" name="Freeform 47"/>
              <p:cNvSpPr/>
              <p:nvPr/>
            </p:nvSpPr>
            <p:spPr>
              <a:xfrm>
                <a:off x="2590800" y="15621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sp>
            <p:nvSpPr>
              <p:cNvPr id="48" name="Freeform 48"/>
              <p:cNvSpPr/>
              <p:nvPr/>
            </p:nvSpPr>
            <p:spPr>
              <a:xfrm>
                <a:off x="2673350" y="14867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FFFFFF"/>
                </a:solidFill>
              </a:ln>
            </p:spPr>
          </p:sp>
          <p:sp>
            <p:nvSpPr>
              <p:cNvPr id="49" name="Freeform 49"/>
              <p:cNvSpPr/>
              <p:nvPr/>
            </p:nvSpPr>
            <p:spPr>
              <a:xfrm>
                <a:off x="2686050" y="15630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FFFFFF"/>
                </a:solidFill>
              </a:ln>
            </p:spPr>
          </p:sp>
        </p:grpSp>
        <p:sp>
          <p:nvSpPr>
            <p:cNvPr id="51" name="TextBox 51"/>
            <p:cNvSpPr txBox="1"/>
            <p:nvPr/>
          </p:nvSpPr>
          <p:spPr>
            <a:xfrm>
              <a:off x="2833688" y="141589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客户维度</a:t>
              </a:r>
            </a:p>
          </p:txBody>
        </p:sp>
        <p:sp>
          <p:nvSpPr>
            <p:cNvPr id="52" name="TextBox 52"/>
            <p:cNvSpPr txBox="1"/>
            <p:nvPr/>
          </p:nvSpPr>
          <p:spPr>
            <a:xfrm>
              <a:off x="2833688" y="1584484"/>
              <a:ext cx="284150" cy="133350"/>
            </a:xfrm>
            <a:prstGeom prst="rect">
              <a:avLst/>
            </a:prstGeom>
            <a:noFill/>
            <a:ln>
              <a:noFill/>
            </a:ln>
          </p:spPr>
          <p:txBody>
            <a:bodyPr wrap="none" lIns="0" tIns="0" rIns="0" bIns="0" anchor="t" anchorCtr="0">
              <a:spAutoFit/>
            </a:bodyPr>
            <a:lstStyle/>
            <a:p>
              <a:pPr algn="l"/>
              <a:r>
                <a:rPr lang="zh-CN" sz="680" dirty="0">
                  <a:solidFill>
                    <a:srgbClr val="6E5955"/>
                  </a:solidFill>
                  <a:latin typeface="+mn-lt"/>
                  <a:ea typeface="+mn-ea"/>
                  <a:cs typeface="+mn-cs"/>
                </a:rPr>
                <a:t>谁在买</a:t>
              </a:r>
            </a:p>
          </p:txBody>
        </p:sp>
        <p:sp>
          <p:nvSpPr>
            <p:cNvPr id="53" name="Rectangle 53"/>
            <p:cNvSpPr/>
            <p:nvPr/>
          </p:nvSpPr>
          <p:spPr>
            <a:xfrm>
              <a:off x="2457450" y="1876425"/>
              <a:ext cx="1085850" cy="533400"/>
            </a:xfrm>
            <a:prstGeom prst="roundRect">
              <a:avLst>
                <a:gd name="adj" fmla="val 7143"/>
              </a:avLst>
            </a:prstGeom>
            <a:solidFill>
              <a:srgbClr val="FFFFFF"/>
            </a:solidFill>
            <a:ln w="9525">
              <a:solidFill>
                <a:srgbClr val="C7D2E4"/>
              </a:solidFill>
            </a:ln>
          </p:spPr>
        </p:sp>
        <p:sp>
          <p:nvSpPr>
            <p:cNvPr id="54" name="Ellipse 54"/>
            <p:cNvSpPr/>
            <p:nvPr/>
          </p:nvSpPr>
          <p:spPr>
            <a:xfrm>
              <a:off x="2514600" y="2009775"/>
              <a:ext cx="266700" cy="266700"/>
            </a:xfrm>
            <a:prstGeom prst="ellipse">
              <a:avLst/>
            </a:prstGeom>
            <a:solidFill>
              <a:srgbClr val="4E0D00"/>
            </a:solidFill>
            <a:ln>
              <a:noFill/>
            </a:ln>
          </p:spPr>
        </p:sp>
        <p:grpSp>
          <p:nvGrpSpPr>
            <p:cNvPr id="59" name="Group 59"/>
            <p:cNvGrpSpPr/>
            <p:nvPr/>
          </p:nvGrpSpPr>
          <p:grpSpPr>
            <a:xfrm>
              <a:off x="2597150" y="2085975"/>
              <a:ext cx="101600" cy="114300"/>
              <a:chOff x="2597150" y="2085975"/>
              <a:chExt cx="101600" cy="114300"/>
            </a:xfrm>
          </p:grpSpPr>
          <p:sp>
            <p:nvSpPr>
              <p:cNvPr id="55" name="Freeform 55"/>
              <p:cNvSpPr/>
              <p:nvPr/>
            </p:nvSpPr>
            <p:spPr>
              <a:xfrm>
                <a:off x="2597150" y="2085975"/>
                <a:ext cx="101600" cy="114300"/>
              </a:xfrm>
              <a:custGeom>
                <a:avLst/>
                <a:gdLst/>
                <a:ahLst/>
                <a:cxnLst/>
                <a:rect l="l" t="t" r="r" b="b"/>
                <a:pathLst>
                  <a:path w="101600" h="114300">
                    <a:moveTo>
                      <a:pt x="50800" y="0"/>
                    </a:moveTo>
                    <a:lnTo>
                      <a:pt x="101600" y="28575"/>
                    </a:lnTo>
                    <a:lnTo>
                      <a:pt x="101600" y="85725"/>
                    </a:lnTo>
                    <a:lnTo>
                      <a:pt x="50800" y="114300"/>
                    </a:lnTo>
                    <a:lnTo>
                      <a:pt x="0" y="85725"/>
                    </a:lnTo>
                    <a:lnTo>
                      <a:pt x="0" y="28575"/>
                    </a:lnTo>
                    <a:lnTo>
                      <a:pt x="50800" y="0"/>
                    </a:lnTo>
                  </a:path>
                </a:pathLst>
              </a:custGeom>
              <a:noFill/>
              <a:ln w="12700">
                <a:solidFill>
                  <a:srgbClr val="FFFFFF"/>
                </a:solidFill>
              </a:ln>
            </p:spPr>
          </p:sp>
          <p:sp>
            <p:nvSpPr>
              <p:cNvPr id="56" name="Freeform 56"/>
              <p:cNvSpPr/>
              <p:nvPr/>
            </p:nvSpPr>
            <p:spPr>
              <a:xfrm>
                <a:off x="2647950" y="2114550"/>
                <a:ext cx="50800" cy="28575"/>
              </a:xfrm>
              <a:custGeom>
                <a:avLst/>
                <a:gdLst/>
                <a:ahLst/>
                <a:cxnLst/>
                <a:rect l="l" t="t" r="r" b="b"/>
                <a:pathLst>
                  <a:path w="50800" h="28575">
                    <a:moveTo>
                      <a:pt x="0" y="28575"/>
                    </a:moveTo>
                    <a:lnTo>
                      <a:pt x="50800" y="0"/>
                    </a:lnTo>
                  </a:path>
                </a:pathLst>
              </a:custGeom>
              <a:noFill/>
              <a:ln w="12700">
                <a:solidFill>
                  <a:srgbClr val="FFFFFF"/>
                </a:solidFill>
              </a:ln>
            </p:spPr>
          </p:sp>
          <p:sp>
            <p:nvSpPr>
              <p:cNvPr id="57" name="Freeform 57"/>
              <p:cNvSpPr/>
              <p:nvPr/>
            </p:nvSpPr>
            <p:spPr>
              <a:xfrm>
                <a:off x="2647950" y="2143125"/>
                <a:ext cx="9525" cy="57150"/>
              </a:xfrm>
              <a:custGeom>
                <a:avLst/>
                <a:gdLst/>
                <a:ahLst/>
                <a:cxnLst/>
                <a:rect l="l" t="t" r="r" b="b"/>
                <a:pathLst>
                  <a:path w="9525" h="57150">
                    <a:moveTo>
                      <a:pt x="0" y="0"/>
                    </a:moveTo>
                    <a:lnTo>
                      <a:pt x="0" y="57150"/>
                    </a:lnTo>
                  </a:path>
                </a:pathLst>
              </a:custGeom>
              <a:noFill/>
              <a:ln w="12700">
                <a:solidFill>
                  <a:srgbClr val="FFFFFF"/>
                </a:solidFill>
              </a:ln>
            </p:spPr>
          </p:sp>
          <p:sp>
            <p:nvSpPr>
              <p:cNvPr id="58" name="Freeform 58"/>
              <p:cNvSpPr/>
              <p:nvPr/>
            </p:nvSpPr>
            <p:spPr>
              <a:xfrm>
                <a:off x="2597150" y="2114550"/>
                <a:ext cx="50800" cy="28575"/>
              </a:xfrm>
              <a:custGeom>
                <a:avLst/>
                <a:gdLst/>
                <a:ahLst/>
                <a:cxnLst/>
                <a:rect l="l" t="t" r="r" b="b"/>
                <a:pathLst>
                  <a:path w="50800" h="28575">
                    <a:moveTo>
                      <a:pt x="50800" y="28575"/>
                    </a:moveTo>
                    <a:lnTo>
                      <a:pt x="0" y="0"/>
                    </a:lnTo>
                  </a:path>
                </a:pathLst>
              </a:custGeom>
              <a:noFill/>
              <a:ln w="12700">
                <a:solidFill>
                  <a:srgbClr val="FFFFFF"/>
                </a:solidFill>
              </a:ln>
            </p:spPr>
          </p:sp>
        </p:grpSp>
        <p:sp>
          <p:nvSpPr>
            <p:cNvPr id="60" name="TextBox 60"/>
            <p:cNvSpPr txBox="1"/>
            <p:nvPr/>
          </p:nvSpPr>
          <p:spPr>
            <a:xfrm>
              <a:off x="2833688" y="2015966"/>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产品维度</a:t>
              </a:r>
            </a:p>
          </p:txBody>
        </p:sp>
        <p:sp>
          <p:nvSpPr>
            <p:cNvPr id="61" name="TextBox 61"/>
            <p:cNvSpPr txBox="1"/>
            <p:nvPr/>
          </p:nvSpPr>
          <p:spPr>
            <a:xfrm>
              <a:off x="2833688" y="2184559"/>
              <a:ext cx="284150" cy="133350"/>
            </a:xfrm>
            <a:prstGeom prst="rect">
              <a:avLst/>
            </a:prstGeom>
            <a:noFill/>
            <a:ln>
              <a:noFill/>
            </a:ln>
          </p:spPr>
          <p:txBody>
            <a:bodyPr wrap="none" lIns="0" tIns="0" rIns="0" bIns="0" anchor="t" anchorCtr="0">
              <a:spAutoFit/>
            </a:bodyPr>
            <a:lstStyle/>
            <a:p>
              <a:pPr algn="l"/>
              <a:r>
                <a:rPr lang="zh-CN" sz="680" dirty="0">
                  <a:solidFill>
                    <a:srgbClr val="6E5955"/>
                  </a:solidFill>
                  <a:latin typeface="+mn-lt"/>
                  <a:ea typeface="+mn-ea"/>
                  <a:cs typeface="+mn-cs"/>
                </a:rPr>
                <a:t>卖什么</a:t>
              </a:r>
            </a:p>
          </p:txBody>
        </p:sp>
        <p:sp>
          <p:nvSpPr>
            <p:cNvPr id="62" name="Rectangle 62"/>
            <p:cNvSpPr/>
            <p:nvPr/>
          </p:nvSpPr>
          <p:spPr>
            <a:xfrm>
              <a:off x="2457450" y="2476500"/>
              <a:ext cx="1085850" cy="533400"/>
            </a:xfrm>
            <a:prstGeom prst="roundRect">
              <a:avLst>
                <a:gd name="adj" fmla="val 7143"/>
              </a:avLst>
            </a:prstGeom>
            <a:solidFill>
              <a:srgbClr val="FFFFFF"/>
            </a:solidFill>
            <a:ln w="9525">
              <a:solidFill>
                <a:srgbClr val="C7D2E4"/>
              </a:solidFill>
            </a:ln>
          </p:spPr>
        </p:sp>
        <p:sp>
          <p:nvSpPr>
            <p:cNvPr id="63" name="Ellipse 63"/>
            <p:cNvSpPr/>
            <p:nvPr/>
          </p:nvSpPr>
          <p:spPr>
            <a:xfrm>
              <a:off x="2514600" y="2609850"/>
              <a:ext cx="266700" cy="266700"/>
            </a:xfrm>
            <a:prstGeom prst="ellipse">
              <a:avLst/>
            </a:prstGeom>
            <a:solidFill>
              <a:srgbClr val="4E0D00"/>
            </a:solidFill>
            <a:ln>
              <a:noFill/>
            </a:ln>
          </p:spPr>
        </p:sp>
        <p:grpSp>
          <p:nvGrpSpPr>
            <p:cNvPr id="69" name="Group 69"/>
            <p:cNvGrpSpPr/>
            <p:nvPr/>
          </p:nvGrpSpPr>
          <p:grpSpPr>
            <a:xfrm>
              <a:off x="2590800" y="2686050"/>
              <a:ext cx="114300" cy="123825"/>
              <a:chOff x="2590800" y="2686050"/>
              <a:chExt cx="114300" cy="123825"/>
            </a:xfrm>
          </p:grpSpPr>
          <p:sp>
            <p:nvSpPr>
              <p:cNvPr id="64" name="Freeform 64"/>
              <p:cNvSpPr/>
              <p:nvPr/>
            </p:nvSpPr>
            <p:spPr>
              <a:xfrm>
                <a:off x="2590800" y="2800350"/>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65" name="Freeform 65"/>
              <p:cNvSpPr/>
              <p:nvPr/>
            </p:nvSpPr>
            <p:spPr>
              <a:xfrm>
                <a:off x="2590800" y="2686050"/>
                <a:ext cx="114300" cy="50800"/>
              </a:xfrm>
              <a:custGeom>
                <a:avLst/>
                <a:gdLst/>
                <a:ahLst/>
                <a:cxnLst/>
                <a:rect l="l" t="t" r="r" b="b"/>
                <a:pathLst>
                  <a:path w="114300" h="50800">
                    <a:moveTo>
                      <a:pt x="0" y="25400"/>
                    </a:moveTo>
                    <a:lnTo>
                      <a:pt x="0" y="31750"/>
                    </a:lnTo>
                    <a:cubicBezTo>
                      <a:pt x="0" y="42271"/>
                      <a:pt x="8529" y="50800"/>
                      <a:pt x="19050" y="50800"/>
                    </a:cubicBezTo>
                    <a:cubicBezTo>
                      <a:pt x="29571" y="50800"/>
                      <a:pt x="38100" y="42271"/>
                      <a:pt x="38100" y="31750"/>
                    </a:cubicBezTo>
                    <a:lnTo>
                      <a:pt x="38100" y="25400"/>
                    </a:lnTo>
                    <a:moveTo>
                      <a:pt x="38100" y="31750"/>
                    </a:moveTo>
                    <a:cubicBezTo>
                      <a:pt x="38100" y="42271"/>
                      <a:pt x="46629" y="50800"/>
                      <a:pt x="57150" y="50800"/>
                    </a:cubicBezTo>
                    <a:cubicBezTo>
                      <a:pt x="67671" y="50800"/>
                      <a:pt x="76200" y="42271"/>
                      <a:pt x="76200" y="31750"/>
                    </a:cubicBezTo>
                    <a:lnTo>
                      <a:pt x="76200" y="25400"/>
                    </a:lnTo>
                    <a:moveTo>
                      <a:pt x="76200" y="31750"/>
                    </a:moveTo>
                    <a:cubicBezTo>
                      <a:pt x="76200" y="42271"/>
                      <a:pt x="84729" y="50800"/>
                      <a:pt x="95250" y="50800"/>
                    </a:cubicBezTo>
                    <a:cubicBezTo>
                      <a:pt x="105771" y="50800"/>
                      <a:pt x="114300" y="42271"/>
                      <a:pt x="114300" y="31750"/>
                    </a:cubicBezTo>
                    <a:lnTo>
                      <a:pt x="114300" y="25400"/>
                    </a:lnTo>
                    <a:lnTo>
                      <a:pt x="0" y="25400"/>
                    </a:lnTo>
                    <a:lnTo>
                      <a:pt x="12700" y="0"/>
                    </a:lnTo>
                    <a:lnTo>
                      <a:pt x="101600" y="0"/>
                    </a:lnTo>
                    <a:lnTo>
                      <a:pt x="114300" y="25400"/>
                    </a:lnTo>
                  </a:path>
                </a:pathLst>
              </a:custGeom>
              <a:noFill/>
              <a:ln w="12700">
                <a:solidFill>
                  <a:srgbClr val="FFFFFF"/>
                </a:solidFill>
              </a:ln>
            </p:spPr>
          </p:sp>
          <p:sp>
            <p:nvSpPr>
              <p:cNvPr id="66" name="Freeform 66"/>
              <p:cNvSpPr/>
              <p:nvPr/>
            </p:nvSpPr>
            <p:spPr>
              <a:xfrm>
                <a:off x="2603500" y="2735898"/>
                <a:ext cx="9525" cy="64453"/>
              </a:xfrm>
              <a:custGeom>
                <a:avLst/>
                <a:gdLst/>
                <a:ahLst/>
                <a:cxnLst/>
                <a:rect l="l" t="t" r="r" b="b"/>
                <a:pathLst>
                  <a:path w="9525" h="64453">
                    <a:moveTo>
                      <a:pt x="0" y="64453"/>
                    </a:moveTo>
                    <a:lnTo>
                      <a:pt x="0" y="0"/>
                    </a:lnTo>
                  </a:path>
                </a:pathLst>
              </a:custGeom>
              <a:noFill/>
              <a:ln w="12700">
                <a:solidFill>
                  <a:srgbClr val="FFFFFF"/>
                </a:solidFill>
              </a:ln>
            </p:spPr>
          </p:sp>
          <p:sp>
            <p:nvSpPr>
              <p:cNvPr id="67" name="Freeform 67"/>
              <p:cNvSpPr/>
              <p:nvPr/>
            </p:nvSpPr>
            <p:spPr>
              <a:xfrm>
                <a:off x="2692400" y="2735898"/>
                <a:ext cx="9525" cy="64453"/>
              </a:xfrm>
              <a:custGeom>
                <a:avLst/>
                <a:gdLst/>
                <a:ahLst/>
                <a:cxnLst/>
                <a:rect l="l" t="t" r="r" b="b"/>
                <a:pathLst>
                  <a:path w="9525" h="64453">
                    <a:moveTo>
                      <a:pt x="0" y="64453"/>
                    </a:moveTo>
                    <a:lnTo>
                      <a:pt x="0" y="0"/>
                    </a:lnTo>
                  </a:path>
                </a:pathLst>
              </a:custGeom>
              <a:noFill/>
              <a:ln w="12700">
                <a:solidFill>
                  <a:srgbClr val="FFFFFF"/>
                </a:solidFill>
              </a:ln>
            </p:spPr>
          </p:sp>
          <p:sp>
            <p:nvSpPr>
              <p:cNvPr id="68" name="Freeform 68"/>
              <p:cNvSpPr/>
              <p:nvPr/>
            </p:nvSpPr>
            <p:spPr>
              <a:xfrm>
                <a:off x="2628900" y="2762250"/>
                <a:ext cx="38100" cy="38100"/>
              </a:xfrm>
              <a:custGeom>
                <a:avLst/>
                <a:gdLst/>
                <a:ahLst/>
                <a:cxnLst/>
                <a:rect l="l" t="t" r="r" b="b"/>
                <a:pathLst>
                  <a:path w="38100" h="38100">
                    <a:moveTo>
                      <a:pt x="0" y="38100"/>
                    </a:moveTo>
                    <a:lnTo>
                      <a:pt x="0" y="12700"/>
                    </a:lnTo>
                    <a:cubicBezTo>
                      <a:pt x="0" y="5686"/>
                      <a:pt x="5686" y="0"/>
                      <a:pt x="12700" y="0"/>
                    </a:cubicBezTo>
                    <a:lnTo>
                      <a:pt x="25400" y="0"/>
                    </a:lnTo>
                    <a:cubicBezTo>
                      <a:pt x="32414" y="0"/>
                      <a:pt x="38100" y="5686"/>
                      <a:pt x="38100" y="12700"/>
                    </a:cubicBezTo>
                    <a:lnTo>
                      <a:pt x="38100" y="38100"/>
                    </a:lnTo>
                  </a:path>
                </a:pathLst>
              </a:custGeom>
              <a:noFill/>
              <a:ln w="12700">
                <a:solidFill>
                  <a:srgbClr val="FFFFFF"/>
                </a:solidFill>
              </a:ln>
            </p:spPr>
          </p:sp>
        </p:grpSp>
        <p:sp>
          <p:nvSpPr>
            <p:cNvPr id="70" name="TextBox 70"/>
            <p:cNvSpPr txBox="1"/>
            <p:nvPr/>
          </p:nvSpPr>
          <p:spPr>
            <a:xfrm>
              <a:off x="2833688" y="261604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渠道维度</a:t>
              </a:r>
            </a:p>
          </p:txBody>
        </p:sp>
        <p:sp>
          <p:nvSpPr>
            <p:cNvPr id="71" name="TextBox 71"/>
            <p:cNvSpPr txBox="1"/>
            <p:nvPr/>
          </p:nvSpPr>
          <p:spPr>
            <a:xfrm>
              <a:off x="2833688" y="2784634"/>
              <a:ext cx="375691" cy="133350"/>
            </a:xfrm>
            <a:prstGeom prst="rect">
              <a:avLst/>
            </a:prstGeom>
            <a:noFill/>
            <a:ln>
              <a:noFill/>
            </a:ln>
          </p:spPr>
          <p:txBody>
            <a:bodyPr wrap="none" lIns="0" tIns="0" rIns="0" bIns="0" anchor="t" anchorCtr="0">
              <a:spAutoFit/>
            </a:bodyPr>
            <a:lstStyle/>
            <a:p>
              <a:pPr algn="l"/>
              <a:r>
                <a:rPr lang="zh-CN" sz="680" dirty="0">
                  <a:solidFill>
                    <a:srgbClr val="6E5955"/>
                  </a:solidFill>
                  <a:latin typeface="+mn-lt"/>
                  <a:ea typeface="+mn-ea"/>
                  <a:cs typeface="+mn-cs"/>
                </a:rPr>
                <a:t>在哪里买</a:t>
              </a:r>
            </a:p>
          </p:txBody>
        </p:sp>
        <p:sp>
          <p:nvSpPr>
            <p:cNvPr id="72" name="Rectangle 72"/>
            <p:cNvSpPr/>
            <p:nvPr/>
          </p:nvSpPr>
          <p:spPr>
            <a:xfrm>
              <a:off x="2457450" y="3076575"/>
              <a:ext cx="1085850" cy="533400"/>
            </a:xfrm>
            <a:prstGeom prst="roundRect">
              <a:avLst>
                <a:gd name="adj" fmla="val 7143"/>
              </a:avLst>
            </a:prstGeom>
            <a:solidFill>
              <a:srgbClr val="FFFFFF"/>
            </a:solidFill>
            <a:ln w="9525">
              <a:solidFill>
                <a:srgbClr val="C7D2E4"/>
              </a:solidFill>
            </a:ln>
          </p:spPr>
        </p:sp>
        <p:sp>
          <p:nvSpPr>
            <p:cNvPr id="73" name="Ellipse 73"/>
            <p:cNvSpPr/>
            <p:nvPr/>
          </p:nvSpPr>
          <p:spPr>
            <a:xfrm>
              <a:off x="2514600" y="3209925"/>
              <a:ext cx="266700" cy="266700"/>
            </a:xfrm>
            <a:prstGeom prst="ellipse">
              <a:avLst/>
            </a:prstGeom>
            <a:solidFill>
              <a:srgbClr val="4E0D00"/>
            </a:solidFill>
            <a:ln>
              <a:noFill/>
            </a:ln>
          </p:spPr>
        </p:sp>
        <p:grpSp>
          <p:nvGrpSpPr>
            <p:cNvPr id="76" name="Group 76"/>
            <p:cNvGrpSpPr/>
            <p:nvPr/>
          </p:nvGrpSpPr>
          <p:grpSpPr>
            <a:xfrm>
              <a:off x="2590800" y="3286125"/>
              <a:ext cx="115805" cy="115805"/>
              <a:chOff x="2590800" y="3286125"/>
              <a:chExt cx="115805" cy="115805"/>
            </a:xfrm>
          </p:grpSpPr>
          <p:sp>
            <p:nvSpPr>
              <p:cNvPr id="74" name="Freeform 74"/>
              <p:cNvSpPr/>
              <p:nvPr/>
            </p:nvSpPr>
            <p:spPr>
              <a:xfrm>
                <a:off x="2613025" y="33083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75" name="Freeform 75"/>
              <p:cNvSpPr/>
              <p:nvPr/>
            </p:nvSpPr>
            <p:spPr>
              <a:xfrm>
                <a:off x="2590800" y="3286125"/>
                <a:ext cx="115805" cy="115805"/>
              </a:xfrm>
              <a:custGeom>
                <a:avLst/>
                <a:gdLst/>
                <a:ahLst/>
                <a:cxnLst/>
                <a:rect l="l" t="t" r="r" b="b"/>
                <a:pathLst>
                  <a:path w="115805" h="115805">
                    <a:moveTo>
                      <a:pt x="0" y="19050"/>
                    </a:moveTo>
                    <a:lnTo>
                      <a:pt x="0" y="51892"/>
                    </a:lnTo>
                    <a:cubicBezTo>
                      <a:pt x="1" y="55260"/>
                      <a:pt x="1339" y="58490"/>
                      <a:pt x="3721" y="60871"/>
                    </a:cubicBezTo>
                    <a:lnTo>
                      <a:pt x="52680" y="109830"/>
                    </a:lnTo>
                    <a:cubicBezTo>
                      <a:pt x="58656" y="115805"/>
                      <a:pt x="68344" y="115805"/>
                      <a:pt x="74320" y="109830"/>
                    </a:cubicBezTo>
                    <a:lnTo>
                      <a:pt x="109830" y="74320"/>
                    </a:lnTo>
                    <a:cubicBezTo>
                      <a:pt x="115805" y="68344"/>
                      <a:pt x="115805" y="58656"/>
                      <a:pt x="109830" y="52680"/>
                    </a:cubicBezTo>
                    <a:lnTo>
                      <a:pt x="60871" y="3721"/>
                    </a:lnTo>
                    <a:cubicBezTo>
                      <a:pt x="58490" y="1339"/>
                      <a:pt x="55260" y="1"/>
                      <a:pt x="51892" y="0"/>
                    </a:cubicBezTo>
                    <a:lnTo>
                      <a:pt x="19050" y="0"/>
                    </a:lnTo>
                    <a:cubicBezTo>
                      <a:pt x="13998" y="0"/>
                      <a:pt x="9152" y="2007"/>
                      <a:pt x="5580" y="5580"/>
                    </a:cubicBezTo>
                    <a:cubicBezTo>
                      <a:pt x="2007" y="9152"/>
                      <a:pt x="0" y="13998"/>
                      <a:pt x="0" y="19050"/>
                    </a:cubicBezTo>
                  </a:path>
                </a:pathLst>
              </a:custGeom>
              <a:noFill/>
              <a:ln w="12700">
                <a:solidFill>
                  <a:srgbClr val="FFFFFF"/>
                </a:solidFill>
              </a:ln>
            </p:spPr>
          </p:sp>
        </p:grpSp>
        <p:sp>
          <p:nvSpPr>
            <p:cNvPr id="77" name="TextBox 77"/>
            <p:cNvSpPr txBox="1"/>
            <p:nvPr/>
          </p:nvSpPr>
          <p:spPr>
            <a:xfrm>
              <a:off x="2833688" y="3216116"/>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价格维度</a:t>
              </a:r>
            </a:p>
          </p:txBody>
        </p:sp>
        <p:sp>
          <p:nvSpPr>
            <p:cNvPr id="78" name="TextBox 78"/>
            <p:cNvSpPr txBox="1"/>
            <p:nvPr/>
          </p:nvSpPr>
          <p:spPr>
            <a:xfrm>
              <a:off x="2833688" y="3384709"/>
              <a:ext cx="375691" cy="133350"/>
            </a:xfrm>
            <a:prstGeom prst="rect">
              <a:avLst/>
            </a:prstGeom>
            <a:noFill/>
            <a:ln>
              <a:noFill/>
            </a:ln>
          </p:spPr>
          <p:txBody>
            <a:bodyPr wrap="none" lIns="0" tIns="0" rIns="0" bIns="0" anchor="t" anchorCtr="0">
              <a:spAutoFit/>
            </a:bodyPr>
            <a:lstStyle/>
            <a:p>
              <a:pPr algn="l"/>
              <a:r>
                <a:rPr lang="zh-CN" sz="680" dirty="0">
                  <a:solidFill>
                    <a:srgbClr val="6E5955"/>
                  </a:solidFill>
                  <a:latin typeface="+mn-lt"/>
                  <a:ea typeface="+mn-ea"/>
                  <a:cs typeface="+mn-cs"/>
                </a:rPr>
                <a:t>花多少钱</a:t>
              </a:r>
            </a:p>
          </p:txBody>
        </p:sp>
        <p:sp>
          <p:nvSpPr>
            <p:cNvPr id="79" name="Rectangle 79"/>
            <p:cNvSpPr/>
            <p:nvPr/>
          </p:nvSpPr>
          <p:spPr>
            <a:xfrm>
              <a:off x="2457450" y="3676650"/>
              <a:ext cx="1085850" cy="533400"/>
            </a:xfrm>
            <a:prstGeom prst="roundRect">
              <a:avLst>
                <a:gd name="adj" fmla="val 7143"/>
              </a:avLst>
            </a:prstGeom>
            <a:solidFill>
              <a:srgbClr val="FFFFFF"/>
            </a:solidFill>
            <a:ln w="9525">
              <a:solidFill>
                <a:srgbClr val="C7D2E4"/>
              </a:solidFill>
            </a:ln>
          </p:spPr>
        </p:sp>
        <p:sp>
          <p:nvSpPr>
            <p:cNvPr id="80" name="Ellipse 80"/>
            <p:cNvSpPr/>
            <p:nvPr/>
          </p:nvSpPr>
          <p:spPr>
            <a:xfrm>
              <a:off x="2514600" y="3810000"/>
              <a:ext cx="266700" cy="266700"/>
            </a:xfrm>
            <a:prstGeom prst="ellipse">
              <a:avLst/>
            </a:prstGeom>
            <a:solidFill>
              <a:srgbClr val="4E0D00"/>
            </a:solidFill>
            <a:ln>
              <a:noFill/>
            </a:ln>
          </p:spPr>
        </p:sp>
        <p:grpSp>
          <p:nvGrpSpPr>
            <p:cNvPr id="83" name="Group 83"/>
            <p:cNvGrpSpPr/>
            <p:nvPr/>
          </p:nvGrpSpPr>
          <p:grpSpPr>
            <a:xfrm>
              <a:off x="2588012" y="3883412"/>
              <a:ext cx="119875" cy="119875"/>
              <a:chOff x="2588012" y="3883412"/>
              <a:chExt cx="119875" cy="119875"/>
            </a:xfrm>
          </p:grpSpPr>
          <p:sp>
            <p:nvSpPr>
              <p:cNvPr id="81" name="Freeform 81"/>
              <p:cNvSpPr/>
              <p:nvPr/>
            </p:nvSpPr>
            <p:spPr>
              <a:xfrm>
                <a:off x="2588012" y="388341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FFFFFF"/>
                </a:solidFill>
              </a:ln>
            </p:spPr>
          </p:sp>
          <p:sp>
            <p:nvSpPr>
              <p:cNvPr id="82" name="Freeform 82"/>
              <p:cNvSpPr/>
              <p:nvPr/>
            </p:nvSpPr>
            <p:spPr>
              <a:xfrm>
                <a:off x="2628900" y="39243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FFFFFF"/>
                </a:solidFill>
              </a:ln>
            </p:spPr>
          </p:sp>
        </p:grpSp>
        <p:sp>
          <p:nvSpPr>
            <p:cNvPr id="84" name="TextBox 84"/>
            <p:cNvSpPr txBox="1"/>
            <p:nvPr/>
          </p:nvSpPr>
          <p:spPr>
            <a:xfrm>
              <a:off x="2833688" y="381619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运营维度</a:t>
              </a:r>
            </a:p>
          </p:txBody>
        </p:sp>
        <p:sp>
          <p:nvSpPr>
            <p:cNvPr id="85" name="TextBox 85"/>
            <p:cNvSpPr txBox="1"/>
            <p:nvPr/>
          </p:nvSpPr>
          <p:spPr>
            <a:xfrm>
              <a:off x="2833688" y="3984784"/>
              <a:ext cx="650316" cy="133350"/>
            </a:xfrm>
            <a:prstGeom prst="rect">
              <a:avLst/>
            </a:prstGeom>
            <a:noFill/>
            <a:ln>
              <a:noFill/>
            </a:ln>
          </p:spPr>
          <p:txBody>
            <a:bodyPr wrap="none" lIns="0" tIns="0" rIns="0" bIns="0" anchor="t" anchorCtr="0">
              <a:spAutoFit/>
            </a:bodyPr>
            <a:lstStyle/>
            <a:p>
              <a:pPr algn="l"/>
              <a:r>
                <a:rPr lang="zh-CN" sz="680" dirty="0">
                  <a:solidFill>
                    <a:srgbClr val="6E5955"/>
                  </a:solidFill>
                  <a:latin typeface="+mn-lt"/>
                  <a:ea typeface="+mn-ea"/>
                  <a:cs typeface="+mn-cs"/>
                </a:rPr>
                <a:t>如何触达与服务</a:t>
              </a:r>
            </a:p>
          </p:txBody>
        </p:sp>
      </p:grpSp>
      <p:grpSp>
        <p:nvGrpSpPr>
          <p:cNvPr id="117" name="structure"/>
          <p:cNvGrpSpPr/>
          <p:nvPr/>
        </p:nvGrpSpPr>
        <p:grpSpPr>
          <a:xfrm>
            <a:off x="3686175" y="1343025"/>
            <a:ext cx="2295525" cy="2435305"/>
            <a:chOff x="3686175" y="1343025"/>
            <a:chExt cx="2295525" cy="2435305"/>
          </a:xfrm>
        </p:grpSpPr>
        <p:sp>
          <p:nvSpPr>
            <p:cNvPr id="87" name="Ellipse 87"/>
            <p:cNvSpPr/>
            <p:nvPr/>
          </p:nvSpPr>
          <p:spPr>
            <a:xfrm>
              <a:off x="3686175" y="1343025"/>
              <a:ext cx="209550" cy="209550"/>
            </a:xfrm>
            <a:prstGeom prst="ellipse">
              <a:avLst/>
            </a:prstGeom>
            <a:solidFill>
              <a:srgbClr val="4E0D00"/>
            </a:solidFill>
            <a:ln>
              <a:noFill/>
            </a:ln>
          </p:spPr>
        </p:sp>
        <p:sp>
          <p:nvSpPr>
            <p:cNvPr id="88" name="TextBox 88"/>
            <p:cNvSpPr txBox="1"/>
            <p:nvPr/>
          </p:nvSpPr>
          <p:spPr>
            <a:xfrm>
              <a:off x="3754313" y="139684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a:t>
              </a:r>
            </a:p>
          </p:txBody>
        </p:sp>
        <p:sp>
          <p:nvSpPr>
            <p:cNvPr id="89" name="TextBox 89"/>
            <p:cNvSpPr txBox="1"/>
            <p:nvPr/>
          </p:nvSpPr>
          <p:spPr>
            <a:xfrm>
              <a:off x="3957638" y="1398270"/>
              <a:ext cx="251841"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客户</a:t>
              </a:r>
            </a:p>
          </p:txBody>
        </p:sp>
        <p:sp>
          <p:nvSpPr>
            <p:cNvPr id="90" name="Rectangle 90"/>
            <p:cNvSpPr/>
            <p:nvPr/>
          </p:nvSpPr>
          <p:spPr>
            <a:xfrm>
              <a:off x="3714750" y="1581150"/>
              <a:ext cx="2266950" cy="533400"/>
            </a:xfrm>
            <a:prstGeom prst="rect">
              <a:avLst/>
            </a:prstGeom>
            <a:solidFill>
              <a:srgbClr val="F2F6FB"/>
            </a:solidFill>
            <a:ln w="9525">
              <a:solidFill>
                <a:srgbClr val="D8E1EE"/>
              </a:solidFill>
            </a:ln>
          </p:spPr>
        </p:sp>
        <p:sp>
          <p:nvSpPr>
            <p:cNvPr id="91" name="Ellipse 91"/>
            <p:cNvSpPr/>
            <p:nvPr/>
          </p:nvSpPr>
          <p:spPr>
            <a:xfrm>
              <a:off x="3829050" y="1714500"/>
              <a:ext cx="38100" cy="38100"/>
            </a:xfrm>
            <a:prstGeom prst="ellipse">
              <a:avLst/>
            </a:prstGeom>
            <a:solidFill>
              <a:srgbClr val="944130"/>
            </a:solidFill>
            <a:ln>
              <a:noFill/>
            </a:ln>
          </p:spPr>
        </p:sp>
        <p:sp>
          <p:nvSpPr>
            <p:cNvPr id="92" name="TextBox 92"/>
            <p:cNvSpPr txBox="1"/>
            <p:nvPr/>
          </p:nvSpPr>
          <p:spPr>
            <a:xfrm>
              <a:off x="3919538" y="1694736"/>
              <a:ext cx="583006"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客户规模变化</a:t>
              </a:r>
            </a:p>
          </p:txBody>
        </p:sp>
        <p:sp>
          <p:nvSpPr>
            <p:cNvPr id="93" name="Ellipse 93"/>
            <p:cNvSpPr/>
            <p:nvPr/>
          </p:nvSpPr>
          <p:spPr>
            <a:xfrm>
              <a:off x="3829050" y="1866900"/>
              <a:ext cx="38100" cy="38100"/>
            </a:xfrm>
            <a:prstGeom prst="ellipse">
              <a:avLst/>
            </a:prstGeom>
            <a:solidFill>
              <a:srgbClr val="944130"/>
            </a:solidFill>
            <a:ln>
              <a:noFill/>
            </a:ln>
          </p:spPr>
        </p:sp>
        <p:sp>
          <p:nvSpPr>
            <p:cNvPr id="94" name="TextBox 94"/>
            <p:cNvSpPr txBox="1"/>
            <p:nvPr/>
          </p:nvSpPr>
          <p:spPr>
            <a:xfrm>
              <a:off x="3919538" y="1847136"/>
              <a:ext cx="583006"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客户结构变化</a:t>
              </a:r>
            </a:p>
          </p:txBody>
        </p:sp>
        <p:sp>
          <p:nvSpPr>
            <p:cNvPr id="95" name="Ellipse 95"/>
            <p:cNvSpPr/>
            <p:nvPr/>
          </p:nvSpPr>
          <p:spPr>
            <a:xfrm>
              <a:off x="3829050" y="2019300"/>
              <a:ext cx="38100" cy="38100"/>
            </a:xfrm>
            <a:prstGeom prst="ellipse">
              <a:avLst/>
            </a:prstGeom>
            <a:solidFill>
              <a:srgbClr val="944130"/>
            </a:solidFill>
            <a:ln>
              <a:noFill/>
            </a:ln>
          </p:spPr>
        </p:sp>
        <p:sp>
          <p:nvSpPr>
            <p:cNvPr id="96" name="TextBox 96"/>
            <p:cNvSpPr txBox="1"/>
            <p:nvPr/>
          </p:nvSpPr>
          <p:spPr>
            <a:xfrm>
              <a:off x="3919538" y="1999536"/>
              <a:ext cx="635575"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客户流失/获取</a:t>
              </a:r>
            </a:p>
          </p:txBody>
        </p:sp>
        <p:sp>
          <p:nvSpPr>
            <p:cNvPr id="97" name="Ellipse 97"/>
            <p:cNvSpPr/>
            <p:nvPr/>
          </p:nvSpPr>
          <p:spPr>
            <a:xfrm>
              <a:off x="3686175" y="2162175"/>
              <a:ext cx="209550" cy="209550"/>
            </a:xfrm>
            <a:prstGeom prst="ellipse">
              <a:avLst/>
            </a:prstGeom>
            <a:solidFill>
              <a:srgbClr val="4E0D00"/>
            </a:solidFill>
            <a:ln>
              <a:noFill/>
            </a:ln>
          </p:spPr>
        </p:sp>
        <p:sp>
          <p:nvSpPr>
            <p:cNvPr id="98" name="TextBox 98"/>
            <p:cNvSpPr txBox="1"/>
            <p:nvPr/>
          </p:nvSpPr>
          <p:spPr>
            <a:xfrm>
              <a:off x="3754313" y="22159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a:t>
              </a:r>
            </a:p>
          </p:txBody>
        </p:sp>
        <p:sp>
          <p:nvSpPr>
            <p:cNvPr id="99" name="TextBox 99"/>
            <p:cNvSpPr txBox="1"/>
            <p:nvPr/>
          </p:nvSpPr>
          <p:spPr>
            <a:xfrm>
              <a:off x="3957638" y="2217420"/>
              <a:ext cx="251841"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产品</a:t>
              </a:r>
            </a:p>
          </p:txBody>
        </p:sp>
        <p:sp>
          <p:nvSpPr>
            <p:cNvPr id="100" name="Rectangle 100"/>
            <p:cNvSpPr/>
            <p:nvPr/>
          </p:nvSpPr>
          <p:spPr>
            <a:xfrm>
              <a:off x="3714750" y="2400300"/>
              <a:ext cx="2266950" cy="533400"/>
            </a:xfrm>
            <a:prstGeom prst="rect">
              <a:avLst/>
            </a:prstGeom>
            <a:solidFill>
              <a:srgbClr val="F2F6FB"/>
            </a:solidFill>
            <a:ln w="9525">
              <a:solidFill>
                <a:srgbClr val="D8E1EE"/>
              </a:solidFill>
            </a:ln>
          </p:spPr>
        </p:sp>
        <p:sp>
          <p:nvSpPr>
            <p:cNvPr id="101" name="Ellipse 101"/>
            <p:cNvSpPr/>
            <p:nvPr/>
          </p:nvSpPr>
          <p:spPr>
            <a:xfrm>
              <a:off x="3829050" y="2533650"/>
              <a:ext cx="38100" cy="38100"/>
            </a:xfrm>
            <a:prstGeom prst="ellipse">
              <a:avLst/>
            </a:prstGeom>
            <a:solidFill>
              <a:srgbClr val="944130"/>
            </a:solidFill>
            <a:ln>
              <a:noFill/>
            </a:ln>
          </p:spPr>
        </p:sp>
        <p:sp>
          <p:nvSpPr>
            <p:cNvPr id="102" name="TextBox 102"/>
            <p:cNvSpPr txBox="1"/>
            <p:nvPr/>
          </p:nvSpPr>
          <p:spPr>
            <a:xfrm>
              <a:off x="3919538" y="2513886"/>
              <a:ext cx="391846"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产品组合</a:t>
              </a:r>
            </a:p>
          </p:txBody>
        </p:sp>
        <p:sp>
          <p:nvSpPr>
            <p:cNvPr id="103" name="Ellipse 103"/>
            <p:cNvSpPr/>
            <p:nvPr/>
          </p:nvSpPr>
          <p:spPr>
            <a:xfrm>
              <a:off x="3829050" y="2686050"/>
              <a:ext cx="38100" cy="38100"/>
            </a:xfrm>
            <a:prstGeom prst="ellipse">
              <a:avLst/>
            </a:prstGeom>
            <a:solidFill>
              <a:srgbClr val="944130"/>
            </a:solidFill>
            <a:ln>
              <a:noFill/>
            </a:ln>
          </p:spPr>
        </p:sp>
        <p:sp>
          <p:nvSpPr>
            <p:cNvPr id="104" name="TextBox 104"/>
            <p:cNvSpPr txBox="1"/>
            <p:nvPr/>
          </p:nvSpPr>
          <p:spPr>
            <a:xfrm>
              <a:off x="3919538" y="2666286"/>
              <a:ext cx="391846"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新品表现</a:t>
              </a:r>
            </a:p>
          </p:txBody>
        </p:sp>
        <p:sp>
          <p:nvSpPr>
            <p:cNvPr id="105" name="Ellipse 105"/>
            <p:cNvSpPr/>
            <p:nvPr/>
          </p:nvSpPr>
          <p:spPr>
            <a:xfrm>
              <a:off x="3829050" y="2838450"/>
              <a:ext cx="38100" cy="38100"/>
            </a:xfrm>
            <a:prstGeom prst="ellipse">
              <a:avLst/>
            </a:prstGeom>
            <a:solidFill>
              <a:srgbClr val="944130"/>
            </a:solidFill>
            <a:ln>
              <a:noFill/>
            </a:ln>
          </p:spPr>
        </p:sp>
        <p:sp>
          <p:nvSpPr>
            <p:cNvPr id="106" name="TextBox 106"/>
            <p:cNvSpPr txBox="1"/>
            <p:nvPr/>
          </p:nvSpPr>
          <p:spPr>
            <a:xfrm>
              <a:off x="3919538" y="2818686"/>
              <a:ext cx="487426"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产品竞争力</a:t>
              </a:r>
            </a:p>
          </p:txBody>
        </p:sp>
        <p:sp>
          <p:nvSpPr>
            <p:cNvPr id="107" name="Ellipse 107"/>
            <p:cNvSpPr/>
            <p:nvPr/>
          </p:nvSpPr>
          <p:spPr>
            <a:xfrm>
              <a:off x="3686175" y="2981325"/>
              <a:ext cx="209550" cy="209550"/>
            </a:xfrm>
            <a:prstGeom prst="ellipse">
              <a:avLst/>
            </a:prstGeom>
            <a:solidFill>
              <a:srgbClr val="4E0D00"/>
            </a:solidFill>
            <a:ln>
              <a:noFill/>
            </a:ln>
          </p:spPr>
        </p:sp>
        <p:sp>
          <p:nvSpPr>
            <p:cNvPr id="108" name="TextBox 108"/>
            <p:cNvSpPr txBox="1"/>
            <p:nvPr/>
          </p:nvSpPr>
          <p:spPr>
            <a:xfrm>
              <a:off x="3754313" y="303514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a:t>
              </a:r>
            </a:p>
          </p:txBody>
        </p:sp>
        <p:sp>
          <p:nvSpPr>
            <p:cNvPr id="109" name="TextBox 109"/>
            <p:cNvSpPr txBox="1"/>
            <p:nvPr/>
          </p:nvSpPr>
          <p:spPr>
            <a:xfrm>
              <a:off x="3957638" y="3036570"/>
              <a:ext cx="615315"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渠道与市场</a:t>
              </a:r>
            </a:p>
          </p:txBody>
        </p:sp>
        <p:sp>
          <p:nvSpPr>
            <p:cNvPr id="110" name="Rectangle 110"/>
            <p:cNvSpPr/>
            <p:nvPr/>
          </p:nvSpPr>
          <p:spPr>
            <a:xfrm>
              <a:off x="3714750" y="3219450"/>
              <a:ext cx="2266950" cy="533400"/>
            </a:xfrm>
            <a:prstGeom prst="rect">
              <a:avLst/>
            </a:prstGeom>
            <a:solidFill>
              <a:srgbClr val="F2F6FB"/>
            </a:solidFill>
            <a:ln w="9525">
              <a:solidFill>
                <a:srgbClr val="D8E1EE"/>
              </a:solidFill>
            </a:ln>
          </p:spPr>
        </p:sp>
        <p:sp>
          <p:nvSpPr>
            <p:cNvPr id="111" name="Ellipse 111"/>
            <p:cNvSpPr/>
            <p:nvPr/>
          </p:nvSpPr>
          <p:spPr>
            <a:xfrm>
              <a:off x="3829050" y="3352800"/>
              <a:ext cx="38100" cy="38100"/>
            </a:xfrm>
            <a:prstGeom prst="ellipse">
              <a:avLst/>
            </a:prstGeom>
            <a:solidFill>
              <a:srgbClr val="944130"/>
            </a:solidFill>
            <a:ln>
              <a:noFill/>
            </a:ln>
          </p:spPr>
        </p:sp>
        <p:sp>
          <p:nvSpPr>
            <p:cNvPr id="112" name="TextBox 112"/>
            <p:cNvSpPr txBox="1"/>
            <p:nvPr/>
          </p:nvSpPr>
          <p:spPr>
            <a:xfrm>
              <a:off x="3919538" y="3333036"/>
              <a:ext cx="678586"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渠道覆盖与效率</a:t>
              </a:r>
            </a:p>
          </p:txBody>
        </p:sp>
        <p:sp>
          <p:nvSpPr>
            <p:cNvPr id="113" name="Ellipse 113"/>
            <p:cNvSpPr/>
            <p:nvPr/>
          </p:nvSpPr>
          <p:spPr>
            <a:xfrm>
              <a:off x="3829050" y="3505200"/>
              <a:ext cx="38100" cy="38100"/>
            </a:xfrm>
            <a:prstGeom prst="ellipse">
              <a:avLst/>
            </a:prstGeom>
            <a:solidFill>
              <a:srgbClr val="944130"/>
            </a:solidFill>
            <a:ln>
              <a:noFill/>
            </a:ln>
          </p:spPr>
        </p:sp>
        <p:sp>
          <p:nvSpPr>
            <p:cNvPr id="114" name="TextBox 114"/>
            <p:cNvSpPr txBox="1"/>
            <p:nvPr/>
          </p:nvSpPr>
          <p:spPr>
            <a:xfrm>
              <a:off x="3919538" y="3485436"/>
              <a:ext cx="678586"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营销投入与转化</a:t>
              </a:r>
            </a:p>
          </p:txBody>
        </p:sp>
        <p:sp>
          <p:nvSpPr>
            <p:cNvPr id="115" name="Ellipse 115"/>
            <p:cNvSpPr/>
            <p:nvPr/>
          </p:nvSpPr>
          <p:spPr>
            <a:xfrm>
              <a:off x="3829050" y="3657600"/>
              <a:ext cx="38100" cy="38100"/>
            </a:xfrm>
            <a:prstGeom prst="ellipse">
              <a:avLst/>
            </a:prstGeom>
            <a:solidFill>
              <a:srgbClr val="944130"/>
            </a:solidFill>
            <a:ln>
              <a:noFill/>
            </a:ln>
          </p:spPr>
        </p:sp>
        <p:sp>
          <p:nvSpPr>
            <p:cNvPr id="116" name="TextBox 116"/>
            <p:cNvSpPr txBox="1"/>
            <p:nvPr/>
          </p:nvSpPr>
          <p:spPr>
            <a:xfrm>
              <a:off x="3919538" y="3637836"/>
              <a:ext cx="678586"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品牌与市场影响</a:t>
              </a:r>
            </a:p>
          </p:txBody>
        </p:sp>
      </p:grpSp>
      <p:grpSp>
        <p:nvGrpSpPr>
          <p:cNvPr id="132" name="principle-me"/>
          <p:cNvGrpSpPr/>
          <p:nvPr/>
        </p:nvGrpSpPr>
        <p:grpSpPr>
          <a:xfrm>
            <a:off x="6153150" y="781050"/>
            <a:ext cx="1924050" cy="1492330"/>
            <a:chOff x="6153150" y="781050"/>
            <a:chExt cx="1924050" cy="1492330"/>
          </a:xfrm>
        </p:grpSpPr>
        <p:sp>
          <p:nvSpPr>
            <p:cNvPr id="118" name="Rectangle 118"/>
            <p:cNvSpPr/>
            <p:nvPr/>
          </p:nvSpPr>
          <p:spPr>
            <a:xfrm>
              <a:off x="6153150" y="781050"/>
              <a:ext cx="1924050" cy="285750"/>
            </a:xfrm>
            <a:prstGeom prst="rect">
              <a:avLst/>
            </a:prstGeom>
            <a:solidFill>
              <a:srgbClr val="4E0D00"/>
            </a:solidFill>
            <a:ln>
              <a:noFill/>
            </a:ln>
          </p:spPr>
        </p:sp>
        <p:sp>
          <p:nvSpPr>
            <p:cNvPr id="119" name="TextBox 119"/>
            <p:cNvSpPr txBox="1"/>
            <p:nvPr/>
          </p:nvSpPr>
          <p:spPr>
            <a:xfrm>
              <a:off x="6846367" y="8186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相互独立</a:t>
              </a:r>
            </a:p>
          </p:txBody>
        </p:sp>
        <p:sp>
          <p:nvSpPr>
            <p:cNvPr id="120" name="TextBox 120"/>
            <p:cNvSpPr txBox="1"/>
            <p:nvPr/>
          </p:nvSpPr>
          <p:spPr>
            <a:xfrm>
              <a:off x="6705896" y="963930"/>
              <a:ext cx="818558" cy="119062"/>
            </a:xfrm>
            <a:prstGeom prst="rect">
              <a:avLst/>
            </a:prstGeom>
            <a:noFill/>
            <a:ln>
              <a:noFill/>
            </a:ln>
          </p:spPr>
          <p:txBody>
            <a:bodyPr wrap="none" lIns="0" tIns="0" rIns="0" bIns="0" anchor="t" anchorCtr="0">
              <a:spAutoFit/>
            </a:bodyPr>
            <a:lstStyle/>
            <a:p>
              <a:pPr algn="ctr"/>
              <a:r>
                <a:rPr lang="en-US" sz="600" dirty="0">
                  <a:solidFill>
                    <a:srgbClr val="C6D2E6"/>
                  </a:solidFill>
                  <a:latin typeface="+mn-lt"/>
                  <a:ea typeface="+mn-ea"/>
                  <a:cs typeface="+mn-cs"/>
                </a:rPr>
                <a:t>(Mutually Exclusive)</a:t>
              </a:r>
            </a:p>
          </p:txBody>
        </p:sp>
        <p:sp>
          <p:nvSpPr>
            <p:cNvPr id="121" name="Ellipse 121"/>
            <p:cNvSpPr/>
            <p:nvPr/>
          </p:nvSpPr>
          <p:spPr>
            <a:xfrm>
              <a:off x="6581775" y="1228725"/>
              <a:ext cx="495300" cy="495300"/>
            </a:xfrm>
            <a:prstGeom prst="ellipse">
              <a:avLst/>
            </a:prstGeom>
            <a:noFill/>
            <a:ln w="14288">
              <a:solidFill>
                <a:srgbClr val="4E0D00"/>
              </a:solidFill>
            </a:ln>
          </p:spPr>
        </p:sp>
        <p:sp>
          <p:nvSpPr>
            <p:cNvPr id="122" name="Line 122"/>
            <p:cNvSpPr/>
            <p:nvPr/>
          </p:nvSpPr>
          <p:spPr>
            <a:xfrm>
              <a:off x="6696075" y="1343025"/>
              <a:ext cx="266700" cy="266700"/>
            </a:xfrm>
            <a:custGeom>
              <a:avLst/>
              <a:gdLst/>
              <a:ahLst/>
              <a:cxnLst/>
              <a:rect l="l" t="t" r="r" b="b"/>
              <a:pathLst>
                <a:path w="266700" h="266700">
                  <a:moveTo>
                    <a:pt x="0" y="0"/>
                  </a:moveTo>
                  <a:lnTo>
                    <a:pt x="266700" y="266700"/>
                  </a:lnTo>
                </a:path>
              </a:pathLst>
            </a:custGeom>
            <a:noFill/>
            <a:ln w="9525">
              <a:solidFill>
                <a:srgbClr val="C8998F"/>
              </a:solidFill>
            </a:ln>
          </p:spPr>
        </p:sp>
        <p:sp>
          <p:nvSpPr>
            <p:cNvPr id="123" name="Line 123"/>
            <p:cNvSpPr/>
            <p:nvPr/>
          </p:nvSpPr>
          <p:spPr>
            <a:xfrm>
              <a:off x="6648450" y="1447800"/>
              <a:ext cx="247650" cy="247650"/>
            </a:xfrm>
            <a:custGeom>
              <a:avLst/>
              <a:gdLst/>
              <a:ahLst/>
              <a:cxnLst/>
              <a:rect l="l" t="t" r="r" b="b"/>
              <a:pathLst>
                <a:path w="247650" h="247650">
                  <a:moveTo>
                    <a:pt x="0" y="0"/>
                  </a:moveTo>
                  <a:lnTo>
                    <a:pt x="247650" y="247650"/>
                  </a:lnTo>
                </a:path>
              </a:pathLst>
            </a:custGeom>
            <a:noFill/>
            <a:ln w="9525">
              <a:solidFill>
                <a:srgbClr val="C8998F"/>
              </a:solidFill>
            </a:ln>
          </p:spPr>
        </p:sp>
        <p:sp>
          <p:nvSpPr>
            <p:cNvPr id="124" name="Line 124"/>
            <p:cNvSpPr/>
            <p:nvPr/>
          </p:nvSpPr>
          <p:spPr>
            <a:xfrm>
              <a:off x="6781800" y="1295400"/>
              <a:ext cx="228600" cy="228600"/>
            </a:xfrm>
            <a:custGeom>
              <a:avLst/>
              <a:gdLst/>
              <a:ahLst/>
              <a:cxnLst/>
              <a:rect l="l" t="t" r="r" b="b"/>
              <a:pathLst>
                <a:path w="228600" h="228600">
                  <a:moveTo>
                    <a:pt x="0" y="0"/>
                  </a:moveTo>
                  <a:lnTo>
                    <a:pt x="228600" y="228600"/>
                  </a:lnTo>
                </a:path>
              </a:pathLst>
            </a:custGeom>
            <a:noFill/>
            <a:ln w="9525">
              <a:solidFill>
                <a:srgbClr val="C8998F"/>
              </a:solidFill>
            </a:ln>
          </p:spPr>
        </p:sp>
        <p:sp>
          <p:nvSpPr>
            <p:cNvPr id="125" name="Ellipse 125"/>
            <p:cNvSpPr/>
            <p:nvPr/>
          </p:nvSpPr>
          <p:spPr>
            <a:xfrm>
              <a:off x="7153275" y="1228725"/>
              <a:ext cx="495300" cy="495300"/>
            </a:xfrm>
            <a:prstGeom prst="ellipse">
              <a:avLst/>
            </a:prstGeom>
            <a:noFill/>
            <a:ln w="14288">
              <a:solidFill>
                <a:srgbClr val="4E0D00"/>
              </a:solidFill>
            </a:ln>
          </p:spPr>
        </p:sp>
        <p:sp>
          <p:nvSpPr>
            <p:cNvPr id="126" name="Line 126"/>
            <p:cNvSpPr/>
            <p:nvPr/>
          </p:nvSpPr>
          <p:spPr>
            <a:xfrm>
              <a:off x="7267575" y="1343025"/>
              <a:ext cx="266700" cy="266700"/>
            </a:xfrm>
            <a:custGeom>
              <a:avLst/>
              <a:gdLst/>
              <a:ahLst/>
              <a:cxnLst/>
              <a:rect l="l" t="t" r="r" b="b"/>
              <a:pathLst>
                <a:path w="266700" h="266700">
                  <a:moveTo>
                    <a:pt x="0" y="0"/>
                  </a:moveTo>
                  <a:lnTo>
                    <a:pt x="266700" y="266700"/>
                  </a:lnTo>
                </a:path>
              </a:pathLst>
            </a:custGeom>
            <a:noFill/>
            <a:ln w="9525">
              <a:solidFill>
                <a:srgbClr val="C8998F"/>
              </a:solidFill>
            </a:ln>
          </p:spPr>
        </p:sp>
        <p:sp>
          <p:nvSpPr>
            <p:cNvPr id="127" name="Line 127"/>
            <p:cNvSpPr/>
            <p:nvPr/>
          </p:nvSpPr>
          <p:spPr>
            <a:xfrm>
              <a:off x="7219950" y="1447800"/>
              <a:ext cx="247650" cy="247650"/>
            </a:xfrm>
            <a:custGeom>
              <a:avLst/>
              <a:gdLst/>
              <a:ahLst/>
              <a:cxnLst/>
              <a:rect l="l" t="t" r="r" b="b"/>
              <a:pathLst>
                <a:path w="247650" h="247650">
                  <a:moveTo>
                    <a:pt x="0" y="0"/>
                  </a:moveTo>
                  <a:lnTo>
                    <a:pt x="247650" y="247650"/>
                  </a:lnTo>
                </a:path>
              </a:pathLst>
            </a:custGeom>
            <a:noFill/>
            <a:ln w="9525">
              <a:solidFill>
                <a:srgbClr val="C8998F"/>
              </a:solidFill>
            </a:ln>
          </p:spPr>
        </p:sp>
        <p:sp>
          <p:nvSpPr>
            <p:cNvPr id="128" name="Line 128"/>
            <p:cNvSpPr/>
            <p:nvPr/>
          </p:nvSpPr>
          <p:spPr>
            <a:xfrm>
              <a:off x="7353300" y="1295400"/>
              <a:ext cx="228600" cy="228600"/>
            </a:xfrm>
            <a:custGeom>
              <a:avLst/>
              <a:gdLst/>
              <a:ahLst/>
              <a:cxnLst/>
              <a:rect l="l" t="t" r="r" b="b"/>
              <a:pathLst>
                <a:path w="228600" h="228600">
                  <a:moveTo>
                    <a:pt x="0" y="0"/>
                  </a:moveTo>
                  <a:lnTo>
                    <a:pt x="228600" y="228600"/>
                  </a:lnTo>
                </a:path>
              </a:pathLst>
            </a:custGeom>
            <a:noFill/>
            <a:ln w="9525">
              <a:solidFill>
                <a:srgbClr val="C8998F"/>
              </a:solidFill>
            </a:ln>
          </p:spPr>
        </p:sp>
        <p:sp>
          <p:nvSpPr>
            <p:cNvPr id="129" name="TextBox 129"/>
            <p:cNvSpPr txBox="1"/>
            <p:nvPr/>
          </p:nvSpPr>
          <p:spPr>
            <a:xfrm>
              <a:off x="6262688" y="1847136"/>
              <a:ext cx="1443228"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任何一个要素只能归入一个类别，</a:t>
              </a:r>
            </a:p>
          </p:txBody>
        </p:sp>
        <p:sp>
          <p:nvSpPr>
            <p:cNvPr id="130" name="TextBox 130"/>
            <p:cNvSpPr txBox="1"/>
            <p:nvPr/>
          </p:nvSpPr>
          <p:spPr>
            <a:xfrm>
              <a:off x="6262688" y="1990011"/>
              <a:ext cx="1156487"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不重复归属，避免双重计算</a:t>
              </a:r>
            </a:p>
          </p:txBody>
        </p:sp>
        <p:sp>
          <p:nvSpPr>
            <p:cNvPr id="131" name="TextBox 131"/>
            <p:cNvSpPr txBox="1"/>
            <p:nvPr/>
          </p:nvSpPr>
          <p:spPr>
            <a:xfrm>
              <a:off x="6262688" y="2132886"/>
              <a:ext cx="583006"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与资源分散。</a:t>
              </a:r>
            </a:p>
          </p:txBody>
        </p:sp>
      </p:grpSp>
      <p:grpSp>
        <p:nvGrpSpPr>
          <p:cNvPr id="143" name="principle-ce"/>
          <p:cNvGrpSpPr/>
          <p:nvPr/>
        </p:nvGrpSpPr>
        <p:grpSpPr>
          <a:xfrm>
            <a:off x="8134350" y="781050"/>
            <a:ext cx="1924050" cy="1349455"/>
            <a:chOff x="8134350" y="781050"/>
            <a:chExt cx="1924050" cy="1349455"/>
          </a:xfrm>
        </p:grpSpPr>
        <p:sp>
          <p:nvSpPr>
            <p:cNvPr id="133" name="Rectangle 133"/>
            <p:cNvSpPr/>
            <p:nvPr/>
          </p:nvSpPr>
          <p:spPr>
            <a:xfrm>
              <a:off x="8134350" y="781050"/>
              <a:ext cx="1924050" cy="285750"/>
            </a:xfrm>
            <a:prstGeom prst="rect">
              <a:avLst/>
            </a:prstGeom>
            <a:solidFill>
              <a:srgbClr val="4E0D00"/>
            </a:solidFill>
            <a:ln>
              <a:noFill/>
            </a:ln>
          </p:spPr>
        </p:sp>
        <p:sp>
          <p:nvSpPr>
            <p:cNvPr id="134" name="TextBox 134"/>
            <p:cNvSpPr txBox="1"/>
            <p:nvPr/>
          </p:nvSpPr>
          <p:spPr>
            <a:xfrm>
              <a:off x="8827567" y="81867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完全穷尽</a:t>
              </a:r>
            </a:p>
          </p:txBody>
        </p:sp>
        <p:sp>
          <p:nvSpPr>
            <p:cNvPr id="135" name="TextBox 135"/>
            <p:cNvSpPr txBox="1"/>
            <p:nvPr/>
          </p:nvSpPr>
          <p:spPr>
            <a:xfrm>
              <a:off x="8594338" y="963930"/>
              <a:ext cx="1004074" cy="119062"/>
            </a:xfrm>
            <a:prstGeom prst="rect">
              <a:avLst/>
            </a:prstGeom>
            <a:noFill/>
            <a:ln>
              <a:noFill/>
            </a:ln>
          </p:spPr>
          <p:txBody>
            <a:bodyPr wrap="none" lIns="0" tIns="0" rIns="0" bIns="0" anchor="t" anchorCtr="0">
              <a:spAutoFit/>
            </a:bodyPr>
            <a:lstStyle/>
            <a:p>
              <a:pPr algn="ctr"/>
              <a:r>
                <a:rPr lang="en-US" sz="600" dirty="0">
                  <a:solidFill>
                    <a:srgbClr val="C6D2E6"/>
                  </a:solidFill>
                  <a:latin typeface="+mn-lt"/>
                  <a:ea typeface="+mn-ea"/>
                  <a:cs typeface="+mn-cs"/>
                </a:rPr>
                <a:t>(Collectively Exhaustive)</a:t>
              </a:r>
            </a:p>
          </p:txBody>
        </p:sp>
        <p:sp>
          <p:nvSpPr>
            <p:cNvPr id="136" name="Ellipse 136"/>
            <p:cNvSpPr/>
            <p:nvPr/>
          </p:nvSpPr>
          <p:spPr>
            <a:xfrm>
              <a:off x="8486775" y="1152525"/>
              <a:ext cx="647700" cy="647700"/>
            </a:xfrm>
            <a:prstGeom prst="ellipse">
              <a:avLst/>
            </a:prstGeom>
            <a:noFill/>
            <a:ln w="14288">
              <a:solidFill>
                <a:srgbClr val="4E0D00"/>
              </a:solidFill>
              <a:custDash>
                <a:ds d="200000" sp="200000"/>
              </a:custDash>
            </a:ln>
          </p:spPr>
        </p:sp>
        <p:sp>
          <p:nvSpPr>
            <p:cNvPr id="137" name="Rectangle 137"/>
            <p:cNvSpPr/>
            <p:nvPr/>
          </p:nvSpPr>
          <p:spPr>
            <a:xfrm rot="720000">
              <a:off x="8599981" y="1343911"/>
              <a:ext cx="161925" cy="161925"/>
            </a:xfrm>
            <a:prstGeom prst="rect">
              <a:avLst/>
            </a:prstGeom>
            <a:solidFill>
              <a:srgbClr val="4E0D00"/>
            </a:solidFill>
            <a:ln>
              <a:noFill/>
            </a:ln>
          </p:spPr>
        </p:sp>
        <p:sp>
          <p:nvSpPr>
            <p:cNvPr id="138" name="Rectangle 138"/>
            <p:cNvSpPr/>
            <p:nvPr/>
          </p:nvSpPr>
          <p:spPr>
            <a:xfrm rot="-540000">
              <a:off x="8811311" y="1266021"/>
              <a:ext cx="161925" cy="161925"/>
            </a:xfrm>
            <a:prstGeom prst="rect">
              <a:avLst/>
            </a:prstGeom>
            <a:solidFill>
              <a:srgbClr val="944130"/>
            </a:solidFill>
            <a:ln>
              <a:noFill/>
            </a:ln>
          </p:spPr>
        </p:sp>
        <p:sp>
          <p:nvSpPr>
            <p:cNvPr id="139" name="Rectangle 139"/>
            <p:cNvSpPr/>
            <p:nvPr/>
          </p:nvSpPr>
          <p:spPr>
            <a:xfrm rot="420000">
              <a:off x="8838584" y="1505495"/>
              <a:ext cx="161925" cy="161925"/>
            </a:xfrm>
            <a:prstGeom prst="rect">
              <a:avLst/>
            </a:prstGeom>
            <a:solidFill>
              <a:srgbClr val="4E0D00"/>
            </a:solidFill>
            <a:ln>
              <a:noFill/>
            </a:ln>
          </p:spPr>
        </p:sp>
        <p:sp>
          <p:nvSpPr>
            <p:cNvPr id="140" name="Rectangle 140"/>
            <p:cNvSpPr/>
            <p:nvPr/>
          </p:nvSpPr>
          <p:spPr>
            <a:xfrm rot="-840000">
              <a:off x="8621136" y="1541756"/>
              <a:ext cx="161925" cy="161925"/>
            </a:xfrm>
            <a:prstGeom prst="rect">
              <a:avLst/>
            </a:prstGeom>
            <a:solidFill>
              <a:srgbClr val="944130"/>
            </a:solidFill>
            <a:ln>
              <a:noFill/>
            </a:ln>
          </p:spPr>
        </p:sp>
        <p:sp>
          <p:nvSpPr>
            <p:cNvPr id="141" name="TextBox 141"/>
            <p:cNvSpPr txBox="1"/>
            <p:nvPr/>
          </p:nvSpPr>
          <p:spPr>
            <a:xfrm>
              <a:off x="8243888" y="1847136"/>
              <a:ext cx="1252068"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所有可能都被覆盖，无遗漏，</a:t>
              </a:r>
            </a:p>
          </p:txBody>
        </p:sp>
        <p:sp>
          <p:nvSpPr>
            <p:cNvPr id="142" name="TextBox 142"/>
            <p:cNvSpPr txBox="1"/>
            <p:nvPr/>
          </p:nvSpPr>
          <p:spPr>
            <a:xfrm>
              <a:off x="8243888" y="1990011"/>
              <a:ext cx="1252068"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保证结构完整，结论不失真。</a:t>
              </a:r>
            </a:p>
          </p:txBody>
        </p:sp>
      </p:grpSp>
      <p:grpSp>
        <p:nvGrpSpPr>
          <p:cNvPr id="170" name="errors"/>
          <p:cNvGrpSpPr/>
          <p:nvPr/>
        </p:nvGrpSpPr>
        <p:grpSpPr>
          <a:xfrm>
            <a:off x="6153150" y="2809875"/>
            <a:ext cx="3905250" cy="1362075"/>
            <a:chOff x="6153150" y="2809875"/>
            <a:chExt cx="3905250" cy="1362075"/>
          </a:xfrm>
        </p:grpSpPr>
        <p:sp>
          <p:nvSpPr>
            <p:cNvPr id="144" name="Line 144"/>
            <p:cNvSpPr/>
            <p:nvPr/>
          </p:nvSpPr>
          <p:spPr>
            <a:xfrm>
              <a:off x="6286500" y="2914650"/>
              <a:ext cx="1257300" cy="9525"/>
            </a:xfrm>
            <a:custGeom>
              <a:avLst/>
              <a:gdLst/>
              <a:ahLst/>
              <a:cxnLst/>
              <a:rect l="l" t="t" r="r" b="b"/>
              <a:pathLst>
                <a:path w="1257300" h="9525">
                  <a:moveTo>
                    <a:pt x="0" y="0"/>
                  </a:moveTo>
                  <a:lnTo>
                    <a:pt x="1257300" y="0"/>
                  </a:lnTo>
                </a:path>
              </a:pathLst>
            </a:custGeom>
            <a:noFill/>
            <a:ln w="9525">
              <a:solidFill>
                <a:srgbClr val="C7D2E4"/>
              </a:solidFill>
            </a:ln>
          </p:spPr>
        </p:sp>
        <p:sp>
          <p:nvSpPr>
            <p:cNvPr id="145" name="Line 145"/>
            <p:cNvSpPr/>
            <p:nvPr/>
          </p:nvSpPr>
          <p:spPr>
            <a:xfrm>
              <a:off x="8667750" y="2914650"/>
              <a:ext cx="1257300" cy="9525"/>
            </a:xfrm>
            <a:custGeom>
              <a:avLst/>
              <a:gdLst/>
              <a:ahLst/>
              <a:cxnLst/>
              <a:rect l="l" t="t" r="r" b="b"/>
              <a:pathLst>
                <a:path w="1257300" h="9525">
                  <a:moveTo>
                    <a:pt x="0" y="0"/>
                  </a:moveTo>
                  <a:lnTo>
                    <a:pt x="1257300" y="0"/>
                  </a:lnTo>
                </a:path>
              </a:pathLst>
            </a:custGeom>
            <a:noFill/>
            <a:ln w="9525">
              <a:solidFill>
                <a:srgbClr val="C7D2E4"/>
              </a:solidFill>
            </a:ln>
          </p:spPr>
        </p:sp>
        <p:sp>
          <p:nvSpPr>
            <p:cNvPr id="146" name="Rectangle 146"/>
            <p:cNvSpPr/>
            <p:nvPr/>
          </p:nvSpPr>
          <p:spPr>
            <a:xfrm>
              <a:off x="7620000" y="2809875"/>
              <a:ext cx="971550" cy="209550"/>
            </a:xfrm>
            <a:prstGeom prst="rect">
              <a:avLst/>
            </a:prstGeom>
            <a:solidFill>
              <a:srgbClr val="EFF3FA"/>
            </a:solidFill>
            <a:ln w="9525">
              <a:solidFill>
                <a:srgbClr val="C7D2E4"/>
              </a:solidFill>
            </a:ln>
          </p:spPr>
        </p:sp>
        <p:sp>
          <p:nvSpPr>
            <p:cNvPr id="147" name="TextBox 147"/>
            <p:cNvSpPr txBox="1"/>
            <p:nvPr/>
          </p:nvSpPr>
          <p:spPr>
            <a:xfrm>
              <a:off x="7880236" y="2863691"/>
              <a:ext cx="451079"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常见错误</a:t>
              </a:r>
            </a:p>
          </p:txBody>
        </p:sp>
        <p:sp>
          <p:nvSpPr>
            <p:cNvPr id="148" name="Rectangle 148"/>
            <p:cNvSpPr/>
            <p:nvPr/>
          </p:nvSpPr>
          <p:spPr>
            <a:xfrm>
              <a:off x="6153150" y="3105150"/>
              <a:ext cx="1885950" cy="1066800"/>
            </a:xfrm>
            <a:prstGeom prst="rect">
              <a:avLst/>
            </a:prstGeom>
            <a:solidFill>
              <a:srgbClr val="FFFFFF"/>
            </a:solidFill>
            <a:ln w="9525">
              <a:solidFill>
                <a:srgbClr val="C7D2E4"/>
              </a:solidFill>
            </a:ln>
          </p:spPr>
        </p:sp>
        <p:sp>
          <p:nvSpPr>
            <p:cNvPr id="149" name="TextBox 149"/>
            <p:cNvSpPr txBox="1"/>
            <p:nvPr/>
          </p:nvSpPr>
          <p:spPr>
            <a:xfrm>
              <a:off x="6262688" y="3187541"/>
              <a:ext cx="782244"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重叠（不独立）</a:t>
              </a:r>
            </a:p>
          </p:txBody>
        </p:sp>
        <p:sp>
          <p:nvSpPr>
            <p:cNvPr id="150" name="Ellipse 150"/>
            <p:cNvSpPr/>
            <p:nvPr/>
          </p:nvSpPr>
          <p:spPr>
            <a:xfrm>
              <a:off x="6486525" y="3533775"/>
              <a:ext cx="361950" cy="361950"/>
            </a:xfrm>
            <a:prstGeom prst="ellipse">
              <a:avLst/>
            </a:prstGeom>
            <a:noFill/>
            <a:ln w="13335">
              <a:solidFill>
                <a:srgbClr val="4E0D00"/>
              </a:solidFill>
            </a:ln>
          </p:spPr>
        </p:sp>
        <p:sp>
          <p:nvSpPr>
            <p:cNvPr id="151" name="Ellipse 151"/>
            <p:cNvSpPr/>
            <p:nvPr/>
          </p:nvSpPr>
          <p:spPr>
            <a:xfrm>
              <a:off x="6677025" y="3533775"/>
              <a:ext cx="361950" cy="361950"/>
            </a:xfrm>
            <a:prstGeom prst="ellipse">
              <a:avLst/>
            </a:prstGeom>
            <a:noFill/>
            <a:ln w="13335">
              <a:solidFill>
                <a:srgbClr val="944130"/>
              </a:solidFill>
            </a:ln>
          </p:spPr>
        </p:sp>
        <p:sp>
          <p:nvSpPr>
            <p:cNvPr id="152" name="TextBox 152"/>
            <p:cNvSpPr txBox="1"/>
            <p:nvPr/>
          </p:nvSpPr>
          <p:spPr>
            <a:xfrm>
              <a:off x="6605588" y="3679984"/>
              <a:ext cx="62723" cy="133350"/>
            </a:xfrm>
            <a:prstGeom prst="rect">
              <a:avLst/>
            </a:prstGeom>
            <a:noFill/>
            <a:ln>
              <a:noFill/>
            </a:ln>
          </p:spPr>
          <p:txBody>
            <a:bodyPr wrap="none" lIns="0" tIns="0" rIns="0" bIns="0" anchor="t" anchorCtr="0">
              <a:spAutoFit/>
            </a:bodyPr>
            <a:lstStyle/>
            <a:p>
              <a:pPr algn="l"/>
              <a:r>
                <a:rPr lang="en-US" sz="680" dirty="0">
                  <a:solidFill>
                    <a:srgbClr val="4E0D00"/>
                  </a:solidFill>
                  <a:latin typeface="+mn-lt"/>
                  <a:ea typeface="+mn-ea"/>
                  <a:cs typeface="+mn-cs"/>
                </a:rPr>
                <a:t>A</a:t>
              </a:r>
            </a:p>
          </p:txBody>
        </p:sp>
        <p:sp>
          <p:nvSpPr>
            <p:cNvPr id="153" name="TextBox 153"/>
            <p:cNvSpPr txBox="1"/>
            <p:nvPr/>
          </p:nvSpPr>
          <p:spPr>
            <a:xfrm>
              <a:off x="6891338" y="3679984"/>
              <a:ext cx="62723" cy="133350"/>
            </a:xfrm>
            <a:prstGeom prst="rect">
              <a:avLst/>
            </a:prstGeom>
            <a:noFill/>
            <a:ln>
              <a:noFill/>
            </a:ln>
          </p:spPr>
          <p:txBody>
            <a:bodyPr wrap="none" lIns="0" tIns="0" rIns="0" bIns="0" anchor="t" anchorCtr="0">
              <a:spAutoFit/>
            </a:bodyPr>
            <a:lstStyle/>
            <a:p>
              <a:pPr algn="l"/>
              <a:r>
                <a:rPr lang="en-US" sz="680" dirty="0">
                  <a:solidFill>
                    <a:srgbClr val="944130"/>
                  </a:solidFill>
                  <a:latin typeface="+mn-lt"/>
                  <a:ea typeface="+mn-ea"/>
                  <a:cs typeface="+mn-cs"/>
                </a:rPr>
                <a:t>B</a:t>
              </a:r>
            </a:p>
          </p:txBody>
        </p:sp>
        <p:sp>
          <p:nvSpPr>
            <p:cNvPr id="154" name="TextBox 154"/>
            <p:cNvSpPr txBox="1"/>
            <p:nvPr/>
          </p:nvSpPr>
          <p:spPr>
            <a:xfrm>
              <a:off x="7158038" y="3474482"/>
              <a:ext cx="65391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A、B 两圈交叠，</a:t>
              </a:r>
            </a:p>
          </p:txBody>
        </p:sp>
        <p:sp>
          <p:nvSpPr>
            <p:cNvPr id="155" name="TextBox 155"/>
            <p:cNvSpPr txBox="1"/>
            <p:nvPr/>
          </p:nvSpPr>
          <p:spPr>
            <a:xfrm>
              <a:off x="7158038" y="360783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同一要素被归入多个</a:t>
              </a:r>
            </a:p>
          </p:txBody>
        </p:sp>
        <p:sp>
          <p:nvSpPr>
            <p:cNvPr id="156" name="TextBox 156"/>
            <p:cNvSpPr txBox="1"/>
            <p:nvPr/>
          </p:nvSpPr>
          <p:spPr>
            <a:xfrm>
              <a:off x="7158038" y="374118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类别，导致重复统计</a:t>
              </a:r>
            </a:p>
          </p:txBody>
        </p:sp>
        <p:sp>
          <p:nvSpPr>
            <p:cNvPr id="157" name="TextBox 157"/>
            <p:cNvSpPr txBox="1"/>
            <p:nvPr/>
          </p:nvSpPr>
          <p:spPr>
            <a:xfrm>
              <a:off x="7158038" y="3874532"/>
              <a:ext cx="44030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与判断偏差</a:t>
              </a:r>
            </a:p>
          </p:txBody>
        </p:sp>
        <p:sp>
          <p:nvSpPr>
            <p:cNvPr id="158" name="Rectangle 158"/>
            <p:cNvSpPr/>
            <p:nvPr/>
          </p:nvSpPr>
          <p:spPr>
            <a:xfrm>
              <a:off x="8134350" y="3105150"/>
              <a:ext cx="1924050" cy="1066800"/>
            </a:xfrm>
            <a:prstGeom prst="rect">
              <a:avLst/>
            </a:prstGeom>
            <a:solidFill>
              <a:srgbClr val="FFFFFF"/>
            </a:solidFill>
            <a:ln w="9525">
              <a:solidFill>
                <a:srgbClr val="C7D2E4"/>
              </a:solidFill>
            </a:ln>
          </p:spPr>
        </p:sp>
        <p:sp>
          <p:nvSpPr>
            <p:cNvPr id="159" name="TextBox 159"/>
            <p:cNvSpPr txBox="1"/>
            <p:nvPr/>
          </p:nvSpPr>
          <p:spPr>
            <a:xfrm>
              <a:off x="8243888" y="3187541"/>
              <a:ext cx="782244"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遗漏（不穷尽）</a:t>
              </a:r>
            </a:p>
          </p:txBody>
        </p:sp>
        <p:sp>
          <p:nvSpPr>
            <p:cNvPr id="160" name="Rectangle 160"/>
            <p:cNvSpPr/>
            <p:nvPr/>
          </p:nvSpPr>
          <p:spPr>
            <a:xfrm>
              <a:off x="8267700" y="3390900"/>
              <a:ext cx="209550" cy="209550"/>
            </a:xfrm>
            <a:prstGeom prst="rect">
              <a:avLst/>
            </a:prstGeom>
            <a:noFill/>
            <a:ln w="13335">
              <a:solidFill>
                <a:srgbClr val="4E0D00"/>
              </a:solidFill>
            </a:ln>
          </p:spPr>
        </p:sp>
        <p:sp>
          <p:nvSpPr>
            <p:cNvPr id="161" name="TextBox 161"/>
            <p:cNvSpPr txBox="1"/>
            <p:nvPr/>
          </p:nvSpPr>
          <p:spPr>
            <a:xfrm>
              <a:off x="8320088" y="3460909"/>
              <a:ext cx="62723" cy="133350"/>
            </a:xfrm>
            <a:prstGeom prst="rect">
              <a:avLst/>
            </a:prstGeom>
            <a:noFill/>
            <a:ln>
              <a:noFill/>
            </a:ln>
          </p:spPr>
          <p:txBody>
            <a:bodyPr wrap="none" lIns="0" tIns="0" rIns="0" bIns="0" anchor="t" anchorCtr="0">
              <a:spAutoFit/>
            </a:bodyPr>
            <a:lstStyle/>
            <a:p>
              <a:pPr algn="l"/>
              <a:r>
                <a:rPr lang="en-US" sz="680" dirty="0">
                  <a:solidFill>
                    <a:srgbClr val="4E0D00"/>
                  </a:solidFill>
                  <a:latin typeface="+mn-lt"/>
                  <a:ea typeface="+mn-ea"/>
                  <a:cs typeface="+mn-cs"/>
                </a:rPr>
                <a:t>A</a:t>
              </a:r>
            </a:p>
          </p:txBody>
        </p:sp>
        <p:sp>
          <p:nvSpPr>
            <p:cNvPr id="162" name="Rectangle 162"/>
            <p:cNvSpPr/>
            <p:nvPr/>
          </p:nvSpPr>
          <p:spPr>
            <a:xfrm>
              <a:off x="8534400" y="3390900"/>
              <a:ext cx="209550" cy="209550"/>
            </a:xfrm>
            <a:prstGeom prst="rect">
              <a:avLst/>
            </a:prstGeom>
            <a:noFill/>
            <a:ln w="13335">
              <a:solidFill>
                <a:srgbClr val="4E0D00"/>
              </a:solidFill>
            </a:ln>
          </p:spPr>
        </p:sp>
        <p:sp>
          <p:nvSpPr>
            <p:cNvPr id="163" name="TextBox 163"/>
            <p:cNvSpPr txBox="1"/>
            <p:nvPr/>
          </p:nvSpPr>
          <p:spPr>
            <a:xfrm>
              <a:off x="8586788" y="3460909"/>
              <a:ext cx="62723" cy="133350"/>
            </a:xfrm>
            <a:prstGeom prst="rect">
              <a:avLst/>
            </a:prstGeom>
            <a:noFill/>
            <a:ln>
              <a:noFill/>
            </a:ln>
          </p:spPr>
          <p:txBody>
            <a:bodyPr wrap="none" lIns="0" tIns="0" rIns="0" bIns="0" anchor="t" anchorCtr="0">
              <a:spAutoFit/>
            </a:bodyPr>
            <a:lstStyle/>
            <a:p>
              <a:pPr algn="l"/>
              <a:r>
                <a:rPr lang="en-US" sz="680" dirty="0">
                  <a:solidFill>
                    <a:srgbClr val="4E0D00"/>
                  </a:solidFill>
                  <a:latin typeface="+mn-lt"/>
                  <a:ea typeface="+mn-ea"/>
                  <a:cs typeface="+mn-cs"/>
                </a:rPr>
                <a:t>B</a:t>
              </a:r>
            </a:p>
          </p:txBody>
        </p:sp>
        <p:sp>
          <p:nvSpPr>
            <p:cNvPr id="164" name="Rectangle 164"/>
            <p:cNvSpPr/>
            <p:nvPr/>
          </p:nvSpPr>
          <p:spPr>
            <a:xfrm>
              <a:off x="8801100" y="3390900"/>
              <a:ext cx="209550" cy="209550"/>
            </a:xfrm>
            <a:prstGeom prst="rect">
              <a:avLst/>
            </a:prstGeom>
            <a:noFill/>
            <a:ln w="13335">
              <a:solidFill>
                <a:srgbClr val="4E0D00"/>
              </a:solidFill>
            </a:ln>
          </p:spPr>
        </p:sp>
        <p:sp>
          <p:nvSpPr>
            <p:cNvPr id="165" name="TextBox 165"/>
            <p:cNvSpPr txBox="1"/>
            <p:nvPr/>
          </p:nvSpPr>
          <p:spPr>
            <a:xfrm>
              <a:off x="8853488" y="3460909"/>
              <a:ext cx="62723" cy="133350"/>
            </a:xfrm>
            <a:prstGeom prst="rect">
              <a:avLst/>
            </a:prstGeom>
            <a:noFill/>
            <a:ln>
              <a:noFill/>
            </a:ln>
          </p:spPr>
          <p:txBody>
            <a:bodyPr wrap="none" lIns="0" tIns="0" rIns="0" bIns="0" anchor="t" anchorCtr="0">
              <a:spAutoFit/>
            </a:bodyPr>
            <a:lstStyle/>
            <a:p>
              <a:pPr algn="l"/>
              <a:r>
                <a:rPr lang="en-US" sz="680" dirty="0">
                  <a:solidFill>
                    <a:srgbClr val="4E0D00"/>
                  </a:solidFill>
                  <a:latin typeface="+mn-lt"/>
                  <a:ea typeface="+mn-ea"/>
                  <a:cs typeface="+mn-cs"/>
                </a:rPr>
                <a:t>C</a:t>
              </a:r>
            </a:p>
          </p:txBody>
        </p:sp>
        <p:sp>
          <p:nvSpPr>
            <p:cNvPr id="166" name="Ellipse 166"/>
            <p:cNvSpPr/>
            <p:nvPr/>
          </p:nvSpPr>
          <p:spPr>
            <a:xfrm>
              <a:off x="9067800" y="3381375"/>
              <a:ext cx="228600" cy="228600"/>
            </a:xfrm>
            <a:prstGeom prst="ellipse">
              <a:avLst/>
            </a:prstGeom>
            <a:noFill/>
            <a:ln w="11430">
              <a:solidFill>
                <a:srgbClr val="944130"/>
              </a:solidFill>
              <a:custDash>
                <a:ds d="250000" sp="166667"/>
              </a:custDash>
            </a:ln>
          </p:spPr>
        </p:sp>
        <p:sp>
          <p:nvSpPr>
            <p:cNvPr id="167" name="TextBox 167"/>
            <p:cNvSpPr txBox="1"/>
            <p:nvPr/>
          </p:nvSpPr>
          <p:spPr>
            <a:xfrm>
              <a:off x="9148184" y="3452812"/>
              <a:ext cx="67832" cy="147638"/>
            </a:xfrm>
            <a:prstGeom prst="rect">
              <a:avLst/>
            </a:prstGeom>
            <a:noFill/>
            <a:ln>
              <a:noFill/>
            </a:ln>
          </p:spPr>
          <p:txBody>
            <a:bodyPr wrap="none" lIns="0" tIns="0" rIns="0" bIns="0" anchor="t" anchorCtr="0">
              <a:spAutoFit/>
            </a:bodyPr>
            <a:lstStyle/>
            <a:p>
              <a:pPr algn="ctr"/>
              <a:r>
                <a:rPr lang="zh-CN" sz="750" b="1" dirty="0">
                  <a:solidFill>
                    <a:srgbClr val="944130"/>
                  </a:solidFill>
                  <a:latin typeface="+mn-lt"/>
                  <a:ea typeface="+mn-ea"/>
                  <a:cs typeface="+mn-cs"/>
                </a:rPr>
                <a:t>?</a:t>
              </a:r>
            </a:p>
          </p:txBody>
        </p:sp>
        <p:sp>
          <p:nvSpPr>
            <p:cNvPr id="168" name="TextBox 168"/>
            <p:cNvSpPr txBox="1"/>
            <p:nvPr/>
          </p:nvSpPr>
          <p:spPr>
            <a:xfrm>
              <a:off x="8262938" y="374118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存在未被覆盖的要素，</a:t>
              </a:r>
            </a:p>
          </p:txBody>
        </p:sp>
        <p:sp>
          <p:nvSpPr>
            <p:cNvPr id="169" name="TextBox 169"/>
            <p:cNvSpPr txBox="1"/>
            <p:nvPr/>
          </p:nvSpPr>
          <p:spPr>
            <a:xfrm>
              <a:off x="8262938" y="3874532"/>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导致结论片面、风险未识别</a:t>
              </a:r>
            </a:p>
          </p:txBody>
        </p:sp>
      </p:grpSp>
      <p:grpSp>
        <p:nvGrpSpPr>
          <p:cNvPr id="218" name="steps"/>
          <p:cNvGrpSpPr/>
          <p:nvPr/>
        </p:nvGrpSpPr>
        <p:grpSpPr>
          <a:xfrm>
            <a:off x="10153650" y="781050"/>
            <a:ext cx="1809750" cy="3619500"/>
            <a:chOff x="10153650" y="781050"/>
            <a:chExt cx="1809750" cy="3619500"/>
          </a:xfrm>
        </p:grpSpPr>
        <p:sp>
          <p:nvSpPr>
            <p:cNvPr id="171" name="Rectangle 171"/>
            <p:cNvSpPr/>
            <p:nvPr/>
          </p:nvSpPr>
          <p:spPr>
            <a:xfrm>
              <a:off x="10153650" y="781050"/>
              <a:ext cx="1809750" cy="228600"/>
            </a:xfrm>
            <a:prstGeom prst="rect">
              <a:avLst/>
            </a:prstGeom>
            <a:solidFill>
              <a:srgbClr val="4E0D00"/>
            </a:solidFill>
            <a:ln>
              <a:noFill/>
            </a:ln>
          </p:spPr>
        </p:sp>
        <p:grpSp>
          <p:nvGrpSpPr>
            <p:cNvPr id="175" name="Group 175"/>
            <p:cNvGrpSpPr/>
            <p:nvPr/>
          </p:nvGrpSpPr>
          <p:grpSpPr>
            <a:xfrm>
              <a:off x="10265569" y="845344"/>
              <a:ext cx="100012" cy="100012"/>
              <a:chOff x="10265569" y="845344"/>
              <a:chExt cx="100012" cy="100012"/>
            </a:xfrm>
          </p:grpSpPr>
          <p:sp>
            <p:nvSpPr>
              <p:cNvPr id="172" name="Freeform 172"/>
              <p:cNvSpPr/>
              <p:nvPr/>
            </p:nvSpPr>
            <p:spPr>
              <a:xfrm>
                <a:off x="10310019" y="88979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173" name="Freeform 173"/>
              <p:cNvSpPr/>
              <p:nvPr/>
            </p:nvSpPr>
            <p:spPr>
              <a:xfrm>
                <a:off x="10287794" y="867569"/>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174" name="Freeform 174"/>
              <p:cNvSpPr/>
              <p:nvPr/>
            </p:nvSpPr>
            <p:spPr>
              <a:xfrm>
                <a:off x="10265569" y="84534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176" name="TextBox 176"/>
            <p:cNvSpPr txBox="1"/>
            <p:nvPr/>
          </p:nvSpPr>
          <p:spPr>
            <a:xfrm>
              <a:off x="10453688" y="84582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问题界定</a:t>
              </a:r>
            </a:p>
          </p:txBody>
        </p:sp>
        <p:sp>
          <p:nvSpPr>
            <p:cNvPr id="177" name="Rectangle 177"/>
            <p:cNvSpPr/>
            <p:nvPr/>
          </p:nvSpPr>
          <p:spPr>
            <a:xfrm>
              <a:off x="10153650" y="1009650"/>
              <a:ext cx="1809750" cy="590550"/>
            </a:xfrm>
            <a:prstGeom prst="rect">
              <a:avLst/>
            </a:prstGeom>
            <a:solidFill>
              <a:srgbClr val="FFFFFF"/>
            </a:solidFill>
            <a:ln w="9525">
              <a:solidFill>
                <a:srgbClr val="C7D2E4"/>
              </a:solidFill>
            </a:ln>
          </p:spPr>
        </p:sp>
        <p:sp>
          <p:nvSpPr>
            <p:cNvPr id="178" name="TextBox 178"/>
            <p:cNvSpPr txBox="1"/>
            <p:nvPr/>
          </p:nvSpPr>
          <p:spPr>
            <a:xfrm>
              <a:off x="10263188" y="1104186"/>
              <a:ext cx="65965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明确核心问题</a:t>
              </a:r>
            </a:p>
          </p:txBody>
        </p:sp>
        <p:sp>
          <p:nvSpPr>
            <p:cNvPr id="179" name="TextBox 179"/>
            <p:cNvSpPr txBox="1"/>
            <p:nvPr/>
          </p:nvSpPr>
          <p:spPr>
            <a:xfrm>
              <a:off x="10263188" y="1256586"/>
              <a:ext cx="65965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确定分析范围</a:t>
              </a:r>
            </a:p>
          </p:txBody>
        </p:sp>
        <p:sp>
          <p:nvSpPr>
            <p:cNvPr id="180" name="TextBox 180"/>
            <p:cNvSpPr txBox="1"/>
            <p:nvPr/>
          </p:nvSpPr>
          <p:spPr>
            <a:xfrm>
              <a:off x="10263188" y="1408986"/>
              <a:ext cx="85081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形成清晰问题陈述</a:t>
              </a:r>
            </a:p>
          </p:txBody>
        </p:sp>
        <p:sp>
          <p:nvSpPr>
            <p:cNvPr id="181" name="Line 181"/>
            <p:cNvSpPr/>
            <p:nvPr/>
          </p:nvSpPr>
          <p:spPr>
            <a:xfrm>
              <a:off x="11058525" y="1619250"/>
              <a:ext cx="1" cy="57150"/>
            </a:xfrm>
            <a:prstGeom prst="line">
              <a:avLst/>
            </a:prstGeom>
            <a:noFill/>
            <a:ln w="19050">
              <a:solidFill>
                <a:srgbClr val="944130"/>
              </a:solidFill>
              <a:tailEnd type="triangle" w="lg" len="lg"/>
            </a:ln>
          </p:spPr>
        </p:sp>
        <p:sp>
          <p:nvSpPr>
            <p:cNvPr id="182" name="Rectangle 182"/>
            <p:cNvSpPr/>
            <p:nvPr/>
          </p:nvSpPr>
          <p:spPr>
            <a:xfrm>
              <a:off x="10153650" y="1714500"/>
              <a:ext cx="1809750" cy="228600"/>
            </a:xfrm>
            <a:prstGeom prst="rect">
              <a:avLst/>
            </a:prstGeom>
            <a:solidFill>
              <a:srgbClr val="4E0D00"/>
            </a:solidFill>
            <a:ln>
              <a:noFill/>
            </a:ln>
          </p:spPr>
        </p:sp>
        <p:grpSp>
          <p:nvGrpSpPr>
            <p:cNvPr id="188" name="Group 188"/>
            <p:cNvGrpSpPr/>
            <p:nvPr/>
          </p:nvGrpSpPr>
          <p:grpSpPr>
            <a:xfrm>
              <a:off x="10265569" y="1778794"/>
              <a:ext cx="100012" cy="100012"/>
              <a:chOff x="10265569" y="1778794"/>
              <a:chExt cx="100012" cy="100012"/>
            </a:xfrm>
          </p:grpSpPr>
          <p:sp>
            <p:nvSpPr>
              <p:cNvPr id="183" name="Freeform 183"/>
              <p:cNvSpPr/>
              <p:nvPr/>
            </p:nvSpPr>
            <p:spPr>
              <a:xfrm>
                <a:off x="10304462" y="177879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FFFFFF"/>
                </a:solidFill>
              </a:ln>
            </p:spPr>
          </p:sp>
          <p:sp>
            <p:nvSpPr>
              <p:cNvPr id="184" name="Freeform 184"/>
              <p:cNvSpPr/>
              <p:nvPr/>
            </p:nvSpPr>
            <p:spPr>
              <a:xfrm>
                <a:off x="10265569" y="185658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FFFFFF"/>
                </a:solidFill>
              </a:ln>
            </p:spPr>
          </p:sp>
          <p:sp>
            <p:nvSpPr>
              <p:cNvPr id="185" name="Freeform 185"/>
              <p:cNvSpPr/>
              <p:nvPr/>
            </p:nvSpPr>
            <p:spPr>
              <a:xfrm>
                <a:off x="10343356" y="1856581"/>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FFFFFF"/>
                </a:solidFill>
              </a:ln>
            </p:spPr>
          </p:sp>
          <p:sp>
            <p:nvSpPr>
              <p:cNvPr id="186" name="Freeform 186"/>
              <p:cNvSpPr/>
              <p:nvPr/>
            </p:nvSpPr>
            <p:spPr>
              <a:xfrm>
                <a:off x="10285016" y="1834356"/>
                <a:ext cx="61119" cy="25003"/>
              </a:xfrm>
              <a:custGeom>
                <a:avLst/>
                <a:gdLst/>
                <a:ahLst/>
                <a:cxnLst/>
                <a:rect l="l" t="t" r="r" b="b"/>
                <a:pathLst>
                  <a:path w="61119" h="25003">
                    <a:moveTo>
                      <a:pt x="0" y="25003"/>
                    </a:moveTo>
                    <a:lnTo>
                      <a:pt x="30559" y="0"/>
                    </a:lnTo>
                    <a:lnTo>
                      <a:pt x="61119" y="25003"/>
                    </a:lnTo>
                  </a:path>
                </a:pathLst>
              </a:custGeom>
              <a:noFill/>
              <a:ln w="11112">
                <a:solidFill>
                  <a:srgbClr val="FFFFFF"/>
                </a:solidFill>
              </a:ln>
            </p:spPr>
          </p:sp>
          <p:sp>
            <p:nvSpPr>
              <p:cNvPr id="187" name="Freeform 187"/>
              <p:cNvSpPr/>
              <p:nvPr/>
            </p:nvSpPr>
            <p:spPr>
              <a:xfrm>
                <a:off x="10315575" y="1801019"/>
                <a:ext cx="9525" cy="33337"/>
              </a:xfrm>
              <a:custGeom>
                <a:avLst/>
                <a:gdLst/>
                <a:ahLst/>
                <a:cxnLst/>
                <a:rect l="l" t="t" r="r" b="b"/>
                <a:pathLst>
                  <a:path w="9525" h="33337">
                    <a:moveTo>
                      <a:pt x="0" y="0"/>
                    </a:moveTo>
                    <a:lnTo>
                      <a:pt x="0" y="33337"/>
                    </a:lnTo>
                  </a:path>
                </a:pathLst>
              </a:custGeom>
              <a:noFill/>
              <a:ln w="11112">
                <a:solidFill>
                  <a:srgbClr val="FFFFFF"/>
                </a:solidFill>
              </a:ln>
            </p:spPr>
          </p:sp>
        </p:grpSp>
        <p:sp>
          <p:nvSpPr>
            <p:cNvPr id="189" name="TextBox 189"/>
            <p:cNvSpPr txBox="1"/>
            <p:nvPr/>
          </p:nvSpPr>
          <p:spPr>
            <a:xfrm>
              <a:off x="10453688" y="177927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结构拆解</a:t>
              </a:r>
            </a:p>
          </p:txBody>
        </p:sp>
        <p:sp>
          <p:nvSpPr>
            <p:cNvPr id="190" name="Rectangle 190"/>
            <p:cNvSpPr/>
            <p:nvPr/>
          </p:nvSpPr>
          <p:spPr>
            <a:xfrm>
              <a:off x="10153650" y="1943100"/>
              <a:ext cx="1809750" cy="590550"/>
            </a:xfrm>
            <a:prstGeom prst="rect">
              <a:avLst/>
            </a:prstGeom>
            <a:solidFill>
              <a:srgbClr val="FFFFFF"/>
            </a:solidFill>
            <a:ln w="9525">
              <a:solidFill>
                <a:srgbClr val="C7D2E4"/>
              </a:solidFill>
            </a:ln>
          </p:spPr>
        </p:sp>
        <p:sp>
          <p:nvSpPr>
            <p:cNvPr id="191" name="TextBox 191"/>
            <p:cNvSpPr txBox="1"/>
            <p:nvPr/>
          </p:nvSpPr>
          <p:spPr>
            <a:xfrm>
              <a:off x="10263188" y="2037636"/>
              <a:ext cx="65965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选择合适维度</a:t>
              </a:r>
            </a:p>
          </p:txBody>
        </p:sp>
        <p:sp>
          <p:nvSpPr>
            <p:cNvPr id="192" name="TextBox 192"/>
            <p:cNvSpPr txBox="1"/>
            <p:nvPr/>
          </p:nvSpPr>
          <p:spPr>
            <a:xfrm>
              <a:off x="10263188" y="2190036"/>
              <a:ext cx="763436"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构建MECE结构​</a:t>
              </a:r>
            </a:p>
          </p:txBody>
        </p:sp>
        <p:sp>
          <p:nvSpPr>
            <p:cNvPr id="193" name="TextBox 193"/>
            <p:cNvSpPr txBox="1"/>
            <p:nvPr/>
          </p:nvSpPr>
          <p:spPr>
            <a:xfrm>
              <a:off x="10263188" y="2342436"/>
              <a:ext cx="75523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验证独立与穷尽</a:t>
              </a:r>
            </a:p>
          </p:txBody>
        </p:sp>
        <p:sp>
          <p:nvSpPr>
            <p:cNvPr id="194" name="Line 194"/>
            <p:cNvSpPr/>
            <p:nvPr/>
          </p:nvSpPr>
          <p:spPr>
            <a:xfrm>
              <a:off x="11058525" y="2552700"/>
              <a:ext cx="1" cy="57150"/>
            </a:xfrm>
            <a:prstGeom prst="line">
              <a:avLst/>
            </a:prstGeom>
            <a:noFill/>
            <a:ln w="19050">
              <a:solidFill>
                <a:srgbClr val="944130"/>
              </a:solidFill>
              <a:tailEnd type="triangle" w="lg" len="lg"/>
            </a:ln>
          </p:spPr>
        </p:sp>
        <p:sp>
          <p:nvSpPr>
            <p:cNvPr id="195" name="Rectangle 195"/>
            <p:cNvSpPr/>
            <p:nvPr/>
          </p:nvSpPr>
          <p:spPr>
            <a:xfrm>
              <a:off x="10153650" y="2647950"/>
              <a:ext cx="1809750" cy="228600"/>
            </a:xfrm>
            <a:prstGeom prst="rect">
              <a:avLst/>
            </a:prstGeom>
            <a:solidFill>
              <a:srgbClr val="4E0D00"/>
            </a:solidFill>
            <a:ln>
              <a:noFill/>
            </a:ln>
          </p:spPr>
        </p:sp>
        <p:grpSp>
          <p:nvGrpSpPr>
            <p:cNvPr id="200" name="Group 200"/>
            <p:cNvGrpSpPr/>
            <p:nvPr/>
          </p:nvGrpSpPr>
          <p:grpSpPr>
            <a:xfrm>
              <a:off x="10265569" y="2717800"/>
              <a:ext cx="100012" cy="98425"/>
              <a:chOff x="10265569" y="2717800"/>
              <a:chExt cx="100012" cy="98425"/>
            </a:xfrm>
          </p:grpSpPr>
          <p:sp>
            <p:nvSpPr>
              <p:cNvPr id="196" name="Freeform 196"/>
              <p:cNvSpPr/>
              <p:nvPr/>
            </p:nvSpPr>
            <p:spPr>
              <a:xfrm>
                <a:off x="10265569" y="2762250"/>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FFFFFF"/>
                </a:solidFill>
              </a:ln>
            </p:spPr>
          </p:sp>
          <p:sp>
            <p:nvSpPr>
              <p:cNvPr id="197" name="Freeform 197"/>
              <p:cNvSpPr/>
              <p:nvPr/>
            </p:nvSpPr>
            <p:spPr>
              <a:xfrm>
                <a:off x="10332244" y="2740025"/>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FFFFFF"/>
                </a:solidFill>
              </a:ln>
            </p:spPr>
          </p:sp>
          <p:sp>
            <p:nvSpPr>
              <p:cNvPr id="198" name="Freeform 198"/>
              <p:cNvSpPr/>
              <p:nvPr/>
            </p:nvSpPr>
            <p:spPr>
              <a:xfrm>
                <a:off x="10298906" y="2717800"/>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FFFFFF"/>
                </a:solidFill>
              </a:ln>
            </p:spPr>
          </p:sp>
          <p:sp>
            <p:nvSpPr>
              <p:cNvPr id="199" name="Freeform 199"/>
              <p:cNvSpPr/>
              <p:nvPr/>
            </p:nvSpPr>
            <p:spPr>
              <a:xfrm>
                <a:off x="10271125" y="2806700"/>
                <a:ext cx="77787" cy="9525"/>
              </a:xfrm>
              <a:custGeom>
                <a:avLst/>
                <a:gdLst/>
                <a:ahLst/>
                <a:cxnLst/>
                <a:rect l="l" t="t" r="r" b="b"/>
                <a:pathLst>
                  <a:path w="77787" h="9525">
                    <a:moveTo>
                      <a:pt x="0" y="0"/>
                    </a:moveTo>
                    <a:lnTo>
                      <a:pt x="77787" y="0"/>
                    </a:lnTo>
                  </a:path>
                </a:pathLst>
              </a:custGeom>
              <a:noFill/>
              <a:ln w="11112">
                <a:solidFill>
                  <a:srgbClr val="FFFFFF"/>
                </a:solidFill>
              </a:ln>
            </p:spPr>
          </p:sp>
        </p:grpSp>
        <p:sp>
          <p:nvSpPr>
            <p:cNvPr id="201" name="TextBox 201"/>
            <p:cNvSpPr txBox="1"/>
            <p:nvPr/>
          </p:nvSpPr>
          <p:spPr>
            <a:xfrm>
              <a:off x="10453688" y="2712720"/>
              <a:ext cx="37299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优先级</a:t>
              </a:r>
            </a:p>
          </p:txBody>
        </p:sp>
        <p:sp>
          <p:nvSpPr>
            <p:cNvPr id="202" name="Rectangle 202"/>
            <p:cNvSpPr/>
            <p:nvPr/>
          </p:nvSpPr>
          <p:spPr>
            <a:xfrm>
              <a:off x="10153650" y="2876550"/>
              <a:ext cx="1809750" cy="590550"/>
            </a:xfrm>
            <a:prstGeom prst="rect">
              <a:avLst/>
            </a:prstGeom>
            <a:solidFill>
              <a:srgbClr val="FFFFFF"/>
            </a:solidFill>
            <a:ln w="9525">
              <a:solidFill>
                <a:srgbClr val="C7D2E4"/>
              </a:solidFill>
            </a:ln>
          </p:spPr>
        </p:sp>
        <p:sp>
          <p:nvSpPr>
            <p:cNvPr id="203" name="TextBox 203"/>
            <p:cNvSpPr txBox="1"/>
            <p:nvPr/>
          </p:nvSpPr>
          <p:spPr>
            <a:xfrm>
              <a:off x="10263188" y="2971086"/>
              <a:ext cx="65965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评估影响程度</a:t>
              </a:r>
            </a:p>
          </p:txBody>
        </p:sp>
        <p:sp>
          <p:nvSpPr>
            <p:cNvPr id="204" name="TextBox 204"/>
            <p:cNvSpPr txBox="1"/>
            <p:nvPr/>
          </p:nvSpPr>
          <p:spPr>
            <a:xfrm>
              <a:off x="10263188" y="3123486"/>
              <a:ext cx="65965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评估可控程度</a:t>
              </a:r>
            </a:p>
          </p:txBody>
        </p:sp>
        <p:sp>
          <p:nvSpPr>
            <p:cNvPr id="205" name="TextBox 205"/>
            <p:cNvSpPr txBox="1"/>
            <p:nvPr/>
          </p:nvSpPr>
          <p:spPr>
            <a:xfrm>
              <a:off x="10263188" y="3275886"/>
              <a:ext cx="65965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确定优先顺序</a:t>
              </a:r>
            </a:p>
          </p:txBody>
        </p:sp>
        <p:sp>
          <p:nvSpPr>
            <p:cNvPr id="206" name="Line 206"/>
            <p:cNvSpPr/>
            <p:nvPr/>
          </p:nvSpPr>
          <p:spPr>
            <a:xfrm>
              <a:off x="11058525" y="3486150"/>
              <a:ext cx="1" cy="57150"/>
            </a:xfrm>
            <a:prstGeom prst="line">
              <a:avLst/>
            </a:prstGeom>
            <a:noFill/>
            <a:ln w="19050">
              <a:solidFill>
                <a:srgbClr val="944130"/>
              </a:solidFill>
              <a:tailEnd type="triangle" w="lg" len="lg"/>
            </a:ln>
          </p:spPr>
        </p:sp>
        <p:sp>
          <p:nvSpPr>
            <p:cNvPr id="207" name="Rectangle 207"/>
            <p:cNvSpPr/>
            <p:nvPr/>
          </p:nvSpPr>
          <p:spPr>
            <a:xfrm>
              <a:off x="10153650" y="3581400"/>
              <a:ext cx="1809750" cy="228600"/>
            </a:xfrm>
            <a:prstGeom prst="rect">
              <a:avLst/>
            </a:prstGeom>
            <a:solidFill>
              <a:srgbClr val="4E0D00"/>
            </a:solidFill>
            <a:ln>
              <a:noFill/>
            </a:ln>
          </p:spPr>
        </p:sp>
        <p:grpSp>
          <p:nvGrpSpPr>
            <p:cNvPr id="212" name="Group 212"/>
            <p:cNvGrpSpPr/>
            <p:nvPr/>
          </p:nvGrpSpPr>
          <p:grpSpPr>
            <a:xfrm>
              <a:off x="10276681" y="3645694"/>
              <a:ext cx="88901" cy="105569"/>
              <a:chOff x="10276681" y="3645694"/>
              <a:chExt cx="88901" cy="105569"/>
            </a:xfrm>
          </p:grpSpPr>
          <p:sp>
            <p:nvSpPr>
              <p:cNvPr id="208" name="Freeform 208"/>
              <p:cNvSpPr/>
              <p:nvPr/>
            </p:nvSpPr>
            <p:spPr>
              <a:xfrm>
                <a:off x="10326687" y="3645694"/>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FFFFFF"/>
                </a:solidFill>
              </a:ln>
            </p:spPr>
          </p:sp>
          <p:sp>
            <p:nvSpPr>
              <p:cNvPr id="209" name="Freeform 209"/>
              <p:cNvSpPr/>
              <p:nvPr/>
            </p:nvSpPr>
            <p:spPr>
              <a:xfrm>
                <a:off x="10276681" y="3645694"/>
                <a:ext cx="77787" cy="100012"/>
              </a:xfrm>
              <a:custGeom>
                <a:avLst/>
                <a:gdLst/>
                <a:ahLst/>
                <a:cxnLst/>
                <a:rect l="l" t="t" r="r" b="b"/>
                <a:pathLst>
                  <a:path w="77787" h="100012">
                    <a:moveTo>
                      <a:pt x="38894"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52784"/>
                    </a:lnTo>
                  </a:path>
                </a:pathLst>
              </a:custGeom>
              <a:noFill/>
              <a:ln w="11112">
                <a:solidFill>
                  <a:srgbClr val="FFFFFF"/>
                </a:solidFill>
              </a:ln>
            </p:spPr>
          </p:sp>
          <p:sp>
            <p:nvSpPr>
              <p:cNvPr id="210" name="Freeform 210"/>
              <p:cNvSpPr/>
              <p:nvPr/>
            </p:nvSpPr>
            <p:spPr>
              <a:xfrm>
                <a:off x="10326687" y="3712369"/>
                <a:ext cx="27781" cy="27781"/>
              </a:xfrm>
              <a:custGeom>
                <a:avLst/>
                <a:gdLst/>
                <a:ahLst/>
                <a:cxnLst/>
                <a:rect l="l" t="t" r="r" b="b"/>
                <a:pathLst>
                  <a:path w="27781" h="27781">
                    <a:moveTo>
                      <a:pt x="0" y="13891"/>
                    </a:moveTo>
                    <a:cubicBezTo>
                      <a:pt x="0" y="21562"/>
                      <a:pt x="6219" y="27781"/>
                      <a:pt x="13891" y="27781"/>
                    </a:cubicBezTo>
                    <a:cubicBezTo>
                      <a:pt x="21562" y="27781"/>
                      <a:pt x="27781" y="21562"/>
                      <a:pt x="27781" y="13891"/>
                    </a:cubicBezTo>
                    <a:cubicBezTo>
                      <a:pt x="27781" y="6219"/>
                      <a:pt x="21562" y="0"/>
                      <a:pt x="13891" y="0"/>
                    </a:cubicBezTo>
                    <a:cubicBezTo>
                      <a:pt x="6219" y="0"/>
                      <a:pt x="0" y="6219"/>
                      <a:pt x="0" y="13891"/>
                    </a:cubicBezTo>
                  </a:path>
                </a:pathLst>
              </a:custGeom>
              <a:noFill/>
              <a:ln w="11112">
                <a:solidFill>
                  <a:srgbClr val="FFFFFF"/>
                </a:solidFill>
              </a:ln>
            </p:spPr>
          </p:sp>
          <p:sp>
            <p:nvSpPr>
              <p:cNvPr id="211" name="Freeform 211"/>
              <p:cNvSpPr/>
              <p:nvPr/>
            </p:nvSpPr>
            <p:spPr>
              <a:xfrm>
                <a:off x="10351691" y="3737372"/>
                <a:ext cx="13891" cy="13891"/>
              </a:xfrm>
              <a:custGeom>
                <a:avLst/>
                <a:gdLst/>
                <a:ahLst/>
                <a:cxnLst/>
                <a:rect l="l" t="t" r="r" b="b"/>
                <a:pathLst>
                  <a:path w="13891" h="13891">
                    <a:moveTo>
                      <a:pt x="0" y="0"/>
                    </a:moveTo>
                    <a:lnTo>
                      <a:pt x="13891" y="13891"/>
                    </a:lnTo>
                  </a:path>
                </a:pathLst>
              </a:custGeom>
              <a:noFill/>
              <a:ln w="11112">
                <a:solidFill>
                  <a:srgbClr val="FFFFFF"/>
                </a:solidFill>
              </a:ln>
            </p:spPr>
          </p:sp>
        </p:grpSp>
        <p:sp>
          <p:nvSpPr>
            <p:cNvPr id="213" name="TextBox 213"/>
            <p:cNvSpPr txBox="1"/>
            <p:nvPr/>
          </p:nvSpPr>
          <p:spPr>
            <a:xfrm>
              <a:off x="10453688" y="364617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分析结论</a:t>
              </a:r>
            </a:p>
          </p:txBody>
        </p:sp>
        <p:sp>
          <p:nvSpPr>
            <p:cNvPr id="214" name="Rectangle 214"/>
            <p:cNvSpPr/>
            <p:nvPr/>
          </p:nvSpPr>
          <p:spPr>
            <a:xfrm>
              <a:off x="10153650" y="3810000"/>
              <a:ext cx="1809750" cy="590550"/>
            </a:xfrm>
            <a:prstGeom prst="rect">
              <a:avLst/>
            </a:prstGeom>
            <a:solidFill>
              <a:srgbClr val="FFFFFF"/>
            </a:solidFill>
            <a:ln w="9525">
              <a:solidFill>
                <a:srgbClr val="C7D2E4"/>
              </a:solidFill>
            </a:ln>
          </p:spPr>
        </p:sp>
        <p:sp>
          <p:nvSpPr>
            <p:cNvPr id="215" name="TextBox 215"/>
            <p:cNvSpPr txBox="1"/>
            <p:nvPr/>
          </p:nvSpPr>
          <p:spPr>
            <a:xfrm>
              <a:off x="10263188" y="3904536"/>
              <a:ext cx="85081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深入分析关键事项</a:t>
              </a:r>
            </a:p>
          </p:txBody>
        </p:sp>
        <p:sp>
          <p:nvSpPr>
            <p:cNvPr id="216" name="TextBox 216"/>
            <p:cNvSpPr txBox="1"/>
            <p:nvPr/>
          </p:nvSpPr>
          <p:spPr>
            <a:xfrm>
              <a:off x="10263188" y="4056936"/>
              <a:ext cx="75523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得出结论与洞察</a:t>
              </a:r>
            </a:p>
          </p:txBody>
        </p:sp>
        <p:sp>
          <p:nvSpPr>
            <p:cNvPr id="217" name="TextBox 217"/>
            <p:cNvSpPr txBox="1"/>
            <p:nvPr/>
          </p:nvSpPr>
          <p:spPr>
            <a:xfrm>
              <a:off x="10263188" y="4209336"/>
              <a:ext cx="755231" cy="140494"/>
            </a:xfrm>
            <a:prstGeom prst="rect">
              <a:avLst/>
            </a:prstGeom>
            <a:noFill/>
            <a:ln>
              <a:noFill/>
            </a:ln>
          </p:spPr>
          <p:txBody>
            <a:bodyPr wrap="none" lIns="0" tIns="0" rIns="0" bIns="0" anchor="t" anchorCtr="0">
              <a:spAutoFit/>
            </a:bodyPr>
            <a:lstStyle/>
            <a:p>
              <a:pPr algn="l" marL="76644" indent="-76644">
                <a:buClr>
                  <a:srgbClr val="453633"/>
                </a:buClr>
                <a:buSzTx/>
                <a:buFontTx/>
                <a:buChar char="•"/>
              </a:pPr>
              <a:r>
                <a:rPr lang="zh-CN" sz="710" dirty="0">
                  <a:solidFill>
                    <a:srgbClr val="453633"/>
                  </a:solidFill>
                  <a:latin typeface="+mn-lt"/>
                  <a:ea typeface="+mn-ea"/>
                  <a:cs typeface="+mn-cs"/>
                </a:rPr>
                <a:t>形成建议与方案</a:t>
              </a:r>
            </a:p>
          </p:txBody>
        </p:sp>
      </p:grpSp>
      <p:grpSp>
        <p:nvGrpSpPr>
          <p:cNvPr id="222" name="methods-title"/>
          <p:cNvGrpSpPr/>
          <p:nvPr/>
        </p:nvGrpSpPr>
        <p:grpSpPr>
          <a:xfrm>
            <a:off x="228600" y="4620578"/>
            <a:ext cx="11734800" cy="205359"/>
            <a:chOff x="228600" y="4620578"/>
            <a:chExt cx="11734800" cy="205359"/>
          </a:xfrm>
        </p:grpSpPr>
        <p:sp>
          <p:nvSpPr>
            <p:cNvPr id="219" name="Line 219"/>
            <p:cNvSpPr/>
            <p:nvPr/>
          </p:nvSpPr>
          <p:spPr>
            <a:xfrm>
              <a:off x="228600" y="4676775"/>
              <a:ext cx="4819650" cy="9525"/>
            </a:xfrm>
            <a:custGeom>
              <a:avLst/>
              <a:gdLst/>
              <a:ahLst/>
              <a:cxnLst/>
              <a:rect l="l" t="t" r="r" b="b"/>
              <a:pathLst>
                <a:path w="4819650" h="9525">
                  <a:moveTo>
                    <a:pt x="0" y="0"/>
                  </a:moveTo>
                  <a:lnTo>
                    <a:pt x="4819650" y="0"/>
                  </a:lnTo>
                </a:path>
              </a:pathLst>
            </a:custGeom>
            <a:noFill/>
            <a:ln w="9525">
              <a:solidFill>
                <a:srgbClr val="C7D2E4"/>
              </a:solidFill>
            </a:ln>
          </p:spPr>
        </p:sp>
        <p:sp>
          <p:nvSpPr>
            <p:cNvPr id="220" name="TextBox 220"/>
            <p:cNvSpPr txBox="1"/>
            <p:nvPr/>
          </p:nvSpPr>
          <p:spPr>
            <a:xfrm>
              <a:off x="5242560" y="4620578"/>
              <a:ext cx="1706880" cy="205359"/>
            </a:xfrm>
            <a:prstGeom prst="rect">
              <a:avLst/>
            </a:prstGeom>
            <a:noFill/>
            <a:ln>
              <a:noFill/>
            </a:ln>
          </p:spPr>
          <p:txBody>
            <a:bodyPr wrap="none" lIns="0" tIns="0" rIns="0" bIns="0" anchor="t" anchorCtr="0">
              <a:spAutoFit/>
            </a:bodyPr>
            <a:lstStyle/>
            <a:p>
              <a:pPr algn="ctr"/>
              <a:r>
                <a:rPr lang="zh-CN" sz="1050" b="1" dirty="0">
                  <a:solidFill>
                    <a:srgbClr val="4E0D00"/>
                  </a:solidFill>
                  <a:latin typeface="+mn-lt"/>
                  <a:ea typeface="+mn-ea"/>
                  <a:cs typeface="+mn-cs"/>
                </a:rPr>
                <a:t>结构化拆解的四种常用方法</a:t>
              </a:r>
            </a:p>
          </p:txBody>
        </p:sp>
        <p:sp>
          <p:nvSpPr>
            <p:cNvPr id="221" name="Line 221"/>
            <p:cNvSpPr/>
            <p:nvPr/>
          </p:nvSpPr>
          <p:spPr>
            <a:xfrm>
              <a:off x="7143750" y="4676775"/>
              <a:ext cx="4819650" cy="9525"/>
            </a:xfrm>
            <a:custGeom>
              <a:avLst/>
              <a:gdLst/>
              <a:ahLst/>
              <a:cxnLst/>
              <a:rect l="l" t="t" r="r" b="b"/>
              <a:pathLst>
                <a:path w="4819650" h="9525">
                  <a:moveTo>
                    <a:pt x="0" y="0"/>
                  </a:moveTo>
                  <a:lnTo>
                    <a:pt x="4819650" y="0"/>
                  </a:lnTo>
                </a:path>
              </a:pathLst>
            </a:custGeom>
            <a:noFill/>
            <a:ln w="9525">
              <a:solidFill>
                <a:srgbClr val="C7D2E4"/>
              </a:solidFill>
            </a:ln>
          </p:spPr>
        </p:sp>
      </p:grpSp>
      <p:grpSp>
        <p:nvGrpSpPr>
          <p:cNvPr id="247" name="method-flow"/>
          <p:cNvGrpSpPr/>
          <p:nvPr/>
        </p:nvGrpSpPr>
        <p:grpSpPr>
          <a:xfrm>
            <a:off x="228600" y="4876800"/>
            <a:ext cx="2876550" cy="1828800"/>
            <a:chOff x="228600" y="4876800"/>
            <a:chExt cx="2876550" cy="1828800"/>
          </a:xfrm>
        </p:grpSpPr>
        <p:sp>
          <p:nvSpPr>
            <p:cNvPr id="223" name="Rectangle 223"/>
            <p:cNvSpPr/>
            <p:nvPr/>
          </p:nvSpPr>
          <p:spPr>
            <a:xfrm>
              <a:off x="228600" y="4876800"/>
              <a:ext cx="2876550" cy="1828800"/>
            </a:xfrm>
            <a:prstGeom prst="roundRect">
              <a:avLst>
                <a:gd name="adj" fmla="val 3125"/>
              </a:avLst>
            </a:prstGeom>
            <a:solidFill>
              <a:srgbClr val="FFFFFF"/>
            </a:solidFill>
            <a:ln w="9525">
              <a:solidFill>
                <a:srgbClr val="C7D2E4"/>
              </a:solidFill>
            </a:ln>
          </p:spPr>
        </p:sp>
        <p:sp>
          <p:nvSpPr>
            <p:cNvPr id="224" name="Ellipse 224"/>
            <p:cNvSpPr/>
            <p:nvPr/>
          </p:nvSpPr>
          <p:spPr>
            <a:xfrm>
              <a:off x="352425" y="5000625"/>
              <a:ext cx="323850" cy="323850"/>
            </a:xfrm>
            <a:prstGeom prst="ellipse">
              <a:avLst/>
            </a:prstGeom>
            <a:solidFill>
              <a:srgbClr val="4E0D00"/>
            </a:solidFill>
            <a:ln>
              <a:noFill/>
            </a:ln>
          </p:spPr>
        </p:sp>
        <p:grpSp>
          <p:nvGrpSpPr>
            <p:cNvPr id="230" name="Group 230"/>
            <p:cNvGrpSpPr/>
            <p:nvPr/>
          </p:nvGrpSpPr>
          <p:grpSpPr>
            <a:xfrm>
              <a:off x="450056" y="5098256"/>
              <a:ext cx="128588" cy="128588"/>
              <a:chOff x="450056" y="5098256"/>
              <a:chExt cx="128588" cy="128588"/>
            </a:xfrm>
          </p:grpSpPr>
          <p:sp>
            <p:nvSpPr>
              <p:cNvPr id="225" name="Freeform 225"/>
              <p:cNvSpPr/>
              <p:nvPr/>
            </p:nvSpPr>
            <p:spPr>
              <a:xfrm>
                <a:off x="500062" y="50982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226" name="Freeform 226"/>
              <p:cNvSpPr/>
              <p:nvPr/>
            </p:nvSpPr>
            <p:spPr>
              <a:xfrm>
                <a:off x="450056" y="51982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227" name="Freeform 227"/>
              <p:cNvSpPr/>
              <p:nvPr/>
            </p:nvSpPr>
            <p:spPr>
              <a:xfrm>
                <a:off x="550069" y="51982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228" name="Freeform 228"/>
              <p:cNvSpPr/>
              <p:nvPr/>
            </p:nvSpPr>
            <p:spPr>
              <a:xfrm>
                <a:off x="475059" y="5169694"/>
                <a:ext cx="78581" cy="32147"/>
              </a:xfrm>
              <a:custGeom>
                <a:avLst/>
                <a:gdLst/>
                <a:ahLst/>
                <a:cxnLst/>
                <a:rect l="l" t="t" r="r" b="b"/>
                <a:pathLst>
                  <a:path w="78581" h="32147">
                    <a:moveTo>
                      <a:pt x="0" y="32147"/>
                    </a:moveTo>
                    <a:lnTo>
                      <a:pt x="39291" y="0"/>
                    </a:lnTo>
                    <a:lnTo>
                      <a:pt x="78581" y="32147"/>
                    </a:lnTo>
                  </a:path>
                </a:pathLst>
              </a:custGeom>
              <a:noFill/>
              <a:ln w="14288">
                <a:solidFill>
                  <a:srgbClr val="FFFFFF"/>
                </a:solidFill>
              </a:ln>
            </p:spPr>
          </p:sp>
          <p:sp>
            <p:nvSpPr>
              <p:cNvPr id="229" name="Freeform 229"/>
              <p:cNvSpPr/>
              <p:nvPr/>
            </p:nvSpPr>
            <p:spPr>
              <a:xfrm>
                <a:off x="514350" y="5126831"/>
                <a:ext cx="9525" cy="42862"/>
              </a:xfrm>
              <a:custGeom>
                <a:avLst/>
                <a:gdLst/>
                <a:ahLst/>
                <a:cxnLst/>
                <a:rect l="l" t="t" r="r" b="b"/>
                <a:pathLst>
                  <a:path w="9525" h="42862">
                    <a:moveTo>
                      <a:pt x="0" y="0"/>
                    </a:moveTo>
                    <a:lnTo>
                      <a:pt x="0" y="42862"/>
                    </a:lnTo>
                  </a:path>
                </a:pathLst>
              </a:custGeom>
              <a:noFill/>
              <a:ln w="14288">
                <a:solidFill>
                  <a:srgbClr val="FFFFFF"/>
                </a:solidFill>
              </a:ln>
            </p:spPr>
          </p:sp>
        </p:grpSp>
        <p:sp>
          <p:nvSpPr>
            <p:cNvPr id="231" name="TextBox 231"/>
            <p:cNvSpPr txBox="1"/>
            <p:nvPr/>
          </p:nvSpPr>
          <p:spPr>
            <a:xfrm>
              <a:off x="775906" y="5110401"/>
              <a:ext cx="418186" cy="198025"/>
            </a:xfrm>
            <a:prstGeom prst="rect">
              <a:avLst/>
            </a:prstGeom>
            <a:noFill/>
            <a:ln>
              <a:noFill/>
            </a:ln>
          </p:spPr>
          <p:txBody>
            <a:bodyPr wrap="none" lIns="0" tIns="0" rIns="0" bIns="0" anchor="t" anchorCtr="0">
              <a:spAutoFit/>
            </a:bodyPr>
            <a:lstStyle/>
            <a:p>
              <a:pPr algn="l"/>
              <a:r>
                <a:rPr lang="zh-CN" sz="1010" b="1" dirty="0">
                  <a:solidFill>
                    <a:srgbClr val="4E0D00"/>
                  </a:solidFill>
                  <a:latin typeface="+mn-lt"/>
                  <a:ea typeface="+mn-ea"/>
                  <a:cs typeface="+mn-cs"/>
                </a:rPr>
                <a:t>流程法</a:t>
              </a:r>
            </a:p>
          </p:txBody>
        </p:sp>
        <p:sp>
          <p:nvSpPr>
            <p:cNvPr id="232" name="TextBox 232"/>
            <p:cNvSpPr txBox="1"/>
            <p:nvPr/>
          </p:nvSpPr>
          <p:spPr>
            <a:xfrm>
              <a:off x="414338" y="5409486"/>
              <a:ext cx="1252068"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按业务流程或时间顺序拆解，</a:t>
              </a:r>
            </a:p>
          </p:txBody>
        </p:sp>
        <p:sp>
          <p:nvSpPr>
            <p:cNvPr id="233" name="TextBox 233"/>
            <p:cNvSpPr txBox="1"/>
            <p:nvPr/>
          </p:nvSpPr>
          <p:spPr>
            <a:xfrm>
              <a:off x="414338" y="5552361"/>
              <a:ext cx="869747"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适用于过程性问题。</a:t>
              </a:r>
            </a:p>
          </p:txBody>
        </p:sp>
        <p:sp>
          <p:nvSpPr>
            <p:cNvPr id="234" name="Rectangle 234"/>
            <p:cNvSpPr/>
            <p:nvPr/>
          </p:nvSpPr>
          <p:spPr>
            <a:xfrm>
              <a:off x="419100" y="5753100"/>
              <a:ext cx="419100" cy="190500"/>
            </a:xfrm>
            <a:prstGeom prst="rect">
              <a:avLst/>
            </a:prstGeom>
            <a:solidFill>
              <a:srgbClr val="EFF3FA"/>
            </a:solidFill>
            <a:ln w="9525">
              <a:solidFill>
                <a:srgbClr val="C7D2E4"/>
              </a:solidFill>
            </a:ln>
          </p:spPr>
        </p:sp>
        <p:sp>
          <p:nvSpPr>
            <p:cNvPr id="235" name="TextBox 235"/>
            <p:cNvSpPr txBox="1"/>
            <p:nvPr/>
          </p:nvSpPr>
          <p:spPr>
            <a:xfrm>
              <a:off x="532346" y="5813584"/>
              <a:ext cx="192608"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输入</a:t>
              </a:r>
            </a:p>
          </p:txBody>
        </p:sp>
        <p:sp>
          <p:nvSpPr>
            <p:cNvPr id="236" name="TextBox 236"/>
            <p:cNvSpPr txBox="1"/>
            <p:nvPr/>
          </p:nvSpPr>
          <p:spPr>
            <a:xfrm>
              <a:off x="900112" y="5823109"/>
              <a:ext cx="59873" cy="133350"/>
            </a:xfrm>
            <a:prstGeom prst="rect">
              <a:avLst/>
            </a:prstGeom>
            <a:noFill/>
            <a:ln>
              <a:noFill/>
            </a:ln>
          </p:spPr>
          <p:txBody>
            <a:bodyPr wrap="none" lIns="0" tIns="0" rIns="0" bIns="0" anchor="t" anchorCtr="0">
              <a:spAutoFit/>
            </a:bodyPr>
            <a:lstStyle/>
            <a:p>
              <a:pPr algn="l"/>
              <a:r>
                <a:rPr lang="zh-CN" sz="680" dirty="0">
                  <a:solidFill>
                    <a:srgbClr val="944130"/>
                  </a:solidFill>
                  <a:latin typeface="+mn-lt"/>
                  <a:ea typeface="+mn-ea"/>
                  <a:cs typeface="+mn-cs"/>
                </a:rPr>
                <a:t>→</a:t>
              </a:r>
            </a:p>
          </p:txBody>
        </p:sp>
        <p:sp>
          <p:nvSpPr>
            <p:cNvPr id="237" name="Rectangle 237"/>
            <p:cNvSpPr/>
            <p:nvPr/>
          </p:nvSpPr>
          <p:spPr>
            <a:xfrm>
              <a:off x="990600" y="5753100"/>
              <a:ext cx="419100" cy="190500"/>
            </a:xfrm>
            <a:prstGeom prst="rect">
              <a:avLst/>
            </a:prstGeom>
            <a:solidFill>
              <a:srgbClr val="EFF3FA"/>
            </a:solidFill>
            <a:ln w="9525">
              <a:solidFill>
                <a:srgbClr val="C7D2E4"/>
              </a:solidFill>
            </a:ln>
          </p:spPr>
        </p:sp>
        <p:sp>
          <p:nvSpPr>
            <p:cNvPr id="238" name="TextBox 238"/>
            <p:cNvSpPr txBox="1"/>
            <p:nvPr/>
          </p:nvSpPr>
          <p:spPr>
            <a:xfrm>
              <a:off x="1103846" y="5813584"/>
              <a:ext cx="192608"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执行</a:t>
              </a:r>
            </a:p>
          </p:txBody>
        </p:sp>
        <p:sp>
          <p:nvSpPr>
            <p:cNvPr id="239" name="TextBox 239"/>
            <p:cNvSpPr txBox="1"/>
            <p:nvPr/>
          </p:nvSpPr>
          <p:spPr>
            <a:xfrm>
              <a:off x="1471612" y="5823109"/>
              <a:ext cx="59873" cy="133350"/>
            </a:xfrm>
            <a:prstGeom prst="rect">
              <a:avLst/>
            </a:prstGeom>
            <a:noFill/>
            <a:ln>
              <a:noFill/>
            </a:ln>
          </p:spPr>
          <p:txBody>
            <a:bodyPr wrap="none" lIns="0" tIns="0" rIns="0" bIns="0" anchor="t" anchorCtr="0">
              <a:spAutoFit/>
            </a:bodyPr>
            <a:lstStyle/>
            <a:p>
              <a:pPr algn="l"/>
              <a:r>
                <a:rPr lang="zh-CN" sz="680" dirty="0">
                  <a:solidFill>
                    <a:srgbClr val="944130"/>
                  </a:solidFill>
                  <a:latin typeface="+mn-lt"/>
                  <a:ea typeface="+mn-ea"/>
                  <a:cs typeface="+mn-cs"/>
                </a:rPr>
                <a:t>→</a:t>
              </a:r>
            </a:p>
          </p:txBody>
        </p:sp>
        <p:sp>
          <p:nvSpPr>
            <p:cNvPr id="240" name="Rectangle 240"/>
            <p:cNvSpPr/>
            <p:nvPr/>
          </p:nvSpPr>
          <p:spPr>
            <a:xfrm>
              <a:off x="1562100" y="5753100"/>
              <a:ext cx="419100" cy="190500"/>
            </a:xfrm>
            <a:prstGeom prst="rect">
              <a:avLst/>
            </a:prstGeom>
            <a:solidFill>
              <a:srgbClr val="EFF3FA"/>
            </a:solidFill>
            <a:ln w="9525">
              <a:solidFill>
                <a:srgbClr val="C7D2E4"/>
              </a:solidFill>
            </a:ln>
          </p:spPr>
        </p:sp>
        <p:sp>
          <p:nvSpPr>
            <p:cNvPr id="241" name="TextBox 241"/>
            <p:cNvSpPr txBox="1"/>
            <p:nvPr/>
          </p:nvSpPr>
          <p:spPr>
            <a:xfrm>
              <a:off x="1675346" y="5813584"/>
              <a:ext cx="192608"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输出</a:t>
              </a:r>
            </a:p>
          </p:txBody>
        </p:sp>
        <p:sp>
          <p:nvSpPr>
            <p:cNvPr id="242" name="TextBox 242"/>
            <p:cNvSpPr txBox="1"/>
            <p:nvPr/>
          </p:nvSpPr>
          <p:spPr>
            <a:xfrm>
              <a:off x="2043112" y="5823109"/>
              <a:ext cx="59873" cy="133350"/>
            </a:xfrm>
            <a:prstGeom prst="rect">
              <a:avLst/>
            </a:prstGeom>
            <a:noFill/>
            <a:ln>
              <a:noFill/>
            </a:ln>
          </p:spPr>
          <p:txBody>
            <a:bodyPr wrap="none" lIns="0" tIns="0" rIns="0" bIns="0" anchor="t" anchorCtr="0">
              <a:spAutoFit/>
            </a:bodyPr>
            <a:lstStyle/>
            <a:p>
              <a:pPr algn="l"/>
              <a:r>
                <a:rPr lang="zh-CN" sz="680" dirty="0">
                  <a:solidFill>
                    <a:srgbClr val="944130"/>
                  </a:solidFill>
                  <a:latin typeface="+mn-lt"/>
                  <a:ea typeface="+mn-ea"/>
                  <a:cs typeface="+mn-cs"/>
                </a:rPr>
                <a:t>→</a:t>
              </a:r>
            </a:p>
          </p:txBody>
        </p:sp>
        <p:sp>
          <p:nvSpPr>
            <p:cNvPr id="243" name="Rectangle 243"/>
            <p:cNvSpPr/>
            <p:nvPr/>
          </p:nvSpPr>
          <p:spPr>
            <a:xfrm>
              <a:off x="2133600" y="5753100"/>
              <a:ext cx="419100" cy="190500"/>
            </a:xfrm>
            <a:prstGeom prst="rect">
              <a:avLst/>
            </a:prstGeom>
            <a:solidFill>
              <a:srgbClr val="EFF3FA"/>
            </a:solidFill>
            <a:ln w="9525">
              <a:solidFill>
                <a:srgbClr val="C7D2E4"/>
              </a:solidFill>
            </a:ln>
          </p:spPr>
        </p:sp>
        <p:sp>
          <p:nvSpPr>
            <p:cNvPr id="244" name="TextBox 244"/>
            <p:cNvSpPr txBox="1"/>
            <p:nvPr/>
          </p:nvSpPr>
          <p:spPr>
            <a:xfrm>
              <a:off x="2246846" y="5813584"/>
              <a:ext cx="192608"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反馈</a:t>
              </a:r>
            </a:p>
          </p:txBody>
        </p:sp>
        <p:sp>
          <p:nvSpPr>
            <p:cNvPr id="245" name="Line 245"/>
            <p:cNvSpPr/>
            <p:nvPr/>
          </p:nvSpPr>
          <p:spPr>
            <a:xfrm>
              <a:off x="419100" y="6134100"/>
              <a:ext cx="2495550" cy="9525"/>
            </a:xfrm>
            <a:custGeom>
              <a:avLst/>
              <a:gdLst/>
              <a:ahLst/>
              <a:cxnLst/>
              <a:rect l="l" t="t" r="r" b="b"/>
              <a:pathLst>
                <a:path w="2495550" h="9525">
                  <a:moveTo>
                    <a:pt x="0" y="0"/>
                  </a:moveTo>
                  <a:lnTo>
                    <a:pt x="2495550" y="0"/>
                  </a:lnTo>
                </a:path>
              </a:pathLst>
            </a:custGeom>
            <a:noFill/>
            <a:ln w="9525">
              <a:solidFill>
                <a:srgbClr val="D8E1EE"/>
              </a:solidFill>
              <a:custDash>
                <a:ds d="300000" sp="300000"/>
              </a:custDash>
            </a:ln>
          </p:spPr>
        </p:sp>
        <p:sp>
          <p:nvSpPr>
            <p:cNvPr id="246" name="TextBox 246"/>
            <p:cNvSpPr txBox="1"/>
            <p:nvPr/>
          </p:nvSpPr>
          <p:spPr>
            <a:xfrm>
              <a:off x="414338" y="6255782"/>
              <a:ext cx="1301877" cy="126206"/>
            </a:xfrm>
            <a:prstGeom prst="rect">
              <a:avLst/>
            </a:prstGeom>
            <a:noFill/>
            <a:ln>
              <a:noFill/>
            </a:ln>
          </p:spPr>
          <p:txBody>
            <a:bodyPr wrap="none" lIns="0" tIns="0" rIns="0" bIns="0" anchor="t" anchorCtr="0">
              <a:spAutoFit/>
            </a:bodyPr>
            <a:lstStyle/>
            <a:p>
              <a:pPr algn="l"/>
              <a:r>
                <a:rPr lang="zh-CN" sz="640" dirty="0">
                  <a:solidFill>
                    <a:srgbClr val="7E6A66"/>
                  </a:solidFill>
                  <a:latin typeface="+mn-lt"/>
                  <a:ea typeface="+mn-ea"/>
                  <a:cs typeface="+mn-cs"/>
                </a:rPr>
                <a:t>示例：从线索到回款的全流程拆解</a:t>
              </a:r>
            </a:p>
          </p:txBody>
        </p:sp>
      </p:grpSp>
      <p:grpSp>
        <p:nvGrpSpPr>
          <p:cNvPr id="262" name="method-formula"/>
          <p:cNvGrpSpPr/>
          <p:nvPr/>
        </p:nvGrpSpPr>
        <p:grpSpPr>
          <a:xfrm>
            <a:off x="3181350" y="4876800"/>
            <a:ext cx="2876550" cy="1828800"/>
            <a:chOff x="3181350" y="4876800"/>
            <a:chExt cx="2876550" cy="1828800"/>
          </a:xfrm>
        </p:grpSpPr>
        <p:sp>
          <p:nvSpPr>
            <p:cNvPr id="248" name="Rectangle 248"/>
            <p:cNvSpPr/>
            <p:nvPr/>
          </p:nvSpPr>
          <p:spPr>
            <a:xfrm>
              <a:off x="3181350" y="4876800"/>
              <a:ext cx="2876550" cy="1828800"/>
            </a:xfrm>
            <a:prstGeom prst="roundRect">
              <a:avLst>
                <a:gd name="adj" fmla="val 3125"/>
              </a:avLst>
            </a:prstGeom>
            <a:solidFill>
              <a:srgbClr val="FFFFFF"/>
            </a:solidFill>
            <a:ln w="9525">
              <a:solidFill>
                <a:srgbClr val="C7D2E4"/>
              </a:solidFill>
            </a:ln>
          </p:spPr>
        </p:sp>
        <p:sp>
          <p:nvSpPr>
            <p:cNvPr id="249" name="Ellipse 249"/>
            <p:cNvSpPr/>
            <p:nvPr/>
          </p:nvSpPr>
          <p:spPr>
            <a:xfrm>
              <a:off x="3305175" y="5000625"/>
              <a:ext cx="323850" cy="323850"/>
            </a:xfrm>
            <a:prstGeom prst="ellipse">
              <a:avLst/>
            </a:prstGeom>
            <a:solidFill>
              <a:srgbClr val="4E0D00"/>
            </a:solidFill>
            <a:ln>
              <a:noFill/>
            </a:ln>
          </p:spPr>
        </p:sp>
        <p:grpSp>
          <p:nvGrpSpPr>
            <p:cNvPr id="254" name="Group 254"/>
            <p:cNvGrpSpPr/>
            <p:nvPr/>
          </p:nvGrpSpPr>
          <p:grpSpPr>
            <a:xfrm>
              <a:off x="3402806" y="5098256"/>
              <a:ext cx="128587" cy="128588"/>
              <a:chOff x="3402806" y="5098256"/>
              <a:chExt cx="128587" cy="128588"/>
            </a:xfrm>
          </p:grpSpPr>
          <p:sp>
            <p:nvSpPr>
              <p:cNvPr id="250" name="Freeform 250"/>
              <p:cNvSpPr/>
              <p:nvPr/>
            </p:nvSpPr>
            <p:spPr>
              <a:xfrm>
                <a:off x="3402806" y="5098256"/>
                <a:ext cx="71438" cy="128588"/>
              </a:xfrm>
              <a:custGeom>
                <a:avLst/>
                <a:gdLst/>
                <a:ahLst/>
                <a:cxnLst/>
                <a:rect l="l" t="t" r="r" b="b"/>
                <a:pathLst>
                  <a:path w="71438" h="128588">
                    <a:moveTo>
                      <a:pt x="0" y="114300"/>
                    </a:moveTo>
                    <a:cubicBezTo>
                      <a:pt x="0" y="122191"/>
                      <a:pt x="6397" y="128588"/>
                      <a:pt x="14288" y="128588"/>
                    </a:cubicBezTo>
                    <a:cubicBezTo>
                      <a:pt x="28575" y="128588"/>
                      <a:pt x="28575" y="100012"/>
                      <a:pt x="35719" y="64294"/>
                    </a:cubicBezTo>
                    <a:cubicBezTo>
                      <a:pt x="42862" y="28575"/>
                      <a:pt x="42862" y="0"/>
                      <a:pt x="57150" y="0"/>
                    </a:cubicBezTo>
                    <a:cubicBezTo>
                      <a:pt x="65041" y="0"/>
                      <a:pt x="71438" y="6397"/>
                      <a:pt x="71438" y="14288"/>
                    </a:cubicBezTo>
                  </a:path>
                </a:pathLst>
              </a:custGeom>
              <a:noFill/>
              <a:ln w="14288">
                <a:solidFill>
                  <a:srgbClr val="FFFFFF"/>
                </a:solidFill>
              </a:ln>
            </p:spPr>
          </p:sp>
          <p:sp>
            <p:nvSpPr>
              <p:cNvPr id="251" name="Freeform 251"/>
              <p:cNvSpPr/>
              <p:nvPr/>
            </p:nvSpPr>
            <p:spPr>
              <a:xfrm>
                <a:off x="3417094" y="5162550"/>
                <a:ext cx="42862" cy="9525"/>
              </a:xfrm>
              <a:custGeom>
                <a:avLst/>
                <a:gdLst/>
                <a:ahLst/>
                <a:cxnLst/>
                <a:rect l="l" t="t" r="r" b="b"/>
                <a:pathLst>
                  <a:path w="42862" h="9525">
                    <a:moveTo>
                      <a:pt x="0" y="0"/>
                    </a:moveTo>
                    <a:lnTo>
                      <a:pt x="42862" y="0"/>
                    </a:lnTo>
                  </a:path>
                </a:pathLst>
              </a:custGeom>
              <a:noFill/>
              <a:ln w="14288">
                <a:solidFill>
                  <a:srgbClr val="FFFFFF"/>
                </a:solidFill>
              </a:ln>
            </p:spPr>
          </p:sp>
          <p:sp>
            <p:nvSpPr>
              <p:cNvPr id="252" name="Freeform 252"/>
              <p:cNvSpPr/>
              <p:nvPr/>
            </p:nvSpPr>
            <p:spPr>
              <a:xfrm>
                <a:off x="3488531" y="5162550"/>
                <a:ext cx="42862" cy="42862"/>
              </a:xfrm>
              <a:custGeom>
                <a:avLst/>
                <a:gdLst/>
                <a:ahLst/>
                <a:cxnLst/>
                <a:rect l="l" t="t" r="r" b="b"/>
                <a:pathLst>
                  <a:path w="42862" h="42862">
                    <a:moveTo>
                      <a:pt x="0" y="0"/>
                    </a:moveTo>
                    <a:lnTo>
                      <a:pt x="42862" y="42862"/>
                    </a:lnTo>
                  </a:path>
                </a:pathLst>
              </a:custGeom>
              <a:noFill/>
              <a:ln w="14288">
                <a:solidFill>
                  <a:srgbClr val="FFFFFF"/>
                </a:solidFill>
              </a:ln>
            </p:spPr>
          </p:sp>
          <p:sp>
            <p:nvSpPr>
              <p:cNvPr id="253" name="Freeform 253"/>
              <p:cNvSpPr/>
              <p:nvPr/>
            </p:nvSpPr>
            <p:spPr>
              <a:xfrm>
                <a:off x="3488531" y="5162550"/>
                <a:ext cx="42862" cy="42862"/>
              </a:xfrm>
              <a:custGeom>
                <a:avLst/>
                <a:gdLst/>
                <a:ahLst/>
                <a:cxnLst/>
                <a:rect l="l" t="t" r="r" b="b"/>
                <a:pathLst>
                  <a:path w="42862" h="42862">
                    <a:moveTo>
                      <a:pt x="0" y="42862"/>
                    </a:moveTo>
                    <a:lnTo>
                      <a:pt x="42862" y="0"/>
                    </a:lnTo>
                  </a:path>
                </a:pathLst>
              </a:custGeom>
              <a:noFill/>
              <a:ln w="14288">
                <a:solidFill>
                  <a:srgbClr val="FFFFFF"/>
                </a:solidFill>
              </a:ln>
            </p:spPr>
          </p:sp>
        </p:grpSp>
        <p:sp>
          <p:nvSpPr>
            <p:cNvPr id="255" name="TextBox 255"/>
            <p:cNvSpPr txBox="1"/>
            <p:nvPr/>
          </p:nvSpPr>
          <p:spPr>
            <a:xfrm>
              <a:off x="3728656" y="5110401"/>
              <a:ext cx="418186" cy="198025"/>
            </a:xfrm>
            <a:prstGeom prst="rect">
              <a:avLst/>
            </a:prstGeom>
            <a:noFill/>
            <a:ln>
              <a:noFill/>
            </a:ln>
          </p:spPr>
          <p:txBody>
            <a:bodyPr wrap="none" lIns="0" tIns="0" rIns="0" bIns="0" anchor="t" anchorCtr="0">
              <a:spAutoFit/>
            </a:bodyPr>
            <a:lstStyle/>
            <a:p>
              <a:pPr algn="l"/>
              <a:r>
                <a:rPr lang="zh-CN" sz="1010" b="1" dirty="0">
                  <a:solidFill>
                    <a:srgbClr val="4E0D00"/>
                  </a:solidFill>
                  <a:latin typeface="+mn-lt"/>
                  <a:ea typeface="+mn-ea"/>
                  <a:cs typeface="+mn-cs"/>
                </a:rPr>
                <a:t>公式法</a:t>
              </a:r>
            </a:p>
          </p:txBody>
        </p:sp>
        <p:sp>
          <p:nvSpPr>
            <p:cNvPr id="256" name="TextBox 256"/>
            <p:cNvSpPr txBox="1"/>
            <p:nvPr/>
          </p:nvSpPr>
          <p:spPr>
            <a:xfrm>
              <a:off x="3367088" y="5409486"/>
              <a:ext cx="1347648"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基于公式或关系拆解驱动因子，</a:t>
              </a:r>
            </a:p>
          </p:txBody>
        </p:sp>
        <p:sp>
          <p:nvSpPr>
            <p:cNvPr id="257" name="TextBox 257"/>
            <p:cNvSpPr txBox="1"/>
            <p:nvPr/>
          </p:nvSpPr>
          <p:spPr>
            <a:xfrm>
              <a:off x="3367088" y="5552361"/>
              <a:ext cx="774167"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适用于量化问题。</a:t>
              </a:r>
            </a:p>
          </p:txBody>
        </p:sp>
        <p:sp>
          <p:nvSpPr>
            <p:cNvPr id="258" name="Rectangle 258"/>
            <p:cNvSpPr/>
            <p:nvPr/>
          </p:nvSpPr>
          <p:spPr>
            <a:xfrm>
              <a:off x="3371850" y="5772150"/>
              <a:ext cx="2495550" cy="247650"/>
            </a:xfrm>
            <a:prstGeom prst="rect">
              <a:avLst/>
            </a:prstGeom>
            <a:solidFill>
              <a:srgbClr val="EFF3FA"/>
            </a:solidFill>
            <a:ln w="9525">
              <a:solidFill>
                <a:srgbClr val="C7D2E4"/>
              </a:solidFill>
            </a:ln>
          </p:spPr>
        </p:sp>
        <p:sp>
          <p:nvSpPr>
            <p:cNvPr id="259" name="TextBox 259"/>
            <p:cNvSpPr txBox="1"/>
            <p:nvPr/>
          </p:nvSpPr>
          <p:spPr>
            <a:xfrm>
              <a:off x="3831105" y="5854541"/>
              <a:ext cx="1577040"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结果 = 规模 × 转化率 × 客单价​</a:t>
              </a:r>
            </a:p>
          </p:txBody>
        </p:sp>
        <p:sp>
          <p:nvSpPr>
            <p:cNvPr id="260" name="Line 260"/>
            <p:cNvSpPr/>
            <p:nvPr/>
          </p:nvSpPr>
          <p:spPr>
            <a:xfrm>
              <a:off x="3371850" y="6172200"/>
              <a:ext cx="2495550" cy="9525"/>
            </a:xfrm>
            <a:custGeom>
              <a:avLst/>
              <a:gdLst/>
              <a:ahLst/>
              <a:cxnLst/>
              <a:rect l="l" t="t" r="r" b="b"/>
              <a:pathLst>
                <a:path w="2495550" h="9525">
                  <a:moveTo>
                    <a:pt x="0" y="0"/>
                  </a:moveTo>
                  <a:lnTo>
                    <a:pt x="2495550" y="0"/>
                  </a:lnTo>
                </a:path>
              </a:pathLst>
            </a:custGeom>
            <a:noFill/>
            <a:ln w="9525">
              <a:solidFill>
                <a:srgbClr val="D8E1EE"/>
              </a:solidFill>
              <a:custDash>
                <a:ds d="300000" sp="300000"/>
              </a:custDash>
            </a:ln>
          </p:spPr>
        </p:sp>
        <p:sp>
          <p:nvSpPr>
            <p:cNvPr id="261" name="TextBox 261"/>
            <p:cNvSpPr txBox="1"/>
            <p:nvPr/>
          </p:nvSpPr>
          <p:spPr>
            <a:xfrm>
              <a:off x="3367088" y="6293882"/>
              <a:ext cx="1129563" cy="126206"/>
            </a:xfrm>
            <a:prstGeom prst="rect">
              <a:avLst/>
            </a:prstGeom>
            <a:noFill/>
            <a:ln>
              <a:noFill/>
            </a:ln>
          </p:spPr>
          <p:txBody>
            <a:bodyPr wrap="none" lIns="0" tIns="0" rIns="0" bIns="0" anchor="t" anchorCtr="0">
              <a:spAutoFit/>
            </a:bodyPr>
            <a:lstStyle/>
            <a:p>
              <a:pPr algn="l"/>
              <a:r>
                <a:rPr lang="zh-CN" sz="640" dirty="0">
                  <a:solidFill>
                    <a:srgbClr val="7E6A66"/>
                  </a:solidFill>
                  <a:latin typeface="+mn-lt"/>
                  <a:ea typeface="+mn-ea"/>
                  <a:cs typeface="+mn-cs"/>
                </a:rPr>
                <a:t>示例：销售额增长的因素拆解</a:t>
              </a:r>
            </a:p>
          </p:txBody>
        </p:sp>
      </p:grpSp>
      <p:grpSp>
        <p:nvGrpSpPr>
          <p:cNvPr id="283" name="method-elements"/>
          <p:cNvGrpSpPr/>
          <p:nvPr/>
        </p:nvGrpSpPr>
        <p:grpSpPr>
          <a:xfrm>
            <a:off x="6134100" y="4876800"/>
            <a:ext cx="2876550" cy="1828800"/>
            <a:chOff x="6134100" y="4876800"/>
            <a:chExt cx="2876550" cy="1828800"/>
          </a:xfrm>
        </p:grpSpPr>
        <p:sp>
          <p:nvSpPr>
            <p:cNvPr id="263" name="Rectangle 263"/>
            <p:cNvSpPr/>
            <p:nvPr/>
          </p:nvSpPr>
          <p:spPr>
            <a:xfrm>
              <a:off x="6134100" y="4876800"/>
              <a:ext cx="2876550" cy="1828800"/>
            </a:xfrm>
            <a:prstGeom prst="roundRect">
              <a:avLst>
                <a:gd name="adj" fmla="val 3125"/>
              </a:avLst>
            </a:prstGeom>
            <a:solidFill>
              <a:srgbClr val="FFFFFF"/>
            </a:solidFill>
            <a:ln w="9525">
              <a:solidFill>
                <a:srgbClr val="C7D2E4"/>
              </a:solidFill>
            </a:ln>
          </p:spPr>
        </p:sp>
        <p:sp>
          <p:nvSpPr>
            <p:cNvPr id="264" name="Ellipse 264"/>
            <p:cNvSpPr/>
            <p:nvPr/>
          </p:nvSpPr>
          <p:spPr>
            <a:xfrm>
              <a:off x="6257925" y="5000625"/>
              <a:ext cx="323850" cy="323850"/>
            </a:xfrm>
            <a:prstGeom prst="ellipse">
              <a:avLst/>
            </a:prstGeom>
            <a:solidFill>
              <a:srgbClr val="4E0D00"/>
            </a:solidFill>
            <a:ln>
              <a:noFill/>
            </a:ln>
          </p:spPr>
        </p:sp>
        <p:sp>
          <p:nvSpPr>
            <p:cNvPr id="265" name="Freeform 265"/>
            <p:cNvSpPr/>
            <p:nvPr/>
          </p:nvSpPr>
          <p:spPr>
            <a:xfrm>
              <a:off x="6355556" y="5098256"/>
              <a:ext cx="128588" cy="128588"/>
            </a:xfrm>
            <a:custGeom>
              <a:avLst/>
              <a:gdLst/>
              <a:ahLst/>
              <a:cxnLst/>
              <a:rect l="l" t="t" r="r" b="b"/>
              <a:pathLst>
                <a:path w="128588" h="128588">
                  <a:moveTo>
                    <a:pt x="7144" y="28575"/>
                  </a:moveTo>
                  <a:lnTo>
                    <a:pt x="28575" y="28575"/>
                  </a:lnTo>
                  <a:cubicBezTo>
                    <a:pt x="32520" y="28575"/>
                    <a:pt x="35719" y="25377"/>
                    <a:pt x="35719" y="21431"/>
                  </a:cubicBezTo>
                  <a:lnTo>
                    <a:pt x="35719" y="14288"/>
                  </a:lnTo>
                  <a:cubicBezTo>
                    <a:pt x="35719" y="6397"/>
                    <a:pt x="42115" y="0"/>
                    <a:pt x="50006" y="0"/>
                  </a:cubicBezTo>
                  <a:cubicBezTo>
                    <a:pt x="57897" y="0"/>
                    <a:pt x="64294" y="6397"/>
                    <a:pt x="64294" y="14288"/>
                  </a:cubicBezTo>
                  <a:lnTo>
                    <a:pt x="64294" y="21431"/>
                  </a:lnTo>
                  <a:cubicBezTo>
                    <a:pt x="64294" y="25377"/>
                    <a:pt x="67492" y="28575"/>
                    <a:pt x="71438" y="28575"/>
                  </a:cubicBezTo>
                  <a:lnTo>
                    <a:pt x="92869" y="28575"/>
                  </a:lnTo>
                  <a:cubicBezTo>
                    <a:pt x="96814" y="28575"/>
                    <a:pt x="100012" y="31773"/>
                    <a:pt x="100012" y="35719"/>
                  </a:cubicBezTo>
                  <a:lnTo>
                    <a:pt x="100012" y="57150"/>
                  </a:lnTo>
                  <a:cubicBezTo>
                    <a:pt x="100012" y="61095"/>
                    <a:pt x="103211" y="64294"/>
                    <a:pt x="107156" y="64294"/>
                  </a:cubicBezTo>
                  <a:lnTo>
                    <a:pt x="114300" y="64294"/>
                  </a:lnTo>
                  <a:cubicBezTo>
                    <a:pt x="122191" y="64294"/>
                    <a:pt x="128588" y="70690"/>
                    <a:pt x="128588" y="78581"/>
                  </a:cubicBezTo>
                  <a:cubicBezTo>
                    <a:pt x="128588" y="86472"/>
                    <a:pt x="122191" y="92869"/>
                    <a:pt x="114300" y="92869"/>
                  </a:cubicBezTo>
                  <a:lnTo>
                    <a:pt x="107156" y="92869"/>
                  </a:lnTo>
                  <a:cubicBezTo>
                    <a:pt x="103211" y="92869"/>
                    <a:pt x="100012" y="96067"/>
                    <a:pt x="100012" y="100012"/>
                  </a:cubicBezTo>
                  <a:lnTo>
                    <a:pt x="100012" y="121444"/>
                  </a:lnTo>
                  <a:cubicBezTo>
                    <a:pt x="100012" y="125389"/>
                    <a:pt x="96814" y="128588"/>
                    <a:pt x="92869" y="128588"/>
                  </a:cubicBezTo>
                  <a:lnTo>
                    <a:pt x="71438" y="128588"/>
                  </a:lnTo>
                  <a:cubicBezTo>
                    <a:pt x="67492" y="128588"/>
                    <a:pt x="64294" y="125389"/>
                    <a:pt x="64294" y="121444"/>
                  </a:cubicBezTo>
                  <a:lnTo>
                    <a:pt x="64294" y="114300"/>
                  </a:lnTo>
                  <a:cubicBezTo>
                    <a:pt x="64294" y="106409"/>
                    <a:pt x="57897" y="100012"/>
                    <a:pt x="50006" y="100012"/>
                  </a:cubicBezTo>
                  <a:cubicBezTo>
                    <a:pt x="42115" y="100012"/>
                    <a:pt x="35719" y="106409"/>
                    <a:pt x="35719" y="114300"/>
                  </a:cubicBezTo>
                  <a:lnTo>
                    <a:pt x="35719" y="121444"/>
                  </a:lnTo>
                  <a:cubicBezTo>
                    <a:pt x="35719" y="125389"/>
                    <a:pt x="32520" y="128588"/>
                    <a:pt x="28575" y="128588"/>
                  </a:cubicBezTo>
                  <a:lnTo>
                    <a:pt x="7144" y="128588"/>
                  </a:lnTo>
                  <a:cubicBezTo>
                    <a:pt x="3198" y="128588"/>
                    <a:pt x="0" y="125389"/>
                    <a:pt x="0" y="121444"/>
                  </a:cubicBezTo>
                  <a:lnTo>
                    <a:pt x="0" y="100012"/>
                  </a:lnTo>
                  <a:cubicBezTo>
                    <a:pt x="0" y="96067"/>
                    <a:pt x="3198" y="92869"/>
                    <a:pt x="7144" y="92869"/>
                  </a:cubicBezTo>
                  <a:lnTo>
                    <a:pt x="14288" y="92869"/>
                  </a:lnTo>
                  <a:cubicBezTo>
                    <a:pt x="22178" y="92869"/>
                    <a:pt x="28575" y="86472"/>
                    <a:pt x="28575" y="78581"/>
                  </a:cubicBezTo>
                  <a:cubicBezTo>
                    <a:pt x="28575" y="70690"/>
                    <a:pt x="22178" y="64294"/>
                    <a:pt x="14288" y="64294"/>
                  </a:cubicBezTo>
                  <a:lnTo>
                    <a:pt x="7144" y="64294"/>
                  </a:lnTo>
                  <a:cubicBezTo>
                    <a:pt x="3198" y="64294"/>
                    <a:pt x="0" y="61095"/>
                    <a:pt x="0" y="57150"/>
                  </a:cubicBezTo>
                  <a:lnTo>
                    <a:pt x="0" y="35719"/>
                  </a:lnTo>
                  <a:cubicBezTo>
                    <a:pt x="0" y="31773"/>
                    <a:pt x="3198" y="28575"/>
                    <a:pt x="7144" y="28575"/>
                  </a:cubicBezTo>
                </a:path>
              </a:pathLst>
            </a:custGeom>
            <a:noFill/>
            <a:ln w="14288">
              <a:solidFill>
                <a:srgbClr val="FFFFFF"/>
              </a:solidFill>
            </a:ln>
          </p:spPr>
        </p:sp>
        <p:sp>
          <p:nvSpPr>
            <p:cNvPr id="266" name="TextBox 266"/>
            <p:cNvSpPr txBox="1"/>
            <p:nvPr/>
          </p:nvSpPr>
          <p:spPr>
            <a:xfrm>
              <a:off x="6681406" y="5110401"/>
              <a:ext cx="418186" cy="198025"/>
            </a:xfrm>
            <a:prstGeom prst="rect">
              <a:avLst/>
            </a:prstGeom>
            <a:noFill/>
            <a:ln>
              <a:noFill/>
            </a:ln>
          </p:spPr>
          <p:txBody>
            <a:bodyPr wrap="none" lIns="0" tIns="0" rIns="0" bIns="0" anchor="t" anchorCtr="0">
              <a:spAutoFit/>
            </a:bodyPr>
            <a:lstStyle/>
            <a:p>
              <a:pPr algn="l"/>
              <a:r>
                <a:rPr lang="zh-CN" sz="1010" b="1" dirty="0">
                  <a:solidFill>
                    <a:srgbClr val="4E0D00"/>
                  </a:solidFill>
                  <a:latin typeface="+mn-lt"/>
                  <a:ea typeface="+mn-ea"/>
                  <a:cs typeface="+mn-cs"/>
                </a:rPr>
                <a:t>要素法</a:t>
              </a:r>
            </a:p>
          </p:txBody>
        </p:sp>
        <p:sp>
          <p:nvSpPr>
            <p:cNvPr id="267" name="TextBox 267"/>
            <p:cNvSpPr txBox="1"/>
            <p:nvPr/>
          </p:nvSpPr>
          <p:spPr>
            <a:xfrm>
              <a:off x="6319838" y="5409486"/>
              <a:ext cx="1060907"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按构成要素或属性拆解，</a:t>
              </a:r>
            </a:p>
          </p:txBody>
        </p:sp>
        <p:sp>
          <p:nvSpPr>
            <p:cNvPr id="268" name="TextBox 268"/>
            <p:cNvSpPr txBox="1"/>
            <p:nvPr/>
          </p:nvSpPr>
          <p:spPr>
            <a:xfrm>
              <a:off x="6319838" y="5552361"/>
              <a:ext cx="965327"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适用于静态结构问题。</a:t>
              </a:r>
            </a:p>
          </p:txBody>
        </p:sp>
        <p:sp>
          <p:nvSpPr>
            <p:cNvPr id="269" name="Rectangle 269"/>
            <p:cNvSpPr/>
            <p:nvPr/>
          </p:nvSpPr>
          <p:spPr>
            <a:xfrm>
              <a:off x="6324600" y="5753100"/>
              <a:ext cx="323850" cy="209550"/>
            </a:xfrm>
            <a:prstGeom prst="rect">
              <a:avLst/>
            </a:prstGeom>
            <a:solidFill>
              <a:srgbClr val="EFF3FA"/>
            </a:solidFill>
            <a:ln w="9525">
              <a:solidFill>
                <a:srgbClr val="C7D2E4"/>
              </a:solidFill>
            </a:ln>
          </p:spPr>
        </p:sp>
        <p:sp>
          <p:nvSpPr>
            <p:cNvPr id="270" name="TextBox 270"/>
            <p:cNvSpPr txBox="1"/>
            <p:nvPr/>
          </p:nvSpPr>
          <p:spPr>
            <a:xfrm>
              <a:off x="6431280" y="5815012"/>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人</a:t>
              </a:r>
            </a:p>
          </p:txBody>
        </p:sp>
        <p:sp>
          <p:nvSpPr>
            <p:cNvPr id="271" name="Rectangle 271"/>
            <p:cNvSpPr/>
            <p:nvPr/>
          </p:nvSpPr>
          <p:spPr>
            <a:xfrm>
              <a:off x="6724650" y="5753100"/>
              <a:ext cx="323850" cy="209550"/>
            </a:xfrm>
            <a:prstGeom prst="rect">
              <a:avLst/>
            </a:prstGeom>
            <a:solidFill>
              <a:srgbClr val="EFF3FA"/>
            </a:solidFill>
            <a:ln w="9525">
              <a:solidFill>
                <a:srgbClr val="C7D2E4"/>
              </a:solidFill>
            </a:ln>
          </p:spPr>
        </p:sp>
        <p:sp>
          <p:nvSpPr>
            <p:cNvPr id="272" name="TextBox 272"/>
            <p:cNvSpPr txBox="1"/>
            <p:nvPr/>
          </p:nvSpPr>
          <p:spPr>
            <a:xfrm>
              <a:off x="6831330" y="5815012"/>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机</a:t>
              </a:r>
            </a:p>
          </p:txBody>
        </p:sp>
        <p:sp>
          <p:nvSpPr>
            <p:cNvPr id="273" name="Rectangle 273"/>
            <p:cNvSpPr/>
            <p:nvPr/>
          </p:nvSpPr>
          <p:spPr>
            <a:xfrm>
              <a:off x="7124700" y="5753100"/>
              <a:ext cx="323850" cy="209550"/>
            </a:xfrm>
            <a:prstGeom prst="rect">
              <a:avLst/>
            </a:prstGeom>
            <a:solidFill>
              <a:srgbClr val="EFF3FA"/>
            </a:solidFill>
            <a:ln w="9525">
              <a:solidFill>
                <a:srgbClr val="C7D2E4"/>
              </a:solidFill>
            </a:ln>
          </p:spPr>
        </p:sp>
        <p:sp>
          <p:nvSpPr>
            <p:cNvPr id="274" name="TextBox 274"/>
            <p:cNvSpPr txBox="1"/>
            <p:nvPr/>
          </p:nvSpPr>
          <p:spPr>
            <a:xfrm>
              <a:off x="7231380" y="5815012"/>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料</a:t>
              </a:r>
            </a:p>
          </p:txBody>
        </p:sp>
        <p:sp>
          <p:nvSpPr>
            <p:cNvPr id="275" name="Rectangle 275"/>
            <p:cNvSpPr/>
            <p:nvPr/>
          </p:nvSpPr>
          <p:spPr>
            <a:xfrm>
              <a:off x="7524750" y="5753100"/>
              <a:ext cx="323850" cy="209550"/>
            </a:xfrm>
            <a:prstGeom prst="rect">
              <a:avLst/>
            </a:prstGeom>
            <a:solidFill>
              <a:srgbClr val="EFF3FA"/>
            </a:solidFill>
            <a:ln w="9525">
              <a:solidFill>
                <a:srgbClr val="C7D2E4"/>
              </a:solidFill>
            </a:ln>
          </p:spPr>
        </p:sp>
        <p:sp>
          <p:nvSpPr>
            <p:cNvPr id="276" name="TextBox 276"/>
            <p:cNvSpPr txBox="1"/>
            <p:nvPr/>
          </p:nvSpPr>
          <p:spPr>
            <a:xfrm>
              <a:off x="7631430" y="5815012"/>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法</a:t>
              </a:r>
            </a:p>
          </p:txBody>
        </p:sp>
        <p:sp>
          <p:nvSpPr>
            <p:cNvPr id="277" name="Rectangle 277"/>
            <p:cNvSpPr/>
            <p:nvPr/>
          </p:nvSpPr>
          <p:spPr>
            <a:xfrm>
              <a:off x="7924800" y="5753100"/>
              <a:ext cx="323850" cy="209550"/>
            </a:xfrm>
            <a:prstGeom prst="rect">
              <a:avLst/>
            </a:prstGeom>
            <a:solidFill>
              <a:srgbClr val="EFF3FA"/>
            </a:solidFill>
            <a:ln w="9525">
              <a:solidFill>
                <a:srgbClr val="C7D2E4"/>
              </a:solidFill>
            </a:ln>
          </p:spPr>
        </p:sp>
        <p:sp>
          <p:nvSpPr>
            <p:cNvPr id="278" name="TextBox 278"/>
            <p:cNvSpPr txBox="1"/>
            <p:nvPr/>
          </p:nvSpPr>
          <p:spPr>
            <a:xfrm>
              <a:off x="8031480" y="5815012"/>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环</a:t>
              </a:r>
            </a:p>
          </p:txBody>
        </p:sp>
        <p:sp>
          <p:nvSpPr>
            <p:cNvPr id="279" name="Rectangle 279"/>
            <p:cNvSpPr/>
            <p:nvPr/>
          </p:nvSpPr>
          <p:spPr>
            <a:xfrm>
              <a:off x="8324850" y="5753100"/>
              <a:ext cx="323850" cy="209550"/>
            </a:xfrm>
            <a:prstGeom prst="rect">
              <a:avLst/>
            </a:prstGeom>
            <a:solidFill>
              <a:srgbClr val="EFF3FA"/>
            </a:solidFill>
            <a:ln w="9525">
              <a:solidFill>
                <a:srgbClr val="C7D2E4"/>
              </a:solidFill>
            </a:ln>
          </p:spPr>
        </p:sp>
        <p:sp>
          <p:nvSpPr>
            <p:cNvPr id="280" name="TextBox 280"/>
            <p:cNvSpPr txBox="1"/>
            <p:nvPr/>
          </p:nvSpPr>
          <p:spPr>
            <a:xfrm>
              <a:off x="8431530" y="5815012"/>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测</a:t>
              </a:r>
            </a:p>
          </p:txBody>
        </p:sp>
        <p:sp>
          <p:nvSpPr>
            <p:cNvPr id="281" name="Line 281"/>
            <p:cNvSpPr/>
            <p:nvPr/>
          </p:nvSpPr>
          <p:spPr>
            <a:xfrm>
              <a:off x="6324600" y="6134100"/>
              <a:ext cx="2495550" cy="9525"/>
            </a:xfrm>
            <a:custGeom>
              <a:avLst/>
              <a:gdLst/>
              <a:ahLst/>
              <a:cxnLst/>
              <a:rect l="l" t="t" r="r" b="b"/>
              <a:pathLst>
                <a:path w="2495550" h="9525">
                  <a:moveTo>
                    <a:pt x="0" y="0"/>
                  </a:moveTo>
                  <a:lnTo>
                    <a:pt x="2495550" y="0"/>
                  </a:lnTo>
                </a:path>
              </a:pathLst>
            </a:custGeom>
            <a:noFill/>
            <a:ln w="9525">
              <a:solidFill>
                <a:srgbClr val="D8E1EE"/>
              </a:solidFill>
              <a:custDash>
                <a:ds d="300000" sp="300000"/>
              </a:custDash>
            </a:ln>
          </p:spPr>
        </p:sp>
        <p:sp>
          <p:nvSpPr>
            <p:cNvPr id="282" name="TextBox 282"/>
            <p:cNvSpPr txBox="1"/>
            <p:nvPr/>
          </p:nvSpPr>
          <p:spPr>
            <a:xfrm>
              <a:off x="6319838" y="6255782"/>
              <a:ext cx="1129563" cy="126206"/>
            </a:xfrm>
            <a:prstGeom prst="rect">
              <a:avLst/>
            </a:prstGeom>
            <a:noFill/>
            <a:ln>
              <a:noFill/>
            </a:ln>
          </p:spPr>
          <p:txBody>
            <a:bodyPr wrap="none" lIns="0" tIns="0" rIns="0" bIns="0" anchor="t" anchorCtr="0">
              <a:spAutoFit/>
            </a:bodyPr>
            <a:lstStyle/>
            <a:p>
              <a:pPr algn="l"/>
              <a:r>
                <a:rPr lang="zh-CN" sz="640" dirty="0">
                  <a:solidFill>
                    <a:srgbClr val="7E6A66"/>
                  </a:solidFill>
                  <a:latin typeface="+mn-lt"/>
                  <a:ea typeface="+mn-ea"/>
                  <a:cs typeface="+mn-cs"/>
                </a:rPr>
                <a:t>示例：质量问题的六要素分析</a:t>
              </a:r>
            </a:p>
          </p:txBody>
        </p:sp>
      </p:grpSp>
      <p:grpSp>
        <p:nvGrpSpPr>
          <p:cNvPr id="340" name="method-matrix"/>
          <p:cNvGrpSpPr/>
          <p:nvPr/>
        </p:nvGrpSpPr>
        <p:grpSpPr>
          <a:xfrm>
            <a:off x="9086850" y="4876800"/>
            <a:ext cx="2876550" cy="1828800"/>
            <a:chOff x="9086850" y="4876800"/>
            <a:chExt cx="2876550" cy="1828800"/>
          </a:xfrm>
        </p:grpSpPr>
        <p:sp>
          <p:nvSpPr>
            <p:cNvPr id="284" name="Rectangle 284"/>
            <p:cNvSpPr/>
            <p:nvPr/>
          </p:nvSpPr>
          <p:spPr>
            <a:xfrm>
              <a:off x="9086850" y="4876800"/>
              <a:ext cx="2876550" cy="1828800"/>
            </a:xfrm>
            <a:prstGeom prst="roundRect">
              <a:avLst>
                <a:gd name="adj" fmla="val 3125"/>
              </a:avLst>
            </a:prstGeom>
            <a:solidFill>
              <a:srgbClr val="FFFFFF"/>
            </a:solidFill>
            <a:ln w="9525">
              <a:solidFill>
                <a:srgbClr val="C7D2E4"/>
              </a:solidFill>
            </a:ln>
          </p:spPr>
        </p:sp>
        <p:sp>
          <p:nvSpPr>
            <p:cNvPr id="285" name="Ellipse 285"/>
            <p:cNvSpPr/>
            <p:nvPr/>
          </p:nvSpPr>
          <p:spPr>
            <a:xfrm>
              <a:off x="9210675" y="5000625"/>
              <a:ext cx="323850" cy="323850"/>
            </a:xfrm>
            <a:prstGeom prst="ellipse">
              <a:avLst/>
            </a:prstGeom>
            <a:solidFill>
              <a:srgbClr val="4E0D00"/>
            </a:solidFill>
            <a:ln>
              <a:noFill/>
            </a:ln>
          </p:spPr>
        </p:sp>
        <p:grpSp>
          <p:nvGrpSpPr>
            <p:cNvPr id="290" name="Group 290"/>
            <p:cNvGrpSpPr/>
            <p:nvPr/>
          </p:nvGrpSpPr>
          <p:grpSpPr>
            <a:xfrm>
              <a:off x="9315450" y="5105400"/>
              <a:ext cx="114300" cy="114300"/>
              <a:chOff x="9315450" y="5105400"/>
              <a:chExt cx="114300" cy="114300"/>
            </a:xfrm>
          </p:grpSpPr>
          <p:sp>
            <p:nvSpPr>
              <p:cNvPr id="286" name="Freeform 286"/>
              <p:cNvSpPr/>
              <p:nvPr/>
            </p:nvSpPr>
            <p:spPr>
              <a:xfrm>
                <a:off x="9315450" y="5105400"/>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FFFFFF"/>
                </a:solidFill>
              </a:ln>
            </p:spPr>
          </p:sp>
          <p:sp>
            <p:nvSpPr>
              <p:cNvPr id="287" name="Freeform 287"/>
              <p:cNvSpPr/>
              <p:nvPr/>
            </p:nvSpPr>
            <p:spPr>
              <a:xfrm>
                <a:off x="9386888" y="5105400"/>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FFFFFF"/>
                </a:solidFill>
              </a:ln>
            </p:spPr>
          </p:sp>
          <p:sp>
            <p:nvSpPr>
              <p:cNvPr id="288" name="Freeform 288"/>
              <p:cNvSpPr/>
              <p:nvPr/>
            </p:nvSpPr>
            <p:spPr>
              <a:xfrm>
                <a:off x="9315450" y="5176838"/>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FFFFFF"/>
                </a:solidFill>
              </a:ln>
            </p:spPr>
          </p:sp>
          <p:sp>
            <p:nvSpPr>
              <p:cNvPr id="289" name="Freeform 289"/>
              <p:cNvSpPr/>
              <p:nvPr/>
            </p:nvSpPr>
            <p:spPr>
              <a:xfrm>
                <a:off x="9386888" y="5176838"/>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FFFFFF"/>
                </a:solidFill>
              </a:ln>
            </p:spPr>
          </p:sp>
        </p:grpSp>
        <p:sp>
          <p:nvSpPr>
            <p:cNvPr id="291" name="TextBox 291"/>
            <p:cNvSpPr txBox="1"/>
            <p:nvPr/>
          </p:nvSpPr>
          <p:spPr>
            <a:xfrm>
              <a:off x="9634156" y="5110401"/>
              <a:ext cx="418186" cy="198025"/>
            </a:xfrm>
            <a:prstGeom prst="rect">
              <a:avLst/>
            </a:prstGeom>
            <a:noFill/>
            <a:ln>
              <a:noFill/>
            </a:ln>
          </p:spPr>
          <p:txBody>
            <a:bodyPr wrap="none" lIns="0" tIns="0" rIns="0" bIns="0" anchor="t" anchorCtr="0">
              <a:spAutoFit/>
            </a:bodyPr>
            <a:lstStyle/>
            <a:p>
              <a:pPr algn="l"/>
              <a:r>
                <a:rPr lang="zh-CN" sz="1010" b="1" dirty="0">
                  <a:solidFill>
                    <a:srgbClr val="4E0D00"/>
                  </a:solidFill>
                  <a:latin typeface="+mn-lt"/>
                  <a:ea typeface="+mn-ea"/>
                  <a:cs typeface="+mn-cs"/>
                </a:rPr>
                <a:t>矩阵法</a:t>
              </a:r>
            </a:p>
          </p:txBody>
        </p:sp>
        <p:sp>
          <p:nvSpPr>
            <p:cNvPr id="292" name="TextBox 292"/>
            <p:cNvSpPr txBox="1"/>
            <p:nvPr/>
          </p:nvSpPr>
          <p:spPr>
            <a:xfrm>
              <a:off x="9272588" y="5390436"/>
              <a:ext cx="965327"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从两个维度交叉拆解，</a:t>
              </a:r>
            </a:p>
          </p:txBody>
        </p:sp>
        <p:sp>
          <p:nvSpPr>
            <p:cNvPr id="293" name="TextBox 293"/>
            <p:cNvSpPr txBox="1"/>
            <p:nvPr/>
          </p:nvSpPr>
          <p:spPr>
            <a:xfrm>
              <a:off x="9272588" y="5533311"/>
              <a:ext cx="1060907" cy="140494"/>
            </a:xfrm>
            <a:prstGeom prst="rect">
              <a:avLst/>
            </a:prstGeom>
            <a:noFill/>
            <a:ln>
              <a:noFill/>
            </a:ln>
          </p:spPr>
          <p:txBody>
            <a:bodyPr wrap="none" lIns="0" tIns="0" rIns="0" bIns="0" anchor="t" anchorCtr="0">
              <a:spAutoFit/>
            </a:bodyPr>
            <a:lstStyle/>
            <a:p>
              <a:pPr algn="l"/>
              <a:r>
                <a:rPr lang="zh-CN" sz="710" dirty="0">
                  <a:solidFill>
                    <a:srgbClr val="453633"/>
                  </a:solidFill>
                  <a:latin typeface="+mn-lt"/>
                  <a:ea typeface="+mn-ea"/>
                  <a:cs typeface="+mn-cs"/>
                </a:rPr>
                <a:t>适用于多维度交叉分析。</a:t>
              </a:r>
            </a:p>
          </p:txBody>
        </p:sp>
        <p:sp>
          <p:nvSpPr>
            <p:cNvPr id="294" name="Rectangle 294"/>
            <p:cNvSpPr/>
            <p:nvPr/>
          </p:nvSpPr>
          <p:spPr>
            <a:xfrm>
              <a:off x="9277350" y="5715000"/>
              <a:ext cx="495300" cy="142875"/>
            </a:xfrm>
            <a:prstGeom prst="rect">
              <a:avLst/>
            </a:prstGeom>
            <a:solidFill>
              <a:srgbClr val="4E0D00"/>
            </a:solidFill>
            <a:ln>
              <a:noFill/>
            </a:ln>
          </p:spPr>
        </p:sp>
        <p:sp>
          <p:nvSpPr>
            <p:cNvPr id="295" name="Rectangle 295"/>
            <p:cNvSpPr/>
            <p:nvPr/>
          </p:nvSpPr>
          <p:spPr>
            <a:xfrm>
              <a:off x="9772650" y="5715000"/>
              <a:ext cx="495300" cy="142875"/>
            </a:xfrm>
            <a:prstGeom prst="rect">
              <a:avLst/>
            </a:prstGeom>
            <a:solidFill>
              <a:srgbClr val="4E0D00"/>
            </a:solidFill>
            <a:ln>
              <a:noFill/>
            </a:ln>
          </p:spPr>
        </p:sp>
        <p:sp>
          <p:nvSpPr>
            <p:cNvPr id="296" name="Rectangle 296"/>
            <p:cNvSpPr/>
            <p:nvPr/>
          </p:nvSpPr>
          <p:spPr>
            <a:xfrm>
              <a:off x="10267950" y="5715000"/>
              <a:ext cx="495300" cy="142875"/>
            </a:xfrm>
            <a:prstGeom prst="rect">
              <a:avLst/>
            </a:prstGeom>
            <a:solidFill>
              <a:srgbClr val="4E0D00"/>
            </a:solidFill>
            <a:ln>
              <a:noFill/>
            </a:ln>
          </p:spPr>
        </p:sp>
        <p:sp>
          <p:nvSpPr>
            <p:cNvPr id="297" name="Rectangle 297"/>
            <p:cNvSpPr/>
            <p:nvPr/>
          </p:nvSpPr>
          <p:spPr>
            <a:xfrm>
              <a:off x="10763250" y="5715000"/>
              <a:ext cx="495300" cy="142875"/>
            </a:xfrm>
            <a:prstGeom prst="rect">
              <a:avLst/>
            </a:prstGeom>
            <a:solidFill>
              <a:srgbClr val="4E0D00"/>
            </a:solidFill>
            <a:ln>
              <a:noFill/>
            </a:ln>
          </p:spPr>
        </p:sp>
        <p:sp>
          <p:nvSpPr>
            <p:cNvPr id="298" name="Rectangle 298"/>
            <p:cNvSpPr/>
            <p:nvPr/>
          </p:nvSpPr>
          <p:spPr>
            <a:xfrm>
              <a:off x="11258550" y="5715000"/>
              <a:ext cx="495300" cy="142875"/>
            </a:xfrm>
            <a:prstGeom prst="rect">
              <a:avLst/>
            </a:prstGeom>
            <a:solidFill>
              <a:srgbClr val="4E0D00"/>
            </a:solidFill>
            <a:ln>
              <a:noFill/>
            </a:ln>
          </p:spPr>
        </p:sp>
        <p:sp>
          <p:nvSpPr>
            <p:cNvPr id="299" name="TextBox 299"/>
            <p:cNvSpPr txBox="1"/>
            <p:nvPr/>
          </p:nvSpPr>
          <p:spPr>
            <a:xfrm>
              <a:off x="9896340" y="5759053"/>
              <a:ext cx="247919"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维度B1</a:t>
              </a:r>
            </a:p>
          </p:txBody>
        </p:sp>
        <p:sp>
          <p:nvSpPr>
            <p:cNvPr id="300" name="TextBox 300"/>
            <p:cNvSpPr txBox="1"/>
            <p:nvPr/>
          </p:nvSpPr>
          <p:spPr>
            <a:xfrm>
              <a:off x="10391640" y="5759053"/>
              <a:ext cx="247919"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维度B2</a:t>
              </a:r>
            </a:p>
          </p:txBody>
        </p:sp>
        <p:sp>
          <p:nvSpPr>
            <p:cNvPr id="301" name="TextBox 301"/>
            <p:cNvSpPr txBox="1"/>
            <p:nvPr/>
          </p:nvSpPr>
          <p:spPr>
            <a:xfrm>
              <a:off x="10985406" y="5759053"/>
              <a:ext cx="50988"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a:t>
              </a:r>
            </a:p>
          </p:txBody>
        </p:sp>
        <p:sp>
          <p:nvSpPr>
            <p:cNvPr id="302" name="TextBox 302"/>
            <p:cNvSpPr txBox="1"/>
            <p:nvPr/>
          </p:nvSpPr>
          <p:spPr>
            <a:xfrm>
              <a:off x="11383414" y="5759053"/>
              <a:ext cx="245572"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维度Bn</a:t>
              </a:r>
            </a:p>
          </p:txBody>
        </p:sp>
        <p:sp>
          <p:nvSpPr>
            <p:cNvPr id="303" name="Rectangle 303"/>
            <p:cNvSpPr/>
            <p:nvPr/>
          </p:nvSpPr>
          <p:spPr>
            <a:xfrm>
              <a:off x="9277350" y="5857875"/>
              <a:ext cx="495300" cy="142875"/>
            </a:xfrm>
            <a:prstGeom prst="rect">
              <a:avLst/>
            </a:prstGeom>
            <a:solidFill>
              <a:srgbClr val="EFF3FA"/>
            </a:solidFill>
            <a:ln w="7620">
              <a:solidFill>
                <a:srgbClr val="D8E1EE"/>
              </a:solidFill>
            </a:ln>
          </p:spPr>
        </p:sp>
        <p:sp>
          <p:nvSpPr>
            <p:cNvPr id="304" name="TextBox 304"/>
            <p:cNvSpPr txBox="1"/>
            <p:nvPr/>
          </p:nvSpPr>
          <p:spPr>
            <a:xfrm>
              <a:off x="9398850" y="5901928"/>
              <a:ext cx="252300" cy="111919"/>
            </a:xfrm>
            <a:prstGeom prst="rect">
              <a:avLst/>
            </a:prstGeom>
            <a:noFill/>
            <a:ln>
              <a:noFill/>
            </a:ln>
          </p:spPr>
          <p:txBody>
            <a:bodyPr wrap="none" lIns="0" tIns="0" rIns="0" bIns="0" anchor="t" anchorCtr="0">
              <a:spAutoFit/>
            </a:bodyPr>
            <a:lstStyle/>
            <a:p>
              <a:pPr algn="ctr"/>
              <a:r>
                <a:rPr lang="zh-CN" sz="560" b="1" dirty="0">
                  <a:solidFill>
                    <a:srgbClr val="4E0D00"/>
                  </a:solidFill>
                  <a:latin typeface="+mn-lt"/>
                  <a:ea typeface="+mn-ea"/>
                  <a:cs typeface="+mn-cs"/>
                </a:rPr>
                <a:t>维度A1</a:t>
              </a:r>
            </a:p>
          </p:txBody>
        </p:sp>
        <p:sp>
          <p:nvSpPr>
            <p:cNvPr id="305" name="Rectangle 305"/>
            <p:cNvSpPr/>
            <p:nvPr/>
          </p:nvSpPr>
          <p:spPr>
            <a:xfrm>
              <a:off x="9772650" y="5857875"/>
              <a:ext cx="495300" cy="142875"/>
            </a:xfrm>
            <a:prstGeom prst="rect">
              <a:avLst/>
            </a:prstGeom>
            <a:solidFill>
              <a:srgbClr val="FFFFFF"/>
            </a:solidFill>
            <a:ln w="7620">
              <a:solidFill>
                <a:srgbClr val="D8E1EE"/>
              </a:solidFill>
            </a:ln>
          </p:spPr>
        </p:sp>
        <p:sp>
          <p:nvSpPr>
            <p:cNvPr id="306" name="TextBox 306"/>
            <p:cNvSpPr txBox="1"/>
            <p:nvPr/>
          </p:nvSpPr>
          <p:spPr>
            <a:xfrm>
              <a:off x="9975152" y="5897880"/>
              <a:ext cx="90297" cy="119062"/>
            </a:xfrm>
            <a:prstGeom prst="rect">
              <a:avLst/>
            </a:prstGeom>
            <a:noFill/>
            <a:ln>
              <a:noFill/>
            </a:ln>
          </p:spPr>
          <p:txBody>
            <a:bodyPr wrap="none" lIns="0" tIns="0" rIns="0" bIns="0" anchor="t" anchorCtr="0">
              <a:spAutoFit/>
            </a:bodyPr>
            <a:lstStyle/>
            <a:p>
              <a:pPr algn="ctr"/>
              <a:r>
                <a:rPr lang="zh-CN" sz="600" dirty="0">
                  <a:solidFill>
                    <a:srgbClr val="4E0D00"/>
                  </a:solidFill>
                  <a:latin typeface="+mn-lt"/>
                  <a:ea typeface="+mn-ea"/>
                  <a:cs typeface="+mn-cs"/>
                </a:rPr>
                <a:t>✓</a:t>
              </a:r>
            </a:p>
          </p:txBody>
        </p:sp>
        <p:sp>
          <p:nvSpPr>
            <p:cNvPr id="307" name="Rectangle 307"/>
            <p:cNvSpPr/>
            <p:nvPr/>
          </p:nvSpPr>
          <p:spPr>
            <a:xfrm>
              <a:off x="10267950" y="5857875"/>
              <a:ext cx="495300" cy="142875"/>
            </a:xfrm>
            <a:prstGeom prst="rect">
              <a:avLst/>
            </a:prstGeom>
            <a:solidFill>
              <a:srgbClr val="FFFFFF"/>
            </a:solidFill>
            <a:ln w="7620">
              <a:solidFill>
                <a:srgbClr val="D8E1EE"/>
              </a:solidFill>
            </a:ln>
          </p:spPr>
        </p:sp>
        <p:sp>
          <p:nvSpPr>
            <p:cNvPr id="308" name="TextBox 308"/>
            <p:cNvSpPr txBox="1"/>
            <p:nvPr/>
          </p:nvSpPr>
          <p:spPr>
            <a:xfrm>
              <a:off x="10470452" y="5897880"/>
              <a:ext cx="90297" cy="119062"/>
            </a:xfrm>
            <a:prstGeom prst="rect">
              <a:avLst/>
            </a:prstGeom>
            <a:noFill/>
            <a:ln>
              <a:noFill/>
            </a:ln>
          </p:spPr>
          <p:txBody>
            <a:bodyPr wrap="none" lIns="0" tIns="0" rIns="0" bIns="0" anchor="t" anchorCtr="0">
              <a:spAutoFit/>
            </a:bodyPr>
            <a:lstStyle/>
            <a:p>
              <a:pPr algn="ctr"/>
              <a:r>
                <a:rPr lang="zh-CN" sz="600" dirty="0">
                  <a:solidFill>
                    <a:srgbClr val="4E0D00"/>
                  </a:solidFill>
                  <a:latin typeface="+mn-lt"/>
                  <a:ea typeface="+mn-ea"/>
                  <a:cs typeface="+mn-cs"/>
                </a:rPr>
                <a:t>✓</a:t>
              </a:r>
            </a:p>
          </p:txBody>
        </p:sp>
        <p:sp>
          <p:nvSpPr>
            <p:cNvPr id="309" name="Rectangle 309"/>
            <p:cNvSpPr/>
            <p:nvPr/>
          </p:nvSpPr>
          <p:spPr>
            <a:xfrm>
              <a:off x="10763250" y="5857875"/>
              <a:ext cx="495300" cy="142875"/>
            </a:xfrm>
            <a:prstGeom prst="rect">
              <a:avLst/>
            </a:prstGeom>
            <a:solidFill>
              <a:srgbClr val="FFFFFF"/>
            </a:solidFill>
            <a:ln w="7620">
              <a:solidFill>
                <a:srgbClr val="D8E1EE"/>
              </a:solidFill>
            </a:ln>
          </p:spPr>
        </p:sp>
        <p:sp>
          <p:nvSpPr>
            <p:cNvPr id="310" name="Rectangle 310"/>
            <p:cNvSpPr/>
            <p:nvPr/>
          </p:nvSpPr>
          <p:spPr>
            <a:xfrm>
              <a:off x="11258550" y="5857875"/>
              <a:ext cx="495300" cy="142875"/>
            </a:xfrm>
            <a:prstGeom prst="rect">
              <a:avLst/>
            </a:prstGeom>
            <a:solidFill>
              <a:srgbClr val="FFFFFF"/>
            </a:solidFill>
            <a:ln w="7620">
              <a:solidFill>
                <a:srgbClr val="D8E1EE"/>
              </a:solidFill>
            </a:ln>
          </p:spPr>
        </p:sp>
        <p:sp>
          <p:nvSpPr>
            <p:cNvPr id="311" name="TextBox 311"/>
            <p:cNvSpPr txBox="1"/>
            <p:nvPr/>
          </p:nvSpPr>
          <p:spPr>
            <a:xfrm>
              <a:off x="11461052" y="5897880"/>
              <a:ext cx="90297" cy="119062"/>
            </a:xfrm>
            <a:prstGeom prst="rect">
              <a:avLst/>
            </a:prstGeom>
            <a:noFill/>
            <a:ln>
              <a:noFill/>
            </a:ln>
          </p:spPr>
          <p:txBody>
            <a:bodyPr wrap="none" lIns="0" tIns="0" rIns="0" bIns="0" anchor="t" anchorCtr="0">
              <a:spAutoFit/>
            </a:bodyPr>
            <a:lstStyle/>
            <a:p>
              <a:pPr algn="ctr"/>
              <a:r>
                <a:rPr lang="zh-CN" sz="600" dirty="0">
                  <a:solidFill>
                    <a:srgbClr val="4E0D00"/>
                  </a:solidFill>
                  <a:latin typeface="+mn-lt"/>
                  <a:ea typeface="+mn-ea"/>
                  <a:cs typeface="+mn-cs"/>
                </a:rPr>
                <a:t>✓</a:t>
              </a:r>
            </a:p>
          </p:txBody>
        </p:sp>
        <p:sp>
          <p:nvSpPr>
            <p:cNvPr id="312" name="Rectangle 312"/>
            <p:cNvSpPr/>
            <p:nvPr/>
          </p:nvSpPr>
          <p:spPr>
            <a:xfrm>
              <a:off x="9277350" y="6000750"/>
              <a:ext cx="495300" cy="142875"/>
            </a:xfrm>
            <a:prstGeom prst="rect">
              <a:avLst/>
            </a:prstGeom>
            <a:solidFill>
              <a:srgbClr val="EFF3FA"/>
            </a:solidFill>
            <a:ln w="7620">
              <a:solidFill>
                <a:srgbClr val="D8E1EE"/>
              </a:solidFill>
            </a:ln>
          </p:spPr>
        </p:sp>
        <p:sp>
          <p:nvSpPr>
            <p:cNvPr id="313" name="TextBox 313"/>
            <p:cNvSpPr txBox="1"/>
            <p:nvPr/>
          </p:nvSpPr>
          <p:spPr>
            <a:xfrm>
              <a:off x="9398850" y="6044803"/>
              <a:ext cx="252300" cy="111919"/>
            </a:xfrm>
            <a:prstGeom prst="rect">
              <a:avLst/>
            </a:prstGeom>
            <a:noFill/>
            <a:ln>
              <a:noFill/>
            </a:ln>
          </p:spPr>
          <p:txBody>
            <a:bodyPr wrap="none" lIns="0" tIns="0" rIns="0" bIns="0" anchor="t" anchorCtr="0">
              <a:spAutoFit/>
            </a:bodyPr>
            <a:lstStyle/>
            <a:p>
              <a:pPr algn="ctr"/>
              <a:r>
                <a:rPr lang="zh-CN" sz="560" b="1" dirty="0">
                  <a:solidFill>
                    <a:srgbClr val="4E0D00"/>
                  </a:solidFill>
                  <a:latin typeface="+mn-lt"/>
                  <a:ea typeface="+mn-ea"/>
                  <a:cs typeface="+mn-cs"/>
                </a:rPr>
                <a:t>维度A2</a:t>
              </a:r>
            </a:p>
          </p:txBody>
        </p:sp>
        <p:sp>
          <p:nvSpPr>
            <p:cNvPr id="314" name="Rectangle 314"/>
            <p:cNvSpPr/>
            <p:nvPr/>
          </p:nvSpPr>
          <p:spPr>
            <a:xfrm>
              <a:off x="9772650" y="6000750"/>
              <a:ext cx="495300" cy="142875"/>
            </a:xfrm>
            <a:prstGeom prst="rect">
              <a:avLst/>
            </a:prstGeom>
            <a:solidFill>
              <a:srgbClr val="FFFFFF"/>
            </a:solidFill>
            <a:ln w="7620">
              <a:solidFill>
                <a:srgbClr val="D8E1EE"/>
              </a:solidFill>
            </a:ln>
          </p:spPr>
        </p:sp>
        <p:sp>
          <p:nvSpPr>
            <p:cNvPr id="315" name="TextBox 315"/>
            <p:cNvSpPr txBox="1"/>
            <p:nvPr/>
          </p:nvSpPr>
          <p:spPr>
            <a:xfrm>
              <a:off x="9975152" y="6040755"/>
              <a:ext cx="90297" cy="119062"/>
            </a:xfrm>
            <a:prstGeom prst="rect">
              <a:avLst/>
            </a:prstGeom>
            <a:noFill/>
            <a:ln>
              <a:noFill/>
            </a:ln>
          </p:spPr>
          <p:txBody>
            <a:bodyPr wrap="none" lIns="0" tIns="0" rIns="0" bIns="0" anchor="t" anchorCtr="0">
              <a:spAutoFit/>
            </a:bodyPr>
            <a:lstStyle/>
            <a:p>
              <a:pPr algn="ctr"/>
              <a:r>
                <a:rPr lang="zh-CN" sz="600" dirty="0">
                  <a:solidFill>
                    <a:srgbClr val="4E0D00"/>
                  </a:solidFill>
                  <a:latin typeface="+mn-lt"/>
                  <a:ea typeface="+mn-ea"/>
                  <a:cs typeface="+mn-cs"/>
                </a:rPr>
                <a:t>✓</a:t>
              </a:r>
            </a:p>
          </p:txBody>
        </p:sp>
        <p:sp>
          <p:nvSpPr>
            <p:cNvPr id="316" name="Rectangle 316"/>
            <p:cNvSpPr/>
            <p:nvPr/>
          </p:nvSpPr>
          <p:spPr>
            <a:xfrm>
              <a:off x="10267950" y="6000750"/>
              <a:ext cx="495300" cy="142875"/>
            </a:xfrm>
            <a:prstGeom prst="rect">
              <a:avLst/>
            </a:prstGeom>
            <a:solidFill>
              <a:srgbClr val="FFFFFF"/>
            </a:solidFill>
            <a:ln w="7620">
              <a:solidFill>
                <a:srgbClr val="D8E1EE"/>
              </a:solidFill>
            </a:ln>
          </p:spPr>
        </p:sp>
        <p:sp>
          <p:nvSpPr>
            <p:cNvPr id="317" name="TextBox 317"/>
            <p:cNvSpPr txBox="1"/>
            <p:nvPr/>
          </p:nvSpPr>
          <p:spPr>
            <a:xfrm>
              <a:off x="10470452" y="6040755"/>
              <a:ext cx="90297" cy="119062"/>
            </a:xfrm>
            <a:prstGeom prst="rect">
              <a:avLst/>
            </a:prstGeom>
            <a:noFill/>
            <a:ln>
              <a:noFill/>
            </a:ln>
          </p:spPr>
          <p:txBody>
            <a:bodyPr wrap="none" lIns="0" tIns="0" rIns="0" bIns="0" anchor="t" anchorCtr="0">
              <a:spAutoFit/>
            </a:bodyPr>
            <a:lstStyle/>
            <a:p>
              <a:pPr algn="ctr"/>
              <a:r>
                <a:rPr lang="zh-CN" sz="600" dirty="0">
                  <a:solidFill>
                    <a:srgbClr val="4E0D00"/>
                  </a:solidFill>
                  <a:latin typeface="+mn-lt"/>
                  <a:ea typeface="+mn-ea"/>
                  <a:cs typeface="+mn-cs"/>
                </a:rPr>
                <a:t>✓</a:t>
              </a:r>
            </a:p>
          </p:txBody>
        </p:sp>
        <p:sp>
          <p:nvSpPr>
            <p:cNvPr id="318" name="Rectangle 318"/>
            <p:cNvSpPr/>
            <p:nvPr/>
          </p:nvSpPr>
          <p:spPr>
            <a:xfrm>
              <a:off x="10763250" y="6000750"/>
              <a:ext cx="495300" cy="142875"/>
            </a:xfrm>
            <a:prstGeom prst="rect">
              <a:avLst/>
            </a:prstGeom>
            <a:solidFill>
              <a:srgbClr val="FFFFFF"/>
            </a:solidFill>
            <a:ln w="7620">
              <a:solidFill>
                <a:srgbClr val="D8E1EE"/>
              </a:solidFill>
            </a:ln>
          </p:spPr>
        </p:sp>
        <p:sp>
          <p:nvSpPr>
            <p:cNvPr id="319" name="Rectangle 319"/>
            <p:cNvSpPr/>
            <p:nvPr/>
          </p:nvSpPr>
          <p:spPr>
            <a:xfrm>
              <a:off x="11258550" y="6000750"/>
              <a:ext cx="495300" cy="142875"/>
            </a:xfrm>
            <a:prstGeom prst="rect">
              <a:avLst/>
            </a:prstGeom>
            <a:solidFill>
              <a:srgbClr val="FFFFFF"/>
            </a:solidFill>
            <a:ln w="7620">
              <a:solidFill>
                <a:srgbClr val="D8E1EE"/>
              </a:solidFill>
            </a:ln>
          </p:spPr>
        </p:sp>
        <p:sp>
          <p:nvSpPr>
            <p:cNvPr id="320" name="TextBox 320"/>
            <p:cNvSpPr txBox="1"/>
            <p:nvPr/>
          </p:nvSpPr>
          <p:spPr>
            <a:xfrm>
              <a:off x="11461052" y="6040755"/>
              <a:ext cx="90297" cy="119062"/>
            </a:xfrm>
            <a:prstGeom prst="rect">
              <a:avLst/>
            </a:prstGeom>
            <a:noFill/>
            <a:ln>
              <a:noFill/>
            </a:ln>
          </p:spPr>
          <p:txBody>
            <a:bodyPr wrap="none" lIns="0" tIns="0" rIns="0" bIns="0" anchor="t" anchorCtr="0">
              <a:spAutoFit/>
            </a:bodyPr>
            <a:lstStyle/>
            <a:p>
              <a:pPr algn="ctr"/>
              <a:r>
                <a:rPr lang="zh-CN" sz="600" dirty="0">
                  <a:solidFill>
                    <a:srgbClr val="4E0D00"/>
                  </a:solidFill>
                  <a:latin typeface="+mn-lt"/>
                  <a:ea typeface="+mn-ea"/>
                  <a:cs typeface="+mn-cs"/>
                </a:rPr>
                <a:t>✓</a:t>
              </a:r>
            </a:p>
          </p:txBody>
        </p:sp>
        <p:sp>
          <p:nvSpPr>
            <p:cNvPr id="321" name="Rectangle 321"/>
            <p:cNvSpPr/>
            <p:nvPr/>
          </p:nvSpPr>
          <p:spPr>
            <a:xfrm>
              <a:off x="9277350" y="6143625"/>
              <a:ext cx="495300" cy="142875"/>
            </a:xfrm>
            <a:prstGeom prst="rect">
              <a:avLst/>
            </a:prstGeom>
            <a:solidFill>
              <a:srgbClr val="EFF3FA"/>
            </a:solidFill>
            <a:ln w="7620">
              <a:solidFill>
                <a:srgbClr val="D8E1EE"/>
              </a:solidFill>
            </a:ln>
          </p:spPr>
        </p:sp>
        <p:sp>
          <p:nvSpPr>
            <p:cNvPr id="322" name="TextBox 322"/>
            <p:cNvSpPr txBox="1"/>
            <p:nvPr/>
          </p:nvSpPr>
          <p:spPr>
            <a:xfrm>
              <a:off x="9499506" y="6187678"/>
              <a:ext cx="50988" cy="111919"/>
            </a:xfrm>
            <a:prstGeom prst="rect">
              <a:avLst/>
            </a:prstGeom>
            <a:noFill/>
            <a:ln>
              <a:noFill/>
            </a:ln>
          </p:spPr>
          <p:txBody>
            <a:bodyPr wrap="none" lIns="0" tIns="0" rIns="0" bIns="0" anchor="t" anchorCtr="0">
              <a:spAutoFit/>
            </a:bodyPr>
            <a:lstStyle/>
            <a:p>
              <a:pPr algn="ctr"/>
              <a:r>
                <a:rPr lang="zh-CN" sz="560" dirty="0">
                  <a:solidFill>
                    <a:srgbClr val="4E0D00"/>
                  </a:solidFill>
                  <a:latin typeface="+mn-lt"/>
                  <a:ea typeface="+mn-ea"/>
                  <a:cs typeface="+mn-cs"/>
                </a:rPr>
                <a:t>…</a:t>
              </a:r>
            </a:p>
          </p:txBody>
        </p:sp>
        <p:sp>
          <p:nvSpPr>
            <p:cNvPr id="323" name="Rectangle 323"/>
            <p:cNvSpPr/>
            <p:nvPr/>
          </p:nvSpPr>
          <p:spPr>
            <a:xfrm>
              <a:off x="9772650" y="6143625"/>
              <a:ext cx="495300" cy="142875"/>
            </a:xfrm>
            <a:prstGeom prst="rect">
              <a:avLst/>
            </a:prstGeom>
            <a:solidFill>
              <a:srgbClr val="FFFFFF"/>
            </a:solidFill>
            <a:ln w="7620">
              <a:solidFill>
                <a:srgbClr val="D8E1EE"/>
              </a:solidFill>
            </a:ln>
          </p:spPr>
        </p:sp>
        <p:sp>
          <p:nvSpPr>
            <p:cNvPr id="324" name="TextBox 324"/>
            <p:cNvSpPr txBox="1"/>
            <p:nvPr/>
          </p:nvSpPr>
          <p:spPr>
            <a:xfrm>
              <a:off x="9994806" y="6187678"/>
              <a:ext cx="50988" cy="111919"/>
            </a:xfrm>
            <a:prstGeom prst="rect">
              <a:avLst/>
            </a:prstGeom>
            <a:noFill/>
            <a:ln>
              <a:noFill/>
            </a:ln>
          </p:spPr>
          <p:txBody>
            <a:bodyPr wrap="none" lIns="0" tIns="0" rIns="0" bIns="0" anchor="t" anchorCtr="0">
              <a:spAutoFit/>
            </a:bodyPr>
            <a:lstStyle/>
            <a:p>
              <a:pPr algn="ctr"/>
              <a:r>
                <a:rPr lang="zh-CN" sz="560" dirty="0">
                  <a:solidFill>
                    <a:srgbClr val="7E6A66"/>
                  </a:solidFill>
                  <a:latin typeface="+mn-lt"/>
                  <a:ea typeface="+mn-ea"/>
                  <a:cs typeface="+mn-cs"/>
                </a:rPr>
                <a:t>…</a:t>
              </a:r>
            </a:p>
          </p:txBody>
        </p:sp>
        <p:sp>
          <p:nvSpPr>
            <p:cNvPr id="325" name="Rectangle 325"/>
            <p:cNvSpPr/>
            <p:nvPr/>
          </p:nvSpPr>
          <p:spPr>
            <a:xfrm>
              <a:off x="10267950" y="6143625"/>
              <a:ext cx="495300" cy="142875"/>
            </a:xfrm>
            <a:prstGeom prst="rect">
              <a:avLst/>
            </a:prstGeom>
            <a:solidFill>
              <a:srgbClr val="FFFFFF"/>
            </a:solidFill>
            <a:ln w="7620">
              <a:solidFill>
                <a:srgbClr val="D8E1EE"/>
              </a:solidFill>
            </a:ln>
          </p:spPr>
        </p:sp>
        <p:sp>
          <p:nvSpPr>
            <p:cNvPr id="326" name="TextBox 326"/>
            <p:cNvSpPr txBox="1"/>
            <p:nvPr/>
          </p:nvSpPr>
          <p:spPr>
            <a:xfrm>
              <a:off x="10490106" y="6187678"/>
              <a:ext cx="50988" cy="111919"/>
            </a:xfrm>
            <a:prstGeom prst="rect">
              <a:avLst/>
            </a:prstGeom>
            <a:noFill/>
            <a:ln>
              <a:noFill/>
            </a:ln>
          </p:spPr>
          <p:txBody>
            <a:bodyPr wrap="none" lIns="0" tIns="0" rIns="0" bIns="0" anchor="t" anchorCtr="0">
              <a:spAutoFit/>
            </a:bodyPr>
            <a:lstStyle/>
            <a:p>
              <a:pPr algn="ctr"/>
              <a:r>
                <a:rPr lang="zh-CN" sz="560" dirty="0">
                  <a:solidFill>
                    <a:srgbClr val="7E6A66"/>
                  </a:solidFill>
                  <a:latin typeface="+mn-lt"/>
                  <a:ea typeface="+mn-ea"/>
                  <a:cs typeface="+mn-cs"/>
                </a:rPr>
                <a:t>…</a:t>
              </a:r>
            </a:p>
          </p:txBody>
        </p:sp>
        <p:sp>
          <p:nvSpPr>
            <p:cNvPr id="327" name="Rectangle 327"/>
            <p:cNvSpPr/>
            <p:nvPr/>
          </p:nvSpPr>
          <p:spPr>
            <a:xfrm>
              <a:off x="10763250" y="6143625"/>
              <a:ext cx="495300" cy="142875"/>
            </a:xfrm>
            <a:prstGeom prst="rect">
              <a:avLst/>
            </a:prstGeom>
            <a:solidFill>
              <a:srgbClr val="FFFFFF"/>
            </a:solidFill>
            <a:ln w="7620">
              <a:solidFill>
                <a:srgbClr val="D8E1EE"/>
              </a:solidFill>
            </a:ln>
          </p:spPr>
        </p:sp>
        <p:sp>
          <p:nvSpPr>
            <p:cNvPr id="328" name="Rectangle 328"/>
            <p:cNvSpPr/>
            <p:nvPr/>
          </p:nvSpPr>
          <p:spPr>
            <a:xfrm>
              <a:off x="11258550" y="6143625"/>
              <a:ext cx="495300" cy="142875"/>
            </a:xfrm>
            <a:prstGeom prst="rect">
              <a:avLst/>
            </a:prstGeom>
            <a:solidFill>
              <a:srgbClr val="FFFFFF"/>
            </a:solidFill>
            <a:ln w="7620">
              <a:solidFill>
                <a:srgbClr val="D8E1EE"/>
              </a:solidFill>
            </a:ln>
          </p:spPr>
        </p:sp>
        <p:sp>
          <p:nvSpPr>
            <p:cNvPr id="329" name="TextBox 329"/>
            <p:cNvSpPr txBox="1"/>
            <p:nvPr/>
          </p:nvSpPr>
          <p:spPr>
            <a:xfrm>
              <a:off x="11480706" y="6187678"/>
              <a:ext cx="50988" cy="111919"/>
            </a:xfrm>
            <a:prstGeom prst="rect">
              <a:avLst/>
            </a:prstGeom>
            <a:noFill/>
            <a:ln>
              <a:noFill/>
            </a:ln>
          </p:spPr>
          <p:txBody>
            <a:bodyPr wrap="none" lIns="0" tIns="0" rIns="0" bIns="0" anchor="t" anchorCtr="0">
              <a:spAutoFit/>
            </a:bodyPr>
            <a:lstStyle/>
            <a:p>
              <a:pPr algn="ctr"/>
              <a:r>
                <a:rPr lang="zh-CN" sz="560" dirty="0">
                  <a:solidFill>
                    <a:srgbClr val="7E6A66"/>
                  </a:solidFill>
                  <a:latin typeface="+mn-lt"/>
                  <a:ea typeface="+mn-ea"/>
                  <a:cs typeface="+mn-cs"/>
                </a:rPr>
                <a:t>…</a:t>
              </a:r>
            </a:p>
          </p:txBody>
        </p:sp>
        <p:sp>
          <p:nvSpPr>
            <p:cNvPr id="330" name="Rectangle 330"/>
            <p:cNvSpPr/>
            <p:nvPr/>
          </p:nvSpPr>
          <p:spPr>
            <a:xfrm>
              <a:off x="9277350" y="6286500"/>
              <a:ext cx="495300" cy="142875"/>
            </a:xfrm>
            <a:prstGeom prst="rect">
              <a:avLst/>
            </a:prstGeom>
            <a:solidFill>
              <a:srgbClr val="EFF3FA"/>
            </a:solidFill>
            <a:ln w="7620">
              <a:solidFill>
                <a:srgbClr val="D8E1EE"/>
              </a:solidFill>
            </a:ln>
          </p:spPr>
        </p:sp>
        <p:sp>
          <p:nvSpPr>
            <p:cNvPr id="331" name="TextBox 331"/>
            <p:cNvSpPr txBox="1"/>
            <p:nvPr/>
          </p:nvSpPr>
          <p:spPr>
            <a:xfrm>
              <a:off x="9391942" y="6330553"/>
              <a:ext cx="266115" cy="111919"/>
            </a:xfrm>
            <a:prstGeom prst="rect">
              <a:avLst/>
            </a:prstGeom>
            <a:noFill/>
            <a:ln>
              <a:noFill/>
            </a:ln>
          </p:spPr>
          <p:txBody>
            <a:bodyPr wrap="none" lIns="0" tIns="0" rIns="0" bIns="0" anchor="t" anchorCtr="0">
              <a:spAutoFit/>
            </a:bodyPr>
            <a:lstStyle/>
            <a:p>
              <a:pPr algn="ctr"/>
              <a:r>
                <a:rPr lang="zh-CN" sz="560" b="1" dirty="0">
                  <a:solidFill>
                    <a:srgbClr val="4E0D00"/>
                  </a:solidFill>
                  <a:latin typeface="+mn-lt"/>
                  <a:ea typeface="+mn-ea"/>
                  <a:cs typeface="+mn-cs"/>
                </a:rPr>
                <a:t>维度Am</a:t>
              </a:r>
            </a:p>
          </p:txBody>
        </p:sp>
        <p:sp>
          <p:nvSpPr>
            <p:cNvPr id="332" name="Rectangle 332"/>
            <p:cNvSpPr/>
            <p:nvPr/>
          </p:nvSpPr>
          <p:spPr>
            <a:xfrm>
              <a:off x="9772650" y="6286500"/>
              <a:ext cx="495300" cy="142875"/>
            </a:xfrm>
            <a:prstGeom prst="rect">
              <a:avLst/>
            </a:prstGeom>
            <a:solidFill>
              <a:srgbClr val="FFFFFF"/>
            </a:solidFill>
            <a:ln w="7620">
              <a:solidFill>
                <a:srgbClr val="D8E1EE"/>
              </a:solidFill>
            </a:ln>
          </p:spPr>
        </p:sp>
        <p:sp>
          <p:nvSpPr>
            <p:cNvPr id="333" name="TextBox 333"/>
            <p:cNvSpPr txBox="1"/>
            <p:nvPr/>
          </p:nvSpPr>
          <p:spPr>
            <a:xfrm>
              <a:off x="9975152" y="6326505"/>
              <a:ext cx="90297" cy="119062"/>
            </a:xfrm>
            <a:prstGeom prst="rect">
              <a:avLst/>
            </a:prstGeom>
            <a:noFill/>
            <a:ln>
              <a:noFill/>
            </a:ln>
          </p:spPr>
          <p:txBody>
            <a:bodyPr wrap="none" lIns="0" tIns="0" rIns="0" bIns="0" anchor="t" anchorCtr="0">
              <a:spAutoFit/>
            </a:bodyPr>
            <a:lstStyle/>
            <a:p>
              <a:pPr algn="ctr"/>
              <a:r>
                <a:rPr lang="zh-CN" sz="600" dirty="0">
                  <a:solidFill>
                    <a:srgbClr val="4E0D00"/>
                  </a:solidFill>
                  <a:latin typeface="+mn-lt"/>
                  <a:ea typeface="+mn-ea"/>
                  <a:cs typeface="+mn-cs"/>
                </a:rPr>
                <a:t>✓</a:t>
              </a:r>
            </a:p>
          </p:txBody>
        </p:sp>
        <p:sp>
          <p:nvSpPr>
            <p:cNvPr id="334" name="Rectangle 334"/>
            <p:cNvSpPr/>
            <p:nvPr/>
          </p:nvSpPr>
          <p:spPr>
            <a:xfrm>
              <a:off x="10267950" y="6286500"/>
              <a:ext cx="495300" cy="142875"/>
            </a:xfrm>
            <a:prstGeom prst="rect">
              <a:avLst/>
            </a:prstGeom>
            <a:solidFill>
              <a:srgbClr val="FFFFFF"/>
            </a:solidFill>
            <a:ln w="7620">
              <a:solidFill>
                <a:srgbClr val="D8E1EE"/>
              </a:solidFill>
            </a:ln>
          </p:spPr>
        </p:sp>
        <p:sp>
          <p:nvSpPr>
            <p:cNvPr id="335" name="TextBox 335"/>
            <p:cNvSpPr txBox="1"/>
            <p:nvPr/>
          </p:nvSpPr>
          <p:spPr>
            <a:xfrm>
              <a:off x="10470452" y="6326505"/>
              <a:ext cx="90297" cy="119062"/>
            </a:xfrm>
            <a:prstGeom prst="rect">
              <a:avLst/>
            </a:prstGeom>
            <a:noFill/>
            <a:ln>
              <a:noFill/>
            </a:ln>
          </p:spPr>
          <p:txBody>
            <a:bodyPr wrap="none" lIns="0" tIns="0" rIns="0" bIns="0" anchor="t" anchorCtr="0">
              <a:spAutoFit/>
            </a:bodyPr>
            <a:lstStyle/>
            <a:p>
              <a:pPr algn="ctr"/>
              <a:r>
                <a:rPr lang="zh-CN" sz="600" dirty="0">
                  <a:solidFill>
                    <a:srgbClr val="4E0D00"/>
                  </a:solidFill>
                  <a:latin typeface="+mn-lt"/>
                  <a:ea typeface="+mn-ea"/>
                  <a:cs typeface="+mn-cs"/>
                </a:rPr>
                <a:t>✓</a:t>
              </a:r>
            </a:p>
          </p:txBody>
        </p:sp>
        <p:sp>
          <p:nvSpPr>
            <p:cNvPr id="336" name="Rectangle 336"/>
            <p:cNvSpPr/>
            <p:nvPr/>
          </p:nvSpPr>
          <p:spPr>
            <a:xfrm>
              <a:off x="10763250" y="6286500"/>
              <a:ext cx="495300" cy="142875"/>
            </a:xfrm>
            <a:prstGeom prst="rect">
              <a:avLst/>
            </a:prstGeom>
            <a:solidFill>
              <a:srgbClr val="FFFFFF"/>
            </a:solidFill>
            <a:ln w="7620">
              <a:solidFill>
                <a:srgbClr val="D8E1EE"/>
              </a:solidFill>
            </a:ln>
          </p:spPr>
        </p:sp>
        <p:sp>
          <p:nvSpPr>
            <p:cNvPr id="337" name="TextBox 337"/>
            <p:cNvSpPr txBox="1"/>
            <p:nvPr/>
          </p:nvSpPr>
          <p:spPr>
            <a:xfrm>
              <a:off x="10985406" y="6330553"/>
              <a:ext cx="50988" cy="111919"/>
            </a:xfrm>
            <a:prstGeom prst="rect">
              <a:avLst/>
            </a:prstGeom>
            <a:noFill/>
            <a:ln>
              <a:noFill/>
            </a:ln>
          </p:spPr>
          <p:txBody>
            <a:bodyPr wrap="none" lIns="0" tIns="0" rIns="0" bIns="0" anchor="t" anchorCtr="0">
              <a:spAutoFit/>
            </a:bodyPr>
            <a:lstStyle/>
            <a:p>
              <a:pPr algn="ctr"/>
              <a:r>
                <a:rPr lang="zh-CN" sz="560" dirty="0">
                  <a:solidFill>
                    <a:srgbClr val="7E6A66"/>
                  </a:solidFill>
                  <a:latin typeface="+mn-lt"/>
                  <a:ea typeface="+mn-ea"/>
                  <a:cs typeface="+mn-cs"/>
                </a:rPr>
                <a:t>…</a:t>
              </a:r>
            </a:p>
          </p:txBody>
        </p:sp>
        <p:sp>
          <p:nvSpPr>
            <p:cNvPr id="338" name="Rectangle 338"/>
            <p:cNvSpPr/>
            <p:nvPr/>
          </p:nvSpPr>
          <p:spPr>
            <a:xfrm>
              <a:off x="11258550" y="6286500"/>
              <a:ext cx="495300" cy="142875"/>
            </a:xfrm>
            <a:prstGeom prst="rect">
              <a:avLst/>
            </a:prstGeom>
            <a:solidFill>
              <a:srgbClr val="FFFFFF"/>
            </a:solidFill>
            <a:ln w="7620">
              <a:solidFill>
                <a:srgbClr val="D8E1EE"/>
              </a:solidFill>
            </a:ln>
          </p:spPr>
        </p:sp>
        <p:sp>
          <p:nvSpPr>
            <p:cNvPr id="339" name="TextBox 339"/>
            <p:cNvSpPr txBox="1"/>
            <p:nvPr/>
          </p:nvSpPr>
          <p:spPr>
            <a:xfrm>
              <a:off x="11461052" y="6326505"/>
              <a:ext cx="90297" cy="119062"/>
            </a:xfrm>
            <a:prstGeom prst="rect">
              <a:avLst/>
            </a:prstGeom>
            <a:noFill/>
            <a:ln>
              <a:noFill/>
            </a:ln>
          </p:spPr>
          <p:txBody>
            <a:bodyPr wrap="none" lIns="0" tIns="0" rIns="0" bIns="0" anchor="t" anchorCtr="0">
              <a:spAutoFit/>
            </a:bodyPr>
            <a:lstStyle/>
            <a:p>
              <a:pPr algn="ctr"/>
              <a:r>
                <a:rPr lang="zh-CN" sz="600" dirty="0">
                  <a:solidFill>
                    <a:srgbClr val="4E0D00"/>
                  </a:solidFill>
                  <a:latin typeface="+mn-lt"/>
                  <a:ea typeface="+mn-ea"/>
                  <a:cs typeface="+mn-cs"/>
                </a:rPr>
                <a:t>✓</a:t>
              </a:r>
            </a:p>
          </p:txBody>
        </p:sp>
      </p:gr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3" name="page-header"/>
          <p:cNvGrpSpPr/>
          <p:nvPr/>
        </p:nvGrpSpPr>
        <p:grpSpPr>
          <a:xfrm>
            <a:off x="369570" y="195262"/>
            <a:ext cx="11574780" cy="440055"/>
            <a:chOff x="369570" y="195262"/>
            <a:chExt cx="11574780" cy="440055"/>
          </a:xfrm>
        </p:grpSpPr>
        <p:sp>
          <p:nvSpPr>
            <p:cNvPr id="2" name="TextBox 2"/>
            <p:cNvSpPr txBox="1"/>
            <p:nvPr/>
          </p:nvSpPr>
          <p:spPr>
            <a:xfrm>
              <a:off x="369570" y="195262"/>
              <a:ext cx="5168303"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Issue Tree｜先把问题变成一棵树​</a:t>
              </a:r>
            </a:p>
          </p:txBody>
        </p:sp>
        <p:sp>
          <p:nvSpPr>
            <p:cNvPr id="3" name="Line 3"/>
            <p:cNvSpPr/>
            <p:nvPr/>
          </p:nvSpPr>
          <p:spPr>
            <a:xfrm>
              <a:off x="381000" y="581025"/>
              <a:ext cx="8477250" cy="9525"/>
            </a:xfrm>
            <a:custGeom>
              <a:avLst/>
              <a:gdLst/>
              <a:ahLst/>
              <a:cxnLst/>
              <a:rect l="l" t="t" r="r" b="b"/>
              <a:pathLst>
                <a:path w="8477250" h="9525">
                  <a:moveTo>
                    <a:pt x="0" y="0"/>
                  </a:moveTo>
                  <a:lnTo>
                    <a:pt x="847725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sp>
          <p:nvSpPr>
            <p:cNvPr id="5" name="Freeform 5"/>
            <p:cNvSpPr/>
            <p:nvPr/>
          </p:nvSpPr>
          <p:spPr>
            <a:xfrm>
              <a:off x="9048750" y="285750"/>
              <a:ext cx="762000" cy="247650"/>
            </a:xfrm>
            <a:prstGeom prst="chevron">
              <a:avLst/>
            </a:prstGeom>
            <a:solidFill>
              <a:srgbClr val="4E0D00"/>
            </a:solidFill>
            <a:ln>
              <a:noFill/>
            </a:ln>
          </p:spPr>
        </p:sp>
        <p:sp>
          <p:nvSpPr>
            <p:cNvPr id="6" name="Freeform 6"/>
            <p:cNvSpPr/>
            <p:nvPr/>
          </p:nvSpPr>
          <p:spPr>
            <a:xfrm>
              <a:off x="9772650" y="285750"/>
              <a:ext cx="723900" cy="247650"/>
            </a:xfrm>
            <a:prstGeom prst="chevron">
              <a:avLst/>
            </a:prstGeom>
            <a:solidFill>
              <a:srgbClr val="FFFFFF"/>
            </a:solidFill>
            <a:ln w="11430">
              <a:solidFill>
                <a:srgbClr val="C8998F"/>
              </a:solidFill>
            </a:ln>
          </p:spPr>
        </p:sp>
        <p:sp>
          <p:nvSpPr>
            <p:cNvPr id="7" name="Freeform 7"/>
            <p:cNvSpPr/>
            <p:nvPr/>
          </p:nvSpPr>
          <p:spPr>
            <a:xfrm>
              <a:off x="10515600" y="285750"/>
              <a:ext cx="762000" cy="247650"/>
            </a:xfrm>
            <a:prstGeom prst="chevron">
              <a:avLst/>
            </a:prstGeom>
            <a:solidFill>
              <a:srgbClr val="FFFFFF"/>
            </a:solidFill>
            <a:ln w="11430">
              <a:solidFill>
                <a:srgbClr val="C8998F"/>
              </a:solidFill>
            </a:ln>
          </p:spPr>
        </p:sp>
        <p:sp>
          <p:nvSpPr>
            <p:cNvPr id="8" name="Freeform 8"/>
            <p:cNvSpPr/>
            <p:nvPr/>
          </p:nvSpPr>
          <p:spPr>
            <a:xfrm>
              <a:off x="11258550" y="285750"/>
              <a:ext cx="685800" cy="247650"/>
            </a:xfrm>
            <a:prstGeom prst="chevron">
              <a:avLst/>
            </a:prstGeom>
            <a:solidFill>
              <a:srgbClr val="FFFFFF"/>
            </a:solidFill>
            <a:ln w="11430">
              <a:solidFill>
                <a:srgbClr val="C8998F"/>
              </a:solidFill>
            </a:ln>
          </p:spPr>
        </p:sp>
        <p:sp>
          <p:nvSpPr>
            <p:cNvPr id="9" name="TextBox 9"/>
            <p:cNvSpPr txBox="1"/>
            <p:nvPr/>
          </p:nvSpPr>
          <p:spPr>
            <a:xfrm>
              <a:off x="9204090" y="378857"/>
              <a:ext cx="356070"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Problem</a:t>
              </a:r>
            </a:p>
          </p:txBody>
        </p:sp>
        <p:sp>
          <p:nvSpPr>
            <p:cNvPr id="10" name="TextBox 10"/>
            <p:cNvSpPr txBox="1"/>
            <p:nvPr/>
          </p:nvSpPr>
          <p:spPr>
            <a:xfrm>
              <a:off x="9992347" y="378857"/>
              <a:ext cx="227355" cy="126206"/>
            </a:xfrm>
            <a:prstGeom prst="rect">
              <a:avLst/>
            </a:prstGeom>
            <a:noFill/>
            <a:ln>
              <a:noFill/>
            </a:ln>
          </p:spPr>
          <p:txBody>
            <a:bodyPr wrap="none" lIns="0" tIns="0" rIns="0" bIns="0" anchor="t" anchorCtr="0">
              <a:spAutoFit/>
            </a:bodyPr>
            <a:lstStyle/>
            <a:p>
              <a:pPr algn="ctr"/>
              <a:r>
                <a:rPr lang="en-US" sz="640" dirty="0">
                  <a:solidFill>
                    <a:srgbClr val="4E0D00"/>
                  </a:solidFill>
                  <a:latin typeface="+mn-lt"/>
                  <a:ea typeface="+mn-ea"/>
                  <a:cs typeface="+mn-cs"/>
                </a:rPr>
                <a:t>Issue</a:t>
              </a:r>
            </a:p>
          </p:txBody>
        </p:sp>
        <p:sp>
          <p:nvSpPr>
            <p:cNvPr id="11" name="TextBox 11"/>
            <p:cNvSpPr txBox="1"/>
            <p:nvPr/>
          </p:nvSpPr>
          <p:spPr>
            <a:xfrm>
              <a:off x="10626296" y="378857"/>
              <a:ext cx="464409" cy="126206"/>
            </a:xfrm>
            <a:prstGeom prst="rect">
              <a:avLst/>
            </a:prstGeom>
            <a:noFill/>
            <a:ln>
              <a:noFill/>
            </a:ln>
          </p:spPr>
          <p:txBody>
            <a:bodyPr wrap="none" lIns="0" tIns="0" rIns="0" bIns="0" anchor="t" anchorCtr="0">
              <a:spAutoFit/>
            </a:bodyPr>
            <a:lstStyle/>
            <a:p>
              <a:pPr algn="ctr"/>
              <a:r>
                <a:rPr lang="en-US" sz="640" dirty="0">
                  <a:solidFill>
                    <a:srgbClr val="4E0D00"/>
                  </a:solidFill>
                  <a:latin typeface="+mn-lt"/>
                  <a:ea typeface="+mn-ea"/>
                  <a:cs typeface="+mn-cs"/>
                </a:rPr>
                <a:t>Hypothesis</a:t>
              </a:r>
            </a:p>
          </p:txBody>
        </p:sp>
        <p:sp>
          <p:nvSpPr>
            <p:cNvPr id="12" name="TextBox 12"/>
            <p:cNvSpPr txBox="1"/>
            <p:nvPr/>
          </p:nvSpPr>
          <p:spPr>
            <a:xfrm>
              <a:off x="11389393" y="378857"/>
              <a:ext cx="347914" cy="126206"/>
            </a:xfrm>
            <a:prstGeom prst="rect">
              <a:avLst/>
            </a:prstGeom>
            <a:noFill/>
            <a:ln>
              <a:noFill/>
            </a:ln>
          </p:spPr>
          <p:txBody>
            <a:bodyPr wrap="none" lIns="0" tIns="0" rIns="0" bIns="0" anchor="t" anchorCtr="0">
              <a:spAutoFit/>
            </a:bodyPr>
            <a:lstStyle/>
            <a:p>
              <a:pPr algn="ctr"/>
              <a:r>
                <a:rPr lang="en-US" sz="640" dirty="0">
                  <a:solidFill>
                    <a:srgbClr val="4E0D00"/>
                  </a:solidFill>
                  <a:latin typeface="+mn-lt"/>
                  <a:ea typeface="+mn-ea"/>
                  <a:cs typeface="+mn-cs"/>
                </a:rPr>
                <a:t>Analysis</a:t>
              </a:r>
            </a:p>
          </p:txBody>
        </p:sp>
      </p:grpSp>
      <p:grpSp>
        <p:nvGrpSpPr>
          <p:cNvPr id="22" name="col-heads"/>
          <p:cNvGrpSpPr/>
          <p:nvPr/>
        </p:nvGrpSpPr>
        <p:grpSpPr>
          <a:xfrm>
            <a:off x="1882788" y="784622"/>
            <a:ext cx="7032066" cy="295037"/>
            <a:chOff x="1882788" y="784622"/>
            <a:chExt cx="7032066" cy="295037"/>
          </a:xfrm>
        </p:grpSpPr>
        <p:sp>
          <p:nvSpPr>
            <p:cNvPr id="14" name="TextBox 14"/>
            <p:cNvSpPr txBox="1"/>
            <p:nvPr/>
          </p:nvSpPr>
          <p:spPr>
            <a:xfrm>
              <a:off x="1904327" y="784622"/>
              <a:ext cx="515696" cy="183356"/>
            </a:xfrm>
            <a:prstGeom prst="rect">
              <a:avLst/>
            </a:prstGeom>
            <a:noFill/>
            <a:ln>
              <a:noFill/>
            </a:ln>
          </p:spPr>
          <p:txBody>
            <a:bodyPr wrap="none" lIns="0" tIns="0" rIns="0" bIns="0" anchor="t" anchorCtr="0">
              <a:spAutoFit/>
            </a:bodyPr>
            <a:lstStyle/>
            <a:p>
              <a:pPr algn="ctr"/>
              <a:r>
                <a:rPr lang="zh-CN" sz="940" b="1" dirty="0">
                  <a:solidFill>
                    <a:srgbClr val="55251B"/>
                  </a:solidFill>
                  <a:latin typeface="+mn-lt"/>
                  <a:ea typeface="+mn-ea"/>
                  <a:cs typeface="+mn-cs"/>
                </a:rPr>
                <a:t>一级议题</a:t>
              </a:r>
            </a:p>
          </p:txBody>
        </p:sp>
        <p:sp>
          <p:nvSpPr>
            <p:cNvPr id="15" name="TextBox 15"/>
            <p:cNvSpPr txBox="1"/>
            <p:nvPr/>
          </p:nvSpPr>
          <p:spPr>
            <a:xfrm>
              <a:off x="1882788" y="946309"/>
              <a:ext cx="558775" cy="133350"/>
            </a:xfrm>
            <a:prstGeom prst="rect">
              <a:avLst/>
            </a:prstGeom>
            <a:noFill/>
            <a:ln>
              <a:noFill/>
            </a:ln>
          </p:spPr>
          <p:txBody>
            <a:bodyPr wrap="none" lIns="0" tIns="0" rIns="0" bIns="0" anchor="t" anchorCtr="0">
              <a:spAutoFit/>
            </a:bodyPr>
            <a:lstStyle/>
            <a:p>
              <a:pPr algn="ctr"/>
              <a:r>
                <a:rPr lang="zh-CN" sz="680" dirty="0">
                  <a:solidFill>
                    <a:srgbClr val="7E6A66"/>
                  </a:solidFill>
                  <a:latin typeface="+mn-lt"/>
                  <a:ea typeface="+mn-ea"/>
                  <a:cs typeface="+mn-cs"/>
                </a:rPr>
                <a:t>（关键分解）</a:t>
              </a:r>
            </a:p>
          </p:txBody>
        </p:sp>
        <p:sp>
          <p:nvSpPr>
            <p:cNvPr id="16" name="TextBox 16"/>
            <p:cNvSpPr txBox="1"/>
            <p:nvPr/>
          </p:nvSpPr>
          <p:spPr>
            <a:xfrm>
              <a:off x="3456902" y="784622"/>
              <a:ext cx="515696" cy="183356"/>
            </a:xfrm>
            <a:prstGeom prst="rect">
              <a:avLst/>
            </a:prstGeom>
            <a:noFill/>
            <a:ln>
              <a:noFill/>
            </a:ln>
          </p:spPr>
          <p:txBody>
            <a:bodyPr wrap="none" lIns="0" tIns="0" rIns="0" bIns="0" anchor="t" anchorCtr="0">
              <a:spAutoFit/>
            </a:bodyPr>
            <a:lstStyle/>
            <a:p>
              <a:pPr algn="ctr"/>
              <a:r>
                <a:rPr lang="zh-CN" sz="940" b="1" dirty="0">
                  <a:solidFill>
                    <a:srgbClr val="55251B"/>
                  </a:solidFill>
                  <a:latin typeface="+mn-lt"/>
                  <a:ea typeface="+mn-ea"/>
                  <a:cs typeface="+mn-cs"/>
                </a:rPr>
                <a:t>二级议题</a:t>
              </a:r>
            </a:p>
          </p:txBody>
        </p:sp>
        <p:sp>
          <p:nvSpPr>
            <p:cNvPr id="17" name="TextBox 17"/>
            <p:cNvSpPr txBox="1"/>
            <p:nvPr/>
          </p:nvSpPr>
          <p:spPr>
            <a:xfrm>
              <a:off x="3389592" y="946309"/>
              <a:ext cx="650316" cy="133350"/>
            </a:xfrm>
            <a:prstGeom prst="rect">
              <a:avLst/>
            </a:prstGeom>
            <a:noFill/>
            <a:ln>
              <a:noFill/>
            </a:ln>
          </p:spPr>
          <p:txBody>
            <a:bodyPr wrap="none" lIns="0" tIns="0" rIns="0" bIns="0" anchor="t" anchorCtr="0">
              <a:spAutoFit/>
            </a:bodyPr>
            <a:lstStyle/>
            <a:p>
              <a:pPr algn="ctr"/>
              <a:r>
                <a:rPr lang="zh-CN" sz="680" dirty="0">
                  <a:solidFill>
                    <a:srgbClr val="7E6A66"/>
                  </a:solidFill>
                  <a:latin typeface="+mn-lt"/>
                  <a:ea typeface="+mn-ea"/>
                  <a:cs typeface="+mn-cs"/>
                </a:rPr>
                <a:t>（进一步分解）</a:t>
              </a:r>
            </a:p>
          </p:txBody>
        </p:sp>
        <p:sp>
          <p:nvSpPr>
            <p:cNvPr id="18" name="TextBox 18"/>
            <p:cNvSpPr txBox="1"/>
            <p:nvPr/>
          </p:nvSpPr>
          <p:spPr>
            <a:xfrm>
              <a:off x="5571452" y="784622"/>
              <a:ext cx="515696" cy="183356"/>
            </a:xfrm>
            <a:prstGeom prst="rect">
              <a:avLst/>
            </a:prstGeom>
            <a:noFill/>
            <a:ln>
              <a:noFill/>
            </a:ln>
          </p:spPr>
          <p:txBody>
            <a:bodyPr wrap="none" lIns="0" tIns="0" rIns="0" bIns="0" anchor="t" anchorCtr="0">
              <a:spAutoFit/>
            </a:bodyPr>
            <a:lstStyle/>
            <a:p>
              <a:pPr algn="ctr"/>
              <a:r>
                <a:rPr lang="zh-CN" sz="940" b="1" dirty="0">
                  <a:solidFill>
                    <a:srgbClr val="55251B"/>
                  </a:solidFill>
                  <a:latin typeface="+mn-lt"/>
                  <a:ea typeface="+mn-ea"/>
                  <a:cs typeface="+mn-cs"/>
                </a:rPr>
                <a:t>分析任务</a:t>
              </a:r>
            </a:p>
          </p:txBody>
        </p:sp>
        <p:sp>
          <p:nvSpPr>
            <p:cNvPr id="19" name="TextBox 19"/>
            <p:cNvSpPr txBox="1"/>
            <p:nvPr/>
          </p:nvSpPr>
          <p:spPr>
            <a:xfrm>
              <a:off x="5412600" y="946309"/>
              <a:ext cx="833399" cy="133350"/>
            </a:xfrm>
            <a:prstGeom prst="rect">
              <a:avLst/>
            </a:prstGeom>
            <a:noFill/>
            <a:ln>
              <a:noFill/>
            </a:ln>
          </p:spPr>
          <p:txBody>
            <a:bodyPr wrap="none" lIns="0" tIns="0" rIns="0" bIns="0" anchor="t" anchorCtr="0">
              <a:spAutoFit/>
            </a:bodyPr>
            <a:lstStyle/>
            <a:p>
              <a:pPr algn="ctr"/>
              <a:r>
                <a:rPr lang="zh-CN" sz="680" dirty="0">
                  <a:solidFill>
                    <a:srgbClr val="7E6A66"/>
                  </a:solidFill>
                  <a:latin typeface="+mn-lt"/>
                  <a:ea typeface="+mn-ea"/>
                  <a:cs typeface="+mn-cs"/>
                </a:rPr>
                <a:t>（需要回答的问题）</a:t>
              </a:r>
            </a:p>
          </p:txBody>
        </p:sp>
        <p:sp>
          <p:nvSpPr>
            <p:cNvPr id="20" name="TextBox 20"/>
            <p:cNvSpPr txBox="1"/>
            <p:nvPr/>
          </p:nvSpPr>
          <p:spPr>
            <a:xfrm>
              <a:off x="8286077" y="784622"/>
              <a:ext cx="515696" cy="183356"/>
            </a:xfrm>
            <a:prstGeom prst="rect">
              <a:avLst/>
            </a:prstGeom>
            <a:noFill/>
            <a:ln>
              <a:noFill/>
            </a:ln>
          </p:spPr>
          <p:txBody>
            <a:bodyPr wrap="none" lIns="0" tIns="0" rIns="0" bIns="0" anchor="t" anchorCtr="0">
              <a:spAutoFit/>
            </a:bodyPr>
            <a:lstStyle/>
            <a:p>
              <a:pPr algn="ctr"/>
              <a:r>
                <a:rPr lang="zh-CN" sz="940" b="1" dirty="0">
                  <a:solidFill>
                    <a:srgbClr val="55251B"/>
                  </a:solidFill>
                  <a:latin typeface="+mn-lt"/>
                  <a:ea typeface="+mn-ea"/>
                  <a:cs typeface="+mn-cs"/>
                </a:rPr>
                <a:t>数据需求</a:t>
              </a:r>
            </a:p>
          </p:txBody>
        </p:sp>
        <p:sp>
          <p:nvSpPr>
            <p:cNvPr id="21" name="TextBox 21"/>
            <p:cNvSpPr txBox="1"/>
            <p:nvPr/>
          </p:nvSpPr>
          <p:spPr>
            <a:xfrm>
              <a:off x="8172996" y="946309"/>
              <a:ext cx="741858" cy="133350"/>
            </a:xfrm>
            <a:prstGeom prst="rect">
              <a:avLst/>
            </a:prstGeom>
            <a:noFill/>
            <a:ln>
              <a:noFill/>
            </a:ln>
          </p:spPr>
          <p:txBody>
            <a:bodyPr wrap="none" lIns="0" tIns="0" rIns="0" bIns="0" anchor="t" anchorCtr="0">
              <a:spAutoFit/>
            </a:bodyPr>
            <a:lstStyle/>
            <a:p>
              <a:pPr algn="ctr"/>
              <a:r>
                <a:rPr lang="zh-CN" sz="680" dirty="0">
                  <a:solidFill>
                    <a:srgbClr val="7E6A66"/>
                  </a:solidFill>
                  <a:latin typeface="+mn-lt"/>
                  <a:ea typeface="+mn-ea"/>
                  <a:cs typeface="+mn-cs"/>
                </a:rPr>
                <a:t>（需要哪些数据）</a:t>
              </a:r>
            </a:p>
          </p:txBody>
        </p:sp>
      </p:grpSp>
      <p:grpSp>
        <p:nvGrpSpPr>
          <p:cNvPr id="65" name="tree-left"/>
          <p:cNvGrpSpPr/>
          <p:nvPr/>
        </p:nvGrpSpPr>
        <p:grpSpPr>
          <a:xfrm>
            <a:off x="228600" y="1704975"/>
            <a:ext cx="4229100" cy="4257675"/>
            <a:chOff x="228600" y="1704975"/>
            <a:chExt cx="4229100" cy="4257675"/>
          </a:xfrm>
        </p:grpSpPr>
        <p:sp>
          <p:nvSpPr>
            <p:cNvPr id="23" name="Rectangle 23"/>
            <p:cNvSpPr/>
            <p:nvPr/>
          </p:nvSpPr>
          <p:spPr>
            <a:xfrm>
              <a:off x="228600" y="3333750"/>
              <a:ext cx="1028700" cy="609600"/>
            </a:xfrm>
            <a:prstGeom prst="roundRect">
              <a:avLst>
                <a:gd name="adj" fmla="val 4688"/>
              </a:avLst>
            </a:prstGeom>
            <a:solidFill>
              <a:srgbClr val="4E0D00"/>
            </a:solidFill>
            <a:ln>
              <a:noFill/>
            </a:ln>
          </p:spPr>
        </p:sp>
        <p:sp>
          <p:nvSpPr>
            <p:cNvPr id="24" name="TextBox 24"/>
            <p:cNvSpPr txBox="1"/>
            <p:nvPr/>
          </p:nvSpPr>
          <p:spPr>
            <a:xfrm>
              <a:off x="421830" y="3499247"/>
              <a:ext cx="64223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利润为什么</a:t>
              </a:r>
            </a:p>
          </p:txBody>
        </p:sp>
        <p:sp>
          <p:nvSpPr>
            <p:cNvPr id="25" name="TextBox 25"/>
            <p:cNvSpPr txBox="1"/>
            <p:nvPr/>
          </p:nvSpPr>
          <p:spPr>
            <a:xfrm>
              <a:off x="575105" y="3670697"/>
              <a:ext cx="335689"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下降?</a:t>
              </a:r>
            </a:p>
          </p:txBody>
        </p:sp>
        <p:sp>
          <p:nvSpPr>
            <p:cNvPr id="26" name="Rectangle 26"/>
            <p:cNvSpPr/>
            <p:nvPr/>
          </p:nvSpPr>
          <p:spPr>
            <a:xfrm>
              <a:off x="1762125" y="2286000"/>
              <a:ext cx="800100" cy="495300"/>
            </a:xfrm>
            <a:prstGeom prst="rect">
              <a:avLst/>
            </a:prstGeom>
            <a:solidFill>
              <a:srgbClr val="FFFFFF"/>
            </a:solidFill>
            <a:ln w="15240">
              <a:solidFill>
                <a:srgbClr val="4E0D00"/>
              </a:solidFill>
            </a:ln>
          </p:spPr>
        </p:sp>
        <p:sp>
          <p:nvSpPr>
            <p:cNvPr id="27" name="TextBox 27"/>
            <p:cNvSpPr txBox="1"/>
            <p:nvPr/>
          </p:nvSpPr>
          <p:spPr>
            <a:xfrm>
              <a:off x="2025294" y="2476024"/>
              <a:ext cx="273761" cy="190690"/>
            </a:xfrm>
            <a:prstGeom prst="rect">
              <a:avLst/>
            </a:prstGeom>
            <a:noFill/>
            <a:ln>
              <a:noFill/>
            </a:ln>
          </p:spPr>
          <p:txBody>
            <a:bodyPr wrap="none" lIns="0" tIns="0" rIns="0" bIns="0" anchor="t" anchorCtr="0">
              <a:spAutoFit/>
            </a:bodyPr>
            <a:lstStyle/>
            <a:p>
              <a:pPr algn="ctr"/>
              <a:r>
                <a:rPr lang="zh-CN" sz="980" b="1" dirty="0">
                  <a:solidFill>
                    <a:srgbClr val="4E0D00"/>
                  </a:solidFill>
                  <a:latin typeface="+mn-lt"/>
                  <a:ea typeface="+mn-ea"/>
                  <a:cs typeface="+mn-cs"/>
                </a:rPr>
                <a:t>收入</a:t>
              </a:r>
            </a:p>
          </p:txBody>
        </p:sp>
        <p:sp>
          <p:nvSpPr>
            <p:cNvPr id="28" name="Rectangle 28"/>
            <p:cNvSpPr/>
            <p:nvPr/>
          </p:nvSpPr>
          <p:spPr>
            <a:xfrm>
              <a:off x="1762125" y="4914900"/>
              <a:ext cx="800100" cy="495300"/>
            </a:xfrm>
            <a:prstGeom prst="rect">
              <a:avLst/>
            </a:prstGeom>
            <a:solidFill>
              <a:srgbClr val="FFFFFF"/>
            </a:solidFill>
            <a:ln w="15240">
              <a:solidFill>
                <a:srgbClr val="4E0D00"/>
              </a:solidFill>
            </a:ln>
          </p:spPr>
        </p:sp>
        <p:sp>
          <p:nvSpPr>
            <p:cNvPr id="29" name="TextBox 29"/>
            <p:cNvSpPr txBox="1"/>
            <p:nvPr/>
          </p:nvSpPr>
          <p:spPr>
            <a:xfrm>
              <a:off x="2025294" y="5104924"/>
              <a:ext cx="273761" cy="190690"/>
            </a:xfrm>
            <a:prstGeom prst="rect">
              <a:avLst/>
            </a:prstGeom>
            <a:noFill/>
            <a:ln>
              <a:noFill/>
            </a:ln>
          </p:spPr>
          <p:txBody>
            <a:bodyPr wrap="none" lIns="0" tIns="0" rIns="0" bIns="0" anchor="t" anchorCtr="0">
              <a:spAutoFit/>
            </a:bodyPr>
            <a:lstStyle/>
            <a:p>
              <a:pPr algn="ctr"/>
              <a:r>
                <a:rPr lang="zh-CN" sz="980" b="1" dirty="0">
                  <a:solidFill>
                    <a:srgbClr val="4E0D00"/>
                  </a:solidFill>
                  <a:latin typeface="+mn-lt"/>
                  <a:ea typeface="+mn-ea"/>
                  <a:cs typeface="+mn-cs"/>
                </a:rPr>
                <a:t>成本</a:t>
              </a:r>
            </a:p>
          </p:txBody>
        </p:sp>
        <p:sp>
          <p:nvSpPr>
            <p:cNvPr id="30" name="Rectangle 30"/>
            <p:cNvSpPr/>
            <p:nvPr/>
          </p:nvSpPr>
          <p:spPr>
            <a:xfrm>
              <a:off x="3048000" y="1704975"/>
              <a:ext cx="1409700" cy="533400"/>
            </a:xfrm>
            <a:prstGeom prst="rect">
              <a:avLst/>
            </a:prstGeom>
            <a:solidFill>
              <a:srgbClr val="FFFFFF"/>
            </a:solidFill>
            <a:ln w="13335">
              <a:solidFill>
                <a:srgbClr val="4E0D00"/>
              </a:solidFill>
            </a:ln>
          </p:spPr>
        </p:sp>
        <p:sp>
          <p:nvSpPr>
            <p:cNvPr id="31" name="Ellipse 31"/>
            <p:cNvSpPr/>
            <p:nvPr/>
          </p:nvSpPr>
          <p:spPr>
            <a:xfrm>
              <a:off x="3143250" y="1838325"/>
              <a:ext cx="266700" cy="266700"/>
            </a:xfrm>
            <a:prstGeom prst="ellipse">
              <a:avLst/>
            </a:prstGeom>
            <a:solidFill>
              <a:srgbClr val="4E0D00"/>
            </a:solidFill>
            <a:ln>
              <a:noFill/>
            </a:ln>
          </p:spPr>
        </p:sp>
        <p:grpSp>
          <p:nvGrpSpPr>
            <p:cNvPr id="34" name="Group 34"/>
            <p:cNvGrpSpPr/>
            <p:nvPr/>
          </p:nvGrpSpPr>
          <p:grpSpPr>
            <a:xfrm>
              <a:off x="3219450" y="1914525"/>
              <a:ext cx="115805" cy="115805"/>
              <a:chOff x="3219450" y="1914525"/>
              <a:chExt cx="115805" cy="115805"/>
            </a:xfrm>
          </p:grpSpPr>
          <p:sp>
            <p:nvSpPr>
              <p:cNvPr id="32" name="Freeform 32"/>
              <p:cNvSpPr/>
              <p:nvPr/>
            </p:nvSpPr>
            <p:spPr>
              <a:xfrm>
                <a:off x="3241675" y="19367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33" name="Freeform 33"/>
              <p:cNvSpPr/>
              <p:nvPr/>
            </p:nvSpPr>
            <p:spPr>
              <a:xfrm>
                <a:off x="3219450" y="1914525"/>
                <a:ext cx="115805" cy="115805"/>
              </a:xfrm>
              <a:custGeom>
                <a:avLst/>
                <a:gdLst/>
                <a:ahLst/>
                <a:cxnLst/>
                <a:rect l="l" t="t" r="r" b="b"/>
                <a:pathLst>
                  <a:path w="115805" h="115805">
                    <a:moveTo>
                      <a:pt x="0" y="19050"/>
                    </a:moveTo>
                    <a:lnTo>
                      <a:pt x="0" y="51892"/>
                    </a:lnTo>
                    <a:cubicBezTo>
                      <a:pt x="1" y="55260"/>
                      <a:pt x="1339" y="58490"/>
                      <a:pt x="3721" y="60871"/>
                    </a:cubicBezTo>
                    <a:lnTo>
                      <a:pt x="52680" y="109830"/>
                    </a:lnTo>
                    <a:cubicBezTo>
                      <a:pt x="58656" y="115805"/>
                      <a:pt x="68344" y="115805"/>
                      <a:pt x="74320" y="109830"/>
                    </a:cubicBezTo>
                    <a:lnTo>
                      <a:pt x="109830" y="74320"/>
                    </a:lnTo>
                    <a:cubicBezTo>
                      <a:pt x="115805" y="68344"/>
                      <a:pt x="115805" y="58656"/>
                      <a:pt x="109830" y="52680"/>
                    </a:cubicBezTo>
                    <a:lnTo>
                      <a:pt x="60871" y="3721"/>
                    </a:lnTo>
                    <a:cubicBezTo>
                      <a:pt x="58490" y="1339"/>
                      <a:pt x="55260" y="1"/>
                      <a:pt x="51892" y="0"/>
                    </a:cubicBezTo>
                    <a:lnTo>
                      <a:pt x="19050" y="0"/>
                    </a:lnTo>
                    <a:cubicBezTo>
                      <a:pt x="13998" y="0"/>
                      <a:pt x="9152" y="2007"/>
                      <a:pt x="5580" y="5580"/>
                    </a:cubicBezTo>
                    <a:cubicBezTo>
                      <a:pt x="2007" y="9152"/>
                      <a:pt x="0" y="13998"/>
                      <a:pt x="0" y="19050"/>
                    </a:cubicBezTo>
                  </a:path>
                </a:pathLst>
              </a:custGeom>
              <a:noFill/>
              <a:ln w="12700">
                <a:solidFill>
                  <a:srgbClr val="FFFFFF"/>
                </a:solidFill>
              </a:ln>
            </p:spPr>
          </p:sp>
        </p:grpSp>
        <p:sp>
          <p:nvSpPr>
            <p:cNvPr id="35" name="TextBox 35"/>
            <p:cNvSpPr txBox="1"/>
            <p:nvPr/>
          </p:nvSpPr>
          <p:spPr>
            <a:xfrm>
              <a:off x="3481388" y="1922145"/>
              <a:ext cx="251841"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价格</a:t>
              </a:r>
            </a:p>
          </p:txBody>
        </p:sp>
        <p:sp>
          <p:nvSpPr>
            <p:cNvPr id="36" name="Rectangle 36"/>
            <p:cNvSpPr/>
            <p:nvPr/>
          </p:nvSpPr>
          <p:spPr>
            <a:xfrm>
              <a:off x="3048000" y="2628900"/>
              <a:ext cx="1409700" cy="533400"/>
            </a:xfrm>
            <a:prstGeom prst="rect">
              <a:avLst/>
            </a:prstGeom>
            <a:solidFill>
              <a:srgbClr val="FFFFFF"/>
            </a:solidFill>
            <a:ln w="13335">
              <a:solidFill>
                <a:srgbClr val="4E0D00"/>
              </a:solidFill>
            </a:ln>
          </p:spPr>
        </p:sp>
        <p:sp>
          <p:nvSpPr>
            <p:cNvPr id="37" name="Ellipse 37"/>
            <p:cNvSpPr/>
            <p:nvPr/>
          </p:nvSpPr>
          <p:spPr>
            <a:xfrm>
              <a:off x="3143250" y="2762250"/>
              <a:ext cx="266700" cy="266700"/>
            </a:xfrm>
            <a:prstGeom prst="ellipse">
              <a:avLst/>
            </a:prstGeom>
            <a:solidFill>
              <a:srgbClr val="4E0D00"/>
            </a:solidFill>
            <a:ln>
              <a:noFill/>
            </a:ln>
          </p:spPr>
        </p:sp>
        <p:grpSp>
          <p:nvGrpSpPr>
            <p:cNvPr id="42" name="Group 42"/>
            <p:cNvGrpSpPr/>
            <p:nvPr/>
          </p:nvGrpSpPr>
          <p:grpSpPr>
            <a:xfrm>
              <a:off x="3219450" y="2844800"/>
              <a:ext cx="114300" cy="111125"/>
              <a:chOff x="3219450" y="2844800"/>
              <a:chExt cx="114300" cy="111125"/>
            </a:xfrm>
          </p:grpSpPr>
          <p:sp>
            <p:nvSpPr>
              <p:cNvPr id="38" name="Freeform 38"/>
              <p:cNvSpPr/>
              <p:nvPr/>
            </p:nvSpPr>
            <p:spPr>
              <a:xfrm>
                <a:off x="3219450" y="28956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FFFFFF"/>
                </a:solidFill>
              </a:ln>
            </p:spPr>
          </p:sp>
          <p:sp>
            <p:nvSpPr>
              <p:cNvPr id="39" name="Freeform 39"/>
              <p:cNvSpPr/>
              <p:nvPr/>
            </p:nvSpPr>
            <p:spPr>
              <a:xfrm>
                <a:off x="3295650" y="28702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FFFFFF"/>
                </a:solidFill>
              </a:ln>
            </p:spPr>
          </p:sp>
          <p:sp>
            <p:nvSpPr>
              <p:cNvPr id="40" name="Freeform 40"/>
              <p:cNvSpPr/>
              <p:nvPr/>
            </p:nvSpPr>
            <p:spPr>
              <a:xfrm>
                <a:off x="3257550" y="28448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FFFFFF"/>
                </a:solidFill>
              </a:ln>
            </p:spPr>
          </p:sp>
          <p:sp>
            <p:nvSpPr>
              <p:cNvPr id="41" name="Freeform 41"/>
              <p:cNvSpPr/>
              <p:nvPr/>
            </p:nvSpPr>
            <p:spPr>
              <a:xfrm>
                <a:off x="3225800" y="2946400"/>
                <a:ext cx="88900" cy="9525"/>
              </a:xfrm>
              <a:custGeom>
                <a:avLst/>
                <a:gdLst/>
                <a:ahLst/>
                <a:cxnLst/>
                <a:rect l="l" t="t" r="r" b="b"/>
                <a:pathLst>
                  <a:path w="88900" h="9525">
                    <a:moveTo>
                      <a:pt x="0" y="0"/>
                    </a:moveTo>
                    <a:lnTo>
                      <a:pt x="88900" y="0"/>
                    </a:lnTo>
                  </a:path>
                </a:pathLst>
              </a:custGeom>
              <a:noFill/>
              <a:ln w="12700">
                <a:solidFill>
                  <a:srgbClr val="FFFFFF"/>
                </a:solidFill>
              </a:ln>
            </p:spPr>
          </p:sp>
        </p:grpSp>
        <p:sp>
          <p:nvSpPr>
            <p:cNvPr id="43" name="TextBox 43"/>
            <p:cNvSpPr txBox="1"/>
            <p:nvPr/>
          </p:nvSpPr>
          <p:spPr>
            <a:xfrm>
              <a:off x="3481388" y="2846070"/>
              <a:ext cx="251841"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销量</a:t>
              </a:r>
            </a:p>
          </p:txBody>
        </p:sp>
        <p:sp>
          <p:nvSpPr>
            <p:cNvPr id="44" name="Rectangle 44"/>
            <p:cNvSpPr/>
            <p:nvPr/>
          </p:nvSpPr>
          <p:spPr>
            <a:xfrm>
              <a:off x="3048000" y="3533775"/>
              <a:ext cx="1409700" cy="533400"/>
            </a:xfrm>
            <a:prstGeom prst="rect">
              <a:avLst/>
            </a:prstGeom>
            <a:solidFill>
              <a:srgbClr val="FFFFFF"/>
            </a:solidFill>
            <a:ln w="13335">
              <a:solidFill>
                <a:srgbClr val="4E0D00"/>
              </a:solidFill>
            </a:ln>
          </p:spPr>
        </p:sp>
        <p:sp>
          <p:nvSpPr>
            <p:cNvPr id="45" name="Ellipse 45"/>
            <p:cNvSpPr/>
            <p:nvPr/>
          </p:nvSpPr>
          <p:spPr>
            <a:xfrm>
              <a:off x="3143250" y="3667125"/>
              <a:ext cx="266700" cy="266700"/>
            </a:xfrm>
            <a:prstGeom prst="ellipse">
              <a:avLst/>
            </a:prstGeom>
            <a:solidFill>
              <a:srgbClr val="4E0D00"/>
            </a:solidFill>
            <a:ln>
              <a:noFill/>
            </a:ln>
          </p:spPr>
        </p:sp>
        <p:grpSp>
          <p:nvGrpSpPr>
            <p:cNvPr id="48" name="Group 48"/>
            <p:cNvGrpSpPr/>
            <p:nvPr/>
          </p:nvGrpSpPr>
          <p:grpSpPr>
            <a:xfrm>
              <a:off x="3217680" y="3744417"/>
              <a:ext cx="114800" cy="114978"/>
              <a:chOff x="3217680" y="3744417"/>
              <a:chExt cx="114800" cy="114978"/>
            </a:xfrm>
          </p:grpSpPr>
          <p:sp>
            <p:nvSpPr>
              <p:cNvPr id="46" name="Freeform 46"/>
              <p:cNvSpPr/>
              <p:nvPr/>
            </p:nvSpPr>
            <p:spPr>
              <a:xfrm>
                <a:off x="3217680" y="3744417"/>
                <a:ext cx="114800" cy="114978"/>
              </a:xfrm>
              <a:custGeom>
                <a:avLst/>
                <a:gdLst/>
                <a:ahLst/>
                <a:cxnLst/>
                <a:rect l="l" t="t" r="r" b="b"/>
                <a:pathLst>
                  <a:path w="114800" h="114978">
                    <a:moveTo>
                      <a:pt x="46220" y="178"/>
                    </a:moveTo>
                    <a:cubicBezTo>
                      <a:pt x="18725" y="6552"/>
                      <a:pt x="0" y="32044"/>
                      <a:pt x="2141" y="60187"/>
                    </a:cubicBezTo>
                    <a:cubicBezTo>
                      <a:pt x="4282" y="88330"/>
                      <a:pt x="26648" y="110696"/>
                      <a:pt x="54791" y="112837"/>
                    </a:cubicBezTo>
                    <a:cubicBezTo>
                      <a:pt x="82934" y="114978"/>
                      <a:pt x="108426" y="96254"/>
                      <a:pt x="114800" y="68758"/>
                    </a:cubicBezTo>
                    <a:cubicBezTo>
                      <a:pt x="114800" y="65251"/>
                      <a:pt x="111957" y="62408"/>
                      <a:pt x="108450" y="62408"/>
                    </a:cubicBezTo>
                    <a:lnTo>
                      <a:pt x="65270" y="62408"/>
                    </a:lnTo>
                    <a:cubicBezTo>
                      <a:pt x="58256" y="62408"/>
                      <a:pt x="52570" y="56722"/>
                      <a:pt x="52570" y="49708"/>
                    </a:cubicBezTo>
                    <a:lnTo>
                      <a:pt x="52570" y="5258"/>
                    </a:lnTo>
                    <a:cubicBezTo>
                      <a:pt x="52411" y="3738"/>
                      <a:pt x="51649" y="2346"/>
                      <a:pt x="50456" y="1391"/>
                    </a:cubicBezTo>
                    <a:cubicBezTo>
                      <a:pt x="49263" y="437"/>
                      <a:pt x="47738" y="0"/>
                      <a:pt x="46220" y="178"/>
                    </a:cubicBezTo>
                  </a:path>
                </a:pathLst>
              </a:custGeom>
              <a:noFill/>
              <a:ln w="12700">
                <a:solidFill>
                  <a:srgbClr val="FFFFFF"/>
                </a:solidFill>
              </a:ln>
            </p:spPr>
          </p:sp>
          <p:sp>
            <p:nvSpPr>
              <p:cNvPr id="47" name="Freeform 47"/>
              <p:cNvSpPr/>
              <p:nvPr/>
            </p:nvSpPr>
            <p:spPr>
              <a:xfrm>
                <a:off x="3295650" y="3746500"/>
                <a:ext cx="34925" cy="34925"/>
              </a:xfrm>
              <a:custGeom>
                <a:avLst/>
                <a:gdLst/>
                <a:ahLst/>
                <a:cxnLst/>
                <a:rect l="l" t="t" r="r" b="b"/>
                <a:pathLst>
                  <a:path w="34925" h="34925">
                    <a:moveTo>
                      <a:pt x="0" y="0"/>
                    </a:moveTo>
                    <a:cubicBezTo>
                      <a:pt x="16331" y="5750"/>
                      <a:pt x="29175" y="18594"/>
                      <a:pt x="34925" y="34925"/>
                    </a:cubicBezTo>
                    <a:lnTo>
                      <a:pt x="6350" y="34925"/>
                    </a:lnTo>
                    <a:cubicBezTo>
                      <a:pt x="2843" y="34925"/>
                      <a:pt x="0" y="32082"/>
                      <a:pt x="0" y="28575"/>
                    </a:cubicBezTo>
                    <a:lnTo>
                      <a:pt x="0" y="0"/>
                    </a:lnTo>
                  </a:path>
                </a:pathLst>
              </a:custGeom>
              <a:noFill/>
              <a:ln w="12700">
                <a:solidFill>
                  <a:srgbClr val="FFFFFF"/>
                </a:solidFill>
              </a:ln>
            </p:spPr>
          </p:sp>
        </p:grpSp>
        <p:sp>
          <p:nvSpPr>
            <p:cNvPr id="49" name="TextBox 49"/>
            <p:cNvSpPr txBox="1"/>
            <p:nvPr/>
          </p:nvSpPr>
          <p:spPr>
            <a:xfrm>
              <a:off x="3481388" y="3750945"/>
              <a:ext cx="494157"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产品结构</a:t>
              </a:r>
            </a:p>
          </p:txBody>
        </p:sp>
        <p:sp>
          <p:nvSpPr>
            <p:cNvPr id="50" name="Rectangle 50"/>
            <p:cNvSpPr/>
            <p:nvPr/>
          </p:nvSpPr>
          <p:spPr>
            <a:xfrm>
              <a:off x="3048000" y="4467225"/>
              <a:ext cx="1409700" cy="533400"/>
            </a:xfrm>
            <a:prstGeom prst="rect">
              <a:avLst/>
            </a:prstGeom>
            <a:solidFill>
              <a:srgbClr val="FFFFFF"/>
            </a:solidFill>
            <a:ln w="13335">
              <a:solidFill>
                <a:srgbClr val="4E0D00"/>
              </a:solidFill>
            </a:ln>
          </p:spPr>
        </p:sp>
        <p:sp>
          <p:nvSpPr>
            <p:cNvPr id="51" name="Ellipse 51"/>
            <p:cNvSpPr/>
            <p:nvPr/>
          </p:nvSpPr>
          <p:spPr>
            <a:xfrm>
              <a:off x="3143250" y="4600575"/>
              <a:ext cx="266700" cy="266700"/>
            </a:xfrm>
            <a:prstGeom prst="ellipse">
              <a:avLst/>
            </a:prstGeom>
            <a:solidFill>
              <a:srgbClr val="4E0D00"/>
            </a:solidFill>
            <a:ln>
              <a:noFill/>
            </a:ln>
          </p:spPr>
        </p:sp>
        <p:grpSp>
          <p:nvGrpSpPr>
            <p:cNvPr id="57" name="Group 57"/>
            <p:cNvGrpSpPr/>
            <p:nvPr/>
          </p:nvGrpSpPr>
          <p:grpSpPr>
            <a:xfrm>
              <a:off x="3219450" y="4676773"/>
              <a:ext cx="114300" cy="123827"/>
              <a:chOff x="3219450" y="4676773"/>
              <a:chExt cx="114300" cy="123827"/>
            </a:xfrm>
          </p:grpSpPr>
          <p:sp>
            <p:nvSpPr>
              <p:cNvPr id="52" name="Freeform 52"/>
              <p:cNvSpPr/>
              <p:nvPr/>
            </p:nvSpPr>
            <p:spPr>
              <a:xfrm>
                <a:off x="3219450" y="4791075"/>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53" name="Freeform 53"/>
              <p:cNvSpPr/>
              <p:nvPr/>
            </p:nvSpPr>
            <p:spPr>
              <a:xfrm>
                <a:off x="3232150" y="4714875"/>
                <a:ext cx="88900" cy="76200"/>
              </a:xfrm>
              <a:custGeom>
                <a:avLst/>
                <a:gdLst/>
                <a:ahLst/>
                <a:cxnLst/>
                <a:rect l="l" t="t" r="r" b="b"/>
                <a:pathLst>
                  <a:path w="88900" h="76200">
                    <a:moveTo>
                      <a:pt x="0" y="76200"/>
                    </a:moveTo>
                    <a:lnTo>
                      <a:pt x="0" y="0"/>
                    </a:lnTo>
                    <a:lnTo>
                      <a:pt x="31750" y="25400"/>
                    </a:lnTo>
                    <a:lnTo>
                      <a:pt x="31750" y="0"/>
                    </a:lnTo>
                    <a:lnTo>
                      <a:pt x="63500" y="25400"/>
                    </a:lnTo>
                    <a:lnTo>
                      <a:pt x="88900" y="25400"/>
                    </a:lnTo>
                  </a:path>
                </a:pathLst>
              </a:custGeom>
              <a:noFill/>
              <a:ln w="12700">
                <a:solidFill>
                  <a:srgbClr val="FFFFFF"/>
                </a:solidFill>
              </a:ln>
            </p:spPr>
          </p:sp>
          <p:sp>
            <p:nvSpPr>
              <p:cNvPr id="54" name="Freeform 54"/>
              <p:cNvSpPr/>
              <p:nvPr/>
            </p:nvSpPr>
            <p:spPr>
              <a:xfrm>
                <a:off x="3289300" y="4676773"/>
                <a:ext cx="31750" cy="114302"/>
              </a:xfrm>
              <a:custGeom>
                <a:avLst/>
                <a:gdLst/>
                <a:ahLst/>
                <a:cxnLst/>
                <a:rect l="l" t="t" r="r" b="b"/>
                <a:pathLst>
                  <a:path w="31750" h="114302">
                    <a:moveTo>
                      <a:pt x="31750" y="114302"/>
                    </a:moveTo>
                    <a:lnTo>
                      <a:pt x="31750" y="63502"/>
                    </a:lnTo>
                    <a:lnTo>
                      <a:pt x="22631" y="2707"/>
                    </a:lnTo>
                    <a:cubicBezTo>
                      <a:pt x="22399" y="1152"/>
                      <a:pt x="21061" y="1"/>
                      <a:pt x="19488" y="2"/>
                    </a:cubicBezTo>
                    <a:lnTo>
                      <a:pt x="12217" y="2"/>
                    </a:lnTo>
                    <a:cubicBezTo>
                      <a:pt x="10663" y="0"/>
                      <a:pt x="9335" y="1123"/>
                      <a:pt x="9081" y="2657"/>
                    </a:cubicBezTo>
                    <a:lnTo>
                      <a:pt x="0" y="57152"/>
                    </a:lnTo>
                  </a:path>
                </a:pathLst>
              </a:custGeom>
              <a:noFill/>
              <a:ln w="12700">
                <a:solidFill>
                  <a:srgbClr val="FFFFFF"/>
                </a:solidFill>
              </a:ln>
            </p:spPr>
          </p:sp>
          <p:sp>
            <p:nvSpPr>
              <p:cNvPr id="55" name="Freeform 55"/>
              <p:cNvSpPr/>
              <p:nvPr/>
            </p:nvSpPr>
            <p:spPr>
              <a:xfrm>
                <a:off x="3257550" y="4765675"/>
                <a:ext cx="9525" cy="9525"/>
              </a:xfrm>
              <a:custGeom>
                <a:avLst/>
                <a:gdLst/>
                <a:ahLst/>
                <a:cxnLst/>
                <a:rect l="l" t="t" r="r" b="b"/>
                <a:pathLst>
                  <a:path w="9525" h="9525">
                    <a:moveTo>
                      <a:pt x="0" y="0"/>
                    </a:moveTo>
                    <a:lnTo>
                      <a:pt x="6350" y="0"/>
                    </a:lnTo>
                  </a:path>
                </a:pathLst>
              </a:custGeom>
              <a:noFill/>
              <a:ln w="12700">
                <a:solidFill>
                  <a:srgbClr val="FFFFFF"/>
                </a:solidFill>
              </a:ln>
            </p:spPr>
          </p:sp>
          <p:sp>
            <p:nvSpPr>
              <p:cNvPr id="56" name="Freeform 56"/>
              <p:cNvSpPr/>
              <p:nvPr/>
            </p:nvSpPr>
            <p:spPr>
              <a:xfrm>
                <a:off x="3289300" y="4765675"/>
                <a:ext cx="9525" cy="9525"/>
              </a:xfrm>
              <a:custGeom>
                <a:avLst/>
                <a:gdLst/>
                <a:ahLst/>
                <a:cxnLst/>
                <a:rect l="l" t="t" r="r" b="b"/>
                <a:pathLst>
                  <a:path w="9525" h="9525">
                    <a:moveTo>
                      <a:pt x="0" y="0"/>
                    </a:moveTo>
                    <a:lnTo>
                      <a:pt x="6350" y="0"/>
                    </a:lnTo>
                  </a:path>
                </a:pathLst>
              </a:custGeom>
              <a:noFill/>
              <a:ln w="12700">
                <a:solidFill>
                  <a:srgbClr val="FFFFFF"/>
                </a:solidFill>
              </a:ln>
            </p:spPr>
          </p:sp>
        </p:grpSp>
        <p:sp>
          <p:nvSpPr>
            <p:cNvPr id="58" name="TextBox 58"/>
            <p:cNvSpPr txBox="1"/>
            <p:nvPr/>
          </p:nvSpPr>
          <p:spPr>
            <a:xfrm>
              <a:off x="3481388" y="4684395"/>
              <a:ext cx="494157"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固定成本</a:t>
              </a:r>
            </a:p>
          </p:txBody>
        </p:sp>
        <p:sp>
          <p:nvSpPr>
            <p:cNvPr id="59" name="Rectangle 59"/>
            <p:cNvSpPr/>
            <p:nvPr/>
          </p:nvSpPr>
          <p:spPr>
            <a:xfrm>
              <a:off x="3048000" y="5429250"/>
              <a:ext cx="1409700" cy="533400"/>
            </a:xfrm>
            <a:prstGeom prst="rect">
              <a:avLst/>
            </a:prstGeom>
            <a:solidFill>
              <a:srgbClr val="FFFFFF"/>
            </a:solidFill>
            <a:ln w="13335">
              <a:solidFill>
                <a:srgbClr val="4E0D00"/>
              </a:solidFill>
            </a:ln>
          </p:spPr>
        </p:sp>
        <p:sp>
          <p:nvSpPr>
            <p:cNvPr id="60" name="Ellipse 60"/>
            <p:cNvSpPr/>
            <p:nvPr/>
          </p:nvSpPr>
          <p:spPr>
            <a:xfrm>
              <a:off x="3143250" y="5562600"/>
              <a:ext cx="266700" cy="266700"/>
            </a:xfrm>
            <a:prstGeom prst="ellipse">
              <a:avLst/>
            </a:prstGeom>
            <a:solidFill>
              <a:srgbClr val="4E0D00"/>
            </a:solidFill>
            <a:ln>
              <a:noFill/>
            </a:ln>
          </p:spPr>
        </p:sp>
        <p:grpSp>
          <p:nvGrpSpPr>
            <p:cNvPr id="63" name="Group 63"/>
            <p:cNvGrpSpPr/>
            <p:nvPr/>
          </p:nvGrpSpPr>
          <p:grpSpPr>
            <a:xfrm>
              <a:off x="3216662" y="5636012"/>
              <a:ext cx="119875" cy="119875"/>
              <a:chOff x="3216662" y="5636012"/>
              <a:chExt cx="119875" cy="119875"/>
            </a:xfrm>
          </p:grpSpPr>
          <p:sp>
            <p:nvSpPr>
              <p:cNvPr id="61" name="Freeform 61"/>
              <p:cNvSpPr/>
              <p:nvPr/>
            </p:nvSpPr>
            <p:spPr>
              <a:xfrm>
                <a:off x="3216662" y="5636012"/>
                <a:ext cx="119875" cy="119875"/>
              </a:xfrm>
              <a:custGeom>
                <a:avLst/>
                <a:gdLst/>
                <a:ahLst/>
                <a:cxnLst/>
                <a:rect l="l" t="t" r="r" b="b"/>
                <a:pathLst>
                  <a:path w="119875" h="119875">
                    <a:moveTo>
                      <a:pt x="49301" y="11151"/>
                    </a:moveTo>
                    <a:cubicBezTo>
                      <a:pt x="52007" y="0"/>
                      <a:pt x="67869" y="0"/>
                      <a:pt x="70574" y="11151"/>
                    </a:cubicBezTo>
                    <a:cubicBezTo>
                      <a:pt x="71397" y="14548"/>
                      <a:pt x="73794" y="17348"/>
                      <a:pt x="77023" y="18686"/>
                    </a:cubicBezTo>
                    <a:cubicBezTo>
                      <a:pt x="80253" y="20025"/>
                      <a:pt x="83928" y="19740"/>
                      <a:pt x="86912" y="17920"/>
                    </a:cubicBezTo>
                    <a:cubicBezTo>
                      <a:pt x="96711" y="11951"/>
                      <a:pt x="107931" y="23165"/>
                      <a:pt x="101962" y="32969"/>
                    </a:cubicBezTo>
                    <a:cubicBezTo>
                      <a:pt x="100145" y="35953"/>
                      <a:pt x="99860" y="39625"/>
                      <a:pt x="101197" y="42852"/>
                    </a:cubicBezTo>
                    <a:cubicBezTo>
                      <a:pt x="102534" y="46080"/>
                      <a:pt x="105330" y="48476"/>
                      <a:pt x="108725" y="49301"/>
                    </a:cubicBezTo>
                    <a:cubicBezTo>
                      <a:pt x="119875" y="52007"/>
                      <a:pt x="119875" y="67869"/>
                      <a:pt x="108725" y="70574"/>
                    </a:cubicBezTo>
                    <a:cubicBezTo>
                      <a:pt x="105327" y="71397"/>
                      <a:pt x="102527" y="73794"/>
                      <a:pt x="101189" y="77023"/>
                    </a:cubicBezTo>
                    <a:cubicBezTo>
                      <a:pt x="99851" y="80253"/>
                      <a:pt x="100136" y="83928"/>
                      <a:pt x="101956" y="86912"/>
                    </a:cubicBezTo>
                    <a:cubicBezTo>
                      <a:pt x="107925" y="96711"/>
                      <a:pt x="96711" y="107931"/>
                      <a:pt x="86906" y="101962"/>
                    </a:cubicBezTo>
                    <a:cubicBezTo>
                      <a:pt x="83923" y="100145"/>
                      <a:pt x="80251" y="99860"/>
                      <a:pt x="77023" y="101197"/>
                    </a:cubicBezTo>
                    <a:cubicBezTo>
                      <a:pt x="73795" y="102534"/>
                      <a:pt x="71399" y="105330"/>
                      <a:pt x="70574" y="108725"/>
                    </a:cubicBezTo>
                    <a:cubicBezTo>
                      <a:pt x="67869" y="119875"/>
                      <a:pt x="52007" y="119875"/>
                      <a:pt x="49301" y="108725"/>
                    </a:cubicBezTo>
                    <a:cubicBezTo>
                      <a:pt x="48478" y="105327"/>
                      <a:pt x="46082" y="102527"/>
                      <a:pt x="42852" y="101189"/>
                    </a:cubicBezTo>
                    <a:cubicBezTo>
                      <a:pt x="39622" y="99851"/>
                      <a:pt x="35948" y="100136"/>
                      <a:pt x="32963" y="101956"/>
                    </a:cubicBezTo>
                    <a:cubicBezTo>
                      <a:pt x="23165" y="107925"/>
                      <a:pt x="11944" y="96711"/>
                      <a:pt x="17913" y="86906"/>
                    </a:cubicBezTo>
                    <a:cubicBezTo>
                      <a:pt x="19731" y="83923"/>
                      <a:pt x="20015" y="80251"/>
                      <a:pt x="18678" y="77023"/>
                    </a:cubicBezTo>
                    <a:cubicBezTo>
                      <a:pt x="17342" y="73795"/>
                      <a:pt x="14545" y="71399"/>
                      <a:pt x="11151" y="70574"/>
                    </a:cubicBezTo>
                    <a:cubicBezTo>
                      <a:pt x="0" y="67869"/>
                      <a:pt x="0" y="52007"/>
                      <a:pt x="11151" y="49301"/>
                    </a:cubicBezTo>
                    <a:cubicBezTo>
                      <a:pt x="14548" y="48478"/>
                      <a:pt x="17348" y="46082"/>
                      <a:pt x="18686" y="42852"/>
                    </a:cubicBezTo>
                    <a:cubicBezTo>
                      <a:pt x="20025" y="39622"/>
                      <a:pt x="19740" y="35948"/>
                      <a:pt x="17920" y="32963"/>
                    </a:cubicBezTo>
                    <a:cubicBezTo>
                      <a:pt x="11951" y="23165"/>
                      <a:pt x="23165" y="11944"/>
                      <a:pt x="32969" y="17913"/>
                    </a:cubicBezTo>
                    <a:cubicBezTo>
                      <a:pt x="39319" y="21774"/>
                      <a:pt x="47549" y="18358"/>
                      <a:pt x="49301" y="11151"/>
                    </a:cubicBezTo>
                  </a:path>
                </a:pathLst>
              </a:custGeom>
              <a:noFill/>
              <a:ln w="12700">
                <a:solidFill>
                  <a:srgbClr val="FFFFFF"/>
                </a:solidFill>
              </a:ln>
            </p:spPr>
          </p:sp>
          <p:sp>
            <p:nvSpPr>
              <p:cNvPr id="62" name="Freeform 62"/>
              <p:cNvSpPr/>
              <p:nvPr/>
            </p:nvSpPr>
            <p:spPr>
              <a:xfrm>
                <a:off x="3257550" y="56769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2700">
                <a:solidFill>
                  <a:srgbClr val="FFFFFF"/>
                </a:solidFill>
              </a:ln>
            </p:spPr>
          </p:sp>
        </p:grpSp>
        <p:sp>
          <p:nvSpPr>
            <p:cNvPr id="64" name="TextBox 64"/>
            <p:cNvSpPr txBox="1"/>
            <p:nvPr/>
          </p:nvSpPr>
          <p:spPr>
            <a:xfrm>
              <a:off x="3481388" y="5646420"/>
              <a:ext cx="494157"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变动成本</a:t>
              </a:r>
            </a:p>
          </p:txBody>
        </p:sp>
      </p:grpSp>
      <p:sp>
        <p:nvSpPr>
          <p:cNvPr id="66" name="Line 66"/>
          <p:cNvSpPr/>
          <p:nvPr/>
        </p:nvSpPr>
        <p:spPr>
          <a:xfrm>
            <a:off x="1257300" y="3638550"/>
            <a:ext cx="285750" cy="9525"/>
          </a:xfrm>
          <a:custGeom>
            <a:avLst/>
            <a:gdLst/>
            <a:ahLst/>
            <a:cxnLst/>
            <a:rect l="l" t="t" r="r" b="b"/>
            <a:pathLst>
              <a:path w="285750" h="9525">
                <a:moveTo>
                  <a:pt x="0" y="0"/>
                </a:moveTo>
                <a:lnTo>
                  <a:pt x="285750" y="0"/>
                </a:lnTo>
              </a:path>
            </a:pathLst>
          </a:custGeom>
          <a:noFill/>
          <a:ln w="13335">
            <a:solidFill>
              <a:srgbClr val="944130"/>
            </a:solidFill>
          </a:ln>
        </p:spPr>
      </p:sp>
      <p:sp>
        <p:nvSpPr>
          <p:cNvPr id="67" name="Line 67"/>
          <p:cNvSpPr/>
          <p:nvPr/>
        </p:nvSpPr>
        <p:spPr>
          <a:xfrm>
            <a:off x="1543050" y="2533650"/>
            <a:ext cx="9525" cy="2628900"/>
          </a:xfrm>
          <a:custGeom>
            <a:avLst/>
            <a:gdLst/>
            <a:ahLst/>
            <a:cxnLst/>
            <a:rect l="l" t="t" r="r" b="b"/>
            <a:pathLst>
              <a:path w="9525" h="2628900">
                <a:moveTo>
                  <a:pt x="0" y="0"/>
                </a:moveTo>
                <a:lnTo>
                  <a:pt x="0" y="2628900"/>
                </a:lnTo>
              </a:path>
            </a:pathLst>
          </a:custGeom>
          <a:noFill/>
          <a:ln w="13335">
            <a:solidFill>
              <a:srgbClr val="944130"/>
            </a:solidFill>
          </a:ln>
        </p:spPr>
      </p:sp>
      <p:sp>
        <p:nvSpPr>
          <p:cNvPr id="68" name="Line 68"/>
          <p:cNvSpPr/>
          <p:nvPr/>
        </p:nvSpPr>
        <p:spPr>
          <a:xfrm>
            <a:off x="1543050" y="2533650"/>
            <a:ext cx="200025" cy="1"/>
          </a:xfrm>
          <a:prstGeom prst="line">
            <a:avLst/>
          </a:prstGeom>
          <a:noFill/>
          <a:ln w="13335">
            <a:solidFill>
              <a:srgbClr val="944130"/>
            </a:solidFill>
            <a:tailEnd type="triangle" w="lg" len="lg"/>
          </a:ln>
        </p:spPr>
      </p:sp>
      <p:sp>
        <p:nvSpPr>
          <p:cNvPr id="69" name="Line 69"/>
          <p:cNvSpPr/>
          <p:nvPr/>
        </p:nvSpPr>
        <p:spPr>
          <a:xfrm>
            <a:off x="1543050" y="5162550"/>
            <a:ext cx="200025" cy="1"/>
          </a:xfrm>
          <a:prstGeom prst="line">
            <a:avLst/>
          </a:prstGeom>
          <a:noFill/>
          <a:ln w="13335">
            <a:solidFill>
              <a:srgbClr val="944130"/>
            </a:solidFill>
            <a:tailEnd type="triangle" w="lg" len="lg"/>
          </a:ln>
        </p:spPr>
      </p:sp>
      <p:sp>
        <p:nvSpPr>
          <p:cNvPr id="70" name="Line 70"/>
          <p:cNvSpPr/>
          <p:nvPr/>
        </p:nvSpPr>
        <p:spPr>
          <a:xfrm flipV="1">
            <a:off x="2562225" y="2019300"/>
            <a:ext cx="447675" cy="514350"/>
          </a:xfrm>
          <a:prstGeom prst="line">
            <a:avLst/>
          </a:prstGeom>
          <a:noFill/>
          <a:ln w="12382">
            <a:solidFill>
              <a:srgbClr val="944130"/>
            </a:solidFill>
            <a:tailEnd type="triangle" w="lg" len="lg"/>
          </a:ln>
        </p:spPr>
      </p:sp>
      <p:sp>
        <p:nvSpPr>
          <p:cNvPr id="71" name="Line 71"/>
          <p:cNvSpPr/>
          <p:nvPr/>
        </p:nvSpPr>
        <p:spPr>
          <a:xfrm>
            <a:off x="2562225" y="2533650"/>
            <a:ext cx="447675" cy="323850"/>
          </a:xfrm>
          <a:prstGeom prst="line">
            <a:avLst/>
          </a:prstGeom>
          <a:noFill/>
          <a:ln w="12382">
            <a:solidFill>
              <a:srgbClr val="944130"/>
            </a:solidFill>
            <a:tailEnd type="triangle" w="lg" len="lg"/>
          </a:ln>
        </p:spPr>
      </p:sp>
      <p:sp>
        <p:nvSpPr>
          <p:cNvPr id="72" name="Line 72"/>
          <p:cNvSpPr/>
          <p:nvPr/>
        </p:nvSpPr>
        <p:spPr>
          <a:xfrm>
            <a:off x="2562225" y="2533650"/>
            <a:ext cx="447675" cy="1209675"/>
          </a:xfrm>
          <a:prstGeom prst="line">
            <a:avLst/>
          </a:prstGeom>
          <a:noFill/>
          <a:ln w="12382">
            <a:solidFill>
              <a:srgbClr val="944130"/>
            </a:solidFill>
            <a:tailEnd type="triangle" w="lg" len="lg"/>
          </a:ln>
        </p:spPr>
      </p:sp>
      <p:sp>
        <p:nvSpPr>
          <p:cNvPr id="73" name="Line 73"/>
          <p:cNvSpPr/>
          <p:nvPr/>
        </p:nvSpPr>
        <p:spPr>
          <a:xfrm flipV="1">
            <a:off x="2562225" y="4781550"/>
            <a:ext cx="447675" cy="381000"/>
          </a:xfrm>
          <a:prstGeom prst="line">
            <a:avLst/>
          </a:prstGeom>
          <a:noFill/>
          <a:ln w="12382">
            <a:solidFill>
              <a:srgbClr val="944130"/>
            </a:solidFill>
            <a:tailEnd type="triangle" w="lg" len="lg"/>
          </a:ln>
        </p:spPr>
      </p:sp>
      <p:sp>
        <p:nvSpPr>
          <p:cNvPr id="74" name="Line 74"/>
          <p:cNvSpPr/>
          <p:nvPr/>
        </p:nvSpPr>
        <p:spPr>
          <a:xfrm>
            <a:off x="2562225" y="5162550"/>
            <a:ext cx="447675" cy="476250"/>
          </a:xfrm>
          <a:prstGeom prst="line">
            <a:avLst/>
          </a:prstGeom>
          <a:noFill/>
          <a:ln w="12382">
            <a:solidFill>
              <a:srgbClr val="944130"/>
            </a:solidFill>
            <a:tailEnd type="triangle" w="lg" len="lg"/>
          </a:ln>
        </p:spPr>
      </p:sp>
      <p:sp>
        <p:nvSpPr>
          <p:cNvPr id="75" name="Line 75"/>
          <p:cNvSpPr/>
          <p:nvPr/>
        </p:nvSpPr>
        <p:spPr>
          <a:xfrm>
            <a:off x="4457700" y="1971675"/>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sp>
        <p:nvSpPr>
          <p:cNvPr id="76" name="Line 76"/>
          <p:cNvSpPr/>
          <p:nvPr/>
        </p:nvSpPr>
        <p:spPr>
          <a:xfrm>
            <a:off x="4457700" y="2895600"/>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sp>
        <p:nvSpPr>
          <p:cNvPr id="77" name="Line 77"/>
          <p:cNvSpPr/>
          <p:nvPr/>
        </p:nvSpPr>
        <p:spPr>
          <a:xfrm>
            <a:off x="4457700" y="3800475"/>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sp>
        <p:nvSpPr>
          <p:cNvPr id="78" name="Line 78"/>
          <p:cNvSpPr/>
          <p:nvPr/>
        </p:nvSpPr>
        <p:spPr>
          <a:xfrm>
            <a:off x="4457700" y="4733925"/>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sp>
        <p:nvSpPr>
          <p:cNvPr id="79" name="Line 79"/>
          <p:cNvSpPr/>
          <p:nvPr/>
        </p:nvSpPr>
        <p:spPr>
          <a:xfrm>
            <a:off x="4457700" y="5695950"/>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sp>
        <p:nvSpPr>
          <p:cNvPr id="80" name="Line 80"/>
          <p:cNvSpPr/>
          <p:nvPr/>
        </p:nvSpPr>
        <p:spPr>
          <a:xfrm>
            <a:off x="7048500" y="1971675"/>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sp>
        <p:nvSpPr>
          <p:cNvPr id="81" name="Line 81"/>
          <p:cNvSpPr/>
          <p:nvPr/>
        </p:nvSpPr>
        <p:spPr>
          <a:xfrm>
            <a:off x="7048500" y="2895600"/>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sp>
        <p:nvSpPr>
          <p:cNvPr id="82" name="Line 82"/>
          <p:cNvSpPr/>
          <p:nvPr/>
        </p:nvSpPr>
        <p:spPr>
          <a:xfrm>
            <a:off x="7048500" y="3800475"/>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sp>
        <p:nvSpPr>
          <p:cNvPr id="83" name="Line 83"/>
          <p:cNvSpPr/>
          <p:nvPr/>
        </p:nvSpPr>
        <p:spPr>
          <a:xfrm>
            <a:off x="7048500" y="4733925"/>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sp>
        <p:nvSpPr>
          <p:cNvPr id="84" name="Line 84"/>
          <p:cNvSpPr/>
          <p:nvPr/>
        </p:nvSpPr>
        <p:spPr>
          <a:xfrm>
            <a:off x="7048500" y="5695950"/>
            <a:ext cx="209550" cy="9525"/>
          </a:xfrm>
          <a:custGeom>
            <a:avLst/>
            <a:gdLst/>
            <a:ahLst/>
            <a:cxnLst/>
            <a:rect l="l" t="t" r="r" b="b"/>
            <a:pathLst>
              <a:path w="209550" h="9525">
                <a:moveTo>
                  <a:pt x="0" y="0"/>
                </a:moveTo>
                <a:lnTo>
                  <a:pt x="209550" y="0"/>
                </a:lnTo>
              </a:path>
            </a:pathLst>
          </a:custGeom>
          <a:noFill/>
          <a:ln w="11430">
            <a:solidFill>
              <a:srgbClr val="C8998F"/>
            </a:solidFill>
            <a:custDash>
              <a:ds d="250000" sp="250000"/>
            </a:custDash>
          </a:ln>
        </p:spPr>
      </p:sp>
      <p:grpSp>
        <p:nvGrpSpPr>
          <p:cNvPr id="100" name="tasks"/>
          <p:cNvGrpSpPr/>
          <p:nvPr/>
        </p:nvGrpSpPr>
        <p:grpSpPr>
          <a:xfrm>
            <a:off x="4714875" y="1704975"/>
            <a:ext cx="2286000" cy="4257675"/>
            <a:chOff x="4714875" y="1704975"/>
            <a:chExt cx="2286000" cy="4257675"/>
          </a:xfrm>
        </p:grpSpPr>
        <p:sp>
          <p:nvSpPr>
            <p:cNvPr id="85" name="Rectangle 85"/>
            <p:cNvSpPr/>
            <p:nvPr/>
          </p:nvSpPr>
          <p:spPr>
            <a:xfrm>
              <a:off x="4714875" y="1704975"/>
              <a:ext cx="2286000" cy="533400"/>
            </a:xfrm>
            <a:prstGeom prst="rect">
              <a:avLst/>
            </a:prstGeom>
            <a:solidFill>
              <a:srgbClr val="EFF3FA"/>
            </a:solidFill>
            <a:ln w="9525">
              <a:solidFill>
                <a:srgbClr val="C7D2E4"/>
              </a:solidFill>
            </a:ln>
          </p:spPr>
        </p:sp>
        <p:sp>
          <p:nvSpPr>
            <p:cNvPr id="86" name="TextBox 86"/>
            <p:cNvSpPr txBox="1"/>
            <p:nvPr/>
          </p:nvSpPr>
          <p:spPr>
            <a:xfrm>
              <a:off x="4843462" y="1841659"/>
              <a:ext cx="1367307"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价格是否下降？下降幅度多少？</a:t>
              </a:r>
            </a:p>
          </p:txBody>
        </p:sp>
        <p:sp>
          <p:nvSpPr>
            <p:cNvPr id="87" name="TextBox 87"/>
            <p:cNvSpPr txBox="1"/>
            <p:nvPr/>
          </p:nvSpPr>
          <p:spPr>
            <a:xfrm>
              <a:off x="4843462" y="2013109"/>
              <a:ext cx="1559545"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不同产品/渠道/区域价格变化如何？</a:t>
              </a:r>
            </a:p>
          </p:txBody>
        </p:sp>
        <p:sp>
          <p:nvSpPr>
            <p:cNvPr id="88" name="Rectangle 88"/>
            <p:cNvSpPr/>
            <p:nvPr/>
          </p:nvSpPr>
          <p:spPr>
            <a:xfrm>
              <a:off x="4714875" y="2628900"/>
              <a:ext cx="2286000" cy="533400"/>
            </a:xfrm>
            <a:prstGeom prst="rect">
              <a:avLst/>
            </a:prstGeom>
            <a:solidFill>
              <a:srgbClr val="EFF3FA"/>
            </a:solidFill>
            <a:ln w="9525">
              <a:solidFill>
                <a:srgbClr val="C7D2E4"/>
              </a:solidFill>
            </a:ln>
          </p:spPr>
        </p:sp>
        <p:sp>
          <p:nvSpPr>
            <p:cNvPr id="89" name="TextBox 89"/>
            <p:cNvSpPr txBox="1"/>
            <p:nvPr/>
          </p:nvSpPr>
          <p:spPr>
            <a:xfrm>
              <a:off x="4843462" y="2765584"/>
              <a:ext cx="1367307"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销量是否下降？下降幅度多少？</a:t>
              </a:r>
            </a:p>
          </p:txBody>
        </p:sp>
        <p:sp>
          <p:nvSpPr>
            <p:cNvPr id="90" name="TextBox 90"/>
            <p:cNvSpPr txBox="1"/>
            <p:nvPr/>
          </p:nvSpPr>
          <p:spPr>
            <a:xfrm>
              <a:off x="4843462" y="2937034"/>
              <a:ext cx="1559545"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不同产品/渠道/区域销量变化如何？</a:t>
              </a:r>
            </a:p>
          </p:txBody>
        </p:sp>
        <p:sp>
          <p:nvSpPr>
            <p:cNvPr id="91" name="Rectangle 91"/>
            <p:cNvSpPr/>
            <p:nvPr/>
          </p:nvSpPr>
          <p:spPr>
            <a:xfrm>
              <a:off x="4714875" y="3533775"/>
              <a:ext cx="2286000" cy="533400"/>
            </a:xfrm>
            <a:prstGeom prst="rect">
              <a:avLst/>
            </a:prstGeom>
            <a:solidFill>
              <a:srgbClr val="EFF3FA"/>
            </a:solidFill>
            <a:ln w="9525">
              <a:solidFill>
                <a:srgbClr val="C7D2E4"/>
              </a:solidFill>
            </a:ln>
          </p:spPr>
        </p:sp>
        <p:sp>
          <p:nvSpPr>
            <p:cNvPr id="92" name="TextBox 92"/>
            <p:cNvSpPr txBox="1"/>
            <p:nvPr/>
          </p:nvSpPr>
          <p:spPr>
            <a:xfrm>
              <a:off x="4843462" y="3670459"/>
              <a:ext cx="909599"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产品结构是否恶化？</a:t>
              </a:r>
            </a:p>
          </p:txBody>
        </p:sp>
        <p:sp>
          <p:nvSpPr>
            <p:cNvPr id="93" name="TextBox 93"/>
            <p:cNvSpPr txBox="1"/>
            <p:nvPr/>
          </p:nvSpPr>
          <p:spPr>
            <a:xfrm>
              <a:off x="4843462" y="3841909"/>
              <a:ext cx="1184224"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高毛利产品占比是否下降？</a:t>
              </a:r>
            </a:p>
          </p:txBody>
        </p:sp>
        <p:sp>
          <p:nvSpPr>
            <p:cNvPr id="94" name="Rectangle 94"/>
            <p:cNvSpPr/>
            <p:nvPr/>
          </p:nvSpPr>
          <p:spPr>
            <a:xfrm>
              <a:off x="4714875" y="4467225"/>
              <a:ext cx="2286000" cy="533400"/>
            </a:xfrm>
            <a:prstGeom prst="rect">
              <a:avLst/>
            </a:prstGeom>
            <a:solidFill>
              <a:srgbClr val="EFF3FA"/>
            </a:solidFill>
            <a:ln w="9525">
              <a:solidFill>
                <a:srgbClr val="C7D2E4"/>
              </a:solidFill>
            </a:ln>
          </p:spPr>
        </p:sp>
        <p:sp>
          <p:nvSpPr>
            <p:cNvPr id="95" name="TextBox 95"/>
            <p:cNvSpPr txBox="1"/>
            <p:nvPr/>
          </p:nvSpPr>
          <p:spPr>
            <a:xfrm>
              <a:off x="4843462" y="4603909"/>
              <a:ext cx="909599"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固定成本是否上升？</a:t>
              </a:r>
            </a:p>
          </p:txBody>
        </p:sp>
        <p:sp>
          <p:nvSpPr>
            <p:cNvPr id="96" name="TextBox 96"/>
            <p:cNvSpPr txBox="1"/>
            <p:nvPr/>
          </p:nvSpPr>
          <p:spPr>
            <a:xfrm>
              <a:off x="4843462" y="4775359"/>
              <a:ext cx="1367307"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驱动因素是什么？可控性如何？</a:t>
              </a:r>
            </a:p>
          </p:txBody>
        </p:sp>
        <p:sp>
          <p:nvSpPr>
            <p:cNvPr id="97" name="Rectangle 97"/>
            <p:cNvSpPr/>
            <p:nvPr/>
          </p:nvSpPr>
          <p:spPr>
            <a:xfrm>
              <a:off x="4714875" y="5429250"/>
              <a:ext cx="2286000" cy="533400"/>
            </a:xfrm>
            <a:prstGeom prst="rect">
              <a:avLst/>
            </a:prstGeom>
            <a:solidFill>
              <a:srgbClr val="EFF3FA"/>
            </a:solidFill>
            <a:ln w="9525">
              <a:solidFill>
                <a:srgbClr val="C7D2E4"/>
              </a:solidFill>
            </a:ln>
          </p:spPr>
        </p:sp>
        <p:sp>
          <p:nvSpPr>
            <p:cNvPr id="98" name="TextBox 98"/>
            <p:cNvSpPr txBox="1"/>
            <p:nvPr/>
          </p:nvSpPr>
          <p:spPr>
            <a:xfrm>
              <a:off x="4843462" y="5565934"/>
              <a:ext cx="1092683"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单位变动成本是否上升？</a:t>
              </a:r>
            </a:p>
          </p:txBody>
        </p:sp>
        <p:sp>
          <p:nvSpPr>
            <p:cNvPr id="99" name="TextBox 99"/>
            <p:cNvSpPr txBox="1"/>
            <p:nvPr/>
          </p:nvSpPr>
          <p:spPr>
            <a:xfrm>
              <a:off x="4843462" y="5737384"/>
              <a:ext cx="1458849"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驱动因素是什么？变化幅度多少？</a:t>
              </a:r>
            </a:p>
          </p:txBody>
        </p:sp>
      </p:grpSp>
      <p:grpSp>
        <p:nvGrpSpPr>
          <p:cNvPr id="116" name="datas"/>
          <p:cNvGrpSpPr/>
          <p:nvPr/>
        </p:nvGrpSpPr>
        <p:grpSpPr>
          <a:xfrm>
            <a:off x="7286625" y="1704975"/>
            <a:ext cx="2524125" cy="4257675"/>
            <a:chOff x="7286625" y="1704975"/>
            <a:chExt cx="2524125" cy="4257675"/>
          </a:xfrm>
        </p:grpSpPr>
        <p:sp>
          <p:nvSpPr>
            <p:cNvPr id="101" name="Rectangle 101"/>
            <p:cNvSpPr/>
            <p:nvPr/>
          </p:nvSpPr>
          <p:spPr>
            <a:xfrm>
              <a:off x="7286625" y="1704975"/>
              <a:ext cx="2524125" cy="533400"/>
            </a:xfrm>
            <a:prstGeom prst="rect">
              <a:avLst/>
            </a:prstGeom>
            <a:solidFill>
              <a:srgbClr val="FFFFFF"/>
            </a:solidFill>
            <a:ln w="9525">
              <a:solidFill>
                <a:srgbClr val="C7D2E4"/>
              </a:solidFill>
            </a:ln>
          </p:spPr>
        </p:sp>
        <p:sp>
          <p:nvSpPr>
            <p:cNvPr id="102" name="TextBox 102"/>
            <p:cNvSpPr txBox="1"/>
            <p:nvPr/>
          </p:nvSpPr>
          <p:spPr>
            <a:xfrm>
              <a:off x="7415212" y="1841659"/>
              <a:ext cx="1101837"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产品/渠道/区域价格清单</a:t>
              </a:r>
            </a:p>
          </p:txBody>
        </p:sp>
        <p:sp>
          <p:nvSpPr>
            <p:cNvPr id="103" name="TextBox 103"/>
            <p:cNvSpPr txBox="1"/>
            <p:nvPr/>
          </p:nvSpPr>
          <p:spPr>
            <a:xfrm>
              <a:off x="7415212" y="2013109"/>
              <a:ext cx="1234572"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价格变动对比（同比/环比）</a:t>
              </a:r>
            </a:p>
          </p:txBody>
        </p:sp>
        <p:sp>
          <p:nvSpPr>
            <p:cNvPr id="104" name="Rectangle 104"/>
            <p:cNvSpPr/>
            <p:nvPr/>
          </p:nvSpPr>
          <p:spPr>
            <a:xfrm>
              <a:off x="7286625" y="2628900"/>
              <a:ext cx="2524125" cy="533400"/>
            </a:xfrm>
            <a:prstGeom prst="rect">
              <a:avLst/>
            </a:prstGeom>
            <a:solidFill>
              <a:srgbClr val="FFFFFF"/>
            </a:solidFill>
            <a:ln w="9525">
              <a:solidFill>
                <a:srgbClr val="C7D2E4"/>
              </a:solidFill>
            </a:ln>
          </p:spPr>
        </p:sp>
        <p:sp>
          <p:nvSpPr>
            <p:cNvPr id="105" name="TextBox 105"/>
            <p:cNvSpPr txBox="1"/>
            <p:nvPr/>
          </p:nvSpPr>
          <p:spPr>
            <a:xfrm>
              <a:off x="7415212" y="2765584"/>
              <a:ext cx="1376462"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销量数据（按产品/渠道/区域）</a:t>
              </a:r>
            </a:p>
          </p:txBody>
        </p:sp>
        <p:sp>
          <p:nvSpPr>
            <p:cNvPr id="106" name="TextBox 106"/>
            <p:cNvSpPr txBox="1"/>
            <p:nvPr/>
          </p:nvSpPr>
          <p:spPr>
            <a:xfrm>
              <a:off x="7415212" y="2937034"/>
              <a:ext cx="1234572"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销量变动对比（同比/环比）</a:t>
              </a:r>
            </a:p>
          </p:txBody>
        </p:sp>
        <p:sp>
          <p:nvSpPr>
            <p:cNvPr id="107" name="Rectangle 107"/>
            <p:cNvSpPr/>
            <p:nvPr/>
          </p:nvSpPr>
          <p:spPr>
            <a:xfrm>
              <a:off x="7286625" y="3533775"/>
              <a:ext cx="2524125" cy="533400"/>
            </a:xfrm>
            <a:prstGeom prst="rect">
              <a:avLst/>
            </a:prstGeom>
            <a:solidFill>
              <a:srgbClr val="FFFFFF"/>
            </a:solidFill>
            <a:ln w="9525">
              <a:solidFill>
                <a:srgbClr val="C7D2E4"/>
              </a:solidFill>
            </a:ln>
          </p:spPr>
        </p:sp>
        <p:sp>
          <p:nvSpPr>
            <p:cNvPr id="108" name="TextBox 108"/>
            <p:cNvSpPr txBox="1"/>
            <p:nvPr/>
          </p:nvSpPr>
          <p:spPr>
            <a:xfrm>
              <a:off x="7415212" y="3670459"/>
              <a:ext cx="1376462"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收入结构（按产品/渠道/区域）</a:t>
              </a:r>
            </a:p>
          </p:txBody>
        </p:sp>
        <p:sp>
          <p:nvSpPr>
            <p:cNvPr id="109" name="TextBox 109"/>
            <p:cNvSpPr txBox="1"/>
            <p:nvPr/>
          </p:nvSpPr>
          <p:spPr>
            <a:xfrm>
              <a:off x="7415212" y="3841909"/>
              <a:ext cx="1092683"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各产品毛利率或贡献毛利</a:t>
              </a:r>
            </a:p>
          </p:txBody>
        </p:sp>
        <p:sp>
          <p:nvSpPr>
            <p:cNvPr id="110" name="Rectangle 110"/>
            <p:cNvSpPr/>
            <p:nvPr/>
          </p:nvSpPr>
          <p:spPr>
            <a:xfrm>
              <a:off x="7286625" y="4467225"/>
              <a:ext cx="2524125" cy="533400"/>
            </a:xfrm>
            <a:prstGeom prst="rect">
              <a:avLst/>
            </a:prstGeom>
            <a:solidFill>
              <a:srgbClr val="FFFFFF"/>
            </a:solidFill>
            <a:ln w="9525">
              <a:solidFill>
                <a:srgbClr val="C7D2E4"/>
              </a:solidFill>
            </a:ln>
          </p:spPr>
        </p:sp>
        <p:sp>
          <p:nvSpPr>
            <p:cNvPr id="111" name="TextBox 111"/>
            <p:cNvSpPr txBox="1"/>
            <p:nvPr/>
          </p:nvSpPr>
          <p:spPr>
            <a:xfrm>
              <a:off x="7415212" y="4603909"/>
              <a:ext cx="1092683"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固定成本明细（科目级）</a:t>
              </a:r>
            </a:p>
          </p:txBody>
        </p:sp>
        <p:sp>
          <p:nvSpPr>
            <p:cNvPr id="112" name="TextBox 112"/>
            <p:cNvSpPr txBox="1"/>
            <p:nvPr/>
          </p:nvSpPr>
          <p:spPr>
            <a:xfrm>
              <a:off x="7415212" y="4775359"/>
              <a:ext cx="909599"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期间对比及预算数据</a:t>
              </a:r>
            </a:p>
          </p:txBody>
        </p:sp>
        <p:sp>
          <p:nvSpPr>
            <p:cNvPr id="113" name="Rectangle 113"/>
            <p:cNvSpPr/>
            <p:nvPr/>
          </p:nvSpPr>
          <p:spPr>
            <a:xfrm>
              <a:off x="7286625" y="5429250"/>
              <a:ext cx="2524125" cy="533400"/>
            </a:xfrm>
            <a:prstGeom prst="rect">
              <a:avLst/>
            </a:prstGeom>
            <a:solidFill>
              <a:srgbClr val="FFFFFF"/>
            </a:solidFill>
            <a:ln w="9525">
              <a:solidFill>
                <a:srgbClr val="C7D2E4"/>
              </a:solidFill>
            </a:ln>
          </p:spPr>
        </p:sp>
        <p:sp>
          <p:nvSpPr>
            <p:cNvPr id="114" name="TextBox 114"/>
            <p:cNvSpPr txBox="1"/>
            <p:nvPr/>
          </p:nvSpPr>
          <p:spPr>
            <a:xfrm>
              <a:off x="7415212" y="5565934"/>
              <a:ext cx="1092683"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变动成本明细（科目级）</a:t>
              </a:r>
            </a:p>
          </p:txBody>
        </p:sp>
        <p:sp>
          <p:nvSpPr>
            <p:cNvPr id="115" name="TextBox 115"/>
            <p:cNvSpPr txBox="1"/>
            <p:nvPr/>
          </p:nvSpPr>
          <p:spPr>
            <a:xfrm>
              <a:off x="7415212" y="5737384"/>
              <a:ext cx="1001141" cy="133350"/>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80" dirty="0">
                  <a:solidFill>
                    <a:srgbClr val="453633"/>
                  </a:solidFill>
                  <a:latin typeface="+mn-lt"/>
                  <a:ea typeface="+mn-ea"/>
                  <a:cs typeface="+mn-cs"/>
                </a:rPr>
                <a:t>单位成本与驱动量数据</a:t>
              </a:r>
            </a:p>
          </p:txBody>
        </p:sp>
      </p:grpSp>
      <p:grpSp>
        <p:nvGrpSpPr>
          <p:cNvPr id="153" name="tree-types"/>
          <p:cNvGrpSpPr/>
          <p:nvPr/>
        </p:nvGrpSpPr>
        <p:grpSpPr>
          <a:xfrm>
            <a:off x="10048875" y="800100"/>
            <a:ext cx="1914525" cy="2628900"/>
            <a:chOff x="10048875" y="800100"/>
            <a:chExt cx="1914525" cy="2628900"/>
          </a:xfrm>
        </p:grpSpPr>
        <p:sp>
          <p:nvSpPr>
            <p:cNvPr id="117" name="Rectangle 117"/>
            <p:cNvSpPr/>
            <p:nvPr/>
          </p:nvSpPr>
          <p:spPr>
            <a:xfrm>
              <a:off x="10048875" y="800100"/>
              <a:ext cx="1914525" cy="838200"/>
            </a:xfrm>
            <a:prstGeom prst="roundRect">
              <a:avLst>
                <a:gd name="adj" fmla="val 4545"/>
              </a:avLst>
            </a:prstGeom>
            <a:solidFill>
              <a:srgbClr val="FFFFFF"/>
            </a:solidFill>
            <a:ln w="9525">
              <a:solidFill>
                <a:srgbClr val="C7D2E4"/>
              </a:solidFill>
            </a:ln>
          </p:spPr>
        </p:sp>
        <p:sp>
          <p:nvSpPr>
            <p:cNvPr id="118" name="Ellipse 118"/>
            <p:cNvSpPr/>
            <p:nvPr/>
          </p:nvSpPr>
          <p:spPr>
            <a:xfrm>
              <a:off x="10153650" y="923925"/>
              <a:ext cx="323850" cy="323850"/>
            </a:xfrm>
            <a:prstGeom prst="ellipse">
              <a:avLst/>
            </a:prstGeom>
            <a:solidFill>
              <a:srgbClr val="4E0D00"/>
            </a:solidFill>
            <a:ln>
              <a:noFill/>
            </a:ln>
          </p:spPr>
        </p:sp>
        <p:grpSp>
          <p:nvGrpSpPr>
            <p:cNvPr id="124" name="Group 124"/>
            <p:cNvGrpSpPr/>
            <p:nvPr/>
          </p:nvGrpSpPr>
          <p:grpSpPr>
            <a:xfrm>
              <a:off x="10251281" y="1021556"/>
              <a:ext cx="128588" cy="128588"/>
              <a:chOff x="10251281" y="1021556"/>
              <a:chExt cx="128588" cy="128588"/>
            </a:xfrm>
          </p:grpSpPr>
          <p:sp>
            <p:nvSpPr>
              <p:cNvPr id="119" name="Freeform 119"/>
              <p:cNvSpPr/>
              <p:nvPr/>
            </p:nvSpPr>
            <p:spPr>
              <a:xfrm>
                <a:off x="10301288" y="1021556"/>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120" name="Freeform 120"/>
              <p:cNvSpPr/>
              <p:nvPr/>
            </p:nvSpPr>
            <p:spPr>
              <a:xfrm>
                <a:off x="10251281" y="11215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121" name="Freeform 121"/>
              <p:cNvSpPr/>
              <p:nvPr/>
            </p:nvSpPr>
            <p:spPr>
              <a:xfrm>
                <a:off x="10351294" y="1121569"/>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122" name="Freeform 122"/>
              <p:cNvSpPr/>
              <p:nvPr/>
            </p:nvSpPr>
            <p:spPr>
              <a:xfrm>
                <a:off x="10276284" y="1092994"/>
                <a:ext cx="78581" cy="32147"/>
              </a:xfrm>
              <a:custGeom>
                <a:avLst/>
                <a:gdLst/>
                <a:ahLst/>
                <a:cxnLst/>
                <a:rect l="l" t="t" r="r" b="b"/>
                <a:pathLst>
                  <a:path w="78581" h="32147">
                    <a:moveTo>
                      <a:pt x="0" y="32147"/>
                    </a:moveTo>
                    <a:lnTo>
                      <a:pt x="39291" y="0"/>
                    </a:lnTo>
                    <a:lnTo>
                      <a:pt x="78581" y="32147"/>
                    </a:lnTo>
                  </a:path>
                </a:pathLst>
              </a:custGeom>
              <a:noFill/>
              <a:ln w="14288">
                <a:solidFill>
                  <a:srgbClr val="FFFFFF"/>
                </a:solidFill>
              </a:ln>
            </p:spPr>
          </p:sp>
          <p:sp>
            <p:nvSpPr>
              <p:cNvPr id="123" name="Freeform 123"/>
              <p:cNvSpPr/>
              <p:nvPr/>
            </p:nvSpPr>
            <p:spPr>
              <a:xfrm>
                <a:off x="10315575" y="1050131"/>
                <a:ext cx="9525" cy="42862"/>
              </a:xfrm>
              <a:custGeom>
                <a:avLst/>
                <a:gdLst/>
                <a:ahLst/>
                <a:cxnLst/>
                <a:rect l="l" t="t" r="r" b="b"/>
                <a:pathLst>
                  <a:path w="9525" h="42862">
                    <a:moveTo>
                      <a:pt x="0" y="0"/>
                    </a:moveTo>
                    <a:lnTo>
                      <a:pt x="0" y="42862"/>
                    </a:lnTo>
                  </a:path>
                </a:pathLst>
              </a:custGeom>
              <a:noFill/>
              <a:ln w="14288">
                <a:solidFill>
                  <a:srgbClr val="FFFFFF"/>
                </a:solidFill>
              </a:ln>
            </p:spPr>
          </p:sp>
        </p:grpSp>
        <p:sp>
          <p:nvSpPr>
            <p:cNvPr id="125" name="TextBox 125"/>
            <p:cNvSpPr txBox="1"/>
            <p:nvPr/>
          </p:nvSpPr>
          <p:spPr>
            <a:xfrm>
              <a:off x="10548938" y="965597"/>
              <a:ext cx="596857" cy="183356"/>
            </a:xfrm>
            <a:prstGeom prst="rect">
              <a:avLst/>
            </a:prstGeom>
            <a:noFill/>
            <a:ln>
              <a:noFill/>
            </a:ln>
          </p:spPr>
          <p:txBody>
            <a:bodyPr wrap="none" lIns="0" tIns="0" rIns="0" bIns="0" anchor="t" anchorCtr="0">
              <a:spAutoFit/>
            </a:bodyPr>
            <a:lstStyle/>
            <a:p>
              <a:pPr algn="l"/>
              <a:r>
                <a:rPr lang="en-US" sz="940" b="1" dirty="0">
                  <a:solidFill>
                    <a:srgbClr val="4E0D00"/>
                  </a:solidFill>
                  <a:latin typeface="+mn-lt"/>
                  <a:ea typeface="+mn-ea"/>
                  <a:cs typeface="+mn-cs"/>
                </a:rPr>
                <a:t>Why Tree</a:t>
              </a:r>
            </a:p>
          </p:txBody>
        </p:sp>
        <p:sp>
          <p:nvSpPr>
            <p:cNvPr id="126" name="TextBox 126"/>
            <p:cNvSpPr txBox="1"/>
            <p:nvPr/>
          </p:nvSpPr>
          <p:spPr>
            <a:xfrm>
              <a:off x="10548938" y="1165384"/>
              <a:ext cx="659470"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解释“为什么”：</a:t>
              </a:r>
            </a:p>
          </p:txBody>
        </p:sp>
        <p:sp>
          <p:nvSpPr>
            <p:cNvPr id="127" name="TextBox 127"/>
            <p:cNvSpPr txBox="1"/>
            <p:nvPr/>
          </p:nvSpPr>
          <p:spPr>
            <a:xfrm>
              <a:off x="10548938" y="1289209"/>
              <a:ext cx="1108024"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识别影响结果的根本原因，</a:t>
              </a:r>
            </a:p>
          </p:txBody>
        </p:sp>
        <p:sp>
          <p:nvSpPr>
            <p:cNvPr id="128" name="TextBox 128"/>
            <p:cNvSpPr txBox="1"/>
            <p:nvPr/>
          </p:nvSpPr>
          <p:spPr>
            <a:xfrm>
              <a:off x="10548938" y="1413034"/>
              <a:ext cx="650316"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用于诊断问题。</a:t>
              </a:r>
            </a:p>
          </p:txBody>
        </p:sp>
        <p:sp>
          <p:nvSpPr>
            <p:cNvPr id="129" name="Rectangle 129"/>
            <p:cNvSpPr/>
            <p:nvPr/>
          </p:nvSpPr>
          <p:spPr>
            <a:xfrm>
              <a:off x="10048875" y="1695450"/>
              <a:ext cx="1914525" cy="838200"/>
            </a:xfrm>
            <a:prstGeom prst="roundRect">
              <a:avLst>
                <a:gd name="adj" fmla="val 4545"/>
              </a:avLst>
            </a:prstGeom>
            <a:solidFill>
              <a:srgbClr val="FFFFFF"/>
            </a:solidFill>
            <a:ln w="9525">
              <a:solidFill>
                <a:srgbClr val="C7D2E4"/>
              </a:solidFill>
            </a:ln>
          </p:spPr>
        </p:sp>
        <p:sp>
          <p:nvSpPr>
            <p:cNvPr id="130" name="Ellipse 130"/>
            <p:cNvSpPr/>
            <p:nvPr/>
          </p:nvSpPr>
          <p:spPr>
            <a:xfrm>
              <a:off x="10153650" y="1819275"/>
              <a:ext cx="323850" cy="323850"/>
            </a:xfrm>
            <a:prstGeom prst="ellipse">
              <a:avLst/>
            </a:prstGeom>
            <a:solidFill>
              <a:srgbClr val="4E0D00"/>
            </a:solidFill>
            <a:ln>
              <a:noFill/>
            </a:ln>
          </p:spPr>
        </p:sp>
        <p:grpSp>
          <p:nvGrpSpPr>
            <p:cNvPr id="135" name="Group 135"/>
            <p:cNvGrpSpPr/>
            <p:nvPr/>
          </p:nvGrpSpPr>
          <p:grpSpPr>
            <a:xfrm>
              <a:off x="10251281" y="1924050"/>
              <a:ext cx="128588" cy="114300"/>
              <a:chOff x="10251281" y="1924050"/>
              <a:chExt cx="128588" cy="114300"/>
            </a:xfrm>
          </p:grpSpPr>
          <p:sp>
            <p:nvSpPr>
              <p:cNvPr id="131" name="Freeform 131"/>
              <p:cNvSpPr/>
              <p:nvPr/>
            </p:nvSpPr>
            <p:spPr>
              <a:xfrm>
                <a:off x="10251281" y="1945481"/>
                <a:ext cx="128588" cy="9525"/>
              </a:xfrm>
              <a:custGeom>
                <a:avLst/>
                <a:gdLst/>
                <a:ahLst/>
                <a:cxnLst/>
                <a:rect l="l" t="t" r="r" b="b"/>
                <a:pathLst>
                  <a:path w="128588" h="9525">
                    <a:moveTo>
                      <a:pt x="128588" y="0"/>
                    </a:moveTo>
                    <a:lnTo>
                      <a:pt x="0" y="0"/>
                    </a:lnTo>
                  </a:path>
                </a:pathLst>
              </a:custGeom>
              <a:noFill/>
              <a:ln w="14288">
                <a:solidFill>
                  <a:srgbClr val="FFFFFF"/>
                </a:solidFill>
              </a:ln>
            </p:spPr>
          </p:sp>
          <p:sp>
            <p:nvSpPr>
              <p:cNvPr id="132" name="Freeform 132"/>
              <p:cNvSpPr/>
              <p:nvPr/>
            </p:nvSpPr>
            <p:spPr>
              <a:xfrm>
                <a:off x="10358438" y="1924050"/>
                <a:ext cx="21431" cy="42862"/>
              </a:xfrm>
              <a:custGeom>
                <a:avLst/>
                <a:gdLst/>
                <a:ahLst/>
                <a:cxnLst/>
                <a:rect l="l" t="t" r="r" b="b"/>
                <a:pathLst>
                  <a:path w="21431" h="42862">
                    <a:moveTo>
                      <a:pt x="0" y="42862"/>
                    </a:moveTo>
                    <a:lnTo>
                      <a:pt x="21431" y="21431"/>
                    </a:lnTo>
                    <a:lnTo>
                      <a:pt x="0" y="0"/>
                    </a:lnTo>
                  </a:path>
                </a:pathLst>
              </a:custGeom>
              <a:noFill/>
              <a:ln w="14288">
                <a:solidFill>
                  <a:srgbClr val="FFFFFF"/>
                </a:solidFill>
              </a:ln>
            </p:spPr>
          </p:sp>
          <p:sp>
            <p:nvSpPr>
              <p:cNvPr id="133" name="Freeform 133"/>
              <p:cNvSpPr/>
              <p:nvPr/>
            </p:nvSpPr>
            <p:spPr>
              <a:xfrm>
                <a:off x="10251281" y="1995488"/>
                <a:ext cx="21431" cy="42862"/>
              </a:xfrm>
              <a:custGeom>
                <a:avLst/>
                <a:gdLst/>
                <a:ahLst/>
                <a:cxnLst/>
                <a:rect l="l" t="t" r="r" b="b"/>
                <a:pathLst>
                  <a:path w="21431" h="42862">
                    <a:moveTo>
                      <a:pt x="21431" y="42862"/>
                    </a:moveTo>
                    <a:lnTo>
                      <a:pt x="0" y="21431"/>
                    </a:lnTo>
                    <a:lnTo>
                      <a:pt x="21431" y="0"/>
                    </a:lnTo>
                  </a:path>
                </a:pathLst>
              </a:custGeom>
              <a:noFill/>
              <a:ln w="14288">
                <a:solidFill>
                  <a:srgbClr val="FFFFFF"/>
                </a:solidFill>
              </a:ln>
            </p:spPr>
          </p:sp>
          <p:sp>
            <p:nvSpPr>
              <p:cNvPr id="134" name="Freeform 134"/>
              <p:cNvSpPr/>
              <p:nvPr/>
            </p:nvSpPr>
            <p:spPr>
              <a:xfrm>
                <a:off x="10251281" y="2016919"/>
                <a:ext cx="128588" cy="9525"/>
              </a:xfrm>
              <a:custGeom>
                <a:avLst/>
                <a:gdLst/>
                <a:ahLst/>
                <a:cxnLst/>
                <a:rect l="l" t="t" r="r" b="b"/>
                <a:pathLst>
                  <a:path w="128588" h="9525">
                    <a:moveTo>
                      <a:pt x="0" y="0"/>
                    </a:moveTo>
                    <a:lnTo>
                      <a:pt x="128588" y="0"/>
                    </a:lnTo>
                  </a:path>
                </a:pathLst>
              </a:custGeom>
              <a:noFill/>
              <a:ln w="14288">
                <a:solidFill>
                  <a:srgbClr val="FFFFFF"/>
                </a:solidFill>
              </a:ln>
            </p:spPr>
          </p:sp>
        </p:grpSp>
        <p:sp>
          <p:nvSpPr>
            <p:cNvPr id="136" name="TextBox 136"/>
            <p:cNvSpPr txBox="1"/>
            <p:nvPr/>
          </p:nvSpPr>
          <p:spPr>
            <a:xfrm>
              <a:off x="10548938" y="1860947"/>
              <a:ext cx="596857" cy="183356"/>
            </a:xfrm>
            <a:prstGeom prst="rect">
              <a:avLst/>
            </a:prstGeom>
            <a:noFill/>
            <a:ln>
              <a:noFill/>
            </a:ln>
          </p:spPr>
          <p:txBody>
            <a:bodyPr wrap="none" lIns="0" tIns="0" rIns="0" bIns="0" anchor="t" anchorCtr="0">
              <a:spAutoFit/>
            </a:bodyPr>
            <a:lstStyle/>
            <a:p>
              <a:pPr algn="l"/>
              <a:r>
                <a:rPr lang="en-US" sz="940" b="1" dirty="0">
                  <a:solidFill>
                    <a:srgbClr val="4E0D00"/>
                  </a:solidFill>
                  <a:latin typeface="+mn-lt"/>
                  <a:ea typeface="+mn-ea"/>
                  <a:cs typeface="+mn-cs"/>
                </a:rPr>
                <a:t>How Tree</a:t>
              </a:r>
            </a:p>
          </p:txBody>
        </p:sp>
        <p:sp>
          <p:nvSpPr>
            <p:cNvPr id="137" name="TextBox 137"/>
            <p:cNvSpPr txBox="1"/>
            <p:nvPr/>
          </p:nvSpPr>
          <p:spPr>
            <a:xfrm>
              <a:off x="10548938" y="2060734"/>
              <a:ext cx="659470"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解释“如何做”：</a:t>
              </a:r>
            </a:p>
          </p:txBody>
        </p:sp>
        <p:sp>
          <p:nvSpPr>
            <p:cNvPr id="138" name="TextBox 138"/>
            <p:cNvSpPr txBox="1"/>
            <p:nvPr/>
          </p:nvSpPr>
          <p:spPr>
            <a:xfrm>
              <a:off x="10548938" y="2184559"/>
              <a:ext cx="92494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拆解流程或方案，明确</a:t>
              </a:r>
            </a:p>
          </p:txBody>
        </p:sp>
        <p:sp>
          <p:nvSpPr>
            <p:cNvPr id="139" name="TextBox 139"/>
            <p:cNvSpPr txBox="1"/>
            <p:nvPr/>
          </p:nvSpPr>
          <p:spPr>
            <a:xfrm>
              <a:off x="10548938" y="2308384"/>
              <a:ext cx="92494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关键步骤与驱动因素。</a:t>
              </a:r>
            </a:p>
          </p:txBody>
        </p:sp>
        <p:sp>
          <p:nvSpPr>
            <p:cNvPr id="140" name="Rectangle 140"/>
            <p:cNvSpPr/>
            <p:nvPr/>
          </p:nvSpPr>
          <p:spPr>
            <a:xfrm>
              <a:off x="10048875" y="2590800"/>
              <a:ext cx="1914525" cy="838200"/>
            </a:xfrm>
            <a:prstGeom prst="roundRect">
              <a:avLst>
                <a:gd name="adj" fmla="val 4545"/>
              </a:avLst>
            </a:prstGeom>
            <a:solidFill>
              <a:srgbClr val="FFFFFF"/>
            </a:solidFill>
            <a:ln w="9525">
              <a:solidFill>
                <a:srgbClr val="C7D2E4"/>
              </a:solidFill>
            </a:ln>
          </p:spPr>
        </p:sp>
        <p:sp>
          <p:nvSpPr>
            <p:cNvPr id="141" name="Ellipse 141"/>
            <p:cNvSpPr/>
            <p:nvPr/>
          </p:nvSpPr>
          <p:spPr>
            <a:xfrm>
              <a:off x="10153650" y="2714625"/>
              <a:ext cx="323850" cy="323850"/>
            </a:xfrm>
            <a:prstGeom prst="ellipse">
              <a:avLst/>
            </a:prstGeom>
            <a:solidFill>
              <a:srgbClr val="4E0D00"/>
            </a:solidFill>
            <a:ln>
              <a:noFill/>
            </a:ln>
          </p:spPr>
        </p:sp>
        <p:grpSp>
          <p:nvGrpSpPr>
            <p:cNvPr id="148" name="Group 148"/>
            <p:cNvGrpSpPr/>
            <p:nvPr/>
          </p:nvGrpSpPr>
          <p:grpSpPr>
            <a:xfrm>
              <a:off x="10254853" y="2822972"/>
              <a:ext cx="117872" cy="105965"/>
              <a:chOff x="10254853" y="2822972"/>
              <a:chExt cx="117872" cy="105965"/>
            </a:xfrm>
          </p:grpSpPr>
          <p:sp>
            <p:nvSpPr>
              <p:cNvPr id="142" name="Freeform 142"/>
              <p:cNvSpPr/>
              <p:nvPr/>
            </p:nvSpPr>
            <p:spPr>
              <a:xfrm>
                <a:off x="10254853" y="2822972"/>
                <a:ext cx="28575" cy="17859"/>
              </a:xfrm>
              <a:custGeom>
                <a:avLst/>
                <a:gdLst/>
                <a:ahLst/>
                <a:cxnLst/>
                <a:rect l="l" t="t" r="r" b="b"/>
                <a:pathLst>
                  <a:path w="28575" h="17859">
                    <a:moveTo>
                      <a:pt x="0" y="7144"/>
                    </a:moveTo>
                    <a:lnTo>
                      <a:pt x="10716" y="17859"/>
                    </a:lnTo>
                    <a:lnTo>
                      <a:pt x="28575" y="0"/>
                    </a:lnTo>
                  </a:path>
                </a:pathLst>
              </a:custGeom>
              <a:noFill/>
              <a:ln w="14288">
                <a:solidFill>
                  <a:srgbClr val="FFFFFF"/>
                </a:solidFill>
              </a:ln>
            </p:spPr>
          </p:sp>
          <p:sp>
            <p:nvSpPr>
              <p:cNvPr id="143" name="Freeform 143"/>
              <p:cNvSpPr/>
              <p:nvPr/>
            </p:nvSpPr>
            <p:spPr>
              <a:xfrm>
                <a:off x="10254853" y="2865834"/>
                <a:ext cx="28575" cy="17859"/>
              </a:xfrm>
              <a:custGeom>
                <a:avLst/>
                <a:gdLst/>
                <a:ahLst/>
                <a:cxnLst/>
                <a:rect l="l" t="t" r="r" b="b"/>
                <a:pathLst>
                  <a:path w="28575" h="17859">
                    <a:moveTo>
                      <a:pt x="0" y="7144"/>
                    </a:moveTo>
                    <a:lnTo>
                      <a:pt x="10716" y="17859"/>
                    </a:lnTo>
                    <a:lnTo>
                      <a:pt x="28575" y="0"/>
                    </a:lnTo>
                  </a:path>
                </a:pathLst>
              </a:custGeom>
              <a:noFill/>
              <a:ln w="14288">
                <a:solidFill>
                  <a:srgbClr val="FFFFFF"/>
                </a:solidFill>
              </a:ln>
            </p:spPr>
          </p:sp>
          <p:sp>
            <p:nvSpPr>
              <p:cNvPr id="144" name="Freeform 144"/>
              <p:cNvSpPr/>
              <p:nvPr/>
            </p:nvSpPr>
            <p:spPr>
              <a:xfrm>
                <a:off x="10254853" y="2908697"/>
                <a:ext cx="28575" cy="17859"/>
              </a:xfrm>
              <a:custGeom>
                <a:avLst/>
                <a:gdLst/>
                <a:ahLst/>
                <a:cxnLst/>
                <a:rect l="l" t="t" r="r" b="b"/>
                <a:pathLst>
                  <a:path w="28575" h="17859">
                    <a:moveTo>
                      <a:pt x="0" y="7144"/>
                    </a:moveTo>
                    <a:lnTo>
                      <a:pt x="10716" y="17859"/>
                    </a:lnTo>
                    <a:lnTo>
                      <a:pt x="28575" y="0"/>
                    </a:lnTo>
                  </a:path>
                </a:pathLst>
              </a:custGeom>
              <a:noFill/>
              <a:ln w="14288">
                <a:solidFill>
                  <a:srgbClr val="FFFFFF"/>
                </a:solidFill>
              </a:ln>
            </p:spPr>
          </p:sp>
          <p:sp>
            <p:nvSpPr>
              <p:cNvPr id="145" name="Freeform 145"/>
              <p:cNvSpPr/>
              <p:nvPr/>
            </p:nvSpPr>
            <p:spPr>
              <a:xfrm>
                <a:off x="10308431" y="2833688"/>
                <a:ext cx="64294" cy="9525"/>
              </a:xfrm>
              <a:custGeom>
                <a:avLst/>
                <a:gdLst/>
                <a:ahLst/>
                <a:cxnLst/>
                <a:rect l="l" t="t" r="r" b="b"/>
                <a:pathLst>
                  <a:path w="64294" h="9525">
                    <a:moveTo>
                      <a:pt x="0" y="0"/>
                    </a:moveTo>
                    <a:lnTo>
                      <a:pt x="64294" y="0"/>
                    </a:lnTo>
                  </a:path>
                </a:pathLst>
              </a:custGeom>
              <a:noFill/>
              <a:ln w="14288">
                <a:solidFill>
                  <a:srgbClr val="FFFFFF"/>
                </a:solidFill>
              </a:ln>
            </p:spPr>
          </p:sp>
          <p:sp>
            <p:nvSpPr>
              <p:cNvPr id="146" name="Freeform 146"/>
              <p:cNvSpPr/>
              <p:nvPr/>
            </p:nvSpPr>
            <p:spPr>
              <a:xfrm>
                <a:off x="10308431" y="2876550"/>
                <a:ext cx="64294" cy="9525"/>
              </a:xfrm>
              <a:custGeom>
                <a:avLst/>
                <a:gdLst/>
                <a:ahLst/>
                <a:cxnLst/>
                <a:rect l="l" t="t" r="r" b="b"/>
                <a:pathLst>
                  <a:path w="64294" h="9525">
                    <a:moveTo>
                      <a:pt x="0" y="0"/>
                    </a:moveTo>
                    <a:lnTo>
                      <a:pt x="64294" y="0"/>
                    </a:lnTo>
                  </a:path>
                </a:pathLst>
              </a:custGeom>
              <a:noFill/>
              <a:ln w="14288">
                <a:solidFill>
                  <a:srgbClr val="FFFFFF"/>
                </a:solidFill>
              </a:ln>
            </p:spPr>
          </p:sp>
          <p:sp>
            <p:nvSpPr>
              <p:cNvPr id="147" name="Freeform 147"/>
              <p:cNvSpPr/>
              <p:nvPr/>
            </p:nvSpPr>
            <p:spPr>
              <a:xfrm>
                <a:off x="10308431" y="2919412"/>
                <a:ext cx="64294" cy="9525"/>
              </a:xfrm>
              <a:custGeom>
                <a:avLst/>
                <a:gdLst/>
                <a:ahLst/>
                <a:cxnLst/>
                <a:rect l="l" t="t" r="r" b="b"/>
                <a:pathLst>
                  <a:path w="64294" h="9525">
                    <a:moveTo>
                      <a:pt x="0" y="0"/>
                    </a:moveTo>
                    <a:lnTo>
                      <a:pt x="64294" y="0"/>
                    </a:lnTo>
                  </a:path>
                </a:pathLst>
              </a:custGeom>
              <a:noFill/>
              <a:ln w="14288">
                <a:solidFill>
                  <a:srgbClr val="FFFFFF"/>
                </a:solidFill>
              </a:ln>
            </p:spPr>
          </p:sp>
        </p:grpSp>
        <p:sp>
          <p:nvSpPr>
            <p:cNvPr id="149" name="TextBox 149"/>
            <p:cNvSpPr txBox="1"/>
            <p:nvPr/>
          </p:nvSpPr>
          <p:spPr>
            <a:xfrm>
              <a:off x="10548938" y="2756297"/>
              <a:ext cx="669801" cy="183356"/>
            </a:xfrm>
            <a:prstGeom prst="rect">
              <a:avLst/>
            </a:prstGeom>
            <a:noFill/>
            <a:ln>
              <a:noFill/>
            </a:ln>
          </p:spPr>
          <p:txBody>
            <a:bodyPr wrap="none" lIns="0" tIns="0" rIns="0" bIns="0" anchor="t" anchorCtr="0">
              <a:spAutoFit/>
            </a:bodyPr>
            <a:lstStyle/>
            <a:p>
              <a:pPr algn="l"/>
              <a:r>
                <a:rPr lang="en-US" sz="940" b="1" dirty="0">
                  <a:solidFill>
                    <a:srgbClr val="4E0D00"/>
                  </a:solidFill>
                  <a:latin typeface="+mn-lt"/>
                  <a:ea typeface="+mn-ea"/>
                  <a:cs typeface="+mn-cs"/>
                </a:rPr>
                <a:t>What Tree</a:t>
              </a:r>
            </a:p>
          </p:txBody>
        </p:sp>
        <p:sp>
          <p:nvSpPr>
            <p:cNvPr id="150" name="TextBox 150"/>
            <p:cNvSpPr txBox="1"/>
            <p:nvPr/>
          </p:nvSpPr>
          <p:spPr>
            <a:xfrm>
              <a:off x="10548938" y="2956084"/>
              <a:ext cx="659470"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解释“有哪些”：</a:t>
              </a:r>
            </a:p>
          </p:txBody>
        </p:sp>
        <p:sp>
          <p:nvSpPr>
            <p:cNvPr id="151" name="TextBox 151"/>
            <p:cNvSpPr txBox="1"/>
            <p:nvPr/>
          </p:nvSpPr>
          <p:spPr>
            <a:xfrm>
              <a:off x="10548938" y="3079909"/>
              <a:ext cx="92494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穷举构成要素或选项，</a:t>
              </a:r>
            </a:p>
          </p:txBody>
        </p:sp>
        <p:sp>
          <p:nvSpPr>
            <p:cNvPr id="152" name="TextBox 152"/>
            <p:cNvSpPr txBox="1"/>
            <p:nvPr/>
          </p:nvSpPr>
          <p:spPr>
            <a:xfrm>
              <a:off x="10548938" y="3203734"/>
              <a:ext cx="741858"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确保完整不遗漏。</a:t>
              </a:r>
            </a:p>
          </p:txBody>
        </p:sp>
      </p:grpSp>
      <p:grpSp>
        <p:nvGrpSpPr>
          <p:cNvPr id="171" name="checklist"/>
          <p:cNvGrpSpPr/>
          <p:nvPr/>
        </p:nvGrpSpPr>
        <p:grpSpPr>
          <a:xfrm>
            <a:off x="10048875" y="3581400"/>
            <a:ext cx="1914525" cy="1733550"/>
            <a:chOff x="10048875" y="3581400"/>
            <a:chExt cx="1914525" cy="1733550"/>
          </a:xfrm>
        </p:grpSpPr>
        <p:sp>
          <p:nvSpPr>
            <p:cNvPr id="154" name="Rectangle 154"/>
            <p:cNvSpPr/>
            <p:nvPr/>
          </p:nvSpPr>
          <p:spPr>
            <a:xfrm>
              <a:off x="10048875" y="3581400"/>
              <a:ext cx="1914525" cy="1733550"/>
            </a:xfrm>
            <a:prstGeom prst="rect">
              <a:avLst/>
            </a:prstGeom>
            <a:solidFill>
              <a:srgbClr val="F7F9FC"/>
            </a:solidFill>
            <a:ln w="9525">
              <a:solidFill>
                <a:srgbClr val="C7D2E4"/>
              </a:solidFill>
            </a:ln>
          </p:spPr>
        </p:sp>
        <p:grpSp>
          <p:nvGrpSpPr>
            <p:cNvPr id="157" name="Group 157"/>
            <p:cNvGrpSpPr/>
            <p:nvPr/>
          </p:nvGrpSpPr>
          <p:grpSpPr>
            <a:xfrm>
              <a:off x="10182225" y="3810000"/>
              <a:ext cx="114300" cy="114300"/>
              <a:chOff x="10182225" y="3810000"/>
              <a:chExt cx="114300" cy="114300"/>
            </a:xfrm>
          </p:grpSpPr>
          <p:sp>
            <p:nvSpPr>
              <p:cNvPr id="155" name="Freeform 155"/>
              <p:cNvSpPr/>
              <p:nvPr/>
            </p:nvSpPr>
            <p:spPr>
              <a:xfrm>
                <a:off x="10182225" y="38100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4E0D00"/>
                </a:solidFill>
              </a:ln>
            </p:spPr>
          </p:sp>
          <p:sp>
            <p:nvSpPr>
              <p:cNvPr id="156" name="Freeform 156"/>
              <p:cNvSpPr/>
              <p:nvPr/>
            </p:nvSpPr>
            <p:spPr>
              <a:xfrm>
                <a:off x="10220325" y="3854450"/>
                <a:ext cx="38100" cy="25400"/>
              </a:xfrm>
              <a:custGeom>
                <a:avLst/>
                <a:gdLst/>
                <a:ahLst/>
                <a:cxnLst/>
                <a:rect l="l" t="t" r="r" b="b"/>
                <a:pathLst>
                  <a:path w="38100" h="25400">
                    <a:moveTo>
                      <a:pt x="0" y="12700"/>
                    </a:moveTo>
                    <a:lnTo>
                      <a:pt x="12700" y="25400"/>
                    </a:lnTo>
                    <a:lnTo>
                      <a:pt x="38100" y="0"/>
                    </a:lnTo>
                  </a:path>
                </a:pathLst>
              </a:custGeom>
              <a:noFill/>
              <a:ln w="12700">
                <a:solidFill>
                  <a:srgbClr val="4E0D00"/>
                </a:solidFill>
              </a:ln>
            </p:spPr>
          </p:sp>
        </p:grpSp>
        <p:sp>
          <p:nvSpPr>
            <p:cNvPr id="158" name="TextBox 158"/>
            <p:cNvSpPr txBox="1"/>
            <p:nvPr/>
          </p:nvSpPr>
          <p:spPr>
            <a:xfrm>
              <a:off x="10377488" y="3837861"/>
              <a:ext cx="1367972" cy="140494"/>
            </a:xfrm>
            <a:prstGeom prst="rect">
              <a:avLst/>
            </a:prstGeom>
            <a:noFill/>
            <a:ln>
              <a:noFill/>
            </a:ln>
          </p:spPr>
          <p:txBody>
            <a:bodyPr wrap="none" lIns="0" tIns="0" rIns="0" bIns="0" anchor="t" anchorCtr="0">
              <a:spAutoFit/>
            </a:bodyPr>
            <a:lstStyle/>
            <a:p>
              <a:pPr algn="l"/>
              <a:r>
                <a:rPr lang="en-US" sz="710" b="1" dirty="0">
                  <a:solidFill>
                    <a:srgbClr val="4E0D00"/>
                  </a:solidFill>
                  <a:latin typeface="+mn-lt"/>
                  <a:ea typeface="+mn-ea"/>
                  <a:cs typeface="+mn-cs"/>
                </a:rPr>
                <a:t>MECE</a:t>
              </a:r>
              <a:r>
                <a:rPr lang="zh-CN" sz="710" dirty="0">
                  <a:solidFill>
                    <a:srgbClr val="453633"/>
                  </a:solidFill>
                  <a:latin typeface="+mn-lt"/>
                  <a:ea typeface="+mn-ea"/>
                  <a:cs typeface="+mn-cs"/>
                </a:rPr>
                <a:t>（相互独立，完全穷尽）​</a:t>
              </a:r>
            </a:p>
          </p:txBody>
        </p:sp>
        <p:grpSp>
          <p:nvGrpSpPr>
            <p:cNvPr id="161" name="Group 161"/>
            <p:cNvGrpSpPr/>
            <p:nvPr/>
          </p:nvGrpSpPr>
          <p:grpSpPr>
            <a:xfrm>
              <a:off x="10182225" y="4191000"/>
              <a:ext cx="114300" cy="114300"/>
              <a:chOff x="10182225" y="4191000"/>
              <a:chExt cx="114300" cy="114300"/>
            </a:xfrm>
          </p:grpSpPr>
          <p:sp>
            <p:nvSpPr>
              <p:cNvPr id="159" name="Freeform 159"/>
              <p:cNvSpPr/>
              <p:nvPr/>
            </p:nvSpPr>
            <p:spPr>
              <a:xfrm>
                <a:off x="10182225" y="41910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4E0D00"/>
                </a:solidFill>
              </a:ln>
            </p:spPr>
          </p:sp>
          <p:sp>
            <p:nvSpPr>
              <p:cNvPr id="160" name="Freeform 160"/>
              <p:cNvSpPr/>
              <p:nvPr/>
            </p:nvSpPr>
            <p:spPr>
              <a:xfrm>
                <a:off x="10220325" y="4235450"/>
                <a:ext cx="38100" cy="25400"/>
              </a:xfrm>
              <a:custGeom>
                <a:avLst/>
                <a:gdLst/>
                <a:ahLst/>
                <a:cxnLst/>
                <a:rect l="l" t="t" r="r" b="b"/>
                <a:pathLst>
                  <a:path w="38100" h="25400">
                    <a:moveTo>
                      <a:pt x="0" y="12700"/>
                    </a:moveTo>
                    <a:lnTo>
                      <a:pt x="12700" y="25400"/>
                    </a:lnTo>
                    <a:lnTo>
                      <a:pt x="38100" y="0"/>
                    </a:lnTo>
                  </a:path>
                </a:pathLst>
              </a:custGeom>
              <a:noFill/>
              <a:ln w="12700">
                <a:solidFill>
                  <a:srgbClr val="4E0D00"/>
                </a:solidFill>
              </a:ln>
            </p:spPr>
          </p:sp>
        </p:grpSp>
        <p:sp>
          <p:nvSpPr>
            <p:cNvPr id="162" name="TextBox 162"/>
            <p:cNvSpPr txBox="1"/>
            <p:nvPr/>
          </p:nvSpPr>
          <p:spPr>
            <a:xfrm>
              <a:off x="10377488" y="4218861"/>
              <a:ext cx="1060907"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可验证</a:t>
              </a:r>
              <a:r>
                <a:rPr lang="zh-CN" sz="710" dirty="0">
                  <a:solidFill>
                    <a:srgbClr val="453633"/>
                  </a:solidFill>
                  <a:latin typeface="+mn-lt"/>
                  <a:ea typeface="+mn-ea"/>
                  <a:cs typeface="+mn-cs"/>
                </a:rPr>
                <a:t>（有数据可验证）</a:t>
              </a:r>
            </a:p>
          </p:txBody>
        </p:sp>
        <p:grpSp>
          <p:nvGrpSpPr>
            <p:cNvPr id="165" name="Group 165"/>
            <p:cNvGrpSpPr/>
            <p:nvPr/>
          </p:nvGrpSpPr>
          <p:grpSpPr>
            <a:xfrm>
              <a:off x="10182225" y="4572000"/>
              <a:ext cx="114300" cy="114300"/>
              <a:chOff x="10182225" y="4572000"/>
              <a:chExt cx="114300" cy="114300"/>
            </a:xfrm>
          </p:grpSpPr>
          <p:sp>
            <p:nvSpPr>
              <p:cNvPr id="163" name="Freeform 163"/>
              <p:cNvSpPr/>
              <p:nvPr/>
            </p:nvSpPr>
            <p:spPr>
              <a:xfrm>
                <a:off x="10182225" y="45720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4E0D00"/>
                </a:solidFill>
              </a:ln>
            </p:spPr>
          </p:sp>
          <p:sp>
            <p:nvSpPr>
              <p:cNvPr id="164" name="Freeform 164"/>
              <p:cNvSpPr/>
              <p:nvPr/>
            </p:nvSpPr>
            <p:spPr>
              <a:xfrm>
                <a:off x="10220325" y="4616450"/>
                <a:ext cx="38100" cy="25400"/>
              </a:xfrm>
              <a:custGeom>
                <a:avLst/>
                <a:gdLst/>
                <a:ahLst/>
                <a:cxnLst/>
                <a:rect l="l" t="t" r="r" b="b"/>
                <a:pathLst>
                  <a:path w="38100" h="25400">
                    <a:moveTo>
                      <a:pt x="0" y="12700"/>
                    </a:moveTo>
                    <a:lnTo>
                      <a:pt x="12700" y="25400"/>
                    </a:lnTo>
                    <a:lnTo>
                      <a:pt x="38100" y="0"/>
                    </a:lnTo>
                  </a:path>
                </a:pathLst>
              </a:custGeom>
              <a:noFill/>
              <a:ln w="12700">
                <a:solidFill>
                  <a:srgbClr val="4E0D00"/>
                </a:solidFill>
              </a:ln>
            </p:spPr>
          </p:sp>
        </p:grpSp>
        <p:sp>
          <p:nvSpPr>
            <p:cNvPr id="166" name="TextBox 166"/>
            <p:cNvSpPr txBox="1"/>
            <p:nvPr/>
          </p:nvSpPr>
          <p:spPr>
            <a:xfrm>
              <a:off x="10377488" y="4599861"/>
              <a:ext cx="1252068"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可行动</a:t>
              </a:r>
              <a:r>
                <a:rPr lang="zh-CN" sz="710" dirty="0">
                  <a:solidFill>
                    <a:srgbClr val="453633"/>
                  </a:solidFill>
                  <a:latin typeface="+mn-lt"/>
                  <a:ea typeface="+mn-ea"/>
                  <a:cs typeface="+mn-cs"/>
                </a:rPr>
                <a:t>（能指导决策与行动）</a:t>
              </a:r>
            </a:p>
          </p:txBody>
        </p:sp>
        <p:grpSp>
          <p:nvGrpSpPr>
            <p:cNvPr id="169" name="Group 169"/>
            <p:cNvGrpSpPr/>
            <p:nvPr/>
          </p:nvGrpSpPr>
          <p:grpSpPr>
            <a:xfrm>
              <a:off x="10182225" y="4953000"/>
              <a:ext cx="114300" cy="114300"/>
              <a:chOff x="10182225" y="4953000"/>
              <a:chExt cx="114300" cy="114300"/>
            </a:xfrm>
          </p:grpSpPr>
          <p:sp>
            <p:nvSpPr>
              <p:cNvPr id="167" name="Freeform 167"/>
              <p:cNvSpPr/>
              <p:nvPr/>
            </p:nvSpPr>
            <p:spPr>
              <a:xfrm>
                <a:off x="10182225" y="49530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4E0D00"/>
                </a:solidFill>
              </a:ln>
            </p:spPr>
          </p:sp>
          <p:sp>
            <p:nvSpPr>
              <p:cNvPr id="168" name="Freeform 168"/>
              <p:cNvSpPr/>
              <p:nvPr/>
            </p:nvSpPr>
            <p:spPr>
              <a:xfrm>
                <a:off x="10220325" y="4997450"/>
                <a:ext cx="38100" cy="25400"/>
              </a:xfrm>
              <a:custGeom>
                <a:avLst/>
                <a:gdLst/>
                <a:ahLst/>
                <a:cxnLst/>
                <a:rect l="l" t="t" r="r" b="b"/>
                <a:pathLst>
                  <a:path w="38100" h="25400">
                    <a:moveTo>
                      <a:pt x="0" y="12700"/>
                    </a:moveTo>
                    <a:lnTo>
                      <a:pt x="12700" y="25400"/>
                    </a:lnTo>
                    <a:lnTo>
                      <a:pt x="38100" y="0"/>
                    </a:lnTo>
                  </a:path>
                </a:pathLst>
              </a:custGeom>
              <a:noFill/>
              <a:ln w="12700">
                <a:solidFill>
                  <a:srgbClr val="4E0D00"/>
                </a:solidFill>
              </a:ln>
            </p:spPr>
          </p:sp>
        </p:grpSp>
        <p:sp>
          <p:nvSpPr>
            <p:cNvPr id="170" name="TextBox 170"/>
            <p:cNvSpPr txBox="1"/>
            <p:nvPr/>
          </p:nvSpPr>
          <p:spPr>
            <a:xfrm>
              <a:off x="10377488" y="4980861"/>
              <a:ext cx="1060907"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可量化</a:t>
              </a:r>
              <a:r>
                <a:rPr lang="zh-CN" sz="710" dirty="0">
                  <a:solidFill>
                    <a:srgbClr val="453633"/>
                  </a:solidFill>
                  <a:latin typeface="+mn-lt"/>
                  <a:ea typeface="+mn-ea"/>
                  <a:cs typeface="+mn-cs"/>
                </a:rPr>
                <a:t>（能用数据衡量）</a:t>
              </a:r>
            </a:p>
          </p:txBody>
        </p:sp>
      </p:gr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546354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假设驱动｜先提出答案，再用证据验证</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85" name="steps-row"/>
          <p:cNvGrpSpPr/>
          <p:nvPr/>
        </p:nvGrpSpPr>
        <p:grpSpPr>
          <a:xfrm>
            <a:off x="228600" y="838200"/>
            <a:ext cx="11582400" cy="1562100"/>
            <a:chOff x="228600" y="838200"/>
            <a:chExt cx="11582400" cy="1562100"/>
          </a:xfrm>
        </p:grpSpPr>
        <p:sp>
          <p:nvSpPr>
            <p:cNvPr id="6" name="Rectangle 6"/>
            <p:cNvSpPr/>
            <p:nvPr/>
          </p:nvSpPr>
          <p:spPr>
            <a:xfrm>
              <a:off x="228600" y="838200"/>
              <a:ext cx="1524000" cy="285750"/>
            </a:xfrm>
            <a:prstGeom prst="rect">
              <a:avLst/>
            </a:prstGeom>
            <a:solidFill>
              <a:srgbClr val="4E0D00"/>
            </a:solidFill>
            <a:ln>
              <a:noFill/>
            </a:ln>
          </p:spPr>
        </p:sp>
        <p:sp>
          <p:nvSpPr>
            <p:cNvPr id="7" name="TextBox 7"/>
            <p:cNvSpPr txBox="1"/>
            <p:nvPr/>
          </p:nvSpPr>
          <p:spPr>
            <a:xfrm>
              <a:off x="802825" y="927497"/>
              <a:ext cx="37555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① 现象</a:t>
              </a:r>
            </a:p>
          </p:txBody>
        </p:sp>
        <p:sp>
          <p:nvSpPr>
            <p:cNvPr id="8" name="Rectangle 8"/>
            <p:cNvSpPr/>
            <p:nvPr/>
          </p:nvSpPr>
          <p:spPr>
            <a:xfrm>
              <a:off x="228600" y="1123950"/>
              <a:ext cx="1524000" cy="1276350"/>
            </a:xfrm>
            <a:prstGeom prst="rect">
              <a:avLst/>
            </a:prstGeom>
            <a:solidFill>
              <a:srgbClr val="FFFFFF"/>
            </a:solidFill>
            <a:ln w="9525">
              <a:solidFill>
                <a:srgbClr val="C7D2E4"/>
              </a:solidFill>
            </a:ln>
          </p:spPr>
        </p:sp>
        <p:grpSp>
          <p:nvGrpSpPr>
            <p:cNvPr id="13" name="Group 13"/>
            <p:cNvGrpSpPr/>
            <p:nvPr/>
          </p:nvGrpSpPr>
          <p:grpSpPr>
            <a:xfrm>
              <a:off x="883444" y="1266825"/>
              <a:ext cx="214313" cy="200025"/>
              <a:chOff x="883444" y="1266825"/>
              <a:chExt cx="214313" cy="200025"/>
            </a:xfrm>
          </p:grpSpPr>
          <p:sp>
            <p:nvSpPr>
              <p:cNvPr id="9" name="Freeform 9"/>
              <p:cNvSpPr/>
              <p:nvPr/>
            </p:nvSpPr>
            <p:spPr>
              <a:xfrm>
                <a:off x="883444" y="1362075"/>
                <a:ext cx="71438" cy="95250"/>
              </a:xfrm>
              <a:custGeom>
                <a:avLst/>
                <a:gdLst/>
                <a:ahLst/>
                <a:cxnLst/>
                <a:rect l="l" t="t" r="r" b="b"/>
                <a:pathLst>
                  <a:path w="71438" h="95250">
                    <a:moveTo>
                      <a:pt x="0" y="11906"/>
                    </a:moveTo>
                    <a:cubicBezTo>
                      <a:pt x="0" y="5331"/>
                      <a:pt x="5331" y="0"/>
                      <a:pt x="11906" y="0"/>
                    </a:cubicBezTo>
                    <a:lnTo>
                      <a:pt x="59531" y="0"/>
                    </a:lnTo>
                    <a:cubicBezTo>
                      <a:pt x="66107" y="0"/>
                      <a:pt x="71438" y="5331"/>
                      <a:pt x="71438" y="11906"/>
                    </a:cubicBezTo>
                    <a:lnTo>
                      <a:pt x="71438" y="83344"/>
                    </a:lnTo>
                    <a:cubicBezTo>
                      <a:pt x="71438" y="89919"/>
                      <a:pt x="66107" y="95250"/>
                      <a:pt x="59531" y="95250"/>
                    </a:cubicBezTo>
                    <a:lnTo>
                      <a:pt x="11906" y="95250"/>
                    </a:lnTo>
                    <a:cubicBezTo>
                      <a:pt x="5331" y="95250"/>
                      <a:pt x="0" y="89919"/>
                      <a:pt x="0" y="83344"/>
                    </a:cubicBezTo>
                    <a:lnTo>
                      <a:pt x="0" y="11906"/>
                    </a:lnTo>
                  </a:path>
                </a:pathLst>
              </a:custGeom>
              <a:noFill/>
              <a:ln w="23812">
                <a:solidFill>
                  <a:srgbClr val="4E0D00"/>
                </a:solidFill>
              </a:ln>
            </p:spPr>
          </p:sp>
          <p:sp>
            <p:nvSpPr>
              <p:cNvPr id="10" name="Freeform 10"/>
              <p:cNvSpPr/>
              <p:nvPr/>
            </p:nvSpPr>
            <p:spPr>
              <a:xfrm>
                <a:off x="1026319" y="1314450"/>
                <a:ext cx="71438" cy="142875"/>
              </a:xfrm>
              <a:custGeom>
                <a:avLst/>
                <a:gdLst/>
                <a:ahLst/>
                <a:cxnLst/>
                <a:rect l="l" t="t" r="r" b="b"/>
                <a:pathLst>
                  <a:path w="71438" h="142875">
                    <a:moveTo>
                      <a:pt x="0" y="11906"/>
                    </a:moveTo>
                    <a:cubicBezTo>
                      <a:pt x="0" y="5331"/>
                      <a:pt x="5331" y="0"/>
                      <a:pt x="11906" y="0"/>
                    </a:cubicBezTo>
                    <a:lnTo>
                      <a:pt x="59531" y="0"/>
                    </a:lnTo>
                    <a:cubicBezTo>
                      <a:pt x="66107" y="0"/>
                      <a:pt x="71438" y="5331"/>
                      <a:pt x="71438" y="11906"/>
                    </a:cubicBezTo>
                    <a:lnTo>
                      <a:pt x="71438" y="130969"/>
                    </a:lnTo>
                    <a:cubicBezTo>
                      <a:pt x="71438" y="137544"/>
                      <a:pt x="66107" y="142875"/>
                      <a:pt x="59531" y="142875"/>
                    </a:cubicBezTo>
                    <a:lnTo>
                      <a:pt x="11906" y="142875"/>
                    </a:lnTo>
                    <a:cubicBezTo>
                      <a:pt x="5331" y="142875"/>
                      <a:pt x="0" y="137544"/>
                      <a:pt x="0" y="130969"/>
                    </a:cubicBezTo>
                    <a:lnTo>
                      <a:pt x="0" y="11906"/>
                    </a:lnTo>
                  </a:path>
                </a:pathLst>
              </a:custGeom>
              <a:noFill/>
              <a:ln w="23812">
                <a:solidFill>
                  <a:srgbClr val="4E0D00"/>
                </a:solidFill>
              </a:ln>
            </p:spPr>
          </p:sp>
          <p:sp>
            <p:nvSpPr>
              <p:cNvPr id="11" name="Freeform 11"/>
              <p:cNvSpPr/>
              <p:nvPr/>
            </p:nvSpPr>
            <p:spPr>
              <a:xfrm>
                <a:off x="954881" y="1266825"/>
                <a:ext cx="71438" cy="190500"/>
              </a:xfrm>
              <a:custGeom>
                <a:avLst/>
                <a:gdLst/>
                <a:ahLst/>
                <a:cxnLst/>
                <a:rect l="l" t="t" r="r" b="b"/>
                <a:pathLst>
                  <a:path w="71438" h="190500">
                    <a:moveTo>
                      <a:pt x="0" y="11906"/>
                    </a:moveTo>
                    <a:cubicBezTo>
                      <a:pt x="0" y="5331"/>
                      <a:pt x="5331" y="0"/>
                      <a:pt x="11906" y="0"/>
                    </a:cubicBezTo>
                    <a:lnTo>
                      <a:pt x="59531" y="0"/>
                    </a:lnTo>
                    <a:cubicBezTo>
                      <a:pt x="66107" y="0"/>
                      <a:pt x="71438" y="5331"/>
                      <a:pt x="71438" y="11906"/>
                    </a:cubicBezTo>
                    <a:lnTo>
                      <a:pt x="71438" y="178594"/>
                    </a:lnTo>
                    <a:cubicBezTo>
                      <a:pt x="71438" y="185169"/>
                      <a:pt x="66107" y="190500"/>
                      <a:pt x="59531" y="190500"/>
                    </a:cubicBezTo>
                    <a:lnTo>
                      <a:pt x="11906" y="190500"/>
                    </a:lnTo>
                    <a:cubicBezTo>
                      <a:pt x="5331" y="190500"/>
                      <a:pt x="0" y="185169"/>
                      <a:pt x="0" y="178594"/>
                    </a:cubicBezTo>
                    <a:lnTo>
                      <a:pt x="0" y="11906"/>
                    </a:lnTo>
                  </a:path>
                </a:pathLst>
              </a:custGeom>
              <a:noFill/>
              <a:ln w="23812">
                <a:solidFill>
                  <a:srgbClr val="4E0D00"/>
                </a:solidFill>
              </a:ln>
            </p:spPr>
          </p:sp>
          <p:sp>
            <p:nvSpPr>
              <p:cNvPr id="12" name="Freeform 12"/>
              <p:cNvSpPr/>
              <p:nvPr/>
            </p:nvSpPr>
            <p:spPr>
              <a:xfrm>
                <a:off x="895350" y="1457325"/>
                <a:ext cx="166688" cy="9525"/>
              </a:xfrm>
              <a:custGeom>
                <a:avLst/>
                <a:gdLst/>
                <a:ahLst/>
                <a:cxnLst/>
                <a:rect l="l" t="t" r="r" b="b"/>
                <a:pathLst>
                  <a:path w="166688" h="9525">
                    <a:moveTo>
                      <a:pt x="0" y="0"/>
                    </a:moveTo>
                    <a:lnTo>
                      <a:pt x="166688" y="0"/>
                    </a:lnTo>
                  </a:path>
                </a:pathLst>
              </a:custGeom>
              <a:noFill/>
              <a:ln w="23812">
                <a:solidFill>
                  <a:srgbClr val="4E0D00"/>
                </a:solidFill>
              </a:ln>
            </p:spPr>
          </p:sp>
        </p:grpSp>
        <p:sp>
          <p:nvSpPr>
            <p:cNvPr id="14" name="TextBox 14"/>
            <p:cNvSpPr txBox="1"/>
            <p:nvPr/>
          </p:nvSpPr>
          <p:spPr>
            <a:xfrm>
              <a:off x="338138" y="1645682"/>
              <a:ext cx="774979"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观察到的业务现象</a:t>
              </a:r>
            </a:p>
          </p:txBody>
        </p:sp>
        <p:sp>
          <p:nvSpPr>
            <p:cNvPr id="15" name="TextBox 15"/>
            <p:cNvSpPr txBox="1"/>
            <p:nvPr/>
          </p:nvSpPr>
          <p:spPr>
            <a:xfrm>
              <a:off x="338138" y="1798082"/>
              <a:ext cx="602666"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与预期的差距</a:t>
              </a:r>
            </a:p>
          </p:txBody>
        </p:sp>
        <p:sp>
          <p:nvSpPr>
            <p:cNvPr id="16" name="TextBox 16"/>
            <p:cNvSpPr txBox="1"/>
            <p:nvPr/>
          </p:nvSpPr>
          <p:spPr>
            <a:xfrm>
              <a:off x="338138" y="1950482"/>
              <a:ext cx="68882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影响范围与趋势</a:t>
              </a:r>
            </a:p>
          </p:txBody>
        </p:sp>
        <p:sp>
          <p:nvSpPr>
            <p:cNvPr id="17" name="Line 17"/>
            <p:cNvSpPr/>
            <p:nvPr/>
          </p:nvSpPr>
          <p:spPr>
            <a:xfrm>
              <a:off x="1771650" y="981075"/>
              <a:ext cx="104775" cy="1"/>
            </a:xfrm>
            <a:prstGeom prst="line">
              <a:avLst/>
            </a:prstGeom>
            <a:noFill/>
            <a:ln w="19050">
              <a:solidFill>
                <a:srgbClr val="944130"/>
              </a:solidFill>
              <a:tailEnd type="triangle" w="lg" len="lg"/>
            </a:ln>
          </p:spPr>
        </p:sp>
        <p:sp>
          <p:nvSpPr>
            <p:cNvPr id="18" name="Rectangle 18"/>
            <p:cNvSpPr/>
            <p:nvPr/>
          </p:nvSpPr>
          <p:spPr>
            <a:xfrm>
              <a:off x="1905000" y="838200"/>
              <a:ext cx="1524000" cy="285750"/>
            </a:xfrm>
            <a:prstGeom prst="rect">
              <a:avLst/>
            </a:prstGeom>
            <a:solidFill>
              <a:srgbClr val="4E0D00"/>
            </a:solidFill>
            <a:ln>
              <a:noFill/>
            </a:ln>
          </p:spPr>
        </p:sp>
        <p:sp>
          <p:nvSpPr>
            <p:cNvPr id="19" name="TextBox 19"/>
            <p:cNvSpPr txBox="1"/>
            <p:nvPr/>
          </p:nvSpPr>
          <p:spPr>
            <a:xfrm>
              <a:off x="2352682" y="927497"/>
              <a:ext cx="62863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② 初始假设</a:t>
              </a:r>
            </a:p>
          </p:txBody>
        </p:sp>
        <p:sp>
          <p:nvSpPr>
            <p:cNvPr id="20" name="Rectangle 20"/>
            <p:cNvSpPr/>
            <p:nvPr/>
          </p:nvSpPr>
          <p:spPr>
            <a:xfrm>
              <a:off x="1905000" y="1123950"/>
              <a:ext cx="1524000" cy="1276350"/>
            </a:xfrm>
            <a:prstGeom prst="rect">
              <a:avLst/>
            </a:prstGeom>
            <a:solidFill>
              <a:srgbClr val="FFFFFF"/>
            </a:solidFill>
            <a:ln w="9525">
              <a:solidFill>
                <a:srgbClr val="C7D2E4"/>
              </a:solidFill>
            </a:ln>
          </p:spPr>
        </p:sp>
        <p:grpSp>
          <p:nvGrpSpPr>
            <p:cNvPr id="24" name="Group 24"/>
            <p:cNvGrpSpPr/>
            <p:nvPr/>
          </p:nvGrpSpPr>
          <p:grpSpPr>
            <a:xfrm>
              <a:off x="2559844" y="1254919"/>
              <a:ext cx="214312" cy="214313"/>
              <a:chOff x="2559844" y="1254919"/>
              <a:chExt cx="214312" cy="214313"/>
            </a:xfrm>
          </p:grpSpPr>
          <p:sp>
            <p:nvSpPr>
              <p:cNvPr id="21" name="Freeform 21"/>
              <p:cNvSpPr/>
              <p:nvPr/>
            </p:nvSpPr>
            <p:spPr>
              <a:xfrm>
                <a:off x="2559844" y="1254919"/>
                <a:ext cx="214312" cy="107156"/>
              </a:xfrm>
              <a:custGeom>
                <a:avLst/>
                <a:gdLst/>
                <a:ahLst/>
                <a:cxnLst/>
                <a:rect l="l" t="t" r="r" b="b"/>
                <a:pathLst>
                  <a:path w="214312" h="107156">
                    <a:moveTo>
                      <a:pt x="0" y="107156"/>
                    </a:moveTo>
                    <a:lnTo>
                      <a:pt x="11906" y="107156"/>
                    </a:lnTo>
                    <a:moveTo>
                      <a:pt x="107156" y="0"/>
                    </a:moveTo>
                    <a:lnTo>
                      <a:pt x="107156" y="11906"/>
                    </a:lnTo>
                    <a:moveTo>
                      <a:pt x="202406" y="107156"/>
                    </a:moveTo>
                    <a:lnTo>
                      <a:pt x="214312" y="107156"/>
                    </a:lnTo>
                    <a:moveTo>
                      <a:pt x="30956" y="30956"/>
                    </a:moveTo>
                    <a:lnTo>
                      <a:pt x="39291" y="39291"/>
                    </a:lnTo>
                    <a:moveTo>
                      <a:pt x="183356" y="30956"/>
                    </a:moveTo>
                    <a:lnTo>
                      <a:pt x="175022" y="39291"/>
                    </a:lnTo>
                  </a:path>
                </a:pathLst>
              </a:custGeom>
              <a:noFill/>
              <a:ln w="23812">
                <a:solidFill>
                  <a:srgbClr val="4E0D00"/>
                </a:solidFill>
              </a:ln>
            </p:spPr>
          </p:sp>
          <p:sp>
            <p:nvSpPr>
              <p:cNvPr id="22" name="Freeform 22"/>
              <p:cNvSpPr/>
              <p:nvPr/>
            </p:nvSpPr>
            <p:spPr>
              <a:xfrm>
                <a:off x="2602421" y="1302544"/>
                <a:ext cx="129159" cy="166688"/>
              </a:xfrm>
              <a:custGeom>
                <a:avLst/>
                <a:gdLst/>
                <a:ahLst/>
                <a:cxnLst/>
                <a:rect l="l" t="t" r="r" b="b"/>
                <a:pathLst>
                  <a:path w="129159" h="166688">
                    <a:moveTo>
                      <a:pt x="28861" y="107156"/>
                    </a:moveTo>
                    <a:cubicBezTo>
                      <a:pt x="8361" y="91782"/>
                      <a:pt x="0" y="65015"/>
                      <a:pt x="8103" y="40706"/>
                    </a:cubicBezTo>
                    <a:cubicBezTo>
                      <a:pt x="16206" y="16397"/>
                      <a:pt x="38955" y="0"/>
                      <a:pt x="64579" y="0"/>
                    </a:cubicBezTo>
                    <a:cubicBezTo>
                      <a:pt x="90203" y="0"/>
                      <a:pt x="112953" y="16397"/>
                      <a:pt x="121056" y="40706"/>
                    </a:cubicBezTo>
                    <a:cubicBezTo>
                      <a:pt x="129159" y="65015"/>
                      <a:pt x="120797" y="91782"/>
                      <a:pt x="100298" y="107156"/>
                    </a:cubicBezTo>
                    <a:cubicBezTo>
                      <a:pt x="90870" y="116489"/>
                      <a:pt x="86449" y="129752"/>
                      <a:pt x="88392" y="142875"/>
                    </a:cubicBezTo>
                    <a:cubicBezTo>
                      <a:pt x="88392" y="156026"/>
                      <a:pt x="77731" y="166688"/>
                      <a:pt x="64579" y="166688"/>
                    </a:cubicBezTo>
                    <a:cubicBezTo>
                      <a:pt x="51428" y="166688"/>
                      <a:pt x="40767" y="156026"/>
                      <a:pt x="40767" y="142875"/>
                    </a:cubicBezTo>
                    <a:cubicBezTo>
                      <a:pt x="42710" y="129752"/>
                      <a:pt x="38288" y="116489"/>
                      <a:pt x="28861" y="107156"/>
                    </a:cubicBezTo>
                  </a:path>
                </a:pathLst>
              </a:custGeom>
              <a:noFill/>
              <a:ln w="23812">
                <a:solidFill>
                  <a:srgbClr val="4E0D00"/>
                </a:solidFill>
              </a:ln>
            </p:spPr>
          </p:sp>
          <p:sp>
            <p:nvSpPr>
              <p:cNvPr id="23" name="Freeform 23"/>
              <p:cNvSpPr/>
              <p:nvPr/>
            </p:nvSpPr>
            <p:spPr>
              <a:xfrm>
                <a:off x="2639616" y="1421606"/>
                <a:ext cx="54769" cy="9525"/>
              </a:xfrm>
              <a:custGeom>
                <a:avLst/>
                <a:gdLst/>
                <a:ahLst/>
                <a:cxnLst/>
                <a:rect l="l" t="t" r="r" b="b"/>
                <a:pathLst>
                  <a:path w="54769" h="9525">
                    <a:moveTo>
                      <a:pt x="0" y="0"/>
                    </a:moveTo>
                    <a:lnTo>
                      <a:pt x="54769" y="0"/>
                    </a:lnTo>
                  </a:path>
                </a:pathLst>
              </a:custGeom>
              <a:noFill/>
              <a:ln w="23812">
                <a:solidFill>
                  <a:srgbClr val="4E0D00"/>
                </a:solidFill>
              </a:ln>
            </p:spPr>
          </p:sp>
        </p:grpSp>
        <p:sp>
          <p:nvSpPr>
            <p:cNvPr id="25" name="TextBox 25"/>
            <p:cNvSpPr txBox="1"/>
            <p:nvPr/>
          </p:nvSpPr>
          <p:spPr>
            <a:xfrm>
              <a:off x="2014538" y="1645682"/>
              <a:ext cx="861136"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基于经验的初步判断</a:t>
              </a:r>
            </a:p>
          </p:txBody>
        </p:sp>
        <p:sp>
          <p:nvSpPr>
            <p:cNvPr id="26" name="TextBox 26"/>
            <p:cNvSpPr txBox="1"/>
            <p:nvPr/>
          </p:nvSpPr>
          <p:spPr>
            <a:xfrm>
              <a:off x="2014538" y="1798082"/>
              <a:ext cx="68882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可能的根本原因</a:t>
              </a:r>
            </a:p>
          </p:txBody>
        </p:sp>
        <p:sp>
          <p:nvSpPr>
            <p:cNvPr id="27" name="TextBox 27"/>
            <p:cNvSpPr txBox="1"/>
            <p:nvPr/>
          </p:nvSpPr>
          <p:spPr>
            <a:xfrm>
              <a:off x="2014538" y="1950482"/>
              <a:ext cx="602666"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可验证的方向</a:t>
              </a:r>
            </a:p>
          </p:txBody>
        </p:sp>
        <p:sp>
          <p:nvSpPr>
            <p:cNvPr id="28" name="Line 28"/>
            <p:cNvSpPr/>
            <p:nvPr/>
          </p:nvSpPr>
          <p:spPr>
            <a:xfrm>
              <a:off x="3448050" y="981075"/>
              <a:ext cx="104775" cy="1"/>
            </a:xfrm>
            <a:prstGeom prst="line">
              <a:avLst/>
            </a:prstGeom>
            <a:noFill/>
            <a:ln w="19050">
              <a:solidFill>
                <a:srgbClr val="944130"/>
              </a:solidFill>
              <a:tailEnd type="triangle" w="lg" len="lg"/>
            </a:ln>
          </p:spPr>
        </p:sp>
        <p:sp>
          <p:nvSpPr>
            <p:cNvPr id="29" name="Rectangle 29"/>
            <p:cNvSpPr/>
            <p:nvPr/>
          </p:nvSpPr>
          <p:spPr>
            <a:xfrm>
              <a:off x="3581400" y="838200"/>
              <a:ext cx="1524000" cy="285750"/>
            </a:xfrm>
            <a:prstGeom prst="rect">
              <a:avLst/>
            </a:prstGeom>
            <a:solidFill>
              <a:srgbClr val="4E0D00"/>
            </a:solidFill>
            <a:ln>
              <a:noFill/>
            </a:ln>
          </p:spPr>
        </p:sp>
        <p:sp>
          <p:nvSpPr>
            <p:cNvPr id="30" name="TextBox 30"/>
            <p:cNvSpPr txBox="1"/>
            <p:nvPr/>
          </p:nvSpPr>
          <p:spPr>
            <a:xfrm>
              <a:off x="4029082" y="927497"/>
              <a:ext cx="62863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③ 关键假设</a:t>
              </a:r>
            </a:p>
          </p:txBody>
        </p:sp>
        <p:sp>
          <p:nvSpPr>
            <p:cNvPr id="31" name="Rectangle 31"/>
            <p:cNvSpPr/>
            <p:nvPr/>
          </p:nvSpPr>
          <p:spPr>
            <a:xfrm>
              <a:off x="3581400" y="1123950"/>
              <a:ext cx="1524000" cy="1276350"/>
            </a:xfrm>
            <a:prstGeom prst="rect">
              <a:avLst/>
            </a:prstGeom>
            <a:solidFill>
              <a:srgbClr val="FFFFFF"/>
            </a:solidFill>
            <a:ln w="9525">
              <a:solidFill>
                <a:srgbClr val="C7D2E4"/>
              </a:solidFill>
            </a:ln>
          </p:spPr>
        </p:sp>
        <p:grpSp>
          <p:nvGrpSpPr>
            <p:cNvPr id="35" name="Group 35"/>
            <p:cNvGrpSpPr/>
            <p:nvPr/>
          </p:nvGrpSpPr>
          <p:grpSpPr>
            <a:xfrm>
              <a:off x="4236244" y="1254919"/>
              <a:ext cx="214312" cy="214312"/>
              <a:chOff x="4236244" y="1254919"/>
              <a:chExt cx="214312" cy="214312"/>
            </a:xfrm>
          </p:grpSpPr>
          <p:sp>
            <p:nvSpPr>
              <p:cNvPr id="32" name="Freeform 32"/>
              <p:cNvSpPr/>
              <p:nvPr/>
            </p:nvSpPr>
            <p:spPr>
              <a:xfrm>
                <a:off x="4331494" y="135016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4E0D00"/>
                </a:solidFill>
              </a:ln>
            </p:spPr>
          </p:sp>
          <p:sp>
            <p:nvSpPr>
              <p:cNvPr id="33" name="Freeform 33"/>
              <p:cNvSpPr/>
              <p:nvPr/>
            </p:nvSpPr>
            <p:spPr>
              <a:xfrm>
                <a:off x="4283869" y="1302544"/>
                <a:ext cx="119062" cy="119062"/>
              </a:xfrm>
              <a:custGeom>
                <a:avLst/>
                <a:gdLst/>
                <a:ahLst/>
                <a:cxnLst/>
                <a:rect l="l" t="t" r="r" b="b"/>
                <a:pathLst>
                  <a:path w="119062" h="119062">
                    <a:moveTo>
                      <a:pt x="0" y="59531"/>
                    </a:moveTo>
                    <a:cubicBezTo>
                      <a:pt x="0" y="92409"/>
                      <a:pt x="26653" y="119062"/>
                      <a:pt x="59531" y="119062"/>
                    </a:cubicBezTo>
                    <a:cubicBezTo>
                      <a:pt x="92409" y="119062"/>
                      <a:pt x="119062" y="92409"/>
                      <a:pt x="119062" y="59531"/>
                    </a:cubicBezTo>
                    <a:cubicBezTo>
                      <a:pt x="119062" y="26653"/>
                      <a:pt x="92409" y="0"/>
                      <a:pt x="59531" y="0"/>
                    </a:cubicBezTo>
                    <a:cubicBezTo>
                      <a:pt x="26653" y="0"/>
                      <a:pt x="0" y="26653"/>
                      <a:pt x="0" y="59531"/>
                    </a:cubicBezTo>
                  </a:path>
                </a:pathLst>
              </a:custGeom>
              <a:noFill/>
              <a:ln w="23812">
                <a:solidFill>
                  <a:srgbClr val="4E0D00"/>
                </a:solidFill>
              </a:ln>
            </p:spPr>
          </p:sp>
          <p:sp>
            <p:nvSpPr>
              <p:cNvPr id="34" name="Freeform 34"/>
              <p:cNvSpPr/>
              <p:nvPr/>
            </p:nvSpPr>
            <p:spPr>
              <a:xfrm>
                <a:off x="4236244" y="12549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rgbClr val="4E0D00"/>
                </a:solidFill>
              </a:ln>
            </p:spPr>
          </p:sp>
        </p:grpSp>
        <p:sp>
          <p:nvSpPr>
            <p:cNvPr id="36" name="TextBox 36"/>
            <p:cNvSpPr txBox="1"/>
            <p:nvPr/>
          </p:nvSpPr>
          <p:spPr>
            <a:xfrm>
              <a:off x="3690938" y="1645682"/>
              <a:ext cx="774979"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聚焦少数关键假设</a:t>
              </a:r>
            </a:p>
          </p:txBody>
        </p:sp>
        <p:sp>
          <p:nvSpPr>
            <p:cNvPr id="37" name="TextBox 37"/>
            <p:cNvSpPr txBox="1"/>
            <p:nvPr/>
          </p:nvSpPr>
          <p:spPr>
            <a:xfrm>
              <a:off x="3690938" y="1798082"/>
              <a:ext cx="68882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可被证伪的陈述</a:t>
              </a:r>
            </a:p>
          </p:txBody>
        </p:sp>
        <p:sp>
          <p:nvSpPr>
            <p:cNvPr id="38" name="TextBox 38"/>
            <p:cNvSpPr txBox="1"/>
            <p:nvPr/>
          </p:nvSpPr>
          <p:spPr>
            <a:xfrm>
              <a:off x="3690938" y="1950482"/>
              <a:ext cx="68882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明确边界与条件</a:t>
              </a:r>
            </a:p>
          </p:txBody>
        </p:sp>
        <p:sp>
          <p:nvSpPr>
            <p:cNvPr id="39" name="Line 39"/>
            <p:cNvSpPr/>
            <p:nvPr/>
          </p:nvSpPr>
          <p:spPr>
            <a:xfrm>
              <a:off x="5124450" y="981075"/>
              <a:ext cx="104775" cy="1"/>
            </a:xfrm>
            <a:prstGeom prst="line">
              <a:avLst/>
            </a:prstGeom>
            <a:noFill/>
            <a:ln w="19050">
              <a:solidFill>
                <a:srgbClr val="944130"/>
              </a:solidFill>
              <a:tailEnd type="triangle" w="lg" len="lg"/>
            </a:ln>
          </p:spPr>
        </p:sp>
        <p:sp>
          <p:nvSpPr>
            <p:cNvPr id="40" name="Rectangle 40"/>
            <p:cNvSpPr/>
            <p:nvPr/>
          </p:nvSpPr>
          <p:spPr>
            <a:xfrm>
              <a:off x="5257800" y="838200"/>
              <a:ext cx="1524000" cy="285750"/>
            </a:xfrm>
            <a:prstGeom prst="rect">
              <a:avLst/>
            </a:prstGeom>
            <a:solidFill>
              <a:srgbClr val="4E0D00"/>
            </a:solidFill>
            <a:ln>
              <a:noFill/>
            </a:ln>
          </p:spPr>
        </p:sp>
        <p:sp>
          <p:nvSpPr>
            <p:cNvPr id="41" name="TextBox 41"/>
            <p:cNvSpPr txBox="1"/>
            <p:nvPr/>
          </p:nvSpPr>
          <p:spPr>
            <a:xfrm>
              <a:off x="5705482" y="927497"/>
              <a:ext cx="62863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④ 证据需求</a:t>
              </a:r>
            </a:p>
          </p:txBody>
        </p:sp>
        <p:sp>
          <p:nvSpPr>
            <p:cNvPr id="42" name="Rectangle 42"/>
            <p:cNvSpPr/>
            <p:nvPr/>
          </p:nvSpPr>
          <p:spPr>
            <a:xfrm>
              <a:off x="5257800" y="1123950"/>
              <a:ext cx="1524000" cy="1276350"/>
            </a:xfrm>
            <a:prstGeom prst="rect">
              <a:avLst/>
            </a:prstGeom>
            <a:solidFill>
              <a:srgbClr val="FFFFFF"/>
            </a:solidFill>
            <a:ln w="9525">
              <a:solidFill>
                <a:srgbClr val="C7D2E4"/>
              </a:solidFill>
            </a:ln>
          </p:spPr>
        </p:sp>
        <p:grpSp>
          <p:nvGrpSpPr>
            <p:cNvPr id="49" name="Group 49"/>
            <p:cNvGrpSpPr/>
            <p:nvPr/>
          </p:nvGrpSpPr>
          <p:grpSpPr>
            <a:xfrm>
              <a:off x="5936456" y="1254919"/>
              <a:ext cx="166688" cy="214312"/>
              <a:chOff x="5936456" y="1254919"/>
              <a:chExt cx="166688" cy="214312"/>
            </a:xfrm>
          </p:grpSpPr>
          <p:sp>
            <p:nvSpPr>
              <p:cNvPr id="43" name="Freeform 43"/>
              <p:cNvSpPr/>
              <p:nvPr/>
            </p:nvSpPr>
            <p:spPr>
              <a:xfrm>
                <a:off x="5936456" y="1278731"/>
                <a:ext cx="166688" cy="190500"/>
              </a:xfrm>
              <a:custGeom>
                <a:avLst/>
                <a:gdLst/>
                <a:ahLst/>
                <a:cxnLst/>
                <a:rect l="l" t="t" r="r" b="b"/>
                <a:pathLst>
                  <a:path w="166688" h="190500">
                    <a:moveTo>
                      <a:pt x="47625" y="0"/>
                    </a:moveTo>
                    <a:lnTo>
                      <a:pt x="23812" y="0"/>
                    </a:lnTo>
                    <a:cubicBezTo>
                      <a:pt x="10661" y="0"/>
                      <a:pt x="0" y="10661"/>
                      <a:pt x="0" y="23812"/>
                    </a:cubicBezTo>
                    <a:lnTo>
                      <a:pt x="0" y="166688"/>
                    </a:lnTo>
                    <a:cubicBezTo>
                      <a:pt x="0" y="179839"/>
                      <a:pt x="10661" y="190500"/>
                      <a:pt x="23812" y="190500"/>
                    </a:cubicBezTo>
                    <a:lnTo>
                      <a:pt x="142875" y="190500"/>
                    </a:lnTo>
                    <a:cubicBezTo>
                      <a:pt x="156026" y="190500"/>
                      <a:pt x="166688" y="179839"/>
                      <a:pt x="166688" y="166688"/>
                    </a:cubicBezTo>
                    <a:lnTo>
                      <a:pt x="166688" y="23812"/>
                    </a:lnTo>
                    <a:cubicBezTo>
                      <a:pt x="166688" y="10661"/>
                      <a:pt x="156026" y="0"/>
                      <a:pt x="142875" y="0"/>
                    </a:cubicBezTo>
                    <a:lnTo>
                      <a:pt x="119062" y="0"/>
                    </a:lnTo>
                  </a:path>
                </a:pathLst>
              </a:custGeom>
              <a:noFill/>
              <a:ln w="23812">
                <a:solidFill>
                  <a:srgbClr val="4E0D00"/>
                </a:solidFill>
              </a:ln>
            </p:spPr>
          </p:sp>
          <p:sp>
            <p:nvSpPr>
              <p:cNvPr id="44" name="Freeform 44"/>
              <p:cNvSpPr/>
              <p:nvPr/>
            </p:nvSpPr>
            <p:spPr>
              <a:xfrm>
                <a:off x="5984081" y="1254919"/>
                <a:ext cx="71438" cy="47625"/>
              </a:xfrm>
              <a:custGeom>
                <a:avLst/>
                <a:gdLst/>
                <a:ahLst/>
                <a:cxnLst/>
                <a:rect l="l" t="t" r="r" b="b"/>
                <a:pathLst>
                  <a:path w="71438" h="47625">
                    <a:moveTo>
                      <a:pt x="0" y="23812"/>
                    </a:moveTo>
                    <a:cubicBezTo>
                      <a:pt x="0" y="10661"/>
                      <a:pt x="10661" y="0"/>
                      <a:pt x="23812" y="0"/>
                    </a:cubicBezTo>
                    <a:lnTo>
                      <a:pt x="47625" y="0"/>
                    </a:lnTo>
                    <a:cubicBezTo>
                      <a:pt x="60776" y="0"/>
                      <a:pt x="71438" y="10661"/>
                      <a:pt x="71438" y="23812"/>
                    </a:cubicBezTo>
                    <a:cubicBezTo>
                      <a:pt x="71438" y="36964"/>
                      <a:pt x="60776" y="47625"/>
                      <a:pt x="47625" y="47625"/>
                    </a:cubicBezTo>
                    <a:lnTo>
                      <a:pt x="23812" y="47625"/>
                    </a:lnTo>
                    <a:cubicBezTo>
                      <a:pt x="10661" y="47625"/>
                      <a:pt x="0" y="36964"/>
                      <a:pt x="0" y="23812"/>
                    </a:cubicBezTo>
                  </a:path>
                </a:pathLst>
              </a:custGeom>
              <a:noFill/>
              <a:ln w="23812">
                <a:solidFill>
                  <a:srgbClr val="4E0D00"/>
                </a:solidFill>
              </a:ln>
            </p:spPr>
          </p:sp>
          <p:sp>
            <p:nvSpPr>
              <p:cNvPr id="45" name="Freeform 45"/>
              <p:cNvSpPr/>
              <p:nvPr/>
            </p:nvSpPr>
            <p:spPr>
              <a:xfrm>
                <a:off x="5984081" y="1362075"/>
                <a:ext cx="9525" cy="9525"/>
              </a:xfrm>
              <a:custGeom>
                <a:avLst/>
                <a:gdLst/>
                <a:ahLst/>
                <a:cxnLst/>
                <a:rect l="l" t="t" r="r" b="b"/>
                <a:pathLst>
                  <a:path w="9525" h="9525">
                    <a:moveTo>
                      <a:pt x="0" y="0"/>
                    </a:moveTo>
                    <a:lnTo>
                      <a:pt x="119" y="0"/>
                    </a:lnTo>
                  </a:path>
                </a:pathLst>
              </a:custGeom>
              <a:noFill/>
              <a:ln w="23812">
                <a:solidFill>
                  <a:srgbClr val="4E0D00"/>
                </a:solidFill>
              </a:ln>
            </p:spPr>
          </p:sp>
          <p:sp>
            <p:nvSpPr>
              <p:cNvPr id="46" name="Freeform 46"/>
              <p:cNvSpPr/>
              <p:nvPr/>
            </p:nvSpPr>
            <p:spPr>
              <a:xfrm>
                <a:off x="6031706" y="1362075"/>
                <a:ext cx="23812" cy="9525"/>
              </a:xfrm>
              <a:custGeom>
                <a:avLst/>
                <a:gdLst/>
                <a:ahLst/>
                <a:cxnLst/>
                <a:rect l="l" t="t" r="r" b="b"/>
                <a:pathLst>
                  <a:path w="23812" h="9525">
                    <a:moveTo>
                      <a:pt x="0" y="0"/>
                    </a:moveTo>
                    <a:lnTo>
                      <a:pt x="23812" y="0"/>
                    </a:lnTo>
                  </a:path>
                </a:pathLst>
              </a:custGeom>
              <a:noFill/>
              <a:ln w="23812">
                <a:solidFill>
                  <a:srgbClr val="4E0D00"/>
                </a:solidFill>
              </a:ln>
            </p:spPr>
          </p:sp>
          <p:sp>
            <p:nvSpPr>
              <p:cNvPr id="47" name="Freeform 47"/>
              <p:cNvSpPr/>
              <p:nvPr/>
            </p:nvSpPr>
            <p:spPr>
              <a:xfrm>
                <a:off x="5984081" y="1409700"/>
                <a:ext cx="9525" cy="9525"/>
              </a:xfrm>
              <a:custGeom>
                <a:avLst/>
                <a:gdLst/>
                <a:ahLst/>
                <a:cxnLst/>
                <a:rect l="l" t="t" r="r" b="b"/>
                <a:pathLst>
                  <a:path w="9525" h="9525">
                    <a:moveTo>
                      <a:pt x="0" y="0"/>
                    </a:moveTo>
                    <a:lnTo>
                      <a:pt x="119" y="0"/>
                    </a:lnTo>
                  </a:path>
                </a:pathLst>
              </a:custGeom>
              <a:noFill/>
              <a:ln w="23812">
                <a:solidFill>
                  <a:srgbClr val="4E0D00"/>
                </a:solidFill>
              </a:ln>
            </p:spPr>
          </p:sp>
          <p:sp>
            <p:nvSpPr>
              <p:cNvPr id="48" name="Freeform 48"/>
              <p:cNvSpPr/>
              <p:nvPr/>
            </p:nvSpPr>
            <p:spPr>
              <a:xfrm>
                <a:off x="6031706" y="1409700"/>
                <a:ext cx="23812" cy="9525"/>
              </a:xfrm>
              <a:custGeom>
                <a:avLst/>
                <a:gdLst/>
                <a:ahLst/>
                <a:cxnLst/>
                <a:rect l="l" t="t" r="r" b="b"/>
                <a:pathLst>
                  <a:path w="23812" h="9525">
                    <a:moveTo>
                      <a:pt x="0" y="0"/>
                    </a:moveTo>
                    <a:lnTo>
                      <a:pt x="23812" y="0"/>
                    </a:lnTo>
                  </a:path>
                </a:pathLst>
              </a:custGeom>
              <a:noFill/>
              <a:ln w="23812">
                <a:solidFill>
                  <a:srgbClr val="4E0D00"/>
                </a:solidFill>
              </a:ln>
            </p:spPr>
          </p:sp>
        </p:grpSp>
        <p:sp>
          <p:nvSpPr>
            <p:cNvPr id="50" name="TextBox 50"/>
            <p:cNvSpPr txBox="1"/>
            <p:nvPr/>
          </p:nvSpPr>
          <p:spPr>
            <a:xfrm>
              <a:off x="5367338" y="1645682"/>
              <a:ext cx="602666"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需要哪些证据</a:t>
              </a:r>
            </a:p>
          </p:txBody>
        </p:sp>
        <p:sp>
          <p:nvSpPr>
            <p:cNvPr id="51" name="TextBox 51"/>
            <p:cNvSpPr txBox="1"/>
            <p:nvPr/>
          </p:nvSpPr>
          <p:spPr>
            <a:xfrm>
              <a:off x="5367338" y="1798082"/>
              <a:ext cx="68882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关键指标与口径</a:t>
              </a:r>
            </a:p>
          </p:txBody>
        </p:sp>
        <p:sp>
          <p:nvSpPr>
            <p:cNvPr id="52" name="TextBox 52"/>
            <p:cNvSpPr txBox="1"/>
            <p:nvPr/>
          </p:nvSpPr>
          <p:spPr>
            <a:xfrm>
              <a:off x="5367338" y="1950482"/>
              <a:ext cx="861136"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数据来源与获取方式</a:t>
              </a:r>
            </a:p>
          </p:txBody>
        </p:sp>
        <p:sp>
          <p:nvSpPr>
            <p:cNvPr id="53" name="Line 53"/>
            <p:cNvSpPr/>
            <p:nvPr/>
          </p:nvSpPr>
          <p:spPr>
            <a:xfrm>
              <a:off x="6800850" y="981075"/>
              <a:ext cx="104775" cy="1"/>
            </a:xfrm>
            <a:prstGeom prst="line">
              <a:avLst/>
            </a:prstGeom>
            <a:noFill/>
            <a:ln w="19050">
              <a:solidFill>
                <a:srgbClr val="944130"/>
              </a:solidFill>
              <a:tailEnd type="triangle" w="lg" len="lg"/>
            </a:ln>
          </p:spPr>
        </p:sp>
        <p:sp>
          <p:nvSpPr>
            <p:cNvPr id="54" name="Rectangle 54"/>
            <p:cNvSpPr/>
            <p:nvPr/>
          </p:nvSpPr>
          <p:spPr>
            <a:xfrm>
              <a:off x="6934200" y="838200"/>
              <a:ext cx="1524000" cy="285750"/>
            </a:xfrm>
            <a:prstGeom prst="rect">
              <a:avLst/>
            </a:prstGeom>
            <a:solidFill>
              <a:srgbClr val="4E0D00"/>
            </a:solidFill>
            <a:ln>
              <a:noFill/>
            </a:ln>
          </p:spPr>
        </p:sp>
        <p:sp>
          <p:nvSpPr>
            <p:cNvPr id="55" name="TextBox 55"/>
            <p:cNvSpPr txBox="1"/>
            <p:nvPr/>
          </p:nvSpPr>
          <p:spPr>
            <a:xfrm>
              <a:off x="7381882" y="927497"/>
              <a:ext cx="62863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⑤ 数据验证</a:t>
              </a:r>
            </a:p>
          </p:txBody>
        </p:sp>
        <p:sp>
          <p:nvSpPr>
            <p:cNvPr id="56" name="Rectangle 56"/>
            <p:cNvSpPr/>
            <p:nvPr/>
          </p:nvSpPr>
          <p:spPr>
            <a:xfrm>
              <a:off x="6934200" y="1123950"/>
              <a:ext cx="1524000" cy="1276350"/>
            </a:xfrm>
            <a:prstGeom prst="rect">
              <a:avLst/>
            </a:prstGeom>
            <a:solidFill>
              <a:srgbClr val="FFFFFF"/>
            </a:solidFill>
            <a:ln w="9525">
              <a:solidFill>
                <a:srgbClr val="C7D2E4"/>
              </a:solidFill>
            </a:ln>
          </p:spPr>
        </p:sp>
        <p:grpSp>
          <p:nvGrpSpPr>
            <p:cNvPr id="60" name="Group 60"/>
            <p:cNvGrpSpPr/>
            <p:nvPr/>
          </p:nvGrpSpPr>
          <p:grpSpPr>
            <a:xfrm>
              <a:off x="7600950" y="1254919"/>
              <a:ext cx="190500" cy="214312"/>
              <a:chOff x="7600950" y="1254919"/>
              <a:chExt cx="190500" cy="214312"/>
            </a:xfrm>
          </p:grpSpPr>
          <p:sp>
            <p:nvSpPr>
              <p:cNvPr id="57" name="Freeform 57"/>
              <p:cNvSpPr/>
              <p:nvPr/>
            </p:nvSpPr>
            <p:spPr>
              <a:xfrm>
                <a:off x="7600950" y="1254919"/>
                <a:ext cx="190500" cy="71438"/>
              </a:xfrm>
              <a:custGeom>
                <a:avLst/>
                <a:gdLst/>
                <a:ahLst/>
                <a:cxnLst/>
                <a:rect l="l" t="t" r="r" b="b"/>
                <a:pathLst>
                  <a:path w="190500" h="71438">
                    <a:moveTo>
                      <a:pt x="0" y="35719"/>
                    </a:moveTo>
                    <a:cubicBezTo>
                      <a:pt x="0" y="55446"/>
                      <a:pt x="42645" y="71438"/>
                      <a:pt x="95250" y="71438"/>
                    </a:cubicBezTo>
                    <a:cubicBezTo>
                      <a:pt x="147855" y="71438"/>
                      <a:pt x="190500" y="55446"/>
                      <a:pt x="190500" y="35719"/>
                    </a:cubicBezTo>
                    <a:cubicBezTo>
                      <a:pt x="190500" y="15992"/>
                      <a:pt x="147855" y="0"/>
                      <a:pt x="95250" y="0"/>
                    </a:cubicBezTo>
                    <a:cubicBezTo>
                      <a:pt x="42645" y="0"/>
                      <a:pt x="0" y="15992"/>
                      <a:pt x="0" y="35719"/>
                    </a:cubicBezTo>
                  </a:path>
                </a:pathLst>
              </a:custGeom>
              <a:noFill/>
              <a:ln w="23812">
                <a:solidFill>
                  <a:srgbClr val="4E0D00"/>
                </a:solidFill>
              </a:ln>
            </p:spPr>
          </p:sp>
          <p:sp>
            <p:nvSpPr>
              <p:cNvPr id="58" name="Freeform 58"/>
              <p:cNvSpPr/>
              <p:nvPr/>
            </p:nvSpPr>
            <p:spPr>
              <a:xfrm>
                <a:off x="7600950" y="1290638"/>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23812">
                <a:solidFill>
                  <a:srgbClr val="4E0D00"/>
                </a:solidFill>
              </a:ln>
            </p:spPr>
          </p:sp>
          <p:sp>
            <p:nvSpPr>
              <p:cNvPr id="59" name="Freeform 59"/>
              <p:cNvSpPr/>
              <p:nvPr/>
            </p:nvSpPr>
            <p:spPr>
              <a:xfrm>
                <a:off x="7600950" y="1362075"/>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23812">
                <a:solidFill>
                  <a:srgbClr val="4E0D00"/>
                </a:solidFill>
              </a:ln>
            </p:spPr>
          </p:sp>
        </p:grpSp>
        <p:sp>
          <p:nvSpPr>
            <p:cNvPr id="61" name="TextBox 61"/>
            <p:cNvSpPr txBox="1"/>
            <p:nvPr/>
          </p:nvSpPr>
          <p:spPr>
            <a:xfrm>
              <a:off x="7043738" y="1645682"/>
              <a:ext cx="68882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收集与清洗数据</a:t>
              </a:r>
            </a:p>
          </p:txBody>
        </p:sp>
        <p:sp>
          <p:nvSpPr>
            <p:cNvPr id="62" name="TextBox 62"/>
            <p:cNvSpPr txBox="1"/>
            <p:nvPr/>
          </p:nvSpPr>
          <p:spPr>
            <a:xfrm>
              <a:off x="7043738" y="1798082"/>
              <a:ext cx="68882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分析与检验假设</a:t>
              </a:r>
            </a:p>
          </p:txBody>
        </p:sp>
        <p:sp>
          <p:nvSpPr>
            <p:cNvPr id="63" name="TextBox 63"/>
            <p:cNvSpPr txBox="1"/>
            <p:nvPr/>
          </p:nvSpPr>
          <p:spPr>
            <a:xfrm>
              <a:off x="7043738" y="1950482"/>
              <a:ext cx="602666"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得出验证结果</a:t>
              </a:r>
            </a:p>
          </p:txBody>
        </p:sp>
        <p:sp>
          <p:nvSpPr>
            <p:cNvPr id="64" name="Line 64"/>
            <p:cNvSpPr/>
            <p:nvPr/>
          </p:nvSpPr>
          <p:spPr>
            <a:xfrm>
              <a:off x="8477250" y="981075"/>
              <a:ext cx="104775" cy="1"/>
            </a:xfrm>
            <a:prstGeom prst="line">
              <a:avLst/>
            </a:prstGeom>
            <a:noFill/>
            <a:ln w="19050">
              <a:solidFill>
                <a:srgbClr val="944130"/>
              </a:solidFill>
              <a:tailEnd type="triangle" w="lg" len="lg"/>
            </a:ln>
          </p:spPr>
        </p:sp>
        <p:sp>
          <p:nvSpPr>
            <p:cNvPr id="65" name="Rectangle 65"/>
            <p:cNvSpPr/>
            <p:nvPr/>
          </p:nvSpPr>
          <p:spPr>
            <a:xfrm>
              <a:off x="8610600" y="838200"/>
              <a:ext cx="1524000" cy="285750"/>
            </a:xfrm>
            <a:prstGeom prst="rect">
              <a:avLst/>
            </a:prstGeom>
            <a:solidFill>
              <a:srgbClr val="4E0D00"/>
            </a:solidFill>
            <a:ln>
              <a:noFill/>
            </a:ln>
          </p:spPr>
        </p:sp>
        <p:sp>
          <p:nvSpPr>
            <p:cNvPr id="66" name="TextBox 66"/>
            <p:cNvSpPr txBox="1"/>
            <p:nvPr/>
          </p:nvSpPr>
          <p:spPr>
            <a:xfrm>
              <a:off x="9021743" y="927497"/>
              <a:ext cx="70171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⑥ 证伪/修正</a:t>
              </a:r>
            </a:p>
          </p:txBody>
        </p:sp>
        <p:sp>
          <p:nvSpPr>
            <p:cNvPr id="67" name="Rectangle 67"/>
            <p:cNvSpPr/>
            <p:nvPr/>
          </p:nvSpPr>
          <p:spPr>
            <a:xfrm>
              <a:off x="8610600" y="1123950"/>
              <a:ext cx="1524000" cy="1276350"/>
            </a:xfrm>
            <a:prstGeom prst="rect">
              <a:avLst/>
            </a:prstGeom>
            <a:solidFill>
              <a:srgbClr val="FFFFFF"/>
            </a:solidFill>
            <a:ln w="9525">
              <a:solidFill>
                <a:srgbClr val="C7D2E4"/>
              </a:solidFill>
            </a:ln>
          </p:spPr>
        </p:sp>
        <p:grpSp>
          <p:nvGrpSpPr>
            <p:cNvPr id="70" name="Group 70"/>
            <p:cNvGrpSpPr/>
            <p:nvPr/>
          </p:nvGrpSpPr>
          <p:grpSpPr>
            <a:xfrm>
              <a:off x="9277350" y="1262231"/>
              <a:ext cx="190500" cy="199688"/>
              <a:chOff x="9277350" y="1262231"/>
              <a:chExt cx="190500" cy="199688"/>
            </a:xfrm>
          </p:grpSpPr>
          <p:sp>
            <p:nvSpPr>
              <p:cNvPr id="68" name="Freeform 68"/>
              <p:cNvSpPr/>
              <p:nvPr/>
            </p:nvSpPr>
            <p:spPr>
              <a:xfrm>
                <a:off x="9277350" y="12622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rgbClr val="4E0D00"/>
                </a:solidFill>
              </a:ln>
            </p:spPr>
          </p:sp>
          <p:sp>
            <p:nvSpPr>
              <p:cNvPr id="69" name="Freeform 69"/>
              <p:cNvSpPr/>
              <p:nvPr/>
            </p:nvSpPr>
            <p:spPr>
              <a:xfrm>
                <a:off x="9277350" y="13739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rgbClr val="4E0D00"/>
                </a:solidFill>
              </a:ln>
            </p:spPr>
          </p:sp>
        </p:grpSp>
        <p:sp>
          <p:nvSpPr>
            <p:cNvPr id="71" name="TextBox 71"/>
            <p:cNvSpPr txBox="1"/>
            <p:nvPr/>
          </p:nvSpPr>
          <p:spPr>
            <a:xfrm>
              <a:off x="8720138" y="1645682"/>
              <a:ext cx="602666"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假设被证伪？</a:t>
              </a:r>
            </a:p>
          </p:txBody>
        </p:sp>
        <p:sp>
          <p:nvSpPr>
            <p:cNvPr id="72" name="TextBox 72"/>
            <p:cNvSpPr txBox="1"/>
            <p:nvPr/>
          </p:nvSpPr>
          <p:spPr>
            <a:xfrm>
              <a:off x="8720138" y="1798082"/>
              <a:ext cx="94729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修正假设或提出新假设</a:t>
              </a:r>
            </a:p>
          </p:txBody>
        </p:sp>
        <p:sp>
          <p:nvSpPr>
            <p:cNvPr id="73" name="TextBox 73"/>
            <p:cNvSpPr txBox="1"/>
            <p:nvPr/>
          </p:nvSpPr>
          <p:spPr>
            <a:xfrm>
              <a:off x="8720138" y="1950482"/>
              <a:ext cx="602666"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更新验证计划</a:t>
              </a:r>
            </a:p>
          </p:txBody>
        </p:sp>
        <p:sp>
          <p:nvSpPr>
            <p:cNvPr id="74" name="Line 74"/>
            <p:cNvSpPr/>
            <p:nvPr/>
          </p:nvSpPr>
          <p:spPr>
            <a:xfrm>
              <a:off x="10153650" y="981075"/>
              <a:ext cx="104775" cy="1"/>
            </a:xfrm>
            <a:prstGeom prst="line">
              <a:avLst/>
            </a:prstGeom>
            <a:noFill/>
            <a:ln w="19050">
              <a:solidFill>
                <a:srgbClr val="944130"/>
              </a:solidFill>
              <a:tailEnd type="triangle" w="lg" len="lg"/>
            </a:ln>
          </p:spPr>
        </p:sp>
        <p:sp>
          <p:nvSpPr>
            <p:cNvPr id="75" name="Rectangle 75"/>
            <p:cNvSpPr/>
            <p:nvPr/>
          </p:nvSpPr>
          <p:spPr>
            <a:xfrm>
              <a:off x="10287000" y="838200"/>
              <a:ext cx="1524000" cy="285750"/>
            </a:xfrm>
            <a:prstGeom prst="rect">
              <a:avLst/>
            </a:prstGeom>
            <a:solidFill>
              <a:srgbClr val="4E0D00"/>
            </a:solidFill>
            <a:ln>
              <a:noFill/>
            </a:ln>
          </p:spPr>
        </p:sp>
        <p:sp>
          <p:nvSpPr>
            <p:cNvPr id="76" name="TextBox 76"/>
            <p:cNvSpPr txBox="1"/>
            <p:nvPr/>
          </p:nvSpPr>
          <p:spPr>
            <a:xfrm>
              <a:off x="10861225" y="927497"/>
              <a:ext cx="37555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⑦ 结论</a:t>
              </a:r>
            </a:p>
          </p:txBody>
        </p:sp>
        <p:sp>
          <p:nvSpPr>
            <p:cNvPr id="77" name="Rectangle 77"/>
            <p:cNvSpPr/>
            <p:nvPr/>
          </p:nvSpPr>
          <p:spPr>
            <a:xfrm>
              <a:off x="10287000" y="1123950"/>
              <a:ext cx="1524000" cy="1276350"/>
            </a:xfrm>
            <a:prstGeom prst="rect">
              <a:avLst/>
            </a:prstGeom>
            <a:solidFill>
              <a:srgbClr val="FFFFFF"/>
            </a:solidFill>
            <a:ln w="9525">
              <a:solidFill>
                <a:srgbClr val="C7D2E4"/>
              </a:solidFill>
            </a:ln>
          </p:spPr>
        </p:sp>
        <p:grpSp>
          <p:nvGrpSpPr>
            <p:cNvPr id="81" name="Group 81"/>
            <p:cNvGrpSpPr/>
            <p:nvPr/>
          </p:nvGrpSpPr>
          <p:grpSpPr>
            <a:xfrm>
              <a:off x="10946630" y="1254919"/>
              <a:ext cx="204716" cy="213003"/>
              <a:chOff x="10946630" y="1254919"/>
              <a:chExt cx="204716" cy="213003"/>
            </a:xfrm>
          </p:grpSpPr>
          <p:sp>
            <p:nvSpPr>
              <p:cNvPr id="78" name="Freeform 78"/>
              <p:cNvSpPr/>
              <p:nvPr/>
            </p:nvSpPr>
            <p:spPr>
              <a:xfrm>
                <a:off x="10977562" y="1254919"/>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23812">
                <a:solidFill>
                  <a:srgbClr val="4E0D00"/>
                </a:solidFill>
              </a:ln>
            </p:spPr>
          </p:sp>
          <p:sp>
            <p:nvSpPr>
              <p:cNvPr id="79" name="Freeform 79"/>
              <p:cNvSpPr/>
              <p:nvPr/>
            </p:nvSpPr>
            <p:spPr>
              <a:xfrm>
                <a:off x="11049000" y="1362075"/>
                <a:ext cx="102346" cy="105847"/>
              </a:xfrm>
              <a:custGeom>
                <a:avLst/>
                <a:gdLst/>
                <a:ahLst/>
                <a:cxnLst/>
                <a:rect l="l" t="t" r="r" b="b"/>
                <a:pathLst>
                  <a:path w="102346" h="105847">
                    <a:moveTo>
                      <a:pt x="0" y="35719"/>
                    </a:moveTo>
                    <a:lnTo>
                      <a:pt x="40481" y="105847"/>
                    </a:lnTo>
                    <a:lnTo>
                      <a:pt x="59507" y="67354"/>
                    </a:lnTo>
                    <a:lnTo>
                      <a:pt x="102346" y="70116"/>
                    </a:lnTo>
                    <a:lnTo>
                      <a:pt x="61865" y="0"/>
                    </a:lnTo>
                  </a:path>
                </a:pathLst>
              </a:custGeom>
              <a:noFill/>
              <a:ln w="23812">
                <a:solidFill>
                  <a:srgbClr val="4E0D00"/>
                </a:solidFill>
              </a:ln>
            </p:spPr>
          </p:sp>
          <p:sp>
            <p:nvSpPr>
              <p:cNvPr id="80" name="Freeform 80"/>
              <p:cNvSpPr/>
              <p:nvPr/>
            </p:nvSpPr>
            <p:spPr>
              <a:xfrm>
                <a:off x="10946630" y="1362075"/>
                <a:ext cx="102346" cy="105835"/>
              </a:xfrm>
              <a:custGeom>
                <a:avLst/>
                <a:gdLst/>
                <a:ahLst/>
                <a:cxnLst/>
                <a:rect l="l" t="t" r="r" b="b"/>
                <a:pathLst>
                  <a:path w="102346" h="105835">
                    <a:moveTo>
                      <a:pt x="40481" y="0"/>
                    </a:moveTo>
                    <a:lnTo>
                      <a:pt x="0" y="70128"/>
                    </a:lnTo>
                    <a:lnTo>
                      <a:pt x="42839" y="67354"/>
                    </a:lnTo>
                    <a:lnTo>
                      <a:pt x="61865" y="105835"/>
                    </a:lnTo>
                    <a:lnTo>
                      <a:pt x="102346" y="35719"/>
                    </a:lnTo>
                  </a:path>
                </a:pathLst>
              </a:custGeom>
              <a:noFill/>
              <a:ln w="23812">
                <a:solidFill>
                  <a:srgbClr val="4E0D00"/>
                </a:solidFill>
              </a:ln>
            </p:spPr>
          </p:sp>
        </p:grpSp>
        <p:sp>
          <p:nvSpPr>
            <p:cNvPr id="82" name="TextBox 82"/>
            <p:cNvSpPr txBox="1"/>
            <p:nvPr/>
          </p:nvSpPr>
          <p:spPr>
            <a:xfrm>
              <a:off x="10396538" y="1645682"/>
              <a:ext cx="602666"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被验证的真相</a:t>
              </a:r>
            </a:p>
          </p:txBody>
        </p:sp>
        <p:sp>
          <p:nvSpPr>
            <p:cNvPr id="83" name="TextBox 83"/>
            <p:cNvSpPr txBox="1"/>
            <p:nvPr/>
          </p:nvSpPr>
          <p:spPr>
            <a:xfrm>
              <a:off x="10396538" y="1798082"/>
              <a:ext cx="68882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决策建议与行动</a:t>
              </a:r>
            </a:p>
          </p:txBody>
        </p:sp>
        <p:sp>
          <p:nvSpPr>
            <p:cNvPr id="84" name="TextBox 84"/>
            <p:cNvSpPr txBox="1"/>
            <p:nvPr/>
          </p:nvSpPr>
          <p:spPr>
            <a:xfrm>
              <a:off x="10396538" y="1950482"/>
              <a:ext cx="68882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后续跟踪与复盘</a:t>
              </a:r>
            </a:p>
          </p:txBody>
        </p:sp>
      </p:grpSp>
      <p:grpSp>
        <p:nvGrpSpPr>
          <p:cNvPr id="93" name="tree-title"/>
          <p:cNvGrpSpPr/>
          <p:nvPr/>
        </p:nvGrpSpPr>
        <p:grpSpPr>
          <a:xfrm>
            <a:off x="1266825" y="2725102"/>
            <a:ext cx="6581775" cy="265748"/>
            <a:chOff x="1266825" y="2725102"/>
            <a:chExt cx="6581775" cy="265748"/>
          </a:xfrm>
        </p:grpSpPr>
        <p:sp>
          <p:nvSpPr>
            <p:cNvPr id="86" name="TextBox 86"/>
            <p:cNvSpPr txBox="1"/>
            <p:nvPr/>
          </p:nvSpPr>
          <p:spPr>
            <a:xfrm>
              <a:off x="3275457" y="2725102"/>
              <a:ext cx="2554986" cy="205359"/>
            </a:xfrm>
            <a:prstGeom prst="rect">
              <a:avLst/>
            </a:prstGeom>
            <a:noFill/>
            <a:ln>
              <a:noFill/>
            </a:ln>
          </p:spPr>
          <p:txBody>
            <a:bodyPr wrap="none" lIns="0" tIns="0" rIns="0" bIns="0" anchor="t" anchorCtr="0">
              <a:spAutoFit/>
            </a:bodyPr>
            <a:lstStyle/>
            <a:p>
              <a:pPr algn="ctr"/>
              <a:r>
                <a:rPr lang="zh-CN" sz="1050" b="1" dirty="0">
                  <a:solidFill>
                    <a:srgbClr val="4E0D00"/>
                  </a:solidFill>
                  <a:latin typeface="+mn-lt"/>
                  <a:ea typeface="+mn-ea"/>
                  <a:cs typeface="+mn-cs"/>
                </a:rPr>
                <a:t>关键假设树（从高到低拆解，逐层验证）</a:t>
              </a:r>
            </a:p>
          </p:txBody>
        </p:sp>
        <p:sp>
          <p:nvSpPr>
            <p:cNvPr id="87" name="Line 87"/>
            <p:cNvSpPr/>
            <p:nvPr/>
          </p:nvSpPr>
          <p:spPr>
            <a:xfrm>
              <a:off x="4552950" y="2895600"/>
              <a:ext cx="9525" cy="38100"/>
            </a:xfrm>
            <a:custGeom>
              <a:avLst/>
              <a:gdLst/>
              <a:ahLst/>
              <a:cxnLst/>
              <a:rect l="l" t="t" r="r" b="b"/>
              <a:pathLst>
                <a:path w="9525" h="38100">
                  <a:moveTo>
                    <a:pt x="0" y="0"/>
                  </a:moveTo>
                  <a:lnTo>
                    <a:pt x="0" y="38100"/>
                  </a:lnTo>
                </a:path>
              </a:pathLst>
            </a:custGeom>
            <a:noFill/>
            <a:ln w="14288">
              <a:solidFill>
                <a:srgbClr val="944130"/>
              </a:solidFill>
            </a:ln>
          </p:spPr>
        </p:sp>
        <p:sp>
          <p:nvSpPr>
            <p:cNvPr id="88" name="Line 88"/>
            <p:cNvSpPr/>
            <p:nvPr/>
          </p:nvSpPr>
          <p:spPr>
            <a:xfrm>
              <a:off x="1266825" y="2933700"/>
              <a:ext cx="6572250" cy="9525"/>
            </a:xfrm>
            <a:custGeom>
              <a:avLst/>
              <a:gdLst/>
              <a:ahLst/>
              <a:cxnLst/>
              <a:rect l="l" t="t" r="r" b="b"/>
              <a:pathLst>
                <a:path w="6572250" h="9525">
                  <a:moveTo>
                    <a:pt x="0" y="0"/>
                  </a:moveTo>
                  <a:lnTo>
                    <a:pt x="6572250" y="0"/>
                  </a:lnTo>
                </a:path>
              </a:pathLst>
            </a:custGeom>
            <a:noFill/>
            <a:ln w="14288">
              <a:solidFill>
                <a:srgbClr val="944130"/>
              </a:solidFill>
            </a:ln>
          </p:spPr>
        </p:sp>
        <p:sp>
          <p:nvSpPr>
            <p:cNvPr id="89" name="Line 89"/>
            <p:cNvSpPr/>
            <p:nvPr/>
          </p:nvSpPr>
          <p:spPr>
            <a:xfrm>
              <a:off x="1266825" y="2933700"/>
              <a:ext cx="9525" cy="57150"/>
            </a:xfrm>
            <a:custGeom>
              <a:avLst/>
              <a:gdLst/>
              <a:ahLst/>
              <a:cxnLst/>
              <a:rect l="l" t="t" r="r" b="b"/>
              <a:pathLst>
                <a:path w="9525" h="57150">
                  <a:moveTo>
                    <a:pt x="0" y="0"/>
                  </a:moveTo>
                  <a:lnTo>
                    <a:pt x="0" y="57150"/>
                  </a:lnTo>
                </a:path>
              </a:pathLst>
            </a:custGeom>
            <a:noFill/>
            <a:ln w="14288">
              <a:solidFill>
                <a:srgbClr val="944130"/>
              </a:solidFill>
            </a:ln>
          </p:spPr>
        </p:sp>
        <p:sp>
          <p:nvSpPr>
            <p:cNvPr id="90" name="Line 90"/>
            <p:cNvSpPr/>
            <p:nvPr/>
          </p:nvSpPr>
          <p:spPr>
            <a:xfrm>
              <a:off x="3457575" y="2933700"/>
              <a:ext cx="9525" cy="57150"/>
            </a:xfrm>
            <a:custGeom>
              <a:avLst/>
              <a:gdLst/>
              <a:ahLst/>
              <a:cxnLst/>
              <a:rect l="l" t="t" r="r" b="b"/>
              <a:pathLst>
                <a:path w="9525" h="57150">
                  <a:moveTo>
                    <a:pt x="0" y="0"/>
                  </a:moveTo>
                  <a:lnTo>
                    <a:pt x="0" y="57150"/>
                  </a:lnTo>
                </a:path>
              </a:pathLst>
            </a:custGeom>
            <a:noFill/>
            <a:ln w="14288">
              <a:solidFill>
                <a:srgbClr val="944130"/>
              </a:solidFill>
            </a:ln>
          </p:spPr>
        </p:sp>
        <p:sp>
          <p:nvSpPr>
            <p:cNvPr id="91" name="Line 91"/>
            <p:cNvSpPr/>
            <p:nvPr/>
          </p:nvSpPr>
          <p:spPr>
            <a:xfrm>
              <a:off x="5648325" y="2933700"/>
              <a:ext cx="9525" cy="57150"/>
            </a:xfrm>
            <a:custGeom>
              <a:avLst/>
              <a:gdLst/>
              <a:ahLst/>
              <a:cxnLst/>
              <a:rect l="l" t="t" r="r" b="b"/>
              <a:pathLst>
                <a:path w="9525" h="57150">
                  <a:moveTo>
                    <a:pt x="0" y="0"/>
                  </a:moveTo>
                  <a:lnTo>
                    <a:pt x="0" y="57150"/>
                  </a:lnTo>
                </a:path>
              </a:pathLst>
            </a:custGeom>
            <a:noFill/>
            <a:ln w="14288">
              <a:solidFill>
                <a:srgbClr val="944130"/>
              </a:solidFill>
            </a:ln>
          </p:spPr>
        </p:sp>
        <p:sp>
          <p:nvSpPr>
            <p:cNvPr id="92" name="Line 92"/>
            <p:cNvSpPr/>
            <p:nvPr/>
          </p:nvSpPr>
          <p:spPr>
            <a:xfrm>
              <a:off x="7839075" y="2933700"/>
              <a:ext cx="9525" cy="57150"/>
            </a:xfrm>
            <a:custGeom>
              <a:avLst/>
              <a:gdLst/>
              <a:ahLst/>
              <a:cxnLst/>
              <a:rect l="l" t="t" r="r" b="b"/>
              <a:pathLst>
                <a:path w="9525" h="57150">
                  <a:moveTo>
                    <a:pt x="0" y="0"/>
                  </a:moveTo>
                  <a:lnTo>
                    <a:pt x="0" y="57150"/>
                  </a:lnTo>
                </a:path>
              </a:pathLst>
            </a:custGeom>
            <a:noFill/>
            <a:ln w="14288">
              <a:solidFill>
                <a:srgbClr val="944130"/>
              </a:solidFill>
            </a:ln>
          </p:spPr>
        </p:sp>
      </p:grpSp>
      <p:grpSp>
        <p:nvGrpSpPr>
          <p:cNvPr id="122" name="h1-card"/>
          <p:cNvGrpSpPr/>
          <p:nvPr/>
        </p:nvGrpSpPr>
        <p:grpSpPr>
          <a:xfrm>
            <a:off x="228600" y="3028950"/>
            <a:ext cx="2076450" cy="3086100"/>
            <a:chOff x="228600" y="3028950"/>
            <a:chExt cx="2076450" cy="3086100"/>
          </a:xfrm>
        </p:grpSpPr>
        <p:sp>
          <p:nvSpPr>
            <p:cNvPr id="94" name="Rectangle 94"/>
            <p:cNvSpPr/>
            <p:nvPr/>
          </p:nvSpPr>
          <p:spPr>
            <a:xfrm>
              <a:off x="228600" y="3028950"/>
              <a:ext cx="2076450" cy="3086100"/>
            </a:xfrm>
            <a:prstGeom prst="rect">
              <a:avLst/>
            </a:prstGeom>
            <a:solidFill>
              <a:srgbClr val="FFFFFF"/>
            </a:solidFill>
            <a:ln w="9525">
              <a:solidFill>
                <a:srgbClr val="C7D2E4"/>
              </a:solidFill>
            </a:ln>
          </p:spPr>
        </p:sp>
        <p:sp>
          <p:nvSpPr>
            <p:cNvPr id="95" name="Rectangle 95"/>
            <p:cNvSpPr/>
            <p:nvPr/>
          </p:nvSpPr>
          <p:spPr>
            <a:xfrm>
              <a:off x="228600" y="3028950"/>
              <a:ext cx="2076450" cy="285750"/>
            </a:xfrm>
            <a:prstGeom prst="rect">
              <a:avLst/>
            </a:prstGeom>
            <a:solidFill>
              <a:srgbClr val="4E0D00"/>
            </a:solidFill>
            <a:ln>
              <a:noFill/>
            </a:ln>
          </p:spPr>
        </p:sp>
        <p:sp>
          <p:nvSpPr>
            <p:cNvPr id="96" name="TextBox 96"/>
            <p:cNvSpPr txBox="1"/>
            <p:nvPr/>
          </p:nvSpPr>
          <p:spPr>
            <a:xfrm>
              <a:off x="895561" y="3114199"/>
              <a:ext cx="7425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H1 市场问题</a:t>
              </a:r>
            </a:p>
          </p:txBody>
        </p:sp>
        <p:grpSp>
          <p:nvGrpSpPr>
            <p:cNvPr id="101" name="Group 101"/>
            <p:cNvGrpSpPr/>
            <p:nvPr/>
          </p:nvGrpSpPr>
          <p:grpSpPr>
            <a:xfrm>
              <a:off x="402431" y="3438525"/>
              <a:ext cx="128587" cy="123825"/>
              <a:chOff x="402431" y="3438525"/>
              <a:chExt cx="128587" cy="123825"/>
            </a:xfrm>
          </p:grpSpPr>
          <p:sp>
            <p:nvSpPr>
              <p:cNvPr id="97" name="Freeform 97"/>
              <p:cNvSpPr/>
              <p:nvPr/>
            </p:nvSpPr>
            <p:spPr>
              <a:xfrm>
                <a:off x="402431" y="349567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4E0D00"/>
                </a:solidFill>
              </a:ln>
            </p:spPr>
          </p:sp>
          <p:sp>
            <p:nvSpPr>
              <p:cNvPr id="98" name="Freeform 98"/>
              <p:cNvSpPr/>
              <p:nvPr/>
            </p:nvSpPr>
            <p:spPr>
              <a:xfrm>
                <a:off x="488156" y="346710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4E0D00"/>
                </a:solidFill>
              </a:ln>
            </p:spPr>
          </p:sp>
          <p:sp>
            <p:nvSpPr>
              <p:cNvPr id="99" name="Freeform 99"/>
              <p:cNvSpPr/>
              <p:nvPr/>
            </p:nvSpPr>
            <p:spPr>
              <a:xfrm>
                <a:off x="445294" y="343852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4E0D00"/>
                </a:solidFill>
              </a:ln>
            </p:spPr>
          </p:sp>
          <p:sp>
            <p:nvSpPr>
              <p:cNvPr id="100" name="Freeform 100"/>
              <p:cNvSpPr/>
              <p:nvPr/>
            </p:nvSpPr>
            <p:spPr>
              <a:xfrm>
                <a:off x="409575" y="3552825"/>
                <a:ext cx="100012" cy="9525"/>
              </a:xfrm>
              <a:custGeom>
                <a:avLst/>
                <a:gdLst/>
                <a:ahLst/>
                <a:cxnLst/>
                <a:rect l="l" t="t" r="r" b="b"/>
                <a:pathLst>
                  <a:path w="100012" h="9525">
                    <a:moveTo>
                      <a:pt x="0" y="0"/>
                    </a:moveTo>
                    <a:lnTo>
                      <a:pt x="100012" y="0"/>
                    </a:lnTo>
                  </a:path>
                </a:pathLst>
              </a:custGeom>
              <a:noFill/>
              <a:ln w="14288">
                <a:solidFill>
                  <a:srgbClr val="4E0D00"/>
                </a:solidFill>
              </a:ln>
            </p:spPr>
          </p:sp>
        </p:grpSp>
        <p:sp>
          <p:nvSpPr>
            <p:cNvPr id="102" name="TextBox 102"/>
            <p:cNvSpPr txBox="1"/>
            <p:nvPr/>
          </p:nvSpPr>
          <p:spPr>
            <a:xfrm>
              <a:off x="623888" y="3458289"/>
              <a:ext cx="43492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验证指标</a:t>
              </a:r>
            </a:p>
          </p:txBody>
        </p:sp>
        <p:sp>
          <p:nvSpPr>
            <p:cNvPr id="103" name="TextBox 103"/>
            <p:cNvSpPr txBox="1"/>
            <p:nvPr/>
          </p:nvSpPr>
          <p:spPr>
            <a:xfrm>
              <a:off x="623888" y="3645932"/>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市场规模增速，需求变化，</a:t>
              </a:r>
            </a:p>
          </p:txBody>
        </p:sp>
        <p:sp>
          <p:nvSpPr>
            <p:cNvPr id="104" name="TextBox 104"/>
            <p:cNvSpPr txBox="1"/>
            <p:nvPr/>
          </p:nvSpPr>
          <p:spPr>
            <a:xfrm>
              <a:off x="623888" y="3779282"/>
              <a:ext cx="61262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用户痛点强度等</a:t>
              </a:r>
            </a:p>
          </p:txBody>
        </p:sp>
        <p:sp>
          <p:nvSpPr>
            <p:cNvPr id="105" name="Line 105"/>
            <p:cNvSpPr/>
            <p:nvPr/>
          </p:nvSpPr>
          <p:spPr>
            <a:xfrm>
              <a:off x="361950" y="3981450"/>
              <a:ext cx="1809750" cy="9525"/>
            </a:xfrm>
            <a:custGeom>
              <a:avLst/>
              <a:gdLst/>
              <a:ahLst/>
              <a:cxnLst/>
              <a:rect l="l" t="t" r="r" b="b"/>
              <a:pathLst>
                <a:path w="1809750" h="9525">
                  <a:moveTo>
                    <a:pt x="0" y="0"/>
                  </a:moveTo>
                  <a:lnTo>
                    <a:pt x="1809750" y="0"/>
                  </a:lnTo>
                </a:path>
              </a:pathLst>
            </a:custGeom>
            <a:noFill/>
            <a:ln w="9525">
              <a:solidFill>
                <a:srgbClr val="E2E8F2"/>
              </a:solidFill>
            </a:ln>
          </p:spPr>
        </p:sp>
        <p:grpSp>
          <p:nvGrpSpPr>
            <p:cNvPr id="111" name="Group 111"/>
            <p:cNvGrpSpPr/>
            <p:nvPr/>
          </p:nvGrpSpPr>
          <p:grpSpPr>
            <a:xfrm>
              <a:off x="416719" y="4117181"/>
              <a:ext cx="100012" cy="128588"/>
              <a:chOff x="416719" y="4117181"/>
              <a:chExt cx="100012" cy="128588"/>
            </a:xfrm>
          </p:grpSpPr>
          <p:sp>
            <p:nvSpPr>
              <p:cNvPr id="106" name="Freeform 106"/>
              <p:cNvSpPr/>
              <p:nvPr/>
            </p:nvSpPr>
            <p:spPr>
              <a:xfrm>
                <a:off x="481012" y="41171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4E0D00"/>
                </a:solidFill>
              </a:ln>
            </p:spPr>
          </p:sp>
          <p:sp>
            <p:nvSpPr>
              <p:cNvPr id="107" name="Freeform 107"/>
              <p:cNvSpPr/>
              <p:nvPr/>
            </p:nvSpPr>
            <p:spPr>
              <a:xfrm>
                <a:off x="416719" y="41171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4E0D00"/>
                </a:solidFill>
              </a:ln>
            </p:spPr>
          </p:sp>
          <p:sp>
            <p:nvSpPr>
              <p:cNvPr id="108" name="Freeform 108"/>
              <p:cNvSpPr/>
              <p:nvPr/>
            </p:nvSpPr>
            <p:spPr>
              <a:xfrm>
                <a:off x="445294" y="4160044"/>
                <a:ext cx="9525" cy="9525"/>
              </a:xfrm>
              <a:custGeom>
                <a:avLst/>
                <a:gdLst/>
                <a:ahLst/>
                <a:cxnLst/>
                <a:rect l="l" t="t" r="r" b="b"/>
                <a:pathLst>
                  <a:path w="9525" h="9525">
                    <a:moveTo>
                      <a:pt x="0" y="0"/>
                    </a:moveTo>
                    <a:lnTo>
                      <a:pt x="7144" y="0"/>
                    </a:lnTo>
                  </a:path>
                </a:pathLst>
              </a:custGeom>
              <a:noFill/>
              <a:ln w="14288">
                <a:solidFill>
                  <a:srgbClr val="4E0D00"/>
                </a:solidFill>
              </a:ln>
            </p:spPr>
          </p:sp>
          <p:sp>
            <p:nvSpPr>
              <p:cNvPr id="109" name="Freeform 109"/>
              <p:cNvSpPr/>
              <p:nvPr/>
            </p:nvSpPr>
            <p:spPr>
              <a:xfrm>
                <a:off x="445294" y="4188619"/>
                <a:ext cx="42862" cy="9525"/>
              </a:xfrm>
              <a:custGeom>
                <a:avLst/>
                <a:gdLst/>
                <a:ahLst/>
                <a:cxnLst/>
                <a:rect l="l" t="t" r="r" b="b"/>
                <a:pathLst>
                  <a:path w="42862" h="9525">
                    <a:moveTo>
                      <a:pt x="0" y="0"/>
                    </a:moveTo>
                    <a:lnTo>
                      <a:pt x="42862" y="0"/>
                    </a:lnTo>
                  </a:path>
                </a:pathLst>
              </a:custGeom>
              <a:noFill/>
              <a:ln w="14288">
                <a:solidFill>
                  <a:srgbClr val="4E0D00"/>
                </a:solidFill>
              </a:ln>
            </p:spPr>
          </p:sp>
          <p:sp>
            <p:nvSpPr>
              <p:cNvPr id="110" name="Freeform 110"/>
              <p:cNvSpPr/>
              <p:nvPr/>
            </p:nvSpPr>
            <p:spPr>
              <a:xfrm>
                <a:off x="445294" y="4217194"/>
                <a:ext cx="42862" cy="9525"/>
              </a:xfrm>
              <a:custGeom>
                <a:avLst/>
                <a:gdLst/>
                <a:ahLst/>
                <a:cxnLst/>
                <a:rect l="l" t="t" r="r" b="b"/>
                <a:pathLst>
                  <a:path w="42862" h="9525">
                    <a:moveTo>
                      <a:pt x="0" y="0"/>
                    </a:moveTo>
                    <a:lnTo>
                      <a:pt x="42862" y="0"/>
                    </a:lnTo>
                  </a:path>
                </a:pathLst>
              </a:custGeom>
              <a:noFill/>
              <a:ln w="14288">
                <a:solidFill>
                  <a:srgbClr val="4E0D00"/>
                </a:solidFill>
              </a:ln>
            </p:spPr>
          </p:sp>
        </p:grpSp>
        <p:sp>
          <p:nvSpPr>
            <p:cNvPr id="112" name="TextBox 112"/>
            <p:cNvSpPr txBox="1"/>
            <p:nvPr/>
          </p:nvSpPr>
          <p:spPr>
            <a:xfrm>
              <a:off x="623888" y="4144089"/>
              <a:ext cx="43492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核心证据</a:t>
              </a:r>
            </a:p>
          </p:txBody>
        </p:sp>
        <p:sp>
          <p:nvSpPr>
            <p:cNvPr id="113" name="TextBox 113"/>
            <p:cNvSpPr txBox="1"/>
            <p:nvPr/>
          </p:nvSpPr>
          <p:spPr>
            <a:xfrm>
              <a:off x="623888" y="433173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行业报告，调研数据，</a:t>
              </a:r>
            </a:p>
          </p:txBody>
        </p:sp>
        <p:sp>
          <p:nvSpPr>
            <p:cNvPr id="114" name="TextBox 114"/>
            <p:cNvSpPr txBox="1"/>
            <p:nvPr/>
          </p:nvSpPr>
          <p:spPr>
            <a:xfrm>
              <a:off x="623888" y="446508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用户反馈，趋势数据等</a:t>
              </a:r>
            </a:p>
          </p:txBody>
        </p:sp>
        <p:sp>
          <p:nvSpPr>
            <p:cNvPr id="115" name="Line 115"/>
            <p:cNvSpPr/>
            <p:nvPr/>
          </p:nvSpPr>
          <p:spPr>
            <a:xfrm>
              <a:off x="361950" y="4667250"/>
              <a:ext cx="1809750" cy="9525"/>
            </a:xfrm>
            <a:custGeom>
              <a:avLst/>
              <a:gdLst/>
              <a:ahLst/>
              <a:cxnLst/>
              <a:rect l="l" t="t" r="r" b="b"/>
              <a:pathLst>
                <a:path w="1809750" h="9525">
                  <a:moveTo>
                    <a:pt x="0" y="0"/>
                  </a:moveTo>
                  <a:lnTo>
                    <a:pt x="1809750" y="0"/>
                  </a:lnTo>
                </a:path>
              </a:pathLst>
            </a:custGeom>
            <a:noFill/>
            <a:ln w="9525">
              <a:solidFill>
                <a:srgbClr val="E2E8F2"/>
              </a:solidFill>
            </a:ln>
          </p:spPr>
        </p:sp>
        <p:sp>
          <p:nvSpPr>
            <p:cNvPr id="116" name="Freeform 116"/>
            <p:cNvSpPr/>
            <p:nvPr/>
          </p:nvSpPr>
          <p:spPr>
            <a:xfrm>
              <a:off x="399456" y="5241131"/>
              <a:ext cx="134537" cy="128588"/>
            </a:xfrm>
            <a:custGeom>
              <a:avLst/>
              <a:gdLst/>
              <a:ahLst/>
              <a:cxnLst/>
              <a:rect l="l" t="t" r="r" b="b"/>
              <a:pathLst>
                <a:path w="134537" h="128588">
                  <a:moveTo>
                    <a:pt x="67269" y="0"/>
                  </a:moveTo>
                  <a:cubicBezTo>
                    <a:pt x="83955" y="14763"/>
                    <a:pt x="105734" y="22450"/>
                    <a:pt x="127991" y="21431"/>
                  </a:cubicBezTo>
                  <a:cubicBezTo>
                    <a:pt x="134537" y="43702"/>
                    <a:pt x="131773" y="67676"/>
                    <a:pt x="120328" y="87872"/>
                  </a:cubicBezTo>
                  <a:cubicBezTo>
                    <a:pt x="108884" y="108068"/>
                    <a:pt x="89738" y="122759"/>
                    <a:pt x="67269" y="128588"/>
                  </a:cubicBezTo>
                  <a:cubicBezTo>
                    <a:pt x="44799" y="122759"/>
                    <a:pt x="25654" y="108068"/>
                    <a:pt x="14209" y="87872"/>
                  </a:cubicBezTo>
                  <a:cubicBezTo>
                    <a:pt x="2765" y="67676"/>
                    <a:pt x="0" y="43702"/>
                    <a:pt x="6547" y="21431"/>
                  </a:cubicBezTo>
                  <a:cubicBezTo>
                    <a:pt x="28803" y="22450"/>
                    <a:pt x="50582" y="14763"/>
                    <a:pt x="67269" y="0"/>
                  </a:cubicBezTo>
                </a:path>
              </a:pathLst>
            </a:custGeom>
            <a:noFill/>
            <a:ln w="14288">
              <a:solidFill>
                <a:srgbClr val="4E0D00"/>
              </a:solidFill>
            </a:ln>
          </p:spPr>
        </p:sp>
        <p:sp>
          <p:nvSpPr>
            <p:cNvPr id="117" name="TextBox 117"/>
            <p:cNvSpPr txBox="1"/>
            <p:nvPr/>
          </p:nvSpPr>
          <p:spPr>
            <a:xfrm>
              <a:off x="623888" y="5268039"/>
              <a:ext cx="54127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当前可信度</a:t>
              </a:r>
            </a:p>
          </p:txBody>
        </p:sp>
        <p:sp>
          <p:nvSpPr>
            <p:cNvPr id="118" name="Rectangle 118"/>
            <p:cNvSpPr/>
            <p:nvPr/>
          </p:nvSpPr>
          <p:spPr>
            <a:xfrm>
              <a:off x="628650" y="5486400"/>
              <a:ext cx="1428750" cy="76200"/>
            </a:xfrm>
            <a:prstGeom prst="roundRect">
              <a:avLst>
                <a:gd name="adj" fmla="val 50000"/>
              </a:avLst>
            </a:prstGeom>
            <a:solidFill>
              <a:srgbClr val="E2E8F2"/>
            </a:solidFill>
            <a:ln>
              <a:noFill/>
            </a:ln>
          </p:spPr>
        </p:sp>
        <p:sp>
          <p:nvSpPr>
            <p:cNvPr id="119" name="Rectangle 119"/>
            <p:cNvSpPr/>
            <p:nvPr/>
          </p:nvSpPr>
          <p:spPr>
            <a:xfrm>
              <a:off x="628650" y="5486400"/>
              <a:ext cx="647700" cy="76200"/>
            </a:xfrm>
            <a:prstGeom prst="roundRect">
              <a:avLst>
                <a:gd name="adj" fmla="val 50000"/>
              </a:avLst>
            </a:prstGeom>
            <a:solidFill>
              <a:srgbClr val="711E0D"/>
            </a:solidFill>
            <a:ln>
              <a:noFill/>
            </a:ln>
          </p:spPr>
        </p:sp>
        <p:sp>
          <p:nvSpPr>
            <p:cNvPr id="120" name="Ellipse 120"/>
            <p:cNvSpPr/>
            <p:nvPr/>
          </p:nvSpPr>
          <p:spPr>
            <a:xfrm>
              <a:off x="1219200" y="5467350"/>
              <a:ext cx="114300" cy="114300"/>
            </a:xfrm>
            <a:prstGeom prst="ellipse">
              <a:avLst/>
            </a:prstGeom>
            <a:solidFill>
              <a:srgbClr val="FFFFFF"/>
            </a:solidFill>
            <a:ln w="15240">
              <a:solidFill>
                <a:srgbClr val="711E0D"/>
              </a:solidFill>
            </a:ln>
          </p:spPr>
        </p:sp>
        <p:sp>
          <p:nvSpPr>
            <p:cNvPr id="121" name="TextBox 121"/>
            <p:cNvSpPr txBox="1"/>
            <p:nvPr/>
          </p:nvSpPr>
          <p:spPr>
            <a:xfrm>
              <a:off x="1058690" y="5695236"/>
              <a:ext cx="568669" cy="140494"/>
            </a:xfrm>
            <a:prstGeom prst="rect">
              <a:avLst/>
            </a:prstGeom>
            <a:noFill/>
            <a:ln>
              <a:noFill/>
            </a:ln>
          </p:spPr>
          <p:txBody>
            <a:bodyPr wrap="none" lIns="0" tIns="0" rIns="0" bIns="0" anchor="t" anchorCtr="0">
              <a:spAutoFit/>
            </a:bodyPr>
            <a:lstStyle/>
            <a:p>
              <a:pPr algn="ctr"/>
              <a:r>
                <a:rPr lang="zh-CN" sz="710" dirty="0">
                  <a:solidFill>
                    <a:srgbClr val="453633"/>
                  </a:solidFill>
                  <a:latin typeface="+mn-lt"/>
                  <a:ea typeface="+mn-ea"/>
                  <a:cs typeface="+mn-cs"/>
                </a:rPr>
                <a:t>中等（45%）</a:t>
              </a:r>
            </a:p>
          </p:txBody>
        </p:sp>
      </p:grpSp>
      <p:grpSp>
        <p:nvGrpSpPr>
          <p:cNvPr id="153" name="h2-card"/>
          <p:cNvGrpSpPr/>
          <p:nvPr/>
        </p:nvGrpSpPr>
        <p:grpSpPr>
          <a:xfrm>
            <a:off x="2419350" y="3028950"/>
            <a:ext cx="2076450" cy="3086100"/>
            <a:chOff x="2419350" y="3028950"/>
            <a:chExt cx="2076450" cy="3086100"/>
          </a:xfrm>
        </p:grpSpPr>
        <p:sp>
          <p:nvSpPr>
            <p:cNvPr id="123" name="Rectangle 123"/>
            <p:cNvSpPr/>
            <p:nvPr/>
          </p:nvSpPr>
          <p:spPr>
            <a:xfrm>
              <a:off x="2419350" y="3028950"/>
              <a:ext cx="2076450" cy="3086100"/>
            </a:xfrm>
            <a:prstGeom prst="rect">
              <a:avLst/>
            </a:prstGeom>
            <a:solidFill>
              <a:srgbClr val="FFFFFF"/>
            </a:solidFill>
            <a:ln w="9525">
              <a:solidFill>
                <a:srgbClr val="C7D2E4"/>
              </a:solidFill>
            </a:ln>
          </p:spPr>
        </p:sp>
        <p:sp>
          <p:nvSpPr>
            <p:cNvPr id="124" name="Rectangle 124"/>
            <p:cNvSpPr/>
            <p:nvPr/>
          </p:nvSpPr>
          <p:spPr>
            <a:xfrm>
              <a:off x="2419350" y="3028950"/>
              <a:ext cx="2076450" cy="285750"/>
            </a:xfrm>
            <a:prstGeom prst="rect">
              <a:avLst/>
            </a:prstGeom>
            <a:solidFill>
              <a:srgbClr val="4E0D00"/>
            </a:solidFill>
            <a:ln>
              <a:noFill/>
            </a:ln>
          </p:spPr>
        </p:sp>
        <p:sp>
          <p:nvSpPr>
            <p:cNvPr id="125" name="TextBox 125"/>
            <p:cNvSpPr txBox="1"/>
            <p:nvPr/>
          </p:nvSpPr>
          <p:spPr>
            <a:xfrm>
              <a:off x="3086311" y="3114199"/>
              <a:ext cx="7425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H2 产品问题</a:t>
              </a:r>
            </a:p>
          </p:txBody>
        </p:sp>
        <p:grpSp>
          <p:nvGrpSpPr>
            <p:cNvPr id="130" name="Group 130"/>
            <p:cNvGrpSpPr/>
            <p:nvPr/>
          </p:nvGrpSpPr>
          <p:grpSpPr>
            <a:xfrm>
              <a:off x="2600325" y="3431381"/>
              <a:ext cx="114300" cy="128588"/>
              <a:chOff x="2600325" y="3431381"/>
              <a:chExt cx="114300" cy="128588"/>
            </a:xfrm>
          </p:grpSpPr>
          <p:sp>
            <p:nvSpPr>
              <p:cNvPr id="126" name="Freeform 126"/>
              <p:cNvSpPr/>
              <p:nvPr/>
            </p:nvSpPr>
            <p:spPr>
              <a:xfrm>
                <a:off x="2600325" y="3431381"/>
                <a:ext cx="114300" cy="128588"/>
              </a:xfrm>
              <a:custGeom>
                <a:avLst/>
                <a:gdLst/>
                <a:ahLst/>
                <a:cxnLst/>
                <a:rect l="l" t="t" r="r" b="b"/>
                <a:pathLst>
                  <a:path w="114300" h="128588">
                    <a:moveTo>
                      <a:pt x="57150" y="0"/>
                    </a:moveTo>
                    <a:lnTo>
                      <a:pt x="114300" y="32147"/>
                    </a:lnTo>
                    <a:lnTo>
                      <a:pt x="114300" y="96441"/>
                    </a:lnTo>
                    <a:lnTo>
                      <a:pt x="57150" y="128588"/>
                    </a:lnTo>
                    <a:lnTo>
                      <a:pt x="0" y="96441"/>
                    </a:lnTo>
                    <a:lnTo>
                      <a:pt x="0" y="32147"/>
                    </a:lnTo>
                    <a:lnTo>
                      <a:pt x="57150" y="0"/>
                    </a:lnTo>
                  </a:path>
                </a:pathLst>
              </a:custGeom>
              <a:noFill/>
              <a:ln w="14288">
                <a:solidFill>
                  <a:srgbClr val="4E0D00"/>
                </a:solidFill>
              </a:ln>
            </p:spPr>
          </p:sp>
          <p:sp>
            <p:nvSpPr>
              <p:cNvPr id="127" name="Freeform 127"/>
              <p:cNvSpPr/>
              <p:nvPr/>
            </p:nvSpPr>
            <p:spPr>
              <a:xfrm>
                <a:off x="2657475" y="3463528"/>
                <a:ext cx="57150" cy="32147"/>
              </a:xfrm>
              <a:custGeom>
                <a:avLst/>
                <a:gdLst/>
                <a:ahLst/>
                <a:cxnLst/>
                <a:rect l="l" t="t" r="r" b="b"/>
                <a:pathLst>
                  <a:path w="57150" h="32147">
                    <a:moveTo>
                      <a:pt x="0" y="32147"/>
                    </a:moveTo>
                    <a:lnTo>
                      <a:pt x="57150" y="0"/>
                    </a:lnTo>
                  </a:path>
                </a:pathLst>
              </a:custGeom>
              <a:noFill/>
              <a:ln w="14288">
                <a:solidFill>
                  <a:srgbClr val="4E0D00"/>
                </a:solidFill>
              </a:ln>
            </p:spPr>
          </p:sp>
          <p:sp>
            <p:nvSpPr>
              <p:cNvPr id="128" name="Freeform 128"/>
              <p:cNvSpPr/>
              <p:nvPr/>
            </p:nvSpPr>
            <p:spPr>
              <a:xfrm>
                <a:off x="2657475" y="3495675"/>
                <a:ext cx="9525" cy="64294"/>
              </a:xfrm>
              <a:custGeom>
                <a:avLst/>
                <a:gdLst/>
                <a:ahLst/>
                <a:cxnLst/>
                <a:rect l="l" t="t" r="r" b="b"/>
                <a:pathLst>
                  <a:path w="9525" h="64294">
                    <a:moveTo>
                      <a:pt x="0" y="0"/>
                    </a:moveTo>
                    <a:lnTo>
                      <a:pt x="0" y="64294"/>
                    </a:lnTo>
                  </a:path>
                </a:pathLst>
              </a:custGeom>
              <a:noFill/>
              <a:ln w="14288">
                <a:solidFill>
                  <a:srgbClr val="4E0D00"/>
                </a:solidFill>
              </a:ln>
            </p:spPr>
          </p:sp>
          <p:sp>
            <p:nvSpPr>
              <p:cNvPr id="129" name="Freeform 129"/>
              <p:cNvSpPr/>
              <p:nvPr/>
            </p:nvSpPr>
            <p:spPr>
              <a:xfrm>
                <a:off x="2600325" y="3463528"/>
                <a:ext cx="57150" cy="32147"/>
              </a:xfrm>
              <a:custGeom>
                <a:avLst/>
                <a:gdLst/>
                <a:ahLst/>
                <a:cxnLst/>
                <a:rect l="l" t="t" r="r" b="b"/>
                <a:pathLst>
                  <a:path w="57150" h="32147">
                    <a:moveTo>
                      <a:pt x="57150" y="32147"/>
                    </a:moveTo>
                    <a:lnTo>
                      <a:pt x="0" y="0"/>
                    </a:lnTo>
                  </a:path>
                </a:pathLst>
              </a:custGeom>
              <a:noFill/>
              <a:ln w="14288">
                <a:solidFill>
                  <a:srgbClr val="4E0D00"/>
                </a:solidFill>
              </a:ln>
            </p:spPr>
          </p:sp>
        </p:grpSp>
        <p:sp>
          <p:nvSpPr>
            <p:cNvPr id="131" name="TextBox 131"/>
            <p:cNvSpPr txBox="1"/>
            <p:nvPr/>
          </p:nvSpPr>
          <p:spPr>
            <a:xfrm>
              <a:off x="2814638" y="3458289"/>
              <a:ext cx="43492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验证指标</a:t>
              </a:r>
            </a:p>
          </p:txBody>
        </p:sp>
        <p:sp>
          <p:nvSpPr>
            <p:cNvPr id="132" name="TextBox 132"/>
            <p:cNvSpPr txBox="1"/>
            <p:nvPr/>
          </p:nvSpPr>
          <p:spPr>
            <a:xfrm>
              <a:off x="2814638" y="364593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产品使用率，留存率，</a:t>
              </a:r>
            </a:p>
          </p:txBody>
        </p:sp>
        <p:sp>
          <p:nvSpPr>
            <p:cNvPr id="133" name="TextBox 133"/>
            <p:cNvSpPr txBox="1"/>
            <p:nvPr/>
          </p:nvSpPr>
          <p:spPr>
            <a:xfrm>
              <a:off x="2814638" y="3779282"/>
              <a:ext cx="81021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功能渗透率，NPS等​</a:t>
              </a:r>
            </a:p>
          </p:txBody>
        </p:sp>
        <p:sp>
          <p:nvSpPr>
            <p:cNvPr id="134" name="Line 134"/>
            <p:cNvSpPr/>
            <p:nvPr/>
          </p:nvSpPr>
          <p:spPr>
            <a:xfrm>
              <a:off x="2552700" y="3981450"/>
              <a:ext cx="1809750" cy="9525"/>
            </a:xfrm>
            <a:custGeom>
              <a:avLst/>
              <a:gdLst/>
              <a:ahLst/>
              <a:cxnLst/>
              <a:rect l="l" t="t" r="r" b="b"/>
              <a:pathLst>
                <a:path w="1809750" h="9525">
                  <a:moveTo>
                    <a:pt x="0" y="0"/>
                  </a:moveTo>
                  <a:lnTo>
                    <a:pt x="1809750" y="0"/>
                  </a:lnTo>
                </a:path>
              </a:pathLst>
            </a:custGeom>
            <a:noFill/>
            <a:ln w="9525">
              <a:solidFill>
                <a:srgbClr val="E2E8F2"/>
              </a:solidFill>
            </a:ln>
          </p:spPr>
        </p:sp>
        <p:grpSp>
          <p:nvGrpSpPr>
            <p:cNvPr id="140" name="Group 140"/>
            <p:cNvGrpSpPr/>
            <p:nvPr/>
          </p:nvGrpSpPr>
          <p:grpSpPr>
            <a:xfrm>
              <a:off x="2607469" y="4117181"/>
              <a:ext cx="100012" cy="128588"/>
              <a:chOff x="2607469" y="4117181"/>
              <a:chExt cx="100012" cy="128588"/>
            </a:xfrm>
          </p:grpSpPr>
          <p:sp>
            <p:nvSpPr>
              <p:cNvPr id="135" name="Freeform 135"/>
              <p:cNvSpPr/>
              <p:nvPr/>
            </p:nvSpPr>
            <p:spPr>
              <a:xfrm>
                <a:off x="2671762" y="41171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4E0D00"/>
                </a:solidFill>
              </a:ln>
            </p:spPr>
          </p:sp>
          <p:sp>
            <p:nvSpPr>
              <p:cNvPr id="136" name="Freeform 136"/>
              <p:cNvSpPr/>
              <p:nvPr/>
            </p:nvSpPr>
            <p:spPr>
              <a:xfrm>
                <a:off x="2607469" y="41171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4E0D00"/>
                </a:solidFill>
              </a:ln>
            </p:spPr>
          </p:sp>
          <p:sp>
            <p:nvSpPr>
              <p:cNvPr id="137" name="Freeform 137"/>
              <p:cNvSpPr/>
              <p:nvPr/>
            </p:nvSpPr>
            <p:spPr>
              <a:xfrm>
                <a:off x="2636044" y="4160044"/>
                <a:ext cx="9525" cy="9525"/>
              </a:xfrm>
              <a:custGeom>
                <a:avLst/>
                <a:gdLst/>
                <a:ahLst/>
                <a:cxnLst/>
                <a:rect l="l" t="t" r="r" b="b"/>
                <a:pathLst>
                  <a:path w="9525" h="9525">
                    <a:moveTo>
                      <a:pt x="0" y="0"/>
                    </a:moveTo>
                    <a:lnTo>
                      <a:pt x="7144" y="0"/>
                    </a:lnTo>
                  </a:path>
                </a:pathLst>
              </a:custGeom>
              <a:noFill/>
              <a:ln w="14288">
                <a:solidFill>
                  <a:srgbClr val="4E0D00"/>
                </a:solidFill>
              </a:ln>
            </p:spPr>
          </p:sp>
          <p:sp>
            <p:nvSpPr>
              <p:cNvPr id="138" name="Freeform 138"/>
              <p:cNvSpPr/>
              <p:nvPr/>
            </p:nvSpPr>
            <p:spPr>
              <a:xfrm>
                <a:off x="2636044" y="4188619"/>
                <a:ext cx="42862" cy="9525"/>
              </a:xfrm>
              <a:custGeom>
                <a:avLst/>
                <a:gdLst/>
                <a:ahLst/>
                <a:cxnLst/>
                <a:rect l="l" t="t" r="r" b="b"/>
                <a:pathLst>
                  <a:path w="42862" h="9525">
                    <a:moveTo>
                      <a:pt x="0" y="0"/>
                    </a:moveTo>
                    <a:lnTo>
                      <a:pt x="42862" y="0"/>
                    </a:lnTo>
                  </a:path>
                </a:pathLst>
              </a:custGeom>
              <a:noFill/>
              <a:ln w="14288">
                <a:solidFill>
                  <a:srgbClr val="4E0D00"/>
                </a:solidFill>
              </a:ln>
            </p:spPr>
          </p:sp>
          <p:sp>
            <p:nvSpPr>
              <p:cNvPr id="139" name="Freeform 139"/>
              <p:cNvSpPr/>
              <p:nvPr/>
            </p:nvSpPr>
            <p:spPr>
              <a:xfrm>
                <a:off x="2636044" y="4217194"/>
                <a:ext cx="42862" cy="9525"/>
              </a:xfrm>
              <a:custGeom>
                <a:avLst/>
                <a:gdLst/>
                <a:ahLst/>
                <a:cxnLst/>
                <a:rect l="l" t="t" r="r" b="b"/>
                <a:pathLst>
                  <a:path w="42862" h="9525">
                    <a:moveTo>
                      <a:pt x="0" y="0"/>
                    </a:moveTo>
                    <a:lnTo>
                      <a:pt x="42862" y="0"/>
                    </a:lnTo>
                  </a:path>
                </a:pathLst>
              </a:custGeom>
              <a:noFill/>
              <a:ln w="14288">
                <a:solidFill>
                  <a:srgbClr val="4E0D00"/>
                </a:solidFill>
              </a:ln>
            </p:spPr>
          </p:sp>
        </p:grpSp>
        <p:sp>
          <p:nvSpPr>
            <p:cNvPr id="141" name="TextBox 141"/>
            <p:cNvSpPr txBox="1"/>
            <p:nvPr/>
          </p:nvSpPr>
          <p:spPr>
            <a:xfrm>
              <a:off x="2814638" y="4144089"/>
              <a:ext cx="43492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核心证据</a:t>
              </a:r>
            </a:p>
          </p:txBody>
        </p:sp>
        <p:sp>
          <p:nvSpPr>
            <p:cNvPr id="142" name="TextBox 142"/>
            <p:cNvSpPr txBox="1"/>
            <p:nvPr/>
          </p:nvSpPr>
          <p:spPr>
            <a:xfrm>
              <a:off x="2814638" y="433173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产品埋点，用户行为，</a:t>
              </a:r>
            </a:p>
          </p:txBody>
        </p:sp>
        <p:sp>
          <p:nvSpPr>
            <p:cNvPr id="143" name="TextBox 143"/>
            <p:cNvSpPr txBox="1"/>
            <p:nvPr/>
          </p:nvSpPr>
          <p:spPr>
            <a:xfrm>
              <a:off x="2814638" y="4465082"/>
              <a:ext cx="89637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A/B测试，客服反馈等​</a:t>
              </a:r>
            </a:p>
          </p:txBody>
        </p:sp>
        <p:sp>
          <p:nvSpPr>
            <p:cNvPr id="144" name="Line 144"/>
            <p:cNvSpPr/>
            <p:nvPr/>
          </p:nvSpPr>
          <p:spPr>
            <a:xfrm>
              <a:off x="2552700" y="4667250"/>
              <a:ext cx="1809750" cy="9525"/>
            </a:xfrm>
            <a:custGeom>
              <a:avLst/>
              <a:gdLst/>
              <a:ahLst/>
              <a:cxnLst/>
              <a:rect l="l" t="t" r="r" b="b"/>
              <a:pathLst>
                <a:path w="1809750" h="9525">
                  <a:moveTo>
                    <a:pt x="0" y="0"/>
                  </a:moveTo>
                  <a:lnTo>
                    <a:pt x="1809750" y="0"/>
                  </a:lnTo>
                </a:path>
              </a:pathLst>
            </a:custGeom>
            <a:noFill/>
            <a:ln w="9525">
              <a:solidFill>
                <a:srgbClr val="E2E8F2"/>
              </a:solidFill>
            </a:ln>
          </p:spPr>
        </p:sp>
        <p:grpSp>
          <p:nvGrpSpPr>
            <p:cNvPr id="147" name="Group 147"/>
            <p:cNvGrpSpPr/>
            <p:nvPr/>
          </p:nvGrpSpPr>
          <p:grpSpPr>
            <a:xfrm>
              <a:off x="2583540" y="5241131"/>
              <a:ext cx="139505" cy="128588"/>
              <a:chOff x="2583540" y="5241131"/>
              <a:chExt cx="139505" cy="128588"/>
            </a:xfrm>
          </p:grpSpPr>
          <p:sp>
            <p:nvSpPr>
              <p:cNvPr id="145" name="Freeform 145"/>
              <p:cNvSpPr/>
              <p:nvPr/>
            </p:nvSpPr>
            <p:spPr>
              <a:xfrm>
                <a:off x="2583540" y="524113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4E0D00"/>
                </a:solidFill>
              </a:ln>
            </p:spPr>
          </p:sp>
          <p:sp>
            <p:nvSpPr>
              <p:cNvPr id="146" name="Freeform 146"/>
              <p:cNvSpPr/>
              <p:nvPr/>
            </p:nvSpPr>
            <p:spPr>
              <a:xfrm>
                <a:off x="2678906" y="5341144"/>
                <a:ext cx="42862" cy="28575"/>
              </a:xfrm>
              <a:custGeom>
                <a:avLst/>
                <a:gdLst/>
                <a:ahLst/>
                <a:cxnLst/>
                <a:rect l="l" t="t" r="r" b="b"/>
                <a:pathLst>
                  <a:path w="42862" h="28575">
                    <a:moveTo>
                      <a:pt x="0" y="14288"/>
                    </a:moveTo>
                    <a:lnTo>
                      <a:pt x="14288" y="28575"/>
                    </a:lnTo>
                    <a:lnTo>
                      <a:pt x="42862" y="0"/>
                    </a:lnTo>
                  </a:path>
                </a:pathLst>
              </a:custGeom>
              <a:noFill/>
              <a:ln w="14288">
                <a:solidFill>
                  <a:srgbClr val="4E0D00"/>
                </a:solidFill>
              </a:ln>
            </p:spPr>
          </p:sp>
        </p:grpSp>
        <p:sp>
          <p:nvSpPr>
            <p:cNvPr id="148" name="TextBox 148"/>
            <p:cNvSpPr txBox="1"/>
            <p:nvPr/>
          </p:nvSpPr>
          <p:spPr>
            <a:xfrm>
              <a:off x="2814638" y="5268039"/>
              <a:ext cx="54127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当前可信度</a:t>
              </a:r>
            </a:p>
          </p:txBody>
        </p:sp>
        <p:sp>
          <p:nvSpPr>
            <p:cNvPr id="149" name="Rectangle 149"/>
            <p:cNvSpPr/>
            <p:nvPr/>
          </p:nvSpPr>
          <p:spPr>
            <a:xfrm>
              <a:off x="2819400" y="5486400"/>
              <a:ext cx="1428750" cy="76200"/>
            </a:xfrm>
            <a:prstGeom prst="roundRect">
              <a:avLst>
                <a:gd name="adj" fmla="val 50000"/>
              </a:avLst>
            </a:prstGeom>
            <a:solidFill>
              <a:srgbClr val="E2E8F2"/>
            </a:solidFill>
            <a:ln>
              <a:noFill/>
            </a:ln>
          </p:spPr>
        </p:sp>
        <p:sp>
          <p:nvSpPr>
            <p:cNvPr id="150" name="Rectangle 150"/>
            <p:cNvSpPr/>
            <p:nvPr/>
          </p:nvSpPr>
          <p:spPr>
            <a:xfrm>
              <a:off x="2819400" y="5486400"/>
              <a:ext cx="857250" cy="76200"/>
            </a:xfrm>
            <a:prstGeom prst="roundRect">
              <a:avLst>
                <a:gd name="adj" fmla="val 50000"/>
              </a:avLst>
            </a:prstGeom>
            <a:solidFill>
              <a:srgbClr val="711E0D"/>
            </a:solidFill>
            <a:ln>
              <a:noFill/>
            </a:ln>
          </p:spPr>
        </p:sp>
        <p:sp>
          <p:nvSpPr>
            <p:cNvPr id="151" name="Ellipse 151"/>
            <p:cNvSpPr/>
            <p:nvPr/>
          </p:nvSpPr>
          <p:spPr>
            <a:xfrm>
              <a:off x="3619500" y="5467350"/>
              <a:ext cx="114300" cy="114300"/>
            </a:xfrm>
            <a:prstGeom prst="ellipse">
              <a:avLst/>
            </a:prstGeom>
            <a:solidFill>
              <a:srgbClr val="FFFFFF"/>
            </a:solidFill>
            <a:ln w="15240">
              <a:solidFill>
                <a:srgbClr val="711E0D"/>
              </a:solidFill>
            </a:ln>
          </p:spPr>
        </p:sp>
        <p:sp>
          <p:nvSpPr>
            <p:cNvPr id="152" name="TextBox 152"/>
            <p:cNvSpPr txBox="1"/>
            <p:nvPr/>
          </p:nvSpPr>
          <p:spPr>
            <a:xfrm>
              <a:off x="3153860" y="5695236"/>
              <a:ext cx="759830" cy="140494"/>
            </a:xfrm>
            <a:prstGeom prst="rect">
              <a:avLst/>
            </a:prstGeom>
            <a:noFill/>
            <a:ln>
              <a:noFill/>
            </a:ln>
          </p:spPr>
          <p:txBody>
            <a:bodyPr wrap="none" lIns="0" tIns="0" rIns="0" bIns="0" anchor="t" anchorCtr="0">
              <a:spAutoFit/>
            </a:bodyPr>
            <a:lstStyle/>
            <a:p>
              <a:pPr algn="ctr"/>
              <a:r>
                <a:rPr lang="zh-CN" sz="710" dirty="0">
                  <a:solidFill>
                    <a:srgbClr val="453633"/>
                  </a:solidFill>
                  <a:latin typeface="+mn-lt"/>
                  <a:ea typeface="+mn-ea"/>
                  <a:cs typeface="+mn-cs"/>
                </a:rPr>
                <a:t>中等偏高（60%）</a:t>
              </a:r>
            </a:p>
          </p:txBody>
        </p:sp>
      </p:grpSp>
      <p:grpSp>
        <p:nvGrpSpPr>
          <p:cNvPr id="180" name="h3-card"/>
          <p:cNvGrpSpPr/>
          <p:nvPr/>
        </p:nvGrpSpPr>
        <p:grpSpPr>
          <a:xfrm>
            <a:off x="4610100" y="3028950"/>
            <a:ext cx="2076450" cy="3086100"/>
            <a:chOff x="4610100" y="3028950"/>
            <a:chExt cx="2076450" cy="3086100"/>
          </a:xfrm>
        </p:grpSpPr>
        <p:sp>
          <p:nvSpPr>
            <p:cNvPr id="154" name="Rectangle 154"/>
            <p:cNvSpPr/>
            <p:nvPr/>
          </p:nvSpPr>
          <p:spPr>
            <a:xfrm>
              <a:off x="4610100" y="3028950"/>
              <a:ext cx="2076450" cy="3086100"/>
            </a:xfrm>
            <a:prstGeom prst="rect">
              <a:avLst/>
            </a:prstGeom>
            <a:solidFill>
              <a:srgbClr val="FFFFFF"/>
            </a:solidFill>
            <a:ln w="9525">
              <a:solidFill>
                <a:srgbClr val="C7D2E4"/>
              </a:solidFill>
            </a:ln>
          </p:spPr>
        </p:sp>
        <p:sp>
          <p:nvSpPr>
            <p:cNvPr id="155" name="Rectangle 155"/>
            <p:cNvSpPr/>
            <p:nvPr/>
          </p:nvSpPr>
          <p:spPr>
            <a:xfrm>
              <a:off x="4610100" y="3028950"/>
              <a:ext cx="2076450" cy="285750"/>
            </a:xfrm>
            <a:prstGeom prst="rect">
              <a:avLst/>
            </a:prstGeom>
            <a:solidFill>
              <a:srgbClr val="4E0D00"/>
            </a:solidFill>
            <a:ln>
              <a:noFill/>
            </a:ln>
          </p:spPr>
        </p:sp>
        <p:sp>
          <p:nvSpPr>
            <p:cNvPr id="156" name="TextBox 156"/>
            <p:cNvSpPr txBox="1"/>
            <p:nvPr/>
          </p:nvSpPr>
          <p:spPr>
            <a:xfrm>
              <a:off x="5277061" y="3114199"/>
              <a:ext cx="7425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H3 渠道问题</a:t>
              </a:r>
            </a:p>
          </p:txBody>
        </p:sp>
        <p:grpSp>
          <p:nvGrpSpPr>
            <p:cNvPr id="159" name="Group 159"/>
            <p:cNvGrpSpPr/>
            <p:nvPr/>
          </p:nvGrpSpPr>
          <p:grpSpPr>
            <a:xfrm>
              <a:off x="4781639" y="3431381"/>
              <a:ext cx="130880" cy="130880"/>
              <a:chOff x="4781639" y="3431381"/>
              <a:chExt cx="130880" cy="130880"/>
            </a:xfrm>
          </p:grpSpPr>
          <p:sp>
            <p:nvSpPr>
              <p:cNvPr id="157" name="Freeform 157"/>
              <p:cNvSpPr/>
              <p:nvPr/>
            </p:nvSpPr>
            <p:spPr>
              <a:xfrm>
                <a:off x="4833938" y="3431381"/>
                <a:ext cx="78581" cy="78581"/>
              </a:xfrm>
              <a:custGeom>
                <a:avLst/>
                <a:gdLst/>
                <a:ahLst/>
                <a:cxnLst/>
                <a:rect l="l" t="t" r="r" b="b"/>
                <a:pathLst>
                  <a:path w="78581" h="78581">
                    <a:moveTo>
                      <a:pt x="0" y="78581"/>
                    </a:moveTo>
                    <a:lnTo>
                      <a:pt x="78581" y="0"/>
                    </a:lnTo>
                  </a:path>
                </a:pathLst>
              </a:custGeom>
              <a:noFill/>
              <a:ln w="14288">
                <a:solidFill>
                  <a:srgbClr val="4E0D00"/>
                </a:solidFill>
              </a:ln>
            </p:spPr>
          </p:sp>
          <p:sp>
            <p:nvSpPr>
              <p:cNvPr id="158" name="Freeform 158"/>
              <p:cNvSpPr/>
              <p:nvPr/>
            </p:nvSpPr>
            <p:spPr>
              <a:xfrm>
                <a:off x="4781639" y="3431381"/>
                <a:ext cx="130880" cy="130880"/>
              </a:xfrm>
              <a:custGeom>
                <a:avLst/>
                <a:gdLst/>
                <a:ahLst/>
                <a:cxnLst/>
                <a:rect l="l" t="t" r="r" b="b"/>
                <a:pathLst>
                  <a:path w="130880" h="130880">
                    <a:moveTo>
                      <a:pt x="130880" y="0"/>
                    </a:moveTo>
                    <a:lnTo>
                      <a:pt x="84445" y="128588"/>
                    </a:lnTo>
                    <a:cubicBezTo>
                      <a:pt x="83805" y="129984"/>
                      <a:pt x="82410" y="130880"/>
                      <a:pt x="80873" y="130880"/>
                    </a:cubicBezTo>
                    <a:cubicBezTo>
                      <a:pt x="79337" y="130880"/>
                      <a:pt x="77942" y="129984"/>
                      <a:pt x="77302" y="128588"/>
                    </a:cubicBezTo>
                    <a:lnTo>
                      <a:pt x="52298" y="78581"/>
                    </a:lnTo>
                    <a:lnTo>
                      <a:pt x="2292" y="53578"/>
                    </a:lnTo>
                    <a:cubicBezTo>
                      <a:pt x="896" y="52938"/>
                      <a:pt x="0" y="51543"/>
                      <a:pt x="0" y="50006"/>
                    </a:cubicBezTo>
                    <a:cubicBezTo>
                      <a:pt x="0" y="48470"/>
                      <a:pt x="896" y="47074"/>
                      <a:pt x="2292" y="46434"/>
                    </a:cubicBezTo>
                    <a:lnTo>
                      <a:pt x="130880" y="0"/>
                    </a:lnTo>
                  </a:path>
                </a:pathLst>
              </a:custGeom>
              <a:noFill/>
              <a:ln w="14288">
                <a:solidFill>
                  <a:srgbClr val="4E0D00"/>
                </a:solidFill>
              </a:ln>
            </p:spPr>
          </p:sp>
        </p:grpSp>
        <p:sp>
          <p:nvSpPr>
            <p:cNvPr id="160" name="TextBox 160"/>
            <p:cNvSpPr txBox="1"/>
            <p:nvPr/>
          </p:nvSpPr>
          <p:spPr>
            <a:xfrm>
              <a:off x="5005388" y="3458289"/>
              <a:ext cx="43492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验证指标</a:t>
              </a:r>
            </a:p>
          </p:txBody>
        </p:sp>
        <p:sp>
          <p:nvSpPr>
            <p:cNvPr id="161" name="TextBox 161"/>
            <p:cNvSpPr txBox="1"/>
            <p:nvPr/>
          </p:nvSpPr>
          <p:spPr>
            <a:xfrm>
              <a:off x="5005388" y="364593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获客成本，转化率，</a:t>
              </a:r>
            </a:p>
          </p:txBody>
        </p:sp>
        <p:sp>
          <p:nvSpPr>
            <p:cNvPr id="162" name="TextBox 162"/>
            <p:cNvSpPr txBox="1"/>
            <p:nvPr/>
          </p:nvSpPr>
          <p:spPr>
            <a:xfrm>
              <a:off x="5005388" y="3779282"/>
              <a:ext cx="80566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渠道ROI，触达率等​</a:t>
              </a:r>
            </a:p>
          </p:txBody>
        </p:sp>
        <p:sp>
          <p:nvSpPr>
            <p:cNvPr id="163" name="Line 163"/>
            <p:cNvSpPr/>
            <p:nvPr/>
          </p:nvSpPr>
          <p:spPr>
            <a:xfrm>
              <a:off x="4743450" y="3981450"/>
              <a:ext cx="1809750" cy="9525"/>
            </a:xfrm>
            <a:custGeom>
              <a:avLst/>
              <a:gdLst/>
              <a:ahLst/>
              <a:cxnLst/>
              <a:rect l="l" t="t" r="r" b="b"/>
              <a:pathLst>
                <a:path w="1809750" h="9525">
                  <a:moveTo>
                    <a:pt x="0" y="0"/>
                  </a:moveTo>
                  <a:lnTo>
                    <a:pt x="1809750" y="0"/>
                  </a:lnTo>
                </a:path>
              </a:pathLst>
            </a:custGeom>
            <a:noFill/>
            <a:ln w="9525">
              <a:solidFill>
                <a:srgbClr val="E2E8F2"/>
              </a:solidFill>
            </a:ln>
          </p:spPr>
        </p:sp>
        <p:grpSp>
          <p:nvGrpSpPr>
            <p:cNvPr id="169" name="Group 169"/>
            <p:cNvGrpSpPr/>
            <p:nvPr/>
          </p:nvGrpSpPr>
          <p:grpSpPr>
            <a:xfrm>
              <a:off x="4798219" y="4117181"/>
              <a:ext cx="100012" cy="128588"/>
              <a:chOff x="4798219" y="4117181"/>
              <a:chExt cx="100012" cy="128588"/>
            </a:xfrm>
          </p:grpSpPr>
          <p:sp>
            <p:nvSpPr>
              <p:cNvPr id="164" name="Freeform 164"/>
              <p:cNvSpPr/>
              <p:nvPr/>
            </p:nvSpPr>
            <p:spPr>
              <a:xfrm>
                <a:off x="4862512" y="41171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4E0D00"/>
                </a:solidFill>
              </a:ln>
            </p:spPr>
          </p:sp>
          <p:sp>
            <p:nvSpPr>
              <p:cNvPr id="165" name="Freeform 165"/>
              <p:cNvSpPr/>
              <p:nvPr/>
            </p:nvSpPr>
            <p:spPr>
              <a:xfrm>
                <a:off x="4798219" y="41171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4E0D00"/>
                </a:solidFill>
              </a:ln>
            </p:spPr>
          </p:sp>
          <p:sp>
            <p:nvSpPr>
              <p:cNvPr id="166" name="Freeform 166"/>
              <p:cNvSpPr/>
              <p:nvPr/>
            </p:nvSpPr>
            <p:spPr>
              <a:xfrm>
                <a:off x="4826794" y="4160044"/>
                <a:ext cx="9525" cy="9525"/>
              </a:xfrm>
              <a:custGeom>
                <a:avLst/>
                <a:gdLst/>
                <a:ahLst/>
                <a:cxnLst/>
                <a:rect l="l" t="t" r="r" b="b"/>
                <a:pathLst>
                  <a:path w="9525" h="9525">
                    <a:moveTo>
                      <a:pt x="0" y="0"/>
                    </a:moveTo>
                    <a:lnTo>
                      <a:pt x="7144" y="0"/>
                    </a:lnTo>
                  </a:path>
                </a:pathLst>
              </a:custGeom>
              <a:noFill/>
              <a:ln w="14288">
                <a:solidFill>
                  <a:srgbClr val="4E0D00"/>
                </a:solidFill>
              </a:ln>
            </p:spPr>
          </p:sp>
          <p:sp>
            <p:nvSpPr>
              <p:cNvPr id="167" name="Freeform 167"/>
              <p:cNvSpPr/>
              <p:nvPr/>
            </p:nvSpPr>
            <p:spPr>
              <a:xfrm>
                <a:off x="4826794" y="4188619"/>
                <a:ext cx="42862" cy="9525"/>
              </a:xfrm>
              <a:custGeom>
                <a:avLst/>
                <a:gdLst/>
                <a:ahLst/>
                <a:cxnLst/>
                <a:rect l="l" t="t" r="r" b="b"/>
                <a:pathLst>
                  <a:path w="42862" h="9525">
                    <a:moveTo>
                      <a:pt x="0" y="0"/>
                    </a:moveTo>
                    <a:lnTo>
                      <a:pt x="42862" y="0"/>
                    </a:lnTo>
                  </a:path>
                </a:pathLst>
              </a:custGeom>
              <a:noFill/>
              <a:ln w="14288">
                <a:solidFill>
                  <a:srgbClr val="4E0D00"/>
                </a:solidFill>
              </a:ln>
            </p:spPr>
          </p:sp>
          <p:sp>
            <p:nvSpPr>
              <p:cNvPr id="168" name="Freeform 168"/>
              <p:cNvSpPr/>
              <p:nvPr/>
            </p:nvSpPr>
            <p:spPr>
              <a:xfrm>
                <a:off x="4826794" y="4217194"/>
                <a:ext cx="42862" cy="9525"/>
              </a:xfrm>
              <a:custGeom>
                <a:avLst/>
                <a:gdLst/>
                <a:ahLst/>
                <a:cxnLst/>
                <a:rect l="l" t="t" r="r" b="b"/>
                <a:pathLst>
                  <a:path w="42862" h="9525">
                    <a:moveTo>
                      <a:pt x="0" y="0"/>
                    </a:moveTo>
                    <a:lnTo>
                      <a:pt x="42862" y="0"/>
                    </a:lnTo>
                  </a:path>
                </a:pathLst>
              </a:custGeom>
              <a:noFill/>
              <a:ln w="14288">
                <a:solidFill>
                  <a:srgbClr val="4E0D00"/>
                </a:solidFill>
              </a:ln>
            </p:spPr>
          </p:sp>
        </p:grpSp>
        <p:sp>
          <p:nvSpPr>
            <p:cNvPr id="170" name="TextBox 170"/>
            <p:cNvSpPr txBox="1"/>
            <p:nvPr/>
          </p:nvSpPr>
          <p:spPr>
            <a:xfrm>
              <a:off x="5005388" y="4144089"/>
              <a:ext cx="43492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核心证据</a:t>
              </a:r>
            </a:p>
          </p:txBody>
        </p:sp>
        <p:sp>
          <p:nvSpPr>
            <p:cNvPr id="171" name="TextBox 171"/>
            <p:cNvSpPr txBox="1"/>
            <p:nvPr/>
          </p:nvSpPr>
          <p:spPr>
            <a:xfrm>
              <a:off x="5005388" y="433173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广告投放，渠道数据，</a:t>
              </a:r>
            </a:p>
          </p:txBody>
        </p:sp>
        <p:sp>
          <p:nvSpPr>
            <p:cNvPr id="172" name="TextBox 172"/>
            <p:cNvSpPr txBox="1"/>
            <p:nvPr/>
          </p:nvSpPr>
          <p:spPr>
            <a:xfrm>
              <a:off x="5005388" y="446508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用户路径，离机转化等</a:t>
              </a:r>
            </a:p>
          </p:txBody>
        </p:sp>
        <p:sp>
          <p:nvSpPr>
            <p:cNvPr id="173" name="Line 173"/>
            <p:cNvSpPr/>
            <p:nvPr/>
          </p:nvSpPr>
          <p:spPr>
            <a:xfrm>
              <a:off x="4743450" y="4667250"/>
              <a:ext cx="1809750" cy="9525"/>
            </a:xfrm>
            <a:custGeom>
              <a:avLst/>
              <a:gdLst/>
              <a:ahLst/>
              <a:cxnLst/>
              <a:rect l="l" t="t" r="r" b="b"/>
              <a:pathLst>
                <a:path w="1809750" h="9525">
                  <a:moveTo>
                    <a:pt x="0" y="0"/>
                  </a:moveTo>
                  <a:lnTo>
                    <a:pt x="1809750" y="0"/>
                  </a:lnTo>
                </a:path>
              </a:pathLst>
            </a:custGeom>
            <a:noFill/>
            <a:ln w="9525">
              <a:solidFill>
                <a:srgbClr val="E2E8F2"/>
              </a:solidFill>
            </a:ln>
          </p:spPr>
        </p:sp>
        <p:sp>
          <p:nvSpPr>
            <p:cNvPr id="174" name="Freeform 174"/>
            <p:cNvSpPr/>
            <p:nvPr/>
          </p:nvSpPr>
          <p:spPr>
            <a:xfrm>
              <a:off x="4780956" y="5241131"/>
              <a:ext cx="134537" cy="128588"/>
            </a:xfrm>
            <a:custGeom>
              <a:avLst/>
              <a:gdLst/>
              <a:ahLst/>
              <a:cxnLst/>
              <a:rect l="l" t="t" r="r" b="b"/>
              <a:pathLst>
                <a:path w="134537" h="128588">
                  <a:moveTo>
                    <a:pt x="67269" y="0"/>
                  </a:moveTo>
                  <a:cubicBezTo>
                    <a:pt x="83955" y="14763"/>
                    <a:pt x="105734" y="22450"/>
                    <a:pt x="127991" y="21431"/>
                  </a:cubicBezTo>
                  <a:cubicBezTo>
                    <a:pt x="134537" y="43702"/>
                    <a:pt x="131773" y="67676"/>
                    <a:pt x="120328" y="87872"/>
                  </a:cubicBezTo>
                  <a:cubicBezTo>
                    <a:pt x="108884" y="108068"/>
                    <a:pt x="89738" y="122759"/>
                    <a:pt x="67269" y="128588"/>
                  </a:cubicBezTo>
                  <a:cubicBezTo>
                    <a:pt x="44799" y="122759"/>
                    <a:pt x="25654" y="108068"/>
                    <a:pt x="14209" y="87872"/>
                  </a:cubicBezTo>
                  <a:cubicBezTo>
                    <a:pt x="2765" y="67676"/>
                    <a:pt x="0" y="43702"/>
                    <a:pt x="6547" y="21431"/>
                  </a:cubicBezTo>
                  <a:cubicBezTo>
                    <a:pt x="28803" y="22450"/>
                    <a:pt x="50582" y="14763"/>
                    <a:pt x="67269" y="0"/>
                  </a:cubicBezTo>
                </a:path>
              </a:pathLst>
            </a:custGeom>
            <a:noFill/>
            <a:ln w="14288">
              <a:solidFill>
                <a:srgbClr val="4E0D00"/>
              </a:solidFill>
            </a:ln>
          </p:spPr>
        </p:sp>
        <p:sp>
          <p:nvSpPr>
            <p:cNvPr id="175" name="TextBox 175"/>
            <p:cNvSpPr txBox="1"/>
            <p:nvPr/>
          </p:nvSpPr>
          <p:spPr>
            <a:xfrm>
              <a:off x="5005388" y="5268039"/>
              <a:ext cx="54127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当前可信度</a:t>
              </a:r>
            </a:p>
          </p:txBody>
        </p:sp>
        <p:sp>
          <p:nvSpPr>
            <p:cNvPr id="176" name="Rectangle 176"/>
            <p:cNvSpPr/>
            <p:nvPr/>
          </p:nvSpPr>
          <p:spPr>
            <a:xfrm>
              <a:off x="5010150" y="5486400"/>
              <a:ext cx="1428750" cy="76200"/>
            </a:xfrm>
            <a:prstGeom prst="roundRect">
              <a:avLst>
                <a:gd name="adj" fmla="val 50000"/>
              </a:avLst>
            </a:prstGeom>
            <a:solidFill>
              <a:srgbClr val="E2E8F2"/>
            </a:solidFill>
            <a:ln>
              <a:noFill/>
            </a:ln>
          </p:spPr>
        </p:sp>
        <p:sp>
          <p:nvSpPr>
            <p:cNvPr id="177" name="Rectangle 177"/>
            <p:cNvSpPr/>
            <p:nvPr/>
          </p:nvSpPr>
          <p:spPr>
            <a:xfrm>
              <a:off x="5010150" y="5486400"/>
              <a:ext cx="428625" cy="76200"/>
            </a:xfrm>
            <a:prstGeom prst="roundRect">
              <a:avLst>
                <a:gd name="adj" fmla="val 50000"/>
              </a:avLst>
            </a:prstGeom>
            <a:solidFill>
              <a:srgbClr val="711E0D"/>
            </a:solidFill>
            <a:ln>
              <a:noFill/>
            </a:ln>
          </p:spPr>
        </p:sp>
        <p:sp>
          <p:nvSpPr>
            <p:cNvPr id="178" name="Ellipse 178"/>
            <p:cNvSpPr/>
            <p:nvPr/>
          </p:nvSpPr>
          <p:spPr>
            <a:xfrm>
              <a:off x="5381625" y="5467350"/>
              <a:ext cx="114300" cy="114300"/>
            </a:xfrm>
            <a:prstGeom prst="ellipse">
              <a:avLst/>
            </a:prstGeom>
            <a:solidFill>
              <a:srgbClr val="FFFFFF"/>
            </a:solidFill>
            <a:ln w="15240">
              <a:solidFill>
                <a:srgbClr val="711E0D"/>
              </a:solidFill>
            </a:ln>
          </p:spPr>
        </p:sp>
        <p:sp>
          <p:nvSpPr>
            <p:cNvPr id="179" name="TextBox 179"/>
            <p:cNvSpPr txBox="1"/>
            <p:nvPr/>
          </p:nvSpPr>
          <p:spPr>
            <a:xfrm>
              <a:off x="5440190" y="5695236"/>
              <a:ext cx="568669" cy="140494"/>
            </a:xfrm>
            <a:prstGeom prst="rect">
              <a:avLst/>
            </a:prstGeom>
            <a:noFill/>
            <a:ln>
              <a:noFill/>
            </a:ln>
          </p:spPr>
          <p:txBody>
            <a:bodyPr wrap="none" lIns="0" tIns="0" rIns="0" bIns="0" anchor="t" anchorCtr="0">
              <a:spAutoFit/>
            </a:bodyPr>
            <a:lstStyle/>
            <a:p>
              <a:pPr algn="ctr"/>
              <a:r>
                <a:rPr lang="zh-CN" sz="710" dirty="0">
                  <a:solidFill>
                    <a:srgbClr val="453633"/>
                  </a:solidFill>
                  <a:latin typeface="+mn-lt"/>
                  <a:ea typeface="+mn-ea"/>
                  <a:cs typeface="+mn-cs"/>
                </a:rPr>
                <a:t>偏低（30%）</a:t>
              </a:r>
            </a:p>
          </p:txBody>
        </p:sp>
      </p:grpSp>
      <p:grpSp>
        <p:nvGrpSpPr>
          <p:cNvPr id="209" name="h4-card"/>
          <p:cNvGrpSpPr/>
          <p:nvPr/>
        </p:nvGrpSpPr>
        <p:grpSpPr>
          <a:xfrm>
            <a:off x="6800850" y="3028950"/>
            <a:ext cx="2076450" cy="3086100"/>
            <a:chOff x="6800850" y="3028950"/>
            <a:chExt cx="2076450" cy="3086100"/>
          </a:xfrm>
        </p:grpSpPr>
        <p:sp>
          <p:nvSpPr>
            <p:cNvPr id="181" name="Rectangle 181"/>
            <p:cNvSpPr/>
            <p:nvPr/>
          </p:nvSpPr>
          <p:spPr>
            <a:xfrm>
              <a:off x="6800850" y="3028950"/>
              <a:ext cx="2076450" cy="3086100"/>
            </a:xfrm>
            <a:prstGeom prst="rect">
              <a:avLst/>
            </a:prstGeom>
            <a:solidFill>
              <a:srgbClr val="FFFFFF"/>
            </a:solidFill>
            <a:ln w="9525">
              <a:solidFill>
                <a:srgbClr val="C7D2E4"/>
              </a:solidFill>
            </a:ln>
          </p:spPr>
        </p:sp>
        <p:sp>
          <p:nvSpPr>
            <p:cNvPr id="182" name="Rectangle 182"/>
            <p:cNvSpPr/>
            <p:nvPr/>
          </p:nvSpPr>
          <p:spPr>
            <a:xfrm>
              <a:off x="6800850" y="3028950"/>
              <a:ext cx="2076450" cy="285750"/>
            </a:xfrm>
            <a:prstGeom prst="rect">
              <a:avLst/>
            </a:prstGeom>
            <a:solidFill>
              <a:srgbClr val="4E0D00"/>
            </a:solidFill>
            <a:ln>
              <a:noFill/>
            </a:ln>
          </p:spPr>
        </p:sp>
        <p:sp>
          <p:nvSpPr>
            <p:cNvPr id="183" name="TextBox 183"/>
            <p:cNvSpPr txBox="1"/>
            <p:nvPr/>
          </p:nvSpPr>
          <p:spPr>
            <a:xfrm>
              <a:off x="7467811" y="3114199"/>
              <a:ext cx="74252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H4 组织问题</a:t>
              </a:r>
            </a:p>
          </p:txBody>
        </p:sp>
        <p:grpSp>
          <p:nvGrpSpPr>
            <p:cNvPr id="186" name="Group 186"/>
            <p:cNvGrpSpPr/>
            <p:nvPr/>
          </p:nvGrpSpPr>
          <p:grpSpPr>
            <a:xfrm>
              <a:off x="6996112" y="3431381"/>
              <a:ext cx="85725" cy="128587"/>
              <a:chOff x="6996112" y="3431381"/>
              <a:chExt cx="85725" cy="128587"/>
            </a:xfrm>
          </p:grpSpPr>
          <p:sp>
            <p:nvSpPr>
              <p:cNvPr id="184" name="Freeform 184"/>
              <p:cNvSpPr/>
              <p:nvPr/>
            </p:nvSpPr>
            <p:spPr>
              <a:xfrm>
                <a:off x="7010400" y="343138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4E0D00"/>
                </a:solidFill>
              </a:ln>
            </p:spPr>
          </p:sp>
          <p:sp>
            <p:nvSpPr>
              <p:cNvPr id="185" name="Freeform 185"/>
              <p:cNvSpPr/>
              <p:nvPr/>
            </p:nvSpPr>
            <p:spPr>
              <a:xfrm>
                <a:off x="6996112" y="351710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4E0D00"/>
                </a:solidFill>
              </a:ln>
            </p:spPr>
          </p:sp>
        </p:grpSp>
        <p:sp>
          <p:nvSpPr>
            <p:cNvPr id="187" name="TextBox 187"/>
            <p:cNvSpPr txBox="1"/>
            <p:nvPr/>
          </p:nvSpPr>
          <p:spPr>
            <a:xfrm>
              <a:off x="7196138" y="3458289"/>
              <a:ext cx="43492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验证指标</a:t>
              </a:r>
            </a:p>
          </p:txBody>
        </p:sp>
        <p:sp>
          <p:nvSpPr>
            <p:cNvPr id="188" name="TextBox 188"/>
            <p:cNvSpPr txBox="1"/>
            <p:nvPr/>
          </p:nvSpPr>
          <p:spPr>
            <a:xfrm>
              <a:off x="7196138" y="364593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团队效能，人均产出，</a:t>
              </a:r>
            </a:p>
          </p:txBody>
        </p:sp>
        <p:sp>
          <p:nvSpPr>
            <p:cNvPr id="189" name="TextBox 189"/>
            <p:cNvSpPr txBox="1"/>
            <p:nvPr/>
          </p:nvSpPr>
          <p:spPr>
            <a:xfrm>
              <a:off x="7196138" y="377928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流程周期，协同质量等</a:t>
              </a:r>
            </a:p>
          </p:txBody>
        </p:sp>
        <p:sp>
          <p:nvSpPr>
            <p:cNvPr id="190" name="Line 190"/>
            <p:cNvSpPr/>
            <p:nvPr/>
          </p:nvSpPr>
          <p:spPr>
            <a:xfrm>
              <a:off x="6934200" y="3981450"/>
              <a:ext cx="1809750" cy="9525"/>
            </a:xfrm>
            <a:custGeom>
              <a:avLst/>
              <a:gdLst/>
              <a:ahLst/>
              <a:cxnLst/>
              <a:rect l="l" t="t" r="r" b="b"/>
              <a:pathLst>
                <a:path w="1809750" h="9525">
                  <a:moveTo>
                    <a:pt x="0" y="0"/>
                  </a:moveTo>
                  <a:lnTo>
                    <a:pt x="1809750" y="0"/>
                  </a:lnTo>
                </a:path>
              </a:pathLst>
            </a:custGeom>
            <a:noFill/>
            <a:ln w="9525">
              <a:solidFill>
                <a:srgbClr val="E2E8F2"/>
              </a:solidFill>
            </a:ln>
          </p:spPr>
        </p:sp>
        <p:grpSp>
          <p:nvGrpSpPr>
            <p:cNvPr id="196" name="Group 196"/>
            <p:cNvGrpSpPr/>
            <p:nvPr/>
          </p:nvGrpSpPr>
          <p:grpSpPr>
            <a:xfrm>
              <a:off x="6988969" y="4117181"/>
              <a:ext cx="100012" cy="128588"/>
              <a:chOff x="6988969" y="4117181"/>
              <a:chExt cx="100012" cy="128588"/>
            </a:xfrm>
          </p:grpSpPr>
          <p:sp>
            <p:nvSpPr>
              <p:cNvPr id="191" name="Freeform 191"/>
              <p:cNvSpPr/>
              <p:nvPr/>
            </p:nvSpPr>
            <p:spPr>
              <a:xfrm>
                <a:off x="7053262" y="4117181"/>
                <a:ext cx="35719" cy="35719"/>
              </a:xfrm>
              <a:custGeom>
                <a:avLst/>
                <a:gdLst/>
                <a:ahLst/>
                <a:cxnLst/>
                <a:rect l="l" t="t" r="r" b="b"/>
                <a:pathLst>
                  <a:path w="35719" h="35719">
                    <a:moveTo>
                      <a:pt x="0" y="0"/>
                    </a:moveTo>
                    <a:lnTo>
                      <a:pt x="0" y="28575"/>
                    </a:lnTo>
                    <a:cubicBezTo>
                      <a:pt x="0" y="32520"/>
                      <a:pt x="3198" y="35719"/>
                      <a:pt x="7144" y="35719"/>
                    </a:cubicBezTo>
                    <a:lnTo>
                      <a:pt x="35719" y="35719"/>
                    </a:lnTo>
                  </a:path>
                </a:pathLst>
              </a:custGeom>
              <a:noFill/>
              <a:ln w="14288">
                <a:solidFill>
                  <a:srgbClr val="4E0D00"/>
                </a:solidFill>
              </a:ln>
            </p:spPr>
          </p:sp>
          <p:sp>
            <p:nvSpPr>
              <p:cNvPr id="192" name="Freeform 192"/>
              <p:cNvSpPr/>
              <p:nvPr/>
            </p:nvSpPr>
            <p:spPr>
              <a:xfrm>
                <a:off x="6988969" y="4117181"/>
                <a:ext cx="100012" cy="128588"/>
              </a:xfrm>
              <a:custGeom>
                <a:avLst/>
                <a:gdLst/>
                <a:ahLst/>
                <a:cxnLst/>
                <a:rect l="l" t="t" r="r" b="b"/>
                <a:pathLst>
                  <a:path w="100012" h="128588">
                    <a:moveTo>
                      <a:pt x="85725" y="128588"/>
                    </a:moveTo>
                    <a:lnTo>
                      <a:pt x="14288" y="128588"/>
                    </a:lnTo>
                    <a:cubicBezTo>
                      <a:pt x="6397" y="128588"/>
                      <a:pt x="0" y="122191"/>
                      <a:pt x="0" y="114300"/>
                    </a:cubicBezTo>
                    <a:lnTo>
                      <a:pt x="0" y="14288"/>
                    </a:lnTo>
                    <a:cubicBezTo>
                      <a:pt x="0" y="6397"/>
                      <a:pt x="6397" y="0"/>
                      <a:pt x="14288" y="0"/>
                    </a:cubicBezTo>
                    <a:lnTo>
                      <a:pt x="64294" y="0"/>
                    </a:lnTo>
                    <a:lnTo>
                      <a:pt x="100012" y="35719"/>
                    </a:lnTo>
                    <a:lnTo>
                      <a:pt x="100012" y="114300"/>
                    </a:lnTo>
                    <a:cubicBezTo>
                      <a:pt x="100012" y="122191"/>
                      <a:pt x="93616" y="128588"/>
                      <a:pt x="85725" y="128588"/>
                    </a:cubicBezTo>
                  </a:path>
                </a:pathLst>
              </a:custGeom>
              <a:noFill/>
              <a:ln w="14288">
                <a:solidFill>
                  <a:srgbClr val="4E0D00"/>
                </a:solidFill>
              </a:ln>
            </p:spPr>
          </p:sp>
          <p:sp>
            <p:nvSpPr>
              <p:cNvPr id="193" name="Freeform 193"/>
              <p:cNvSpPr/>
              <p:nvPr/>
            </p:nvSpPr>
            <p:spPr>
              <a:xfrm>
                <a:off x="7017544" y="4160044"/>
                <a:ext cx="9525" cy="9525"/>
              </a:xfrm>
              <a:custGeom>
                <a:avLst/>
                <a:gdLst/>
                <a:ahLst/>
                <a:cxnLst/>
                <a:rect l="l" t="t" r="r" b="b"/>
                <a:pathLst>
                  <a:path w="9525" h="9525">
                    <a:moveTo>
                      <a:pt x="0" y="0"/>
                    </a:moveTo>
                    <a:lnTo>
                      <a:pt x="7144" y="0"/>
                    </a:lnTo>
                  </a:path>
                </a:pathLst>
              </a:custGeom>
              <a:noFill/>
              <a:ln w="14288">
                <a:solidFill>
                  <a:srgbClr val="4E0D00"/>
                </a:solidFill>
              </a:ln>
            </p:spPr>
          </p:sp>
          <p:sp>
            <p:nvSpPr>
              <p:cNvPr id="194" name="Freeform 194"/>
              <p:cNvSpPr/>
              <p:nvPr/>
            </p:nvSpPr>
            <p:spPr>
              <a:xfrm>
                <a:off x="7017544" y="4188619"/>
                <a:ext cx="42862" cy="9525"/>
              </a:xfrm>
              <a:custGeom>
                <a:avLst/>
                <a:gdLst/>
                <a:ahLst/>
                <a:cxnLst/>
                <a:rect l="l" t="t" r="r" b="b"/>
                <a:pathLst>
                  <a:path w="42862" h="9525">
                    <a:moveTo>
                      <a:pt x="0" y="0"/>
                    </a:moveTo>
                    <a:lnTo>
                      <a:pt x="42862" y="0"/>
                    </a:lnTo>
                  </a:path>
                </a:pathLst>
              </a:custGeom>
              <a:noFill/>
              <a:ln w="14288">
                <a:solidFill>
                  <a:srgbClr val="4E0D00"/>
                </a:solidFill>
              </a:ln>
            </p:spPr>
          </p:sp>
          <p:sp>
            <p:nvSpPr>
              <p:cNvPr id="195" name="Freeform 195"/>
              <p:cNvSpPr/>
              <p:nvPr/>
            </p:nvSpPr>
            <p:spPr>
              <a:xfrm>
                <a:off x="7017544" y="4217194"/>
                <a:ext cx="42862" cy="9525"/>
              </a:xfrm>
              <a:custGeom>
                <a:avLst/>
                <a:gdLst/>
                <a:ahLst/>
                <a:cxnLst/>
                <a:rect l="l" t="t" r="r" b="b"/>
                <a:pathLst>
                  <a:path w="42862" h="9525">
                    <a:moveTo>
                      <a:pt x="0" y="0"/>
                    </a:moveTo>
                    <a:lnTo>
                      <a:pt x="42862" y="0"/>
                    </a:lnTo>
                  </a:path>
                </a:pathLst>
              </a:custGeom>
              <a:noFill/>
              <a:ln w="14288">
                <a:solidFill>
                  <a:srgbClr val="4E0D00"/>
                </a:solidFill>
              </a:ln>
            </p:spPr>
          </p:sp>
        </p:grpSp>
        <p:sp>
          <p:nvSpPr>
            <p:cNvPr id="197" name="TextBox 197"/>
            <p:cNvSpPr txBox="1"/>
            <p:nvPr/>
          </p:nvSpPr>
          <p:spPr>
            <a:xfrm>
              <a:off x="7196138" y="4144089"/>
              <a:ext cx="43492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核心证据</a:t>
              </a:r>
            </a:p>
          </p:txBody>
        </p:sp>
        <p:sp>
          <p:nvSpPr>
            <p:cNvPr id="198" name="TextBox 198"/>
            <p:cNvSpPr txBox="1"/>
            <p:nvPr/>
          </p:nvSpPr>
          <p:spPr>
            <a:xfrm>
              <a:off x="7196138" y="433173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流程数据，项目复盘，</a:t>
              </a:r>
            </a:p>
          </p:txBody>
        </p:sp>
        <p:sp>
          <p:nvSpPr>
            <p:cNvPr id="199" name="TextBox 199"/>
            <p:cNvSpPr txBox="1"/>
            <p:nvPr/>
          </p:nvSpPr>
          <p:spPr>
            <a:xfrm>
              <a:off x="7196138" y="446508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员工访谈，绩效数据等</a:t>
              </a:r>
            </a:p>
          </p:txBody>
        </p:sp>
        <p:sp>
          <p:nvSpPr>
            <p:cNvPr id="200" name="Line 200"/>
            <p:cNvSpPr/>
            <p:nvPr/>
          </p:nvSpPr>
          <p:spPr>
            <a:xfrm>
              <a:off x="6934200" y="4667250"/>
              <a:ext cx="1809750" cy="9525"/>
            </a:xfrm>
            <a:custGeom>
              <a:avLst/>
              <a:gdLst/>
              <a:ahLst/>
              <a:cxnLst/>
              <a:rect l="l" t="t" r="r" b="b"/>
              <a:pathLst>
                <a:path w="1809750" h="9525">
                  <a:moveTo>
                    <a:pt x="0" y="0"/>
                  </a:moveTo>
                  <a:lnTo>
                    <a:pt x="1809750" y="0"/>
                  </a:lnTo>
                </a:path>
              </a:pathLst>
            </a:custGeom>
            <a:noFill/>
            <a:ln w="9525">
              <a:solidFill>
                <a:srgbClr val="E2E8F2"/>
              </a:solidFill>
            </a:ln>
          </p:spPr>
        </p:sp>
        <p:grpSp>
          <p:nvGrpSpPr>
            <p:cNvPr id="203" name="Group 203"/>
            <p:cNvGrpSpPr/>
            <p:nvPr/>
          </p:nvGrpSpPr>
          <p:grpSpPr>
            <a:xfrm>
              <a:off x="6965040" y="5241131"/>
              <a:ext cx="139505" cy="128588"/>
              <a:chOff x="6965040" y="5241131"/>
              <a:chExt cx="139505" cy="128588"/>
            </a:xfrm>
          </p:grpSpPr>
          <p:sp>
            <p:nvSpPr>
              <p:cNvPr id="201" name="Freeform 201"/>
              <p:cNvSpPr/>
              <p:nvPr/>
            </p:nvSpPr>
            <p:spPr>
              <a:xfrm>
                <a:off x="6965040" y="5241131"/>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4E0D00"/>
                </a:solidFill>
              </a:ln>
            </p:spPr>
          </p:sp>
          <p:sp>
            <p:nvSpPr>
              <p:cNvPr id="202" name="Freeform 202"/>
              <p:cNvSpPr/>
              <p:nvPr/>
            </p:nvSpPr>
            <p:spPr>
              <a:xfrm>
                <a:off x="7060406" y="5341144"/>
                <a:ext cx="42862" cy="28575"/>
              </a:xfrm>
              <a:custGeom>
                <a:avLst/>
                <a:gdLst/>
                <a:ahLst/>
                <a:cxnLst/>
                <a:rect l="l" t="t" r="r" b="b"/>
                <a:pathLst>
                  <a:path w="42862" h="28575">
                    <a:moveTo>
                      <a:pt x="0" y="14288"/>
                    </a:moveTo>
                    <a:lnTo>
                      <a:pt x="14288" y="28575"/>
                    </a:lnTo>
                    <a:lnTo>
                      <a:pt x="42862" y="0"/>
                    </a:lnTo>
                  </a:path>
                </a:pathLst>
              </a:custGeom>
              <a:noFill/>
              <a:ln w="14288">
                <a:solidFill>
                  <a:srgbClr val="4E0D00"/>
                </a:solidFill>
              </a:ln>
            </p:spPr>
          </p:sp>
        </p:grpSp>
        <p:sp>
          <p:nvSpPr>
            <p:cNvPr id="204" name="TextBox 204"/>
            <p:cNvSpPr txBox="1"/>
            <p:nvPr/>
          </p:nvSpPr>
          <p:spPr>
            <a:xfrm>
              <a:off x="7196138" y="5268039"/>
              <a:ext cx="54127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当前可信度</a:t>
              </a:r>
            </a:p>
          </p:txBody>
        </p:sp>
        <p:sp>
          <p:nvSpPr>
            <p:cNvPr id="205" name="Rectangle 205"/>
            <p:cNvSpPr/>
            <p:nvPr/>
          </p:nvSpPr>
          <p:spPr>
            <a:xfrm>
              <a:off x="7200900" y="5486400"/>
              <a:ext cx="1428750" cy="76200"/>
            </a:xfrm>
            <a:prstGeom prst="roundRect">
              <a:avLst>
                <a:gd name="adj" fmla="val 50000"/>
              </a:avLst>
            </a:prstGeom>
            <a:solidFill>
              <a:srgbClr val="E2E8F2"/>
            </a:solidFill>
            <a:ln>
              <a:noFill/>
            </a:ln>
          </p:spPr>
        </p:sp>
        <p:sp>
          <p:nvSpPr>
            <p:cNvPr id="206" name="Rectangle 206"/>
            <p:cNvSpPr/>
            <p:nvPr/>
          </p:nvSpPr>
          <p:spPr>
            <a:xfrm>
              <a:off x="7200900" y="5486400"/>
              <a:ext cx="714375" cy="76200"/>
            </a:xfrm>
            <a:prstGeom prst="roundRect">
              <a:avLst>
                <a:gd name="adj" fmla="val 50000"/>
              </a:avLst>
            </a:prstGeom>
            <a:solidFill>
              <a:srgbClr val="711E0D"/>
            </a:solidFill>
            <a:ln>
              <a:noFill/>
            </a:ln>
          </p:spPr>
        </p:sp>
        <p:sp>
          <p:nvSpPr>
            <p:cNvPr id="207" name="Ellipse 207"/>
            <p:cNvSpPr/>
            <p:nvPr/>
          </p:nvSpPr>
          <p:spPr>
            <a:xfrm>
              <a:off x="7858125" y="5467350"/>
              <a:ext cx="114300" cy="114300"/>
            </a:xfrm>
            <a:prstGeom prst="ellipse">
              <a:avLst/>
            </a:prstGeom>
            <a:solidFill>
              <a:srgbClr val="FFFFFF"/>
            </a:solidFill>
            <a:ln w="15240">
              <a:solidFill>
                <a:srgbClr val="711E0D"/>
              </a:solidFill>
            </a:ln>
          </p:spPr>
        </p:sp>
        <p:sp>
          <p:nvSpPr>
            <p:cNvPr id="208" name="TextBox 208"/>
            <p:cNvSpPr txBox="1"/>
            <p:nvPr/>
          </p:nvSpPr>
          <p:spPr>
            <a:xfrm>
              <a:off x="7630940" y="5695236"/>
              <a:ext cx="568669" cy="140494"/>
            </a:xfrm>
            <a:prstGeom prst="rect">
              <a:avLst/>
            </a:prstGeom>
            <a:noFill/>
            <a:ln>
              <a:noFill/>
            </a:ln>
          </p:spPr>
          <p:txBody>
            <a:bodyPr wrap="none" lIns="0" tIns="0" rIns="0" bIns="0" anchor="t" anchorCtr="0">
              <a:spAutoFit/>
            </a:bodyPr>
            <a:lstStyle/>
            <a:p>
              <a:pPr algn="ctr"/>
              <a:r>
                <a:rPr lang="zh-CN" sz="710" dirty="0">
                  <a:solidFill>
                    <a:srgbClr val="453633"/>
                  </a:solidFill>
                  <a:latin typeface="+mn-lt"/>
                  <a:ea typeface="+mn-ea"/>
                  <a:cs typeface="+mn-cs"/>
                </a:rPr>
                <a:t>中等（50%）</a:t>
              </a:r>
            </a:p>
          </p:txBody>
        </p:sp>
      </p:grpSp>
      <p:grpSp>
        <p:nvGrpSpPr>
          <p:cNvPr id="257" name="vs-panel"/>
          <p:cNvGrpSpPr/>
          <p:nvPr/>
        </p:nvGrpSpPr>
        <p:grpSpPr>
          <a:xfrm>
            <a:off x="9010650" y="2857500"/>
            <a:ext cx="2952750" cy="2648188"/>
            <a:chOff x="9010650" y="2857500"/>
            <a:chExt cx="2952750" cy="2648188"/>
          </a:xfrm>
        </p:grpSpPr>
        <p:sp>
          <p:nvSpPr>
            <p:cNvPr id="210" name="Rectangle 210"/>
            <p:cNvSpPr/>
            <p:nvPr/>
          </p:nvSpPr>
          <p:spPr>
            <a:xfrm>
              <a:off x="9010650" y="2857500"/>
              <a:ext cx="2952750" cy="323850"/>
            </a:xfrm>
            <a:prstGeom prst="rect">
              <a:avLst/>
            </a:prstGeom>
            <a:solidFill>
              <a:srgbClr val="4E0D00"/>
            </a:solidFill>
            <a:ln>
              <a:noFill/>
            </a:ln>
          </p:spPr>
        </p:sp>
        <p:sp>
          <p:nvSpPr>
            <p:cNvPr id="211" name="TextBox 211"/>
            <p:cNvSpPr txBox="1"/>
            <p:nvPr/>
          </p:nvSpPr>
          <p:spPr>
            <a:xfrm>
              <a:off x="9567134" y="2965847"/>
              <a:ext cx="183978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遍历全部数据 VS 缩小搜索空间​</a:t>
              </a:r>
            </a:p>
          </p:txBody>
        </p:sp>
        <p:sp>
          <p:nvSpPr>
            <p:cNvPr id="212" name="TextBox 212"/>
            <p:cNvSpPr txBox="1"/>
            <p:nvPr/>
          </p:nvSpPr>
          <p:spPr>
            <a:xfrm>
              <a:off x="9420263" y="3305889"/>
              <a:ext cx="647624"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遍历全部数据</a:t>
              </a:r>
            </a:p>
          </p:txBody>
        </p:sp>
        <p:sp>
          <p:nvSpPr>
            <p:cNvPr id="213" name="TextBox 213"/>
            <p:cNvSpPr txBox="1"/>
            <p:nvPr/>
          </p:nvSpPr>
          <p:spPr>
            <a:xfrm>
              <a:off x="10944263" y="3267789"/>
              <a:ext cx="647624"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缩小搜索空间</a:t>
              </a:r>
            </a:p>
          </p:txBody>
        </p:sp>
        <p:sp>
          <p:nvSpPr>
            <p:cNvPr id="214" name="TextBox 214"/>
            <p:cNvSpPr txBox="1"/>
            <p:nvPr/>
          </p:nvSpPr>
          <p:spPr>
            <a:xfrm>
              <a:off x="11004842" y="3407807"/>
              <a:ext cx="526466" cy="126206"/>
            </a:xfrm>
            <a:prstGeom prst="rect">
              <a:avLst/>
            </a:prstGeom>
            <a:noFill/>
            <a:ln>
              <a:noFill/>
            </a:ln>
          </p:spPr>
          <p:txBody>
            <a:bodyPr wrap="none" lIns="0" tIns="0" rIns="0" bIns="0" anchor="t" anchorCtr="0">
              <a:spAutoFit/>
            </a:bodyPr>
            <a:lstStyle/>
            <a:p>
              <a:pPr algn="ctr"/>
              <a:r>
                <a:rPr lang="zh-CN" sz="640" dirty="0">
                  <a:solidFill>
                    <a:srgbClr val="7E6A66"/>
                  </a:solidFill>
                  <a:latin typeface="+mn-lt"/>
                  <a:ea typeface="+mn-ea"/>
                  <a:cs typeface="+mn-cs"/>
                </a:rPr>
                <a:t>（假设驱动）</a:t>
              </a:r>
            </a:p>
          </p:txBody>
        </p:sp>
        <p:grpSp>
          <p:nvGrpSpPr>
            <p:cNvPr id="227" name="scatter"/>
            <p:cNvGrpSpPr/>
            <p:nvPr/>
          </p:nvGrpSpPr>
          <p:grpSpPr>
            <a:xfrm>
              <a:off x="9237345" y="3522345"/>
              <a:ext cx="956310" cy="289560"/>
              <a:chOff x="9237345" y="3522345"/>
              <a:chExt cx="956310" cy="289560"/>
            </a:xfrm>
          </p:grpSpPr>
          <p:sp>
            <p:nvSpPr>
              <p:cNvPr id="215" name="Ellipse 215"/>
              <p:cNvSpPr/>
              <p:nvPr/>
            </p:nvSpPr>
            <p:spPr>
              <a:xfrm>
                <a:off x="9237345" y="3617595"/>
                <a:ext cx="41910" cy="41910"/>
              </a:xfrm>
              <a:prstGeom prst="ellipse">
                <a:avLst/>
              </a:prstGeom>
              <a:solidFill>
                <a:srgbClr val="711E0D"/>
              </a:solidFill>
              <a:ln>
                <a:noFill/>
              </a:ln>
            </p:spPr>
          </p:sp>
          <p:sp>
            <p:nvSpPr>
              <p:cNvPr id="216" name="Ellipse 216"/>
              <p:cNvSpPr/>
              <p:nvPr/>
            </p:nvSpPr>
            <p:spPr>
              <a:xfrm>
                <a:off x="9389745" y="3693795"/>
                <a:ext cx="41910" cy="41910"/>
              </a:xfrm>
              <a:prstGeom prst="ellipse">
                <a:avLst/>
              </a:prstGeom>
              <a:solidFill>
                <a:srgbClr val="711E0D"/>
              </a:solidFill>
              <a:ln>
                <a:noFill/>
              </a:ln>
            </p:spPr>
          </p:sp>
          <p:sp>
            <p:nvSpPr>
              <p:cNvPr id="217" name="Ellipse 217"/>
              <p:cNvSpPr/>
              <p:nvPr/>
            </p:nvSpPr>
            <p:spPr>
              <a:xfrm>
                <a:off x="9504045" y="3598545"/>
                <a:ext cx="41910" cy="41910"/>
              </a:xfrm>
              <a:prstGeom prst="ellipse">
                <a:avLst/>
              </a:prstGeom>
              <a:solidFill>
                <a:srgbClr val="711E0D"/>
              </a:solidFill>
              <a:ln>
                <a:noFill/>
              </a:ln>
            </p:spPr>
          </p:sp>
          <p:sp>
            <p:nvSpPr>
              <p:cNvPr id="218" name="Ellipse 218"/>
              <p:cNvSpPr/>
              <p:nvPr/>
            </p:nvSpPr>
            <p:spPr>
              <a:xfrm>
                <a:off x="9637395" y="3712845"/>
                <a:ext cx="41910" cy="41910"/>
              </a:xfrm>
              <a:prstGeom prst="ellipse">
                <a:avLst/>
              </a:prstGeom>
              <a:solidFill>
                <a:srgbClr val="711E0D"/>
              </a:solidFill>
              <a:ln>
                <a:noFill/>
              </a:ln>
            </p:spPr>
          </p:sp>
          <p:sp>
            <p:nvSpPr>
              <p:cNvPr id="219" name="Ellipse 219"/>
              <p:cNvSpPr/>
              <p:nvPr/>
            </p:nvSpPr>
            <p:spPr>
              <a:xfrm>
                <a:off x="9770745" y="3617595"/>
                <a:ext cx="41910" cy="41910"/>
              </a:xfrm>
              <a:prstGeom prst="ellipse">
                <a:avLst/>
              </a:prstGeom>
              <a:solidFill>
                <a:srgbClr val="711E0D"/>
              </a:solidFill>
              <a:ln>
                <a:noFill/>
              </a:ln>
            </p:spPr>
          </p:sp>
          <p:sp>
            <p:nvSpPr>
              <p:cNvPr id="220" name="Ellipse 220"/>
              <p:cNvSpPr/>
              <p:nvPr/>
            </p:nvSpPr>
            <p:spPr>
              <a:xfrm>
                <a:off x="9904095" y="3712845"/>
                <a:ext cx="41910" cy="41910"/>
              </a:xfrm>
              <a:prstGeom prst="ellipse">
                <a:avLst/>
              </a:prstGeom>
              <a:solidFill>
                <a:srgbClr val="711E0D"/>
              </a:solidFill>
              <a:ln>
                <a:noFill/>
              </a:ln>
            </p:spPr>
          </p:sp>
          <p:sp>
            <p:nvSpPr>
              <p:cNvPr id="221" name="Ellipse 221"/>
              <p:cNvSpPr/>
              <p:nvPr/>
            </p:nvSpPr>
            <p:spPr>
              <a:xfrm>
                <a:off x="10037445" y="3598545"/>
                <a:ext cx="41910" cy="41910"/>
              </a:xfrm>
              <a:prstGeom prst="ellipse">
                <a:avLst/>
              </a:prstGeom>
              <a:solidFill>
                <a:srgbClr val="711E0D"/>
              </a:solidFill>
              <a:ln>
                <a:noFill/>
              </a:ln>
            </p:spPr>
          </p:sp>
          <p:sp>
            <p:nvSpPr>
              <p:cNvPr id="222" name="Ellipse 222"/>
              <p:cNvSpPr/>
              <p:nvPr/>
            </p:nvSpPr>
            <p:spPr>
              <a:xfrm>
                <a:off x="10151745" y="3693795"/>
                <a:ext cx="41910" cy="41910"/>
              </a:xfrm>
              <a:prstGeom prst="ellipse">
                <a:avLst/>
              </a:prstGeom>
              <a:solidFill>
                <a:srgbClr val="711E0D"/>
              </a:solidFill>
              <a:ln>
                <a:noFill/>
              </a:ln>
            </p:spPr>
          </p:sp>
          <p:sp>
            <p:nvSpPr>
              <p:cNvPr id="223" name="Ellipse 223"/>
              <p:cNvSpPr/>
              <p:nvPr/>
            </p:nvSpPr>
            <p:spPr>
              <a:xfrm>
                <a:off x="9313545" y="3769995"/>
                <a:ext cx="41910" cy="41910"/>
              </a:xfrm>
              <a:prstGeom prst="ellipse">
                <a:avLst/>
              </a:prstGeom>
              <a:solidFill>
                <a:srgbClr val="711E0D"/>
              </a:solidFill>
              <a:ln>
                <a:noFill/>
              </a:ln>
            </p:spPr>
          </p:sp>
          <p:sp>
            <p:nvSpPr>
              <p:cNvPr id="224" name="Ellipse 224"/>
              <p:cNvSpPr/>
              <p:nvPr/>
            </p:nvSpPr>
            <p:spPr>
              <a:xfrm>
                <a:off x="9837420" y="3769995"/>
                <a:ext cx="41910" cy="41910"/>
              </a:xfrm>
              <a:prstGeom prst="ellipse">
                <a:avLst/>
              </a:prstGeom>
              <a:solidFill>
                <a:srgbClr val="711E0D"/>
              </a:solidFill>
              <a:ln>
                <a:noFill/>
              </a:ln>
            </p:spPr>
          </p:sp>
          <p:sp>
            <p:nvSpPr>
              <p:cNvPr id="225" name="Ellipse 225"/>
              <p:cNvSpPr/>
              <p:nvPr/>
            </p:nvSpPr>
            <p:spPr>
              <a:xfrm>
                <a:off x="10094595" y="3541395"/>
                <a:ext cx="41910" cy="41910"/>
              </a:xfrm>
              <a:prstGeom prst="ellipse">
                <a:avLst/>
              </a:prstGeom>
              <a:solidFill>
                <a:srgbClr val="711E0D"/>
              </a:solidFill>
              <a:ln>
                <a:noFill/>
              </a:ln>
            </p:spPr>
          </p:sp>
          <p:sp>
            <p:nvSpPr>
              <p:cNvPr id="226" name="Ellipse 226"/>
              <p:cNvSpPr/>
              <p:nvPr/>
            </p:nvSpPr>
            <p:spPr>
              <a:xfrm>
                <a:off x="9456420" y="3522345"/>
                <a:ext cx="41910" cy="41910"/>
              </a:xfrm>
              <a:prstGeom prst="ellipse">
                <a:avLst/>
              </a:prstGeom>
              <a:solidFill>
                <a:srgbClr val="711E0D"/>
              </a:solidFill>
              <a:ln>
                <a:noFill/>
              </a:ln>
            </p:spPr>
          </p:sp>
        </p:grpSp>
        <p:sp>
          <p:nvSpPr>
            <p:cNvPr id="228" name="Freeform 228"/>
            <p:cNvSpPr/>
            <p:nvPr/>
          </p:nvSpPr>
          <p:spPr>
            <a:xfrm>
              <a:off x="9334500" y="3829050"/>
              <a:ext cx="819150" cy="476250"/>
            </a:xfrm>
            <a:prstGeom prst="funnel">
              <a:avLst/>
            </a:prstGeom>
            <a:solidFill>
              <a:srgbClr val="DCE5F2"/>
            </a:solidFill>
            <a:ln w="13335">
              <a:solidFill>
                <a:srgbClr val="944130"/>
              </a:solidFill>
            </a:ln>
          </p:spPr>
        </p:sp>
        <p:sp>
          <p:nvSpPr>
            <p:cNvPr id="229" name="Ellipse 229"/>
            <p:cNvSpPr/>
            <p:nvPr/>
          </p:nvSpPr>
          <p:spPr>
            <a:xfrm>
              <a:off x="9601200" y="4343400"/>
              <a:ext cx="38100" cy="38100"/>
            </a:xfrm>
            <a:prstGeom prst="ellipse">
              <a:avLst/>
            </a:prstGeom>
            <a:solidFill>
              <a:srgbClr val="711E0D"/>
            </a:solidFill>
            <a:ln>
              <a:noFill/>
            </a:ln>
          </p:spPr>
        </p:sp>
        <p:sp>
          <p:nvSpPr>
            <p:cNvPr id="230" name="Ellipse 230"/>
            <p:cNvSpPr/>
            <p:nvPr/>
          </p:nvSpPr>
          <p:spPr>
            <a:xfrm>
              <a:off x="9725025" y="4400550"/>
              <a:ext cx="38100" cy="38100"/>
            </a:xfrm>
            <a:prstGeom prst="ellipse">
              <a:avLst/>
            </a:prstGeom>
            <a:solidFill>
              <a:srgbClr val="711E0D"/>
            </a:solidFill>
            <a:ln>
              <a:noFill/>
            </a:ln>
          </p:spPr>
        </p:sp>
        <p:sp>
          <p:nvSpPr>
            <p:cNvPr id="231" name="Ellipse 231"/>
            <p:cNvSpPr/>
            <p:nvPr/>
          </p:nvSpPr>
          <p:spPr>
            <a:xfrm>
              <a:off x="9848850" y="4343400"/>
              <a:ext cx="38100" cy="38100"/>
            </a:xfrm>
            <a:prstGeom prst="ellipse">
              <a:avLst/>
            </a:prstGeom>
            <a:solidFill>
              <a:srgbClr val="711E0D"/>
            </a:solidFill>
            <a:ln>
              <a:noFill/>
            </a:ln>
          </p:spPr>
        </p:sp>
        <p:sp>
          <p:nvSpPr>
            <p:cNvPr id="232" name="Ellipse 232"/>
            <p:cNvSpPr/>
            <p:nvPr/>
          </p:nvSpPr>
          <p:spPr>
            <a:xfrm>
              <a:off x="9782175" y="4457700"/>
              <a:ext cx="38100" cy="38100"/>
            </a:xfrm>
            <a:prstGeom prst="ellipse">
              <a:avLst/>
            </a:prstGeom>
            <a:solidFill>
              <a:srgbClr val="711E0D"/>
            </a:solidFill>
            <a:ln>
              <a:noFill/>
            </a:ln>
          </p:spPr>
        </p:sp>
        <p:sp>
          <p:nvSpPr>
            <p:cNvPr id="233" name="Ellipse 233"/>
            <p:cNvSpPr/>
            <p:nvPr/>
          </p:nvSpPr>
          <p:spPr>
            <a:xfrm>
              <a:off x="10363200" y="3857625"/>
              <a:ext cx="285750" cy="285750"/>
            </a:xfrm>
            <a:prstGeom prst="ellipse">
              <a:avLst/>
            </a:prstGeom>
            <a:solidFill>
              <a:srgbClr val="4E0D00"/>
            </a:solidFill>
            <a:ln>
              <a:noFill/>
            </a:ln>
          </p:spPr>
        </p:sp>
        <p:sp>
          <p:nvSpPr>
            <p:cNvPr id="234" name="TextBox 234"/>
            <p:cNvSpPr txBox="1"/>
            <p:nvPr/>
          </p:nvSpPr>
          <p:spPr>
            <a:xfrm>
              <a:off x="10439705" y="3957638"/>
              <a:ext cx="132740"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VS</a:t>
              </a:r>
            </a:p>
          </p:txBody>
        </p:sp>
        <p:sp>
          <p:nvSpPr>
            <p:cNvPr id="235" name="Ellipse 235"/>
            <p:cNvSpPr/>
            <p:nvPr/>
          </p:nvSpPr>
          <p:spPr>
            <a:xfrm>
              <a:off x="11001375" y="3714750"/>
              <a:ext cx="533400" cy="533400"/>
            </a:xfrm>
            <a:prstGeom prst="ellipse">
              <a:avLst/>
            </a:prstGeom>
            <a:noFill/>
            <a:ln w="14288">
              <a:solidFill>
                <a:srgbClr val="4E0D00"/>
              </a:solidFill>
            </a:ln>
          </p:spPr>
        </p:sp>
        <p:sp>
          <p:nvSpPr>
            <p:cNvPr id="236" name="Ellipse 236"/>
            <p:cNvSpPr/>
            <p:nvPr/>
          </p:nvSpPr>
          <p:spPr>
            <a:xfrm>
              <a:off x="11144250" y="3857625"/>
              <a:ext cx="247650" cy="247650"/>
            </a:xfrm>
            <a:prstGeom prst="ellipse">
              <a:avLst/>
            </a:prstGeom>
            <a:noFill/>
            <a:ln w="9525">
              <a:solidFill>
                <a:srgbClr val="944130"/>
              </a:solidFill>
            </a:ln>
          </p:spPr>
        </p:sp>
        <p:sp>
          <p:nvSpPr>
            <p:cNvPr id="237" name="Ellipse 237"/>
            <p:cNvSpPr/>
            <p:nvPr/>
          </p:nvSpPr>
          <p:spPr>
            <a:xfrm>
              <a:off x="11239500" y="3952875"/>
              <a:ext cx="57150" cy="57150"/>
            </a:xfrm>
            <a:prstGeom prst="ellipse">
              <a:avLst/>
            </a:prstGeom>
            <a:solidFill>
              <a:srgbClr val="4E0D00"/>
            </a:solidFill>
            <a:ln>
              <a:noFill/>
            </a:ln>
          </p:spPr>
        </p:sp>
        <p:grpSp>
          <p:nvGrpSpPr>
            <p:cNvPr id="244" name="Group 244"/>
            <p:cNvGrpSpPr/>
            <p:nvPr/>
          </p:nvGrpSpPr>
          <p:grpSpPr>
            <a:xfrm>
              <a:off x="11161395" y="3808095"/>
              <a:ext cx="251460" cy="289560"/>
              <a:chOff x="11161395" y="3808095"/>
              <a:chExt cx="251460" cy="289560"/>
            </a:xfrm>
          </p:grpSpPr>
          <p:sp>
            <p:nvSpPr>
              <p:cNvPr id="238" name="Ellipse 238"/>
              <p:cNvSpPr/>
              <p:nvPr/>
            </p:nvSpPr>
            <p:spPr>
              <a:xfrm>
                <a:off x="11161395" y="3865245"/>
                <a:ext cx="41910" cy="41910"/>
              </a:xfrm>
              <a:prstGeom prst="ellipse">
                <a:avLst/>
              </a:prstGeom>
              <a:solidFill>
                <a:srgbClr val="711E0D"/>
              </a:solidFill>
              <a:ln>
                <a:noFill/>
              </a:ln>
            </p:spPr>
          </p:sp>
          <p:sp>
            <p:nvSpPr>
              <p:cNvPr id="239" name="Ellipse 239"/>
              <p:cNvSpPr/>
              <p:nvPr/>
            </p:nvSpPr>
            <p:spPr>
              <a:xfrm>
                <a:off x="11332845" y="3884295"/>
                <a:ext cx="41910" cy="41910"/>
              </a:xfrm>
              <a:prstGeom prst="ellipse">
                <a:avLst/>
              </a:prstGeom>
              <a:solidFill>
                <a:srgbClr val="711E0D"/>
              </a:solidFill>
              <a:ln>
                <a:noFill/>
              </a:ln>
            </p:spPr>
          </p:sp>
          <p:sp>
            <p:nvSpPr>
              <p:cNvPr id="240" name="Ellipse 240"/>
              <p:cNvSpPr/>
              <p:nvPr/>
            </p:nvSpPr>
            <p:spPr>
              <a:xfrm>
                <a:off x="11199495" y="4055745"/>
                <a:ext cx="41910" cy="41910"/>
              </a:xfrm>
              <a:prstGeom prst="ellipse">
                <a:avLst/>
              </a:prstGeom>
              <a:solidFill>
                <a:srgbClr val="711E0D"/>
              </a:solidFill>
              <a:ln>
                <a:noFill/>
              </a:ln>
            </p:spPr>
          </p:sp>
          <p:sp>
            <p:nvSpPr>
              <p:cNvPr id="241" name="Ellipse 241"/>
              <p:cNvSpPr/>
              <p:nvPr/>
            </p:nvSpPr>
            <p:spPr>
              <a:xfrm>
                <a:off x="11313795" y="4046220"/>
                <a:ext cx="41910" cy="41910"/>
              </a:xfrm>
              <a:prstGeom prst="ellipse">
                <a:avLst/>
              </a:prstGeom>
              <a:solidFill>
                <a:srgbClr val="711E0D"/>
              </a:solidFill>
              <a:ln>
                <a:noFill/>
              </a:ln>
            </p:spPr>
          </p:sp>
          <p:sp>
            <p:nvSpPr>
              <p:cNvPr id="242" name="Ellipse 242"/>
              <p:cNvSpPr/>
              <p:nvPr/>
            </p:nvSpPr>
            <p:spPr>
              <a:xfrm>
                <a:off x="11247120" y="3808095"/>
                <a:ext cx="41910" cy="41910"/>
              </a:xfrm>
              <a:prstGeom prst="ellipse">
                <a:avLst/>
              </a:prstGeom>
              <a:solidFill>
                <a:srgbClr val="711E0D"/>
              </a:solidFill>
              <a:ln>
                <a:noFill/>
              </a:ln>
            </p:spPr>
          </p:sp>
          <p:sp>
            <p:nvSpPr>
              <p:cNvPr id="243" name="Ellipse 243"/>
              <p:cNvSpPr/>
              <p:nvPr/>
            </p:nvSpPr>
            <p:spPr>
              <a:xfrm>
                <a:off x="11370945" y="3979545"/>
                <a:ext cx="41910" cy="41910"/>
              </a:xfrm>
              <a:prstGeom prst="ellipse">
                <a:avLst/>
              </a:prstGeom>
              <a:solidFill>
                <a:srgbClr val="711E0D"/>
              </a:solidFill>
              <a:ln>
                <a:noFill/>
              </a:ln>
            </p:spPr>
          </p:sp>
        </p:grpSp>
        <p:sp>
          <p:nvSpPr>
            <p:cNvPr id="245" name="Freeform 245"/>
            <p:cNvSpPr/>
            <p:nvPr/>
          </p:nvSpPr>
          <p:spPr>
            <a:xfrm>
              <a:off x="10858500" y="3829050"/>
              <a:ext cx="819150" cy="476250"/>
            </a:xfrm>
            <a:prstGeom prst="funnel">
              <a:avLst/>
            </a:prstGeom>
            <a:solidFill>
              <a:srgbClr val="DCE5F2"/>
            </a:solidFill>
            <a:ln w="13335">
              <a:solidFill>
                <a:srgbClr val="944130"/>
              </a:solidFill>
            </a:ln>
          </p:spPr>
        </p:sp>
        <p:sp>
          <p:nvSpPr>
            <p:cNvPr id="246" name="Ellipse 246"/>
            <p:cNvSpPr/>
            <p:nvPr/>
          </p:nvSpPr>
          <p:spPr>
            <a:xfrm>
              <a:off x="11182350" y="4362450"/>
              <a:ext cx="38100" cy="38100"/>
            </a:xfrm>
            <a:prstGeom prst="ellipse">
              <a:avLst/>
            </a:prstGeom>
            <a:solidFill>
              <a:srgbClr val="711E0D"/>
            </a:solidFill>
            <a:ln>
              <a:noFill/>
            </a:ln>
          </p:spPr>
        </p:sp>
        <p:sp>
          <p:nvSpPr>
            <p:cNvPr id="247" name="Ellipse 247"/>
            <p:cNvSpPr/>
            <p:nvPr/>
          </p:nvSpPr>
          <p:spPr>
            <a:xfrm>
              <a:off x="11296650" y="4400550"/>
              <a:ext cx="38100" cy="38100"/>
            </a:xfrm>
            <a:prstGeom prst="ellipse">
              <a:avLst/>
            </a:prstGeom>
            <a:solidFill>
              <a:srgbClr val="711E0D"/>
            </a:solidFill>
            <a:ln>
              <a:noFill/>
            </a:ln>
          </p:spPr>
        </p:sp>
        <p:sp>
          <p:nvSpPr>
            <p:cNvPr id="248" name="Ellipse 248"/>
            <p:cNvSpPr/>
            <p:nvPr/>
          </p:nvSpPr>
          <p:spPr>
            <a:xfrm>
              <a:off x="11239500" y="4457700"/>
              <a:ext cx="38100" cy="38100"/>
            </a:xfrm>
            <a:prstGeom prst="ellipse">
              <a:avLst/>
            </a:prstGeom>
            <a:solidFill>
              <a:srgbClr val="711E0D"/>
            </a:solidFill>
            <a:ln>
              <a:noFill/>
            </a:ln>
          </p:spPr>
        </p:sp>
        <p:sp>
          <p:nvSpPr>
            <p:cNvPr id="249" name="TextBox 249"/>
            <p:cNvSpPr txBox="1"/>
            <p:nvPr/>
          </p:nvSpPr>
          <p:spPr>
            <a:xfrm>
              <a:off x="9158288" y="4693682"/>
              <a:ext cx="68585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 范围大，成本高</a:t>
              </a:r>
            </a:p>
          </p:txBody>
        </p:sp>
        <p:sp>
          <p:nvSpPr>
            <p:cNvPr id="250" name="TextBox 250"/>
            <p:cNvSpPr txBox="1"/>
            <p:nvPr/>
          </p:nvSpPr>
          <p:spPr>
            <a:xfrm>
              <a:off x="9158288" y="4922282"/>
              <a:ext cx="59969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 易被噪音干扰</a:t>
              </a:r>
            </a:p>
          </p:txBody>
        </p:sp>
        <p:sp>
          <p:nvSpPr>
            <p:cNvPr id="251" name="TextBox 251"/>
            <p:cNvSpPr txBox="1"/>
            <p:nvPr/>
          </p:nvSpPr>
          <p:spPr>
            <a:xfrm>
              <a:off x="9158288" y="5150882"/>
              <a:ext cx="85816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 难以聚焦，迭代性低</a:t>
              </a:r>
            </a:p>
          </p:txBody>
        </p:sp>
        <p:sp>
          <p:nvSpPr>
            <p:cNvPr id="252" name="TextBox 252"/>
            <p:cNvSpPr txBox="1"/>
            <p:nvPr/>
          </p:nvSpPr>
          <p:spPr>
            <a:xfrm>
              <a:off x="9158288" y="5379482"/>
              <a:ext cx="77201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 难以聚焦关键问题</a:t>
              </a:r>
            </a:p>
          </p:txBody>
        </p:sp>
        <p:sp>
          <p:nvSpPr>
            <p:cNvPr id="253" name="TextBox 253"/>
            <p:cNvSpPr txBox="1"/>
            <p:nvPr/>
          </p:nvSpPr>
          <p:spPr>
            <a:xfrm>
              <a:off x="10968038" y="4693682"/>
              <a:ext cx="63847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 聚焦关键假设</a:t>
              </a:r>
            </a:p>
          </p:txBody>
        </p:sp>
        <p:sp>
          <p:nvSpPr>
            <p:cNvPr id="254" name="TextBox 254"/>
            <p:cNvSpPr txBox="1"/>
            <p:nvPr/>
          </p:nvSpPr>
          <p:spPr>
            <a:xfrm>
              <a:off x="10968038" y="4922282"/>
              <a:ext cx="63847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 明确证据需求</a:t>
              </a:r>
            </a:p>
          </p:txBody>
        </p:sp>
        <p:sp>
          <p:nvSpPr>
            <p:cNvPr id="255" name="TextBox 255"/>
            <p:cNvSpPr txBox="1"/>
            <p:nvPr/>
          </p:nvSpPr>
          <p:spPr>
            <a:xfrm>
              <a:off x="10968038" y="5150882"/>
              <a:ext cx="89694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 快速验证，迭代修正</a:t>
              </a:r>
            </a:p>
          </p:txBody>
        </p:sp>
        <p:sp>
          <p:nvSpPr>
            <p:cNvPr id="256" name="TextBox 256"/>
            <p:cNvSpPr txBox="1"/>
            <p:nvPr/>
          </p:nvSpPr>
          <p:spPr>
            <a:xfrm>
              <a:off x="10968038" y="5379482"/>
              <a:ext cx="81078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 结论清晰，可行动</a:t>
              </a:r>
            </a:p>
          </p:txBody>
        </p:sp>
      </p:gr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5427536"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80/20法则｜寻找决定结果的关键少数</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35" name="funnel-panel"/>
          <p:cNvGrpSpPr/>
          <p:nvPr/>
        </p:nvGrpSpPr>
        <p:grpSpPr>
          <a:xfrm>
            <a:off x="228600" y="875824"/>
            <a:ext cx="2939479" cy="2524601"/>
            <a:chOff x="228600" y="875824"/>
            <a:chExt cx="2939479" cy="2524601"/>
          </a:xfrm>
        </p:grpSpPr>
        <p:sp>
          <p:nvSpPr>
            <p:cNvPr id="6" name="TextBox 6"/>
            <p:cNvSpPr txBox="1"/>
            <p:nvPr/>
          </p:nvSpPr>
          <p:spPr>
            <a:xfrm>
              <a:off x="1068959" y="875824"/>
              <a:ext cx="1329182" cy="190690"/>
            </a:xfrm>
            <a:prstGeom prst="rect">
              <a:avLst/>
            </a:prstGeom>
            <a:noFill/>
            <a:ln>
              <a:noFill/>
            </a:ln>
          </p:spPr>
          <p:txBody>
            <a:bodyPr wrap="none" lIns="0" tIns="0" rIns="0" bIns="0" anchor="t" anchorCtr="0">
              <a:spAutoFit/>
            </a:bodyPr>
            <a:lstStyle/>
            <a:p>
              <a:pPr algn="ctr"/>
              <a:r>
                <a:rPr lang="zh-CN" sz="980" b="1" dirty="0">
                  <a:solidFill>
                    <a:srgbClr val="4E0D00"/>
                  </a:solidFill>
                  <a:latin typeface="+mn-lt"/>
                  <a:ea typeface="+mn-ea"/>
                  <a:cs typeface="+mn-cs"/>
                </a:rPr>
                <a:t>从纷繁复杂中聚焦关键</a:t>
              </a:r>
            </a:p>
          </p:txBody>
        </p:sp>
        <p:sp>
          <p:nvSpPr>
            <p:cNvPr id="7" name="Freeform 7"/>
            <p:cNvSpPr/>
            <p:nvPr/>
          </p:nvSpPr>
          <p:spPr>
            <a:xfrm>
              <a:off x="228600" y="1123950"/>
              <a:ext cx="1866900" cy="628650"/>
            </a:xfrm>
            <a:prstGeom prst="flowChartManualOperation">
              <a:avLst/>
            </a:prstGeom>
            <a:solidFill>
              <a:srgbClr val="4E0D00"/>
            </a:solidFill>
            <a:ln>
              <a:noFill/>
            </a:ln>
          </p:spPr>
        </p:sp>
        <p:sp>
          <p:nvSpPr>
            <p:cNvPr id="8" name="TextBox 8"/>
            <p:cNvSpPr txBox="1"/>
            <p:nvPr/>
          </p:nvSpPr>
          <p:spPr>
            <a:xfrm>
              <a:off x="966359" y="1259681"/>
              <a:ext cx="39138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100%</a:t>
              </a:r>
            </a:p>
          </p:txBody>
        </p:sp>
        <p:sp>
          <p:nvSpPr>
            <p:cNvPr id="9" name="TextBox 9"/>
            <p:cNvSpPr txBox="1"/>
            <p:nvPr/>
          </p:nvSpPr>
          <p:spPr>
            <a:xfrm>
              <a:off x="936511" y="1482566"/>
              <a:ext cx="451079" cy="161925"/>
            </a:xfrm>
            <a:prstGeom prst="rect">
              <a:avLst/>
            </a:prstGeom>
            <a:noFill/>
            <a:ln>
              <a:noFill/>
            </a:ln>
          </p:spPr>
          <p:txBody>
            <a:bodyPr wrap="none" lIns="0" tIns="0" rIns="0" bIns="0" anchor="t" anchorCtr="0">
              <a:spAutoFit/>
            </a:bodyPr>
            <a:lstStyle/>
            <a:p>
              <a:pPr algn="ctr"/>
              <a:r>
                <a:rPr lang="zh-CN" sz="820" b="1" dirty="0">
                  <a:solidFill>
                    <a:srgbClr val="DCE5F2"/>
                  </a:solidFill>
                  <a:latin typeface="+mn-lt"/>
                  <a:ea typeface="+mn-ea"/>
                  <a:cs typeface="+mn-cs"/>
                </a:rPr>
                <a:t>问题全景</a:t>
              </a:r>
            </a:p>
          </p:txBody>
        </p:sp>
        <p:sp>
          <p:nvSpPr>
            <p:cNvPr id="10" name="Freeform 10"/>
            <p:cNvSpPr/>
            <p:nvPr/>
          </p:nvSpPr>
          <p:spPr>
            <a:xfrm>
              <a:off x="600075" y="1809750"/>
              <a:ext cx="1123950" cy="571500"/>
            </a:xfrm>
            <a:prstGeom prst="flowChartManualOperation">
              <a:avLst/>
            </a:prstGeom>
            <a:solidFill>
              <a:srgbClr val="711E0D"/>
            </a:solidFill>
            <a:ln>
              <a:noFill/>
            </a:ln>
          </p:spPr>
        </p:sp>
        <p:sp>
          <p:nvSpPr>
            <p:cNvPr id="11" name="TextBox 11"/>
            <p:cNvSpPr txBox="1"/>
            <p:nvPr/>
          </p:nvSpPr>
          <p:spPr>
            <a:xfrm>
              <a:off x="1024849" y="1910001"/>
              <a:ext cx="274401"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20%</a:t>
              </a:r>
            </a:p>
          </p:txBody>
        </p:sp>
        <p:sp>
          <p:nvSpPr>
            <p:cNvPr id="12" name="TextBox 12"/>
            <p:cNvSpPr txBox="1"/>
            <p:nvPr/>
          </p:nvSpPr>
          <p:spPr>
            <a:xfrm>
              <a:off x="944588" y="2105739"/>
              <a:ext cx="434924" cy="154781"/>
            </a:xfrm>
            <a:prstGeom prst="rect">
              <a:avLst/>
            </a:prstGeom>
            <a:noFill/>
            <a:ln>
              <a:noFill/>
            </a:ln>
          </p:spPr>
          <p:txBody>
            <a:bodyPr wrap="none" lIns="0" tIns="0" rIns="0" bIns="0" anchor="t" anchorCtr="0">
              <a:spAutoFit/>
            </a:bodyPr>
            <a:lstStyle/>
            <a:p>
              <a:pPr algn="ctr"/>
              <a:r>
                <a:rPr lang="zh-CN" sz="790" b="1" dirty="0">
                  <a:solidFill>
                    <a:srgbClr val="DCE5F2"/>
                  </a:solidFill>
                  <a:latin typeface="+mn-lt"/>
                  <a:ea typeface="+mn-ea"/>
                  <a:cs typeface="+mn-cs"/>
                </a:rPr>
                <a:t>关键议题</a:t>
              </a:r>
            </a:p>
          </p:txBody>
        </p:sp>
        <p:sp>
          <p:nvSpPr>
            <p:cNvPr id="13" name="Line 13"/>
            <p:cNvSpPr/>
            <p:nvPr/>
          </p:nvSpPr>
          <p:spPr>
            <a:xfrm>
              <a:off x="1162050" y="2419350"/>
              <a:ext cx="1" cy="76200"/>
            </a:xfrm>
            <a:prstGeom prst="line">
              <a:avLst/>
            </a:prstGeom>
            <a:noFill/>
            <a:ln w="15240">
              <a:solidFill>
                <a:srgbClr val="944130"/>
              </a:solidFill>
              <a:tailEnd type="triangle" w="lg" len="lg"/>
            </a:ln>
          </p:spPr>
        </p:sp>
        <p:sp>
          <p:nvSpPr>
            <p:cNvPr id="14" name="Ellipse 14"/>
            <p:cNvSpPr/>
            <p:nvPr/>
          </p:nvSpPr>
          <p:spPr>
            <a:xfrm>
              <a:off x="733425" y="2543175"/>
              <a:ext cx="857250" cy="857250"/>
            </a:xfrm>
            <a:prstGeom prst="ellipse">
              <a:avLst/>
            </a:prstGeom>
            <a:solidFill>
              <a:srgbClr val="4E0D00"/>
            </a:solidFill>
            <a:ln>
              <a:noFill/>
            </a:ln>
          </p:spPr>
        </p:sp>
        <p:sp>
          <p:nvSpPr>
            <p:cNvPr id="15" name="TextBox 15"/>
            <p:cNvSpPr txBox="1"/>
            <p:nvPr/>
          </p:nvSpPr>
          <p:spPr>
            <a:xfrm>
              <a:off x="999054" y="2823210"/>
              <a:ext cx="325991"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80%</a:t>
              </a:r>
            </a:p>
          </p:txBody>
        </p:sp>
        <p:sp>
          <p:nvSpPr>
            <p:cNvPr id="16" name="TextBox 16"/>
            <p:cNvSpPr txBox="1"/>
            <p:nvPr/>
          </p:nvSpPr>
          <p:spPr>
            <a:xfrm>
              <a:off x="944588" y="3039189"/>
              <a:ext cx="434924" cy="154781"/>
            </a:xfrm>
            <a:prstGeom prst="rect">
              <a:avLst/>
            </a:prstGeom>
            <a:noFill/>
            <a:ln>
              <a:noFill/>
            </a:ln>
          </p:spPr>
          <p:txBody>
            <a:bodyPr wrap="none" lIns="0" tIns="0" rIns="0" bIns="0" anchor="t" anchorCtr="0">
              <a:spAutoFit/>
            </a:bodyPr>
            <a:lstStyle/>
            <a:p>
              <a:pPr algn="ctr"/>
              <a:r>
                <a:rPr lang="zh-CN" sz="790" dirty="0">
                  <a:solidFill>
                    <a:srgbClr val="DCE5F2"/>
                  </a:solidFill>
                  <a:latin typeface="+mn-lt"/>
                  <a:ea typeface="+mn-ea"/>
                  <a:cs typeface="+mn-cs"/>
                </a:rPr>
                <a:t>结果影响</a:t>
              </a:r>
            </a:p>
          </p:txBody>
        </p:sp>
        <p:sp>
          <p:nvSpPr>
            <p:cNvPr id="17" name="Ellipse 17"/>
            <p:cNvSpPr/>
            <p:nvPr/>
          </p:nvSpPr>
          <p:spPr>
            <a:xfrm>
              <a:off x="2154555" y="1230630"/>
              <a:ext cx="34290" cy="34290"/>
            </a:xfrm>
            <a:prstGeom prst="ellipse">
              <a:avLst/>
            </a:prstGeom>
            <a:solidFill>
              <a:srgbClr val="944130"/>
            </a:solidFill>
            <a:ln>
              <a:noFill/>
            </a:ln>
          </p:spPr>
        </p:sp>
        <p:sp>
          <p:nvSpPr>
            <p:cNvPr id="18" name="TextBox 18"/>
            <p:cNvSpPr txBox="1"/>
            <p:nvPr/>
          </p:nvSpPr>
          <p:spPr>
            <a:xfrm>
              <a:off x="2243138" y="1203484"/>
              <a:ext cx="37569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信息繁杂</a:t>
              </a:r>
            </a:p>
          </p:txBody>
        </p:sp>
        <p:sp>
          <p:nvSpPr>
            <p:cNvPr id="19" name="Ellipse 19"/>
            <p:cNvSpPr/>
            <p:nvPr/>
          </p:nvSpPr>
          <p:spPr>
            <a:xfrm>
              <a:off x="2154555" y="1383030"/>
              <a:ext cx="34290" cy="34290"/>
            </a:xfrm>
            <a:prstGeom prst="ellipse">
              <a:avLst/>
            </a:prstGeom>
            <a:solidFill>
              <a:srgbClr val="944130"/>
            </a:solidFill>
            <a:ln>
              <a:noFill/>
            </a:ln>
          </p:spPr>
        </p:sp>
        <p:sp>
          <p:nvSpPr>
            <p:cNvPr id="20" name="TextBox 20"/>
            <p:cNvSpPr txBox="1"/>
            <p:nvPr/>
          </p:nvSpPr>
          <p:spPr>
            <a:xfrm>
              <a:off x="2243138" y="1355884"/>
              <a:ext cx="558775"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影响因素众多</a:t>
              </a:r>
            </a:p>
          </p:txBody>
        </p:sp>
        <p:sp>
          <p:nvSpPr>
            <p:cNvPr id="21" name="Ellipse 21"/>
            <p:cNvSpPr/>
            <p:nvPr/>
          </p:nvSpPr>
          <p:spPr>
            <a:xfrm>
              <a:off x="2154555" y="1535430"/>
              <a:ext cx="34290" cy="34290"/>
            </a:xfrm>
            <a:prstGeom prst="ellipse">
              <a:avLst/>
            </a:prstGeom>
            <a:solidFill>
              <a:srgbClr val="944130"/>
            </a:solidFill>
            <a:ln>
              <a:noFill/>
            </a:ln>
          </p:spPr>
        </p:sp>
        <p:sp>
          <p:nvSpPr>
            <p:cNvPr id="22" name="TextBox 22"/>
            <p:cNvSpPr txBox="1"/>
            <p:nvPr/>
          </p:nvSpPr>
          <p:spPr>
            <a:xfrm>
              <a:off x="2243138" y="1508284"/>
              <a:ext cx="37569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资源有限</a:t>
              </a:r>
            </a:p>
          </p:txBody>
        </p:sp>
        <p:sp>
          <p:nvSpPr>
            <p:cNvPr id="23" name="Ellipse 23"/>
            <p:cNvSpPr/>
            <p:nvPr/>
          </p:nvSpPr>
          <p:spPr>
            <a:xfrm>
              <a:off x="2154555" y="1897380"/>
              <a:ext cx="34290" cy="34290"/>
            </a:xfrm>
            <a:prstGeom prst="ellipse">
              <a:avLst/>
            </a:prstGeom>
            <a:solidFill>
              <a:srgbClr val="944130"/>
            </a:solidFill>
            <a:ln>
              <a:noFill/>
            </a:ln>
          </p:spPr>
        </p:sp>
        <p:sp>
          <p:nvSpPr>
            <p:cNvPr id="24" name="TextBox 24"/>
            <p:cNvSpPr txBox="1"/>
            <p:nvPr/>
          </p:nvSpPr>
          <p:spPr>
            <a:xfrm>
              <a:off x="2243138" y="1870234"/>
              <a:ext cx="92494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少数议题驱动多数影响</a:t>
              </a:r>
            </a:p>
          </p:txBody>
        </p:sp>
        <p:sp>
          <p:nvSpPr>
            <p:cNvPr id="25" name="Ellipse 25"/>
            <p:cNvSpPr/>
            <p:nvPr/>
          </p:nvSpPr>
          <p:spPr>
            <a:xfrm>
              <a:off x="2154555" y="2049780"/>
              <a:ext cx="34290" cy="34290"/>
            </a:xfrm>
            <a:prstGeom prst="ellipse">
              <a:avLst/>
            </a:prstGeom>
            <a:solidFill>
              <a:srgbClr val="944130"/>
            </a:solidFill>
            <a:ln>
              <a:noFill/>
            </a:ln>
          </p:spPr>
        </p:sp>
        <p:sp>
          <p:nvSpPr>
            <p:cNvPr id="26" name="TextBox 26"/>
            <p:cNvSpPr txBox="1"/>
            <p:nvPr/>
          </p:nvSpPr>
          <p:spPr>
            <a:xfrm>
              <a:off x="2243138" y="2022634"/>
              <a:ext cx="833399"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把有限资源投向关键</a:t>
              </a:r>
            </a:p>
          </p:txBody>
        </p:sp>
        <p:sp>
          <p:nvSpPr>
            <p:cNvPr id="27" name="Ellipse 27"/>
            <p:cNvSpPr/>
            <p:nvPr/>
          </p:nvSpPr>
          <p:spPr>
            <a:xfrm>
              <a:off x="2154555" y="2202180"/>
              <a:ext cx="34290" cy="34290"/>
            </a:xfrm>
            <a:prstGeom prst="ellipse">
              <a:avLst/>
            </a:prstGeom>
            <a:solidFill>
              <a:srgbClr val="944130"/>
            </a:solidFill>
            <a:ln>
              <a:noFill/>
            </a:ln>
          </p:spPr>
        </p:sp>
        <p:sp>
          <p:nvSpPr>
            <p:cNvPr id="28" name="TextBox 28"/>
            <p:cNvSpPr txBox="1"/>
            <p:nvPr/>
          </p:nvSpPr>
          <p:spPr>
            <a:xfrm>
              <a:off x="2243138" y="2175034"/>
              <a:ext cx="558775"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聚焦产生洞察</a:t>
              </a:r>
            </a:p>
          </p:txBody>
        </p:sp>
        <p:sp>
          <p:nvSpPr>
            <p:cNvPr id="29" name="Ellipse 29"/>
            <p:cNvSpPr/>
            <p:nvPr/>
          </p:nvSpPr>
          <p:spPr>
            <a:xfrm>
              <a:off x="2154555" y="2745105"/>
              <a:ext cx="34290" cy="34290"/>
            </a:xfrm>
            <a:prstGeom prst="ellipse">
              <a:avLst/>
            </a:prstGeom>
            <a:solidFill>
              <a:srgbClr val="944130"/>
            </a:solidFill>
            <a:ln>
              <a:noFill/>
            </a:ln>
          </p:spPr>
        </p:sp>
        <p:sp>
          <p:nvSpPr>
            <p:cNvPr id="30" name="TextBox 30"/>
            <p:cNvSpPr txBox="1"/>
            <p:nvPr/>
          </p:nvSpPr>
          <p:spPr>
            <a:xfrm>
              <a:off x="2243138" y="2717959"/>
              <a:ext cx="92494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少数议题产生多数结果</a:t>
              </a:r>
            </a:p>
          </p:txBody>
        </p:sp>
        <p:sp>
          <p:nvSpPr>
            <p:cNvPr id="31" name="Ellipse 31"/>
            <p:cNvSpPr/>
            <p:nvPr/>
          </p:nvSpPr>
          <p:spPr>
            <a:xfrm>
              <a:off x="2154555" y="2897505"/>
              <a:ext cx="34290" cy="34290"/>
            </a:xfrm>
            <a:prstGeom prst="ellipse">
              <a:avLst/>
            </a:prstGeom>
            <a:solidFill>
              <a:srgbClr val="944130"/>
            </a:solidFill>
            <a:ln>
              <a:noFill/>
            </a:ln>
          </p:spPr>
        </p:sp>
        <p:sp>
          <p:nvSpPr>
            <p:cNvPr id="32" name="TextBox 32"/>
            <p:cNvSpPr txBox="1"/>
            <p:nvPr/>
          </p:nvSpPr>
          <p:spPr>
            <a:xfrm>
              <a:off x="2243138" y="2870359"/>
              <a:ext cx="650316"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带来实质性改进</a:t>
              </a:r>
            </a:p>
          </p:txBody>
        </p:sp>
        <p:sp>
          <p:nvSpPr>
            <p:cNvPr id="33" name="Ellipse 33"/>
            <p:cNvSpPr/>
            <p:nvPr/>
          </p:nvSpPr>
          <p:spPr>
            <a:xfrm>
              <a:off x="2154555" y="3049905"/>
              <a:ext cx="34290" cy="34290"/>
            </a:xfrm>
            <a:prstGeom prst="ellipse">
              <a:avLst/>
            </a:prstGeom>
            <a:solidFill>
              <a:srgbClr val="944130"/>
            </a:solidFill>
            <a:ln>
              <a:noFill/>
            </a:ln>
          </p:spPr>
        </p:sp>
        <p:sp>
          <p:nvSpPr>
            <p:cNvPr id="34" name="TextBox 34"/>
            <p:cNvSpPr txBox="1"/>
            <p:nvPr/>
          </p:nvSpPr>
          <p:spPr>
            <a:xfrm>
              <a:off x="2243138" y="3022759"/>
              <a:ext cx="833399"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驱动增长与绩效提升</a:t>
              </a:r>
            </a:p>
          </p:txBody>
        </p:sp>
      </p:grpSp>
      <p:grpSp>
        <p:nvGrpSpPr>
          <p:cNvPr id="37" name="charts-title"/>
          <p:cNvGrpSpPr/>
          <p:nvPr/>
        </p:nvGrpSpPr>
        <p:grpSpPr>
          <a:xfrm>
            <a:off x="4424622" y="856774"/>
            <a:ext cx="2790305" cy="190690"/>
            <a:chOff x="4424622" y="856774"/>
            <a:chExt cx="2790305" cy="190690"/>
          </a:xfrm>
        </p:grpSpPr>
        <p:sp>
          <p:nvSpPr>
            <p:cNvPr id="36" name="TextBox 36"/>
            <p:cNvSpPr txBox="1"/>
            <p:nvPr/>
          </p:nvSpPr>
          <p:spPr>
            <a:xfrm>
              <a:off x="4424622" y="856774"/>
              <a:ext cx="2790305" cy="190690"/>
            </a:xfrm>
            <a:prstGeom prst="rect">
              <a:avLst/>
            </a:prstGeom>
            <a:noFill/>
            <a:ln>
              <a:noFill/>
            </a:ln>
          </p:spPr>
          <p:txBody>
            <a:bodyPr wrap="none" lIns="0" tIns="0" rIns="0" bIns="0" anchor="t" anchorCtr="0">
              <a:spAutoFit/>
            </a:bodyPr>
            <a:lstStyle/>
            <a:p>
              <a:pPr algn="ctr"/>
              <a:r>
                <a:rPr lang="zh-CN" sz="980" b="1" dirty="0">
                  <a:solidFill>
                    <a:srgbClr val="4E0D00"/>
                  </a:solidFill>
                  <a:latin typeface="+mn-lt"/>
                  <a:ea typeface="+mn-ea"/>
                  <a:cs typeface="+mn-cs"/>
                </a:rPr>
                <a:t>在不同维度识别关键少数（Pareto分析示例）​</a:t>
              </a:r>
            </a:p>
          </p:txBody>
        </p:sp>
      </p:grpSp>
      <p:grpSp>
        <p:nvGrpSpPr>
          <p:cNvPr id="314" name="charts"/>
          <p:cNvGrpSpPr/>
          <p:nvPr/>
        </p:nvGrpSpPr>
        <p:grpSpPr>
          <a:xfrm>
            <a:off x="3390900" y="1066800"/>
            <a:ext cx="4865469" cy="3330892"/>
            <a:chOff x="3390900" y="1066800"/>
            <a:chExt cx="4865469" cy="3330892"/>
          </a:xfrm>
        </p:grpSpPr>
        <p:sp>
          <p:nvSpPr>
            <p:cNvPr id="38" name="Rectangle 38"/>
            <p:cNvSpPr/>
            <p:nvPr/>
          </p:nvSpPr>
          <p:spPr>
            <a:xfrm>
              <a:off x="3390900" y="1066800"/>
              <a:ext cx="1543050" cy="209550"/>
            </a:xfrm>
            <a:prstGeom prst="rect">
              <a:avLst/>
            </a:prstGeom>
            <a:solidFill>
              <a:srgbClr val="4E0D00"/>
            </a:solidFill>
            <a:ln>
              <a:noFill/>
            </a:ln>
          </p:spPr>
        </p:sp>
        <p:grpSp>
          <p:nvGrpSpPr>
            <p:cNvPr id="43" name="Group 43"/>
            <p:cNvGrpSpPr/>
            <p:nvPr/>
          </p:nvGrpSpPr>
          <p:grpSpPr>
            <a:xfrm>
              <a:off x="3481388" y="1128712"/>
              <a:ext cx="85725" cy="85726"/>
              <a:chOff x="3481388" y="1128712"/>
              <a:chExt cx="85725" cy="85726"/>
            </a:xfrm>
          </p:grpSpPr>
          <p:sp>
            <p:nvSpPr>
              <p:cNvPr id="39" name="Freeform 39"/>
              <p:cNvSpPr/>
              <p:nvPr/>
            </p:nvSpPr>
            <p:spPr>
              <a:xfrm>
                <a:off x="3490912" y="1128712"/>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FFFFFF"/>
                </a:solidFill>
              </a:ln>
            </p:spPr>
          </p:sp>
          <p:sp>
            <p:nvSpPr>
              <p:cNvPr id="40" name="Freeform 40"/>
              <p:cNvSpPr/>
              <p:nvPr/>
            </p:nvSpPr>
            <p:spPr>
              <a:xfrm>
                <a:off x="3481388" y="1185862"/>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FFFFFF"/>
                </a:solidFill>
              </a:ln>
            </p:spPr>
          </p:sp>
          <p:sp>
            <p:nvSpPr>
              <p:cNvPr id="41" name="Freeform 41"/>
              <p:cNvSpPr/>
              <p:nvPr/>
            </p:nvSpPr>
            <p:spPr>
              <a:xfrm>
                <a:off x="3543300" y="1129332"/>
                <a:ext cx="14325" cy="36909"/>
              </a:xfrm>
              <a:custGeom>
                <a:avLst/>
                <a:gdLst/>
                <a:ahLst/>
                <a:cxnLst/>
                <a:rect l="l" t="t" r="r" b="b"/>
                <a:pathLst>
                  <a:path w="14325" h="36909">
                    <a:moveTo>
                      <a:pt x="0" y="0"/>
                    </a:moveTo>
                    <a:cubicBezTo>
                      <a:pt x="8429" y="2158"/>
                      <a:pt x="14325" y="9754"/>
                      <a:pt x="14325" y="18455"/>
                    </a:cubicBezTo>
                    <a:cubicBezTo>
                      <a:pt x="14325" y="27156"/>
                      <a:pt x="8429" y="34751"/>
                      <a:pt x="0" y="36909"/>
                    </a:cubicBezTo>
                  </a:path>
                </a:pathLst>
              </a:custGeom>
              <a:noFill/>
              <a:ln w="9525">
                <a:solidFill>
                  <a:srgbClr val="FFFFFF"/>
                </a:solidFill>
              </a:ln>
            </p:spPr>
          </p:sp>
          <p:sp>
            <p:nvSpPr>
              <p:cNvPr id="42" name="Freeform 42"/>
              <p:cNvSpPr/>
              <p:nvPr/>
            </p:nvSpPr>
            <p:spPr>
              <a:xfrm>
                <a:off x="3552825" y="1186577"/>
                <a:ext cx="14288" cy="27861"/>
              </a:xfrm>
              <a:custGeom>
                <a:avLst/>
                <a:gdLst/>
                <a:ahLst/>
                <a:cxnLst/>
                <a:rect l="l" t="t" r="r" b="b"/>
                <a:pathLst>
                  <a:path w="14288" h="27861">
                    <a:moveTo>
                      <a:pt x="14288" y="27861"/>
                    </a:moveTo>
                    <a:lnTo>
                      <a:pt x="14288" y="18336"/>
                    </a:lnTo>
                    <a:cubicBezTo>
                      <a:pt x="14238" y="9690"/>
                      <a:pt x="8372" y="2161"/>
                      <a:pt x="0" y="0"/>
                    </a:cubicBezTo>
                  </a:path>
                </a:pathLst>
              </a:custGeom>
              <a:noFill/>
              <a:ln w="9525">
                <a:solidFill>
                  <a:srgbClr val="FFFFFF"/>
                </a:solidFill>
              </a:ln>
            </p:spPr>
          </p:sp>
        </p:grpSp>
        <p:sp>
          <p:nvSpPr>
            <p:cNvPr id="44" name="TextBox 44"/>
            <p:cNvSpPr txBox="1"/>
            <p:nvPr/>
          </p:nvSpPr>
          <p:spPr>
            <a:xfrm>
              <a:off x="3633788" y="1134189"/>
              <a:ext cx="222225"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客户</a:t>
              </a:r>
            </a:p>
          </p:txBody>
        </p:sp>
        <p:grpSp>
          <p:nvGrpSpPr>
            <p:cNvPr id="50" name="Group 50"/>
            <p:cNvGrpSpPr/>
            <p:nvPr/>
          </p:nvGrpSpPr>
          <p:grpSpPr>
            <a:xfrm>
              <a:off x="3638550" y="1409700"/>
              <a:ext cx="1219200" cy="733425"/>
              <a:chOff x="3638550" y="1409700"/>
              <a:chExt cx="1219200" cy="733425"/>
            </a:xfrm>
          </p:grpSpPr>
          <p:sp>
            <p:nvSpPr>
              <p:cNvPr id="45" name="Line 45"/>
              <p:cNvSpPr/>
              <p:nvPr/>
            </p:nvSpPr>
            <p:spPr>
              <a:xfrm>
                <a:off x="3638550" y="140970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46" name="Line 46"/>
              <p:cNvSpPr/>
              <p:nvPr/>
            </p:nvSpPr>
            <p:spPr>
              <a:xfrm>
                <a:off x="3638550" y="159067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47" name="Line 47"/>
              <p:cNvSpPr/>
              <p:nvPr/>
            </p:nvSpPr>
            <p:spPr>
              <a:xfrm>
                <a:off x="3638550" y="177165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48" name="Line 48"/>
              <p:cNvSpPr/>
              <p:nvPr/>
            </p:nvSpPr>
            <p:spPr>
              <a:xfrm>
                <a:off x="3638550" y="195262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49" name="Line 49"/>
              <p:cNvSpPr/>
              <p:nvPr/>
            </p:nvSpPr>
            <p:spPr>
              <a:xfrm>
                <a:off x="3638550" y="2133600"/>
                <a:ext cx="1219200" cy="9525"/>
              </a:xfrm>
              <a:custGeom>
                <a:avLst/>
                <a:gdLst/>
                <a:ahLst/>
                <a:cxnLst/>
                <a:rect l="l" t="t" r="r" b="b"/>
                <a:pathLst>
                  <a:path w="1219200" h="9525">
                    <a:moveTo>
                      <a:pt x="0" y="0"/>
                    </a:moveTo>
                    <a:lnTo>
                      <a:pt x="1219200" y="0"/>
                    </a:lnTo>
                  </a:path>
                </a:pathLst>
              </a:custGeom>
              <a:noFill/>
              <a:ln w="7620">
                <a:solidFill>
                  <a:srgbClr val="EEF2F8"/>
                </a:solidFill>
              </a:ln>
            </p:spPr>
          </p:sp>
        </p:grpSp>
        <p:grpSp>
          <p:nvGrpSpPr>
            <p:cNvPr id="61" name="Group 61"/>
            <p:cNvGrpSpPr/>
            <p:nvPr/>
          </p:nvGrpSpPr>
          <p:grpSpPr>
            <a:xfrm>
              <a:off x="3638550" y="1928812"/>
              <a:ext cx="1225867" cy="271464"/>
              <a:chOff x="3638550" y="1928812"/>
              <a:chExt cx="1225867" cy="271464"/>
            </a:xfrm>
          </p:grpSpPr>
          <p:sp>
            <p:nvSpPr>
              <p:cNvPr id="51" name="Rectangle 51"/>
              <p:cNvSpPr/>
              <p:nvPr/>
            </p:nvSpPr>
            <p:spPr>
              <a:xfrm>
                <a:off x="3638550" y="1928812"/>
                <a:ext cx="85725" cy="271462"/>
              </a:xfrm>
              <a:prstGeom prst="rect">
                <a:avLst/>
              </a:prstGeom>
              <a:solidFill>
                <a:srgbClr val="4E0D00"/>
              </a:solidFill>
              <a:ln>
                <a:noFill/>
              </a:ln>
            </p:spPr>
          </p:sp>
          <p:sp>
            <p:nvSpPr>
              <p:cNvPr id="52" name="Rectangle 52"/>
              <p:cNvSpPr/>
              <p:nvPr/>
            </p:nvSpPr>
            <p:spPr>
              <a:xfrm>
                <a:off x="3765232" y="2019300"/>
                <a:ext cx="85725" cy="180975"/>
              </a:xfrm>
              <a:prstGeom prst="rect">
                <a:avLst/>
              </a:prstGeom>
              <a:solidFill>
                <a:srgbClr val="4E0D00"/>
              </a:solidFill>
              <a:ln>
                <a:noFill/>
              </a:ln>
            </p:spPr>
          </p:sp>
          <p:sp>
            <p:nvSpPr>
              <p:cNvPr id="53" name="Rectangle 53"/>
              <p:cNvSpPr/>
              <p:nvPr/>
            </p:nvSpPr>
            <p:spPr>
              <a:xfrm>
                <a:off x="3891915" y="2083118"/>
                <a:ext cx="85725" cy="117158"/>
              </a:xfrm>
              <a:prstGeom prst="rect">
                <a:avLst/>
              </a:prstGeom>
              <a:solidFill>
                <a:srgbClr val="4E0D00"/>
              </a:solidFill>
              <a:ln>
                <a:noFill/>
              </a:ln>
            </p:spPr>
          </p:sp>
          <p:sp>
            <p:nvSpPr>
              <p:cNvPr id="54" name="Rectangle 54"/>
              <p:cNvSpPr/>
              <p:nvPr/>
            </p:nvSpPr>
            <p:spPr>
              <a:xfrm>
                <a:off x="4018598" y="2119312"/>
                <a:ext cx="85725" cy="80962"/>
              </a:xfrm>
              <a:prstGeom prst="rect">
                <a:avLst/>
              </a:prstGeom>
              <a:solidFill>
                <a:srgbClr val="4E0D00"/>
              </a:solidFill>
              <a:ln>
                <a:noFill/>
              </a:ln>
            </p:spPr>
          </p:sp>
          <p:sp>
            <p:nvSpPr>
              <p:cNvPr id="55" name="Rectangle 55"/>
              <p:cNvSpPr/>
              <p:nvPr/>
            </p:nvSpPr>
            <p:spPr>
              <a:xfrm>
                <a:off x="4145280" y="2136458"/>
                <a:ext cx="85725" cy="63818"/>
              </a:xfrm>
              <a:prstGeom prst="rect">
                <a:avLst/>
              </a:prstGeom>
              <a:solidFill>
                <a:srgbClr val="4E0D00"/>
              </a:solidFill>
              <a:ln>
                <a:noFill/>
              </a:ln>
            </p:spPr>
          </p:sp>
          <p:sp>
            <p:nvSpPr>
              <p:cNvPr id="56" name="Rectangle 56"/>
              <p:cNvSpPr/>
              <p:nvPr/>
            </p:nvSpPr>
            <p:spPr>
              <a:xfrm>
                <a:off x="4271962" y="2155508"/>
                <a:ext cx="85725" cy="44768"/>
              </a:xfrm>
              <a:prstGeom prst="rect">
                <a:avLst/>
              </a:prstGeom>
              <a:solidFill>
                <a:srgbClr val="4E0D00"/>
              </a:solidFill>
              <a:ln>
                <a:noFill/>
              </a:ln>
            </p:spPr>
          </p:sp>
          <p:sp>
            <p:nvSpPr>
              <p:cNvPr id="57" name="Rectangle 57"/>
              <p:cNvSpPr/>
              <p:nvPr/>
            </p:nvSpPr>
            <p:spPr>
              <a:xfrm>
                <a:off x="4398645" y="2164080"/>
                <a:ext cx="85725" cy="36195"/>
              </a:xfrm>
              <a:prstGeom prst="rect">
                <a:avLst/>
              </a:prstGeom>
              <a:solidFill>
                <a:srgbClr val="4E0D00"/>
              </a:solidFill>
              <a:ln>
                <a:noFill/>
              </a:ln>
            </p:spPr>
          </p:sp>
          <p:sp>
            <p:nvSpPr>
              <p:cNvPr id="58" name="Rectangle 58"/>
              <p:cNvSpPr/>
              <p:nvPr/>
            </p:nvSpPr>
            <p:spPr>
              <a:xfrm>
                <a:off x="4525328" y="2173605"/>
                <a:ext cx="85725" cy="26670"/>
              </a:xfrm>
              <a:prstGeom prst="rect">
                <a:avLst/>
              </a:prstGeom>
              <a:solidFill>
                <a:srgbClr val="4E0D00"/>
              </a:solidFill>
              <a:ln>
                <a:noFill/>
              </a:ln>
            </p:spPr>
          </p:sp>
          <p:sp>
            <p:nvSpPr>
              <p:cNvPr id="59" name="Rectangle 59"/>
              <p:cNvSpPr/>
              <p:nvPr/>
            </p:nvSpPr>
            <p:spPr>
              <a:xfrm>
                <a:off x="4652010" y="2182178"/>
                <a:ext cx="85725" cy="18098"/>
              </a:xfrm>
              <a:prstGeom prst="rect">
                <a:avLst/>
              </a:prstGeom>
              <a:solidFill>
                <a:srgbClr val="4E0D00"/>
              </a:solidFill>
              <a:ln>
                <a:noFill/>
              </a:ln>
            </p:spPr>
          </p:sp>
          <p:sp>
            <p:nvSpPr>
              <p:cNvPr id="60" name="Rectangle 60"/>
              <p:cNvSpPr/>
              <p:nvPr/>
            </p:nvSpPr>
            <p:spPr>
              <a:xfrm>
                <a:off x="4778692" y="2191702"/>
                <a:ext cx="85725" cy="8572"/>
              </a:xfrm>
              <a:prstGeom prst="rect">
                <a:avLst/>
              </a:prstGeom>
              <a:solidFill>
                <a:srgbClr val="4E0D00"/>
              </a:solidFill>
              <a:ln>
                <a:noFill/>
              </a:ln>
            </p:spPr>
          </p:sp>
        </p:grpSp>
        <p:sp>
          <p:nvSpPr>
            <p:cNvPr id="62" name="Line 62"/>
            <p:cNvSpPr/>
            <p:nvPr/>
          </p:nvSpPr>
          <p:spPr>
            <a:xfrm>
              <a:off x="3638550" y="1590675"/>
              <a:ext cx="1219200" cy="9525"/>
            </a:xfrm>
            <a:custGeom>
              <a:avLst/>
              <a:gdLst/>
              <a:ahLst/>
              <a:cxnLst/>
              <a:rect l="l" t="t" r="r" b="b"/>
              <a:pathLst>
                <a:path w="1219200" h="9525">
                  <a:moveTo>
                    <a:pt x="0" y="0"/>
                  </a:moveTo>
                  <a:lnTo>
                    <a:pt x="1219200" y="0"/>
                  </a:lnTo>
                </a:path>
              </a:pathLst>
            </a:custGeom>
            <a:noFill/>
            <a:ln w="7620">
              <a:solidFill>
                <a:srgbClr val="944130"/>
              </a:solidFill>
              <a:prstDash val="sysDot"/>
            </a:ln>
          </p:spPr>
        </p:sp>
        <p:sp>
          <p:nvSpPr>
            <p:cNvPr id="63" name="Polyline 63"/>
            <p:cNvSpPr/>
            <p:nvPr/>
          </p:nvSpPr>
          <p:spPr>
            <a:xfrm>
              <a:off x="3681412" y="1409700"/>
              <a:ext cx="1140142" cy="615315"/>
            </a:xfrm>
            <a:custGeom>
              <a:avLst/>
              <a:gdLst/>
              <a:ahLst/>
              <a:cxnLst/>
              <a:rect l="l" t="t" r="r" b="b"/>
              <a:pathLst>
                <a:path w="1140142" h="615315">
                  <a:moveTo>
                    <a:pt x="0" y="615315"/>
                  </a:moveTo>
                  <a:lnTo>
                    <a:pt x="126683" y="425767"/>
                  </a:lnTo>
                  <a:lnTo>
                    <a:pt x="253365" y="299085"/>
                  </a:lnTo>
                  <a:lnTo>
                    <a:pt x="380047" y="208598"/>
                  </a:lnTo>
                  <a:lnTo>
                    <a:pt x="506730" y="144780"/>
                  </a:lnTo>
                  <a:lnTo>
                    <a:pt x="633412" y="100012"/>
                  </a:lnTo>
                  <a:lnTo>
                    <a:pt x="760095" y="54292"/>
                  </a:lnTo>
                  <a:lnTo>
                    <a:pt x="886778" y="27623"/>
                  </a:lnTo>
                  <a:lnTo>
                    <a:pt x="1013460" y="9525"/>
                  </a:lnTo>
                  <a:lnTo>
                    <a:pt x="1140142" y="0"/>
                  </a:lnTo>
                </a:path>
              </a:pathLst>
            </a:custGeom>
            <a:noFill/>
            <a:ln w="12382">
              <a:solidFill>
                <a:srgbClr val="944130"/>
              </a:solidFill>
            </a:ln>
          </p:spPr>
        </p:sp>
        <p:grpSp>
          <p:nvGrpSpPr>
            <p:cNvPr id="74" name="Group 74"/>
            <p:cNvGrpSpPr/>
            <p:nvPr/>
          </p:nvGrpSpPr>
          <p:grpSpPr>
            <a:xfrm>
              <a:off x="3666172" y="1394460"/>
              <a:ext cx="1170623" cy="645795"/>
              <a:chOff x="3666172" y="1394460"/>
              <a:chExt cx="1170623" cy="645795"/>
            </a:xfrm>
          </p:grpSpPr>
          <p:sp>
            <p:nvSpPr>
              <p:cNvPr id="64" name="Ellipse 64"/>
              <p:cNvSpPr/>
              <p:nvPr/>
            </p:nvSpPr>
            <p:spPr>
              <a:xfrm>
                <a:off x="3666172" y="2009775"/>
                <a:ext cx="30480" cy="30480"/>
              </a:xfrm>
              <a:prstGeom prst="ellipse">
                <a:avLst/>
              </a:prstGeom>
              <a:solidFill>
                <a:srgbClr val="944130"/>
              </a:solidFill>
              <a:ln>
                <a:noFill/>
              </a:ln>
            </p:spPr>
          </p:sp>
          <p:sp>
            <p:nvSpPr>
              <p:cNvPr id="65" name="Ellipse 65"/>
              <p:cNvSpPr/>
              <p:nvPr/>
            </p:nvSpPr>
            <p:spPr>
              <a:xfrm>
                <a:off x="3792855" y="1820228"/>
                <a:ext cx="30480" cy="30480"/>
              </a:xfrm>
              <a:prstGeom prst="ellipse">
                <a:avLst/>
              </a:prstGeom>
              <a:solidFill>
                <a:srgbClr val="944130"/>
              </a:solidFill>
              <a:ln>
                <a:noFill/>
              </a:ln>
            </p:spPr>
          </p:sp>
          <p:sp>
            <p:nvSpPr>
              <p:cNvPr id="66" name="Ellipse 66"/>
              <p:cNvSpPr/>
              <p:nvPr/>
            </p:nvSpPr>
            <p:spPr>
              <a:xfrm>
                <a:off x="3919538" y="1693545"/>
                <a:ext cx="30480" cy="30480"/>
              </a:xfrm>
              <a:prstGeom prst="ellipse">
                <a:avLst/>
              </a:prstGeom>
              <a:solidFill>
                <a:srgbClr val="944130"/>
              </a:solidFill>
              <a:ln>
                <a:noFill/>
              </a:ln>
            </p:spPr>
          </p:sp>
          <p:sp>
            <p:nvSpPr>
              <p:cNvPr id="67" name="Ellipse 67"/>
              <p:cNvSpPr/>
              <p:nvPr/>
            </p:nvSpPr>
            <p:spPr>
              <a:xfrm>
                <a:off x="4046220" y="1603058"/>
                <a:ext cx="30480" cy="30480"/>
              </a:xfrm>
              <a:prstGeom prst="ellipse">
                <a:avLst/>
              </a:prstGeom>
              <a:solidFill>
                <a:srgbClr val="944130"/>
              </a:solidFill>
              <a:ln>
                <a:noFill/>
              </a:ln>
            </p:spPr>
          </p:sp>
          <p:sp>
            <p:nvSpPr>
              <p:cNvPr id="68" name="Ellipse 68"/>
              <p:cNvSpPr/>
              <p:nvPr/>
            </p:nvSpPr>
            <p:spPr>
              <a:xfrm>
                <a:off x="4172902" y="1539240"/>
                <a:ext cx="30480" cy="30480"/>
              </a:xfrm>
              <a:prstGeom prst="ellipse">
                <a:avLst/>
              </a:prstGeom>
              <a:solidFill>
                <a:srgbClr val="944130"/>
              </a:solidFill>
              <a:ln>
                <a:noFill/>
              </a:ln>
            </p:spPr>
          </p:sp>
          <p:sp>
            <p:nvSpPr>
              <p:cNvPr id="69" name="Ellipse 69"/>
              <p:cNvSpPr/>
              <p:nvPr/>
            </p:nvSpPr>
            <p:spPr>
              <a:xfrm>
                <a:off x="4299585" y="1494472"/>
                <a:ext cx="30480" cy="30480"/>
              </a:xfrm>
              <a:prstGeom prst="ellipse">
                <a:avLst/>
              </a:prstGeom>
              <a:solidFill>
                <a:srgbClr val="944130"/>
              </a:solidFill>
              <a:ln>
                <a:noFill/>
              </a:ln>
            </p:spPr>
          </p:sp>
          <p:sp>
            <p:nvSpPr>
              <p:cNvPr id="70" name="Ellipse 70"/>
              <p:cNvSpPr/>
              <p:nvPr/>
            </p:nvSpPr>
            <p:spPr>
              <a:xfrm>
                <a:off x="4426268" y="1448752"/>
                <a:ext cx="30480" cy="30480"/>
              </a:xfrm>
              <a:prstGeom prst="ellipse">
                <a:avLst/>
              </a:prstGeom>
              <a:solidFill>
                <a:srgbClr val="944130"/>
              </a:solidFill>
              <a:ln>
                <a:noFill/>
              </a:ln>
            </p:spPr>
          </p:sp>
          <p:sp>
            <p:nvSpPr>
              <p:cNvPr id="71" name="Ellipse 71"/>
              <p:cNvSpPr/>
              <p:nvPr/>
            </p:nvSpPr>
            <p:spPr>
              <a:xfrm>
                <a:off x="4552950" y="1422082"/>
                <a:ext cx="30480" cy="30480"/>
              </a:xfrm>
              <a:prstGeom prst="ellipse">
                <a:avLst/>
              </a:prstGeom>
              <a:solidFill>
                <a:srgbClr val="944130"/>
              </a:solidFill>
              <a:ln>
                <a:noFill/>
              </a:ln>
            </p:spPr>
          </p:sp>
          <p:sp>
            <p:nvSpPr>
              <p:cNvPr id="72" name="Ellipse 72"/>
              <p:cNvSpPr/>
              <p:nvPr/>
            </p:nvSpPr>
            <p:spPr>
              <a:xfrm>
                <a:off x="4679632" y="1403985"/>
                <a:ext cx="30480" cy="30480"/>
              </a:xfrm>
              <a:prstGeom prst="ellipse">
                <a:avLst/>
              </a:prstGeom>
              <a:solidFill>
                <a:srgbClr val="944130"/>
              </a:solidFill>
              <a:ln>
                <a:noFill/>
              </a:ln>
            </p:spPr>
          </p:sp>
          <p:sp>
            <p:nvSpPr>
              <p:cNvPr id="73" name="Ellipse 73"/>
              <p:cNvSpPr/>
              <p:nvPr/>
            </p:nvSpPr>
            <p:spPr>
              <a:xfrm>
                <a:off x="4806315" y="1394460"/>
                <a:ext cx="30480" cy="30480"/>
              </a:xfrm>
              <a:prstGeom prst="ellipse">
                <a:avLst/>
              </a:prstGeom>
              <a:solidFill>
                <a:srgbClr val="944130"/>
              </a:solidFill>
              <a:ln>
                <a:noFill/>
              </a:ln>
            </p:spPr>
          </p:sp>
        </p:grpSp>
        <p:sp>
          <p:nvSpPr>
            <p:cNvPr id="75" name="Line 75"/>
            <p:cNvSpPr/>
            <p:nvPr/>
          </p:nvSpPr>
          <p:spPr>
            <a:xfrm>
              <a:off x="3638550" y="2314575"/>
              <a:ext cx="1219200" cy="9525"/>
            </a:xfrm>
            <a:custGeom>
              <a:avLst/>
              <a:gdLst/>
              <a:ahLst/>
              <a:cxnLst/>
              <a:rect l="l" t="t" r="r" b="b"/>
              <a:pathLst>
                <a:path w="1219200" h="9525">
                  <a:moveTo>
                    <a:pt x="0" y="0"/>
                  </a:moveTo>
                  <a:lnTo>
                    <a:pt x="1219200" y="0"/>
                  </a:lnTo>
                </a:path>
              </a:pathLst>
            </a:custGeom>
            <a:noFill/>
            <a:ln w="9525">
              <a:solidFill>
                <a:srgbClr val="C8998F"/>
              </a:solidFill>
            </a:ln>
          </p:spPr>
        </p:sp>
        <p:grpSp>
          <p:nvGrpSpPr>
            <p:cNvPr id="88" name="Group 88"/>
            <p:cNvGrpSpPr/>
            <p:nvPr/>
          </p:nvGrpSpPr>
          <p:grpSpPr>
            <a:xfrm>
              <a:off x="3446899" y="1385649"/>
              <a:ext cx="1494770" cy="1078706"/>
              <a:chOff x="3446899" y="1385649"/>
              <a:chExt cx="1494770" cy="1078706"/>
            </a:xfrm>
          </p:grpSpPr>
          <p:sp>
            <p:nvSpPr>
              <p:cNvPr id="76" name="TextBox 76"/>
              <p:cNvSpPr txBox="1"/>
              <p:nvPr/>
            </p:nvSpPr>
            <p:spPr>
              <a:xfrm>
                <a:off x="3446899" y="1385649"/>
                <a:ext cx="16783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100%</a:t>
                </a:r>
              </a:p>
            </p:txBody>
          </p:sp>
          <p:sp>
            <p:nvSpPr>
              <p:cNvPr id="77" name="TextBox 77"/>
              <p:cNvSpPr txBox="1"/>
              <p:nvPr/>
            </p:nvSpPr>
            <p:spPr>
              <a:xfrm>
                <a:off x="3483179" y="156662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80%</a:t>
                </a:r>
              </a:p>
            </p:txBody>
          </p:sp>
          <p:sp>
            <p:nvSpPr>
              <p:cNvPr id="78" name="TextBox 78"/>
              <p:cNvSpPr txBox="1"/>
              <p:nvPr/>
            </p:nvSpPr>
            <p:spPr>
              <a:xfrm>
                <a:off x="3483179" y="174759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60%</a:t>
                </a:r>
              </a:p>
            </p:txBody>
          </p:sp>
          <p:sp>
            <p:nvSpPr>
              <p:cNvPr id="79" name="TextBox 79"/>
              <p:cNvSpPr txBox="1"/>
              <p:nvPr/>
            </p:nvSpPr>
            <p:spPr>
              <a:xfrm>
                <a:off x="3483179" y="192857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40%</a:t>
                </a:r>
              </a:p>
            </p:txBody>
          </p:sp>
          <p:sp>
            <p:nvSpPr>
              <p:cNvPr id="80" name="TextBox 80"/>
              <p:cNvSpPr txBox="1"/>
              <p:nvPr/>
            </p:nvSpPr>
            <p:spPr>
              <a:xfrm>
                <a:off x="3483179" y="210954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20%</a:t>
                </a:r>
              </a:p>
            </p:txBody>
          </p:sp>
          <p:sp>
            <p:nvSpPr>
              <p:cNvPr id="81" name="TextBox 81"/>
              <p:cNvSpPr txBox="1"/>
              <p:nvPr/>
            </p:nvSpPr>
            <p:spPr>
              <a:xfrm>
                <a:off x="3519460" y="2290524"/>
                <a:ext cx="9527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0%</a:t>
                </a:r>
              </a:p>
            </p:txBody>
          </p:sp>
          <p:sp>
            <p:nvSpPr>
              <p:cNvPr id="82" name="TextBox 82"/>
              <p:cNvSpPr txBox="1"/>
              <p:nvPr/>
            </p:nvSpPr>
            <p:spPr>
              <a:xfrm>
                <a:off x="3590911" y="2366724"/>
                <a:ext cx="9527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0%</a:t>
                </a:r>
              </a:p>
            </p:txBody>
          </p:sp>
          <p:sp>
            <p:nvSpPr>
              <p:cNvPr id="83" name="TextBox 83"/>
              <p:cNvSpPr txBox="1"/>
              <p:nvPr/>
            </p:nvSpPr>
            <p:spPr>
              <a:xfrm>
                <a:off x="381661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20%</a:t>
                </a:r>
              </a:p>
            </p:txBody>
          </p:sp>
          <p:sp>
            <p:nvSpPr>
              <p:cNvPr id="84" name="TextBox 84"/>
              <p:cNvSpPr txBox="1"/>
              <p:nvPr/>
            </p:nvSpPr>
            <p:spPr>
              <a:xfrm>
                <a:off x="406045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40%</a:t>
                </a:r>
              </a:p>
            </p:txBody>
          </p:sp>
          <p:sp>
            <p:nvSpPr>
              <p:cNvPr id="85" name="TextBox 85"/>
              <p:cNvSpPr txBox="1"/>
              <p:nvPr/>
            </p:nvSpPr>
            <p:spPr>
              <a:xfrm>
                <a:off x="430429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60%</a:t>
                </a:r>
              </a:p>
            </p:txBody>
          </p:sp>
          <p:sp>
            <p:nvSpPr>
              <p:cNvPr id="86" name="TextBox 86"/>
              <p:cNvSpPr txBox="1"/>
              <p:nvPr/>
            </p:nvSpPr>
            <p:spPr>
              <a:xfrm>
                <a:off x="454813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80%</a:t>
                </a:r>
              </a:p>
            </p:txBody>
          </p:sp>
          <p:sp>
            <p:nvSpPr>
              <p:cNvPr id="87" name="TextBox 87"/>
              <p:cNvSpPr txBox="1"/>
              <p:nvPr/>
            </p:nvSpPr>
            <p:spPr>
              <a:xfrm>
                <a:off x="4773831" y="2366724"/>
                <a:ext cx="16783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100%</a:t>
                </a:r>
              </a:p>
            </p:txBody>
          </p:sp>
        </p:grpSp>
        <p:sp>
          <p:nvSpPr>
            <p:cNvPr id="89" name="TextBox 89"/>
            <p:cNvSpPr txBox="1"/>
            <p:nvPr/>
          </p:nvSpPr>
          <p:spPr>
            <a:xfrm>
              <a:off x="3683800" y="2502932"/>
              <a:ext cx="95725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客户占比（按贡献降序）</a:t>
              </a:r>
            </a:p>
          </p:txBody>
        </p:sp>
        <p:sp>
          <p:nvSpPr>
            <p:cNvPr id="90" name="Rectangle 90"/>
            <p:cNvSpPr/>
            <p:nvPr/>
          </p:nvSpPr>
          <p:spPr>
            <a:xfrm>
              <a:off x="5048250" y="1066800"/>
              <a:ext cx="1543050" cy="209550"/>
            </a:xfrm>
            <a:prstGeom prst="rect">
              <a:avLst/>
            </a:prstGeom>
            <a:solidFill>
              <a:srgbClr val="4E0D00"/>
            </a:solidFill>
            <a:ln>
              <a:noFill/>
            </a:ln>
          </p:spPr>
        </p:sp>
        <p:grpSp>
          <p:nvGrpSpPr>
            <p:cNvPr id="95" name="Group 95"/>
            <p:cNvGrpSpPr/>
            <p:nvPr/>
          </p:nvGrpSpPr>
          <p:grpSpPr>
            <a:xfrm>
              <a:off x="5143500" y="1128712"/>
              <a:ext cx="76200" cy="85725"/>
              <a:chOff x="5143500" y="1128712"/>
              <a:chExt cx="76200" cy="85725"/>
            </a:xfrm>
          </p:grpSpPr>
          <p:sp>
            <p:nvSpPr>
              <p:cNvPr id="91" name="Freeform 91"/>
              <p:cNvSpPr/>
              <p:nvPr/>
            </p:nvSpPr>
            <p:spPr>
              <a:xfrm>
                <a:off x="5143500" y="1128712"/>
                <a:ext cx="76200" cy="85725"/>
              </a:xfrm>
              <a:custGeom>
                <a:avLst/>
                <a:gdLst/>
                <a:ahLst/>
                <a:cxnLst/>
                <a:rect l="l" t="t" r="r" b="b"/>
                <a:pathLst>
                  <a:path w="76200" h="85725">
                    <a:moveTo>
                      <a:pt x="38100" y="0"/>
                    </a:moveTo>
                    <a:lnTo>
                      <a:pt x="76200" y="21431"/>
                    </a:lnTo>
                    <a:lnTo>
                      <a:pt x="76200" y="64294"/>
                    </a:lnTo>
                    <a:lnTo>
                      <a:pt x="38100" y="85725"/>
                    </a:lnTo>
                    <a:lnTo>
                      <a:pt x="0" y="64294"/>
                    </a:lnTo>
                    <a:lnTo>
                      <a:pt x="0" y="21431"/>
                    </a:lnTo>
                    <a:lnTo>
                      <a:pt x="38100" y="0"/>
                    </a:lnTo>
                  </a:path>
                </a:pathLst>
              </a:custGeom>
              <a:noFill/>
              <a:ln w="9525">
                <a:solidFill>
                  <a:srgbClr val="FFFFFF"/>
                </a:solidFill>
              </a:ln>
            </p:spPr>
          </p:sp>
          <p:sp>
            <p:nvSpPr>
              <p:cNvPr id="92" name="Freeform 92"/>
              <p:cNvSpPr/>
              <p:nvPr/>
            </p:nvSpPr>
            <p:spPr>
              <a:xfrm>
                <a:off x="5181600" y="1150144"/>
                <a:ext cx="38100" cy="21431"/>
              </a:xfrm>
              <a:custGeom>
                <a:avLst/>
                <a:gdLst/>
                <a:ahLst/>
                <a:cxnLst/>
                <a:rect l="l" t="t" r="r" b="b"/>
                <a:pathLst>
                  <a:path w="38100" h="21431">
                    <a:moveTo>
                      <a:pt x="0" y="21431"/>
                    </a:moveTo>
                    <a:lnTo>
                      <a:pt x="38100" y="0"/>
                    </a:lnTo>
                  </a:path>
                </a:pathLst>
              </a:custGeom>
              <a:noFill/>
              <a:ln w="9525">
                <a:solidFill>
                  <a:srgbClr val="FFFFFF"/>
                </a:solidFill>
              </a:ln>
            </p:spPr>
          </p:sp>
          <p:sp>
            <p:nvSpPr>
              <p:cNvPr id="93" name="Freeform 93"/>
              <p:cNvSpPr/>
              <p:nvPr/>
            </p:nvSpPr>
            <p:spPr>
              <a:xfrm>
                <a:off x="5181600" y="1171575"/>
                <a:ext cx="9525" cy="42862"/>
              </a:xfrm>
              <a:custGeom>
                <a:avLst/>
                <a:gdLst/>
                <a:ahLst/>
                <a:cxnLst/>
                <a:rect l="l" t="t" r="r" b="b"/>
                <a:pathLst>
                  <a:path w="9525" h="42862">
                    <a:moveTo>
                      <a:pt x="0" y="0"/>
                    </a:moveTo>
                    <a:lnTo>
                      <a:pt x="0" y="42862"/>
                    </a:lnTo>
                  </a:path>
                </a:pathLst>
              </a:custGeom>
              <a:noFill/>
              <a:ln w="9525">
                <a:solidFill>
                  <a:srgbClr val="FFFFFF"/>
                </a:solidFill>
              </a:ln>
            </p:spPr>
          </p:sp>
          <p:sp>
            <p:nvSpPr>
              <p:cNvPr id="94" name="Freeform 94"/>
              <p:cNvSpPr/>
              <p:nvPr/>
            </p:nvSpPr>
            <p:spPr>
              <a:xfrm>
                <a:off x="5143500" y="1150144"/>
                <a:ext cx="38100" cy="21431"/>
              </a:xfrm>
              <a:custGeom>
                <a:avLst/>
                <a:gdLst/>
                <a:ahLst/>
                <a:cxnLst/>
                <a:rect l="l" t="t" r="r" b="b"/>
                <a:pathLst>
                  <a:path w="38100" h="21431">
                    <a:moveTo>
                      <a:pt x="38100" y="21431"/>
                    </a:moveTo>
                    <a:lnTo>
                      <a:pt x="0" y="0"/>
                    </a:lnTo>
                  </a:path>
                </a:pathLst>
              </a:custGeom>
              <a:noFill/>
              <a:ln w="9525">
                <a:solidFill>
                  <a:srgbClr val="FFFFFF"/>
                </a:solidFill>
              </a:ln>
            </p:spPr>
          </p:sp>
        </p:grpSp>
        <p:sp>
          <p:nvSpPr>
            <p:cNvPr id="96" name="TextBox 96"/>
            <p:cNvSpPr txBox="1"/>
            <p:nvPr/>
          </p:nvSpPr>
          <p:spPr>
            <a:xfrm>
              <a:off x="5291138" y="1134189"/>
              <a:ext cx="222225"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产品</a:t>
              </a:r>
            </a:p>
          </p:txBody>
        </p:sp>
        <p:grpSp>
          <p:nvGrpSpPr>
            <p:cNvPr id="102" name="Group 102"/>
            <p:cNvGrpSpPr/>
            <p:nvPr/>
          </p:nvGrpSpPr>
          <p:grpSpPr>
            <a:xfrm>
              <a:off x="5295900" y="1409700"/>
              <a:ext cx="1219200" cy="733425"/>
              <a:chOff x="5295900" y="1409700"/>
              <a:chExt cx="1219200" cy="733425"/>
            </a:xfrm>
          </p:grpSpPr>
          <p:sp>
            <p:nvSpPr>
              <p:cNvPr id="97" name="Line 97"/>
              <p:cNvSpPr/>
              <p:nvPr/>
            </p:nvSpPr>
            <p:spPr>
              <a:xfrm>
                <a:off x="5295900" y="140970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98" name="Line 98"/>
              <p:cNvSpPr/>
              <p:nvPr/>
            </p:nvSpPr>
            <p:spPr>
              <a:xfrm>
                <a:off x="5295900" y="159067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99" name="Line 99"/>
              <p:cNvSpPr/>
              <p:nvPr/>
            </p:nvSpPr>
            <p:spPr>
              <a:xfrm>
                <a:off x="5295900" y="177165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100" name="Line 100"/>
              <p:cNvSpPr/>
              <p:nvPr/>
            </p:nvSpPr>
            <p:spPr>
              <a:xfrm>
                <a:off x="5295900" y="195262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101" name="Line 101"/>
              <p:cNvSpPr/>
              <p:nvPr/>
            </p:nvSpPr>
            <p:spPr>
              <a:xfrm>
                <a:off x="5295900" y="2133600"/>
                <a:ext cx="1219200" cy="9525"/>
              </a:xfrm>
              <a:custGeom>
                <a:avLst/>
                <a:gdLst/>
                <a:ahLst/>
                <a:cxnLst/>
                <a:rect l="l" t="t" r="r" b="b"/>
                <a:pathLst>
                  <a:path w="1219200" h="9525">
                    <a:moveTo>
                      <a:pt x="0" y="0"/>
                    </a:moveTo>
                    <a:lnTo>
                      <a:pt x="1219200" y="0"/>
                    </a:lnTo>
                  </a:path>
                </a:pathLst>
              </a:custGeom>
              <a:noFill/>
              <a:ln w="7620">
                <a:solidFill>
                  <a:srgbClr val="EEF2F8"/>
                </a:solidFill>
              </a:ln>
            </p:spPr>
          </p:sp>
        </p:grpSp>
        <p:grpSp>
          <p:nvGrpSpPr>
            <p:cNvPr id="113" name="Group 113"/>
            <p:cNvGrpSpPr/>
            <p:nvPr/>
          </p:nvGrpSpPr>
          <p:grpSpPr>
            <a:xfrm>
              <a:off x="5295900" y="1938338"/>
              <a:ext cx="1225867" cy="261938"/>
              <a:chOff x="5295900" y="1938338"/>
              <a:chExt cx="1225867" cy="261938"/>
            </a:xfrm>
          </p:grpSpPr>
          <p:sp>
            <p:nvSpPr>
              <p:cNvPr id="103" name="Rectangle 103"/>
              <p:cNvSpPr/>
              <p:nvPr/>
            </p:nvSpPr>
            <p:spPr>
              <a:xfrm>
                <a:off x="5295900" y="1938338"/>
                <a:ext cx="85725" cy="261938"/>
              </a:xfrm>
              <a:prstGeom prst="rect">
                <a:avLst/>
              </a:prstGeom>
              <a:solidFill>
                <a:srgbClr val="4E0D00"/>
              </a:solidFill>
              <a:ln>
                <a:noFill/>
              </a:ln>
            </p:spPr>
          </p:sp>
          <p:sp>
            <p:nvSpPr>
              <p:cNvPr id="104" name="Rectangle 104"/>
              <p:cNvSpPr/>
              <p:nvPr/>
            </p:nvSpPr>
            <p:spPr>
              <a:xfrm>
                <a:off x="5422582" y="2024062"/>
                <a:ext cx="85725" cy="176212"/>
              </a:xfrm>
              <a:prstGeom prst="rect">
                <a:avLst/>
              </a:prstGeom>
              <a:solidFill>
                <a:srgbClr val="4E0D00"/>
              </a:solidFill>
              <a:ln>
                <a:noFill/>
              </a:ln>
            </p:spPr>
          </p:sp>
          <p:sp>
            <p:nvSpPr>
              <p:cNvPr id="105" name="Rectangle 105"/>
              <p:cNvSpPr/>
              <p:nvPr/>
            </p:nvSpPr>
            <p:spPr>
              <a:xfrm>
                <a:off x="5549265" y="2078355"/>
                <a:ext cx="85725" cy="121920"/>
              </a:xfrm>
              <a:prstGeom prst="rect">
                <a:avLst/>
              </a:prstGeom>
              <a:solidFill>
                <a:srgbClr val="4E0D00"/>
              </a:solidFill>
              <a:ln>
                <a:noFill/>
              </a:ln>
            </p:spPr>
          </p:sp>
          <p:sp>
            <p:nvSpPr>
              <p:cNvPr id="106" name="Rectangle 106"/>
              <p:cNvSpPr/>
              <p:nvPr/>
            </p:nvSpPr>
            <p:spPr>
              <a:xfrm>
                <a:off x="5675948" y="2114550"/>
                <a:ext cx="85725" cy="85725"/>
              </a:xfrm>
              <a:prstGeom prst="rect">
                <a:avLst/>
              </a:prstGeom>
              <a:solidFill>
                <a:srgbClr val="4E0D00"/>
              </a:solidFill>
              <a:ln>
                <a:noFill/>
              </a:ln>
            </p:spPr>
          </p:sp>
          <p:sp>
            <p:nvSpPr>
              <p:cNvPr id="107" name="Rectangle 107"/>
              <p:cNvSpPr/>
              <p:nvPr/>
            </p:nvSpPr>
            <p:spPr>
              <a:xfrm>
                <a:off x="5802630" y="2138362"/>
                <a:ext cx="85725" cy="61912"/>
              </a:xfrm>
              <a:prstGeom prst="rect">
                <a:avLst/>
              </a:prstGeom>
              <a:solidFill>
                <a:srgbClr val="4E0D00"/>
              </a:solidFill>
              <a:ln>
                <a:noFill/>
              </a:ln>
            </p:spPr>
          </p:sp>
          <p:sp>
            <p:nvSpPr>
              <p:cNvPr id="108" name="Rectangle 108"/>
              <p:cNvSpPr/>
              <p:nvPr/>
            </p:nvSpPr>
            <p:spPr>
              <a:xfrm>
                <a:off x="5929312" y="2152650"/>
                <a:ext cx="85725" cy="47625"/>
              </a:xfrm>
              <a:prstGeom prst="rect">
                <a:avLst/>
              </a:prstGeom>
              <a:solidFill>
                <a:srgbClr val="4E0D00"/>
              </a:solidFill>
              <a:ln>
                <a:noFill/>
              </a:ln>
            </p:spPr>
          </p:sp>
          <p:sp>
            <p:nvSpPr>
              <p:cNvPr id="109" name="Rectangle 109"/>
              <p:cNvSpPr/>
              <p:nvPr/>
            </p:nvSpPr>
            <p:spPr>
              <a:xfrm>
                <a:off x="6055995" y="2162175"/>
                <a:ext cx="85725" cy="38100"/>
              </a:xfrm>
              <a:prstGeom prst="rect">
                <a:avLst/>
              </a:prstGeom>
              <a:solidFill>
                <a:srgbClr val="4E0D00"/>
              </a:solidFill>
              <a:ln>
                <a:noFill/>
              </a:ln>
            </p:spPr>
          </p:sp>
          <p:sp>
            <p:nvSpPr>
              <p:cNvPr id="110" name="Rectangle 110"/>
              <p:cNvSpPr/>
              <p:nvPr/>
            </p:nvSpPr>
            <p:spPr>
              <a:xfrm>
                <a:off x="6182678" y="2171700"/>
                <a:ext cx="85725" cy="28575"/>
              </a:xfrm>
              <a:prstGeom prst="rect">
                <a:avLst/>
              </a:prstGeom>
              <a:solidFill>
                <a:srgbClr val="4E0D00"/>
              </a:solidFill>
              <a:ln>
                <a:noFill/>
              </a:ln>
            </p:spPr>
          </p:sp>
          <p:sp>
            <p:nvSpPr>
              <p:cNvPr id="111" name="Rectangle 111"/>
              <p:cNvSpPr/>
              <p:nvPr/>
            </p:nvSpPr>
            <p:spPr>
              <a:xfrm>
                <a:off x="6309360" y="2181225"/>
                <a:ext cx="85725" cy="19050"/>
              </a:xfrm>
              <a:prstGeom prst="rect">
                <a:avLst/>
              </a:prstGeom>
              <a:solidFill>
                <a:srgbClr val="4E0D00"/>
              </a:solidFill>
              <a:ln>
                <a:noFill/>
              </a:ln>
            </p:spPr>
          </p:sp>
          <p:sp>
            <p:nvSpPr>
              <p:cNvPr id="112" name="Rectangle 112"/>
              <p:cNvSpPr/>
              <p:nvPr/>
            </p:nvSpPr>
            <p:spPr>
              <a:xfrm>
                <a:off x="6436042" y="2190750"/>
                <a:ext cx="85725" cy="9525"/>
              </a:xfrm>
              <a:prstGeom prst="rect">
                <a:avLst/>
              </a:prstGeom>
              <a:solidFill>
                <a:srgbClr val="4E0D00"/>
              </a:solidFill>
              <a:ln>
                <a:noFill/>
              </a:ln>
            </p:spPr>
          </p:sp>
        </p:grpSp>
        <p:sp>
          <p:nvSpPr>
            <p:cNvPr id="114" name="Line 114"/>
            <p:cNvSpPr/>
            <p:nvPr/>
          </p:nvSpPr>
          <p:spPr>
            <a:xfrm>
              <a:off x="5295900" y="1590675"/>
              <a:ext cx="1219200" cy="9525"/>
            </a:xfrm>
            <a:custGeom>
              <a:avLst/>
              <a:gdLst/>
              <a:ahLst/>
              <a:cxnLst/>
              <a:rect l="l" t="t" r="r" b="b"/>
              <a:pathLst>
                <a:path w="1219200" h="9525">
                  <a:moveTo>
                    <a:pt x="0" y="0"/>
                  </a:moveTo>
                  <a:lnTo>
                    <a:pt x="1219200" y="0"/>
                  </a:lnTo>
                </a:path>
              </a:pathLst>
            </a:custGeom>
            <a:noFill/>
            <a:ln w="7620">
              <a:solidFill>
                <a:srgbClr val="944130"/>
              </a:solidFill>
              <a:prstDash val="sysDot"/>
            </a:ln>
          </p:spPr>
        </p:sp>
        <p:sp>
          <p:nvSpPr>
            <p:cNvPr id="115" name="Polyline 115"/>
            <p:cNvSpPr/>
            <p:nvPr/>
          </p:nvSpPr>
          <p:spPr>
            <a:xfrm>
              <a:off x="5338762" y="1440180"/>
              <a:ext cx="1140143" cy="598170"/>
            </a:xfrm>
            <a:custGeom>
              <a:avLst/>
              <a:gdLst/>
              <a:ahLst/>
              <a:cxnLst/>
              <a:rect l="l" t="t" r="r" b="b"/>
              <a:pathLst>
                <a:path w="1140143" h="598170">
                  <a:moveTo>
                    <a:pt x="0" y="598170"/>
                  </a:moveTo>
                  <a:lnTo>
                    <a:pt x="126682" y="421958"/>
                  </a:lnTo>
                  <a:lnTo>
                    <a:pt x="253365" y="300038"/>
                  </a:lnTo>
                  <a:lnTo>
                    <a:pt x="380047" y="214312"/>
                  </a:lnTo>
                  <a:lnTo>
                    <a:pt x="506730" y="152400"/>
                  </a:lnTo>
                  <a:lnTo>
                    <a:pt x="633412" y="104775"/>
                  </a:lnTo>
                  <a:lnTo>
                    <a:pt x="760095" y="66675"/>
                  </a:lnTo>
                  <a:lnTo>
                    <a:pt x="886778" y="38100"/>
                  </a:lnTo>
                  <a:lnTo>
                    <a:pt x="1013460" y="19050"/>
                  </a:lnTo>
                  <a:lnTo>
                    <a:pt x="1140143" y="0"/>
                  </a:lnTo>
                </a:path>
              </a:pathLst>
            </a:custGeom>
            <a:noFill/>
            <a:ln w="12382">
              <a:solidFill>
                <a:srgbClr val="944130"/>
              </a:solidFill>
            </a:ln>
          </p:spPr>
        </p:sp>
        <p:grpSp>
          <p:nvGrpSpPr>
            <p:cNvPr id="126" name="Group 126"/>
            <p:cNvGrpSpPr/>
            <p:nvPr/>
          </p:nvGrpSpPr>
          <p:grpSpPr>
            <a:xfrm>
              <a:off x="5323522" y="1424940"/>
              <a:ext cx="1170623" cy="628650"/>
              <a:chOff x="5323522" y="1424940"/>
              <a:chExt cx="1170623" cy="628650"/>
            </a:xfrm>
          </p:grpSpPr>
          <p:sp>
            <p:nvSpPr>
              <p:cNvPr id="116" name="Ellipse 116"/>
              <p:cNvSpPr/>
              <p:nvPr/>
            </p:nvSpPr>
            <p:spPr>
              <a:xfrm>
                <a:off x="5323522" y="2023110"/>
                <a:ext cx="30480" cy="30480"/>
              </a:xfrm>
              <a:prstGeom prst="ellipse">
                <a:avLst/>
              </a:prstGeom>
              <a:solidFill>
                <a:srgbClr val="944130"/>
              </a:solidFill>
              <a:ln>
                <a:noFill/>
              </a:ln>
            </p:spPr>
          </p:sp>
          <p:sp>
            <p:nvSpPr>
              <p:cNvPr id="117" name="Ellipse 117"/>
              <p:cNvSpPr/>
              <p:nvPr/>
            </p:nvSpPr>
            <p:spPr>
              <a:xfrm>
                <a:off x="5450205" y="1846898"/>
                <a:ext cx="30480" cy="30480"/>
              </a:xfrm>
              <a:prstGeom prst="ellipse">
                <a:avLst/>
              </a:prstGeom>
              <a:solidFill>
                <a:srgbClr val="944130"/>
              </a:solidFill>
              <a:ln>
                <a:noFill/>
              </a:ln>
            </p:spPr>
          </p:sp>
          <p:sp>
            <p:nvSpPr>
              <p:cNvPr id="118" name="Ellipse 118"/>
              <p:cNvSpPr/>
              <p:nvPr/>
            </p:nvSpPr>
            <p:spPr>
              <a:xfrm>
                <a:off x="5576888" y="1724978"/>
                <a:ext cx="30480" cy="30480"/>
              </a:xfrm>
              <a:prstGeom prst="ellipse">
                <a:avLst/>
              </a:prstGeom>
              <a:solidFill>
                <a:srgbClr val="944130"/>
              </a:solidFill>
              <a:ln>
                <a:noFill/>
              </a:ln>
            </p:spPr>
          </p:sp>
          <p:sp>
            <p:nvSpPr>
              <p:cNvPr id="119" name="Ellipse 119"/>
              <p:cNvSpPr/>
              <p:nvPr/>
            </p:nvSpPr>
            <p:spPr>
              <a:xfrm>
                <a:off x="5703570" y="1639252"/>
                <a:ext cx="30480" cy="30480"/>
              </a:xfrm>
              <a:prstGeom prst="ellipse">
                <a:avLst/>
              </a:prstGeom>
              <a:solidFill>
                <a:srgbClr val="944130"/>
              </a:solidFill>
              <a:ln>
                <a:noFill/>
              </a:ln>
            </p:spPr>
          </p:sp>
          <p:sp>
            <p:nvSpPr>
              <p:cNvPr id="120" name="Ellipse 120"/>
              <p:cNvSpPr/>
              <p:nvPr/>
            </p:nvSpPr>
            <p:spPr>
              <a:xfrm>
                <a:off x="5830252" y="1577340"/>
                <a:ext cx="30480" cy="30480"/>
              </a:xfrm>
              <a:prstGeom prst="ellipse">
                <a:avLst/>
              </a:prstGeom>
              <a:solidFill>
                <a:srgbClr val="944130"/>
              </a:solidFill>
              <a:ln>
                <a:noFill/>
              </a:ln>
            </p:spPr>
          </p:sp>
          <p:sp>
            <p:nvSpPr>
              <p:cNvPr id="121" name="Ellipse 121"/>
              <p:cNvSpPr/>
              <p:nvPr/>
            </p:nvSpPr>
            <p:spPr>
              <a:xfrm>
                <a:off x="5956935" y="1529715"/>
                <a:ext cx="30480" cy="30480"/>
              </a:xfrm>
              <a:prstGeom prst="ellipse">
                <a:avLst/>
              </a:prstGeom>
              <a:solidFill>
                <a:srgbClr val="944130"/>
              </a:solidFill>
              <a:ln>
                <a:noFill/>
              </a:ln>
            </p:spPr>
          </p:sp>
          <p:sp>
            <p:nvSpPr>
              <p:cNvPr id="122" name="Ellipse 122"/>
              <p:cNvSpPr/>
              <p:nvPr/>
            </p:nvSpPr>
            <p:spPr>
              <a:xfrm>
                <a:off x="6083617" y="1491615"/>
                <a:ext cx="30480" cy="30480"/>
              </a:xfrm>
              <a:prstGeom prst="ellipse">
                <a:avLst/>
              </a:prstGeom>
              <a:solidFill>
                <a:srgbClr val="944130"/>
              </a:solidFill>
              <a:ln>
                <a:noFill/>
              </a:ln>
            </p:spPr>
          </p:sp>
          <p:sp>
            <p:nvSpPr>
              <p:cNvPr id="123" name="Ellipse 123"/>
              <p:cNvSpPr/>
              <p:nvPr/>
            </p:nvSpPr>
            <p:spPr>
              <a:xfrm>
                <a:off x="6210300" y="1463040"/>
                <a:ext cx="30480" cy="30480"/>
              </a:xfrm>
              <a:prstGeom prst="ellipse">
                <a:avLst/>
              </a:prstGeom>
              <a:solidFill>
                <a:srgbClr val="944130"/>
              </a:solidFill>
              <a:ln>
                <a:noFill/>
              </a:ln>
            </p:spPr>
          </p:sp>
          <p:sp>
            <p:nvSpPr>
              <p:cNvPr id="124" name="Ellipse 124"/>
              <p:cNvSpPr/>
              <p:nvPr/>
            </p:nvSpPr>
            <p:spPr>
              <a:xfrm>
                <a:off x="6336982" y="1443990"/>
                <a:ext cx="30480" cy="30480"/>
              </a:xfrm>
              <a:prstGeom prst="ellipse">
                <a:avLst/>
              </a:prstGeom>
              <a:solidFill>
                <a:srgbClr val="944130"/>
              </a:solidFill>
              <a:ln>
                <a:noFill/>
              </a:ln>
            </p:spPr>
          </p:sp>
          <p:sp>
            <p:nvSpPr>
              <p:cNvPr id="125" name="Ellipse 125"/>
              <p:cNvSpPr/>
              <p:nvPr/>
            </p:nvSpPr>
            <p:spPr>
              <a:xfrm>
                <a:off x="6463665" y="1424940"/>
                <a:ext cx="30480" cy="30480"/>
              </a:xfrm>
              <a:prstGeom prst="ellipse">
                <a:avLst/>
              </a:prstGeom>
              <a:solidFill>
                <a:srgbClr val="944130"/>
              </a:solidFill>
              <a:ln>
                <a:noFill/>
              </a:ln>
            </p:spPr>
          </p:sp>
        </p:grpSp>
        <p:sp>
          <p:nvSpPr>
            <p:cNvPr id="127" name="Line 127"/>
            <p:cNvSpPr/>
            <p:nvPr/>
          </p:nvSpPr>
          <p:spPr>
            <a:xfrm>
              <a:off x="5295900" y="2314575"/>
              <a:ext cx="1219200" cy="9525"/>
            </a:xfrm>
            <a:custGeom>
              <a:avLst/>
              <a:gdLst/>
              <a:ahLst/>
              <a:cxnLst/>
              <a:rect l="l" t="t" r="r" b="b"/>
              <a:pathLst>
                <a:path w="1219200" h="9525">
                  <a:moveTo>
                    <a:pt x="0" y="0"/>
                  </a:moveTo>
                  <a:lnTo>
                    <a:pt x="1219200" y="0"/>
                  </a:lnTo>
                </a:path>
              </a:pathLst>
            </a:custGeom>
            <a:noFill/>
            <a:ln w="9525">
              <a:solidFill>
                <a:srgbClr val="C8998F"/>
              </a:solidFill>
            </a:ln>
          </p:spPr>
        </p:sp>
        <p:grpSp>
          <p:nvGrpSpPr>
            <p:cNvPr id="140" name="Group 140"/>
            <p:cNvGrpSpPr/>
            <p:nvPr/>
          </p:nvGrpSpPr>
          <p:grpSpPr>
            <a:xfrm>
              <a:off x="5104249" y="1385649"/>
              <a:ext cx="1494770" cy="1078706"/>
              <a:chOff x="5104249" y="1385649"/>
              <a:chExt cx="1494770" cy="1078706"/>
            </a:xfrm>
          </p:grpSpPr>
          <p:sp>
            <p:nvSpPr>
              <p:cNvPr id="128" name="TextBox 128"/>
              <p:cNvSpPr txBox="1"/>
              <p:nvPr/>
            </p:nvSpPr>
            <p:spPr>
              <a:xfrm>
                <a:off x="5104249" y="1385649"/>
                <a:ext cx="16783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100%</a:t>
                </a:r>
              </a:p>
            </p:txBody>
          </p:sp>
          <p:sp>
            <p:nvSpPr>
              <p:cNvPr id="129" name="TextBox 129"/>
              <p:cNvSpPr txBox="1"/>
              <p:nvPr/>
            </p:nvSpPr>
            <p:spPr>
              <a:xfrm>
                <a:off x="5140529" y="156662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80%</a:t>
                </a:r>
              </a:p>
            </p:txBody>
          </p:sp>
          <p:sp>
            <p:nvSpPr>
              <p:cNvPr id="130" name="TextBox 130"/>
              <p:cNvSpPr txBox="1"/>
              <p:nvPr/>
            </p:nvSpPr>
            <p:spPr>
              <a:xfrm>
                <a:off x="5140529" y="174759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60%</a:t>
                </a:r>
              </a:p>
            </p:txBody>
          </p:sp>
          <p:sp>
            <p:nvSpPr>
              <p:cNvPr id="131" name="TextBox 131"/>
              <p:cNvSpPr txBox="1"/>
              <p:nvPr/>
            </p:nvSpPr>
            <p:spPr>
              <a:xfrm>
                <a:off x="5140529" y="192857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40%</a:t>
                </a:r>
              </a:p>
            </p:txBody>
          </p:sp>
          <p:sp>
            <p:nvSpPr>
              <p:cNvPr id="132" name="TextBox 132"/>
              <p:cNvSpPr txBox="1"/>
              <p:nvPr/>
            </p:nvSpPr>
            <p:spPr>
              <a:xfrm>
                <a:off x="5140529" y="210954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20%</a:t>
                </a:r>
              </a:p>
            </p:txBody>
          </p:sp>
          <p:sp>
            <p:nvSpPr>
              <p:cNvPr id="133" name="TextBox 133"/>
              <p:cNvSpPr txBox="1"/>
              <p:nvPr/>
            </p:nvSpPr>
            <p:spPr>
              <a:xfrm>
                <a:off x="5176810" y="2290524"/>
                <a:ext cx="9527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0%</a:t>
                </a:r>
              </a:p>
            </p:txBody>
          </p:sp>
          <p:sp>
            <p:nvSpPr>
              <p:cNvPr id="134" name="TextBox 134"/>
              <p:cNvSpPr txBox="1"/>
              <p:nvPr/>
            </p:nvSpPr>
            <p:spPr>
              <a:xfrm>
                <a:off x="5248261" y="2366724"/>
                <a:ext cx="9527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0%</a:t>
                </a:r>
              </a:p>
            </p:txBody>
          </p:sp>
          <p:sp>
            <p:nvSpPr>
              <p:cNvPr id="135" name="TextBox 135"/>
              <p:cNvSpPr txBox="1"/>
              <p:nvPr/>
            </p:nvSpPr>
            <p:spPr>
              <a:xfrm>
                <a:off x="547396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20%</a:t>
                </a:r>
              </a:p>
            </p:txBody>
          </p:sp>
          <p:sp>
            <p:nvSpPr>
              <p:cNvPr id="136" name="TextBox 136"/>
              <p:cNvSpPr txBox="1"/>
              <p:nvPr/>
            </p:nvSpPr>
            <p:spPr>
              <a:xfrm>
                <a:off x="571780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40%</a:t>
                </a:r>
              </a:p>
            </p:txBody>
          </p:sp>
          <p:sp>
            <p:nvSpPr>
              <p:cNvPr id="137" name="TextBox 137"/>
              <p:cNvSpPr txBox="1"/>
              <p:nvPr/>
            </p:nvSpPr>
            <p:spPr>
              <a:xfrm>
                <a:off x="596164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60%</a:t>
                </a:r>
              </a:p>
            </p:txBody>
          </p:sp>
          <p:sp>
            <p:nvSpPr>
              <p:cNvPr id="138" name="TextBox 138"/>
              <p:cNvSpPr txBox="1"/>
              <p:nvPr/>
            </p:nvSpPr>
            <p:spPr>
              <a:xfrm>
                <a:off x="620548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80%</a:t>
                </a:r>
              </a:p>
            </p:txBody>
          </p:sp>
          <p:sp>
            <p:nvSpPr>
              <p:cNvPr id="139" name="TextBox 139"/>
              <p:cNvSpPr txBox="1"/>
              <p:nvPr/>
            </p:nvSpPr>
            <p:spPr>
              <a:xfrm>
                <a:off x="6431181" y="2366724"/>
                <a:ext cx="16783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100%</a:t>
                </a:r>
              </a:p>
            </p:txBody>
          </p:sp>
        </p:grpSp>
        <p:sp>
          <p:nvSpPr>
            <p:cNvPr id="141" name="TextBox 141"/>
            <p:cNvSpPr txBox="1"/>
            <p:nvPr/>
          </p:nvSpPr>
          <p:spPr>
            <a:xfrm>
              <a:off x="5341150" y="2502932"/>
              <a:ext cx="95725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产品占比（按贡献降序）</a:t>
              </a:r>
            </a:p>
          </p:txBody>
        </p:sp>
        <p:sp>
          <p:nvSpPr>
            <p:cNvPr id="142" name="Rectangle 142"/>
            <p:cNvSpPr/>
            <p:nvPr/>
          </p:nvSpPr>
          <p:spPr>
            <a:xfrm>
              <a:off x="6705600" y="1066800"/>
              <a:ext cx="1543050" cy="209550"/>
            </a:xfrm>
            <a:prstGeom prst="rect">
              <a:avLst/>
            </a:prstGeom>
            <a:solidFill>
              <a:srgbClr val="4E0D00"/>
            </a:solidFill>
            <a:ln>
              <a:noFill/>
            </a:ln>
          </p:spPr>
        </p:sp>
        <p:grpSp>
          <p:nvGrpSpPr>
            <p:cNvPr id="148" name="Group 148"/>
            <p:cNvGrpSpPr/>
            <p:nvPr/>
          </p:nvGrpSpPr>
          <p:grpSpPr>
            <a:xfrm>
              <a:off x="6796088" y="1128712"/>
              <a:ext cx="85725" cy="85725"/>
              <a:chOff x="6796088" y="1128712"/>
              <a:chExt cx="85725" cy="85725"/>
            </a:xfrm>
          </p:grpSpPr>
          <p:sp>
            <p:nvSpPr>
              <p:cNvPr id="143" name="Freeform 143"/>
              <p:cNvSpPr/>
              <p:nvPr/>
            </p:nvSpPr>
            <p:spPr>
              <a:xfrm>
                <a:off x="6796088" y="1128712"/>
                <a:ext cx="85725" cy="85725"/>
              </a:xfrm>
              <a:custGeom>
                <a:avLst/>
                <a:gdLst/>
                <a:ahLst/>
                <a:cxnLst/>
                <a:rect l="l" t="t" r="r" b="b"/>
                <a:pathLst>
                  <a:path w="85725" h="85725">
                    <a:moveTo>
                      <a:pt x="0" y="42862"/>
                    </a:moveTo>
                    <a:cubicBezTo>
                      <a:pt x="0" y="66535"/>
                      <a:pt x="19190" y="85725"/>
                      <a:pt x="42862" y="85725"/>
                    </a:cubicBezTo>
                    <a:cubicBezTo>
                      <a:pt x="66535" y="85725"/>
                      <a:pt x="85725" y="66535"/>
                      <a:pt x="85725" y="42862"/>
                    </a:cubicBezTo>
                    <a:cubicBezTo>
                      <a:pt x="85725" y="19190"/>
                      <a:pt x="66535" y="0"/>
                      <a:pt x="42862" y="0"/>
                    </a:cubicBezTo>
                    <a:cubicBezTo>
                      <a:pt x="19190" y="0"/>
                      <a:pt x="0" y="19190"/>
                      <a:pt x="0" y="42862"/>
                    </a:cubicBezTo>
                  </a:path>
                </a:pathLst>
              </a:custGeom>
              <a:noFill/>
              <a:ln w="9525">
                <a:solidFill>
                  <a:srgbClr val="FFFFFF"/>
                </a:solidFill>
              </a:ln>
            </p:spPr>
          </p:sp>
          <p:sp>
            <p:nvSpPr>
              <p:cNvPr id="144" name="Freeform 144"/>
              <p:cNvSpPr/>
              <p:nvPr/>
            </p:nvSpPr>
            <p:spPr>
              <a:xfrm>
                <a:off x="6798945" y="1157288"/>
                <a:ext cx="80010" cy="9525"/>
              </a:xfrm>
              <a:custGeom>
                <a:avLst/>
                <a:gdLst/>
                <a:ahLst/>
                <a:cxnLst/>
                <a:rect l="l" t="t" r="r" b="b"/>
                <a:pathLst>
                  <a:path w="80010" h="9525">
                    <a:moveTo>
                      <a:pt x="0" y="0"/>
                    </a:moveTo>
                    <a:lnTo>
                      <a:pt x="80010" y="0"/>
                    </a:lnTo>
                  </a:path>
                </a:pathLst>
              </a:custGeom>
              <a:noFill/>
              <a:ln w="9525">
                <a:solidFill>
                  <a:srgbClr val="FFFFFF"/>
                </a:solidFill>
              </a:ln>
            </p:spPr>
          </p:sp>
          <p:sp>
            <p:nvSpPr>
              <p:cNvPr id="145" name="Freeform 145"/>
              <p:cNvSpPr/>
              <p:nvPr/>
            </p:nvSpPr>
            <p:spPr>
              <a:xfrm>
                <a:off x="6798945" y="1185862"/>
                <a:ext cx="80010" cy="9525"/>
              </a:xfrm>
              <a:custGeom>
                <a:avLst/>
                <a:gdLst/>
                <a:ahLst/>
                <a:cxnLst/>
                <a:rect l="l" t="t" r="r" b="b"/>
                <a:pathLst>
                  <a:path w="80010" h="9525">
                    <a:moveTo>
                      <a:pt x="0" y="0"/>
                    </a:moveTo>
                    <a:lnTo>
                      <a:pt x="80010" y="0"/>
                    </a:lnTo>
                  </a:path>
                </a:pathLst>
              </a:custGeom>
              <a:noFill/>
              <a:ln w="9525">
                <a:solidFill>
                  <a:srgbClr val="FFFFFF"/>
                </a:solidFill>
              </a:ln>
            </p:spPr>
          </p:sp>
          <p:sp>
            <p:nvSpPr>
              <p:cNvPr id="146" name="Freeform 146"/>
              <p:cNvSpPr/>
              <p:nvPr/>
            </p:nvSpPr>
            <p:spPr>
              <a:xfrm>
                <a:off x="6820200" y="1128712"/>
                <a:ext cx="16369" cy="85725"/>
              </a:xfrm>
              <a:custGeom>
                <a:avLst/>
                <a:gdLst/>
                <a:ahLst/>
                <a:cxnLst/>
                <a:rect l="l" t="t" r="r" b="b"/>
                <a:pathLst>
                  <a:path w="16369" h="85725">
                    <a:moveTo>
                      <a:pt x="16369" y="0"/>
                    </a:moveTo>
                    <a:cubicBezTo>
                      <a:pt x="0" y="26231"/>
                      <a:pt x="0" y="59494"/>
                      <a:pt x="16369" y="85725"/>
                    </a:cubicBezTo>
                  </a:path>
                </a:pathLst>
              </a:custGeom>
              <a:noFill/>
              <a:ln w="9525">
                <a:solidFill>
                  <a:srgbClr val="FFFFFF"/>
                </a:solidFill>
              </a:ln>
            </p:spPr>
          </p:sp>
          <p:sp>
            <p:nvSpPr>
              <p:cNvPr id="147" name="Freeform 147"/>
              <p:cNvSpPr/>
              <p:nvPr/>
            </p:nvSpPr>
            <p:spPr>
              <a:xfrm>
                <a:off x="6841331" y="1128712"/>
                <a:ext cx="16369" cy="85725"/>
              </a:xfrm>
              <a:custGeom>
                <a:avLst/>
                <a:gdLst/>
                <a:ahLst/>
                <a:cxnLst/>
                <a:rect l="l" t="t" r="r" b="b"/>
                <a:pathLst>
                  <a:path w="16369" h="85725">
                    <a:moveTo>
                      <a:pt x="0" y="0"/>
                    </a:moveTo>
                    <a:cubicBezTo>
                      <a:pt x="16369" y="26231"/>
                      <a:pt x="16369" y="59494"/>
                      <a:pt x="0" y="85725"/>
                    </a:cubicBezTo>
                  </a:path>
                </a:pathLst>
              </a:custGeom>
              <a:noFill/>
              <a:ln w="9525">
                <a:solidFill>
                  <a:srgbClr val="FFFFFF"/>
                </a:solidFill>
              </a:ln>
            </p:spPr>
          </p:sp>
        </p:grpSp>
        <p:sp>
          <p:nvSpPr>
            <p:cNvPr id="149" name="TextBox 149"/>
            <p:cNvSpPr txBox="1"/>
            <p:nvPr/>
          </p:nvSpPr>
          <p:spPr>
            <a:xfrm>
              <a:off x="6948488" y="1134189"/>
              <a:ext cx="222225"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区域</a:t>
              </a:r>
            </a:p>
          </p:txBody>
        </p:sp>
        <p:grpSp>
          <p:nvGrpSpPr>
            <p:cNvPr id="155" name="Group 155"/>
            <p:cNvGrpSpPr/>
            <p:nvPr/>
          </p:nvGrpSpPr>
          <p:grpSpPr>
            <a:xfrm>
              <a:off x="6953250" y="1409700"/>
              <a:ext cx="1219200" cy="733425"/>
              <a:chOff x="6953250" y="1409700"/>
              <a:chExt cx="1219200" cy="733425"/>
            </a:xfrm>
          </p:grpSpPr>
          <p:sp>
            <p:nvSpPr>
              <p:cNvPr id="150" name="Line 150"/>
              <p:cNvSpPr/>
              <p:nvPr/>
            </p:nvSpPr>
            <p:spPr>
              <a:xfrm>
                <a:off x="6953250" y="140970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151" name="Line 151"/>
              <p:cNvSpPr/>
              <p:nvPr/>
            </p:nvSpPr>
            <p:spPr>
              <a:xfrm>
                <a:off x="6953250" y="159067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152" name="Line 152"/>
              <p:cNvSpPr/>
              <p:nvPr/>
            </p:nvSpPr>
            <p:spPr>
              <a:xfrm>
                <a:off x="6953250" y="177165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153" name="Line 153"/>
              <p:cNvSpPr/>
              <p:nvPr/>
            </p:nvSpPr>
            <p:spPr>
              <a:xfrm>
                <a:off x="6953250" y="195262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154" name="Line 154"/>
              <p:cNvSpPr/>
              <p:nvPr/>
            </p:nvSpPr>
            <p:spPr>
              <a:xfrm>
                <a:off x="6953250" y="2133600"/>
                <a:ext cx="1219200" cy="9525"/>
              </a:xfrm>
              <a:custGeom>
                <a:avLst/>
                <a:gdLst/>
                <a:ahLst/>
                <a:cxnLst/>
                <a:rect l="l" t="t" r="r" b="b"/>
                <a:pathLst>
                  <a:path w="1219200" h="9525">
                    <a:moveTo>
                      <a:pt x="0" y="0"/>
                    </a:moveTo>
                    <a:lnTo>
                      <a:pt x="1219200" y="0"/>
                    </a:lnTo>
                  </a:path>
                </a:pathLst>
              </a:custGeom>
              <a:noFill/>
              <a:ln w="7620">
                <a:solidFill>
                  <a:srgbClr val="EEF2F8"/>
                </a:solidFill>
              </a:ln>
            </p:spPr>
          </p:sp>
        </p:grpSp>
        <p:grpSp>
          <p:nvGrpSpPr>
            <p:cNvPr id="166" name="Group 166"/>
            <p:cNvGrpSpPr/>
            <p:nvPr/>
          </p:nvGrpSpPr>
          <p:grpSpPr>
            <a:xfrm>
              <a:off x="6953250" y="1919288"/>
              <a:ext cx="1225867" cy="280988"/>
              <a:chOff x="6953250" y="1919288"/>
              <a:chExt cx="1225867" cy="280988"/>
            </a:xfrm>
          </p:grpSpPr>
          <p:sp>
            <p:nvSpPr>
              <p:cNvPr id="156" name="Rectangle 156"/>
              <p:cNvSpPr/>
              <p:nvPr/>
            </p:nvSpPr>
            <p:spPr>
              <a:xfrm>
                <a:off x="6953250" y="1919288"/>
                <a:ext cx="85725" cy="280988"/>
              </a:xfrm>
              <a:prstGeom prst="rect">
                <a:avLst/>
              </a:prstGeom>
              <a:solidFill>
                <a:srgbClr val="4E0D00"/>
              </a:solidFill>
              <a:ln>
                <a:noFill/>
              </a:ln>
            </p:spPr>
          </p:sp>
          <p:sp>
            <p:nvSpPr>
              <p:cNvPr id="157" name="Rectangle 157"/>
              <p:cNvSpPr/>
              <p:nvPr/>
            </p:nvSpPr>
            <p:spPr>
              <a:xfrm>
                <a:off x="7079932" y="2014538"/>
                <a:ext cx="85725" cy="185738"/>
              </a:xfrm>
              <a:prstGeom prst="rect">
                <a:avLst/>
              </a:prstGeom>
              <a:solidFill>
                <a:srgbClr val="4E0D00"/>
              </a:solidFill>
              <a:ln>
                <a:noFill/>
              </a:ln>
            </p:spPr>
          </p:sp>
          <p:sp>
            <p:nvSpPr>
              <p:cNvPr id="158" name="Rectangle 158"/>
              <p:cNvSpPr/>
              <p:nvPr/>
            </p:nvSpPr>
            <p:spPr>
              <a:xfrm>
                <a:off x="7206615" y="2087880"/>
                <a:ext cx="85725" cy="112395"/>
              </a:xfrm>
              <a:prstGeom prst="rect">
                <a:avLst/>
              </a:prstGeom>
              <a:solidFill>
                <a:srgbClr val="4E0D00"/>
              </a:solidFill>
              <a:ln>
                <a:noFill/>
              </a:ln>
            </p:spPr>
          </p:sp>
          <p:sp>
            <p:nvSpPr>
              <p:cNvPr id="159" name="Rectangle 159"/>
              <p:cNvSpPr/>
              <p:nvPr/>
            </p:nvSpPr>
            <p:spPr>
              <a:xfrm>
                <a:off x="7333298" y="2124075"/>
                <a:ext cx="85725" cy="76200"/>
              </a:xfrm>
              <a:prstGeom prst="rect">
                <a:avLst/>
              </a:prstGeom>
              <a:solidFill>
                <a:srgbClr val="4E0D00"/>
              </a:solidFill>
              <a:ln>
                <a:noFill/>
              </a:ln>
            </p:spPr>
          </p:sp>
          <p:sp>
            <p:nvSpPr>
              <p:cNvPr id="160" name="Rectangle 160"/>
              <p:cNvSpPr/>
              <p:nvPr/>
            </p:nvSpPr>
            <p:spPr>
              <a:xfrm>
                <a:off x="7459980" y="2141220"/>
                <a:ext cx="85725" cy="59055"/>
              </a:xfrm>
              <a:prstGeom prst="rect">
                <a:avLst/>
              </a:prstGeom>
              <a:solidFill>
                <a:srgbClr val="4E0D00"/>
              </a:solidFill>
              <a:ln>
                <a:noFill/>
              </a:ln>
            </p:spPr>
          </p:sp>
          <p:sp>
            <p:nvSpPr>
              <p:cNvPr id="161" name="Rectangle 161"/>
              <p:cNvSpPr/>
              <p:nvPr/>
            </p:nvSpPr>
            <p:spPr>
              <a:xfrm>
                <a:off x="7586662" y="2157412"/>
                <a:ext cx="85725" cy="42862"/>
              </a:xfrm>
              <a:prstGeom prst="rect">
                <a:avLst/>
              </a:prstGeom>
              <a:solidFill>
                <a:srgbClr val="4E0D00"/>
              </a:solidFill>
              <a:ln>
                <a:noFill/>
              </a:ln>
            </p:spPr>
          </p:sp>
          <p:sp>
            <p:nvSpPr>
              <p:cNvPr id="162" name="Rectangle 162"/>
              <p:cNvSpPr/>
              <p:nvPr/>
            </p:nvSpPr>
            <p:spPr>
              <a:xfrm>
                <a:off x="7713345" y="2166938"/>
                <a:ext cx="85725" cy="33338"/>
              </a:xfrm>
              <a:prstGeom prst="rect">
                <a:avLst/>
              </a:prstGeom>
              <a:solidFill>
                <a:srgbClr val="4E0D00"/>
              </a:solidFill>
              <a:ln>
                <a:noFill/>
              </a:ln>
            </p:spPr>
          </p:sp>
          <p:sp>
            <p:nvSpPr>
              <p:cNvPr id="163" name="Rectangle 163"/>
              <p:cNvSpPr/>
              <p:nvPr/>
            </p:nvSpPr>
            <p:spPr>
              <a:xfrm>
                <a:off x="7840028" y="2176462"/>
                <a:ext cx="85725" cy="23812"/>
              </a:xfrm>
              <a:prstGeom prst="rect">
                <a:avLst/>
              </a:prstGeom>
              <a:solidFill>
                <a:srgbClr val="4E0D00"/>
              </a:solidFill>
              <a:ln>
                <a:noFill/>
              </a:ln>
            </p:spPr>
          </p:sp>
          <p:sp>
            <p:nvSpPr>
              <p:cNvPr id="164" name="Rectangle 164"/>
              <p:cNvSpPr/>
              <p:nvPr/>
            </p:nvSpPr>
            <p:spPr>
              <a:xfrm>
                <a:off x="7966710" y="2184082"/>
                <a:ext cx="85725" cy="16192"/>
              </a:xfrm>
              <a:prstGeom prst="rect">
                <a:avLst/>
              </a:prstGeom>
              <a:solidFill>
                <a:srgbClr val="4E0D00"/>
              </a:solidFill>
              <a:ln>
                <a:noFill/>
              </a:ln>
            </p:spPr>
          </p:sp>
          <p:sp>
            <p:nvSpPr>
              <p:cNvPr id="165" name="Rectangle 165"/>
              <p:cNvSpPr/>
              <p:nvPr/>
            </p:nvSpPr>
            <p:spPr>
              <a:xfrm>
                <a:off x="8093392" y="2192655"/>
                <a:ext cx="85725" cy="7620"/>
              </a:xfrm>
              <a:prstGeom prst="rect">
                <a:avLst/>
              </a:prstGeom>
              <a:solidFill>
                <a:srgbClr val="4E0D00"/>
              </a:solidFill>
              <a:ln>
                <a:noFill/>
              </a:ln>
            </p:spPr>
          </p:sp>
        </p:grpSp>
        <p:sp>
          <p:nvSpPr>
            <p:cNvPr id="167" name="Line 167"/>
            <p:cNvSpPr/>
            <p:nvPr/>
          </p:nvSpPr>
          <p:spPr>
            <a:xfrm>
              <a:off x="6953250" y="1590675"/>
              <a:ext cx="1219200" cy="9525"/>
            </a:xfrm>
            <a:custGeom>
              <a:avLst/>
              <a:gdLst/>
              <a:ahLst/>
              <a:cxnLst/>
              <a:rect l="l" t="t" r="r" b="b"/>
              <a:pathLst>
                <a:path w="1219200" h="9525">
                  <a:moveTo>
                    <a:pt x="0" y="0"/>
                  </a:moveTo>
                  <a:lnTo>
                    <a:pt x="1219200" y="0"/>
                  </a:lnTo>
                </a:path>
              </a:pathLst>
            </a:custGeom>
            <a:noFill/>
            <a:ln w="7620">
              <a:solidFill>
                <a:srgbClr val="944130"/>
              </a:solidFill>
              <a:prstDash val="sysDot"/>
            </a:ln>
          </p:spPr>
        </p:sp>
        <p:sp>
          <p:nvSpPr>
            <p:cNvPr id="168" name="Polyline 168"/>
            <p:cNvSpPr/>
            <p:nvPr/>
          </p:nvSpPr>
          <p:spPr>
            <a:xfrm>
              <a:off x="6996112" y="1454468"/>
              <a:ext cx="1140143" cy="555308"/>
            </a:xfrm>
            <a:custGeom>
              <a:avLst/>
              <a:gdLst/>
              <a:ahLst/>
              <a:cxnLst/>
              <a:rect l="l" t="t" r="r" b="b"/>
              <a:pathLst>
                <a:path w="1140143" h="555308">
                  <a:moveTo>
                    <a:pt x="0" y="555308"/>
                  </a:moveTo>
                  <a:lnTo>
                    <a:pt x="126682" y="369570"/>
                  </a:lnTo>
                  <a:lnTo>
                    <a:pt x="253365" y="257175"/>
                  </a:lnTo>
                  <a:lnTo>
                    <a:pt x="380047" y="180975"/>
                  </a:lnTo>
                  <a:lnTo>
                    <a:pt x="506730" y="125730"/>
                  </a:lnTo>
                  <a:lnTo>
                    <a:pt x="633412" y="82868"/>
                  </a:lnTo>
                  <a:lnTo>
                    <a:pt x="760095" y="49530"/>
                  </a:lnTo>
                  <a:lnTo>
                    <a:pt x="886778" y="25718"/>
                  </a:lnTo>
                  <a:lnTo>
                    <a:pt x="1013460" y="9525"/>
                  </a:lnTo>
                  <a:lnTo>
                    <a:pt x="1140143" y="0"/>
                  </a:lnTo>
                </a:path>
              </a:pathLst>
            </a:custGeom>
            <a:noFill/>
            <a:ln w="12382">
              <a:solidFill>
                <a:srgbClr val="944130"/>
              </a:solidFill>
            </a:ln>
          </p:spPr>
        </p:sp>
        <p:grpSp>
          <p:nvGrpSpPr>
            <p:cNvPr id="179" name="Group 179"/>
            <p:cNvGrpSpPr/>
            <p:nvPr/>
          </p:nvGrpSpPr>
          <p:grpSpPr>
            <a:xfrm>
              <a:off x="6980872" y="1439228"/>
              <a:ext cx="1170623" cy="585787"/>
              <a:chOff x="6980872" y="1439228"/>
              <a:chExt cx="1170623" cy="585787"/>
            </a:xfrm>
          </p:grpSpPr>
          <p:sp>
            <p:nvSpPr>
              <p:cNvPr id="169" name="Ellipse 169"/>
              <p:cNvSpPr/>
              <p:nvPr/>
            </p:nvSpPr>
            <p:spPr>
              <a:xfrm>
                <a:off x="6980872" y="1994535"/>
                <a:ext cx="30480" cy="30480"/>
              </a:xfrm>
              <a:prstGeom prst="ellipse">
                <a:avLst/>
              </a:prstGeom>
              <a:solidFill>
                <a:srgbClr val="944130"/>
              </a:solidFill>
              <a:ln>
                <a:noFill/>
              </a:ln>
            </p:spPr>
          </p:sp>
          <p:sp>
            <p:nvSpPr>
              <p:cNvPr id="170" name="Ellipse 170"/>
              <p:cNvSpPr/>
              <p:nvPr/>
            </p:nvSpPr>
            <p:spPr>
              <a:xfrm>
                <a:off x="7107555" y="1808798"/>
                <a:ext cx="30480" cy="30480"/>
              </a:xfrm>
              <a:prstGeom prst="ellipse">
                <a:avLst/>
              </a:prstGeom>
              <a:solidFill>
                <a:srgbClr val="944130"/>
              </a:solidFill>
              <a:ln>
                <a:noFill/>
              </a:ln>
            </p:spPr>
          </p:sp>
          <p:sp>
            <p:nvSpPr>
              <p:cNvPr id="171" name="Ellipse 171"/>
              <p:cNvSpPr/>
              <p:nvPr/>
            </p:nvSpPr>
            <p:spPr>
              <a:xfrm>
                <a:off x="7234238" y="1696402"/>
                <a:ext cx="30480" cy="30480"/>
              </a:xfrm>
              <a:prstGeom prst="ellipse">
                <a:avLst/>
              </a:prstGeom>
              <a:solidFill>
                <a:srgbClr val="944130"/>
              </a:solidFill>
              <a:ln>
                <a:noFill/>
              </a:ln>
            </p:spPr>
          </p:sp>
          <p:sp>
            <p:nvSpPr>
              <p:cNvPr id="172" name="Ellipse 172"/>
              <p:cNvSpPr/>
              <p:nvPr/>
            </p:nvSpPr>
            <p:spPr>
              <a:xfrm>
                <a:off x="7360920" y="1620202"/>
                <a:ext cx="30480" cy="30480"/>
              </a:xfrm>
              <a:prstGeom prst="ellipse">
                <a:avLst/>
              </a:prstGeom>
              <a:solidFill>
                <a:srgbClr val="944130"/>
              </a:solidFill>
              <a:ln>
                <a:noFill/>
              </a:ln>
            </p:spPr>
          </p:sp>
          <p:sp>
            <p:nvSpPr>
              <p:cNvPr id="173" name="Ellipse 173"/>
              <p:cNvSpPr/>
              <p:nvPr/>
            </p:nvSpPr>
            <p:spPr>
              <a:xfrm>
                <a:off x="7487602" y="1564958"/>
                <a:ext cx="30480" cy="30480"/>
              </a:xfrm>
              <a:prstGeom prst="ellipse">
                <a:avLst/>
              </a:prstGeom>
              <a:solidFill>
                <a:srgbClr val="944130"/>
              </a:solidFill>
              <a:ln>
                <a:noFill/>
              </a:ln>
            </p:spPr>
          </p:sp>
          <p:sp>
            <p:nvSpPr>
              <p:cNvPr id="174" name="Ellipse 174"/>
              <p:cNvSpPr/>
              <p:nvPr/>
            </p:nvSpPr>
            <p:spPr>
              <a:xfrm>
                <a:off x="7614285" y="1522095"/>
                <a:ext cx="30480" cy="30480"/>
              </a:xfrm>
              <a:prstGeom prst="ellipse">
                <a:avLst/>
              </a:prstGeom>
              <a:solidFill>
                <a:srgbClr val="944130"/>
              </a:solidFill>
              <a:ln>
                <a:noFill/>
              </a:ln>
            </p:spPr>
          </p:sp>
          <p:sp>
            <p:nvSpPr>
              <p:cNvPr id="175" name="Ellipse 175"/>
              <p:cNvSpPr/>
              <p:nvPr/>
            </p:nvSpPr>
            <p:spPr>
              <a:xfrm>
                <a:off x="7740967" y="1488758"/>
                <a:ext cx="30480" cy="30480"/>
              </a:xfrm>
              <a:prstGeom prst="ellipse">
                <a:avLst/>
              </a:prstGeom>
              <a:solidFill>
                <a:srgbClr val="944130"/>
              </a:solidFill>
              <a:ln>
                <a:noFill/>
              </a:ln>
            </p:spPr>
          </p:sp>
          <p:sp>
            <p:nvSpPr>
              <p:cNvPr id="176" name="Ellipse 176"/>
              <p:cNvSpPr/>
              <p:nvPr/>
            </p:nvSpPr>
            <p:spPr>
              <a:xfrm>
                <a:off x="7867650" y="1464945"/>
                <a:ext cx="30480" cy="30480"/>
              </a:xfrm>
              <a:prstGeom prst="ellipse">
                <a:avLst/>
              </a:prstGeom>
              <a:solidFill>
                <a:srgbClr val="944130"/>
              </a:solidFill>
              <a:ln>
                <a:noFill/>
              </a:ln>
            </p:spPr>
          </p:sp>
          <p:sp>
            <p:nvSpPr>
              <p:cNvPr id="177" name="Ellipse 177"/>
              <p:cNvSpPr/>
              <p:nvPr/>
            </p:nvSpPr>
            <p:spPr>
              <a:xfrm>
                <a:off x="7994332" y="1448752"/>
                <a:ext cx="30480" cy="30480"/>
              </a:xfrm>
              <a:prstGeom prst="ellipse">
                <a:avLst/>
              </a:prstGeom>
              <a:solidFill>
                <a:srgbClr val="944130"/>
              </a:solidFill>
              <a:ln>
                <a:noFill/>
              </a:ln>
            </p:spPr>
          </p:sp>
          <p:sp>
            <p:nvSpPr>
              <p:cNvPr id="178" name="Ellipse 178"/>
              <p:cNvSpPr/>
              <p:nvPr/>
            </p:nvSpPr>
            <p:spPr>
              <a:xfrm>
                <a:off x="8121015" y="1439228"/>
                <a:ext cx="30480" cy="30480"/>
              </a:xfrm>
              <a:prstGeom prst="ellipse">
                <a:avLst/>
              </a:prstGeom>
              <a:solidFill>
                <a:srgbClr val="944130"/>
              </a:solidFill>
              <a:ln>
                <a:noFill/>
              </a:ln>
            </p:spPr>
          </p:sp>
        </p:grpSp>
        <p:sp>
          <p:nvSpPr>
            <p:cNvPr id="180" name="Line 180"/>
            <p:cNvSpPr/>
            <p:nvPr/>
          </p:nvSpPr>
          <p:spPr>
            <a:xfrm>
              <a:off x="6953250" y="2314575"/>
              <a:ext cx="1219200" cy="9525"/>
            </a:xfrm>
            <a:custGeom>
              <a:avLst/>
              <a:gdLst/>
              <a:ahLst/>
              <a:cxnLst/>
              <a:rect l="l" t="t" r="r" b="b"/>
              <a:pathLst>
                <a:path w="1219200" h="9525">
                  <a:moveTo>
                    <a:pt x="0" y="0"/>
                  </a:moveTo>
                  <a:lnTo>
                    <a:pt x="1219200" y="0"/>
                  </a:lnTo>
                </a:path>
              </a:pathLst>
            </a:custGeom>
            <a:noFill/>
            <a:ln w="9525">
              <a:solidFill>
                <a:srgbClr val="C8998F"/>
              </a:solidFill>
            </a:ln>
          </p:spPr>
        </p:sp>
        <p:grpSp>
          <p:nvGrpSpPr>
            <p:cNvPr id="193" name="Group 193"/>
            <p:cNvGrpSpPr/>
            <p:nvPr/>
          </p:nvGrpSpPr>
          <p:grpSpPr>
            <a:xfrm>
              <a:off x="6761599" y="1385649"/>
              <a:ext cx="1494770" cy="1078706"/>
              <a:chOff x="6761599" y="1385649"/>
              <a:chExt cx="1494770" cy="1078706"/>
            </a:xfrm>
          </p:grpSpPr>
          <p:sp>
            <p:nvSpPr>
              <p:cNvPr id="181" name="TextBox 181"/>
              <p:cNvSpPr txBox="1"/>
              <p:nvPr/>
            </p:nvSpPr>
            <p:spPr>
              <a:xfrm>
                <a:off x="6761599" y="1385649"/>
                <a:ext cx="16783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100%</a:t>
                </a:r>
              </a:p>
            </p:txBody>
          </p:sp>
          <p:sp>
            <p:nvSpPr>
              <p:cNvPr id="182" name="TextBox 182"/>
              <p:cNvSpPr txBox="1"/>
              <p:nvPr/>
            </p:nvSpPr>
            <p:spPr>
              <a:xfrm>
                <a:off x="6797879" y="156662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80%</a:t>
                </a:r>
              </a:p>
            </p:txBody>
          </p:sp>
          <p:sp>
            <p:nvSpPr>
              <p:cNvPr id="183" name="TextBox 183"/>
              <p:cNvSpPr txBox="1"/>
              <p:nvPr/>
            </p:nvSpPr>
            <p:spPr>
              <a:xfrm>
                <a:off x="6797879" y="174759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60%</a:t>
                </a:r>
              </a:p>
            </p:txBody>
          </p:sp>
          <p:sp>
            <p:nvSpPr>
              <p:cNvPr id="184" name="TextBox 184"/>
              <p:cNvSpPr txBox="1"/>
              <p:nvPr/>
            </p:nvSpPr>
            <p:spPr>
              <a:xfrm>
                <a:off x="6797879" y="192857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40%</a:t>
                </a:r>
              </a:p>
            </p:txBody>
          </p:sp>
          <p:sp>
            <p:nvSpPr>
              <p:cNvPr id="185" name="TextBox 185"/>
              <p:cNvSpPr txBox="1"/>
              <p:nvPr/>
            </p:nvSpPr>
            <p:spPr>
              <a:xfrm>
                <a:off x="6797879" y="210954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20%</a:t>
                </a:r>
              </a:p>
            </p:txBody>
          </p:sp>
          <p:sp>
            <p:nvSpPr>
              <p:cNvPr id="186" name="TextBox 186"/>
              <p:cNvSpPr txBox="1"/>
              <p:nvPr/>
            </p:nvSpPr>
            <p:spPr>
              <a:xfrm>
                <a:off x="6834160" y="2290524"/>
                <a:ext cx="9527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0%</a:t>
                </a:r>
              </a:p>
            </p:txBody>
          </p:sp>
          <p:sp>
            <p:nvSpPr>
              <p:cNvPr id="187" name="TextBox 187"/>
              <p:cNvSpPr txBox="1"/>
              <p:nvPr/>
            </p:nvSpPr>
            <p:spPr>
              <a:xfrm>
                <a:off x="6905611" y="2366724"/>
                <a:ext cx="9527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0%</a:t>
                </a:r>
              </a:p>
            </p:txBody>
          </p:sp>
          <p:sp>
            <p:nvSpPr>
              <p:cNvPr id="188" name="TextBox 188"/>
              <p:cNvSpPr txBox="1"/>
              <p:nvPr/>
            </p:nvSpPr>
            <p:spPr>
              <a:xfrm>
                <a:off x="713131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20%</a:t>
                </a:r>
              </a:p>
            </p:txBody>
          </p:sp>
          <p:sp>
            <p:nvSpPr>
              <p:cNvPr id="189" name="TextBox 189"/>
              <p:cNvSpPr txBox="1"/>
              <p:nvPr/>
            </p:nvSpPr>
            <p:spPr>
              <a:xfrm>
                <a:off x="737515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40%</a:t>
                </a:r>
              </a:p>
            </p:txBody>
          </p:sp>
          <p:sp>
            <p:nvSpPr>
              <p:cNvPr id="190" name="TextBox 190"/>
              <p:cNvSpPr txBox="1"/>
              <p:nvPr/>
            </p:nvSpPr>
            <p:spPr>
              <a:xfrm>
                <a:off x="761899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60%</a:t>
                </a:r>
              </a:p>
            </p:txBody>
          </p:sp>
          <p:sp>
            <p:nvSpPr>
              <p:cNvPr id="191" name="TextBox 191"/>
              <p:cNvSpPr txBox="1"/>
              <p:nvPr/>
            </p:nvSpPr>
            <p:spPr>
              <a:xfrm>
                <a:off x="7862831" y="236672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80%</a:t>
                </a:r>
              </a:p>
            </p:txBody>
          </p:sp>
          <p:sp>
            <p:nvSpPr>
              <p:cNvPr id="192" name="TextBox 192"/>
              <p:cNvSpPr txBox="1"/>
              <p:nvPr/>
            </p:nvSpPr>
            <p:spPr>
              <a:xfrm>
                <a:off x="8088531" y="2366724"/>
                <a:ext cx="16783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100%</a:t>
                </a:r>
              </a:p>
            </p:txBody>
          </p:sp>
        </p:grpSp>
        <p:sp>
          <p:nvSpPr>
            <p:cNvPr id="194" name="TextBox 194"/>
            <p:cNvSpPr txBox="1"/>
            <p:nvPr/>
          </p:nvSpPr>
          <p:spPr>
            <a:xfrm>
              <a:off x="6998500" y="2502932"/>
              <a:ext cx="95725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区域占比（按贡献降序）</a:t>
              </a:r>
            </a:p>
          </p:txBody>
        </p:sp>
        <p:sp>
          <p:nvSpPr>
            <p:cNvPr id="195" name="Rectangle 195"/>
            <p:cNvSpPr/>
            <p:nvPr/>
          </p:nvSpPr>
          <p:spPr>
            <a:xfrm>
              <a:off x="3390900" y="2762250"/>
              <a:ext cx="1543050" cy="209550"/>
            </a:xfrm>
            <a:prstGeom prst="rect">
              <a:avLst/>
            </a:prstGeom>
            <a:solidFill>
              <a:srgbClr val="4E0D00"/>
            </a:solidFill>
            <a:ln>
              <a:noFill/>
            </a:ln>
          </p:spPr>
        </p:sp>
        <p:grpSp>
          <p:nvGrpSpPr>
            <p:cNvPr id="201" name="Group 201"/>
            <p:cNvGrpSpPr/>
            <p:nvPr/>
          </p:nvGrpSpPr>
          <p:grpSpPr>
            <a:xfrm>
              <a:off x="3481388" y="2824162"/>
              <a:ext cx="85725" cy="95251"/>
              <a:chOff x="3481388" y="2824162"/>
              <a:chExt cx="85725" cy="95251"/>
            </a:xfrm>
          </p:grpSpPr>
          <p:sp>
            <p:nvSpPr>
              <p:cNvPr id="196" name="Freeform 196"/>
              <p:cNvSpPr/>
              <p:nvPr/>
            </p:nvSpPr>
            <p:spPr>
              <a:xfrm>
                <a:off x="3481388" y="2909888"/>
                <a:ext cx="85725" cy="9525"/>
              </a:xfrm>
              <a:custGeom>
                <a:avLst/>
                <a:gdLst/>
                <a:ahLst/>
                <a:cxnLst/>
                <a:rect l="l" t="t" r="r" b="b"/>
                <a:pathLst>
                  <a:path w="85725" h="9525">
                    <a:moveTo>
                      <a:pt x="0" y="0"/>
                    </a:moveTo>
                    <a:lnTo>
                      <a:pt x="85725" y="0"/>
                    </a:lnTo>
                  </a:path>
                </a:pathLst>
              </a:custGeom>
              <a:noFill/>
              <a:ln w="9525">
                <a:solidFill>
                  <a:srgbClr val="FFFFFF"/>
                </a:solidFill>
              </a:ln>
            </p:spPr>
          </p:sp>
          <p:sp>
            <p:nvSpPr>
              <p:cNvPr id="197" name="Freeform 197"/>
              <p:cNvSpPr/>
              <p:nvPr/>
            </p:nvSpPr>
            <p:spPr>
              <a:xfrm>
                <a:off x="3481388" y="2824162"/>
                <a:ext cx="85725" cy="38100"/>
              </a:xfrm>
              <a:custGeom>
                <a:avLst/>
                <a:gdLst/>
                <a:ahLst/>
                <a:cxnLst/>
                <a:rect l="l" t="t" r="r" b="b"/>
                <a:pathLst>
                  <a:path w="85725" h="38100">
                    <a:moveTo>
                      <a:pt x="0" y="19050"/>
                    </a:moveTo>
                    <a:lnTo>
                      <a:pt x="0" y="23812"/>
                    </a:lnTo>
                    <a:cubicBezTo>
                      <a:pt x="0" y="31703"/>
                      <a:pt x="6397" y="38100"/>
                      <a:pt x="14288" y="38100"/>
                    </a:cubicBezTo>
                    <a:cubicBezTo>
                      <a:pt x="22178" y="38100"/>
                      <a:pt x="28575" y="31703"/>
                      <a:pt x="28575" y="23812"/>
                    </a:cubicBezTo>
                    <a:lnTo>
                      <a:pt x="28575" y="19050"/>
                    </a:lnTo>
                    <a:moveTo>
                      <a:pt x="28575" y="23812"/>
                    </a:moveTo>
                    <a:cubicBezTo>
                      <a:pt x="28575" y="31703"/>
                      <a:pt x="34972" y="38100"/>
                      <a:pt x="42862" y="38100"/>
                    </a:cubicBezTo>
                    <a:cubicBezTo>
                      <a:pt x="50753" y="38100"/>
                      <a:pt x="57150" y="31703"/>
                      <a:pt x="57150" y="23812"/>
                    </a:cubicBezTo>
                    <a:lnTo>
                      <a:pt x="57150" y="19050"/>
                    </a:lnTo>
                    <a:moveTo>
                      <a:pt x="57150" y="23812"/>
                    </a:moveTo>
                    <a:cubicBezTo>
                      <a:pt x="57150" y="31703"/>
                      <a:pt x="63547" y="38100"/>
                      <a:pt x="71438" y="38100"/>
                    </a:cubicBezTo>
                    <a:cubicBezTo>
                      <a:pt x="79328" y="38100"/>
                      <a:pt x="85725" y="31703"/>
                      <a:pt x="85725" y="23812"/>
                    </a:cubicBezTo>
                    <a:lnTo>
                      <a:pt x="85725" y="19050"/>
                    </a:lnTo>
                    <a:lnTo>
                      <a:pt x="0" y="19050"/>
                    </a:lnTo>
                    <a:lnTo>
                      <a:pt x="9525" y="0"/>
                    </a:lnTo>
                    <a:lnTo>
                      <a:pt x="76200" y="0"/>
                    </a:lnTo>
                    <a:lnTo>
                      <a:pt x="85725" y="19050"/>
                    </a:lnTo>
                  </a:path>
                </a:pathLst>
              </a:custGeom>
              <a:noFill/>
              <a:ln w="9525">
                <a:solidFill>
                  <a:srgbClr val="FFFFFF"/>
                </a:solidFill>
              </a:ln>
            </p:spPr>
          </p:sp>
          <p:sp>
            <p:nvSpPr>
              <p:cNvPr id="198" name="Freeform 198"/>
              <p:cNvSpPr/>
              <p:nvPr/>
            </p:nvSpPr>
            <p:spPr>
              <a:xfrm>
                <a:off x="3490912" y="2861548"/>
                <a:ext cx="9525" cy="48339"/>
              </a:xfrm>
              <a:custGeom>
                <a:avLst/>
                <a:gdLst/>
                <a:ahLst/>
                <a:cxnLst/>
                <a:rect l="l" t="t" r="r" b="b"/>
                <a:pathLst>
                  <a:path w="9525" h="48339">
                    <a:moveTo>
                      <a:pt x="0" y="48339"/>
                    </a:moveTo>
                    <a:lnTo>
                      <a:pt x="0" y="0"/>
                    </a:lnTo>
                  </a:path>
                </a:pathLst>
              </a:custGeom>
              <a:noFill/>
              <a:ln w="9525">
                <a:solidFill>
                  <a:srgbClr val="FFFFFF"/>
                </a:solidFill>
              </a:ln>
            </p:spPr>
          </p:sp>
          <p:sp>
            <p:nvSpPr>
              <p:cNvPr id="199" name="Freeform 199"/>
              <p:cNvSpPr/>
              <p:nvPr/>
            </p:nvSpPr>
            <p:spPr>
              <a:xfrm>
                <a:off x="3557588" y="2861548"/>
                <a:ext cx="9525" cy="48339"/>
              </a:xfrm>
              <a:custGeom>
                <a:avLst/>
                <a:gdLst/>
                <a:ahLst/>
                <a:cxnLst/>
                <a:rect l="l" t="t" r="r" b="b"/>
                <a:pathLst>
                  <a:path w="9525" h="48339">
                    <a:moveTo>
                      <a:pt x="0" y="48339"/>
                    </a:moveTo>
                    <a:lnTo>
                      <a:pt x="0" y="0"/>
                    </a:lnTo>
                  </a:path>
                </a:pathLst>
              </a:custGeom>
              <a:noFill/>
              <a:ln w="9525">
                <a:solidFill>
                  <a:srgbClr val="FFFFFF"/>
                </a:solidFill>
              </a:ln>
            </p:spPr>
          </p:sp>
          <p:sp>
            <p:nvSpPr>
              <p:cNvPr id="200" name="Freeform 200"/>
              <p:cNvSpPr/>
              <p:nvPr/>
            </p:nvSpPr>
            <p:spPr>
              <a:xfrm>
                <a:off x="3509962" y="2881312"/>
                <a:ext cx="28575" cy="28575"/>
              </a:xfrm>
              <a:custGeom>
                <a:avLst/>
                <a:gdLst/>
                <a:ahLst/>
                <a:cxnLst/>
                <a:rect l="l" t="t" r="r" b="b"/>
                <a:pathLst>
                  <a:path w="28575" h="28575">
                    <a:moveTo>
                      <a:pt x="0" y="28575"/>
                    </a:moveTo>
                    <a:lnTo>
                      <a:pt x="0" y="9525"/>
                    </a:lnTo>
                    <a:cubicBezTo>
                      <a:pt x="0" y="4264"/>
                      <a:pt x="4264" y="0"/>
                      <a:pt x="9525" y="0"/>
                    </a:cubicBezTo>
                    <a:lnTo>
                      <a:pt x="19050" y="0"/>
                    </a:lnTo>
                    <a:cubicBezTo>
                      <a:pt x="24311" y="0"/>
                      <a:pt x="28575" y="4264"/>
                      <a:pt x="28575" y="9525"/>
                    </a:cubicBezTo>
                    <a:lnTo>
                      <a:pt x="28575" y="28575"/>
                    </a:lnTo>
                  </a:path>
                </a:pathLst>
              </a:custGeom>
              <a:noFill/>
              <a:ln w="9525">
                <a:solidFill>
                  <a:srgbClr val="FFFFFF"/>
                </a:solidFill>
              </a:ln>
            </p:spPr>
          </p:sp>
        </p:grpSp>
        <p:sp>
          <p:nvSpPr>
            <p:cNvPr id="202" name="TextBox 202"/>
            <p:cNvSpPr txBox="1"/>
            <p:nvPr/>
          </p:nvSpPr>
          <p:spPr>
            <a:xfrm>
              <a:off x="3633788" y="2829639"/>
              <a:ext cx="222225"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渠道</a:t>
              </a:r>
            </a:p>
          </p:txBody>
        </p:sp>
        <p:grpSp>
          <p:nvGrpSpPr>
            <p:cNvPr id="208" name="Group 208"/>
            <p:cNvGrpSpPr/>
            <p:nvPr/>
          </p:nvGrpSpPr>
          <p:grpSpPr>
            <a:xfrm>
              <a:off x="3638550" y="3105150"/>
              <a:ext cx="1219200" cy="733425"/>
              <a:chOff x="3638550" y="3105150"/>
              <a:chExt cx="1219200" cy="733425"/>
            </a:xfrm>
          </p:grpSpPr>
          <p:sp>
            <p:nvSpPr>
              <p:cNvPr id="203" name="Line 203"/>
              <p:cNvSpPr/>
              <p:nvPr/>
            </p:nvSpPr>
            <p:spPr>
              <a:xfrm>
                <a:off x="3638550" y="310515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204" name="Line 204"/>
              <p:cNvSpPr/>
              <p:nvPr/>
            </p:nvSpPr>
            <p:spPr>
              <a:xfrm>
                <a:off x="3638550" y="328612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205" name="Line 205"/>
              <p:cNvSpPr/>
              <p:nvPr/>
            </p:nvSpPr>
            <p:spPr>
              <a:xfrm>
                <a:off x="3638550" y="346710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206" name="Line 206"/>
              <p:cNvSpPr/>
              <p:nvPr/>
            </p:nvSpPr>
            <p:spPr>
              <a:xfrm>
                <a:off x="3638550" y="364807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207" name="Line 207"/>
              <p:cNvSpPr/>
              <p:nvPr/>
            </p:nvSpPr>
            <p:spPr>
              <a:xfrm>
                <a:off x="3638550" y="3829050"/>
                <a:ext cx="1219200" cy="9525"/>
              </a:xfrm>
              <a:custGeom>
                <a:avLst/>
                <a:gdLst/>
                <a:ahLst/>
                <a:cxnLst/>
                <a:rect l="l" t="t" r="r" b="b"/>
                <a:pathLst>
                  <a:path w="1219200" h="9525">
                    <a:moveTo>
                      <a:pt x="0" y="0"/>
                    </a:moveTo>
                    <a:lnTo>
                      <a:pt x="1219200" y="0"/>
                    </a:lnTo>
                  </a:path>
                </a:pathLst>
              </a:custGeom>
              <a:noFill/>
              <a:ln w="7620">
                <a:solidFill>
                  <a:srgbClr val="EEF2F8"/>
                </a:solidFill>
              </a:ln>
            </p:spPr>
          </p:sp>
        </p:grpSp>
        <p:grpSp>
          <p:nvGrpSpPr>
            <p:cNvPr id="219" name="Group 219"/>
            <p:cNvGrpSpPr/>
            <p:nvPr/>
          </p:nvGrpSpPr>
          <p:grpSpPr>
            <a:xfrm>
              <a:off x="3638550" y="1928812"/>
              <a:ext cx="1225867" cy="271464"/>
              <a:chOff x="3638550" y="1928812"/>
              <a:chExt cx="1225867" cy="271464"/>
            </a:xfrm>
          </p:grpSpPr>
          <p:sp>
            <p:nvSpPr>
              <p:cNvPr id="209" name="Rectangle 209"/>
              <p:cNvSpPr/>
              <p:nvPr/>
            </p:nvSpPr>
            <p:spPr>
              <a:xfrm>
                <a:off x="3638550" y="1928812"/>
                <a:ext cx="85725" cy="271462"/>
              </a:xfrm>
              <a:prstGeom prst="rect">
                <a:avLst/>
              </a:prstGeom>
              <a:solidFill>
                <a:srgbClr val="4E0D00"/>
              </a:solidFill>
              <a:ln>
                <a:noFill/>
              </a:ln>
            </p:spPr>
          </p:sp>
          <p:sp>
            <p:nvSpPr>
              <p:cNvPr id="210" name="Rectangle 210"/>
              <p:cNvSpPr/>
              <p:nvPr/>
            </p:nvSpPr>
            <p:spPr>
              <a:xfrm>
                <a:off x="3765232" y="2019300"/>
                <a:ext cx="85725" cy="180975"/>
              </a:xfrm>
              <a:prstGeom prst="rect">
                <a:avLst/>
              </a:prstGeom>
              <a:solidFill>
                <a:srgbClr val="4E0D00"/>
              </a:solidFill>
              <a:ln>
                <a:noFill/>
              </a:ln>
            </p:spPr>
          </p:sp>
          <p:sp>
            <p:nvSpPr>
              <p:cNvPr id="211" name="Rectangle 211"/>
              <p:cNvSpPr/>
              <p:nvPr/>
            </p:nvSpPr>
            <p:spPr>
              <a:xfrm>
                <a:off x="3891915" y="2083118"/>
                <a:ext cx="85725" cy="117158"/>
              </a:xfrm>
              <a:prstGeom prst="rect">
                <a:avLst/>
              </a:prstGeom>
              <a:solidFill>
                <a:srgbClr val="4E0D00"/>
              </a:solidFill>
              <a:ln>
                <a:noFill/>
              </a:ln>
            </p:spPr>
          </p:sp>
          <p:sp>
            <p:nvSpPr>
              <p:cNvPr id="212" name="Rectangle 212"/>
              <p:cNvSpPr/>
              <p:nvPr/>
            </p:nvSpPr>
            <p:spPr>
              <a:xfrm>
                <a:off x="4018598" y="2119312"/>
                <a:ext cx="85725" cy="80962"/>
              </a:xfrm>
              <a:prstGeom prst="rect">
                <a:avLst/>
              </a:prstGeom>
              <a:solidFill>
                <a:srgbClr val="4E0D00"/>
              </a:solidFill>
              <a:ln>
                <a:noFill/>
              </a:ln>
            </p:spPr>
          </p:sp>
          <p:sp>
            <p:nvSpPr>
              <p:cNvPr id="213" name="Rectangle 213"/>
              <p:cNvSpPr/>
              <p:nvPr/>
            </p:nvSpPr>
            <p:spPr>
              <a:xfrm>
                <a:off x="4145280" y="2136458"/>
                <a:ext cx="85725" cy="63818"/>
              </a:xfrm>
              <a:prstGeom prst="rect">
                <a:avLst/>
              </a:prstGeom>
              <a:solidFill>
                <a:srgbClr val="4E0D00"/>
              </a:solidFill>
              <a:ln>
                <a:noFill/>
              </a:ln>
            </p:spPr>
          </p:sp>
          <p:sp>
            <p:nvSpPr>
              <p:cNvPr id="214" name="Rectangle 214"/>
              <p:cNvSpPr/>
              <p:nvPr/>
            </p:nvSpPr>
            <p:spPr>
              <a:xfrm>
                <a:off x="4271962" y="2155508"/>
                <a:ext cx="85725" cy="44768"/>
              </a:xfrm>
              <a:prstGeom prst="rect">
                <a:avLst/>
              </a:prstGeom>
              <a:solidFill>
                <a:srgbClr val="4E0D00"/>
              </a:solidFill>
              <a:ln>
                <a:noFill/>
              </a:ln>
            </p:spPr>
          </p:sp>
          <p:sp>
            <p:nvSpPr>
              <p:cNvPr id="215" name="Rectangle 215"/>
              <p:cNvSpPr/>
              <p:nvPr/>
            </p:nvSpPr>
            <p:spPr>
              <a:xfrm>
                <a:off x="4398645" y="2164080"/>
                <a:ext cx="85725" cy="36195"/>
              </a:xfrm>
              <a:prstGeom prst="rect">
                <a:avLst/>
              </a:prstGeom>
              <a:solidFill>
                <a:srgbClr val="4E0D00"/>
              </a:solidFill>
              <a:ln>
                <a:noFill/>
              </a:ln>
            </p:spPr>
          </p:sp>
          <p:sp>
            <p:nvSpPr>
              <p:cNvPr id="216" name="Rectangle 216"/>
              <p:cNvSpPr/>
              <p:nvPr/>
            </p:nvSpPr>
            <p:spPr>
              <a:xfrm>
                <a:off x="4525328" y="2173605"/>
                <a:ext cx="85725" cy="26670"/>
              </a:xfrm>
              <a:prstGeom prst="rect">
                <a:avLst/>
              </a:prstGeom>
              <a:solidFill>
                <a:srgbClr val="4E0D00"/>
              </a:solidFill>
              <a:ln>
                <a:noFill/>
              </a:ln>
            </p:spPr>
          </p:sp>
          <p:sp>
            <p:nvSpPr>
              <p:cNvPr id="217" name="Rectangle 217"/>
              <p:cNvSpPr/>
              <p:nvPr/>
            </p:nvSpPr>
            <p:spPr>
              <a:xfrm>
                <a:off x="4652010" y="2182178"/>
                <a:ext cx="85725" cy="18098"/>
              </a:xfrm>
              <a:prstGeom prst="rect">
                <a:avLst/>
              </a:prstGeom>
              <a:solidFill>
                <a:srgbClr val="4E0D00"/>
              </a:solidFill>
              <a:ln>
                <a:noFill/>
              </a:ln>
            </p:spPr>
          </p:sp>
          <p:sp>
            <p:nvSpPr>
              <p:cNvPr id="218" name="Rectangle 218"/>
              <p:cNvSpPr/>
              <p:nvPr/>
            </p:nvSpPr>
            <p:spPr>
              <a:xfrm>
                <a:off x="4778692" y="2191702"/>
                <a:ext cx="85725" cy="8572"/>
              </a:xfrm>
              <a:prstGeom prst="rect">
                <a:avLst/>
              </a:prstGeom>
              <a:solidFill>
                <a:srgbClr val="4E0D00"/>
              </a:solidFill>
              <a:ln>
                <a:noFill/>
              </a:ln>
            </p:spPr>
          </p:sp>
        </p:grpSp>
        <p:sp>
          <p:nvSpPr>
            <p:cNvPr id="220" name="Line 220"/>
            <p:cNvSpPr/>
            <p:nvPr/>
          </p:nvSpPr>
          <p:spPr>
            <a:xfrm>
              <a:off x="3638550" y="3286125"/>
              <a:ext cx="1219200" cy="9525"/>
            </a:xfrm>
            <a:custGeom>
              <a:avLst/>
              <a:gdLst/>
              <a:ahLst/>
              <a:cxnLst/>
              <a:rect l="l" t="t" r="r" b="b"/>
              <a:pathLst>
                <a:path w="1219200" h="9525">
                  <a:moveTo>
                    <a:pt x="0" y="0"/>
                  </a:moveTo>
                  <a:lnTo>
                    <a:pt x="1219200" y="0"/>
                  </a:lnTo>
                </a:path>
              </a:pathLst>
            </a:custGeom>
            <a:noFill/>
            <a:ln w="7620">
              <a:solidFill>
                <a:srgbClr val="944130"/>
              </a:solidFill>
              <a:prstDash val="sysDot"/>
            </a:ln>
          </p:spPr>
        </p:sp>
        <p:sp>
          <p:nvSpPr>
            <p:cNvPr id="221" name="Polyline 221"/>
            <p:cNvSpPr/>
            <p:nvPr/>
          </p:nvSpPr>
          <p:spPr>
            <a:xfrm>
              <a:off x="3681412" y="3105150"/>
              <a:ext cx="1140142" cy="615315"/>
            </a:xfrm>
            <a:custGeom>
              <a:avLst/>
              <a:gdLst/>
              <a:ahLst/>
              <a:cxnLst/>
              <a:rect l="l" t="t" r="r" b="b"/>
              <a:pathLst>
                <a:path w="1140142" h="615315">
                  <a:moveTo>
                    <a:pt x="0" y="615315"/>
                  </a:moveTo>
                  <a:lnTo>
                    <a:pt x="126683" y="425767"/>
                  </a:lnTo>
                  <a:lnTo>
                    <a:pt x="253365" y="299085"/>
                  </a:lnTo>
                  <a:lnTo>
                    <a:pt x="380047" y="208597"/>
                  </a:lnTo>
                  <a:lnTo>
                    <a:pt x="506730" y="144780"/>
                  </a:lnTo>
                  <a:lnTo>
                    <a:pt x="633412" y="100012"/>
                  </a:lnTo>
                  <a:lnTo>
                    <a:pt x="760095" y="54292"/>
                  </a:lnTo>
                  <a:lnTo>
                    <a:pt x="886778" y="27622"/>
                  </a:lnTo>
                  <a:lnTo>
                    <a:pt x="1013460" y="9525"/>
                  </a:lnTo>
                  <a:lnTo>
                    <a:pt x="1140142" y="0"/>
                  </a:lnTo>
                </a:path>
              </a:pathLst>
            </a:custGeom>
            <a:noFill/>
            <a:ln w="12382">
              <a:solidFill>
                <a:srgbClr val="944130"/>
              </a:solidFill>
            </a:ln>
          </p:spPr>
        </p:sp>
        <p:grpSp>
          <p:nvGrpSpPr>
            <p:cNvPr id="232" name="Group 232"/>
            <p:cNvGrpSpPr/>
            <p:nvPr/>
          </p:nvGrpSpPr>
          <p:grpSpPr>
            <a:xfrm>
              <a:off x="3666172" y="3089910"/>
              <a:ext cx="1170623" cy="645795"/>
              <a:chOff x="3666172" y="3089910"/>
              <a:chExt cx="1170623" cy="645795"/>
            </a:xfrm>
          </p:grpSpPr>
          <p:sp>
            <p:nvSpPr>
              <p:cNvPr id="222" name="Ellipse 222"/>
              <p:cNvSpPr/>
              <p:nvPr/>
            </p:nvSpPr>
            <p:spPr>
              <a:xfrm>
                <a:off x="3666172" y="3705225"/>
                <a:ext cx="30480" cy="30480"/>
              </a:xfrm>
              <a:prstGeom prst="ellipse">
                <a:avLst/>
              </a:prstGeom>
              <a:solidFill>
                <a:srgbClr val="944130"/>
              </a:solidFill>
              <a:ln>
                <a:noFill/>
              </a:ln>
            </p:spPr>
          </p:sp>
          <p:sp>
            <p:nvSpPr>
              <p:cNvPr id="223" name="Ellipse 223"/>
              <p:cNvSpPr/>
              <p:nvPr/>
            </p:nvSpPr>
            <p:spPr>
              <a:xfrm>
                <a:off x="3792855" y="3515677"/>
                <a:ext cx="30480" cy="30480"/>
              </a:xfrm>
              <a:prstGeom prst="ellipse">
                <a:avLst/>
              </a:prstGeom>
              <a:solidFill>
                <a:srgbClr val="944130"/>
              </a:solidFill>
              <a:ln>
                <a:noFill/>
              </a:ln>
            </p:spPr>
          </p:sp>
          <p:sp>
            <p:nvSpPr>
              <p:cNvPr id="224" name="Ellipse 224"/>
              <p:cNvSpPr/>
              <p:nvPr/>
            </p:nvSpPr>
            <p:spPr>
              <a:xfrm>
                <a:off x="3919538" y="3388995"/>
                <a:ext cx="30480" cy="30480"/>
              </a:xfrm>
              <a:prstGeom prst="ellipse">
                <a:avLst/>
              </a:prstGeom>
              <a:solidFill>
                <a:srgbClr val="944130"/>
              </a:solidFill>
              <a:ln>
                <a:noFill/>
              </a:ln>
            </p:spPr>
          </p:sp>
          <p:sp>
            <p:nvSpPr>
              <p:cNvPr id="225" name="Ellipse 225"/>
              <p:cNvSpPr/>
              <p:nvPr/>
            </p:nvSpPr>
            <p:spPr>
              <a:xfrm>
                <a:off x="4046220" y="3298507"/>
                <a:ext cx="30480" cy="30480"/>
              </a:xfrm>
              <a:prstGeom prst="ellipse">
                <a:avLst/>
              </a:prstGeom>
              <a:solidFill>
                <a:srgbClr val="944130"/>
              </a:solidFill>
              <a:ln>
                <a:noFill/>
              </a:ln>
            </p:spPr>
          </p:sp>
          <p:sp>
            <p:nvSpPr>
              <p:cNvPr id="226" name="Ellipse 226"/>
              <p:cNvSpPr/>
              <p:nvPr/>
            </p:nvSpPr>
            <p:spPr>
              <a:xfrm>
                <a:off x="4172902" y="3234690"/>
                <a:ext cx="30480" cy="30480"/>
              </a:xfrm>
              <a:prstGeom prst="ellipse">
                <a:avLst/>
              </a:prstGeom>
              <a:solidFill>
                <a:srgbClr val="944130"/>
              </a:solidFill>
              <a:ln>
                <a:noFill/>
              </a:ln>
            </p:spPr>
          </p:sp>
          <p:sp>
            <p:nvSpPr>
              <p:cNvPr id="227" name="Ellipse 227"/>
              <p:cNvSpPr/>
              <p:nvPr/>
            </p:nvSpPr>
            <p:spPr>
              <a:xfrm>
                <a:off x="4299585" y="3189922"/>
                <a:ext cx="30480" cy="30480"/>
              </a:xfrm>
              <a:prstGeom prst="ellipse">
                <a:avLst/>
              </a:prstGeom>
              <a:solidFill>
                <a:srgbClr val="944130"/>
              </a:solidFill>
              <a:ln>
                <a:noFill/>
              </a:ln>
            </p:spPr>
          </p:sp>
          <p:sp>
            <p:nvSpPr>
              <p:cNvPr id="228" name="Ellipse 228"/>
              <p:cNvSpPr/>
              <p:nvPr/>
            </p:nvSpPr>
            <p:spPr>
              <a:xfrm>
                <a:off x="4426268" y="3144202"/>
                <a:ext cx="30480" cy="30480"/>
              </a:xfrm>
              <a:prstGeom prst="ellipse">
                <a:avLst/>
              </a:prstGeom>
              <a:solidFill>
                <a:srgbClr val="944130"/>
              </a:solidFill>
              <a:ln>
                <a:noFill/>
              </a:ln>
            </p:spPr>
          </p:sp>
          <p:sp>
            <p:nvSpPr>
              <p:cNvPr id="229" name="Ellipse 229"/>
              <p:cNvSpPr/>
              <p:nvPr/>
            </p:nvSpPr>
            <p:spPr>
              <a:xfrm>
                <a:off x="4552950" y="3117532"/>
                <a:ext cx="30480" cy="30480"/>
              </a:xfrm>
              <a:prstGeom prst="ellipse">
                <a:avLst/>
              </a:prstGeom>
              <a:solidFill>
                <a:srgbClr val="944130"/>
              </a:solidFill>
              <a:ln>
                <a:noFill/>
              </a:ln>
            </p:spPr>
          </p:sp>
          <p:sp>
            <p:nvSpPr>
              <p:cNvPr id="230" name="Ellipse 230"/>
              <p:cNvSpPr/>
              <p:nvPr/>
            </p:nvSpPr>
            <p:spPr>
              <a:xfrm>
                <a:off x="4679632" y="3099435"/>
                <a:ext cx="30480" cy="30480"/>
              </a:xfrm>
              <a:prstGeom prst="ellipse">
                <a:avLst/>
              </a:prstGeom>
              <a:solidFill>
                <a:srgbClr val="944130"/>
              </a:solidFill>
              <a:ln>
                <a:noFill/>
              </a:ln>
            </p:spPr>
          </p:sp>
          <p:sp>
            <p:nvSpPr>
              <p:cNvPr id="231" name="Ellipse 231"/>
              <p:cNvSpPr/>
              <p:nvPr/>
            </p:nvSpPr>
            <p:spPr>
              <a:xfrm>
                <a:off x="4806315" y="3089910"/>
                <a:ext cx="30480" cy="30480"/>
              </a:xfrm>
              <a:prstGeom prst="ellipse">
                <a:avLst/>
              </a:prstGeom>
              <a:solidFill>
                <a:srgbClr val="944130"/>
              </a:solidFill>
              <a:ln>
                <a:noFill/>
              </a:ln>
            </p:spPr>
          </p:sp>
        </p:grpSp>
        <p:sp>
          <p:nvSpPr>
            <p:cNvPr id="233" name="Line 233"/>
            <p:cNvSpPr/>
            <p:nvPr/>
          </p:nvSpPr>
          <p:spPr>
            <a:xfrm>
              <a:off x="3638550" y="4010025"/>
              <a:ext cx="1219200" cy="9525"/>
            </a:xfrm>
            <a:custGeom>
              <a:avLst/>
              <a:gdLst/>
              <a:ahLst/>
              <a:cxnLst/>
              <a:rect l="l" t="t" r="r" b="b"/>
              <a:pathLst>
                <a:path w="1219200" h="9525">
                  <a:moveTo>
                    <a:pt x="0" y="0"/>
                  </a:moveTo>
                  <a:lnTo>
                    <a:pt x="1219200" y="0"/>
                  </a:lnTo>
                </a:path>
              </a:pathLst>
            </a:custGeom>
            <a:noFill/>
            <a:ln w="9525">
              <a:solidFill>
                <a:srgbClr val="C8998F"/>
              </a:solidFill>
            </a:ln>
          </p:spPr>
        </p:sp>
        <p:grpSp>
          <p:nvGrpSpPr>
            <p:cNvPr id="246" name="Group 246"/>
            <p:cNvGrpSpPr/>
            <p:nvPr/>
          </p:nvGrpSpPr>
          <p:grpSpPr>
            <a:xfrm>
              <a:off x="3446899" y="3081099"/>
              <a:ext cx="1494770" cy="1078706"/>
              <a:chOff x="3446899" y="3081099"/>
              <a:chExt cx="1494770" cy="1078706"/>
            </a:xfrm>
          </p:grpSpPr>
          <p:sp>
            <p:nvSpPr>
              <p:cNvPr id="234" name="TextBox 234"/>
              <p:cNvSpPr txBox="1"/>
              <p:nvPr/>
            </p:nvSpPr>
            <p:spPr>
              <a:xfrm>
                <a:off x="3446899" y="3081099"/>
                <a:ext cx="16783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100%</a:t>
                </a:r>
              </a:p>
            </p:txBody>
          </p:sp>
          <p:sp>
            <p:nvSpPr>
              <p:cNvPr id="235" name="TextBox 235"/>
              <p:cNvSpPr txBox="1"/>
              <p:nvPr/>
            </p:nvSpPr>
            <p:spPr>
              <a:xfrm>
                <a:off x="3483179" y="326207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80%</a:t>
                </a:r>
              </a:p>
            </p:txBody>
          </p:sp>
          <p:sp>
            <p:nvSpPr>
              <p:cNvPr id="236" name="TextBox 236"/>
              <p:cNvSpPr txBox="1"/>
              <p:nvPr/>
            </p:nvSpPr>
            <p:spPr>
              <a:xfrm>
                <a:off x="3483179" y="344304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60%</a:t>
                </a:r>
              </a:p>
            </p:txBody>
          </p:sp>
          <p:sp>
            <p:nvSpPr>
              <p:cNvPr id="237" name="TextBox 237"/>
              <p:cNvSpPr txBox="1"/>
              <p:nvPr/>
            </p:nvSpPr>
            <p:spPr>
              <a:xfrm>
                <a:off x="3483179" y="362402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40%</a:t>
                </a:r>
              </a:p>
            </p:txBody>
          </p:sp>
          <p:sp>
            <p:nvSpPr>
              <p:cNvPr id="238" name="TextBox 238"/>
              <p:cNvSpPr txBox="1"/>
              <p:nvPr/>
            </p:nvSpPr>
            <p:spPr>
              <a:xfrm>
                <a:off x="3483179" y="380499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20%</a:t>
                </a:r>
              </a:p>
            </p:txBody>
          </p:sp>
          <p:sp>
            <p:nvSpPr>
              <p:cNvPr id="239" name="TextBox 239"/>
              <p:cNvSpPr txBox="1"/>
              <p:nvPr/>
            </p:nvSpPr>
            <p:spPr>
              <a:xfrm>
                <a:off x="3519460" y="3985974"/>
                <a:ext cx="9527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0%</a:t>
                </a:r>
              </a:p>
            </p:txBody>
          </p:sp>
          <p:sp>
            <p:nvSpPr>
              <p:cNvPr id="240" name="TextBox 240"/>
              <p:cNvSpPr txBox="1"/>
              <p:nvPr/>
            </p:nvSpPr>
            <p:spPr>
              <a:xfrm>
                <a:off x="3590911" y="4062174"/>
                <a:ext cx="9527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0%</a:t>
                </a:r>
              </a:p>
            </p:txBody>
          </p:sp>
          <p:sp>
            <p:nvSpPr>
              <p:cNvPr id="241" name="TextBox 241"/>
              <p:cNvSpPr txBox="1"/>
              <p:nvPr/>
            </p:nvSpPr>
            <p:spPr>
              <a:xfrm>
                <a:off x="3816611" y="406217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20%</a:t>
                </a:r>
              </a:p>
            </p:txBody>
          </p:sp>
          <p:sp>
            <p:nvSpPr>
              <p:cNvPr id="242" name="TextBox 242"/>
              <p:cNvSpPr txBox="1"/>
              <p:nvPr/>
            </p:nvSpPr>
            <p:spPr>
              <a:xfrm>
                <a:off x="4060451" y="406217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40%</a:t>
                </a:r>
              </a:p>
            </p:txBody>
          </p:sp>
          <p:sp>
            <p:nvSpPr>
              <p:cNvPr id="243" name="TextBox 243"/>
              <p:cNvSpPr txBox="1"/>
              <p:nvPr/>
            </p:nvSpPr>
            <p:spPr>
              <a:xfrm>
                <a:off x="4304291" y="406217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60%</a:t>
                </a:r>
              </a:p>
            </p:txBody>
          </p:sp>
          <p:sp>
            <p:nvSpPr>
              <p:cNvPr id="244" name="TextBox 244"/>
              <p:cNvSpPr txBox="1"/>
              <p:nvPr/>
            </p:nvSpPr>
            <p:spPr>
              <a:xfrm>
                <a:off x="4548131" y="406217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80%</a:t>
                </a:r>
              </a:p>
            </p:txBody>
          </p:sp>
          <p:sp>
            <p:nvSpPr>
              <p:cNvPr id="245" name="TextBox 245"/>
              <p:cNvSpPr txBox="1"/>
              <p:nvPr/>
            </p:nvSpPr>
            <p:spPr>
              <a:xfrm>
                <a:off x="4773831" y="4062174"/>
                <a:ext cx="16783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100%</a:t>
                </a:r>
              </a:p>
            </p:txBody>
          </p:sp>
        </p:grpSp>
        <p:sp>
          <p:nvSpPr>
            <p:cNvPr id="247" name="TextBox 247"/>
            <p:cNvSpPr txBox="1"/>
            <p:nvPr/>
          </p:nvSpPr>
          <p:spPr>
            <a:xfrm>
              <a:off x="3683800" y="4198382"/>
              <a:ext cx="95725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渠道占比（按贡献降序）</a:t>
              </a:r>
            </a:p>
          </p:txBody>
        </p:sp>
        <p:sp>
          <p:nvSpPr>
            <p:cNvPr id="248" name="Rectangle 248"/>
            <p:cNvSpPr/>
            <p:nvPr/>
          </p:nvSpPr>
          <p:spPr>
            <a:xfrm>
              <a:off x="5048250" y="2762250"/>
              <a:ext cx="1543050" cy="209550"/>
            </a:xfrm>
            <a:prstGeom prst="rect">
              <a:avLst/>
            </a:prstGeom>
            <a:solidFill>
              <a:srgbClr val="4E0D00"/>
            </a:solidFill>
            <a:ln>
              <a:noFill/>
            </a:ln>
          </p:spPr>
        </p:sp>
        <p:grpSp>
          <p:nvGrpSpPr>
            <p:cNvPr id="254" name="Group 254"/>
            <p:cNvGrpSpPr/>
            <p:nvPr/>
          </p:nvGrpSpPr>
          <p:grpSpPr>
            <a:xfrm>
              <a:off x="5138738" y="2823524"/>
              <a:ext cx="85724" cy="86364"/>
              <a:chOff x="5138738" y="2823524"/>
              <a:chExt cx="85724" cy="86364"/>
            </a:xfrm>
          </p:grpSpPr>
          <p:sp>
            <p:nvSpPr>
              <p:cNvPr id="249" name="Freeform 249"/>
              <p:cNvSpPr/>
              <p:nvPr/>
            </p:nvSpPr>
            <p:spPr>
              <a:xfrm>
                <a:off x="5167312" y="2862262"/>
                <a:ext cx="57150" cy="28575"/>
              </a:xfrm>
              <a:custGeom>
                <a:avLst/>
                <a:gdLst/>
                <a:ahLst/>
                <a:cxnLst/>
                <a:rect l="l" t="t" r="r" b="b"/>
                <a:pathLst>
                  <a:path w="57150" h="28575">
                    <a:moveTo>
                      <a:pt x="0" y="14288"/>
                    </a:moveTo>
                    <a:cubicBezTo>
                      <a:pt x="0" y="22179"/>
                      <a:pt x="12792" y="28575"/>
                      <a:pt x="28575" y="28575"/>
                    </a:cubicBezTo>
                    <a:cubicBezTo>
                      <a:pt x="44358" y="28575"/>
                      <a:pt x="57150" y="22179"/>
                      <a:pt x="57150" y="14288"/>
                    </a:cubicBezTo>
                    <a:cubicBezTo>
                      <a:pt x="57150" y="6396"/>
                      <a:pt x="44358" y="0"/>
                      <a:pt x="28575" y="0"/>
                    </a:cubicBezTo>
                    <a:cubicBezTo>
                      <a:pt x="12792" y="0"/>
                      <a:pt x="0" y="6396"/>
                      <a:pt x="0" y="14288"/>
                    </a:cubicBezTo>
                  </a:path>
                </a:pathLst>
              </a:custGeom>
              <a:noFill/>
              <a:ln w="9525">
                <a:solidFill>
                  <a:srgbClr val="FFFFFF"/>
                </a:solidFill>
              </a:ln>
            </p:spPr>
          </p:sp>
          <p:sp>
            <p:nvSpPr>
              <p:cNvPr id="250" name="Freeform 250"/>
              <p:cNvSpPr/>
              <p:nvPr/>
            </p:nvSpPr>
            <p:spPr>
              <a:xfrm>
                <a:off x="5167312" y="2876550"/>
                <a:ext cx="57150" cy="33338"/>
              </a:xfrm>
              <a:custGeom>
                <a:avLst/>
                <a:gdLst/>
                <a:ahLst/>
                <a:cxnLst/>
                <a:rect l="l" t="t" r="r" b="b"/>
                <a:pathLst>
                  <a:path w="57150" h="33338">
                    <a:moveTo>
                      <a:pt x="0" y="0"/>
                    </a:moveTo>
                    <a:lnTo>
                      <a:pt x="0" y="19050"/>
                    </a:lnTo>
                    <a:cubicBezTo>
                      <a:pt x="0" y="26937"/>
                      <a:pt x="12792" y="33338"/>
                      <a:pt x="28575" y="33338"/>
                    </a:cubicBezTo>
                    <a:cubicBezTo>
                      <a:pt x="44358" y="33338"/>
                      <a:pt x="57150" y="26937"/>
                      <a:pt x="57150" y="19050"/>
                    </a:cubicBezTo>
                    <a:lnTo>
                      <a:pt x="57150" y="0"/>
                    </a:lnTo>
                  </a:path>
                </a:pathLst>
              </a:custGeom>
              <a:noFill/>
              <a:ln w="9525">
                <a:solidFill>
                  <a:srgbClr val="FFFFFF"/>
                </a:solidFill>
              </a:ln>
            </p:spPr>
          </p:sp>
          <p:sp>
            <p:nvSpPr>
              <p:cNvPr id="251" name="Freeform 251"/>
              <p:cNvSpPr/>
              <p:nvPr/>
            </p:nvSpPr>
            <p:spPr>
              <a:xfrm>
                <a:off x="5138738" y="2823524"/>
                <a:ext cx="57150" cy="29851"/>
              </a:xfrm>
              <a:custGeom>
                <a:avLst/>
                <a:gdLst/>
                <a:ahLst/>
                <a:cxnLst/>
                <a:rect l="l" t="t" r="r" b="b"/>
                <a:pathLst>
                  <a:path w="57150" h="29851">
                    <a:moveTo>
                      <a:pt x="0" y="14926"/>
                    </a:moveTo>
                    <a:cubicBezTo>
                      <a:pt x="0" y="20031"/>
                      <a:pt x="5448" y="24746"/>
                      <a:pt x="14288" y="27299"/>
                    </a:cubicBezTo>
                    <a:cubicBezTo>
                      <a:pt x="23127" y="29851"/>
                      <a:pt x="34023" y="29851"/>
                      <a:pt x="42862" y="27299"/>
                    </a:cubicBezTo>
                    <a:cubicBezTo>
                      <a:pt x="51702" y="24746"/>
                      <a:pt x="57150" y="20031"/>
                      <a:pt x="57150" y="14926"/>
                    </a:cubicBezTo>
                    <a:cubicBezTo>
                      <a:pt x="57150" y="9820"/>
                      <a:pt x="51702" y="5105"/>
                      <a:pt x="42862" y="2553"/>
                    </a:cubicBezTo>
                    <a:cubicBezTo>
                      <a:pt x="34023" y="0"/>
                      <a:pt x="23127" y="0"/>
                      <a:pt x="14288" y="2553"/>
                    </a:cubicBezTo>
                    <a:cubicBezTo>
                      <a:pt x="5448" y="5105"/>
                      <a:pt x="0" y="9820"/>
                      <a:pt x="0" y="14926"/>
                    </a:cubicBezTo>
                  </a:path>
                </a:pathLst>
              </a:custGeom>
              <a:noFill/>
              <a:ln w="9525">
                <a:solidFill>
                  <a:srgbClr val="FFFFFF"/>
                </a:solidFill>
              </a:ln>
            </p:spPr>
          </p:sp>
          <p:sp>
            <p:nvSpPr>
              <p:cNvPr id="252" name="Freeform 252"/>
              <p:cNvSpPr/>
              <p:nvPr/>
            </p:nvSpPr>
            <p:spPr>
              <a:xfrm>
                <a:off x="5138738" y="2838450"/>
                <a:ext cx="9525" cy="57150"/>
              </a:xfrm>
              <a:custGeom>
                <a:avLst/>
                <a:gdLst/>
                <a:ahLst/>
                <a:cxnLst/>
                <a:rect l="l" t="t" r="r" b="b"/>
                <a:pathLst>
                  <a:path w="9525" h="57150">
                    <a:moveTo>
                      <a:pt x="0" y="0"/>
                    </a:moveTo>
                    <a:lnTo>
                      <a:pt x="0" y="47625"/>
                    </a:lnTo>
                    <a:cubicBezTo>
                      <a:pt x="0" y="51854"/>
                      <a:pt x="3677" y="54531"/>
                      <a:pt x="9525" y="57150"/>
                    </a:cubicBezTo>
                  </a:path>
                </a:pathLst>
              </a:custGeom>
              <a:noFill/>
              <a:ln w="9525">
                <a:solidFill>
                  <a:srgbClr val="FFFFFF"/>
                </a:solidFill>
              </a:ln>
            </p:spPr>
          </p:sp>
          <p:sp>
            <p:nvSpPr>
              <p:cNvPr id="253" name="Freeform 253"/>
              <p:cNvSpPr/>
              <p:nvPr/>
            </p:nvSpPr>
            <p:spPr>
              <a:xfrm>
                <a:off x="5138738" y="2862262"/>
                <a:ext cx="9525" cy="9525"/>
              </a:xfrm>
              <a:custGeom>
                <a:avLst/>
                <a:gdLst/>
                <a:ahLst/>
                <a:cxnLst/>
                <a:rect l="l" t="t" r="r" b="b"/>
                <a:pathLst>
                  <a:path w="9525" h="9525">
                    <a:moveTo>
                      <a:pt x="0" y="0"/>
                    </a:moveTo>
                    <a:cubicBezTo>
                      <a:pt x="0" y="4229"/>
                      <a:pt x="3677" y="6906"/>
                      <a:pt x="9525" y="9525"/>
                    </a:cubicBezTo>
                  </a:path>
                </a:pathLst>
              </a:custGeom>
              <a:noFill/>
              <a:ln w="9525">
                <a:solidFill>
                  <a:srgbClr val="FFFFFF"/>
                </a:solidFill>
              </a:ln>
            </p:spPr>
          </p:sp>
        </p:grpSp>
        <p:sp>
          <p:nvSpPr>
            <p:cNvPr id="255" name="TextBox 255"/>
            <p:cNvSpPr txBox="1"/>
            <p:nvPr/>
          </p:nvSpPr>
          <p:spPr>
            <a:xfrm>
              <a:off x="5291138" y="2829639"/>
              <a:ext cx="222225"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成本</a:t>
              </a:r>
            </a:p>
          </p:txBody>
        </p:sp>
        <p:grpSp>
          <p:nvGrpSpPr>
            <p:cNvPr id="261" name="Group 261"/>
            <p:cNvGrpSpPr/>
            <p:nvPr/>
          </p:nvGrpSpPr>
          <p:grpSpPr>
            <a:xfrm>
              <a:off x="5295900" y="3105150"/>
              <a:ext cx="1219200" cy="733425"/>
              <a:chOff x="5295900" y="3105150"/>
              <a:chExt cx="1219200" cy="733425"/>
            </a:xfrm>
          </p:grpSpPr>
          <p:sp>
            <p:nvSpPr>
              <p:cNvPr id="256" name="Line 256"/>
              <p:cNvSpPr/>
              <p:nvPr/>
            </p:nvSpPr>
            <p:spPr>
              <a:xfrm>
                <a:off x="5295900" y="310515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257" name="Line 257"/>
              <p:cNvSpPr/>
              <p:nvPr/>
            </p:nvSpPr>
            <p:spPr>
              <a:xfrm>
                <a:off x="5295900" y="328612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258" name="Line 258"/>
              <p:cNvSpPr/>
              <p:nvPr/>
            </p:nvSpPr>
            <p:spPr>
              <a:xfrm>
                <a:off x="5295900" y="3467100"/>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259" name="Line 259"/>
              <p:cNvSpPr/>
              <p:nvPr/>
            </p:nvSpPr>
            <p:spPr>
              <a:xfrm>
                <a:off x="5295900" y="3648075"/>
                <a:ext cx="1219200" cy="9525"/>
              </a:xfrm>
              <a:custGeom>
                <a:avLst/>
                <a:gdLst/>
                <a:ahLst/>
                <a:cxnLst/>
                <a:rect l="l" t="t" r="r" b="b"/>
                <a:pathLst>
                  <a:path w="1219200" h="9525">
                    <a:moveTo>
                      <a:pt x="0" y="0"/>
                    </a:moveTo>
                    <a:lnTo>
                      <a:pt x="1219200" y="0"/>
                    </a:lnTo>
                  </a:path>
                </a:pathLst>
              </a:custGeom>
              <a:noFill/>
              <a:ln w="7620">
                <a:solidFill>
                  <a:srgbClr val="EEF2F8"/>
                </a:solidFill>
              </a:ln>
            </p:spPr>
          </p:sp>
          <p:sp>
            <p:nvSpPr>
              <p:cNvPr id="260" name="Line 260"/>
              <p:cNvSpPr/>
              <p:nvPr/>
            </p:nvSpPr>
            <p:spPr>
              <a:xfrm>
                <a:off x="5295900" y="3829050"/>
                <a:ext cx="1219200" cy="9525"/>
              </a:xfrm>
              <a:custGeom>
                <a:avLst/>
                <a:gdLst/>
                <a:ahLst/>
                <a:cxnLst/>
                <a:rect l="l" t="t" r="r" b="b"/>
                <a:pathLst>
                  <a:path w="1219200" h="9525">
                    <a:moveTo>
                      <a:pt x="0" y="0"/>
                    </a:moveTo>
                    <a:lnTo>
                      <a:pt x="1219200" y="0"/>
                    </a:lnTo>
                  </a:path>
                </a:pathLst>
              </a:custGeom>
              <a:noFill/>
              <a:ln w="7620">
                <a:solidFill>
                  <a:srgbClr val="EEF2F8"/>
                </a:solidFill>
              </a:ln>
            </p:spPr>
          </p:sp>
        </p:grpSp>
        <p:grpSp>
          <p:nvGrpSpPr>
            <p:cNvPr id="272" name="Group 272"/>
            <p:cNvGrpSpPr/>
            <p:nvPr/>
          </p:nvGrpSpPr>
          <p:grpSpPr>
            <a:xfrm>
              <a:off x="5295900" y="1909762"/>
              <a:ext cx="1225867" cy="290514"/>
              <a:chOff x="5295900" y="1909762"/>
              <a:chExt cx="1225867" cy="290514"/>
            </a:xfrm>
          </p:grpSpPr>
          <p:sp>
            <p:nvSpPr>
              <p:cNvPr id="262" name="Rectangle 262"/>
              <p:cNvSpPr/>
              <p:nvPr/>
            </p:nvSpPr>
            <p:spPr>
              <a:xfrm>
                <a:off x="5295900" y="1909762"/>
                <a:ext cx="85725" cy="290512"/>
              </a:xfrm>
              <a:prstGeom prst="rect">
                <a:avLst/>
              </a:prstGeom>
              <a:solidFill>
                <a:srgbClr val="4E0D00"/>
              </a:solidFill>
              <a:ln>
                <a:noFill/>
              </a:ln>
            </p:spPr>
          </p:sp>
          <p:sp>
            <p:nvSpPr>
              <p:cNvPr id="263" name="Rectangle 263"/>
              <p:cNvSpPr/>
              <p:nvPr/>
            </p:nvSpPr>
            <p:spPr>
              <a:xfrm>
                <a:off x="5422582" y="2009775"/>
                <a:ext cx="85725" cy="190500"/>
              </a:xfrm>
              <a:prstGeom prst="rect">
                <a:avLst/>
              </a:prstGeom>
              <a:solidFill>
                <a:srgbClr val="4E0D00"/>
              </a:solidFill>
              <a:ln>
                <a:noFill/>
              </a:ln>
            </p:spPr>
          </p:sp>
          <p:sp>
            <p:nvSpPr>
              <p:cNvPr id="264" name="Rectangle 264"/>
              <p:cNvSpPr/>
              <p:nvPr/>
            </p:nvSpPr>
            <p:spPr>
              <a:xfrm>
                <a:off x="5549265" y="2083118"/>
                <a:ext cx="85725" cy="117158"/>
              </a:xfrm>
              <a:prstGeom prst="rect">
                <a:avLst/>
              </a:prstGeom>
              <a:solidFill>
                <a:srgbClr val="4E0D00"/>
              </a:solidFill>
              <a:ln>
                <a:noFill/>
              </a:ln>
            </p:spPr>
          </p:sp>
          <p:sp>
            <p:nvSpPr>
              <p:cNvPr id="265" name="Rectangle 265"/>
              <p:cNvSpPr/>
              <p:nvPr/>
            </p:nvSpPr>
            <p:spPr>
              <a:xfrm>
                <a:off x="5675948" y="2119312"/>
                <a:ext cx="85725" cy="80962"/>
              </a:xfrm>
              <a:prstGeom prst="rect">
                <a:avLst/>
              </a:prstGeom>
              <a:solidFill>
                <a:srgbClr val="4E0D00"/>
              </a:solidFill>
              <a:ln>
                <a:noFill/>
              </a:ln>
            </p:spPr>
          </p:sp>
          <p:sp>
            <p:nvSpPr>
              <p:cNvPr id="266" name="Rectangle 266"/>
              <p:cNvSpPr/>
              <p:nvPr/>
            </p:nvSpPr>
            <p:spPr>
              <a:xfrm>
                <a:off x="5802630" y="2141220"/>
                <a:ext cx="85725" cy="59055"/>
              </a:xfrm>
              <a:prstGeom prst="rect">
                <a:avLst/>
              </a:prstGeom>
              <a:solidFill>
                <a:srgbClr val="4E0D00"/>
              </a:solidFill>
              <a:ln>
                <a:noFill/>
              </a:ln>
            </p:spPr>
          </p:sp>
          <p:sp>
            <p:nvSpPr>
              <p:cNvPr id="267" name="Rectangle 267"/>
              <p:cNvSpPr/>
              <p:nvPr/>
            </p:nvSpPr>
            <p:spPr>
              <a:xfrm>
                <a:off x="5929312" y="2160270"/>
                <a:ext cx="85725" cy="40005"/>
              </a:xfrm>
              <a:prstGeom prst="rect">
                <a:avLst/>
              </a:prstGeom>
              <a:solidFill>
                <a:srgbClr val="4E0D00"/>
              </a:solidFill>
              <a:ln>
                <a:noFill/>
              </a:ln>
            </p:spPr>
          </p:sp>
          <p:sp>
            <p:nvSpPr>
              <p:cNvPr id="268" name="Rectangle 268"/>
              <p:cNvSpPr/>
              <p:nvPr/>
            </p:nvSpPr>
            <p:spPr>
              <a:xfrm>
                <a:off x="6055995" y="2168842"/>
                <a:ext cx="85725" cy="31432"/>
              </a:xfrm>
              <a:prstGeom prst="rect">
                <a:avLst/>
              </a:prstGeom>
              <a:solidFill>
                <a:srgbClr val="4E0D00"/>
              </a:solidFill>
              <a:ln>
                <a:noFill/>
              </a:ln>
            </p:spPr>
          </p:sp>
          <p:sp>
            <p:nvSpPr>
              <p:cNvPr id="269" name="Rectangle 269"/>
              <p:cNvSpPr/>
              <p:nvPr/>
            </p:nvSpPr>
            <p:spPr>
              <a:xfrm>
                <a:off x="6182678" y="2178368"/>
                <a:ext cx="85725" cy="21908"/>
              </a:xfrm>
              <a:prstGeom prst="rect">
                <a:avLst/>
              </a:prstGeom>
              <a:solidFill>
                <a:srgbClr val="4E0D00"/>
              </a:solidFill>
              <a:ln>
                <a:noFill/>
              </a:ln>
            </p:spPr>
          </p:sp>
          <p:sp>
            <p:nvSpPr>
              <p:cNvPr id="270" name="Rectangle 270"/>
              <p:cNvSpPr/>
              <p:nvPr/>
            </p:nvSpPr>
            <p:spPr>
              <a:xfrm>
                <a:off x="6309360" y="2185988"/>
                <a:ext cx="85725" cy="14288"/>
              </a:xfrm>
              <a:prstGeom prst="rect">
                <a:avLst/>
              </a:prstGeom>
              <a:solidFill>
                <a:srgbClr val="4E0D00"/>
              </a:solidFill>
              <a:ln>
                <a:noFill/>
              </a:ln>
            </p:spPr>
          </p:sp>
          <p:sp>
            <p:nvSpPr>
              <p:cNvPr id="271" name="Rectangle 271"/>
              <p:cNvSpPr/>
              <p:nvPr/>
            </p:nvSpPr>
            <p:spPr>
              <a:xfrm>
                <a:off x="6436042" y="2194560"/>
                <a:ext cx="85725" cy="5715"/>
              </a:xfrm>
              <a:prstGeom prst="rect">
                <a:avLst/>
              </a:prstGeom>
              <a:solidFill>
                <a:srgbClr val="4E0D00"/>
              </a:solidFill>
              <a:ln>
                <a:noFill/>
              </a:ln>
            </p:spPr>
          </p:sp>
        </p:grpSp>
        <p:sp>
          <p:nvSpPr>
            <p:cNvPr id="273" name="Line 273"/>
            <p:cNvSpPr/>
            <p:nvPr/>
          </p:nvSpPr>
          <p:spPr>
            <a:xfrm>
              <a:off x="5295900" y="3286125"/>
              <a:ext cx="1219200" cy="9525"/>
            </a:xfrm>
            <a:custGeom>
              <a:avLst/>
              <a:gdLst/>
              <a:ahLst/>
              <a:cxnLst/>
              <a:rect l="l" t="t" r="r" b="b"/>
              <a:pathLst>
                <a:path w="1219200" h="9525">
                  <a:moveTo>
                    <a:pt x="0" y="0"/>
                  </a:moveTo>
                  <a:lnTo>
                    <a:pt x="1219200" y="0"/>
                  </a:lnTo>
                </a:path>
              </a:pathLst>
            </a:custGeom>
            <a:noFill/>
            <a:ln w="7620">
              <a:solidFill>
                <a:srgbClr val="944130"/>
              </a:solidFill>
              <a:prstDash val="sysDot"/>
            </a:ln>
          </p:spPr>
        </p:sp>
        <p:sp>
          <p:nvSpPr>
            <p:cNvPr id="274" name="Polyline 274"/>
            <p:cNvSpPr/>
            <p:nvPr/>
          </p:nvSpPr>
          <p:spPr>
            <a:xfrm>
              <a:off x="5338762" y="3120390"/>
              <a:ext cx="1140143" cy="594360"/>
            </a:xfrm>
            <a:custGeom>
              <a:avLst/>
              <a:gdLst/>
              <a:ahLst/>
              <a:cxnLst/>
              <a:rect l="l" t="t" r="r" b="b"/>
              <a:pathLst>
                <a:path w="1140143" h="594360">
                  <a:moveTo>
                    <a:pt x="0" y="594360"/>
                  </a:moveTo>
                  <a:lnTo>
                    <a:pt x="126682" y="389572"/>
                  </a:lnTo>
                  <a:lnTo>
                    <a:pt x="253365" y="262890"/>
                  </a:lnTo>
                  <a:lnTo>
                    <a:pt x="380047" y="172402"/>
                  </a:lnTo>
                  <a:lnTo>
                    <a:pt x="506730" y="113347"/>
                  </a:lnTo>
                  <a:lnTo>
                    <a:pt x="633412" y="73342"/>
                  </a:lnTo>
                  <a:lnTo>
                    <a:pt x="760095" y="41910"/>
                  </a:lnTo>
                  <a:lnTo>
                    <a:pt x="886778" y="20002"/>
                  </a:lnTo>
                  <a:lnTo>
                    <a:pt x="1013460" y="5715"/>
                  </a:lnTo>
                  <a:lnTo>
                    <a:pt x="1140143" y="0"/>
                  </a:lnTo>
                </a:path>
              </a:pathLst>
            </a:custGeom>
            <a:noFill/>
            <a:ln w="12382">
              <a:solidFill>
                <a:srgbClr val="944130"/>
              </a:solidFill>
            </a:ln>
          </p:spPr>
        </p:sp>
        <p:grpSp>
          <p:nvGrpSpPr>
            <p:cNvPr id="285" name="Group 285"/>
            <p:cNvGrpSpPr/>
            <p:nvPr/>
          </p:nvGrpSpPr>
          <p:grpSpPr>
            <a:xfrm>
              <a:off x="5323522" y="3105150"/>
              <a:ext cx="1170623" cy="624840"/>
              <a:chOff x="5323522" y="3105150"/>
              <a:chExt cx="1170623" cy="624840"/>
            </a:xfrm>
          </p:grpSpPr>
          <p:sp>
            <p:nvSpPr>
              <p:cNvPr id="275" name="Ellipse 275"/>
              <p:cNvSpPr/>
              <p:nvPr/>
            </p:nvSpPr>
            <p:spPr>
              <a:xfrm>
                <a:off x="5323522" y="3699510"/>
                <a:ext cx="30480" cy="30480"/>
              </a:xfrm>
              <a:prstGeom prst="ellipse">
                <a:avLst/>
              </a:prstGeom>
              <a:solidFill>
                <a:srgbClr val="944130"/>
              </a:solidFill>
              <a:ln>
                <a:noFill/>
              </a:ln>
            </p:spPr>
          </p:sp>
          <p:sp>
            <p:nvSpPr>
              <p:cNvPr id="276" name="Ellipse 276"/>
              <p:cNvSpPr/>
              <p:nvPr/>
            </p:nvSpPr>
            <p:spPr>
              <a:xfrm>
                <a:off x="5450205" y="3494722"/>
                <a:ext cx="30480" cy="30480"/>
              </a:xfrm>
              <a:prstGeom prst="ellipse">
                <a:avLst/>
              </a:prstGeom>
              <a:solidFill>
                <a:srgbClr val="944130"/>
              </a:solidFill>
              <a:ln>
                <a:noFill/>
              </a:ln>
            </p:spPr>
          </p:sp>
          <p:sp>
            <p:nvSpPr>
              <p:cNvPr id="277" name="Ellipse 277"/>
              <p:cNvSpPr/>
              <p:nvPr/>
            </p:nvSpPr>
            <p:spPr>
              <a:xfrm>
                <a:off x="5576888" y="3368040"/>
                <a:ext cx="30480" cy="30480"/>
              </a:xfrm>
              <a:prstGeom prst="ellipse">
                <a:avLst/>
              </a:prstGeom>
              <a:solidFill>
                <a:srgbClr val="944130"/>
              </a:solidFill>
              <a:ln>
                <a:noFill/>
              </a:ln>
            </p:spPr>
          </p:sp>
          <p:sp>
            <p:nvSpPr>
              <p:cNvPr id="278" name="Ellipse 278"/>
              <p:cNvSpPr/>
              <p:nvPr/>
            </p:nvSpPr>
            <p:spPr>
              <a:xfrm>
                <a:off x="5703570" y="3277552"/>
                <a:ext cx="30480" cy="30480"/>
              </a:xfrm>
              <a:prstGeom prst="ellipse">
                <a:avLst/>
              </a:prstGeom>
              <a:solidFill>
                <a:srgbClr val="944130"/>
              </a:solidFill>
              <a:ln>
                <a:noFill/>
              </a:ln>
            </p:spPr>
          </p:sp>
          <p:sp>
            <p:nvSpPr>
              <p:cNvPr id="279" name="Ellipse 279"/>
              <p:cNvSpPr/>
              <p:nvPr/>
            </p:nvSpPr>
            <p:spPr>
              <a:xfrm>
                <a:off x="5830252" y="3218498"/>
                <a:ext cx="30480" cy="30480"/>
              </a:xfrm>
              <a:prstGeom prst="ellipse">
                <a:avLst/>
              </a:prstGeom>
              <a:solidFill>
                <a:srgbClr val="944130"/>
              </a:solidFill>
              <a:ln>
                <a:noFill/>
              </a:ln>
            </p:spPr>
          </p:sp>
          <p:sp>
            <p:nvSpPr>
              <p:cNvPr id="280" name="Ellipse 280"/>
              <p:cNvSpPr/>
              <p:nvPr/>
            </p:nvSpPr>
            <p:spPr>
              <a:xfrm>
                <a:off x="5956935" y="3178492"/>
                <a:ext cx="30480" cy="30480"/>
              </a:xfrm>
              <a:prstGeom prst="ellipse">
                <a:avLst/>
              </a:prstGeom>
              <a:solidFill>
                <a:srgbClr val="944130"/>
              </a:solidFill>
              <a:ln>
                <a:noFill/>
              </a:ln>
            </p:spPr>
          </p:sp>
          <p:sp>
            <p:nvSpPr>
              <p:cNvPr id="281" name="Ellipse 281"/>
              <p:cNvSpPr/>
              <p:nvPr/>
            </p:nvSpPr>
            <p:spPr>
              <a:xfrm>
                <a:off x="6083617" y="3147060"/>
                <a:ext cx="30480" cy="30480"/>
              </a:xfrm>
              <a:prstGeom prst="ellipse">
                <a:avLst/>
              </a:prstGeom>
              <a:solidFill>
                <a:srgbClr val="944130"/>
              </a:solidFill>
              <a:ln>
                <a:noFill/>
              </a:ln>
            </p:spPr>
          </p:sp>
          <p:sp>
            <p:nvSpPr>
              <p:cNvPr id="282" name="Ellipse 282"/>
              <p:cNvSpPr/>
              <p:nvPr/>
            </p:nvSpPr>
            <p:spPr>
              <a:xfrm>
                <a:off x="6210300" y="3125152"/>
                <a:ext cx="30480" cy="30480"/>
              </a:xfrm>
              <a:prstGeom prst="ellipse">
                <a:avLst/>
              </a:prstGeom>
              <a:solidFill>
                <a:srgbClr val="944130"/>
              </a:solidFill>
              <a:ln>
                <a:noFill/>
              </a:ln>
            </p:spPr>
          </p:sp>
          <p:sp>
            <p:nvSpPr>
              <p:cNvPr id="283" name="Ellipse 283"/>
              <p:cNvSpPr/>
              <p:nvPr/>
            </p:nvSpPr>
            <p:spPr>
              <a:xfrm>
                <a:off x="6336982" y="3110865"/>
                <a:ext cx="30480" cy="30480"/>
              </a:xfrm>
              <a:prstGeom prst="ellipse">
                <a:avLst/>
              </a:prstGeom>
              <a:solidFill>
                <a:srgbClr val="944130"/>
              </a:solidFill>
              <a:ln>
                <a:noFill/>
              </a:ln>
            </p:spPr>
          </p:sp>
          <p:sp>
            <p:nvSpPr>
              <p:cNvPr id="284" name="Ellipse 284"/>
              <p:cNvSpPr/>
              <p:nvPr/>
            </p:nvSpPr>
            <p:spPr>
              <a:xfrm>
                <a:off x="6463665" y="3105150"/>
                <a:ext cx="30480" cy="30480"/>
              </a:xfrm>
              <a:prstGeom prst="ellipse">
                <a:avLst/>
              </a:prstGeom>
              <a:solidFill>
                <a:srgbClr val="944130"/>
              </a:solidFill>
              <a:ln>
                <a:noFill/>
              </a:ln>
            </p:spPr>
          </p:sp>
        </p:grpSp>
        <p:sp>
          <p:nvSpPr>
            <p:cNvPr id="286" name="Line 286"/>
            <p:cNvSpPr/>
            <p:nvPr/>
          </p:nvSpPr>
          <p:spPr>
            <a:xfrm>
              <a:off x="5295900" y="4010025"/>
              <a:ext cx="1219200" cy="9525"/>
            </a:xfrm>
            <a:custGeom>
              <a:avLst/>
              <a:gdLst/>
              <a:ahLst/>
              <a:cxnLst/>
              <a:rect l="l" t="t" r="r" b="b"/>
              <a:pathLst>
                <a:path w="1219200" h="9525">
                  <a:moveTo>
                    <a:pt x="0" y="0"/>
                  </a:moveTo>
                  <a:lnTo>
                    <a:pt x="1219200" y="0"/>
                  </a:lnTo>
                </a:path>
              </a:pathLst>
            </a:custGeom>
            <a:noFill/>
            <a:ln w="9525">
              <a:solidFill>
                <a:srgbClr val="C8998F"/>
              </a:solidFill>
            </a:ln>
          </p:spPr>
        </p:sp>
        <p:grpSp>
          <p:nvGrpSpPr>
            <p:cNvPr id="299" name="Group 299"/>
            <p:cNvGrpSpPr/>
            <p:nvPr/>
          </p:nvGrpSpPr>
          <p:grpSpPr>
            <a:xfrm>
              <a:off x="5104249" y="3081099"/>
              <a:ext cx="1494770" cy="1078706"/>
              <a:chOff x="5104249" y="3081099"/>
              <a:chExt cx="1494770" cy="1078706"/>
            </a:xfrm>
          </p:grpSpPr>
          <p:sp>
            <p:nvSpPr>
              <p:cNvPr id="287" name="TextBox 287"/>
              <p:cNvSpPr txBox="1"/>
              <p:nvPr/>
            </p:nvSpPr>
            <p:spPr>
              <a:xfrm>
                <a:off x="5104249" y="3081099"/>
                <a:ext cx="16783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100%</a:t>
                </a:r>
              </a:p>
            </p:txBody>
          </p:sp>
          <p:sp>
            <p:nvSpPr>
              <p:cNvPr id="288" name="TextBox 288"/>
              <p:cNvSpPr txBox="1"/>
              <p:nvPr/>
            </p:nvSpPr>
            <p:spPr>
              <a:xfrm>
                <a:off x="5140529" y="326207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80%</a:t>
                </a:r>
              </a:p>
            </p:txBody>
          </p:sp>
          <p:sp>
            <p:nvSpPr>
              <p:cNvPr id="289" name="TextBox 289"/>
              <p:cNvSpPr txBox="1"/>
              <p:nvPr/>
            </p:nvSpPr>
            <p:spPr>
              <a:xfrm>
                <a:off x="5140529" y="344304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60%</a:t>
                </a:r>
              </a:p>
            </p:txBody>
          </p:sp>
          <p:sp>
            <p:nvSpPr>
              <p:cNvPr id="290" name="TextBox 290"/>
              <p:cNvSpPr txBox="1"/>
              <p:nvPr/>
            </p:nvSpPr>
            <p:spPr>
              <a:xfrm>
                <a:off x="5140529" y="3624024"/>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40%</a:t>
                </a:r>
              </a:p>
            </p:txBody>
          </p:sp>
          <p:sp>
            <p:nvSpPr>
              <p:cNvPr id="291" name="TextBox 291"/>
              <p:cNvSpPr txBox="1"/>
              <p:nvPr/>
            </p:nvSpPr>
            <p:spPr>
              <a:xfrm>
                <a:off x="5140529" y="3804999"/>
                <a:ext cx="13155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20%</a:t>
                </a:r>
              </a:p>
            </p:txBody>
          </p:sp>
          <p:sp>
            <p:nvSpPr>
              <p:cNvPr id="292" name="TextBox 292"/>
              <p:cNvSpPr txBox="1"/>
              <p:nvPr/>
            </p:nvSpPr>
            <p:spPr>
              <a:xfrm>
                <a:off x="5176810" y="3985974"/>
                <a:ext cx="95278" cy="97631"/>
              </a:xfrm>
              <a:prstGeom prst="rect">
                <a:avLst/>
              </a:prstGeom>
              <a:noFill/>
              <a:ln>
                <a:noFill/>
              </a:ln>
            </p:spPr>
            <p:txBody>
              <a:bodyPr wrap="none" lIns="0" tIns="0" rIns="0" bIns="0" anchor="t" anchorCtr="0">
                <a:spAutoFit/>
              </a:bodyPr>
              <a:lstStyle/>
              <a:p>
                <a:pPr algn="r"/>
                <a:r>
                  <a:rPr lang="zh-CN" sz="490" dirty="0">
                    <a:solidFill>
                      <a:srgbClr val="7E6A66"/>
                    </a:solidFill>
                    <a:latin typeface="+mn-lt"/>
                    <a:ea typeface="+mn-ea"/>
                    <a:cs typeface="+mn-cs"/>
                  </a:rPr>
                  <a:t>0%</a:t>
                </a:r>
              </a:p>
            </p:txBody>
          </p:sp>
          <p:sp>
            <p:nvSpPr>
              <p:cNvPr id="293" name="TextBox 293"/>
              <p:cNvSpPr txBox="1"/>
              <p:nvPr/>
            </p:nvSpPr>
            <p:spPr>
              <a:xfrm>
                <a:off x="5248261" y="4062174"/>
                <a:ext cx="9527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0%</a:t>
                </a:r>
              </a:p>
            </p:txBody>
          </p:sp>
          <p:sp>
            <p:nvSpPr>
              <p:cNvPr id="294" name="TextBox 294"/>
              <p:cNvSpPr txBox="1"/>
              <p:nvPr/>
            </p:nvSpPr>
            <p:spPr>
              <a:xfrm>
                <a:off x="5473961" y="406217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20%</a:t>
                </a:r>
              </a:p>
            </p:txBody>
          </p:sp>
          <p:sp>
            <p:nvSpPr>
              <p:cNvPr id="295" name="TextBox 295"/>
              <p:cNvSpPr txBox="1"/>
              <p:nvPr/>
            </p:nvSpPr>
            <p:spPr>
              <a:xfrm>
                <a:off x="5717801" y="406217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40%</a:t>
                </a:r>
              </a:p>
            </p:txBody>
          </p:sp>
          <p:sp>
            <p:nvSpPr>
              <p:cNvPr id="296" name="TextBox 296"/>
              <p:cNvSpPr txBox="1"/>
              <p:nvPr/>
            </p:nvSpPr>
            <p:spPr>
              <a:xfrm>
                <a:off x="5961641" y="406217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60%</a:t>
                </a:r>
              </a:p>
            </p:txBody>
          </p:sp>
          <p:sp>
            <p:nvSpPr>
              <p:cNvPr id="297" name="TextBox 297"/>
              <p:cNvSpPr txBox="1"/>
              <p:nvPr/>
            </p:nvSpPr>
            <p:spPr>
              <a:xfrm>
                <a:off x="6205481" y="4062174"/>
                <a:ext cx="13155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80%</a:t>
                </a:r>
              </a:p>
            </p:txBody>
          </p:sp>
          <p:sp>
            <p:nvSpPr>
              <p:cNvPr id="298" name="TextBox 298"/>
              <p:cNvSpPr txBox="1"/>
              <p:nvPr/>
            </p:nvSpPr>
            <p:spPr>
              <a:xfrm>
                <a:off x="6431181" y="4062174"/>
                <a:ext cx="167838" cy="97631"/>
              </a:xfrm>
              <a:prstGeom prst="rect">
                <a:avLst/>
              </a:prstGeom>
              <a:noFill/>
              <a:ln>
                <a:noFill/>
              </a:ln>
            </p:spPr>
            <p:txBody>
              <a:bodyPr wrap="none" lIns="0" tIns="0" rIns="0" bIns="0" anchor="t" anchorCtr="0">
                <a:spAutoFit/>
              </a:bodyPr>
              <a:lstStyle/>
              <a:p>
                <a:pPr algn="ctr"/>
                <a:r>
                  <a:rPr lang="zh-CN" sz="490" dirty="0">
                    <a:solidFill>
                      <a:srgbClr val="7E6A66"/>
                    </a:solidFill>
                    <a:latin typeface="+mn-lt"/>
                    <a:ea typeface="+mn-ea"/>
                    <a:cs typeface="+mn-cs"/>
                  </a:rPr>
                  <a:t>100%</a:t>
                </a:r>
              </a:p>
            </p:txBody>
          </p:sp>
        </p:grpSp>
        <p:sp>
          <p:nvSpPr>
            <p:cNvPr id="300" name="TextBox 300"/>
            <p:cNvSpPr txBox="1"/>
            <p:nvPr/>
          </p:nvSpPr>
          <p:spPr>
            <a:xfrm>
              <a:off x="5254993" y="4198382"/>
              <a:ext cx="1129563"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成本项目占比（按金额降序）</a:t>
              </a:r>
            </a:p>
          </p:txBody>
        </p:sp>
        <p:sp>
          <p:nvSpPr>
            <p:cNvPr id="301" name="Rectangle 301"/>
            <p:cNvSpPr/>
            <p:nvPr/>
          </p:nvSpPr>
          <p:spPr>
            <a:xfrm>
              <a:off x="6705600" y="2762250"/>
              <a:ext cx="1543050" cy="1581150"/>
            </a:xfrm>
            <a:prstGeom prst="rect">
              <a:avLst/>
            </a:prstGeom>
            <a:solidFill>
              <a:srgbClr val="FFFFFF"/>
            </a:solidFill>
            <a:ln w="9525">
              <a:solidFill>
                <a:srgbClr val="C7D2E4"/>
              </a:solidFill>
            </a:ln>
          </p:spPr>
        </p:sp>
        <p:sp>
          <p:nvSpPr>
            <p:cNvPr id="302" name="Rectangle 302"/>
            <p:cNvSpPr/>
            <p:nvPr/>
          </p:nvSpPr>
          <p:spPr>
            <a:xfrm>
              <a:off x="6877050" y="2971800"/>
              <a:ext cx="114300" cy="85725"/>
            </a:xfrm>
            <a:prstGeom prst="rect">
              <a:avLst/>
            </a:prstGeom>
            <a:solidFill>
              <a:srgbClr val="4E0D00"/>
            </a:solidFill>
            <a:ln>
              <a:noFill/>
            </a:ln>
          </p:spPr>
        </p:sp>
        <p:sp>
          <p:nvSpPr>
            <p:cNvPr id="303" name="TextBox 303"/>
            <p:cNvSpPr txBox="1"/>
            <p:nvPr/>
          </p:nvSpPr>
          <p:spPr>
            <a:xfrm>
              <a:off x="7062788" y="2975134"/>
              <a:ext cx="741858"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单项贡献（左轴）</a:t>
              </a:r>
            </a:p>
          </p:txBody>
        </p:sp>
        <p:sp>
          <p:nvSpPr>
            <p:cNvPr id="304" name="Line 304"/>
            <p:cNvSpPr/>
            <p:nvPr/>
          </p:nvSpPr>
          <p:spPr>
            <a:xfrm>
              <a:off x="6877050" y="3276600"/>
              <a:ext cx="133350" cy="9525"/>
            </a:xfrm>
            <a:custGeom>
              <a:avLst/>
              <a:gdLst/>
              <a:ahLst/>
              <a:cxnLst/>
              <a:rect l="l" t="t" r="r" b="b"/>
              <a:pathLst>
                <a:path w="133350" h="9525">
                  <a:moveTo>
                    <a:pt x="0" y="0"/>
                  </a:moveTo>
                  <a:lnTo>
                    <a:pt x="133350" y="0"/>
                  </a:lnTo>
                </a:path>
              </a:pathLst>
            </a:custGeom>
            <a:noFill/>
            <a:ln w="12382">
              <a:solidFill>
                <a:srgbClr val="944130"/>
              </a:solidFill>
            </a:ln>
          </p:spPr>
        </p:sp>
        <p:sp>
          <p:nvSpPr>
            <p:cNvPr id="305" name="Ellipse 305"/>
            <p:cNvSpPr/>
            <p:nvPr/>
          </p:nvSpPr>
          <p:spPr>
            <a:xfrm>
              <a:off x="6924675" y="3257550"/>
              <a:ext cx="38100" cy="38100"/>
            </a:xfrm>
            <a:prstGeom prst="ellipse">
              <a:avLst/>
            </a:prstGeom>
            <a:solidFill>
              <a:srgbClr val="944130"/>
            </a:solidFill>
            <a:ln>
              <a:noFill/>
            </a:ln>
          </p:spPr>
        </p:sp>
        <p:sp>
          <p:nvSpPr>
            <p:cNvPr id="306" name="TextBox 306"/>
            <p:cNvSpPr txBox="1"/>
            <p:nvPr/>
          </p:nvSpPr>
          <p:spPr>
            <a:xfrm>
              <a:off x="7062788" y="3241834"/>
              <a:ext cx="741858"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累计贡献（右轴）</a:t>
              </a:r>
            </a:p>
          </p:txBody>
        </p:sp>
        <p:sp>
          <p:nvSpPr>
            <p:cNvPr id="307" name="Line 307"/>
            <p:cNvSpPr/>
            <p:nvPr/>
          </p:nvSpPr>
          <p:spPr>
            <a:xfrm>
              <a:off x="6877050" y="3543300"/>
              <a:ext cx="133350" cy="9525"/>
            </a:xfrm>
            <a:custGeom>
              <a:avLst/>
              <a:gdLst/>
              <a:ahLst/>
              <a:cxnLst/>
              <a:rect l="l" t="t" r="r" b="b"/>
              <a:pathLst>
                <a:path w="133350" h="9525">
                  <a:moveTo>
                    <a:pt x="0" y="0"/>
                  </a:moveTo>
                  <a:lnTo>
                    <a:pt x="133350" y="0"/>
                  </a:lnTo>
                </a:path>
              </a:pathLst>
            </a:custGeom>
            <a:noFill/>
            <a:ln w="8572">
              <a:solidFill>
                <a:srgbClr val="944130"/>
              </a:solidFill>
              <a:prstDash val="sysDot"/>
            </a:ln>
          </p:spPr>
        </p:sp>
        <p:sp>
          <p:nvSpPr>
            <p:cNvPr id="308" name="TextBox 308"/>
            <p:cNvSpPr txBox="1"/>
            <p:nvPr/>
          </p:nvSpPr>
          <p:spPr>
            <a:xfrm>
              <a:off x="7062788" y="3508534"/>
              <a:ext cx="453502"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80%贡献线</a:t>
              </a:r>
            </a:p>
          </p:txBody>
        </p:sp>
        <p:sp>
          <p:nvSpPr>
            <p:cNvPr id="309" name="Line 309"/>
            <p:cNvSpPr/>
            <p:nvPr/>
          </p:nvSpPr>
          <p:spPr>
            <a:xfrm>
              <a:off x="6877050" y="3810000"/>
              <a:ext cx="133350" cy="9525"/>
            </a:xfrm>
            <a:custGeom>
              <a:avLst/>
              <a:gdLst/>
              <a:ahLst/>
              <a:cxnLst/>
              <a:rect l="l" t="t" r="r" b="b"/>
              <a:pathLst>
                <a:path w="133350" h="9525">
                  <a:moveTo>
                    <a:pt x="0" y="0"/>
                  </a:moveTo>
                  <a:lnTo>
                    <a:pt x="133350" y="0"/>
                  </a:lnTo>
                </a:path>
              </a:pathLst>
            </a:custGeom>
            <a:noFill/>
            <a:ln w="8572">
              <a:solidFill>
                <a:srgbClr val="C8998F"/>
              </a:solidFill>
              <a:prstDash val="sysDot"/>
            </a:ln>
          </p:spPr>
        </p:sp>
        <p:sp>
          <p:nvSpPr>
            <p:cNvPr id="310" name="TextBox 310"/>
            <p:cNvSpPr txBox="1"/>
            <p:nvPr/>
          </p:nvSpPr>
          <p:spPr>
            <a:xfrm>
              <a:off x="7062788" y="3775234"/>
              <a:ext cx="453502"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20%占比线</a:t>
              </a:r>
            </a:p>
          </p:txBody>
        </p:sp>
        <p:sp>
          <p:nvSpPr>
            <p:cNvPr id="311" name="Line 311"/>
            <p:cNvSpPr/>
            <p:nvPr/>
          </p:nvSpPr>
          <p:spPr>
            <a:xfrm>
              <a:off x="6877050" y="4076700"/>
              <a:ext cx="1200150" cy="9525"/>
            </a:xfrm>
            <a:custGeom>
              <a:avLst/>
              <a:gdLst/>
              <a:ahLst/>
              <a:cxnLst/>
              <a:rect l="l" t="t" r="r" b="b"/>
              <a:pathLst>
                <a:path w="1200150" h="9525">
                  <a:moveTo>
                    <a:pt x="0" y="0"/>
                  </a:moveTo>
                  <a:lnTo>
                    <a:pt x="1200150" y="0"/>
                  </a:lnTo>
                </a:path>
              </a:pathLst>
            </a:custGeom>
            <a:noFill/>
            <a:ln w="9525">
              <a:solidFill>
                <a:srgbClr val="D8E1EE"/>
              </a:solidFill>
              <a:custDash>
                <a:ds d="300000" sp="300000"/>
              </a:custDash>
            </a:ln>
          </p:spPr>
        </p:sp>
        <p:sp>
          <p:nvSpPr>
            <p:cNvPr id="312" name="TextBox 312"/>
            <p:cNvSpPr txBox="1"/>
            <p:nvPr/>
          </p:nvSpPr>
          <p:spPr>
            <a:xfrm>
              <a:off x="6872288" y="4164330"/>
              <a:ext cx="817245" cy="119062"/>
            </a:xfrm>
            <a:prstGeom prst="rect">
              <a:avLst/>
            </a:prstGeom>
            <a:noFill/>
            <a:ln>
              <a:noFill/>
            </a:ln>
          </p:spPr>
          <p:txBody>
            <a:bodyPr wrap="none" lIns="0" tIns="0" rIns="0" bIns="0" anchor="t" anchorCtr="0">
              <a:spAutoFit/>
            </a:bodyPr>
            <a:lstStyle/>
            <a:p>
              <a:pPr algn="l"/>
              <a:r>
                <a:rPr lang="zh-CN" sz="600" dirty="0">
                  <a:solidFill>
                    <a:srgbClr val="7E6A66"/>
                  </a:solidFill>
                  <a:latin typeface="+mn-lt"/>
                  <a:ea typeface="+mn-ea"/>
                  <a:cs typeface="+mn-cs"/>
                </a:rPr>
                <a:t>按贡献降序排列，定位</a:t>
              </a:r>
            </a:p>
          </p:txBody>
        </p:sp>
        <p:sp>
          <p:nvSpPr>
            <p:cNvPr id="313" name="TextBox 313"/>
            <p:cNvSpPr txBox="1"/>
            <p:nvPr/>
          </p:nvSpPr>
          <p:spPr>
            <a:xfrm>
              <a:off x="6872288" y="4278630"/>
              <a:ext cx="817245" cy="119062"/>
            </a:xfrm>
            <a:prstGeom prst="rect">
              <a:avLst/>
            </a:prstGeom>
            <a:noFill/>
            <a:ln>
              <a:noFill/>
            </a:ln>
          </p:spPr>
          <p:txBody>
            <a:bodyPr wrap="none" lIns="0" tIns="0" rIns="0" bIns="0" anchor="t" anchorCtr="0">
              <a:spAutoFit/>
            </a:bodyPr>
            <a:lstStyle/>
            <a:p>
              <a:pPr algn="l"/>
              <a:r>
                <a:rPr lang="zh-CN" sz="600" dirty="0">
                  <a:solidFill>
                    <a:srgbClr val="7E6A66"/>
                  </a:solidFill>
                  <a:latin typeface="+mn-lt"/>
                  <a:ea typeface="+mn-ea"/>
                  <a:cs typeface="+mn-cs"/>
                </a:rPr>
                <a:t>驱动多数结果的关键项</a:t>
              </a:r>
            </a:p>
          </p:txBody>
        </p:sp>
      </p:grpSp>
      <p:grpSp>
        <p:nvGrpSpPr>
          <p:cNvPr id="365" name="matrix"/>
          <p:cNvGrpSpPr/>
          <p:nvPr/>
        </p:nvGrpSpPr>
        <p:grpSpPr>
          <a:xfrm>
            <a:off x="8424697" y="875824"/>
            <a:ext cx="3481553" cy="3950256"/>
            <a:chOff x="8424697" y="875824"/>
            <a:chExt cx="3481553" cy="3950256"/>
          </a:xfrm>
        </p:grpSpPr>
        <p:sp>
          <p:nvSpPr>
            <p:cNvPr id="315" name="TextBox 315"/>
            <p:cNvSpPr txBox="1"/>
            <p:nvPr/>
          </p:nvSpPr>
          <p:spPr>
            <a:xfrm>
              <a:off x="9178290" y="875824"/>
              <a:ext cx="1988820" cy="190690"/>
            </a:xfrm>
            <a:prstGeom prst="rect">
              <a:avLst/>
            </a:prstGeom>
            <a:noFill/>
            <a:ln>
              <a:noFill/>
            </a:ln>
          </p:spPr>
          <p:txBody>
            <a:bodyPr wrap="none" lIns="0" tIns="0" rIns="0" bIns="0" anchor="t" anchorCtr="0">
              <a:spAutoFit/>
            </a:bodyPr>
            <a:lstStyle/>
            <a:p>
              <a:pPr algn="ctr"/>
              <a:r>
                <a:rPr lang="zh-CN" sz="980" b="1" dirty="0">
                  <a:solidFill>
                    <a:srgbClr val="4E0D00"/>
                  </a:solidFill>
                  <a:latin typeface="+mn-lt"/>
                  <a:ea typeface="+mn-ea"/>
                  <a:cs typeface="+mn-cs"/>
                </a:rPr>
                <a:t>基于价值与投入的议题优先级判断</a:t>
              </a:r>
            </a:p>
          </p:txBody>
        </p:sp>
        <p:sp>
          <p:nvSpPr>
            <p:cNvPr id="316" name="Line 316"/>
            <p:cNvSpPr/>
            <p:nvPr/>
          </p:nvSpPr>
          <p:spPr>
            <a:xfrm flipV="1">
              <a:off x="8648700" y="1238250"/>
              <a:ext cx="1" cy="3238500"/>
            </a:xfrm>
            <a:prstGeom prst="line">
              <a:avLst/>
            </a:prstGeom>
            <a:noFill/>
            <a:ln w="11430">
              <a:solidFill>
                <a:srgbClr val="7E6A66"/>
              </a:solidFill>
              <a:tailEnd type="triangle" w="lg" len="lg"/>
            </a:ln>
          </p:spPr>
        </p:sp>
        <p:sp>
          <p:nvSpPr>
            <p:cNvPr id="317" name="TextBox 317"/>
            <p:cNvSpPr txBox="1"/>
            <p:nvPr/>
          </p:nvSpPr>
          <p:spPr>
            <a:xfrm>
              <a:off x="8483867" y="1222534"/>
              <a:ext cx="101067"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高</a:t>
              </a:r>
            </a:p>
          </p:txBody>
        </p:sp>
        <p:sp>
          <p:nvSpPr>
            <p:cNvPr id="318" name="TextBox 318"/>
            <p:cNvSpPr txBox="1"/>
            <p:nvPr/>
          </p:nvSpPr>
          <p:spPr>
            <a:xfrm>
              <a:off x="8483867" y="4441984"/>
              <a:ext cx="101067"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低</a:t>
              </a:r>
            </a:p>
          </p:txBody>
        </p:sp>
        <p:sp>
          <p:nvSpPr>
            <p:cNvPr id="319" name="TextBox 319"/>
            <p:cNvSpPr txBox="1"/>
            <p:nvPr/>
          </p:nvSpPr>
          <p:spPr>
            <a:xfrm>
              <a:off x="8424697" y="1713786"/>
              <a:ext cx="10510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价</a:t>
              </a:r>
            </a:p>
          </p:txBody>
        </p:sp>
        <p:sp>
          <p:nvSpPr>
            <p:cNvPr id="320" name="TextBox 320"/>
            <p:cNvSpPr txBox="1"/>
            <p:nvPr/>
          </p:nvSpPr>
          <p:spPr>
            <a:xfrm>
              <a:off x="8424697" y="1847136"/>
              <a:ext cx="10510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值</a:t>
              </a:r>
            </a:p>
          </p:txBody>
        </p:sp>
        <p:sp>
          <p:nvSpPr>
            <p:cNvPr id="321" name="TextBox 321"/>
            <p:cNvSpPr txBox="1"/>
            <p:nvPr/>
          </p:nvSpPr>
          <p:spPr>
            <a:xfrm>
              <a:off x="8424697" y="1980486"/>
              <a:ext cx="10510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贡</a:t>
              </a:r>
            </a:p>
          </p:txBody>
        </p:sp>
        <p:sp>
          <p:nvSpPr>
            <p:cNvPr id="322" name="TextBox 322"/>
            <p:cNvSpPr txBox="1"/>
            <p:nvPr/>
          </p:nvSpPr>
          <p:spPr>
            <a:xfrm>
              <a:off x="8424697" y="2113836"/>
              <a:ext cx="10510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献</a:t>
              </a:r>
            </a:p>
          </p:txBody>
        </p:sp>
        <p:sp>
          <p:nvSpPr>
            <p:cNvPr id="323" name="Line 323"/>
            <p:cNvSpPr/>
            <p:nvPr/>
          </p:nvSpPr>
          <p:spPr>
            <a:xfrm>
              <a:off x="8715375" y="4591050"/>
              <a:ext cx="3190875" cy="1"/>
            </a:xfrm>
            <a:prstGeom prst="line">
              <a:avLst/>
            </a:prstGeom>
            <a:noFill/>
            <a:ln w="11430">
              <a:solidFill>
                <a:srgbClr val="7E6A66"/>
              </a:solidFill>
              <a:tailEnd type="triangle" w="lg" len="lg"/>
            </a:ln>
          </p:spPr>
        </p:sp>
        <p:sp>
          <p:nvSpPr>
            <p:cNvPr id="324" name="TextBox 324"/>
            <p:cNvSpPr txBox="1"/>
            <p:nvPr/>
          </p:nvSpPr>
          <p:spPr>
            <a:xfrm>
              <a:off x="8777288" y="4689634"/>
              <a:ext cx="101067"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低</a:t>
              </a:r>
            </a:p>
          </p:txBody>
        </p:sp>
        <p:sp>
          <p:nvSpPr>
            <p:cNvPr id="325" name="TextBox 325"/>
            <p:cNvSpPr txBox="1"/>
            <p:nvPr/>
          </p:nvSpPr>
          <p:spPr>
            <a:xfrm>
              <a:off x="10138702" y="4685586"/>
              <a:ext cx="391846"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分析投入</a:t>
              </a:r>
            </a:p>
          </p:txBody>
        </p:sp>
        <p:sp>
          <p:nvSpPr>
            <p:cNvPr id="326" name="TextBox 326"/>
            <p:cNvSpPr txBox="1"/>
            <p:nvPr/>
          </p:nvSpPr>
          <p:spPr>
            <a:xfrm>
              <a:off x="11798567" y="4689634"/>
              <a:ext cx="101067"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高</a:t>
              </a:r>
            </a:p>
          </p:txBody>
        </p:sp>
        <p:sp>
          <p:nvSpPr>
            <p:cNvPr id="327" name="Rectangle 327"/>
            <p:cNvSpPr/>
            <p:nvPr/>
          </p:nvSpPr>
          <p:spPr>
            <a:xfrm>
              <a:off x="8743950" y="1143000"/>
              <a:ext cx="1524000" cy="1600200"/>
            </a:xfrm>
            <a:prstGeom prst="rect">
              <a:avLst/>
            </a:prstGeom>
            <a:solidFill>
              <a:srgbClr val="4E0D00"/>
            </a:solidFill>
            <a:ln>
              <a:noFill/>
            </a:ln>
          </p:spPr>
        </p:sp>
        <p:sp>
          <p:nvSpPr>
            <p:cNvPr id="328" name="Ellipse 328"/>
            <p:cNvSpPr/>
            <p:nvPr/>
          </p:nvSpPr>
          <p:spPr>
            <a:xfrm>
              <a:off x="8877300" y="1314450"/>
              <a:ext cx="266700" cy="266700"/>
            </a:xfrm>
            <a:prstGeom prst="ellipse">
              <a:avLst/>
            </a:prstGeom>
            <a:solidFill>
              <a:srgbClr val="9E4D3D"/>
            </a:solidFill>
            <a:ln>
              <a:noFill/>
            </a:ln>
          </p:spPr>
        </p:sp>
        <p:grpSp>
          <p:nvGrpSpPr>
            <p:cNvPr id="332" name="Group 332"/>
            <p:cNvGrpSpPr/>
            <p:nvPr/>
          </p:nvGrpSpPr>
          <p:grpSpPr>
            <a:xfrm>
              <a:off x="8960644" y="1397794"/>
              <a:ext cx="100012" cy="100012"/>
              <a:chOff x="8960644" y="1397794"/>
              <a:chExt cx="100012" cy="100012"/>
            </a:xfrm>
          </p:grpSpPr>
          <p:sp>
            <p:nvSpPr>
              <p:cNvPr id="329" name="Freeform 329"/>
              <p:cNvSpPr/>
              <p:nvPr/>
            </p:nvSpPr>
            <p:spPr>
              <a:xfrm>
                <a:off x="9005094" y="144224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330" name="Freeform 330"/>
              <p:cNvSpPr/>
              <p:nvPr/>
            </p:nvSpPr>
            <p:spPr>
              <a:xfrm>
                <a:off x="8982869" y="1420019"/>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331" name="Freeform 331"/>
              <p:cNvSpPr/>
              <p:nvPr/>
            </p:nvSpPr>
            <p:spPr>
              <a:xfrm>
                <a:off x="8960644" y="13977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333" name="TextBox 333"/>
            <p:cNvSpPr txBox="1"/>
            <p:nvPr/>
          </p:nvSpPr>
          <p:spPr>
            <a:xfrm>
              <a:off x="9215438" y="139827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优先攻坚</a:t>
              </a:r>
            </a:p>
          </p:txBody>
        </p:sp>
        <p:sp>
          <p:nvSpPr>
            <p:cNvPr id="334" name="TextBox 334"/>
            <p:cNvSpPr txBox="1"/>
            <p:nvPr/>
          </p:nvSpPr>
          <p:spPr>
            <a:xfrm>
              <a:off x="9156740" y="1713786"/>
              <a:ext cx="69841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高价值 / 低投入</a:t>
              </a:r>
            </a:p>
          </p:txBody>
        </p:sp>
        <p:sp>
          <p:nvSpPr>
            <p:cNvPr id="335" name="TextBox 335"/>
            <p:cNvSpPr txBox="1"/>
            <p:nvPr/>
          </p:nvSpPr>
          <p:spPr>
            <a:xfrm>
              <a:off x="9070404" y="1931432"/>
              <a:ext cx="871093"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聚焦资源，深度分析，</a:t>
              </a:r>
            </a:p>
          </p:txBody>
        </p:sp>
        <p:sp>
          <p:nvSpPr>
            <p:cNvPr id="336" name="TextBox 336"/>
            <p:cNvSpPr txBox="1"/>
            <p:nvPr/>
          </p:nvSpPr>
          <p:spPr>
            <a:xfrm>
              <a:off x="9242717" y="2064782"/>
              <a:ext cx="526466"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推动关键突破</a:t>
              </a:r>
            </a:p>
          </p:txBody>
        </p:sp>
        <p:sp>
          <p:nvSpPr>
            <p:cNvPr id="337" name="Rectangle 337"/>
            <p:cNvSpPr/>
            <p:nvPr/>
          </p:nvSpPr>
          <p:spPr>
            <a:xfrm>
              <a:off x="10382250" y="1143000"/>
              <a:ext cx="1524000" cy="1600200"/>
            </a:xfrm>
            <a:prstGeom prst="rect">
              <a:avLst/>
            </a:prstGeom>
            <a:solidFill>
              <a:srgbClr val="944130"/>
            </a:solidFill>
            <a:ln>
              <a:noFill/>
            </a:ln>
          </p:spPr>
        </p:sp>
        <p:sp>
          <p:nvSpPr>
            <p:cNvPr id="338" name="Ellipse 338"/>
            <p:cNvSpPr/>
            <p:nvPr/>
          </p:nvSpPr>
          <p:spPr>
            <a:xfrm>
              <a:off x="10515600" y="1314450"/>
              <a:ext cx="266700" cy="266700"/>
            </a:xfrm>
            <a:prstGeom prst="ellipse">
              <a:avLst/>
            </a:prstGeom>
            <a:solidFill>
              <a:srgbClr val="A5594A"/>
            </a:solidFill>
            <a:ln>
              <a:noFill/>
            </a:ln>
          </p:spPr>
        </p:sp>
        <p:grpSp>
          <p:nvGrpSpPr>
            <p:cNvPr id="342" name="Group 342"/>
            <p:cNvGrpSpPr/>
            <p:nvPr/>
          </p:nvGrpSpPr>
          <p:grpSpPr>
            <a:xfrm>
              <a:off x="10602745" y="1403350"/>
              <a:ext cx="90655" cy="90654"/>
              <a:chOff x="10602745" y="1403350"/>
              <a:chExt cx="90655" cy="90654"/>
            </a:xfrm>
          </p:grpSpPr>
          <p:sp>
            <p:nvSpPr>
              <p:cNvPr id="339" name="Freeform 339"/>
              <p:cNvSpPr/>
              <p:nvPr/>
            </p:nvSpPr>
            <p:spPr>
              <a:xfrm>
                <a:off x="10604500" y="1403350"/>
                <a:ext cx="88900" cy="88900"/>
              </a:xfrm>
              <a:custGeom>
                <a:avLst/>
                <a:gdLst/>
                <a:ahLst/>
                <a:cxnLst/>
                <a:rect l="l" t="t" r="r" b="b"/>
                <a:pathLst>
                  <a:path w="88900" h="88900">
                    <a:moveTo>
                      <a:pt x="0" y="50006"/>
                    </a:moveTo>
                    <a:cubicBezTo>
                      <a:pt x="20393" y="52430"/>
                      <a:pt x="36470" y="68507"/>
                      <a:pt x="38894" y="88900"/>
                    </a:cubicBezTo>
                    <a:cubicBezTo>
                      <a:pt x="48879" y="83143"/>
                      <a:pt x="55182" y="72638"/>
                      <a:pt x="55562" y="61119"/>
                    </a:cubicBezTo>
                    <a:cubicBezTo>
                      <a:pt x="74641" y="54407"/>
                      <a:pt x="87799" y="36864"/>
                      <a:pt x="88900" y="16669"/>
                    </a:cubicBezTo>
                    <a:cubicBezTo>
                      <a:pt x="88900" y="7463"/>
                      <a:pt x="81437" y="0"/>
                      <a:pt x="72231" y="0"/>
                    </a:cubicBezTo>
                    <a:cubicBezTo>
                      <a:pt x="52036" y="1101"/>
                      <a:pt x="34493" y="14259"/>
                      <a:pt x="27781" y="33337"/>
                    </a:cubicBezTo>
                    <a:cubicBezTo>
                      <a:pt x="16262" y="33718"/>
                      <a:pt x="5756" y="40021"/>
                      <a:pt x="0" y="50006"/>
                    </a:cubicBezTo>
                  </a:path>
                </a:pathLst>
              </a:custGeom>
              <a:noFill/>
              <a:ln w="11112">
                <a:solidFill>
                  <a:srgbClr val="FFFFFF"/>
                </a:solidFill>
              </a:ln>
            </p:spPr>
          </p:sp>
          <p:sp>
            <p:nvSpPr>
              <p:cNvPr id="340" name="Freeform 340"/>
              <p:cNvSpPr/>
              <p:nvPr/>
            </p:nvSpPr>
            <p:spPr>
              <a:xfrm>
                <a:off x="10602745" y="1458912"/>
                <a:ext cx="35092" cy="35092"/>
              </a:xfrm>
              <a:custGeom>
                <a:avLst/>
                <a:gdLst/>
                <a:ahLst/>
                <a:cxnLst/>
                <a:rect l="l" t="t" r="r" b="b"/>
                <a:pathLst>
                  <a:path w="35092" h="35092">
                    <a:moveTo>
                      <a:pt x="18424" y="0"/>
                    </a:moveTo>
                    <a:cubicBezTo>
                      <a:pt x="6594" y="6678"/>
                      <a:pt x="0" y="19867"/>
                      <a:pt x="1755" y="33337"/>
                    </a:cubicBezTo>
                    <a:cubicBezTo>
                      <a:pt x="15226" y="35092"/>
                      <a:pt x="28414" y="28498"/>
                      <a:pt x="35092" y="16669"/>
                    </a:cubicBezTo>
                  </a:path>
                </a:pathLst>
              </a:custGeom>
              <a:noFill/>
              <a:ln w="11112">
                <a:solidFill>
                  <a:srgbClr val="FFFFFF"/>
                </a:solidFill>
              </a:ln>
            </p:spPr>
          </p:sp>
          <p:sp>
            <p:nvSpPr>
              <p:cNvPr id="341" name="Freeform 341"/>
              <p:cNvSpPr/>
              <p:nvPr/>
            </p:nvSpPr>
            <p:spPr>
              <a:xfrm>
                <a:off x="10660062" y="1425575"/>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grpSp>
        <p:sp>
          <p:nvSpPr>
            <p:cNvPr id="343" name="TextBox 343"/>
            <p:cNvSpPr txBox="1"/>
            <p:nvPr/>
          </p:nvSpPr>
          <p:spPr>
            <a:xfrm>
              <a:off x="10853738" y="1398270"/>
              <a:ext cx="49415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快速验证</a:t>
              </a:r>
            </a:p>
          </p:txBody>
        </p:sp>
        <p:sp>
          <p:nvSpPr>
            <p:cNvPr id="344" name="TextBox 344"/>
            <p:cNvSpPr txBox="1"/>
            <p:nvPr/>
          </p:nvSpPr>
          <p:spPr>
            <a:xfrm>
              <a:off x="10795040" y="1713786"/>
              <a:ext cx="698419"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高价值 / 高投入</a:t>
              </a:r>
            </a:p>
          </p:txBody>
        </p:sp>
        <p:sp>
          <p:nvSpPr>
            <p:cNvPr id="345" name="TextBox 345"/>
            <p:cNvSpPr txBox="1"/>
            <p:nvPr/>
          </p:nvSpPr>
          <p:spPr>
            <a:xfrm>
              <a:off x="10837939" y="1931432"/>
              <a:ext cx="612623"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快速小步验证，</a:t>
              </a:r>
            </a:p>
          </p:txBody>
        </p:sp>
        <p:sp>
          <p:nvSpPr>
            <p:cNvPr id="346" name="TextBox 346"/>
            <p:cNvSpPr txBox="1"/>
            <p:nvPr/>
          </p:nvSpPr>
          <p:spPr>
            <a:xfrm>
              <a:off x="10751782" y="2064782"/>
              <a:ext cx="784936"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明确方向后加大投入</a:t>
              </a:r>
            </a:p>
          </p:txBody>
        </p:sp>
        <p:sp>
          <p:nvSpPr>
            <p:cNvPr id="347" name="Rectangle 347"/>
            <p:cNvSpPr/>
            <p:nvPr/>
          </p:nvSpPr>
          <p:spPr>
            <a:xfrm>
              <a:off x="8743950" y="2857500"/>
              <a:ext cx="1524000" cy="1600200"/>
            </a:xfrm>
            <a:prstGeom prst="rect">
              <a:avLst/>
            </a:prstGeom>
            <a:solidFill>
              <a:srgbClr val="DCE5F2"/>
            </a:solidFill>
            <a:ln>
              <a:noFill/>
            </a:ln>
          </p:spPr>
        </p:sp>
        <p:sp>
          <p:nvSpPr>
            <p:cNvPr id="348" name="Ellipse 348"/>
            <p:cNvSpPr/>
            <p:nvPr/>
          </p:nvSpPr>
          <p:spPr>
            <a:xfrm>
              <a:off x="8877300" y="3028950"/>
              <a:ext cx="266700" cy="266700"/>
            </a:xfrm>
            <a:prstGeom prst="ellipse">
              <a:avLst/>
            </a:prstGeom>
            <a:solidFill>
              <a:srgbClr val="FFFFFF"/>
            </a:solidFill>
            <a:ln>
              <a:noFill/>
            </a:ln>
          </p:spPr>
        </p:sp>
        <p:grpSp>
          <p:nvGrpSpPr>
            <p:cNvPr id="351" name="Group 351"/>
            <p:cNvGrpSpPr/>
            <p:nvPr/>
          </p:nvGrpSpPr>
          <p:grpSpPr>
            <a:xfrm>
              <a:off x="8960644" y="3112294"/>
              <a:ext cx="100012" cy="100012"/>
              <a:chOff x="8960644" y="3112294"/>
              <a:chExt cx="100012" cy="100012"/>
            </a:xfrm>
          </p:grpSpPr>
          <p:sp>
            <p:nvSpPr>
              <p:cNvPr id="349" name="Freeform 349"/>
              <p:cNvSpPr/>
              <p:nvPr/>
            </p:nvSpPr>
            <p:spPr>
              <a:xfrm>
                <a:off x="8960644" y="31122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4E0D00"/>
                </a:solidFill>
              </a:ln>
            </p:spPr>
          </p:sp>
          <p:sp>
            <p:nvSpPr>
              <p:cNvPr id="350" name="Freeform 350"/>
              <p:cNvSpPr/>
              <p:nvPr/>
            </p:nvSpPr>
            <p:spPr>
              <a:xfrm>
                <a:off x="8993981" y="3151187"/>
                <a:ext cx="33337" cy="22225"/>
              </a:xfrm>
              <a:custGeom>
                <a:avLst/>
                <a:gdLst/>
                <a:ahLst/>
                <a:cxnLst/>
                <a:rect l="l" t="t" r="r" b="b"/>
                <a:pathLst>
                  <a:path w="33337" h="22225">
                    <a:moveTo>
                      <a:pt x="0" y="11112"/>
                    </a:moveTo>
                    <a:lnTo>
                      <a:pt x="11112" y="22225"/>
                    </a:lnTo>
                    <a:lnTo>
                      <a:pt x="33337" y="0"/>
                    </a:lnTo>
                  </a:path>
                </a:pathLst>
              </a:custGeom>
              <a:noFill/>
              <a:ln w="11112">
                <a:solidFill>
                  <a:srgbClr val="4E0D00"/>
                </a:solidFill>
              </a:ln>
            </p:spPr>
          </p:sp>
        </p:grpSp>
        <p:sp>
          <p:nvSpPr>
            <p:cNvPr id="352" name="TextBox 352"/>
            <p:cNvSpPr txBox="1"/>
            <p:nvPr/>
          </p:nvSpPr>
          <p:spPr>
            <a:xfrm>
              <a:off x="9215438" y="3112770"/>
              <a:ext cx="494157"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选择投入</a:t>
              </a:r>
            </a:p>
          </p:txBody>
        </p:sp>
        <p:sp>
          <p:nvSpPr>
            <p:cNvPr id="353" name="TextBox 353"/>
            <p:cNvSpPr txBox="1"/>
            <p:nvPr/>
          </p:nvSpPr>
          <p:spPr>
            <a:xfrm>
              <a:off x="9156740" y="3428286"/>
              <a:ext cx="698419"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低价值 / 低投入</a:t>
              </a:r>
            </a:p>
          </p:txBody>
        </p:sp>
        <p:sp>
          <p:nvSpPr>
            <p:cNvPr id="354" name="TextBox 354"/>
            <p:cNvSpPr txBox="1"/>
            <p:nvPr/>
          </p:nvSpPr>
          <p:spPr>
            <a:xfrm>
              <a:off x="9242717" y="3645932"/>
              <a:ext cx="526466"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选择性投入，</a:t>
              </a:r>
            </a:p>
          </p:txBody>
        </p:sp>
        <p:sp>
          <p:nvSpPr>
            <p:cNvPr id="355" name="TextBox 355"/>
            <p:cNvSpPr txBox="1"/>
            <p:nvPr/>
          </p:nvSpPr>
          <p:spPr>
            <a:xfrm>
              <a:off x="9199639" y="3779282"/>
              <a:ext cx="612623"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保持观察与监控</a:t>
              </a:r>
            </a:p>
          </p:txBody>
        </p:sp>
        <p:sp>
          <p:nvSpPr>
            <p:cNvPr id="356" name="Rectangle 356"/>
            <p:cNvSpPr/>
            <p:nvPr/>
          </p:nvSpPr>
          <p:spPr>
            <a:xfrm>
              <a:off x="10382250" y="2857500"/>
              <a:ext cx="1524000" cy="1600200"/>
            </a:xfrm>
            <a:prstGeom prst="rect">
              <a:avLst/>
            </a:prstGeom>
            <a:solidFill>
              <a:srgbClr val="EFF3FA"/>
            </a:solidFill>
            <a:ln w="9525">
              <a:solidFill>
                <a:srgbClr val="C7D2E4"/>
              </a:solidFill>
            </a:ln>
          </p:spPr>
        </p:sp>
        <p:sp>
          <p:nvSpPr>
            <p:cNvPr id="357" name="Ellipse 357"/>
            <p:cNvSpPr/>
            <p:nvPr/>
          </p:nvSpPr>
          <p:spPr>
            <a:xfrm>
              <a:off x="10515600" y="3028950"/>
              <a:ext cx="266700" cy="266700"/>
            </a:xfrm>
            <a:prstGeom prst="ellipse">
              <a:avLst/>
            </a:prstGeom>
            <a:solidFill>
              <a:srgbClr val="FFFFFF"/>
            </a:solidFill>
            <a:ln>
              <a:noFill/>
            </a:ln>
          </p:spPr>
        </p:sp>
        <p:grpSp>
          <p:nvGrpSpPr>
            <p:cNvPr id="360" name="Group 360"/>
            <p:cNvGrpSpPr/>
            <p:nvPr/>
          </p:nvGrpSpPr>
          <p:grpSpPr>
            <a:xfrm>
              <a:off x="10598944" y="3112294"/>
              <a:ext cx="100012" cy="100012"/>
              <a:chOff x="10598944" y="3112294"/>
              <a:chExt cx="100012" cy="100012"/>
            </a:xfrm>
          </p:grpSpPr>
          <p:sp>
            <p:nvSpPr>
              <p:cNvPr id="358" name="Freeform 358"/>
              <p:cNvSpPr/>
              <p:nvPr/>
            </p:nvSpPr>
            <p:spPr>
              <a:xfrm>
                <a:off x="10598944" y="31122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4E0D00"/>
                </a:solidFill>
              </a:ln>
            </p:spPr>
          </p:sp>
          <p:sp>
            <p:nvSpPr>
              <p:cNvPr id="359" name="Freeform 359"/>
              <p:cNvSpPr/>
              <p:nvPr/>
            </p:nvSpPr>
            <p:spPr>
              <a:xfrm>
                <a:off x="10648950" y="3134519"/>
                <a:ext cx="16669" cy="44450"/>
              </a:xfrm>
              <a:custGeom>
                <a:avLst/>
                <a:gdLst/>
                <a:ahLst/>
                <a:cxnLst/>
                <a:rect l="l" t="t" r="r" b="b"/>
                <a:pathLst>
                  <a:path w="16669" h="44450">
                    <a:moveTo>
                      <a:pt x="0" y="0"/>
                    </a:moveTo>
                    <a:lnTo>
                      <a:pt x="0" y="27781"/>
                    </a:lnTo>
                    <a:lnTo>
                      <a:pt x="16669" y="44450"/>
                    </a:lnTo>
                  </a:path>
                </a:pathLst>
              </a:custGeom>
              <a:noFill/>
              <a:ln w="11112">
                <a:solidFill>
                  <a:srgbClr val="4E0D00"/>
                </a:solidFill>
              </a:ln>
            </p:spPr>
          </p:sp>
        </p:grpSp>
        <p:sp>
          <p:nvSpPr>
            <p:cNvPr id="361" name="TextBox 361"/>
            <p:cNvSpPr txBox="1"/>
            <p:nvPr/>
          </p:nvSpPr>
          <p:spPr>
            <a:xfrm>
              <a:off x="10853738" y="3112770"/>
              <a:ext cx="494157" cy="176212"/>
            </a:xfrm>
            <a:prstGeom prst="rect">
              <a:avLst/>
            </a:prstGeom>
            <a:noFill/>
            <a:ln>
              <a:noFill/>
            </a:ln>
          </p:spPr>
          <p:txBody>
            <a:bodyPr wrap="none" lIns="0" tIns="0" rIns="0" bIns="0" anchor="t" anchorCtr="0">
              <a:spAutoFit/>
            </a:bodyPr>
            <a:lstStyle/>
            <a:p>
              <a:pPr algn="l"/>
              <a:r>
                <a:rPr lang="zh-CN" sz="900" b="1" dirty="0">
                  <a:solidFill>
                    <a:srgbClr val="4E0D00"/>
                  </a:solidFill>
                  <a:latin typeface="+mn-lt"/>
                  <a:ea typeface="+mn-ea"/>
                  <a:cs typeface="+mn-cs"/>
                </a:rPr>
                <a:t>延后处理</a:t>
              </a:r>
            </a:p>
          </p:txBody>
        </p:sp>
        <p:sp>
          <p:nvSpPr>
            <p:cNvPr id="362" name="TextBox 362"/>
            <p:cNvSpPr txBox="1"/>
            <p:nvPr/>
          </p:nvSpPr>
          <p:spPr>
            <a:xfrm>
              <a:off x="10795040" y="3428286"/>
              <a:ext cx="698419"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低价值 / 高投入</a:t>
              </a:r>
            </a:p>
          </p:txBody>
        </p:sp>
        <p:sp>
          <p:nvSpPr>
            <p:cNvPr id="363" name="TextBox 363"/>
            <p:cNvSpPr txBox="1"/>
            <p:nvPr/>
          </p:nvSpPr>
          <p:spPr>
            <a:xfrm>
              <a:off x="10924096" y="3645932"/>
              <a:ext cx="440309"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暂缓投入，</a:t>
              </a:r>
            </a:p>
          </p:txBody>
        </p:sp>
        <p:sp>
          <p:nvSpPr>
            <p:cNvPr id="364" name="TextBox 364"/>
            <p:cNvSpPr txBox="1"/>
            <p:nvPr/>
          </p:nvSpPr>
          <p:spPr>
            <a:xfrm>
              <a:off x="10751782" y="3779282"/>
              <a:ext cx="784936"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待条件变化后再评估</a:t>
              </a:r>
            </a:p>
          </p:txBody>
        </p:sp>
      </p:grpSp>
      <p:grpSp>
        <p:nvGrpSpPr>
          <p:cNvPr id="369" name="path-title"/>
          <p:cNvGrpSpPr/>
          <p:nvPr/>
        </p:nvGrpSpPr>
        <p:grpSpPr>
          <a:xfrm>
            <a:off x="1143000" y="5247799"/>
            <a:ext cx="6191250" cy="190690"/>
            <a:chOff x="1143000" y="5247799"/>
            <a:chExt cx="6191250" cy="190690"/>
          </a:xfrm>
        </p:grpSpPr>
        <p:sp>
          <p:nvSpPr>
            <p:cNvPr id="366" name="Line 366"/>
            <p:cNvSpPr/>
            <p:nvPr/>
          </p:nvSpPr>
          <p:spPr>
            <a:xfrm>
              <a:off x="1143000" y="5305425"/>
              <a:ext cx="2000250" cy="9525"/>
            </a:xfrm>
            <a:custGeom>
              <a:avLst/>
              <a:gdLst/>
              <a:ahLst/>
              <a:cxnLst/>
              <a:rect l="l" t="t" r="r" b="b"/>
              <a:pathLst>
                <a:path w="2000250" h="9525">
                  <a:moveTo>
                    <a:pt x="0" y="0"/>
                  </a:moveTo>
                  <a:lnTo>
                    <a:pt x="2000250" y="0"/>
                  </a:lnTo>
                </a:path>
              </a:pathLst>
            </a:custGeom>
            <a:noFill/>
            <a:ln w="9525">
              <a:solidFill>
                <a:srgbClr val="C7D2E4"/>
              </a:solidFill>
            </a:ln>
          </p:spPr>
        </p:sp>
        <p:sp>
          <p:nvSpPr>
            <p:cNvPr id="367" name="TextBox 367"/>
            <p:cNvSpPr txBox="1"/>
            <p:nvPr/>
          </p:nvSpPr>
          <p:spPr>
            <a:xfrm>
              <a:off x="3046324" y="5247799"/>
              <a:ext cx="2384603" cy="190690"/>
            </a:xfrm>
            <a:prstGeom prst="rect">
              <a:avLst/>
            </a:prstGeom>
            <a:noFill/>
            <a:ln>
              <a:noFill/>
            </a:ln>
          </p:spPr>
          <p:txBody>
            <a:bodyPr wrap="none" lIns="0" tIns="0" rIns="0" bIns="0" anchor="t" anchorCtr="0">
              <a:spAutoFit/>
            </a:bodyPr>
            <a:lstStyle/>
            <a:p>
              <a:pPr algn="ctr"/>
              <a:r>
                <a:rPr lang="zh-CN" sz="980" b="1" dirty="0">
                  <a:solidFill>
                    <a:srgbClr val="4E0D00"/>
                  </a:solidFill>
                  <a:latin typeface="+mn-lt"/>
                  <a:ea typeface="+mn-ea"/>
                  <a:cs typeface="+mn-cs"/>
                </a:rPr>
                <a:t>资源配置路径：将有限资源投向关键少数</a:t>
              </a:r>
            </a:p>
          </p:txBody>
        </p:sp>
        <p:sp>
          <p:nvSpPr>
            <p:cNvPr id="368" name="Line 368"/>
            <p:cNvSpPr/>
            <p:nvPr/>
          </p:nvSpPr>
          <p:spPr>
            <a:xfrm>
              <a:off x="5334000" y="5305425"/>
              <a:ext cx="2000250" cy="9525"/>
            </a:xfrm>
            <a:custGeom>
              <a:avLst/>
              <a:gdLst/>
              <a:ahLst/>
              <a:cxnLst/>
              <a:rect l="l" t="t" r="r" b="b"/>
              <a:pathLst>
                <a:path w="2000250" h="9525">
                  <a:moveTo>
                    <a:pt x="0" y="0"/>
                  </a:moveTo>
                  <a:lnTo>
                    <a:pt x="2000250" y="0"/>
                  </a:lnTo>
                </a:path>
              </a:pathLst>
            </a:custGeom>
            <a:noFill/>
            <a:ln w="9525">
              <a:solidFill>
                <a:srgbClr val="C7D2E4"/>
              </a:solidFill>
            </a:ln>
          </p:spPr>
        </p:sp>
      </p:grpSp>
      <p:grpSp>
        <p:nvGrpSpPr>
          <p:cNvPr id="405" name="chevrons"/>
          <p:cNvGrpSpPr/>
          <p:nvPr/>
        </p:nvGrpSpPr>
        <p:grpSpPr>
          <a:xfrm>
            <a:off x="228600" y="5448300"/>
            <a:ext cx="7981950" cy="800100"/>
            <a:chOff x="228600" y="5448300"/>
            <a:chExt cx="7981950" cy="800100"/>
          </a:xfrm>
        </p:grpSpPr>
        <p:sp>
          <p:nvSpPr>
            <p:cNvPr id="370" name="Freeform 370"/>
            <p:cNvSpPr/>
            <p:nvPr/>
          </p:nvSpPr>
          <p:spPr>
            <a:xfrm>
              <a:off x="228600" y="5448300"/>
              <a:ext cx="1952625" cy="800100"/>
            </a:xfrm>
            <a:prstGeom prst="chevron">
              <a:avLst/>
            </a:prstGeom>
            <a:solidFill>
              <a:srgbClr val="4E0D00"/>
            </a:solidFill>
            <a:ln>
              <a:noFill/>
            </a:ln>
          </p:spPr>
        </p:sp>
        <p:sp>
          <p:nvSpPr>
            <p:cNvPr id="371" name="Ellipse 371"/>
            <p:cNvSpPr/>
            <p:nvPr/>
          </p:nvSpPr>
          <p:spPr>
            <a:xfrm>
              <a:off x="400050" y="5695950"/>
              <a:ext cx="304800" cy="304800"/>
            </a:xfrm>
            <a:prstGeom prst="ellipse">
              <a:avLst/>
            </a:prstGeom>
            <a:solidFill>
              <a:srgbClr val="FFFFFF"/>
            </a:solidFill>
            <a:ln>
              <a:noFill/>
            </a:ln>
          </p:spPr>
        </p:sp>
        <p:grpSp>
          <p:nvGrpSpPr>
            <p:cNvPr id="374" name="Group 374"/>
            <p:cNvGrpSpPr/>
            <p:nvPr/>
          </p:nvGrpSpPr>
          <p:grpSpPr>
            <a:xfrm>
              <a:off x="495300" y="5803900"/>
              <a:ext cx="114300" cy="93409"/>
              <a:chOff x="495300" y="5803900"/>
              <a:chExt cx="114300" cy="93409"/>
            </a:xfrm>
          </p:grpSpPr>
          <p:sp>
            <p:nvSpPr>
              <p:cNvPr id="372" name="Freeform 372"/>
              <p:cNvSpPr/>
              <p:nvPr/>
            </p:nvSpPr>
            <p:spPr>
              <a:xfrm>
                <a:off x="495300" y="5803900"/>
                <a:ext cx="114300" cy="93409"/>
              </a:xfrm>
              <a:custGeom>
                <a:avLst/>
                <a:gdLst/>
                <a:ahLst/>
                <a:cxnLst/>
                <a:rect l="l" t="t" r="r" b="b"/>
                <a:pathLst>
                  <a:path w="114300" h="93409">
                    <a:moveTo>
                      <a:pt x="19050" y="0"/>
                    </a:moveTo>
                    <a:lnTo>
                      <a:pt x="95250" y="0"/>
                    </a:lnTo>
                    <a:lnTo>
                      <a:pt x="114300" y="31750"/>
                    </a:lnTo>
                    <a:lnTo>
                      <a:pt x="60325" y="92075"/>
                    </a:lnTo>
                    <a:cubicBezTo>
                      <a:pt x="59489" y="92928"/>
                      <a:pt x="58345" y="93409"/>
                      <a:pt x="57150" y="93409"/>
                    </a:cubicBezTo>
                    <a:cubicBezTo>
                      <a:pt x="55955" y="93409"/>
                      <a:pt x="54811" y="92928"/>
                      <a:pt x="53975" y="92075"/>
                    </a:cubicBezTo>
                    <a:lnTo>
                      <a:pt x="0" y="31750"/>
                    </a:lnTo>
                    <a:lnTo>
                      <a:pt x="19050" y="0"/>
                    </a:lnTo>
                  </a:path>
                </a:pathLst>
              </a:custGeom>
              <a:noFill/>
              <a:ln w="12700">
                <a:solidFill>
                  <a:srgbClr val="4E0D00"/>
                </a:solidFill>
              </a:ln>
            </p:spPr>
          </p:sp>
          <p:sp>
            <p:nvSpPr>
              <p:cNvPr id="373" name="Freeform 373"/>
              <p:cNvSpPr/>
              <p:nvPr/>
            </p:nvSpPr>
            <p:spPr>
              <a:xfrm>
                <a:off x="527050" y="5828030"/>
                <a:ext cx="12700" cy="20320"/>
              </a:xfrm>
              <a:custGeom>
                <a:avLst/>
                <a:gdLst/>
                <a:ahLst/>
                <a:cxnLst/>
                <a:rect l="l" t="t" r="r" b="b"/>
                <a:pathLst>
                  <a:path w="12700" h="20320">
                    <a:moveTo>
                      <a:pt x="12700" y="20320"/>
                    </a:moveTo>
                    <a:lnTo>
                      <a:pt x="0" y="6350"/>
                    </a:lnTo>
                    <a:lnTo>
                      <a:pt x="3810" y="0"/>
                    </a:lnTo>
                  </a:path>
                </a:pathLst>
              </a:custGeom>
              <a:noFill/>
              <a:ln w="12700">
                <a:solidFill>
                  <a:srgbClr val="4E0D00"/>
                </a:solidFill>
              </a:ln>
            </p:spPr>
          </p:sp>
        </p:grpSp>
        <p:sp>
          <p:nvSpPr>
            <p:cNvPr id="375" name="TextBox 375"/>
            <p:cNvSpPr txBox="1"/>
            <p:nvPr/>
          </p:nvSpPr>
          <p:spPr>
            <a:xfrm>
              <a:off x="776288" y="5683091"/>
              <a:ext cx="753391"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识别Big Rocks</a:t>
              </a:r>
            </a:p>
          </p:txBody>
        </p:sp>
        <p:sp>
          <p:nvSpPr>
            <p:cNvPr id="376" name="TextBox 376"/>
            <p:cNvSpPr txBox="1"/>
            <p:nvPr/>
          </p:nvSpPr>
          <p:spPr>
            <a:xfrm>
              <a:off x="776288" y="5859780"/>
              <a:ext cx="898017" cy="119062"/>
            </a:xfrm>
            <a:prstGeom prst="rect">
              <a:avLst/>
            </a:prstGeom>
            <a:noFill/>
            <a:ln>
              <a:noFill/>
            </a:ln>
          </p:spPr>
          <p:txBody>
            <a:bodyPr wrap="none" lIns="0" tIns="0" rIns="0" bIns="0" anchor="t" anchorCtr="0">
              <a:spAutoFit/>
            </a:bodyPr>
            <a:lstStyle/>
            <a:p>
              <a:pPr algn="l"/>
              <a:r>
                <a:rPr lang="zh-CN" sz="600" dirty="0">
                  <a:solidFill>
                    <a:srgbClr val="DCE5F2"/>
                  </a:solidFill>
                  <a:latin typeface="+mn-lt"/>
                  <a:ea typeface="+mn-ea"/>
                  <a:cs typeface="+mn-cs"/>
                </a:rPr>
                <a:t>基于全景分析，识别驱动</a:t>
              </a:r>
            </a:p>
          </p:txBody>
        </p:sp>
        <p:sp>
          <p:nvSpPr>
            <p:cNvPr id="377" name="TextBox 377"/>
            <p:cNvSpPr txBox="1"/>
            <p:nvPr/>
          </p:nvSpPr>
          <p:spPr>
            <a:xfrm>
              <a:off x="776288" y="5974080"/>
              <a:ext cx="885901" cy="119062"/>
            </a:xfrm>
            <a:prstGeom prst="rect">
              <a:avLst/>
            </a:prstGeom>
            <a:noFill/>
            <a:ln>
              <a:noFill/>
            </a:ln>
          </p:spPr>
          <p:txBody>
            <a:bodyPr wrap="none" lIns="0" tIns="0" rIns="0" bIns="0" anchor="t" anchorCtr="0">
              <a:spAutoFit/>
            </a:bodyPr>
            <a:lstStyle/>
            <a:p>
              <a:pPr algn="l"/>
              <a:r>
                <a:rPr lang="zh-CN" sz="600" dirty="0">
                  <a:solidFill>
                    <a:srgbClr val="DCE5F2"/>
                  </a:solidFill>
                  <a:latin typeface="+mn-lt"/>
                  <a:ea typeface="+mn-ea"/>
                  <a:cs typeface="+mn-cs"/>
                </a:rPr>
                <a:t>80%结果影响的关键议题</a:t>
              </a:r>
            </a:p>
          </p:txBody>
        </p:sp>
        <p:sp>
          <p:nvSpPr>
            <p:cNvPr id="378" name="Freeform 378"/>
            <p:cNvSpPr/>
            <p:nvPr/>
          </p:nvSpPr>
          <p:spPr>
            <a:xfrm>
              <a:off x="2238375" y="5448300"/>
              <a:ext cx="1952625" cy="800100"/>
            </a:xfrm>
            <a:prstGeom prst="chevron">
              <a:avLst/>
            </a:prstGeom>
            <a:solidFill>
              <a:srgbClr val="711E0D"/>
            </a:solidFill>
            <a:ln>
              <a:noFill/>
            </a:ln>
          </p:spPr>
        </p:sp>
        <p:sp>
          <p:nvSpPr>
            <p:cNvPr id="379" name="Ellipse 379"/>
            <p:cNvSpPr/>
            <p:nvPr/>
          </p:nvSpPr>
          <p:spPr>
            <a:xfrm>
              <a:off x="2409825" y="5695950"/>
              <a:ext cx="304800" cy="304800"/>
            </a:xfrm>
            <a:prstGeom prst="ellipse">
              <a:avLst/>
            </a:prstGeom>
            <a:solidFill>
              <a:srgbClr val="FFFFFF"/>
            </a:solidFill>
            <a:ln>
              <a:noFill/>
            </a:ln>
          </p:spPr>
        </p:sp>
        <p:grpSp>
          <p:nvGrpSpPr>
            <p:cNvPr id="382" name="Group 382"/>
            <p:cNvGrpSpPr/>
            <p:nvPr/>
          </p:nvGrpSpPr>
          <p:grpSpPr>
            <a:xfrm>
              <a:off x="2505075" y="5791200"/>
              <a:ext cx="114300" cy="114300"/>
              <a:chOff x="2505075" y="5791200"/>
              <a:chExt cx="114300" cy="114300"/>
            </a:xfrm>
          </p:grpSpPr>
          <p:sp>
            <p:nvSpPr>
              <p:cNvPr id="380" name="Freeform 380"/>
              <p:cNvSpPr/>
              <p:nvPr/>
            </p:nvSpPr>
            <p:spPr>
              <a:xfrm>
                <a:off x="2505075" y="579120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4E0D00"/>
                </a:solidFill>
              </a:ln>
            </p:spPr>
          </p:sp>
          <p:sp>
            <p:nvSpPr>
              <p:cNvPr id="381" name="Freeform 381"/>
              <p:cNvSpPr/>
              <p:nvPr/>
            </p:nvSpPr>
            <p:spPr>
              <a:xfrm>
                <a:off x="2581275" y="5867400"/>
                <a:ext cx="38100" cy="38100"/>
              </a:xfrm>
              <a:custGeom>
                <a:avLst/>
                <a:gdLst/>
                <a:ahLst/>
                <a:cxnLst/>
                <a:rect l="l" t="t" r="r" b="b"/>
                <a:pathLst>
                  <a:path w="38100" h="38100">
                    <a:moveTo>
                      <a:pt x="38100" y="38100"/>
                    </a:moveTo>
                    <a:lnTo>
                      <a:pt x="0" y="0"/>
                    </a:lnTo>
                  </a:path>
                </a:pathLst>
              </a:custGeom>
              <a:noFill/>
              <a:ln w="12700">
                <a:solidFill>
                  <a:srgbClr val="4E0D00"/>
                </a:solidFill>
              </a:ln>
            </p:spPr>
          </p:sp>
        </p:grpSp>
        <p:sp>
          <p:nvSpPr>
            <p:cNvPr id="383" name="TextBox 383"/>
            <p:cNvSpPr txBox="1"/>
            <p:nvPr/>
          </p:nvSpPr>
          <p:spPr>
            <a:xfrm>
              <a:off x="2786062" y="5683091"/>
              <a:ext cx="451079"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集中分析</a:t>
              </a:r>
            </a:p>
          </p:txBody>
        </p:sp>
        <p:sp>
          <p:nvSpPr>
            <p:cNvPr id="384" name="TextBox 384"/>
            <p:cNvSpPr txBox="1"/>
            <p:nvPr/>
          </p:nvSpPr>
          <p:spPr>
            <a:xfrm>
              <a:off x="2786062" y="5859780"/>
              <a:ext cx="736473" cy="119062"/>
            </a:xfrm>
            <a:prstGeom prst="rect">
              <a:avLst/>
            </a:prstGeom>
            <a:noFill/>
            <a:ln>
              <a:noFill/>
            </a:ln>
          </p:spPr>
          <p:txBody>
            <a:bodyPr wrap="none" lIns="0" tIns="0" rIns="0" bIns="0" anchor="t" anchorCtr="0">
              <a:spAutoFit/>
            </a:bodyPr>
            <a:lstStyle/>
            <a:p>
              <a:pPr algn="l"/>
              <a:r>
                <a:rPr lang="zh-CN" sz="600" dirty="0">
                  <a:solidFill>
                    <a:srgbClr val="DCE5F2"/>
                  </a:solidFill>
                  <a:latin typeface="+mn-lt"/>
                  <a:ea typeface="+mn-ea"/>
                  <a:cs typeface="+mn-cs"/>
                </a:rPr>
                <a:t>深入拆解关键议题，</a:t>
              </a:r>
            </a:p>
          </p:txBody>
        </p:sp>
        <p:sp>
          <p:nvSpPr>
            <p:cNvPr id="385" name="TextBox 385"/>
            <p:cNvSpPr txBox="1"/>
            <p:nvPr/>
          </p:nvSpPr>
          <p:spPr>
            <a:xfrm>
              <a:off x="2786062" y="5974080"/>
              <a:ext cx="736473" cy="119062"/>
            </a:xfrm>
            <a:prstGeom prst="rect">
              <a:avLst/>
            </a:prstGeom>
            <a:noFill/>
            <a:ln>
              <a:noFill/>
            </a:ln>
          </p:spPr>
          <p:txBody>
            <a:bodyPr wrap="none" lIns="0" tIns="0" rIns="0" bIns="0" anchor="t" anchorCtr="0">
              <a:spAutoFit/>
            </a:bodyPr>
            <a:lstStyle/>
            <a:p>
              <a:pPr algn="l"/>
              <a:r>
                <a:rPr lang="zh-CN" sz="600" dirty="0">
                  <a:solidFill>
                    <a:srgbClr val="DCE5F2"/>
                  </a:solidFill>
                  <a:latin typeface="+mn-lt"/>
                  <a:ea typeface="+mn-ea"/>
                  <a:cs typeface="+mn-cs"/>
                </a:rPr>
                <a:t>直击根因与关键杠杆</a:t>
              </a:r>
            </a:p>
          </p:txBody>
        </p:sp>
        <p:sp>
          <p:nvSpPr>
            <p:cNvPr id="386" name="Freeform 386"/>
            <p:cNvSpPr/>
            <p:nvPr/>
          </p:nvSpPr>
          <p:spPr>
            <a:xfrm>
              <a:off x="4248150" y="5448300"/>
              <a:ext cx="1952625" cy="800100"/>
            </a:xfrm>
            <a:prstGeom prst="chevron">
              <a:avLst/>
            </a:prstGeom>
            <a:solidFill>
              <a:srgbClr val="944130"/>
            </a:solidFill>
            <a:ln>
              <a:noFill/>
            </a:ln>
          </p:spPr>
        </p:sp>
        <p:sp>
          <p:nvSpPr>
            <p:cNvPr id="387" name="Ellipse 387"/>
            <p:cNvSpPr/>
            <p:nvPr/>
          </p:nvSpPr>
          <p:spPr>
            <a:xfrm>
              <a:off x="4419600" y="5695950"/>
              <a:ext cx="304800" cy="304800"/>
            </a:xfrm>
            <a:prstGeom prst="ellipse">
              <a:avLst/>
            </a:prstGeom>
            <a:solidFill>
              <a:srgbClr val="FFFFFF"/>
            </a:solidFill>
            <a:ln>
              <a:noFill/>
            </a:ln>
          </p:spPr>
        </p:sp>
        <p:grpSp>
          <p:nvGrpSpPr>
            <p:cNvPr id="391" name="Group 391"/>
            <p:cNvGrpSpPr/>
            <p:nvPr/>
          </p:nvGrpSpPr>
          <p:grpSpPr>
            <a:xfrm>
              <a:off x="4514850" y="5791200"/>
              <a:ext cx="114300" cy="114300"/>
              <a:chOff x="4514850" y="5791200"/>
              <a:chExt cx="114300" cy="114300"/>
            </a:xfrm>
          </p:grpSpPr>
          <p:sp>
            <p:nvSpPr>
              <p:cNvPr id="388" name="Freeform 388"/>
              <p:cNvSpPr/>
              <p:nvPr/>
            </p:nvSpPr>
            <p:spPr>
              <a:xfrm>
                <a:off x="4514850" y="579120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4E0D00"/>
                </a:solidFill>
              </a:ln>
            </p:spPr>
          </p:sp>
          <p:sp>
            <p:nvSpPr>
              <p:cNvPr id="389" name="Freeform 389"/>
              <p:cNvSpPr/>
              <p:nvPr/>
            </p:nvSpPr>
            <p:spPr>
              <a:xfrm>
                <a:off x="4537558" y="581660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4E0D00"/>
                </a:solidFill>
              </a:ln>
            </p:spPr>
          </p:sp>
          <p:sp>
            <p:nvSpPr>
              <p:cNvPr id="390" name="Freeform 390"/>
              <p:cNvSpPr/>
              <p:nvPr/>
            </p:nvSpPr>
            <p:spPr>
              <a:xfrm>
                <a:off x="4557395" y="5880100"/>
                <a:ext cx="29210" cy="9525"/>
              </a:xfrm>
              <a:custGeom>
                <a:avLst/>
                <a:gdLst/>
                <a:ahLst/>
                <a:cxnLst/>
                <a:rect l="l" t="t" r="r" b="b"/>
                <a:pathLst>
                  <a:path w="29210" h="9525">
                    <a:moveTo>
                      <a:pt x="0" y="0"/>
                    </a:moveTo>
                    <a:lnTo>
                      <a:pt x="29210" y="0"/>
                    </a:lnTo>
                  </a:path>
                </a:pathLst>
              </a:custGeom>
              <a:noFill/>
              <a:ln w="12700">
                <a:solidFill>
                  <a:srgbClr val="4E0D00"/>
                </a:solidFill>
              </a:ln>
            </p:spPr>
          </p:sp>
        </p:grpSp>
        <p:sp>
          <p:nvSpPr>
            <p:cNvPr id="392" name="TextBox 392"/>
            <p:cNvSpPr txBox="1"/>
            <p:nvPr/>
          </p:nvSpPr>
          <p:spPr>
            <a:xfrm>
              <a:off x="4795838" y="5683091"/>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快速形成洞察</a:t>
              </a:r>
            </a:p>
          </p:txBody>
        </p:sp>
        <p:sp>
          <p:nvSpPr>
            <p:cNvPr id="393" name="TextBox 393"/>
            <p:cNvSpPr txBox="1"/>
            <p:nvPr/>
          </p:nvSpPr>
          <p:spPr>
            <a:xfrm>
              <a:off x="4795838" y="5859780"/>
              <a:ext cx="978789" cy="119062"/>
            </a:xfrm>
            <a:prstGeom prst="rect">
              <a:avLst/>
            </a:prstGeom>
            <a:noFill/>
            <a:ln>
              <a:noFill/>
            </a:ln>
          </p:spPr>
          <p:txBody>
            <a:bodyPr wrap="none" lIns="0" tIns="0" rIns="0" bIns="0" anchor="t" anchorCtr="0">
              <a:spAutoFit/>
            </a:bodyPr>
            <a:lstStyle/>
            <a:p>
              <a:pPr algn="l"/>
              <a:r>
                <a:rPr lang="zh-CN" sz="600" dirty="0">
                  <a:solidFill>
                    <a:srgbClr val="DCE5F2"/>
                  </a:solidFill>
                  <a:latin typeface="+mn-lt"/>
                  <a:ea typeface="+mn-ea"/>
                  <a:cs typeface="+mn-cs"/>
                </a:rPr>
                <a:t>提出可操作的对策与结论，</a:t>
              </a:r>
            </a:p>
          </p:txBody>
        </p:sp>
        <p:sp>
          <p:nvSpPr>
            <p:cNvPr id="394" name="TextBox 394"/>
            <p:cNvSpPr txBox="1"/>
            <p:nvPr/>
          </p:nvSpPr>
          <p:spPr>
            <a:xfrm>
              <a:off x="4795838" y="5974080"/>
              <a:ext cx="736473" cy="119062"/>
            </a:xfrm>
            <a:prstGeom prst="rect">
              <a:avLst/>
            </a:prstGeom>
            <a:noFill/>
            <a:ln>
              <a:noFill/>
            </a:ln>
          </p:spPr>
          <p:txBody>
            <a:bodyPr wrap="none" lIns="0" tIns="0" rIns="0" bIns="0" anchor="t" anchorCtr="0">
              <a:spAutoFit/>
            </a:bodyPr>
            <a:lstStyle/>
            <a:p>
              <a:pPr algn="l"/>
              <a:r>
                <a:rPr lang="zh-CN" sz="600" dirty="0">
                  <a:solidFill>
                    <a:srgbClr val="DCE5F2"/>
                  </a:solidFill>
                  <a:latin typeface="+mn-lt"/>
                  <a:ea typeface="+mn-ea"/>
                  <a:cs typeface="+mn-cs"/>
                </a:rPr>
                <a:t>聚焦少数高影响举措</a:t>
              </a:r>
            </a:p>
          </p:txBody>
        </p:sp>
        <p:sp>
          <p:nvSpPr>
            <p:cNvPr id="395" name="Freeform 395"/>
            <p:cNvSpPr/>
            <p:nvPr/>
          </p:nvSpPr>
          <p:spPr>
            <a:xfrm>
              <a:off x="6257925" y="5448300"/>
              <a:ext cx="1952625" cy="800100"/>
            </a:xfrm>
            <a:prstGeom prst="chevron">
              <a:avLst/>
            </a:prstGeom>
            <a:solidFill>
              <a:srgbClr val="9E4D3D"/>
            </a:solidFill>
            <a:ln>
              <a:noFill/>
            </a:ln>
          </p:spPr>
        </p:sp>
        <p:sp>
          <p:nvSpPr>
            <p:cNvPr id="396" name="Ellipse 396"/>
            <p:cNvSpPr/>
            <p:nvPr/>
          </p:nvSpPr>
          <p:spPr>
            <a:xfrm>
              <a:off x="6429375" y="5695950"/>
              <a:ext cx="304800" cy="304800"/>
            </a:xfrm>
            <a:prstGeom prst="ellipse">
              <a:avLst/>
            </a:prstGeom>
            <a:solidFill>
              <a:srgbClr val="FFFFFF"/>
            </a:solidFill>
            <a:ln>
              <a:noFill/>
            </a:ln>
          </p:spPr>
        </p:sp>
        <p:grpSp>
          <p:nvGrpSpPr>
            <p:cNvPr id="401" name="Group 401"/>
            <p:cNvGrpSpPr/>
            <p:nvPr/>
          </p:nvGrpSpPr>
          <p:grpSpPr>
            <a:xfrm>
              <a:off x="6530975" y="5791200"/>
              <a:ext cx="88900" cy="114300"/>
              <a:chOff x="6530975" y="5791200"/>
              <a:chExt cx="88900" cy="114300"/>
            </a:xfrm>
          </p:grpSpPr>
          <p:sp>
            <p:nvSpPr>
              <p:cNvPr id="397" name="Freeform 397"/>
              <p:cNvSpPr/>
              <p:nvPr/>
            </p:nvSpPr>
            <p:spPr>
              <a:xfrm>
                <a:off x="6575469" y="57912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398" name="Freeform 398"/>
              <p:cNvSpPr/>
              <p:nvPr/>
            </p:nvSpPr>
            <p:spPr>
              <a:xfrm>
                <a:off x="6530975" y="5876925"/>
                <a:ext cx="36513" cy="9525"/>
              </a:xfrm>
              <a:custGeom>
                <a:avLst/>
                <a:gdLst/>
                <a:ahLst/>
                <a:cxnLst/>
                <a:rect l="l" t="t" r="r" b="b"/>
                <a:pathLst>
                  <a:path w="36513" h="9525">
                    <a:moveTo>
                      <a:pt x="0" y="3175"/>
                    </a:moveTo>
                    <a:lnTo>
                      <a:pt x="31750" y="9525"/>
                    </a:lnTo>
                    <a:lnTo>
                      <a:pt x="36513" y="0"/>
                    </a:lnTo>
                  </a:path>
                </a:pathLst>
              </a:custGeom>
              <a:noFill/>
              <a:ln w="12700">
                <a:solidFill>
                  <a:srgbClr val="4E0D00"/>
                </a:solidFill>
              </a:ln>
            </p:spPr>
          </p:sp>
          <p:sp>
            <p:nvSpPr>
              <p:cNvPr id="399" name="Freeform 399"/>
              <p:cNvSpPr/>
              <p:nvPr/>
            </p:nvSpPr>
            <p:spPr>
              <a:xfrm>
                <a:off x="6575425" y="5822950"/>
                <a:ext cx="25400" cy="82550"/>
              </a:xfrm>
              <a:custGeom>
                <a:avLst/>
                <a:gdLst/>
                <a:ahLst/>
                <a:cxnLst/>
                <a:rect l="l" t="t" r="r" b="b"/>
                <a:pathLst>
                  <a:path w="25400" h="82550">
                    <a:moveTo>
                      <a:pt x="25400" y="82550"/>
                    </a:moveTo>
                    <a:lnTo>
                      <a:pt x="25400" y="57150"/>
                    </a:lnTo>
                    <a:lnTo>
                      <a:pt x="0" y="38100"/>
                    </a:lnTo>
                    <a:lnTo>
                      <a:pt x="6350" y="0"/>
                    </a:lnTo>
                  </a:path>
                </a:pathLst>
              </a:custGeom>
              <a:noFill/>
              <a:ln w="12700">
                <a:solidFill>
                  <a:srgbClr val="4E0D00"/>
                </a:solidFill>
              </a:ln>
            </p:spPr>
          </p:sp>
          <p:sp>
            <p:nvSpPr>
              <p:cNvPr id="400" name="Freeform 400"/>
              <p:cNvSpPr/>
              <p:nvPr/>
            </p:nvSpPr>
            <p:spPr>
              <a:xfrm>
                <a:off x="6550025" y="5822950"/>
                <a:ext cx="69850" cy="25400"/>
              </a:xfrm>
              <a:custGeom>
                <a:avLst/>
                <a:gdLst/>
                <a:ahLst/>
                <a:cxnLst/>
                <a:rect l="l" t="t" r="r" b="b"/>
                <a:pathLst>
                  <a:path w="69850" h="25400">
                    <a:moveTo>
                      <a:pt x="0" y="25400"/>
                    </a:moveTo>
                    <a:lnTo>
                      <a:pt x="0" y="6350"/>
                    </a:lnTo>
                    <a:lnTo>
                      <a:pt x="31750" y="0"/>
                    </a:lnTo>
                    <a:lnTo>
                      <a:pt x="50800" y="19050"/>
                    </a:lnTo>
                    <a:lnTo>
                      <a:pt x="69850" y="25400"/>
                    </a:lnTo>
                  </a:path>
                </a:pathLst>
              </a:custGeom>
              <a:noFill/>
              <a:ln w="12700">
                <a:solidFill>
                  <a:srgbClr val="4E0D00"/>
                </a:solidFill>
              </a:ln>
            </p:spPr>
          </p:sp>
        </p:grpSp>
        <p:sp>
          <p:nvSpPr>
            <p:cNvPr id="402" name="TextBox 402"/>
            <p:cNvSpPr txBox="1"/>
            <p:nvPr/>
          </p:nvSpPr>
          <p:spPr>
            <a:xfrm>
              <a:off x="6805612" y="5683091"/>
              <a:ext cx="671855" cy="161925"/>
            </a:xfrm>
            <a:prstGeom prst="rect">
              <a:avLst/>
            </a:prstGeom>
            <a:noFill/>
            <a:ln>
              <a:noFill/>
            </a:ln>
          </p:spPr>
          <p:txBody>
            <a:bodyPr wrap="none" lIns="0" tIns="0" rIns="0" bIns="0" anchor="t" anchorCtr="0">
              <a:spAutoFit/>
            </a:bodyPr>
            <a:lstStyle/>
            <a:p>
              <a:pPr algn="l"/>
              <a:r>
                <a:rPr lang="zh-CN" sz="820" b="1" dirty="0">
                  <a:solidFill>
                    <a:srgbClr val="FFFFFF"/>
                  </a:solidFill>
                  <a:latin typeface="+mn-lt"/>
                  <a:ea typeface="+mn-ea"/>
                  <a:cs typeface="+mn-cs"/>
                </a:rPr>
                <a:t>推动关键行动</a:t>
              </a:r>
            </a:p>
          </p:txBody>
        </p:sp>
        <p:sp>
          <p:nvSpPr>
            <p:cNvPr id="403" name="TextBox 403"/>
            <p:cNvSpPr txBox="1"/>
            <p:nvPr/>
          </p:nvSpPr>
          <p:spPr>
            <a:xfrm>
              <a:off x="6805612" y="5859780"/>
              <a:ext cx="978789" cy="119062"/>
            </a:xfrm>
            <a:prstGeom prst="rect">
              <a:avLst/>
            </a:prstGeom>
            <a:noFill/>
            <a:ln>
              <a:noFill/>
            </a:ln>
          </p:spPr>
          <p:txBody>
            <a:bodyPr wrap="none" lIns="0" tIns="0" rIns="0" bIns="0" anchor="t" anchorCtr="0">
              <a:spAutoFit/>
            </a:bodyPr>
            <a:lstStyle/>
            <a:p>
              <a:pPr algn="l"/>
              <a:r>
                <a:rPr lang="zh-CN" sz="600" dirty="0">
                  <a:solidFill>
                    <a:srgbClr val="DCE5F2"/>
                  </a:solidFill>
                  <a:latin typeface="+mn-lt"/>
                  <a:ea typeface="+mn-ea"/>
                  <a:cs typeface="+mn-cs"/>
                </a:rPr>
                <a:t>制定行动计划，配置资源，</a:t>
              </a:r>
            </a:p>
          </p:txBody>
        </p:sp>
        <p:sp>
          <p:nvSpPr>
            <p:cNvPr id="404" name="TextBox 404"/>
            <p:cNvSpPr txBox="1"/>
            <p:nvPr/>
          </p:nvSpPr>
          <p:spPr>
            <a:xfrm>
              <a:off x="6805612" y="5974080"/>
              <a:ext cx="898017" cy="119062"/>
            </a:xfrm>
            <a:prstGeom prst="rect">
              <a:avLst/>
            </a:prstGeom>
            <a:noFill/>
            <a:ln>
              <a:noFill/>
            </a:ln>
          </p:spPr>
          <p:txBody>
            <a:bodyPr wrap="none" lIns="0" tIns="0" rIns="0" bIns="0" anchor="t" anchorCtr="0">
              <a:spAutoFit/>
            </a:bodyPr>
            <a:lstStyle/>
            <a:p>
              <a:pPr algn="l"/>
              <a:r>
                <a:rPr lang="zh-CN" sz="600" dirty="0">
                  <a:solidFill>
                    <a:srgbClr val="DCE5F2"/>
                  </a:solidFill>
                  <a:latin typeface="+mn-lt"/>
                  <a:ea typeface="+mn-ea"/>
                  <a:cs typeface="+mn-cs"/>
                </a:rPr>
                <a:t>持续跟踪，确保聚焦落地</a:t>
              </a:r>
            </a:p>
          </p:txBody>
        </p:sp>
      </p:grpSp>
      <p:grpSp>
        <p:nvGrpSpPr>
          <p:cNvPr id="414" name="tip"/>
          <p:cNvGrpSpPr/>
          <p:nvPr/>
        </p:nvGrpSpPr>
        <p:grpSpPr>
          <a:xfrm>
            <a:off x="8382000" y="5448300"/>
            <a:ext cx="3581400" cy="857250"/>
            <a:chOff x="8382000" y="5448300"/>
            <a:chExt cx="3581400" cy="857250"/>
          </a:xfrm>
        </p:grpSpPr>
        <p:sp>
          <p:nvSpPr>
            <p:cNvPr id="406" name="Rectangle 406"/>
            <p:cNvSpPr/>
            <p:nvPr/>
          </p:nvSpPr>
          <p:spPr>
            <a:xfrm>
              <a:off x="8382000" y="5448300"/>
              <a:ext cx="3581400" cy="857250"/>
            </a:xfrm>
            <a:prstGeom prst="rect">
              <a:avLst/>
            </a:prstGeom>
            <a:solidFill>
              <a:srgbClr val="EFF3FA"/>
            </a:solidFill>
            <a:ln w="9525">
              <a:solidFill>
                <a:srgbClr val="C7D2E4"/>
              </a:solidFill>
            </a:ln>
          </p:spPr>
        </p:sp>
        <p:sp>
          <p:nvSpPr>
            <p:cNvPr id="407" name="Ellipse 407"/>
            <p:cNvSpPr/>
            <p:nvPr/>
          </p:nvSpPr>
          <p:spPr>
            <a:xfrm>
              <a:off x="8572500" y="5724525"/>
              <a:ext cx="304800" cy="304800"/>
            </a:xfrm>
            <a:prstGeom prst="ellipse">
              <a:avLst/>
            </a:prstGeom>
            <a:solidFill>
              <a:srgbClr val="4E0D00"/>
            </a:solidFill>
            <a:ln>
              <a:noFill/>
            </a:ln>
          </p:spPr>
        </p:sp>
        <p:grpSp>
          <p:nvGrpSpPr>
            <p:cNvPr id="411" name="Group 411"/>
            <p:cNvGrpSpPr/>
            <p:nvPr/>
          </p:nvGrpSpPr>
          <p:grpSpPr>
            <a:xfrm>
              <a:off x="8660860" y="5817665"/>
              <a:ext cx="128076" cy="110034"/>
              <a:chOff x="8660860" y="5817665"/>
              <a:chExt cx="128076" cy="110034"/>
            </a:xfrm>
          </p:grpSpPr>
          <p:sp>
            <p:nvSpPr>
              <p:cNvPr id="408" name="Freeform 408"/>
              <p:cNvSpPr/>
              <p:nvPr/>
            </p:nvSpPr>
            <p:spPr>
              <a:xfrm>
                <a:off x="8724900" y="5857875"/>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409" name="Freeform 409"/>
              <p:cNvSpPr/>
              <p:nvPr/>
            </p:nvSpPr>
            <p:spPr>
              <a:xfrm>
                <a:off x="8660860" y="5817665"/>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FFFFFF"/>
                </a:solidFill>
              </a:ln>
            </p:spPr>
          </p:sp>
          <p:sp>
            <p:nvSpPr>
              <p:cNvPr id="410" name="Freeform 410"/>
              <p:cNvSpPr/>
              <p:nvPr/>
            </p:nvSpPr>
            <p:spPr>
              <a:xfrm>
                <a:off x="8724900" y="5902325"/>
                <a:ext cx="9525" cy="9525"/>
              </a:xfrm>
              <a:custGeom>
                <a:avLst/>
                <a:gdLst/>
                <a:ahLst/>
                <a:cxnLst/>
                <a:rect l="l" t="t" r="r" b="b"/>
                <a:pathLst>
                  <a:path w="9525" h="9525">
                    <a:moveTo>
                      <a:pt x="0" y="0"/>
                    </a:moveTo>
                    <a:lnTo>
                      <a:pt x="64" y="0"/>
                    </a:lnTo>
                  </a:path>
                </a:pathLst>
              </a:custGeom>
              <a:noFill/>
              <a:ln w="12700">
                <a:solidFill>
                  <a:srgbClr val="FFFFFF"/>
                </a:solidFill>
              </a:ln>
            </p:spPr>
          </p:sp>
        </p:grpSp>
        <p:sp>
          <p:nvSpPr>
            <p:cNvPr id="412" name="TextBox 412"/>
            <p:cNvSpPr txBox="1"/>
            <p:nvPr/>
          </p:nvSpPr>
          <p:spPr>
            <a:xfrm>
              <a:off x="8986838" y="5725239"/>
              <a:ext cx="1380108"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80/20是一种资源聚焦思想，</a:t>
              </a:r>
            </a:p>
          </p:txBody>
        </p:sp>
        <p:sp>
          <p:nvSpPr>
            <p:cNvPr id="413" name="TextBox 413"/>
            <p:cNvSpPr txBox="1"/>
            <p:nvPr/>
          </p:nvSpPr>
          <p:spPr>
            <a:xfrm>
              <a:off x="8986838" y="5915739"/>
              <a:ext cx="860323"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并非固定数学比例</a:t>
              </a:r>
            </a:p>
          </p:txBody>
        </p:sp>
      </p:gr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546354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金字塔原理｜先给答案，再说明为什么</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22" name="vertical-logic"/>
          <p:cNvGrpSpPr/>
          <p:nvPr/>
        </p:nvGrpSpPr>
        <p:grpSpPr>
          <a:xfrm>
            <a:off x="228600" y="838200"/>
            <a:ext cx="1094067" cy="2076688"/>
            <a:chOff x="228600" y="838200"/>
            <a:chExt cx="1094067" cy="2076688"/>
          </a:xfrm>
        </p:grpSpPr>
        <p:sp>
          <p:nvSpPr>
            <p:cNvPr id="6" name="Rectangle 6"/>
            <p:cNvSpPr/>
            <p:nvPr/>
          </p:nvSpPr>
          <p:spPr>
            <a:xfrm>
              <a:off x="228600" y="838200"/>
              <a:ext cx="914400" cy="247650"/>
            </a:xfrm>
            <a:prstGeom prst="rect">
              <a:avLst/>
            </a:prstGeom>
            <a:solidFill>
              <a:srgbClr val="4E0D00"/>
            </a:solidFill>
            <a:ln>
              <a:noFill/>
            </a:ln>
          </p:spPr>
        </p:sp>
        <p:sp>
          <p:nvSpPr>
            <p:cNvPr id="7" name="TextBox 7"/>
            <p:cNvSpPr txBox="1"/>
            <p:nvPr/>
          </p:nvSpPr>
          <p:spPr>
            <a:xfrm>
              <a:off x="438722" y="912495"/>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纵向逻辑</a:t>
              </a:r>
            </a:p>
          </p:txBody>
        </p:sp>
        <p:sp>
          <p:nvSpPr>
            <p:cNvPr id="8" name="Ellipse 8"/>
            <p:cNvSpPr/>
            <p:nvPr/>
          </p:nvSpPr>
          <p:spPr>
            <a:xfrm>
              <a:off x="352425" y="1323975"/>
              <a:ext cx="209550" cy="209550"/>
            </a:xfrm>
            <a:prstGeom prst="ellipse">
              <a:avLst/>
            </a:prstGeom>
            <a:solidFill>
              <a:srgbClr val="4E0D00"/>
            </a:solidFill>
            <a:ln>
              <a:noFill/>
            </a:ln>
          </p:spPr>
        </p:sp>
        <p:sp>
          <p:nvSpPr>
            <p:cNvPr id="9" name="TextBox 9"/>
            <p:cNvSpPr txBox="1"/>
            <p:nvPr/>
          </p:nvSpPr>
          <p:spPr>
            <a:xfrm>
              <a:off x="420563" y="13777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a:t>
              </a:r>
            </a:p>
          </p:txBody>
        </p:sp>
        <p:sp>
          <p:nvSpPr>
            <p:cNvPr id="10" name="TextBox 10"/>
            <p:cNvSpPr txBox="1"/>
            <p:nvPr/>
          </p:nvSpPr>
          <p:spPr>
            <a:xfrm>
              <a:off x="623888" y="1308497"/>
              <a:ext cx="262611" cy="183356"/>
            </a:xfrm>
            <a:prstGeom prst="rect">
              <a:avLst/>
            </a:prstGeom>
            <a:noFill/>
            <a:ln>
              <a:noFill/>
            </a:ln>
          </p:spPr>
          <p:txBody>
            <a:bodyPr wrap="none" lIns="0" tIns="0" rIns="0" bIns="0" anchor="t" anchorCtr="0">
              <a:spAutoFit/>
            </a:bodyPr>
            <a:lstStyle/>
            <a:p>
              <a:pPr algn="l"/>
              <a:r>
                <a:rPr lang="zh-CN" sz="940" b="1" dirty="0">
                  <a:solidFill>
                    <a:srgbClr val="4E0D00"/>
                  </a:solidFill>
                  <a:latin typeface="+mn-lt"/>
                  <a:ea typeface="+mn-ea"/>
                  <a:cs typeface="+mn-cs"/>
                </a:rPr>
                <a:t>结论</a:t>
              </a:r>
            </a:p>
          </p:txBody>
        </p:sp>
        <p:sp>
          <p:nvSpPr>
            <p:cNvPr id="11" name="TextBox 11"/>
            <p:cNvSpPr txBox="1"/>
            <p:nvPr/>
          </p:nvSpPr>
          <p:spPr>
            <a:xfrm>
              <a:off x="623888" y="1493282"/>
              <a:ext cx="440309" cy="126206"/>
            </a:xfrm>
            <a:prstGeom prst="rect">
              <a:avLst/>
            </a:prstGeom>
            <a:noFill/>
            <a:ln>
              <a:noFill/>
            </a:ln>
          </p:spPr>
          <p:txBody>
            <a:bodyPr wrap="none" lIns="0" tIns="0" rIns="0" bIns="0" anchor="t" anchorCtr="0">
              <a:spAutoFit/>
            </a:bodyPr>
            <a:lstStyle/>
            <a:p>
              <a:pPr algn="l"/>
              <a:r>
                <a:rPr lang="zh-CN" sz="640" dirty="0">
                  <a:solidFill>
                    <a:srgbClr val="6E5955"/>
                  </a:solidFill>
                  <a:latin typeface="+mn-lt"/>
                  <a:ea typeface="+mn-ea"/>
                  <a:cs typeface="+mn-cs"/>
                </a:rPr>
                <a:t>先给出结论</a:t>
              </a:r>
            </a:p>
          </p:txBody>
        </p:sp>
        <p:sp>
          <p:nvSpPr>
            <p:cNvPr id="12" name="Line 12"/>
            <p:cNvSpPr/>
            <p:nvPr/>
          </p:nvSpPr>
          <p:spPr>
            <a:xfrm>
              <a:off x="457200" y="1571625"/>
              <a:ext cx="1" cy="352425"/>
            </a:xfrm>
            <a:prstGeom prst="line">
              <a:avLst/>
            </a:prstGeom>
            <a:noFill/>
            <a:ln w="13335">
              <a:solidFill>
                <a:srgbClr val="944130"/>
              </a:solidFill>
              <a:tailEnd type="triangle" w="lg" len="lg"/>
            </a:ln>
          </p:spPr>
        </p:sp>
        <p:sp>
          <p:nvSpPr>
            <p:cNvPr id="13" name="Ellipse 13"/>
            <p:cNvSpPr/>
            <p:nvPr/>
          </p:nvSpPr>
          <p:spPr>
            <a:xfrm>
              <a:off x="352425" y="1971675"/>
              <a:ext cx="209550" cy="209550"/>
            </a:xfrm>
            <a:prstGeom prst="ellipse">
              <a:avLst/>
            </a:prstGeom>
            <a:solidFill>
              <a:srgbClr val="4E0D00"/>
            </a:solidFill>
            <a:ln>
              <a:noFill/>
            </a:ln>
          </p:spPr>
        </p:sp>
        <p:sp>
          <p:nvSpPr>
            <p:cNvPr id="14" name="TextBox 14"/>
            <p:cNvSpPr txBox="1"/>
            <p:nvPr/>
          </p:nvSpPr>
          <p:spPr>
            <a:xfrm>
              <a:off x="420563" y="20254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a:t>
              </a:r>
            </a:p>
          </p:txBody>
        </p:sp>
        <p:sp>
          <p:nvSpPr>
            <p:cNvPr id="15" name="TextBox 15"/>
            <p:cNvSpPr txBox="1"/>
            <p:nvPr/>
          </p:nvSpPr>
          <p:spPr>
            <a:xfrm>
              <a:off x="623888" y="1956197"/>
              <a:ext cx="262611" cy="183356"/>
            </a:xfrm>
            <a:prstGeom prst="rect">
              <a:avLst/>
            </a:prstGeom>
            <a:noFill/>
            <a:ln>
              <a:noFill/>
            </a:ln>
          </p:spPr>
          <p:txBody>
            <a:bodyPr wrap="none" lIns="0" tIns="0" rIns="0" bIns="0" anchor="t" anchorCtr="0">
              <a:spAutoFit/>
            </a:bodyPr>
            <a:lstStyle/>
            <a:p>
              <a:pPr algn="l"/>
              <a:r>
                <a:rPr lang="zh-CN" sz="940" b="1" dirty="0">
                  <a:solidFill>
                    <a:srgbClr val="4E0D00"/>
                  </a:solidFill>
                  <a:latin typeface="+mn-lt"/>
                  <a:ea typeface="+mn-ea"/>
                  <a:cs typeface="+mn-cs"/>
                </a:rPr>
                <a:t>理由</a:t>
              </a:r>
            </a:p>
          </p:txBody>
        </p:sp>
        <p:sp>
          <p:nvSpPr>
            <p:cNvPr id="16" name="TextBox 16"/>
            <p:cNvSpPr txBox="1"/>
            <p:nvPr/>
          </p:nvSpPr>
          <p:spPr>
            <a:xfrm>
              <a:off x="623888" y="2140982"/>
              <a:ext cx="698779" cy="126206"/>
            </a:xfrm>
            <a:prstGeom prst="rect">
              <a:avLst/>
            </a:prstGeom>
            <a:noFill/>
            <a:ln>
              <a:noFill/>
            </a:ln>
          </p:spPr>
          <p:txBody>
            <a:bodyPr wrap="none" lIns="0" tIns="0" rIns="0" bIns="0" anchor="t" anchorCtr="0">
              <a:spAutoFit/>
            </a:bodyPr>
            <a:lstStyle/>
            <a:p>
              <a:pPr algn="l"/>
              <a:r>
                <a:rPr lang="zh-CN" sz="640" dirty="0">
                  <a:solidFill>
                    <a:srgbClr val="6E5955"/>
                  </a:solidFill>
                  <a:latin typeface="+mn-lt"/>
                  <a:ea typeface="+mn-ea"/>
                  <a:cs typeface="+mn-cs"/>
                </a:rPr>
                <a:t>解释结论的支撑点</a:t>
              </a:r>
            </a:p>
          </p:txBody>
        </p:sp>
        <p:sp>
          <p:nvSpPr>
            <p:cNvPr id="17" name="Line 17"/>
            <p:cNvSpPr/>
            <p:nvPr/>
          </p:nvSpPr>
          <p:spPr>
            <a:xfrm>
              <a:off x="457200" y="2219325"/>
              <a:ext cx="1" cy="352425"/>
            </a:xfrm>
            <a:prstGeom prst="line">
              <a:avLst/>
            </a:prstGeom>
            <a:noFill/>
            <a:ln w="13335">
              <a:solidFill>
                <a:srgbClr val="944130"/>
              </a:solidFill>
              <a:tailEnd type="triangle" w="lg" len="lg"/>
            </a:ln>
          </p:spPr>
        </p:sp>
        <p:sp>
          <p:nvSpPr>
            <p:cNvPr id="18" name="Ellipse 18"/>
            <p:cNvSpPr/>
            <p:nvPr/>
          </p:nvSpPr>
          <p:spPr>
            <a:xfrm>
              <a:off x="352425" y="2619375"/>
              <a:ext cx="209550" cy="209550"/>
            </a:xfrm>
            <a:prstGeom prst="ellipse">
              <a:avLst/>
            </a:prstGeom>
            <a:solidFill>
              <a:srgbClr val="4E0D00"/>
            </a:solidFill>
            <a:ln>
              <a:noFill/>
            </a:ln>
          </p:spPr>
        </p:sp>
        <p:sp>
          <p:nvSpPr>
            <p:cNvPr id="19" name="TextBox 19"/>
            <p:cNvSpPr txBox="1"/>
            <p:nvPr/>
          </p:nvSpPr>
          <p:spPr>
            <a:xfrm>
              <a:off x="420563" y="2673191"/>
              <a:ext cx="7327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a:t>
              </a:r>
            </a:p>
          </p:txBody>
        </p:sp>
        <p:sp>
          <p:nvSpPr>
            <p:cNvPr id="20" name="TextBox 20"/>
            <p:cNvSpPr txBox="1"/>
            <p:nvPr/>
          </p:nvSpPr>
          <p:spPr>
            <a:xfrm>
              <a:off x="623888" y="2603897"/>
              <a:ext cx="262611" cy="183356"/>
            </a:xfrm>
            <a:prstGeom prst="rect">
              <a:avLst/>
            </a:prstGeom>
            <a:noFill/>
            <a:ln>
              <a:noFill/>
            </a:ln>
          </p:spPr>
          <p:txBody>
            <a:bodyPr wrap="none" lIns="0" tIns="0" rIns="0" bIns="0" anchor="t" anchorCtr="0">
              <a:spAutoFit/>
            </a:bodyPr>
            <a:lstStyle/>
            <a:p>
              <a:pPr algn="l"/>
              <a:r>
                <a:rPr lang="zh-CN" sz="940" b="1" dirty="0">
                  <a:solidFill>
                    <a:srgbClr val="4E0D00"/>
                  </a:solidFill>
                  <a:latin typeface="+mn-lt"/>
                  <a:ea typeface="+mn-ea"/>
                  <a:cs typeface="+mn-cs"/>
                </a:rPr>
                <a:t>证据</a:t>
              </a:r>
            </a:p>
          </p:txBody>
        </p:sp>
        <p:sp>
          <p:nvSpPr>
            <p:cNvPr id="21" name="TextBox 21"/>
            <p:cNvSpPr txBox="1"/>
            <p:nvPr/>
          </p:nvSpPr>
          <p:spPr>
            <a:xfrm>
              <a:off x="623888" y="2788682"/>
              <a:ext cx="612623" cy="126206"/>
            </a:xfrm>
            <a:prstGeom prst="rect">
              <a:avLst/>
            </a:prstGeom>
            <a:noFill/>
            <a:ln>
              <a:noFill/>
            </a:ln>
          </p:spPr>
          <p:txBody>
            <a:bodyPr wrap="none" lIns="0" tIns="0" rIns="0" bIns="0" anchor="t" anchorCtr="0">
              <a:spAutoFit/>
            </a:bodyPr>
            <a:lstStyle/>
            <a:p>
              <a:pPr algn="l"/>
              <a:r>
                <a:rPr lang="zh-CN" sz="640" dirty="0">
                  <a:solidFill>
                    <a:srgbClr val="6E5955"/>
                  </a:solidFill>
                  <a:latin typeface="+mn-lt"/>
                  <a:ea typeface="+mn-ea"/>
                  <a:cs typeface="+mn-cs"/>
                </a:rPr>
                <a:t>提供支撑的依据</a:t>
              </a:r>
            </a:p>
          </p:txBody>
        </p:sp>
      </p:grpSp>
      <p:grpSp>
        <p:nvGrpSpPr>
          <p:cNvPr id="65" name="pyramid-block"/>
          <p:cNvGrpSpPr/>
          <p:nvPr/>
        </p:nvGrpSpPr>
        <p:grpSpPr>
          <a:xfrm>
            <a:off x="1809750" y="1143000"/>
            <a:ext cx="3429000" cy="3508534"/>
            <a:chOff x="1809750" y="1143000"/>
            <a:chExt cx="3429000" cy="3508534"/>
          </a:xfrm>
        </p:grpSpPr>
        <p:sp>
          <p:nvSpPr>
            <p:cNvPr id="23" name="Freeform 23"/>
            <p:cNvSpPr/>
            <p:nvPr/>
          </p:nvSpPr>
          <p:spPr>
            <a:xfrm>
              <a:off x="2667000" y="1143000"/>
              <a:ext cx="1714500" cy="838200"/>
            </a:xfrm>
            <a:prstGeom prst="triangle">
              <a:avLst/>
            </a:prstGeom>
            <a:solidFill>
              <a:srgbClr val="4E0D00"/>
            </a:solidFill>
            <a:ln>
              <a:noFill/>
            </a:ln>
          </p:spPr>
        </p:sp>
        <p:grpSp>
          <p:nvGrpSpPr>
            <p:cNvPr id="27" name="Group 27"/>
            <p:cNvGrpSpPr/>
            <p:nvPr/>
          </p:nvGrpSpPr>
          <p:grpSpPr>
            <a:xfrm>
              <a:off x="3467100" y="1314450"/>
              <a:ext cx="114300" cy="114300"/>
              <a:chOff x="3467100" y="1314450"/>
              <a:chExt cx="114300" cy="114300"/>
            </a:xfrm>
          </p:grpSpPr>
          <p:sp>
            <p:nvSpPr>
              <p:cNvPr id="24" name="Freeform 24"/>
              <p:cNvSpPr/>
              <p:nvPr/>
            </p:nvSpPr>
            <p:spPr>
              <a:xfrm>
                <a:off x="3517900" y="13652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25" name="Freeform 25"/>
              <p:cNvSpPr/>
              <p:nvPr/>
            </p:nvSpPr>
            <p:spPr>
              <a:xfrm>
                <a:off x="3492500" y="13398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FFFFFF"/>
                </a:solidFill>
              </a:ln>
            </p:spPr>
          </p:sp>
          <p:sp>
            <p:nvSpPr>
              <p:cNvPr id="26" name="Freeform 26"/>
              <p:cNvSpPr/>
              <p:nvPr/>
            </p:nvSpPr>
            <p:spPr>
              <a:xfrm>
                <a:off x="3467100" y="13144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grpSp>
        <p:sp>
          <p:nvSpPr>
            <p:cNvPr id="28" name="TextBox 28"/>
            <p:cNvSpPr txBox="1"/>
            <p:nvPr/>
          </p:nvSpPr>
          <p:spPr>
            <a:xfrm>
              <a:off x="3247174" y="1529001"/>
              <a:ext cx="554152" cy="198025"/>
            </a:xfrm>
            <a:prstGeom prst="rect">
              <a:avLst/>
            </a:prstGeom>
            <a:noFill/>
            <a:ln>
              <a:noFill/>
            </a:ln>
          </p:spPr>
          <p:txBody>
            <a:bodyPr wrap="none" lIns="0" tIns="0" rIns="0" bIns="0" anchor="t" anchorCtr="0">
              <a:spAutoFit/>
            </a:bodyPr>
            <a:lstStyle/>
            <a:p>
              <a:pPr algn="ctr"/>
              <a:r>
                <a:rPr lang="zh-CN" sz="1010" b="1" dirty="0">
                  <a:solidFill>
                    <a:srgbClr val="FFFFFF"/>
                  </a:solidFill>
                  <a:latin typeface="+mn-lt"/>
                  <a:ea typeface="+mn-ea"/>
                  <a:cs typeface="+mn-cs"/>
                </a:rPr>
                <a:t>核心结论</a:t>
              </a:r>
            </a:p>
          </p:txBody>
        </p:sp>
        <p:sp>
          <p:nvSpPr>
            <p:cNvPr id="29" name="TextBox 29"/>
            <p:cNvSpPr txBox="1"/>
            <p:nvPr/>
          </p:nvSpPr>
          <p:spPr>
            <a:xfrm>
              <a:off x="3088704" y="1740932"/>
              <a:ext cx="871093"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一句话结论，直击要点</a:t>
              </a:r>
            </a:p>
          </p:txBody>
        </p:sp>
        <p:sp>
          <p:nvSpPr>
            <p:cNvPr id="30" name="Freeform 30"/>
            <p:cNvSpPr/>
            <p:nvPr/>
          </p:nvSpPr>
          <p:spPr>
            <a:xfrm>
              <a:off x="2238375" y="2019300"/>
              <a:ext cx="2571750" cy="876300"/>
            </a:xfrm>
            <a:prstGeom prst="trapezoid">
              <a:avLst>
                <a:gd name="adj" fmla="val 48913"/>
              </a:avLst>
            </a:prstGeom>
            <a:solidFill>
              <a:srgbClr val="944130"/>
            </a:solidFill>
            <a:ln>
              <a:noFill/>
            </a:ln>
          </p:spPr>
        </p:sp>
        <p:grpSp>
          <p:nvGrpSpPr>
            <p:cNvPr id="36" name="Group 36"/>
            <p:cNvGrpSpPr/>
            <p:nvPr/>
          </p:nvGrpSpPr>
          <p:grpSpPr>
            <a:xfrm>
              <a:off x="3467100" y="2171700"/>
              <a:ext cx="114300" cy="114300"/>
              <a:chOff x="3467100" y="2171700"/>
              <a:chExt cx="114300" cy="114300"/>
            </a:xfrm>
          </p:grpSpPr>
          <p:sp>
            <p:nvSpPr>
              <p:cNvPr id="31" name="Freeform 31"/>
              <p:cNvSpPr/>
              <p:nvPr/>
            </p:nvSpPr>
            <p:spPr>
              <a:xfrm>
                <a:off x="3467100" y="224790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32" name="Freeform 32"/>
              <p:cNvSpPr/>
              <p:nvPr/>
            </p:nvSpPr>
            <p:spPr>
              <a:xfrm>
                <a:off x="3543300" y="224790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33" name="Freeform 33"/>
              <p:cNvSpPr/>
              <p:nvPr/>
            </p:nvSpPr>
            <p:spPr>
              <a:xfrm>
                <a:off x="3505200" y="2171700"/>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34" name="Freeform 34"/>
              <p:cNvSpPr/>
              <p:nvPr/>
            </p:nvSpPr>
            <p:spPr>
              <a:xfrm>
                <a:off x="3486150" y="2228850"/>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FFFFFF"/>
                </a:solidFill>
              </a:ln>
            </p:spPr>
          </p:sp>
          <p:sp>
            <p:nvSpPr>
              <p:cNvPr id="35" name="Freeform 35"/>
              <p:cNvSpPr/>
              <p:nvPr/>
            </p:nvSpPr>
            <p:spPr>
              <a:xfrm>
                <a:off x="3524250" y="2209800"/>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37" name="TextBox 37"/>
            <p:cNvSpPr txBox="1"/>
            <p:nvPr/>
          </p:nvSpPr>
          <p:spPr>
            <a:xfrm>
              <a:off x="3075196" y="2409349"/>
              <a:ext cx="89810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3–5个关键论点</a:t>
              </a:r>
            </a:p>
          </p:txBody>
        </p:sp>
        <p:sp>
          <p:nvSpPr>
            <p:cNvPr id="38" name="TextBox 38"/>
            <p:cNvSpPr txBox="1"/>
            <p:nvPr/>
          </p:nvSpPr>
          <p:spPr>
            <a:xfrm>
              <a:off x="2873311" y="2617232"/>
              <a:ext cx="1301877"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支撑结论的关键理由（相互独立）</a:t>
              </a:r>
            </a:p>
          </p:txBody>
        </p:sp>
        <p:sp>
          <p:nvSpPr>
            <p:cNvPr id="39" name="Freeform 39"/>
            <p:cNvSpPr/>
            <p:nvPr/>
          </p:nvSpPr>
          <p:spPr>
            <a:xfrm>
              <a:off x="1809750" y="2933700"/>
              <a:ext cx="3429000" cy="876300"/>
            </a:xfrm>
            <a:prstGeom prst="trapezoid">
              <a:avLst>
                <a:gd name="adj" fmla="val 48913"/>
              </a:avLst>
            </a:prstGeom>
            <a:solidFill>
              <a:srgbClr val="BC867B"/>
            </a:solidFill>
            <a:ln>
              <a:noFill/>
            </a:ln>
          </p:spPr>
        </p:sp>
        <p:grpSp>
          <p:nvGrpSpPr>
            <p:cNvPr id="44" name="Group 44"/>
            <p:cNvGrpSpPr/>
            <p:nvPr/>
          </p:nvGrpSpPr>
          <p:grpSpPr>
            <a:xfrm>
              <a:off x="2762250" y="3130550"/>
              <a:ext cx="114300" cy="111125"/>
              <a:chOff x="2762250" y="3130550"/>
              <a:chExt cx="114300" cy="111125"/>
            </a:xfrm>
          </p:grpSpPr>
          <p:sp>
            <p:nvSpPr>
              <p:cNvPr id="40" name="Freeform 40"/>
              <p:cNvSpPr/>
              <p:nvPr/>
            </p:nvSpPr>
            <p:spPr>
              <a:xfrm>
                <a:off x="2762250" y="31813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FFFFFF"/>
                </a:solidFill>
              </a:ln>
            </p:spPr>
          </p:sp>
          <p:sp>
            <p:nvSpPr>
              <p:cNvPr id="41" name="Freeform 41"/>
              <p:cNvSpPr/>
              <p:nvPr/>
            </p:nvSpPr>
            <p:spPr>
              <a:xfrm>
                <a:off x="2838450" y="31559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FFFFFF"/>
                </a:solidFill>
              </a:ln>
            </p:spPr>
          </p:sp>
          <p:sp>
            <p:nvSpPr>
              <p:cNvPr id="42" name="Freeform 42"/>
              <p:cNvSpPr/>
              <p:nvPr/>
            </p:nvSpPr>
            <p:spPr>
              <a:xfrm>
                <a:off x="2800350" y="31305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FFFFFF"/>
                </a:solidFill>
              </a:ln>
            </p:spPr>
          </p:sp>
          <p:sp>
            <p:nvSpPr>
              <p:cNvPr id="43" name="Freeform 43"/>
              <p:cNvSpPr/>
              <p:nvPr/>
            </p:nvSpPr>
            <p:spPr>
              <a:xfrm>
                <a:off x="2768600" y="3232150"/>
                <a:ext cx="88900" cy="9525"/>
              </a:xfrm>
              <a:custGeom>
                <a:avLst/>
                <a:gdLst/>
                <a:ahLst/>
                <a:cxnLst/>
                <a:rect l="l" t="t" r="r" b="b"/>
                <a:pathLst>
                  <a:path w="88900" h="9525">
                    <a:moveTo>
                      <a:pt x="0" y="0"/>
                    </a:moveTo>
                    <a:lnTo>
                      <a:pt x="88900" y="0"/>
                    </a:lnTo>
                  </a:path>
                </a:pathLst>
              </a:custGeom>
              <a:noFill/>
              <a:ln w="12700">
                <a:solidFill>
                  <a:srgbClr val="FFFFFF"/>
                </a:solidFill>
              </a:ln>
            </p:spPr>
          </p:sp>
        </p:grpSp>
        <p:grpSp>
          <p:nvGrpSpPr>
            <p:cNvPr id="47" name="Group 47"/>
            <p:cNvGrpSpPr/>
            <p:nvPr/>
          </p:nvGrpSpPr>
          <p:grpSpPr>
            <a:xfrm>
              <a:off x="3236730" y="3125292"/>
              <a:ext cx="114800" cy="114978"/>
              <a:chOff x="3236730" y="3125292"/>
              <a:chExt cx="114800" cy="114978"/>
            </a:xfrm>
          </p:grpSpPr>
          <p:sp>
            <p:nvSpPr>
              <p:cNvPr id="45" name="Freeform 45"/>
              <p:cNvSpPr/>
              <p:nvPr/>
            </p:nvSpPr>
            <p:spPr>
              <a:xfrm>
                <a:off x="3236730" y="3125292"/>
                <a:ext cx="114800" cy="114978"/>
              </a:xfrm>
              <a:custGeom>
                <a:avLst/>
                <a:gdLst/>
                <a:ahLst/>
                <a:cxnLst/>
                <a:rect l="l" t="t" r="r" b="b"/>
                <a:pathLst>
                  <a:path w="114800" h="114978">
                    <a:moveTo>
                      <a:pt x="46220" y="178"/>
                    </a:moveTo>
                    <a:cubicBezTo>
                      <a:pt x="18725" y="6552"/>
                      <a:pt x="0" y="32044"/>
                      <a:pt x="2141" y="60187"/>
                    </a:cubicBezTo>
                    <a:cubicBezTo>
                      <a:pt x="4282" y="88330"/>
                      <a:pt x="26648" y="110696"/>
                      <a:pt x="54791" y="112837"/>
                    </a:cubicBezTo>
                    <a:cubicBezTo>
                      <a:pt x="82934" y="114978"/>
                      <a:pt x="108426" y="96254"/>
                      <a:pt x="114800" y="68758"/>
                    </a:cubicBezTo>
                    <a:cubicBezTo>
                      <a:pt x="114800" y="65251"/>
                      <a:pt x="111957" y="62408"/>
                      <a:pt x="108450" y="62408"/>
                    </a:cubicBezTo>
                    <a:lnTo>
                      <a:pt x="65270" y="62408"/>
                    </a:lnTo>
                    <a:cubicBezTo>
                      <a:pt x="58256" y="62408"/>
                      <a:pt x="52570" y="56722"/>
                      <a:pt x="52570" y="49708"/>
                    </a:cubicBezTo>
                    <a:lnTo>
                      <a:pt x="52570" y="5258"/>
                    </a:lnTo>
                    <a:cubicBezTo>
                      <a:pt x="52411" y="3738"/>
                      <a:pt x="51649" y="2346"/>
                      <a:pt x="50456" y="1391"/>
                    </a:cubicBezTo>
                    <a:cubicBezTo>
                      <a:pt x="49263" y="437"/>
                      <a:pt x="47738" y="0"/>
                      <a:pt x="46220" y="178"/>
                    </a:cubicBezTo>
                  </a:path>
                </a:pathLst>
              </a:custGeom>
              <a:noFill/>
              <a:ln w="12700">
                <a:solidFill>
                  <a:srgbClr val="FFFFFF"/>
                </a:solidFill>
              </a:ln>
            </p:spPr>
          </p:sp>
          <p:sp>
            <p:nvSpPr>
              <p:cNvPr id="46" name="Freeform 46"/>
              <p:cNvSpPr/>
              <p:nvPr/>
            </p:nvSpPr>
            <p:spPr>
              <a:xfrm>
                <a:off x="3314700" y="3127375"/>
                <a:ext cx="34925" cy="34925"/>
              </a:xfrm>
              <a:custGeom>
                <a:avLst/>
                <a:gdLst/>
                <a:ahLst/>
                <a:cxnLst/>
                <a:rect l="l" t="t" r="r" b="b"/>
                <a:pathLst>
                  <a:path w="34925" h="34925">
                    <a:moveTo>
                      <a:pt x="0" y="0"/>
                    </a:moveTo>
                    <a:cubicBezTo>
                      <a:pt x="16331" y="5750"/>
                      <a:pt x="29175" y="18594"/>
                      <a:pt x="34925" y="34925"/>
                    </a:cubicBezTo>
                    <a:lnTo>
                      <a:pt x="6350" y="34925"/>
                    </a:lnTo>
                    <a:cubicBezTo>
                      <a:pt x="2843" y="34925"/>
                      <a:pt x="0" y="32082"/>
                      <a:pt x="0" y="28575"/>
                    </a:cubicBezTo>
                    <a:lnTo>
                      <a:pt x="0" y="0"/>
                    </a:lnTo>
                  </a:path>
                </a:pathLst>
              </a:custGeom>
              <a:noFill/>
              <a:ln w="12700">
                <a:solidFill>
                  <a:srgbClr val="FFFFFF"/>
                </a:solidFill>
              </a:ln>
            </p:spPr>
          </p:sp>
        </p:grpSp>
        <p:grpSp>
          <p:nvGrpSpPr>
            <p:cNvPr id="53" name="Group 53"/>
            <p:cNvGrpSpPr/>
            <p:nvPr/>
          </p:nvGrpSpPr>
          <p:grpSpPr>
            <a:xfrm>
              <a:off x="3727450" y="3124200"/>
              <a:ext cx="88900" cy="114300"/>
              <a:chOff x="3727450" y="3124200"/>
              <a:chExt cx="88900" cy="114300"/>
            </a:xfrm>
          </p:grpSpPr>
          <p:sp>
            <p:nvSpPr>
              <p:cNvPr id="48" name="Freeform 48"/>
              <p:cNvSpPr/>
              <p:nvPr/>
            </p:nvSpPr>
            <p:spPr>
              <a:xfrm>
                <a:off x="3784600" y="3124200"/>
                <a:ext cx="31750" cy="31750"/>
              </a:xfrm>
              <a:custGeom>
                <a:avLst/>
                <a:gdLst/>
                <a:ahLst/>
                <a:cxnLst/>
                <a:rect l="l" t="t" r="r" b="b"/>
                <a:pathLst>
                  <a:path w="31750" h="31750">
                    <a:moveTo>
                      <a:pt x="0" y="0"/>
                    </a:moveTo>
                    <a:lnTo>
                      <a:pt x="0" y="25400"/>
                    </a:lnTo>
                    <a:cubicBezTo>
                      <a:pt x="0" y="28907"/>
                      <a:pt x="2843" y="31750"/>
                      <a:pt x="6350" y="31750"/>
                    </a:cubicBezTo>
                    <a:lnTo>
                      <a:pt x="31750" y="31750"/>
                    </a:lnTo>
                  </a:path>
                </a:pathLst>
              </a:custGeom>
              <a:noFill/>
              <a:ln w="12700">
                <a:solidFill>
                  <a:srgbClr val="FFFFFF"/>
                </a:solidFill>
              </a:ln>
            </p:spPr>
          </p:sp>
          <p:sp>
            <p:nvSpPr>
              <p:cNvPr id="49" name="Freeform 49"/>
              <p:cNvSpPr/>
              <p:nvPr/>
            </p:nvSpPr>
            <p:spPr>
              <a:xfrm>
                <a:off x="3727450" y="3124200"/>
                <a:ext cx="88900" cy="114300"/>
              </a:xfrm>
              <a:custGeom>
                <a:avLst/>
                <a:gdLst/>
                <a:ahLst/>
                <a:cxnLst/>
                <a:rect l="l" t="t" r="r" b="b"/>
                <a:pathLst>
                  <a:path w="88900" h="114300">
                    <a:moveTo>
                      <a:pt x="76200" y="114300"/>
                    </a:moveTo>
                    <a:lnTo>
                      <a:pt x="12700" y="114300"/>
                    </a:lnTo>
                    <a:cubicBezTo>
                      <a:pt x="5686" y="114300"/>
                      <a:pt x="0" y="108614"/>
                      <a:pt x="0" y="101600"/>
                    </a:cubicBezTo>
                    <a:lnTo>
                      <a:pt x="0" y="12700"/>
                    </a:lnTo>
                    <a:cubicBezTo>
                      <a:pt x="0" y="5686"/>
                      <a:pt x="5686" y="0"/>
                      <a:pt x="12700" y="0"/>
                    </a:cubicBezTo>
                    <a:lnTo>
                      <a:pt x="57150" y="0"/>
                    </a:lnTo>
                    <a:lnTo>
                      <a:pt x="88900" y="31750"/>
                    </a:lnTo>
                    <a:lnTo>
                      <a:pt x="88900" y="101600"/>
                    </a:lnTo>
                    <a:cubicBezTo>
                      <a:pt x="88900" y="108614"/>
                      <a:pt x="83214" y="114300"/>
                      <a:pt x="76200" y="114300"/>
                    </a:cubicBezTo>
                  </a:path>
                </a:pathLst>
              </a:custGeom>
              <a:noFill/>
              <a:ln w="12700">
                <a:solidFill>
                  <a:srgbClr val="FFFFFF"/>
                </a:solidFill>
              </a:ln>
            </p:spPr>
          </p:sp>
          <p:sp>
            <p:nvSpPr>
              <p:cNvPr id="50" name="Freeform 50"/>
              <p:cNvSpPr/>
              <p:nvPr/>
            </p:nvSpPr>
            <p:spPr>
              <a:xfrm>
                <a:off x="3752850" y="3162300"/>
                <a:ext cx="9525" cy="9525"/>
              </a:xfrm>
              <a:custGeom>
                <a:avLst/>
                <a:gdLst/>
                <a:ahLst/>
                <a:cxnLst/>
                <a:rect l="l" t="t" r="r" b="b"/>
                <a:pathLst>
                  <a:path w="9525" h="9525">
                    <a:moveTo>
                      <a:pt x="0" y="0"/>
                    </a:moveTo>
                    <a:lnTo>
                      <a:pt x="6350" y="0"/>
                    </a:lnTo>
                  </a:path>
                </a:pathLst>
              </a:custGeom>
              <a:noFill/>
              <a:ln w="12700">
                <a:solidFill>
                  <a:srgbClr val="FFFFFF"/>
                </a:solidFill>
              </a:ln>
            </p:spPr>
          </p:sp>
          <p:sp>
            <p:nvSpPr>
              <p:cNvPr id="51" name="Freeform 51"/>
              <p:cNvSpPr/>
              <p:nvPr/>
            </p:nvSpPr>
            <p:spPr>
              <a:xfrm>
                <a:off x="3752850" y="3187700"/>
                <a:ext cx="38100" cy="9525"/>
              </a:xfrm>
              <a:custGeom>
                <a:avLst/>
                <a:gdLst/>
                <a:ahLst/>
                <a:cxnLst/>
                <a:rect l="l" t="t" r="r" b="b"/>
                <a:pathLst>
                  <a:path w="38100" h="9525">
                    <a:moveTo>
                      <a:pt x="0" y="0"/>
                    </a:moveTo>
                    <a:lnTo>
                      <a:pt x="38100" y="0"/>
                    </a:lnTo>
                  </a:path>
                </a:pathLst>
              </a:custGeom>
              <a:noFill/>
              <a:ln w="12700">
                <a:solidFill>
                  <a:srgbClr val="FFFFFF"/>
                </a:solidFill>
              </a:ln>
            </p:spPr>
          </p:sp>
          <p:sp>
            <p:nvSpPr>
              <p:cNvPr id="52" name="Freeform 52"/>
              <p:cNvSpPr/>
              <p:nvPr/>
            </p:nvSpPr>
            <p:spPr>
              <a:xfrm>
                <a:off x="3752850" y="3213100"/>
                <a:ext cx="38100" cy="9525"/>
              </a:xfrm>
              <a:custGeom>
                <a:avLst/>
                <a:gdLst/>
                <a:ahLst/>
                <a:cxnLst/>
                <a:rect l="l" t="t" r="r" b="b"/>
                <a:pathLst>
                  <a:path w="38100" h="9525">
                    <a:moveTo>
                      <a:pt x="0" y="0"/>
                    </a:moveTo>
                    <a:lnTo>
                      <a:pt x="38100" y="0"/>
                    </a:lnTo>
                  </a:path>
                </a:pathLst>
              </a:custGeom>
              <a:noFill/>
              <a:ln w="12700">
                <a:solidFill>
                  <a:srgbClr val="FFFFFF"/>
                </a:solidFill>
              </a:ln>
            </p:spPr>
          </p:sp>
        </p:grpSp>
        <p:grpSp>
          <p:nvGrpSpPr>
            <p:cNvPr id="56" name="Group 56"/>
            <p:cNvGrpSpPr/>
            <p:nvPr/>
          </p:nvGrpSpPr>
          <p:grpSpPr>
            <a:xfrm>
              <a:off x="4191000" y="3124200"/>
              <a:ext cx="114300" cy="114300"/>
              <a:chOff x="4191000" y="3124200"/>
              <a:chExt cx="114300" cy="114300"/>
            </a:xfrm>
          </p:grpSpPr>
          <p:sp>
            <p:nvSpPr>
              <p:cNvPr id="54" name="Freeform 54"/>
              <p:cNvSpPr/>
              <p:nvPr/>
            </p:nvSpPr>
            <p:spPr>
              <a:xfrm>
                <a:off x="4191000" y="3124200"/>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2700">
                <a:solidFill>
                  <a:srgbClr val="FFFFFF"/>
                </a:solidFill>
              </a:ln>
            </p:spPr>
          </p:sp>
          <p:sp>
            <p:nvSpPr>
              <p:cNvPr id="55" name="Freeform 55"/>
              <p:cNvSpPr/>
              <p:nvPr/>
            </p:nvSpPr>
            <p:spPr>
              <a:xfrm>
                <a:off x="4267200" y="3200400"/>
                <a:ext cx="38100" cy="38100"/>
              </a:xfrm>
              <a:custGeom>
                <a:avLst/>
                <a:gdLst/>
                <a:ahLst/>
                <a:cxnLst/>
                <a:rect l="l" t="t" r="r" b="b"/>
                <a:pathLst>
                  <a:path w="38100" h="38100">
                    <a:moveTo>
                      <a:pt x="38100" y="38100"/>
                    </a:moveTo>
                    <a:lnTo>
                      <a:pt x="0" y="0"/>
                    </a:lnTo>
                  </a:path>
                </a:pathLst>
              </a:custGeom>
              <a:noFill/>
              <a:ln w="12700">
                <a:solidFill>
                  <a:srgbClr val="FFFFFF"/>
                </a:solidFill>
              </a:ln>
            </p:spPr>
          </p:sp>
        </p:grpSp>
        <p:sp>
          <p:nvSpPr>
            <p:cNvPr id="57" name="TextBox 57"/>
            <p:cNvSpPr txBox="1"/>
            <p:nvPr/>
          </p:nvSpPr>
          <p:spPr>
            <a:xfrm>
              <a:off x="2752633" y="3342799"/>
              <a:ext cx="1543235"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事实 / 数据 / 案例 / 分析</a:t>
              </a:r>
            </a:p>
          </p:txBody>
        </p:sp>
        <p:sp>
          <p:nvSpPr>
            <p:cNvPr id="58" name="TextBox 58"/>
            <p:cNvSpPr txBox="1"/>
            <p:nvPr/>
          </p:nvSpPr>
          <p:spPr>
            <a:xfrm>
              <a:off x="3002547" y="3550682"/>
              <a:ext cx="1043407" cy="126206"/>
            </a:xfrm>
            <a:prstGeom prst="rect">
              <a:avLst/>
            </a:prstGeom>
            <a:noFill/>
            <a:ln>
              <a:noFill/>
            </a:ln>
          </p:spPr>
          <p:txBody>
            <a:bodyPr wrap="none" lIns="0" tIns="0" rIns="0" bIns="0" anchor="t" anchorCtr="0">
              <a:spAutoFit/>
            </a:bodyPr>
            <a:lstStyle/>
            <a:p>
              <a:pPr algn="ctr"/>
              <a:r>
                <a:rPr lang="zh-CN" sz="640" dirty="0">
                  <a:solidFill>
                    <a:srgbClr val="EAF0F8"/>
                  </a:solidFill>
                  <a:latin typeface="+mn-lt"/>
                  <a:ea typeface="+mn-ea"/>
                  <a:cs typeface="+mn-cs"/>
                </a:rPr>
                <a:t>支撑每个论点的证据与依据</a:t>
              </a:r>
            </a:p>
          </p:txBody>
        </p:sp>
        <p:sp>
          <p:nvSpPr>
            <p:cNvPr id="59" name="Rectangle 59"/>
            <p:cNvSpPr/>
            <p:nvPr/>
          </p:nvSpPr>
          <p:spPr>
            <a:xfrm>
              <a:off x="1809750" y="3962400"/>
              <a:ext cx="3429000" cy="285750"/>
            </a:xfrm>
            <a:prstGeom prst="rect">
              <a:avLst/>
            </a:prstGeom>
            <a:solidFill>
              <a:srgbClr val="4E0D00"/>
            </a:solidFill>
            <a:ln>
              <a:noFill/>
            </a:ln>
          </p:spPr>
        </p:sp>
        <p:sp>
          <p:nvSpPr>
            <p:cNvPr id="60" name="TextBox 60"/>
            <p:cNvSpPr txBox="1"/>
            <p:nvPr/>
          </p:nvSpPr>
          <p:spPr>
            <a:xfrm>
              <a:off x="2014538" y="4051697"/>
              <a:ext cx="515696"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横向逻辑</a:t>
              </a:r>
            </a:p>
          </p:txBody>
        </p:sp>
        <p:sp>
          <p:nvSpPr>
            <p:cNvPr id="61" name="Line 61"/>
            <p:cNvSpPr/>
            <p:nvPr/>
          </p:nvSpPr>
          <p:spPr>
            <a:xfrm>
              <a:off x="2781300" y="4038600"/>
              <a:ext cx="9525" cy="133350"/>
            </a:xfrm>
            <a:custGeom>
              <a:avLst/>
              <a:gdLst/>
              <a:ahLst/>
              <a:cxnLst/>
              <a:rect l="l" t="t" r="r" b="b"/>
              <a:pathLst>
                <a:path w="9525" h="133350">
                  <a:moveTo>
                    <a:pt x="0" y="0"/>
                  </a:moveTo>
                  <a:lnTo>
                    <a:pt x="0" y="133350"/>
                  </a:lnTo>
                </a:path>
              </a:pathLst>
            </a:custGeom>
            <a:noFill/>
            <a:ln w="9525">
              <a:solidFill>
                <a:srgbClr val="A5594A"/>
              </a:solidFill>
            </a:ln>
          </p:spPr>
        </p:sp>
        <p:sp>
          <p:nvSpPr>
            <p:cNvPr id="62" name="TextBox 62"/>
            <p:cNvSpPr txBox="1"/>
            <p:nvPr/>
          </p:nvSpPr>
          <p:spPr>
            <a:xfrm>
              <a:off x="3522383" y="4059793"/>
              <a:ext cx="105148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相互独立、完全穷尽</a:t>
              </a:r>
            </a:p>
          </p:txBody>
        </p:sp>
        <p:sp>
          <p:nvSpPr>
            <p:cNvPr id="63" name="TextBox 63"/>
            <p:cNvSpPr txBox="1"/>
            <p:nvPr/>
          </p:nvSpPr>
          <p:spPr>
            <a:xfrm>
              <a:off x="2014538" y="4365784"/>
              <a:ext cx="1501653" cy="133350"/>
            </a:xfrm>
            <a:prstGeom prst="rect">
              <a:avLst/>
            </a:prstGeom>
            <a:noFill/>
            <a:ln>
              <a:noFill/>
            </a:ln>
          </p:spPr>
          <p:txBody>
            <a:bodyPr wrap="none" lIns="0" tIns="0" rIns="0" bIns="0" anchor="t" anchorCtr="0">
              <a:spAutoFit/>
            </a:bodyPr>
            <a:lstStyle/>
            <a:p>
              <a:pPr algn="l"/>
              <a:r>
                <a:rPr lang="zh-CN" sz="680" dirty="0">
                  <a:solidFill>
                    <a:srgbClr val="4E0D00"/>
                  </a:solidFill>
                  <a:latin typeface="+mn-lt"/>
                  <a:ea typeface="+mn-ea"/>
                  <a:cs typeface="+mn-cs"/>
                </a:rPr>
                <a:t>✔ 相互独立：各论点不重叠、不交叉</a:t>
              </a:r>
            </a:p>
          </p:txBody>
        </p:sp>
        <p:sp>
          <p:nvSpPr>
            <p:cNvPr id="64" name="TextBox 64"/>
            <p:cNvSpPr txBox="1"/>
            <p:nvPr/>
          </p:nvSpPr>
          <p:spPr>
            <a:xfrm>
              <a:off x="2014538" y="4518184"/>
              <a:ext cx="1776278" cy="133350"/>
            </a:xfrm>
            <a:prstGeom prst="rect">
              <a:avLst/>
            </a:prstGeom>
            <a:noFill/>
            <a:ln>
              <a:noFill/>
            </a:ln>
          </p:spPr>
          <p:txBody>
            <a:bodyPr wrap="none" lIns="0" tIns="0" rIns="0" bIns="0" anchor="t" anchorCtr="0">
              <a:spAutoFit/>
            </a:bodyPr>
            <a:lstStyle/>
            <a:p>
              <a:pPr algn="l"/>
              <a:r>
                <a:rPr lang="zh-CN" sz="680" dirty="0">
                  <a:solidFill>
                    <a:srgbClr val="4E0D00"/>
                  </a:solidFill>
                  <a:latin typeface="+mn-lt"/>
                  <a:ea typeface="+mn-ea"/>
                  <a:cs typeface="+mn-cs"/>
                </a:rPr>
                <a:t>✔ 完全穷尽：覆盖所有可能的要点，无遗漏</a:t>
              </a:r>
            </a:p>
          </p:txBody>
        </p:sp>
      </p:grpSp>
      <p:grpSp>
        <p:nvGrpSpPr>
          <p:cNvPr id="144" name="compare-panel"/>
          <p:cNvGrpSpPr/>
          <p:nvPr/>
        </p:nvGrpSpPr>
        <p:grpSpPr>
          <a:xfrm>
            <a:off x="6324600" y="852726"/>
            <a:ext cx="5638800" cy="3681174"/>
            <a:chOff x="6324600" y="852726"/>
            <a:chExt cx="5638800" cy="3681174"/>
          </a:xfrm>
        </p:grpSpPr>
        <p:sp>
          <p:nvSpPr>
            <p:cNvPr id="66" name="Line 66"/>
            <p:cNvSpPr/>
            <p:nvPr/>
          </p:nvSpPr>
          <p:spPr>
            <a:xfrm>
              <a:off x="6400800" y="914400"/>
              <a:ext cx="1752600" cy="9525"/>
            </a:xfrm>
            <a:custGeom>
              <a:avLst/>
              <a:gdLst/>
              <a:ahLst/>
              <a:cxnLst/>
              <a:rect l="l" t="t" r="r" b="b"/>
              <a:pathLst>
                <a:path w="1752600" h="9525">
                  <a:moveTo>
                    <a:pt x="0" y="0"/>
                  </a:moveTo>
                  <a:lnTo>
                    <a:pt x="1752600" y="0"/>
                  </a:lnTo>
                </a:path>
              </a:pathLst>
            </a:custGeom>
            <a:noFill/>
            <a:ln w="9525">
              <a:solidFill>
                <a:srgbClr val="C7D2E4"/>
              </a:solidFill>
            </a:ln>
          </p:spPr>
        </p:sp>
        <p:sp>
          <p:nvSpPr>
            <p:cNvPr id="67" name="TextBox 67"/>
            <p:cNvSpPr txBox="1"/>
            <p:nvPr/>
          </p:nvSpPr>
          <p:spPr>
            <a:xfrm>
              <a:off x="8556892" y="852726"/>
              <a:ext cx="1098017" cy="198025"/>
            </a:xfrm>
            <a:prstGeom prst="rect">
              <a:avLst/>
            </a:prstGeom>
            <a:noFill/>
            <a:ln>
              <a:noFill/>
            </a:ln>
          </p:spPr>
          <p:txBody>
            <a:bodyPr wrap="none" lIns="0" tIns="0" rIns="0" bIns="0" anchor="t" anchorCtr="0">
              <a:spAutoFit/>
            </a:bodyPr>
            <a:lstStyle/>
            <a:p>
              <a:pPr algn="ctr"/>
              <a:r>
                <a:rPr lang="zh-CN" sz="1010" b="1" dirty="0">
                  <a:solidFill>
                    <a:srgbClr val="4E0D00"/>
                  </a:solidFill>
                  <a:latin typeface="+mn-lt"/>
                  <a:ea typeface="+mn-ea"/>
                  <a:cs typeface="+mn-cs"/>
                </a:rPr>
                <a:t>两种汇报方式对比</a:t>
              </a:r>
            </a:p>
          </p:txBody>
        </p:sp>
        <p:sp>
          <p:nvSpPr>
            <p:cNvPr id="68" name="Line 68"/>
            <p:cNvSpPr/>
            <p:nvPr/>
          </p:nvSpPr>
          <p:spPr>
            <a:xfrm>
              <a:off x="10058400" y="914400"/>
              <a:ext cx="1752600" cy="9525"/>
            </a:xfrm>
            <a:custGeom>
              <a:avLst/>
              <a:gdLst/>
              <a:ahLst/>
              <a:cxnLst/>
              <a:rect l="l" t="t" r="r" b="b"/>
              <a:pathLst>
                <a:path w="1752600" h="9525">
                  <a:moveTo>
                    <a:pt x="0" y="0"/>
                  </a:moveTo>
                  <a:lnTo>
                    <a:pt x="1752600" y="0"/>
                  </a:lnTo>
                </a:path>
              </a:pathLst>
            </a:custGeom>
            <a:noFill/>
            <a:ln w="9525">
              <a:solidFill>
                <a:srgbClr val="C7D2E4"/>
              </a:solidFill>
            </a:ln>
          </p:spPr>
        </p:sp>
        <p:sp>
          <p:nvSpPr>
            <p:cNvPr id="69" name="Rectangle 69"/>
            <p:cNvSpPr/>
            <p:nvPr/>
          </p:nvSpPr>
          <p:spPr>
            <a:xfrm>
              <a:off x="6324600" y="1066800"/>
              <a:ext cx="2628900" cy="419100"/>
            </a:xfrm>
            <a:prstGeom prst="rect">
              <a:avLst/>
            </a:prstGeom>
            <a:solidFill>
              <a:srgbClr val="4E0D00"/>
            </a:solidFill>
            <a:ln>
              <a:noFill/>
            </a:ln>
          </p:spPr>
        </p:sp>
        <p:sp>
          <p:nvSpPr>
            <p:cNvPr id="70" name="TextBox 70"/>
            <p:cNvSpPr txBox="1"/>
            <p:nvPr/>
          </p:nvSpPr>
          <p:spPr>
            <a:xfrm>
              <a:off x="7149656" y="1141095"/>
              <a:ext cx="97878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传统汇报（低效）</a:t>
              </a:r>
            </a:p>
          </p:txBody>
        </p:sp>
        <p:sp>
          <p:nvSpPr>
            <p:cNvPr id="71" name="TextBox 71"/>
            <p:cNvSpPr txBox="1"/>
            <p:nvPr/>
          </p:nvSpPr>
          <p:spPr>
            <a:xfrm>
              <a:off x="7192599" y="1336834"/>
              <a:ext cx="892901" cy="133350"/>
            </a:xfrm>
            <a:prstGeom prst="rect">
              <a:avLst/>
            </a:prstGeom>
            <a:noFill/>
            <a:ln>
              <a:noFill/>
            </a:ln>
          </p:spPr>
          <p:txBody>
            <a:bodyPr wrap="none" lIns="0" tIns="0" rIns="0" bIns="0" anchor="t" anchorCtr="0">
              <a:spAutoFit/>
            </a:bodyPr>
            <a:lstStyle/>
            <a:p>
              <a:pPr algn="ctr"/>
              <a:r>
                <a:rPr lang="zh-CN" sz="680" dirty="0">
                  <a:solidFill>
                    <a:srgbClr val="C9D5EA"/>
                  </a:solidFill>
                  <a:latin typeface="+mn-lt"/>
                  <a:ea typeface="+mn-ea"/>
                  <a:cs typeface="+mn-cs"/>
                </a:rPr>
                <a:t>背景→过程→分析→答案</a:t>
              </a:r>
            </a:p>
          </p:txBody>
        </p:sp>
        <p:sp>
          <p:nvSpPr>
            <p:cNvPr id="72" name="Rectangle 72"/>
            <p:cNvSpPr/>
            <p:nvPr/>
          </p:nvSpPr>
          <p:spPr>
            <a:xfrm>
              <a:off x="6324600" y="1543050"/>
              <a:ext cx="2628900" cy="533400"/>
            </a:xfrm>
            <a:prstGeom prst="rect">
              <a:avLst/>
            </a:prstGeom>
            <a:solidFill>
              <a:srgbClr val="FFFFFF"/>
            </a:solidFill>
            <a:ln w="9525">
              <a:solidFill>
                <a:srgbClr val="C7D2E4"/>
              </a:solidFill>
            </a:ln>
          </p:spPr>
        </p:sp>
        <p:sp>
          <p:nvSpPr>
            <p:cNvPr id="73" name="Ellipse 73"/>
            <p:cNvSpPr/>
            <p:nvPr/>
          </p:nvSpPr>
          <p:spPr>
            <a:xfrm>
              <a:off x="6467475" y="1685925"/>
              <a:ext cx="247650" cy="247650"/>
            </a:xfrm>
            <a:prstGeom prst="ellipse">
              <a:avLst/>
            </a:prstGeom>
            <a:solidFill>
              <a:srgbClr val="4E0D00"/>
            </a:solidFill>
            <a:ln>
              <a:noFill/>
            </a:ln>
          </p:spPr>
        </p:sp>
        <p:grpSp>
          <p:nvGrpSpPr>
            <p:cNvPr id="77" name="Group 77"/>
            <p:cNvGrpSpPr/>
            <p:nvPr/>
          </p:nvGrpSpPr>
          <p:grpSpPr>
            <a:xfrm>
              <a:off x="6552406" y="1765300"/>
              <a:ext cx="77787" cy="88900"/>
              <a:chOff x="6552406" y="1765300"/>
              <a:chExt cx="77787" cy="88900"/>
            </a:xfrm>
          </p:grpSpPr>
          <p:sp>
            <p:nvSpPr>
              <p:cNvPr id="74" name="Freeform 74"/>
              <p:cNvSpPr/>
              <p:nvPr/>
            </p:nvSpPr>
            <p:spPr>
              <a:xfrm>
                <a:off x="6552406" y="1765300"/>
                <a:ext cx="77787" cy="88900"/>
              </a:xfrm>
              <a:custGeom>
                <a:avLst/>
                <a:gdLst/>
                <a:ahLst/>
                <a:cxnLst/>
                <a:rect l="l" t="t" r="r" b="b"/>
                <a:pathLst>
                  <a:path w="77787" h="88900">
                    <a:moveTo>
                      <a:pt x="77787" y="0"/>
                    </a:moveTo>
                    <a:lnTo>
                      <a:pt x="77787" y="88900"/>
                    </a:lnTo>
                    <a:lnTo>
                      <a:pt x="11112" y="88900"/>
                    </a:lnTo>
                    <a:cubicBezTo>
                      <a:pt x="4975" y="88900"/>
                      <a:pt x="0" y="83925"/>
                      <a:pt x="0" y="77787"/>
                    </a:cubicBezTo>
                    <a:lnTo>
                      <a:pt x="0" y="11112"/>
                    </a:lnTo>
                    <a:cubicBezTo>
                      <a:pt x="0" y="4975"/>
                      <a:pt x="4975" y="0"/>
                      <a:pt x="11112" y="0"/>
                    </a:cubicBezTo>
                    <a:lnTo>
                      <a:pt x="77787" y="0"/>
                    </a:lnTo>
                  </a:path>
                </a:pathLst>
              </a:custGeom>
              <a:noFill/>
              <a:ln w="11112">
                <a:solidFill>
                  <a:srgbClr val="FFFFFF"/>
                </a:solidFill>
              </a:ln>
            </p:spPr>
          </p:sp>
          <p:sp>
            <p:nvSpPr>
              <p:cNvPr id="75" name="Freeform 75"/>
              <p:cNvSpPr/>
              <p:nvPr/>
            </p:nvSpPr>
            <p:spPr>
              <a:xfrm>
                <a:off x="6552406" y="1831975"/>
                <a:ext cx="77787" cy="11112"/>
              </a:xfrm>
              <a:custGeom>
                <a:avLst/>
                <a:gdLst/>
                <a:ahLst/>
                <a:cxnLst/>
                <a:rect l="l" t="t" r="r" b="b"/>
                <a:pathLst>
                  <a:path w="77787" h="11112">
                    <a:moveTo>
                      <a:pt x="77787" y="0"/>
                    </a:moveTo>
                    <a:lnTo>
                      <a:pt x="11112" y="0"/>
                    </a:lnTo>
                    <a:cubicBezTo>
                      <a:pt x="4975" y="0"/>
                      <a:pt x="0" y="4975"/>
                      <a:pt x="0" y="11112"/>
                    </a:cubicBezTo>
                  </a:path>
                </a:pathLst>
              </a:custGeom>
              <a:noFill/>
              <a:ln w="11112">
                <a:solidFill>
                  <a:srgbClr val="FFFFFF"/>
                </a:solidFill>
              </a:ln>
            </p:spPr>
          </p:sp>
          <p:sp>
            <p:nvSpPr>
              <p:cNvPr id="76" name="Freeform 76"/>
              <p:cNvSpPr/>
              <p:nvPr/>
            </p:nvSpPr>
            <p:spPr>
              <a:xfrm>
                <a:off x="6574631" y="1787525"/>
                <a:ext cx="33337" cy="9525"/>
              </a:xfrm>
              <a:custGeom>
                <a:avLst/>
                <a:gdLst/>
                <a:ahLst/>
                <a:cxnLst/>
                <a:rect l="l" t="t" r="r" b="b"/>
                <a:pathLst>
                  <a:path w="33337" h="9525">
                    <a:moveTo>
                      <a:pt x="0" y="0"/>
                    </a:moveTo>
                    <a:lnTo>
                      <a:pt x="33337" y="0"/>
                    </a:lnTo>
                  </a:path>
                </a:pathLst>
              </a:custGeom>
              <a:noFill/>
              <a:ln w="11112">
                <a:solidFill>
                  <a:srgbClr val="FFFFFF"/>
                </a:solidFill>
              </a:ln>
            </p:spPr>
          </p:sp>
        </p:grpSp>
        <p:sp>
          <p:nvSpPr>
            <p:cNvPr id="78" name="TextBox 78"/>
            <p:cNvSpPr txBox="1"/>
            <p:nvPr/>
          </p:nvSpPr>
          <p:spPr>
            <a:xfrm>
              <a:off x="6796088" y="1682591"/>
              <a:ext cx="230302"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背景</a:t>
              </a:r>
            </a:p>
          </p:txBody>
        </p:sp>
        <p:sp>
          <p:nvSpPr>
            <p:cNvPr id="79" name="TextBox 79"/>
            <p:cNvSpPr txBox="1"/>
            <p:nvPr/>
          </p:nvSpPr>
          <p:spPr>
            <a:xfrm>
              <a:off x="6796088" y="1874282"/>
              <a:ext cx="112956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大量背景信息，听众难抓重点</a:t>
              </a:r>
            </a:p>
          </p:txBody>
        </p:sp>
        <p:sp>
          <p:nvSpPr>
            <p:cNvPr id="80" name="Rectangle 80"/>
            <p:cNvSpPr/>
            <p:nvPr/>
          </p:nvSpPr>
          <p:spPr>
            <a:xfrm>
              <a:off x="6324600" y="2133600"/>
              <a:ext cx="2628900" cy="533400"/>
            </a:xfrm>
            <a:prstGeom prst="rect">
              <a:avLst/>
            </a:prstGeom>
            <a:solidFill>
              <a:srgbClr val="FFFFFF"/>
            </a:solidFill>
            <a:ln w="9525">
              <a:solidFill>
                <a:srgbClr val="C7D2E4"/>
              </a:solidFill>
            </a:ln>
          </p:spPr>
        </p:sp>
        <p:sp>
          <p:nvSpPr>
            <p:cNvPr id="81" name="Ellipse 81"/>
            <p:cNvSpPr/>
            <p:nvPr/>
          </p:nvSpPr>
          <p:spPr>
            <a:xfrm>
              <a:off x="6467475" y="2276475"/>
              <a:ext cx="247650" cy="247650"/>
            </a:xfrm>
            <a:prstGeom prst="ellipse">
              <a:avLst/>
            </a:prstGeom>
            <a:solidFill>
              <a:srgbClr val="4E0D00"/>
            </a:solidFill>
            <a:ln>
              <a:noFill/>
            </a:ln>
          </p:spPr>
        </p:sp>
        <p:grpSp>
          <p:nvGrpSpPr>
            <p:cNvPr id="84" name="Group 84"/>
            <p:cNvGrpSpPr/>
            <p:nvPr/>
          </p:nvGrpSpPr>
          <p:grpSpPr>
            <a:xfrm>
              <a:off x="6538855" y="2347855"/>
              <a:ext cx="104891" cy="104891"/>
              <a:chOff x="6538855" y="2347855"/>
              <a:chExt cx="104891" cy="104891"/>
            </a:xfrm>
          </p:grpSpPr>
          <p:sp>
            <p:nvSpPr>
              <p:cNvPr id="82" name="Freeform 82"/>
              <p:cNvSpPr/>
              <p:nvPr/>
            </p:nvSpPr>
            <p:spPr>
              <a:xfrm>
                <a:off x="6538855" y="2347855"/>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FFFFFF"/>
                </a:solidFill>
              </a:ln>
            </p:spPr>
          </p:sp>
          <p:sp>
            <p:nvSpPr>
              <p:cNvPr id="83" name="Freeform 83"/>
              <p:cNvSpPr/>
              <p:nvPr/>
            </p:nvSpPr>
            <p:spPr>
              <a:xfrm>
                <a:off x="6574631" y="2383631"/>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FFFFFF"/>
                </a:solidFill>
              </a:ln>
            </p:spPr>
          </p:sp>
        </p:grpSp>
        <p:sp>
          <p:nvSpPr>
            <p:cNvPr id="85" name="TextBox 85"/>
            <p:cNvSpPr txBox="1"/>
            <p:nvPr/>
          </p:nvSpPr>
          <p:spPr>
            <a:xfrm>
              <a:off x="6796088" y="2273141"/>
              <a:ext cx="230302"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过程</a:t>
              </a:r>
            </a:p>
          </p:txBody>
        </p:sp>
        <p:sp>
          <p:nvSpPr>
            <p:cNvPr id="86" name="TextBox 86"/>
            <p:cNvSpPr txBox="1"/>
            <p:nvPr/>
          </p:nvSpPr>
          <p:spPr>
            <a:xfrm>
              <a:off x="6796088" y="2464832"/>
              <a:ext cx="112956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冗长过程描述，消耗认知资源</a:t>
              </a:r>
            </a:p>
          </p:txBody>
        </p:sp>
        <p:sp>
          <p:nvSpPr>
            <p:cNvPr id="87" name="Rectangle 87"/>
            <p:cNvSpPr/>
            <p:nvPr/>
          </p:nvSpPr>
          <p:spPr>
            <a:xfrm>
              <a:off x="6324600" y="2724150"/>
              <a:ext cx="2628900" cy="533400"/>
            </a:xfrm>
            <a:prstGeom prst="rect">
              <a:avLst/>
            </a:prstGeom>
            <a:solidFill>
              <a:srgbClr val="FFFFFF"/>
            </a:solidFill>
            <a:ln w="9525">
              <a:solidFill>
                <a:srgbClr val="C7D2E4"/>
              </a:solidFill>
            </a:ln>
          </p:spPr>
        </p:sp>
        <p:sp>
          <p:nvSpPr>
            <p:cNvPr id="88" name="Ellipse 88"/>
            <p:cNvSpPr/>
            <p:nvPr/>
          </p:nvSpPr>
          <p:spPr>
            <a:xfrm>
              <a:off x="6467475" y="2867025"/>
              <a:ext cx="247650" cy="247650"/>
            </a:xfrm>
            <a:prstGeom prst="ellipse">
              <a:avLst/>
            </a:prstGeom>
            <a:solidFill>
              <a:srgbClr val="4E0D00"/>
            </a:solidFill>
            <a:ln>
              <a:noFill/>
            </a:ln>
          </p:spPr>
        </p:sp>
        <p:grpSp>
          <p:nvGrpSpPr>
            <p:cNvPr id="91" name="Group 91"/>
            <p:cNvGrpSpPr/>
            <p:nvPr/>
          </p:nvGrpSpPr>
          <p:grpSpPr>
            <a:xfrm>
              <a:off x="6546850" y="2957512"/>
              <a:ext cx="88900" cy="81757"/>
              <a:chOff x="6546850" y="2957512"/>
              <a:chExt cx="88900" cy="81757"/>
            </a:xfrm>
          </p:grpSpPr>
          <p:sp>
            <p:nvSpPr>
              <p:cNvPr id="89" name="Freeform 89"/>
              <p:cNvSpPr/>
              <p:nvPr/>
            </p:nvSpPr>
            <p:spPr>
              <a:xfrm>
                <a:off x="6546850" y="3029744"/>
                <a:ext cx="88900" cy="9525"/>
              </a:xfrm>
              <a:custGeom>
                <a:avLst/>
                <a:gdLst/>
                <a:ahLst/>
                <a:cxnLst/>
                <a:rect l="l" t="t" r="r" b="b"/>
                <a:pathLst>
                  <a:path w="88900" h="9525">
                    <a:moveTo>
                      <a:pt x="0" y="0"/>
                    </a:moveTo>
                    <a:lnTo>
                      <a:pt x="88900" y="0"/>
                    </a:lnTo>
                  </a:path>
                </a:pathLst>
              </a:custGeom>
              <a:noFill/>
              <a:ln w="11112">
                <a:solidFill>
                  <a:srgbClr val="FFFFFF"/>
                </a:solidFill>
              </a:ln>
            </p:spPr>
          </p:sp>
          <p:sp>
            <p:nvSpPr>
              <p:cNvPr id="90" name="Freeform 90"/>
              <p:cNvSpPr/>
              <p:nvPr/>
            </p:nvSpPr>
            <p:spPr>
              <a:xfrm>
                <a:off x="6546850" y="2957512"/>
                <a:ext cx="88900" cy="50006"/>
              </a:xfrm>
              <a:custGeom>
                <a:avLst/>
                <a:gdLst/>
                <a:ahLst/>
                <a:cxnLst/>
                <a:rect l="l" t="t" r="r" b="b"/>
                <a:pathLst>
                  <a:path w="88900" h="50006">
                    <a:moveTo>
                      <a:pt x="0" y="50006"/>
                    </a:moveTo>
                    <a:lnTo>
                      <a:pt x="22225" y="16669"/>
                    </a:lnTo>
                    <a:lnTo>
                      <a:pt x="44450" y="27781"/>
                    </a:lnTo>
                    <a:lnTo>
                      <a:pt x="66675" y="0"/>
                    </a:lnTo>
                    <a:lnTo>
                      <a:pt x="88900" y="22225"/>
                    </a:lnTo>
                  </a:path>
                </a:pathLst>
              </a:custGeom>
              <a:noFill/>
              <a:ln w="11112">
                <a:solidFill>
                  <a:srgbClr val="FFFFFF"/>
                </a:solidFill>
              </a:ln>
            </p:spPr>
          </p:sp>
        </p:grpSp>
        <p:sp>
          <p:nvSpPr>
            <p:cNvPr id="92" name="TextBox 92"/>
            <p:cNvSpPr txBox="1"/>
            <p:nvPr/>
          </p:nvSpPr>
          <p:spPr>
            <a:xfrm>
              <a:off x="6796088" y="2863691"/>
              <a:ext cx="230302"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分析</a:t>
              </a:r>
            </a:p>
          </p:txBody>
        </p:sp>
        <p:sp>
          <p:nvSpPr>
            <p:cNvPr id="93" name="TextBox 93"/>
            <p:cNvSpPr txBox="1"/>
            <p:nvPr/>
          </p:nvSpPr>
          <p:spPr>
            <a:xfrm>
              <a:off x="6796088" y="3055382"/>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分析过程分散，结论被稀释</a:t>
              </a:r>
            </a:p>
          </p:txBody>
        </p:sp>
        <p:sp>
          <p:nvSpPr>
            <p:cNvPr id="94" name="Rectangle 94"/>
            <p:cNvSpPr/>
            <p:nvPr/>
          </p:nvSpPr>
          <p:spPr>
            <a:xfrm>
              <a:off x="6324600" y="3314700"/>
              <a:ext cx="2628900" cy="533400"/>
            </a:xfrm>
            <a:prstGeom prst="rect">
              <a:avLst/>
            </a:prstGeom>
            <a:solidFill>
              <a:srgbClr val="FFFFFF"/>
            </a:solidFill>
            <a:ln w="9525">
              <a:solidFill>
                <a:srgbClr val="C7D2E4"/>
              </a:solidFill>
            </a:ln>
          </p:spPr>
        </p:sp>
        <p:sp>
          <p:nvSpPr>
            <p:cNvPr id="95" name="Ellipse 95"/>
            <p:cNvSpPr/>
            <p:nvPr/>
          </p:nvSpPr>
          <p:spPr>
            <a:xfrm>
              <a:off x="6467475" y="3457575"/>
              <a:ext cx="247650" cy="247650"/>
            </a:xfrm>
            <a:prstGeom prst="ellipse">
              <a:avLst/>
            </a:prstGeom>
            <a:solidFill>
              <a:srgbClr val="4E0D00"/>
            </a:solidFill>
            <a:ln>
              <a:noFill/>
            </a:ln>
          </p:spPr>
        </p:sp>
        <p:grpSp>
          <p:nvGrpSpPr>
            <p:cNvPr id="100" name="Group 100"/>
            <p:cNvGrpSpPr/>
            <p:nvPr/>
          </p:nvGrpSpPr>
          <p:grpSpPr>
            <a:xfrm>
              <a:off x="6552406" y="3536950"/>
              <a:ext cx="83343" cy="94456"/>
              <a:chOff x="6552406" y="3536950"/>
              <a:chExt cx="83343" cy="94456"/>
            </a:xfrm>
          </p:grpSpPr>
          <p:sp>
            <p:nvSpPr>
              <p:cNvPr id="96" name="Freeform 96"/>
              <p:cNvSpPr/>
              <p:nvPr/>
            </p:nvSpPr>
            <p:spPr>
              <a:xfrm>
                <a:off x="6552406" y="3536950"/>
                <a:ext cx="66675" cy="88900"/>
              </a:xfrm>
              <a:custGeom>
                <a:avLst/>
                <a:gdLst/>
                <a:ahLst/>
                <a:cxnLst/>
                <a:rect l="l" t="t" r="r" b="b"/>
                <a:pathLst>
                  <a:path w="66675" h="88900">
                    <a:moveTo>
                      <a:pt x="25642" y="88900"/>
                    </a:moveTo>
                    <a:lnTo>
                      <a:pt x="11112" y="88900"/>
                    </a:lnTo>
                    <a:cubicBezTo>
                      <a:pt x="4975" y="88900"/>
                      <a:pt x="0" y="83925"/>
                      <a:pt x="0" y="77787"/>
                    </a:cubicBezTo>
                    <a:lnTo>
                      <a:pt x="0" y="11112"/>
                    </a:lnTo>
                    <a:cubicBezTo>
                      <a:pt x="0" y="4975"/>
                      <a:pt x="4975" y="0"/>
                      <a:pt x="11112" y="0"/>
                    </a:cubicBezTo>
                    <a:lnTo>
                      <a:pt x="55562" y="0"/>
                    </a:lnTo>
                    <a:cubicBezTo>
                      <a:pt x="61700" y="0"/>
                      <a:pt x="66675" y="4975"/>
                      <a:pt x="66675" y="11112"/>
                    </a:cubicBezTo>
                    <a:lnTo>
                      <a:pt x="66675" y="55562"/>
                    </a:lnTo>
                  </a:path>
                </a:pathLst>
              </a:custGeom>
              <a:noFill/>
              <a:ln w="11112">
                <a:solidFill>
                  <a:srgbClr val="FFFFFF"/>
                </a:solidFill>
              </a:ln>
            </p:spPr>
          </p:sp>
          <p:sp>
            <p:nvSpPr>
              <p:cNvPr id="97" name="Freeform 97"/>
              <p:cNvSpPr/>
              <p:nvPr/>
            </p:nvSpPr>
            <p:spPr>
              <a:xfrm>
                <a:off x="6602412" y="3609181"/>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sp>
            <p:nvSpPr>
              <p:cNvPr id="98" name="Freeform 98"/>
              <p:cNvSpPr/>
              <p:nvPr/>
            </p:nvSpPr>
            <p:spPr>
              <a:xfrm>
                <a:off x="6574631" y="3559175"/>
                <a:ext cx="22225" cy="9525"/>
              </a:xfrm>
              <a:custGeom>
                <a:avLst/>
                <a:gdLst/>
                <a:ahLst/>
                <a:cxnLst/>
                <a:rect l="l" t="t" r="r" b="b"/>
                <a:pathLst>
                  <a:path w="22225" h="9525">
                    <a:moveTo>
                      <a:pt x="0" y="0"/>
                    </a:moveTo>
                    <a:lnTo>
                      <a:pt x="22225" y="0"/>
                    </a:lnTo>
                  </a:path>
                </a:pathLst>
              </a:custGeom>
              <a:noFill/>
              <a:ln w="11112">
                <a:solidFill>
                  <a:srgbClr val="FFFFFF"/>
                </a:solidFill>
              </a:ln>
            </p:spPr>
          </p:sp>
          <p:sp>
            <p:nvSpPr>
              <p:cNvPr id="99" name="Freeform 99"/>
              <p:cNvSpPr/>
              <p:nvPr/>
            </p:nvSpPr>
            <p:spPr>
              <a:xfrm>
                <a:off x="6574631" y="3581400"/>
                <a:ext cx="11112" cy="9525"/>
              </a:xfrm>
              <a:custGeom>
                <a:avLst/>
                <a:gdLst/>
                <a:ahLst/>
                <a:cxnLst/>
                <a:rect l="l" t="t" r="r" b="b"/>
                <a:pathLst>
                  <a:path w="11112" h="9525">
                    <a:moveTo>
                      <a:pt x="0" y="0"/>
                    </a:moveTo>
                    <a:lnTo>
                      <a:pt x="11112" y="0"/>
                    </a:lnTo>
                  </a:path>
                </a:pathLst>
              </a:custGeom>
              <a:noFill/>
              <a:ln w="11112">
                <a:solidFill>
                  <a:srgbClr val="FFFFFF"/>
                </a:solidFill>
              </a:ln>
            </p:spPr>
          </p:sp>
        </p:grpSp>
        <p:sp>
          <p:nvSpPr>
            <p:cNvPr id="101" name="TextBox 101"/>
            <p:cNvSpPr txBox="1"/>
            <p:nvPr/>
          </p:nvSpPr>
          <p:spPr>
            <a:xfrm>
              <a:off x="6796088" y="3454241"/>
              <a:ext cx="230302"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答案</a:t>
              </a:r>
            </a:p>
          </p:txBody>
        </p:sp>
        <p:sp>
          <p:nvSpPr>
            <p:cNvPr id="102" name="TextBox 102"/>
            <p:cNvSpPr txBox="1"/>
            <p:nvPr/>
          </p:nvSpPr>
          <p:spPr>
            <a:xfrm>
              <a:off x="6796088" y="3645932"/>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最后才给结论，降低影响力</a:t>
              </a:r>
            </a:p>
          </p:txBody>
        </p:sp>
        <p:sp>
          <p:nvSpPr>
            <p:cNvPr id="103" name="Line 103"/>
            <p:cNvSpPr/>
            <p:nvPr/>
          </p:nvSpPr>
          <p:spPr>
            <a:xfrm>
              <a:off x="8991600" y="1809750"/>
              <a:ext cx="209550" cy="1"/>
            </a:xfrm>
            <a:prstGeom prst="line">
              <a:avLst/>
            </a:prstGeom>
            <a:noFill/>
            <a:ln w="15240">
              <a:solidFill>
                <a:srgbClr val="944130"/>
              </a:solidFill>
              <a:tailEnd type="triangle" w="lg" len="lg"/>
            </a:ln>
          </p:spPr>
        </p:sp>
        <p:sp>
          <p:nvSpPr>
            <p:cNvPr id="104" name="Line 104"/>
            <p:cNvSpPr/>
            <p:nvPr/>
          </p:nvSpPr>
          <p:spPr>
            <a:xfrm>
              <a:off x="8991600" y="2400300"/>
              <a:ext cx="209550" cy="1"/>
            </a:xfrm>
            <a:prstGeom prst="line">
              <a:avLst/>
            </a:prstGeom>
            <a:noFill/>
            <a:ln w="15240">
              <a:solidFill>
                <a:srgbClr val="944130"/>
              </a:solidFill>
              <a:tailEnd type="triangle" w="lg" len="lg"/>
            </a:ln>
          </p:spPr>
        </p:sp>
        <p:sp>
          <p:nvSpPr>
            <p:cNvPr id="105" name="Line 105"/>
            <p:cNvSpPr/>
            <p:nvPr/>
          </p:nvSpPr>
          <p:spPr>
            <a:xfrm>
              <a:off x="8991600" y="2990850"/>
              <a:ext cx="209550" cy="1"/>
            </a:xfrm>
            <a:prstGeom prst="line">
              <a:avLst/>
            </a:prstGeom>
            <a:noFill/>
            <a:ln w="15240">
              <a:solidFill>
                <a:srgbClr val="944130"/>
              </a:solidFill>
              <a:tailEnd type="triangle" w="lg" len="lg"/>
            </a:ln>
          </p:spPr>
        </p:sp>
        <p:sp>
          <p:nvSpPr>
            <p:cNvPr id="106" name="Line 106"/>
            <p:cNvSpPr/>
            <p:nvPr/>
          </p:nvSpPr>
          <p:spPr>
            <a:xfrm>
              <a:off x="8991600" y="3581400"/>
              <a:ext cx="209550" cy="1"/>
            </a:xfrm>
            <a:prstGeom prst="line">
              <a:avLst/>
            </a:prstGeom>
            <a:noFill/>
            <a:ln w="15240">
              <a:solidFill>
                <a:srgbClr val="944130"/>
              </a:solidFill>
              <a:tailEnd type="triangle" w="lg" len="lg"/>
            </a:ln>
          </p:spPr>
        </p:sp>
        <p:sp>
          <p:nvSpPr>
            <p:cNvPr id="107" name="Rectangle 107"/>
            <p:cNvSpPr/>
            <p:nvPr/>
          </p:nvSpPr>
          <p:spPr>
            <a:xfrm>
              <a:off x="9334500" y="1066800"/>
              <a:ext cx="2628900" cy="419100"/>
            </a:xfrm>
            <a:prstGeom prst="rect">
              <a:avLst/>
            </a:prstGeom>
            <a:solidFill>
              <a:srgbClr val="944130"/>
            </a:solidFill>
            <a:ln>
              <a:noFill/>
            </a:ln>
          </p:spPr>
        </p:sp>
        <p:sp>
          <p:nvSpPr>
            <p:cNvPr id="108" name="TextBox 108"/>
            <p:cNvSpPr txBox="1"/>
            <p:nvPr/>
          </p:nvSpPr>
          <p:spPr>
            <a:xfrm>
              <a:off x="10098976" y="1141095"/>
              <a:ext cx="109994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咨询式汇报（高效）</a:t>
              </a:r>
            </a:p>
          </p:txBody>
        </p:sp>
        <p:sp>
          <p:nvSpPr>
            <p:cNvPr id="109" name="TextBox 109"/>
            <p:cNvSpPr txBox="1"/>
            <p:nvPr/>
          </p:nvSpPr>
          <p:spPr>
            <a:xfrm>
              <a:off x="10319215" y="1336834"/>
              <a:ext cx="659470" cy="133350"/>
            </a:xfrm>
            <a:prstGeom prst="rect">
              <a:avLst/>
            </a:prstGeom>
            <a:noFill/>
            <a:ln>
              <a:noFill/>
            </a:ln>
          </p:spPr>
          <p:txBody>
            <a:bodyPr wrap="none" lIns="0" tIns="0" rIns="0" bIns="0" anchor="t" anchorCtr="0">
              <a:spAutoFit/>
            </a:bodyPr>
            <a:lstStyle/>
            <a:p>
              <a:pPr algn="ctr"/>
              <a:r>
                <a:rPr lang="zh-CN" sz="680" dirty="0">
                  <a:solidFill>
                    <a:srgbClr val="DCE5F2"/>
                  </a:solidFill>
                  <a:latin typeface="+mn-lt"/>
                  <a:ea typeface="+mn-ea"/>
                  <a:cs typeface="+mn-cs"/>
                </a:rPr>
                <a:t>答案→理由→证据</a:t>
              </a:r>
            </a:p>
          </p:txBody>
        </p:sp>
        <p:sp>
          <p:nvSpPr>
            <p:cNvPr id="110" name="Rectangle 110"/>
            <p:cNvSpPr/>
            <p:nvPr/>
          </p:nvSpPr>
          <p:spPr>
            <a:xfrm>
              <a:off x="9334500" y="1619250"/>
              <a:ext cx="2628900" cy="628650"/>
            </a:xfrm>
            <a:prstGeom prst="rect">
              <a:avLst/>
            </a:prstGeom>
            <a:solidFill>
              <a:srgbClr val="FFFFFF"/>
            </a:solidFill>
            <a:ln w="11430">
              <a:solidFill>
                <a:srgbClr val="C8998F"/>
              </a:solidFill>
            </a:ln>
          </p:spPr>
        </p:sp>
        <p:sp>
          <p:nvSpPr>
            <p:cNvPr id="111" name="Ellipse 111"/>
            <p:cNvSpPr/>
            <p:nvPr/>
          </p:nvSpPr>
          <p:spPr>
            <a:xfrm>
              <a:off x="9477375" y="1809750"/>
              <a:ext cx="247650" cy="247650"/>
            </a:xfrm>
            <a:prstGeom prst="ellipse">
              <a:avLst/>
            </a:prstGeom>
            <a:solidFill>
              <a:srgbClr val="944130"/>
            </a:solidFill>
            <a:ln>
              <a:noFill/>
            </a:ln>
          </p:spPr>
        </p:sp>
        <p:grpSp>
          <p:nvGrpSpPr>
            <p:cNvPr id="115" name="Group 115"/>
            <p:cNvGrpSpPr/>
            <p:nvPr/>
          </p:nvGrpSpPr>
          <p:grpSpPr>
            <a:xfrm>
              <a:off x="9551194" y="1883569"/>
              <a:ext cx="100012" cy="100012"/>
              <a:chOff x="9551194" y="1883569"/>
              <a:chExt cx="100012" cy="100012"/>
            </a:xfrm>
          </p:grpSpPr>
          <p:sp>
            <p:nvSpPr>
              <p:cNvPr id="112" name="Freeform 112"/>
              <p:cNvSpPr/>
              <p:nvPr/>
            </p:nvSpPr>
            <p:spPr>
              <a:xfrm>
                <a:off x="9595644" y="19280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113" name="Freeform 113"/>
              <p:cNvSpPr/>
              <p:nvPr/>
            </p:nvSpPr>
            <p:spPr>
              <a:xfrm>
                <a:off x="9573419" y="190579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114" name="Freeform 114"/>
              <p:cNvSpPr/>
              <p:nvPr/>
            </p:nvSpPr>
            <p:spPr>
              <a:xfrm>
                <a:off x="9551194" y="18835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116" name="TextBox 116"/>
            <p:cNvSpPr txBox="1"/>
            <p:nvPr/>
          </p:nvSpPr>
          <p:spPr>
            <a:xfrm>
              <a:off x="9805988" y="1792843"/>
              <a:ext cx="241071" cy="169069"/>
            </a:xfrm>
            <a:prstGeom prst="rect">
              <a:avLst/>
            </a:prstGeom>
            <a:noFill/>
            <a:ln>
              <a:noFill/>
            </a:ln>
          </p:spPr>
          <p:txBody>
            <a:bodyPr wrap="none" lIns="0" tIns="0" rIns="0" bIns="0" anchor="t" anchorCtr="0">
              <a:spAutoFit/>
            </a:bodyPr>
            <a:lstStyle/>
            <a:p>
              <a:pPr algn="l"/>
              <a:r>
                <a:rPr lang="zh-CN" sz="860" b="1" dirty="0">
                  <a:solidFill>
                    <a:srgbClr val="4E0D00"/>
                  </a:solidFill>
                  <a:latin typeface="+mn-lt"/>
                  <a:ea typeface="+mn-ea"/>
                  <a:cs typeface="+mn-cs"/>
                </a:rPr>
                <a:t>答案</a:t>
              </a:r>
            </a:p>
          </p:txBody>
        </p:sp>
        <p:sp>
          <p:nvSpPr>
            <p:cNvPr id="117" name="TextBox 117"/>
            <p:cNvSpPr txBox="1"/>
            <p:nvPr/>
          </p:nvSpPr>
          <p:spPr>
            <a:xfrm>
              <a:off x="9805988" y="2007632"/>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先给出结论，建立沟通锚点</a:t>
              </a:r>
            </a:p>
          </p:txBody>
        </p:sp>
        <p:sp>
          <p:nvSpPr>
            <p:cNvPr id="118" name="Rectangle 118"/>
            <p:cNvSpPr/>
            <p:nvPr/>
          </p:nvSpPr>
          <p:spPr>
            <a:xfrm>
              <a:off x="9334500" y="2362200"/>
              <a:ext cx="2628900" cy="628650"/>
            </a:xfrm>
            <a:prstGeom prst="rect">
              <a:avLst/>
            </a:prstGeom>
            <a:solidFill>
              <a:srgbClr val="FFFFFF"/>
            </a:solidFill>
            <a:ln w="11430">
              <a:solidFill>
                <a:srgbClr val="C8998F"/>
              </a:solidFill>
            </a:ln>
          </p:spPr>
        </p:sp>
        <p:sp>
          <p:nvSpPr>
            <p:cNvPr id="119" name="Ellipse 119"/>
            <p:cNvSpPr/>
            <p:nvPr/>
          </p:nvSpPr>
          <p:spPr>
            <a:xfrm>
              <a:off x="9477375" y="2552700"/>
              <a:ext cx="247650" cy="247650"/>
            </a:xfrm>
            <a:prstGeom prst="ellipse">
              <a:avLst/>
            </a:prstGeom>
            <a:solidFill>
              <a:srgbClr val="944130"/>
            </a:solidFill>
            <a:ln>
              <a:noFill/>
            </a:ln>
          </p:spPr>
        </p:sp>
        <p:grpSp>
          <p:nvGrpSpPr>
            <p:cNvPr id="125" name="Group 125"/>
            <p:cNvGrpSpPr/>
            <p:nvPr/>
          </p:nvGrpSpPr>
          <p:grpSpPr>
            <a:xfrm>
              <a:off x="9551194" y="2626519"/>
              <a:ext cx="100012" cy="100012"/>
              <a:chOff x="9551194" y="2626519"/>
              <a:chExt cx="100012" cy="100012"/>
            </a:xfrm>
          </p:grpSpPr>
          <p:sp>
            <p:nvSpPr>
              <p:cNvPr id="120" name="Freeform 120"/>
              <p:cNvSpPr/>
              <p:nvPr/>
            </p:nvSpPr>
            <p:spPr>
              <a:xfrm>
                <a:off x="9551194" y="2693194"/>
                <a:ext cx="33337" cy="33337"/>
              </a:xfrm>
              <a:custGeom>
                <a:avLst/>
                <a:gdLst/>
                <a:ahLst/>
                <a:cxnLst/>
                <a:rect l="l" t="t" r="r" b="b"/>
                <a:pathLst>
                  <a:path w="33337" h="33337">
                    <a:moveTo>
                      <a:pt x="0" y="11112"/>
                    </a:moveTo>
                    <a:cubicBezTo>
                      <a:pt x="0" y="4975"/>
                      <a:pt x="4975" y="0"/>
                      <a:pt x="11112" y="0"/>
                    </a:cubicBezTo>
                    <a:lnTo>
                      <a:pt x="22225" y="0"/>
                    </a:lnTo>
                    <a:cubicBezTo>
                      <a:pt x="28362" y="0"/>
                      <a:pt x="33337" y="4975"/>
                      <a:pt x="33337" y="11112"/>
                    </a:cubicBezTo>
                    <a:lnTo>
                      <a:pt x="33337" y="22225"/>
                    </a:lnTo>
                    <a:cubicBezTo>
                      <a:pt x="33337" y="28362"/>
                      <a:pt x="28362" y="33337"/>
                      <a:pt x="22225" y="33337"/>
                    </a:cubicBezTo>
                    <a:lnTo>
                      <a:pt x="11112" y="33337"/>
                    </a:lnTo>
                    <a:cubicBezTo>
                      <a:pt x="4975" y="33337"/>
                      <a:pt x="0" y="28362"/>
                      <a:pt x="0" y="22225"/>
                    </a:cubicBezTo>
                    <a:lnTo>
                      <a:pt x="0" y="11112"/>
                    </a:lnTo>
                  </a:path>
                </a:pathLst>
              </a:custGeom>
              <a:noFill/>
              <a:ln w="11112">
                <a:solidFill>
                  <a:srgbClr val="FFFFFF"/>
                </a:solidFill>
              </a:ln>
            </p:spPr>
          </p:sp>
          <p:sp>
            <p:nvSpPr>
              <p:cNvPr id="121" name="Freeform 121"/>
              <p:cNvSpPr/>
              <p:nvPr/>
            </p:nvSpPr>
            <p:spPr>
              <a:xfrm>
                <a:off x="9617869" y="2693194"/>
                <a:ext cx="33337" cy="33337"/>
              </a:xfrm>
              <a:custGeom>
                <a:avLst/>
                <a:gdLst/>
                <a:ahLst/>
                <a:cxnLst/>
                <a:rect l="l" t="t" r="r" b="b"/>
                <a:pathLst>
                  <a:path w="33337" h="33337">
                    <a:moveTo>
                      <a:pt x="0" y="11112"/>
                    </a:moveTo>
                    <a:cubicBezTo>
                      <a:pt x="0" y="4975"/>
                      <a:pt x="4975" y="0"/>
                      <a:pt x="11112" y="0"/>
                    </a:cubicBezTo>
                    <a:lnTo>
                      <a:pt x="22225" y="0"/>
                    </a:lnTo>
                    <a:cubicBezTo>
                      <a:pt x="28362" y="0"/>
                      <a:pt x="33337" y="4975"/>
                      <a:pt x="33337" y="11112"/>
                    </a:cubicBezTo>
                    <a:lnTo>
                      <a:pt x="33337" y="22225"/>
                    </a:lnTo>
                    <a:cubicBezTo>
                      <a:pt x="33337" y="28362"/>
                      <a:pt x="28362" y="33337"/>
                      <a:pt x="22225" y="33337"/>
                    </a:cubicBezTo>
                    <a:lnTo>
                      <a:pt x="11112" y="33337"/>
                    </a:lnTo>
                    <a:cubicBezTo>
                      <a:pt x="4975" y="33337"/>
                      <a:pt x="0" y="28362"/>
                      <a:pt x="0" y="22225"/>
                    </a:cubicBezTo>
                    <a:lnTo>
                      <a:pt x="0" y="11112"/>
                    </a:lnTo>
                  </a:path>
                </a:pathLst>
              </a:custGeom>
              <a:noFill/>
              <a:ln w="11112">
                <a:solidFill>
                  <a:srgbClr val="FFFFFF"/>
                </a:solidFill>
              </a:ln>
            </p:spPr>
          </p:sp>
          <p:sp>
            <p:nvSpPr>
              <p:cNvPr id="122" name="Freeform 122"/>
              <p:cNvSpPr/>
              <p:nvPr/>
            </p:nvSpPr>
            <p:spPr>
              <a:xfrm>
                <a:off x="9584531" y="2626519"/>
                <a:ext cx="33337" cy="33337"/>
              </a:xfrm>
              <a:custGeom>
                <a:avLst/>
                <a:gdLst/>
                <a:ahLst/>
                <a:cxnLst/>
                <a:rect l="l" t="t" r="r" b="b"/>
                <a:pathLst>
                  <a:path w="33337" h="33337">
                    <a:moveTo>
                      <a:pt x="0" y="11112"/>
                    </a:moveTo>
                    <a:cubicBezTo>
                      <a:pt x="0" y="4975"/>
                      <a:pt x="4975" y="0"/>
                      <a:pt x="11112" y="0"/>
                    </a:cubicBezTo>
                    <a:lnTo>
                      <a:pt x="22225" y="0"/>
                    </a:lnTo>
                    <a:cubicBezTo>
                      <a:pt x="28362" y="0"/>
                      <a:pt x="33337" y="4975"/>
                      <a:pt x="33337" y="11112"/>
                    </a:cubicBezTo>
                    <a:lnTo>
                      <a:pt x="33337" y="22225"/>
                    </a:lnTo>
                    <a:cubicBezTo>
                      <a:pt x="33337" y="28362"/>
                      <a:pt x="28362" y="33337"/>
                      <a:pt x="22225" y="33337"/>
                    </a:cubicBezTo>
                    <a:lnTo>
                      <a:pt x="11112" y="33337"/>
                    </a:lnTo>
                    <a:cubicBezTo>
                      <a:pt x="4975" y="33337"/>
                      <a:pt x="0" y="28362"/>
                      <a:pt x="0" y="22225"/>
                    </a:cubicBezTo>
                    <a:lnTo>
                      <a:pt x="0" y="11112"/>
                    </a:lnTo>
                  </a:path>
                </a:pathLst>
              </a:custGeom>
              <a:noFill/>
              <a:ln w="11112">
                <a:solidFill>
                  <a:srgbClr val="FFFFFF"/>
                </a:solidFill>
              </a:ln>
            </p:spPr>
          </p:sp>
          <p:sp>
            <p:nvSpPr>
              <p:cNvPr id="123" name="Freeform 123"/>
              <p:cNvSpPr/>
              <p:nvPr/>
            </p:nvSpPr>
            <p:spPr>
              <a:xfrm>
                <a:off x="9567862" y="2676525"/>
                <a:ext cx="66675" cy="16669"/>
              </a:xfrm>
              <a:custGeom>
                <a:avLst/>
                <a:gdLst/>
                <a:ahLst/>
                <a:cxnLst/>
                <a:rect l="l" t="t" r="r" b="b"/>
                <a:pathLst>
                  <a:path w="66675" h="16669">
                    <a:moveTo>
                      <a:pt x="0" y="16669"/>
                    </a:moveTo>
                    <a:lnTo>
                      <a:pt x="0" y="11112"/>
                    </a:lnTo>
                    <a:cubicBezTo>
                      <a:pt x="0" y="4975"/>
                      <a:pt x="4975" y="0"/>
                      <a:pt x="11112" y="0"/>
                    </a:cubicBezTo>
                    <a:lnTo>
                      <a:pt x="55562" y="0"/>
                    </a:lnTo>
                    <a:cubicBezTo>
                      <a:pt x="61700" y="0"/>
                      <a:pt x="66675" y="4975"/>
                      <a:pt x="66675" y="11112"/>
                    </a:cubicBezTo>
                    <a:lnTo>
                      <a:pt x="66675" y="16669"/>
                    </a:lnTo>
                  </a:path>
                </a:pathLst>
              </a:custGeom>
              <a:noFill/>
              <a:ln w="11112">
                <a:solidFill>
                  <a:srgbClr val="FFFFFF"/>
                </a:solidFill>
              </a:ln>
            </p:spPr>
          </p:sp>
          <p:sp>
            <p:nvSpPr>
              <p:cNvPr id="124" name="Freeform 124"/>
              <p:cNvSpPr/>
              <p:nvPr/>
            </p:nvSpPr>
            <p:spPr>
              <a:xfrm>
                <a:off x="9601200" y="2659856"/>
                <a:ext cx="9525" cy="16669"/>
              </a:xfrm>
              <a:custGeom>
                <a:avLst/>
                <a:gdLst/>
                <a:ahLst/>
                <a:cxnLst/>
                <a:rect l="l" t="t" r="r" b="b"/>
                <a:pathLst>
                  <a:path w="9525" h="16669">
                    <a:moveTo>
                      <a:pt x="0" y="0"/>
                    </a:moveTo>
                    <a:lnTo>
                      <a:pt x="0" y="16669"/>
                    </a:lnTo>
                  </a:path>
                </a:pathLst>
              </a:custGeom>
              <a:noFill/>
              <a:ln w="11112">
                <a:solidFill>
                  <a:srgbClr val="FFFFFF"/>
                </a:solidFill>
              </a:ln>
            </p:spPr>
          </p:sp>
        </p:grpSp>
        <p:sp>
          <p:nvSpPr>
            <p:cNvPr id="126" name="TextBox 126"/>
            <p:cNvSpPr txBox="1"/>
            <p:nvPr/>
          </p:nvSpPr>
          <p:spPr>
            <a:xfrm>
              <a:off x="9805988" y="2535793"/>
              <a:ext cx="241071" cy="169069"/>
            </a:xfrm>
            <a:prstGeom prst="rect">
              <a:avLst/>
            </a:prstGeom>
            <a:noFill/>
            <a:ln>
              <a:noFill/>
            </a:ln>
          </p:spPr>
          <p:txBody>
            <a:bodyPr wrap="none" lIns="0" tIns="0" rIns="0" bIns="0" anchor="t" anchorCtr="0">
              <a:spAutoFit/>
            </a:bodyPr>
            <a:lstStyle/>
            <a:p>
              <a:pPr algn="l"/>
              <a:r>
                <a:rPr lang="zh-CN" sz="860" b="1" dirty="0">
                  <a:solidFill>
                    <a:srgbClr val="4E0D00"/>
                  </a:solidFill>
                  <a:latin typeface="+mn-lt"/>
                  <a:ea typeface="+mn-ea"/>
                  <a:cs typeface="+mn-cs"/>
                </a:rPr>
                <a:t>理由</a:t>
              </a:r>
            </a:p>
          </p:txBody>
        </p:sp>
        <p:sp>
          <p:nvSpPr>
            <p:cNvPr id="127" name="TextBox 127"/>
            <p:cNvSpPr txBox="1"/>
            <p:nvPr/>
          </p:nvSpPr>
          <p:spPr>
            <a:xfrm>
              <a:off x="9805988" y="2750582"/>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清晰阐述理由，快速说服</a:t>
              </a:r>
            </a:p>
          </p:txBody>
        </p:sp>
        <p:sp>
          <p:nvSpPr>
            <p:cNvPr id="128" name="Rectangle 128"/>
            <p:cNvSpPr/>
            <p:nvPr/>
          </p:nvSpPr>
          <p:spPr>
            <a:xfrm>
              <a:off x="9334500" y="3105150"/>
              <a:ext cx="2628900" cy="628650"/>
            </a:xfrm>
            <a:prstGeom prst="rect">
              <a:avLst/>
            </a:prstGeom>
            <a:solidFill>
              <a:srgbClr val="FFFFFF"/>
            </a:solidFill>
            <a:ln w="11430">
              <a:solidFill>
                <a:srgbClr val="C8998F"/>
              </a:solidFill>
            </a:ln>
          </p:spPr>
        </p:sp>
        <p:sp>
          <p:nvSpPr>
            <p:cNvPr id="129" name="Ellipse 129"/>
            <p:cNvSpPr/>
            <p:nvPr/>
          </p:nvSpPr>
          <p:spPr>
            <a:xfrm>
              <a:off x="9477375" y="3295650"/>
              <a:ext cx="247650" cy="247650"/>
            </a:xfrm>
            <a:prstGeom prst="ellipse">
              <a:avLst/>
            </a:prstGeom>
            <a:solidFill>
              <a:srgbClr val="944130"/>
            </a:solidFill>
            <a:ln>
              <a:noFill/>
            </a:ln>
          </p:spPr>
        </p:sp>
        <p:grpSp>
          <p:nvGrpSpPr>
            <p:cNvPr id="134" name="Group 134"/>
            <p:cNvGrpSpPr/>
            <p:nvPr/>
          </p:nvGrpSpPr>
          <p:grpSpPr>
            <a:xfrm>
              <a:off x="9551194" y="3375025"/>
              <a:ext cx="100012" cy="98425"/>
              <a:chOff x="9551194" y="3375025"/>
              <a:chExt cx="100012" cy="98425"/>
            </a:xfrm>
          </p:grpSpPr>
          <p:sp>
            <p:nvSpPr>
              <p:cNvPr id="130" name="Freeform 130"/>
              <p:cNvSpPr/>
              <p:nvPr/>
            </p:nvSpPr>
            <p:spPr>
              <a:xfrm>
                <a:off x="9551194" y="3419475"/>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FFFFFF"/>
                </a:solidFill>
              </a:ln>
            </p:spPr>
          </p:sp>
          <p:sp>
            <p:nvSpPr>
              <p:cNvPr id="131" name="Freeform 131"/>
              <p:cNvSpPr/>
              <p:nvPr/>
            </p:nvSpPr>
            <p:spPr>
              <a:xfrm>
                <a:off x="9617869" y="3397250"/>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FFFFFF"/>
                </a:solidFill>
              </a:ln>
            </p:spPr>
          </p:sp>
          <p:sp>
            <p:nvSpPr>
              <p:cNvPr id="132" name="Freeform 132"/>
              <p:cNvSpPr/>
              <p:nvPr/>
            </p:nvSpPr>
            <p:spPr>
              <a:xfrm>
                <a:off x="9584531" y="3375025"/>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FFFFFF"/>
                </a:solidFill>
              </a:ln>
            </p:spPr>
          </p:sp>
          <p:sp>
            <p:nvSpPr>
              <p:cNvPr id="133" name="Freeform 133"/>
              <p:cNvSpPr/>
              <p:nvPr/>
            </p:nvSpPr>
            <p:spPr>
              <a:xfrm>
                <a:off x="9556750" y="3463925"/>
                <a:ext cx="77787" cy="9525"/>
              </a:xfrm>
              <a:custGeom>
                <a:avLst/>
                <a:gdLst/>
                <a:ahLst/>
                <a:cxnLst/>
                <a:rect l="l" t="t" r="r" b="b"/>
                <a:pathLst>
                  <a:path w="77787" h="9525">
                    <a:moveTo>
                      <a:pt x="0" y="0"/>
                    </a:moveTo>
                    <a:lnTo>
                      <a:pt x="77787" y="0"/>
                    </a:lnTo>
                  </a:path>
                </a:pathLst>
              </a:custGeom>
              <a:noFill/>
              <a:ln w="11112">
                <a:solidFill>
                  <a:srgbClr val="FFFFFF"/>
                </a:solidFill>
              </a:ln>
            </p:spPr>
          </p:sp>
        </p:grpSp>
        <p:sp>
          <p:nvSpPr>
            <p:cNvPr id="135" name="TextBox 135"/>
            <p:cNvSpPr txBox="1"/>
            <p:nvPr/>
          </p:nvSpPr>
          <p:spPr>
            <a:xfrm>
              <a:off x="9805988" y="3278743"/>
              <a:ext cx="241071" cy="169069"/>
            </a:xfrm>
            <a:prstGeom prst="rect">
              <a:avLst/>
            </a:prstGeom>
            <a:noFill/>
            <a:ln>
              <a:noFill/>
            </a:ln>
          </p:spPr>
          <p:txBody>
            <a:bodyPr wrap="none" lIns="0" tIns="0" rIns="0" bIns="0" anchor="t" anchorCtr="0">
              <a:spAutoFit/>
            </a:bodyPr>
            <a:lstStyle/>
            <a:p>
              <a:pPr algn="l"/>
              <a:r>
                <a:rPr lang="zh-CN" sz="860" b="1" dirty="0">
                  <a:solidFill>
                    <a:srgbClr val="4E0D00"/>
                  </a:solidFill>
                  <a:latin typeface="+mn-lt"/>
                  <a:ea typeface="+mn-ea"/>
                  <a:cs typeface="+mn-cs"/>
                </a:rPr>
                <a:t>证据</a:t>
              </a:r>
            </a:p>
          </p:txBody>
        </p:sp>
        <p:sp>
          <p:nvSpPr>
            <p:cNvPr id="136" name="TextBox 136"/>
            <p:cNvSpPr txBox="1"/>
            <p:nvPr/>
          </p:nvSpPr>
          <p:spPr>
            <a:xfrm>
              <a:off x="9805988" y="3493532"/>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提供证据支撑，增强可信度</a:t>
              </a:r>
            </a:p>
          </p:txBody>
        </p:sp>
        <p:sp>
          <p:nvSpPr>
            <p:cNvPr id="137" name="Rectangle 137"/>
            <p:cNvSpPr/>
            <p:nvPr/>
          </p:nvSpPr>
          <p:spPr>
            <a:xfrm>
              <a:off x="6324600" y="3905250"/>
              <a:ext cx="5638800" cy="628650"/>
            </a:xfrm>
            <a:prstGeom prst="rect">
              <a:avLst/>
            </a:prstGeom>
            <a:solidFill>
              <a:srgbClr val="F7FAFD"/>
            </a:solidFill>
            <a:ln w="9525">
              <a:solidFill>
                <a:srgbClr val="C8998F"/>
              </a:solidFill>
              <a:custDash>
                <a:ds d="400000" sp="300000"/>
              </a:custDash>
            </a:ln>
          </p:spPr>
        </p:sp>
        <p:sp>
          <p:nvSpPr>
            <p:cNvPr id="138" name="Ellipse 138"/>
            <p:cNvSpPr/>
            <p:nvPr/>
          </p:nvSpPr>
          <p:spPr>
            <a:xfrm>
              <a:off x="6524625" y="4095750"/>
              <a:ext cx="247650" cy="247650"/>
            </a:xfrm>
            <a:prstGeom prst="ellipse">
              <a:avLst/>
            </a:prstGeom>
            <a:solidFill>
              <a:srgbClr val="4E0D00"/>
            </a:solidFill>
            <a:ln>
              <a:noFill/>
            </a:ln>
          </p:spPr>
        </p:sp>
        <p:grpSp>
          <p:nvGrpSpPr>
            <p:cNvPr id="141" name="Group 141"/>
            <p:cNvGrpSpPr/>
            <p:nvPr/>
          </p:nvGrpSpPr>
          <p:grpSpPr>
            <a:xfrm>
              <a:off x="6598444" y="4169569"/>
              <a:ext cx="100012" cy="100012"/>
              <a:chOff x="6598444" y="4169569"/>
              <a:chExt cx="100012" cy="100012"/>
            </a:xfrm>
          </p:grpSpPr>
          <p:sp>
            <p:nvSpPr>
              <p:cNvPr id="139" name="Freeform 139"/>
              <p:cNvSpPr/>
              <p:nvPr/>
            </p:nvSpPr>
            <p:spPr>
              <a:xfrm>
                <a:off x="6598444" y="41695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sp>
            <p:nvSpPr>
              <p:cNvPr id="140" name="Freeform 140"/>
              <p:cNvSpPr/>
              <p:nvPr/>
            </p:nvSpPr>
            <p:spPr>
              <a:xfrm>
                <a:off x="6631781" y="4208462"/>
                <a:ext cx="33337" cy="22225"/>
              </a:xfrm>
              <a:custGeom>
                <a:avLst/>
                <a:gdLst/>
                <a:ahLst/>
                <a:cxnLst/>
                <a:rect l="l" t="t" r="r" b="b"/>
                <a:pathLst>
                  <a:path w="33337" h="22225">
                    <a:moveTo>
                      <a:pt x="0" y="11112"/>
                    </a:moveTo>
                    <a:lnTo>
                      <a:pt x="11112" y="22225"/>
                    </a:lnTo>
                    <a:lnTo>
                      <a:pt x="33337" y="0"/>
                    </a:lnTo>
                  </a:path>
                </a:pathLst>
              </a:custGeom>
              <a:noFill/>
              <a:ln w="11112">
                <a:solidFill>
                  <a:srgbClr val="FFFFFF"/>
                </a:solidFill>
              </a:ln>
            </p:spPr>
          </p:sp>
        </p:grpSp>
        <p:sp>
          <p:nvSpPr>
            <p:cNvPr id="142" name="TextBox 142"/>
            <p:cNvSpPr txBox="1"/>
            <p:nvPr/>
          </p:nvSpPr>
          <p:spPr>
            <a:xfrm>
              <a:off x="6910388" y="4095036"/>
              <a:ext cx="1634388"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先给答案，帮助听众快速理解与决策；</a:t>
              </a:r>
            </a:p>
          </p:txBody>
        </p:sp>
        <p:sp>
          <p:nvSpPr>
            <p:cNvPr id="143" name="TextBox 143"/>
            <p:cNvSpPr txBox="1"/>
            <p:nvPr/>
          </p:nvSpPr>
          <p:spPr>
            <a:xfrm>
              <a:off x="6910388" y="4285536"/>
              <a:ext cx="1538808"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再给理由与证据，建立信任与共识。</a:t>
              </a:r>
            </a:p>
          </p:txBody>
        </p:sp>
      </p:grpSp>
      <p:grpSp>
        <p:nvGrpSpPr>
          <p:cNvPr id="171" name="deduction-card"/>
          <p:cNvGrpSpPr/>
          <p:nvPr/>
        </p:nvGrpSpPr>
        <p:grpSpPr>
          <a:xfrm>
            <a:off x="228600" y="5029200"/>
            <a:ext cx="5772150" cy="1581150"/>
            <a:chOff x="228600" y="5029200"/>
            <a:chExt cx="5772150" cy="1581150"/>
          </a:xfrm>
        </p:grpSpPr>
        <p:sp>
          <p:nvSpPr>
            <p:cNvPr id="145" name="Rectangle 145"/>
            <p:cNvSpPr/>
            <p:nvPr/>
          </p:nvSpPr>
          <p:spPr>
            <a:xfrm>
              <a:off x="228600" y="5029200"/>
              <a:ext cx="5772150" cy="1581150"/>
            </a:xfrm>
            <a:prstGeom prst="roundRect">
              <a:avLst>
                <a:gd name="adj" fmla="val 3614"/>
              </a:avLst>
            </a:prstGeom>
            <a:solidFill>
              <a:srgbClr val="FFFFFF"/>
            </a:solidFill>
            <a:ln w="9525">
              <a:solidFill>
                <a:srgbClr val="C7D2E4"/>
              </a:solidFill>
            </a:ln>
          </p:spPr>
        </p:sp>
        <p:sp>
          <p:nvSpPr>
            <p:cNvPr id="146" name="Rectangle 146"/>
            <p:cNvSpPr/>
            <p:nvPr/>
          </p:nvSpPr>
          <p:spPr>
            <a:xfrm>
              <a:off x="342900" y="5143500"/>
              <a:ext cx="1104900" cy="990600"/>
            </a:xfrm>
            <a:prstGeom prst="roundRect">
              <a:avLst>
                <a:gd name="adj" fmla="val 3846"/>
              </a:avLst>
            </a:prstGeom>
            <a:solidFill>
              <a:srgbClr val="4E0D00"/>
            </a:solidFill>
            <a:ln>
              <a:noFill/>
            </a:ln>
          </p:spPr>
        </p:sp>
        <p:grpSp>
          <p:nvGrpSpPr>
            <p:cNvPr id="150" name="Group 150"/>
            <p:cNvGrpSpPr/>
            <p:nvPr/>
          </p:nvGrpSpPr>
          <p:grpSpPr>
            <a:xfrm>
              <a:off x="831056" y="5279231"/>
              <a:ext cx="128588" cy="128587"/>
              <a:chOff x="831056" y="5279231"/>
              <a:chExt cx="128588" cy="128587"/>
            </a:xfrm>
          </p:grpSpPr>
          <p:sp>
            <p:nvSpPr>
              <p:cNvPr id="147" name="Freeform 147"/>
              <p:cNvSpPr/>
              <p:nvPr/>
            </p:nvSpPr>
            <p:spPr>
              <a:xfrm>
                <a:off x="831056" y="5279231"/>
                <a:ext cx="128588" cy="64294"/>
              </a:xfrm>
              <a:custGeom>
                <a:avLst/>
                <a:gdLst/>
                <a:ahLst/>
                <a:cxnLst/>
                <a:rect l="l" t="t" r="r" b="b"/>
                <a:pathLst>
                  <a:path w="128588" h="64294">
                    <a:moveTo>
                      <a:pt x="0" y="64294"/>
                    </a:moveTo>
                    <a:lnTo>
                      <a:pt x="7144" y="64294"/>
                    </a:lnTo>
                    <a:moveTo>
                      <a:pt x="64294" y="0"/>
                    </a:moveTo>
                    <a:lnTo>
                      <a:pt x="64294" y="7144"/>
                    </a:lnTo>
                    <a:moveTo>
                      <a:pt x="121444" y="64294"/>
                    </a:moveTo>
                    <a:lnTo>
                      <a:pt x="128588" y="64294"/>
                    </a:lnTo>
                    <a:moveTo>
                      <a:pt x="18574" y="18574"/>
                    </a:moveTo>
                    <a:lnTo>
                      <a:pt x="23574" y="23574"/>
                    </a:lnTo>
                    <a:moveTo>
                      <a:pt x="110014" y="18574"/>
                    </a:moveTo>
                    <a:lnTo>
                      <a:pt x="105013" y="23574"/>
                    </a:lnTo>
                  </a:path>
                </a:pathLst>
              </a:custGeom>
              <a:noFill/>
              <a:ln w="14288">
                <a:solidFill>
                  <a:srgbClr val="FFFFFF"/>
                </a:solidFill>
              </a:ln>
            </p:spPr>
          </p:sp>
          <p:sp>
            <p:nvSpPr>
              <p:cNvPr id="148" name="Freeform 148"/>
              <p:cNvSpPr/>
              <p:nvPr/>
            </p:nvSpPr>
            <p:spPr>
              <a:xfrm>
                <a:off x="856602" y="5307806"/>
                <a:ext cx="77495" cy="100012"/>
              </a:xfrm>
              <a:custGeom>
                <a:avLst/>
                <a:gdLst/>
                <a:ahLst/>
                <a:cxnLst/>
                <a:rect l="l" t="t" r="r" b="b"/>
                <a:pathLst>
                  <a:path w="77495" h="100012">
                    <a:moveTo>
                      <a:pt x="17316" y="64294"/>
                    </a:moveTo>
                    <a:cubicBezTo>
                      <a:pt x="5017" y="55069"/>
                      <a:pt x="0" y="39009"/>
                      <a:pt x="4862" y="24423"/>
                    </a:cubicBezTo>
                    <a:cubicBezTo>
                      <a:pt x="9724" y="9838"/>
                      <a:pt x="23373" y="0"/>
                      <a:pt x="38748" y="0"/>
                    </a:cubicBezTo>
                    <a:cubicBezTo>
                      <a:pt x="54122" y="0"/>
                      <a:pt x="67772" y="9838"/>
                      <a:pt x="72633" y="24423"/>
                    </a:cubicBezTo>
                    <a:cubicBezTo>
                      <a:pt x="77495" y="39009"/>
                      <a:pt x="72478" y="55069"/>
                      <a:pt x="60179" y="64294"/>
                    </a:cubicBezTo>
                    <a:cubicBezTo>
                      <a:pt x="54522" y="69893"/>
                      <a:pt x="51869" y="77851"/>
                      <a:pt x="53035" y="85725"/>
                    </a:cubicBezTo>
                    <a:cubicBezTo>
                      <a:pt x="53035" y="93616"/>
                      <a:pt x="46638" y="100012"/>
                      <a:pt x="38748" y="100012"/>
                    </a:cubicBezTo>
                    <a:cubicBezTo>
                      <a:pt x="30857" y="100012"/>
                      <a:pt x="24460" y="93616"/>
                      <a:pt x="24460" y="85725"/>
                    </a:cubicBezTo>
                    <a:cubicBezTo>
                      <a:pt x="25626" y="77851"/>
                      <a:pt x="22973" y="69893"/>
                      <a:pt x="17316" y="64294"/>
                    </a:cubicBezTo>
                  </a:path>
                </a:pathLst>
              </a:custGeom>
              <a:noFill/>
              <a:ln w="14288">
                <a:solidFill>
                  <a:srgbClr val="FFFFFF"/>
                </a:solidFill>
              </a:ln>
            </p:spPr>
          </p:sp>
          <p:sp>
            <p:nvSpPr>
              <p:cNvPr id="149" name="Freeform 149"/>
              <p:cNvSpPr/>
              <p:nvPr/>
            </p:nvSpPr>
            <p:spPr>
              <a:xfrm>
                <a:off x="878919" y="5379244"/>
                <a:ext cx="32861" cy="9525"/>
              </a:xfrm>
              <a:custGeom>
                <a:avLst/>
                <a:gdLst/>
                <a:ahLst/>
                <a:cxnLst/>
                <a:rect l="l" t="t" r="r" b="b"/>
                <a:pathLst>
                  <a:path w="32861" h="9525">
                    <a:moveTo>
                      <a:pt x="0" y="0"/>
                    </a:moveTo>
                    <a:lnTo>
                      <a:pt x="32861" y="0"/>
                    </a:lnTo>
                  </a:path>
                </a:pathLst>
              </a:custGeom>
              <a:noFill/>
              <a:ln w="14288">
                <a:solidFill>
                  <a:srgbClr val="FFFFFF"/>
                </a:solidFill>
              </a:ln>
            </p:spPr>
          </p:sp>
        </p:grpSp>
        <p:sp>
          <p:nvSpPr>
            <p:cNvPr id="151" name="TextBox 151"/>
            <p:cNvSpPr txBox="1"/>
            <p:nvPr/>
          </p:nvSpPr>
          <p:spPr>
            <a:xfrm>
              <a:off x="626542" y="55144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演绎推理</a:t>
              </a:r>
            </a:p>
          </p:txBody>
        </p:sp>
        <p:sp>
          <p:nvSpPr>
            <p:cNvPr id="152" name="TextBox 152"/>
            <p:cNvSpPr txBox="1"/>
            <p:nvPr/>
          </p:nvSpPr>
          <p:spPr>
            <a:xfrm>
              <a:off x="664426" y="5730478"/>
              <a:ext cx="461848" cy="111919"/>
            </a:xfrm>
            <a:prstGeom prst="rect">
              <a:avLst/>
            </a:prstGeom>
            <a:noFill/>
            <a:ln>
              <a:noFill/>
            </a:ln>
          </p:spPr>
          <p:txBody>
            <a:bodyPr wrap="none" lIns="0" tIns="0" rIns="0" bIns="0" anchor="t" anchorCtr="0">
              <a:spAutoFit/>
            </a:bodyPr>
            <a:lstStyle/>
            <a:p>
              <a:pPr algn="ctr"/>
              <a:r>
                <a:rPr lang="zh-CN" sz="560" dirty="0">
                  <a:solidFill>
                    <a:srgbClr val="DCE5F2"/>
                  </a:solidFill>
                  <a:latin typeface="+mn-lt"/>
                  <a:ea typeface="+mn-ea"/>
                  <a:cs typeface="+mn-cs"/>
                </a:rPr>
                <a:t>从一般到特殊</a:t>
              </a:r>
            </a:p>
          </p:txBody>
        </p:sp>
        <p:sp>
          <p:nvSpPr>
            <p:cNvPr id="153" name="TextBox 153"/>
            <p:cNvSpPr txBox="1"/>
            <p:nvPr/>
          </p:nvSpPr>
          <p:spPr>
            <a:xfrm>
              <a:off x="739813" y="5844778"/>
              <a:ext cx="311074" cy="111919"/>
            </a:xfrm>
            <a:prstGeom prst="rect">
              <a:avLst/>
            </a:prstGeom>
            <a:noFill/>
            <a:ln>
              <a:noFill/>
            </a:ln>
          </p:spPr>
          <p:txBody>
            <a:bodyPr wrap="none" lIns="0" tIns="0" rIns="0" bIns="0" anchor="t" anchorCtr="0">
              <a:spAutoFit/>
            </a:bodyPr>
            <a:lstStyle/>
            <a:p>
              <a:pPr algn="ctr"/>
              <a:r>
                <a:rPr lang="zh-CN" sz="560" dirty="0">
                  <a:solidFill>
                    <a:srgbClr val="DCE5F2"/>
                  </a:solidFill>
                  <a:latin typeface="+mn-lt"/>
                  <a:ea typeface="+mn-ea"/>
                  <a:cs typeface="+mn-cs"/>
                </a:rPr>
                <a:t>验证结论</a:t>
              </a:r>
            </a:p>
          </p:txBody>
        </p:sp>
        <p:sp>
          <p:nvSpPr>
            <p:cNvPr id="154" name="Rectangle 154"/>
            <p:cNvSpPr/>
            <p:nvPr/>
          </p:nvSpPr>
          <p:spPr>
            <a:xfrm>
              <a:off x="1543050" y="5257800"/>
              <a:ext cx="1314450" cy="800100"/>
            </a:xfrm>
            <a:prstGeom prst="rect">
              <a:avLst/>
            </a:prstGeom>
            <a:solidFill>
              <a:srgbClr val="EFF3FA"/>
            </a:solidFill>
            <a:ln w="9525">
              <a:solidFill>
                <a:srgbClr val="C7D2E4"/>
              </a:solidFill>
            </a:ln>
          </p:spPr>
        </p:sp>
        <p:sp>
          <p:nvSpPr>
            <p:cNvPr id="155" name="TextBox 155"/>
            <p:cNvSpPr txBox="1"/>
            <p:nvPr/>
          </p:nvSpPr>
          <p:spPr>
            <a:xfrm>
              <a:off x="1993582" y="5405438"/>
              <a:ext cx="41338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一般原理</a:t>
              </a:r>
            </a:p>
          </p:txBody>
        </p:sp>
        <p:sp>
          <p:nvSpPr>
            <p:cNvPr id="156" name="TextBox 156"/>
            <p:cNvSpPr txBox="1"/>
            <p:nvPr/>
          </p:nvSpPr>
          <p:spPr>
            <a:xfrm>
              <a:off x="1966658" y="5546884"/>
              <a:ext cx="467233" cy="133350"/>
            </a:xfrm>
            <a:prstGeom prst="rect">
              <a:avLst/>
            </a:prstGeom>
            <a:noFill/>
            <a:ln>
              <a:noFill/>
            </a:ln>
          </p:spPr>
          <p:txBody>
            <a:bodyPr wrap="none" lIns="0" tIns="0" rIns="0" bIns="0" anchor="t" anchorCtr="0">
              <a:spAutoFit/>
            </a:bodyPr>
            <a:lstStyle/>
            <a:p>
              <a:pPr algn="ctr"/>
              <a:r>
                <a:rPr lang="zh-CN" sz="680" dirty="0">
                  <a:solidFill>
                    <a:srgbClr val="944130"/>
                  </a:solidFill>
                  <a:latin typeface="+mn-lt"/>
                  <a:ea typeface="+mn-ea"/>
                  <a:cs typeface="+mn-cs"/>
                </a:rPr>
                <a:t>（大前提）</a:t>
              </a:r>
            </a:p>
          </p:txBody>
        </p:sp>
        <p:sp>
          <p:nvSpPr>
            <p:cNvPr id="157" name="TextBox 157"/>
            <p:cNvSpPr txBox="1"/>
            <p:nvPr/>
          </p:nvSpPr>
          <p:spPr>
            <a:xfrm>
              <a:off x="1791652" y="576453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已知的普遍规律或原理</a:t>
              </a:r>
            </a:p>
          </p:txBody>
        </p:sp>
        <p:sp>
          <p:nvSpPr>
            <p:cNvPr id="158" name="Line 158"/>
            <p:cNvSpPr/>
            <p:nvPr/>
          </p:nvSpPr>
          <p:spPr>
            <a:xfrm>
              <a:off x="2895600" y="5657850"/>
              <a:ext cx="95250" cy="1"/>
            </a:xfrm>
            <a:prstGeom prst="line">
              <a:avLst/>
            </a:prstGeom>
            <a:noFill/>
            <a:ln w="15240">
              <a:solidFill>
                <a:srgbClr val="944130"/>
              </a:solidFill>
              <a:tailEnd type="triangle" w="lg" len="lg"/>
            </a:ln>
          </p:spPr>
        </p:sp>
        <p:sp>
          <p:nvSpPr>
            <p:cNvPr id="159" name="Rectangle 159"/>
            <p:cNvSpPr/>
            <p:nvPr/>
          </p:nvSpPr>
          <p:spPr>
            <a:xfrm>
              <a:off x="3028950" y="5257800"/>
              <a:ext cx="1314450" cy="800100"/>
            </a:xfrm>
            <a:prstGeom prst="rect">
              <a:avLst/>
            </a:prstGeom>
            <a:solidFill>
              <a:srgbClr val="EFF3FA"/>
            </a:solidFill>
            <a:ln w="9525">
              <a:solidFill>
                <a:srgbClr val="C7D2E4"/>
              </a:solidFill>
            </a:ln>
          </p:spPr>
        </p:sp>
        <p:sp>
          <p:nvSpPr>
            <p:cNvPr id="160" name="TextBox 160"/>
            <p:cNvSpPr txBox="1"/>
            <p:nvPr/>
          </p:nvSpPr>
          <p:spPr>
            <a:xfrm>
              <a:off x="3479482" y="5405438"/>
              <a:ext cx="41338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具体情境</a:t>
              </a:r>
            </a:p>
          </p:txBody>
        </p:sp>
        <p:sp>
          <p:nvSpPr>
            <p:cNvPr id="161" name="TextBox 161"/>
            <p:cNvSpPr txBox="1"/>
            <p:nvPr/>
          </p:nvSpPr>
          <p:spPr>
            <a:xfrm>
              <a:off x="3452558" y="5546884"/>
              <a:ext cx="467233" cy="133350"/>
            </a:xfrm>
            <a:prstGeom prst="rect">
              <a:avLst/>
            </a:prstGeom>
            <a:noFill/>
            <a:ln>
              <a:noFill/>
            </a:ln>
          </p:spPr>
          <p:txBody>
            <a:bodyPr wrap="none" lIns="0" tIns="0" rIns="0" bIns="0" anchor="t" anchorCtr="0">
              <a:spAutoFit/>
            </a:bodyPr>
            <a:lstStyle/>
            <a:p>
              <a:pPr algn="ctr"/>
              <a:r>
                <a:rPr lang="zh-CN" sz="680" dirty="0">
                  <a:solidFill>
                    <a:srgbClr val="944130"/>
                  </a:solidFill>
                  <a:latin typeface="+mn-lt"/>
                  <a:ea typeface="+mn-ea"/>
                  <a:cs typeface="+mn-cs"/>
                </a:rPr>
                <a:t>（小前提）</a:t>
              </a:r>
            </a:p>
          </p:txBody>
        </p:sp>
        <p:sp>
          <p:nvSpPr>
            <p:cNvPr id="162" name="TextBox 162"/>
            <p:cNvSpPr txBox="1"/>
            <p:nvPr/>
          </p:nvSpPr>
          <p:spPr>
            <a:xfrm>
              <a:off x="3317938" y="57645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当前情境符合该原理</a:t>
              </a:r>
            </a:p>
          </p:txBody>
        </p:sp>
        <p:sp>
          <p:nvSpPr>
            <p:cNvPr id="163" name="Line 163"/>
            <p:cNvSpPr/>
            <p:nvPr/>
          </p:nvSpPr>
          <p:spPr>
            <a:xfrm>
              <a:off x="4381500" y="5657850"/>
              <a:ext cx="95250" cy="1"/>
            </a:xfrm>
            <a:prstGeom prst="line">
              <a:avLst/>
            </a:prstGeom>
            <a:noFill/>
            <a:ln w="15240">
              <a:solidFill>
                <a:srgbClr val="944130"/>
              </a:solidFill>
              <a:tailEnd type="triangle" w="lg" len="lg"/>
            </a:ln>
          </p:spPr>
        </p:sp>
        <p:sp>
          <p:nvSpPr>
            <p:cNvPr id="164" name="Rectangle 164"/>
            <p:cNvSpPr/>
            <p:nvPr/>
          </p:nvSpPr>
          <p:spPr>
            <a:xfrm>
              <a:off x="4514850" y="5257800"/>
              <a:ext cx="1314450" cy="800100"/>
            </a:xfrm>
            <a:prstGeom prst="rect">
              <a:avLst/>
            </a:prstGeom>
            <a:solidFill>
              <a:srgbClr val="EFF3FA"/>
            </a:solidFill>
            <a:ln w="9525">
              <a:solidFill>
                <a:srgbClr val="C7D2E4"/>
              </a:solidFill>
            </a:ln>
          </p:spPr>
        </p:sp>
        <p:sp>
          <p:nvSpPr>
            <p:cNvPr id="165" name="TextBox 165"/>
            <p:cNvSpPr txBox="1"/>
            <p:nvPr/>
          </p:nvSpPr>
          <p:spPr>
            <a:xfrm>
              <a:off x="5066348" y="5405438"/>
              <a:ext cx="21145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结论</a:t>
              </a:r>
            </a:p>
          </p:txBody>
        </p:sp>
        <p:sp>
          <p:nvSpPr>
            <p:cNvPr id="166" name="TextBox 166"/>
            <p:cNvSpPr txBox="1"/>
            <p:nvPr/>
          </p:nvSpPr>
          <p:spPr>
            <a:xfrm>
              <a:off x="4938458" y="5546884"/>
              <a:ext cx="467233" cy="133350"/>
            </a:xfrm>
            <a:prstGeom prst="rect">
              <a:avLst/>
            </a:prstGeom>
            <a:noFill/>
            <a:ln>
              <a:noFill/>
            </a:ln>
          </p:spPr>
          <p:txBody>
            <a:bodyPr wrap="none" lIns="0" tIns="0" rIns="0" bIns="0" anchor="t" anchorCtr="0">
              <a:spAutoFit/>
            </a:bodyPr>
            <a:lstStyle/>
            <a:p>
              <a:pPr algn="ctr"/>
              <a:r>
                <a:rPr lang="zh-CN" sz="680" dirty="0">
                  <a:solidFill>
                    <a:srgbClr val="944130"/>
                  </a:solidFill>
                  <a:latin typeface="+mn-lt"/>
                  <a:ea typeface="+mn-ea"/>
                  <a:cs typeface="+mn-cs"/>
                </a:rPr>
                <a:t>（必然性）</a:t>
              </a:r>
            </a:p>
          </p:txBody>
        </p:sp>
        <p:sp>
          <p:nvSpPr>
            <p:cNvPr id="167" name="TextBox 167"/>
            <p:cNvSpPr txBox="1"/>
            <p:nvPr/>
          </p:nvSpPr>
          <p:spPr>
            <a:xfrm>
              <a:off x="4844224" y="576453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得出确定性的结论</a:t>
              </a:r>
            </a:p>
          </p:txBody>
        </p:sp>
        <p:sp>
          <p:nvSpPr>
            <p:cNvPr id="168" name="Rectangle 168"/>
            <p:cNvSpPr/>
            <p:nvPr/>
          </p:nvSpPr>
          <p:spPr>
            <a:xfrm>
              <a:off x="342900" y="6210300"/>
              <a:ext cx="5543550" cy="304800"/>
            </a:xfrm>
            <a:prstGeom prst="rect">
              <a:avLst/>
            </a:prstGeom>
            <a:solidFill>
              <a:srgbClr val="EFF3FA"/>
            </a:solidFill>
            <a:ln>
              <a:noFill/>
            </a:ln>
          </p:spPr>
        </p:sp>
        <p:sp>
          <p:nvSpPr>
            <p:cNvPr id="169" name="TextBox 169"/>
            <p:cNvSpPr txBox="1"/>
            <p:nvPr/>
          </p:nvSpPr>
          <p:spPr>
            <a:xfrm>
              <a:off x="452438" y="6265307"/>
              <a:ext cx="327056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示例：所有客户价值高的产品需要持续优化（大前提）→ 本产品客户价值高（小前提）</a:t>
              </a:r>
            </a:p>
          </p:txBody>
        </p:sp>
        <p:sp>
          <p:nvSpPr>
            <p:cNvPr id="170" name="TextBox 170"/>
            <p:cNvSpPr txBox="1"/>
            <p:nvPr/>
          </p:nvSpPr>
          <p:spPr>
            <a:xfrm>
              <a:off x="452438" y="6398657"/>
              <a:ext cx="137511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 因此本产品需要持续优化（结论）</a:t>
              </a:r>
            </a:p>
          </p:txBody>
        </p:sp>
      </p:grpSp>
      <p:grpSp>
        <p:nvGrpSpPr>
          <p:cNvPr id="197" name="induction-card"/>
          <p:cNvGrpSpPr/>
          <p:nvPr/>
        </p:nvGrpSpPr>
        <p:grpSpPr>
          <a:xfrm>
            <a:off x="6153150" y="5029200"/>
            <a:ext cx="5810250" cy="1581150"/>
            <a:chOff x="6153150" y="5029200"/>
            <a:chExt cx="5810250" cy="1581150"/>
          </a:xfrm>
        </p:grpSpPr>
        <p:sp>
          <p:nvSpPr>
            <p:cNvPr id="172" name="Rectangle 172"/>
            <p:cNvSpPr/>
            <p:nvPr/>
          </p:nvSpPr>
          <p:spPr>
            <a:xfrm>
              <a:off x="6153150" y="5029200"/>
              <a:ext cx="5810250" cy="1581150"/>
            </a:xfrm>
            <a:prstGeom prst="roundRect">
              <a:avLst>
                <a:gd name="adj" fmla="val 3614"/>
              </a:avLst>
            </a:prstGeom>
            <a:solidFill>
              <a:srgbClr val="FFFFFF"/>
            </a:solidFill>
            <a:ln w="9525">
              <a:solidFill>
                <a:srgbClr val="C7D2E4"/>
              </a:solidFill>
            </a:ln>
          </p:spPr>
        </p:sp>
        <p:sp>
          <p:nvSpPr>
            <p:cNvPr id="173" name="Rectangle 173"/>
            <p:cNvSpPr/>
            <p:nvPr/>
          </p:nvSpPr>
          <p:spPr>
            <a:xfrm>
              <a:off x="6267450" y="5143500"/>
              <a:ext cx="1104900" cy="990600"/>
            </a:xfrm>
            <a:prstGeom prst="roundRect">
              <a:avLst>
                <a:gd name="adj" fmla="val 3846"/>
              </a:avLst>
            </a:prstGeom>
            <a:solidFill>
              <a:srgbClr val="944130"/>
            </a:solidFill>
            <a:ln>
              <a:noFill/>
            </a:ln>
          </p:spPr>
        </p:sp>
        <p:grpSp>
          <p:nvGrpSpPr>
            <p:cNvPr id="176" name="Group 176"/>
            <p:cNvGrpSpPr/>
            <p:nvPr/>
          </p:nvGrpSpPr>
          <p:grpSpPr>
            <a:xfrm>
              <a:off x="6755606" y="5279231"/>
              <a:ext cx="128587" cy="128587"/>
              <a:chOff x="6755606" y="5279231"/>
              <a:chExt cx="128587" cy="128587"/>
            </a:xfrm>
          </p:grpSpPr>
          <p:sp>
            <p:nvSpPr>
              <p:cNvPr id="174" name="Freeform 174"/>
              <p:cNvSpPr/>
              <p:nvPr/>
            </p:nvSpPr>
            <p:spPr>
              <a:xfrm>
                <a:off x="6755606" y="5279231"/>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FFFFFF"/>
                </a:solidFill>
              </a:ln>
            </p:spPr>
          </p:sp>
          <p:sp>
            <p:nvSpPr>
              <p:cNvPr id="175" name="Freeform 175"/>
              <p:cNvSpPr/>
              <p:nvPr/>
            </p:nvSpPr>
            <p:spPr>
              <a:xfrm>
                <a:off x="6841331" y="5364956"/>
                <a:ext cx="42862" cy="42862"/>
              </a:xfrm>
              <a:custGeom>
                <a:avLst/>
                <a:gdLst/>
                <a:ahLst/>
                <a:cxnLst/>
                <a:rect l="l" t="t" r="r" b="b"/>
                <a:pathLst>
                  <a:path w="42862" h="42862">
                    <a:moveTo>
                      <a:pt x="42862" y="42862"/>
                    </a:moveTo>
                    <a:lnTo>
                      <a:pt x="0" y="0"/>
                    </a:lnTo>
                  </a:path>
                </a:pathLst>
              </a:custGeom>
              <a:noFill/>
              <a:ln w="14288">
                <a:solidFill>
                  <a:srgbClr val="FFFFFF"/>
                </a:solidFill>
              </a:ln>
            </p:spPr>
          </p:sp>
        </p:grpSp>
        <p:sp>
          <p:nvSpPr>
            <p:cNvPr id="177" name="TextBox 177"/>
            <p:cNvSpPr txBox="1"/>
            <p:nvPr/>
          </p:nvSpPr>
          <p:spPr>
            <a:xfrm>
              <a:off x="6551092" y="5514499"/>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归纳推理</a:t>
              </a:r>
            </a:p>
          </p:txBody>
        </p:sp>
        <p:sp>
          <p:nvSpPr>
            <p:cNvPr id="178" name="TextBox 178"/>
            <p:cNvSpPr txBox="1"/>
            <p:nvPr/>
          </p:nvSpPr>
          <p:spPr>
            <a:xfrm>
              <a:off x="6588976" y="5730478"/>
              <a:ext cx="461848" cy="111919"/>
            </a:xfrm>
            <a:prstGeom prst="rect">
              <a:avLst/>
            </a:prstGeom>
            <a:noFill/>
            <a:ln>
              <a:noFill/>
            </a:ln>
          </p:spPr>
          <p:txBody>
            <a:bodyPr wrap="none" lIns="0" tIns="0" rIns="0" bIns="0" anchor="t" anchorCtr="0">
              <a:spAutoFit/>
            </a:bodyPr>
            <a:lstStyle/>
            <a:p>
              <a:pPr algn="ctr"/>
              <a:r>
                <a:rPr lang="zh-CN" sz="560" dirty="0">
                  <a:solidFill>
                    <a:srgbClr val="DCE5F2"/>
                  </a:solidFill>
                  <a:latin typeface="+mn-lt"/>
                  <a:ea typeface="+mn-ea"/>
                  <a:cs typeface="+mn-cs"/>
                </a:rPr>
                <a:t>从特殊到一般</a:t>
              </a:r>
            </a:p>
          </p:txBody>
        </p:sp>
        <p:sp>
          <p:nvSpPr>
            <p:cNvPr id="179" name="TextBox 179"/>
            <p:cNvSpPr txBox="1"/>
            <p:nvPr/>
          </p:nvSpPr>
          <p:spPr>
            <a:xfrm>
              <a:off x="6664363" y="5844778"/>
              <a:ext cx="311074" cy="111919"/>
            </a:xfrm>
            <a:prstGeom prst="rect">
              <a:avLst/>
            </a:prstGeom>
            <a:noFill/>
            <a:ln>
              <a:noFill/>
            </a:ln>
          </p:spPr>
          <p:txBody>
            <a:bodyPr wrap="none" lIns="0" tIns="0" rIns="0" bIns="0" anchor="t" anchorCtr="0">
              <a:spAutoFit/>
            </a:bodyPr>
            <a:lstStyle/>
            <a:p>
              <a:pPr algn="ctr"/>
              <a:r>
                <a:rPr lang="zh-CN" sz="560" dirty="0">
                  <a:solidFill>
                    <a:srgbClr val="DCE5F2"/>
                  </a:solidFill>
                  <a:latin typeface="+mn-lt"/>
                  <a:ea typeface="+mn-ea"/>
                  <a:cs typeface="+mn-cs"/>
                </a:rPr>
                <a:t>发现规律</a:t>
              </a:r>
            </a:p>
          </p:txBody>
        </p:sp>
        <p:sp>
          <p:nvSpPr>
            <p:cNvPr id="180" name="Rectangle 180"/>
            <p:cNvSpPr/>
            <p:nvPr/>
          </p:nvSpPr>
          <p:spPr>
            <a:xfrm>
              <a:off x="7467600" y="5257800"/>
              <a:ext cx="1314450" cy="800100"/>
            </a:xfrm>
            <a:prstGeom prst="rect">
              <a:avLst/>
            </a:prstGeom>
            <a:solidFill>
              <a:srgbClr val="EFF3FA"/>
            </a:solidFill>
            <a:ln w="9525">
              <a:solidFill>
                <a:srgbClr val="C7D2E4"/>
              </a:solidFill>
            </a:ln>
          </p:spPr>
        </p:sp>
        <p:sp>
          <p:nvSpPr>
            <p:cNvPr id="181" name="TextBox 181"/>
            <p:cNvSpPr txBox="1"/>
            <p:nvPr/>
          </p:nvSpPr>
          <p:spPr>
            <a:xfrm>
              <a:off x="7817168" y="5405438"/>
              <a:ext cx="61531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多个具体事实</a:t>
              </a:r>
            </a:p>
          </p:txBody>
        </p:sp>
        <p:sp>
          <p:nvSpPr>
            <p:cNvPr id="182" name="TextBox 182"/>
            <p:cNvSpPr txBox="1"/>
            <p:nvPr/>
          </p:nvSpPr>
          <p:spPr>
            <a:xfrm>
              <a:off x="7936979" y="5546884"/>
              <a:ext cx="375691" cy="133350"/>
            </a:xfrm>
            <a:prstGeom prst="rect">
              <a:avLst/>
            </a:prstGeom>
            <a:noFill/>
            <a:ln>
              <a:noFill/>
            </a:ln>
          </p:spPr>
          <p:txBody>
            <a:bodyPr wrap="none" lIns="0" tIns="0" rIns="0" bIns="0" anchor="t" anchorCtr="0">
              <a:spAutoFit/>
            </a:bodyPr>
            <a:lstStyle/>
            <a:p>
              <a:pPr algn="ctr"/>
              <a:r>
                <a:rPr lang="zh-CN" sz="680" dirty="0">
                  <a:solidFill>
                    <a:srgbClr val="944130"/>
                  </a:solidFill>
                  <a:latin typeface="+mn-lt"/>
                  <a:ea typeface="+mn-ea"/>
                  <a:cs typeface="+mn-cs"/>
                </a:rPr>
                <a:t>（观察）</a:t>
              </a:r>
            </a:p>
          </p:txBody>
        </p:sp>
        <p:sp>
          <p:nvSpPr>
            <p:cNvPr id="183" name="TextBox 183"/>
            <p:cNvSpPr txBox="1"/>
            <p:nvPr/>
          </p:nvSpPr>
          <p:spPr>
            <a:xfrm>
              <a:off x="7675816" y="5764530"/>
              <a:ext cx="89801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收集多个具体案例或数据</a:t>
              </a:r>
            </a:p>
          </p:txBody>
        </p:sp>
        <p:sp>
          <p:nvSpPr>
            <p:cNvPr id="184" name="Line 184"/>
            <p:cNvSpPr/>
            <p:nvPr/>
          </p:nvSpPr>
          <p:spPr>
            <a:xfrm>
              <a:off x="8820150" y="5657850"/>
              <a:ext cx="95250" cy="1"/>
            </a:xfrm>
            <a:prstGeom prst="line">
              <a:avLst/>
            </a:prstGeom>
            <a:noFill/>
            <a:ln w="15240">
              <a:solidFill>
                <a:srgbClr val="944130"/>
              </a:solidFill>
              <a:tailEnd type="triangle" w="lg" len="lg"/>
            </a:ln>
          </p:spPr>
        </p:sp>
        <p:sp>
          <p:nvSpPr>
            <p:cNvPr id="185" name="Rectangle 185"/>
            <p:cNvSpPr/>
            <p:nvPr/>
          </p:nvSpPr>
          <p:spPr>
            <a:xfrm>
              <a:off x="8953500" y="5257800"/>
              <a:ext cx="1314450" cy="800100"/>
            </a:xfrm>
            <a:prstGeom prst="rect">
              <a:avLst/>
            </a:prstGeom>
            <a:solidFill>
              <a:srgbClr val="EFF3FA"/>
            </a:solidFill>
            <a:ln w="9525">
              <a:solidFill>
                <a:srgbClr val="C7D2E4"/>
              </a:solidFill>
            </a:ln>
          </p:spPr>
        </p:sp>
        <p:sp>
          <p:nvSpPr>
            <p:cNvPr id="186" name="TextBox 186"/>
            <p:cNvSpPr txBox="1"/>
            <p:nvPr/>
          </p:nvSpPr>
          <p:spPr>
            <a:xfrm>
              <a:off x="9404032" y="5405438"/>
              <a:ext cx="41338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共同特征</a:t>
              </a:r>
            </a:p>
          </p:txBody>
        </p:sp>
        <p:sp>
          <p:nvSpPr>
            <p:cNvPr id="187" name="TextBox 187"/>
            <p:cNvSpPr txBox="1"/>
            <p:nvPr/>
          </p:nvSpPr>
          <p:spPr>
            <a:xfrm>
              <a:off x="9422879" y="5546884"/>
              <a:ext cx="375691" cy="133350"/>
            </a:xfrm>
            <a:prstGeom prst="rect">
              <a:avLst/>
            </a:prstGeom>
            <a:noFill/>
            <a:ln>
              <a:noFill/>
            </a:ln>
          </p:spPr>
          <p:txBody>
            <a:bodyPr wrap="none" lIns="0" tIns="0" rIns="0" bIns="0" anchor="t" anchorCtr="0">
              <a:spAutoFit/>
            </a:bodyPr>
            <a:lstStyle/>
            <a:p>
              <a:pPr algn="ctr"/>
              <a:r>
                <a:rPr lang="zh-CN" sz="680" dirty="0">
                  <a:solidFill>
                    <a:srgbClr val="944130"/>
                  </a:solidFill>
                  <a:latin typeface="+mn-lt"/>
                  <a:ea typeface="+mn-ea"/>
                  <a:cs typeface="+mn-cs"/>
                </a:rPr>
                <a:t>（模式）</a:t>
              </a:r>
            </a:p>
          </p:txBody>
        </p:sp>
        <p:sp>
          <p:nvSpPr>
            <p:cNvPr id="188" name="TextBox 188"/>
            <p:cNvSpPr txBox="1"/>
            <p:nvPr/>
          </p:nvSpPr>
          <p:spPr>
            <a:xfrm>
              <a:off x="9161716" y="5764530"/>
              <a:ext cx="89801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识别出共同的特征或趋势</a:t>
              </a:r>
            </a:p>
          </p:txBody>
        </p:sp>
        <p:sp>
          <p:nvSpPr>
            <p:cNvPr id="189" name="Line 189"/>
            <p:cNvSpPr/>
            <p:nvPr/>
          </p:nvSpPr>
          <p:spPr>
            <a:xfrm>
              <a:off x="10306050" y="5657850"/>
              <a:ext cx="95250" cy="1"/>
            </a:xfrm>
            <a:prstGeom prst="line">
              <a:avLst/>
            </a:prstGeom>
            <a:noFill/>
            <a:ln w="15240">
              <a:solidFill>
                <a:srgbClr val="944130"/>
              </a:solidFill>
              <a:tailEnd type="triangle" w="lg" len="lg"/>
            </a:ln>
          </p:spPr>
        </p:sp>
        <p:sp>
          <p:nvSpPr>
            <p:cNvPr id="190" name="Rectangle 190"/>
            <p:cNvSpPr/>
            <p:nvPr/>
          </p:nvSpPr>
          <p:spPr>
            <a:xfrm>
              <a:off x="10439400" y="5257800"/>
              <a:ext cx="1314450" cy="800100"/>
            </a:xfrm>
            <a:prstGeom prst="rect">
              <a:avLst/>
            </a:prstGeom>
            <a:solidFill>
              <a:srgbClr val="EFF3FA"/>
            </a:solidFill>
            <a:ln w="9525">
              <a:solidFill>
                <a:srgbClr val="C7D2E4"/>
              </a:solidFill>
            </a:ln>
          </p:spPr>
        </p:sp>
        <p:sp>
          <p:nvSpPr>
            <p:cNvPr id="191" name="TextBox 191"/>
            <p:cNvSpPr txBox="1"/>
            <p:nvPr/>
          </p:nvSpPr>
          <p:spPr>
            <a:xfrm>
              <a:off x="10889932" y="5405438"/>
              <a:ext cx="41338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一般结论</a:t>
              </a:r>
            </a:p>
          </p:txBody>
        </p:sp>
        <p:sp>
          <p:nvSpPr>
            <p:cNvPr id="192" name="TextBox 192"/>
            <p:cNvSpPr txBox="1"/>
            <p:nvPr/>
          </p:nvSpPr>
          <p:spPr>
            <a:xfrm>
              <a:off x="10863008" y="5546884"/>
              <a:ext cx="467233" cy="133350"/>
            </a:xfrm>
            <a:prstGeom prst="rect">
              <a:avLst/>
            </a:prstGeom>
            <a:noFill/>
            <a:ln>
              <a:noFill/>
            </a:ln>
          </p:spPr>
          <p:txBody>
            <a:bodyPr wrap="none" lIns="0" tIns="0" rIns="0" bIns="0" anchor="t" anchorCtr="0">
              <a:spAutoFit/>
            </a:bodyPr>
            <a:lstStyle/>
            <a:p>
              <a:pPr algn="ctr"/>
              <a:r>
                <a:rPr lang="zh-CN" sz="680" dirty="0">
                  <a:solidFill>
                    <a:srgbClr val="944130"/>
                  </a:solidFill>
                  <a:latin typeface="+mn-lt"/>
                  <a:ea typeface="+mn-ea"/>
                  <a:cs typeface="+mn-cs"/>
                </a:rPr>
                <a:t>（可能性）</a:t>
              </a:r>
            </a:p>
          </p:txBody>
        </p:sp>
        <p:sp>
          <p:nvSpPr>
            <p:cNvPr id="193" name="TextBox 193"/>
            <p:cNvSpPr txBox="1"/>
            <p:nvPr/>
          </p:nvSpPr>
          <p:spPr>
            <a:xfrm>
              <a:off x="10688002" y="576453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得出具有普遍性的结论</a:t>
              </a:r>
            </a:p>
          </p:txBody>
        </p:sp>
        <p:sp>
          <p:nvSpPr>
            <p:cNvPr id="194" name="Rectangle 194"/>
            <p:cNvSpPr/>
            <p:nvPr/>
          </p:nvSpPr>
          <p:spPr>
            <a:xfrm>
              <a:off x="6267450" y="6210300"/>
              <a:ext cx="5581650" cy="304800"/>
            </a:xfrm>
            <a:prstGeom prst="rect">
              <a:avLst/>
            </a:prstGeom>
            <a:solidFill>
              <a:srgbClr val="EFF3FA"/>
            </a:solidFill>
            <a:ln>
              <a:noFill/>
            </a:ln>
          </p:spPr>
        </p:sp>
        <p:sp>
          <p:nvSpPr>
            <p:cNvPr id="195" name="TextBox 195"/>
            <p:cNvSpPr txBox="1"/>
            <p:nvPr/>
          </p:nvSpPr>
          <p:spPr>
            <a:xfrm>
              <a:off x="6376988" y="6265307"/>
              <a:ext cx="338467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示例：A、B、C多个客户在使用后留存率提升（观察）→ 发现共同特征：功能X被高频使用</a:t>
              </a:r>
            </a:p>
          </p:txBody>
        </p:sp>
        <p:sp>
          <p:nvSpPr>
            <p:cNvPr id="196" name="TextBox 196"/>
            <p:cNvSpPr txBox="1"/>
            <p:nvPr/>
          </p:nvSpPr>
          <p:spPr>
            <a:xfrm>
              <a:off x="6376988" y="6398657"/>
              <a:ext cx="220059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（模式）→ 因此功能X是提升留存的关键因素（一般结论）</a:t>
              </a:r>
            </a:p>
          </p:txBody>
        </p:sp>
      </p:gr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5482742"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SCQA｜让复杂商业故事产生认知张力</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38" name="scqa-band"/>
          <p:cNvGrpSpPr/>
          <p:nvPr/>
        </p:nvGrpSpPr>
        <p:grpSpPr>
          <a:xfrm>
            <a:off x="266700" y="1066800"/>
            <a:ext cx="6838950" cy="1428750"/>
            <a:chOff x="266700" y="1066800"/>
            <a:chExt cx="6838950" cy="1428750"/>
          </a:xfrm>
        </p:grpSpPr>
        <p:sp>
          <p:nvSpPr>
            <p:cNvPr id="6" name="scqa-wave"/>
            <p:cNvSpPr/>
            <p:nvPr/>
          </p:nvSpPr>
          <p:spPr>
            <a:xfrm>
              <a:off x="381000" y="1066800"/>
              <a:ext cx="6724650" cy="571500"/>
            </a:xfrm>
            <a:custGeom>
              <a:avLst/>
              <a:gdLst/>
              <a:ahLst/>
              <a:cxnLst/>
              <a:rect l="l" t="t" r="r" b="b"/>
              <a:pathLst>
                <a:path w="6724650" h="571500">
                  <a:moveTo>
                    <a:pt x="0" y="361950"/>
                  </a:moveTo>
                  <a:cubicBezTo>
                    <a:pt x="952500" y="0"/>
                    <a:pt x="1905000" y="571500"/>
                    <a:pt x="2667000" y="342900"/>
                  </a:cubicBezTo>
                  <a:cubicBezTo>
                    <a:pt x="3429000" y="133350"/>
                    <a:pt x="4381500" y="533400"/>
                    <a:pt x="5143500" y="323850"/>
                  </a:cubicBezTo>
                  <a:cubicBezTo>
                    <a:pt x="5810250" y="152400"/>
                    <a:pt x="6381750" y="190500"/>
                    <a:pt x="6724650" y="266700"/>
                  </a:cubicBezTo>
                </a:path>
              </a:pathLst>
            </a:custGeom>
            <a:noFill/>
            <a:ln w="15240">
              <a:solidFill>
                <a:srgbClr val="4E0D00"/>
              </a:solidFill>
              <a:tailEnd type="triangle" w="lg" len="lg"/>
            </a:ln>
          </p:spPr>
        </p:sp>
        <p:sp>
          <p:nvSpPr>
            <p:cNvPr id="7" name="Line 7"/>
            <p:cNvSpPr/>
            <p:nvPr/>
          </p:nvSpPr>
          <p:spPr>
            <a:xfrm>
              <a:off x="1943100" y="1143000"/>
              <a:ext cx="9525" cy="1352550"/>
            </a:xfrm>
            <a:custGeom>
              <a:avLst/>
              <a:gdLst/>
              <a:ahLst/>
              <a:cxnLst/>
              <a:rect l="l" t="t" r="r" b="b"/>
              <a:pathLst>
                <a:path w="9525" h="1352550">
                  <a:moveTo>
                    <a:pt x="0" y="0"/>
                  </a:moveTo>
                  <a:lnTo>
                    <a:pt x="0" y="1352550"/>
                  </a:lnTo>
                </a:path>
              </a:pathLst>
            </a:custGeom>
            <a:noFill/>
            <a:ln w="7620">
              <a:solidFill>
                <a:srgbClr val="D8E1EE"/>
              </a:solidFill>
              <a:custDash>
                <a:ds d="375000" sp="375000"/>
              </a:custDash>
            </a:ln>
          </p:spPr>
        </p:sp>
        <p:sp>
          <p:nvSpPr>
            <p:cNvPr id="8" name="Line 8"/>
            <p:cNvSpPr/>
            <p:nvPr/>
          </p:nvSpPr>
          <p:spPr>
            <a:xfrm>
              <a:off x="3657600" y="1143000"/>
              <a:ext cx="9525" cy="1352550"/>
            </a:xfrm>
            <a:custGeom>
              <a:avLst/>
              <a:gdLst/>
              <a:ahLst/>
              <a:cxnLst/>
              <a:rect l="l" t="t" r="r" b="b"/>
              <a:pathLst>
                <a:path w="9525" h="1352550">
                  <a:moveTo>
                    <a:pt x="0" y="0"/>
                  </a:moveTo>
                  <a:lnTo>
                    <a:pt x="0" y="1352550"/>
                  </a:lnTo>
                </a:path>
              </a:pathLst>
            </a:custGeom>
            <a:noFill/>
            <a:ln w="7620">
              <a:solidFill>
                <a:srgbClr val="D8E1EE"/>
              </a:solidFill>
              <a:custDash>
                <a:ds d="375000" sp="375000"/>
              </a:custDash>
            </a:ln>
          </p:spPr>
        </p:sp>
        <p:sp>
          <p:nvSpPr>
            <p:cNvPr id="9" name="Line 9"/>
            <p:cNvSpPr/>
            <p:nvPr/>
          </p:nvSpPr>
          <p:spPr>
            <a:xfrm>
              <a:off x="5372100" y="1143000"/>
              <a:ext cx="9525" cy="1352550"/>
            </a:xfrm>
            <a:custGeom>
              <a:avLst/>
              <a:gdLst/>
              <a:ahLst/>
              <a:cxnLst/>
              <a:rect l="l" t="t" r="r" b="b"/>
              <a:pathLst>
                <a:path w="9525" h="1352550">
                  <a:moveTo>
                    <a:pt x="0" y="0"/>
                  </a:moveTo>
                  <a:lnTo>
                    <a:pt x="0" y="1352550"/>
                  </a:lnTo>
                </a:path>
              </a:pathLst>
            </a:custGeom>
            <a:noFill/>
            <a:ln w="7620">
              <a:solidFill>
                <a:srgbClr val="D8E1EE"/>
              </a:solidFill>
              <a:custDash>
                <a:ds d="375000" sp="375000"/>
              </a:custDash>
            </a:ln>
          </p:spPr>
        </p:sp>
        <p:sp>
          <p:nvSpPr>
            <p:cNvPr id="10" name="Ellipse 10"/>
            <p:cNvSpPr/>
            <p:nvPr/>
          </p:nvSpPr>
          <p:spPr>
            <a:xfrm>
              <a:off x="962025" y="1143000"/>
              <a:ext cx="247650" cy="247650"/>
            </a:xfrm>
            <a:prstGeom prst="ellipse">
              <a:avLst/>
            </a:prstGeom>
            <a:solidFill>
              <a:srgbClr val="4E0D00"/>
            </a:solidFill>
            <a:ln>
              <a:noFill/>
            </a:ln>
          </p:spPr>
        </p:sp>
        <p:sp>
          <p:nvSpPr>
            <p:cNvPr id="11" name="TextBox 11"/>
            <p:cNvSpPr txBox="1"/>
            <p:nvPr/>
          </p:nvSpPr>
          <p:spPr>
            <a:xfrm>
              <a:off x="1044123" y="1212532"/>
              <a:ext cx="83454"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S</a:t>
              </a:r>
            </a:p>
          </p:txBody>
        </p:sp>
        <p:sp>
          <p:nvSpPr>
            <p:cNvPr id="12" name="Ellipse 12"/>
            <p:cNvSpPr/>
            <p:nvPr/>
          </p:nvSpPr>
          <p:spPr>
            <a:xfrm>
              <a:off x="2676525" y="1352550"/>
              <a:ext cx="247650" cy="247650"/>
            </a:xfrm>
            <a:prstGeom prst="ellipse">
              <a:avLst/>
            </a:prstGeom>
            <a:solidFill>
              <a:srgbClr val="4E0D00"/>
            </a:solidFill>
            <a:ln>
              <a:noFill/>
            </a:ln>
          </p:spPr>
        </p:sp>
        <p:sp>
          <p:nvSpPr>
            <p:cNvPr id="13" name="TextBox 13"/>
            <p:cNvSpPr txBox="1"/>
            <p:nvPr/>
          </p:nvSpPr>
          <p:spPr>
            <a:xfrm>
              <a:off x="2758623" y="1422082"/>
              <a:ext cx="83454"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C</a:t>
              </a:r>
            </a:p>
          </p:txBody>
        </p:sp>
        <p:sp>
          <p:nvSpPr>
            <p:cNvPr id="14" name="Ellipse 14"/>
            <p:cNvSpPr/>
            <p:nvPr/>
          </p:nvSpPr>
          <p:spPr>
            <a:xfrm>
              <a:off x="4391025" y="1304925"/>
              <a:ext cx="247650" cy="247650"/>
            </a:xfrm>
            <a:prstGeom prst="ellipse">
              <a:avLst/>
            </a:prstGeom>
            <a:solidFill>
              <a:srgbClr val="4E0D00"/>
            </a:solidFill>
            <a:ln>
              <a:noFill/>
            </a:ln>
          </p:spPr>
        </p:sp>
        <p:sp>
          <p:nvSpPr>
            <p:cNvPr id="15" name="TextBox 15"/>
            <p:cNvSpPr txBox="1"/>
            <p:nvPr/>
          </p:nvSpPr>
          <p:spPr>
            <a:xfrm>
              <a:off x="4459681" y="1374458"/>
              <a:ext cx="110338"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Q</a:t>
              </a:r>
            </a:p>
          </p:txBody>
        </p:sp>
        <p:sp>
          <p:nvSpPr>
            <p:cNvPr id="16" name="Ellipse 16"/>
            <p:cNvSpPr/>
            <p:nvPr/>
          </p:nvSpPr>
          <p:spPr>
            <a:xfrm>
              <a:off x="6105525" y="1190625"/>
              <a:ext cx="247650" cy="247650"/>
            </a:xfrm>
            <a:prstGeom prst="ellipse">
              <a:avLst/>
            </a:prstGeom>
            <a:solidFill>
              <a:srgbClr val="4E0D00"/>
            </a:solidFill>
            <a:ln>
              <a:noFill/>
            </a:ln>
          </p:spPr>
        </p:sp>
        <p:sp>
          <p:nvSpPr>
            <p:cNvPr id="17" name="TextBox 17"/>
            <p:cNvSpPr txBox="1"/>
            <p:nvPr/>
          </p:nvSpPr>
          <p:spPr>
            <a:xfrm>
              <a:off x="6187623" y="1260158"/>
              <a:ext cx="83454"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A</a:t>
              </a:r>
            </a:p>
          </p:txBody>
        </p:sp>
        <p:sp>
          <p:nvSpPr>
            <p:cNvPr id="18" name="TextBox 18"/>
            <p:cNvSpPr txBox="1"/>
            <p:nvPr/>
          </p:nvSpPr>
          <p:spPr>
            <a:xfrm>
              <a:off x="693687" y="1625441"/>
              <a:ext cx="784327"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Situation 现状</a:t>
              </a:r>
            </a:p>
          </p:txBody>
        </p:sp>
        <p:sp>
          <p:nvSpPr>
            <p:cNvPr id="19" name="TextBox 19"/>
            <p:cNvSpPr txBox="1"/>
            <p:nvPr/>
          </p:nvSpPr>
          <p:spPr>
            <a:xfrm>
              <a:off x="2315456" y="1625441"/>
              <a:ext cx="969788"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Complication 冲突</a:t>
              </a:r>
            </a:p>
          </p:txBody>
        </p:sp>
        <p:sp>
          <p:nvSpPr>
            <p:cNvPr id="20" name="TextBox 20"/>
            <p:cNvSpPr txBox="1"/>
            <p:nvPr/>
          </p:nvSpPr>
          <p:spPr>
            <a:xfrm>
              <a:off x="4128307" y="1625441"/>
              <a:ext cx="773087"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Question 问题</a:t>
              </a:r>
            </a:p>
          </p:txBody>
        </p:sp>
        <p:sp>
          <p:nvSpPr>
            <p:cNvPr id="21" name="TextBox 21"/>
            <p:cNvSpPr txBox="1"/>
            <p:nvPr/>
          </p:nvSpPr>
          <p:spPr>
            <a:xfrm>
              <a:off x="5891897" y="1625441"/>
              <a:ext cx="674907"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Answer 答案</a:t>
              </a:r>
            </a:p>
          </p:txBody>
        </p:sp>
        <p:sp>
          <p:nvSpPr>
            <p:cNvPr id="22" name="Rectangle 22"/>
            <p:cNvSpPr/>
            <p:nvPr/>
          </p:nvSpPr>
          <p:spPr>
            <a:xfrm>
              <a:off x="266700" y="1790700"/>
              <a:ext cx="1638300" cy="704850"/>
            </a:xfrm>
            <a:prstGeom prst="rect">
              <a:avLst/>
            </a:prstGeom>
            <a:solidFill>
              <a:srgbClr val="FFFFFF"/>
            </a:solidFill>
            <a:ln w="9525">
              <a:solidFill>
                <a:srgbClr val="C7D2E4"/>
              </a:solidFill>
            </a:ln>
          </p:spPr>
        </p:sp>
        <p:sp>
          <p:nvSpPr>
            <p:cNvPr id="23" name="TextBox 23"/>
            <p:cNvSpPr txBox="1"/>
            <p:nvPr/>
          </p:nvSpPr>
          <p:spPr>
            <a:xfrm>
              <a:off x="645084" y="1963102"/>
              <a:ext cx="881532" cy="205359"/>
            </a:xfrm>
            <a:prstGeom prst="rect">
              <a:avLst/>
            </a:prstGeom>
            <a:noFill/>
            <a:ln>
              <a:noFill/>
            </a:ln>
          </p:spPr>
          <p:txBody>
            <a:bodyPr wrap="none" lIns="0" tIns="0" rIns="0" bIns="0" anchor="t" anchorCtr="0">
              <a:spAutoFit/>
            </a:bodyPr>
            <a:lstStyle/>
            <a:p>
              <a:pPr algn="ctr"/>
              <a:r>
                <a:rPr lang="zh-CN" sz="1050" b="1" dirty="0">
                  <a:solidFill>
                    <a:srgbClr val="4E0D00"/>
                  </a:solidFill>
                  <a:latin typeface="+mn-lt"/>
                  <a:ea typeface="+mn-ea"/>
                  <a:cs typeface="+mn-cs"/>
                </a:rPr>
                <a:t xml:space="preserve">市场增长 </a:t>
              </a:r>
              <a:r>
                <a:rPr lang="zh-CN" sz="1420" b="1" dirty="0">
                  <a:solidFill>
                    <a:srgbClr val="944130"/>
                  </a:solidFill>
                  <a:latin typeface="+mn-lt"/>
                  <a:ea typeface="+mn-ea"/>
                  <a:cs typeface="+mn-cs"/>
                </a:rPr>
                <a:t>8%</a:t>
              </a:r>
            </a:p>
          </p:txBody>
        </p:sp>
        <p:sp>
          <p:nvSpPr>
            <p:cNvPr id="24" name="TextBox 24"/>
            <p:cNvSpPr txBox="1"/>
            <p:nvPr/>
          </p:nvSpPr>
          <p:spPr>
            <a:xfrm>
              <a:off x="693382" y="2217182"/>
              <a:ext cx="784936"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行业保持稳健增长，</a:t>
              </a:r>
            </a:p>
          </p:txBody>
        </p:sp>
        <p:sp>
          <p:nvSpPr>
            <p:cNvPr id="25" name="TextBox 25"/>
            <p:cNvSpPr txBox="1"/>
            <p:nvPr/>
          </p:nvSpPr>
          <p:spPr>
            <a:xfrm>
              <a:off x="779539" y="2350532"/>
              <a:ext cx="612623"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机会仍在扩张。</a:t>
              </a:r>
            </a:p>
          </p:txBody>
        </p:sp>
        <p:sp>
          <p:nvSpPr>
            <p:cNvPr id="26" name="Rectangle 26"/>
            <p:cNvSpPr/>
            <p:nvPr/>
          </p:nvSpPr>
          <p:spPr>
            <a:xfrm>
              <a:off x="1981200" y="1790700"/>
              <a:ext cx="1638300" cy="704850"/>
            </a:xfrm>
            <a:prstGeom prst="rect">
              <a:avLst/>
            </a:prstGeom>
            <a:solidFill>
              <a:srgbClr val="FFFFFF"/>
            </a:solidFill>
            <a:ln w="9525">
              <a:solidFill>
                <a:srgbClr val="C7D2E4"/>
              </a:solidFill>
            </a:ln>
          </p:spPr>
        </p:sp>
        <p:sp>
          <p:nvSpPr>
            <p:cNvPr id="27" name="TextBox 27"/>
            <p:cNvSpPr txBox="1"/>
            <p:nvPr/>
          </p:nvSpPr>
          <p:spPr>
            <a:xfrm>
              <a:off x="2288909" y="1963102"/>
              <a:ext cx="1022883" cy="205359"/>
            </a:xfrm>
            <a:prstGeom prst="rect">
              <a:avLst/>
            </a:prstGeom>
            <a:noFill/>
            <a:ln>
              <a:noFill/>
            </a:ln>
          </p:spPr>
          <p:txBody>
            <a:bodyPr wrap="none" lIns="0" tIns="0" rIns="0" bIns="0" anchor="t" anchorCtr="0">
              <a:spAutoFit/>
            </a:bodyPr>
            <a:lstStyle/>
            <a:p>
              <a:pPr algn="ctr"/>
              <a:r>
                <a:rPr lang="zh-CN" sz="1050" b="1" dirty="0">
                  <a:solidFill>
                    <a:srgbClr val="4E0D00"/>
                  </a:solidFill>
                  <a:latin typeface="+mn-lt"/>
                  <a:ea typeface="+mn-ea"/>
                  <a:cs typeface="+mn-cs"/>
                </a:rPr>
                <a:t xml:space="preserve">公司增长仅 </a:t>
              </a:r>
              <a:r>
                <a:rPr lang="zh-CN" sz="1420" b="1" dirty="0">
                  <a:solidFill>
                    <a:srgbClr val="944130"/>
                  </a:solidFill>
                  <a:latin typeface="+mn-lt"/>
                  <a:ea typeface="+mn-ea"/>
                  <a:cs typeface="+mn-cs"/>
                </a:rPr>
                <a:t>2%</a:t>
              </a:r>
            </a:p>
          </p:txBody>
        </p:sp>
        <p:sp>
          <p:nvSpPr>
            <p:cNvPr id="28" name="TextBox 28"/>
            <p:cNvSpPr txBox="1"/>
            <p:nvPr/>
          </p:nvSpPr>
          <p:spPr>
            <a:xfrm>
              <a:off x="2321725" y="2217182"/>
              <a:ext cx="95725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公司增速显著低于行业，</a:t>
              </a:r>
            </a:p>
          </p:txBody>
        </p:sp>
        <p:sp>
          <p:nvSpPr>
            <p:cNvPr id="29" name="TextBox 29"/>
            <p:cNvSpPr txBox="1"/>
            <p:nvPr/>
          </p:nvSpPr>
          <p:spPr>
            <a:xfrm>
              <a:off x="2494039" y="2350532"/>
              <a:ext cx="612623"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差距持续扩大。</a:t>
              </a:r>
            </a:p>
          </p:txBody>
        </p:sp>
        <p:sp>
          <p:nvSpPr>
            <p:cNvPr id="30" name="Rectangle 30"/>
            <p:cNvSpPr/>
            <p:nvPr/>
          </p:nvSpPr>
          <p:spPr>
            <a:xfrm>
              <a:off x="3695700" y="1790700"/>
              <a:ext cx="1638300" cy="704850"/>
            </a:xfrm>
            <a:prstGeom prst="rect">
              <a:avLst/>
            </a:prstGeom>
            <a:solidFill>
              <a:srgbClr val="FFFFFF"/>
            </a:solidFill>
            <a:ln w="9525">
              <a:solidFill>
                <a:srgbClr val="C7D2E4"/>
              </a:solidFill>
            </a:ln>
          </p:spPr>
        </p:sp>
        <p:sp>
          <p:nvSpPr>
            <p:cNvPr id="31" name="TextBox 31"/>
            <p:cNvSpPr txBox="1"/>
            <p:nvPr/>
          </p:nvSpPr>
          <p:spPr>
            <a:xfrm>
              <a:off x="3994565" y="1967151"/>
              <a:ext cx="1040571" cy="198025"/>
            </a:xfrm>
            <a:prstGeom prst="rect">
              <a:avLst/>
            </a:prstGeom>
            <a:noFill/>
            <a:ln>
              <a:noFill/>
            </a:ln>
          </p:spPr>
          <p:txBody>
            <a:bodyPr wrap="none" lIns="0" tIns="0" rIns="0" bIns="0" anchor="t" anchorCtr="0">
              <a:spAutoFit/>
            </a:bodyPr>
            <a:lstStyle/>
            <a:p>
              <a:pPr algn="ctr"/>
              <a:r>
                <a:rPr lang="zh-CN" sz="1010" b="1" dirty="0">
                  <a:solidFill>
                    <a:srgbClr val="4E0D00"/>
                  </a:solidFill>
                  <a:latin typeface="+mn-lt"/>
                  <a:ea typeface="+mn-ea"/>
                  <a:cs typeface="+mn-cs"/>
                </a:rPr>
                <a:t>为什么跑输行业?</a:t>
              </a:r>
            </a:p>
          </p:txBody>
        </p:sp>
        <p:sp>
          <p:nvSpPr>
            <p:cNvPr id="32" name="TextBox 32"/>
            <p:cNvSpPr txBox="1"/>
            <p:nvPr/>
          </p:nvSpPr>
          <p:spPr>
            <a:xfrm>
              <a:off x="4208539" y="2217182"/>
              <a:ext cx="612623"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必须找到根因，</a:t>
              </a:r>
            </a:p>
          </p:txBody>
        </p:sp>
        <p:sp>
          <p:nvSpPr>
            <p:cNvPr id="33" name="TextBox 33"/>
            <p:cNvSpPr txBox="1"/>
            <p:nvPr/>
          </p:nvSpPr>
          <p:spPr>
            <a:xfrm>
              <a:off x="4122382" y="2350532"/>
              <a:ext cx="784936"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才能扭转增长劣势。</a:t>
              </a:r>
            </a:p>
          </p:txBody>
        </p:sp>
        <p:sp>
          <p:nvSpPr>
            <p:cNvPr id="34" name="Rectangle 34"/>
            <p:cNvSpPr/>
            <p:nvPr/>
          </p:nvSpPr>
          <p:spPr>
            <a:xfrm>
              <a:off x="5410200" y="1790700"/>
              <a:ext cx="1638300" cy="704850"/>
            </a:xfrm>
            <a:prstGeom prst="rect">
              <a:avLst/>
            </a:prstGeom>
            <a:solidFill>
              <a:srgbClr val="FFFFFF"/>
            </a:solidFill>
            <a:ln w="9525">
              <a:solidFill>
                <a:srgbClr val="C7D2E4"/>
              </a:solidFill>
            </a:ln>
          </p:spPr>
        </p:sp>
        <p:sp>
          <p:nvSpPr>
            <p:cNvPr id="35" name="TextBox 35"/>
            <p:cNvSpPr txBox="1"/>
            <p:nvPr/>
          </p:nvSpPr>
          <p:spPr>
            <a:xfrm>
              <a:off x="5718416" y="1975247"/>
              <a:ext cx="1021867" cy="183356"/>
            </a:xfrm>
            <a:prstGeom prst="rect">
              <a:avLst/>
            </a:prstGeom>
            <a:noFill/>
            <a:ln>
              <a:noFill/>
            </a:ln>
          </p:spPr>
          <p:txBody>
            <a:bodyPr wrap="none" lIns="0" tIns="0" rIns="0" bIns="0" anchor="t" anchorCtr="0">
              <a:spAutoFit/>
            </a:bodyPr>
            <a:lstStyle/>
            <a:p>
              <a:pPr algn="ctr"/>
              <a:r>
                <a:rPr lang="zh-CN" sz="940" b="1" dirty="0">
                  <a:solidFill>
                    <a:srgbClr val="4E0D00"/>
                  </a:solidFill>
                  <a:latin typeface="+mn-lt"/>
                  <a:ea typeface="+mn-ea"/>
                  <a:cs typeface="+mn-cs"/>
                </a:rPr>
                <a:t>核心客户结构老化</a:t>
              </a:r>
            </a:p>
          </p:txBody>
        </p:sp>
        <p:sp>
          <p:nvSpPr>
            <p:cNvPr id="36" name="TextBox 36"/>
            <p:cNvSpPr txBox="1"/>
            <p:nvPr/>
          </p:nvSpPr>
          <p:spPr>
            <a:xfrm>
              <a:off x="5750725" y="2217182"/>
              <a:ext cx="95725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客户老化导致需求衰减、</a:t>
              </a:r>
            </a:p>
          </p:txBody>
        </p:sp>
        <p:sp>
          <p:nvSpPr>
            <p:cNvPr id="37" name="TextBox 37"/>
            <p:cNvSpPr txBox="1"/>
            <p:nvPr/>
          </p:nvSpPr>
          <p:spPr>
            <a:xfrm>
              <a:off x="5793804" y="2350532"/>
              <a:ext cx="871093"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复购下降与增长乏力。</a:t>
              </a:r>
            </a:p>
          </p:txBody>
        </p:sp>
      </p:grpSp>
      <p:grpSp>
        <p:nvGrpSpPr>
          <p:cNvPr id="83" name="purpose-table"/>
          <p:cNvGrpSpPr/>
          <p:nvPr/>
        </p:nvGrpSpPr>
        <p:grpSpPr>
          <a:xfrm>
            <a:off x="7429500" y="800100"/>
            <a:ext cx="4533900" cy="2800350"/>
            <a:chOff x="7429500" y="800100"/>
            <a:chExt cx="4533900" cy="2800350"/>
          </a:xfrm>
        </p:grpSpPr>
        <p:sp>
          <p:nvSpPr>
            <p:cNvPr id="39" name="Rectangle 39"/>
            <p:cNvSpPr/>
            <p:nvPr/>
          </p:nvSpPr>
          <p:spPr>
            <a:xfrm>
              <a:off x="7429500" y="800100"/>
              <a:ext cx="4533900" cy="247650"/>
            </a:xfrm>
            <a:prstGeom prst="rect">
              <a:avLst/>
            </a:prstGeom>
            <a:solidFill>
              <a:srgbClr val="4E0D00"/>
            </a:solidFill>
            <a:ln>
              <a:noFill/>
            </a:ln>
          </p:spPr>
        </p:sp>
        <p:sp>
          <p:nvSpPr>
            <p:cNvPr id="40" name="TextBox 40"/>
            <p:cNvSpPr txBox="1"/>
            <p:nvPr/>
          </p:nvSpPr>
          <p:spPr>
            <a:xfrm>
              <a:off x="9122245" y="870347"/>
              <a:ext cx="1148410"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沟通目的与典型证据</a:t>
              </a:r>
            </a:p>
          </p:txBody>
        </p:sp>
        <p:sp>
          <p:nvSpPr>
            <p:cNvPr id="41" name="Rectangle 41"/>
            <p:cNvSpPr/>
            <p:nvPr/>
          </p:nvSpPr>
          <p:spPr>
            <a:xfrm>
              <a:off x="7429500" y="1047750"/>
              <a:ext cx="4533900" cy="190500"/>
            </a:xfrm>
            <a:prstGeom prst="rect">
              <a:avLst/>
            </a:prstGeom>
            <a:solidFill>
              <a:srgbClr val="EFF3FA"/>
            </a:solidFill>
            <a:ln>
              <a:noFill/>
            </a:ln>
          </p:spPr>
        </p:sp>
        <p:sp>
          <p:nvSpPr>
            <p:cNvPr id="42" name="TextBox 42"/>
            <p:cNvSpPr txBox="1"/>
            <p:nvPr/>
          </p:nvSpPr>
          <p:spPr>
            <a:xfrm>
              <a:off x="7605382" y="11041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阶段</a:t>
              </a:r>
            </a:p>
          </p:txBody>
        </p:sp>
        <p:sp>
          <p:nvSpPr>
            <p:cNvPr id="43" name="TextBox 43"/>
            <p:cNvSpPr txBox="1"/>
            <p:nvPr/>
          </p:nvSpPr>
          <p:spPr>
            <a:xfrm>
              <a:off x="8748052" y="1104186"/>
              <a:ext cx="391846"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沟通目的</a:t>
              </a:r>
            </a:p>
          </p:txBody>
        </p:sp>
        <p:sp>
          <p:nvSpPr>
            <p:cNvPr id="44" name="TextBox 44"/>
            <p:cNvSpPr txBox="1"/>
            <p:nvPr/>
          </p:nvSpPr>
          <p:spPr>
            <a:xfrm>
              <a:off x="10547617" y="1104186"/>
              <a:ext cx="774167"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典型证据（示例）</a:t>
              </a:r>
            </a:p>
          </p:txBody>
        </p:sp>
        <p:grpSp>
          <p:nvGrpSpPr>
            <p:cNvPr id="52" name="Group 52"/>
            <p:cNvGrpSpPr/>
            <p:nvPr/>
          </p:nvGrpSpPr>
          <p:grpSpPr>
            <a:xfrm>
              <a:off x="7429500" y="1047750"/>
              <a:ext cx="4533900" cy="2552700"/>
              <a:chOff x="7429500" y="1047750"/>
              <a:chExt cx="4533900" cy="2552700"/>
            </a:xfrm>
          </p:grpSpPr>
          <p:sp>
            <p:nvSpPr>
              <p:cNvPr id="45" name="Line 45"/>
              <p:cNvSpPr/>
              <p:nvPr/>
            </p:nvSpPr>
            <p:spPr>
              <a:xfrm>
                <a:off x="7981950" y="1047750"/>
                <a:ext cx="9525" cy="2552700"/>
              </a:xfrm>
              <a:custGeom>
                <a:avLst/>
                <a:gdLst/>
                <a:ahLst/>
                <a:cxnLst/>
                <a:rect l="l" t="t" r="r" b="b"/>
                <a:pathLst>
                  <a:path w="9525" h="2552700">
                    <a:moveTo>
                      <a:pt x="0" y="0"/>
                    </a:moveTo>
                    <a:lnTo>
                      <a:pt x="0" y="2552700"/>
                    </a:lnTo>
                  </a:path>
                </a:pathLst>
              </a:custGeom>
              <a:noFill/>
              <a:ln w="7620">
                <a:solidFill>
                  <a:srgbClr val="D8E1EE"/>
                </a:solidFill>
              </a:ln>
            </p:spPr>
          </p:sp>
          <p:sp>
            <p:nvSpPr>
              <p:cNvPr id="46" name="Line 46"/>
              <p:cNvSpPr/>
              <p:nvPr/>
            </p:nvSpPr>
            <p:spPr>
              <a:xfrm>
                <a:off x="9906000" y="1047750"/>
                <a:ext cx="9525" cy="2552700"/>
              </a:xfrm>
              <a:custGeom>
                <a:avLst/>
                <a:gdLst/>
                <a:ahLst/>
                <a:cxnLst/>
                <a:rect l="l" t="t" r="r" b="b"/>
                <a:pathLst>
                  <a:path w="9525" h="2552700">
                    <a:moveTo>
                      <a:pt x="0" y="0"/>
                    </a:moveTo>
                    <a:lnTo>
                      <a:pt x="0" y="2552700"/>
                    </a:lnTo>
                  </a:path>
                </a:pathLst>
              </a:custGeom>
              <a:noFill/>
              <a:ln w="7620">
                <a:solidFill>
                  <a:srgbClr val="D8E1EE"/>
                </a:solidFill>
              </a:ln>
            </p:spPr>
          </p:sp>
          <p:sp>
            <p:nvSpPr>
              <p:cNvPr id="47" name="Line 47"/>
              <p:cNvSpPr/>
              <p:nvPr/>
            </p:nvSpPr>
            <p:spPr>
              <a:xfrm>
                <a:off x="7429500" y="1628775"/>
                <a:ext cx="4533900" cy="9525"/>
              </a:xfrm>
              <a:custGeom>
                <a:avLst/>
                <a:gdLst/>
                <a:ahLst/>
                <a:cxnLst/>
                <a:rect l="l" t="t" r="r" b="b"/>
                <a:pathLst>
                  <a:path w="4533900" h="9525">
                    <a:moveTo>
                      <a:pt x="0" y="0"/>
                    </a:moveTo>
                    <a:lnTo>
                      <a:pt x="4533900" y="0"/>
                    </a:lnTo>
                  </a:path>
                </a:pathLst>
              </a:custGeom>
              <a:noFill/>
              <a:ln w="7620">
                <a:solidFill>
                  <a:srgbClr val="D8E1EE"/>
                </a:solidFill>
              </a:ln>
            </p:spPr>
          </p:sp>
          <p:sp>
            <p:nvSpPr>
              <p:cNvPr id="48" name="Line 48"/>
              <p:cNvSpPr/>
              <p:nvPr/>
            </p:nvSpPr>
            <p:spPr>
              <a:xfrm>
                <a:off x="7429500" y="2028825"/>
                <a:ext cx="4533900" cy="9525"/>
              </a:xfrm>
              <a:custGeom>
                <a:avLst/>
                <a:gdLst/>
                <a:ahLst/>
                <a:cxnLst/>
                <a:rect l="l" t="t" r="r" b="b"/>
                <a:pathLst>
                  <a:path w="4533900" h="9525">
                    <a:moveTo>
                      <a:pt x="0" y="0"/>
                    </a:moveTo>
                    <a:lnTo>
                      <a:pt x="4533900" y="0"/>
                    </a:lnTo>
                  </a:path>
                </a:pathLst>
              </a:custGeom>
              <a:noFill/>
              <a:ln w="7620">
                <a:solidFill>
                  <a:srgbClr val="D8E1EE"/>
                </a:solidFill>
              </a:ln>
            </p:spPr>
          </p:sp>
          <p:sp>
            <p:nvSpPr>
              <p:cNvPr id="49" name="Line 49"/>
              <p:cNvSpPr/>
              <p:nvPr/>
            </p:nvSpPr>
            <p:spPr>
              <a:xfrm>
                <a:off x="7429500" y="2419350"/>
                <a:ext cx="4533900" cy="9525"/>
              </a:xfrm>
              <a:custGeom>
                <a:avLst/>
                <a:gdLst/>
                <a:ahLst/>
                <a:cxnLst/>
                <a:rect l="l" t="t" r="r" b="b"/>
                <a:pathLst>
                  <a:path w="4533900" h="9525">
                    <a:moveTo>
                      <a:pt x="0" y="0"/>
                    </a:moveTo>
                    <a:lnTo>
                      <a:pt x="4533900" y="0"/>
                    </a:lnTo>
                  </a:path>
                </a:pathLst>
              </a:custGeom>
              <a:noFill/>
              <a:ln w="7620">
                <a:solidFill>
                  <a:srgbClr val="D8E1EE"/>
                </a:solidFill>
              </a:ln>
            </p:spPr>
          </p:sp>
          <p:sp>
            <p:nvSpPr>
              <p:cNvPr id="50" name="Line 50"/>
              <p:cNvSpPr/>
              <p:nvPr/>
            </p:nvSpPr>
            <p:spPr>
              <a:xfrm>
                <a:off x="7429500" y="2809875"/>
                <a:ext cx="4533900" cy="9525"/>
              </a:xfrm>
              <a:custGeom>
                <a:avLst/>
                <a:gdLst/>
                <a:ahLst/>
                <a:cxnLst/>
                <a:rect l="l" t="t" r="r" b="b"/>
                <a:pathLst>
                  <a:path w="4533900" h="9525">
                    <a:moveTo>
                      <a:pt x="0" y="0"/>
                    </a:moveTo>
                    <a:lnTo>
                      <a:pt x="4533900" y="0"/>
                    </a:lnTo>
                  </a:path>
                </a:pathLst>
              </a:custGeom>
              <a:noFill/>
              <a:ln w="7620">
                <a:solidFill>
                  <a:srgbClr val="D8E1EE"/>
                </a:solidFill>
              </a:ln>
            </p:spPr>
          </p:sp>
          <p:sp>
            <p:nvSpPr>
              <p:cNvPr id="51" name="Line 51"/>
              <p:cNvSpPr/>
              <p:nvPr/>
            </p:nvSpPr>
            <p:spPr>
              <a:xfrm>
                <a:off x="7429500" y="3209925"/>
                <a:ext cx="4533900" cy="9525"/>
              </a:xfrm>
              <a:custGeom>
                <a:avLst/>
                <a:gdLst/>
                <a:ahLst/>
                <a:cxnLst/>
                <a:rect l="l" t="t" r="r" b="b"/>
                <a:pathLst>
                  <a:path w="4533900" h="9525">
                    <a:moveTo>
                      <a:pt x="0" y="0"/>
                    </a:moveTo>
                    <a:lnTo>
                      <a:pt x="4533900" y="0"/>
                    </a:lnTo>
                  </a:path>
                </a:pathLst>
              </a:custGeom>
              <a:noFill/>
              <a:ln w="7620">
                <a:solidFill>
                  <a:srgbClr val="D8E1EE"/>
                </a:solidFill>
              </a:ln>
            </p:spPr>
          </p:sp>
        </p:grpSp>
        <p:sp>
          <p:nvSpPr>
            <p:cNvPr id="53" name="TextBox 53"/>
            <p:cNvSpPr txBox="1"/>
            <p:nvPr/>
          </p:nvSpPr>
          <p:spPr>
            <a:xfrm>
              <a:off x="7599998" y="1385888"/>
              <a:ext cx="21145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背景</a:t>
              </a:r>
            </a:p>
          </p:txBody>
        </p:sp>
        <p:sp>
          <p:nvSpPr>
            <p:cNvPr id="54" name="TextBox 54"/>
            <p:cNvSpPr txBox="1"/>
            <p:nvPr/>
          </p:nvSpPr>
          <p:spPr>
            <a:xfrm>
              <a:off x="8091488" y="13354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建立事实基础</a:t>
              </a:r>
            </a:p>
          </p:txBody>
        </p:sp>
        <p:sp>
          <p:nvSpPr>
            <p:cNvPr id="55" name="TextBox 55"/>
            <p:cNvSpPr txBox="1"/>
            <p:nvPr/>
          </p:nvSpPr>
          <p:spPr>
            <a:xfrm>
              <a:off x="8091488" y="1468755"/>
              <a:ext cx="413385"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与讨论边界</a:t>
              </a:r>
            </a:p>
          </p:txBody>
        </p:sp>
        <p:sp>
          <p:nvSpPr>
            <p:cNvPr id="56" name="TextBox 56"/>
            <p:cNvSpPr txBox="1"/>
            <p:nvPr/>
          </p:nvSpPr>
          <p:spPr>
            <a:xfrm>
              <a:off x="10015538" y="1339453"/>
              <a:ext cx="989559"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市场规模与增速、行业结构、</a:t>
              </a:r>
            </a:p>
          </p:txBody>
        </p:sp>
        <p:sp>
          <p:nvSpPr>
            <p:cNvPr id="57" name="TextBox 57"/>
            <p:cNvSpPr txBox="1"/>
            <p:nvPr/>
          </p:nvSpPr>
          <p:spPr>
            <a:xfrm>
              <a:off x="10015538" y="1472803"/>
              <a:ext cx="838784"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公司业务构成、时间范围</a:t>
              </a:r>
            </a:p>
          </p:txBody>
        </p:sp>
        <p:sp>
          <p:nvSpPr>
            <p:cNvPr id="58" name="TextBox 58"/>
            <p:cNvSpPr txBox="1"/>
            <p:nvPr/>
          </p:nvSpPr>
          <p:spPr>
            <a:xfrm>
              <a:off x="7599998" y="1785938"/>
              <a:ext cx="21145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冲突</a:t>
              </a:r>
            </a:p>
          </p:txBody>
        </p:sp>
        <p:sp>
          <p:nvSpPr>
            <p:cNvPr id="59" name="TextBox 59"/>
            <p:cNvSpPr txBox="1"/>
            <p:nvPr/>
          </p:nvSpPr>
          <p:spPr>
            <a:xfrm>
              <a:off x="8091488" y="1735455"/>
              <a:ext cx="413385"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凸显差距与</a:t>
              </a:r>
            </a:p>
          </p:txBody>
        </p:sp>
        <p:sp>
          <p:nvSpPr>
            <p:cNvPr id="60" name="TextBox 60"/>
            <p:cNvSpPr txBox="1"/>
            <p:nvPr/>
          </p:nvSpPr>
          <p:spPr>
            <a:xfrm>
              <a:off x="8091488" y="1868805"/>
              <a:ext cx="413385"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问题严重性</a:t>
              </a:r>
            </a:p>
          </p:txBody>
        </p:sp>
        <p:sp>
          <p:nvSpPr>
            <p:cNvPr id="61" name="TextBox 61"/>
            <p:cNvSpPr txBox="1"/>
            <p:nvPr/>
          </p:nvSpPr>
          <p:spPr>
            <a:xfrm>
              <a:off x="10015538" y="1739503"/>
              <a:ext cx="76339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增速对比、份额变化、</a:t>
              </a:r>
            </a:p>
          </p:txBody>
        </p:sp>
        <p:sp>
          <p:nvSpPr>
            <p:cNvPr id="62" name="TextBox 62"/>
            <p:cNvSpPr txBox="1"/>
            <p:nvPr/>
          </p:nvSpPr>
          <p:spPr>
            <a:xfrm>
              <a:off x="10015538" y="1872853"/>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利润差距、趋势拐点</a:t>
              </a:r>
            </a:p>
          </p:txBody>
        </p:sp>
        <p:sp>
          <p:nvSpPr>
            <p:cNvPr id="63" name="TextBox 63"/>
            <p:cNvSpPr txBox="1"/>
            <p:nvPr/>
          </p:nvSpPr>
          <p:spPr>
            <a:xfrm>
              <a:off x="7599998" y="2176462"/>
              <a:ext cx="21145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问题</a:t>
              </a:r>
            </a:p>
          </p:txBody>
        </p:sp>
        <p:sp>
          <p:nvSpPr>
            <p:cNvPr id="64" name="TextBox 64"/>
            <p:cNvSpPr txBox="1"/>
            <p:nvPr/>
          </p:nvSpPr>
          <p:spPr>
            <a:xfrm>
              <a:off x="8091488" y="2125980"/>
              <a:ext cx="574929"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聚焦关键疑问，</a:t>
              </a:r>
            </a:p>
          </p:txBody>
        </p:sp>
        <p:sp>
          <p:nvSpPr>
            <p:cNvPr id="65" name="TextBox 65"/>
            <p:cNvSpPr txBox="1"/>
            <p:nvPr/>
          </p:nvSpPr>
          <p:spPr>
            <a:xfrm>
              <a:off x="8091488" y="2259330"/>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对齐讨论焦点</a:t>
              </a:r>
            </a:p>
          </p:txBody>
        </p:sp>
        <p:sp>
          <p:nvSpPr>
            <p:cNvPr id="66" name="TextBox 66"/>
            <p:cNvSpPr txBox="1"/>
            <p:nvPr/>
          </p:nvSpPr>
          <p:spPr>
            <a:xfrm>
              <a:off x="10015538" y="2130028"/>
              <a:ext cx="76339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问题陈述、假设清单、</a:t>
              </a:r>
            </a:p>
          </p:txBody>
        </p:sp>
        <p:sp>
          <p:nvSpPr>
            <p:cNvPr id="67" name="TextBox 67"/>
            <p:cNvSpPr txBox="1"/>
            <p:nvPr/>
          </p:nvSpPr>
          <p:spPr>
            <a:xfrm>
              <a:off x="10015538" y="2263378"/>
              <a:ext cx="46184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影响范围界定</a:t>
              </a:r>
            </a:p>
          </p:txBody>
        </p:sp>
        <p:sp>
          <p:nvSpPr>
            <p:cNvPr id="68" name="TextBox 68"/>
            <p:cNvSpPr txBox="1"/>
            <p:nvPr/>
          </p:nvSpPr>
          <p:spPr>
            <a:xfrm>
              <a:off x="7599998" y="2566988"/>
              <a:ext cx="21145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洞察</a:t>
              </a:r>
            </a:p>
          </p:txBody>
        </p:sp>
        <p:sp>
          <p:nvSpPr>
            <p:cNvPr id="69" name="TextBox 69"/>
            <p:cNvSpPr txBox="1"/>
            <p:nvPr/>
          </p:nvSpPr>
          <p:spPr>
            <a:xfrm>
              <a:off x="8091488" y="2516505"/>
              <a:ext cx="65570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解释现象与差距，</a:t>
              </a:r>
            </a:p>
          </p:txBody>
        </p:sp>
        <p:sp>
          <p:nvSpPr>
            <p:cNvPr id="70" name="TextBox 70"/>
            <p:cNvSpPr txBox="1"/>
            <p:nvPr/>
          </p:nvSpPr>
          <p:spPr>
            <a:xfrm>
              <a:off x="8091488" y="2649855"/>
              <a:ext cx="413385"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建立因果链</a:t>
              </a:r>
            </a:p>
          </p:txBody>
        </p:sp>
        <p:sp>
          <p:nvSpPr>
            <p:cNvPr id="71" name="TextBox 71"/>
            <p:cNvSpPr txBox="1"/>
            <p:nvPr/>
          </p:nvSpPr>
          <p:spPr>
            <a:xfrm>
              <a:off x="10015538" y="2520553"/>
              <a:ext cx="91417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客户结构分析、流失原因、</a:t>
              </a:r>
            </a:p>
          </p:txBody>
        </p:sp>
        <p:sp>
          <p:nvSpPr>
            <p:cNvPr id="72" name="TextBox 72"/>
            <p:cNvSpPr txBox="1"/>
            <p:nvPr/>
          </p:nvSpPr>
          <p:spPr>
            <a:xfrm>
              <a:off x="10015538" y="2653903"/>
              <a:ext cx="80486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相关性/回归分析、案例</a:t>
              </a:r>
            </a:p>
          </p:txBody>
        </p:sp>
        <p:sp>
          <p:nvSpPr>
            <p:cNvPr id="73" name="TextBox 73"/>
            <p:cNvSpPr txBox="1"/>
            <p:nvPr/>
          </p:nvSpPr>
          <p:spPr>
            <a:xfrm>
              <a:off x="7599998" y="2967038"/>
              <a:ext cx="21145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方案</a:t>
              </a:r>
            </a:p>
          </p:txBody>
        </p:sp>
        <p:sp>
          <p:nvSpPr>
            <p:cNvPr id="74" name="TextBox 74"/>
            <p:cNvSpPr txBox="1"/>
            <p:nvPr/>
          </p:nvSpPr>
          <p:spPr>
            <a:xfrm>
              <a:off x="8091488" y="2916555"/>
              <a:ext cx="574929"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提供执行路径，</a:t>
              </a:r>
            </a:p>
          </p:txBody>
        </p:sp>
        <p:sp>
          <p:nvSpPr>
            <p:cNvPr id="75" name="TextBox 75"/>
            <p:cNvSpPr txBox="1"/>
            <p:nvPr/>
          </p:nvSpPr>
          <p:spPr>
            <a:xfrm>
              <a:off x="8091488" y="30499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形成行动共识</a:t>
              </a:r>
            </a:p>
          </p:txBody>
        </p:sp>
        <p:sp>
          <p:nvSpPr>
            <p:cNvPr id="76" name="TextBox 76"/>
            <p:cNvSpPr txBox="1"/>
            <p:nvPr/>
          </p:nvSpPr>
          <p:spPr>
            <a:xfrm>
              <a:off x="10015538" y="2920603"/>
              <a:ext cx="76339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能力评估、标杆实践、</a:t>
              </a:r>
            </a:p>
          </p:txBody>
        </p:sp>
        <p:sp>
          <p:nvSpPr>
            <p:cNvPr id="77" name="TextBox 77"/>
            <p:cNvSpPr txBox="1"/>
            <p:nvPr/>
          </p:nvSpPr>
          <p:spPr>
            <a:xfrm>
              <a:off x="10015538" y="3053953"/>
              <a:ext cx="76339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实施路线图与资源需求</a:t>
              </a:r>
            </a:p>
          </p:txBody>
        </p:sp>
        <p:sp>
          <p:nvSpPr>
            <p:cNvPr id="78" name="TextBox 78"/>
            <p:cNvSpPr txBox="1"/>
            <p:nvPr/>
          </p:nvSpPr>
          <p:spPr>
            <a:xfrm>
              <a:off x="7599998" y="3357562"/>
              <a:ext cx="21145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价值</a:t>
              </a:r>
            </a:p>
          </p:txBody>
        </p:sp>
        <p:sp>
          <p:nvSpPr>
            <p:cNvPr id="79" name="TextBox 79"/>
            <p:cNvSpPr txBox="1"/>
            <p:nvPr/>
          </p:nvSpPr>
          <p:spPr>
            <a:xfrm>
              <a:off x="8091488" y="3307080"/>
              <a:ext cx="574929"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量化预期结果，</a:t>
              </a:r>
            </a:p>
          </p:txBody>
        </p:sp>
        <p:sp>
          <p:nvSpPr>
            <p:cNvPr id="80" name="TextBox 80"/>
            <p:cNvSpPr txBox="1"/>
            <p:nvPr/>
          </p:nvSpPr>
          <p:spPr>
            <a:xfrm>
              <a:off x="8091488" y="3440430"/>
              <a:ext cx="332613"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支撑决策</a:t>
              </a:r>
            </a:p>
          </p:txBody>
        </p:sp>
        <p:sp>
          <p:nvSpPr>
            <p:cNvPr id="81" name="TextBox 81"/>
            <p:cNvSpPr txBox="1"/>
            <p:nvPr/>
          </p:nvSpPr>
          <p:spPr>
            <a:xfrm>
              <a:off x="10015538" y="3311128"/>
              <a:ext cx="76339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财务模型、情景对比、</a:t>
              </a:r>
            </a:p>
          </p:txBody>
        </p:sp>
        <p:sp>
          <p:nvSpPr>
            <p:cNvPr id="82" name="TextBox 82"/>
            <p:cNvSpPr txBox="1"/>
            <p:nvPr/>
          </p:nvSpPr>
          <p:spPr>
            <a:xfrm>
              <a:off x="10015538" y="3444478"/>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风险与敏感性分析</a:t>
              </a:r>
            </a:p>
          </p:txBody>
        </p:sp>
      </p:grpSp>
      <p:grpSp>
        <p:nvGrpSpPr>
          <p:cNvPr id="85" name="narrative-title"/>
          <p:cNvGrpSpPr/>
          <p:nvPr/>
        </p:nvGrpSpPr>
        <p:grpSpPr>
          <a:xfrm>
            <a:off x="2428621" y="2714149"/>
            <a:ext cx="2648458" cy="190690"/>
            <a:chOff x="2428621" y="2714149"/>
            <a:chExt cx="2648458" cy="190690"/>
          </a:xfrm>
        </p:grpSpPr>
        <p:sp>
          <p:nvSpPr>
            <p:cNvPr id="84" name="TextBox 84"/>
            <p:cNvSpPr txBox="1"/>
            <p:nvPr/>
          </p:nvSpPr>
          <p:spPr>
            <a:xfrm>
              <a:off x="2428621" y="2714149"/>
              <a:ext cx="2648458" cy="190690"/>
            </a:xfrm>
            <a:prstGeom prst="rect">
              <a:avLst/>
            </a:prstGeom>
            <a:noFill/>
            <a:ln>
              <a:noFill/>
            </a:ln>
          </p:spPr>
          <p:txBody>
            <a:bodyPr wrap="none" lIns="0" tIns="0" rIns="0" bIns="0" anchor="t" anchorCtr="0">
              <a:spAutoFit/>
            </a:bodyPr>
            <a:lstStyle/>
            <a:p>
              <a:pPr algn="ctr"/>
              <a:r>
                <a:rPr lang="zh-CN" sz="980" b="1" dirty="0">
                  <a:solidFill>
                    <a:srgbClr val="4E0D00"/>
                  </a:solidFill>
                  <a:latin typeface="+mn-lt"/>
                  <a:ea typeface="+mn-ea"/>
                  <a:cs typeface="+mn-cs"/>
                </a:rPr>
                <a:t>六阶段沟通叙事链：从信息到行动的完整闭环</a:t>
              </a:r>
            </a:p>
          </p:txBody>
        </p:sp>
      </p:grpSp>
      <p:grpSp>
        <p:nvGrpSpPr>
          <p:cNvPr id="179" name="narrative-table"/>
          <p:cNvGrpSpPr/>
          <p:nvPr/>
        </p:nvGrpSpPr>
        <p:grpSpPr>
          <a:xfrm>
            <a:off x="228600" y="2914650"/>
            <a:ext cx="7029450" cy="3695700"/>
            <a:chOff x="228600" y="2914650"/>
            <a:chExt cx="7029450" cy="3695700"/>
          </a:xfrm>
        </p:grpSpPr>
        <p:sp>
          <p:nvSpPr>
            <p:cNvPr id="86" name="Rectangle 86"/>
            <p:cNvSpPr/>
            <p:nvPr/>
          </p:nvSpPr>
          <p:spPr>
            <a:xfrm>
              <a:off x="228600" y="2914650"/>
              <a:ext cx="7029450" cy="3695700"/>
            </a:xfrm>
            <a:prstGeom prst="rect">
              <a:avLst/>
            </a:prstGeom>
            <a:solidFill>
              <a:srgbClr val="FFFFFF"/>
            </a:solidFill>
            <a:ln w="9525">
              <a:solidFill>
                <a:srgbClr val="D8E1EE"/>
              </a:solidFill>
            </a:ln>
          </p:spPr>
        </p:sp>
        <p:grpSp>
          <p:nvGrpSpPr>
            <p:cNvPr id="96" name="Group 96"/>
            <p:cNvGrpSpPr/>
            <p:nvPr/>
          </p:nvGrpSpPr>
          <p:grpSpPr>
            <a:xfrm>
              <a:off x="228600" y="2914650"/>
              <a:ext cx="7029450" cy="3695700"/>
              <a:chOff x="228600" y="2914650"/>
              <a:chExt cx="7029450" cy="3695700"/>
            </a:xfrm>
          </p:grpSpPr>
          <p:sp>
            <p:nvSpPr>
              <p:cNvPr id="87" name="Line 87"/>
              <p:cNvSpPr/>
              <p:nvPr/>
            </p:nvSpPr>
            <p:spPr>
              <a:xfrm>
                <a:off x="742950" y="2914650"/>
                <a:ext cx="9525" cy="3695700"/>
              </a:xfrm>
              <a:custGeom>
                <a:avLst/>
                <a:gdLst/>
                <a:ahLst/>
                <a:cxnLst/>
                <a:rect l="l" t="t" r="r" b="b"/>
                <a:pathLst>
                  <a:path w="9525" h="3695700">
                    <a:moveTo>
                      <a:pt x="0" y="0"/>
                    </a:moveTo>
                    <a:lnTo>
                      <a:pt x="0" y="3695700"/>
                    </a:lnTo>
                  </a:path>
                </a:pathLst>
              </a:custGeom>
              <a:noFill/>
              <a:ln w="7620">
                <a:solidFill>
                  <a:srgbClr val="D8E1EE"/>
                </a:solidFill>
              </a:ln>
            </p:spPr>
          </p:sp>
          <p:sp>
            <p:nvSpPr>
              <p:cNvPr id="88" name="Line 88"/>
              <p:cNvSpPr/>
              <p:nvPr/>
            </p:nvSpPr>
            <p:spPr>
              <a:xfrm>
                <a:off x="1828800" y="2914650"/>
                <a:ext cx="9525" cy="3695700"/>
              </a:xfrm>
              <a:custGeom>
                <a:avLst/>
                <a:gdLst/>
                <a:ahLst/>
                <a:cxnLst/>
                <a:rect l="l" t="t" r="r" b="b"/>
                <a:pathLst>
                  <a:path w="9525" h="3695700">
                    <a:moveTo>
                      <a:pt x="0" y="0"/>
                    </a:moveTo>
                    <a:lnTo>
                      <a:pt x="0" y="3695700"/>
                    </a:lnTo>
                  </a:path>
                </a:pathLst>
              </a:custGeom>
              <a:noFill/>
              <a:ln w="7620">
                <a:solidFill>
                  <a:srgbClr val="D8E1EE"/>
                </a:solidFill>
              </a:ln>
            </p:spPr>
          </p:sp>
          <p:sp>
            <p:nvSpPr>
              <p:cNvPr id="89" name="Line 89"/>
              <p:cNvSpPr/>
              <p:nvPr/>
            </p:nvSpPr>
            <p:spPr>
              <a:xfrm>
                <a:off x="2914650" y="2914650"/>
                <a:ext cx="9525" cy="3695700"/>
              </a:xfrm>
              <a:custGeom>
                <a:avLst/>
                <a:gdLst/>
                <a:ahLst/>
                <a:cxnLst/>
                <a:rect l="l" t="t" r="r" b="b"/>
                <a:pathLst>
                  <a:path w="9525" h="3695700">
                    <a:moveTo>
                      <a:pt x="0" y="0"/>
                    </a:moveTo>
                    <a:lnTo>
                      <a:pt x="0" y="3695700"/>
                    </a:lnTo>
                  </a:path>
                </a:pathLst>
              </a:custGeom>
              <a:noFill/>
              <a:ln w="7620">
                <a:solidFill>
                  <a:srgbClr val="D8E1EE"/>
                </a:solidFill>
              </a:ln>
            </p:spPr>
          </p:sp>
          <p:sp>
            <p:nvSpPr>
              <p:cNvPr id="90" name="Line 90"/>
              <p:cNvSpPr/>
              <p:nvPr/>
            </p:nvSpPr>
            <p:spPr>
              <a:xfrm>
                <a:off x="4000500" y="2914650"/>
                <a:ext cx="9525" cy="3695700"/>
              </a:xfrm>
              <a:custGeom>
                <a:avLst/>
                <a:gdLst/>
                <a:ahLst/>
                <a:cxnLst/>
                <a:rect l="l" t="t" r="r" b="b"/>
                <a:pathLst>
                  <a:path w="9525" h="3695700">
                    <a:moveTo>
                      <a:pt x="0" y="0"/>
                    </a:moveTo>
                    <a:lnTo>
                      <a:pt x="0" y="3695700"/>
                    </a:lnTo>
                  </a:path>
                </a:pathLst>
              </a:custGeom>
              <a:noFill/>
              <a:ln w="7620">
                <a:solidFill>
                  <a:srgbClr val="D8E1EE"/>
                </a:solidFill>
              </a:ln>
            </p:spPr>
          </p:sp>
          <p:sp>
            <p:nvSpPr>
              <p:cNvPr id="91" name="Line 91"/>
              <p:cNvSpPr/>
              <p:nvPr/>
            </p:nvSpPr>
            <p:spPr>
              <a:xfrm>
                <a:off x="5086350" y="2914650"/>
                <a:ext cx="9525" cy="3695700"/>
              </a:xfrm>
              <a:custGeom>
                <a:avLst/>
                <a:gdLst/>
                <a:ahLst/>
                <a:cxnLst/>
                <a:rect l="l" t="t" r="r" b="b"/>
                <a:pathLst>
                  <a:path w="9525" h="3695700">
                    <a:moveTo>
                      <a:pt x="0" y="0"/>
                    </a:moveTo>
                    <a:lnTo>
                      <a:pt x="0" y="3695700"/>
                    </a:lnTo>
                  </a:path>
                </a:pathLst>
              </a:custGeom>
              <a:noFill/>
              <a:ln w="7620">
                <a:solidFill>
                  <a:srgbClr val="D8E1EE"/>
                </a:solidFill>
              </a:ln>
            </p:spPr>
          </p:sp>
          <p:sp>
            <p:nvSpPr>
              <p:cNvPr id="92" name="Line 92"/>
              <p:cNvSpPr/>
              <p:nvPr/>
            </p:nvSpPr>
            <p:spPr>
              <a:xfrm>
                <a:off x="6172200" y="2914650"/>
                <a:ext cx="9525" cy="3695700"/>
              </a:xfrm>
              <a:custGeom>
                <a:avLst/>
                <a:gdLst/>
                <a:ahLst/>
                <a:cxnLst/>
                <a:rect l="l" t="t" r="r" b="b"/>
                <a:pathLst>
                  <a:path w="9525" h="3695700">
                    <a:moveTo>
                      <a:pt x="0" y="0"/>
                    </a:moveTo>
                    <a:lnTo>
                      <a:pt x="0" y="3695700"/>
                    </a:lnTo>
                  </a:path>
                </a:pathLst>
              </a:custGeom>
              <a:noFill/>
              <a:ln w="7620">
                <a:solidFill>
                  <a:srgbClr val="D8E1EE"/>
                </a:solidFill>
              </a:ln>
            </p:spPr>
          </p:sp>
          <p:sp>
            <p:nvSpPr>
              <p:cNvPr id="93" name="Line 93"/>
              <p:cNvSpPr/>
              <p:nvPr/>
            </p:nvSpPr>
            <p:spPr>
              <a:xfrm>
                <a:off x="228600" y="3409950"/>
                <a:ext cx="7029450" cy="9525"/>
              </a:xfrm>
              <a:custGeom>
                <a:avLst/>
                <a:gdLst/>
                <a:ahLst/>
                <a:cxnLst/>
                <a:rect l="l" t="t" r="r" b="b"/>
                <a:pathLst>
                  <a:path w="7029450" h="9525">
                    <a:moveTo>
                      <a:pt x="0" y="0"/>
                    </a:moveTo>
                    <a:lnTo>
                      <a:pt x="7029450" y="0"/>
                    </a:lnTo>
                  </a:path>
                </a:pathLst>
              </a:custGeom>
              <a:noFill/>
              <a:ln w="7620">
                <a:solidFill>
                  <a:srgbClr val="D8E1EE"/>
                </a:solidFill>
              </a:ln>
            </p:spPr>
          </p:sp>
          <p:sp>
            <p:nvSpPr>
              <p:cNvPr id="94" name="Line 94"/>
              <p:cNvSpPr/>
              <p:nvPr/>
            </p:nvSpPr>
            <p:spPr>
              <a:xfrm>
                <a:off x="228600" y="4476750"/>
                <a:ext cx="7029450" cy="9525"/>
              </a:xfrm>
              <a:custGeom>
                <a:avLst/>
                <a:gdLst/>
                <a:ahLst/>
                <a:cxnLst/>
                <a:rect l="l" t="t" r="r" b="b"/>
                <a:pathLst>
                  <a:path w="7029450" h="9525">
                    <a:moveTo>
                      <a:pt x="0" y="0"/>
                    </a:moveTo>
                    <a:lnTo>
                      <a:pt x="7029450" y="0"/>
                    </a:lnTo>
                  </a:path>
                </a:pathLst>
              </a:custGeom>
              <a:noFill/>
              <a:ln w="7620">
                <a:solidFill>
                  <a:srgbClr val="D8E1EE"/>
                </a:solidFill>
              </a:ln>
            </p:spPr>
          </p:sp>
          <p:sp>
            <p:nvSpPr>
              <p:cNvPr id="95" name="Line 95"/>
              <p:cNvSpPr/>
              <p:nvPr/>
            </p:nvSpPr>
            <p:spPr>
              <a:xfrm>
                <a:off x="228600" y="5543550"/>
                <a:ext cx="7029450" cy="9525"/>
              </a:xfrm>
              <a:custGeom>
                <a:avLst/>
                <a:gdLst/>
                <a:ahLst/>
                <a:cxnLst/>
                <a:rect l="l" t="t" r="r" b="b"/>
                <a:pathLst>
                  <a:path w="7029450" h="9525">
                    <a:moveTo>
                      <a:pt x="0" y="0"/>
                    </a:moveTo>
                    <a:lnTo>
                      <a:pt x="7029450" y="0"/>
                    </a:lnTo>
                  </a:path>
                </a:pathLst>
              </a:custGeom>
              <a:noFill/>
              <a:ln w="7620">
                <a:solidFill>
                  <a:srgbClr val="D8E1EE"/>
                </a:solidFill>
              </a:ln>
            </p:spPr>
          </p:sp>
        </p:grpSp>
        <p:sp>
          <p:nvSpPr>
            <p:cNvPr id="97" name="Ellipse 97"/>
            <p:cNvSpPr/>
            <p:nvPr/>
          </p:nvSpPr>
          <p:spPr>
            <a:xfrm>
              <a:off x="1000125" y="3009900"/>
              <a:ext cx="152400" cy="152400"/>
            </a:xfrm>
            <a:prstGeom prst="ellipse">
              <a:avLst/>
            </a:prstGeom>
            <a:solidFill>
              <a:srgbClr val="4E0D00"/>
            </a:solidFill>
            <a:ln>
              <a:noFill/>
            </a:ln>
          </p:spPr>
        </p:sp>
        <p:sp>
          <p:nvSpPr>
            <p:cNvPr id="98" name="TextBox 98"/>
            <p:cNvSpPr txBox="1"/>
            <p:nvPr/>
          </p:nvSpPr>
          <p:spPr>
            <a:xfrm>
              <a:off x="1046685" y="30506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a:t>
              </a:r>
            </a:p>
          </p:txBody>
        </p:sp>
        <p:sp>
          <p:nvSpPr>
            <p:cNvPr id="99" name="TextBox 99"/>
            <p:cNvSpPr txBox="1"/>
            <p:nvPr/>
          </p:nvSpPr>
          <p:spPr>
            <a:xfrm>
              <a:off x="1231913" y="3039189"/>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背景</a:t>
              </a:r>
            </a:p>
          </p:txBody>
        </p:sp>
        <p:grpSp>
          <p:nvGrpSpPr>
            <p:cNvPr id="104" name="Group 104"/>
            <p:cNvGrpSpPr/>
            <p:nvPr/>
          </p:nvGrpSpPr>
          <p:grpSpPr>
            <a:xfrm>
              <a:off x="1235869" y="3222625"/>
              <a:ext cx="100012" cy="98425"/>
              <a:chOff x="1235869" y="3222625"/>
              <a:chExt cx="100012" cy="98425"/>
            </a:xfrm>
          </p:grpSpPr>
          <p:sp>
            <p:nvSpPr>
              <p:cNvPr id="100" name="Freeform 100"/>
              <p:cNvSpPr/>
              <p:nvPr/>
            </p:nvSpPr>
            <p:spPr>
              <a:xfrm>
                <a:off x="1235869" y="3267075"/>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944130"/>
                </a:solidFill>
              </a:ln>
            </p:spPr>
          </p:sp>
          <p:sp>
            <p:nvSpPr>
              <p:cNvPr id="101" name="Freeform 101"/>
              <p:cNvSpPr/>
              <p:nvPr/>
            </p:nvSpPr>
            <p:spPr>
              <a:xfrm>
                <a:off x="1302544" y="3244850"/>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944130"/>
                </a:solidFill>
              </a:ln>
            </p:spPr>
          </p:sp>
          <p:sp>
            <p:nvSpPr>
              <p:cNvPr id="102" name="Freeform 102"/>
              <p:cNvSpPr/>
              <p:nvPr/>
            </p:nvSpPr>
            <p:spPr>
              <a:xfrm>
                <a:off x="1269206" y="3222625"/>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944130"/>
                </a:solidFill>
              </a:ln>
            </p:spPr>
          </p:sp>
          <p:sp>
            <p:nvSpPr>
              <p:cNvPr id="103" name="Freeform 103"/>
              <p:cNvSpPr/>
              <p:nvPr/>
            </p:nvSpPr>
            <p:spPr>
              <a:xfrm>
                <a:off x="1241425" y="3311525"/>
                <a:ext cx="77787" cy="9525"/>
              </a:xfrm>
              <a:custGeom>
                <a:avLst/>
                <a:gdLst/>
                <a:ahLst/>
                <a:cxnLst/>
                <a:rect l="l" t="t" r="r" b="b"/>
                <a:pathLst>
                  <a:path w="77787" h="9525">
                    <a:moveTo>
                      <a:pt x="0" y="0"/>
                    </a:moveTo>
                    <a:lnTo>
                      <a:pt x="77787" y="0"/>
                    </a:lnTo>
                  </a:path>
                </a:pathLst>
              </a:custGeom>
              <a:noFill/>
              <a:ln w="11112">
                <a:solidFill>
                  <a:srgbClr val="944130"/>
                </a:solidFill>
              </a:ln>
            </p:spPr>
          </p:sp>
        </p:grpSp>
        <p:sp>
          <p:nvSpPr>
            <p:cNvPr id="105" name="Ellipse 105"/>
            <p:cNvSpPr/>
            <p:nvPr/>
          </p:nvSpPr>
          <p:spPr>
            <a:xfrm>
              <a:off x="2085975" y="3009900"/>
              <a:ext cx="152400" cy="152400"/>
            </a:xfrm>
            <a:prstGeom prst="ellipse">
              <a:avLst/>
            </a:prstGeom>
            <a:solidFill>
              <a:srgbClr val="4E0D00"/>
            </a:solidFill>
            <a:ln>
              <a:noFill/>
            </a:ln>
          </p:spPr>
        </p:sp>
        <p:sp>
          <p:nvSpPr>
            <p:cNvPr id="106" name="TextBox 106"/>
            <p:cNvSpPr txBox="1"/>
            <p:nvPr/>
          </p:nvSpPr>
          <p:spPr>
            <a:xfrm>
              <a:off x="2132535" y="30506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a:t>
              </a:r>
            </a:p>
          </p:txBody>
        </p:sp>
        <p:sp>
          <p:nvSpPr>
            <p:cNvPr id="107" name="TextBox 107"/>
            <p:cNvSpPr txBox="1"/>
            <p:nvPr/>
          </p:nvSpPr>
          <p:spPr>
            <a:xfrm>
              <a:off x="2317763" y="3039189"/>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冲突</a:t>
              </a:r>
            </a:p>
          </p:txBody>
        </p:sp>
        <p:sp>
          <p:nvSpPr>
            <p:cNvPr id="108" name="Freeform 108"/>
            <p:cNvSpPr/>
            <p:nvPr/>
          </p:nvSpPr>
          <p:spPr>
            <a:xfrm>
              <a:off x="2332831" y="3217069"/>
              <a:ext cx="77787" cy="100012"/>
            </a:xfrm>
            <a:custGeom>
              <a:avLst/>
              <a:gdLst/>
              <a:ahLst/>
              <a:cxnLst/>
              <a:rect l="l" t="t" r="r" b="b"/>
              <a:pathLst>
                <a:path w="77787" h="100012">
                  <a:moveTo>
                    <a:pt x="44450" y="0"/>
                  </a:moveTo>
                  <a:lnTo>
                    <a:pt x="44450" y="38894"/>
                  </a:lnTo>
                  <a:lnTo>
                    <a:pt x="77787" y="38894"/>
                  </a:lnTo>
                  <a:lnTo>
                    <a:pt x="33337" y="100012"/>
                  </a:lnTo>
                  <a:lnTo>
                    <a:pt x="33337" y="61119"/>
                  </a:lnTo>
                  <a:lnTo>
                    <a:pt x="0" y="61119"/>
                  </a:lnTo>
                  <a:lnTo>
                    <a:pt x="44450" y="0"/>
                  </a:lnTo>
                </a:path>
              </a:pathLst>
            </a:custGeom>
            <a:noFill/>
            <a:ln w="11112">
              <a:solidFill>
                <a:srgbClr val="944130"/>
              </a:solidFill>
            </a:ln>
          </p:spPr>
        </p:sp>
        <p:sp>
          <p:nvSpPr>
            <p:cNvPr id="109" name="Ellipse 109"/>
            <p:cNvSpPr/>
            <p:nvPr/>
          </p:nvSpPr>
          <p:spPr>
            <a:xfrm>
              <a:off x="3171825" y="3009900"/>
              <a:ext cx="152400" cy="152400"/>
            </a:xfrm>
            <a:prstGeom prst="ellipse">
              <a:avLst/>
            </a:prstGeom>
            <a:solidFill>
              <a:srgbClr val="4E0D00"/>
            </a:solidFill>
            <a:ln>
              <a:noFill/>
            </a:ln>
          </p:spPr>
        </p:sp>
        <p:sp>
          <p:nvSpPr>
            <p:cNvPr id="110" name="TextBox 110"/>
            <p:cNvSpPr txBox="1"/>
            <p:nvPr/>
          </p:nvSpPr>
          <p:spPr>
            <a:xfrm>
              <a:off x="3218385" y="30506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a:t>
              </a:r>
            </a:p>
          </p:txBody>
        </p:sp>
        <p:sp>
          <p:nvSpPr>
            <p:cNvPr id="111" name="TextBox 111"/>
            <p:cNvSpPr txBox="1"/>
            <p:nvPr/>
          </p:nvSpPr>
          <p:spPr>
            <a:xfrm>
              <a:off x="3403613" y="3039189"/>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问题</a:t>
              </a:r>
            </a:p>
          </p:txBody>
        </p:sp>
        <p:grpSp>
          <p:nvGrpSpPr>
            <p:cNvPr id="114" name="Group 114"/>
            <p:cNvGrpSpPr/>
            <p:nvPr/>
          </p:nvGrpSpPr>
          <p:grpSpPr>
            <a:xfrm>
              <a:off x="3435350" y="3228181"/>
              <a:ext cx="44870" cy="87313"/>
              <a:chOff x="3435350" y="3228181"/>
              <a:chExt cx="44870" cy="87313"/>
            </a:xfrm>
          </p:grpSpPr>
          <p:sp>
            <p:nvSpPr>
              <p:cNvPr id="112" name="Freeform 112"/>
              <p:cNvSpPr/>
              <p:nvPr/>
            </p:nvSpPr>
            <p:spPr>
              <a:xfrm>
                <a:off x="3435350" y="3228181"/>
                <a:ext cx="44870" cy="55562"/>
              </a:xfrm>
              <a:custGeom>
                <a:avLst/>
                <a:gdLst/>
                <a:ahLst/>
                <a:cxnLst/>
                <a:rect l="l" t="t" r="r" b="b"/>
                <a:pathLst>
                  <a:path w="44870" h="55562">
                    <a:moveTo>
                      <a:pt x="0" y="16669"/>
                    </a:moveTo>
                    <a:cubicBezTo>
                      <a:pt x="0" y="7463"/>
                      <a:pt x="8707" y="0"/>
                      <a:pt x="19447" y="0"/>
                    </a:cubicBezTo>
                    <a:lnTo>
                      <a:pt x="25003" y="0"/>
                    </a:lnTo>
                    <a:cubicBezTo>
                      <a:pt x="35743" y="0"/>
                      <a:pt x="44450" y="7463"/>
                      <a:pt x="44450" y="16669"/>
                    </a:cubicBezTo>
                    <a:cubicBezTo>
                      <a:pt x="44870" y="24079"/>
                      <a:pt x="40340" y="30875"/>
                      <a:pt x="33337" y="33337"/>
                    </a:cubicBezTo>
                    <a:cubicBezTo>
                      <a:pt x="26335" y="36621"/>
                      <a:pt x="21805" y="45682"/>
                      <a:pt x="22225" y="55562"/>
                    </a:cubicBezTo>
                  </a:path>
                </a:pathLst>
              </a:custGeom>
              <a:noFill/>
              <a:ln w="11112">
                <a:solidFill>
                  <a:srgbClr val="944130"/>
                </a:solidFill>
              </a:ln>
            </p:spPr>
          </p:sp>
          <p:sp>
            <p:nvSpPr>
              <p:cNvPr id="113" name="Freeform 113"/>
              <p:cNvSpPr/>
              <p:nvPr/>
            </p:nvSpPr>
            <p:spPr>
              <a:xfrm>
                <a:off x="3457575" y="3305969"/>
                <a:ext cx="9525" cy="9525"/>
              </a:xfrm>
              <a:custGeom>
                <a:avLst/>
                <a:gdLst/>
                <a:ahLst/>
                <a:cxnLst/>
                <a:rect l="l" t="t" r="r" b="b"/>
                <a:pathLst>
                  <a:path w="9525" h="9525">
                    <a:moveTo>
                      <a:pt x="0" y="0"/>
                    </a:moveTo>
                    <a:lnTo>
                      <a:pt x="0" y="56"/>
                    </a:lnTo>
                  </a:path>
                </a:pathLst>
              </a:custGeom>
              <a:noFill/>
              <a:ln w="11112">
                <a:solidFill>
                  <a:srgbClr val="944130"/>
                </a:solidFill>
              </a:ln>
            </p:spPr>
          </p:sp>
        </p:grpSp>
        <p:sp>
          <p:nvSpPr>
            <p:cNvPr id="115" name="Ellipse 115"/>
            <p:cNvSpPr/>
            <p:nvPr/>
          </p:nvSpPr>
          <p:spPr>
            <a:xfrm>
              <a:off x="4257675" y="3009900"/>
              <a:ext cx="152400" cy="152400"/>
            </a:xfrm>
            <a:prstGeom prst="ellipse">
              <a:avLst/>
            </a:prstGeom>
            <a:solidFill>
              <a:srgbClr val="4E0D00"/>
            </a:solidFill>
            <a:ln>
              <a:noFill/>
            </a:ln>
          </p:spPr>
        </p:sp>
        <p:sp>
          <p:nvSpPr>
            <p:cNvPr id="116" name="TextBox 116"/>
            <p:cNvSpPr txBox="1"/>
            <p:nvPr/>
          </p:nvSpPr>
          <p:spPr>
            <a:xfrm>
              <a:off x="4304235" y="30506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4</a:t>
              </a:r>
            </a:p>
          </p:txBody>
        </p:sp>
        <p:sp>
          <p:nvSpPr>
            <p:cNvPr id="117" name="TextBox 117"/>
            <p:cNvSpPr txBox="1"/>
            <p:nvPr/>
          </p:nvSpPr>
          <p:spPr>
            <a:xfrm>
              <a:off x="4489463" y="3039189"/>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洞察</a:t>
              </a:r>
            </a:p>
          </p:txBody>
        </p:sp>
        <p:grpSp>
          <p:nvGrpSpPr>
            <p:cNvPr id="120" name="Group 120"/>
            <p:cNvGrpSpPr/>
            <p:nvPr/>
          </p:nvGrpSpPr>
          <p:grpSpPr>
            <a:xfrm>
              <a:off x="4493419" y="3217069"/>
              <a:ext cx="100012" cy="100012"/>
              <a:chOff x="4493419" y="3217069"/>
              <a:chExt cx="100012" cy="100012"/>
            </a:xfrm>
          </p:grpSpPr>
          <p:sp>
            <p:nvSpPr>
              <p:cNvPr id="118" name="Freeform 118"/>
              <p:cNvSpPr/>
              <p:nvPr/>
            </p:nvSpPr>
            <p:spPr>
              <a:xfrm>
                <a:off x="4493419" y="3217069"/>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944130"/>
                </a:solidFill>
              </a:ln>
            </p:spPr>
          </p:sp>
          <p:sp>
            <p:nvSpPr>
              <p:cNvPr id="119" name="Freeform 119"/>
              <p:cNvSpPr/>
              <p:nvPr/>
            </p:nvSpPr>
            <p:spPr>
              <a:xfrm>
                <a:off x="4560094" y="3283744"/>
                <a:ext cx="33337" cy="33337"/>
              </a:xfrm>
              <a:custGeom>
                <a:avLst/>
                <a:gdLst/>
                <a:ahLst/>
                <a:cxnLst/>
                <a:rect l="l" t="t" r="r" b="b"/>
                <a:pathLst>
                  <a:path w="33337" h="33337">
                    <a:moveTo>
                      <a:pt x="33337" y="33337"/>
                    </a:moveTo>
                    <a:lnTo>
                      <a:pt x="0" y="0"/>
                    </a:lnTo>
                  </a:path>
                </a:pathLst>
              </a:custGeom>
              <a:noFill/>
              <a:ln w="11112">
                <a:solidFill>
                  <a:srgbClr val="944130"/>
                </a:solidFill>
              </a:ln>
            </p:spPr>
          </p:sp>
        </p:grpSp>
        <p:sp>
          <p:nvSpPr>
            <p:cNvPr id="121" name="Ellipse 121"/>
            <p:cNvSpPr/>
            <p:nvPr/>
          </p:nvSpPr>
          <p:spPr>
            <a:xfrm>
              <a:off x="5343525" y="3009900"/>
              <a:ext cx="152400" cy="152400"/>
            </a:xfrm>
            <a:prstGeom prst="ellipse">
              <a:avLst/>
            </a:prstGeom>
            <a:solidFill>
              <a:srgbClr val="4E0D00"/>
            </a:solidFill>
            <a:ln>
              <a:noFill/>
            </a:ln>
          </p:spPr>
        </p:sp>
        <p:sp>
          <p:nvSpPr>
            <p:cNvPr id="122" name="TextBox 122"/>
            <p:cNvSpPr txBox="1"/>
            <p:nvPr/>
          </p:nvSpPr>
          <p:spPr>
            <a:xfrm>
              <a:off x="5390085" y="30506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a:t>
              </a:r>
            </a:p>
          </p:txBody>
        </p:sp>
        <p:sp>
          <p:nvSpPr>
            <p:cNvPr id="123" name="TextBox 123"/>
            <p:cNvSpPr txBox="1"/>
            <p:nvPr/>
          </p:nvSpPr>
          <p:spPr>
            <a:xfrm>
              <a:off x="5575313" y="3039189"/>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方案</a:t>
              </a:r>
            </a:p>
          </p:txBody>
        </p:sp>
        <p:grpSp>
          <p:nvGrpSpPr>
            <p:cNvPr id="127" name="Group 127"/>
            <p:cNvGrpSpPr/>
            <p:nvPr/>
          </p:nvGrpSpPr>
          <p:grpSpPr>
            <a:xfrm>
              <a:off x="5579269" y="3217069"/>
              <a:ext cx="100012" cy="100012"/>
              <a:chOff x="5579269" y="3217069"/>
              <a:chExt cx="100012" cy="100012"/>
            </a:xfrm>
          </p:grpSpPr>
          <p:sp>
            <p:nvSpPr>
              <p:cNvPr id="124" name="Freeform 124"/>
              <p:cNvSpPr/>
              <p:nvPr/>
            </p:nvSpPr>
            <p:spPr>
              <a:xfrm>
                <a:off x="5623719" y="3261519"/>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944130"/>
                </a:solidFill>
              </a:ln>
            </p:spPr>
          </p:sp>
          <p:sp>
            <p:nvSpPr>
              <p:cNvPr id="125" name="Freeform 125"/>
              <p:cNvSpPr/>
              <p:nvPr/>
            </p:nvSpPr>
            <p:spPr>
              <a:xfrm>
                <a:off x="5601494" y="3239294"/>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944130"/>
                </a:solidFill>
              </a:ln>
            </p:spPr>
          </p:sp>
          <p:sp>
            <p:nvSpPr>
              <p:cNvPr id="126" name="Freeform 126"/>
              <p:cNvSpPr/>
              <p:nvPr/>
            </p:nvSpPr>
            <p:spPr>
              <a:xfrm>
                <a:off x="5579269" y="3217069"/>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944130"/>
                </a:solidFill>
              </a:ln>
            </p:spPr>
          </p:sp>
        </p:grpSp>
        <p:sp>
          <p:nvSpPr>
            <p:cNvPr id="128" name="Ellipse 128"/>
            <p:cNvSpPr/>
            <p:nvPr/>
          </p:nvSpPr>
          <p:spPr>
            <a:xfrm>
              <a:off x="6429375" y="3009900"/>
              <a:ext cx="152400" cy="152400"/>
            </a:xfrm>
            <a:prstGeom prst="ellipse">
              <a:avLst/>
            </a:prstGeom>
            <a:solidFill>
              <a:srgbClr val="4E0D00"/>
            </a:solidFill>
            <a:ln>
              <a:noFill/>
            </a:ln>
          </p:spPr>
        </p:sp>
        <p:sp>
          <p:nvSpPr>
            <p:cNvPr id="129" name="TextBox 129"/>
            <p:cNvSpPr txBox="1"/>
            <p:nvPr/>
          </p:nvSpPr>
          <p:spPr>
            <a:xfrm>
              <a:off x="6475935" y="30506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6</a:t>
              </a:r>
            </a:p>
          </p:txBody>
        </p:sp>
        <p:sp>
          <p:nvSpPr>
            <p:cNvPr id="130" name="TextBox 130"/>
            <p:cNvSpPr txBox="1"/>
            <p:nvPr/>
          </p:nvSpPr>
          <p:spPr>
            <a:xfrm>
              <a:off x="6661163" y="3039189"/>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价值</a:t>
              </a:r>
            </a:p>
          </p:txBody>
        </p:sp>
        <p:grpSp>
          <p:nvGrpSpPr>
            <p:cNvPr id="133" name="Group 133"/>
            <p:cNvGrpSpPr/>
            <p:nvPr/>
          </p:nvGrpSpPr>
          <p:grpSpPr>
            <a:xfrm>
              <a:off x="6665119" y="3239294"/>
              <a:ext cx="100012" cy="55562"/>
              <a:chOff x="6665119" y="3239294"/>
              <a:chExt cx="100012" cy="55562"/>
            </a:xfrm>
          </p:grpSpPr>
          <p:sp>
            <p:nvSpPr>
              <p:cNvPr id="131" name="Freeform 131"/>
              <p:cNvSpPr/>
              <p:nvPr/>
            </p:nvSpPr>
            <p:spPr>
              <a:xfrm>
                <a:off x="6665119" y="3239294"/>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944130"/>
                </a:solidFill>
              </a:ln>
            </p:spPr>
          </p:sp>
          <p:sp>
            <p:nvSpPr>
              <p:cNvPr id="132" name="Freeform 132"/>
              <p:cNvSpPr/>
              <p:nvPr/>
            </p:nvSpPr>
            <p:spPr>
              <a:xfrm>
                <a:off x="6726237" y="3239294"/>
                <a:ext cx="38894" cy="38894"/>
              </a:xfrm>
              <a:custGeom>
                <a:avLst/>
                <a:gdLst/>
                <a:ahLst/>
                <a:cxnLst/>
                <a:rect l="l" t="t" r="r" b="b"/>
                <a:pathLst>
                  <a:path w="38894" h="38894">
                    <a:moveTo>
                      <a:pt x="0" y="0"/>
                    </a:moveTo>
                    <a:lnTo>
                      <a:pt x="38894" y="0"/>
                    </a:lnTo>
                    <a:lnTo>
                      <a:pt x="38894" y="38894"/>
                    </a:lnTo>
                  </a:path>
                </a:pathLst>
              </a:custGeom>
              <a:noFill/>
              <a:ln w="11112">
                <a:solidFill>
                  <a:srgbClr val="944130"/>
                </a:solidFill>
              </a:ln>
            </p:spPr>
          </p:sp>
        </p:grpSp>
        <p:sp>
          <p:nvSpPr>
            <p:cNvPr id="134" name="Rectangle 134"/>
            <p:cNvSpPr/>
            <p:nvPr/>
          </p:nvSpPr>
          <p:spPr>
            <a:xfrm>
              <a:off x="228600" y="3409950"/>
              <a:ext cx="514350" cy="1066800"/>
            </a:xfrm>
            <a:prstGeom prst="rect">
              <a:avLst/>
            </a:prstGeom>
            <a:solidFill>
              <a:srgbClr val="EFF3FA"/>
            </a:solidFill>
            <a:ln>
              <a:noFill/>
            </a:ln>
          </p:spPr>
        </p:sp>
        <p:sp>
          <p:nvSpPr>
            <p:cNvPr id="135" name="TextBox 135"/>
            <p:cNvSpPr txBox="1"/>
            <p:nvPr/>
          </p:nvSpPr>
          <p:spPr>
            <a:xfrm>
              <a:off x="385432" y="38092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关键</a:t>
              </a:r>
            </a:p>
          </p:txBody>
        </p:sp>
        <p:sp>
          <p:nvSpPr>
            <p:cNvPr id="136" name="TextBox 136"/>
            <p:cNvSpPr txBox="1"/>
            <p:nvPr/>
          </p:nvSpPr>
          <p:spPr>
            <a:xfrm>
              <a:off x="385432" y="39616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动作</a:t>
              </a:r>
            </a:p>
          </p:txBody>
        </p:sp>
        <p:sp>
          <p:nvSpPr>
            <p:cNvPr id="137" name="Rectangle 137"/>
            <p:cNvSpPr/>
            <p:nvPr/>
          </p:nvSpPr>
          <p:spPr>
            <a:xfrm>
              <a:off x="228600" y="4476750"/>
              <a:ext cx="514350" cy="1066800"/>
            </a:xfrm>
            <a:prstGeom prst="rect">
              <a:avLst/>
            </a:prstGeom>
            <a:solidFill>
              <a:srgbClr val="EFF3FA"/>
            </a:solidFill>
            <a:ln>
              <a:noFill/>
            </a:ln>
          </p:spPr>
        </p:sp>
        <p:sp>
          <p:nvSpPr>
            <p:cNvPr id="138" name="TextBox 138"/>
            <p:cNvSpPr txBox="1"/>
            <p:nvPr/>
          </p:nvSpPr>
          <p:spPr>
            <a:xfrm>
              <a:off x="385432" y="48760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核心</a:t>
              </a:r>
            </a:p>
          </p:txBody>
        </p:sp>
        <p:sp>
          <p:nvSpPr>
            <p:cNvPr id="139" name="TextBox 139"/>
            <p:cNvSpPr txBox="1"/>
            <p:nvPr/>
          </p:nvSpPr>
          <p:spPr>
            <a:xfrm>
              <a:off x="385432" y="50284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输出</a:t>
              </a:r>
            </a:p>
          </p:txBody>
        </p:sp>
        <p:sp>
          <p:nvSpPr>
            <p:cNvPr id="140" name="Rectangle 140"/>
            <p:cNvSpPr/>
            <p:nvPr/>
          </p:nvSpPr>
          <p:spPr>
            <a:xfrm>
              <a:off x="228600" y="5543550"/>
              <a:ext cx="514350" cy="1066800"/>
            </a:xfrm>
            <a:prstGeom prst="rect">
              <a:avLst/>
            </a:prstGeom>
            <a:solidFill>
              <a:srgbClr val="EFF3FA"/>
            </a:solidFill>
            <a:ln>
              <a:noFill/>
            </a:ln>
          </p:spPr>
        </p:sp>
        <p:sp>
          <p:nvSpPr>
            <p:cNvPr id="141" name="TextBox 141"/>
            <p:cNvSpPr txBox="1"/>
            <p:nvPr/>
          </p:nvSpPr>
          <p:spPr>
            <a:xfrm>
              <a:off x="385432" y="59428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成功</a:t>
              </a:r>
            </a:p>
          </p:txBody>
        </p:sp>
        <p:sp>
          <p:nvSpPr>
            <p:cNvPr id="142" name="TextBox 142"/>
            <p:cNvSpPr txBox="1"/>
            <p:nvPr/>
          </p:nvSpPr>
          <p:spPr>
            <a:xfrm>
              <a:off x="385432" y="60952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标准</a:t>
              </a:r>
            </a:p>
          </p:txBody>
        </p:sp>
        <p:sp>
          <p:nvSpPr>
            <p:cNvPr id="143" name="TextBox 143"/>
            <p:cNvSpPr txBox="1"/>
            <p:nvPr/>
          </p:nvSpPr>
          <p:spPr>
            <a:xfrm>
              <a:off x="958024" y="382143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设定情境与边界，</a:t>
              </a:r>
            </a:p>
          </p:txBody>
        </p:sp>
        <p:sp>
          <p:nvSpPr>
            <p:cNvPr id="144" name="TextBox 144"/>
            <p:cNvSpPr txBox="1"/>
            <p:nvPr/>
          </p:nvSpPr>
          <p:spPr>
            <a:xfrm>
              <a:off x="1038796" y="39738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建立共识语境</a:t>
              </a:r>
            </a:p>
          </p:txBody>
        </p:sp>
        <p:sp>
          <p:nvSpPr>
            <p:cNvPr id="145" name="TextBox 145"/>
            <p:cNvSpPr txBox="1"/>
            <p:nvPr/>
          </p:nvSpPr>
          <p:spPr>
            <a:xfrm>
              <a:off x="2084260" y="38214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揭示关键差距，</a:t>
              </a:r>
            </a:p>
          </p:txBody>
        </p:sp>
        <p:sp>
          <p:nvSpPr>
            <p:cNvPr id="146" name="TextBox 146"/>
            <p:cNvSpPr txBox="1"/>
            <p:nvPr/>
          </p:nvSpPr>
          <p:spPr>
            <a:xfrm>
              <a:off x="2124646" y="39738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制造认知张力</a:t>
              </a:r>
            </a:p>
          </p:txBody>
        </p:sp>
        <p:sp>
          <p:nvSpPr>
            <p:cNvPr id="147" name="TextBox 147"/>
            <p:cNvSpPr txBox="1"/>
            <p:nvPr/>
          </p:nvSpPr>
          <p:spPr>
            <a:xfrm>
              <a:off x="3170110" y="38214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聚焦核心疑问，</a:t>
              </a:r>
            </a:p>
          </p:txBody>
        </p:sp>
        <p:sp>
          <p:nvSpPr>
            <p:cNvPr id="148" name="TextBox 148"/>
            <p:cNvSpPr txBox="1"/>
            <p:nvPr/>
          </p:nvSpPr>
          <p:spPr>
            <a:xfrm>
              <a:off x="3129724" y="397383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明确要解决的问题</a:t>
              </a:r>
            </a:p>
          </p:txBody>
        </p:sp>
        <p:sp>
          <p:nvSpPr>
            <p:cNvPr id="149" name="TextBox 149"/>
            <p:cNvSpPr txBox="1"/>
            <p:nvPr/>
          </p:nvSpPr>
          <p:spPr>
            <a:xfrm>
              <a:off x="4255960" y="38214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定位根本原因，</a:t>
              </a:r>
            </a:p>
          </p:txBody>
        </p:sp>
        <p:sp>
          <p:nvSpPr>
            <p:cNvPr id="150" name="TextBox 150"/>
            <p:cNvSpPr txBox="1"/>
            <p:nvPr/>
          </p:nvSpPr>
          <p:spPr>
            <a:xfrm>
              <a:off x="4296346" y="39738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形成关键洞察</a:t>
              </a:r>
            </a:p>
          </p:txBody>
        </p:sp>
        <p:sp>
          <p:nvSpPr>
            <p:cNvPr id="151" name="TextBox 151"/>
            <p:cNvSpPr txBox="1"/>
            <p:nvPr/>
          </p:nvSpPr>
          <p:spPr>
            <a:xfrm>
              <a:off x="5341811" y="38214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提出可行方案，</a:t>
              </a:r>
            </a:p>
          </p:txBody>
        </p:sp>
        <p:sp>
          <p:nvSpPr>
            <p:cNvPr id="152" name="TextBox 152"/>
            <p:cNvSpPr txBox="1"/>
            <p:nvPr/>
          </p:nvSpPr>
          <p:spPr>
            <a:xfrm>
              <a:off x="5341811" y="39738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明确取舍与路径</a:t>
              </a:r>
            </a:p>
          </p:txBody>
        </p:sp>
        <p:sp>
          <p:nvSpPr>
            <p:cNvPr id="153" name="TextBox 153"/>
            <p:cNvSpPr txBox="1"/>
            <p:nvPr/>
          </p:nvSpPr>
          <p:spPr>
            <a:xfrm>
              <a:off x="6427661" y="38214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量化预期价值，</a:t>
              </a:r>
            </a:p>
          </p:txBody>
        </p:sp>
        <p:sp>
          <p:nvSpPr>
            <p:cNvPr id="154" name="TextBox 154"/>
            <p:cNvSpPr txBox="1"/>
            <p:nvPr/>
          </p:nvSpPr>
          <p:spPr>
            <a:xfrm>
              <a:off x="6427661" y="39738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驱动行动与共识</a:t>
              </a:r>
            </a:p>
          </p:txBody>
        </p:sp>
        <p:sp>
          <p:nvSpPr>
            <p:cNvPr id="155" name="TextBox 155"/>
            <p:cNvSpPr txBox="1"/>
            <p:nvPr/>
          </p:nvSpPr>
          <p:spPr>
            <a:xfrm>
              <a:off x="877252" y="488823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市场与公司现状图谱，</a:t>
              </a:r>
            </a:p>
          </p:txBody>
        </p:sp>
        <p:sp>
          <p:nvSpPr>
            <p:cNvPr id="156" name="TextBox 156"/>
            <p:cNvSpPr txBox="1"/>
            <p:nvPr/>
          </p:nvSpPr>
          <p:spPr>
            <a:xfrm>
              <a:off x="1038796" y="50406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增长对比基线</a:t>
              </a:r>
            </a:p>
          </p:txBody>
        </p:sp>
        <p:sp>
          <p:nvSpPr>
            <p:cNvPr id="157" name="TextBox 157"/>
            <p:cNvSpPr txBox="1"/>
            <p:nvPr/>
          </p:nvSpPr>
          <p:spPr>
            <a:xfrm>
              <a:off x="1963102" y="488823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差距量化，趋势对比，</a:t>
              </a:r>
            </a:p>
          </p:txBody>
        </p:sp>
        <p:sp>
          <p:nvSpPr>
            <p:cNvPr id="158" name="TextBox 158"/>
            <p:cNvSpPr txBox="1"/>
            <p:nvPr/>
          </p:nvSpPr>
          <p:spPr>
            <a:xfrm>
              <a:off x="2205418" y="5040630"/>
              <a:ext cx="33261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影响范围</a:t>
              </a:r>
            </a:p>
          </p:txBody>
        </p:sp>
        <p:sp>
          <p:nvSpPr>
            <p:cNvPr id="159" name="TextBox 159"/>
            <p:cNvSpPr txBox="1"/>
            <p:nvPr/>
          </p:nvSpPr>
          <p:spPr>
            <a:xfrm>
              <a:off x="3170110" y="48882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核心问题陈述，</a:t>
              </a:r>
            </a:p>
          </p:txBody>
        </p:sp>
        <p:sp>
          <p:nvSpPr>
            <p:cNvPr id="160" name="TextBox 160"/>
            <p:cNvSpPr txBox="1"/>
            <p:nvPr/>
          </p:nvSpPr>
          <p:spPr>
            <a:xfrm>
              <a:off x="3250882" y="5040630"/>
              <a:ext cx="41338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问题分解树</a:t>
              </a:r>
            </a:p>
          </p:txBody>
        </p:sp>
        <p:sp>
          <p:nvSpPr>
            <p:cNvPr id="161" name="TextBox 161"/>
            <p:cNvSpPr txBox="1"/>
            <p:nvPr/>
          </p:nvSpPr>
          <p:spPr>
            <a:xfrm>
              <a:off x="4094416" y="4888230"/>
              <a:ext cx="89801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根因结论、关键证据链、</a:t>
              </a:r>
            </a:p>
          </p:txBody>
        </p:sp>
        <p:sp>
          <p:nvSpPr>
            <p:cNvPr id="162" name="TextBox 162"/>
            <p:cNvSpPr txBox="1"/>
            <p:nvPr/>
          </p:nvSpPr>
          <p:spPr>
            <a:xfrm>
              <a:off x="4377118" y="5040630"/>
              <a:ext cx="33261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因果逻辑</a:t>
              </a:r>
            </a:p>
          </p:txBody>
        </p:sp>
        <p:sp>
          <p:nvSpPr>
            <p:cNvPr id="163" name="TextBox 163"/>
            <p:cNvSpPr txBox="1"/>
            <p:nvPr/>
          </p:nvSpPr>
          <p:spPr>
            <a:xfrm>
              <a:off x="5220652" y="488823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方案框架、举措清单、</a:t>
              </a:r>
            </a:p>
          </p:txBody>
        </p:sp>
        <p:sp>
          <p:nvSpPr>
            <p:cNvPr id="164" name="TextBox 164"/>
            <p:cNvSpPr txBox="1"/>
            <p:nvPr/>
          </p:nvSpPr>
          <p:spPr>
            <a:xfrm>
              <a:off x="5341811" y="50406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优先级与里程碑</a:t>
              </a:r>
            </a:p>
          </p:txBody>
        </p:sp>
        <p:sp>
          <p:nvSpPr>
            <p:cNvPr id="165" name="TextBox 165"/>
            <p:cNvSpPr txBox="1"/>
            <p:nvPr/>
          </p:nvSpPr>
          <p:spPr>
            <a:xfrm>
              <a:off x="6346888" y="48882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财务与非财务收益、</a:t>
              </a:r>
            </a:p>
          </p:txBody>
        </p:sp>
        <p:sp>
          <p:nvSpPr>
            <p:cNvPr id="166" name="TextBox 166"/>
            <p:cNvSpPr txBox="1"/>
            <p:nvPr/>
          </p:nvSpPr>
          <p:spPr>
            <a:xfrm>
              <a:off x="6416688" y="5040630"/>
              <a:ext cx="59687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情景对比、ROI​</a:t>
              </a:r>
            </a:p>
          </p:txBody>
        </p:sp>
        <p:sp>
          <p:nvSpPr>
            <p:cNvPr id="167" name="TextBox 167"/>
            <p:cNvSpPr txBox="1"/>
            <p:nvPr/>
          </p:nvSpPr>
          <p:spPr>
            <a:xfrm>
              <a:off x="877252" y="595503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听众认可情境与事实，</a:t>
              </a:r>
            </a:p>
          </p:txBody>
        </p:sp>
        <p:sp>
          <p:nvSpPr>
            <p:cNvPr id="168" name="TextBox 168"/>
            <p:cNvSpPr txBox="1"/>
            <p:nvPr/>
          </p:nvSpPr>
          <p:spPr>
            <a:xfrm>
              <a:off x="998410" y="61074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进入同一问题域</a:t>
              </a:r>
            </a:p>
          </p:txBody>
        </p:sp>
        <p:sp>
          <p:nvSpPr>
            <p:cNvPr id="169" name="TextBox 169"/>
            <p:cNvSpPr txBox="1"/>
            <p:nvPr/>
          </p:nvSpPr>
          <p:spPr>
            <a:xfrm>
              <a:off x="2043874" y="595503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听众感受到问题的</a:t>
              </a:r>
            </a:p>
          </p:txBody>
        </p:sp>
        <p:sp>
          <p:nvSpPr>
            <p:cNvPr id="170" name="TextBox 170"/>
            <p:cNvSpPr txBox="1"/>
            <p:nvPr/>
          </p:nvSpPr>
          <p:spPr>
            <a:xfrm>
              <a:off x="2084260" y="61074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紧迫性与重要性</a:t>
              </a:r>
            </a:p>
          </p:txBody>
        </p:sp>
        <p:sp>
          <p:nvSpPr>
            <p:cNvPr id="171" name="TextBox 171"/>
            <p:cNvSpPr txBox="1"/>
            <p:nvPr/>
          </p:nvSpPr>
          <p:spPr>
            <a:xfrm>
              <a:off x="3089338" y="59550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问题清晰、可聚焦，</a:t>
              </a:r>
            </a:p>
          </p:txBody>
        </p:sp>
        <p:sp>
          <p:nvSpPr>
            <p:cNvPr id="172" name="TextBox 172"/>
            <p:cNvSpPr txBox="1"/>
            <p:nvPr/>
          </p:nvSpPr>
          <p:spPr>
            <a:xfrm>
              <a:off x="3129724" y="610743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有明确的求解方向</a:t>
              </a:r>
            </a:p>
          </p:txBody>
        </p:sp>
        <p:sp>
          <p:nvSpPr>
            <p:cNvPr id="173" name="TextBox 173"/>
            <p:cNvSpPr txBox="1"/>
            <p:nvPr/>
          </p:nvSpPr>
          <p:spPr>
            <a:xfrm>
              <a:off x="4255960" y="59550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结论有说服力，</a:t>
              </a:r>
            </a:p>
          </p:txBody>
        </p:sp>
        <p:sp>
          <p:nvSpPr>
            <p:cNvPr id="174" name="TextBox 174"/>
            <p:cNvSpPr txBox="1"/>
            <p:nvPr/>
          </p:nvSpPr>
          <p:spPr>
            <a:xfrm>
              <a:off x="4255960" y="61074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能解释多数现象</a:t>
              </a:r>
            </a:p>
          </p:txBody>
        </p:sp>
        <p:sp>
          <p:nvSpPr>
            <p:cNvPr id="175" name="TextBox 175"/>
            <p:cNvSpPr txBox="1"/>
            <p:nvPr/>
          </p:nvSpPr>
          <p:spPr>
            <a:xfrm>
              <a:off x="5382196" y="59550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方案可落地，</a:t>
              </a:r>
            </a:p>
          </p:txBody>
        </p:sp>
        <p:sp>
          <p:nvSpPr>
            <p:cNvPr id="176" name="TextBox 176"/>
            <p:cNvSpPr txBox="1"/>
            <p:nvPr/>
          </p:nvSpPr>
          <p:spPr>
            <a:xfrm>
              <a:off x="5301424" y="610743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资源与能力可支撑</a:t>
              </a:r>
            </a:p>
          </p:txBody>
        </p:sp>
        <p:sp>
          <p:nvSpPr>
            <p:cNvPr id="177" name="TextBox 177"/>
            <p:cNvSpPr txBox="1"/>
            <p:nvPr/>
          </p:nvSpPr>
          <p:spPr>
            <a:xfrm>
              <a:off x="6346888" y="59550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价值显著且可验证，</a:t>
              </a:r>
            </a:p>
          </p:txBody>
        </p:sp>
        <p:sp>
          <p:nvSpPr>
            <p:cNvPr id="178" name="TextBox 178"/>
            <p:cNvSpPr txBox="1"/>
            <p:nvPr/>
          </p:nvSpPr>
          <p:spPr>
            <a:xfrm>
              <a:off x="6427661" y="61074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驱动决策与投入</a:t>
              </a:r>
            </a:p>
          </p:txBody>
        </p:sp>
      </p:grpSp>
      <p:grpSp>
        <p:nvGrpSpPr>
          <p:cNvPr id="207" name="bell-panel"/>
          <p:cNvGrpSpPr/>
          <p:nvPr/>
        </p:nvGrpSpPr>
        <p:grpSpPr>
          <a:xfrm>
            <a:off x="7429500" y="3733800"/>
            <a:ext cx="4533900" cy="2692480"/>
            <a:chOff x="7429500" y="3733800"/>
            <a:chExt cx="4533900" cy="2692480"/>
          </a:xfrm>
        </p:grpSpPr>
        <p:sp>
          <p:nvSpPr>
            <p:cNvPr id="180" name="Rectangle 180"/>
            <p:cNvSpPr/>
            <p:nvPr/>
          </p:nvSpPr>
          <p:spPr>
            <a:xfrm>
              <a:off x="7429500" y="3733800"/>
              <a:ext cx="4533900" cy="228600"/>
            </a:xfrm>
            <a:prstGeom prst="rect">
              <a:avLst/>
            </a:prstGeom>
            <a:solidFill>
              <a:srgbClr val="4E0D00"/>
            </a:solidFill>
            <a:ln>
              <a:noFill/>
            </a:ln>
          </p:spPr>
        </p:sp>
        <p:sp>
          <p:nvSpPr>
            <p:cNvPr id="181" name="TextBox 181"/>
            <p:cNvSpPr txBox="1"/>
            <p:nvPr/>
          </p:nvSpPr>
          <p:spPr>
            <a:xfrm>
              <a:off x="9073327" y="3798570"/>
              <a:ext cx="124624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信息密度 × 决策关注度</a:t>
              </a:r>
            </a:p>
          </p:txBody>
        </p:sp>
        <p:sp>
          <p:nvSpPr>
            <p:cNvPr id="182" name="bell-area"/>
            <p:cNvSpPr/>
            <p:nvPr/>
          </p:nvSpPr>
          <p:spPr>
            <a:xfrm>
              <a:off x="7905750" y="4419600"/>
              <a:ext cx="3905250" cy="1752600"/>
            </a:xfrm>
            <a:custGeom>
              <a:avLst/>
              <a:gdLst/>
              <a:ahLst/>
              <a:cxnLst/>
              <a:rect l="l" t="t" r="r" b="b"/>
              <a:pathLst>
                <a:path w="3905250" h="1752600">
                  <a:moveTo>
                    <a:pt x="0" y="1676400"/>
                  </a:moveTo>
                  <a:cubicBezTo>
                    <a:pt x="666750" y="1657350"/>
                    <a:pt x="1047750" y="152400"/>
                    <a:pt x="1714500" y="76200"/>
                  </a:cubicBezTo>
                  <a:cubicBezTo>
                    <a:pt x="2381250" y="0"/>
                    <a:pt x="2857500" y="914400"/>
                    <a:pt x="3476625" y="1485900"/>
                  </a:cubicBezTo>
                  <a:cubicBezTo>
                    <a:pt x="3619500" y="1600200"/>
                    <a:pt x="3762375" y="1657350"/>
                    <a:pt x="3905250" y="1676400"/>
                  </a:cubicBezTo>
                  <a:lnTo>
                    <a:pt x="3905250" y="1752600"/>
                  </a:lnTo>
                  <a:lnTo>
                    <a:pt x="0" y="1752600"/>
                  </a:lnTo>
                  <a:close/>
                </a:path>
              </a:pathLst>
            </a:custGeom>
            <a:gradFill>
              <a:gsLst>
                <a:gs pos="0">
                  <a:srgbClr val="C4887C">
                    <a:alpha val="45000"/>
                  </a:srgbClr>
                </a:gs>
                <a:gs pos="100000">
                  <a:srgbClr val="C4887C">
                    <a:alpha val="2000"/>
                  </a:srgbClr>
                </a:gs>
              </a:gsLst>
              <a:lin ang="5400000" scaled="1"/>
            </a:gradFill>
            <a:ln>
              <a:noFill/>
            </a:ln>
          </p:spPr>
        </p:sp>
        <p:sp>
          <p:nvSpPr>
            <p:cNvPr id="183" name="bell-line"/>
            <p:cNvSpPr/>
            <p:nvPr/>
          </p:nvSpPr>
          <p:spPr>
            <a:xfrm>
              <a:off x="7905750" y="4419600"/>
              <a:ext cx="3905250" cy="1676400"/>
            </a:xfrm>
            <a:custGeom>
              <a:avLst/>
              <a:gdLst/>
              <a:ahLst/>
              <a:cxnLst/>
              <a:rect l="l" t="t" r="r" b="b"/>
              <a:pathLst>
                <a:path w="3905250" h="1676400">
                  <a:moveTo>
                    <a:pt x="0" y="1676400"/>
                  </a:moveTo>
                  <a:cubicBezTo>
                    <a:pt x="666750" y="1657350"/>
                    <a:pt x="1047750" y="152400"/>
                    <a:pt x="1714500" y="76200"/>
                  </a:cubicBezTo>
                  <a:cubicBezTo>
                    <a:pt x="2381250" y="0"/>
                    <a:pt x="2857500" y="914400"/>
                    <a:pt x="3476625" y="1485900"/>
                  </a:cubicBezTo>
                  <a:cubicBezTo>
                    <a:pt x="3619500" y="1600200"/>
                    <a:pt x="3762375" y="1657350"/>
                    <a:pt x="3905250" y="1676400"/>
                  </a:cubicBezTo>
                </a:path>
              </a:pathLst>
            </a:custGeom>
            <a:noFill/>
            <a:ln w="15240">
              <a:solidFill>
                <a:srgbClr val="944130"/>
              </a:solidFill>
            </a:ln>
          </p:spPr>
        </p:sp>
        <p:sp>
          <p:nvSpPr>
            <p:cNvPr id="184" name="Line 184"/>
            <p:cNvSpPr/>
            <p:nvPr/>
          </p:nvSpPr>
          <p:spPr>
            <a:xfrm flipV="1">
              <a:off x="7734300" y="4114800"/>
              <a:ext cx="1" cy="2057400"/>
            </a:xfrm>
            <a:prstGeom prst="line">
              <a:avLst/>
            </a:prstGeom>
            <a:noFill/>
            <a:ln w="10478">
              <a:solidFill>
                <a:srgbClr val="7E6A66"/>
              </a:solidFill>
              <a:tailEnd type="triangle" w="lg" len="lg"/>
            </a:ln>
          </p:spPr>
        </p:sp>
        <p:sp>
          <p:nvSpPr>
            <p:cNvPr id="185" name="Line 185"/>
            <p:cNvSpPr/>
            <p:nvPr/>
          </p:nvSpPr>
          <p:spPr>
            <a:xfrm>
              <a:off x="7734300" y="6172200"/>
              <a:ext cx="4133850" cy="1"/>
            </a:xfrm>
            <a:prstGeom prst="line">
              <a:avLst/>
            </a:prstGeom>
            <a:noFill/>
            <a:ln w="10478">
              <a:solidFill>
                <a:srgbClr val="7E6A66"/>
              </a:solidFill>
              <a:tailEnd type="triangle" w="lg" len="lg"/>
            </a:ln>
          </p:spPr>
        </p:sp>
        <p:sp>
          <p:nvSpPr>
            <p:cNvPr id="186" name="TextBox 186"/>
            <p:cNvSpPr txBox="1"/>
            <p:nvPr/>
          </p:nvSpPr>
          <p:spPr>
            <a:xfrm>
              <a:off x="7588517" y="4118134"/>
              <a:ext cx="101067"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高</a:t>
              </a:r>
            </a:p>
          </p:txBody>
        </p:sp>
        <p:sp>
          <p:nvSpPr>
            <p:cNvPr id="187" name="TextBox 187"/>
            <p:cNvSpPr txBox="1"/>
            <p:nvPr/>
          </p:nvSpPr>
          <p:spPr>
            <a:xfrm>
              <a:off x="7588517" y="6156484"/>
              <a:ext cx="101067"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低</a:t>
              </a:r>
            </a:p>
          </p:txBody>
        </p:sp>
        <p:sp>
          <p:nvSpPr>
            <p:cNvPr id="188" name="TextBox 188"/>
            <p:cNvSpPr txBox="1"/>
            <p:nvPr/>
          </p:nvSpPr>
          <p:spPr>
            <a:xfrm>
              <a:off x="7531367" y="4403884"/>
              <a:ext cx="101067"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信</a:t>
              </a:r>
            </a:p>
          </p:txBody>
        </p:sp>
        <p:sp>
          <p:nvSpPr>
            <p:cNvPr id="189" name="TextBox 189"/>
            <p:cNvSpPr txBox="1"/>
            <p:nvPr/>
          </p:nvSpPr>
          <p:spPr>
            <a:xfrm>
              <a:off x="7531367" y="4518184"/>
              <a:ext cx="101067"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息</a:t>
              </a:r>
            </a:p>
          </p:txBody>
        </p:sp>
        <p:sp>
          <p:nvSpPr>
            <p:cNvPr id="190" name="TextBox 190"/>
            <p:cNvSpPr txBox="1"/>
            <p:nvPr/>
          </p:nvSpPr>
          <p:spPr>
            <a:xfrm>
              <a:off x="7531367" y="4632484"/>
              <a:ext cx="101067"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密</a:t>
              </a:r>
            </a:p>
          </p:txBody>
        </p:sp>
        <p:sp>
          <p:nvSpPr>
            <p:cNvPr id="191" name="TextBox 191"/>
            <p:cNvSpPr txBox="1"/>
            <p:nvPr/>
          </p:nvSpPr>
          <p:spPr>
            <a:xfrm>
              <a:off x="7531367" y="4746784"/>
              <a:ext cx="101067"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度</a:t>
              </a:r>
            </a:p>
          </p:txBody>
        </p:sp>
        <p:sp>
          <p:nvSpPr>
            <p:cNvPr id="192" name="TextBox 192"/>
            <p:cNvSpPr txBox="1"/>
            <p:nvPr/>
          </p:nvSpPr>
          <p:spPr>
            <a:xfrm>
              <a:off x="7855217" y="6270784"/>
              <a:ext cx="101067"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低</a:t>
              </a:r>
            </a:p>
          </p:txBody>
        </p:sp>
        <p:sp>
          <p:nvSpPr>
            <p:cNvPr id="193" name="TextBox 193"/>
            <p:cNvSpPr txBox="1"/>
            <p:nvPr/>
          </p:nvSpPr>
          <p:spPr>
            <a:xfrm>
              <a:off x="9528937" y="6285786"/>
              <a:ext cx="487426"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决策关注度</a:t>
              </a:r>
            </a:p>
          </p:txBody>
        </p:sp>
        <p:sp>
          <p:nvSpPr>
            <p:cNvPr id="194" name="TextBox 194"/>
            <p:cNvSpPr txBox="1"/>
            <p:nvPr/>
          </p:nvSpPr>
          <p:spPr>
            <a:xfrm>
              <a:off x="11722367" y="6270784"/>
              <a:ext cx="101067"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高</a:t>
              </a:r>
            </a:p>
          </p:txBody>
        </p:sp>
        <p:sp>
          <p:nvSpPr>
            <p:cNvPr id="195" name="Ellipse 195"/>
            <p:cNvSpPr/>
            <p:nvPr/>
          </p:nvSpPr>
          <p:spPr>
            <a:xfrm>
              <a:off x="8072438" y="5843588"/>
              <a:ext cx="161925" cy="161925"/>
            </a:xfrm>
            <a:prstGeom prst="ellipse">
              <a:avLst/>
            </a:prstGeom>
            <a:solidFill>
              <a:srgbClr val="4E0D00"/>
            </a:solidFill>
            <a:ln>
              <a:noFill/>
            </a:ln>
          </p:spPr>
        </p:sp>
        <p:sp>
          <p:nvSpPr>
            <p:cNvPr id="196" name="TextBox 196"/>
            <p:cNvSpPr txBox="1"/>
            <p:nvPr/>
          </p:nvSpPr>
          <p:spPr>
            <a:xfrm>
              <a:off x="8123760" y="588906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1</a:t>
              </a:r>
            </a:p>
          </p:txBody>
        </p:sp>
        <p:sp>
          <p:nvSpPr>
            <p:cNvPr id="197" name="Ellipse 197"/>
            <p:cNvSpPr/>
            <p:nvPr/>
          </p:nvSpPr>
          <p:spPr>
            <a:xfrm>
              <a:off x="8682038" y="5310188"/>
              <a:ext cx="161925" cy="161925"/>
            </a:xfrm>
            <a:prstGeom prst="ellipse">
              <a:avLst/>
            </a:prstGeom>
            <a:solidFill>
              <a:srgbClr val="4E0D00"/>
            </a:solidFill>
            <a:ln>
              <a:noFill/>
            </a:ln>
          </p:spPr>
        </p:sp>
        <p:sp>
          <p:nvSpPr>
            <p:cNvPr id="198" name="TextBox 198"/>
            <p:cNvSpPr txBox="1"/>
            <p:nvPr/>
          </p:nvSpPr>
          <p:spPr>
            <a:xfrm>
              <a:off x="8733360" y="535566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a:t>
              </a:r>
            </a:p>
          </p:txBody>
        </p:sp>
        <p:sp>
          <p:nvSpPr>
            <p:cNvPr id="199" name="Ellipse 199"/>
            <p:cNvSpPr/>
            <p:nvPr/>
          </p:nvSpPr>
          <p:spPr>
            <a:xfrm>
              <a:off x="9310688" y="4605338"/>
              <a:ext cx="161925" cy="161925"/>
            </a:xfrm>
            <a:prstGeom prst="ellipse">
              <a:avLst/>
            </a:prstGeom>
            <a:solidFill>
              <a:srgbClr val="4E0D00"/>
            </a:solidFill>
            <a:ln>
              <a:noFill/>
            </a:ln>
          </p:spPr>
        </p:sp>
        <p:sp>
          <p:nvSpPr>
            <p:cNvPr id="200" name="TextBox 200"/>
            <p:cNvSpPr txBox="1"/>
            <p:nvPr/>
          </p:nvSpPr>
          <p:spPr>
            <a:xfrm>
              <a:off x="9362010" y="46508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a:t>
              </a:r>
            </a:p>
          </p:txBody>
        </p:sp>
        <p:sp>
          <p:nvSpPr>
            <p:cNvPr id="201" name="Ellipse 201"/>
            <p:cNvSpPr/>
            <p:nvPr/>
          </p:nvSpPr>
          <p:spPr>
            <a:xfrm>
              <a:off x="9958388" y="4471988"/>
              <a:ext cx="161925" cy="161925"/>
            </a:xfrm>
            <a:prstGeom prst="ellipse">
              <a:avLst/>
            </a:prstGeom>
            <a:solidFill>
              <a:srgbClr val="4E0D00"/>
            </a:solidFill>
            <a:ln>
              <a:noFill/>
            </a:ln>
          </p:spPr>
        </p:sp>
        <p:sp>
          <p:nvSpPr>
            <p:cNvPr id="202" name="TextBox 202"/>
            <p:cNvSpPr txBox="1"/>
            <p:nvPr/>
          </p:nvSpPr>
          <p:spPr>
            <a:xfrm>
              <a:off x="10009710" y="451746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4</a:t>
              </a:r>
            </a:p>
          </p:txBody>
        </p:sp>
        <p:sp>
          <p:nvSpPr>
            <p:cNvPr id="203" name="Ellipse 203"/>
            <p:cNvSpPr/>
            <p:nvPr/>
          </p:nvSpPr>
          <p:spPr>
            <a:xfrm>
              <a:off x="10587038" y="4967288"/>
              <a:ext cx="161925" cy="161925"/>
            </a:xfrm>
            <a:prstGeom prst="ellipse">
              <a:avLst/>
            </a:prstGeom>
            <a:solidFill>
              <a:srgbClr val="4E0D00"/>
            </a:solidFill>
            <a:ln>
              <a:noFill/>
            </a:ln>
          </p:spPr>
        </p:sp>
        <p:sp>
          <p:nvSpPr>
            <p:cNvPr id="204" name="TextBox 204"/>
            <p:cNvSpPr txBox="1"/>
            <p:nvPr/>
          </p:nvSpPr>
          <p:spPr>
            <a:xfrm>
              <a:off x="10638360" y="501276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a:t>
              </a:r>
            </a:p>
          </p:txBody>
        </p:sp>
        <p:sp>
          <p:nvSpPr>
            <p:cNvPr id="205" name="Ellipse 205"/>
            <p:cNvSpPr/>
            <p:nvPr/>
          </p:nvSpPr>
          <p:spPr>
            <a:xfrm>
              <a:off x="11215688" y="5595938"/>
              <a:ext cx="161925" cy="161925"/>
            </a:xfrm>
            <a:prstGeom prst="ellipse">
              <a:avLst/>
            </a:prstGeom>
            <a:solidFill>
              <a:srgbClr val="4E0D00"/>
            </a:solidFill>
            <a:ln>
              <a:noFill/>
            </a:ln>
          </p:spPr>
        </p:sp>
        <p:sp>
          <p:nvSpPr>
            <p:cNvPr id="206" name="TextBox 206"/>
            <p:cNvSpPr txBox="1"/>
            <p:nvPr/>
          </p:nvSpPr>
          <p:spPr>
            <a:xfrm>
              <a:off x="11267010" y="5641419"/>
              <a:ext cx="59281"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6</a:t>
              </a:r>
            </a:p>
          </p:txBody>
        </p:sp>
      </p:gr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5272316"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7S｜组织变革必须实现七个要素对齐</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46" name="hard-panel"/>
          <p:cNvGrpSpPr/>
          <p:nvPr/>
        </p:nvGrpSpPr>
        <p:grpSpPr>
          <a:xfrm>
            <a:off x="228600" y="800100"/>
            <a:ext cx="3048000" cy="4076700"/>
            <a:chOff x="228600" y="800100"/>
            <a:chExt cx="3048000" cy="4076700"/>
          </a:xfrm>
        </p:grpSpPr>
        <p:sp>
          <p:nvSpPr>
            <p:cNvPr id="6" name="Rectangle 6"/>
            <p:cNvSpPr/>
            <p:nvPr/>
          </p:nvSpPr>
          <p:spPr>
            <a:xfrm>
              <a:off x="228600" y="800100"/>
              <a:ext cx="3048000" cy="381000"/>
            </a:xfrm>
            <a:prstGeom prst="rect">
              <a:avLst/>
            </a:prstGeom>
            <a:solidFill>
              <a:srgbClr val="4E0D00"/>
            </a:solidFill>
            <a:ln>
              <a:noFill/>
            </a:ln>
          </p:spPr>
        </p:sp>
        <p:sp>
          <p:nvSpPr>
            <p:cNvPr id="7" name="TextBox 7"/>
            <p:cNvSpPr txBox="1"/>
            <p:nvPr/>
          </p:nvSpPr>
          <p:spPr>
            <a:xfrm>
              <a:off x="1160995" y="879872"/>
              <a:ext cx="11832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硬性要素（Hard S）</a:t>
              </a:r>
            </a:p>
          </p:txBody>
        </p:sp>
        <p:sp>
          <p:nvSpPr>
            <p:cNvPr id="8" name="TextBox 8"/>
            <p:cNvSpPr txBox="1"/>
            <p:nvPr/>
          </p:nvSpPr>
          <p:spPr>
            <a:xfrm>
              <a:off x="1101662" y="1055132"/>
              <a:ext cx="1301877" cy="126206"/>
            </a:xfrm>
            <a:prstGeom prst="rect">
              <a:avLst/>
            </a:prstGeom>
            <a:noFill/>
            <a:ln>
              <a:noFill/>
            </a:ln>
          </p:spPr>
          <p:txBody>
            <a:bodyPr wrap="none" lIns="0" tIns="0" rIns="0" bIns="0" anchor="t" anchorCtr="0">
              <a:spAutoFit/>
            </a:bodyPr>
            <a:lstStyle/>
            <a:p>
              <a:pPr algn="ctr"/>
              <a:r>
                <a:rPr lang="zh-CN" sz="640" dirty="0">
                  <a:solidFill>
                    <a:srgbClr val="C9D5EA"/>
                  </a:solidFill>
                  <a:latin typeface="+mn-lt"/>
                  <a:ea typeface="+mn-ea"/>
                  <a:cs typeface="+mn-cs"/>
                </a:rPr>
                <a:t>结构化设计，推动方向和机制落地</a:t>
              </a:r>
            </a:p>
          </p:txBody>
        </p:sp>
        <p:sp>
          <p:nvSpPr>
            <p:cNvPr id="9" name="Rectangle 9"/>
            <p:cNvSpPr/>
            <p:nvPr/>
          </p:nvSpPr>
          <p:spPr>
            <a:xfrm>
              <a:off x="285750" y="1257300"/>
              <a:ext cx="2933700" cy="666750"/>
            </a:xfrm>
            <a:prstGeom prst="rect">
              <a:avLst/>
            </a:prstGeom>
            <a:solidFill>
              <a:srgbClr val="FFFFFF"/>
            </a:solidFill>
            <a:ln w="9525">
              <a:solidFill>
                <a:srgbClr val="C7D2E4"/>
              </a:solidFill>
            </a:ln>
          </p:spPr>
        </p:sp>
        <p:sp>
          <p:nvSpPr>
            <p:cNvPr id="10" name="Ellipse 10"/>
            <p:cNvSpPr/>
            <p:nvPr/>
          </p:nvSpPr>
          <p:spPr>
            <a:xfrm>
              <a:off x="400050" y="1457325"/>
              <a:ext cx="266700" cy="266700"/>
            </a:xfrm>
            <a:prstGeom prst="ellipse">
              <a:avLst/>
            </a:prstGeom>
            <a:solidFill>
              <a:srgbClr val="4E0D00"/>
            </a:solidFill>
            <a:ln>
              <a:noFill/>
            </a:ln>
          </p:spPr>
        </p:sp>
        <p:grpSp>
          <p:nvGrpSpPr>
            <p:cNvPr id="14" name="Group 14"/>
            <p:cNvGrpSpPr/>
            <p:nvPr/>
          </p:nvGrpSpPr>
          <p:grpSpPr>
            <a:xfrm>
              <a:off x="476250" y="1533525"/>
              <a:ext cx="114300" cy="114300"/>
              <a:chOff x="476250" y="1533525"/>
              <a:chExt cx="114300" cy="114300"/>
            </a:xfrm>
          </p:grpSpPr>
          <p:sp>
            <p:nvSpPr>
              <p:cNvPr id="11" name="Freeform 11"/>
              <p:cNvSpPr/>
              <p:nvPr/>
            </p:nvSpPr>
            <p:spPr>
              <a:xfrm>
                <a:off x="527050" y="1584325"/>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12" name="Freeform 12"/>
              <p:cNvSpPr/>
              <p:nvPr/>
            </p:nvSpPr>
            <p:spPr>
              <a:xfrm>
                <a:off x="501650" y="1558925"/>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FFFFFF"/>
                </a:solidFill>
              </a:ln>
            </p:spPr>
          </p:sp>
          <p:sp>
            <p:nvSpPr>
              <p:cNvPr id="13" name="Freeform 13"/>
              <p:cNvSpPr/>
              <p:nvPr/>
            </p:nvSpPr>
            <p:spPr>
              <a:xfrm>
                <a:off x="476250" y="1533525"/>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grpSp>
        <p:sp>
          <p:nvSpPr>
            <p:cNvPr id="15" name="TextBox 15"/>
            <p:cNvSpPr txBox="1"/>
            <p:nvPr/>
          </p:nvSpPr>
          <p:spPr>
            <a:xfrm>
              <a:off x="738188" y="1434941"/>
              <a:ext cx="778923"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战略 Strategy</a:t>
              </a:r>
            </a:p>
          </p:txBody>
        </p:sp>
        <p:sp>
          <p:nvSpPr>
            <p:cNvPr id="16" name="TextBox 16"/>
            <p:cNvSpPr txBox="1"/>
            <p:nvPr/>
          </p:nvSpPr>
          <p:spPr>
            <a:xfrm>
              <a:off x="738188" y="1617107"/>
              <a:ext cx="121572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组织如何创造价值、赢得竞争、</a:t>
              </a:r>
            </a:p>
          </p:txBody>
        </p:sp>
        <p:sp>
          <p:nvSpPr>
            <p:cNvPr id="17" name="TextBox 17"/>
            <p:cNvSpPr txBox="1"/>
            <p:nvPr/>
          </p:nvSpPr>
          <p:spPr>
            <a:xfrm>
              <a:off x="738188" y="1750457"/>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实现长期目标的总体选择。</a:t>
              </a:r>
            </a:p>
          </p:txBody>
        </p:sp>
        <p:sp>
          <p:nvSpPr>
            <p:cNvPr id="18" name="Rectangle 18"/>
            <p:cNvSpPr/>
            <p:nvPr/>
          </p:nvSpPr>
          <p:spPr>
            <a:xfrm>
              <a:off x="285750" y="1962150"/>
              <a:ext cx="2933700" cy="666750"/>
            </a:xfrm>
            <a:prstGeom prst="rect">
              <a:avLst/>
            </a:prstGeom>
            <a:solidFill>
              <a:srgbClr val="FFFFFF"/>
            </a:solidFill>
            <a:ln w="9525">
              <a:solidFill>
                <a:srgbClr val="C7D2E4"/>
              </a:solidFill>
            </a:ln>
          </p:spPr>
        </p:sp>
        <p:sp>
          <p:nvSpPr>
            <p:cNvPr id="19" name="Ellipse 19"/>
            <p:cNvSpPr/>
            <p:nvPr/>
          </p:nvSpPr>
          <p:spPr>
            <a:xfrm>
              <a:off x="400050" y="2162175"/>
              <a:ext cx="266700" cy="266700"/>
            </a:xfrm>
            <a:prstGeom prst="ellipse">
              <a:avLst/>
            </a:prstGeom>
            <a:solidFill>
              <a:srgbClr val="4E0D00"/>
            </a:solidFill>
            <a:ln>
              <a:noFill/>
            </a:ln>
          </p:spPr>
        </p:sp>
        <p:grpSp>
          <p:nvGrpSpPr>
            <p:cNvPr id="25" name="Group 25"/>
            <p:cNvGrpSpPr/>
            <p:nvPr/>
          </p:nvGrpSpPr>
          <p:grpSpPr>
            <a:xfrm>
              <a:off x="476250" y="2238375"/>
              <a:ext cx="114300" cy="114300"/>
              <a:chOff x="476250" y="2238375"/>
              <a:chExt cx="114300" cy="114300"/>
            </a:xfrm>
          </p:grpSpPr>
          <p:sp>
            <p:nvSpPr>
              <p:cNvPr id="20" name="Freeform 20"/>
              <p:cNvSpPr/>
              <p:nvPr/>
            </p:nvSpPr>
            <p:spPr>
              <a:xfrm>
                <a:off x="476250" y="23145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21" name="Freeform 21"/>
              <p:cNvSpPr/>
              <p:nvPr/>
            </p:nvSpPr>
            <p:spPr>
              <a:xfrm>
                <a:off x="552450" y="23145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22" name="Freeform 22"/>
              <p:cNvSpPr/>
              <p:nvPr/>
            </p:nvSpPr>
            <p:spPr>
              <a:xfrm>
                <a:off x="514350" y="22383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FFFFFF"/>
                </a:solidFill>
              </a:ln>
            </p:spPr>
          </p:sp>
          <p:sp>
            <p:nvSpPr>
              <p:cNvPr id="23" name="Freeform 23"/>
              <p:cNvSpPr/>
              <p:nvPr/>
            </p:nvSpPr>
            <p:spPr>
              <a:xfrm>
                <a:off x="495300" y="2295525"/>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FFFFFF"/>
                </a:solidFill>
              </a:ln>
            </p:spPr>
          </p:sp>
          <p:sp>
            <p:nvSpPr>
              <p:cNvPr id="24" name="Freeform 24"/>
              <p:cNvSpPr/>
              <p:nvPr/>
            </p:nvSpPr>
            <p:spPr>
              <a:xfrm>
                <a:off x="533400" y="2276475"/>
                <a:ext cx="9525" cy="19050"/>
              </a:xfrm>
              <a:custGeom>
                <a:avLst/>
                <a:gdLst/>
                <a:ahLst/>
                <a:cxnLst/>
                <a:rect l="l" t="t" r="r" b="b"/>
                <a:pathLst>
                  <a:path w="9525" h="19050">
                    <a:moveTo>
                      <a:pt x="0" y="0"/>
                    </a:moveTo>
                    <a:lnTo>
                      <a:pt x="0" y="19050"/>
                    </a:lnTo>
                  </a:path>
                </a:pathLst>
              </a:custGeom>
              <a:noFill/>
              <a:ln w="12700">
                <a:solidFill>
                  <a:srgbClr val="FFFFFF"/>
                </a:solidFill>
              </a:ln>
            </p:spPr>
          </p:sp>
        </p:grpSp>
        <p:sp>
          <p:nvSpPr>
            <p:cNvPr id="26" name="TextBox 26"/>
            <p:cNvSpPr txBox="1"/>
            <p:nvPr/>
          </p:nvSpPr>
          <p:spPr>
            <a:xfrm>
              <a:off x="738188" y="2139791"/>
              <a:ext cx="842645"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结构 Structure</a:t>
              </a:r>
            </a:p>
          </p:txBody>
        </p:sp>
        <p:sp>
          <p:nvSpPr>
            <p:cNvPr id="27" name="TextBox 27"/>
            <p:cNvSpPr txBox="1"/>
            <p:nvPr/>
          </p:nvSpPr>
          <p:spPr>
            <a:xfrm>
              <a:off x="738188" y="2321957"/>
              <a:ext cx="138803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组织的分工、汇报关系与协作机制，</a:t>
              </a:r>
            </a:p>
          </p:txBody>
        </p:sp>
        <p:sp>
          <p:nvSpPr>
            <p:cNvPr id="28" name="TextBox 28"/>
            <p:cNvSpPr txBox="1"/>
            <p:nvPr/>
          </p:nvSpPr>
          <p:spPr>
            <a:xfrm>
              <a:off x="738188" y="2455307"/>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决定责权边界与运行效率。</a:t>
              </a:r>
            </a:p>
          </p:txBody>
        </p:sp>
        <p:sp>
          <p:nvSpPr>
            <p:cNvPr id="29" name="Rectangle 29"/>
            <p:cNvSpPr/>
            <p:nvPr/>
          </p:nvSpPr>
          <p:spPr>
            <a:xfrm>
              <a:off x="285750" y="2667000"/>
              <a:ext cx="2933700" cy="666750"/>
            </a:xfrm>
            <a:prstGeom prst="rect">
              <a:avLst/>
            </a:prstGeom>
            <a:solidFill>
              <a:srgbClr val="FFFFFF"/>
            </a:solidFill>
            <a:ln w="9525">
              <a:solidFill>
                <a:srgbClr val="C7D2E4"/>
              </a:solidFill>
            </a:ln>
          </p:spPr>
        </p:sp>
        <p:sp>
          <p:nvSpPr>
            <p:cNvPr id="30" name="Ellipse 30"/>
            <p:cNvSpPr/>
            <p:nvPr/>
          </p:nvSpPr>
          <p:spPr>
            <a:xfrm>
              <a:off x="400050" y="2867025"/>
              <a:ext cx="266700" cy="266700"/>
            </a:xfrm>
            <a:prstGeom prst="ellipse">
              <a:avLst/>
            </a:prstGeom>
            <a:solidFill>
              <a:srgbClr val="4E0D00"/>
            </a:solidFill>
            <a:ln>
              <a:noFill/>
            </a:ln>
          </p:spPr>
        </p:sp>
        <p:grpSp>
          <p:nvGrpSpPr>
            <p:cNvPr id="37" name="Group 37"/>
            <p:cNvGrpSpPr/>
            <p:nvPr/>
          </p:nvGrpSpPr>
          <p:grpSpPr>
            <a:xfrm>
              <a:off x="488950" y="2943225"/>
              <a:ext cx="88900" cy="114300"/>
              <a:chOff x="488950" y="2943225"/>
              <a:chExt cx="88900" cy="114300"/>
            </a:xfrm>
          </p:grpSpPr>
          <p:sp>
            <p:nvSpPr>
              <p:cNvPr id="31" name="Freeform 31"/>
              <p:cNvSpPr/>
              <p:nvPr/>
            </p:nvSpPr>
            <p:spPr>
              <a:xfrm>
                <a:off x="488950" y="2955925"/>
                <a:ext cx="88900" cy="101600"/>
              </a:xfrm>
              <a:custGeom>
                <a:avLst/>
                <a:gdLst/>
                <a:ahLst/>
                <a:cxnLst/>
                <a:rect l="l" t="t" r="r" b="b"/>
                <a:pathLst>
                  <a:path w="88900" h="101600">
                    <a:moveTo>
                      <a:pt x="25400" y="0"/>
                    </a:moveTo>
                    <a:lnTo>
                      <a:pt x="12700" y="0"/>
                    </a:lnTo>
                    <a:cubicBezTo>
                      <a:pt x="5686" y="0"/>
                      <a:pt x="0" y="5686"/>
                      <a:pt x="0" y="12700"/>
                    </a:cubicBezTo>
                    <a:lnTo>
                      <a:pt x="0" y="88900"/>
                    </a:lnTo>
                    <a:cubicBezTo>
                      <a:pt x="0" y="95914"/>
                      <a:pt x="5686" y="101600"/>
                      <a:pt x="12700" y="101600"/>
                    </a:cubicBezTo>
                    <a:lnTo>
                      <a:pt x="76200" y="101600"/>
                    </a:lnTo>
                    <a:cubicBezTo>
                      <a:pt x="83214" y="101600"/>
                      <a:pt x="88900" y="95914"/>
                      <a:pt x="88900" y="88900"/>
                    </a:cubicBezTo>
                    <a:lnTo>
                      <a:pt x="88900" y="12700"/>
                    </a:lnTo>
                    <a:cubicBezTo>
                      <a:pt x="88900" y="5686"/>
                      <a:pt x="83214" y="0"/>
                      <a:pt x="76200" y="0"/>
                    </a:cubicBezTo>
                    <a:lnTo>
                      <a:pt x="63500" y="0"/>
                    </a:lnTo>
                  </a:path>
                </a:pathLst>
              </a:custGeom>
              <a:noFill/>
              <a:ln w="12700">
                <a:solidFill>
                  <a:srgbClr val="FFFFFF"/>
                </a:solidFill>
              </a:ln>
            </p:spPr>
          </p:sp>
          <p:sp>
            <p:nvSpPr>
              <p:cNvPr id="32" name="Freeform 32"/>
              <p:cNvSpPr/>
              <p:nvPr/>
            </p:nvSpPr>
            <p:spPr>
              <a:xfrm>
                <a:off x="514350" y="2943225"/>
                <a:ext cx="38100" cy="25400"/>
              </a:xfrm>
              <a:custGeom>
                <a:avLst/>
                <a:gdLst/>
                <a:ahLst/>
                <a:cxnLst/>
                <a:rect l="l" t="t" r="r" b="b"/>
                <a:pathLst>
                  <a:path w="38100" h="25400">
                    <a:moveTo>
                      <a:pt x="0" y="12700"/>
                    </a:moveTo>
                    <a:cubicBezTo>
                      <a:pt x="0" y="5686"/>
                      <a:pt x="5686" y="0"/>
                      <a:pt x="12700" y="0"/>
                    </a:cubicBezTo>
                    <a:lnTo>
                      <a:pt x="25400" y="0"/>
                    </a:lnTo>
                    <a:cubicBezTo>
                      <a:pt x="32414" y="0"/>
                      <a:pt x="38100" y="5686"/>
                      <a:pt x="38100" y="12700"/>
                    </a:cubicBezTo>
                    <a:cubicBezTo>
                      <a:pt x="38100" y="19714"/>
                      <a:pt x="32414" y="25400"/>
                      <a:pt x="25400" y="25400"/>
                    </a:cubicBezTo>
                    <a:lnTo>
                      <a:pt x="12700" y="25400"/>
                    </a:lnTo>
                    <a:cubicBezTo>
                      <a:pt x="5686" y="25400"/>
                      <a:pt x="0" y="19714"/>
                      <a:pt x="0" y="12700"/>
                    </a:cubicBezTo>
                  </a:path>
                </a:pathLst>
              </a:custGeom>
              <a:noFill/>
              <a:ln w="12700">
                <a:solidFill>
                  <a:srgbClr val="FFFFFF"/>
                </a:solidFill>
              </a:ln>
            </p:spPr>
          </p:sp>
          <p:sp>
            <p:nvSpPr>
              <p:cNvPr id="33" name="Freeform 33"/>
              <p:cNvSpPr/>
              <p:nvPr/>
            </p:nvSpPr>
            <p:spPr>
              <a:xfrm>
                <a:off x="514350" y="3000375"/>
                <a:ext cx="9525" cy="9525"/>
              </a:xfrm>
              <a:custGeom>
                <a:avLst/>
                <a:gdLst/>
                <a:ahLst/>
                <a:cxnLst/>
                <a:rect l="l" t="t" r="r" b="b"/>
                <a:pathLst>
                  <a:path w="9525" h="9525">
                    <a:moveTo>
                      <a:pt x="0" y="0"/>
                    </a:moveTo>
                    <a:lnTo>
                      <a:pt x="64" y="0"/>
                    </a:lnTo>
                  </a:path>
                </a:pathLst>
              </a:custGeom>
              <a:noFill/>
              <a:ln w="12700">
                <a:solidFill>
                  <a:srgbClr val="FFFFFF"/>
                </a:solidFill>
              </a:ln>
            </p:spPr>
          </p:sp>
          <p:sp>
            <p:nvSpPr>
              <p:cNvPr id="34" name="Freeform 34"/>
              <p:cNvSpPr/>
              <p:nvPr/>
            </p:nvSpPr>
            <p:spPr>
              <a:xfrm>
                <a:off x="539750" y="3000375"/>
                <a:ext cx="12700" cy="9525"/>
              </a:xfrm>
              <a:custGeom>
                <a:avLst/>
                <a:gdLst/>
                <a:ahLst/>
                <a:cxnLst/>
                <a:rect l="l" t="t" r="r" b="b"/>
                <a:pathLst>
                  <a:path w="12700" h="9525">
                    <a:moveTo>
                      <a:pt x="0" y="0"/>
                    </a:moveTo>
                    <a:lnTo>
                      <a:pt x="12700" y="0"/>
                    </a:lnTo>
                  </a:path>
                </a:pathLst>
              </a:custGeom>
              <a:noFill/>
              <a:ln w="12700">
                <a:solidFill>
                  <a:srgbClr val="FFFFFF"/>
                </a:solidFill>
              </a:ln>
            </p:spPr>
          </p:sp>
          <p:sp>
            <p:nvSpPr>
              <p:cNvPr id="35" name="Freeform 35"/>
              <p:cNvSpPr/>
              <p:nvPr/>
            </p:nvSpPr>
            <p:spPr>
              <a:xfrm>
                <a:off x="514350" y="3025775"/>
                <a:ext cx="9525" cy="9525"/>
              </a:xfrm>
              <a:custGeom>
                <a:avLst/>
                <a:gdLst/>
                <a:ahLst/>
                <a:cxnLst/>
                <a:rect l="l" t="t" r="r" b="b"/>
                <a:pathLst>
                  <a:path w="9525" h="9525">
                    <a:moveTo>
                      <a:pt x="0" y="0"/>
                    </a:moveTo>
                    <a:lnTo>
                      <a:pt x="64" y="0"/>
                    </a:lnTo>
                  </a:path>
                </a:pathLst>
              </a:custGeom>
              <a:noFill/>
              <a:ln w="12700">
                <a:solidFill>
                  <a:srgbClr val="FFFFFF"/>
                </a:solidFill>
              </a:ln>
            </p:spPr>
          </p:sp>
          <p:sp>
            <p:nvSpPr>
              <p:cNvPr id="36" name="Freeform 36"/>
              <p:cNvSpPr/>
              <p:nvPr/>
            </p:nvSpPr>
            <p:spPr>
              <a:xfrm>
                <a:off x="539750" y="3025775"/>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38" name="TextBox 38"/>
            <p:cNvSpPr txBox="1"/>
            <p:nvPr/>
          </p:nvSpPr>
          <p:spPr>
            <a:xfrm>
              <a:off x="738188" y="2844641"/>
              <a:ext cx="738578"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制度 Systems</a:t>
              </a:r>
            </a:p>
          </p:txBody>
        </p:sp>
        <p:sp>
          <p:nvSpPr>
            <p:cNvPr id="39" name="TextBox 39"/>
            <p:cNvSpPr txBox="1"/>
            <p:nvPr/>
          </p:nvSpPr>
          <p:spPr>
            <a:xfrm>
              <a:off x="738188" y="3026807"/>
              <a:ext cx="130187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关键流程、管理制度与激励约束，</a:t>
              </a:r>
            </a:p>
          </p:txBody>
        </p:sp>
        <p:sp>
          <p:nvSpPr>
            <p:cNvPr id="40" name="TextBox 40"/>
            <p:cNvSpPr txBox="1"/>
            <p:nvPr/>
          </p:nvSpPr>
          <p:spPr>
            <a:xfrm>
              <a:off x="738188" y="3160157"/>
              <a:ext cx="138803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保障组织高效、合规、可持续运转。</a:t>
              </a:r>
            </a:p>
          </p:txBody>
        </p:sp>
        <p:sp>
          <p:nvSpPr>
            <p:cNvPr id="41" name="Rectangle 41"/>
            <p:cNvSpPr/>
            <p:nvPr/>
          </p:nvSpPr>
          <p:spPr>
            <a:xfrm>
              <a:off x="285750" y="3409950"/>
              <a:ext cx="2933700" cy="1466850"/>
            </a:xfrm>
            <a:prstGeom prst="rect">
              <a:avLst/>
            </a:prstGeom>
            <a:solidFill>
              <a:srgbClr val="EFF3FA"/>
            </a:solidFill>
            <a:ln w="9525">
              <a:solidFill>
                <a:srgbClr val="C7D2E4"/>
              </a:solidFill>
            </a:ln>
          </p:spPr>
        </p:sp>
        <p:sp>
          <p:nvSpPr>
            <p:cNvPr id="42" name="TextBox 42"/>
            <p:cNvSpPr txBox="1"/>
            <p:nvPr/>
          </p:nvSpPr>
          <p:spPr>
            <a:xfrm>
              <a:off x="414338" y="3553539"/>
              <a:ext cx="1498422"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规划视角：我们是否设计正确？</a:t>
              </a:r>
            </a:p>
          </p:txBody>
        </p:sp>
        <p:sp>
          <p:nvSpPr>
            <p:cNvPr id="43" name="TextBox 43"/>
            <p:cNvSpPr txBox="1"/>
            <p:nvPr/>
          </p:nvSpPr>
          <p:spPr>
            <a:xfrm>
              <a:off x="414338" y="3798332"/>
              <a:ext cx="1550391"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我们的战略是否清晰、聚焦且可取胜？</a:t>
              </a:r>
            </a:p>
          </p:txBody>
        </p:sp>
        <p:sp>
          <p:nvSpPr>
            <p:cNvPr id="44" name="TextBox 44"/>
            <p:cNvSpPr txBox="1"/>
            <p:nvPr/>
          </p:nvSpPr>
          <p:spPr>
            <a:xfrm>
              <a:off x="414338" y="3988832"/>
              <a:ext cx="1636547"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组织结构是否支撑战略执行与快速响应？</a:t>
              </a:r>
            </a:p>
          </p:txBody>
        </p:sp>
        <p:sp>
          <p:nvSpPr>
            <p:cNvPr id="45" name="TextBox 45"/>
            <p:cNvSpPr txBox="1"/>
            <p:nvPr/>
          </p:nvSpPr>
          <p:spPr>
            <a:xfrm>
              <a:off x="414338" y="4179332"/>
              <a:ext cx="1722704"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关键流程与制度是否简洁、高效、可落地？</a:t>
              </a:r>
            </a:p>
          </p:txBody>
        </p:sp>
      </p:grpSp>
      <p:grpSp>
        <p:nvGrpSpPr>
          <p:cNvPr id="119" name="center-ring"/>
          <p:cNvGrpSpPr/>
          <p:nvPr/>
        </p:nvGrpSpPr>
        <p:grpSpPr>
          <a:xfrm>
            <a:off x="3619500" y="1085850"/>
            <a:ext cx="3162300" cy="3543300"/>
            <a:chOff x="3619500" y="1085850"/>
            <a:chExt cx="3162300" cy="3543300"/>
          </a:xfrm>
        </p:grpSpPr>
        <p:grpSp>
          <p:nvGrpSpPr>
            <p:cNvPr id="53" name="Group 53"/>
            <p:cNvGrpSpPr/>
            <p:nvPr/>
          </p:nvGrpSpPr>
          <p:grpSpPr>
            <a:xfrm>
              <a:off x="3962400" y="1428750"/>
              <a:ext cx="2476500" cy="2857500"/>
              <a:chOff x="3962400" y="1428750"/>
              <a:chExt cx="2476500" cy="2857500"/>
            </a:xfrm>
          </p:grpSpPr>
          <p:sp>
            <p:nvSpPr>
              <p:cNvPr id="47" name="Line 47"/>
              <p:cNvSpPr/>
              <p:nvPr/>
            </p:nvSpPr>
            <p:spPr>
              <a:xfrm>
                <a:off x="5200650" y="1428750"/>
                <a:ext cx="9525" cy="1428750"/>
              </a:xfrm>
              <a:custGeom>
                <a:avLst/>
                <a:gdLst/>
                <a:ahLst/>
                <a:cxnLst/>
                <a:rect l="l" t="t" r="r" b="b"/>
                <a:pathLst>
                  <a:path w="9525" h="1428750">
                    <a:moveTo>
                      <a:pt x="0" y="1428750"/>
                    </a:moveTo>
                    <a:lnTo>
                      <a:pt x="0" y="0"/>
                    </a:lnTo>
                  </a:path>
                </a:pathLst>
              </a:custGeom>
              <a:noFill/>
              <a:ln w="9525">
                <a:solidFill>
                  <a:srgbClr val="C8998F"/>
                </a:solidFill>
              </a:ln>
            </p:spPr>
          </p:sp>
          <p:sp>
            <p:nvSpPr>
              <p:cNvPr id="48" name="Line 48"/>
              <p:cNvSpPr/>
              <p:nvPr/>
            </p:nvSpPr>
            <p:spPr>
              <a:xfrm>
                <a:off x="5200650" y="2143125"/>
                <a:ext cx="1238250" cy="714375"/>
              </a:xfrm>
              <a:custGeom>
                <a:avLst/>
                <a:gdLst/>
                <a:ahLst/>
                <a:cxnLst/>
                <a:rect l="l" t="t" r="r" b="b"/>
                <a:pathLst>
                  <a:path w="1238250" h="714375">
                    <a:moveTo>
                      <a:pt x="0" y="714375"/>
                    </a:moveTo>
                    <a:lnTo>
                      <a:pt x="1238250" y="0"/>
                    </a:lnTo>
                  </a:path>
                </a:pathLst>
              </a:custGeom>
              <a:noFill/>
              <a:ln w="9525">
                <a:solidFill>
                  <a:srgbClr val="C8998F"/>
                </a:solidFill>
              </a:ln>
            </p:spPr>
          </p:sp>
          <p:sp>
            <p:nvSpPr>
              <p:cNvPr id="49" name="Line 49"/>
              <p:cNvSpPr/>
              <p:nvPr/>
            </p:nvSpPr>
            <p:spPr>
              <a:xfrm>
                <a:off x="5200650" y="2857500"/>
                <a:ext cx="1238250" cy="714375"/>
              </a:xfrm>
              <a:custGeom>
                <a:avLst/>
                <a:gdLst/>
                <a:ahLst/>
                <a:cxnLst/>
                <a:rect l="l" t="t" r="r" b="b"/>
                <a:pathLst>
                  <a:path w="1238250" h="714375">
                    <a:moveTo>
                      <a:pt x="0" y="0"/>
                    </a:moveTo>
                    <a:lnTo>
                      <a:pt x="1238250" y="714375"/>
                    </a:lnTo>
                  </a:path>
                </a:pathLst>
              </a:custGeom>
              <a:noFill/>
              <a:ln w="9525">
                <a:solidFill>
                  <a:srgbClr val="C8998F"/>
                </a:solidFill>
              </a:ln>
            </p:spPr>
          </p:sp>
          <p:sp>
            <p:nvSpPr>
              <p:cNvPr id="50" name="Line 50"/>
              <p:cNvSpPr/>
              <p:nvPr/>
            </p:nvSpPr>
            <p:spPr>
              <a:xfrm>
                <a:off x="5200650" y="2857500"/>
                <a:ext cx="9525" cy="1428750"/>
              </a:xfrm>
              <a:custGeom>
                <a:avLst/>
                <a:gdLst/>
                <a:ahLst/>
                <a:cxnLst/>
                <a:rect l="l" t="t" r="r" b="b"/>
                <a:pathLst>
                  <a:path w="9525" h="1428750">
                    <a:moveTo>
                      <a:pt x="0" y="0"/>
                    </a:moveTo>
                    <a:lnTo>
                      <a:pt x="0" y="1428750"/>
                    </a:lnTo>
                  </a:path>
                </a:pathLst>
              </a:custGeom>
              <a:noFill/>
              <a:ln w="9525">
                <a:solidFill>
                  <a:srgbClr val="C8998F"/>
                </a:solidFill>
              </a:ln>
            </p:spPr>
          </p:sp>
          <p:sp>
            <p:nvSpPr>
              <p:cNvPr id="51" name="Line 51"/>
              <p:cNvSpPr/>
              <p:nvPr/>
            </p:nvSpPr>
            <p:spPr>
              <a:xfrm>
                <a:off x="3962400" y="2857500"/>
                <a:ext cx="1238250" cy="714375"/>
              </a:xfrm>
              <a:custGeom>
                <a:avLst/>
                <a:gdLst/>
                <a:ahLst/>
                <a:cxnLst/>
                <a:rect l="l" t="t" r="r" b="b"/>
                <a:pathLst>
                  <a:path w="1238250" h="714375">
                    <a:moveTo>
                      <a:pt x="1238250" y="0"/>
                    </a:moveTo>
                    <a:lnTo>
                      <a:pt x="0" y="714375"/>
                    </a:lnTo>
                  </a:path>
                </a:pathLst>
              </a:custGeom>
              <a:noFill/>
              <a:ln w="9525">
                <a:solidFill>
                  <a:srgbClr val="C8998F"/>
                </a:solidFill>
              </a:ln>
            </p:spPr>
          </p:sp>
          <p:sp>
            <p:nvSpPr>
              <p:cNvPr id="52" name="Line 52"/>
              <p:cNvSpPr/>
              <p:nvPr/>
            </p:nvSpPr>
            <p:spPr>
              <a:xfrm>
                <a:off x="3962400" y="2143125"/>
                <a:ext cx="1238250" cy="714375"/>
              </a:xfrm>
              <a:custGeom>
                <a:avLst/>
                <a:gdLst/>
                <a:ahLst/>
                <a:cxnLst/>
                <a:rect l="l" t="t" r="r" b="b"/>
                <a:pathLst>
                  <a:path w="1238250" h="714375">
                    <a:moveTo>
                      <a:pt x="1238250" y="714375"/>
                    </a:moveTo>
                    <a:lnTo>
                      <a:pt x="0" y="0"/>
                    </a:lnTo>
                  </a:path>
                </a:pathLst>
              </a:custGeom>
              <a:noFill/>
              <a:ln w="9525">
                <a:solidFill>
                  <a:srgbClr val="C8998F"/>
                </a:solidFill>
              </a:ln>
            </p:spPr>
          </p:sp>
        </p:grpSp>
        <p:grpSp>
          <p:nvGrpSpPr>
            <p:cNvPr id="60" name="Group 60"/>
            <p:cNvGrpSpPr/>
            <p:nvPr/>
          </p:nvGrpSpPr>
          <p:grpSpPr>
            <a:xfrm>
              <a:off x="3962400" y="1428750"/>
              <a:ext cx="2486025" cy="2857500"/>
              <a:chOff x="3962400" y="1428750"/>
              <a:chExt cx="2486025" cy="2857500"/>
            </a:xfrm>
          </p:grpSpPr>
          <p:sp>
            <p:nvSpPr>
              <p:cNvPr id="54" name="Line 54"/>
              <p:cNvSpPr/>
              <p:nvPr/>
            </p:nvSpPr>
            <p:spPr>
              <a:xfrm>
                <a:off x="5200650" y="1428750"/>
                <a:ext cx="1238250" cy="714375"/>
              </a:xfrm>
              <a:custGeom>
                <a:avLst/>
                <a:gdLst/>
                <a:ahLst/>
                <a:cxnLst/>
                <a:rect l="l" t="t" r="r" b="b"/>
                <a:pathLst>
                  <a:path w="1238250" h="714375">
                    <a:moveTo>
                      <a:pt x="0" y="0"/>
                    </a:moveTo>
                    <a:lnTo>
                      <a:pt x="1238250" y="714375"/>
                    </a:lnTo>
                  </a:path>
                </a:pathLst>
              </a:custGeom>
              <a:noFill/>
              <a:ln w="9525">
                <a:solidFill>
                  <a:srgbClr val="C8998F"/>
                </a:solidFill>
                <a:custDash>
                  <a:ds d="300000" sp="300000"/>
                </a:custDash>
              </a:ln>
            </p:spPr>
          </p:sp>
          <p:sp>
            <p:nvSpPr>
              <p:cNvPr id="55" name="Line 55"/>
              <p:cNvSpPr/>
              <p:nvPr/>
            </p:nvSpPr>
            <p:spPr>
              <a:xfrm>
                <a:off x="6438900" y="2143125"/>
                <a:ext cx="9525" cy="1428750"/>
              </a:xfrm>
              <a:custGeom>
                <a:avLst/>
                <a:gdLst/>
                <a:ahLst/>
                <a:cxnLst/>
                <a:rect l="l" t="t" r="r" b="b"/>
                <a:pathLst>
                  <a:path w="9525" h="1428750">
                    <a:moveTo>
                      <a:pt x="0" y="0"/>
                    </a:moveTo>
                    <a:lnTo>
                      <a:pt x="0" y="1428750"/>
                    </a:lnTo>
                  </a:path>
                </a:pathLst>
              </a:custGeom>
              <a:noFill/>
              <a:ln w="9525">
                <a:solidFill>
                  <a:srgbClr val="C8998F"/>
                </a:solidFill>
                <a:custDash>
                  <a:ds d="300000" sp="300000"/>
                </a:custDash>
              </a:ln>
            </p:spPr>
          </p:sp>
          <p:sp>
            <p:nvSpPr>
              <p:cNvPr id="56" name="Line 56"/>
              <p:cNvSpPr/>
              <p:nvPr/>
            </p:nvSpPr>
            <p:spPr>
              <a:xfrm>
                <a:off x="5200650" y="3571875"/>
                <a:ext cx="1238250" cy="714375"/>
              </a:xfrm>
              <a:custGeom>
                <a:avLst/>
                <a:gdLst/>
                <a:ahLst/>
                <a:cxnLst/>
                <a:rect l="l" t="t" r="r" b="b"/>
                <a:pathLst>
                  <a:path w="1238250" h="714375">
                    <a:moveTo>
                      <a:pt x="1238250" y="0"/>
                    </a:moveTo>
                    <a:lnTo>
                      <a:pt x="0" y="714375"/>
                    </a:lnTo>
                  </a:path>
                </a:pathLst>
              </a:custGeom>
              <a:noFill/>
              <a:ln w="9525">
                <a:solidFill>
                  <a:srgbClr val="C8998F"/>
                </a:solidFill>
                <a:custDash>
                  <a:ds d="300000" sp="300000"/>
                </a:custDash>
              </a:ln>
            </p:spPr>
          </p:sp>
          <p:sp>
            <p:nvSpPr>
              <p:cNvPr id="57" name="Line 57"/>
              <p:cNvSpPr/>
              <p:nvPr/>
            </p:nvSpPr>
            <p:spPr>
              <a:xfrm>
                <a:off x="3962400" y="3571875"/>
                <a:ext cx="1238250" cy="714375"/>
              </a:xfrm>
              <a:custGeom>
                <a:avLst/>
                <a:gdLst/>
                <a:ahLst/>
                <a:cxnLst/>
                <a:rect l="l" t="t" r="r" b="b"/>
                <a:pathLst>
                  <a:path w="1238250" h="714375">
                    <a:moveTo>
                      <a:pt x="1238250" y="714375"/>
                    </a:moveTo>
                    <a:lnTo>
                      <a:pt x="0" y="0"/>
                    </a:lnTo>
                  </a:path>
                </a:pathLst>
              </a:custGeom>
              <a:noFill/>
              <a:ln w="9525">
                <a:solidFill>
                  <a:srgbClr val="C8998F"/>
                </a:solidFill>
                <a:custDash>
                  <a:ds d="300000" sp="300000"/>
                </a:custDash>
              </a:ln>
            </p:spPr>
          </p:sp>
          <p:sp>
            <p:nvSpPr>
              <p:cNvPr id="58" name="Line 58"/>
              <p:cNvSpPr/>
              <p:nvPr/>
            </p:nvSpPr>
            <p:spPr>
              <a:xfrm>
                <a:off x="3962400" y="2143125"/>
                <a:ext cx="9525" cy="1428750"/>
              </a:xfrm>
              <a:custGeom>
                <a:avLst/>
                <a:gdLst/>
                <a:ahLst/>
                <a:cxnLst/>
                <a:rect l="l" t="t" r="r" b="b"/>
                <a:pathLst>
                  <a:path w="9525" h="1428750">
                    <a:moveTo>
                      <a:pt x="0" y="1428750"/>
                    </a:moveTo>
                    <a:lnTo>
                      <a:pt x="0" y="0"/>
                    </a:lnTo>
                  </a:path>
                </a:pathLst>
              </a:custGeom>
              <a:noFill/>
              <a:ln w="9525">
                <a:solidFill>
                  <a:srgbClr val="C8998F"/>
                </a:solidFill>
                <a:custDash>
                  <a:ds d="300000" sp="300000"/>
                </a:custDash>
              </a:ln>
            </p:spPr>
          </p:sp>
          <p:sp>
            <p:nvSpPr>
              <p:cNvPr id="59" name="Line 59"/>
              <p:cNvSpPr/>
              <p:nvPr/>
            </p:nvSpPr>
            <p:spPr>
              <a:xfrm>
                <a:off x="3962400" y="1428750"/>
                <a:ext cx="1238250" cy="714375"/>
              </a:xfrm>
              <a:custGeom>
                <a:avLst/>
                <a:gdLst/>
                <a:ahLst/>
                <a:cxnLst/>
                <a:rect l="l" t="t" r="r" b="b"/>
                <a:pathLst>
                  <a:path w="1238250" h="714375">
                    <a:moveTo>
                      <a:pt x="0" y="714375"/>
                    </a:moveTo>
                    <a:lnTo>
                      <a:pt x="1238250" y="0"/>
                    </a:lnTo>
                  </a:path>
                </a:pathLst>
              </a:custGeom>
              <a:noFill/>
              <a:ln w="9525">
                <a:solidFill>
                  <a:srgbClr val="C8998F"/>
                </a:solidFill>
                <a:custDash>
                  <a:ds d="300000" sp="300000"/>
                </a:custDash>
              </a:ln>
            </p:spPr>
          </p:sp>
        </p:grpSp>
        <p:sp>
          <p:nvSpPr>
            <p:cNvPr id="61" name="Ellipse 61"/>
            <p:cNvSpPr/>
            <p:nvPr/>
          </p:nvSpPr>
          <p:spPr>
            <a:xfrm>
              <a:off x="4591050" y="2247900"/>
              <a:ext cx="1219200" cy="1219200"/>
            </a:xfrm>
            <a:prstGeom prst="ellipse">
              <a:avLst/>
            </a:prstGeom>
            <a:solidFill>
              <a:srgbClr val="4E0D00"/>
            </a:solidFill>
            <a:ln>
              <a:noFill/>
            </a:ln>
          </p:spPr>
        </p:sp>
        <p:sp>
          <p:nvSpPr>
            <p:cNvPr id="62" name="TextBox 62"/>
            <p:cNvSpPr txBox="1"/>
            <p:nvPr/>
          </p:nvSpPr>
          <p:spPr>
            <a:xfrm>
              <a:off x="4892992" y="2665095"/>
              <a:ext cx="61531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共同价值观</a:t>
              </a:r>
            </a:p>
          </p:txBody>
        </p:sp>
        <p:sp>
          <p:nvSpPr>
            <p:cNvPr id="63" name="TextBox 63"/>
            <p:cNvSpPr txBox="1"/>
            <p:nvPr/>
          </p:nvSpPr>
          <p:spPr>
            <a:xfrm>
              <a:off x="4924787" y="2830830"/>
              <a:ext cx="551726" cy="119062"/>
            </a:xfrm>
            <a:prstGeom prst="rect">
              <a:avLst/>
            </a:prstGeom>
            <a:noFill/>
            <a:ln>
              <a:noFill/>
            </a:ln>
          </p:spPr>
          <p:txBody>
            <a:bodyPr wrap="none" lIns="0" tIns="0" rIns="0" bIns="0" anchor="t" anchorCtr="0">
              <a:spAutoFit/>
            </a:bodyPr>
            <a:lstStyle/>
            <a:p>
              <a:pPr algn="ctr"/>
              <a:r>
                <a:rPr lang="en-US" sz="600" dirty="0">
                  <a:solidFill>
                    <a:srgbClr val="C9D5EA"/>
                  </a:solidFill>
                  <a:latin typeface="+mn-lt"/>
                  <a:ea typeface="+mn-ea"/>
                  <a:cs typeface="+mn-cs"/>
                </a:rPr>
                <a:t>Shared Values</a:t>
              </a:r>
            </a:p>
          </p:txBody>
        </p:sp>
        <p:sp>
          <p:nvSpPr>
            <p:cNvPr id="64" name="TextBox 64"/>
            <p:cNvSpPr txBox="1"/>
            <p:nvPr/>
          </p:nvSpPr>
          <p:spPr>
            <a:xfrm>
              <a:off x="4818952" y="2987278"/>
              <a:ext cx="763397" cy="111919"/>
            </a:xfrm>
            <a:prstGeom prst="rect">
              <a:avLst/>
            </a:prstGeom>
            <a:noFill/>
            <a:ln>
              <a:noFill/>
            </a:ln>
          </p:spPr>
          <p:txBody>
            <a:bodyPr wrap="none" lIns="0" tIns="0" rIns="0" bIns="0" anchor="t" anchorCtr="0">
              <a:spAutoFit/>
            </a:bodyPr>
            <a:lstStyle/>
            <a:p>
              <a:pPr algn="ctr"/>
              <a:r>
                <a:rPr lang="zh-CN" sz="560" dirty="0">
                  <a:solidFill>
                    <a:srgbClr val="C9D5EA"/>
                  </a:solidFill>
                  <a:latin typeface="+mn-lt"/>
                  <a:ea typeface="+mn-ea"/>
                  <a:cs typeface="+mn-cs"/>
                </a:rPr>
                <a:t>组织存在的意义与行为</a:t>
              </a:r>
            </a:p>
          </p:txBody>
        </p:sp>
        <p:sp>
          <p:nvSpPr>
            <p:cNvPr id="65" name="TextBox 65"/>
            <p:cNvSpPr txBox="1"/>
            <p:nvPr/>
          </p:nvSpPr>
          <p:spPr>
            <a:xfrm>
              <a:off x="4818952" y="3101578"/>
              <a:ext cx="763397" cy="111919"/>
            </a:xfrm>
            <a:prstGeom prst="rect">
              <a:avLst/>
            </a:prstGeom>
            <a:noFill/>
            <a:ln>
              <a:noFill/>
            </a:ln>
          </p:spPr>
          <p:txBody>
            <a:bodyPr wrap="none" lIns="0" tIns="0" rIns="0" bIns="0" anchor="t" anchorCtr="0">
              <a:spAutoFit/>
            </a:bodyPr>
            <a:lstStyle/>
            <a:p>
              <a:pPr algn="ctr"/>
              <a:r>
                <a:rPr lang="zh-CN" sz="560" dirty="0">
                  <a:solidFill>
                    <a:srgbClr val="C9D5EA"/>
                  </a:solidFill>
                  <a:latin typeface="+mn-lt"/>
                  <a:ea typeface="+mn-ea"/>
                  <a:cs typeface="+mn-cs"/>
                </a:rPr>
                <a:t>准则的共识，是七要素</a:t>
              </a:r>
            </a:p>
          </p:txBody>
        </p:sp>
        <p:sp>
          <p:nvSpPr>
            <p:cNvPr id="66" name="TextBox 66"/>
            <p:cNvSpPr txBox="1"/>
            <p:nvPr/>
          </p:nvSpPr>
          <p:spPr>
            <a:xfrm>
              <a:off x="4818952" y="3215878"/>
              <a:ext cx="763397" cy="111919"/>
            </a:xfrm>
            <a:prstGeom prst="rect">
              <a:avLst/>
            </a:prstGeom>
            <a:noFill/>
            <a:ln>
              <a:noFill/>
            </a:ln>
          </p:spPr>
          <p:txBody>
            <a:bodyPr wrap="none" lIns="0" tIns="0" rIns="0" bIns="0" anchor="t" anchorCtr="0">
              <a:spAutoFit/>
            </a:bodyPr>
            <a:lstStyle/>
            <a:p>
              <a:pPr algn="ctr"/>
              <a:r>
                <a:rPr lang="zh-CN" sz="560" dirty="0">
                  <a:solidFill>
                    <a:srgbClr val="C9D5EA"/>
                  </a:solidFill>
                  <a:latin typeface="+mn-lt"/>
                  <a:ea typeface="+mn-ea"/>
                  <a:cs typeface="+mn-cs"/>
                </a:rPr>
                <a:t>对齐的核心与黏合剂。</a:t>
              </a:r>
            </a:p>
          </p:txBody>
        </p:sp>
        <p:sp>
          <p:nvSpPr>
            <p:cNvPr id="67" name="Ellipse 67"/>
            <p:cNvSpPr/>
            <p:nvPr/>
          </p:nvSpPr>
          <p:spPr>
            <a:xfrm>
              <a:off x="4857750" y="1085850"/>
              <a:ext cx="685800" cy="685800"/>
            </a:xfrm>
            <a:prstGeom prst="ellipse">
              <a:avLst/>
            </a:prstGeom>
            <a:solidFill>
              <a:srgbClr val="FFFFFF"/>
            </a:solidFill>
            <a:ln w="13335">
              <a:solidFill>
                <a:srgbClr val="4E0D00"/>
              </a:solidFill>
            </a:ln>
          </p:spPr>
        </p:sp>
        <p:grpSp>
          <p:nvGrpSpPr>
            <p:cNvPr id="71" name="Group 71"/>
            <p:cNvGrpSpPr/>
            <p:nvPr/>
          </p:nvGrpSpPr>
          <p:grpSpPr>
            <a:xfrm>
              <a:off x="5143500" y="1219200"/>
              <a:ext cx="114300" cy="114300"/>
              <a:chOff x="5143500" y="1219200"/>
              <a:chExt cx="114300" cy="114300"/>
            </a:xfrm>
          </p:grpSpPr>
          <p:sp>
            <p:nvSpPr>
              <p:cNvPr id="68" name="Freeform 68"/>
              <p:cNvSpPr/>
              <p:nvPr/>
            </p:nvSpPr>
            <p:spPr>
              <a:xfrm>
                <a:off x="5194300" y="127000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4E0D00"/>
                </a:solidFill>
              </a:ln>
            </p:spPr>
          </p:sp>
          <p:sp>
            <p:nvSpPr>
              <p:cNvPr id="69" name="Freeform 69"/>
              <p:cNvSpPr/>
              <p:nvPr/>
            </p:nvSpPr>
            <p:spPr>
              <a:xfrm>
                <a:off x="5168900" y="124460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4E0D00"/>
                </a:solidFill>
              </a:ln>
            </p:spPr>
          </p:sp>
          <p:sp>
            <p:nvSpPr>
              <p:cNvPr id="70" name="Freeform 70"/>
              <p:cNvSpPr/>
              <p:nvPr/>
            </p:nvSpPr>
            <p:spPr>
              <a:xfrm>
                <a:off x="5143500" y="121920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4E0D00"/>
                </a:solidFill>
              </a:ln>
            </p:spPr>
          </p:sp>
        </p:grpSp>
        <p:sp>
          <p:nvSpPr>
            <p:cNvPr id="72" name="TextBox 72"/>
            <p:cNvSpPr txBox="1"/>
            <p:nvPr/>
          </p:nvSpPr>
          <p:spPr>
            <a:xfrm>
              <a:off x="5089538" y="1419939"/>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战略</a:t>
              </a:r>
            </a:p>
          </p:txBody>
        </p:sp>
        <p:sp>
          <p:nvSpPr>
            <p:cNvPr id="73" name="TextBox 73"/>
            <p:cNvSpPr txBox="1"/>
            <p:nvPr/>
          </p:nvSpPr>
          <p:spPr>
            <a:xfrm>
              <a:off x="5040793" y="1562576"/>
              <a:ext cx="319715" cy="104775"/>
            </a:xfrm>
            <a:prstGeom prst="rect">
              <a:avLst/>
            </a:prstGeom>
            <a:noFill/>
            <a:ln>
              <a:noFill/>
            </a:ln>
          </p:spPr>
          <p:txBody>
            <a:bodyPr wrap="none" lIns="0" tIns="0" rIns="0" bIns="0" anchor="t" anchorCtr="0">
              <a:spAutoFit/>
            </a:bodyPr>
            <a:lstStyle/>
            <a:p>
              <a:pPr algn="ctr"/>
              <a:r>
                <a:rPr lang="en-US" sz="520" dirty="0">
                  <a:solidFill>
                    <a:srgbClr val="6E5955"/>
                  </a:solidFill>
                  <a:latin typeface="+mn-lt"/>
                  <a:ea typeface="+mn-ea"/>
                  <a:cs typeface="+mn-cs"/>
                </a:rPr>
                <a:t>Strategy</a:t>
              </a:r>
            </a:p>
          </p:txBody>
        </p:sp>
        <p:sp>
          <p:nvSpPr>
            <p:cNvPr id="74" name="Ellipse 74"/>
            <p:cNvSpPr/>
            <p:nvPr/>
          </p:nvSpPr>
          <p:spPr>
            <a:xfrm>
              <a:off x="6096000" y="1800225"/>
              <a:ext cx="685800" cy="685800"/>
            </a:xfrm>
            <a:prstGeom prst="ellipse">
              <a:avLst/>
            </a:prstGeom>
            <a:solidFill>
              <a:srgbClr val="FFFFFF"/>
            </a:solidFill>
            <a:ln w="13335">
              <a:solidFill>
                <a:srgbClr val="4E0D00"/>
              </a:solidFill>
            </a:ln>
          </p:spPr>
        </p:sp>
        <p:grpSp>
          <p:nvGrpSpPr>
            <p:cNvPr id="80" name="Group 80"/>
            <p:cNvGrpSpPr/>
            <p:nvPr/>
          </p:nvGrpSpPr>
          <p:grpSpPr>
            <a:xfrm>
              <a:off x="6381750" y="1933575"/>
              <a:ext cx="114300" cy="114300"/>
              <a:chOff x="6381750" y="1933575"/>
              <a:chExt cx="114300" cy="114300"/>
            </a:xfrm>
          </p:grpSpPr>
          <p:sp>
            <p:nvSpPr>
              <p:cNvPr id="75" name="Freeform 75"/>
              <p:cNvSpPr/>
              <p:nvPr/>
            </p:nvSpPr>
            <p:spPr>
              <a:xfrm>
                <a:off x="6381750" y="20097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4E0D00"/>
                </a:solidFill>
              </a:ln>
            </p:spPr>
          </p:sp>
          <p:sp>
            <p:nvSpPr>
              <p:cNvPr id="76" name="Freeform 76"/>
              <p:cNvSpPr/>
              <p:nvPr/>
            </p:nvSpPr>
            <p:spPr>
              <a:xfrm>
                <a:off x="6457950" y="20097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4E0D00"/>
                </a:solidFill>
              </a:ln>
            </p:spPr>
          </p:sp>
          <p:sp>
            <p:nvSpPr>
              <p:cNvPr id="77" name="Freeform 77"/>
              <p:cNvSpPr/>
              <p:nvPr/>
            </p:nvSpPr>
            <p:spPr>
              <a:xfrm>
                <a:off x="6419850" y="1933575"/>
                <a:ext cx="38100" cy="38100"/>
              </a:xfrm>
              <a:custGeom>
                <a:avLst/>
                <a:gdLst/>
                <a:ahLst/>
                <a:cxnLst/>
                <a:rect l="l" t="t" r="r" b="b"/>
                <a:pathLst>
                  <a:path w="38100" h="38100">
                    <a:moveTo>
                      <a:pt x="0" y="12700"/>
                    </a:moveTo>
                    <a:cubicBezTo>
                      <a:pt x="0" y="5686"/>
                      <a:pt x="5686" y="0"/>
                      <a:pt x="12700" y="0"/>
                    </a:cubicBezTo>
                    <a:lnTo>
                      <a:pt x="25400" y="0"/>
                    </a:lnTo>
                    <a:cubicBezTo>
                      <a:pt x="32414" y="0"/>
                      <a:pt x="38100" y="5686"/>
                      <a:pt x="38100" y="12700"/>
                    </a:cubicBezTo>
                    <a:lnTo>
                      <a:pt x="38100" y="25400"/>
                    </a:lnTo>
                    <a:cubicBezTo>
                      <a:pt x="38100" y="32414"/>
                      <a:pt x="32414" y="38100"/>
                      <a:pt x="25400" y="38100"/>
                    </a:cubicBezTo>
                    <a:lnTo>
                      <a:pt x="12700" y="38100"/>
                    </a:lnTo>
                    <a:cubicBezTo>
                      <a:pt x="5686" y="38100"/>
                      <a:pt x="0" y="32414"/>
                      <a:pt x="0" y="25400"/>
                    </a:cubicBezTo>
                    <a:lnTo>
                      <a:pt x="0" y="12700"/>
                    </a:lnTo>
                  </a:path>
                </a:pathLst>
              </a:custGeom>
              <a:noFill/>
              <a:ln w="12700">
                <a:solidFill>
                  <a:srgbClr val="4E0D00"/>
                </a:solidFill>
              </a:ln>
            </p:spPr>
          </p:sp>
          <p:sp>
            <p:nvSpPr>
              <p:cNvPr id="78" name="Freeform 78"/>
              <p:cNvSpPr/>
              <p:nvPr/>
            </p:nvSpPr>
            <p:spPr>
              <a:xfrm>
                <a:off x="6400800" y="1990725"/>
                <a:ext cx="76200" cy="19050"/>
              </a:xfrm>
              <a:custGeom>
                <a:avLst/>
                <a:gdLst/>
                <a:ahLst/>
                <a:cxnLst/>
                <a:rect l="l" t="t" r="r" b="b"/>
                <a:pathLst>
                  <a:path w="76200" h="19050">
                    <a:moveTo>
                      <a:pt x="0" y="19050"/>
                    </a:moveTo>
                    <a:lnTo>
                      <a:pt x="0" y="12700"/>
                    </a:lnTo>
                    <a:cubicBezTo>
                      <a:pt x="0" y="5686"/>
                      <a:pt x="5686" y="0"/>
                      <a:pt x="12700" y="0"/>
                    </a:cubicBezTo>
                    <a:lnTo>
                      <a:pt x="63500" y="0"/>
                    </a:lnTo>
                    <a:cubicBezTo>
                      <a:pt x="70514" y="0"/>
                      <a:pt x="76200" y="5686"/>
                      <a:pt x="76200" y="12700"/>
                    </a:cubicBezTo>
                    <a:lnTo>
                      <a:pt x="76200" y="19050"/>
                    </a:lnTo>
                  </a:path>
                </a:pathLst>
              </a:custGeom>
              <a:noFill/>
              <a:ln w="12700">
                <a:solidFill>
                  <a:srgbClr val="4E0D00"/>
                </a:solidFill>
              </a:ln>
            </p:spPr>
          </p:sp>
          <p:sp>
            <p:nvSpPr>
              <p:cNvPr id="79" name="Freeform 79"/>
              <p:cNvSpPr/>
              <p:nvPr/>
            </p:nvSpPr>
            <p:spPr>
              <a:xfrm>
                <a:off x="6438900" y="1971675"/>
                <a:ext cx="9525" cy="19050"/>
              </a:xfrm>
              <a:custGeom>
                <a:avLst/>
                <a:gdLst/>
                <a:ahLst/>
                <a:cxnLst/>
                <a:rect l="l" t="t" r="r" b="b"/>
                <a:pathLst>
                  <a:path w="9525" h="19050">
                    <a:moveTo>
                      <a:pt x="0" y="0"/>
                    </a:moveTo>
                    <a:lnTo>
                      <a:pt x="0" y="19050"/>
                    </a:lnTo>
                  </a:path>
                </a:pathLst>
              </a:custGeom>
              <a:noFill/>
              <a:ln w="12700">
                <a:solidFill>
                  <a:srgbClr val="4E0D00"/>
                </a:solidFill>
              </a:ln>
            </p:spPr>
          </p:sp>
        </p:grpSp>
        <p:sp>
          <p:nvSpPr>
            <p:cNvPr id="81" name="TextBox 81"/>
            <p:cNvSpPr txBox="1"/>
            <p:nvPr/>
          </p:nvSpPr>
          <p:spPr>
            <a:xfrm>
              <a:off x="6327788" y="2134314"/>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结构</a:t>
              </a:r>
            </a:p>
          </p:txBody>
        </p:sp>
        <p:sp>
          <p:nvSpPr>
            <p:cNvPr id="82" name="TextBox 82"/>
            <p:cNvSpPr txBox="1"/>
            <p:nvPr/>
          </p:nvSpPr>
          <p:spPr>
            <a:xfrm>
              <a:off x="6259792" y="2276951"/>
              <a:ext cx="358216" cy="104775"/>
            </a:xfrm>
            <a:prstGeom prst="rect">
              <a:avLst/>
            </a:prstGeom>
            <a:noFill/>
            <a:ln>
              <a:noFill/>
            </a:ln>
          </p:spPr>
          <p:txBody>
            <a:bodyPr wrap="none" lIns="0" tIns="0" rIns="0" bIns="0" anchor="t" anchorCtr="0">
              <a:spAutoFit/>
            </a:bodyPr>
            <a:lstStyle/>
            <a:p>
              <a:pPr algn="ctr"/>
              <a:r>
                <a:rPr lang="en-US" sz="520" dirty="0">
                  <a:solidFill>
                    <a:srgbClr val="6E5955"/>
                  </a:solidFill>
                  <a:latin typeface="+mn-lt"/>
                  <a:ea typeface="+mn-ea"/>
                  <a:cs typeface="+mn-cs"/>
                </a:rPr>
                <a:t>Structure</a:t>
              </a:r>
            </a:p>
          </p:txBody>
        </p:sp>
        <p:sp>
          <p:nvSpPr>
            <p:cNvPr id="83" name="Ellipse 83"/>
            <p:cNvSpPr/>
            <p:nvPr/>
          </p:nvSpPr>
          <p:spPr>
            <a:xfrm>
              <a:off x="6096000" y="3228975"/>
              <a:ext cx="685800" cy="685800"/>
            </a:xfrm>
            <a:prstGeom prst="ellipse">
              <a:avLst/>
            </a:prstGeom>
            <a:solidFill>
              <a:srgbClr val="FFFFFF"/>
            </a:solidFill>
            <a:ln w="13335">
              <a:solidFill>
                <a:srgbClr val="4E0D00"/>
              </a:solidFill>
            </a:ln>
          </p:spPr>
        </p:sp>
        <p:grpSp>
          <p:nvGrpSpPr>
            <p:cNvPr id="90" name="Group 90"/>
            <p:cNvGrpSpPr/>
            <p:nvPr/>
          </p:nvGrpSpPr>
          <p:grpSpPr>
            <a:xfrm>
              <a:off x="6394450" y="3362325"/>
              <a:ext cx="88900" cy="114300"/>
              <a:chOff x="6394450" y="3362325"/>
              <a:chExt cx="88900" cy="114300"/>
            </a:xfrm>
          </p:grpSpPr>
          <p:sp>
            <p:nvSpPr>
              <p:cNvPr id="84" name="Freeform 84"/>
              <p:cNvSpPr/>
              <p:nvPr/>
            </p:nvSpPr>
            <p:spPr>
              <a:xfrm>
                <a:off x="6394450" y="3375025"/>
                <a:ext cx="88900" cy="101600"/>
              </a:xfrm>
              <a:custGeom>
                <a:avLst/>
                <a:gdLst/>
                <a:ahLst/>
                <a:cxnLst/>
                <a:rect l="l" t="t" r="r" b="b"/>
                <a:pathLst>
                  <a:path w="88900" h="101600">
                    <a:moveTo>
                      <a:pt x="25400" y="0"/>
                    </a:moveTo>
                    <a:lnTo>
                      <a:pt x="12700" y="0"/>
                    </a:lnTo>
                    <a:cubicBezTo>
                      <a:pt x="5686" y="0"/>
                      <a:pt x="0" y="5686"/>
                      <a:pt x="0" y="12700"/>
                    </a:cubicBezTo>
                    <a:lnTo>
                      <a:pt x="0" y="88900"/>
                    </a:lnTo>
                    <a:cubicBezTo>
                      <a:pt x="0" y="95914"/>
                      <a:pt x="5686" y="101600"/>
                      <a:pt x="12700" y="101600"/>
                    </a:cubicBezTo>
                    <a:lnTo>
                      <a:pt x="76200" y="101600"/>
                    </a:lnTo>
                    <a:cubicBezTo>
                      <a:pt x="83214" y="101600"/>
                      <a:pt x="88900" y="95914"/>
                      <a:pt x="88900" y="88900"/>
                    </a:cubicBezTo>
                    <a:lnTo>
                      <a:pt x="88900" y="12700"/>
                    </a:lnTo>
                    <a:cubicBezTo>
                      <a:pt x="88900" y="5686"/>
                      <a:pt x="83214" y="0"/>
                      <a:pt x="76200" y="0"/>
                    </a:cubicBezTo>
                    <a:lnTo>
                      <a:pt x="63500" y="0"/>
                    </a:lnTo>
                  </a:path>
                </a:pathLst>
              </a:custGeom>
              <a:noFill/>
              <a:ln w="12700">
                <a:solidFill>
                  <a:srgbClr val="4E0D00"/>
                </a:solidFill>
              </a:ln>
            </p:spPr>
          </p:sp>
          <p:sp>
            <p:nvSpPr>
              <p:cNvPr id="85" name="Freeform 85"/>
              <p:cNvSpPr/>
              <p:nvPr/>
            </p:nvSpPr>
            <p:spPr>
              <a:xfrm>
                <a:off x="6419850" y="3362325"/>
                <a:ext cx="38100" cy="25400"/>
              </a:xfrm>
              <a:custGeom>
                <a:avLst/>
                <a:gdLst/>
                <a:ahLst/>
                <a:cxnLst/>
                <a:rect l="l" t="t" r="r" b="b"/>
                <a:pathLst>
                  <a:path w="38100" h="25400">
                    <a:moveTo>
                      <a:pt x="0" y="12700"/>
                    </a:moveTo>
                    <a:cubicBezTo>
                      <a:pt x="0" y="5686"/>
                      <a:pt x="5686" y="0"/>
                      <a:pt x="12700" y="0"/>
                    </a:cubicBezTo>
                    <a:lnTo>
                      <a:pt x="25400" y="0"/>
                    </a:lnTo>
                    <a:cubicBezTo>
                      <a:pt x="32414" y="0"/>
                      <a:pt x="38100" y="5686"/>
                      <a:pt x="38100" y="12700"/>
                    </a:cubicBezTo>
                    <a:cubicBezTo>
                      <a:pt x="38100" y="19714"/>
                      <a:pt x="32414" y="25400"/>
                      <a:pt x="25400" y="25400"/>
                    </a:cubicBezTo>
                    <a:lnTo>
                      <a:pt x="12700" y="25400"/>
                    </a:lnTo>
                    <a:cubicBezTo>
                      <a:pt x="5686" y="25400"/>
                      <a:pt x="0" y="19714"/>
                      <a:pt x="0" y="12700"/>
                    </a:cubicBezTo>
                  </a:path>
                </a:pathLst>
              </a:custGeom>
              <a:noFill/>
              <a:ln w="12700">
                <a:solidFill>
                  <a:srgbClr val="4E0D00"/>
                </a:solidFill>
              </a:ln>
            </p:spPr>
          </p:sp>
          <p:sp>
            <p:nvSpPr>
              <p:cNvPr id="86" name="Freeform 86"/>
              <p:cNvSpPr/>
              <p:nvPr/>
            </p:nvSpPr>
            <p:spPr>
              <a:xfrm>
                <a:off x="6419850" y="3419475"/>
                <a:ext cx="9525" cy="9525"/>
              </a:xfrm>
              <a:custGeom>
                <a:avLst/>
                <a:gdLst/>
                <a:ahLst/>
                <a:cxnLst/>
                <a:rect l="l" t="t" r="r" b="b"/>
                <a:pathLst>
                  <a:path w="9525" h="9525">
                    <a:moveTo>
                      <a:pt x="0" y="0"/>
                    </a:moveTo>
                    <a:lnTo>
                      <a:pt x="64" y="0"/>
                    </a:lnTo>
                  </a:path>
                </a:pathLst>
              </a:custGeom>
              <a:noFill/>
              <a:ln w="12700">
                <a:solidFill>
                  <a:srgbClr val="4E0D00"/>
                </a:solidFill>
              </a:ln>
            </p:spPr>
          </p:sp>
          <p:sp>
            <p:nvSpPr>
              <p:cNvPr id="87" name="Freeform 87"/>
              <p:cNvSpPr/>
              <p:nvPr/>
            </p:nvSpPr>
            <p:spPr>
              <a:xfrm>
                <a:off x="6445250" y="3419475"/>
                <a:ext cx="12700" cy="9525"/>
              </a:xfrm>
              <a:custGeom>
                <a:avLst/>
                <a:gdLst/>
                <a:ahLst/>
                <a:cxnLst/>
                <a:rect l="l" t="t" r="r" b="b"/>
                <a:pathLst>
                  <a:path w="12700" h="9525">
                    <a:moveTo>
                      <a:pt x="0" y="0"/>
                    </a:moveTo>
                    <a:lnTo>
                      <a:pt x="12700" y="0"/>
                    </a:lnTo>
                  </a:path>
                </a:pathLst>
              </a:custGeom>
              <a:noFill/>
              <a:ln w="12700">
                <a:solidFill>
                  <a:srgbClr val="4E0D00"/>
                </a:solidFill>
              </a:ln>
            </p:spPr>
          </p:sp>
          <p:sp>
            <p:nvSpPr>
              <p:cNvPr id="88" name="Freeform 88"/>
              <p:cNvSpPr/>
              <p:nvPr/>
            </p:nvSpPr>
            <p:spPr>
              <a:xfrm>
                <a:off x="6419850" y="3444875"/>
                <a:ext cx="9525" cy="9525"/>
              </a:xfrm>
              <a:custGeom>
                <a:avLst/>
                <a:gdLst/>
                <a:ahLst/>
                <a:cxnLst/>
                <a:rect l="l" t="t" r="r" b="b"/>
                <a:pathLst>
                  <a:path w="9525" h="9525">
                    <a:moveTo>
                      <a:pt x="0" y="0"/>
                    </a:moveTo>
                    <a:lnTo>
                      <a:pt x="64" y="0"/>
                    </a:lnTo>
                  </a:path>
                </a:pathLst>
              </a:custGeom>
              <a:noFill/>
              <a:ln w="12700">
                <a:solidFill>
                  <a:srgbClr val="4E0D00"/>
                </a:solidFill>
              </a:ln>
            </p:spPr>
          </p:sp>
          <p:sp>
            <p:nvSpPr>
              <p:cNvPr id="89" name="Freeform 89"/>
              <p:cNvSpPr/>
              <p:nvPr/>
            </p:nvSpPr>
            <p:spPr>
              <a:xfrm>
                <a:off x="6445250" y="3444875"/>
                <a:ext cx="12700" cy="9525"/>
              </a:xfrm>
              <a:custGeom>
                <a:avLst/>
                <a:gdLst/>
                <a:ahLst/>
                <a:cxnLst/>
                <a:rect l="l" t="t" r="r" b="b"/>
                <a:pathLst>
                  <a:path w="12700" h="9525">
                    <a:moveTo>
                      <a:pt x="0" y="0"/>
                    </a:moveTo>
                    <a:lnTo>
                      <a:pt x="12700" y="0"/>
                    </a:lnTo>
                  </a:path>
                </a:pathLst>
              </a:custGeom>
              <a:noFill/>
              <a:ln w="12700">
                <a:solidFill>
                  <a:srgbClr val="4E0D00"/>
                </a:solidFill>
              </a:ln>
            </p:spPr>
          </p:sp>
        </p:grpSp>
        <p:sp>
          <p:nvSpPr>
            <p:cNvPr id="91" name="TextBox 91"/>
            <p:cNvSpPr txBox="1"/>
            <p:nvPr/>
          </p:nvSpPr>
          <p:spPr>
            <a:xfrm>
              <a:off x="6327788" y="3563064"/>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制度</a:t>
              </a:r>
            </a:p>
          </p:txBody>
        </p:sp>
        <p:sp>
          <p:nvSpPr>
            <p:cNvPr id="92" name="TextBox 92"/>
            <p:cNvSpPr txBox="1"/>
            <p:nvPr/>
          </p:nvSpPr>
          <p:spPr>
            <a:xfrm>
              <a:off x="6291236" y="3705701"/>
              <a:ext cx="295327" cy="104775"/>
            </a:xfrm>
            <a:prstGeom prst="rect">
              <a:avLst/>
            </a:prstGeom>
            <a:noFill/>
            <a:ln>
              <a:noFill/>
            </a:ln>
          </p:spPr>
          <p:txBody>
            <a:bodyPr wrap="none" lIns="0" tIns="0" rIns="0" bIns="0" anchor="t" anchorCtr="0">
              <a:spAutoFit/>
            </a:bodyPr>
            <a:lstStyle/>
            <a:p>
              <a:pPr algn="ctr"/>
              <a:r>
                <a:rPr lang="en-US" sz="520" dirty="0">
                  <a:solidFill>
                    <a:srgbClr val="6E5955"/>
                  </a:solidFill>
                  <a:latin typeface="+mn-lt"/>
                  <a:ea typeface="+mn-ea"/>
                  <a:cs typeface="+mn-cs"/>
                </a:rPr>
                <a:t>Systems</a:t>
              </a:r>
            </a:p>
          </p:txBody>
        </p:sp>
        <p:sp>
          <p:nvSpPr>
            <p:cNvPr id="93" name="Ellipse 93"/>
            <p:cNvSpPr/>
            <p:nvPr/>
          </p:nvSpPr>
          <p:spPr>
            <a:xfrm>
              <a:off x="4857750" y="3943350"/>
              <a:ext cx="685800" cy="685800"/>
            </a:xfrm>
            <a:prstGeom prst="ellipse">
              <a:avLst/>
            </a:prstGeom>
            <a:solidFill>
              <a:srgbClr val="FFFFFF"/>
            </a:solidFill>
            <a:ln w="13335">
              <a:solidFill>
                <a:srgbClr val="4E0D00"/>
              </a:solidFill>
            </a:ln>
          </p:spPr>
        </p:sp>
        <p:grpSp>
          <p:nvGrpSpPr>
            <p:cNvPr id="100" name="Group 100"/>
            <p:cNvGrpSpPr/>
            <p:nvPr/>
          </p:nvGrpSpPr>
          <p:grpSpPr>
            <a:xfrm>
              <a:off x="5143500" y="4076700"/>
              <a:ext cx="114300" cy="114300"/>
              <a:chOff x="5143500" y="4076700"/>
              <a:chExt cx="114300" cy="114300"/>
            </a:xfrm>
          </p:grpSpPr>
          <p:sp>
            <p:nvSpPr>
              <p:cNvPr id="94" name="Freeform 94"/>
              <p:cNvSpPr/>
              <p:nvPr/>
            </p:nvSpPr>
            <p:spPr>
              <a:xfrm>
                <a:off x="5200650" y="4140200"/>
                <a:ext cx="44450" cy="50800"/>
              </a:xfrm>
              <a:custGeom>
                <a:avLst/>
                <a:gdLst/>
                <a:ahLst/>
                <a:cxnLst/>
                <a:rect l="l" t="t" r="r" b="b"/>
                <a:pathLst>
                  <a:path w="44450" h="50800">
                    <a:moveTo>
                      <a:pt x="22225" y="0"/>
                    </a:moveTo>
                    <a:cubicBezTo>
                      <a:pt x="9950" y="0"/>
                      <a:pt x="0" y="9950"/>
                      <a:pt x="0" y="22225"/>
                    </a:cubicBezTo>
                    <a:lnTo>
                      <a:pt x="0" y="28575"/>
                    </a:lnTo>
                    <a:cubicBezTo>
                      <a:pt x="0" y="40850"/>
                      <a:pt x="9950" y="50800"/>
                      <a:pt x="22225" y="50800"/>
                    </a:cubicBezTo>
                    <a:cubicBezTo>
                      <a:pt x="34500" y="50800"/>
                      <a:pt x="44450" y="40850"/>
                      <a:pt x="44450" y="28575"/>
                    </a:cubicBezTo>
                    <a:lnTo>
                      <a:pt x="44450" y="17145"/>
                    </a:lnTo>
                  </a:path>
                </a:pathLst>
              </a:custGeom>
              <a:noFill/>
              <a:ln w="12700">
                <a:solidFill>
                  <a:srgbClr val="4E0D00"/>
                </a:solidFill>
              </a:ln>
            </p:spPr>
          </p:sp>
          <p:sp>
            <p:nvSpPr>
              <p:cNvPr id="95" name="Freeform 95"/>
              <p:cNvSpPr/>
              <p:nvPr/>
            </p:nvSpPr>
            <p:spPr>
              <a:xfrm>
                <a:off x="5156200" y="4140200"/>
                <a:ext cx="44450" cy="50800"/>
              </a:xfrm>
              <a:custGeom>
                <a:avLst/>
                <a:gdLst/>
                <a:ahLst/>
                <a:cxnLst/>
                <a:rect l="l" t="t" r="r" b="b"/>
                <a:pathLst>
                  <a:path w="44450" h="50800">
                    <a:moveTo>
                      <a:pt x="22225" y="0"/>
                    </a:moveTo>
                    <a:cubicBezTo>
                      <a:pt x="34500" y="0"/>
                      <a:pt x="44450" y="9950"/>
                      <a:pt x="44450" y="22225"/>
                    </a:cubicBezTo>
                    <a:lnTo>
                      <a:pt x="44450" y="28575"/>
                    </a:lnTo>
                    <a:cubicBezTo>
                      <a:pt x="44450" y="40850"/>
                      <a:pt x="34500" y="50800"/>
                      <a:pt x="22225" y="50800"/>
                    </a:cubicBezTo>
                    <a:cubicBezTo>
                      <a:pt x="9950" y="50800"/>
                      <a:pt x="0" y="40850"/>
                      <a:pt x="0" y="28575"/>
                    </a:cubicBezTo>
                    <a:lnTo>
                      <a:pt x="0" y="17145"/>
                    </a:lnTo>
                  </a:path>
                </a:pathLst>
              </a:custGeom>
              <a:noFill/>
              <a:ln w="12700">
                <a:solidFill>
                  <a:srgbClr val="4E0D00"/>
                </a:solidFill>
              </a:ln>
            </p:spPr>
          </p:sp>
          <p:sp>
            <p:nvSpPr>
              <p:cNvPr id="96" name="Freeform 96"/>
              <p:cNvSpPr/>
              <p:nvPr/>
            </p:nvSpPr>
            <p:spPr>
              <a:xfrm>
                <a:off x="5232400" y="4114800"/>
                <a:ext cx="25400" cy="44450"/>
              </a:xfrm>
              <a:custGeom>
                <a:avLst/>
                <a:gdLst/>
                <a:ahLst/>
                <a:cxnLst/>
                <a:rect l="l" t="t" r="r" b="b"/>
                <a:pathLst>
                  <a:path w="25400" h="44450">
                    <a:moveTo>
                      <a:pt x="3175" y="44450"/>
                    </a:moveTo>
                    <a:cubicBezTo>
                      <a:pt x="15450" y="44450"/>
                      <a:pt x="25400" y="34500"/>
                      <a:pt x="25400" y="22225"/>
                    </a:cubicBezTo>
                    <a:cubicBezTo>
                      <a:pt x="25400" y="9950"/>
                      <a:pt x="15450" y="0"/>
                      <a:pt x="3175" y="0"/>
                    </a:cubicBezTo>
                    <a:lnTo>
                      <a:pt x="0" y="0"/>
                    </a:lnTo>
                  </a:path>
                </a:pathLst>
              </a:custGeom>
              <a:noFill/>
              <a:ln w="12700">
                <a:solidFill>
                  <a:srgbClr val="4E0D00"/>
                </a:solidFill>
              </a:ln>
            </p:spPr>
          </p:sp>
          <p:sp>
            <p:nvSpPr>
              <p:cNvPr id="97" name="Freeform 97"/>
              <p:cNvSpPr/>
              <p:nvPr/>
            </p:nvSpPr>
            <p:spPr>
              <a:xfrm>
                <a:off x="5200650" y="4076700"/>
                <a:ext cx="44450" cy="40005"/>
              </a:xfrm>
              <a:custGeom>
                <a:avLst/>
                <a:gdLst/>
                <a:ahLst/>
                <a:cxnLst/>
                <a:rect l="l" t="t" r="r" b="b"/>
                <a:pathLst>
                  <a:path w="44450" h="40005">
                    <a:moveTo>
                      <a:pt x="44450" y="40005"/>
                    </a:moveTo>
                    <a:lnTo>
                      <a:pt x="44450" y="22225"/>
                    </a:lnTo>
                    <a:cubicBezTo>
                      <a:pt x="44450" y="9950"/>
                      <a:pt x="34500" y="0"/>
                      <a:pt x="22225" y="0"/>
                    </a:cubicBezTo>
                    <a:cubicBezTo>
                      <a:pt x="9950" y="0"/>
                      <a:pt x="0" y="9950"/>
                      <a:pt x="0" y="22225"/>
                    </a:cubicBezTo>
                  </a:path>
                </a:pathLst>
              </a:custGeom>
              <a:noFill/>
              <a:ln w="12700">
                <a:solidFill>
                  <a:srgbClr val="4E0D00"/>
                </a:solidFill>
              </a:ln>
            </p:spPr>
          </p:sp>
          <p:sp>
            <p:nvSpPr>
              <p:cNvPr id="98" name="Freeform 98"/>
              <p:cNvSpPr/>
              <p:nvPr/>
            </p:nvSpPr>
            <p:spPr>
              <a:xfrm>
                <a:off x="5143500" y="4114800"/>
                <a:ext cx="25400" cy="44450"/>
              </a:xfrm>
              <a:custGeom>
                <a:avLst/>
                <a:gdLst/>
                <a:ahLst/>
                <a:cxnLst/>
                <a:rect l="l" t="t" r="r" b="b"/>
                <a:pathLst>
                  <a:path w="25400" h="44450">
                    <a:moveTo>
                      <a:pt x="22225" y="44450"/>
                    </a:moveTo>
                    <a:cubicBezTo>
                      <a:pt x="9950" y="44450"/>
                      <a:pt x="0" y="34500"/>
                      <a:pt x="0" y="22225"/>
                    </a:cubicBezTo>
                    <a:cubicBezTo>
                      <a:pt x="0" y="9950"/>
                      <a:pt x="9950" y="0"/>
                      <a:pt x="22225" y="0"/>
                    </a:cubicBezTo>
                    <a:lnTo>
                      <a:pt x="25400" y="0"/>
                    </a:lnTo>
                  </a:path>
                </a:pathLst>
              </a:custGeom>
              <a:noFill/>
              <a:ln w="12700">
                <a:solidFill>
                  <a:srgbClr val="4E0D00"/>
                </a:solidFill>
              </a:ln>
            </p:spPr>
          </p:sp>
          <p:sp>
            <p:nvSpPr>
              <p:cNvPr id="99" name="Freeform 99"/>
              <p:cNvSpPr/>
              <p:nvPr/>
            </p:nvSpPr>
            <p:spPr>
              <a:xfrm>
                <a:off x="5156200" y="4076700"/>
                <a:ext cx="44450" cy="85725"/>
              </a:xfrm>
              <a:custGeom>
                <a:avLst/>
                <a:gdLst/>
                <a:ahLst/>
                <a:cxnLst/>
                <a:rect l="l" t="t" r="r" b="b"/>
                <a:pathLst>
                  <a:path w="44450" h="85725">
                    <a:moveTo>
                      <a:pt x="0" y="40005"/>
                    </a:moveTo>
                    <a:lnTo>
                      <a:pt x="0" y="22225"/>
                    </a:lnTo>
                    <a:cubicBezTo>
                      <a:pt x="0" y="9950"/>
                      <a:pt x="9950" y="0"/>
                      <a:pt x="22225" y="0"/>
                    </a:cubicBezTo>
                    <a:cubicBezTo>
                      <a:pt x="34500" y="0"/>
                      <a:pt x="44450" y="9950"/>
                      <a:pt x="44450" y="22225"/>
                    </a:cubicBezTo>
                    <a:lnTo>
                      <a:pt x="44450" y="85725"/>
                    </a:lnTo>
                  </a:path>
                </a:pathLst>
              </a:custGeom>
              <a:noFill/>
              <a:ln w="12700">
                <a:solidFill>
                  <a:srgbClr val="4E0D00"/>
                </a:solidFill>
              </a:ln>
            </p:spPr>
          </p:sp>
        </p:grpSp>
        <p:sp>
          <p:nvSpPr>
            <p:cNvPr id="101" name="TextBox 101"/>
            <p:cNvSpPr txBox="1"/>
            <p:nvPr/>
          </p:nvSpPr>
          <p:spPr>
            <a:xfrm>
              <a:off x="5089538" y="4277439"/>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能力</a:t>
              </a:r>
            </a:p>
          </p:txBody>
        </p:sp>
        <p:sp>
          <p:nvSpPr>
            <p:cNvPr id="102" name="TextBox 102"/>
            <p:cNvSpPr txBox="1"/>
            <p:nvPr/>
          </p:nvSpPr>
          <p:spPr>
            <a:xfrm>
              <a:off x="5105792" y="4420076"/>
              <a:ext cx="189715" cy="104775"/>
            </a:xfrm>
            <a:prstGeom prst="rect">
              <a:avLst/>
            </a:prstGeom>
            <a:noFill/>
            <a:ln>
              <a:noFill/>
            </a:ln>
          </p:spPr>
          <p:txBody>
            <a:bodyPr wrap="none" lIns="0" tIns="0" rIns="0" bIns="0" anchor="t" anchorCtr="0">
              <a:spAutoFit/>
            </a:bodyPr>
            <a:lstStyle/>
            <a:p>
              <a:pPr algn="ctr"/>
              <a:r>
                <a:rPr lang="en-US" sz="520" dirty="0">
                  <a:solidFill>
                    <a:srgbClr val="6E5955"/>
                  </a:solidFill>
                  <a:latin typeface="+mn-lt"/>
                  <a:ea typeface="+mn-ea"/>
                  <a:cs typeface="+mn-cs"/>
                </a:rPr>
                <a:t>Skills</a:t>
              </a:r>
            </a:p>
          </p:txBody>
        </p:sp>
        <p:sp>
          <p:nvSpPr>
            <p:cNvPr id="103" name="Ellipse 103"/>
            <p:cNvSpPr/>
            <p:nvPr/>
          </p:nvSpPr>
          <p:spPr>
            <a:xfrm>
              <a:off x="3619500" y="3228975"/>
              <a:ext cx="685800" cy="685800"/>
            </a:xfrm>
            <a:prstGeom prst="ellipse">
              <a:avLst/>
            </a:prstGeom>
            <a:solidFill>
              <a:srgbClr val="FFFFFF"/>
            </a:solidFill>
            <a:ln w="13335">
              <a:solidFill>
                <a:srgbClr val="4E0D00"/>
              </a:solidFill>
            </a:ln>
          </p:spPr>
        </p:sp>
        <p:grpSp>
          <p:nvGrpSpPr>
            <p:cNvPr id="110" name="Group 110"/>
            <p:cNvGrpSpPr/>
            <p:nvPr/>
          </p:nvGrpSpPr>
          <p:grpSpPr>
            <a:xfrm>
              <a:off x="3905250" y="3362325"/>
              <a:ext cx="114300" cy="114300"/>
              <a:chOff x="3905250" y="3362325"/>
              <a:chExt cx="114300" cy="114300"/>
            </a:xfrm>
          </p:grpSpPr>
          <p:sp>
            <p:nvSpPr>
              <p:cNvPr id="104" name="Freeform 104"/>
              <p:cNvSpPr/>
              <p:nvPr/>
            </p:nvSpPr>
            <p:spPr>
              <a:xfrm>
                <a:off x="3949700" y="34131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105" name="Freeform 105"/>
              <p:cNvSpPr/>
              <p:nvPr/>
            </p:nvSpPr>
            <p:spPr>
              <a:xfrm>
                <a:off x="3937000" y="3457575"/>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4E0D00"/>
                </a:solidFill>
              </a:ln>
            </p:spPr>
          </p:sp>
          <p:sp>
            <p:nvSpPr>
              <p:cNvPr id="106" name="Freeform 106"/>
              <p:cNvSpPr/>
              <p:nvPr/>
            </p:nvSpPr>
            <p:spPr>
              <a:xfrm>
                <a:off x="3981450" y="33623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107" name="Freeform 107"/>
              <p:cNvSpPr/>
              <p:nvPr/>
            </p:nvSpPr>
            <p:spPr>
              <a:xfrm>
                <a:off x="3994150" y="3406775"/>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4E0D00"/>
                </a:solidFill>
              </a:ln>
            </p:spPr>
          </p:sp>
          <p:sp>
            <p:nvSpPr>
              <p:cNvPr id="108" name="Freeform 108"/>
              <p:cNvSpPr/>
              <p:nvPr/>
            </p:nvSpPr>
            <p:spPr>
              <a:xfrm>
                <a:off x="3917950" y="33623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109" name="Freeform 109"/>
              <p:cNvSpPr/>
              <p:nvPr/>
            </p:nvSpPr>
            <p:spPr>
              <a:xfrm>
                <a:off x="3905250" y="3406775"/>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4E0D00"/>
                </a:solidFill>
              </a:ln>
            </p:spPr>
          </p:sp>
        </p:grpSp>
        <p:sp>
          <p:nvSpPr>
            <p:cNvPr id="111" name="TextBox 111"/>
            <p:cNvSpPr txBox="1"/>
            <p:nvPr/>
          </p:nvSpPr>
          <p:spPr>
            <a:xfrm>
              <a:off x="3851288" y="3563064"/>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人员</a:t>
              </a:r>
            </a:p>
          </p:txBody>
        </p:sp>
        <p:sp>
          <p:nvSpPr>
            <p:cNvPr id="112" name="TextBox 112"/>
            <p:cNvSpPr txBox="1"/>
            <p:nvPr/>
          </p:nvSpPr>
          <p:spPr>
            <a:xfrm>
              <a:off x="3860295" y="3705701"/>
              <a:ext cx="204211" cy="104775"/>
            </a:xfrm>
            <a:prstGeom prst="rect">
              <a:avLst/>
            </a:prstGeom>
            <a:noFill/>
            <a:ln>
              <a:noFill/>
            </a:ln>
          </p:spPr>
          <p:txBody>
            <a:bodyPr wrap="none" lIns="0" tIns="0" rIns="0" bIns="0" anchor="t" anchorCtr="0">
              <a:spAutoFit/>
            </a:bodyPr>
            <a:lstStyle/>
            <a:p>
              <a:pPr algn="ctr"/>
              <a:r>
                <a:rPr lang="en-US" sz="520" dirty="0">
                  <a:solidFill>
                    <a:srgbClr val="6E5955"/>
                  </a:solidFill>
                  <a:latin typeface="+mn-lt"/>
                  <a:ea typeface="+mn-ea"/>
                  <a:cs typeface="+mn-cs"/>
                </a:rPr>
                <a:t>Staff</a:t>
              </a:r>
            </a:p>
          </p:txBody>
        </p:sp>
        <p:sp>
          <p:nvSpPr>
            <p:cNvPr id="113" name="Ellipse 113"/>
            <p:cNvSpPr/>
            <p:nvPr/>
          </p:nvSpPr>
          <p:spPr>
            <a:xfrm>
              <a:off x="3619500" y="1800225"/>
              <a:ext cx="685800" cy="685800"/>
            </a:xfrm>
            <a:prstGeom prst="ellipse">
              <a:avLst/>
            </a:prstGeom>
            <a:solidFill>
              <a:srgbClr val="FFFFFF"/>
            </a:solidFill>
            <a:ln w="13335">
              <a:solidFill>
                <a:srgbClr val="4E0D00"/>
              </a:solidFill>
            </a:ln>
          </p:spPr>
        </p:sp>
        <p:grpSp>
          <p:nvGrpSpPr>
            <p:cNvPr id="116" name="Group 116"/>
            <p:cNvGrpSpPr/>
            <p:nvPr/>
          </p:nvGrpSpPr>
          <p:grpSpPr>
            <a:xfrm>
              <a:off x="3917950" y="1934174"/>
              <a:ext cx="88900" cy="113701"/>
              <a:chOff x="3917950" y="1934174"/>
              <a:chExt cx="88900" cy="113701"/>
            </a:xfrm>
          </p:grpSpPr>
          <p:sp>
            <p:nvSpPr>
              <p:cNvPr id="114" name="Freeform 114"/>
              <p:cNvSpPr/>
              <p:nvPr/>
            </p:nvSpPr>
            <p:spPr>
              <a:xfrm>
                <a:off x="3917950" y="1934174"/>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4E0D00"/>
                </a:solidFill>
              </a:ln>
            </p:spPr>
          </p:sp>
          <p:sp>
            <p:nvSpPr>
              <p:cNvPr id="115" name="Freeform 115"/>
              <p:cNvSpPr/>
              <p:nvPr/>
            </p:nvSpPr>
            <p:spPr>
              <a:xfrm>
                <a:off x="3917950" y="2003425"/>
                <a:ext cx="9525" cy="44450"/>
              </a:xfrm>
              <a:custGeom>
                <a:avLst/>
                <a:gdLst/>
                <a:ahLst/>
                <a:cxnLst/>
                <a:rect l="l" t="t" r="r" b="b"/>
                <a:pathLst>
                  <a:path w="9525" h="44450">
                    <a:moveTo>
                      <a:pt x="0" y="44450"/>
                    </a:moveTo>
                    <a:lnTo>
                      <a:pt x="0" y="0"/>
                    </a:lnTo>
                  </a:path>
                </a:pathLst>
              </a:custGeom>
              <a:noFill/>
              <a:ln w="12700">
                <a:solidFill>
                  <a:srgbClr val="4E0D00"/>
                </a:solidFill>
              </a:ln>
            </p:spPr>
          </p:sp>
        </p:grpSp>
        <p:sp>
          <p:nvSpPr>
            <p:cNvPr id="117" name="TextBox 117"/>
            <p:cNvSpPr txBox="1"/>
            <p:nvPr/>
          </p:nvSpPr>
          <p:spPr>
            <a:xfrm>
              <a:off x="3851288" y="2134314"/>
              <a:ext cx="22222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风格</a:t>
              </a:r>
            </a:p>
          </p:txBody>
        </p:sp>
        <p:sp>
          <p:nvSpPr>
            <p:cNvPr id="118" name="TextBox 118"/>
            <p:cNvSpPr txBox="1"/>
            <p:nvPr/>
          </p:nvSpPr>
          <p:spPr>
            <a:xfrm>
              <a:off x="3869144" y="2276951"/>
              <a:ext cx="186512" cy="104775"/>
            </a:xfrm>
            <a:prstGeom prst="rect">
              <a:avLst/>
            </a:prstGeom>
            <a:noFill/>
            <a:ln>
              <a:noFill/>
            </a:ln>
          </p:spPr>
          <p:txBody>
            <a:bodyPr wrap="none" lIns="0" tIns="0" rIns="0" bIns="0" anchor="t" anchorCtr="0">
              <a:spAutoFit/>
            </a:bodyPr>
            <a:lstStyle/>
            <a:p>
              <a:pPr algn="ctr"/>
              <a:r>
                <a:rPr lang="en-US" sz="520" dirty="0">
                  <a:solidFill>
                    <a:srgbClr val="6E5955"/>
                  </a:solidFill>
                  <a:latin typeface="+mn-lt"/>
                  <a:ea typeface="+mn-ea"/>
                  <a:cs typeface="+mn-cs"/>
                </a:rPr>
                <a:t>Style</a:t>
              </a:r>
            </a:p>
          </p:txBody>
        </p:sp>
      </p:grpSp>
      <p:grpSp>
        <p:nvGrpSpPr>
          <p:cNvPr id="169" name="soft-panel"/>
          <p:cNvGrpSpPr/>
          <p:nvPr/>
        </p:nvGrpSpPr>
        <p:grpSpPr>
          <a:xfrm>
            <a:off x="7124700" y="800100"/>
            <a:ext cx="4838700" cy="4076700"/>
            <a:chOff x="7124700" y="800100"/>
            <a:chExt cx="4838700" cy="4076700"/>
          </a:xfrm>
        </p:grpSpPr>
        <p:sp>
          <p:nvSpPr>
            <p:cNvPr id="120" name="Rectangle 120"/>
            <p:cNvSpPr/>
            <p:nvPr/>
          </p:nvSpPr>
          <p:spPr>
            <a:xfrm>
              <a:off x="7124700" y="800100"/>
              <a:ext cx="4838700" cy="381000"/>
            </a:xfrm>
            <a:prstGeom prst="rect">
              <a:avLst/>
            </a:prstGeom>
            <a:solidFill>
              <a:srgbClr val="4E0D00"/>
            </a:solidFill>
            <a:ln>
              <a:noFill/>
            </a:ln>
          </p:spPr>
        </p:sp>
        <p:sp>
          <p:nvSpPr>
            <p:cNvPr id="121" name="TextBox 121"/>
            <p:cNvSpPr txBox="1"/>
            <p:nvPr/>
          </p:nvSpPr>
          <p:spPr>
            <a:xfrm>
              <a:off x="8952445" y="879872"/>
              <a:ext cx="1183211"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软性要素（Soft S）</a:t>
              </a:r>
            </a:p>
          </p:txBody>
        </p:sp>
        <p:sp>
          <p:nvSpPr>
            <p:cNvPr id="122" name="TextBox 122"/>
            <p:cNvSpPr txBox="1"/>
            <p:nvPr/>
          </p:nvSpPr>
          <p:spPr>
            <a:xfrm>
              <a:off x="8893112" y="1055132"/>
              <a:ext cx="1301877" cy="126206"/>
            </a:xfrm>
            <a:prstGeom prst="rect">
              <a:avLst/>
            </a:prstGeom>
            <a:noFill/>
            <a:ln>
              <a:noFill/>
            </a:ln>
          </p:spPr>
          <p:txBody>
            <a:bodyPr wrap="none" lIns="0" tIns="0" rIns="0" bIns="0" anchor="t" anchorCtr="0">
              <a:spAutoFit/>
            </a:bodyPr>
            <a:lstStyle/>
            <a:p>
              <a:pPr algn="ctr"/>
              <a:r>
                <a:rPr lang="zh-CN" sz="640" dirty="0">
                  <a:solidFill>
                    <a:srgbClr val="C9D5EA"/>
                  </a:solidFill>
                  <a:latin typeface="+mn-lt"/>
                  <a:ea typeface="+mn-ea"/>
                  <a:cs typeface="+mn-cs"/>
                </a:rPr>
                <a:t>文化与能力，驱动共识与行为改变</a:t>
              </a:r>
            </a:p>
          </p:txBody>
        </p:sp>
        <p:sp>
          <p:nvSpPr>
            <p:cNvPr id="123" name="Rectangle 123"/>
            <p:cNvSpPr/>
            <p:nvPr/>
          </p:nvSpPr>
          <p:spPr>
            <a:xfrm>
              <a:off x="7181850" y="1257300"/>
              <a:ext cx="4724400" cy="590550"/>
            </a:xfrm>
            <a:prstGeom prst="rect">
              <a:avLst/>
            </a:prstGeom>
            <a:solidFill>
              <a:srgbClr val="FFFFFF"/>
            </a:solidFill>
            <a:ln w="9525">
              <a:solidFill>
                <a:srgbClr val="C7D2E4"/>
              </a:solidFill>
            </a:ln>
          </p:spPr>
        </p:sp>
        <p:sp>
          <p:nvSpPr>
            <p:cNvPr id="124" name="Ellipse 124"/>
            <p:cNvSpPr/>
            <p:nvPr/>
          </p:nvSpPr>
          <p:spPr>
            <a:xfrm>
              <a:off x="7296150" y="1419225"/>
              <a:ext cx="266700" cy="266700"/>
            </a:xfrm>
            <a:prstGeom prst="ellipse">
              <a:avLst/>
            </a:prstGeom>
            <a:solidFill>
              <a:srgbClr val="4E0D00"/>
            </a:solidFill>
            <a:ln>
              <a:noFill/>
            </a:ln>
          </p:spPr>
        </p:sp>
        <p:grpSp>
          <p:nvGrpSpPr>
            <p:cNvPr id="131" name="Group 131"/>
            <p:cNvGrpSpPr/>
            <p:nvPr/>
          </p:nvGrpSpPr>
          <p:grpSpPr>
            <a:xfrm>
              <a:off x="7372350" y="1495425"/>
              <a:ext cx="114300" cy="114300"/>
              <a:chOff x="7372350" y="1495425"/>
              <a:chExt cx="114300" cy="114300"/>
            </a:xfrm>
          </p:grpSpPr>
          <p:sp>
            <p:nvSpPr>
              <p:cNvPr id="125" name="Freeform 125"/>
              <p:cNvSpPr/>
              <p:nvPr/>
            </p:nvSpPr>
            <p:spPr>
              <a:xfrm>
                <a:off x="7416800" y="15462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26" name="Freeform 126"/>
              <p:cNvSpPr/>
              <p:nvPr/>
            </p:nvSpPr>
            <p:spPr>
              <a:xfrm>
                <a:off x="7404100" y="1590675"/>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FFFFFF"/>
                </a:solidFill>
              </a:ln>
            </p:spPr>
          </p:sp>
          <p:sp>
            <p:nvSpPr>
              <p:cNvPr id="127" name="Freeform 127"/>
              <p:cNvSpPr/>
              <p:nvPr/>
            </p:nvSpPr>
            <p:spPr>
              <a:xfrm>
                <a:off x="7448550" y="14954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28" name="Freeform 128"/>
              <p:cNvSpPr/>
              <p:nvPr/>
            </p:nvSpPr>
            <p:spPr>
              <a:xfrm>
                <a:off x="7461250" y="1539875"/>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FFFFFF"/>
                </a:solidFill>
              </a:ln>
            </p:spPr>
          </p:sp>
          <p:sp>
            <p:nvSpPr>
              <p:cNvPr id="129" name="Freeform 129"/>
              <p:cNvSpPr/>
              <p:nvPr/>
            </p:nvSpPr>
            <p:spPr>
              <a:xfrm>
                <a:off x="7385050" y="149542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30" name="Freeform 130"/>
              <p:cNvSpPr/>
              <p:nvPr/>
            </p:nvSpPr>
            <p:spPr>
              <a:xfrm>
                <a:off x="7372350" y="1539875"/>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FFFFFF"/>
                </a:solidFill>
              </a:ln>
            </p:spPr>
          </p:sp>
        </p:grpSp>
        <p:sp>
          <p:nvSpPr>
            <p:cNvPr id="132" name="TextBox 132"/>
            <p:cNvSpPr txBox="1"/>
            <p:nvPr/>
          </p:nvSpPr>
          <p:spPr>
            <a:xfrm>
              <a:off x="7634288" y="1415891"/>
              <a:ext cx="587823"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人员 Staff</a:t>
              </a:r>
            </a:p>
          </p:txBody>
        </p:sp>
        <p:sp>
          <p:nvSpPr>
            <p:cNvPr id="133" name="TextBox 133"/>
            <p:cNvSpPr txBox="1"/>
            <p:nvPr/>
          </p:nvSpPr>
          <p:spPr>
            <a:xfrm>
              <a:off x="7634288" y="1598057"/>
              <a:ext cx="121572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组织所需要的岗位与人才组合，</a:t>
              </a:r>
            </a:p>
          </p:txBody>
        </p:sp>
        <p:sp>
          <p:nvSpPr>
            <p:cNvPr id="134" name="TextBox 134"/>
            <p:cNvSpPr txBox="1"/>
            <p:nvPr/>
          </p:nvSpPr>
          <p:spPr>
            <a:xfrm>
              <a:off x="7634288" y="1721882"/>
              <a:ext cx="112956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以及人才的内心动力与投入。</a:t>
              </a:r>
            </a:p>
          </p:txBody>
        </p:sp>
        <p:sp>
          <p:nvSpPr>
            <p:cNvPr id="135" name="Rectangle 135"/>
            <p:cNvSpPr/>
            <p:nvPr/>
          </p:nvSpPr>
          <p:spPr>
            <a:xfrm>
              <a:off x="7181850" y="1905000"/>
              <a:ext cx="4724400" cy="590550"/>
            </a:xfrm>
            <a:prstGeom prst="rect">
              <a:avLst/>
            </a:prstGeom>
            <a:solidFill>
              <a:srgbClr val="FFFFFF"/>
            </a:solidFill>
            <a:ln w="9525">
              <a:solidFill>
                <a:srgbClr val="C7D2E4"/>
              </a:solidFill>
            </a:ln>
          </p:spPr>
        </p:sp>
        <p:sp>
          <p:nvSpPr>
            <p:cNvPr id="136" name="Ellipse 136"/>
            <p:cNvSpPr/>
            <p:nvPr/>
          </p:nvSpPr>
          <p:spPr>
            <a:xfrm>
              <a:off x="7296150" y="2066925"/>
              <a:ext cx="266700" cy="266700"/>
            </a:xfrm>
            <a:prstGeom prst="ellipse">
              <a:avLst/>
            </a:prstGeom>
            <a:solidFill>
              <a:srgbClr val="4E0D00"/>
            </a:solidFill>
            <a:ln>
              <a:noFill/>
            </a:ln>
          </p:spPr>
        </p:sp>
        <p:grpSp>
          <p:nvGrpSpPr>
            <p:cNvPr id="143" name="Group 143"/>
            <p:cNvGrpSpPr/>
            <p:nvPr/>
          </p:nvGrpSpPr>
          <p:grpSpPr>
            <a:xfrm>
              <a:off x="7372350" y="2143125"/>
              <a:ext cx="114300" cy="114300"/>
              <a:chOff x="7372350" y="2143125"/>
              <a:chExt cx="114300" cy="114300"/>
            </a:xfrm>
          </p:grpSpPr>
          <p:sp>
            <p:nvSpPr>
              <p:cNvPr id="137" name="Freeform 137"/>
              <p:cNvSpPr/>
              <p:nvPr/>
            </p:nvSpPr>
            <p:spPr>
              <a:xfrm>
                <a:off x="7429500" y="2206625"/>
                <a:ext cx="44450" cy="50800"/>
              </a:xfrm>
              <a:custGeom>
                <a:avLst/>
                <a:gdLst/>
                <a:ahLst/>
                <a:cxnLst/>
                <a:rect l="l" t="t" r="r" b="b"/>
                <a:pathLst>
                  <a:path w="44450" h="50800">
                    <a:moveTo>
                      <a:pt x="22225" y="0"/>
                    </a:moveTo>
                    <a:cubicBezTo>
                      <a:pt x="9950" y="0"/>
                      <a:pt x="0" y="9950"/>
                      <a:pt x="0" y="22225"/>
                    </a:cubicBezTo>
                    <a:lnTo>
                      <a:pt x="0" y="28575"/>
                    </a:lnTo>
                    <a:cubicBezTo>
                      <a:pt x="0" y="40850"/>
                      <a:pt x="9950" y="50800"/>
                      <a:pt x="22225" y="50800"/>
                    </a:cubicBezTo>
                    <a:cubicBezTo>
                      <a:pt x="34500" y="50800"/>
                      <a:pt x="44450" y="40850"/>
                      <a:pt x="44450" y="28575"/>
                    </a:cubicBezTo>
                    <a:lnTo>
                      <a:pt x="44450" y="17145"/>
                    </a:lnTo>
                  </a:path>
                </a:pathLst>
              </a:custGeom>
              <a:noFill/>
              <a:ln w="12700">
                <a:solidFill>
                  <a:srgbClr val="FFFFFF"/>
                </a:solidFill>
              </a:ln>
            </p:spPr>
          </p:sp>
          <p:sp>
            <p:nvSpPr>
              <p:cNvPr id="138" name="Freeform 138"/>
              <p:cNvSpPr/>
              <p:nvPr/>
            </p:nvSpPr>
            <p:spPr>
              <a:xfrm>
                <a:off x="7385050" y="2206625"/>
                <a:ext cx="44450" cy="50800"/>
              </a:xfrm>
              <a:custGeom>
                <a:avLst/>
                <a:gdLst/>
                <a:ahLst/>
                <a:cxnLst/>
                <a:rect l="l" t="t" r="r" b="b"/>
                <a:pathLst>
                  <a:path w="44450" h="50800">
                    <a:moveTo>
                      <a:pt x="22225" y="0"/>
                    </a:moveTo>
                    <a:cubicBezTo>
                      <a:pt x="34500" y="0"/>
                      <a:pt x="44450" y="9950"/>
                      <a:pt x="44450" y="22225"/>
                    </a:cubicBezTo>
                    <a:lnTo>
                      <a:pt x="44450" y="28575"/>
                    </a:lnTo>
                    <a:cubicBezTo>
                      <a:pt x="44450" y="40850"/>
                      <a:pt x="34500" y="50800"/>
                      <a:pt x="22225" y="50800"/>
                    </a:cubicBezTo>
                    <a:cubicBezTo>
                      <a:pt x="9950" y="50800"/>
                      <a:pt x="0" y="40850"/>
                      <a:pt x="0" y="28575"/>
                    </a:cubicBezTo>
                    <a:lnTo>
                      <a:pt x="0" y="17145"/>
                    </a:lnTo>
                  </a:path>
                </a:pathLst>
              </a:custGeom>
              <a:noFill/>
              <a:ln w="12700">
                <a:solidFill>
                  <a:srgbClr val="FFFFFF"/>
                </a:solidFill>
              </a:ln>
            </p:spPr>
          </p:sp>
          <p:sp>
            <p:nvSpPr>
              <p:cNvPr id="139" name="Freeform 139"/>
              <p:cNvSpPr/>
              <p:nvPr/>
            </p:nvSpPr>
            <p:spPr>
              <a:xfrm>
                <a:off x="7461250" y="2181225"/>
                <a:ext cx="25400" cy="44450"/>
              </a:xfrm>
              <a:custGeom>
                <a:avLst/>
                <a:gdLst/>
                <a:ahLst/>
                <a:cxnLst/>
                <a:rect l="l" t="t" r="r" b="b"/>
                <a:pathLst>
                  <a:path w="25400" h="44450">
                    <a:moveTo>
                      <a:pt x="3175" y="44450"/>
                    </a:moveTo>
                    <a:cubicBezTo>
                      <a:pt x="15450" y="44450"/>
                      <a:pt x="25400" y="34500"/>
                      <a:pt x="25400" y="22225"/>
                    </a:cubicBezTo>
                    <a:cubicBezTo>
                      <a:pt x="25400" y="9950"/>
                      <a:pt x="15450" y="0"/>
                      <a:pt x="3175" y="0"/>
                    </a:cubicBezTo>
                    <a:lnTo>
                      <a:pt x="0" y="0"/>
                    </a:lnTo>
                  </a:path>
                </a:pathLst>
              </a:custGeom>
              <a:noFill/>
              <a:ln w="12700">
                <a:solidFill>
                  <a:srgbClr val="FFFFFF"/>
                </a:solidFill>
              </a:ln>
            </p:spPr>
          </p:sp>
          <p:sp>
            <p:nvSpPr>
              <p:cNvPr id="140" name="Freeform 140"/>
              <p:cNvSpPr/>
              <p:nvPr/>
            </p:nvSpPr>
            <p:spPr>
              <a:xfrm>
                <a:off x="7429500" y="2143125"/>
                <a:ext cx="44450" cy="40005"/>
              </a:xfrm>
              <a:custGeom>
                <a:avLst/>
                <a:gdLst/>
                <a:ahLst/>
                <a:cxnLst/>
                <a:rect l="l" t="t" r="r" b="b"/>
                <a:pathLst>
                  <a:path w="44450" h="40005">
                    <a:moveTo>
                      <a:pt x="44450" y="40005"/>
                    </a:moveTo>
                    <a:lnTo>
                      <a:pt x="44450" y="22225"/>
                    </a:lnTo>
                    <a:cubicBezTo>
                      <a:pt x="44450" y="9950"/>
                      <a:pt x="34500" y="0"/>
                      <a:pt x="22225" y="0"/>
                    </a:cubicBezTo>
                    <a:cubicBezTo>
                      <a:pt x="9950" y="0"/>
                      <a:pt x="0" y="9950"/>
                      <a:pt x="0" y="22225"/>
                    </a:cubicBezTo>
                  </a:path>
                </a:pathLst>
              </a:custGeom>
              <a:noFill/>
              <a:ln w="12700">
                <a:solidFill>
                  <a:srgbClr val="FFFFFF"/>
                </a:solidFill>
              </a:ln>
            </p:spPr>
          </p:sp>
          <p:sp>
            <p:nvSpPr>
              <p:cNvPr id="141" name="Freeform 141"/>
              <p:cNvSpPr/>
              <p:nvPr/>
            </p:nvSpPr>
            <p:spPr>
              <a:xfrm>
                <a:off x="7372350" y="2181225"/>
                <a:ext cx="25400" cy="44450"/>
              </a:xfrm>
              <a:custGeom>
                <a:avLst/>
                <a:gdLst/>
                <a:ahLst/>
                <a:cxnLst/>
                <a:rect l="l" t="t" r="r" b="b"/>
                <a:pathLst>
                  <a:path w="25400" h="44450">
                    <a:moveTo>
                      <a:pt x="22225" y="44450"/>
                    </a:moveTo>
                    <a:cubicBezTo>
                      <a:pt x="9950" y="44450"/>
                      <a:pt x="0" y="34500"/>
                      <a:pt x="0" y="22225"/>
                    </a:cubicBezTo>
                    <a:cubicBezTo>
                      <a:pt x="0" y="9950"/>
                      <a:pt x="9950" y="0"/>
                      <a:pt x="22225" y="0"/>
                    </a:cubicBezTo>
                    <a:lnTo>
                      <a:pt x="25400" y="0"/>
                    </a:lnTo>
                  </a:path>
                </a:pathLst>
              </a:custGeom>
              <a:noFill/>
              <a:ln w="12700">
                <a:solidFill>
                  <a:srgbClr val="FFFFFF"/>
                </a:solidFill>
              </a:ln>
            </p:spPr>
          </p:sp>
          <p:sp>
            <p:nvSpPr>
              <p:cNvPr id="142" name="Freeform 142"/>
              <p:cNvSpPr/>
              <p:nvPr/>
            </p:nvSpPr>
            <p:spPr>
              <a:xfrm>
                <a:off x="7385050" y="2143125"/>
                <a:ext cx="44450" cy="85725"/>
              </a:xfrm>
              <a:custGeom>
                <a:avLst/>
                <a:gdLst/>
                <a:ahLst/>
                <a:cxnLst/>
                <a:rect l="l" t="t" r="r" b="b"/>
                <a:pathLst>
                  <a:path w="44450" h="85725">
                    <a:moveTo>
                      <a:pt x="0" y="40005"/>
                    </a:moveTo>
                    <a:lnTo>
                      <a:pt x="0" y="22225"/>
                    </a:lnTo>
                    <a:cubicBezTo>
                      <a:pt x="0" y="9950"/>
                      <a:pt x="9950" y="0"/>
                      <a:pt x="22225" y="0"/>
                    </a:cubicBezTo>
                    <a:cubicBezTo>
                      <a:pt x="34500" y="0"/>
                      <a:pt x="44450" y="9950"/>
                      <a:pt x="44450" y="22225"/>
                    </a:cubicBezTo>
                    <a:lnTo>
                      <a:pt x="44450" y="85725"/>
                    </a:lnTo>
                  </a:path>
                </a:pathLst>
              </a:custGeom>
              <a:noFill/>
              <a:ln w="12700">
                <a:solidFill>
                  <a:srgbClr val="FFFFFF"/>
                </a:solidFill>
              </a:ln>
            </p:spPr>
          </p:sp>
        </p:grpSp>
        <p:sp>
          <p:nvSpPr>
            <p:cNvPr id="144" name="TextBox 144"/>
            <p:cNvSpPr txBox="1"/>
            <p:nvPr/>
          </p:nvSpPr>
          <p:spPr>
            <a:xfrm>
              <a:off x="7634288" y="2063591"/>
              <a:ext cx="563755"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能力 Skills</a:t>
              </a:r>
            </a:p>
          </p:txBody>
        </p:sp>
        <p:sp>
          <p:nvSpPr>
            <p:cNvPr id="145" name="TextBox 145"/>
            <p:cNvSpPr txBox="1"/>
            <p:nvPr/>
          </p:nvSpPr>
          <p:spPr>
            <a:xfrm>
              <a:off x="7634288" y="2245757"/>
              <a:ext cx="156034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组织与个人所必备的知识、技能与经验，</a:t>
              </a:r>
            </a:p>
          </p:txBody>
        </p:sp>
        <p:sp>
          <p:nvSpPr>
            <p:cNvPr id="146" name="TextBox 146"/>
            <p:cNvSpPr txBox="1"/>
            <p:nvPr/>
          </p:nvSpPr>
          <p:spPr>
            <a:xfrm>
              <a:off x="7634288" y="236958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决定能否有效执行。</a:t>
              </a:r>
            </a:p>
          </p:txBody>
        </p:sp>
        <p:sp>
          <p:nvSpPr>
            <p:cNvPr id="147" name="Rectangle 147"/>
            <p:cNvSpPr/>
            <p:nvPr/>
          </p:nvSpPr>
          <p:spPr>
            <a:xfrm>
              <a:off x="7181850" y="2552700"/>
              <a:ext cx="4724400" cy="590550"/>
            </a:xfrm>
            <a:prstGeom prst="rect">
              <a:avLst/>
            </a:prstGeom>
            <a:solidFill>
              <a:srgbClr val="FFFFFF"/>
            </a:solidFill>
            <a:ln w="9525">
              <a:solidFill>
                <a:srgbClr val="C7D2E4"/>
              </a:solidFill>
            </a:ln>
          </p:spPr>
        </p:sp>
        <p:sp>
          <p:nvSpPr>
            <p:cNvPr id="148" name="Ellipse 148"/>
            <p:cNvSpPr/>
            <p:nvPr/>
          </p:nvSpPr>
          <p:spPr>
            <a:xfrm>
              <a:off x="7296150" y="2714625"/>
              <a:ext cx="266700" cy="266700"/>
            </a:xfrm>
            <a:prstGeom prst="ellipse">
              <a:avLst/>
            </a:prstGeom>
            <a:solidFill>
              <a:srgbClr val="4E0D00"/>
            </a:solidFill>
            <a:ln>
              <a:noFill/>
            </a:ln>
          </p:spPr>
        </p:sp>
        <p:grpSp>
          <p:nvGrpSpPr>
            <p:cNvPr id="151" name="Group 151"/>
            <p:cNvGrpSpPr/>
            <p:nvPr/>
          </p:nvGrpSpPr>
          <p:grpSpPr>
            <a:xfrm>
              <a:off x="7391400" y="2790825"/>
              <a:ext cx="76200" cy="114300"/>
              <a:chOff x="7391400" y="2790825"/>
              <a:chExt cx="76200" cy="114300"/>
            </a:xfrm>
          </p:grpSpPr>
          <p:sp>
            <p:nvSpPr>
              <p:cNvPr id="149" name="Freeform 149"/>
              <p:cNvSpPr/>
              <p:nvPr/>
            </p:nvSpPr>
            <p:spPr>
              <a:xfrm>
                <a:off x="7404100" y="279082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50" name="Freeform 150"/>
              <p:cNvSpPr/>
              <p:nvPr/>
            </p:nvSpPr>
            <p:spPr>
              <a:xfrm>
                <a:off x="7391400" y="2867025"/>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grpSp>
        <p:sp>
          <p:nvSpPr>
            <p:cNvPr id="152" name="TextBox 152"/>
            <p:cNvSpPr txBox="1"/>
            <p:nvPr/>
          </p:nvSpPr>
          <p:spPr>
            <a:xfrm>
              <a:off x="7634288" y="2711291"/>
              <a:ext cx="558518"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风格 Style</a:t>
              </a:r>
            </a:p>
          </p:txBody>
        </p:sp>
        <p:sp>
          <p:nvSpPr>
            <p:cNvPr id="153" name="TextBox 153"/>
            <p:cNvSpPr txBox="1"/>
            <p:nvPr/>
          </p:nvSpPr>
          <p:spPr>
            <a:xfrm>
              <a:off x="7634288" y="2893457"/>
              <a:ext cx="121572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领导者的思维方式与行为风格，</a:t>
              </a:r>
            </a:p>
          </p:txBody>
        </p:sp>
        <p:sp>
          <p:nvSpPr>
            <p:cNvPr id="154" name="TextBox 154"/>
            <p:cNvSpPr txBox="1"/>
            <p:nvPr/>
          </p:nvSpPr>
          <p:spPr>
            <a:xfrm>
              <a:off x="7634288" y="3017282"/>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影响组织氛围与决策方式。</a:t>
              </a:r>
            </a:p>
          </p:txBody>
        </p:sp>
        <p:sp>
          <p:nvSpPr>
            <p:cNvPr id="155" name="Rectangle 155"/>
            <p:cNvSpPr/>
            <p:nvPr/>
          </p:nvSpPr>
          <p:spPr>
            <a:xfrm>
              <a:off x="7181850" y="3200400"/>
              <a:ext cx="4724400" cy="590550"/>
            </a:xfrm>
            <a:prstGeom prst="rect">
              <a:avLst/>
            </a:prstGeom>
            <a:solidFill>
              <a:srgbClr val="FFFFFF"/>
            </a:solidFill>
            <a:ln w="9525">
              <a:solidFill>
                <a:srgbClr val="C7D2E4"/>
              </a:solidFill>
            </a:ln>
          </p:spPr>
        </p:sp>
        <p:sp>
          <p:nvSpPr>
            <p:cNvPr id="156" name="Ellipse 156"/>
            <p:cNvSpPr/>
            <p:nvPr/>
          </p:nvSpPr>
          <p:spPr>
            <a:xfrm>
              <a:off x="7296150" y="3362325"/>
              <a:ext cx="266700" cy="266700"/>
            </a:xfrm>
            <a:prstGeom prst="ellipse">
              <a:avLst/>
            </a:prstGeom>
            <a:solidFill>
              <a:srgbClr val="4E0D00"/>
            </a:solidFill>
            <a:ln>
              <a:noFill/>
            </a:ln>
          </p:spPr>
        </p:sp>
        <p:grpSp>
          <p:nvGrpSpPr>
            <p:cNvPr id="159" name="Group 159"/>
            <p:cNvGrpSpPr/>
            <p:nvPr/>
          </p:nvGrpSpPr>
          <p:grpSpPr>
            <a:xfrm>
              <a:off x="7372350" y="3451225"/>
              <a:ext cx="114300" cy="93409"/>
              <a:chOff x="7372350" y="3451225"/>
              <a:chExt cx="114300" cy="93409"/>
            </a:xfrm>
          </p:grpSpPr>
          <p:sp>
            <p:nvSpPr>
              <p:cNvPr id="157" name="Freeform 157"/>
              <p:cNvSpPr/>
              <p:nvPr/>
            </p:nvSpPr>
            <p:spPr>
              <a:xfrm>
                <a:off x="7372350" y="3451225"/>
                <a:ext cx="114300" cy="93409"/>
              </a:xfrm>
              <a:custGeom>
                <a:avLst/>
                <a:gdLst/>
                <a:ahLst/>
                <a:cxnLst/>
                <a:rect l="l" t="t" r="r" b="b"/>
                <a:pathLst>
                  <a:path w="114300" h="93409">
                    <a:moveTo>
                      <a:pt x="19050" y="0"/>
                    </a:moveTo>
                    <a:lnTo>
                      <a:pt x="95250" y="0"/>
                    </a:lnTo>
                    <a:lnTo>
                      <a:pt x="114300" y="31750"/>
                    </a:lnTo>
                    <a:lnTo>
                      <a:pt x="60325" y="92075"/>
                    </a:lnTo>
                    <a:cubicBezTo>
                      <a:pt x="59489" y="92928"/>
                      <a:pt x="58345" y="93409"/>
                      <a:pt x="57150" y="93409"/>
                    </a:cubicBezTo>
                    <a:cubicBezTo>
                      <a:pt x="55955" y="93409"/>
                      <a:pt x="54811" y="92928"/>
                      <a:pt x="53975" y="92075"/>
                    </a:cubicBezTo>
                    <a:lnTo>
                      <a:pt x="0" y="31750"/>
                    </a:lnTo>
                    <a:lnTo>
                      <a:pt x="19050" y="0"/>
                    </a:lnTo>
                  </a:path>
                </a:pathLst>
              </a:custGeom>
              <a:noFill/>
              <a:ln w="12700">
                <a:solidFill>
                  <a:srgbClr val="FFFFFF"/>
                </a:solidFill>
              </a:ln>
            </p:spPr>
          </p:sp>
          <p:sp>
            <p:nvSpPr>
              <p:cNvPr id="158" name="Freeform 158"/>
              <p:cNvSpPr/>
              <p:nvPr/>
            </p:nvSpPr>
            <p:spPr>
              <a:xfrm>
                <a:off x="7404100" y="3475355"/>
                <a:ext cx="12700" cy="20320"/>
              </a:xfrm>
              <a:custGeom>
                <a:avLst/>
                <a:gdLst/>
                <a:ahLst/>
                <a:cxnLst/>
                <a:rect l="l" t="t" r="r" b="b"/>
                <a:pathLst>
                  <a:path w="12700" h="20320">
                    <a:moveTo>
                      <a:pt x="12700" y="20320"/>
                    </a:moveTo>
                    <a:lnTo>
                      <a:pt x="0" y="6350"/>
                    </a:lnTo>
                    <a:lnTo>
                      <a:pt x="3810" y="0"/>
                    </a:lnTo>
                  </a:path>
                </a:pathLst>
              </a:custGeom>
              <a:noFill/>
              <a:ln w="12700">
                <a:solidFill>
                  <a:srgbClr val="FFFFFF"/>
                </a:solidFill>
              </a:ln>
            </p:spPr>
          </p:sp>
        </p:grpSp>
        <p:sp>
          <p:nvSpPr>
            <p:cNvPr id="160" name="TextBox 160"/>
            <p:cNvSpPr txBox="1"/>
            <p:nvPr/>
          </p:nvSpPr>
          <p:spPr>
            <a:xfrm>
              <a:off x="7634288" y="3358991"/>
              <a:ext cx="1374626"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共同价值观 Shared Values</a:t>
              </a:r>
            </a:p>
          </p:txBody>
        </p:sp>
        <p:sp>
          <p:nvSpPr>
            <p:cNvPr id="161" name="TextBox 161"/>
            <p:cNvSpPr txBox="1"/>
            <p:nvPr/>
          </p:nvSpPr>
          <p:spPr>
            <a:xfrm>
              <a:off x="7634288" y="3541157"/>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被广泛认同的信念与原则，</a:t>
              </a:r>
            </a:p>
          </p:txBody>
        </p:sp>
        <p:sp>
          <p:nvSpPr>
            <p:cNvPr id="162" name="TextBox 162"/>
            <p:cNvSpPr txBox="1"/>
            <p:nvPr/>
          </p:nvSpPr>
          <p:spPr>
            <a:xfrm>
              <a:off x="7634288" y="366498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指引决策与日常行为。</a:t>
              </a:r>
            </a:p>
          </p:txBody>
        </p:sp>
        <p:sp>
          <p:nvSpPr>
            <p:cNvPr id="163" name="Rectangle 163"/>
            <p:cNvSpPr/>
            <p:nvPr/>
          </p:nvSpPr>
          <p:spPr>
            <a:xfrm>
              <a:off x="7181850" y="3867150"/>
              <a:ext cx="4724400" cy="1009650"/>
            </a:xfrm>
            <a:prstGeom prst="rect">
              <a:avLst/>
            </a:prstGeom>
            <a:solidFill>
              <a:srgbClr val="EFF3FA"/>
            </a:solidFill>
            <a:ln w="9525">
              <a:solidFill>
                <a:srgbClr val="C7D2E4"/>
              </a:solidFill>
            </a:ln>
          </p:spPr>
        </p:sp>
        <p:sp>
          <p:nvSpPr>
            <p:cNvPr id="164" name="TextBox 164"/>
            <p:cNvSpPr txBox="1"/>
            <p:nvPr/>
          </p:nvSpPr>
          <p:spPr>
            <a:xfrm>
              <a:off x="7310438" y="3991689"/>
              <a:ext cx="2030171"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诊断视角：我们是否具备执行能力与共识？</a:t>
              </a:r>
            </a:p>
          </p:txBody>
        </p:sp>
        <p:sp>
          <p:nvSpPr>
            <p:cNvPr id="165" name="TextBox 165"/>
            <p:cNvSpPr txBox="1"/>
            <p:nvPr/>
          </p:nvSpPr>
          <p:spPr>
            <a:xfrm>
              <a:off x="7310438" y="4217432"/>
              <a:ext cx="1636547"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人才是否匹配战略需要，并愿意留下来？</a:t>
              </a:r>
            </a:p>
          </p:txBody>
        </p:sp>
        <p:sp>
          <p:nvSpPr>
            <p:cNvPr id="166" name="TextBox 166"/>
            <p:cNvSpPr txBox="1"/>
            <p:nvPr/>
          </p:nvSpPr>
          <p:spPr>
            <a:xfrm>
              <a:off x="7310438" y="4388882"/>
              <a:ext cx="1464234"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能力是否支撑关键任务与未来发展？</a:t>
              </a:r>
            </a:p>
          </p:txBody>
        </p:sp>
        <p:sp>
          <p:nvSpPr>
            <p:cNvPr id="167" name="TextBox 167"/>
            <p:cNvSpPr txBox="1"/>
            <p:nvPr/>
          </p:nvSpPr>
          <p:spPr>
            <a:xfrm>
              <a:off x="7310438" y="4560332"/>
              <a:ext cx="1550391"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领导风格与文化是否促进协同与变革？</a:t>
              </a:r>
            </a:p>
          </p:txBody>
        </p:sp>
        <p:sp>
          <p:nvSpPr>
            <p:cNvPr id="168" name="TextBox 168"/>
            <p:cNvSpPr txBox="1"/>
            <p:nvPr/>
          </p:nvSpPr>
          <p:spPr>
            <a:xfrm>
              <a:off x="7310438" y="4731782"/>
              <a:ext cx="1464234"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价值观是否被共识并体现在行为中？</a:t>
              </a:r>
            </a:p>
          </p:txBody>
        </p:sp>
      </p:grpSp>
      <p:grpSp>
        <p:nvGrpSpPr>
          <p:cNvPr id="171" name="matrix-title"/>
          <p:cNvGrpSpPr/>
          <p:nvPr/>
        </p:nvGrpSpPr>
        <p:grpSpPr>
          <a:xfrm>
            <a:off x="5233518" y="5123974"/>
            <a:ext cx="1724965" cy="190690"/>
            <a:chOff x="5233518" y="5123974"/>
            <a:chExt cx="1724965" cy="190690"/>
          </a:xfrm>
        </p:grpSpPr>
        <p:sp>
          <p:nvSpPr>
            <p:cNvPr id="170" name="TextBox 170"/>
            <p:cNvSpPr txBox="1"/>
            <p:nvPr/>
          </p:nvSpPr>
          <p:spPr>
            <a:xfrm>
              <a:off x="5233518" y="5123974"/>
              <a:ext cx="1724965" cy="190690"/>
            </a:xfrm>
            <a:prstGeom prst="rect">
              <a:avLst/>
            </a:prstGeom>
            <a:noFill/>
            <a:ln>
              <a:noFill/>
            </a:ln>
          </p:spPr>
          <p:txBody>
            <a:bodyPr wrap="none" lIns="0" tIns="0" rIns="0" bIns="0" anchor="t" anchorCtr="0">
              <a:spAutoFit/>
            </a:bodyPr>
            <a:lstStyle/>
            <a:p>
              <a:pPr algn="ctr"/>
              <a:r>
                <a:rPr lang="zh-CN" sz="980" b="1" dirty="0">
                  <a:solidFill>
                    <a:srgbClr val="4E0D00"/>
                  </a:solidFill>
                  <a:latin typeface="+mn-lt"/>
                  <a:ea typeface="+mn-ea"/>
                  <a:cs typeface="+mn-cs"/>
                </a:rPr>
                <a:t>对齐诊断与行动矩阵（示例）</a:t>
              </a:r>
            </a:p>
          </p:txBody>
        </p:sp>
      </p:grpSp>
      <p:grpSp>
        <p:nvGrpSpPr>
          <p:cNvPr id="229" name="matrix-table"/>
          <p:cNvGrpSpPr/>
          <p:nvPr/>
        </p:nvGrpSpPr>
        <p:grpSpPr>
          <a:xfrm>
            <a:off x="228600" y="5314950"/>
            <a:ext cx="11734800" cy="1314450"/>
            <a:chOff x="228600" y="5314950"/>
            <a:chExt cx="11734800" cy="1314450"/>
          </a:xfrm>
        </p:grpSpPr>
        <p:sp>
          <p:nvSpPr>
            <p:cNvPr id="172" name="Rectangle 172"/>
            <p:cNvSpPr/>
            <p:nvPr/>
          </p:nvSpPr>
          <p:spPr>
            <a:xfrm>
              <a:off x="228600" y="5314950"/>
              <a:ext cx="11734800" cy="228600"/>
            </a:xfrm>
            <a:prstGeom prst="rect">
              <a:avLst/>
            </a:prstGeom>
            <a:solidFill>
              <a:srgbClr val="4E0D00"/>
            </a:solidFill>
            <a:ln>
              <a:noFill/>
            </a:ln>
          </p:spPr>
        </p:sp>
        <p:sp>
          <p:nvSpPr>
            <p:cNvPr id="173" name="Rectangle 173"/>
            <p:cNvSpPr/>
            <p:nvPr/>
          </p:nvSpPr>
          <p:spPr>
            <a:xfrm>
              <a:off x="228600" y="5543550"/>
              <a:ext cx="11734800" cy="1085850"/>
            </a:xfrm>
            <a:prstGeom prst="rect">
              <a:avLst/>
            </a:prstGeom>
            <a:solidFill>
              <a:srgbClr val="FFFFFF"/>
            </a:solidFill>
            <a:ln w="9525">
              <a:solidFill>
                <a:srgbClr val="C7D2E4"/>
              </a:solidFill>
            </a:ln>
          </p:spPr>
        </p:sp>
        <p:grpSp>
          <p:nvGrpSpPr>
            <p:cNvPr id="179" name="Group 179"/>
            <p:cNvGrpSpPr/>
            <p:nvPr/>
          </p:nvGrpSpPr>
          <p:grpSpPr>
            <a:xfrm>
              <a:off x="521018" y="5386388"/>
              <a:ext cx="11128325" cy="147638"/>
              <a:chOff x="521018" y="5386388"/>
              <a:chExt cx="11128325" cy="147638"/>
            </a:xfrm>
          </p:grpSpPr>
          <p:sp>
            <p:nvSpPr>
              <p:cNvPr id="174" name="TextBox 174"/>
              <p:cNvSpPr txBox="1"/>
              <p:nvPr/>
            </p:nvSpPr>
            <p:spPr>
              <a:xfrm>
                <a:off x="521018" y="5386388"/>
                <a:ext cx="61531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要素（选择）</a:t>
                </a:r>
              </a:p>
            </p:txBody>
          </p:sp>
          <p:sp>
            <p:nvSpPr>
              <p:cNvPr id="175" name="TextBox 175"/>
              <p:cNvSpPr txBox="1"/>
              <p:nvPr/>
            </p:nvSpPr>
            <p:spPr>
              <a:xfrm>
                <a:off x="2496502" y="5386388"/>
                <a:ext cx="81724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目标状态（未来）</a:t>
                </a:r>
              </a:p>
            </p:txBody>
          </p:sp>
          <p:sp>
            <p:nvSpPr>
              <p:cNvPr id="176" name="TextBox 176"/>
              <p:cNvSpPr txBox="1"/>
              <p:nvPr/>
            </p:nvSpPr>
            <p:spPr>
              <a:xfrm>
                <a:off x="5306378" y="5386388"/>
                <a:ext cx="81724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当前差距（现状）</a:t>
                </a:r>
              </a:p>
            </p:txBody>
          </p:sp>
          <p:sp>
            <p:nvSpPr>
              <p:cNvPr id="177" name="TextBox 177"/>
              <p:cNvSpPr txBox="1"/>
              <p:nvPr/>
            </p:nvSpPr>
            <p:spPr>
              <a:xfrm>
                <a:off x="8205788" y="5386388"/>
                <a:ext cx="101917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关键动作（如何对齐）</a:t>
                </a:r>
              </a:p>
            </p:txBody>
          </p:sp>
          <p:sp>
            <p:nvSpPr>
              <p:cNvPr id="178" name="TextBox 178"/>
              <p:cNvSpPr txBox="1"/>
              <p:nvPr/>
            </p:nvSpPr>
            <p:spPr>
              <a:xfrm>
                <a:off x="10696306" y="5386388"/>
                <a:ext cx="953037"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责任主体（Owner）</a:t>
                </a:r>
              </a:p>
            </p:txBody>
          </p:sp>
        </p:grpSp>
        <p:grpSp>
          <p:nvGrpSpPr>
            <p:cNvPr id="187" name="Group 187"/>
            <p:cNvGrpSpPr/>
            <p:nvPr/>
          </p:nvGrpSpPr>
          <p:grpSpPr>
            <a:xfrm>
              <a:off x="228600" y="5543550"/>
              <a:ext cx="11734800" cy="1085850"/>
              <a:chOff x="228600" y="5543550"/>
              <a:chExt cx="11734800" cy="1085850"/>
            </a:xfrm>
          </p:grpSpPr>
          <p:sp>
            <p:nvSpPr>
              <p:cNvPr id="180" name="Line 180"/>
              <p:cNvSpPr/>
              <p:nvPr/>
            </p:nvSpPr>
            <p:spPr>
              <a:xfrm>
                <a:off x="1428750" y="5543550"/>
                <a:ext cx="9525" cy="1085850"/>
              </a:xfrm>
              <a:custGeom>
                <a:avLst/>
                <a:gdLst/>
                <a:ahLst/>
                <a:cxnLst/>
                <a:rect l="l" t="t" r="r" b="b"/>
                <a:pathLst>
                  <a:path w="9525" h="1085850">
                    <a:moveTo>
                      <a:pt x="0" y="0"/>
                    </a:moveTo>
                    <a:lnTo>
                      <a:pt x="0" y="1085850"/>
                    </a:lnTo>
                  </a:path>
                </a:pathLst>
              </a:custGeom>
              <a:noFill/>
              <a:ln w="7620">
                <a:solidFill>
                  <a:srgbClr val="D8E1EE"/>
                </a:solidFill>
              </a:ln>
            </p:spPr>
          </p:sp>
          <p:sp>
            <p:nvSpPr>
              <p:cNvPr id="181" name="Line 181"/>
              <p:cNvSpPr/>
              <p:nvPr/>
            </p:nvSpPr>
            <p:spPr>
              <a:xfrm>
                <a:off x="4381500" y="5543550"/>
                <a:ext cx="9525" cy="1085850"/>
              </a:xfrm>
              <a:custGeom>
                <a:avLst/>
                <a:gdLst/>
                <a:ahLst/>
                <a:cxnLst/>
                <a:rect l="l" t="t" r="r" b="b"/>
                <a:pathLst>
                  <a:path w="9525" h="1085850">
                    <a:moveTo>
                      <a:pt x="0" y="0"/>
                    </a:moveTo>
                    <a:lnTo>
                      <a:pt x="0" y="1085850"/>
                    </a:lnTo>
                  </a:path>
                </a:pathLst>
              </a:custGeom>
              <a:noFill/>
              <a:ln w="7620">
                <a:solidFill>
                  <a:srgbClr val="D8E1EE"/>
                </a:solidFill>
              </a:ln>
            </p:spPr>
          </p:sp>
          <p:sp>
            <p:nvSpPr>
              <p:cNvPr id="182" name="Line 182"/>
              <p:cNvSpPr/>
              <p:nvPr/>
            </p:nvSpPr>
            <p:spPr>
              <a:xfrm>
                <a:off x="7048500" y="5543550"/>
                <a:ext cx="9525" cy="1085850"/>
              </a:xfrm>
              <a:custGeom>
                <a:avLst/>
                <a:gdLst/>
                <a:ahLst/>
                <a:cxnLst/>
                <a:rect l="l" t="t" r="r" b="b"/>
                <a:pathLst>
                  <a:path w="9525" h="1085850">
                    <a:moveTo>
                      <a:pt x="0" y="0"/>
                    </a:moveTo>
                    <a:lnTo>
                      <a:pt x="0" y="1085850"/>
                    </a:lnTo>
                  </a:path>
                </a:pathLst>
              </a:custGeom>
              <a:noFill/>
              <a:ln w="7620">
                <a:solidFill>
                  <a:srgbClr val="D8E1EE"/>
                </a:solidFill>
              </a:ln>
            </p:spPr>
          </p:sp>
          <p:sp>
            <p:nvSpPr>
              <p:cNvPr id="183" name="Line 183"/>
              <p:cNvSpPr/>
              <p:nvPr/>
            </p:nvSpPr>
            <p:spPr>
              <a:xfrm>
                <a:off x="10382250" y="5543550"/>
                <a:ext cx="9525" cy="1085850"/>
              </a:xfrm>
              <a:custGeom>
                <a:avLst/>
                <a:gdLst/>
                <a:ahLst/>
                <a:cxnLst/>
                <a:rect l="l" t="t" r="r" b="b"/>
                <a:pathLst>
                  <a:path w="9525" h="1085850">
                    <a:moveTo>
                      <a:pt x="0" y="0"/>
                    </a:moveTo>
                    <a:lnTo>
                      <a:pt x="0" y="1085850"/>
                    </a:lnTo>
                  </a:path>
                </a:pathLst>
              </a:custGeom>
              <a:noFill/>
              <a:ln w="7620">
                <a:solidFill>
                  <a:srgbClr val="D8E1EE"/>
                </a:solidFill>
              </a:ln>
            </p:spPr>
          </p:sp>
          <p:sp>
            <p:nvSpPr>
              <p:cNvPr id="184" name="Line 184"/>
              <p:cNvSpPr/>
              <p:nvPr/>
            </p:nvSpPr>
            <p:spPr>
              <a:xfrm>
                <a:off x="228600" y="5815012"/>
                <a:ext cx="11734800" cy="9525"/>
              </a:xfrm>
              <a:custGeom>
                <a:avLst/>
                <a:gdLst/>
                <a:ahLst/>
                <a:cxnLst/>
                <a:rect l="l" t="t" r="r" b="b"/>
                <a:pathLst>
                  <a:path w="11734800" h="9525">
                    <a:moveTo>
                      <a:pt x="0" y="0"/>
                    </a:moveTo>
                    <a:lnTo>
                      <a:pt x="11734800" y="0"/>
                    </a:lnTo>
                  </a:path>
                </a:pathLst>
              </a:custGeom>
              <a:noFill/>
              <a:ln w="7620">
                <a:solidFill>
                  <a:srgbClr val="D8E1EE"/>
                </a:solidFill>
              </a:ln>
            </p:spPr>
          </p:sp>
          <p:sp>
            <p:nvSpPr>
              <p:cNvPr id="185" name="Line 185"/>
              <p:cNvSpPr/>
              <p:nvPr/>
            </p:nvSpPr>
            <p:spPr>
              <a:xfrm>
                <a:off x="228600" y="6086475"/>
                <a:ext cx="11734800" cy="9525"/>
              </a:xfrm>
              <a:custGeom>
                <a:avLst/>
                <a:gdLst/>
                <a:ahLst/>
                <a:cxnLst/>
                <a:rect l="l" t="t" r="r" b="b"/>
                <a:pathLst>
                  <a:path w="11734800" h="9525">
                    <a:moveTo>
                      <a:pt x="0" y="0"/>
                    </a:moveTo>
                    <a:lnTo>
                      <a:pt x="11734800" y="0"/>
                    </a:lnTo>
                  </a:path>
                </a:pathLst>
              </a:custGeom>
              <a:noFill/>
              <a:ln w="7620">
                <a:solidFill>
                  <a:srgbClr val="D8E1EE"/>
                </a:solidFill>
              </a:ln>
            </p:spPr>
          </p:sp>
          <p:sp>
            <p:nvSpPr>
              <p:cNvPr id="186" name="Line 186"/>
              <p:cNvSpPr/>
              <p:nvPr/>
            </p:nvSpPr>
            <p:spPr>
              <a:xfrm>
                <a:off x="228600" y="6357938"/>
                <a:ext cx="11734800" cy="9525"/>
              </a:xfrm>
              <a:custGeom>
                <a:avLst/>
                <a:gdLst/>
                <a:ahLst/>
                <a:cxnLst/>
                <a:rect l="l" t="t" r="r" b="b"/>
                <a:pathLst>
                  <a:path w="11734800" h="9525">
                    <a:moveTo>
                      <a:pt x="0" y="0"/>
                    </a:moveTo>
                    <a:lnTo>
                      <a:pt x="11734800" y="0"/>
                    </a:lnTo>
                  </a:path>
                </a:pathLst>
              </a:custGeom>
              <a:noFill/>
              <a:ln w="7620">
                <a:solidFill>
                  <a:srgbClr val="D8E1EE"/>
                </a:solidFill>
              </a:ln>
            </p:spPr>
          </p:sp>
        </p:grpSp>
        <p:grpSp>
          <p:nvGrpSpPr>
            <p:cNvPr id="190" name="Group 190"/>
            <p:cNvGrpSpPr/>
            <p:nvPr/>
          </p:nvGrpSpPr>
          <p:grpSpPr>
            <a:xfrm>
              <a:off x="354540" y="5635171"/>
              <a:ext cx="62179" cy="87767"/>
              <a:chOff x="354540" y="5635171"/>
              <a:chExt cx="62179" cy="87767"/>
            </a:xfrm>
          </p:grpSpPr>
          <p:sp>
            <p:nvSpPr>
              <p:cNvPr id="188" name="Freeform 188"/>
              <p:cNvSpPr/>
              <p:nvPr/>
            </p:nvSpPr>
            <p:spPr>
              <a:xfrm>
                <a:off x="354806" y="5702300"/>
                <a:ext cx="61913" cy="20638"/>
              </a:xfrm>
              <a:custGeom>
                <a:avLst/>
                <a:gdLst/>
                <a:ahLst/>
                <a:cxnLst/>
                <a:rect l="l" t="t" r="r" b="b"/>
                <a:pathLst>
                  <a:path w="61913" h="20638">
                    <a:moveTo>
                      <a:pt x="10319" y="0"/>
                    </a:moveTo>
                    <a:lnTo>
                      <a:pt x="2853" y="3735"/>
                    </a:lnTo>
                    <a:cubicBezTo>
                      <a:pt x="1106" y="4609"/>
                      <a:pt x="1" y="6394"/>
                      <a:pt x="0" y="8348"/>
                    </a:cubicBezTo>
                    <a:lnTo>
                      <a:pt x="0" y="20638"/>
                    </a:lnTo>
                    <a:lnTo>
                      <a:pt x="61913" y="20638"/>
                    </a:lnTo>
                    <a:lnTo>
                      <a:pt x="61913" y="8348"/>
                    </a:lnTo>
                    <a:cubicBezTo>
                      <a:pt x="61911" y="6394"/>
                      <a:pt x="60807" y="4609"/>
                      <a:pt x="59059" y="3735"/>
                    </a:cubicBezTo>
                    <a:lnTo>
                      <a:pt x="51594" y="0"/>
                    </a:lnTo>
                    <a:lnTo>
                      <a:pt x="10319" y="0"/>
                    </a:lnTo>
                  </a:path>
                </a:pathLst>
              </a:custGeom>
              <a:noFill/>
              <a:ln w="10319">
                <a:solidFill>
                  <a:srgbClr val="4E0D00"/>
                </a:solidFill>
              </a:ln>
            </p:spPr>
          </p:sp>
          <p:sp>
            <p:nvSpPr>
              <p:cNvPr id="189" name="Freeform 189"/>
              <p:cNvSpPr/>
              <p:nvPr/>
            </p:nvSpPr>
            <p:spPr>
              <a:xfrm>
                <a:off x="354540" y="5635171"/>
                <a:ext cx="51860" cy="67129"/>
              </a:xfrm>
              <a:custGeom>
                <a:avLst/>
                <a:gdLst/>
                <a:ahLst/>
                <a:cxnLst/>
                <a:rect l="l" t="t" r="r" b="b"/>
                <a:pathLst>
                  <a:path w="51860" h="67129">
                    <a:moveTo>
                      <a:pt x="15744" y="57"/>
                    </a:moveTo>
                    <a:lnTo>
                      <a:pt x="20903" y="15535"/>
                    </a:lnTo>
                    <a:lnTo>
                      <a:pt x="2892" y="26617"/>
                    </a:lnTo>
                    <a:cubicBezTo>
                      <a:pt x="924" y="27826"/>
                      <a:pt x="0" y="30196"/>
                      <a:pt x="629" y="32418"/>
                    </a:cubicBezTo>
                    <a:cubicBezTo>
                      <a:pt x="1257" y="34640"/>
                      <a:pt x="3286" y="36173"/>
                      <a:pt x="5596" y="36172"/>
                    </a:cubicBezTo>
                    <a:lnTo>
                      <a:pt x="20903" y="36172"/>
                    </a:lnTo>
                    <a:lnTo>
                      <a:pt x="10208" y="67129"/>
                    </a:lnTo>
                    <a:lnTo>
                      <a:pt x="51282" y="67129"/>
                    </a:lnTo>
                    <a:lnTo>
                      <a:pt x="51860" y="41332"/>
                    </a:lnTo>
                    <a:cubicBezTo>
                      <a:pt x="51860" y="25854"/>
                      <a:pt x="46236" y="10463"/>
                      <a:pt x="31222" y="5216"/>
                    </a:cubicBezTo>
                    <a:cubicBezTo>
                      <a:pt x="21213" y="1718"/>
                      <a:pt x="16054" y="0"/>
                      <a:pt x="15744" y="57"/>
                    </a:cubicBezTo>
                  </a:path>
                </a:pathLst>
              </a:custGeom>
              <a:noFill/>
              <a:ln w="10319">
                <a:solidFill>
                  <a:srgbClr val="4E0D00"/>
                </a:solidFill>
              </a:ln>
            </p:spPr>
          </p:sp>
        </p:grpSp>
        <p:sp>
          <p:nvSpPr>
            <p:cNvPr id="191" name="TextBox 191"/>
            <p:cNvSpPr txBox="1"/>
            <p:nvPr/>
          </p:nvSpPr>
          <p:spPr>
            <a:xfrm>
              <a:off x="490538" y="5647611"/>
              <a:ext cx="200685"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战略</a:t>
              </a:r>
            </a:p>
          </p:txBody>
        </p:sp>
        <p:sp>
          <p:nvSpPr>
            <p:cNvPr id="192" name="TextBox 192"/>
            <p:cNvSpPr txBox="1"/>
            <p:nvPr/>
          </p:nvSpPr>
          <p:spPr>
            <a:xfrm>
              <a:off x="1519238" y="5655707"/>
              <a:ext cx="130187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聚焦三大战略方向，形成清晰取舍</a:t>
              </a:r>
            </a:p>
          </p:txBody>
        </p:sp>
        <p:sp>
          <p:nvSpPr>
            <p:cNvPr id="193" name="TextBox 193"/>
            <p:cNvSpPr txBox="1"/>
            <p:nvPr/>
          </p:nvSpPr>
          <p:spPr>
            <a:xfrm>
              <a:off x="4471988" y="5655707"/>
              <a:ext cx="147419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方向分散，优先级不清，资源投入分散</a:t>
              </a:r>
            </a:p>
          </p:txBody>
        </p:sp>
        <p:sp>
          <p:nvSpPr>
            <p:cNvPr id="194" name="TextBox 194"/>
            <p:cNvSpPr txBox="1"/>
            <p:nvPr/>
          </p:nvSpPr>
          <p:spPr>
            <a:xfrm>
              <a:off x="7138988" y="5655707"/>
              <a:ext cx="173266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明确战略取舍与资源组合，建立战略复盘机制</a:t>
              </a:r>
            </a:p>
          </p:txBody>
        </p:sp>
        <p:sp>
          <p:nvSpPr>
            <p:cNvPr id="195" name="TextBox 195"/>
            <p:cNvSpPr txBox="1"/>
            <p:nvPr/>
          </p:nvSpPr>
          <p:spPr>
            <a:xfrm>
              <a:off x="11069976" y="5647611"/>
              <a:ext cx="205699" cy="140494"/>
            </a:xfrm>
            <a:prstGeom prst="rect">
              <a:avLst/>
            </a:prstGeom>
            <a:noFill/>
            <a:ln>
              <a:noFill/>
            </a:ln>
          </p:spPr>
          <p:txBody>
            <a:bodyPr wrap="none" lIns="0" tIns="0" rIns="0" bIns="0" anchor="t" anchorCtr="0">
              <a:spAutoFit/>
            </a:bodyPr>
            <a:lstStyle/>
            <a:p>
              <a:pPr algn="ctr"/>
              <a:r>
                <a:rPr lang="en-US" sz="710" b="1" dirty="0">
                  <a:solidFill>
                    <a:srgbClr val="4E0D00"/>
                  </a:solidFill>
                  <a:latin typeface="+mn-lt"/>
                  <a:ea typeface="+mn-ea"/>
                  <a:cs typeface="+mn-cs"/>
                </a:rPr>
                <a:t>CEO</a:t>
              </a:r>
            </a:p>
          </p:txBody>
        </p:sp>
        <p:grpSp>
          <p:nvGrpSpPr>
            <p:cNvPr id="201" name="Group 201"/>
            <p:cNvGrpSpPr/>
            <p:nvPr/>
          </p:nvGrpSpPr>
          <p:grpSpPr>
            <a:xfrm>
              <a:off x="339328" y="5906691"/>
              <a:ext cx="92869" cy="92868"/>
              <a:chOff x="339328" y="5906691"/>
              <a:chExt cx="92869" cy="92868"/>
            </a:xfrm>
          </p:grpSpPr>
          <p:sp>
            <p:nvSpPr>
              <p:cNvPr id="196" name="Freeform 196"/>
              <p:cNvSpPr/>
              <p:nvPr/>
            </p:nvSpPr>
            <p:spPr>
              <a:xfrm>
                <a:off x="339328" y="5968603"/>
                <a:ext cx="30956" cy="30956"/>
              </a:xfrm>
              <a:custGeom>
                <a:avLst/>
                <a:gdLst/>
                <a:ahLst/>
                <a:cxnLst/>
                <a:rect l="l" t="t" r="r" b="b"/>
                <a:pathLst>
                  <a:path w="30956" h="30956">
                    <a:moveTo>
                      <a:pt x="0" y="10319"/>
                    </a:moveTo>
                    <a:cubicBezTo>
                      <a:pt x="0" y="4620"/>
                      <a:pt x="4620" y="0"/>
                      <a:pt x="10319" y="0"/>
                    </a:cubicBezTo>
                    <a:lnTo>
                      <a:pt x="20638" y="0"/>
                    </a:lnTo>
                    <a:cubicBezTo>
                      <a:pt x="26336" y="0"/>
                      <a:pt x="30956" y="4620"/>
                      <a:pt x="30956" y="10319"/>
                    </a:cubicBezTo>
                    <a:lnTo>
                      <a:pt x="30956" y="20638"/>
                    </a:lnTo>
                    <a:cubicBezTo>
                      <a:pt x="30956" y="26336"/>
                      <a:pt x="26336" y="30956"/>
                      <a:pt x="20638" y="30956"/>
                    </a:cubicBezTo>
                    <a:lnTo>
                      <a:pt x="10319" y="30956"/>
                    </a:lnTo>
                    <a:cubicBezTo>
                      <a:pt x="4620" y="30956"/>
                      <a:pt x="0" y="26336"/>
                      <a:pt x="0" y="20638"/>
                    </a:cubicBezTo>
                    <a:lnTo>
                      <a:pt x="0" y="10319"/>
                    </a:lnTo>
                  </a:path>
                </a:pathLst>
              </a:custGeom>
              <a:noFill/>
              <a:ln w="10319">
                <a:solidFill>
                  <a:srgbClr val="4E0D00"/>
                </a:solidFill>
              </a:ln>
            </p:spPr>
          </p:sp>
          <p:sp>
            <p:nvSpPr>
              <p:cNvPr id="197" name="Freeform 197"/>
              <p:cNvSpPr/>
              <p:nvPr/>
            </p:nvSpPr>
            <p:spPr>
              <a:xfrm>
                <a:off x="401241" y="5968603"/>
                <a:ext cx="30956" cy="30956"/>
              </a:xfrm>
              <a:custGeom>
                <a:avLst/>
                <a:gdLst/>
                <a:ahLst/>
                <a:cxnLst/>
                <a:rect l="l" t="t" r="r" b="b"/>
                <a:pathLst>
                  <a:path w="30956" h="30956">
                    <a:moveTo>
                      <a:pt x="0" y="10319"/>
                    </a:moveTo>
                    <a:cubicBezTo>
                      <a:pt x="0" y="4620"/>
                      <a:pt x="4620" y="0"/>
                      <a:pt x="10319" y="0"/>
                    </a:cubicBezTo>
                    <a:lnTo>
                      <a:pt x="20638" y="0"/>
                    </a:lnTo>
                    <a:cubicBezTo>
                      <a:pt x="26336" y="0"/>
                      <a:pt x="30956" y="4620"/>
                      <a:pt x="30956" y="10319"/>
                    </a:cubicBezTo>
                    <a:lnTo>
                      <a:pt x="30956" y="20638"/>
                    </a:lnTo>
                    <a:cubicBezTo>
                      <a:pt x="30956" y="26336"/>
                      <a:pt x="26336" y="30956"/>
                      <a:pt x="20638" y="30956"/>
                    </a:cubicBezTo>
                    <a:lnTo>
                      <a:pt x="10319" y="30956"/>
                    </a:lnTo>
                    <a:cubicBezTo>
                      <a:pt x="4620" y="30956"/>
                      <a:pt x="0" y="26336"/>
                      <a:pt x="0" y="20638"/>
                    </a:cubicBezTo>
                    <a:lnTo>
                      <a:pt x="0" y="10319"/>
                    </a:lnTo>
                  </a:path>
                </a:pathLst>
              </a:custGeom>
              <a:noFill/>
              <a:ln w="10319">
                <a:solidFill>
                  <a:srgbClr val="4E0D00"/>
                </a:solidFill>
              </a:ln>
            </p:spPr>
          </p:sp>
          <p:sp>
            <p:nvSpPr>
              <p:cNvPr id="198" name="Freeform 198"/>
              <p:cNvSpPr/>
              <p:nvPr/>
            </p:nvSpPr>
            <p:spPr>
              <a:xfrm>
                <a:off x="370284" y="5906691"/>
                <a:ext cx="30956" cy="30956"/>
              </a:xfrm>
              <a:custGeom>
                <a:avLst/>
                <a:gdLst/>
                <a:ahLst/>
                <a:cxnLst/>
                <a:rect l="l" t="t" r="r" b="b"/>
                <a:pathLst>
                  <a:path w="30956" h="30956">
                    <a:moveTo>
                      <a:pt x="0" y="10319"/>
                    </a:moveTo>
                    <a:cubicBezTo>
                      <a:pt x="0" y="4620"/>
                      <a:pt x="4620" y="0"/>
                      <a:pt x="10319" y="0"/>
                    </a:cubicBezTo>
                    <a:lnTo>
                      <a:pt x="20638" y="0"/>
                    </a:lnTo>
                    <a:cubicBezTo>
                      <a:pt x="26336" y="0"/>
                      <a:pt x="30956" y="4620"/>
                      <a:pt x="30956" y="10319"/>
                    </a:cubicBezTo>
                    <a:lnTo>
                      <a:pt x="30956" y="20638"/>
                    </a:lnTo>
                    <a:cubicBezTo>
                      <a:pt x="30956" y="26336"/>
                      <a:pt x="26336" y="30956"/>
                      <a:pt x="20638" y="30956"/>
                    </a:cubicBezTo>
                    <a:lnTo>
                      <a:pt x="10319" y="30956"/>
                    </a:lnTo>
                    <a:cubicBezTo>
                      <a:pt x="4620" y="30956"/>
                      <a:pt x="0" y="26336"/>
                      <a:pt x="0" y="20638"/>
                    </a:cubicBezTo>
                    <a:lnTo>
                      <a:pt x="0" y="10319"/>
                    </a:lnTo>
                  </a:path>
                </a:pathLst>
              </a:custGeom>
              <a:noFill/>
              <a:ln w="10319">
                <a:solidFill>
                  <a:srgbClr val="4E0D00"/>
                </a:solidFill>
              </a:ln>
            </p:spPr>
          </p:sp>
          <p:sp>
            <p:nvSpPr>
              <p:cNvPr id="199" name="Freeform 199"/>
              <p:cNvSpPr/>
              <p:nvPr/>
            </p:nvSpPr>
            <p:spPr>
              <a:xfrm>
                <a:off x="354806" y="5953125"/>
                <a:ext cx="61913" cy="15478"/>
              </a:xfrm>
              <a:custGeom>
                <a:avLst/>
                <a:gdLst/>
                <a:ahLst/>
                <a:cxnLst/>
                <a:rect l="l" t="t" r="r" b="b"/>
                <a:pathLst>
                  <a:path w="61913" h="15478">
                    <a:moveTo>
                      <a:pt x="0" y="15478"/>
                    </a:moveTo>
                    <a:lnTo>
                      <a:pt x="0" y="10319"/>
                    </a:lnTo>
                    <a:cubicBezTo>
                      <a:pt x="0" y="4620"/>
                      <a:pt x="4620" y="0"/>
                      <a:pt x="10319" y="0"/>
                    </a:cubicBezTo>
                    <a:lnTo>
                      <a:pt x="51594" y="0"/>
                    </a:lnTo>
                    <a:cubicBezTo>
                      <a:pt x="57293" y="0"/>
                      <a:pt x="61913" y="4620"/>
                      <a:pt x="61913" y="10319"/>
                    </a:cubicBezTo>
                    <a:lnTo>
                      <a:pt x="61913" y="15478"/>
                    </a:lnTo>
                  </a:path>
                </a:pathLst>
              </a:custGeom>
              <a:noFill/>
              <a:ln w="10319">
                <a:solidFill>
                  <a:srgbClr val="4E0D00"/>
                </a:solidFill>
              </a:ln>
            </p:spPr>
          </p:sp>
          <p:sp>
            <p:nvSpPr>
              <p:cNvPr id="200" name="Freeform 200"/>
              <p:cNvSpPr/>
              <p:nvPr/>
            </p:nvSpPr>
            <p:spPr>
              <a:xfrm>
                <a:off x="385763" y="5937647"/>
                <a:ext cx="9525" cy="15478"/>
              </a:xfrm>
              <a:custGeom>
                <a:avLst/>
                <a:gdLst/>
                <a:ahLst/>
                <a:cxnLst/>
                <a:rect l="l" t="t" r="r" b="b"/>
                <a:pathLst>
                  <a:path w="9525" h="15478">
                    <a:moveTo>
                      <a:pt x="0" y="0"/>
                    </a:moveTo>
                    <a:lnTo>
                      <a:pt x="0" y="15478"/>
                    </a:lnTo>
                  </a:path>
                </a:pathLst>
              </a:custGeom>
              <a:noFill/>
              <a:ln w="10319">
                <a:solidFill>
                  <a:srgbClr val="4E0D00"/>
                </a:solidFill>
              </a:ln>
            </p:spPr>
          </p:sp>
        </p:grpSp>
        <p:sp>
          <p:nvSpPr>
            <p:cNvPr id="202" name="TextBox 202"/>
            <p:cNvSpPr txBox="1"/>
            <p:nvPr/>
          </p:nvSpPr>
          <p:spPr>
            <a:xfrm>
              <a:off x="490538" y="5919073"/>
              <a:ext cx="200685"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结构</a:t>
              </a:r>
            </a:p>
          </p:txBody>
        </p:sp>
        <p:sp>
          <p:nvSpPr>
            <p:cNvPr id="203" name="TextBox 203"/>
            <p:cNvSpPr txBox="1"/>
            <p:nvPr/>
          </p:nvSpPr>
          <p:spPr>
            <a:xfrm>
              <a:off x="1519238" y="5927169"/>
              <a:ext cx="138803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以客户为中心的事业部制，权责清晰</a:t>
              </a:r>
            </a:p>
          </p:txBody>
        </p:sp>
        <p:sp>
          <p:nvSpPr>
            <p:cNvPr id="204" name="TextBox 204"/>
            <p:cNvSpPr txBox="1"/>
            <p:nvPr/>
          </p:nvSpPr>
          <p:spPr>
            <a:xfrm>
              <a:off x="4471988" y="5927169"/>
              <a:ext cx="130187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职能壁垒明显，跨部门协作效率低</a:t>
              </a:r>
            </a:p>
          </p:txBody>
        </p:sp>
        <p:sp>
          <p:nvSpPr>
            <p:cNvPr id="205" name="TextBox 205"/>
            <p:cNvSpPr txBox="1"/>
            <p:nvPr/>
          </p:nvSpPr>
          <p:spPr>
            <a:xfrm>
              <a:off x="7138988" y="5927169"/>
              <a:ext cx="147419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优化组织架构，明确端到端责任与接口</a:t>
              </a:r>
            </a:p>
          </p:txBody>
        </p:sp>
        <p:sp>
          <p:nvSpPr>
            <p:cNvPr id="206" name="TextBox 206"/>
            <p:cNvSpPr txBox="1"/>
            <p:nvPr/>
          </p:nvSpPr>
          <p:spPr>
            <a:xfrm>
              <a:off x="11040815" y="5919073"/>
              <a:ext cx="264021" cy="140494"/>
            </a:xfrm>
            <a:prstGeom prst="rect">
              <a:avLst/>
            </a:prstGeom>
            <a:noFill/>
            <a:ln>
              <a:noFill/>
            </a:ln>
          </p:spPr>
          <p:txBody>
            <a:bodyPr wrap="none" lIns="0" tIns="0" rIns="0" bIns="0" anchor="t" anchorCtr="0">
              <a:spAutoFit/>
            </a:bodyPr>
            <a:lstStyle/>
            <a:p>
              <a:pPr algn="ctr"/>
              <a:r>
                <a:rPr lang="en-US" sz="710" b="1" dirty="0">
                  <a:solidFill>
                    <a:srgbClr val="4E0D00"/>
                  </a:solidFill>
                  <a:latin typeface="+mn-lt"/>
                  <a:ea typeface="+mn-ea"/>
                  <a:cs typeface="+mn-cs"/>
                </a:rPr>
                <a:t>CHRO</a:t>
              </a:r>
            </a:p>
          </p:txBody>
        </p:sp>
        <p:grpSp>
          <p:nvGrpSpPr>
            <p:cNvPr id="211" name="Group 211"/>
            <p:cNvGrpSpPr/>
            <p:nvPr/>
          </p:nvGrpSpPr>
          <p:grpSpPr>
            <a:xfrm>
              <a:off x="339328" y="6178153"/>
              <a:ext cx="92869" cy="92869"/>
              <a:chOff x="339328" y="6178153"/>
              <a:chExt cx="92869" cy="92869"/>
            </a:xfrm>
          </p:grpSpPr>
          <p:sp>
            <p:nvSpPr>
              <p:cNvPr id="207" name="Freeform 207"/>
              <p:cNvSpPr/>
              <p:nvPr/>
            </p:nvSpPr>
            <p:spPr>
              <a:xfrm>
                <a:off x="349647" y="6178153"/>
                <a:ext cx="41275" cy="41275"/>
              </a:xfrm>
              <a:custGeom>
                <a:avLst/>
                <a:gdLst/>
                <a:ahLst/>
                <a:cxnLst/>
                <a:rect l="l" t="t" r="r" b="b"/>
                <a:pathLst>
                  <a:path w="41275" h="41275">
                    <a:moveTo>
                      <a:pt x="0" y="20638"/>
                    </a:moveTo>
                    <a:cubicBezTo>
                      <a:pt x="0" y="32035"/>
                      <a:pt x="9240" y="41275"/>
                      <a:pt x="20638" y="41275"/>
                    </a:cubicBezTo>
                    <a:cubicBezTo>
                      <a:pt x="32035" y="41275"/>
                      <a:pt x="41275" y="32035"/>
                      <a:pt x="41275" y="20638"/>
                    </a:cubicBezTo>
                    <a:cubicBezTo>
                      <a:pt x="41275" y="9240"/>
                      <a:pt x="32035" y="0"/>
                      <a:pt x="20638" y="0"/>
                    </a:cubicBezTo>
                    <a:cubicBezTo>
                      <a:pt x="9240" y="0"/>
                      <a:pt x="0" y="9240"/>
                      <a:pt x="0" y="20638"/>
                    </a:cubicBezTo>
                  </a:path>
                </a:pathLst>
              </a:custGeom>
              <a:noFill/>
              <a:ln w="10319">
                <a:solidFill>
                  <a:srgbClr val="4E0D00"/>
                </a:solidFill>
              </a:ln>
            </p:spPr>
          </p:sp>
          <p:sp>
            <p:nvSpPr>
              <p:cNvPr id="208" name="Freeform 208"/>
              <p:cNvSpPr/>
              <p:nvPr/>
            </p:nvSpPr>
            <p:spPr>
              <a:xfrm>
                <a:off x="339328" y="6240066"/>
                <a:ext cx="61913" cy="30956"/>
              </a:xfrm>
              <a:custGeom>
                <a:avLst/>
                <a:gdLst/>
                <a:ahLst/>
                <a:cxnLst/>
                <a:rect l="l" t="t" r="r" b="b"/>
                <a:pathLst>
                  <a:path w="61913" h="30956">
                    <a:moveTo>
                      <a:pt x="0" y="30956"/>
                    </a:moveTo>
                    <a:lnTo>
                      <a:pt x="0" y="20638"/>
                    </a:lnTo>
                    <a:cubicBezTo>
                      <a:pt x="0" y="9240"/>
                      <a:pt x="9240" y="0"/>
                      <a:pt x="20638" y="0"/>
                    </a:cubicBezTo>
                    <a:lnTo>
                      <a:pt x="41275" y="0"/>
                    </a:lnTo>
                    <a:cubicBezTo>
                      <a:pt x="52673" y="0"/>
                      <a:pt x="61913" y="9240"/>
                      <a:pt x="61913" y="20638"/>
                    </a:cubicBezTo>
                    <a:lnTo>
                      <a:pt x="61913" y="30956"/>
                    </a:lnTo>
                  </a:path>
                </a:pathLst>
              </a:custGeom>
              <a:noFill/>
              <a:ln w="10319">
                <a:solidFill>
                  <a:srgbClr val="4E0D00"/>
                </a:solidFill>
              </a:ln>
            </p:spPr>
          </p:sp>
          <p:sp>
            <p:nvSpPr>
              <p:cNvPr id="209" name="Freeform 209"/>
              <p:cNvSpPr/>
              <p:nvPr/>
            </p:nvSpPr>
            <p:spPr>
              <a:xfrm>
                <a:off x="406400" y="6178824"/>
                <a:ext cx="15519" cy="39985"/>
              </a:xfrm>
              <a:custGeom>
                <a:avLst/>
                <a:gdLst/>
                <a:ahLst/>
                <a:cxnLst/>
                <a:rect l="l" t="t" r="r" b="b"/>
                <a:pathLst>
                  <a:path w="15519" h="39985">
                    <a:moveTo>
                      <a:pt x="0" y="0"/>
                    </a:moveTo>
                    <a:cubicBezTo>
                      <a:pt x="9132" y="2338"/>
                      <a:pt x="15519" y="10566"/>
                      <a:pt x="15519" y="19993"/>
                    </a:cubicBezTo>
                    <a:cubicBezTo>
                      <a:pt x="15519" y="29419"/>
                      <a:pt x="9132" y="37647"/>
                      <a:pt x="0" y="39985"/>
                    </a:cubicBezTo>
                  </a:path>
                </a:pathLst>
              </a:custGeom>
              <a:noFill/>
              <a:ln w="10319">
                <a:solidFill>
                  <a:srgbClr val="4E0D00"/>
                </a:solidFill>
              </a:ln>
            </p:spPr>
          </p:sp>
          <p:sp>
            <p:nvSpPr>
              <p:cNvPr id="210" name="Freeform 210"/>
              <p:cNvSpPr/>
              <p:nvPr/>
            </p:nvSpPr>
            <p:spPr>
              <a:xfrm>
                <a:off x="416719" y="6240840"/>
                <a:ext cx="15478" cy="30182"/>
              </a:xfrm>
              <a:custGeom>
                <a:avLst/>
                <a:gdLst/>
                <a:ahLst/>
                <a:cxnLst/>
                <a:rect l="l" t="t" r="r" b="b"/>
                <a:pathLst>
                  <a:path w="15478" h="30182">
                    <a:moveTo>
                      <a:pt x="15478" y="30182"/>
                    </a:moveTo>
                    <a:lnTo>
                      <a:pt x="15478" y="19864"/>
                    </a:lnTo>
                    <a:cubicBezTo>
                      <a:pt x="15424" y="10497"/>
                      <a:pt x="9069" y="2342"/>
                      <a:pt x="0" y="0"/>
                    </a:cubicBezTo>
                  </a:path>
                </a:pathLst>
              </a:custGeom>
              <a:noFill/>
              <a:ln w="10319">
                <a:solidFill>
                  <a:srgbClr val="4E0D00"/>
                </a:solidFill>
              </a:ln>
            </p:spPr>
          </p:sp>
        </p:grpSp>
        <p:sp>
          <p:nvSpPr>
            <p:cNvPr id="212" name="TextBox 212"/>
            <p:cNvSpPr txBox="1"/>
            <p:nvPr/>
          </p:nvSpPr>
          <p:spPr>
            <a:xfrm>
              <a:off x="490538" y="6190536"/>
              <a:ext cx="200685"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人员</a:t>
              </a:r>
            </a:p>
          </p:txBody>
        </p:sp>
        <p:sp>
          <p:nvSpPr>
            <p:cNvPr id="213" name="TextBox 213"/>
            <p:cNvSpPr txBox="1"/>
            <p:nvPr/>
          </p:nvSpPr>
          <p:spPr>
            <a:xfrm>
              <a:off x="1519238" y="6198632"/>
              <a:ext cx="138803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关键岗位人才到位，高绩效团队稳定</a:t>
              </a:r>
            </a:p>
          </p:txBody>
        </p:sp>
        <p:sp>
          <p:nvSpPr>
            <p:cNvPr id="214" name="TextBox 214"/>
            <p:cNvSpPr txBox="1"/>
            <p:nvPr/>
          </p:nvSpPr>
          <p:spPr>
            <a:xfrm>
              <a:off x="4471988" y="6198632"/>
              <a:ext cx="147419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关键岗位空缺，人才结构与能力不匹配</a:t>
              </a:r>
            </a:p>
          </p:txBody>
        </p:sp>
        <p:sp>
          <p:nvSpPr>
            <p:cNvPr id="215" name="TextBox 215"/>
            <p:cNvSpPr txBox="1"/>
            <p:nvPr/>
          </p:nvSpPr>
          <p:spPr>
            <a:xfrm>
              <a:off x="7138988" y="6198632"/>
              <a:ext cx="156034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关键岗位补齐与继任计划，优化人才配置</a:t>
              </a:r>
            </a:p>
          </p:txBody>
        </p:sp>
        <p:sp>
          <p:nvSpPr>
            <p:cNvPr id="216" name="TextBox 216"/>
            <p:cNvSpPr txBox="1"/>
            <p:nvPr/>
          </p:nvSpPr>
          <p:spPr>
            <a:xfrm>
              <a:off x="11040815" y="6190536"/>
              <a:ext cx="264021" cy="140494"/>
            </a:xfrm>
            <a:prstGeom prst="rect">
              <a:avLst/>
            </a:prstGeom>
            <a:noFill/>
            <a:ln>
              <a:noFill/>
            </a:ln>
          </p:spPr>
          <p:txBody>
            <a:bodyPr wrap="none" lIns="0" tIns="0" rIns="0" bIns="0" anchor="t" anchorCtr="0">
              <a:spAutoFit/>
            </a:bodyPr>
            <a:lstStyle/>
            <a:p>
              <a:pPr algn="ctr"/>
              <a:r>
                <a:rPr lang="en-US" sz="710" b="1" dirty="0">
                  <a:solidFill>
                    <a:srgbClr val="4E0D00"/>
                  </a:solidFill>
                  <a:latin typeface="+mn-lt"/>
                  <a:ea typeface="+mn-ea"/>
                  <a:cs typeface="+mn-cs"/>
                </a:rPr>
                <a:t>CHRO</a:t>
              </a:r>
            </a:p>
          </p:txBody>
        </p:sp>
        <p:grpSp>
          <p:nvGrpSpPr>
            <p:cNvPr id="223" name="Group 223"/>
            <p:cNvGrpSpPr/>
            <p:nvPr/>
          </p:nvGrpSpPr>
          <p:grpSpPr>
            <a:xfrm>
              <a:off x="339328" y="6449616"/>
              <a:ext cx="92869" cy="92868"/>
              <a:chOff x="339328" y="6449616"/>
              <a:chExt cx="92869" cy="92868"/>
            </a:xfrm>
          </p:grpSpPr>
          <p:sp>
            <p:nvSpPr>
              <p:cNvPr id="217" name="Freeform 217"/>
              <p:cNvSpPr/>
              <p:nvPr/>
            </p:nvSpPr>
            <p:spPr>
              <a:xfrm>
                <a:off x="385763" y="6501209"/>
                <a:ext cx="36116" cy="41275"/>
              </a:xfrm>
              <a:custGeom>
                <a:avLst/>
                <a:gdLst/>
                <a:ahLst/>
                <a:cxnLst/>
                <a:rect l="l" t="t" r="r" b="b"/>
                <a:pathLst>
                  <a:path w="36116" h="41275">
                    <a:moveTo>
                      <a:pt x="18058" y="0"/>
                    </a:moveTo>
                    <a:cubicBezTo>
                      <a:pt x="8085" y="0"/>
                      <a:pt x="0" y="8085"/>
                      <a:pt x="0" y="18058"/>
                    </a:cubicBezTo>
                    <a:lnTo>
                      <a:pt x="0" y="23217"/>
                    </a:lnTo>
                    <a:cubicBezTo>
                      <a:pt x="0" y="33190"/>
                      <a:pt x="8085" y="41275"/>
                      <a:pt x="18058" y="41275"/>
                    </a:cubicBezTo>
                    <a:cubicBezTo>
                      <a:pt x="28031" y="41275"/>
                      <a:pt x="36116" y="33190"/>
                      <a:pt x="36116" y="23217"/>
                    </a:cubicBezTo>
                    <a:lnTo>
                      <a:pt x="36116" y="13930"/>
                    </a:lnTo>
                  </a:path>
                </a:pathLst>
              </a:custGeom>
              <a:noFill/>
              <a:ln w="10319">
                <a:solidFill>
                  <a:srgbClr val="4E0D00"/>
                </a:solidFill>
              </a:ln>
            </p:spPr>
          </p:sp>
          <p:sp>
            <p:nvSpPr>
              <p:cNvPr id="218" name="Freeform 218"/>
              <p:cNvSpPr/>
              <p:nvPr/>
            </p:nvSpPr>
            <p:spPr>
              <a:xfrm>
                <a:off x="349647" y="6501209"/>
                <a:ext cx="36116" cy="41275"/>
              </a:xfrm>
              <a:custGeom>
                <a:avLst/>
                <a:gdLst/>
                <a:ahLst/>
                <a:cxnLst/>
                <a:rect l="l" t="t" r="r" b="b"/>
                <a:pathLst>
                  <a:path w="36116" h="41275">
                    <a:moveTo>
                      <a:pt x="18058" y="0"/>
                    </a:moveTo>
                    <a:cubicBezTo>
                      <a:pt x="28031" y="0"/>
                      <a:pt x="36116" y="8085"/>
                      <a:pt x="36116" y="18058"/>
                    </a:cubicBezTo>
                    <a:lnTo>
                      <a:pt x="36116" y="23217"/>
                    </a:lnTo>
                    <a:cubicBezTo>
                      <a:pt x="36116" y="33190"/>
                      <a:pt x="28031" y="41275"/>
                      <a:pt x="18058" y="41275"/>
                    </a:cubicBezTo>
                    <a:cubicBezTo>
                      <a:pt x="8085" y="41275"/>
                      <a:pt x="0" y="33190"/>
                      <a:pt x="0" y="23217"/>
                    </a:cubicBezTo>
                    <a:lnTo>
                      <a:pt x="0" y="13930"/>
                    </a:lnTo>
                  </a:path>
                </a:pathLst>
              </a:custGeom>
              <a:noFill/>
              <a:ln w="10319">
                <a:solidFill>
                  <a:srgbClr val="4E0D00"/>
                </a:solidFill>
              </a:ln>
            </p:spPr>
          </p:sp>
          <p:sp>
            <p:nvSpPr>
              <p:cNvPr id="219" name="Freeform 219"/>
              <p:cNvSpPr/>
              <p:nvPr/>
            </p:nvSpPr>
            <p:spPr>
              <a:xfrm>
                <a:off x="411559" y="6480572"/>
                <a:ext cx="20638" cy="36116"/>
              </a:xfrm>
              <a:custGeom>
                <a:avLst/>
                <a:gdLst/>
                <a:ahLst/>
                <a:cxnLst/>
                <a:rect l="l" t="t" r="r" b="b"/>
                <a:pathLst>
                  <a:path w="20638" h="36116">
                    <a:moveTo>
                      <a:pt x="2580" y="36116"/>
                    </a:moveTo>
                    <a:cubicBezTo>
                      <a:pt x="12553" y="36116"/>
                      <a:pt x="20638" y="28031"/>
                      <a:pt x="20638" y="18058"/>
                    </a:cubicBezTo>
                    <a:cubicBezTo>
                      <a:pt x="20638" y="8085"/>
                      <a:pt x="12553" y="0"/>
                      <a:pt x="2580" y="0"/>
                    </a:cubicBezTo>
                    <a:lnTo>
                      <a:pt x="0" y="0"/>
                    </a:lnTo>
                  </a:path>
                </a:pathLst>
              </a:custGeom>
              <a:noFill/>
              <a:ln w="10319">
                <a:solidFill>
                  <a:srgbClr val="4E0D00"/>
                </a:solidFill>
              </a:ln>
            </p:spPr>
          </p:sp>
          <p:sp>
            <p:nvSpPr>
              <p:cNvPr id="220" name="Freeform 220"/>
              <p:cNvSpPr/>
              <p:nvPr/>
            </p:nvSpPr>
            <p:spPr>
              <a:xfrm>
                <a:off x="385763" y="6449616"/>
                <a:ext cx="36116" cy="32504"/>
              </a:xfrm>
              <a:custGeom>
                <a:avLst/>
                <a:gdLst/>
                <a:ahLst/>
                <a:cxnLst/>
                <a:rect l="l" t="t" r="r" b="b"/>
                <a:pathLst>
                  <a:path w="36116" h="32504">
                    <a:moveTo>
                      <a:pt x="36116" y="32504"/>
                    </a:moveTo>
                    <a:lnTo>
                      <a:pt x="36116" y="18058"/>
                    </a:lnTo>
                    <a:cubicBezTo>
                      <a:pt x="36116" y="8085"/>
                      <a:pt x="28031" y="0"/>
                      <a:pt x="18058" y="0"/>
                    </a:cubicBezTo>
                    <a:cubicBezTo>
                      <a:pt x="8085" y="0"/>
                      <a:pt x="0" y="8085"/>
                      <a:pt x="0" y="18058"/>
                    </a:cubicBezTo>
                  </a:path>
                </a:pathLst>
              </a:custGeom>
              <a:noFill/>
              <a:ln w="10319">
                <a:solidFill>
                  <a:srgbClr val="4E0D00"/>
                </a:solidFill>
              </a:ln>
            </p:spPr>
          </p:sp>
          <p:sp>
            <p:nvSpPr>
              <p:cNvPr id="221" name="Freeform 221"/>
              <p:cNvSpPr/>
              <p:nvPr/>
            </p:nvSpPr>
            <p:spPr>
              <a:xfrm>
                <a:off x="339328" y="6480572"/>
                <a:ext cx="20638" cy="36116"/>
              </a:xfrm>
              <a:custGeom>
                <a:avLst/>
                <a:gdLst/>
                <a:ahLst/>
                <a:cxnLst/>
                <a:rect l="l" t="t" r="r" b="b"/>
                <a:pathLst>
                  <a:path w="20638" h="36116">
                    <a:moveTo>
                      <a:pt x="18058" y="36116"/>
                    </a:moveTo>
                    <a:cubicBezTo>
                      <a:pt x="8085" y="36116"/>
                      <a:pt x="0" y="28031"/>
                      <a:pt x="0" y="18058"/>
                    </a:cubicBezTo>
                    <a:cubicBezTo>
                      <a:pt x="0" y="8085"/>
                      <a:pt x="8085" y="0"/>
                      <a:pt x="18058" y="0"/>
                    </a:cubicBezTo>
                    <a:lnTo>
                      <a:pt x="20638" y="0"/>
                    </a:lnTo>
                  </a:path>
                </a:pathLst>
              </a:custGeom>
              <a:noFill/>
              <a:ln w="10319">
                <a:solidFill>
                  <a:srgbClr val="4E0D00"/>
                </a:solidFill>
              </a:ln>
            </p:spPr>
          </p:sp>
          <p:sp>
            <p:nvSpPr>
              <p:cNvPr id="222" name="Freeform 222"/>
              <p:cNvSpPr/>
              <p:nvPr/>
            </p:nvSpPr>
            <p:spPr>
              <a:xfrm>
                <a:off x="349647" y="6449616"/>
                <a:ext cx="36116" cy="69652"/>
              </a:xfrm>
              <a:custGeom>
                <a:avLst/>
                <a:gdLst/>
                <a:ahLst/>
                <a:cxnLst/>
                <a:rect l="l" t="t" r="r" b="b"/>
                <a:pathLst>
                  <a:path w="36116" h="69652">
                    <a:moveTo>
                      <a:pt x="0" y="32504"/>
                    </a:moveTo>
                    <a:lnTo>
                      <a:pt x="0" y="18058"/>
                    </a:lnTo>
                    <a:cubicBezTo>
                      <a:pt x="0" y="8085"/>
                      <a:pt x="8085" y="0"/>
                      <a:pt x="18058" y="0"/>
                    </a:cubicBezTo>
                    <a:cubicBezTo>
                      <a:pt x="28031" y="0"/>
                      <a:pt x="36116" y="8085"/>
                      <a:pt x="36116" y="18058"/>
                    </a:cubicBezTo>
                    <a:lnTo>
                      <a:pt x="36116" y="69652"/>
                    </a:lnTo>
                  </a:path>
                </a:pathLst>
              </a:custGeom>
              <a:noFill/>
              <a:ln w="10319">
                <a:solidFill>
                  <a:srgbClr val="4E0D00"/>
                </a:solidFill>
              </a:ln>
            </p:spPr>
          </p:sp>
        </p:grpSp>
        <p:sp>
          <p:nvSpPr>
            <p:cNvPr id="224" name="TextBox 224"/>
            <p:cNvSpPr txBox="1"/>
            <p:nvPr/>
          </p:nvSpPr>
          <p:spPr>
            <a:xfrm>
              <a:off x="490538" y="6461998"/>
              <a:ext cx="200685"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能力</a:t>
              </a:r>
            </a:p>
          </p:txBody>
        </p:sp>
        <p:sp>
          <p:nvSpPr>
            <p:cNvPr id="225" name="TextBox 225"/>
            <p:cNvSpPr txBox="1"/>
            <p:nvPr/>
          </p:nvSpPr>
          <p:spPr>
            <a:xfrm>
              <a:off x="1519238" y="6470094"/>
              <a:ext cx="11769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关键能力满足未来3年战略需要</a:t>
              </a:r>
            </a:p>
          </p:txBody>
        </p:sp>
        <p:sp>
          <p:nvSpPr>
            <p:cNvPr id="226" name="TextBox 226"/>
            <p:cNvSpPr txBox="1"/>
            <p:nvPr/>
          </p:nvSpPr>
          <p:spPr>
            <a:xfrm>
              <a:off x="4471988" y="6470094"/>
              <a:ext cx="147419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数字化与创新能力不足，学习体系薄弱</a:t>
              </a:r>
            </a:p>
          </p:txBody>
        </p:sp>
        <p:sp>
          <p:nvSpPr>
            <p:cNvPr id="227" name="TextBox 227"/>
            <p:cNvSpPr txBox="1"/>
            <p:nvPr/>
          </p:nvSpPr>
          <p:spPr>
            <a:xfrm>
              <a:off x="7138988" y="6470094"/>
              <a:ext cx="164650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能力地图与培养计划，搭建学习与实践平台</a:t>
              </a:r>
            </a:p>
          </p:txBody>
        </p:sp>
        <p:sp>
          <p:nvSpPr>
            <p:cNvPr id="228" name="TextBox 228"/>
            <p:cNvSpPr txBox="1"/>
            <p:nvPr/>
          </p:nvSpPr>
          <p:spPr>
            <a:xfrm>
              <a:off x="11069976" y="6461998"/>
              <a:ext cx="205699" cy="140494"/>
            </a:xfrm>
            <a:prstGeom prst="rect">
              <a:avLst/>
            </a:prstGeom>
            <a:noFill/>
            <a:ln>
              <a:noFill/>
            </a:ln>
          </p:spPr>
          <p:txBody>
            <a:bodyPr wrap="none" lIns="0" tIns="0" rIns="0" bIns="0" anchor="t" anchorCtr="0">
              <a:spAutoFit/>
            </a:bodyPr>
            <a:lstStyle/>
            <a:p>
              <a:pPr algn="ctr"/>
              <a:r>
                <a:rPr lang="en-US" sz="710" b="1" dirty="0">
                  <a:solidFill>
                    <a:srgbClr val="4E0D00"/>
                  </a:solidFill>
                  <a:latin typeface="+mn-lt"/>
                  <a:ea typeface="+mn-ea"/>
                  <a:cs typeface="+mn-cs"/>
                </a:rPr>
                <a:t>CLO</a:t>
              </a:r>
            </a:p>
          </p:txBody>
        </p:sp>
      </p:gr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578358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三层面增长｜同时经营今天、明天和后天</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38" name="growth-chart"/>
          <p:cNvGrpSpPr/>
          <p:nvPr/>
        </p:nvGrpSpPr>
        <p:grpSpPr>
          <a:xfrm>
            <a:off x="376047" y="866299"/>
            <a:ext cx="6801473" cy="1902381"/>
            <a:chOff x="376047" y="866299"/>
            <a:chExt cx="6801473" cy="1902381"/>
          </a:xfrm>
        </p:grpSpPr>
        <p:sp>
          <p:nvSpPr>
            <p:cNvPr id="6" name="TextBox 6"/>
            <p:cNvSpPr txBox="1"/>
            <p:nvPr/>
          </p:nvSpPr>
          <p:spPr>
            <a:xfrm>
              <a:off x="376047" y="866299"/>
              <a:ext cx="933399" cy="190690"/>
            </a:xfrm>
            <a:prstGeom prst="rect">
              <a:avLst/>
            </a:prstGeom>
            <a:noFill/>
            <a:ln>
              <a:noFill/>
            </a:ln>
          </p:spPr>
          <p:txBody>
            <a:bodyPr wrap="none" lIns="0" tIns="0" rIns="0" bIns="0" anchor="t" anchorCtr="0">
              <a:spAutoFit/>
            </a:bodyPr>
            <a:lstStyle/>
            <a:p>
              <a:pPr algn="l"/>
              <a:r>
                <a:rPr lang="zh-CN" sz="980" b="1" dirty="0">
                  <a:solidFill>
                    <a:srgbClr val="4E0D00"/>
                  </a:solidFill>
                  <a:latin typeface="+mn-lt"/>
                  <a:ea typeface="+mn-ea"/>
                  <a:cs typeface="+mn-cs"/>
                </a:rPr>
                <a:t>三层面增长曲线</a:t>
              </a:r>
            </a:p>
          </p:txBody>
        </p:sp>
        <p:sp>
          <p:nvSpPr>
            <p:cNvPr id="7" name="TextBox 7"/>
            <p:cNvSpPr txBox="1"/>
            <p:nvPr/>
          </p:nvSpPr>
          <p:spPr>
            <a:xfrm>
              <a:off x="376238" y="1045607"/>
              <a:ext cx="784936" cy="126206"/>
            </a:xfrm>
            <a:prstGeom prst="rect">
              <a:avLst/>
            </a:prstGeom>
            <a:noFill/>
            <a:ln>
              <a:noFill/>
            </a:ln>
          </p:spPr>
          <p:txBody>
            <a:bodyPr wrap="none" lIns="0" tIns="0" rIns="0" bIns="0" anchor="t" anchorCtr="0">
              <a:spAutoFit/>
            </a:bodyPr>
            <a:lstStyle/>
            <a:p>
              <a:pPr algn="l"/>
              <a:r>
                <a:rPr lang="zh-CN" sz="640" dirty="0">
                  <a:solidFill>
                    <a:srgbClr val="7E6A66"/>
                  </a:solidFill>
                  <a:latin typeface="+mn-lt"/>
                  <a:ea typeface="+mn-ea"/>
                  <a:cs typeface="+mn-cs"/>
                </a:rPr>
                <a:t>时间与增长贡献示意</a:t>
              </a:r>
            </a:p>
          </p:txBody>
        </p:sp>
        <p:sp>
          <p:nvSpPr>
            <p:cNvPr id="8" name="Line 8"/>
            <p:cNvSpPr/>
            <p:nvPr/>
          </p:nvSpPr>
          <p:spPr>
            <a:xfrm>
              <a:off x="2762250" y="1200150"/>
              <a:ext cx="9525" cy="1314450"/>
            </a:xfrm>
            <a:custGeom>
              <a:avLst/>
              <a:gdLst/>
              <a:ahLst/>
              <a:cxnLst/>
              <a:rect l="l" t="t" r="r" b="b"/>
              <a:pathLst>
                <a:path w="9525" h="1314450">
                  <a:moveTo>
                    <a:pt x="0" y="0"/>
                  </a:moveTo>
                  <a:lnTo>
                    <a:pt x="0" y="1314450"/>
                  </a:lnTo>
                </a:path>
              </a:pathLst>
            </a:custGeom>
            <a:noFill/>
            <a:ln w="7620">
              <a:solidFill>
                <a:srgbClr val="D8E1EE"/>
              </a:solidFill>
              <a:custDash>
                <a:ds d="375000" sp="375000"/>
              </a:custDash>
            </a:ln>
          </p:spPr>
        </p:sp>
        <p:sp>
          <p:nvSpPr>
            <p:cNvPr id="9" name="Line 9"/>
            <p:cNvSpPr/>
            <p:nvPr/>
          </p:nvSpPr>
          <p:spPr>
            <a:xfrm>
              <a:off x="4857750" y="1200150"/>
              <a:ext cx="9525" cy="1314450"/>
            </a:xfrm>
            <a:custGeom>
              <a:avLst/>
              <a:gdLst/>
              <a:ahLst/>
              <a:cxnLst/>
              <a:rect l="l" t="t" r="r" b="b"/>
              <a:pathLst>
                <a:path w="9525" h="1314450">
                  <a:moveTo>
                    <a:pt x="0" y="0"/>
                  </a:moveTo>
                  <a:lnTo>
                    <a:pt x="0" y="1314450"/>
                  </a:lnTo>
                </a:path>
              </a:pathLst>
            </a:custGeom>
            <a:noFill/>
            <a:ln w="7620">
              <a:solidFill>
                <a:srgbClr val="D8E1EE"/>
              </a:solidFill>
              <a:custDash>
                <a:ds d="375000" sp="375000"/>
              </a:custDash>
            </a:ln>
          </p:spPr>
        </p:sp>
        <p:sp>
          <p:nvSpPr>
            <p:cNvPr id="10" name="h1-area"/>
            <p:cNvSpPr/>
            <p:nvPr/>
          </p:nvSpPr>
          <p:spPr>
            <a:xfrm>
              <a:off x="704850" y="1238250"/>
              <a:ext cx="6343650" cy="1276350"/>
            </a:xfrm>
            <a:custGeom>
              <a:avLst/>
              <a:gdLst/>
              <a:ahLst/>
              <a:cxnLst/>
              <a:rect l="l" t="t" r="r" b="b"/>
              <a:pathLst>
                <a:path w="6343650" h="1276350">
                  <a:moveTo>
                    <a:pt x="0" y="1162050"/>
                  </a:moveTo>
                  <a:cubicBezTo>
                    <a:pt x="438150" y="285750"/>
                    <a:pt x="1009650" y="0"/>
                    <a:pt x="1676400" y="114300"/>
                  </a:cubicBezTo>
                  <a:cubicBezTo>
                    <a:pt x="2438400" y="247650"/>
                    <a:pt x="3295650" y="819150"/>
                    <a:pt x="4248150" y="1047750"/>
                  </a:cubicBezTo>
                  <a:cubicBezTo>
                    <a:pt x="5010150" y="1200150"/>
                    <a:pt x="5772150" y="1238250"/>
                    <a:pt x="6343650" y="1247775"/>
                  </a:cubicBezTo>
                  <a:lnTo>
                    <a:pt x="6343650" y="1276350"/>
                  </a:lnTo>
                  <a:lnTo>
                    <a:pt x="0" y="1276350"/>
                  </a:lnTo>
                  <a:close/>
                </a:path>
              </a:pathLst>
            </a:custGeom>
            <a:gradFill>
              <a:gsLst>
                <a:gs pos="0">
                  <a:srgbClr val="4E0D00">
                    <a:alpha val="22000"/>
                  </a:srgbClr>
                </a:gs>
                <a:gs pos="100000">
                  <a:srgbClr val="4E0D00">
                    <a:alpha val="0"/>
                  </a:srgbClr>
                </a:gs>
              </a:gsLst>
              <a:lin ang="5400000" scaled="1"/>
            </a:gradFill>
            <a:ln>
              <a:noFill/>
            </a:ln>
          </p:spPr>
        </p:sp>
        <p:sp>
          <p:nvSpPr>
            <p:cNvPr id="11" name="h1-line"/>
            <p:cNvSpPr/>
            <p:nvPr/>
          </p:nvSpPr>
          <p:spPr>
            <a:xfrm>
              <a:off x="704850" y="1238250"/>
              <a:ext cx="6343650" cy="1247775"/>
            </a:xfrm>
            <a:custGeom>
              <a:avLst/>
              <a:gdLst/>
              <a:ahLst/>
              <a:cxnLst/>
              <a:rect l="l" t="t" r="r" b="b"/>
              <a:pathLst>
                <a:path w="6343650" h="1247775">
                  <a:moveTo>
                    <a:pt x="0" y="1162050"/>
                  </a:moveTo>
                  <a:cubicBezTo>
                    <a:pt x="438150" y="285750"/>
                    <a:pt x="1009650" y="0"/>
                    <a:pt x="1676400" y="114300"/>
                  </a:cubicBezTo>
                  <a:cubicBezTo>
                    <a:pt x="2438400" y="247650"/>
                    <a:pt x="3295650" y="819150"/>
                    <a:pt x="4248150" y="1047750"/>
                  </a:cubicBezTo>
                  <a:cubicBezTo>
                    <a:pt x="5010150" y="1200150"/>
                    <a:pt x="5772150" y="1238250"/>
                    <a:pt x="6343650" y="1247775"/>
                  </a:cubicBezTo>
                </a:path>
              </a:pathLst>
            </a:custGeom>
            <a:noFill/>
            <a:ln w="20955">
              <a:solidFill>
                <a:srgbClr val="4E0D00"/>
              </a:solidFill>
            </a:ln>
          </p:spPr>
        </p:sp>
        <p:sp>
          <p:nvSpPr>
            <p:cNvPr id="12" name="h2-line"/>
            <p:cNvSpPr/>
            <p:nvPr/>
          </p:nvSpPr>
          <p:spPr>
            <a:xfrm>
              <a:off x="704850" y="1428750"/>
              <a:ext cx="6343650" cy="1028700"/>
            </a:xfrm>
            <a:custGeom>
              <a:avLst/>
              <a:gdLst/>
              <a:ahLst/>
              <a:cxnLst/>
              <a:rect l="l" t="t" r="r" b="b"/>
              <a:pathLst>
                <a:path w="6343650" h="1028700">
                  <a:moveTo>
                    <a:pt x="0" y="1028700"/>
                  </a:moveTo>
                  <a:cubicBezTo>
                    <a:pt x="914400" y="971550"/>
                    <a:pt x="1771650" y="552450"/>
                    <a:pt x="2533650" y="266700"/>
                  </a:cubicBezTo>
                  <a:cubicBezTo>
                    <a:pt x="3105150" y="57150"/>
                    <a:pt x="3581400" y="0"/>
                    <a:pt x="4057650" y="114300"/>
                  </a:cubicBezTo>
                  <a:cubicBezTo>
                    <a:pt x="4724400" y="285750"/>
                    <a:pt x="5581650" y="609600"/>
                    <a:pt x="6343650" y="742950"/>
                  </a:cubicBezTo>
                </a:path>
              </a:pathLst>
            </a:custGeom>
            <a:noFill/>
            <a:ln w="19050">
              <a:solidFill>
                <a:srgbClr val="944130"/>
              </a:solidFill>
            </a:ln>
          </p:spPr>
        </p:sp>
        <p:sp>
          <p:nvSpPr>
            <p:cNvPr id="13" name="h3-line"/>
            <p:cNvSpPr/>
            <p:nvPr/>
          </p:nvSpPr>
          <p:spPr>
            <a:xfrm>
              <a:off x="704850" y="1447800"/>
              <a:ext cx="6343650" cy="1028700"/>
            </a:xfrm>
            <a:custGeom>
              <a:avLst/>
              <a:gdLst/>
              <a:ahLst/>
              <a:cxnLst/>
              <a:rect l="l" t="t" r="r" b="b"/>
              <a:pathLst>
                <a:path w="6343650" h="1028700">
                  <a:moveTo>
                    <a:pt x="0" y="1028700"/>
                  </a:moveTo>
                  <a:cubicBezTo>
                    <a:pt x="1581150" y="1009650"/>
                    <a:pt x="3105150" y="914400"/>
                    <a:pt x="4248150" y="704850"/>
                  </a:cubicBezTo>
                  <a:cubicBezTo>
                    <a:pt x="5105400" y="552450"/>
                    <a:pt x="5867400" y="285750"/>
                    <a:pt x="6343650" y="0"/>
                  </a:cubicBezTo>
                </a:path>
              </a:pathLst>
            </a:custGeom>
            <a:noFill/>
            <a:ln w="19050">
              <a:solidFill>
                <a:srgbClr val="C8998F"/>
              </a:solidFill>
            </a:ln>
          </p:spPr>
        </p:sp>
        <p:sp>
          <p:nvSpPr>
            <p:cNvPr id="14" name="Line 14"/>
            <p:cNvSpPr/>
            <p:nvPr/>
          </p:nvSpPr>
          <p:spPr>
            <a:xfrm flipV="1">
              <a:off x="685800" y="1219200"/>
              <a:ext cx="1" cy="1295400"/>
            </a:xfrm>
            <a:prstGeom prst="line">
              <a:avLst/>
            </a:prstGeom>
            <a:noFill/>
            <a:ln w="10478">
              <a:solidFill>
                <a:srgbClr val="7E6A66"/>
              </a:solidFill>
              <a:tailEnd type="triangle" w="lg" len="lg"/>
            </a:ln>
          </p:spPr>
        </p:sp>
        <p:sp>
          <p:nvSpPr>
            <p:cNvPr id="15" name="Line 15"/>
            <p:cNvSpPr/>
            <p:nvPr/>
          </p:nvSpPr>
          <p:spPr>
            <a:xfrm>
              <a:off x="685800" y="2514600"/>
              <a:ext cx="6381750" cy="1"/>
            </a:xfrm>
            <a:prstGeom prst="line">
              <a:avLst/>
            </a:prstGeom>
            <a:noFill/>
            <a:ln w="10478">
              <a:solidFill>
                <a:srgbClr val="7E6A66"/>
              </a:solidFill>
              <a:tailEnd type="triangle" w="lg" len="lg"/>
            </a:ln>
          </p:spPr>
        </p:sp>
        <p:sp>
          <p:nvSpPr>
            <p:cNvPr id="16" name="TextBox 16"/>
            <p:cNvSpPr txBox="1"/>
            <p:nvPr/>
          </p:nvSpPr>
          <p:spPr>
            <a:xfrm>
              <a:off x="561759" y="1226582"/>
              <a:ext cx="95682"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高</a:t>
              </a:r>
            </a:p>
          </p:txBody>
        </p:sp>
        <p:sp>
          <p:nvSpPr>
            <p:cNvPr id="17" name="TextBox 17"/>
            <p:cNvSpPr txBox="1"/>
            <p:nvPr/>
          </p:nvSpPr>
          <p:spPr>
            <a:xfrm>
              <a:off x="561759" y="2502932"/>
              <a:ext cx="95682"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低</a:t>
              </a:r>
            </a:p>
          </p:txBody>
        </p:sp>
        <p:sp>
          <p:nvSpPr>
            <p:cNvPr id="18" name="TextBox 18"/>
            <p:cNvSpPr txBox="1"/>
            <p:nvPr/>
          </p:nvSpPr>
          <p:spPr>
            <a:xfrm>
              <a:off x="444767" y="1432084"/>
              <a:ext cx="101067"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增</a:t>
              </a:r>
            </a:p>
          </p:txBody>
        </p:sp>
        <p:sp>
          <p:nvSpPr>
            <p:cNvPr id="19" name="TextBox 19"/>
            <p:cNvSpPr txBox="1"/>
            <p:nvPr/>
          </p:nvSpPr>
          <p:spPr>
            <a:xfrm>
              <a:off x="444767" y="1546384"/>
              <a:ext cx="101067"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长</a:t>
              </a:r>
            </a:p>
          </p:txBody>
        </p:sp>
        <p:sp>
          <p:nvSpPr>
            <p:cNvPr id="20" name="TextBox 20"/>
            <p:cNvSpPr txBox="1"/>
            <p:nvPr/>
          </p:nvSpPr>
          <p:spPr>
            <a:xfrm>
              <a:off x="444767" y="1660684"/>
              <a:ext cx="101067"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贡</a:t>
              </a:r>
            </a:p>
          </p:txBody>
        </p:sp>
        <p:sp>
          <p:nvSpPr>
            <p:cNvPr id="21" name="TextBox 21"/>
            <p:cNvSpPr txBox="1"/>
            <p:nvPr/>
          </p:nvSpPr>
          <p:spPr>
            <a:xfrm>
              <a:off x="444767" y="1774984"/>
              <a:ext cx="101067"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献</a:t>
              </a:r>
            </a:p>
          </p:txBody>
        </p:sp>
        <p:sp>
          <p:nvSpPr>
            <p:cNvPr id="22" name="TextBox 22"/>
            <p:cNvSpPr txBox="1"/>
            <p:nvPr/>
          </p:nvSpPr>
          <p:spPr>
            <a:xfrm>
              <a:off x="1322127" y="2628186"/>
              <a:ext cx="803796"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今天（0–12个月）</a:t>
              </a:r>
            </a:p>
          </p:txBody>
        </p:sp>
        <p:sp>
          <p:nvSpPr>
            <p:cNvPr id="23" name="TextBox 23"/>
            <p:cNvSpPr txBox="1"/>
            <p:nvPr/>
          </p:nvSpPr>
          <p:spPr>
            <a:xfrm>
              <a:off x="3483491" y="2628186"/>
              <a:ext cx="653019"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明天（1–3年）</a:t>
              </a:r>
            </a:p>
          </p:txBody>
        </p:sp>
        <p:sp>
          <p:nvSpPr>
            <p:cNvPr id="24" name="TextBox 24"/>
            <p:cNvSpPr txBox="1"/>
            <p:nvPr/>
          </p:nvSpPr>
          <p:spPr>
            <a:xfrm>
              <a:off x="5595758" y="2628186"/>
              <a:ext cx="733784"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后天（3年以上）</a:t>
              </a:r>
            </a:p>
          </p:txBody>
        </p:sp>
        <p:sp>
          <p:nvSpPr>
            <p:cNvPr id="25" name="TextBox 25"/>
            <p:cNvSpPr txBox="1"/>
            <p:nvPr/>
          </p:nvSpPr>
          <p:spPr>
            <a:xfrm>
              <a:off x="6995681" y="2331482"/>
              <a:ext cx="181839" cy="126206"/>
            </a:xfrm>
            <a:prstGeom prst="rect">
              <a:avLst/>
            </a:prstGeom>
            <a:noFill/>
            <a:ln>
              <a:noFill/>
            </a:ln>
          </p:spPr>
          <p:txBody>
            <a:bodyPr wrap="none" lIns="0" tIns="0" rIns="0" bIns="0" anchor="t" anchorCtr="0">
              <a:spAutoFit/>
            </a:bodyPr>
            <a:lstStyle/>
            <a:p>
              <a:pPr algn="ctr"/>
              <a:r>
                <a:rPr lang="zh-CN" sz="640" dirty="0">
                  <a:solidFill>
                    <a:srgbClr val="7E6A66"/>
                  </a:solidFill>
                  <a:latin typeface="+mn-lt"/>
                  <a:ea typeface="+mn-ea"/>
                  <a:cs typeface="+mn-cs"/>
                </a:rPr>
                <a:t>时间</a:t>
              </a:r>
            </a:p>
          </p:txBody>
        </p:sp>
        <p:sp>
          <p:nvSpPr>
            <p:cNvPr id="26" name="Ellipse 26"/>
            <p:cNvSpPr/>
            <p:nvPr/>
          </p:nvSpPr>
          <p:spPr>
            <a:xfrm>
              <a:off x="1047750" y="1276350"/>
              <a:ext cx="228600" cy="228600"/>
            </a:xfrm>
            <a:prstGeom prst="ellipse">
              <a:avLst/>
            </a:prstGeom>
            <a:solidFill>
              <a:srgbClr val="4E0D00"/>
            </a:solidFill>
            <a:ln>
              <a:noFill/>
            </a:ln>
          </p:spPr>
        </p:sp>
        <p:sp>
          <p:nvSpPr>
            <p:cNvPr id="27" name="TextBox 27"/>
            <p:cNvSpPr txBox="1"/>
            <p:nvPr/>
          </p:nvSpPr>
          <p:spPr>
            <a:xfrm>
              <a:off x="1104716" y="1355169"/>
              <a:ext cx="114669"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H1</a:t>
              </a:r>
            </a:p>
          </p:txBody>
        </p:sp>
        <p:sp>
          <p:nvSpPr>
            <p:cNvPr id="28" name="TextBox 28"/>
            <p:cNvSpPr txBox="1"/>
            <p:nvPr/>
          </p:nvSpPr>
          <p:spPr>
            <a:xfrm>
              <a:off x="1328738" y="126349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核心业务</a:t>
              </a:r>
            </a:p>
          </p:txBody>
        </p:sp>
        <p:sp>
          <p:nvSpPr>
            <p:cNvPr id="29" name="TextBox 29"/>
            <p:cNvSpPr txBox="1"/>
            <p:nvPr/>
          </p:nvSpPr>
          <p:spPr>
            <a:xfrm>
              <a:off x="1328738" y="1421130"/>
              <a:ext cx="627431" cy="119062"/>
            </a:xfrm>
            <a:prstGeom prst="rect">
              <a:avLst/>
            </a:prstGeom>
            <a:noFill/>
            <a:ln>
              <a:noFill/>
            </a:ln>
          </p:spPr>
          <p:txBody>
            <a:bodyPr wrap="none" lIns="0" tIns="0" rIns="0" bIns="0" anchor="t" anchorCtr="0">
              <a:spAutoFit/>
            </a:bodyPr>
            <a:lstStyle/>
            <a:p>
              <a:pPr algn="l"/>
              <a:r>
                <a:rPr lang="zh-CN" sz="600" dirty="0">
                  <a:solidFill>
                    <a:srgbClr val="7E6A66"/>
                  </a:solidFill>
                  <a:latin typeface="+mn-lt"/>
                  <a:ea typeface="+mn-ea"/>
                  <a:cs typeface="+mn-cs"/>
                </a:rPr>
                <a:t>"保增长/提效率"</a:t>
              </a:r>
            </a:p>
          </p:txBody>
        </p:sp>
        <p:sp>
          <p:nvSpPr>
            <p:cNvPr id="30" name="Ellipse 30"/>
            <p:cNvSpPr/>
            <p:nvPr/>
          </p:nvSpPr>
          <p:spPr>
            <a:xfrm>
              <a:off x="3924300" y="1314450"/>
              <a:ext cx="228600" cy="228600"/>
            </a:xfrm>
            <a:prstGeom prst="ellipse">
              <a:avLst/>
            </a:prstGeom>
            <a:solidFill>
              <a:srgbClr val="944130"/>
            </a:solidFill>
            <a:ln>
              <a:noFill/>
            </a:ln>
          </p:spPr>
        </p:sp>
        <p:sp>
          <p:nvSpPr>
            <p:cNvPr id="31" name="TextBox 31"/>
            <p:cNvSpPr txBox="1"/>
            <p:nvPr/>
          </p:nvSpPr>
          <p:spPr>
            <a:xfrm>
              <a:off x="3981266" y="1393269"/>
              <a:ext cx="114669"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H2</a:t>
              </a:r>
            </a:p>
          </p:txBody>
        </p:sp>
        <p:sp>
          <p:nvSpPr>
            <p:cNvPr id="32" name="TextBox 32"/>
            <p:cNvSpPr txBox="1"/>
            <p:nvPr/>
          </p:nvSpPr>
          <p:spPr>
            <a:xfrm>
              <a:off x="4205288" y="130159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成长业务</a:t>
              </a:r>
            </a:p>
          </p:txBody>
        </p:sp>
        <p:sp>
          <p:nvSpPr>
            <p:cNvPr id="33" name="TextBox 33"/>
            <p:cNvSpPr txBox="1"/>
            <p:nvPr/>
          </p:nvSpPr>
          <p:spPr>
            <a:xfrm>
              <a:off x="4205288" y="1459230"/>
              <a:ext cx="627431" cy="119062"/>
            </a:xfrm>
            <a:prstGeom prst="rect">
              <a:avLst/>
            </a:prstGeom>
            <a:noFill/>
            <a:ln>
              <a:noFill/>
            </a:ln>
          </p:spPr>
          <p:txBody>
            <a:bodyPr wrap="none" lIns="0" tIns="0" rIns="0" bIns="0" anchor="t" anchorCtr="0">
              <a:spAutoFit/>
            </a:bodyPr>
            <a:lstStyle/>
            <a:p>
              <a:pPr algn="l"/>
              <a:r>
                <a:rPr lang="zh-CN" sz="600" dirty="0">
                  <a:solidFill>
                    <a:srgbClr val="7E6A66"/>
                  </a:solidFill>
                  <a:latin typeface="+mn-lt"/>
                  <a:ea typeface="+mn-ea"/>
                  <a:cs typeface="+mn-cs"/>
                </a:rPr>
                <a:t>"规模化/抢市场"</a:t>
              </a:r>
            </a:p>
          </p:txBody>
        </p:sp>
        <p:sp>
          <p:nvSpPr>
            <p:cNvPr id="34" name="Ellipse 34"/>
            <p:cNvSpPr/>
            <p:nvPr/>
          </p:nvSpPr>
          <p:spPr>
            <a:xfrm>
              <a:off x="5867400" y="1428750"/>
              <a:ext cx="228600" cy="228600"/>
            </a:xfrm>
            <a:prstGeom prst="ellipse">
              <a:avLst/>
            </a:prstGeom>
            <a:solidFill>
              <a:srgbClr val="C8998F"/>
            </a:solidFill>
            <a:ln>
              <a:noFill/>
            </a:ln>
          </p:spPr>
        </p:sp>
        <p:sp>
          <p:nvSpPr>
            <p:cNvPr id="35" name="TextBox 35"/>
            <p:cNvSpPr txBox="1"/>
            <p:nvPr/>
          </p:nvSpPr>
          <p:spPr>
            <a:xfrm>
              <a:off x="5924366" y="1507569"/>
              <a:ext cx="114669" cy="126206"/>
            </a:xfrm>
            <a:prstGeom prst="rect">
              <a:avLst/>
            </a:prstGeom>
            <a:noFill/>
            <a:ln>
              <a:noFill/>
            </a:ln>
          </p:spPr>
          <p:txBody>
            <a:bodyPr wrap="none" lIns="0" tIns="0" rIns="0" bIns="0" anchor="t" anchorCtr="0">
              <a:spAutoFit/>
            </a:bodyPr>
            <a:lstStyle/>
            <a:p>
              <a:pPr algn="ctr"/>
              <a:r>
                <a:rPr lang="en-US" sz="640" b="1" dirty="0">
                  <a:solidFill>
                    <a:srgbClr val="FFFFFF"/>
                  </a:solidFill>
                  <a:latin typeface="+mn-lt"/>
                  <a:ea typeface="+mn-ea"/>
                  <a:cs typeface="+mn-cs"/>
                </a:rPr>
                <a:t>H3</a:t>
              </a:r>
            </a:p>
          </p:txBody>
        </p:sp>
        <p:sp>
          <p:nvSpPr>
            <p:cNvPr id="36" name="TextBox 36"/>
            <p:cNvSpPr txBox="1"/>
            <p:nvPr/>
          </p:nvSpPr>
          <p:spPr>
            <a:xfrm>
              <a:off x="6148388" y="141589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未来业务</a:t>
              </a:r>
            </a:p>
          </p:txBody>
        </p:sp>
        <p:sp>
          <p:nvSpPr>
            <p:cNvPr id="37" name="TextBox 37"/>
            <p:cNvSpPr txBox="1"/>
            <p:nvPr/>
          </p:nvSpPr>
          <p:spPr>
            <a:xfrm>
              <a:off x="6148388" y="1573530"/>
              <a:ext cx="671855" cy="119062"/>
            </a:xfrm>
            <a:prstGeom prst="rect">
              <a:avLst/>
            </a:prstGeom>
            <a:noFill/>
            <a:ln>
              <a:noFill/>
            </a:ln>
          </p:spPr>
          <p:txBody>
            <a:bodyPr wrap="none" lIns="0" tIns="0" rIns="0" bIns="0" anchor="t" anchorCtr="0">
              <a:spAutoFit/>
            </a:bodyPr>
            <a:lstStyle/>
            <a:p>
              <a:pPr algn="l"/>
              <a:r>
                <a:rPr lang="zh-CN" sz="600" dirty="0">
                  <a:solidFill>
                    <a:srgbClr val="7E6A66"/>
                  </a:solidFill>
                  <a:latin typeface="+mn-lt"/>
                  <a:ea typeface="+mn-ea"/>
                  <a:cs typeface="+mn-cs"/>
                </a:rPr>
                <a:t>"探索/试验/孵化"</a:t>
              </a:r>
            </a:p>
          </p:txBody>
        </p:sp>
      </p:grpSp>
      <p:grpSp>
        <p:nvGrpSpPr>
          <p:cNvPr id="95" name="resource-panel"/>
          <p:cNvGrpSpPr/>
          <p:nvPr/>
        </p:nvGrpSpPr>
        <p:grpSpPr>
          <a:xfrm>
            <a:off x="7515225" y="870347"/>
            <a:ext cx="4295775" cy="2114550"/>
            <a:chOff x="7515225" y="870347"/>
            <a:chExt cx="4295775" cy="2114550"/>
          </a:xfrm>
        </p:grpSpPr>
        <p:sp>
          <p:nvSpPr>
            <p:cNvPr id="39" name="TextBox 39"/>
            <p:cNvSpPr txBox="1"/>
            <p:nvPr/>
          </p:nvSpPr>
          <p:spPr>
            <a:xfrm>
              <a:off x="7539038" y="870347"/>
              <a:ext cx="2160753" cy="183356"/>
            </a:xfrm>
            <a:prstGeom prst="rect">
              <a:avLst/>
            </a:prstGeom>
            <a:noFill/>
            <a:ln>
              <a:noFill/>
            </a:ln>
          </p:spPr>
          <p:txBody>
            <a:bodyPr wrap="none" lIns="0" tIns="0" rIns="0" bIns="0" anchor="t" anchorCtr="0">
              <a:spAutoFit/>
            </a:bodyPr>
            <a:lstStyle/>
            <a:p>
              <a:pPr algn="l"/>
              <a:r>
                <a:rPr lang="zh-CN" sz="940" b="1" dirty="0">
                  <a:solidFill>
                    <a:srgbClr val="4E0D00"/>
                  </a:solidFill>
                  <a:latin typeface="+mn-lt"/>
                  <a:ea typeface="+mn-ea"/>
                  <a:cs typeface="+mn-cs"/>
                </a:rPr>
                <a:t>资源组合配置（随战略阶段动态调整）</a:t>
              </a:r>
            </a:p>
          </p:txBody>
        </p:sp>
        <p:sp>
          <p:nvSpPr>
            <p:cNvPr id="40" name="TextBox 40"/>
            <p:cNvSpPr txBox="1"/>
            <p:nvPr/>
          </p:nvSpPr>
          <p:spPr>
            <a:xfrm>
              <a:off x="9202605" y="1074182"/>
              <a:ext cx="454289" cy="126206"/>
            </a:xfrm>
            <a:prstGeom prst="rect">
              <a:avLst/>
            </a:prstGeom>
            <a:noFill/>
            <a:ln>
              <a:noFill/>
            </a:ln>
          </p:spPr>
          <p:txBody>
            <a:bodyPr wrap="none" lIns="0" tIns="0" rIns="0" bIns="0" anchor="t" anchorCtr="0">
              <a:spAutoFit/>
            </a:bodyPr>
            <a:lstStyle/>
            <a:p>
              <a:pPr algn="ctr"/>
              <a:r>
                <a:rPr lang="zh-CN" sz="640" dirty="0">
                  <a:solidFill>
                    <a:srgbClr val="7E6A66"/>
                  </a:solidFill>
                  <a:latin typeface="+mn-lt"/>
                  <a:ea typeface="+mn-ea"/>
                  <a:cs typeface="+mn-cs"/>
                </a:rPr>
                <a:t>H1（今天）</a:t>
              </a:r>
            </a:p>
          </p:txBody>
        </p:sp>
        <p:sp>
          <p:nvSpPr>
            <p:cNvPr id="41" name="TextBox 41"/>
            <p:cNvSpPr txBox="1"/>
            <p:nvPr/>
          </p:nvSpPr>
          <p:spPr>
            <a:xfrm>
              <a:off x="10155105" y="1074182"/>
              <a:ext cx="454289" cy="126206"/>
            </a:xfrm>
            <a:prstGeom prst="rect">
              <a:avLst/>
            </a:prstGeom>
            <a:noFill/>
            <a:ln>
              <a:noFill/>
            </a:ln>
          </p:spPr>
          <p:txBody>
            <a:bodyPr wrap="none" lIns="0" tIns="0" rIns="0" bIns="0" anchor="t" anchorCtr="0">
              <a:spAutoFit/>
            </a:bodyPr>
            <a:lstStyle/>
            <a:p>
              <a:pPr algn="ctr"/>
              <a:r>
                <a:rPr lang="zh-CN" sz="640" dirty="0">
                  <a:solidFill>
                    <a:srgbClr val="7E6A66"/>
                  </a:solidFill>
                  <a:latin typeface="+mn-lt"/>
                  <a:ea typeface="+mn-ea"/>
                  <a:cs typeface="+mn-cs"/>
                </a:rPr>
                <a:t>H2（明天）</a:t>
              </a:r>
            </a:p>
          </p:txBody>
        </p:sp>
        <p:sp>
          <p:nvSpPr>
            <p:cNvPr id="42" name="TextBox 42"/>
            <p:cNvSpPr txBox="1"/>
            <p:nvPr/>
          </p:nvSpPr>
          <p:spPr>
            <a:xfrm>
              <a:off x="11031405" y="1074182"/>
              <a:ext cx="454289" cy="126206"/>
            </a:xfrm>
            <a:prstGeom prst="rect">
              <a:avLst/>
            </a:prstGeom>
            <a:noFill/>
            <a:ln>
              <a:noFill/>
            </a:ln>
          </p:spPr>
          <p:txBody>
            <a:bodyPr wrap="none" lIns="0" tIns="0" rIns="0" bIns="0" anchor="t" anchorCtr="0">
              <a:spAutoFit/>
            </a:bodyPr>
            <a:lstStyle/>
            <a:p>
              <a:pPr algn="ctr"/>
              <a:r>
                <a:rPr lang="zh-CN" sz="640" dirty="0">
                  <a:solidFill>
                    <a:srgbClr val="7E6A66"/>
                  </a:solidFill>
                  <a:latin typeface="+mn-lt"/>
                  <a:ea typeface="+mn-ea"/>
                  <a:cs typeface="+mn-cs"/>
                </a:rPr>
                <a:t>H3（后天）</a:t>
              </a:r>
            </a:p>
          </p:txBody>
        </p:sp>
        <p:sp>
          <p:nvSpPr>
            <p:cNvPr id="43" name="Ellipse 43"/>
            <p:cNvSpPr/>
            <p:nvPr/>
          </p:nvSpPr>
          <p:spPr>
            <a:xfrm>
              <a:off x="7515225" y="1228725"/>
              <a:ext cx="209550" cy="209550"/>
            </a:xfrm>
            <a:prstGeom prst="ellipse">
              <a:avLst/>
            </a:prstGeom>
            <a:solidFill>
              <a:srgbClr val="4E0D00"/>
            </a:solidFill>
            <a:ln>
              <a:noFill/>
            </a:ln>
          </p:spPr>
        </p:sp>
        <p:grpSp>
          <p:nvGrpSpPr>
            <p:cNvPr id="49" name="Group 49"/>
            <p:cNvGrpSpPr/>
            <p:nvPr/>
          </p:nvGrpSpPr>
          <p:grpSpPr>
            <a:xfrm>
              <a:off x="7577138" y="1289999"/>
              <a:ext cx="85724" cy="86364"/>
              <a:chOff x="7577138" y="1289999"/>
              <a:chExt cx="85724" cy="86364"/>
            </a:xfrm>
          </p:grpSpPr>
          <p:sp>
            <p:nvSpPr>
              <p:cNvPr id="44" name="Freeform 44"/>
              <p:cNvSpPr/>
              <p:nvPr/>
            </p:nvSpPr>
            <p:spPr>
              <a:xfrm>
                <a:off x="7605712" y="1328738"/>
                <a:ext cx="57150" cy="28575"/>
              </a:xfrm>
              <a:custGeom>
                <a:avLst/>
                <a:gdLst/>
                <a:ahLst/>
                <a:cxnLst/>
                <a:rect l="l" t="t" r="r" b="b"/>
                <a:pathLst>
                  <a:path w="57150" h="28575">
                    <a:moveTo>
                      <a:pt x="0" y="14288"/>
                    </a:moveTo>
                    <a:cubicBezTo>
                      <a:pt x="0" y="22179"/>
                      <a:pt x="12792" y="28575"/>
                      <a:pt x="28575" y="28575"/>
                    </a:cubicBezTo>
                    <a:cubicBezTo>
                      <a:pt x="44358" y="28575"/>
                      <a:pt x="57150" y="22179"/>
                      <a:pt x="57150" y="14288"/>
                    </a:cubicBezTo>
                    <a:cubicBezTo>
                      <a:pt x="57150" y="6396"/>
                      <a:pt x="44358" y="0"/>
                      <a:pt x="28575" y="0"/>
                    </a:cubicBezTo>
                    <a:cubicBezTo>
                      <a:pt x="12792" y="0"/>
                      <a:pt x="0" y="6396"/>
                      <a:pt x="0" y="14288"/>
                    </a:cubicBezTo>
                  </a:path>
                </a:pathLst>
              </a:custGeom>
              <a:noFill/>
              <a:ln w="9525">
                <a:solidFill>
                  <a:srgbClr val="FFFFFF"/>
                </a:solidFill>
              </a:ln>
            </p:spPr>
          </p:sp>
          <p:sp>
            <p:nvSpPr>
              <p:cNvPr id="45" name="Freeform 45"/>
              <p:cNvSpPr/>
              <p:nvPr/>
            </p:nvSpPr>
            <p:spPr>
              <a:xfrm>
                <a:off x="7605712" y="1343025"/>
                <a:ext cx="57150" cy="33338"/>
              </a:xfrm>
              <a:custGeom>
                <a:avLst/>
                <a:gdLst/>
                <a:ahLst/>
                <a:cxnLst/>
                <a:rect l="l" t="t" r="r" b="b"/>
                <a:pathLst>
                  <a:path w="57150" h="33338">
                    <a:moveTo>
                      <a:pt x="0" y="0"/>
                    </a:moveTo>
                    <a:lnTo>
                      <a:pt x="0" y="19050"/>
                    </a:lnTo>
                    <a:cubicBezTo>
                      <a:pt x="0" y="26937"/>
                      <a:pt x="12792" y="33338"/>
                      <a:pt x="28575" y="33338"/>
                    </a:cubicBezTo>
                    <a:cubicBezTo>
                      <a:pt x="44358" y="33338"/>
                      <a:pt x="57150" y="26937"/>
                      <a:pt x="57150" y="19050"/>
                    </a:cubicBezTo>
                    <a:lnTo>
                      <a:pt x="57150" y="0"/>
                    </a:lnTo>
                  </a:path>
                </a:pathLst>
              </a:custGeom>
              <a:noFill/>
              <a:ln w="9525">
                <a:solidFill>
                  <a:srgbClr val="FFFFFF"/>
                </a:solidFill>
              </a:ln>
            </p:spPr>
          </p:sp>
          <p:sp>
            <p:nvSpPr>
              <p:cNvPr id="46" name="Freeform 46"/>
              <p:cNvSpPr/>
              <p:nvPr/>
            </p:nvSpPr>
            <p:spPr>
              <a:xfrm>
                <a:off x="7577138" y="1289999"/>
                <a:ext cx="57150" cy="29851"/>
              </a:xfrm>
              <a:custGeom>
                <a:avLst/>
                <a:gdLst/>
                <a:ahLst/>
                <a:cxnLst/>
                <a:rect l="l" t="t" r="r" b="b"/>
                <a:pathLst>
                  <a:path w="57150" h="29851">
                    <a:moveTo>
                      <a:pt x="0" y="14926"/>
                    </a:moveTo>
                    <a:cubicBezTo>
                      <a:pt x="0" y="20031"/>
                      <a:pt x="5448" y="24746"/>
                      <a:pt x="14288" y="27299"/>
                    </a:cubicBezTo>
                    <a:cubicBezTo>
                      <a:pt x="23127" y="29851"/>
                      <a:pt x="34023" y="29851"/>
                      <a:pt x="42862" y="27299"/>
                    </a:cubicBezTo>
                    <a:cubicBezTo>
                      <a:pt x="51702" y="24746"/>
                      <a:pt x="57150" y="20031"/>
                      <a:pt x="57150" y="14926"/>
                    </a:cubicBezTo>
                    <a:cubicBezTo>
                      <a:pt x="57150" y="9820"/>
                      <a:pt x="51702" y="5105"/>
                      <a:pt x="42862" y="2553"/>
                    </a:cubicBezTo>
                    <a:cubicBezTo>
                      <a:pt x="34023" y="0"/>
                      <a:pt x="23127" y="0"/>
                      <a:pt x="14288" y="2553"/>
                    </a:cubicBezTo>
                    <a:cubicBezTo>
                      <a:pt x="5448" y="5105"/>
                      <a:pt x="0" y="9820"/>
                      <a:pt x="0" y="14926"/>
                    </a:cubicBezTo>
                  </a:path>
                </a:pathLst>
              </a:custGeom>
              <a:noFill/>
              <a:ln w="9525">
                <a:solidFill>
                  <a:srgbClr val="FFFFFF"/>
                </a:solidFill>
              </a:ln>
            </p:spPr>
          </p:sp>
          <p:sp>
            <p:nvSpPr>
              <p:cNvPr id="47" name="Freeform 47"/>
              <p:cNvSpPr/>
              <p:nvPr/>
            </p:nvSpPr>
            <p:spPr>
              <a:xfrm>
                <a:off x="7577138" y="1304925"/>
                <a:ext cx="9525" cy="57150"/>
              </a:xfrm>
              <a:custGeom>
                <a:avLst/>
                <a:gdLst/>
                <a:ahLst/>
                <a:cxnLst/>
                <a:rect l="l" t="t" r="r" b="b"/>
                <a:pathLst>
                  <a:path w="9525" h="57150">
                    <a:moveTo>
                      <a:pt x="0" y="0"/>
                    </a:moveTo>
                    <a:lnTo>
                      <a:pt x="0" y="47625"/>
                    </a:lnTo>
                    <a:cubicBezTo>
                      <a:pt x="0" y="51854"/>
                      <a:pt x="3677" y="54531"/>
                      <a:pt x="9525" y="57150"/>
                    </a:cubicBezTo>
                  </a:path>
                </a:pathLst>
              </a:custGeom>
              <a:noFill/>
              <a:ln w="9525">
                <a:solidFill>
                  <a:srgbClr val="FFFFFF"/>
                </a:solidFill>
              </a:ln>
            </p:spPr>
          </p:sp>
          <p:sp>
            <p:nvSpPr>
              <p:cNvPr id="48" name="Freeform 48"/>
              <p:cNvSpPr/>
              <p:nvPr/>
            </p:nvSpPr>
            <p:spPr>
              <a:xfrm>
                <a:off x="7577138" y="1328738"/>
                <a:ext cx="9525" cy="9525"/>
              </a:xfrm>
              <a:custGeom>
                <a:avLst/>
                <a:gdLst/>
                <a:ahLst/>
                <a:cxnLst/>
                <a:rect l="l" t="t" r="r" b="b"/>
                <a:pathLst>
                  <a:path w="9525" h="9525">
                    <a:moveTo>
                      <a:pt x="0" y="0"/>
                    </a:moveTo>
                    <a:cubicBezTo>
                      <a:pt x="0" y="4229"/>
                      <a:pt x="3677" y="6906"/>
                      <a:pt x="9525" y="9525"/>
                    </a:cubicBezTo>
                  </a:path>
                </a:pathLst>
              </a:custGeom>
              <a:noFill/>
              <a:ln w="9525">
                <a:solidFill>
                  <a:srgbClr val="FFFFFF"/>
                </a:solidFill>
              </a:ln>
            </p:spPr>
          </p:sp>
        </p:grpSp>
        <p:sp>
          <p:nvSpPr>
            <p:cNvPr id="50" name="TextBox 50"/>
            <p:cNvSpPr txBox="1"/>
            <p:nvPr/>
          </p:nvSpPr>
          <p:spPr>
            <a:xfrm>
              <a:off x="7786688" y="1286589"/>
              <a:ext cx="32857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现金流</a:t>
              </a:r>
            </a:p>
          </p:txBody>
        </p:sp>
        <p:sp>
          <p:nvSpPr>
            <p:cNvPr id="51" name="Rectangle 51"/>
            <p:cNvSpPr/>
            <p:nvPr/>
          </p:nvSpPr>
          <p:spPr>
            <a:xfrm>
              <a:off x="8439150" y="1238250"/>
              <a:ext cx="2360295" cy="190500"/>
            </a:xfrm>
            <a:prstGeom prst="rect">
              <a:avLst/>
            </a:prstGeom>
            <a:solidFill>
              <a:srgbClr val="4E0D00"/>
            </a:solidFill>
            <a:ln>
              <a:noFill/>
            </a:ln>
          </p:spPr>
        </p:sp>
        <p:sp>
          <p:nvSpPr>
            <p:cNvPr id="52" name="Rectangle 52"/>
            <p:cNvSpPr/>
            <p:nvPr/>
          </p:nvSpPr>
          <p:spPr>
            <a:xfrm>
              <a:off x="10799445" y="1238250"/>
              <a:ext cx="674370" cy="190500"/>
            </a:xfrm>
            <a:prstGeom prst="rect">
              <a:avLst/>
            </a:prstGeom>
            <a:solidFill>
              <a:srgbClr val="944130"/>
            </a:solidFill>
            <a:ln>
              <a:noFill/>
            </a:ln>
          </p:spPr>
        </p:sp>
        <p:sp>
          <p:nvSpPr>
            <p:cNvPr id="53" name="Rectangle 53"/>
            <p:cNvSpPr/>
            <p:nvPr/>
          </p:nvSpPr>
          <p:spPr>
            <a:xfrm>
              <a:off x="11473815" y="1238250"/>
              <a:ext cx="337185" cy="190500"/>
            </a:xfrm>
            <a:prstGeom prst="rect">
              <a:avLst/>
            </a:prstGeom>
            <a:solidFill>
              <a:srgbClr val="E0B2A9"/>
            </a:solidFill>
            <a:ln>
              <a:noFill/>
            </a:ln>
          </p:spPr>
        </p:sp>
        <p:sp>
          <p:nvSpPr>
            <p:cNvPr id="54" name="TextBox 54"/>
            <p:cNvSpPr txBox="1"/>
            <p:nvPr/>
          </p:nvSpPr>
          <p:spPr>
            <a:xfrm>
              <a:off x="9530855" y="1302782"/>
              <a:ext cx="17688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70%</a:t>
              </a:r>
            </a:p>
          </p:txBody>
        </p:sp>
        <p:sp>
          <p:nvSpPr>
            <p:cNvPr id="55" name="TextBox 55"/>
            <p:cNvSpPr txBox="1"/>
            <p:nvPr/>
          </p:nvSpPr>
          <p:spPr>
            <a:xfrm>
              <a:off x="11048188" y="1302782"/>
              <a:ext cx="17688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20%</a:t>
              </a:r>
            </a:p>
          </p:txBody>
        </p:sp>
        <p:sp>
          <p:nvSpPr>
            <p:cNvPr id="56" name="TextBox 56"/>
            <p:cNvSpPr txBox="1"/>
            <p:nvPr/>
          </p:nvSpPr>
          <p:spPr>
            <a:xfrm>
              <a:off x="11557950" y="1302782"/>
              <a:ext cx="168915" cy="126206"/>
            </a:xfrm>
            <a:prstGeom prst="rect">
              <a:avLst/>
            </a:prstGeom>
            <a:noFill/>
            <a:ln>
              <a:noFill/>
            </a:ln>
          </p:spPr>
          <p:txBody>
            <a:bodyPr wrap="none" lIns="0" tIns="0" rIns="0" bIns="0" anchor="t" anchorCtr="0">
              <a:spAutoFit/>
            </a:bodyPr>
            <a:lstStyle/>
            <a:p>
              <a:pPr algn="ctr"/>
              <a:r>
                <a:rPr lang="zh-CN" sz="640" dirty="0">
                  <a:solidFill>
                    <a:srgbClr val="4E0D00"/>
                  </a:solidFill>
                  <a:latin typeface="+mn-lt"/>
                  <a:ea typeface="+mn-ea"/>
                  <a:cs typeface="+mn-cs"/>
                </a:rPr>
                <a:t>10%</a:t>
              </a:r>
            </a:p>
          </p:txBody>
        </p:sp>
        <p:sp>
          <p:nvSpPr>
            <p:cNvPr id="57" name="TextBox 57"/>
            <p:cNvSpPr txBox="1"/>
            <p:nvPr/>
          </p:nvSpPr>
          <p:spPr>
            <a:xfrm>
              <a:off x="8434388" y="1501378"/>
              <a:ext cx="1215720"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保障经营韧性，支撑增长与探索组合</a:t>
              </a:r>
            </a:p>
          </p:txBody>
        </p:sp>
        <p:sp>
          <p:nvSpPr>
            <p:cNvPr id="58" name="Ellipse 58"/>
            <p:cNvSpPr/>
            <p:nvPr/>
          </p:nvSpPr>
          <p:spPr>
            <a:xfrm>
              <a:off x="7515225" y="1685925"/>
              <a:ext cx="209550" cy="209550"/>
            </a:xfrm>
            <a:prstGeom prst="ellipse">
              <a:avLst/>
            </a:prstGeom>
            <a:solidFill>
              <a:srgbClr val="4E0D00"/>
            </a:solidFill>
            <a:ln>
              <a:noFill/>
            </a:ln>
          </p:spPr>
        </p:sp>
        <p:grpSp>
          <p:nvGrpSpPr>
            <p:cNvPr id="61" name="Group 61"/>
            <p:cNvGrpSpPr/>
            <p:nvPr/>
          </p:nvGrpSpPr>
          <p:grpSpPr>
            <a:xfrm>
              <a:off x="7591425" y="1747838"/>
              <a:ext cx="57150" cy="85725"/>
              <a:chOff x="7591425" y="1747838"/>
              <a:chExt cx="57150" cy="85725"/>
            </a:xfrm>
          </p:grpSpPr>
          <p:sp>
            <p:nvSpPr>
              <p:cNvPr id="59" name="Freeform 59"/>
              <p:cNvSpPr/>
              <p:nvPr/>
            </p:nvSpPr>
            <p:spPr>
              <a:xfrm>
                <a:off x="7600950" y="174783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FFFFFF"/>
                </a:solidFill>
              </a:ln>
            </p:spPr>
          </p:sp>
          <p:sp>
            <p:nvSpPr>
              <p:cNvPr id="60" name="Freeform 60"/>
              <p:cNvSpPr/>
              <p:nvPr/>
            </p:nvSpPr>
            <p:spPr>
              <a:xfrm>
                <a:off x="7591425" y="180498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FFFFFF"/>
                </a:solidFill>
              </a:ln>
            </p:spPr>
          </p:sp>
        </p:grpSp>
        <p:sp>
          <p:nvSpPr>
            <p:cNvPr id="62" name="TextBox 62"/>
            <p:cNvSpPr txBox="1"/>
            <p:nvPr/>
          </p:nvSpPr>
          <p:spPr>
            <a:xfrm>
              <a:off x="7786688" y="1743789"/>
              <a:ext cx="222225"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人才</a:t>
              </a:r>
            </a:p>
          </p:txBody>
        </p:sp>
        <p:sp>
          <p:nvSpPr>
            <p:cNvPr id="63" name="Rectangle 63"/>
            <p:cNvSpPr/>
            <p:nvPr/>
          </p:nvSpPr>
          <p:spPr>
            <a:xfrm>
              <a:off x="8439150" y="1695450"/>
              <a:ext cx="2023110" cy="190500"/>
            </a:xfrm>
            <a:prstGeom prst="rect">
              <a:avLst/>
            </a:prstGeom>
            <a:solidFill>
              <a:srgbClr val="4E0D00"/>
            </a:solidFill>
            <a:ln>
              <a:noFill/>
            </a:ln>
          </p:spPr>
        </p:sp>
        <p:sp>
          <p:nvSpPr>
            <p:cNvPr id="64" name="Rectangle 64"/>
            <p:cNvSpPr/>
            <p:nvPr/>
          </p:nvSpPr>
          <p:spPr>
            <a:xfrm>
              <a:off x="10462260" y="1695450"/>
              <a:ext cx="1011555" cy="190500"/>
            </a:xfrm>
            <a:prstGeom prst="rect">
              <a:avLst/>
            </a:prstGeom>
            <a:solidFill>
              <a:srgbClr val="944130"/>
            </a:solidFill>
            <a:ln>
              <a:noFill/>
            </a:ln>
          </p:spPr>
        </p:sp>
        <p:sp>
          <p:nvSpPr>
            <p:cNvPr id="65" name="Rectangle 65"/>
            <p:cNvSpPr/>
            <p:nvPr/>
          </p:nvSpPr>
          <p:spPr>
            <a:xfrm>
              <a:off x="11473815" y="1695450"/>
              <a:ext cx="337185" cy="190500"/>
            </a:xfrm>
            <a:prstGeom prst="rect">
              <a:avLst/>
            </a:prstGeom>
            <a:solidFill>
              <a:srgbClr val="E0B2A9"/>
            </a:solidFill>
            <a:ln>
              <a:noFill/>
            </a:ln>
          </p:spPr>
        </p:sp>
        <p:sp>
          <p:nvSpPr>
            <p:cNvPr id="66" name="TextBox 66"/>
            <p:cNvSpPr txBox="1"/>
            <p:nvPr/>
          </p:nvSpPr>
          <p:spPr>
            <a:xfrm>
              <a:off x="9362263" y="1759982"/>
              <a:ext cx="17688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60%</a:t>
              </a:r>
            </a:p>
          </p:txBody>
        </p:sp>
        <p:sp>
          <p:nvSpPr>
            <p:cNvPr id="67" name="TextBox 67"/>
            <p:cNvSpPr txBox="1"/>
            <p:nvPr/>
          </p:nvSpPr>
          <p:spPr>
            <a:xfrm>
              <a:off x="10879595" y="1759982"/>
              <a:ext cx="17688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30%</a:t>
              </a:r>
            </a:p>
          </p:txBody>
        </p:sp>
        <p:sp>
          <p:nvSpPr>
            <p:cNvPr id="68" name="TextBox 68"/>
            <p:cNvSpPr txBox="1"/>
            <p:nvPr/>
          </p:nvSpPr>
          <p:spPr>
            <a:xfrm>
              <a:off x="11557950" y="1759982"/>
              <a:ext cx="168915" cy="126206"/>
            </a:xfrm>
            <a:prstGeom prst="rect">
              <a:avLst/>
            </a:prstGeom>
            <a:noFill/>
            <a:ln>
              <a:noFill/>
            </a:ln>
          </p:spPr>
          <p:txBody>
            <a:bodyPr wrap="none" lIns="0" tIns="0" rIns="0" bIns="0" anchor="t" anchorCtr="0">
              <a:spAutoFit/>
            </a:bodyPr>
            <a:lstStyle/>
            <a:p>
              <a:pPr algn="ctr"/>
              <a:r>
                <a:rPr lang="zh-CN" sz="640" dirty="0">
                  <a:solidFill>
                    <a:srgbClr val="4E0D00"/>
                  </a:solidFill>
                  <a:latin typeface="+mn-lt"/>
                  <a:ea typeface="+mn-ea"/>
                  <a:cs typeface="+mn-cs"/>
                </a:rPr>
                <a:t>10%</a:t>
              </a:r>
            </a:p>
          </p:txBody>
        </p:sp>
        <p:sp>
          <p:nvSpPr>
            <p:cNvPr id="69" name="TextBox 69"/>
            <p:cNvSpPr txBox="1"/>
            <p:nvPr/>
          </p:nvSpPr>
          <p:spPr>
            <a:xfrm>
              <a:off x="8434388" y="1958578"/>
              <a:ext cx="1743431"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核心岗位与一线保障，成长业务扩张，未来人才储备</a:t>
              </a:r>
            </a:p>
          </p:txBody>
        </p:sp>
        <p:sp>
          <p:nvSpPr>
            <p:cNvPr id="70" name="Ellipse 70"/>
            <p:cNvSpPr/>
            <p:nvPr/>
          </p:nvSpPr>
          <p:spPr>
            <a:xfrm>
              <a:off x="7515225" y="2143125"/>
              <a:ext cx="209550" cy="209550"/>
            </a:xfrm>
            <a:prstGeom prst="ellipse">
              <a:avLst/>
            </a:prstGeom>
            <a:solidFill>
              <a:srgbClr val="4E0D00"/>
            </a:solidFill>
            <a:ln>
              <a:noFill/>
            </a:ln>
          </p:spPr>
        </p:sp>
        <p:grpSp>
          <p:nvGrpSpPr>
            <p:cNvPr id="73" name="Group 73"/>
            <p:cNvGrpSpPr/>
            <p:nvPr/>
          </p:nvGrpSpPr>
          <p:grpSpPr>
            <a:xfrm>
              <a:off x="7577138" y="2219325"/>
              <a:ext cx="85725" cy="57150"/>
              <a:chOff x="7577138" y="2219325"/>
              <a:chExt cx="85725" cy="57150"/>
            </a:xfrm>
          </p:grpSpPr>
          <p:sp>
            <p:nvSpPr>
              <p:cNvPr id="71" name="Freeform 71"/>
              <p:cNvSpPr/>
              <p:nvPr/>
            </p:nvSpPr>
            <p:spPr>
              <a:xfrm>
                <a:off x="7610475" y="22383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9525">
                <a:solidFill>
                  <a:srgbClr val="FFFFFF"/>
                </a:solidFill>
              </a:ln>
            </p:spPr>
          </p:sp>
          <p:sp>
            <p:nvSpPr>
              <p:cNvPr id="72" name="Freeform 72"/>
              <p:cNvSpPr/>
              <p:nvPr/>
            </p:nvSpPr>
            <p:spPr>
              <a:xfrm>
                <a:off x="7577138" y="2219325"/>
                <a:ext cx="85725" cy="57150"/>
              </a:xfrm>
              <a:custGeom>
                <a:avLst/>
                <a:gdLst/>
                <a:ahLst/>
                <a:cxnLst/>
                <a:rect l="l" t="t" r="r" b="b"/>
                <a:pathLst>
                  <a:path w="85725" h="57150">
                    <a:moveTo>
                      <a:pt x="85725" y="28575"/>
                    </a:moveTo>
                    <a:cubicBezTo>
                      <a:pt x="74295" y="47625"/>
                      <a:pt x="60007" y="57150"/>
                      <a:pt x="42862" y="57150"/>
                    </a:cubicBezTo>
                    <a:cubicBezTo>
                      <a:pt x="25718" y="57150"/>
                      <a:pt x="11430" y="47625"/>
                      <a:pt x="0" y="28575"/>
                    </a:cubicBezTo>
                    <a:cubicBezTo>
                      <a:pt x="11430" y="9525"/>
                      <a:pt x="25718" y="0"/>
                      <a:pt x="42862" y="0"/>
                    </a:cubicBezTo>
                    <a:cubicBezTo>
                      <a:pt x="60007" y="0"/>
                      <a:pt x="74295" y="9525"/>
                      <a:pt x="85725" y="28575"/>
                    </a:cubicBezTo>
                  </a:path>
                </a:pathLst>
              </a:custGeom>
              <a:noFill/>
              <a:ln w="9525">
                <a:solidFill>
                  <a:srgbClr val="FFFFFF"/>
                </a:solidFill>
              </a:ln>
            </p:spPr>
          </p:sp>
        </p:grpSp>
        <p:sp>
          <p:nvSpPr>
            <p:cNvPr id="74" name="TextBox 74"/>
            <p:cNvSpPr txBox="1"/>
            <p:nvPr/>
          </p:nvSpPr>
          <p:spPr>
            <a:xfrm>
              <a:off x="7786688" y="2200989"/>
              <a:ext cx="54127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管理注意力</a:t>
              </a:r>
            </a:p>
          </p:txBody>
        </p:sp>
        <p:sp>
          <p:nvSpPr>
            <p:cNvPr id="75" name="Rectangle 75"/>
            <p:cNvSpPr/>
            <p:nvPr/>
          </p:nvSpPr>
          <p:spPr>
            <a:xfrm>
              <a:off x="8439150" y="2152650"/>
              <a:ext cx="1685925" cy="190500"/>
            </a:xfrm>
            <a:prstGeom prst="rect">
              <a:avLst/>
            </a:prstGeom>
            <a:solidFill>
              <a:srgbClr val="4E0D00"/>
            </a:solidFill>
            <a:ln>
              <a:noFill/>
            </a:ln>
          </p:spPr>
        </p:sp>
        <p:sp>
          <p:nvSpPr>
            <p:cNvPr id="76" name="Rectangle 76"/>
            <p:cNvSpPr/>
            <p:nvPr/>
          </p:nvSpPr>
          <p:spPr>
            <a:xfrm>
              <a:off x="10125075" y="2152650"/>
              <a:ext cx="1011555" cy="190500"/>
            </a:xfrm>
            <a:prstGeom prst="rect">
              <a:avLst/>
            </a:prstGeom>
            <a:solidFill>
              <a:srgbClr val="944130"/>
            </a:solidFill>
            <a:ln>
              <a:noFill/>
            </a:ln>
          </p:spPr>
        </p:sp>
        <p:sp>
          <p:nvSpPr>
            <p:cNvPr id="77" name="Rectangle 77"/>
            <p:cNvSpPr/>
            <p:nvPr/>
          </p:nvSpPr>
          <p:spPr>
            <a:xfrm>
              <a:off x="11136630" y="2152650"/>
              <a:ext cx="674370" cy="190500"/>
            </a:xfrm>
            <a:prstGeom prst="rect">
              <a:avLst/>
            </a:prstGeom>
            <a:solidFill>
              <a:srgbClr val="E0B2A9"/>
            </a:solidFill>
            <a:ln>
              <a:noFill/>
            </a:ln>
          </p:spPr>
        </p:sp>
        <p:sp>
          <p:nvSpPr>
            <p:cNvPr id="78" name="TextBox 78"/>
            <p:cNvSpPr txBox="1"/>
            <p:nvPr/>
          </p:nvSpPr>
          <p:spPr>
            <a:xfrm>
              <a:off x="9193670" y="2217182"/>
              <a:ext cx="17688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50%</a:t>
              </a:r>
            </a:p>
          </p:txBody>
        </p:sp>
        <p:sp>
          <p:nvSpPr>
            <p:cNvPr id="79" name="TextBox 79"/>
            <p:cNvSpPr txBox="1"/>
            <p:nvPr/>
          </p:nvSpPr>
          <p:spPr>
            <a:xfrm>
              <a:off x="10542410" y="2217182"/>
              <a:ext cx="17688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30%</a:t>
              </a:r>
            </a:p>
          </p:txBody>
        </p:sp>
        <p:sp>
          <p:nvSpPr>
            <p:cNvPr id="80" name="TextBox 80"/>
            <p:cNvSpPr txBox="1"/>
            <p:nvPr/>
          </p:nvSpPr>
          <p:spPr>
            <a:xfrm>
              <a:off x="11389357" y="2217182"/>
              <a:ext cx="168915" cy="126206"/>
            </a:xfrm>
            <a:prstGeom prst="rect">
              <a:avLst/>
            </a:prstGeom>
            <a:noFill/>
            <a:ln>
              <a:noFill/>
            </a:ln>
          </p:spPr>
          <p:txBody>
            <a:bodyPr wrap="none" lIns="0" tIns="0" rIns="0" bIns="0" anchor="t" anchorCtr="0">
              <a:spAutoFit/>
            </a:bodyPr>
            <a:lstStyle/>
            <a:p>
              <a:pPr algn="ctr"/>
              <a:r>
                <a:rPr lang="zh-CN" sz="640" dirty="0">
                  <a:solidFill>
                    <a:srgbClr val="4E0D00"/>
                  </a:solidFill>
                  <a:latin typeface="+mn-lt"/>
                  <a:ea typeface="+mn-ea"/>
                  <a:cs typeface="+mn-cs"/>
                </a:rPr>
                <a:t>20%</a:t>
              </a:r>
            </a:p>
          </p:txBody>
        </p:sp>
        <p:sp>
          <p:nvSpPr>
            <p:cNvPr id="81" name="TextBox 81"/>
            <p:cNvSpPr txBox="1"/>
            <p:nvPr/>
          </p:nvSpPr>
          <p:spPr>
            <a:xfrm>
              <a:off x="8434388" y="2415778"/>
              <a:ext cx="1592656"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经营与效率优先，同时保持面向未来的探索视野</a:t>
              </a:r>
            </a:p>
          </p:txBody>
        </p:sp>
        <p:sp>
          <p:nvSpPr>
            <p:cNvPr id="82" name="Ellipse 82"/>
            <p:cNvSpPr/>
            <p:nvPr/>
          </p:nvSpPr>
          <p:spPr>
            <a:xfrm>
              <a:off x="7515225" y="2600325"/>
              <a:ext cx="209550" cy="209550"/>
            </a:xfrm>
            <a:prstGeom prst="ellipse">
              <a:avLst/>
            </a:prstGeom>
            <a:solidFill>
              <a:srgbClr val="4E0D00"/>
            </a:solidFill>
            <a:ln>
              <a:noFill/>
            </a:ln>
          </p:spPr>
        </p:sp>
        <p:grpSp>
          <p:nvGrpSpPr>
            <p:cNvPr id="86" name="Group 86"/>
            <p:cNvGrpSpPr/>
            <p:nvPr/>
          </p:nvGrpSpPr>
          <p:grpSpPr>
            <a:xfrm>
              <a:off x="7577138" y="2662238"/>
              <a:ext cx="85725" cy="85725"/>
              <a:chOff x="7577138" y="2662238"/>
              <a:chExt cx="85725" cy="85725"/>
            </a:xfrm>
          </p:grpSpPr>
          <p:sp>
            <p:nvSpPr>
              <p:cNvPr id="83" name="Freeform 83"/>
              <p:cNvSpPr/>
              <p:nvPr/>
            </p:nvSpPr>
            <p:spPr>
              <a:xfrm>
                <a:off x="7577138" y="2662238"/>
                <a:ext cx="85725" cy="42862"/>
              </a:xfrm>
              <a:custGeom>
                <a:avLst/>
                <a:gdLst/>
                <a:ahLst/>
                <a:cxnLst/>
                <a:rect l="l" t="t" r="r" b="b"/>
                <a:pathLst>
                  <a:path w="85725" h="42862">
                    <a:moveTo>
                      <a:pt x="0" y="42862"/>
                    </a:moveTo>
                    <a:lnTo>
                      <a:pt x="4762" y="42862"/>
                    </a:lnTo>
                    <a:moveTo>
                      <a:pt x="42862" y="0"/>
                    </a:moveTo>
                    <a:lnTo>
                      <a:pt x="42862" y="4762"/>
                    </a:lnTo>
                    <a:moveTo>
                      <a:pt x="80962" y="42862"/>
                    </a:moveTo>
                    <a:lnTo>
                      <a:pt x="85725" y="42862"/>
                    </a:lnTo>
                    <a:moveTo>
                      <a:pt x="12382" y="12383"/>
                    </a:moveTo>
                    <a:lnTo>
                      <a:pt x="15716" y="15716"/>
                    </a:lnTo>
                    <a:moveTo>
                      <a:pt x="73343" y="12383"/>
                    </a:moveTo>
                    <a:lnTo>
                      <a:pt x="70009" y="15716"/>
                    </a:lnTo>
                  </a:path>
                </a:pathLst>
              </a:custGeom>
              <a:noFill/>
              <a:ln w="9525">
                <a:solidFill>
                  <a:srgbClr val="FFFFFF"/>
                </a:solidFill>
              </a:ln>
            </p:spPr>
          </p:sp>
          <p:sp>
            <p:nvSpPr>
              <p:cNvPr id="84" name="Freeform 84"/>
              <p:cNvSpPr/>
              <p:nvPr/>
            </p:nvSpPr>
            <p:spPr>
              <a:xfrm>
                <a:off x="7594168" y="2681288"/>
                <a:ext cx="51663" cy="66675"/>
              </a:xfrm>
              <a:custGeom>
                <a:avLst/>
                <a:gdLst/>
                <a:ahLst/>
                <a:cxnLst/>
                <a:rect l="l" t="t" r="r" b="b"/>
                <a:pathLst>
                  <a:path w="51663" h="66675">
                    <a:moveTo>
                      <a:pt x="11544" y="42862"/>
                    </a:moveTo>
                    <a:cubicBezTo>
                      <a:pt x="3345" y="36713"/>
                      <a:pt x="0" y="26006"/>
                      <a:pt x="3241" y="16282"/>
                    </a:cubicBezTo>
                    <a:cubicBezTo>
                      <a:pt x="6482" y="6559"/>
                      <a:pt x="15582" y="0"/>
                      <a:pt x="25832" y="0"/>
                    </a:cubicBezTo>
                    <a:cubicBezTo>
                      <a:pt x="36081" y="0"/>
                      <a:pt x="45181" y="6559"/>
                      <a:pt x="48422" y="16282"/>
                    </a:cubicBezTo>
                    <a:cubicBezTo>
                      <a:pt x="51663" y="26006"/>
                      <a:pt x="48319" y="36713"/>
                      <a:pt x="40119" y="42862"/>
                    </a:cubicBezTo>
                    <a:cubicBezTo>
                      <a:pt x="36348" y="46595"/>
                      <a:pt x="34580" y="51901"/>
                      <a:pt x="35357" y="57150"/>
                    </a:cubicBezTo>
                    <a:cubicBezTo>
                      <a:pt x="35357" y="62411"/>
                      <a:pt x="31092" y="66675"/>
                      <a:pt x="25832" y="66675"/>
                    </a:cubicBezTo>
                    <a:cubicBezTo>
                      <a:pt x="20571" y="66675"/>
                      <a:pt x="16307" y="62411"/>
                      <a:pt x="16307" y="57150"/>
                    </a:cubicBezTo>
                    <a:cubicBezTo>
                      <a:pt x="17084" y="51901"/>
                      <a:pt x="15315" y="46595"/>
                      <a:pt x="11544" y="42862"/>
                    </a:cubicBezTo>
                  </a:path>
                </a:pathLst>
              </a:custGeom>
              <a:noFill/>
              <a:ln w="9525">
                <a:solidFill>
                  <a:srgbClr val="FFFFFF"/>
                </a:solidFill>
              </a:ln>
            </p:spPr>
          </p:sp>
          <p:sp>
            <p:nvSpPr>
              <p:cNvPr id="85" name="Freeform 85"/>
              <p:cNvSpPr/>
              <p:nvPr/>
            </p:nvSpPr>
            <p:spPr>
              <a:xfrm>
                <a:off x="7609046" y="2728912"/>
                <a:ext cx="21907" cy="9525"/>
              </a:xfrm>
              <a:custGeom>
                <a:avLst/>
                <a:gdLst/>
                <a:ahLst/>
                <a:cxnLst/>
                <a:rect l="l" t="t" r="r" b="b"/>
                <a:pathLst>
                  <a:path w="21907" h="9525">
                    <a:moveTo>
                      <a:pt x="0" y="0"/>
                    </a:moveTo>
                    <a:lnTo>
                      <a:pt x="21907" y="0"/>
                    </a:lnTo>
                  </a:path>
                </a:pathLst>
              </a:custGeom>
              <a:noFill/>
              <a:ln w="9525">
                <a:solidFill>
                  <a:srgbClr val="FFFFFF"/>
                </a:solidFill>
              </a:ln>
            </p:spPr>
          </p:sp>
        </p:grpSp>
        <p:sp>
          <p:nvSpPr>
            <p:cNvPr id="87" name="TextBox 87"/>
            <p:cNvSpPr txBox="1"/>
            <p:nvPr/>
          </p:nvSpPr>
          <p:spPr>
            <a:xfrm>
              <a:off x="7786688" y="2658189"/>
              <a:ext cx="43492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创新资本</a:t>
              </a:r>
            </a:p>
          </p:txBody>
        </p:sp>
        <p:sp>
          <p:nvSpPr>
            <p:cNvPr id="88" name="Rectangle 88"/>
            <p:cNvSpPr/>
            <p:nvPr/>
          </p:nvSpPr>
          <p:spPr>
            <a:xfrm>
              <a:off x="8439150" y="2609850"/>
              <a:ext cx="1011555" cy="190500"/>
            </a:xfrm>
            <a:prstGeom prst="rect">
              <a:avLst/>
            </a:prstGeom>
            <a:solidFill>
              <a:srgbClr val="4E0D00"/>
            </a:solidFill>
            <a:ln>
              <a:noFill/>
            </a:ln>
          </p:spPr>
        </p:sp>
        <p:sp>
          <p:nvSpPr>
            <p:cNvPr id="89" name="Rectangle 89"/>
            <p:cNvSpPr/>
            <p:nvPr/>
          </p:nvSpPr>
          <p:spPr>
            <a:xfrm>
              <a:off x="9450705" y="2609850"/>
              <a:ext cx="1011555" cy="190500"/>
            </a:xfrm>
            <a:prstGeom prst="rect">
              <a:avLst/>
            </a:prstGeom>
            <a:solidFill>
              <a:srgbClr val="944130"/>
            </a:solidFill>
            <a:ln>
              <a:noFill/>
            </a:ln>
          </p:spPr>
        </p:sp>
        <p:sp>
          <p:nvSpPr>
            <p:cNvPr id="90" name="Rectangle 90"/>
            <p:cNvSpPr/>
            <p:nvPr/>
          </p:nvSpPr>
          <p:spPr>
            <a:xfrm>
              <a:off x="10462260" y="2609850"/>
              <a:ext cx="1348740" cy="190500"/>
            </a:xfrm>
            <a:prstGeom prst="rect">
              <a:avLst/>
            </a:prstGeom>
            <a:solidFill>
              <a:srgbClr val="E0B2A9"/>
            </a:solidFill>
            <a:ln>
              <a:noFill/>
            </a:ln>
          </p:spPr>
        </p:sp>
        <p:sp>
          <p:nvSpPr>
            <p:cNvPr id="91" name="TextBox 91"/>
            <p:cNvSpPr txBox="1"/>
            <p:nvPr/>
          </p:nvSpPr>
          <p:spPr>
            <a:xfrm>
              <a:off x="8856485" y="2674382"/>
              <a:ext cx="17688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30%</a:t>
              </a:r>
            </a:p>
          </p:txBody>
        </p:sp>
        <p:sp>
          <p:nvSpPr>
            <p:cNvPr id="92" name="TextBox 92"/>
            <p:cNvSpPr txBox="1"/>
            <p:nvPr/>
          </p:nvSpPr>
          <p:spPr>
            <a:xfrm>
              <a:off x="9868040" y="2674382"/>
              <a:ext cx="17688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30%</a:t>
              </a:r>
            </a:p>
          </p:txBody>
        </p:sp>
        <p:sp>
          <p:nvSpPr>
            <p:cNvPr id="93" name="TextBox 93"/>
            <p:cNvSpPr txBox="1"/>
            <p:nvPr/>
          </p:nvSpPr>
          <p:spPr>
            <a:xfrm>
              <a:off x="11052172" y="2674382"/>
              <a:ext cx="168915" cy="126206"/>
            </a:xfrm>
            <a:prstGeom prst="rect">
              <a:avLst/>
            </a:prstGeom>
            <a:noFill/>
            <a:ln>
              <a:noFill/>
            </a:ln>
          </p:spPr>
          <p:txBody>
            <a:bodyPr wrap="none" lIns="0" tIns="0" rIns="0" bIns="0" anchor="t" anchorCtr="0">
              <a:spAutoFit/>
            </a:bodyPr>
            <a:lstStyle/>
            <a:p>
              <a:pPr algn="ctr"/>
              <a:r>
                <a:rPr lang="zh-CN" sz="640" dirty="0">
                  <a:solidFill>
                    <a:srgbClr val="4E0D00"/>
                  </a:solidFill>
                  <a:latin typeface="+mn-lt"/>
                  <a:ea typeface="+mn-ea"/>
                  <a:cs typeface="+mn-cs"/>
                </a:rPr>
                <a:t>40%</a:t>
              </a:r>
            </a:p>
          </p:txBody>
        </p:sp>
        <p:sp>
          <p:nvSpPr>
            <p:cNvPr id="94" name="TextBox 94"/>
            <p:cNvSpPr txBox="1"/>
            <p:nvPr/>
          </p:nvSpPr>
          <p:spPr>
            <a:xfrm>
              <a:off x="8434388" y="2872978"/>
              <a:ext cx="1366495"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渐进式改良创新，增长创新与颠覆性创新</a:t>
              </a:r>
            </a:p>
          </p:txBody>
        </p:sp>
      </p:grpSp>
      <p:grpSp>
        <p:nvGrpSpPr>
          <p:cNvPr id="134" name="card-h1"/>
          <p:cNvGrpSpPr/>
          <p:nvPr/>
        </p:nvGrpSpPr>
        <p:grpSpPr>
          <a:xfrm>
            <a:off x="228600" y="2933700"/>
            <a:ext cx="2286000" cy="3067050"/>
            <a:chOff x="228600" y="2933700"/>
            <a:chExt cx="2286000" cy="3067050"/>
          </a:xfrm>
        </p:grpSpPr>
        <p:sp>
          <p:nvSpPr>
            <p:cNvPr id="96" name="Rectangle 96"/>
            <p:cNvSpPr/>
            <p:nvPr/>
          </p:nvSpPr>
          <p:spPr>
            <a:xfrm>
              <a:off x="228600" y="2933700"/>
              <a:ext cx="2286000" cy="247650"/>
            </a:xfrm>
            <a:prstGeom prst="rect">
              <a:avLst/>
            </a:prstGeom>
            <a:solidFill>
              <a:srgbClr val="4E0D00"/>
            </a:solidFill>
            <a:ln>
              <a:noFill/>
            </a:ln>
          </p:spPr>
        </p:sp>
        <p:sp>
          <p:nvSpPr>
            <p:cNvPr id="97" name="TextBox 97"/>
            <p:cNvSpPr txBox="1"/>
            <p:nvPr/>
          </p:nvSpPr>
          <p:spPr>
            <a:xfrm>
              <a:off x="642099" y="3006566"/>
              <a:ext cx="145900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H1 核心业务｜保增长/提效率</a:t>
              </a:r>
            </a:p>
          </p:txBody>
        </p:sp>
        <p:sp>
          <p:nvSpPr>
            <p:cNvPr id="98" name="Rectangle 98"/>
            <p:cNvSpPr/>
            <p:nvPr/>
          </p:nvSpPr>
          <p:spPr>
            <a:xfrm>
              <a:off x="228600" y="3181350"/>
              <a:ext cx="2286000" cy="2819400"/>
            </a:xfrm>
            <a:prstGeom prst="rect">
              <a:avLst/>
            </a:prstGeom>
            <a:solidFill>
              <a:srgbClr val="FFFFFF"/>
            </a:solidFill>
            <a:ln w="9525">
              <a:solidFill>
                <a:srgbClr val="C7D2E4"/>
              </a:solidFill>
            </a:ln>
          </p:spPr>
        </p:sp>
        <p:grpSp>
          <p:nvGrpSpPr>
            <p:cNvPr id="102" name="Group 102"/>
            <p:cNvGrpSpPr/>
            <p:nvPr/>
          </p:nvGrpSpPr>
          <p:grpSpPr>
            <a:xfrm>
              <a:off x="377428" y="3273028"/>
              <a:ext cx="92869" cy="92869"/>
              <a:chOff x="377428" y="3273028"/>
              <a:chExt cx="92869" cy="92869"/>
            </a:xfrm>
          </p:grpSpPr>
          <p:sp>
            <p:nvSpPr>
              <p:cNvPr id="99" name="Freeform 99"/>
              <p:cNvSpPr/>
              <p:nvPr/>
            </p:nvSpPr>
            <p:spPr>
              <a:xfrm>
                <a:off x="418703" y="3314303"/>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0319">
                <a:solidFill>
                  <a:srgbClr val="4E0D00"/>
                </a:solidFill>
              </a:ln>
            </p:spPr>
          </p:sp>
          <p:sp>
            <p:nvSpPr>
              <p:cNvPr id="100" name="Freeform 100"/>
              <p:cNvSpPr/>
              <p:nvPr/>
            </p:nvSpPr>
            <p:spPr>
              <a:xfrm>
                <a:off x="398066" y="3293666"/>
                <a:ext cx="51594" cy="51594"/>
              </a:xfrm>
              <a:custGeom>
                <a:avLst/>
                <a:gdLst/>
                <a:ahLst/>
                <a:cxnLst/>
                <a:rect l="l" t="t" r="r" b="b"/>
                <a:pathLst>
                  <a:path w="51594" h="51594">
                    <a:moveTo>
                      <a:pt x="0" y="25797"/>
                    </a:moveTo>
                    <a:cubicBezTo>
                      <a:pt x="0" y="40044"/>
                      <a:pt x="11550" y="51594"/>
                      <a:pt x="25797" y="51594"/>
                    </a:cubicBezTo>
                    <a:cubicBezTo>
                      <a:pt x="40044" y="51594"/>
                      <a:pt x="51594" y="40044"/>
                      <a:pt x="51594" y="25797"/>
                    </a:cubicBezTo>
                    <a:cubicBezTo>
                      <a:pt x="51594" y="11550"/>
                      <a:pt x="40044" y="0"/>
                      <a:pt x="25797" y="0"/>
                    </a:cubicBezTo>
                    <a:cubicBezTo>
                      <a:pt x="11550" y="0"/>
                      <a:pt x="0" y="11550"/>
                      <a:pt x="0" y="25797"/>
                    </a:cubicBezTo>
                  </a:path>
                </a:pathLst>
              </a:custGeom>
              <a:noFill/>
              <a:ln w="10319">
                <a:solidFill>
                  <a:srgbClr val="4E0D00"/>
                </a:solidFill>
              </a:ln>
            </p:spPr>
          </p:sp>
          <p:sp>
            <p:nvSpPr>
              <p:cNvPr id="101" name="Freeform 101"/>
              <p:cNvSpPr/>
              <p:nvPr/>
            </p:nvSpPr>
            <p:spPr>
              <a:xfrm>
                <a:off x="377428" y="32730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4E0D00"/>
                </a:solidFill>
              </a:ln>
            </p:spPr>
          </p:sp>
        </p:grpSp>
        <p:sp>
          <p:nvSpPr>
            <p:cNvPr id="103" name="TextBox 103"/>
            <p:cNvSpPr txBox="1"/>
            <p:nvPr/>
          </p:nvSpPr>
          <p:spPr>
            <a:xfrm>
              <a:off x="528638" y="3271838"/>
              <a:ext cx="21145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目标</a:t>
              </a:r>
            </a:p>
          </p:txBody>
        </p:sp>
        <p:sp>
          <p:nvSpPr>
            <p:cNvPr id="104" name="TextBox 104"/>
            <p:cNvSpPr txBox="1"/>
            <p:nvPr/>
          </p:nvSpPr>
          <p:spPr>
            <a:xfrm>
              <a:off x="357188" y="3436382"/>
              <a:ext cx="112956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稳住基本盘，提升经营质量；</a:t>
              </a:r>
            </a:p>
          </p:txBody>
        </p:sp>
        <p:sp>
          <p:nvSpPr>
            <p:cNvPr id="105" name="TextBox 105"/>
            <p:cNvSpPr txBox="1"/>
            <p:nvPr/>
          </p:nvSpPr>
          <p:spPr>
            <a:xfrm>
              <a:off x="357188" y="356973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现金为王，效率优先</a:t>
              </a:r>
            </a:p>
          </p:txBody>
        </p:sp>
        <p:sp>
          <p:nvSpPr>
            <p:cNvPr id="106" name="Line 106"/>
            <p:cNvSpPr/>
            <p:nvPr/>
          </p:nvSpPr>
          <p:spPr>
            <a:xfrm>
              <a:off x="361950" y="3733800"/>
              <a:ext cx="2019300" cy="9525"/>
            </a:xfrm>
            <a:custGeom>
              <a:avLst/>
              <a:gdLst/>
              <a:ahLst/>
              <a:cxnLst/>
              <a:rect l="l" t="t" r="r" b="b"/>
              <a:pathLst>
                <a:path w="2019300" h="9525">
                  <a:moveTo>
                    <a:pt x="0" y="0"/>
                  </a:moveTo>
                  <a:lnTo>
                    <a:pt x="2019300" y="0"/>
                  </a:lnTo>
                </a:path>
              </a:pathLst>
            </a:custGeom>
            <a:noFill/>
            <a:ln w="9525">
              <a:solidFill>
                <a:srgbClr val="E2E8F2"/>
              </a:solidFill>
            </a:ln>
          </p:spPr>
        </p:sp>
        <p:grpSp>
          <p:nvGrpSpPr>
            <p:cNvPr id="111" name="Group 111"/>
            <p:cNvGrpSpPr/>
            <p:nvPr/>
          </p:nvGrpSpPr>
          <p:grpSpPr>
            <a:xfrm>
              <a:off x="377428" y="3830638"/>
              <a:ext cx="92869" cy="92075"/>
              <a:chOff x="377428" y="3830638"/>
              <a:chExt cx="92869" cy="92075"/>
            </a:xfrm>
          </p:grpSpPr>
          <p:sp>
            <p:nvSpPr>
              <p:cNvPr id="107" name="Freeform 107"/>
              <p:cNvSpPr/>
              <p:nvPr/>
            </p:nvSpPr>
            <p:spPr>
              <a:xfrm>
                <a:off x="377428" y="3871913"/>
                <a:ext cx="30956" cy="41275"/>
              </a:xfrm>
              <a:custGeom>
                <a:avLst/>
                <a:gdLst/>
                <a:ahLst/>
                <a:cxnLst/>
                <a:rect l="l" t="t" r="r" b="b"/>
                <a:pathLst>
                  <a:path w="30956" h="41275">
                    <a:moveTo>
                      <a:pt x="0" y="5159"/>
                    </a:moveTo>
                    <a:cubicBezTo>
                      <a:pt x="0" y="2310"/>
                      <a:pt x="2310" y="0"/>
                      <a:pt x="5159" y="0"/>
                    </a:cubicBezTo>
                    <a:lnTo>
                      <a:pt x="25797" y="0"/>
                    </a:lnTo>
                    <a:cubicBezTo>
                      <a:pt x="28646" y="0"/>
                      <a:pt x="30956" y="2310"/>
                      <a:pt x="30956" y="5159"/>
                    </a:cubicBezTo>
                    <a:lnTo>
                      <a:pt x="30956" y="36116"/>
                    </a:lnTo>
                    <a:cubicBezTo>
                      <a:pt x="30956" y="38965"/>
                      <a:pt x="28646" y="41275"/>
                      <a:pt x="25797" y="41275"/>
                    </a:cubicBezTo>
                    <a:lnTo>
                      <a:pt x="5159" y="41275"/>
                    </a:lnTo>
                    <a:cubicBezTo>
                      <a:pt x="2310" y="41275"/>
                      <a:pt x="0" y="38965"/>
                      <a:pt x="0" y="36116"/>
                    </a:cubicBezTo>
                    <a:lnTo>
                      <a:pt x="0" y="5159"/>
                    </a:lnTo>
                  </a:path>
                </a:pathLst>
              </a:custGeom>
              <a:noFill/>
              <a:ln w="10319">
                <a:solidFill>
                  <a:srgbClr val="4E0D00"/>
                </a:solidFill>
              </a:ln>
            </p:spPr>
          </p:sp>
          <p:sp>
            <p:nvSpPr>
              <p:cNvPr id="108" name="Freeform 108"/>
              <p:cNvSpPr/>
              <p:nvPr/>
            </p:nvSpPr>
            <p:spPr>
              <a:xfrm>
                <a:off x="439341" y="3851275"/>
                <a:ext cx="30956" cy="61913"/>
              </a:xfrm>
              <a:custGeom>
                <a:avLst/>
                <a:gdLst/>
                <a:ahLst/>
                <a:cxnLst/>
                <a:rect l="l" t="t" r="r" b="b"/>
                <a:pathLst>
                  <a:path w="30956" h="61913">
                    <a:moveTo>
                      <a:pt x="0" y="5159"/>
                    </a:moveTo>
                    <a:cubicBezTo>
                      <a:pt x="0" y="2310"/>
                      <a:pt x="2310" y="0"/>
                      <a:pt x="5159" y="0"/>
                    </a:cubicBezTo>
                    <a:lnTo>
                      <a:pt x="25797" y="0"/>
                    </a:lnTo>
                    <a:cubicBezTo>
                      <a:pt x="28646" y="0"/>
                      <a:pt x="30956" y="2310"/>
                      <a:pt x="30956" y="5159"/>
                    </a:cubicBezTo>
                    <a:lnTo>
                      <a:pt x="30956" y="56753"/>
                    </a:lnTo>
                    <a:cubicBezTo>
                      <a:pt x="30956" y="59603"/>
                      <a:pt x="28646" y="61913"/>
                      <a:pt x="25797" y="61913"/>
                    </a:cubicBezTo>
                    <a:lnTo>
                      <a:pt x="5159" y="61913"/>
                    </a:lnTo>
                    <a:cubicBezTo>
                      <a:pt x="2310" y="61913"/>
                      <a:pt x="0" y="59603"/>
                      <a:pt x="0" y="56753"/>
                    </a:cubicBezTo>
                    <a:lnTo>
                      <a:pt x="0" y="5159"/>
                    </a:lnTo>
                  </a:path>
                </a:pathLst>
              </a:custGeom>
              <a:noFill/>
              <a:ln w="10319">
                <a:solidFill>
                  <a:srgbClr val="4E0D00"/>
                </a:solidFill>
              </a:ln>
            </p:spPr>
          </p:sp>
          <p:sp>
            <p:nvSpPr>
              <p:cNvPr id="109" name="Freeform 109"/>
              <p:cNvSpPr/>
              <p:nvPr/>
            </p:nvSpPr>
            <p:spPr>
              <a:xfrm>
                <a:off x="408384" y="3830638"/>
                <a:ext cx="30956" cy="82550"/>
              </a:xfrm>
              <a:custGeom>
                <a:avLst/>
                <a:gdLst/>
                <a:ahLst/>
                <a:cxnLst/>
                <a:rect l="l" t="t" r="r" b="b"/>
                <a:pathLst>
                  <a:path w="30956" h="82550">
                    <a:moveTo>
                      <a:pt x="0" y="5159"/>
                    </a:moveTo>
                    <a:cubicBezTo>
                      <a:pt x="0" y="2310"/>
                      <a:pt x="2310" y="0"/>
                      <a:pt x="5159" y="0"/>
                    </a:cubicBezTo>
                    <a:lnTo>
                      <a:pt x="25797" y="0"/>
                    </a:lnTo>
                    <a:cubicBezTo>
                      <a:pt x="28646" y="0"/>
                      <a:pt x="30956" y="2310"/>
                      <a:pt x="30956" y="5159"/>
                    </a:cubicBezTo>
                    <a:lnTo>
                      <a:pt x="30956" y="77391"/>
                    </a:lnTo>
                    <a:cubicBezTo>
                      <a:pt x="30956" y="80240"/>
                      <a:pt x="28646" y="82550"/>
                      <a:pt x="25797" y="82550"/>
                    </a:cubicBezTo>
                    <a:lnTo>
                      <a:pt x="5159" y="82550"/>
                    </a:lnTo>
                    <a:cubicBezTo>
                      <a:pt x="2310" y="82550"/>
                      <a:pt x="0" y="80240"/>
                      <a:pt x="0" y="77391"/>
                    </a:cubicBezTo>
                    <a:lnTo>
                      <a:pt x="0" y="5159"/>
                    </a:lnTo>
                  </a:path>
                </a:pathLst>
              </a:custGeom>
              <a:noFill/>
              <a:ln w="10319">
                <a:solidFill>
                  <a:srgbClr val="4E0D00"/>
                </a:solidFill>
              </a:ln>
            </p:spPr>
          </p:sp>
          <p:sp>
            <p:nvSpPr>
              <p:cNvPr id="110" name="Freeform 110"/>
              <p:cNvSpPr/>
              <p:nvPr/>
            </p:nvSpPr>
            <p:spPr>
              <a:xfrm>
                <a:off x="382588" y="3913188"/>
                <a:ext cx="72231" cy="9525"/>
              </a:xfrm>
              <a:custGeom>
                <a:avLst/>
                <a:gdLst/>
                <a:ahLst/>
                <a:cxnLst/>
                <a:rect l="l" t="t" r="r" b="b"/>
                <a:pathLst>
                  <a:path w="72231" h="9525">
                    <a:moveTo>
                      <a:pt x="0" y="0"/>
                    </a:moveTo>
                    <a:lnTo>
                      <a:pt x="72231" y="0"/>
                    </a:lnTo>
                  </a:path>
                </a:pathLst>
              </a:custGeom>
              <a:noFill/>
              <a:ln w="10319">
                <a:solidFill>
                  <a:srgbClr val="4E0D00"/>
                </a:solidFill>
              </a:ln>
            </p:spPr>
          </p:sp>
        </p:grpSp>
        <p:sp>
          <p:nvSpPr>
            <p:cNvPr id="112" name="TextBox 112"/>
            <p:cNvSpPr txBox="1"/>
            <p:nvPr/>
          </p:nvSpPr>
          <p:spPr>
            <a:xfrm>
              <a:off x="528638" y="382428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关键指标</a:t>
              </a:r>
            </a:p>
          </p:txBody>
        </p:sp>
        <p:sp>
          <p:nvSpPr>
            <p:cNvPr id="113" name="TextBox 113"/>
            <p:cNvSpPr txBox="1"/>
            <p:nvPr/>
          </p:nvSpPr>
          <p:spPr>
            <a:xfrm>
              <a:off x="357188" y="398883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收入增长率｜毛利率</a:t>
              </a:r>
            </a:p>
          </p:txBody>
        </p:sp>
        <p:sp>
          <p:nvSpPr>
            <p:cNvPr id="114" name="TextBox 114"/>
            <p:cNvSpPr txBox="1"/>
            <p:nvPr/>
          </p:nvSpPr>
          <p:spPr>
            <a:xfrm>
              <a:off x="357188" y="4122182"/>
              <a:ext cx="52646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经营性现金流</a:t>
              </a:r>
            </a:p>
          </p:txBody>
        </p:sp>
        <p:sp>
          <p:nvSpPr>
            <p:cNvPr id="115" name="TextBox 115"/>
            <p:cNvSpPr txBox="1"/>
            <p:nvPr/>
          </p:nvSpPr>
          <p:spPr>
            <a:xfrm>
              <a:off x="357188" y="4255532"/>
              <a:ext cx="75827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投入产出比（ROI）</a:t>
              </a:r>
            </a:p>
          </p:txBody>
        </p:sp>
        <p:sp>
          <p:nvSpPr>
            <p:cNvPr id="116" name="Line 116"/>
            <p:cNvSpPr/>
            <p:nvPr/>
          </p:nvSpPr>
          <p:spPr>
            <a:xfrm>
              <a:off x="361950" y="4419600"/>
              <a:ext cx="2019300" cy="9525"/>
            </a:xfrm>
            <a:custGeom>
              <a:avLst/>
              <a:gdLst/>
              <a:ahLst/>
              <a:cxnLst/>
              <a:rect l="l" t="t" r="r" b="b"/>
              <a:pathLst>
                <a:path w="2019300" h="9525">
                  <a:moveTo>
                    <a:pt x="0" y="0"/>
                  </a:moveTo>
                  <a:lnTo>
                    <a:pt x="2019300" y="0"/>
                  </a:lnTo>
                </a:path>
              </a:pathLst>
            </a:custGeom>
            <a:noFill/>
            <a:ln w="9525">
              <a:solidFill>
                <a:srgbClr val="E2E8F2"/>
              </a:solidFill>
            </a:ln>
          </p:spPr>
        </p:sp>
        <p:grpSp>
          <p:nvGrpSpPr>
            <p:cNvPr id="119" name="Group 119"/>
            <p:cNvGrpSpPr/>
            <p:nvPr/>
          </p:nvGrpSpPr>
          <p:grpSpPr>
            <a:xfrm>
              <a:off x="375163" y="4509013"/>
              <a:ext cx="97399" cy="97399"/>
              <a:chOff x="375163" y="4509013"/>
              <a:chExt cx="97399" cy="97399"/>
            </a:xfrm>
          </p:grpSpPr>
          <p:sp>
            <p:nvSpPr>
              <p:cNvPr id="117" name="Freeform 117"/>
              <p:cNvSpPr/>
              <p:nvPr/>
            </p:nvSpPr>
            <p:spPr>
              <a:xfrm>
                <a:off x="375163" y="4509013"/>
                <a:ext cx="97399" cy="97399"/>
              </a:xfrm>
              <a:custGeom>
                <a:avLst/>
                <a:gdLst/>
                <a:ahLst/>
                <a:cxnLst/>
                <a:rect l="l" t="t" r="r" b="b"/>
                <a:pathLst>
                  <a:path w="97399" h="97399">
                    <a:moveTo>
                      <a:pt x="40057" y="9060"/>
                    </a:moveTo>
                    <a:cubicBezTo>
                      <a:pt x="42255" y="0"/>
                      <a:pt x="55143" y="0"/>
                      <a:pt x="57341" y="9060"/>
                    </a:cubicBezTo>
                    <a:cubicBezTo>
                      <a:pt x="58010" y="11820"/>
                      <a:pt x="59957" y="14096"/>
                      <a:pt x="62581" y="15183"/>
                    </a:cubicBezTo>
                    <a:cubicBezTo>
                      <a:pt x="65206" y="16270"/>
                      <a:pt x="68191" y="16038"/>
                      <a:pt x="70616" y="14560"/>
                    </a:cubicBezTo>
                    <a:cubicBezTo>
                      <a:pt x="78577" y="9710"/>
                      <a:pt x="87694" y="18821"/>
                      <a:pt x="82844" y="26787"/>
                    </a:cubicBezTo>
                    <a:cubicBezTo>
                      <a:pt x="81368" y="29212"/>
                      <a:pt x="81137" y="32195"/>
                      <a:pt x="82223" y="34817"/>
                    </a:cubicBezTo>
                    <a:cubicBezTo>
                      <a:pt x="83308" y="37440"/>
                      <a:pt x="85581" y="39387"/>
                      <a:pt x="88339" y="40057"/>
                    </a:cubicBezTo>
                    <a:cubicBezTo>
                      <a:pt x="97399" y="42255"/>
                      <a:pt x="97399" y="55143"/>
                      <a:pt x="88339" y="57341"/>
                    </a:cubicBezTo>
                    <a:cubicBezTo>
                      <a:pt x="85578" y="58010"/>
                      <a:pt x="83303" y="59957"/>
                      <a:pt x="82216" y="62581"/>
                    </a:cubicBezTo>
                    <a:cubicBezTo>
                      <a:pt x="81129" y="65206"/>
                      <a:pt x="81360" y="68191"/>
                      <a:pt x="82839" y="70616"/>
                    </a:cubicBezTo>
                    <a:cubicBezTo>
                      <a:pt x="87689" y="78577"/>
                      <a:pt x="78577" y="87694"/>
                      <a:pt x="70611" y="82844"/>
                    </a:cubicBezTo>
                    <a:cubicBezTo>
                      <a:pt x="68187" y="81368"/>
                      <a:pt x="65204" y="81137"/>
                      <a:pt x="62581" y="82223"/>
                    </a:cubicBezTo>
                    <a:cubicBezTo>
                      <a:pt x="59959" y="83308"/>
                      <a:pt x="58012" y="85581"/>
                      <a:pt x="57341" y="88339"/>
                    </a:cubicBezTo>
                    <a:cubicBezTo>
                      <a:pt x="55143" y="97399"/>
                      <a:pt x="42255" y="97399"/>
                      <a:pt x="40057" y="88339"/>
                    </a:cubicBezTo>
                    <a:cubicBezTo>
                      <a:pt x="39389" y="85578"/>
                      <a:pt x="37441" y="83303"/>
                      <a:pt x="34817" y="82216"/>
                    </a:cubicBezTo>
                    <a:cubicBezTo>
                      <a:pt x="32193" y="81129"/>
                      <a:pt x="29208" y="81360"/>
                      <a:pt x="26782" y="82839"/>
                    </a:cubicBezTo>
                    <a:cubicBezTo>
                      <a:pt x="18821" y="87689"/>
                      <a:pt x="9705" y="78577"/>
                      <a:pt x="14555" y="70611"/>
                    </a:cubicBezTo>
                    <a:cubicBezTo>
                      <a:pt x="16031" y="68187"/>
                      <a:pt x="16262" y="65204"/>
                      <a:pt x="15176" y="62581"/>
                    </a:cubicBezTo>
                    <a:cubicBezTo>
                      <a:pt x="14090" y="59959"/>
                      <a:pt x="11818" y="58012"/>
                      <a:pt x="9060" y="57341"/>
                    </a:cubicBezTo>
                    <a:cubicBezTo>
                      <a:pt x="0" y="55143"/>
                      <a:pt x="0" y="42255"/>
                      <a:pt x="9060" y="40057"/>
                    </a:cubicBezTo>
                    <a:cubicBezTo>
                      <a:pt x="11820" y="39389"/>
                      <a:pt x="14096" y="37441"/>
                      <a:pt x="15183" y="34817"/>
                    </a:cubicBezTo>
                    <a:cubicBezTo>
                      <a:pt x="16270" y="32193"/>
                      <a:pt x="16038" y="29208"/>
                      <a:pt x="14560" y="26782"/>
                    </a:cubicBezTo>
                    <a:cubicBezTo>
                      <a:pt x="9710" y="18821"/>
                      <a:pt x="18821" y="9705"/>
                      <a:pt x="26787" y="14555"/>
                    </a:cubicBezTo>
                    <a:cubicBezTo>
                      <a:pt x="31947" y="17692"/>
                      <a:pt x="38633" y="14916"/>
                      <a:pt x="40057" y="9060"/>
                    </a:cubicBezTo>
                  </a:path>
                </a:pathLst>
              </a:custGeom>
              <a:noFill/>
              <a:ln w="10319">
                <a:solidFill>
                  <a:srgbClr val="4E0D00"/>
                </a:solidFill>
              </a:ln>
            </p:spPr>
          </p:sp>
          <p:sp>
            <p:nvSpPr>
              <p:cNvPr id="118" name="Freeform 118"/>
              <p:cNvSpPr/>
              <p:nvPr/>
            </p:nvSpPr>
            <p:spPr>
              <a:xfrm>
                <a:off x="408384" y="4542234"/>
                <a:ext cx="30956" cy="30956"/>
              </a:xfrm>
              <a:custGeom>
                <a:avLst/>
                <a:gdLst/>
                <a:ahLst/>
                <a:cxnLst/>
                <a:rect l="l" t="t" r="r" b="b"/>
                <a:pathLst>
                  <a:path w="30956" h="30956">
                    <a:moveTo>
                      <a:pt x="0" y="15478"/>
                    </a:moveTo>
                    <a:cubicBezTo>
                      <a:pt x="0" y="24026"/>
                      <a:pt x="6930" y="30956"/>
                      <a:pt x="15478" y="30956"/>
                    </a:cubicBezTo>
                    <a:cubicBezTo>
                      <a:pt x="24026" y="30956"/>
                      <a:pt x="30956" y="24026"/>
                      <a:pt x="30956" y="15478"/>
                    </a:cubicBezTo>
                    <a:cubicBezTo>
                      <a:pt x="30956" y="6930"/>
                      <a:pt x="24026" y="0"/>
                      <a:pt x="15478" y="0"/>
                    </a:cubicBezTo>
                    <a:cubicBezTo>
                      <a:pt x="6930" y="0"/>
                      <a:pt x="0" y="6930"/>
                      <a:pt x="0" y="15478"/>
                    </a:cubicBezTo>
                  </a:path>
                </a:pathLst>
              </a:custGeom>
              <a:noFill/>
              <a:ln w="10319">
                <a:solidFill>
                  <a:srgbClr val="4E0D00"/>
                </a:solidFill>
              </a:ln>
            </p:spPr>
          </p:sp>
        </p:grpSp>
        <p:sp>
          <p:nvSpPr>
            <p:cNvPr id="120" name="TextBox 120"/>
            <p:cNvSpPr txBox="1"/>
            <p:nvPr/>
          </p:nvSpPr>
          <p:spPr>
            <a:xfrm>
              <a:off x="528638" y="451008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管理机制</a:t>
              </a:r>
            </a:p>
          </p:txBody>
        </p:sp>
        <p:sp>
          <p:nvSpPr>
            <p:cNvPr id="121" name="TextBox 121"/>
            <p:cNvSpPr txBox="1"/>
            <p:nvPr/>
          </p:nvSpPr>
          <p:spPr>
            <a:xfrm>
              <a:off x="357188" y="4674632"/>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年度经营计划与预算管理</a:t>
              </a:r>
            </a:p>
          </p:txBody>
        </p:sp>
        <p:sp>
          <p:nvSpPr>
            <p:cNvPr id="122" name="TextBox 122"/>
            <p:cNvSpPr txBox="1"/>
            <p:nvPr/>
          </p:nvSpPr>
          <p:spPr>
            <a:xfrm>
              <a:off x="357188" y="480798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业绩任务与激励挂钩</a:t>
              </a:r>
            </a:p>
          </p:txBody>
        </p:sp>
        <p:sp>
          <p:nvSpPr>
            <p:cNvPr id="123" name="TextBox 123"/>
            <p:cNvSpPr txBox="1"/>
            <p:nvPr/>
          </p:nvSpPr>
          <p:spPr>
            <a:xfrm>
              <a:off x="357188" y="494133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流程标准化与精益运营</a:t>
              </a:r>
            </a:p>
          </p:txBody>
        </p:sp>
        <p:sp>
          <p:nvSpPr>
            <p:cNvPr id="124" name="Line 124"/>
            <p:cNvSpPr/>
            <p:nvPr/>
          </p:nvSpPr>
          <p:spPr>
            <a:xfrm>
              <a:off x="361950" y="5105400"/>
              <a:ext cx="2019300" cy="9525"/>
            </a:xfrm>
            <a:custGeom>
              <a:avLst/>
              <a:gdLst/>
              <a:ahLst/>
              <a:cxnLst/>
              <a:rect l="l" t="t" r="r" b="b"/>
              <a:pathLst>
                <a:path w="2019300" h="9525">
                  <a:moveTo>
                    <a:pt x="0" y="0"/>
                  </a:moveTo>
                  <a:lnTo>
                    <a:pt x="2019300" y="0"/>
                  </a:lnTo>
                </a:path>
              </a:pathLst>
            </a:custGeom>
            <a:noFill/>
            <a:ln w="9525">
              <a:solidFill>
                <a:srgbClr val="E2E8F2"/>
              </a:solidFill>
            </a:ln>
          </p:spPr>
        </p:sp>
        <p:grpSp>
          <p:nvGrpSpPr>
            <p:cNvPr id="128" name="Group 128"/>
            <p:cNvGrpSpPr/>
            <p:nvPr/>
          </p:nvGrpSpPr>
          <p:grpSpPr>
            <a:xfrm>
              <a:off x="380958" y="5202238"/>
              <a:ext cx="84180" cy="84179"/>
              <a:chOff x="380958" y="5202238"/>
              <a:chExt cx="84180" cy="84179"/>
            </a:xfrm>
          </p:grpSpPr>
          <p:sp>
            <p:nvSpPr>
              <p:cNvPr id="125" name="Freeform 125"/>
              <p:cNvSpPr/>
              <p:nvPr/>
            </p:nvSpPr>
            <p:spPr>
              <a:xfrm>
                <a:off x="382588" y="5202238"/>
                <a:ext cx="82550" cy="82550"/>
              </a:xfrm>
              <a:custGeom>
                <a:avLst/>
                <a:gdLst/>
                <a:ahLst/>
                <a:cxnLst/>
                <a:rect l="l" t="t" r="r" b="b"/>
                <a:pathLst>
                  <a:path w="82550" h="82550">
                    <a:moveTo>
                      <a:pt x="0" y="46434"/>
                    </a:moveTo>
                    <a:cubicBezTo>
                      <a:pt x="18936" y="48685"/>
                      <a:pt x="33865" y="63614"/>
                      <a:pt x="36116" y="82550"/>
                    </a:cubicBezTo>
                    <a:cubicBezTo>
                      <a:pt x="45387" y="77205"/>
                      <a:pt x="51241" y="67450"/>
                      <a:pt x="51594" y="56753"/>
                    </a:cubicBezTo>
                    <a:cubicBezTo>
                      <a:pt x="69310" y="50521"/>
                      <a:pt x="81528" y="34231"/>
                      <a:pt x="82550" y="15478"/>
                    </a:cubicBezTo>
                    <a:cubicBezTo>
                      <a:pt x="82550" y="6930"/>
                      <a:pt x="75620" y="0"/>
                      <a:pt x="67072" y="0"/>
                    </a:cubicBezTo>
                    <a:cubicBezTo>
                      <a:pt x="48319" y="1022"/>
                      <a:pt x="32029" y="13240"/>
                      <a:pt x="25797" y="30956"/>
                    </a:cubicBezTo>
                    <a:cubicBezTo>
                      <a:pt x="15100" y="31310"/>
                      <a:pt x="5345" y="37163"/>
                      <a:pt x="0" y="46434"/>
                    </a:cubicBezTo>
                  </a:path>
                </a:pathLst>
              </a:custGeom>
              <a:noFill/>
              <a:ln w="10319">
                <a:solidFill>
                  <a:srgbClr val="4E0D00"/>
                </a:solidFill>
              </a:ln>
            </p:spPr>
          </p:sp>
          <p:sp>
            <p:nvSpPr>
              <p:cNvPr id="126" name="Freeform 126"/>
              <p:cNvSpPr/>
              <p:nvPr/>
            </p:nvSpPr>
            <p:spPr>
              <a:xfrm>
                <a:off x="380958" y="5253831"/>
                <a:ext cx="32586" cy="32586"/>
              </a:xfrm>
              <a:custGeom>
                <a:avLst/>
                <a:gdLst/>
                <a:ahLst/>
                <a:cxnLst/>
                <a:rect l="l" t="t" r="r" b="b"/>
                <a:pathLst>
                  <a:path w="32586" h="32586">
                    <a:moveTo>
                      <a:pt x="17108" y="0"/>
                    </a:moveTo>
                    <a:cubicBezTo>
                      <a:pt x="6123" y="6201"/>
                      <a:pt x="0" y="18448"/>
                      <a:pt x="1630" y="30956"/>
                    </a:cubicBezTo>
                    <a:cubicBezTo>
                      <a:pt x="14138" y="32586"/>
                      <a:pt x="26384" y="26463"/>
                      <a:pt x="32586" y="15478"/>
                    </a:cubicBezTo>
                  </a:path>
                </a:pathLst>
              </a:custGeom>
              <a:noFill/>
              <a:ln w="10319">
                <a:solidFill>
                  <a:srgbClr val="4E0D00"/>
                </a:solidFill>
              </a:ln>
            </p:spPr>
          </p:sp>
          <p:sp>
            <p:nvSpPr>
              <p:cNvPr id="127" name="Freeform 127"/>
              <p:cNvSpPr/>
              <p:nvPr/>
            </p:nvSpPr>
            <p:spPr>
              <a:xfrm>
                <a:off x="434181" y="5222875"/>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0319">
                <a:solidFill>
                  <a:srgbClr val="4E0D00"/>
                </a:solidFill>
              </a:ln>
            </p:spPr>
          </p:sp>
        </p:grpSp>
        <p:sp>
          <p:nvSpPr>
            <p:cNvPr id="129" name="TextBox 129"/>
            <p:cNvSpPr txBox="1"/>
            <p:nvPr/>
          </p:nvSpPr>
          <p:spPr>
            <a:xfrm>
              <a:off x="528638" y="519588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典型举措</a:t>
              </a:r>
            </a:p>
          </p:txBody>
        </p:sp>
        <p:sp>
          <p:nvSpPr>
            <p:cNvPr id="130" name="TextBox 130"/>
            <p:cNvSpPr txBox="1"/>
            <p:nvPr/>
          </p:nvSpPr>
          <p:spPr>
            <a:xfrm>
              <a:off x="357188" y="5360432"/>
              <a:ext cx="10907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提升核心产品/服务的市占率</a:t>
              </a:r>
            </a:p>
          </p:txBody>
        </p:sp>
        <p:sp>
          <p:nvSpPr>
            <p:cNvPr id="131" name="TextBox 131"/>
            <p:cNvSpPr txBox="1"/>
            <p:nvPr/>
          </p:nvSpPr>
          <p:spPr>
            <a:xfrm>
              <a:off x="357188" y="549378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降本增效与供应链优化</a:t>
              </a:r>
            </a:p>
          </p:txBody>
        </p:sp>
        <p:sp>
          <p:nvSpPr>
            <p:cNvPr id="132" name="TextBox 132"/>
            <p:cNvSpPr txBox="1"/>
            <p:nvPr/>
          </p:nvSpPr>
          <p:spPr>
            <a:xfrm>
              <a:off x="357188" y="5627132"/>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客户分层运营与高价值优化</a:t>
              </a:r>
            </a:p>
          </p:txBody>
        </p:sp>
        <p:sp>
          <p:nvSpPr>
            <p:cNvPr id="133" name="TextBox 133"/>
            <p:cNvSpPr txBox="1"/>
            <p:nvPr/>
          </p:nvSpPr>
          <p:spPr>
            <a:xfrm>
              <a:off x="357188" y="576048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数字化与自动化提效</a:t>
              </a:r>
            </a:p>
          </p:txBody>
        </p:sp>
      </p:grpSp>
      <p:grpSp>
        <p:nvGrpSpPr>
          <p:cNvPr id="174" name="card-h2"/>
          <p:cNvGrpSpPr/>
          <p:nvPr/>
        </p:nvGrpSpPr>
        <p:grpSpPr>
          <a:xfrm>
            <a:off x="2590800" y="2933700"/>
            <a:ext cx="2286000" cy="3086338"/>
            <a:chOff x="2590800" y="2933700"/>
            <a:chExt cx="2286000" cy="3086338"/>
          </a:xfrm>
        </p:grpSpPr>
        <p:sp>
          <p:nvSpPr>
            <p:cNvPr id="135" name="Rectangle 135"/>
            <p:cNvSpPr/>
            <p:nvPr/>
          </p:nvSpPr>
          <p:spPr>
            <a:xfrm>
              <a:off x="2590800" y="2933700"/>
              <a:ext cx="2286000" cy="247650"/>
            </a:xfrm>
            <a:prstGeom prst="rect">
              <a:avLst/>
            </a:prstGeom>
            <a:solidFill>
              <a:srgbClr val="4E0D00"/>
            </a:solidFill>
            <a:ln>
              <a:noFill/>
            </a:ln>
          </p:spPr>
        </p:sp>
        <p:sp>
          <p:nvSpPr>
            <p:cNvPr id="136" name="TextBox 136"/>
            <p:cNvSpPr txBox="1"/>
            <p:nvPr/>
          </p:nvSpPr>
          <p:spPr>
            <a:xfrm>
              <a:off x="3004299" y="3006566"/>
              <a:ext cx="1459003"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H2 成长业务｜规模化/抢市场</a:t>
              </a:r>
            </a:p>
          </p:txBody>
        </p:sp>
        <p:sp>
          <p:nvSpPr>
            <p:cNvPr id="137" name="Rectangle 137"/>
            <p:cNvSpPr/>
            <p:nvPr/>
          </p:nvSpPr>
          <p:spPr>
            <a:xfrm>
              <a:off x="2590800" y="3181350"/>
              <a:ext cx="2286000" cy="2819400"/>
            </a:xfrm>
            <a:prstGeom prst="rect">
              <a:avLst/>
            </a:prstGeom>
            <a:solidFill>
              <a:srgbClr val="FFFFFF"/>
            </a:solidFill>
            <a:ln w="9525">
              <a:solidFill>
                <a:srgbClr val="C7D2E4"/>
              </a:solidFill>
            </a:ln>
          </p:spPr>
        </p:sp>
        <p:grpSp>
          <p:nvGrpSpPr>
            <p:cNvPr id="141" name="Group 141"/>
            <p:cNvGrpSpPr/>
            <p:nvPr/>
          </p:nvGrpSpPr>
          <p:grpSpPr>
            <a:xfrm>
              <a:off x="2739628" y="3273028"/>
              <a:ext cx="92869" cy="92869"/>
              <a:chOff x="2739628" y="3273028"/>
              <a:chExt cx="92869" cy="92869"/>
            </a:xfrm>
          </p:grpSpPr>
          <p:sp>
            <p:nvSpPr>
              <p:cNvPr id="138" name="Freeform 138"/>
              <p:cNvSpPr/>
              <p:nvPr/>
            </p:nvSpPr>
            <p:spPr>
              <a:xfrm>
                <a:off x="2780903" y="3314303"/>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0319">
                <a:solidFill>
                  <a:srgbClr val="4E0D00"/>
                </a:solidFill>
              </a:ln>
            </p:spPr>
          </p:sp>
          <p:sp>
            <p:nvSpPr>
              <p:cNvPr id="139" name="Freeform 139"/>
              <p:cNvSpPr/>
              <p:nvPr/>
            </p:nvSpPr>
            <p:spPr>
              <a:xfrm>
                <a:off x="2760266" y="3293666"/>
                <a:ext cx="51594" cy="51594"/>
              </a:xfrm>
              <a:custGeom>
                <a:avLst/>
                <a:gdLst/>
                <a:ahLst/>
                <a:cxnLst/>
                <a:rect l="l" t="t" r="r" b="b"/>
                <a:pathLst>
                  <a:path w="51594" h="51594">
                    <a:moveTo>
                      <a:pt x="0" y="25797"/>
                    </a:moveTo>
                    <a:cubicBezTo>
                      <a:pt x="0" y="40044"/>
                      <a:pt x="11550" y="51594"/>
                      <a:pt x="25797" y="51594"/>
                    </a:cubicBezTo>
                    <a:cubicBezTo>
                      <a:pt x="40044" y="51594"/>
                      <a:pt x="51594" y="40044"/>
                      <a:pt x="51594" y="25797"/>
                    </a:cubicBezTo>
                    <a:cubicBezTo>
                      <a:pt x="51594" y="11550"/>
                      <a:pt x="40044" y="0"/>
                      <a:pt x="25797" y="0"/>
                    </a:cubicBezTo>
                    <a:cubicBezTo>
                      <a:pt x="11550" y="0"/>
                      <a:pt x="0" y="11550"/>
                      <a:pt x="0" y="25797"/>
                    </a:cubicBezTo>
                  </a:path>
                </a:pathLst>
              </a:custGeom>
              <a:noFill/>
              <a:ln w="10319">
                <a:solidFill>
                  <a:srgbClr val="4E0D00"/>
                </a:solidFill>
              </a:ln>
            </p:spPr>
          </p:sp>
          <p:sp>
            <p:nvSpPr>
              <p:cNvPr id="140" name="Freeform 140"/>
              <p:cNvSpPr/>
              <p:nvPr/>
            </p:nvSpPr>
            <p:spPr>
              <a:xfrm>
                <a:off x="2739628" y="32730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4E0D00"/>
                </a:solidFill>
              </a:ln>
            </p:spPr>
          </p:sp>
        </p:grpSp>
        <p:sp>
          <p:nvSpPr>
            <p:cNvPr id="142" name="TextBox 142"/>
            <p:cNvSpPr txBox="1"/>
            <p:nvPr/>
          </p:nvSpPr>
          <p:spPr>
            <a:xfrm>
              <a:off x="2890838" y="3271838"/>
              <a:ext cx="21145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目标</a:t>
              </a:r>
            </a:p>
          </p:txBody>
        </p:sp>
        <p:sp>
          <p:nvSpPr>
            <p:cNvPr id="143" name="TextBox 143"/>
            <p:cNvSpPr txBox="1"/>
            <p:nvPr/>
          </p:nvSpPr>
          <p:spPr>
            <a:xfrm>
              <a:off x="2719388" y="3436382"/>
              <a:ext cx="121572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加速增长曲线，形成规模优势；</a:t>
              </a:r>
            </a:p>
          </p:txBody>
        </p:sp>
        <p:sp>
          <p:nvSpPr>
            <p:cNvPr id="144" name="TextBox 144"/>
            <p:cNvSpPr txBox="1"/>
            <p:nvPr/>
          </p:nvSpPr>
          <p:spPr>
            <a:xfrm>
              <a:off x="2719388" y="356973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占领心智，建立壁垒</a:t>
              </a:r>
            </a:p>
          </p:txBody>
        </p:sp>
        <p:sp>
          <p:nvSpPr>
            <p:cNvPr id="145" name="Line 145"/>
            <p:cNvSpPr/>
            <p:nvPr/>
          </p:nvSpPr>
          <p:spPr>
            <a:xfrm>
              <a:off x="2724150" y="3733800"/>
              <a:ext cx="2019300" cy="9525"/>
            </a:xfrm>
            <a:custGeom>
              <a:avLst/>
              <a:gdLst/>
              <a:ahLst/>
              <a:cxnLst/>
              <a:rect l="l" t="t" r="r" b="b"/>
              <a:pathLst>
                <a:path w="2019300" h="9525">
                  <a:moveTo>
                    <a:pt x="0" y="0"/>
                  </a:moveTo>
                  <a:lnTo>
                    <a:pt x="2019300" y="0"/>
                  </a:lnTo>
                </a:path>
              </a:pathLst>
            </a:custGeom>
            <a:noFill/>
            <a:ln w="9525">
              <a:solidFill>
                <a:srgbClr val="E2E8F2"/>
              </a:solidFill>
            </a:ln>
          </p:spPr>
        </p:sp>
        <p:grpSp>
          <p:nvGrpSpPr>
            <p:cNvPr id="150" name="Group 150"/>
            <p:cNvGrpSpPr/>
            <p:nvPr/>
          </p:nvGrpSpPr>
          <p:grpSpPr>
            <a:xfrm>
              <a:off x="2739628" y="3830638"/>
              <a:ext cx="92869" cy="92075"/>
              <a:chOff x="2739628" y="3830638"/>
              <a:chExt cx="92869" cy="92075"/>
            </a:xfrm>
          </p:grpSpPr>
          <p:sp>
            <p:nvSpPr>
              <p:cNvPr id="146" name="Freeform 146"/>
              <p:cNvSpPr/>
              <p:nvPr/>
            </p:nvSpPr>
            <p:spPr>
              <a:xfrm>
                <a:off x="2739628" y="3871913"/>
                <a:ext cx="30956" cy="41275"/>
              </a:xfrm>
              <a:custGeom>
                <a:avLst/>
                <a:gdLst/>
                <a:ahLst/>
                <a:cxnLst/>
                <a:rect l="l" t="t" r="r" b="b"/>
                <a:pathLst>
                  <a:path w="30956" h="41275">
                    <a:moveTo>
                      <a:pt x="0" y="5159"/>
                    </a:moveTo>
                    <a:cubicBezTo>
                      <a:pt x="0" y="2310"/>
                      <a:pt x="2310" y="0"/>
                      <a:pt x="5159" y="0"/>
                    </a:cubicBezTo>
                    <a:lnTo>
                      <a:pt x="25797" y="0"/>
                    </a:lnTo>
                    <a:cubicBezTo>
                      <a:pt x="28646" y="0"/>
                      <a:pt x="30956" y="2310"/>
                      <a:pt x="30956" y="5159"/>
                    </a:cubicBezTo>
                    <a:lnTo>
                      <a:pt x="30956" y="36116"/>
                    </a:lnTo>
                    <a:cubicBezTo>
                      <a:pt x="30956" y="38965"/>
                      <a:pt x="28646" y="41275"/>
                      <a:pt x="25797" y="41275"/>
                    </a:cubicBezTo>
                    <a:lnTo>
                      <a:pt x="5159" y="41275"/>
                    </a:lnTo>
                    <a:cubicBezTo>
                      <a:pt x="2310" y="41275"/>
                      <a:pt x="0" y="38965"/>
                      <a:pt x="0" y="36116"/>
                    </a:cubicBezTo>
                    <a:lnTo>
                      <a:pt x="0" y="5159"/>
                    </a:lnTo>
                  </a:path>
                </a:pathLst>
              </a:custGeom>
              <a:noFill/>
              <a:ln w="10319">
                <a:solidFill>
                  <a:srgbClr val="4E0D00"/>
                </a:solidFill>
              </a:ln>
            </p:spPr>
          </p:sp>
          <p:sp>
            <p:nvSpPr>
              <p:cNvPr id="147" name="Freeform 147"/>
              <p:cNvSpPr/>
              <p:nvPr/>
            </p:nvSpPr>
            <p:spPr>
              <a:xfrm>
                <a:off x="2801541" y="3851275"/>
                <a:ext cx="30956" cy="61913"/>
              </a:xfrm>
              <a:custGeom>
                <a:avLst/>
                <a:gdLst/>
                <a:ahLst/>
                <a:cxnLst/>
                <a:rect l="l" t="t" r="r" b="b"/>
                <a:pathLst>
                  <a:path w="30956" h="61913">
                    <a:moveTo>
                      <a:pt x="0" y="5159"/>
                    </a:moveTo>
                    <a:cubicBezTo>
                      <a:pt x="0" y="2310"/>
                      <a:pt x="2310" y="0"/>
                      <a:pt x="5159" y="0"/>
                    </a:cubicBezTo>
                    <a:lnTo>
                      <a:pt x="25797" y="0"/>
                    </a:lnTo>
                    <a:cubicBezTo>
                      <a:pt x="28646" y="0"/>
                      <a:pt x="30956" y="2310"/>
                      <a:pt x="30956" y="5159"/>
                    </a:cubicBezTo>
                    <a:lnTo>
                      <a:pt x="30956" y="56753"/>
                    </a:lnTo>
                    <a:cubicBezTo>
                      <a:pt x="30956" y="59603"/>
                      <a:pt x="28646" y="61913"/>
                      <a:pt x="25797" y="61913"/>
                    </a:cubicBezTo>
                    <a:lnTo>
                      <a:pt x="5159" y="61913"/>
                    </a:lnTo>
                    <a:cubicBezTo>
                      <a:pt x="2310" y="61913"/>
                      <a:pt x="0" y="59603"/>
                      <a:pt x="0" y="56753"/>
                    </a:cubicBezTo>
                    <a:lnTo>
                      <a:pt x="0" y="5159"/>
                    </a:lnTo>
                  </a:path>
                </a:pathLst>
              </a:custGeom>
              <a:noFill/>
              <a:ln w="10319">
                <a:solidFill>
                  <a:srgbClr val="4E0D00"/>
                </a:solidFill>
              </a:ln>
            </p:spPr>
          </p:sp>
          <p:sp>
            <p:nvSpPr>
              <p:cNvPr id="148" name="Freeform 148"/>
              <p:cNvSpPr/>
              <p:nvPr/>
            </p:nvSpPr>
            <p:spPr>
              <a:xfrm>
                <a:off x="2770584" y="3830638"/>
                <a:ext cx="30956" cy="82550"/>
              </a:xfrm>
              <a:custGeom>
                <a:avLst/>
                <a:gdLst/>
                <a:ahLst/>
                <a:cxnLst/>
                <a:rect l="l" t="t" r="r" b="b"/>
                <a:pathLst>
                  <a:path w="30956" h="82550">
                    <a:moveTo>
                      <a:pt x="0" y="5159"/>
                    </a:moveTo>
                    <a:cubicBezTo>
                      <a:pt x="0" y="2310"/>
                      <a:pt x="2310" y="0"/>
                      <a:pt x="5159" y="0"/>
                    </a:cubicBezTo>
                    <a:lnTo>
                      <a:pt x="25797" y="0"/>
                    </a:lnTo>
                    <a:cubicBezTo>
                      <a:pt x="28646" y="0"/>
                      <a:pt x="30956" y="2310"/>
                      <a:pt x="30956" y="5159"/>
                    </a:cubicBezTo>
                    <a:lnTo>
                      <a:pt x="30956" y="77391"/>
                    </a:lnTo>
                    <a:cubicBezTo>
                      <a:pt x="30956" y="80240"/>
                      <a:pt x="28646" y="82550"/>
                      <a:pt x="25797" y="82550"/>
                    </a:cubicBezTo>
                    <a:lnTo>
                      <a:pt x="5159" y="82550"/>
                    </a:lnTo>
                    <a:cubicBezTo>
                      <a:pt x="2310" y="82550"/>
                      <a:pt x="0" y="80240"/>
                      <a:pt x="0" y="77391"/>
                    </a:cubicBezTo>
                    <a:lnTo>
                      <a:pt x="0" y="5159"/>
                    </a:lnTo>
                  </a:path>
                </a:pathLst>
              </a:custGeom>
              <a:noFill/>
              <a:ln w="10319">
                <a:solidFill>
                  <a:srgbClr val="4E0D00"/>
                </a:solidFill>
              </a:ln>
            </p:spPr>
          </p:sp>
          <p:sp>
            <p:nvSpPr>
              <p:cNvPr id="149" name="Freeform 149"/>
              <p:cNvSpPr/>
              <p:nvPr/>
            </p:nvSpPr>
            <p:spPr>
              <a:xfrm>
                <a:off x="2744788" y="3913188"/>
                <a:ext cx="72231" cy="9525"/>
              </a:xfrm>
              <a:custGeom>
                <a:avLst/>
                <a:gdLst/>
                <a:ahLst/>
                <a:cxnLst/>
                <a:rect l="l" t="t" r="r" b="b"/>
                <a:pathLst>
                  <a:path w="72231" h="9525">
                    <a:moveTo>
                      <a:pt x="0" y="0"/>
                    </a:moveTo>
                    <a:lnTo>
                      <a:pt x="72231" y="0"/>
                    </a:lnTo>
                  </a:path>
                </a:pathLst>
              </a:custGeom>
              <a:noFill/>
              <a:ln w="10319">
                <a:solidFill>
                  <a:srgbClr val="4E0D00"/>
                </a:solidFill>
              </a:ln>
            </p:spPr>
          </p:sp>
        </p:grpSp>
        <p:sp>
          <p:nvSpPr>
            <p:cNvPr id="151" name="TextBox 151"/>
            <p:cNvSpPr txBox="1"/>
            <p:nvPr/>
          </p:nvSpPr>
          <p:spPr>
            <a:xfrm>
              <a:off x="2890838" y="382428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关键指标</a:t>
              </a:r>
            </a:p>
          </p:txBody>
        </p:sp>
        <p:sp>
          <p:nvSpPr>
            <p:cNvPr id="152" name="TextBox 152"/>
            <p:cNvSpPr txBox="1"/>
            <p:nvPr/>
          </p:nvSpPr>
          <p:spPr>
            <a:xfrm>
              <a:off x="2719388" y="3988832"/>
              <a:ext cx="61262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收入复合增长率</a:t>
              </a:r>
            </a:p>
          </p:txBody>
        </p:sp>
        <p:sp>
          <p:nvSpPr>
            <p:cNvPr id="153" name="TextBox 153"/>
            <p:cNvSpPr txBox="1"/>
            <p:nvPr/>
          </p:nvSpPr>
          <p:spPr>
            <a:xfrm>
              <a:off x="2719388" y="4122182"/>
              <a:ext cx="66000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新客户/市场份额</a:t>
              </a:r>
            </a:p>
          </p:txBody>
        </p:sp>
        <p:sp>
          <p:nvSpPr>
            <p:cNvPr id="154" name="TextBox 154"/>
            <p:cNvSpPr txBox="1"/>
            <p:nvPr/>
          </p:nvSpPr>
          <p:spPr>
            <a:xfrm>
              <a:off x="2719388" y="4255532"/>
              <a:ext cx="104925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单位经济模型（LTV/CAC）</a:t>
              </a:r>
            </a:p>
          </p:txBody>
        </p:sp>
        <p:sp>
          <p:nvSpPr>
            <p:cNvPr id="155" name="TextBox 155"/>
            <p:cNvSpPr txBox="1"/>
            <p:nvPr/>
          </p:nvSpPr>
          <p:spPr>
            <a:xfrm>
              <a:off x="2719388" y="438888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战略项目里程碑达成率</a:t>
              </a:r>
            </a:p>
          </p:txBody>
        </p:sp>
        <p:sp>
          <p:nvSpPr>
            <p:cNvPr id="156" name="Line 156"/>
            <p:cNvSpPr/>
            <p:nvPr/>
          </p:nvSpPr>
          <p:spPr>
            <a:xfrm>
              <a:off x="2724150" y="4552950"/>
              <a:ext cx="2019300" cy="9525"/>
            </a:xfrm>
            <a:custGeom>
              <a:avLst/>
              <a:gdLst/>
              <a:ahLst/>
              <a:cxnLst/>
              <a:rect l="l" t="t" r="r" b="b"/>
              <a:pathLst>
                <a:path w="2019300" h="9525">
                  <a:moveTo>
                    <a:pt x="0" y="0"/>
                  </a:moveTo>
                  <a:lnTo>
                    <a:pt x="2019300" y="0"/>
                  </a:lnTo>
                </a:path>
              </a:pathLst>
            </a:custGeom>
            <a:noFill/>
            <a:ln w="9525">
              <a:solidFill>
                <a:srgbClr val="E2E8F2"/>
              </a:solidFill>
            </a:ln>
          </p:spPr>
        </p:sp>
        <p:grpSp>
          <p:nvGrpSpPr>
            <p:cNvPr id="159" name="Group 159"/>
            <p:cNvGrpSpPr/>
            <p:nvPr/>
          </p:nvGrpSpPr>
          <p:grpSpPr>
            <a:xfrm>
              <a:off x="2737363" y="4642363"/>
              <a:ext cx="97399" cy="97399"/>
              <a:chOff x="2737363" y="4642363"/>
              <a:chExt cx="97399" cy="97399"/>
            </a:xfrm>
          </p:grpSpPr>
          <p:sp>
            <p:nvSpPr>
              <p:cNvPr id="157" name="Freeform 157"/>
              <p:cNvSpPr/>
              <p:nvPr/>
            </p:nvSpPr>
            <p:spPr>
              <a:xfrm>
                <a:off x="2737363" y="4642363"/>
                <a:ext cx="97399" cy="97399"/>
              </a:xfrm>
              <a:custGeom>
                <a:avLst/>
                <a:gdLst/>
                <a:ahLst/>
                <a:cxnLst/>
                <a:rect l="l" t="t" r="r" b="b"/>
                <a:pathLst>
                  <a:path w="97399" h="97399">
                    <a:moveTo>
                      <a:pt x="40057" y="9060"/>
                    </a:moveTo>
                    <a:cubicBezTo>
                      <a:pt x="42255" y="0"/>
                      <a:pt x="55143" y="0"/>
                      <a:pt x="57341" y="9060"/>
                    </a:cubicBezTo>
                    <a:cubicBezTo>
                      <a:pt x="58010" y="11820"/>
                      <a:pt x="59957" y="14096"/>
                      <a:pt x="62581" y="15183"/>
                    </a:cubicBezTo>
                    <a:cubicBezTo>
                      <a:pt x="65206" y="16270"/>
                      <a:pt x="68191" y="16038"/>
                      <a:pt x="70616" y="14560"/>
                    </a:cubicBezTo>
                    <a:cubicBezTo>
                      <a:pt x="78577" y="9710"/>
                      <a:pt x="87694" y="18821"/>
                      <a:pt x="82844" y="26787"/>
                    </a:cubicBezTo>
                    <a:cubicBezTo>
                      <a:pt x="81368" y="29212"/>
                      <a:pt x="81137" y="32195"/>
                      <a:pt x="82223" y="34817"/>
                    </a:cubicBezTo>
                    <a:cubicBezTo>
                      <a:pt x="83308" y="37440"/>
                      <a:pt x="85581" y="39387"/>
                      <a:pt x="88339" y="40057"/>
                    </a:cubicBezTo>
                    <a:cubicBezTo>
                      <a:pt x="97399" y="42255"/>
                      <a:pt x="97399" y="55143"/>
                      <a:pt x="88339" y="57341"/>
                    </a:cubicBezTo>
                    <a:cubicBezTo>
                      <a:pt x="85578" y="58010"/>
                      <a:pt x="83303" y="59957"/>
                      <a:pt x="82216" y="62581"/>
                    </a:cubicBezTo>
                    <a:cubicBezTo>
                      <a:pt x="81129" y="65206"/>
                      <a:pt x="81360" y="68191"/>
                      <a:pt x="82839" y="70616"/>
                    </a:cubicBezTo>
                    <a:cubicBezTo>
                      <a:pt x="87689" y="78577"/>
                      <a:pt x="78577" y="87694"/>
                      <a:pt x="70611" y="82844"/>
                    </a:cubicBezTo>
                    <a:cubicBezTo>
                      <a:pt x="68187" y="81368"/>
                      <a:pt x="65204" y="81137"/>
                      <a:pt x="62581" y="82223"/>
                    </a:cubicBezTo>
                    <a:cubicBezTo>
                      <a:pt x="59959" y="83308"/>
                      <a:pt x="58012" y="85581"/>
                      <a:pt x="57341" y="88339"/>
                    </a:cubicBezTo>
                    <a:cubicBezTo>
                      <a:pt x="55143" y="97399"/>
                      <a:pt x="42255" y="97399"/>
                      <a:pt x="40057" y="88339"/>
                    </a:cubicBezTo>
                    <a:cubicBezTo>
                      <a:pt x="39389" y="85578"/>
                      <a:pt x="37441" y="83303"/>
                      <a:pt x="34817" y="82216"/>
                    </a:cubicBezTo>
                    <a:cubicBezTo>
                      <a:pt x="32193" y="81129"/>
                      <a:pt x="29208" y="81360"/>
                      <a:pt x="26782" y="82839"/>
                    </a:cubicBezTo>
                    <a:cubicBezTo>
                      <a:pt x="18821" y="87689"/>
                      <a:pt x="9705" y="78577"/>
                      <a:pt x="14555" y="70611"/>
                    </a:cubicBezTo>
                    <a:cubicBezTo>
                      <a:pt x="16031" y="68187"/>
                      <a:pt x="16262" y="65204"/>
                      <a:pt x="15176" y="62581"/>
                    </a:cubicBezTo>
                    <a:cubicBezTo>
                      <a:pt x="14090" y="59959"/>
                      <a:pt x="11818" y="58012"/>
                      <a:pt x="9060" y="57341"/>
                    </a:cubicBezTo>
                    <a:cubicBezTo>
                      <a:pt x="0" y="55143"/>
                      <a:pt x="0" y="42255"/>
                      <a:pt x="9060" y="40057"/>
                    </a:cubicBezTo>
                    <a:cubicBezTo>
                      <a:pt x="11820" y="39389"/>
                      <a:pt x="14096" y="37441"/>
                      <a:pt x="15183" y="34817"/>
                    </a:cubicBezTo>
                    <a:cubicBezTo>
                      <a:pt x="16270" y="32193"/>
                      <a:pt x="16038" y="29208"/>
                      <a:pt x="14560" y="26782"/>
                    </a:cubicBezTo>
                    <a:cubicBezTo>
                      <a:pt x="9710" y="18821"/>
                      <a:pt x="18821" y="9705"/>
                      <a:pt x="26787" y="14555"/>
                    </a:cubicBezTo>
                    <a:cubicBezTo>
                      <a:pt x="31947" y="17692"/>
                      <a:pt x="38633" y="14916"/>
                      <a:pt x="40057" y="9060"/>
                    </a:cubicBezTo>
                  </a:path>
                </a:pathLst>
              </a:custGeom>
              <a:noFill/>
              <a:ln w="10319">
                <a:solidFill>
                  <a:srgbClr val="4E0D00"/>
                </a:solidFill>
              </a:ln>
            </p:spPr>
          </p:sp>
          <p:sp>
            <p:nvSpPr>
              <p:cNvPr id="158" name="Freeform 158"/>
              <p:cNvSpPr/>
              <p:nvPr/>
            </p:nvSpPr>
            <p:spPr>
              <a:xfrm>
                <a:off x="2770584" y="4675584"/>
                <a:ext cx="30956" cy="30956"/>
              </a:xfrm>
              <a:custGeom>
                <a:avLst/>
                <a:gdLst/>
                <a:ahLst/>
                <a:cxnLst/>
                <a:rect l="l" t="t" r="r" b="b"/>
                <a:pathLst>
                  <a:path w="30956" h="30956">
                    <a:moveTo>
                      <a:pt x="0" y="15478"/>
                    </a:moveTo>
                    <a:cubicBezTo>
                      <a:pt x="0" y="24026"/>
                      <a:pt x="6930" y="30956"/>
                      <a:pt x="15478" y="30956"/>
                    </a:cubicBezTo>
                    <a:cubicBezTo>
                      <a:pt x="24026" y="30956"/>
                      <a:pt x="30956" y="24026"/>
                      <a:pt x="30956" y="15478"/>
                    </a:cubicBezTo>
                    <a:cubicBezTo>
                      <a:pt x="30956" y="6930"/>
                      <a:pt x="24026" y="0"/>
                      <a:pt x="15478" y="0"/>
                    </a:cubicBezTo>
                    <a:cubicBezTo>
                      <a:pt x="6930" y="0"/>
                      <a:pt x="0" y="6930"/>
                      <a:pt x="0" y="15478"/>
                    </a:cubicBezTo>
                  </a:path>
                </a:pathLst>
              </a:custGeom>
              <a:noFill/>
              <a:ln w="10319">
                <a:solidFill>
                  <a:srgbClr val="4E0D00"/>
                </a:solidFill>
              </a:ln>
            </p:spPr>
          </p:sp>
        </p:grpSp>
        <p:sp>
          <p:nvSpPr>
            <p:cNvPr id="160" name="TextBox 160"/>
            <p:cNvSpPr txBox="1"/>
            <p:nvPr/>
          </p:nvSpPr>
          <p:spPr>
            <a:xfrm>
              <a:off x="2890838" y="464343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管理机制</a:t>
              </a:r>
            </a:p>
          </p:txBody>
        </p:sp>
        <p:sp>
          <p:nvSpPr>
            <p:cNvPr id="161" name="TextBox 161"/>
            <p:cNvSpPr txBox="1"/>
            <p:nvPr/>
          </p:nvSpPr>
          <p:spPr>
            <a:xfrm>
              <a:off x="2719388" y="4807982"/>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机会组合管理与资源倾斜</a:t>
              </a:r>
            </a:p>
          </p:txBody>
        </p:sp>
        <p:sp>
          <p:nvSpPr>
            <p:cNvPr id="162" name="TextBox 162"/>
            <p:cNvSpPr txBox="1"/>
            <p:nvPr/>
          </p:nvSpPr>
          <p:spPr>
            <a:xfrm>
              <a:off x="2719388" y="4941332"/>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跨部门协同与专项闭环作战</a:t>
              </a:r>
            </a:p>
          </p:txBody>
        </p:sp>
        <p:sp>
          <p:nvSpPr>
            <p:cNvPr id="163" name="TextBox 163"/>
            <p:cNvSpPr txBox="1"/>
            <p:nvPr/>
          </p:nvSpPr>
          <p:spPr>
            <a:xfrm>
              <a:off x="2719388" y="5074682"/>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敏捷迭代与快速试错机制</a:t>
              </a:r>
            </a:p>
          </p:txBody>
        </p:sp>
        <p:sp>
          <p:nvSpPr>
            <p:cNvPr id="164" name="Line 164"/>
            <p:cNvSpPr/>
            <p:nvPr/>
          </p:nvSpPr>
          <p:spPr>
            <a:xfrm>
              <a:off x="2724150" y="5238750"/>
              <a:ext cx="2019300" cy="9525"/>
            </a:xfrm>
            <a:custGeom>
              <a:avLst/>
              <a:gdLst/>
              <a:ahLst/>
              <a:cxnLst/>
              <a:rect l="l" t="t" r="r" b="b"/>
              <a:pathLst>
                <a:path w="2019300" h="9525">
                  <a:moveTo>
                    <a:pt x="0" y="0"/>
                  </a:moveTo>
                  <a:lnTo>
                    <a:pt x="2019300" y="0"/>
                  </a:lnTo>
                </a:path>
              </a:pathLst>
            </a:custGeom>
            <a:noFill/>
            <a:ln w="9525">
              <a:solidFill>
                <a:srgbClr val="E2E8F2"/>
              </a:solidFill>
            </a:ln>
          </p:spPr>
        </p:sp>
        <p:grpSp>
          <p:nvGrpSpPr>
            <p:cNvPr id="168" name="Group 168"/>
            <p:cNvGrpSpPr/>
            <p:nvPr/>
          </p:nvGrpSpPr>
          <p:grpSpPr>
            <a:xfrm>
              <a:off x="2743158" y="5335588"/>
              <a:ext cx="84180" cy="84179"/>
              <a:chOff x="2743158" y="5335588"/>
              <a:chExt cx="84180" cy="84179"/>
            </a:xfrm>
          </p:grpSpPr>
          <p:sp>
            <p:nvSpPr>
              <p:cNvPr id="165" name="Freeform 165"/>
              <p:cNvSpPr/>
              <p:nvPr/>
            </p:nvSpPr>
            <p:spPr>
              <a:xfrm>
                <a:off x="2744788" y="5335588"/>
                <a:ext cx="82550" cy="82550"/>
              </a:xfrm>
              <a:custGeom>
                <a:avLst/>
                <a:gdLst/>
                <a:ahLst/>
                <a:cxnLst/>
                <a:rect l="l" t="t" r="r" b="b"/>
                <a:pathLst>
                  <a:path w="82550" h="82550">
                    <a:moveTo>
                      <a:pt x="0" y="46434"/>
                    </a:moveTo>
                    <a:cubicBezTo>
                      <a:pt x="18936" y="48685"/>
                      <a:pt x="33865" y="63614"/>
                      <a:pt x="36116" y="82550"/>
                    </a:cubicBezTo>
                    <a:cubicBezTo>
                      <a:pt x="45387" y="77205"/>
                      <a:pt x="51241" y="67450"/>
                      <a:pt x="51594" y="56753"/>
                    </a:cubicBezTo>
                    <a:cubicBezTo>
                      <a:pt x="69310" y="50521"/>
                      <a:pt x="81528" y="34231"/>
                      <a:pt x="82550" y="15478"/>
                    </a:cubicBezTo>
                    <a:cubicBezTo>
                      <a:pt x="82550" y="6930"/>
                      <a:pt x="75620" y="0"/>
                      <a:pt x="67072" y="0"/>
                    </a:cubicBezTo>
                    <a:cubicBezTo>
                      <a:pt x="48319" y="1022"/>
                      <a:pt x="32029" y="13240"/>
                      <a:pt x="25797" y="30956"/>
                    </a:cubicBezTo>
                    <a:cubicBezTo>
                      <a:pt x="15100" y="31310"/>
                      <a:pt x="5345" y="37163"/>
                      <a:pt x="0" y="46434"/>
                    </a:cubicBezTo>
                  </a:path>
                </a:pathLst>
              </a:custGeom>
              <a:noFill/>
              <a:ln w="10319">
                <a:solidFill>
                  <a:srgbClr val="4E0D00"/>
                </a:solidFill>
              </a:ln>
            </p:spPr>
          </p:sp>
          <p:sp>
            <p:nvSpPr>
              <p:cNvPr id="166" name="Freeform 166"/>
              <p:cNvSpPr/>
              <p:nvPr/>
            </p:nvSpPr>
            <p:spPr>
              <a:xfrm>
                <a:off x="2743158" y="5387181"/>
                <a:ext cx="32586" cy="32586"/>
              </a:xfrm>
              <a:custGeom>
                <a:avLst/>
                <a:gdLst/>
                <a:ahLst/>
                <a:cxnLst/>
                <a:rect l="l" t="t" r="r" b="b"/>
                <a:pathLst>
                  <a:path w="32586" h="32586">
                    <a:moveTo>
                      <a:pt x="17108" y="0"/>
                    </a:moveTo>
                    <a:cubicBezTo>
                      <a:pt x="6123" y="6201"/>
                      <a:pt x="0" y="18448"/>
                      <a:pt x="1630" y="30956"/>
                    </a:cubicBezTo>
                    <a:cubicBezTo>
                      <a:pt x="14138" y="32586"/>
                      <a:pt x="26384" y="26463"/>
                      <a:pt x="32586" y="15478"/>
                    </a:cubicBezTo>
                  </a:path>
                </a:pathLst>
              </a:custGeom>
              <a:noFill/>
              <a:ln w="10319">
                <a:solidFill>
                  <a:srgbClr val="4E0D00"/>
                </a:solidFill>
              </a:ln>
            </p:spPr>
          </p:sp>
          <p:sp>
            <p:nvSpPr>
              <p:cNvPr id="167" name="Freeform 167"/>
              <p:cNvSpPr/>
              <p:nvPr/>
            </p:nvSpPr>
            <p:spPr>
              <a:xfrm>
                <a:off x="2796381" y="5356225"/>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0319">
                <a:solidFill>
                  <a:srgbClr val="4E0D00"/>
                </a:solidFill>
              </a:ln>
            </p:spPr>
          </p:sp>
        </p:grpSp>
        <p:sp>
          <p:nvSpPr>
            <p:cNvPr id="169" name="TextBox 169"/>
            <p:cNvSpPr txBox="1"/>
            <p:nvPr/>
          </p:nvSpPr>
          <p:spPr>
            <a:xfrm>
              <a:off x="2890838" y="532923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典型举措</a:t>
              </a:r>
            </a:p>
          </p:txBody>
        </p:sp>
        <p:sp>
          <p:nvSpPr>
            <p:cNvPr id="170" name="TextBox 170"/>
            <p:cNvSpPr txBox="1"/>
            <p:nvPr/>
          </p:nvSpPr>
          <p:spPr>
            <a:xfrm>
              <a:off x="2719388" y="5493782"/>
              <a:ext cx="10907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核心品类/区域的规模化扩张</a:t>
              </a:r>
            </a:p>
          </p:txBody>
        </p:sp>
        <p:sp>
          <p:nvSpPr>
            <p:cNvPr id="171" name="TextBox 171"/>
            <p:cNvSpPr txBox="1"/>
            <p:nvPr/>
          </p:nvSpPr>
          <p:spPr>
            <a:xfrm>
              <a:off x="2719388" y="562713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深度生态合作伙伴建设</a:t>
              </a:r>
            </a:p>
          </p:txBody>
        </p:sp>
        <p:sp>
          <p:nvSpPr>
            <p:cNvPr id="172" name="TextBox 172"/>
            <p:cNvSpPr txBox="1"/>
            <p:nvPr/>
          </p:nvSpPr>
          <p:spPr>
            <a:xfrm>
              <a:off x="2719388" y="5760482"/>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产品与服务组合创新升级</a:t>
              </a:r>
            </a:p>
          </p:txBody>
        </p:sp>
        <p:sp>
          <p:nvSpPr>
            <p:cNvPr id="173" name="TextBox 173"/>
            <p:cNvSpPr txBox="1"/>
            <p:nvPr/>
          </p:nvSpPr>
          <p:spPr>
            <a:xfrm>
              <a:off x="2719388" y="5893832"/>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组织能力与团队升级建设</a:t>
              </a:r>
            </a:p>
          </p:txBody>
        </p:sp>
      </p:grpSp>
      <p:grpSp>
        <p:nvGrpSpPr>
          <p:cNvPr id="213" name="card-h3"/>
          <p:cNvGrpSpPr/>
          <p:nvPr/>
        </p:nvGrpSpPr>
        <p:grpSpPr>
          <a:xfrm>
            <a:off x="4953000" y="2933700"/>
            <a:ext cx="2286000" cy="3067050"/>
            <a:chOff x="4953000" y="2933700"/>
            <a:chExt cx="2286000" cy="3067050"/>
          </a:xfrm>
        </p:grpSpPr>
        <p:sp>
          <p:nvSpPr>
            <p:cNvPr id="175" name="Rectangle 175"/>
            <p:cNvSpPr/>
            <p:nvPr/>
          </p:nvSpPr>
          <p:spPr>
            <a:xfrm>
              <a:off x="4953000" y="2933700"/>
              <a:ext cx="2286000" cy="247650"/>
            </a:xfrm>
            <a:prstGeom prst="rect">
              <a:avLst/>
            </a:prstGeom>
            <a:solidFill>
              <a:srgbClr val="944130"/>
            </a:solidFill>
            <a:ln>
              <a:noFill/>
            </a:ln>
          </p:spPr>
        </p:sp>
        <p:sp>
          <p:nvSpPr>
            <p:cNvPr id="176" name="TextBox 176"/>
            <p:cNvSpPr txBox="1"/>
            <p:nvPr/>
          </p:nvSpPr>
          <p:spPr>
            <a:xfrm>
              <a:off x="5334624" y="3006566"/>
              <a:ext cx="152275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H3 未来业务｜探索/试验/孵化</a:t>
              </a:r>
            </a:p>
          </p:txBody>
        </p:sp>
        <p:sp>
          <p:nvSpPr>
            <p:cNvPr id="177" name="Rectangle 177"/>
            <p:cNvSpPr/>
            <p:nvPr/>
          </p:nvSpPr>
          <p:spPr>
            <a:xfrm>
              <a:off x="4953000" y="3181350"/>
              <a:ext cx="2286000" cy="2819400"/>
            </a:xfrm>
            <a:prstGeom prst="rect">
              <a:avLst/>
            </a:prstGeom>
            <a:solidFill>
              <a:srgbClr val="FFFFFF"/>
            </a:solidFill>
            <a:ln w="9525">
              <a:solidFill>
                <a:srgbClr val="C7D2E4"/>
              </a:solidFill>
            </a:ln>
          </p:spPr>
        </p:sp>
        <p:grpSp>
          <p:nvGrpSpPr>
            <p:cNvPr id="181" name="Group 181"/>
            <p:cNvGrpSpPr/>
            <p:nvPr/>
          </p:nvGrpSpPr>
          <p:grpSpPr>
            <a:xfrm>
              <a:off x="5101828" y="3273028"/>
              <a:ext cx="92869" cy="92869"/>
              <a:chOff x="5101828" y="3273028"/>
              <a:chExt cx="92869" cy="92869"/>
            </a:xfrm>
          </p:grpSpPr>
          <p:sp>
            <p:nvSpPr>
              <p:cNvPr id="178" name="Freeform 178"/>
              <p:cNvSpPr/>
              <p:nvPr/>
            </p:nvSpPr>
            <p:spPr>
              <a:xfrm>
                <a:off x="5143103" y="3314303"/>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0319">
                <a:solidFill>
                  <a:srgbClr val="4E0D00"/>
                </a:solidFill>
              </a:ln>
            </p:spPr>
          </p:sp>
          <p:sp>
            <p:nvSpPr>
              <p:cNvPr id="179" name="Freeform 179"/>
              <p:cNvSpPr/>
              <p:nvPr/>
            </p:nvSpPr>
            <p:spPr>
              <a:xfrm>
                <a:off x="5122466" y="3293666"/>
                <a:ext cx="51594" cy="51594"/>
              </a:xfrm>
              <a:custGeom>
                <a:avLst/>
                <a:gdLst/>
                <a:ahLst/>
                <a:cxnLst/>
                <a:rect l="l" t="t" r="r" b="b"/>
                <a:pathLst>
                  <a:path w="51594" h="51594">
                    <a:moveTo>
                      <a:pt x="0" y="25797"/>
                    </a:moveTo>
                    <a:cubicBezTo>
                      <a:pt x="0" y="40044"/>
                      <a:pt x="11550" y="51594"/>
                      <a:pt x="25797" y="51594"/>
                    </a:cubicBezTo>
                    <a:cubicBezTo>
                      <a:pt x="40044" y="51594"/>
                      <a:pt x="51594" y="40044"/>
                      <a:pt x="51594" y="25797"/>
                    </a:cubicBezTo>
                    <a:cubicBezTo>
                      <a:pt x="51594" y="11550"/>
                      <a:pt x="40044" y="0"/>
                      <a:pt x="25797" y="0"/>
                    </a:cubicBezTo>
                    <a:cubicBezTo>
                      <a:pt x="11550" y="0"/>
                      <a:pt x="0" y="11550"/>
                      <a:pt x="0" y="25797"/>
                    </a:cubicBezTo>
                  </a:path>
                </a:pathLst>
              </a:custGeom>
              <a:noFill/>
              <a:ln w="10319">
                <a:solidFill>
                  <a:srgbClr val="4E0D00"/>
                </a:solidFill>
              </a:ln>
            </p:spPr>
          </p:sp>
          <p:sp>
            <p:nvSpPr>
              <p:cNvPr id="180" name="Freeform 180"/>
              <p:cNvSpPr/>
              <p:nvPr/>
            </p:nvSpPr>
            <p:spPr>
              <a:xfrm>
                <a:off x="5101828" y="3273028"/>
                <a:ext cx="92869" cy="92869"/>
              </a:xfrm>
              <a:custGeom>
                <a:avLst/>
                <a:gdLst/>
                <a:ahLst/>
                <a:cxnLst/>
                <a:rect l="l" t="t" r="r" b="b"/>
                <a:pathLst>
                  <a:path w="92869" h="92869">
                    <a:moveTo>
                      <a:pt x="0" y="46434"/>
                    </a:moveTo>
                    <a:cubicBezTo>
                      <a:pt x="0" y="72079"/>
                      <a:pt x="20789" y="92869"/>
                      <a:pt x="46434" y="92869"/>
                    </a:cubicBezTo>
                    <a:cubicBezTo>
                      <a:pt x="72079" y="92869"/>
                      <a:pt x="92869" y="72079"/>
                      <a:pt x="92869" y="46434"/>
                    </a:cubicBezTo>
                    <a:cubicBezTo>
                      <a:pt x="92869" y="20789"/>
                      <a:pt x="72079" y="0"/>
                      <a:pt x="46434" y="0"/>
                    </a:cubicBezTo>
                    <a:cubicBezTo>
                      <a:pt x="20789" y="0"/>
                      <a:pt x="0" y="20789"/>
                      <a:pt x="0" y="46434"/>
                    </a:cubicBezTo>
                  </a:path>
                </a:pathLst>
              </a:custGeom>
              <a:noFill/>
              <a:ln w="10319">
                <a:solidFill>
                  <a:srgbClr val="4E0D00"/>
                </a:solidFill>
              </a:ln>
            </p:spPr>
          </p:sp>
        </p:grpSp>
        <p:sp>
          <p:nvSpPr>
            <p:cNvPr id="182" name="TextBox 182"/>
            <p:cNvSpPr txBox="1"/>
            <p:nvPr/>
          </p:nvSpPr>
          <p:spPr>
            <a:xfrm>
              <a:off x="5253038" y="3271838"/>
              <a:ext cx="21145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目标</a:t>
              </a:r>
            </a:p>
          </p:txBody>
        </p:sp>
        <p:sp>
          <p:nvSpPr>
            <p:cNvPr id="183" name="TextBox 183"/>
            <p:cNvSpPr txBox="1"/>
            <p:nvPr/>
          </p:nvSpPr>
          <p:spPr>
            <a:xfrm>
              <a:off x="5081588" y="3436382"/>
              <a:ext cx="121572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探索未来曲线，验证新增长极；</a:t>
              </a:r>
            </a:p>
          </p:txBody>
        </p:sp>
        <p:sp>
          <p:nvSpPr>
            <p:cNvPr id="184" name="TextBox 184"/>
            <p:cNvSpPr txBox="1"/>
            <p:nvPr/>
          </p:nvSpPr>
          <p:spPr>
            <a:xfrm>
              <a:off x="5081588" y="356973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不确定中寻找确定性</a:t>
              </a:r>
            </a:p>
          </p:txBody>
        </p:sp>
        <p:sp>
          <p:nvSpPr>
            <p:cNvPr id="185" name="Line 185"/>
            <p:cNvSpPr/>
            <p:nvPr/>
          </p:nvSpPr>
          <p:spPr>
            <a:xfrm>
              <a:off x="5086350" y="3733800"/>
              <a:ext cx="2019300" cy="9525"/>
            </a:xfrm>
            <a:custGeom>
              <a:avLst/>
              <a:gdLst/>
              <a:ahLst/>
              <a:cxnLst/>
              <a:rect l="l" t="t" r="r" b="b"/>
              <a:pathLst>
                <a:path w="2019300" h="9525">
                  <a:moveTo>
                    <a:pt x="0" y="0"/>
                  </a:moveTo>
                  <a:lnTo>
                    <a:pt x="2019300" y="0"/>
                  </a:lnTo>
                </a:path>
              </a:pathLst>
            </a:custGeom>
            <a:noFill/>
            <a:ln w="9525">
              <a:solidFill>
                <a:srgbClr val="E2E8F2"/>
              </a:solidFill>
            </a:ln>
          </p:spPr>
        </p:sp>
        <p:grpSp>
          <p:nvGrpSpPr>
            <p:cNvPr id="190" name="Group 190"/>
            <p:cNvGrpSpPr/>
            <p:nvPr/>
          </p:nvGrpSpPr>
          <p:grpSpPr>
            <a:xfrm>
              <a:off x="5101828" y="3830638"/>
              <a:ext cx="92869" cy="92075"/>
              <a:chOff x="5101828" y="3830638"/>
              <a:chExt cx="92869" cy="92075"/>
            </a:xfrm>
          </p:grpSpPr>
          <p:sp>
            <p:nvSpPr>
              <p:cNvPr id="186" name="Freeform 186"/>
              <p:cNvSpPr/>
              <p:nvPr/>
            </p:nvSpPr>
            <p:spPr>
              <a:xfrm>
                <a:off x="5101828" y="3871913"/>
                <a:ext cx="30956" cy="41275"/>
              </a:xfrm>
              <a:custGeom>
                <a:avLst/>
                <a:gdLst/>
                <a:ahLst/>
                <a:cxnLst/>
                <a:rect l="l" t="t" r="r" b="b"/>
                <a:pathLst>
                  <a:path w="30956" h="41275">
                    <a:moveTo>
                      <a:pt x="0" y="5159"/>
                    </a:moveTo>
                    <a:cubicBezTo>
                      <a:pt x="0" y="2310"/>
                      <a:pt x="2310" y="0"/>
                      <a:pt x="5159" y="0"/>
                    </a:cubicBezTo>
                    <a:lnTo>
                      <a:pt x="25797" y="0"/>
                    </a:lnTo>
                    <a:cubicBezTo>
                      <a:pt x="28646" y="0"/>
                      <a:pt x="30956" y="2310"/>
                      <a:pt x="30956" y="5159"/>
                    </a:cubicBezTo>
                    <a:lnTo>
                      <a:pt x="30956" y="36116"/>
                    </a:lnTo>
                    <a:cubicBezTo>
                      <a:pt x="30956" y="38965"/>
                      <a:pt x="28646" y="41275"/>
                      <a:pt x="25797" y="41275"/>
                    </a:cubicBezTo>
                    <a:lnTo>
                      <a:pt x="5159" y="41275"/>
                    </a:lnTo>
                    <a:cubicBezTo>
                      <a:pt x="2310" y="41275"/>
                      <a:pt x="0" y="38965"/>
                      <a:pt x="0" y="36116"/>
                    </a:cubicBezTo>
                    <a:lnTo>
                      <a:pt x="0" y="5159"/>
                    </a:lnTo>
                  </a:path>
                </a:pathLst>
              </a:custGeom>
              <a:noFill/>
              <a:ln w="10319">
                <a:solidFill>
                  <a:srgbClr val="4E0D00"/>
                </a:solidFill>
              </a:ln>
            </p:spPr>
          </p:sp>
          <p:sp>
            <p:nvSpPr>
              <p:cNvPr id="187" name="Freeform 187"/>
              <p:cNvSpPr/>
              <p:nvPr/>
            </p:nvSpPr>
            <p:spPr>
              <a:xfrm>
                <a:off x="5163741" y="3851275"/>
                <a:ext cx="30956" cy="61913"/>
              </a:xfrm>
              <a:custGeom>
                <a:avLst/>
                <a:gdLst/>
                <a:ahLst/>
                <a:cxnLst/>
                <a:rect l="l" t="t" r="r" b="b"/>
                <a:pathLst>
                  <a:path w="30956" h="61913">
                    <a:moveTo>
                      <a:pt x="0" y="5159"/>
                    </a:moveTo>
                    <a:cubicBezTo>
                      <a:pt x="0" y="2310"/>
                      <a:pt x="2310" y="0"/>
                      <a:pt x="5159" y="0"/>
                    </a:cubicBezTo>
                    <a:lnTo>
                      <a:pt x="25797" y="0"/>
                    </a:lnTo>
                    <a:cubicBezTo>
                      <a:pt x="28646" y="0"/>
                      <a:pt x="30956" y="2310"/>
                      <a:pt x="30956" y="5159"/>
                    </a:cubicBezTo>
                    <a:lnTo>
                      <a:pt x="30956" y="56753"/>
                    </a:lnTo>
                    <a:cubicBezTo>
                      <a:pt x="30956" y="59603"/>
                      <a:pt x="28646" y="61913"/>
                      <a:pt x="25797" y="61913"/>
                    </a:cubicBezTo>
                    <a:lnTo>
                      <a:pt x="5159" y="61913"/>
                    </a:lnTo>
                    <a:cubicBezTo>
                      <a:pt x="2310" y="61913"/>
                      <a:pt x="0" y="59603"/>
                      <a:pt x="0" y="56753"/>
                    </a:cubicBezTo>
                    <a:lnTo>
                      <a:pt x="0" y="5159"/>
                    </a:lnTo>
                  </a:path>
                </a:pathLst>
              </a:custGeom>
              <a:noFill/>
              <a:ln w="10319">
                <a:solidFill>
                  <a:srgbClr val="4E0D00"/>
                </a:solidFill>
              </a:ln>
            </p:spPr>
          </p:sp>
          <p:sp>
            <p:nvSpPr>
              <p:cNvPr id="188" name="Freeform 188"/>
              <p:cNvSpPr/>
              <p:nvPr/>
            </p:nvSpPr>
            <p:spPr>
              <a:xfrm>
                <a:off x="5132784" y="3830638"/>
                <a:ext cx="30956" cy="82550"/>
              </a:xfrm>
              <a:custGeom>
                <a:avLst/>
                <a:gdLst/>
                <a:ahLst/>
                <a:cxnLst/>
                <a:rect l="l" t="t" r="r" b="b"/>
                <a:pathLst>
                  <a:path w="30956" h="82550">
                    <a:moveTo>
                      <a:pt x="0" y="5159"/>
                    </a:moveTo>
                    <a:cubicBezTo>
                      <a:pt x="0" y="2310"/>
                      <a:pt x="2310" y="0"/>
                      <a:pt x="5159" y="0"/>
                    </a:cubicBezTo>
                    <a:lnTo>
                      <a:pt x="25797" y="0"/>
                    </a:lnTo>
                    <a:cubicBezTo>
                      <a:pt x="28646" y="0"/>
                      <a:pt x="30956" y="2310"/>
                      <a:pt x="30956" y="5159"/>
                    </a:cubicBezTo>
                    <a:lnTo>
                      <a:pt x="30956" y="77391"/>
                    </a:lnTo>
                    <a:cubicBezTo>
                      <a:pt x="30956" y="80240"/>
                      <a:pt x="28646" y="82550"/>
                      <a:pt x="25797" y="82550"/>
                    </a:cubicBezTo>
                    <a:lnTo>
                      <a:pt x="5159" y="82550"/>
                    </a:lnTo>
                    <a:cubicBezTo>
                      <a:pt x="2310" y="82550"/>
                      <a:pt x="0" y="80240"/>
                      <a:pt x="0" y="77391"/>
                    </a:cubicBezTo>
                    <a:lnTo>
                      <a:pt x="0" y="5159"/>
                    </a:lnTo>
                  </a:path>
                </a:pathLst>
              </a:custGeom>
              <a:noFill/>
              <a:ln w="10319">
                <a:solidFill>
                  <a:srgbClr val="4E0D00"/>
                </a:solidFill>
              </a:ln>
            </p:spPr>
          </p:sp>
          <p:sp>
            <p:nvSpPr>
              <p:cNvPr id="189" name="Freeform 189"/>
              <p:cNvSpPr/>
              <p:nvPr/>
            </p:nvSpPr>
            <p:spPr>
              <a:xfrm>
                <a:off x="5106988" y="3913188"/>
                <a:ext cx="72231" cy="9525"/>
              </a:xfrm>
              <a:custGeom>
                <a:avLst/>
                <a:gdLst/>
                <a:ahLst/>
                <a:cxnLst/>
                <a:rect l="l" t="t" r="r" b="b"/>
                <a:pathLst>
                  <a:path w="72231" h="9525">
                    <a:moveTo>
                      <a:pt x="0" y="0"/>
                    </a:moveTo>
                    <a:lnTo>
                      <a:pt x="72231" y="0"/>
                    </a:lnTo>
                  </a:path>
                </a:pathLst>
              </a:custGeom>
              <a:noFill/>
              <a:ln w="10319">
                <a:solidFill>
                  <a:srgbClr val="4E0D00"/>
                </a:solidFill>
              </a:ln>
            </p:spPr>
          </p:sp>
        </p:grpSp>
        <p:sp>
          <p:nvSpPr>
            <p:cNvPr id="191" name="TextBox 191"/>
            <p:cNvSpPr txBox="1"/>
            <p:nvPr/>
          </p:nvSpPr>
          <p:spPr>
            <a:xfrm>
              <a:off x="5253038" y="382428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关键指标</a:t>
              </a:r>
            </a:p>
          </p:txBody>
        </p:sp>
        <p:sp>
          <p:nvSpPr>
            <p:cNvPr id="192" name="TextBox 192"/>
            <p:cNvSpPr txBox="1"/>
            <p:nvPr/>
          </p:nvSpPr>
          <p:spPr>
            <a:xfrm>
              <a:off x="5081588" y="3988832"/>
              <a:ext cx="52646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探索项目数量</a:t>
              </a:r>
            </a:p>
          </p:txBody>
        </p:sp>
        <p:sp>
          <p:nvSpPr>
            <p:cNvPr id="193" name="TextBox 193"/>
            <p:cNvSpPr txBox="1"/>
            <p:nvPr/>
          </p:nvSpPr>
          <p:spPr>
            <a:xfrm>
              <a:off x="5081588" y="4122182"/>
              <a:ext cx="112956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学习速度（关键假设验证数）</a:t>
              </a:r>
            </a:p>
          </p:txBody>
        </p:sp>
        <p:sp>
          <p:nvSpPr>
            <p:cNvPr id="194" name="TextBox 194"/>
            <p:cNvSpPr txBox="1"/>
            <p:nvPr/>
          </p:nvSpPr>
          <p:spPr>
            <a:xfrm>
              <a:off x="5081588" y="4255532"/>
              <a:ext cx="112956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未来业务收入占比（中长期）</a:t>
              </a:r>
            </a:p>
          </p:txBody>
        </p:sp>
        <p:sp>
          <p:nvSpPr>
            <p:cNvPr id="195" name="Line 195"/>
            <p:cNvSpPr/>
            <p:nvPr/>
          </p:nvSpPr>
          <p:spPr>
            <a:xfrm>
              <a:off x="5086350" y="4419600"/>
              <a:ext cx="2019300" cy="9525"/>
            </a:xfrm>
            <a:custGeom>
              <a:avLst/>
              <a:gdLst/>
              <a:ahLst/>
              <a:cxnLst/>
              <a:rect l="l" t="t" r="r" b="b"/>
              <a:pathLst>
                <a:path w="2019300" h="9525">
                  <a:moveTo>
                    <a:pt x="0" y="0"/>
                  </a:moveTo>
                  <a:lnTo>
                    <a:pt x="2019300" y="0"/>
                  </a:lnTo>
                </a:path>
              </a:pathLst>
            </a:custGeom>
            <a:noFill/>
            <a:ln w="9525">
              <a:solidFill>
                <a:srgbClr val="E2E8F2"/>
              </a:solidFill>
            </a:ln>
          </p:spPr>
        </p:sp>
        <p:grpSp>
          <p:nvGrpSpPr>
            <p:cNvPr id="198" name="Group 198"/>
            <p:cNvGrpSpPr/>
            <p:nvPr/>
          </p:nvGrpSpPr>
          <p:grpSpPr>
            <a:xfrm>
              <a:off x="5099563" y="4509013"/>
              <a:ext cx="97399" cy="97399"/>
              <a:chOff x="5099563" y="4509013"/>
              <a:chExt cx="97399" cy="97399"/>
            </a:xfrm>
          </p:grpSpPr>
          <p:sp>
            <p:nvSpPr>
              <p:cNvPr id="196" name="Freeform 196"/>
              <p:cNvSpPr/>
              <p:nvPr/>
            </p:nvSpPr>
            <p:spPr>
              <a:xfrm>
                <a:off x="5099563" y="4509013"/>
                <a:ext cx="97399" cy="97399"/>
              </a:xfrm>
              <a:custGeom>
                <a:avLst/>
                <a:gdLst/>
                <a:ahLst/>
                <a:cxnLst/>
                <a:rect l="l" t="t" r="r" b="b"/>
                <a:pathLst>
                  <a:path w="97399" h="97399">
                    <a:moveTo>
                      <a:pt x="40057" y="9060"/>
                    </a:moveTo>
                    <a:cubicBezTo>
                      <a:pt x="42255" y="0"/>
                      <a:pt x="55143" y="0"/>
                      <a:pt x="57341" y="9060"/>
                    </a:cubicBezTo>
                    <a:cubicBezTo>
                      <a:pt x="58010" y="11820"/>
                      <a:pt x="59957" y="14096"/>
                      <a:pt x="62581" y="15183"/>
                    </a:cubicBezTo>
                    <a:cubicBezTo>
                      <a:pt x="65206" y="16270"/>
                      <a:pt x="68191" y="16038"/>
                      <a:pt x="70616" y="14560"/>
                    </a:cubicBezTo>
                    <a:cubicBezTo>
                      <a:pt x="78577" y="9710"/>
                      <a:pt x="87694" y="18821"/>
                      <a:pt x="82844" y="26787"/>
                    </a:cubicBezTo>
                    <a:cubicBezTo>
                      <a:pt x="81368" y="29212"/>
                      <a:pt x="81137" y="32195"/>
                      <a:pt x="82223" y="34817"/>
                    </a:cubicBezTo>
                    <a:cubicBezTo>
                      <a:pt x="83308" y="37440"/>
                      <a:pt x="85581" y="39387"/>
                      <a:pt x="88339" y="40057"/>
                    </a:cubicBezTo>
                    <a:cubicBezTo>
                      <a:pt x="97399" y="42255"/>
                      <a:pt x="97399" y="55143"/>
                      <a:pt x="88339" y="57341"/>
                    </a:cubicBezTo>
                    <a:cubicBezTo>
                      <a:pt x="85578" y="58010"/>
                      <a:pt x="83303" y="59957"/>
                      <a:pt x="82216" y="62581"/>
                    </a:cubicBezTo>
                    <a:cubicBezTo>
                      <a:pt x="81129" y="65206"/>
                      <a:pt x="81360" y="68191"/>
                      <a:pt x="82839" y="70616"/>
                    </a:cubicBezTo>
                    <a:cubicBezTo>
                      <a:pt x="87689" y="78577"/>
                      <a:pt x="78577" y="87694"/>
                      <a:pt x="70611" y="82844"/>
                    </a:cubicBezTo>
                    <a:cubicBezTo>
                      <a:pt x="68187" y="81368"/>
                      <a:pt x="65204" y="81137"/>
                      <a:pt x="62581" y="82223"/>
                    </a:cubicBezTo>
                    <a:cubicBezTo>
                      <a:pt x="59959" y="83308"/>
                      <a:pt x="58012" y="85581"/>
                      <a:pt x="57341" y="88339"/>
                    </a:cubicBezTo>
                    <a:cubicBezTo>
                      <a:pt x="55143" y="97399"/>
                      <a:pt x="42255" y="97399"/>
                      <a:pt x="40057" y="88339"/>
                    </a:cubicBezTo>
                    <a:cubicBezTo>
                      <a:pt x="39389" y="85578"/>
                      <a:pt x="37441" y="83303"/>
                      <a:pt x="34817" y="82216"/>
                    </a:cubicBezTo>
                    <a:cubicBezTo>
                      <a:pt x="32193" y="81129"/>
                      <a:pt x="29208" y="81360"/>
                      <a:pt x="26782" y="82839"/>
                    </a:cubicBezTo>
                    <a:cubicBezTo>
                      <a:pt x="18821" y="87689"/>
                      <a:pt x="9705" y="78577"/>
                      <a:pt x="14555" y="70611"/>
                    </a:cubicBezTo>
                    <a:cubicBezTo>
                      <a:pt x="16031" y="68187"/>
                      <a:pt x="16262" y="65204"/>
                      <a:pt x="15176" y="62581"/>
                    </a:cubicBezTo>
                    <a:cubicBezTo>
                      <a:pt x="14090" y="59959"/>
                      <a:pt x="11818" y="58012"/>
                      <a:pt x="9060" y="57341"/>
                    </a:cubicBezTo>
                    <a:cubicBezTo>
                      <a:pt x="0" y="55143"/>
                      <a:pt x="0" y="42255"/>
                      <a:pt x="9060" y="40057"/>
                    </a:cubicBezTo>
                    <a:cubicBezTo>
                      <a:pt x="11820" y="39389"/>
                      <a:pt x="14096" y="37441"/>
                      <a:pt x="15183" y="34817"/>
                    </a:cubicBezTo>
                    <a:cubicBezTo>
                      <a:pt x="16270" y="32193"/>
                      <a:pt x="16038" y="29208"/>
                      <a:pt x="14560" y="26782"/>
                    </a:cubicBezTo>
                    <a:cubicBezTo>
                      <a:pt x="9710" y="18821"/>
                      <a:pt x="18821" y="9705"/>
                      <a:pt x="26787" y="14555"/>
                    </a:cubicBezTo>
                    <a:cubicBezTo>
                      <a:pt x="31947" y="17692"/>
                      <a:pt x="38633" y="14916"/>
                      <a:pt x="40057" y="9060"/>
                    </a:cubicBezTo>
                  </a:path>
                </a:pathLst>
              </a:custGeom>
              <a:noFill/>
              <a:ln w="10319">
                <a:solidFill>
                  <a:srgbClr val="4E0D00"/>
                </a:solidFill>
              </a:ln>
            </p:spPr>
          </p:sp>
          <p:sp>
            <p:nvSpPr>
              <p:cNvPr id="197" name="Freeform 197"/>
              <p:cNvSpPr/>
              <p:nvPr/>
            </p:nvSpPr>
            <p:spPr>
              <a:xfrm>
                <a:off x="5132784" y="4542234"/>
                <a:ext cx="30956" cy="30956"/>
              </a:xfrm>
              <a:custGeom>
                <a:avLst/>
                <a:gdLst/>
                <a:ahLst/>
                <a:cxnLst/>
                <a:rect l="l" t="t" r="r" b="b"/>
                <a:pathLst>
                  <a:path w="30956" h="30956">
                    <a:moveTo>
                      <a:pt x="0" y="15478"/>
                    </a:moveTo>
                    <a:cubicBezTo>
                      <a:pt x="0" y="24026"/>
                      <a:pt x="6930" y="30956"/>
                      <a:pt x="15478" y="30956"/>
                    </a:cubicBezTo>
                    <a:cubicBezTo>
                      <a:pt x="24026" y="30956"/>
                      <a:pt x="30956" y="24026"/>
                      <a:pt x="30956" y="15478"/>
                    </a:cubicBezTo>
                    <a:cubicBezTo>
                      <a:pt x="30956" y="6930"/>
                      <a:pt x="24026" y="0"/>
                      <a:pt x="15478" y="0"/>
                    </a:cubicBezTo>
                    <a:cubicBezTo>
                      <a:pt x="6930" y="0"/>
                      <a:pt x="0" y="6930"/>
                      <a:pt x="0" y="15478"/>
                    </a:cubicBezTo>
                  </a:path>
                </a:pathLst>
              </a:custGeom>
              <a:noFill/>
              <a:ln w="10319">
                <a:solidFill>
                  <a:srgbClr val="4E0D00"/>
                </a:solidFill>
              </a:ln>
            </p:spPr>
          </p:sp>
        </p:grpSp>
        <p:sp>
          <p:nvSpPr>
            <p:cNvPr id="199" name="TextBox 199"/>
            <p:cNvSpPr txBox="1"/>
            <p:nvPr/>
          </p:nvSpPr>
          <p:spPr>
            <a:xfrm>
              <a:off x="5253038" y="451008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管理机制</a:t>
              </a:r>
            </a:p>
          </p:txBody>
        </p:sp>
        <p:sp>
          <p:nvSpPr>
            <p:cNvPr id="200" name="TextBox 200"/>
            <p:cNvSpPr txBox="1"/>
            <p:nvPr/>
          </p:nvSpPr>
          <p:spPr>
            <a:xfrm>
              <a:off x="5081588" y="4674632"/>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组合资源与阶段门控</a:t>
              </a:r>
            </a:p>
          </p:txBody>
        </p:sp>
        <p:sp>
          <p:nvSpPr>
            <p:cNvPr id="201" name="TextBox 201"/>
            <p:cNvSpPr txBox="1"/>
            <p:nvPr/>
          </p:nvSpPr>
          <p:spPr>
            <a:xfrm>
              <a:off x="5081588" y="4807982"/>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高容忍试错与快速迭代</a:t>
              </a:r>
            </a:p>
          </p:txBody>
        </p:sp>
        <p:sp>
          <p:nvSpPr>
            <p:cNvPr id="202" name="TextBox 202"/>
            <p:cNvSpPr txBox="1"/>
            <p:nvPr/>
          </p:nvSpPr>
          <p:spPr>
            <a:xfrm>
              <a:off x="5081588" y="4941332"/>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从探索到放大的复制路径</a:t>
              </a:r>
            </a:p>
          </p:txBody>
        </p:sp>
        <p:sp>
          <p:nvSpPr>
            <p:cNvPr id="203" name="Line 203"/>
            <p:cNvSpPr/>
            <p:nvPr/>
          </p:nvSpPr>
          <p:spPr>
            <a:xfrm>
              <a:off x="5086350" y="5105400"/>
              <a:ext cx="2019300" cy="9525"/>
            </a:xfrm>
            <a:custGeom>
              <a:avLst/>
              <a:gdLst/>
              <a:ahLst/>
              <a:cxnLst/>
              <a:rect l="l" t="t" r="r" b="b"/>
              <a:pathLst>
                <a:path w="2019300" h="9525">
                  <a:moveTo>
                    <a:pt x="0" y="0"/>
                  </a:moveTo>
                  <a:lnTo>
                    <a:pt x="2019300" y="0"/>
                  </a:lnTo>
                </a:path>
              </a:pathLst>
            </a:custGeom>
            <a:noFill/>
            <a:ln w="9525">
              <a:solidFill>
                <a:srgbClr val="E2E8F2"/>
              </a:solidFill>
            </a:ln>
          </p:spPr>
        </p:sp>
        <p:grpSp>
          <p:nvGrpSpPr>
            <p:cNvPr id="207" name="Group 207"/>
            <p:cNvGrpSpPr/>
            <p:nvPr/>
          </p:nvGrpSpPr>
          <p:grpSpPr>
            <a:xfrm>
              <a:off x="5105358" y="5202238"/>
              <a:ext cx="84180" cy="84179"/>
              <a:chOff x="5105358" y="5202238"/>
              <a:chExt cx="84180" cy="84179"/>
            </a:xfrm>
          </p:grpSpPr>
          <p:sp>
            <p:nvSpPr>
              <p:cNvPr id="204" name="Freeform 204"/>
              <p:cNvSpPr/>
              <p:nvPr/>
            </p:nvSpPr>
            <p:spPr>
              <a:xfrm>
                <a:off x="5106988" y="5202238"/>
                <a:ext cx="82550" cy="82550"/>
              </a:xfrm>
              <a:custGeom>
                <a:avLst/>
                <a:gdLst/>
                <a:ahLst/>
                <a:cxnLst/>
                <a:rect l="l" t="t" r="r" b="b"/>
                <a:pathLst>
                  <a:path w="82550" h="82550">
                    <a:moveTo>
                      <a:pt x="0" y="46434"/>
                    </a:moveTo>
                    <a:cubicBezTo>
                      <a:pt x="18936" y="48685"/>
                      <a:pt x="33865" y="63614"/>
                      <a:pt x="36116" y="82550"/>
                    </a:cubicBezTo>
                    <a:cubicBezTo>
                      <a:pt x="45387" y="77205"/>
                      <a:pt x="51241" y="67450"/>
                      <a:pt x="51594" y="56753"/>
                    </a:cubicBezTo>
                    <a:cubicBezTo>
                      <a:pt x="69310" y="50521"/>
                      <a:pt x="81528" y="34231"/>
                      <a:pt x="82550" y="15478"/>
                    </a:cubicBezTo>
                    <a:cubicBezTo>
                      <a:pt x="82550" y="6930"/>
                      <a:pt x="75620" y="0"/>
                      <a:pt x="67072" y="0"/>
                    </a:cubicBezTo>
                    <a:cubicBezTo>
                      <a:pt x="48319" y="1022"/>
                      <a:pt x="32029" y="13240"/>
                      <a:pt x="25797" y="30956"/>
                    </a:cubicBezTo>
                    <a:cubicBezTo>
                      <a:pt x="15100" y="31310"/>
                      <a:pt x="5345" y="37163"/>
                      <a:pt x="0" y="46434"/>
                    </a:cubicBezTo>
                  </a:path>
                </a:pathLst>
              </a:custGeom>
              <a:noFill/>
              <a:ln w="10319">
                <a:solidFill>
                  <a:srgbClr val="4E0D00"/>
                </a:solidFill>
              </a:ln>
            </p:spPr>
          </p:sp>
          <p:sp>
            <p:nvSpPr>
              <p:cNvPr id="205" name="Freeform 205"/>
              <p:cNvSpPr/>
              <p:nvPr/>
            </p:nvSpPr>
            <p:spPr>
              <a:xfrm>
                <a:off x="5105358" y="5253831"/>
                <a:ext cx="32586" cy="32586"/>
              </a:xfrm>
              <a:custGeom>
                <a:avLst/>
                <a:gdLst/>
                <a:ahLst/>
                <a:cxnLst/>
                <a:rect l="l" t="t" r="r" b="b"/>
                <a:pathLst>
                  <a:path w="32586" h="32586">
                    <a:moveTo>
                      <a:pt x="17108" y="0"/>
                    </a:moveTo>
                    <a:cubicBezTo>
                      <a:pt x="6123" y="6201"/>
                      <a:pt x="0" y="18448"/>
                      <a:pt x="1630" y="30956"/>
                    </a:cubicBezTo>
                    <a:cubicBezTo>
                      <a:pt x="14138" y="32586"/>
                      <a:pt x="26384" y="26463"/>
                      <a:pt x="32586" y="15478"/>
                    </a:cubicBezTo>
                  </a:path>
                </a:pathLst>
              </a:custGeom>
              <a:noFill/>
              <a:ln w="10319">
                <a:solidFill>
                  <a:srgbClr val="4E0D00"/>
                </a:solidFill>
              </a:ln>
            </p:spPr>
          </p:sp>
          <p:sp>
            <p:nvSpPr>
              <p:cNvPr id="206" name="Freeform 206"/>
              <p:cNvSpPr/>
              <p:nvPr/>
            </p:nvSpPr>
            <p:spPr>
              <a:xfrm>
                <a:off x="5158581" y="5222875"/>
                <a:ext cx="10319" cy="10319"/>
              </a:xfrm>
              <a:custGeom>
                <a:avLst/>
                <a:gdLst/>
                <a:ahLst/>
                <a:cxnLst/>
                <a:rect l="l" t="t" r="r" b="b"/>
                <a:pathLst>
                  <a:path w="10319" h="10319">
                    <a:moveTo>
                      <a:pt x="0" y="5159"/>
                    </a:moveTo>
                    <a:cubicBezTo>
                      <a:pt x="0" y="8009"/>
                      <a:pt x="2310" y="10319"/>
                      <a:pt x="5159" y="10319"/>
                    </a:cubicBezTo>
                    <a:cubicBezTo>
                      <a:pt x="8009" y="10319"/>
                      <a:pt x="10319" y="8009"/>
                      <a:pt x="10319" y="5159"/>
                    </a:cubicBezTo>
                    <a:cubicBezTo>
                      <a:pt x="10319" y="2310"/>
                      <a:pt x="8009" y="0"/>
                      <a:pt x="5159" y="0"/>
                    </a:cubicBezTo>
                    <a:cubicBezTo>
                      <a:pt x="2310" y="0"/>
                      <a:pt x="0" y="2310"/>
                      <a:pt x="0" y="5159"/>
                    </a:cubicBezTo>
                  </a:path>
                </a:pathLst>
              </a:custGeom>
              <a:noFill/>
              <a:ln w="10319">
                <a:solidFill>
                  <a:srgbClr val="4E0D00"/>
                </a:solidFill>
              </a:ln>
            </p:spPr>
          </p:sp>
        </p:grpSp>
        <p:sp>
          <p:nvSpPr>
            <p:cNvPr id="208" name="TextBox 208"/>
            <p:cNvSpPr txBox="1"/>
            <p:nvPr/>
          </p:nvSpPr>
          <p:spPr>
            <a:xfrm>
              <a:off x="5253038" y="519588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典型举措</a:t>
              </a:r>
            </a:p>
          </p:txBody>
        </p:sp>
        <p:sp>
          <p:nvSpPr>
            <p:cNvPr id="209" name="TextBox 209"/>
            <p:cNvSpPr txBox="1"/>
            <p:nvPr/>
          </p:nvSpPr>
          <p:spPr>
            <a:xfrm>
              <a:off x="5081588" y="5360432"/>
              <a:ext cx="10046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前沿技术/新商业模式探索</a:t>
              </a:r>
            </a:p>
          </p:txBody>
        </p:sp>
        <p:sp>
          <p:nvSpPr>
            <p:cNvPr id="210" name="TextBox 210"/>
            <p:cNvSpPr txBox="1"/>
            <p:nvPr/>
          </p:nvSpPr>
          <p:spPr>
            <a:xfrm>
              <a:off x="5081588" y="5493782"/>
              <a:ext cx="117182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小规模独立试验（MVP/POC）</a:t>
              </a:r>
            </a:p>
          </p:txBody>
        </p:sp>
        <p:sp>
          <p:nvSpPr>
            <p:cNvPr id="211" name="TextBox 211"/>
            <p:cNvSpPr txBox="1"/>
            <p:nvPr/>
          </p:nvSpPr>
          <p:spPr>
            <a:xfrm>
              <a:off x="5081588" y="5627132"/>
              <a:ext cx="10046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生态孵化与外部资本/并购</a:t>
              </a:r>
            </a:p>
          </p:txBody>
        </p:sp>
        <p:sp>
          <p:nvSpPr>
            <p:cNvPr id="212" name="TextBox 212"/>
            <p:cNvSpPr txBox="1"/>
            <p:nvPr/>
          </p:nvSpPr>
          <p:spPr>
            <a:xfrm>
              <a:off x="5081588" y="5760482"/>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关键能力储备与专利布局</a:t>
              </a:r>
            </a:p>
          </p:txBody>
        </p:sp>
      </p:grpSp>
      <p:grpSp>
        <p:nvGrpSpPr>
          <p:cNvPr id="245" name="risk-panel"/>
          <p:cNvGrpSpPr/>
          <p:nvPr/>
        </p:nvGrpSpPr>
        <p:grpSpPr>
          <a:xfrm>
            <a:off x="7391400" y="3289697"/>
            <a:ext cx="4572000" cy="2044303"/>
            <a:chOff x="7391400" y="3289697"/>
            <a:chExt cx="4572000" cy="2044303"/>
          </a:xfrm>
        </p:grpSpPr>
        <p:sp>
          <p:nvSpPr>
            <p:cNvPr id="214" name="TextBox 214"/>
            <p:cNvSpPr txBox="1"/>
            <p:nvPr/>
          </p:nvSpPr>
          <p:spPr>
            <a:xfrm>
              <a:off x="8913381" y="3289697"/>
              <a:ext cx="1528039" cy="183356"/>
            </a:xfrm>
            <a:prstGeom prst="rect">
              <a:avLst/>
            </a:prstGeom>
            <a:noFill/>
            <a:ln>
              <a:noFill/>
            </a:ln>
          </p:spPr>
          <p:txBody>
            <a:bodyPr wrap="none" lIns="0" tIns="0" rIns="0" bIns="0" anchor="t" anchorCtr="0">
              <a:spAutoFit/>
            </a:bodyPr>
            <a:lstStyle/>
            <a:p>
              <a:pPr algn="ctr"/>
              <a:r>
                <a:rPr lang="zh-CN" sz="940" b="1" dirty="0">
                  <a:solidFill>
                    <a:srgbClr val="4E0D00"/>
                  </a:solidFill>
                  <a:latin typeface="+mn-lt"/>
                  <a:ea typeface="+mn-ea"/>
                  <a:cs typeface="+mn-cs"/>
                </a:rPr>
                <a:t>平衡视角：两种极端的风险</a:t>
              </a:r>
            </a:p>
          </p:txBody>
        </p:sp>
        <p:sp>
          <p:nvSpPr>
            <p:cNvPr id="215" name="Rectangle 215"/>
            <p:cNvSpPr/>
            <p:nvPr/>
          </p:nvSpPr>
          <p:spPr>
            <a:xfrm>
              <a:off x="7391400" y="3505200"/>
              <a:ext cx="2133600" cy="1828800"/>
            </a:xfrm>
            <a:prstGeom prst="rect">
              <a:avLst/>
            </a:prstGeom>
            <a:solidFill>
              <a:srgbClr val="FFFFFF"/>
            </a:solidFill>
            <a:ln w="9525">
              <a:solidFill>
                <a:srgbClr val="C7D2E4"/>
              </a:solidFill>
            </a:ln>
          </p:spPr>
        </p:sp>
        <p:sp>
          <p:nvSpPr>
            <p:cNvPr id="216" name="Rectangle 216"/>
            <p:cNvSpPr/>
            <p:nvPr/>
          </p:nvSpPr>
          <p:spPr>
            <a:xfrm>
              <a:off x="7391400" y="3505200"/>
              <a:ext cx="2133600" cy="209550"/>
            </a:xfrm>
            <a:prstGeom prst="rect">
              <a:avLst/>
            </a:prstGeom>
            <a:solidFill>
              <a:srgbClr val="4E0D00"/>
            </a:solidFill>
            <a:ln>
              <a:noFill/>
            </a:ln>
          </p:spPr>
        </p:sp>
        <p:sp>
          <p:nvSpPr>
            <p:cNvPr id="217" name="TextBox 217"/>
            <p:cNvSpPr txBox="1"/>
            <p:nvPr/>
          </p:nvSpPr>
          <p:spPr>
            <a:xfrm>
              <a:off x="8051796" y="3563064"/>
              <a:ext cx="81280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只做 H1（今天）</a:t>
              </a:r>
            </a:p>
          </p:txBody>
        </p:sp>
        <p:sp>
          <p:nvSpPr>
            <p:cNvPr id="218" name="TextBox 218"/>
            <p:cNvSpPr txBox="1"/>
            <p:nvPr/>
          </p:nvSpPr>
          <p:spPr>
            <a:xfrm>
              <a:off x="7539038" y="3817382"/>
              <a:ext cx="94729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现金流依赖但增长乏力</a:t>
              </a:r>
            </a:p>
          </p:txBody>
        </p:sp>
        <p:sp>
          <p:nvSpPr>
            <p:cNvPr id="219" name="TextBox 219"/>
            <p:cNvSpPr txBox="1"/>
            <p:nvPr/>
          </p:nvSpPr>
          <p:spPr>
            <a:xfrm>
              <a:off x="7539038" y="4026932"/>
              <a:ext cx="774979"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效率提升边际递减</a:t>
              </a:r>
            </a:p>
          </p:txBody>
        </p:sp>
        <p:sp>
          <p:nvSpPr>
            <p:cNvPr id="220" name="TextBox 220"/>
            <p:cNvSpPr txBox="1"/>
            <p:nvPr/>
          </p:nvSpPr>
          <p:spPr>
            <a:xfrm>
              <a:off x="7539038" y="4236482"/>
              <a:ext cx="1033450"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新进入者蚕食替代与颠覆</a:t>
              </a:r>
            </a:p>
          </p:txBody>
        </p:sp>
        <p:sp>
          <p:nvSpPr>
            <p:cNvPr id="221" name="TextBox 221"/>
            <p:cNvSpPr txBox="1"/>
            <p:nvPr/>
          </p:nvSpPr>
          <p:spPr>
            <a:xfrm>
              <a:off x="7539038" y="4446032"/>
              <a:ext cx="1033450"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组织僵化老化，人才流失</a:t>
              </a:r>
            </a:p>
          </p:txBody>
        </p:sp>
        <p:sp>
          <p:nvSpPr>
            <p:cNvPr id="222" name="TextBox 222"/>
            <p:cNvSpPr txBox="1"/>
            <p:nvPr/>
          </p:nvSpPr>
          <p:spPr>
            <a:xfrm>
              <a:off x="7539038" y="4655582"/>
              <a:ext cx="1205763"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价值增长见顶，战略风险上升</a:t>
              </a:r>
            </a:p>
          </p:txBody>
        </p:sp>
        <p:sp>
          <p:nvSpPr>
            <p:cNvPr id="223" name="Rectangle 223"/>
            <p:cNvSpPr/>
            <p:nvPr/>
          </p:nvSpPr>
          <p:spPr>
            <a:xfrm>
              <a:off x="7467600" y="4857750"/>
              <a:ext cx="1981200" cy="285750"/>
            </a:xfrm>
            <a:prstGeom prst="rect">
              <a:avLst/>
            </a:prstGeom>
            <a:solidFill>
              <a:srgbClr val="FDF4E3"/>
            </a:solidFill>
            <a:ln w="7620">
              <a:solidFill>
                <a:srgbClr val="E4978A"/>
              </a:solidFill>
            </a:ln>
          </p:spPr>
        </p:sp>
        <p:grpSp>
          <p:nvGrpSpPr>
            <p:cNvPr id="227" name="Group 227"/>
            <p:cNvGrpSpPr/>
            <p:nvPr/>
          </p:nvGrpSpPr>
          <p:grpSpPr>
            <a:xfrm>
              <a:off x="7553680" y="4947714"/>
              <a:ext cx="104062" cy="89403"/>
              <a:chOff x="7553680" y="4947714"/>
              <a:chExt cx="104062" cy="89403"/>
            </a:xfrm>
          </p:grpSpPr>
          <p:sp>
            <p:nvSpPr>
              <p:cNvPr id="224" name="Freeform 224"/>
              <p:cNvSpPr/>
              <p:nvPr/>
            </p:nvSpPr>
            <p:spPr>
              <a:xfrm>
                <a:off x="7605713" y="4980384"/>
                <a:ext cx="9525" cy="20638"/>
              </a:xfrm>
              <a:custGeom>
                <a:avLst/>
                <a:gdLst/>
                <a:ahLst/>
                <a:cxnLst/>
                <a:rect l="l" t="t" r="r" b="b"/>
                <a:pathLst>
                  <a:path w="9525" h="20638">
                    <a:moveTo>
                      <a:pt x="0" y="0"/>
                    </a:moveTo>
                    <a:lnTo>
                      <a:pt x="0" y="20638"/>
                    </a:lnTo>
                  </a:path>
                </a:pathLst>
              </a:custGeom>
              <a:noFill/>
              <a:ln w="10319">
                <a:solidFill>
                  <a:srgbClr val="B7361F"/>
                </a:solidFill>
              </a:ln>
            </p:spPr>
          </p:sp>
          <p:sp>
            <p:nvSpPr>
              <p:cNvPr id="225" name="Freeform 225"/>
              <p:cNvSpPr/>
              <p:nvPr/>
            </p:nvSpPr>
            <p:spPr>
              <a:xfrm>
                <a:off x="7553680" y="4947714"/>
                <a:ext cx="104062" cy="89403"/>
              </a:xfrm>
              <a:custGeom>
                <a:avLst/>
                <a:gdLst/>
                <a:ahLst/>
                <a:cxnLst/>
                <a:rect l="l" t="t" r="r" b="b"/>
                <a:pathLst>
                  <a:path w="104062" h="89403">
                    <a:moveTo>
                      <a:pt x="43587" y="4763"/>
                    </a:moveTo>
                    <a:lnTo>
                      <a:pt x="1765" y="74590"/>
                    </a:lnTo>
                    <a:cubicBezTo>
                      <a:pt x="11" y="77628"/>
                      <a:pt x="0" y="81369"/>
                      <a:pt x="1737" y="84418"/>
                    </a:cubicBezTo>
                    <a:cubicBezTo>
                      <a:pt x="3474" y="87466"/>
                      <a:pt x="6698" y="89363"/>
                      <a:pt x="10206" y="89403"/>
                    </a:cubicBezTo>
                    <a:lnTo>
                      <a:pt x="93860" y="89403"/>
                    </a:lnTo>
                    <a:cubicBezTo>
                      <a:pt x="97367" y="89362"/>
                      <a:pt x="100589" y="87465"/>
                      <a:pt x="102325" y="84419"/>
                    </a:cubicBezTo>
                    <a:cubicBezTo>
                      <a:pt x="104062" y="81372"/>
                      <a:pt x="104053" y="77633"/>
                      <a:pt x="102301" y="74595"/>
                    </a:cubicBezTo>
                    <a:lnTo>
                      <a:pt x="60479" y="4758"/>
                    </a:lnTo>
                    <a:cubicBezTo>
                      <a:pt x="58689" y="1804"/>
                      <a:pt x="55487" y="0"/>
                      <a:pt x="52033" y="0"/>
                    </a:cubicBezTo>
                    <a:cubicBezTo>
                      <a:pt x="48579" y="0"/>
                      <a:pt x="45377" y="1804"/>
                      <a:pt x="43587" y="4758"/>
                    </a:cubicBezTo>
                  </a:path>
                </a:pathLst>
              </a:custGeom>
              <a:noFill/>
              <a:ln w="10319">
                <a:solidFill>
                  <a:srgbClr val="B7361F"/>
                </a:solidFill>
              </a:ln>
            </p:spPr>
          </p:sp>
          <p:sp>
            <p:nvSpPr>
              <p:cNvPr id="226" name="Freeform 226"/>
              <p:cNvSpPr/>
              <p:nvPr/>
            </p:nvSpPr>
            <p:spPr>
              <a:xfrm>
                <a:off x="7605713" y="5016500"/>
                <a:ext cx="9525" cy="9525"/>
              </a:xfrm>
              <a:custGeom>
                <a:avLst/>
                <a:gdLst/>
                <a:ahLst/>
                <a:cxnLst/>
                <a:rect l="l" t="t" r="r" b="b"/>
                <a:pathLst>
                  <a:path w="9525" h="9525">
                    <a:moveTo>
                      <a:pt x="0" y="0"/>
                    </a:moveTo>
                    <a:lnTo>
                      <a:pt x="52" y="0"/>
                    </a:lnTo>
                  </a:path>
                </a:pathLst>
              </a:custGeom>
              <a:noFill/>
              <a:ln w="10319">
                <a:solidFill>
                  <a:srgbClr val="B7361F"/>
                </a:solidFill>
              </a:ln>
            </p:spPr>
          </p:sp>
        </p:grpSp>
        <p:sp>
          <p:nvSpPr>
            <p:cNvPr id="228" name="TextBox 228"/>
            <p:cNvSpPr txBox="1"/>
            <p:nvPr/>
          </p:nvSpPr>
          <p:spPr>
            <a:xfrm>
              <a:off x="7710488" y="4969907"/>
              <a:ext cx="1388034" cy="126206"/>
            </a:xfrm>
            <a:prstGeom prst="rect">
              <a:avLst/>
            </a:prstGeom>
            <a:noFill/>
            <a:ln>
              <a:noFill/>
            </a:ln>
          </p:spPr>
          <p:txBody>
            <a:bodyPr wrap="none" lIns="0" tIns="0" rIns="0" bIns="0" anchor="t" anchorCtr="0">
              <a:spAutoFit/>
            </a:bodyPr>
            <a:lstStyle/>
            <a:p>
              <a:pPr algn="l"/>
              <a:r>
                <a:rPr lang="zh-CN" sz="640" b="1" dirty="0">
                  <a:solidFill>
                    <a:srgbClr val="7A2516"/>
                  </a:solidFill>
                  <a:latin typeface="+mn-lt"/>
                  <a:ea typeface="+mn-ea"/>
                  <a:cs typeface="+mn-cs"/>
                </a:rPr>
                <a:t>结果：优势出现转弱，增长不可持续</a:t>
              </a:r>
            </a:p>
          </p:txBody>
        </p:sp>
        <p:sp>
          <p:nvSpPr>
            <p:cNvPr id="229" name="Rectangle 229"/>
            <p:cNvSpPr/>
            <p:nvPr/>
          </p:nvSpPr>
          <p:spPr>
            <a:xfrm>
              <a:off x="9829800" y="3505200"/>
              <a:ext cx="2133600" cy="1828800"/>
            </a:xfrm>
            <a:prstGeom prst="rect">
              <a:avLst/>
            </a:prstGeom>
            <a:solidFill>
              <a:srgbClr val="FFFFFF"/>
            </a:solidFill>
            <a:ln w="9525">
              <a:solidFill>
                <a:srgbClr val="C7D2E4"/>
              </a:solidFill>
            </a:ln>
          </p:spPr>
        </p:sp>
        <p:sp>
          <p:nvSpPr>
            <p:cNvPr id="230" name="Rectangle 230"/>
            <p:cNvSpPr/>
            <p:nvPr/>
          </p:nvSpPr>
          <p:spPr>
            <a:xfrm>
              <a:off x="9829800" y="3505200"/>
              <a:ext cx="2133600" cy="209550"/>
            </a:xfrm>
            <a:prstGeom prst="rect">
              <a:avLst/>
            </a:prstGeom>
            <a:solidFill>
              <a:srgbClr val="944130"/>
            </a:solidFill>
            <a:ln>
              <a:noFill/>
            </a:ln>
          </p:spPr>
        </p:sp>
        <p:sp>
          <p:nvSpPr>
            <p:cNvPr id="231" name="TextBox 231"/>
            <p:cNvSpPr txBox="1"/>
            <p:nvPr/>
          </p:nvSpPr>
          <p:spPr>
            <a:xfrm>
              <a:off x="10490196" y="3563064"/>
              <a:ext cx="812807"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只做 H3（后天）</a:t>
              </a:r>
            </a:p>
          </p:txBody>
        </p:sp>
        <p:sp>
          <p:nvSpPr>
            <p:cNvPr id="232" name="TextBox 232"/>
            <p:cNvSpPr txBox="1"/>
            <p:nvPr/>
          </p:nvSpPr>
          <p:spPr>
            <a:xfrm>
              <a:off x="9977438" y="3817382"/>
              <a:ext cx="1119607"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早期无负担，现金流无压力</a:t>
              </a:r>
            </a:p>
          </p:txBody>
        </p:sp>
        <p:sp>
          <p:nvSpPr>
            <p:cNvPr id="233" name="TextBox 233"/>
            <p:cNvSpPr txBox="1"/>
            <p:nvPr/>
          </p:nvSpPr>
          <p:spPr>
            <a:xfrm>
              <a:off x="9977438" y="4026932"/>
              <a:ext cx="1033450"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不确定性高，成功概率低</a:t>
              </a:r>
            </a:p>
          </p:txBody>
        </p:sp>
        <p:sp>
          <p:nvSpPr>
            <p:cNvPr id="234" name="TextBox 234"/>
            <p:cNvSpPr txBox="1"/>
            <p:nvPr/>
          </p:nvSpPr>
          <p:spPr>
            <a:xfrm>
              <a:off x="9977438" y="4236482"/>
              <a:ext cx="1033450"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忽视客户与市场真实需求</a:t>
              </a:r>
            </a:p>
          </p:txBody>
        </p:sp>
        <p:sp>
          <p:nvSpPr>
            <p:cNvPr id="235" name="TextBox 235"/>
            <p:cNvSpPr txBox="1"/>
            <p:nvPr/>
          </p:nvSpPr>
          <p:spPr>
            <a:xfrm>
              <a:off x="9977438" y="4446032"/>
              <a:ext cx="1119607"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组织距离实战远，内耗加剧</a:t>
              </a:r>
            </a:p>
          </p:txBody>
        </p:sp>
        <p:sp>
          <p:nvSpPr>
            <p:cNvPr id="236" name="TextBox 236"/>
            <p:cNvSpPr txBox="1"/>
            <p:nvPr/>
          </p:nvSpPr>
          <p:spPr>
            <a:xfrm>
              <a:off x="9977438" y="4655582"/>
              <a:ext cx="1119607" cy="126206"/>
            </a:xfrm>
            <a:prstGeom prst="rect">
              <a:avLst/>
            </a:prstGeom>
            <a:noFill/>
            <a:ln>
              <a:noFill/>
            </a:ln>
          </p:spPr>
          <p:txBody>
            <a:bodyPr wrap="none" lIns="0" tIns="0" rIns="0" bIns="0" anchor="t" anchorCtr="0">
              <a:spAutoFit/>
            </a:bodyPr>
            <a:lstStyle/>
            <a:p>
              <a:pPr algn="l" marL="76200" indent="-76200">
                <a:buClr>
                  <a:srgbClr val="453633"/>
                </a:buClr>
                <a:buSzTx/>
                <a:buFontTx/>
                <a:buChar char="•"/>
              </a:pPr>
              <a:r>
                <a:rPr lang="zh-CN" sz="640" dirty="0">
                  <a:solidFill>
                    <a:srgbClr val="453633"/>
                  </a:solidFill>
                  <a:latin typeface="+mn-lt"/>
                  <a:ea typeface="+mn-ea"/>
                  <a:cs typeface="+mn-cs"/>
                </a:rPr>
                <a:t>规模化能力缺失，难以落地</a:t>
              </a:r>
            </a:p>
          </p:txBody>
        </p:sp>
        <p:sp>
          <p:nvSpPr>
            <p:cNvPr id="237" name="Rectangle 237"/>
            <p:cNvSpPr/>
            <p:nvPr/>
          </p:nvSpPr>
          <p:spPr>
            <a:xfrm>
              <a:off x="9906000" y="4857750"/>
              <a:ext cx="1981200" cy="285750"/>
            </a:xfrm>
            <a:prstGeom prst="rect">
              <a:avLst/>
            </a:prstGeom>
            <a:solidFill>
              <a:srgbClr val="FDF4E3"/>
            </a:solidFill>
            <a:ln w="7620">
              <a:solidFill>
                <a:srgbClr val="E4978A"/>
              </a:solidFill>
            </a:ln>
          </p:spPr>
        </p:sp>
        <p:grpSp>
          <p:nvGrpSpPr>
            <p:cNvPr id="241" name="Group 241"/>
            <p:cNvGrpSpPr/>
            <p:nvPr/>
          </p:nvGrpSpPr>
          <p:grpSpPr>
            <a:xfrm>
              <a:off x="9992080" y="4947714"/>
              <a:ext cx="104062" cy="89403"/>
              <a:chOff x="9992080" y="4947714"/>
              <a:chExt cx="104062" cy="89403"/>
            </a:xfrm>
          </p:grpSpPr>
          <p:sp>
            <p:nvSpPr>
              <p:cNvPr id="238" name="Freeform 238"/>
              <p:cNvSpPr/>
              <p:nvPr/>
            </p:nvSpPr>
            <p:spPr>
              <a:xfrm>
                <a:off x="10044113" y="4980384"/>
                <a:ext cx="9525" cy="20638"/>
              </a:xfrm>
              <a:custGeom>
                <a:avLst/>
                <a:gdLst/>
                <a:ahLst/>
                <a:cxnLst/>
                <a:rect l="l" t="t" r="r" b="b"/>
                <a:pathLst>
                  <a:path w="9525" h="20638">
                    <a:moveTo>
                      <a:pt x="0" y="0"/>
                    </a:moveTo>
                    <a:lnTo>
                      <a:pt x="0" y="20638"/>
                    </a:lnTo>
                  </a:path>
                </a:pathLst>
              </a:custGeom>
              <a:noFill/>
              <a:ln w="10319">
                <a:solidFill>
                  <a:srgbClr val="B7361F"/>
                </a:solidFill>
              </a:ln>
            </p:spPr>
          </p:sp>
          <p:sp>
            <p:nvSpPr>
              <p:cNvPr id="239" name="Freeform 239"/>
              <p:cNvSpPr/>
              <p:nvPr/>
            </p:nvSpPr>
            <p:spPr>
              <a:xfrm>
                <a:off x="9992080" y="4947714"/>
                <a:ext cx="104062" cy="89403"/>
              </a:xfrm>
              <a:custGeom>
                <a:avLst/>
                <a:gdLst/>
                <a:ahLst/>
                <a:cxnLst/>
                <a:rect l="l" t="t" r="r" b="b"/>
                <a:pathLst>
                  <a:path w="104062" h="89403">
                    <a:moveTo>
                      <a:pt x="43587" y="4763"/>
                    </a:moveTo>
                    <a:lnTo>
                      <a:pt x="1765" y="74590"/>
                    </a:lnTo>
                    <a:cubicBezTo>
                      <a:pt x="11" y="77628"/>
                      <a:pt x="0" y="81369"/>
                      <a:pt x="1737" y="84418"/>
                    </a:cubicBezTo>
                    <a:cubicBezTo>
                      <a:pt x="3474" y="87466"/>
                      <a:pt x="6698" y="89363"/>
                      <a:pt x="10206" y="89403"/>
                    </a:cubicBezTo>
                    <a:lnTo>
                      <a:pt x="93860" y="89403"/>
                    </a:lnTo>
                    <a:cubicBezTo>
                      <a:pt x="97367" y="89362"/>
                      <a:pt x="100589" y="87465"/>
                      <a:pt x="102325" y="84419"/>
                    </a:cubicBezTo>
                    <a:cubicBezTo>
                      <a:pt x="104062" y="81372"/>
                      <a:pt x="104053" y="77633"/>
                      <a:pt x="102301" y="74595"/>
                    </a:cubicBezTo>
                    <a:lnTo>
                      <a:pt x="60479" y="4758"/>
                    </a:lnTo>
                    <a:cubicBezTo>
                      <a:pt x="58689" y="1804"/>
                      <a:pt x="55487" y="0"/>
                      <a:pt x="52033" y="0"/>
                    </a:cubicBezTo>
                    <a:cubicBezTo>
                      <a:pt x="48579" y="0"/>
                      <a:pt x="45377" y="1804"/>
                      <a:pt x="43587" y="4758"/>
                    </a:cubicBezTo>
                  </a:path>
                </a:pathLst>
              </a:custGeom>
              <a:noFill/>
              <a:ln w="10319">
                <a:solidFill>
                  <a:srgbClr val="B7361F"/>
                </a:solidFill>
              </a:ln>
            </p:spPr>
          </p:sp>
          <p:sp>
            <p:nvSpPr>
              <p:cNvPr id="240" name="Freeform 240"/>
              <p:cNvSpPr/>
              <p:nvPr/>
            </p:nvSpPr>
            <p:spPr>
              <a:xfrm>
                <a:off x="10044113" y="5016500"/>
                <a:ext cx="9525" cy="9525"/>
              </a:xfrm>
              <a:custGeom>
                <a:avLst/>
                <a:gdLst/>
                <a:ahLst/>
                <a:cxnLst/>
                <a:rect l="l" t="t" r="r" b="b"/>
                <a:pathLst>
                  <a:path w="9525" h="9525">
                    <a:moveTo>
                      <a:pt x="0" y="0"/>
                    </a:moveTo>
                    <a:lnTo>
                      <a:pt x="52" y="0"/>
                    </a:lnTo>
                  </a:path>
                </a:pathLst>
              </a:custGeom>
              <a:noFill/>
              <a:ln w="10319">
                <a:solidFill>
                  <a:srgbClr val="B7361F"/>
                </a:solidFill>
              </a:ln>
            </p:spPr>
          </p:sp>
        </p:grpSp>
        <p:sp>
          <p:nvSpPr>
            <p:cNvPr id="242" name="TextBox 242"/>
            <p:cNvSpPr txBox="1"/>
            <p:nvPr/>
          </p:nvSpPr>
          <p:spPr>
            <a:xfrm>
              <a:off x="10148888" y="4969907"/>
              <a:ext cx="1043407" cy="126206"/>
            </a:xfrm>
            <a:prstGeom prst="rect">
              <a:avLst/>
            </a:prstGeom>
            <a:noFill/>
            <a:ln>
              <a:noFill/>
            </a:ln>
          </p:spPr>
          <p:txBody>
            <a:bodyPr wrap="none" lIns="0" tIns="0" rIns="0" bIns="0" anchor="t" anchorCtr="0">
              <a:spAutoFit/>
            </a:bodyPr>
            <a:lstStyle/>
            <a:p>
              <a:pPr algn="l"/>
              <a:r>
                <a:rPr lang="zh-CN" sz="640" b="1" dirty="0">
                  <a:solidFill>
                    <a:srgbClr val="7A2516"/>
                  </a:solidFill>
                  <a:latin typeface="+mn-lt"/>
                  <a:ea typeface="+mn-ea"/>
                  <a:cs typeface="+mn-cs"/>
                </a:rPr>
                <a:t>结果：投入大，产出不确定</a:t>
              </a:r>
            </a:p>
          </p:txBody>
        </p:sp>
        <p:sp>
          <p:nvSpPr>
            <p:cNvPr id="243" name="Ellipse 243"/>
            <p:cNvSpPr/>
            <p:nvPr/>
          </p:nvSpPr>
          <p:spPr>
            <a:xfrm>
              <a:off x="9553575" y="4295775"/>
              <a:ext cx="247650" cy="247650"/>
            </a:xfrm>
            <a:prstGeom prst="ellipse">
              <a:avLst/>
            </a:prstGeom>
            <a:solidFill>
              <a:srgbClr val="4E0D00"/>
            </a:solidFill>
            <a:ln>
              <a:noFill/>
            </a:ln>
          </p:spPr>
        </p:sp>
        <p:sp>
          <p:nvSpPr>
            <p:cNvPr id="244" name="TextBox 244"/>
            <p:cNvSpPr txBox="1"/>
            <p:nvPr/>
          </p:nvSpPr>
          <p:spPr>
            <a:xfrm>
              <a:off x="9616780" y="4384834"/>
              <a:ext cx="121240" cy="133350"/>
            </a:xfrm>
            <a:prstGeom prst="rect">
              <a:avLst/>
            </a:prstGeom>
            <a:noFill/>
            <a:ln>
              <a:noFill/>
            </a:ln>
          </p:spPr>
          <p:txBody>
            <a:bodyPr wrap="none" lIns="0" tIns="0" rIns="0" bIns="0" anchor="t" anchorCtr="0">
              <a:spAutoFit/>
            </a:bodyPr>
            <a:lstStyle/>
            <a:p>
              <a:pPr algn="ctr"/>
              <a:r>
                <a:rPr lang="en-US" sz="680" b="1" dirty="0">
                  <a:solidFill>
                    <a:srgbClr val="FFFFFF"/>
                  </a:solidFill>
                  <a:latin typeface="+mn-lt"/>
                  <a:ea typeface="+mn-ea"/>
                  <a:cs typeface="+mn-cs"/>
                </a:rPr>
                <a:t>VS</a:t>
              </a:r>
            </a:p>
          </p:txBody>
        </p:sp>
      </p:grpSp>
      <p:grpSp>
        <p:nvGrpSpPr>
          <p:cNvPr id="257" name="principle-bar"/>
          <p:cNvGrpSpPr/>
          <p:nvPr/>
        </p:nvGrpSpPr>
        <p:grpSpPr>
          <a:xfrm>
            <a:off x="228600" y="6153150"/>
            <a:ext cx="11734800" cy="514350"/>
            <a:chOff x="228600" y="6153150"/>
            <a:chExt cx="11734800" cy="514350"/>
          </a:xfrm>
        </p:grpSpPr>
        <p:sp>
          <p:nvSpPr>
            <p:cNvPr id="246" name="Rectangle 246"/>
            <p:cNvSpPr/>
            <p:nvPr/>
          </p:nvSpPr>
          <p:spPr>
            <a:xfrm>
              <a:off x="228600" y="6153150"/>
              <a:ext cx="11734800" cy="514350"/>
            </a:xfrm>
            <a:prstGeom prst="roundRect">
              <a:avLst>
                <a:gd name="adj" fmla="val 7407"/>
              </a:avLst>
            </a:prstGeom>
            <a:solidFill>
              <a:srgbClr val="EFF3FA"/>
            </a:solidFill>
            <a:ln w="9525">
              <a:solidFill>
                <a:srgbClr val="C7D2E4"/>
              </a:solidFill>
            </a:ln>
          </p:spPr>
        </p:sp>
        <p:sp>
          <p:nvSpPr>
            <p:cNvPr id="247" name="Ellipse 247"/>
            <p:cNvSpPr/>
            <p:nvPr/>
          </p:nvSpPr>
          <p:spPr>
            <a:xfrm>
              <a:off x="361950" y="6276975"/>
              <a:ext cx="266700" cy="266700"/>
            </a:xfrm>
            <a:prstGeom prst="ellipse">
              <a:avLst/>
            </a:prstGeom>
            <a:solidFill>
              <a:srgbClr val="4E0D00"/>
            </a:solidFill>
            <a:ln>
              <a:noFill/>
            </a:ln>
          </p:spPr>
        </p:sp>
        <p:grpSp>
          <p:nvGrpSpPr>
            <p:cNvPr id="253" name="Group 253"/>
            <p:cNvGrpSpPr/>
            <p:nvPr/>
          </p:nvGrpSpPr>
          <p:grpSpPr>
            <a:xfrm>
              <a:off x="445294" y="6360319"/>
              <a:ext cx="100012" cy="103981"/>
              <a:chOff x="445294" y="6360319"/>
              <a:chExt cx="100012" cy="103981"/>
            </a:xfrm>
          </p:grpSpPr>
          <p:sp>
            <p:nvSpPr>
              <p:cNvPr id="248" name="Freeform 248"/>
              <p:cNvSpPr/>
              <p:nvPr/>
            </p:nvSpPr>
            <p:spPr>
              <a:xfrm>
                <a:off x="467519" y="6454775"/>
                <a:ext cx="55562" cy="9525"/>
              </a:xfrm>
              <a:custGeom>
                <a:avLst/>
                <a:gdLst/>
                <a:ahLst/>
                <a:cxnLst/>
                <a:rect l="l" t="t" r="r" b="b"/>
                <a:pathLst>
                  <a:path w="55562" h="9525">
                    <a:moveTo>
                      <a:pt x="0" y="0"/>
                    </a:moveTo>
                    <a:lnTo>
                      <a:pt x="55562" y="0"/>
                    </a:lnTo>
                  </a:path>
                </a:pathLst>
              </a:custGeom>
              <a:noFill/>
              <a:ln w="11112">
                <a:solidFill>
                  <a:srgbClr val="FFFFFF"/>
                </a:solidFill>
              </a:ln>
            </p:spPr>
          </p:sp>
          <p:sp>
            <p:nvSpPr>
              <p:cNvPr id="249" name="Freeform 249"/>
              <p:cNvSpPr/>
              <p:nvPr/>
            </p:nvSpPr>
            <p:spPr>
              <a:xfrm>
                <a:off x="461962" y="6371431"/>
                <a:ext cx="66675" cy="9525"/>
              </a:xfrm>
              <a:custGeom>
                <a:avLst/>
                <a:gdLst/>
                <a:ahLst/>
                <a:cxnLst/>
                <a:rect l="l" t="t" r="r" b="b"/>
                <a:pathLst>
                  <a:path w="66675" h="9525">
                    <a:moveTo>
                      <a:pt x="0" y="5556"/>
                    </a:moveTo>
                    <a:lnTo>
                      <a:pt x="33337" y="0"/>
                    </a:lnTo>
                    <a:lnTo>
                      <a:pt x="66675" y="5556"/>
                    </a:lnTo>
                  </a:path>
                </a:pathLst>
              </a:custGeom>
              <a:noFill/>
              <a:ln w="11112">
                <a:solidFill>
                  <a:srgbClr val="FFFFFF"/>
                </a:solidFill>
              </a:ln>
            </p:spPr>
          </p:sp>
          <p:sp>
            <p:nvSpPr>
              <p:cNvPr id="250" name="Freeform 250"/>
              <p:cNvSpPr/>
              <p:nvPr/>
            </p:nvSpPr>
            <p:spPr>
              <a:xfrm>
                <a:off x="495300" y="6360319"/>
                <a:ext cx="9525" cy="94456"/>
              </a:xfrm>
              <a:custGeom>
                <a:avLst/>
                <a:gdLst/>
                <a:ahLst/>
                <a:cxnLst/>
                <a:rect l="l" t="t" r="r" b="b"/>
                <a:pathLst>
                  <a:path w="9525" h="94456">
                    <a:moveTo>
                      <a:pt x="0" y="0"/>
                    </a:moveTo>
                    <a:lnTo>
                      <a:pt x="0" y="94456"/>
                    </a:lnTo>
                  </a:path>
                </a:pathLst>
              </a:custGeom>
              <a:noFill/>
              <a:ln w="11112">
                <a:solidFill>
                  <a:srgbClr val="FFFFFF"/>
                </a:solidFill>
              </a:ln>
            </p:spPr>
          </p:sp>
          <p:sp>
            <p:nvSpPr>
              <p:cNvPr id="251" name="Freeform 251"/>
              <p:cNvSpPr/>
              <p:nvPr/>
            </p:nvSpPr>
            <p:spPr>
              <a:xfrm>
                <a:off x="445294" y="6376987"/>
                <a:ext cx="33337" cy="50006"/>
              </a:xfrm>
              <a:custGeom>
                <a:avLst/>
                <a:gdLst/>
                <a:ahLst/>
                <a:cxnLst/>
                <a:rect l="l" t="t" r="r" b="b"/>
                <a:pathLst>
                  <a:path w="33337" h="50006">
                    <a:moveTo>
                      <a:pt x="33337" y="33337"/>
                    </a:moveTo>
                    <a:lnTo>
                      <a:pt x="16669" y="0"/>
                    </a:lnTo>
                    <a:lnTo>
                      <a:pt x="0" y="33337"/>
                    </a:lnTo>
                    <a:cubicBezTo>
                      <a:pt x="0" y="42543"/>
                      <a:pt x="7463" y="50006"/>
                      <a:pt x="16669" y="50006"/>
                    </a:cubicBezTo>
                    <a:cubicBezTo>
                      <a:pt x="25875" y="50006"/>
                      <a:pt x="33337" y="42543"/>
                      <a:pt x="33337" y="33337"/>
                    </a:cubicBezTo>
                  </a:path>
                </a:pathLst>
              </a:custGeom>
              <a:noFill/>
              <a:ln w="11112">
                <a:solidFill>
                  <a:srgbClr val="FFFFFF"/>
                </a:solidFill>
              </a:ln>
            </p:spPr>
          </p:sp>
          <p:sp>
            <p:nvSpPr>
              <p:cNvPr id="252" name="Freeform 252"/>
              <p:cNvSpPr/>
              <p:nvPr/>
            </p:nvSpPr>
            <p:spPr>
              <a:xfrm>
                <a:off x="511969" y="6376987"/>
                <a:ext cx="33337" cy="50006"/>
              </a:xfrm>
              <a:custGeom>
                <a:avLst/>
                <a:gdLst/>
                <a:ahLst/>
                <a:cxnLst/>
                <a:rect l="l" t="t" r="r" b="b"/>
                <a:pathLst>
                  <a:path w="33337" h="50006">
                    <a:moveTo>
                      <a:pt x="33337" y="33337"/>
                    </a:moveTo>
                    <a:lnTo>
                      <a:pt x="16669" y="0"/>
                    </a:lnTo>
                    <a:lnTo>
                      <a:pt x="0" y="33337"/>
                    </a:lnTo>
                    <a:cubicBezTo>
                      <a:pt x="0" y="42543"/>
                      <a:pt x="7463" y="50006"/>
                      <a:pt x="16669" y="50006"/>
                    </a:cubicBezTo>
                    <a:cubicBezTo>
                      <a:pt x="25875" y="50006"/>
                      <a:pt x="33337" y="42543"/>
                      <a:pt x="33337" y="33337"/>
                    </a:cubicBezTo>
                  </a:path>
                </a:pathLst>
              </a:custGeom>
              <a:noFill/>
              <a:ln w="11112">
                <a:solidFill>
                  <a:srgbClr val="FFFFFF"/>
                </a:solidFill>
              </a:ln>
            </p:spPr>
          </p:sp>
        </p:grpSp>
        <p:sp>
          <p:nvSpPr>
            <p:cNvPr id="254" name="TextBox 254"/>
            <p:cNvSpPr txBox="1"/>
            <p:nvPr/>
          </p:nvSpPr>
          <p:spPr>
            <a:xfrm>
              <a:off x="738188" y="6356747"/>
              <a:ext cx="515696" cy="183356"/>
            </a:xfrm>
            <a:prstGeom prst="rect">
              <a:avLst/>
            </a:prstGeom>
            <a:noFill/>
            <a:ln>
              <a:noFill/>
            </a:ln>
          </p:spPr>
          <p:txBody>
            <a:bodyPr wrap="none" lIns="0" tIns="0" rIns="0" bIns="0" anchor="t" anchorCtr="0">
              <a:spAutoFit/>
            </a:bodyPr>
            <a:lstStyle/>
            <a:p>
              <a:pPr algn="l"/>
              <a:r>
                <a:rPr lang="zh-CN" sz="940" b="1" dirty="0">
                  <a:solidFill>
                    <a:srgbClr val="4E0D00"/>
                  </a:solidFill>
                  <a:latin typeface="+mn-lt"/>
                  <a:ea typeface="+mn-ea"/>
                  <a:cs typeface="+mn-cs"/>
                </a:rPr>
                <a:t>经营原则</a:t>
              </a:r>
            </a:p>
          </p:txBody>
        </p:sp>
        <p:sp>
          <p:nvSpPr>
            <p:cNvPr id="255" name="Line 255"/>
            <p:cNvSpPr/>
            <p:nvPr/>
          </p:nvSpPr>
          <p:spPr>
            <a:xfrm>
              <a:off x="1447800" y="6267450"/>
              <a:ext cx="9525" cy="285750"/>
            </a:xfrm>
            <a:custGeom>
              <a:avLst/>
              <a:gdLst/>
              <a:ahLst/>
              <a:cxnLst/>
              <a:rect l="l" t="t" r="r" b="b"/>
              <a:pathLst>
                <a:path w="9525" h="285750">
                  <a:moveTo>
                    <a:pt x="0" y="0"/>
                  </a:moveTo>
                  <a:lnTo>
                    <a:pt x="0" y="285750"/>
                  </a:lnTo>
                </a:path>
              </a:pathLst>
            </a:custGeom>
            <a:noFill/>
            <a:ln w="9525">
              <a:solidFill>
                <a:srgbClr val="C7D2E4"/>
              </a:solidFill>
            </a:ln>
          </p:spPr>
        </p:sp>
        <p:sp>
          <p:nvSpPr>
            <p:cNvPr id="256" name="TextBox 256"/>
            <p:cNvSpPr txBox="1"/>
            <p:nvPr/>
          </p:nvSpPr>
          <p:spPr>
            <a:xfrm>
              <a:off x="1595438" y="6372939"/>
              <a:ext cx="5687400" cy="154781"/>
            </a:xfrm>
            <a:prstGeom prst="rect">
              <a:avLst/>
            </a:prstGeom>
            <a:noFill/>
            <a:ln>
              <a:noFill/>
            </a:ln>
          </p:spPr>
          <p:txBody>
            <a:bodyPr wrap="none" lIns="0" tIns="0" rIns="0" bIns="0" anchor="t" anchorCtr="0">
              <a:spAutoFit/>
            </a:bodyPr>
            <a:lstStyle/>
            <a:p>
              <a:pPr algn="l"/>
              <a:r>
                <a:rPr lang="zh-CN" sz="790" dirty="0">
                  <a:solidFill>
                    <a:srgbClr val="453633"/>
                  </a:solidFill>
                  <a:latin typeface="+mn-lt"/>
                  <a:ea typeface="+mn-ea"/>
                  <a:cs typeface="+mn-cs"/>
                </a:rPr>
                <a:t>以 H1 现金流为基础，以 H2 增长为引擎，以 H3 未来为选择。同时配置、动态调整、相互成就，构建跨周期的增长组合。</a:t>
              </a:r>
            </a:p>
          </p:txBody>
        </p:sp>
      </p:gr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578358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增长阶梯｜把增长目标拆成可选择的路径</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72" name="ladder"/>
          <p:cNvGrpSpPr/>
          <p:nvPr/>
        </p:nvGrpSpPr>
        <p:grpSpPr>
          <a:xfrm>
            <a:off x="342900" y="1028700"/>
            <a:ext cx="4572000" cy="2743200"/>
            <a:chOff x="342900" y="1028700"/>
            <a:chExt cx="4572000" cy="2743200"/>
          </a:xfrm>
        </p:grpSpPr>
        <p:sp>
          <p:nvSpPr>
            <p:cNvPr id="6" name="Line 6"/>
            <p:cNvSpPr/>
            <p:nvPr/>
          </p:nvSpPr>
          <p:spPr>
            <a:xfrm flipV="1">
              <a:off x="476250" y="1028700"/>
              <a:ext cx="4438650" cy="2114550"/>
            </a:xfrm>
            <a:prstGeom prst="line">
              <a:avLst/>
            </a:prstGeom>
            <a:noFill/>
            <a:ln w="23812">
              <a:solidFill>
                <a:srgbClr val="944130"/>
              </a:solidFill>
              <a:tailEnd type="triangle" w="lg" len="lg"/>
            </a:ln>
          </p:spPr>
        </p:sp>
        <p:sp>
          <p:nvSpPr>
            <p:cNvPr id="7" name="Rectangle 7"/>
            <p:cNvSpPr/>
            <p:nvPr/>
          </p:nvSpPr>
          <p:spPr>
            <a:xfrm>
              <a:off x="342900" y="3162300"/>
              <a:ext cx="552450" cy="609600"/>
            </a:xfrm>
            <a:prstGeom prst="rect">
              <a:avLst/>
            </a:prstGeom>
            <a:solidFill>
              <a:srgbClr val="DDB2A9"/>
            </a:solidFill>
            <a:ln>
              <a:noFill/>
            </a:ln>
          </p:spPr>
        </p:sp>
        <p:sp>
          <p:nvSpPr>
            <p:cNvPr id="8" name="Rectangle 8"/>
            <p:cNvSpPr/>
            <p:nvPr/>
          </p:nvSpPr>
          <p:spPr>
            <a:xfrm>
              <a:off x="914400" y="2895600"/>
              <a:ext cx="552450" cy="876300"/>
            </a:xfrm>
            <a:prstGeom prst="rect">
              <a:avLst/>
            </a:prstGeom>
            <a:solidFill>
              <a:srgbClr val="D09D93"/>
            </a:solidFill>
            <a:ln>
              <a:noFill/>
            </a:ln>
          </p:spPr>
        </p:sp>
        <p:sp>
          <p:nvSpPr>
            <p:cNvPr id="9" name="Rectangle 9"/>
            <p:cNvSpPr/>
            <p:nvPr/>
          </p:nvSpPr>
          <p:spPr>
            <a:xfrm>
              <a:off x="1485900" y="2628900"/>
              <a:ext cx="552450" cy="1143000"/>
            </a:xfrm>
            <a:prstGeom prst="rect">
              <a:avLst/>
            </a:prstGeom>
            <a:solidFill>
              <a:srgbClr val="C2897D"/>
            </a:solidFill>
            <a:ln>
              <a:noFill/>
            </a:ln>
          </p:spPr>
        </p:sp>
        <p:sp>
          <p:nvSpPr>
            <p:cNvPr id="10" name="Rectangle 10"/>
            <p:cNvSpPr/>
            <p:nvPr/>
          </p:nvSpPr>
          <p:spPr>
            <a:xfrm>
              <a:off x="2057400" y="2362200"/>
              <a:ext cx="552450" cy="1409700"/>
            </a:xfrm>
            <a:prstGeom prst="rect">
              <a:avLst/>
            </a:prstGeom>
            <a:solidFill>
              <a:srgbClr val="B57467"/>
            </a:solidFill>
            <a:ln>
              <a:noFill/>
            </a:ln>
          </p:spPr>
        </p:sp>
        <p:sp>
          <p:nvSpPr>
            <p:cNvPr id="11" name="Rectangle 11"/>
            <p:cNvSpPr/>
            <p:nvPr/>
          </p:nvSpPr>
          <p:spPr>
            <a:xfrm>
              <a:off x="2628900" y="2095500"/>
              <a:ext cx="552450" cy="1676400"/>
            </a:xfrm>
            <a:prstGeom prst="rect">
              <a:avLst/>
            </a:prstGeom>
            <a:solidFill>
              <a:srgbClr val="A86051"/>
            </a:solidFill>
            <a:ln>
              <a:noFill/>
            </a:ln>
          </p:spPr>
        </p:sp>
        <p:sp>
          <p:nvSpPr>
            <p:cNvPr id="12" name="Rectangle 12"/>
            <p:cNvSpPr/>
            <p:nvPr/>
          </p:nvSpPr>
          <p:spPr>
            <a:xfrm>
              <a:off x="3200400" y="1828800"/>
              <a:ext cx="552450" cy="1943100"/>
            </a:xfrm>
            <a:prstGeom prst="rect">
              <a:avLst/>
            </a:prstGeom>
            <a:solidFill>
              <a:srgbClr val="A24C3A"/>
            </a:solidFill>
            <a:ln>
              <a:noFill/>
            </a:ln>
          </p:spPr>
        </p:sp>
        <p:sp>
          <p:nvSpPr>
            <p:cNvPr id="13" name="Rectangle 13"/>
            <p:cNvSpPr/>
            <p:nvPr/>
          </p:nvSpPr>
          <p:spPr>
            <a:xfrm>
              <a:off x="3771900" y="1562100"/>
              <a:ext cx="552450" cy="2209800"/>
            </a:xfrm>
            <a:prstGeom prst="rect">
              <a:avLst/>
            </a:prstGeom>
            <a:solidFill>
              <a:srgbClr val="933927"/>
            </a:solidFill>
            <a:ln>
              <a:noFill/>
            </a:ln>
          </p:spPr>
        </p:sp>
        <p:sp>
          <p:nvSpPr>
            <p:cNvPr id="14" name="Rectangle 14"/>
            <p:cNvSpPr/>
            <p:nvPr/>
          </p:nvSpPr>
          <p:spPr>
            <a:xfrm>
              <a:off x="4343400" y="1295400"/>
              <a:ext cx="552450" cy="2476500"/>
            </a:xfrm>
            <a:prstGeom prst="rect">
              <a:avLst/>
            </a:prstGeom>
            <a:solidFill>
              <a:srgbClr val="711E0D"/>
            </a:solidFill>
            <a:ln>
              <a:noFill/>
            </a:ln>
          </p:spPr>
        </p:sp>
        <p:sp>
          <p:nvSpPr>
            <p:cNvPr id="15" name="Ellipse 15"/>
            <p:cNvSpPr/>
            <p:nvPr/>
          </p:nvSpPr>
          <p:spPr>
            <a:xfrm>
              <a:off x="523875" y="2943225"/>
              <a:ext cx="190500" cy="190500"/>
            </a:xfrm>
            <a:prstGeom prst="ellipse">
              <a:avLst/>
            </a:prstGeom>
            <a:solidFill>
              <a:srgbClr val="4E0D00"/>
            </a:solidFill>
            <a:ln>
              <a:noFill/>
            </a:ln>
          </p:spPr>
        </p:sp>
        <p:sp>
          <p:nvSpPr>
            <p:cNvPr id="16" name="TextBox 16"/>
            <p:cNvSpPr txBox="1"/>
            <p:nvPr/>
          </p:nvSpPr>
          <p:spPr>
            <a:xfrm>
              <a:off x="583654" y="299156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a:t>
              </a:r>
            </a:p>
          </p:txBody>
        </p:sp>
        <p:sp>
          <p:nvSpPr>
            <p:cNvPr id="17" name="Ellipse 17"/>
            <p:cNvSpPr/>
            <p:nvPr/>
          </p:nvSpPr>
          <p:spPr>
            <a:xfrm>
              <a:off x="1095375" y="2676525"/>
              <a:ext cx="190500" cy="190500"/>
            </a:xfrm>
            <a:prstGeom prst="ellipse">
              <a:avLst/>
            </a:prstGeom>
            <a:solidFill>
              <a:srgbClr val="4E0D00"/>
            </a:solidFill>
            <a:ln>
              <a:noFill/>
            </a:ln>
          </p:spPr>
        </p:sp>
        <p:sp>
          <p:nvSpPr>
            <p:cNvPr id="18" name="TextBox 18"/>
            <p:cNvSpPr txBox="1"/>
            <p:nvPr/>
          </p:nvSpPr>
          <p:spPr>
            <a:xfrm>
              <a:off x="1155154" y="272486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2</a:t>
              </a:r>
            </a:p>
          </p:txBody>
        </p:sp>
        <p:sp>
          <p:nvSpPr>
            <p:cNvPr id="19" name="Ellipse 19"/>
            <p:cNvSpPr/>
            <p:nvPr/>
          </p:nvSpPr>
          <p:spPr>
            <a:xfrm>
              <a:off x="1666875" y="2409825"/>
              <a:ext cx="190500" cy="190500"/>
            </a:xfrm>
            <a:prstGeom prst="ellipse">
              <a:avLst/>
            </a:prstGeom>
            <a:solidFill>
              <a:srgbClr val="4E0D00"/>
            </a:solidFill>
            <a:ln>
              <a:noFill/>
            </a:ln>
          </p:spPr>
        </p:sp>
        <p:sp>
          <p:nvSpPr>
            <p:cNvPr id="20" name="TextBox 20"/>
            <p:cNvSpPr txBox="1"/>
            <p:nvPr/>
          </p:nvSpPr>
          <p:spPr>
            <a:xfrm>
              <a:off x="1726654" y="245816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3</a:t>
              </a:r>
            </a:p>
          </p:txBody>
        </p:sp>
        <p:sp>
          <p:nvSpPr>
            <p:cNvPr id="21" name="Ellipse 21"/>
            <p:cNvSpPr/>
            <p:nvPr/>
          </p:nvSpPr>
          <p:spPr>
            <a:xfrm>
              <a:off x="2238375" y="2143125"/>
              <a:ext cx="190500" cy="190500"/>
            </a:xfrm>
            <a:prstGeom prst="ellipse">
              <a:avLst/>
            </a:prstGeom>
            <a:solidFill>
              <a:srgbClr val="4E0D00"/>
            </a:solidFill>
            <a:ln>
              <a:noFill/>
            </a:ln>
          </p:spPr>
        </p:sp>
        <p:sp>
          <p:nvSpPr>
            <p:cNvPr id="22" name="TextBox 22"/>
            <p:cNvSpPr txBox="1"/>
            <p:nvPr/>
          </p:nvSpPr>
          <p:spPr>
            <a:xfrm>
              <a:off x="2298154" y="219146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4</a:t>
              </a:r>
            </a:p>
          </p:txBody>
        </p:sp>
        <p:sp>
          <p:nvSpPr>
            <p:cNvPr id="23" name="Ellipse 23"/>
            <p:cNvSpPr/>
            <p:nvPr/>
          </p:nvSpPr>
          <p:spPr>
            <a:xfrm>
              <a:off x="2809875" y="1876425"/>
              <a:ext cx="190500" cy="190500"/>
            </a:xfrm>
            <a:prstGeom prst="ellipse">
              <a:avLst/>
            </a:prstGeom>
            <a:solidFill>
              <a:srgbClr val="4E0D00"/>
            </a:solidFill>
            <a:ln>
              <a:noFill/>
            </a:ln>
          </p:spPr>
        </p:sp>
        <p:sp>
          <p:nvSpPr>
            <p:cNvPr id="24" name="TextBox 24"/>
            <p:cNvSpPr txBox="1"/>
            <p:nvPr/>
          </p:nvSpPr>
          <p:spPr>
            <a:xfrm>
              <a:off x="2869654" y="192476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5</a:t>
              </a:r>
            </a:p>
          </p:txBody>
        </p:sp>
        <p:sp>
          <p:nvSpPr>
            <p:cNvPr id="25" name="Ellipse 25"/>
            <p:cNvSpPr/>
            <p:nvPr/>
          </p:nvSpPr>
          <p:spPr>
            <a:xfrm>
              <a:off x="3381375" y="1609725"/>
              <a:ext cx="190500" cy="190500"/>
            </a:xfrm>
            <a:prstGeom prst="ellipse">
              <a:avLst/>
            </a:prstGeom>
            <a:solidFill>
              <a:srgbClr val="4E0D00"/>
            </a:solidFill>
            <a:ln>
              <a:noFill/>
            </a:ln>
          </p:spPr>
        </p:sp>
        <p:sp>
          <p:nvSpPr>
            <p:cNvPr id="26" name="TextBox 26"/>
            <p:cNvSpPr txBox="1"/>
            <p:nvPr/>
          </p:nvSpPr>
          <p:spPr>
            <a:xfrm>
              <a:off x="3441154" y="165806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6</a:t>
              </a:r>
            </a:p>
          </p:txBody>
        </p:sp>
        <p:sp>
          <p:nvSpPr>
            <p:cNvPr id="27" name="Ellipse 27"/>
            <p:cNvSpPr/>
            <p:nvPr/>
          </p:nvSpPr>
          <p:spPr>
            <a:xfrm>
              <a:off x="3952875" y="1343025"/>
              <a:ext cx="190500" cy="190500"/>
            </a:xfrm>
            <a:prstGeom prst="ellipse">
              <a:avLst/>
            </a:prstGeom>
            <a:solidFill>
              <a:srgbClr val="4E0D00"/>
            </a:solidFill>
            <a:ln>
              <a:noFill/>
            </a:ln>
          </p:spPr>
        </p:sp>
        <p:sp>
          <p:nvSpPr>
            <p:cNvPr id="28" name="TextBox 28"/>
            <p:cNvSpPr txBox="1"/>
            <p:nvPr/>
          </p:nvSpPr>
          <p:spPr>
            <a:xfrm>
              <a:off x="4012654" y="139136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7</a:t>
              </a:r>
            </a:p>
          </p:txBody>
        </p:sp>
        <p:sp>
          <p:nvSpPr>
            <p:cNvPr id="29" name="Ellipse 29"/>
            <p:cNvSpPr/>
            <p:nvPr/>
          </p:nvSpPr>
          <p:spPr>
            <a:xfrm>
              <a:off x="4524375" y="1076325"/>
              <a:ext cx="190500" cy="190500"/>
            </a:xfrm>
            <a:prstGeom prst="ellipse">
              <a:avLst/>
            </a:prstGeom>
            <a:solidFill>
              <a:srgbClr val="4E0D00"/>
            </a:solidFill>
            <a:ln>
              <a:noFill/>
            </a:ln>
          </p:spPr>
        </p:sp>
        <p:sp>
          <p:nvSpPr>
            <p:cNvPr id="30" name="TextBox 30"/>
            <p:cNvSpPr txBox="1"/>
            <p:nvPr/>
          </p:nvSpPr>
          <p:spPr>
            <a:xfrm>
              <a:off x="4584154" y="112466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8</a:t>
              </a:r>
            </a:p>
          </p:txBody>
        </p:sp>
        <p:grpSp>
          <p:nvGrpSpPr>
            <p:cNvPr id="34" name="Group 34"/>
            <p:cNvGrpSpPr/>
            <p:nvPr/>
          </p:nvGrpSpPr>
          <p:grpSpPr>
            <a:xfrm>
              <a:off x="554831" y="3298031"/>
              <a:ext cx="128588" cy="128588"/>
              <a:chOff x="554831" y="3298031"/>
              <a:chExt cx="128588" cy="128588"/>
            </a:xfrm>
          </p:grpSpPr>
          <p:sp>
            <p:nvSpPr>
              <p:cNvPr id="31" name="Freeform 31"/>
              <p:cNvSpPr/>
              <p:nvPr/>
            </p:nvSpPr>
            <p:spPr>
              <a:xfrm>
                <a:off x="611981" y="33551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32" name="Freeform 32"/>
              <p:cNvSpPr/>
              <p:nvPr/>
            </p:nvSpPr>
            <p:spPr>
              <a:xfrm>
                <a:off x="583406" y="33266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33" name="Freeform 33"/>
              <p:cNvSpPr/>
              <p:nvPr/>
            </p:nvSpPr>
            <p:spPr>
              <a:xfrm>
                <a:off x="554831" y="32980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grpSp>
          <p:nvGrpSpPr>
            <p:cNvPr id="37" name="Group 37"/>
            <p:cNvGrpSpPr/>
            <p:nvPr/>
          </p:nvGrpSpPr>
          <p:grpSpPr>
            <a:xfrm>
              <a:off x="1147762" y="3031331"/>
              <a:ext cx="85725" cy="128587"/>
              <a:chOff x="1147762" y="3031331"/>
              <a:chExt cx="85725" cy="128587"/>
            </a:xfrm>
          </p:grpSpPr>
          <p:sp>
            <p:nvSpPr>
              <p:cNvPr id="35" name="Freeform 35"/>
              <p:cNvSpPr/>
              <p:nvPr/>
            </p:nvSpPr>
            <p:spPr>
              <a:xfrm>
                <a:off x="1162050" y="3031331"/>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4288">
                <a:solidFill>
                  <a:srgbClr val="FFFFFF"/>
                </a:solidFill>
              </a:ln>
            </p:spPr>
          </p:sp>
          <p:sp>
            <p:nvSpPr>
              <p:cNvPr id="36" name="Freeform 36"/>
              <p:cNvSpPr/>
              <p:nvPr/>
            </p:nvSpPr>
            <p:spPr>
              <a:xfrm>
                <a:off x="1147762" y="3117056"/>
                <a:ext cx="85725" cy="42862"/>
              </a:xfrm>
              <a:custGeom>
                <a:avLst/>
                <a:gdLst/>
                <a:ahLst/>
                <a:cxnLst/>
                <a:rect l="l" t="t" r="r" b="b"/>
                <a:pathLst>
                  <a:path w="85725" h="42862">
                    <a:moveTo>
                      <a:pt x="0" y="42862"/>
                    </a:moveTo>
                    <a:lnTo>
                      <a:pt x="0" y="28575"/>
                    </a:lnTo>
                    <a:cubicBezTo>
                      <a:pt x="0" y="12793"/>
                      <a:pt x="12793" y="0"/>
                      <a:pt x="28575" y="0"/>
                    </a:cubicBezTo>
                    <a:lnTo>
                      <a:pt x="57150" y="0"/>
                    </a:lnTo>
                    <a:cubicBezTo>
                      <a:pt x="72932" y="0"/>
                      <a:pt x="85725" y="12793"/>
                      <a:pt x="85725" y="28575"/>
                    </a:cubicBezTo>
                    <a:lnTo>
                      <a:pt x="85725" y="42862"/>
                    </a:lnTo>
                  </a:path>
                </a:pathLst>
              </a:custGeom>
              <a:noFill/>
              <a:ln w="14288">
                <a:solidFill>
                  <a:srgbClr val="FFFFFF"/>
                </a:solidFill>
              </a:ln>
            </p:spPr>
          </p:sp>
        </p:grpSp>
        <p:grpSp>
          <p:nvGrpSpPr>
            <p:cNvPr id="42" name="Group 42"/>
            <p:cNvGrpSpPr/>
            <p:nvPr/>
          </p:nvGrpSpPr>
          <p:grpSpPr>
            <a:xfrm>
              <a:off x="1704975" y="2764631"/>
              <a:ext cx="114300" cy="128588"/>
              <a:chOff x="1704975" y="2764631"/>
              <a:chExt cx="114300" cy="128588"/>
            </a:xfrm>
          </p:grpSpPr>
          <p:sp>
            <p:nvSpPr>
              <p:cNvPr id="38" name="Freeform 38"/>
              <p:cNvSpPr/>
              <p:nvPr/>
            </p:nvSpPr>
            <p:spPr>
              <a:xfrm>
                <a:off x="1704975" y="2764631"/>
                <a:ext cx="114300" cy="128588"/>
              </a:xfrm>
              <a:custGeom>
                <a:avLst/>
                <a:gdLst/>
                <a:ahLst/>
                <a:cxnLst/>
                <a:rect l="l" t="t" r="r" b="b"/>
                <a:pathLst>
                  <a:path w="114300" h="128588">
                    <a:moveTo>
                      <a:pt x="57150" y="0"/>
                    </a:moveTo>
                    <a:lnTo>
                      <a:pt x="114300" y="32147"/>
                    </a:lnTo>
                    <a:lnTo>
                      <a:pt x="114300" y="96441"/>
                    </a:lnTo>
                    <a:lnTo>
                      <a:pt x="57150" y="128588"/>
                    </a:lnTo>
                    <a:lnTo>
                      <a:pt x="0" y="96441"/>
                    </a:lnTo>
                    <a:lnTo>
                      <a:pt x="0" y="32147"/>
                    </a:lnTo>
                    <a:lnTo>
                      <a:pt x="57150" y="0"/>
                    </a:lnTo>
                  </a:path>
                </a:pathLst>
              </a:custGeom>
              <a:noFill/>
              <a:ln w="14288">
                <a:solidFill>
                  <a:srgbClr val="FFFFFF"/>
                </a:solidFill>
              </a:ln>
            </p:spPr>
          </p:sp>
          <p:sp>
            <p:nvSpPr>
              <p:cNvPr id="39" name="Freeform 39"/>
              <p:cNvSpPr/>
              <p:nvPr/>
            </p:nvSpPr>
            <p:spPr>
              <a:xfrm>
                <a:off x="1762125" y="2796778"/>
                <a:ext cx="57150" cy="32147"/>
              </a:xfrm>
              <a:custGeom>
                <a:avLst/>
                <a:gdLst/>
                <a:ahLst/>
                <a:cxnLst/>
                <a:rect l="l" t="t" r="r" b="b"/>
                <a:pathLst>
                  <a:path w="57150" h="32147">
                    <a:moveTo>
                      <a:pt x="0" y="32147"/>
                    </a:moveTo>
                    <a:lnTo>
                      <a:pt x="57150" y="0"/>
                    </a:lnTo>
                  </a:path>
                </a:pathLst>
              </a:custGeom>
              <a:noFill/>
              <a:ln w="14288">
                <a:solidFill>
                  <a:srgbClr val="FFFFFF"/>
                </a:solidFill>
              </a:ln>
            </p:spPr>
          </p:sp>
          <p:sp>
            <p:nvSpPr>
              <p:cNvPr id="40" name="Freeform 40"/>
              <p:cNvSpPr/>
              <p:nvPr/>
            </p:nvSpPr>
            <p:spPr>
              <a:xfrm>
                <a:off x="1762125" y="2828925"/>
                <a:ext cx="9525" cy="64294"/>
              </a:xfrm>
              <a:custGeom>
                <a:avLst/>
                <a:gdLst/>
                <a:ahLst/>
                <a:cxnLst/>
                <a:rect l="l" t="t" r="r" b="b"/>
                <a:pathLst>
                  <a:path w="9525" h="64294">
                    <a:moveTo>
                      <a:pt x="0" y="0"/>
                    </a:moveTo>
                    <a:lnTo>
                      <a:pt x="0" y="64294"/>
                    </a:lnTo>
                  </a:path>
                </a:pathLst>
              </a:custGeom>
              <a:noFill/>
              <a:ln w="14288">
                <a:solidFill>
                  <a:srgbClr val="FFFFFF"/>
                </a:solidFill>
              </a:ln>
            </p:spPr>
          </p:sp>
          <p:sp>
            <p:nvSpPr>
              <p:cNvPr id="41" name="Freeform 41"/>
              <p:cNvSpPr/>
              <p:nvPr/>
            </p:nvSpPr>
            <p:spPr>
              <a:xfrm>
                <a:off x="1704975" y="2796778"/>
                <a:ext cx="57150" cy="32147"/>
              </a:xfrm>
              <a:custGeom>
                <a:avLst/>
                <a:gdLst/>
                <a:ahLst/>
                <a:cxnLst/>
                <a:rect l="l" t="t" r="r" b="b"/>
                <a:pathLst>
                  <a:path w="57150" h="32147">
                    <a:moveTo>
                      <a:pt x="57150" y="32147"/>
                    </a:moveTo>
                    <a:lnTo>
                      <a:pt x="0" y="0"/>
                    </a:lnTo>
                  </a:path>
                </a:pathLst>
              </a:custGeom>
              <a:noFill/>
              <a:ln w="14288">
                <a:solidFill>
                  <a:srgbClr val="FFFFFF"/>
                </a:solidFill>
              </a:ln>
            </p:spPr>
          </p:sp>
        </p:grpSp>
        <p:grpSp>
          <p:nvGrpSpPr>
            <p:cNvPr id="47" name="Group 47"/>
            <p:cNvGrpSpPr/>
            <p:nvPr/>
          </p:nvGrpSpPr>
          <p:grpSpPr>
            <a:xfrm>
              <a:off x="2276475" y="2497931"/>
              <a:ext cx="114299" cy="128588"/>
              <a:chOff x="2276475" y="2497931"/>
              <a:chExt cx="114299" cy="128588"/>
            </a:xfrm>
          </p:grpSpPr>
          <p:sp>
            <p:nvSpPr>
              <p:cNvPr id="43" name="Freeform 43"/>
              <p:cNvSpPr/>
              <p:nvPr/>
            </p:nvSpPr>
            <p:spPr>
              <a:xfrm>
                <a:off x="2276475" y="259794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44" name="Freeform 44"/>
              <p:cNvSpPr/>
              <p:nvPr/>
            </p:nvSpPr>
            <p:spPr>
              <a:xfrm>
                <a:off x="2355056" y="2597944"/>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FFFFFF"/>
                </a:solidFill>
              </a:ln>
            </p:spPr>
          </p:sp>
          <p:sp>
            <p:nvSpPr>
              <p:cNvPr id="45" name="Freeform 45"/>
              <p:cNvSpPr/>
              <p:nvPr/>
            </p:nvSpPr>
            <p:spPr>
              <a:xfrm>
                <a:off x="2276475" y="2497931"/>
                <a:ext cx="92869" cy="100012"/>
              </a:xfrm>
              <a:custGeom>
                <a:avLst/>
                <a:gdLst/>
                <a:ahLst/>
                <a:cxnLst/>
                <a:rect l="l" t="t" r="r" b="b"/>
                <a:pathLst>
                  <a:path w="92869" h="100012">
                    <a:moveTo>
                      <a:pt x="92869" y="100012"/>
                    </a:moveTo>
                    <a:lnTo>
                      <a:pt x="14288" y="100012"/>
                    </a:lnTo>
                    <a:lnTo>
                      <a:pt x="14288" y="0"/>
                    </a:lnTo>
                    <a:lnTo>
                      <a:pt x="0" y="0"/>
                    </a:lnTo>
                  </a:path>
                </a:pathLst>
              </a:custGeom>
              <a:noFill/>
              <a:ln w="14288">
                <a:solidFill>
                  <a:srgbClr val="FFFFFF"/>
                </a:solidFill>
              </a:ln>
            </p:spPr>
          </p:sp>
          <p:sp>
            <p:nvSpPr>
              <p:cNvPr id="46" name="Freeform 46"/>
              <p:cNvSpPr/>
              <p:nvPr/>
            </p:nvSpPr>
            <p:spPr>
              <a:xfrm>
                <a:off x="2290762" y="2512219"/>
                <a:ext cx="100012" cy="57150"/>
              </a:xfrm>
              <a:custGeom>
                <a:avLst/>
                <a:gdLst/>
                <a:ahLst/>
                <a:cxnLst/>
                <a:rect l="l" t="t" r="r" b="b"/>
                <a:pathLst>
                  <a:path w="100012" h="57150">
                    <a:moveTo>
                      <a:pt x="0" y="0"/>
                    </a:moveTo>
                    <a:lnTo>
                      <a:pt x="100012" y="7144"/>
                    </a:lnTo>
                    <a:lnTo>
                      <a:pt x="92869" y="57150"/>
                    </a:lnTo>
                    <a:lnTo>
                      <a:pt x="0" y="57150"/>
                    </a:lnTo>
                  </a:path>
                </a:pathLst>
              </a:custGeom>
              <a:noFill/>
              <a:ln w="14288">
                <a:solidFill>
                  <a:srgbClr val="FFFFFF"/>
                </a:solidFill>
              </a:ln>
            </p:spPr>
          </p:sp>
        </p:grpSp>
        <p:grpSp>
          <p:nvGrpSpPr>
            <p:cNvPr id="50" name="Group 50"/>
            <p:cNvGrpSpPr/>
            <p:nvPr/>
          </p:nvGrpSpPr>
          <p:grpSpPr>
            <a:xfrm>
              <a:off x="2842395" y="2225654"/>
              <a:ext cx="125460" cy="139023"/>
              <a:chOff x="2842395" y="2225654"/>
              <a:chExt cx="125460" cy="139023"/>
            </a:xfrm>
          </p:grpSpPr>
          <p:sp>
            <p:nvSpPr>
              <p:cNvPr id="48" name="Freeform 48"/>
              <p:cNvSpPr/>
              <p:nvPr/>
            </p:nvSpPr>
            <p:spPr>
              <a:xfrm>
                <a:off x="2883694" y="2266950"/>
                <a:ext cx="42862" cy="42862"/>
              </a:xfrm>
              <a:custGeom>
                <a:avLst/>
                <a:gdLst/>
                <a:ahLst/>
                <a:cxnLst/>
                <a:rect l="l" t="t" r="r" b="b"/>
                <a:pathLst>
                  <a:path w="42862" h="42862">
                    <a:moveTo>
                      <a:pt x="0" y="21431"/>
                    </a:moveTo>
                    <a:cubicBezTo>
                      <a:pt x="0" y="33267"/>
                      <a:pt x="9595" y="42862"/>
                      <a:pt x="21431" y="42862"/>
                    </a:cubicBezTo>
                    <a:cubicBezTo>
                      <a:pt x="33267" y="42862"/>
                      <a:pt x="42862" y="33267"/>
                      <a:pt x="42862" y="21431"/>
                    </a:cubicBezTo>
                    <a:cubicBezTo>
                      <a:pt x="42862" y="9595"/>
                      <a:pt x="33267" y="0"/>
                      <a:pt x="21431" y="0"/>
                    </a:cubicBezTo>
                    <a:cubicBezTo>
                      <a:pt x="9595" y="0"/>
                      <a:pt x="0" y="9595"/>
                      <a:pt x="0" y="21431"/>
                    </a:cubicBezTo>
                  </a:path>
                </a:pathLst>
              </a:custGeom>
              <a:noFill/>
              <a:ln w="14288">
                <a:solidFill>
                  <a:srgbClr val="FFFFFF"/>
                </a:solidFill>
              </a:ln>
            </p:spPr>
          </p:sp>
          <p:sp>
            <p:nvSpPr>
              <p:cNvPr id="49" name="Freeform 49"/>
              <p:cNvSpPr/>
              <p:nvPr/>
            </p:nvSpPr>
            <p:spPr>
              <a:xfrm>
                <a:off x="2842395" y="2225654"/>
                <a:ext cx="125460" cy="139023"/>
              </a:xfrm>
              <a:custGeom>
                <a:avLst/>
                <a:gdLst/>
                <a:ahLst/>
                <a:cxnLst/>
                <a:rect l="l" t="t" r="r" b="b"/>
                <a:pathLst>
                  <a:path w="125460" h="139023">
                    <a:moveTo>
                      <a:pt x="103142" y="103140"/>
                    </a:moveTo>
                    <a:lnTo>
                      <a:pt x="72831" y="133451"/>
                    </a:lnTo>
                    <a:cubicBezTo>
                      <a:pt x="67253" y="139023"/>
                      <a:pt x="58214" y="139023"/>
                      <a:pt x="52636" y="133451"/>
                    </a:cubicBezTo>
                    <a:lnTo>
                      <a:pt x="22318" y="103140"/>
                    </a:lnTo>
                    <a:cubicBezTo>
                      <a:pt x="0" y="80821"/>
                      <a:pt x="1" y="44636"/>
                      <a:pt x="22319" y="22318"/>
                    </a:cubicBezTo>
                    <a:cubicBezTo>
                      <a:pt x="44637" y="0"/>
                      <a:pt x="80822" y="0"/>
                      <a:pt x="103141" y="22318"/>
                    </a:cubicBezTo>
                    <a:cubicBezTo>
                      <a:pt x="125459" y="44636"/>
                      <a:pt x="125460" y="80821"/>
                      <a:pt x="103142" y="103140"/>
                    </a:cubicBezTo>
                  </a:path>
                </a:pathLst>
              </a:custGeom>
              <a:noFill/>
              <a:ln w="14288">
                <a:solidFill>
                  <a:srgbClr val="FFFFFF"/>
                </a:solidFill>
              </a:ln>
            </p:spPr>
          </p:sp>
        </p:grpSp>
        <p:grpSp>
          <p:nvGrpSpPr>
            <p:cNvPr id="54" name="Group 54"/>
            <p:cNvGrpSpPr/>
            <p:nvPr/>
          </p:nvGrpSpPr>
          <p:grpSpPr>
            <a:xfrm>
              <a:off x="3426619" y="1964531"/>
              <a:ext cx="100012" cy="128588"/>
              <a:chOff x="3426619" y="1964531"/>
              <a:chExt cx="100012" cy="128588"/>
            </a:xfrm>
          </p:grpSpPr>
          <p:sp>
            <p:nvSpPr>
              <p:cNvPr id="51" name="Freeform 51"/>
              <p:cNvSpPr/>
              <p:nvPr/>
            </p:nvSpPr>
            <p:spPr>
              <a:xfrm>
                <a:off x="3426619" y="2007394"/>
                <a:ext cx="100012" cy="85725"/>
              </a:xfrm>
              <a:custGeom>
                <a:avLst/>
                <a:gdLst/>
                <a:ahLst/>
                <a:cxnLst/>
                <a:rect l="l" t="t" r="r" b="b"/>
                <a:pathLst>
                  <a:path w="100012" h="85725">
                    <a:moveTo>
                      <a:pt x="21431" y="0"/>
                    </a:moveTo>
                    <a:lnTo>
                      <a:pt x="14288" y="0"/>
                    </a:lnTo>
                    <a:cubicBezTo>
                      <a:pt x="6397" y="0"/>
                      <a:pt x="0" y="6397"/>
                      <a:pt x="0" y="14288"/>
                    </a:cubicBezTo>
                    <a:lnTo>
                      <a:pt x="0" y="71438"/>
                    </a:lnTo>
                    <a:cubicBezTo>
                      <a:pt x="0" y="79328"/>
                      <a:pt x="6397" y="85725"/>
                      <a:pt x="14288" y="85725"/>
                    </a:cubicBezTo>
                    <a:lnTo>
                      <a:pt x="85725" y="85725"/>
                    </a:lnTo>
                    <a:cubicBezTo>
                      <a:pt x="93616" y="85725"/>
                      <a:pt x="100012" y="79328"/>
                      <a:pt x="100012" y="71438"/>
                    </a:cubicBezTo>
                    <a:lnTo>
                      <a:pt x="100012" y="14288"/>
                    </a:lnTo>
                    <a:cubicBezTo>
                      <a:pt x="100012" y="6397"/>
                      <a:pt x="93616" y="0"/>
                      <a:pt x="85725" y="0"/>
                    </a:cubicBezTo>
                    <a:lnTo>
                      <a:pt x="78581" y="0"/>
                    </a:lnTo>
                  </a:path>
                </a:pathLst>
              </a:custGeom>
              <a:noFill/>
              <a:ln w="14288">
                <a:solidFill>
                  <a:srgbClr val="FFFFFF"/>
                </a:solidFill>
              </a:ln>
            </p:spPr>
          </p:sp>
          <p:sp>
            <p:nvSpPr>
              <p:cNvPr id="52" name="Freeform 52"/>
              <p:cNvSpPr/>
              <p:nvPr/>
            </p:nvSpPr>
            <p:spPr>
              <a:xfrm>
                <a:off x="3476625" y="1964531"/>
                <a:ext cx="9525" cy="78581"/>
              </a:xfrm>
              <a:custGeom>
                <a:avLst/>
                <a:gdLst/>
                <a:ahLst/>
                <a:cxnLst/>
                <a:rect l="l" t="t" r="r" b="b"/>
                <a:pathLst>
                  <a:path w="9525" h="78581">
                    <a:moveTo>
                      <a:pt x="0" y="78581"/>
                    </a:moveTo>
                    <a:lnTo>
                      <a:pt x="0" y="0"/>
                    </a:lnTo>
                  </a:path>
                </a:pathLst>
              </a:custGeom>
              <a:noFill/>
              <a:ln w="14288">
                <a:solidFill>
                  <a:srgbClr val="FFFFFF"/>
                </a:solidFill>
              </a:ln>
            </p:spPr>
          </p:sp>
          <p:sp>
            <p:nvSpPr>
              <p:cNvPr id="53" name="Freeform 53"/>
              <p:cNvSpPr/>
              <p:nvPr/>
            </p:nvSpPr>
            <p:spPr>
              <a:xfrm>
                <a:off x="3455194" y="1964531"/>
                <a:ext cx="42862" cy="21431"/>
              </a:xfrm>
              <a:custGeom>
                <a:avLst/>
                <a:gdLst/>
                <a:ahLst/>
                <a:cxnLst/>
                <a:rect l="l" t="t" r="r" b="b"/>
                <a:pathLst>
                  <a:path w="42862" h="21431">
                    <a:moveTo>
                      <a:pt x="0" y="21431"/>
                    </a:moveTo>
                    <a:lnTo>
                      <a:pt x="21431" y="0"/>
                    </a:lnTo>
                    <a:lnTo>
                      <a:pt x="42862" y="21431"/>
                    </a:lnTo>
                  </a:path>
                </a:pathLst>
              </a:custGeom>
              <a:noFill/>
              <a:ln w="14288">
                <a:solidFill>
                  <a:srgbClr val="FFFFFF"/>
                </a:solidFill>
              </a:ln>
            </p:spPr>
          </p:sp>
        </p:grpSp>
        <p:grpSp>
          <p:nvGrpSpPr>
            <p:cNvPr id="58" name="Group 58"/>
            <p:cNvGrpSpPr/>
            <p:nvPr/>
          </p:nvGrpSpPr>
          <p:grpSpPr>
            <a:xfrm>
              <a:off x="3988719" y="1704975"/>
              <a:ext cx="116556" cy="116556"/>
              <a:chOff x="3988719" y="1704975"/>
              <a:chExt cx="116556" cy="116556"/>
            </a:xfrm>
          </p:grpSpPr>
          <p:sp>
            <p:nvSpPr>
              <p:cNvPr id="55" name="Freeform 55"/>
              <p:cNvSpPr/>
              <p:nvPr/>
            </p:nvSpPr>
            <p:spPr>
              <a:xfrm>
                <a:off x="3990975" y="1704975"/>
                <a:ext cx="114300" cy="114300"/>
              </a:xfrm>
              <a:custGeom>
                <a:avLst/>
                <a:gdLst/>
                <a:ahLst/>
                <a:cxnLst/>
                <a:rect l="l" t="t" r="r" b="b"/>
                <a:pathLst>
                  <a:path w="114300" h="114300">
                    <a:moveTo>
                      <a:pt x="0" y="64294"/>
                    </a:moveTo>
                    <a:cubicBezTo>
                      <a:pt x="26219" y="67410"/>
                      <a:pt x="46890" y="88081"/>
                      <a:pt x="50006" y="114300"/>
                    </a:cubicBezTo>
                    <a:cubicBezTo>
                      <a:pt x="62844" y="106899"/>
                      <a:pt x="70948" y="93392"/>
                      <a:pt x="71438" y="78581"/>
                    </a:cubicBezTo>
                    <a:cubicBezTo>
                      <a:pt x="95968" y="69952"/>
                      <a:pt x="112884" y="47396"/>
                      <a:pt x="114300" y="21431"/>
                    </a:cubicBezTo>
                    <a:cubicBezTo>
                      <a:pt x="114300" y="9595"/>
                      <a:pt x="104705" y="0"/>
                      <a:pt x="92869" y="0"/>
                    </a:cubicBezTo>
                    <a:cubicBezTo>
                      <a:pt x="66904" y="1416"/>
                      <a:pt x="44348" y="18332"/>
                      <a:pt x="35719" y="42862"/>
                    </a:cubicBezTo>
                    <a:cubicBezTo>
                      <a:pt x="20908" y="43352"/>
                      <a:pt x="7401" y="51456"/>
                      <a:pt x="0" y="64294"/>
                    </a:cubicBezTo>
                  </a:path>
                </a:pathLst>
              </a:custGeom>
              <a:noFill/>
              <a:ln w="14288">
                <a:solidFill>
                  <a:srgbClr val="FFFFFF"/>
                </a:solidFill>
              </a:ln>
            </p:spPr>
          </p:sp>
          <p:sp>
            <p:nvSpPr>
              <p:cNvPr id="56" name="Freeform 56"/>
              <p:cNvSpPr/>
              <p:nvPr/>
            </p:nvSpPr>
            <p:spPr>
              <a:xfrm>
                <a:off x="3988719" y="1776412"/>
                <a:ext cx="45119" cy="45119"/>
              </a:xfrm>
              <a:custGeom>
                <a:avLst/>
                <a:gdLst/>
                <a:ahLst/>
                <a:cxnLst/>
                <a:rect l="l" t="t" r="r" b="b"/>
                <a:pathLst>
                  <a:path w="45119" h="45119">
                    <a:moveTo>
                      <a:pt x="23688" y="0"/>
                    </a:moveTo>
                    <a:cubicBezTo>
                      <a:pt x="8478" y="8587"/>
                      <a:pt x="0" y="25543"/>
                      <a:pt x="2256" y="42862"/>
                    </a:cubicBezTo>
                    <a:cubicBezTo>
                      <a:pt x="19576" y="45119"/>
                      <a:pt x="36532" y="36641"/>
                      <a:pt x="45119" y="21431"/>
                    </a:cubicBezTo>
                  </a:path>
                </a:pathLst>
              </a:custGeom>
              <a:noFill/>
              <a:ln w="14288">
                <a:solidFill>
                  <a:srgbClr val="FFFFFF"/>
                </a:solidFill>
              </a:ln>
            </p:spPr>
          </p:sp>
          <p:sp>
            <p:nvSpPr>
              <p:cNvPr id="57" name="Freeform 57"/>
              <p:cNvSpPr/>
              <p:nvPr/>
            </p:nvSpPr>
            <p:spPr>
              <a:xfrm>
                <a:off x="4062412" y="1733550"/>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grpSp>
        <p:grpSp>
          <p:nvGrpSpPr>
            <p:cNvPr id="62" name="Group 62"/>
            <p:cNvGrpSpPr/>
            <p:nvPr/>
          </p:nvGrpSpPr>
          <p:grpSpPr>
            <a:xfrm>
              <a:off x="4562474" y="1434785"/>
              <a:ext cx="117780" cy="121265"/>
              <a:chOff x="4562474" y="1434785"/>
              <a:chExt cx="117780" cy="121265"/>
            </a:xfrm>
          </p:grpSpPr>
          <p:sp>
            <p:nvSpPr>
              <p:cNvPr id="59" name="Freeform 59"/>
              <p:cNvSpPr/>
              <p:nvPr/>
            </p:nvSpPr>
            <p:spPr>
              <a:xfrm>
                <a:off x="4598194" y="1473994"/>
                <a:ext cx="42862" cy="42862"/>
              </a:xfrm>
              <a:custGeom>
                <a:avLst/>
                <a:gdLst/>
                <a:ahLst/>
                <a:cxnLst/>
                <a:rect l="l" t="t" r="r" b="b"/>
                <a:pathLst>
                  <a:path w="42862" h="42862">
                    <a:moveTo>
                      <a:pt x="0" y="42862"/>
                    </a:moveTo>
                    <a:lnTo>
                      <a:pt x="42862" y="0"/>
                    </a:lnTo>
                  </a:path>
                </a:pathLst>
              </a:custGeom>
              <a:noFill/>
              <a:ln w="14288">
                <a:solidFill>
                  <a:srgbClr val="FFFFFF"/>
                </a:solidFill>
              </a:ln>
            </p:spPr>
          </p:sp>
          <p:sp>
            <p:nvSpPr>
              <p:cNvPr id="60" name="Freeform 60"/>
              <p:cNvSpPr/>
              <p:nvPr/>
            </p:nvSpPr>
            <p:spPr>
              <a:xfrm>
                <a:off x="4612481" y="1434785"/>
                <a:ext cx="67773" cy="67784"/>
              </a:xfrm>
              <a:custGeom>
                <a:avLst/>
                <a:gdLst/>
                <a:ahLst/>
                <a:cxnLst/>
                <a:rect l="l" t="t" r="r" b="b"/>
                <a:pathLst>
                  <a:path w="67773" h="67784">
                    <a:moveTo>
                      <a:pt x="0" y="17778"/>
                    </a:moveTo>
                    <a:lnTo>
                      <a:pt x="3308" y="13949"/>
                    </a:lnTo>
                    <a:cubicBezTo>
                      <a:pt x="17258" y="0"/>
                      <a:pt x="39876" y="2"/>
                      <a:pt x="53825" y="13952"/>
                    </a:cubicBezTo>
                    <a:cubicBezTo>
                      <a:pt x="67773" y="27903"/>
                      <a:pt x="67772" y="50521"/>
                      <a:pt x="53821" y="64470"/>
                    </a:cubicBezTo>
                    <a:lnTo>
                      <a:pt x="50006" y="67784"/>
                    </a:lnTo>
                  </a:path>
                </a:pathLst>
              </a:custGeom>
              <a:noFill/>
              <a:ln w="14288">
                <a:solidFill>
                  <a:srgbClr val="FFFFFF"/>
                </a:solidFill>
              </a:ln>
            </p:spPr>
          </p:sp>
          <p:sp>
            <p:nvSpPr>
              <p:cNvPr id="61" name="Freeform 61"/>
              <p:cNvSpPr/>
              <p:nvPr/>
            </p:nvSpPr>
            <p:spPr>
              <a:xfrm>
                <a:off x="4562474" y="1488281"/>
                <a:ext cx="64295" cy="67769"/>
              </a:xfrm>
              <a:custGeom>
                <a:avLst/>
                <a:gdLst/>
                <a:ahLst/>
                <a:cxnLst/>
                <a:rect l="l" t="t" r="r" b="b"/>
                <a:pathLst>
                  <a:path w="64295" h="67769">
                    <a:moveTo>
                      <a:pt x="64295" y="50006"/>
                    </a:moveTo>
                    <a:lnTo>
                      <a:pt x="61459" y="53821"/>
                    </a:lnTo>
                    <a:cubicBezTo>
                      <a:pt x="47353" y="67769"/>
                      <a:pt x="24650" y="67769"/>
                      <a:pt x="10545" y="53821"/>
                    </a:cubicBezTo>
                    <a:cubicBezTo>
                      <a:pt x="3797" y="47149"/>
                      <a:pt x="0" y="38054"/>
                      <a:pt x="0" y="28564"/>
                    </a:cubicBezTo>
                    <a:cubicBezTo>
                      <a:pt x="0" y="19075"/>
                      <a:pt x="3797" y="9980"/>
                      <a:pt x="10545" y="3308"/>
                    </a:cubicBezTo>
                    <a:lnTo>
                      <a:pt x="14289" y="0"/>
                    </a:lnTo>
                  </a:path>
                </a:pathLst>
              </a:custGeom>
              <a:noFill/>
              <a:ln w="14288">
                <a:solidFill>
                  <a:srgbClr val="FFFFFF"/>
                </a:solidFill>
              </a:ln>
            </p:spPr>
          </p:sp>
        </p:grpSp>
        <p:sp>
          <p:nvSpPr>
            <p:cNvPr id="63" name="TextBox 63"/>
            <p:cNvSpPr txBox="1"/>
            <p:nvPr/>
          </p:nvSpPr>
          <p:spPr>
            <a:xfrm>
              <a:off x="431279" y="3470434"/>
              <a:ext cx="37569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核心业务</a:t>
              </a:r>
            </a:p>
          </p:txBody>
        </p:sp>
        <p:sp>
          <p:nvSpPr>
            <p:cNvPr id="64" name="TextBox 64"/>
            <p:cNvSpPr txBox="1"/>
            <p:nvPr/>
          </p:nvSpPr>
          <p:spPr>
            <a:xfrm>
              <a:off x="522821" y="3603784"/>
              <a:ext cx="192608"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深耕</a:t>
              </a:r>
            </a:p>
          </p:txBody>
        </p:sp>
        <p:sp>
          <p:nvSpPr>
            <p:cNvPr id="65" name="TextBox 65"/>
            <p:cNvSpPr txBox="1"/>
            <p:nvPr/>
          </p:nvSpPr>
          <p:spPr>
            <a:xfrm>
              <a:off x="1002779" y="3603784"/>
              <a:ext cx="37569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客户渗透</a:t>
              </a:r>
            </a:p>
          </p:txBody>
        </p:sp>
        <p:sp>
          <p:nvSpPr>
            <p:cNvPr id="66" name="TextBox 66"/>
            <p:cNvSpPr txBox="1"/>
            <p:nvPr/>
          </p:nvSpPr>
          <p:spPr>
            <a:xfrm>
              <a:off x="1620050" y="3603784"/>
              <a:ext cx="284150"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新品类</a:t>
              </a:r>
            </a:p>
          </p:txBody>
        </p:sp>
        <p:sp>
          <p:nvSpPr>
            <p:cNvPr id="67" name="TextBox 67"/>
            <p:cNvSpPr txBox="1"/>
            <p:nvPr/>
          </p:nvSpPr>
          <p:spPr>
            <a:xfrm>
              <a:off x="2191550" y="3603784"/>
              <a:ext cx="284150"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新渠道</a:t>
              </a:r>
            </a:p>
          </p:txBody>
        </p:sp>
        <p:sp>
          <p:nvSpPr>
            <p:cNvPr id="68" name="TextBox 68"/>
            <p:cNvSpPr txBox="1"/>
            <p:nvPr/>
          </p:nvSpPr>
          <p:spPr>
            <a:xfrm>
              <a:off x="2763050" y="3603784"/>
              <a:ext cx="284150"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新区域</a:t>
              </a:r>
            </a:p>
          </p:txBody>
        </p:sp>
        <p:sp>
          <p:nvSpPr>
            <p:cNvPr id="69" name="TextBox 69"/>
            <p:cNvSpPr txBox="1"/>
            <p:nvPr/>
          </p:nvSpPr>
          <p:spPr>
            <a:xfrm>
              <a:off x="3288779" y="3603784"/>
              <a:ext cx="375691"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邻近业务</a:t>
              </a:r>
            </a:p>
          </p:txBody>
        </p:sp>
        <p:sp>
          <p:nvSpPr>
            <p:cNvPr id="70" name="TextBox 70"/>
            <p:cNvSpPr txBox="1"/>
            <p:nvPr/>
          </p:nvSpPr>
          <p:spPr>
            <a:xfrm>
              <a:off x="3906050" y="3603784"/>
              <a:ext cx="284150"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新业务</a:t>
              </a:r>
            </a:p>
          </p:txBody>
        </p:sp>
        <p:sp>
          <p:nvSpPr>
            <p:cNvPr id="71" name="TextBox 71"/>
            <p:cNvSpPr txBox="1"/>
            <p:nvPr/>
          </p:nvSpPr>
          <p:spPr>
            <a:xfrm>
              <a:off x="4406605" y="3603784"/>
              <a:ext cx="426039"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并购/生态</a:t>
              </a:r>
            </a:p>
          </p:txBody>
        </p:sp>
      </p:grpSp>
      <p:grpSp>
        <p:nvGrpSpPr>
          <p:cNvPr id="82" name="band"/>
          <p:cNvGrpSpPr/>
          <p:nvPr/>
        </p:nvGrpSpPr>
        <p:grpSpPr>
          <a:xfrm>
            <a:off x="266700" y="3905250"/>
            <a:ext cx="4743450" cy="400050"/>
            <a:chOff x="266700" y="3905250"/>
            <a:chExt cx="4743450" cy="400050"/>
          </a:xfrm>
        </p:grpSpPr>
        <p:sp>
          <p:nvSpPr>
            <p:cNvPr id="73" name="Freeform 73"/>
            <p:cNvSpPr/>
            <p:nvPr/>
          </p:nvSpPr>
          <p:spPr>
            <a:xfrm>
              <a:off x="266700" y="3905250"/>
              <a:ext cx="1714500" cy="400050"/>
            </a:xfrm>
            <a:prstGeom prst="homePlate">
              <a:avLst/>
            </a:prstGeom>
            <a:solidFill>
              <a:srgbClr val="DCE5F2"/>
            </a:solidFill>
            <a:ln>
              <a:noFill/>
            </a:ln>
          </p:spPr>
        </p:sp>
        <p:sp>
          <p:nvSpPr>
            <p:cNvPr id="74" name="Freeform 74"/>
            <p:cNvSpPr/>
            <p:nvPr/>
          </p:nvSpPr>
          <p:spPr>
            <a:xfrm>
              <a:off x="1781175" y="3905250"/>
              <a:ext cx="1714500" cy="400050"/>
            </a:xfrm>
            <a:prstGeom prst="chevron">
              <a:avLst/>
            </a:prstGeom>
            <a:solidFill>
              <a:srgbClr val="9F5546"/>
            </a:solidFill>
            <a:ln>
              <a:noFill/>
            </a:ln>
          </p:spPr>
        </p:sp>
        <p:sp>
          <p:nvSpPr>
            <p:cNvPr id="75" name="Freeform 75"/>
            <p:cNvSpPr/>
            <p:nvPr/>
          </p:nvSpPr>
          <p:spPr>
            <a:xfrm>
              <a:off x="3295650" y="3905250"/>
              <a:ext cx="1714500" cy="400050"/>
            </a:xfrm>
            <a:prstGeom prst="chevron">
              <a:avLst/>
            </a:prstGeom>
            <a:solidFill>
              <a:srgbClr val="4E0D00"/>
            </a:solidFill>
            <a:ln>
              <a:noFill/>
            </a:ln>
          </p:spPr>
        </p:sp>
        <p:sp>
          <p:nvSpPr>
            <p:cNvPr id="76" name="TextBox 76"/>
            <p:cNvSpPr txBox="1"/>
            <p:nvPr/>
          </p:nvSpPr>
          <p:spPr>
            <a:xfrm>
              <a:off x="697983" y="3978116"/>
              <a:ext cx="851934" cy="161925"/>
            </a:xfrm>
            <a:prstGeom prst="rect">
              <a:avLst/>
            </a:prstGeom>
            <a:noFill/>
            <a:ln>
              <a:noFill/>
            </a:ln>
          </p:spPr>
          <p:txBody>
            <a:bodyPr wrap="none" lIns="0" tIns="0" rIns="0" bIns="0" anchor="t" anchorCtr="0">
              <a:spAutoFit/>
            </a:bodyPr>
            <a:lstStyle/>
            <a:p>
              <a:pPr algn="ctr"/>
              <a:r>
                <a:rPr lang="en-US" sz="820" b="1" dirty="0">
                  <a:solidFill>
                    <a:srgbClr val="4E0D00"/>
                  </a:solidFill>
                  <a:latin typeface="+mn-lt"/>
                  <a:ea typeface="+mn-ea"/>
                  <a:cs typeface="+mn-cs"/>
                </a:rPr>
                <a:t>Base Business​</a:t>
              </a:r>
            </a:p>
          </p:txBody>
        </p:sp>
        <p:sp>
          <p:nvSpPr>
            <p:cNvPr id="77" name="TextBox 77"/>
            <p:cNvSpPr txBox="1"/>
            <p:nvPr/>
          </p:nvSpPr>
          <p:spPr>
            <a:xfrm>
              <a:off x="798792" y="4146709"/>
              <a:ext cx="650316" cy="133350"/>
            </a:xfrm>
            <a:prstGeom prst="rect">
              <a:avLst/>
            </a:prstGeom>
            <a:noFill/>
            <a:ln>
              <a:noFill/>
            </a:ln>
          </p:spPr>
          <p:txBody>
            <a:bodyPr wrap="none" lIns="0" tIns="0" rIns="0" bIns="0" anchor="t" anchorCtr="0">
              <a:spAutoFit/>
            </a:bodyPr>
            <a:lstStyle/>
            <a:p>
              <a:pPr algn="ctr"/>
              <a:r>
                <a:rPr lang="zh-CN" sz="680" dirty="0">
                  <a:solidFill>
                    <a:srgbClr val="4E0D00"/>
                  </a:solidFill>
                  <a:latin typeface="+mn-lt"/>
                  <a:ea typeface="+mn-ea"/>
                  <a:cs typeface="+mn-cs"/>
                </a:rPr>
                <a:t>夯实与效率提升</a:t>
              </a:r>
            </a:p>
          </p:txBody>
        </p:sp>
        <p:sp>
          <p:nvSpPr>
            <p:cNvPr id="78" name="TextBox 78"/>
            <p:cNvSpPr txBox="1"/>
            <p:nvPr/>
          </p:nvSpPr>
          <p:spPr>
            <a:xfrm>
              <a:off x="2391452" y="3978116"/>
              <a:ext cx="493946"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Adjacent</a:t>
              </a:r>
            </a:p>
          </p:txBody>
        </p:sp>
        <p:sp>
          <p:nvSpPr>
            <p:cNvPr id="79" name="TextBox 79"/>
            <p:cNvSpPr txBox="1"/>
            <p:nvPr/>
          </p:nvSpPr>
          <p:spPr>
            <a:xfrm>
              <a:off x="2404808" y="4146709"/>
              <a:ext cx="467233"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延伸与扩展</a:t>
              </a:r>
            </a:p>
          </p:txBody>
        </p:sp>
        <p:sp>
          <p:nvSpPr>
            <p:cNvPr id="80" name="TextBox 80"/>
            <p:cNvSpPr txBox="1"/>
            <p:nvPr/>
          </p:nvSpPr>
          <p:spPr>
            <a:xfrm>
              <a:off x="3621799" y="3978116"/>
              <a:ext cx="1062202" cy="161925"/>
            </a:xfrm>
            <a:prstGeom prst="rect">
              <a:avLst/>
            </a:prstGeom>
            <a:noFill/>
            <a:ln>
              <a:noFill/>
            </a:ln>
          </p:spPr>
          <p:txBody>
            <a:bodyPr wrap="none" lIns="0" tIns="0" rIns="0" bIns="0" anchor="t" anchorCtr="0">
              <a:spAutoFit/>
            </a:bodyPr>
            <a:lstStyle/>
            <a:p>
              <a:pPr algn="ctr"/>
              <a:r>
                <a:rPr lang="en-US" sz="820" b="1" dirty="0">
                  <a:solidFill>
                    <a:srgbClr val="FFFFFF"/>
                  </a:solidFill>
                  <a:latin typeface="+mn-lt"/>
                  <a:ea typeface="+mn-ea"/>
                  <a:cs typeface="+mn-cs"/>
                </a:rPr>
                <a:t>Transformational​</a:t>
              </a:r>
            </a:p>
          </p:txBody>
        </p:sp>
        <p:sp>
          <p:nvSpPr>
            <p:cNvPr id="81" name="TextBox 81"/>
            <p:cNvSpPr txBox="1"/>
            <p:nvPr/>
          </p:nvSpPr>
          <p:spPr>
            <a:xfrm>
              <a:off x="3919284" y="4146709"/>
              <a:ext cx="467233" cy="133350"/>
            </a:xfrm>
            <a:prstGeom prst="rect">
              <a:avLst/>
            </a:prstGeom>
            <a:noFill/>
            <a:ln>
              <a:noFill/>
            </a:ln>
          </p:spPr>
          <p:txBody>
            <a:bodyPr wrap="none" lIns="0" tIns="0" rIns="0" bIns="0" anchor="t" anchorCtr="0">
              <a:spAutoFit/>
            </a:bodyPr>
            <a:lstStyle/>
            <a:p>
              <a:pPr algn="ctr"/>
              <a:r>
                <a:rPr lang="zh-CN" sz="680" dirty="0">
                  <a:solidFill>
                    <a:srgbClr val="FFFFFF"/>
                  </a:solidFill>
                  <a:latin typeface="+mn-lt"/>
                  <a:ea typeface="+mn-ea"/>
                  <a:cs typeface="+mn-cs"/>
                </a:rPr>
                <a:t>突破与重塑</a:t>
              </a:r>
            </a:p>
          </p:txBody>
        </p:sp>
      </p:grpSp>
      <p:grpSp>
        <p:nvGrpSpPr>
          <p:cNvPr id="210" name="matrix"/>
          <p:cNvGrpSpPr/>
          <p:nvPr/>
        </p:nvGrpSpPr>
        <p:grpSpPr>
          <a:xfrm>
            <a:off x="5295900" y="762000"/>
            <a:ext cx="6667500" cy="3314700"/>
            <a:chOff x="5295900" y="762000"/>
            <a:chExt cx="6667500" cy="3314700"/>
          </a:xfrm>
        </p:grpSpPr>
        <p:sp>
          <p:nvSpPr>
            <p:cNvPr id="83" name="Rectangle 83"/>
            <p:cNvSpPr/>
            <p:nvPr/>
          </p:nvSpPr>
          <p:spPr>
            <a:xfrm>
              <a:off x="5295900" y="762000"/>
              <a:ext cx="6667500" cy="285750"/>
            </a:xfrm>
            <a:prstGeom prst="rect">
              <a:avLst/>
            </a:prstGeom>
            <a:solidFill>
              <a:srgbClr val="4E0D00"/>
            </a:solidFill>
            <a:ln>
              <a:noFill/>
            </a:ln>
          </p:spPr>
        </p:sp>
        <p:sp>
          <p:nvSpPr>
            <p:cNvPr id="84" name="TextBox 84"/>
            <p:cNvSpPr txBox="1"/>
            <p:nvPr/>
          </p:nvSpPr>
          <p:spPr>
            <a:xfrm>
              <a:off x="7833131" y="847249"/>
              <a:ext cx="159303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机会评分矩阵（加权评价）</a:t>
              </a:r>
            </a:p>
          </p:txBody>
        </p:sp>
        <p:sp>
          <p:nvSpPr>
            <p:cNvPr id="85" name="Rectangle 85"/>
            <p:cNvSpPr/>
            <p:nvPr/>
          </p:nvSpPr>
          <p:spPr>
            <a:xfrm>
              <a:off x="5295900" y="1066800"/>
              <a:ext cx="1143000" cy="609600"/>
            </a:xfrm>
            <a:prstGeom prst="rect">
              <a:avLst/>
            </a:prstGeom>
            <a:solidFill>
              <a:srgbClr val="EFF3FA"/>
            </a:solidFill>
            <a:ln w="9525">
              <a:solidFill>
                <a:srgbClr val="C7D2E4"/>
              </a:solidFill>
            </a:ln>
          </p:spPr>
        </p:sp>
        <p:sp>
          <p:nvSpPr>
            <p:cNvPr id="86" name="Rectangle 86"/>
            <p:cNvSpPr/>
            <p:nvPr/>
          </p:nvSpPr>
          <p:spPr>
            <a:xfrm>
              <a:off x="6438900" y="1066800"/>
              <a:ext cx="1104900" cy="609600"/>
            </a:xfrm>
            <a:prstGeom prst="rect">
              <a:avLst/>
            </a:prstGeom>
            <a:solidFill>
              <a:srgbClr val="4E0D00"/>
            </a:solidFill>
            <a:ln>
              <a:noFill/>
            </a:ln>
          </p:spPr>
        </p:sp>
        <p:grpSp>
          <p:nvGrpSpPr>
            <p:cNvPr id="89" name="Group 89"/>
            <p:cNvGrpSpPr/>
            <p:nvPr/>
          </p:nvGrpSpPr>
          <p:grpSpPr>
            <a:xfrm>
              <a:off x="6940550" y="1162050"/>
              <a:ext cx="101600" cy="92075"/>
              <a:chOff x="6940550" y="1162050"/>
              <a:chExt cx="101600" cy="92075"/>
            </a:xfrm>
          </p:grpSpPr>
          <p:sp>
            <p:nvSpPr>
              <p:cNvPr id="87" name="Freeform 87"/>
              <p:cNvSpPr/>
              <p:nvPr/>
            </p:nvSpPr>
            <p:spPr>
              <a:xfrm>
                <a:off x="6940550" y="1244600"/>
                <a:ext cx="101600" cy="9525"/>
              </a:xfrm>
              <a:custGeom>
                <a:avLst/>
                <a:gdLst/>
                <a:ahLst/>
                <a:cxnLst/>
                <a:rect l="l" t="t" r="r" b="b"/>
                <a:pathLst>
                  <a:path w="101600" h="9525">
                    <a:moveTo>
                      <a:pt x="0" y="0"/>
                    </a:moveTo>
                    <a:lnTo>
                      <a:pt x="101600" y="0"/>
                    </a:lnTo>
                  </a:path>
                </a:pathLst>
              </a:custGeom>
              <a:noFill/>
              <a:ln w="12700">
                <a:solidFill>
                  <a:srgbClr val="FFFFFF"/>
                </a:solidFill>
              </a:ln>
            </p:spPr>
          </p:sp>
          <p:sp>
            <p:nvSpPr>
              <p:cNvPr id="88" name="Freeform 88"/>
              <p:cNvSpPr/>
              <p:nvPr/>
            </p:nvSpPr>
            <p:spPr>
              <a:xfrm>
                <a:off x="6940550" y="116205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FFFFFF"/>
                </a:solidFill>
              </a:ln>
            </p:spPr>
          </p:sp>
        </p:grpSp>
        <p:sp>
          <p:nvSpPr>
            <p:cNvPr id="90" name="TextBox 90"/>
            <p:cNvSpPr txBox="1"/>
            <p:nvPr/>
          </p:nvSpPr>
          <p:spPr>
            <a:xfrm>
              <a:off x="6784658" y="134778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增长潜力</a:t>
              </a:r>
            </a:p>
          </p:txBody>
        </p:sp>
        <p:sp>
          <p:nvSpPr>
            <p:cNvPr id="91" name="TextBox 91"/>
            <p:cNvSpPr txBox="1"/>
            <p:nvPr/>
          </p:nvSpPr>
          <p:spPr>
            <a:xfrm>
              <a:off x="6831101" y="1506855"/>
              <a:ext cx="320497" cy="119062"/>
            </a:xfrm>
            <a:prstGeom prst="rect">
              <a:avLst/>
            </a:prstGeom>
            <a:noFill/>
            <a:ln>
              <a:noFill/>
            </a:ln>
          </p:spPr>
          <p:txBody>
            <a:bodyPr wrap="none" lIns="0" tIns="0" rIns="0" bIns="0" anchor="t" anchorCtr="0">
              <a:spAutoFit/>
            </a:bodyPr>
            <a:lstStyle/>
            <a:p>
              <a:pPr algn="ctr"/>
              <a:r>
                <a:rPr lang="zh-CN" sz="600" dirty="0">
                  <a:solidFill>
                    <a:srgbClr val="C9D3E4"/>
                  </a:solidFill>
                  <a:latin typeface="+mn-lt"/>
                  <a:ea typeface="+mn-ea"/>
                  <a:cs typeface="+mn-cs"/>
                </a:rPr>
                <a:t>（30%）</a:t>
              </a:r>
            </a:p>
          </p:txBody>
        </p:sp>
        <p:sp>
          <p:nvSpPr>
            <p:cNvPr id="92" name="Rectangle 92"/>
            <p:cNvSpPr/>
            <p:nvPr/>
          </p:nvSpPr>
          <p:spPr>
            <a:xfrm>
              <a:off x="7543800" y="1066800"/>
              <a:ext cx="1104900" cy="609600"/>
            </a:xfrm>
            <a:prstGeom prst="rect">
              <a:avLst/>
            </a:prstGeom>
            <a:solidFill>
              <a:srgbClr val="711E0D"/>
            </a:solidFill>
            <a:ln>
              <a:noFill/>
            </a:ln>
          </p:spPr>
        </p:sp>
        <p:grpSp>
          <p:nvGrpSpPr>
            <p:cNvPr id="95" name="Group 95"/>
            <p:cNvGrpSpPr/>
            <p:nvPr/>
          </p:nvGrpSpPr>
          <p:grpSpPr>
            <a:xfrm>
              <a:off x="8058150" y="1143000"/>
              <a:ext cx="76200" cy="114300"/>
              <a:chOff x="8058150" y="1143000"/>
              <a:chExt cx="76200" cy="114300"/>
            </a:xfrm>
          </p:grpSpPr>
          <p:sp>
            <p:nvSpPr>
              <p:cNvPr id="93" name="Freeform 93"/>
              <p:cNvSpPr/>
              <p:nvPr/>
            </p:nvSpPr>
            <p:spPr>
              <a:xfrm>
                <a:off x="8070850" y="11430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94" name="Freeform 94"/>
              <p:cNvSpPr/>
              <p:nvPr/>
            </p:nvSpPr>
            <p:spPr>
              <a:xfrm>
                <a:off x="8058150" y="12192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grpSp>
        <p:sp>
          <p:nvSpPr>
            <p:cNvPr id="96" name="TextBox 96"/>
            <p:cNvSpPr txBox="1"/>
            <p:nvPr/>
          </p:nvSpPr>
          <p:spPr>
            <a:xfrm>
              <a:off x="7889558" y="134778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能力匹配</a:t>
              </a:r>
            </a:p>
          </p:txBody>
        </p:sp>
        <p:sp>
          <p:nvSpPr>
            <p:cNvPr id="97" name="TextBox 97"/>
            <p:cNvSpPr txBox="1"/>
            <p:nvPr/>
          </p:nvSpPr>
          <p:spPr>
            <a:xfrm>
              <a:off x="7936001" y="1506855"/>
              <a:ext cx="320497" cy="119062"/>
            </a:xfrm>
            <a:prstGeom prst="rect">
              <a:avLst/>
            </a:prstGeom>
            <a:noFill/>
            <a:ln>
              <a:noFill/>
            </a:ln>
          </p:spPr>
          <p:txBody>
            <a:bodyPr wrap="none" lIns="0" tIns="0" rIns="0" bIns="0" anchor="t" anchorCtr="0">
              <a:spAutoFit/>
            </a:bodyPr>
            <a:lstStyle/>
            <a:p>
              <a:pPr algn="ctr"/>
              <a:r>
                <a:rPr lang="zh-CN" sz="600" dirty="0">
                  <a:solidFill>
                    <a:srgbClr val="C9D3E4"/>
                  </a:solidFill>
                  <a:latin typeface="+mn-lt"/>
                  <a:ea typeface="+mn-ea"/>
                  <a:cs typeface="+mn-cs"/>
                </a:rPr>
                <a:t>（25%）</a:t>
              </a:r>
            </a:p>
          </p:txBody>
        </p:sp>
        <p:sp>
          <p:nvSpPr>
            <p:cNvPr id="98" name="Rectangle 98"/>
            <p:cNvSpPr/>
            <p:nvPr/>
          </p:nvSpPr>
          <p:spPr>
            <a:xfrm>
              <a:off x="8648700" y="1066800"/>
              <a:ext cx="1104900" cy="609600"/>
            </a:xfrm>
            <a:prstGeom prst="rect">
              <a:avLst/>
            </a:prstGeom>
            <a:solidFill>
              <a:srgbClr val="4E0D00"/>
            </a:solidFill>
            <a:ln>
              <a:noFill/>
            </a:ln>
          </p:spPr>
        </p:sp>
        <p:grpSp>
          <p:nvGrpSpPr>
            <p:cNvPr id="104" name="Group 104"/>
            <p:cNvGrpSpPr/>
            <p:nvPr/>
          </p:nvGrpSpPr>
          <p:grpSpPr>
            <a:xfrm>
              <a:off x="9144000" y="1142149"/>
              <a:ext cx="114300" cy="115151"/>
              <a:chOff x="9144000" y="1142149"/>
              <a:chExt cx="114300" cy="115151"/>
            </a:xfrm>
          </p:grpSpPr>
          <p:sp>
            <p:nvSpPr>
              <p:cNvPr id="99" name="Freeform 99"/>
              <p:cNvSpPr/>
              <p:nvPr/>
            </p:nvSpPr>
            <p:spPr>
              <a:xfrm>
                <a:off x="9182100" y="11938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FFFFFF"/>
                </a:solidFill>
              </a:ln>
            </p:spPr>
          </p:sp>
          <p:sp>
            <p:nvSpPr>
              <p:cNvPr id="100" name="Freeform 100"/>
              <p:cNvSpPr/>
              <p:nvPr/>
            </p:nvSpPr>
            <p:spPr>
              <a:xfrm>
                <a:off x="9182100" y="12128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FFFFFF"/>
                </a:solidFill>
              </a:ln>
            </p:spPr>
          </p:sp>
          <p:sp>
            <p:nvSpPr>
              <p:cNvPr id="101" name="Freeform 101"/>
              <p:cNvSpPr/>
              <p:nvPr/>
            </p:nvSpPr>
            <p:spPr>
              <a:xfrm>
                <a:off x="9144000" y="11421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FFFFFF"/>
                </a:solidFill>
              </a:ln>
            </p:spPr>
          </p:sp>
          <p:sp>
            <p:nvSpPr>
              <p:cNvPr id="102" name="Freeform 102"/>
              <p:cNvSpPr/>
              <p:nvPr/>
            </p:nvSpPr>
            <p:spPr>
              <a:xfrm>
                <a:off x="9144000" y="11620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FFFFFF"/>
                </a:solidFill>
              </a:ln>
            </p:spPr>
          </p:sp>
          <p:sp>
            <p:nvSpPr>
              <p:cNvPr id="103" name="Freeform 103"/>
              <p:cNvSpPr/>
              <p:nvPr/>
            </p:nvSpPr>
            <p:spPr>
              <a:xfrm>
                <a:off x="9144000" y="11938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FFFFFF"/>
                </a:solidFill>
              </a:ln>
            </p:spPr>
          </p:sp>
        </p:grpSp>
        <p:sp>
          <p:nvSpPr>
            <p:cNvPr id="105" name="TextBox 105"/>
            <p:cNvSpPr txBox="1"/>
            <p:nvPr/>
          </p:nvSpPr>
          <p:spPr>
            <a:xfrm>
              <a:off x="8994458" y="134778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进入成本</a:t>
              </a:r>
            </a:p>
          </p:txBody>
        </p:sp>
        <p:sp>
          <p:nvSpPr>
            <p:cNvPr id="106" name="TextBox 106"/>
            <p:cNvSpPr txBox="1"/>
            <p:nvPr/>
          </p:nvSpPr>
          <p:spPr>
            <a:xfrm>
              <a:off x="9040901" y="1506855"/>
              <a:ext cx="320497" cy="119062"/>
            </a:xfrm>
            <a:prstGeom prst="rect">
              <a:avLst/>
            </a:prstGeom>
            <a:noFill/>
            <a:ln>
              <a:noFill/>
            </a:ln>
          </p:spPr>
          <p:txBody>
            <a:bodyPr wrap="none" lIns="0" tIns="0" rIns="0" bIns="0" anchor="t" anchorCtr="0">
              <a:spAutoFit/>
            </a:bodyPr>
            <a:lstStyle/>
            <a:p>
              <a:pPr algn="ctr"/>
              <a:r>
                <a:rPr lang="zh-CN" sz="600" dirty="0">
                  <a:solidFill>
                    <a:srgbClr val="C9D3E4"/>
                  </a:solidFill>
                  <a:latin typeface="+mn-lt"/>
                  <a:ea typeface="+mn-ea"/>
                  <a:cs typeface="+mn-cs"/>
                </a:rPr>
                <a:t>（15%）</a:t>
              </a:r>
            </a:p>
          </p:txBody>
        </p:sp>
        <p:sp>
          <p:nvSpPr>
            <p:cNvPr id="107" name="Rectangle 107"/>
            <p:cNvSpPr/>
            <p:nvPr/>
          </p:nvSpPr>
          <p:spPr>
            <a:xfrm>
              <a:off x="9753600" y="1066800"/>
              <a:ext cx="1104900" cy="609600"/>
            </a:xfrm>
            <a:prstGeom prst="rect">
              <a:avLst/>
            </a:prstGeom>
            <a:solidFill>
              <a:srgbClr val="711E0D"/>
            </a:solidFill>
            <a:ln>
              <a:noFill/>
            </a:ln>
          </p:spPr>
        </p:sp>
        <p:grpSp>
          <p:nvGrpSpPr>
            <p:cNvPr id="111" name="Group 111"/>
            <p:cNvGrpSpPr/>
            <p:nvPr/>
          </p:nvGrpSpPr>
          <p:grpSpPr>
            <a:xfrm>
              <a:off x="10242010" y="1140890"/>
              <a:ext cx="128076" cy="110034"/>
              <a:chOff x="10242010" y="1140890"/>
              <a:chExt cx="128076" cy="110034"/>
            </a:xfrm>
          </p:grpSpPr>
          <p:sp>
            <p:nvSpPr>
              <p:cNvPr id="108" name="Freeform 108"/>
              <p:cNvSpPr/>
              <p:nvPr/>
            </p:nvSpPr>
            <p:spPr>
              <a:xfrm>
                <a:off x="10306050" y="1181100"/>
                <a:ext cx="9525" cy="25400"/>
              </a:xfrm>
              <a:custGeom>
                <a:avLst/>
                <a:gdLst/>
                <a:ahLst/>
                <a:cxnLst/>
                <a:rect l="l" t="t" r="r" b="b"/>
                <a:pathLst>
                  <a:path w="9525" h="25400">
                    <a:moveTo>
                      <a:pt x="0" y="0"/>
                    </a:moveTo>
                    <a:lnTo>
                      <a:pt x="0" y="25400"/>
                    </a:lnTo>
                  </a:path>
                </a:pathLst>
              </a:custGeom>
              <a:noFill/>
              <a:ln w="12700">
                <a:solidFill>
                  <a:srgbClr val="FFFFFF"/>
                </a:solidFill>
              </a:ln>
            </p:spPr>
          </p:sp>
          <p:sp>
            <p:nvSpPr>
              <p:cNvPr id="109" name="Freeform 109"/>
              <p:cNvSpPr/>
              <p:nvPr/>
            </p:nvSpPr>
            <p:spPr>
              <a:xfrm>
                <a:off x="10242010" y="1140890"/>
                <a:ext cx="128076" cy="110034"/>
              </a:xfrm>
              <a:custGeom>
                <a:avLst/>
                <a:gdLst/>
                <a:ahLst/>
                <a:cxnLst/>
                <a:rect l="l" t="t" r="r" b="b"/>
                <a:pathLst>
                  <a:path w="128076" h="110034">
                    <a:moveTo>
                      <a:pt x="53646" y="5862"/>
                    </a:moveTo>
                    <a:lnTo>
                      <a:pt x="2172" y="91803"/>
                    </a:lnTo>
                    <a:cubicBezTo>
                      <a:pt x="13" y="95543"/>
                      <a:pt x="0" y="100147"/>
                      <a:pt x="2138" y="103898"/>
                    </a:cubicBezTo>
                    <a:cubicBezTo>
                      <a:pt x="4276" y="107650"/>
                      <a:pt x="8243" y="109986"/>
                      <a:pt x="12561" y="110034"/>
                    </a:cubicBezTo>
                    <a:lnTo>
                      <a:pt x="115520" y="110034"/>
                    </a:lnTo>
                    <a:cubicBezTo>
                      <a:pt x="119836" y="109984"/>
                      <a:pt x="123801" y="107650"/>
                      <a:pt x="125939" y="103900"/>
                    </a:cubicBezTo>
                    <a:cubicBezTo>
                      <a:pt x="128076" y="100151"/>
                      <a:pt x="128065" y="95549"/>
                      <a:pt x="125909" y="91810"/>
                    </a:cubicBezTo>
                    <a:lnTo>
                      <a:pt x="74435" y="5856"/>
                    </a:lnTo>
                    <a:cubicBezTo>
                      <a:pt x="72233" y="2221"/>
                      <a:pt x="68291" y="0"/>
                      <a:pt x="64041" y="0"/>
                    </a:cubicBezTo>
                    <a:cubicBezTo>
                      <a:pt x="59790" y="0"/>
                      <a:pt x="55848" y="2221"/>
                      <a:pt x="53646" y="5856"/>
                    </a:cubicBezTo>
                  </a:path>
                </a:pathLst>
              </a:custGeom>
              <a:noFill/>
              <a:ln w="12700">
                <a:solidFill>
                  <a:srgbClr val="FFFFFF"/>
                </a:solidFill>
              </a:ln>
            </p:spPr>
          </p:sp>
          <p:sp>
            <p:nvSpPr>
              <p:cNvPr id="110" name="Freeform 110"/>
              <p:cNvSpPr/>
              <p:nvPr/>
            </p:nvSpPr>
            <p:spPr>
              <a:xfrm>
                <a:off x="10306050" y="1225550"/>
                <a:ext cx="9525" cy="9525"/>
              </a:xfrm>
              <a:custGeom>
                <a:avLst/>
                <a:gdLst/>
                <a:ahLst/>
                <a:cxnLst/>
                <a:rect l="l" t="t" r="r" b="b"/>
                <a:pathLst>
                  <a:path w="9525" h="9525">
                    <a:moveTo>
                      <a:pt x="0" y="0"/>
                    </a:moveTo>
                    <a:lnTo>
                      <a:pt x="64" y="0"/>
                    </a:lnTo>
                  </a:path>
                </a:pathLst>
              </a:custGeom>
              <a:noFill/>
              <a:ln w="12700">
                <a:solidFill>
                  <a:srgbClr val="FFFFFF"/>
                </a:solidFill>
              </a:ln>
            </p:spPr>
          </p:sp>
        </p:grpSp>
        <p:sp>
          <p:nvSpPr>
            <p:cNvPr id="112" name="TextBox 112"/>
            <p:cNvSpPr txBox="1"/>
            <p:nvPr/>
          </p:nvSpPr>
          <p:spPr>
            <a:xfrm>
              <a:off x="10099358" y="1347788"/>
              <a:ext cx="41338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风险水平</a:t>
              </a:r>
            </a:p>
          </p:txBody>
        </p:sp>
        <p:sp>
          <p:nvSpPr>
            <p:cNvPr id="113" name="TextBox 113"/>
            <p:cNvSpPr txBox="1"/>
            <p:nvPr/>
          </p:nvSpPr>
          <p:spPr>
            <a:xfrm>
              <a:off x="10145801" y="1506855"/>
              <a:ext cx="320497" cy="119062"/>
            </a:xfrm>
            <a:prstGeom prst="rect">
              <a:avLst/>
            </a:prstGeom>
            <a:noFill/>
            <a:ln>
              <a:noFill/>
            </a:ln>
          </p:spPr>
          <p:txBody>
            <a:bodyPr wrap="none" lIns="0" tIns="0" rIns="0" bIns="0" anchor="t" anchorCtr="0">
              <a:spAutoFit/>
            </a:bodyPr>
            <a:lstStyle/>
            <a:p>
              <a:pPr algn="ctr"/>
              <a:r>
                <a:rPr lang="zh-CN" sz="600" dirty="0">
                  <a:solidFill>
                    <a:srgbClr val="C9D3E4"/>
                  </a:solidFill>
                  <a:latin typeface="+mn-lt"/>
                  <a:ea typeface="+mn-ea"/>
                  <a:cs typeface="+mn-cs"/>
                </a:rPr>
                <a:t>（15%）</a:t>
              </a:r>
            </a:p>
          </p:txBody>
        </p:sp>
        <p:sp>
          <p:nvSpPr>
            <p:cNvPr id="114" name="Rectangle 114"/>
            <p:cNvSpPr/>
            <p:nvPr/>
          </p:nvSpPr>
          <p:spPr>
            <a:xfrm>
              <a:off x="10858500" y="1066800"/>
              <a:ext cx="1104900" cy="609600"/>
            </a:xfrm>
            <a:prstGeom prst="rect">
              <a:avLst/>
            </a:prstGeom>
            <a:solidFill>
              <a:srgbClr val="4E0D00"/>
            </a:solidFill>
            <a:ln>
              <a:noFill/>
            </a:ln>
          </p:spPr>
        </p:sp>
        <p:sp>
          <p:nvSpPr>
            <p:cNvPr id="115" name="Freeform 115"/>
            <p:cNvSpPr/>
            <p:nvPr/>
          </p:nvSpPr>
          <p:spPr>
            <a:xfrm>
              <a:off x="11347494" y="1136663"/>
              <a:ext cx="126822" cy="120606"/>
            </a:xfrm>
            <a:custGeom>
              <a:avLst/>
              <a:gdLst/>
              <a:ahLst/>
              <a:cxnLst/>
              <a:rect l="l" t="t" r="r" b="b"/>
              <a:pathLst>
                <a:path w="126822" h="120606">
                  <a:moveTo>
                    <a:pt x="63456" y="100000"/>
                  </a:moveTo>
                  <a:lnTo>
                    <a:pt x="24263" y="120606"/>
                  </a:lnTo>
                  <a:lnTo>
                    <a:pt x="31750" y="76962"/>
                  </a:lnTo>
                  <a:lnTo>
                    <a:pt x="0" y="46057"/>
                  </a:lnTo>
                  <a:lnTo>
                    <a:pt x="43815" y="39707"/>
                  </a:lnTo>
                  <a:lnTo>
                    <a:pt x="63411" y="0"/>
                  </a:lnTo>
                  <a:lnTo>
                    <a:pt x="83007" y="39707"/>
                  </a:lnTo>
                  <a:lnTo>
                    <a:pt x="126822" y="46057"/>
                  </a:lnTo>
                  <a:lnTo>
                    <a:pt x="95072" y="76962"/>
                  </a:lnTo>
                  <a:lnTo>
                    <a:pt x="102559" y="120606"/>
                  </a:lnTo>
                  <a:lnTo>
                    <a:pt x="63456" y="100000"/>
                  </a:lnTo>
                </a:path>
              </a:pathLst>
            </a:custGeom>
            <a:noFill/>
            <a:ln w="12700">
              <a:solidFill>
                <a:srgbClr val="FFFFFF"/>
              </a:solidFill>
            </a:ln>
          </p:spPr>
        </p:sp>
        <p:sp>
          <p:nvSpPr>
            <p:cNvPr id="116" name="TextBox 116"/>
            <p:cNvSpPr txBox="1"/>
            <p:nvPr/>
          </p:nvSpPr>
          <p:spPr>
            <a:xfrm>
              <a:off x="11153775" y="1347788"/>
              <a:ext cx="514350"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综合优先级</a:t>
              </a:r>
            </a:p>
          </p:txBody>
        </p:sp>
        <p:sp>
          <p:nvSpPr>
            <p:cNvPr id="117" name="TextBox 117"/>
            <p:cNvSpPr txBox="1"/>
            <p:nvPr/>
          </p:nvSpPr>
          <p:spPr>
            <a:xfrm>
              <a:off x="10994250" y="1506855"/>
              <a:ext cx="833399" cy="119062"/>
            </a:xfrm>
            <a:prstGeom prst="rect">
              <a:avLst/>
            </a:prstGeom>
            <a:noFill/>
            <a:ln>
              <a:noFill/>
            </a:ln>
          </p:spPr>
          <p:txBody>
            <a:bodyPr wrap="none" lIns="0" tIns="0" rIns="0" bIns="0" anchor="t" anchorCtr="0">
              <a:spAutoFit/>
            </a:bodyPr>
            <a:lstStyle/>
            <a:p>
              <a:pPr algn="ctr"/>
              <a:r>
                <a:rPr lang="zh-CN" sz="600" dirty="0">
                  <a:solidFill>
                    <a:srgbClr val="C9D3E4"/>
                  </a:solidFill>
                  <a:latin typeface="+mn-lt"/>
                  <a:ea typeface="+mn-ea"/>
                  <a:cs typeface="+mn-cs"/>
                </a:rPr>
                <a:t>（加权得分·100分制）</a:t>
              </a:r>
            </a:p>
          </p:txBody>
        </p:sp>
        <p:grpSp>
          <p:nvGrpSpPr>
            <p:cNvPr id="135" name="mrow-1"/>
            <p:cNvGrpSpPr/>
            <p:nvPr/>
          </p:nvGrpSpPr>
          <p:grpSpPr>
            <a:xfrm>
              <a:off x="5295900" y="1676400"/>
              <a:ext cx="6667500" cy="419100"/>
              <a:chOff x="5295900" y="1676400"/>
              <a:chExt cx="6667500" cy="419100"/>
            </a:xfrm>
          </p:grpSpPr>
          <p:sp>
            <p:nvSpPr>
              <p:cNvPr id="118" name="Rectangle 118"/>
              <p:cNvSpPr/>
              <p:nvPr/>
            </p:nvSpPr>
            <p:spPr>
              <a:xfrm>
                <a:off x="5295900" y="1676400"/>
                <a:ext cx="1143000" cy="419100"/>
              </a:xfrm>
              <a:prstGeom prst="rect">
                <a:avLst/>
              </a:prstGeom>
              <a:solidFill>
                <a:srgbClr val="FFFFFF"/>
              </a:solidFill>
              <a:ln w="9525">
                <a:solidFill>
                  <a:srgbClr val="C7D2E4"/>
                </a:solidFill>
              </a:ln>
            </p:spPr>
          </p:sp>
          <p:sp>
            <p:nvSpPr>
              <p:cNvPr id="119" name="Ellipse 119"/>
              <p:cNvSpPr/>
              <p:nvPr/>
            </p:nvSpPr>
            <p:spPr>
              <a:xfrm>
                <a:off x="5391150" y="1809750"/>
                <a:ext cx="152400" cy="152400"/>
              </a:xfrm>
              <a:prstGeom prst="ellipse">
                <a:avLst/>
              </a:prstGeom>
              <a:solidFill>
                <a:srgbClr val="4E0D00"/>
              </a:solidFill>
              <a:ln>
                <a:noFill/>
              </a:ln>
            </p:spPr>
          </p:sp>
          <p:sp>
            <p:nvSpPr>
              <p:cNvPr id="120" name="TextBox 120"/>
              <p:cNvSpPr txBox="1"/>
              <p:nvPr/>
            </p:nvSpPr>
            <p:spPr>
              <a:xfrm>
                <a:off x="5436155" y="184642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sp>
            <p:nvSpPr>
              <p:cNvPr id="121" name="TextBox 121"/>
              <p:cNvSpPr txBox="1"/>
              <p:nvPr/>
            </p:nvSpPr>
            <p:spPr>
              <a:xfrm>
                <a:off x="5595938" y="1784509"/>
                <a:ext cx="543014"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企业级SaaS​</a:t>
                </a:r>
              </a:p>
            </p:txBody>
          </p:sp>
          <p:sp>
            <p:nvSpPr>
              <p:cNvPr id="122" name="TextBox 122"/>
              <p:cNvSpPr txBox="1"/>
              <p:nvPr/>
            </p:nvSpPr>
            <p:spPr>
              <a:xfrm>
                <a:off x="5595938" y="1917859"/>
                <a:ext cx="37569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解决方案</a:t>
                </a:r>
              </a:p>
            </p:txBody>
          </p:sp>
          <p:sp>
            <p:nvSpPr>
              <p:cNvPr id="123" name="Rectangle 123"/>
              <p:cNvSpPr/>
              <p:nvPr/>
            </p:nvSpPr>
            <p:spPr>
              <a:xfrm>
                <a:off x="6438900" y="1676400"/>
                <a:ext cx="1104900" cy="419100"/>
              </a:xfrm>
              <a:prstGeom prst="rect">
                <a:avLst/>
              </a:prstGeom>
              <a:solidFill>
                <a:srgbClr val="FFFFFF"/>
              </a:solidFill>
              <a:ln w="9525">
                <a:solidFill>
                  <a:srgbClr val="C7D2E4"/>
                </a:solidFill>
              </a:ln>
            </p:spPr>
          </p:sp>
          <p:sp>
            <p:nvSpPr>
              <p:cNvPr id="124" name="TextBox 124"/>
              <p:cNvSpPr txBox="1"/>
              <p:nvPr/>
            </p:nvSpPr>
            <p:spPr>
              <a:xfrm>
                <a:off x="6916619" y="18364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90</a:t>
                </a:r>
              </a:p>
            </p:txBody>
          </p:sp>
          <p:sp>
            <p:nvSpPr>
              <p:cNvPr id="125" name="Rectangle 125"/>
              <p:cNvSpPr/>
              <p:nvPr/>
            </p:nvSpPr>
            <p:spPr>
              <a:xfrm>
                <a:off x="7543800" y="1676400"/>
                <a:ext cx="1104900" cy="419100"/>
              </a:xfrm>
              <a:prstGeom prst="rect">
                <a:avLst/>
              </a:prstGeom>
              <a:solidFill>
                <a:srgbClr val="F7F9FC"/>
              </a:solidFill>
              <a:ln w="9525">
                <a:solidFill>
                  <a:srgbClr val="C7D2E4"/>
                </a:solidFill>
              </a:ln>
            </p:spPr>
          </p:sp>
          <p:sp>
            <p:nvSpPr>
              <p:cNvPr id="126" name="TextBox 126"/>
              <p:cNvSpPr txBox="1"/>
              <p:nvPr/>
            </p:nvSpPr>
            <p:spPr>
              <a:xfrm>
                <a:off x="8021519" y="18364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85</a:t>
                </a:r>
              </a:p>
            </p:txBody>
          </p:sp>
          <p:sp>
            <p:nvSpPr>
              <p:cNvPr id="127" name="Rectangle 127"/>
              <p:cNvSpPr/>
              <p:nvPr/>
            </p:nvSpPr>
            <p:spPr>
              <a:xfrm>
                <a:off x="8648700" y="1676400"/>
                <a:ext cx="1104900" cy="419100"/>
              </a:xfrm>
              <a:prstGeom prst="rect">
                <a:avLst/>
              </a:prstGeom>
              <a:solidFill>
                <a:srgbClr val="FFFFFF"/>
              </a:solidFill>
              <a:ln w="9525">
                <a:solidFill>
                  <a:srgbClr val="C7D2E4"/>
                </a:solidFill>
              </a:ln>
            </p:spPr>
          </p:sp>
          <p:sp>
            <p:nvSpPr>
              <p:cNvPr id="128" name="TextBox 128"/>
              <p:cNvSpPr txBox="1"/>
              <p:nvPr/>
            </p:nvSpPr>
            <p:spPr>
              <a:xfrm>
                <a:off x="9126419" y="18364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60</a:t>
                </a:r>
              </a:p>
            </p:txBody>
          </p:sp>
          <p:sp>
            <p:nvSpPr>
              <p:cNvPr id="129" name="Rectangle 129"/>
              <p:cNvSpPr/>
              <p:nvPr/>
            </p:nvSpPr>
            <p:spPr>
              <a:xfrm>
                <a:off x="9753600" y="1676400"/>
                <a:ext cx="1104900" cy="419100"/>
              </a:xfrm>
              <a:prstGeom prst="rect">
                <a:avLst/>
              </a:prstGeom>
              <a:solidFill>
                <a:srgbClr val="F7F9FC"/>
              </a:solidFill>
              <a:ln w="9525">
                <a:solidFill>
                  <a:srgbClr val="C7D2E4"/>
                </a:solidFill>
              </a:ln>
            </p:spPr>
          </p:sp>
          <p:sp>
            <p:nvSpPr>
              <p:cNvPr id="130" name="TextBox 130"/>
              <p:cNvSpPr txBox="1"/>
              <p:nvPr/>
            </p:nvSpPr>
            <p:spPr>
              <a:xfrm>
                <a:off x="10231319" y="18364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70</a:t>
                </a:r>
              </a:p>
            </p:txBody>
          </p:sp>
          <p:sp>
            <p:nvSpPr>
              <p:cNvPr id="131" name="Rectangle 131"/>
              <p:cNvSpPr/>
              <p:nvPr/>
            </p:nvSpPr>
            <p:spPr>
              <a:xfrm>
                <a:off x="10858500" y="1676400"/>
                <a:ext cx="1104900" cy="419100"/>
              </a:xfrm>
              <a:prstGeom prst="rect">
                <a:avLst/>
              </a:prstGeom>
              <a:solidFill>
                <a:srgbClr val="FFFFFF"/>
              </a:solidFill>
              <a:ln w="9525">
                <a:solidFill>
                  <a:srgbClr val="C7D2E4"/>
                </a:solidFill>
              </a:ln>
            </p:spPr>
          </p:sp>
          <p:sp>
            <p:nvSpPr>
              <p:cNvPr id="132" name="TextBox 132"/>
              <p:cNvSpPr txBox="1"/>
              <p:nvPr/>
            </p:nvSpPr>
            <p:spPr>
              <a:xfrm>
                <a:off x="11242356" y="1753552"/>
                <a:ext cx="337189" cy="205359"/>
              </a:xfrm>
              <a:prstGeom prst="rect">
                <a:avLst/>
              </a:prstGeom>
              <a:noFill/>
              <a:ln>
                <a:noFill/>
              </a:ln>
            </p:spPr>
            <p:txBody>
              <a:bodyPr wrap="none" lIns="0" tIns="0" rIns="0" bIns="0" anchor="t" anchorCtr="0">
                <a:spAutoFit/>
              </a:bodyPr>
              <a:lstStyle/>
              <a:p>
                <a:pPr algn="ctr"/>
                <a:r>
                  <a:rPr lang="zh-CN" sz="1050" b="1" dirty="0">
                    <a:solidFill>
                      <a:srgbClr val="4E0D00"/>
                    </a:solidFill>
                    <a:latin typeface="+mn-lt"/>
                    <a:ea typeface="+mn-ea"/>
                    <a:cs typeface="+mn-cs"/>
                  </a:rPr>
                  <a:t>79.5</a:t>
                </a:r>
              </a:p>
            </p:txBody>
          </p:sp>
          <p:sp>
            <p:nvSpPr>
              <p:cNvPr id="133" name="Rectangle 133"/>
              <p:cNvSpPr/>
              <p:nvPr/>
            </p:nvSpPr>
            <p:spPr>
              <a:xfrm>
                <a:off x="10934700" y="1933575"/>
                <a:ext cx="952500" cy="47625"/>
              </a:xfrm>
              <a:prstGeom prst="roundRect">
                <a:avLst>
                  <a:gd name="adj" fmla="val 50000"/>
                </a:avLst>
              </a:prstGeom>
              <a:solidFill>
                <a:srgbClr val="E2E8F2"/>
              </a:solidFill>
              <a:ln>
                <a:noFill/>
              </a:ln>
            </p:spPr>
          </p:sp>
          <p:sp>
            <p:nvSpPr>
              <p:cNvPr id="134" name="Rectangle 134"/>
              <p:cNvSpPr/>
              <p:nvPr/>
            </p:nvSpPr>
            <p:spPr>
              <a:xfrm>
                <a:off x="10934700" y="1933575"/>
                <a:ext cx="762000" cy="47625"/>
              </a:xfrm>
              <a:prstGeom prst="roundRect">
                <a:avLst>
                  <a:gd name="adj" fmla="val 50000"/>
                </a:avLst>
              </a:prstGeom>
              <a:solidFill>
                <a:srgbClr val="711E0D"/>
              </a:solidFill>
              <a:ln>
                <a:noFill/>
              </a:ln>
            </p:spPr>
          </p:sp>
        </p:grpSp>
        <p:grpSp>
          <p:nvGrpSpPr>
            <p:cNvPr id="153" name="mrow-2"/>
            <p:cNvGrpSpPr/>
            <p:nvPr/>
          </p:nvGrpSpPr>
          <p:grpSpPr>
            <a:xfrm>
              <a:off x="5295900" y="2095500"/>
              <a:ext cx="6667500" cy="419100"/>
              <a:chOff x="5295900" y="2095500"/>
              <a:chExt cx="6667500" cy="419100"/>
            </a:xfrm>
          </p:grpSpPr>
          <p:sp>
            <p:nvSpPr>
              <p:cNvPr id="136" name="Rectangle 136"/>
              <p:cNvSpPr/>
              <p:nvPr/>
            </p:nvSpPr>
            <p:spPr>
              <a:xfrm>
                <a:off x="5295900" y="2095500"/>
                <a:ext cx="1143000" cy="419100"/>
              </a:xfrm>
              <a:prstGeom prst="rect">
                <a:avLst/>
              </a:prstGeom>
              <a:solidFill>
                <a:srgbClr val="F7F9FC"/>
              </a:solidFill>
              <a:ln w="9525">
                <a:solidFill>
                  <a:srgbClr val="C7D2E4"/>
                </a:solidFill>
              </a:ln>
            </p:spPr>
          </p:sp>
          <p:sp>
            <p:nvSpPr>
              <p:cNvPr id="137" name="Ellipse 137"/>
              <p:cNvSpPr/>
              <p:nvPr/>
            </p:nvSpPr>
            <p:spPr>
              <a:xfrm>
                <a:off x="5391150" y="2228850"/>
                <a:ext cx="152400" cy="152400"/>
              </a:xfrm>
              <a:prstGeom prst="ellipse">
                <a:avLst/>
              </a:prstGeom>
              <a:solidFill>
                <a:srgbClr val="4E0D00"/>
              </a:solidFill>
              <a:ln>
                <a:noFill/>
              </a:ln>
            </p:spPr>
          </p:sp>
          <p:sp>
            <p:nvSpPr>
              <p:cNvPr id="138" name="TextBox 138"/>
              <p:cNvSpPr txBox="1"/>
              <p:nvPr/>
            </p:nvSpPr>
            <p:spPr>
              <a:xfrm>
                <a:off x="5436155" y="226552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sp>
            <p:nvSpPr>
              <p:cNvPr id="139" name="TextBox 139"/>
              <p:cNvSpPr txBox="1"/>
              <p:nvPr/>
            </p:nvSpPr>
            <p:spPr>
              <a:xfrm>
                <a:off x="5595938" y="2203609"/>
                <a:ext cx="467233"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东南亚区域</a:t>
                </a:r>
              </a:p>
            </p:txBody>
          </p:sp>
          <p:sp>
            <p:nvSpPr>
              <p:cNvPr id="140" name="TextBox 140"/>
              <p:cNvSpPr txBox="1"/>
              <p:nvPr/>
            </p:nvSpPr>
            <p:spPr>
              <a:xfrm>
                <a:off x="5595938" y="2336959"/>
                <a:ext cx="192608"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拓展</a:t>
                </a:r>
              </a:p>
            </p:txBody>
          </p:sp>
          <p:sp>
            <p:nvSpPr>
              <p:cNvPr id="141" name="Rectangle 141"/>
              <p:cNvSpPr/>
              <p:nvPr/>
            </p:nvSpPr>
            <p:spPr>
              <a:xfrm>
                <a:off x="6438900" y="2095500"/>
                <a:ext cx="1104900" cy="419100"/>
              </a:xfrm>
              <a:prstGeom prst="rect">
                <a:avLst/>
              </a:prstGeom>
              <a:solidFill>
                <a:srgbClr val="F7F9FC"/>
              </a:solidFill>
              <a:ln w="9525">
                <a:solidFill>
                  <a:srgbClr val="C7D2E4"/>
                </a:solidFill>
              </a:ln>
            </p:spPr>
          </p:sp>
          <p:sp>
            <p:nvSpPr>
              <p:cNvPr id="142" name="TextBox 142"/>
              <p:cNvSpPr txBox="1"/>
              <p:nvPr/>
            </p:nvSpPr>
            <p:spPr>
              <a:xfrm>
                <a:off x="6916619" y="22555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80</a:t>
                </a:r>
              </a:p>
            </p:txBody>
          </p:sp>
          <p:sp>
            <p:nvSpPr>
              <p:cNvPr id="143" name="Rectangle 143"/>
              <p:cNvSpPr/>
              <p:nvPr/>
            </p:nvSpPr>
            <p:spPr>
              <a:xfrm>
                <a:off x="7543800" y="2095500"/>
                <a:ext cx="1104900" cy="419100"/>
              </a:xfrm>
              <a:prstGeom prst="rect">
                <a:avLst/>
              </a:prstGeom>
              <a:solidFill>
                <a:srgbClr val="FFFFFF"/>
              </a:solidFill>
              <a:ln w="9525">
                <a:solidFill>
                  <a:srgbClr val="C7D2E4"/>
                </a:solidFill>
              </a:ln>
            </p:spPr>
          </p:sp>
          <p:sp>
            <p:nvSpPr>
              <p:cNvPr id="144" name="TextBox 144"/>
              <p:cNvSpPr txBox="1"/>
              <p:nvPr/>
            </p:nvSpPr>
            <p:spPr>
              <a:xfrm>
                <a:off x="8021519" y="22555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75</a:t>
                </a:r>
              </a:p>
            </p:txBody>
          </p:sp>
          <p:sp>
            <p:nvSpPr>
              <p:cNvPr id="145" name="Rectangle 145"/>
              <p:cNvSpPr/>
              <p:nvPr/>
            </p:nvSpPr>
            <p:spPr>
              <a:xfrm>
                <a:off x="8648700" y="2095500"/>
                <a:ext cx="1104900" cy="419100"/>
              </a:xfrm>
              <a:prstGeom prst="rect">
                <a:avLst/>
              </a:prstGeom>
              <a:solidFill>
                <a:srgbClr val="F7F9FC"/>
              </a:solidFill>
              <a:ln w="9525">
                <a:solidFill>
                  <a:srgbClr val="C7D2E4"/>
                </a:solidFill>
              </a:ln>
            </p:spPr>
          </p:sp>
          <p:sp>
            <p:nvSpPr>
              <p:cNvPr id="146" name="TextBox 146"/>
              <p:cNvSpPr txBox="1"/>
              <p:nvPr/>
            </p:nvSpPr>
            <p:spPr>
              <a:xfrm>
                <a:off x="9126419" y="22555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55</a:t>
                </a:r>
              </a:p>
            </p:txBody>
          </p:sp>
          <p:sp>
            <p:nvSpPr>
              <p:cNvPr id="147" name="Rectangle 147"/>
              <p:cNvSpPr/>
              <p:nvPr/>
            </p:nvSpPr>
            <p:spPr>
              <a:xfrm>
                <a:off x="9753600" y="2095500"/>
                <a:ext cx="1104900" cy="419100"/>
              </a:xfrm>
              <a:prstGeom prst="rect">
                <a:avLst/>
              </a:prstGeom>
              <a:solidFill>
                <a:srgbClr val="FFFFFF"/>
              </a:solidFill>
              <a:ln w="9525">
                <a:solidFill>
                  <a:srgbClr val="C7D2E4"/>
                </a:solidFill>
              </a:ln>
            </p:spPr>
          </p:sp>
          <p:sp>
            <p:nvSpPr>
              <p:cNvPr id="148" name="TextBox 148"/>
              <p:cNvSpPr txBox="1"/>
              <p:nvPr/>
            </p:nvSpPr>
            <p:spPr>
              <a:xfrm>
                <a:off x="10231319" y="22555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65</a:t>
                </a:r>
              </a:p>
            </p:txBody>
          </p:sp>
          <p:sp>
            <p:nvSpPr>
              <p:cNvPr id="149" name="Rectangle 149"/>
              <p:cNvSpPr/>
              <p:nvPr/>
            </p:nvSpPr>
            <p:spPr>
              <a:xfrm>
                <a:off x="10858500" y="2095500"/>
                <a:ext cx="1104900" cy="419100"/>
              </a:xfrm>
              <a:prstGeom prst="rect">
                <a:avLst/>
              </a:prstGeom>
              <a:solidFill>
                <a:srgbClr val="F7F9FC"/>
              </a:solidFill>
              <a:ln w="9525">
                <a:solidFill>
                  <a:srgbClr val="C7D2E4"/>
                </a:solidFill>
              </a:ln>
            </p:spPr>
          </p:sp>
          <p:sp>
            <p:nvSpPr>
              <p:cNvPr id="150" name="TextBox 150"/>
              <p:cNvSpPr txBox="1"/>
              <p:nvPr/>
            </p:nvSpPr>
            <p:spPr>
              <a:xfrm>
                <a:off x="11242356" y="2172652"/>
                <a:ext cx="337189" cy="205359"/>
              </a:xfrm>
              <a:prstGeom prst="rect">
                <a:avLst/>
              </a:prstGeom>
              <a:noFill/>
              <a:ln>
                <a:noFill/>
              </a:ln>
            </p:spPr>
            <p:txBody>
              <a:bodyPr wrap="none" lIns="0" tIns="0" rIns="0" bIns="0" anchor="t" anchorCtr="0">
                <a:spAutoFit/>
              </a:bodyPr>
              <a:lstStyle/>
              <a:p>
                <a:pPr algn="ctr"/>
                <a:r>
                  <a:rPr lang="zh-CN" sz="1050" b="1" dirty="0">
                    <a:solidFill>
                      <a:srgbClr val="4E0D00"/>
                    </a:solidFill>
                    <a:latin typeface="+mn-lt"/>
                    <a:ea typeface="+mn-ea"/>
                    <a:cs typeface="+mn-cs"/>
                  </a:rPr>
                  <a:t>70.3</a:t>
                </a:r>
              </a:p>
            </p:txBody>
          </p:sp>
          <p:sp>
            <p:nvSpPr>
              <p:cNvPr id="151" name="Rectangle 151"/>
              <p:cNvSpPr/>
              <p:nvPr/>
            </p:nvSpPr>
            <p:spPr>
              <a:xfrm>
                <a:off x="10934700" y="2352675"/>
                <a:ext cx="952500" cy="47625"/>
              </a:xfrm>
              <a:prstGeom prst="roundRect">
                <a:avLst>
                  <a:gd name="adj" fmla="val 50000"/>
                </a:avLst>
              </a:prstGeom>
              <a:solidFill>
                <a:srgbClr val="E2E8F2"/>
              </a:solidFill>
              <a:ln>
                <a:noFill/>
              </a:ln>
            </p:spPr>
          </p:sp>
          <p:sp>
            <p:nvSpPr>
              <p:cNvPr id="152" name="Rectangle 152"/>
              <p:cNvSpPr/>
              <p:nvPr/>
            </p:nvSpPr>
            <p:spPr>
              <a:xfrm>
                <a:off x="10934700" y="2352675"/>
                <a:ext cx="666750" cy="47625"/>
              </a:xfrm>
              <a:prstGeom prst="roundRect">
                <a:avLst>
                  <a:gd name="adj" fmla="val 50000"/>
                </a:avLst>
              </a:prstGeom>
              <a:solidFill>
                <a:srgbClr val="711E0D"/>
              </a:solidFill>
              <a:ln>
                <a:noFill/>
              </a:ln>
            </p:spPr>
          </p:sp>
        </p:grpSp>
        <p:grpSp>
          <p:nvGrpSpPr>
            <p:cNvPr id="171" name="mrow-3"/>
            <p:cNvGrpSpPr/>
            <p:nvPr/>
          </p:nvGrpSpPr>
          <p:grpSpPr>
            <a:xfrm>
              <a:off x="5295900" y="2514600"/>
              <a:ext cx="6667500" cy="419100"/>
              <a:chOff x="5295900" y="2514600"/>
              <a:chExt cx="6667500" cy="419100"/>
            </a:xfrm>
          </p:grpSpPr>
          <p:sp>
            <p:nvSpPr>
              <p:cNvPr id="154" name="Rectangle 154"/>
              <p:cNvSpPr/>
              <p:nvPr/>
            </p:nvSpPr>
            <p:spPr>
              <a:xfrm>
                <a:off x="5295900" y="2514600"/>
                <a:ext cx="1143000" cy="419100"/>
              </a:xfrm>
              <a:prstGeom prst="rect">
                <a:avLst/>
              </a:prstGeom>
              <a:solidFill>
                <a:srgbClr val="FFFFFF"/>
              </a:solidFill>
              <a:ln w="9525">
                <a:solidFill>
                  <a:srgbClr val="C7D2E4"/>
                </a:solidFill>
              </a:ln>
            </p:spPr>
          </p:sp>
          <p:sp>
            <p:nvSpPr>
              <p:cNvPr id="155" name="Ellipse 155"/>
              <p:cNvSpPr/>
              <p:nvPr/>
            </p:nvSpPr>
            <p:spPr>
              <a:xfrm>
                <a:off x="5391150" y="2647950"/>
                <a:ext cx="152400" cy="152400"/>
              </a:xfrm>
              <a:prstGeom prst="ellipse">
                <a:avLst/>
              </a:prstGeom>
              <a:solidFill>
                <a:srgbClr val="4E0D00"/>
              </a:solidFill>
              <a:ln>
                <a:noFill/>
              </a:ln>
            </p:spPr>
          </p:sp>
          <p:sp>
            <p:nvSpPr>
              <p:cNvPr id="156" name="TextBox 156"/>
              <p:cNvSpPr txBox="1"/>
              <p:nvPr/>
            </p:nvSpPr>
            <p:spPr>
              <a:xfrm>
                <a:off x="5436155" y="268462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sp>
            <p:nvSpPr>
              <p:cNvPr id="157" name="TextBox 157"/>
              <p:cNvSpPr txBox="1"/>
              <p:nvPr/>
            </p:nvSpPr>
            <p:spPr>
              <a:xfrm>
                <a:off x="5595938" y="2622709"/>
                <a:ext cx="37569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数据分析</a:t>
                </a:r>
              </a:p>
            </p:txBody>
          </p:sp>
          <p:sp>
            <p:nvSpPr>
              <p:cNvPr id="158" name="TextBox 158"/>
              <p:cNvSpPr txBox="1"/>
              <p:nvPr/>
            </p:nvSpPr>
            <p:spPr>
              <a:xfrm>
                <a:off x="5595938" y="2756059"/>
                <a:ext cx="284150"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产品类</a:t>
                </a:r>
              </a:p>
            </p:txBody>
          </p:sp>
          <p:sp>
            <p:nvSpPr>
              <p:cNvPr id="159" name="Rectangle 159"/>
              <p:cNvSpPr/>
              <p:nvPr/>
            </p:nvSpPr>
            <p:spPr>
              <a:xfrm>
                <a:off x="6438900" y="2514600"/>
                <a:ext cx="1104900" cy="419100"/>
              </a:xfrm>
              <a:prstGeom prst="rect">
                <a:avLst/>
              </a:prstGeom>
              <a:solidFill>
                <a:srgbClr val="FFFFFF"/>
              </a:solidFill>
              <a:ln w="9525">
                <a:solidFill>
                  <a:srgbClr val="C7D2E4"/>
                </a:solidFill>
              </a:ln>
            </p:spPr>
          </p:sp>
          <p:sp>
            <p:nvSpPr>
              <p:cNvPr id="160" name="TextBox 160"/>
              <p:cNvSpPr txBox="1"/>
              <p:nvPr/>
            </p:nvSpPr>
            <p:spPr>
              <a:xfrm>
                <a:off x="6916619" y="26746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85</a:t>
                </a:r>
              </a:p>
            </p:txBody>
          </p:sp>
          <p:sp>
            <p:nvSpPr>
              <p:cNvPr id="161" name="Rectangle 161"/>
              <p:cNvSpPr/>
              <p:nvPr/>
            </p:nvSpPr>
            <p:spPr>
              <a:xfrm>
                <a:off x="7543800" y="2514600"/>
                <a:ext cx="1104900" cy="419100"/>
              </a:xfrm>
              <a:prstGeom prst="rect">
                <a:avLst/>
              </a:prstGeom>
              <a:solidFill>
                <a:srgbClr val="F7F9FC"/>
              </a:solidFill>
              <a:ln w="9525">
                <a:solidFill>
                  <a:srgbClr val="C7D2E4"/>
                </a:solidFill>
              </a:ln>
            </p:spPr>
          </p:sp>
          <p:sp>
            <p:nvSpPr>
              <p:cNvPr id="162" name="TextBox 162"/>
              <p:cNvSpPr txBox="1"/>
              <p:nvPr/>
            </p:nvSpPr>
            <p:spPr>
              <a:xfrm>
                <a:off x="8021519" y="26746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70</a:t>
                </a:r>
              </a:p>
            </p:txBody>
          </p:sp>
          <p:sp>
            <p:nvSpPr>
              <p:cNvPr id="163" name="Rectangle 163"/>
              <p:cNvSpPr/>
              <p:nvPr/>
            </p:nvSpPr>
            <p:spPr>
              <a:xfrm>
                <a:off x="8648700" y="2514600"/>
                <a:ext cx="1104900" cy="419100"/>
              </a:xfrm>
              <a:prstGeom prst="rect">
                <a:avLst/>
              </a:prstGeom>
              <a:solidFill>
                <a:srgbClr val="FFFFFF"/>
              </a:solidFill>
              <a:ln w="9525">
                <a:solidFill>
                  <a:srgbClr val="C7D2E4"/>
                </a:solidFill>
              </a:ln>
            </p:spPr>
          </p:sp>
          <p:sp>
            <p:nvSpPr>
              <p:cNvPr id="164" name="TextBox 164"/>
              <p:cNvSpPr txBox="1"/>
              <p:nvPr/>
            </p:nvSpPr>
            <p:spPr>
              <a:xfrm>
                <a:off x="9126419" y="26746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50</a:t>
                </a:r>
              </a:p>
            </p:txBody>
          </p:sp>
          <p:sp>
            <p:nvSpPr>
              <p:cNvPr id="165" name="Rectangle 165"/>
              <p:cNvSpPr/>
              <p:nvPr/>
            </p:nvSpPr>
            <p:spPr>
              <a:xfrm>
                <a:off x="9753600" y="2514600"/>
                <a:ext cx="1104900" cy="419100"/>
              </a:xfrm>
              <a:prstGeom prst="rect">
                <a:avLst/>
              </a:prstGeom>
              <a:solidFill>
                <a:srgbClr val="F7F9FC"/>
              </a:solidFill>
              <a:ln w="9525">
                <a:solidFill>
                  <a:srgbClr val="C7D2E4"/>
                </a:solidFill>
              </a:ln>
            </p:spPr>
          </p:sp>
          <p:sp>
            <p:nvSpPr>
              <p:cNvPr id="166" name="TextBox 166"/>
              <p:cNvSpPr txBox="1"/>
              <p:nvPr/>
            </p:nvSpPr>
            <p:spPr>
              <a:xfrm>
                <a:off x="10231319" y="26746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60</a:t>
                </a:r>
              </a:p>
            </p:txBody>
          </p:sp>
          <p:sp>
            <p:nvSpPr>
              <p:cNvPr id="167" name="Rectangle 167"/>
              <p:cNvSpPr/>
              <p:nvPr/>
            </p:nvSpPr>
            <p:spPr>
              <a:xfrm>
                <a:off x="10858500" y="2514600"/>
                <a:ext cx="1104900" cy="419100"/>
              </a:xfrm>
              <a:prstGeom prst="rect">
                <a:avLst/>
              </a:prstGeom>
              <a:solidFill>
                <a:srgbClr val="FFFFFF"/>
              </a:solidFill>
              <a:ln w="9525">
                <a:solidFill>
                  <a:srgbClr val="C7D2E4"/>
                </a:solidFill>
              </a:ln>
            </p:spPr>
          </p:sp>
          <p:sp>
            <p:nvSpPr>
              <p:cNvPr id="168" name="TextBox 168"/>
              <p:cNvSpPr txBox="1"/>
              <p:nvPr/>
            </p:nvSpPr>
            <p:spPr>
              <a:xfrm>
                <a:off x="11242356" y="2591752"/>
                <a:ext cx="337189" cy="205359"/>
              </a:xfrm>
              <a:prstGeom prst="rect">
                <a:avLst/>
              </a:prstGeom>
              <a:noFill/>
              <a:ln>
                <a:noFill/>
              </a:ln>
            </p:spPr>
            <p:txBody>
              <a:bodyPr wrap="none" lIns="0" tIns="0" rIns="0" bIns="0" anchor="t" anchorCtr="0">
                <a:spAutoFit/>
              </a:bodyPr>
              <a:lstStyle/>
              <a:p>
                <a:pPr algn="ctr"/>
                <a:r>
                  <a:rPr lang="zh-CN" sz="1050" b="1" dirty="0">
                    <a:solidFill>
                      <a:srgbClr val="4E0D00"/>
                    </a:solidFill>
                    <a:latin typeface="+mn-lt"/>
                    <a:ea typeface="+mn-ea"/>
                    <a:cs typeface="+mn-cs"/>
                  </a:rPr>
                  <a:t>68.5</a:t>
                </a:r>
              </a:p>
            </p:txBody>
          </p:sp>
          <p:sp>
            <p:nvSpPr>
              <p:cNvPr id="169" name="Rectangle 169"/>
              <p:cNvSpPr/>
              <p:nvPr/>
            </p:nvSpPr>
            <p:spPr>
              <a:xfrm>
                <a:off x="10934700" y="2771775"/>
                <a:ext cx="952500" cy="47625"/>
              </a:xfrm>
              <a:prstGeom prst="roundRect">
                <a:avLst>
                  <a:gd name="adj" fmla="val 50000"/>
                </a:avLst>
              </a:prstGeom>
              <a:solidFill>
                <a:srgbClr val="E2E8F2"/>
              </a:solidFill>
              <a:ln>
                <a:noFill/>
              </a:ln>
            </p:spPr>
          </p:sp>
          <p:sp>
            <p:nvSpPr>
              <p:cNvPr id="170" name="Rectangle 170"/>
              <p:cNvSpPr/>
              <p:nvPr/>
            </p:nvSpPr>
            <p:spPr>
              <a:xfrm>
                <a:off x="10934700" y="2771775"/>
                <a:ext cx="657225" cy="47625"/>
              </a:xfrm>
              <a:prstGeom prst="roundRect">
                <a:avLst>
                  <a:gd name="adj" fmla="val 50000"/>
                </a:avLst>
              </a:prstGeom>
              <a:solidFill>
                <a:srgbClr val="711E0D"/>
              </a:solidFill>
              <a:ln>
                <a:noFill/>
              </a:ln>
            </p:spPr>
          </p:sp>
        </p:grpSp>
        <p:grpSp>
          <p:nvGrpSpPr>
            <p:cNvPr id="189" name="mrow-4"/>
            <p:cNvGrpSpPr/>
            <p:nvPr/>
          </p:nvGrpSpPr>
          <p:grpSpPr>
            <a:xfrm>
              <a:off x="5295900" y="2933700"/>
              <a:ext cx="6667500" cy="419100"/>
              <a:chOff x="5295900" y="2933700"/>
              <a:chExt cx="6667500" cy="419100"/>
            </a:xfrm>
          </p:grpSpPr>
          <p:sp>
            <p:nvSpPr>
              <p:cNvPr id="172" name="Rectangle 172"/>
              <p:cNvSpPr/>
              <p:nvPr/>
            </p:nvSpPr>
            <p:spPr>
              <a:xfrm>
                <a:off x="5295900" y="2933700"/>
                <a:ext cx="1143000" cy="419100"/>
              </a:xfrm>
              <a:prstGeom prst="rect">
                <a:avLst/>
              </a:prstGeom>
              <a:solidFill>
                <a:srgbClr val="F7F9FC"/>
              </a:solidFill>
              <a:ln w="9525">
                <a:solidFill>
                  <a:srgbClr val="C7D2E4"/>
                </a:solidFill>
              </a:ln>
            </p:spPr>
          </p:sp>
          <p:sp>
            <p:nvSpPr>
              <p:cNvPr id="173" name="Ellipse 173"/>
              <p:cNvSpPr/>
              <p:nvPr/>
            </p:nvSpPr>
            <p:spPr>
              <a:xfrm>
                <a:off x="5391150" y="3067050"/>
                <a:ext cx="152400" cy="152400"/>
              </a:xfrm>
              <a:prstGeom prst="ellipse">
                <a:avLst/>
              </a:prstGeom>
              <a:solidFill>
                <a:srgbClr val="4E0D00"/>
              </a:solidFill>
              <a:ln>
                <a:noFill/>
              </a:ln>
            </p:spPr>
          </p:sp>
          <p:sp>
            <p:nvSpPr>
              <p:cNvPr id="174" name="TextBox 174"/>
              <p:cNvSpPr txBox="1"/>
              <p:nvPr/>
            </p:nvSpPr>
            <p:spPr>
              <a:xfrm>
                <a:off x="5436155" y="310372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sp>
            <p:nvSpPr>
              <p:cNvPr id="175" name="TextBox 175"/>
              <p:cNvSpPr txBox="1"/>
              <p:nvPr/>
            </p:nvSpPr>
            <p:spPr>
              <a:xfrm>
                <a:off x="5595938" y="3041809"/>
                <a:ext cx="37569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渠道伙伴</a:t>
                </a:r>
              </a:p>
            </p:txBody>
          </p:sp>
          <p:sp>
            <p:nvSpPr>
              <p:cNvPr id="176" name="TextBox 176"/>
              <p:cNvSpPr txBox="1"/>
              <p:nvPr/>
            </p:nvSpPr>
            <p:spPr>
              <a:xfrm>
                <a:off x="5595938" y="3175159"/>
                <a:ext cx="375691"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网络建设</a:t>
                </a:r>
              </a:p>
            </p:txBody>
          </p:sp>
          <p:sp>
            <p:nvSpPr>
              <p:cNvPr id="177" name="Rectangle 177"/>
              <p:cNvSpPr/>
              <p:nvPr/>
            </p:nvSpPr>
            <p:spPr>
              <a:xfrm>
                <a:off x="6438900" y="2933700"/>
                <a:ext cx="1104900" cy="419100"/>
              </a:xfrm>
              <a:prstGeom prst="rect">
                <a:avLst/>
              </a:prstGeom>
              <a:solidFill>
                <a:srgbClr val="F7F9FC"/>
              </a:solidFill>
              <a:ln w="9525">
                <a:solidFill>
                  <a:srgbClr val="C7D2E4"/>
                </a:solidFill>
              </a:ln>
            </p:spPr>
          </p:sp>
          <p:sp>
            <p:nvSpPr>
              <p:cNvPr id="178" name="TextBox 178"/>
              <p:cNvSpPr txBox="1"/>
              <p:nvPr/>
            </p:nvSpPr>
            <p:spPr>
              <a:xfrm>
                <a:off x="6916619" y="30937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75</a:t>
                </a:r>
              </a:p>
            </p:txBody>
          </p:sp>
          <p:sp>
            <p:nvSpPr>
              <p:cNvPr id="179" name="Rectangle 179"/>
              <p:cNvSpPr/>
              <p:nvPr/>
            </p:nvSpPr>
            <p:spPr>
              <a:xfrm>
                <a:off x="7543800" y="2933700"/>
                <a:ext cx="1104900" cy="419100"/>
              </a:xfrm>
              <a:prstGeom prst="rect">
                <a:avLst/>
              </a:prstGeom>
              <a:solidFill>
                <a:srgbClr val="FFFFFF"/>
              </a:solidFill>
              <a:ln w="9525">
                <a:solidFill>
                  <a:srgbClr val="C7D2E4"/>
                </a:solidFill>
              </a:ln>
            </p:spPr>
          </p:sp>
          <p:sp>
            <p:nvSpPr>
              <p:cNvPr id="180" name="TextBox 180"/>
              <p:cNvSpPr txBox="1"/>
              <p:nvPr/>
            </p:nvSpPr>
            <p:spPr>
              <a:xfrm>
                <a:off x="8021519" y="30937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80</a:t>
                </a:r>
              </a:p>
            </p:txBody>
          </p:sp>
          <p:sp>
            <p:nvSpPr>
              <p:cNvPr id="181" name="Rectangle 181"/>
              <p:cNvSpPr/>
              <p:nvPr/>
            </p:nvSpPr>
            <p:spPr>
              <a:xfrm>
                <a:off x="8648700" y="2933700"/>
                <a:ext cx="1104900" cy="419100"/>
              </a:xfrm>
              <a:prstGeom prst="rect">
                <a:avLst/>
              </a:prstGeom>
              <a:solidFill>
                <a:srgbClr val="F7F9FC"/>
              </a:solidFill>
              <a:ln w="9525">
                <a:solidFill>
                  <a:srgbClr val="C7D2E4"/>
                </a:solidFill>
              </a:ln>
            </p:spPr>
          </p:sp>
          <p:sp>
            <p:nvSpPr>
              <p:cNvPr id="182" name="TextBox 182"/>
              <p:cNvSpPr txBox="1"/>
              <p:nvPr/>
            </p:nvSpPr>
            <p:spPr>
              <a:xfrm>
                <a:off x="9126419" y="30937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65</a:t>
                </a:r>
              </a:p>
            </p:txBody>
          </p:sp>
          <p:sp>
            <p:nvSpPr>
              <p:cNvPr id="183" name="Rectangle 183"/>
              <p:cNvSpPr/>
              <p:nvPr/>
            </p:nvSpPr>
            <p:spPr>
              <a:xfrm>
                <a:off x="9753600" y="2933700"/>
                <a:ext cx="1104900" cy="419100"/>
              </a:xfrm>
              <a:prstGeom prst="rect">
                <a:avLst/>
              </a:prstGeom>
              <a:solidFill>
                <a:srgbClr val="FFFFFF"/>
              </a:solidFill>
              <a:ln w="9525">
                <a:solidFill>
                  <a:srgbClr val="C7D2E4"/>
                </a:solidFill>
              </a:ln>
            </p:spPr>
          </p:sp>
          <p:sp>
            <p:nvSpPr>
              <p:cNvPr id="184" name="TextBox 184"/>
              <p:cNvSpPr txBox="1"/>
              <p:nvPr/>
            </p:nvSpPr>
            <p:spPr>
              <a:xfrm>
                <a:off x="10231319" y="30937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65</a:t>
                </a:r>
              </a:p>
            </p:txBody>
          </p:sp>
          <p:sp>
            <p:nvSpPr>
              <p:cNvPr id="185" name="Rectangle 185"/>
              <p:cNvSpPr/>
              <p:nvPr/>
            </p:nvSpPr>
            <p:spPr>
              <a:xfrm>
                <a:off x="10858500" y="2933700"/>
                <a:ext cx="1104900" cy="419100"/>
              </a:xfrm>
              <a:prstGeom prst="rect">
                <a:avLst/>
              </a:prstGeom>
              <a:solidFill>
                <a:srgbClr val="F7F9FC"/>
              </a:solidFill>
              <a:ln w="9525">
                <a:solidFill>
                  <a:srgbClr val="C7D2E4"/>
                </a:solidFill>
              </a:ln>
            </p:spPr>
          </p:sp>
          <p:sp>
            <p:nvSpPr>
              <p:cNvPr id="186" name="TextBox 186"/>
              <p:cNvSpPr txBox="1"/>
              <p:nvPr/>
            </p:nvSpPr>
            <p:spPr>
              <a:xfrm>
                <a:off x="11242356" y="3010852"/>
                <a:ext cx="337189" cy="205359"/>
              </a:xfrm>
              <a:prstGeom prst="rect">
                <a:avLst/>
              </a:prstGeom>
              <a:noFill/>
              <a:ln>
                <a:noFill/>
              </a:ln>
            </p:spPr>
            <p:txBody>
              <a:bodyPr wrap="none" lIns="0" tIns="0" rIns="0" bIns="0" anchor="t" anchorCtr="0">
                <a:spAutoFit/>
              </a:bodyPr>
              <a:lstStyle/>
              <a:p>
                <a:pPr algn="ctr"/>
                <a:r>
                  <a:rPr lang="zh-CN" sz="1050" b="1" dirty="0">
                    <a:solidFill>
                      <a:srgbClr val="4E0D00"/>
                    </a:solidFill>
                    <a:latin typeface="+mn-lt"/>
                    <a:ea typeface="+mn-ea"/>
                    <a:cs typeface="+mn-cs"/>
                  </a:rPr>
                  <a:t>69.0</a:t>
                </a:r>
              </a:p>
            </p:txBody>
          </p:sp>
          <p:sp>
            <p:nvSpPr>
              <p:cNvPr id="187" name="Rectangle 187"/>
              <p:cNvSpPr/>
              <p:nvPr/>
            </p:nvSpPr>
            <p:spPr>
              <a:xfrm>
                <a:off x="10934700" y="3190875"/>
                <a:ext cx="952500" cy="47625"/>
              </a:xfrm>
              <a:prstGeom prst="roundRect">
                <a:avLst>
                  <a:gd name="adj" fmla="val 50000"/>
                </a:avLst>
              </a:prstGeom>
              <a:solidFill>
                <a:srgbClr val="E2E8F2"/>
              </a:solidFill>
              <a:ln>
                <a:noFill/>
              </a:ln>
            </p:spPr>
          </p:sp>
          <p:sp>
            <p:nvSpPr>
              <p:cNvPr id="188" name="Rectangle 188"/>
              <p:cNvSpPr/>
              <p:nvPr/>
            </p:nvSpPr>
            <p:spPr>
              <a:xfrm>
                <a:off x="10934700" y="3190875"/>
                <a:ext cx="657225" cy="47625"/>
              </a:xfrm>
              <a:prstGeom prst="roundRect">
                <a:avLst>
                  <a:gd name="adj" fmla="val 50000"/>
                </a:avLst>
              </a:prstGeom>
              <a:solidFill>
                <a:srgbClr val="711E0D"/>
              </a:solidFill>
              <a:ln>
                <a:noFill/>
              </a:ln>
            </p:spPr>
          </p:sp>
        </p:grpSp>
        <p:grpSp>
          <p:nvGrpSpPr>
            <p:cNvPr id="207" name="mrow-5"/>
            <p:cNvGrpSpPr/>
            <p:nvPr/>
          </p:nvGrpSpPr>
          <p:grpSpPr>
            <a:xfrm>
              <a:off x="5295900" y="3352800"/>
              <a:ext cx="6667500" cy="419100"/>
              <a:chOff x="5295900" y="3352800"/>
              <a:chExt cx="6667500" cy="419100"/>
            </a:xfrm>
          </p:grpSpPr>
          <p:sp>
            <p:nvSpPr>
              <p:cNvPr id="190" name="Rectangle 190"/>
              <p:cNvSpPr/>
              <p:nvPr/>
            </p:nvSpPr>
            <p:spPr>
              <a:xfrm>
                <a:off x="5295900" y="3352800"/>
                <a:ext cx="1143000" cy="419100"/>
              </a:xfrm>
              <a:prstGeom prst="rect">
                <a:avLst/>
              </a:prstGeom>
              <a:solidFill>
                <a:srgbClr val="FFFFFF"/>
              </a:solidFill>
              <a:ln w="9525">
                <a:solidFill>
                  <a:srgbClr val="C7D2E4"/>
                </a:solidFill>
              </a:ln>
            </p:spPr>
          </p:sp>
          <p:sp>
            <p:nvSpPr>
              <p:cNvPr id="191" name="Ellipse 191"/>
              <p:cNvSpPr/>
              <p:nvPr/>
            </p:nvSpPr>
            <p:spPr>
              <a:xfrm>
                <a:off x="5391150" y="3486150"/>
                <a:ext cx="152400" cy="152400"/>
              </a:xfrm>
              <a:prstGeom prst="ellipse">
                <a:avLst/>
              </a:prstGeom>
              <a:solidFill>
                <a:srgbClr val="4E0D00"/>
              </a:solidFill>
              <a:ln>
                <a:noFill/>
              </a:ln>
            </p:spPr>
          </p:sp>
          <p:sp>
            <p:nvSpPr>
              <p:cNvPr id="192" name="TextBox 192"/>
              <p:cNvSpPr txBox="1"/>
              <p:nvPr/>
            </p:nvSpPr>
            <p:spPr>
              <a:xfrm>
                <a:off x="5436155" y="352282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5</a:t>
                </a:r>
              </a:p>
            </p:txBody>
          </p:sp>
          <p:sp>
            <p:nvSpPr>
              <p:cNvPr id="193" name="TextBox 193"/>
              <p:cNvSpPr txBox="1"/>
              <p:nvPr/>
            </p:nvSpPr>
            <p:spPr>
              <a:xfrm>
                <a:off x="5595938" y="3460909"/>
                <a:ext cx="558775"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行业解决方案</a:t>
                </a:r>
              </a:p>
            </p:txBody>
          </p:sp>
          <p:sp>
            <p:nvSpPr>
              <p:cNvPr id="194" name="TextBox 194"/>
              <p:cNvSpPr txBox="1"/>
              <p:nvPr/>
            </p:nvSpPr>
            <p:spPr>
              <a:xfrm>
                <a:off x="5595938" y="3594259"/>
                <a:ext cx="192608" cy="133350"/>
              </a:xfrm>
              <a:prstGeom prst="rect">
                <a:avLst/>
              </a:prstGeom>
              <a:noFill/>
              <a:ln>
                <a:noFill/>
              </a:ln>
            </p:spPr>
            <p:txBody>
              <a:bodyPr wrap="none" lIns="0" tIns="0" rIns="0" bIns="0" anchor="t" anchorCtr="0">
                <a:spAutoFit/>
              </a:bodyPr>
              <a:lstStyle/>
              <a:p>
                <a:pPr algn="l"/>
                <a:r>
                  <a:rPr lang="zh-CN" sz="680" dirty="0">
                    <a:solidFill>
                      <a:srgbClr val="453633"/>
                    </a:solidFill>
                    <a:latin typeface="+mn-lt"/>
                    <a:ea typeface="+mn-ea"/>
                    <a:cs typeface="+mn-cs"/>
                  </a:rPr>
                  <a:t>并购</a:t>
                </a:r>
              </a:p>
            </p:txBody>
          </p:sp>
          <p:sp>
            <p:nvSpPr>
              <p:cNvPr id="195" name="Rectangle 195"/>
              <p:cNvSpPr/>
              <p:nvPr/>
            </p:nvSpPr>
            <p:spPr>
              <a:xfrm>
                <a:off x="6438900" y="3352800"/>
                <a:ext cx="1104900" cy="419100"/>
              </a:xfrm>
              <a:prstGeom prst="rect">
                <a:avLst/>
              </a:prstGeom>
              <a:solidFill>
                <a:srgbClr val="FFFFFF"/>
              </a:solidFill>
              <a:ln w="9525">
                <a:solidFill>
                  <a:srgbClr val="C7D2E4"/>
                </a:solidFill>
              </a:ln>
            </p:spPr>
          </p:sp>
          <p:sp>
            <p:nvSpPr>
              <p:cNvPr id="196" name="TextBox 196"/>
              <p:cNvSpPr txBox="1"/>
              <p:nvPr/>
            </p:nvSpPr>
            <p:spPr>
              <a:xfrm>
                <a:off x="6916619" y="35128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95</a:t>
                </a:r>
              </a:p>
            </p:txBody>
          </p:sp>
          <p:sp>
            <p:nvSpPr>
              <p:cNvPr id="197" name="Rectangle 197"/>
              <p:cNvSpPr/>
              <p:nvPr/>
            </p:nvSpPr>
            <p:spPr>
              <a:xfrm>
                <a:off x="7543800" y="3352800"/>
                <a:ext cx="1104900" cy="419100"/>
              </a:xfrm>
              <a:prstGeom prst="rect">
                <a:avLst/>
              </a:prstGeom>
              <a:solidFill>
                <a:srgbClr val="F7F9FC"/>
              </a:solidFill>
              <a:ln w="9525">
                <a:solidFill>
                  <a:srgbClr val="C7D2E4"/>
                </a:solidFill>
              </a:ln>
            </p:spPr>
          </p:sp>
          <p:sp>
            <p:nvSpPr>
              <p:cNvPr id="198" name="TextBox 198"/>
              <p:cNvSpPr txBox="1"/>
              <p:nvPr/>
            </p:nvSpPr>
            <p:spPr>
              <a:xfrm>
                <a:off x="8021519" y="35128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65</a:t>
                </a:r>
              </a:p>
            </p:txBody>
          </p:sp>
          <p:sp>
            <p:nvSpPr>
              <p:cNvPr id="199" name="Rectangle 199"/>
              <p:cNvSpPr/>
              <p:nvPr/>
            </p:nvSpPr>
            <p:spPr>
              <a:xfrm>
                <a:off x="8648700" y="3352800"/>
                <a:ext cx="1104900" cy="419100"/>
              </a:xfrm>
              <a:prstGeom prst="rect">
                <a:avLst/>
              </a:prstGeom>
              <a:solidFill>
                <a:srgbClr val="FFFFFF"/>
              </a:solidFill>
              <a:ln w="9525">
                <a:solidFill>
                  <a:srgbClr val="C7D2E4"/>
                </a:solidFill>
              </a:ln>
            </p:spPr>
          </p:sp>
          <p:sp>
            <p:nvSpPr>
              <p:cNvPr id="200" name="TextBox 200"/>
              <p:cNvSpPr txBox="1"/>
              <p:nvPr/>
            </p:nvSpPr>
            <p:spPr>
              <a:xfrm>
                <a:off x="9126419" y="35128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35</a:t>
                </a:r>
              </a:p>
            </p:txBody>
          </p:sp>
          <p:sp>
            <p:nvSpPr>
              <p:cNvPr id="201" name="Rectangle 201"/>
              <p:cNvSpPr/>
              <p:nvPr/>
            </p:nvSpPr>
            <p:spPr>
              <a:xfrm>
                <a:off x="9753600" y="3352800"/>
                <a:ext cx="1104900" cy="419100"/>
              </a:xfrm>
              <a:prstGeom prst="rect">
                <a:avLst/>
              </a:prstGeom>
              <a:solidFill>
                <a:srgbClr val="F7F9FC"/>
              </a:solidFill>
              <a:ln w="9525">
                <a:solidFill>
                  <a:srgbClr val="C7D2E4"/>
                </a:solidFill>
              </a:ln>
            </p:spPr>
          </p:sp>
          <p:sp>
            <p:nvSpPr>
              <p:cNvPr id="202" name="TextBox 202"/>
              <p:cNvSpPr txBox="1"/>
              <p:nvPr/>
            </p:nvSpPr>
            <p:spPr>
              <a:xfrm>
                <a:off x="10231319" y="3512820"/>
                <a:ext cx="149462" cy="176212"/>
              </a:xfrm>
              <a:prstGeom prst="rect">
                <a:avLst/>
              </a:prstGeom>
              <a:noFill/>
              <a:ln>
                <a:noFill/>
              </a:ln>
            </p:spPr>
            <p:txBody>
              <a:bodyPr wrap="none" lIns="0" tIns="0" rIns="0" bIns="0" anchor="t" anchorCtr="0">
                <a:spAutoFit/>
              </a:bodyPr>
              <a:lstStyle/>
              <a:p>
                <a:pPr algn="ctr"/>
                <a:r>
                  <a:rPr lang="zh-CN" sz="900" b="1" dirty="0">
                    <a:solidFill>
                      <a:srgbClr val="55251B"/>
                    </a:solidFill>
                    <a:latin typeface="+mn-lt"/>
                    <a:ea typeface="+mn-ea"/>
                    <a:cs typeface="+mn-cs"/>
                  </a:rPr>
                  <a:t>45</a:t>
                </a:r>
              </a:p>
            </p:txBody>
          </p:sp>
          <p:sp>
            <p:nvSpPr>
              <p:cNvPr id="203" name="Rectangle 203"/>
              <p:cNvSpPr/>
              <p:nvPr/>
            </p:nvSpPr>
            <p:spPr>
              <a:xfrm>
                <a:off x="10858500" y="3352800"/>
                <a:ext cx="1104900" cy="419100"/>
              </a:xfrm>
              <a:prstGeom prst="rect">
                <a:avLst/>
              </a:prstGeom>
              <a:solidFill>
                <a:srgbClr val="FFFFFF"/>
              </a:solidFill>
              <a:ln w="9525">
                <a:solidFill>
                  <a:srgbClr val="C7D2E4"/>
                </a:solidFill>
              </a:ln>
            </p:spPr>
          </p:sp>
          <p:sp>
            <p:nvSpPr>
              <p:cNvPr id="204" name="TextBox 204"/>
              <p:cNvSpPr txBox="1"/>
              <p:nvPr/>
            </p:nvSpPr>
            <p:spPr>
              <a:xfrm>
                <a:off x="11242356" y="3429952"/>
                <a:ext cx="337189" cy="205359"/>
              </a:xfrm>
              <a:prstGeom prst="rect">
                <a:avLst/>
              </a:prstGeom>
              <a:noFill/>
              <a:ln>
                <a:noFill/>
              </a:ln>
            </p:spPr>
            <p:txBody>
              <a:bodyPr wrap="none" lIns="0" tIns="0" rIns="0" bIns="0" anchor="t" anchorCtr="0">
                <a:spAutoFit/>
              </a:bodyPr>
              <a:lstStyle/>
              <a:p>
                <a:pPr algn="ctr"/>
                <a:r>
                  <a:rPr lang="zh-CN" sz="1050" b="1" dirty="0">
                    <a:solidFill>
                      <a:srgbClr val="4E0D00"/>
                    </a:solidFill>
                    <a:latin typeface="+mn-lt"/>
                    <a:ea typeface="+mn-ea"/>
                    <a:cs typeface="+mn-cs"/>
                  </a:rPr>
                  <a:t>61.3</a:t>
                </a:r>
              </a:p>
            </p:txBody>
          </p:sp>
          <p:sp>
            <p:nvSpPr>
              <p:cNvPr id="205" name="Rectangle 205"/>
              <p:cNvSpPr/>
              <p:nvPr/>
            </p:nvSpPr>
            <p:spPr>
              <a:xfrm>
                <a:off x="10934700" y="3609975"/>
                <a:ext cx="952500" cy="47625"/>
              </a:xfrm>
              <a:prstGeom prst="roundRect">
                <a:avLst>
                  <a:gd name="adj" fmla="val 50000"/>
                </a:avLst>
              </a:prstGeom>
              <a:solidFill>
                <a:srgbClr val="E2E8F2"/>
              </a:solidFill>
              <a:ln>
                <a:noFill/>
              </a:ln>
            </p:spPr>
          </p:sp>
          <p:sp>
            <p:nvSpPr>
              <p:cNvPr id="206" name="Rectangle 206"/>
              <p:cNvSpPr/>
              <p:nvPr/>
            </p:nvSpPr>
            <p:spPr>
              <a:xfrm>
                <a:off x="10934700" y="3609975"/>
                <a:ext cx="581025" cy="47625"/>
              </a:xfrm>
              <a:prstGeom prst="roundRect">
                <a:avLst>
                  <a:gd name="adj" fmla="val 50000"/>
                </a:avLst>
              </a:prstGeom>
              <a:solidFill>
                <a:srgbClr val="711E0D"/>
              </a:solidFill>
              <a:ln>
                <a:noFill/>
              </a:ln>
            </p:spPr>
          </p:sp>
        </p:grpSp>
        <p:sp>
          <p:nvSpPr>
            <p:cNvPr id="208" name="Rectangle 208"/>
            <p:cNvSpPr/>
            <p:nvPr/>
          </p:nvSpPr>
          <p:spPr>
            <a:xfrm>
              <a:off x="5295900" y="3829050"/>
              <a:ext cx="6667500" cy="247650"/>
            </a:xfrm>
            <a:prstGeom prst="rect">
              <a:avLst/>
            </a:prstGeom>
            <a:solidFill>
              <a:srgbClr val="EFF3FA"/>
            </a:solidFill>
            <a:ln w="9525">
              <a:solidFill>
                <a:srgbClr val="C7D2E4"/>
              </a:solidFill>
            </a:ln>
          </p:spPr>
        </p:sp>
        <p:sp>
          <p:nvSpPr>
            <p:cNvPr id="209" name="TextBox 209"/>
            <p:cNvSpPr txBox="1"/>
            <p:nvPr/>
          </p:nvSpPr>
          <p:spPr>
            <a:xfrm>
              <a:off x="6998678" y="3922157"/>
              <a:ext cx="3261944" cy="126206"/>
            </a:xfrm>
            <a:prstGeom prst="rect">
              <a:avLst/>
            </a:prstGeom>
            <a:noFill/>
            <a:ln>
              <a:noFill/>
            </a:ln>
          </p:spPr>
          <p:txBody>
            <a:bodyPr wrap="none" lIns="0" tIns="0" rIns="0" bIns="0" anchor="t" anchorCtr="0">
              <a:spAutoFit/>
            </a:bodyPr>
            <a:lstStyle/>
            <a:p>
              <a:pPr algn="ctr"/>
              <a:r>
                <a:rPr lang="zh-CN" sz="640" dirty="0">
                  <a:solidFill>
                    <a:srgbClr val="6E5955"/>
                  </a:solidFill>
                  <a:latin typeface="+mn-lt"/>
                  <a:ea typeface="+mn-ea"/>
                  <a:cs typeface="+mn-cs"/>
                </a:rPr>
                <a:t>评分说明：各维度0–100分，按权重加权求和得到综合优先级；分值越高优先级越高。</a:t>
              </a:r>
            </a:p>
          </p:txBody>
        </p:sp>
      </p:grpSp>
      <p:grpSp>
        <p:nvGrpSpPr>
          <p:cNvPr id="306" name="flow"/>
          <p:cNvGrpSpPr/>
          <p:nvPr/>
        </p:nvGrpSpPr>
        <p:grpSpPr>
          <a:xfrm>
            <a:off x="228600" y="4519851"/>
            <a:ext cx="11734800" cy="2166699"/>
            <a:chOff x="228600" y="4519851"/>
            <a:chExt cx="11734800" cy="2166699"/>
          </a:xfrm>
        </p:grpSpPr>
        <p:sp>
          <p:nvSpPr>
            <p:cNvPr id="211" name="TextBox 211"/>
            <p:cNvSpPr txBox="1"/>
            <p:nvPr/>
          </p:nvSpPr>
          <p:spPr>
            <a:xfrm>
              <a:off x="5546992" y="4519851"/>
              <a:ext cx="1098017" cy="198025"/>
            </a:xfrm>
            <a:prstGeom prst="rect">
              <a:avLst/>
            </a:prstGeom>
            <a:noFill/>
            <a:ln>
              <a:noFill/>
            </a:ln>
          </p:spPr>
          <p:txBody>
            <a:bodyPr wrap="none" lIns="0" tIns="0" rIns="0" bIns="0" anchor="t" anchorCtr="0">
              <a:spAutoFit/>
            </a:bodyPr>
            <a:lstStyle/>
            <a:p>
              <a:pPr algn="ctr"/>
              <a:r>
                <a:rPr lang="zh-CN" sz="1010" b="1" dirty="0">
                  <a:solidFill>
                    <a:srgbClr val="4E0D00"/>
                  </a:solidFill>
                  <a:latin typeface="+mn-lt"/>
                  <a:ea typeface="+mn-ea"/>
                  <a:cs typeface="+mn-cs"/>
                </a:rPr>
                <a:t>机会组合管理流程</a:t>
              </a:r>
            </a:p>
          </p:txBody>
        </p:sp>
        <p:sp>
          <p:nvSpPr>
            <p:cNvPr id="212" name="Line 212"/>
            <p:cNvSpPr/>
            <p:nvPr/>
          </p:nvSpPr>
          <p:spPr>
            <a:xfrm>
              <a:off x="4762500" y="4581525"/>
              <a:ext cx="533400" cy="9525"/>
            </a:xfrm>
            <a:custGeom>
              <a:avLst/>
              <a:gdLst/>
              <a:ahLst/>
              <a:cxnLst/>
              <a:rect l="l" t="t" r="r" b="b"/>
              <a:pathLst>
                <a:path w="533400" h="9525">
                  <a:moveTo>
                    <a:pt x="0" y="0"/>
                  </a:moveTo>
                  <a:lnTo>
                    <a:pt x="533400" y="0"/>
                  </a:lnTo>
                </a:path>
              </a:pathLst>
            </a:custGeom>
            <a:noFill/>
            <a:ln w="9525">
              <a:solidFill>
                <a:srgbClr val="C9D3E4"/>
              </a:solidFill>
            </a:ln>
          </p:spPr>
        </p:sp>
        <p:sp>
          <p:nvSpPr>
            <p:cNvPr id="213" name="Line 213"/>
            <p:cNvSpPr/>
            <p:nvPr/>
          </p:nvSpPr>
          <p:spPr>
            <a:xfrm>
              <a:off x="6896100" y="4581525"/>
              <a:ext cx="533400" cy="9525"/>
            </a:xfrm>
            <a:custGeom>
              <a:avLst/>
              <a:gdLst/>
              <a:ahLst/>
              <a:cxnLst/>
              <a:rect l="l" t="t" r="r" b="b"/>
              <a:pathLst>
                <a:path w="533400" h="9525">
                  <a:moveTo>
                    <a:pt x="0" y="0"/>
                  </a:moveTo>
                  <a:lnTo>
                    <a:pt x="533400" y="0"/>
                  </a:lnTo>
                </a:path>
              </a:pathLst>
            </a:custGeom>
            <a:noFill/>
            <a:ln w="9525">
              <a:solidFill>
                <a:srgbClr val="C9D3E4"/>
              </a:solidFill>
            </a:ln>
          </p:spPr>
        </p:sp>
        <p:sp>
          <p:nvSpPr>
            <p:cNvPr id="214" name="Rectangle 214"/>
            <p:cNvSpPr/>
            <p:nvPr/>
          </p:nvSpPr>
          <p:spPr>
            <a:xfrm>
              <a:off x="228600" y="4743450"/>
              <a:ext cx="2209800" cy="1943100"/>
            </a:xfrm>
            <a:prstGeom prst="rect">
              <a:avLst/>
            </a:prstGeom>
            <a:solidFill>
              <a:srgbClr val="FFFFFF"/>
            </a:solidFill>
            <a:ln w="9525">
              <a:solidFill>
                <a:srgbClr val="C7D2E4"/>
              </a:solidFill>
            </a:ln>
          </p:spPr>
        </p:sp>
        <p:sp>
          <p:nvSpPr>
            <p:cNvPr id="215" name="Ellipse 215"/>
            <p:cNvSpPr/>
            <p:nvPr/>
          </p:nvSpPr>
          <p:spPr>
            <a:xfrm>
              <a:off x="333375" y="4867275"/>
              <a:ext cx="171450" cy="171450"/>
            </a:xfrm>
            <a:prstGeom prst="ellipse">
              <a:avLst/>
            </a:prstGeom>
            <a:solidFill>
              <a:srgbClr val="4E0D00"/>
            </a:solidFill>
            <a:ln>
              <a:noFill/>
            </a:ln>
          </p:spPr>
        </p:sp>
        <p:sp>
          <p:nvSpPr>
            <p:cNvPr id="216" name="TextBox 216"/>
            <p:cNvSpPr txBox="1"/>
            <p:nvPr/>
          </p:nvSpPr>
          <p:spPr>
            <a:xfrm>
              <a:off x="387905" y="491347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1</a:t>
              </a:r>
            </a:p>
          </p:txBody>
        </p:sp>
        <p:sp>
          <p:nvSpPr>
            <p:cNvPr id="217" name="TextBox 217"/>
            <p:cNvSpPr txBox="1"/>
            <p:nvPr/>
          </p:nvSpPr>
          <p:spPr>
            <a:xfrm>
              <a:off x="547688" y="4897993"/>
              <a:ext cx="472618" cy="169069"/>
            </a:xfrm>
            <a:prstGeom prst="rect">
              <a:avLst/>
            </a:prstGeom>
            <a:noFill/>
            <a:ln>
              <a:noFill/>
            </a:ln>
          </p:spPr>
          <p:txBody>
            <a:bodyPr wrap="none" lIns="0" tIns="0" rIns="0" bIns="0" anchor="t" anchorCtr="0">
              <a:spAutoFit/>
            </a:bodyPr>
            <a:lstStyle/>
            <a:p>
              <a:pPr algn="l"/>
              <a:r>
                <a:rPr lang="zh-CN" sz="860" b="1" dirty="0">
                  <a:solidFill>
                    <a:srgbClr val="4E0D00"/>
                  </a:solidFill>
                  <a:latin typeface="+mn-lt"/>
                  <a:ea typeface="+mn-ea"/>
                  <a:cs typeface="+mn-cs"/>
                </a:rPr>
                <a:t>机会识别</a:t>
              </a:r>
            </a:p>
          </p:txBody>
        </p:sp>
        <p:grpSp>
          <p:nvGrpSpPr>
            <p:cNvPr id="220" name="Group 220"/>
            <p:cNvGrpSpPr/>
            <p:nvPr/>
          </p:nvGrpSpPr>
          <p:grpSpPr>
            <a:xfrm>
              <a:off x="2155031" y="4879181"/>
              <a:ext cx="128587" cy="128587"/>
              <a:chOff x="2155031" y="4879181"/>
              <a:chExt cx="128587" cy="128587"/>
            </a:xfrm>
          </p:grpSpPr>
          <p:sp>
            <p:nvSpPr>
              <p:cNvPr id="218" name="Freeform 218"/>
              <p:cNvSpPr/>
              <p:nvPr/>
            </p:nvSpPr>
            <p:spPr>
              <a:xfrm>
                <a:off x="2155031" y="4879181"/>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4288">
                <a:solidFill>
                  <a:srgbClr val="4E0D00"/>
                </a:solidFill>
              </a:ln>
            </p:spPr>
          </p:sp>
          <p:sp>
            <p:nvSpPr>
              <p:cNvPr id="219" name="Freeform 219"/>
              <p:cNvSpPr/>
              <p:nvPr/>
            </p:nvSpPr>
            <p:spPr>
              <a:xfrm>
                <a:off x="2240756" y="4964906"/>
                <a:ext cx="42862" cy="42862"/>
              </a:xfrm>
              <a:custGeom>
                <a:avLst/>
                <a:gdLst/>
                <a:ahLst/>
                <a:cxnLst/>
                <a:rect l="l" t="t" r="r" b="b"/>
                <a:pathLst>
                  <a:path w="42862" h="42862">
                    <a:moveTo>
                      <a:pt x="42862" y="42862"/>
                    </a:moveTo>
                    <a:lnTo>
                      <a:pt x="0" y="0"/>
                    </a:lnTo>
                  </a:path>
                </a:pathLst>
              </a:custGeom>
              <a:noFill/>
              <a:ln w="14288">
                <a:solidFill>
                  <a:srgbClr val="4E0D00"/>
                </a:solidFill>
              </a:ln>
            </p:spPr>
          </p:sp>
        </p:grpSp>
        <p:sp>
          <p:nvSpPr>
            <p:cNvPr id="221" name="Line 221"/>
            <p:cNvSpPr/>
            <p:nvPr/>
          </p:nvSpPr>
          <p:spPr>
            <a:xfrm>
              <a:off x="361950" y="5105400"/>
              <a:ext cx="1943100" cy="9525"/>
            </a:xfrm>
            <a:custGeom>
              <a:avLst/>
              <a:gdLst/>
              <a:ahLst/>
              <a:cxnLst/>
              <a:rect l="l" t="t" r="r" b="b"/>
              <a:pathLst>
                <a:path w="1943100" h="9525">
                  <a:moveTo>
                    <a:pt x="0" y="0"/>
                  </a:moveTo>
                  <a:lnTo>
                    <a:pt x="1943100" y="0"/>
                  </a:lnTo>
                </a:path>
              </a:pathLst>
            </a:custGeom>
            <a:noFill/>
            <a:ln w="9525">
              <a:solidFill>
                <a:srgbClr val="E2E8F2"/>
              </a:solidFill>
            </a:ln>
          </p:spPr>
        </p:sp>
        <p:sp>
          <p:nvSpPr>
            <p:cNvPr id="222" name="Ellipse 222"/>
            <p:cNvSpPr/>
            <p:nvPr/>
          </p:nvSpPr>
          <p:spPr>
            <a:xfrm>
              <a:off x="401955" y="5240655"/>
              <a:ext cx="34290" cy="34290"/>
            </a:xfrm>
            <a:prstGeom prst="ellipse">
              <a:avLst/>
            </a:prstGeom>
            <a:solidFill>
              <a:srgbClr val="711E0D"/>
            </a:solidFill>
            <a:ln>
              <a:noFill/>
            </a:ln>
          </p:spPr>
        </p:sp>
        <p:sp>
          <p:nvSpPr>
            <p:cNvPr id="223" name="TextBox 223"/>
            <p:cNvSpPr txBox="1"/>
            <p:nvPr/>
          </p:nvSpPr>
          <p:spPr>
            <a:xfrm>
              <a:off x="490538" y="52223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内部洞察与数据分析</a:t>
              </a:r>
            </a:p>
          </p:txBody>
        </p:sp>
        <p:sp>
          <p:nvSpPr>
            <p:cNvPr id="224" name="Ellipse 224"/>
            <p:cNvSpPr/>
            <p:nvPr/>
          </p:nvSpPr>
          <p:spPr>
            <a:xfrm>
              <a:off x="401955" y="5431155"/>
              <a:ext cx="34290" cy="34290"/>
            </a:xfrm>
            <a:prstGeom prst="ellipse">
              <a:avLst/>
            </a:prstGeom>
            <a:solidFill>
              <a:srgbClr val="711E0D"/>
            </a:solidFill>
            <a:ln>
              <a:noFill/>
            </a:ln>
          </p:spPr>
        </p:sp>
        <p:sp>
          <p:nvSpPr>
            <p:cNvPr id="225" name="TextBox 225"/>
            <p:cNvSpPr txBox="1"/>
            <p:nvPr/>
          </p:nvSpPr>
          <p:spPr>
            <a:xfrm>
              <a:off x="490538" y="54128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客户需求与痛点挖掘</a:t>
              </a:r>
            </a:p>
          </p:txBody>
        </p:sp>
        <p:sp>
          <p:nvSpPr>
            <p:cNvPr id="226" name="Ellipse 226"/>
            <p:cNvSpPr/>
            <p:nvPr/>
          </p:nvSpPr>
          <p:spPr>
            <a:xfrm>
              <a:off x="401955" y="5621655"/>
              <a:ext cx="34290" cy="34290"/>
            </a:xfrm>
            <a:prstGeom prst="ellipse">
              <a:avLst/>
            </a:prstGeom>
            <a:solidFill>
              <a:srgbClr val="711E0D"/>
            </a:solidFill>
            <a:ln>
              <a:noFill/>
            </a:ln>
          </p:spPr>
        </p:sp>
        <p:sp>
          <p:nvSpPr>
            <p:cNvPr id="227" name="TextBox 227"/>
            <p:cNvSpPr txBox="1"/>
            <p:nvPr/>
          </p:nvSpPr>
          <p:spPr>
            <a:xfrm>
              <a:off x="490538" y="56033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市场趋势与标杆研究</a:t>
              </a:r>
            </a:p>
          </p:txBody>
        </p:sp>
        <p:sp>
          <p:nvSpPr>
            <p:cNvPr id="228" name="Ellipse 228"/>
            <p:cNvSpPr/>
            <p:nvPr/>
          </p:nvSpPr>
          <p:spPr>
            <a:xfrm>
              <a:off x="401955" y="5812155"/>
              <a:ext cx="34290" cy="34290"/>
            </a:xfrm>
            <a:prstGeom prst="ellipse">
              <a:avLst/>
            </a:prstGeom>
            <a:solidFill>
              <a:srgbClr val="711E0D"/>
            </a:solidFill>
            <a:ln>
              <a:noFill/>
            </a:ln>
          </p:spPr>
        </p:sp>
        <p:sp>
          <p:nvSpPr>
            <p:cNvPr id="229" name="TextBox 229"/>
            <p:cNvSpPr txBox="1"/>
            <p:nvPr/>
          </p:nvSpPr>
          <p:spPr>
            <a:xfrm>
              <a:off x="490538" y="57938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外部生态与合作探索</a:t>
              </a:r>
            </a:p>
          </p:txBody>
        </p:sp>
        <p:sp>
          <p:nvSpPr>
            <p:cNvPr id="230" name="Line 230"/>
            <p:cNvSpPr/>
            <p:nvPr/>
          </p:nvSpPr>
          <p:spPr>
            <a:xfrm>
              <a:off x="2457450" y="5676900"/>
              <a:ext cx="114300" cy="1"/>
            </a:xfrm>
            <a:prstGeom prst="line">
              <a:avLst/>
            </a:prstGeom>
            <a:noFill/>
            <a:ln w="19050">
              <a:solidFill>
                <a:srgbClr val="944130"/>
              </a:solidFill>
              <a:tailEnd type="triangle" w="lg" len="lg"/>
            </a:ln>
          </p:spPr>
        </p:sp>
        <p:sp>
          <p:nvSpPr>
            <p:cNvPr id="231" name="Rectangle 231"/>
            <p:cNvSpPr/>
            <p:nvPr/>
          </p:nvSpPr>
          <p:spPr>
            <a:xfrm>
              <a:off x="2609850" y="4743450"/>
              <a:ext cx="2209800" cy="1943100"/>
            </a:xfrm>
            <a:prstGeom prst="rect">
              <a:avLst/>
            </a:prstGeom>
            <a:solidFill>
              <a:srgbClr val="FFFFFF"/>
            </a:solidFill>
            <a:ln w="9525">
              <a:solidFill>
                <a:srgbClr val="C7D2E4"/>
              </a:solidFill>
            </a:ln>
          </p:spPr>
        </p:sp>
        <p:sp>
          <p:nvSpPr>
            <p:cNvPr id="232" name="Ellipse 232"/>
            <p:cNvSpPr/>
            <p:nvPr/>
          </p:nvSpPr>
          <p:spPr>
            <a:xfrm>
              <a:off x="2714625" y="4867275"/>
              <a:ext cx="171450" cy="171450"/>
            </a:xfrm>
            <a:prstGeom prst="ellipse">
              <a:avLst/>
            </a:prstGeom>
            <a:solidFill>
              <a:srgbClr val="4E0D00"/>
            </a:solidFill>
            <a:ln>
              <a:noFill/>
            </a:ln>
          </p:spPr>
        </p:sp>
        <p:sp>
          <p:nvSpPr>
            <p:cNvPr id="233" name="TextBox 233"/>
            <p:cNvSpPr txBox="1"/>
            <p:nvPr/>
          </p:nvSpPr>
          <p:spPr>
            <a:xfrm>
              <a:off x="2769155" y="491347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2</a:t>
              </a:r>
            </a:p>
          </p:txBody>
        </p:sp>
        <p:sp>
          <p:nvSpPr>
            <p:cNvPr id="234" name="TextBox 234"/>
            <p:cNvSpPr txBox="1"/>
            <p:nvPr/>
          </p:nvSpPr>
          <p:spPr>
            <a:xfrm>
              <a:off x="2928938" y="4897993"/>
              <a:ext cx="472618" cy="169069"/>
            </a:xfrm>
            <a:prstGeom prst="rect">
              <a:avLst/>
            </a:prstGeom>
            <a:noFill/>
            <a:ln>
              <a:noFill/>
            </a:ln>
          </p:spPr>
          <p:txBody>
            <a:bodyPr wrap="none" lIns="0" tIns="0" rIns="0" bIns="0" anchor="t" anchorCtr="0">
              <a:spAutoFit/>
            </a:bodyPr>
            <a:lstStyle/>
            <a:p>
              <a:pPr algn="l"/>
              <a:r>
                <a:rPr lang="zh-CN" sz="860" b="1" dirty="0">
                  <a:solidFill>
                    <a:srgbClr val="4E0D00"/>
                  </a:solidFill>
                  <a:latin typeface="+mn-lt"/>
                  <a:ea typeface="+mn-ea"/>
                  <a:cs typeface="+mn-cs"/>
                </a:rPr>
                <a:t>量化评分</a:t>
              </a:r>
            </a:p>
          </p:txBody>
        </p:sp>
        <p:grpSp>
          <p:nvGrpSpPr>
            <p:cNvPr id="239" name="Group 239"/>
            <p:cNvGrpSpPr/>
            <p:nvPr/>
          </p:nvGrpSpPr>
          <p:grpSpPr>
            <a:xfrm>
              <a:off x="4536281" y="4886325"/>
              <a:ext cx="128587" cy="123825"/>
              <a:chOff x="4536281" y="4886325"/>
              <a:chExt cx="128587" cy="123825"/>
            </a:xfrm>
          </p:grpSpPr>
          <p:sp>
            <p:nvSpPr>
              <p:cNvPr id="235" name="Freeform 235"/>
              <p:cNvSpPr/>
              <p:nvPr/>
            </p:nvSpPr>
            <p:spPr>
              <a:xfrm>
                <a:off x="4536281" y="494347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4E0D00"/>
                </a:solidFill>
              </a:ln>
            </p:spPr>
          </p:sp>
          <p:sp>
            <p:nvSpPr>
              <p:cNvPr id="236" name="Freeform 236"/>
              <p:cNvSpPr/>
              <p:nvPr/>
            </p:nvSpPr>
            <p:spPr>
              <a:xfrm>
                <a:off x="4622006" y="491490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4E0D00"/>
                </a:solidFill>
              </a:ln>
            </p:spPr>
          </p:sp>
          <p:sp>
            <p:nvSpPr>
              <p:cNvPr id="237" name="Freeform 237"/>
              <p:cNvSpPr/>
              <p:nvPr/>
            </p:nvSpPr>
            <p:spPr>
              <a:xfrm>
                <a:off x="4579144" y="488632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4E0D00"/>
                </a:solidFill>
              </a:ln>
            </p:spPr>
          </p:sp>
          <p:sp>
            <p:nvSpPr>
              <p:cNvPr id="238" name="Freeform 238"/>
              <p:cNvSpPr/>
              <p:nvPr/>
            </p:nvSpPr>
            <p:spPr>
              <a:xfrm>
                <a:off x="4543425" y="5000625"/>
                <a:ext cx="100012" cy="9525"/>
              </a:xfrm>
              <a:custGeom>
                <a:avLst/>
                <a:gdLst/>
                <a:ahLst/>
                <a:cxnLst/>
                <a:rect l="l" t="t" r="r" b="b"/>
                <a:pathLst>
                  <a:path w="100012" h="9525">
                    <a:moveTo>
                      <a:pt x="0" y="0"/>
                    </a:moveTo>
                    <a:lnTo>
                      <a:pt x="100012" y="0"/>
                    </a:lnTo>
                  </a:path>
                </a:pathLst>
              </a:custGeom>
              <a:noFill/>
              <a:ln w="14288">
                <a:solidFill>
                  <a:srgbClr val="4E0D00"/>
                </a:solidFill>
              </a:ln>
            </p:spPr>
          </p:sp>
        </p:grpSp>
        <p:sp>
          <p:nvSpPr>
            <p:cNvPr id="240" name="Line 240"/>
            <p:cNvSpPr/>
            <p:nvPr/>
          </p:nvSpPr>
          <p:spPr>
            <a:xfrm>
              <a:off x="2743200" y="5105400"/>
              <a:ext cx="1943100" cy="9525"/>
            </a:xfrm>
            <a:custGeom>
              <a:avLst/>
              <a:gdLst/>
              <a:ahLst/>
              <a:cxnLst/>
              <a:rect l="l" t="t" r="r" b="b"/>
              <a:pathLst>
                <a:path w="1943100" h="9525">
                  <a:moveTo>
                    <a:pt x="0" y="0"/>
                  </a:moveTo>
                  <a:lnTo>
                    <a:pt x="1943100" y="0"/>
                  </a:lnTo>
                </a:path>
              </a:pathLst>
            </a:custGeom>
            <a:noFill/>
            <a:ln w="9525">
              <a:solidFill>
                <a:srgbClr val="E2E8F2"/>
              </a:solidFill>
            </a:ln>
          </p:spPr>
        </p:sp>
        <p:sp>
          <p:nvSpPr>
            <p:cNvPr id="241" name="Ellipse 241"/>
            <p:cNvSpPr/>
            <p:nvPr/>
          </p:nvSpPr>
          <p:spPr>
            <a:xfrm>
              <a:off x="2783205" y="5240655"/>
              <a:ext cx="34290" cy="34290"/>
            </a:xfrm>
            <a:prstGeom prst="ellipse">
              <a:avLst/>
            </a:prstGeom>
            <a:solidFill>
              <a:srgbClr val="711E0D"/>
            </a:solidFill>
            <a:ln>
              <a:noFill/>
            </a:ln>
          </p:spPr>
        </p:sp>
        <p:sp>
          <p:nvSpPr>
            <p:cNvPr id="242" name="TextBox 242"/>
            <p:cNvSpPr txBox="1"/>
            <p:nvPr/>
          </p:nvSpPr>
          <p:spPr>
            <a:xfrm>
              <a:off x="2871788" y="5222319"/>
              <a:ext cx="61262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按统一标准打分</a:t>
              </a:r>
            </a:p>
          </p:txBody>
        </p:sp>
        <p:sp>
          <p:nvSpPr>
            <p:cNvPr id="243" name="Ellipse 243"/>
            <p:cNvSpPr/>
            <p:nvPr/>
          </p:nvSpPr>
          <p:spPr>
            <a:xfrm>
              <a:off x="2783205" y="5431155"/>
              <a:ext cx="34290" cy="34290"/>
            </a:xfrm>
            <a:prstGeom prst="ellipse">
              <a:avLst/>
            </a:prstGeom>
            <a:solidFill>
              <a:srgbClr val="711E0D"/>
            </a:solidFill>
            <a:ln>
              <a:noFill/>
            </a:ln>
          </p:spPr>
        </p:sp>
        <p:sp>
          <p:nvSpPr>
            <p:cNvPr id="244" name="TextBox 244"/>
            <p:cNvSpPr txBox="1"/>
            <p:nvPr/>
          </p:nvSpPr>
          <p:spPr>
            <a:xfrm>
              <a:off x="2871788" y="54128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加权计算综合优先级</a:t>
              </a:r>
            </a:p>
          </p:txBody>
        </p:sp>
        <p:sp>
          <p:nvSpPr>
            <p:cNvPr id="245" name="Ellipse 245"/>
            <p:cNvSpPr/>
            <p:nvPr/>
          </p:nvSpPr>
          <p:spPr>
            <a:xfrm>
              <a:off x="2783205" y="5621655"/>
              <a:ext cx="34290" cy="34290"/>
            </a:xfrm>
            <a:prstGeom prst="ellipse">
              <a:avLst/>
            </a:prstGeom>
            <a:solidFill>
              <a:srgbClr val="711E0D"/>
            </a:solidFill>
            <a:ln>
              <a:noFill/>
            </a:ln>
          </p:spPr>
        </p:sp>
        <p:sp>
          <p:nvSpPr>
            <p:cNvPr id="246" name="TextBox 246"/>
            <p:cNvSpPr txBox="1"/>
            <p:nvPr/>
          </p:nvSpPr>
          <p:spPr>
            <a:xfrm>
              <a:off x="2871788" y="5603319"/>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敏感性分析与情景检验</a:t>
              </a:r>
            </a:p>
          </p:txBody>
        </p:sp>
        <p:sp>
          <p:nvSpPr>
            <p:cNvPr id="247" name="Ellipse 247"/>
            <p:cNvSpPr/>
            <p:nvPr/>
          </p:nvSpPr>
          <p:spPr>
            <a:xfrm>
              <a:off x="2783205" y="5812155"/>
              <a:ext cx="34290" cy="34290"/>
            </a:xfrm>
            <a:prstGeom prst="ellipse">
              <a:avLst/>
            </a:prstGeom>
            <a:solidFill>
              <a:srgbClr val="711E0D"/>
            </a:solidFill>
            <a:ln>
              <a:noFill/>
            </a:ln>
          </p:spPr>
        </p:sp>
        <p:sp>
          <p:nvSpPr>
            <p:cNvPr id="248" name="TextBox 248"/>
            <p:cNvSpPr txBox="1"/>
            <p:nvPr/>
          </p:nvSpPr>
          <p:spPr>
            <a:xfrm>
              <a:off x="2871788" y="57938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形成机会清单与排序</a:t>
              </a:r>
            </a:p>
          </p:txBody>
        </p:sp>
        <p:sp>
          <p:nvSpPr>
            <p:cNvPr id="249" name="Line 249"/>
            <p:cNvSpPr/>
            <p:nvPr/>
          </p:nvSpPr>
          <p:spPr>
            <a:xfrm>
              <a:off x="4838700" y="5676900"/>
              <a:ext cx="114300" cy="1"/>
            </a:xfrm>
            <a:prstGeom prst="line">
              <a:avLst/>
            </a:prstGeom>
            <a:noFill/>
            <a:ln w="19050">
              <a:solidFill>
                <a:srgbClr val="944130"/>
              </a:solidFill>
              <a:tailEnd type="triangle" w="lg" len="lg"/>
            </a:ln>
          </p:spPr>
        </p:sp>
        <p:sp>
          <p:nvSpPr>
            <p:cNvPr id="250" name="Rectangle 250"/>
            <p:cNvSpPr/>
            <p:nvPr/>
          </p:nvSpPr>
          <p:spPr>
            <a:xfrm>
              <a:off x="4991100" y="4743450"/>
              <a:ext cx="2209800" cy="1943100"/>
            </a:xfrm>
            <a:prstGeom prst="rect">
              <a:avLst/>
            </a:prstGeom>
            <a:solidFill>
              <a:srgbClr val="FFFFFF"/>
            </a:solidFill>
            <a:ln w="9525">
              <a:solidFill>
                <a:srgbClr val="C7D2E4"/>
              </a:solidFill>
            </a:ln>
          </p:spPr>
        </p:sp>
        <p:sp>
          <p:nvSpPr>
            <p:cNvPr id="251" name="Ellipse 251"/>
            <p:cNvSpPr/>
            <p:nvPr/>
          </p:nvSpPr>
          <p:spPr>
            <a:xfrm>
              <a:off x="5095875" y="4867275"/>
              <a:ext cx="171450" cy="171450"/>
            </a:xfrm>
            <a:prstGeom prst="ellipse">
              <a:avLst/>
            </a:prstGeom>
            <a:solidFill>
              <a:srgbClr val="4E0D00"/>
            </a:solidFill>
            <a:ln>
              <a:noFill/>
            </a:ln>
          </p:spPr>
        </p:sp>
        <p:sp>
          <p:nvSpPr>
            <p:cNvPr id="252" name="TextBox 252"/>
            <p:cNvSpPr txBox="1"/>
            <p:nvPr/>
          </p:nvSpPr>
          <p:spPr>
            <a:xfrm>
              <a:off x="5150405" y="491347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3</a:t>
              </a:r>
            </a:p>
          </p:txBody>
        </p:sp>
        <p:sp>
          <p:nvSpPr>
            <p:cNvPr id="253" name="TextBox 253"/>
            <p:cNvSpPr txBox="1"/>
            <p:nvPr/>
          </p:nvSpPr>
          <p:spPr>
            <a:xfrm>
              <a:off x="5310188" y="4897993"/>
              <a:ext cx="472618" cy="169069"/>
            </a:xfrm>
            <a:prstGeom prst="rect">
              <a:avLst/>
            </a:prstGeom>
            <a:noFill/>
            <a:ln>
              <a:noFill/>
            </a:ln>
          </p:spPr>
          <p:txBody>
            <a:bodyPr wrap="none" lIns="0" tIns="0" rIns="0" bIns="0" anchor="t" anchorCtr="0">
              <a:spAutoFit/>
            </a:bodyPr>
            <a:lstStyle/>
            <a:p>
              <a:pPr algn="l"/>
              <a:r>
                <a:rPr lang="zh-CN" sz="860" b="1" dirty="0">
                  <a:solidFill>
                    <a:srgbClr val="4E0D00"/>
                  </a:solidFill>
                  <a:latin typeface="+mn-lt"/>
                  <a:ea typeface="+mn-ea"/>
                  <a:cs typeface="+mn-cs"/>
                </a:rPr>
                <a:t>组合选择</a:t>
              </a:r>
            </a:p>
          </p:txBody>
        </p:sp>
        <p:grpSp>
          <p:nvGrpSpPr>
            <p:cNvPr id="258" name="Group 258"/>
            <p:cNvGrpSpPr/>
            <p:nvPr/>
          </p:nvGrpSpPr>
          <p:grpSpPr>
            <a:xfrm>
              <a:off x="6924675" y="4886325"/>
              <a:ext cx="114299" cy="114299"/>
              <a:chOff x="6924675" y="4886325"/>
              <a:chExt cx="114299" cy="114299"/>
            </a:xfrm>
          </p:grpSpPr>
          <p:sp>
            <p:nvSpPr>
              <p:cNvPr id="254" name="Freeform 254"/>
              <p:cNvSpPr/>
              <p:nvPr/>
            </p:nvSpPr>
            <p:spPr>
              <a:xfrm>
                <a:off x="6924675" y="4886325"/>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4E0D00"/>
                </a:solidFill>
              </a:ln>
            </p:spPr>
          </p:sp>
          <p:sp>
            <p:nvSpPr>
              <p:cNvPr id="255" name="Freeform 255"/>
              <p:cNvSpPr/>
              <p:nvPr/>
            </p:nvSpPr>
            <p:spPr>
              <a:xfrm>
                <a:off x="6996112" y="4886325"/>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4E0D00"/>
                </a:solidFill>
              </a:ln>
            </p:spPr>
          </p:sp>
          <p:sp>
            <p:nvSpPr>
              <p:cNvPr id="256" name="Freeform 256"/>
              <p:cNvSpPr/>
              <p:nvPr/>
            </p:nvSpPr>
            <p:spPr>
              <a:xfrm>
                <a:off x="6924675" y="4957762"/>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4E0D00"/>
                </a:solidFill>
              </a:ln>
            </p:spPr>
          </p:sp>
          <p:sp>
            <p:nvSpPr>
              <p:cNvPr id="257" name="Freeform 257"/>
              <p:cNvSpPr/>
              <p:nvPr/>
            </p:nvSpPr>
            <p:spPr>
              <a:xfrm>
                <a:off x="6996112" y="4957762"/>
                <a:ext cx="42862" cy="42862"/>
              </a:xfrm>
              <a:custGeom>
                <a:avLst/>
                <a:gdLst/>
                <a:ahLst/>
                <a:cxnLst/>
                <a:rect l="l" t="t" r="r" b="b"/>
                <a:pathLst>
                  <a:path w="42862" h="42862">
                    <a:moveTo>
                      <a:pt x="0" y="7144"/>
                    </a:moveTo>
                    <a:cubicBezTo>
                      <a:pt x="0" y="3198"/>
                      <a:pt x="3198" y="0"/>
                      <a:pt x="7144" y="0"/>
                    </a:cubicBezTo>
                    <a:lnTo>
                      <a:pt x="35719" y="0"/>
                    </a:lnTo>
                    <a:cubicBezTo>
                      <a:pt x="39664" y="0"/>
                      <a:pt x="42862" y="3198"/>
                      <a:pt x="42862" y="7144"/>
                    </a:cubicBezTo>
                    <a:lnTo>
                      <a:pt x="42862" y="35719"/>
                    </a:lnTo>
                    <a:cubicBezTo>
                      <a:pt x="42862" y="39664"/>
                      <a:pt x="39664" y="42862"/>
                      <a:pt x="35719" y="42862"/>
                    </a:cubicBezTo>
                    <a:lnTo>
                      <a:pt x="7144" y="42862"/>
                    </a:lnTo>
                    <a:cubicBezTo>
                      <a:pt x="3198" y="42862"/>
                      <a:pt x="0" y="39664"/>
                      <a:pt x="0" y="35719"/>
                    </a:cubicBezTo>
                    <a:lnTo>
                      <a:pt x="0" y="7144"/>
                    </a:lnTo>
                  </a:path>
                </a:pathLst>
              </a:custGeom>
              <a:noFill/>
              <a:ln w="14288">
                <a:solidFill>
                  <a:srgbClr val="4E0D00"/>
                </a:solidFill>
              </a:ln>
            </p:spPr>
          </p:sp>
        </p:grpSp>
        <p:sp>
          <p:nvSpPr>
            <p:cNvPr id="259" name="Line 259"/>
            <p:cNvSpPr/>
            <p:nvPr/>
          </p:nvSpPr>
          <p:spPr>
            <a:xfrm>
              <a:off x="5124450" y="5105400"/>
              <a:ext cx="1943100" cy="9525"/>
            </a:xfrm>
            <a:custGeom>
              <a:avLst/>
              <a:gdLst/>
              <a:ahLst/>
              <a:cxnLst/>
              <a:rect l="l" t="t" r="r" b="b"/>
              <a:pathLst>
                <a:path w="1943100" h="9525">
                  <a:moveTo>
                    <a:pt x="0" y="0"/>
                  </a:moveTo>
                  <a:lnTo>
                    <a:pt x="1943100" y="0"/>
                  </a:lnTo>
                </a:path>
              </a:pathLst>
            </a:custGeom>
            <a:noFill/>
            <a:ln w="9525">
              <a:solidFill>
                <a:srgbClr val="E2E8F2"/>
              </a:solidFill>
            </a:ln>
          </p:spPr>
        </p:sp>
        <p:sp>
          <p:nvSpPr>
            <p:cNvPr id="260" name="Ellipse 260"/>
            <p:cNvSpPr/>
            <p:nvPr/>
          </p:nvSpPr>
          <p:spPr>
            <a:xfrm>
              <a:off x="5164455" y="5240655"/>
              <a:ext cx="34290" cy="34290"/>
            </a:xfrm>
            <a:prstGeom prst="ellipse">
              <a:avLst/>
            </a:prstGeom>
            <a:solidFill>
              <a:srgbClr val="711E0D"/>
            </a:solidFill>
            <a:ln>
              <a:noFill/>
            </a:ln>
          </p:spPr>
        </p:sp>
        <p:sp>
          <p:nvSpPr>
            <p:cNvPr id="261" name="TextBox 261"/>
            <p:cNvSpPr txBox="1"/>
            <p:nvPr/>
          </p:nvSpPr>
          <p:spPr>
            <a:xfrm>
              <a:off x="5253038" y="52223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组合目标与约束设定</a:t>
              </a:r>
            </a:p>
          </p:txBody>
        </p:sp>
        <p:sp>
          <p:nvSpPr>
            <p:cNvPr id="262" name="Ellipse 262"/>
            <p:cNvSpPr/>
            <p:nvPr/>
          </p:nvSpPr>
          <p:spPr>
            <a:xfrm>
              <a:off x="5164455" y="5431155"/>
              <a:ext cx="34290" cy="34290"/>
            </a:xfrm>
            <a:prstGeom prst="ellipse">
              <a:avLst/>
            </a:prstGeom>
            <a:solidFill>
              <a:srgbClr val="711E0D"/>
            </a:solidFill>
            <a:ln>
              <a:noFill/>
            </a:ln>
          </p:spPr>
        </p:sp>
        <p:sp>
          <p:nvSpPr>
            <p:cNvPr id="263" name="TextBox 263"/>
            <p:cNvSpPr txBox="1"/>
            <p:nvPr/>
          </p:nvSpPr>
          <p:spPr>
            <a:xfrm>
              <a:off x="5253038" y="54128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风险分散与协同评估</a:t>
              </a:r>
            </a:p>
          </p:txBody>
        </p:sp>
        <p:sp>
          <p:nvSpPr>
            <p:cNvPr id="264" name="Ellipse 264"/>
            <p:cNvSpPr/>
            <p:nvPr/>
          </p:nvSpPr>
          <p:spPr>
            <a:xfrm>
              <a:off x="5164455" y="5621655"/>
              <a:ext cx="34290" cy="34290"/>
            </a:xfrm>
            <a:prstGeom prst="ellipse">
              <a:avLst/>
            </a:prstGeom>
            <a:solidFill>
              <a:srgbClr val="711E0D"/>
            </a:solidFill>
            <a:ln>
              <a:noFill/>
            </a:ln>
          </p:spPr>
        </p:sp>
        <p:sp>
          <p:nvSpPr>
            <p:cNvPr id="265" name="TextBox 265"/>
            <p:cNvSpPr txBox="1"/>
            <p:nvPr/>
          </p:nvSpPr>
          <p:spPr>
            <a:xfrm>
              <a:off x="5253038" y="5603319"/>
              <a:ext cx="69877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短中长期平衡配置</a:t>
              </a:r>
            </a:p>
          </p:txBody>
        </p:sp>
        <p:sp>
          <p:nvSpPr>
            <p:cNvPr id="266" name="Ellipse 266"/>
            <p:cNvSpPr/>
            <p:nvPr/>
          </p:nvSpPr>
          <p:spPr>
            <a:xfrm>
              <a:off x="5164455" y="5812155"/>
              <a:ext cx="34290" cy="34290"/>
            </a:xfrm>
            <a:prstGeom prst="ellipse">
              <a:avLst/>
            </a:prstGeom>
            <a:solidFill>
              <a:srgbClr val="711E0D"/>
            </a:solidFill>
            <a:ln>
              <a:noFill/>
            </a:ln>
          </p:spPr>
        </p:sp>
        <p:sp>
          <p:nvSpPr>
            <p:cNvPr id="267" name="TextBox 267"/>
            <p:cNvSpPr txBox="1"/>
            <p:nvPr/>
          </p:nvSpPr>
          <p:spPr>
            <a:xfrm>
              <a:off x="5253038" y="5793819"/>
              <a:ext cx="69877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确定优先投资组合</a:t>
              </a:r>
            </a:p>
          </p:txBody>
        </p:sp>
        <p:sp>
          <p:nvSpPr>
            <p:cNvPr id="268" name="Line 268"/>
            <p:cNvSpPr/>
            <p:nvPr/>
          </p:nvSpPr>
          <p:spPr>
            <a:xfrm>
              <a:off x="7219950" y="5676900"/>
              <a:ext cx="114300" cy="1"/>
            </a:xfrm>
            <a:prstGeom prst="line">
              <a:avLst/>
            </a:prstGeom>
            <a:noFill/>
            <a:ln w="19050">
              <a:solidFill>
                <a:srgbClr val="944130"/>
              </a:solidFill>
              <a:tailEnd type="triangle" w="lg" len="lg"/>
            </a:ln>
          </p:spPr>
        </p:sp>
        <p:sp>
          <p:nvSpPr>
            <p:cNvPr id="269" name="Rectangle 269"/>
            <p:cNvSpPr/>
            <p:nvPr/>
          </p:nvSpPr>
          <p:spPr>
            <a:xfrm>
              <a:off x="7372350" y="4743450"/>
              <a:ext cx="2209800" cy="1943100"/>
            </a:xfrm>
            <a:prstGeom prst="rect">
              <a:avLst/>
            </a:prstGeom>
            <a:solidFill>
              <a:srgbClr val="FFFFFF"/>
            </a:solidFill>
            <a:ln w="9525">
              <a:solidFill>
                <a:srgbClr val="C7D2E4"/>
              </a:solidFill>
            </a:ln>
          </p:spPr>
        </p:sp>
        <p:sp>
          <p:nvSpPr>
            <p:cNvPr id="270" name="Ellipse 270"/>
            <p:cNvSpPr/>
            <p:nvPr/>
          </p:nvSpPr>
          <p:spPr>
            <a:xfrm>
              <a:off x="7477125" y="4867275"/>
              <a:ext cx="171450" cy="171450"/>
            </a:xfrm>
            <a:prstGeom prst="ellipse">
              <a:avLst/>
            </a:prstGeom>
            <a:solidFill>
              <a:srgbClr val="4E0D00"/>
            </a:solidFill>
            <a:ln>
              <a:noFill/>
            </a:ln>
          </p:spPr>
        </p:sp>
        <p:sp>
          <p:nvSpPr>
            <p:cNvPr id="271" name="TextBox 271"/>
            <p:cNvSpPr txBox="1"/>
            <p:nvPr/>
          </p:nvSpPr>
          <p:spPr>
            <a:xfrm>
              <a:off x="7531655" y="491347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4</a:t>
              </a:r>
            </a:p>
          </p:txBody>
        </p:sp>
        <p:sp>
          <p:nvSpPr>
            <p:cNvPr id="272" name="TextBox 272"/>
            <p:cNvSpPr txBox="1"/>
            <p:nvPr/>
          </p:nvSpPr>
          <p:spPr>
            <a:xfrm>
              <a:off x="7691438" y="4897993"/>
              <a:ext cx="472618" cy="169069"/>
            </a:xfrm>
            <a:prstGeom prst="rect">
              <a:avLst/>
            </a:prstGeom>
            <a:noFill/>
            <a:ln>
              <a:noFill/>
            </a:ln>
          </p:spPr>
          <p:txBody>
            <a:bodyPr wrap="none" lIns="0" tIns="0" rIns="0" bIns="0" anchor="t" anchorCtr="0">
              <a:spAutoFit/>
            </a:bodyPr>
            <a:lstStyle/>
            <a:p>
              <a:pPr algn="l"/>
              <a:r>
                <a:rPr lang="zh-CN" sz="860" b="1" dirty="0">
                  <a:solidFill>
                    <a:srgbClr val="4E0D00"/>
                  </a:solidFill>
                  <a:latin typeface="+mn-lt"/>
                  <a:ea typeface="+mn-ea"/>
                  <a:cs typeface="+mn-cs"/>
                </a:rPr>
                <a:t>资源配置</a:t>
              </a:r>
            </a:p>
          </p:txBody>
        </p:sp>
        <p:grpSp>
          <p:nvGrpSpPr>
            <p:cNvPr id="279" name="Group 279"/>
            <p:cNvGrpSpPr/>
            <p:nvPr/>
          </p:nvGrpSpPr>
          <p:grpSpPr>
            <a:xfrm>
              <a:off x="9298781" y="4879181"/>
              <a:ext cx="128588" cy="128588"/>
              <a:chOff x="9298781" y="4879181"/>
              <a:chExt cx="128588" cy="128588"/>
            </a:xfrm>
          </p:grpSpPr>
          <p:sp>
            <p:nvSpPr>
              <p:cNvPr id="273" name="Freeform 273"/>
              <p:cNvSpPr/>
              <p:nvPr/>
            </p:nvSpPr>
            <p:spPr>
              <a:xfrm>
                <a:off x="9348788" y="493633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4E0D00"/>
                </a:solidFill>
              </a:ln>
            </p:spPr>
          </p:sp>
          <p:sp>
            <p:nvSpPr>
              <p:cNvPr id="274" name="Freeform 274"/>
              <p:cNvSpPr/>
              <p:nvPr/>
            </p:nvSpPr>
            <p:spPr>
              <a:xfrm>
                <a:off x="9334500" y="4986338"/>
                <a:ext cx="57150" cy="21431"/>
              </a:xfrm>
              <a:custGeom>
                <a:avLst/>
                <a:gdLst/>
                <a:ahLst/>
                <a:cxnLst/>
                <a:rect l="l" t="t" r="r" b="b"/>
                <a:pathLst>
                  <a:path w="57150" h="21431">
                    <a:moveTo>
                      <a:pt x="0" y="21431"/>
                    </a:moveTo>
                    <a:lnTo>
                      <a:pt x="0" y="14288"/>
                    </a:lnTo>
                    <a:cubicBezTo>
                      <a:pt x="0" y="6397"/>
                      <a:pt x="6397" y="0"/>
                      <a:pt x="14288" y="0"/>
                    </a:cubicBezTo>
                    <a:lnTo>
                      <a:pt x="42862" y="0"/>
                    </a:lnTo>
                    <a:cubicBezTo>
                      <a:pt x="50753" y="0"/>
                      <a:pt x="57150" y="6397"/>
                      <a:pt x="57150" y="14288"/>
                    </a:cubicBezTo>
                    <a:lnTo>
                      <a:pt x="57150" y="21431"/>
                    </a:lnTo>
                  </a:path>
                </a:pathLst>
              </a:custGeom>
              <a:noFill/>
              <a:ln w="14288">
                <a:solidFill>
                  <a:srgbClr val="4E0D00"/>
                </a:solidFill>
              </a:ln>
            </p:spPr>
          </p:sp>
          <p:sp>
            <p:nvSpPr>
              <p:cNvPr id="275" name="Freeform 275"/>
              <p:cNvSpPr/>
              <p:nvPr/>
            </p:nvSpPr>
            <p:spPr>
              <a:xfrm>
                <a:off x="9384506" y="48791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4E0D00"/>
                </a:solidFill>
              </a:ln>
            </p:spPr>
          </p:sp>
          <p:sp>
            <p:nvSpPr>
              <p:cNvPr id="276" name="Freeform 276"/>
              <p:cNvSpPr/>
              <p:nvPr/>
            </p:nvSpPr>
            <p:spPr>
              <a:xfrm>
                <a:off x="9398794" y="4929188"/>
                <a:ext cx="28575" cy="21431"/>
              </a:xfrm>
              <a:custGeom>
                <a:avLst/>
                <a:gdLst/>
                <a:ahLst/>
                <a:cxnLst/>
                <a:rect l="l" t="t" r="r" b="b"/>
                <a:pathLst>
                  <a:path w="28575" h="21431">
                    <a:moveTo>
                      <a:pt x="0" y="0"/>
                    </a:moveTo>
                    <a:lnTo>
                      <a:pt x="14288" y="0"/>
                    </a:lnTo>
                    <a:cubicBezTo>
                      <a:pt x="22178" y="0"/>
                      <a:pt x="28575" y="6397"/>
                      <a:pt x="28575" y="14288"/>
                    </a:cubicBezTo>
                    <a:lnTo>
                      <a:pt x="28575" y="21431"/>
                    </a:lnTo>
                  </a:path>
                </a:pathLst>
              </a:custGeom>
              <a:noFill/>
              <a:ln w="14288">
                <a:solidFill>
                  <a:srgbClr val="4E0D00"/>
                </a:solidFill>
              </a:ln>
            </p:spPr>
          </p:sp>
          <p:sp>
            <p:nvSpPr>
              <p:cNvPr id="277" name="Freeform 277"/>
              <p:cNvSpPr/>
              <p:nvPr/>
            </p:nvSpPr>
            <p:spPr>
              <a:xfrm>
                <a:off x="9313069" y="4879181"/>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4E0D00"/>
                </a:solidFill>
              </a:ln>
            </p:spPr>
          </p:sp>
          <p:sp>
            <p:nvSpPr>
              <p:cNvPr id="278" name="Freeform 278"/>
              <p:cNvSpPr/>
              <p:nvPr/>
            </p:nvSpPr>
            <p:spPr>
              <a:xfrm>
                <a:off x="9298781" y="4929188"/>
                <a:ext cx="28575" cy="21431"/>
              </a:xfrm>
              <a:custGeom>
                <a:avLst/>
                <a:gdLst/>
                <a:ahLst/>
                <a:cxnLst/>
                <a:rect l="l" t="t" r="r" b="b"/>
                <a:pathLst>
                  <a:path w="28575" h="21431">
                    <a:moveTo>
                      <a:pt x="0" y="21431"/>
                    </a:moveTo>
                    <a:lnTo>
                      <a:pt x="0" y="14288"/>
                    </a:lnTo>
                    <a:cubicBezTo>
                      <a:pt x="0" y="6397"/>
                      <a:pt x="6397" y="0"/>
                      <a:pt x="14288" y="0"/>
                    </a:cubicBezTo>
                    <a:lnTo>
                      <a:pt x="28575" y="0"/>
                    </a:lnTo>
                  </a:path>
                </a:pathLst>
              </a:custGeom>
              <a:noFill/>
              <a:ln w="14288">
                <a:solidFill>
                  <a:srgbClr val="4E0D00"/>
                </a:solidFill>
              </a:ln>
            </p:spPr>
          </p:sp>
        </p:grpSp>
        <p:sp>
          <p:nvSpPr>
            <p:cNvPr id="280" name="Line 280"/>
            <p:cNvSpPr/>
            <p:nvPr/>
          </p:nvSpPr>
          <p:spPr>
            <a:xfrm>
              <a:off x="7505700" y="5105400"/>
              <a:ext cx="1943100" cy="9525"/>
            </a:xfrm>
            <a:custGeom>
              <a:avLst/>
              <a:gdLst/>
              <a:ahLst/>
              <a:cxnLst/>
              <a:rect l="l" t="t" r="r" b="b"/>
              <a:pathLst>
                <a:path w="1943100" h="9525">
                  <a:moveTo>
                    <a:pt x="0" y="0"/>
                  </a:moveTo>
                  <a:lnTo>
                    <a:pt x="1943100" y="0"/>
                  </a:lnTo>
                </a:path>
              </a:pathLst>
            </a:custGeom>
            <a:noFill/>
            <a:ln w="9525">
              <a:solidFill>
                <a:srgbClr val="E2E8F2"/>
              </a:solidFill>
            </a:ln>
          </p:spPr>
        </p:sp>
        <p:sp>
          <p:nvSpPr>
            <p:cNvPr id="281" name="Ellipse 281"/>
            <p:cNvSpPr/>
            <p:nvPr/>
          </p:nvSpPr>
          <p:spPr>
            <a:xfrm>
              <a:off x="7545705" y="5240655"/>
              <a:ext cx="34290" cy="34290"/>
            </a:xfrm>
            <a:prstGeom prst="ellipse">
              <a:avLst/>
            </a:prstGeom>
            <a:solidFill>
              <a:srgbClr val="711E0D"/>
            </a:solidFill>
            <a:ln>
              <a:noFill/>
            </a:ln>
          </p:spPr>
        </p:sp>
        <p:sp>
          <p:nvSpPr>
            <p:cNvPr id="282" name="TextBox 282"/>
            <p:cNvSpPr txBox="1"/>
            <p:nvPr/>
          </p:nvSpPr>
          <p:spPr>
            <a:xfrm>
              <a:off x="7634288" y="5222319"/>
              <a:ext cx="61262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预算与人力配置</a:t>
              </a:r>
            </a:p>
          </p:txBody>
        </p:sp>
        <p:sp>
          <p:nvSpPr>
            <p:cNvPr id="283" name="Ellipse 283"/>
            <p:cNvSpPr/>
            <p:nvPr/>
          </p:nvSpPr>
          <p:spPr>
            <a:xfrm>
              <a:off x="7545705" y="5431155"/>
              <a:ext cx="34290" cy="34290"/>
            </a:xfrm>
            <a:prstGeom prst="ellipse">
              <a:avLst/>
            </a:prstGeom>
            <a:solidFill>
              <a:srgbClr val="711E0D"/>
            </a:solidFill>
            <a:ln>
              <a:noFill/>
            </a:ln>
          </p:spPr>
        </p:sp>
        <p:sp>
          <p:nvSpPr>
            <p:cNvPr id="284" name="TextBox 284"/>
            <p:cNvSpPr txBox="1"/>
            <p:nvPr/>
          </p:nvSpPr>
          <p:spPr>
            <a:xfrm>
              <a:off x="7634288" y="54128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能力建设与外部合作</a:t>
              </a:r>
            </a:p>
          </p:txBody>
        </p:sp>
        <p:sp>
          <p:nvSpPr>
            <p:cNvPr id="285" name="Ellipse 285"/>
            <p:cNvSpPr/>
            <p:nvPr/>
          </p:nvSpPr>
          <p:spPr>
            <a:xfrm>
              <a:off x="7545705" y="5621655"/>
              <a:ext cx="34290" cy="34290"/>
            </a:xfrm>
            <a:prstGeom prst="ellipse">
              <a:avLst/>
            </a:prstGeom>
            <a:solidFill>
              <a:srgbClr val="711E0D"/>
            </a:solidFill>
            <a:ln>
              <a:noFill/>
            </a:ln>
          </p:spPr>
        </p:sp>
        <p:sp>
          <p:nvSpPr>
            <p:cNvPr id="286" name="TextBox 286"/>
            <p:cNvSpPr txBox="1"/>
            <p:nvPr/>
          </p:nvSpPr>
          <p:spPr>
            <a:xfrm>
              <a:off x="7634288" y="56033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资源倾斜与阶段投放</a:t>
              </a:r>
            </a:p>
          </p:txBody>
        </p:sp>
        <p:sp>
          <p:nvSpPr>
            <p:cNvPr id="287" name="Ellipse 287"/>
            <p:cNvSpPr/>
            <p:nvPr/>
          </p:nvSpPr>
          <p:spPr>
            <a:xfrm>
              <a:off x="7545705" y="5812155"/>
              <a:ext cx="34290" cy="34290"/>
            </a:xfrm>
            <a:prstGeom prst="ellipse">
              <a:avLst/>
            </a:prstGeom>
            <a:solidFill>
              <a:srgbClr val="711E0D"/>
            </a:solidFill>
            <a:ln>
              <a:noFill/>
            </a:ln>
          </p:spPr>
        </p:sp>
        <p:sp>
          <p:nvSpPr>
            <p:cNvPr id="288" name="TextBox 288"/>
            <p:cNvSpPr txBox="1"/>
            <p:nvPr/>
          </p:nvSpPr>
          <p:spPr>
            <a:xfrm>
              <a:off x="7634288" y="57938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机制保障与激励对齐</a:t>
              </a:r>
            </a:p>
          </p:txBody>
        </p:sp>
        <p:sp>
          <p:nvSpPr>
            <p:cNvPr id="289" name="Line 289"/>
            <p:cNvSpPr/>
            <p:nvPr/>
          </p:nvSpPr>
          <p:spPr>
            <a:xfrm>
              <a:off x="9601200" y="5676900"/>
              <a:ext cx="114300" cy="1"/>
            </a:xfrm>
            <a:prstGeom prst="line">
              <a:avLst/>
            </a:prstGeom>
            <a:noFill/>
            <a:ln w="19050">
              <a:solidFill>
                <a:srgbClr val="944130"/>
              </a:solidFill>
              <a:tailEnd type="triangle" w="lg" len="lg"/>
            </a:ln>
          </p:spPr>
        </p:sp>
        <p:sp>
          <p:nvSpPr>
            <p:cNvPr id="290" name="Rectangle 290"/>
            <p:cNvSpPr/>
            <p:nvPr/>
          </p:nvSpPr>
          <p:spPr>
            <a:xfrm>
              <a:off x="9753600" y="4743450"/>
              <a:ext cx="2209800" cy="1943100"/>
            </a:xfrm>
            <a:prstGeom prst="rect">
              <a:avLst/>
            </a:prstGeom>
            <a:solidFill>
              <a:srgbClr val="FFFFFF"/>
            </a:solidFill>
            <a:ln w="9525">
              <a:solidFill>
                <a:srgbClr val="C7D2E4"/>
              </a:solidFill>
            </a:ln>
          </p:spPr>
        </p:sp>
        <p:sp>
          <p:nvSpPr>
            <p:cNvPr id="291" name="Ellipse 291"/>
            <p:cNvSpPr/>
            <p:nvPr/>
          </p:nvSpPr>
          <p:spPr>
            <a:xfrm>
              <a:off x="9858375" y="4867275"/>
              <a:ext cx="171450" cy="171450"/>
            </a:xfrm>
            <a:prstGeom prst="ellipse">
              <a:avLst/>
            </a:prstGeom>
            <a:solidFill>
              <a:srgbClr val="4E0D00"/>
            </a:solidFill>
            <a:ln>
              <a:noFill/>
            </a:ln>
          </p:spPr>
        </p:sp>
        <p:sp>
          <p:nvSpPr>
            <p:cNvPr id="292" name="TextBox 292"/>
            <p:cNvSpPr txBox="1"/>
            <p:nvPr/>
          </p:nvSpPr>
          <p:spPr>
            <a:xfrm>
              <a:off x="9912905" y="4913471"/>
              <a:ext cx="62390"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5</a:t>
              </a:r>
            </a:p>
          </p:txBody>
        </p:sp>
        <p:sp>
          <p:nvSpPr>
            <p:cNvPr id="293" name="TextBox 293"/>
            <p:cNvSpPr txBox="1"/>
            <p:nvPr/>
          </p:nvSpPr>
          <p:spPr>
            <a:xfrm>
              <a:off x="10072688" y="4897993"/>
              <a:ext cx="588391" cy="169069"/>
            </a:xfrm>
            <a:prstGeom prst="rect">
              <a:avLst/>
            </a:prstGeom>
            <a:noFill/>
            <a:ln>
              <a:noFill/>
            </a:ln>
          </p:spPr>
          <p:txBody>
            <a:bodyPr wrap="none" lIns="0" tIns="0" rIns="0" bIns="0" anchor="t" anchorCtr="0">
              <a:spAutoFit/>
            </a:bodyPr>
            <a:lstStyle/>
            <a:p>
              <a:pPr algn="l"/>
              <a:r>
                <a:rPr lang="zh-CN" sz="860" b="1" dirty="0">
                  <a:solidFill>
                    <a:srgbClr val="4E0D00"/>
                  </a:solidFill>
                  <a:latin typeface="+mn-lt"/>
                  <a:ea typeface="+mn-ea"/>
                  <a:cs typeface="+mn-cs"/>
                </a:rPr>
                <a:t>里程碑验证</a:t>
              </a:r>
            </a:p>
          </p:txBody>
        </p:sp>
        <p:grpSp>
          <p:nvGrpSpPr>
            <p:cNvPr id="296" name="Group 296"/>
            <p:cNvGrpSpPr/>
            <p:nvPr/>
          </p:nvGrpSpPr>
          <p:grpSpPr>
            <a:xfrm>
              <a:off x="11694319" y="4879855"/>
              <a:ext cx="100012" cy="127913"/>
              <a:chOff x="11694319" y="4879855"/>
              <a:chExt cx="100012" cy="127913"/>
            </a:xfrm>
          </p:grpSpPr>
          <p:sp>
            <p:nvSpPr>
              <p:cNvPr id="294" name="Freeform 294"/>
              <p:cNvSpPr/>
              <p:nvPr/>
            </p:nvSpPr>
            <p:spPr>
              <a:xfrm>
                <a:off x="11694319" y="4879855"/>
                <a:ext cx="100012" cy="91522"/>
              </a:xfrm>
              <a:custGeom>
                <a:avLst/>
                <a:gdLst/>
                <a:ahLst/>
                <a:cxnLst/>
                <a:rect l="l" t="t" r="r" b="b"/>
                <a:pathLst>
                  <a:path w="100012" h="91522">
                    <a:moveTo>
                      <a:pt x="0" y="13614"/>
                    </a:moveTo>
                    <a:cubicBezTo>
                      <a:pt x="13889" y="0"/>
                      <a:pt x="36117" y="0"/>
                      <a:pt x="50006" y="13614"/>
                    </a:cubicBezTo>
                    <a:cubicBezTo>
                      <a:pt x="63895" y="27228"/>
                      <a:pt x="86123" y="27228"/>
                      <a:pt x="100012" y="13614"/>
                    </a:cubicBezTo>
                    <a:lnTo>
                      <a:pt x="100012" y="77908"/>
                    </a:lnTo>
                    <a:cubicBezTo>
                      <a:pt x="86123" y="91522"/>
                      <a:pt x="63895" y="91522"/>
                      <a:pt x="50006" y="77908"/>
                    </a:cubicBezTo>
                    <a:cubicBezTo>
                      <a:pt x="36117" y="64294"/>
                      <a:pt x="13889" y="64294"/>
                      <a:pt x="0" y="77908"/>
                    </a:cubicBezTo>
                    <a:lnTo>
                      <a:pt x="0" y="13614"/>
                    </a:lnTo>
                  </a:path>
                </a:pathLst>
              </a:custGeom>
              <a:noFill/>
              <a:ln w="14288">
                <a:solidFill>
                  <a:srgbClr val="4E0D00"/>
                </a:solidFill>
              </a:ln>
            </p:spPr>
          </p:sp>
          <p:sp>
            <p:nvSpPr>
              <p:cNvPr id="295" name="Freeform 295"/>
              <p:cNvSpPr/>
              <p:nvPr/>
            </p:nvSpPr>
            <p:spPr>
              <a:xfrm>
                <a:off x="11694319" y="4957762"/>
                <a:ext cx="9525" cy="50006"/>
              </a:xfrm>
              <a:custGeom>
                <a:avLst/>
                <a:gdLst/>
                <a:ahLst/>
                <a:cxnLst/>
                <a:rect l="l" t="t" r="r" b="b"/>
                <a:pathLst>
                  <a:path w="9525" h="50006">
                    <a:moveTo>
                      <a:pt x="0" y="50006"/>
                    </a:moveTo>
                    <a:lnTo>
                      <a:pt x="0" y="0"/>
                    </a:lnTo>
                  </a:path>
                </a:pathLst>
              </a:custGeom>
              <a:noFill/>
              <a:ln w="14288">
                <a:solidFill>
                  <a:srgbClr val="4E0D00"/>
                </a:solidFill>
              </a:ln>
            </p:spPr>
          </p:sp>
        </p:grpSp>
        <p:sp>
          <p:nvSpPr>
            <p:cNvPr id="297" name="Line 297"/>
            <p:cNvSpPr/>
            <p:nvPr/>
          </p:nvSpPr>
          <p:spPr>
            <a:xfrm>
              <a:off x="9886950" y="5105400"/>
              <a:ext cx="1943100" cy="9525"/>
            </a:xfrm>
            <a:custGeom>
              <a:avLst/>
              <a:gdLst/>
              <a:ahLst/>
              <a:cxnLst/>
              <a:rect l="l" t="t" r="r" b="b"/>
              <a:pathLst>
                <a:path w="1943100" h="9525">
                  <a:moveTo>
                    <a:pt x="0" y="0"/>
                  </a:moveTo>
                  <a:lnTo>
                    <a:pt x="1943100" y="0"/>
                  </a:lnTo>
                </a:path>
              </a:pathLst>
            </a:custGeom>
            <a:noFill/>
            <a:ln w="9525">
              <a:solidFill>
                <a:srgbClr val="E2E8F2"/>
              </a:solidFill>
            </a:ln>
          </p:spPr>
        </p:sp>
        <p:sp>
          <p:nvSpPr>
            <p:cNvPr id="298" name="Ellipse 298"/>
            <p:cNvSpPr/>
            <p:nvPr/>
          </p:nvSpPr>
          <p:spPr>
            <a:xfrm>
              <a:off x="9926955" y="5240655"/>
              <a:ext cx="34290" cy="34290"/>
            </a:xfrm>
            <a:prstGeom prst="ellipse">
              <a:avLst/>
            </a:prstGeom>
            <a:solidFill>
              <a:srgbClr val="711E0D"/>
            </a:solidFill>
            <a:ln>
              <a:noFill/>
            </a:ln>
          </p:spPr>
        </p:sp>
        <p:sp>
          <p:nvSpPr>
            <p:cNvPr id="299" name="TextBox 299"/>
            <p:cNvSpPr txBox="1"/>
            <p:nvPr/>
          </p:nvSpPr>
          <p:spPr>
            <a:xfrm>
              <a:off x="10015538" y="5222319"/>
              <a:ext cx="70398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设定里程碑与KPI​</a:t>
              </a:r>
            </a:p>
          </p:txBody>
        </p:sp>
        <p:sp>
          <p:nvSpPr>
            <p:cNvPr id="300" name="Ellipse 300"/>
            <p:cNvSpPr/>
            <p:nvPr/>
          </p:nvSpPr>
          <p:spPr>
            <a:xfrm>
              <a:off x="9926955" y="5431155"/>
              <a:ext cx="34290" cy="34290"/>
            </a:xfrm>
            <a:prstGeom prst="ellipse">
              <a:avLst/>
            </a:prstGeom>
            <a:solidFill>
              <a:srgbClr val="711E0D"/>
            </a:solidFill>
            <a:ln>
              <a:noFill/>
            </a:ln>
          </p:spPr>
        </p:sp>
        <p:sp>
          <p:nvSpPr>
            <p:cNvPr id="301" name="TextBox 301"/>
            <p:cNvSpPr txBox="1"/>
            <p:nvPr/>
          </p:nvSpPr>
          <p:spPr>
            <a:xfrm>
              <a:off x="10015538" y="54128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阶段复盘与学习迭代</a:t>
              </a:r>
            </a:p>
          </p:txBody>
        </p:sp>
        <p:sp>
          <p:nvSpPr>
            <p:cNvPr id="302" name="Ellipse 302"/>
            <p:cNvSpPr/>
            <p:nvPr/>
          </p:nvSpPr>
          <p:spPr>
            <a:xfrm>
              <a:off x="9926955" y="5621655"/>
              <a:ext cx="34290" cy="34290"/>
            </a:xfrm>
            <a:prstGeom prst="ellipse">
              <a:avLst/>
            </a:prstGeom>
            <a:solidFill>
              <a:srgbClr val="711E0D"/>
            </a:solidFill>
            <a:ln>
              <a:noFill/>
            </a:ln>
          </p:spPr>
        </p:sp>
        <p:sp>
          <p:nvSpPr>
            <p:cNvPr id="303" name="TextBox 303"/>
            <p:cNvSpPr txBox="1"/>
            <p:nvPr/>
          </p:nvSpPr>
          <p:spPr>
            <a:xfrm>
              <a:off x="10015538" y="5603319"/>
              <a:ext cx="69877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动态调整投资方向</a:t>
              </a:r>
            </a:p>
          </p:txBody>
        </p:sp>
        <p:sp>
          <p:nvSpPr>
            <p:cNvPr id="304" name="Ellipse 304"/>
            <p:cNvSpPr/>
            <p:nvPr/>
          </p:nvSpPr>
          <p:spPr>
            <a:xfrm>
              <a:off x="9926955" y="5812155"/>
              <a:ext cx="34290" cy="34290"/>
            </a:xfrm>
            <a:prstGeom prst="ellipse">
              <a:avLst/>
            </a:prstGeom>
            <a:solidFill>
              <a:srgbClr val="711E0D"/>
            </a:solidFill>
            <a:ln>
              <a:noFill/>
            </a:ln>
          </p:spPr>
        </p:sp>
        <p:sp>
          <p:nvSpPr>
            <p:cNvPr id="305" name="TextBox 305"/>
            <p:cNvSpPr txBox="1"/>
            <p:nvPr/>
          </p:nvSpPr>
          <p:spPr>
            <a:xfrm>
              <a:off x="10015538" y="57938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决策升级或止损退出</a:t>
              </a:r>
            </a:p>
          </p:txBody>
        </p:sp>
      </p:gr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546354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战略地平线｜用选择权应对不确定未来</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57" name="top-flow"/>
          <p:cNvGrpSpPr/>
          <p:nvPr/>
        </p:nvGrpSpPr>
        <p:grpSpPr>
          <a:xfrm>
            <a:off x="247650" y="838200"/>
            <a:ext cx="10779748" cy="308372"/>
            <a:chOff x="247650" y="838200"/>
            <a:chExt cx="10779748" cy="308372"/>
          </a:xfrm>
        </p:grpSpPr>
        <p:sp>
          <p:nvSpPr>
            <p:cNvPr id="6" name="Ellipse 6"/>
            <p:cNvSpPr/>
            <p:nvPr/>
          </p:nvSpPr>
          <p:spPr>
            <a:xfrm>
              <a:off x="247650" y="838200"/>
              <a:ext cx="304800" cy="304800"/>
            </a:xfrm>
            <a:prstGeom prst="ellipse">
              <a:avLst/>
            </a:prstGeom>
            <a:solidFill>
              <a:srgbClr val="4E0D00"/>
            </a:solidFill>
            <a:ln>
              <a:noFill/>
            </a:ln>
          </p:spPr>
        </p:sp>
        <p:grpSp>
          <p:nvGrpSpPr>
            <p:cNvPr id="11" name="Group 11"/>
            <p:cNvGrpSpPr/>
            <p:nvPr/>
          </p:nvGrpSpPr>
          <p:grpSpPr>
            <a:xfrm>
              <a:off x="342900" y="933450"/>
              <a:ext cx="114300" cy="114300"/>
              <a:chOff x="342900" y="933450"/>
              <a:chExt cx="114300" cy="114300"/>
            </a:xfrm>
          </p:grpSpPr>
          <p:sp>
            <p:nvSpPr>
              <p:cNvPr id="7" name="Freeform 7"/>
              <p:cNvSpPr/>
              <p:nvPr/>
            </p:nvSpPr>
            <p:spPr>
              <a:xfrm>
                <a:off x="342900" y="9334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sp>
            <p:nvSpPr>
              <p:cNvPr id="8" name="Freeform 8"/>
              <p:cNvSpPr/>
              <p:nvPr/>
            </p:nvSpPr>
            <p:spPr>
              <a:xfrm>
                <a:off x="393700" y="9842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9" name="Freeform 9"/>
              <p:cNvSpPr/>
              <p:nvPr/>
            </p:nvSpPr>
            <p:spPr>
              <a:xfrm>
                <a:off x="409004" y="965200"/>
                <a:ext cx="16447" cy="16447"/>
              </a:xfrm>
              <a:custGeom>
                <a:avLst/>
                <a:gdLst/>
                <a:ahLst/>
                <a:cxnLst/>
                <a:rect l="l" t="t" r="r" b="b"/>
                <a:pathLst>
                  <a:path w="16447" h="16447">
                    <a:moveTo>
                      <a:pt x="0" y="16447"/>
                    </a:moveTo>
                    <a:lnTo>
                      <a:pt x="16447" y="0"/>
                    </a:lnTo>
                  </a:path>
                </a:pathLst>
              </a:custGeom>
              <a:noFill/>
              <a:ln w="12700">
                <a:solidFill>
                  <a:srgbClr val="FFFFFF"/>
                </a:solidFill>
              </a:ln>
            </p:spPr>
          </p:sp>
          <p:sp>
            <p:nvSpPr>
              <p:cNvPr id="10" name="Freeform 10"/>
              <p:cNvSpPr/>
              <p:nvPr/>
            </p:nvSpPr>
            <p:spPr>
              <a:xfrm>
                <a:off x="368300" y="958850"/>
                <a:ext cx="31750" cy="31750"/>
              </a:xfrm>
              <a:custGeom>
                <a:avLst/>
                <a:gdLst/>
                <a:ahLst/>
                <a:cxnLst/>
                <a:rect l="l" t="t" r="r" b="b"/>
                <a:pathLst>
                  <a:path w="31750" h="31750">
                    <a:moveTo>
                      <a:pt x="0" y="31750"/>
                    </a:moveTo>
                    <a:cubicBezTo>
                      <a:pt x="0" y="14215"/>
                      <a:pt x="14215" y="0"/>
                      <a:pt x="31750" y="0"/>
                    </a:cubicBezTo>
                  </a:path>
                </a:pathLst>
              </a:custGeom>
              <a:noFill/>
              <a:ln w="12700">
                <a:solidFill>
                  <a:srgbClr val="FFFFFF"/>
                </a:solidFill>
              </a:ln>
            </p:spPr>
          </p:sp>
        </p:grpSp>
        <p:sp>
          <p:nvSpPr>
            <p:cNvPr id="12" name="TextBox 12"/>
            <p:cNvSpPr txBox="1"/>
            <p:nvPr/>
          </p:nvSpPr>
          <p:spPr>
            <a:xfrm>
              <a:off x="623888" y="863441"/>
              <a:ext cx="671855"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当前竞争优势</a:t>
              </a:r>
            </a:p>
          </p:txBody>
        </p:sp>
        <p:sp>
          <p:nvSpPr>
            <p:cNvPr id="13" name="TextBox 13"/>
            <p:cNvSpPr txBox="1"/>
            <p:nvPr/>
          </p:nvSpPr>
          <p:spPr>
            <a:xfrm>
              <a:off x="623888" y="1034653"/>
              <a:ext cx="838784"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识别差异化来源与护城河</a:t>
              </a:r>
            </a:p>
          </p:txBody>
        </p:sp>
        <p:sp>
          <p:nvSpPr>
            <p:cNvPr id="14" name="Line 14"/>
            <p:cNvSpPr/>
            <p:nvPr/>
          </p:nvSpPr>
          <p:spPr>
            <a:xfrm>
              <a:off x="2057400" y="990600"/>
              <a:ext cx="114300" cy="1"/>
            </a:xfrm>
            <a:prstGeom prst="line">
              <a:avLst/>
            </a:prstGeom>
            <a:noFill/>
            <a:ln w="19050">
              <a:solidFill>
                <a:srgbClr val="944130"/>
              </a:solidFill>
              <a:tailEnd type="triangle" w="lg" len="lg"/>
            </a:ln>
          </p:spPr>
        </p:sp>
        <p:sp>
          <p:nvSpPr>
            <p:cNvPr id="15" name="Ellipse 15"/>
            <p:cNvSpPr/>
            <p:nvPr/>
          </p:nvSpPr>
          <p:spPr>
            <a:xfrm>
              <a:off x="2190750" y="838200"/>
              <a:ext cx="304800" cy="304800"/>
            </a:xfrm>
            <a:prstGeom prst="ellipse">
              <a:avLst/>
            </a:prstGeom>
            <a:solidFill>
              <a:srgbClr val="4E0D00"/>
            </a:solidFill>
            <a:ln>
              <a:noFill/>
            </a:ln>
          </p:spPr>
        </p:sp>
        <p:grpSp>
          <p:nvGrpSpPr>
            <p:cNvPr id="18" name="Group 18"/>
            <p:cNvGrpSpPr/>
            <p:nvPr/>
          </p:nvGrpSpPr>
          <p:grpSpPr>
            <a:xfrm>
              <a:off x="2292350" y="952500"/>
              <a:ext cx="101600" cy="92075"/>
              <a:chOff x="2292350" y="952500"/>
              <a:chExt cx="101600" cy="92075"/>
            </a:xfrm>
          </p:grpSpPr>
          <p:sp>
            <p:nvSpPr>
              <p:cNvPr id="16" name="Freeform 16"/>
              <p:cNvSpPr/>
              <p:nvPr/>
            </p:nvSpPr>
            <p:spPr>
              <a:xfrm>
                <a:off x="2292350" y="1035050"/>
                <a:ext cx="101600" cy="9525"/>
              </a:xfrm>
              <a:custGeom>
                <a:avLst/>
                <a:gdLst/>
                <a:ahLst/>
                <a:cxnLst/>
                <a:rect l="l" t="t" r="r" b="b"/>
                <a:pathLst>
                  <a:path w="101600" h="9525">
                    <a:moveTo>
                      <a:pt x="0" y="0"/>
                    </a:moveTo>
                    <a:lnTo>
                      <a:pt x="101600" y="0"/>
                    </a:lnTo>
                  </a:path>
                </a:pathLst>
              </a:custGeom>
              <a:noFill/>
              <a:ln w="12700">
                <a:solidFill>
                  <a:srgbClr val="FFFFFF"/>
                </a:solidFill>
              </a:ln>
            </p:spPr>
          </p:sp>
          <p:sp>
            <p:nvSpPr>
              <p:cNvPr id="17" name="Freeform 17"/>
              <p:cNvSpPr/>
              <p:nvPr/>
            </p:nvSpPr>
            <p:spPr>
              <a:xfrm>
                <a:off x="2292350" y="95250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FFFFFF"/>
                </a:solidFill>
              </a:ln>
            </p:spPr>
          </p:sp>
        </p:grpSp>
        <p:sp>
          <p:nvSpPr>
            <p:cNvPr id="19" name="TextBox 19"/>
            <p:cNvSpPr txBox="1"/>
            <p:nvPr/>
          </p:nvSpPr>
          <p:spPr>
            <a:xfrm>
              <a:off x="2566988" y="86344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趋势变化</a:t>
              </a:r>
            </a:p>
          </p:txBody>
        </p:sp>
        <p:sp>
          <p:nvSpPr>
            <p:cNvPr id="20" name="TextBox 20"/>
            <p:cNvSpPr txBox="1"/>
            <p:nvPr/>
          </p:nvSpPr>
          <p:spPr>
            <a:xfrm>
              <a:off x="2566988" y="1034653"/>
              <a:ext cx="838784"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扫描宏观与行业结构变化</a:t>
              </a:r>
            </a:p>
          </p:txBody>
        </p:sp>
        <p:sp>
          <p:nvSpPr>
            <p:cNvPr id="21" name="Line 21"/>
            <p:cNvSpPr/>
            <p:nvPr/>
          </p:nvSpPr>
          <p:spPr>
            <a:xfrm>
              <a:off x="4000500" y="990600"/>
              <a:ext cx="114300" cy="1"/>
            </a:xfrm>
            <a:prstGeom prst="line">
              <a:avLst/>
            </a:prstGeom>
            <a:noFill/>
            <a:ln w="19050">
              <a:solidFill>
                <a:srgbClr val="944130"/>
              </a:solidFill>
              <a:tailEnd type="triangle" w="lg" len="lg"/>
            </a:ln>
          </p:spPr>
        </p:sp>
        <p:sp>
          <p:nvSpPr>
            <p:cNvPr id="22" name="Ellipse 22"/>
            <p:cNvSpPr/>
            <p:nvPr/>
          </p:nvSpPr>
          <p:spPr>
            <a:xfrm>
              <a:off x="4133850" y="838200"/>
              <a:ext cx="304800" cy="304800"/>
            </a:xfrm>
            <a:prstGeom prst="ellipse">
              <a:avLst/>
            </a:prstGeom>
            <a:solidFill>
              <a:srgbClr val="4E0D00"/>
            </a:solidFill>
            <a:ln>
              <a:noFill/>
            </a:ln>
          </p:spPr>
        </p:sp>
        <p:grpSp>
          <p:nvGrpSpPr>
            <p:cNvPr id="29" name="Group 29"/>
            <p:cNvGrpSpPr/>
            <p:nvPr/>
          </p:nvGrpSpPr>
          <p:grpSpPr>
            <a:xfrm>
              <a:off x="4229100" y="933450"/>
              <a:ext cx="114300" cy="114300"/>
              <a:chOff x="4229100" y="933450"/>
              <a:chExt cx="114300" cy="114300"/>
            </a:xfrm>
          </p:grpSpPr>
          <p:sp>
            <p:nvSpPr>
              <p:cNvPr id="23" name="Freeform 23"/>
              <p:cNvSpPr/>
              <p:nvPr/>
            </p:nvSpPr>
            <p:spPr>
              <a:xfrm>
                <a:off x="4260850" y="965200"/>
                <a:ext cx="50800" cy="50800"/>
              </a:xfrm>
              <a:custGeom>
                <a:avLst/>
                <a:gdLst/>
                <a:ahLst/>
                <a:cxnLst/>
                <a:rect l="l" t="t" r="r" b="b"/>
                <a:pathLst>
                  <a:path w="50800" h="50800">
                    <a:moveTo>
                      <a:pt x="0" y="50800"/>
                    </a:moveTo>
                    <a:lnTo>
                      <a:pt x="12700" y="12700"/>
                    </a:lnTo>
                    <a:lnTo>
                      <a:pt x="50800" y="0"/>
                    </a:lnTo>
                    <a:lnTo>
                      <a:pt x="38100" y="38100"/>
                    </a:lnTo>
                    <a:lnTo>
                      <a:pt x="0" y="50800"/>
                    </a:lnTo>
                  </a:path>
                </a:pathLst>
              </a:custGeom>
              <a:noFill/>
              <a:ln w="12700">
                <a:solidFill>
                  <a:srgbClr val="FFFFFF"/>
                </a:solidFill>
              </a:ln>
            </p:spPr>
          </p:sp>
          <p:sp>
            <p:nvSpPr>
              <p:cNvPr id="24" name="Freeform 24"/>
              <p:cNvSpPr/>
              <p:nvPr/>
            </p:nvSpPr>
            <p:spPr>
              <a:xfrm>
                <a:off x="4229100" y="9334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sp>
            <p:nvSpPr>
              <p:cNvPr id="25" name="Freeform 25"/>
              <p:cNvSpPr/>
              <p:nvPr/>
            </p:nvSpPr>
            <p:spPr>
              <a:xfrm>
                <a:off x="4286250" y="933450"/>
                <a:ext cx="9525" cy="12700"/>
              </a:xfrm>
              <a:custGeom>
                <a:avLst/>
                <a:gdLst/>
                <a:ahLst/>
                <a:cxnLst/>
                <a:rect l="l" t="t" r="r" b="b"/>
                <a:pathLst>
                  <a:path w="9525" h="12700">
                    <a:moveTo>
                      <a:pt x="0" y="0"/>
                    </a:moveTo>
                    <a:lnTo>
                      <a:pt x="0" y="12700"/>
                    </a:lnTo>
                  </a:path>
                </a:pathLst>
              </a:custGeom>
              <a:noFill/>
              <a:ln w="12700">
                <a:solidFill>
                  <a:srgbClr val="FFFFFF"/>
                </a:solidFill>
              </a:ln>
            </p:spPr>
          </p:sp>
          <p:sp>
            <p:nvSpPr>
              <p:cNvPr id="26" name="Freeform 26"/>
              <p:cNvSpPr/>
              <p:nvPr/>
            </p:nvSpPr>
            <p:spPr>
              <a:xfrm>
                <a:off x="4286250" y="1035050"/>
                <a:ext cx="9525" cy="12700"/>
              </a:xfrm>
              <a:custGeom>
                <a:avLst/>
                <a:gdLst/>
                <a:ahLst/>
                <a:cxnLst/>
                <a:rect l="l" t="t" r="r" b="b"/>
                <a:pathLst>
                  <a:path w="9525" h="12700">
                    <a:moveTo>
                      <a:pt x="0" y="0"/>
                    </a:moveTo>
                    <a:lnTo>
                      <a:pt x="0" y="12700"/>
                    </a:lnTo>
                  </a:path>
                </a:pathLst>
              </a:custGeom>
              <a:noFill/>
              <a:ln w="12700">
                <a:solidFill>
                  <a:srgbClr val="FFFFFF"/>
                </a:solidFill>
              </a:ln>
            </p:spPr>
          </p:sp>
          <p:sp>
            <p:nvSpPr>
              <p:cNvPr id="27" name="Freeform 27"/>
              <p:cNvSpPr/>
              <p:nvPr/>
            </p:nvSpPr>
            <p:spPr>
              <a:xfrm>
                <a:off x="4229100" y="990600"/>
                <a:ext cx="12700" cy="9525"/>
              </a:xfrm>
              <a:custGeom>
                <a:avLst/>
                <a:gdLst/>
                <a:ahLst/>
                <a:cxnLst/>
                <a:rect l="l" t="t" r="r" b="b"/>
                <a:pathLst>
                  <a:path w="12700" h="9525">
                    <a:moveTo>
                      <a:pt x="0" y="0"/>
                    </a:moveTo>
                    <a:lnTo>
                      <a:pt x="12700" y="0"/>
                    </a:lnTo>
                  </a:path>
                </a:pathLst>
              </a:custGeom>
              <a:noFill/>
              <a:ln w="12700">
                <a:solidFill>
                  <a:srgbClr val="FFFFFF"/>
                </a:solidFill>
              </a:ln>
            </p:spPr>
          </p:sp>
          <p:sp>
            <p:nvSpPr>
              <p:cNvPr id="28" name="Freeform 28"/>
              <p:cNvSpPr/>
              <p:nvPr/>
            </p:nvSpPr>
            <p:spPr>
              <a:xfrm>
                <a:off x="4330700" y="990600"/>
                <a:ext cx="12700" cy="9525"/>
              </a:xfrm>
              <a:custGeom>
                <a:avLst/>
                <a:gdLst/>
                <a:ahLst/>
                <a:cxnLst/>
                <a:rect l="l" t="t" r="r" b="b"/>
                <a:pathLst>
                  <a:path w="12700" h="9525">
                    <a:moveTo>
                      <a:pt x="0" y="0"/>
                    </a:moveTo>
                    <a:lnTo>
                      <a:pt x="12700" y="0"/>
                    </a:lnTo>
                  </a:path>
                </a:pathLst>
              </a:custGeom>
              <a:noFill/>
              <a:ln w="12700">
                <a:solidFill>
                  <a:srgbClr val="FFFFFF"/>
                </a:solidFill>
              </a:ln>
            </p:spPr>
          </p:sp>
        </p:grpSp>
        <p:sp>
          <p:nvSpPr>
            <p:cNvPr id="30" name="TextBox 30"/>
            <p:cNvSpPr txBox="1"/>
            <p:nvPr/>
          </p:nvSpPr>
          <p:spPr>
            <a:xfrm>
              <a:off x="4510088" y="86344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未来情景</a:t>
              </a:r>
            </a:p>
          </p:txBody>
        </p:sp>
        <p:sp>
          <p:nvSpPr>
            <p:cNvPr id="31" name="TextBox 31"/>
            <p:cNvSpPr txBox="1"/>
            <p:nvPr/>
          </p:nvSpPr>
          <p:spPr>
            <a:xfrm>
              <a:off x="4510088" y="1034653"/>
              <a:ext cx="763397"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构建多情景与关键假设</a:t>
              </a:r>
            </a:p>
          </p:txBody>
        </p:sp>
        <p:sp>
          <p:nvSpPr>
            <p:cNvPr id="32" name="Line 32"/>
            <p:cNvSpPr/>
            <p:nvPr/>
          </p:nvSpPr>
          <p:spPr>
            <a:xfrm>
              <a:off x="5943600" y="990600"/>
              <a:ext cx="114300" cy="1"/>
            </a:xfrm>
            <a:prstGeom prst="line">
              <a:avLst/>
            </a:prstGeom>
            <a:noFill/>
            <a:ln w="19050">
              <a:solidFill>
                <a:srgbClr val="944130"/>
              </a:solidFill>
              <a:tailEnd type="triangle" w="lg" len="lg"/>
            </a:ln>
          </p:spPr>
        </p:sp>
        <p:sp>
          <p:nvSpPr>
            <p:cNvPr id="33" name="Ellipse 33"/>
            <p:cNvSpPr/>
            <p:nvPr/>
          </p:nvSpPr>
          <p:spPr>
            <a:xfrm>
              <a:off x="6076950" y="838200"/>
              <a:ext cx="304800" cy="304800"/>
            </a:xfrm>
            <a:prstGeom prst="ellipse">
              <a:avLst/>
            </a:prstGeom>
            <a:solidFill>
              <a:srgbClr val="4E0D00"/>
            </a:solidFill>
            <a:ln>
              <a:noFill/>
            </a:ln>
          </p:spPr>
        </p:sp>
        <p:grpSp>
          <p:nvGrpSpPr>
            <p:cNvPr id="39" name="Group 39"/>
            <p:cNvGrpSpPr/>
            <p:nvPr/>
          </p:nvGrpSpPr>
          <p:grpSpPr>
            <a:xfrm>
              <a:off x="6172200" y="933450"/>
              <a:ext cx="114300" cy="117475"/>
              <a:chOff x="6172200" y="933450"/>
              <a:chExt cx="114300" cy="117475"/>
            </a:xfrm>
          </p:grpSpPr>
          <p:sp>
            <p:nvSpPr>
              <p:cNvPr id="34" name="Freeform 34"/>
              <p:cNvSpPr/>
              <p:nvPr/>
            </p:nvSpPr>
            <p:spPr>
              <a:xfrm>
                <a:off x="6197600" y="1041400"/>
                <a:ext cx="63500" cy="9525"/>
              </a:xfrm>
              <a:custGeom>
                <a:avLst/>
                <a:gdLst/>
                <a:ahLst/>
                <a:cxnLst/>
                <a:rect l="l" t="t" r="r" b="b"/>
                <a:pathLst>
                  <a:path w="63500" h="9525">
                    <a:moveTo>
                      <a:pt x="0" y="0"/>
                    </a:moveTo>
                    <a:lnTo>
                      <a:pt x="63500" y="0"/>
                    </a:lnTo>
                  </a:path>
                </a:pathLst>
              </a:custGeom>
              <a:noFill/>
              <a:ln w="12700">
                <a:solidFill>
                  <a:srgbClr val="FFFFFF"/>
                </a:solidFill>
              </a:ln>
            </p:spPr>
          </p:sp>
          <p:sp>
            <p:nvSpPr>
              <p:cNvPr id="35" name="Freeform 35"/>
              <p:cNvSpPr/>
              <p:nvPr/>
            </p:nvSpPr>
            <p:spPr>
              <a:xfrm>
                <a:off x="6191250" y="946150"/>
                <a:ext cx="76200" cy="9525"/>
              </a:xfrm>
              <a:custGeom>
                <a:avLst/>
                <a:gdLst/>
                <a:ahLst/>
                <a:cxnLst/>
                <a:rect l="l" t="t" r="r" b="b"/>
                <a:pathLst>
                  <a:path w="76200" h="9525">
                    <a:moveTo>
                      <a:pt x="0" y="6350"/>
                    </a:moveTo>
                    <a:lnTo>
                      <a:pt x="38100" y="0"/>
                    </a:lnTo>
                    <a:lnTo>
                      <a:pt x="76200" y="6350"/>
                    </a:lnTo>
                  </a:path>
                </a:pathLst>
              </a:custGeom>
              <a:noFill/>
              <a:ln w="12700">
                <a:solidFill>
                  <a:srgbClr val="FFFFFF"/>
                </a:solidFill>
              </a:ln>
            </p:spPr>
          </p:sp>
          <p:sp>
            <p:nvSpPr>
              <p:cNvPr id="36" name="Freeform 36"/>
              <p:cNvSpPr/>
              <p:nvPr/>
            </p:nvSpPr>
            <p:spPr>
              <a:xfrm>
                <a:off x="6229350" y="933450"/>
                <a:ext cx="9525" cy="107950"/>
              </a:xfrm>
              <a:custGeom>
                <a:avLst/>
                <a:gdLst/>
                <a:ahLst/>
                <a:cxnLst/>
                <a:rect l="l" t="t" r="r" b="b"/>
                <a:pathLst>
                  <a:path w="9525" h="107950">
                    <a:moveTo>
                      <a:pt x="0" y="0"/>
                    </a:moveTo>
                    <a:lnTo>
                      <a:pt x="0" y="107950"/>
                    </a:lnTo>
                  </a:path>
                </a:pathLst>
              </a:custGeom>
              <a:noFill/>
              <a:ln w="12700">
                <a:solidFill>
                  <a:srgbClr val="FFFFFF"/>
                </a:solidFill>
              </a:ln>
            </p:spPr>
          </p:sp>
          <p:sp>
            <p:nvSpPr>
              <p:cNvPr id="37" name="Freeform 37"/>
              <p:cNvSpPr/>
              <p:nvPr/>
            </p:nvSpPr>
            <p:spPr>
              <a:xfrm>
                <a:off x="6172200" y="952500"/>
                <a:ext cx="38100" cy="57150"/>
              </a:xfrm>
              <a:custGeom>
                <a:avLst/>
                <a:gdLst/>
                <a:ahLst/>
                <a:cxnLst/>
                <a:rect l="l" t="t" r="r" b="b"/>
                <a:pathLst>
                  <a:path w="38100" h="57150">
                    <a:moveTo>
                      <a:pt x="38100" y="38100"/>
                    </a:moveTo>
                    <a:lnTo>
                      <a:pt x="19050" y="0"/>
                    </a:lnTo>
                    <a:lnTo>
                      <a:pt x="0" y="38100"/>
                    </a:lnTo>
                    <a:cubicBezTo>
                      <a:pt x="0" y="48621"/>
                      <a:pt x="8529" y="57150"/>
                      <a:pt x="19050" y="57150"/>
                    </a:cubicBezTo>
                    <a:cubicBezTo>
                      <a:pt x="29571" y="57150"/>
                      <a:pt x="38100" y="48621"/>
                      <a:pt x="38100" y="38100"/>
                    </a:cubicBezTo>
                  </a:path>
                </a:pathLst>
              </a:custGeom>
              <a:noFill/>
              <a:ln w="12700">
                <a:solidFill>
                  <a:srgbClr val="FFFFFF"/>
                </a:solidFill>
              </a:ln>
            </p:spPr>
          </p:sp>
          <p:sp>
            <p:nvSpPr>
              <p:cNvPr id="38" name="Freeform 38"/>
              <p:cNvSpPr/>
              <p:nvPr/>
            </p:nvSpPr>
            <p:spPr>
              <a:xfrm>
                <a:off x="6248400" y="952500"/>
                <a:ext cx="38100" cy="57150"/>
              </a:xfrm>
              <a:custGeom>
                <a:avLst/>
                <a:gdLst/>
                <a:ahLst/>
                <a:cxnLst/>
                <a:rect l="l" t="t" r="r" b="b"/>
                <a:pathLst>
                  <a:path w="38100" h="57150">
                    <a:moveTo>
                      <a:pt x="38100" y="38100"/>
                    </a:moveTo>
                    <a:lnTo>
                      <a:pt x="19050" y="0"/>
                    </a:lnTo>
                    <a:lnTo>
                      <a:pt x="0" y="38100"/>
                    </a:lnTo>
                    <a:cubicBezTo>
                      <a:pt x="0" y="48621"/>
                      <a:pt x="8529" y="57150"/>
                      <a:pt x="19050" y="57150"/>
                    </a:cubicBezTo>
                    <a:cubicBezTo>
                      <a:pt x="29571" y="57150"/>
                      <a:pt x="38100" y="48621"/>
                      <a:pt x="38100" y="38100"/>
                    </a:cubicBezTo>
                  </a:path>
                </a:pathLst>
              </a:custGeom>
              <a:noFill/>
              <a:ln w="12700">
                <a:solidFill>
                  <a:srgbClr val="FFFFFF"/>
                </a:solidFill>
              </a:ln>
            </p:spPr>
          </p:sp>
        </p:grpSp>
        <p:sp>
          <p:nvSpPr>
            <p:cNvPr id="40" name="TextBox 40"/>
            <p:cNvSpPr txBox="1"/>
            <p:nvPr/>
          </p:nvSpPr>
          <p:spPr>
            <a:xfrm>
              <a:off x="6453188" y="86344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战略选择</a:t>
              </a:r>
            </a:p>
          </p:txBody>
        </p:sp>
        <p:sp>
          <p:nvSpPr>
            <p:cNvPr id="41" name="TextBox 41"/>
            <p:cNvSpPr txBox="1"/>
            <p:nvPr/>
          </p:nvSpPr>
          <p:spPr>
            <a:xfrm>
              <a:off x="6453188" y="1034653"/>
              <a:ext cx="688010"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评估选择与组合路径</a:t>
              </a:r>
            </a:p>
          </p:txBody>
        </p:sp>
        <p:sp>
          <p:nvSpPr>
            <p:cNvPr id="42" name="Line 42"/>
            <p:cNvSpPr/>
            <p:nvPr/>
          </p:nvSpPr>
          <p:spPr>
            <a:xfrm>
              <a:off x="7886700" y="990600"/>
              <a:ext cx="114300" cy="1"/>
            </a:xfrm>
            <a:prstGeom prst="line">
              <a:avLst/>
            </a:prstGeom>
            <a:noFill/>
            <a:ln w="19050">
              <a:solidFill>
                <a:srgbClr val="944130"/>
              </a:solidFill>
              <a:tailEnd type="triangle" w="lg" len="lg"/>
            </a:ln>
          </p:spPr>
        </p:sp>
        <p:sp>
          <p:nvSpPr>
            <p:cNvPr id="43" name="Ellipse 43"/>
            <p:cNvSpPr/>
            <p:nvPr/>
          </p:nvSpPr>
          <p:spPr>
            <a:xfrm>
              <a:off x="8020050" y="838200"/>
              <a:ext cx="304800" cy="304800"/>
            </a:xfrm>
            <a:prstGeom prst="ellipse">
              <a:avLst/>
            </a:prstGeom>
            <a:solidFill>
              <a:srgbClr val="4E0D00"/>
            </a:solidFill>
            <a:ln>
              <a:noFill/>
            </a:ln>
          </p:spPr>
        </p:sp>
        <p:grpSp>
          <p:nvGrpSpPr>
            <p:cNvPr id="47" name="Group 47"/>
            <p:cNvGrpSpPr/>
            <p:nvPr/>
          </p:nvGrpSpPr>
          <p:grpSpPr>
            <a:xfrm>
              <a:off x="8115300" y="933450"/>
              <a:ext cx="114300" cy="114300"/>
              <a:chOff x="8115300" y="933450"/>
              <a:chExt cx="114300" cy="114300"/>
            </a:xfrm>
          </p:grpSpPr>
          <p:sp>
            <p:nvSpPr>
              <p:cNvPr id="44" name="Freeform 44"/>
              <p:cNvSpPr/>
              <p:nvPr/>
            </p:nvSpPr>
            <p:spPr>
              <a:xfrm>
                <a:off x="8166100" y="9842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FFFFFF"/>
                </a:solidFill>
              </a:ln>
            </p:spPr>
          </p:sp>
          <p:sp>
            <p:nvSpPr>
              <p:cNvPr id="45" name="Freeform 45"/>
              <p:cNvSpPr/>
              <p:nvPr/>
            </p:nvSpPr>
            <p:spPr>
              <a:xfrm>
                <a:off x="8140700" y="958850"/>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2700">
                <a:solidFill>
                  <a:srgbClr val="FFFFFF"/>
                </a:solidFill>
              </a:ln>
            </p:spPr>
          </p:sp>
          <p:sp>
            <p:nvSpPr>
              <p:cNvPr id="46" name="Freeform 46"/>
              <p:cNvSpPr/>
              <p:nvPr/>
            </p:nvSpPr>
            <p:spPr>
              <a:xfrm>
                <a:off x="8115300" y="9334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FFFFFF"/>
                </a:solidFill>
              </a:ln>
            </p:spPr>
          </p:sp>
        </p:grpSp>
        <p:sp>
          <p:nvSpPr>
            <p:cNvPr id="48" name="TextBox 48"/>
            <p:cNvSpPr txBox="1"/>
            <p:nvPr/>
          </p:nvSpPr>
          <p:spPr>
            <a:xfrm>
              <a:off x="8396288" y="86344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能力下注</a:t>
              </a:r>
            </a:p>
          </p:txBody>
        </p:sp>
        <p:sp>
          <p:nvSpPr>
            <p:cNvPr id="49" name="TextBox 49"/>
            <p:cNvSpPr txBox="1"/>
            <p:nvPr/>
          </p:nvSpPr>
          <p:spPr>
            <a:xfrm>
              <a:off x="8396288" y="1034653"/>
              <a:ext cx="688010"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配置资源与能力加码</a:t>
              </a:r>
            </a:p>
          </p:txBody>
        </p:sp>
        <p:sp>
          <p:nvSpPr>
            <p:cNvPr id="50" name="Line 50"/>
            <p:cNvSpPr/>
            <p:nvPr/>
          </p:nvSpPr>
          <p:spPr>
            <a:xfrm>
              <a:off x="9829800" y="990600"/>
              <a:ext cx="114300" cy="1"/>
            </a:xfrm>
            <a:prstGeom prst="line">
              <a:avLst/>
            </a:prstGeom>
            <a:noFill/>
            <a:ln w="19050">
              <a:solidFill>
                <a:srgbClr val="944130"/>
              </a:solidFill>
              <a:tailEnd type="triangle" w="lg" len="lg"/>
            </a:ln>
          </p:spPr>
        </p:sp>
        <p:sp>
          <p:nvSpPr>
            <p:cNvPr id="51" name="Ellipse 51"/>
            <p:cNvSpPr/>
            <p:nvPr/>
          </p:nvSpPr>
          <p:spPr>
            <a:xfrm>
              <a:off x="9963150" y="838200"/>
              <a:ext cx="304800" cy="304800"/>
            </a:xfrm>
            <a:prstGeom prst="ellipse">
              <a:avLst/>
            </a:prstGeom>
            <a:solidFill>
              <a:srgbClr val="4E0D00"/>
            </a:solidFill>
            <a:ln>
              <a:noFill/>
            </a:ln>
          </p:spPr>
        </p:sp>
        <p:grpSp>
          <p:nvGrpSpPr>
            <p:cNvPr id="54" name="Group 54"/>
            <p:cNvGrpSpPr/>
            <p:nvPr/>
          </p:nvGrpSpPr>
          <p:grpSpPr>
            <a:xfrm>
              <a:off x="10064750" y="937350"/>
              <a:ext cx="101600" cy="106500"/>
              <a:chOff x="10064750" y="937350"/>
              <a:chExt cx="101600" cy="106500"/>
            </a:xfrm>
          </p:grpSpPr>
          <p:sp>
            <p:nvSpPr>
              <p:cNvPr id="52" name="Freeform 52"/>
              <p:cNvSpPr/>
              <p:nvPr/>
            </p:nvSpPr>
            <p:spPr>
              <a:xfrm>
                <a:off x="10064750" y="93735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FFFFFF"/>
                </a:solidFill>
              </a:ln>
            </p:spPr>
          </p:sp>
          <p:sp>
            <p:nvSpPr>
              <p:cNvPr id="53" name="Freeform 53"/>
              <p:cNvSpPr/>
              <p:nvPr/>
            </p:nvSpPr>
            <p:spPr>
              <a:xfrm>
                <a:off x="10064750" y="99695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FFFFFF"/>
                </a:solidFill>
              </a:ln>
            </p:spPr>
          </p:sp>
        </p:grpSp>
        <p:sp>
          <p:nvSpPr>
            <p:cNvPr id="55" name="TextBox 55"/>
            <p:cNvSpPr txBox="1"/>
            <p:nvPr/>
          </p:nvSpPr>
          <p:spPr>
            <a:xfrm>
              <a:off x="10339388" y="863441"/>
              <a:ext cx="4510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动态调整</a:t>
              </a:r>
            </a:p>
          </p:txBody>
        </p:sp>
        <p:sp>
          <p:nvSpPr>
            <p:cNvPr id="56" name="TextBox 56"/>
            <p:cNvSpPr txBox="1"/>
            <p:nvPr/>
          </p:nvSpPr>
          <p:spPr>
            <a:xfrm>
              <a:off x="10339388" y="1034653"/>
              <a:ext cx="688010" cy="111919"/>
            </a:xfrm>
            <a:prstGeom prst="rect">
              <a:avLst/>
            </a:prstGeom>
            <a:noFill/>
            <a:ln>
              <a:noFill/>
            </a:ln>
          </p:spPr>
          <p:txBody>
            <a:bodyPr wrap="none" lIns="0" tIns="0" rIns="0" bIns="0" anchor="t" anchorCtr="0">
              <a:spAutoFit/>
            </a:bodyPr>
            <a:lstStyle/>
            <a:p>
              <a:pPr algn="l"/>
              <a:r>
                <a:rPr lang="zh-CN" sz="560" dirty="0">
                  <a:solidFill>
                    <a:srgbClr val="7E6A66"/>
                  </a:solidFill>
                  <a:latin typeface="+mn-lt"/>
                  <a:ea typeface="+mn-ea"/>
                  <a:cs typeface="+mn-cs"/>
                </a:rPr>
                <a:t>监测反馈与滚动迭代</a:t>
              </a:r>
            </a:p>
          </p:txBody>
        </p:sp>
      </p:grpSp>
      <p:grpSp>
        <p:nvGrpSpPr>
          <p:cNvPr id="110" name="timeline"/>
          <p:cNvGrpSpPr/>
          <p:nvPr/>
        </p:nvGrpSpPr>
        <p:grpSpPr>
          <a:xfrm>
            <a:off x="228600" y="1485900"/>
            <a:ext cx="2857500" cy="3848100"/>
            <a:chOff x="228600" y="1485900"/>
            <a:chExt cx="2857500" cy="3848100"/>
          </a:xfrm>
        </p:grpSpPr>
        <p:sp>
          <p:nvSpPr>
            <p:cNvPr id="58" name="Rectangle 58"/>
            <p:cNvSpPr/>
            <p:nvPr/>
          </p:nvSpPr>
          <p:spPr>
            <a:xfrm>
              <a:off x="228600" y="1485900"/>
              <a:ext cx="2857500" cy="266700"/>
            </a:xfrm>
            <a:prstGeom prst="rect">
              <a:avLst/>
            </a:prstGeom>
            <a:solidFill>
              <a:srgbClr val="4E0D00"/>
            </a:solidFill>
            <a:ln>
              <a:noFill/>
            </a:ln>
          </p:spPr>
        </p:sp>
        <p:sp>
          <p:nvSpPr>
            <p:cNvPr id="59" name="TextBox 59"/>
            <p:cNvSpPr txBox="1"/>
            <p:nvPr/>
          </p:nvSpPr>
          <p:spPr>
            <a:xfrm>
              <a:off x="986218" y="1569720"/>
              <a:ext cx="1342263"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战略地平线（时间跨度）</a:t>
              </a:r>
            </a:p>
          </p:txBody>
        </p:sp>
        <p:sp>
          <p:nvSpPr>
            <p:cNvPr id="60" name="Line 60"/>
            <p:cNvSpPr/>
            <p:nvPr/>
          </p:nvSpPr>
          <p:spPr>
            <a:xfrm>
              <a:off x="438150" y="1866900"/>
              <a:ext cx="9525" cy="3467100"/>
            </a:xfrm>
            <a:custGeom>
              <a:avLst/>
              <a:gdLst/>
              <a:ahLst/>
              <a:cxnLst/>
              <a:rect l="l" t="t" r="r" b="b"/>
              <a:pathLst>
                <a:path w="9525" h="3467100">
                  <a:moveTo>
                    <a:pt x="0" y="0"/>
                  </a:moveTo>
                  <a:lnTo>
                    <a:pt x="0" y="3467100"/>
                  </a:lnTo>
                </a:path>
              </a:pathLst>
            </a:custGeom>
            <a:noFill/>
            <a:ln w="19050">
              <a:solidFill>
                <a:srgbClr val="C9D3E4"/>
              </a:solidFill>
            </a:ln>
          </p:spPr>
        </p:sp>
        <p:sp>
          <p:nvSpPr>
            <p:cNvPr id="61" name="Ellipse 61"/>
            <p:cNvSpPr/>
            <p:nvPr/>
          </p:nvSpPr>
          <p:spPr>
            <a:xfrm>
              <a:off x="333375" y="2343150"/>
              <a:ext cx="209550" cy="209550"/>
            </a:xfrm>
            <a:prstGeom prst="ellipse">
              <a:avLst/>
            </a:prstGeom>
            <a:solidFill>
              <a:srgbClr val="4E0D00"/>
            </a:solidFill>
            <a:ln>
              <a:noFill/>
            </a:ln>
          </p:spPr>
        </p:sp>
        <p:sp>
          <p:nvSpPr>
            <p:cNvPr id="62" name="TextBox 62"/>
            <p:cNvSpPr txBox="1"/>
            <p:nvPr/>
          </p:nvSpPr>
          <p:spPr>
            <a:xfrm>
              <a:off x="402679" y="240101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a:t>
              </a:r>
            </a:p>
          </p:txBody>
        </p:sp>
        <p:sp>
          <p:nvSpPr>
            <p:cNvPr id="63" name="Ellipse 63"/>
            <p:cNvSpPr/>
            <p:nvPr/>
          </p:nvSpPr>
          <p:spPr>
            <a:xfrm>
              <a:off x="333375" y="3524250"/>
              <a:ext cx="209550" cy="209550"/>
            </a:xfrm>
            <a:prstGeom prst="ellipse">
              <a:avLst/>
            </a:prstGeom>
            <a:solidFill>
              <a:srgbClr val="4E0D00"/>
            </a:solidFill>
            <a:ln>
              <a:noFill/>
            </a:ln>
          </p:spPr>
        </p:sp>
        <p:sp>
          <p:nvSpPr>
            <p:cNvPr id="64" name="TextBox 64"/>
            <p:cNvSpPr txBox="1"/>
            <p:nvPr/>
          </p:nvSpPr>
          <p:spPr>
            <a:xfrm>
              <a:off x="402679" y="358211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2</a:t>
              </a:r>
            </a:p>
          </p:txBody>
        </p:sp>
        <p:sp>
          <p:nvSpPr>
            <p:cNvPr id="65" name="Ellipse 65"/>
            <p:cNvSpPr/>
            <p:nvPr/>
          </p:nvSpPr>
          <p:spPr>
            <a:xfrm>
              <a:off x="333375" y="4705350"/>
              <a:ext cx="209550" cy="209550"/>
            </a:xfrm>
            <a:prstGeom prst="ellipse">
              <a:avLst/>
            </a:prstGeom>
            <a:solidFill>
              <a:srgbClr val="4E0D00"/>
            </a:solidFill>
            <a:ln>
              <a:noFill/>
            </a:ln>
          </p:spPr>
        </p:sp>
        <p:sp>
          <p:nvSpPr>
            <p:cNvPr id="66" name="TextBox 66"/>
            <p:cNvSpPr txBox="1"/>
            <p:nvPr/>
          </p:nvSpPr>
          <p:spPr>
            <a:xfrm>
              <a:off x="402679" y="4763214"/>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3</a:t>
              </a:r>
            </a:p>
          </p:txBody>
        </p:sp>
        <p:grpSp>
          <p:nvGrpSpPr>
            <p:cNvPr id="81" name="tl-h1"/>
            <p:cNvGrpSpPr/>
            <p:nvPr/>
          </p:nvGrpSpPr>
          <p:grpSpPr>
            <a:xfrm>
              <a:off x="628650" y="1924050"/>
              <a:ext cx="2419350" cy="1047750"/>
              <a:chOff x="628650" y="1924050"/>
              <a:chExt cx="2419350" cy="1047750"/>
            </a:xfrm>
          </p:grpSpPr>
          <p:sp>
            <p:nvSpPr>
              <p:cNvPr id="67" name="Rectangle 67"/>
              <p:cNvSpPr/>
              <p:nvPr/>
            </p:nvSpPr>
            <p:spPr>
              <a:xfrm>
                <a:off x="628650" y="1924050"/>
                <a:ext cx="2419350" cy="1047750"/>
              </a:xfrm>
              <a:prstGeom prst="rect">
                <a:avLst/>
              </a:prstGeom>
              <a:solidFill>
                <a:srgbClr val="FFFFFF"/>
              </a:solidFill>
              <a:ln w="9525">
                <a:solidFill>
                  <a:srgbClr val="C7D2E4"/>
                </a:solidFill>
              </a:ln>
            </p:spPr>
          </p:sp>
          <p:sp>
            <p:nvSpPr>
              <p:cNvPr id="68" name="Ellipse 68"/>
              <p:cNvSpPr/>
              <p:nvPr/>
            </p:nvSpPr>
            <p:spPr>
              <a:xfrm>
                <a:off x="742950" y="2038350"/>
                <a:ext cx="266700" cy="266700"/>
              </a:xfrm>
              <a:prstGeom prst="ellipse">
                <a:avLst/>
              </a:prstGeom>
              <a:solidFill>
                <a:srgbClr val="EFF3FA"/>
              </a:solidFill>
              <a:ln>
                <a:noFill/>
              </a:ln>
            </p:spPr>
          </p:sp>
          <p:grpSp>
            <p:nvGrpSpPr>
              <p:cNvPr id="73" name="Group 73"/>
              <p:cNvGrpSpPr/>
              <p:nvPr/>
            </p:nvGrpSpPr>
            <p:grpSpPr>
              <a:xfrm>
                <a:off x="819150" y="2114550"/>
                <a:ext cx="114300" cy="114300"/>
                <a:chOff x="819150" y="2114550"/>
                <a:chExt cx="114300" cy="114300"/>
              </a:xfrm>
            </p:grpSpPr>
            <p:sp>
              <p:nvSpPr>
                <p:cNvPr id="69" name="Freeform 69"/>
                <p:cNvSpPr/>
                <p:nvPr/>
              </p:nvSpPr>
              <p:spPr>
                <a:xfrm>
                  <a:off x="819150" y="2114550"/>
                  <a:ext cx="114300" cy="114300"/>
                </a:xfrm>
                <a:custGeom>
                  <a:avLst/>
                  <a:gdLst/>
                  <a:ahLst/>
                  <a:cxnLst/>
                  <a:rect l="l" t="t" r="r" b="b"/>
                  <a:pathLst>
                    <a:path w="114300" h="114300">
                      <a:moveTo>
                        <a:pt x="0" y="57150"/>
                      </a:moveTo>
                      <a:cubicBezTo>
                        <a:pt x="0" y="88713"/>
                        <a:pt x="25587" y="114300"/>
                        <a:pt x="57150" y="114300"/>
                      </a:cubicBezTo>
                      <a:cubicBezTo>
                        <a:pt x="88713" y="114300"/>
                        <a:pt x="114300" y="88713"/>
                        <a:pt x="114300" y="57150"/>
                      </a:cubicBezTo>
                      <a:cubicBezTo>
                        <a:pt x="114300" y="25587"/>
                        <a:pt x="88713" y="0"/>
                        <a:pt x="57150" y="0"/>
                      </a:cubicBezTo>
                      <a:cubicBezTo>
                        <a:pt x="25587" y="0"/>
                        <a:pt x="0" y="25587"/>
                        <a:pt x="0" y="57150"/>
                      </a:cubicBezTo>
                    </a:path>
                  </a:pathLst>
                </a:custGeom>
                <a:noFill/>
                <a:ln w="12700">
                  <a:solidFill>
                    <a:srgbClr val="4E0D00"/>
                  </a:solidFill>
                </a:ln>
              </p:spPr>
            </p:sp>
            <p:sp>
              <p:nvSpPr>
                <p:cNvPr id="70" name="Freeform 70"/>
                <p:cNvSpPr/>
                <p:nvPr/>
              </p:nvSpPr>
              <p:spPr>
                <a:xfrm>
                  <a:off x="869950" y="2165350"/>
                  <a:ext cx="12700" cy="12700"/>
                </a:xfrm>
                <a:custGeom>
                  <a:avLst/>
                  <a:gdLst/>
                  <a:ahLst/>
                  <a:cxnLst/>
                  <a:rect l="l" t="t" r="r" b="b"/>
                  <a:pathLst>
                    <a:path w="12700" h="12700">
                      <a:moveTo>
                        <a:pt x="0" y="6350"/>
                      </a:moveTo>
                      <a:cubicBezTo>
                        <a:pt x="0" y="9857"/>
                        <a:pt x="2843" y="12700"/>
                        <a:pt x="6350" y="12700"/>
                      </a:cubicBezTo>
                      <a:cubicBezTo>
                        <a:pt x="9857" y="12700"/>
                        <a:pt x="12700" y="9857"/>
                        <a:pt x="12700" y="6350"/>
                      </a:cubicBezTo>
                      <a:cubicBezTo>
                        <a:pt x="12700" y="2843"/>
                        <a:pt x="9857" y="0"/>
                        <a:pt x="6350" y="0"/>
                      </a:cubicBezTo>
                      <a:cubicBezTo>
                        <a:pt x="2843" y="0"/>
                        <a:pt x="0" y="2843"/>
                        <a:pt x="0" y="6350"/>
                      </a:cubicBezTo>
                    </a:path>
                  </a:pathLst>
                </a:custGeom>
                <a:noFill/>
                <a:ln w="12700">
                  <a:solidFill>
                    <a:srgbClr val="4E0D00"/>
                  </a:solidFill>
                </a:ln>
              </p:spPr>
            </p:sp>
            <p:sp>
              <p:nvSpPr>
                <p:cNvPr id="71" name="Freeform 71"/>
                <p:cNvSpPr/>
                <p:nvPr/>
              </p:nvSpPr>
              <p:spPr>
                <a:xfrm>
                  <a:off x="885254" y="2146300"/>
                  <a:ext cx="16447" cy="16447"/>
                </a:xfrm>
                <a:custGeom>
                  <a:avLst/>
                  <a:gdLst/>
                  <a:ahLst/>
                  <a:cxnLst/>
                  <a:rect l="l" t="t" r="r" b="b"/>
                  <a:pathLst>
                    <a:path w="16447" h="16447">
                      <a:moveTo>
                        <a:pt x="0" y="16447"/>
                      </a:moveTo>
                      <a:lnTo>
                        <a:pt x="16447" y="0"/>
                      </a:lnTo>
                    </a:path>
                  </a:pathLst>
                </a:custGeom>
                <a:noFill/>
                <a:ln w="12700">
                  <a:solidFill>
                    <a:srgbClr val="4E0D00"/>
                  </a:solidFill>
                </a:ln>
              </p:spPr>
            </p:sp>
            <p:sp>
              <p:nvSpPr>
                <p:cNvPr id="72" name="Freeform 72"/>
                <p:cNvSpPr/>
                <p:nvPr/>
              </p:nvSpPr>
              <p:spPr>
                <a:xfrm>
                  <a:off x="844550" y="2139950"/>
                  <a:ext cx="31750" cy="31750"/>
                </a:xfrm>
                <a:custGeom>
                  <a:avLst/>
                  <a:gdLst/>
                  <a:ahLst/>
                  <a:cxnLst/>
                  <a:rect l="l" t="t" r="r" b="b"/>
                  <a:pathLst>
                    <a:path w="31750" h="31750">
                      <a:moveTo>
                        <a:pt x="0" y="31750"/>
                      </a:moveTo>
                      <a:cubicBezTo>
                        <a:pt x="0" y="14215"/>
                        <a:pt x="14215" y="0"/>
                        <a:pt x="31750" y="0"/>
                      </a:cubicBezTo>
                    </a:path>
                  </a:pathLst>
                </a:custGeom>
                <a:noFill/>
                <a:ln w="12700">
                  <a:solidFill>
                    <a:srgbClr val="4E0D00"/>
                  </a:solidFill>
                </a:ln>
              </p:spPr>
            </p:sp>
          </p:grpSp>
          <p:sp>
            <p:nvSpPr>
              <p:cNvPr id="74" name="TextBox 74"/>
              <p:cNvSpPr txBox="1"/>
              <p:nvPr/>
            </p:nvSpPr>
            <p:spPr>
              <a:xfrm>
                <a:off x="1081088" y="2130266"/>
                <a:ext cx="114762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短期0–2年：经营优化​</a:t>
                </a:r>
              </a:p>
            </p:txBody>
          </p:sp>
          <p:sp>
            <p:nvSpPr>
              <p:cNvPr id="75" name="Ellipse 75"/>
              <p:cNvSpPr/>
              <p:nvPr/>
            </p:nvSpPr>
            <p:spPr>
              <a:xfrm>
                <a:off x="821055" y="2402205"/>
                <a:ext cx="34290" cy="34290"/>
              </a:xfrm>
              <a:prstGeom prst="ellipse">
                <a:avLst/>
              </a:prstGeom>
              <a:solidFill>
                <a:srgbClr val="711E0D"/>
              </a:solidFill>
              <a:ln>
                <a:noFill/>
              </a:ln>
            </p:spPr>
          </p:sp>
          <p:sp>
            <p:nvSpPr>
              <p:cNvPr id="76" name="TextBox 76"/>
              <p:cNvSpPr txBox="1"/>
              <p:nvPr/>
            </p:nvSpPr>
            <p:spPr>
              <a:xfrm>
                <a:off x="909638" y="2383869"/>
                <a:ext cx="112956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提升效率与质量，改善现金流</a:t>
                </a:r>
              </a:p>
            </p:txBody>
          </p:sp>
          <p:sp>
            <p:nvSpPr>
              <p:cNvPr id="77" name="Ellipse 77"/>
              <p:cNvSpPr/>
              <p:nvPr/>
            </p:nvSpPr>
            <p:spPr>
              <a:xfrm>
                <a:off x="821055" y="2554605"/>
                <a:ext cx="34290" cy="34290"/>
              </a:xfrm>
              <a:prstGeom prst="ellipse">
                <a:avLst/>
              </a:prstGeom>
              <a:solidFill>
                <a:srgbClr val="711E0D"/>
              </a:solidFill>
              <a:ln>
                <a:noFill/>
              </a:ln>
            </p:spPr>
          </p:sp>
          <p:sp>
            <p:nvSpPr>
              <p:cNvPr id="78" name="TextBox 78"/>
              <p:cNvSpPr txBox="1"/>
              <p:nvPr/>
            </p:nvSpPr>
            <p:spPr>
              <a:xfrm>
                <a:off x="909638" y="2536269"/>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优化客户结构与产品组合</a:t>
                </a:r>
              </a:p>
            </p:txBody>
          </p:sp>
          <p:sp>
            <p:nvSpPr>
              <p:cNvPr id="79" name="Ellipse 79"/>
              <p:cNvSpPr/>
              <p:nvPr/>
            </p:nvSpPr>
            <p:spPr>
              <a:xfrm>
                <a:off x="821055" y="2707005"/>
                <a:ext cx="34290" cy="34290"/>
              </a:xfrm>
              <a:prstGeom prst="ellipse">
                <a:avLst/>
              </a:prstGeom>
              <a:solidFill>
                <a:srgbClr val="711E0D"/>
              </a:solidFill>
              <a:ln>
                <a:noFill/>
              </a:ln>
            </p:spPr>
          </p:sp>
          <p:sp>
            <p:nvSpPr>
              <p:cNvPr id="80" name="TextBox 80"/>
              <p:cNvSpPr txBox="1"/>
              <p:nvPr/>
            </p:nvSpPr>
            <p:spPr>
              <a:xfrm>
                <a:off x="909638" y="2688669"/>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巩固核心竞争力与护城河</a:t>
                </a:r>
              </a:p>
            </p:txBody>
          </p:sp>
        </p:grpSp>
        <p:grpSp>
          <p:nvGrpSpPr>
            <p:cNvPr id="94" name="tl-h2"/>
            <p:cNvGrpSpPr/>
            <p:nvPr/>
          </p:nvGrpSpPr>
          <p:grpSpPr>
            <a:xfrm>
              <a:off x="628650" y="3105150"/>
              <a:ext cx="2419350" cy="1047750"/>
              <a:chOff x="628650" y="3105150"/>
              <a:chExt cx="2419350" cy="1047750"/>
            </a:xfrm>
          </p:grpSpPr>
          <p:sp>
            <p:nvSpPr>
              <p:cNvPr id="82" name="Rectangle 82"/>
              <p:cNvSpPr/>
              <p:nvPr/>
            </p:nvSpPr>
            <p:spPr>
              <a:xfrm>
                <a:off x="628650" y="3105150"/>
                <a:ext cx="2419350" cy="1047750"/>
              </a:xfrm>
              <a:prstGeom prst="rect">
                <a:avLst/>
              </a:prstGeom>
              <a:solidFill>
                <a:srgbClr val="FFFFFF"/>
              </a:solidFill>
              <a:ln w="9525">
                <a:solidFill>
                  <a:srgbClr val="C7D2E4"/>
                </a:solidFill>
              </a:ln>
            </p:spPr>
          </p:sp>
          <p:sp>
            <p:nvSpPr>
              <p:cNvPr id="83" name="Ellipse 83"/>
              <p:cNvSpPr/>
              <p:nvPr/>
            </p:nvSpPr>
            <p:spPr>
              <a:xfrm>
                <a:off x="742950" y="3219450"/>
                <a:ext cx="266700" cy="266700"/>
              </a:xfrm>
              <a:prstGeom prst="ellipse">
                <a:avLst/>
              </a:prstGeom>
              <a:solidFill>
                <a:srgbClr val="EFF3FA"/>
              </a:solidFill>
              <a:ln>
                <a:noFill/>
              </a:ln>
            </p:spPr>
          </p:sp>
          <p:grpSp>
            <p:nvGrpSpPr>
              <p:cNvPr id="86" name="Group 86"/>
              <p:cNvGrpSpPr/>
              <p:nvPr/>
            </p:nvGrpSpPr>
            <p:grpSpPr>
              <a:xfrm>
                <a:off x="825500" y="3314700"/>
                <a:ext cx="101600" cy="92075"/>
                <a:chOff x="825500" y="3314700"/>
                <a:chExt cx="101600" cy="92075"/>
              </a:xfrm>
            </p:grpSpPr>
            <p:sp>
              <p:nvSpPr>
                <p:cNvPr id="84" name="Freeform 84"/>
                <p:cNvSpPr/>
                <p:nvPr/>
              </p:nvSpPr>
              <p:spPr>
                <a:xfrm>
                  <a:off x="825500" y="3397250"/>
                  <a:ext cx="101600" cy="9525"/>
                </a:xfrm>
                <a:custGeom>
                  <a:avLst/>
                  <a:gdLst/>
                  <a:ahLst/>
                  <a:cxnLst/>
                  <a:rect l="l" t="t" r="r" b="b"/>
                  <a:pathLst>
                    <a:path w="101600" h="9525">
                      <a:moveTo>
                        <a:pt x="0" y="0"/>
                      </a:moveTo>
                      <a:lnTo>
                        <a:pt x="101600" y="0"/>
                      </a:lnTo>
                    </a:path>
                  </a:pathLst>
                </a:custGeom>
                <a:noFill/>
                <a:ln w="12700">
                  <a:solidFill>
                    <a:srgbClr val="4E0D00"/>
                  </a:solidFill>
                </a:ln>
              </p:spPr>
            </p:sp>
            <p:sp>
              <p:nvSpPr>
                <p:cNvPr id="85" name="Freeform 85"/>
                <p:cNvSpPr/>
                <p:nvPr/>
              </p:nvSpPr>
              <p:spPr>
                <a:xfrm>
                  <a:off x="825500" y="3314700"/>
                  <a:ext cx="101600" cy="57150"/>
                </a:xfrm>
                <a:custGeom>
                  <a:avLst/>
                  <a:gdLst/>
                  <a:ahLst/>
                  <a:cxnLst/>
                  <a:rect l="l" t="t" r="r" b="b"/>
                  <a:pathLst>
                    <a:path w="101600" h="57150">
                      <a:moveTo>
                        <a:pt x="0" y="57150"/>
                      </a:moveTo>
                      <a:lnTo>
                        <a:pt x="25400" y="19050"/>
                      </a:lnTo>
                      <a:lnTo>
                        <a:pt x="50800" y="31750"/>
                      </a:lnTo>
                      <a:lnTo>
                        <a:pt x="76200" y="0"/>
                      </a:lnTo>
                      <a:lnTo>
                        <a:pt x="101600" y="25400"/>
                      </a:lnTo>
                    </a:path>
                  </a:pathLst>
                </a:custGeom>
                <a:noFill/>
                <a:ln w="12700">
                  <a:solidFill>
                    <a:srgbClr val="4E0D00"/>
                  </a:solidFill>
                </a:ln>
              </p:spPr>
            </p:sp>
          </p:grpSp>
          <p:sp>
            <p:nvSpPr>
              <p:cNvPr id="87" name="TextBox 87"/>
              <p:cNvSpPr txBox="1"/>
              <p:nvPr/>
            </p:nvSpPr>
            <p:spPr>
              <a:xfrm>
                <a:off x="1081088" y="3311366"/>
                <a:ext cx="1304657"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中期3–5年：第二增长曲线</a:t>
                </a:r>
              </a:p>
            </p:txBody>
          </p:sp>
          <p:sp>
            <p:nvSpPr>
              <p:cNvPr id="88" name="Ellipse 88"/>
              <p:cNvSpPr/>
              <p:nvPr/>
            </p:nvSpPr>
            <p:spPr>
              <a:xfrm>
                <a:off x="821055" y="3583305"/>
                <a:ext cx="34290" cy="34290"/>
              </a:xfrm>
              <a:prstGeom prst="ellipse">
                <a:avLst/>
              </a:prstGeom>
              <a:solidFill>
                <a:srgbClr val="711E0D"/>
              </a:solidFill>
              <a:ln>
                <a:noFill/>
              </a:ln>
            </p:spPr>
          </p:sp>
          <p:sp>
            <p:nvSpPr>
              <p:cNvPr id="89" name="TextBox 89"/>
              <p:cNvSpPr txBox="1"/>
              <p:nvPr/>
            </p:nvSpPr>
            <p:spPr>
              <a:xfrm>
                <a:off x="909638" y="3564969"/>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拓展相邻市场与新客户群</a:t>
                </a:r>
              </a:p>
            </p:txBody>
          </p:sp>
          <p:sp>
            <p:nvSpPr>
              <p:cNvPr id="90" name="Ellipse 90"/>
              <p:cNvSpPr/>
              <p:nvPr/>
            </p:nvSpPr>
            <p:spPr>
              <a:xfrm>
                <a:off x="821055" y="3735705"/>
                <a:ext cx="34290" cy="34290"/>
              </a:xfrm>
              <a:prstGeom prst="ellipse">
                <a:avLst/>
              </a:prstGeom>
              <a:solidFill>
                <a:srgbClr val="711E0D"/>
              </a:solidFill>
              <a:ln>
                <a:noFill/>
              </a:ln>
            </p:spPr>
          </p:sp>
          <p:sp>
            <p:nvSpPr>
              <p:cNvPr id="91" name="TextBox 91"/>
              <p:cNvSpPr txBox="1"/>
              <p:nvPr/>
            </p:nvSpPr>
            <p:spPr>
              <a:xfrm>
                <a:off x="909638" y="3717369"/>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孵化新业务与新商业模式</a:t>
                </a:r>
              </a:p>
            </p:txBody>
          </p:sp>
          <p:sp>
            <p:nvSpPr>
              <p:cNvPr id="92" name="Ellipse 92"/>
              <p:cNvSpPr/>
              <p:nvPr/>
            </p:nvSpPr>
            <p:spPr>
              <a:xfrm>
                <a:off x="821055" y="3888105"/>
                <a:ext cx="34290" cy="34290"/>
              </a:xfrm>
              <a:prstGeom prst="ellipse">
                <a:avLst/>
              </a:prstGeom>
              <a:solidFill>
                <a:srgbClr val="711E0D"/>
              </a:solidFill>
              <a:ln>
                <a:noFill/>
              </a:ln>
            </p:spPr>
          </p:sp>
          <p:sp>
            <p:nvSpPr>
              <p:cNvPr id="93" name="TextBox 93"/>
              <p:cNvSpPr txBox="1"/>
              <p:nvPr/>
            </p:nvSpPr>
            <p:spPr>
              <a:xfrm>
                <a:off x="909638" y="3869769"/>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构建可复制的增长引擎</a:t>
                </a:r>
              </a:p>
            </p:txBody>
          </p:sp>
        </p:grpSp>
        <p:grpSp>
          <p:nvGrpSpPr>
            <p:cNvPr id="109" name="tl-h3"/>
            <p:cNvGrpSpPr/>
            <p:nvPr/>
          </p:nvGrpSpPr>
          <p:grpSpPr>
            <a:xfrm>
              <a:off x="628650" y="4286250"/>
              <a:ext cx="2419350" cy="1047750"/>
              <a:chOff x="628650" y="4286250"/>
              <a:chExt cx="2419350" cy="1047750"/>
            </a:xfrm>
          </p:grpSpPr>
          <p:sp>
            <p:nvSpPr>
              <p:cNvPr id="95" name="Rectangle 95"/>
              <p:cNvSpPr/>
              <p:nvPr/>
            </p:nvSpPr>
            <p:spPr>
              <a:xfrm>
                <a:off x="628650" y="4286250"/>
                <a:ext cx="2419350" cy="1047750"/>
              </a:xfrm>
              <a:prstGeom prst="rect">
                <a:avLst/>
              </a:prstGeom>
              <a:solidFill>
                <a:srgbClr val="FFFFFF"/>
              </a:solidFill>
              <a:ln w="9525">
                <a:solidFill>
                  <a:srgbClr val="C7D2E4"/>
                </a:solidFill>
              </a:ln>
            </p:spPr>
          </p:sp>
          <p:sp>
            <p:nvSpPr>
              <p:cNvPr id="96" name="Ellipse 96"/>
              <p:cNvSpPr/>
              <p:nvPr/>
            </p:nvSpPr>
            <p:spPr>
              <a:xfrm>
                <a:off x="742950" y="4400550"/>
                <a:ext cx="266700" cy="266700"/>
              </a:xfrm>
              <a:prstGeom prst="ellipse">
                <a:avLst/>
              </a:prstGeom>
              <a:solidFill>
                <a:srgbClr val="EFF3FA"/>
              </a:solidFill>
              <a:ln>
                <a:noFill/>
              </a:ln>
            </p:spPr>
          </p:sp>
          <p:grpSp>
            <p:nvGrpSpPr>
              <p:cNvPr id="101" name="Group 101"/>
              <p:cNvGrpSpPr/>
              <p:nvPr/>
            </p:nvGrpSpPr>
            <p:grpSpPr>
              <a:xfrm>
                <a:off x="817232" y="4475809"/>
                <a:ext cx="116446" cy="115241"/>
                <a:chOff x="817232" y="4475809"/>
                <a:chExt cx="116446" cy="115241"/>
              </a:xfrm>
            </p:grpSpPr>
            <p:sp>
              <p:nvSpPr>
                <p:cNvPr id="97" name="Freeform 97"/>
                <p:cNvSpPr/>
                <p:nvPr/>
              </p:nvSpPr>
              <p:spPr>
                <a:xfrm>
                  <a:off x="838200" y="4559300"/>
                  <a:ext cx="76200" cy="31750"/>
                </a:xfrm>
                <a:custGeom>
                  <a:avLst/>
                  <a:gdLst/>
                  <a:ahLst/>
                  <a:cxnLst/>
                  <a:rect l="l" t="t" r="r" b="b"/>
                  <a:pathLst>
                    <a:path w="76200" h="31750">
                      <a:moveTo>
                        <a:pt x="0" y="31750"/>
                      </a:moveTo>
                      <a:lnTo>
                        <a:pt x="38100" y="0"/>
                      </a:lnTo>
                      <a:lnTo>
                        <a:pt x="76200" y="31750"/>
                      </a:lnTo>
                    </a:path>
                  </a:pathLst>
                </a:custGeom>
                <a:noFill/>
                <a:ln w="12700">
                  <a:solidFill>
                    <a:srgbClr val="4E0D00"/>
                  </a:solidFill>
                </a:ln>
              </p:spPr>
            </p:sp>
            <p:sp>
              <p:nvSpPr>
                <p:cNvPr id="98" name="Freeform 98"/>
                <p:cNvSpPr/>
                <p:nvPr/>
              </p:nvSpPr>
              <p:spPr>
                <a:xfrm>
                  <a:off x="876300" y="4540250"/>
                  <a:ext cx="9525" cy="50800"/>
                </a:xfrm>
                <a:custGeom>
                  <a:avLst/>
                  <a:gdLst/>
                  <a:ahLst/>
                  <a:cxnLst/>
                  <a:rect l="l" t="t" r="r" b="b"/>
                  <a:pathLst>
                    <a:path w="9525" h="50800">
                      <a:moveTo>
                        <a:pt x="0" y="0"/>
                      </a:moveTo>
                      <a:lnTo>
                        <a:pt x="0" y="50800"/>
                      </a:lnTo>
                    </a:path>
                  </a:pathLst>
                </a:custGeom>
                <a:noFill/>
                <a:ln w="12700">
                  <a:solidFill>
                    <a:srgbClr val="4E0D00"/>
                  </a:solidFill>
                </a:ln>
              </p:spPr>
            </p:sp>
            <p:sp>
              <p:nvSpPr>
                <p:cNvPr id="99" name="Freeform 99"/>
                <p:cNvSpPr/>
                <p:nvPr/>
              </p:nvSpPr>
              <p:spPr>
                <a:xfrm>
                  <a:off x="817232" y="4475809"/>
                  <a:ext cx="116446" cy="78564"/>
                </a:xfrm>
                <a:custGeom>
                  <a:avLst/>
                  <a:gdLst/>
                  <a:ahLst/>
                  <a:cxnLst/>
                  <a:rect l="l" t="t" r="r" b="b"/>
                  <a:pathLst>
                    <a:path w="116446" h="78564">
                      <a:moveTo>
                        <a:pt x="3785" y="68747"/>
                      </a:moveTo>
                      <a:lnTo>
                        <a:pt x="4839" y="70531"/>
                      </a:lnTo>
                      <a:cubicBezTo>
                        <a:pt x="8141" y="76119"/>
                        <a:pt x="15151" y="78564"/>
                        <a:pt x="21380" y="76309"/>
                      </a:cubicBezTo>
                      <a:lnTo>
                        <a:pt x="111817" y="43512"/>
                      </a:lnTo>
                      <a:cubicBezTo>
                        <a:pt x="113623" y="42889"/>
                        <a:pt x="115064" y="41502"/>
                        <a:pt x="115755" y="39721"/>
                      </a:cubicBezTo>
                      <a:cubicBezTo>
                        <a:pt x="116446" y="37939"/>
                        <a:pt x="116318" y="35944"/>
                        <a:pt x="115405" y="34266"/>
                      </a:cubicBezTo>
                      <a:lnTo>
                        <a:pt x="98768" y="4389"/>
                      </a:lnTo>
                      <a:cubicBezTo>
                        <a:pt x="96918" y="1177"/>
                        <a:pt x="92862" y="0"/>
                        <a:pt x="89579" y="1722"/>
                      </a:cubicBezTo>
                      <a:lnTo>
                        <a:pt x="89224" y="1925"/>
                      </a:lnTo>
                      <a:lnTo>
                        <a:pt x="8617" y="50300"/>
                      </a:lnTo>
                      <a:cubicBezTo>
                        <a:pt x="2140" y="54192"/>
                        <a:pt x="0" y="62346"/>
                        <a:pt x="3791" y="68747"/>
                      </a:cubicBezTo>
                      <a:lnTo>
                        <a:pt x="3785" y="68747"/>
                      </a:lnTo>
                    </a:path>
                  </a:pathLst>
                </a:custGeom>
                <a:noFill/>
                <a:ln w="12700">
                  <a:solidFill>
                    <a:srgbClr val="4E0D00"/>
                  </a:solidFill>
                </a:ln>
              </p:spPr>
            </p:sp>
            <p:sp>
              <p:nvSpPr>
                <p:cNvPr id="100" name="Freeform 100"/>
                <p:cNvSpPr/>
                <p:nvPr/>
              </p:nvSpPr>
              <p:spPr>
                <a:xfrm>
                  <a:off x="889000" y="4489450"/>
                  <a:ext cx="19050" cy="34925"/>
                </a:xfrm>
                <a:custGeom>
                  <a:avLst/>
                  <a:gdLst/>
                  <a:ahLst/>
                  <a:cxnLst/>
                  <a:rect l="l" t="t" r="r" b="b"/>
                  <a:pathLst>
                    <a:path w="19050" h="34925">
                      <a:moveTo>
                        <a:pt x="0" y="0"/>
                      </a:moveTo>
                      <a:lnTo>
                        <a:pt x="19050" y="34925"/>
                      </a:lnTo>
                    </a:path>
                  </a:pathLst>
                </a:custGeom>
                <a:noFill/>
                <a:ln w="12700">
                  <a:solidFill>
                    <a:srgbClr val="4E0D00"/>
                  </a:solidFill>
                </a:ln>
              </p:spPr>
            </p:sp>
          </p:grpSp>
          <p:sp>
            <p:nvSpPr>
              <p:cNvPr id="102" name="TextBox 102"/>
              <p:cNvSpPr txBox="1"/>
              <p:nvPr/>
            </p:nvSpPr>
            <p:spPr>
              <a:xfrm>
                <a:off x="1081088" y="4492466"/>
                <a:ext cx="1211379"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长期5–10年：未来期权​</a:t>
                </a:r>
              </a:p>
            </p:txBody>
          </p:sp>
          <p:sp>
            <p:nvSpPr>
              <p:cNvPr id="103" name="Ellipse 103"/>
              <p:cNvSpPr/>
              <p:nvPr/>
            </p:nvSpPr>
            <p:spPr>
              <a:xfrm>
                <a:off x="821055" y="4764405"/>
                <a:ext cx="34290" cy="34290"/>
              </a:xfrm>
              <a:prstGeom prst="ellipse">
                <a:avLst/>
              </a:prstGeom>
              <a:solidFill>
                <a:srgbClr val="711E0D"/>
              </a:solidFill>
              <a:ln>
                <a:noFill/>
              </a:ln>
            </p:spPr>
          </p:sp>
          <p:sp>
            <p:nvSpPr>
              <p:cNvPr id="104" name="TextBox 104"/>
              <p:cNvSpPr txBox="1"/>
              <p:nvPr/>
            </p:nvSpPr>
            <p:spPr>
              <a:xfrm>
                <a:off x="909638" y="4746069"/>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探索颠覆性机会与新赛道</a:t>
                </a:r>
              </a:p>
            </p:txBody>
          </p:sp>
          <p:sp>
            <p:nvSpPr>
              <p:cNvPr id="105" name="Ellipse 105"/>
              <p:cNvSpPr/>
              <p:nvPr/>
            </p:nvSpPr>
            <p:spPr>
              <a:xfrm>
                <a:off x="821055" y="4916805"/>
                <a:ext cx="34290" cy="34290"/>
              </a:xfrm>
              <a:prstGeom prst="ellipse">
                <a:avLst/>
              </a:prstGeom>
              <a:solidFill>
                <a:srgbClr val="711E0D"/>
              </a:solidFill>
              <a:ln>
                <a:noFill/>
              </a:ln>
            </p:spPr>
          </p:sp>
          <p:sp>
            <p:nvSpPr>
              <p:cNvPr id="106" name="TextBox 106"/>
              <p:cNvSpPr txBox="1"/>
              <p:nvPr/>
            </p:nvSpPr>
            <p:spPr>
              <a:xfrm>
                <a:off x="909638" y="4898469"/>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投资平台型与生态型能力</a:t>
                </a:r>
              </a:p>
            </p:txBody>
          </p:sp>
          <p:sp>
            <p:nvSpPr>
              <p:cNvPr id="107" name="Ellipse 107"/>
              <p:cNvSpPr/>
              <p:nvPr/>
            </p:nvSpPr>
            <p:spPr>
              <a:xfrm>
                <a:off x="821055" y="5069205"/>
                <a:ext cx="34290" cy="34290"/>
              </a:xfrm>
              <a:prstGeom prst="ellipse">
                <a:avLst/>
              </a:prstGeom>
              <a:solidFill>
                <a:srgbClr val="711E0D"/>
              </a:solidFill>
              <a:ln>
                <a:noFill/>
              </a:ln>
            </p:spPr>
          </p:sp>
          <p:sp>
            <p:nvSpPr>
              <p:cNvPr id="108" name="TextBox 108"/>
              <p:cNvSpPr txBox="1"/>
              <p:nvPr/>
            </p:nvSpPr>
            <p:spPr>
              <a:xfrm>
                <a:off x="909638" y="5050869"/>
                <a:ext cx="87109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为未来选择保留灵活性</a:t>
                </a:r>
              </a:p>
            </p:txBody>
          </p:sp>
        </p:grpSp>
      </p:grpSp>
      <p:grpSp>
        <p:nvGrpSpPr>
          <p:cNvPr id="155" name="trend-map"/>
          <p:cNvGrpSpPr/>
          <p:nvPr/>
        </p:nvGrpSpPr>
        <p:grpSpPr>
          <a:xfrm>
            <a:off x="3200400" y="1485900"/>
            <a:ext cx="3810000" cy="3975020"/>
            <a:chOff x="3200400" y="1485900"/>
            <a:chExt cx="3810000" cy="3975020"/>
          </a:xfrm>
        </p:grpSpPr>
        <p:sp>
          <p:nvSpPr>
            <p:cNvPr id="111" name="Rectangle 111"/>
            <p:cNvSpPr/>
            <p:nvPr/>
          </p:nvSpPr>
          <p:spPr>
            <a:xfrm>
              <a:off x="3200400" y="1485900"/>
              <a:ext cx="3810000" cy="266700"/>
            </a:xfrm>
            <a:prstGeom prst="rect">
              <a:avLst/>
            </a:prstGeom>
            <a:solidFill>
              <a:srgbClr val="4E0D00"/>
            </a:solidFill>
            <a:ln>
              <a:noFill/>
            </a:ln>
          </p:spPr>
        </p:sp>
        <p:sp>
          <p:nvSpPr>
            <p:cNvPr id="112" name="TextBox 112"/>
            <p:cNvSpPr txBox="1"/>
            <p:nvPr/>
          </p:nvSpPr>
          <p:spPr>
            <a:xfrm>
              <a:off x="4010216" y="1569720"/>
              <a:ext cx="2190369"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趋势地图：不确定性与影响的优先级划分</a:t>
              </a:r>
            </a:p>
          </p:txBody>
        </p:sp>
        <p:sp>
          <p:nvSpPr>
            <p:cNvPr id="113" name="Rectangle 113"/>
            <p:cNvSpPr/>
            <p:nvPr/>
          </p:nvSpPr>
          <p:spPr>
            <a:xfrm>
              <a:off x="3771900" y="1905000"/>
              <a:ext cx="1562100" cy="1562100"/>
            </a:xfrm>
            <a:prstGeom prst="rect">
              <a:avLst/>
            </a:prstGeom>
            <a:solidFill>
              <a:srgbClr val="4E0D00"/>
            </a:solidFill>
            <a:ln>
              <a:noFill/>
            </a:ln>
          </p:spPr>
        </p:sp>
        <p:grpSp>
          <p:nvGrpSpPr>
            <p:cNvPr id="116" name="Group 116"/>
            <p:cNvGrpSpPr/>
            <p:nvPr/>
          </p:nvGrpSpPr>
          <p:grpSpPr>
            <a:xfrm>
              <a:off x="4524375" y="2055019"/>
              <a:ext cx="57690" cy="109537"/>
              <a:chOff x="4524375" y="2055019"/>
              <a:chExt cx="57690" cy="109537"/>
            </a:xfrm>
          </p:grpSpPr>
          <p:sp>
            <p:nvSpPr>
              <p:cNvPr id="114" name="Freeform 114"/>
              <p:cNvSpPr/>
              <p:nvPr/>
            </p:nvSpPr>
            <p:spPr>
              <a:xfrm>
                <a:off x="4524375" y="2055019"/>
                <a:ext cx="57690" cy="71438"/>
              </a:xfrm>
              <a:custGeom>
                <a:avLst/>
                <a:gdLst/>
                <a:ahLst/>
                <a:cxnLst/>
                <a:rect l="l" t="t" r="r" b="b"/>
                <a:pathLst>
                  <a:path w="57690" h="71438">
                    <a:moveTo>
                      <a:pt x="0" y="21431"/>
                    </a:moveTo>
                    <a:cubicBezTo>
                      <a:pt x="0" y="9595"/>
                      <a:pt x="11194" y="0"/>
                      <a:pt x="25003" y="0"/>
                    </a:cubicBezTo>
                    <a:lnTo>
                      <a:pt x="32147" y="0"/>
                    </a:lnTo>
                    <a:cubicBezTo>
                      <a:pt x="45956" y="0"/>
                      <a:pt x="57150" y="9595"/>
                      <a:pt x="57150" y="21431"/>
                    </a:cubicBezTo>
                    <a:cubicBezTo>
                      <a:pt x="57690" y="30959"/>
                      <a:pt x="51865" y="39697"/>
                      <a:pt x="42862" y="42862"/>
                    </a:cubicBezTo>
                    <a:cubicBezTo>
                      <a:pt x="33860" y="47084"/>
                      <a:pt x="28035" y="58733"/>
                      <a:pt x="28575" y="71438"/>
                    </a:cubicBezTo>
                  </a:path>
                </a:pathLst>
              </a:custGeom>
              <a:noFill/>
              <a:ln w="14288">
                <a:solidFill>
                  <a:srgbClr val="FFFFFF"/>
                </a:solidFill>
              </a:ln>
            </p:spPr>
          </p:sp>
          <p:sp>
            <p:nvSpPr>
              <p:cNvPr id="115" name="Freeform 115"/>
              <p:cNvSpPr/>
              <p:nvPr/>
            </p:nvSpPr>
            <p:spPr>
              <a:xfrm>
                <a:off x="4552950" y="2155031"/>
                <a:ext cx="9525" cy="9525"/>
              </a:xfrm>
              <a:custGeom>
                <a:avLst/>
                <a:gdLst/>
                <a:ahLst/>
                <a:cxnLst/>
                <a:rect l="l" t="t" r="r" b="b"/>
                <a:pathLst>
                  <a:path w="9525" h="9525">
                    <a:moveTo>
                      <a:pt x="0" y="0"/>
                    </a:moveTo>
                    <a:lnTo>
                      <a:pt x="0" y="71"/>
                    </a:lnTo>
                  </a:path>
                </a:pathLst>
              </a:custGeom>
              <a:noFill/>
              <a:ln w="14288">
                <a:solidFill>
                  <a:srgbClr val="FFFFFF"/>
                </a:solidFill>
              </a:ln>
            </p:spPr>
          </p:sp>
        </p:grpSp>
        <p:sp>
          <p:nvSpPr>
            <p:cNvPr id="117" name="TextBox 117"/>
            <p:cNvSpPr txBox="1"/>
            <p:nvPr/>
          </p:nvSpPr>
          <p:spPr>
            <a:xfrm>
              <a:off x="4200868" y="2288143"/>
              <a:ext cx="704164"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关键不确定性</a:t>
              </a:r>
            </a:p>
          </p:txBody>
        </p:sp>
        <p:sp>
          <p:nvSpPr>
            <p:cNvPr id="118" name="TextBox 118"/>
            <p:cNvSpPr txBox="1"/>
            <p:nvPr/>
          </p:nvSpPr>
          <p:spPr>
            <a:xfrm>
              <a:off x="4225100" y="2526030"/>
              <a:ext cx="655701"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影响大，确定性低</a:t>
              </a:r>
            </a:p>
          </p:txBody>
        </p:sp>
        <p:sp>
          <p:nvSpPr>
            <p:cNvPr id="119" name="TextBox 119"/>
            <p:cNvSpPr txBox="1"/>
            <p:nvPr/>
          </p:nvSpPr>
          <p:spPr>
            <a:xfrm>
              <a:off x="4184713" y="2678430"/>
              <a:ext cx="736473"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重点监控与情景推演</a:t>
              </a:r>
            </a:p>
          </p:txBody>
        </p:sp>
        <p:sp>
          <p:nvSpPr>
            <p:cNvPr id="120" name="TextBox 120"/>
            <p:cNvSpPr txBox="1"/>
            <p:nvPr/>
          </p:nvSpPr>
          <p:spPr>
            <a:xfrm>
              <a:off x="4305872" y="2830830"/>
              <a:ext cx="494157"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制定备选策略</a:t>
              </a:r>
            </a:p>
          </p:txBody>
        </p:sp>
        <p:sp>
          <p:nvSpPr>
            <p:cNvPr id="121" name="Rectangle 121"/>
            <p:cNvSpPr/>
            <p:nvPr/>
          </p:nvSpPr>
          <p:spPr>
            <a:xfrm>
              <a:off x="5334000" y="1905000"/>
              <a:ext cx="1562100" cy="1562100"/>
            </a:xfrm>
            <a:prstGeom prst="rect">
              <a:avLst/>
            </a:prstGeom>
            <a:solidFill>
              <a:srgbClr val="711E0D"/>
            </a:solidFill>
            <a:ln>
              <a:noFill/>
            </a:ln>
          </p:spPr>
        </p:sp>
        <p:grpSp>
          <p:nvGrpSpPr>
            <p:cNvPr id="125" name="Group 125"/>
            <p:cNvGrpSpPr/>
            <p:nvPr/>
          </p:nvGrpSpPr>
          <p:grpSpPr>
            <a:xfrm>
              <a:off x="6050756" y="2040731"/>
              <a:ext cx="128588" cy="128588"/>
              <a:chOff x="6050756" y="2040731"/>
              <a:chExt cx="128588" cy="128588"/>
            </a:xfrm>
          </p:grpSpPr>
          <p:sp>
            <p:nvSpPr>
              <p:cNvPr id="122" name="Freeform 122"/>
              <p:cNvSpPr/>
              <p:nvPr/>
            </p:nvSpPr>
            <p:spPr>
              <a:xfrm>
                <a:off x="6107906" y="2097881"/>
                <a:ext cx="14288" cy="14288"/>
              </a:xfrm>
              <a:custGeom>
                <a:avLst/>
                <a:gdLst/>
                <a:ahLst/>
                <a:cxnLst/>
                <a:rect l="l" t="t" r="r" b="b"/>
                <a:pathLst>
                  <a:path w="14288" h="14288">
                    <a:moveTo>
                      <a:pt x="0" y="7144"/>
                    </a:moveTo>
                    <a:cubicBezTo>
                      <a:pt x="0" y="11089"/>
                      <a:pt x="3198" y="14288"/>
                      <a:pt x="7144" y="14288"/>
                    </a:cubicBezTo>
                    <a:cubicBezTo>
                      <a:pt x="11089" y="14288"/>
                      <a:pt x="14288" y="11089"/>
                      <a:pt x="14288" y="7144"/>
                    </a:cubicBezTo>
                    <a:cubicBezTo>
                      <a:pt x="14288" y="3198"/>
                      <a:pt x="11089" y="0"/>
                      <a:pt x="7144" y="0"/>
                    </a:cubicBezTo>
                    <a:cubicBezTo>
                      <a:pt x="3198" y="0"/>
                      <a:pt x="0" y="3198"/>
                      <a:pt x="0" y="7144"/>
                    </a:cubicBezTo>
                  </a:path>
                </a:pathLst>
              </a:custGeom>
              <a:noFill/>
              <a:ln w="14288">
                <a:solidFill>
                  <a:srgbClr val="FFFFFF"/>
                </a:solidFill>
              </a:ln>
            </p:spPr>
          </p:sp>
          <p:sp>
            <p:nvSpPr>
              <p:cNvPr id="123" name="Freeform 123"/>
              <p:cNvSpPr/>
              <p:nvPr/>
            </p:nvSpPr>
            <p:spPr>
              <a:xfrm>
                <a:off x="6079331" y="2069306"/>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4288">
                <a:solidFill>
                  <a:srgbClr val="FFFFFF"/>
                </a:solidFill>
              </a:ln>
            </p:spPr>
          </p:sp>
          <p:sp>
            <p:nvSpPr>
              <p:cNvPr id="124" name="Freeform 124"/>
              <p:cNvSpPr/>
              <p:nvPr/>
            </p:nvSpPr>
            <p:spPr>
              <a:xfrm>
                <a:off x="6050756" y="2040731"/>
                <a:ext cx="128588" cy="128588"/>
              </a:xfrm>
              <a:custGeom>
                <a:avLst/>
                <a:gdLst/>
                <a:ahLst/>
                <a:cxnLst/>
                <a:rect l="l" t="t" r="r" b="b"/>
                <a:pathLst>
                  <a:path w="128588" h="128588">
                    <a:moveTo>
                      <a:pt x="0" y="64294"/>
                    </a:moveTo>
                    <a:cubicBezTo>
                      <a:pt x="0" y="99802"/>
                      <a:pt x="28785" y="128588"/>
                      <a:pt x="64294" y="128588"/>
                    </a:cubicBezTo>
                    <a:cubicBezTo>
                      <a:pt x="99802" y="128588"/>
                      <a:pt x="128588" y="99802"/>
                      <a:pt x="128588" y="64294"/>
                    </a:cubicBezTo>
                    <a:cubicBezTo>
                      <a:pt x="128588" y="28785"/>
                      <a:pt x="99802" y="0"/>
                      <a:pt x="64294" y="0"/>
                    </a:cubicBezTo>
                    <a:cubicBezTo>
                      <a:pt x="28785" y="0"/>
                      <a:pt x="0" y="28785"/>
                      <a:pt x="0" y="64294"/>
                    </a:cubicBezTo>
                  </a:path>
                </a:pathLst>
              </a:custGeom>
              <a:noFill/>
              <a:ln w="14288">
                <a:solidFill>
                  <a:srgbClr val="FFFFFF"/>
                </a:solidFill>
              </a:ln>
            </p:spPr>
          </p:sp>
        </p:grpSp>
        <p:sp>
          <p:nvSpPr>
            <p:cNvPr id="126" name="TextBox 126"/>
            <p:cNvSpPr txBox="1"/>
            <p:nvPr/>
          </p:nvSpPr>
          <p:spPr>
            <a:xfrm>
              <a:off x="5878741" y="228814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必然趋势</a:t>
              </a:r>
            </a:p>
          </p:txBody>
        </p:sp>
        <p:sp>
          <p:nvSpPr>
            <p:cNvPr id="127" name="TextBox 127"/>
            <p:cNvSpPr txBox="1"/>
            <p:nvPr/>
          </p:nvSpPr>
          <p:spPr>
            <a:xfrm>
              <a:off x="5787200" y="2526030"/>
              <a:ext cx="655701"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影响大，确定性高</a:t>
              </a:r>
            </a:p>
          </p:txBody>
        </p:sp>
        <p:sp>
          <p:nvSpPr>
            <p:cNvPr id="128" name="TextBox 128"/>
            <p:cNvSpPr txBox="1"/>
            <p:nvPr/>
          </p:nvSpPr>
          <p:spPr>
            <a:xfrm>
              <a:off x="5787200" y="2678430"/>
              <a:ext cx="655701"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作为战略重点投入</a:t>
              </a:r>
            </a:p>
          </p:txBody>
        </p:sp>
        <p:sp>
          <p:nvSpPr>
            <p:cNvPr id="129" name="TextBox 129"/>
            <p:cNvSpPr txBox="1"/>
            <p:nvPr/>
          </p:nvSpPr>
          <p:spPr>
            <a:xfrm>
              <a:off x="5746814" y="2830830"/>
              <a:ext cx="736473"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构建能力与先发优势</a:t>
              </a:r>
            </a:p>
          </p:txBody>
        </p:sp>
        <p:sp>
          <p:nvSpPr>
            <p:cNvPr id="130" name="Rectangle 130"/>
            <p:cNvSpPr/>
            <p:nvPr/>
          </p:nvSpPr>
          <p:spPr>
            <a:xfrm>
              <a:off x="3771900" y="3467100"/>
              <a:ext cx="1562100" cy="1562100"/>
            </a:xfrm>
            <a:prstGeom prst="rect">
              <a:avLst/>
            </a:prstGeom>
            <a:solidFill>
              <a:srgbClr val="DCE5F2"/>
            </a:solidFill>
            <a:ln>
              <a:noFill/>
            </a:ln>
          </p:spPr>
        </p:sp>
        <p:grpSp>
          <p:nvGrpSpPr>
            <p:cNvPr id="133" name="Group 133"/>
            <p:cNvGrpSpPr/>
            <p:nvPr/>
          </p:nvGrpSpPr>
          <p:grpSpPr>
            <a:xfrm>
              <a:off x="4488656" y="3624262"/>
              <a:ext cx="128588" cy="85725"/>
              <a:chOff x="4488656" y="3624262"/>
              <a:chExt cx="128588" cy="85725"/>
            </a:xfrm>
          </p:grpSpPr>
          <p:sp>
            <p:nvSpPr>
              <p:cNvPr id="131" name="Freeform 131"/>
              <p:cNvSpPr/>
              <p:nvPr/>
            </p:nvSpPr>
            <p:spPr>
              <a:xfrm>
                <a:off x="4538662" y="3652838"/>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14288">
                <a:solidFill>
                  <a:srgbClr val="4E0D00"/>
                </a:solidFill>
              </a:ln>
            </p:spPr>
          </p:sp>
          <p:sp>
            <p:nvSpPr>
              <p:cNvPr id="132" name="Freeform 132"/>
              <p:cNvSpPr/>
              <p:nvPr/>
            </p:nvSpPr>
            <p:spPr>
              <a:xfrm>
                <a:off x="4488656" y="3624262"/>
                <a:ext cx="128588" cy="85725"/>
              </a:xfrm>
              <a:custGeom>
                <a:avLst/>
                <a:gdLst/>
                <a:ahLst/>
                <a:cxnLst/>
                <a:rect l="l" t="t" r="r" b="b"/>
                <a:pathLst>
                  <a:path w="128588" h="85725">
                    <a:moveTo>
                      <a:pt x="128588" y="42862"/>
                    </a:moveTo>
                    <a:cubicBezTo>
                      <a:pt x="111442" y="71438"/>
                      <a:pt x="90011" y="85725"/>
                      <a:pt x="64294" y="85725"/>
                    </a:cubicBezTo>
                    <a:cubicBezTo>
                      <a:pt x="38576" y="85725"/>
                      <a:pt x="17145" y="71438"/>
                      <a:pt x="0" y="42862"/>
                    </a:cubicBezTo>
                    <a:cubicBezTo>
                      <a:pt x="17145" y="14288"/>
                      <a:pt x="38576" y="0"/>
                      <a:pt x="64294" y="0"/>
                    </a:cubicBezTo>
                    <a:cubicBezTo>
                      <a:pt x="90011" y="0"/>
                      <a:pt x="111442" y="14288"/>
                      <a:pt x="128588" y="42862"/>
                    </a:cubicBezTo>
                  </a:path>
                </a:pathLst>
              </a:custGeom>
              <a:noFill/>
              <a:ln w="14288">
                <a:solidFill>
                  <a:srgbClr val="4E0D00"/>
                </a:solidFill>
              </a:ln>
            </p:spPr>
          </p:sp>
        </p:grpSp>
        <p:sp>
          <p:nvSpPr>
            <p:cNvPr id="134" name="TextBox 134"/>
            <p:cNvSpPr txBox="1"/>
            <p:nvPr/>
          </p:nvSpPr>
          <p:spPr>
            <a:xfrm>
              <a:off x="4316641" y="3850243"/>
              <a:ext cx="472618" cy="169069"/>
            </a:xfrm>
            <a:prstGeom prst="rect">
              <a:avLst/>
            </a:prstGeom>
            <a:noFill/>
            <a:ln>
              <a:noFill/>
            </a:ln>
          </p:spPr>
          <p:txBody>
            <a:bodyPr wrap="none" lIns="0" tIns="0" rIns="0" bIns="0" anchor="t" anchorCtr="0">
              <a:spAutoFit/>
            </a:bodyPr>
            <a:lstStyle/>
            <a:p>
              <a:pPr algn="ctr"/>
              <a:r>
                <a:rPr lang="zh-CN" sz="860" b="1" dirty="0">
                  <a:solidFill>
                    <a:srgbClr val="4E0D00"/>
                  </a:solidFill>
                  <a:latin typeface="+mn-lt"/>
                  <a:ea typeface="+mn-ea"/>
                  <a:cs typeface="+mn-cs"/>
                </a:rPr>
                <a:t>观察信号</a:t>
              </a:r>
            </a:p>
          </p:txBody>
        </p:sp>
        <p:sp>
          <p:nvSpPr>
            <p:cNvPr id="135" name="TextBox 135"/>
            <p:cNvSpPr txBox="1"/>
            <p:nvPr/>
          </p:nvSpPr>
          <p:spPr>
            <a:xfrm>
              <a:off x="4225100" y="408813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影响小，确定性低</a:t>
              </a:r>
            </a:p>
          </p:txBody>
        </p:sp>
        <p:sp>
          <p:nvSpPr>
            <p:cNvPr id="136" name="TextBox 136"/>
            <p:cNvSpPr txBox="1"/>
            <p:nvPr/>
          </p:nvSpPr>
          <p:spPr>
            <a:xfrm>
              <a:off x="4184713" y="42405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持续跟踪与小步试验</a:t>
              </a:r>
            </a:p>
          </p:txBody>
        </p:sp>
        <p:sp>
          <p:nvSpPr>
            <p:cNvPr id="137" name="TextBox 137"/>
            <p:cNvSpPr txBox="1"/>
            <p:nvPr/>
          </p:nvSpPr>
          <p:spPr>
            <a:xfrm>
              <a:off x="4305872" y="43929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寻找拐点信号</a:t>
              </a:r>
            </a:p>
          </p:txBody>
        </p:sp>
        <p:sp>
          <p:nvSpPr>
            <p:cNvPr id="138" name="Rectangle 138"/>
            <p:cNvSpPr/>
            <p:nvPr/>
          </p:nvSpPr>
          <p:spPr>
            <a:xfrm>
              <a:off x="5334000" y="3467100"/>
              <a:ext cx="1562100" cy="1562100"/>
            </a:xfrm>
            <a:prstGeom prst="rect">
              <a:avLst/>
            </a:prstGeom>
            <a:solidFill>
              <a:srgbClr val="EFF3FA"/>
            </a:solidFill>
            <a:ln w="9525">
              <a:solidFill>
                <a:srgbClr val="C7D2E4"/>
              </a:solidFill>
            </a:ln>
          </p:spPr>
        </p:sp>
        <p:sp>
          <p:nvSpPr>
            <p:cNvPr id="139" name="Freeform 139"/>
            <p:cNvSpPr/>
            <p:nvPr/>
          </p:nvSpPr>
          <p:spPr>
            <a:xfrm>
              <a:off x="6065044" y="3667125"/>
              <a:ext cx="100012" cy="9525"/>
            </a:xfrm>
            <a:custGeom>
              <a:avLst/>
              <a:gdLst/>
              <a:ahLst/>
              <a:cxnLst/>
              <a:rect l="l" t="t" r="r" b="b"/>
              <a:pathLst>
                <a:path w="100012" h="9525">
                  <a:moveTo>
                    <a:pt x="0" y="0"/>
                  </a:moveTo>
                  <a:lnTo>
                    <a:pt x="100012" y="0"/>
                  </a:lnTo>
                </a:path>
              </a:pathLst>
            </a:custGeom>
            <a:noFill/>
            <a:ln w="14288">
              <a:solidFill>
                <a:srgbClr val="4E0D00"/>
              </a:solidFill>
            </a:ln>
          </p:spPr>
        </p:sp>
        <p:sp>
          <p:nvSpPr>
            <p:cNvPr id="140" name="TextBox 140"/>
            <p:cNvSpPr txBox="1"/>
            <p:nvPr/>
          </p:nvSpPr>
          <p:spPr>
            <a:xfrm>
              <a:off x="5820854" y="3850243"/>
              <a:ext cx="588391" cy="169069"/>
            </a:xfrm>
            <a:prstGeom prst="rect">
              <a:avLst/>
            </a:prstGeom>
            <a:noFill/>
            <a:ln>
              <a:noFill/>
            </a:ln>
          </p:spPr>
          <p:txBody>
            <a:bodyPr wrap="none" lIns="0" tIns="0" rIns="0" bIns="0" anchor="t" anchorCtr="0">
              <a:spAutoFit/>
            </a:bodyPr>
            <a:lstStyle/>
            <a:p>
              <a:pPr algn="ctr"/>
              <a:r>
                <a:rPr lang="zh-CN" sz="860" b="1" dirty="0">
                  <a:solidFill>
                    <a:srgbClr val="4E0D00"/>
                  </a:solidFill>
                  <a:latin typeface="+mn-lt"/>
                  <a:ea typeface="+mn-ea"/>
                  <a:cs typeface="+mn-cs"/>
                </a:rPr>
                <a:t>低优先事项</a:t>
              </a:r>
            </a:p>
          </p:txBody>
        </p:sp>
        <p:sp>
          <p:nvSpPr>
            <p:cNvPr id="141" name="TextBox 141"/>
            <p:cNvSpPr txBox="1"/>
            <p:nvPr/>
          </p:nvSpPr>
          <p:spPr>
            <a:xfrm>
              <a:off x="5787200" y="408813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影响小，确定性高</a:t>
              </a:r>
            </a:p>
          </p:txBody>
        </p:sp>
        <p:sp>
          <p:nvSpPr>
            <p:cNvPr id="142" name="TextBox 142"/>
            <p:cNvSpPr txBox="1"/>
            <p:nvPr/>
          </p:nvSpPr>
          <p:spPr>
            <a:xfrm>
              <a:off x="5746814" y="42405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维持现状，效率管理</a:t>
              </a:r>
            </a:p>
          </p:txBody>
        </p:sp>
        <p:sp>
          <p:nvSpPr>
            <p:cNvPr id="143" name="TextBox 143"/>
            <p:cNvSpPr txBox="1"/>
            <p:nvPr/>
          </p:nvSpPr>
          <p:spPr>
            <a:xfrm>
              <a:off x="5827586" y="43929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资源投入最小化</a:t>
              </a:r>
            </a:p>
          </p:txBody>
        </p:sp>
        <p:sp>
          <p:nvSpPr>
            <p:cNvPr id="144" name="Line 144"/>
            <p:cNvSpPr/>
            <p:nvPr/>
          </p:nvSpPr>
          <p:spPr>
            <a:xfrm flipV="1">
              <a:off x="3714750" y="1866900"/>
              <a:ext cx="1" cy="3162300"/>
            </a:xfrm>
            <a:prstGeom prst="line">
              <a:avLst/>
            </a:prstGeom>
            <a:noFill/>
            <a:ln w="14288">
              <a:solidFill>
                <a:srgbClr val="944130"/>
              </a:solidFill>
              <a:tailEnd type="triangle" w="lg" len="lg"/>
            </a:ln>
          </p:spPr>
        </p:sp>
        <p:sp>
          <p:nvSpPr>
            <p:cNvPr id="145" name="TextBox 145"/>
            <p:cNvSpPr txBox="1"/>
            <p:nvPr/>
          </p:nvSpPr>
          <p:spPr>
            <a:xfrm>
              <a:off x="3378467" y="190833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高</a:t>
              </a:r>
            </a:p>
          </p:txBody>
        </p:sp>
        <p:sp>
          <p:nvSpPr>
            <p:cNvPr id="146" name="TextBox 146"/>
            <p:cNvSpPr txBox="1"/>
            <p:nvPr/>
          </p:nvSpPr>
          <p:spPr>
            <a:xfrm>
              <a:off x="3378467" y="489918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低</a:t>
              </a:r>
            </a:p>
          </p:txBody>
        </p:sp>
        <p:sp>
          <p:nvSpPr>
            <p:cNvPr id="147" name="TextBox 147"/>
            <p:cNvSpPr txBox="1"/>
            <p:nvPr/>
          </p:nvSpPr>
          <p:spPr>
            <a:xfrm>
              <a:off x="3373755" y="2357438"/>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影</a:t>
              </a:r>
            </a:p>
          </p:txBody>
        </p:sp>
        <p:sp>
          <p:nvSpPr>
            <p:cNvPr id="148" name="TextBox 148"/>
            <p:cNvSpPr txBox="1"/>
            <p:nvPr/>
          </p:nvSpPr>
          <p:spPr>
            <a:xfrm>
              <a:off x="3373755" y="2566988"/>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响</a:t>
              </a:r>
            </a:p>
          </p:txBody>
        </p:sp>
        <p:sp>
          <p:nvSpPr>
            <p:cNvPr id="149" name="TextBox 149"/>
            <p:cNvSpPr txBox="1"/>
            <p:nvPr/>
          </p:nvSpPr>
          <p:spPr>
            <a:xfrm>
              <a:off x="3373755" y="2776538"/>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程</a:t>
              </a:r>
            </a:p>
          </p:txBody>
        </p:sp>
        <p:sp>
          <p:nvSpPr>
            <p:cNvPr id="150" name="TextBox 150"/>
            <p:cNvSpPr txBox="1"/>
            <p:nvPr/>
          </p:nvSpPr>
          <p:spPr>
            <a:xfrm>
              <a:off x="3373755" y="2986088"/>
              <a:ext cx="11049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度</a:t>
              </a:r>
            </a:p>
          </p:txBody>
        </p:sp>
        <p:sp>
          <p:nvSpPr>
            <p:cNvPr id="151" name="Line 151"/>
            <p:cNvSpPr/>
            <p:nvPr/>
          </p:nvSpPr>
          <p:spPr>
            <a:xfrm>
              <a:off x="3771900" y="5105400"/>
              <a:ext cx="3181350" cy="1"/>
            </a:xfrm>
            <a:prstGeom prst="line">
              <a:avLst/>
            </a:prstGeom>
            <a:noFill/>
            <a:ln w="14288">
              <a:solidFill>
                <a:srgbClr val="944130"/>
              </a:solidFill>
              <a:tailEnd type="triangle" w="lg" len="lg"/>
            </a:ln>
          </p:spPr>
        </p:sp>
        <p:sp>
          <p:nvSpPr>
            <p:cNvPr id="152" name="TextBox 152"/>
            <p:cNvSpPr txBox="1"/>
            <p:nvPr/>
          </p:nvSpPr>
          <p:spPr>
            <a:xfrm>
              <a:off x="3797567" y="518493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低</a:t>
              </a:r>
            </a:p>
          </p:txBody>
        </p:sp>
        <p:sp>
          <p:nvSpPr>
            <p:cNvPr id="153" name="TextBox 153"/>
            <p:cNvSpPr txBox="1"/>
            <p:nvPr/>
          </p:nvSpPr>
          <p:spPr>
            <a:xfrm>
              <a:off x="6788417" y="518493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高</a:t>
              </a:r>
            </a:p>
          </p:txBody>
        </p:sp>
        <p:sp>
          <p:nvSpPr>
            <p:cNvPr id="154" name="TextBox 154"/>
            <p:cNvSpPr txBox="1"/>
            <p:nvPr/>
          </p:nvSpPr>
          <p:spPr>
            <a:xfrm>
              <a:off x="5110988" y="5306139"/>
              <a:ext cx="541274"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趋势确定性</a:t>
              </a:r>
            </a:p>
          </p:txBody>
        </p:sp>
      </p:grpSp>
      <p:grpSp>
        <p:nvGrpSpPr>
          <p:cNvPr id="254" name="scenarios"/>
          <p:cNvGrpSpPr/>
          <p:nvPr/>
        </p:nvGrpSpPr>
        <p:grpSpPr>
          <a:xfrm>
            <a:off x="7124700" y="1485900"/>
            <a:ext cx="4838700" cy="3848100"/>
            <a:chOff x="7124700" y="1485900"/>
            <a:chExt cx="4838700" cy="3848100"/>
          </a:xfrm>
        </p:grpSpPr>
        <p:sp>
          <p:nvSpPr>
            <p:cNvPr id="156" name="Rectangle 156"/>
            <p:cNvSpPr/>
            <p:nvPr/>
          </p:nvSpPr>
          <p:spPr>
            <a:xfrm>
              <a:off x="7124700" y="1485900"/>
              <a:ext cx="4838700" cy="266700"/>
            </a:xfrm>
            <a:prstGeom prst="rect">
              <a:avLst/>
            </a:prstGeom>
            <a:solidFill>
              <a:srgbClr val="4E0D00"/>
            </a:solidFill>
            <a:ln>
              <a:noFill/>
            </a:ln>
          </p:spPr>
        </p:sp>
        <p:sp>
          <p:nvSpPr>
            <p:cNvPr id="157" name="TextBox 157"/>
            <p:cNvSpPr txBox="1"/>
            <p:nvPr/>
          </p:nvSpPr>
          <p:spPr>
            <a:xfrm>
              <a:off x="8933498" y="1569720"/>
              <a:ext cx="122110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多情景规划与战略选项</a:t>
              </a:r>
            </a:p>
          </p:txBody>
        </p:sp>
        <p:sp>
          <p:nvSpPr>
            <p:cNvPr id="158" name="Rectangle 158"/>
            <p:cNvSpPr/>
            <p:nvPr/>
          </p:nvSpPr>
          <p:spPr>
            <a:xfrm>
              <a:off x="7124700" y="1790700"/>
              <a:ext cx="819150" cy="228600"/>
            </a:xfrm>
            <a:prstGeom prst="rect">
              <a:avLst/>
            </a:prstGeom>
            <a:solidFill>
              <a:srgbClr val="711E0D"/>
            </a:solidFill>
            <a:ln>
              <a:noFill/>
            </a:ln>
          </p:spPr>
        </p:sp>
        <p:sp>
          <p:nvSpPr>
            <p:cNvPr id="159" name="TextBox 159"/>
            <p:cNvSpPr txBox="1"/>
            <p:nvPr/>
          </p:nvSpPr>
          <p:spPr>
            <a:xfrm>
              <a:off x="7437971" y="1870234"/>
              <a:ext cx="19260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情景</a:t>
              </a:r>
            </a:p>
          </p:txBody>
        </p:sp>
        <p:sp>
          <p:nvSpPr>
            <p:cNvPr id="160" name="Rectangle 160"/>
            <p:cNvSpPr/>
            <p:nvPr/>
          </p:nvSpPr>
          <p:spPr>
            <a:xfrm>
              <a:off x="7943850" y="1790700"/>
              <a:ext cx="1352550" cy="228600"/>
            </a:xfrm>
            <a:prstGeom prst="rect">
              <a:avLst/>
            </a:prstGeom>
            <a:solidFill>
              <a:srgbClr val="4E0D00"/>
            </a:solidFill>
            <a:ln>
              <a:noFill/>
            </a:ln>
          </p:spPr>
        </p:sp>
        <p:sp>
          <p:nvSpPr>
            <p:cNvPr id="161" name="TextBox 161"/>
            <p:cNvSpPr txBox="1"/>
            <p:nvPr/>
          </p:nvSpPr>
          <p:spPr>
            <a:xfrm>
              <a:off x="8249196" y="1870234"/>
              <a:ext cx="74185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触发信号（示例）</a:t>
              </a:r>
            </a:p>
          </p:txBody>
        </p:sp>
        <p:sp>
          <p:nvSpPr>
            <p:cNvPr id="162" name="Rectangle 162"/>
            <p:cNvSpPr/>
            <p:nvPr/>
          </p:nvSpPr>
          <p:spPr>
            <a:xfrm>
              <a:off x="9296400" y="1790700"/>
              <a:ext cx="1352550" cy="228600"/>
            </a:xfrm>
            <a:prstGeom prst="rect">
              <a:avLst/>
            </a:prstGeom>
            <a:solidFill>
              <a:srgbClr val="4E0D00"/>
            </a:solidFill>
            <a:ln>
              <a:noFill/>
            </a:ln>
          </p:spPr>
        </p:sp>
        <p:sp>
          <p:nvSpPr>
            <p:cNvPr id="163" name="TextBox 163"/>
            <p:cNvSpPr txBox="1"/>
            <p:nvPr/>
          </p:nvSpPr>
          <p:spPr>
            <a:xfrm>
              <a:off x="9601746" y="1870234"/>
              <a:ext cx="74185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战略选项（示例）</a:t>
              </a:r>
            </a:p>
          </p:txBody>
        </p:sp>
        <p:sp>
          <p:nvSpPr>
            <p:cNvPr id="164" name="Rectangle 164"/>
            <p:cNvSpPr/>
            <p:nvPr/>
          </p:nvSpPr>
          <p:spPr>
            <a:xfrm>
              <a:off x="10648950" y="1790700"/>
              <a:ext cx="1314450" cy="228600"/>
            </a:xfrm>
            <a:prstGeom prst="rect">
              <a:avLst/>
            </a:prstGeom>
            <a:solidFill>
              <a:srgbClr val="4E0D00"/>
            </a:solidFill>
            <a:ln>
              <a:noFill/>
            </a:ln>
          </p:spPr>
        </p:sp>
        <p:sp>
          <p:nvSpPr>
            <p:cNvPr id="165" name="TextBox 165"/>
            <p:cNvSpPr txBox="1"/>
            <p:nvPr/>
          </p:nvSpPr>
          <p:spPr>
            <a:xfrm>
              <a:off x="10935246" y="1870234"/>
              <a:ext cx="741858"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无悔行动（示例）</a:t>
              </a:r>
            </a:p>
          </p:txBody>
        </p:sp>
        <p:grpSp>
          <p:nvGrpSpPr>
            <p:cNvPr id="193" name="sc-a"/>
            <p:cNvGrpSpPr/>
            <p:nvPr/>
          </p:nvGrpSpPr>
          <p:grpSpPr>
            <a:xfrm>
              <a:off x="7124700" y="2019300"/>
              <a:ext cx="4838700" cy="1104900"/>
              <a:chOff x="7124700" y="2019300"/>
              <a:chExt cx="4838700" cy="1104900"/>
            </a:xfrm>
          </p:grpSpPr>
          <p:sp>
            <p:nvSpPr>
              <p:cNvPr id="166" name="Rectangle 166"/>
              <p:cNvSpPr/>
              <p:nvPr/>
            </p:nvSpPr>
            <p:spPr>
              <a:xfrm>
                <a:off x="7124700" y="2019300"/>
                <a:ext cx="819150" cy="1104900"/>
              </a:xfrm>
              <a:prstGeom prst="rect">
                <a:avLst/>
              </a:prstGeom>
              <a:solidFill>
                <a:srgbClr val="EFF3FA"/>
              </a:solidFill>
              <a:ln>
                <a:noFill/>
              </a:ln>
            </p:spPr>
          </p:sp>
          <p:sp>
            <p:nvSpPr>
              <p:cNvPr id="167" name="TextBox 167"/>
              <p:cNvSpPr txBox="1"/>
              <p:nvPr/>
            </p:nvSpPr>
            <p:spPr>
              <a:xfrm>
                <a:off x="7390716" y="2200989"/>
                <a:ext cx="287118"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情景A</a:t>
                </a:r>
              </a:p>
            </p:txBody>
          </p:sp>
          <p:sp>
            <p:nvSpPr>
              <p:cNvPr id="168" name="TextBox 168"/>
              <p:cNvSpPr txBox="1"/>
              <p:nvPr/>
            </p:nvSpPr>
            <p:spPr>
              <a:xfrm>
                <a:off x="7338352" y="2361486"/>
                <a:ext cx="391846"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加速增长</a:t>
                </a:r>
              </a:p>
            </p:txBody>
          </p:sp>
          <p:grpSp>
            <p:nvGrpSpPr>
              <p:cNvPr id="171" name="Group 171"/>
              <p:cNvGrpSpPr/>
              <p:nvPr/>
            </p:nvGrpSpPr>
            <p:grpSpPr>
              <a:xfrm>
                <a:off x="7469981" y="2602706"/>
                <a:ext cx="128588" cy="71438"/>
                <a:chOff x="7469981" y="2602706"/>
                <a:chExt cx="128588" cy="71438"/>
              </a:xfrm>
            </p:grpSpPr>
            <p:sp>
              <p:nvSpPr>
                <p:cNvPr id="169" name="Freeform 169"/>
                <p:cNvSpPr/>
                <p:nvPr/>
              </p:nvSpPr>
              <p:spPr>
                <a:xfrm>
                  <a:off x="7469981" y="2602706"/>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4E0D00"/>
                  </a:solidFill>
                </a:ln>
              </p:spPr>
            </p:sp>
            <p:sp>
              <p:nvSpPr>
                <p:cNvPr id="170" name="Freeform 170"/>
                <p:cNvSpPr/>
                <p:nvPr/>
              </p:nvSpPr>
              <p:spPr>
                <a:xfrm>
                  <a:off x="7548562" y="2602706"/>
                  <a:ext cx="50006" cy="50006"/>
                </a:xfrm>
                <a:custGeom>
                  <a:avLst/>
                  <a:gdLst/>
                  <a:ahLst/>
                  <a:cxnLst/>
                  <a:rect l="l" t="t" r="r" b="b"/>
                  <a:pathLst>
                    <a:path w="50006" h="50006">
                      <a:moveTo>
                        <a:pt x="0" y="0"/>
                      </a:moveTo>
                      <a:lnTo>
                        <a:pt x="50006" y="0"/>
                      </a:lnTo>
                      <a:lnTo>
                        <a:pt x="50006" y="50006"/>
                      </a:lnTo>
                    </a:path>
                  </a:pathLst>
                </a:custGeom>
                <a:noFill/>
                <a:ln w="14288">
                  <a:solidFill>
                    <a:srgbClr val="4E0D00"/>
                  </a:solidFill>
                </a:ln>
              </p:spPr>
            </p:sp>
          </p:grpSp>
          <p:sp>
            <p:nvSpPr>
              <p:cNvPr id="172" name="Rectangle 172"/>
              <p:cNvSpPr/>
              <p:nvPr/>
            </p:nvSpPr>
            <p:spPr>
              <a:xfrm>
                <a:off x="7943850" y="2019300"/>
                <a:ext cx="1352550" cy="1104900"/>
              </a:xfrm>
              <a:prstGeom prst="rect">
                <a:avLst/>
              </a:prstGeom>
              <a:solidFill>
                <a:srgbClr val="FFFFFF"/>
              </a:solidFill>
              <a:ln w="9525">
                <a:solidFill>
                  <a:srgbClr val="C7D2E4"/>
                </a:solidFill>
              </a:ln>
            </p:spPr>
          </p:sp>
          <p:sp>
            <p:nvSpPr>
              <p:cNvPr id="173" name="Ellipse 173"/>
              <p:cNvSpPr/>
              <p:nvPr/>
            </p:nvSpPr>
            <p:spPr>
              <a:xfrm>
                <a:off x="8042910" y="2232660"/>
                <a:ext cx="30480" cy="30480"/>
              </a:xfrm>
              <a:prstGeom prst="ellipse">
                <a:avLst/>
              </a:prstGeom>
              <a:solidFill>
                <a:srgbClr val="711E0D"/>
              </a:solidFill>
              <a:ln>
                <a:noFill/>
              </a:ln>
            </p:spPr>
          </p:sp>
          <p:sp>
            <p:nvSpPr>
              <p:cNvPr id="174" name="TextBox 174"/>
              <p:cNvSpPr txBox="1"/>
              <p:nvPr/>
            </p:nvSpPr>
            <p:spPr>
              <a:xfrm>
                <a:off x="8129588" y="2211705"/>
                <a:ext cx="736473"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需求持续超预期增长</a:t>
                </a:r>
              </a:p>
            </p:txBody>
          </p:sp>
          <p:sp>
            <p:nvSpPr>
              <p:cNvPr id="175" name="Ellipse 175"/>
              <p:cNvSpPr/>
              <p:nvPr/>
            </p:nvSpPr>
            <p:spPr>
              <a:xfrm>
                <a:off x="8042910" y="2385060"/>
                <a:ext cx="30480" cy="30480"/>
              </a:xfrm>
              <a:prstGeom prst="ellipse">
                <a:avLst/>
              </a:prstGeom>
              <a:solidFill>
                <a:srgbClr val="711E0D"/>
              </a:solidFill>
              <a:ln>
                <a:noFill/>
              </a:ln>
            </p:spPr>
          </p:sp>
          <p:sp>
            <p:nvSpPr>
              <p:cNvPr id="176" name="TextBox 176"/>
              <p:cNvSpPr txBox="1"/>
              <p:nvPr/>
            </p:nvSpPr>
            <p:spPr>
              <a:xfrm>
                <a:off x="8129588" y="2364105"/>
                <a:ext cx="736473"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政策与资本环境宽松</a:t>
                </a:r>
              </a:p>
            </p:txBody>
          </p:sp>
          <p:sp>
            <p:nvSpPr>
              <p:cNvPr id="177" name="Ellipse 177"/>
              <p:cNvSpPr/>
              <p:nvPr/>
            </p:nvSpPr>
            <p:spPr>
              <a:xfrm>
                <a:off x="8042910" y="2537460"/>
                <a:ext cx="30480" cy="30480"/>
              </a:xfrm>
              <a:prstGeom prst="ellipse">
                <a:avLst/>
              </a:prstGeom>
              <a:solidFill>
                <a:srgbClr val="711E0D"/>
              </a:solidFill>
              <a:ln>
                <a:noFill/>
              </a:ln>
            </p:spPr>
          </p:sp>
          <p:sp>
            <p:nvSpPr>
              <p:cNvPr id="178" name="TextBox 178"/>
              <p:cNvSpPr txBox="1"/>
              <p:nvPr/>
            </p:nvSpPr>
            <p:spPr>
              <a:xfrm>
                <a:off x="8129588" y="2516505"/>
                <a:ext cx="65570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技术成本快速下降</a:t>
                </a:r>
              </a:p>
            </p:txBody>
          </p:sp>
          <p:sp>
            <p:nvSpPr>
              <p:cNvPr id="179" name="Rectangle 179"/>
              <p:cNvSpPr/>
              <p:nvPr/>
            </p:nvSpPr>
            <p:spPr>
              <a:xfrm>
                <a:off x="9296400" y="2019300"/>
                <a:ext cx="1352550" cy="1104900"/>
              </a:xfrm>
              <a:prstGeom prst="rect">
                <a:avLst/>
              </a:prstGeom>
              <a:solidFill>
                <a:srgbClr val="FFFFFF"/>
              </a:solidFill>
              <a:ln w="9525">
                <a:solidFill>
                  <a:srgbClr val="C7D2E4"/>
                </a:solidFill>
              </a:ln>
            </p:spPr>
          </p:sp>
          <p:sp>
            <p:nvSpPr>
              <p:cNvPr id="180" name="Ellipse 180"/>
              <p:cNvSpPr/>
              <p:nvPr/>
            </p:nvSpPr>
            <p:spPr>
              <a:xfrm>
                <a:off x="9395460" y="2232660"/>
                <a:ext cx="30480" cy="30480"/>
              </a:xfrm>
              <a:prstGeom prst="ellipse">
                <a:avLst/>
              </a:prstGeom>
              <a:solidFill>
                <a:srgbClr val="711E0D"/>
              </a:solidFill>
              <a:ln>
                <a:noFill/>
              </a:ln>
            </p:spPr>
          </p:sp>
          <p:sp>
            <p:nvSpPr>
              <p:cNvPr id="181" name="TextBox 181"/>
              <p:cNvSpPr txBox="1"/>
              <p:nvPr/>
            </p:nvSpPr>
            <p:spPr>
              <a:xfrm>
                <a:off x="9482138" y="2211705"/>
                <a:ext cx="574929"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扩产品线与渠道</a:t>
                </a:r>
              </a:p>
            </p:txBody>
          </p:sp>
          <p:sp>
            <p:nvSpPr>
              <p:cNvPr id="182" name="Ellipse 182"/>
              <p:cNvSpPr/>
              <p:nvPr/>
            </p:nvSpPr>
            <p:spPr>
              <a:xfrm>
                <a:off x="9395460" y="2385060"/>
                <a:ext cx="30480" cy="30480"/>
              </a:xfrm>
              <a:prstGeom prst="ellipse">
                <a:avLst/>
              </a:prstGeom>
              <a:solidFill>
                <a:srgbClr val="711E0D"/>
              </a:solidFill>
              <a:ln>
                <a:noFill/>
              </a:ln>
            </p:spPr>
          </p:sp>
          <p:sp>
            <p:nvSpPr>
              <p:cNvPr id="183" name="TextBox 183"/>
              <p:cNvSpPr txBox="1"/>
              <p:nvPr/>
            </p:nvSpPr>
            <p:spPr>
              <a:xfrm>
                <a:off x="9482138" y="23641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加速并购整合</a:t>
                </a:r>
              </a:p>
            </p:txBody>
          </p:sp>
          <p:sp>
            <p:nvSpPr>
              <p:cNvPr id="184" name="Ellipse 184"/>
              <p:cNvSpPr/>
              <p:nvPr/>
            </p:nvSpPr>
            <p:spPr>
              <a:xfrm>
                <a:off x="9395460" y="2537460"/>
                <a:ext cx="30480" cy="30480"/>
              </a:xfrm>
              <a:prstGeom prst="ellipse">
                <a:avLst/>
              </a:prstGeom>
              <a:solidFill>
                <a:srgbClr val="711E0D"/>
              </a:solidFill>
              <a:ln>
                <a:noFill/>
              </a:ln>
            </p:spPr>
          </p:sp>
          <p:sp>
            <p:nvSpPr>
              <p:cNvPr id="185" name="TextBox 185"/>
              <p:cNvSpPr txBox="1"/>
              <p:nvPr/>
            </p:nvSpPr>
            <p:spPr>
              <a:xfrm>
                <a:off x="9482138" y="25165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生态合作强化</a:t>
                </a:r>
              </a:p>
            </p:txBody>
          </p:sp>
          <p:sp>
            <p:nvSpPr>
              <p:cNvPr id="186" name="Rectangle 186"/>
              <p:cNvSpPr/>
              <p:nvPr/>
            </p:nvSpPr>
            <p:spPr>
              <a:xfrm>
                <a:off x="10648950" y="2019300"/>
                <a:ext cx="1314450" cy="1104900"/>
              </a:xfrm>
              <a:prstGeom prst="rect">
                <a:avLst/>
              </a:prstGeom>
              <a:solidFill>
                <a:srgbClr val="FFFFFF"/>
              </a:solidFill>
              <a:ln w="9525">
                <a:solidFill>
                  <a:srgbClr val="C7D2E4"/>
                </a:solidFill>
              </a:ln>
            </p:spPr>
          </p:sp>
          <p:sp>
            <p:nvSpPr>
              <p:cNvPr id="187" name="Ellipse 187"/>
              <p:cNvSpPr/>
              <p:nvPr/>
            </p:nvSpPr>
            <p:spPr>
              <a:xfrm>
                <a:off x="10748010" y="2232660"/>
                <a:ext cx="30480" cy="30480"/>
              </a:xfrm>
              <a:prstGeom prst="ellipse">
                <a:avLst/>
              </a:prstGeom>
              <a:solidFill>
                <a:srgbClr val="711E0D"/>
              </a:solidFill>
              <a:ln>
                <a:noFill/>
              </a:ln>
            </p:spPr>
          </p:sp>
          <p:sp>
            <p:nvSpPr>
              <p:cNvPr id="188" name="TextBox 188"/>
              <p:cNvSpPr txBox="1"/>
              <p:nvPr/>
            </p:nvSpPr>
            <p:spPr>
              <a:xfrm>
                <a:off x="10834688" y="22117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夯实核心能力</a:t>
                </a:r>
              </a:p>
            </p:txBody>
          </p:sp>
          <p:sp>
            <p:nvSpPr>
              <p:cNvPr id="189" name="Ellipse 189"/>
              <p:cNvSpPr/>
              <p:nvPr/>
            </p:nvSpPr>
            <p:spPr>
              <a:xfrm>
                <a:off x="10748010" y="2385060"/>
                <a:ext cx="30480" cy="30480"/>
              </a:xfrm>
              <a:prstGeom prst="ellipse">
                <a:avLst/>
              </a:prstGeom>
              <a:solidFill>
                <a:srgbClr val="711E0D"/>
              </a:solidFill>
              <a:ln>
                <a:noFill/>
              </a:ln>
            </p:spPr>
          </p:sp>
          <p:sp>
            <p:nvSpPr>
              <p:cNvPr id="190" name="TextBox 190"/>
              <p:cNvSpPr txBox="1"/>
              <p:nvPr/>
            </p:nvSpPr>
            <p:spPr>
              <a:xfrm>
                <a:off x="10834688" y="23641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建立人才梯队</a:t>
                </a:r>
              </a:p>
            </p:txBody>
          </p:sp>
          <p:sp>
            <p:nvSpPr>
              <p:cNvPr id="191" name="Ellipse 191"/>
              <p:cNvSpPr/>
              <p:nvPr/>
            </p:nvSpPr>
            <p:spPr>
              <a:xfrm>
                <a:off x="10748010" y="2537460"/>
                <a:ext cx="30480" cy="30480"/>
              </a:xfrm>
              <a:prstGeom prst="ellipse">
                <a:avLst/>
              </a:prstGeom>
              <a:solidFill>
                <a:srgbClr val="711E0D"/>
              </a:solidFill>
              <a:ln>
                <a:noFill/>
              </a:ln>
            </p:spPr>
          </p:sp>
          <p:sp>
            <p:nvSpPr>
              <p:cNvPr id="192" name="TextBox 192"/>
              <p:cNvSpPr txBox="1"/>
              <p:nvPr/>
            </p:nvSpPr>
            <p:spPr>
              <a:xfrm>
                <a:off x="10834688" y="25165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强化品牌心智</a:t>
                </a:r>
              </a:p>
            </p:txBody>
          </p:sp>
        </p:grpSp>
        <p:grpSp>
          <p:nvGrpSpPr>
            <p:cNvPr id="223" name="sc-b"/>
            <p:cNvGrpSpPr/>
            <p:nvPr/>
          </p:nvGrpSpPr>
          <p:grpSpPr>
            <a:xfrm>
              <a:off x="7124700" y="3124200"/>
              <a:ext cx="4838700" cy="1104900"/>
              <a:chOff x="7124700" y="3124200"/>
              <a:chExt cx="4838700" cy="1104900"/>
            </a:xfrm>
          </p:grpSpPr>
          <p:sp>
            <p:nvSpPr>
              <p:cNvPr id="194" name="Rectangle 194"/>
              <p:cNvSpPr/>
              <p:nvPr/>
            </p:nvSpPr>
            <p:spPr>
              <a:xfrm>
                <a:off x="7124700" y="3124200"/>
                <a:ext cx="819150" cy="1104900"/>
              </a:xfrm>
              <a:prstGeom prst="rect">
                <a:avLst/>
              </a:prstGeom>
              <a:solidFill>
                <a:srgbClr val="EFF3FA"/>
              </a:solidFill>
              <a:ln>
                <a:noFill/>
              </a:ln>
            </p:spPr>
          </p:sp>
          <p:sp>
            <p:nvSpPr>
              <p:cNvPr id="195" name="TextBox 195"/>
              <p:cNvSpPr txBox="1"/>
              <p:nvPr/>
            </p:nvSpPr>
            <p:spPr>
              <a:xfrm>
                <a:off x="7390716" y="3305889"/>
                <a:ext cx="287118"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情景B</a:t>
                </a:r>
              </a:p>
            </p:txBody>
          </p:sp>
          <p:sp>
            <p:nvSpPr>
              <p:cNvPr id="196" name="TextBox 196"/>
              <p:cNvSpPr txBox="1"/>
              <p:nvPr/>
            </p:nvSpPr>
            <p:spPr>
              <a:xfrm>
                <a:off x="7338352" y="3466386"/>
                <a:ext cx="391846"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结构转型</a:t>
                </a:r>
              </a:p>
            </p:txBody>
          </p:sp>
          <p:grpSp>
            <p:nvGrpSpPr>
              <p:cNvPr id="201" name="Group 201"/>
              <p:cNvGrpSpPr/>
              <p:nvPr/>
            </p:nvGrpSpPr>
            <p:grpSpPr>
              <a:xfrm>
                <a:off x="7469981" y="3686175"/>
                <a:ext cx="128588" cy="114299"/>
                <a:chOff x="7469981" y="3686175"/>
                <a:chExt cx="128588" cy="114299"/>
              </a:xfrm>
            </p:grpSpPr>
            <p:sp>
              <p:nvSpPr>
                <p:cNvPr id="197" name="Freeform 197"/>
                <p:cNvSpPr/>
                <p:nvPr/>
              </p:nvSpPr>
              <p:spPr>
                <a:xfrm>
                  <a:off x="7469981" y="3707606"/>
                  <a:ext cx="128588" cy="9525"/>
                </a:xfrm>
                <a:custGeom>
                  <a:avLst/>
                  <a:gdLst/>
                  <a:ahLst/>
                  <a:cxnLst/>
                  <a:rect l="l" t="t" r="r" b="b"/>
                  <a:pathLst>
                    <a:path w="128588" h="9525">
                      <a:moveTo>
                        <a:pt x="128588" y="0"/>
                      </a:moveTo>
                      <a:lnTo>
                        <a:pt x="0" y="0"/>
                      </a:lnTo>
                    </a:path>
                  </a:pathLst>
                </a:custGeom>
                <a:noFill/>
                <a:ln w="14288">
                  <a:solidFill>
                    <a:srgbClr val="4E0D00"/>
                  </a:solidFill>
                </a:ln>
              </p:spPr>
            </p:sp>
            <p:sp>
              <p:nvSpPr>
                <p:cNvPr id="198" name="Freeform 198"/>
                <p:cNvSpPr/>
                <p:nvPr/>
              </p:nvSpPr>
              <p:spPr>
                <a:xfrm>
                  <a:off x="7577138" y="3686175"/>
                  <a:ext cx="21431" cy="42862"/>
                </a:xfrm>
                <a:custGeom>
                  <a:avLst/>
                  <a:gdLst/>
                  <a:ahLst/>
                  <a:cxnLst/>
                  <a:rect l="l" t="t" r="r" b="b"/>
                  <a:pathLst>
                    <a:path w="21431" h="42862">
                      <a:moveTo>
                        <a:pt x="0" y="42862"/>
                      </a:moveTo>
                      <a:lnTo>
                        <a:pt x="21431" y="21431"/>
                      </a:lnTo>
                      <a:lnTo>
                        <a:pt x="0" y="0"/>
                      </a:lnTo>
                    </a:path>
                  </a:pathLst>
                </a:custGeom>
                <a:noFill/>
                <a:ln w="14288">
                  <a:solidFill>
                    <a:srgbClr val="4E0D00"/>
                  </a:solidFill>
                </a:ln>
              </p:spPr>
            </p:sp>
            <p:sp>
              <p:nvSpPr>
                <p:cNvPr id="199" name="Freeform 199"/>
                <p:cNvSpPr/>
                <p:nvPr/>
              </p:nvSpPr>
              <p:spPr>
                <a:xfrm>
                  <a:off x="7469981" y="3757612"/>
                  <a:ext cx="21431" cy="42862"/>
                </a:xfrm>
                <a:custGeom>
                  <a:avLst/>
                  <a:gdLst/>
                  <a:ahLst/>
                  <a:cxnLst/>
                  <a:rect l="l" t="t" r="r" b="b"/>
                  <a:pathLst>
                    <a:path w="21431" h="42862">
                      <a:moveTo>
                        <a:pt x="21431" y="42862"/>
                      </a:moveTo>
                      <a:lnTo>
                        <a:pt x="0" y="21431"/>
                      </a:lnTo>
                      <a:lnTo>
                        <a:pt x="21431" y="0"/>
                      </a:lnTo>
                    </a:path>
                  </a:pathLst>
                </a:custGeom>
                <a:noFill/>
                <a:ln w="14288">
                  <a:solidFill>
                    <a:srgbClr val="4E0D00"/>
                  </a:solidFill>
                </a:ln>
              </p:spPr>
            </p:sp>
            <p:sp>
              <p:nvSpPr>
                <p:cNvPr id="200" name="Freeform 200"/>
                <p:cNvSpPr/>
                <p:nvPr/>
              </p:nvSpPr>
              <p:spPr>
                <a:xfrm>
                  <a:off x="7469981" y="3779044"/>
                  <a:ext cx="128588" cy="9525"/>
                </a:xfrm>
                <a:custGeom>
                  <a:avLst/>
                  <a:gdLst/>
                  <a:ahLst/>
                  <a:cxnLst/>
                  <a:rect l="l" t="t" r="r" b="b"/>
                  <a:pathLst>
                    <a:path w="128588" h="9525">
                      <a:moveTo>
                        <a:pt x="0" y="0"/>
                      </a:moveTo>
                      <a:lnTo>
                        <a:pt x="128588" y="0"/>
                      </a:lnTo>
                    </a:path>
                  </a:pathLst>
                </a:custGeom>
                <a:noFill/>
                <a:ln w="14288">
                  <a:solidFill>
                    <a:srgbClr val="4E0D00"/>
                  </a:solidFill>
                </a:ln>
              </p:spPr>
            </p:sp>
          </p:grpSp>
          <p:sp>
            <p:nvSpPr>
              <p:cNvPr id="202" name="Rectangle 202"/>
              <p:cNvSpPr/>
              <p:nvPr/>
            </p:nvSpPr>
            <p:spPr>
              <a:xfrm>
                <a:off x="7943850" y="3124200"/>
                <a:ext cx="1352550" cy="1104900"/>
              </a:xfrm>
              <a:prstGeom prst="rect">
                <a:avLst/>
              </a:prstGeom>
              <a:solidFill>
                <a:srgbClr val="FFFFFF"/>
              </a:solidFill>
              <a:ln w="9525">
                <a:solidFill>
                  <a:srgbClr val="C7D2E4"/>
                </a:solidFill>
              </a:ln>
            </p:spPr>
          </p:sp>
          <p:sp>
            <p:nvSpPr>
              <p:cNvPr id="203" name="Ellipse 203"/>
              <p:cNvSpPr/>
              <p:nvPr/>
            </p:nvSpPr>
            <p:spPr>
              <a:xfrm>
                <a:off x="8042910" y="3337560"/>
                <a:ext cx="30480" cy="30480"/>
              </a:xfrm>
              <a:prstGeom prst="ellipse">
                <a:avLst/>
              </a:prstGeom>
              <a:solidFill>
                <a:srgbClr val="711E0D"/>
              </a:solidFill>
              <a:ln>
                <a:noFill/>
              </a:ln>
            </p:spPr>
          </p:sp>
          <p:sp>
            <p:nvSpPr>
              <p:cNvPr id="204" name="TextBox 204"/>
              <p:cNvSpPr txBox="1"/>
              <p:nvPr/>
            </p:nvSpPr>
            <p:spPr>
              <a:xfrm>
                <a:off x="8129588" y="3316605"/>
                <a:ext cx="736473"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客户偏好结构性变化</a:t>
                </a:r>
              </a:p>
            </p:txBody>
          </p:sp>
          <p:sp>
            <p:nvSpPr>
              <p:cNvPr id="205" name="Ellipse 205"/>
              <p:cNvSpPr/>
              <p:nvPr/>
            </p:nvSpPr>
            <p:spPr>
              <a:xfrm>
                <a:off x="8042910" y="3489960"/>
                <a:ext cx="30480" cy="30480"/>
              </a:xfrm>
              <a:prstGeom prst="ellipse">
                <a:avLst/>
              </a:prstGeom>
              <a:solidFill>
                <a:srgbClr val="711E0D"/>
              </a:solidFill>
              <a:ln>
                <a:noFill/>
              </a:ln>
            </p:spPr>
          </p:sp>
          <p:sp>
            <p:nvSpPr>
              <p:cNvPr id="206" name="TextBox 206"/>
              <p:cNvSpPr txBox="1"/>
              <p:nvPr/>
            </p:nvSpPr>
            <p:spPr>
              <a:xfrm>
                <a:off x="8129588" y="3469005"/>
                <a:ext cx="65570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重要标准显著收紧</a:t>
                </a:r>
              </a:p>
            </p:txBody>
          </p:sp>
          <p:sp>
            <p:nvSpPr>
              <p:cNvPr id="207" name="Ellipse 207"/>
              <p:cNvSpPr/>
              <p:nvPr/>
            </p:nvSpPr>
            <p:spPr>
              <a:xfrm>
                <a:off x="8042910" y="3642360"/>
                <a:ext cx="30480" cy="30480"/>
              </a:xfrm>
              <a:prstGeom prst="ellipse">
                <a:avLst/>
              </a:prstGeom>
              <a:solidFill>
                <a:srgbClr val="711E0D"/>
              </a:solidFill>
              <a:ln>
                <a:noFill/>
              </a:ln>
            </p:spPr>
          </p:sp>
          <p:sp>
            <p:nvSpPr>
              <p:cNvPr id="208" name="TextBox 208"/>
              <p:cNvSpPr txBox="1"/>
              <p:nvPr/>
            </p:nvSpPr>
            <p:spPr>
              <a:xfrm>
                <a:off x="8129588" y="3621405"/>
                <a:ext cx="65570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行业盈利模式迁移</a:t>
                </a:r>
              </a:p>
            </p:txBody>
          </p:sp>
          <p:sp>
            <p:nvSpPr>
              <p:cNvPr id="209" name="Rectangle 209"/>
              <p:cNvSpPr/>
              <p:nvPr/>
            </p:nvSpPr>
            <p:spPr>
              <a:xfrm>
                <a:off x="9296400" y="3124200"/>
                <a:ext cx="1352550" cy="1104900"/>
              </a:xfrm>
              <a:prstGeom prst="rect">
                <a:avLst/>
              </a:prstGeom>
              <a:solidFill>
                <a:srgbClr val="FFFFFF"/>
              </a:solidFill>
              <a:ln w="9525">
                <a:solidFill>
                  <a:srgbClr val="C7D2E4"/>
                </a:solidFill>
              </a:ln>
            </p:spPr>
          </p:sp>
          <p:sp>
            <p:nvSpPr>
              <p:cNvPr id="210" name="Ellipse 210"/>
              <p:cNvSpPr/>
              <p:nvPr/>
            </p:nvSpPr>
            <p:spPr>
              <a:xfrm>
                <a:off x="9395460" y="3337560"/>
                <a:ext cx="30480" cy="30480"/>
              </a:xfrm>
              <a:prstGeom prst="ellipse">
                <a:avLst/>
              </a:prstGeom>
              <a:solidFill>
                <a:srgbClr val="711E0D"/>
              </a:solidFill>
              <a:ln>
                <a:noFill/>
              </a:ln>
            </p:spPr>
          </p:sp>
          <p:sp>
            <p:nvSpPr>
              <p:cNvPr id="211" name="TextBox 211"/>
              <p:cNvSpPr txBox="1"/>
              <p:nvPr/>
            </p:nvSpPr>
            <p:spPr>
              <a:xfrm>
                <a:off x="9482138" y="3316605"/>
                <a:ext cx="574929"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调整产品与定价</a:t>
                </a:r>
              </a:p>
            </p:txBody>
          </p:sp>
          <p:sp>
            <p:nvSpPr>
              <p:cNvPr id="212" name="Ellipse 212"/>
              <p:cNvSpPr/>
              <p:nvPr/>
            </p:nvSpPr>
            <p:spPr>
              <a:xfrm>
                <a:off x="9395460" y="3489960"/>
                <a:ext cx="30480" cy="30480"/>
              </a:xfrm>
              <a:prstGeom prst="ellipse">
                <a:avLst/>
              </a:prstGeom>
              <a:solidFill>
                <a:srgbClr val="711E0D"/>
              </a:solidFill>
              <a:ln>
                <a:noFill/>
              </a:ln>
            </p:spPr>
          </p:sp>
          <p:sp>
            <p:nvSpPr>
              <p:cNvPr id="213" name="TextBox 213"/>
              <p:cNvSpPr txBox="1"/>
              <p:nvPr/>
            </p:nvSpPr>
            <p:spPr>
              <a:xfrm>
                <a:off x="9482138" y="34690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重塑商业模式</a:t>
                </a:r>
              </a:p>
            </p:txBody>
          </p:sp>
          <p:sp>
            <p:nvSpPr>
              <p:cNvPr id="214" name="Ellipse 214"/>
              <p:cNvSpPr/>
              <p:nvPr/>
            </p:nvSpPr>
            <p:spPr>
              <a:xfrm>
                <a:off x="9395460" y="3642360"/>
                <a:ext cx="30480" cy="30480"/>
              </a:xfrm>
              <a:prstGeom prst="ellipse">
                <a:avLst/>
              </a:prstGeom>
              <a:solidFill>
                <a:srgbClr val="711E0D"/>
              </a:solidFill>
              <a:ln>
                <a:noFill/>
              </a:ln>
            </p:spPr>
          </p:sp>
          <p:sp>
            <p:nvSpPr>
              <p:cNvPr id="215" name="TextBox 215"/>
              <p:cNvSpPr txBox="1"/>
              <p:nvPr/>
            </p:nvSpPr>
            <p:spPr>
              <a:xfrm>
                <a:off x="9482138" y="3621405"/>
                <a:ext cx="574929"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进入新细分赛道</a:t>
                </a:r>
              </a:p>
            </p:txBody>
          </p:sp>
          <p:sp>
            <p:nvSpPr>
              <p:cNvPr id="216" name="Rectangle 216"/>
              <p:cNvSpPr/>
              <p:nvPr/>
            </p:nvSpPr>
            <p:spPr>
              <a:xfrm>
                <a:off x="10648950" y="3124200"/>
                <a:ext cx="1314450" cy="1104900"/>
              </a:xfrm>
              <a:prstGeom prst="rect">
                <a:avLst/>
              </a:prstGeom>
              <a:solidFill>
                <a:srgbClr val="FFFFFF"/>
              </a:solidFill>
              <a:ln w="9525">
                <a:solidFill>
                  <a:srgbClr val="C7D2E4"/>
                </a:solidFill>
              </a:ln>
            </p:spPr>
          </p:sp>
          <p:sp>
            <p:nvSpPr>
              <p:cNvPr id="217" name="Ellipse 217"/>
              <p:cNvSpPr/>
              <p:nvPr/>
            </p:nvSpPr>
            <p:spPr>
              <a:xfrm>
                <a:off x="10748010" y="3337560"/>
                <a:ext cx="30480" cy="30480"/>
              </a:xfrm>
              <a:prstGeom prst="ellipse">
                <a:avLst/>
              </a:prstGeom>
              <a:solidFill>
                <a:srgbClr val="711E0D"/>
              </a:solidFill>
              <a:ln>
                <a:noFill/>
              </a:ln>
            </p:spPr>
          </p:sp>
          <p:sp>
            <p:nvSpPr>
              <p:cNvPr id="218" name="TextBox 218"/>
              <p:cNvSpPr txBox="1"/>
              <p:nvPr/>
            </p:nvSpPr>
            <p:spPr>
              <a:xfrm>
                <a:off x="10834688" y="3316605"/>
                <a:ext cx="65570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数字化与数据资产</a:t>
                </a:r>
              </a:p>
            </p:txBody>
          </p:sp>
          <p:sp>
            <p:nvSpPr>
              <p:cNvPr id="219" name="Ellipse 219"/>
              <p:cNvSpPr/>
              <p:nvPr/>
            </p:nvSpPr>
            <p:spPr>
              <a:xfrm>
                <a:off x="10748010" y="3489960"/>
                <a:ext cx="30480" cy="30480"/>
              </a:xfrm>
              <a:prstGeom prst="ellipse">
                <a:avLst/>
              </a:prstGeom>
              <a:solidFill>
                <a:srgbClr val="711E0D"/>
              </a:solidFill>
              <a:ln>
                <a:noFill/>
              </a:ln>
            </p:spPr>
          </p:sp>
          <p:sp>
            <p:nvSpPr>
              <p:cNvPr id="220" name="TextBox 220"/>
              <p:cNvSpPr txBox="1"/>
              <p:nvPr/>
            </p:nvSpPr>
            <p:spPr>
              <a:xfrm>
                <a:off x="10834688" y="3469005"/>
                <a:ext cx="574929"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组织赋能与机制</a:t>
                </a:r>
              </a:p>
            </p:txBody>
          </p:sp>
          <p:sp>
            <p:nvSpPr>
              <p:cNvPr id="221" name="Ellipse 221"/>
              <p:cNvSpPr/>
              <p:nvPr/>
            </p:nvSpPr>
            <p:spPr>
              <a:xfrm>
                <a:off x="10748010" y="3642360"/>
                <a:ext cx="30480" cy="30480"/>
              </a:xfrm>
              <a:prstGeom prst="ellipse">
                <a:avLst/>
              </a:prstGeom>
              <a:solidFill>
                <a:srgbClr val="711E0D"/>
              </a:solidFill>
              <a:ln>
                <a:noFill/>
              </a:ln>
            </p:spPr>
          </p:sp>
          <p:sp>
            <p:nvSpPr>
              <p:cNvPr id="222" name="TextBox 222"/>
              <p:cNvSpPr txBox="1"/>
              <p:nvPr/>
            </p:nvSpPr>
            <p:spPr>
              <a:xfrm>
                <a:off x="10834688" y="36214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客户洞察体系</a:t>
                </a:r>
              </a:p>
            </p:txBody>
          </p:sp>
        </p:grpSp>
        <p:grpSp>
          <p:nvGrpSpPr>
            <p:cNvPr id="253" name="sc-c"/>
            <p:cNvGrpSpPr/>
            <p:nvPr/>
          </p:nvGrpSpPr>
          <p:grpSpPr>
            <a:xfrm>
              <a:off x="7124700" y="4229100"/>
              <a:ext cx="4838700" cy="1104900"/>
              <a:chOff x="7124700" y="4229100"/>
              <a:chExt cx="4838700" cy="1104900"/>
            </a:xfrm>
          </p:grpSpPr>
          <p:sp>
            <p:nvSpPr>
              <p:cNvPr id="224" name="Rectangle 224"/>
              <p:cNvSpPr/>
              <p:nvPr/>
            </p:nvSpPr>
            <p:spPr>
              <a:xfrm>
                <a:off x="7124700" y="4229100"/>
                <a:ext cx="819150" cy="1104900"/>
              </a:xfrm>
              <a:prstGeom prst="rect">
                <a:avLst/>
              </a:prstGeom>
              <a:solidFill>
                <a:srgbClr val="EFF3FA"/>
              </a:solidFill>
              <a:ln>
                <a:noFill/>
              </a:ln>
            </p:spPr>
          </p:sp>
          <p:sp>
            <p:nvSpPr>
              <p:cNvPr id="225" name="TextBox 225"/>
              <p:cNvSpPr txBox="1"/>
              <p:nvPr/>
            </p:nvSpPr>
            <p:spPr>
              <a:xfrm>
                <a:off x="7390716" y="4410789"/>
                <a:ext cx="287118"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情景C</a:t>
                </a:r>
              </a:p>
            </p:txBody>
          </p:sp>
          <p:sp>
            <p:nvSpPr>
              <p:cNvPr id="226" name="TextBox 226"/>
              <p:cNvSpPr txBox="1"/>
              <p:nvPr/>
            </p:nvSpPr>
            <p:spPr>
              <a:xfrm>
                <a:off x="7338352" y="4571286"/>
                <a:ext cx="391846"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增长放缓</a:t>
                </a:r>
              </a:p>
            </p:txBody>
          </p:sp>
          <p:grpSp>
            <p:nvGrpSpPr>
              <p:cNvPr id="231" name="Group 231"/>
              <p:cNvGrpSpPr/>
              <p:nvPr/>
            </p:nvGrpSpPr>
            <p:grpSpPr>
              <a:xfrm>
                <a:off x="7469981" y="4791075"/>
                <a:ext cx="128587" cy="123825"/>
                <a:chOff x="7469981" y="4791075"/>
                <a:chExt cx="128587" cy="123825"/>
              </a:xfrm>
            </p:grpSpPr>
            <p:sp>
              <p:nvSpPr>
                <p:cNvPr id="227" name="Freeform 227"/>
                <p:cNvSpPr/>
                <p:nvPr/>
              </p:nvSpPr>
              <p:spPr>
                <a:xfrm>
                  <a:off x="7469981" y="4848225"/>
                  <a:ext cx="42862" cy="57150"/>
                </a:xfrm>
                <a:custGeom>
                  <a:avLst/>
                  <a:gdLst/>
                  <a:ahLst/>
                  <a:cxnLst/>
                  <a:rect l="l" t="t" r="r" b="b"/>
                  <a:pathLst>
                    <a:path w="42862" h="57150">
                      <a:moveTo>
                        <a:pt x="0" y="7144"/>
                      </a:moveTo>
                      <a:cubicBezTo>
                        <a:pt x="0" y="3198"/>
                        <a:pt x="3198" y="0"/>
                        <a:pt x="7144" y="0"/>
                      </a:cubicBezTo>
                      <a:lnTo>
                        <a:pt x="35719" y="0"/>
                      </a:lnTo>
                      <a:cubicBezTo>
                        <a:pt x="39664" y="0"/>
                        <a:pt x="42862" y="3198"/>
                        <a:pt x="42862" y="7144"/>
                      </a:cubicBezTo>
                      <a:lnTo>
                        <a:pt x="42862" y="50006"/>
                      </a:lnTo>
                      <a:cubicBezTo>
                        <a:pt x="42862" y="53952"/>
                        <a:pt x="39664" y="57150"/>
                        <a:pt x="35719" y="57150"/>
                      </a:cubicBezTo>
                      <a:lnTo>
                        <a:pt x="7144" y="57150"/>
                      </a:lnTo>
                      <a:cubicBezTo>
                        <a:pt x="3198" y="57150"/>
                        <a:pt x="0" y="53952"/>
                        <a:pt x="0" y="50006"/>
                      </a:cubicBezTo>
                      <a:lnTo>
                        <a:pt x="0" y="7144"/>
                      </a:lnTo>
                    </a:path>
                  </a:pathLst>
                </a:custGeom>
                <a:noFill/>
                <a:ln w="14288">
                  <a:solidFill>
                    <a:srgbClr val="4E0D00"/>
                  </a:solidFill>
                </a:ln>
              </p:spPr>
            </p:sp>
            <p:sp>
              <p:nvSpPr>
                <p:cNvPr id="228" name="Freeform 228"/>
                <p:cNvSpPr/>
                <p:nvPr/>
              </p:nvSpPr>
              <p:spPr>
                <a:xfrm>
                  <a:off x="7555706" y="4819650"/>
                  <a:ext cx="42862" cy="85725"/>
                </a:xfrm>
                <a:custGeom>
                  <a:avLst/>
                  <a:gdLst/>
                  <a:ahLst/>
                  <a:cxnLst/>
                  <a:rect l="l" t="t" r="r" b="b"/>
                  <a:pathLst>
                    <a:path w="42862" h="85725">
                      <a:moveTo>
                        <a:pt x="0" y="7144"/>
                      </a:moveTo>
                      <a:cubicBezTo>
                        <a:pt x="0" y="3198"/>
                        <a:pt x="3198" y="0"/>
                        <a:pt x="7144" y="0"/>
                      </a:cubicBezTo>
                      <a:lnTo>
                        <a:pt x="35719" y="0"/>
                      </a:lnTo>
                      <a:cubicBezTo>
                        <a:pt x="39664" y="0"/>
                        <a:pt x="42862" y="3198"/>
                        <a:pt x="42862" y="7144"/>
                      </a:cubicBezTo>
                      <a:lnTo>
                        <a:pt x="42862" y="78581"/>
                      </a:lnTo>
                      <a:cubicBezTo>
                        <a:pt x="42862" y="82527"/>
                        <a:pt x="39664" y="85725"/>
                        <a:pt x="35719" y="85725"/>
                      </a:cubicBezTo>
                      <a:lnTo>
                        <a:pt x="7144" y="85725"/>
                      </a:lnTo>
                      <a:cubicBezTo>
                        <a:pt x="3198" y="85725"/>
                        <a:pt x="0" y="82527"/>
                        <a:pt x="0" y="78581"/>
                      </a:cubicBezTo>
                      <a:lnTo>
                        <a:pt x="0" y="7144"/>
                      </a:lnTo>
                    </a:path>
                  </a:pathLst>
                </a:custGeom>
                <a:noFill/>
                <a:ln w="14288">
                  <a:solidFill>
                    <a:srgbClr val="4E0D00"/>
                  </a:solidFill>
                </a:ln>
              </p:spPr>
            </p:sp>
            <p:sp>
              <p:nvSpPr>
                <p:cNvPr id="229" name="Freeform 229"/>
                <p:cNvSpPr/>
                <p:nvPr/>
              </p:nvSpPr>
              <p:spPr>
                <a:xfrm>
                  <a:off x="7512844" y="4791075"/>
                  <a:ext cx="42862" cy="114300"/>
                </a:xfrm>
                <a:custGeom>
                  <a:avLst/>
                  <a:gdLst/>
                  <a:ahLst/>
                  <a:cxnLst/>
                  <a:rect l="l" t="t" r="r" b="b"/>
                  <a:pathLst>
                    <a:path w="42862" h="114300">
                      <a:moveTo>
                        <a:pt x="0" y="7144"/>
                      </a:moveTo>
                      <a:cubicBezTo>
                        <a:pt x="0" y="3198"/>
                        <a:pt x="3198" y="0"/>
                        <a:pt x="7144" y="0"/>
                      </a:cubicBezTo>
                      <a:lnTo>
                        <a:pt x="35719" y="0"/>
                      </a:lnTo>
                      <a:cubicBezTo>
                        <a:pt x="39664" y="0"/>
                        <a:pt x="42862" y="3198"/>
                        <a:pt x="42862" y="7144"/>
                      </a:cubicBezTo>
                      <a:lnTo>
                        <a:pt x="42862" y="107156"/>
                      </a:lnTo>
                      <a:cubicBezTo>
                        <a:pt x="42862" y="111102"/>
                        <a:pt x="39664" y="114300"/>
                        <a:pt x="35719" y="114300"/>
                      </a:cubicBezTo>
                      <a:lnTo>
                        <a:pt x="7144" y="114300"/>
                      </a:lnTo>
                      <a:cubicBezTo>
                        <a:pt x="3198" y="114300"/>
                        <a:pt x="0" y="111102"/>
                        <a:pt x="0" y="107156"/>
                      </a:cubicBezTo>
                      <a:lnTo>
                        <a:pt x="0" y="7144"/>
                      </a:lnTo>
                    </a:path>
                  </a:pathLst>
                </a:custGeom>
                <a:noFill/>
                <a:ln w="14288">
                  <a:solidFill>
                    <a:srgbClr val="4E0D00"/>
                  </a:solidFill>
                </a:ln>
              </p:spPr>
            </p:sp>
            <p:sp>
              <p:nvSpPr>
                <p:cNvPr id="230" name="Freeform 230"/>
                <p:cNvSpPr/>
                <p:nvPr/>
              </p:nvSpPr>
              <p:spPr>
                <a:xfrm>
                  <a:off x="7477125" y="4905375"/>
                  <a:ext cx="100012" cy="9525"/>
                </a:xfrm>
                <a:custGeom>
                  <a:avLst/>
                  <a:gdLst/>
                  <a:ahLst/>
                  <a:cxnLst/>
                  <a:rect l="l" t="t" r="r" b="b"/>
                  <a:pathLst>
                    <a:path w="100012" h="9525">
                      <a:moveTo>
                        <a:pt x="0" y="0"/>
                      </a:moveTo>
                      <a:lnTo>
                        <a:pt x="100012" y="0"/>
                      </a:lnTo>
                    </a:path>
                  </a:pathLst>
                </a:custGeom>
                <a:noFill/>
                <a:ln w="14288">
                  <a:solidFill>
                    <a:srgbClr val="4E0D00"/>
                  </a:solidFill>
                </a:ln>
              </p:spPr>
            </p:sp>
          </p:grpSp>
          <p:sp>
            <p:nvSpPr>
              <p:cNvPr id="232" name="Rectangle 232"/>
              <p:cNvSpPr/>
              <p:nvPr/>
            </p:nvSpPr>
            <p:spPr>
              <a:xfrm>
                <a:off x="7943850" y="4229100"/>
                <a:ext cx="1352550" cy="1104900"/>
              </a:xfrm>
              <a:prstGeom prst="rect">
                <a:avLst/>
              </a:prstGeom>
              <a:solidFill>
                <a:srgbClr val="FFFFFF"/>
              </a:solidFill>
              <a:ln w="9525">
                <a:solidFill>
                  <a:srgbClr val="C7D2E4"/>
                </a:solidFill>
              </a:ln>
            </p:spPr>
          </p:sp>
          <p:sp>
            <p:nvSpPr>
              <p:cNvPr id="233" name="Ellipse 233"/>
              <p:cNvSpPr/>
              <p:nvPr/>
            </p:nvSpPr>
            <p:spPr>
              <a:xfrm>
                <a:off x="8042910" y="4442460"/>
                <a:ext cx="30480" cy="30480"/>
              </a:xfrm>
              <a:prstGeom prst="ellipse">
                <a:avLst/>
              </a:prstGeom>
              <a:solidFill>
                <a:srgbClr val="711E0D"/>
              </a:solidFill>
              <a:ln>
                <a:noFill/>
              </a:ln>
            </p:spPr>
          </p:sp>
          <p:sp>
            <p:nvSpPr>
              <p:cNvPr id="234" name="TextBox 234"/>
              <p:cNvSpPr txBox="1"/>
              <p:nvPr/>
            </p:nvSpPr>
            <p:spPr>
              <a:xfrm>
                <a:off x="8129588" y="4421505"/>
                <a:ext cx="65570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宏观增速低位徘徊</a:t>
                </a:r>
              </a:p>
            </p:txBody>
          </p:sp>
          <p:sp>
            <p:nvSpPr>
              <p:cNvPr id="235" name="Ellipse 235"/>
              <p:cNvSpPr/>
              <p:nvPr/>
            </p:nvSpPr>
            <p:spPr>
              <a:xfrm>
                <a:off x="8042910" y="4594860"/>
                <a:ext cx="30480" cy="30480"/>
              </a:xfrm>
              <a:prstGeom prst="ellipse">
                <a:avLst/>
              </a:prstGeom>
              <a:solidFill>
                <a:srgbClr val="711E0D"/>
              </a:solidFill>
              <a:ln>
                <a:noFill/>
              </a:ln>
            </p:spPr>
          </p:sp>
          <p:sp>
            <p:nvSpPr>
              <p:cNvPr id="236" name="TextBox 236"/>
              <p:cNvSpPr txBox="1"/>
              <p:nvPr/>
            </p:nvSpPr>
            <p:spPr>
              <a:xfrm>
                <a:off x="8129588" y="4573905"/>
                <a:ext cx="65570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行业供给过剩加剧</a:t>
                </a:r>
              </a:p>
            </p:txBody>
          </p:sp>
          <p:sp>
            <p:nvSpPr>
              <p:cNvPr id="237" name="Ellipse 237"/>
              <p:cNvSpPr/>
              <p:nvPr/>
            </p:nvSpPr>
            <p:spPr>
              <a:xfrm>
                <a:off x="8042910" y="4747260"/>
                <a:ext cx="30480" cy="30480"/>
              </a:xfrm>
              <a:prstGeom prst="ellipse">
                <a:avLst/>
              </a:prstGeom>
              <a:solidFill>
                <a:srgbClr val="711E0D"/>
              </a:solidFill>
              <a:ln>
                <a:noFill/>
              </a:ln>
            </p:spPr>
          </p:sp>
          <p:sp>
            <p:nvSpPr>
              <p:cNvPr id="238" name="TextBox 238"/>
              <p:cNvSpPr txBox="1"/>
              <p:nvPr/>
            </p:nvSpPr>
            <p:spPr>
              <a:xfrm>
                <a:off x="8129588" y="4726305"/>
                <a:ext cx="65570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资本市场趋于谨慎</a:t>
                </a:r>
              </a:p>
            </p:txBody>
          </p:sp>
          <p:sp>
            <p:nvSpPr>
              <p:cNvPr id="239" name="Rectangle 239"/>
              <p:cNvSpPr/>
              <p:nvPr/>
            </p:nvSpPr>
            <p:spPr>
              <a:xfrm>
                <a:off x="9296400" y="4229100"/>
                <a:ext cx="1352550" cy="1104900"/>
              </a:xfrm>
              <a:prstGeom prst="rect">
                <a:avLst/>
              </a:prstGeom>
              <a:solidFill>
                <a:srgbClr val="FFFFFF"/>
              </a:solidFill>
              <a:ln w="9525">
                <a:solidFill>
                  <a:srgbClr val="C7D2E4"/>
                </a:solidFill>
              </a:ln>
            </p:spPr>
          </p:sp>
          <p:sp>
            <p:nvSpPr>
              <p:cNvPr id="240" name="Ellipse 240"/>
              <p:cNvSpPr/>
              <p:nvPr/>
            </p:nvSpPr>
            <p:spPr>
              <a:xfrm>
                <a:off x="9395460" y="4442460"/>
                <a:ext cx="30480" cy="30480"/>
              </a:xfrm>
              <a:prstGeom prst="ellipse">
                <a:avLst/>
              </a:prstGeom>
              <a:solidFill>
                <a:srgbClr val="711E0D"/>
              </a:solidFill>
              <a:ln>
                <a:noFill/>
              </a:ln>
            </p:spPr>
          </p:sp>
          <p:sp>
            <p:nvSpPr>
              <p:cNvPr id="241" name="TextBox 241"/>
              <p:cNvSpPr txBox="1"/>
              <p:nvPr/>
            </p:nvSpPr>
            <p:spPr>
              <a:xfrm>
                <a:off x="9482138" y="4421505"/>
                <a:ext cx="736473"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聚焦核心客户与区域</a:t>
                </a:r>
              </a:p>
            </p:txBody>
          </p:sp>
          <p:sp>
            <p:nvSpPr>
              <p:cNvPr id="242" name="Ellipse 242"/>
              <p:cNvSpPr/>
              <p:nvPr/>
            </p:nvSpPr>
            <p:spPr>
              <a:xfrm>
                <a:off x="9395460" y="4594860"/>
                <a:ext cx="30480" cy="30480"/>
              </a:xfrm>
              <a:prstGeom prst="ellipse">
                <a:avLst/>
              </a:prstGeom>
              <a:solidFill>
                <a:srgbClr val="711E0D"/>
              </a:solidFill>
              <a:ln>
                <a:noFill/>
              </a:ln>
            </p:spPr>
          </p:sp>
          <p:sp>
            <p:nvSpPr>
              <p:cNvPr id="243" name="TextBox 243"/>
              <p:cNvSpPr txBox="1"/>
              <p:nvPr/>
            </p:nvSpPr>
            <p:spPr>
              <a:xfrm>
                <a:off x="9482138" y="4573905"/>
                <a:ext cx="65570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降本增效与现金流</a:t>
                </a:r>
              </a:p>
            </p:txBody>
          </p:sp>
          <p:sp>
            <p:nvSpPr>
              <p:cNvPr id="244" name="Ellipse 244"/>
              <p:cNvSpPr/>
              <p:nvPr/>
            </p:nvSpPr>
            <p:spPr>
              <a:xfrm>
                <a:off x="9395460" y="4747260"/>
                <a:ext cx="30480" cy="30480"/>
              </a:xfrm>
              <a:prstGeom prst="ellipse">
                <a:avLst/>
              </a:prstGeom>
              <a:solidFill>
                <a:srgbClr val="711E0D"/>
              </a:solidFill>
              <a:ln>
                <a:noFill/>
              </a:ln>
            </p:spPr>
          </p:sp>
          <p:sp>
            <p:nvSpPr>
              <p:cNvPr id="245" name="TextBox 245"/>
              <p:cNvSpPr txBox="1"/>
              <p:nvPr/>
            </p:nvSpPr>
            <p:spPr>
              <a:xfrm>
                <a:off x="9482138" y="4726305"/>
                <a:ext cx="574929"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处置非核心资产</a:t>
                </a:r>
              </a:p>
            </p:txBody>
          </p:sp>
          <p:sp>
            <p:nvSpPr>
              <p:cNvPr id="246" name="Rectangle 246"/>
              <p:cNvSpPr/>
              <p:nvPr/>
            </p:nvSpPr>
            <p:spPr>
              <a:xfrm>
                <a:off x="10648950" y="4229100"/>
                <a:ext cx="1314450" cy="1104900"/>
              </a:xfrm>
              <a:prstGeom prst="rect">
                <a:avLst/>
              </a:prstGeom>
              <a:solidFill>
                <a:srgbClr val="FFFFFF"/>
              </a:solidFill>
              <a:ln w="9525">
                <a:solidFill>
                  <a:srgbClr val="C7D2E4"/>
                </a:solidFill>
              </a:ln>
            </p:spPr>
          </p:sp>
          <p:sp>
            <p:nvSpPr>
              <p:cNvPr id="247" name="Ellipse 247"/>
              <p:cNvSpPr/>
              <p:nvPr/>
            </p:nvSpPr>
            <p:spPr>
              <a:xfrm>
                <a:off x="10748010" y="4442460"/>
                <a:ext cx="30480" cy="30480"/>
              </a:xfrm>
              <a:prstGeom prst="ellipse">
                <a:avLst/>
              </a:prstGeom>
              <a:solidFill>
                <a:srgbClr val="711E0D"/>
              </a:solidFill>
              <a:ln>
                <a:noFill/>
              </a:ln>
            </p:spPr>
          </p:sp>
          <p:sp>
            <p:nvSpPr>
              <p:cNvPr id="248" name="TextBox 248"/>
              <p:cNvSpPr txBox="1"/>
              <p:nvPr/>
            </p:nvSpPr>
            <p:spPr>
              <a:xfrm>
                <a:off x="10834688" y="44215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成本结构优化</a:t>
                </a:r>
              </a:p>
            </p:txBody>
          </p:sp>
          <p:sp>
            <p:nvSpPr>
              <p:cNvPr id="249" name="Ellipse 249"/>
              <p:cNvSpPr/>
              <p:nvPr/>
            </p:nvSpPr>
            <p:spPr>
              <a:xfrm>
                <a:off x="10748010" y="4594860"/>
                <a:ext cx="30480" cy="30480"/>
              </a:xfrm>
              <a:prstGeom prst="ellipse">
                <a:avLst/>
              </a:prstGeom>
              <a:solidFill>
                <a:srgbClr val="711E0D"/>
              </a:solidFill>
              <a:ln>
                <a:noFill/>
              </a:ln>
            </p:spPr>
          </p:sp>
          <p:sp>
            <p:nvSpPr>
              <p:cNvPr id="250" name="TextBox 250"/>
              <p:cNvSpPr txBox="1"/>
              <p:nvPr/>
            </p:nvSpPr>
            <p:spPr>
              <a:xfrm>
                <a:off x="10834688" y="4573905"/>
                <a:ext cx="574929"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现金与风险管理</a:t>
                </a:r>
              </a:p>
            </p:txBody>
          </p:sp>
          <p:sp>
            <p:nvSpPr>
              <p:cNvPr id="251" name="Ellipse 251"/>
              <p:cNvSpPr/>
              <p:nvPr/>
            </p:nvSpPr>
            <p:spPr>
              <a:xfrm>
                <a:off x="10748010" y="4747260"/>
                <a:ext cx="30480" cy="30480"/>
              </a:xfrm>
              <a:prstGeom prst="ellipse">
                <a:avLst/>
              </a:prstGeom>
              <a:solidFill>
                <a:srgbClr val="711E0D"/>
              </a:solidFill>
              <a:ln>
                <a:noFill/>
              </a:ln>
            </p:spPr>
          </p:sp>
          <p:sp>
            <p:nvSpPr>
              <p:cNvPr id="252" name="TextBox 252"/>
              <p:cNvSpPr txBox="1"/>
              <p:nvPr/>
            </p:nvSpPr>
            <p:spPr>
              <a:xfrm>
                <a:off x="10834688" y="4726305"/>
                <a:ext cx="494157"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关键能力保留</a:t>
                </a:r>
              </a:p>
            </p:txBody>
          </p:sp>
        </p:grpSp>
      </p:grpSp>
      <p:grpSp>
        <p:nvGrpSpPr>
          <p:cNvPr id="257" name="principle"/>
          <p:cNvGrpSpPr/>
          <p:nvPr/>
        </p:nvGrpSpPr>
        <p:grpSpPr>
          <a:xfrm>
            <a:off x="228600" y="5734050"/>
            <a:ext cx="11734800" cy="342900"/>
            <a:chOff x="228600" y="5734050"/>
            <a:chExt cx="11734800" cy="342900"/>
          </a:xfrm>
        </p:grpSpPr>
        <p:sp>
          <p:nvSpPr>
            <p:cNvPr id="255" name="Rectangle 255"/>
            <p:cNvSpPr/>
            <p:nvPr/>
          </p:nvSpPr>
          <p:spPr>
            <a:xfrm>
              <a:off x="228600" y="5734050"/>
              <a:ext cx="11734800" cy="342900"/>
            </a:xfrm>
            <a:prstGeom prst="rect">
              <a:avLst/>
            </a:prstGeom>
            <a:solidFill>
              <a:srgbClr val="EFF3FA"/>
            </a:solidFill>
            <a:ln w="9525">
              <a:solidFill>
                <a:srgbClr val="C7D2E4"/>
              </a:solidFill>
            </a:ln>
          </p:spPr>
        </p:sp>
        <p:sp>
          <p:nvSpPr>
            <p:cNvPr id="256" name="TextBox 256"/>
            <p:cNvSpPr txBox="1"/>
            <p:nvPr/>
          </p:nvSpPr>
          <p:spPr>
            <a:xfrm>
              <a:off x="3438209" y="5868114"/>
              <a:ext cx="5315582"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 原则：以终为始，保留选择权；小步快跑，验证学习；资源向高价值趋势与关键不确定性倾斜，持续动态调整。</a:t>
              </a:r>
            </a:p>
          </p:txBody>
        </p:sp>
      </p:gr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546354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价值链分析｜识别真正创造价值的环节</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59" name="chain"/>
          <p:cNvGrpSpPr/>
          <p:nvPr/>
        </p:nvGrpSpPr>
        <p:grpSpPr>
          <a:xfrm>
            <a:off x="381000" y="781050"/>
            <a:ext cx="11172825" cy="381000"/>
            <a:chOff x="381000" y="781050"/>
            <a:chExt cx="11172825" cy="381000"/>
          </a:xfrm>
        </p:grpSpPr>
        <p:sp>
          <p:nvSpPr>
            <p:cNvPr id="6" name="Freeform 6"/>
            <p:cNvSpPr/>
            <p:nvPr/>
          </p:nvSpPr>
          <p:spPr>
            <a:xfrm>
              <a:off x="381000" y="781050"/>
              <a:ext cx="1504950" cy="381000"/>
            </a:xfrm>
            <a:prstGeom prst="homePlate">
              <a:avLst/>
            </a:prstGeom>
            <a:solidFill>
              <a:srgbClr val="711E0D"/>
            </a:solidFill>
            <a:ln>
              <a:noFill/>
            </a:ln>
          </p:spPr>
        </p:sp>
        <p:sp>
          <p:nvSpPr>
            <p:cNvPr id="7" name="Freeform 7"/>
            <p:cNvSpPr/>
            <p:nvPr/>
          </p:nvSpPr>
          <p:spPr>
            <a:xfrm>
              <a:off x="1762125" y="781050"/>
              <a:ext cx="1504950" cy="381000"/>
            </a:xfrm>
            <a:prstGeom prst="chevron">
              <a:avLst/>
            </a:prstGeom>
            <a:solidFill>
              <a:srgbClr val="7F2816"/>
            </a:solidFill>
            <a:ln>
              <a:noFill/>
            </a:ln>
          </p:spPr>
        </p:sp>
        <p:sp>
          <p:nvSpPr>
            <p:cNvPr id="8" name="Freeform 8"/>
            <p:cNvSpPr/>
            <p:nvPr/>
          </p:nvSpPr>
          <p:spPr>
            <a:xfrm>
              <a:off x="3143250" y="781050"/>
              <a:ext cx="1504950" cy="381000"/>
            </a:xfrm>
            <a:prstGeom prst="chevron">
              <a:avLst/>
            </a:prstGeom>
            <a:solidFill>
              <a:srgbClr val="8A311F"/>
            </a:solidFill>
            <a:ln>
              <a:noFill/>
            </a:ln>
          </p:spPr>
        </p:sp>
        <p:sp>
          <p:nvSpPr>
            <p:cNvPr id="9" name="Freeform 9"/>
            <p:cNvSpPr/>
            <p:nvPr/>
          </p:nvSpPr>
          <p:spPr>
            <a:xfrm>
              <a:off x="4524375" y="781050"/>
              <a:ext cx="1504950" cy="381000"/>
            </a:xfrm>
            <a:prstGeom prst="chevron">
              <a:avLst/>
            </a:prstGeom>
            <a:solidFill>
              <a:srgbClr val="953A28"/>
            </a:solidFill>
            <a:ln>
              <a:noFill/>
            </a:ln>
          </p:spPr>
        </p:sp>
        <p:sp>
          <p:nvSpPr>
            <p:cNvPr id="10" name="Freeform 10"/>
            <p:cNvSpPr/>
            <p:nvPr/>
          </p:nvSpPr>
          <p:spPr>
            <a:xfrm>
              <a:off x="5905500" y="781050"/>
              <a:ext cx="1504950" cy="381000"/>
            </a:xfrm>
            <a:prstGeom prst="chevron">
              <a:avLst/>
            </a:prstGeom>
            <a:solidFill>
              <a:srgbClr val="A04431"/>
            </a:solidFill>
            <a:ln>
              <a:noFill/>
            </a:ln>
          </p:spPr>
        </p:sp>
        <p:sp>
          <p:nvSpPr>
            <p:cNvPr id="11" name="Freeform 11"/>
            <p:cNvSpPr/>
            <p:nvPr/>
          </p:nvSpPr>
          <p:spPr>
            <a:xfrm>
              <a:off x="7286625" y="781050"/>
              <a:ext cx="1504950" cy="381000"/>
            </a:xfrm>
            <a:prstGeom prst="chevron">
              <a:avLst/>
            </a:prstGeom>
            <a:solidFill>
              <a:srgbClr val="AB4D3A"/>
            </a:solidFill>
            <a:ln>
              <a:noFill/>
            </a:ln>
          </p:spPr>
        </p:sp>
        <p:sp>
          <p:nvSpPr>
            <p:cNvPr id="12" name="Freeform 12"/>
            <p:cNvSpPr/>
            <p:nvPr/>
          </p:nvSpPr>
          <p:spPr>
            <a:xfrm>
              <a:off x="8667750" y="781050"/>
              <a:ext cx="1504950" cy="381000"/>
            </a:xfrm>
            <a:prstGeom prst="chevron">
              <a:avLst/>
            </a:prstGeom>
            <a:solidFill>
              <a:srgbClr val="B65743"/>
            </a:solidFill>
            <a:ln>
              <a:noFill/>
            </a:ln>
          </p:spPr>
        </p:sp>
        <p:sp>
          <p:nvSpPr>
            <p:cNvPr id="13" name="Freeform 13"/>
            <p:cNvSpPr/>
            <p:nvPr/>
          </p:nvSpPr>
          <p:spPr>
            <a:xfrm>
              <a:off x="10048875" y="781050"/>
              <a:ext cx="1504950" cy="381000"/>
            </a:xfrm>
            <a:prstGeom prst="chevron">
              <a:avLst/>
            </a:prstGeom>
            <a:solidFill>
              <a:srgbClr val="C1604C"/>
            </a:solidFill>
            <a:ln>
              <a:noFill/>
            </a:ln>
          </p:spPr>
        </p:sp>
        <p:grpSp>
          <p:nvGrpSpPr>
            <p:cNvPr id="17" name="Group 17"/>
            <p:cNvGrpSpPr/>
            <p:nvPr/>
          </p:nvGrpSpPr>
          <p:grpSpPr>
            <a:xfrm>
              <a:off x="904875" y="914400"/>
              <a:ext cx="114300" cy="114300"/>
              <a:chOff x="904875" y="914400"/>
              <a:chExt cx="114300" cy="114300"/>
            </a:xfrm>
          </p:grpSpPr>
          <p:sp>
            <p:nvSpPr>
              <p:cNvPr id="14" name="Freeform 14"/>
              <p:cNvSpPr/>
              <p:nvPr/>
            </p:nvSpPr>
            <p:spPr>
              <a:xfrm>
                <a:off x="904875" y="91440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FFFFFF"/>
                </a:solidFill>
              </a:ln>
            </p:spPr>
          </p:sp>
          <p:sp>
            <p:nvSpPr>
              <p:cNvPr id="15" name="Freeform 15"/>
              <p:cNvSpPr/>
              <p:nvPr/>
            </p:nvSpPr>
            <p:spPr>
              <a:xfrm>
                <a:off x="927583" y="93980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FFFFFF"/>
                </a:solidFill>
              </a:ln>
            </p:spPr>
          </p:sp>
          <p:sp>
            <p:nvSpPr>
              <p:cNvPr id="16" name="Freeform 16"/>
              <p:cNvSpPr/>
              <p:nvPr/>
            </p:nvSpPr>
            <p:spPr>
              <a:xfrm>
                <a:off x="947420" y="1003300"/>
                <a:ext cx="29210" cy="9525"/>
              </a:xfrm>
              <a:custGeom>
                <a:avLst/>
                <a:gdLst/>
                <a:ahLst/>
                <a:cxnLst/>
                <a:rect l="l" t="t" r="r" b="b"/>
                <a:pathLst>
                  <a:path w="29210" h="9525">
                    <a:moveTo>
                      <a:pt x="0" y="0"/>
                    </a:moveTo>
                    <a:lnTo>
                      <a:pt x="29210" y="0"/>
                    </a:lnTo>
                  </a:path>
                </a:pathLst>
              </a:custGeom>
              <a:noFill/>
              <a:ln w="12700">
                <a:solidFill>
                  <a:srgbClr val="FFFFFF"/>
                </a:solidFill>
              </a:ln>
            </p:spPr>
          </p:sp>
        </p:grpSp>
        <p:sp>
          <p:nvSpPr>
            <p:cNvPr id="18" name="TextBox 18"/>
            <p:cNvSpPr txBox="1"/>
            <p:nvPr/>
          </p:nvSpPr>
          <p:spPr>
            <a:xfrm>
              <a:off x="1091844" y="9139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研发</a:t>
              </a:r>
            </a:p>
          </p:txBody>
        </p:sp>
        <p:grpSp>
          <p:nvGrpSpPr>
            <p:cNvPr id="23" name="Group 23"/>
            <p:cNvGrpSpPr/>
            <p:nvPr/>
          </p:nvGrpSpPr>
          <p:grpSpPr>
            <a:xfrm>
              <a:off x="2292350" y="914400"/>
              <a:ext cx="101600" cy="114300"/>
              <a:chOff x="2292350" y="914400"/>
              <a:chExt cx="101600" cy="114300"/>
            </a:xfrm>
          </p:grpSpPr>
          <p:sp>
            <p:nvSpPr>
              <p:cNvPr id="19" name="Freeform 19"/>
              <p:cNvSpPr/>
              <p:nvPr/>
            </p:nvSpPr>
            <p:spPr>
              <a:xfrm>
                <a:off x="2292350" y="10033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20" name="Freeform 20"/>
              <p:cNvSpPr/>
              <p:nvPr/>
            </p:nvSpPr>
            <p:spPr>
              <a:xfrm>
                <a:off x="2362200" y="10033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21" name="Freeform 21"/>
              <p:cNvSpPr/>
              <p:nvPr/>
            </p:nvSpPr>
            <p:spPr>
              <a:xfrm>
                <a:off x="2292350" y="914400"/>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FFFFFF"/>
                </a:solidFill>
              </a:ln>
            </p:spPr>
          </p:sp>
          <p:sp>
            <p:nvSpPr>
              <p:cNvPr id="22" name="Freeform 22"/>
              <p:cNvSpPr/>
              <p:nvPr/>
            </p:nvSpPr>
            <p:spPr>
              <a:xfrm>
                <a:off x="2305050" y="927100"/>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FFFFFF"/>
                </a:solidFill>
              </a:ln>
            </p:spPr>
          </p:sp>
        </p:grpSp>
        <p:sp>
          <p:nvSpPr>
            <p:cNvPr id="24" name="TextBox 24"/>
            <p:cNvSpPr txBox="1"/>
            <p:nvPr/>
          </p:nvSpPr>
          <p:spPr>
            <a:xfrm>
              <a:off x="2472969" y="9139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采购</a:t>
              </a:r>
            </a:p>
          </p:txBody>
        </p:sp>
        <p:grpSp>
          <p:nvGrpSpPr>
            <p:cNvPr id="30" name="Group 30"/>
            <p:cNvGrpSpPr/>
            <p:nvPr/>
          </p:nvGrpSpPr>
          <p:grpSpPr>
            <a:xfrm>
              <a:off x="3667125" y="914398"/>
              <a:ext cx="114300" cy="123827"/>
              <a:chOff x="3667125" y="914398"/>
              <a:chExt cx="114300" cy="123827"/>
            </a:xfrm>
          </p:grpSpPr>
          <p:sp>
            <p:nvSpPr>
              <p:cNvPr id="25" name="Freeform 25"/>
              <p:cNvSpPr/>
              <p:nvPr/>
            </p:nvSpPr>
            <p:spPr>
              <a:xfrm>
                <a:off x="3667125" y="1028700"/>
                <a:ext cx="114300" cy="9525"/>
              </a:xfrm>
              <a:custGeom>
                <a:avLst/>
                <a:gdLst/>
                <a:ahLst/>
                <a:cxnLst/>
                <a:rect l="l" t="t" r="r" b="b"/>
                <a:pathLst>
                  <a:path w="114300" h="9525">
                    <a:moveTo>
                      <a:pt x="0" y="0"/>
                    </a:moveTo>
                    <a:lnTo>
                      <a:pt x="114300" y="0"/>
                    </a:lnTo>
                  </a:path>
                </a:pathLst>
              </a:custGeom>
              <a:noFill/>
              <a:ln w="12700">
                <a:solidFill>
                  <a:srgbClr val="FFFFFF"/>
                </a:solidFill>
              </a:ln>
            </p:spPr>
          </p:sp>
          <p:sp>
            <p:nvSpPr>
              <p:cNvPr id="26" name="Freeform 26"/>
              <p:cNvSpPr/>
              <p:nvPr/>
            </p:nvSpPr>
            <p:spPr>
              <a:xfrm>
                <a:off x="3679825" y="952500"/>
                <a:ext cx="88900" cy="76200"/>
              </a:xfrm>
              <a:custGeom>
                <a:avLst/>
                <a:gdLst/>
                <a:ahLst/>
                <a:cxnLst/>
                <a:rect l="l" t="t" r="r" b="b"/>
                <a:pathLst>
                  <a:path w="88900" h="76200">
                    <a:moveTo>
                      <a:pt x="0" y="76200"/>
                    </a:moveTo>
                    <a:lnTo>
                      <a:pt x="0" y="0"/>
                    </a:lnTo>
                    <a:lnTo>
                      <a:pt x="31750" y="25400"/>
                    </a:lnTo>
                    <a:lnTo>
                      <a:pt x="31750" y="0"/>
                    </a:lnTo>
                    <a:lnTo>
                      <a:pt x="63500" y="25400"/>
                    </a:lnTo>
                    <a:lnTo>
                      <a:pt x="88900" y="25400"/>
                    </a:lnTo>
                  </a:path>
                </a:pathLst>
              </a:custGeom>
              <a:noFill/>
              <a:ln w="12700">
                <a:solidFill>
                  <a:srgbClr val="FFFFFF"/>
                </a:solidFill>
              </a:ln>
            </p:spPr>
          </p:sp>
          <p:sp>
            <p:nvSpPr>
              <p:cNvPr id="27" name="Freeform 27"/>
              <p:cNvSpPr/>
              <p:nvPr/>
            </p:nvSpPr>
            <p:spPr>
              <a:xfrm>
                <a:off x="3736975" y="914398"/>
                <a:ext cx="31750" cy="114302"/>
              </a:xfrm>
              <a:custGeom>
                <a:avLst/>
                <a:gdLst/>
                <a:ahLst/>
                <a:cxnLst/>
                <a:rect l="l" t="t" r="r" b="b"/>
                <a:pathLst>
                  <a:path w="31750" h="114302">
                    <a:moveTo>
                      <a:pt x="31750" y="114302"/>
                    </a:moveTo>
                    <a:lnTo>
                      <a:pt x="31750" y="63502"/>
                    </a:lnTo>
                    <a:lnTo>
                      <a:pt x="22631" y="2707"/>
                    </a:lnTo>
                    <a:cubicBezTo>
                      <a:pt x="22399" y="1152"/>
                      <a:pt x="21061" y="1"/>
                      <a:pt x="19488" y="2"/>
                    </a:cubicBezTo>
                    <a:lnTo>
                      <a:pt x="12217" y="2"/>
                    </a:lnTo>
                    <a:cubicBezTo>
                      <a:pt x="10663" y="0"/>
                      <a:pt x="9335" y="1123"/>
                      <a:pt x="9081" y="2657"/>
                    </a:cubicBezTo>
                    <a:lnTo>
                      <a:pt x="0" y="57152"/>
                    </a:lnTo>
                  </a:path>
                </a:pathLst>
              </a:custGeom>
              <a:noFill/>
              <a:ln w="12700">
                <a:solidFill>
                  <a:srgbClr val="FFFFFF"/>
                </a:solidFill>
              </a:ln>
            </p:spPr>
          </p:sp>
          <p:sp>
            <p:nvSpPr>
              <p:cNvPr id="28" name="Freeform 28"/>
              <p:cNvSpPr/>
              <p:nvPr/>
            </p:nvSpPr>
            <p:spPr>
              <a:xfrm>
                <a:off x="3705225" y="1003300"/>
                <a:ext cx="9525" cy="9525"/>
              </a:xfrm>
              <a:custGeom>
                <a:avLst/>
                <a:gdLst/>
                <a:ahLst/>
                <a:cxnLst/>
                <a:rect l="l" t="t" r="r" b="b"/>
                <a:pathLst>
                  <a:path w="9525" h="9525">
                    <a:moveTo>
                      <a:pt x="0" y="0"/>
                    </a:moveTo>
                    <a:lnTo>
                      <a:pt x="6350" y="0"/>
                    </a:lnTo>
                  </a:path>
                </a:pathLst>
              </a:custGeom>
              <a:noFill/>
              <a:ln w="12700">
                <a:solidFill>
                  <a:srgbClr val="FFFFFF"/>
                </a:solidFill>
              </a:ln>
            </p:spPr>
          </p:sp>
          <p:sp>
            <p:nvSpPr>
              <p:cNvPr id="29" name="Freeform 29"/>
              <p:cNvSpPr/>
              <p:nvPr/>
            </p:nvSpPr>
            <p:spPr>
              <a:xfrm>
                <a:off x="3736975" y="1003300"/>
                <a:ext cx="9525" cy="9525"/>
              </a:xfrm>
              <a:custGeom>
                <a:avLst/>
                <a:gdLst/>
                <a:ahLst/>
                <a:cxnLst/>
                <a:rect l="l" t="t" r="r" b="b"/>
                <a:pathLst>
                  <a:path w="9525" h="9525">
                    <a:moveTo>
                      <a:pt x="0" y="0"/>
                    </a:moveTo>
                    <a:lnTo>
                      <a:pt x="6350" y="0"/>
                    </a:lnTo>
                  </a:path>
                </a:pathLst>
              </a:custGeom>
              <a:noFill/>
              <a:ln w="12700">
                <a:solidFill>
                  <a:srgbClr val="FFFFFF"/>
                </a:solidFill>
              </a:ln>
            </p:spPr>
          </p:sp>
        </p:grpSp>
        <p:sp>
          <p:nvSpPr>
            <p:cNvPr id="31" name="TextBox 31"/>
            <p:cNvSpPr txBox="1"/>
            <p:nvPr/>
          </p:nvSpPr>
          <p:spPr>
            <a:xfrm>
              <a:off x="3854094" y="9139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生产</a:t>
              </a:r>
            </a:p>
          </p:txBody>
        </p:sp>
        <p:grpSp>
          <p:nvGrpSpPr>
            <p:cNvPr id="35" name="Group 35"/>
            <p:cNvGrpSpPr/>
            <p:nvPr/>
          </p:nvGrpSpPr>
          <p:grpSpPr>
            <a:xfrm>
              <a:off x="5048250" y="927100"/>
              <a:ext cx="114300" cy="88900"/>
              <a:chOff x="5048250" y="927100"/>
              <a:chExt cx="114300" cy="88900"/>
            </a:xfrm>
          </p:grpSpPr>
          <p:sp>
            <p:nvSpPr>
              <p:cNvPr id="32" name="Freeform 32"/>
              <p:cNvSpPr/>
              <p:nvPr/>
            </p:nvSpPr>
            <p:spPr>
              <a:xfrm>
                <a:off x="5060950" y="9906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33" name="Freeform 33"/>
              <p:cNvSpPr/>
              <p:nvPr/>
            </p:nvSpPr>
            <p:spPr>
              <a:xfrm>
                <a:off x="5124450" y="9906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34" name="Freeform 34"/>
              <p:cNvSpPr/>
              <p:nvPr/>
            </p:nvSpPr>
            <p:spPr>
              <a:xfrm>
                <a:off x="5048250" y="927100"/>
                <a:ext cx="114300" cy="76200"/>
              </a:xfrm>
              <a:custGeom>
                <a:avLst/>
                <a:gdLst/>
                <a:ahLst/>
                <a:cxnLst/>
                <a:rect l="l" t="t" r="r" b="b"/>
                <a:pathLst>
                  <a:path w="114300" h="76200">
                    <a:moveTo>
                      <a:pt x="12700" y="76200"/>
                    </a:moveTo>
                    <a:lnTo>
                      <a:pt x="0" y="76200"/>
                    </a:lnTo>
                    <a:lnTo>
                      <a:pt x="0" y="6350"/>
                    </a:lnTo>
                    <a:cubicBezTo>
                      <a:pt x="0" y="2843"/>
                      <a:pt x="2843" y="0"/>
                      <a:pt x="6350" y="0"/>
                    </a:cubicBezTo>
                    <a:lnTo>
                      <a:pt x="63500" y="0"/>
                    </a:lnTo>
                    <a:lnTo>
                      <a:pt x="63500" y="76200"/>
                    </a:lnTo>
                    <a:moveTo>
                      <a:pt x="38100" y="76200"/>
                    </a:moveTo>
                    <a:lnTo>
                      <a:pt x="76200" y="76200"/>
                    </a:lnTo>
                    <a:moveTo>
                      <a:pt x="101600" y="76200"/>
                    </a:moveTo>
                    <a:lnTo>
                      <a:pt x="114300" y="76200"/>
                    </a:lnTo>
                    <a:lnTo>
                      <a:pt x="114300" y="38100"/>
                    </a:lnTo>
                    <a:lnTo>
                      <a:pt x="63500" y="38100"/>
                    </a:lnTo>
                    <a:moveTo>
                      <a:pt x="63500" y="6350"/>
                    </a:moveTo>
                    <a:lnTo>
                      <a:pt x="95250" y="6350"/>
                    </a:lnTo>
                    <a:lnTo>
                      <a:pt x="114300" y="38100"/>
                    </a:lnTo>
                  </a:path>
                </a:pathLst>
              </a:custGeom>
              <a:noFill/>
              <a:ln w="12700">
                <a:solidFill>
                  <a:srgbClr val="FFFFFF"/>
                </a:solidFill>
              </a:ln>
            </p:spPr>
          </p:sp>
        </p:grpSp>
        <p:sp>
          <p:nvSpPr>
            <p:cNvPr id="36" name="TextBox 36"/>
            <p:cNvSpPr txBox="1"/>
            <p:nvPr/>
          </p:nvSpPr>
          <p:spPr>
            <a:xfrm>
              <a:off x="5169256" y="91392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供应链</a:t>
              </a:r>
            </a:p>
          </p:txBody>
        </p:sp>
        <p:grpSp>
          <p:nvGrpSpPr>
            <p:cNvPr id="40" name="Group 40"/>
            <p:cNvGrpSpPr/>
            <p:nvPr/>
          </p:nvGrpSpPr>
          <p:grpSpPr>
            <a:xfrm>
              <a:off x="6429375" y="920486"/>
              <a:ext cx="114300" cy="101864"/>
              <a:chOff x="6429375" y="920486"/>
              <a:chExt cx="114300" cy="101864"/>
            </a:xfrm>
          </p:grpSpPr>
          <p:sp>
            <p:nvSpPr>
              <p:cNvPr id="37" name="Freeform 37"/>
              <p:cNvSpPr/>
              <p:nvPr/>
            </p:nvSpPr>
            <p:spPr>
              <a:xfrm>
                <a:off x="6524625" y="946150"/>
                <a:ext cx="19050" cy="38100"/>
              </a:xfrm>
              <a:custGeom>
                <a:avLst/>
                <a:gdLst/>
                <a:ahLst/>
                <a:cxnLst/>
                <a:rect l="l" t="t" r="r" b="b"/>
                <a:pathLst>
                  <a:path w="19050" h="38100">
                    <a:moveTo>
                      <a:pt x="0" y="0"/>
                    </a:moveTo>
                    <a:cubicBezTo>
                      <a:pt x="10521" y="0"/>
                      <a:pt x="19050" y="8529"/>
                      <a:pt x="19050" y="19050"/>
                    </a:cubicBezTo>
                    <a:cubicBezTo>
                      <a:pt x="19050" y="29571"/>
                      <a:pt x="10521" y="38100"/>
                      <a:pt x="0" y="38100"/>
                    </a:cubicBezTo>
                  </a:path>
                </a:pathLst>
              </a:custGeom>
              <a:noFill/>
              <a:ln w="12700">
                <a:solidFill>
                  <a:srgbClr val="FFFFFF"/>
                </a:solidFill>
              </a:ln>
            </p:spPr>
          </p:sp>
          <p:sp>
            <p:nvSpPr>
              <p:cNvPr id="38" name="Freeform 38"/>
              <p:cNvSpPr/>
              <p:nvPr/>
            </p:nvSpPr>
            <p:spPr>
              <a:xfrm>
                <a:off x="6454775" y="946150"/>
                <a:ext cx="19050" cy="76200"/>
              </a:xfrm>
              <a:custGeom>
                <a:avLst/>
                <a:gdLst/>
                <a:ahLst/>
                <a:cxnLst/>
                <a:rect l="l" t="t" r="r" b="b"/>
                <a:pathLst>
                  <a:path w="19050" h="76200">
                    <a:moveTo>
                      <a:pt x="19050" y="0"/>
                    </a:moveTo>
                    <a:lnTo>
                      <a:pt x="19050" y="69850"/>
                    </a:lnTo>
                    <a:cubicBezTo>
                      <a:pt x="19050" y="73357"/>
                      <a:pt x="16207" y="76200"/>
                      <a:pt x="12700" y="76200"/>
                    </a:cubicBezTo>
                    <a:lnTo>
                      <a:pt x="6350" y="76200"/>
                    </a:lnTo>
                    <a:cubicBezTo>
                      <a:pt x="2843" y="76200"/>
                      <a:pt x="0" y="73357"/>
                      <a:pt x="0" y="69850"/>
                    </a:cubicBezTo>
                    <a:lnTo>
                      <a:pt x="0" y="38100"/>
                    </a:lnTo>
                  </a:path>
                </a:pathLst>
              </a:custGeom>
              <a:noFill/>
              <a:ln w="12700">
                <a:solidFill>
                  <a:srgbClr val="FFFFFF"/>
                </a:solidFill>
              </a:ln>
            </p:spPr>
          </p:sp>
          <p:sp>
            <p:nvSpPr>
              <p:cNvPr id="39" name="Freeform 39"/>
              <p:cNvSpPr/>
              <p:nvPr/>
            </p:nvSpPr>
            <p:spPr>
              <a:xfrm>
                <a:off x="6429375" y="920486"/>
                <a:ext cx="95251" cy="89428"/>
              </a:xfrm>
              <a:custGeom>
                <a:avLst/>
                <a:gdLst/>
                <a:ahLst/>
                <a:cxnLst/>
                <a:rect l="l" t="t" r="r" b="b"/>
                <a:pathLst>
                  <a:path w="95251" h="89428">
                    <a:moveTo>
                      <a:pt x="57150" y="25664"/>
                    </a:moveTo>
                    <a:lnTo>
                      <a:pt x="85877" y="1725"/>
                    </a:lnTo>
                    <a:cubicBezTo>
                      <a:pt x="87582" y="305"/>
                      <a:pt x="89953" y="0"/>
                      <a:pt x="91961" y="941"/>
                    </a:cubicBezTo>
                    <a:cubicBezTo>
                      <a:pt x="93969" y="1883"/>
                      <a:pt x="95251" y="3901"/>
                      <a:pt x="95250" y="6119"/>
                    </a:cubicBezTo>
                    <a:lnTo>
                      <a:pt x="95250" y="83310"/>
                    </a:lnTo>
                    <a:cubicBezTo>
                      <a:pt x="95251" y="85527"/>
                      <a:pt x="93969" y="87546"/>
                      <a:pt x="91961" y="88487"/>
                    </a:cubicBezTo>
                    <a:cubicBezTo>
                      <a:pt x="89953" y="89428"/>
                      <a:pt x="87582" y="89123"/>
                      <a:pt x="85877" y="87704"/>
                    </a:cubicBezTo>
                    <a:lnTo>
                      <a:pt x="57150" y="63764"/>
                    </a:lnTo>
                    <a:lnTo>
                      <a:pt x="6350" y="63764"/>
                    </a:lnTo>
                    <a:cubicBezTo>
                      <a:pt x="2843" y="63764"/>
                      <a:pt x="0" y="60921"/>
                      <a:pt x="0" y="57414"/>
                    </a:cubicBezTo>
                    <a:lnTo>
                      <a:pt x="0" y="32014"/>
                    </a:lnTo>
                    <a:cubicBezTo>
                      <a:pt x="0" y="28507"/>
                      <a:pt x="2843" y="25664"/>
                      <a:pt x="6350" y="25664"/>
                    </a:cubicBezTo>
                    <a:lnTo>
                      <a:pt x="57150" y="25664"/>
                    </a:lnTo>
                  </a:path>
                </a:pathLst>
              </a:custGeom>
              <a:noFill/>
              <a:ln w="12700">
                <a:solidFill>
                  <a:srgbClr val="FFFFFF"/>
                </a:solidFill>
              </a:ln>
            </p:spPr>
          </p:sp>
        </p:grpSp>
        <p:sp>
          <p:nvSpPr>
            <p:cNvPr id="41" name="TextBox 41"/>
            <p:cNvSpPr txBox="1"/>
            <p:nvPr/>
          </p:nvSpPr>
          <p:spPr>
            <a:xfrm>
              <a:off x="6616344" y="9139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营销</a:t>
              </a:r>
            </a:p>
          </p:txBody>
        </p:sp>
        <p:grpSp>
          <p:nvGrpSpPr>
            <p:cNvPr id="46" name="Group 46"/>
            <p:cNvGrpSpPr/>
            <p:nvPr/>
          </p:nvGrpSpPr>
          <p:grpSpPr>
            <a:xfrm>
              <a:off x="7810500" y="920750"/>
              <a:ext cx="114300" cy="111125"/>
              <a:chOff x="7810500" y="920750"/>
              <a:chExt cx="114300" cy="111125"/>
            </a:xfrm>
          </p:grpSpPr>
          <p:sp>
            <p:nvSpPr>
              <p:cNvPr id="42" name="Freeform 42"/>
              <p:cNvSpPr/>
              <p:nvPr/>
            </p:nvSpPr>
            <p:spPr>
              <a:xfrm>
                <a:off x="7810500" y="9715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FFFFFF"/>
                </a:solidFill>
              </a:ln>
            </p:spPr>
          </p:sp>
          <p:sp>
            <p:nvSpPr>
              <p:cNvPr id="43" name="Freeform 43"/>
              <p:cNvSpPr/>
              <p:nvPr/>
            </p:nvSpPr>
            <p:spPr>
              <a:xfrm>
                <a:off x="7886700" y="9461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FFFFFF"/>
                </a:solidFill>
              </a:ln>
            </p:spPr>
          </p:sp>
          <p:sp>
            <p:nvSpPr>
              <p:cNvPr id="44" name="Freeform 44"/>
              <p:cNvSpPr/>
              <p:nvPr/>
            </p:nvSpPr>
            <p:spPr>
              <a:xfrm>
                <a:off x="7848600" y="9207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FFFFFF"/>
                </a:solidFill>
              </a:ln>
            </p:spPr>
          </p:sp>
          <p:sp>
            <p:nvSpPr>
              <p:cNvPr id="45" name="Freeform 45"/>
              <p:cNvSpPr/>
              <p:nvPr/>
            </p:nvSpPr>
            <p:spPr>
              <a:xfrm>
                <a:off x="7816850" y="1022350"/>
                <a:ext cx="88900" cy="9525"/>
              </a:xfrm>
              <a:custGeom>
                <a:avLst/>
                <a:gdLst/>
                <a:ahLst/>
                <a:cxnLst/>
                <a:rect l="l" t="t" r="r" b="b"/>
                <a:pathLst>
                  <a:path w="88900" h="9525">
                    <a:moveTo>
                      <a:pt x="0" y="0"/>
                    </a:moveTo>
                    <a:lnTo>
                      <a:pt x="88900" y="0"/>
                    </a:lnTo>
                  </a:path>
                </a:pathLst>
              </a:custGeom>
              <a:noFill/>
              <a:ln w="12700">
                <a:solidFill>
                  <a:srgbClr val="FFFFFF"/>
                </a:solidFill>
              </a:ln>
            </p:spPr>
          </p:sp>
        </p:grpSp>
        <p:sp>
          <p:nvSpPr>
            <p:cNvPr id="47" name="TextBox 47"/>
            <p:cNvSpPr txBox="1"/>
            <p:nvPr/>
          </p:nvSpPr>
          <p:spPr>
            <a:xfrm>
              <a:off x="7997469" y="9139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销售</a:t>
              </a:r>
            </a:p>
          </p:txBody>
        </p:sp>
        <p:grpSp>
          <p:nvGrpSpPr>
            <p:cNvPr id="52" name="Group 52"/>
            <p:cNvGrpSpPr/>
            <p:nvPr/>
          </p:nvGrpSpPr>
          <p:grpSpPr>
            <a:xfrm>
              <a:off x="9197975" y="914400"/>
              <a:ext cx="101600" cy="114300"/>
              <a:chOff x="9197975" y="914400"/>
              <a:chExt cx="101600" cy="114300"/>
            </a:xfrm>
          </p:grpSpPr>
          <p:sp>
            <p:nvSpPr>
              <p:cNvPr id="48" name="Freeform 48"/>
              <p:cNvSpPr/>
              <p:nvPr/>
            </p:nvSpPr>
            <p:spPr>
              <a:xfrm>
                <a:off x="9197975" y="914400"/>
                <a:ext cx="101600" cy="114300"/>
              </a:xfrm>
              <a:custGeom>
                <a:avLst/>
                <a:gdLst/>
                <a:ahLst/>
                <a:cxnLst/>
                <a:rect l="l" t="t" r="r" b="b"/>
                <a:pathLst>
                  <a:path w="101600" h="114300">
                    <a:moveTo>
                      <a:pt x="50800" y="0"/>
                    </a:moveTo>
                    <a:lnTo>
                      <a:pt x="101600" y="28575"/>
                    </a:lnTo>
                    <a:lnTo>
                      <a:pt x="101600" y="85725"/>
                    </a:lnTo>
                    <a:lnTo>
                      <a:pt x="50800" y="114300"/>
                    </a:lnTo>
                    <a:lnTo>
                      <a:pt x="0" y="85725"/>
                    </a:lnTo>
                    <a:lnTo>
                      <a:pt x="0" y="28575"/>
                    </a:lnTo>
                    <a:lnTo>
                      <a:pt x="50800" y="0"/>
                    </a:lnTo>
                  </a:path>
                </a:pathLst>
              </a:custGeom>
              <a:noFill/>
              <a:ln w="12700">
                <a:solidFill>
                  <a:srgbClr val="FFFFFF"/>
                </a:solidFill>
              </a:ln>
            </p:spPr>
          </p:sp>
          <p:sp>
            <p:nvSpPr>
              <p:cNvPr id="49" name="Freeform 49"/>
              <p:cNvSpPr/>
              <p:nvPr/>
            </p:nvSpPr>
            <p:spPr>
              <a:xfrm>
                <a:off x="9248775" y="942975"/>
                <a:ext cx="50800" cy="28575"/>
              </a:xfrm>
              <a:custGeom>
                <a:avLst/>
                <a:gdLst/>
                <a:ahLst/>
                <a:cxnLst/>
                <a:rect l="l" t="t" r="r" b="b"/>
                <a:pathLst>
                  <a:path w="50800" h="28575">
                    <a:moveTo>
                      <a:pt x="0" y="28575"/>
                    </a:moveTo>
                    <a:lnTo>
                      <a:pt x="50800" y="0"/>
                    </a:lnTo>
                  </a:path>
                </a:pathLst>
              </a:custGeom>
              <a:noFill/>
              <a:ln w="12700">
                <a:solidFill>
                  <a:srgbClr val="FFFFFF"/>
                </a:solidFill>
              </a:ln>
            </p:spPr>
          </p:sp>
          <p:sp>
            <p:nvSpPr>
              <p:cNvPr id="50" name="Freeform 50"/>
              <p:cNvSpPr/>
              <p:nvPr/>
            </p:nvSpPr>
            <p:spPr>
              <a:xfrm>
                <a:off x="9248775" y="971550"/>
                <a:ext cx="9525" cy="57150"/>
              </a:xfrm>
              <a:custGeom>
                <a:avLst/>
                <a:gdLst/>
                <a:ahLst/>
                <a:cxnLst/>
                <a:rect l="l" t="t" r="r" b="b"/>
                <a:pathLst>
                  <a:path w="9525" h="57150">
                    <a:moveTo>
                      <a:pt x="0" y="0"/>
                    </a:moveTo>
                    <a:lnTo>
                      <a:pt x="0" y="57150"/>
                    </a:lnTo>
                  </a:path>
                </a:pathLst>
              </a:custGeom>
              <a:noFill/>
              <a:ln w="12700">
                <a:solidFill>
                  <a:srgbClr val="FFFFFF"/>
                </a:solidFill>
              </a:ln>
            </p:spPr>
          </p:sp>
          <p:sp>
            <p:nvSpPr>
              <p:cNvPr id="51" name="Freeform 51"/>
              <p:cNvSpPr/>
              <p:nvPr/>
            </p:nvSpPr>
            <p:spPr>
              <a:xfrm>
                <a:off x="9197975" y="942975"/>
                <a:ext cx="50800" cy="28575"/>
              </a:xfrm>
              <a:custGeom>
                <a:avLst/>
                <a:gdLst/>
                <a:ahLst/>
                <a:cxnLst/>
                <a:rect l="l" t="t" r="r" b="b"/>
                <a:pathLst>
                  <a:path w="50800" h="28575">
                    <a:moveTo>
                      <a:pt x="50800" y="28575"/>
                    </a:moveTo>
                    <a:lnTo>
                      <a:pt x="0" y="0"/>
                    </a:lnTo>
                  </a:path>
                </a:pathLst>
              </a:custGeom>
              <a:noFill/>
              <a:ln w="12700">
                <a:solidFill>
                  <a:srgbClr val="FFFFFF"/>
                </a:solidFill>
              </a:ln>
            </p:spPr>
          </p:sp>
        </p:grpSp>
        <p:sp>
          <p:nvSpPr>
            <p:cNvPr id="53" name="TextBox 53"/>
            <p:cNvSpPr txBox="1"/>
            <p:nvPr/>
          </p:nvSpPr>
          <p:spPr>
            <a:xfrm>
              <a:off x="9378594" y="9139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交付</a:t>
              </a:r>
            </a:p>
          </p:txBody>
        </p:sp>
        <p:grpSp>
          <p:nvGrpSpPr>
            <p:cNvPr id="57" name="Group 57"/>
            <p:cNvGrpSpPr/>
            <p:nvPr/>
          </p:nvGrpSpPr>
          <p:grpSpPr>
            <a:xfrm>
              <a:off x="10579100" y="920750"/>
              <a:ext cx="101600" cy="101600"/>
              <a:chOff x="10579100" y="920750"/>
              <a:chExt cx="101600" cy="101600"/>
            </a:xfrm>
          </p:grpSpPr>
          <p:sp>
            <p:nvSpPr>
              <p:cNvPr id="54" name="Freeform 54"/>
              <p:cNvSpPr/>
              <p:nvPr/>
            </p:nvSpPr>
            <p:spPr>
              <a:xfrm>
                <a:off x="10579100" y="977900"/>
                <a:ext cx="31750" cy="44450"/>
              </a:xfrm>
              <a:custGeom>
                <a:avLst/>
                <a:gdLst/>
                <a:ahLst/>
                <a:cxnLst/>
                <a:rect l="l" t="t" r="r" b="b"/>
                <a:pathLst>
                  <a:path w="31750" h="44450">
                    <a:moveTo>
                      <a:pt x="0" y="12700"/>
                    </a:moveTo>
                    <a:cubicBezTo>
                      <a:pt x="0" y="5686"/>
                      <a:pt x="5686" y="0"/>
                      <a:pt x="12700" y="0"/>
                    </a:cubicBezTo>
                    <a:lnTo>
                      <a:pt x="19050" y="0"/>
                    </a:lnTo>
                    <a:cubicBezTo>
                      <a:pt x="26064" y="0"/>
                      <a:pt x="31750" y="5686"/>
                      <a:pt x="31750" y="12700"/>
                    </a:cubicBezTo>
                    <a:lnTo>
                      <a:pt x="31750" y="31750"/>
                    </a:lnTo>
                    <a:cubicBezTo>
                      <a:pt x="31750" y="38764"/>
                      <a:pt x="26064" y="44450"/>
                      <a:pt x="19050" y="44450"/>
                    </a:cubicBezTo>
                    <a:lnTo>
                      <a:pt x="12700" y="44450"/>
                    </a:lnTo>
                    <a:cubicBezTo>
                      <a:pt x="5686" y="44450"/>
                      <a:pt x="0" y="38764"/>
                      <a:pt x="0" y="31750"/>
                    </a:cubicBezTo>
                    <a:lnTo>
                      <a:pt x="0" y="12700"/>
                    </a:lnTo>
                  </a:path>
                </a:pathLst>
              </a:custGeom>
              <a:noFill/>
              <a:ln w="12700">
                <a:solidFill>
                  <a:srgbClr val="FFFFFF"/>
                </a:solidFill>
              </a:ln>
            </p:spPr>
          </p:sp>
          <p:sp>
            <p:nvSpPr>
              <p:cNvPr id="55" name="Freeform 55"/>
              <p:cNvSpPr/>
              <p:nvPr/>
            </p:nvSpPr>
            <p:spPr>
              <a:xfrm>
                <a:off x="10648950" y="977900"/>
                <a:ext cx="31750" cy="44450"/>
              </a:xfrm>
              <a:custGeom>
                <a:avLst/>
                <a:gdLst/>
                <a:ahLst/>
                <a:cxnLst/>
                <a:rect l="l" t="t" r="r" b="b"/>
                <a:pathLst>
                  <a:path w="31750" h="44450">
                    <a:moveTo>
                      <a:pt x="0" y="12700"/>
                    </a:moveTo>
                    <a:cubicBezTo>
                      <a:pt x="0" y="5686"/>
                      <a:pt x="5686" y="0"/>
                      <a:pt x="12700" y="0"/>
                    </a:cubicBezTo>
                    <a:lnTo>
                      <a:pt x="19050" y="0"/>
                    </a:lnTo>
                    <a:cubicBezTo>
                      <a:pt x="26064" y="0"/>
                      <a:pt x="31750" y="5686"/>
                      <a:pt x="31750" y="12700"/>
                    </a:cubicBezTo>
                    <a:lnTo>
                      <a:pt x="31750" y="31750"/>
                    </a:lnTo>
                    <a:cubicBezTo>
                      <a:pt x="31750" y="38764"/>
                      <a:pt x="26064" y="44450"/>
                      <a:pt x="19050" y="44450"/>
                    </a:cubicBezTo>
                    <a:lnTo>
                      <a:pt x="12700" y="44450"/>
                    </a:lnTo>
                    <a:cubicBezTo>
                      <a:pt x="5686" y="44450"/>
                      <a:pt x="0" y="38764"/>
                      <a:pt x="0" y="31750"/>
                    </a:cubicBezTo>
                    <a:lnTo>
                      <a:pt x="0" y="12700"/>
                    </a:lnTo>
                  </a:path>
                </a:pathLst>
              </a:custGeom>
              <a:noFill/>
              <a:ln w="12700">
                <a:solidFill>
                  <a:srgbClr val="FFFFFF"/>
                </a:solidFill>
              </a:ln>
            </p:spPr>
          </p:sp>
          <p:sp>
            <p:nvSpPr>
              <p:cNvPr id="56" name="Freeform 56"/>
              <p:cNvSpPr/>
              <p:nvPr/>
            </p:nvSpPr>
            <p:spPr>
              <a:xfrm>
                <a:off x="10579100" y="920750"/>
                <a:ext cx="101600" cy="69850"/>
              </a:xfrm>
              <a:custGeom>
                <a:avLst/>
                <a:gdLst/>
                <a:ahLst/>
                <a:cxnLst/>
                <a:rect l="l" t="t" r="r" b="b"/>
                <a:pathLst>
                  <a:path w="101600" h="69850">
                    <a:moveTo>
                      <a:pt x="0" y="69850"/>
                    </a:moveTo>
                    <a:lnTo>
                      <a:pt x="0" y="50800"/>
                    </a:lnTo>
                    <a:cubicBezTo>
                      <a:pt x="0" y="22744"/>
                      <a:pt x="22744" y="0"/>
                      <a:pt x="50800" y="0"/>
                    </a:cubicBezTo>
                    <a:cubicBezTo>
                      <a:pt x="78856" y="0"/>
                      <a:pt x="101600" y="22744"/>
                      <a:pt x="101600" y="50800"/>
                    </a:cubicBezTo>
                    <a:lnTo>
                      <a:pt x="101600" y="69850"/>
                    </a:lnTo>
                  </a:path>
                </a:pathLst>
              </a:custGeom>
              <a:noFill/>
              <a:ln w="12700">
                <a:solidFill>
                  <a:srgbClr val="FFFFFF"/>
                </a:solidFill>
              </a:ln>
            </p:spPr>
          </p:sp>
        </p:grpSp>
        <p:sp>
          <p:nvSpPr>
            <p:cNvPr id="58" name="TextBox 58"/>
            <p:cNvSpPr txBox="1"/>
            <p:nvPr/>
          </p:nvSpPr>
          <p:spPr>
            <a:xfrm>
              <a:off x="10759719" y="91392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服务</a:t>
              </a:r>
            </a:p>
          </p:txBody>
        </p:sp>
      </p:grpSp>
      <p:grpSp>
        <p:nvGrpSpPr>
          <p:cNvPr id="263" name="metrics"/>
          <p:cNvGrpSpPr/>
          <p:nvPr/>
        </p:nvGrpSpPr>
        <p:grpSpPr>
          <a:xfrm>
            <a:off x="415988" y="1257300"/>
            <a:ext cx="11395012" cy="1485900"/>
            <a:chOff x="415988" y="1257300"/>
            <a:chExt cx="11395012" cy="1485900"/>
          </a:xfrm>
        </p:grpSpPr>
        <p:sp>
          <p:nvSpPr>
            <p:cNvPr id="60" name="Rectangle 60"/>
            <p:cNvSpPr/>
            <p:nvPr/>
          </p:nvSpPr>
          <p:spPr>
            <a:xfrm>
              <a:off x="1028700" y="1562100"/>
              <a:ext cx="10782300" cy="304800"/>
            </a:xfrm>
            <a:prstGeom prst="rect">
              <a:avLst/>
            </a:prstGeom>
            <a:solidFill>
              <a:srgbClr val="F7F9FC"/>
            </a:solidFill>
            <a:ln>
              <a:noFill/>
            </a:ln>
          </p:spPr>
        </p:sp>
        <p:sp>
          <p:nvSpPr>
            <p:cNvPr id="61" name="Rectangle 61"/>
            <p:cNvSpPr/>
            <p:nvPr/>
          </p:nvSpPr>
          <p:spPr>
            <a:xfrm>
              <a:off x="1028700" y="2171700"/>
              <a:ext cx="10782300" cy="304800"/>
            </a:xfrm>
            <a:prstGeom prst="rect">
              <a:avLst/>
            </a:prstGeom>
            <a:solidFill>
              <a:srgbClr val="F7F9FC"/>
            </a:solidFill>
            <a:ln>
              <a:noFill/>
            </a:ln>
          </p:spPr>
        </p:sp>
        <p:sp>
          <p:nvSpPr>
            <p:cNvPr id="62" name="Line 62"/>
            <p:cNvSpPr/>
            <p:nvPr/>
          </p:nvSpPr>
          <p:spPr>
            <a:xfrm>
              <a:off x="2409825" y="1257300"/>
              <a:ext cx="9525" cy="1485900"/>
            </a:xfrm>
            <a:custGeom>
              <a:avLst/>
              <a:gdLst/>
              <a:ahLst/>
              <a:cxnLst/>
              <a:rect l="l" t="t" r="r" b="b"/>
              <a:pathLst>
                <a:path w="9525" h="1485900">
                  <a:moveTo>
                    <a:pt x="0" y="0"/>
                  </a:moveTo>
                  <a:lnTo>
                    <a:pt x="0" y="1485900"/>
                  </a:lnTo>
                </a:path>
              </a:pathLst>
            </a:custGeom>
            <a:noFill/>
            <a:ln w="9525">
              <a:solidFill>
                <a:srgbClr val="EEF2F8"/>
              </a:solidFill>
            </a:ln>
          </p:spPr>
        </p:sp>
        <p:sp>
          <p:nvSpPr>
            <p:cNvPr id="63" name="Line 63"/>
            <p:cNvSpPr/>
            <p:nvPr/>
          </p:nvSpPr>
          <p:spPr>
            <a:xfrm>
              <a:off x="3790950" y="1257300"/>
              <a:ext cx="9525" cy="1485900"/>
            </a:xfrm>
            <a:custGeom>
              <a:avLst/>
              <a:gdLst/>
              <a:ahLst/>
              <a:cxnLst/>
              <a:rect l="l" t="t" r="r" b="b"/>
              <a:pathLst>
                <a:path w="9525" h="1485900">
                  <a:moveTo>
                    <a:pt x="0" y="0"/>
                  </a:moveTo>
                  <a:lnTo>
                    <a:pt x="0" y="1485900"/>
                  </a:lnTo>
                </a:path>
              </a:pathLst>
            </a:custGeom>
            <a:noFill/>
            <a:ln w="9525">
              <a:solidFill>
                <a:srgbClr val="EEF2F8"/>
              </a:solidFill>
            </a:ln>
          </p:spPr>
        </p:sp>
        <p:sp>
          <p:nvSpPr>
            <p:cNvPr id="64" name="Line 64"/>
            <p:cNvSpPr/>
            <p:nvPr/>
          </p:nvSpPr>
          <p:spPr>
            <a:xfrm>
              <a:off x="5172075" y="1257300"/>
              <a:ext cx="9525" cy="1485900"/>
            </a:xfrm>
            <a:custGeom>
              <a:avLst/>
              <a:gdLst/>
              <a:ahLst/>
              <a:cxnLst/>
              <a:rect l="l" t="t" r="r" b="b"/>
              <a:pathLst>
                <a:path w="9525" h="1485900">
                  <a:moveTo>
                    <a:pt x="0" y="0"/>
                  </a:moveTo>
                  <a:lnTo>
                    <a:pt x="0" y="1485900"/>
                  </a:lnTo>
                </a:path>
              </a:pathLst>
            </a:custGeom>
            <a:noFill/>
            <a:ln w="9525">
              <a:solidFill>
                <a:srgbClr val="EEF2F8"/>
              </a:solidFill>
            </a:ln>
          </p:spPr>
        </p:sp>
        <p:sp>
          <p:nvSpPr>
            <p:cNvPr id="65" name="Line 65"/>
            <p:cNvSpPr/>
            <p:nvPr/>
          </p:nvSpPr>
          <p:spPr>
            <a:xfrm>
              <a:off x="6553200" y="1257300"/>
              <a:ext cx="9525" cy="1485900"/>
            </a:xfrm>
            <a:custGeom>
              <a:avLst/>
              <a:gdLst/>
              <a:ahLst/>
              <a:cxnLst/>
              <a:rect l="l" t="t" r="r" b="b"/>
              <a:pathLst>
                <a:path w="9525" h="1485900">
                  <a:moveTo>
                    <a:pt x="0" y="0"/>
                  </a:moveTo>
                  <a:lnTo>
                    <a:pt x="0" y="1485900"/>
                  </a:lnTo>
                </a:path>
              </a:pathLst>
            </a:custGeom>
            <a:noFill/>
            <a:ln w="9525">
              <a:solidFill>
                <a:srgbClr val="EEF2F8"/>
              </a:solidFill>
            </a:ln>
          </p:spPr>
        </p:sp>
        <p:sp>
          <p:nvSpPr>
            <p:cNvPr id="66" name="Line 66"/>
            <p:cNvSpPr/>
            <p:nvPr/>
          </p:nvSpPr>
          <p:spPr>
            <a:xfrm>
              <a:off x="7934325" y="1257300"/>
              <a:ext cx="9525" cy="1485900"/>
            </a:xfrm>
            <a:custGeom>
              <a:avLst/>
              <a:gdLst/>
              <a:ahLst/>
              <a:cxnLst/>
              <a:rect l="l" t="t" r="r" b="b"/>
              <a:pathLst>
                <a:path w="9525" h="1485900">
                  <a:moveTo>
                    <a:pt x="0" y="0"/>
                  </a:moveTo>
                  <a:lnTo>
                    <a:pt x="0" y="1485900"/>
                  </a:lnTo>
                </a:path>
              </a:pathLst>
            </a:custGeom>
            <a:noFill/>
            <a:ln w="9525">
              <a:solidFill>
                <a:srgbClr val="EEF2F8"/>
              </a:solidFill>
            </a:ln>
          </p:spPr>
        </p:sp>
        <p:sp>
          <p:nvSpPr>
            <p:cNvPr id="67" name="Line 67"/>
            <p:cNvSpPr/>
            <p:nvPr/>
          </p:nvSpPr>
          <p:spPr>
            <a:xfrm>
              <a:off x="9315450" y="1257300"/>
              <a:ext cx="9525" cy="1485900"/>
            </a:xfrm>
            <a:custGeom>
              <a:avLst/>
              <a:gdLst/>
              <a:ahLst/>
              <a:cxnLst/>
              <a:rect l="l" t="t" r="r" b="b"/>
              <a:pathLst>
                <a:path w="9525" h="1485900">
                  <a:moveTo>
                    <a:pt x="0" y="0"/>
                  </a:moveTo>
                  <a:lnTo>
                    <a:pt x="0" y="1485900"/>
                  </a:lnTo>
                </a:path>
              </a:pathLst>
            </a:custGeom>
            <a:noFill/>
            <a:ln w="9525">
              <a:solidFill>
                <a:srgbClr val="EEF2F8"/>
              </a:solidFill>
            </a:ln>
          </p:spPr>
        </p:sp>
        <p:sp>
          <p:nvSpPr>
            <p:cNvPr id="68" name="Line 68"/>
            <p:cNvSpPr/>
            <p:nvPr/>
          </p:nvSpPr>
          <p:spPr>
            <a:xfrm>
              <a:off x="10696575" y="1257300"/>
              <a:ext cx="9525" cy="1485900"/>
            </a:xfrm>
            <a:custGeom>
              <a:avLst/>
              <a:gdLst/>
              <a:ahLst/>
              <a:cxnLst/>
              <a:rect l="l" t="t" r="r" b="b"/>
              <a:pathLst>
                <a:path w="9525" h="1485900">
                  <a:moveTo>
                    <a:pt x="0" y="0"/>
                  </a:moveTo>
                  <a:lnTo>
                    <a:pt x="0" y="1485900"/>
                  </a:lnTo>
                </a:path>
              </a:pathLst>
            </a:custGeom>
            <a:noFill/>
            <a:ln w="9525">
              <a:solidFill>
                <a:srgbClr val="EEF2F8"/>
              </a:solidFill>
            </a:ln>
          </p:spPr>
        </p:sp>
        <p:sp>
          <p:nvSpPr>
            <p:cNvPr id="69" name="TextBox 69"/>
            <p:cNvSpPr txBox="1"/>
            <p:nvPr/>
          </p:nvSpPr>
          <p:spPr>
            <a:xfrm>
              <a:off x="522338" y="1362789"/>
              <a:ext cx="434924" cy="154781"/>
            </a:xfrm>
            <a:prstGeom prst="rect">
              <a:avLst/>
            </a:prstGeom>
            <a:noFill/>
            <a:ln>
              <a:noFill/>
            </a:ln>
          </p:spPr>
          <p:txBody>
            <a:bodyPr wrap="none" lIns="0" tIns="0" rIns="0" bIns="0" anchor="t" anchorCtr="0">
              <a:spAutoFit/>
            </a:bodyPr>
            <a:lstStyle/>
            <a:p>
              <a:pPr algn="r"/>
              <a:r>
                <a:rPr lang="zh-CN" sz="790" b="1" dirty="0">
                  <a:solidFill>
                    <a:srgbClr val="4E0D00"/>
                  </a:solidFill>
                  <a:latin typeface="+mn-lt"/>
                  <a:ea typeface="+mn-ea"/>
                  <a:cs typeface="+mn-cs"/>
                </a:rPr>
                <a:t>客户价值</a:t>
              </a:r>
            </a:p>
          </p:txBody>
        </p:sp>
        <p:sp>
          <p:nvSpPr>
            <p:cNvPr id="70" name="TextBox 70"/>
            <p:cNvSpPr txBox="1"/>
            <p:nvPr/>
          </p:nvSpPr>
          <p:spPr>
            <a:xfrm>
              <a:off x="522338" y="1667589"/>
              <a:ext cx="434924" cy="154781"/>
            </a:xfrm>
            <a:prstGeom prst="rect">
              <a:avLst/>
            </a:prstGeom>
            <a:noFill/>
            <a:ln>
              <a:noFill/>
            </a:ln>
          </p:spPr>
          <p:txBody>
            <a:bodyPr wrap="none" lIns="0" tIns="0" rIns="0" bIns="0" anchor="t" anchorCtr="0">
              <a:spAutoFit/>
            </a:bodyPr>
            <a:lstStyle/>
            <a:p>
              <a:pPr algn="r"/>
              <a:r>
                <a:rPr lang="zh-CN" sz="790" b="1" dirty="0">
                  <a:solidFill>
                    <a:srgbClr val="4E0D00"/>
                  </a:solidFill>
                  <a:latin typeface="+mn-lt"/>
                  <a:ea typeface="+mn-ea"/>
                  <a:cs typeface="+mn-cs"/>
                </a:rPr>
                <a:t>成本占比</a:t>
              </a:r>
            </a:p>
          </p:txBody>
        </p:sp>
        <p:sp>
          <p:nvSpPr>
            <p:cNvPr id="71" name="TextBox 71"/>
            <p:cNvSpPr txBox="1"/>
            <p:nvPr/>
          </p:nvSpPr>
          <p:spPr>
            <a:xfrm>
              <a:off x="522338" y="1972389"/>
              <a:ext cx="434924" cy="154781"/>
            </a:xfrm>
            <a:prstGeom prst="rect">
              <a:avLst/>
            </a:prstGeom>
            <a:noFill/>
            <a:ln>
              <a:noFill/>
            </a:ln>
          </p:spPr>
          <p:txBody>
            <a:bodyPr wrap="none" lIns="0" tIns="0" rIns="0" bIns="0" anchor="t" anchorCtr="0">
              <a:spAutoFit/>
            </a:bodyPr>
            <a:lstStyle/>
            <a:p>
              <a:pPr algn="r"/>
              <a:r>
                <a:rPr lang="zh-CN" sz="790" b="1" dirty="0">
                  <a:solidFill>
                    <a:srgbClr val="4E0D00"/>
                  </a:solidFill>
                  <a:latin typeface="+mn-lt"/>
                  <a:ea typeface="+mn-ea"/>
                  <a:cs typeface="+mn-cs"/>
                </a:rPr>
                <a:t>竞争差异</a:t>
              </a:r>
            </a:p>
          </p:txBody>
        </p:sp>
        <p:sp>
          <p:nvSpPr>
            <p:cNvPr id="72" name="TextBox 72"/>
            <p:cNvSpPr txBox="1"/>
            <p:nvPr/>
          </p:nvSpPr>
          <p:spPr>
            <a:xfrm>
              <a:off x="415988" y="2277189"/>
              <a:ext cx="541274" cy="154781"/>
            </a:xfrm>
            <a:prstGeom prst="rect">
              <a:avLst/>
            </a:prstGeom>
            <a:noFill/>
            <a:ln>
              <a:noFill/>
            </a:ln>
          </p:spPr>
          <p:txBody>
            <a:bodyPr wrap="none" lIns="0" tIns="0" rIns="0" bIns="0" anchor="t" anchorCtr="0">
              <a:spAutoFit/>
            </a:bodyPr>
            <a:lstStyle/>
            <a:p>
              <a:pPr algn="r"/>
              <a:r>
                <a:rPr lang="zh-CN" sz="790" b="1" dirty="0">
                  <a:solidFill>
                    <a:srgbClr val="4E0D00"/>
                  </a:solidFill>
                  <a:latin typeface="+mn-lt"/>
                  <a:ea typeface="+mn-ea"/>
                  <a:cs typeface="+mn-cs"/>
                </a:rPr>
                <a:t>数字化潜力</a:t>
              </a:r>
            </a:p>
          </p:txBody>
        </p:sp>
        <p:sp>
          <p:nvSpPr>
            <p:cNvPr id="73" name="TextBox 73"/>
            <p:cNvSpPr txBox="1"/>
            <p:nvPr/>
          </p:nvSpPr>
          <p:spPr>
            <a:xfrm>
              <a:off x="522338" y="2562939"/>
              <a:ext cx="434924" cy="154781"/>
            </a:xfrm>
            <a:prstGeom prst="rect">
              <a:avLst/>
            </a:prstGeom>
            <a:noFill/>
            <a:ln>
              <a:noFill/>
            </a:ln>
          </p:spPr>
          <p:txBody>
            <a:bodyPr wrap="none" lIns="0" tIns="0" rIns="0" bIns="0" anchor="t" anchorCtr="0">
              <a:spAutoFit/>
            </a:bodyPr>
            <a:lstStyle/>
            <a:p>
              <a:pPr algn="r"/>
              <a:r>
                <a:rPr lang="zh-CN" sz="790" b="1" dirty="0">
                  <a:solidFill>
                    <a:srgbClr val="4E0D00"/>
                  </a:solidFill>
                  <a:latin typeface="+mn-lt"/>
                  <a:ea typeface="+mn-ea"/>
                  <a:cs typeface="+mn-cs"/>
                </a:rPr>
                <a:t>改善空间</a:t>
              </a:r>
            </a:p>
          </p:txBody>
        </p:sp>
        <p:grpSp>
          <p:nvGrpSpPr>
            <p:cNvPr id="114" name="dots-value"/>
            <p:cNvGrpSpPr/>
            <p:nvPr/>
          </p:nvGrpSpPr>
          <p:grpSpPr>
            <a:xfrm>
              <a:off x="871538" y="1376362"/>
              <a:ext cx="10191749" cy="66675"/>
              <a:chOff x="871538" y="1376362"/>
              <a:chExt cx="10191749" cy="66675"/>
            </a:xfrm>
          </p:grpSpPr>
          <p:sp>
            <p:nvSpPr>
              <p:cNvPr id="74" name="Ellipse 74"/>
              <p:cNvSpPr/>
              <p:nvPr/>
            </p:nvSpPr>
            <p:spPr>
              <a:xfrm>
                <a:off x="871538" y="1376362"/>
                <a:ext cx="66675" cy="66675"/>
              </a:xfrm>
              <a:prstGeom prst="ellipse">
                <a:avLst/>
              </a:prstGeom>
              <a:solidFill>
                <a:srgbClr val="4E0D00"/>
              </a:solidFill>
              <a:ln>
                <a:noFill/>
              </a:ln>
            </p:spPr>
          </p:sp>
          <p:sp>
            <p:nvSpPr>
              <p:cNvPr id="75" name="Ellipse 75"/>
              <p:cNvSpPr/>
              <p:nvPr/>
            </p:nvSpPr>
            <p:spPr>
              <a:xfrm>
                <a:off x="985838" y="1376362"/>
                <a:ext cx="66675" cy="66675"/>
              </a:xfrm>
              <a:prstGeom prst="ellipse">
                <a:avLst/>
              </a:prstGeom>
              <a:solidFill>
                <a:srgbClr val="4E0D00"/>
              </a:solidFill>
              <a:ln>
                <a:noFill/>
              </a:ln>
            </p:spPr>
          </p:sp>
          <p:sp>
            <p:nvSpPr>
              <p:cNvPr id="76" name="Ellipse 76"/>
              <p:cNvSpPr/>
              <p:nvPr/>
            </p:nvSpPr>
            <p:spPr>
              <a:xfrm>
                <a:off x="1100138" y="1376362"/>
                <a:ext cx="66675" cy="66675"/>
              </a:xfrm>
              <a:prstGeom prst="ellipse">
                <a:avLst/>
              </a:prstGeom>
              <a:solidFill>
                <a:srgbClr val="4E0D00"/>
              </a:solidFill>
              <a:ln>
                <a:noFill/>
              </a:ln>
            </p:spPr>
          </p:sp>
          <p:sp>
            <p:nvSpPr>
              <p:cNvPr id="77" name="Ellipse 77"/>
              <p:cNvSpPr/>
              <p:nvPr/>
            </p:nvSpPr>
            <p:spPr>
              <a:xfrm>
                <a:off x="1214438" y="1376362"/>
                <a:ext cx="66675" cy="66675"/>
              </a:xfrm>
              <a:prstGeom prst="ellipse">
                <a:avLst/>
              </a:prstGeom>
              <a:solidFill>
                <a:srgbClr val="4E0D00"/>
              </a:solidFill>
              <a:ln>
                <a:noFill/>
              </a:ln>
            </p:spPr>
          </p:sp>
          <p:sp>
            <p:nvSpPr>
              <p:cNvPr id="78" name="Ellipse 78"/>
              <p:cNvSpPr/>
              <p:nvPr/>
            </p:nvSpPr>
            <p:spPr>
              <a:xfrm>
                <a:off x="1328738" y="1376362"/>
                <a:ext cx="66675" cy="66675"/>
              </a:xfrm>
              <a:prstGeom prst="ellipse">
                <a:avLst/>
              </a:prstGeom>
              <a:solidFill>
                <a:srgbClr val="FFFFFF"/>
              </a:solidFill>
              <a:ln w="9525">
                <a:solidFill>
                  <a:srgbClr val="B9C6DC"/>
                </a:solidFill>
              </a:ln>
            </p:spPr>
          </p:sp>
          <p:sp>
            <p:nvSpPr>
              <p:cNvPr id="79" name="Ellipse 79"/>
              <p:cNvSpPr/>
              <p:nvPr/>
            </p:nvSpPr>
            <p:spPr>
              <a:xfrm>
                <a:off x="2252662" y="1376362"/>
                <a:ext cx="66675" cy="66675"/>
              </a:xfrm>
              <a:prstGeom prst="ellipse">
                <a:avLst/>
              </a:prstGeom>
              <a:solidFill>
                <a:srgbClr val="4E0D00"/>
              </a:solidFill>
              <a:ln>
                <a:noFill/>
              </a:ln>
            </p:spPr>
          </p:sp>
          <p:sp>
            <p:nvSpPr>
              <p:cNvPr id="80" name="Ellipse 80"/>
              <p:cNvSpPr/>
              <p:nvPr/>
            </p:nvSpPr>
            <p:spPr>
              <a:xfrm>
                <a:off x="2366962" y="1376362"/>
                <a:ext cx="66675" cy="66675"/>
              </a:xfrm>
              <a:prstGeom prst="ellipse">
                <a:avLst/>
              </a:prstGeom>
              <a:solidFill>
                <a:srgbClr val="4E0D00"/>
              </a:solidFill>
              <a:ln>
                <a:noFill/>
              </a:ln>
            </p:spPr>
          </p:sp>
          <p:sp>
            <p:nvSpPr>
              <p:cNvPr id="81" name="Ellipse 81"/>
              <p:cNvSpPr/>
              <p:nvPr/>
            </p:nvSpPr>
            <p:spPr>
              <a:xfrm>
                <a:off x="2481262" y="1376362"/>
                <a:ext cx="66675" cy="66675"/>
              </a:xfrm>
              <a:prstGeom prst="ellipse">
                <a:avLst/>
              </a:prstGeom>
              <a:solidFill>
                <a:srgbClr val="FFFFFF"/>
              </a:solidFill>
              <a:ln w="9525">
                <a:solidFill>
                  <a:srgbClr val="B9C6DC"/>
                </a:solidFill>
              </a:ln>
            </p:spPr>
          </p:sp>
          <p:sp>
            <p:nvSpPr>
              <p:cNvPr id="82" name="Ellipse 82"/>
              <p:cNvSpPr/>
              <p:nvPr/>
            </p:nvSpPr>
            <p:spPr>
              <a:xfrm>
                <a:off x="2595562" y="1376362"/>
                <a:ext cx="66675" cy="66675"/>
              </a:xfrm>
              <a:prstGeom prst="ellipse">
                <a:avLst/>
              </a:prstGeom>
              <a:solidFill>
                <a:srgbClr val="FFFFFF"/>
              </a:solidFill>
              <a:ln w="9525">
                <a:solidFill>
                  <a:srgbClr val="B9C6DC"/>
                </a:solidFill>
              </a:ln>
            </p:spPr>
          </p:sp>
          <p:sp>
            <p:nvSpPr>
              <p:cNvPr id="83" name="Ellipse 83"/>
              <p:cNvSpPr/>
              <p:nvPr/>
            </p:nvSpPr>
            <p:spPr>
              <a:xfrm>
                <a:off x="2709862" y="1376362"/>
                <a:ext cx="66675" cy="66675"/>
              </a:xfrm>
              <a:prstGeom prst="ellipse">
                <a:avLst/>
              </a:prstGeom>
              <a:solidFill>
                <a:srgbClr val="FFFFFF"/>
              </a:solidFill>
              <a:ln w="9525">
                <a:solidFill>
                  <a:srgbClr val="B9C6DC"/>
                </a:solidFill>
              </a:ln>
            </p:spPr>
          </p:sp>
          <p:sp>
            <p:nvSpPr>
              <p:cNvPr id="84" name="Ellipse 84"/>
              <p:cNvSpPr/>
              <p:nvPr/>
            </p:nvSpPr>
            <p:spPr>
              <a:xfrm>
                <a:off x="3633788" y="1376362"/>
                <a:ext cx="66675" cy="66675"/>
              </a:xfrm>
              <a:prstGeom prst="ellipse">
                <a:avLst/>
              </a:prstGeom>
              <a:solidFill>
                <a:srgbClr val="4E0D00"/>
              </a:solidFill>
              <a:ln>
                <a:noFill/>
              </a:ln>
            </p:spPr>
          </p:sp>
          <p:sp>
            <p:nvSpPr>
              <p:cNvPr id="85" name="Ellipse 85"/>
              <p:cNvSpPr/>
              <p:nvPr/>
            </p:nvSpPr>
            <p:spPr>
              <a:xfrm>
                <a:off x="3748088" y="1376362"/>
                <a:ext cx="66675" cy="66675"/>
              </a:xfrm>
              <a:prstGeom prst="ellipse">
                <a:avLst/>
              </a:prstGeom>
              <a:solidFill>
                <a:srgbClr val="4E0D00"/>
              </a:solidFill>
              <a:ln>
                <a:noFill/>
              </a:ln>
            </p:spPr>
          </p:sp>
          <p:sp>
            <p:nvSpPr>
              <p:cNvPr id="86" name="Ellipse 86"/>
              <p:cNvSpPr/>
              <p:nvPr/>
            </p:nvSpPr>
            <p:spPr>
              <a:xfrm>
                <a:off x="3862388" y="1376362"/>
                <a:ext cx="66675" cy="66675"/>
              </a:xfrm>
              <a:prstGeom prst="ellipse">
                <a:avLst/>
              </a:prstGeom>
              <a:solidFill>
                <a:srgbClr val="4E0D00"/>
              </a:solidFill>
              <a:ln>
                <a:noFill/>
              </a:ln>
            </p:spPr>
          </p:sp>
          <p:sp>
            <p:nvSpPr>
              <p:cNvPr id="87" name="Ellipse 87"/>
              <p:cNvSpPr/>
              <p:nvPr/>
            </p:nvSpPr>
            <p:spPr>
              <a:xfrm>
                <a:off x="3976688" y="1376362"/>
                <a:ext cx="66675" cy="66675"/>
              </a:xfrm>
              <a:prstGeom prst="ellipse">
                <a:avLst/>
              </a:prstGeom>
              <a:solidFill>
                <a:srgbClr val="FFFFFF"/>
              </a:solidFill>
              <a:ln w="9525">
                <a:solidFill>
                  <a:srgbClr val="B9C6DC"/>
                </a:solidFill>
              </a:ln>
            </p:spPr>
          </p:sp>
          <p:sp>
            <p:nvSpPr>
              <p:cNvPr id="88" name="Ellipse 88"/>
              <p:cNvSpPr/>
              <p:nvPr/>
            </p:nvSpPr>
            <p:spPr>
              <a:xfrm>
                <a:off x="4090988" y="1376362"/>
                <a:ext cx="66675" cy="66675"/>
              </a:xfrm>
              <a:prstGeom prst="ellipse">
                <a:avLst/>
              </a:prstGeom>
              <a:solidFill>
                <a:srgbClr val="FFFFFF"/>
              </a:solidFill>
              <a:ln w="9525">
                <a:solidFill>
                  <a:srgbClr val="B9C6DC"/>
                </a:solidFill>
              </a:ln>
            </p:spPr>
          </p:sp>
          <p:sp>
            <p:nvSpPr>
              <p:cNvPr id="89" name="Ellipse 89"/>
              <p:cNvSpPr/>
              <p:nvPr/>
            </p:nvSpPr>
            <p:spPr>
              <a:xfrm>
                <a:off x="5014912" y="1376362"/>
                <a:ext cx="66675" cy="66675"/>
              </a:xfrm>
              <a:prstGeom prst="ellipse">
                <a:avLst/>
              </a:prstGeom>
              <a:solidFill>
                <a:srgbClr val="4E0D00"/>
              </a:solidFill>
              <a:ln>
                <a:noFill/>
              </a:ln>
            </p:spPr>
          </p:sp>
          <p:sp>
            <p:nvSpPr>
              <p:cNvPr id="90" name="Ellipse 90"/>
              <p:cNvSpPr/>
              <p:nvPr/>
            </p:nvSpPr>
            <p:spPr>
              <a:xfrm>
                <a:off x="5129212" y="1376362"/>
                <a:ext cx="66675" cy="66675"/>
              </a:xfrm>
              <a:prstGeom prst="ellipse">
                <a:avLst/>
              </a:prstGeom>
              <a:solidFill>
                <a:srgbClr val="4E0D00"/>
              </a:solidFill>
              <a:ln>
                <a:noFill/>
              </a:ln>
            </p:spPr>
          </p:sp>
          <p:sp>
            <p:nvSpPr>
              <p:cNvPr id="91" name="Ellipse 91"/>
              <p:cNvSpPr/>
              <p:nvPr/>
            </p:nvSpPr>
            <p:spPr>
              <a:xfrm>
                <a:off x="5243512" y="1376362"/>
                <a:ext cx="66675" cy="66675"/>
              </a:xfrm>
              <a:prstGeom prst="ellipse">
                <a:avLst/>
              </a:prstGeom>
              <a:solidFill>
                <a:srgbClr val="4E0D00"/>
              </a:solidFill>
              <a:ln>
                <a:noFill/>
              </a:ln>
            </p:spPr>
          </p:sp>
          <p:sp>
            <p:nvSpPr>
              <p:cNvPr id="92" name="Ellipse 92"/>
              <p:cNvSpPr/>
              <p:nvPr/>
            </p:nvSpPr>
            <p:spPr>
              <a:xfrm>
                <a:off x="5357812" y="1376362"/>
                <a:ext cx="66675" cy="66675"/>
              </a:xfrm>
              <a:prstGeom prst="ellipse">
                <a:avLst/>
              </a:prstGeom>
              <a:solidFill>
                <a:srgbClr val="4E0D00"/>
              </a:solidFill>
              <a:ln>
                <a:noFill/>
              </a:ln>
            </p:spPr>
          </p:sp>
          <p:sp>
            <p:nvSpPr>
              <p:cNvPr id="93" name="Ellipse 93"/>
              <p:cNvSpPr/>
              <p:nvPr/>
            </p:nvSpPr>
            <p:spPr>
              <a:xfrm>
                <a:off x="5472112" y="1376362"/>
                <a:ext cx="66675" cy="66675"/>
              </a:xfrm>
              <a:prstGeom prst="ellipse">
                <a:avLst/>
              </a:prstGeom>
              <a:solidFill>
                <a:srgbClr val="FFFFFF"/>
              </a:solidFill>
              <a:ln w="9525">
                <a:solidFill>
                  <a:srgbClr val="B9C6DC"/>
                </a:solidFill>
              </a:ln>
            </p:spPr>
          </p:sp>
          <p:sp>
            <p:nvSpPr>
              <p:cNvPr id="94" name="Ellipse 94"/>
              <p:cNvSpPr/>
              <p:nvPr/>
            </p:nvSpPr>
            <p:spPr>
              <a:xfrm>
                <a:off x="6396038" y="1376362"/>
                <a:ext cx="66675" cy="66675"/>
              </a:xfrm>
              <a:prstGeom prst="ellipse">
                <a:avLst/>
              </a:prstGeom>
              <a:solidFill>
                <a:srgbClr val="4E0D00"/>
              </a:solidFill>
              <a:ln>
                <a:noFill/>
              </a:ln>
            </p:spPr>
          </p:sp>
          <p:sp>
            <p:nvSpPr>
              <p:cNvPr id="95" name="Ellipse 95"/>
              <p:cNvSpPr/>
              <p:nvPr/>
            </p:nvSpPr>
            <p:spPr>
              <a:xfrm>
                <a:off x="6510338" y="1376362"/>
                <a:ext cx="66675" cy="66675"/>
              </a:xfrm>
              <a:prstGeom prst="ellipse">
                <a:avLst/>
              </a:prstGeom>
              <a:solidFill>
                <a:srgbClr val="4E0D00"/>
              </a:solidFill>
              <a:ln>
                <a:noFill/>
              </a:ln>
            </p:spPr>
          </p:sp>
          <p:sp>
            <p:nvSpPr>
              <p:cNvPr id="96" name="Ellipse 96"/>
              <p:cNvSpPr/>
              <p:nvPr/>
            </p:nvSpPr>
            <p:spPr>
              <a:xfrm>
                <a:off x="6624638" y="1376362"/>
                <a:ext cx="66675" cy="66675"/>
              </a:xfrm>
              <a:prstGeom prst="ellipse">
                <a:avLst/>
              </a:prstGeom>
              <a:solidFill>
                <a:srgbClr val="4E0D00"/>
              </a:solidFill>
              <a:ln>
                <a:noFill/>
              </a:ln>
            </p:spPr>
          </p:sp>
          <p:sp>
            <p:nvSpPr>
              <p:cNvPr id="97" name="Ellipse 97"/>
              <p:cNvSpPr/>
              <p:nvPr/>
            </p:nvSpPr>
            <p:spPr>
              <a:xfrm>
                <a:off x="6738938" y="1376362"/>
                <a:ext cx="66675" cy="66675"/>
              </a:xfrm>
              <a:prstGeom prst="ellipse">
                <a:avLst/>
              </a:prstGeom>
              <a:solidFill>
                <a:srgbClr val="FFFFFF"/>
              </a:solidFill>
              <a:ln w="9525">
                <a:solidFill>
                  <a:srgbClr val="B9C6DC"/>
                </a:solidFill>
              </a:ln>
            </p:spPr>
          </p:sp>
          <p:sp>
            <p:nvSpPr>
              <p:cNvPr id="98" name="Ellipse 98"/>
              <p:cNvSpPr/>
              <p:nvPr/>
            </p:nvSpPr>
            <p:spPr>
              <a:xfrm>
                <a:off x="6853238" y="1376362"/>
                <a:ext cx="66675" cy="66675"/>
              </a:xfrm>
              <a:prstGeom prst="ellipse">
                <a:avLst/>
              </a:prstGeom>
              <a:solidFill>
                <a:srgbClr val="FFFFFF"/>
              </a:solidFill>
              <a:ln w="9525">
                <a:solidFill>
                  <a:srgbClr val="B9C6DC"/>
                </a:solidFill>
              </a:ln>
            </p:spPr>
          </p:sp>
          <p:sp>
            <p:nvSpPr>
              <p:cNvPr id="99" name="Ellipse 99"/>
              <p:cNvSpPr/>
              <p:nvPr/>
            </p:nvSpPr>
            <p:spPr>
              <a:xfrm>
                <a:off x="7777162" y="1376362"/>
                <a:ext cx="66675" cy="66675"/>
              </a:xfrm>
              <a:prstGeom prst="ellipse">
                <a:avLst/>
              </a:prstGeom>
              <a:solidFill>
                <a:srgbClr val="4E0D00"/>
              </a:solidFill>
              <a:ln>
                <a:noFill/>
              </a:ln>
            </p:spPr>
          </p:sp>
          <p:sp>
            <p:nvSpPr>
              <p:cNvPr id="100" name="Ellipse 100"/>
              <p:cNvSpPr/>
              <p:nvPr/>
            </p:nvSpPr>
            <p:spPr>
              <a:xfrm>
                <a:off x="7891462" y="1376362"/>
                <a:ext cx="66675" cy="66675"/>
              </a:xfrm>
              <a:prstGeom prst="ellipse">
                <a:avLst/>
              </a:prstGeom>
              <a:solidFill>
                <a:srgbClr val="4E0D00"/>
              </a:solidFill>
              <a:ln>
                <a:noFill/>
              </a:ln>
            </p:spPr>
          </p:sp>
          <p:sp>
            <p:nvSpPr>
              <p:cNvPr id="101" name="Ellipse 101"/>
              <p:cNvSpPr/>
              <p:nvPr/>
            </p:nvSpPr>
            <p:spPr>
              <a:xfrm>
                <a:off x="8005762" y="1376362"/>
                <a:ext cx="66675" cy="66675"/>
              </a:xfrm>
              <a:prstGeom prst="ellipse">
                <a:avLst/>
              </a:prstGeom>
              <a:solidFill>
                <a:srgbClr val="4E0D00"/>
              </a:solidFill>
              <a:ln>
                <a:noFill/>
              </a:ln>
            </p:spPr>
          </p:sp>
          <p:sp>
            <p:nvSpPr>
              <p:cNvPr id="102" name="Ellipse 102"/>
              <p:cNvSpPr/>
              <p:nvPr/>
            </p:nvSpPr>
            <p:spPr>
              <a:xfrm>
                <a:off x="8120062" y="1376362"/>
                <a:ext cx="66675" cy="66675"/>
              </a:xfrm>
              <a:prstGeom prst="ellipse">
                <a:avLst/>
              </a:prstGeom>
              <a:solidFill>
                <a:srgbClr val="FFFFFF"/>
              </a:solidFill>
              <a:ln w="9525">
                <a:solidFill>
                  <a:srgbClr val="B9C6DC"/>
                </a:solidFill>
              </a:ln>
            </p:spPr>
          </p:sp>
          <p:sp>
            <p:nvSpPr>
              <p:cNvPr id="103" name="Ellipse 103"/>
              <p:cNvSpPr/>
              <p:nvPr/>
            </p:nvSpPr>
            <p:spPr>
              <a:xfrm>
                <a:off x="8234362" y="1376362"/>
                <a:ext cx="66675" cy="66675"/>
              </a:xfrm>
              <a:prstGeom prst="ellipse">
                <a:avLst/>
              </a:prstGeom>
              <a:solidFill>
                <a:srgbClr val="FFFFFF"/>
              </a:solidFill>
              <a:ln w="9525">
                <a:solidFill>
                  <a:srgbClr val="B9C6DC"/>
                </a:solidFill>
              </a:ln>
            </p:spPr>
          </p:sp>
          <p:sp>
            <p:nvSpPr>
              <p:cNvPr id="104" name="Ellipse 104"/>
              <p:cNvSpPr/>
              <p:nvPr/>
            </p:nvSpPr>
            <p:spPr>
              <a:xfrm>
                <a:off x="9158288" y="1376362"/>
                <a:ext cx="66675" cy="66675"/>
              </a:xfrm>
              <a:prstGeom prst="ellipse">
                <a:avLst/>
              </a:prstGeom>
              <a:solidFill>
                <a:srgbClr val="4E0D00"/>
              </a:solidFill>
              <a:ln>
                <a:noFill/>
              </a:ln>
            </p:spPr>
          </p:sp>
          <p:sp>
            <p:nvSpPr>
              <p:cNvPr id="105" name="Ellipse 105"/>
              <p:cNvSpPr/>
              <p:nvPr/>
            </p:nvSpPr>
            <p:spPr>
              <a:xfrm>
                <a:off x="9272588" y="1376362"/>
                <a:ext cx="66675" cy="66675"/>
              </a:xfrm>
              <a:prstGeom prst="ellipse">
                <a:avLst/>
              </a:prstGeom>
              <a:solidFill>
                <a:srgbClr val="4E0D00"/>
              </a:solidFill>
              <a:ln>
                <a:noFill/>
              </a:ln>
            </p:spPr>
          </p:sp>
          <p:sp>
            <p:nvSpPr>
              <p:cNvPr id="106" name="Ellipse 106"/>
              <p:cNvSpPr/>
              <p:nvPr/>
            </p:nvSpPr>
            <p:spPr>
              <a:xfrm>
                <a:off x="9386888" y="1376362"/>
                <a:ext cx="66675" cy="66675"/>
              </a:xfrm>
              <a:prstGeom prst="ellipse">
                <a:avLst/>
              </a:prstGeom>
              <a:solidFill>
                <a:srgbClr val="4E0D00"/>
              </a:solidFill>
              <a:ln>
                <a:noFill/>
              </a:ln>
            </p:spPr>
          </p:sp>
          <p:sp>
            <p:nvSpPr>
              <p:cNvPr id="107" name="Ellipse 107"/>
              <p:cNvSpPr/>
              <p:nvPr/>
            </p:nvSpPr>
            <p:spPr>
              <a:xfrm>
                <a:off x="9501188" y="1376362"/>
                <a:ext cx="66675" cy="66675"/>
              </a:xfrm>
              <a:prstGeom prst="ellipse">
                <a:avLst/>
              </a:prstGeom>
              <a:solidFill>
                <a:srgbClr val="4E0D00"/>
              </a:solidFill>
              <a:ln>
                <a:noFill/>
              </a:ln>
            </p:spPr>
          </p:sp>
          <p:sp>
            <p:nvSpPr>
              <p:cNvPr id="108" name="Ellipse 108"/>
              <p:cNvSpPr/>
              <p:nvPr/>
            </p:nvSpPr>
            <p:spPr>
              <a:xfrm>
                <a:off x="9615488" y="1376362"/>
                <a:ext cx="66675" cy="66675"/>
              </a:xfrm>
              <a:prstGeom prst="ellipse">
                <a:avLst/>
              </a:prstGeom>
              <a:solidFill>
                <a:srgbClr val="FFFFFF"/>
              </a:solidFill>
              <a:ln w="9525">
                <a:solidFill>
                  <a:srgbClr val="B9C6DC"/>
                </a:solidFill>
              </a:ln>
            </p:spPr>
          </p:sp>
          <p:sp>
            <p:nvSpPr>
              <p:cNvPr id="109" name="Ellipse 109"/>
              <p:cNvSpPr/>
              <p:nvPr/>
            </p:nvSpPr>
            <p:spPr>
              <a:xfrm>
                <a:off x="10539412" y="1376362"/>
                <a:ext cx="66675" cy="66675"/>
              </a:xfrm>
              <a:prstGeom prst="ellipse">
                <a:avLst/>
              </a:prstGeom>
              <a:solidFill>
                <a:srgbClr val="4E0D00"/>
              </a:solidFill>
              <a:ln>
                <a:noFill/>
              </a:ln>
            </p:spPr>
          </p:sp>
          <p:sp>
            <p:nvSpPr>
              <p:cNvPr id="110" name="Ellipse 110"/>
              <p:cNvSpPr/>
              <p:nvPr/>
            </p:nvSpPr>
            <p:spPr>
              <a:xfrm>
                <a:off x="10653712" y="1376362"/>
                <a:ext cx="66675" cy="66675"/>
              </a:xfrm>
              <a:prstGeom prst="ellipse">
                <a:avLst/>
              </a:prstGeom>
              <a:solidFill>
                <a:srgbClr val="4E0D00"/>
              </a:solidFill>
              <a:ln>
                <a:noFill/>
              </a:ln>
            </p:spPr>
          </p:sp>
          <p:sp>
            <p:nvSpPr>
              <p:cNvPr id="111" name="Ellipse 111"/>
              <p:cNvSpPr/>
              <p:nvPr/>
            </p:nvSpPr>
            <p:spPr>
              <a:xfrm>
                <a:off x="10768012" y="1376362"/>
                <a:ext cx="66675" cy="66675"/>
              </a:xfrm>
              <a:prstGeom prst="ellipse">
                <a:avLst/>
              </a:prstGeom>
              <a:solidFill>
                <a:srgbClr val="4E0D00"/>
              </a:solidFill>
              <a:ln>
                <a:noFill/>
              </a:ln>
            </p:spPr>
          </p:sp>
          <p:sp>
            <p:nvSpPr>
              <p:cNvPr id="112" name="Ellipse 112"/>
              <p:cNvSpPr/>
              <p:nvPr/>
            </p:nvSpPr>
            <p:spPr>
              <a:xfrm>
                <a:off x="10882312" y="1376362"/>
                <a:ext cx="66675" cy="66675"/>
              </a:xfrm>
              <a:prstGeom prst="ellipse">
                <a:avLst/>
              </a:prstGeom>
              <a:solidFill>
                <a:srgbClr val="4E0D00"/>
              </a:solidFill>
              <a:ln>
                <a:noFill/>
              </a:ln>
            </p:spPr>
          </p:sp>
          <p:sp>
            <p:nvSpPr>
              <p:cNvPr id="113" name="Ellipse 113"/>
              <p:cNvSpPr/>
              <p:nvPr/>
            </p:nvSpPr>
            <p:spPr>
              <a:xfrm>
                <a:off x="10996612" y="1376362"/>
                <a:ext cx="66675" cy="66675"/>
              </a:xfrm>
              <a:prstGeom prst="ellipse">
                <a:avLst/>
              </a:prstGeom>
              <a:solidFill>
                <a:srgbClr val="4E0D00"/>
              </a:solidFill>
              <a:ln>
                <a:noFill/>
              </a:ln>
            </p:spPr>
          </p:sp>
        </p:grpSp>
        <p:grpSp>
          <p:nvGrpSpPr>
            <p:cNvPr id="139" name="bars-cost"/>
            <p:cNvGrpSpPr/>
            <p:nvPr/>
          </p:nvGrpSpPr>
          <p:grpSpPr>
            <a:xfrm>
              <a:off x="964495" y="1667589"/>
              <a:ext cx="10446455" cy="154781"/>
              <a:chOff x="964495" y="1667589"/>
              <a:chExt cx="10446455" cy="154781"/>
            </a:xfrm>
          </p:grpSpPr>
          <p:sp>
            <p:nvSpPr>
              <p:cNvPr id="115" name="TextBox 115"/>
              <p:cNvSpPr txBox="1"/>
              <p:nvPr/>
            </p:nvSpPr>
            <p:spPr>
              <a:xfrm>
                <a:off x="964495" y="1667589"/>
                <a:ext cx="154692" cy="154781"/>
              </a:xfrm>
              <a:prstGeom prst="rect">
                <a:avLst/>
              </a:prstGeom>
              <a:noFill/>
              <a:ln>
                <a:noFill/>
              </a:ln>
            </p:spPr>
            <p:txBody>
              <a:bodyPr wrap="none" lIns="0" tIns="0" rIns="0" bIns="0" anchor="t" anchorCtr="0">
                <a:spAutoFit/>
              </a:bodyPr>
              <a:lstStyle/>
              <a:p>
                <a:pPr algn="r"/>
                <a:r>
                  <a:rPr lang="zh-CN" sz="790" b="1" dirty="0">
                    <a:solidFill>
                      <a:srgbClr val="55251B"/>
                    </a:solidFill>
                    <a:latin typeface="+mn-lt"/>
                    <a:ea typeface="+mn-ea"/>
                    <a:cs typeface="+mn-cs"/>
                  </a:rPr>
                  <a:t>8%</a:t>
                </a:r>
              </a:p>
            </p:txBody>
          </p:sp>
          <p:sp>
            <p:nvSpPr>
              <p:cNvPr id="116" name="Rectangle 116"/>
              <p:cNvSpPr/>
              <p:nvPr/>
            </p:nvSpPr>
            <p:spPr>
              <a:xfrm>
                <a:off x="1171575" y="1681162"/>
                <a:ext cx="571500" cy="66675"/>
              </a:xfrm>
              <a:prstGeom prst="roundRect">
                <a:avLst>
                  <a:gd name="adj" fmla="val 50000"/>
                </a:avLst>
              </a:prstGeom>
              <a:solidFill>
                <a:srgbClr val="E2E8F2"/>
              </a:solidFill>
              <a:ln>
                <a:noFill/>
              </a:ln>
            </p:spPr>
          </p:sp>
          <p:sp>
            <p:nvSpPr>
              <p:cNvPr id="117" name="Rectangle 117"/>
              <p:cNvSpPr/>
              <p:nvPr/>
            </p:nvSpPr>
            <p:spPr>
              <a:xfrm>
                <a:off x="1171575" y="1681162"/>
                <a:ext cx="161925" cy="66675"/>
              </a:xfrm>
              <a:prstGeom prst="roundRect">
                <a:avLst>
                  <a:gd name="adj" fmla="val 50000"/>
                </a:avLst>
              </a:prstGeom>
              <a:solidFill>
                <a:srgbClr val="711E0D"/>
              </a:solidFill>
              <a:ln>
                <a:noFill/>
              </a:ln>
            </p:spPr>
          </p:sp>
          <p:sp>
            <p:nvSpPr>
              <p:cNvPr id="118" name="TextBox 118"/>
              <p:cNvSpPr txBox="1"/>
              <p:nvPr/>
            </p:nvSpPr>
            <p:spPr>
              <a:xfrm>
                <a:off x="2284203" y="1667589"/>
                <a:ext cx="216109" cy="154781"/>
              </a:xfrm>
              <a:prstGeom prst="rect">
                <a:avLst/>
              </a:prstGeom>
              <a:noFill/>
              <a:ln>
                <a:noFill/>
              </a:ln>
            </p:spPr>
            <p:txBody>
              <a:bodyPr wrap="none" lIns="0" tIns="0" rIns="0" bIns="0" anchor="t" anchorCtr="0">
                <a:spAutoFit/>
              </a:bodyPr>
              <a:lstStyle/>
              <a:p>
                <a:pPr algn="r"/>
                <a:r>
                  <a:rPr lang="zh-CN" sz="790" b="1" dirty="0">
                    <a:solidFill>
                      <a:srgbClr val="55251B"/>
                    </a:solidFill>
                    <a:latin typeface="+mn-lt"/>
                    <a:ea typeface="+mn-ea"/>
                    <a:cs typeface="+mn-cs"/>
                  </a:rPr>
                  <a:t>12%</a:t>
                </a:r>
              </a:p>
            </p:txBody>
          </p:sp>
          <p:sp>
            <p:nvSpPr>
              <p:cNvPr id="119" name="Rectangle 119"/>
              <p:cNvSpPr/>
              <p:nvPr/>
            </p:nvSpPr>
            <p:spPr>
              <a:xfrm>
                <a:off x="2552700" y="1681162"/>
                <a:ext cx="571500" cy="66675"/>
              </a:xfrm>
              <a:prstGeom prst="roundRect">
                <a:avLst>
                  <a:gd name="adj" fmla="val 50000"/>
                </a:avLst>
              </a:prstGeom>
              <a:solidFill>
                <a:srgbClr val="E2E8F2"/>
              </a:solidFill>
              <a:ln>
                <a:noFill/>
              </a:ln>
            </p:spPr>
          </p:sp>
          <p:sp>
            <p:nvSpPr>
              <p:cNvPr id="120" name="Rectangle 120"/>
              <p:cNvSpPr/>
              <p:nvPr/>
            </p:nvSpPr>
            <p:spPr>
              <a:xfrm>
                <a:off x="2552700" y="1681162"/>
                <a:ext cx="247650" cy="66675"/>
              </a:xfrm>
              <a:prstGeom prst="roundRect">
                <a:avLst>
                  <a:gd name="adj" fmla="val 50000"/>
                </a:avLst>
              </a:prstGeom>
              <a:solidFill>
                <a:srgbClr val="711E0D"/>
              </a:solidFill>
              <a:ln>
                <a:noFill/>
              </a:ln>
            </p:spPr>
          </p:sp>
          <p:sp>
            <p:nvSpPr>
              <p:cNvPr id="121" name="TextBox 121"/>
              <p:cNvSpPr txBox="1"/>
              <p:nvPr/>
            </p:nvSpPr>
            <p:spPr>
              <a:xfrm>
                <a:off x="3665328" y="1667589"/>
                <a:ext cx="216109" cy="154781"/>
              </a:xfrm>
              <a:prstGeom prst="rect">
                <a:avLst/>
              </a:prstGeom>
              <a:noFill/>
              <a:ln>
                <a:noFill/>
              </a:ln>
            </p:spPr>
            <p:txBody>
              <a:bodyPr wrap="none" lIns="0" tIns="0" rIns="0" bIns="0" anchor="t" anchorCtr="0">
                <a:spAutoFit/>
              </a:bodyPr>
              <a:lstStyle/>
              <a:p>
                <a:pPr algn="r"/>
                <a:r>
                  <a:rPr lang="zh-CN" sz="790" b="1" dirty="0">
                    <a:solidFill>
                      <a:srgbClr val="55251B"/>
                    </a:solidFill>
                    <a:latin typeface="+mn-lt"/>
                    <a:ea typeface="+mn-ea"/>
                    <a:cs typeface="+mn-cs"/>
                  </a:rPr>
                  <a:t>28%</a:t>
                </a:r>
              </a:p>
            </p:txBody>
          </p:sp>
          <p:sp>
            <p:nvSpPr>
              <p:cNvPr id="122" name="Rectangle 122"/>
              <p:cNvSpPr/>
              <p:nvPr/>
            </p:nvSpPr>
            <p:spPr>
              <a:xfrm>
                <a:off x="3933825" y="1681162"/>
                <a:ext cx="571500" cy="66675"/>
              </a:xfrm>
              <a:prstGeom prst="roundRect">
                <a:avLst>
                  <a:gd name="adj" fmla="val 50000"/>
                </a:avLst>
              </a:prstGeom>
              <a:solidFill>
                <a:srgbClr val="E2E8F2"/>
              </a:solidFill>
              <a:ln>
                <a:noFill/>
              </a:ln>
            </p:spPr>
          </p:sp>
          <p:sp>
            <p:nvSpPr>
              <p:cNvPr id="123" name="Rectangle 123"/>
              <p:cNvSpPr/>
              <p:nvPr/>
            </p:nvSpPr>
            <p:spPr>
              <a:xfrm>
                <a:off x="3933825" y="1681162"/>
                <a:ext cx="571500" cy="66675"/>
              </a:xfrm>
              <a:prstGeom prst="roundRect">
                <a:avLst>
                  <a:gd name="adj" fmla="val 50000"/>
                </a:avLst>
              </a:prstGeom>
              <a:solidFill>
                <a:srgbClr val="711E0D"/>
              </a:solidFill>
              <a:ln>
                <a:noFill/>
              </a:ln>
            </p:spPr>
          </p:sp>
          <p:sp>
            <p:nvSpPr>
              <p:cNvPr id="124" name="TextBox 124"/>
              <p:cNvSpPr txBox="1"/>
              <p:nvPr/>
            </p:nvSpPr>
            <p:spPr>
              <a:xfrm>
                <a:off x="5046453" y="1667589"/>
                <a:ext cx="216109" cy="154781"/>
              </a:xfrm>
              <a:prstGeom prst="rect">
                <a:avLst/>
              </a:prstGeom>
              <a:noFill/>
              <a:ln>
                <a:noFill/>
              </a:ln>
            </p:spPr>
            <p:txBody>
              <a:bodyPr wrap="none" lIns="0" tIns="0" rIns="0" bIns="0" anchor="t" anchorCtr="0">
                <a:spAutoFit/>
              </a:bodyPr>
              <a:lstStyle/>
              <a:p>
                <a:pPr algn="r"/>
                <a:r>
                  <a:rPr lang="zh-CN" sz="790" b="1" dirty="0">
                    <a:solidFill>
                      <a:srgbClr val="55251B"/>
                    </a:solidFill>
                    <a:latin typeface="+mn-lt"/>
                    <a:ea typeface="+mn-ea"/>
                    <a:cs typeface="+mn-cs"/>
                  </a:rPr>
                  <a:t>15%</a:t>
                </a:r>
              </a:p>
            </p:txBody>
          </p:sp>
          <p:sp>
            <p:nvSpPr>
              <p:cNvPr id="125" name="Rectangle 125"/>
              <p:cNvSpPr/>
              <p:nvPr/>
            </p:nvSpPr>
            <p:spPr>
              <a:xfrm>
                <a:off x="5314950" y="1681162"/>
                <a:ext cx="571500" cy="66675"/>
              </a:xfrm>
              <a:prstGeom prst="roundRect">
                <a:avLst>
                  <a:gd name="adj" fmla="val 50000"/>
                </a:avLst>
              </a:prstGeom>
              <a:solidFill>
                <a:srgbClr val="E2E8F2"/>
              </a:solidFill>
              <a:ln>
                <a:noFill/>
              </a:ln>
            </p:spPr>
          </p:sp>
          <p:sp>
            <p:nvSpPr>
              <p:cNvPr id="126" name="Rectangle 126"/>
              <p:cNvSpPr/>
              <p:nvPr/>
            </p:nvSpPr>
            <p:spPr>
              <a:xfrm>
                <a:off x="5314950" y="1681162"/>
                <a:ext cx="304800" cy="66675"/>
              </a:xfrm>
              <a:prstGeom prst="roundRect">
                <a:avLst>
                  <a:gd name="adj" fmla="val 50000"/>
                </a:avLst>
              </a:prstGeom>
              <a:solidFill>
                <a:srgbClr val="711E0D"/>
              </a:solidFill>
              <a:ln>
                <a:noFill/>
              </a:ln>
            </p:spPr>
          </p:sp>
          <p:sp>
            <p:nvSpPr>
              <p:cNvPr id="127" name="TextBox 127"/>
              <p:cNvSpPr txBox="1"/>
              <p:nvPr/>
            </p:nvSpPr>
            <p:spPr>
              <a:xfrm>
                <a:off x="6488995" y="1667589"/>
                <a:ext cx="154692" cy="154781"/>
              </a:xfrm>
              <a:prstGeom prst="rect">
                <a:avLst/>
              </a:prstGeom>
              <a:noFill/>
              <a:ln>
                <a:noFill/>
              </a:ln>
            </p:spPr>
            <p:txBody>
              <a:bodyPr wrap="none" lIns="0" tIns="0" rIns="0" bIns="0" anchor="t" anchorCtr="0">
                <a:spAutoFit/>
              </a:bodyPr>
              <a:lstStyle/>
              <a:p>
                <a:pPr algn="r"/>
                <a:r>
                  <a:rPr lang="zh-CN" sz="790" b="1" dirty="0">
                    <a:solidFill>
                      <a:srgbClr val="55251B"/>
                    </a:solidFill>
                    <a:latin typeface="+mn-lt"/>
                    <a:ea typeface="+mn-ea"/>
                    <a:cs typeface="+mn-cs"/>
                  </a:rPr>
                  <a:t>8%</a:t>
                </a:r>
              </a:p>
            </p:txBody>
          </p:sp>
          <p:sp>
            <p:nvSpPr>
              <p:cNvPr id="128" name="Rectangle 128"/>
              <p:cNvSpPr/>
              <p:nvPr/>
            </p:nvSpPr>
            <p:spPr>
              <a:xfrm>
                <a:off x="6696075" y="1681162"/>
                <a:ext cx="571500" cy="66675"/>
              </a:xfrm>
              <a:prstGeom prst="roundRect">
                <a:avLst>
                  <a:gd name="adj" fmla="val 50000"/>
                </a:avLst>
              </a:prstGeom>
              <a:solidFill>
                <a:srgbClr val="E2E8F2"/>
              </a:solidFill>
              <a:ln>
                <a:noFill/>
              </a:ln>
            </p:spPr>
          </p:sp>
          <p:sp>
            <p:nvSpPr>
              <p:cNvPr id="129" name="Rectangle 129"/>
              <p:cNvSpPr/>
              <p:nvPr/>
            </p:nvSpPr>
            <p:spPr>
              <a:xfrm>
                <a:off x="6696075" y="1681162"/>
                <a:ext cx="161925" cy="66675"/>
              </a:xfrm>
              <a:prstGeom prst="roundRect">
                <a:avLst>
                  <a:gd name="adj" fmla="val 50000"/>
                </a:avLst>
              </a:prstGeom>
              <a:solidFill>
                <a:srgbClr val="711E0D"/>
              </a:solidFill>
              <a:ln>
                <a:noFill/>
              </a:ln>
            </p:spPr>
          </p:sp>
          <p:sp>
            <p:nvSpPr>
              <p:cNvPr id="130" name="TextBox 130"/>
              <p:cNvSpPr txBox="1"/>
              <p:nvPr/>
            </p:nvSpPr>
            <p:spPr>
              <a:xfrm>
                <a:off x="7808703" y="1667589"/>
                <a:ext cx="216109" cy="154781"/>
              </a:xfrm>
              <a:prstGeom prst="rect">
                <a:avLst/>
              </a:prstGeom>
              <a:noFill/>
              <a:ln>
                <a:noFill/>
              </a:ln>
            </p:spPr>
            <p:txBody>
              <a:bodyPr wrap="none" lIns="0" tIns="0" rIns="0" bIns="0" anchor="t" anchorCtr="0">
                <a:spAutoFit/>
              </a:bodyPr>
              <a:lstStyle/>
              <a:p>
                <a:pPr algn="r"/>
                <a:r>
                  <a:rPr lang="zh-CN" sz="790" b="1" dirty="0">
                    <a:solidFill>
                      <a:srgbClr val="55251B"/>
                    </a:solidFill>
                    <a:latin typeface="+mn-lt"/>
                    <a:ea typeface="+mn-ea"/>
                    <a:cs typeface="+mn-cs"/>
                  </a:rPr>
                  <a:t>10%</a:t>
                </a:r>
              </a:p>
            </p:txBody>
          </p:sp>
          <p:sp>
            <p:nvSpPr>
              <p:cNvPr id="131" name="Rectangle 131"/>
              <p:cNvSpPr/>
              <p:nvPr/>
            </p:nvSpPr>
            <p:spPr>
              <a:xfrm>
                <a:off x="8077200" y="1681162"/>
                <a:ext cx="571500" cy="66675"/>
              </a:xfrm>
              <a:prstGeom prst="roundRect">
                <a:avLst>
                  <a:gd name="adj" fmla="val 50000"/>
                </a:avLst>
              </a:prstGeom>
              <a:solidFill>
                <a:srgbClr val="E2E8F2"/>
              </a:solidFill>
              <a:ln>
                <a:noFill/>
              </a:ln>
            </p:spPr>
          </p:sp>
          <p:sp>
            <p:nvSpPr>
              <p:cNvPr id="132" name="Rectangle 132"/>
              <p:cNvSpPr/>
              <p:nvPr/>
            </p:nvSpPr>
            <p:spPr>
              <a:xfrm>
                <a:off x="8077200" y="1681162"/>
                <a:ext cx="200025" cy="66675"/>
              </a:xfrm>
              <a:prstGeom prst="roundRect">
                <a:avLst>
                  <a:gd name="adj" fmla="val 50000"/>
                </a:avLst>
              </a:prstGeom>
              <a:solidFill>
                <a:srgbClr val="711E0D"/>
              </a:solidFill>
              <a:ln>
                <a:noFill/>
              </a:ln>
            </p:spPr>
          </p:sp>
          <p:sp>
            <p:nvSpPr>
              <p:cNvPr id="133" name="TextBox 133"/>
              <p:cNvSpPr txBox="1"/>
              <p:nvPr/>
            </p:nvSpPr>
            <p:spPr>
              <a:xfrm>
                <a:off x="9189828" y="1667589"/>
                <a:ext cx="216109" cy="154781"/>
              </a:xfrm>
              <a:prstGeom prst="rect">
                <a:avLst/>
              </a:prstGeom>
              <a:noFill/>
              <a:ln>
                <a:noFill/>
              </a:ln>
            </p:spPr>
            <p:txBody>
              <a:bodyPr wrap="none" lIns="0" tIns="0" rIns="0" bIns="0" anchor="t" anchorCtr="0">
                <a:spAutoFit/>
              </a:bodyPr>
              <a:lstStyle/>
              <a:p>
                <a:pPr algn="r"/>
                <a:r>
                  <a:rPr lang="zh-CN" sz="790" b="1" dirty="0">
                    <a:solidFill>
                      <a:srgbClr val="55251B"/>
                    </a:solidFill>
                    <a:latin typeface="+mn-lt"/>
                    <a:ea typeface="+mn-ea"/>
                    <a:cs typeface="+mn-cs"/>
                  </a:rPr>
                  <a:t>10%</a:t>
                </a:r>
              </a:p>
            </p:txBody>
          </p:sp>
          <p:sp>
            <p:nvSpPr>
              <p:cNvPr id="134" name="Rectangle 134"/>
              <p:cNvSpPr/>
              <p:nvPr/>
            </p:nvSpPr>
            <p:spPr>
              <a:xfrm>
                <a:off x="9458325" y="1681162"/>
                <a:ext cx="571500" cy="66675"/>
              </a:xfrm>
              <a:prstGeom prst="roundRect">
                <a:avLst>
                  <a:gd name="adj" fmla="val 50000"/>
                </a:avLst>
              </a:prstGeom>
              <a:solidFill>
                <a:srgbClr val="E2E8F2"/>
              </a:solidFill>
              <a:ln>
                <a:noFill/>
              </a:ln>
            </p:spPr>
          </p:sp>
          <p:sp>
            <p:nvSpPr>
              <p:cNvPr id="135" name="Rectangle 135"/>
              <p:cNvSpPr/>
              <p:nvPr/>
            </p:nvSpPr>
            <p:spPr>
              <a:xfrm>
                <a:off x="9458325" y="1681162"/>
                <a:ext cx="200025" cy="66675"/>
              </a:xfrm>
              <a:prstGeom prst="roundRect">
                <a:avLst>
                  <a:gd name="adj" fmla="val 50000"/>
                </a:avLst>
              </a:prstGeom>
              <a:solidFill>
                <a:srgbClr val="711E0D"/>
              </a:solidFill>
              <a:ln>
                <a:noFill/>
              </a:ln>
            </p:spPr>
          </p:sp>
          <p:sp>
            <p:nvSpPr>
              <p:cNvPr id="136" name="TextBox 136"/>
              <p:cNvSpPr txBox="1"/>
              <p:nvPr/>
            </p:nvSpPr>
            <p:spPr>
              <a:xfrm>
                <a:off x="10632370" y="1667589"/>
                <a:ext cx="154692" cy="154781"/>
              </a:xfrm>
              <a:prstGeom prst="rect">
                <a:avLst/>
              </a:prstGeom>
              <a:noFill/>
              <a:ln>
                <a:noFill/>
              </a:ln>
            </p:spPr>
            <p:txBody>
              <a:bodyPr wrap="none" lIns="0" tIns="0" rIns="0" bIns="0" anchor="t" anchorCtr="0">
                <a:spAutoFit/>
              </a:bodyPr>
              <a:lstStyle/>
              <a:p>
                <a:pPr algn="r"/>
                <a:r>
                  <a:rPr lang="zh-CN" sz="790" b="1" dirty="0">
                    <a:solidFill>
                      <a:srgbClr val="55251B"/>
                    </a:solidFill>
                    <a:latin typeface="+mn-lt"/>
                    <a:ea typeface="+mn-ea"/>
                    <a:cs typeface="+mn-cs"/>
                  </a:rPr>
                  <a:t>9%</a:t>
                </a:r>
              </a:p>
            </p:txBody>
          </p:sp>
          <p:sp>
            <p:nvSpPr>
              <p:cNvPr id="137" name="Rectangle 137"/>
              <p:cNvSpPr/>
              <p:nvPr/>
            </p:nvSpPr>
            <p:spPr>
              <a:xfrm>
                <a:off x="10839450" y="1681162"/>
                <a:ext cx="571500" cy="66675"/>
              </a:xfrm>
              <a:prstGeom prst="roundRect">
                <a:avLst>
                  <a:gd name="adj" fmla="val 50000"/>
                </a:avLst>
              </a:prstGeom>
              <a:solidFill>
                <a:srgbClr val="E2E8F2"/>
              </a:solidFill>
              <a:ln>
                <a:noFill/>
              </a:ln>
            </p:spPr>
          </p:sp>
          <p:sp>
            <p:nvSpPr>
              <p:cNvPr id="138" name="Rectangle 138"/>
              <p:cNvSpPr/>
              <p:nvPr/>
            </p:nvSpPr>
            <p:spPr>
              <a:xfrm>
                <a:off x="10839450" y="1681162"/>
                <a:ext cx="180975" cy="66675"/>
              </a:xfrm>
              <a:prstGeom prst="roundRect">
                <a:avLst>
                  <a:gd name="adj" fmla="val 50000"/>
                </a:avLst>
              </a:prstGeom>
              <a:solidFill>
                <a:srgbClr val="711E0D"/>
              </a:solidFill>
              <a:ln>
                <a:noFill/>
              </a:ln>
            </p:spPr>
          </p:sp>
        </p:grpSp>
        <p:grpSp>
          <p:nvGrpSpPr>
            <p:cNvPr id="180" name="dots-diff"/>
            <p:cNvGrpSpPr/>
            <p:nvPr/>
          </p:nvGrpSpPr>
          <p:grpSpPr>
            <a:xfrm>
              <a:off x="871538" y="1985962"/>
              <a:ext cx="10191749" cy="66675"/>
              <a:chOff x="871538" y="1985962"/>
              <a:chExt cx="10191749" cy="66675"/>
            </a:xfrm>
          </p:grpSpPr>
          <p:sp>
            <p:nvSpPr>
              <p:cNvPr id="140" name="Ellipse 140"/>
              <p:cNvSpPr/>
              <p:nvPr/>
            </p:nvSpPr>
            <p:spPr>
              <a:xfrm>
                <a:off x="871538" y="1985962"/>
                <a:ext cx="66675" cy="66675"/>
              </a:xfrm>
              <a:prstGeom prst="ellipse">
                <a:avLst/>
              </a:prstGeom>
              <a:solidFill>
                <a:srgbClr val="4E0D00"/>
              </a:solidFill>
              <a:ln>
                <a:noFill/>
              </a:ln>
            </p:spPr>
          </p:sp>
          <p:sp>
            <p:nvSpPr>
              <p:cNvPr id="141" name="Ellipse 141"/>
              <p:cNvSpPr/>
              <p:nvPr/>
            </p:nvSpPr>
            <p:spPr>
              <a:xfrm>
                <a:off x="985838" y="1985962"/>
                <a:ext cx="66675" cy="66675"/>
              </a:xfrm>
              <a:prstGeom prst="ellipse">
                <a:avLst/>
              </a:prstGeom>
              <a:solidFill>
                <a:srgbClr val="4E0D00"/>
              </a:solidFill>
              <a:ln>
                <a:noFill/>
              </a:ln>
            </p:spPr>
          </p:sp>
          <p:sp>
            <p:nvSpPr>
              <p:cNvPr id="142" name="Ellipse 142"/>
              <p:cNvSpPr/>
              <p:nvPr/>
            </p:nvSpPr>
            <p:spPr>
              <a:xfrm>
                <a:off x="1100138" y="1985962"/>
                <a:ext cx="66675" cy="66675"/>
              </a:xfrm>
              <a:prstGeom prst="ellipse">
                <a:avLst/>
              </a:prstGeom>
              <a:solidFill>
                <a:srgbClr val="4E0D00"/>
              </a:solidFill>
              <a:ln>
                <a:noFill/>
              </a:ln>
            </p:spPr>
          </p:sp>
          <p:sp>
            <p:nvSpPr>
              <p:cNvPr id="143" name="Ellipse 143"/>
              <p:cNvSpPr/>
              <p:nvPr/>
            </p:nvSpPr>
            <p:spPr>
              <a:xfrm>
                <a:off x="1214438" y="1985962"/>
                <a:ext cx="66675" cy="66675"/>
              </a:xfrm>
              <a:prstGeom prst="ellipse">
                <a:avLst/>
              </a:prstGeom>
              <a:solidFill>
                <a:srgbClr val="4E0D00"/>
              </a:solidFill>
              <a:ln>
                <a:noFill/>
              </a:ln>
            </p:spPr>
          </p:sp>
          <p:sp>
            <p:nvSpPr>
              <p:cNvPr id="144" name="Ellipse 144"/>
              <p:cNvSpPr/>
              <p:nvPr/>
            </p:nvSpPr>
            <p:spPr>
              <a:xfrm>
                <a:off x="1328738" y="1985962"/>
                <a:ext cx="66675" cy="66675"/>
              </a:xfrm>
              <a:prstGeom prst="ellipse">
                <a:avLst/>
              </a:prstGeom>
              <a:solidFill>
                <a:srgbClr val="FFFFFF"/>
              </a:solidFill>
              <a:ln w="9525">
                <a:solidFill>
                  <a:srgbClr val="B9C6DC"/>
                </a:solidFill>
              </a:ln>
            </p:spPr>
          </p:sp>
          <p:sp>
            <p:nvSpPr>
              <p:cNvPr id="145" name="Ellipse 145"/>
              <p:cNvSpPr/>
              <p:nvPr/>
            </p:nvSpPr>
            <p:spPr>
              <a:xfrm>
                <a:off x="2252662" y="1985962"/>
                <a:ext cx="66675" cy="66675"/>
              </a:xfrm>
              <a:prstGeom prst="ellipse">
                <a:avLst/>
              </a:prstGeom>
              <a:solidFill>
                <a:srgbClr val="4E0D00"/>
              </a:solidFill>
              <a:ln>
                <a:noFill/>
              </a:ln>
            </p:spPr>
          </p:sp>
          <p:sp>
            <p:nvSpPr>
              <p:cNvPr id="146" name="Ellipse 146"/>
              <p:cNvSpPr/>
              <p:nvPr/>
            </p:nvSpPr>
            <p:spPr>
              <a:xfrm>
                <a:off x="2366962" y="1985962"/>
                <a:ext cx="66675" cy="66675"/>
              </a:xfrm>
              <a:prstGeom prst="ellipse">
                <a:avLst/>
              </a:prstGeom>
              <a:solidFill>
                <a:srgbClr val="4E0D00"/>
              </a:solidFill>
              <a:ln>
                <a:noFill/>
              </a:ln>
            </p:spPr>
          </p:sp>
          <p:sp>
            <p:nvSpPr>
              <p:cNvPr id="147" name="Ellipse 147"/>
              <p:cNvSpPr/>
              <p:nvPr/>
            </p:nvSpPr>
            <p:spPr>
              <a:xfrm>
                <a:off x="2481262" y="1985962"/>
                <a:ext cx="66675" cy="66675"/>
              </a:xfrm>
              <a:prstGeom prst="ellipse">
                <a:avLst/>
              </a:prstGeom>
              <a:solidFill>
                <a:srgbClr val="FFFFFF"/>
              </a:solidFill>
              <a:ln w="9525">
                <a:solidFill>
                  <a:srgbClr val="B9C6DC"/>
                </a:solidFill>
              </a:ln>
            </p:spPr>
          </p:sp>
          <p:sp>
            <p:nvSpPr>
              <p:cNvPr id="148" name="Ellipse 148"/>
              <p:cNvSpPr/>
              <p:nvPr/>
            </p:nvSpPr>
            <p:spPr>
              <a:xfrm>
                <a:off x="2595562" y="1985962"/>
                <a:ext cx="66675" cy="66675"/>
              </a:xfrm>
              <a:prstGeom prst="ellipse">
                <a:avLst/>
              </a:prstGeom>
              <a:solidFill>
                <a:srgbClr val="FFFFFF"/>
              </a:solidFill>
              <a:ln w="9525">
                <a:solidFill>
                  <a:srgbClr val="B9C6DC"/>
                </a:solidFill>
              </a:ln>
            </p:spPr>
          </p:sp>
          <p:sp>
            <p:nvSpPr>
              <p:cNvPr id="149" name="Ellipse 149"/>
              <p:cNvSpPr/>
              <p:nvPr/>
            </p:nvSpPr>
            <p:spPr>
              <a:xfrm>
                <a:off x="2709862" y="1985962"/>
                <a:ext cx="66675" cy="66675"/>
              </a:xfrm>
              <a:prstGeom prst="ellipse">
                <a:avLst/>
              </a:prstGeom>
              <a:solidFill>
                <a:srgbClr val="FFFFFF"/>
              </a:solidFill>
              <a:ln w="9525">
                <a:solidFill>
                  <a:srgbClr val="B9C6DC"/>
                </a:solidFill>
              </a:ln>
            </p:spPr>
          </p:sp>
          <p:sp>
            <p:nvSpPr>
              <p:cNvPr id="150" name="Ellipse 150"/>
              <p:cNvSpPr/>
              <p:nvPr/>
            </p:nvSpPr>
            <p:spPr>
              <a:xfrm>
                <a:off x="3633788" y="1985962"/>
                <a:ext cx="66675" cy="66675"/>
              </a:xfrm>
              <a:prstGeom prst="ellipse">
                <a:avLst/>
              </a:prstGeom>
              <a:solidFill>
                <a:srgbClr val="4E0D00"/>
              </a:solidFill>
              <a:ln>
                <a:noFill/>
              </a:ln>
            </p:spPr>
          </p:sp>
          <p:sp>
            <p:nvSpPr>
              <p:cNvPr id="151" name="Ellipse 151"/>
              <p:cNvSpPr/>
              <p:nvPr/>
            </p:nvSpPr>
            <p:spPr>
              <a:xfrm>
                <a:off x="3748088" y="1985962"/>
                <a:ext cx="66675" cy="66675"/>
              </a:xfrm>
              <a:prstGeom prst="ellipse">
                <a:avLst/>
              </a:prstGeom>
              <a:solidFill>
                <a:srgbClr val="4E0D00"/>
              </a:solidFill>
              <a:ln>
                <a:noFill/>
              </a:ln>
            </p:spPr>
          </p:sp>
          <p:sp>
            <p:nvSpPr>
              <p:cNvPr id="152" name="Ellipse 152"/>
              <p:cNvSpPr/>
              <p:nvPr/>
            </p:nvSpPr>
            <p:spPr>
              <a:xfrm>
                <a:off x="3862388" y="1985962"/>
                <a:ext cx="66675" cy="66675"/>
              </a:xfrm>
              <a:prstGeom prst="ellipse">
                <a:avLst/>
              </a:prstGeom>
              <a:solidFill>
                <a:srgbClr val="4E0D00"/>
              </a:solidFill>
              <a:ln>
                <a:noFill/>
              </a:ln>
            </p:spPr>
          </p:sp>
          <p:sp>
            <p:nvSpPr>
              <p:cNvPr id="153" name="Ellipse 153"/>
              <p:cNvSpPr/>
              <p:nvPr/>
            </p:nvSpPr>
            <p:spPr>
              <a:xfrm>
                <a:off x="3976688" y="1985962"/>
                <a:ext cx="66675" cy="66675"/>
              </a:xfrm>
              <a:prstGeom prst="ellipse">
                <a:avLst/>
              </a:prstGeom>
              <a:solidFill>
                <a:srgbClr val="FFFFFF"/>
              </a:solidFill>
              <a:ln w="9525">
                <a:solidFill>
                  <a:srgbClr val="B9C6DC"/>
                </a:solidFill>
              </a:ln>
            </p:spPr>
          </p:sp>
          <p:sp>
            <p:nvSpPr>
              <p:cNvPr id="154" name="Ellipse 154"/>
              <p:cNvSpPr/>
              <p:nvPr/>
            </p:nvSpPr>
            <p:spPr>
              <a:xfrm>
                <a:off x="4090988" y="1985962"/>
                <a:ext cx="66675" cy="66675"/>
              </a:xfrm>
              <a:prstGeom prst="ellipse">
                <a:avLst/>
              </a:prstGeom>
              <a:solidFill>
                <a:srgbClr val="FFFFFF"/>
              </a:solidFill>
              <a:ln w="9525">
                <a:solidFill>
                  <a:srgbClr val="B9C6DC"/>
                </a:solidFill>
              </a:ln>
            </p:spPr>
          </p:sp>
          <p:sp>
            <p:nvSpPr>
              <p:cNvPr id="155" name="Ellipse 155"/>
              <p:cNvSpPr/>
              <p:nvPr/>
            </p:nvSpPr>
            <p:spPr>
              <a:xfrm>
                <a:off x="5014912" y="1985962"/>
                <a:ext cx="66675" cy="66675"/>
              </a:xfrm>
              <a:prstGeom prst="ellipse">
                <a:avLst/>
              </a:prstGeom>
              <a:solidFill>
                <a:srgbClr val="4E0D00"/>
              </a:solidFill>
              <a:ln>
                <a:noFill/>
              </a:ln>
            </p:spPr>
          </p:sp>
          <p:sp>
            <p:nvSpPr>
              <p:cNvPr id="156" name="Ellipse 156"/>
              <p:cNvSpPr/>
              <p:nvPr/>
            </p:nvSpPr>
            <p:spPr>
              <a:xfrm>
                <a:off x="5129212" y="1985962"/>
                <a:ext cx="66675" cy="66675"/>
              </a:xfrm>
              <a:prstGeom prst="ellipse">
                <a:avLst/>
              </a:prstGeom>
              <a:solidFill>
                <a:srgbClr val="4E0D00"/>
              </a:solidFill>
              <a:ln>
                <a:noFill/>
              </a:ln>
            </p:spPr>
          </p:sp>
          <p:sp>
            <p:nvSpPr>
              <p:cNvPr id="157" name="Ellipse 157"/>
              <p:cNvSpPr/>
              <p:nvPr/>
            </p:nvSpPr>
            <p:spPr>
              <a:xfrm>
                <a:off x="5243512" y="1985962"/>
                <a:ext cx="66675" cy="66675"/>
              </a:xfrm>
              <a:prstGeom prst="ellipse">
                <a:avLst/>
              </a:prstGeom>
              <a:solidFill>
                <a:srgbClr val="4E0D00"/>
              </a:solidFill>
              <a:ln>
                <a:noFill/>
              </a:ln>
            </p:spPr>
          </p:sp>
          <p:sp>
            <p:nvSpPr>
              <p:cNvPr id="158" name="Ellipse 158"/>
              <p:cNvSpPr/>
              <p:nvPr/>
            </p:nvSpPr>
            <p:spPr>
              <a:xfrm>
                <a:off x="5357812" y="1985962"/>
                <a:ext cx="66675" cy="66675"/>
              </a:xfrm>
              <a:prstGeom prst="ellipse">
                <a:avLst/>
              </a:prstGeom>
              <a:solidFill>
                <a:srgbClr val="FFFFFF"/>
              </a:solidFill>
              <a:ln w="9525">
                <a:solidFill>
                  <a:srgbClr val="B9C6DC"/>
                </a:solidFill>
              </a:ln>
            </p:spPr>
          </p:sp>
          <p:sp>
            <p:nvSpPr>
              <p:cNvPr id="159" name="Ellipse 159"/>
              <p:cNvSpPr/>
              <p:nvPr/>
            </p:nvSpPr>
            <p:spPr>
              <a:xfrm>
                <a:off x="5472112" y="1985962"/>
                <a:ext cx="66675" cy="66675"/>
              </a:xfrm>
              <a:prstGeom prst="ellipse">
                <a:avLst/>
              </a:prstGeom>
              <a:solidFill>
                <a:srgbClr val="FFFFFF"/>
              </a:solidFill>
              <a:ln w="9525">
                <a:solidFill>
                  <a:srgbClr val="B9C6DC"/>
                </a:solidFill>
              </a:ln>
            </p:spPr>
          </p:sp>
          <p:sp>
            <p:nvSpPr>
              <p:cNvPr id="160" name="Ellipse 160"/>
              <p:cNvSpPr/>
              <p:nvPr/>
            </p:nvSpPr>
            <p:spPr>
              <a:xfrm>
                <a:off x="6396038" y="1985962"/>
                <a:ext cx="66675" cy="66675"/>
              </a:xfrm>
              <a:prstGeom prst="ellipse">
                <a:avLst/>
              </a:prstGeom>
              <a:solidFill>
                <a:srgbClr val="4E0D00"/>
              </a:solidFill>
              <a:ln>
                <a:noFill/>
              </a:ln>
            </p:spPr>
          </p:sp>
          <p:sp>
            <p:nvSpPr>
              <p:cNvPr id="161" name="Ellipse 161"/>
              <p:cNvSpPr/>
              <p:nvPr/>
            </p:nvSpPr>
            <p:spPr>
              <a:xfrm>
                <a:off x="6510338" y="1985962"/>
                <a:ext cx="66675" cy="66675"/>
              </a:xfrm>
              <a:prstGeom prst="ellipse">
                <a:avLst/>
              </a:prstGeom>
              <a:solidFill>
                <a:srgbClr val="4E0D00"/>
              </a:solidFill>
              <a:ln>
                <a:noFill/>
              </a:ln>
            </p:spPr>
          </p:sp>
          <p:sp>
            <p:nvSpPr>
              <p:cNvPr id="162" name="Ellipse 162"/>
              <p:cNvSpPr/>
              <p:nvPr/>
            </p:nvSpPr>
            <p:spPr>
              <a:xfrm>
                <a:off x="6624638" y="1985962"/>
                <a:ext cx="66675" cy="66675"/>
              </a:xfrm>
              <a:prstGeom prst="ellipse">
                <a:avLst/>
              </a:prstGeom>
              <a:solidFill>
                <a:srgbClr val="4E0D00"/>
              </a:solidFill>
              <a:ln>
                <a:noFill/>
              </a:ln>
            </p:spPr>
          </p:sp>
          <p:sp>
            <p:nvSpPr>
              <p:cNvPr id="163" name="Ellipse 163"/>
              <p:cNvSpPr/>
              <p:nvPr/>
            </p:nvSpPr>
            <p:spPr>
              <a:xfrm>
                <a:off x="6738938" y="1985962"/>
                <a:ext cx="66675" cy="66675"/>
              </a:xfrm>
              <a:prstGeom prst="ellipse">
                <a:avLst/>
              </a:prstGeom>
              <a:solidFill>
                <a:srgbClr val="FFFFFF"/>
              </a:solidFill>
              <a:ln w="9525">
                <a:solidFill>
                  <a:srgbClr val="B9C6DC"/>
                </a:solidFill>
              </a:ln>
            </p:spPr>
          </p:sp>
          <p:sp>
            <p:nvSpPr>
              <p:cNvPr id="164" name="Ellipse 164"/>
              <p:cNvSpPr/>
              <p:nvPr/>
            </p:nvSpPr>
            <p:spPr>
              <a:xfrm>
                <a:off x="6853238" y="1985962"/>
                <a:ext cx="66675" cy="66675"/>
              </a:xfrm>
              <a:prstGeom prst="ellipse">
                <a:avLst/>
              </a:prstGeom>
              <a:solidFill>
                <a:srgbClr val="FFFFFF"/>
              </a:solidFill>
              <a:ln w="9525">
                <a:solidFill>
                  <a:srgbClr val="B9C6DC"/>
                </a:solidFill>
              </a:ln>
            </p:spPr>
          </p:sp>
          <p:sp>
            <p:nvSpPr>
              <p:cNvPr id="165" name="Ellipse 165"/>
              <p:cNvSpPr/>
              <p:nvPr/>
            </p:nvSpPr>
            <p:spPr>
              <a:xfrm>
                <a:off x="7777162" y="1985962"/>
                <a:ext cx="66675" cy="66675"/>
              </a:xfrm>
              <a:prstGeom prst="ellipse">
                <a:avLst/>
              </a:prstGeom>
              <a:solidFill>
                <a:srgbClr val="4E0D00"/>
              </a:solidFill>
              <a:ln>
                <a:noFill/>
              </a:ln>
            </p:spPr>
          </p:sp>
          <p:sp>
            <p:nvSpPr>
              <p:cNvPr id="166" name="Ellipse 166"/>
              <p:cNvSpPr/>
              <p:nvPr/>
            </p:nvSpPr>
            <p:spPr>
              <a:xfrm>
                <a:off x="7891462" y="1985962"/>
                <a:ext cx="66675" cy="66675"/>
              </a:xfrm>
              <a:prstGeom prst="ellipse">
                <a:avLst/>
              </a:prstGeom>
              <a:solidFill>
                <a:srgbClr val="4E0D00"/>
              </a:solidFill>
              <a:ln>
                <a:noFill/>
              </a:ln>
            </p:spPr>
          </p:sp>
          <p:sp>
            <p:nvSpPr>
              <p:cNvPr id="167" name="Ellipse 167"/>
              <p:cNvSpPr/>
              <p:nvPr/>
            </p:nvSpPr>
            <p:spPr>
              <a:xfrm>
                <a:off x="8005762" y="1985962"/>
                <a:ext cx="66675" cy="66675"/>
              </a:xfrm>
              <a:prstGeom prst="ellipse">
                <a:avLst/>
              </a:prstGeom>
              <a:solidFill>
                <a:srgbClr val="4E0D00"/>
              </a:solidFill>
              <a:ln>
                <a:noFill/>
              </a:ln>
            </p:spPr>
          </p:sp>
          <p:sp>
            <p:nvSpPr>
              <p:cNvPr id="168" name="Ellipse 168"/>
              <p:cNvSpPr/>
              <p:nvPr/>
            </p:nvSpPr>
            <p:spPr>
              <a:xfrm>
                <a:off x="8120062" y="1985962"/>
                <a:ext cx="66675" cy="66675"/>
              </a:xfrm>
              <a:prstGeom prst="ellipse">
                <a:avLst/>
              </a:prstGeom>
              <a:solidFill>
                <a:srgbClr val="FFFFFF"/>
              </a:solidFill>
              <a:ln w="9525">
                <a:solidFill>
                  <a:srgbClr val="B9C6DC"/>
                </a:solidFill>
              </a:ln>
            </p:spPr>
          </p:sp>
          <p:sp>
            <p:nvSpPr>
              <p:cNvPr id="169" name="Ellipse 169"/>
              <p:cNvSpPr/>
              <p:nvPr/>
            </p:nvSpPr>
            <p:spPr>
              <a:xfrm>
                <a:off x="8234362" y="1985962"/>
                <a:ext cx="66675" cy="66675"/>
              </a:xfrm>
              <a:prstGeom prst="ellipse">
                <a:avLst/>
              </a:prstGeom>
              <a:solidFill>
                <a:srgbClr val="FFFFFF"/>
              </a:solidFill>
              <a:ln w="9525">
                <a:solidFill>
                  <a:srgbClr val="B9C6DC"/>
                </a:solidFill>
              </a:ln>
            </p:spPr>
          </p:sp>
          <p:sp>
            <p:nvSpPr>
              <p:cNvPr id="170" name="Ellipse 170"/>
              <p:cNvSpPr/>
              <p:nvPr/>
            </p:nvSpPr>
            <p:spPr>
              <a:xfrm>
                <a:off x="9158288" y="1985962"/>
                <a:ext cx="66675" cy="66675"/>
              </a:xfrm>
              <a:prstGeom prst="ellipse">
                <a:avLst/>
              </a:prstGeom>
              <a:solidFill>
                <a:srgbClr val="4E0D00"/>
              </a:solidFill>
              <a:ln>
                <a:noFill/>
              </a:ln>
            </p:spPr>
          </p:sp>
          <p:sp>
            <p:nvSpPr>
              <p:cNvPr id="171" name="Ellipse 171"/>
              <p:cNvSpPr/>
              <p:nvPr/>
            </p:nvSpPr>
            <p:spPr>
              <a:xfrm>
                <a:off x="9272588" y="1985962"/>
                <a:ext cx="66675" cy="66675"/>
              </a:xfrm>
              <a:prstGeom prst="ellipse">
                <a:avLst/>
              </a:prstGeom>
              <a:solidFill>
                <a:srgbClr val="4E0D00"/>
              </a:solidFill>
              <a:ln>
                <a:noFill/>
              </a:ln>
            </p:spPr>
          </p:sp>
          <p:sp>
            <p:nvSpPr>
              <p:cNvPr id="172" name="Ellipse 172"/>
              <p:cNvSpPr/>
              <p:nvPr/>
            </p:nvSpPr>
            <p:spPr>
              <a:xfrm>
                <a:off x="9386888" y="1985962"/>
                <a:ext cx="66675" cy="66675"/>
              </a:xfrm>
              <a:prstGeom prst="ellipse">
                <a:avLst/>
              </a:prstGeom>
              <a:solidFill>
                <a:srgbClr val="4E0D00"/>
              </a:solidFill>
              <a:ln>
                <a:noFill/>
              </a:ln>
            </p:spPr>
          </p:sp>
          <p:sp>
            <p:nvSpPr>
              <p:cNvPr id="173" name="Ellipse 173"/>
              <p:cNvSpPr/>
              <p:nvPr/>
            </p:nvSpPr>
            <p:spPr>
              <a:xfrm>
                <a:off x="9501188" y="1985962"/>
                <a:ext cx="66675" cy="66675"/>
              </a:xfrm>
              <a:prstGeom prst="ellipse">
                <a:avLst/>
              </a:prstGeom>
              <a:solidFill>
                <a:srgbClr val="FFFFFF"/>
              </a:solidFill>
              <a:ln w="9525">
                <a:solidFill>
                  <a:srgbClr val="B9C6DC"/>
                </a:solidFill>
              </a:ln>
            </p:spPr>
          </p:sp>
          <p:sp>
            <p:nvSpPr>
              <p:cNvPr id="174" name="Ellipse 174"/>
              <p:cNvSpPr/>
              <p:nvPr/>
            </p:nvSpPr>
            <p:spPr>
              <a:xfrm>
                <a:off x="9615488" y="1985962"/>
                <a:ext cx="66675" cy="66675"/>
              </a:xfrm>
              <a:prstGeom prst="ellipse">
                <a:avLst/>
              </a:prstGeom>
              <a:solidFill>
                <a:srgbClr val="FFFFFF"/>
              </a:solidFill>
              <a:ln w="9525">
                <a:solidFill>
                  <a:srgbClr val="B9C6DC"/>
                </a:solidFill>
              </a:ln>
            </p:spPr>
          </p:sp>
          <p:sp>
            <p:nvSpPr>
              <p:cNvPr id="175" name="Ellipse 175"/>
              <p:cNvSpPr/>
              <p:nvPr/>
            </p:nvSpPr>
            <p:spPr>
              <a:xfrm>
                <a:off x="10539412" y="1985962"/>
                <a:ext cx="66675" cy="66675"/>
              </a:xfrm>
              <a:prstGeom prst="ellipse">
                <a:avLst/>
              </a:prstGeom>
              <a:solidFill>
                <a:srgbClr val="4E0D00"/>
              </a:solidFill>
              <a:ln>
                <a:noFill/>
              </a:ln>
            </p:spPr>
          </p:sp>
          <p:sp>
            <p:nvSpPr>
              <p:cNvPr id="176" name="Ellipse 176"/>
              <p:cNvSpPr/>
              <p:nvPr/>
            </p:nvSpPr>
            <p:spPr>
              <a:xfrm>
                <a:off x="10653712" y="1985962"/>
                <a:ext cx="66675" cy="66675"/>
              </a:xfrm>
              <a:prstGeom prst="ellipse">
                <a:avLst/>
              </a:prstGeom>
              <a:solidFill>
                <a:srgbClr val="4E0D00"/>
              </a:solidFill>
              <a:ln>
                <a:noFill/>
              </a:ln>
            </p:spPr>
          </p:sp>
          <p:sp>
            <p:nvSpPr>
              <p:cNvPr id="177" name="Ellipse 177"/>
              <p:cNvSpPr/>
              <p:nvPr/>
            </p:nvSpPr>
            <p:spPr>
              <a:xfrm>
                <a:off x="10768012" y="1985962"/>
                <a:ext cx="66675" cy="66675"/>
              </a:xfrm>
              <a:prstGeom prst="ellipse">
                <a:avLst/>
              </a:prstGeom>
              <a:solidFill>
                <a:srgbClr val="4E0D00"/>
              </a:solidFill>
              <a:ln>
                <a:noFill/>
              </a:ln>
            </p:spPr>
          </p:sp>
          <p:sp>
            <p:nvSpPr>
              <p:cNvPr id="178" name="Ellipse 178"/>
              <p:cNvSpPr/>
              <p:nvPr/>
            </p:nvSpPr>
            <p:spPr>
              <a:xfrm>
                <a:off x="10882312" y="1985962"/>
                <a:ext cx="66675" cy="66675"/>
              </a:xfrm>
              <a:prstGeom prst="ellipse">
                <a:avLst/>
              </a:prstGeom>
              <a:solidFill>
                <a:srgbClr val="FFFFFF"/>
              </a:solidFill>
              <a:ln w="9525">
                <a:solidFill>
                  <a:srgbClr val="B9C6DC"/>
                </a:solidFill>
              </a:ln>
            </p:spPr>
          </p:sp>
          <p:sp>
            <p:nvSpPr>
              <p:cNvPr id="179" name="Ellipse 179"/>
              <p:cNvSpPr/>
              <p:nvPr/>
            </p:nvSpPr>
            <p:spPr>
              <a:xfrm>
                <a:off x="10996612" y="1985962"/>
                <a:ext cx="66675" cy="66675"/>
              </a:xfrm>
              <a:prstGeom prst="ellipse">
                <a:avLst/>
              </a:prstGeom>
              <a:solidFill>
                <a:srgbClr val="FFFFFF"/>
              </a:solidFill>
              <a:ln w="9525">
                <a:solidFill>
                  <a:srgbClr val="B9C6DC"/>
                </a:solidFill>
              </a:ln>
            </p:spPr>
          </p:sp>
        </p:grpSp>
        <p:grpSp>
          <p:nvGrpSpPr>
            <p:cNvPr id="221" name="dots-digital"/>
            <p:cNvGrpSpPr/>
            <p:nvPr/>
          </p:nvGrpSpPr>
          <p:grpSpPr>
            <a:xfrm>
              <a:off x="871538" y="2290762"/>
              <a:ext cx="10191749" cy="66675"/>
              <a:chOff x="871538" y="2290762"/>
              <a:chExt cx="10191749" cy="66675"/>
            </a:xfrm>
          </p:grpSpPr>
          <p:sp>
            <p:nvSpPr>
              <p:cNvPr id="181" name="Ellipse 181"/>
              <p:cNvSpPr/>
              <p:nvPr/>
            </p:nvSpPr>
            <p:spPr>
              <a:xfrm>
                <a:off x="871538" y="2290762"/>
                <a:ext cx="66675" cy="66675"/>
              </a:xfrm>
              <a:prstGeom prst="ellipse">
                <a:avLst/>
              </a:prstGeom>
              <a:solidFill>
                <a:srgbClr val="4E0D00"/>
              </a:solidFill>
              <a:ln>
                <a:noFill/>
              </a:ln>
            </p:spPr>
          </p:sp>
          <p:sp>
            <p:nvSpPr>
              <p:cNvPr id="182" name="Ellipse 182"/>
              <p:cNvSpPr/>
              <p:nvPr/>
            </p:nvSpPr>
            <p:spPr>
              <a:xfrm>
                <a:off x="985838" y="2290762"/>
                <a:ext cx="66675" cy="66675"/>
              </a:xfrm>
              <a:prstGeom prst="ellipse">
                <a:avLst/>
              </a:prstGeom>
              <a:solidFill>
                <a:srgbClr val="4E0D00"/>
              </a:solidFill>
              <a:ln>
                <a:noFill/>
              </a:ln>
            </p:spPr>
          </p:sp>
          <p:sp>
            <p:nvSpPr>
              <p:cNvPr id="183" name="Ellipse 183"/>
              <p:cNvSpPr/>
              <p:nvPr/>
            </p:nvSpPr>
            <p:spPr>
              <a:xfrm>
                <a:off x="1100138" y="2290762"/>
                <a:ext cx="66675" cy="66675"/>
              </a:xfrm>
              <a:prstGeom prst="ellipse">
                <a:avLst/>
              </a:prstGeom>
              <a:solidFill>
                <a:srgbClr val="4E0D00"/>
              </a:solidFill>
              <a:ln>
                <a:noFill/>
              </a:ln>
            </p:spPr>
          </p:sp>
          <p:sp>
            <p:nvSpPr>
              <p:cNvPr id="184" name="Ellipse 184"/>
              <p:cNvSpPr/>
              <p:nvPr/>
            </p:nvSpPr>
            <p:spPr>
              <a:xfrm>
                <a:off x="1214438" y="2290762"/>
                <a:ext cx="66675" cy="66675"/>
              </a:xfrm>
              <a:prstGeom prst="ellipse">
                <a:avLst/>
              </a:prstGeom>
              <a:solidFill>
                <a:srgbClr val="FFFFFF"/>
              </a:solidFill>
              <a:ln w="9525">
                <a:solidFill>
                  <a:srgbClr val="B9C6DC"/>
                </a:solidFill>
              </a:ln>
            </p:spPr>
          </p:sp>
          <p:sp>
            <p:nvSpPr>
              <p:cNvPr id="185" name="Ellipse 185"/>
              <p:cNvSpPr/>
              <p:nvPr/>
            </p:nvSpPr>
            <p:spPr>
              <a:xfrm>
                <a:off x="1328738" y="2290762"/>
                <a:ext cx="66675" cy="66675"/>
              </a:xfrm>
              <a:prstGeom prst="ellipse">
                <a:avLst/>
              </a:prstGeom>
              <a:solidFill>
                <a:srgbClr val="FFFFFF"/>
              </a:solidFill>
              <a:ln w="9525">
                <a:solidFill>
                  <a:srgbClr val="B9C6DC"/>
                </a:solidFill>
              </a:ln>
            </p:spPr>
          </p:sp>
          <p:sp>
            <p:nvSpPr>
              <p:cNvPr id="186" name="Ellipse 186"/>
              <p:cNvSpPr/>
              <p:nvPr/>
            </p:nvSpPr>
            <p:spPr>
              <a:xfrm>
                <a:off x="2252662" y="2290762"/>
                <a:ext cx="66675" cy="66675"/>
              </a:xfrm>
              <a:prstGeom prst="ellipse">
                <a:avLst/>
              </a:prstGeom>
              <a:solidFill>
                <a:srgbClr val="4E0D00"/>
              </a:solidFill>
              <a:ln>
                <a:noFill/>
              </a:ln>
            </p:spPr>
          </p:sp>
          <p:sp>
            <p:nvSpPr>
              <p:cNvPr id="187" name="Ellipse 187"/>
              <p:cNvSpPr/>
              <p:nvPr/>
            </p:nvSpPr>
            <p:spPr>
              <a:xfrm>
                <a:off x="2366962" y="2290762"/>
                <a:ext cx="66675" cy="66675"/>
              </a:xfrm>
              <a:prstGeom prst="ellipse">
                <a:avLst/>
              </a:prstGeom>
              <a:solidFill>
                <a:srgbClr val="4E0D00"/>
              </a:solidFill>
              <a:ln>
                <a:noFill/>
              </a:ln>
            </p:spPr>
          </p:sp>
          <p:sp>
            <p:nvSpPr>
              <p:cNvPr id="188" name="Ellipse 188"/>
              <p:cNvSpPr/>
              <p:nvPr/>
            </p:nvSpPr>
            <p:spPr>
              <a:xfrm>
                <a:off x="2481262" y="2290762"/>
                <a:ext cx="66675" cy="66675"/>
              </a:xfrm>
              <a:prstGeom prst="ellipse">
                <a:avLst/>
              </a:prstGeom>
              <a:solidFill>
                <a:srgbClr val="FFFFFF"/>
              </a:solidFill>
              <a:ln w="9525">
                <a:solidFill>
                  <a:srgbClr val="B9C6DC"/>
                </a:solidFill>
              </a:ln>
            </p:spPr>
          </p:sp>
          <p:sp>
            <p:nvSpPr>
              <p:cNvPr id="189" name="Ellipse 189"/>
              <p:cNvSpPr/>
              <p:nvPr/>
            </p:nvSpPr>
            <p:spPr>
              <a:xfrm>
                <a:off x="2595562" y="2290762"/>
                <a:ext cx="66675" cy="66675"/>
              </a:xfrm>
              <a:prstGeom prst="ellipse">
                <a:avLst/>
              </a:prstGeom>
              <a:solidFill>
                <a:srgbClr val="FFFFFF"/>
              </a:solidFill>
              <a:ln w="9525">
                <a:solidFill>
                  <a:srgbClr val="B9C6DC"/>
                </a:solidFill>
              </a:ln>
            </p:spPr>
          </p:sp>
          <p:sp>
            <p:nvSpPr>
              <p:cNvPr id="190" name="Ellipse 190"/>
              <p:cNvSpPr/>
              <p:nvPr/>
            </p:nvSpPr>
            <p:spPr>
              <a:xfrm>
                <a:off x="2709862" y="2290762"/>
                <a:ext cx="66675" cy="66675"/>
              </a:xfrm>
              <a:prstGeom prst="ellipse">
                <a:avLst/>
              </a:prstGeom>
              <a:solidFill>
                <a:srgbClr val="FFFFFF"/>
              </a:solidFill>
              <a:ln w="9525">
                <a:solidFill>
                  <a:srgbClr val="B9C6DC"/>
                </a:solidFill>
              </a:ln>
            </p:spPr>
          </p:sp>
          <p:sp>
            <p:nvSpPr>
              <p:cNvPr id="191" name="Ellipse 191"/>
              <p:cNvSpPr/>
              <p:nvPr/>
            </p:nvSpPr>
            <p:spPr>
              <a:xfrm>
                <a:off x="3633788" y="2290762"/>
                <a:ext cx="66675" cy="66675"/>
              </a:xfrm>
              <a:prstGeom prst="ellipse">
                <a:avLst/>
              </a:prstGeom>
              <a:solidFill>
                <a:srgbClr val="4E0D00"/>
              </a:solidFill>
              <a:ln>
                <a:noFill/>
              </a:ln>
            </p:spPr>
          </p:sp>
          <p:sp>
            <p:nvSpPr>
              <p:cNvPr id="192" name="Ellipse 192"/>
              <p:cNvSpPr/>
              <p:nvPr/>
            </p:nvSpPr>
            <p:spPr>
              <a:xfrm>
                <a:off x="3748088" y="2290762"/>
                <a:ext cx="66675" cy="66675"/>
              </a:xfrm>
              <a:prstGeom prst="ellipse">
                <a:avLst/>
              </a:prstGeom>
              <a:solidFill>
                <a:srgbClr val="4E0D00"/>
              </a:solidFill>
              <a:ln>
                <a:noFill/>
              </a:ln>
            </p:spPr>
          </p:sp>
          <p:sp>
            <p:nvSpPr>
              <p:cNvPr id="193" name="Ellipse 193"/>
              <p:cNvSpPr/>
              <p:nvPr/>
            </p:nvSpPr>
            <p:spPr>
              <a:xfrm>
                <a:off x="3862388" y="2290762"/>
                <a:ext cx="66675" cy="66675"/>
              </a:xfrm>
              <a:prstGeom prst="ellipse">
                <a:avLst/>
              </a:prstGeom>
              <a:solidFill>
                <a:srgbClr val="4E0D00"/>
              </a:solidFill>
              <a:ln>
                <a:noFill/>
              </a:ln>
            </p:spPr>
          </p:sp>
          <p:sp>
            <p:nvSpPr>
              <p:cNvPr id="194" name="Ellipse 194"/>
              <p:cNvSpPr/>
              <p:nvPr/>
            </p:nvSpPr>
            <p:spPr>
              <a:xfrm>
                <a:off x="3976688" y="2290762"/>
                <a:ext cx="66675" cy="66675"/>
              </a:xfrm>
              <a:prstGeom prst="ellipse">
                <a:avLst/>
              </a:prstGeom>
              <a:solidFill>
                <a:srgbClr val="FFFFFF"/>
              </a:solidFill>
              <a:ln w="9525">
                <a:solidFill>
                  <a:srgbClr val="B9C6DC"/>
                </a:solidFill>
              </a:ln>
            </p:spPr>
          </p:sp>
          <p:sp>
            <p:nvSpPr>
              <p:cNvPr id="195" name="Ellipse 195"/>
              <p:cNvSpPr/>
              <p:nvPr/>
            </p:nvSpPr>
            <p:spPr>
              <a:xfrm>
                <a:off x="4090988" y="2290762"/>
                <a:ext cx="66675" cy="66675"/>
              </a:xfrm>
              <a:prstGeom prst="ellipse">
                <a:avLst/>
              </a:prstGeom>
              <a:solidFill>
                <a:srgbClr val="FFFFFF"/>
              </a:solidFill>
              <a:ln w="9525">
                <a:solidFill>
                  <a:srgbClr val="B9C6DC"/>
                </a:solidFill>
              </a:ln>
            </p:spPr>
          </p:sp>
          <p:sp>
            <p:nvSpPr>
              <p:cNvPr id="196" name="Ellipse 196"/>
              <p:cNvSpPr/>
              <p:nvPr/>
            </p:nvSpPr>
            <p:spPr>
              <a:xfrm>
                <a:off x="5014912" y="2290762"/>
                <a:ext cx="66675" cy="66675"/>
              </a:xfrm>
              <a:prstGeom prst="ellipse">
                <a:avLst/>
              </a:prstGeom>
              <a:solidFill>
                <a:srgbClr val="4E0D00"/>
              </a:solidFill>
              <a:ln>
                <a:noFill/>
              </a:ln>
            </p:spPr>
          </p:sp>
          <p:sp>
            <p:nvSpPr>
              <p:cNvPr id="197" name="Ellipse 197"/>
              <p:cNvSpPr/>
              <p:nvPr/>
            </p:nvSpPr>
            <p:spPr>
              <a:xfrm>
                <a:off x="5129212" y="2290762"/>
                <a:ext cx="66675" cy="66675"/>
              </a:xfrm>
              <a:prstGeom prst="ellipse">
                <a:avLst/>
              </a:prstGeom>
              <a:solidFill>
                <a:srgbClr val="4E0D00"/>
              </a:solidFill>
              <a:ln>
                <a:noFill/>
              </a:ln>
            </p:spPr>
          </p:sp>
          <p:sp>
            <p:nvSpPr>
              <p:cNvPr id="198" name="Ellipse 198"/>
              <p:cNvSpPr/>
              <p:nvPr/>
            </p:nvSpPr>
            <p:spPr>
              <a:xfrm>
                <a:off x="5243512" y="2290762"/>
                <a:ext cx="66675" cy="66675"/>
              </a:xfrm>
              <a:prstGeom prst="ellipse">
                <a:avLst/>
              </a:prstGeom>
              <a:solidFill>
                <a:srgbClr val="4E0D00"/>
              </a:solidFill>
              <a:ln>
                <a:noFill/>
              </a:ln>
            </p:spPr>
          </p:sp>
          <p:sp>
            <p:nvSpPr>
              <p:cNvPr id="199" name="Ellipse 199"/>
              <p:cNvSpPr/>
              <p:nvPr/>
            </p:nvSpPr>
            <p:spPr>
              <a:xfrm>
                <a:off x="5357812" y="2290762"/>
                <a:ext cx="66675" cy="66675"/>
              </a:xfrm>
              <a:prstGeom prst="ellipse">
                <a:avLst/>
              </a:prstGeom>
              <a:solidFill>
                <a:srgbClr val="4E0D00"/>
              </a:solidFill>
              <a:ln>
                <a:noFill/>
              </a:ln>
            </p:spPr>
          </p:sp>
          <p:sp>
            <p:nvSpPr>
              <p:cNvPr id="200" name="Ellipse 200"/>
              <p:cNvSpPr/>
              <p:nvPr/>
            </p:nvSpPr>
            <p:spPr>
              <a:xfrm>
                <a:off x="5472112" y="2290762"/>
                <a:ext cx="66675" cy="66675"/>
              </a:xfrm>
              <a:prstGeom prst="ellipse">
                <a:avLst/>
              </a:prstGeom>
              <a:solidFill>
                <a:srgbClr val="FFFFFF"/>
              </a:solidFill>
              <a:ln w="9525">
                <a:solidFill>
                  <a:srgbClr val="B9C6DC"/>
                </a:solidFill>
              </a:ln>
            </p:spPr>
          </p:sp>
          <p:sp>
            <p:nvSpPr>
              <p:cNvPr id="201" name="Ellipse 201"/>
              <p:cNvSpPr/>
              <p:nvPr/>
            </p:nvSpPr>
            <p:spPr>
              <a:xfrm>
                <a:off x="6396038" y="2290762"/>
                <a:ext cx="66675" cy="66675"/>
              </a:xfrm>
              <a:prstGeom prst="ellipse">
                <a:avLst/>
              </a:prstGeom>
              <a:solidFill>
                <a:srgbClr val="4E0D00"/>
              </a:solidFill>
              <a:ln>
                <a:noFill/>
              </a:ln>
            </p:spPr>
          </p:sp>
          <p:sp>
            <p:nvSpPr>
              <p:cNvPr id="202" name="Ellipse 202"/>
              <p:cNvSpPr/>
              <p:nvPr/>
            </p:nvSpPr>
            <p:spPr>
              <a:xfrm>
                <a:off x="6510338" y="2290762"/>
                <a:ext cx="66675" cy="66675"/>
              </a:xfrm>
              <a:prstGeom prst="ellipse">
                <a:avLst/>
              </a:prstGeom>
              <a:solidFill>
                <a:srgbClr val="4E0D00"/>
              </a:solidFill>
              <a:ln>
                <a:noFill/>
              </a:ln>
            </p:spPr>
          </p:sp>
          <p:sp>
            <p:nvSpPr>
              <p:cNvPr id="203" name="Ellipse 203"/>
              <p:cNvSpPr/>
              <p:nvPr/>
            </p:nvSpPr>
            <p:spPr>
              <a:xfrm>
                <a:off x="6624638" y="2290762"/>
                <a:ext cx="66675" cy="66675"/>
              </a:xfrm>
              <a:prstGeom prst="ellipse">
                <a:avLst/>
              </a:prstGeom>
              <a:solidFill>
                <a:srgbClr val="4E0D00"/>
              </a:solidFill>
              <a:ln>
                <a:noFill/>
              </a:ln>
            </p:spPr>
          </p:sp>
          <p:sp>
            <p:nvSpPr>
              <p:cNvPr id="204" name="Ellipse 204"/>
              <p:cNvSpPr/>
              <p:nvPr/>
            </p:nvSpPr>
            <p:spPr>
              <a:xfrm>
                <a:off x="6738938" y="2290762"/>
                <a:ext cx="66675" cy="66675"/>
              </a:xfrm>
              <a:prstGeom prst="ellipse">
                <a:avLst/>
              </a:prstGeom>
              <a:solidFill>
                <a:srgbClr val="FFFFFF"/>
              </a:solidFill>
              <a:ln w="9525">
                <a:solidFill>
                  <a:srgbClr val="B9C6DC"/>
                </a:solidFill>
              </a:ln>
            </p:spPr>
          </p:sp>
          <p:sp>
            <p:nvSpPr>
              <p:cNvPr id="205" name="Ellipse 205"/>
              <p:cNvSpPr/>
              <p:nvPr/>
            </p:nvSpPr>
            <p:spPr>
              <a:xfrm>
                <a:off x="6853238" y="2290762"/>
                <a:ext cx="66675" cy="66675"/>
              </a:xfrm>
              <a:prstGeom prst="ellipse">
                <a:avLst/>
              </a:prstGeom>
              <a:solidFill>
                <a:srgbClr val="FFFFFF"/>
              </a:solidFill>
              <a:ln w="9525">
                <a:solidFill>
                  <a:srgbClr val="B9C6DC"/>
                </a:solidFill>
              </a:ln>
            </p:spPr>
          </p:sp>
          <p:sp>
            <p:nvSpPr>
              <p:cNvPr id="206" name="Ellipse 206"/>
              <p:cNvSpPr/>
              <p:nvPr/>
            </p:nvSpPr>
            <p:spPr>
              <a:xfrm>
                <a:off x="7777162" y="2290762"/>
                <a:ext cx="66675" cy="66675"/>
              </a:xfrm>
              <a:prstGeom prst="ellipse">
                <a:avLst/>
              </a:prstGeom>
              <a:solidFill>
                <a:srgbClr val="4E0D00"/>
              </a:solidFill>
              <a:ln>
                <a:noFill/>
              </a:ln>
            </p:spPr>
          </p:sp>
          <p:sp>
            <p:nvSpPr>
              <p:cNvPr id="207" name="Ellipse 207"/>
              <p:cNvSpPr/>
              <p:nvPr/>
            </p:nvSpPr>
            <p:spPr>
              <a:xfrm>
                <a:off x="7891462" y="2290762"/>
                <a:ext cx="66675" cy="66675"/>
              </a:xfrm>
              <a:prstGeom prst="ellipse">
                <a:avLst/>
              </a:prstGeom>
              <a:solidFill>
                <a:srgbClr val="4E0D00"/>
              </a:solidFill>
              <a:ln>
                <a:noFill/>
              </a:ln>
            </p:spPr>
          </p:sp>
          <p:sp>
            <p:nvSpPr>
              <p:cNvPr id="208" name="Ellipse 208"/>
              <p:cNvSpPr/>
              <p:nvPr/>
            </p:nvSpPr>
            <p:spPr>
              <a:xfrm>
                <a:off x="8005762" y="2290762"/>
                <a:ext cx="66675" cy="66675"/>
              </a:xfrm>
              <a:prstGeom prst="ellipse">
                <a:avLst/>
              </a:prstGeom>
              <a:solidFill>
                <a:srgbClr val="4E0D00"/>
              </a:solidFill>
              <a:ln>
                <a:noFill/>
              </a:ln>
            </p:spPr>
          </p:sp>
          <p:sp>
            <p:nvSpPr>
              <p:cNvPr id="209" name="Ellipse 209"/>
              <p:cNvSpPr/>
              <p:nvPr/>
            </p:nvSpPr>
            <p:spPr>
              <a:xfrm>
                <a:off x="8120062" y="2290762"/>
                <a:ext cx="66675" cy="66675"/>
              </a:xfrm>
              <a:prstGeom prst="ellipse">
                <a:avLst/>
              </a:prstGeom>
              <a:solidFill>
                <a:srgbClr val="FFFFFF"/>
              </a:solidFill>
              <a:ln w="9525">
                <a:solidFill>
                  <a:srgbClr val="B9C6DC"/>
                </a:solidFill>
              </a:ln>
            </p:spPr>
          </p:sp>
          <p:sp>
            <p:nvSpPr>
              <p:cNvPr id="210" name="Ellipse 210"/>
              <p:cNvSpPr/>
              <p:nvPr/>
            </p:nvSpPr>
            <p:spPr>
              <a:xfrm>
                <a:off x="8234362" y="2290762"/>
                <a:ext cx="66675" cy="66675"/>
              </a:xfrm>
              <a:prstGeom prst="ellipse">
                <a:avLst/>
              </a:prstGeom>
              <a:solidFill>
                <a:srgbClr val="FFFFFF"/>
              </a:solidFill>
              <a:ln w="9525">
                <a:solidFill>
                  <a:srgbClr val="B9C6DC"/>
                </a:solidFill>
              </a:ln>
            </p:spPr>
          </p:sp>
          <p:sp>
            <p:nvSpPr>
              <p:cNvPr id="211" name="Ellipse 211"/>
              <p:cNvSpPr/>
              <p:nvPr/>
            </p:nvSpPr>
            <p:spPr>
              <a:xfrm>
                <a:off x="9158288" y="2290762"/>
                <a:ext cx="66675" cy="66675"/>
              </a:xfrm>
              <a:prstGeom prst="ellipse">
                <a:avLst/>
              </a:prstGeom>
              <a:solidFill>
                <a:srgbClr val="4E0D00"/>
              </a:solidFill>
              <a:ln>
                <a:noFill/>
              </a:ln>
            </p:spPr>
          </p:sp>
          <p:sp>
            <p:nvSpPr>
              <p:cNvPr id="212" name="Ellipse 212"/>
              <p:cNvSpPr/>
              <p:nvPr/>
            </p:nvSpPr>
            <p:spPr>
              <a:xfrm>
                <a:off x="9272588" y="2290762"/>
                <a:ext cx="66675" cy="66675"/>
              </a:xfrm>
              <a:prstGeom prst="ellipse">
                <a:avLst/>
              </a:prstGeom>
              <a:solidFill>
                <a:srgbClr val="4E0D00"/>
              </a:solidFill>
              <a:ln>
                <a:noFill/>
              </a:ln>
            </p:spPr>
          </p:sp>
          <p:sp>
            <p:nvSpPr>
              <p:cNvPr id="213" name="Ellipse 213"/>
              <p:cNvSpPr/>
              <p:nvPr/>
            </p:nvSpPr>
            <p:spPr>
              <a:xfrm>
                <a:off x="9386888" y="2290762"/>
                <a:ext cx="66675" cy="66675"/>
              </a:xfrm>
              <a:prstGeom prst="ellipse">
                <a:avLst/>
              </a:prstGeom>
              <a:solidFill>
                <a:srgbClr val="4E0D00"/>
              </a:solidFill>
              <a:ln>
                <a:noFill/>
              </a:ln>
            </p:spPr>
          </p:sp>
          <p:sp>
            <p:nvSpPr>
              <p:cNvPr id="214" name="Ellipse 214"/>
              <p:cNvSpPr/>
              <p:nvPr/>
            </p:nvSpPr>
            <p:spPr>
              <a:xfrm>
                <a:off x="9501188" y="2290762"/>
                <a:ext cx="66675" cy="66675"/>
              </a:xfrm>
              <a:prstGeom prst="ellipse">
                <a:avLst/>
              </a:prstGeom>
              <a:solidFill>
                <a:srgbClr val="FFFFFF"/>
              </a:solidFill>
              <a:ln w="9525">
                <a:solidFill>
                  <a:srgbClr val="B9C6DC"/>
                </a:solidFill>
              </a:ln>
            </p:spPr>
          </p:sp>
          <p:sp>
            <p:nvSpPr>
              <p:cNvPr id="215" name="Ellipse 215"/>
              <p:cNvSpPr/>
              <p:nvPr/>
            </p:nvSpPr>
            <p:spPr>
              <a:xfrm>
                <a:off x="9615488" y="2290762"/>
                <a:ext cx="66675" cy="66675"/>
              </a:xfrm>
              <a:prstGeom prst="ellipse">
                <a:avLst/>
              </a:prstGeom>
              <a:solidFill>
                <a:srgbClr val="FFFFFF"/>
              </a:solidFill>
              <a:ln w="9525">
                <a:solidFill>
                  <a:srgbClr val="B9C6DC"/>
                </a:solidFill>
              </a:ln>
            </p:spPr>
          </p:sp>
          <p:sp>
            <p:nvSpPr>
              <p:cNvPr id="216" name="Ellipse 216"/>
              <p:cNvSpPr/>
              <p:nvPr/>
            </p:nvSpPr>
            <p:spPr>
              <a:xfrm>
                <a:off x="10539412" y="2290762"/>
                <a:ext cx="66675" cy="66675"/>
              </a:xfrm>
              <a:prstGeom prst="ellipse">
                <a:avLst/>
              </a:prstGeom>
              <a:solidFill>
                <a:srgbClr val="4E0D00"/>
              </a:solidFill>
              <a:ln>
                <a:noFill/>
              </a:ln>
            </p:spPr>
          </p:sp>
          <p:sp>
            <p:nvSpPr>
              <p:cNvPr id="217" name="Ellipse 217"/>
              <p:cNvSpPr/>
              <p:nvPr/>
            </p:nvSpPr>
            <p:spPr>
              <a:xfrm>
                <a:off x="10653712" y="2290762"/>
                <a:ext cx="66675" cy="66675"/>
              </a:xfrm>
              <a:prstGeom prst="ellipse">
                <a:avLst/>
              </a:prstGeom>
              <a:solidFill>
                <a:srgbClr val="4E0D00"/>
              </a:solidFill>
              <a:ln>
                <a:noFill/>
              </a:ln>
            </p:spPr>
          </p:sp>
          <p:sp>
            <p:nvSpPr>
              <p:cNvPr id="218" name="Ellipse 218"/>
              <p:cNvSpPr/>
              <p:nvPr/>
            </p:nvSpPr>
            <p:spPr>
              <a:xfrm>
                <a:off x="10768012" y="2290762"/>
                <a:ext cx="66675" cy="66675"/>
              </a:xfrm>
              <a:prstGeom prst="ellipse">
                <a:avLst/>
              </a:prstGeom>
              <a:solidFill>
                <a:srgbClr val="4E0D00"/>
              </a:solidFill>
              <a:ln>
                <a:noFill/>
              </a:ln>
            </p:spPr>
          </p:sp>
          <p:sp>
            <p:nvSpPr>
              <p:cNvPr id="219" name="Ellipse 219"/>
              <p:cNvSpPr/>
              <p:nvPr/>
            </p:nvSpPr>
            <p:spPr>
              <a:xfrm>
                <a:off x="10882312" y="2290762"/>
                <a:ext cx="66675" cy="66675"/>
              </a:xfrm>
              <a:prstGeom prst="ellipse">
                <a:avLst/>
              </a:prstGeom>
              <a:solidFill>
                <a:srgbClr val="FFFFFF"/>
              </a:solidFill>
              <a:ln w="9525">
                <a:solidFill>
                  <a:srgbClr val="B9C6DC"/>
                </a:solidFill>
              </a:ln>
            </p:spPr>
          </p:sp>
          <p:sp>
            <p:nvSpPr>
              <p:cNvPr id="220" name="Ellipse 220"/>
              <p:cNvSpPr/>
              <p:nvPr/>
            </p:nvSpPr>
            <p:spPr>
              <a:xfrm>
                <a:off x="10996612" y="2290762"/>
                <a:ext cx="66675" cy="66675"/>
              </a:xfrm>
              <a:prstGeom prst="ellipse">
                <a:avLst/>
              </a:prstGeom>
              <a:solidFill>
                <a:srgbClr val="FFFFFF"/>
              </a:solidFill>
              <a:ln w="9525">
                <a:solidFill>
                  <a:srgbClr val="B9C6DC"/>
                </a:solidFill>
              </a:ln>
            </p:spPr>
          </p:sp>
        </p:grpSp>
        <p:grpSp>
          <p:nvGrpSpPr>
            <p:cNvPr id="262" name="dots-improve"/>
            <p:cNvGrpSpPr/>
            <p:nvPr/>
          </p:nvGrpSpPr>
          <p:grpSpPr>
            <a:xfrm>
              <a:off x="871538" y="2576512"/>
              <a:ext cx="10191749" cy="66675"/>
              <a:chOff x="871538" y="2576512"/>
              <a:chExt cx="10191749" cy="66675"/>
            </a:xfrm>
          </p:grpSpPr>
          <p:sp>
            <p:nvSpPr>
              <p:cNvPr id="222" name="Ellipse 222"/>
              <p:cNvSpPr/>
              <p:nvPr/>
            </p:nvSpPr>
            <p:spPr>
              <a:xfrm>
                <a:off x="871538" y="2576512"/>
                <a:ext cx="66675" cy="66675"/>
              </a:xfrm>
              <a:prstGeom prst="ellipse">
                <a:avLst/>
              </a:prstGeom>
              <a:solidFill>
                <a:srgbClr val="4E0D00"/>
              </a:solidFill>
              <a:ln>
                <a:noFill/>
              </a:ln>
            </p:spPr>
          </p:sp>
          <p:sp>
            <p:nvSpPr>
              <p:cNvPr id="223" name="Ellipse 223"/>
              <p:cNvSpPr/>
              <p:nvPr/>
            </p:nvSpPr>
            <p:spPr>
              <a:xfrm>
                <a:off x="985838" y="2576512"/>
                <a:ext cx="66675" cy="66675"/>
              </a:xfrm>
              <a:prstGeom prst="ellipse">
                <a:avLst/>
              </a:prstGeom>
              <a:solidFill>
                <a:srgbClr val="4E0D00"/>
              </a:solidFill>
              <a:ln>
                <a:noFill/>
              </a:ln>
            </p:spPr>
          </p:sp>
          <p:sp>
            <p:nvSpPr>
              <p:cNvPr id="224" name="Ellipse 224"/>
              <p:cNvSpPr/>
              <p:nvPr/>
            </p:nvSpPr>
            <p:spPr>
              <a:xfrm>
                <a:off x="1100138" y="2576512"/>
                <a:ext cx="66675" cy="66675"/>
              </a:xfrm>
              <a:prstGeom prst="ellipse">
                <a:avLst/>
              </a:prstGeom>
              <a:solidFill>
                <a:srgbClr val="4E0D00"/>
              </a:solidFill>
              <a:ln>
                <a:noFill/>
              </a:ln>
            </p:spPr>
          </p:sp>
          <p:sp>
            <p:nvSpPr>
              <p:cNvPr id="225" name="Ellipse 225"/>
              <p:cNvSpPr/>
              <p:nvPr/>
            </p:nvSpPr>
            <p:spPr>
              <a:xfrm>
                <a:off x="1214438" y="2576512"/>
                <a:ext cx="66675" cy="66675"/>
              </a:xfrm>
              <a:prstGeom prst="ellipse">
                <a:avLst/>
              </a:prstGeom>
              <a:solidFill>
                <a:srgbClr val="FFFFFF"/>
              </a:solidFill>
              <a:ln w="9525">
                <a:solidFill>
                  <a:srgbClr val="B9C6DC"/>
                </a:solidFill>
              </a:ln>
            </p:spPr>
          </p:sp>
          <p:sp>
            <p:nvSpPr>
              <p:cNvPr id="226" name="Ellipse 226"/>
              <p:cNvSpPr/>
              <p:nvPr/>
            </p:nvSpPr>
            <p:spPr>
              <a:xfrm>
                <a:off x="1328738" y="2576512"/>
                <a:ext cx="66675" cy="66675"/>
              </a:xfrm>
              <a:prstGeom prst="ellipse">
                <a:avLst/>
              </a:prstGeom>
              <a:solidFill>
                <a:srgbClr val="FFFFFF"/>
              </a:solidFill>
              <a:ln w="9525">
                <a:solidFill>
                  <a:srgbClr val="B9C6DC"/>
                </a:solidFill>
              </a:ln>
            </p:spPr>
          </p:sp>
          <p:sp>
            <p:nvSpPr>
              <p:cNvPr id="227" name="Ellipse 227"/>
              <p:cNvSpPr/>
              <p:nvPr/>
            </p:nvSpPr>
            <p:spPr>
              <a:xfrm>
                <a:off x="2252662" y="2576512"/>
                <a:ext cx="66675" cy="66675"/>
              </a:xfrm>
              <a:prstGeom prst="ellipse">
                <a:avLst/>
              </a:prstGeom>
              <a:solidFill>
                <a:srgbClr val="4E0D00"/>
              </a:solidFill>
              <a:ln>
                <a:noFill/>
              </a:ln>
            </p:spPr>
          </p:sp>
          <p:sp>
            <p:nvSpPr>
              <p:cNvPr id="228" name="Ellipse 228"/>
              <p:cNvSpPr/>
              <p:nvPr/>
            </p:nvSpPr>
            <p:spPr>
              <a:xfrm>
                <a:off x="2366962" y="2576512"/>
                <a:ext cx="66675" cy="66675"/>
              </a:xfrm>
              <a:prstGeom prst="ellipse">
                <a:avLst/>
              </a:prstGeom>
              <a:solidFill>
                <a:srgbClr val="4E0D00"/>
              </a:solidFill>
              <a:ln>
                <a:noFill/>
              </a:ln>
            </p:spPr>
          </p:sp>
          <p:sp>
            <p:nvSpPr>
              <p:cNvPr id="229" name="Ellipse 229"/>
              <p:cNvSpPr/>
              <p:nvPr/>
            </p:nvSpPr>
            <p:spPr>
              <a:xfrm>
                <a:off x="2481262" y="2576512"/>
                <a:ext cx="66675" cy="66675"/>
              </a:xfrm>
              <a:prstGeom prst="ellipse">
                <a:avLst/>
              </a:prstGeom>
              <a:solidFill>
                <a:srgbClr val="4E0D00"/>
              </a:solidFill>
              <a:ln>
                <a:noFill/>
              </a:ln>
            </p:spPr>
          </p:sp>
          <p:sp>
            <p:nvSpPr>
              <p:cNvPr id="230" name="Ellipse 230"/>
              <p:cNvSpPr/>
              <p:nvPr/>
            </p:nvSpPr>
            <p:spPr>
              <a:xfrm>
                <a:off x="2595562" y="2576512"/>
                <a:ext cx="66675" cy="66675"/>
              </a:xfrm>
              <a:prstGeom prst="ellipse">
                <a:avLst/>
              </a:prstGeom>
              <a:solidFill>
                <a:srgbClr val="FFFFFF"/>
              </a:solidFill>
              <a:ln w="9525">
                <a:solidFill>
                  <a:srgbClr val="B9C6DC"/>
                </a:solidFill>
              </a:ln>
            </p:spPr>
          </p:sp>
          <p:sp>
            <p:nvSpPr>
              <p:cNvPr id="231" name="Ellipse 231"/>
              <p:cNvSpPr/>
              <p:nvPr/>
            </p:nvSpPr>
            <p:spPr>
              <a:xfrm>
                <a:off x="2709862" y="2576512"/>
                <a:ext cx="66675" cy="66675"/>
              </a:xfrm>
              <a:prstGeom prst="ellipse">
                <a:avLst/>
              </a:prstGeom>
              <a:solidFill>
                <a:srgbClr val="FFFFFF"/>
              </a:solidFill>
              <a:ln w="9525">
                <a:solidFill>
                  <a:srgbClr val="B9C6DC"/>
                </a:solidFill>
              </a:ln>
            </p:spPr>
          </p:sp>
          <p:sp>
            <p:nvSpPr>
              <p:cNvPr id="232" name="Ellipse 232"/>
              <p:cNvSpPr/>
              <p:nvPr/>
            </p:nvSpPr>
            <p:spPr>
              <a:xfrm>
                <a:off x="3633788" y="2576512"/>
                <a:ext cx="66675" cy="66675"/>
              </a:xfrm>
              <a:prstGeom prst="ellipse">
                <a:avLst/>
              </a:prstGeom>
              <a:solidFill>
                <a:srgbClr val="4E0D00"/>
              </a:solidFill>
              <a:ln>
                <a:noFill/>
              </a:ln>
            </p:spPr>
          </p:sp>
          <p:sp>
            <p:nvSpPr>
              <p:cNvPr id="233" name="Ellipse 233"/>
              <p:cNvSpPr/>
              <p:nvPr/>
            </p:nvSpPr>
            <p:spPr>
              <a:xfrm>
                <a:off x="3748088" y="2576512"/>
                <a:ext cx="66675" cy="66675"/>
              </a:xfrm>
              <a:prstGeom prst="ellipse">
                <a:avLst/>
              </a:prstGeom>
              <a:solidFill>
                <a:srgbClr val="4E0D00"/>
              </a:solidFill>
              <a:ln>
                <a:noFill/>
              </a:ln>
            </p:spPr>
          </p:sp>
          <p:sp>
            <p:nvSpPr>
              <p:cNvPr id="234" name="Ellipse 234"/>
              <p:cNvSpPr/>
              <p:nvPr/>
            </p:nvSpPr>
            <p:spPr>
              <a:xfrm>
                <a:off x="3862388" y="2576512"/>
                <a:ext cx="66675" cy="66675"/>
              </a:xfrm>
              <a:prstGeom prst="ellipse">
                <a:avLst/>
              </a:prstGeom>
              <a:solidFill>
                <a:srgbClr val="4E0D00"/>
              </a:solidFill>
              <a:ln>
                <a:noFill/>
              </a:ln>
            </p:spPr>
          </p:sp>
          <p:sp>
            <p:nvSpPr>
              <p:cNvPr id="235" name="Ellipse 235"/>
              <p:cNvSpPr/>
              <p:nvPr/>
            </p:nvSpPr>
            <p:spPr>
              <a:xfrm>
                <a:off x="3976688" y="2576512"/>
                <a:ext cx="66675" cy="66675"/>
              </a:xfrm>
              <a:prstGeom prst="ellipse">
                <a:avLst/>
              </a:prstGeom>
              <a:solidFill>
                <a:srgbClr val="4E0D00"/>
              </a:solidFill>
              <a:ln>
                <a:noFill/>
              </a:ln>
            </p:spPr>
          </p:sp>
          <p:sp>
            <p:nvSpPr>
              <p:cNvPr id="236" name="Ellipse 236"/>
              <p:cNvSpPr/>
              <p:nvPr/>
            </p:nvSpPr>
            <p:spPr>
              <a:xfrm>
                <a:off x="4090988" y="2576512"/>
                <a:ext cx="66675" cy="66675"/>
              </a:xfrm>
              <a:prstGeom prst="ellipse">
                <a:avLst/>
              </a:prstGeom>
              <a:solidFill>
                <a:srgbClr val="FFFFFF"/>
              </a:solidFill>
              <a:ln w="9525">
                <a:solidFill>
                  <a:srgbClr val="B9C6DC"/>
                </a:solidFill>
              </a:ln>
            </p:spPr>
          </p:sp>
          <p:sp>
            <p:nvSpPr>
              <p:cNvPr id="237" name="Ellipse 237"/>
              <p:cNvSpPr/>
              <p:nvPr/>
            </p:nvSpPr>
            <p:spPr>
              <a:xfrm>
                <a:off x="5014912" y="2576512"/>
                <a:ext cx="66675" cy="66675"/>
              </a:xfrm>
              <a:prstGeom prst="ellipse">
                <a:avLst/>
              </a:prstGeom>
              <a:solidFill>
                <a:srgbClr val="4E0D00"/>
              </a:solidFill>
              <a:ln>
                <a:noFill/>
              </a:ln>
            </p:spPr>
          </p:sp>
          <p:sp>
            <p:nvSpPr>
              <p:cNvPr id="238" name="Ellipse 238"/>
              <p:cNvSpPr/>
              <p:nvPr/>
            </p:nvSpPr>
            <p:spPr>
              <a:xfrm>
                <a:off x="5129212" y="2576512"/>
                <a:ext cx="66675" cy="66675"/>
              </a:xfrm>
              <a:prstGeom prst="ellipse">
                <a:avLst/>
              </a:prstGeom>
              <a:solidFill>
                <a:srgbClr val="4E0D00"/>
              </a:solidFill>
              <a:ln>
                <a:noFill/>
              </a:ln>
            </p:spPr>
          </p:sp>
          <p:sp>
            <p:nvSpPr>
              <p:cNvPr id="239" name="Ellipse 239"/>
              <p:cNvSpPr/>
              <p:nvPr/>
            </p:nvSpPr>
            <p:spPr>
              <a:xfrm>
                <a:off x="5243512" y="2576512"/>
                <a:ext cx="66675" cy="66675"/>
              </a:xfrm>
              <a:prstGeom prst="ellipse">
                <a:avLst/>
              </a:prstGeom>
              <a:solidFill>
                <a:srgbClr val="4E0D00"/>
              </a:solidFill>
              <a:ln>
                <a:noFill/>
              </a:ln>
            </p:spPr>
          </p:sp>
          <p:sp>
            <p:nvSpPr>
              <p:cNvPr id="240" name="Ellipse 240"/>
              <p:cNvSpPr/>
              <p:nvPr/>
            </p:nvSpPr>
            <p:spPr>
              <a:xfrm>
                <a:off x="5357812" y="2576512"/>
                <a:ext cx="66675" cy="66675"/>
              </a:xfrm>
              <a:prstGeom prst="ellipse">
                <a:avLst/>
              </a:prstGeom>
              <a:solidFill>
                <a:srgbClr val="4E0D00"/>
              </a:solidFill>
              <a:ln>
                <a:noFill/>
              </a:ln>
            </p:spPr>
          </p:sp>
          <p:sp>
            <p:nvSpPr>
              <p:cNvPr id="241" name="Ellipse 241"/>
              <p:cNvSpPr/>
              <p:nvPr/>
            </p:nvSpPr>
            <p:spPr>
              <a:xfrm>
                <a:off x="5472112" y="2576512"/>
                <a:ext cx="66675" cy="66675"/>
              </a:xfrm>
              <a:prstGeom prst="ellipse">
                <a:avLst/>
              </a:prstGeom>
              <a:solidFill>
                <a:srgbClr val="FFFFFF"/>
              </a:solidFill>
              <a:ln w="9525">
                <a:solidFill>
                  <a:srgbClr val="B9C6DC"/>
                </a:solidFill>
              </a:ln>
            </p:spPr>
          </p:sp>
          <p:sp>
            <p:nvSpPr>
              <p:cNvPr id="242" name="Ellipse 242"/>
              <p:cNvSpPr/>
              <p:nvPr/>
            </p:nvSpPr>
            <p:spPr>
              <a:xfrm>
                <a:off x="6396038" y="2576512"/>
                <a:ext cx="66675" cy="66675"/>
              </a:xfrm>
              <a:prstGeom prst="ellipse">
                <a:avLst/>
              </a:prstGeom>
              <a:solidFill>
                <a:srgbClr val="4E0D00"/>
              </a:solidFill>
              <a:ln>
                <a:noFill/>
              </a:ln>
            </p:spPr>
          </p:sp>
          <p:sp>
            <p:nvSpPr>
              <p:cNvPr id="243" name="Ellipse 243"/>
              <p:cNvSpPr/>
              <p:nvPr/>
            </p:nvSpPr>
            <p:spPr>
              <a:xfrm>
                <a:off x="6510338" y="2576512"/>
                <a:ext cx="66675" cy="66675"/>
              </a:xfrm>
              <a:prstGeom prst="ellipse">
                <a:avLst/>
              </a:prstGeom>
              <a:solidFill>
                <a:srgbClr val="4E0D00"/>
              </a:solidFill>
              <a:ln>
                <a:noFill/>
              </a:ln>
            </p:spPr>
          </p:sp>
          <p:sp>
            <p:nvSpPr>
              <p:cNvPr id="244" name="Ellipse 244"/>
              <p:cNvSpPr/>
              <p:nvPr/>
            </p:nvSpPr>
            <p:spPr>
              <a:xfrm>
                <a:off x="6624638" y="2576512"/>
                <a:ext cx="66675" cy="66675"/>
              </a:xfrm>
              <a:prstGeom prst="ellipse">
                <a:avLst/>
              </a:prstGeom>
              <a:solidFill>
                <a:srgbClr val="4E0D00"/>
              </a:solidFill>
              <a:ln>
                <a:noFill/>
              </a:ln>
            </p:spPr>
          </p:sp>
          <p:sp>
            <p:nvSpPr>
              <p:cNvPr id="245" name="Ellipse 245"/>
              <p:cNvSpPr/>
              <p:nvPr/>
            </p:nvSpPr>
            <p:spPr>
              <a:xfrm>
                <a:off x="6738938" y="2576512"/>
                <a:ext cx="66675" cy="66675"/>
              </a:xfrm>
              <a:prstGeom prst="ellipse">
                <a:avLst/>
              </a:prstGeom>
              <a:solidFill>
                <a:srgbClr val="FFFFFF"/>
              </a:solidFill>
              <a:ln w="9525">
                <a:solidFill>
                  <a:srgbClr val="B9C6DC"/>
                </a:solidFill>
              </a:ln>
            </p:spPr>
          </p:sp>
          <p:sp>
            <p:nvSpPr>
              <p:cNvPr id="246" name="Ellipse 246"/>
              <p:cNvSpPr/>
              <p:nvPr/>
            </p:nvSpPr>
            <p:spPr>
              <a:xfrm>
                <a:off x="6853238" y="2576512"/>
                <a:ext cx="66675" cy="66675"/>
              </a:xfrm>
              <a:prstGeom prst="ellipse">
                <a:avLst/>
              </a:prstGeom>
              <a:solidFill>
                <a:srgbClr val="FFFFFF"/>
              </a:solidFill>
              <a:ln w="9525">
                <a:solidFill>
                  <a:srgbClr val="B9C6DC"/>
                </a:solidFill>
              </a:ln>
            </p:spPr>
          </p:sp>
          <p:sp>
            <p:nvSpPr>
              <p:cNvPr id="247" name="Ellipse 247"/>
              <p:cNvSpPr/>
              <p:nvPr/>
            </p:nvSpPr>
            <p:spPr>
              <a:xfrm>
                <a:off x="7777162" y="2576512"/>
                <a:ext cx="66675" cy="66675"/>
              </a:xfrm>
              <a:prstGeom prst="ellipse">
                <a:avLst/>
              </a:prstGeom>
              <a:solidFill>
                <a:srgbClr val="4E0D00"/>
              </a:solidFill>
              <a:ln>
                <a:noFill/>
              </a:ln>
            </p:spPr>
          </p:sp>
          <p:sp>
            <p:nvSpPr>
              <p:cNvPr id="248" name="Ellipse 248"/>
              <p:cNvSpPr/>
              <p:nvPr/>
            </p:nvSpPr>
            <p:spPr>
              <a:xfrm>
                <a:off x="7891462" y="2576512"/>
                <a:ext cx="66675" cy="66675"/>
              </a:xfrm>
              <a:prstGeom prst="ellipse">
                <a:avLst/>
              </a:prstGeom>
              <a:solidFill>
                <a:srgbClr val="4E0D00"/>
              </a:solidFill>
              <a:ln>
                <a:noFill/>
              </a:ln>
            </p:spPr>
          </p:sp>
          <p:sp>
            <p:nvSpPr>
              <p:cNvPr id="249" name="Ellipse 249"/>
              <p:cNvSpPr/>
              <p:nvPr/>
            </p:nvSpPr>
            <p:spPr>
              <a:xfrm>
                <a:off x="8005762" y="2576512"/>
                <a:ext cx="66675" cy="66675"/>
              </a:xfrm>
              <a:prstGeom prst="ellipse">
                <a:avLst/>
              </a:prstGeom>
              <a:solidFill>
                <a:srgbClr val="4E0D00"/>
              </a:solidFill>
              <a:ln>
                <a:noFill/>
              </a:ln>
            </p:spPr>
          </p:sp>
          <p:sp>
            <p:nvSpPr>
              <p:cNvPr id="250" name="Ellipse 250"/>
              <p:cNvSpPr/>
              <p:nvPr/>
            </p:nvSpPr>
            <p:spPr>
              <a:xfrm>
                <a:off x="8120062" y="2576512"/>
                <a:ext cx="66675" cy="66675"/>
              </a:xfrm>
              <a:prstGeom prst="ellipse">
                <a:avLst/>
              </a:prstGeom>
              <a:solidFill>
                <a:srgbClr val="FFFFFF"/>
              </a:solidFill>
              <a:ln w="9525">
                <a:solidFill>
                  <a:srgbClr val="B9C6DC"/>
                </a:solidFill>
              </a:ln>
            </p:spPr>
          </p:sp>
          <p:sp>
            <p:nvSpPr>
              <p:cNvPr id="251" name="Ellipse 251"/>
              <p:cNvSpPr/>
              <p:nvPr/>
            </p:nvSpPr>
            <p:spPr>
              <a:xfrm>
                <a:off x="8234362" y="2576512"/>
                <a:ext cx="66675" cy="66675"/>
              </a:xfrm>
              <a:prstGeom prst="ellipse">
                <a:avLst/>
              </a:prstGeom>
              <a:solidFill>
                <a:srgbClr val="FFFFFF"/>
              </a:solidFill>
              <a:ln w="9525">
                <a:solidFill>
                  <a:srgbClr val="B9C6DC"/>
                </a:solidFill>
              </a:ln>
            </p:spPr>
          </p:sp>
          <p:sp>
            <p:nvSpPr>
              <p:cNvPr id="252" name="Ellipse 252"/>
              <p:cNvSpPr/>
              <p:nvPr/>
            </p:nvSpPr>
            <p:spPr>
              <a:xfrm>
                <a:off x="9158288" y="2576512"/>
                <a:ext cx="66675" cy="66675"/>
              </a:xfrm>
              <a:prstGeom prst="ellipse">
                <a:avLst/>
              </a:prstGeom>
              <a:solidFill>
                <a:srgbClr val="4E0D00"/>
              </a:solidFill>
              <a:ln>
                <a:noFill/>
              </a:ln>
            </p:spPr>
          </p:sp>
          <p:sp>
            <p:nvSpPr>
              <p:cNvPr id="253" name="Ellipse 253"/>
              <p:cNvSpPr/>
              <p:nvPr/>
            </p:nvSpPr>
            <p:spPr>
              <a:xfrm>
                <a:off x="9272588" y="2576512"/>
                <a:ext cx="66675" cy="66675"/>
              </a:xfrm>
              <a:prstGeom prst="ellipse">
                <a:avLst/>
              </a:prstGeom>
              <a:solidFill>
                <a:srgbClr val="4E0D00"/>
              </a:solidFill>
              <a:ln>
                <a:noFill/>
              </a:ln>
            </p:spPr>
          </p:sp>
          <p:sp>
            <p:nvSpPr>
              <p:cNvPr id="254" name="Ellipse 254"/>
              <p:cNvSpPr/>
              <p:nvPr/>
            </p:nvSpPr>
            <p:spPr>
              <a:xfrm>
                <a:off x="9386888" y="2576512"/>
                <a:ext cx="66675" cy="66675"/>
              </a:xfrm>
              <a:prstGeom prst="ellipse">
                <a:avLst/>
              </a:prstGeom>
              <a:solidFill>
                <a:srgbClr val="4E0D00"/>
              </a:solidFill>
              <a:ln>
                <a:noFill/>
              </a:ln>
            </p:spPr>
          </p:sp>
          <p:sp>
            <p:nvSpPr>
              <p:cNvPr id="255" name="Ellipse 255"/>
              <p:cNvSpPr/>
              <p:nvPr/>
            </p:nvSpPr>
            <p:spPr>
              <a:xfrm>
                <a:off x="9501188" y="2576512"/>
                <a:ext cx="66675" cy="66675"/>
              </a:xfrm>
              <a:prstGeom prst="ellipse">
                <a:avLst/>
              </a:prstGeom>
              <a:solidFill>
                <a:srgbClr val="FFFFFF"/>
              </a:solidFill>
              <a:ln w="9525">
                <a:solidFill>
                  <a:srgbClr val="B9C6DC"/>
                </a:solidFill>
              </a:ln>
            </p:spPr>
          </p:sp>
          <p:sp>
            <p:nvSpPr>
              <p:cNvPr id="256" name="Ellipse 256"/>
              <p:cNvSpPr/>
              <p:nvPr/>
            </p:nvSpPr>
            <p:spPr>
              <a:xfrm>
                <a:off x="9615488" y="2576512"/>
                <a:ext cx="66675" cy="66675"/>
              </a:xfrm>
              <a:prstGeom prst="ellipse">
                <a:avLst/>
              </a:prstGeom>
              <a:solidFill>
                <a:srgbClr val="FFFFFF"/>
              </a:solidFill>
              <a:ln w="9525">
                <a:solidFill>
                  <a:srgbClr val="B9C6DC"/>
                </a:solidFill>
              </a:ln>
            </p:spPr>
          </p:sp>
          <p:sp>
            <p:nvSpPr>
              <p:cNvPr id="257" name="Ellipse 257"/>
              <p:cNvSpPr/>
              <p:nvPr/>
            </p:nvSpPr>
            <p:spPr>
              <a:xfrm>
                <a:off x="10539412" y="2576512"/>
                <a:ext cx="66675" cy="66675"/>
              </a:xfrm>
              <a:prstGeom prst="ellipse">
                <a:avLst/>
              </a:prstGeom>
              <a:solidFill>
                <a:srgbClr val="4E0D00"/>
              </a:solidFill>
              <a:ln>
                <a:noFill/>
              </a:ln>
            </p:spPr>
          </p:sp>
          <p:sp>
            <p:nvSpPr>
              <p:cNvPr id="258" name="Ellipse 258"/>
              <p:cNvSpPr/>
              <p:nvPr/>
            </p:nvSpPr>
            <p:spPr>
              <a:xfrm>
                <a:off x="10653712" y="2576512"/>
                <a:ext cx="66675" cy="66675"/>
              </a:xfrm>
              <a:prstGeom prst="ellipse">
                <a:avLst/>
              </a:prstGeom>
              <a:solidFill>
                <a:srgbClr val="4E0D00"/>
              </a:solidFill>
              <a:ln>
                <a:noFill/>
              </a:ln>
            </p:spPr>
          </p:sp>
          <p:sp>
            <p:nvSpPr>
              <p:cNvPr id="259" name="Ellipse 259"/>
              <p:cNvSpPr/>
              <p:nvPr/>
            </p:nvSpPr>
            <p:spPr>
              <a:xfrm>
                <a:off x="10768012" y="2576512"/>
                <a:ext cx="66675" cy="66675"/>
              </a:xfrm>
              <a:prstGeom prst="ellipse">
                <a:avLst/>
              </a:prstGeom>
              <a:solidFill>
                <a:srgbClr val="4E0D00"/>
              </a:solidFill>
              <a:ln>
                <a:noFill/>
              </a:ln>
            </p:spPr>
          </p:sp>
          <p:sp>
            <p:nvSpPr>
              <p:cNvPr id="260" name="Ellipse 260"/>
              <p:cNvSpPr/>
              <p:nvPr/>
            </p:nvSpPr>
            <p:spPr>
              <a:xfrm>
                <a:off x="10882312" y="2576512"/>
                <a:ext cx="66675" cy="66675"/>
              </a:xfrm>
              <a:prstGeom prst="ellipse">
                <a:avLst/>
              </a:prstGeom>
              <a:solidFill>
                <a:srgbClr val="FFFFFF"/>
              </a:solidFill>
              <a:ln w="9525">
                <a:solidFill>
                  <a:srgbClr val="B9C6DC"/>
                </a:solidFill>
              </a:ln>
            </p:spPr>
          </p:sp>
          <p:sp>
            <p:nvSpPr>
              <p:cNvPr id="261" name="Ellipse 261"/>
              <p:cNvSpPr/>
              <p:nvPr/>
            </p:nvSpPr>
            <p:spPr>
              <a:xfrm>
                <a:off x="10996612" y="2576512"/>
                <a:ext cx="66675" cy="66675"/>
              </a:xfrm>
              <a:prstGeom prst="ellipse">
                <a:avLst/>
              </a:prstGeom>
              <a:solidFill>
                <a:srgbClr val="FFFFFF"/>
              </a:solidFill>
              <a:ln w="9525">
                <a:solidFill>
                  <a:srgbClr val="B9C6DC"/>
                </a:solidFill>
              </a:ln>
            </p:spPr>
          </p:sp>
        </p:grpSp>
      </p:grpSp>
      <p:grpSp>
        <p:nvGrpSpPr>
          <p:cNvPr id="307" name="quadrant"/>
          <p:cNvGrpSpPr/>
          <p:nvPr/>
        </p:nvGrpSpPr>
        <p:grpSpPr>
          <a:xfrm>
            <a:off x="228600" y="2895600"/>
            <a:ext cx="3771900" cy="3841670"/>
            <a:chOff x="228600" y="2895600"/>
            <a:chExt cx="3771900" cy="3841670"/>
          </a:xfrm>
        </p:grpSpPr>
        <p:sp>
          <p:nvSpPr>
            <p:cNvPr id="264" name="Rectangle 264"/>
            <p:cNvSpPr/>
            <p:nvPr/>
          </p:nvSpPr>
          <p:spPr>
            <a:xfrm>
              <a:off x="228600" y="2895600"/>
              <a:ext cx="3771900" cy="285750"/>
            </a:xfrm>
            <a:prstGeom prst="rect">
              <a:avLst/>
            </a:prstGeom>
            <a:solidFill>
              <a:srgbClr val="4E0D00"/>
            </a:solidFill>
            <a:ln>
              <a:noFill/>
            </a:ln>
          </p:spPr>
        </p:sp>
        <p:sp>
          <p:nvSpPr>
            <p:cNvPr id="265" name="TextBox 265"/>
            <p:cNvSpPr txBox="1"/>
            <p:nvPr/>
          </p:nvSpPr>
          <p:spPr>
            <a:xfrm>
              <a:off x="1257838" y="2984897"/>
              <a:ext cx="1713424"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“价值贡献×成本投入”2×2矩阵</a:t>
              </a:r>
            </a:p>
          </p:txBody>
        </p:sp>
        <p:sp>
          <p:nvSpPr>
            <p:cNvPr id="266" name="Line 266"/>
            <p:cNvSpPr/>
            <p:nvPr/>
          </p:nvSpPr>
          <p:spPr>
            <a:xfrm flipV="1">
              <a:off x="495300" y="3352800"/>
              <a:ext cx="1" cy="2971800"/>
            </a:xfrm>
            <a:prstGeom prst="line">
              <a:avLst/>
            </a:prstGeom>
            <a:noFill/>
            <a:ln w="14288">
              <a:solidFill>
                <a:srgbClr val="944130"/>
              </a:solidFill>
              <a:tailEnd type="triangle" w="lg" len="lg"/>
            </a:ln>
          </p:spPr>
        </p:sp>
        <p:sp>
          <p:nvSpPr>
            <p:cNvPr id="267" name="Line 267"/>
            <p:cNvSpPr/>
            <p:nvPr/>
          </p:nvSpPr>
          <p:spPr>
            <a:xfrm>
              <a:off x="495300" y="6324600"/>
              <a:ext cx="3352800" cy="1"/>
            </a:xfrm>
            <a:prstGeom prst="line">
              <a:avLst/>
            </a:prstGeom>
            <a:noFill/>
            <a:ln w="14288">
              <a:solidFill>
                <a:srgbClr val="944130"/>
              </a:solidFill>
              <a:tailEnd type="triangle" w="lg" len="lg"/>
            </a:ln>
          </p:spPr>
        </p:sp>
        <p:sp>
          <p:nvSpPr>
            <p:cNvPr id="268" name="TextBox 268"/>
            <p:cNvSpPr txBox="1"/>
            <p:nvPr/>
          </p:nvSpPr>
          <p:spPr>
            <a:xfrm>
              <a:off x="330467" y="322278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高</a:t>
              </a:r>
            </a:p>
          </p:txBody>
        </p:sp>
        <p:sp>
          <p:nvSpPr>
            <p:cNvPr id="269" name="TextBox 269"/>
            <p:cNvSpPr txBox="1"/>
            <p:nvPr/>
          </p:nvSpPr>
          <p:spPr>
            <a:xfrm>
              <a:off x="330467" y="621363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低</a:t>
              </a:r>
            </a:p>
          </p:txBody>
        </p:sp>
        <p:sp>
          <p:nvSpPr>
            <p:cNvPr id="270" name="TextBox 270"/>
            <p:cNvSpPr txBox="1"/>
            <p:nvPr/>
          </p:nvSpPr>
          <p:spPr>
            <a:xfrm>
              <a:off x="323063" y="3648789"/>
              <a:ext cx="11587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价</a:t>
              </a:r>
            </a:p>
          </p:txBody>
        </p:sp>
        <p:sp>
          <p:nvSpPr>
            <p:cNvPr id="271" name="TextBox 271"/>
            <p:cNvSpPr txBox="1"/>
            <p:nvPr/>
          </p:nvSpPr>
          <p:spPr>
            <a:xfrm>
              <a:off x="323063" y="3858339"/>
              <a:ext cx="11587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值</a:t>
              </a:r>
            </a:p>
          </p:txBody>
        </p:sp>
        <p:sp>
          <p:nvSpPr>
            <p:cNvPr id="272" name="TextBox 272"/>
            <p:cNvSpPr txBox="1"/>
            <p:nvPr/>
          </p:nvSpPr>
          <p:spPr>
            <a:xfrm>
              <a:off x="323063" y="4067889"/>
              <a:ext cx="11587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贡</a:t>
              </a:r>
            </a:p>
          </p:txBody>
        </p:sp>
        <p:sp>
          <p:nvSpPr>
            <p:cNvPr id="273" name="TextBox 273"/>
            <p:cNvSpPr txBox="1"/>
            <p:nvPr/>
          </p:nvSpPr>
          <p:spPr>
            <a:xfrm>
              <a:off x="323063" y="4277439"/>
              <a:ext cx="11587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献</a:t>
              </a:r>
            </a:p>
          </p:txBody>
        </p:sp>
        <p:sp>
          <p:nvSpPr>
            <p:cNvPr id="274" name="TextBox 274"/>
            <p:cNvSpPr txBox="1"/>
            <p:nvPr/>
          </p:nvSpPr>
          <p:spPr>
            <a:xfrm>
              <a:off x="616217" y="644223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低</a:t>
              </a:r>
            </a:p>
          </p:txBody>
        </p:sp>
        <p:sp>
          <p:nvSpPr>
            <p:cNvPr id="275" name="TextBox 275"/>
            <p:cNvSpPr txBox="1"/>
            <p:nvPr/>
          </p:nvSpPr>
          <p:spPr>
            <a:xfrm>
              <a:off x="3683267" y="644223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高</a:t>
              </a:r>
            </a:p>
          </p:txBody>
        </p:sp>
        <p:sp>
          <p:nvSpPr>
            <p:cNvPr id="276" name="TextBox 276"/>
            <p:cNvSpPr txBox="1"/>
            <p:nvPr/>
          </p:nvSpPr>
          <p:spPr>
            <a:xfrm>
              <a:off x="1973288" y="6582489"/>
              <a:ext cx="434924"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成本投入</a:t>
              </a:r>
            </a:p>
          </p:txBody>
        </p:sp>
        <p:sp>
          <p:nvSpPr>
            <p:cNvPr id="277" name="Rectangle 277"/>
            <p:cNvSpPr/>
            <p:nvPr/>
          </p:nvSpPr>
          <p:spPr>
            <a:xfrm>
              <a:off x="609600" y="3276600"/>
              <a:ext cx="1581150" cy="1485900"/>
            </a:xfrm>
            <a:prstGeom prst="rect">
              <a:avLst/>
            </a:prstGeom>
            <a:solidFill>
              <a:srgbClr val="4E0D00"/>
            </a:solidFill>
            <a:ln>
              <a:noFill/>
            </a:ln>
          </p:spPr>
        </p:sp>
        <p:grpSp>
          <p:nvGrpSpPr>
            <p:cNvPr id="281" name="Group 281"/>
            <p:cNvGrpSpPr/>
            <p:nvPr/>
          </p:nvGrpSpPr>
          <p:grpSpPr>
            <a:xfrm>
              <a:off x="1328737" y="3452812"/>
              <a:ext cx="142875" cy="142875"/>
              <a:chOff x="1328737" y="3452812"/>
              <a:chExt cx="142875" cy="142875"/>
            </a:xfrm>
          </p:grpSpPr>
          <p:sp>
            <p:nvSpPr>
              <p:cNvPr id="278" name="Freeform 278"/>
              <p:cNvSpPr/>
              <p:nvPr/>
            </p:nvSpPr>
            <p:spPr>
              <a:xfrm>
                <a:off x="1392237" y="35163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279" name="Freeform 279"/>
              <p:cNvSpPr/>
              <p:nvPr/>
            </p:nvSpPr>
            <p:spPr>
              <a:xfrm>
                <a:off x="1360487" y="34845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280" name="Freeform 280"/>
              <p:cNvSpPr/>
              <p:nvPr/>
            </p:nvSpPr>
            <p:spPr>
              <a:xfrm>
                <a:off x="1328737" y="34528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282" name="TextBox 282"/>
            <p:cNvSpPr txBox="1"/>
            <p:nvPr/>
          </p:nvSpPr>
          <p:spPr>
            <a:xfrm>
              <a:off x="1092518" y="3750945"/>
              <a:ext cx="61531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战略控制点</a:t>
              </a:r>
            </a:p>
          </p:txBody>
        </p:sp>
        <p:sp>
          <p:nvSpPr>
            <p:cNvPr id="283" name="TextBox 283"/>
            <p:cNvSpPr txBox="1"/>
            <p:nvPr/>
          </p:nvSpPr>
          <p:spPr>
            <a:xfrm>
              <a:off x="921550" y="4007882"/>
              <a:ext cx="957250"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高价值贡献，低成本投入</a:t>
              </a:r>
            </a:p>
          </p:txBody>
        </p:sp>
        <p:sp>
          <p:nvSpPr>
            <p:cNvPr id="284" name="TextBox 284"/>
            <p:cNvSpPr txBox="1"/>
            <p:nvPr/>
          </p:nvSpPr>
          <p:spPr>
            <a:xfrm>
              <a:off x="878472" y="4169807"/>
              <a:ext cx="1043407"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巩固优势，持续投入与创新</a:t>
              </a:r>
            </a:p>
          </p:txBody>
        </p:sp>
        <p:sp>
          <p:nvSpPr>
            <p:cNvPr id="285" name="Rectangle 285"/>
            <p:cNvSpPr/>
            <p:nvPr/>
          </p:nvSpPr>
          <p:spPr>
            <a:xfrm>
              <a:off x="2190750" y="3276600"/>
              <a:ext cx="1581150" cy="1485900"/>
            </a:xfrm>
            <a:prstGeom prst="rect">
              <a:avLst/>
            </a:prstGeom>
            <a:solidFill>
              <a:srgbClr val="832D1B"/>
            </a:solidFill>
            <a:ln>
              <a:noFill/>
            </a:ln>
          </p:spPr>
        </p:sp>
        <p:grpSp>
          <p:nvGrpSpPr>
            <p:cNvPr id="288" name="Group 288"/>
            <p:cNvGrpSpPr/>
            <p:nvPr/>
          </p:nvGrpSpPr>
          <p:grpSpPr>
            <a:xfrm>
              <a:off x="2909887" y="3484562"/>
              <a:ext cx="142875" cy="79375"/>
              <a:chOff x="2909887" y="3484562"/>
              <a:chExt cx="142875" cy="79375"/>
            </a:xfrm>
          </p:grpSpPr>
          <p:sp>
            <p:nvSpPr>
              <p:cNvPr id="286" name="Freeform 286"/>
              <p:cNvSpPr/>
              <p:nvPr/>
            </p:nvSpPr>
            <p:spPr>
              <a:xfrm>
                <a:off x="2909887" y="348456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FFFFFF"/>
                </a:solidFill>
              </a:ln>
            </p:spPr>
          </p:sp>
          <p:sp>
            <p:nvSpPr>
              <p:cNvPr id="287" name="Freeform 287"/>
              <p:cNvSpPr/>
              <p:nvPr/>
            </p:nvSpPr>
            <p:spPr>
              <a:xfrm>
                <a:off x="2997200" y="3484562"/>
                <a:ext cx="55562" cy="55562"/>
              </a:xfrm>
              <a:custGeom>
                <a:avLst/>
                <a:gdLst/>
                <a:ahLst/>
                <a:cxnLst/>
                <a:rect l="l" t="t" r="r" b="b"/>
                <a:pathLst>
                  <a:path w="55562" h="55562">
                    <a:moveTo>
                      <a:pt x="0" y="0"/>
                    </a:moveTo>
                    <a:lnTo>
                      <a:pt x="55562" y="0"/>
                    </a:lnTo>
                    <a:lnTo>
                      <a:pt x="55562" y="55562"/>
                    </a:lnTo>
                  </a:path>
                </a:pathLst>
              </a:custGeom>
              <a:noFill/>
              <a:ln w="15875">
                <a:solidFill>
                  <a:srgbClr val="FFFFFF"/>
                </a:solidFill>
              </a:ln>
            </p:spPr>
          </p:sp>
        </p:grpSp>
        <p:sp>
          <p:nvSpPr>
            <p:cNvPr id="289" name="TextBox 289"/>
            <p:cNvSpPr txBox="1"/>
            <p:nvPr/>
          </p:nvSpPr>
          <p:spPr>
            <a:xfrm>
              <a:off x="2673668" y="3750945"/>
              <a:ext cx="615315"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效率提升区</a:t>
              </a:r>
            </a:p>
          </p:txBody>
        </p:sp>
        <p:sp>
          <p:nvSpPr>
            <p:cNvPr id="290" name="TextBox 290"/>
            <p:cNvSpPr txBox="1"/>
            <p:nvPr/>
          </p:nvSpPr>
          <p:spPr>
            <a:xfrm>
              <a:off x="2502700" y="4007882"/>
              <a:ext cx="957250"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高价值贡献，高成本投入</a:t>
              </a:r>
            </a:p>
          </p:txBody>
        </p:sp>
        <p:sp>
          <p:nvSpPr>
            <p:cNvPr id="291" name="TextBox 291"/>
            <p:cNvSpPr txBox="1"/>
            <p:nvPr/>
          </p:nvSpPr>
          <p:spPr>
            <a:xfrm>
              <a:off x="2373465" y="4169807"/>
              <a:ext cx="1215720" cy="126206"/>
            </a:xfrm>
            <a:prstGeom prst="rect">
              <a:avLst/>
            </a:prstGeom>
            <a:noFill/>
            <a:ln>
              <a:noFill/>
            </a:ln>
          </p:spPr>
          <p:txBody>
            <a:bodyPr wrap="none" lIns="0" tIns="0" rIns="0" bIns="0" anchor="t" anchorCtr="0">
              <a:spAutoFit/>
            </a:bodyPr>
            <a:lstStyle/>
            <a:p>
              <a:pPr algn="ctr"/>
              <a:r>
                <a:rPr lang="zh-CN" sz="640" dirty="0">
                  <a:solidFill>
                    <a:srgbClr val="DCE5F2"/>
                  </a:solidFill>
                  <a:latin typeface="+mn-lt"/>
                  <a:ea typeface="+mn-ea"/>
                  <a:cs typeface="+mn-cs"/>
                </a:rPr>
                <a:t>提升效率，优化流程与资源配置</a:t>
              </a:r>
            </a:p>
          </p:txBody>
        </p:sp>
        <p:sp>
          <p:nvSpPr>
            <p:cNvPr id="292" name="Rectangle 292"/>
            <p:cNvSpPr/>
            <p:nvPr/>
          </p:nvSpPr>
          <p:spPr>
            <a:xfrm>
              <a:off x="609600" y="4762500"/>
              <a:ext cx="1581150" cy="1485900"/>
            </a:xfrm>
            <a:prstGeom prst="rect">
              <a:avLst/>
            </a:prstGeom>
            <a:solidFill>
              <a:srgbClr val="DCE5F2"/>
            </a:solidFill>
            <a:ln>
              <a:noFill/>
            </a:ln>
          </p:spPr>
        </p:sp>
        <p:sp>
          <p:nvSpPr>
            <p:cNvPr id="293" name="Freeform 293"/>
            <p:cNvSpPr/>
            <p:nvPr/>
          </p:nvSpPr>
          <p:spPr>
            <a:xfrm>
              <a:off x="1338580" y="4937236"/>
              <a:ext cx="123190" cy="148542"/>
            </a:xfrm>
            <a:custGeom>
              <a:avLst/>
              <a:gdLst/>
              <a:ahLst/>
              <a:cxnLst/>
              <a:rect l="l" t="t" r="r" b="b"/>
              <a:pathLst>
                <a:path w="123190" h="148542">
                  <a:moveTo>
                    <a:pt x="25892" y="131834"/>
                  </a:moveTo>
                  <a:cubicBezTo>
                    <a:pt x="46545" y="148542"/>
                    <a:pt x="76652" y="148542"/>
                    <a:pt x="97298" y="131834"/>
                  </a:cubicBezTo>
                  <a:cubicBezTo>
                    <a:pt x="117951" y="115125"/>
                    <a:pt x="123190" y="86527"/>
                    <a:pt x="109728" y="64000"/>
                  </a:cubicBezTo>
                  <a:lnTo>
                    <a:pt x="70914" y="6374"/>
                  </a:lnTo>
                  <a:cubicBezTo>
                    <a:pt x="67580" y="1413"/>
                    <a:pt x="60698" y="0"/>
                    <a:pt x="55547" y="3223"/>
                  </a:cubicBezTo>
                  <a:cubicBezTo>
                    <a:pt x="54254" y="4034"/>
                    <a:pt x="53145" y="5108"/>
                    <a:pt x="52292" y="6374"/>
                  </a:cubicBezTo>
                  <a:lnTo>
                    <a:pt x="13454" y="64000"/>
                  </a:lnTo>
                  <a:cubicBezTo>
                    <a:pt x="0" y="86527"/>
                    <a:pt x="5239" y="115125"/>
                    <a:pt x="25892" y="131834"/>
                  </a:cubicBezTo>
                </a:path>
              </a:pathLst>
            </a:custGeom>
            <a:noFill/>
            <a:ln w="15875">
              <a:solidFill>
                <a:srgbClr val="4E0D00"/>
              </a:solidFill>
            </a:ln>
          </p:spPr>
        </p:sp>
        <p:sp>
          <p:nvSpPr>
            <p:cNvPr id="294" name="TextBox 294"/>
            <p:cNvSpPr txBox="1"/>
            <p:nvPr/>
          </p:nvSpPr>
          <p:spPr>
            <a:xfrm>
              <a:off x="1092518" y="5236845"/>
              <a:ext cx="615315" cy="176212"/>
            </a:xfrm>
            <a:prstGeom prst="rect">
              <a:avLst/>
            </a:prstGeom>
            <a:noFill/>
            <a:ln>
              <a:noFill/>
            </a:ln>
          </p:spPr>
          <p:txBody>
            <a:bodyPr wrap="none" lIns="0" tIns="0" rIns="0" bIns="0" anchor="t" anchorCtr="0">
              <a:spAutoFit/>
            </a:bodyPr>
            <a:lstStyle/>
            <a:p>
              <a:pPr algn="ctr"/>
              <a:r>
                <a:rPr lang="zh-CN" sz="900" b="1" dirty="0">
                  <a:solidFill>
                    <a:srgbClr val="4E0D00"/>
                  </a:solidFill>
                  <a:latin typeface="+mn-lt"/>
                  <a:ea typeface="+mn-ea"/>
                  <a:cs typeface="+mn-cs"/>
                </a:rPr>
                <a:t>价值泄漏点</a:t>
              </a:r>
            </a:p>
          </p:txBody>
        </p:sp>
        <p:sp>
          <p:nvSpPr>
            <p:cNvPr id="295" name="TextBox 295"/>
            <p:cNvSpPr txBox="1"/>
            <p:nvPr/>
          </p:nvSpPr>
          <p:spPr>
            <a:xfrm>
              <a:off x="921550" y="5493782"/>
              <a:ext cx="95725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低价值贡献，低成本投入</a:t>
              </a:r>
            </a:p>
          </p:txBody>
        </p:sp>
        <p:sp>
          <p:nvSpPr>
            <p:cNvPr id="296" name="TextBox 296"/>
            <p:cNvSpPr txBox="1"/>
            <p:nvPr/>
          </p:nvSpPr>
          <p:spPr>
            <a:xfrm>
              <a:off x="921550" y="5655707"/>
              <a:ext cx="95725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修复短板，把握潜在价值</a:t>
              </a:r>
            </a:p>
          </p:txBody>
        </p:sp>
        <p:sp>
          <p:nvSpPr>
            <p:cNvPr id="297" name="Rectangle 297"/>
            <p:cNvSpPr/>
            <p:nvPr/>
          </p:nvSpPr>
          <p:spPr>
            <a:xfrm>
              <a:off x="2190750" y="4762500"/>
              <a:ext cx="1581150" cy="1485900"/>
            </a:xfrm>
            <a:prstGeom prst="rect">
              <a:avLst/>
            </a:prstGeom>
            <a:solidFill>
              <a:srgbClr val="FFFFFF"/>
            </a:solidFill>
            <a:ln w="9525">
              <a:solidFill>
                <a:srgbClr val="C7D2E4"/>
              </a:solidFill>
            </a:ln>
          </p:spPr>
        </p:sp>
        <p:grpSp>
          <p:nvGrpSpPr>
            <p:cNvPr id="303" name="Group 303"/>
            <p:cNvGrpSpPr/>
            <p:nvPr/>
          </p:nvGrpSpPr>
          <p:grpSpPr>
            <a:xfrm>
              <a:off x="2917825" y="4938712"/>
              <a:ext cx="127000" cy="142875"/>
              <a:chOff x="2917825" y="4938712"/>
              <a:chExt cx="127000" cy="142875"/>
            </a:xfrm>
          </p:grpSpPr>
          <p:sp>
            <p:nvSpPr>
              <p:cNvPr id="298" name="Freeform 298"/>
              <p:cNvSpPr/>
              <p:nvPr/>
            </p:nvSpPr>
            <p:spPr>
              <a:xfrm>
                <a:off x="2917825" y="4970462"/>
                <a:ext cx="127000" cy="9525"/>
              </a:xfrm>
              <a:custGeom>
                <a:avLst/>
                <a:gdLst/>
                <a:ahLst/>
                <a:cxnLst/>
                <a:rect l="l" t="t" r="r" b="b"/>
                <a:pathLst>
                  <a:path w="127000" h="9525">
                    <a:moveTo>
                      <a:pt x="0" y="0"/>
                    </a:moveTo>
                    <a:lnTo>
                      <a:pt x="127000" y="0"/>
                    </a:lnTo>
                  </a:path>
                </a:pathLst>
              </a:custGeom>
              <a:noFill/>
              <a:ln w="15875">
                <a:solidFill>
                  <a:srgbClr val="4E0D00"/>
                </a:solidFill>
              </a:ln>
            </p:spPr>
          </p:sp>
          <p:sp>
            <p:nvSpPr>
              <p:cNvPr id="299" name="Freeform 299"/>
              <p:cNvSpPr/>
              <p:nvPr/>
            </p:nvSpPr>
            <p:spPr>
              <a:xfrm>
                <a:off x="2965450" y="5002212"/>
                <a:ext cx="9525" cy="47625"/>
              </a:xfrm>
              <a:custGeom>
                <a:avLst/>
                <a:gdLst/>
                <a:ahLst/>
                <a:cxnLst/>
                <a:rect l="l" t="t" r="r" b="b"/>
                <a:pathLst>
                  <a:path w="9525" h="47625">
                    <a:moveTo>
                      <a:pt x="0" y="0"/>
                    </a:moveTo>
                    <a:lnTo>
                      <a:pt x="0" y="47625"/>
                    </a:lnTo>
                  </a:path>
                </a:pathLst>
              </a:custGeom>
              <a:noFill/>
              <a:ln w="15875">
                <a:solidFill>
                  <a:srgbClr val="4E0D00"/>
                </a:solidFill>
              </a:ln>
            </p:spPr>
          </p:sp>
          <p:sp>
            <p:nvSpPr>
              <p:cNvPr id="300" name="Freeform 300"/>
              <p:cNvSpPr/>
              <p:nvPr/>
            </p:nvSpPr>
            <p:spPr>
              <a:xfrm>
                <a:off x="2997200" y="5002212"/>
                <a:ext cx="9525" cy="47625"/>
              </a:xfrm>
              <a:custGeom>
                <a:avLst/>
                <a:gdLst/>
                <a:ahLst/>
                <a:cxnLst/>
                <a:rect l="l" t="t" r="r" b="b"/>
                <a:pathLst>
                  <a:path w="9525" h="47625">
                    <a:moveTo>
                      <a:pt x="0" y="0"/>
                    </a:moveTo>
                    <a:lnTo>
                      <a:pt x="0" y="47625"/>
                    </a:lnTo>
                  </a:path>
                </a:pathLst>
              </a:custGeom>
              <a:noFill/>
              <a:ln w="15875">
                <a:solidFill>
                  <a:srgbClr val="4E0D00"/>
                </a:solidFill>
              </a:ln>
            </p:spPr>
          </p:sp>
          <p:sp>
            <p:nvSpPr>
              <p:cNvPr id="301" name="Freeform 301"/>
              <p:cNvSpPr/>
              <p:nvPr/>
            </p:nvSpPr>
            <p:spPr>
              <a:xfrm>
                <a:off x="2925762" y="4970462"/>
                <a:ext cx="111125" cy="111125"/>
              </a:xfrm>
              <a:custGeom>
                <a:avLst/>
                <a:gdLst/>
                <a:ahLst/>
                <a:cxnLst/>
                <a:rect l="l" t="t" r="r" b="b"/>
                <a:pathLst>
                  <a:path w="111125" h="111125">
                    <a:moveTo>
                      <a:pt x="0" y="0"/>
                    </a:moveTo>
                    <a:lnTo>
                      <a:pt x="7937" y="95250"/>
                    </a:lnTo>
                    <a:cubicBezTo>
                      <a:pt x="7937" y="104017"/>
                      <a:pt x="15045" y="111125"/>
                      <a:pt x="23812" y="111125"/>
                    </a:cubicBezTo>
                    <a:lnTo>
                      <a:pt x="87312" y="111125"/>
                    </a:lnTo>
                    <a:cubicBezTo>
                      <a:pt x="96080" y="111125"/>
                      <a:pt x="103187" y="104017"/>
                      <a:pt x="103187" y="95250"/>
                    </a:cubicBezTo>
                    <a:lnTo>
                      <a:pt x="111125" y="0"/>
                    </a:lnTo>
                  </a:path>
                </a:pathLst>
              </a:custGeom>
              <a:noFill/>
              <a:ln w="15875">
                <a:solidFill>
                  <a:srgbClr val="4E0D00"/>
                </a:solidFill>
              </a:ln>
            </p:spPr>
          </p:sp>
          <p:sp>
            <p:nvSpPr>
              <p:cNvPr id="302" name="Freeform 302"/>
              <p:cNvSpPr/>
              <p:nvPr/>
            </p:nvSpPr>
            <p:spPr>
              <a:xfrm>
                <a:off x="2957512" y="4938712"/>
                <a:ext cx="47625" cy="31750"/>
              </a:xfrm>
              <a:custGeom>
                <a:avLst/>
                <a:gdLst/>
                <a:ahLst/>
                <a:cxnLst/>
                <a:rect l="l" t="t" r="r" b="b"/>
                <a:pathLst>
                  <a:path w="47625" h="31750">
                    <a:moveTo>
                      <a:pt x="0" y="31750"/>
                    </a:moveTo>
                    <a:lnTo>
                      <a:pt x="0" y="7937"/>
                    </a:lnTo>
                    <a:cubicBezTo>
                      <a:pt x="0" y="3554"/>
                      <a:pt x="3554" y="0"/>
                      <a:pt x="7937" y="0"/>
                    </a:cubicBezTo>
                    <a:lnTo>
                      <a:pt x="39687" y="0"/>
                    </a:lnTo>
                    <a:cubicBezTo>
                      <a:pt x="44071" y="0"/>
                      <a:pt x="47625" y="3554"/>
                      <a:pt x="47625" y="7937"/>
                    </a:cubicBezTo>
                    <a:lnTo>
                      <a:pt x="47625" y="31750"/>
                    </a:lnTo>
                  </a:path>
                </a:pathLst>
              </a:custGeom>
              <a:noFill/>
              <a:ln w="15875">
                <a:solidFill>
                  <a:srgbClr val="4E0D00"/>
                </a:solidFill>
              </a:ln>
            </p:spPr>
          </p:sp>
        </p:grpSp>
        <p:sp>
          <p:nvSpPr>
            <p:cNvPr id="304" name="TextBox 304"/>
            <p:cNvSpPr txBox="1"/>
            <p:nvPr/>
          </p:nvSpPr>
          <p:spPr>
            <a:xfrm>
              <a:off x="2673668" y="5236845"/>
              <a:ext cx="615315" cy="176212"/>
            </a:xfrm>
            <a:prstGeom prst="rect">
              <a:avLst/>
            </a:prstGeom>
            <a:noFill/>
            <a:ln>
              <a:noFill/>
            </a:ln>
          </p:spPr>
          <p:txBody>
            <a:bodyPr wrap="none" lIns="0" tIns="0" rIns="0" bIns="0" anchor="t" anchorCtr="0">
              <a:spAutoFit/>
            </a:bodyPr>
            <a:lstStyle/>
            <a:p>
              <a:pPr algn="ctr"/>
              <a:r>
                <a:rPr lang="zh-CN" sz="900" b="1" dirty="0">
                  <a:solidFill>
                    <a:srgbClr val="4E0D00"/>
                  </a:solidFill>
                  <a:latin typeface="+mn-lt"/>
                  <a:ea typeface="+mn-ea"/>
                  <a:cs typeface="+mn-cs"/>
                </a:rPr>
                <a:t>非增值环节</a:t>
              </a:r>
            </a:p>
          </p:txBody>
        </p:sp>
        <p:sp>
          <p:nvSpPr>
            <p:cNvPr id="305" name="TextBox 305"/>
            <p:cNvSpPr txBox="1"/>
            <p:nvPr/>
          </p:nvSpPr>
          <p:spPr>
            <a:xfrm>
              <a:off x="2502700" y="5493782"/>
              <a:ext cx="95725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低价值贡献，高成本投入</a:t>
              </a:r>
            </a:p>
          </p:txBody>
        </p:sp>
        <p:sp>
          <p:nvSpPr>
            <p:cNvPr id="306" name="TextBox 306"/>
            <p:cNvSpPr txBox="1"/>
            <p:nvPr/>
          </p:nvSpPr>
          <p:spPr>
            <a:xfrm>
              <a:off x="2545778" y="5655707"/>
              <a:ext cx="871093"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精简或退出，释放资源</a:t>
              </a:r>
            </a:p>
          </p:txBody>
        </p:sp>
      </p:grpSp>
      <p:grpSp>
        <p:nvGrpSpPr>
          <p:cNvPr id="419" name="detail-table"/>
          <p:cNvGrpSpPr/>
          <p:nvPr/>
        </p:nvGrpSpPr>
        <p:grpSpPr>
          <a:xfrm>
            <a:off x="4114800" y="2895600"/>
            <a:ext cx="7848600" cy="3759280"/>
            <a:chOff x="4114800" y="2895600"/>
            <a:chExt cx="7848600" cy="3759280"/>
          </a:xfrm>
        </p:grpSpPr>
        <p:sp>
          <p:nvSpPr>
            <p:cNvPr id="308" name="Rectangle 308"/>
            <p:cNvSpPr/>
            <p:nvPr/>
          </p:nvSpPr>
          <p:spPr>
            <a:xfrm>
              <a:off x="4114800" y="2895600"/>
              <a:ext cx="876300" cy="247650"/>
            </a:xfrm>
            <a:prstGeom prst="rect">
              <a:avLst/>
            </a:prstGeom>
            <a:solidFill>
              <a:srgbClr val="4E0D00"/>
            </a:solidFill>
            <a:ln>
              <a:noFill/>
            </a:ln>
          </p:spPr>
        </p:sp>
        <p:sp>
          <p:nvSpPr>
            <p:cNvPr id="309" name="TextBox 309"/>
            <p:cNvSpPr txBox="1"/>
            <p:nvPr/>
          </p:nvSpPr>
          <p:spPr>
            <a:xfrm>
              <a:off x="4452607" y="2990136"/>
              <a:ext cx="200685"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环节</a:t>
              </a:r>
            </a:p>
          </p:txBody>
        </p:sp>
        <p:sp>
          <p:nvSpPr>
            <p:cNvPr id="310" name="Rectangle 310"/>
            <p:cNvSpPr/>
            <p:nvPr/>
          </p:nvSpPr>
          <p:spPr>
            <a:xfrm>
              <a:off x="4991100" y="2895600"/>
              <a:ext cx="2286000" cy="247650"/>
            </a:xfrm>
            <a:prstGeom prst="rect">
              <a:avLst/>
            </a:prstGeom>
            <a:solidFill>
              <a:srgbClr val="4E0D00"/>
            </a:solidFill>
            <a:ln>
              <a:noFill/>
            </a:ln>
          </p:spPr>
        </p:sp>
        <p:sp>
          <p:nvSpPr>
            <p:cNvPr id="311" name="TextBox 311"/>
            <p:cNvSpPr txBox="1"/>
            <p:nvPr/>
          </p:nvSpPr>
          <p:spPr>
            <a:xfrm>
              <a:off x="5938177" y="29901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核心问题</a:t>
              </a:r>
            </a:p>
          </p:txBody>
        </p:sp>
        <p:sp>
          <p:nvSpPr>
            <p:cNvPr id="312" name="Rectangle 312"/>
            <p:cNvSpPr/>
            <p:nvPr/>
          </p:nvSpPr>
          <p:spPr>
            <a:xfrm>
              <a:off x="7277100" y="2895600"/>
              <a:ext cx="2095500" cy="247650"/>
            </a:xfrm>
            <a:prstGeom prst="rect">
              <a:avLst/>
            </a:prstGeom>
            <a:solidFill>
              <a:srgbClr val="4E0D00"/>
            </a:solidFill>
            <a:ln>
              <a:noFill/>
            </a:ln>
          </p:spPr>
        </p:sp>
        <p:sp>
          <p:nvSpPr>
            <p:cNvPr id="313" name="TextBox 313"/>
            <p:cNvSpPr txBox="1"/>
            <p:nvPr/>
          </p:nvSpPr>
          <p:spPr>
            <a:xfrm>
              <a:off x="8128927" y="29901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改善杠杆</a:t>
              </a:r>
            </a:p>
          </p:txBody>
        </p:sp>
        <p:sp>
          <p:nvSpPr>
            <p:cNvPr id="314" name="Rectangle 314"/>
            <p:cNvSpPr/>
            <p:nvPr/>
          </p:nvSpPr>
          <p:spPr>
            <a:xfrm>
              <a:off x="9372600" y="2895600"/>
              <a:ext cx="1809750" cy="247650"/>
            </a:xfrm>
            <a:prstGeom prst="rect">
              <a:avLst/>
            </a:prstGeom>
            <a:solidFill>
              <a:srgbClr val="4E0D00"/>
            </a:solidFill>
            <a:ln>
              <a:noFill/>
            </a:ln>
          </p:spPr>
        </p:sp>
        <p:sp>
          <p:nvSpPr>
            <p:cNvPr id="315" name="TextBox 315"/>
            <p:cNvSpPr txBox="1"/>
            <p:nvPr/>
          </p:nvSpPr>
          <p:spPr>
            <a:xfrm>
              <a:off x="10081552" y="299013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预期价值</a:t>
              </a:r>
            </a:p>
          </p:txBody>
        </p:sp>
        <p:sp>
          <p:nvSpPr>
            <p:cNvPr id="316" name="Rectangle 316"/>
            <p:cNvSpPr/>
            <p:nvPr/>
          </p:nvSpPr>
          <p:spPr>
            <a:xfrm>
              <a:off x="11182350" y="2895600"/>
              <a:ext cx="781050" cy="247650"/>
            </a:xfrm>
            <a:prstGeom prst="rect">
              <a:avLst/>
            </a:prstGeom>
            <a:solidFill>
              <a:srgbClr val="4E0D00"/>
            </a:solidFill>
            <a:ln>
              <a:noFill/>
            </a:ln>
          </p:spPr>
        </p:sp>
        <p:sp>
          <p:nvSpPr>
            <p:cNvPr id="317" name="TextBox 317"/>
            <p:cNvSpPr txBox="1"/>
            <p:nvPr/>
          </p:nvSpPr>
          <p:spPr>
            <a:xfrm>
              <a:off x="11424742" y="2990136"/>
              <a:ext cx="29626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责任方</a:t>
              </a:r>
            </a:p>
          </p:txBody>
        </p:sp>
        <p:grpSp>
          <p:nvGrpSpPr>
            <p:cNvPr id="329" name="tr-rd"/>
            <p:cNvGrpSpPr/>
            <p:nvPr/>
          </p:nvGrpSpPr>
          <p:grpSpPr>
            <a:xfrm>
              <a:off x="4114800" y="3143250"/>
              <a:ext cx="7848600" cy="444580"/>
              <a:chOff x="4114800" y="3143250"/>
              <a:chExt cx="7848600" cy="444580"/>
            </a:xfrm>
          </p:grpSpPr>
          <p:sp>
            <p:nvSpPr>
              <p:cNvPr id="318" name="Rectangle 318"/>
              <p:cNvSpPr/>
              <p:nvPr/>
            </p:nvSpPr>
            <p:spPr>
              <a:xfrm>
                <a:off x="4114800" y="3143250"/>
                <a:ext cx="7848600" cy="438150"/>
              </a:xfrm>
              <a:prstGeom prst="rect">
                <a:avLst/>
              </a:prstGeom>
              <a:solidFill>
                <a:srgbClr val="FFFFFF"/>
              </a:solidFill>
              <a:ln w="9525">
                <a:solidFill>
                  <a:srgbClr val="E2E8F2"/>
                </a:solidFill>
              </a:ln>
            </p:spPr>
          </p:sp>
          <p:sp>
            <p:nvSpPr>
              <p:cNvPr id="319" name="Rectangle 319"/>
              <p:cNvSpPr/>
              <p:nvPr/>
            </p:nvSpPr>
            <p:spPr>
              <a:xfrm>
                <a:off x="4114800" y="3143250"/>
                <a:ext cx="876300" cy="438150"/>
              </a:xfrm>
              <a:prstGeom prst="rect">
                <a:avLst/>
              </a:prstGeom>
              <a:solidFill>
                <a:srgbClr val="EFF3FA"/>
              </a:solidFill>
              <a:ln>
                <a:noFill/>
              </a:ln>
            </p:spPr>
          </p:sp>
          <p:grpSp>
            <p:nvGrpSpPr>
              <p:cNvPr id="323" name="Group 323"/>
              <p:cNvGrpSpPr/>
              <p:nvPr/>
            </p:nvGrpSpPr>
            <p:grpSpPr>
              <a:xfrm>
                <a:off x="4495800" y="3219450"/>
                <a:ext cx="114300" cy="114300"/>
                <a:chOff x="4495800" y="3219450"/>
                <a:chExt cx="114300" cy="114300"/>
              </a:xfrm>
            </p:grpSpPr>
            <p:sp>
              <p:nvSpPr>
                <p:cNvPr id="320" name="Freeform 320"/>
                <p:cNvSpPr/>
                <p:nvPr/>
              </p:nvSpPr>
              <p:spPr>
                <a:xfrm>
                  <a:off x="4495800" y="321945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4E0D00"/>
                  </a:solidFill>
                </a:ln>
              </p:spPr>
            </p:sp>
            <p:sp>
              <p:nvSpPr>
                <p:cNvPr id="321" name="Freeform 321"/>
                <p:cNvSpPr/>
                <p:nvPr/>
              </p:nvSpPr>
              <p:spPr>
                <a:xfrm>
                  <a:off x="4518508" y="324485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4E0D00"/>
                  </a:solidFill>
                </a:ln>
              </p:spPr>
            </p:sp>
            <p:sp>
              <p:nvSpPr>
                <p:cNvPr id="322" name="Freeform 322"/>
                <p:cNvSpPr/>
                <p:nvPr/>
              </p:nvSpPr>
              <p:spPr>
                <a:xfrm>
                  <a:off x="4538345" y="3308350"/>
                  <a:ext cx="29210" cy="9525"/>
                </a:xfrm>
                <a:custGeom>
                  <a:avLst/>
                  <a:gdLst/>
                  <a:ahLst/>
                  <a:cxnLst/>
                  <a:rect l="l" t="t" r="r" b="b"/>
                  <a:pathLst>
                    <a:path w="29210" h="9525">
                      <a:moveTo>
                        <a:pt x="0" y="0"/>
                      </a:moveTo>
                      <a:lnTo>
                        <a:pt x="29210" y="0"/>
                      </a:lnTo>
                    </a:path>
                  </a:pathLst>
                </a:custGeom>
                <a:noFill/>
                <a:ln w="12700">
                  <a:solidFill>
                    <a:srgbClr val="4E0D00"/>
                  </a:solidFill>
                </a:ln>
              </p:spPr>
            </p:sp>
          </p:grpSp>
          <p:sp>
            <p:nvSpPr>
              <p:cNvPr id="324" name="TextBox 324"/>
              <p:cNvSpPr txBox="1"/>
              <p:nvPr/>
            </p:nvSpPr>
            <p:spPr>
              <a:xfrm>
                <a:off x="4452607" y="344733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研发</a:t>
                </a:r>
              </a:p>
            </p:txBody>
          </p:sp>
          <p:sp>
            <p:nvSpPr>
              <p:cNvPr id="325" name="TextBox 325"/>
              <p:cNvSpPr txBox="1"/>
              <p:nvPr/>
            </p:nvSpPr>
            <p:spPr>
              <a:xfrm>
                <a:off x="5100638" y="3331607"/>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需求洞察不足，迭代周期长</a:t>
                </a:r>
              </a:p>
            </p:txBody>
          </p:sp>
          <p:sp>
            <p:nvSpPr>
              <p:cNvPr id="326" name="TextBox 326"/>
              <p:cNvSpPr txBox="1"/>
              <p:nvPr/>
            </p:nvSpPr>
            <p:spPr>
              <a:xfrm>
                <a:off x="7386638" y="3331607"/>
                <a:ext cx="121572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需求管理｜并行开发｜复用平台</a:t>
                </a:r>
              </a:p>
            </p:txBody>
          </p:sp>
          <p:sp>
            <p:nvSpPr>
              <p:cNvPr id="327" name="TextBox 327"/>
              <p:cNvSpPr txBox="1"/>
              <p:nvPr/>
            </p:nvSpPr>
            <p:spPr>
              <a:xfrm>
                <a:off x="9482138" y="3331607"/>
                <a:ext cx="121572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缩短上市时间，提升产品成功率</a:t>
                </a:r>
              </a:p>
            </p:txBody>
          </p:sp>
          <p:sp>
            <p:nvSpPr>
              <p:cNvPr id="328" name="TextBox 328"/>
              <p:cNvSpPr txBox="1"/>
              <p:nvPr/>
            </p:nvSpPr>
            <p:spPr>
              <a:xfrm>
                <a:off x="11339258" y="3327559"/>
                <a:ext cx="467233"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研发负责人</a:t>
                </a:r>
              </a:p>
            </p:txBody>
          </p:sp>
        </p:grpSp>
        <p:grpSp>
          <p:nvGrpSpPr>
            <p:cNvPr id="342" name="tr-buy"/>
            <p:cNvGrpSpPr/>
            <p:nvPr/>
          </p:nvGrpSpPr>
          <p:grpSpPr>
            <a:xfrm>
              <a:off x="4114800" y="3581400"/>
              <a:ext cx="7848600" cy="444580"/>
              <a:chOff x="4114800" y="3581400"/>
              <a:chExt cx="7848600" cy="444580"/>
            </a:xfrm>
          </p:grpSpPr>
          <p:sp>
            <p:nvSpPr>
              <p:cNvPr id="330" name="Rectangle 330"/>
              <p:cNvSpPr/>
              <p:nvPr/>
            </p:nvSpPr>
            <p:spPr>
              <a:xfrm>
                <a:off x="4114800" y="3581400"/>
                <a:ext cx="7848600" cy="438150"/>
              </a:xfrm>
              <a:prstGeom prst="rect">
                <a:avLst/>
              </a:prstGeom>
              <a:solidFill>
                <a:srgbClr val="F7F9FC"/>
              </a:solidFill>
              <a:ln w="9525">
                <a:solidFill>
                  <a:srgbClr val="E2E8F2"/>
                </a:solidFill>
              </a:ln>
            </p:spPr>
          </p:sp>
          <p:sp>
            <p:nvSpPr>
              <p:cNvPr id="331" name="Rectangle 331"/>
              <p:cNvSpPr/>
              <p:nvPr/>
            </p:nvSpPr>
            <p:spPr>
              <a:xfrm>
                <a:off x="4114800" y="3581400"/>
                <a:ext cx="876300" cy="438150"/>
              </a:xfrm>
              <a:prstGeom prst="rect">
                <a:avLst/>
              </a:prstGeom>
              <a:solidFill>
                <a:srgbClr val="EFF3FA"/>
              </a:solidFill>
              <a:ln>
                <a:noFill/>
              </a:ln>
            </p:spPr>
          </p:sp>
          <p:grpSp>
            <p:nvGrpSpPr>
              <p:cNvPr id="336" name="Group 336"/>
              <p:cNvGrpSpPr/>
              <p:nvPr/>
            </p:nvGrpSpPr>
            <p:grpSpPr>
              <a:xfrm>
                <a:off x="4502150" y="3657600"/>
                <a:ext cx="101600" cy="114300"/>
                <a:chOff x="4502150" y="3657600"/>
                <a:chExt cx="101600" cy="114300"/>
              </a:xfrm>
            </p:grpSpPr>
            <p:sp>
              <p:nvSpPr>
                <p:cNvPr id="332" name="Freeform 332"/>
                <p:cNvSpPr/>
                <p:nvPr/>
              </p:nvSpPr>
              <p:spPr>
                <a:xfrm>
                  <a:off x="4502150" y="37465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333" name="Freeform 333"/>
                <p:cNvSpPr/>
                <p:nvPr/>
              </p:nvSpPr>
              <p:spPr>
                <a:xfrm>
                  <a:off x="4572000" y="37465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334" name="Freeform 334"/>
                <p:cNvSpPr/>
                <p:nvPr/>
              </p:nvSpPr>
              <p:spPr>
                <a:xfrm>
                  <a:off x="4502150" y="3657600"/>
                  <a:ext cx="82550" cy="88900"/>
                </a:xfrm>
                <a:custGeom>
                  <a:avLst/>
                  <a:gdLst/>
                  <a:ahLst/>
                  <a:cxnLst/>
                  <a:rect l="l" t="t" r="r" b="b"/>
                  <a:pathLst>
                    <a:path w="82550" h="88900">
                      <a:moveTo>
                        <a:pt x="82550" y="88900"/>
                      </a:moveTo>
                      <a:lnTo>
                        <a:pt x="12700" y="88900"/>
                      </a:lnTo>
                      <a:lnTo>
                        <a:pt x="12700" y="0"/>
                      </a:lnTo>
                      <a:lnTo>
                        <a:pt x="0" y="0"/>
                      </a:lnTo>
                    </a:path>
                  </a:pathLst>
                </a:custGeom>
                <a:noFill/>
                <a:ln w="12700">
                  <a:solidFill>
                    <a:srgbClr val="4E0D00"/>
                  </a:solidFill>
                </a:ln>
              </p:spPr>
            </p:sp>
            <p:sp>
              <p:nvSpPr>
                <p:cNvPr id="335" name="Freeform 335"/>
                <p:cNvSpPr/>
                <p:nvPr/>
              </p:nvSpPr>
              <p:spPr>
                <a:xfrm>
                  <a:off x="4514850" y="3670300"/>
                  <a:ext cx="88900" cy="50800"/>
                </a:xfrm>
                <a:custGeom>
                  <a:avLst/>
                  <a:gdLst/>
                  <a:ahLst/>
                  <a:cxnLst/>
                  <a:rect l="l" t="t" r="r" b="b"/>
                  <a:pathLst>
                    <a:path w="88900" h="50800">
                      <a:moveTo>
                        <a:pt x="0" y="0"/>
                      </a:moveTo>
                      <a:lnTo>
                        <a:pt x="88900" y="6350"/>
                      </a:lnTo>
                      <a:lnTo>
                        <a:pt x="82550" y="50800"/>
                      </a:lnTo>
                      <a:lnTo>
                        <a:pt x="0" y="50800"/>
                      </a:lnTo>
                    </a:path>
                  </a:pathLst>
                </a:custGeom>
                <a:noFill/>
                <a:ln w="12700">
                  <a:solidFill>
                    <a:srgbClr val="4E0D00"/>
                  </a:solidFill>
                </a:ln>
              </p:spPr>
            </p:sp>
          </p:grpSp>
          <p:sp>
            <p:nvSpPr>
              <p:cNvPr id="337" name="TextBox 337"/>
              <p:cNvSpPr txBox="1"/>
              <p:nvPr/>
            </p:nvSpPr>
            <p:spPr>
              <a:xfrm>
                <a:off x="4452607" y="38854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采购</a:t>
                </a:r>
              </a:p>
            </p:txBody>
          </p:sp>
          <p:sp>
            <p:nvSpPr>
              <p:cNvPr id="338" name="TextBox 338"/>
              <p:cNvSpPr txBox="1"/>
              <p:nvPr/>
            </p:nvSpPr>
            <p:spPr>
              <a:xfrm>
                <a:off x="5100638" y="3769757"/>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供应商分散，议价能力弱</a:t>
                </a:r>
              </a:p>
            </p:txBody>
          </p:sp>
          <p:sp>
            <p:nvSpPr>
              <p:cNvPr id="339" name="TextBox 339"/>
              <p:cNvSpPr txBox="1"/>
              <p:nvPr/>
            </p:nvSpPr>
            <p:spPr>
              <a:xfrm>
                <a:off x="7386638" y="3769757"/>
                <a:ext cx="130187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品类策略｜供应商整合｜集中采购</a:t>
                </a:r>
              </a:p>
            </p:txBody>
          </p:sp>
          <p:sp>
            <p:nvSpPr>
              <p:cNvPr id="340" name="TextBox 340"/>
              <p:cNvSpPr txBox="1"/>
              <p:nvPr/>
            </p:nvSpPr>
            <p:spPr>
              <a:xfrm>
                <a:off x="9482138" y="3769757"/>
                <a:ext cx="733242"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降低采购成本3–5%</a:t>
                </a:r>
              </a:p>
            </p:txBody>
          </p:sp>
          <p:sp>
            <p:nvSpPr>
              <p:cNvPr id="341" name="TextBox 341"/>
              <p:cNvSpPr txBox="1"/>
              <p:nvPr/>
            </p:nvSpPr>
            <p:spPr>
              <a:xfrm>
                <a:off x="11339258" y="3765709"/>
                <a:ext cx="467233"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采购负责人</a:t>
                </a:r>
              </a:p>
            </p:txBody>
          </p:sp>
        </p:grpSp>
        <p:grpSp>
          <p:nvGrpSpPr>
            <p:cNvPr id="356" name="tr-mfg"/>
            <p:cNvGrpSpPr/>
            <p:nvPr/>
          </p:nvGrpSpPr>
          <p:grpSpPr>
            <a:xfrm>
              <a:off x="4114800" y="4019550"/>
              <a:ext cx="7848600" cy="444580"/>
              <a:chOff x="4114800" y="4019550"/>
              <a:chExt cx="7848600" cy="444580"/>
            </a:xfrm>
          </p:grpSpPr>
          <p:sp>
            <p:nvSpPr>
              <p:cNvPr id="343" name="Rectangle 343"/>
              <p:cNvSpPr/>
              <p:nvPr/>
            </p:nvSpPr>
            <p:spPr>
              <a:xfrm>
                <a:off x="4114800" y="4019550"/>
                <a:ext cx="7848600" cy="438150"/>
              </a:xfrm>
              <a:prstGeom prst="rect">
                <a:avLst/>
              </a:prstGeom>
              <a:solidFill>
                <a:srgbClr val="FFFFFF"/>
              </a:solidFill>
              <a:ln w="9525">
                <a:solidFill>
                  <a:srgbClr val="E2E8F2"/>
                </a:solidFill>
              </a:ln>
            </p:spPr>
          </p:sp>
          <p:sp>
            <p:nvSpPr>
              <p:cNvPr id="344" name="Rectangle 344"/>
              <p:cNvSpPr/>
              <p:nvPr/>
            </p:nvSpPr>
            <p:spPr>
              <a:xfrm>
                <a:off x="4114800" y="4019550"/>
                <a:ext cx="876300" cy="438150"/>
              </a:xfrm>
              <a:prstGeom prst="rect">
                <a:avLst/>
              </a:prstGeom>
              <a:solidFill>
                <a:srgbClr val="EFF3FA"/>
              </a:solidFill>
              <a:ln>
                <a:noFill/>
              </a:ln>
            </p:spPr>
          </p:sp>
          <p:grpSp>
            <p:nvGrpSpPr>
              <p:cNvPr id="350" name="Group 350"/>
              <p:cNvGrpSpPr/>
              <p:nvPr/>
            </p:nvGrpSpPr>
            <p:grpSpPr>
              <a:xfrm>
                <a:off x="4495800" y="4095748"/>
                <a:ext cx="114300" cy="123827"/>
                <a:chOff x="4495800" y="4095748"/>
                <a:chExt cx="114300" cy="123827"/>
              </a:xfrm>
            </p:grpSpPr>
            <p:sp>
              <p:nvSpPr>
                <p:cNvPr id="345" name="Freeform 345"/>
                <p:cNvSpPr/>
                <p:nvPr/>
              </p:nvSpPr>
              <p:spPr>
                <a:xfrm>
                  <a:off x="4495800" y="4210050"/>
                  <a:ext cx="114300" cy="9525"/>
                </a:xfrm>
                <a:custGeom>
                  <a:avLst/>
                  <a:gdLst/>
                  <a:ahLst/>
                  <a:cxnLst/>
                  <a:rect l="l" t="t" r="r" b="b"/>
                  <a:pathLst>
                    <a:path w="114300" h="9525">
                      <a:moveTo>
                        <a:pt x="0" y="0"/>
                      </a:moveTo>
                      <a:lnTo>
                        <a:pt x="114300" y="0"/>
                      </a:lnTo>
                    </a:path>
                  </a:pathLst>
                </a:custGeom>
                <a:noFill/>
                <a:ln w="12700">
                  <a:solidFill>
                    <a:srgbClr val="4E0D00"/>
                  </a:solidFill>
                </a:ln>
              </p:spPr>
            </p:sp>
            <p:sp>
              <p:nvSpPr>
                <p:cNvPr id="346" name="Freeform 346"/>
                <p:cNvSpPr/>
                <p:nvPr/>
              </p:nvSpPr>
              <p:spPr>
                <a:xfrm>
                  <a:off x="4508500" y="4133850"/>
                  <a:ext cx="88900" cy="76200"/>
                </a:xfrm>
                <a:custGeom>
                  <a:avLst/>
                  <a:gdLst/>
                  <a:ahLst/>
                  <a:cxnLst/>
                  <a:rect l="l" t="t" r="r" b="b"/>
                  <a:pathLst>
                    <a:path w="88900" h="76200">
                      <a:moveTo>
                        <a:pt x="0" y="76200"/>
                      </a:moveTo>
                      <a:lnTo>
                        <a:pt x="0" y="0"/>
                      </a:lnTo>
                      <a:lnTo>
                        <a:pt x="31750" y="25400"/>
                      </a:lnTo>
                      <a:lnTo>
                        <a:pt x="31750" y="0"/>
                      </a:lnTo>
                      <a:lnTo>
                        <a:pt x="63500" y="25400"/>
                      </a:lnTo>
                      <a:lnTo>
                        <a:pt x="88900" y="25400"/>
                      </a:lnTo>
                    </a:path>
                  </a:pathLst>
                </a:custGeom>
                <a:noFill/>
                <a:ln w="12700">
                  <a:solidFill>
                    <a:srgbClr val="4E0D00"/>
                  </a:solidFill>
                </a:ln>
              </p:spPr>
            </p:sp>
            <p:sp>
              <p:nvSpPr>
                <p:cNvPr id="347" name="Freeform 347"/>
                <p:cNvSpPr/>
                <p:nvPr/>
              </p:nvSpPr>
              <p:spPr>
                <a:xfrm>
                  <a:off x="4565650" y="4095748"/>
                  <a:ext cx="31750" cy="114302"/>
                </a:xfrm>
                <a:custGeom>
                  <a:avLst/>
                  <a:gdLst/>
                  <a:ahLst/>
                  <a:cxnLst/>
                  <a:rect l="l" t="t" r="r" b="b"/>
                  <a:pathLst>
                    <a:path w="31750" h="114302">
                      <a:moveTo>
                        <a:pt x="31750" y="114302"/>
                      </a:moveTo>
                      <a:lnTo>
                        <a:pt x="31750" y="63502"/>
                      </a:lnTo>
                      <a:lnTo>
                        <a:pt x="22631" y="2707"/>
                      </a:lnTo>
                      <a:cubicBezTo>
                        <a:pt x="22399" y="1152"/>
                        <a:pt x="21061" y="1"/>
                        <a:pt x="19488" y="2"/>
                      </a:cubicBezTo>
                      <a:lnTo>
                        <a:pt x="12217" y="2"/>
                      </a:lnTo>
                      <a:cubicBezTo>
                        <a:pt x="10663" y="0"/>
                        <a:pt x="9335" y="1123"/>
                        <a:pt x="9081" y="2657"/>
                      </a:cubicBezTo>
                      <a:lnTo>
                        <a:pt x="0" y="57152"/>
                      </a:lnTo>
                    </a:path>
                  </a:pathLst>
                </a:custGeom>
                <a:noFill/>
                <a:ln w="12700">
                  <a:solidFill>
                    <a:srgbClr val="4E0D00"/>
                  </a:solidFill>
                </a:ln>
              </p:spPr>
            </p:sp>
            <p:sp>
              <p:nvSpPr>
                <p:cNvPr id="348" name="Freeform 348"/>
                <p:cNvSpPr/>
                <p:nvPr/>
              </p:nvSpPr>
              <p:spPr>
                <a:xfrm>
                  <a:off x="4533900" y="4184650"/>
                  <a:ext cx="9525" cy="9525"/>
                </a:xfrm>
                <a:custGeom>
                  <a:avLst/>
                  <a:gdLst/>
                  <a:ahLst/>
                  <a:cxnLst/>
                  <a:rect l="l" t="t" r="r" b="b"/>
                  <a:pathLst>
                    <a:path w="9525" h="9525">
                      <a:moveTo>
                        <a:pt x="0" y="0"/>
                      </a:moveTo>
                      <a:lnTo>
                        <a:pt x="6350" y="0"/>
                      </a:lnTo>
                    </a:path>
                  </a:pathLst>
                </a:custGeom>
                <a:noFill/>
                <a:ln w="12700">
                  <a:solidFill>
                    <a:srgbClr val="4E0D00"/>
                  </a:solidFill>
                </a:ln>
              </p:spPr>
            </p:sp>
            <p:sp>
              <p:nvSpPr>
                <p:cNvPr id="349" name="Freeform 349"/>
                <p:cNvSpPr/>
                <p:nvPr/>
              </p:nvSpPr>
              <p:spPr>
                <a:xfrm>
                  <a:off x="4565650" y="4184650"/>
                  <a:ext cx="9525" cy="9525"/>
                </a:xfrm>
                <a:custGeom>
                  <a:avLst/>
                  <a:gdLst/>
                  <a:ahLst/>
                  <a:cxnLst/>
                  <a:rect l="l" t="t" r="r" b="b"/>
                  <a:pathLst>
                    <a:path w="9525" h="9525">
                      <a:moveTo>
                        <a:pt x="0" y="0"/>
                      </a:moveTo>
                      <a:lnTo>
                        <a:pt x="6350" y="0"/>
                      </a:lnTo>
                    </a:path>
                  </a:pathLst>
                </a:custGeom>
                <a:noFill/>
                <a:ln w="12700">
                  <a:solidFill>
                    <a:srgbClr val="4E0D00"/>
                  </a:solidFill>
                </a:ln>
              </p:spPr>
            </p:sp>
          </p:grpSp>
          <p:sp>
            <p:nvSpPr>
              <p:cNvPr id="351" name="TextBox 351"/>
              <p:cNvSpPr txBox="1"/>
              <p:nvPr/>
            </p:nvSpPr>
            <p:spPr>
              <a:xfrm>
                <a:off x="4452607" y="432363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生产</a:t>
                </a:r>
              </a:p>
            </p:txBody>
          </p:sp>
          <p:sp>
            <p:nvSpPr>
              <p:cNvPr id="352" name="TextBox 352"/>
              <p:cNvSpPr txBox="1"/>
              <p:nvPr/>
            </p:nvSpPr>
            <p:spPr>
              <a:xfrm>
                <a:off x="5100638" y="4207907"/>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设备利用率低，良率波动大</a:t>
                </a:r>
              </a:p>
            </p:txBody>
          </p:sp>
          <p:sp>
            <p:nvSpPr>
              <p:cNvPr id="353" name="TextBox 353"/>
              <p:cNvSpPr txBox="1"/>
              <p:nvPr/>
            </p:nvSpPr>
            <p:spPr>
              <a:xfrm>
                <a:off x="7386638" y="4207907"/>
                <a:ext cx="1384132"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精益生产｜设备OEE提升｜质量控制</a:t>
                </a:r>
              </a:p>
            </p:txBody>
          </p:sp>
          <p:sp>
            <p:nvSpPr>
              <p:cNvPr id="354" name="TextBox 354"/>
              <p:cNvSpPr txBox="1"/>
              <p:nvPr/>
            </p:nvSpPr>
            <p:spPr>
              <a:xfrm>
                <a:off x="9482138" y="4207907"/>
                <a:ext cx="99171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降本增效5–8%，提升良率</a:t>
                </a:r>
              </a:p>
            </p:txBody>
          </p:sp>
          <p:sp>
            <p:nvSpPr>
              <p:cNvPr id="355" name="TextBox 355"/>
              <p:cNvSpPr txBox="1"/>
              <p:nvPr/>
            </p:nvSpPr>
            <p:spPr>
              <a:xfrm>
                <a:off x="11339258" y="4203859"/>
                <a:ext cx="467233"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生产负责人</a:t>
                </a:r>
              </a:p>
            </p:txBody>
          </p:sp>
        </p:grpSp>
        <p:grpSp>
          <p:nvGrpSpPr>
            <p:cNvPr id="368" name="tr-supply"/>
            <p:cNvGrpSpPr/>
            <p:nvPr/>
          </p:nvGrpSpPr>
          <p:grpSpPr>
            <a:xfrm>
              <a:off x="4114800" y="4457700"/>
              <a:ext cx="7848600" cy="444580"/>
              <a:chOff x="4114800" y="4457700"/>
              <a:chExt cx="7848600" cy="444580"/>
            </a:xfrm>
          </p:grpSpPr>
          <p:sp>
            <p:nvSpPr>
              <p:cNvPr id="357" name="Rectangle 357"/>
              <p:cNvSpPr/>
              <p:nvPr/>
            </p:nvSpPr>
            <p:spPr>
              <a:xfrm>
                <a:off x="4114800" y="4457700"/>
                <a:ext cx="7848600" cy="438150"/>
              </a:xfrm>
              <a:prstGeom prst="rect">
                <a:avLst/>
              </a:prstGeom>
              <a:solidFill>
                <a:srgbClr val="F7F9FC"/>
              </a:solidFill>
              <a:ln w="9525">
                <a:solidFill>
                  <a:srgbClr val="E2E8F2"/>
                </a:solidFill>
              </a:ln>
            </p:spPr>
          </p:sp>
          <p:sp>
            <p:nvSpPr>
              <p:cNvPr id="358" name="Rectangle 358"/>
              <p:cNvSpPr/>
              <p:nvPr/>
            </p:nvSpPr>
            <p:spPr>
              <a:xfrm>
                <a:off x="4114800" y="4457700"/>
                <a:ext cx="876300" cy="438150"/>
              </a:xfrm>
              <a:prstGeom prst="rect">
                <a:avLst/>
              </a:prstGeom>
              <a:solidFill>
                <a:srgbClr val="EFF3FA"/>
              </a:solidFill>
              <a:ln>
                <a:noFill/>
              </a:ln>
            </p:spPr>
          </p:sp>
          <p:grpSp>
            <p:nvGrpSpPr>
              <p:cNvPr id="362" name="Group 362"/>
              <p:cNvGrpSpPr/>
              <p:nvPr/>
            </p:nvGrpSpPr>
            <p:grpSpPr>
              <a:xfrm>
                <a:off x="4495800" y="4546600"/>
                <a:ext cx="114300" cy="88900"/>
                <a:chOff x="4495800" y="4546600"/>
                <a:chExt cx="114300" cy="88900"/>
              </a:xfrm>
            </p:grpSpPr>
            <p:sp>
              <p:nvSpPr>
                <p:cNvPr id="359" name="Freeform 359"/>
                <p:cNvSpPr/>
                <p:nvPr/>
              </p:nvSpPr>
              <p:spPr>
                <a:xfrm>
                  <a:off x="4508500" y="4610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360" name="Freeform 360"/>
                <p:cNvSpPr/>
                <p:nvPr/>
              </p:nvSpPr>
              <p:spPr>
                <a:xfrm>
                  <a:off x="4572000" y="4610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361" name="Freeform 361"/>
                <p:cNvSpPr/>
                <p:nvPr/>
              </p:nvSpPr>
              <p:spPr>
                <a:xfrm>
                  <a:off x="4495800" y="4546600"/>
                  <a:ext cx="114300" cy="76200"/>
                </a:xfrm>
                <a:custGeom>
                  <a:avLst/>
                  <a:gdLst/>
                  <a:ahLst/>
                  <a:cxnLst/>
                  <a:rect l="l" t="t" r="r" b="b"/>
                  <a:pathLst>
                    <a:path w="114300" h="76200">
                      <a:moveTo>
                        <a:pt x="12700" y="76200"/>
                      </a:moveTo>
                      <a:lnTo>
                        <a:pt x="0" y="76200"/>
                      </a:lnTo>
                      <a:lnTo>
                        <a:pt x="0" y="6350"/>
                      </a:lnTo>
                      <a:cubicBezTo>
                        <a:pt x="0" y="2843"/>
                        <a:pt x="2843" y="0"/>
                        <a:pt x="6350" y="0"/>
                      </a:cubicBezTo>
                      <a:lnTo>
                        <a:pt x="63500" y="0"/>
                      </a:lnTo>
                      <a:lnTo>
                        <a:pt x="63500" y="76200"/>
                      </a:lnTo>
                      <a:moveTo>
                        <a:pt x="38100" y="76200"/>
                      </a:moveTo>
                      <a:lnTo>
                        <a:pt x="76200" y="76200"/>
                      </a:lnTo>
                      <a:moveTo>
                        <a:pt x="101600" y="76200"/>
                      </a:moveTo>
                      <a:lnTo>
                        <a:pt x="114300" y="76200"/>
                      </a:lnTo>
                      <a:lnTo>
                        <a:pt x="114300" y="38100"/>
                      </a:lnTo>
                      <a:lnTo>
                        <a:pt x="63500" y="38100"/>
                      </a:lnTo>
                      <a:moveTo>
                        <a:pt x="63500" y="6350"/>
                      </a:moveTo>
                      <a:lnTo>
                        <a:pt x="95250" y="6350"/>
                      </a:lnTo>
                      <a:lnTo>
                        <a:pt x="114300" y="38100"/>
                      </a:lnTo>
                    </a:path>
                  </a:pathLst>
                </a:custGeom>
                <a:noFill/>
                <a:ln w="12700">
                  <a:solidFill>
                    <a:srgbClr val="4E0D00"/>
                  </a:solidFill>
                </a:ln>
              </p:spPr>
            </p:sp>
          </p:grpSp>
          <p:sp>
            <p:nvSpPr>
              <p:cNvPr id="363" name="TextBox 363"/>
              <p:cNvSpPr txBox="1"/>
              <p:nvPr/>
            </p:nvSpPr>
            <p:spPr>
              <a:xfrm>
                <a:off x="4404817" y="4761786"/>
                <a:ext cx="296266"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供应链</a:t>
                </a:r>
              </a:p>
            </p:txBody>
          </p:sp>
          <p:sp>
            <p:nvSpPr>
              <p:cNvPr id="364" name="TextBox 364"/>
              <p:cNvSpPr txBox="1"/>
              <p:nvPr/>
            </p:nvSpPr>
            <p:spPr>
              <a:xfrm>
                <a:off x="5100638" y="4646057"/>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库存周转慢，需求预测不准</a:t>
                </a:r>
              </a:p>
            </p:txBody>
          </p:sp>
          <p:sp>
            <p:nvSpPr>
              <p:cNvPr id="365" name="TextBox 365"/>
              <p:cNvSpPr txBox="1"/>
              <p:nvPr/>
            </p:nvSpPr>
            <p:spPr>
              <a:xfrm>
                <a:off x="7386638" y="4646057"/>
                <a:ext cx="138803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需求预测｜库存优化｜端到端可视化</a:t>
                </a:r>
              </a:p>
            </p:txBody>
          </p:sp>
          <p:sp>
            <p:nvSpPr>
              <p:cNvPr id="366" name="TextBox 366"/>
              <p:cNvSpPr txBox="1"/>
              <p:nvPr/>
            </p:nvSpPr>
            <p:spPr>
              <a:xfrm>
                <a:off x="9482138" y="4646057"/>
                <a:ext cx="1172642"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降低库存20–30%，提升周转率</a:t>
                </a:r>
              </a:p>
            </p:txBody>
          </p:sp>
          <p:sp>
            <p:nvSpPr>
              <p:cNvPr id="367" name="TextBox 367"/>
              <p:cNvSpPr txBox="1"/>
              <p:nvPr/>
            </p:nvSpPr>
            <p:spPr>
              <a:xfrm>
                <a:off x="11293488" y="4642009"/>
                <a:ext cx="558775"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供应链负责人</a:t>
                </a:r>
              </a:p>
            </p:txBody>
          </p:sp>
        </p:grpSp>
        <p:grpSp>
          <p:nvGrpSpPr>
            <p:cNvPr id="380" name="tr-mkt"/>
            <p:cNvGrpSpPr/>
            <p:nvPr/>
          </p:nvGrpSpPr>
          <p:grpSpPr>
            <a:xfrm>
              <a:off x="4114800" y="4895850"/>
              <a:ext cx="7848600" cy="444580"/>
              <a:chOff x="4114800" y="4895850"/>
              <a:chExt cx="7848600" cy="444580"/>
            </a:xfrm>
          </p:grpSpPr>
          <p:sp>
            <p:nvSpPr>
              <p:cNvPr id="369" name="Rectangle 369"/>
              <p:cNvSpPr/>
              <p:nvPr/>
            </p:nvSpPr>
            <p:spPr>
              <a:xfrm>
                <a:off x="4114800" y="4895850"/>
                <a:ext cx="7848600" cy="438150"/>
              </a:xfrm>
              <a:prstGeom prst="rect">
                <a:avLst/>
              </a:prstGeom>
              <a:solidFill>
                <a:srgbClr val="FFFFFF"/>
              </a:solidFill>
              <a:ln w="9525">
                <a:solidFill>
                  <a:srgbClr val="E2E8F2"/>
                </a:solidFill>
              </a:ln>
            </p:spPr>
          </p:sp>
          <p:sp>
            <p:nvSpPr>
              <p:cNvPr id="370" name="Rectangle 370"/>
              <p:cNvSpPr/>
              <p:nvPr/>
            </p:nvSpPr>
            <p:spPr>
              <a:xfrm>
                <a:off x="4114800" y="4895850"/>
                <a:ext cx="876300" cy="438150"/>
              </a:xfrm>
              <a:prstGeom prst="rect">
                <a:avLst/>
              </a:prstGeom>
              <a:solidFill>
                <a:srgbClr val="EFF3FA"/>
              </a:solidFill>
              <a:ln>
                <a:noFill/>
              </a:ln>
            </p:spPr>
          </p:sp>
          <p:grpSp>
            <p:nvGrpSpPr>
              <p:cNvPr id="374" name="Group 374"/>
              <p:cNvGrpSpPr/>
              <p:nvPr/>
            </p:nvGrpSpPr>
            <p:grpSpPr>
              <a:xfrm>
                <a:off x="4495800" y="4978136"/>
                <a:ext cx="114300" cy="101864"/>
                <a:chOff x="4495800" y="4978136"/>
                <a:chExt cx="114300" cy="101864"/>
              </a:xfrm>
            </p:grpSpPr>
            <p:sp>
              <p:nvSpPr>
                <p:cNvPr id="371" name="Freeform 371"/>
                <p:cNvSpPr/>
                <p:nvPr/>
              </p:nvSpPr>
              <p:spPr>
                <a:xfrm>
                  <a:off x="4591050" y="5003800"/>
                  <a:ext cx="19050" cy="38100"/>
                </a:xfrm>
                <a:custGeom>
                  <a:avLst/>
                  <a:gdLst/>
                  <a:ahLst/>
                  <a:cxnLst/>
                  <a:rect l="l" t="t" r="r" b="b"/>
                  <a:pathLst>
                    <a:path w="19050" h="38100">
                      <a:moveTo>
                        <a:pt x="0" y="0"/>
                      </a:moveTo>
                      <a:cubicBezTo>
                        <a:pt x="10521" y="0"/>
                        <a:pt x="19050" y="8529"/>
                        <a:pt x="19050" y="19050"/>
                      </a:cubicBezTo>
                      <a:cubicBezTo>
                        <a:pt x="19050" y="29571"/>
                        <a:pt x="10521" y="38100"/>
                        <a:pt x="0" y="38100"/>
                      </a:cubicBezTo>
                    </a:path>
                  </a:pathLst>
                </a:custGeom>
                <a:noFill/>
                <a:ln w="12700">
                  <a:solidFill>
                    <a:srgbClr val="4E0D00"/>
                  </a:solidFill>
                </a:ln>
              </p:spPr>
            </p:sp>
            <p:sp>
              <p:nvSpPr>
                <p:cNvPr id="372" name="Freeform 372"/>
                <p:cNvSpPr/>
                <p:nvPr/>
              </p:nvSpPr>
              <p:spPr>
                <a:xfrm>
                  <a:off x="4521200" y="5003800"/>
                  <a:ext cx="19050" cy="76200"/>
                </a:xfrm>
                <a:custGeom>
                  <a:avLst/>
                  <a:gdLst/>
                  <a:ahLst/>
                  <a:cxnLst/>
                  <a:rect l="l" t="t" r="r" b="b"/>
                  <a:pathLst>
                    <a:path w="19050" h="76200">
                      <a:moveTo>
                        <a:pt x="19050" y="0"/>
                      </a:moveTo>
                      <a:lnTo>
                        <a:pt x="19050" y="69850"/>
                      </a:lnTo>
                      <a:cubicBezTo>
                        <a:pt x="19050" y="73357"/>
                        <a:pt x="16207" y="76200"/>
                        <a:pt x="12700" y="76200"/>
                      </a:cubicBezTo>
                      <a:lnTo>
                        <a:pt x="6350" y="76200"/>
                      </a:lnTo>
                      <a:cubicBezTo>
                        <a:pt x="2843" y="76200"/>
                        <a:pt x="0" y="73357"/>
                        <a:pt x="0" y="69850"/>
                      </a:cubicBezTo>
                      <a:lnTo>
                        <a:pt x="0" y="38100"/>
                      </a:lnTo>
                    </a:path>
                  </a:pathLst>
                </a:custGeom>
                <a:noFill/>
                <a:ln w="12700">
                  <a:solidFill>
                    <a:srgbClr val="4E0D00"/>
                  </a:solidFill>
                </a:ln>
              </p:spPr>
            </p:sp>
            <p:sp>
              <p:nvSpPr>
                <p:cNvPr id="373" name="Freeform 373"/>
                <p:cNvSpPr/>
                <p:nvPr/>
              </p:nvSpPr>
              <p:spPr>
                <a:xfrm>
                  <a:off x="4495800" y="4978136"/>
                  <a:ext cx="95251" cy="89428"/>
                </a:xfrm>
                <a:custGeom>
                  <a:avLst/>
                  <a:gdLst/>
                  <a:ahLst/>
                  <a:cxnLst/>
                  <a:rect l="l" t="t" r="r" b="b"/>
                  <a:pathLst>
                    <a:path w="95251" h="89428">
                      <a:moveTo>
                        <a:pt x="57150" y="25664"/>
                      </a:moveTo>
                      <a:lnTo>
                        <a:pt x="85877" y="1725"/>
                      </a:lnTo>
                      <a:cubicBezTo>
                        <a:pt x="87582" y="305"/>
                        <a:pt x="89953" y="0"/>
                        <a:pt x="91961" y="941"/>
                      </a:cubicBezTo>
                      <a:cubicBezTo>
                        <a:pt x="93969" y="1883"/>
                        <a:pt x="95251" y="3901"/>
                        <a:pt x="95250" y="6119"/>
                      </a:cubicBezTo>
                      <a:lnTo>
                        <a:pt x="95250" y="83310"/>
                      </a:lnTo>
                      <a:cubicBezTo>
                        <a:pt x="95251" y="85527"/>
                        <a:pt x="93969" y="87546"/>
                        <a:pt x="91961" y="88487"/>
                      </a:cubicBezTo>
                      <a:cubicBezTo>
                        <a:pt x="89953" y="89428"/>
                        <a:pt x="87582" y="89123"/>
                        <a:pt x="85877" y="87704"/>
                      </a:cubicBezTo>
                      <a:lnTo>
                        <a:pt x="57150" y="63764"/>
                      </a:lnTo>
                      <a:lnTo>
                        <a:pt x="6350" y="63764"/>
                      </a:lnTo>
                      <a:cubicBezTo>
                        <a:pt x="2843" y="63764"/>
                        <a:pt x="0" y="60921"/>
                        <a:pt x="0" y="57414"/>
                      </a:cubicBezTo>
                      <a:lnTo>
                        <a:pt x="0" y="32014"/>
                      </a:lnTo>
                      <a:cubicBezTo>
                        <a:pt x="0" y="28507"/>
                        <a:pt x="2843" y="25664"/>
                        <a:pt x="6350" y="25664"/>
                      </a:cubicBezTo>
                      <a:lnTo>
                        <a:pt x="57150" y="25664"/>
                      </a:lnTo>
                    </a:path>
                  </a:pathLst>
                </a:custGeom>
                <a:noFill/>
                <a:ln w="12700">
                  <a:solidFill>
                    <a:srgbClr val="4E0D00"/>
                  </a:solidFill>
                </a:ln>
              </p:spPr>
            </p:sp>
          </p:grpSp>
          <p:sp>
            <p:nvSpPr>
              <p:cNvPr id="375" name="TextBox 375"/>
              <p:cNvSpPr txBox="1"/>
              <p:nvPr/>
            </p:nvSpPr>
            <p:spPr>
              <a:xfrm>
                <a:off x="4452607" y="519993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营销</a:t>
                </a:r>
              </a:p>
            </p:txBody>
          </p:sp>
          <p:sp>
            <p:nvSpPr>
              <p:cNvPr id="376" name="TextBox 376"/>
              <p:cNvSpPr txBox="1"/>
              <p:nvPr/>
            </p:nvSpPr>
            <p:spPr>
              <a:xfrm>
                <a:off x="5100638" y="5084207"/>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投放效率低，品牌影响弱</a:t>
                </a:r>
              </a:p>
            </p:txBody>
          </p:sp>
          <p:sp>
            <p:nvSpPr>
              <p:cNvPr id="377" name="TextBox 377"/>
              <p:cNvSpPr txBox="1"/>
              <p:nvPr/>
            </p:nvSpPr>
            <p:spPr>
              <a:xfrm>
                <a:off x="7386638" y="5084207"/>
                <a:ext cx="121572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人群细分｜内容优化｜全域整合</a:t>
                </a:r>
              </a:p>
            </p:txBody>
          </p:sp>
          <p:sp>
            <p:nvSpPr>
              <p:cNvPr id="378" name="TextBox 378"/>
              <p:cNvSpPr txBox="1"/>
              <p:nvPr/>
            </p:nvSpPr>
            <p:spPr>
              <a:xfrm>
                <a:off x="9482138" y="5084207"/>
                <a:ext cx="895802"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提升营销ROI 20–30%​</a:t>
                </a:r>
              </a:p>
            </p:txBody>
          </p:sp>
          <p:sp>
            <p:nvSpPr>
              <p:cNvPr id="379" name="TextBox 379"/>
              <p:cNvSpPr txBox="1"/>
              <p:nvPr/>
            </p:nvSpPr>
            <p:spPr>
              <a:xfrm>
                <a:off x="11339258" y="5080159"/>
                <a:ext cx="467233"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营销负责人</a:t>
                </a:r>
              </a:p>
            </p:txBody>
          </p:sp>
        </p:grpSp>
        <p:grpSp>
          <p:nvGrpSpPr>
            <p:cNvPr id="393" name="tr-sales"/>
            <p:cNvGrpSpPr/>
            <p:nvPr/>
          </p:nvGrpSpPr>
          <p:grpSpPr>
            <a:xfrm>
              <a:off x="4114800" y="5334000"/>
              <a:ext cx="7848600" cy="444580"/>
              <a:chOff x="4114800" y="5334000"/>
              <a:chExt cx="7848600" cy="444580"/>
            </a:xfrm>
          </p:grpSpPr>
          <p:sp>
            <p:nvSpPr>
              <p:cNvPr id="381" name="Rectangle 381"/>
              <p:cNvSpPr/>
              <p:nvPr/>
            </p:nvSpPr>
            <p:spPr>
              <a:xfrm>
                <a:off x="4114800" y="5334000"/>
                <a:ext cx="7848600" cy="438150"/>
              </a:xfrm>
              <a:prstGeom prst="rect">
                <a:avLst/>
              </a:prstGeom>
              <a:solidFill>
                <a:srgbClr val="F7F9FC"/>
              </a:solidFill>
              <a:ln w="9525">
                <a:solidFill>
                  <a:srgbClr val="E2E8F2"/>
                </a:solidFill>
              </a:ln>
            </p:spPr>
          </p:sp>
          <p:sp>
            <p:nvSpPr>
              <p:cNvPr id="382" name="Rectangle 382"/>
              <p:cNvSpPr/>
              <p:nvPr/>
            </p:nvSpPr>
            <p:spPr>
              <a:xfrm>
                <a:off x="4114800" y="5334000"/>
                <a:ext cx="876300" cy="438150"/>
              </a:xfrm>
              <a:prstGeom prst="rect">
                <a:avLst/>
              </a:prstGeom>
              <a:solidFill>
                <a:srgbClr val="EFF3FA"/>
              </a:solidFill>
              <a:ln>
                <a:noFill/>
              </a:ln>
            </p:spPr>
          </p:sp>
          <p:grpSp>
            <p:nvGrpSpPr>
              <p:cNvPr id="387" name="Group 387"/>
              <p:cNvGrpSpPr/>
              <p:nvPr/>
            </p:nvGrpSpPr>
            <p:grpSpPr>
              <a:xfrm>
                <a:off x="4495800" y="5416550"/>
                <a:ext cx="114300" cy="111125"/>
                <a:chOff x="4495800" y="5416550"/>
                <a:chExt cx="114300" cy="111125"/>
              </a:xfrm>
            </p:grpSpPr>
            <p:sp>
              <p:nvSpPr>
                <p:cNvPr id="383" name="Freeform 383"/>
                <p:cNvSpPr/>
                <p:nvPr/>
              </p:nvSpPr>
              <p:spPr>
                <a:xfrm>
                  <a:off x="4495800" y="546735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4E0D00"/>
                  </a:solidFill>
                </a:ln>
              </p:spPr>
            </p:sp>
            <p:sp>
              <p:nvSpPr>
                <p:cNvPr id="384" name="Freeform 384"/>
                <p:cNvSpPr/>
                <p:nvPr/>
              </p:nvSpPr>
              <p:spPr>
                <a:xfrm>
                  <a:off x="4572000" y="544195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4E0D00"/>
                  </a:solidFill>
                </a:ln>
              </p:spPr>
            </p:sp>
            <p:sp>
              <p:nvSpPr>
                <p:cNvPr id="385" name="Freeform 385"/>
                <p:cNvSpPr/>
                <p:nvPr/>
              </p:nvSpPr>
              <p:spPr>
                <a:xfrm>
                  <a:off x="4533900" y="541655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4E0D00"/>
                  </a:solidFill>
                </a:ln>
              </p:spPr>
            </p:sp>
            <p:sp>
              <p:nvSpPr>
                <p:cNvPr id="386" name="Freeform 386"/>
                <p:cNvSpPr/>
                <p:nvPr/>
              </p:nvSpPr>
              <p:spPr>
                <a:xfrm>
                  <a:off x="4502150" y="5518150"/>
                  <a:ext cx="88900" cy="9525"/>
                </a:xfrm>
                <a:custGeom>
                  <a:avLst/>
                  <a:gdLst/>
                  <a:ahLst/>
                  <a:cxnLst/>
                  <a:rect l="l" t="t" r="r" b="b"/>
                  <a:pathLst>
                    <a:path w="88900" h="9525">
                      <a:moveTo>
                        <a:pt x="0" y="0"/>
                      </a:moveTo>
                      <a:lnTo>
                        <a:pt x="88900" y="0"/>
                      </a:lnTo>
                    </a:path>
                  </a:pathLst>
                </a:custGeom>
                <a:noFill/>
                <a:ln w="12700">
                  <a:solidFill>
                    <a:srgbClr val="4E0D00"/>
                  </a:solidFill>
                </a:ln>
              </p:spPr>
            </p:sp>
          </p:grpSp>
          <p:sp>
            <p:nvSpPr>
              <p:cNvPr id="388" name="TextBox 388"/>
              <p:cNvSpPr txBox="1"/>
              <p:nvPr/>
            </p:nvSpPr>
            <p:spPr>
              <a:xfrm>
                <a:off x="4452607" y="56380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销售</a:t>
                </a:r>
              </a:p>
            </p:txBody>
          </p:sp>
          <p:sp>
            <p:nvSpPr>
              <p:cNvPr id="389" name="TextBox 389"/>
              <p:cNvSpPr txBox="1"/>
              <p:nvPr/>
            </p:nvSpPr>
            <p:spPr>
              <a:xfrm>
                <a:off x="5100638" y="5522357"/>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线索转化低，赢单率不高</a:t>
                </a:r>
              </a:p>
            </p:txBody>
          </p:sp>
          <p:sp>
            <p:nvSpPr>
              <p:cNvPr id="390" name="TextBox 390"/>
              <p:cNvSpPr txBox="1"/>
              <p:nvPr/>
            </p:nvSpPr>
            <p:spPr>
              <a:xfrm>
                <a:off x="7386638" y="5522357"/>
                <a:ext cx="138803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销售流程优化｜赋能培训｜客户分层</a:t>
                </a:r>
              </a:p>
            </p:txBody>
          </p:sp>
          <p:sp>
            <p:nvSpPr>
              <p:cNvPr id="391" name="TextBox 391"/>
              <p:cNvSpPr txBox="1"/>
              <p:nvPr/>
            </p:nvSpPr>
            <p:spPr>
              <a:xfrm>
                <a:off x="9482138" y="5522357"/>
                <a:ext cx="125879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提升转化率10–15%，提高客单价</a:t>
                </a:r>
              </a:p>
            </p:txBody>
          </p:sp>
          <p:sp>
            <p:nvSpPr>
              <p:cNvPr id="392" name="TextBox 392"/>
              <p:cNvSpPr txBox="1"/>
              <p:nvPr/>
            </p:nvSpPr>
            <p:spPr>
              <a:xfrm>
                <a:off x="11339258" y="5518309"/>
                <a:ext cx="467233"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销售负责人</a:t>
                </a:r>
              </a:p>
            </p:txBody>
          </p:sp>
        </p:grpSp>
        <p:grpSp>
          <p:nvGrpSpPr>
            <p:cNvPr id="406" name="tr-deliver"/>
            <p:cNvGrpSpPr/>
            <p:nvPr/>
          </p:nvGrpSpPr>
          <p:grpSpPr>
            <a:xfrm>
              <a:off x="4114800" y="5772150"/>
              <a:ext cx="7848600" cy="444580"/>
              <a:chOff x="4114800" y="5772150"/>
              <a:chExt cx="7848600" cy="444580"/>
            </a:xfrm>
          </p:grpSpPr>
          <p:sp>
            <p:nvSpPr>
              <p:cNvPr id="394" name="Rectangle 394"/>
              <p:cNvSpPr/>
              <p:nvPr/>
            </p:nvSpPr>
            <p:spPr>
              <a:xfrm>
                <a:off x="4114800" y="5772150"/>
                <a:ext cx="7848600" cy="438150"/>
              </a:xfrm>
              <a:prstGeom prst="rect">
                <a:avLst/>
              </a:prstGeom>
              <a:solidFill>
                <a:srgbClr val="FFFFFF"/>
              </a:solidFill>
              <a:ln w="9525">
                <a:solidFill>
                  <a:srgbClr val="E2E8F2"/>
                </a:solidFill>
              </a:ln>
            </p:spPr>
          </p:sp>
          <p:sp>
            <p:nvSpPr>
              <p:cNvPr id="395" name="Rectangle 395"/>
              <p:cNvSpPr/>
              <p:nvPr/>
            </p:nvSpPr>
            <p:spPr>
              <a:xfrm>
                <a:off x="4114800" y="5772150"/>
                <a:ext cx="876300" cy="438150"/>
              </a:xfrm>
              <a:prstGeom prst="rect">
                <a:avLst/>
              </a:prstGeom>
              <a:solidFill>
                <a:srgbClr val="EFF3FA"/>
              </a:solidFill>
              <a:ln>
                <a:noFill/>
              </a:ln>
            </p:spPr>
          </p:sp>
          <p:grpSp>
            <p:nvGrpSpPr>
              <p:cNvPr id="400" name="Group 400"/>
              <p:cNvGrpSpPr/>
              <p:nvPr/>
            </p:nvGrpSpPr>
            <p:grpSpPr>
              <a:xfrm>
                <a:off x="4502150" y="5848350"/>
                <a:ext cx="101600" cy="114300"/>
                <a:chOff x="4502150" y="5848350"/>
                <a:chExt cx="101600" cy="114300"/>
              </a:xfrm>
            </p:grpSpPr>
            <p:sp>
              <p:nvSpPr>
                <p:cNvPr id="396" name="Freeform 396"/>
                <p:cNvSpPr/>
                <p:nvPr/>
              </p:nvSpPr>
              <p:spPr>
                <a:xfrm>
                  <a:off x="4502150" y="5848350"/>
                  <a:ext cx="101600" cy="114300"/>
                </a:xfrm>
                <a:custGeom>
                  <a:avLst/>
                  <a:gdLst/>
                  <a:ahLst/>
                  <a:cxnLst/>
                  <a:rect l="l" t="t" r="r" b="b"/>
                  <a:pathLst>
                    <a:path w="101600" h="114300">
                      <a:moveTo>
                        <a:pt x="50800" y="0"/>
                      </a:moveTo>
                      <a:lnTo>
                        <a:pt x="101600" y="28575"/>
                      </a:lnTo>
                      <a:lnTo>
                        <a:pt x="101600" y="85725"/>
                      </a:lnTo>
                      <a:lnTo>
                        <a:pt x="50800" y="114300"/>
                      </a:lnTo>
                      <a:lnTo>
                        <a:pt x="0" y="85725"/>
                      </a:lnTo>
                      <a:lnTo>
                        <a:pt x="0" y="28575"/>
                      </a:lnTo>
                      <a:lnTo>
                        <a:pt x="50800" y="0"/>
                      </a:lnTo>
                    </a:path>
                  </a:pathLst>
                </a:custGeom>
                <a:noFill/>
                <a:ln w="12700">
                  <a:solidFill>
                    <a:srgbClr val="4E0D00"/>
                  </a:solidFill>
                </a:ln>
              </p:spPr>
            </p:sp>
            <p:sp>
              <p:nvSpPr>
                <p:cNvPr id="397" name="Freeform 397"/>
                <p:cNvSpPr/>
                <p:nvPr/>
              </p:nvSpPr>
              <p:spPr>
                <a:xfrm>
                  <a:off x="4552950" y="5876925"/>
                  <a:ext cx="50800" cy="28575"/>
                </a:xfrm>
                <a:custGeom>
                  <a:avLst/>
                  <a:gdLst/>
                  <a:ahLst/>
                  <a:cxnLst/>
                  <a:rect l="l" t="t" r="r" b="b"/>
                  <a:pathLst>
                    <a:path w="50800" h="28575">
                      <a:moveTo>
                        <a:pt x="0" y="28575"/>
                      </a:moveTo>
                      <a:lnTo>
                        <a:pt x="50800" y="0"/>
                      </a:lnTo>
                    </a:path>
                  </a:pathLst>
                </a:custGeom>
                <a:noFill/>
                <a:ln w="12700">
                  <a:solidFill>
                    <a:srgbClr val="4E0D00"/>
                  </a:solidFill>
                </a:ln>
              </p:spPr>
            </p:sp>
            <p:sp>
              <p:nvSpPr>
                <p:cNvPr id="398" name="Freeform 398"/>
                <p:cNvSpPr/>
                <p:nvPr/>
              </p:nvSpPr>
              <p:spPr>
                <a:xfrm>
                  <a:off x="4552950" y="5905500"/>
                  <a:ext cx="9525" cy="57150"/>
                </a:xfrm>
                <a:custGeom>
                  <a:avLst/>
                  <a:gdLst/>
                  <a:ahLst/>
                  <a:cxnLst/>
                  <a:rect l="l" t="t" r="r" b="b"/>
                  <a:pathLst>
                    <a:path w="9525" h="57150">
                      <a:moveTo>
                        <a:pt x="0" y="0"/>
                      </a:moveTo>
                      <a:lnTo>
                        <a:pt x="0" y="57150"/>
                      </a:lnTo>
                    </a:path>
                  </a:pathLst>
                </a:custGeom>
                <a:noFill/>
                <a:ln w="12700">
                  <a:solidFill>
                    <a:srgbClr val="4E0D00"/>
                  </a:solidFill>
                </a:ln>
              </p:spPr>
            </p:sp>
            <p:sp>
              <p:nvSpPr>
                <p:cNvPr id="399" name="Freeform 399"/>
                <p:cNvSpPr/>
                <p:nvPr/>
              </p:nvSpPr>
              <p:spPr>
                <a:xfrm>
                  <a:off x="4502150" y="5876925"/>
                  <a:ext cx="50800" cy="28575"/>
                </a:xfrm>
                <a:custGeom>
                  <a:avLst/>
                  <a:gdLst/>
                  <a:ahLst/>
                  <a:cxnLst/>
                  <a:rect l="l" t="t" r="r" b="b"/>
                  <a:pathLst>
                    <a:path w="50800" h="28575">
                      <a:moveTo>
                        <a:pt x="50800" y="28575"/>
                      </a:moveTo>
                      <a:lnTo>
                        <a:pt x="0" y="0"/>
                      </a:lnTo>
                    </a:path>
                  </a:pathLst>
                </a:custGeom>
                <a:noFill/>
                <a:ln w="12700">
                  <a:solidFill>
                    <a:srgbClr val="4E0D00"/>
                  </a:solidFill>
                </a:ln>
              </p:spPr>
            </p:sp>
          </p:grpSp>
          <p:sp>
            <p:nvSpPr>
              <p:cNvPr id="401" name="TextBox 401"/>
              <p:cNvSpPr txBox="1"/>
              <p:nvPr/>
            </p:nvSpPr>
            <p:spPr>
              <a:xfrm>
                <a:off x="4452607" y="607623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交付</a:t>
                </a:r>
              </a:p>
            </p:txBody>
          </p:sp>
          <p:sp>
            <p:nvSpPr>
              <p:cNvPr id="402" name="TextBox 402"/>
              <p:cNvSpPr txBox="1"/>
              <p:nvPr/>
            </p:nvSpPr>
            <p:spPr>
              <a:xfrm>
                <a:off x="5100638" y="5960507"/>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交付周期长，准时率偏低</a:t>
                </a:r>
              </a:p>
            </p:txBody>
          </p:sp>
          <p:sp>
            <p:nvSpPr>
              <p:cNvPr id="403" name="TextBox 403"/>
              <p:cNvSpPr txBox="1"/>
              <p:nvPr/>
            </p:nvSpPr>
            <p:spPr>
              <a:xfrm>
                <a:off x="7386638" y="5960507"/>
                <a:ext cx="130187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计划优化｜资源协同｜交付标准化</a:t>
                </a:r>
              </a:p>
            </p:txBody>
          </p:sp>
          <p:sp>
            <p:nvSpPr>
              <p:cNvPr id="404" name="TextBox 404"/>
              <p:cNvSpPr txBox="1"/>
              <p:nvPr/>
            </p:nvSpPr>
            <p:spPr>
              <a:xfrm>
                <a:off x="9482138" y="5960507"/>
                <a:ext cx="91417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提升准时交付率15–20%</a:t>
                </a:r>
              </a:p>
            </p:txBody>
          </p:sp>
          <p:sp>
            <p:nvSpPr>
              <p:cNvPr id="405" name="TextBox 405"/>
              <p:cNvSpPr txBox="1"/>
              <p:nvPr/>
            </p:nvSpPr>
            <p:spPr>
              <a:xfrm>
                <a:off x="11339258" y="5956459"/>
                <a:ext cx="467233"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交付负责人</a:t>
                </a:r>
              </a:p>
            </p:txBody>
          </p:sp>
        </p:grpSp>
        <p:grpSp>
          <p:nvGrpSpPr>
            <p:cNvPr id="418" name="tr-service"/>
            <p:cNvGrpSpPr/>
            <p:nvPr/>
          </p:nvGrpSpPr>
          <p:grpSpPr>
            <a:xfrm>
              <a:off x="4114800" y="6210300"/>
              <a:ext cx="7848600" cy="444580"/>
              <a:chOff x="4114800" y="6210300"/>
              <a:chExt cx="7848600" cy="444580"/>
            </a:xfrm>
          </p:grpSpPr>
          <p:sp>
            <p:nvSpPr>
              <p:cNvPr id="407" name="Rectangle 407"/>
              <p:cNvSpPr/>
              <p:nvPr/>
            </p:nvSpPr>
            <p:spPr>
              <a:xfrm>
                <a:off x="4114800" y="6210300"/>
                <a:ext cx="7848600" cy="438150"/>
              </a:xfrm>
              <a:prstGeom prst="rect">
                <a:avLst/>
              </a:prstGeom>
              <a:solidFill>
                <a:srgbClr val="F7F9FC"/>
              </a:solidFill>
              <a:ln w="9525">
                <a:solidFill>
                  <a:srgbClr val="E2E8F2"/>
                </a:solidFill>
              </a:ln>
            </p:spPr>
          </p:sp>
          <p:sp>
            <p:nvSpPr>
              <p:cNvPr id="408" name="Rectangle 408"/>
              <p:cNvSpPr/>
              <p:nvPr/>
            </p:nvSpPr>
            <p:spPr>
              <a:xfrm>
                <a:off x="4114800" y="6210300"/>
                <a:ext cx="876300" cy="438150"/>
              </a:xfrm>
              <a:prstGeom prst="rect">
                <a:avLst/>
              </a:prstGeom>
              <a:solidFill>
                <a:srgbClr val="EFF3FA"/>
              </a:solidFill>
              <a:ln>
                <a:noFill/>
              </a:ln>
            </p:spPr>
          </p:sp>
          <p:grpSp>
            <p:nvGrpSpPr>
              <p:cNvPr id="412" name="Group 412"/>
              <p:cNvGrpSpPr/>
              <p:nvPr/>
            </p:nvGrpSpPr>
            <p:grpSpPr>
              <a:xfrm>
                <a:off x="4502150" y="6292850"/>
                <a:ext cx="101600" cy="101600"/>
                <a:chOff x="4502150" y="6292850"/>
                <a:chExt cx="101600" cy="101600"/>
              </a:xfrm>
            </p:grpSpPr>
            <p:sp>
              <p:nvSpPr>
                <p:cNvPr id="409" name="Freeform 409"/>
                <p:cNvSpPr/>
                <p:nvPr/>
              </p:nvSpPr>
              <p:spPr>
                <a:xfrm>
                  <a:off x="4502150" y="6350000"/>
                  <a:ext cx="31750" cy="44450"/>
                </a:xfrm>
                <a:custGeom>
                  <a:avLst/>
                  <a:gdLst/>
                  <a:ahLst/>
                  <a:cxnLst/>
                  <a:rect l="l" t="t" r="r" b="b"/>
                  <a:pathLst>
                    <a:path w="31750" h="44450">
                      <a:moveTo>
                        <a:pt x="0" y="12700"/>
                      </a:moveTo>
                      <a:cubicBezTo>
                        <a:pt x="0" y="5686"/>
                        <a:pt x="5686" y="0"/>
                        <a:pt x="12700" y="0"/>
                      </a:cubicBezTo>
                      <a:lnTo>
                        <a:pt x="19050" y="0"/>
                      </a:lnTo>
                      <a:cubicBezTo>
                        <a:pt x="26064" y="0"/>
                        <a:pt x="31750" y="5686"/>
                        <a:pt x="31750" y="12700"/>
                      </a:cubicBezTo>
                      <a:lnTo>
                        <a:pt x="31750" y="31750"/>
                      </a:lnTo>
                      <a:cubicBezTo>
                        <a:pt x="31750" y="38764"/>
                        <a:pt x="26064" y="44450"/>
                        <a:pt x="19050" y="44450"/>
                      </a:cubicBezTo>
                      <a:lnTo>
                        <a:pt x="12700" y="44450"/>
                      </a:lnTo>
                      <a:cubicBezTo>
                        <a:pt x="5686" y="44450"/>
                        <a:pt x="0" y="38764"/>
                        <a:pt x="0" y="31750"/>
                      </a:cubicBezTo>
                      <a:lnTo>
                        <a:pt x="0" y="12700"/>
                      </a:lnTo>
                    </a:path>
                  </a:pathLst>
                </a:custGeom>
                <a:noFill/>
                <a:ln w="12700">
                  <a:solidFill>
                    <a:srgbClr val="4E0D00"/>
                  </a:solidFill>
                </a:ln>
              </p:spPr>
            </p:sp>
            <p:sp>
              <p:nvSpPr>
                <p:cNvPr id="410" name="Freeform 410"/>
                <p:cNvSpPr/>
                <p:nvPr/>
              </p:nvSpPr>
              <p:spPr>
                <a:xfrm>
                  <a:off x="4572000" y="6350000"/>
                  <a:ext cx="31750" cy="44450"/>
                </a:xfrm>
                <a:custGeom>
                  <a:avLst/>
                  <a:gdLst/>
                  <a:ahLst/>
                  <a:cxnLst/>
                  <a:rect l="l" t="t" r="r" b="b"/>
                  <a:pathLst>
                    <a:path w="31750" h="44450">
                      <a:moveTo>
                        <a:pt x="0" y="12700"/>
                      </a:moveTo>
                      <a:cubicBezTo>
                        <a:pt x="0" y="5686"/>
                        <a:pt x="5686" y="0"/>
                        <a:pt x="12700" y="0"/>
                      </a:cubicBezTo>
                      <a:lnTo>
                        <a:pt x="19050" y="0"/>
                      </a:lnTo>
                      <a:cubicBezTo>
                        <a:pt x="26064" y="0"/>
                        <a:pt x="31750" y="5686"/>
                        <a:pt x="31750" y="12700"/>
                      </a:cubicBezTo>
                      <a:lnTo>
                        <a:pt x="31750" y="31750"/>
                      </a:lnTo>
                      <a:cubicBezTo>
                        <a:pt x="31750" y="38764"/>
                        <a:pt x="26064" y="44450"/>
                        <a:pt x="19050" y="44450"/>
                      </a:cubicBezTo>
                      <a:lnTo>
                        <a:pt x="12700" y="44450"/>
                      </a:lnTo>
                      <a:cubicBezTo>
                        <a:pt x="5686" y="44450"/>
                        <a:pt x="0" y="38764"/>
                        <a:pt x="0" y="31750"/>
                      </a:cubicBezTo>
                      <a:lnTo>
                        <a:pt x="0" y="12700"/>
                      </a:lnTo>
                    </a:path>
                  </a:pathLst>
                </a:custGeom>
                <a:noFill/>
                <a:ln w="12700">
                  <a:solidFill>
                    <a:srgbClr val="4E0D00"/>
                  </a:solidFill>
                </a:ln>
              </p:spPr>
            </p:sp>
            <p:sp>
              <p:nvSpPr>
                <p:cNvPr id="411" name="Freeform 411"/>
                <p:cNvSpPr/>
                <p:nvPr/>
              </p:nvSpPr>
              <p:spPr>
                <a:xfrm>
                  <a:off x="4502150" y="6292850"/>
                  <a:ext cx="101600" cy="69850"/>
                </a:xfrm>
                <a:custGeom>
                  <a:avLst/>
                  <a:gdLst/>
                  <a:ahLst/>
                  <a:cxnLst/>
                  <a:rect l="l" t="t" r="r" b="b"/>
                  <a:pathLst>
                    <a:path w="101600" h="69850">
                      <a:moveTo>
                        <a:pt x="0" y="69850"/>
                      </a:moveTo>
                      <a:lnTo>
                        <a:pt x="0" y="50800"/>
                      </a:lnTo>
                      <a:cubicBezTo>
                        <a:pt x="0" y="22744"/>
                        <a:pt x="22744" y="0"/>
                        <a:pt x="50800" y="0"/>
                      </a:cubicBezTo>
                      <a:cubicBezTo>
                        <a:pt x="78856" y="0"/>
                        <a:pt x="101600" y="22744"/>
                        <a:pt x="101600" y="50800"/>
                      </a:cubicBezTo>
                      <a:lnTo>
                        <a:pt x="101600" y="69850"/>
                      </a:lnTo>
                    </a:path>
                  </a:pathLst>
                </a:custGeom>
                <a:noFill/>
                <a:ln w="12700">
                  <a:solidFill>
                    <a:srgbClr val="4E0D00"/>
                  </a:solidFill>
                </a:ln>
              </p:spPr>
            </p:sp>
          </p:grpSp>
          <p:sp>
            <p:nvSpPr>
              <p:cNvPr id="413" name="TextBox 413"/>
              <p:cNvSpPr txBox="1"/>
              <p:nvPr/>
            </p:nvSpPr>
            <p:spPr>
              <a:xfrm>
                <a:off x="4452607" y="65143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服务</a:t>
                </a:r>
              </a:p>
            </p:txBody>
          </p:sp>
          <p:sp>
            <p:nvSpPr>
              <p:cNvPr id="414" name="TextBox 414"/>
              <p:cNvSpPr txBox="1"/>
              <p:nvPr/>
            </p:nvSpPr>
            <p:spPr>
              <a:xfrm>
                <a:off x="5100638" y="6398657"/>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问题解决慢，客户满意度低</a:t>
                </a:r>
              </a:p>
            </p:txBody>
          </p:sp>
          <p:sp>
            <p:nvSpPr>
              <p:cNvPr id="415" name="TextBox 415"/>
              <p:cNvSpPr txBox="1"/>
              <p:nvPr/>
            </p:nvSpPr>
            <p:spPr>
              <a:xfrm>
                <a:off x="7386638" y="6398657"/>
                <a:ext cx="147419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服务流程优化｜知识库建设｜自助服务</a:t>
                </a:r>
              </a:p>
            </p:txBody>
          </p:sp>
          <p:sp>
            <p:nvSpPr>
              <p:cNvPr id="416" name="TextBox 416"/>
              <p:cNvSpPr txBox="1"/>
              <p:nvPr/>
            </p:nvSpPr>
            <p:spPr>
              <a:xfrm>
                <a:off x="9482138" y="6398657"/>
                <a:ext cx="129895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提升NPS 10–15分，降低服务成本</a:t>
                </a:r>
              </a:p>
            </p:txBody>
          </p:sp>
          <p:sp>
            <p:nvSpPr>
              <p:cNvPr id="417" name="TextBox 417"/>
              <p:cNvSpPr txBox="1"/>
              <p:nvPr/>
            </p:nvSpPr>
            <p:spPr>
              <a:xfrm>
                <a:off x="11339258" y="6394609"/>
                <a:ext cx="467233" cy="133350"/>
              </a:xfrm>
              <a:prstGeom prst="rect">
                <a:avLst/>
              </a:prstGeom>
              <a:noFill/>
              <a:ln>
                <a:noFill/>
              </a:ln>
            </p:spPr>
            <p:txBody>
              <a:bodyPr wrap="none" lIns="0" tIns="0" rIns="0" bIns="0" anchor="t" anchorCtr="0">
                <a:spAutoFit/>
              </a:bodyPr>
              <a:lstStyle/>
              <a:p>
                <a:pPr algn="ctr"/>
                <a:r>
                  <a:rPr lang="zh-CN" sz="680" dirty="0">
                    <a:solidFill>
                      <a:srgbClr val="453633"/>
                    </a:solidFill>
                    <a:latin typeface="+mn-lt"/>
                    <a:ea typeface="+mn-ea"/>
                    <a:cs typeface="+mn-cs"/>
                  </a:rPr>
                  <a:t>服务负责人</a:t>
                </a:r>
              </a:p>
            </p:txBody>
          </p:sp>
        </p:grpSp>
      </p:gr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6928523"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能力—机会矩阵｜好市场必须与自身能力形成交集</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67" name="attraction"/>
          <p:cNvGrpSpPr/>
          <p:nvPr/>
        </p:nvGrpSpPr>
        <p:grpSpPr>
          <a:xfrm>
            <a:off x="228600" y="762000"/>
            <a:ext cx="2057400" cy="3333750"/>
            <a:chOff x="228600" y="762000"/>
            <a:chExt cx="2057400" cy="3333750"/>
          </a:xfrm>
        </p:grpSpPr>
        <p:sp>
          <p:nvSpPr>
            <p:cNvPr id="6" name="Rectangle 6"/>
            <p:cNvSpPr/>
            <p:nvPr/>
          </p:nvSpPr>
          <p:spPr>
            <a:xfrm>
              <a:off x="228600" y="762000"/>
              <a:ext cx="2057400" cy="247650"/>
            </a:xfrm>
            <a:prstGeom prst="rect">
              <a:avLst/>
            </a:prstGeom>
            <a:solidFill>
              <a:srgbClr val="4E0D00"/>
            </a:solidFill>
            <a:ln>
              <a:noFill/>
            </a:ln>
          </p:spPr>
        </p:sp>
        <p:sp>
          <p:nvSpPr>
            <p:cNvPr id="7" name="TextBox 7"/>
            <p:cNvSpPr txBox="1"/>
            <p:nvPr/>
          </p:nvSpPr>
          <p:spPr>
            <a:xfrm>
              <a:off x="583730" y="848439"/>
              <a:ext cx="1347140"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市场吸引力评估（满分5分）</a:t>
              </a:r>
            </a:p>
          </p:txBody>
        </p:sp>
        <p:grpSp>
          <p:nvGrpSpPr>
            <p:cNvPr id="18" name="at-scale"/>
            <p:cNvGrpSpPr/>
            <p:nvPr/>
          </p:nvGrpSpPr>
          <p:grpSpPr>
            <a:xfrm>
              <a:off x="228600" y="1009650"/>
              <a:ext cx="2057400" cy="533400"/>
              <a:chOff x="228600" y="1009650"/>
              <a:chExt cx="2057400" cy="533400"/>
            </a:xfrm>
          </p:grpSpPr>
          <p:sp>
            <p:nvSpPr>
              <p:cNvPr id="8" name="Rectangle 8"/>
              <p:cNvSpPr/>
              <p:nvPr/>
            </p:nvSpPr>
            <p:spPr>
              <a:xfrm>
                <a:off x="228600" y="1009650"/>
                <a:ext cx="2057400" cy="533400"/>
              </a:xfrm>
              <a:prstGeom prst="rect">
                <a:avLst/>
              </a:prstGeom>
              <a:solidFill>
                <a:srgbClr val="FFFFFF"/>
              </a:solidFill>
              <a:ln w="9525">
                <a:solidFill>
                  <a:srgbClr val="E2E8F2"/>
                </a:solidFill>
              </a:ln>
            </p:spPr>
          </p:sp>
          <p:sp>
            <p:nvSpPr>
              <p:cNvPr id="9" name="Ellipse 9"/>
              <p:cNvSpPr/>
              <p:nvPr/>
            </p:nvSpPr>
            <p:spPr>
              <a:xfrm>
                <a:off x="314325" y="1152525"/>
                <a:ext cx="247650" cy="247650"/>
              </a:xfrm>
              <a:prstGeom prst="ellipse">
                <a:avLst/>
              </a:prstGeom>
              <a:solidFill>
                <a:srgbClr val="EFF3FA"/>
              </a:solidFill>
              <a:ln>
                <a:noFill/>
              </a:ln>
            </p:spPr>
          </p:sp>
          <p:grpSp>
            <p:nvGrpSpPr>
              <p:cNvPr id="14" name="Group 14"/>
              <p:cNvGrpSpPr/>
              <p:nvPr/>
            </p:nvGrpSpPr>
            <p:grpSpPr>
              <a:xfrm>
                <a:off x="388144" y="1231900"/>
                <a:ext cx="100012" cy="98425"/>
                <a:chOff x="388144" y="1231900"/>
                <a:chExt cx="100012" cy="98425"/>
              </a:xfrm>
            </p:grpSpPr>
            <p:sp>
              <p:nvSpPr>
                <p:cNvPr id="10" name="Freeform 10"/>
                <p:cNvSpPr/>
                <p:nvPr/>
              </p:nvSpPr>
              <p:spPr>
                <a:xfrm>
                  <a:off x="388144" y="1276350"/>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4E0D00"/>
                  </a:solidFill>
                </a:ln>
              </p:spPr>
            </p:sp>
            <p:sp>
              <p:nvSpPr>
                <p:cNvPr id="11" name="Freeform 11"/>
                <p:cNvSpPr/>
                <p:nvPr/>
              </p:nvSpPr>
              <p:spPr>
                <a:xfrm>
                  <a:off x="454819" y="1254125"/>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4E0D00"/>
                  </a:solidFill>
                </a:ln>
              </p:spPr>
            </p:sp>
            <p:sp>
              <p:nvSpPr>
                <p:cNvPr id="12" name="Freeform 12"/>
                <p:cNvSpPr/>
                <p:nvPr/>
              </p:nvSpPr>
              <p:spPr>
                <a:xfrm>
                  <a:off x="421481" y="1231900"/>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4E0D00"/>
                  </a:solidFill>
                </a:ln>
              </p:spPr>
            </p:sp>
            <p:sp>
              <p:nvSpPr>
                <p:cNvPr id="13" name="Freeform 13"/>
                <p:cNvSpPr/>
                <p:nvPr/>
              </p:nvSpPr>
              <p:spPr>
                <a:xfrm>
                  <a:off x="393700" y="1320800"/>
                  <a:ext cx="77787" cy="9525"/>
                </a:xfrm>
                <a:custGeom>
                  <a:avLst/>
                  <a:gdLst/>
                  <a:ahLst/>
                  <a:cxnLst/>
                  <a:rect l="l" t="t" r="r" b="b"/>
                  <a:pathLst>
                    <a:path w="77787" h="9525">
                      <a:moveTo>
                        <a:pt x="0" y="0"/>
                      </a:moveTo>
                      <a:lnTo>
                        <a:pt x="77787" y="0"/>
                      </a:lnTo>
                    </a:path>
                  </a:pathLst>
                </a:custGeom>
                <a:noFill/>
                <a:ln w="11112">
                  <a:solidFill>
                    <a:srgbClr val="4E0D00"/>
                  </a:solidFill>
                </a:ln>
              </p:spPr>
            </p:sp>
          </p:grpSp>
          <p:sp>
            <p:nvSpPr>
              <p:cNvPr id="15" name="TextBox 15"/>
              <p:cNvSpPr txBox="1"/>
              <p:nvPr/>
            </p:nvSpPr>
            <p:spPr>
              <a:xfrm>
                <a:off x="623888" y="1134189"/>
                <a:ext cx="222225"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规模</a:t>
                </a:r>
              </a:p>
            </p:txBody>
          </p:sp>
          <p:sp>
            <p:nvSpPr>
              <p:cNvPr id="16" name="TextBox 16"/>
              <p:cNvSpPr txBox="1"/>
              <p:nvPr/>
            </p:nvSpPr>
            <p:spPr>
              <a:xfrm>
                <a:off x="623888" y="1306830"/>
                <a:ext cx="817245"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市场空间大，天花板高</a:t>
                </a:r>
              </a:p>
            </p:txBody>
          </p:sp>
          <p:sp>
            <p:nvSpPr>
              <p:cNvPr id="17" name="TextBox 17"/>
              <p:cNvSpPr txBox="1"/>
              <p:nvPr/>
            </p:nvSpPr>
            <p:spPr>
              <a:xfrm>
                <a:off x="1940525" y="1220152"/>
                <a:ext cx="255559" cy="205359"/>
              </a:xfrm>
              <a:prstGeom prst="rect">
                <a:avLst/>
              </a:prstGeom>
              <a:noFill/>
              <a:ln>
                <a:noFill/>
              </a:ln>
            </p:spPr>
            <p:txBody>
              <a:bodyPr wrap="none" lIns="0" tIns="0" rIns="0" bIns="0" anchor="t" anchorCtr="0">
                <a:spAutoFit/>
              </a:bodyPr>
              <a:lstStyle/>
              <a:p>
                <a:pPr algn="r"/>
                <a:r>
                  <a:rPr lang="zh-CN" sz="1050" b="1" dirty="0">
                    <a:solidFill>
                      <a:srgbClr val="4E0D00"/>
                    </a:solidFill>
                    <a:latin typeface="+mn-lt"/>
                    <a:ea typeface="+mn-ea"/>
                    <a:cs typeface="+mn-cs"/>
                  </a:rPr>
                  <a:t>4.5</a:t>
                </a:r>
              </a:p>
            </p:txBody>
          </p:sp>
        </p:grpSp>
        <p:grpSp>
          <p:nvGrpSpPr>
            <p:cNvPr id="27" name="at-growth"/>
            <p:cNvGrpSpPr/>
            <p:nvPr/>
          </p:nvGrpSpPr>
          <p:grpSpPr>
            <a:xfrm>
              <a:off x="228600" y="1543050"/>
              <a:ext cx="2057400" cy="533400"/>
              <a:chOff x="228600" y="1543050"/>
              <a:chExt cx="2057400" cy="533400"/>
            </a:xfrm>
          </p:grpSpPr>
          <p:sp>
            <p:nvSpPr>
              <p:cNvPr id="19" name="Rectangle 19"/>
              <p:cNvSpPr/>
              <p:nvPr/>
            </p:nvSpPr>
            <p:spPr>
              <a:xfrm>
                <a:off x="228600" y="1543050"/>
                <a:ext cx="2057400" cy="533400"/>
              </a:xfrm>
              <a:prstGeom prst="rect">
                <a:avLst/>
              </a:prstGeom>
              <a:solidFill>
                <a:srgbClr val="F7F9FC"/>
              </a:solidFill>
              <a:ln w="9525">
                <a:solidFill>
                  <a:srgbClr val="E2E8F2"/>
                </a:solidFill>
              </a:ln>
            </p:spPr>
          </p:sp>
          <p:sp>
            <p:nvSpPr>
              <p:cNvPr id="20" name="Ellipse 20"/>
              <p:cNvSpPr/>
              <p:nvPr/>
            </p:nvSpPr>
            <p:spPr>
              <a:xfrm>
                <a:off x="314325" y="1685925"/>
                <a:ext cx="247650" cy="247650"/>
              </a:xfrm>
              <a:prstGeom prst="ellipse">
                <a:avLst/>
              </a:prstGeom>
              <a:solidFill>
                <a:srgbClr val="EFF3FA"/>
              </a:solidFill>
              <a:ln>
                <a:noFill/>
              </a:ln>
            </p:spPr>
          </p:sp>
          <p:grpSp>
            <p:nvGrpSpPr>
              <p:cNvPr id="23" name="Group 23"/>
              <p:cNvGrpSpPr/>
              <p:nvPr/>
            </p:nvGrpSpPr>
            <p:grpSpPr>
              <a:xfrm>
                <a:off x="388144" y="1781969"/>
                <a:ext cx="100012" cy="55562"/>
                <a:chOff x="388144" y="1781969"/>
                <a:chExt cx="100012" cy="55562"/>
              </a:xfrm>
            </p:grpSpPr>
            <p:sp>
              <p:nvSpPr>
                <p:cNvPr id="21" name="Freeform 21"/>
                <p:cNvSpPr/>
                <p:nvPr/>
              </p:nvSpPr>
              <p:spPr>
                <a:xfrm>
                  <a:off x="388144" y="1781969"/>
                  <a:ext cx="100012" cy="55562"/>
                </a:xfrm>
                <a:custGeom>
                  <a:avLst/>
                  <a:gdLst/>
                  <a:ahLst/>
                  <a:cxnLst/>
                  <a:rect l="l" t="t" r="r" b="b"/>
                  <a:pathLst>
                    <a:path w="100012" h="55562">
                      <a:moveTo>
                        <a:pt x="0" y="55562"/>
                      </a:moveTo>
                      <a:lnTo>
                        <a:pt x="33337" y="22225"/>
                      </a:lnTo>
                      <a:lnTo>
                        <a:pt x="55562" y="44450"/>
                      </a:lnTo>
                      <a:lnTo>
                        <a:pt x="100012" y="0"/>
                      </a:lnTo>
                    </a:path>
                  </a:pathLst>
                </a:custGeom>
                <a:noFill/>
                <a:ln w="11112">
                  <a:solidFill>
                    <a:srgbClr val="4E0D00"/>
                  </a:solidFill>
                </a:ln>
              </p:spPr>
            </p:sp>
            <p:sp>
              <p:nvSpPr>
                <p:cNvPr id="22" name="Freeform 22"/>
                <p:cNvSpPr/>
                <p:nvPr/>
              </p:nvSpPr>
              <p:spPr>
                <a:xfrm>
                  <a:off x="449262" y="1781969"/>
                  <a:ext cx="38894" cy="38894"/>
                </a:xfrm>
                <a:custGeom>
                  <a:avLst/>
                  <a:gdLst/>
                  <a:ahLst/>
                  <a:cxnLst/>
                  <a:rect l="l" t="t" r="r" b="b"/>
                  <a:pathLst>
                    <a:path w="38894" h="38894">
                      <a:moveTo>
                        <a:pt x="0" y="0"/>
                      </a:moveTo>
                      <a:lnTo>
                        <a:pt x="38894" y="0"/>
                      </a:lnTo>
                      <a:lnTo>
                        <a:pt x="38894" y="38894"/>
                      </a:lnTo>
                    </a:path>
                  </a:pathLst>
                </a:custGeom>
                <a:noFill/>
                <a:ln w="11112">
                  <a:solidFill>
                    <a:srgbClr val="4E0D00"/>
                  </a:solidFill>
                </a:ln>
              </p:spPr>
            </p:sp>
          </p:grpSp>
          <p:sp>
            <p:nvSpPr>
              <p:cNvPr id="24" name="TextBox 24"/>
              <p:cNvSpPr txBox="1"/>
              <p:nvPr/>
            </p:nvSpPr>
            <p:spPr>
              <a:xfrm>
                <a:off x="623888" y="1667589"/>
                <a:ext cx="222225"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增速</a:t>
                </a:r>
              </a:p>
            </p:txBody>
          </p:sp>
          <p:sp>
            <p:nvSpPr>
              <p:cNvPr id="25" name="TextBox 25"/>
              <p:cNvSpPr txBox="1"/>
              <p:nvPr/>
            </p:nvSpPr>
            <p:spPr>
              <a:xfrm>
                <a:off x="623888" y="1840230"/>
                <a:ext cx="817245"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行业增长快、动能强劲</a:t>
                </a:r>
              </a:p>
            </p:txBody>
          </p:sp>
          <p:sp>
            <p:nvSpPr>
              <p:cNvPr id="26" name="TextBox 26"/>
              <p:cNvSpPr txBox="1"/>
              <p:nvPr/>
            </p:nvSpPr>
            <p:spPr>
              <a:xfrm>
                <a:off x="1940525" y="1753552"/>
                <a:ext cx="255559" cy="205359"/>
              </a:xfrm>
              <a:prstGeom prst="rect">
                <a:avLst/>
              </a:prstGeom>
              <a:noFill/>
              <a:ln>
                <a:noFill/>
              </a:ln>
            </p:spPr>
            <p:txBody>
              <a:bodyPr wrap="none" lIns="0" tIns="0" rIns="0" bIns="0" anchor="t" anchorCtr="0">
                <a:spAutoFit/>
              </a:bodyPr>
              <a:lstStyle/>
              <a:p>
                <a:pPr algn="r"/>
                <a:r>
                  <a:rPr lang="zh-CN" sz="1050" b="1" dirty="0">
                    <a:solidFill>
                      <a:srgbClr val="4E0D00"/>
                    </a:solidFill>
                    <a:latin typeface="+mn-lt"/>
                    <a:ea typeface="+mn-ea"/>
                    <a:cs typeface="+mn-cs"/>
                  </a:rPr>
                  <a:t>4.0</a:t>
                </a:r>
              </a:p>
            </p:txBody>
          </p:sp>
        </p:grpSp>
        <p:grpSp>
          <p:nvGrpSpPr>
            <p:cNvPr id="39" name="at-profit"/>
            <p:cNvGrpSpPr/>
            <p:nvPr/>
          </p:nvGrpSpPr>
          <p:grpSpPr>
            <a:xfrm>
              <a:off x="228600" y="2076450"/>
              <a:ext cx="2057400" cy="533400"/>
              <a:chOff x="228600" y="2076450"/>
              <a:chExt cx="2057400" cy="533400"/>
            </a:xfrm>
          </p:grpSpPr>
          <p:sp>
            <p:nvSpPr>
              <p:cNvPr id="28" name="Rectangle 28"/>
              <p:cNvSpPr/>
              <p:nvPr/>
            </p:nvSpPr>
            <p:spPr>
              <a:xfrm>
                <a:off x="228600" y="2076450"/>
                <a:ext cx="2057400" cy="533400"/>
              </a:xfrm>
              <a:prstGeom prst="rect">
                <a:avLst/>
              </a:prstGeom>
              <a:solidFill>
                <a:srgbClr val="FFFFFF"/>
              </a:solidFill>
              <a:ln w="9525">
                <a:solidFill>
                  <a:srgbClr val="E2E8F2"/>
                </a:solidFill>
              </a:ln>
            </p:spPr>
          </p:sp>
          <p:sp>
            <p:nvSpPr>
              <p:cNvPr id="29" name="Ellipse 29"/>
              <p:cNvSpPr/>
              <p:nvPr/>
            </p:nvSpPr>
            <p:spPr>
              <a:xfrm>
                <a:off x="314325" y="2219325"/>
                <a:ext cx="247650" cy="247650"/>
              </a:xfrm>
              <a:prstGeom prst="ellipse">
                <a:avLst/>
              </a:prstGeom>
              <a:solidFill>
                <a:srgbClr val="EFF3FA"/>
              </a:solidFill>
              <a:ln>
                <a:noFill/>
              </a:ln>
            </p:spPr>
          </p:sp>
          <p:grpSp>
            <p:nvGrpSpPr>
              <p:cNvPr id="35" name="Group 35"/>
              <p:cNvGrpSpPr/>
              <p:nvPr/>
            </p:nvGrpSpPr>
            <p:grpSpPr>
              <a:xfrm>
                <a:off x="388144" y="2292399"/>
                <a:ext cx="100012" cy="100757"/>
                <a:chOff x="388144" y="2292399"/>
                <a:chExt cx="100012" cy="100757"/>
              </a:xfrm>
            </p:grpSpPr>
            <p:sp>
              <p:nvSpPr>
                <p:cNvPr id="30" name="Freeform 30"/>
                <p:cNvSpPr/>
                <p:nvPr/>
              </p:nvSpPr>
              <p:spPr>
                <a:xfrm>
                  <a:off x="421481" y="2337594"/>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4E0D00"/>
                  </a:solidFill>
                </a:ln>
              </p:spPr>
            </p:sp>
            <p:sp>
              <p:nvSpPr>
                <p:cNvPr id="31" name="Freeform 31"/>
                <p:cNvSpPr/>
                <p:nvPr/>
              </p:nvSpPr>
              <p:spPr>
                <a:xfrm>
                  <a:off x="421481" y="2354262"/>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4E0D00"/>
                  </a:solidFill>
                </a:ln>
              </p:spPr>
            </p:sp>
            <p:sp>
              <p:nvSpPr>
                <p:cNvPr id="32" name="Freeform 32"/>
                <p:cNvSpPr/>
                <p:nvPr/>
              </p:nvSpPr>
              <p:spPr>
                <a:xfrm>
                  <a:off x="388144" y="2292399"/>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4E0D00"/>
                  </a:solidFill>
                </a:ln>
              </p:spPr>
            </p:sp>
            <p:sp>
              <p:nvSpPr>
                <p:cNvPr id="33" name="Freeform 33"/>
                <p:cNvSpPr/>
                <p:nvPr/>
              </p:nvSpPr>
              <p:spPr>
                <a:xfrm>
                  <a:off x="388144" y="2309812"/>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4E0D00"/>
                  </a:solidFill>
                </a:ln>
              </p:spPr>
            </p:sp>
            <p:sp>
              <p:nvSpPr>
                <p:cNvPr id="34" name="Freeform 34"/>
                <p:cNvSpPr/>
                <p:nvPr/>
              </p:nvSpPr>
              <p:spPr>
                <a:xfrm>
                  <a:off x="388144" y="2337594"/>
                  <a:ext cx="11112" cy="11112"/>
                </a:xfrm>
                <a:custGeom>
                  <a:avLst/>
                  <a:gdLst/>
                  <a:ahLst/>
                  <a:cxnLst/>
                  <a:rect l="l" t="t" r="r" b="b"/>
                  <a:pathLst>
                    <a:path w="11112" h="11112">
                      <a:moveTo>
                        <a:pt x="0" y="0"/>
                      </a:moveTo>
                      <a:cubicBezTo>
                        <a:pt x="0" y="4934"/>
                        <a:pt x="4289" y="8057"/>
                        <a:pt x="11112" y="11112"/>
                      </a:cubicBezTo>
                    </a:path>
                  </a:pathLst>
                </a:custGeom>
                <a:noFill/>
                <a:ln w="11112">
                  <a:solidFill>
                    <a:srgbClr val="4E0D00"/>
                  </a:solidFill>
                </a:ln>
              </p:spPr>
            </p:sp>
          </p:grpSp>
          <p:sp>
            <p:nvSpPr>
              <p:cNvPr id="36" name="TextBox 36"/>
              <p:cNvSpPr txBox="1"/>
              <p:nvPr/>
            </p:nvSpPr>
            <p:spPr>
              <a:xfrm>
                <a:off x="623888" y="2200989"/>
                <a:ext cx="222225"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利润</a:t>
                </a:r>
              </a:p>
            </p:txBody>
          </p:sp>
          <p:sp>
            <p:nvSpPr>
              <p:cNvPr id="37" name="TextBox 37"/>
              <p:cNvSpPr txBox="1"/>
              <p:nvPr/>
            </p:nvSpPr>
            <p:spPr>
              <a:xfrm>
                <a:off x="623888" y="2373630"/>
                <a:ext cx="898017"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盈利水平高、利润结构优</a:t>
                </a:r>
              </a:p>
            </p:txBody>
          </p:sp>
          <p:sp>
            <p:nvSpPr>
              <p:cNvPr id="38" name="TextBox 38"/>
              <p:cNvSpPr txBox="1"/>
              <p:nvPr/>
            </p:nvSpPr>
            <p:spPr>
              <a:xfrm>
                <a:off x="1940525" y="2286952"/>
                <a:ext cx="255559" cy="205359"/>
              </a:xfrm>
              <a:prstGeom prst="rect">
                <a:avLst/>
              </a:prstGeom>
              <a:noFill/>
              <a:ln>
                <a:noFill/>
              </a:ln>
            </p:spPr>
            <p:txBody>
              <a:bodyPr wrap="none" lIns="0" tIns="0" rIns="0" bIns="0" anchor="t" anchorCtr="0">
                <a:spAutoFit/>
              </a:bodyPr>
              <a:lstStyle/>
              <a:p>
                <a:pPr algn="r"/>
                <a:r>
                  <a:rPr lang="zh-CN" sz="1050" b="1" dirty="0">
                    <a:solidFill>
                      <a:srgbClr val="4E0D00"/>
                    </a:solidFill>
                    <a:latin typeface="+mn-lt"/>
                    <a:ea typeface="+mn-ea"/>
                    <a:cs typeface="+mn-cs"/>
                  </a:rPr>
                  <a:t>4.0</a:t>
                </a:r>
              </a:p>
            </p:txBody>
          </p:sp>
        </p:grpSp>
        <p:grpSp>
          <p:nvGrpSpPr>
            <p:cNvPr id="48" name="at-compete"/>
            <p:cNvGrpSpPr/>
            <p:nvPr/>
          </p:nvGrpSpPr>
          <p:grpSpPr>
            <a:xfrm>
              <a:off x="228600" y="2609850"/>
              <a:ext cx="2057400" cy="533400"/>
              <a:chOff x="228600" y="2609850"/>
              <a:chExt cx="2057400" cy="533400"/>
            </a:xfrm>
          </p:grpSpPr>
          <p:sp>
            <p:nvSpPr>
              <p:cNvPr id="40" name="Rectangle 40"/>
              <p:cNvSpPr/>
              <p:nvPr/>
            </p:nvSpPr>
            <p:spPr>
              <a:xfrm>
                <a:off x="228600" y="2609850"/>
                <a:ext cx="2057400" cy="533400"/>
              </a:xfrm>
              <a:prstGeom prst="rect">
                <a:avLst/>
              </a:prstGeom>
              <a:solidFill>
                <a:srgbClr val="F7F9FC"/>
              </a:solidFill>
              <a:ln w="9525">
                <a:solidFill>
                  <a:srgbClr val="E2E8F2"/>
                </a:solidFill>
              </a:ln>
            </p:spPr>
          </p:sp>
          <p:sp>
            <p:nvSpPr>
              <p:cNvPr id="41" name="Ellipse 41"/>
              <p:cNvSpPr/>
              <p:nvPr/>
            </p:nvSpPr>
            <p:spPr>
              <a:xfrm>
                <a:off x="314325" y="2752725"/>
                <a:ext cx="247650" cy="247650"/>
              </a:xfrm>
              <a:prstGeom prst="ellipse">
                <a:avLst/>
              </a:prstGeom>
              <a:solidFill>
                <a:srgbClr val="EFF3FA"/>
              </a:solidFill>
              <a:ln>
                <a:noFill/>
              </a:ln>
            </p:spPr>
          </p:sp>
          <p:grpSp>
            <p:nvGrpSpPr>
              <p:cNvPr id="44" name="Group 44"/>
              <p:cNvGrpSpPr/>
              <p:nvPr/>
            </p:nvGrpSpPr>
            <p:grpSpPr>
              <a:xfrm>
                <a:off x="404526" y="2826483"/>
                <a:ext cx="66961" cy="94517"/>
                <a:chOff x="404526" y="2826483"/>
                <a:chExt cx="66961" cy="94517"/>
              </a:xfrm>
            </p:grpSpPr>
            <p:sp>
              <p:nvSpPr>
                <p:cNvPr id="42" name="Freeform 42"/>
                <p:cNvSpPr/>
                <p:nvPr/>
              </p:nvSpPr>
              <p:spPr>
                <a:xfrm>
                  <a:off x="404812" y="2898775"/>
                  <a:ext cx="66675" cy="22225"/>
                </a:xfrm>
                <a:custGeom>
                  <a:avLst/>
                  <a:gdLst/>
                  <a:ahLst/>
                  <a:cxnLst/>
                  <a:rect l="l" t="t" r="r" b="b"/>
                  <a:pathLst>
                    <a:path w="66675" h="22225">
                      <a:moveTo>
                        <a:pt x="11112" y="0"/>
                      </a:moveTo>
                      <a:lnTo>
                        <a:pt x="3073" y="4023"/>
                      </a:lnTo>
                      <a:cubicBezTo>
                        <a:pt x="1191" y="4963"/>
                        <a:pt x="1" y="6886"/>
                        <a:pt x="0" y="8990"/>
                      </a:cubicBezTo>
                      <a:lnTo>
                        <a:pt x="0" y="22225"/>
                      </a:lnTo>
                      <a:lnTo>
                        <a:pt x="66675" y="22225"/>
                      </a:lnTo>
                      <a:lnTo>
                        <a:pt x="66675" y="8990"/>
                      </a:lnTo>
                      <a:cubicBezTo>
                        <a:pt x="66674" y="6886"/>
                        <a:pt x="65484" y="4963"/>
                        <a:pt x="63602" y="4023"/>
                      </a:cubicBezTo>
                      <a:lnTo>
                        <a:pt x="55562" y="0"/>
                      </a:lnTo>
                      <a:lnTo>
                        <a:pt x="11112" y="0"/>
                      </a:lnTo>
                    </a:path>
                  </a:pathLst>
                </a:custGeom>
                <a:noFill/>
                <a:ln w="11112">
                  <a:solidFill>
                    <a:srgbClr val="4E0D00"/>
                  </a:solidFill>
                </a:ln>
              </p:spPr>
            </p:sp>
            <p:sp>
              <p:nvSpPr>
                <p:cNvPr id="43" name="Freeform 43"/>
                <p:cNvSpPr/>
                <p:nvPr/>
              </p:nvSpPr>
              <p:spPr>
                <a:xfrm>
                  <a:off x="404526" y="2826483"/>
                  <a:ext cx="55849" cy="72292"/>
                </a:xfrm>
                <a:custGeom>
                  <a:avLst/>
                  <a:gdLst/>
                  <a:ahLst/>
                  <a:cxnLst/>
                  <a:rect l="l" t="t" r="r" b="b"/>
                  <a:pathLst>
                    <a:path w="55849" h="72292">
                      <a:moveTo>
                        <a:pt x="16955" y="61"/>
                      </a:moveTo>
                      <a:lnTo>
                        <a:pt x="22511" y="16730"/>
                      </a:lnTo>
                      <a:lnTo>
                        <a:pt x="3115" y="28665"/>
                      </a:lnTo>
                      <a:cubicBezTo>
                        <a:pt x="996" y="29967"/>
                        <a:pt x="0" y="32518"/>
                        <a:pt x="677" y="34911"/>
                      </a:cubicBezTo>
                      <a:cubicBezTo>
                        <a:pt x="1354" y="37304"/>
                        <a:pt x="3539" y="38956"/>
                        <a:pt x="6026" y="38955"/>
                      </a:cubicBezTo>
                      <a:lnTo>
                        <a:pt x="22511" y="38955"/>
                      </a:lnTo>
                      <a:lnTo>
                        <a:pt x="10993" y="72292"/>
                      </a:lnTo>
                      <a:lnTo>
                        <a:pt x="55227" y="72292"/>
                      </a:lnTo>
                      <a:lnTo>
                        <a:pt x="55849" y="44511"/>
                      </a:lnTo>
                      <a:cubicBezTo>
                        <a:pt x="55849" y="27842"/>
                        <a:pt x="49793" y="11268"/>
                        <a:pt x="33624" y="5617"/>
                      </a:cubicBezTo>
                      <a:cubicBezTo>
                        <a:pt x="22845" y="1850"/>
                        <a:pt x="17289" y="0"/>
                        <a:pt x="16955" y="61"/>
                      </a:cubicBezTo>
                    </a:path>
                  </a:pathLst>
                </a:custGeom>
                <a:noFill/>
                <a:ln w="11112">
                  <a:solidFill>
                    <a:srgbClr val="4E0D00"/>
                  </a:solidFill>
                </a:ln>
              </p:spPr>
            </p:sp>
          </p:grpSp>
          <p:sp>
            <p:nvSpPr>
              <p:cNvPr id="45" name="TextBox 45"/>
              <p:cNvSpPr txBox="1"/>
              <p:nvPr/>
            </p:nvSpPr>
            <p:spPr>
              <a:xfrm>
                <a:off x="623888" y="2734389"/>
                <a:ext cx="222225"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竞争</a:t>
                </a:r>
              </a:p>
            </p:txBody>
          </p:sp>
          <p:sp>
            <p:nvSpPr>
              <p:cNvPr id="46" name="TextBox 46"/>
              <p:cNvSpPr txBox="1"/>
              <p:nvPr/>
            </p:nvSpPr>
            <p:spPr>
              <a:xfrm>
                <a:off x="623888" y="2907030"/>
                <a:ext cx="817245"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竞争格局优、可差异化</a:t>
                </a:r>
              </a:p>
            </p:txBody>
          </p:sp>
          <p:sp>
            <p:nvSpPr>
              <p:cNvPr id="47" name="TextBox 47"/>
              <p:cNvSpPr txBox="1"/>
              <p:nvPr/>
            </p:nvSpPr>
            <p:spPr>
              <a:xfrm>
                <a:off x="1940525" y="2820352"/>
                <a:ext cx="255559" cy="205359"/>
              </a:xfrm>
              <a:prstGeom prst="rect">
                <a:avLst/>
              </a:prstGeom>
              <a:noFill/>
              <a:ln>
                <a:noFill/>
              </a:ln>
            </p:spPr>
            <p:txBody>
              <a:bodyPr wrap="none" lIns="0" tIns="0" rIns="0" bIns="0" anchor="t" anchorCtr="0">
                <a:spAutoFit/>
              </a:bodyPr>
              <a:lstStyle/>
              <a:p>
                <a:pPr algn="r"/>
                <a:r>
                  <a:rPr lang="zh-CN" sz="1050" b="1" dirty="0">
                    <a:solidFill>
                      <a:srgbClr val="4E0D00"/>
                    </a:solidFill>
                    <a:latin typeface="+mn-lt"/>
                    <a:ea typeface="+mn-ea"/>
                    <a:cs typeface="+mn-cs"/>
                  </a:rPr>
                  <a:t>3.5</a:t>
                </a:r>
              </a:p>
            </p:txBody>
          </p:sp>
        </p:grpSp>
        <p:grpSp>
          <p:nvGrpSpPr>
            <p:cNvPr id="63" name="at-policy"/>
            <p:cNvGrpSpPr/>
            <p:nvPr/>
          </p:nvGrpSpPr>
          <p:grpSpPr>
            <a:xfrm>
              <a:off x="228600" y="3143250"/>
              <a:ext cx="2057400" cy="533400"/>
              <a:chOff x="228600" y="3143250"/>
              <a:chExt cx="2057400" cy="533400"/>
            </a:xfrm>
          </p:grpSpPr>
          <p:sp>
            <p:nvSpPr>
              <p:cNvPr id="49" name="Rectangle 49"/>
              <p:cNvSpPr/>
              <p:nvPr/>
            </p:nvSpPr>
            <p:spPr>
              <a:xfrm>
                <a:off x="228600" y="3143250"/>
                <a:ext cx="2057400" cy="533400"/>
              </a:xfrm>
              <a:prstGeom prst="rect">
                <a:avLst/>
              </a:prstGeom>
              <a:solidFill>
                <a:srgbClr val="FFFFFF"/>
              </a:solidFill>
              <a:ln w="9525">
                <a:solidFill>
                  <a:srgbClr val="E2E8F2"/>
                </a:solidFill>
              </a:ln>
            </p:spPr>
          </p:sp>
          <p:sp>
            <p:nvSpPr>
              <p:cNvPr id="50" name="Ellipse 50"/>
              <p:cNvSpPr/>
              <p:nvPr/>
            </p:nvSpPr>
            <p:spPr>
              <a:xfrm>
                <a:off x="314325" y="3286125"/>
                <a:ext cx="247650" cy="247650"/>
              </a:xfrm>
              <a:prstGeom prst="ellipse">
                <a:avLst/>
              </a:prstGeom>
              <a:solidFill>
                <a:srgbClr val="EFF3FA"/>
              </a:solidFill>
              <a:ln>
                <a:noFill/>
              </a:ln>
            </p:spPr>
          </p:sp>
          <p:grpSp>
            <p:nvGrpSpPr>
              <p:cNvPr id="59" name="Group 59"/>
              <p:cNvGrpSpPr/>
              <p:nvPr/>
            </p:nvGrpSpPr>
            <p:grpSpPr>
              <a:xfrm>
                <a:off x="388144" y="3359944"/>
                <a:ext cx="103981" cy="109537"/>
                <a:chOff x="388144" y="3359944"/>
                <a:chExt cx="103981" cy="109537"/>
              </a:xfrm>
            </p:grpSpPr>
            <p:sp>
              <p:nvSpPr>
                <p:cNvPr id="51" name="Freeform 51"/>
                <p:cNvSpPr/>
                <p:nvPr/>
              </p:nvSpPr>
              <p:spPr>
                <a:xfrm>
                  <a:off x="388144" y="3459956"/>
                  <a:ext cx="100012" cy="9525"/>
                </a:xfrm>
                <a:custGeom>
                  <a:avLst/>
                  <a:gdLst/>
                  <a:ahLst/>
                  <a:cxnLst/>
                  <a:rect l="l" t="t" r="r" b="b"/>
                  <a:pathLst>
                    <a:path w="100012" h="9525">
                      <a:moveTo>
                        <a:pt x="0" y="0"/>
                      </a:moveTo>
                      <a:lnTo>
                        <a:pt x="100012" y="0"/>
                      </a:lnTo>
                    </a:path>
                  </a:pathLst>
                </a:custGeom>
                <a:noFill/>
                <a:ln w="11112">
                  <a:solidFill>
                    <a:srgbClr val="4E0D00"/>
                  </a:solidFill>
                </a:ln>
              </p:spPr>
            </p:sp>
            <p:sp>
              <p:nvSpPr>
                <p:cNvPr id="52" name="Freeform 52"/>
                <p:cNvSpPr/>
                <p:nvPr/>
              </p:nvSpPr>
              <p:spPr>
                <a:xfrm>
                  <a:off x="388144" y="3398837"/>
                  <a:ext cx="100012" cy="9525"/>
                </a:xfrm>
                <a:custGeom>
                  <a:avLst/>
                  <a:gdLst/>
                  <a:ahLst/>
                  <a:cxnLst/>
                  <a:rect l="l" t="t" r="r" b="b"/>
                  <a:pathLst>
                    <a:path w="100012" h="9525">
                      <a:moveTo>
                        <a:pt x="0" y="0"/>
                      </a:moveTo>
                      <a:lnTo>
                        <a:pt x="100012" y="0"/>
                      </a:lnTo>
                    </a:path>
                  </a:pathLst>
                </a:custGeom>
                <a:noFill/>
                <a:ln w="11112">
                  <a:solidFill>
                    <a:srgbClr val="4E0D00"/>
                  </a:solidFill>
                </a:ln>
              </p:spPr>
            </p:sp>
            <p:sp>
              <p:nvSpPr>
                <p:cNvPr id="53" name="Freeform 53"/>
                <p:cNvSpPr/>
                <p:nvPr/>
              </p:nvSpPr>
              <p:spPr>
                <a:xfrm>
                  <a:off x="399256" y="3359944"/>
                  <a:ext cx="77787" cy="16669"/>
                </a:xfrm>
                <a:custGeom>
                  <a:avLst/>
                  <a:gdLst/>
                  <a:ahLst/>
                  <a:cxnLst/>
                  <a:rect l="l" t="t" r="r" b="b"/>
                  <a:pathLst>
                    <a:path w="77787" h="16669">
                      <a:moveTo>
                        <a:pt x="0" y="16669"/>
                      </a:moveTo>
                      <a:lnTo>
                        <a:pt x="38894" y="0"/>
                      </a:lnTo>
                      <a:lnTo>
                        <a:pt x="77787" y="16669"/>
                      </a:lnTo>
                    </a:path>
                  </a:pathLst>
                </a:custGeom>
                <a:noFill/>
                <a:ln w="11112">
                  <a:solidFill>
                    <a:srgbClr val="4E0D00"/>
                  </a:solidFill>
                </a:ln>
              </p:spPr>
            </p:sp>
            <p:sp>
              <p:nvSpPr>
                <p:cNvPr id="54" name="Freeform 54"/>
                <p:cNvSpPr/>
                <p:nvPr/>
              </p:nvSpPr>
              <p:spPr>
                <a:xfrm>
                  <a:off x="393700" y="3398837"/>
                  <a:ext cx="9525" cy="61119"/>
                </a:xfrm>
                <a:custGeom>
                  <a:avLst/>
                  <a:gdLst/>
                  <a:ahLst/>
                  <a:cxnLst/>
                  <a:rect l="l" t="t" r="r" b="b"/>
                  <a:pathLst>
                    <a:path w="9525" h="61119">
                      <a:moveTo>
                        <a:pt x="0" y="0"/>
                      </a:moveTo>
                      <a:lnTo>
                        <a:pt x="0" y="61119"/>
                      </a:lnTo>
                    </a:path>
                  </a:pathLst>
                </a:custGeom>
                <a:noFill/>
                <a:ln w="11112">
                  <a:solidFill>
                    <a:srgbClr val="4E0D00"/>
                  </a:solidFill>
                </a:ln>
              </p:spPr>
            </p:sp>
            <p:sp>
              <p:nvSpPr>
                <p:cNvPr id="55" name="Freeform 55"/>
                <p:cNvSpPr/>
                <p:nvPr/>
              </p:nvSpPr>
              <p:spPr>
                <a:xfrm>
                  <a:off x="482600" y="3398837"/>
                  <a:ext cx="9525" cy="61119"/>
                </a:xfrm>
                <a:custGeom>
                  <a:avLst/>
                  <a:gdLst/>
                  <a:ahLst/>
                  <a:cxnLst/>
                  <a:rect l="l" t="t" r="r" b="b"/>
                  <a:pathLst>
                    <a:path w="9525" h="61119">
                      <a:moveTo>
                        <a:pt x="0" y="0"/>
                      </a:moveTo>
                      <a:lnTo>
                        <a:pt x="0" y="61119"/>
                      </a:lnTo>
                    </a:path>
                  </a:pathLst>
                </a:custGeom>
                <a:noFill/>
                <a:ln w="11112">
                  <a:solidFill>
                    <a:srgbClr val="4E0D00"/>
                  </a:solidFill>
                </a:ln>
              </p:spPr>
            </p:sp>
            <p:sp>
              <p:nvSpPr>
                <p:cNvPr id="56" name="Freeform 56"/>
                <p:cNvSpPr/>
                <p:nvPr/>
              </p:nvSpPr>
              <p:spPr>
                <a:xfrm>
                  <a:off x="415925" y="3421062"/>
                  <a:ext cx="9525" cy="16669"/>
                </a:xfrm>
                <a:custGeom>
                  <a:avLst/>
                  <a:gdLst/>
                  <a:ahLst/>
                  <a:cxnLst/>
                  <a:rect l="l" t="t" r="r" b="b"/>
                  <a:pathLst>
                    <a:path w="9525" h="16669">
                      <a:moveTo>
                        <a:pt x="0" y="0"/>
                      </a:moveTo>
                      <a:lnTo>
                        <a:pt x="0" y="16669"/>
                      </a:lnTo>
                    </a:path>
                  </a:pathLst>
                </a:custGeom>
                <a:noFill/>
                <a:ln w="11112">
                  <a:solidFill>
                    <a:srgbClr val="4E0D00"/>
                  </a:solidFill>
                </a:ln>
              </p:spPr>
            </p:sp>
            <p:sp>
              <p:nvSpPr>
                <p:cNvPr id="57" name="Freeform 57"/>
                <p:cNvSpPr/>
                <p:nvPr/>
              </p:nvSpPr>
              <p:spPr>
                <a:xfrm>
                  <a:off x="438150" y="3421062"/>
                  <a:ext cx="9525" cy="16669"/>
                </a:xfrm>
                <a:custGeom>
                  <a:avLst/>
                  <a:gdLst/>
                  <a:ahLst/>
                  <a:cxnLst/>
                  <a:rect l="l" t="t" r="r" b="b"/>
                  <a:pathLst>
                    <a:path w="9525" h="16669">
                      <a:moveTo>
                        <a:pt x="0" y="0"/>
                      </a:moveTo>
                      <a:lnTo>
                        <a:pt x="0" y="16669"/>
                      </a:lnTo>
                    </a:path>
                  </a:pathLst>
                </a:custGeom>
                <a:noFill/>
                <a:ln w="11112">
                  <a:solidFill>
                    <a:srgbClr val="4E0D00"/>
                  </a:solidFill>
                </a:ln>
              </p:spPr>
            </p:sp>
            <p:sp>
              <p:nvSpPr>
                <p:cNvPr id="58" name="Freeform 58"/>
                <p:cNvSpPr/>
                <p:nvPr/>
              </p:nvSpPr>
              <p:spPr>
                <a:xfrm>
                  <a:off x="460375" y="3421062"/>
                  <a:ext cx="9525" cy="16669"/>
                </a:xfrm>
                <a:custGeom>
                  <a:avLst/>
                  <a:gdLst/>
                  <a:ahLst/>
                  <a:cxnLst/>
                  <a:rect l="l" t="t" r="r" b="b"/>
                  <a:pathLst>
                    <a:path w="9525" h="16669">
                      <a:moveTo>
                        <a:pt x="0" y="0"/>
                      </a:moveTo>
                      <a:lnTo>
                        <a:pt x="0" y="16669"/>
                      </a:lnTo>
                    </a:path>
                  </a:pathLst>
                </a:custGeom>
                <a:noFill/>
                <a:ln w="11112">
                  <a:solidFill>
                    <a:srgbClr val="4E0D00"/>
                  </a:solidFill>
                </a:ln>
              </p:spPr>
            </p:sp>
          </p:grpSp>
          <p:sp>
            <p:nvSpPr>
              <p:cNvPr id="60" name="TextBox 60"/>
              <p:cNvSpPr txBox="1"/>
              <p:nvPr/>
            </p:nvSpPr>
            <p:spPr>
              <a:xfrm>
                <a:off x="623888" y="3267789"/>
                <a:ext cx="222225"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政策</a:t>
                </a:r>
              </a:p>
            </p:txBody>
          </p:sp>
          <p:sp>
            <p:nvSpPr>
              <p:cNvPr id="61" name="TextBox 61"/>
              <p:cNvSpPr txBox="1"/>
              <p:nvPr/>
            </p:nvSpPr>
            <p:spPr>
              <a:xfrm>
                <a:off x="623888" y="3440430"/>
                <a:ext cx="898017"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政策支持度高、风险可控</a:t>
                </a:r>
              </a:p>
            </p:txBody>
          </p:sp>
          <p:sp>
            <p:nvSpPr>
              <p:cNvPr id="62" name="TextBox 62"/>
              <p:cNvSpPr txBox="1"/>
              <p:nvPr/>
            </p:nvSpPr>
            <p:spPr>
              <a:xfrm>
                <a:off x="1940525" y="3353752"/>
                <a:ext cx="255559" cy="205359"/>
              </a:xfrm>
              <a:prstGeom prst="rect">
                <a:avLst/>
              </a:prstGeom>
              <a:noFill/>
              <a:ln>
                <a:noFill/>
              </a:ln>
            </p:spPr>
            <p:txBody>
              <a:bodyPr wrap="none" lIns="0" tIns="0" rIns="0" bIns="0" anchor="t" anchorCtr="0">
                <a:spAutoFit/>
              </a:bodyPr>
              <a:lstStyle/>
              <a:p>
                <a:pPr algn="r"/>
                <a:r>
                  <a:rPr lang="zh-CN" sz="1050" b="1" dirty="0">
                    <a:solidFill>
                      <a:srgbClr val="4E0D00"/>
                    </a:solidFill>
                    <a:latin typeface="+mn-lt"/>
                    <a:ea typeface="+mn-ea"/>
                    <a:cs typeface="+mn-cs"/>
                  </a:rPr>
                  <a:t>4.0</a:t>
                </a:r>
              </a:p>
            </p:txBody>
          </p:sp>
        </p:grpSp>
        <p:sp>
          <p:nvSpPr>
            <p:cNvPr id="64" name="Rectangle 64"/>
            <p:cNvSpPr/>
            <p:nvPr/>
          </p:nvSpPr>
          <p:spPr>
            <a:xfrm>
              <a:off x="228600" y="3676650"/>
              <a:ext cx="2057400" cy="419100"/>
            </a:xfrm>
            <a:prstGeom prst="rect">
              <a:avLst/>
            </a:prstGeom>
            <a:solidFill>
              <a:srgbClr val="4E0D00"/>
            </a:solidFill>
            <a:ln>
              <a:noFill/>
            </a:ln>
          </p:spPr>
        </p:sp>
        <p:sp>
          <p:nvSpPr>
            <p:cNvPr id="65" name="TextBox 65"/>
            <p:cNvSpPr txBox="1"/>
            <p:nvPr/>
          </p:nvSpPr>
          <p:spPr>
            <a:xfrm>
              <a:off x="338138" y="3775234"/>
              <a:ext cx="1016483" cy="133350"/>
            </a:xfrm>
            <a:prstGeom prst="rect">
              <a:avLst/>
            </a:prstGeom>
            <a:noFill/>
            <a:ln>
              <a:noFill/>
            </a:ln>
          </p:spPr>
          <p:txBody>
            <a:bodyPr wrap="none" lIns="0" tIns="0" rIns="0" bIns="0" anchor="t" anchorCtr="0">
              <a:spAutoFit/>
            </a:bodyPr>
            <a:lstStyle/>
            <a:p>
              <a:pPr algn="l"/>
              <a:r>
                <a:rPr lang="zh-CN" sz="680" dirty="0">
                  <a:solidFill>
                    <a:srgbClr val="DCE5F2"/>
                  </a:solidFill>
                  <a:latin typeface="+mn-lt"/>
                  <a:ea typeface="+mn-ea"/>
                  <a:cs typeface="+mn-cs"/>
                </a:rPr>
                <a:t>综合吸引力得分（加权）</a:t>
              </a:r>
            </a:p>
          </p:txBody>
        </p:sp>
        <p:sp>
          <p:nvSpPr>
            <p:cNvPr id="66" name="TextBox 66"/>
            <p:cNvSpPr txBox="1"/>
            <p:nvPr/>
          </p:nvSpPr>
          <p:spPr>
            <a:xfrm>
              <a:off x="1668061" y="3904774"/>
              <a:ext cx="508592" cy="190690"/>
            </a:xfrm>
            <a:prstGeom prst="rect">
              <a:avLst/>
            </a:prstGeom>
            <a:noFill/>
            <a:ln>
              <a:noFill/>
            </a:ln>
          </p:spPr>
          <p:txBody>
            <a:bodyPr wrap="none" lIns="0" tIns="0" rIns="0" bIns="0" anchor="t" anchorCtr="0">
              <a:spAutoFit/>
            </a:bodyPr>
            <a:lstStyle/>
            <a:p>
              <a:pPr algn="r"/>
              <a:r>
                <a:rPr lang="zh-CN" sz="980" b="1" dirty="0">
                  <a:solidFill>
                    <a:srgbClr val="FFFFFF"/>
                  </a:solidFill>
                  <a:latin typeface="+mn-lt"/>
                  <a:ea typeface="+mn-ea"/>
                  <a:cs typeface="+mn-cs"/>
                </a:rPr>
                <a:t>4.05 /5</a:t>
              </a:r>
            </a:p>
          </p:txBody>
        </p:sp>
      </p:grpSp>
      <p:grpSp>
        <p:nvGrpSpPr>
          <p:cNvPr id="124" name="bubble-matrix"/>
          <p:cNvGrpSpPr/>
          <p:nvPr/>
        </p:nvGrpSpPr>
        <p:grpSpPr>
          <a:xfrm>
            <a:off x="2762250" y="810339"/>
            <a:ext cx="4648200" cy="3755231"/>
            <a:chOff x="2762250" y="810339"/>
            <a:chExt cx="4648200" cy="3755231"/>
          </a:xfrm>
        </p:grpSpPr>
        <p:sp>
          <p:nvSpPr>
            <p:cNvPr id="68" name="TextBox 68"/>
            <p:cNvSpPr txBox="1"/>
            <p:nvPr/>
          </p:nvSpPr>
          <p:spPr>
            <a:xfrm>
              <a:off x="2814638" y="810339"/>
              <a:ext cx="541274" cy="154781"/>
            </a:xfrm>
            <a:prstGeom prst="rect">
              <a:avLst/>
            </a:prstGeom>
            <a:noFill/>
            <a:ln>
              <a:noFill/>
            </a:ln>
          </p:spPr>
          <p:txBody>
            <a:bodyPr wrap="none" lIns="0" tIns="0" rIns="0" bIns="0" anchor="t" anchorCtr="0">
              <a:spAutoFit/>
            </a:bodyPr>
            <a:lstStyle/>
            <a:p>
              <a:pPr algn="l"/>
              <a:r>
                <a:rPr lang="zh-CN" sz="790" b="1" dirty="0">
                  <a:solidFill>
                    <a:srgbClr val="4E0D00"/>
                  </a:solidFill>
                  <a:latin typeface="+mn-lt"/>
                  <a:ea typeface="+mn-ea"/>
                  <a:cs typeface="+mn-cs"/>
                </a:rPr>
                <a:t>市场吸引力</a:t>
              </a:r>
            </a:p>
          </p:txBody>
        </p:sp>
        <p:sp>
          <p:nvSpPr>
            <p:cNvPr id="69" name="Rectangle 69"/>
            <p:cNvSpPr/>
            <p:nvPr/>
          </p:nvSpPr>
          <p:spPr>
            <a:xfrm>
              <a:off x="2819400" y="990600"/>
              <a:ext cx="3657600" cy="3162300"/>
            </a:xfrm>
            <a:prstGeom prst="rect">
              <a:avLst/>
            </a:prstGeom>
            <a:solidFill>
              <a:srgbClr val="FBFCFE"/>
            </a:solidFill>
            <a:ln w="9525">
              <a:solidFill>
                <a:srgbClr val="E2E8F2"/>
              </a:solidFill>
            </a:ln>
          </p:spPr>
        </p:sp>
        <p:sp>
          <p:nvSpPr>
            <p:cNvPr id="70" name="Line 70"/>
            <p:cNvSpPr/>
            <p:nvPr/>
          </p:nvSpPr>
          <p:spPr>
            <a:xfrm>
              <a:off x="4648200" y="990600"/>
              <a:ext cx="9525" cy="3162300"/>
            </a:xfrm>
            <a:custGeom>
              <a:avLst/>
              <a:gdLst/>
              <a:ahLst/>
              <a:cxnLst/>
              <a:rect l="l" t="t" r="r" b="b"/>
              <a:pathLst>
                <a:path w="9525" h="3162300">
                  <a:moveTo>
                    <a:pt x="0" y="0"/>
                  </a:moveTo>
                  <a:lnTo>
                    <a:pt x="0" y="3162300"/>
                  </a:lnTo>
                </a:path>
              </a:pathLst>
            </a:custGeom>
            <a:noFill/>
            <a:ln w="9525">
              <a:solidFill>
                <a:srgbClr val="C7D2E4"/>
              </a:solidFill>
              <a:custDash>
                <a:ds d="400000" sp="300000"/>
              </a:custDash>
            </a:ln>
          </p:spPr>
        </p:sp>
        <p:sp>
          <p:nvSpPr>
            <p:cNvPr id="71" name="Line 71"/>
            <p:cNvSpPr/>
            <p:nvPr/>
          </p:nvSpPr>
          <p:spPr>
            <a:xfrm>
              <a:off x="2819400" y="2571750"/>
              <a:ext cx="3657600" cy="9525"/>
            </a:xfrm>
            <a:custGeom>
              <a:avLst/>
              <a:gdLst/>
              <a:ahLst/>
              <a:cxnLst/>
              <a:rect l="l" t="t" r="r" b="b"/>
              <a:pathLst>
                <a:path w="3657600" h="9525">
                  <a:moveTo>
                    <a:pt x="0" y="0"/>
                  </a:moveTo>
                  <a:lnTo>
                    <a:pt x="3657600" y="0"/>
                  </a:lnTo>
                </a:path>
              </a:pathLst>
            </a:custGeom>
            <a:noFill/>
            <a:ln w="9525">
              <a:solidFill>
                <a:srgbClr val="C7D2E4"/>
              </a:solidFill>
              <a:custDash>
                <a:ds d="400000" sp="300000"/>
              </a:custDash>
            </a:ln>
          </p:spPr>
        </p:sp>
        <p:sp>
          <p:nvSpPr>
            <p:cNvPr id="72" name="Rectangle 72"/>
            <p:cNvSpPr/>
            <p:nvPr/>
          </p:nvSpPr>
          <p:spPr>
            <a:xfrm>
              <a:off x="2819400" y="990600"/>
              <a:ext cx="1828800" cy="209550"/>
            </a:xfrm>
            <a:prstGeom prst="rect">
              <a:avLst/>
            </a:prstGeom>
            <a:solidFill>
              <a:srgbClr val="4E0D00"/>
            </a:solidFill>
            <a:ln>
              <a:noFill/>
            </a:ln>
          </p:spPr>
        </p:sp>
        <p:sp>
          <p:nvSpPr>
            <p:cNvPr id="73" name="TextBox 73"/>
            <p:cNvSpPr txBox="1"/>
            <p:nvPr/>
          </p:nvSpPr>
          <p:spPr>
            <a:xfrm>
              <a:off x="3516338" y="104846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重点投入</a:t>
              </a:r>
            </a:p>
          </p:txBody>
        </p:sp>
        <p:sp>
          <p:nvSpPr>
            <p:cNvPr id="74" name="Rectangle 74"/>
            <p:cNvSpPr/>
            <p:nvPr/>
          </p:nvSpPr>
          <p:spPr>
            <a:xfrm>
              <a:off x="4648200" y="990600"/>
              <a:ext cx="1828800" cy="209550"/>
            </a:xfrm>
            <a:prstGeom prst="rect">
              <a:avLst/>
            </a:prstGeom>
            <a:solidFill>
              <a:srgbClr val="832D1B"/>
            </a:solidFill>
            <a:ln>
              <a:noFill/>
            </a:ln>
          </p:spPr>
        </p:sp>
        <p:sp>
          <p:nvSpPr>
            <p:cNvPr id="75" name="TextBox 75"/>
            <p:cNvSpPr txBox="1"/>
            <p:nvPr/>
          </p:nvSpPr>
          <p:spPr>
            <a:xfrm>
              <a:off x="5345138" y="104846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能力补齐</a:t>
              </a:r>
            </a:p>
          </p:txBody>
        </p:sp>
        <p:sp>
          <p:nvSpPr>
            <p:cNvPr id="76" name="Rectangle 76"/>
            <p:cNvSpPr/>
            <p:nvPr/>
          </p:nvSpPr>
          <p:spPr>
            <a:xfrm>
              <a:off x="2819400" y="3943350"/>
              <a:ext cx="1828800" cy="209550"/>
            </a:xfrm>
            <a:prstGeom prst="rect">
              <a:avLst/>
            </a:prstGeom>
            <a:solidFill>
              <a:srgbClr val="A04431"/>
            </a:solidFill>
            <a:ln>
              <a:noFill/>
            </a:ln>
          </p:spPr>
        </p:sp>
        <p:sp>
          <p:nvSpPr>
            <p:cNvPr id="77" name="TextBox 77"/>
            <p:cNvSpPr txBox="1"/>
            <p:nvPr/>
          </p:nvSpPr>
          <p:spPr>
            <a:xfrm>
              <a:off x="3516338" y="40012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选择进入</a:t>
              </a:r>
            </a:p>
          </p:txBody>
        </p:sp>
        <p:sp>
          <p:nvSpPr>
            <p:cNvPr id="78" name="Rectangle 78"/>
            <p:cNvSpPr/>
            <p:nvPr/>
          </p:nvSpPr>
          <p:spPr>
            <a:xfrm>
              <a:off x="4648200" y="3943350"/>
              <a:ext cx="1828800" cy="209550"/>
            </a:xfrm>
            <a:prstGeom prst="rect">
              <a:avLst/>
            </a:prstGeom>
            <a:solidFill>
              <a:srgbClr val="9F5546"/>
            </a:solidFill>
            <a:ln>
              <a:noFill/>
            </a:ln>
          </p:spPr>
        </p:sp>
        <p:sp>
          <p:nvSpPr>
            <p:cNvPr id="79" name="TextBox 79"/>
            <p:cNvSpPr txBox="1"/>
            <p:nvPr/>
          </p:nvSpPr>
          <p:spPr>
            <a:xfrm>
              <a:off x="5345138" y="40012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退出收缩</a:t>
              </a:r>
            </a:p>
          </p:txBody>
        </p:sp>
        <p:sp>
          <p:nvSpPr>
            <p:cNvPr id="80" name="Ellipse 80"/>
            <p:cNvSpPr/>
            <p:nvPr/>
          </p:nvSpPr>
          <p:spPr>
            <a:xfrm>
              <a:off x="3181350" y="1400175"/>
              <a:ext cx="723900" cy="723900"/>
            </a:xfrm>
            <a:prstGeom prst="ellipse">
              <a:avLst/>
            </a:prstGeom>
            <a:solidFill>
              <a:srgbClr val="711E0D"/>
            </a:solidFill>
            <a:ln>
              <a:noFill/>
            </a:ln>
          </p:spPr>
        </p:sp>
        <p:sp>
          <p:nvSpPr>
            <p:cNvPr id="81" name="TextBox 81"/>
            <p:cNvSpPr txBox="1"/>
            <p:nvPr/>
          </p:nvSpPr>
          <p:spPr>
            <a:xfrm>
              <a:off x="3512253" y="1637586"/>
              <a:ext cx="62094"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①</a:t>
              </a:r>
            </a:p>
          </p:txBody>
        </p:sp>
        <p:sp>
          <p:nvSpPr>
            <p:cNvPr id="82" name="TextBox 82"/>
            <p:cNvSpPr txBox="1"/>
            <p:nvPr/>
          </p:nvSpPr>
          <p:spPr>
            <a:xfrm>
              <a:off x="3280067" y="1798082"/>
              <a:ext cx="526466" cy="126206"/>
            </a:xfrm>
            <a:prstGeom prst="rect">
              <a:avLst/>
            </a:prstGeom>
            <a:noFill/>
            <a:ln>
              <a:noFill/>
            </a:ln>
          </p:spPr>
          <p:txBody>
            <a:bodyPr wrap="none" lIns="0" tIns="0" rIns="0" bIns="0" anchor="t" anchorCtr="0">
              <a:spAutoFit/>
            </a:bodyPr>
            <a:lstStyle/>
            <a:p>
              <a:pPr algn="ctr"/>
              <a:r>
                <a:rPr lang="zh-CN" sz="640" dirty="0">
                  <a:solidFill>
                    <a:srgbClr val="FFFFFF"/>
                  </a:solidFill>
                  <a:latin typeface="+mn-lt"/>
                  <a:ea typeface="+mn-ea"/>
                  <a:cs typeface="+mn-cs"/>
                </a:rPr>
                <a:t>新能源商用车</a:t>
              </a:r>
            </a:p>
          </p:txBody>
        </p:sp>
        <p:sp>
          <p:nvSpPr>
            <p:cNvPr id="83" name="Ellipse 83"/>
            <p:cNvSpPr/>
            <p:nvPr/>
          </p:nvSpPr>
          <p:spPr>
            <a:xfrm>
              <a:off x="3895725" y="2057400"/>
              <a:ext cx="495300" cy="495300"/>
            </a:xfrm>
            <a:prstGeom prst="ellipse">
              <a:avLst/>
            </a:prstGeom>
            <a:solidFill>
              <a:srgbClr val="832D1B"/>
            </a:solidFill>
            <a:ln>
              <a:noFill/>
            </a:ln>
          </p:spPr>
        </p:sp>
        <p:sp>
          <p:nvSpPr>
            <p:cNvPr id="84" name="TextBox 84"/>
            <p:cNvSpPr txBox="1"/>
            <p:nvPr/>
          </p:nvSpPr>
          <p:spPr>
            <a:xfrm>
              <a:off x="4116400" y="2202180"/>
              <a:ext cx="53950"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②</a:t>
              </a:r>
            </a:p>
          </p:txBody>
        </p:sp>
        <p:sp>
          <p:nvSpPr>
            <p:cNvPr id="85" name="TextBox 85"/>
            <p:cNvSpPr txBox="1"/>
            <p:nvPr/>
          </p:nvSpPr>
          <p:spPr>
            <a:xfrm>
              <a:off x="3977068" y="2316480"/>
              <a:ext cx="33261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储能系统</a:t>
              </a:r>
            </a:p>
          </p:txBody>
        </p:sp>
        <p:sp>
          <p:nvSpPr>
            <p:cNvPr id="86" name="Ellipse 86"/>
            <p:cNvSpPr/>
            <p:nvPr/>
          </p:nvSpPr>
          <p:spPr>
            <a:xfrm>
              <a:off x="4933950" y="1314450"/>
              <a:ext cx="571500" cy="571500"/>
            </a:xfrm>
            <a:prstGeom prst="ellipse">
              <a:avLst/>
            </a:prstGeom>
            <a:solidFill>
              <a:srgbClr val="832D1B"/>
            </a:solidFill>
            <a:ln>
              <a:noFill/>
            </a:ln>
          </p:spPr>
        </p:sp>
        <p:sp>
          <p:nvSpPr>
            <p:cNvPr id="87" name="TextBox 87"/>
            <p:cNvSpPr txBox="1"/>
            <p:nvPr/>
          </p:nvSpPr>
          <p:spPr>
            <a:xfrm>
              <a:off x="5192725" y="1497330"/>
              <a:ext cx="53950"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③</a:t>
              </a:r>
            </a:p>
          </p:txBody>
        </p:sp>
        <p:sp>
          <p:nvSpPr>
            <p:cNvPr id="88" name="TextBox 88"/>
            <p:cNvSpPr txBox="1"/>
            <p:nvPr/>
          </p:nvSpPr>
          <p:spPr>
            <a:xfrm>
              <a:off x="5053394" y="1611630"/>
              <a:ext cx="332613"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工业软件</a:t>
              </a:r>
            </a:p>
          </p:txBody>
        </p:sp>
        <p:sp>
          <p:nvSpPr>
            <p:cNvPr id="89" name="Ellipse 89"/>
            <p:cNvSpPr/>
            <p:nvPr/>
          </p:nvSpPr>
          <p:spPr>
            <a:xfrm>
              <a:off x="5734050" y="1847850"/>
              <a:ext cx="495300" cy="495300"/>
            </a:xfrm>
            <a:prstGeom prst="ellipse">
              <a:avLst/>
            </a:prstGeom>
            <a:solidFill>
              <a:srgbClr val="A04431"/>
            </a:solidFill>
            <a:ln>
              <a:noFill/>
            </a:ln>
          </p:spPr>
        </p:sp>
        <p:sp>
          <p:nvSpPr>
            <p:cNvPr id="90" name="TextBox 90"/>
            <p:cNvSpPr txBox="1"/>
            <p:nvPr/>
          </p:nvSpPr>
          <p:spPr>
            <a:xfrm>
              <a:off x="5954725" y="1992630"/>
              <a:ext cx="53950"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④</a:t>
              </a:r>
            </a:p>
          </p:txBody>
        </p:sp>
        <p:sp>
          <p:nvSpPr>
            <p:cNvPr id="91" name="TextBox 91"/>
            <p:cNvSpPr txBox="1"/>
            <p:nvPr/>
          </p:nvSpPr>
          <p:spPr>
            <a:xfrm>
              <a:off x="5750776" y="2110978"/>
              <a:ext cx="461848"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高端医疗设备</a:t>
              </a:r>
            </a:p>
          </p:txBody>
        </p:sp>
        <p:sp>
          <p:nvSpPr>
            <p:cNvPr id="92" name="Ellipse 92"/>
            <p:cNvSpPr/>
            <p:nvPr/>
          </p:nvSpPr>
          <p:spPr>
            <a:xfrm>
              <a:off x="3076575" y="2809875"/>
              <a:ext cx="476250" cy="476250"/>
            </a:xfrm>
            <a:prstGeom prst="ellipse">
              <a:avLst/>
            </a:prstGeom>
            <a:solidFill>
              <a:srgbClr val="A04431"/>
            </a:solidFill>
            <a:ln>
              <a:noFill/>
            </a:ln>
          </p:spPr>
        </p:sp>
        <p:sp>
          <p:nvSpPr>
            <p:cNvPr id="93" name="TextBox 93"/>
            <p:cNvSpPr txBox="1"/>
            <p:nvPr/>
          </p:nvSpPr>
          <p:spPr>
            <a:xfrm>
              <a:off x="3287725" y="2945130"/>
              <a:ext cx="53950"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⑤</a:t>
              </a:r>
            </a:p>
          </p:txBody>
        </p:sp>
        <p:sp>
          <p:nvSpPr>
            <p:cNvPr id="94" name="TextBox 94"/>
            <p:cNvSpPr txBox="1"/>
            <p:nvPr/>
          </p:nvSpPr>
          <p:spPr>
            <a:xfrm>
              <a:off x="3083776" y="3044428"/>
              <a:ext cx="461848" cy="111919"/>
            </a:xfrm>
            <a:prstGeom prst="rect">
              <a:avLst/>
            </a:prstGeom>
            <a:noFill/>
            <a:ln>
              <a:noFill/>
            </a:ln>
          </p:spPr>
          <p:txBody>
            <a:bodyPr wrap="none" lIns="0" tIns="0" rIns="0" bIns="0" anchor="t" anchorCtr="0">
              <a:spAutoFit/>
            </a:bodyPr>
            <a:lstStyle/>
            <a:p>
              <a:pPr algn="ctr"/>
              <a:r>
                <a:rPr lang="zh-CN" sz="560" dirty="0">
                  <a:solidFill>
                    <a:srgbClr val="FFFFFF"/>
                  </a:solidFill>
                  <a:latin typeface="+mn-lt"/>
                  <a:ea typeface="+mn-ea"/>
                  <a:cs typeface="+mn-cs"/>
                </a:rPr>
                <a:t>跨境电商服务</a:t>
              </a:r>
            </a:p>
          </p:txBody>
        </p:sp>
        <p:sp>
          <p:nvSpPr>
            <p:cNvPr id="95" name="Ellipse 95"/>
            <p:cNvSpPr/>
            <p:nvPr/>
          </p:nvSpPr>
          <p:spPr>
            <a:xfrm>
              <a:off x="3905250" y="3343275"/>
              <a:ext cx="285750" cy="285750"/>
            </a:xfrm>
            <a:prstGeom prst="ellipse">
              <a:avLst/>
            </a:prstGeom>
            <a:solidFill>
              <a:srgbClr val="9F5546"/>
            </a:solidFill>
            <a:ln>
              <a:noFill/>
            </a:ln>
          </p:spPr>
        </p:sp>
        <p:sp>
          <p:nvSpPr>
            <p:cNvPr id="96" name="TextBox 96"/>
            <p:cNvSpPr txBox="1"/>
            <p:nvPr/>
          </p:nvSpPr>
          <p:spPr>
            <a:xfrm>
              <a:off x="4021150" y="3449955"/>
              <a:ext cx="53950"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⑥</a:t>
              </a:r>
            </a:p>
          </p:txBody>
        </p:sp>
        <p:sp>
          <p:nvSpPr>
            <p:cNvPr id="97" name="TextBox 97"/>
            <p:cNvSpPr txBox="1"/>
            <p:nvPr/>
          </p:nvSpPr>
          <p:spPr>
            <a:xfrm>
              <a:off x="3881818" y="3669030"/>
              <a:ext cx="33261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宠物食品</a:t>
              </a:r>
            </a:p>
          </p:txBody>
        </p:sp>
        <p:sp>
          <p:nvSpPr>
            <p:cNvPr id="98" name="Ellipse 98"/>
            <p:cNvSpPr/>
            <p:nvPr/>
          </p:nvSpPr>
          <p:spPr>
            <a:xfrm>
              <a:off x="5362575" y="3000375"/>
              <a:ext cx="285750" cy="285750"/>
            </a:xfrm>
            <a:prstGeom prst="ellipse">
              <a:avLst/>
            </a:prstGeom>
            <a:solidFill>
              <a:srgbClr val="9F5546"/>
            </a:solidFill>
            <a:ln>
              <a:noFill/>
            </a:ln>
          </p:spPr>
        </p:sp>
        <p:sp>
          <p:nvSpPr>
            <p:cNvPr id="99" name="TextBox 99"/>
            <p:cNvSpPr txBox="1"/>
            <p:nvPr/>
          </p:nvSpPr>
          <p:spPr>
            <a:xfrm>
              <a:off x="5478475" y="3107055"/>
              <a:ext cx="53950"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⑦</a:t>
              </a:r>
            </a:p>
          </p:txBody>
        </p:sp>
        <p:sp>
          <p:nvSpPr>
            <p:cNvPr id="100" name="TextBox 100"/>
            <p:cNvSpPr txBox="1"/>
            <p:nvPr/>
          </p:nvSpPr>
          <p:spPr>
            <a:xfrm>
              <a:off x="5258371" y="33261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传统印刷包装</a:t>
              </a:r>
            </a:p>
          </p:txBody>
        </p:sp>
        <p:sp>
          <p:nvSpPr>
            <p:cNvPr id="101" name="Ellipse 101"/>
            <p:cNvSpPr/>
            <p:nvPr/>
          </p:nvSpPr>
          <p:spPr>
            <a:xfrm>
              <a:off x="6048375" y="3419475"/>
              <a:ext cx="247650" cy="247650"/>
            </a:xfrm>
            <a:prstGeom prst="ellipse">
              <a:avLst/>
            </a:prstGeom>
            <a:solidFill>
              <a:srgbClr val="C2887C"/>
            </a:solidFill>
            <a:ln>
              <a:noFill/>
            </a:ln>
          </p:spPr>
        </p:sp>
        <p:sp>
          <p:nvSpPr>
            <p:cNvPr id="102" name="TextBox 102"/>
            <p:cNvSpPr txBox="1"/>
            <p:nvPr/>
          </p:nvSpPr>
          <p:spPr>
            <a:xfrm>
              <a:off x="6145225" y="3507105"/>
              <a:ext cx="53950" cy="119062"/>
            </a:xfrm>
            <a:prstGeom prst="rect">
              <a:avLst/>
            </a:prstGeom>
            <a:noFill/>
            <a:ln>
              <a:noFill/>
            </a:ln>
          </p:spPr>
          <p:txBody>
            <a:bodyPr wrap="none" lIns="0" tIns="0" rIns="0" bIns="0" anchor="t" anchorCtr="0">
              <a:spAutoFit/>
            </a:bodyPr>
            <a:lstStyle/>
            <a:p>
              <a:pPr algn="ctr"/>
              <a:r>
                <a:rPr lang="zh-CN" sz="600" dirty="0">
                  <a:solidFill>
                    <a:srgbClr val="FFFFFF"/>
                  </a:solidFill>
                  <a:latin typeface="+mn-lt"/>
                  <a:ea typeface="+mn-ea"/>
                  <a:cs typeface="+mn-cs"/>
                </a:rPr>
                <a:t>⑧</a:t>
              </a:r>
            </a:p>
          </p:txBody>
        </p:sp>
        <p:sp>
          <p:nvSpPr>
            <p:cNvPr id="103" name="TextBox 103"/>
            <p:cNvSpPr txBox="1"/>
            <p:nvPr/>
          </p:nvSpPr>
          <p:spPr>
            <a:xfrm>
              <a:off x="6005894" y="3707130"/>
              <a:ext cx="33261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低端家纺</a:t>
              </a:r>
            </a:p>
          </p:txBody>
        </p:sp>
        <p:sp>
          <p:nvSpPr>
            <p:cNvPr id="104" name="Line 104"/>
            <p:cNvSpPr/>
            <p:nvPr/>
          </p:nvSpPr>
          <p:spPr>
            <a:xfrm flipV="1">
              <a:off x="2762250" y="1028700"/>
              <a:ext cx="1" cy="3124200"/>
            </a:xfrm>
            <a:prstGeom prst="line">
              <a:avLst/>
            </a:prstGeom>
            <a:noFill/>
            <a:ln w="14288">
              <a:solidFill>
                <a:srgbClr val="944130"/>
              </a:solidFill>
              <a:tailEnd type="triangle" w="lg" len="lg"/>
            </a:ln>
          </p:spPr>
        </p:sp>
        <p:sp>
          <p:nvSpPr>
            <p:cNvPr id="105" name="TextBox 105"/>
            <p:cNvSpPr txBox="1"/>
            <p:nvPr/>
          </p:nvSpPr>
          <p:spPr>
            <a:xfrm>
              <a:off x="2833688" y="1135380"/>
              <a:ext cx="429539"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高（≥3.5）</a:t>
              </a:r>
            </a:p>
          </p:txBody>
        </p:sp>
        <p:sp>
          <p:nvSpPr>
            <p:cNvPr id="106" name="TextBox 106"/>
            <p:cNvSpPr txBox="1"/>
            <p:nvPr/>
          </p:nvSpPr>
          <p:spPr>
            <a:xfrm>
              <a:off x="2833688" y="2468880"/>
              <a:ext cx="562813"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中（2.5–3.5）</a:t>
              </a:r>
            </a:p>
          </p:txBody>
        </p:sp>
        <p:sp>
          <p:nvSpPr>
            <p:cNvPr id="107" name="TextBox 107"/>
            <p:cNvSpPr txBox="1"/>
            <p:nvPr/>
          </p:nvSpPr>
          <p:spPr>
            <a:xfrm>
              <a:off x="2833688" y="3802380"/>
              <a:ext cx="429539"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低（&lt;2.5）</a:t>
              </a:r>
            </a:p>
          </p:txBody>
        </p:sp>
        <p:sp>
          <p:nvSpPr>
            <p:cNvPr id="108" name="Line 108"/>
            <p:cNvSpPr/>
            <p:nvPr/>
          </p:nvSpPr>
          <p:spPr>
            <a:xfrm>
              <a:off x="2819400" y="4229100"/>
              <a:ext cx="3733800" cy="1"/>
            </a:xfrm>
            <a:prstGeom prst="line">
              <a:avLst/>
            </a:prstGeom>
            <a:noFill/>
            <a:ln w="14288">
              <a:solidFill>
                <a:srgbClr val="944130"/>
              </a:solidFill>
              <a:tailEnd type="triangle" w="lg" len="lg"/>
            </a:ln>
          </p:spPr>
        </p:sp>
        <p:sp>
          <p:nvSpPr>
            <p:cNvPr id="109" name="TextBox 109"/>
            <p:cNvSpPr txBox="1"/>
            <p:nvPr/>
          </p:nvSpPr>
          <p:spPr>
            <a:xfrm>
              <a:off x="3023730" y="4297680"/>
              <a:ext cx="429539" cy="119062"/>
            </a:xfrm>
            <a:prstGeom prst="rect">
              <a:avLst/>
            </a:prstGeom>
            <a:noFill/>
            <a:ln>
              <a:noFill/>
            </a:ln>
          </p:spPr>
          <p:txBody>
            <a:bodyPr wrap="none" lIns="0" tIns="0" rIns="0" bIns="0" anchor="t" anchorCtr="0">
              <a:spAutoFit/>
            </a:bodyPr>
            <a:lstStyle/>
            <a:p>
              <a:pPr algn="ctr"/>
              <a:r>
                <a:rPr lang="zh-CN" sz="600" dirty="0">
                  <a:solidFill>
                    <a:srgbClr val="6E5955"/>
                  </a:solidFill>
                  <a:latin typeface="+mn-lt"/>
                  <a:ea typeface="+mn-ea"/>
                  <a:cs typeface="+mn-cs"/>
                </a:rPr>
                <a:t>低（&lt;2.5）</a:t>
              </a:r>
            </a:p>
          </p:txBody>
        </p:sp>
        <p:sp>
          <p:nvSpPr>
            <p:cNvPr id="110" name="TextBox 110"/>
            <p:cNvSpPr txBox="1"/>
            <p:nvPr/>
          </p:nvSpPr>
          <p:spPr>
            <a:xfrm>
              <a:off x="4366793" y="4297680"/>
              <a:ext cx="562813" cy="119062"/>
            </a:xfrm>
            <a:prstGeom prst="rect">
              <a:avLst/>
            </a:prstGeom>
            <a:noFill/>
            <a:ln>
              <a:noFill/>
            </a:ln>
          </p:spPr>
          <p:txBody>
            <a:bodyPr wrap="none" lIns="0" tIns="0" rIns="0" bIns="0" anchor="t" anchorCtr="0">
              <a:spAutoFit/>
            </a:bodyPr>
            <a:lstStyle/>
            <a:p>
              <a:pPr algn="ctr"/>
              <a:r>
                <a:rPr lang="zh-CN" sz="600" dirty="0">
                  <a:solidFill>
                    <a:srgbClr val="6E5955"/>
                  </a:solidFill>
                  <a:latin typeface="+mn-lt"/>
                  <a:ea typeface="+mn-ea"/>
                  <a:cs typeface="+mn-cs"/>
                </a:rPr>
                <a:t>中（2.5–3.5）</a:t>
              </a:r>
            </a:p>
          </p:txBody>
        </p:sp>
        <p:sp>
          <p:nvSpPr>
            <p:cNvPr id="111" name="TextBox 111"/>
            <p:cNvSpPr txBox="1"/>
            <p:nvPr/>
          </p:nvSpPr>
          <p:spPr>
            <a:xfrm>
              <a:off x="5843130" y="4297680"/>
              <a:ext cx="429539" cy="119062"/>
            </a:xfrm>
            <a:prstGeom prst="rect">
              <a:avLst/>
            </a:prstGeom>
            <a:noFill/>
            <a:ln>
              <a:noFill/>
            </a:ln>
          </p:spPr>
          <p:txBody>
            <a:bodyPr wrap="none" lIns="0" tIns="0" rIns="0" bIns="0" anchor="t" anchorCtr="0">
              <a:spAutoFit/>
            </a:bodyPr>
            <a:lstStyle/>
            <a:p>
              <a:pPr algn="ctr"/>
              <a:r>
                <a:rPr lang="zh-CN" sz="600" dirty="0">
                  <a:solidFill>
                    <a:srgbClr val="6E5955"/>
                  </a:solidFill>
                  <a:latin typeface="+mn-lt"/>
                  <a:ea typeface="+mn-ea"/>
                  <a:cs typeface="+mn-cs"/>
                </a:rPr>
                <a:t>高（≥3.5）</a:t>
              </a:r>
            </a:p>
          </p:txBody>
        </p:sp>
        <p:sp>
          <p:nvSpPr>
            <p:cNvPr id="112" name="TextBox 112"/>
            <p:cNvSpPr txBox="1"/>
            <p:nvPr/>
          </p:nvSpPr>
          <p:spPr>
            <a:xfrm>
              <a:off x="4430738" y="4410789"/>
              <a:ext cx="434924"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企业能力</a:t>
              </a:r>
            </a:p>
          </p:txBody>
        </p:sp>
        <p:sp>
          <p:nvSpPr>
            <p:cNvPr id="113" name="Rectangle 113"/>
            <p:cNvSpPr/>
            <p:nvPr/>
          </p:nvSpPr>
          <p:spPr>
            <a:xfrm>
              <a:off x="6610350" y="1238250"/>
              <a:ext cx="800100" cy="1428750"/>
            </a:xfrm>
            <a:prstGeom prst="rect">
              <a:avLst/>
            </a:prstGeom>
            <a:solidFill>
              <a:srgbClr val="FFFFFF"/>
            </a:solidFill>
            <a:ln w="9525">
              <a:solidFill>
                <a:srgbClr val="C7D2E4"/>
              </a:solidFill>
            </a:ln>
          </p:spPr>
        </p:sp>
        <p:sp>
          <p:nvSpPr>
            <p:cNvPr id="114" name="TextBox 114"/>
            <p:cNvSpPr txBox="1"/>
            <p:nvPr/>
          </p:nvSpPr>
          <p:spPr>
            <a:xfrm>
              <a:off x="6662738" y="1329928"/>
              <a:ext cx="461848"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潜在收入规模</a:t>
              </a:r>
            </a:p>
          </p:txBody>
        </p:sp>
        <p:sp>
          <p:nvSpPr>
            <p:cNvPr id="115" name="TextBox 115"/>
            <p:cNvSpPr txBox="1"/>
            <p:nvPr/>
          </p:nvSpPr>
          <p:spPr>
            <a:xfrm>
              <a:off x="6662738" y="1434703"/>
              <a:ext cx="461848"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（相对量级）</a:t>
              </a:r>
            </a:p>
          </p:txBody>
        </p:sp>
        <p:sp>
          <p:nvSpPr>
            <p:cNvPr id="116" name="Ellipse 116"/>
            <p:cNvSpPr/>
            <p:nvPr/>
          </p:nvSpPr>
          <p:spPr>
            <a:xfrm>
              <a:off x="6648450" y="1600200"/>
              <a:ext cx="152400" cy="152400"/>
            </a:xfrm>
            <a:prstGeom prst="ellipse">
              <a:avLst/>
            </a:prstGeom>
            <a:solidFill>
              <a:srgbClr val="711E0D"/>
            </a:solidFill>
            <a:ln>
              <a:noFill/>
            </a:ln>
          </p:spPr>
        </p:sp>
        <p:sp>
          <p:nvSpPr>
            <p:cNvPr id="117" name="TextBox 117"/>
            <p:cNvSpPr txBox="1"/>
            <p:nvPr/>
          </p:nvSpPr>
          <p:spPr>
            <a:xfrm>
              <a:off x="6834188" y="1640205"/>
              <a:ext cx="453771"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很大 ≥100亿</a:t>
              </a:r>
            </a:p>
          </p:txBody>
        </p:sp>
        <p:sp>
          <p:nvSpPr>
            <p:cNvPr id="118" name="Ellipse 118"/>
            <p:cNvSpPr/>
            <p:nvPr/>
          </p:nvSpPr>
          <p:spPr>
            <a:xfrm>
              <a:off x="6667500" y="1866900"/>
              <a:ext cx="114300" cy="114300"/>
            </a:xfrm>
            <a:prstGeom prst="ellipse">
              <a:avLst/>
            </a:prstGeom>
            <a:solidFill>
              <a:srgbClr val="832D1B"/>
            </a:solidFill>
            <a:ln>
              <a:noFill/>
            </a:ln>
          </p:spPr>
        </p:sp>
        <p:sp>
          <p:nvSpPr>
            <p:cNvPr id="119" name="TextBox 119"/>
            <p:cNvSpPr txBox="1"/>
            <p:nvPr/>
          </p:nvSpPr>
          <p:spPr>
            <a:xfrm>
              <a:off x="6834188" y="1887855"/>
              <a:ext cx="461848"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大 50–100亿</a:t>
              </a:r>
            </a:p>
          </p:txBody>
        </p:sp>
        <p:sp>
          <p:nvSpPr>
            <p:cNvPr id="120" name="Ellipse 120"/>
            <p:cNvSpPr/>
            <p:nvPr/>
          </p:nvSpPr>
          <p:spPr>
            <a:xfrm>
              <a:off x="6681788" y="2128838"/>
              <a:ext cx="85725" cy="85725"/>
            </a:xfrm>
            <a:prstGeom prst="ellipse">
              <a:avLst/>
            </a:prstGeom>
            <a:solidFill>
              <a:srgbClr val="A04431"/>
            </a:solidFill>
            <a:ln>
              <a:noFill/>
            </a:ln>
          </p:spPr>
        </p:sp>
        <p:sp>
          <p:nvSpPr>
            <p:cNvPr id="121" name="TextBox 121"/>
            <p:cNvSpPr txBox="1"/>
            <p:nvPr/>
          </p:nvSpPr>
          <p:spPr>
            <a:xfrm>
              <a:off x="6834188" y="2135505"/>
              <a:ext cx="417424"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中 20–50亿</a:t>
              </a:r>
            </a:p>
          </p:txBody>
        </p:sp>
        <p:sp>
          <p:nvSpPr>
            <p:cNvPr id="122" name="Ellipse 122"/>
            <p:cNvSpPr/>
            <p:nvPr/>
          </p:nvSpPr>
          <p:spPr>
            <a:xfrm>
              <a:off x="6696075" y="2390775"/>
              <a:ext cx="57150" cy="57150"/>
            </a:xfrm>
            <a:prstGeom prst="ellipse">
              <a:avLst/>
            </a:prstGeom>
            <a:solidFill>
              <a:srgbClr val="9F5546"/>
            </a:solidFill>
            <a:ln>
              <a:noFill/>
            </a:ln>
          </p:spPr>
        </p:sp>
        <p:sp>
          <p:nvSpPr>
            <p:cNvPr id="123" name="TextBox 123"/>
            <p:cNvSpPr txBox="1"/>
            <p:nvPr/>
          </p:nvSpPr>
          <p:spPr>
            <a:xfrm>
              <a:off x="6834188" y="2383155"/>
              <a:ext cx="328574" cy="119062"/>
            </a:xfrm>
            <a:prstGeom prst="rect">
              <a:avLst/>
            </a:prstGeom>
            <a:noFill/>
            <a:ln>
              <a:noFill/>
            </a:ln>
          </p:spPr>
          <p:txBody>
            <a:bodyPr wrap="none" lIns="0" tIns="0" rIns="0" bIns="0" anchor="t" anchorCtr="0">
              <a:spAutoFit/>
            </a:bodyPr>
            <a:lstStyle/>
            <a:p>
              <a:pPr algn="l"/>
              <a:r>
                <a:rPr lang="zh-CN" sz="600" dirty="0">
                  <a:solidFill>
                    <a:srgbClr val="453633"/>
                  </a:solidFill>
                  <a:latin typeface="+mn-lt"/>
                  <a:ea typeface="+mn-ea"/>
                  <a:cs typeface="+mn-cs"/>
                </a:rPr>
                <a:t>小 &lt;20亿</a:t>
              </a:r>
            </a:p>
          </p:txBody>
        </p:sp>
      </p:grpSp>
      <p:grpSp>
        <p:nvGrpSpPr>
          <p:cNvPr id="205" name="decision"/>
          <p:cNvGrpSpPr/>
          <p:nvPr/>
        </p:nvGrpSpPr>
        <p:grpSpPr>
          <a:xfrm>
            <a:off x="7581900" y="762000"/>
            <a:ext cx="4381500" cy="3581400"/>
            <a:chOff x="7581900" y="762000"/>
            <a:chExt cx="4381500" cy="3581400"/>
          </a:xfrm>
        </p:grpSpPr>
        <p:sp>
          <p:nvSpPr>
            <p:cNvPr id="125" name="Rectangle 125"/>
            <p:cNvSpPr/>
            <p:nvPr/>
          </p:nvSpPr>
          <p:spPr>
            <a:xfrm>
              <a:off x="7581900" y="762000"/>
              <a:ext cx="4381500" cy="247650"/>
            </a:xfrm>
            <a:prstGeom prst="rect">
              <a:avLst/>
            </a:prstGeom>
            <a:solidFill>
              <a:srgbClr val="4E0D00"/>
            </a:solidFill>
            <a:ln>
              <a:noFill/>
            </a:ln>
          </p:spPr>
        </p:sp>
        <p:sp>
          <p:nvSpPr>
            <p:cNvPr id="126" name="TextBox 126"/>
            <p:cNvSpPr txBox="1"/>
            <p:nvPr/>
          </p:nvSpPr>
          <p:spPr>
            <a:xfrm>
              <a:off x="9448838" y="848439"/>
              <a:ext cx="6476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机会决策建议</a:t>
              </a:r>
            </a:p>
          </p:txBody>
        </p:sp>
        <p:sp>
          <p:nvSpPr>
            <p:cNvPr id="127" name="Rectangle 127"/>
            <p:cNvSpPr/>
            <p:nvPr/>
          </p:nvSpPr>
          <p:spPr>
            <a:xfrm>
              <a:off x="7581900" y="1047750"/>
              <a:ext cx="819150" cy="247650"/>
            </a:xfrm>
            <a:prstGeom prst="rect">
              <a:avLst/>
            </a:prstGeom>
            <a:solidFill>
              <a:srgbClr val="711E0D"/>
            </a:solidFill>
            <a:ln>
              <a:noFill/>
            </a:ln>
          </p:spPr>
        </p:sp>
        <p:sp>
          <p:nvSpPr>
            <p:cNvPr id="128" name="TextBox 128"/>
            <p:cNvSpPr txBox="1"/>
            <p:nvPr/>
          </p:nvSpPr>
          <p:spPr>
            <a:xfrm>
              <a:off x="7900556" y="1140857"/>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机会</a:t>
              </a:r>
            </a:p>
          </p:txBody>
        </p:sp>
        <p:sp>
          <p:nvSpPr>
            <p:cNvPr id="129" name="Rectangle 129"/>
            <p:cNvSpPr/>
            <p:nvPr/>
          </p:nvSpPr>
          <p:spPr>
            <a:xfrm>
              <a:off x="8401050" y="1047750"/>
              <a:ext cx="628650" cy="247650"/>
            </a:xfrm>
            <a:prstGeom prst="rect">
              <a:avLst/>
            </a:prstGeom>
            <a:solidFill>
              <a:srgbClr val="4E0D00"/>
            </a:solidFill>
            <a:ln>
              <a:noFill/>
            </a:ln>
          </p:spPr>
        </p:sp>
        <p:sp>
          <p:nvSpPr>
            <p:cNvPr id="130" name="TextBox 130"/>
            <p:cNvSpPr txBox="1"/>
            <p:nvPr/>
          </p:nvSpPr>
          <p:spPr>
            <a:xfrm>
              <a:off x="8508682" y="1087755"/>
              <a:ext cx="413385"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吸引力得分</a:t>
              </a:r>
            </a:p>
          </p:txBody>
        </p:sp>
        <p:sp>
          <p:nvSpPr>
            <p:cNvPr id="131" name="TextBox 131"/>
            <p:cNvSpPr txBox="1"/>
            <p:nvPr/>
          </p:nvSpPr>
          <p:spPr>
            <a:xfrm>
              <a:off x="8593762" y="1196578"/>
              <a:ext cx="243225" cy="111919"/>
            </a:xfrm>
            <a:prstGeom prst="rect">
              <a:avLst/>
            </a:prstGeom>
            <a:noFill/>
            <a:ln>
              <a:noFill/>
            </a:ln>
          </p:spPr>
          <p:txBody>
            <a:bodyPr wrap="none" lIns="0" tIns="0" rIns="0" bIns="0" anchor="t" anchorCtr="0">
              <a:spAutoFit/>
            </a:bodyPr>
            <a:lstStyle/>
            <a:p>
              <a:pPr algn="ctr"/>
              <a:r>
                <a:rPr lang="zh-CN" sz="560" dirty="0">
                  <a:solidFill>
                    <a:srgbClr val="C9D3E4"/>
                  </a:solidFill>
                  <a:latin typeface="+mn-lt"/>
                  <a:ea typeface="+mn-ea"/>
                  <a:cs typeface="+mn-cs"/>
                </a:rPr>
                <a:t>（/5）</a:t>
              </a:r>
            </a:p>
          </p:txBody>
        </p:sp>
        <p:sp>
          <p:nvSpPr>
            <p:cNvPr id="132" name="Rectangle 132"/>
            <p:cNvSpPr/>
            <p:nvPr/>
          </p:nvSpPr>
          <p:spPr>
            <a:xfrm>
              <a:off x="9029700" y="1047750"/>
              <a:ext cx="628650" cy="247650"/>
            </a:xfrm>
            <a:prstGeom prst="rect">
              <a:avLst/>
            </a:prstGeom>
            <a:solidFill>
              <a:srgbClr val="4E0D00"/>
            </a:solidFill>
            <a:ln>
              <a:noFill/>
            </a:ln>
          </p:spPr>
        </p:sp>
        <p:sp>
          <p:nvSpPr>
            <p:cNvPr id="133" name="TextBox 133"/>
            <p:cNvSpPr txBox="1"/>
            <p:nvPr/>
          </p:nvSpPr>
          <p:spPr>
            <a:xfrm>
              <a:off x="9177718" y="1087755"/>
              <a:ext cx="33261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能力得分</a:t>
              </a:r>
            </a:p>
          </p:txBody>
        </p:sp>
        <p:sp>
          <p:nvSpPr>
            <p:cNvPr id="134" name="TextBox 134"/>
            <p:cNvSpPr txBox="1"/>
            <p:nvPr/>
          </p:nvSpPr>
          <p:spPr>
            <a:xfrm>
              <a:off x="9222412" y="1196578"/>
              <a:ext cx="243225" cy="111919"/>
            </a:xfrm>
            <a:prstGeom prst="rect">
              <a:avLst/>
            </a:prstGeom>
            <a:noFill/>
            <a:ln>
              <a:noFill/>
            </a:ln>
          </p:spPr>
          <p:txBody>
            <a:bodyPr wrap="none" lIns="0" tIns="0" rIns="0" bIns="0" anchor="t" anchorCtr="0">
              <a:spAutoFit/>
            </a:bodyPr>
            <a:lstStyle/>
            <a:p>
              <a:pPr algn="ctr"/>
              <a:r>
                <a:rPr lang="zh-CN" sz="560" dirty="0">
                  <a:solidFill>
                    <a:srgbClr val="C9D3E4"/>
                  </a:solidFill>
                  <a:latin typeface="+mn-lt"/>
                  <a:ea typeface="+mn-ea"/>
                  <a:cs typeface="+mn-cs"/>
                </a:rPr>
                <a:t>（/5）</a:t>
              </a:r>
            </a:p>
          </p:txBody>
        </p:sp>
        <p:sp>
          <p:nvSpPr>
            <p:cNvPr id="135" name="Rectangle 135"/>
            <p:cNvSpPr/>
            <p:nvPr/>
          </p:nvSpPr>
          <p:spPr>
            <a:xfrm>
              <a:off x="9658350" y="1047750"/>
              <a:ext cx="990600" cy="247650"/>
            </a:xfrm>
            <a:prstGeom prst="rect">
              <a:avLst/>
            </a:prstGeom>
            <a:solidFill>
              <a:srgbClr val="4E0D00"/>
            </a:solidFill>
            <a:ln>
              <a:noFill/>
            </a:ln>
          </p:spPr>
        </p:sp>
        <p:sp>
          <p:nvSpPr>
            <p:cNvPr id="136" name="TextBox 136"/>
            <p:cNvSpPr txBox="1"/>
            <p:nvPr/>
          </p:nvSpPr>
          <p:spPr>
            <a:xfrm>
              <a:off x="9976574" y="11408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进入策略</a:t>
              </a:r>
            </a:p>
          </p:txBody>
        </p:sp>
        <p:sp>
          <p:nvSpPr>
            <p:cNvPr id="137" name="Rectangle 137"/>
            <p:cNvSpPr/>
            <p:nvPr/>
          </p:nvSpPr>
          <p:spPr>
            <a:xfrm>
              <a:off x="10648950" y="1047750"/>
              <a:ext cx="1314450" cy="247650"/>
            </a:xfrm>
            <a:prstGeom prst="rect">
              <a:avLst/>
            </a:prstGeom>
            <a:solidFill>
              <a:srgbClr val="4E0D00"/>
            </a:solidFill>
            <a:ln>
              <a:noFill/>
            </a:ln>
          </p:spPr>
        </p:sp>
        <p:sp>
          <p:nvSpPr>
            <p:cNvPr id="138" name="TextBox 138"/>
            <p:cNvSpPr txBox="1"/>
            <p:nvPr/>
          </p:nvSpPr>
          <p:spPr>
            <a:xfrm>
              <a:off x="11129099" y="1140857"/>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资源要求</a:t>
              </a:r>
            </a:p>
          </p:txBody>
        </p:sp>
        <p:grpSp>
          <p:nvGrpSpPr>
            <p:cNvPr id="155" name="dc-1"/>
            <p:cNvGrpSpPr/>
            <p:nvPr/>
          </p:nvGrpSpPr>
          <p:grpSpPr>
            <a:xfrm>
              <a:off x="7581900" y="1295400"/>
              <a:ext cx="4381500" cy="762000"/>
              <a:chOff x="7581900" y="1295400"/>
              <a:chExt cx="4381500" cy="762000"/>
            </a:xfrm>
          </p:grpSpPr>
          <p:sp>
            <p:nvSpPr>
              <p:cNvPr id="139" name="Rectangle 139"/>
              <p:cNvSpPr/>
              <p:nvPr/>
            </p:nvSpPr>
            <p:spPr>
              <a:xfrm>
                <a:off x="7581900" y="1295400"/>
                <a:ext cx="4381500" cy="762000"/>
              </a:xfrm>
              <a:prstGeom prst="rect">
                <a:avLst/>
              </a:prstGeom>
              <a:solidFill>
                <a:srgbClr val="FFFFFF"/>
              </a:solidFill>
              <a:ln w="9525">
                <a:solidFill>
                  <a:srgbClr val="E2E8F2"/>
                </a:solidFill>
              </a:ln>
            </p:spPr>
          </p:sp>
          <p:sp>
            <p:nvSpPr>
              <p:cNvPr id="140" name="Rectangle 140"/>
              <p:cNvSpPr/>
              <p:nvPr/>
            </p:nvSpPr>
            <p:spPr>
              <a:xfrm>
                <a:off x="7581900" y="1295400"/>
                <a:ext cx="819150" cy="762000"/>
              </a:xfrm>
              <a:prstGeom prst="rect">
                <a:avLst/>
              </a:prstGeom>
              <a:solidFill>
                <a:srgbClr val="EFF3FA"/>
              </a:solidFill>
              <a:ln>
                <a:noFill/>
              </a:ln>
            </p:spPr>
          </p:sp>
          <p:sp>
            <p:nvSpPr>
              <p:cNvPr id="141" name="Ellipse 141"/>
              <p:cNvSpPr/>
              <p:nvPr/>
            </p:nvSpPr>
            <p:spPr>
              <a:xfrm>
                <a:off x="7667625" y="1485900"/>
                <a:ext cx="133350" cy="133350"/>
              </a:xfrm>
              <a:prstGeom prst="ellipse">
                <a:avLst/>
              </a:prstGeom>
              <a:solidFill>
                <a:srgbClr val="4E0D00"/>
              </a:solidFill>
              <a:ln>
                <a:noFill/>
              </a:ln>
            </p:spPr>
          </p:sp>
          <p:sp>
            <p:nvSpPr>
              <p:cNvPr id="142" name="TextBox 142"/>
              <p:cNvSpPr txBox="1"/>
              <p:nvPr/>
            </p:nvSpPr>
            <p:spPr>
              <a:xfrm>
                <a:off x="7706215" y="1516380"/>
                <a:ext cx="5617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1</a:t>
                </a:r>
              </a:p>
            </p:txBody>
          </p:sp>
          <p:sp>
            <p:nvSpPr>
              <p:cNvPr id="143" name="TextBox 143"/>
              <p:cNvSpPr txBox="1"/>
              <p:nvPr/>
            </p:nvSpPr>
            <p:spPr>
              <a:xfrm>
                <a:off x="7843838" y="1455182"/>
                <a:ext cx="267995"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新能源</a:t>
                </a:r>
              </a:p>
            </p:txBody>
          </p:sp>
          <p:sp>
            <p:nvSpPr>
              <p:cNvPr id="144" name="TextBox 144"/>
              <p:cNvSpPr txBox="1"/>
              <p:nvPr/>
            </p:nvSpPr>
            <p:spPr>
              <a:xfrm>
                <a:off x="7843838" y="1588532"/>
                <a:ext cx="267995"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商用车</a:t>
                </a:r>
              </a:p>
            </p:txBody>
          </p:sp>
          <p:sp>
            <p:nvSpPr>
              <p:cNvPr id="145" name="TextBox 145"/>
              <p:cNvSpPr txBox="1"/>
              <p:nvPr/>
            </p:nvSpPr>
            <p:spPr>
              <a:xfrm>
                <a:off x="8614989" y="1625441"/>
                <a:ext cx="200773" cy="161925"/>
              </a:xfrm>
              <a:prstGeom prst="rect">
                <a:avLst/>
              </a:prstGeom>
              <a:noFill/>
              <a:ln>
                <a:noFill/>
              </a:ln>
            </p:spPr>
            <p:txBody>
              <a:bodyPr wrap="none" lIns="0" tIns="0" rIns="0" bIns="0" anchor="t" anchorCtr="0">
                <a:spAutoFit/>
              </a:bodyPr>
              <a:lstStyle/>
              <a:p>
                <a:pPr algn="ctr"/>
                <a:r>
                  <a:rPr lang="zh-CN" sz="820" b="1" dirty="0">
                    <a:solidFill>
                      <a:srgbClr val="55251B"/>
                    </a:solidFill>
                    <a:latin typeface="+mn-lt"/>
                    <a:ea typeface="+mn-ea"/>
                    <a:cs typeface="+mn-cs"/>
                  </a:rPr>
                  <a:t>4.6</a:t>
                </a:r>
              </a:p>
            </p:txBody>
          </p:sp>
          <p:sp>
            <p:nvSpPr>
              <p:cNvPr id="146" name="TextBox 146"/>
              <p:cNvSpPr txBox="1"/>
              <p:nvPr/>
            </p:nvSpPr>
            <p:spPr>
              <a:xfrm>
                <a:off x="9243639" y="1625441"/>
                <a:ext cx="200773" cy="161925"/>
              </a:xfrm>
              <a:prstGeom prst="rect">
                <a:avLst/>
              </a:prstGeom>
              <a:noFill/>
              <a:ln>
                <a:noFill/>
              </a:ln>
            </p:spPr>
            <p:txBody>
              <a:bodyPr wrap="none" lIns="0" tIns="0" rIns="0" bIns="0" anchor="t" anchorCtr="0">
                <a:spAutoFit/>
              </a:bodyPr>
              <a:lstStyle/>
              <a:p>
                <a:pPr algn="ctr"/>
                <a:r>
                  <a:rPr lang="zh-CN" sz="820" b="1" dirty="0">
                    <a:solidFill>
                      <a:srgbClr val="55251B"/>
                    </a:solidFill>
                    <a:latin typeface="+mn-lt"/>
                    <a:ea typeface="+mn-ea"/>
                    <a:cs typeface="+mn-cs"/>
                  </a:rPr>
                  <a:t>2.8</a:t>
                </a:r>
              </a:p>
            </p:txBody>
          </p:sp>
          <p:sp>
            <p:nvSpPr>
              <p:cNvPr id="147" name="TextBox 147"/>
              <p:cNvSpPr txBox="1"/>
              <p:nvPr/>
            </p:nvSpPr>
            <p:spPr>
              <a:xfrm>
                <a:off x="9965804" y="1565434"/>
                <a:ext cx="375691"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重点投入</a:t>
                </a:r>
              </a:p>
            </p:txBody>
          </p:sp>
          <p:sp>
            <p:nvSpPr>
              <p:cNvPr id="148" name="TextBox 148"/>
              <p:cNvSpPr txBox="1"/>
              <p:nvPr/>
            </p:nvSpPr>
            <p:spPr>
              <a:xfrm>
                <a:off x="9906572" y="1706880"/>
                <a:ext cx="494157" cy="119062"/>
              </a:xfrm>
              <a:prstGeom prst="rect">
                <a:avLst/>
              </a:prstGeom>
              <a:noFill/>
              <a:ln>
                <a:noFill/>
              </a:ln>
            </p:spPr>
            <p:txBody>
              <a:bodyPr wrap="none" lIns="0" tIns="0" rIns="0" bIns="0" anchor="t" anchorCtr="0">
                <a:spAutoFit/>
              </a:bodyPr>
              <a:lstStyle/>
              <a:p>
                <a:pPr algn="ctr"/>
                <a:r>
                  <a:rPr lang="zh-CN" sz="600" dirty="0">
                    <a:solidFill>
                      <a:srgbClr val="6E5955"/>
                    </a:solidFill>
                    <a:latin typeface="+mn-lt"/>
                    <a:ea typeface="+mn-ea"/>
                    <a:cs typeface="+mn-cs"/>
                  </a:rPr>
                  <a:t>（攻坚突破）</a:t>
                </a:r>
              </a:p>
            </p:txBody>
          </p:sp>
          <p:sp>
            <p:nvSpPr>
              <p:cNvPr id="149" name="Ellipse 149"/>
              <p:cNvSpPr/>
              <p:nvPr/>
            </p:nvSpPr>
            <p:spPr>
              <a:xfrm>
                <a:off x="10729912" y="1490662"/>
                <a:ext cx="28575" cy="28575"/>
              </a:xfrm>
              <a:prstGeom prst="ellipse">
                <a:avLst/>
              </a:prstGeom>
              <a:solidFill>
                <a:srgbClr val="711E0D"/>
              </a:solidFill>
              <a:ln>
                <a:noFill/>
              </a:ln>
            </p:spPr>
          </p:sp>
          <p:sp>
            <p:nvSpPr>
              <p:cNvPr id="150" name="TextBox 150"/>
              <p:cNvSpPr txBox="1"/>
              <p:nvPr/>
            </p:nvSpPr>
            <p:spPr>
              <a:xfrm>
                <a:off x="10815638" y="1472803"/>
                <a:ext cx="476926"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资金：8–10亿</a:t>
                </a:r>
              </a:p>
            </p:txBody>
          </p:sp>
          <p:sp>
            <p:nvSpPr>
              <p:cNvPr id="151" name="Ellipse 151"/>
              <p:cNvSpPr/>
              <p:nvPr/>
            </p:nvSpPr>
            <p:spPr>
              <a:xfrm>
                <a:off x="10729912" y="1681162"/>
                <a:ext cx="28575" cy="28575"/>
              </a:xfrm>
              <a:prstGeom prst="ellipse">
                <a:avLst/>
              </a:prstGeom>
              <a:solidFill>
                <a:srgbClr val="711E0D"/>
              </a:solidFill>
              <a:ln>
                <a:noFill/>
              </a:ln>
            </p:spPr>
          </p:sp>
          <p:sp>
            <p:nvSpPr>
              <p:cNvPr id="152" name="TextBox 152"/>
              <p:cNvSpPr txBox="1"/>
              <p:nvPr/>
            </p:nvSpPr>
            <p:spPr>
              <a:xfrm>
                <a:off x="10815638" y="1663303"/>
                <a:ext cx="559852"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团队：80–100人</a:t>
                </a:r>
              </a:p>
            </p:txBody>
          </p:sp>
          <p:sp>
            <p:nvSpPr>
              <p:cNvPr id="153" name="Ellipse 153"/>
              <p:cNvSpPr/>
              <p:nvPr/>
            </p:nvSpPr>
            <p:spPr>
              <a:xfrm>
                <a:off x="10729912" y="1871662"/>
                <a:ext cx="28575" cy="28575"/>
              </a:xfrm>
              <a:prstGeom prst="ellipse">
                <a:avLst/>
              </a:prstGeom>
              <a:solidFill>
                <a:srgbClr val="711E0D"/>
              </a:solidFill>
              <a:ln>
                <a:noFill/>
              </a:ln>
            </p:spPr>
          </p:sp>
          <p:sp>
            <p:nvSpPr>
              <p:cNvPr id="154" name="TextBox 154"/>
              <p:cNvSpPr txBox="1"/>
              <p:nvPr/>
            </p:nvSpPr>
            <p:spPr>
              <a:xfrm>
                <a:off x="10815638" y="1853803"/>
                <a:ext cx="43546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周期：3–5年</a:t>
                </a:r>
              </a:p>
            </p:txBody>
          </p:sp>
        </p:grpSp>
        <p:grpSp>
          <p:nvGrpSpPr>
            <p:cNvPr id="171" name="dc-2"/>
            <p:cNvGrpSpPr/>
            <p:nvPr/>
          </p:nvGrpSpPr>
          <p:grpSpPr>
            <a:xfrm>
              <a:off x="7581900" y="2057400"/>
              <a:ext cx="4381500" cy="762000"/>
              <a:chOff x="7581900" y="2057400"/>
              <a:chExt cx="4381500" cy="762000"/>
            </a:xfrm>
          </p:grpSpPr>
          <p:sp>
            <p:nvSpPr>
              <p:cNvPr id="156" name="Rectangle 156"/>
              <p:cNvSpPr/>
              <p:nvPr/>
            </p:nvSpPr>
            <p:spPr>
              <a:xfrm>
                <a:off x="7581900" y="2057400"/>
                <a:ext cx="4381500" cy="762000"/>
              </a:xfrm>
              <a:prstGeom prst="rect">
                <a:avLst/>
              </a:prstGeom>
              <a:solidFill>
                <a:srgbClr val="F7F9FC"/>
              </a:solidFill>
              <a:ln w="9525">
                <a:solidFill>
                  <a:srgbClr val="E2E8F2"/>
                </a:solidFill>
              </a:ln>
            </p:spPr>
          </p:sp>
          <p:sp>
            <p:nvSpPr>
              <p:cNvPr id="157" name="Rectangle 157"/>
              <p:cNvSpPr/>
              <p:nvPr/>
            </p:nvSpPr>
            <p:spPr>
              <a:xfrm>
                <a:off x="7581900" y="2057400"/>
                <a:ext cx="819150" cy="762000"/>
              </a:xfrm>
              <a:prstGeom prst="rect">
                <a:avLst/>
              </a:prstGeom>
              <a:solidFill>
                <a:srgbClr val="EFF3FA"/>
              </a:solidFill>
              <a:ln>
                <a:noFill/>
              </a:ln>
            </p:spPr>
          </p:sp>
          <p:sp>
            <p:nvSpPr>
              <p:cNvPr id="158" name="Ellipse 158"/>
              <p:cNvSpPr/>
              <p:nvPr/>
            </p:nvSpPr>
            <p:spPr>
              <a:xfrm>
                <a:off x="7667625" y="2247900"/>
                <a:ext cx="133350" cy="133350"/>
              </a:xfrm>
              <a:prstGeom prst="ellipse">
                <a:avLst/>
              </a:prstGeom>
              <a:solidFill>
                <a:srgbClr val="4E0D00"/>
              </a:solidFill>
              <a:ln>
                <a:noFill/>
              </a:ln>
            </p:spPr>
          </p:sp>
          <p:sp>
            <p:nvSpPr>
              <p:cNvPr id="159" name="TextBox 159"/>
              <p:cNvSpPr txBox="1"/>
              <p:nvPr/>
            </p:nvSpPr>
            <p:spPr>
              <a:xfrm>
                <a:off x="7706215" y="2278380"/>
                <a:ext cx="5617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2</a:t>
                </a:r>
              </a:p>
            </p:txBody>
          </p:sp>
          <p:sp>
            <p:nvSpPr>
              <p:cNvPr id="160" name="TextBox 160"/>
              <p:cNvSpPr txBox="1"/>
              <p:nvPr/>
            </p:nvSpPr>
            <p:spPr>
              <a:xfrm>
                <a:off x="7843838" y="2217182"/>
                <a:ext cx="354152"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储能系统</a:t>
                </a:r>
              </a:p>
            </p:txBody>
          </p:sp>
          <p:sp>
            <p:nvSpPr>
              <p:cNvPr id="161" name="TextBox 161"/>
              <p:cNvSpPr txBox="1"/>
              <p:nvPr/>
            </p:nvSpPr>
            <p:spPr>
              <a:xfrm>
                <a:off x="8614989" y="2387441"/>
                <a:ext cx="200773" cy="161925"/>
              </a:xfrm>
              <a:prstGeom prst="rect">
                <a:avLst/>
              </a:prstGeom>
              <a:noFill/>
              <a:ln>
                <a:noFill/>
              </a:ln>
            </p:spPr>
            <p:txBody>
              <a:bodyPr wrap="none" lIns="0" tIns="0" rIns="0" bIns="0" anchor="t" anchorCtr="0">
                <a:spAutoFit/>
              </a:bodyPr>
              <a:lstStyle/>
              <a:p>
                <a:pPr algn="ctr"/>
                <a:r>
                  <a:rPr lang="zh-CN" sz="820" b="1" dirty="0">
                    <a:solidFill>
                      <a:srgbClr val="55251B"/>
                    </a:solidFill>
                    <a:latin typeface="+mn-lt"/>
                    <a:ea typeface="+mn-ea"/>
                    <a:cs typeface="+mn-cs"/>
                  </a:rPr>
                  <a:t>4.3</a:t>
                </a:r>
              </a:p>
            </p:txBody>
          </p:sp>
          <p:sp>
            <p:nvSpPr>
              <p:cNvPr id="162" name="TextBox 162"/>
              <p:cNvSpPr txBox="1"/>
              <p:nvPr/>
            </p:nvSpPr>
            <p:spPr>
              <a:xfrm>
                <a:off x="9243639" y="2387441"/>
                <a:ext cx="200773" cy="161925"/>
              </a:xfrm>
              <a:prstGeom prst="rect">
                <a:avLst/>
              </a:prstGeom>
              <a:noFill/>
              <a:ln>
                <a:noFill/>
              </a:ln>
            </p:spPr>
            <p:txBody>
              <a:bodyPr wrap="none" lIns="0" tIns="0" rIns="0" bIns="0" anchor="t" anchorCtr="0">
                <a:spAutoFit/>
              </a:bodyPr>
              <a:lstStyle/>
              <a:p>
                <a:pPr algn="ctr"/>
                <a:r>
                  <a:rPr lang="zh-CN" sz="820" b="1" dirty="0">
                    <a:solidFill>
                      <a:srgbClr val="55251B"/>
                    </a:solidFill>
                    <a:latin typeface="+mn-lt"/>
                    <a:ea typeface="+mn-ea"/>
                    <a:cs typeface="+mn-cs"/>
                  </a:rPr>
                  <a:t>2.9</a:t>
                </a:r>
              </a:p>
            </p:txBody>
          </p:sp>
          <p:sp>
            <p:nvSpPr>
              <p:cNvPr id="163" name="TextBox 163"/>
              <p:cNvSpPr txBox="1"/>
              <p:nvPr/>
            </p:nvSpPr>
            <p:spPr>
              <a:xfrm>
                <a:off x="9965804" y="2327434"/>
                <a:ext cx="375691"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重点投入</a:t>
                </a:r>
              </a:p>
            </p:txBody>
          </p:sp>
          <p:sp>
            <p:nvSpPr>
              <p:cNvPr id="164" name="TextBox 164"/>
              <p:cNvSpPr txBox="1"/>
              <p:nvPr/>
            </p:nvSpPr>
            <p:spPr>
              <a:xfrm>
                <a:off x="9866186" y="2468880"/>
                <a:ext cx="574929" cy="119062"/>
              </a:xfrm>
              <a:prstGeom prst="rect">
                <a:avLst/>
              </a:prstGeom>
              <a:noFill/>
              <a:ln>
                <a:noFill/>
              </a:ln>
            </p:spPr>
            <p:txBody>
              <a:bodyPr wrap="none" lIns="0" tIns="0" rIns="0" bIns="0" anchor="t" anchorCtr="0">
                <a:spAutoFit/>
              </a:bodyPr>
              <a:lstStyle/>
              <a:p>
                <a:pPr algn="ctr"/>
                <a:r>
                  <a:rPr lang="zh-CN" sz="600" dirty="0">
                    <a:solidFill>
                      <a:srgbClr val="6E5955"/>
                    </a:solidFill>
                    <a:latin typeface="+mn-lt"/>
                    <a:ea typeface="+mn-ea"/>
                    <a:cs typeface="+mn-cs"/>
                  </a:rPr>
                  <a:t>（快速规模化）</a:t>
                </a:r>
              </a:p>
            </p:txBody>
          </p:sp>
          <p:sp>
            <p:nvSpPr>
              <p:cNvPr id="165" name="Ellipse 165"/>
              <p:cNvSpPr/>
              <p:nvPr/>
            </p:nvSpPr>
            <p:spPr>
              <a:xfrm>
                <a:off x="10729912" y="2252662"/>
                <a:ext cx="28575" cy="28575"/>
              </a:xfrm>
              <a:prstGeom prst="ellipse">
                <a:avLst/>
              </a:prstGeom>
              <a:solidFill>
                <a:srgbClr val="711E0D"/>
              </a:solidFill>
              <a:ln>
                <a:noFill/>
              </a:ln>
            </p:spPr>
          </p:sp>
          <p:sp>
            <p:nvSpPr>
              <p:cNvPr id="166" name="TextBox 166"/>
              <p:cNvSpPr txBox="1"/>
              <p:nvPr/>
            </p:nvSpPr>
            <p:spPr>
              <a:xfrm>
                <a:off x="10815638" y="2234803"/>
                <a:ext cx="43546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资金：6–8亿</a:t>
                </a:r>
              </a:p>
            </p:txBody>
          </p:sp>
          <p:sp>
            <p:nvSpPr>
              <p:cNvPr id="167" name="Ellipse 167"/>
              <p:cNvSpPr/>
              <p:nvPr/>
            </p:nvSpPr>
            <p:spPr>
              <a:xfrm>
                <a:off x="10729912" y="2443162"/>
                <a:ext cx="28575" cy="28575"/>
              </a:xfrm>
              <a:prstGeom prst="ellipse">
                <a:avLst/>
              </a:prstGeom>
              <a:solidFill>
                <a:srgbClr val="711E0D"/>
              </a:solidFill>
              <a:ln>
                <a:noFill/>
              </a:ln>
            </p:spPr>
          </p:sp>
          <p:sp>
            <p:nvSpPr>
              <p:cNvPr id="168" name="TextBox 168"/>
              <p:cNvSpPr txBox="1"/>
              <p:nvPr/>
            </p:nvSpPr>
            <p:spPr>
              <a:xfrm>
                <a:off x="10815638" y="2425303"/>
                <a:ext cx="518389"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团队：60–80人</a:t>
                </a:r>
              </a:p>
            </p:txBody>
          </p:sp>
          <p:sp>
            <p:nvSpPr>
              <p:cNvPr id="169" name="Ellipse 169"/>
              <p:cNvSpPr/>
              <p:nvPr/>
            </p:nvSpPr>
            <p:spPr>
              <a:xfrm>
                <a:off x="10729912" y="2633662"/>
                <a:ext cx="28575" cy="28575"/>
              </a:xfrm>
              <a:prstGeom prst="ellipse">
                <a:avLst/>
              </a:prstGeom>
              <a:solidFill>
                <a:srgbClr val="711E0D"/>
              </a:solidFill>
              <a:ln>
                <a:noFill/>
              </a:ln>
            </p:spPr>
          </p:sp>
          <p:sp>
            <p:nvSpPr>
              <p:cNvPr id="170" name="TextBox 170"/>
              <p:cNvSpPr txBox="1"/>
              <p:nvPr/>
            </p:nvSpPr>
            <p:spPr>
              <a:xfrm>
                <a:off x="10815638" y="2615803"/>
                <a:ext cx="43546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周期：2–4年</a:t>
                </a:r>
              </a:p>
            </p:txBody>
          </p:sp>
        </p:grpSp>
        <p:grpSp>
          <p:nvGrpSpPr>
            <p:cNvPr id="187" name="dc-3"/>
            <p:cNvGrpSpPr/>
            <p:nvPr/>
          </p:nvGrpSpPr>
          <p:grpSpPr>
            <a:xfrm>
              <a:off x="7581900" y="2819400"/>
              <a:ext cx="4381500" cy="762000"/>
              <a:chOff x="7581900" y="2819400"/>
              <a:chExt cx="4381500" cy="762000"/>
            </a:xfrm>
          </p:grpSpPr>
          <p:sp>
            <p:nvSpPr>
              <p:cNvPr id="172" name="Rectangle 172"/>
              <p:cNvSpPr/>
              <p:nvPr/>
            </p:nvSpPr>
            <p:spPr>
              <a:xfrm>
                <a:off x="7581900" y="2819400"/>
                <a:ext cx="4381500" cy="762000"/>
              </a:xfrm>
              <a:prstGeom prst="rect">
                <a:avLst/>
              </a:prstGeom>
              <a:solidFill>
                <a:srgbClr val="FFFFFF"/>
              </a:solidFill>
              <a:ln w="9525">
                <a:solidFill>
                  <a:srgbClr val="E2E8F2"/>
                </a:solidFill>
              </a:ln>
            </p:spPr>
          </p:sp>
          <p:sp>
            <p:nvSpPr>
              <p:cNvPr id="173" name="Rectangle 173"/>
              <p:cNvSpPr/>
              <p:nvPr/>
            </p:nvSpPr>
            <p:spPr>
              <a:xfrm>
                <a:off x="7581900" y="2819400"/>
                <a:ext cx="819150" cy="762000"/>
              </a:xfrm>
              <a:prstGeom prst="rect">
                <a:avLst/>
              </a:prstGeom>
              <a:solidFill>
                <a:srgbClr val="EFF3FA"/>
              </a:solidFill>
              <a:ln>
                <a:noFill/>
              </a:ln>
            </p:spPr>
          </p:sp>
          <p:sp>
            <p:nvSpPr>
              <p:cNvPr id="174" name="Ellipse 174"/>
              <p:cNvSpPr/>
              <p:nvPr/>
            </p:nvSpPr>
            <p:spPr>
              <a:xfrm>
                <a:off x="7667625" y="3009900"/>
                <a:ext cx="133350" cy="133350"/>
              </a:xfrm>
              <a:prstGeom prst="ellipse">
                <a:avLst/>
              </a:prstGeom>
              <a:solidFill>
                <a:srgbClr val="4E0D00"/>
              </a:solidFill>
              <a:ln>
                <a:noFill/>
              </a:ln>
            </p:spPr>
          </p:sp>
          <p:sp>
            <p:nvSpPr>
              <p:cNvPr id="175" name="TextBox 175"/>
              <p:cNvSpPr txBox="1"/>
              <p:nvPr/>
            </p:nvSpPr>
            <p:spPr>
              <a:xfrm>
                <a:off x="7706215" y="3040380"/>
                <a:ext cx="5617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3</a:t>
                </a:r>
              </a:p>
            </p:txBody>
          </p:sp>
          <p:sp>
            <p:nvSpPr>
              <p:cNvPr id="176" name="TextBox 176"/>
              <p:cNvSpPr txBox="1"/>
              <p:nvPr/>
            </p:nvSpPr>
            <p:spPr>
              <a:xfrm>
                <a:off x="7843838" y="2979182"/>
                <a:ext cx="354152"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工业软件</a:t>
                </a:r>
              </a:p>
            </p:txBody>
          </p:sp>
          <p:sp>
            <p:nvSpPr>
              <p:cNvPr id="177" name="TextBox 177"/>
              <p:cNvSpPr txBox="1"/>
              <p:nvPr/>
            </p:nvSpPr>
            <p:spPr>
              <a:xfrm>
                <a:off x="8614989" y="3149441"/>
                <a:ext cx="200773" cy="161925"/>
              </a:xfrm>
              <a:prstGeom prst="rect">
                <a:avLst/>
              </a:prstGeom>
              <a:noFill/>
              <a:ln>
                <a:noFill/>
              </a:ln>
            </p:spPr>
            <p:txBody>
              <a:bodyPr wrap="none" lIns="0" tIns="0" rIns="0" bIns="0" anchor="t" anchorCtr="0">
                <a:spAutoFit/>
              </a:bodyPr>
              <a:lstStyle/>
              <a:p>
                <a:pPr algn="ctr"/>
                <a:r>
                  <a:rPr lang="zh-CN" sz="820" b="1" dirty="0">
                    <a:solidFill>
                      <a:srgbClr val="55251B"/>
                    </a:solidFill>
                    <a:latin typeface="+mn-lt"/>
                    <a:ea typeface="+mn-ea"/>
                    <a:cs typeface="+mn-cs"/>
                  </a:rPr>
                  <a:t>4.2</a:t>
                </a:r>
              </a:p>
            </p:txBody>
          </p:sp>
          <p:sp>
            <p:nvSpPr>
              <p:cNvPr id="178" name="TextBox 178"/>
              <p:cNvSpPr txBox="1"/>
              <p:nvPr/>
            </p:nvSpPr>
            <p:spPr>
              <a:xfrm>
                <a:off x="9243639" y="3149441"/>
                <a:ext cx="200773" cy="161925"/>
              </a:xfrm>
              <a:prstGeom prst="rect">
                <a:avLst/>
              </a:prstGeom>
              <a:noFill/>
              <a:ln>
                <a:noFill/>
              </a:ln>
            </p:spPr>
            <p:txBody>
              <a:bodyPr wrap="none" lIns="0" tIns="0" rIns="0" bIns="0" anchor="t" anchorCtr="0">
                <a:spAutoFit/>
              </a:bodyPr>
              <a:lstStyle/>
              <a:p>
                <a:pPr algn="ctr"/>
                <a:r>
                  <a:rPr lang="zh-CN" sz="820" b="1" dirty="0">
                    <a:solidFill>
                      <a:srgbClr val="55251B"/>
                    </a:solidFill>
                    <a:latin typeface="+mn-lt"/>
                    <a:ea typeface="+mn-ea"/>
                    <a:cs typeface="+mn-cs"/>
                  </a:rPr>
                  <a:t>3.1</a:t>
                </a:r>
              </a:p>
            </p:txBody>
          </p:sp>
          <p:sp>
            <p:nvSpPr>
              <p:cNvPr id="179" name="TextBox 179"/>
              <p:cNvSpPr txBox="1"/>
              <p:nvPr/>
            </p:nvSpPr>
            <p:spPr>
              <a:xfrm>
                <a:off x="9965804" y="3089434"/>
                <a:ext cx="375691"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能力补齐</a:t>
                </a:r>
              </a:p>
            </p:txBody>
          </p:sp>
          <p:sp>
            <p:nvSpPr>
              <p:cNvPr id="180" name="TextBox 180"/>
              <p:cNvSpPr txBox="1"/>
              <p:nvPr/>
            </p:nvSpPr>
            <p:spPr>
              <a:xfrm>
                <a:off x="9884359" y="3230880"/>
                <a:ext cx="538582" cy="119062"/>
              </a:xfrm>
              <a:prstGeom prst="rect">
                <a:avLst/>
              </a:prstGeom>
              <a:noFill/>
              <a:ln>
                <a:noFill/>
              </a:ln>
            </p:spPr>
            <p:txBody>
              <a:bodyPr wrap="none" lIns="0" tIns="0" rIns="0" bIns="0" anchor="t" anchorCtr="0">
                <a:spAutoFit/>
              </a:bodyPr>
              <a:lstStyle/>
              <a:p>
                <a:pPr algn="ctr"/>
                <a:r>
                  <a:rPr lang="zh-CN" sz="600" dirty="0">
                    <a:solidFill>
                      <a:srgbClr val="6E5955"/>
                    </a:solidFill>
                    <a:latin typeface="+mn-lt"/>
                    <a:ea typeface="+mn-ea"/>
                    <a:cs typeface="+mn-cs"/>
                  </a:rPr>
                  <a:t>（合作+自研）</a:t>
                </a:r>
              </a:p>
            </p:txBody>
          </p:sp>
          <p:sp>
            <p:nvSpPr>
              <p:cNvPr id="181" name="Ellipse 181"/>
              <p:cNvSpPr/>
              <p:nvPr/>
            </p:nvSpPr>
            <p:spPr>
              <a:xfrm>
                <a:off x="10729912" y="3014662"/>
                <a:ext cx="28575" cy="28575"/>
              </a:xfrm>
              <a:prstGeom prst="ellipse">
                <a:avLst/>
              </a:prstGeom>
              <a:solidFill>
                <a:srgbClr val="711E0D"/>
              </a:solidFill>
              <a:ln>
                <a:noFill/>
              </a:ln>
            </p:spPr>
          </p:sp>
          <p:sp>
            <p:nvSpPr>
              <p:cNvPr id="182" name="TextBox 182"/>
              <p:cNvSpPr txBox="1"/>
              <p:nvPr/>
            </p:nvSpPr>
            <p:spPr>
              <a:xfrm>
                <a:off x="10815638" y="2996803"/>
                <a:ext cx="43546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资金：4–6亿</a:t>
                </a:r>
              </a:p>
            </p:txBody>
          </p:sp>
          <p:sp>
            <p:nvSpPr>
              <p:cNvPr id="183" name="Ellipse 183"/>
              <p:cNvSpPr/>
              <p:nvPr/>
            </p:nvSpPr>
            <p:spPr>
              <a:xfrm>
                <a:off x="10729912" y="3205162"/>
                <a:ext cx="28575" cy="28575"/>
              </a:xfrm>
              <a:prstGeom prst="ellipse">
                <a:avLst/>
              </a:prstGeom>
              <a:solidFill>
                <a:srgbClr val="711E0D"/>
              </a:solidFill>
              <a:ln>
                <a:noFill/>
              </a:ln>
            </p:spPr>
          </p:sp>
          <p:sp>
            <p:nvSpPr>
              <p:cNvPr id="184" name="TextBox 184"/>
              <p:cNvSpPr txBox="1"/>
              <p:nvPr/>
            </p:nvSpPr>
            <p:spPr>
              <a:xfrm>
                <a:off x="10815638" y="3187303"/>
                <a:ext cx="518389"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团队：50–70人</a:t>
                </a:r>
              </a:p>
            </p:txBody>
          </p:sp>
          <p:sp>
            <p:nvSpPr>
              <p:cNvPr id="185" name="Ellipse 185"/>
              <p:cNvSpPr/>
              <p:nvPr/>
            </p:nvSpPr>
            <p:spPr>
              <a:xfrm>
                <a:off x="10729912" y="3395662"/>
                <a:ext cx="28575" cy="28575"/>
              </a:xfrm>
              <a:prstGeom prst="ellipse">
                <a:avLst/>
              </a:prstGeom>
              <a:solidFill>
                <a:srgbClr val="711E0D"/>
              </a:solidFill>
              <a:ln>
                <a:noFill/>
              </a:ln>
            </p:spPr>
          </p:sp>
          <p:sp>
            <p:nvSpPr>
              <p:cNvPr id="186" name="TextBox 186"/>
              <p:cNvSpPr txBox="1"/>
              <p:nvPr/>
            </p:nvSpPr>
            <p:spPr>
              <a:xfrm>
                <a:off x="10815638" y="3377803"/>
                <a:ext cx="43546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周期：2–4年</a:t>
                </a:r>
              </a:p>
            </p:txBody>
          </p:sp>
        </p:grpSp>
        <p:grpSp>
          <p:nvGrpSpPr>
            <p:cNvPr id="204" name="dc-4"/>
            <p:cNvGrpSpPr/>
            <p:nvPr/>
          </p:nvGrpSpPr>
          <p:grpSpPr>
            <a:xfrm>
              <a:off x="7581900" y="3581400"/>
              <a:ext cx="4381500" cy="762000"/>
              <a:chOff x="7581900" y="3581400"/>
              <a:chExt cx="4381500" cy="762000"/>
            </a:xfrm>
          </p:grpSpPr>
          <p:sp>
            <p:nvSpPr>
              <p:cNvPr id="188" name="Rectangle 188"/>
              <p:cNvSpPr/>
              <p:nvPr/>
            </p:nvSpPr>
            <p:spPr>
              <a:xfrm>
                <a:off x="7581900" y="3581400"/>
                <a:ext cx="4381500" cy="762000"/>
              </a:xfrm>
              <a:prstGeom prst="rect">
                <a:avLst/>
              </a:prstGeom>
              <a:solidFill>
                <a:srgbClr val="F7F9FC"/>
              </a:solidFill>
              <a:ln w="9525">
                <a:solidFill>
                  <a:srgbClr val="E2E8F2"/>
                </a:solidFill>
              </a:ln>
            </p:spPr>
          </p:sp>
          <p:sp>
            <p:nvSpPr>
              <p:cNvPr id="189" name="Rectangle 189"/>
              <p:cNvSpPr/>
              <p:nvPr/>
            </p:nvSpPr>
            <p:spPr>
              <a:xfrm>
                <a:off x="7581900" y="3581400"/>
                <a:ext cx="819150" cy="762000"/>
              </a:xfrm>
              <a:prstGeom prst="rect">
                <a:avLst/>
              </a:prstGeom>
              <a:solidFill>
                <a:srgbClr val="EFF3FA"/>
              </a:solidFill>
              <a:ln>
                <a:noFill/>
              </a:ln>
            </p:spPr>
          </p:sp>
          <p:sp>
            <p:nvSpPr>
              <p:cNvPr id="190" name="Ellipse 190"/>
              <p:cNvSpPr/>
              <p:nvPr/>
            </p:nvSpPr>
            <p:spPr>
              <a:xfrm>
                <a:off x="7667625" y="3771900"/>
                <a:ext cx="133350" cy="133350"/>
              </a:xfrm>
              <a:prstGeom prst="ellipse">
                <a:avLst/>
              </a:prstGeom>
              <a:solidFill>
                <a:srgbClr val="4E0D00"/>
              </a:solidFill>
              <a:ln>
                <a:noFill/>
              </a:ln>
            </p:spPr>
          </p:sp>
          <p:sp>
            <p:nvSpPr>
              <p:cNvPr id="191" name="TextBox 191"/>
              <p:cNvSpPr txBox="1"/>
              <p:nvPr/>
            </p:nvSpPr>
            <p:spPr>
              <a:xfrm>
                <a:off x="7706215" y="3802380"/>
                <a:ext cx="56171"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4</a:t>
                </a:r>
              </a:p>
            </p:txBody>
          </p:sp>
          <p:sp>
            <p:nvSpPr>
              <p:cNvPr id="192" name="TextBox 192"/>
              <p:cNvSpPr txBox="1"/>
              <p:nvPr/>
            </p:nvSpPr>
            <p:spPr>
              <a:xfrm>
                <a:off x="7843838" y="3741182"/>
                <a:ext cx="354152"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高端医疗</a:t>
                </a:r>
              </a:p>
            </p:txBody>
          </p:sp>
          <p:sp>
            <p:nvSpPr>
              <p:cNvPr id="193" name="TextBox 193"/>
              <p:cNvSpPr txBox="1"/>
              <p:nvPr/>
            </p:nvSpPr>
            <p:spPr>
              <a:xfrm>
                <a:off x="7843838" y="3874532"/>
                <a:ext cx="181839"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设备</a:t>
                </a:r>
              </a:p>
            </p:txBody>
          </p:sp>
          <p:sp>
            <p:nvSpPr>
              <p:cNvPr id="194" name="TextBox 194"/>
              <p:cNvSpPr txBox="1"/>
              <p:nvPr/>
            </p:nvSpPr>
            <p:spPr>
              <a:xfrm>
                <a:off x="8614989" y="3911441"/>
                <a:ext cx="200773" cy="161925"/>
              </a:xfrm>
              <a:prstGeom prst="rect">
                <a:avLst/>
              </a:prstGeom>
              <a:noFill/>
              <a:ln>
                <a:noFill/>
              </a:ln>
            </p:spPr>
            <p:txBody>
              <a:bodyPr wrap="none" lIns="0" tIns="0" rIns="0" bIns="0" anchor="t" anchorCtr="0">
                <a:spAutoFit/>
              </a:bodyPr>
              <a:lstStyle/>
              <a:p>
                <a:pPr algn="ctr"/>
                <a:r>
                  <a:rPr lang="zh-CN" sz="820" b="1" dirty="0">
                    <a:solidFill>
                      <a:srgbClr val="55251B"/>
                    </a:solidFill>
                    <a:latin typeface="+mn-lt"/>
                    <a:ea typeface="+mn-ea"/>
                    <a:cs typeface="+mn-cs"/>
                  </a:rPr>
                  <a:t>4.0</a:t>
                </a:r>
              </a:p>
            </p:txBody>
          </p:sp>
          <p:sp>
            <p:nvSpPr>
              <p:cNvPr id="195" name="TextBox 195"/>
              <p:cNvSpPr txBox="1"/>
              <p:nvPr/>
            </p:nvSpPr>
            <p:spPr>
              <a:xfrm>
                <a:off x="9243639" y="3911441"/>
                <a:ext cx="200773" cy="161925"/>
              </a:xfrm>
              <a:prstGeom prst="rect">
                <a:avLst/>
              </a:prstGeom>
              <a:noFill/>
              <a:ln>
                <a:noFill/>
              </a:ln>
            </p:spPr>
            <p:txBody>
              <a:bodyPr wrap="none" lIns="0" tIns="0" rIns="0" bIns="0" anchor="t" anchorCtr="0">
                <a:spAutoFit/>
              </a:bodyPr>
              <a:lstStyle/>
              <a:p>
                <a:pPr algn="ctr"/>
                <a:r>
                  <a:rPr lang="zh-CN" sz="820" b="1" dirty="0">
                    <a:solidFill>
                      <a:srgbClr val="55251B"/>
                    </a:solidFill>
                    <a:latin typeface="+mn-lt"/>
                    <a:ea typeface="+mn-ea"/>
                    <a:cs typeface="+mn-cs"/>
                  </a:rPr>
                  <a:t>2.7</a:t>
                </a:r>
              </a:p>
            </p:txBody>
          </p:sp>
          <p:sp>
            <p:nvSpPr>
              <p:cNvPr id="196" name="TextBox 196"/>
              <p:cNvSpPr txBox="1"/>
              <p:nvPr/>
            </p:nvSpPr>
            <p:spPr>
              <a:xfrm>
                <a:off x="9965804" y="3851434"/>
                <a:ext cx="375691"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能力补齐</a:t>
                </a:r>
              </a:p>
            </p:txBody>
          </p:sp>
          <p:sp>
            <p:nvSpPr>
              <p:cNvPr id="197" name="TextBox 197"/>
              <p:cNvSpPr txBox="1"/>
              <p:nvPr/>
            </p:nvSpPr>
            <p:spPr>
              <a:xfrm>
                <a:off x="9884359" y="3992880"/>
                <a:ext cx="538582" cy="119062"/>
              </a:xfrm>
              <a:prstGeom prst="rect">
                <a:avLst/>
              </a:prstGeom>
              <a:noFill/>
              <a:ln>
                <a:noFill/>
              </a:ln>
            </p:spPr>
            <p:txBody>
              <a:bodyPr wrap="none" lIns="0" tIns="0" rIns="0" bIns="0" anchor="t" anchorCtr="0">
                <a:spAutoFit/>
              </a:bodyPr>
              <a:lstStyle/>
              <a:p>
                <a:pPr algn="ctr"/>
                <a:r>
                  <a:rPr lang="zh-CN" sz="600" dirty="0">
                    <a:solidFill>
                      <a:srgbClr val="6E5955"/>
                    </a:solidFill>
                    <a:latin typeface="+mn-lt"/>
                    <a:ea typeface="+mn-ea"/>
                    <a:cs typeface="+mn-cs"/>
                  </a:rPr>
                  <a:t>（并购+整合）</a:t>
                </a:r>
              </a:p>
            </p:txBody>
          </p:sp>
          <p:sp>
            <p:nvSpPr>
              <p:cNvPr id="198" name="Ellipse 198"/>
              <p:cNvSpPr/>
              <p:nvPr/>
            </p:nvSpPr>
            <p:spPr>
              <a:xfrm>
                <a:off x="10729912" y="3776662"/>
                <a:ext cx="28575" cy="28575"/>
              </a:xfrm>
              <a:prstGeom prst="ellipse">
                <a:avLst/>
              </a:prstGeom>
              <a:solidFill>
                <a:srgbClr val="711E0D"/>
              </a:solidFill>
              <a:ln>
                <a:noFill/>
              </a:ln>
            </p:spPr>
          </p:sp>
          <p:sp>
            <p:nvSpPr>
              <p:cNvPr id="199" name="TextBox 199"/>
              <p:cNvSpPr txBox="1"/>
              <p:nvPr/>
            </p:nvSpPr>
            <p:spPr>
              <a:xfrm>
                <a:off x="10815638" y="3758803"/>
                <a:ext cx="43546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资金：5–7亿</a:t>
                </a:r>
              </a:p>
            </p:txBody>
          </p:sp>
          <p:sp>
            <p:nvSpPr>
              <p:cNvPr id="200" name="Ellipse 200"/>
              <p:cNvSpPr/>
              <p:nvPr/>
            </p:nvSpPr>
            <p:spPr>
              <a:xfrm>
                <a:off x="10729912" y="3967162"/>
                <a:ext cx="28575" cy="28575"/>
              </a:xfrm>
              <a:prstGeom prst="ellipse">
                <a:avLst/>
              </a:prstGeom>
              <a:solidFill>
                <a:srgbClr val="711E0D"/>
              </a:solidFill>
              <a:ln>
                <a:noFill/>
              </a:ln>
            </p:spPr>
          </p:sp>
          <p:sp>
            <p:nvSpPr>
              <p:cNvPr id="201" name="TextBox 201"/>
              <p:cNvSpPr txBox="1"/>
              <p:nvPr/>
            </p:nvSpPr>
            <p:spPr>
              <a:xfrm>
                <a:off x="10815638" y="3949303"/>
                <a:ext cx="518389"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团队：50–60人</a:t>
                </a:r>
              </a:p>
            </p:txBody>
          </p:sp>
          <p:sp>
            <p:nvSpPr>
              <p:cNvPr id="202" name="Ellipse 202"/>
              <p:cNvSpPr/>
              <p:nvPr/>
            </p:nvSpPr>
            <p:spPr>
              <a:xfrm>
                <a:off x="10729912" y="4157662"/>
                <a:ext cx="28575" cy="28575"/>
              </a:xfrm>
              <a:prstGeom prst="ellipse">
                <a:avLst/>
              </a:prstGeom>
              <a:solidFill>
                <a:srgbClr val="711E0D"/>
              </a:solidFill>
              <a:ln>
                <a:noFill/>
              </a:ln>
            </p:spPr>
          </p:sp>
          <p:sp>
            <p:nvSpPr>
              <p:cNvPr id="203" name="TextBox 203"/>
              <p:cNvSpPr txBox="1"/>
              <p:nvPr/>
            </p:nvSpPr>
            <p:spPr>
              <a:xfrm>
                <a:off x="10815638" y="4139803"/>
                <a:ext cx="43546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周期：2–3年</a:t>
                </a:r>
              </a:p>
            </p:txBody>
          </p:sp>
        </p:grpSp>
      </p:grpSp>
      <p:grpSp>
        <p:nvGrpSpPr>
          <p:cNvPr id="279" name="capability"/>
          <p:cNvGrpSpPr/>
          <p:nvPr/>
        </p:nvGrpSpPr>
        <p:grpSpPr>
          <a:xfrm>
            <a:off x="228600" y="4591050"/>
            <a:ext cx="11734800" cy="1771650"/>
            <a:chOff x="228600" y="4591050"/>
            <a:chExt cx="11734800" cy="1771650"/>
          </a:xfrm>
        </p:grpSpPr>
        <p:sp>
          <p:nvSpPr>
            <p:cNvPr id="206" name="Rectangle 206"/>
            <p:cNvSpPr/>
            <p:nvPr/>
          </p:nvSpPr>
          <p:spPr>
            <a:xfrm>
              <a:off x="228600" y="4591050"/>
              <a:ext cx="11734800" cy="247650"/>
            </a:xfrm>
            <a:prstGeom prst="rect">
              <a:avLst/>
            </a:prstGeom>
            <a:solidFill>
              <a:srgbClr val="4E0D00"/>
            </a:solidFill>
            <a:ln>
              <a:noFill/>
            </a:ln>
          </p:spPr>
        </p:sp>
        <p:sp>
          <p:nvSpPr>
            <p:cNvPr id="207" name="TextBox 207"/>
            <p:cNvSpPr txBox="1"/>
            <p:nvPr/>
          </p:nvSpPr>
          <p:spPr>
            <a:xfrm>
              <a:off x="5452227" y="4673441"/>
              <a:ext cx="128754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企业能力评估（满分5分）</a:t>
              </a:r>
            </a:p>
          </p:txBody>
        </p:sp>
        <p:grpSp>
          <p:nvGrpSpPr>
            <p:cNvPr id="214" name="cap-brand"/>
            <p:cNvGrpSpPr/>
            <p:nvPr/>
          </p:nvGrpSpPr>
          <p:grpSpPr>
            <a:xfrm>
              <a:off x="228600" y="4838700"/>
              <a:ext cx="1905000" cy="1524000"/>
              <a:chOff x="228600" y="4838700"/>
              <a:chExt cx="1905000" cy="1524000"/>
            </a:xfrm>
          </p:grpSpPr>
          <p:sp>
            <p:nvSpPr>
              <p:cNvPr id="208" name="Rectangle 208"/>
              <p:cNvSpPr/>
              <p:nvPr/>
            </p:nvSpPr>
            <p:spPr>
              <a:xfrm>
                <a:off x="228600" y="4838700"/>
                <a:ext cx="1905000" cy="1524000"/>
              </a:xfrm>
              <a:prstGeom prst="rect">
                <a:avLst/>
              </a:prstGeom>
              <a:solidFill>
                <a:srgbClr val="FFFFFF"/>
              </a:solidFill>
              <a:ln w="9525">
                <a:solidFill>
                  <a:srgbClr val="C7D2E4"/>
                </a:solidFill>
              </a:ln>
            </p:spPr>
          </p:sp>
          <p:sp>
            <p:nvSpPr>
              <p:cNvPr id="209" name="Ellipse 209"/>
              <p:cNvSpPr/>
              <p:nvPr/>
            </p:nvSpPr>
            <p:spPr>
              <a:xfrm>
                <a:off x="381000" y="5010150"/>
                <a:ext cx="304800" cy="304800"/>
              </a:xfrm>
              <a:prstGeom prst="ellipse">
                <a:avLst/>
              </a:prstGeom>
              <a:solidFill>
                <a:srgbClr val="EFF3FA"/>
              </a:solidFill>
              <a:ln>
                <a:noFill/>
              </a:ln>
            </p:spPr>
          </p:sp>
          <p:sp>
            <p:nvSpPr>
              <p:cNvPr id="210" name="Freeform 210"/>
              <p:cNvSpPr/>
              <p:nvPr/>
            </p:nvSpPr>
            <p:spPr>
              <a:xfrm>
                <a:off x="473606" y="5105400"/>
                <a:ext cx="119589" cy="114300"/>
              </a:xfrm>
              <a:custGeom>
                <a:avLst/>
                <a:gdLst/>
                <a:ahLst/>
                <a:cxnLst/>
                <a:rect l="l" t="t" r="r" b="b"/>
                <a:pathLst>
                  <a:path w="119589" h="114300">
                    <a:moveTo>
                      <a:pt x="59794" y="0"/>
                    </a:moveTo>
                    <a:cubicBezTo>
                      <a:pt x="74627" y="13123"/>
                      <a:pt x="93986" y="19955"/>
                      <a:pt x="113769" y="19050"/>
                    </a:cubicBezTo>
                    <a:cubicBezTo>
                      <a:pt x="119589" y="38846"/>
                      <a:pt x="117131" y="60156"/>
                      <a:pt x="106958" y="78108"/>
                    </a:cubicBezTo>
                    <a:cubicBezTo>
                      <a:pt x="96786" y="96060"/>
                      <a:pt x="79767" y="109119"/>
                      <a:pt x="59794" y="114300"/>
                    </a:cubicBezTo>
                    <a:cubicBezTo>
                      <a:pt x="39821" y="109119"/>
                      <a:pt x="22803" y="96060"/>
                      <a:pt x="12630" y="78108"/>
                    </a:cubicBezTo>
                    <a:cubicBezTo>
                      <a:pt x="2458" y="60156"/>
                      <a:pt x="0" y="38846"/>
                      <a:pt x="5819" y="19050"/>
                    </a:cubicBezTo>
                    <a:cubicBezTo>
                      <a:pt x="25603" y="19955"/>
                      <a:pt x="44962" y="13123"/>
                      <a:pt x="59794" y="0"/>
                    </a:cubicBezTo>
                  </a:path>
                </a:pathLst>
              </a:custGeom>
              <a:noFill/>
              <a:ln w="12700">
                <a:solidFill>
                  <a:srgbClr val="4E0D00"/>
                </a:solidFill>
              </a:ln>
            </p:spPr>
          </p:sp>
          <p:sp>
            <p:nvSpPr>
              <p:cNvPr id="211" name="TextBox 211"/>
              <p:cNvSpPr txBox="1"/>
              <p:nvPr/>
            </p:nvSpPr>
            <p:spPr>
              <a:xfrm>
                <a:off x="757238" y="5121116"/>
                <a:ext cx="230302"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品牌</a:t>
                </a:r>
              </a:p>
            </p:txBody>
          </p:sp>
          <p:sp>
            <p:nvSpPr>
              <p:cNvPr id="212" name="TextBox 212"/>
              <p:cNvSpPr txBox="1"/>
              <p:nvPr/>
            </p:nvSpPr>
            <p:spPr>
              <a:xfrm>
                <a:off x="376238" y="5459730"/>
                <a:ext cx="736473"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品牌影响力与美誉度</a:t>
                </a:r>
              </a:p>
            </p:txBody>
          </p:sp>
          <p:sp>
            <p:nvSpPr>
              <p:cNvPr id="213" name="TextBox 213"/>
              <p:cNvSpPr txBox="1"/>
              <p:nvPr/>
            </p:nvSpPr>
            <p:spPr>
              <a:xfrm>
                <a:off x="998558" y="5876925"/>
                <a:ext cx="365084" cy="293370"/>
              </a:xfrm>
              <a:prstGeom prst="rect">
                <a:avLst/>
              </a:prstGeom>
              <a:noFill/>
              <a:ln>
                <a:noFill/>
              </a:ln>
            </p:spPr>
            <p:txBody>
              <a:bodyPr wrap="none" lIns="0" tIns="0" rIns="0" bIns="0" anchor="t" anchorCtr="0">
                <a:spAutoFit/>
              </a:bodyPr>
              <a:lstStyle/>
              <a:p>
                <a:pPr algn="ctr"/>
                <a:r>
                  <a:rPr lang="zh-CN" sz="1500" b="1" dirty="0">
                    <a:solidFill>
                      <a:srgbClr val="4E0D00"/>
                    </a:solidFill>
                    <a:latin typeface="+mn-lt"/>
                    <a:ea typeface="+mn-ea"/>
                    <a:cs typeface="+mn-cs"/>
                  </a:rPr>
                  <a:t>3.2</a:t>
                </a:r>
              </a:p>
            </p:txBody>
          </p:sp>
        </p:grpSp>
        <p:grpSp>
          <p:nvGrpSpPr>
            <p:cNvPr id="224" name="cap-channel"/>
            <p:cNvGrpSpPr/>
            <p:nvPr/>
          </p:nvGrpSpPr>
          <p:grpSpPr>
            <a:xfrm>
              <a:off x="2190750" y="4838700"/>
              <a:ext cx="1905000" cy="1524000"/>
              <a:chOff x="2190750" y="4838700"/>
              <a:chExt cx="1905000" cy="1524000"/>
            </a:xfrm>
          </p:grpSpPr>
          <p:sp>
            <p:nvSpPr>
              <p:cNvPr id="215" name="Rectangle 215"/>
              <p:cNvSpPr/>
              <p:nvPr/>
            </p:nvSpPr>
            <p:spPr>
              <a:xfrm>
                <a:off x="2190750" y="4838700"/>
                <a:ext cx="1905000" cy="1524000"/>
              </a:xfrm>
              <a:prstGeom prst="rect">
                <a:avLst/>
              </a:prstGeom>
              <a:solidFill>
                <a:srgbClr val="FFFFFF"/>
              </a:solidFill>
              <a:ln w="9525">
                <a:solidFill>
                  <a:srgbClr val="C7D2E4"/>
                </a:solidFill>
              </a:ln>
            </p:spPr>
          </p:sp>
          <p:sp>
            <p:nvSpPr>
              <p:cNvPr id="216" name="Ellipse 216"/>
              <p:cNvSpPr/>
              <p:nvPr/>
            </p:nvSpPr>
            <p:spPr>
              <a:xfrm>
                <a:off x="2343150" y="5010150"/>
                <a:ext cx="304800" cy="304800"/>
              </a:xfrm>
              <a:prstGeom prst="ellipse">
                <a:avLst/>
              </a:prstGeom>
              <a:solidFill>
                <a:srgbClr val="EFF3FA"/>
              </a:solidFill>
              <a:ln>
                <a:noFill/>
              </a:ln>
            </p:spPr>
          </p:sp>
          <p:grpSp>
            <p:nvGrpSpPr>
              <p:cNvPr id="220" name="Group 220"/>
              <p:cNvGrpSpPr/>
              <p:nvPr/>
            </p:nvGrpSpPr>
            <p:grpSpPr>
              <a:xfrm>
                <a:off x="2451100" y="5105400"/>
                <a:ext cx="88900" cy="114300"/>
                <a:chOff x="2451100" y="5105400"/>
                <a:chExt cx="88900" cy="114300"/>
              </a:xfrm>
            </p:grpSpPr>
            <p:sp>
              <p:nvSpPr>
                <p:cNvPr id="217" name="Freeform 217"/>
                <p:cNvSpPr/>
                <p:nvPr/>
              </p:nvSpPr>
              <p:spPr>
                <a:xfrm>
                  <a:off x="2451100" y="5143500"/>
                  <a:ext cx="88900" cy="76200"/>
                </a:xfrm>
                <a:custGeom>
                  <a:avLst/>
                  <a:gdLst/>
                  <a:ahLst/>
                  <a:cxnLst/>
                  <a:rect l="l" t="t" r="r" b="b"/>
                  <a:pathLst>
                    <a:path w="88900" h="76200">
                      <a:moveTo>
                        <a:pt x="19050" y="0"/>
                      </a:moveTo>
                      <a:lnTo>
                        <a:pt x="12700" y="0"/>
                      </a:lnTo>
                      <a:cubicBezTo>
                        <a:pt x="5686" y="0"/>
                        <a:pt x="0" y="5686"/>
                        <a:pt x="0" y="12700"/>
                      </a:cubicBezTo>
                      <a:lnTo>
                        <a:pt x="0" y="63500"/>
                      </a:lnTo>
                      <a:cubicBezTo>
                        <a:pt x="0" y="70514"/>
                        <a:pt x="5686" y="76200"/>
                        <a:pt x="12700" y="76200"/>
                      </a:cubicBezTo>
                      <a:lnTo>
                        <a:pt x="76200" y="76200"/>
                      </a:lnTo>
                      <a:cubicBezTo>
                        <a:pt x="83214" y="76200"/>
                        <a:pt x="88900" y="70514"/>
                        <a:pt x="88900" y="63500"/>
                      </a:cubicBezTo>
                      <a:lnTo>
                        <a:pt x="88900" y="12700"/>
                      </a:lnTo>
                      <a:cubicBezTo>
                        <a:pt x="88900" y="5686"/>
                        <a:pt x="83214" y="0"/>
                        <a:pt x="76200" y="0"/>
                      </a:cubicBezTo>
                      <a:lnTo>
                        <a:pt x="69850" y="0"/>
                      </a:lnTo>
                    </a:path>
                  </a:pathLst>
                </a:custGeom>
                <a:noFill/>
                <a:ln w="12700">
                  <a:solidFill>
                    <a:srgbClr val="4E0D00"/>
                  </a:solidFill>
                </a:ln>
              </p:spPr>
            </p:sp>
            <p:sp>
              <p:nvSpPr>
                <p:cNvPr id="218" name="Freeform 218"/>
                <p:cNvSpPr/>
                <p:nvPr/>
              </p:nvSpPr>
              <p:spPr>
                <a:xfrm>
                  <a:off x="2495550" y="5105400"/>
                  <a:ext cx="9525" cy="69850"/>
                </a:xfrm>
                <a:custGeom>
                  <a:avLst/>
                  <a:gdLst/>
                  <a:ahLst/>
                  <a:cxnLst/>
                  <a:rect l="l" t="t" r="r" b="b"/>
                  <a:pathLst>
                    <a:path w="9525" h="69850">
                      <a:moveTo>
                        <a:pt x="0" y="69850"/>
                      </a:moveTo>
                      <a:lnTo>
                        <a:pt x="0" y="0"/>
                      </a:lnTo>
                    </a:path>
                  </a:pathLst>
                </a:custGeom>
                <a:noFill/>
                <a:ln w="12700">
                  <a:solidFill>
                    <a:srgbClr val="4E0D00"/>
                  </a:solidFill>
                </a:ln>
              </p:spPr>
            </p:sp>
            <p:sp>
              <p:nvSpPr>
                <p:cNvPr id="219" name="Freeform 219"/>
                <p:cNvSpPr/>
                <p:nvPr/>
              </p:nvSpPr>
              <p:spPr>
                <a:xfrm>
                  <a:off x="2476500" y="5105400"/>
                  <a:ext cx="38100" cy="19050"/>
                </a:xfrm>
                <a:custGeom>
                  <a:avLst/>
                  <a:gdLst/>
                  <a:ahLst/>
                  <a:cxnLst/>
                  <a:rect l="l" t="t" r="r" b="b"/>
                  <a:pathLst>
                    <a:path w="38100" h="19050">
                      <a:moveTo>
                        <a:pt x="0" y="19050"/>
                      </a:moveTo>
                      <a:lnTo>
                        <a:pt x="19050" y="0"/>
                      </a:lnTo>
                      <a:lnTo>
                        <a:pt x="38100" y="19050"/>
                      </a:lnTo>
                    </a:path>
                  </a:pathLst>
                </a:custGeom>
                <a:noFill/>
                <a:ln w="12700">
                  <a:solidFill>
                    <a:srgbClr val="4E0D00"/>
                  </a:solidFill>
                </a:ln>
              </p:spPr>
            </p:sp>
          </p:grpSp>
          <p:sp>
            <p:nvSpPr>
              <p:cNvPr id="221" name="TextBox 221"/>
              <p:cNvSpPr txBox="1"/>
              <p:nvPr/>
            </p:nvSpPr>
            <p:spPr>
              <a:xfrm>
                <a:off x="2719388" y="5121116"/>
                <a:ext cx="230302"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渠道</a:t>
                </a:r>
              </a:p>
            </p:txBody>
          </p:sp>
          <p:sp>
            <p:nvSpPr>
              <p:cNvPr id="222" name="TextBox 222"/>
              <p:cNvSpPr txBox="1"/>
              <p:nvPr/>
            </p:nvSpPr>
            <p:spPr>
              <a:xfrm>
                <a:off x="2338388" y="5459730"/>
                <a:ext cx="736473"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渠道覆盖与触达效率</a:t>
                </a:r>
              </a:p>
            </p:txBody>
          </p:sp>
          <p:sp>
            <p:nvSpPr>
              <p:cNvPr id="223" name="TextBox 223"/>
              <p:cNvSpPr txBox="1"/>
              <p:nvPr/>
            </p:nvSpPr>
            <p:spPr>
              <a:xfrm>
                <a:off x="2960708" y="5876925"/>
                <a:ext cx="365084" cy="293370"/>
              </a:xfrm>
              <a:prstGeom prst="rect">
                <a:avLst/>
              </a:prstGeom>
              <a:noFill/>
              <a:ln>
                <a:noFill/>
              </a:ln>
            </p:spPr>
            <p:txBody>
              <a:bodyPr wrap="none" lIns="0" tIns="0" rIns="0" bIns="0" anchor="t" anchorCtr="0">
                <a:spAutoFit/>
              </a:bodyPr>
              <a:lstStyle/>
              <a:p>
                <a:pPr algn="ctr"/>
                <a:r>
                  <a:rPr lang="zh-CN" sz="1500" b="1" dirty="0">
                    <a:solidFill>
                      <a:srgbClr val="4E0D00"/>
                    </a:solidFill>
                    <a:latin typeface="+mn-lt"/>
                    <a:ea typeface="+mn-ea"/>
                    <a:cs typeface="+mn-cs"/>
                  </a:rPr>
                  <a:t>3.0</a:t>
                </a:r>
              </a:p>
            </p:txBody>
          </p:sp>
        </p:grpSp>
        <p:grpSp>
          <p:nvGrpSpPr>
            <p:cNvPr id="241" name="cap-tech"/>
            <p:cNvGrpSpPr/>
            <p:nvPr/>
          </p:nvGrpSpPr>
          <p:grpSpPr>
            <a:xfrm>
              <a:off x="4162425" y="4838700"/>
              <a:ext cx="1905000" cy="1524000"/>
              <a:chOff x="4162425" y="4838700"/>
              <a:chExt cx="1905000" cy="1524000"/>
            </a:xfrm>
          </p:grpSpPr>
          <p:sp>
            <p:nvSpPr>
              <p:cNvPr id="225" name="Rectangle 225"/>
              <p:cNvSpPr/>
              <p:nvPr/>
            </p:nvSpPr>
            <p:spPr>
              <a:xfrm>
                <a:off x="4162425" y="4838700"/>
                <a:ext cx="1905000" cy="1524000"/>
              </a:xfrm>
              <a:prstGeom prst="rect">
                <a:avLst/>
              </a:prstGeom>
              <a:solidFill>
                <a:srgbClr val="FFFFFF"/>
              </a:solidFill>
              <a:ln w="9525">
                <a:solidFill>
                  <a:srgbClr val="C7D2E4"/>
                </a:solidFill>
              </a:ln>
            </p:spPr>
          </p:sp>
          <p:sp>
            <p:nvSpPr>
              <p:cNvPr id="226" name="Ellipse 226"/>
              <p:cNvSpPr/>
              <p:nvPr/>
            </p:nvSpPr>
            <p:spPr>
              <a:xfrm>
                <a:off x="4314825" y="5010150"/>
                <a:ext cx="304800" cy="304800"/>
              </a:xfrm>
              <a:prstGeom prst="ellipse">
                <a:avLst/>
              </a:prstGeom>
              <a:solidFill>
                <a:srgbClr val="EFF3FA"/>
              </a:solidFill>
              <a:ln>
                <a:noFill/>
              </a:ln>
            </p:spPr>
          </p:sp>
          <p:grpSp>
            <p:nvGrpSpPr>
              <p:cNvPr id="237" name="Group 237"/>
              <p:cNvGrpSpPr/>
              <p:nvPr/>
            </p:nvGrpSpPr>
            <p:grpSpPr>
              <a:xfrm>
                <a:off x="4410075" y="5105400"/>
                <a:ext cx="114300" cy="114300"/>
                <a:chOff x="4410075" y="5105400"/>
                <a:chExt cx="114300" cy="114300"/>
              </a:xfrm>
            </p:grpSpPr>
            <p:sp>
              <p:nvSpPr>
                <p:cNvPr id="227" name="Freeform 227"/>
                <p:cNvSpPr/>
                <p:nvPr/>
              </p:nvSpPr>
              <p:spPr>
                <a:xfrm>
                  <a:off x="4422775" y="5118100"/>
                  <a:ext cx="88900" cy="88900"/>
                </a:xfrm>
                <a:custGeom>
                  <a:avLst/>
                  <a:gdLst/>
                  <a:ahLst/>
                  <a:cxnLst/>
                  <a:rect l="l" t="t" r="r" b="b"/>
                  <a:pathLst>
                    <a:path w="88900" h="88900">
                      <a:moveTo>
                        <a:pt x="0" y="6350"/>
                      </a:moveTo>
                      <a:cubicBezTo>
                        <a:pt x="0" y="2843"/>
                        <a:pt x="2843" y="0"/>
                        <a:pt x="6350" y="0"/>
                      </a:cubicBezTo>
                      <a:lnTo>
                        <a:pt x="82550" y="0"/>
                      </a:lnTo>
                      <a:cubicBezTo>
                        <a:pt x="86057" y="0"/>
                        <a:pt x="88900" y="2843"/>
                        <a:pt x="88900" y="6350"/>
                      </a:cubicBezTo>
                      <a:lnTo>
                        <a:pt x="88900" y="82550"/>
                      </a:lnTo>
                      <a:cubicBezTo>
                        <a:pt x="88900" y="86057"/>
                        <a:pt x="86057" y="88900"/>
                        <a:pt x="82550" y="88900"/>
                      </a:cubicBezTo>
                      <a:lnTo>
                        <a:pt x="6350" y="88900"/>
                      </a:lnTo>
                      <a:cubicBezTo>
                        <a:pt x="2843" y="88900"/>
                        <a:pt x="0" y="86057"/>
                        <a:pt x="0" y="82550"/>
                      </a:cubicBezTo>
                      <a:lnTo>
                        <a:pt x="0" y="6350"/>
                      </a:lnTo>
                    </a:path>
                  </a:pathLst>
                </a:custGeom>
                <a:noFill/>
                <a:ln w="12700">
                  <a:solidFill>
                    <a:srgbClr val="4E0D00"/>
                  </a:solidFill>
                </a:ln>
              </p:spPr>
            </p:sp>
            <p:sp>
              <p:nvSpPr>
                <p:cNvPr id="228" name="Freeform 228"/>
                <p:cNvSpPr/>
                <p:nvPr/>
              </p:nvSpPr>
              <p:spPr>
                <a:xfrm>
                  <a:off x="4448175" y="5143500"/>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2700">
                  <a:solidFill>
                    <a:srgbClr val="4E0D00"/>
                  </a:solidFill>
                </a:ln>
              </p:spPr>
            </p:sp>
            <p:sp>
              <p:nvSpPr>
                <p:cNvPr id="229" name="Freeform 229"/>
                <p:cNvSpPr/>
                <p:nvPr/>
              </p:nvSpPr>
              <p:spPr>
                <a:xfrm>
                  <a:off x="4410075" y="5149850"/>
                  <a:ext cx="12700" cy="9525"/>
                </a:xfrm>
                <a:custGeom>
                  <a:avLst/>
                  <a:gdLst/>
                  <a:ahLst/>
                  <a:cxnLst/>
                  <a:rect l="l" t="t" r="r" b="b"/>
                  <a:pathLst>
                    <a:path w="12700" h="9525">
                      <a:moveTo>
                        <a:pt x="0" y="0"/>
                      </a:moveTo>
                      <a:lnTo>
                        <a:pt x="12700" y="0"/>
                      </a:lnTo>
                    </a:path>
                  </a:pathLst>
                </a:custGeom>
                <a:noFill/>
                <a:ln w="12700">
                  <a:solidFill>
                    <a:srgbClr val="4E0D00"/>
                  </a:solidFill>
                </a:ln>
              </p:spPr>
            </p:sp>
            <p:sp>
              <p:nvSpPr>
                <p:cNvPr id="230" name="Freeform 230"/>
                <p:cNvSpPr/>
                <p:nvPr/>
              </p:nvSpPr>
              <p:spPr>
                <a:xfrm>
                  <a:off x="4410075" y="5175250"/>
                  <a:ext cx="12700" cy="9525"/>
                </a:xfrm>
                <a:custGeom>
                  <a:avLst/>
                  <a:gdLst/>
                  <a:ahLst/>
                  <a:cxnLst/>
                  <a:rect l="l" t="t" r="r" b="b"/>
                  <a:pathLst>
                    <a:path w="12700" h="9525">
                      <a:moveTo>
                        <a:pt x="0" y="0"/>
                      </a:moveTo>
                      <a:lnTo>
                        <a:pt x="12700" y="0"/>
                      </a:lnTo>
                    </a:path>
                  </a:pathLst>
                </a:custGeom>
                <a:noFill/>
                <a:ln w="12700">
                  <a:solidFill>
                    <a:srgbClr val="4E0D00"/>
                  </a:solidFill>
                </a:ln>
              </p:spPr>
            </p:sp>
            <p:sp>
              <p:nvSpPr>
                <p:cNvPr id="231" name="Freeform 231"/>
                <p:cNvSpPr/>
                <p:nvPr/>
              </p:nvSpPr>
              <p:spPr>
                <a:xfrm>
                  <a:off x="4454525" y="5105400"/>
                  <a:ext cx="9525" cy="12700"/>
                </a:xfrm>
                <a:custGeom>
                  <a:avLst/>
                  <a:gdLst/>
                  <a:ahLst/>
                  <a:cxnLst/>
                  <a:rect l="l" t="t" r="r" b="b"/>
                  <a:pathLst>
                    <a:path w="9525" h="12700">
                      <a:moveTo>
                        <a:pt x="0" y="0"/>
                      </a:moveTo>
                      <a:lnTo>
                        <a:pt x="0" y="12700"/>
                      </a:lnTo>
                    </a:path>
                  </a:pathLst>
                </a:custGeom>
                <a:noFill/>
                <a:ln w="12700">
                  <a:solidFill>
                    <a:srgbClr val="4E0D00"/>
                  </a:solidFill>
                </a:ln>
              </p:spPr>
            </p:sp>
            <p:sp>
              <p:nvSpPr>
                <p:cNvPr id="232" name="Freeform 232"/>
                <p:cNvSpPr/>
                <p:nvPr/>
              </p:nvSpPr>
              <p:spPr>
                <a:xfrm>
                  <a:off x="4479925" y="5105400"/>
                  <a:ext cx="9525" cy="12700"/>
                </a:xfrm>
                <a:custGeom>
                  <a:avLst/>
                  <a:gdLst/>
                  <a:ahLst/>
                  <a:cxnLst/>
                  <a:rect l="l" t="t" r="r" b="b"/>
                  <a:pathLst>
                    <a:path w="9525" h="12700">
                      <a:moveTo>
                        <a:pt x="0" y="0"/>
                      </a:moveTo>
                      <a:lnTo>
                        <a:pt x="0" y="12700"/>
                      </a:lnTo>
                    </a:path>
                  </a:pathLst>
                </a:custGeom>
                <a:noFill/>
                <a:ln w="12700">
                  <a:solidFill>
                    <a:srgbClr val="4E0D00"/>
                  </a:solidFill>
                </a:ln>
              </p:spPr>
            </p:sp>
            <p:sp>
              <p:nvSpPr>
                <p:cNvPr id="233" name="Freeform 233"/>
                <p:cNvSpPr/>
                <p:nvPr/>
              </p:nvSpPr>
              <p:spPr>
                <a:xfrm>
                  <a:off x="4511675" y="5149850"/>
                  <a:ext cx="12700" cy="9525"/>
                </a:xfrm>
                <a:custGeom>
                  <a:avLst/>
                  <a:gdLst/>
                  <a:ahLst/>
                  <a:cxnLst/>
                  <a:rect l="l" t="t" r="r" b="b"/>
                  <a:pathLst>
                    <a:path w="12700" h="9525">
                      <a:moveTo>
                        <a:pt x="12700" y="0"/>
                      </a:moveTo>
                      <a:lnTo>
                        <a:pt x="0" y="0"/>
                      </a:lnTo>
                    </a:path>
                  </a:pathLst>
                </a:custGeom>
                <a:noFill/>
                <a:ln w="12700">
                  <a:solidFill>
                    <a:srgbClr val="4E0D00"/>
                  </a:solidFill>
                </a:ln>
              </p:spPr>
            </p:sp>
            <p:sp>
              <p:nvSpPr>
                <p:cNvPr id="234" name="Freeform 234"/>
                <p:cNvSpPr/>
                <p:nvPr/>
              </p:nvSpPr>
              <p:spPr>
                <a:xfrm>
                  <a:off x="4511675" y="5175250"/>
                  <a:ext cx="12700" cy="9525"/>
                </a:xfrm>
                <a:custGeom>
                  <a:avLst/>
                  <a:gdLst/>
                  <a:ahLst/>
                  <a:cxnLst/>
                  <a:rect l="l" t="t" r="r" b="b"/>
                  <a:pathLst>
                    <a:path w="12700" h="9525">
                      <a:moveTo>
                        <a:pt x="12700" y="0"/>
                      </a:moveTo>
                      <a:lnTo>
                        <a:pt x="0" y="0"/>
                      </a:lnTo>
                    </a:path>
                  </a:pathLst>
                </a:custGeom>
                <a:noFill/>
                <a:ln w="12700">
                  <a:solidFill>
                    <a:srgbClr val="4E0D00"/>
                  </a:solidFill>
                </a:ln>
              </p:spPr>
            </p:sp>
            <p:sp>
              <p:nvSpPr>
                <p:cNvPr id="235" name="Freeform 235"/>
                <p:cNvSpPr/>
                <p:nvPr/>
              </p:nvSpPr>
              <p:spPr>
                <a:xfrm>
                  <a:off x="4479925" y="5207000"/>
                  <a:ext cx="9525" cy="12700"/>
                </a:xfrm>
                <a:custGeom>
                  <a:avLst/>
                  <a:gdLst/>
                  <a:ahLst/>
                  <a:cxnLst/>
                  <a:rect l="l" t="t" r="r" b="b"/>
                  <a:pathLst>
                    <a:path w="9525" h="12700">
                      <a:moveTo>
                        <a:pt x="0" y="12700"/>
                      </a:moveTo>
                      <a:lnTo>
                        <a:pt x="0" y="0"/>
                      </a:lnTo>
                    </a:path>
                  </a:pathLst>
                </a:custGeom>
                <a:noFill/>
                <a:ln w="12700">
                  <a:solidFill>
                    <a:srgbClr val="4E0D00"/>
                  </a:solidFill>
                </a:ln>
              </p:spPr>
            </p:sp>
            <p:sp>
              <p:nvSpPr>
                <p:cNvPr id="236" name="Freeform 236"/>
                <p:cNvSpPr/>
                <p:nvPr/>
              </p:nvSpPr>
              <p:spPr>
                <a:xfrm>
                  <a:off x="4454525" y="5207000"/>
                  <a:ext cx="9525" cy="12700"/>
                </a:xfrm>
                <a:custGeom>
                  <a:avLst/>
                  <a:gdLst/>
                  <a:ahLst/>
                  <a:cxnLst/>
                  <a:rect l="l" t="t" r="r" b="b"/>
                  <a:pathLst>
                    <a:path w="9525" h="12700">
                      <a:moveTo>
                        <a:pt x="0" y="12700"/>
                      </a:moveTo>
                      <a:lnTo>
                        <a:pt x="0" y="0"/>
                      </a:lnTo>
                    </a:path>
                  </a:pathLst>
                </a:custGeom>
                <a:noFill/>
                <a:ln w="12700">
                  <a:solidFill>
                    <a:srgbClr val="4E0D00"/>
                  </a:solidFill>
                </a:ln>
              </p:spPr>
            </p:sp>
          </p:grpSp>
          <p:sp>
            <p:nvSpPr>
              <p:cNvPr id="238" name="TextBox 238"/>
              <p:cNvSpPr txBox="1"/>
              <p:nvPr/>
            </p:nvSpPr>
            <p:spPr>
              <a:xfrm>
                <a:off x="4691062" y="5121116"/>
                <a:ext cx="230302"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技术</a:t>
                </a:r>
              </a:p>
            </p:txBody>
          </p:sp>
          <p:sp>
            <p:nvSpPr>
              <p:cNvPr id="239" name="TextBox 239"/>
              <p:cNvSpPr txBox="1"/>
              <p:nvPr/>
            </p:nvSpPr>
            <p:spPr>
              <a:xfrm>
                <a:off x="4310062" y="5459730"/>
                <a:ext cx="736473"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核心技术与研发能力</a:t>
                </a:r>
              </a:p>
            </p:txBody>
          </p:sp>
          <p:sp>
            <p:nvSpPr>
              <p:cNvPr id="240" name="TextBox 240"/>
              <p:cNvSpPr txBox="1"/>
              <p:nvPr/>
            </p:nvSpPr>
            <p:spPr>
              <a:xfrm>
                <a:off x="4932383" y="5876925"/>
                <a:ext cx="365084" cy="293370"/>
              </a:xfrm>
              <a:prstGeom prst="rect">
                <a:avLst/>
              </a:prstGeom>
              <a:noFill/>
              <a:ln>
                <a:noFill/>
              </a:ln>
            </p:spPr>
            <p:txBody>
              <a:bodyPr wrap="none" lIns="0" tIns="0" rIns="0" bIns="0" anchor="t" anchorCtr="0">
                <a:spAutoFit/>
              </a:bodyPr>
              <a:lstStyle/>
              <a:p>
                <a:pPr algn="ctr"/>
                <a:r>
                  <a:rPr lang="zh-CN" sz="1500" b="1" dirty="0">
                    <a:solidFill>
                      <a:srgbClr val="4E0D00"/>
                    </a:solidFill>
                    <a:latin typeface="+mn-lt"/>
                    <a:ea typeface="+mn-ea"/>
                    <a:cs typeface="+mn-cs"/>
                  </a:rPr>
                  <a:t>3.1</a:t>
                </a:r>
              </a:p>
            </p:txBody>
          </p:sp>
        </p:grpSp>
        <p:grpSp>
          <p:nvGrpSpPr>
            <p:cNvPr id="252" name="cap-customer"/>
            <p:cNvGrpSpPr/>
            <p:nvPr/>
          </p:nvGrpSpPr>
          <p:grpSpPr>
            <a:xfrm>
              <a:off x="6124575" y="4838700"/>
              <a:ext cx="1905000" cy="1524000"/>
              <a:chOff x="6124575" y="4838700"/>
              <a:chExt cx="1905000" cy="1524000"/>
            </a:xfrm>
          </p:grpSpPr>
          <p:sp>
            <p:nvSpPr>
              <p:cNvPr id="242" name="Rectangle 242"/>
              <p:cNvSpPr/>
              <p:nvPr/>
            </p:nvSpPr>
            <p:spPr>
              <a:xfrm>
                <a:off x="6124575" y="4838700"/>
                <a:ext cx="1905000" cy="1524000"/>
              </a:xfrm>
              <a:prstGeom prst="rect">
                <a:avLst/>
              </a:prstGeom>
              <a:solidFill>
                <a:srgbClr val="FFFFFF"/>
              </a:solidFill>
              <a:ln w="9525">
                <a:solidFill>
                  <a:srgbClr val="C7D2E4"/>
                </a:solidFill>
              </a:ln>
            </p:spPr>
          </p:sp>
          <p:sp>
            <p:nvSpPr>
              <p:cNvPr id="243" name="Ellipse 243"/>
              <p:cNvSpPr/>
              <p:nvPr/>
            </p:nvSpPr>
            <p:spPr>
              <a:xfrm>
                <a:off x="6276975" y="5010150"/>
                <a:ext cx="304800" cy="304800"/>
              </a:xfrm>
              <a:prstGeom prst="ellipse">
                <a:avLst/>
              </a:prstGeom>
              <a:solidFill>
                <a:srgbClr val="EFF3FA"/>
              </a:solidFill>
              <a:ln>
                <a:noFill/>
              </a:ln>
            </p:spPr>
          </p:sp>
          <p:grpSp>
            <p:nvGrpSpPr>
              <p:cNvPr id="248" name="Group 248"/>
              <p:cNvGrpSpPr/>
              <p:nvPr/>
            </p:nvGrpSpPr>
            <p:grpSpPr>
              <a:xfrm>
                <a:off x="6372225" y="5105400"/>
                <a:ext cx="114300" cy="114301"/>
                <a:chOff x="6372225" y="5105400"/>
                <a:chExt cx="114300" cy="114301"/>
              </a:xfrm>
            </p:grpSpPr>
            <p:sp>
              <p:nvSpPr>
                <p:cNvPr id="244" name="Freeform 244"/>
                <p:cNvSpPr/>
                <p:nvPr/>
              </p:nvSpPr>
              <p:spPr>
                <a:xfrm>
                  <a:off x="6384925" y="51054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4E0D00"/>
                  </a:solidFill>
                </a:ln>
              </p:spPr>
            </p:sp>
            <p:sp>
              <p:nvSpPr>
                <p:cNvPr id="245" name="Freeform 245"/>
                <p:cNvSpPr/>
                <p:nvPr/>
              </p:nvSpPr>
              <p:spPr>
                <a:xfrm>
                  <a:off x="6372225" y="518160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4E0D00"/>
                  </a:solidFill>
                </a:ln>
              </p:spPr>
            </p:sp>
            <p:sp>
              <p:nvSpPr>
                <p:cNvPr id="246" name="Freeform 246"/>
                <p:cNvSpPr/>
                <p:nvPr/>
              </p:nvSpPr>
              <p:spPr>
                <a:xfrm>
                  <a:off x="6454775" y="5106226"/>
                  <a:ext cx="19100" cy="49213"/>
                </a:xfrm>
                <a:custGeom>
                  <a:avLst/>
                  <a:gdLst/>
                  <a:ahLst/>
                  <a:cxnLst/>
                  <a:rect l="l" t="t" r="r" b="b"/>
                  <a:pathLst>
                    <a:path w="19100" h="49213">
                      <a:moveTo>
                        <a:pt x="0" y="0"/>
                      </a:moveTo>
                      <a:cubicBezTo>
                        <a:pt x="11239" y="2878"/>
                        <a:pt x="19100" y="13005"/>
                        <a:pt x="19100" y="24606"/>
                      </a:cubicBezTo>
                      <a:cubicBezTo>
                        <a:pt x="19100" y="36208"/>
                        <a:pt x="11239" y="46335"/>
                        <a:pt x="0" y="49213"/>
                      </a:cubicBezTo>
                    </a:path>
                  </a:pathLst>
                </a:custGeom>
                <a:noFill/>
                <a:ln w="12700">
                  <a:solidFill>
                    <a:srgbClr val="4E0D00"/>
                  </a:solidFill>
                </a:ln>
              </p:spPr>
            </p:sp>
            <p:sp>
              <p:nvSpPr>
                <p:cNvPr id="247" name="Freeform 247"/>
                <p:cNvSpPr/>
                <p:nvPr/>
              </p:nvSpPr>
              <p:spPr>
                <a:xfrm>
                  <a:off x="6467475" y="5182553"/>
                  <a:ext cx="19050" cy="37148"/>
                </a:xfrm>
                <a:custGeom>
                  <a:avLst/>
                  <a:gdLst/>
                  <a:ahLst/>
                  <a:cxnLst/>
                  <a:rect l="l" t="t" r="r" b="b"/>
                  <a:pathLst>
                    <a:path w="19050" h="37148">
                      <a:moveTo>
                        <a:pt x="19050" y="37148"/>
                      </a:moveTo>
                      <a:lnTo>
                        <a:pt x="19050" y="24448"/>
                      </a:lnTo>
                      <a:cubicBezTo>
                        <a:pt x="18984" y="12920"/>
                        <a:pt x="11162" y="2882"/>
                        <a:pt x="0" y="0"/>
                      </a:cubicBezTo>
                    </a:path>
                  </a:pathLst>
                </a:custGeom>
                <a:noFill/>
                <a:ln w="12700">
                  <a:solidFill>
                    <a:srgbClr val="4E0D00"/>
                  </a:solidFill>
                </a:ln>
              </p:spPr>
            </p:sp>
          </p:grpSp>
          <p:sp>
            <p:nvSpPr>
              <p:cNvPr id="249" name="TextBox 249"/>
              <p:cNvSpPr txBox="1"/>
              <p:nvPr/>
            </p:nvSpPr>
            <p:spPr>
              <a:xfrm>
                <a:off x="6653212" y="5121116"/>
                <a:ext cx="230302"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客户</a:t>
                </a:r>
              </a:p>
            </p:txBody>
          </p:sp>
          <p:sp>
            <p:nvSpPr>
              <p:cNvPr id="250" name="TextBox 250"/>
              <p:cNvSpPr txBox="1"/>
              <p:nvPr/>
            </p:nvSpPr>
            <p:spPr>
              <a:xfrm>
                <a:off x="6272212" y="5459730"/>
                <a:ext cx="574929"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客户资源与粘性</a:t>
                </a:r>
              </a:p>
            </p:txBody>
          </p:sp>
          <p:sp>
            <p:nvSpPr>
              <p:cNvPr id="251" name="TextBox 251"/>
              <p:cNvSpPr txBox="1"/>
              <p:nvPr/>
            </p:nvSpPr>
            <p:spPr>
              <a:xfrm>
                <a:off x="6894533" y="5876925"/>
                <a:ext cx="365084" cy="293370"/>
              </a:xfrm>
              <a:prstGeom prst="rect">
                <a:avLst/>
              </a:prstGeom>
              <a:noFill/>
              <a:ln>
                <a:noFill/>
              </a:ln>
            </p:spPr>
            <p:txBody>
              <a:bodyPr wrap="none" lIns="0" tIns="0" rIns="0" bIns="0" anchor="t" anchorCtr="0">
                <a:spAutoFit/>
              </a:bodyPr>
              <a:lstStyle/>
              <a:p>
                <a:pPr algn="ctr"/>
                <a:r>
                  <a:rPr lang="zh-CN" sz="1500" b="1" dirty="0">
                    <a:solidFill>
                      <a:srgbClr val="4E0D00"/>
                    </a:solidFill>
                    <a:latin typeface="+mn-lt"/>
                    <a:ea typeface="+mn-ea"/>
                    <a:cs typeface="+mn-cs"/>
                  </a:rPr>
                  <a:t>3.3</a:t>
                </a:r>
              </a:p>
            </p:txBody>
          </p:sp>
        </p:grpSp>
        <p:grpSp>
          <p:nvGrpSpPr>
            <p:cNvPr id="262" name="cap-supply"/>
            <p:cNvGrpSpPr/>
            <p:nvPr/>
          </p:nvGrpSpPr>
          <p:grpSpPr>
            <a:xfrm>
              <a:off x="8086725" y="4838700"/>
              <a:ext cx="1905000" cy="1524000"/>
              <a:chOff x="8086725" y="4838700"/>
              <a:chExt cx="1905000" cy="1524000"/>
            </a:xfrm>
          </p:grpSpPr>
          <p:sp>
            <p:nvSpPr>
              <p:cNvPr id="253" name="Rectangle 253"/>
              <p:cNvSpPr/>
              <p:nvPr/>
            </p:nvSpPr>
            <p:spPr>
              <a:xfrm>
                <a:off x="8086725" y="4838700"/>
                <a:ext cx="1905000" cy="1524000"/>
              </a:xfrm>
              <a:prstGeom prst="rect">
                <a:avLst/>
              </a:prstGeom>
              <a:solidFill>
                <a:srgbClr val="FFFFFF"/>
              </a:solidFill>
              <a:ln w="9525">
                <a:solidFill>
                  <a:srgbClr val="C7D2E4"/>
                </a:solidFill>
              </a:ln>
            </p:spPr>
          </p:sp>
          <p:sp>
            <p:nvSpPr>
              <p:cNvPr id="254" name="Ellipse 254"/>
              <p:cNvSpPr/>
              <p:nvPr/>
            </p:nvSpPr>
            <p:spPr>
              <a:xfrm>
                <a:off x="8239125" y="5010150"/>
                <a:ext cx="304800" cy="304800"/>
              </a:xfrm>
              <a:prstGeom prst="ellipse">
                <a:avLst/>
              </a:prstGeom>
              <a:solidFill>
                <a:srgbClr val="EFF3FA"/>
              </a:solidFill>
              <a:ln>
                <a:noFill/>
              </a:ln>
            </p:spPr>
          </p:sp>
          <p:grpSp>
            <p:nvGrpSpPr>
              <p:cNvPr id="258" name="Group 258"/>
              <p:cNvGrpSpPr/>
              <p:nvPr/>
            </p:nvGrpSpPr>
            <p:grpSpPr>
              <a:xfrm>
                <a:off x="8334375" y="5118100"/>
                <a:ext cx="114300" cy="88900"/>
                <a:chOff x="8334375" y="5118100"/>
                <a:chExt cx="114300" cy="88900"/>
              </a:xfrm>
            </p:grpSpPr>
            <p:sp>
              <p:nvSpPr>
                <p:cNvPr id="255" name="Freeform 255"/>
                <p:cNvSpPr/>
                <p:nvPr/>
              </p:nvSpPr>
              <p:spPr>
                <a:xfrm>
                  <a:off x="8347075" y="51816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256" name="Freeform 256"/>
                <p:cNvSpPr/>
                <p:nvPr/>
              </p:nvSpPr>
              <p:spPr>
                <a:xfrm>
                  <a:off x="8410575" y="51816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257" name="Freeform 257"/>
                <p:cNvSpPr/>
                <p:nvPr/>
              </p:nvSpPr>
              <p:spPr>
                <a:xfrm>
                  <a:off x="8334375" y="5118100"/>
                  <a:ext cx="114300" cy="76200"/>
                </a:xfrm>
                <a:custGeom>
                  <a:avLst/>
                  <a:gdLst/>
                  <a:ahLst/>
                  <a:cxnLst/>
                  <a:rect l="l" t="t" r="r" b="b"/>
                  <a:pathLst>
                    <a:path w="114300" h="76200">
                      <a:moveTo>
                        <a:pt x="12700" y="76200"/>
                      </a:moveTo>
                      <a:lnTo>
                        <a:pt x="0" y="76200"/>
                      </a:lnTo>
                      <a:lnTo>
                        <a:pt x="0" y="6350"/>
                      </a:lnTo>
                      <a:cubicBezTo>
                        <a:pt x="0" y="2843"/>
                        <a:pt x="2843" y="0"/>
                        <a:pt x="6350" y="0"/>
                      </a:cubicBezTo>
                      <a:lnTo>
                        <a:pt x="63500" y="0"/>
                      </a:lnTo>
                      <a:lnTo>
                        <a:pt x="63500" y="76200"/>
                      </a:lnTo>
                      <a:moveTo>
                        <a:pt x="38100" y="76200"/>
                      </a:moveTo>
                      <a:lnTo>
                        <a:pt x="76200" y="76200"/>
                      </a:lnTo>
                      <a:moveTo>
                        <a:pt x="101600" y="76200"/>
                      </a:moveTo>
                      <a:lnTo>
                        <a:pt x="114300" y="76200"/>
                      </a:lnTo>
                      <a:lnTo>
                        <a:pt x="114300" y="38100"/>
                      </a:lnTo>
                      <a:lnTo>
                        <a:pt x="63500" y="38100"/>
                      </a:lnTo>
                      <a:moveTo>
                        <a:pt x="63500" y="6350"/>
                      </a:moveTo>
                      <a:lnTo>
                        <a:pt x="95250" y="6350"/>
                      </a:lnTo>
                      <a:lnTo>
                        <a:pt x="114300" y="38100"/>
                      </a:lnTo>
                    </a:path>
                  </a:pathLst>
                </a:custGeom>
                <a:noFill/>
                <a:ln w="12700">
                  <a:solidFill>
                    <a:srgbClr val="4E0D00"/>
                  </a:solidFill>
                </a:ln>
              </p:spPr>
            </p:sp>
          </p:grpSp>
          <p:sp>
            <p:nvSpPr>
              <p:cNvPr id="259" name="TextBox 259"/>
              <p:cNvSpPr txBox="1"/>
              <p:nvPr/>
            </p:nvSpPr>
            <p:spPr>
              <a:xfrm>
                <a:off x="8615362" y="5121116"/>
                <a:ext cx="340690"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供应链</a:t>
                </a:r>
              </a:p>
            </p:txBody>
          </p:sp>
          <p:sp>
            <p:nvSpPr>
              <p:cNvPr id="260" name="TextBox 260"/>
              <p:cNvSpPr txBox="1"/>
              <p:nvPr/>
            </p:nvSpPr>
            <p:spPr>
              <a:xfrm>
                <a:off x="8234362" y="5459730"/>
                <a:ext cx="817245"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供应链韧性与成本优势</a:t>
                </a:r>
              </a:p>
            </p:txBody>
          </p:sp>
          <p:sp>
            <p:nvSpPr>
              <p:cNvPr id="261" name="TextBox 261"/>
              <p:cNvSpPr txBox="1"/>
              <p:nvPr/>
            </p:nvSpPr>
            <p:spPr>
              <a:xfrm>
                <a:off x="8856683" y="5876925"/>
                <a:ext cx="365084" cy="293370"/>
              </a:xfrm>
              <a:prstGeom prst="rect">
                <a:avLst/>
              </a:prstGeom>
              <a:noFill/>
              <a:ln>
                <a:noFill/>
              </a:ln>
            </p:spPr>
            <p:txBody>
              <a:bodyPr wrap="none" lIns="0" tIns="0" rIns="0" bIns="0" anchor="t" anchorCtr="0">
                <a:spAutoFit/>
              </a:bodyPr>
              <a:lstStyle/>
              <a:p>
                <a:pPr algn="ctr"/>
                <a:r>
                  <a:rPr lang="zh-CN" sz="1500" b="1" dirty="0">
                    <a:solidFill>
                      <a:srgbClr val="4E0D00"/>
                    </a:solidFill>
                    <a:latin typeface="+mn-lt"/>
                    <a:ea typeface="+mn-ea"/>
                    <a:cs typeface="+mn-cs"/>
                  </a:rPr>
                  <a:t>3.2</a:t>
                </a:r>
              </a:p>
            </p:txBody>
          </p:sp>
        </p:grpSp>
        <p:grpSp>
          <p:nvGrpSpPr>
            <p:cNvPr id="278" name="cap-talent"/>
            <p:cNvGrpSpPr/>
            <p:nvPr/>
          </p:nvGrpSpPr>
          <p:grpSpPr>
            <a:xfrm>
              <a:off x="10058400" y="4838700"/>
              <a:ext cx="1905000" cy="1524000"/>
              <a:chOff x="10058400" y="4838700"/>
              <a:chExt cx="1905000" cy="1524000"/>
            </a:xfrm>
          </p:grpSpPr>
          <p:sp>
            <p:nvSpPr>
              <p:cNvPr id="263" name="Rectangle 263"/>
              <p:cNvSpPr/>
              <p:nvPr/>
            </p:nvSpPr>
            <p:spPr>
              <a:xfrm>
                <a:off x="10058400" y="4838700"/>
                <a:ext cx="1905000" cy="1524000"/>
              </a:xfrm>
              <a:prstGeom prst="rect">
                <a:avLst/>
              </a:prstGeom>
              <a:solidFill>
                <a:srgbClr val="FFFFFF"/>
              </a:solidFill>
              <a:ln w="9525">
                <a:solidFill>
                  <a:srgbClr val="C7D2E4"/>
                </a:solidFill>
              </a:ln>
            </p:spPr>
          </p:sp>
          <p:sp>
            <p:nvSpPr>
              <p:cNvPr id="264" name="Ellipse 264"/>
              <p:cNvSpPr/>
              <p:nvPr/>
            </p:nvSpPr>
            <p:spPr>
              <a:xfrm>
                <a:off x="10210800" y="5010150"/>
                <a:ext cx="304800" cy="304800"/>
              </a:xfrm>
              <a:prstGeom prst="ellipse">
                <a:avLst/>
              </a:prstGeom>
              <a:solidFill>
                <a:srgbClr val="EFF3FA"/>
              </a:solidFill>
              <a:ln>
                <a:noFill/>
              </a:ln>
            </p:spPr>
          </p:sp>
          <p:grpSp>
            <p:nvGrpSpPr>
              <p:cNvPr id="274" name="Group 274"/>
              <p:cNvGrpSpPr/>
              <p:nvPr/>
            </p:nvGrpSpPr>
            <p:grpSpPr>
              <a:xfrm>
                <a:off x="10325100" y="5105400"/>
                <a:ext cx="103080" cy="123825"/>
                <a:chOff x="10325100" y="5105400"/>
                <a:chExt cx="103080" cy="123825"/>
              </a:xfrm>
            </p:grpSpPr>
            <p:sp>
              <p:nvSpPr>
                <p:cNvPr id="265" name="Freeform 265"/>
                <p:cNvSpPr/>
                <p:nvPr/>
              </p:nvSpPr>
              <p:spPr>
                <a:xfrm>
                  <a:off x="10337800" y="51054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4E0D00"/>
                  </a:solidFill>
                </a:ln>
              </p:spPr>
            </p:sp>
            <p:sp>
              <p:nvSpPr>
                <p:cNvPr id="266" name="Freeform 266"/>
                <p:cNvSpPr/>
                <p:nvPr/>
              </p:nvSpPr>
              <p:spPr>
                <a:xfrm>
                  <a:off x="10325100" y="5181600"/>
                  <a:ext cx="41275" cy="38100"/>
                </a:xfrm>
                <a:custGeom>
                  <a:avLst/>
                  <a:gdLst/>
                  <a:ahLst/>
                  <a:cxnLst/>
                  <a:rect l="l" t="t" r="r" b="b"/>
                  <a:pathLst>
                    <a:path w="41275" h="38100">
                      <a:moveTo>
                        <a:pt x="0" y="38100"/>
                      </a:moveTo>
                      <a:lnTo>
                        <a:pt x="0" y="25400"/>
                      </a:lnTo>
                      <a:cubicBezTo>
                        <a:pt x="0" y="11372"/>
                        <a:pt x="11372" y="0"/>
                        <a:pt x="25400" y="0"/>
                      </a:cubicBezTo>
                      <a:lnTo>
                        <a:pt x="41275" y="0"/>
                      </a:lnTo>
                    </a:path>
                  </a:pathLst>
                </a:custGeom>
                <a:noFill/>
                <a:ln w="12700">
                  <a:solidFill>
                    <a:srgbClr val="4E0D00"/>
                  </a:solidFill>
                </a:ln>
              </p:spPr>
            </p:sp>
            <p:sp>
              <p:nvSpPr>
                <p:cNvPr id="267" name="Freeform 267"/>
                <p:cNvSpPr/>
                <p:nvPr/>
              </p:nvSpPr>
              <p:spPr>
                <a:xfrm>
                  <a:off x="10394956" y="51943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268" name="Freeform 268"/>
                <p:cNvSpPr/>
                <p:nvPr/>
              </p:nvSpPr>
              <p:spPr>
                <a:xfrm>
                  <a:off x="10407656" y="5184775"/>
                  <a:ext cx="9525" cy="9525"/>
                </a:xfrm>
                <a:custGeom>
                  <a:avLst/>
                  <a:gdLst/>
                  <a:ahLst/>
                  <a:cxnLst/>
                  <a:rect l="l" t="t" r="r" b="b"/>
                  <a:pathLst>
                    <a:path w="9525" h="9525">
                      <a:moveTo>
                        <a:pt x="0" y="0"/>
                      </a:moveTo>
                      <a:lnTo>
                        <a:pt x="0" y="9525"/>
                      </a:lnTo>
                    </a:path>
                  </a:pathLst>
                </a:custGeom>
                <a:noFill/>
                <a:ln w="12700">
                  <a:solidFill>
                    <a:srgbClr val="4E0D00"/>
                  </a:solidFill>
                </a:ln>
              </p:spPr>
            </p:sp>
            <p:sp>
              <p:nvSpPr>
                <p:cNvPr id="269" name="Freeform 269"/>
                <p:cNvSpPr/>
                <p:nvPr/>
              </p:nvSpPr>
              <p:spPr>
                <a:xfrm>
                  <a:off x="10407656" y="5219700"/>
                  <a:ext cx="9525" cy="9525"/>
                </a:xfrm>
                <a:custGeom>
                  <a:avLst/>
                  <a:gdLst/>
                  <a:ahLst/>
                  <a:cxnLst/>
                  <a:rect l="l" t="t" r="r" b="b"/>
                  <a:pathLst>
                    <a:path w="9525" h="9525">
                      <a:moveTo>
                        <a:pt x="0" y="0"/>
                      </a:moveTo>
                      <a:lnTo>
                        <a:pt x="0" y="9525"/>
                      </a:lnTo>
                    </a:path>
                  </a:pathLst>
                </a:custGeom>
                <a:noFill/>
                <a:ln w="12700">
                  <a:solidFill>
                    <a:srgbClr val="4E0D00"/>
                  </a:solidFill>
                </a:ln>
              </p:spPr>
            </p:sp>
            <p:sp>
              <p:nvSpPr>
                <p:cNvPr id="270" name="Freeform 270"/>
                <p:cNvSpPr/>
                <p:nvPr/>
              </p:nvSpPr>
              <p:spPr>
                <a:xfrm>
                  <a:off x="10418655" y="5195888"/>
                  <a:ext cx="9525" cy="9525"/>
                </a:xfrm>
                <a:custGeom>
                  <a:avLst/>
                  <a:gdLst/>
                  <a:ahLst/>
                  <a:cxnLst/>
                  <a:rect l="l" t="t" r="r" b="b"/>
                  <a:pathLst>
                    <a:path w="9525" h="9525">
                      <a:moveTo>
                        <a:pt x="8249" y="0"/>
                      </a:moveTo>
                      <a:lnTo>
                        <a:pt x="0" y="4763"/>
                      </a:lnTo>
                    </a:path>
                  </a:pathLst>
                </a:custGeom>
                <a:noFill/>
                <a:ln w="12700">
                  <a:solidFill>
                    <a:srgbClr val="4E0D00"/>
                  </a:solidFill>
                </a:ln>
              </p:spPr>
            </p:sp>
            <p:sp>
              <p:nvSpPr>
                <p:cNvPr id="271" name="Freeform 271"/>
                <p:cNvSpPr/>
                <p:nvPr/>
              </p:nvSpPr>
              <p:spPr>
                <a:xfrm>
                  <a:off x="10388410" y="5213350"/>
                  <a:ext cx="9525" cy="9525"/>
                </a:xfrm>
                <a:custGeom>
                  <a:avLst/>
                  <a:gdLst/>
                  <a:ahLst/>
                  <a:cxnLst/>
                  <a:rect l="l" t="t" r="r" b="b"/>
                  <a:pathLst>
                    <a:path w="9525" h="9525">
                      <a:moveTo>
                        <a:pt x="8255" y="0"/>
                      </a:moveTo>
                      <a:lnTo>
                        <a:pt x="0" y="4763"/>
                      </a:lnTo>
                    </a:path>
                  </a:pathLst>
                </a:custGeom>
                <a:noFill/>
                <a:ln w="12700">
                  <a:solidFill>
                    <a:srgbClr val="4E0D00"/>
                  </a:solidFill>
                </a:ln>
              </p:spPr>
            </p:sp>
            <p:sp>
              <p:nvSpPr>
                <p:cNvPr id="272" name="Freeform 272"/>
                <p:cNvSpPr/>
                <p:nvPr/>
              </p:nvSpPr>
              <p:spPr>
                <a:xfrm>
                  <a:off x="10388410" y="5195888"/>
                  <a:ext cx="9525" cy="9525"/>
                </a:xfrm>
                <a:custGeom>
                  <a:avLst/>
                  <a:gdLst/>
                  <a:ahLst/>
                  <a:cxnLst/>
                  <a:rect l="l" t="t" r="r" b="b"/>
                  <a:pathLst>
                    <a:path w="9525" h="9525">
                      <a:moveTo>
                        <a:pt x="0" y="0"/>
                      </a:moveTo>
                      <a:lnTo>
                        <a:pt x="8255" y="4763"/>
                      </a:lnTo>
                    </a:path>
                  </a:pathLst>
                </a:custGeom>
                <a:noFill/>
                <a:ln w="12700">
                  <a:solidFill>
                    <a:srgbClr val="4E0D00"/>
                  </a:solidFill>
                </a:ln>
              </p:spPr>
            </p:sp>
            <p:sp>
              <p:nvSpPr>
                <p:cNvPr id="273" name="Freeform 273"/>
                <p:cNvSpPr/>
                <p:nvPr/>
              </p:nvSpPr>
              <p:spPr>
                <a:xfrm>
                  <a:off x="10418655" y="5213350"/>
                  <a:ext cx="9525" cy="9525"/>
                </a:xfrm>
                <a:custGeom>
                  <a:avLst/>
                  <a:gdLst/>
                  <a:ahLst/>
                  <a:cxnLst/>
                  <a:rect l="l" t="t" r="r" b="b"/>
                  <a:pathLst>
                    <a:path w="9525" h="9525">
                      <a:moveTo>
                        <a:pt x="0" y="0"/>
                      </a:moveTo>
                      <a:lnTo>
                        <a:pt x="8255" y="4763"/>
                      </a:lnTo>
                    </a:path>
                  </a:pathLst>
                </a:custGeom>
                <a:noFill/>
                <a:ln w="12700">
                  <a:solidFill>
                    <a:srgbClr val="4E0D00"/>
                  </a:solidFill>
                </a:ln>
              </p:spPr>
            </p:sp>
          </p:grpSp>
          <p:sp>
            <p:nvSpPr>
              <p:cNvPr id="275" name="TextBox 275"/>
              <p:cNvSpPr txBox="1"/>
              <p:nvPr/>
            </p:nvSpPr>
            <p:spPr>
              <a:xfrm>
                <a:off x="10587038" y="5121116"/>
                <a:ext cx="230302" cy="161925"/>
              </a:xfrm>
              <a:prstGeom prst="rect">
                <a:avLst/>
              </a:prstGeom>
              <a:noFill/>
              <a:ln>
                <a:noFill/>
              </a:ln>
            </p:spPr>
            <p:txBody>
              <a:bodyPr wrap="none" lIns="0" tIns="0" rIns="0" bIns="0" anchor="t" anchorCtr="0">
                <a:spAutoFit/>
              </a:bodyPr>
              <a:lstStyle/>
              <a:p>
                <a:pPr algn="l"/>
                <a:r>
                  <a:rPr lang="zh-CN" sz="820" b="1" dirty="0">
                    <a:solidFill>
                      <a:srgbClr val="4E0D00"/>
                    </a:solidFill>
                    <a:latin typeface="+mn-lt"/>
                    <a:ea typeface="+mn-ea"/>
                    <a:cs typeface="+mn-cs"/>
                  </a:rPr>
                  <a:t>人才</a:t>
                </a:r>
              </a:p>
            </p:txBody>
          </p:sp>
          <p:sp>
            <p:nvSpPr>
              <p:cNvPr id="276" name="TextBox 276"/>
              <p:cNvSpPr txBox="1"/>
              <p:nvPr/>
            </p:nvSpPr>
            <p:spPr>
              <a:xfrm>
                <a:off x="10206038" y="5459730"/>
                <a:ext cx="736473" cy="119062"/>
              </a:xfrm>
              <a:prstGeom prst="rect">
                <a:avLst/>
              </a:prstGeom>
              <a:noFill/>
              <a:ln>
                <a:noFill/>
              </a:ln>
            </p:spPr>
            <p:txBody>
              <a:bodyPr wrap="none" lIns="0" tIns="0" rIns="0" bIns="0" anchor="t" anchorCtr="0">
                <a:spAutoFit/>
              </a:bodyPr>
              <a:lstStyle/>
              <a:p>
                <a:pPr algn="l"/>
                <a:r>
                  <a:rPr lang="zh-CN" sz="600" dirty="0">
                    <a:solidFill>
                      <a:srgbClr val="6E5955"/>
                    </a:solidFill>
                    <a:latin typeface="+mn-lt"/>
                    <a:ea typeface="+mn-ea"/>
                    <a:cs typeface="+mn-cs"/>
                  </a:rPr>
                  <a:t>人才梯队与组织能力</a:t>
                </a:r>
              </a:p>
            </p:txBody>
          </p:sp>
          <p:sp>
            <p:nvSpPr>
              <p:cNvPr id="277" name="TextBox 277"/>
              <p:cNvSpPr txBox="1"/>
              <p:nvPr/>
            </p:nvSpPr>
            <p:spPr>
              <a:xfrm>
                <a:off x="10688915" y="5876925"/>
                <a:ext cx="643969" cy="293370"/>
              </a:xfrm>
              <a:prstGeom prst="rect">
                <a:avLst/>
              </a:prstGeom>
              <a:noFill/>
              <a:ln>
                <a:noFill/>
              </a:ln>
            </p:spPr>
            <p:txBody>
              <a:bodyPr wrap="none" lIns="0" tIns="0" rIns="0" bIns="0" anchor="t" anchorCtr="0">
                <a:spAutoFit/>
              </a:bodyPr>
              <a:lstStyle/>
              <a:p>
                <a:pPr algn="ctr"/>
                <a:r>
                  <a:rPr lang="zh-CN" sz="1500" b="1" dirty="0">
                    <a:solidFill>
                      <a:srgbClr val="4E0D00"/>
                    </a:solidFill>
                    <a:latin typeface="+mn-lt"/>
                    <a:ea typeface="+mn-ea"/>
                    <a:cs typeface="+mn-cs"/>
                  </a:rPr>
                  <a:t>3.15</a:t>
                </a:r>
                <a:r>
                  <a:rPr lang="zh-CN" sz="820" b="1" dirty="0">
                    <a:solidFill>
                      <a:srgbClr val="4E0D00"/>
                    </a:solidFill>
                    <a:latin typeface="+mn-lt"/>
                    <a:ea typeface="+mn-ea"/>
                    <a:cs typeface="+mn-cs"/>
                  </a:rPr>
                  <a:t xml:space="preserve"> /5</a:t>
                </a:r>
              </a:p>
            </p:txBody>
          </p:sp>
        </p:grpSp>
      </p:gr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642366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价值驱动树｜把企业价值拆到今天应该做什么</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133" name="tree"/>
          <p:cNvGrpSpPr/>
          <p:nvPr/>
        </p:nvGrpSpPr>
        <p:grpSpPr>
          <a:xfrm>
            <a:off x="266700" y="876300"/>
            <a:ext cx="6172200" cy="3486150"/>
            <a:chOff x="266700" y="876300"/>
            <a:chExt cx="6172200" cy="3486150"/>
          </a:xfrm>
        </p:grpSpPr>
        <p:sp>
          <p:nvSpPr>
            <p:cNvPr id="6" name="Rectangle 6"/>
            <p:cNvSpPr/>
            <p:nvPr/>
          </p:nvSpPr>
          <p:spPr>
            <a:xfrm>
              <a:off x="266700" y="1905000"/>
              <a:ext cx="1104900" cy="1066800"/>
            </a:xfrm>
            <a:prstGeom prst="roundRect">
              <a:avLst>
                <a:gd name="adj" fmla="val 3571"/>
              </a:avLst>
            </a:prstGeom>
            <a:solidFill>
              <a:srgbClr val="4E0D00"/>
            </a:solidFill>
            <a:ln>
              <a:noFill/>
            </a:ln>
          </p:spPr>
        </p:sp>
        <p:grpSp>
          <p:nvGrpSpPr>
            <p:cNvPr id="9" name="Group 9"/>
            <p:cNvGrpSpPr/>
            <p:nvPr/>
          </p:nvGrpSpPr>
          <p:grpSpPr>
            <a:xfrm>
              <a:off x="733425" y="2181225"/>
              <a:ext cx="171450" cy="95250"/>
              <a:chOff x="733425" y="2181225"/>
              <a:chExt cx="171450" cy="95250"/>
            </a:xfrm>
          </p:grpSpPr>
          <p:sp>
            <p:nvSpPr>
              <p:cNvPr id="7" name="Freeform 7"/>
              <p:cNvSpPr/>
              <p:nvPr/>
            </p:nvSpPr>
            <p:spPr>
              <a:xfrm>
                <a:off x="733425" y="2181225"/>
                <a:ext cx="171450" cy="95250"/>
              </a:xfrm>
              <a:custGeom>
                <a:avLst/>
                <a:gdLst/>
                <a:ahLst/>
                <a:cxnLst/>
                <a:rect l="l" t="t" r="r" b="b"/>
                <a:pathLst>
                  <a:path w="171450" h="95250">
                    <a:moveTo>
                      <a:pt x="0" y="95250"/>
                    </a:moveTo>
                    <a:lnTo>
                      <a:pt x="57150" y="38100"/>
                    </a:lnTo>
                    <a:lnTo>
                      <a:pt x="95250" y="76200"/>
                    </a:lnTo>
                    <a:lnTo>
                      <a:pt x="171450" y="0"/>
                    </a:lnTo>
                  </a:path>
                </a:pathLst>
              </a:custGeom>
              <a:noFill/>
              <a:ln w="19050">
                <a:solidFill>
                  <a:srgbClr val="FFFFFF"/>
                </a:solidFill>
              </a:ln>
            </p:spPr>
          </p:sp>
          <p:sp>
            <p:nvSpPr>
              <p:cNvPr id="8" name="Freeform 8"/>
              <p:cNvSpPr/>
              <p:nvPr/>
            </p:nvSpPr>
            <p:spPr>
              <a:xfrm>
                <a:off x="838200" y="2181225"/>
                <a:ext cx="66675" cy="66675"/>
              </a:xfrm>
              <a:custGeom>
                <a:avLst/>
                <a:gdLst/>
                <a:ahLst/>
                <a:cxnLst/>
                <a:rect l="l" t="t" r="r" b="b"/>
                <a:pathLst>
                  <a:path w="66675" h="66675">
                    <a:moveTo>
                      <a:pt x="0" y="0"/>
                    </a:moveTo>
                    <a:lnTo>
                      <a:pt x="66675" y="0"/>
                    </a:lnTo>
                    <a:lnTo>
                      <a:pt x="66675" y="66675"/>
                    </a:lnTo>
                  </a:path>
                </a:pathLst>
              </a:custGeom>
              <a:noFill/>
              <a:ln w="19050">
                <a:solidFill>
                  <a:srgbClr val="FFFFFF"/>
                </a:solidFill>
              </a:ln>
            </p:spPr>
          </p:sp>
        </p:grpSp>
        <p:sp>
          <p:nvSpPr>
            <p:cNvPr id="10" name="TextBox 10"/>
            <p:cNvSpPr txBox="1"/>
            <p:nvPr/>
          </p:nvSpPr>
          <p:spPr>
            <a:xfrm>
              <a:off x="561302" y="2508647"/>
              <a:ext cx="515696"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企业价值</a:t>
              </a:r>
            </a:p>
          </p:txBody>
        </p:sp>
        <p:sp>
          <p:nvSpPr>
            <p:cNvPr id="11" name="TextBox 11"/>
            <p:cNvSpPr txBox="1"/>
            <p:nvPr/>
          </p:nvSpPr>
          <p:spPr>
            <a:xfrm>
              <a:off x="399758" y="2739628"/>
              <a:ext cx="838784" cy="111919"/>
            </a:xfrm>
            <a:prstGeom prst="rect">
              <a:avLst/>
            </a:prstGeom>
            <a:noFill/>
            <a:ln>
              <a:noFill/>
            </a:ln>
          </p:spPr>
          <p:txBody>
            <a:bodyPr wrap="none" lIns="0" tIns="0" rIns="0" bIns="0" anchor="t" anchorCtr="0">
              <a:spAutoFit/>
            </a:bodyPr>
            <a:lstStyle/>
            <a:p>
              <a:pPr algn="ctr"/>
              <a:r>
                <a:rPr lang="zh-CN" sz="560" dirty="0">
                  <a:solidFill>
                    <a:srgbClr val="C9D3E4"/>
                  </a:solidFill>
                  <a:latin typeface="+mn-lt"/>
                  <a:ea typeface="+mn-ea"/>
                  <a:cs typeface="+mn-cs"/>
                </a:rPr>
                <a:t>（长期自由现金流折现）</a:t>
              </a:r>
            </a:p>
          </p:txBody>
        </p:sp>
        <p:grpSp>
          <p:nvGrpSpPr>
            <p:cNvPr id="21" name="Group 21"/>
            <p:cNvGrpSpPr/>
            <p:nvPr/>
          </p:nvGrpSpPr>
          <p:grpSpPr>
            <a:xfrm>
              <a:off x="1371600" y="1162050"/>
              <a:ext cx="1333500" cy="2933700"/>
              <a:chOff x="1371600" y="1162050"/>
              <a:chExt cx="1333500" cy="2933700"/>
            </a:xfrm>
          </p:grpSpPr>
          <p:sp>
            <p:nvSpPr>
              <p:cNvPr id="12" name="Polyline 12"/>
              <p:cNvSpPr/>
              <p:nvPr/>
            </p:nvSpPr>
            <p:spPr>
              <a:xfrm>
                <a:off x="1371600" y="1219200"/>
                <a:ext cx="228600" cy="1219200"/>
              </a:xfrm>
              <a:custGeom>
                <a:avLst/>
                <a:gdLst/>
                <a:ahLst/>
                <a:cxnLst/>
                <a:rect l="l" t="t" r="r" b="b"/>
                <a:pathLst>
                  <a:path w="228600" h="1219200">
                    <a:moveTo>
                      <a:pt x="0" y="1219200"/>
                    </a:moveTo>
                    <a:lnTo>
                      <a:pt x="114300" y="1219200"/>
                    </a:lnTo>
                    <a:lnTo>
                      <a:pt x="114300" y="0"/>
                    </a:lnTo>
                    <a:lnTo>
                      <a:pt x="228600" y="0"/>
                    </a:lnTo>
                  </a:path>
                </a:pathLst>
              </a:custGeom>
              <a:noFill/>
              <a:ln w="14288">
                <a:solidFill>
                  <a:srgbClr val="C8998F"/>
                </a:solidFill>
              </a:ln>
            </p:spPr>
          </p:sp>
          <p:sp>
            <p:nvSpPr>
              <p:cNvPr id="13" name="Polyline 13"/>
              <p:cNvSpPr/>
              <p:nvPr/>
            </p:nvSpPr>
            <p:spPr>
              <a:xfrm>
                <a:off x="1371600" y="2438400"/>
                <a:ext cx="228600" cy="9525"/>
              </a:xfrm>
              <a:custGeom>
                <a:avLst/>
                <a:gdLst/>
                <a:ahLst/>
                <a:cxnLst/>
                <a:rect l="l" t="t" r="r" b="b"/>
                <a:pathLst>
                  <a:path w="228600" h="9525">
                    <a:moveTo>
                      <a:pt x="0" y="0"/>
                    </a:moveTo>
                    <a:lnTo>
                      <a:pt x="228600" y="0"/>
                    </a:lnTo>
                  </a:path>
                </a:pathLst>
              </a:custGeom>
              <a:noFill/>
              <a:ln w="14288">
                <a:solidFill>
                  <a:srgbClr val="C8998F"/>
                </a:solidFill>
              </a:ln>
            </p:spPr>
          </p:sp>
          <p:sp>
            <p:nvSpPr>
              <p:cNvPr id="14" name="Polyline 14"/>
              <p:cNvSpPr/>
              <p:nvPr/>
            </p:nvSpPr>
            <p:spPr>
              <a:xfrm>
                <a:off x="1371600" y="2438400"/>
                <a:ext cx="228600" cy="1219200"/>
              </a:xfrm>
              <a:custGeom>
                <a:avLst/>
                <a:gdLst/>
                <a:ahLst/>
                <a:cxnLst/>
                <a:rect l="l" t="t" r="r" b="b"/>
                <a:pathLst>
                  <a:path w="228600" h="1219200">
                    <a:moveTo>
                      <a:pt x="0" y="0"/>
                    </a:moveTo>
                    <a:lnTo>
                      <a:pt x="114300" y="0"/>
                    </a:lnTo>
                    <a:lnTo>
                      <a:pt x="114300" y="1219200"/>
                    </a:lnTo>
                    <a:lnTo>
                      <a:pt x="228600" y="1219200"/>
                    </a:lnTo>
                  </a:path>
                </a:pathLst>
              </a:custGeom>
              <a:noFill/>
              <a:ln w="14288">
                <a:solidFill>
                  <a:srgbClr val="C8998F"/>
                </a:solidFill>
              </a:ln>
            </p:spPr>
          </p:sp>
          <p:sp>
            <p:nvSpPr>
              <p:cNvPr id="15" name="Polyline 15"/>
              <p:cNvSpPr/>
              <p:nvPr/>
            </p:nvSpPr>
            <p:spPr>
              <a:xfrm>
                <a:off x="2552700" y="1162050"/>
                <a:ext cx="152400" cy="57150"/>
              </a:xfrm>
              <a:custGeom>
                <a:avLst/>
                <a:gdLst/>
                <a:ahLst/>
                <a:cxnLst/>
                <a:rect l="l" t="t" r="r" b="b"/>
                <a:pathLst>
                  <a:path w="152400" h="57150">
                    <a:moveTo>
                      <a:pt x="0" y="57150"/>
                    </a:moveTo>
                    <a:lnTo>
                      <a:pt x="76200" y="57150"/>
                    </a:lnTo>
                    <a:lnTo>
                      <a:pt x="76200" y="0"/>
                    </a:lnTo>
                    <a:lnTo>
                      <a:pt x="152400" y="0"/>
                    </a:lnTo>
                  </a:path>
                </a:pathLst>
              </a:custGeom>
              <a:noFill/>
              <a:ln w="14288">
                <a:solidFill>
                  <a:srgbClr val="C8998F"/>
                </a:solidFill>
              </a:ln>
            </p:spPr>
          </p:sp>
          <p:sp>
            <p:nvSpPr>
              <p:cNvPr id="16" name="Polyline 16"/>
              <p:cNvSpPr/>
              <p:nvPr/>
            </p:nvSpPr>
            <p:spPr>
              <a:xfrm>
                <a:off x="2552700" y="1219200"/>
                <a:ext cx="152400" cy="571500"/>
              </a:xfrm>
              <a:custGeom>
                <a:avLst/>
                <a:gdLst/>
                <a:ahLst/>
                <a:cxnLst/>
                <a:rect l="l" t="t" r="r" b="b"/>
                <a:pathLst>
                  <a:path w="152400" h="571500">
                    <a:moveTo>
                      <a:pt x="0" y="0"/>
                    </a:moveTo>
                    <a:lnTo>
                      <a:pt x="76200" y="0"/>
                    </a:lnTo>
                    <a:lnTo>
                      <a:pt x="76200" y="571500"/>
                    </a:lnTo>
                    <a:lnTo>
                      <a:pt x="152400" y="571500"/>
                    </a:lnTo>
                  </a:path>
                </a:pathLst>
              </a:custGeom>
              <a:noFill/>
              <a:ln w="14288">
                <a:solidFill>
                  <a:srgbClr val="C8998F"/>
                </a:solidFill>
              </a:ln>
            </p:spPr>
          </p:sp>
          <p:sp>
            <p:nvSpPr>
              <p:cNvPr id="17" name="Polyline 17"/>
              <p:cNvSpPr/>
              <p:nvPr/>
            </p:nvSpPr>
            <p:spPr>
              <a:xfrm>
                <a:off x="2552700" y="2419350"/>
                <a:ext cx="152400" cy="19050"/>
              </a:xfrm>
              <a:custGeom>
                <a:avLst/>
                <a:gdLst/>
                <a:ahLst/>
                <a:cxnLst/>
                <a:rect l="l" t="t" r="r" b="b"/>
                <a:pathLst>
                  <a:path w="152400" h="19050">
                    <a:moveTo>
                      <a:pt x="0" y="19050"/>
                    </a:moveTo>
                    <a:lnTo>
                      <a:pt x="76200" y="19050"/>
                    </a:lnTo>
                    <a:lnTo>
                      <a:pt x="76200" y="0"/>
                    </a:lnTo>
                    <a:lnTo>
                      <a:pt x="152400" y="0"/>
                    </a:lnTo>
                  </a:path>
                </a:pathLst>
              </a:custGeom>
              <a:noFill/>
              <a:ln w="14288">
                <a:solidFill>
                  <a:srgbClr val="C8998F"/>
                </a:solidFill>
              </a:ln>
            </p:spPr>
          </p:sp>
          <p:sp>
            <p:nvSpPr>
              <p:cNvPr id="18" name="Polyline 18"/>
              <p:cNvSpPr/>
              <p:nvPr/>
            </p:nvSpPr>
            <p:spPr>
              <a:xfrm>
                <a:off x="2552700" y="2438400"/>
                <a:ext cx="152400" cy="628650"/>
              </a:xfrm>
              <a:custGeom>
                <a:avLst/>
                <a:gdLst/>
                <a:ahLst/>
                <a:cxnLst/>
                <a:rect l="l" t="t" r="r" b="b"/>
                <a:pathLst>
                  <a:path w="152400" h="628650">
                    <a:moveTo>
                      <a:pt x="0" y="0"/>
                    </a:moveTo>
                    <a:lnTo>
                      <a:pt x="76200" y="0"/>
                    </a:lnTo>
                    <a:lnTo>
                      <a:pt x="76200" y="628650"/>
                    </a:lnTo>
                    <a:lnTo>
                      <a:pt x="152400" y="628650"/>
                    </a:lnTo>
                  </a:path>
                </a:pathLst>
              </a:custGeom>
              <a:noFill/>
              <a:ln w="14288">
                <a:solidFill>
                  <a:srgbClr val="C8998F"/>
                </a:solidFill>
              </a:ln>
            </p:spPr>
          </p:sp>
          <p:sp>
            <p:nvSpPr>
              <p:cNvPr id="19" name="Polyline 19"/>
              <p:cNvSpPr/>
              <p:nvPr/>
            </p:nvSpPr>
            <p:spPr>
              <a:xfrm>
                <a:off x="2552700" y="3505200"/>
                <a:ext cx="152400" cy="152400"/>
              </a:xfrm>
              <a:custGeom>
                <a:avLst/>
                <a:gdLst/>
                <a:ahLst/>
                <a:cxnLst/>
                <a:rect l="l" t="t" r="r" b="b"/>
                <a:pathLst>
                  <a:path w="152400" h="152400">
                    <a:moveTo>
                      <a:pt x="0" y="152400"/>
                    </a:moveTo>
                    <a:lnTo>
                      <a:pt x="76200" y="152400"/>
                    </a:lnTo>
                    <a:lnTo>
                      <a:pt x="76200" y="0"/>
                    </a:lnTo>
                    <a:lnTo>
                      <a:pt x="152400" y="0"/>
                    </a:lnTo>
                  </a:path>
                </a:pathLst>
              </a:custGeom>
              <a:noFill/>
              <a:ln w="14288">
                <a:solidFill>
                  <a:srgbClr val="C8998F"/>
                </a:solidFill>
              </a:ln>
            </p:spPr>
          </p:sp>
          <p:sp>
            <p:nvSpPr>
              <p:cNvPr id="20" name="Polyline 20"/>
              <p:cNvSpPr/>
              <p:nvPr/>
            </p:nvSpPr>
            <p:spPr>
              <a:xfrm>
                <a:off x="2552700" y="3657600"/>
                <a:ext cx="152400" cy="438150"/>
              </a:xfrm>
              <a:custGeom>
                <a:avLst/>
                <a:gdLst/>
                <a:ahLst/>
                <a:cxnLst/>
                <a:rect l="l" t="t" r="r" b="b"/>
                <a:pathLst>
                  <a:path w="152400" h="438150">
                    <a:moveTo>
                      <a:pt x="0" y="0"/>
                    </a:moveTo>
                    <a:lnTo>
                      <a:pt x="76200" y="0"/>
                    </a:lnTo>
                    <a:lnTo>
                      <a:pt x="76200" y="438150"/>
                    </a:lnTo>
                    <a:lnTo>
                      <a:pt x="152400" y="438150"/>
                    </a:lnTo>
                  </a:path>
                </a:pathLst>
              </a:custGeom>
              <a:noFill/>
              <a:ln w="14288">
                <a:solidFill>
                  <a:srgbClr val="C8998F"/>
                </a:solidFill>
              </a:ln>
            </p:spPr>
          </p:sp>
        </p:grpSp>
        <p:grpSp>
          <p:nvGrpSpPr>
            <p:cNvPr id="28" name="Group 28"/>
            <p:cNvGrpSpPr/>
            <p:nvPr/>
          </p:nvGrpSpPr>
          <p:grpSpPr>
            <a:xfrm>
              <a:off x="3733800" y="1162050"/>
              <a:ext cx="114300" cy="2943225"/>
              <a:chOff x="3733800" y="1162050"/>
              <a:chExt cx="114300" cy="2943225"/>
            </a:xfrm>
          </p:grpSpPr>
          <p:sp>
            <p:nvSpPr>
              <p:cNvPr id="22" name="Line 22"/>
              <p:cNvSpPr/>
              <p:nvPr/>
            </p:nvSpPr>
            <p:spPr>
              <a:xfrm>
                <a:off x="3733800" y="1162050"/>
                <a:ext cx="114300" cy="9525"/>
              </a:xfrm>
              <a:custGeom>
                <a:avLst/>
                <a:gdLst/>
                <a:ahLst/>
                <a:cxnLst/>
                <a:rect l="l" t="t" r="r" b="b"/>
                <a:pathLst>
                  <a:path w="114300" h="9525">
                    <a:moveTo>
                      <a:pt x="0" y="0"/>
                    </a:moveTo>
                    <a:lnTo>
                      <a:pt x="114300" y="0"/>
                    </a:lnTo>
                  </a:path>
                </a:pathLst>
              </a:custGeom>
              <a:noFill/>
              <a:ln w="14288">
                <a:solidFill>
                  <a:srgbClr val="C8998F"/>
                </a:solidFill>
              </a:ln>
            </p:spPr>
          </p:sp>
          <p:sp>
            <p:nvSpPr>
              <p:cNvPr id="23" name="Line 23"/>
              <p:cNvSpPr/>
              <p:nvPr/>
            </p:nvSpPr>
            <p:spPr>
              <a:xfrm>
                <a:off x="3733800" y="1790700"/>
                <a:ext cx="114300" cy="9525"/>
              </a:xfrm>
              <a:custGeom>
                <a:avLst/>
                <a:gdLst/>
                <a:ahLst/>
                <a:cxnLst/>
                <a:rect l="l" t="t" r="r" b="b"/>
                <a:pathLst>
                  <a:path w="114300" h="9525">
                    <a:moveTo>
                      <a:pt x="0" y="0"/>
                    </a:moveTo>
                    <a:lnTo>
                      <a:pt x="114300" y="0"/>
                    </a:lnTo>
                  </a:path>
                </a:pathLst>
              </a:custGeom>
              <a:noFill/>
              <a:ln w="14288">
                <a:solidFill>
                  <a:srgbClr val="C8998F"/>
                </a:solidFill>
              </a:ln>
            </p:spPr>
          </p:sp>
          <p:sp>
            <p:nvSpPr>
              <p:cNvPr id="24" name="Line 24"/>
              <p:cNvSpPr/>
              <p:nvPr/>
            </p:nvSpPr>
            <p:spPr>
              <a:xfrm>
                <a:off x="3733800" y="2419350"/>
                <a:ext cx="114300" cy="9525"/>
              </a:xfrm>
              <a:custGeom>
                <a:avLst/>
                <a:gdLst/>
                <a:ahLst/>
                <a:cxnLst/>
                <a:rect l="l" t="t" r="r" b="b"/>
                <a:pathLst>
                  <a:path w="114300" h="9525">
                    <a:moveTo>
                      <a:pt x="0" y="0"/>
                    </a:moveTo>
                    <a:lnTo>
                      <a:pt x="114300" y="0"/>
                    </a:lnTo>
                  </a:path>
                </a:pathLst>
              </a:custGeom>
              <a:noFill/>
              <a:ln w="14288">
                <a:solidFill>
                  <a:srgbClr val="C8998F"/>
                </a:solidFill>
              </a:ln>
            </p:spPr>
          </p:sp>
          <p:sp>
            <p:nvSpPr>
              <p:cNvPr id="25" name="Line 25"/>
              <p:cNvSpPr/>
              <p:nvPr/>
            </p:nvSpPr>
            <p:spPr>
              <a:xfrm>
                <a:off x="3733800" y="3067050"/>
                <a:ext cx="114300" cy="9525"/>
              </a:xfrm>
              <a:custGeom>
                <a:avLst/>
                <a:gdLst/>
                <a:ahLst/>
                <a:cxnLst/>
                <a:rect l="l" t="t" r="r" b="b"/>
                <a:pathLst>
                  <a:path w="114300" h="9525">
                    <a:moveTo>
                      <a:pt x="0" y="0"/>
                    </a:moveTo>
                    <a:lnTo>
                      <a:pt x="114300" y="0"/>
                    </a:lnTo>
                  </a:path>
                </a:pathLst>
              </a:custGeom>
              <a:noFill/>
              <a:ln w="14288">
                <a:solidFill>
                  <a:srgbClr val="C8998F"/>
                </a:solidFill>
              </a:ln>
            </p:spPr>
          </p:sp>
          <p:sp>
            <p:nvSpPr>
              <p:cNvPr id="26" name="Line 26"/>
              <p:cNvSpPr/>
              <p:nvPr/>
            </p:nvSpPr>
            <p:spPr>
              <a:xfrm>
                <a:off x="3733800" y="3505200"/>
                <a:ext cx="114300" cy="9525"/>
              </a:xfrm>
              <a:custGeom>
                <a:avLst/>
                <a:gdLst/>
                <a:ahLst/>
                <a:cxnLst/>
                <a:rect l="l" t="t" r="r" b="b"/>
                <a:pathLst>
                  <a:path w="114300" h="9525">
                    <a:moveTo>
                      <a:pt x="0" y="0"/>
                    </a:moveTo>
                    <a:lnTo>
                      <a:pt x="114300" y="0"/>
                    </a:lnTo>
                  </a:path>
                </a:pathLst>
              </a:custGeom>
              <a:noFill/>
              <a:ln w="14288">
                <a:solidFill>
                  <a:srgbClr val="C8998F"/>
                </a:solidFill>
              </a:ln>
            </p:spPr>
          </p:sp>
          <p:sp>
            <p:nvSpPr>
              <p:cNvPr id="27" name="Line 27"/>
              <p:cNvSpPr/>
              <p:nvPr/>
            </p:nvSpPr>
            <p:spPr>
              <a:xfrm>
                <a:off x="3733800" y="4095750"/>
                <a:ext cx="114300" cy="9525"/>
              </a:xfrm>
              <a:custGeom>
                <a:avLst/>
                <a:gdLst/>
                <a:ahLst/>
                <a:cxnLst/>
                <a:rect l="l" t="t" r="r" b="b"/>
                <a:pathLst>
                  <a:path w="114300" h="9525">
                    <a:moveTo>
                      <a:pt x="0" y="0"/>
                    </a:moveTo>
                    <a:lnTo>
                      <a:pt x="114300" y="0"/>
                    </a:lnTo>
                  </a:path>
                </a:pathLst>
              </a:custGeom>
              <a:noFill/>
              <a:ln w="14288">
                <a:solidFill>
                  <a:srgbClr val="C8998F"/>
                </a:solidFill>
              </a:ln>
            </p:spPr>
          </p:sp>
        </p:grpSp>
        <p:sp>
          <p:nvSpPr>
            <p:cNvPr id="29" name="Rectangle 29"/>
            <p:cNvSpPr/>
            <p:nvPr/>
          </p:nvSpPr>
          <p:spPr>
            <a:xfrm>
              <a:off x="1600200" y="876300"/>
              <a:ext cx="952500" cy="685800"/>
            </a:xfrm>
            <a:prstGeom prst="roundRect">
              <a:avLst>
                <a:gd name="adj" fmla="val 5556"/>
              </a:avLst>
            </a:prstGeom>
            <a:solidFill>
              <a:srgbClr val="711E0D"/>
            </a:solidFill>
            <a:ln>
              <a:noFill/>
            </a:ln>
          </p:spPr>
        </p:sp>
        <p:grpSp>
          <p:nvGrpSpPr>
            <p:cNvPr id="32" name="Group 32"/>
            <p:cNvGrpSpPr/>
            <p:nvPr/>
          </p:nvGrpSpPr>
          <p:grpSpPr>
            <a:xfrm>
              <a:off x="2019300" y="1016000"/>
              <a:ext cx="114300" cy="63500"/>
              <a:chOff x="2019300" y="1016000"/>
              <a:chExt cx="114300" cy="63500"/>
            </a:xfrm>
          </p:grpSpPr>
          <p:sp>
            <p:nvSpPr>
              <p:cNvPr id="30" name="Freeform 30"/>
              <p:cNvSpPr/>
              <p:nvPr/>
            </p:nvSpPr>
            <p:spPr>
              <a:xfrm>
                <a:off x="2019300" y="101600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FFFFFF"/>
                </a:solidFill>
              </a:ln>
            </p:spPr>
          </p:sp>
          <p:sp>
            <p:nvSpPr>
              <p:cNvPr id="31" name="Freeform 31"/>
              <p:cNvSpPr/>
              <p:nvPr/>
            </p:nvSpPr>
            <p:spPr>
              <a:xfrm>
                <a:off x="2089150" y="1016000"/>
                <a:ext cx="44450" cy="44450"/>
              </a:xfrm>
              <a:custGeom>
                <a:avLst/>
                <a:gdLst/>
                <a:ahLst/>
                <a:cxnLst/>
                <a:rect l="l" t="t" r="r" b="b"/>
                <a:pathLst>
                  <a:path w="44450" h="44450">
                    <a:moveTo>
                      <a:pt x="0" y="0"/>
                    </a:moveTo>
                    <a:lnTo>
                      <a:pt x="44450" y="0"/>
                    </a:lnTo>
                    <a:lnTo>
                      <a:pt x="44450" y="44450"/>
                    </a:lnTo>
                  </a:path>
                </a:pathLst>
              </a:custGeom>
              <a:noFill/>
              <a:ln w="12700">
                <a:solidFill>
                  <a:srgbClr val="FFFFFF"/>
                </a:solidFill>
              </a:ln>
            </p:spPr>
          </p:sp>
        </p:grpSp>
        <p:sp>
          <p:nvSpPr>
            <p:cNvPr id="33" name="TextBox 33"/>
            <p:cNvSpPr txBox="1"/>
            <p:nvPr/>
          </p:nvSpPr>
          <p:spPr>
            <a:xfrm>
              <a:off x="1850911" y="124444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收入增长</a:t>
              </a:r>
            </a:p>
          </p:txBody>
        </p:sp>
        <p:sp>
          <p:nvSpPr>
            <p:cNvPr id="34" name="TextBox 34"/>
            <p:cNvSpPr txBox="1"/>
            <p:nvPr/>
          </p:nvSpPr>
          <p:spPr>
            <a:xfrm>
              <a:off x="1845526" y="1415653"/>
              <a:ext cx="461848" cy="111919"/>
            </a:xfrm>
            <a:prstGeom prst="rect">
              <a:avLst/>
            </a:prstGeom>
            <a:noFill/>
            <a:ln>
              <a:noFill/>
            </a:ln>
          </p:spPr>
          <p:txBody>
            <a:bodyPr wrap="none" lIns="0" tIns="0" rIns="0" bIns="0" anchor="t" anchorCtr="0">
              <a:spAutoFit/>
            </a:bodyPr>
            <a:lstStyle/>
            <a:p>
              <a:pPr algn="ctr"/>
              <a:r>
                <a:rPr lang="zh-CN" sz="560" dirty="0">
                  <a:solidFill>
                    <a:srgbClr val="C9D3E4"/>
                  </a:solidFill>
                  <a:latin typeface="+mn-lt"/>
                  <a:ea typeface="+mn-ea"/>
                  <a:cs typeface="+mn-cs"/>
                </a:rPr>
                <a:t>（规模扩张）</a:t>
              </a:r>
            </a:p>
          </p:txBody>
        </p:sp>
        <p:sp>
          <p:nvSpPr>
            <p:cNvPr id="35" name="Rectangle 35"/>
            <p:cNvSpPr/>
            <p:nvPr/>
          </p:nvSpPr>
          <p:spPr>
            <a:xfrm>
              <a:off x="1600200" y="2095500"/>
              <a:ext cx="952500" cy="685800"/>
            </a:xfrm>
            <a:prstGeom prst="roundRect">
              <a:avLst>
                <a:gd name="adj" fmla="val 5556"/>
              </a:avLst>
            </a:prstGeom>
            <a:solidFill>
              <a:srgbClr val="832D1B"/>
            </a:solidFill>
            <a:ln>
              <a:noFill/>
            </a:ln>
          </p:spPr>
        </p:sp>
        <p:grpSp>
          <p:nvGrpSpPr>
            <p:cNvPr id="38" name="Group 38"/>
            <p:cNvGrpSpPr/>
            <p:nvPr/>
          </p:nvGrpSpPr>
          <p:grpSpPr>
            <a:xfrm>
              <a:off x="2017530" y="2210892"/>
              <a:ext cx="114800" cy="114978"/>
              <a:chOff x="2017530" y="2210892"/>
              <a:chExt cx="114800" cy="114978"/>
            </a:xfrm>
          </p:grpSpPr>
          <p:sp>
            <p:nvSpPr>
              <p:cNvPr id="36" name="Freeform 36"/>
              <p:cNvSpPr/>
              <p:nvPr/>
            </p:nvSpPr>
            <p:spPr>
              <a:xfrm>
                <a:off x="2017530" y="2210892"/>
                <a:ext cx="114800" cy="114978"/>
              </a:xfrm>
              <a:custGeom>
                <a:avLst/>
                <a:gdLst/>
                <a:ahLst/>
                <a:cxnLst/>
                <a:rect l="l" t="t" r="r" b="b"/>
                <a:pathLst>
                  <a:path w="114800" h="114978">
                    <a:moveTo>
                      <a:pt x="46220" y="178"/>
                    </a:moveTo>
                    <a:cubicBezTo>
                      <a:pt x="18725" y="6552"/>
                      <a:pt x="0" y="32044"/>
                      <a:pt x="2141" y="60187"/>
                    </a:cubicBezTo>
                    <a:cubicBezTo>
                      <a:pt x="4282" y="88330"/>
                      <a:pt x="26648" y="110696"/>
                      <a:pt x="54791" y="112837"/>
                    </a:cubicBezTo>
                    <a:cubicBezTo>
                      <a:pt x="82934" y="114978"/>
                      <a:pt x="108426" y="96254"/>
                      <a:pt x="114800" y="68758"/>
                    </a:cubicBezTo>
                    <a:cubicBezTo>
                      <a:pt x="114800" y="65251"/>
                      <a:pt x="111957" y="62408"/>
                      <a:pt x="108450" y="62408"/>
                    </a:cubicBezTo>
                    <a:lnTo>
                      <a:pt x="65270" y="62408"/>
                    </a:lnTo>
                    <a:cubicBezTo>
                      <a:pt x="58256" y="62408"/>
                      <a:pt x="52570" y="56722"/>
                      <a:pt x="52570" y="49708"/>
                    </a:cubicBezTo>
                    <a:lnTo>
                      <a:pt x="52570" y="5258"/>
                    </a:lnTo>
                    <a:cubicBezTo>
                      <a:pt x="52411" y="3738"/>
                      <a:pt x="51649" y="2346"/>
                      <a:pt x="50456" y="1391"/>
                    </a:cubicBezTo>
                    <a:cubicBezTo>
                      <a:pt x="49263" y="437"/>
                      <a:pt x="47738" y="0"/>
                      <a:pt x="46220" y="178"/>
                    </a:cubicBezTo>
                  </a:path>
                </a:pathLst>
              </a:custGeom>
              <a:noFill/>
              <a:ln w="12700">
                <a:solidFill>
                  <a:srgbClr val="FFFFFF"/>
                </a:solidFill>
              </a:ln>
            </p:spPr>
          </p:sp>
          <p:sp>
            <p:nvSpPr>
              <p:cNvPr id="37" name="Freeform 37"/>
              <p:cNvSpPr/>
              <p:nvPr/>
            </p:nvSpPr>
            <p:spPr>
              <a:xfrm>
                <a:off x="2095500" y="2212975"/>
                <a:ext cx="34925" cy="34925"/>
              </a:xfrm>
              <a:custGeom>
                <a:avLst/>
                <a:gdLst/>
                <a:ahLst/>
                <a:cxnLst/>
                <a:rect l="l" t="t" r="r" b="b"/>
                <a:pathLst>
                  <a:path w="34925" h="34925">
                    <a:moveTo>
                      <a:pt x="0" y="0"/>
                    </a:moveTo>
                    <a:cubicBezTo>
                      <a:pt x="16331" y="5750"/>
                      <a:pt x="29175" y="18594"/>
                      <a:pt x="34925" y="34925"/>
                    </a:cubicBezTo>
                    <a:lnTo>
                      <a:pt x="6350" y="34925"/>
                    </a:lnTo>
                    <a:cubicBezTo>
                      <a:pt x="2843" y="34925"/>
                      <a:pt x="0" y="32082"/>
                      <a:pt x="0" y="28575"/>
                    </a:cubicBezTo>
                    <a:lnTo>
                      <a:pt x="0" y="0"/>
                    </a:lnTo>
                  </a:path>
                </a:pathLst>
              </a:custGeom>
              <a:noFill/>
              <a:ln w="12700">
                <a:solidFill>
                  <a:srgbClr val="FFFFFF"/>
                </a:solidFill>
              </a:ln>
            </p:spPr>
          </p:sp>
        </p:grpSp>
        <p:sp>
          <p:nvSpPr>
            <p:cNvPr id="39" name="TextBox 39"/>
            <p:cNvSpPr txBox="1"/>
            <p:nvPr/>
          </p:nvSpPr>
          <p:spPr>
            <a:xfrm>
              <a:off x="1850911" y="246364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利润改善</a:t>
              </a:r>
            </a:p>
          </p:txBody>
        </p:sp>
        <p:sp>
          <p:nvSpPr>
            <p:cNvPr id="40" name="TextBox 40"/>
            <p:cNvSpPr txBox="1"/>
            <p:nvPr/>
          </p:nvSpPr>
          <p:spPr>
            <a:xfrm>
              <a:off x="1845526" y="2634853"/>
              <a:ext cx="461848" cy="111919"/>
            </a:xfrm>
            <a:prstGeom prst="rect">
              <a:avLst/>
            </a:prstGeom>
            <a:noFill/>
            <a:ln>
              <a:noFill/>
            </a:ln>
          </p:spPr>
          <p:txBody>
            <a:bodyPr wrap="none" lIns="0" tIns="0" rIns="0" bIns="0" anchor="t" anchorCtr="0">
              <a:spAutoFit/>
            </a:bodyPr>
            <a:lstStyle/>
            <a:p>
              <a:pPr algn="ctr"/>
              <a:r>
                <a:rPr lang="zh-CN" sz="560" dirty="0">
                  <a:solidFill>
                    <a:srgbClr val="C9D3E4"/>
                  </a:solidFill>
                  <a:latin typeface="+mn-lt"/>
                  <a:ea typeface="+mn-ea"/>
                  <a:cs typeface="+mn-cs"/>
                </a:rPr>
                <a:t>（盈利提升）</a:t>
              </a:r>
            </a:p>
          </p:txBody>
        </p:sp>
        <p:sp>
          <p:nvSpPr>
            <p:cNvPr id="41" name="Rectangle 41"/>
            <p:cNvSpPr/>
            <p:nvPr/>
          </p:nvSpPr>
          <p:spPr>
            <a:xfrm>
              <a:off x="1600200" y="3314700"/>
              <a:ext cx="952500" cy="685800"/>
            </a:xfrm>
            <a:prstGeom prst="roundRect">
              <a:avLst>
                <a:gd name="adj" fmla="val 5556"/>
              </a:avLst>
            </a:prstGeom>
            <a:solidFill>
              <a:srgbClr val="A04431"/>
            </a:solidFill>
            <a:ln>
              <a:noFill/>
            </a:ln>
          </p:spPr>
        </p:sp>
        <p:grpSp>
          <p:nvGrpSpPr>
            <p:cNvPr id="44" name="Group 44"/>
            <p:cNvGrpSpPr/>
            <p:nvPr/>
          </p:nvGrpSpPr>
          <p:grpSpPr>
            <a:xfrm>
              <a:off x="2025650" y="3432900"/>
              <a:ext cx="101600" cy="106500"/>
              <a:chOff x="2025650" y="3432900"/>
              <a:chExt cx="101600" cy="106500"/>
            </a:xfrm>
          </p:grpSpPr>
          <p:sp>
            <p:nvSpPr>
              <p:cNvPr id="42" name="Freeform 42"/>
              <p:cNvSpPr/>
              <p:nvPr/>
            </p:nvSpPr>
            <p:spPr>
              <a:xfrm>
                <a:off x="2025650" y="343290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FFFFFF"/>
                </a:solidFill>
              </a:ln>
            </p:spPr>
          </p:sp>
          <p:sp>
            <p:nvSpPr>
              <p:cNvPr id="43" name="Freeform 43"/>
              <p:cNvSpPr/>
              <p:nvPr/>
            </p:nvSpPr>
            <p:spPr>
              <a:xfrm>
                <a:off x="2025650" y="349250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FFFFFF"/>
                </a:solidFill>
              </a:ln>
            </p:spPr>
          </p:sp>
        </p:grpSp>
        <p:sp>
          <p:nvSpPr>
            <p:cNvPr id="45" name="TextBox 45"/>
            <p:cNvSpPr txBox="1"/>
            <p:nvPr/>
          </p:nvSpPr>
          <p:spPr>
            <a:xfrm>
              <a:off x="1850911" y="368284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资本效率</a:t>
              </a:r>
            </a:p>
          </p:txBody>
        </p:sp>
        <p:sp>
          <p:nvSpPr>
            <p:cNvPr id="46" name="TextBox 46"/>
            <p:cNvSpPr txBox="1"/>
            <p:nvPr/>
          </p:nvSpPr>
          <p:spPr>
            <a:xfrm>
              <a:off x="1845526" y="3854053"/>
              <a:ext cx="461848" cy="111919"/>
            </a:xfrm>
            <a:prstGeom prst="rect">
              <a:avLst/>
            </a:prstGeom>
            <a:noFill/>
            <a:ln>
              <a:noFill/>
            </a:ln>
          </p:spPr>
          <p:txBody>
            <a:bodyPr wrap="none" lIns="0" tIns="0" rIns="0" bIns="0" anchor="t" anchorCtr="0">
              <a:spAutoFit/>
            </a:bodyPr>
            <a:lstStyle/>
            <a:p>
              <a:pPr algn="ctr"/>
              <a:r>
                <a:rPr lang="zh-CN" sz="560" dirty="0">
                  <a:solidFill>
                    <a:srgbClr val="C9D3E4"/>
                  </a:solidFill>
                  <a:latin typeface="+mn-lt"/>
                  <a:ea typeface="+mn-ea"/>
                  <a:cs typeface="+mn-cs"/>
                </a:rPr>
                <a:t>（周转提速）</a:t>
              </a:r>
            </a:p>
          </p:txBody>
        </p:sp>
        <p:grpSp>
          <p:nvGrpSpPr>
            <p:cNvPr id="56" name="leaf-customers"/>
            <p:cNvGrpSpPr/>
            <p:nvPr/>
          </p:nvGrpSpPr>
          <p:grpSpPr>
            <a:xfrm>
              <a:off x="2705100" y="895350"/>
              <a:ext cx="1028700" cy="533400"/>
              <a:chOff x="2705100" y="895350"/>
              <a:chExt cx="1028700" cy="533400"/>
            </a:xfrm>
          </p:grpSpPr>
          <p:sp>
            <p:nvSpPr>
              <p:cNvPr id="47" name="Rectangle 47"/>
              <p:cNvSpPr/>
              <p:nvPr/>
            </p:nvSpPr>
            <p:spPr>
              <a:xfrm>
                <a:off x="2705100" y="895350"/>
                <a:ext cx="1028700" cy="533400"/>
              </a:xfrm>
              <a:prstGeom prst="rect">
                <a:avLst/>
              </a:prstGeom>
              <a:solidFill>
                <a:srgbClr val="FFFFFF"/>
              </a:solidFill>
              <a:ln w="9525">
                <a:solidFill>
                  <a:srgbClr val="C7D2E4"/>
                </a:solidFill>
              </a:ln>
            </p:spPr>
          </p:sp>
          <p:sp>
            <p:nvSpPr>
              <p:cNvPr id="48" name="Ellipse 48"/>
              <p:cNvSpPr/>
              <p:nvPr/>
            </p:nvSpPr>
            <p:spPr>
              <a:xfrm>
                <a:off x="2762250" y="1047750"/>
                <a:ext cx="228600" cy="228600"/>
              </a:xfrm>
              <a:prstGeom prst="ellipse">
                <a:avLst/>
              </a:prstGeom>
              <a:solidFill>
                <a:srgbClr val="EFF3FA"/>
              </a:solidFill>
              <a:ln>
                <a:noFill/>
              </a:ln>
            </p:spPr>
          </p:sp>
          <p:grpSp>
            <p:nvGrpSpPr>
              <p:cNvPr id="53" name="Group 53"/>
              <p:cNvGrpSpPr/>
              <p:nvPr/>
            </p:nvGrpSpPr>
            <p:grpSpPr>
              <a:xfrm>
                <a:off x="2826544" y="1112044"/>
                <a:ext cx="100012" cy="100012"/>
                <a:chOff x="2826544" y="1112044"/>
                <a:chExt cx="100012" cy="100012"/>
              </a:xfrm>
            </p:grpSpPr>
            <p:sp>
              <p:nvSpPr>
                <p:cNvPr id="49" name="Freeform 49"/>
                <p:cNvSpPr/>
                <p:nvPr/>
              </p:nvSpPr>
              <p:spPr>
                <a:xfrm>
                  <a:off x="2837656" y="1112044"/>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4E0D00"/>
                  </a:solidFill>
                </a:ln>
              </p:spPr>
            </p:sp>
            <p:sp>
              <p:nvSpPr>
                <p:cNvPr id="50" name="Freeform 50"/>
                <p:cNvSpPr/>
                <p:nvPr/>
              </p:nvSpPr>
              <p:spPr>
                <a:xfrm>
                  <a:off x="2826544" y="1178719"/>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4E0D00"/>
                  </a:solidFill>
                </a:ln>
              </p:spPr>
            </p:sp>
            <p:sp>
              <p:nvSpPr>
                <p:cNvPr id="51" name="Freeform 51"/>
                <p:cNvSpPr/>
                <p:nvPr/>
              </p:nvSpPr>
              <p:spPr>
                <a:xfrm>
                  <a:off x="2898775" y="1112766"/>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4E0D00"/>
                  </a:solidFill>
                </a:ln>
              </p:spPr>
            </p:sp>
            <p:sp>
              <p:nvSpPr>
                <p:cNvPr id="52" name="Freeform 52"/>
                <p:cNvSpPr/>
                <p:nvPr/>
              </p:nvSpPr>
              <p:spPr>
                <a:xfrm>
                  <a:off x="2909887" y="1179552"/>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4E0D00"/>
                  </a:solidFill>
                </a:ln>
              </p:spPr>
            </p:sp>
          </p:grpSp>
          <p:sp>
            <p:nvSpPr>
              <p:cNvPr id="54" name="TextBox 54"/>
              <p:cNvSpPr txBox="1"/>
              <p:nvPr/>
            </p:nvSpPr>
            <p:spPr>
              <a:xfrm>
                <a:off x="3043238" y="1062038"/>
                <a:ext cx="312420"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客户数</a:t>
                </a:r>
              </a:p>
            </p:txBody>
          </p:sp>
          <p:sp>
            <p:nvSpPr>
              <p:cNvPr id="55" name="TextBox 55"/>
              <p:cNvSpPr txBox="1"/>
              <p:nvPr/>
            </p:nvSpPr>
            <p:spPr>
              <a:xfrm>
                <a:off x="3043238" y="1234678"/>
                <a:ext cx="537235" cy="111919"/>
              </a:xfrm>
              <a:prstGeom prst="rect">
                <a:avLst/>
              </a:prstGeom>
              <a:noFill/>
              <a:ln>
                <a:noFill/>
              </a:ln>
            </p:spPr>
            <p:txBody>
              <a:bodyPr wrap="none" lIns="0" tIns="0" rIns="0" bIns="0" anchor="t" anchorCtr="0">
                <a:spAutoFit/>
              </a:bodyPr>
              <a:lstStyle/>
              <a:p>
                <a:pPr algn="l"/>
                <a:r>
                  <a:rPr lang="zh-CN" sz="560" dirty="0">
                    <a:solidFill>
                      <a:srgbClr val="6E5955"/>
                    </a:solidFill>
                    <a:latin typeface="+mn-lt"/>
                    <a:ea typeface="+mn-ea"/>
                    <a:cs typeface="+mn-cs"/>
                  </a:rPr>
                  <a:t>（新增与留存）</a:t>
                </a:r>
              </a:p>
            </p:txBody>
          </p:sp>
        </p:grpSp>
        <p:grpSp>
          <p:nvGrpSpPr>
            <p:cNvPr id="64" name="leaf-price"/>
            <p:cNvGrpSpPr/>
            <p:nvPr/>
          </p:nvGrpSpPr>
          <p:grpSpPr>
            <a:xfrm>
              <a:off x="2705100" y="1524000"/>
              <a:ext cx="1028700" cy="533400"/>
              <a:chOff x="2705100" y="1524000"/>
              <a:chExt cx="1028700" cy="533400"/>
            </a:xfrm>
          </p:grpSpPr>
          <p:sp>
            <p:nvSpPr>
              <p:cNvPr id="57" name="Rectangle 57"/>
              <p:cNvSpPr/>
              <p:nvPr/>
            </p:nvSpPr>
            <p:spPr>
              <a:xfrm>
                <a:off x="2705100" y="1524000"/>
                <a:ext cx="1028700" cy="533400"/>
              </a:xfrm>
              <a:prstGeom prst="rect">
                <a:avLst/>
              </a:prstGeom>
              <a:solidFill>
                <a:srgbClr val="FFFFFF"/>
              </a:solidFill>
              <a:ln w="9525">
                <a:solidFill>
                  <a:srgbClr val="C7D2E4"/>
                </a:solidFill>
              </a:ln>
            </p:spPr>
          </p:sp>
          <p:sp>
            <p:nvSpPr>
              <p:cNvPr id="58" name="Ellipse 58"/>
              <p:cNvSpPr/>
              <p:nvPr/>
            </p:nvSpPr>
            <p:spPr>
              <a:xfrm>
                <a:off x="2762250" y="1676400"/>
                <a:ext cx="228600" cy="228600"/>
              </a:xfrm>
              <a:prstGeom prst="ellipse">
                <a:avLst/>
              </a:prstGeom>
              <a:solidFill>
                <a:srgbClr val="EFF3FA"/>
              </a:solidFill>
              <a:ln>
                <a:noFill/>
              </a:ln>
            </p:spPr>
          </p:sp>
          <p:grpSp>
            <p:nvGrpSpPr>
              <p:cNvPr id="61" name="Group 61"/>
              <p:cNvGrpSpPr/>
              <p:nvPr/>
            </p:nvGrpSpPr>
            <p:grpSpPr>
              <a:xfrm>
                <a:off x="2826544" y="1740694"/>
                <a:ext cx="101329" cy="101329"/>
                <a:chOff x="2826544" y="1740694"/>
                <a:chExt cx="101329" cy="101329"/>
              </a:xfrm>
            </p:grpSpPr>
            <p:sp>
              <p:nvSpPr>
                <p:cNvPr id="59" name="Freeform 59"/>
                <p:cNvSpPr/>
                <p:nvPr/>
              </p:nvSpPr>
              <p:spPr>
                <a:xfrm>
                  <a:off x="2845991" y="1760141"/>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4E0D00"/>
                  </a:solidFill>
                </a:ln>
              </p:spPr>
            </p:sp>
            <p:sp>
              <p:nvSpPr>
                <p:cNvPr id="60" name="Freeform 60"/>
                <p:cNvSpPr/>
                <p:nvPr/>
              </p:nvSpPr>
              <p:spPr>
                <a:xfrm>
                  <a:off x="2826544" y="1740694"/>
                  <a:ext cx="101329" cy="101329"/>
                </a:xfrm>
                <a:custGeom>
                  <a:avLst/>
                  <a:gdLst/>
                  <a:ahLst/>
                  <a:cxnLst/>
                  <a:rect l="l" t="t" r="r" b="b"/>
                  <a:pathLst>
                    <a:path w="101329" h="101329">
                      <a:moveTo>
                        <a:pt x="0" y="16669"/>
                      </a:moveTo>
                      <a:lnTo>
                        <a:pt x="0" y="45406"/>
                      </a:lnTo>
                      <a:cubicBezTo>
                        <a:pt x="1" y="48353"/>
                        <a:pt x="1172" y="51179"/>
                        <a:pt x="3256" y="53262"/>
                      </a:cubicBezTo>
                      <a:lnTo>
                        <a:pt x="46095" y="96101"/>
                      </a:lnTo>
                      <a:cubicBezTo>
                        <a:pt x="51324" y="101329"/>
                        <a:pt x="59801" y="101329"/>
                        <a:pt x="65030" y="96101"/>
                      </a:cubicBezTo>
                      <a:lnTo>
                        <a:pt x="96101" y="65030"/>
                      </a:lnTo>
                      <a:cubicBezTo>
                        <a:pt x="101329" y="59801"/>
                        <a:pt x="101329" y="51324"/>
                        <a:pt x="96101" y="46095"/>
                      </a:cubicBezTo>
                      <a:lnTo>
                        <a:pt x="53262" y="3256"/>
                      </a:lnTo>
                      <a:cubicBezTo>
                        <a:pt x="51179" y="1172"/>
                        <a:pt x="48353" y="1"/>
                        <a:pt x="45406" y="0"/>
                      </a:cubicBezTo>
                      <a:lnTo>
                        <a:pt x="16669" y="0"/>
                      </a:lnTo>
                      <a:cubicBezTo>
                        <a:pt x="12248" y="0"/>
                        <a:pt x="8008" y="1756"/>
                        <a:pt x="4882" y="4882"/>
                      </a:cubicBezTo>
                      <a:cubicBezTo>
                        <a:pt x="1756" y="8008"/>
                        <a:pt x="0" y="12248"/>
                        <a:pt x="0" y="16669"/>
                      </a:cubicBezTo>
                    </a:path>
                  </a:pathLst>
                </a:custGeom>
                <a:noFill/>
                <a:ln w="11112">
                  <a:solidFill>
                    <a:srgbClr val="4E0D00"/>
                  </a:solidFill>
                </a:ln>
              </p:spPr>
            </p:sp>
          </p:grpSp>
          <p:sp>
            <p:nvSpPr>
              <p:cNvPr id="62" name="TextBox 62"/>
              <p:cNvSpPr txBox="1"/>
              <p:nvPr/>
            </p:nvSpPr>
            <p:spPr>
              <a:xfrm>
                <a:off x="3043238" y="1690688"/>
                <a:ext cx="312420"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客单价</a:t>
                </a:r>
              </a:p>
            </p:txBody>
          </p:sp>
          <p:sp>
            <p:nvSpPr>
              <p:cNvPr id="63" name="TextBox 63"/>
              <p:cNvSpPr txBox="1"/>
              <p:nvPr/>
            </p:nvSpPr>
            <p:spPr>
              <a:xfrm>
                <a:off x="3043238" y="1863328"/>
                <a:ext cx="612623" cy="111919"/>
              </a:xfrm>
              <a:prstGeom prst="rect">
                <a:avLst/>
              </a:prstGeom>
              <a:noFill/>
              <a:ln>
                <a:noFill/>
              </a:ln>
            </p:spPr>
            <p:txBody>
              <a:bodyPr wrap="none" lIns="0" tIns="0" rIns="0" bIns="0" anchor="t" anchorCtr="0">
                <a:spAutoFit/>
              </a:bodyPr>
              <a:lstStyle/>
              <a:p>
                <a:pPr algn="l"/>
                <a:r>
                  <a:rPr lang="zh-CN" sz="560" dirty="0">
                    <a:solidFill>
                      <a:srgbClr val="6E5955"/>
                    </a:solidFill>
                    <a:latin typeface="+mn-lt"/>
                    <a:ea typeface="+mn-ea"/>
                    <a:cs typeface="+mn-cs"/>
                  </a:rPr>
                  <a:t>（提升客单价值）</a:t>
                </a:r>
              </a:p>
            </p:txBody>
          </p:sp>
        </p:grpSp>
        <p:grpSp>
          <p:nvGrpSpPr>
            <p:cNvPr id="75" name="leaf-margin"/>
            <p:cNvGrpSpPr/>
            <p:nvPr/>
          </p:nvGrpSpPr>
          <p:grpSpPr>
            <a:xfrm>
              <a:off x="2705100" y="2152650"/>
              <a:ext cx="1028700" cy="533400"/>
              <a:chOff x="2705100" y="2152650"/>
              <a:chExt cx="1028700" cy="533400"/>
            </a:xfrm>
          </p:grpSpPr>
          <p:sp>
            <p:nvSpPr>
              <p:cNvPr id="65" name="Rectangle 65"/>
              <p:cNvSpPr/>
              <p:nvPr/>
            </p:nvSpPr>
            <p:spPr>
              <a:xfrm>
                <a:off x="2705100" y="2152650"/>
                <a:ext cx="1028700" cy="533400"/>
              </a:xfrm>
              <a:prstGeom prst="rect">
                <a:avLst/>
              </a:prstGeom>
              <a:solidFill>
                <a:srgbClr val="FFFFFF"/>
              </a:solidFill>
              <a:ln w="9525">
                <a:solidFill>
                  <a:srgbClr val="C7D2E4"/>
                </a:solidFill>
              </a:ln>
            </p:spPr>
          </p:sp>
          <p:sp>
            <p:nvSpPr>
              <p:cNvPr id="66" name="Ellipse 66"/>
              <p:cNvSpPr/>
              <p:nvPr/>
            </p:nvSpPr>
            <p:spPr>
              <a:xfrm>
                <a:off x="2762250" y="2305050"/>
                <a:ext cx="228600" cy="228600"/>
              </a:xfrm>
              <a:prstGeom prst="ellipse">
                <a:avLst/>
              </a:prstGeom>
              <a:solidFill>
                <a:srgbClr val="EFF3FA"/>
              </a:solidFill>
              <a:ln>
                <a:noFill/>
              </a:ln>
            </p:spPr>
          </p:sp>
          <p:grpSp>
            <p:nvGrpSpPr>
              <p:cNvPr id="72" name="Group 72"/>
              <p:cNvGrpSpPr/>
              <p:nvPr/>
            </p:nvGrpSpPr>
            <p:grpSpPr>
              <a:xfrm>
                <a:off x="2826544" y="2368599"/>
                <a:ext cx="100012" cy="100757"/>
                <a:chOff x="2826544" y="2368599"/>
                <a:chExt cx="100012" cy="100757"/>
              </a:xfrm>
            </p:grpSpPr>
            <p:sp>
              <p:nvSpPr>
                <p:cNvPr id="67" name="Freeform 67"/>
                <p:cNvSpPr/>
                <p:nvPr/>
              </p:nvSpPr>
              <p:spPr>
                <a:xfrm>
                  <a:off x="2859881" y="2413794"/>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4E0D00"/>
                  </a:solidFill>
                </a:ln>
              </p:spPr>
            </p:sp>
            <p:sp>
              <p:nvSpPr>
                <p:cNvPr id="68" name="Freeform 68"/>
                <p:cNvSpPr/>
                <p:nvPr/>
              </p:nvSpPr>
              <p:spPr>
                <a:xfrm>
                  <a:off x="2859881" y="2430462"/>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4E0D00"/>
                  </a:solidFill>
                </a:ln>
              </p:spPr>
            </p:sp>
            <p:sp>
              <p:nvSpPr>
                <p:cNvPr id="69" name="Freeform 69"/>
                <p:cNvSpPr/>
                <p:nvPr/>
              </p:nvSpPr>
              <p:spPr>
                <a:xfrm>
                  <a:off x="2826544" y="2368599"/>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4E0D00"/>
                  </a:solidFill>
                </a:ln>
              </p:spPr>
            </p:sp>
            <p:sp>
              <p:nvSpPr>
                <p:cNvPr id="70" name="Freeform 70"/>
                <p:cNvSpPr/>
                <p:nvPr/>
              </p:nvSpPr>
              <p:spPr>
                <a:xfrm>
                  <a:off x="2826544" y="2386012"/>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4E0D00"/>
                  </a:solidFill>
                </a:ln>
              </p:spPr>
            </p:sp>
            <p:sp>
              <p:nvSpPr>
                <p:cNvPr id="71" name="Freeform 71"/>
                <p:cNvSpPr/>
                <p:nvPr/>
              </p:nvSpPr>
              <p:spPr>
                <a:xfrm>
                  <a:off x="2826544" y="2413794"/>
                  <a:ext cx="11112" cy="11112"/>
                </a:xfrm>
                <a:custGeom>
                  <a:avLst/>
                  <a:gdLst/>
                  <a:ahLst/>
                  <a:cxnLst/>
                  <a:rect l="l" t="t" r="r" b="b"/>
                  <a:pathLst>
                    <a:path w="11112" h="11112">
                      <a:moveTo>
                        <a:pt x="0" y="0"/>
                      </a:moveTo>
                      <a:cubicBezTo>
                        <a:pt x="0" y="4934"/>
                        <a:pt x="4289" y="8057"/>
                        <a:pt x="11112" y="11112"/>
                      </a:cubicBezTo>
                    </a:path>
                  </a:pathLst>
                </a:custGeom>
                <a:noFill/>
                <a:ln w="11112">
                  <a:solidFill>
                    <a:srgbClr val="4E0D00"/>
                  </a:solidFill>
                </a:ln>
              </p:spPr>
            </p:sp>
          </p:grpSp>
          <p:sp>
            <p:nvSpPr>
              <p:cNvPr id="73" name="TextBox 73"/>
              <p:cNvSpPr txBox="1"/>
              <p:nvPr/>
            </p:nvSpPr>
            <p:spPr>
              <a:xfrm>
                <a:off x="3043238" y="2319338"/>
                <a:ext cx="312420"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毛利率</a:t>
                </a:r>
              </a:p>
            </p:txBody>
          </p:sp>
          <p:sp>
            <p:nvSpPr>
              <p:cNvPr id="74" name="TextBox 74"/>
              <p:cNvSpPr txBox="1"/>
              <p:nvPr/>
            </p:nvSpPr>
            <p:spPr>
              <a:xfrm>
                <a:off x="3043238" y="2491978"/>
                <a:ext cx="461848" cy="111919"/>
              </a:xfrm>
              <a:prstGeom prst="rect">
                <a:avLst/>
              </a:prstGeom>
              <a:noFill/>
              <a:ln>
                <a:noFill/>
              </a:ln>
            </p:spPr>
            <p:txBody>
              <a:bodyPr wrap="none" lIns="0" tIns="0" rIns="0" bIns="0" anchor="t" anchorCtr="0">
                <a:spAutoFit/>
              </a:bodyPr>
              <a:lstStyle/>
              <a:p>
                <a:pPr algn="l"/>
                <a:r>
                  <a:rPr lang="zh-CN" sz="560" dirty="0">
                    <a:solidFill>
                      <a:srgbClr val="6E5955"/>
                    </a:solidFill>
                    <a:latin typeface="+mn-lt"/>
                    <a:ea typeface="+mn-ea"/>
                    <a:cs typeface="+mn-cs"/>
                  </a:rPr>
                  <a:t>（产品盈利）</a:t>
                </a:r>
              </a:p>
            </p:txBody>
          </p:sp>
        </p:grpSp>
        <p:grpSp>
          <p:nvGrpSpPr>
            <p:cNvPr id="83" name="leaf-expense"/>
            <p:cNvGrpSpPr/>
            <p:nvPr/>
          </p:nvGrpSpPr>
          <p:grpSpPr>
            <a:xfrm>
              <a:off x="2705100" y="2800350"/>
              <a:ext cx="1028700" cy="533400"/>
              <a:chOff x="2705100" y="2800350"/>
              <a:chExt cx="1028700" cy="533400"/>
            </a:xfrm>
          </p:grpSpPr>
          <p:sp>
            <p:nvSpPr>
              <p:cNvPr id="76" name="Rectangle 76"/>
              <p:cNvSpPr/>
              <p:nvPr/>
            </p:nvSpPr>
            <p:spPr>
              <a:xfrm>
                <a:off x="2705100" y="2800350"/>
                <a:ext cx="1028700" cy="533400"/>
              </a:xfrm>
              <a:prstGeom prst="rect">
                <a:avLst/>
              </a:prstGeom>
              <a:solidFill>
                <a:srgbClr val="FFFFFF"/>
              </a:solidFill>
              <a:ln w="9525">
                <a:solidFill>
                  <a:srgbClr val="C7D2E4"/>
                </a:solidFill>
              </a:ln>
            </p:spPr>
          </p:sp>
          <p:sp>
            <p:nvSpPr>
              <p:cNvPr id="77" name="Ellipse 77"/>
              <p:cNvSpPr/>
              <p:nvPr/>
            </p:nvSpPr>
            <p:spPr>
              <a:xfrm>
                <a:off x="2762250" y="2952750"/>
                <a:ext cx="228600" cy="228600"/>
              </a:xfrm>
              <a:prstGeom prst="ellipse">
                <a:avLst/>
              </a:prstGeom>
              <a:solidFill>
                <a:srgbClr val="EFF3FA"/>
              </a:solidFill>
              <a:ln>
                <a:noFill/>
              </a:ln>
            </p:spPr>
          </p:sp>
          <p:grpSp>
            <p:nvGrpSpPr>
              <p:cNvPr id="80" name="Group 80"/>
              <p:cNvGrpSpPr/>
              <p:nvPr/>
            </p:nvGrpSpPr>
            <p:grpSpPr>
              <a:xfrm>
                <a:off x="2832100" y="3022600"/>
                <a:ext cx="88899" cy="88900"/>
                <a:chOff x="2832100" y="3022600"/>
                <a:chExt cx="88899" cy="88900"/>
              </a:xfrm>
            </p:grpSpPr>
            <p:sp>
              <p:nvSpPr>
                <p:cNvPr id="78" name="Freeform 78"/>
                <p:cNvSpPr/>
                <p:nvPr/>
              </p:nvSpPr>
              <p:spPr>
                <a:xfrm>
                  <a:off x="2832100" y="3022600"/>
                  <a:ext cx="83344" cy="88900"/>
                </a:xfrm>
                <a:custGeom>
                  <a:avLst/>
                  <a:gdLst/>
                  <a:ahLst/>
                  <a:cxnLst/>
                  <a:rect l="l" t="t" r="r" b="b"/>
                  <a:pathLst>
                    <a:path w="83344" h="88900">
                      <a:moveTo>
                        <a:pt x="72231" y="22225"/>
                      </a:moveTo>
                      <a:lnTo>
                        <a:pt x="72231" y="5556"/>
                      </a:lnTo>
                      <a:cubicBezTo>
                        <a:pt x="72231" y="2488"/>
                        <a:pt x="69744" y="0"/>
                        <a:pt x="66675" y="0"/>
                      </a:cubicBezTo>
                      <a:lnTo>
                        <a:pt x="11112" y="0"/>
                      </a:lnTo>
                      <a:cubicBezTo>
                        <a:pt x="4975" y="0"/>
                        <a:pt x="0" y="4975"/>
                        <a:pt x="0" y="11112"/>
                      </a:cubicBezTo>
                      <a:cubicBezTo>
                        <a:pt x="0" y="17250"/>
                        <a:pt x="4975" y="22225"/>
                        <a:pt x="11112" y="22225"/>
                      </a:cubicBezTo>
                      <a:lnTo>
                        <a:pt x="77787" y="22225"/>
                      </a:lnTo>
                      <a:cubicBezTo>
                        <a:pt x="80856" y="22225"/>
                        <a:pt x="83344" y="24713"/>
                        <a:pt x="83344" y="27781"/>
                      </a:cubicBezTo>
                      <a:lnTo>
                        <a:pt x="83344" y="44450"/>
                      </a:lnTo>
                      <a:moveTo>
                        <a:pt x="83344" y="66675"/>
                      </a:moveTo>
                      <a:lnTo>
                        <a:pt x="83344" y="83344"/>
                      </a:lnTo>
                      <a:cubicBezTo>
                        <a:pt x="83344" y="86412"/>
                        <a:pt x="80856" y="88900"/>
                        <a:pt x="77787" y="88900"/>
                      </a:cubicBezTo>
                      <a:lnTo>
                        <a:pt x="11112" y="88900"/>
                      </a:lnTo>
                      <a:cubicBezTo>
                        <a:pt x="4975" y="88900"/>
                        <a:pt x="0" y="83925"/>
                        <a:pt x="0" y="77787"/>
                      </a:cubicBezTo>
                      <a:lnTo>
                        <a:pt x="0" y="11112"/>
                      </a:lnTo>
                    </a:path>
                  </a:pathLst>
                </a:custGeom>
                <a:noFill/>
                <a:ln w="11112">
                  <a:solidFill>
                    <a:srgbClr val="4E0D00"/>
                  </a:solidFill>
                </a:ln>
              </p:spPr>
            </p:sp>
            <p:sp>
              <p:nvSpPr>
                <p:cNvPr id="79" name="Freeform 79"/>
                <p:cNvSpPr/>
                <p:nvPr/>
              </p:nvSpPr>
              <p:spPr>
                <a:xfrm>
                  <a:off x="2887662" y="3067050"/>
                  <a:ext cx="33337" cy="22225"/>
                </a:xfrm>
                <a:custGeom>
                  <a:avLst/>
                  <a:gdLst/>
                  <a:ahLst/>
                  <a:cxnLst/>
                  <a:rect l="l" t="t" r="r" b="b"/>
                  <a:pathLst>
                    <a:path w="33337" h="22225">
                      <a:moveTo>
                        <a:pt x="33337" y="0"/>
                      </a:moveTo>
                      <a:lnTo>
                        <a:pt x="33337" y="22225"/>
                      </a:lnTo>
                      <a:lnTo>
                        <a:pt x="11112" y="22225"/>
                      </a:lnTo>
                      <a:cubicBezTo>
                        <a:pt x="4975" y="22225"/>
                        <a:pt x="0" y="17250"/>
                        <a:pt x="0" y="11112"/>
                      </a:cubicBezTo>
                      <a:cubicBezTo>
                        <a:pt x="0" y="4975"/>
                        <a:pt x="4975" y="0"/>
                        <a:pt x="11112" y="0"/>
                      </a:cubicBezTo>
                      <a:lnTo>
                        <a:pt x="33337" y="0"/>
                      </a:lnTo>
                    </a:path>
                  </a:pathLst>
                </a:custGeom>
                <a:noFill/>
                <a:ln w="11112">
                  <a:solidFill>
                    <a:srgbClr val="4E0D00"/>
                  </a:solidFill>
                </a:ln>
              </p:spPr>
            </p:sp>
          </p:grpSp>
          <p:sp>
            <p:nvSpPr>
              <p:cNvPr id="81" name="TextBox 81"/>
              <p:cNvSpPr txBox="1"/>
              <p:nvPr/>
            </p:nvSpPr>
            <p:spPr>
              <a:xfrm>
                <a:off x="3043238" y="2967038"/>
                <a:ext cx="312420"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费用率</a:t>
                </a:r>
              </a:p>
            </p:txBody>
          </p:sp>
          <p:sp>
            <p:nvSpPr>
              <p:cNvPr id="82" name="TextBox 82"/>
              <p:cNvSpPr txBox="1"/>
              <p:nvPr/>
            </p:nvSpPr>
            <p:spPr>
              <a:xfrm>
                <a:off x="3043238" y="3139678"/>
                <a:ext cx="461848" cy="111919"/>
              </a:xfrm>
              <a:prstGeom prst="rect">
                <a:avLst/>
              </a:prstGeom>
              <a:noFill/>
              <a:ln>
                <a:noFill/>
              </a:ln>
            </p:spPr>
            <p:txBody>
              <a:bodyPr wrap="none" lIns="0" tIns="0" rIns="0" bIns="0" anchor="t" anchorCtr="0">
                <a:spAutoFit/>
              </a:bodyPr>
              <a:lstStyle/>
              <a:p>
                <a:pPr algn="l"/>
                <a:r>
                  <a:rPr lang="zh-CN" sz="560" dirty="0">
                    <a:solidFill>
                      <a:srgbClr val="6E5955"/>
                    </a:solidFill>
                    <a:latin typeface="+mn-lt"/>
                    <a:ea typeface="+mn-ea"/>
                    <a:cs typeface="+mn-cs"/>
                  </a:rPr>
                  <a:t>（运营效率）</a:t>
                </a:r>
              </a:p>
            </p:txBody>
          </p:sp>
        </p:grpSp>
        <p:grpSp>
          <p:nvGrpSpPr>
            <p:cNvPr id="92" name="leaf-inventory"/>
            <p:cNvGrpSpPr/>
            <p:nvPr/>
          </p:nvGrpSpPr>
          <p:grpSpPr>
            <a:xfrm>
              <a:off x="2705100" y="3238500"/>
              <a:ext cx="1028700" cy="533400"/>
              <a:chOff x="2705100" y="3238500"/>
              <a:chExt cx="1028700" cy="533400"/>
            </a:xfrm>
          </p:grpSpPr>
          <p:sp>
            <p:nvSpPr>
              <p:cNvPr id="84" name="Rectangle 84"/>
              <p:cNvSpPr/>
              <p:nvPr/>
            </p:nvSpPr>
            <p:spPr>
              <a:xfrm>
                <a:off x="2705100" y="3238500"/>
                <a:ext cx="1028700" cy="533400"/>
              </a:xfrm>
              <a:prstGeom prst="rect">
                <a:avLst/>
              </a:prstGeom>
              <a:solidFill>
                <a:srgbClr val="FFFFFF"/>
              </a:solidFill>
              <a:ln w="9525">
                <a:solidFill>
                  <a:srgbClr val="C7D2E4"/>
                </a:solidFill>
              </a:ln>
            </p:spPr>
          </p:sp>
          <p:sp>
            <p:nvSpPr>
              <p:cNvPr id="85" name="Ellipse 85"/>
              <p:cNvSpPr/>
              <p:nvPr/>
            </p:nvSpPr>
            <p:spPr>
              <a:xfrm>
                <a:off x="2762250" y="3390900"/>
                <a:ext cx="228600" cy="228600"/>
              </a:xfrm>
              <a:prstGeom prst="ellipse">
                <a:avLst/>
              </a:prstGeom>
              <a:solidFill>
                <a:srgbClr val="EFF3FA"/>
              </a:solidFill>
              <a:ln>
                <a:noFill/>
              </a:ln>
            </p:spPr>
          </p:sp>
          <p:grpSp>
            <p:nvGrpSpPr>
              <p:cNvPr id="89" name="Group 89"/>
              <p:cNvGrpSpPr/>
              <p:nvPr/>
            </p:nvGrpSpPr>
            <p:grpSpPr>
              <a:xfrm>
                <a:off x="2826544" y="3455194"/>
                <a:ext cx="100012" cy="100012"/>
                <a:chOff x="2826544" y="3455194"/>
                <a:chExt cx="100012" cy="100012"/>
              </a:xfrm>
            </p:grpSpPr>
            <p:sp>
              <p:nvSpPr>
                <p:cNvPr id="86" name="Freeform 86"/>
                <p:cNvSpPr/>
                <p:nvPr/>
              </p:nvSpPr>
              <p:spPr>
                <a:xfrm>
                  <a:off x="2826544" y="3455194"/>
                  <a:ext cx="100012" cy="50006"/>
                </a:xfrm>
                <a:custGeom>
                  <a:avLst/>
                  <a:gdLst/>
                  <a:ahLst/>
                  <a:cxnLst/>
                  <a:rect l="l" t="t" r="r" b="b"/>
                  <a:pathLst>
                    <a:path w="100012" h="50006">
                      <a:moveTo>
                        <a:pt x="11112" y="50006"/>
                      </a:moveTo>
                      <a:lnTo>
                        <a:pt x="0" y="50006"/>
                      </a:lnTo>
                      <a:lnTo>
                        <a:pt x="50006" y="0"/>
                      </a:lnTo>
                      <a:lnTo>
                        <a:pt x="100012" y="50006"/>
                      </a:lnTo>
                      <a:lnTo>
                        <a:pt x="88900" y="50006"/>
                      </a:lnTo>
                    </a:path>
                  </a:pathLst>
                </a:custGeom>
                <a:noFill/>
                <a:ln w="11112">
                  <a:solidFill>
                    <a:srgbClr val="4E0D00"/>
                  </a:solidFill>
                </a:ln>
              </p:spPr>
            </p:sp>
            <p:sp>
              <p:nvSpPr>
                <p:cNvPr id="87" name="Freeform 87"/>
                <p:cNvSpPr/>
                <p:nvPr/>
              </p:nvSpPr>
              <p:spPr>
                <a:xfrm>
                  <a:off x="2837656" y="3505200"/>
                  <a:ext cx="77787" cy="50006"/>
                </a:xfrm>
                <a:custGeom>
                  <a:avLst/>
                  <a:gdLst/>
                  <a:ahLst/>
                  <a:cxnLst/>
                  <a:rect l="l" t="t" r="r" b="b"/>
                  <a:pathLst>
                    <a:path w="77787" h="50006">
                      <a:moveTo>
                        <a:pt x="0" y="0"/>
                      </a:moveTo>
                      <a:lnTo>
                        <a:pt x="0" y="38894"/>
                      </a:lnTo>
                      <a:cubicBezTo>
                        <a:pt x="0" y="45031"/>
                        <a:pt x="4975" y="50006"/>
                        <a:pt x="11112" y="50006"/>
                      </a:cubicBezTo>
                      <a:lnTo>
                        <a:pt x="66675" y="50006"/>
                      </a:lnTo>
                      <a:cubicBezTo>
                        <a:pt x="72812" y="50006"/>
                        <a:pt x="77787" y="45031"/>
                        <a:pt x="77787" y="38894"/>
                      </a:cubicBezTo>
                      <a:lnTo>
                        <a:pt x="77787" y="0"/>
                      </a:lnTo>
                    </a:path>
                  </a:pathLst>
                </a:custGeom>
                <a:noFill/>
                <a:ln w="11112">
                  <a:solidFill>
                    <a:srgbClr val="4E0D00"/>
                  </a:solidFill>
                </a:ln>
              </p:spPr>
            </p:sp>
            <p:sp>
              <p:nvSpPr>
                <p:cNvPr id="88" name="Freeform 88"/>
                <p:cNvSpPr/>
                <p:nvPr/>
              </p:nvSpPr>
              <p:spPr>
                <a:xfrm>
                  <a:off x="2859881" y="3510756"/>
                  <a:ext cx="33337" cy="44450"/>
                </a:xfrm>
                <a:custGeom>
                  <a:avLst/>
                  <a:gdLst/>
                  <a:ahLst/>
                  <a:cxnLst/>
                  <a:rect l="l" t="t" r="r" b="b"/>
                  <a:pathLst>
                    <a:path w="33337" h="44450">
                      <a:moveTo>
                        <a:pt x="0" y="44450"/>
                      </a:moveTo>
                      <a:lnTo>
                        <a:pt x="0" y="11112"/>
                      </a:lnTo>
                      <a:cubicBezTo>
                        <a:pt x="0" y="4975"/>
                        <a:pt x="4975" y="0"/>
                        <a:pt x="11112" y="0"/>
                      </a:cubicBezTo>
                      <a:lnTo>
                        <a:pt x="22225" y="0"/>
                      </a:lnTo>
                      <a:cubicBezTo>
                        <a:pt x="28362" y="0"/>
                        <a:pt x="33337" y="4975"/>
                        <a:pt x="33337" y="11112"/>
                      </a:cubicBezTo>
                      <a:lnTo>
                        <a:pt x="33337" y="44450"/>
                      </a:lnTo>
                    </a:path>
                  </a:pathLst>
                </a:custGeom>
                <a:noFill/>
                <a:ln w="11112">
                  <a:solidFill>
                    <a:srgbClr val="4E0D00"/>
                  </a:solidFill>
                </a:ln>
              </p:spPr>
            </p:sp>
          </p:grpSp>
          <p:sp>
            <p:nvSpPr>
              <p:cNvPr id="90" name="TextBox 90"/>
              <p:cNvSpPr txBox="1"/>
              <p:nvPr/>
            </p:nvSpPr>
            <p:spPr>
              <a:xfrm>
                <a:off x="3043238" y="340518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库存周转</a:t>
                </a:r>
              </a:p>
            </p:txBody>
          </p:sp>
          <p:sp>
            <p:nvSpPr>
              <p:cNvPr id="91" name="TextBox 91"/>
              <p:cNvSpPr txBox="1"/>
              <p:nvPr/>
            </p:nvSpPr>
            <p:spPr>
              <a:xfrm>
                <a:off x="3043238" y="3577828"/>
                <a:ext cx="386461" cy="111919"/>
              </a:xfrm>
              <a:prstGeom prst="rect">
                <a:avLst/>
              </a:prstGeom>
              <a:noFill/>
              <a:ln>
                <a:noFill/>
              </a:ln>
            </p:spPr>
            <p:txBody>
              <a:bodyPr wrap="none" lIns="0" tIns="0" rIns="0" bIns="0" anchor="t" anchorCtr="0">
                <a:spAutoFit/>
              </a:bodyPr>
              <a:lstStyle/>
              <a:p>
                <a:pPr algn="l"/>
                <a:r>
                  <a:rPr lang="zh-CN" sz="560" dirty="0">
                    <a:solidFill>
                      <a:srgbClr val="6E5955"/>
                    </a:solidFill>
                    <a:latin typeface="+mn-lt"/>
                    <a:ea typeface="+mn-ea"/>
                    <a:cs typeface="+mn-cs"/>
                  </a:rPr>
                  <a:t>（去库存）</a:t>
                </a:r>
              </a:p>
            </p:txBody>
          </p:sp>
        </p:grpSp>
        <p:grpSp>
          <p:nvGrpSpPr>
            <p:cNvPr id="102" name="leaf-receivable"/>
            <p:cNvGrpSpPr/>
            <p:nvPr/>
          </p:nvGrpSpPr>
          <p:grpSpPr>
            <a:xfrm>
              <a:off x="2705100" y="3829050"/>
              <a:ext cx="1028700" cy="533400"/>
              <a:chOff x="2705100" y="3829050"/>
              <a:chExt cx="1028700" cy="533400"/>
            </a:xfrm>
          </p:grpSpPr>
          <p:sp>
            <p:nvSpPr>
              <p:cNvPr id="93" name="Rectangle 93"/>
              <p:cNvSpPr/>
              <p:nvPr/>
            </p:nvSpPr>
            <p:spPr>
              <a:xfrm>
                <a:off x="2705100" y="3829050"/>
                <a:ext cx="1028700" cy="533400"/>
              </a:xfrm>
              <a:prstGeom prst="rect">
                <a:avLst/>
              </a:prstGeom>
              <a:solidFill>
                <a:srgbClr val="FFFFFF"/>
              </a:solidFill>
              <a:ln w="9525">
                <a:solidFill>
                  <a:srgbClr val="C7D2E4"/>
                </a:solidFill>
              </a:ln>
            </p:spPr>
          </p:sp>
          <p:sp>
            <p:nvSpPr>
              <p:cNvPr id="94" name="Ellipse 94"/>
              <p:cNvSpPr/>
              <p:nvPr/>
            </p:nvSpPr>
            <p:spPr>
              <a:xfrm>
                <a:off x="2762250" y="3981450"/>
                <a:ext cx="228600" cy="228600"/>
              </a:xfrm>
              <a:prstGeom prst="ellipse">
                <a:avLst/>
              </a:prstGeom>
              <a:solidFill>
                <a:srgbClr val="EFF3FA"/>
              </a:solidFill>
              <a:ln>
                <a:noFill/>
              </a:ln>
            </p:spPr>
          </p:sp>
          <p:grpSp>
            <p:nvGrpSpPr>
              <p:cNvPr id="99" name="Group 99"/>
              <p:cNvGrpSpPr/>
              <p:nvPr/>
            </p:nvGrpSpPr>
            <p:grpSpPr>
              <a:xfrm>
                <a:off x="2837656" y="4045744"/>
                <a:ext cx="77787" cy="100012"/>
                <a:chOff x="2837656" y="4045744"/>
                <a:chExt cx="77787" cy="100012"/>
              </a:xfrm>
            </p:grpSpPr>
            <p:sp>
              <p:nvSpPr>
                <p:cNvPr id="95" name="Freeform 95"/>
                <p:cNvSpPr/>
                <p:nvPr/>
              </p:nvSpPr>
              <p:spPr>
                <a:xfrm>
                  <a:off x="2837656" y="4056856"/>
                  <a:ext cx="77787" cy="88900"/>
                </a:xfrm>
                <a:custGeom>
                  <a:avLst/>
                  <a:gdLst/>
                  <a:ahLst/>
                  <a:cxnLst/>
                  <a:rect l="l" t="t" r="r" b="b"/>
                  <a:pathLst>
                    <a:path w="77787" h="88900">
                      <a:moveTo>
                        <a:pt x="22225" y="0"/>
                      </a:moveTo>
                      <a:lnTo>
                        <a:pt x="11112" y="0"/>
                      </a:lnTo>
                      <a:cubicBezTo>
                        <a:pt x="4975" y="0"/>
                        <a:pt x="0" y="4975"/>
                        <a:pt x="0" y="11112"/>
                      </a:cubicBezTo>
                      <a:lnTo>
                        <a:pt x="0" y="77787"/>
                      </a:lnTo>
                      <a:cubicBezTo>
                        <a:pt x="0" y="83925"/>
                        <a:pt x="4975" y="88900"/>
                        <a:pt x="11112" y="88900"/>
                      </a:cubicBezTo>
                      <a:lnTo>
                        <a:pt x="66675" y="88900"/>
                      </a:lnTo>
                      <a:cubicBezTo>
                        <a:pt x="72812" y="88900"/>
                        <a:pt x="77787" y="83925"/>
                        <a:pt x="77787" y="77787"/>
                      </a:cubicBezTo>
                      <a:lnTo>
                        <a:pt x="77787" y="11112"/>
                      </a:lnTo>
                      <a:cubicBezTo>
                        <a:pt x="77787" y="4975"/>
                        <a:pt x="72812" y="0"/>
                        <a:pt x="66675" y="0"/>
                      </a:cubicBezTo>
                      <a:lnTo>
                        <a:pt x="55562" y="0"/>
                      </a:lnTo>
                    </a:path>
                  </a:pathLst>
                </a:custGeom>
                <a:noFill/>
                <a:ln w="11112">
                  <a:solidFill>
                    <a:srgbClr val="4E0D00"/>
                  </a:solidFill>
                </a:ln>
              </p:spPr>
            </p:sp>
            <p:sp>
              <p:nvSpPr>
                <p:cNvPr id="96" name="Freeform 96"/>
                <p:cNvSpPr/>
                <p:nvPr/>
              </p:nvSpPr>
              <p:spPr>
                <a:xfrm>
                  <a:off x="2859881" y="4045744"/>
                  <a:ext cx="33337" cy="22225"/>
                </a:xfrm>
                <a:custGeom>
                  <a:avLst/>
                  <a:gdLst/>
                  <a:ahLst/>
                  <a:cxnLst/>
                  <a:rect l="l" t="t" r="r" b="b"/>
                  <a:pathLst>
                    <a:path w="33337" h="22225">
                      <a:moveTo>
                        <a:pt x="0" y="11112"/>
                      </a:moveTo>
                      <a:cubicBezTo>
                        <a:pt x="0" y="4975"/>
                        <a:pt x="4975" y="0"/>
                        <a:pt x="11112" y="0"/>
                      </a:cubicBezTo>
                      <a:lnTo>
                        <a:pt x="22225" y="0"/>
                      </a:lnTo>
                      <a:cubicBezTo>
                        <a:pt x="28362" y="0"/>
                        <a:pt x="33337" y="4975"/>
                        <a:pt x="33337" y="11112"/>
                      </a:cubicBezTo>
                      <a:cubicBezTo>
                        <a:pt x="33337" y="17250"/>
                        <a:pt x="28362" y="22225"/>
                        <a:pt x="22225" y="22225"/>
                      </a:cubicBezTo>
                      <a:lnTo>
                        <a:pt x="11112" y="22225"/>
                      </a:lnTo>
                      <a:cubicBezTo>
                        <a:pt x="4975" y="22225"/>
                        <a:pt x="0" y="17250"/>
                        <a:pt x="0" y="11112"/>
                      </a:cubicBezTo>
                    </a:path>
                  </a:pathLst>
                </a:custGeom>
                <a:noFill/>
                <a:ln w="11112">
                  <a:solidFill>
                    <a:srgbClr val="4E0D00"/>
                  </a:solidFill>
                </a:ln>
              </p:spPr>
            </p:sp>
            <p:sp>
              <p:nvSpPr>
                <p:cNvPr id="97" name="Freeform 97"/>
                <p:cNvSpPr/>
                <p:nvPr/>
              </p:nvSpPr>
              <p:spPr>
                <a:xfrm>
                  <a:off x="2865437" y="4090194"/>
                  <a:ext cx="22225" cy="33337"/>
                </a:xfrm>
                <a:custGeom>
                  <a:avLst/>
                  <a:gdLst/>
                  <a:ahLst/>
                  <a:cxnLst/>
                  <a:rect l="l" t="t" r="r" b="b"/>
                  <a:pathLst>
                    <a:path w="22225" h="33337">
                      <a:moveTo>
                        <a:pt x="22225" y="0"/>
                      </a:moveTo>
                      <a:lnTo>
                        <a:pt x="8334" y="0"/>
                      </a:lnTo>
                      <a:cubicBezTo>
                        <a:pt x="3731" y="0"/>
                        <a:pt x="0" y="3731"/>
                        <a:pt x="0" y="8334"/>
                      </a:cubicBezTo>
                      <a:cubicBezTo>
                        <a:pt x="0" y="12937"/>
                        <a:pt x="3731" y="16669"/>
                        <a:pt x="8334" y="16669"/>
                      </a:cubicBezTo>
                      <a:lnTo>
                        <a:pt x="13891" y="16669"/>
                      </a:lnTo>
                      <a:cubicBezTo>
                        <a:pt x="18494" y="16669"/>
                        <a:pt x="22225" y="20400"/>
                        <a:pt x="22225" y="25003"/>
                      </a:cubicBezTo>
                      <a:cubicBezTo>
                        <a:pt x="22225" y="29606"/>
                        <a:pt x="18494" y="33337"/>
                        <a:pt x="13891" y="33337"/>
                      </a:cubicBezTo>
                      <a:lnTo>
                        <a:pt x="0" y="33337"/>
                      </a:lnTo>
                    </a:path>
                  </a:pathLst>
                </a:custGeom>
                <a:noFill/>
                <a:ln w="11112">
                  <a:solidFill>
                    <a:srgbClr val="4E0D00"/>
                  </a:solidFill>
                </a:ln>
              </p:spPr>
            </p:sp>
            <p:sp>
              <p:nvSpPr>
                <p:cNvPr id="98" name="Freeform 98"/>
                <p:cNvSpPr/>
                <p:nvPr/>
              </p:nvSpPr>
              <p:spPr>
                <a:xfrm>
                  <a:off x="2876550" y="4084637"/>
                  <a:ext cx="9525" cy="44450"/>
                </a:xfrm>
                <a:custGeom>
                  <a:avLst/>
                  <a:gdLst/>
                  <a:ahLst/>
                  <a:cxnLst/>
                  <a:rect l="l" t="t" r="r" b="b"/>
                  <a:pathLst>
                    <a:path w="9525" h="44450">
                      <a:moveTo>
                        <a:pt x="0" y="38894"/>
                      </a:moveTo>
                      <a:lnTo>
                        <a:pt x="0" y="44450"/>
                      </a:lnTo>
                      <a:moveTo>
                        <a:pt x="0" y="0"/>
                      </a:moveTo>
                      <a:lnTo>
                        <a:pt x="0" y="5556"/>
                      </a:lnTo>
                    </a:path>
                  </a:pathLst>
                </a:custGeom>
                <a:noFill/>
                <a:ln w="11112">
                  <a:solidFill>
                    <a:srgbClr val="4E0D00"/>
                  </a:solidFill>
                </a:ln>
              </p:spPr>
            </p:sp>
          </p:grpSp>
          <p:sp>
            <p:nvSpPr>
              <p:cNvPr id="100" name="TextBox 100"/>
              <p:cNvSpPr txBox="1"/>
              <p:nvPr/>
            </p:nvSpPr>
            <p:spPr>
              <a:xfrm>
                <a:off x="3043238" y="3995738"/>
                <a:ext cx="4133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应收周转</a:t>
                </a:r>
              </a:p>
            </p:txBody>
          </p:sp>
          <p:sp>
            <p:nvSpPr>
              <p:cNvPr id="101" name="TextBox 101"/>
              <p:cNvSpPr txBox="1"/>
              <p:nvPr/>
            </p:nvSpPr>
            <p:spPr>
              <a:xfrm>
                <a:off x="3043238" y="4168378"/>
                <a:ext cx="461848" cy="111919"/>
              </a:xfrm>
              <a:prstGeom prst="rect">
                <a:avLst/>
              </a:prstGeom>
              <a:noFill/>
              <a:ln>
                <a:noFill/>
              </a:ln>
            </p:spPr>
            <p:txBody>
              <a:bodyPr wrap="none" lIns="0" tIns="0" rIns="0" bIns="0" anchor="t" anchorCtr="0">
                <a:spAutoFit/>
              </a:bodyPr>
              <a:lstStyle/>
              <a:p>
                <a:pPr algn="l"/>
                <a:r>
                  <a:rPr lang="zh-CN" sz="560" dirty="0">
                    <a:solidFill>
                      <a:srgbClr val="6E5955"/>
                    </a:solidFill>
                    <a:latin typeface="+mn-lt"/>
                    <a:ea typeface="+mn-ea"/>
                    <a:cs typeface="+mn-cs"/>
                  </a:rPr>
                  <a:t>（回款提速）</a:t>
                </a:r>
              </a:p>
            </p:txBody>
          </p:sp>
        </p:grpSp>
        <p:grpSp>
          <p:nvGrpSpPr>
            <p:cNvPr id="107" name="act-customers"/>
            <p:cNvGrpSpPr/>
            <p:nvPr/>
          </p:nvGrpSpPr>
          <p:grpSpPr>
            <a:xfrm>
              <a:off x="3848100" y="895350"/>
              <a:ext cx="2590800" cy="533400"/>
              <a:chOff x="3848100" y="895350"/>
              <a:chExt cx="2590800" cy="533400"/>
            </a:xfrm>
          </p:grpSpPr>
          <p:sp>
            <p:nvSpPr>
              <p:cNvPr id="103" name="Rectangle 103"/>
              <p:cNvSpPr/>
              <p:nvPr/>
            </p:nvSpPr>
            <p:spPr>
              <a:xfrm>
                <a:off x="3848100" y="895350"/>
                <a:ext cx="2590800" cy="533400"/>
              </a:xfrm>
              <a:prstGeom prst="rect">
                <a:avLst/>
              </a:prstGeom>
              <a:solidFill>
                <a:srgbClr val="F7F9FC"/>
              </a:solidFill>
              <a:ln w="9525">
                <a:solidFill>
                  <a:srgbClr val="E2E8F2"/>
                </a:solidFill>
              </a:ln>
            </p:spPr>
          </p:sp>
          <p:sp>
            <p:nvSpPr>
              <p:cNvPr id="104" name="TextBox 104"/>
              <p:cNvSpPr txBox="1"/>
              <p:nvPr/>
            </p:nvSpPr>
            <p:spPr>
              <a:xfrm>
                <a:off x="3938588" y="987028"/>
                <a:ext cx="1162949"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精准获客</a:t>
                </a:r>
                <a:r>
                  <a:rPr lang="zh-CN" sz="560" dirty="0">
                    <a:solidFill>
                      <a:srgbClr val="453633"/>
                    </a:solidFill>
                    <a:latin typeface="+mn-lt"/>
                    <a:ea typeface="+mn-ea"/>
                    <a:cs typeface="+mn-cs"/>
                  </a:rPr>
                  <a:t xml:space="preserve"> 细分市场与渠道投放优化</a:t>
                </a:r>
              </a:p>
            </p:txBody>
          </p:sp>
          <p:sp>
            <p:nvSpPr>
              <p:cNvPr id="105" name="TextBox 105"/>
              <p:cNvSpPr txBox="1"/>
              <p:nvPr/>
            </p:nvSpPr>
            <p:spPr>
              <a:xfrm>
                <a:off x="3938588" y="1110853"/>
                <a:ext cx="1162949"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客户留存</a:t>
                </a:r>
                <a:r>
                  <a:rPr lang="zh-CN" sz="560" dirty="0">
                    <a:solidFill>
                      <a:srgbClr val="453633"/>
                    </a:solidFill>
                    <a:latin typeface="+mn-lt"/>
                    <a:ea typeface="+mn-ea"/>
                    <a:cs typeface="+mn-cs"/>
                  </a:rPr>
                  <a:t xml:space="preserve"> 会员体系与服务体验提升</a:t>
                </a:r>
              </a:p>
            </p:txBody>
          </p:sp>
          <p:sp>
            <p:nvSpPr>
              <p:cNvPr id="106" name="TextBox 106"/>
              <p:cNvSpPr txBox="1"/>
              <p:nvPr/>
            </p:nvSpPr>
            <p:spPr>
              <a:xfrm>
                <a:off x="3938588" y="1234678"/>
                <a:ext cx="1162949"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客户裂变</a:t>
                </a:r>
                <a:r>
                  <a:rPr lang="zh-CN" sz="560" dirty="0">
                    <a:solidFill>
                      <a:srgbClr val="453633"/>
                    </a:solidFill>
                    <a:latin typeface="+mn-lt"/>
                    <a:ea typeface="+mn-ea"/>
                    <a:cs typeface="+mn-cs"/>
                  </a:rPr>
                  <a:t xml:space="preserve"> 口碑推荐与优惠生态拓展</a:t>
                </a:r>
              </a:p>
            </p:txBody>
          </p:sp>
        </p:grpSp>
        <p:grpSp>
          <p:nvGrpSpPr>
            <p:cNvPr id="112" name="act-price"/>
            <p:cNvGrpSpPr/>
            <p:nvPr/>
          </p:nvGrpSpPr>
          <p:grpSpPr>
            <a:xfrm>
              <a:off x="3848100" y="1524000"/>
              <a:ext cx="2590800" cy="533400"/>
              <a:chOff x="3848100" y="1524000"/>
              <a:chExt cx="2590800" cy="533400"/>
            </a:xfrm>
          </p:grpSpPr>
          <p:sp>
            <p:nvSpPr>
              <p:cNvPr id="108" name="Rectangle 108"/>
              <p:cNvSpPr/>
              <p:nvPr/>
            </p:nvSpPr>
            <p:spPr>
              <a:xfrm>
                <a:off x="3848100" y="1524000"/>
                <a:ext cx="2590800" cy="533400"/>
              </a:xfrm>
              <a:prstGeom prst="rect">
                <a:avLst/>
              </a:prstGeom>
              <a:solidFill>
                <a:srgbClr val="F7F9FC"/>
              </a:solidFill>
              <a:ln w="9525">
                <a:solidFill>
                  <a:srgbClr val="E2E8F2"/>
                </a:solidFill>
              </a:ln>
            </p:spPr>
          </p:sp>
          <p:sp>
            <p:nvSpPr>
              <p:cNvPr id="109" name="TextBox 109"/>
              <p:cNvSpPr txBox="1"/>
              <p:nvPr/>
            </p:nvSpPr>
            <p:spPr>
              <a:xfrm>
                <a:off x="3938588" y="1615678"/>
                <a:ext cx="1162949"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产品组合升级</a:t>
                </a:r>
                <a:r>
                  <a:rPr lang="zh-CN" sz="560" dirty="0">
                    <a:solidFill>
                      <a:srgbClr val="453633"/>
                    </a:solidFill>
                    <a:latin typeface="+mn-lt"/>
                    <a:ea typeface="+mn-ea"/>
                    <a:cs typeface="+mn-cs"/>
                  </a:rPr>
                  <a:t xml:space="preserve"> 高价值产品占比提升</a:t>
                </a:r>
              </a:p>
            </p:txBody>
          </p:sp>
          <p:sp>
            <p:nvSpPr>
              <p:cNvPr id="110" name="TextBox 110"/>
              <p:cNvSpPr txBox="1"/>
              <p:nvPr/>
            </p:nvSpPr>
            <p:spPr>
              <a:xfrm>
                <a:off x="3938588" y="1739503"/>
                <a:ext cx="1012175"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价格管理</a:t>
                </a:r>
                <a:r>
                  <a:rPr lang="zh-CN" sz="560" dirty="0">
                    <a:solidFill>
                      <a:srgbClr val="453633"/>
                    </a:solidFill>
                    <a:latin typeface="+mn-lt"/>
                    <a:ea typeface="+mn-ea"/>
                    <a:cs typeface="+mn-cs"/>
                  </a:rPr>
                  <a:t xml:space="preserve"> 价值定价与动态定价</a:t>
                </a:r>
              </a:p>
            </p:txBody>
          </p:sp>
          <p:sp>
            <p:nvSpPr>
              <p:cNvPr id="111" name="TextBox 111"/>
              <p:cNvSpPr txBox="1"/>
              <p:nvPr/>
            </p:nvSpPr>
            <p:spPr>
              <a:xfrm>
                <a:off x="3938588" y="1863328"/>
                <a:ext cx="1162949"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交叉销售</a:t>
                </a:r>
                <a:r>
                  <a:rPr lang="zh-CN" sz="560" dirty="0">
                    <a:solidFill>
                      <a:srgbClr val="453633"/>
                    </a:solidFill>
                    <a:latin typeface="+mn-lt"/>
                    <a:ea typeface="+mn-ea"/>
                    <a:cs typeface="+mn-cs"/>
                  </a:rPr>
                  <a:t xml:space="preserve"> 套餐与增值服务渗透提升</a:t>
                </a:r>
              </a:p>
            </p:txBody>
          </p:sp>
        </p:grpSp>
        <p:grpSp>
          <p:nvGrpSpPr>
            <p:cNvPr id="117" name="act-margin"/>
            <p:cNvGrpSpPr/>
            <p:nvPr/>
          </p:nvGrpSpPr>
          <p:grpSpPr>
            <a:xfrm>
              <a:off x="3848100" y="2152650"/>
              <a:ext cx="2590800" cy="533400"/>
              <a:chOff x="3848100" y="2152650"/>
              <a:chExt cx="2590800" cy="533400"/>
            </a:xfrm>
          </p:grpSpPr>
          <p:sp>
            <p:nvSpPr>
              <p:cNvPr id="113" name="Rectangle 113"/>
              <p:cNvSpPr/>
              <p:nvPr/>
            </p:nvSpPr>
            <p:spPr>
              <a:xfrm>
                <a:off x="3848100" y="2152650"/>
                <a:ext cx="2590800" cy="533400"/>
              </a:xfrm>
              <a:prstGeom prst="rect">
                <a:avLst/>
              </a:prstGeom>
              <a:solidFill>
                <a:srgbClr val="F7F9FC"/>
              </a:solidFill>
              <a:ln w="9525">
                <a:solidFill>
                  <a:srgbClr val="E2E8F2"/>
                </a:solidFill>
              </a:ln>
            </p:spPr>
          </p:sp>
          <p:sp>
            <p:nvSpPr>
              <p:cNvPr id="114" name="TextBox 114"/>
              <p:cNvSpPr txBox="1"/>
              <p:nvPr/>
            </p:nvSpPr>
            <p:spPr>
              <a:xfrm>
                <a:off x="3938588" y="2244328"/>
                <a:ext cx="861400"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价值定价</a:t>
                </a:r>
                <a:r>
                  <a:rPr lang="zh-CN" sz="560" dirty="0">
                    <a:solidFill>
                      <a:srgbClr val="453633"/>
                    </a:solidFill>
                    <a:latin typeface="+mn-lt"/>
                    <a:ea typeface="+mn-ea"/>
                    <a:cs typeface="+mn-cs"/>
                  </a:rPr>
                  <a:t xml:space="preserve"> 与产品结构优化</a:t>
                </a:r>
              </a:p>
            </p:txBody>
          </p:sp>
          <p:sp>
            <p:nvSpPr>
              <p:cNvPr id="115" name="TextBox 115"/>
              <p:cNvSpPr txBox="1"/>
              <p:nvPr/>
            </p:nvSpPr>
            <p:spPr>
              <a:xfrm>
                <a:off x="3938588" y="2368153"/>
                <a:ext cx="1087562"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供应链降本</a:t>
                </a:r>
                <a:r>
                  <a:rPr lang="zh-CN" sz="560" dirty="0">
                    <a:solidFill>
                      <a:srgbClr val="453633"/>
                    </a:solidFill>
                    <a:latin typeface="+mn-lt"/>
                    <a:ea typeface="+mn-ea"/>
                    <a:cs typeface="+mn-cs"/>
                  </a:rPr>
                  <a:t xml:space="preserve"> 原材料替代与标准化</a:t>
                </a:r>
              </a:p>
            </p:txBody>
          </p:sp>
          <p:sp>
            <p:nvSpPr>
              <p:cNvPr id="116" name="TextBox 116"/>
              <p:cNvSpPr txBox="1"/>
              <p:nvPr/>
            </p:nvSpPr>
            <p:spPr>
              <a:xfrm>
                <a:off x="3938588" y="2491978"/>
                <a:ext cx="1087562"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品质与良率提升</a:t>
                </a:r>
                <a:r>
                  <a:rPr lang="zh-CN" sz="560" dirty="0">
                    <a:solidFill>
                      <a:srgbClr val="453633"/>
                    </a:solidFill>
                    <a:latin typeface="+mn-lt"/>
                    <a:ea typeface="+mn-ea"/>
                    <a:cs typeface="+mn-cs"/>
                  </a:rPr>
                  <a:t xml:space="preserve"> 减少报废与返工</a:t>
                </a:r>
              </a:p>
            </p:txBody>
          </p:sp>
        </p:grpSp>
        <p:grpSp>
          <p:nvGrpSpPr>
            <p:cNvPr id="122" name="act-expense"/>
            <p:cNvGrpSpPr/>
            <p:nvPr/>
          </p:nvGrpSpPr>
          <p:grpSpPr>
            <a:xfrm>
              <a:off x="3848100" y="2800350"/>
              <a:ext cx="2590800" cy="533400"/>
              <a:chOff x="3848100" y="2800350"/>
              <a:chExt cx="2590800" cy="533400"/>
            </a:xfrm>
          </p:grpSpPr>
          <p:sp>
            <p:nvSpPr>
              <p:cNvPr id="118" name="Rectangle 118"/>
              <p:cNvSpPr/>
              <p:nvPr/>
            </p:nvSpPr>
            <p:spPr>
              <a:xfrm>
                <a:off x="3848100" y="2800350"/>
                <a:ext cx="2590800" cy="533400"/>
              </a:xfrm>
              <a:prstGeom prst="rect">
                <a:avLst/>
              </a:prstGeom>
              <a:solidFill>
                <a:srgbClr val="F7F9FC"/>
              </a:solidFill>
              <a:ln w="9525">
                <a:solidFill>
                  <a:srgbClr val="E2E8F2"/>
                </a:solidFill>
              </a:ln>
            </p:spPr>
          </p:sp>
          <p:sp>
            <p:nvSpPr>
              <p:cNvPr id="119" name="TextBox 119"/>
              <p:cNvSpPr txBox="1"/>
              <p:nvPr/>
            </p:nvSpPr>
            <p:spPr>
              <a:xfrm>
                <a:off x="3938588" y="2892028"/>
                <a:ext cx="1087562"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组织效率提升</a:t>
                </a:r>
                <a:r>
                  <a:rPr lang="zh-CN" sz="560" dirty="0">
                    <a:solidFill>
                      <a:srgbClr val="453633"/>
                    </a:solidFill>
                    <a:latin typeface="+mn-lt"/>
                    <a:ea typeface="+mn-ea"/>
                    <a:cs typeface="+mn-cs"/>
                  </a:rPr>
                  <a:t xml:space="preserve"> 流程简化与自动化</a:t>
                </a:r>
              </a:p>
            </p:txBody>
          </p:sp>
          <p:sp>
            <p:nvSpPr>
              <p:cNvPr id="120" name="TextBox 120"/>
              <p:cNvSpPr txBox="1"/>
              <p:nvPr/>
            </p:nvSpPr>
            <p:spPr>
              <a:xfrm>
                <a:off x="3938588" y="3015853"/>
                <a:ext cx="1087562"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费用精细化</a:t>
                </a:r>
                <a:r>
                  <a:rPr lang="zh-CN" sz="560" dirty="0">
                    <a:solidFill>
                      <a:srgbClr val="453633"/>
                    </a:solidFill>
                    <a:latin typeface="+mn-lt"/>
                    <a:ea typeface="+mn-ea"/>
                    <a:cs typeface="+mn-cs"/>
                  </a:rPr>
                  <a:t xml:space="preserve"> 预算管控与差异管理</a:t>
                </a:r>
              </a:p>
            </p:txBody>
          </p:sp>
          <p:sp>
            <p:nvSpPr>
              <p:cNvPr id="121" name="TextBox 121"/>
              <p:cNvSpPr txBox="1"/>
              <p:nvPr/>
            </p:nvSpPr>
            <p:spPr>
              <a:xfrm>
                <a:off x="3938588" y="3139678"/>
                <a:ext cx="1087562"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数字化降本</a:t>
                </a:r>
                <a:r>
                  <a:rPr lang="zh-CN" sz="560" dirty="0">
                    <a:solidFill>
                      <a:srgbClr val="453633"/>
                    </a:solidFill>
                    <a:latin typeface="+mn-lt"/>
                    <a:ea typeface="+mn-ea"/>
                    <a:cs typeface="+mn-cs"/>
                  </a:rPr>
                  <a:t xml:space="preserve"> 系统工具与共享服务</a:t>
                </a:r>
              </a:p>
            </p:txBody>
          </p:sp>
        </p:grpSp>
        <p:grpSp>
          <p:nvGrpSpPr>
            <p:cNvPr id="127" name="act-inventory"/>
            <p:cNvGrpSpPr/>
            <p:nvPr/>
          </p:nvGrpSpPr>
          <p:grpSpPr>
            <a:xfrm>
              <a:off x="3848100" y="3238500"/>
              <a:ext cx="2590800" cy="533400"/>
              <a:chOff x="3848100" y="3238500"/>
              <a:chExt cx="2590800" cy="533400"/>
            </a:xfrm>
          </p:grpSpPr>
          <p:sp>
            <p:nvSpPr>
              <p:cNvPr id="123" name="Rectangle 123"/>
              <p:cNvSpPr/>
              <p:nvPr/>
            </p:nvSpPr>
            <p:spPr>
              <a:xfrm>
                <a:off x="3848100" y="3238500"/>
                <a:ext cx="2590800" cy="533400"/>
              </a:xfrm>
              <a:prstGeom prst="rect">
                <a:avLst/>
              </a:prstGeom>
              <a:solidFill>
                <a:srgbClr val="F7F9FC"/>
              </a:solidFill>
              <a:ln w="9525">
                <a:solidFill>
                  <a:srgbClr val="E2E8F2"/>
                </a:solidFill>
              </a:ln>
            </p:spPr>
          </p:sp>
          <p:sp>
            <p:nvSpPr>
              <p:cNvPr id="124" name="TextBox 124"/>
              <p:cNvSpPr txBox="1"/>
              <p:nvPr/>
            </p:nvSpPr>
            <p:spPr>
              <a:xfrm>
                <a:off x="3938588" y="3330178"/>
                <a:ext cx="1127958"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需求预测</a:t>
                </a:r>
                <a:r>
                  <a:rPr lang="zh-CN" sz="560" dirty="0">
                    <a:solidFill>
                      <a:srgbClr val="453633"/>
                    </a:solidFill>
                    <a:latin typeface="+mn-lt"/>
                    <a:ea typeface="+mn-ea"/>
                    <a:cs typeface="+mn-cs"/>
                  </a:rPr>
                  <a:t xml:space="preserve"> 与S&amp;OP提升计划准确性</a:t>
                </a:r>
              </a:p>
            </p:txBody>
          </p:sp>
          <p:sp>
            <p:nvSpPr>
              <p:cNvPr id="125" name="TextBox 125"/>
              <p:cNvSpPr txBox="1"/>
              <p:nvPr/>
            </p:nvSpPr>
            <p:spPr>
              <a:xfrm>
                <a:off x="3938588" y="3454003"/>
                <a:ext cx="1144885"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库存结构优化</a:t>
                </a:r>
                <a:r>
                  <a:rPr lang="zh-CN" sz="560" dirty="0">
                    <a:solidFill>
                      <a:srgbClr val="453633"/>
                    </a:solidFill>
                    <a:latin typeface="+mn-lt"/>
                    <a:ea typeface="+mn-ea"/>
                    <a:cs typeface="+mn-cs"/>
                  </a:rPr>
                  <a:t xml:space="preserve"> ABC分级与安全库存</a:t>
                </a:r>
              </a:p>
            </p:txBody>
          </p:sp>
          <p:sp>
            <p:nvSpPr>
              <p:cNvPr id="126" name="TextBox 126"/>
              <p:cNvSpPr txBox="1"/>
              <p:nvPr/>
            </p:nvSpPr>
            <p:spPr>
              <a:xfrm>
                <a:off x="3938588" y="3577828"/>
                <a:ext cx="1087562"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缩短交期</a:t>
                </a:r>
                <a:r>
                  <a:rPr lang="zh-CN" sz="560" dirty="0">
                    <a:solidFill>
                      <a:srgbClr val="453633"/>
                    </a:solidFill>
                    <a:latin typeface="+mn-lt"/>
                    <a:ea typeface="+mn-ea"/>
                    <a:cs typeface="+mn-cs"/>
                  </a:rPr>
                  <a:t xml:space="preserve"> 生产与供应链协同提速</a:t>
                </a:r>
              </a:p>
            </p:txBody>
          </p:sp>
        </p:grpSp>
        <p:grpSp>
          <p:nvGrpSpPr>
            <p:cNvPr id="132" name="act-receivable"/>
            <p:cNvGrpSpPr/>
            <p:nvPr/>
          </p:nvGrpSpPr>
          <p:grpSpPr>
            <a:xfrm>
              <a:off x="3848100" y="3829050"/>
              <a:ext cx="2590800" cy="533400"/>
              <a:chOff x="3848100" y="3829050"/>
              <a:chExt cx="2590800" cy="533400"/>
            </a:xfrm>
          </p:grpSpPr>
          <p:sp>
            <p:nvSpPr>
              <p:cNvPr id="128" name="Rectangle 128"/>
              <p:cNvSpPr/>
              <p:nvPr/>
            </p:nvSpPr>
            <p:spPr>
              <a:xfrm>
                <a:off x="3848100" y="3829050"/>
                <a:ext cx="2590800" cy="533400"/>
              </a:xfrm>
              <a:prstGeom prst="rect">
                <a:avLst/>
              </a:prstGeom>
              <a:solidFill>
                <a:srgbClr val="F7F9FC"/>
              </a:solidFill>
              <a:ln w="9525">
                <a:solidFill>
                  <a:srgbClr val="E2E8F2"/>
                </a:solidFill>
              </a:ln>
            </p:spPr>
          </p:sp>
          <p:sp>
            <p:nvSpPr>
              <p:cNvPr id="129" name="TextBox 129"/>
              <p:cNvSpPr txBox="1"/>
              <p:nvPr/>
            </p:nvSpPr>
            <p:spPr>
              <a:xfrm>
                <a:off x="3938588" y="3920728"/>
                <a:ext cx="1162949"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信用政策优化</a:t>
                </a:r>
                <a:r>
                  <a:rPr lang="zh-CN" sz="560" dirty="0">
                    <a:solidFill>
                      <a:srgbClr val="453633"/>
                    </a:solidFill>
                    <a:latin typeface="+mn-lt"/>
                    <a:ea typeface="+mn-ea"/>
                    <a:cs typeface="+mn-cs"/>
                  </a:rPr>
                  <a:t xml:space="preserve"> 客户分层与额度管理</a:t>
                </a:r>
              </a:p>
            </p:txBody>
          </p:sp>
          <p:sp>
            <p:nvSpPr>
              <p:cNvPr id="130" name="TextBox 130"/>
              <p:cNvSpPr txBox="1"/>
              <p:nvPr/>
            </p:nvSpPr>
            <p:spPr>
              <a:xfrm>
                <a:off x="3938588" y="4044553"/>
                <a:ext cx="1162949"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回款管理强化</a:t>
                </a:r>
                <a:r>
                  <a:rPr lang="zh-CN" sz="560" dirty="0">
                    <a:solidFill>
                      <a:srgbClr val="453633"/>
                    </a:solidFill>
                    <a:latin typeface="+mn-lt"/>
                    <a:ea typeface="+mn-ea"/>
                    <a:cs typeface="+mn-cs"/>
                  </a:rPr>
                  <a:t xml:space="preserve"> 账龄管控与催收机制</a:t>
                </a:r>
              </a:p>
            </p:txBody>
          </p:sp>
          <p:sp>
            <p:nvSpPr>
              <p:cNvPr id="131" name="TextBox 131"/>
              <p:cNvSpPr txBox="1"/>
              <p:nvPr/>
            </p:nvSpPr>
            <p:spPr>
              <a:xfrm>
                <a:off x="3938588" y="4168378"/>
                <a:ext cx="1012175" cy="111919"/>
              </a:xfrm>
              <a:prstGeom prst="rect">
                <a:avLst/>
              </a:prstGeom>
              <a:noFill/>
              <a:ln>
                <a:noFill/>
              </a:ln>
            </p:spPr>
            <p:txBody>
              <a:bodyPr wrap="none" lIns="0" tIns="0" rIns="0" bIns="0" anchor="t" anchorCtr="0">
                <a:spAutoFit/>
              </a:bodyPr>
              <a:lstStyle/>
              <a:p>
                <a:pPr algn="l"/>
                <a:r>
                  <a:rPr lang="zh-CN" sz="560" b="1" dirty="0">
                    <a:solidFill>
                      <a:srgbClr val="4E0D00"/>
                    </a:solidFill>
                    <a:latin typeface="+mn-lt"/>
                    <a:ea typeface="+mn-ea"/>
                    <a:cs typeface="+mn-cs"/>
                  </a:rPr>
                  <a:t>结算对账提效</a:t>
                </a:r>
                <a:r>
                  <a:rPr lang="zh-CN" sz="560" dirty="0">
                    <a:solidFill>
                      <a:srgbClr val="453633"/>
                    </a:solidFill>
                    <a:latin typeface="+mn-lt"/>
                    <a:ea typeface="+mn-ea"/>
                    <a:cs typeface="+mn-cs"/>
                  </a:rPr>
                  <a:t xml:space="preserve"> 电子化与自动化</a:t>
                </a:r>
              </a:p>
            </p:txBody>
          </p:sp>
        </p:grpSp>
      </p:grpSp>
      <p:grpSp>
        <p:nvGrpSpPr>
          <p:cNvPr id="176" name="roic"/>
          <p:cNvGrpSpPr/>
          <p:nvPr/>
        </p:nvGrpSpPr>
        <p:grpSpPr>
          <a:xfrm>
            <a:off x="6667500" y="762000"/>
            <a:ext cx="5295900" cy="3238500"/>
            <a:chOff x="6667500" y="762000"/>
            <a:chExt cx="5295900" cy="3238500"/>
          </a:xfrm>
        </p:grpSpPr>
        <p:sp>
          <p:nvSpPr>
            <p:cNvPr id="134" name="Rectangle 134"/>
            <p:cNvSpPr/>
            <p:nvPr/>
          </p:nvSpPr>
          <p:spPr>
            <a:xfrm>
              <a:off x="6667500" y="762000"/>
              <a:ext cx="5295900" cy="3238500"/>
            </a:xfrm>
            <a:prstGeom prst="rect">
              <a:avLst/>
            </a:prstGeom>
            <a:solidFill>
              <a:srgbClr val="FBFCFE"/>
            </a:solidFill>
            <a:ln w="9525">
              <a:solidFill>
                <a:srgbClr val="C7D2E4"/>
              </a:solidFill>
            </a:ln>
          </p:spPr>
        </p:sp>
        <p:sp>
          <p:nvSpPr>
            <p:cNvPr id="135" name="Rectangle 135"/>
            <p:cNvSpPr/>
            <p:nvPr/>
          </p:nvSpPr>
          <p:spPr>
            <a:xfrm>
              <a:off x="6819900" y="876300"/>
              <a:ext cx="4991100" cy="285750"/>
            </a:xfrm>
            <a:prstGeom prst="rect">
              <a:avLst/>
            </a:prstGeom>
            <a:solidFill>
              <a:srgbClr val="4E0D00"/>
            </a:solidFill>
            <a:ln>
              <a:noFill/>
            </a:ln>
          </p:spPr>
        </p:sp>
        <p:sp>
          <p:nvSpPr>
            <p:cNvPr id="136" name="TextBox 136"/>
            <p:cNvSpPr txBox="1"/>
            <p:nvPr/>
          </p:nvSpPr>
          <p:spPr>
            <a:xfrm>
              <a:off x="8849084" y="965597"/>
              <a:ext cx="932732" cy="183356"/>
            </a:xfrm>
            <a:prstGeom prst="rect">
              <a:avLst/>
            </a:prstGeom>
            <a:noFill/>
            <a:ln>
              <a:noFill/>
            </a:ln>
          </p:spPr>
          <p:txBody>
            <a:bodyPr wrap="none" lIns="0" tIns="0" rIns="0" bIns="0" anchor="t" anchorCtr="0">
              <a:spAutoFit/>
            </a:bodyPr>
            <a:lstStyle/>
            <a:p>
              <a:pPr algn="ctr"/>
              <a:r>
                <a:rPr lang="zh-CN" sz="940" b="1" dirty="0">
                  <a:solidFill>
                    <a:srgbClr val="FFFFFF"/>
                  </a:solidFill>
                  <a:latin typeface="+mn-lt"/>
                  <a:ea typeface="+mn-ea"/>
                  <a:cs typeface="+mn-cs"/>
                </a:rPr>
                <a:t>ROIC 拆解逻辑​</a:t>
              </a:r>
            </a:p>
          </p:txBody>
        </p:sp>
        <p:sp>
          <p:nvSpPr>
            <p:cNvPr id="137" name="Rectangle 137"/>
            <p:cNvSpPr/>
            <p:nvPr/>
          </p:nvSpPr>
          <p:spPr>
            <a:xfrm>
              <a:off x="6819900" y="1257300"/>
              <a:ext cx="4991100" cy="381000"/>
            </a:xfrm>
            <a:prstGeom prst="rect">
              <a:avLst/>
            </a:prstGeom>
            <a:solidFill>
              <a:srgbClr val="EFF3FA"/>
            </a:solidFill>
            <a:ln w="9525">
              <a:solidFill>
                <a:srgbClr val="C7D2E4"/>
              </a:solidFill>
            </a:ln>
          </p:spPr>
        </p:sp>
        <p:sp>
          <p:nvSpPr>
            <p:cNvPr id="138" name="TextBox 138"/>
            <p:cNvSpPr txBox="1"/>
            <p:nvPr/>
          </p:nvSpPr>
          <p:spPr>
            <a:xfrm>
              <a:off x="8316349" y="1383506"/>
              <a:ext cx="1998203" cy="220028"/>
            </a:xfrm>
            <a:prstGeom prst="rect">
              <a:avLst/>
            </a:prstGeom>
            <a:noFill/>
            <a:ln>
              <a:noFill/>
            </a:ln>
          </p:spPr>
          <p:txBody>
            <a:bodyPr wrap="none" lIns="0" tIns="0" rIns="0" bIns="0" anchor="t" anchorCtr="0">
              <a:spAutoFit/>
            </a:bodyPr>
            <a:lstStyle/>
            <a:p>
              <a:pPr algn="ctr"/>
              <a:r>
                <a:rPr lang="zh-CN" sz="1120" b="1" dirty="0">
                  <a:solidFill>
                    <a:srgbClr val="4E0D00"/>
                  </a:solidFill>
                  <a:latin typeface="+mn-lt"/>
                  <a:ea typeface="+mn-ea"/>
                  <a:cs typeface="+mn-cs"/>
                </a:rPr>
                <a:t>ROIC ＝ NOPAT ÷ 投入资本​</a:t>
              </a:r>
            </a:p>
          </p:txBody>
        </p:sp>
        <p:sp>
          <p:nvSpPr>
            <p:cNvPr id="139" name="Rectangle 139"/>
            <p:cNvSpPr/>
            <p:nvPr/>
          </p:nvSpPr>
          <p:spPr>
            <a:xfrm>
              <a:off x="6819900" y="1752600"/>
              <a:ext cx="2419350" cy="266700"/>
            </a:xfrm>
            <a:prstGeom prst="rect">
              <a:avLst/>
            </a:prstGeom>
            <a:solidFill>
              <a:srgbClr val="711E0D"/>
            </a:solidFill>
            <a:ln>
              <a:noFill/>
            </a:ln>
          </p:spPr>
        </p:sp>
        <p:sp>
          <p:nvSpPr>
            <p:cNvPr id="140" name="TextBox 140"/>
            <p:cNvSpPr txBox="1"/>
            <p:nvPr/>
          </p:nvSpPr>
          <p:spPr>
            <a:xfrm>
              <a:off x="7455732" y="1852612"/>
              <a:ext cx="1147686"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NOPAT（税后经营利润）</a:t>
              </a:r>
            </a:p>
          </p:txBody>
        </p:sp>
        <p:sp>
          <p:nvSpPr>
            <p:cNvPr id="141" name="Rectangle 141"/>
            <p:cNvSpPr/>
            <p:nvPr/>
          </p:nvSpPr>
          <p:spPr>
            <a:xfrm>
              <a:off x="9391650" y="1752600"/>
              <a:ext cx="2419350" cy="266700"/>
            </a:xfrm>
            <a:prstGeom prst="rect">
              <a:avLst/>
            </a:prstGeom>
            <a:solidFill>
              <a:srgbClr val="711E0D"/>
            </a:solidFill>
            <a:ln>
              <a:noFill/>
            </a:ln>
          </p:spPr>
        </p:sp>
        <p:sp>
          <p:nvSpPr>
            <p:cNvPr id="142" name="TextBox 142"/>
            <p:cNvSpPr txBox="1"/>
            <p:nvPr/>
          </p:nvSpPr>
          <p:spPr>
            <a:xfrm>
              <a:off x="10091738" y="1852612"/>
              <a:ext cx="1019175"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mn-lt"/>
                  <a:ea typeface="+mn-ea"/>
                  <a:cs typeface="+mn-cs"/>
                </a:rPr>
                <a:t>投入资本（运营资产）</a:t>
              </a:r>
            </a:p>
          </p:txBody>
        </p:sp>
        <p:sp>
          <p:nvSpPr>
            <p:cNvPr id="143" name="TextBox 143"/>
            <p:cNvSpPr txBox="1"/>
            <p:nvPr/>
          </p:nvSpPr>
          <p:spPr>
            <a:xfrm>
              <a:off x="7549520" y="2109788"/>
              <a:ext cx="960110"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收入 × 毛利率 − 费用</a:t>
              </a:r>
            </a:p>
          </p:txBody>
        </p:sp>
        <p:sp>
          <p:nvSpPr>
            <p:cNvPr id="144" name="TextBox 144"/>
            <p:cNvSpPr txBox="1"/>
            <p:nvPr/>
          </p:nvSpPr>
          <p:spPr>
            <a:xfrm>
              <a:off x="9859878" y="2113836"/>
              <a:ext cx="1482894"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库存 + 应收 + 固定资产等长期资产</a:t>
              </a:r>
            </a:p>
          </p:txBody>
        </p:sp>
        <p:sp>
          <p:nvSpPr>
            <p:cNvPr id="145" name="Rectangle 145"/>
            <p:cNvSpPr/>
            <p:nvPr/>
          </p:nvSpPr>
          <p:spPr>
            <a:xfrm>
              <a:off x="6819900" y="2305050"/>
              <a:ext cx="723900" cy="419100"/>
            </a:xfrm>
            <a:prstGeom prst="rect">
              <a:avLst/>
            </a:prstGeom>
            <a:solidFill>
              <a:srgbClr val="FFFFFF"/>
            </a:solidFill>
            <a:ln w="9525">
              <a:solidFill>
                <a:srgbClr val="C8998F"/>
              </a:solidFill>
            </a:ln>
          </p:spPr>
        </p:sp>
        <p:sp>
          <p:nvSpPr>
            <p:cNvPr id="146" name="TextBox 146"/>
            <p:cNvSpPr txBox="1"/>
            <p:nvPr/>
          </p:nvSpPr>
          <p:spPr>
            <a:xfrm>
              <a:off x="7081507" y="23995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价格</a:t>
              </a:r>
            </a:p>
          </p:txBody>
        </p:sp>
        <p:sp>
          <p:nvSpPr>
            <p:cNvPr id="147" name="TextBox 147"/>
            <p:cNvSpPr txBox="1"/>
            <p:nvPr/>
          </p:nvSpPr>
          <p:spPr>
            <a:xfrm>
              <a:off x="6988620" y="2568178"/>
              <a:ext cx="386461" cy="111919"/>
            </a:xfrm>
            <a:prstGeom prst="rect">
              <a:avLst/>
            </a:prstGeom>
            <a:noFill/>
            <a:ln>
              <a:noFill/>
            </a:ln>
          </p:spPr>
          <p:txBody>
            <a:bodyPr wrap="none" lIns="0" tIns="0" rIns="0" bIns="0" anchor="t" anchorCtr="0">
              <a:spAutoFit/>
            </a:bodyPr>
            <a:lstStyle/>
            <a:p>
              <a:pPr algn="ctr"/>
              <a:r>
                <a:rPr lang="zh-CN" sz="560" dirty="0">
                  <a:solidFill>
                    <a:srgbClr val="6E5955"/>
                  </a:solidFill>
                  <a:latin typeface="+mn-lt"/>
                  <a:ea typeface="+mn-ea"/>
                  <a:cs typeface="+mn-cs"/>
                </a:rPr>
                <a:t>（客单价）</a:t>
              </a:r>
            </a:p>
          </p:txBody>
        </p:sp>
        <p:sp>
          <p:nvSpPr>
            <p:cNvPr id="148" name="Rectangle 148"/>
            <p:cNvSpPr/>
            <p:nvPr/>
          </p:nvSpPr>
          <p:spPr>
            <a:xfrm>
              <a:off x="7620000" y="2305050"/>
              <a:ext cx="723900" cy="419100"/>
            </a:xfrm>
            <a:prstGeom prst="rect">
              <a:avLst/>
            </a:prstGeom>
            <a:solidFill>
              <a:srgbClr val="FFFFFF"/>
            </a:solidFill>
            <a:ln w="9525">
              <a:solidFill>
                <a:srgbClr val="C8998F"/>
              </a:solidFill>
            </a:ln>
          </p:spPr>
        </p:sp>
        <p:sp>
          <p:nvSpPr>
            <p:cNvPr id="149" name="TextBox 149"/>
            <p:cNvSpPr txBox="1"/>
            <p:nvPr/>
          </p:nvSpPr>
          <p:spPr>
            <a:xfrm>
              <a:off x="7881607" y="2399586"/>
              <a:ext cx="200685"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销量</a:t>
              </a:r>
            </a:p>
          </p:txBody>
        </p:sp>
        <p:sp>
          <p:nvSpPr>
            <p:cNvPr id="150" name="TextBox 150"/>
            <p:cNvSpPr txBox="1"/>
            <p:nvPr/>
          </p:nvSpPr>
          <p:spPr>
            <a:xfrm>
              <a:off x="7788720" y="2568178"/>
              <a:ext cx="386461" cy="111919"/>
            </a:xfrm>
            <a:prstGeom prst="rect">
              <a:avLst/>
            </a:prstGeom>
            <a:noFill/>
            <a:ln>
              <a:noFill/>
            </a:ln>
          </p:spPr>
          <p:txBody>
            <a:bodyPr wrap="none" lIns="0" tIns="0" rIns="0" bIns="0" anchor="t" anchorCtr="0">
              <a:spAutoFit/>
            </a:bodyPr>
            <a:lstStyle/>
            <a:p>
              <a:pPr algn="ctr"/>
              <a:r>
                <a:rPr lang="zh-CN" sz="560" dirty="0">
                  <a:solidFill>
                    <a:srgbClr val="6E5955"/>
                  </a:solidFill>
                  <a:latin typeface="+mn-lt"/>
                  <a:ea typeface="+mn-ea"/>
                  <a:cs typeface="+mn-cs"/>
                </a:rPr>
                <a:t>（客户数）</a:t>
              </a:r>
            </a:p>
          </p:txBody>
        </p:sp>
        <p:sp>
          <p:nvSpPr>
            <p:cNvPr id="151" name="TextBox 151"/>
            <p:cNvSpPr txBox="1"/>
            <p:nvPr/>
          </p:nvSpPr>
          <p:spPr>
            <a:xfrm>
              <a:off x="8383463" y="2482691"/>
              <a:ext cx="73274" cy="161925"/>
            </a:xfrm>
            <a:prstGeom prst="rect">
              <a:avLst/>
            </a:prstGeom>
            <a:noFill/>
            <a:ln>
              <a:noFill/>
            </a:ln>
          </p:spPr>
          <p:txBody>
            <a:bodyPr wrap="none" lIns="0" tIns="0" rIns="0" bIns="0" anchor="t" anchorCtr="0">
              <a:spAutoFit/>
            </a:bodyPr>
            <a:lstStyle/>
            <a:p>
              <a:pPr algn="ctr"/>
              <a:r>
                <a:rPr lang="zh-CN" sz="820" b="1" dirty="0">
                  <a:solidFill>
                    <a:srgbClr val="944130"/>
                  </a:solidFill>
                  <a:latin typeface="+mn-lt"/>
                  <a:ea typeface="+mn-ea"/>
                  <a:cs typeface="+mn-cs"/>
                </a:rPr>
                <a:t>→</a:t>
              </a:r>
            </a:p>
          </p:txBody>
        </p:sp>
        <p:sp>
          <p:nvSpPr>
            <p:cNvPr id="152" name="Rectangle 152"/>
            <p:cNvSpPr/>
            <p:nvPr/>
          </p:nvSpPr>
          <p:spPr>
            <a:xfrm>
              <a:off x="8515350" y="2305050"/>
              <a:ext cx="723900" cy="419100"/>
            </a:xfrm>
            <a:prstGeom prst="rect">
              <a:avLst/>
            </a:prstGeom>
            <a:solidFill>
              <a:srgbClr val="EFF3FA"/>
            </a:solidFill>
            <a:ln w="9525">
              <a:solidFill>
                <a:srgbClr val="C8998F"/>
              </a:solidFill>
            </a:ln>
          </p:spPr>
        </p:sp>
        <p:sp>
          <p:nvSpPr>
            <p:cNvPr id="153" name="TextBox 153"/>
            <p:cNvSpPr txBox="1"/>
            <p:nvPr/>
          </p:nvSpPr>
          <p:spPr>
            <a:xfrm>
              <a:off x="8681377" y="2485311"/>
              <a:ext cx="391846"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产品结构</a:t>
              </a:r>
            </a:p>
          </p:txBody>
        </p:sp>
        <p:sp>
          <p:nvSpPr>
            <p:cNvPr id="154" name="Rectangle 154"/>
            <p:cNvSpPr/>
            <p:nvPr/>
          </p:nvSpPr>
          <p:spPr>
            <a:xfrm>
              <a:off x="6819900" y="2819400"/>
              <a:ext cx="561975" cy="419100"/>
            </a:xfrm>
            <a:prstGeom prst="rect">
              <a:avLst/>
            </a:prstGeom>
            <a:solidFill>
              <a:srgbClr val="FFFFFF"/>
            </a:solidFill>
            <a:ln w="9525">
              <a:solidFill>
                <a:srgbClr val="C8998F"/>
              </a:solidFill>
            </a:ln>
          </p:spPr>
        </p:sp>
        <p:sp>
          <p:nvSpPr>
            <p:cNvPr id="155" name="TextBox 155"/>
            <p:cNvSpPr txBox="1"/>
            <p:nvPr/>
          </p:nvSpPr>
          <p:spPr>
            <a:xfrm>
              <a:off x="6923811" y="3007757"/>
              <a:ext cx="354152" cy="126206"/>
            </a:xfrm>
            <a:prstGeom prst="rect">
              <a:avLst/>
            </a:prstGeom>
            <a:noFill/>
            <a:ln>
              <a:noFill/>
            </a:ln>
          </p:spPr>
          <p:txBody>
            <a:bodyPr wrap="none" lIns="0" tIns="0" rIns="0" bIns="0" anchor="t" anchorCtr="0">
              <a:spAutoFit/>
            </a:bodyPr>
            <a:lstStyle/>
            <a:p>
              <a:pPr algn="ctr"/>
              <a:r>
                <a:rPr lang="zh-CN" sz="640" b="1" dirty="0">
                  <a:solidFill>
                    <a:srgbClr val="4E0D00"/>
                  </a:solidFill>
                  <a:latin typeface="+mn-lt"/>
                  <a:ea typeface="+mn-ea"/>
                  <a:cs typeface="+mn-cs"/>
                </a:rPr>
                <a:t>单位成本</a:t>
              </a:r>
            </a:p>
          </p:txBody>
        </p:sp>
        <p:sp>
          <p:nvSpPr>
            <p:cNvPr id="156" name="Rectangle 156"/>
            <p:cNvSpPr/>
            <p:nvPr/>
          </p:nvSpPr>
          <p:spPr>
            <a:xfrm>
              <a:off x="7419975" y="2819400"/>
              <a:ext cx="561975" cy="419100"/>
            </a:xfrm>
            <a:prstGeom prst="rect">
              <a:avLst/>
            </a:prstGeom>
            <a:solidFill>
              <a:srgbClr val="FFFFFF"/>
            </a:solidFill>
            <a:ln w="9525">
              <a:solidFill>
                <a:srgbClr val="C8998F"/>
              </a:solidFill>
            </a:ln>
          </p:spPr>
        </p:sp>
        <p:sp>
          <p:nvSpPr>
            <p:cNvPr id="157" name="TextBox 157"/>
            <p:cNvSpPr txBox="1"/>
            <p:nvPr/>
          </p:nvSpPr>
          <p:spPr>
            <a:xfrm>
              <a:off x="7494270" y="3011805"/>
              <a:ext cx="413385" cy="119062"/>
            </a:xfrm>
            <a:prstGeom prst="rect">
              <a:avLst/>
            </a:prstGeom>
            <a:noFill/>
            <a:ln>
              <a:noFill/>
            </a:ln>
          </p:spPr>
          <p:txBody>
            <a:bodyPr wrap="none" lIns="0" tIns="0" rIns="0" bIns="0" anchor="t" anchorCtr="0">
              <a:spAutoFit/>
            </a:bodyPr>
            <a:lstStyle/>
            <a:p>
              <a:pPr algn="ctr"/>
              <a:r>
                <a:rPr lang="zh-CN" sz="600" b="1" dirty="0">
                  <a:solidFill>
                    <a:srgbClr val="4E0D00"/>
                  </a:solidFill>
                  <a:latin typeface="+mn-lt"/>
                  <a:ea typeface="+mn-ea"/>
                  <a:cs typeface="+mn-cs"/>
                </a:rPr>
                <a:t>销售费用率</a:t>
              </a:r>
            </a:p>
          </p:txBody>
        </p:sp>
        <p:sp>
          <p:nvSpPr>
            <p:cNvPr id="158" name="Rectangle 158"/>
            <p:cNvSpPr/>
            <p:nvPr/>
          </p:nvSpPr>
          <p:spPr>
            <a:xfrm>
              <a:off x="8020050" y="2819400"/>
              <a:ext cx="561975" cy="419100"/>
            </a:xfrm>
            <a:prstGeom prst="rect">
              <a:avLst/>
            </a:prstGeom>
            <a:solidFill>
              <a:srgbClr val="FFFFFF"/>
            </a:solidFill>
            <a:ln w="9525">
              <a:solidFill>
                <a:srgbClr val="C8998F"/>
              </a:solidFill>
            </a:ln>
          </p:spPr>
        </p:sp>
        <p:sp>
          <p:nvSpPr>
            <p:cNvPr id="159" name="TextBox 159"/>
            <p:cNvSpPr txBox="1"/>
            <p:nvPr/>
          </p:nvSpPr>
          <p:spPr>
            <a:xfrm>
              <a:off x="8094345" y="3011805"/>
              <a:ext cx="413385" cy="119062"/>
            </a:xfrm>
            <a:prstGeom prst="rect">
              <a:avLst/>
            </a:prstGeom>
            <a:noFill/>
            <a:ln>
              <a:noFill/>
            </a:ln>
          </p:spPr>
          <p:txBody>
            <a:bodyPr wrap="none" lIns="0" tIns="0" rIns="0" bIns="0" anchor="t" anchorCtr="0">
              <a:spAutoFit/>
            </a:bodyPr>
            <a:lstStyle/>
            <a:p>
              <a:pPr algn="ctr"/>
              <a:r>
                <a:rPr lang="zh-CN" sz="600" b="1" dirty="0">
                  <a:solidFill>
                    <a:srgbClr val="4E0D00"/>
                  </a:solidFill>
                  <a:latin typeface="+mn-lt"/>
                  <a:ea typeface="+mn-ea"/>
                  <a:cs typeface="+mn-cs"/>
                </a:rPr>
                <a:t>管理费用率</a:t>
              </a:r>
            </a:p>
          </p:txBody>
        </p:sp>
        <p:sp>
          <p:nvSpPr>
            <p:cNvPr id="160" name="Rectangle 160"/>
            <p:cNvSpPr/>
            <p:nvPr/>
          </p:nvSpPr>
          <p:spPr>
            <a:xfrm>
              <a:off x="8620125" y="2819400"/>
              <a:ext cx="561975" cy="419100"/>
            </a:xfrm>
            <a:prstGeom prst="rect">
              <a:avLst/>
            </a:prstGeom>
            <a:solidFill>
              <a:srgbClr val="FFFFFF"/>
            </a:solidFill>
            <a:ln w="9525">
              <a:solidFill>
                <a:srgbClr val="C8998F"/>
              </a:solidFill>
            </a:ln>
          </p:spPr>
        </p:sp>
        <p:sp>
          <p:nvSpPr>
            <p:cNvPr id="161" name="TextBox 161"/>
            <p:cNvSpPr txBox="1"/>
            <p:nvPr/>
          </p:nvSpPr>
          <p:spPr>
            <a:xfrm>
              <a:off x="8694420" y="3011805"/>
              <a:ext cx="413385" cy="119062"/>
            </a:xfrm>
            <a:prstGeom prst="rect">
              <a:avLst/>
            </a:prstGeom>
            <a:noFill/>
            <a:ln>
              <a:noFill/>
            </a:ln>
          </p:spPr>
          <p:txBody>
            <a:bodyPr wrap="none" lIns="0" tIns="0" rIns="0" bIns="0" anchor="t" anchorCtr="0">
              <a:spAutoFit/>
            </a:bodyPr>
            <a:lstStyle/>
            <a:p>
              <a:pPr algn="ctr"/>
              <a:r>
                <a:rPr lang="zh-CN" sz="600" b="1" dirty="0">
                  <a:solidFill>
                    <a:srgbClr val="4E0D00"/>
                  </a:solidFill>
                  <a:latin typeface="+mn-lt"/>
                  <a:ea typeface="+mn-ea"/>
                  <a:cs typeface="+mn-cs"/>
                </a:rPr>
                <a:t>研发费用率</a:t>
              </a:r>
            </a:p>
          </p:txBody>
        </p:sp>
        <p:sp>
          <p:nvSpPr>
            <p:cNvPr id="162" name="Rectangle 162"/>
            <p:cNvSpPr/>
            <p:nvPr/>
          </p:nvSpPr>
          <p:spPr>
            <a:xfrm>
              <a:off x="9391650" y="2305050"/>
              <a:ext cx="723900" cy="419100"/>
            </a:xfrm>
            <a:prstGeom prst="rect">
              <a:avLst/>
            </a:prstGeom>
            <a:solidFill>
              <a:srgbClr val="FFFFFF"/>
            </a:solidFill>
            <a:ln w="9525">
              <a:solidFill>
                <a:srgbClr val="C8998F"/>
              </a:solidFill>
            </a:ln>
          </p:spPr>
        </p:sp>
        <p:sp>
          <p:nvSpPr>
            <p:cNvPr id="163" name="TextBox 163"/>
            <p:cNvSpPr txBox="1"/>
            <p:nvPr/>
          </p:nvSpPr>
          <p:spPr>
            <a:xfrm>
              <a:off x="9576524" y="2407682"/>
              <a:ext cx="354152" cy="126206"/>
            </a:xfrm>
            <a:prstGeom prst="rect">
              <a:avLst/>
            </a:prstGeom>
            <a:noFill/>
            <a:ln>
              <a:noFill/>
            </a:ln>
          </p:spPr>
          <p:txBody>
            <a:bodyPr wrap="none" lIns="0" tIns="0" rIns="0" bIns="0" anchor="t" anchorCtr="0">
              <a:spAutoFit/>
            </a:bodyPr>
            <a:lstStyle/>
            <a:p>
              <a:pPr algn="ctr"/>
              <a:r>
                <a:rPr lang="zh-CN" sz="640" b="1" dirty="0">
                  <a:solidFill>
                    <a:srgbClr val="4E0D00"/>
                  </a:solidFill>
                  <a:latin typeface="+mn-lt"/>
                  <a:ea typeface="+mn-ea"/>
                  <a:cs typeface="+mn-cs"/>
                </a:rPr>
                <a:t>库存水平</a:t>
              </a:r>
            </a:p>
          </p:txBody>
        </p:sp>
        <p:sp>
          <p:nvSpPr>
            <p:cNvPr id="164" name="TextBox 164"/>
            <p:cNvSpPr txBox="1"/>
            <p:nvPr/>
          </p:nvSpPr>
          <p:spPr>
            <a:xfrm>
              <a:off x="9598063" y="2568178"/>
              <a:ext cx="311074" cy="111919"/>
            </a:xfrm>
            <a:prstGeom prst="rect">
              <a:avLst/>
            </a:prstGeom>
            <a:noFill/>
            <a:ln>
              <a:noFill/>
            </a:ln>
          </p:spPr>
          <p:txBody>
            <a:bodyPr wrap="none" lIns="0" tIns="0" rIns="0" bIns="0" anchor="t" anchorCtr="0">
              <a:spAutoFit/>
            </a:bodyPr>
            <a:lstStyle/>
            <a:p>
              <a:pPr algn="ctr"/>
              <a:r>
                <a:rPr lang="zh-CN" sz="560" dirty="0">
                  <a:solidFill>
                    <a:srgbClr val="6E5955"/>
                  </a:solidFill>
                  <a:latin typeface="+mn-lt"/>
                  <a:ea typeface="+mn-ea"/>
                  <a:cs typeface="+mn-cs"/>
                </a:rPr>
                <a:t>周转天数</a:t>
              </a:r>
            </a:p>
          </p:txBody>
        </p:sp>
        <p:sp>
          <p:nvSpPr>
            <p:cNvPr id="165" name="Rectangle 165"/>
            <p:cNvSpPr/>
            <p:nvPr/>
          </p:nvSpPr>
          <p:spPr>
            <a:xfrm>
              <a:off x="10172700" y="2305050"/>
              <a:ext cx="723900" cy="419100"/>
            </a:xfrm>
            <a:prstGeom prst="rect">
              <a:avLst/>
            </a:prstGeom>
            <a:solidFill>
              <a:srgbClr val="FFFFFF"/>
            </a:solidFill>
            <a:ln w="9525">
              <a:solidFill>
                <a:srgbClr val="C8998F"/>
              </a:solidFill>
            </a:ln>
          </p:spPr>
        </p:sp>
        <p:sp>
          <p:nvSpPr>
            <p:cNvPr id="166" name="TextBox 166"/>
            <p:cNvSpPr txBox="1"/>
            <p:nvPr/>
          </p:nvSpPr>
          <p:spPr>
            <a:xfrm>
              <a:off x="10357574" y="2407682"/>
              <a:ext cx="354152" cy="126206"/>
            </a:xfrm>
            <a:prstGeom prst="rect">
              <a:avLst/>
            </a:prstGeom>
            <a:noFill/>
            <a:ln>
              <a:noFill/>
            </a:ln>
          </p:spPr>
          <p:txBody>
            <a:bodyPr wrap="none" lIns="0" tIns="0" rIns="0" bIns="0" anchor="t" anchorCtr="0">
              <a:spAutoFit/>
            </a:bodyPr>
            <a:lstStyle/>
            <a:p>
              <a:pPr algn="ctr"/>
              <a:r>
                <a:rPr lang="zh-CN" sz="640" b="1" dirty="0">
                  <a:solidFill>
                    <a:srgbClr val="4E0D00"/>
                  </a:solidFill>
                  <a:latin typeface="+mn-lt"/>
                  <a:ea typeface="+mn-ea"/>
                  <a:cs typeface="+mn-cs"/>
                </a:rPr>
                <a:t>应收余额</a:t>
              </a:r>
            </a:p>
          </p:txBody>
        </p:sp>
        <p:sp>
          <p:nvSpPr>
            <p:cNvPr id="167" name="TextBox 167"/>
            <p:cNvSpPr txBox="1"/>
            <p:nvPr/>
          </p:nvSpPr>
          <p:spPr>
            <a:xfrm>
              <a:off x="10379113" y="2568178"/>
              <a:ext cx="311074" cy="111919"/>
            </a:xfrm>
            <a:prstGeom prst="rect">
              <a:avLst/>
            </a:prstGeom>
            <a:noFill/>
            <a:ln>
              <a:noFill/>
            </a:ln>
          </p:spPr>
          <p:txBody>
            <a:bodyPr wrap="none" lIns="0" tIns="0" rIns="0" bIns="0" anchor="t" anchorCtr="0">
              <a:spAutoFit/>
            </a:bodyPr>
            <a:lstStyle/>
            <a:p>
              <a:pPr algn="ctr"/>
              <a:r>
                <a:rPr lang="zh-CN" sz="560" dirty="0">
                  <a:solidFill>
                    <a:srgbClr val="6E5955"/>
                  </a:solidFill>
                  <a:latin typeface="+mn-lt"/>
                  <a:ea typeface="+mn-ea"/>
                  <a:cs typeface="+mn-cs"/>
                </a:rPr>
                <a:t>周转天数</a:t>
              </a:r>
            </a:p>
          </p:txBody>
        </p:sp>
        <p:sp>
          <p:nvSpPr>
            <p:cNvPr id="168" name="Rectangle 168"/>
            <p:cNvSpPr/>
            <p:nvPr/>
          </p:nvSpPr>
          <p:spPr>
            <a:xfrm>
              <a:off x="10953750" y="2305050"/>
              <a:ext cx="857250" cy="419100"/>
            </a:xfrm>
            <a:prstGeom prst="rect">
              <a:avLst/>
            </a:prstGeom>
            <a:solidFill>
              <a:srgbClr val="FFFFFF"/>
            </a:solidFill>
            <a:ln w="9525">
              <a:solidFill>
                <a:srgbClr val="C8998F"/>
              </a:solidFill>
            </a:ln>
          </p:spPr>
        </p:sp>
        <p:sp>
          <p:nvSpPr>
            <p:cNvPr id="169" name="TextBox 169"/>
            <p:cNvSpPr txBox="1"/>
            <p:nvPr/>
          </p:nvSpPr>
          <p:spPr>
            <a:xfrm>
              <a:off x="11205299" y="2407682"/>
              <a:ext cx="354152" cy="126206"/>
            </a:xfrm>
            <a:prstGeom prst="rect">
              <a:avLst/>
            </a:prstGeom>
            <a:noFill/>
            <a:ln>
              <a:noFill/>
            </a:ln>
          </p:spPr>
          <p:txBody>
            <a:bodyPr wrap="none" lIns="0" tIns="0" rIns="0" bIns="0" anchor="t" anchorCtr="0">
              <a:spAutoFit/>
            </a:bodyPr>
            <a:lstStyle/>
            <a:p>
              <a:pPr algn="ctr"/>
              <a:r>
                <a:rPr lang="zh-CN" sz="640" b="1" dirty="0">
                  <a:solidFill>
                    <a:srgbClr val="4E0D00"/>
                  </a:solidFill>
                  <a:latin typeface="+mn-lt"/>
                  <a:ea typeface="+mn-ea"/>
                  <a:cs typeface="+mn-cs"/>
                </a:rPr>
                <a:t>资产规模</a:t>
              </a:r>
            </a:p>
          </p:txBody>
        </p:sp>
        <p:sp>
          <p:nvSpPr>
            <p:cNvPr id="170" name="TextBox 170"/>
            <p:cNvSpPr txBox="1"/>
            <p:nvPr/>
          </p:nvSpPr>
          <p:spPr>
            <a:xfrm>
              <a:off x="11226838" y="2568178"/>
              <a:ext cx="311074" cy="111919"/>
            </a:xfrm>
            <a:prstGeom prst="rect">
              <a:avLst/>
            </a:prstGeom>
            <a:noFill/>
            <a:ln>
              <a:noFill/>
            </a:ln>
          </p:spPr>
          <p:txBody>
            <a:bodyPr wrap="none" lIns="0" tIns="0" rIns="0" bIns="0" anchor="t" anchorCtr="0">
              <a:spAutoFit/>
            </a:bodyPr>
            <a:lstStyle/>
            <a:p>
              <a:pPr algn="ctr"/>
              <a:r>
                <a:rPr lang="zh-CN" sz="560" dirty="0">
                  <a:solidFill>
                    <a:srgbClr val="6E5955"/>
                  </a:solidFill>
                  <a:latin typeface="+mn-lt"/>
                  <a:ea typeface="+mn-ea"/>
                  <a:cs typeface="+mn-cs"/>
                </a:rPr>
                <a:t>利用效率</a:t>
              </a:r>
            </a:p>
          </p:txBody>
        </p:sp>
        <p:sp>
          <p:nvSpPr>
            <p:cNvPr id="171" name="Rectangle 171"/>
            <p:cNvSpPr/>
            <p:nvPr/>
          </p:nvSpPr>
          <p:spPr>
            <a:xfrm>
              <a:off x="9391650" y="2819400"/>
              <a:ext cx="2419350" cy="419100"/>
            </a:xfrm>
            <a:prstGeom prst="rect">
              <a:avLst/>
            </a:prstGeom>
            <a:solidFill>
              <a:srgbClr val="EFF3FA"/>
            </a:solidFill>
            <a:ln w="9525">
              <a:solidFill>
                <a:srgbClr val="C7D2E4"/>
              </a:solidFill>
            </a:ln>
          </p:spPr>
        </p:sp>
        <p:sp>
          <p:nvSpPr>
            <p:cNvPr id="172" name="TextBox 172"/>
            <p:cNvSpPr txBox="1"/>
            <p:nvPr/>
          </p:nvSpPr>
          <p:spPr>
            <a:xfrm>
              <a:off x="9765149" y="2931557"/>
              <a:ext cx="1672351"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库存水平 / 周转天数｜应收余额 / 周转天数</a:t>
              </a:r>
            </a:p>
          </p:txBody>
        </p:sp>
        <p:sp>
          <p:nvSpPr>
            <p:cNvPr id="173" name="TextBox 173"/>
            <p:cNvSpPr txBox="1"/>
            <p:nvPr/>
          </p:nvSpPr>
          <p:spPr>
            <a:xfrm>
              <a:off x="10202395" y="3074432"/>
              <a:ext cx="797860"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资产规模 / 利用效率</a:t>
              </a:r>
            </a:p>
          </p:txBody>
        </p:sp>
        <p:sp>
          <p:nvSpPr>
            <p:cNvPr id="174" name="Rectangle 174"/>
            <p:cNvSpPr/>
            <p:nvPr/>
          </p:nvSpPr>
          <p:spPr>
            <a:xfrm>
              <a:off x="6819900" y="3276600"/>
              <a:ext cx="4991100" cy="342900"/>
            </a:xfrm>
            <a:prstGeom prst="rect">
              <a:avLst/>
            </a:prstGeom>
            <a:solidFill>
              <a:srgbClr val="EFF3FA"/>
            </a:solidFill>
            <a:ln w="9525">
              <a:solidFill>
                <a:srgbClr val="C7D2E4"/>
              </a:solidFill>
            </a:ln>
          </p:spPr>
        </p:sp>
        <p:sp>
          <p:nvSpPr>
            <p:cNvPr id="175" name="TextBox 175"/>
            <p:cNvSpPr txBox="1"/>
            <p:nvPr/>
          </p:nvSpPr>
          <p:spPr>
            <a:xfrm>
              <a:off x="7883901" y="3418761"/>
              <a:ext cx="2863099" cy="140494"/>
            </a:xfrm>
            <a:prstGeom prst="rect">
              <a:avLst/>
            </a:prstGeom>
            <a:noFill/>
            <a:ln>
              <a:noFill/>
            </a:ln>
          </p:spPr>
          <p:txBody>
            <a:bodyPr wrap="none" lIns="0" tIns="0" rIns="0" bIns="0" anchor="t" anchorCtr="0">
              <a:spAutoFit/>
            </a:bodyPr>
            <a:lstStyle/>
            <a:p>
              <a:pPr algn="ctr"/>
              <a:r>
                <a:rPr lang="zh-CN" sz="710" b="1" dirty="0">
                  <a:solidFill>
                    <a:srgbClr val="4E0D00"/>
                  </a:solidFill>
                  <a:latin typeface="+mn-lt"/>
                  <a:ea typeface="+mn-ea"/>
                  <a:cs typeface="+mn-cs"/>
                </a:rPr>
                <a:t>▶ 提升ROIC的抓手：提价、增量、降本，去库存，快回款，轻资产​</a:t>
              </a:r>
            </a:p>
          </p:txBody>
        </p:sp>
      </p:grpSp>
      <p:grpSp>
        <p:nvGrpSpPr>
          <p:cNvPr id="228" name="map-table"/>
          <p:cNvGrpSpPr/>
          <p:nvPr/>
        </p:nvGrpSpPr>
        <p:grpSpPr>
          <a:xfrm>
            <a:off x="228600" y="4552950"/>
            <a:ext cx="11734800" cy="2095500"/>
            <a:chOff x="228600" y="4552950"/>
            <a:chExt cx="11734800" cy="2095500"/>
          </a:xfrm>
        </p:grpSpPr>
        <p:sp>
          <p:nvSpPr>
            <p:cNvPr id="177" name="Rectangle 177"/>
            <p:cNvSpPr/>
            <p:nvPr/>
          </p:nvSpPr>
          <p:spPr>
            <a:xfrm>
              <a:off x="228600" y="4552950"/>
              <a:ext cx="1905000" cy="266700"/>
            </a:xfrm>
            <a:prstGeom prst="rect">
              <a:avLst/>
            </a:prstGeom>
            <a:solidFill>
              <a:srgbClr val="4E0D00"/>
            </a:solidFill>
            <a:ln>
              <a:noFill/>
            </a:ln>
          </p:spPr>
        </p:sp>
        <p:sp>
          <p:nvSpPr>
            <p:cNvPr id="178" name="TextBox 178"/>
            <p:cNvSpPr txBox="1"/>
            <p:nvPr/>
          </p:nvSpPr>
          <p:spPr>
            <a:xfrm>
              <a:off x="963638" y="46489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财务指标</a:t>
              </a:r>
            </a:p>
          </p:txBody>
        </p:sp>
        <p:sp>
          <p:nvSpPr>
            <p:cNvPr id="179" name="Rectangle 179"/>
            <p:cNvSpPr/>
            <p:nvPr/>
          </p:nvSpPr>
          <p:spPr>
            <a:xfrm>
              <a:off x="2133600" y="4552950"/>
              <a:ext cx="2286000" cy="266700"/>
            </a:xfrm>
            <a:prstGeom prst="rect">
              <a:avLst/>
            </a:prstGeom>
            <a:solidFill>
              <a:srgbClr val="4E0D00"/>
            </a:solidFill>
            <a:ln>
              <a:noFill/>
            </a:ln>
          </p:spPr>
        </p:sp>
        <p:sp>
          <p:nvSpPr>
            <p:cNvPr id="180" name="TextBox 180"/>
            <p:cNvSpPr txBox="1"/>
            <p:nvPr/>
          </p:nvSpPr>
          <p:spPr>
            <a:xfrm>
              <a:off x="3059138" y="46489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经营指标</a:t>
              </a:r>
            </a:p>
          </p:txBody>
        </p:sp>
        <p:sp>
          <p:nvSpPr>
            <p:cNvPr id="181" name="Rectangle 181"/>
            <p:cNvSpPr/>
            <p:nvPr/>
          </p:nvSpPr>
          <p:spPr>
            <a:xfrm>
              <a:off x="4419600" y="4552950"/>
              <a:ext cx="4381500" cy="266700"/>
            </a:xfrm>
            <a:prstGeom prst="rect">
              <a:avLst/>
            </a:prstGeom>
            <a:solidFill>
              <a:srgbClr val="4E0D00"/>
            </a:solidFill>
            <a:ln>
              <a:noFill/>
            </a:ln>
          </p:spPr>
        </p:sp>
        <p:sp>
          <p:nvSpPr>
            <p:cNvPr id="182" name="TextBox 182"/>
            <p:cNvSpPr txBox="1"/>
            <p:nvPr/>
          </p:nvSpPr>
          <p:spPr>
            <a:xfrm>
              <a:off x="6392888" y="46489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业务动作</a:t>
              </a:r>
            </a:p>
          </p:txBody>
        </p:sp>
        <p:sp>
          <p:nvSpPr>
            <p:cNvPr id="183" name="Rectangle 183"/>
            <p:cNvSpPr/>
            <p:nvPr/>
          </p:nvSpPr>
          <p:spPr>
            <a:xfrm>
              <a:off x="8801100" y="4552950"/>
              <a:ext cx="3162300" cy="266700"/>
            </a:xfrm>
            <a:prstGeom prst="rect">
              <a:avLst/>
            </a:prstGeom>
            <a:solidFill>
              <a:srgbClr val="4E0D00"/>
            </a:solidFill>
            <a:ln>
              <a:noFill/>
            </a:ln>
          </p:spPr>
        </p:sp>
        <p:sp>
          <p:nvSpPr>
            <p:cNvPr id="184" name="TextBox 184"/>
            <p:cNvSpPr txBox="1"/>
            <p:nvPr/>
          </p:nvSpPr>
          <p:spPr>
            <a:xfrm>
              <a:off x="10164788" y="4648914"/>
              <a:ext cx="43492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责任部门</a:t>
              </a:r>
            </a:p>
          </p:txBody>
        </p:sp>
        <p:grpSp>
          <p:nvGrpSpPr>
            <p:cNvPr id="194" name="mt-revenue"/>
            <p:cNvGrpSpPr/>
            <p:nvPr/>
          </p:nvGrpSpPr>
          <p:grpSpPr>
            <a:xfrm>
              <a:off x="228600" y="4819650"/>
              <a:ext cx="11734800" cy="457200"/>
              <a:chOff x="228600" y="4819650"/>
              <a:chExt cx="11734800" cy="457200"/>
            </a:xfrm>
          </p:grpSpPr>
          <p:sp>
            <p:nvSpPr>
              <p:cNvPr id="185" name="Rectangle 185"/>
              <p:cNvSpPr/>
              <p:nvPr/>
            </p:nvSpPr>
            <p:spPr>
              <a:xfrm>
                <a:off x="228600" y="4819650"/>
                <a:ext cx="11734800" cy="457200"/>
              </a:xfrm>
              <a:prstGeom prst="rect">
                <a:avLst/>
              </a:prstGeom>
              <a:solidFill>
                <a:srgbClr val="FFFFFF"/>
              </a:solidFill>
              <a:ln w="9525">
                <a:solidFill>
                  <a:srgbClr val="E2E8F2"/>
                </a:solidFill>
              </a:ln>
            </p:spPr>
          </p:sp>
          <p:sp>
            <p:nvSpPr>
              <p:cNvPr id="186" name="Rectangle 186"/>
              <p:cNvSpPr/>
              <p:nvPr/>
            </p:nvSpPr>
            <p:spPr>
              <a:xfrm>
                <a:off x="228600" y="4819650"/>
                <a:ext cx="1905000" cy="457200"/>
              </a:xfrm>
              <a:prstGeom prst="rect">
                <a:avLst/>
              </a:prstGeom>
              <a:solidFill>
                <a:srgbClr val="EFF3FA"/>
              </a:solidFill>
              <a:ln>
                <a:noFill/>
              </a:ln>
            </p:spPr>
          </p:sp>
          <p:grpSp>
            <p:nvGrpSpPr>
              <p:cNvPr id="189" name="Group 189"/>
              <p:cNvGrpSpPr/>
              <p:nvPr/>
            </p:nvGrpSpPr>
            <p:grpSpPr>
              <a:xfrm>
                <a:off x="400050" y="5016500"/>
                <a:ext cx="114300" cy="63500"/>
                <a:chOff x="400050" y="5016500"/>
                <a:chExt cx="114300" cy="63500"/>
              </a:xfrm>
            </p:grpSpPr>
            <p:sp>
              <p:nvSpPr>
                <p:cNvPr id="187" name="Freeform 187"/>
                <p:cNvSpPr/>
                <p:nvPr/>
              </p:nvSpPr>
              <p:spPr>
                <a:xfrm>
                  <a:off x="400050" y="501650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4E0D00"/>
                  </a:solidFill>
                </a:ln>
              </p:spPr>
            </p:sp>
            <p:sp>
              <p:nvSpPr>
                <p:cNvPr id="188" name="Freeform 188"/>
                <p:cNvSpPr/>
                <p:nvPr/>
              </p:nvSpPr>
              <p:spPr>
                <a:xfrm>
                  <a:off x="469900" y="5016500"/>
                  <a:ext cx="44450" cy="44450"/>
                </a:xfrm>
                <a:custGeom>
                  <a:avLst/>
                  <a:gdLst/>
                  <a:ahLst/>
                  <a:cxnLst/>
                  <a:rect l="l" t="t" r="r" b="b"/>
                  <a:pathLst>
                    <a:path w="44450" h="44450">
                      <a:moveTo>
                        <a:pt x="0" y="0"/>
                      </a:moveTo>
                      <a:lnTo>
                        <a:pt x="44450" y="0"/>
                      </a:lnTo>
                      <a:lnTo>
                        <a:pt x="44450" y="44450"/>
                      </a:lnTo>
                    </a:path>
                  </a:pathLst>
                </a:custGeom>
                <a:noFill/>
                <a:ln w="12700">
                  <a:solidFill>
                    <a:srgbClr val="4E0D00"/>
                  </a:solidFill>
                </a:ln>
              </p:spPr>
            </p:sp>
          </p:grpSp>
          <p:sp>
            <p:nvSpPr>
              <p:cNvPr id="190" name="TextBox 190"/>
              <p:cNvSpPr txBox="1"/>
              <p:nvPr/>
            </p:nvSpPr>
            <p:spPr>
              <a:xfrm>
                <a:off x="604838" y="5014912"/>
                <a:ext cx="514350"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收入增长率</a:t>
                </a:r>
              </a:p>
            </p:txBody>
          </p:sp>
          <p:sp>
            <p:nvSpPr>
              <p:cNvPr id="191" name="TextBox 191"/>
              <p:cNvSpPr txBox="1"/>
              <p:nvPr/>
            </p:nvSpPr>
            <p:spPr>
              <a:xfrm>
                <a:off x="2243138" y="5027057"/>
                <a:ext cx="112956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客户数增长率、客单价增长率</a:t>
                </a:r>
              </a:p>
            </p:txBody>
          </p:sp>
          <p:sp>
            <p:nvSpPr>
              <p:cNvPr id="192" name="TextBox 192"/>
              <p:cNvSpPr txBox="1"/>
              <p:nvPr/>
            </p:nvSpPr>
            <p:spPr>
              <a:xfrm>
                <a:off x="4529138" y="5027057"/>
                <a:ext cx="270623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精准获客与渠道扩张 · 产品组合升级与交叉销售 · 价格管理与促销优化</a:t>
                </a:r>
              </a:p>
            </p:txBody>
          </p:sp>
          <p:sp>
            <p:nvSpPr>
              <p:cNvPr id="193" name="TextBox 193"/>
              <p:cNvSpPr txBox="1"/>
              <p:nvPr/>
            </p:nvSpPr>
            <p:spPr>
              <a:xfrm>
                <a:off x="8910638" y="5027057"/>
                <a:ext cx="151296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市场部 / 销售部 · 产品部 · 定价委员会</a:t>
                </a:r>
              </a:p>
            </p:txBody>
          </p:sp>
        </p:grpSp>
        <p:grpSp>
          <p:nvGrpSpPr>
            <p:cNvPr id="207" name="mt-margin"/>
            <p:cNvGrpSpPr/>
            <p:nvPr/>
          </p:nvGrpSpPr>
          <p:grpSpPr>
            <a:xfrm>
              <a:off x="228600" y="5276850"/>
              <a:ext cx="11734800" cy="457200"/>
              <a:chOff x="228600" y="5276850"/>
              <a:chExt cx="11734800" cy="457200"/>
            </a:xfrm>
          </p:grpSpPr>
          <p:sp>
            <p:nvSpPr>
              <p:cNvPr id="195" name="Rectangle 195"/>
              <p:cNvSpPr/>
              <p:nvPr/>
            </p:nvSpPr>
            <p:spPr>
              <a:xfrm>
                <a:off x="228600" y="5276850"/>
                <a:ext cx="11734800" cy="457200"/>
              </a:xfrm>
              <a:prstGeom prst="rect">
                <a:avLst/>
              </a:prstGeom>
              <a:solidFill>
                <a:srgbClr val="F7F9FC"/>
              </a:solidFill>
              <a:ln w="9525">
                <a:solidFill>
                  <a:srgbClr val="E2E8F2"/>
                </a:solidFill>
              </a:ln>
            </p:spPr>
          </p:sp>
          <p:sp>
            <p:nvSpPr>
              <p:cNvPr id="196" name="Rectangle 196"/>
              <p:cNvSpPr/>
              <p:nvPr/>
            </p:nvSpPr>
            <p:spPr>
              <a:xfrm>
                <a:off x="228600" y="5276850"/>
                <a:ext cx="1905000" cy="457200"/>
              </a:xfrm>
              <a:prstGeom prst="rect">
                <a:avLst/>
              </a:prstGeom>
              <a:solidFill>
                <a:srgbClr val="EFF3FA"/>
              </a:solidFill>
              <a:ln>
                <a:noFill/>
              </a:ln>
            </p:spPr>
          </p:sp>
          <p:grpSp>
            <p:nvGrpSpPr>
              <p:cNvPr id="202" name="Group 202"/>
              <p:cNvGrpSpPr/>
              <p:nvPr/>
            </p:nvGrpSpPr>
            <p:grpSpPr>
              <a:xfrm>
                <a:off x="400050" y="5447449"/>
                <a:ext cx="114300" cy="115151"/>
                <a:chOff x="400050" y="5447449"/>
                <a:chExt cx="114300" cy="115151"/>
              </a:xfrm>
            </p:grpSpPr>
            <p:sp>
              <p:nvSpPr>
                <p:cNvPr id="197" name="Freeform 197"/>
                <p:cNvSpPr/>
                <p:nvPr/>
              </p:nvSpPr>
              <p:spPr>
                <a:xfrm>
                  <a:off x="438150" y="5499100"/>
                  <a:ext cx="76200" cy="38100"/>
                </a:xfrm>
                <a:custGeom>
                  <a:avLst/>
                  <a:gdLst/>
                  <a:ahLst/>
                  <a:cxnLst/>
                  <a:rect l="l" t="t" r="r" b="b"/>
                  <a:pathLst>
                    <a:path w="76200" h="38100">
                      <a:moveTo>
                        <a:pt x="0" y="19050"/>
                      </a:moveTo>
                      <a:cubicBezTo>
                        <a:pt x="0" y="29572"/>
                        <a:pt x="17056" y="38100"/>
                        <a:pt x="38100" y="38100"/>
                      </a:cubicBezTo>
                      <a:cubicBezTo>
                        <a:pt x="59144" y="38100"/>
                        <a:pt x="76200" y="29572"/>
                        <a:pt x="76200" y="19050"/>
                      </a:cubicBezTo>
                      <a:cubicBezTo>
                        <a:pt x="76200" y="8528"/>
                        <a:pt x="59144" y="0"/>
                        <a:pt x="38100" y="0"/>
                      </a:cubicBezTo>
                      <a:cubicBezTo>
                        <a:pt x="17056" y="0"/>
                        <a:pt x="0" y="8528"/>
                        <a:pt x="0" y="19050"/>
                      </a:cubicBezTo>
                    </a:path>
                  </a:pathLst>
                </a:custGeom>
                <a:noFill/>
                <a:ln w="12700">
                  <a:solidFill>
                    <a:srgbClr val="4E0D00"/>
                  </a:solidFill>
                </a:ln>
              </p:spPr>
            </p:sp>
            <p:sp>
              <p:nvSpPr>
                <p:cNvPr id="198" name="Freeform 198"/>
                <p:cNvSpPr/>
                <p:nvPr/>
              </p:nvSpPr>
              <p:spPr>
                <a:xfrm>
                  <a:off x="438150" y="5518150"/>
                  <a:ext cx="76200" cy="44450"/>
                </a:xfrm>
                <a:custGeom>
                  <a:avLst/>
                  <a:gdLst/>
                  <a:ahLst/>
                  <a:cxnLst/>
                  <a:rect l="l" t="t" r="r" b="b"/>
                  <a:pathLst>
                    <a:path w="76200" h="44450">
                      <a:moveTo>
                        <a:pt x="0" y="0"/>
                      </a:moveTo>
                      <a:lnTo>
                        <a:pt x="0" y="25400"/>
                      </a:lnTo>
                      <a:cubicBezTo>
                        <a:pt x="0" y="35916"/>
                        <a:pt x="17056" y="44450"/>
                        <a:pt x="38100" y="44450"/>
                      </a:cubicBezTo>
                      <a:cubicBezTo>
                        <a:pt x="59144" y="44450"/>
                        <a:pt x="76200" y="35916"/>
                        <a:pt x="76200" y="25400"/>
                      </a:cubicBezTo>
                      <a:lnTo>
                        <a:pt x="76200" y="0"/>
                      </a:lnTo>
                    </a:path>
                  </a:pathLst>
                </a:custGeom>
                <a:noFill/>
                <a:ln w="12700">
                  <a:solidFill>
                    <a:srgbClr val="4E0D00"/>
                  </a:solidFill>
                </a:ln>
              </p:spPr>
            </p:sp>
            <p:sp>
              <p:nvSpPr>
                <p:cNvPr id="199" name="Freeform 199"/>
                <p:cNvSpPr/>
                <p:nvPr/>
              </p:nvSpPr>
              <p:spPr>
                <a:xfrm>
                  <a:off x="400050" y="5447449"/>
                  <a:ext cx="76200" cy="39802"/>
                </a:xfrm>
                <a:custGeom>
                  <a:avLst/>
                  <a:gdLst/>
                  <a:ahLst/>
                  <a:cxnLst/>
                  <a:rect l="l" t="t" r="r" b="b"/>
                  <a:pathLst>
                    <a:path w="76200" h="39802">
                      <a:moveTo>
                        <a:pt x="0" y="19901"/>
                      </a:moveTo>
                      <a:cubicBezTo>
                        <a:pt x="0" y="26708"/>
                        <a:pt x="7264" y="32995"/>
                        <a:pt x="19050" y="36398"/>
                      </a:cubicBezTo>
                      <a:cubicBezTo>
                        <a:pt x="30836" y="39802"/>
                        <a:pt x="45364" y="39802"/>
                        <a:pt x="57150" y="36398"/>
                      </a:cubicBezTo>
                      <a:cubicBezTo>
                        <a:pt x="68936" y="32995"/>
                        <a:pt x="76200" y="26708"/>
                        <a:pt x="76200" y="19901"/>
                      </a:cubicBezTo>
                      <a:cubicBezTo>
                        <a:pt x="76200" y="13094"/>
                        <a:pt x="68936" y="6807"/>
                        <a:pt x="57150" y="3404"/>
                      </a:cubicBezTo>
                      <a:cubicBezTo>
                        <a:pt x="45364" y="0"/>
                        <a:pt x="30836" y="0"/>
                        <a:pt x="19050" y="3404"/>
                      </a:cubicBezTo>
                      <a:cubicBezTo>
                        <a:pt x="7264" y="6807"/>
                        <a:pt x="0" y="13094"/>
                        <a:pt x="0" y="19901"/>
                      </a:cubicBezTo>
                    </a:path>
                  </a:pathLst>
                </a:custGeom>
                <a:noFill/>
                <a:ln w="12700">
                  <a:solidFill>
                    <a:srgbClr val="4E0D00"/>
                  </a:solidFill>
                </a:ln>
              </p:spPr>
            </p:sp>
            <p:sp>
              <p:nvSpPr>
                <p:cNvPr id="200" name="Freeform 200"/>
                <p:cNvSpPr/>
                <p:nvPr/>
              </p:nvSpPr>
              <p:spPr>
                <a:xfrm>
                  <a:off x="400050" y="5467350"/>
                  <a:ext cx="12700" cy="76200"/>
                </a:xfrm>
                <a:custGeom>
                  <a:avLst/>
                  <a:gdLst/>
                  <a:ahLst/>
                  <a:cxnLst/>
                  <a:rect l="l" t="t" r="r" b="b"/>
                  <a:pathLst>
                    <a:path w="12700" h="76200">
                      <a:moveTo>
                        <a:pt x="0" y="0"/>
                      </a:moveTo>
                      <a:lnTo>
                        <a:pt x="0" y="63500"/>
                      </a:lnTo>
                      <a:cubicBezTo>
                        <a:pt x="0" y="69139"/>
                        <a:pt x="4902" y="72708"/>
                        <a:pt x="12700" y="76200"/>
                      </a:cubicBezTo>
                    </a:path>
                  </a:pathLst>
                </a:custGeom>
                <a:noFill/>
                <a:ln w="12700">
                  <a:solidFill>
                    <a:srgbClr val="4E0D00"/>
                  </a:solidFill>
                </a:ln>
              </p:spPr>
            </p:sp>
            <p:sp>
              <p:nvSpPr>
                <p:cNvPr id="201" name="Freeform 201"/>
                <p:cNvSpPr/>
                <p:nvPr/>
              </p:nvSpPr>
              <p:spPr>
                <a:xfrm>
                  <a:off x="400050" y="5499100"/>
                  <a:ext cx="12700" cy="12700"/>
                </a:xfrm>
                <a:custGeom>
                  <a:avLst/>
                  <a:gdLst/>
                  <a:ahLst/>
                  <a:cxnLst/>
                  <a:rect l="l" t="t" r="r" b="b"/>
                  <a:pathLst>
                    <a:path w="12700" h="12700">
                      <a:moveTo>
                        <a:pt x="0" y="0"/>
                      </a:moveTo>
                      <a:cubicBezTo>
                        <a:pt x="0" y="5639"/>
                        <a:pt x="4902" y="9208"/>
                        <a:pt x="12700" y="12700"/>
                      </a:cubicBezTo>
                    </a:path>
                  </a:pathLst>
                </a:custGeom>
                <a:noFill/>
                <a:ln w="12700">
                  <a:solidFill>
                    <a:srgbClr val="4E0D00"/>
                  </a:solidFill>
                </a:ln>
              </p:spPr>
            </p:sp>
          </p:grpSp>
          <p:sp>
            <p:nvSpPr>
              <p:cNvPr id="203" name="TextBox 203"/>
              <p:cNvSpPr txBox="1"/>
              <p:nvPr/>
            </p:nvSpPr>
            <p:spPr>
              <a:xfrm>
                <a:off x="604838" y="5472112"/>
                <a:ext cx="514350"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毛利率提升</a:t>
                </a:r>
              </a:p>
            </p:txBody>
          </p:sp>
          <p:sp>
            <p:nvSpPr>
              <p:cNvPr id="204" name="TextBox 204"/>
              <p:cNvSpPr txBox="1"/>
              <p:nvPr/>
            </p:nvSpPr>
            <p:spPr>
              <a:xfrm>
                <a:off x="2243138" y="5484257"/>
                <a:ext cx="138803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单位成本下降率、产品结构优化占比</a:t>
                </a:r>
              </a:p>
            </p:txBody>
          </p:sp>
          <p:sp>
            <p:nvSpPr>
              <p:cNvPr id="205" name="TextBox 205"/>
              <p:cNvSpPr txBox="1"/>
              <p:nvPr/>
            </p:nvSpPr>
            <p:spPr>
              <a:xfrm>
                <a:off x="4529138" y="5484257"/>
                <a:ext cx="227544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供应链降本与替代 · 良率与品质提升 · 高毛利产品占比提升</a:t>
                </a:r>
              </a:p>
            </p:txBody>
          </p:sp>
          <p:sp>
            <p:nvSpPr>
              <p:cNvPr id="206" name="TextBox 206"/>
              <p:cNvSpPr txBox="1"/>
              <p:nvPr/>
            </p:nvSpPr>
            <p:spPr>
              <a:xfrm>
                <a:off x="8910638" y="5484257"/>
                <a:ext cx="115541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供应链中心 · 运营部 · 产品部</a:t>
                </a:r>
              </a:p>
            </p:txBody>
          </p:sp>
        </p:grpSp>
        <p:grpSp>
          <p:nvGrpSpPr>
            <p:cNvPr id="217" name="mt-expense"/>
            <p:cNvGrpSpPr/>
            <p:nvPr/>
          </p:nvGrpSpPr>
          <p:grpSpPr>
            <a:xfrm>
              <a:off x="228600" y="5734050"/>
              <a:ext cx="11734800" cy="457200"/>
              <a:chOff x="228600" y="5734050"/>
              <a:chExt cx="11734800" cy="457200"/>
            </a:xfrm>
          </p:grpSpPr>
          <p:sp>
            <p:nvSpPr>
              <p:cNvPr id="208" name="Rectangle 208"/>
              <p:cNvSpPr/>
              <p:nvPr/>
            </p:nvSpPr>
            <p:spPr>
              <a:xfrm>
                <a:off x="228600" y="5734050"/>
                <a:ext cx="11734800" cy="457200"/>
              </a:xfrm>
              <a:prstGeom prst="rect">
                <a:avLst/>
              </a:prstGeom>
              <a:solidFill>
                <a:srgbClr val="FFFFFF"/>
              </a:solidFill>
              <a:ln w="9525">
                <a:solidFill>
                  <a:srgbClr val="E2E8F2"/>
                </a:solidFill>
              </a:ln>
            </p:spPr>
          </p:sp>
          <p:sp>
            <p:nvSpPr>
              <p:cNvPr id="209" name="Rectangle 209"/>
              <p:cNvSpPr/>
              <p:nvPr/>
            </p:nvSpPr>
            <p:spPr>
              <a:xfrm>
                <a:off x="228600" y="5734050"/>
                <a:ext cx="1905000" cy="457200"/>
              </a:xfrm>
              <a:prstGeom prst="rect">
                <a:avLst/>
              </a:prstGeom>
              <a:solidFill>
                <a:srgbClr val="EFF3FA"/>
              </a:solidFill>
              <a:ln>
                <a:noFill/>
              </a:ln>
            </p:spPr>
          </p:sp>
          <p:grpSp>
            <p:nvGrpSpPr>
              <p:cNvPr id="212" name="Group 212"/>
              <p:cNvGrpSpPr/>
              <p:nvPr/>
            </p:nvGrpSpPr>
            <p:grpSpPr>
              <a:xfrm>
                <a:off x="406400" y="5911850"/>
                <a:ext cx="101600" cy="101600"/>
                <a:chOff x="406400" y="5911850"/>
                <a:chExt cx="101600" cy="101600"/>
              </a:xfrm>
            </p:grpSpPr>
            <p:sp>
              <p:nvSpPr>
                <p:cNvPr id="210" name="Freeform 210"/>
                <p:cNvSpPr/>
                <p:nvPr/>
              </p:nvSpPr>
              <p:spPr>
                <a:xfrm>
                  <a:off x="406400" y="5911850"/>
                  <a:ext cx="95250" cy="101600"/>
                </a:xfrm>
                <a:custGeom>
                  <a:avLst/>
                  <a:gdLst/>
                  <a:ahLst/>
                  <a:cxnLst/>
                  <a:rect l="l" t="t" r="r" b="b"/>
                  <a:pathLst>
                    <a:path w="95250" h="101600">
                      <a:moveTo>
                        <a:pt x="82550" y="25400"/>
                      </a:moveTo>
                      <a:lnTo>
                        <a:pt x="82550" y="6350"/>
                      </a:lnTo>
                      <a:cubicBezTo>
                        <a:pt x="82550" y="2843"/>
                        <a:pt x="79707" y="0"/>
                        <a:pt x="76200" y="0"/>
                      </a:cubicBezTo>
                      <a:lnTo>
                        <a:pt x="12700" y="0"/>
                      </a:lnTo>
                      <a:cubicBezTo>
                        <a:pt x="5686" y="0"/>
                        <a:pt x="0" y="5686"/>
                        <a:pt x="0" y="12700"/>
                      </a:cubicBezTo>
                      <a:cubicBezTo>
                        <a:pt x="0" y="19714"/>
                        <a:pt x="5686" y="25400"/>
                        <a:pt x="12700" y="25400"/>
                      </a:cubicBezTo>
                      <a:lnTo>
                        <a:pt x="88900" y="25400"/>
                      </a:lnTo>
                      <a:cubicBezTo>
                        <a:pt x="92407" y="25400"/>
                        <a:pt x="95250" y="28243"/>
                        <a:pt x="95250" y="31750"/>
                      </a:cubicBezTo>
                      <a:lnTo>
                        <a:pt x="95250" y="50800"/>
                      </a:lnTo>
                      <a:moveTo>
                        <a:pt x="95250" y="76200"/>
                      </a:moveTo>
                      <a:lnTo>
                        <a:pt x="95250" y="95250"/>
                      </a:lnTo>
                      <a:cubicBezTo>
                        <a:pt x="95250" y="98757"/>
                        <a:pt x="92407" y="101600"/>
                        <a:pt x="88900" y="101600"/>
                      </a:cubicBezTo>
                      <a:lnTo>
                        <a:pt x="12700" y="101600"/>
                      </a:lnTo>
                      <a:cubicBezTo>
                        <a:pt x="5686" y="101600"/>
                        <a:pt x="0" y="95914"/>
                        <a:pt x="0" y="88900"/>
                      </a:cubicBezTo>
                      <a:lnTo>
                        <a:pt x="0" y="12700"/>
                      </a:lnTo>
                    </a:path>
                  </a:pathLst>
                </a:custGeom>
                <a:noFill/>
                <a:ln w="12700">
                  <a:solidFill>
                    <a:srgbClr val="4E0D00"/>
                  </a:solidFill>
                </a:ln>
              </p:spPr>
            </p:sp>
            <p:sp>
              <p:nvSpPr>
                <p:cNvPr id="211" name="Freeform 211"/>
                <p:cNvSpPr/>
                <p:nvPr/>
              </p:nvSpPr>
              <p:spPr>
                <a:xfrm>
                  <a:off x="469900" y="5962650"/>
                  <a:ext cx="38100" cy="25400"/>
                </a:xfrm>
                <a:custGeom>
                  <a:avLst/>
                  <a:gdLst/>
                  <a:ahLst/>
                  <a:cxnLst/>
                  <a:rect l="l" t="t" r="r" b="b"/>
                  <a:pathLst>
                    <a:path w="38100" h="25400">
                      <a:moveTo>
                        <a:pt x="38100" y="0"/>
                      </a:moveTo>
                      <a:lnTo>
                        <a:pt x="38100" y="25400"/>
                      </a:lnTo>
                      <a:lnTo>
                        <a:pt x="12700" y="25400"/>
                      </a:lnTo>
                      <a:cubicBezTo>
                        <a:pt x="5686" y="25400"/>
                        <a:pt x="0" y="19714"/>
                        <a:pt x="0" y="12700"/>
                      </a:cubicBezTo>
                      <a:cubicBezTo>
                        <a:pt x="0" y="5686"/>
                        <a:pt x="5686" y="0"/>
                        <a:pt x="12700" y="0"/>
                      </a:cubicBezTo>
                      <a:lnTo>
                        <a:pt x="38100" y="0"/>
                      </a:lnTo>
                    </a:path>
                  </a:pathLst>
                </a:custGeom>
                <a:noFill/>
                <a:ln w="12700">
                  <a:solidFill>
                    <a:srgbClr val="4E0D00"/>
                  </a:solidFill>
                </a:ln>
              </p:spPr>
            </p:sp>
          </p:grpSp>
          <p:sp>
            <p:nvSpPr>
              <p:cNvPr id="213" name="TextBox 213"/>
              <p:cNvSpPr txBox="1"/>
              <p:nvPr/>
            </p:nvSpPr>
            <p:spPr>
              <a:xfrm>
                <a:off x="604838" y="5929312"/>
                <a:ext cx="514350"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费用率下降</a:t>
                </a:r>
              </a:p>
            </p:txBody>
          </p:sp>
          <p:sp>
            <p:nvSpPr>
              <p:cNvPr id="214" name="TextBox 214"/>
              <p:cNvSpPr txBox="1"/>
              <p:nvPr/>
            </p:nvSpPr>
            <p:spPr>
              <a:xfrm>
                <a:off x="2243138" y="5941457"/>
                <a:ext cx="1474191"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销售费用率、管理费用率、研发费用率</a:t>
                </a:r>
              </a:p>
            </p:txBody>
          </p:sp>
          <p:sp>
            <p:nvSpPr>
              <p:cNvPr id="215" name="TextBox 215"/>
              <p:cNvSpPr txBox="1"/>
              <p:nvPr/>
            </p:nvSpPr>
            <p:spPr>
              <a:xfrm>
                <a:off x="4529138" y="5941457"/>
                <a:ext cx="253391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预算精益化与零基评审 · 流程自动化与数字化降本 · 组织效率提升</a:t>
                </a:r>
              </a:p>
            </p:txBody>
          </p:sp>
          <p:sp>
            <p:nvSpPr>
              <p:cNvPr id="216" name="TextBox 216"/>
              <p:cNvSpPr txBox="1"/>
              <p:nvPr/>
            </p:nvSpPr>
            <p:spPr>
              <a:xfrm>
                <a:off x="8910638" y="5941457"/>
                <a:ext cx="1327724"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财务部 · 人力资源部 · 各业务部门</a:t>
                </a:r>
              </a:p>
            </p:txBody>
          </p:sp>
        </p:grpSp>
        <p:grpSp>
          <p:nvGrpSpPr>
            <p:cNvPr id="227" name="mt-roic"/>
            <p:cNvGrpSpPr/>
            <p:nvPr/>
          </p:nvGrpSpPr>
          <p:grpSpPr>
            <a:xfrm>
              <a:off x="228600" y="6191250"/>
              <a:ext cx="11734800" cy="457200"/>
              <a:chOff x="228600" y="6191250"/>
              <a:chExt cx="11734800" cy="457200"/>
            </a:xfrm>
          </p:grpSpPr>
          <p:sp>
            <p:nvSpPr>
              <p:cNvPr id="218" name="Rectangle 218"/>
              <p:cNvSpPr/>
              <p:nvPr/>
            </p:nvSpPr>
            <p:spPr>
              <a:xfrm>
                <a:off x="228600" y="6191250"/>
                <a:ext cx="11734800" cy="457200"/>
              </a:xfrm>
              <a:prstGeom prst="rect">
                <a:avLst/>
              </a:prstGeom>
              <a:solidFill>
                <a:srgbClr val="F7F9FC"/>
              </a:solidFill>
              <a:ln w="9525">
                <a:solidFill>
                  <a:srgbClr val="E2E8F2"/>
                </a:solidFill>
              </a:ln>
            </p:spPr>
          </p:sp>
          <p:sp>
            <p:nvSpPr>
              <p:cNvPr id="219" name="Rectangle 219"/>
              <p:cNvSpPr/>
              <p:nvPr/>
            </p:nvSpPr>
            <p:spPr>
              <a:xfrm>
                <a:off x="228600" y="6191250"/>
                <a:ext cx="1905000" cy="457200"/>
              </a:xfrm>
              <a:prstGeom prst="rect">
                <a:avLst/>
              </a:prstGeom>
              <a:solidFill>
                <a:srgbClr val="EFF3FA"/>
              </a:solidFill>
              <a:ln>
                <a:noFill/>
              </a:ln>
            </p:spPr>
          </p:sp>
          <p:grpSp>
            <p:nvGrpSpPr>
              <p:cNvPr id="222" name="Group 222"/>
              <p:cNvGrpSpPr/>
              <p:nvPr/>
            </p:nvGrpSpPr>
            <p:grpSpPr>
              <a:xfrm>
                <a:off x="406400" y="6366600"/>
                <a:ext cx="101600" cy="106500"/>
                <a:chOff x="406400" y="6366600"/>
                <a:chExt cx="101600" cy="106500"/>
              </a:xfrm>
            </p:grpSpPr>
            <p:sp>
              <p:nvSpPr>
                <p:cNvPr id="220" name="Freeform 220"/>
                <p:cNvSpPr/>
                <p:nvPr/>
              </p:nvSpPr>
              <p:spPr>
                <a:xfrm>
                  <a:off x="406400" y="6366600"/>
                  <a:ext cx="101600" cy="46900"/>
                </a:xfrm>
                <a:custGeom>
                  <a:avLst/>
                  <a:gdLst/>
                  <a:ahLst/>
                  <a:cxnLst/>
                  <a:rect l="l" t="t" r="r" b="b"/>
                  <a:pathLst>
                    <a:path w="101600" h="46900">
                      <a:moveTo>
                        <a:pt x="101600" y="46900"/>
                      </a:moveTo>
                      <a:cubicBezTo>
                        <a:pt x="98408" y="23929"/>
                        <a:pt x="80238" y="5936"/>
                        <a:pt x="57237" y="2968"/>
                      </a:cubicBezTo>
                      <a:cubicBezTo>
                        <a:pt x="34236" y="0"/>
                        <a:pt x="12094" y="12792"/>
                        <a:pt x="3175" y="34200"/>
                      </a:cubicBezTo>
                      <a:moveTo>
                        <a:pt x="0" y="8800"/>
                      </a:moveTo>
                      <a:lnTo>
                        <a:pt x="0" y="34200"/>
                      </a:lnTo>
                      <a:lnTo>
                        <a:pt x="25400" y="34200"/>
                      </a:lnTo>
                    </a:path>
                  </a:pathLst>
                </a:custGeom>
                <a:noFill/>
                <a:ln w="12700">
                  <a:solidFill>
                    <a:srgbClr val="4E0D00"/>
                  </a:solidFill>
                </a:ln>
              </p:spPr>
            </p:sp>
            <p:sp>
              <p:nvSpPr>
                <p:cNvPr id="221" name="Freeform 221"/>
                <p:cNvSpPr/>
                <p:nvPr/>
              </p:nvSpPr>
              <p:spPr>
                <a:xfrm>
                  <a:off x="406400" y="6426200"/>
                  <a:ext cx="101600" cy="46900"/>
                </a:xfrm>
                <a:custGeom>
                  <a:avLst/>
                  <a:gdLst/>
                  <a:ahLst/>
                  <a:cxnLst/>
                  <a:rect l="l" t="t" r="r" b="b"/>
                  <a:pathLst>
                    <a:path w="101600" h="46900">
                      <a:moveTo>
                        <a:pt x="0" y="0"/>
                      </a:moveTo>
                      <a:cubicBezTo>
                        <a:pt x="3192" y="22971"/>
                        <a:pt x="21362" y="40964"/>
                        <a:pt x="44363" y="43932"/>
                      </a:cubicBezTo>
                      <a:cubicBezTo>
                        <a:pt x="67364" y="46900"/>
                        <a:pt x="89506" y="34108"/>
                        <a:pt x="98425" y="12700"/>
                      </a:cubicBezTo>
                      <a:moveTo>
                        <a:pt x="101600" y="38100"/>
                      </a:moveTo>
                      <a:lnTo>
                        <a:pt x="101600" y="12700"/>
                      </a:lnTo>
                      <a:lnTo>
                        <a:pt x="76200" y="12700"/>
                      </a:lnTo>
                    </a:path>
                  </a:pathLst>
                </a:custGeom>
                <a:noFill/>
                <a:ln w="12700">
                  <a:solidFill>
                    <a:srgbClr val="4E0D00"/>
                  </a:solidFill>
                </a:ln>
              </p:spPr>
            </p:sp>
          </p:grpSp>
          <p:sp>
            <p:nvSpPr>
              <p:cNvPr id="223" name="TextBox 223"/>
              <p:cNvSpPr txBox="1"/>
              <p:nvPr/>
            </p:nvSpPr>
            <p:spPr>
              <a:xfrm>
                <a:off x="604838" y="6386512"/>
                <a:ext cx="452285" cy="147638"/>
              </a:xfrm>
              <a:prstGeom prst="rect">
                <a:avLst/>
              </a:prstGeom>
              <a:noFill/>
              <a:ln>
                <a:noFill/>
              </a:ln>
            </p:spPr>
            <p:txBody>
              <a:bodyPr wrap="none" lIns="0" tIns="0" rIns="0" bIns="0" anchor="t" anchorCtr="0">
                <a:spAutoFit/>
              </a:bodyPr>
              <a:lstStyle/>
              <a:p>
                <a:pPr algn="l"/>
                <a:r>
                  <a:rPr lang="zh-CN" sz="750" b="1" dirty="0">
                    <a:solidFill>
                      <a:srgbClr val="4E0D00"/>
                    </a:solidFill>
                    <a:latin typeface="+mn-lt"/>
                    <a:ea typeface="+mn-ea"/>
                    <a:cs typeface="+mn-cs"/>
                  </a:rPr>
                  <a:t>ROIC提升</a:t>
                </a:r>
              </a:p>
            </p:txBody>
          </p:sp>
          <p:sp>
            <p:nvSpPr>
              <p:cNvPr id="224" name="TextBox 224"/>
              <p:cNvSpPr txBox="1"/>
              <p:nvPr/>
            </p:nvSpPr>
            <p:spPr>
              <a:xfrm>
                <a:off x="2243138" y="6398657"/>
                <a:ext cx="1818818"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库存周转天数、应收周转天数、投入资本周转率</a:t>
                </a:r>
              </a:p>
            </p:txBody>
          </p:sp>
          <p:sp>
            <p:nvSpPr>
              <p:cNvPr id="225" name="TextBox 225"/>
              <p:cNvSpPr txBox="1"/>
              <p:nvPr/>
            </p:nvSpPr>
            <p:spPr>
              <a:xfrm>
                <a:off x="4529138" y="6398657"/>
                <a:ext cx="258008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S&amp;OP与需求预测 · 库存结构优化与交期缩短 · 信用政策与回款提速</a:t>
                </a:r>
              </a:p>
            </p:txBody>
          </p:sp>
          <p:sp>
            <p:nvSpPr>
              <p:cNvPr id="226" name="TextBox 226"/>
              <p:cNvSpPr txBox="1"/>
              <p:nvPr/>
            </p:nvSpPr>
            <p:spPr>
              <a:xfrm>
                <a:off x="8910638" y="6398657"/>
                <a:ext cx="115541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供应链中心 · 财务部 · 销售部</a:t>
                </a:r>
              </a:p>
            </p:txBody>
          </p:sp>
        </p:grpSp>
      </p:gr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706374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变革影响模型｜重新设计促进行为改变的组织环境</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83" name="change-wheel"/>
          <p:cNvGrpSpPr/>
          <p:nvPr/>
        </p:nvGrpSpPr>
        <p:grpSpPr>
          <a:xfrm>
            <a:off x="228600" y="781050"/>
            <a:ext cx="5715000" cy="3238500"/>
            <a:chOff x="228600" y="781050"/>
            <a:chExt cx="5715000" cy="3238500"/>
          </a:xfrm>
        </p:grpSpPr>
        <p:grpSp>
          <p:nvGrpSpPr>
            <p:cNvPr id="18" name="q1-modeling"/>
            <p:cNvGrpSpPr/>
            <p:nvPr/>
          </p:nvGrpSpPr>
          <p:grpSpPr>
            <a:xfrm>
              <a:off x="228600" y="781050"/>
              <a:ext cx="2552700" cy="1562100"/>
              <a:chOff x="228600" y="781050"/>
              <a:chExt cx="2552700" cy="1562100"/>
            </a:xfrm>
          </p:grpSpPr>
          <p:sp>
            <p:nvSpPr>
              <p:cNvPr id="6" name="Rectangle 6"/>
              <p:cNvSpPr/>
              <p:nvPr/>
            </p:nvSpPr>
            <p:spPr>
              <a:xfrm>
                <a:off x="228600" y="781050"/>
                <a:ext cx="2552700" cy="1562100"/>
              </a:xfrm>
              <a:prstGeom prst="rect">
                <a:avLst/>
              </a:prstGeom>
              <a:solidFill>
                <a:srgbClr val="FFFFFF"/>
              </a:solidFill>
              <a:ln w="9525">
                <a:solidFill>
                  <a:srgbClr val="C7D2E4"/>
                </a:solidFill>
              </a:ln>
            </p:spPr>
          </p:sp>
          <p:sp>
            <p:nvSpPr>
              <p:cNvPr id="7" name="Rectangle 7"/>
              <p:cNvSpPr/>
              <p:nvPr/>
            </p:nvSpPr>
            <p:spPr>
              <a:xfrm>
                <a:off x="228600" y="781050"/>
                <a:ext cx="2552700" cy="209550"/>
              </a:xfrm>
              <a:prstGeom prst="rect">
                <a:avLst/>
              </a:prstGeom>
              <a:solidFill>
                <a:srgbClr val="4E0D00"/>
              </a:solidFill>
              <a:ln>
                <a:noFill/>
              </a:ln>
            </p:spPr>
          </p:sp>
          <p:sp>
            <p:nvSpPr>
              <p:cNvPr id="8" name="TextBox 8"/>
              <p:cNvSpPr txBox="1"/>
              <p:nvPr/>
            </p:nvSpPr>
            <p:spPr>
              <a:xfrm>
                <a:off x="300038" y="838914"/>
                <a:ext cx="1341431"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1 领导示范 Role Modeling​</a:t>
                </a:r>
              </a:p>
            </p:txBody>
          </p:sp>
          <p:sp>
            <p:nvSpPr>
              <p:cNvPr id="9" name="TextBox 9"/>
              <p:cNvSpPr txBox="1"/>
              <p:nvPr/>
            </p:nvSpPr>
            <p:spPr>
              <a:xfrm>
                <a:off x="300038" y="1036082"/>
                <a:ext cx="354152"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诊断问题</a:t>
                </a:r>
              </a:p>
            </p:txBody>
          </p:sp>
          <p:sp>
            <p:nvSpPr>
              <p:cNvPr id="10" name="TextBox 10"/>
              <p:cNvSpPr txBox="1"/>
              <p:nvPr/>
            </p:nvSpPr>
            <p:spPr>
              <a:xfrm>
                <a:off x="300038" y="1177528"/>
                <a:ext cx="18075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① 领导者是否在关键场景中以身作则，展示期望行为？</a:t>
                </a:r>
              </a:p>
            </p:txBody>
          </p:sp>
          <p:sp>
            <p:nvSpPr>
              <p:cNvPr id="11" name="TextBox 11"/>
              <p:cNvSpPr txBox="1"/>
              <p:nvPr/>
            </p:nvSpPr>
            <p:spPr>
              <a:xfrm>
                <a:off x="300038" y="1291828"/>
                <a:ext cx="135518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② 领导者是否持续传递一致的变革信号？</a:t>
                </a:r>
              </a:p>
            </p:txBody>
          </p:sp>
          <p:sp>
            <p:nvSpPr>
              <p:cNvPr id="12" name="TextBox 12"/>
              <p:cNvSpPr txBox="1"/>
              <p:nvPr/>
            </p:nvSpPr>
            <p:spPr>
              <a:xfrm>
                <a:off x="300038" y="1406128"/>
                <a:ext cx="135518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③ 领导者是否长期持续投入并认可改善？</a:t>
                </a:r>
              </a:p>
            </p:txBody>
          </p:sp>
          <p:sp>
            <p:nvSpPr>
              <p:cNvPr id="13" name="Line 13"/>
              <p:cNvSpPr/>
              <p:nvPr/>
            </p:nvSpPr>
            <p:spPr>
              <a:xfrm>
                <a:off x="304800" y="1552575"/>
                <a:ext cx="2400300" cy="9525"/>
              </a:xfrm>
              <a:custGeom>
                <a:avLst/>
                <a:gdLst/>
                <a:ahLst/>
                <a:cxnLst/>
                <a:rect l="l" t="t" r="r" b="b"/>
                <a:pathLst>
                  <a:path w="2400300" h="9525">
                    <a:moveTo>
                      <a:pt x="0" y="0"/>
                    </a:moveTo>
                    <a:lnTo>
                      <a:pt x="2400300" y="0"/>
                    </a:lnTo>
                  </a:path>
                </a:pathLst>
              </a:custGeom>
              <a:noFill/>
              <a:ln w="9525">
                <a:solidFill>
                  <a:srgbClr val="E2E8F2"/>
                </a:solidFill>
              </a:ln>
            </p:spPr>
          </p:sp>
          <p:sp>
            <p:nvSpPr>
              <p:cNvPr id="14" name="TextBox 14"/>
              <p:cNvSpPr txBox="1"/>
              <p:nvPr/>
            </p:nvSpPr>
            <p:spPr>
              <a:xfrm>
                <a:off x="300038" y="1626632"/>
                <a:ext cx="698779"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干预举措（示例）</a:t>
                </a:r>
              </a:p>
            </p:txBody>
          </p:sp>
          <p:sp>
            <p:nvSpPr>
              <p:cNvPr id="15" name="TextBox 15"/>
              <p:cNvSpPr txBox="1"/>
              <p:nvPr/>
            </p:nvSpPr>
            <p:spPr>
              <a:xfrm>
                <a:off x="300038" y="1768078"/>
                <a:ext cx="135518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① 领导承诺与公开宣示，明确变革优先级</a:t>
                </a:r>
              </a:p>
            </p:txBody>
          </p:sp>
          <p:sp>
            <p:nvSpPr>
              <p:cNvPr id="16" name="TextBox 16"/>
              <p:cNvSpPr txBox="1"/>
              <p:nvPr/>
            </p:nvSpPr>
            <p:spPr>
              <a:xfrm>
                <a:off x="300038" y="1882378"/>
                <a:ext cx="97825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② 将干部选拔与示范行动挂钩</a:t>
                </a:r>
              </a:p>
            </p:txBody>
          </p:sp>
          <p:sp>
            <p:nvSpPr>
              <p:cNvPr id="17" name="TextBox 17"/>
              <p:cNvSpPr txBox="1"/>
              <p:nvPr/>
            </p:nvSpPr>
            <p:spPr>
              <a:xfrm>
                <a:off x="300038" y="1996678"/>
                <a:ext cx="135518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③ 建立定期巡视机制：走访、复盘、表彰</a:t>
                </a:r>
              </a:p>
            </p:txBody>
          </p:sp>
        </p:grpSp>
        <p:grpSp>
          <p:nvGrpSpPr>
            <p:cNvPr id="31" name="q2-conviction"/>
            <p:cNvGrpSpPr/>
            <p:nvPr/>
          </p:nvGrpSpPr>
          <p:grpSpPr>
            <a:xfrm>
              <a:off x="3390900" y="781050"/>
              <a:ext cx="2552700" cy="1562100"/>
              <a:chOff x="3390900" y="781050"/>
              <a:chExt cx="2552700" cy="1562100"/>
            </a:xfrm>
          </p:grpSpPr>
          <p:sp>
            <p:nvSpPr>
              <p:cNvPr id="19" name="Rectangle 19"/>
              <p:cNvSpPr/>
              <p:nvPr/>
            </p:nvSpPr>
            <p:spPr>
              <a:xfrm>
                <a:off x="3390900" y="781050"/>
                <a:ext cx="2552700" cy="1562100"/>
              </a:xfrm>
              <a:prstGeom prst="rect">
                <a:avLst/>
              </a:prstGeom>
              <a:solidFill>
                <a:srgbClr val="FFFFFF"/>
              </a:solidFill>
              <a:ln w="9525">
                <a:solidFill>
                  <a:srgbClr val="C7D2E4"/>
                </a:solidFill>
              </a:ln>
            </p:spPr>
          </p:sp>
          <p:sp>
            <p:nvSpPr>
              <p:cNvPr id="20" name="Rectangle 20"/>
              <p:cNvSpPr/>
              <p:nvPr/>
            </p:nvSpPr>
            <p:spPr>
              <a:xfrm>
                <a:off x="3390900" y="781050"/>
                <a:ext cx="2552700" cy="209550"/>
              </a:xfrm>
              <a:prstGeom prst="rect">
                <a:avLst/>
              </a:prstGeom>
              <a:solidFill>
                <a:srgbClr val="4E0D00"/>
              </a:solidFill>
              <a:ln>
                <a:noFill/>
              </a:ln>
            </p:spPr>
          </p:sp>
          <p:sp>
            <p:nvSpPr>
              <p:cNvPr id="21" name="TextBox 21"/>
              <p:cNvSpPr txBox="1"/>
              <p:nvPr/>
            </p:nvSpPr>
            <p:spPr>
              <a:xfrm>
                <a:off x="3462338" y="838914"/>
                <a:ext cx="2089657"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2 理解认同 Understanding &amp; Conviction​</a:t>
                </a:r>
              </a:p>
            </p:txBody>
          </p:sp>
          <p:sp>
            <p:nvSpPr>
              <p:cNvPr id="22" name="TextBox 22"/>
              <p:cNvSpPr txBox="1"/>
              <p:nvPr/>
            </p:nvSpPr>
            <p:spPr>
              <a:xfrm>
                <a:off x="3462338" y="1036082"/>
                <a:ext cx="354152"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诊断问题</a:t>
                </a:r>
              </a:p>
            </p:txBody>
          </p:sp>
          <p:sp>
            <p:nvSpPr>
              <p:cNvPr id="23" name="TextBox 23"/>
              <p:cNvSpPr txBox="1"/>
              <p:nvPr/>
            </p:nvSpPr>
            <p:spPr>
              <a:xfrm>
                <a:off x="3462338" y="1177528"/>
                <a:ext cx="1279799"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① 员工是否理解变革的必要性与价值？</a:t>
                </a:r>
              </a:p>
            </p:txBody>
          </p:sp>
          <p:sp>
            <p:nvSpPr>
              <p:cNvPr id="24" name="TextBox 24"/>
              <p:cNvSpPr txBox="1"/>
              <p:nvPr/>
            </p:nvSpPr>
            <p:spPr>
              <a:xfrm>
                <a:off x="3462338" y="1291828"/>
                <a:ext cx="150596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② 员工是否认同变革方向及其对自身的意义？</a:t>
                </a:r>
              </a:p>
            </p:txBody>
          </p:sp>
          <p:sp>
            <p:nvSpPr>
              <p:cNvPr id="25" name="TextBox 25"/>
              <p:cNvSpPr txBox="1"/>
              <p:nvPr/>
            </p:nvSpPr>
            <p:spPr>
              <a:xfrm>
                <a:off x="3462338" y="1406128"/>
                <a:ext cx="150596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③ 信息是否清晰、统一，并能触达关键人群？</a:t>
                </a:r>
              </a:p>
            </p:txBody>
          </p:sp>
          <p:sp>
            <p:nvSpPr>
              <p:cNvPr id="26" name="Line 26"/>
              <p:cNvSpPr/>
              <p:nvPr/>
            </p:nvSpPr>
            <p:spPr>
              <a:xfrm>
                <a:off x="3467100" y="1552575"/>
                <a:ext cx="2400300" cy="9525"/>
              </a:xfrm>
              <a:custGeom>
                <a:avLst/>
                <a:gdLst/>
                <a:ahLst/>
                <a:cxnLst/>
                <a:rect l="l" t="t" r="r" b="b"/>
                <a:pathLst>
                  <a:path w="2400300" h="9525">
                    <a:moveTo>
                      <a:pt x="0" y="0"/>
                    </a:moveTo>
                    <a:lnTo>
                      <a:pt x="2400300" y="0"/>
                    </a:lnTo>
                  </a:path>
                </a:pathLst>
              </a:custGeom>
              <a:noFill/>
              <a:ln w="9525">
                <a:solidFill>
                  <a:srgbClr val="E2E8F2"/>
                </a:solidFill>
              </a:ln>
            </p:spPr>
          </p:sp>
          <p:sp>
            <p:nvSpPr>
              <p:cNvPr id="27" name="TextBox 27"/>
              <p:cNvSpPr txBox="1"/>
              <p:nvPr/>
            </p:nvSpPr>
            <p:spPr>
              <a:xfrm>
                <a:off x="3462338" y="1626632"/>
                <a:ext cx="698779"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干预举措（示例）</a:t>
                </a:r>
              </a:p>
            </p:txBody>
          </p:sp>
          <p:sp>
            <p:nvSpPr>
              <p:cNvPr id="28" name="TextBox 28"/>
              <p:cNvSpPr txBox="1"/>
              <p:nvPr/>
            </p:nvSpPr>
            <p:spPr>
              <a:xfrm>
                <a:off x="3462338" y="1768078"/>
                <a:ext cx="128733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① 讲清“为什么变革”：价值主张与案例</a:t>
                </a:r>
              </a:p>
            </p:txBody>
          </p:sp>
          <p:sp>
            <p:nvSpPr>
              <p:cNvPr id="29" name="TextBox 29"/>
              <p:cNvSpPr txBox="1"/>
              <p:nvPr/>
            </p:nvSpPr>
            <p:spPr>
              <a:xfrm>
                <a:off x="3462338" y="1882378"/>
                <a:ext cx="1204412"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② 多渠道沟通与双向对话，回应疑虑</a:t>
                </a:r>
              </a:p>
            </p:txBody>
          </p:sp>
          <p:sp>
            <p:nvSpPr>
              <p:cNvPr id="30" name="TextBox 30"/>
              <p:cNvSpPr txBox="1"/>
              <p:nvPr/>
            </p:nvSpPr>
            <p:spPr>
              <a:xfrm>
                <a:off x="3462338" y="1996678"/>
                <a:ext cx="112902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③ 建立个人层面的变革触动与共识</a:t>
                </a:r>
              </a:p>
            </p:txBody>
          </p:sp>
        </p:grpSp>
        <p:grpSp>
          <p:nvGrpSpPr>
            <p:cNvPr id="44" name="q3-skills"/>
            <p:cNvGrpSpPr/>
            <p:nvPr/>
          </p:nvGrpSpPr>
          <p:grpSpPr>
            <a:xfrm>
              <a:off x="228600" y="2457450"/>
              <a:ext cx="2552700" cy="1562100"/>
              <a:chOff x="228600" y="2457450"/>
              <a:chExt cx="2552700" cy="1562100"/>
            </a:xfrm>
          </p:grpSpPr>
          <p:sp>
            <p:nvSpPr>
              <p:cNvPr id="32" name="Rectangle 32"/>
              <p:cNvSpPr/>
              <p:nvPr/>
            </p:nvSpPr>
            <p:spPr>
              <a:xfrm>
                <a:off x="228600" y="2457450"/>
                <a:ext cx="2552700" cy="1562100"/>
              </a:xfrm>
              <a:prstGeom prst="rect">
                <a:avLst/>
              </a:prstGeom>
              <a:solidFill>
                <a:srgbClr val="FFFFFF"/>
              </a:solidFill>
              <a:ln w="9525">
                <a:solidFill>
                  <a:srgbClr val="C7D2E4"/>
                </a:solidFill>
              </a:ln>
            </p:spPr>
          </p:sp>
          <p:sp>
            <p:nvSpPr>
              <p:cNvPr id="33" name="Rectangle 33"/>
              <p:cNvSpPr/>
              <p:nvPr/>
            </p:nvSpPr>
            <p:spPr>
              <a:xfrm>
                <a:off x="228600" y="2457450"/>
                <a:ext cx="2552700" cy="209550"/>
              </a:xfrm>
              <a:prstGeom prst="rect">
                <a:avLst/>
              </a:prstGeom>
              <a:solidFill>
                <a:srgbClr val="4E0D00"/>
              </a:solidFill>
              <a:ln>
                <a:noFill/>
              </a:ln>
            </p:spPr>
          </p:sp>
          <p:sp>
            <p:nvSpPr>
              <p:cNvPr id="34" name="TextBox 34"/>
              <p:cNvSpPr txBox="1"/>
              <p:nvPr/>
            </p:nvSpPr>
            <p:spPr>
              <a:xfrm>
                <a:off x="300038" y="2515314"/>
                <a:ext cx="1386519"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3 能力具备 Talent &amp; Skills​</a:t>
                </a:r>
              </a:p>
            </p:txBody>
          </p:sp>
          <p:sp>
            <p:nvSpPr>
              <p:cNvPr id="35" name="TextBox 35"/>
              <p:cNvSpPr txBox="1"/>
              <p:nvPr/>
            </p:nvSpPr>
            <p:spPr>
              <a:xfrm>
                <a:off x="300038" y="2712482"/>
                <a:ext cx="354152"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诊断问题</a:t>
                </a:r>
              </a:p>
            </p:txBody>
          </p:sp>
          <p:sp>
            <p:nvSpPr>
              <p:cNvPr id="36" name="TextBox 36"/>
              <p:cNvSpPr txBox="1"/>
              <p:nvPr/>
            </p:nvSpPr>
            <p:spPr>
              <a:xfrm>
                <a:off x="300038" y="2853928"/>
                <a:ext cx="135518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① 员工是否具备所需知识、技能与工具？</a:t>
                </a:r>
              </a:p>
            </p:txBody>
          </p:sp>
          <p:sp>
            <p:nvSpPr>
              <p:cNvPr id="37" name="TextBox 37"/>
              <p:cNvSpPr txBox="1"/>
              <p:nvPr/>
            </p:nvSpPr>
            <p:spPr>
              <a:xfrm>
                <a:off x="300038" y="2968228"/>
                <a:ext cx="105363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② 能力差距的关键在哪些环节？</a:t>
                </a:r>
              </a:p>
            </p:txBody>
          </p:sp>
          <p:sp>
            <p:nvSpPr>
              <p:cNvPr id="38" name="TextBox 38"/>
              <p:cNvSpPr txBox="1"/>
              <p:nvPr/>
            </p:nvSpPr>
            <p:spPr>
              <a:xfrm>
                <a:off x="300038" y="3082528"/>
                <a:ext cx="105363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③ 是否有实践机会与支持机制？</a:t>
                </a:r>
              </a:p>
            </p:txBody>
          </p:sp>
          <p:sp>
            <p:nvSpPr>
              <p:cNvPr id="39" name="Line 39"/>
              <p:cNvSpPr/>
              <p:nvPr/>
            </p:nvSpPr>
            <p:spPr>
              <a:xfrm>
                <a:off x="304800" y="3228975"/>
                <a:ext cx="2400300" cy="9525"/>
              </a:xfrm>
              <a:custGeom>
                <a:avLst/>
                <a:gdLst/>
                <a:ahLst/>
                <a:cxnLst/>
                <a:rect l="l" t="t" r="r" b="b"/>
                <a:pathLst>
                  <a:path w="2400300" h="9525">
                    <a:moveTo>
                      <a:pt x="0" y="0"/>
                    </a:moveTo>
                    <a:lnTo>
                      <a:pt x="2400300" y="0"/>
                    </a:lnTo>
                  </a:path>
                </a:pathLst>
              </a:custGeom>
              <a:noFill/>
              <a:ln w="9525">
                <a:solidFill>
                  <a:srgbClr val="E2E8F2"/>
                </a:solidFill>
              </a:ln>
            </p:spPr>
          </p:sp>
          <p:sp>
            <p:nvSpPr>
              <p:cNvPr id="40" name="TextBox 40"/>
              <p:cNvSpPr txBox="1"/>
              <p:nvPr/>
            </p:nvSpPr>
            <p:spPr>
              <a:xfrm>
                <a:off x="300038" y="3303032"/>
                <a:ext cx="698779"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干预举措（示例）</a:t>
                </a:r>
              </a:p>
            </p:txBody>
          </p:sp>
          <p:sp>
            <p:nvSpPr>
              <p:cNvPr id="41" name="TextBox 41"/>
              <p:cNvSpPr txBox="1"/>
              <p:nvPr/>
            </p:nvSpPr>
            <p:spPr>
              <a:xfrm>
                <a:off x="300038" y="3444478"/>
                <a:ext cx="105363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① 能力差距评估与学习路径设计</a:t>
                </a:r>
              </a:p>
            </p:txBody>
          </p:sp>
          <p:sp>
            <p:nvSpPr>
              <p:cNvPr id="42" name="TextBox 42"/>
              <p:cNvSpPr txBox="1"/>
              <p:nvPr/>
            </p:nvSpPr>
            <p:spPr>
              <a:xfrm>
                <a:off x="300038" y="3558778"/>
                <a:ext cx="105363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② 培训、辅导、轮岗与实战演练</a:t>
                </a:r>
              </a:p>
            </p:txBody>
          </p:sp>
          <p:sp>
            <p:nvSpPr>
              <p:cNvPr id="43" name="TextBox 43"/>
              <p:cNvSpPr txBox="1"/>
              <p:nvPr/>
            </p:nvSpPr>
            <p:spPr>
              <a:xfrm>
                <a:off x="300038" y="3673078"/>
                <a:ext cx="150596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③ 提供工具、模板与即时支持（教练、社区）</a:t>
                </a:r>
              </a:p>
            </p:txBody>
          </p:sp>
        </p:grpSp>
        <p:grpSp>
          <p:nvGrpSpPr>
            <p:cNvPr id="57" name="q4-mechanisms"/>
            <p:cNvGrpSpPr/>
            <p:nvPr/>
          </p:nvGrpSpPr>
          <p:grpSpPr>
            <a:xfrm>
              <a:off x="3390900" y="2457450"/>
              <a:ext cx="2552700" cy="1562100"/>
              <a:chOff x="3390900" y="2457450"/>
              <a:chExt cx="2552700" cy="1562100"/>
            </a:xfrm>
          </p:grpSpPr>
          <p:sp>
            <p:nvSpPr>
              <p:cNvPr id="45" name="Rectangle 45"/>
              <p:cNvSpPr/>
              <p:nvPr/>
            </p:nvSpPr>
            <p:spPr>
              <a:xfrm>
                <a:off x="3390900" y="2457450"/>
                <a:ext cx="2552700" cy="1562100"/>
              </a:xfrm>
              <a:prstGeom prst="rect">
                <a:avLst/>
              </a:prstGeom>
              <a:solidFill>
                <a:srgbClr val="FFFFFF"/>
              </a:solidFill>
              <a:ln w="9525">
                <a:solidFill>
                  <a:srgbClr val="C7D2E4"/>
                </a:solidFill>
              </a:ln>
            </p:spPr>
          </p:sp>
          <p:sp>
            <p:nvSpPr>
              <p:cNvPr id="46" name="Rectangle 46"/>
              <p:cNvSpPr/>
              <p:nvPr/>
            </p:nvSpPr>
            <p:spPr>
              <a:xfrm>
                <a:off x="3390900" y="2457450"/>
                <a:ext cx="2552700" cy="209550"/>
              </a:xfrm>
              <a:prstGeom prst="rect">
                <a:avLst/>
              </a:prstGeom>
              <a:solidFill>
                <a:srgbClr val="4E0D00"/>
              </a:solidFill>
              <a:ln>
                <a:noFill/>
              </a:ln>
            </p:spPr>
          </p:sp>
          <p:sp>
            <p:nvSpPr>
              <p:cNvPr id="47" name="TextBox 47"/>
              <p:cNvSpPr txBox="1"/>
              <p:nvPr/>
            </p:nvSpPr>
            <p:spPr>
              <a:xfrm>
                <a:off x="3462338" y="2515314"/>
                <a:ext cx="1660038" cy="154781"/>
              </a:xfrm>
              <a:prstGeom prst="rect">
                <a:avLst/>
              </a:prstGeom>
              <a:noFill/>
              <a:ln>
                <a:noFill/>
              </a:ln>
            </p:spPr>
            <p:txBody>
              <a:bodyPr wrap="none" lIns="0" tIns="0" rIns="0" bIns="0" anchor="t" anchorCtr="0">
                <a:spAutoFit/>
              </a:bodyPr>
              <a:lstStyle/>
              <a:p>
                <a:pPr algn="l"/>
                <a:r>
                  <a:rPr lang="zh-CN" sz="790" b="1" dirty="0">
                    <a:solidFill>
                      <a:srgbClr val="FFFFFF"/>
                    </a:solidFill>
                    <a:latin typeface="+mn-lt"/>
                    <a:ea typeface="+mn-ea"/>
                    <a:cs typeface="+mn-cs"/>
                  </a:rPr>
                  <a:t>4 机制强化 Formal Mechanisms​</a:t>
                </a:r>
              </a:p>
            </p:txBody>
          </p:sp>
          <p:sp>
            <p:nvSpPr>
              <p:cNvPr id="48" name="TextBox 48"/>
              <p:cNvSpPr txBox="1"/>
              <p:nvPr/>
            </p:nvSpPr>
            <p:spPr>
              <a:xfrm>
                <a:off x="3462338" y="2712482"/>
                <a:ext cx="354152"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诊断问题</a:t>
                </a:r>
              </a:p>
            </p:txBody>
          </p:sp>
          <p:sp>
            <p:nvSpPr>
              <p:cNvPr id="49" name="TextBox 49"/>
              <p:cNvSpPr txBox="1"/>
              <p:nvPr/>
            </p:nvSpPr>
            <p:spPr>
              <a:xfrm>
                <a:off x="3462338" y="2853928"/>
                <a:ext cx="1430574"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① 现有制度、流程与资源是否支持新行为？</a:t>
                </a:r>
              </a:p>
            </p:txBody>
          </p:sp>
          <p:sp>
            <p:nvSpPr>
              <p:cNvPr id="50" name="TextBox 50"/>
              <p:cNvSpPr txBox="1"/>
              <p:nvPr/>
            </p:nvSpPr>
            <p:spPr>
              <a:xfrm>
                <a:off x="3462338" y="2968228"/>
                <a:ext cx="112902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② 激励与绩效考核是否保持一致？</a:t>
                </a:r>
              </a:p>
            </p:txBody>
          </p:sp>
          <p:sp>
            <p:nvSpPr>
              <p:cNvPr id="51" name="TextBox 51"/>
              <p:cNvSpPr txBox="1"/>
              <p:nvPr/>
            </p:nvSpPr>
            <p:spPr>
              <a:xfrm>
                <a:off x="3462338" y="3082528"/>
                <a:ext cx="1279799"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③ 不相容的机制是否会削弱变革努力？</a:t>
                </a:r>
              </a:p>
            </p:txBody>
          </p:sp>
          <p:sp>
            <p:nvSpPr>
              <p:cNvPr id="52" name="Line 52"/>
              <p:cNvSpPr/>
              <p:nvPr/>
            </p:nvSpPr>
            <p:spPr>
              <a:xfrm>
                <a:off x="3467100" y="3228975"/>
                <a:ext cx="2400300" cy="9525"/>
              </a:xfrm>
              <a:custGeom>
                <a:avLst/>
                <a:gdLst/>
                <a:ahLst/>
                <a:cxnLst/>
                <a:rect l="l" t="t" r="r" b="b"/>
                <a:pathLst>
                  <a:path w="2400300" h="9525">
                    <a:moveTo>
                      <a:pt x="0" y="0"/>
                    </a:moveTo>
                    <a:lnTo>
                      <a:pt x="2400300" y="0"/>
                    </a:lnTo>
                  </a:path>
                </a:pathLst>
              </a:custGeom>
              <a:noFill/>
              <a:ln w="9525">
                <a:solidFill>
                  <a:srgbClr val="E2E8F2"/>
                </a:solidFill>
              </a:ln>
            </p:spPr>
          </p:sp>
          <p:sp>
            <p:nvSpPr>
              <p:cNvPr id="53" name="TextBox 53"/>
              <p:cNvSpPr txBox="1"/>
              <p:nvPr/>
            </p:nvSpPr>
            <p:spPr>
              <a:xfrm>
                <a:off x="3462338" y="3303032"/>
                <a:ext cx="698779" cy="126206"/>
              </a:xfrm>
              <a:prstGeom prst="rect">
                <a:avLst/>
              </a:prstGeom>
              <a:noFill/>
              <a:ln>
                <a:noFill/>
              </a:ln>
            </p:spPr>
            <p:txBody>
              <a:bodyPr wrap="none" lIns="0" tIns="0" rIns="0" bIns="0" anchor="t" anchorCtr="0">
                <a:spAutoFit/>
              </a:bodyPr>
              <a:lstStyle/>
              <a:p>
                <a:pPr algn="l"/>
                <a:r>
                  <a:rPr lang="zh-CN" sz="640" b="1" dirty="0">
                    <a:solidFill>
                      <a:srgbClr val="4E0D00"/>
                    </a:solidFill>
                    <a:latin typeface="+mn-lt"/>
                    <a:ea typeface="+mn-ea"/>
                    <a:cs typeface="+mn-cs"/>
                  </a:rPr>
                  <a:t>干预举措（示例）</a:t>
                </a:r>
              </a:p>
            </p:txBody>
          </p:sp>
          <p:sp>
            <p:nvSpPr>
              <p:cNvPr id="54" name="TextBox 54"/>
              <p:cNvSpPr txBox="1"/>
              <p:nvPr/>
            </p:nvSpPr>
            <p:spPr>
              <a:xfrm>
                <a:off x="3462338" y="3444478"/>
                <a:ext cx="1204412"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① 将期望行为写入流程、制度与标准</a:t>
                </a:r>
              </a:p>
            </p:txBody>
          </p:sp>
          <p:sp>
            <p:nvSpPr>
              <p:cNvPr id="55" name="TextBox 55"/>
              <p:cNvSpPr txBox="1"/>
              <p:nvPr/>
            </p:nvSpPr>
            <p:spPr>
              <a:xfrm>
                <a:off x="3462338" y="3558778"/>
                <a:ext cx="1430574"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② 优化激励：目标、评估、奖惩与晋升挂钩</a:t>
                </a:r>
              </a:p>
            </p:txBody>
          </p:sp>
          <p:sp>
            <p:nvSpPr>
              <p:cNvPr id="56" name="TextBox 56"/>
              <p:cNvSpPr txBox="1"/>
              <p:nvPr/>
            </p:nvSpPr>
            <p:spPr>
              <a:xfrm>
                <a:off x="3462338" y="3673078"/>
                <a:ext cx="1204412"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③ 配置资源与授权，消除阻碍性规则</a:t>
                </a:r>
              </a:p>
            </p:txBody>
          </p:sp>
        </p:grpSp>
        <p:sp>
          <p:nvSpPr>
            <p:cNvPr id="58" name="Ellipse 58"/>
            <p:cNvSpPr/>
            <p:nvPr/>
          </p:nvSpPr>
          <p:spPr>
            <a:xfrm>
              <a:off x="2590800" y="1905000"/>
              <a:ext cx="990600" cy="990600"/>
            </a:xfrm>
            <a:prstGeom prst="ellipse">
              <a:avLst/>
            </a:prstGeom>
            <a:solidFill>
              <a:srgbClr val="4E0D00"/>
            </a:solidFill>
            <a:ln w="28575">
              <a:solidFill>
                <a:srgbClr val="FFFFFF"/>
              </a:solidFill>
            </a:ln>
          </p:spPr>
        </p:sp>
        <p:sp>
          <p:nvSpPr>
            <p:cNvPr id="59" name="TextBox 59"/>
            <p:cNvSpPr txBox="1"/>
            <p:nvPr/>
          </p:nvSpPr>
          <p:spPr>
            <a:xfrm>
              <a:off x="2949219" y="22569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行为</a:t>
              </a:r>
            </a:p>
          </p:txBody>
        </p:sp>
        <p:sp>
          <p:nvSpPr>
            <p:cNvPr id="60" name="TextBox 60"/>
            <p:cNvSpPr txBox="1"/>
            <p:nvPr/>
          </p:nvSpPr>
          <p:spPr>
            <a:xfrm>
              <a:off x="2949219" y="24474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改变</a:t>
              </a:r>
            </a:p>
          </p:txBody>
        </p:sp>
        <p:sp>
          <p:nvSpPr>
            <p:cNvPr id="61" name="Ellipse 61"/>
            <p:cNvSpPr/>
            <p:nvPr/>
          </p:nvSpPr>
          <p:spPr>
            <a:xfrm>
              <a:off x="2971800" y="1657350"/>
              <a:ext cx="228600" cy="228600"/>
            </a:xfrm>
            <a:prstGeom prst="ellipse">
              <a:avLst/>
            </a:prstGeom>
            <a:solidFill>
              <a:srgbClr val="711E0D"/>
            </a:solidFill>
            <a:ln w="19050">
              <a:solidFill>
                <a:srgbClr val="FFFFFF"/>
              </a:solidFill>
            </a:ln>
          </p:spPr>
        </p:sp>
        <p:grpSp>
          <p:nvGrpSpPr>
            <p:cNvPr id="64" name="Group 64"/>
            <p:cNvGrpSpPr/>
            <p:nvPr/>
          </p:nvGrpSpPr>
          <p:grpSpPr>
            <a:xfrm>
              <a:off x="3057525" y="1728788"/>
              <a:ext cx="57150" cy="85725"/>
              <a:chOff x="3057525" y="1728788"/>
              <a:chExt cx="57150" cy="85725"/>
            </a:xfrm>
          </p:grpSpPr>
          <p:sp>
            <p:nvSpPr>
              <p:cNvPr id="62" name="Freeform 62"/>
              <p:cNvSpPr/>
              <p:nvPr/>
            </p:nvSpPr>
            <p:spPr>
              <a:xfrm>
                <a:off x="3067050" y="1728788"/>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9525">
                <a:solidFill>
                  <a:srgbClr val="FFFFFF"/>
                </a:solidFill>
              </a:ln>
            </p:spPr>
          </p:sp>
          <p:sp>
            <p:nvSpPr>
              <p:cNvPr id="63" name="Freeform 63"/>
              <p:cNvSpPr/>
              <p:nvPr/>
            </p:nvSpPr>
            <p:spPr>
              <a:xfrm>
                <a:off x="3057525" y="1785938"/>
                <a:ext cx="57150" cy="28575"/>
              </a:xfrm>
              <a:custGeom>
                <a:avLst/>
                <a:gdLst/>
                <a:ahLst/>
                <a:cxnLst/>
                <a:rect l="l" t="t" r="r" b="b"/>
                <a:pathLst>
                  <a:path w="57150" h="28575">
                    <a:moveTo>
                      <a:pt x="0" y="28575"/>
                    </a:moveTo>
                    <a:lnTo>
                      <a:pt x="0" y="19050"/>
                    </a:lnTo>
                    <a:cubicBezTo>
                      <a:pt x="0" y="8529"/>
                      <a:pt x="8529" y="0"/>
                      <a:pt x="19050" y="0"/>
                    </a:cubicBezTo>
                    <a:lnTo>
                      <a:pt x="38100" y="0"/>
                    </a:lnTo>
                    <a:cubicBezTo>
                      <a:pt x="48621" y="0"/>
                      <a:pt x="57150" y="8529"/>
                      <a:pt x="57150" y="19050"/>
                    </a:cubicBezTo>
                    <a:lnTo>
                      <a:pt x="57150" y="28575"/>
                    </a:lnTo>
                  </a:path>
                </a:pathLst>
              </a:custGeom>
              <a:noFill/>
              <a:ln w="9525">
                <a:solidFill>
                  <a:srgbClr val="FFFFFF"/>
                </a:solidFill>
              </a:ln>
            </p:spPr>
          </p:sp>
        </p:grpSp>
        <p:sp>
          <p:nvSpPr>
            <p:cNvPr id="65" name="Ellipse 65"/>
            <p:cNvSpPr/>
            <p:nvPr/>
          </p:nvSpPr>
          <p:spPr>
            <a:xfrm>
              <a:off x="2971800" y="2914650"/>
              <a:ext cx="228600" cy="228600"/>
            </a:xfrm>
            <a:prstGeom prst="ellipse">
              <a:avLst/>
            </a:prstGeom>
            <a:solidFill>
              <a:srgbClr val="711E0D"/>
            </a:solidFill>
            <a:ln w="19050">
              <a:solidFill>
                <a:srgbClr val="FFFFFF"/>
              </a:solidFill>
            </a:ln>
          </p:spPr>
        </p:sp>
        <p:grpSp>
          <p:nvGrpSpPr>
            <p:cNvPr id="68" name="Group 68"/>
            <p:cNvGrpSpPr/>
            <p:nvPr/>
          </p:nvGrpSpPr>
          <p:grpSpPr>
            <a:xfrm>
              <a:off x="3041147" y="2983997"/>
              <a:ext cx="89906" cy="89906"/>
              <a:chOff x="3041147" y="2983997"/>
              <a:chExt cx="89906" cy="89906"/>
            </a:xfrm>
          </p:grpSpPr>
          <p:sp>
            <p:nvSpPr>
              <p:cNvPr id="66" name="Freeform 66"/>
              <p:cNvSpPr/>
              <p:nvPr/>
            </p:nvSpPr>
            <p:spPr>
              <a:xfrm>
                <a:off x="3041147" y="2983997"/>
                <a:ext cx="89906" cy="89906"/>
              </a:xfrm>
              <a:custGeom>
                <a:avLst/>
                <a:gdLst/>
                <a:ahLst/>
                <a:cxnLst/>
                <a:rect l="l" t="t" r="r" b="b"/>
                <a:pathLst>
                  <a:path w="89906" h="89906">
                    <a:moveTo>
                      <a:pt x="36976" y="8363"/>
                    </a:moveTo>
                    <a:cubicBezTo>
                      <a:pt x="39005" y="0"/>
                      <a:pt x="50902" y="0"/>
                      <a:pt x="52930" y="8363"/>
                    </a:cubicBezTo>
                    <a:cubicBezTo>
                      <a:pt x="53548" y="10911"/>
                      <a:pt x="55345" y="13011"/>
                      <a:pt x="57767" y="14015"/>
                    </a:cubicBezTo>
                    <a:cubicBezTo>
                      <a:pt x="60190" y="15018"/>
                      <a:pt x="62946" y="14805"/>
                      <a:pt x="65184" y="13440"/>
                    </a:cubicBezTo>
                    <a:cubicBezTo>
                      <a:pt x="72533" y="8963"/>
                      <a:pt x="80948" y="17374"/>
                      <a:pt x="76471" y="24727"/>
                    </a:cubicBezTo>
                    <a:cubicBezTo>
                      <a:pt x="75108" y="26965"/>
                      <a:pt x="74895" y="29718"/>
                      <a:pt x="75898" y="32139"/>
                    </a:cubicBezTo>
                    <a:cubicBezTo>
                      <a:pt x="76900" y="34560"/>
                      <a:pt x="78998" y="36357"/>
                      <a:pt x="81544" y="36976"/>
                    </a:cubicBezTo>
                    <a:cubicBezTo>
                      <a:pt x="89906" y="39005"/>
                      <a:pt x="89906" y="50902"/>
                      <a:pt x="81544" y="52930"/>
                    </a:cubicBezTo>
                    <a:cubicBezTo>
                      <a:pt x="78995" y="53548"/>
                      <a:pt x="76895" y="55345"/>
                      <a:pt x="75892" y="57767"/>
                    </a:cubicBezTo>
                    <a:cubicBezTo>
                      <a:pt x="74888" y="60190"/>
                      <a:pt x="75102" y="62946"/>
                      <a:pt x="76467" y="65184"/>
                    </a:cubicBezTo>
                    <a:cubicBezTo>
                      <a:pt x="80943" y="72533"/>
                      <a:pt x="72533" y="80948"/>
                      <a:pt x="65180" y="76471"/>
                    </a:cubicBezTo>
                    <a:cubicBezTo>
                      <a:pt x="62942" y="75108"/>
                      <a:pt x="60188" y="74895"/>
                      <a:pt x="57767" y="75898"/>
                    </a:cubicBezTo>
                    <a:cubicBezTo>
                      <a:pt x="55347" y="76900"/>
                      <a:pt x="53550" y="78998"/>
                      <a:pt x="52930" y="81544"/>
                    </a:cubicBezTo>
                    <a:cubicBezTo>
                      <a:pt x="50902" y="89906"/>
                      <a:pt x="39005" y="89906"/>
                      <a:pt x="36976" y="81544"/>
                    </a:cubicBezTo>
                    <a:cubicBezTo>
                      <a:pt x="36359" y="78995"/>
                      <a:pt x="34561" y="76895"/>
                      <a:pt x="32139" y="75892"/>
                    </a:cubicBezTo>
                    <a:cubicBezTo>
                      <a:pt x="29717" y="74888"/>
                      <a:pt x="26961" y="75102"/>
                      <a:pt x="24722" y="76467"/>
                    </a:cubicBezTo>
                    <a:cubicBezTo>
                      <a:pt x="17374" y="80943"/>
                      <a:pt x="8958" y="72533"/>
                      <a:pt x="13435" y="65180"/>
                    </a:cubicBezTo>
                    <a:cubicBezTo>
                      <a:pt x="14798" y="62942"/>
                      <a:pt x="15011" y="60188"/>
                      <a:pt x="14009" y="57767"/>
                    </a:cubicBezTo>
                    <a:cubicBezTo>
                      <a:pt x="13006" y="55347"/>
                      <a:pt x="10909" y="53550"/>
                      <a:pt x="8363" y="52930"/>
                    </a:cubicBezTo>
                    <a:cubicBezTo>
                      <a:pt x="0" y="50902"/>
                      <a:pt x="0" y="39005"/>
                      <a:pt x="8363" y="36976"/>
                    </a:cubicBezTo>
                    <a:cubicBezTo>
                      <a:pt x="10911" y="36359"/>
                      <a:pt x="13011" y="34561"/>
                      <a:pt x="14015" y="32139"/>
                    </a:cubicBezTo>
                    <a:cubicBezTo>
                      <a:pt x="15018" y="29717"/>
                      <a:pt x="14805" y="26961"/>
                      <a:pt x="13440" y="24722"/>
                    </a:cubicBezTo>
                    <a:cubicBezTo>
                      <a:pt x="8963" y="17374"/>
                      <a:pt x="17374" y="8958"/>
                      <a:pt x="24727" y="13435"/>
                    </a:cubicBezTo>
                    <a:cubicBezTo>
                      <a:pt x="29489" y="16331"/>
                      <a:pt x="35662" y="13768"/>
                      <a:pt x="36976" y="8363"/>
                    </a:cubicBezTo>
                  </a:path>
                </a:pathLst>
              </a:custGeom>
              <a:noFill/>
              <a:ln w="9525">
                <a:solidFill>
                  <a:srgbClr val="FFFFFF"/>
                </a:solidFill>
              </a:ln>
            </p:spPr>
          </p:sp>
          <p:sp>
            <p:nvSpPr>
              <p:cNvPr id="67" name="Freeform 67"/>
              <p:cNvSpPr/>
              <p:nvPr/>
            </p:nvSpPr>
            <p:spPr>
              <a:xfrm>
                <a:off x="3071812" y="301466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9525">
                <a:solidFill>
                  <a:srgbClr val="FFFFFF"/>
                </a:solidFill>
              </a:ln>
            </p:spPr>
          </p:sp>
        </p:grpSp>
        <p:sp>
          <p:nvSpPr>
            <p:cNvPr id="69" name="Ellipse 69"/>
            <p:cNvSpPr/>
            <p:nvPr/>
          </p:nvSpPr>
          <p:spPr>
            <a:xfrm>
              <a:off x="2590800" y="2286000"/>
              <a:ext cx="228600" cy="228600"/>
            </a:xfrm>
            <a:prstGeom prst="ellipse">
              <a:avLst/>
            </a:prstGeom>
            <a:solidFill>
              <a:srgbClr val="711E0D"/>
            </a:solidFill>
            <a:ln w="19050">
              <a:solidFill>
                <a:srgbClr val="FFFFFF"/>
              </a:solidFill>
            </a:ln>
          </p:spPr>
        </p:sp>
        <p:grpSp>
          <p:nvGrpSpPr>
            <p:cNvPr id="74" name="Group 74"/>
            <p:cNvGrpSpPr/>
            <p:nvPr/>
          </p:nvGrpSpPr>
          <p:grpSpPr>
            <a:xfrm>
              <a:off x="2662238" y="2362200"/>
              <a:ext cx="85725" cy="85725"/>
              <a:chOff x="2662238" y="2362200"/>
              <a:chExt cx="85725" cy="85725"/>
            </a:xfrm>
          </p:grpSpPr>
          <p:sp>
            <p:nvSpPr>
              <p:cNvPr id="70" name="Freeform 70"/>
              <p:cNvSpPr/>
              <p:nvPr/>
            </p:nvSpPr>
            <p:spPr>
              <a:xfrm>
                <a:off x="2662238" y="2400300"/>
                <a:ext cx="28575" cy="38100"/>
              </a:xfrm>
              <a:custGeom>
                <a:avLst/>
                <a:gdLst/>
                <a:ahLst/>
                <a:cxnLst/>
                <a:rect l="l" t="t" r="r" b="b"/>
                <a:pathLst>
                  <a:path w="28575" h="38100">
                    <a:moveTo>
                      <a:pt x="0" y="4762"/>
                    </a:moveTo>
                    <a:cubicBezTo>
                      <a:pt x="0" y="2132"/>
                      <a:pt x="2132" y="0"/>
                      <a:pt x="4762" y="0"/>
                    </a:cubicBezTo>
                    <a:lnTo>
                      <a:pt x="23812" y="0"/>
                    </a:lnTo>
                    <a:cubicBezTo>
                      <a:pt x="26443" y="0"/>
                      <a:pt x="28575" y="2132"/>
                      <a:pt x="28575" y="4762"/>
                    </a:cubicBezTo>
                    <a:lnTo>
                      <a:pt x="28575" y="33338"/>
                    </a:lnTo>
                    <a:cubicBezTo>
                      <a:pt x="28575" y="35968"/>
                      <a:pt x="26443" y="38100"/>
                      <a:pt x="23812" y="38100"/>
                    </a:cubicBezTo>
                    <a:lnTo>
                      <a:pt x="4762" y="38100"/>
                    </a:lnTo>
                    <a:cubicBezTo>
                      <a:pt x="2132" y="38100"/>
                      <a:pt x="0" y="35968"/>
                      <a:pt x="0" y="33338"/>
                    </a:cubicBezTo>
                    <a:lnTo>
                      <a:pt x="0" y="4762"/>
                    </a:lnTo>
                  </a:path>
                </a:pathLst>
              </a:custGeom>
              <a:noFill/>
              <a:ln w="9525">
                <a:solidFill>
                  <a:srgbClr val="FFFFFF"/>
                </a:solidFill>
              </a:ln>
            </p:spPr>
          </p:sp>
          <p:sp>
            <p:nvSpPr>
              <p:cNvPr id="71" name="Freeform 71"/>
              <p:cNvSpPr/>
              <p:nvPr/>
            </p:nvSpPr>
            <p:spPr>
              <a:xfrm>
                <a:off x="2719388" y="2381250"/>
                <a:ext cx="28575" cy="57150"/>
              </a:xfrm>
              <a:custGeom>
                <a:avLst/>
                <a:gdLst/>
                <a:ahLst/>
                <a:cxnLst/>
                <a:rect l="l" t="t" r="r" b="b"/>
                <a:pathLst>
                  <a:path w="28575" h="57150">
                    <a:moveTo>
                      <a:pt x="0" y="4762"/>
                    </a:moveTo>
                    <a:cubicBezTo>
                      <a:pt x="0" y="2132"/>
                      <a:pt x="2132" y="0"/>
                      <a:pt x="4762" y="0"/>
                    </a:cubicBezTo>
                    <a:lnTo>
                      <a:pt x="23812" y="0"/>
                    </a:lnTo>
                    <a:cubicBezTo>
                      <a:pt x="26443" y="0"/>
                      <a:pt x="28575" y="2132"/>
                      <a:pt x="28575" y="4762"/>
                    </a:cubicBezTo>
                    <a:lnTo>
                      <a:pt x="28575" y="52388"/>
                    </a:lnTo>
                    <a:cubicBezTo>
                      <a:pt x="28575" y="55018"/>
                      <a:pt x="26443" y="57150"/>
                      <a:pt x="23812" y="57150"/>
                    </a:cubicBezTo>
                    <a:lnTo>
                      <a:pt x="4762" y="57150"/>
                    </a:lnTo>
                    <a:cubicBezTo>
                      <a:pt x="2132" y="57150"/>
                      <a:pt x="0" y="55018"/>
                      <a:pt x="0" y="52388"/>
                    </a:cubicBezTo>
                    <a:lnTo>
                      <a:pt x="0" y="4762"/>
                    </a:lnTo>
                  </a:path>
                </a:pathLst>
              </a:custGeom>
              <a:noFill/>
              <a:ln w="9525">
                <a:solidFill>
                  <a:srgbClr val="FFFFFF"/>
                </a:solidFill>
              </a:ln>
            </p:spPr>
          </p:sp>
          <p:sp>
            <p:nvSpPr>
              <p:cNvPr id="72" name="Freeform 72"/>
              <p:cNvSpPr/>
              <p:nvPr/>
            </p:nvSpPr>
            <p:spPr>
              <a:xfrm>
                <a:off x="2690812" y="2362200"/>
                <a:ext cx="28575" cy="76200"/>
              </a:xfrm>
              <a:custGeom>
                <a:avLst/>
                <a:gdLst/>
                <a:ahLst/>
                <a:cxnLst/>
                <a:rect l="l" t="t" r="r" b="b"/>
                <a:pathLst>
                  <a:path w="28575" h="76200">
                    <a:moveTo>
                      <a:pt x="0" y="4762"/>
                    </a:moveTo>
                    <a:cubicBezTo>
                      <a:pt x="0" y="2132"/>
                      <a:pt x="2132" y="0"/>
                      <a:pt x="4762" y="0"/>
                    </a:cubicBezTo>
                    <a:lnTo>
                      <a:pt x="23812" y="0"/>
                    </a:lnTo>
                    <a:cubicBezTo>
                      <a:pt x="26443" y="0"/>
                      <a:pt x="28575" y="2132"/>
                      <a:pt x="28575" y="4762"/>
                    </a:cubicBezTo>
                    <a:lnTo>
                      <a:pt x="28575" y="71438"/>
                    </a:lnTo>
                    <a:cubicBezTo>
                      <a:pt x="28575" y="74068"/>
                      <a:pt x="26443" y="76200"/>
                      <a:pt x="23812" y="76200"/>
                    </a:cubicBezTo>
                    <a:lnTo>
                      <a:pt x="4762" y="76200"/>
                    </a:lnTo>
                    <a:cubicBezTo>
                      <a:pt x="2132" y="76200"/>
                      <a:pt x="0" y="74068"/>
                      <a:pt x="0" y="71438"/>
                    </a:cubicBezTo>
                    <a:lnTo>
                      <a:pt x="0" y="4762"/>
                    </a:lnTo>
                  </a:path>
                </a:pathLst>
              </a:custGeom>
              <a:noFill/>
              <a:ln w="9525">
                <a:solidFill>
                  <a:srgbClr val="FFFFFF"/>
                </a:solidFill>
              </a:ln>
            </p:spPr>
          </p:sp>
          <p:sp>
            <p:nvSpPr>
              <p:cNvPr id="73" name="Freeform 73"/>
              <p:cNvSpPr/>
              <p:nvPr/>
            </p:nvSpPr>
            <p:spPr>
              <a:xfrm>
                <a:off x="2667000" y="2438400"/>
                <a:ext cx="66675" cy="9525"/>
              </a:xfrm>
              <a:custGeom>
                <a:avLst/>
                <a:gdLst/>
                <a:ahLst/>
                <a:cxnLst/>
                <a:rect l="l" t="t" r="r" b="b"/>
                <a:pathLst>
                  <a:path w="66675" h="9525">
                    <a:moveTo>
                      <a:pt x="0" y="0"/>
                    </a:moveTo>
                    <a:lnTo>
                      <a:pt x="66675" y="0"/>
                    </a:lnTo>
                  </a:path>
                </a:pathLst>
              </a:custGeom>
              <a:noFill/>
              <a:ln w="9525">
                <a:solidFill>
                  <a:srgbClr val="FFFFFF"/>
                </a:solidFill>
              </a:ln>
            </p:spPr>
          </p:sp>
        </p:grpSp>
        <p:sp>
          <p:nvSpPr>
            <p:cNvPr id="75" name="Ellipse 75"/>
            <p:cNvSpPr/>
            <p:nvPr/>
          </p:nvSpPr>
          <p:spPr>
            <a:xfrm>
              <a:off x="3352800" y="2286000"/>
              <a:ext cx="228600" cy="228600"/>
            </a:xfrm>
            <a:prstGeom prst="ellipse">
              <a:avLst/>
            </a:prstGeom>
            <a:solidFill>
              <a:srgbClr val="711E0D"/>
            </a:solidFill>
            <a:ln w="19050">
              <a:solidFill>
                <a:srgbClr val="FFFFFF"/>
              </a:solidFill>
            </a:ln>
          </p:spPr>
        </p:sp>
        <p:grpSp>
          <p:nvGrpSpPr>
            <p:cNvPr id="82" name="Group 82"/>
            <p:cNvGrpSpPr/>
            <p:nvPr/>
          </p:nvGrpSpPr>
          <p:grpSpPr>
            <a:xfrm>
              <a:off x="3424238" y="2357438"/>
              <a:ext cx="85724" cy="85724"/>
              <a:chOff x="3424238" y="2357438"/>
              <a:chExt cx="85724" cy="85724"/>
            </a:xfrm>
          </p:grpSpPr>
          <p:sp>
            <p:nvSpPr>
              <p:cNvPr id="76" name="Freeform 76"/>
              <p:cNvSpPr/>
              <p:nvPr/>
            </p:nvSpPr>
            <p:spPr>
              <a:xfrm>
                <a:off x="3467100" y="2405062"/>
                <a:ext cx="33338" cy="38100"/>
              </a:xfrm>
              <a:custGeom>
                <a:avLst/>
                <a:gdLst/>
                <a:ahLst/>
                <a:cxnLst/>
                <a:rect l="l" t="t" r="r" b="b"/>
                <a:pathLst>
                  <a:path w="33338" h="38100">
                    <a:moveTo>
                      <a:pt x="16669" y="0"/>
                    </a:moveTo>
                    <a:cubicBezTo>
                      <a:pt x="7463" y="0"/>
                      <a:pt x="0" y="7463"/>
                      <a:pt x="0" y="16669"/>
                    </a:cubicBezTo>
                    <a:lnTo>
                      <a:pt x="0" y="21431"/>
                    </a:lnTo>
                    <a:cubicBezTo>
                      <a:pt x="0" y="30637"/>
                      <a:pt x="7463" y="38100"/>
                      <a:pt x="16669" y="38100"/>
                    </a:cubicBezTo>
                    <a:cubicBezTo>
                      <a:pt x="25875" y="38100"/>
                      <a:pt x="33338" y="30637"/>
                      <a:pt x="33338" y="21431"/>
                    </a:cubicBezTo>
                    <a:lnTo>
                      <a:pt x="33338" y="12859"/>
                    </a:lnTo>
                  </a:path>
                </a:pathLst>
              </a:custGeom>
              <a:noFill/>
              <a:ln w="9525">
                <a:solidFill>
                  <a:srgbClr val="FFFFFF"/>
                </a:solidFill>
              </a:ln>
            </p:spPr>
          </p:sp>
          <p:sp>
            <p:nvSpPr>
              <p:cNvPr id="77" name="Freeform 77"/>
              <p:cNvSpPr/>
              <p:nvPr/>
            </p:nvSpPr>
            <p:spPr>
              <a:xfrm>
                <a:off x="3433762" y="2405062"/>
                <a:ext cx="33338" cy="38100"/>
              </a:xfrm>
              <a:custGeom>
                <a:avLst/>
                <a:gdLst/>
                <a:ahLst/>
                <a:cxnLst/>
                <a:rect l="l" t="t" r="r" b="b"/>
                <a:pathLst>
                  <a:path w="33338" h="38100">
                    <a:moveTo>
                      <a:pt x="16669" y="0"/>
                    </a:moveTo>
                    <a:cubicBezTo>
                      <a:pt x="25875" y="0"/>
                      <a:pt x="33338" y="7463"/>
                      <a:pt x="33338" y="16669"/>
                    </a:cubicBezTo>
                    <a:lnTo>
                      <a:pt x="33338" y="21431"/>
                    </a:lnTo>
                    <a:cubicBezTo>
                      <a:pt x="33338" y="30637"/>
                      <a:pt x="25875" y="38100"/>
                      <a:pt x="16669" y="38100"/>
                    </a:cubicBezTo>
                    <a:cubicBezTo>
                      <a:pt x="7463" y="38100"/>
                      <a:pt x="0" y="30637"/>
                      <a:pt x="0" y="21431"/>
                    </a:cubicBezTo>
                    <a:lnTo>
                      <a:pt x="0" y="12859"/>
                    </a:lnTo>
                  </a:path>
                </a:pathLst>
              </a:custGeom>
              <a:noFill/>
              <a:ln w="9525">
                <a:solidFill>
                  <a:srgbClr val="FFFFFF"/>
                </a:solidFill>
              </a:ln>
            </p:spPr>
          </p:sp>
          <p:sp>
            <p:nvSpPr>
              <p:cNvPr id="78" name="Freeform 78"/>
              <p:cNvSpPr/>
              <p:nvPr/>
            </p:nvSpPr>
            <p:spPr>
              <a:xfrm>
                <a:off x="3490912" y="2386012"/>
                <a:ext cx="19050" cy="33338"/>
              </a:xfrm>
              <a:custGeom>
                <a:avLst/>
                <a:gdLst/>
                <a:ahLst/>
                <a:cxnLst/>
                <a:rect l="l" t="t" r="r" b="b"/>
                <a:pathLst>
                  <a:path w="19050" h="33338">
                    <a:moveTo>
                      <a:pt x="2381" y="33338"/>
                    </a:moveTo>
                    <a:cubicBezTo>
                      <a:pt x="11587" y="33338"/>
                      <a:pt x="19050" y="25875"/>
                      <a:pt x="19050" y="16669"/>
                    </a:cubicBezTo>
                    <a:cubicBezTo>
                      <a:pt x="19050" y="7463"/>
                      <a:pt x="11587" y="0"/>
                      <a:pt x="2381" y="0"/>
                    </a:cubicBezTo>
                    <a:lnTo>
                      <a:pt x="0" y="0"/>
                    </a:lnTo>
                  </a:path>
                </a:pathLst>
              </a:custGeom>
              <a:noFill/>
              <a:ln w="9525">
                <a:solidFill>
                  <a:srgbClr val="FFFFFF"/>
                </a:solidFill>
              </a:ln>
            </p:spPr>
          </p:sp>
          <p:sp>
            <p:nvSpPr>
              <p:cNvPr id="79" name="Freeform 79"/>
              <p:cNvSpPr/>
              <p:nvPr/>
            </p:nvSpPr>
            <p:spPr>
              <a:xfrm>
                <a:off x="3467100" y="2357438"/>
                <a:ext cx="33338" cy="30004"/>
              </a:xfrm>
              <a:custGeom>
                <a:avLst/>
                <a:gdLst/>
                <a:ahLst/>
                <a:cxnLst/>
                <a:rect l="l" t="t" r="r" b="b"/>
                <a:pathLst>
                  <a:path w="33338" h="30004">
                    <a:moveTo>
                      <a:pt x="33338" y="30004"/>
                    </a:moveTo>
                    <a:lnTo>
                      <a:pt x="33338" y="16669"/>
                    </a:lnTo>
                    <a:cubicBezTo>
                      <a:pt x="33338" y="7463"/>
                      <a:pt x="25875" y="0"/>
                      <a:pt x="16669" y="0"/>
                    </a:cubicBezTo>
                    <a:cubicBezTo>
                      <a:pt x="7463" y="0"/>
                      <a:pt x="0" y="7463"/>
                      <a:pt x="0" y="16669"/>
                    </a:cubicBezTo>
                  </a:path>
                </a:pathLst>
              </a:custGeom>
              <a:noFill/>
              <a:ln w="9525">
                <a:solidFill>
                  <a:srgbClr val="FFFFFF"/>
                </a:solidFill>
              </a:ln>
            </p:spPr>
          </p:sp>
          <p:sp>
            <p:nvSpPr>
              <p:cNvPr id="80" name="Freeform 80"/>
              <p:cNvSpPr/>
              <p:nvPr/>
            </p:nvSpPr>
            <p:spPr>
              <a:xfrm>
                <a:off x="3424238" y="2386012"/>
                <a:ext cx="19050" cy="33338"/>
              </a:xfrm>
              <a:custGeom>
                <a:avLst/>
                <a:gdLst/>
                <a:ahLst/>
                <a:cxnLst/>
                <a:rect l="l" t="t" r="r" b="b"/>
                <a:pathLst>
                  <a:path w="19050" h="33338">
                    <a:moveTo>
                      <a:pt x="16669" y="33338"/>
                    </a:moveTo>
                    <a:cubicBezTo>
                      <a:pt x="7463" y="33338"/>
                      <a:pt x="0" y="25875"/>
                      <a:pt x="0" y="16669"/>
                    </a:cubicBezTo>
                    <a:cubicBezTo>
                      <a:pt x="0" y="7463"/>
                      <a:pt x="7463" y="0"/>
                      <a:pt x="16669" y="0"/>
                    </a:cubicBezTo>
                    <a:lnTo>
                      <a:pt x="19050" y="0"/>
                    </a:lnTo>
                  </a:path>
                </a:pathLst>
              </a:custGeom>
              <a:noFill/>
              <a:ln w="9525">
                <a:solidFill>
                  <a:srgbClr val="FFFFFF"/>
                </a:solidFill>
              </a:ln>
            </p:spPr>
          </p:sp>
          <p:sp>
            <p:nvSpPr>
              <p:cNvPr id="81" name="Freeform 81"/>
              <p:cNvSpPr/>
              <p:nvPr/>
            </p:nvSpPr>
            <p:spPr>
              <a:xfrm>
                <a:off x="3433762" y="2357438"/>
                <a:ext cx="33338" cy="64294"/>
              </a:xfrm>
              <a:custGeom>
                <a:avLst/>
                <a:gdLst/>
                <a:ahLst/>
                <a:cxnLst/>
                <a:rect l="l" t="t" r="r" b="b"/>
                <a:pathLst>
                  <a:path w="33338" h="64294">
                    <a:moveTo>
                      <a:pt x="0" y="30004"/>
                    </a:moveTo>
                    <a:lnTo>
                      <a:pt x="0" y="16669"/>
                    </a:lnTo>
                    <a:cubicBezTo>
                      <a:pt x="0" y="7463"/>
                      <a:pt x="7463" y="0"/>
                      <a:pt x="16669" y="0"/>
                    </a:cubicBezTo>
                    <a:cubicBezTo>
                      <a:pt x="25875" y="0"/>
                      <a:pt x="33338" y="7463"/>
                      <a:pt x="33338" y="16669"/>
                    </a:cubicBezTo>
                    <a:lnTo>
                      <a:pt x="33338" y="64294"/>
                    </a:lnTo>
                  </a:path>
                </a:pathLst>
              </a:custGeom>
              <a:noFill/>
              <a:ln w="9525">
                <a:solidFill>
                  <a:srgbClr val="FFFFFF"/>
                </a:solidFill>
              </a:ln>
            </p:spPr>
          </p:sp>
        </p:grpSp>
      </p:grpSp>
      <p:grpSp>
        <p:nvGrpSpPr>
          <p:cNvPr id="197" name="action-matrix"/>
          <p:cNvGrpSpPr/>
          <p:nvPr/>
        </p:nvGrpSpPr>
        <p:grpSpPr>
          <a:xfrm>
            <a:off x="6057900" y="781050"/>
            <a:ext cx="5905500" cy="3314700"/>
            <a:chOff x="6057900" y="781050"/>
            <a:chExt cx="5905500" cy="3314700"/>
          </a:xfrm>
        </p:grpSpPr>
        <p:sp>
          <p:nvSpPr>
            <p:cNvPr id="84" name="Rectangle 84"/>
            <p:cNvSpPr/>
            <p:nvPr/>
          </p:nvSpPr>
          <p:spPr>
            <a:xfrm>
              <a:off x="6057900" y="781050"/>
              <a:ext cx="5905500" cy="228600"/>
            </a:xfrm>
            <a:prstGeom prst="rect">
              <a:avLst/>
            </a:prstGeom>
            <a:solidFill>
              <a:srgbClr val="4E0D00"/>
            </a:solidFill>
            <a:ln>
              <a:noFill/>
            </a:ln>
          </p:spPr>
        </p:sp>
        <p:sp>
          <p:nvSpPr>
            <p:cNvPr id="85" name="TextBox 85"/>
            <p:cNvSpPr txBox="1"/>
            <p:nvPr/>
          </p:nvSpPr>
          <p:spPr>
            <a:xfrm>
              <a:off x="8365113" y="845820"/>
              <a:ext cx="129107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变革行动矩阵（示例）​</a:t>
              </a:r>
            </a:p>
          </p:txBody>
        </p:sp>
        <p:sp>
          <p:nvSpPr>
            <p:cNvPr id="86" name="Rectangle 86"/>
            <p:cNvSpPr/>
            <p:nvPr/>
          </p:nvSpPr>
          <p:spPr>
            <a:xfrm>
              <a:off x="6057900" y="1047750"/>
              <a:ext cx="685800" cy="190500"/>
            </a:xfrm>
            <a:prstGeom prst="rect">
              <a:avLst/>
            </a:prstGeom>
            <a:solidFill>
              <a:srgbClr val="711E0D"/>
            </a:solidFill>
            <a:ln>
              <a:noFill/>
            </a:ln>
          </p:spPr>
        </p:sp>
        <p:sp>
          <p:nvSpPr>
            <p:cNvPr id="87" name="TextBox 87"/>
            <p:cNvSpPr txBox="1"/>
            <p:nvPr/>
          </p:nvSpPr>
          <p:spPr>
            <a:xfrm>
              <a:off x="6309881" y="111228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对象</a:t>
              </a:r>
            </a:p>
          </p:txBody>
        </p:sp>
        <p:sp>
          <p:nvSpPr>
            <p:cNvPr id="88" name="Rectangle 88"/>
            <p:cNvSpPr/>
            <p:nvPr/>
          </p:nvSpPr>
          <p:spPr>
            <a:xfrm>
              <a:off x="6743700" y="1047750"/>
              <a:ext cx="1238250" cy="190500"/>
            </a:xfrm>
            <a:prstGeom prst="rect">
              <a:avLst/>
            </a:prstGeom>
            <a:solidFill>
              <a:srgbClr val="4E0D00"/>
            </a:solidFill>
            <a:ln>
              <a:noFill/>
            </a:ln>
          </p:spPr>
        </p:sp>
        <p:sp>
          <p:nvSpPr>
            <p:cNvPr id="89" name="TextBox 89"/>
            <p:cNvSpPr txBox="1"/>
            <p:nvPr/>
          </p:nvSpPr>
          <p:spPr>
            <a:xfrm>
              <a:off x="7185749" y="11122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目标行为</a:t>
              </a:r>
            </a:p>
          </p:txBody>
        </p:sp>
        <p:sp>
          <p:nvSpPr>
            <p:cNvPr id="90" name="Rectangle 90"/>
            <p:cNvSpPr/>
            <p:nvPr/>
          </p:nvSpPr>
          <p:spPr>
            <a:xfrm>
              <a:off x="7981950" y="1047750"/>
              <a:ext cx="1123950" cy="190500"/>
            </a:xfrm>
            <a:prstGeom prst="rect">
              <a:avLst/>
            </a:prstGeom>
            <a:solidFill>
              <a:srgbClr val="4E0D00"/>
            </a:solidFill>
            <a:ln>
              <a:noFill/>
            </a:ln>
          </p:spPr>
        </p:sp>
        <p:sp>
          <p:nvSpPr>
            <p:cNvPr id="91" name="TextBox 91"/>
            <p:cNvSpPr txBox="1"/>
            <p:nvPr/>
          </p:nvSpPr>
          <p:spPr>
            <a:xfrm>
              <a:off x="8366849" y="11122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主要障碍</a:t>
              </a:r>
            </a:p>
          </p:txBody>
        </p:sp>
        <p:sp>
          <p:nvSpPr>
            <p:cNvPr id="92" name="Rectangle 92"/>
            <p:cNvSpPr/>
            <p:nvPr/>
          </p:nvSpPr>
          <p:spPr>
            <a:xfrm>
              <a:off x="9105900" y="1047750"/>
              <a:ext cx="1409700" cy="190500"/>
            </a:xfrm>
            <a:prstGeom prst="rect">
              <a:avLst/>
            </a:prstGeom>
            <a:solidFill>
              <a:srgbClr val="4E0D00"/>
            </a:solidFill>
            <a:ln>
              <a:noFill/>
            </a:ln>
          </p:spPr>
        </p:sp>
        <p:sp>
          <p:nvSpPr>
            <p:cNvPr id="93" name="TextBox 93"/>
            <p:cNvSpPr txBox="1"/>
            <p:nvPr/>
          </p:nvSpPr>
          <p:spPr>
            <a:xfrm>
              <a:off x="9633674" y="11122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干预措施</a:t>
              </a:r>
            </a:p>
          </p:txBody>
        </p:sp>
        <p:sp>
          <p:nvSpPr>
            <p:cNvPr id="94" name="Rectangle 94"/>
            <p:cNvSpPr/>
            <p:nvPr/>
          </p:nvSpPr>
          <p:spPr>
            <a:xfrm>
              <a:off x="10515600" y="1047750"/>
              <a:ext cx="1447800" cy="190500"/>
            </a:xfrm>
            <a:prstGeom prst="rect">
              <a:avLst/>
            </a:prstGeom>
            <a:solidFill>
              <a:srgbClr val="4E0D00"/>
            </a:solidFill>
            <a:ln>
              <a:noFill/>
            </a:ln>
          </p:spPr>
        </p:sp>
        <p:sp>
          <p:nvSpPr>
            <p:cNvPr id="95" name="TextBox 95"/>
            <p:cNvSpPr txBox="1"/>
            <p:nvPr/>
          </p:nvSpPr>
          <p:spPr>
            <a:xfrm>
              <a:off x="11062424" y="1112282"/>
              <a:ext cx="35415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衡量指标</a:t>
              </a:r>
            </a:p>
          </p:txBody>
        </p:sp>
        <p:grpSp>
          <p:nvGrpSpPr>
            <p:cNvPr id="120" name="am-exec"/>
            <p:cNvGrpSpPr/>
            <p:nvPr/>
          </p:nvGrpSpPr>
          <p:grpSpPr>
            <a:xfrm>
              <a:off x="6057900" y="1238250"/>
              <a:ext cx="5905500" cy="571500"/>
              <a:chOff x="6057900" y="1238250"/>
              <a:chExt cx="5905500" cy="571500"/>
            </a:xfrm>
          </p:grpSpPr>
          <p:sp>
            <p:nvSpPr>
              <p:cNvPr id="96" name="Rectangle 96"/>
              <p:cNvSpPr/>
              <p:nvPr/>
            </p:nvSpPr>
            <p:spPr>
              <a:xfrm>
                <a:off x="6057900" y="1238250"/>
                <a:ext cx="5905500" cy="571500"/>
              </a:xfrm>
              <a:prstGeom prst="rect">
                <a:avLst/>
              </a:prstGeom>
              <a:solidFill>
                <a:srgbClr val="FFFFFF"/>
              </a:solidFill>
              <a:ln w="9525">
                <a:solidFill>
                  <a:srgbClr val="E2E8F2"/>
                </a:solidFill>
              </a:ln>
            </p:spPr>
          </p:sp>
          <p:sp>
            <p:nvSpPr>
              <p:cNvPr id="97" name="Rectangle 97"/>
              <p:cNvSpPr/>
              <p:nvPr/>
            </p:nvSpPr>
            <p:spPr>
              <a:xfrm>
                <a:off x="6057900" y="1238250"/>
                <a:ext cx="685800" cy="571500"/>
              </a:xfrm>
              <a:prstGeom prst="rect">
                <a:avLst/>
              </a:prstGeom>
              <a:solidFill>
                <a:srgbClr val="EFF3FA"/>
              </a:solidFill>
              <a:ln>
                <a:noFill/>
              </a:ln>
            </p:spPr>
          </p:sp>
          <p:grpSp>
            <p:nvGrpSpPr>
              <p:cNvPr id="107" name="Group 107"/>
              <p:cNvGrpSpPr/>
              <p:nvPr/>
            </p:nvGrpSpPr>
            <p:grpSpPr>
              <a:xfrm>
                <a:off x="6367462" y="1312069"/>
                <a:ext cx="91386" cy="109537"/>
                <a:chOff x="6367462" y="1312069"/>
                <a:chExt cx="91386" cy="109537"/>
              </a:xfrm>
            </p:grpSpPr>
            <p:sp>
              <p:nvSpPr>
                <p:cNvPr id="98" name="Freeform 98"/>
                <p:cNvSpPr/>
                <p:nvPr/>
              </p:nvSpPr>
              <p:spPr>
                <a:xfrm>
                  <a:off x="6378575" y="13120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4E0D00"/>
                  </a:solidFill>
                </a:ln>
              </p:spPr>
            </p:sp>
            <p:sp>
              <p:nvSpPr>
                <p:cNvPr id="99" name="Freeform 99"/>
                <p:cNvSpPr/>
                <p:nvPr/>
              </p:nvSpPr>
              <p:spPr>
                <a:xfrm>
                  <a:off x="6367462" y="1378744"/>
                  <a:ext cx="36116" cy="33337"/>
                </a:xfrm>
                <a:custGeom>
                  <a:avLst/>
                  <a:gdLst/>
                  <a:ahLst/>
                  <a:cxnLst/>
                  <a:rect l="l" t="t" r="r" b="b"/>
                  <a:pathLst>
                    <a:path w="36116" h="33337">
                      <a:moveTo>
                        <a:pt x="0" y="33337"/>
                      </a:moveTo>
                      <a:lnTo>
                        <a:pt x="0" y="22225"/>
                      </a:lnTo>
                      <a:cubicBezTo>
                        <a:pt x="0" y="9950"/>
                        <a:pt x="9950" y="0"/>
                        <a:pt x="22225" y="0"/>
                      </a:cubicBezTo>
                      <a:lnTo>
                        <a:pt x="36116" y="0"/>
                      </a:lnTo>
                    </a:path>
                  </a:pathLst>
                </a:custGeom>
                <a:noFill/>
                <a:ln w="11112">
                  <a:solidFill>
                    <a:srgbClr val="4E0D00"/>
                  </a:solidFill>
                </a:ln>
              </p:spPr>
            </p:sp>
            <p:sp>
              <p:nvSpPr>
                <p:cNvPr id="100" name="Freeform 100"/>
                <p:cNvSpPr/>
                <p:nvPr/>
              </p:nvSpPr>
              <p:spPr>
                <a:xfrm>
                  <a:off x="6428587" y="1389856"/>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4E0D00"/>
                  </a:solidFill>
                </a:ln>
              </p:spPr>
            </p:sp>
            <p:sp>
              <p:nvSpPr>
                <p:cNvPr id="101" name="Freeform 101"/>
                <p:cNvSpPr/>
                <p:nvPr/>
              </p:nvSpPr>
              <p:spPr>
                <a:xfrm>
                  <a:off x="6439699" y="1381522"/>
                  <a:ext cx="9525" cy="9525"/>
                </a:xfrm>
                <a:custGeom>
                  <a:avLst/>
                  <a:gdLst/>
                  <a:ahLst/>
                  <a:cxnLst/>
                  <a:rect l="l" t="t" r="r" b="b"/>
                  <a:pathLst>
                    <a:path w="9525" h="9525">
                      <a:moveTo>
                        <a:pt x="0" y="0"/>
                      </a:moveTo>
                      <a:lnTo>
                        <a:pt x="0" y="8334"/>
                      </a:lnTo>
                    </a:path>
                  </a:pathLst>
                </a:custGeom>
                <a:noFill/>
                <a:ln w="11112">
                  <a:solidFill>
                    <a:srgbClr val="4E0D00"/>
                  </a:solidFill>
                </a:ln>
              </p:spPr>
            </p:sp>
            <p:sp>
              <p:nvSpPr>
                <p:cNvPr id="102" name="Freeform 102"/>
                <p:cNvSpPr/>
                <p:nvPr/>
              </p:nvSpPr>
              <p:spPr>
                <a:xfrm>
                  <a:off x="6439699" y="1412081"/>
                  <a:ext cx="9525" cy="9525"/>
                </a:xfrm>
                <a:custGeom>
                  <a:avLst/>
                  <a:gdLst/>
                  <a:ahLst/>
                  <a:cxnLst/>
                  <a:rect l="l" t="t" r="r" b="b"/>
                  <a:pathLst>
                    <a:path w="9525" h="9525">
                      <a:moveTo>
                        <a:pt x="0" y="0"/>
                      </a:moveTo>
                      <a:lnTo>
                        <a:pt x="0" y="8334"/>
                      </a:lnTo>
                    </a:path>
                  </a:pathLst>
                </a:custGeom>
                <a:noFill/>
                <a:ln w="11112">
                  <a:solidFill>
                    <a:srgbClr val="4E0D00"/>
                  </a:solidFill>
                </a:ln>
              </p:spPr>
            </p:sp>
            <p:sp>
              <p:nvSpPr>
                <p:cNvPr id="103" name="Freeform 103"/>
                <p:cNvSpPr/>
                <p:nvPr/>
              </p:nvSpPr>
              <p:spPr>
                <a:xfrm>
                  <a:off x="6449323" y="1391245"/>
                  <a:ext cx="9525" cy="9525"/>
                </a:xfrm>
                <a:custGeom>
                  <a:avLst/>
                  <a:gdLst/>
                  <a:ahLst/>
                  <a:cxnLst/>
                  <a:rect l="l" t="t" r="r" b="b"/>
                  <a:pathLst>
                    <a:path w="9525" h="9525">
                      <a:moveTo>
                        <a:pt x="7218" y="0"/>
                      </a:moveTo>
                      <a:lnTo>
                        <a:pt x="0" y="4167"/>
                      </a:lnTo>
                    </a:path>
                  </a:pathLst>
                </a:custGeom>
                <a:noFill/>
                <a:ln w="11112">
                  <a:solidFill>
                    <a:srgbClr val="4E0D00"/>
                  </a:solidFill>
                </a:ln>
              </p:spPr>
            </p:sp>
            <p:sp>
              <p:nvSpPr>
                <p:cNvPr id="104" name="Freeform 104"/>
                <p:cNvSpPr/>
                <p:nvPr/>
              </p:nvSpPr>
              <p:spPr>
                <a:xfrm>
                  <a:off x="6422858" y="1406525"/>
                  <a:ext cx="9525" cy="9525"/>
                </a:xfrm>
                <a:custGeom>
                  <a:avLst/>
                  <a:gdLst/>
                  <a:ahLst/>
                  <a:cxnLst/>
                  <a:rect l="l" t="t" r="r" b="b"/>
                  <a:pathLst>
                    <a:path w="9525" h="9525">
                      <a:moveTo>
                        <a:pt x="7223" y="0"/>
                      </a:moveTo>
                      <a:lnTo>
                        <a:pt x="0" y="4167"/>
                      </a:lnTo>
                    </a:path>
                  </a:pathLst>
                </a:custGeom>
                <a:noFill/>
                <a:ln w="11112">
                  <a:solidFill>
                    <a:srgbClr val="4E0D00"/>
                  </a:solidFill>
                </a:ln>
              </p:spPr>
            </p:sp>
            <p:sp>
              <p:nvSpPr>
                <p:cNvPr id="105" name="Freeform 105"/>
                <p:cNvSpPr/>
                <p:nvPr/>
              </p:nvSpPr>
              <p:spPr>
                <a:xfrm>
                  <a:off x="6422858" y="1391245"/>
                  <a:ext cx="9525" cy="9525"/>
                </a:xfrm>
                <a:custGeom>
                  <a:avLst/>
                  <a:gdLst/>
                  <a:ahLst/>
                  <a:cxnLst/>
                  <a:rect l="l" t="t" r="r" b="b"/>
                  <a:pathLst>
                    <a:path w="9525" h="9525">
                      <a:moveTo>
                        <a:pt x="0" y="0"/>
                      </a:moveTo>
                      <a:lnTo>
                        <a:pt x="7223" y="4167"/>
                      </a:lnTo>
                    </a:path>
                  </a:pathLst>
                </a:custGeom>
                <a:noFill/>
                <a:ln w="11112">
                  <a:solidFill>
                    <a:srgbClr val="4E0D00"/>
                  </a:solidFill>
                </a:ln>
              </p:spPr>
            </p:sp>
            <p:sp>
              <p:nvSpPr>
                <p:cNvPr id="106" name="Freeform 106"/>
                <p:cNvSpPr/>
                <p:nvPr/>
              </p:nvSpPr>
              <p:spPr>
                <a:xfrm>
                  <a:off x="6449323" y="1406525"/>
                  <a:ext cx="9525" cy="9525"/>
                </a:xfrm>
                <a:custGeom>
                  <a:avLst/>
                  <a:gdLst/>
                  <a:ahLst/>
                  <a:cxnLst/>
                  <a:rect l="l" t="t" r="r" b="b"/>
                  <a:pathLst>
                    <a:path w="9525" h="9525">
                      <a:moveTo>
                        <a:pt x="0" y="0"/>
                      </a:moveTo>
                      <a:lnTo>
                        <a:pt x="7223" y="4167"/>
                      </a:lnTo>
                    </a:path>
                  </a:pathLst>
                </a:custGeom>
                <a:noFill/>
                <a:ln w="11112">
                  <a:solidFill>
                    <a:srgbClr val="4E0D00"/>
                  </a:solidFill>
                </a:ln>
              </p:spPr>
            </p:sp>
          </p:grpSp>
          <p:sp>
            <p:nvSpPr>
              <p:cNvPr id="108" name="TextBox 108"/>
              <p:cNvSpPr txBox="1"/>
              <p:nvPr/>
            </p:nvSpPr>
            <p:spPr>
              <a:xfrm>
                <a:off x="6234494" y="1497330"/>
                <a:ext cx="332613" cy="119062"/>
              </a:xfrm>
              <a:prstGeom prst="rect">
                <a:avLst/>
              </a:prstGeom>
              <a:noFill/>
              <a:ln>
                <a:noFill/>
              </a:ln>
            </p:spPr>
            <p:txBody>
              <a:bodyPr wrap="none" lIns="0" tIns="0" rIns="0" bIns="0" anchor="t" anchorCtr="0">
                <a:spAutoFit/>
              </a:bodyPr>
              <a:lstStyle/>
              <a:p>
                <a:pPr algn="ctr"/>
                <a:r>
                  <a:rPr lang="zh-CN" sz="600" b="1" dirty="0">
                    <a:solidFill>
                      <a:srgbClr val="4E0D00"/>
                    </a:solidFill>
                    <a:latin typeface="+mn-lt"/>
                    <a:ea typeface="+mn-ea"/>
                    <a:cs typeface="+mn-cs"/>
                  </a:rPr>
                  <a:t>高层领导</a:t>
                </a:r>
              </a:p>
            </p:txBody>
          </p:sp>
          <p:sp>
            <p:nvSpPr>
              <p:cNvPr id="109" name="TextBox 109"/>
              <p:cNvSpPr txBox="1"/>
              <p:nvPr/>
            </p:nvSpPr>
            <p:spPr>
              <a:xfrm>
                <a:off x="6815138" y="1320403"/>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主动传递变革方向</a:t>
                </a:r>
              </a:p>
            </p:txBody>
          </p:sp>
          <p:sp>
            <p:nvSpPr>
              <p:cNvPr id="110" name="TextBox 110"/>
              <p:cNvSpPr txBox="1"/>
              <p:nvPr/>
            </p:nvSpPr>
            <p:spPr>
              <a:xfrm>
                <a:off x="6815138" y="1444228"/>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亲临一线行动承诺</a:t>
                </a:r>
              </a:p>
            </p:txBody>
          </p:sp>
          <p:sp>
            <p:nvSpPr>
              <p:cNvPr id="111" name="TextBox 111"/>
              <p:cNvSpPr txBox="1"/>
              <p:nvPr/>
            </p:nvSpPr>
            <p:spPr>
              <a:xfrm>
                <a:off x="6815138" y="1568053"/>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关键议程承诺行动</a:t>
                </a:r>
              </a:p>
            </p:txBody>
          </p:sp>
          <p:sp>
            <p:nvSpPr>
              <p:cNvPr id="112" name="TextBox 112"/>
              <p:cNvSpPr txBox="1"/>
              <p:nvPr/>
            </p:nvSpPr>
            <p:spPr>
              <a:xfrm>
                <a:off x="8053388" y="1320403"/>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时间与精力不足</a:t>
                </a:r>
              </a:p>
            </p:txBody>
          </p:sp>
          <p:sp>
            <p:nvSpPr>
              <p:cNvPr id="113" name="TextBox 113"/>
              <p:cNvSpPr txBox="1"/>
              <p:nvPr/>
            </p:nvSpPr>
            <p:spPr>
              <a:xfrm>
                <a:off x="8053388" y="1444228"/>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优先级相互冲突</a:t>
                </a:r>
              </a:p>
            </p:txBody>
          </p:sp>
          <p:sp>
            <p:nvSpPr>
              <p:cNvPr id="114" name="TextBox 114"/>
              <p:cNvSpPr txBox="1"/>
              <p:nvPr/>
            </p:nvSpPr>
            <p:spPr>
              <a:xfrm>
                <a:off x="9177338" y="1320403"/>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领导工作报告机制</a:t>
                </a:r>
              </a:p>
            </p:txBody>
          </p:sp>
          <p:sp>
            <p:nvSpPr>
              <p:cNvPr id="115" name="TextBox 115"/>
              <p:cNvSpPr txBox="1"/>
              <p:nvPr/>
            </p:nvSpPr>
            <p:spPr>
              <a:xfrm>
                <a:off x="9177338" y="1444228"/>
                <a:ext cx="838784"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关键议程与首发事项挂钩</a:t>
                </a:r>
              </a:p>
            </p:txBody>
          </p:sp>
          <p:sp>
            <p:nvSpPr>
              <p:cNvPr id="116" name="TextBox 116"/>
              <p:cNvSpPr txBox="1"/>
              <p:nvPr/>
            </p:nvSpPr>
            <p:spPr>
              <a:xfrm>
                <a:off x="9177338" y="1568053"/>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公开承诺与示范</a:t>
                </a:r>
              </a:p>
            </p:txBody>
          </p:sp>
          <p:sp>
            <p:nvSpPr>
              <p:cNvPr id="117" name="TextBox 117"/>
              <p:cNvSpPr txBox="1"/>
              <p:nvPr/>
            </p:nvSpPr>
            <p:spPr>
              <a:xfrm>
                <a:off x="10587038" y="1320403"/>
                <a:ext cx="46184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领导示范频次</a:t>
                </a:r>
              </a:p>
            </p:txBody>
          </p:sp>
          <p:sp>
            <p:nvSpPr>
              <p:cNvPr id="118" name="TextBox 118"/>
              <p:cNvSpPr txBox="1"/>
              <p:nvPr/>
            </p:nvSpPr>
            <p:spPr>
              <a:xfrm>
                <a:off x="10587038" y="1444228"/>
                <a:ext cx="46184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变革推进比例</a:t>
                </a:r>
              </a:p>
            </p:txBody>
          </p:sp>
          <p:sp>
            <p:nvSpPr>
              <p:cNvPr id="119" name="TextBox 119"/>
              <p:cNvSpPr txBox="1"/>
              <p:nvPr/>
            </p:nvSpPr>
            <p:spPr>
              <a:xfrm>
                <a:off x="10587038" y="1568053"/>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关键议程承诺率</a:t>
                </a:r>
              </a:p>
            </p:txBody>
          </p:sp>
        </p:grpSp>
        <p:grpSp>
          <p:nvGrpSpPr>
            <p:cNvPr id="136" name="am-mid"/>
            <p:cNvGrpSpPr/>
            <p:nvPr/>
          </p:nvGrpSpPr>
          <p:grpSpPr>
            <a:xfrm>
              <a:off x="6057900" y="1809750"/>
              <a:ext cx="5905500" cy="571500"/>
              <a:chOff x="6057900" y="1809750"/>
              <a:chExt cx="5905500" cy="571500"/>
            </a:xfrm>
          </p:grpSpPr>
          <p:sp>
            <p:nvSpPr>
              <p:cNvPr id="121" name="Rectangle 121"/>
              <p:cNvSpPr/>
              <p:nvPr/>
            </p:nvSpPr>
            <p:spPr>
              <a:xfrm>
                <a:off x="6057900" y="1809750"/>
                <a:ext cx="5905500" cy="571500"/>
              </a:xfrm>
              <a:prstGeom prst="rect">
                <a:avLst/>
              </a:prstGeom>
              <a:solidFill>
                <a:srgbClr val="F7F9FC"/>
              </a:solidFill>
              <a:ln w="9525">
                <a:solidFill>
                  <a:srgbClr val="E2E8F2"/>
                </a:solidFill>
              </a:ln>
            </p:spPr>
          </p:sp>
          <p:sp>
            <p:nvSpPr>
              <p:cNvPr id="122" name="Rectangle 122"/>
              <p:cNvSpPr/>
              <p:nvPr/>
            </p:nvSpPr>
            <p:spPr>
              <a:xfrm>
                <a:off x="6057900" y="1809750"/>
                <a:ext cx="685800" cy="571500"/>
              </a:xfrm>
              <a:prstGeom prst="rect">
                <a:avLst/>
              </a:prstGeom>
              <a:solidFill>
                <a:srgbClr val="EFF3FA"/>
              </a:solidFill>
              <a:ln>
                <a:noFill/>
              </a:ln>
            </p:spPr>
          </p:sp>
          <p:grpSp>
            <p:nvGrpSpPr>
              <p:cNvPr id="125" name="Group 125"/>
              <p:cNvGrpSpPr/>
              <p:nvPr/>
            </p:nvGrpSpPr>
            <p:grpSpPr>
              <a:xfrm>
                <a:off x="6367462" y="1883569"/>
                <a:ext cx="66675" cy="100012"/>
                <a:chOff x="6367462" y="1883569"/>
                <a:chExt cx="66675" cy="100012"/>
              </a:xfrm>
            </p:grpSpPr>
            <p:sp>
              <p:nvSpPr>
                <p:cNvPr id="123" name="Freeform 123"/>
                <p:cNvSpPr/>
                <p:nvPr/>
              </p:nvSpPr>
              <p:spPr>
                <a:xfrm>
                  <a:off x="6378575" y="18835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4E0D00"/>
                  </a:solidFill>
                </a:ln>
              </p:spPr>
            </p:sp>
            <p:sp>
              <p:nvSpPr>
                <p:cNvPr id="124" name="Freeform 124"/>
                <p:cNvSpPr/>
                <p:nvPr/>
              </p:nvSpPr>
              <p:spPr>
                <a:xfrm>
                  <a:off x="6367462" y="19502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4E0D00"/>
                  </a:solidFill>
                </a:ln>
              </p:spPr>
            </p:sp>
          </p:grpSp>
          <p:sp>
            <p:nvSpPr>
              <p:cNvPr id="126" name="TextBox 126"/>
              <p:cNvSpPr txBox="1"/>
              <p:nvPr/>
            </p:nvSpPr>
            <p:spPr>
              <a:xfrm>
                <a:off x="6194108" y="2068830"/>
                <a:ext cx="413385" cy="119062"/>
              </a:xfrm>
              <a:prstGeom prst="rect">
                <a:avLst/>
              </a:prstGeom>
              <a:noFill/>
              <a:ln>
                <a:noFill/>
              </a:ln>
            </p:spPr>
            <p:txBody>
              <a:bodyPr wrap="none" lIns="0" tIns="0" rIns="0" bIns="0" anchor="t" anchorCtr="0">
                <a:spAutoFit/>
              </a:bodyPr>
              <a:lstStyle/>
              <a:p>
                <a:pPr algn="ctr"/>
                <a:r>
                  <a:rPr lang="zh-CN" sz="600" b="1" dirty="0">
                    <a:solidFill>
                      <a:srgbClr val="4E0D00"/>
                    </a:solidFill>
                    <a:latin typeface="+mn-lt"/>
                    <a:ea typeface="+mn-ea"/>
                    <a:cs typeface="+mn-cs"/>
                  </a:rPr>
                  <a:t>中层管理者</a:t>
                </a:r>
              </a:p>
            </p:txBody>
          </p:sp>
          <p:sp>
            <p:nvSpPr>
              <p:cNvPr id="127" name="TextBox 127"/>
              <p:cNvSpPr txBox="1"/>
              <p:nvPr/>
            </p:nvSpPr>
            <p:spPr>
              <a:xfrm>
                <a:off x="6815138" y="1891903"/>
                <a:ext cx="76339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分解目标并对团队承诺</a:t>
                </a:r>
              </a:p>
            </p:txBody>
          </p:sp>
          <p:sp>
            <p:nvSpPr>
              <p:cNvPr id="128" name="TextBox 128"/>
              <p:cNvSpPr txBox="1"/>
              <p:nvPr/>
            </p:nvSpPr>
            <p:spPr>
              <a:xfrm>
                <a:off x="6815138" y="2015728"/>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推动纵向与横向对齐</a:t>
                </a:r>
              </a:p>
            </p:txBody>
          </p:sp>
          <p:sp>
            <p:nvSpPr>
              <p:cNvPr id="129" name="TextBox 129"/>
              <p:cNvSpPr txBox="1"/>
              <p:nvPr/>
            </p:nvSpPr>
            <p:spPr>
              <a:xfrm>
                <a:off x="8053388" y="1891903"/>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角色与优先级冲突</a:t>
                </a:r>
              </a:p>
            </p:txBody>
          </p:sp>
          <p:sp>
            <p:nvSpPr>
              <p:cNvPr id="130" name="TextBox 130"/>
              <p:cNvSpPr txBox="1"/>
              <p:nvPr/>
            </p:nvSpPr>
            <p:spPr>
              <a:xfrm>
                <a:off x="8053388" y="2015728"/>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缺乏授权与激励</a:t>
                </a:r>
              </a:p>
            </p:txBody>
          </p:sp>
          <p:sp>
            <p:nvSpPr>
              <p:cNvPr id="131" name="TextBox 131"/>
              <p:cNvSpPr txBox="1"/>
              <p:nvPr/>
            </p:nvSpPr>
            <p:spPr>
              <a:xfrm>
                <a:off x="9177338" y="1891903"/>
                <a:ext cx="695549"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1对1辅导与分层共识</a:t>
                </a:r>
              </a:p>
            </p:txBody>
          </p:sp>
          <p:sp>
            <p:nvSpPr>
              <p:cNvPr id="132" name="TextBox 132"/>
              <p:cNvSpPr txBox="1"/>
              <p:nvPr/>
            </p:nvSpPr>
            <p:spPr>
              <a:xfrm>
                <a:off x="9177338" y="2015728"/>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授权清单与关键责任</a:t>
                </a:r>
              </a:p>
            </p:txBody>
          </p:sp>
          <p:sp>
            <p:nvSpPr>
              <p:cNvPr id="133" name="TextBox 133"/>
              <p:cNvSpPr txBox="1"/>
              <p:nvPr/>
            </p:nvSpPr>
            <p:spPr>
              <a:xfrm>
                <a:off x="10587038" y="1891903"/>
                <a:ext cx="38646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目标对齐率</a:t>
                </a:r>
              </a:p>
            </p:txBody>
          </p:sp>
          <p:sp>
            <p:nvSpPr>
              <p:cNvPr id="134" name="TextBox 134"/>
              <p:cNvSpPr txBox="1"/>
              <p:nvPr/>
            </p:nvSpPr>
            <p:spPr>
              <a:xfrm>
                <a:off x="10587038" y="2015728"/>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关键举措达成率</a:t>
                </a:r>
              </a:p>
            </p:txBody>
          </p:sp>
          <p:sp>
            <p:nvSpPr>
              <p:cNvPr id="135" name="TextBox 135"/>
              <p:cNvSpPr txBox="1"/>
              <p:nvPr/>
            </p:nvSpPr>
            <p:spPr>
              <a:xfrm>
                <a:off x="10587038" y="2139553"/>
                <a:ext cx="38646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执行完成率</a:t>
                </a:r>
              </a:p>
            </p:txBody>
          </p:sp>
        </p:grpSp>
        <p:grpSp>
          <p:nvGrpSpPr>
            <p:cNvPr id="155" name="am-front"/>
            <p:cNvGrpSpPr/>
            <p:nvPr/>
          </p:nvGrpSpPr>
          <p:grpSpPr>
            <a:xfrm>
              <a:off x="6057900" y="2381250"/>
              <a:ext cx="5905500" cy="571500"/>
              <a:chOff x="6057900" y="2381250"/>
              <a:chExt cx="5905500" cy="571500"/>
            </a:xfrm>
          </p:grpSpPr>
          <p:sp>
            <p:nvSpPr>
              <p:cNvPr id="137" name="Rectangle 137"/>
              <p:cNvSpPr/>
              <p:nvPr/>
            </p:nvSpPr>
            <p:spPr>
              <a:xfrm>
                <a:off x="6057900" y="2381250"/>
                <a:ext cx="5905500" cy="571500"/>
              </a:xfrm>
              <a:prstGeom prst="rect">
                <a:avLst/>
              </a:prstGeom>
              <a:solidFill>
                <a:srgbClr val="FFFFFF"/>
              </a:solidFill>
              <a:ln w="9525">
                <a:solidFill>
                  <a:srgbClr val="E2E8F2"/>
                </a:solidFill>
              </a:ln>
            </p:spPr>
          </p:sp>
          <p:sp>
            <p:nvSpPr>
              <p:cNvPr id="138" name="Rectangle 138"/>
              <p:cNvSpPr/>
              <p:nvPr/>
            </p:nvSpPr>
            <p:spPr>
              <a:xfrm>
                <a:off x="6057900" y="2381250"/>
                <a:ext cx="685800" cy="571500"/>
              </a:xfrm>
              <a:prstGeom prst="rect">
                <a:avLst/>
              </a:prstGeom>
              <a:solidFill>
                <a:srgbClr val="EFF3FA"/>
              </a:solidFill>
              <a:ln>
                <a:noFill/>
              </a:ln>
            </p:spPr>
          </p:sp>
          <p:grpSp>
            <p:nvGrpSpPr>
              <p:cNvPr id="143" name="Group 143"/>
              <p:cNvGrpSpPr/>
              <p:nvPr/>
            </p:nvGrpSpPr>
            <p:grpSpPr>
              <a:xfrm>
                <a:off x="6350794" y="2455069"/>
                <a:ext cx="100012" cy="100012"/>
                <a:chOff x="6350794" y="2455069"/>
                <a:chExt cx="100012" cy="100012"/>
              </a:xfrm>
            </p:grpSpPr>
            <p:sp>
              <p:nvSpPr>
                <p:cNvPr id="139" name="Freeform 139"/>
                <p:cNvSpPr/>
                <p:nvPr/>
              </p:nvSpPr>
              <p:spPr>
                <a:xfrm>
                  <a:off x="6361906" y="2455069"/>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1112">
                  <a:solidFill>
                    <a:srgbClr val="4E0D00"/>
                  </a:solidFill>
                </a:ln>
              </p:spPr>
            </p:sp>
            <p:sp>
              <p:nvSpPr>
                <p:cNvPr id="140" name="Freeform 140"/>
                <p:cNvSpPr/>
                <p:nvPr/>
              </p:nvSpPr>
              <p:spPr>
                <a:xfrm>
                  <a:off x="6350794" y="2521744"/>
                  <a:ext cx="66675" cy="33337"/>
                </a:xfrm>
                <a:custGeom>
                  <a:avLst/>
                  <a:gdLst/>
                  <a:ahLst/>
                  <a:cxnLst/>
                  <a:rect l="l" t="t" r="r" b="b"/>
                  <a:pathLst>
                    <a:path w="66675" h="33337">
                      <a:moveTo>
                        <a:pt x="0" y="33337"/>
                      </a:moveTo>
                      <a:lnTo>
                        <a:pt x="0" y="22225"/>
                      </a:lnTo>
                      <a:cubicBezTo>
                        <a:pt x="0" y="9950"/>
                        <a:pt x="9950" y="0"/>
                        <a:pt x="22225" y="0"/>
                      </a:cubicBezTo>
                      <a:lnTo>
                        <a:pt x="44450" y="0"/>
                      </a:lnTo>
                      <a:cubicBezTo>
                        <a:pt x="56724" y="0"/>
                        <a:pt x="66675" y="9950"/>
                        <a:pt x="66675" y="22225"/>
                      </a:cubicBezTo>
                      <a:lnTo>
                        <a:pt x="66675" y="33337"/>
                      </a:lnTo>
                    </a:path>
                  </a:pathLst>
                </a:custGeom>
                <a:noFill/>
                <a:ln w="11112">
                  <a:solidFill>
                    <a:srgbClr val="4E0D00"/>
                  </a:solidFill>
                </a:ln>
              </p:spPr>
            </p:sp>
            <p:sp>
              <p:nvSpPr>
                <p:cNvPr id="141" name="Freeform 141"/>
                <p:cNvSpPr/>
                <p:nvPr/>
              </p:nvSpPr>
              <p:spPr>
                <a:xfrm>
                  <a:off x="6423025" y="2455791"/>
                  <a:ext cx="16712" cy="43061"/>
                </a:xfrm>
                <a:custGeom>
                  <a:avLst/>
                  <a:gdLst/>
                  <a:ahLst/>
                  <a:cxnLst/>
                  <a:rect l="l" t="t" r="r" b="b"/>
                  <a:pathLst>
                    <a:path w="16712" h="43061">
                      <a:moveTo>
                        <a:pt x="0" y="0"/>
                      </a:moveTo>
                      <a:cubicBezTo>
                        <a:pt x="9834" y="2518"/>
                        <a:pt x="16712" y="11379"/>
                        <a:pt x="16712" y="21530"/>
                      </a:cubicBezTo>
                      <a:cubicBezTo>
                        <a:pt x="16712" y="31682"/>
                        <a:pt x="9834" y="40543"/>
                        <a:pt x="0" y="43061"/>
                      </a:cubicBezTo>
                    </a:path>
                  </a:pathLst>
                </a:custGeom>
                <a:noFill/>
                <a:ln w="11112">
                  <a:solidFill>
                    <a:srgbClr val="4E0D00"/>
                  </a:solidFill>
                </a:ln>
              </p:spPr>
            </p:sp>
            <p:sp>
              <p:nvSpPr>
                <p:cNvPr id="142" name="Freeform 142"/>
                <p:cNvSpPr/>
                <p:nvPr/>
              </p:nvSpPr>
              <p:spPr>
                <a:xfrm>
                  <a:off x="6434137" y="2522577"/>
                  <a:ext cx="16669" cy="32504"/>
                </a:xfrm>
                <a:custGeom>
                  <a:avLst/>
                  <a:gdLst/>
                  <a:ahLst/>
                  <a:cxnLst/>
                  <a:rect l="l" t="t" r="r" b="b"/>
                  <a:pathLst>
                    <a:path w="16669" h="32504">
                      <a:moveTo>
                        <a:pt x="16669" y="32504"/>
                      </a:moveTo>
                      <a:lnTo>
                        <a:pt x="16669" y="21392"/>
                      </a:lnTo>
                      <a:cubicBezTo>
                        <a:pt x="16611" y="11305"/>
                        <a:pt x="9767" y="2522"/>
                        <a:pt x="0" y="0"/>
                      </a:cubicBezTo>
                    </a:path>
                  </a:pathLst>
                </a:custGeom>
                <a:noFill/>
                <a:ln w="11112">
                  <a:solidFill>
                    <a:srgbClr val="4E0D00"/>
                  </a:solidFill>
                </a:ln>
              </p:spPr>
            </p:sp>
          </p:grpSp>
          <p:sp>
            <p:nvSpPr>
              <p:cNvPr id="144" name="TextBox 144"/>
              <p:cNvSpPr txBox="1"/>
              <p:nvPr/>
            </p:nvSpPr>
            <p:spPr>
              <a:xfrm>
                <a:off x="6234494" y="2640330"/>
                <a:ext cx="332613" cy="119062"/>
              </a:xfrm>
              <a:prstGeom prst="rect">
                <a:avLst/>
              </a:prstGeom>
              <a:noFill/>
              <a:ln>
                <a:noFill/>
              </a:ln>
            </p:spPr>
            <p:txBody>
              <a:bodyPr wrap="none" lIns="0" tIns="0" rIns="0" bIns="0" anchor="t" anchorCtr="0">
                <a:spAutoFit/>
              </a:bodyPr>
              <a:lstStyle/>
              <a:p>
                <a:pPr algn="ctr"/>
                <a:r>
                  <a:rPr lang="zh-CN" sz="600" b="1" dirty="0">
                    <a:solidFill>
                      <a:srgbClr val="4E0D00"/>
                    </a:solidFill>
                    <a:latin typeface="+mn-lt"/>
                    <a:ea typeface="+mn-ea"/>
                    <a:cs typeface="+mn-cs"/>
                  </a:rPr>
                  <a:t>一线员工</a:t>
                </a:r>
              </a:p>
            </p:txBody>
          </p:sp>
          <p:sp>
            <p:nvSpPr>
              <p:cNvPr id="145" name="TextBox 145"/>
              <p:cNvSpPr txBox="1"/>
              <p:nvPr/>
            </p:nvSpPr>
            <p:spPr>
              <a:xfrm>
                <a:off x="6815138" y="2463403"/>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掌握新流程与新方法</a:t>
                </a:r>
              </a:p>
            </p:txBody>
          </p:sp>
          <p:sp>
            <p:nvSpPr>
              <p:cNvPr id="146" name="TextBox 146"/>
              <p:cNvSpPr txBox="1"/>
              <p:nvPr/>
            </p:nvSpPr>
            <p:spPr>
              <a:xfrm>
                <a:off x="6815138" y="2587228"/>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按新标准协同作业</a:t>
                </a:r>
              </a:p>
            </p:txBody>
          </p:sp>
          <p:sp>
            <p:nvSpPr>
              <p:cNvPr id="147" name="TextBox 147"/>
              <p:cNvSpPr txBox="1"/>
              <p:nvPr/>
            </p:nvSpPr>
            <p:spPr>
              <a:xfrm>
                <a:off x="8053388" y="2463403"/>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能力不足与习惯依赖</a:t>
                </a:r>
              </a:p>
            </p:txBody>
          </p:sp>
          <p:sp>
            <p:nvSpPr>
              <p:cNvPr id="148" name="TextBox 148"/>
              <p:cNvSpPr txBox="1"/>
              <p:nvPr/>
            </p:nvSpPr>
            <p:spPr>
              <a:xfrm>
                <a:off x="8053388" y="2587228"/>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工具与资源缺失</a:t>
                </a:r>
              </a:p>
            </p:txBody>
          </p:sp>
          <p:sp>
            <p:nvSpPr>
              <p:cNvPr id="149" name="TextBox 149"/>
              <p:cNvSpPr txBox="1"/>
              <p:nvPr/>
            </p:nvSpPr>
            <p:spPr>
              <a:xfrm>
                <a:off x="9177338" y="2463403"/>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针对性培训与演练</a:t>
                </a:r>
              </a:p>
            </p:txBody>
          </p:sp>
          <p:sp>
            <p:nvSpPr>
              <p:cNvPr id="150" name="TextBox 150"/>
              <p:cNvSpPr txBox="1"/>
              <p:nvPr/>
            </p:nvSpPr>
            <p:spPr>
              <a:xfrm>
                <a:off x="9177338" y="2587228"/>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现场支持与即时答疑</a:t>
                </a:r>
              </a:p>
            </p:txBody>
          </p:sp>
          <p:sp>
            <p:nvSpPr>
              <p:cNvPr id="151" name="TextBox 151"/>
              <p:cNvSpPr txBox="1"/>
              <p:nvPr/>
            </p:nvSpPr>
            <p:spPr>
              <a:xfrm>
                <a:off x="9177338" y="2711053"/>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收集变革建议与激励</a:t>
                </a:r>
              </a:p>
            </p:txBody>
          </p:sp>
          <p:sp>
            <p:nvSpPr>
              <p:cNvPr id="152" name="TextBox 152"/>
              <p:cNvSpPr txBox="1"/>
              <p:nvPr/>
            </p:nvSpPr>
            <p:spPr>
              <a:xfrm>
                <a:off x="10587038" y="2463403"/>
                <a:ext cx="46184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新流程采用率</a:t>
                </a:r>
              </a:p>
            </p:txBody>
          </p:sp>
          <p:sp>
            <p:nvSpPr>
              <p:cNvPr id="153" name="TextBox 153"/>
              <p:cNvSpPr txBox="1"/>
              <p:nvPr/>
            </p:nvSpPr>
            <p:spPr>
              <a:xfrm>
                <a:off x="10587038" y="2587228"/>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质量与效率指标</a:t>
                </a:r>
              </a:p>
            </p:txBody>
          </p:sp>
          <p:sp>
            <p:nvSpPr>
              <p:cNvPr id="154" name="TextBox 154"/>
              <p:cNvSpPr txBox="1"/>
              <p:nvPr/>
            </p:nvSpPr>
            <p:spPr>
              <a:xfrm>
                <a:off x="10587038" y="2711053"/>
                <a:ext cx="46184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改善建议数量</a:t>
                </a:r>
              </a:p>
            </p:txBody>
          </p:sp>
        </p:grpSp>
        <p:grpSp>
          <p:nvGrpSpPr>
            <p:cNvPr id="178" name="am-func"/>
            <p:cNvGrpSpPr/>
            <p:nvPr/>
          </p:nvGrpSpPr>
          <p:grpSpPr>
            <a:xfrm>
              <a:off x="6057900" y="2952750"/>
              <a:ext cx="5905500" cy="571500"/>
              <a:chOff x="6057900" y="2952750"/>
              <a:chExt cx="5905500" cy="571500"/>
            </a:xfrm>
          </p:grpSpPr>
          <p:sp>
            <p:nvSpPr>
              <p:cNvPr id="156" name="Rectangle 156"/>
              <p:cNvSpPr/>
              <p:nvPr/>
            </p:nvSpPr>
            <p:spPr>
              <a:xfrm>
                <a:off x="6057900" y="2952750"/>
                <a:ext cx="5905500" cy="571500"/>
              </a:xfrm>
              <a:prstGeom prst="rect">
                <a:avLst/>
              </a:prstGeom>
              <a:solidFill>
                <a:srgbClr val="F7F9FC"/>
              </a:solidFill>
              <a:ln w="9525">
                <a:solidFill>
                  <a:srgbClr val="E2E8F2"/>
                </a:solidFill>
              </a:ln>
            </p:spPr>
          </p:sp>
          <p:sp>
            <p:nvSpPr>
              <p:cNvPr id="157" name="Rectangle 157"/>
              <p:cNvSpPr/>
              <p:nvPr/>
            </p:nvSpPr>
            <p:spPr>
              <a:xfrm>
                <a:off x="6057900" y="2952750"/>
                <a:ext cx="685800" cy="571500"/>
              </a:xfrm>
              <a:prstGeom prst="rect">
                <a:avLst/>
              </a:prstGeom>
              <a:solidFill>
                <a:srgbClr val="EFF3FA"/>
              </a:solidFill>
              <a:ln>
                <a:noFill/>
              </a:ln>
            </p:spPr>
          </p:sp>
          <p:grpSp>
            <p:nvGrpSpPr>
              <p:cNvPr id="164" name="Group 164"/>
              <p:cNvGrpSpPr/>
              <p:nvPr/>
            </p:nvGrpSpPr>
            <p:grpSpPr>
              <a:xfrm>
                <a:off x="6350794" y="3026569"/>
                <a:ext cx="100012" cy="100012"/>
                <a:chOff x="6350794" y="3026569"/>
                <a:chExt cx="100012" cy="100012"/>
              </a:xfrm>
            </p:grpSpPr>
            <p:sp>
              <p:nvSpPr>
                <p:cNvPr id="158" name="Freeform 158"/>
                <p:cNvSpPr/>
                <p:nvPr/>
              </p:nvSpPr>
              <p:spPr>
                <a:xfrm>
                  <a:off x="6389687" y="307101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4E0D00"/>
                  </a:solidFill>
                </a:ln>
              </p:spPr>
            </p:sp>
            <p:sp>
              <p:nvSpPr>
                <p:cNvPr id="159" name="Freeform 159"/>
                <p:cNvSpPr/>
                <p:nvPr/>
              </p:nvSpPr>
              <p:spPr>
                <a:xfrm>
                  <a:off x="6378575" y="3109912"/>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4E0D00"/>
                  </a:solidFill>
                </a:ln>
              </p:spPr>
            </p:sp>
            <p:sp>
              <p:nvSpPr>
                <p:cNvPr id="160" name="Freeform 160"/>
                <p:cNvSpPr/>
                <p:nvPr/>
              </p:nvSpPr>
              <p:spPr>
                <a:xfrm>
                  <a:off x="6417469" y="30265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4E0D00"/>
                  </a:solidFill>
                </a:ln>
              </p:spPr>
            </p:sp>
            <p:sp>
              <p:nvSpPr>
                <p:cNvPr id="161" name="Freeform 161"/>
                <p:cNvSpPr/>
                <p:nvPr/>
              </p:nvSpPr>
              <p:spPr>
                <a:xfrm>
                  <a:off x="6428581" y="3065462"/>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4E0D00"/>
                  </a:solidFill>
                </a:ln>
              </p:spPr>
            </p:sp>
            <p:sp>
              <p:nvSpPr>
                <p:cNvPr id="162" name="Freeform 162"/>
                <p:cNvSpPr/>
                <p:nvPr/>
              </p:nvSpPr>
              <p:spPr>
                <a:xfrm>
                  <a:off x="6361906" y="3026569"/>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4E0D00"/>
                  </a:solidFill>
                </a:ln>
              </p:spPr>
            </p:sp>
            <p:sp>
              <p:nvSpPr>
                <p:cNvPr id="163" name="Freeform 163"/>
                <p:cNvSpPr/>
                <p:nvPr/>
              </p:nvSpPr>
              <p:spPr>
                <a:xfrm>
                  <a:off x="6350794" y="3065462"/>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4E0D00"/>
                  </a:solidFill>
                </a:ln>
              </p:spPr>
            </p:sp>
          </p:grpSp>
          <p:sp>
            <p:nvSpPr>
              <p:cNvPr id="165" name="TextBox 165"/>
              <p:cNvSpPr txBox="1"/>
              <p:nvPr/>
            </p:nvSpPr>
            <p:spPr>
              <a:xfrm>
                <a:off x="6169876" y="3215878"/>
                <a:ext cx="461848" cy="111919"/>
              </a:xfrm>
              <a:prstGeom prst="rect">
                <a:avLst/>
              </a:prstGeom>
              <a:noFill/>
              <a:ln>
                <a:noFill/>
              </a:ln>
            </p:spPr>
            <p:txBody>
              <a:bodyPr wrap="none" lIns="0" tIns="0" rIns="0" bIns="0" anchor="t" anchorCtr="0">
                <a:spAutoFit/>
              </a:bodyPr>
              <a:lstStyle/>
              <a:p>
                <a:pPr algn="ctr"/>
                <a:r>
                  <a:rPr lang="zh-CN" sz="560" b="1" dirty="0">
                    <a:solidFill>
                      <a:srgbClr val="4E0D00"/>
                    </a:solidFill>
                    <a:latin typeface="+mn-lt"/>
                    <a:ea typeface="+mn-ea"/>
                    <a:cs typeface="+mn-cs"/>
                  </a:rPr>
                  <a:t>职能支持团队</a:t>
                </a:r>
              </a:p>
            </p:txBody>
          </p:sp>
          <p:sp>
            <p:nvSpPr>
              <p:cNvPr id="166" name="TextBox 166"/>
              <p:cNvSpPr txBox="1"/>
              <p:nvPr/>
            </p:nvSpPr>
            <p:spPr>
              <a:xfrm>
                <a:off x="6815138" y="3034903"/>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提供专业支持与方案</a:t>
                </a:r>
              </a:p>
            </p:txBody>
          </p:sp>
          <p:sp>
            <p:nvSpPr>
              <p:cNvPr id="167" name="TextBox 167"/>
              <p:cNvSpPr txBox="1"/>
              <p:nvPr/>
            </p:nvSpPr>
            <p:spPr>
              <a:xfrm>
                <a:off x="6815138" y="3158728"/>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快速响应业务需求</a:t>
                </a:r>
              </a:p>
            </p:txBody>
          </p:sp>
          <p:sp>
            <p:nvSpPr>
              <p:cNvPr id="168" name="TextBox 168"/>
              <p:cNvSpPr txBox="1"/>
              <p:nvPr/>
            </p:nvSpPr>
            <p:spPr>
              <a:xfrm>
                <a:off x="6815138" y="3282553"/>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优化流程与支持工具</a:t>
                </a:r>
              </a:p>
            </p:txBody>
          </p:sp>
          <p:sp>
            <p:nvSpPr>
              <p:cNvPr id="169" name="TextBox 169"/>
              <p:cNvSpPr txBox="1"/>
              <p:nvPr/>
            </p:nvSpPr>
            <p:spPr>
              <a:xfrm>
                <a:off x="8053388" y="3034903"/>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需求不清与变化频繁</a:t>
                </a:r>
              </a:p>
            </p:txBody>
          </p:sp>
          <p:sp>
            <p:nvSpPr>
              <p:cNvPr id="170" name="TextBox 170"/>
              <p:cNvSpPr txBox="1"/>
              <p:nvPr/>
            </p:nvSpPr>
            <p:spPr>
              <a:xfrm>
                <a:off x="8053388" y="3158728"/>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跨部门协同不足</a:t>
                </a:r>
              </a:p>
            </p:txBody>
          </p:sp>
          <p:sp>
            <p:nvSpPr>
              <p:cNvPr id="171" name="TextBox 171"/>
              <p:cNvSpPr txBox="1"/>
              <p:nvPr/>
            </p:nvSpPr>
            <p:spPr>
              <a:xfrm>
                <a:off x="8053388" y="3282553"/>
                <a:ext cx="46184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服务标准不一</a:t>
                </a:r>
              </a:p>
            </p:txBody>
          </p:sp>
          <p:sp>
            <p:nvSpPr>
              <p:cNvPr id="172" name="TextBox 172"/>
              <p:cNvSpPr txBox="1"/>
              <p:nvPr/>
            </p:nvSpPr>
            <p:spPr>
              <a:xfrm>
                <a:off x="9177338" y="3034903"/>
                <a:ext cx="76339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需求澄清与优先级管理</a:t>
                </a:r>
              </a:p>
            </p:txBody>
          </p:sp>
          <p:sp>
            <p:nvSpPr>
              <p:cNvPr id="173" name="TextBox 173"/>
              <p:cNvSpPr txBox="1"/>
              <p:nvPr/>
            </p:nvSpPr>
            <p:spPr>
              <a:xfrm>
                <a:off x="9177338" y="3158728"/>
                <a:ext cx="56170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服务承诺与SLA​</a:t>
                </a:r>
              </a:p>
            </p:txBody>
          </p:sp>
          <p:sp>
            <p:nvSpPr>
              <p:cNvPr id="174" name="TextBox 174"/>
              <p:cNvSpPr txBox="1"/>
              <p:nvPr/>
            </p:nvSpPr>
            <p:spPr>
              <a:xfrm>
                <a:off x="9177338" y="3282553"/>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标准化工具与模板</a:t>
                </a:r>
              </a:p>
            </p:txBody>
          </p:sp>
          <p:sp>
            <p:nvSpPr>
              <p:cNvPr id="175" name="TextBox 175"/>
              <p:cNvSpPr txBox="1"/>
              <p:nvPr/>
            </p:nvSpPr>
            <p:spPr>
              <a:xfrm>
                <a:off x="10587038" y="3034903"/>
                <a:ext cx="311074"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响应时效</a:t>
                </a:r>
              </a:p>
            </p:txBody>
          </p:sp>
          <p:sp>
            <p:nvSpPr>
              <p:cNvPr id="176" name="TextBox 176"/>
              <p:cNvSpPr txBox="1"/>
              <p:nvPr/>
            </p:nvSpPr>
            <p:spPr>
              <a:xfrm>
                <a:off x="10587038" y="3158728"/>
                <a:ext cx="38646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服务满意度</a:t>
                </a:r>
              </a:p>
            </p:txBody>
          </p:sp>
          <p:sp>
            <p:nvSpPr>
              <p:cNvPr id="177" name="TextBox 177"/>
              <p:cNvSpPr txBox="1"/>
              <p:nvPr/>
            </p:nvSpPr>
            <p:spPr>
              <a:xfrm>
                <a:off x="10587038" y="3282553"/>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标准流程覆盖率</a:t>
                </a:r>
              </a:p>
            </p:txBody>
          </p:sp>
        </p:grpSp>
        <p:grpSp>
          <p:nvGrpSpPr>
            <p:cNvPr id="196" name="am-process"/>
            <p:cNvGrpSpPr/>
            <p:nvPr/>
          </p:nvGrpSpPr>
          <p:grpSpPr>
            <a:xfrm>
              <a:off x="6057900" y="3524250"/>
              <a:ext cx="5905500" cy="571500"/>
              <a:chOff x="6057900" y="3524250"/>
              <a:chExt cx="5905500" cy="571500"/>
            </a:xfrm>
          </p:grpSpPr>
          <p:sp>
            <p:nvSpPr>
              <p:cNvPr id="179" name="Rectangle 179"/>
              <p:cNvSpPr/>
              <p:nvPr/>
            </p:nvSpPr>
            <p:spPr>
              <a:xfrm>
                <a:off x="6057900" y="3524250"/>
                <a:ext cx="5905500" cy="571500"/>
              </a:xfrm>
              <a:prstGeom prst="rect">
                <a:avLst/>
              </a:prstGeom>
              <a:solidFill>
                <a:srgbClr val="FFFFFF"/>
              </a:solidFill>
              <a:ln w="9525">
                <a:solidFill>
                  <a:srgbClr val="E2E8F2"/>
                </a:solidFill>
              </a:ln>
            </p:spPr>
          </p:sp>
          <p:sp>
            <p:nvSpPr>
              <p:cNvPr id="180" name="Rectangle 180"/>
              <p:cNvSpPr/>
              <p:nvPr/>
            </p:nvSpPr>
            <p:spPr>
              <a:xfrm>
                <a:off x="6057900" y="3524250"/>
                <a:ext cx="685800" cy="571500"/>
              </a:xfrm>
              <a:prstGeom prst="rect">
                <a:avLst/>
              </a:prstGeom>
              <a:solidFill>
                <a:srgbClr val="EFF3FA"/>
              </a:solidFill>
              <a:ln>
                <a:noFill/>
              </a:ln>
            </p:spPr>
          </p:sp>
          <p:grpSp>
            <p:nvGrpSpPr>
              <p:cNvPr id="183" name="Group 183"/>
              <p:cNvGrpSpPr/>
              <p:nvPr/>
            </p:nvGrpSpPr>
            <p:grpSpPr>
              <a:xfrm>
                <a:off x="6348355" y="3595630"/>
                <a:ext cx="104891" cy="104891"/>
                <a:chOff x="6348355" y="3595630"/>
                <a:chExt cx="104891" cy="104891"/>
              </a:xfrm>
            </p:grpSpPr>
            <p:sp>
              <p:nvSpPr>
                <p:cNvPr id="181" name="Freeform 181"/>
                <p:cNvSpPr/>
                <p:nvPr/>
              </p:nvSpPr>
              <p:spPr>
                <a:xfrm>
                  <a:off x="6348355" y="3595630"/>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4E0D00"/>
                  </a:solidFill>
                </a:ln>
              </p:spPr>
            </p:sp>
            <p:sp>
              <p:nvSpPr>
                <p:cNvPr id="182" name="Freeform 182"/>
                <p:cNvSpPr/>
                <p:nvPr/>
              </p:nvSpPr>
              <p:spPr>
                <a:xfrm>
                  <a:off x="6384131" y="3631406"/>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4E0D00"/>
                  </a:solidFill>
                </a:ln>
              </p:spPr>
            </p:sp>
          </p:grpSp>
          <p:sp>
            <p:nvSpPr>
              <p:cNvPr id="184" name="TextBox 184"/>
              <p:cNvSpPr txBox="1"/>
              <p:nvPr/>
            </p:nvSpPr>
            <p:spPr>
              <a:xfrm>
                <a:off x="6211171" y="3783330"/>
                <a:ext cx="379259" cy="119062"/>
              </a:xfrm>
              <a:prstGeom prst="rect">
                <a:avLst/>
              </a:prstGeom>
              <a:noFill/>
              <a:ln>
                <a:noFill/>
              </a:ln>
            </p:spPr>
            <p:txBody>
              <a:bodyPr wrap="none" lIns="0" tIns="0" rIns="0" bIns="0" anchor="t" anchorCtr="0">
                <a:spAutoFit/>
              </a:bodyPr>
              <a:lstStyle/>
              <a:p>
                <a:pPr algn="ctr"/>
                <a:r>
                  <a:rPr lang="zh-CN" sz="600" b="1" dirty="0">
                    <a:solidFill>
                      <a:srgbClr val="4E0D00"/>
                    </a:solidFill>
                    <a:latin typeface="+mn-lt"/>
                    <a:ea typeface="+mn-ea"/>
                    <a:cs typeface="+mn-cs"/>
                  </a:rPr>
                  <a:t>流程/制度</a:t>
                </a:r>
              </a:p>
            </p:txBody>
          </p:sp>
          <p:sp>
            <p:nvSpPr>
              <p:cNvPr id="185" name="TextBox 185"/>
              <p:cNvSpPr txBox="1"/>
              <p:nvPr/>
            </p:nvSpPr>
            <p:spPr>
              <a:xfrm>
                <a:off x="6815138" y="3606403"/>
                <a:ext cx="76339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期望行为写入流程制度</a:t>
                </a:r>
              </a:p>
            </p:txBody>
          </p:sp>
          <p:sp>
            <p:nvSpPr>
              <p:cNvPr id="186" name="TextBox 186"/>
              <p:cNvSpPr txBox="1"/>
              <p:nvPr/>
            </p:nvSpPr>
            <p:spPr>
              <a:xfrm>
                <a:off x="6815138" y="3730228"/>
                <a:ext cx="46184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机制配套资源</a:t>
                </a:r>
              </a:p>
            </p:txBody>
          </p:sp>
          <p:sp>
            <p:nvSpPr>
              <p:cNvPr id="187" name="TextBox 187"/>
              <p:cNvSpPr txBox="1"/>
              <p:nvPr/>
            </p:nvSpPr>
            <p:spPr>
              <a:xfrm>
                <a:off x="8053388" y="3606403"/>
                <a:ext cx="38646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制度不匹配</a:t>
                </a:r>
              </a:p>
            </p:txBody>
          </p:sp>
          <p:sp>
            <p:nvSpPr>
              <p:cNvPr id="188" name="TextBox 188"/>
              <p:cNvSpPr txBox="1"/>
              <p:nvPr/>
            </p:nvSpPr>
            <p:spPr>
              <a:xfrm>
                <a:off x="8053388" y="3730228"/>
                <a:ext cx="46184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系统迭代滞后</a:t>
                </a:r>
              </a:p>
            </p:txBody>
          </p:sp>
          <p:sp>
            <p:nvSpPr>
              <p:cNvPr id="189" name="TextBox 189"/>
              <p:cNvSpPr txBox="1"/>
              <p:nvPr/>
            </p:nvSpPr>
            <p:spPr>
              <a:xfrm>
                <a:off x="8053388" y="3854053"/>
                <a:ext cx="38646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数据不可见</a:t>
                </a:r>
              </a:p>
            </p:txBody>
          </p:sp>
          <p:sp>
            <p:nvSpPr>
              <p:cNvPr id="190" name="TextBox 190"/>
              <p:cNvSpPr txBox="1"/>
              <p:nvPr/>
            </p:nvSpPr>
            <p:spPr>
              <a:xfrm>
                <a:off x="9177338" y="3606403"/>
                <a:ext cx="763397"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流程再造与制度化优化</a:t>
                </a:r>
              </a:p>
            </p:txBody>
          </p:sp>
          <p:sp>
            <p:nvSpPr>
              <p:cNvPr id="191" name="TextBox 191"/>
              <p:cNvSpPr txBox="1"/>
              <p:nvPr/>
            </p:nvSpPr>
            <p:spPr>
              <a:xfrm>
                <a:off x="9177338" y="3730228"/>
                <a:ext cx="688010"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系统迭代与自动提醒</a:t>
                </a:r>
              </a:p>
            </p:txBody>
          </p:sp>
          <p:sp>
            <p:nvSpPr>
              <p:cNvPr id="192" name="TextBox 192"/>
              <p:cNvSpPr txBox="1"/>
              <p:nvPr/>
            </p:nvSpPr>
            <p:spPr>
              <a:xfrm>
                <a:off x="9177338" y="3854053"/>
                <a:ext cx="612623"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数据监控与可视化</a:t>
                </a:r>
              </a:p>
            </p:txBody>
          </p:sp>
          <p:sp>
            <p:nvSpPr>
              <p:cNvPr id="193" name="TextBox 193"/>
              <p:cNvSpPr txBox="1"/>
              <p:nvPr/>
            </p:nvSpPr>
            <p:spPr>
              <a:xfrm>
                <a:off x="10587038" y="3606403"/>
                <a:ext cx="461848"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流程执行周期</a:t>
                </a:r>
              </a:p>
            </p:txBody>
          </p:sp>
          <p:sp>
            <p:nvSpPr>
              <p:cNvPr id="194" name="TextBox 194"/>
              <p:cNvSpPr txBox="1"/>
              <p:nvPr/>
            </p:nvSpPr>
            <p:spPr>
              <a:xfrm>
                <a:off x="10587038" y="3730228"/>
                <a:ext cx="386461"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系统使用率</a:t>
                </a:r>
              </a:p>
            </p:txBody>
          </p:sp>
          <p:sp>
            <p:nvSpPr>
              <p:cNvPr id="195" name="TextBox 195"/>
              <p:cNvSpPr txBox="1"/>
              <p:nvPr/>
            </p:nvSpPr>
            <p:spPr>
              <a:xfrm>
                <a:off x="10587038" y="3854053"/>
                <a:ext cx="537235" cy="111919"/>
              </a:xfrm>
              <a:prstGeom prst="rect">
                <a:avLst/>
              </a:prstGeom>
              <a:noFill/>
              <a:ln>
                <a:noFill/>
              </a:ln>
            </p:spPr>
            <p:txBody>
              <a:bodyPr wrap="none" lIns="0" tIns="0" rIns="0" bIns="0" anchor="t" anchorCtr="0">
                <a:spAutoFit/>
              </a:bodyPr>
              <a:lstStyle/>
              <a:p>
                <a:pPr algn="l"/>
                <a:r>
                  <a:rPr lang="zh-CN" sz="560" dirty="0">
                    <a:solidFill>
                      <a:srgbClr val="453633"/>
                    </a:solidFill>
                    <a:latin typeface="+mn-lt"/>
                    <a:ea typeface="+mn-ea"/>
                    <a:cs typeface="+mn-cs"/>
                  </a:rPr>
                  <a:t>数据反馈及时性</a:t>
                </a:r>
              </a:p>
            </p:txBody>
          </p:sp>
        </p:grpSp>
      </p:grpSp>
      <p:grpSp>
        <p:nvGrpSpPr>
          <p:cNvPr id="254" name="journey"/>
          <p:cNvGrpSpPr/>
          <p:nvPr/>
        </p:nvGrpSpPr>
        <p:grpSpPr>
          <a:xfrm>
            <a:off x="228600" y="4261247"/>
            <a:ext cx="11734800" cy="2234803"/>
            <a:chOff x="228600" y="4261247"/>
            <a:chExt cx="11734800" cy="2234803"/>
          </a:xfrm>
        </p:grpSpPr>
        <p:sp>
          <p:nvSpPr>
            <p:cNvPr id="198" name="TextBox 198"/>
            <p:cNvSpPr txBox="1"/>
            <p:nvPr/>
          </p:nvSpPr>
          <p:spPr>
            <a:xfrm>
              <a:off x="5015624" y="4261247"/>
              <a:ext cx="2160753" cy="183356"/>
            </a:xfrm>
            <a:prstGeom prst="rect">
              <a:avLst/>
            </a:prstGeom>
            <a:noFill/>
            <a:ln>
              <a:noFill/>
            </a:ln>
          </p:spPr>
          <p:txBody>
            <a:bodyPr wrap="none" lIns="0" tIns="0" rIns="0" bIns="0" anchor="t" anchorCtr="0">
              <a:spAutoFit/>
            </a:bodyPr>
            <a:lstStyle/>
            <a:p>
              <a:pPr algn="ctr"/>
              <a:r>
                <a:rPr lang="zh-CN" sz="940" b="1" dirty="0">
                  <a:solidFill>
                    <a:srgbClr val="4E0D00"/>
                  </a:solidFill>
                  <a:latin typeface="+mn-lt"/>
                  <a:ea typeface="+mn-ea"/>
                  <a:cs typeface="+mn-cs"/>
                </a:rPr>
                <a:t>行为转化旅程与关键失效点及管理动作</a:t>
              </a:r>
            </a:p>
          </p:txBody>
        </p:sp>
        <p:sp>
          <p:nvSpPr>
            <p:cNvPr id="199" name="Freeform 199"/>
            <p:cNvSpPr/>
            <p:nvPr/>
          </p:nvSpPr>
          <p:spPr>
            <a:xfrm>
              <a:off x="228600" y="4476750"/>
              <a:ext cx="2400300" cy="514350"/>
            </a:xfrm>
            <a:prstGeom prst="chevron">
              <a:avLst/>
            </a:prstGeom>
            <a:solidFill>
              <a:srgbClr val="C2887C"/>
            </a:solidFill>
            <a:ln>
              <a:noFill/>
            </a:ln>
          </p:spPr>
        </p:sp>
        <p:sp>
          <p:nvSpPr>
            <p:cNvPr id="200" name="Freeform 200"/>
            <p:cNvSpPr/>
            <p:nvPr/>
          </p:nvSpPr>
          <p:spPr>
            <a:xfrm>
              <a:off x="2562225" y="4476750"/>
              <a:ext cx="2400300" cy="514350"/>
            </a:xfrm>
            <a:prstGeom prst="chevron">
              <a:avLst/>
            </a:prstGeom>
            <a:solidFill>
              <a:srgbClr val="B46D5F"/>
            </a:solidFill>
            <a:ln>
              <a:noFill/>
            </a:ln>
          </p:spPr>
        </p:sp>
        <p:sp>
          <p:nvSpPr>
            <p:cNvPr id="201" name="Freeform 201"/>
            <p:cNvSpPr/>
            <p:nvPr/>
          </p:nvSpPr>
          <p:spPr>
            <a:xfrm>
              <a:off x="4895850" y="4476750"/>
              <a:ext cx="2400300" cy="514350"/>
            </a:xfrm>
            <a:prstGeom prst="chevron">
              <a:avLst/>
            </a:prstGeom>
            <a:solidFill>
              <a:srgbClr val="9F5242"/>
            </a:solidFill>
            <a:ln>
              <a:noFill/>
            </a:ln>
          </p:spPr>
        </p:sp>
        <p:sp>
          <p:nvSpPr>
            <p:cNvPr id="202" name="Freeform 202"/>
            <p:cNvSpPr/>
            <p:nvPr/>
          </p:nvSpPr>
          <p:spPr>
            <a:xfrm>
              <a:off x="7229475" y="4476750"/>
              <a:ext cx="2400300" cy="514350"/>
            </a:xfrm>
            <a:prstGeom prst="chevron">
              <a:avLst/>
            </a:prstGeom>
            <a:solidFill>
              <a:srgbClr val="883727"/>
            </a:solidFill>
            <a:ln>
              <a:noFill/>
            </a:ln>
          </p:spPr>
        </p:sp>
        <p:sp>
          <p:nvSpPr>
            <p:cNvPr id="203" name="Freeform 203"/>
            <p:cNvSpPr/>
            <p:nvPr/>
          </p:nvSpPr>
          <p:spPr>
            <a:xfrm>
              <a:off x="9563100" y="4476750"/>
              <a:ext cx="2400300" cy="514350"/>
            </a:xfrm>
            <a:prstGeom prst="chevron">
              <a:avLst/>
            </a:prstGeom>
            <a:solidFill>
              <a:srgbClr val="4E0D00"/>
            </a:solidFill>
            <a:ln>
              <a:noFill/>
            </a:ln>
          </p:spPr>
        </p:sp>
        <p:grpSp>
          <p:nvGrpSpPr>
            <p:cNvPr id="207" name="Group 207"/>
            <p:cNvGrpSpPr/>
            <p:nvPr/>
          </p:nvGrpSpPr>
          <p:grpSpPr>
            <a:xfrm>
              <a:off x="1085850" y="4619625"/>
              <a:ext cx="114300" cy="114300"/>
              <a:chOff x="1085850" y="4619625"/>
              <a:chExt cx="114300" cy="114300"/>
            </a:xfrm>
          </p:grpSpPr>
          <p:sp>
            <p:nvSpPr>
              <p:cNvPr id="204" name="Freeform 204"/>
              <p:cNvSpPr/>
              <p:nvPr/>
            </p:nvSpPr>
            <p:spPr>
              <a:xfrm>
                <a:off x="1085850" y="4619625"/>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FFFFFF"/>
                </a:solidFill>
              </a:ln>
            </p:spPr>
          </p:sp>
          <p:sp>
            <p:nvSpPr>
              <p:cNvPr id="205" name="Freeform 205"/>
              <p:cNvSpPr/>
              <p:nvPr/>
            </p:nvSpPr>
            <p:spPr>
              <a:xfrm>
                <a:off x="1108558" y="4645025"/>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FFFFFF"/>
                </a:solidFill>
              </a:ln>
            </p:spPr>
          </p:sp>
          <p:sp>
            <p:nvSpPr>
              <p:cNvPr id="206" name="Freeform 206"/>
              <p:cNvSpPr/>
              <p:nvPr/>
            </p:nvSpPr>
            <p:spPr>
              <a:xfrm>
                <a:off x="1128395" y="4708525"/>
                <a:ext cx="29210" cy="9525"/>
              </a:xfrm>
              <a:custGeom>
                <a:avLst/>
                <a:gdLst/>
                <a:ahLst/>
                <a:cxnLst/>
                <a:rect l="l" t="t" r="r" b="b"/>
                <a:pathLst>
                  <a:path w="29210" h="9525">
                    <a:moveTo>
                      <a:pt x="0" y="0"/>
                    </a:moveTo>
                    <a:lnTo>
                      <a:pt x="29210" y="0"/>
                    </a:lnTo>
                  </a:path>
                </a:pathLst>
              </a:custGeom>
              <a:noFill/>
              <a:ln w="12700">
                <a:solidFill>
                  <a:srgbClr val="FFFFFF"/>
                </a:solidFill>
              </a:ln>
            </p:spPr>
          </p:sp>
        </p:grpSp>
        <p:sp>
          <p:nvSpPr>
            <p:cNvPr id="208" name="TextBox 208"/>
            <p:cNvSpPr txBox="1"/>
            <p:nvPr/>
          </p:nvSpPr>
          <p:spPr>
            <a:xfrm>
              <a:off x="1555864" y="4612243"/>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知道</a:t>
              </a:r>
            </a:p>
          </p:txBody>
        </p:sp>
        <p:sp>
          <p:nvSpPr>
            <p:cNvPr id="209" name="TextBox 209"/>
            <p:cNvSpPr txBox="1"/>
            <p:nvPr/>
          </p:nvSpPr>
          <p:spPr>
            <a:xfrm>
              <a:off x="1469708" y="4792980"/>
              <a:ext cx="413385" cy="119062"/>
            </a:xfrm>
            <a:prstGeom prst="rect">
              <a:avLst/>
            </a:prstGeom>
            <a:noFill/>
            <a:ln>
              <a:noFill/>
            </a:ln>
          </p:spPr>
          <p:txBody>
            <a:bodyPr wrap="none" lIns="0" tIns="0" rIns="0" bIns="0" anchor="t" anchorCtr="0">
              <a:spAutoFit/>
            </a:bodyPr>
            <a:lstStyle/>
            <a:p>
              <a:pPr algn="ctr"/>
              <a:r>
                <a:rPr lang="zh-CN" sz="600" dirty="0">
                  <a:solidFill>
                    <a:srgbClr val="EFF3FA"/>
                  </a:solidFill>
                  <a:latin typeface="+mn-lt"/>
                  <a:ea typeface="+mn-ea"/>
                  <a:cs typeface="+mn-cs"/>
                </a:rPr>
                <a:t>了解是什么</a:t>
              </a:r>
            </a:p>
          </p:txBody>
        </p:sp>
        <p:sp>
          <p:nvSpPr>
            <p:cNvPr id="210" name="Freeform 210"/>
            <p:cNvSpPr/>
            <p:nvPr/>
          </p:nvSpPr>
          <p:spPr>
            <a:xfrm>
              <a:off x="3417276" y="4624346"/>
              <a:ext cx="118583" cy="103229"/>
            </a:xfrm>
            <a:custGeom>
              <a:avLst/>
              <a:gdLst/>
              <a:ahLst/>
              <a:cxnLst/>
              <a:rect l="l" t="t" r="r" b="b"/>
              <a:pathLst>
                <a:path w="118583" h="103229">
                  <a:moveTo>
                    <a:pt x="106974" y="56061"/>
                  </a:moveTo>
                  <a:lnTo>
                    <a:pt x="59349" y="103229"/>
                  </a:lnTo>
                  <a:lnTo>
                    <a:pt x="11724" y="56061"/>
                  </a:lnTo>
                  <a:cubicBezTo>
                    <a:pt x="3160" y="47727"/>
                    <a:pt x="0" y="35291"/>
                    <a:pt x="3548" y="23880"/>
                  </a:cubicBezTo>
                  <a:cubicBezTo>
                    <a:pt x="7096" y="12469"/>
                    <a:pt x="16751" y="4016"/>
                    <a:pt x="28531" y="2008"/>
                  </a:cubicBezTo>
                  <a:cubicBezTo>
                    <a:pt x="40311" y="0"/>
                    <a:pt x="52221" y="4776"/>
                    <a:pt x="59349" y="14367"/>
                  </a:cubicBezTo>
                  <a:cubicBezTo>
                    <a:pt x="66507" y="4847"/>
                    <a:pt x="78391" y="134"/>
                    <a:pt x="90129" y="2161"/>
                  </a:cubicBezTo>
                  <a:cubicBezTo>
                    <a:pt x="101866" y="4188"/>
                    <a:pt x="111481" y="12614"/>
                    <a:pt x="115032" y="23983"/>
                  </a:cubicBezTo>
                  <a:cubicBezTo>
                    <a:pt x="118583" y="35353"/>
                    <a:pt x="115471" y="47753"/>
                    <a:pt x="106974" y="56099"/>
                  </a:cubicBezTo>
                </a:path>
              </a:pathLst>
            </a:custGeom>
            <a:noFill/>
            <a:ln w="12700">
              <a:solidFill>
                <a:srgbClr val="FFFFFF"/>
              </a:solidFill>
            </a:ln>
          </p:spPr>
        </p:sp>
        <p:sp>
          <p:nvSpPr>
            <p:cNvPr id="211" name="TextBox 211"/>
            <p:cNvSpPr txBox="1"/>
            <p:nvPr/>
          </p:nvSpPr>
          <p:spPr>
            <a:xfrm>
              <a:off x="3889489" y="4612243"/>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相信</a:t>
              </a:r>
            </a:p>
          </p:txBody>
        </p:sp>
        <p:sp>
          <p:nvSpPr>
            <p:cNvPr id="212" name="TextBox 212"/>
            <p:cNvSpPr txBox="1"/>
            <p:nvPr/>
          </p:nvSpPr>
          <p:spPr>
            <a:xfrm>
              <a:off x="3803332" y="4792980"/>
              <a:ext cx="413385" cy="119062"/>
            </a:xfrm>
            <a:prstGeom prst="rect">
              <a:avLst/>
            </a:prstGeom>
            <a:noFill/>
            <a:ln>
              <a:noFill/>
            </a:ln>
          </p:spPr>
          <p:txBody>
            <a:bodyPr wrap="none" lIns="0" tIns="0" rIns="0" bIns="0" anchor="t" anchorCtr="0">
              <a:spAutoFit/>
            </a:bodyPr>
            <a:lstStyle/>
            <a:p>
              <a:pPr algn="ctr"/>
              <a:r>
                <a:rPr lang="zh-CN" sz="600" dirty="0">
                  <a:solidFill>
                    <a:srgbClr val="EFF3FA"/>
                  </a:solidFill>
                  <a:latin typeface="+mn-lt"/>
                  <a:ea typeface="+mn-ea"/>
                  <a:cs typeface="+mn-cs"/>
                </a:rPr>
                <a:t>认同为什么</a:t>
              </a:r>
            </a:p>
          </p:txBody>
        </p:sp>
        <p:sp>
          <p:nvSpPr>
            <p:cNvPr id="213" name="Freeform 213"/>
            <p:cNvSpPr/>
            <p:nvPr/>
          </p:nvSpPr>
          <p:spPr>
            <a:xfrm>
              <a:off x="5749317" y="4615842"/>
              <a:ext cx="120169" cy="120169"/>
            </a:xfrm>
            <a:custGeom>
              <a:avLst/>
              <a:gdLst/>
              <a:ahLst/>
              <a:cxnLst/>
              <a:rect l="l" t="t" r="r" b="b"/>
              <a:pathLst>
                <a:path w="120169" h="120169">
                  <a:moveTo>
                    <a:pt x="29183" y="48233"/>
                  </a:moveTo>
                  <a:lnTo>
                    <a:pt x="48233" y="48233"/>
                  </a:lnTo>
                  <a:lnTo>
                    <a:pt x="48233" y="29183"/>
                  </a:lnTo>
                  <a:lnTo>
                    <a:pt x="26008" y="6958"/>
                  </a:lnTo>
                  <a:cubicBezTo>
                    <a:pt x="40578" y="0"/>
                    <a:pt x="57952" y="2981"/>
                    <a:pt x="69369" y="14398"/>
                  </a:cubicBezTo>
                  <a:cubicBezTo>
                    <a:pt x="80786" y="25815"/>
                    <a:pt x="83767" y="43189"/>
                    <a:pt x="76808" y="57758"/>
                  </a:cubicBezTo>
                  <a:lnTo>
                    <a:pt x="114908" y="95858"/>
                  </a:lnTo>
                  <a:cubicBezTo>
                    <a:pt x="120169" y="101119"/>
                    <a:pt x="120169" y="109648"/>
                    <a:pt x="114908" y="114908"/>
                  </a:cubicBezTo>
                  <a:cubicBezTo>
                    <a:pt x="109648" y="120169"/>
                    <a:pt x="101119" y="120169"/>
                    <a:pt x="95858" y="114908"/>
                  </a:cubicBezTo>
                  <a:lnTo>
                    <a:pt x="57758" y="76808"/>
                  </a:lnTo>
                  <a:cubicBezTo>
                    <a:pt x="43189" y="83767"/>
                    <a:pt x="25815" y="80786"/>
                    <a:pt x="14398" y="69369"/>
                  </a:cubicBezTo>
                  <a:cubicBezTo>
                    <a:pt x="2981" y="57952"/>
                    <a:pt x="0" y="40578"/>
                    <a:pt x="6958" y="26008"/>
                  </a:cubicBezTo>
                  <a:lnTo>
                    <a:pt x="29183" y="48233"/>
                  </a:lnTo>
                </a:path>
              </a:pathLst>
            </a:custGeom>
            <a:noFill/>
            <a:ln w="12700">
              <a:solidFill>
                <a:srgbClr val="FFFFFF"/>
              </a:solidFill>
            </a:ln>
          </p:spPr>
        </p:sp>
        <p:sp>
          <p:nvSpPr>
            <p:cNvPr id="214" name="TextBox 214"/>
            <p:cNvSpPr txBox="1"/>
            <p:nvPr/>
          </p:nvSpPr>
          <p:spPr>
            <a:xfrm>
              <a:off x="6223114" y="4612243"/>
              <a:ext cx="24107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会做</a:t>
              </a:r>
            </a:p>
          </p:txBody>
        </p:sp>
        <p:sp>
          <p:nvSpPr>
            <p:cNvPr id="215" name="TextBox 215"/>
            <p:cNvSpPr txBox="1"/>
            <p:nvPr/>
          </p:nvSpPr>
          <p:spPr>
            <a:xfrm>
              <a:off x="6136958" y="4792980"/>
              <a:ext cx="413385" cy="119062"/>
            </a:xfrm>
            <a:prstGeom prst="rect">
              <a:avLst/>
            </a:prstGeom>
            <a:noFill/>
            <a:ln>
              <a:noFill/>
            </a:ln>
          </p:spPr>
          <p:txBody>
            <a:bodyPr wrap="none" lIns="0" tIns="0" rIns="0" bIns="0" anchor="t" anchorCtr="0">
              <a:spAutoFit/>
            </a:bodyPr>
            <a:lstStyle/>
            <a:p>
              <a:pPr algn="ctr"/>
              <a:r>
                <a:rPr lang="zh-CN" sz="600" dirty="0">
                  <a:solidFill>
                    <a:srgbClr val="EFF3FA"/>
                  </a:solidFill>
                  <a:latin typeface="+mn-lt"/>
                  <a:ea typeface="+mn-ea"/>
                  <a:cs typeface="+mn-cs"/>
                </a:rPr>
                <a:t>掌握怎么做</a:t>
              </a:r>
            </a:p>
          </p:txBody>
        </p:sp>
        <p:sp>
          <p:nvSpPr>
            <p:cNvPr id="216" name="Freeform 216"/>
            <p:cNvSpPr/>
            <p:nvPr/>
          </p:nvSpPr>
          <p:spPr>
            <a:xfrm>
              <a:off x="8086725" y="4625975"/>
              <a:ext cx="107950" cy="102080"/>
            </a:xfrm>
            <a:custGeom>
              <a:avLst/>
              <a:gdLst/>
              <a:ahLst/>
              <a:cxnLst/>
              <a:rect l="l" t="t" r="r" b="b"/>
              <a:pathLst>
                <a:path w="107950" h="102080">
                  <a:moveTo>
                    <a:pt x="25400" y="44450"/>
                  </a:moveTo>
                  <a:lnTo>
                    <a:pt x="25400" y="95250"/>
                  </a:lnTo>
                  <a:cubicBezTo>
                    <a:pt x="25400" y="98757"/>
                    <a:pt x="22557" y="101600"/>
                    <a:pt x="19050" y="101600"/>
                  </a:cubicBezTo>
                  <a:lnTo>
                    <a:pt x="6350" y="101600"/>
                  </a:lnTo>
                  <a:cubicBezTo>
                    <a:pt x="2843" y="101600"/>
                    <a:pt x="0" y="98757"/>
                    <a:pt x="0" y="95250"/>
                  </a:cubicBezTo>
                  <a:lnTo>
                    <a:pt x="0" y="50800"/>
                  </a:lnTo>
                  <a:cubicBezTo>
                    <a:pt x="0" y="47293"/>
                    <a:pt x="2843" y="44450"/>
                    <a:pt x="6350" y="44450"/>
                  </a:cubicBezTo>
                  <a:lnTo>
                    <a:pt x="25400" y="44450"/>
                  </a:lnTo>
                  <a:cubicBezTo>
                    <a:pt x="39428" y="44450"/>
                    <a:pt x="50800" y="33078"/>
                    <a:pt x="50800" y="19050"/>
                  </a:cubicBezTo>
                  <a:lnTo>
                    <a:pt x="50800" y="12700"/>
                  </a:lnTo>
                  <a:cubicBezTo>
                    <a:pt x="50800" y="5686"/>
                    <a:pt x="56486" y="0"/>
                    <a:pt x="63500" y="0"/>
                  </a:cubicBezTo>
                  <a:cubicBezTo>
                    <a:pt x="70514" y="0"/>
                    <a:pt x="76200" y="5686"/>
                    <a:pt x="76200" y="12700"/>
                  </a:cubicBezTo>
                  <a:lnTo>
                    <a:pt x="76200" y="44450"/>
                  </a:lnTo>
                  <a:lnTo>
                    <a:pt x="95250" y="44450"/>
                  </a:lnTo>
                  <a:cubicBezTo>
                    <a:pt x="102264" y="44450"/>
                    <a:pt x="107950" y="50136"/>
                    <a:pt x="107950" y="57150"/>
                  </a:cubicBezTo>
                  <a:lnTo>
                    <a:pt x="101600" y="88900"/>
                  </a:lnTo>
                  <a:cubicBezTo>
                    <a:pt x="99724" y="96903"/>
                    <a:pt x="94546" y="102080"/>
                    <a:pt x="88900" y="101600"/>
                  </a:cubicBezTo>
                  <a:lnTo>
                    <a:pt x="44450" y="101600"/>
                  </a:lnTo>
                  <a:cubicBezTo>
                    <a:pt x="33929" y="101600"/>
                    <a:pt x="25400" y="93071"/>
                    <a:pt x="25400" y="82550"/>
                  </a:cubicBezTo>
                </a:path>
              </a:pathLst>
            </a:custGeom>
            <a:noFill/>
            <a:ln w="12700">
              <a:solidFill>
                <a:srgbClr val="FFFFFF"/>
              </a:solidFill>
            </a:ln>
          </p:spPr>
        </p:sp>
        <p:sp>
          <p:nvSpPr>
            <p:cNvPr id="217" name="TextBox 217"/>
            <p:cNvSpPr txBox="1"/>
            <p:nvPr/>
          </p:nvSpPr>
          <p:spPr>
            <a:xfrm>
              <a:off x="8498853" y="4612243"/>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愿意做</a:t>
              </a:r>
            </a:p>
          </p:txBody>
        </p:sp>
        <p:sp>
          <p:nvSpPr>
            <p:cNvPr id="218" name="TextBox 218"/>
            <p:cNvSpPr txBox="1"/>
            <p:nvPr/>
          </p:nvSpPr>
          <p:spPr>
            <a:xfrm>
              <a:off x="8470582" y="4792980"/>
              <a:ext cx="413385" cy="119062"/>
            </a:xfrm>
            <a:prstGeom prst="rect">
              <a:avLst/>
            </a:prstGeom>
            <a:noFill/>
            <a:ln>
              <a:noFill/>
            </a:ln>
          </p:spPr>
          <p:txBody>
            <a:bodyPr wrap="none" lIns="0" tIns="0" rIns="0" bIns="0" anchor="t" anchorCtr="0">
              <a:spAutoFit/>
            </a:bodyPr>
            <a:lstStyle/>
            <a:p>
              <a:pPr algn="ctr"/>
              <a:r>
                <a:rPr lang="zh-CN" sz="600" dirty="0">
                  <a:solidFill>
                    <a:srgbClr val="EFF3FA"/>
                  </a:solidFill>
                  <a:latin typeface="+mn-lt"/>
                  <a:ea typeface="+mn-ea"/>
                  <a:cs typeface="+mn-cs"/>
                </a:rPr>
                <a:t>选择主动做</a:t>
              </a:r>
            </a:p>
          </p:txBody>
        </p:sp>
        <p:sp>
          <p:nvSpPr>
            <p:cNvPr id="219" name="Freeform 219"/>
            <p:cNvSpPr/>
            <p:nvPr/>
          </p:nvSpPr>
          <p:spPr>
            <a:xfrm>
              <a:off x="10420345" y="4649377"/>
              <a:ext cx="114311" cy="54797"/>
            </a:xfrm>
            <a:custGeom>
              <a:avLst/>
              <a:gdLst/>
              <a:ahLst/>
              <a:cxnLst/>
              <a:rect l="l" t="t" r="r" b="b"/>
              <a:pathLst>
                <a:path w="114311" h="54797">
                  <a:moveTo>
                    <a:pt x="43363" y="9440"/>
                  </a:moveTo>
                  <a:cubicBezTo>
                    <a:pt x="36099" y="2175"/>
                    <a:pt x="25174" y="0"/>
                    <a:pt x="15682" y="3931"/>
                  </a:cubicBezTo>
                  <a:cubicBezTo>
                    <a:pt x="6189" y="7862"/>
                    <a:pt x="0" y="17124"/>
                    <a:pt x="0" y="27398"/>
                  </a:cubicBezTo>
                  <a:cubicBezTo>
                    <a:pt x="0" y="37672"/>
                    <a:pt x="6189" y="46935"/>
                    <a:pt x="15682" y="50866"/>
                  </a:cubicBezTo>
                  <a:cubicBezTo>
                    <a:pt x="25174" y="54797"/>
                    <a:pt x="36099" y="52622"/>
                    <a:pt x="43363" y="45356"/>
                  </a:cubicBezTo>
                  <a:cubicBezTo>
                    <a:pt x="48999" y="40245"/>
                    <a:pt x="53671" y="34162"/>
                    <a:pt x="57155" y="27398"/>
                  </a:cubicBezTo>
                  <a:cubicBezTo>
                    <a:pt x="60640" y="20634"/>
                    <a:pt x="65312" y="14552"/>
                    <a:pt x="70948" y="9440"/>
                  </a:cubicBezTo>
                  <a:cubicBezTo>
                    <a:pt x="78211" y="2175"/>
                    <a:pt x="89137" y="0"/>
                    <a:pt x="98629" y="3931"/>
                  </a:cubicBezTo>
                  <a:cubicBezTo>
                    <a:pt x="108122" y="7862"/>
                    <a:pt x="114311" y="17124"/>
                    <a:pt x="114311" y="27398"/>
                  </a:cubicBezTo>
                  <a:cubicBezTo>
                    <a:pt x="114311" y="37672"/>
                    <a:pt x="108122" y="46935"/>
                    <a:pt x="98629" y="50866"/>
                  </a:cubicBezTo>
                  <a:cubicBezTo>
                    <a:pt x="89137" y="54797"/>
                    <a:pt x="78211" y="52622"/>
                    <a:pt x="70948" y="45356"/>
                  </a:cubicBezTo>
                  <a:cubicBezTo>
                    <a:pt x="65312" y="40245"/>
                    <a:pt x="60640" y="34162"/>
                    <a:pt x="57155" y="27398"/>
                  </a:cubicBezTo>
                  <a:cubicBezTo>
                    <a:pt x="53671" y="20634"/>
                    <a:pt x="48999" y="14552"/>
                    <a:pt x="43363" y="9440"/>
                  </a:cubicBezTo>
                </a:path>
              </a:pathLst>
            </a:custGeom>
            <a:noFill/>
            <a:ln w="12700">
              <a:solidFill>
                <a:srgbClr val="FFFFFF"/>
              </a:solidFill>
            </a:ln>
          </p:spPr>
        </p:sp>
        <p:sp>
          <p:nvSpPr>
            <p:cNvPr id="220" name="TextBox 220"/>
            <p:cNvSpPr txBox="1"/>
            <p:nvPr/>
          </p:nvSpPr>
          <p:spPr>
            <a:xfrm>
              <a:off x="10832478" y="4612243"/>
              <a:ext cx="356845"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持续做</a:t>
              </a:r>
            </a:p>
          </p:txBody>
        </p:sp>
        <p:sp>
          <p:nvSpPr>
            <p:cNvPr id="221" name="TextBox 221"/>
            <p:cNvSpPr txBox="1"/>
            <p:nvPr/>
          </p:nvSpPr>
          <p:spPr>
            <a:xfrm>
              <a:off x="10723436" y="4792980"/>
              <a:ext cx="574929" cy="119062"/>
            </a:xfrm>
            <a:prstGeom prst="rect">
              <a:avLst/>
            </a:prstGeom>
            <a:noFill/>
            <a:ln>
              <a:noFill/>
            </a:ln>
          </p:spPr>
          <p:txBody>
            <a:bodyPr wrap="none" lIns="0" tIns="0" rIns="0" bIns="0" anchor="t" anchorCtr="0">
              <a:spAutoFit/>
            </a:bodyPr>
            <a:lstStyle/>
            <a:p>
              <a:pPr algn="ctr"/>
              <a:r>
                <a:rPr lang="zh-CN" sz="600" dirty="0">
                  <a:solidFill>
                    <a:srgbClr val="EFF3FA"/>
                  </a:solidFill>
                  <a:latin typeface="+mn-lt"/>
                  <a:ea typeface="+mn-ea"/>
                  <a:cs typeface="+mn-cs"/>
                </a:rPr>
                <a:t>形成习惯与沉淀</a:t>
              </a:r>
            </a:p>
          </p:txBody>
        </p:sp>
        <p:sp>
          <p:nvSpPr>
            <p:cNvPr id="222" name="Rectangle 222"/>
            <p:cNvSpPr/>
            <p:nvPr/>
          </p:nvSpPr>
          <p:spPr>
            <a:xfrm>
              <a:off x="1143000" y="5143500"/>
              <a:ext cx="10820400" cy="628650"/>
            </a:xfrm>
            <a:prstGeom prst="rect">
              <a:avLst/>
            </a:prstGeom>
            <a:solidFill>
              <a:srgbClr val="FBFCFE"/>
            </a:solidFill>
            <a:ln>
              <a:noFill/>
            </a:ln>
          </p:spPr>
        </p:sp>
        <p:sp>
          <p:nvSpPr>
            <p:cNvPr id="223" name="Rectangle 223"/>
            <p:cNvSpPr/>
            <p:nvPr/>
          </p:nvSpPr>
          <p:spPr>
            <a:xfrm>
              <a:off x="1143000" y="5867400"/>
              <a:ext cx="10820400" cy="628650"/>
            </a:xfrm>
            <a:prstGeom prst="rect">
              <a:avLst/>
            </a:prstGeom>
            <a:solidFill>
              <a:srgbClr val="F7F9FC"/>
            </a:solidFill>
            <a:ln>
              <a:noFill/>
            </a:ln>
          </p:spPr>
        </p:sp>
        <p:sp>
          <p:nvSpPr>
            <p:cNvPr id="224" name="Line 224"/>
            <p:cNvSpPr/>
            <p:nvPr/>
          </p:nvSpPr>
          <p:spPr>
            <a:xfrm>
              <a:off x="3305175" y="5143500"/>
              <a:ext cx="9525" cy="1352550"/>
            </a:xfrm>
            <a:custGeom>
              <a:avLst/>
              <a:gdLst/>
              <a:ahLst/>
              <a:cxnLst/>
              <a:rect l="l" t="t" r="r" b="b"/>
              <a:pathLst>
                <a:path w="9525" h="1352550">
                  <a:moveTo>
                    <a:pt x="0" y="0"/>
                  </a:moveTo>
                  <a:lnTo>
                    <a:pt x="0" y="1352550"/>
                  </a:lnTo>
                </a:path>
              </a:pathLst>
            </a:custGeom>
            <a:noFill/>
            <a:ln w="9525">
              <a:solidFill>
                <a:srgbClr val="EEF2F8"/>
              </a:solidFill>
            </a:ln>
          </p:spPr>
        </p:sp>
        <p:sp>
          <p:nvSpPr>
            <p:cNvPr id="225" name="Line 225"/>
            <p:cNvSpPr/>
            <p:nvPr/>
          </p:nvSpPr>
          <p:spPr>
            <a:xfrm>
              <a:off x="5467350" y="5143500"/>
              <a:ext cx="9525" cy="1352550"/>
            </a:xfrm>
            <a:custGeom>
              <a:avLst/>
              <a:gdLst/>
              <a:ahLst/>
              <a:cxnLst/>
              <a:rect l="l" t="t" r="r" b="b"/>
              <a:pathLst>
                <a:path w="9525" h="1352550">
                  <a:moveTo>
                    <a:pt x="0" y="0"/>
                  </a:moveTo>
                  <a:lnTo>
                    <a:pt x="0" y="1352550"/>
                  </a:lnTo>
                </a:path>
              </a:pathLst>
            </a:custGeom>
            <a:noFill/>
            <a:ln w="9525">
              <a:solidFill>
                <a:srgbClr val="EEF2F8"/>
              </a:solidFill>
            </a:ln>
          </p:spPr>
        </p:sp>
        <p:sp>
          <p:nvSpPr>
            <p:cNvPr id="226" name="Line 226"/>
            <p:cNvSpPr/>
            <p:nvPr/>
          </p:nvSpPr>
          <p:spPr>
            <a:xfrm>
              <a:off x="7629525" y="5143500"/>
              <a:ext cx="9525" cy="1352550"/>
            </a:xfrm>
            <a:custGeom>
              <a:avLst/>
              <a:gdLst/>
              <a:ahLst/>
              <a:cxnLst/>
              <a:rect l="l" t="t" r="r" b="b"/>
              <a:pathLst>
                <a:path w="9525" h="1352550">
                  <a:moveTo>
                    <a:pt x="0" y="0"/>
                  </a:moveTo>
                  <a:lnTo>
                    <a:pt x="0" y="1352550"/>
                  </a:lnTo>
                </a:path>
              </a:pathLst>
            </a:custGeom>
            <a:noFill/>
            <a:ln w="9525">
              <a:solidFill>
                <a:srgbClr val="EEF2F8"/>
              </a:solidFill>
            </a:ln>
          </p:spPr>
        </p:sp>
        <p:sp>
          <p:nvSpPr>
            <p:cNvPr id="227" name="Line 227"/>
            <p:cNvSpPr/>
            <p:nvPr/>
          </p:nvSpPr>
          <p:spPr>
            <a:xfrm>
              <a:off x="9791700" y="5143500"/>
              <a:ext cx="9525" cy="1352550"/>
            </a:xfrm>
            <a:custGeom>
              <a:avLst/>
              <a:gdLst/>
              <a:ahLst/>
              <a:cxnLst/>
              <a:rect l="l" t="t" r="r" b="b"/>
              <a:pathLst>
                <a:path w="9525" h="1352550">
                  <a:moveTo>
                    <a:pt x="0" y="0"/>
                  </a:moveTo>
                  <a:lnTo>
                    <a:pt x="0" y="1352550"/>
                  </a:lnTo>
                </a:path>
              </a:pathLst>
            </a:custGeom>
            <a:noFill/>
            <a:ln w="9525">
              <a:solidFill>
                <a:srgbClr val="EEF2F8"/>
              </a:solidFill>
            </a:ln>
          </p:spPr>
        </p:sp>
        <p:sp>
          <p:nvSpPr>
            <p:cNvPr id="228" name="Rectangle 228"/>
            <p:cNvSpPr/>
            <p:nvPr/>
          </p:nvSpPr>
          <p:spPr>
            <a:xfrm>
              <a:off x="228600" y="5143500"/>
              <a:ext cx="857250" cy="628650"/>
            </a:xfrm>
            <a:prstGeom prst="rect">
              <a:avLst/>
            </a:prstGeom>
            <a:solidFill>
              <a:srgbClr val="EFF3FA"/>
            </a:solidFill>
            <a:ln w="9525">
              <a:solidFill>
                <a:srgbClr val="C7D2E4"/>
              </a:solidFill>
            </a:ln>
          </p:spPr>
        </p:sp>
        <p:sp>
          <p:nvSpPr>
            <p:cNvPr id="229" name="TextBox 229"/>
            <p:cNvSpPr txBox="1"/>
            <p:nvPr/>
          </p:nvSpPr>
          <p:spPr>
            <a:xfrm>
              <a:off x="423608" y="5337334"/>
              <a:ext cx="467233" cy="133350"/>
            </a:xfrm>
            <a:prstGeom prst="rect">
              <a:avLst/>
            </a:prstGeom>
            <a:noFill/>
            <a:ln>
              <a:noFill/>
            </a:ln>
          </p:spPr>
          <p:txBody>
            <a:bodyPr wrap="none" lIns="0" tIns="0" rIns="0" bIns="0" anchor="t" anchorCtr="0">
              <a:spAutoFit/>
            </a:bodyPr>
            <a:lstStyle/>
            <a:p>
              <a:pPr algn="ctr"/>
              <a:r>
                <a:rPr lang="zh-CN" sz="680" b="1" dirty="0">
                  <a:solidFill>
                    <a:srgbClr val="4E0D00"/>
                  </a:solidFill>
                  <a:latin typeface="+mn-lt"/>
                  <a:ea typeface="+mn-ea"/>
                  <a:cs typeface="+mn-cs"/>
                </a:rPr>
                <a:t>关键失效点</a:t>
              </a:r>
            </a:p>
          </p:txBody>
        </p:sp>
        <p:sp>
          <p:nvSpPr>
            <p:cNvPr id="230" name="TextBox 230"/>
            <p:cNvSpPr txBox="1"/>
            <p:nvPr/>
          </p:nvSpPr>
          <p:spPr>
            <a:xfrm>
              <a:off x="490918" y="5497830"/>
              <a:ext cx="332613" cy="119062"/>
            </a:xfrm>
            <a:prstGeom prst="rect">
              <a:avLst/>
            </a:prstGeom>
            <a:noFill/>
            <a:ln>
              <a:noFill/>
            </a:ln>
          </p:spPr>
          <p:txBody>
            <a:bodyPr wrap="none" lIns="0" tIns="0" rIns="0" bIns="0" anchor="t" anchorCtr="0">
              <a:spAutoFit/>
            </a:bodyPr>
            <a:lstStyle/>
            <a:p>
              <a:pPr algn="ctr"/>
              <a:r>
                <a:rPr lang="zh-CN" sz="600" dirty="0">
                  <a:solidFill>
                    <a:srgbClr val="6E5955"/>
                  </a:solidFill>
                  <a:latin typeface="+mn-lt"/>
                  <a:ea typeface="+mn-ea"/>
                  <a:cs typeface="+mn-cs"/>
                </a:rPr>
                <a:t>（常见）</a:t>
              </a:r>
            </a:p>
          </p:txBody>
        </p:sp>
        <p:sp>
          <p:nvSpPr>
            <p:cNvPr id="231" name="Rectangle 231"/>
            <p:cNvSpPr/>
            <p:nvPr/>
          </p:nvSpPr>
          <p:spPr>
            <a:xfrm>
              <a:off x="228600" y="5867400"/>
              <a:ext cx="857250" cy="628650"/>
            </a:xfrm>
            <a:prstGeom prst="rect">
              <a:avLst/>
            </a:prstGeom>
            <a:solidFill>
              <a:srgbClr val="4E0D00"/>
            </a:solidFill>
            <a:ln>
              <a:noFill/>
            </a:ln>
          </p:spPr>
        </p:sp>
        <p:sp>
          <p:nvSpPr>
            <p:cNvPr id="232" name="TextBox 232"/>
            <p:cNvSpPr txBox="1"/>
            <p:nvPr/>
          </p:nvSpPr>
          <p:spPr>
            <a:xfrm>
              <a:off x="469379" y="6061234"/>
              <a:ext cx="375691" cy="133350"/>
            </a:xfrm>
            <a:prstGeom prst="rect">
              <a:avLst/>
            </a:prstGeom>
            <a:noFill/>
            <a:ln>
              <a:noFill/>
            </a:ln>
          </p:spPr>
          <p:txBody>
            <a:bodyPr wrap="none" lIns="0" tIns="0" rIns="0" bIns="0" anchor="t" anchorCtr="0">
              <a:spAutoFit/>
            </a:bodyPr>
            <a:lstStyle/>
            <a:p>
              <a:pPr algn="ctr"/>
              <a:r>
                <a:rPr lang="zh-CN" sz="680" b="1" dirty="0">
                  <a:solidFill>
                    <a:srgbClr val="FFFFFF"/>
                  </a:solidFill>
                  <a:latin typeface="+mn-lt"/>
                  <a:ea typeface="+mn-ea"/>
                  <a:cs typeface="+mn-cs"/>
                </a:rPr>
                <a:t>管理动作</a:t>
              </a:r>
            </a:p>
          </p:txBody>
        </p:sp>
        <p:sp>
          <p:nvSpPr>
            <p:cNvPr id="233" name="TextBox 233"/>
            <p:cNvSpPr txBox="1"/>
            <p:nvPr/>
          </p:nvSpPr>
          <p:spPr>
            <a:xfrm>
              <a:off x="490918" y="6221730"/>
              <a:ext cx="332613" cy="119062"/>
            </a:xfrm>
            <a:prstGeom prst="rect">
              <a:avLst/>
            </a:prstGeom>
            <a:noFill/>
            <a:ln>
              <a:noFill/>
            </a:ln>
          </p:spPr>
          <p:txBody>
            <a:bodyPr wrap="none" lIns="0" tIns="0" rIns="0" bIns="0" anchor="t" anchorCtr="0">
              <a:spAutoFit/>
            </a:bodyPr>
            <a:lstStyle/>
            <a:p>
              <a:pPr algn="ctr"/>
              <a:r>
                <a:rPr lang="zh-CN" sz="600" dirty="0">
                  <a:solidFill>
                    <a:srgbClr val="C9D3E4"/>
                  </a:solidFill>
                  <a:latin typeface="+mn-lt"/>
                  <a:ea typeface="+mn-ea"/>
                  <a:cs typeface="+mn-cs"/>
                </a:rPr>
                <a:t>（建议）</a:t>
              </a:r>
            </a:p>
          </p:txBody>
        </p:sp>
        <p:sp>
          <p:nvSpPr>
            <p:cNvPr id="234" name="TextBox 234"/>
            <p:cNvSpPr txBox="1"/>
            <p:nvPr/>
          </p:nvSpPr>
          <p:spPr>
            <a:xfrm>
              <a:off x="1810702" y="532638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信息未触达或不够清晰</a:t>
              </a:r>
            </a:p>
          </p:txBody>
        </p:sp>
        <p:sp>
          <p:nvSpPr>
            <p:cNvPr id="235" name="TextBox 235"/>
            <p:cNvSpPr txBox="1"/>
            <p:nvPr/>
          </p:nvSpPr>
          <p:spPr>
            <a:xfrm>
              <a:off x="1851088" y="54978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只停留在口号与宣贯</a:t>
              </a:r>
            </a:p>
          </p:txBody>
        </p:sp>
        <p:sp>
          <p:nvSpPr>
            <p:cNvPr id="236" name="TextBox 236"/>
            <p:cNvSpPr txBox="1"/>
            <p:nvPr/>
          </p:nvSpPr>
          <p:spPr>
            <a:xfrm>
              <a:off x="3892106" y="5326380"/>
              <a:ext cx="97878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价值不清晰或未与自身关联</a:t>
              </a:r>
            </a:p>
          </p:txBody>
        </p:sp>
        <p:sp>
          <p:nvSpPr>
            <p:cNvPr id="237" name="TextBox 237"/>
            <p:cNvSpPr txBox="1"/>
            <p:nvPr/>
          </p:nvSpPr>
          <p:spPr>
            <a:xfrm>
              <a:off x="4134422" y="54978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疑虑未被回应</a:t>
              </a:r>
            </a:p>
          </p:txBody>
        </p:sp>
        <p:sp>
          <p:nvSpPr>
            <p:cNvPr id="238" name="TextBox 238"/>
            <p:cNvSpPr txBox="1"/>
            <p:nvPr/>
          </p:nvSpPr>
          <p:spPr>
            <a:xfrm>
              <a:off x="6215824" y="532638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能力不足或不会用</a:t>
              </a:r>
            </a:p>
          </p:txBody>
        </p:sp>
        <p:sp>
          <p:nvSpPr>
            <p:cNvPr id="239" name="TextBox 239"/>
            <p:cNvSpPr txBox="1"/>
            <p:nvPr/>
          </p:nvSpPr>
          <p:spPr>
            <a:xfrm>
              <a:off x="6256211" y="54978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缺少工具与指导</a:t>
              </a:r>
            </a:p>
          </p:txBody>
        </p:sp>
        <p:sp>
          <p:nvSpPr>
            <p:cNvPr id="240" name="TextBox 240"/>
            <p:cNvSpPr txBox="1"/>
            <p:nvPr/>
          </p:nvSpPr>
          <p:spPr>
            <a:xfrm>
              <a:off x="8337614" y="532638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缺乏动力或激励不当</a:t>
              </a:r>
            </a:p>
          </p:txBody>
        </p:sp>
        <p:sp>
          <p:nvSpPr>
            <p:cNvPr id="241" name="TextBox 241"/>
            <p:cNvSpPr txBox="1"/>
            <p:nvPr/>
          </p:nvSpPr>
          <p:spPr>
            <a:xfrm>
              <a:off x="8378000" y="549783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习惯与惰性阻力大</a:t>
              </a:r>
            </a:p>
          </p:txBody>
        </p:sp>
        <p:sp>
          <p:nvSpPr>
            <p:cNvPr id="242" name="TextBox 242"/>
            <p:cNvSpPr txBox="1"/>
            <p:nvPr/>
          </p:nvSpPr>
          <p:spPr>
            <a:xfrm>
              <a:off x="10428541" y="5326380"/>
              <a:ext cx="89801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环境不支持或反复被干扰</a:t>
              </a:r>
            </a:p>
          </p:txBody>
        </p:sp>
        <p:sp>
          <p:nvSpPr>
            <p:cNvPr id="243" name="TextBox 243"/>
            <p:cNvSpPr txBox="1"/>
            <p:nvPr/>
          </p:nvSpPr>
          <p:spPr>
            <a:xfrm>
              <a:off x="10590086" y="549783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缺少复盘与强化</a:t>
              </a:r>
            </a:p>
          </p:txBody>
        </p:sp>
        <p:sp>
          <p:nvSpPr>
            <p:cNvPr id="244" name="TextBox 244"/>
            <p:cNvSpPr txBox="1"/>
            <p:nvPr/>
          </p:nvSpPr>
          <p:spPr>
            <a:xfrm>
              <a:off x="1810702" y="605028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精准沟通与场景化案例</a:t>
              </a:r>
            </a:p>
          </p:txBody>
        </p:sp>
        <p:sp>
          <p:nvSpPr>
            <p:cNvPr id="245" name="TextBox 245"/>
            <p:cNvSpPr txBox="1"/>
            <p:nvPr/>
          </p:nvSpPr>
          <p:spPr>
            <a:xfrm>
              <a:off x="1810702" y="622173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多渠道触达与重复强化</a:t>
              </a:r>
            </a:p>
          </p:txBody>
        </p:sp>
        <p:sp>
          <p:nvSpPr>
            <p:cNvPr id="246" name="TextBox 246"/>
            <p:cNvSpPr txBox="1"/>
            <p:nvPr/>
          </p:nvSpPr>
          <p:spPr>
            <a:xfrm>
              <a:off x="4013263" y="605028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阐明价值与个人收益</a:t>
              </a:r>
            </a:p>
          </p:txBody>
        </p:sp>
        <p:sp>
          <p:nvSpPr>
            <p:cNvPr id="247" name="TextBox 247"/>
            <p:cNvSpPr txBox="1"/>
            <p:nvPr/>
          </p:nvSpPr>
          <p:spPr>
            <a:xfrm>
              <a:off x="4013263" y="62217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双向对话，化解疑虑</a:t>
              </a:r>
            </a:p>
          </p:txBody>
        </p:sp>
        <p:sp>
          <p:nvSpPr>
            <p:cNvPr id="248" name="TextBox 248"/>
            <p:cNvSpPr txBox="1"/>
            <p:nvPr/>
          </p:nvSpPr>
          <p:spPr>
            <a:xfrm>
              <a:off x="6175438" y="605028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分层培训与实操演练</a:t>
              </a:r>
            </a:p>
          </p:txBody>
        </p:sp>
        <p:sp>
          <p:nvSpPr>
            <p:cNvPr id="249" name="TextBox 249"/>
            <p:cNvSpPr txBox="1"/>
            <p:nvPr/>
          </p:nvSpPr>
          <p:spPr>
            <a:xfrm>
              <a:off x="6175438" y="62217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提供工具与现场支持</a:t>
              </a:r>
            </a:p>
          </p:txBody>
        </p:sp>
        <p:sp>
          <p:nvSpPr>
            <p:cNvPr id="250" name="TextBox 250"/>
            <p:cNvSpPr txBox="1"/>
            <p:nvPr/>
          </p:nvSpPr>
          <p:spPr>
            <a:xfrm>
              <a:off x="8337614" y="605028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对齐激励与认可机制</a:t>
              </a:r>
            </a:p>
          </p:txBody>
        </p:sp>
        <p:sp>
          <p:nvSpPr>
            <p:cNvPr id="251" name="TextBox 251"/>
            <p:cNvSpPr txBox="1"/>
            <p:nvPr/>
          </p:nvSpPr>
          <p:spPr>
            <a:xfrm>
              <a:off x="8297228" y="6221730"/>
              <a:ext cx="81724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设定短期目标与里程碑</a:t>
              </a:r>
            </a:p>
          </p:txBody>
        </p:sp>
        <p:sp>
          <p:nvSpPr>
            <p:cNvPr id="252" name="TextBox 252"/>
            <p:cNvSpPr txBox="1"/>
            <p:nvPr/>
          </p:nvSpPr>
          <p:spPr>
            <a:xfrm>
              <a:off x="10549700" y="6050280"/>
              <a:ext cx="655701"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制度化与流程嵌入</a:t>
              </a:r>
            </a:p>
          </p:txBody>
        </p:sp>
        <p:sp>
          <p:nvSpPr>
            <p:cNvPr id="253" name="TextBox 253"/>
            <p:cNvSpPr txBox="1"/>
            <p:nvPr/>
          </p:nvSpPr>
          <p:spPr>
            <a:xfrm>
              <a:off x="10509314" y="62217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复盘迭代与持续强化</a:t>
              </a:r>
            </a:p>
          </p:txBody>
        </p:sp>
      </p:gr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610362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组织健康指数｜衡量企业能否持续创造绩效</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51" name="radar"/>
          <p:cNvGrpSpPr/>
          <p:nvPr/>
        </p:nvGrpSpPr>
        <p:grpSpPr>
          <a:xfrm>
            <a:off x="228600" y="762000"/>
            <a:ext cx="3048000" cy="2803684"/>
            <a:chOff x="228600" y="762000"/>
            <a:chExt cx="3048000" cy="2803684"/>
          </a:xfrm>
        </p:grpSpPr>
        <p:sp>
          <p:nvSpPr>
            <p:cNvPr id="6" name="Rectangle 6"/>
            <p:cNvSpPr/>
            <p:nvPr/>
          </p:nvSpPr>
          <p:spPr>
            <a:xfrm>
              <a:off x="228600" y="762000"/>
              <a:ext cx="3048000" cy="247650"/>
            </a:xfrm>
            <a:prstGeom prst="rect">
              <a:avLst/>
            </a:prstGeom>
            <a:solidFill>
              <a:srgbClr val="4E0D00"/>
            </a:solidFill>
            <a:ln>
              <a:noFill/>
            </a:ln>
          </p:spPr>
        </p:sp>
        <p:sp>
          <p:nvSpPr>
            <p:cNvPr id="7" name="TextBox 7"/>
            <p:cNvSpPr txBox="1"/>
            <p:nvPr/>
          </p:nvSpPr>
          <p:spPr>
            <a:xfrm>
              <a:off x="1306284" y="844391"/>
              <a:ext cx="892632"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八大维度健康对标</a:t>
              </a:r>
            </a:p>
          </p:txBody>
        </p:sp>
        <p:sp>
          <p:nvSpPr>
            <p:cNvPr id="8" name="Ellipse 8"/>
            <p:cNvSpPr/>
            <p:nvPr/>
          </p:nvSpPr>
          <p:spPr>
            <a:xfrm>
              <a:off x="523875" y="1066800"/>
              <a:ext cx="57150" cy="57150"/>
            </a:xfrm>
            <a:prstGeom prst="ellipse">
              <a:avLst/>
            </a:prstGeom>
            <a:solidFill>
              <a:srgbClr val="4E0D00"/>
            </a:solidFill>
            <a:ln>
              <a:noFill/>
            </a:ln>
          </p:spPr>
        </p:sp>
        <p:sp>
          <p:nvSpPr>
            <p:cNvPr id="9" name="Line 9"/>
            <p:cNvSpPr/>
            <p:nvPr/>
          </p:nvSpPr>
          <p:spPr>
            <a:xfrm>
              <a:off x="590550" y="1095375"/>
              <a:ext cx="114300" cy="9525"/>
            </a:xfrm>
            <a:custGeom>
              <a:avLst/>
              <a:gdLst/>
              <a:ahLst/>
              <a:cxnLst/>
              <a:rect l="l" t="t" r="r" b="b"/>
              <a:pathLst>
                <a:path w="114300" h="9525">
                  <a:moveTo>
                    <a:pt x="0" y="0"/>
                  </a:moveTo>
                  <a:lnTo>
                    <a:pt x="114300" y="0"/>
                  </a:lnTo>
                </a:path>
              </a:pathLst>
            </a:custGeom>
            <a:noFill/>
            <a:ln w="14288">
              <a:solidFill>
                <a:srgbClr val="4E0D00"/>
              </a:solidFill>
            </a:ln>
          </p:spPr>
        </p:sp>
        <p:sp>
          <p:nvSpPr>
            <p:cNvPr id="10" name="TextBox 10"/>
            <p:cNvSpPr txBox="1"/>
            <p:nvPr/>
          </p:nvSpPr>
          <p:spPr>
            <a:xfrm>
              <a:off x="738188" y="1055132"/>
              <a:ext cx="354152" cy="126206"/>
            </a:xfrm>
            <a:prstGeom prst="rect">
              <a:avLst/>
            </a:prstGeom>
            <a:noFill/>
            <a:ln>
              <a:noFill/>
            </a:ln>
          </p:spPr>
          <p:txBody>
            <a:bodyPr wrap="none" lIns="0" tIns="0" rIns="0" bIns="0" anchor="t" anchorCtr="0">
              <a:spAutoFit/>
            </a:bodyPr>
            <a:lstStyle/>
            <a:p>
              <a:pPr algn="l"/>
              <a:r>
                <a:rPr lang="zh-CN" sz="640" dirty="0">
                  <a:solidFill>
                    <a:srgbClr val="4E0D00"/>
                  </a:solidFill>
                  <a:latin typeface="+mn-lt"/>
                  <a:ea typeface="+mn-ea"/>
                  <a:cs typeface="+mn-cs"/>
                </a:rPr>
                <a:t>当前水平</a:t>
              </a:r>
            </a:p>
          </p:txBody>
        </p:sp>
        <p:sp>
          <p:nvSpPr>
            <p:cNvPr id="11" name="Rectangle 11"/>
            <p:cNvSpPr/>
            <p:nvPr/>
          </p:nvSpPr>
          <p:spPr>
            <a:xfrm rot="2700000">
              <a:off x="1562100" y="1062038"/>
              <a:ext cx="66675" cy="66675"/>
            </a:xfrm>
            <a:prstGeom prst="rect">
              <a:avLst/>
            </a:prstGeom>
            <a:noFill/>
            <a:ln w="11430">
              <a:solidFill>
                <a:srgbClr val="944130"/>
              </a:solidFill>
            </a:ln>
          </p:spPr>
        </p:sp>
        <p:sp>
          <p:nvSpPr>
            <p:cNvPr id="12" name="Line 12"/>
            <p:cNvSpPr/>
            <p:nvPr/>
          </p:nvSpPr>
          <p:spPr>
            <a:xfrm>
              <a:off x="1657350" y="1095375"/>
              <a:ext cx="114300" cy="9525"/>
            </a:xfrm>
            <a:custGeom>
              <a:avLst/>
              <a:gdLst/>
              <a:ahLst/>
              <a:cxnLst/>
              <a:rect l="l" t="t" r="r" b="b"/>
              <a:pathLst>
                <a:path w="114300" h="9525">
                  <a:moveTo>
                    <a:pt x="0" y="0"/>
                  </a:moveTo>
                  <a:lnTo>
                    <a:pt x="114300" y="0"/>
                  </a:lnTo>
                </a:path>
              </a:pathLst>
            </a:custGeom>
            <a:noFill/>
            <a:ln w="11430">
              <a:solidFill>
                <a:srgbClr val="944130"/>
              </a:solidFill>
              <a:custDash>
                <a:ds d="250000" sp="166667"/>
              </a:custDash>
            </a:ln>
          </p:spPr>
        </p:sp>
        <p:sp>
          <p:nvSpPr>
            <p:cNvPr id="13" name="TextBox 13"/>
            <p:cNvSpPr txBox="1"/>
            <p:nvPr/>
          </p:nvSpPr>
          <p:spPr>
            <a:xfrm>
              <a:off x="1804988" y="1055132"/>
              <a:ext cx="354152" cy="126206"/>
            </a:xfrm>
            <a:prstGeom prst="rect">
              <a:avLst/>
            </a:prstGeom>
            <a:noFill/>
            <a:ln>
              <a:noFill/>
            </a:ln>
          </p:spPr>
          <p:txBody>
            <a:bodyPr wrap="none" lIns="0" tIns="0" rIns="0" bIns="0" anchor="t" anchorCtr="0">
              <a:spAutoFit/>
            </a:bodyPr>
            <a:lstStyle/>
            <a:p>
              <a:pPr algn="l"/>
              <a:r>
                <a:rPr lang="zh-CN" sz="640" dirty="0">
                  <a:solidFill>
                    <a:srgbClr val="944130"/>
                  </a:solidFill>
                  <a:latin typeface="+mn-lt"/>
                  <a:ea typeface="+mn-ea"/>
                  <a:cs typeface="+mn-cs"/>
                </a:rPr>
                <a:t>标杆水平</a:t>
              </a:r>
            </a:p>
          </p:txBody>
        </p:sp>
        <p:grpSp>
          <p:nvGrpSpPr>
            <p:cNvPr id="18" name="Group 18"/>
            <p:cNvGrpSpPr/>
            <p:nvPr/>
          </p:nvGrpSpPr>
          <p:grpSpPr>
            <a:xfrm>
              <a:off x="847725" y="1552575"/>
              <a:ext cx="1809750" cy="1809750"/>
              <a:chOff x="847725" y="1552575"/>
              <a:chExt cx="1809750" cy="1809750"/>
            </a:xfrm>
          </p:grpSpPr>
          <p:sp>
            <p:nvSpPr>
              <p:cNvPr id="14" name="Polygon 14"/>
              <p:cNvSpPr/>
              <p:nvPr/>
            </p:nvSpPr>
            <p:spPr>
              <a:xfrm>
                <a:off x="847725" y="1552575"/>
                <a:ext cx="1809750" cy="1809750"/>
              </a:xfrm>
              <a:custGeom>
                <a:avLst/>
                <a:gdLst/>
                <a:ahLst/>
                <a:cxnLst/>
                <a:rect l="l" t="t" r="r" b="b"/>
                <a:pathLst>
                  <a:path w="1809750" h="1809750">
                    <a:moveTo>
                      <a:pt x="904875" y="0"/>
                    </a:moveTo>
                    <a:lnTo>
                      <a:pt x="1544955" y="264795"/>
                    </a:lnTo>
                    <a:lnTo>
                      <a:pt x="1809750" y="904875"/>
                    </a:lnTo>
                    <a:lnTo>
                      <a:pt x="1544955" y="1544955"/>
                    </a:lnTo>
                    <a:lnTo>
                      <a:pt x="904875" y="1809750"/>
                    </a:lnTo>
                    <a:lnTo>
                      <a:pt x="264795" y="1544955"/>
                    </a:lnTo>
                    <a:lnTo>
                      <a:pt x="0" y="904875"/>
                    </a:lnTo>
                    <a:lnTo>
                      <a:pt x="264795" y="264795"/>
                    </a:lnTo>
                    <a:close/>
                  </a:path>
                </a:pathLst>
              </a:custGeom>
              <a:noFill/>
              <a:ln w="9525">
                <a:solidFill>
                  <a:srgbClr val="DCE5F2"/>
                </a:solidFill>
              </a:ln>
            </p:spPr>
          </p:sp>
          <p:sp>
            <p:nvSpPr>
              <p:cNvPr id="15" name="Polygon 15"/>
              <p:cNvSpPr/>
              <p:nvPr/>
            </p:nvSpPr>
            <p:spPr>
              <a:xfrm>
                <a:off x="1073944" y="1778794"/>
                <a:ext cx="1357312" cy="1357312"/>
              </a:xfrm>
              <a:custGeom>
                <a:avLst/>
                <a:gdLst/>
                <a:ahLst/>
                <a:cxnLst/>
                <a:rect l="l" t="t" r="r" b="b"/>
                <a:pathLst>
                  <a:path w="1357312" h="1357312">
                    <a:moveTo>
                      <a:pt x="678656" y="0"/>
                    </a:moveTo>
                    <a:lnTo>
                      <a:pt x="1158716" y="198596"/>
                    </a:lnTo>
                    <a:lnTo>
                      <a:pt x="1357312" y="678656"/>
                    </a:lnTo>
                    <a:lnTo>
                      <a:pt x="1158716" y="1158716"/>
                    </a:lnTo>
                    <a:lnTo>
                      <a:pt x="678656" y="1357312"/>
                    </a:lnTo>
                    <a:lnTo>
                      <a:pt x="198596" y="1158716"/>
                    </a:lnTo>
                    <a:lnTo>
                      <a:pt x="0" y="678656"/>
                    </a:lnTo>
                    <a:lnTo>
                      <a:pt x="198596" y="198596"/>
                    </a:lnTo>
                    <a:close/>
                  </a:path>
                </a:pathLst>
              </a:custGeom>
              <a:noFill/>
              <a:ln w="9525">
                <a:solidFill>
                  <a:srgbClr val="DCE5F2"/>
                </a:solidFill>
              </a:ln>
            </p:spPr>
          </p:sp>
          <p:sp>
            <p:nvSpPr>
              <p:cNvPr id="16" name="Polygon 16"/>
              <p:cNvSpPr/>
              <p:nvPr/>
            </p:nvSpPr>
            <p:spPr>
              <a:xfrm>
                <a:off x="1300162" y="2005012"/>
                <a:ext cx="904875" cy="904875"/>
              </a:xfrm>
              <a:custGeom>
                <a:avLst/>
                <a:gdLst/>
                <a:ahLst/>
                <a:cxnLst/>
                <a:rect l="l" t="t" r="r" b="b"/>
                <a:pathLst>
                  <a:path w="904875" h="904875">
                    <a:moveTo>
                      <a:pt x="452438" y="0"/>
                    </a:moveTo>
                    <a:lnTo>
                      <a:pt x="772478" y="132398"/>
                    </a:lnTo>
                    <a:lnTo>
                      <a:pt x="904875" y="452438"/>
                    </a:lnTo>
                    <a:lnTo>
                      <a:pt x="772478" y="772478"/>
                    </a:lnTo>
                    <a:lnTo>
                      <a:pt x="452438" y="904875"/>
                    </a:lnTo>
                    <a:lnTo>
                      <a:pt x="132398" y="772478"/>
                    </a:lnTo>
                    <a:lnTo>
                      <a:pt x="0" y="452438"/>
                    </a:lnTo>
                    <a:lnTo>
                      <a:pt x="132398" y="132398"/>
                    </a:lnTo>
                    <a:close/>
                  </a:path>
                </a:pathLst>
              </a:custGeom>
              <a:noFill/>
              <a:ln w="9525">
                <a:solidFill>
                  <a:srgbClr val="DCE5F2"/>
                </a:solidFill>
              </a:ln>
            </p:spPr>
          </p:sp>
          <p:sp>
            <p:nvSpPr>
              <p:cNvPr id="17" name="Polygon 17"/>
              <p:cNvSpPr/>
              <p:nvPr/>
            </p:nvSpPr>
            <p:spPr>
              <a:xfrm>
                <a:off x="1526381" y="2231231"/>
                <a:ext cx="452438" cy="452438"/>
              </a:xfrm>
              <a:custGeom>
                <a:avLst/>
                <a:gdLst/>
                <a:ahLst/>
                <a:cxnLst/>
                <a:rect l="l" t="t" r="r" b="b"/>
                <a:pathLst>
                  <a:path w="452438" h="452438">
                    <a:moveTo>
                      <a:pt x="226219" y="0"/>
                    </a:moveTo>
                    <a:lnTo>
                      <a:pt x="386239" y="66199"/>
                    </a:lnTo>
                    <a:lnTo>
                      <a:pt x="452438" y="226219"/>
                    </a:lnTo>
                    <a:lnTo>
                      <a:pt x="386239" y="386239"/>
                    </a:lnTo>
                    <a:lnTo>
                      <a:pt x="226219" y="452438"/>
                    </a:lnTo>
                    <a:lnTo>
                      <a:pt x="66199" y="386239"/>
                    </a:lnTo>
                    <a:lnTo>
                      <a:pt x="0" y="226219"/>
                    </a:lnTo>
                    <a:lnTo>
                      <a:pt x="66199" y="66199"/>
                    </a:lnTo>
                    <a:close/>
                  </a:path>
                </a:pathLst>
              </a:custGeom>
              <a:noFill/>
              <a:ln w="9525">
                <a:solidFill>
                  <a:srgbClr val="DCE5F2"/>
                </a:solidFill>
              </a:ln>
            </p:spPr>
          </p:sp>
        </p:grpSp>
        <p:grpSp>
          <p:nvGrpSpPr>
            <p:cNvPr id="27" name="Group 27"/>
            <p:cNvGrpSpPr/>
            <p:nvPr/>
          </p:nvGrpSpPr>
          <p:grpSpPr>
            <a:xfrm>
              <a:off x="847725" y="1552575"/>
              <a:ext cx="1809750" cy="1809750"/>
              <a:chOff x="847725" y="1552575"/>
              <a:chExt cx="1809750" cy="1809750"/>
            </a:xfrm>
          </p:grpSpPr>
          <p:sp>
            <p:nvSpPr>
              <p:cNvPr id="19" name="Line 19"/>
              <p:cNvSpPr/>
              <p:nvPr/>
            </p:nvSpPr>
            <p:spPr>
              <a:xfrm>
                <a:off x="1752600" y="1552575"/>
                <a:ext cx="9525" cy="904875"/>
              </a:xfrm>
              <a:custGeom>
                <a:avLst/>
                <a:gdLst/>
                <a:ahLst/>
                <a:cxnLst/>
                <a:rect l="l" t="t" r="r" b="b"/>
                <a:pathLst>
                  <a:path w="9525" h="904875">
                    <a:moveTo>
                      <a:pt x="0" y="904875"/>
                    </a:moveTo>
                    <a:lnTo>
                      <a:pt x="0" y="0"/>
                    </a:lnTo>
                  </a:path>
                </a:pathLst>
              </a:custGeom>
              <a:noFill/>
              <a:ln w="9525">
                <a:solidFill>
                  <a:srgbClr val="E2E8F2"/>
                </a:solidFill>
              </a:ln>
            </p:spPr>
          </p:sp>
          <p:sp>
            <p:nvSpPr>
              <p:cNvPr id="20" name="Line 20"/>
              <p:cNvSpPr/>
              <p:nvPr/>
            </p:nvSpPr>
            <p:spPr>
              <a:xfrm>
                <a:off x="1752600" y="1817370"/>
                <a:ext cx="640080" cy="640080"/>
              </a:xfrm>
              <a:custGeom>
                <a:avLst/>
                <a:gdLst/>
                <a:ahLst/>
                <a:cxnLst/>
                <a:rect l="l" t="t" r="r" b="b"/>
                <a:pathLst>
                  <a:path w="640080" h="640080">
                    <a:moveTo>
                      <a:pt x="0" y="640080"/>
                    </a:moveTo>
                    <a:lnTo>
                      <a:pt x="640080" y="0"/>
                    </a:lnTo>
                  </a:path>
                </a:pathLst>
              </a:custGeom>
              <a:noFill/>
              <a:ln w="9525">
                <a:solidFill>
                  <a:srgbClr val="E2E8F2"/>
                </a:solidFill>
              </a:ln>
            </p:spPr>
          </p:sp>
          <p:sp>
            <p:nvSpPr>
              <p:cNvPr id="21" name="Line 21"/>
              <p:cNvSpPr/>
              <p:nvPr/>
            </p:nvSpPr>
            <p:spPr>
              <a:xfrm>
                <a:off x="1752600" y="2457450"/>
                <a:ext cx="904875" cy="9525"/>
              </a:xfrm>
              <a:custGeom>
                <a:avLst/>
                <a:gdLst/>
                <a:ahLst/>
                <a:cxnLst/>
                <a:rect l="l" t="t" r="r" b="b"/>
                <a:pathLst>
                  <a:path w="904875" h="9525">
                    <a:moveTo>
                      <a:pt x="0" y="0"/>
                    </a:moveTo>
                    <a:lnTo>
                      <a:pt x="904875" y="0"/>
                    </a:lnTo>
                  </a:path>
                </a:pathLst>
              </a:custGeom>
              <a:noFill/>
              <a:ln w="9525">
                <a:solidFill>
                  <a:srgbClr val="E2E8F2"/>
                </a:solidFill>
              </a:ln>
            </p:spPr>
          </p:sp>
          <p:sp>
            <p:nvSpPr>
              <p:cNvPr id="22" name="Line 22"/>
              <p:cNvSpPr/>
              <p:nvPr/>
            </p:nvSpPr>
            <p:spPr>
              <a:xfrm>
                <a:off x="1752600" y="2457450"/>
                <a:ext cx="640080" cy="640080"/>
              </a:xfrm>
              <a:custGeom>
                <a:avLst/>
                <a:gdLst/>
                <a:ahLst/>
                <a:cxnLst/>
                <a:rect l="l" t="t" r="r" b="b"/>
                <a:pathLst>
                  <a:path w="640080" h="640080">
                    <a:moveTo>
                      <a:pt x="0" y="0"/>
                    </a:moveTo>
                    <a:lnTo>
                      <a:pt x="640080" y="640080"/>
                    </a:lnTo>
                  </a:path>
                </a:pathLst>
              </a:custGeom>
              <a:noFill/>
              <a:ln w="9525">
                <a:solidFill>
                  <a:srgbClr val="E2E8F2"/>
                </a:solidFill>
              </a:ln>
            </p:spPr>
          </p:sp>
          <p:sp>
            <p:nvSpPr>
              <p:cNvPr id="23" name="Line 23"/>
              <p:cNvSpPr/>
              <p:nvPr/>
            </p:nvSpPr>
            <p:spPr>
              <a:xfrm>
                <a:off x="1752600" y="2457450"/>
                <a:ext cx="9525" cy="904875"/>
              </a:xfrm>
              <a:custGeom>
                <a:avLst/>
                <a:gdLst/>
                <a:ahLst/>
                <a:cxnLst/>
                <a:rect l="l" t="t" r="r" b="b"/>
                <a:pathLst>
                  <a:path w="9525" h="904875">
                    <a:moveTo>
                      <a:pt x="0" y="0"/>
                    </a:moveTo>
                    <a:lnTo>
                      <a:pt x="0" y="904875"/>
                    </a:lnTo>
                  </a:path>
                </a:pathLst>
              </a:custGeom>
              <a:noFill/>
              <a:ln w="9525">
                <a:solidFill>
                  <a:srgbClr val="E2E8F2"/>
                </a:solidFill>
              </a:ln>
            </p:spPr>
          </p:sp>
          <p:sp>
            <p:nvSpPr>
              <p:cNvPr id="24" name="Line 24"/>
              <p:cNvSpPr/>
              <p:nvPr/>
            </p:nvSpPr>
            <p:spPr>
              <a:xfrm>
                <a:off x="1112520" y="2457450"/>
                <a:ext cx="640080" cy="640080"/>
              </a:xfrm>
              <a:custGeom>
                <a:avLst/>
                <a:gdLst/>
                <a:ahLst/>
                <a:cxnLst/>
                <a:rect l="l" t="t" r="r" b="b"/>
                <a:pathLst>
                  <a:path w="640080" h="640080">
                    <a:moveTo>
                      <a:pt x="640080" y="0"/>
                    </a:moveTo>
                    <a:lnTo>
                      <a:pt x="0" y="640080"/>
                    </a:lnTo>
                  </a:path>
                </a:pathLst>
              </a:custGeom>
              <a:noFill/>
              <a:ln w="9525">
                <a:solidFill>
                  <a:srgbClr val="E2E8F2"/>
                </a:solidFill>
              </a:ln>
            </p:spPr>
          </p:sp>
          <p:sp>
            <p:nvSpPr>
              <p:cNvPr id="25" name="Line 25"/>
              <p:cNvSpPr/>
              <p:nvPr/>
            </p:nvSpPr>
            <p:spPr>
              <a:xfrm>
                <a:off x="847725" y="2457450"/>
                <a:ext cx="904875" cy="9525"/>
              </a:xfrm>
              <a:custGeom>
                <a:avLst/>
                <a:gdLst/>
                <a:ahLst/>
                <a:cxnLst/>
                <a:rect l="l" t="t" r="r" b="b"/>
                <a:pathLst>
                  <a:path w="904875" h="9525">
                    <a:moveTo>
                      <a:pt x="904875" y="0"/>
                    </a:moveTo>
                    <a:lnTo>
                      <a:pt x="0" y="0"/>
                    </a:lnTo>
                  </a:path>
                </a:pathLst>
              </a:custGeom>
              <a:noFill/>
              <a:ln w="9525">
                <a:solidFill>
                  <a:srgbClr val="E2E8F2"/>
                </a:solidFill>
              </a:ln>
            </p:spPr>
          </p:sp>
          <p:sp>
            <p:nvSpPr>
              <p:cNvPr id="26" name="Line 26"/>
              <p:cNvSpPr/>
              <p:nvPr/>
            </p:nvSpPr>
            <p:spPr>
              <a:xfrm>
                <a:off x="1112520" y="1817370"/>
                <a:ext cx="640080" cy="640080"/>
              </a:xfrm>
              <a:custGeom>
                <a:avLst/>
                <a:gdLst/>
                <a:ahLst/>
                <a:cxnLst/>
                <a:rect l="l" t="t" r="r" b="b"/>
                <a:pathLst>
                  <a:path w="640080" h="640080">
                    <a:moveTo>
                      <a:pt x="640080" y="640080"/>
                    </a:moveTo>
                    <a:lnTo>
                      <a:pt x="0" y="0"/>
                    </a:lnTo>
                  </a:path>
                </a:pathLst>
              </a:custGeom>
              <a:noFill/>
              <a:ln w="9525">
                <a:solidFill>
                  <a:srgbClr val="E2E8F2"/>
                </a:solidFill>
              </a:ln>
            </p:spPr>
          </p:sp>
        </p:grpSp>
        <p:sp>
          <p:nvSpPr>
            <p:cNvPr id="28" name="Polygon 28"/>
            <p:cNvSpPr/>
            <p:nvPr/>
          </p:nvSpPr>
          <p:spPr>
            <a:xfrm>
              <a:off x="1037749" y="1688306"/>
              <a:ext cx="1483995" cy="1502092"/>
            </a:xfrm>
            <a:custGeom>
              <a:avLst/>
              <a:gdLst/>
              <a:ahLst/>
              <a:cxnLst/>
              <a:rect l="l" t="t" r="r" b="b"/>
              <a:pathLst>
                <a:path w="1483995" h="1502092">
                  <a:moveTo>
                    <a:pt x="714851" y="0"/>
                  </a:moveTo>
                  <a:lnTo>
                    <a:pt x="1258729" y="225266"/>
                  </a:lnTo>
                  <a:lnTo>
                    <a:pt x="1483995" y="769144"/>
                  </a:lnTo>
                  <a:lnTo>
                    <a:pt x="1226725" y="1281017"/>
                  </a:lnTo>
                  <a:lnTo>
                    <a:pt x="714851" y="1502092"/>
                  </a:lnTo>
                  <a:lnTo>
                    <a:pt x="222123" y="1261872"/>
                  </a:lnTo>
                  <a:lnTo>
                    <a:pt x="0" y="769144"/>
                  </a:lnTo>
                  <a:lnTo>
                    <a:pt x="170974" y="225266"/>
                  </a:lnTo>
                  <a:close/>
                </a:path>
              </a:pathLst>
            </a:custGeom>
            <a:solidFill>
              <a:srgbClr val="DCE5F2">
                <a:alpha val="45000"/>
              </a:srgbClr>
            </a:solidFill>
            <a:ln w="11430">
              <a:solidFill>
                <a:srgbClr val="944130"/>
              </a:solidFill>
              <a:custDash>
                <a:ds d="333333" sp="250000"/>
              </a:custDash>
            </a:ln>
          </p:spPr>
        </p:sp>
        <p:sp>
          <p:nvSpPr>
            <p:cNvPr id="29" name="Polygon 29"/>
            <p:cNvSpPr/>
            <p:nvPr/>
          </p:nvSpPr>
          <p:spPr>
            <a:xfrm>
              <a:off x="1254919" y="1896428"/>
              <a:ext cx="1085850" cy="1103948"/>
            </a:xfrm>
            <a:custGeom>
              <a:avLst/>
              <a:gdLst/>
              <a:ahLst/>
              <a:cxnLst/>
              <a:rect l="l" t="t" r="r" b="b"/>
              <a:pathLst>
                <a:path w="1085850" h="1103948">
                  <a:moveTo>
                    <a:pt x="497681" y="0"/>
                  </a:moveTo>
                  <a:lnTo>
                    <a:pt x="868775" y="189928"/>
                  </a:lnTo>
                  <a:lnTo>
                    <a:pt x="1085850" y="561022"/>
                  </a:lnTo>
                  <a:lnTo>
                    <a:pt x="830390" y="893731"/>
                  </a:lnTo>
                  <a:lnTo>
                    <a:pt x="497681" y="1103948"/>
                  </a:lnTo>
                  <a:lnTo>
                    <a:pt x="190595" y="868109"/>
                  </a:lnTo>
                  <a:lnTo>
                    <a:pt x="0" y="561022"/>
                  </a:lnTo>
                  <a:lnTo>
                    <a:pt x="94583" y="157925"/>
                  </a:lnTo>
                  <a:close/>
                </a:path>
              </a:pathLst>
            </a:custGeom>
            <a:solidFill>
              <a:srgbClr val="4E0D00">
                <a:alpha val="28000"/>
              </a:srgbClr>
            </a:solidFill>
            <a:ln w="15240">
              <a:solidFill>
                <a:srgbClr val="4E0D00"/>
              </a:solidFill>
            </a:ln>
          </p:spPr>
        </p:sp>
        <p:grpSp>
          <p:nvGrpSpPr>
            <p:cNvPr id="38" name="Group 38"/>
            <p:cNvGrpSpPr/>
            <p:nvPr/>
          </p:nvGrpSpPr>
          <p:grpSpPr>
            <a:xfrm>
              <a:off x="1232059" y="1873568"/>
              <a:ext cx="1131570" cy="1149667"/>
              <a:chOff x="1232059" y="1873568"/>
              <a:chExt cx="1131570" cy="1149667"/>
            </a:xfrm>
          </p:grpSpPr>
          <p:sp>
            <p:nvSpPr>
              <p:cNvPr id="30" name="Ellipse 30"/>
              <p:cNvSpPr/>
              <p:nvPr/>
            </p:nvSpPr>
            <p:spPr>
              <a:xfrm>
                <a:off x="1729740" y="1873568"/>
                <a:ext cx="45720" cy="45720"/>
              </a:xfrm>
              <a:prstGeom prst="ellipse">
                <a:avLst/>
              </a:prstGeom>
              <a:solidFill>
                <a:srgbClr val="4E0D00"/>
              </a:solidFill>
              <a:ln>
                <a:noFill/>
              </a:ln>
            </p:spPr>
          </p:sp>
          <p:sp>
            <p:nvSpPr>
              <p:cNvPr id="31" name="Ellipse 31"/>
              <p:cNvSpPr/>
              <p:nvPr/>
            </p:nvSpPr>
            <p:spPr>
              <a:xfrm>
                <a:off x="2100834" y="2063496"/>
                <a:ext cx="45720" cy="45720"/>
              </a:xfrm>
              <a:prstGeom prst="ellipse">
                <a:avLst/>
              </a:prstGeom>
              <a:solidFill>
                <a:srgbClr val="4E0D00"/>
              </a:solidFill>
              <a:ln>
                <a:noFill/>
              </a:ln>
            </p:spPr>
          </p:sp>
          <p:sp>
            <p:nvSpPr>
              <p:cNvPr id="32" name="Ellipse 32"/>
              <p:cNvSpPr/>
              <p:nvPr/>
            </p:nvSpPr>
            <p:spPr>
              <a:xfrm>
                <a:off x="2317909" y="2434590"/>
                <a:ext cx="45720" cy="45720"/>
              </a:xfrm>
              <a:prstGeom prst="ellipse">
                <a:avLst/>
              </a:prstGeom>
              <a:solidFill>
                <a:srgbClr val="4E0D00"/>
              </a:solidFill>
              <a:ln>
                <a:noFill/>
              </a:ln>
            </p:spPr>
          </p:sp>
          <p:sp>
            <p:nvSpPr>
              <p:cNvPr id="33" name="Ellipse 33"/>
              <p:cNvSpPr/>
              <p:nvPr/>
            </p:nvSpPr>
            <p:spPr>
              <a:xfrm>
                <a:off x="2062448" y="2767298"/>
                <a:ext cx="45720" cy="45720"/>
              </a:xfrm>
              <a:prstGeom prst="ellipse">
                <a:avLst/>
              </a:prstGeom>
              <a:solidFill>
                <a:srgbClr val="4E0D00"/>
              </a:solidFill>
              <a:ln>
                <a:noFill/>
              </a:ln>
            </p:spPr>
          </p:sp>
          <p:sp>
            <p:nvSpPr>
              <p:cNvPr id="34" name="Ellipse 34"/>
              <p:cNvSpPr/>
              <p:nvPr/>
            </p:nvSpPr>
            <p:spPr>
              <a:xfrm>
                <a:off x="1729740" y="2977515"/>
                <a:ext cx="45720" cy="45720"/>
              </a:xfrm>
              <a:prstGeom prst="ellipse">
                <a:avLst/>
              </a:prstGeom>
              <a:solidFill>
                <a:srgbClr val="4E0D00"/>
              </a:solidFill>
              <a:ln>
                <a:noFill/>
              </a:ln>
            </p:spPr>
          </p:sp>
          <p:sp>
            <p:nvSpPr>
              <p:cNvPr id="35" name="Ellipse 35"/>
              <p:cNvSpPr/>
              <p:nvPr/>
            </p:nvSpPr>
            <p:spPr>
              <a:xfrm>
                <a:off x="1422654" y="2741676"/>
                <a:ext cx="45720" cy="45720"/>
              </a:xfrm>
              <a:prstGeom prst="ellipse">
                <a:avLst/>
              </a:prstGeom>
              <a:solidFill>
                <a:srgbClr val="4E0D00"/>
              </a:solidFill>
              <a:ln>
                <a:noFill/>
              </a:ln>
            </p:spPr>
          </p:sp>
          <p:sp>
            <p:nvSpPr>
              <p:cNvPr id="36" name="Ellipse 36"/>
              <p:cNvSpPr/>
              <p:nvPr/>
            </p:nvSpPr>
            <p:spPr>
              <a:xfrm>
                <a:off x="1232059" y="2434590"/>
                <a:ext cx="45720" cy="45720"/>
              </a:xfrm>
              <a:prstGeom prst="ellipse">
                <a:avLst/>
              </a:prstGeom>
              <a:solidFill>
                <a:srgbClr val="4E0D00"/>
              </a:solidFill>
              <a:ln>
                <a:noFill/>
              </a:ln>
            </p:spPr>
          </p:sp>
          <p:sp>
            <p:nvSpPr>
              <p:cNvPr id="37" name="Ellipse 37"/>
              <p:cNvSpPr/>
              <p:nvPr/>
            </p:nvSpPr>
            <p:spPr>
              <a:xfrm>
                <a:off x="1326642" y="2031492"/>
                <a:ext cx="45720" cy="45720"/>
              </a:xfrm>
              <a:prstGeom prst="ellipse">
                <a:avLst/>
              </a:prstGeom>
              <a:solidFill>
                <a:srgbClr val="4E0D00"/>
              </a:solidFill>
              <a:ln>
                <a:noFill/>
              </a:ln>
            </p:spPr>
          </p:sp>
        </p:grpSp>
        <p:sp>
          <p:nvSpPr>
            <p:cNvPr id="39" name="TextBox 39"/>
            <p:cNvSpPr txBox="1"/>
            <p:nvPr/>
          </p:nvSpPr>
          <p:spPr>
            <a:xfrm>
              <a:off x="1804988" y="2200751"/>
              <a:ext cx="86528" cy="104775"/>
            </a:xfrm>
            <a:prstGeom prst="rect">
              <a:avLst/>
            </a:prstGeom>
            <a:noFill/>
            <a:ln>
              <a:noFill/>
            </a:ln>
          </p:spPr>
          <p:txBody>
            <a:bodyPr wrap="none" lIns="0" tIns="0" rIns="0" bIns="0" anchor="t" anchorCtr="0">
              <a:spAutoFit/>
            </a:bodyPr>
            <a:lstStyle/>
            <a:p>
              <a:pPr algn="l"/>
              <a:r>
                <a:rPr lang="zh-CN" sz="520" dirty="0">
                  <a:solidFill>
                    <a:srgbClr val="7E6A66"/>
                  </a:solidFill>
                  <a:latin typeface="+mn-lt"/>
                  <a:ea typeface="+mn-ea"/>
                  <a:cs typeface="+mn-cs"/>
                </a:rPr>
                <a:t>25</a:t>
              </a:r>
            </a:p>
          </p:txBody>
        </p:sp>
        <p:sp>
          <p:nvSpPr>
            <p:cNvPr id="40" name="TextBox 40"/>
            <p:cNvSpPr txBox="1"/>
            <p:nvPr/>
          </p:nvSpPr>
          <p:spPr>
            <a:xfrm>
              <a:off x="1804988" y="1972151"/>
              <a:ext cx="86528" cy="104775"/>
            </a:xfrm>
            <a:prstGeom prst="rect">
              <a:avLst/>
            </a:prstGeom>
            <a:noFill/>
            <a:ln>
              <a:noFill/>
            </a:ln>
          </p:spPr>
          <p:txBody>
            <a:bodyPr wrap="none" lIns="0" tIns="0" rIns="0" bIns="0" anchor="t" anchorCtr="0">
              <a:spAutoFit/>
            </a:bodyPr>
            <a:lstStyle/>
            <a:p>
              <a:pPr algn="l"/>
              <a:r>
                <a:rPr lang="zh-CN" sz="520" dirty="0">
                  <a:solidFill>
                    <a:srgbClr val="7E6A66"/>
                  </a:solidFill>
                  <a:latin typeface="+mn-lt"/>
                  <a:ea typeface="+mn-ea"/>
                  <a:cs typeface="+mn-cs"/>
                </a:rPr>
                <a:t>50</a:t>
              </a:r>
            </a:p>
          </p:txBody>
        </p:sp>
        <p:sp>
          <p:nvSpPr>
            <p:cNvPr id="41" name="TextBox 41"/>
            <p:cNvSpPr txBox="1"/>
            <p:nvPr/>
          </p:nvSpPr>
          <p:spPr>
            <a:xfrm>
              <a:off x="1804988" y="1753076"/>
              <a:ext cx="86528" cy="104775"/>
            </a:xfrm>
            <a:prstGeom prst="rect">
              <a:avLst/>
            </a:prstGeom>
            <a:noFill/>
            <a:ln>
              <a:noFill/>
            </a:ln>
          </p:spPr>
          <p:txBody>
            <a:bodyPr wrap="none" lIns="0" tIns="0" rIns="0" bIns="0" anchor="t" anchorCtr="0">
              <a:spAutoFit/>
            </a:bodyPr>
            <a:lstStyle/>
            <a:p>
              <a:pPr algn="l"/>
              <a:r>
                <a:rPr lang="zh-CN" sz="520" dirty="0">
                  <a:solidFill>
                    <a:srgbClr val="7E6A66"/>
                  </a:solidFill>
                  <a:latin typeface="+mn-lt"/>
                  <a:ea typeface="+mn-ea"/>
                  <a:cs typeface="+mn-cs"/>
                </a:rPr>
                <a:t>75</a:t>
              </a:r>
            </a:p>
          </p:txBody>
        </p:sp>
        <p:sp>
          <p:nvSpPr>
            <p:cNvPr id="42" name="TextBox 42"/>
            <p:cNvSpPr txBox="1"/>
            <p:nvPr/>
          </p:nvSpPr>
          <p:spPr>
            <a:xfrm>
              <a:off x="1804988" y="1524476"/>
              <a:ext cx="125029" cy="104775"/>
            </a:xfrm>
            <a:prstGeom prst="rect">
              <a:avLst/>
            </a:prstGeom>
            <a:noFill/>
            <a:ln>
              <a:noFill/>
            </a:ln>
          </p:spPr>
          <p:txBody>
            <a:bodyPr wrap="none" lIns="0" tIns="0" rIns="0" bIns="0" anchor="t" anchorCtr="0">
              <a:spAutoFit/>
            </a:bodyPr>
            <a:lstStyle/>
            <a:p>
              <a:pPr algn="l"/>
              <a:r>
                <a:rPr lang="zh-CN" sz="520" dirty="0">
                  <a:solidFill>
                    <a:srgbClr val="7E6A66"/>
                  </a:solidFill>
                  <a:latin typeface="+mn-lt"/>
                  <a:ea typeface="+mn-ea"/>
                  <a:cs typeface="+mn-cs"/>
                </a:rPr>
                <a:t>100</a:t>
              </a:r>
            </a:p>
          </p:txBody>
        </p:sp>
        <p:sp>
          <p:nvSpPr>
            <p:cNvPr id="43" name="TextBox 43"/>
            <p:cNvSpPr txBox="1"/>
            <p:nvPr/>
          </p:nvSpPr>
          <p:spPr>
            <a:xfrm>
              <a:off x="1656296" y="1403509"/>
              <a:ext cx="192608" cy="133350"/>
            </a:xfrm>
            <a:prstGeom prst="rect">
              <a:avLst/>
            </a:prstGeom>
            <a:noFill/>
            <a:ln>
              <a:noFill/>
            </a:ln>
          </p:spPr>
          <p:txBody>
            <a:bodyPr wrap="none" lIns="0" tIns="0" rIns="0" bIns="0" anchor="t" anchorCtr="0">
              <a:spAutoFit/>
            </a:bodyPr>
            <a:lstStyle/>
            <a:p>
              <a:pPr algn="ctr"/>
              <a:r>
                <a:rPr lang="zh-CN" sz="680" b="1" dirty="0">
                  <a:solidFill>
                    <a:srgbClr val="453633"/>
                  </a:solidFill>
                  <a:latin typeface="+mn-lt"/>
                  <a:ea typeface="+mn-ea"/>
                  <a:cs typeface="+mn-cs"/>
                </a:rPr>
                <a:t>方向</a:t>
              </a:r>
            </a:p>
          </p:txBody>
        </p:sp>
        <p:sp>
          <p:nvSpPr>
            <p:cNvPr id="44" name="TextBox 44"/>
            <p:cNvSpPr txBox="1"/>
            <p:nvPr/>
          </p:nvSpPr>
          <p:spPr>
            <a:xfrm>
              <a:off x="2433638" y="1755934"/>
              <a:ext cx="284150" cy="133350"/>
            </a:xfrm>
            <a:prstGeom prst="rect">
              <a:avLst/>
            </a:prstGeom>
            <a:noFill/>
            <a:ln>
              <a:noFill/>
            </a:ln>
          </p:spPr>
          <p:txBody>
            <a:bodyPr wrap="none" lIns="0" tIns="0" rIns="0" bIns="0" anchor="t" anchorCtr="0">
              <a:spAutoFit/>
            </a:bodyPr>
            <a:lstStyle/>
            <a:p>
              <a:pPr algn="l"/>
              <a:r>
                <a:rPr lang="zh-CN" sz="680" b="1" dirty="0">
                  <a:solidFill>
                    <a:srgbClr val="453633"/>
                  </a:solidFill>
                  <a:latin typeface="+mn-lt"/>
                  <a:ea typeface="+mn-ea"/>
                  <a:cs typeface="+mn-cs"/>
                </a:rPr>
                <a:t>领导力</a:t>
              </a:r>
            </a:p>
          </p:txBody>
        </p:sp>
        <p:sp>
          <p:nvSpPr>
            <p:cNvPr id="45" name="TextBox 45"/>
            <p:cNvSpPr txBox="1"/>
            <p:nvPr/>
          </p:nvSpPr>
          <p:spPr>
            <a:xfrm>
              <a:off x="2662238" y="2413159"/>
              <a:ext cx="375691" cy="133350"/>
            </a:xfrm>
            <a:prstGeom prst="rect">
              <a:avLst/>
            </a:prstGeom>
            <a:noFill/>
            <a:ln>
              <a:noFill/>
            </a:ln>
          </p:spPr>
          <p:txBody>
            <a:bodyPr wrap="none" lIns="0" tIns="0" rIns="0" bIns="0" anchor="t" anchorCtr="0">
              <a:spAutoFit/>
            </a:bodyPr>
            <a:lstStyle/>
            <a:p>
              <a:pPr algn="l"/>
              <a:r>
                <a:rPr lang="zh-CN" sz="680" b="1" dirty="0">
                  <a:solidFill>
                    <a:srgbClr val="453633"/>
                  </a:solidFill>
                  <a:latin typeface="+mn-lt"/>
                  <a:ea typeface="+mn-ea"/>
                  <a:cs typeface="+mn-cs"/>
                </a:rPr>
                <a:t>文化氛围</a:t>
              </a:r>
            </a:p>
          </p:txBody>
        </p:sp>
        <p:sp>
          <p:nvSpPr>
            <p:cNvPr id="46" name="TextBox 46"/>
            <p:cNvSpPr txBox="1"/>
            <p:nvPr/>
          </p:nvSpPr>
          <p:spPr>
            <a:xfrm>
              <a:off x="2433638" y="3108484"/>
              <a:ext cx="375691" cy="133350"/>
            </a:xfrm>
            <a:prstGeom prst="rect">
              <a:avLst/>
            </a:prstGeom>
            <a:noFill/>
            <a:ln>
              <a:noFill/>
            </a:ln>
          </p:spPr>
          <p:txBody>
            <a:bodyPr wrap="none" lIns="0" tIns="0" rIns="0" bIns="0" anchor="t" anchorCtr="0">
              <a:spAutoFit/>
            </a:bodyPr>
            <a:lstStyle/>
            <a:p>
              <a:pPr algn="l"/>
              <a:r>
                <a:rPr lang="zh-CN" sz="680" b="1" dirty="0">
                  <a:solidFill>
                    <a:srgbClr val="453633"/>
                  </a:solidFill>
                  <a:latin typeface="+mn-lt"/>
                  <a:ea typeface="+mn-ea"/>
                  <a:cs typeface="+mn-cs"/>
                </a:rPr>
                <a:t>协调控制</a:t>
              </a:r>
            </a:p>
          </p:txBody>
        </p:sp>
        <p:sp>
          <p:nvSpPr>
            <p:cNvPr id="47" name="TextBox 47"/>
            <p:cNvSpPr txBox="1"/>
            <p:nvPr/>
          </p:nvSpPr>
          <p:spPr>
            <a:xfrm>
              <a:off x="1656296" y="3432334"/>
              <a:ext cx="192608" cy="133350"/>
            </a:xfrm>
            <a:prstGeom prst="rect">
              <a:avLst/>
            </a:prstGeom>
            <a:noFill/>
            <a:ln>
              <a:noFill/>
            </a:ln>
          </p:spPr>
          <p:txBody>
            <a:bodyPr wrap="none" lIns="0" tIns="0" rIns="0" bIns="0" anchor="t" anchorCtr="0">
              <a:spAutoFit/>
            </a:bodyPr>
            <a:lstStyle/>
            <a:p>
              <a:pPr algn="ctr"/>
              <a:r>
                <a:rPr lang="zh-CN" sz="680" b="1" dirty="0">
                  <a:solidFill>
                    <a:srgbClr val="453633"/>
                  </a:solidFill>
                  <a:latin typeface="+mn-lt"/>
                  <a:ea typeface="+mn-ea"/>
                  <a:cs typeface="+mn-cs"/>
                </a:rPr>
                <a:t>能力</a:t>
              </a:r>
            </a:p>
          </p:txBody>
        </p:sp>
        <p:sp>
          <p:nvSpPr>
            <p:cNvPr id="48" name="TextBox 48"/>
            <p:cNvSpPr txBox="1"/>
            <p:nvPr/>
          </p:nvSpPr>
          <p:spPr>
            <a:xfrm>
              <a:off x="878954" y="3108484"/>
              <a:ext cx="192608" cy="133350"/>
            </a:xfrm>
            <a:prstGeom prst="rect">
              <a:avLst/>
            </a:prstGeom>
            <a:noFill/>
            <a:ln>
              <a:noFill/>
            </a:ln>
          </p:spPr>
          <p:txBody>
            <a:bodyPr wrap="none" lIns="0" tIns="0" rIns="0" bIns="0" anchor="t" anchorCtr="0">
              <a:spAutoFit/>
            </a:bodyPr>
            <a:lstStyle/>
            <a:p>
              <a:pPr algn="r"/>
              <a:r>
                <a:rPr lang="zh-CN" sz="680" b="1" dirty="0">
                  <a:solidFill>
                    <a:srgbClr val="453633"/>
                  </a:solidFill>
                  <a:latin typeface="+mn-lt"/>
                  <a:ea typeface="+mn-ea"/>
                  <a:cs typeface="+mn-cs"/>
                </a:rPr>
                <a:t>激励</a:t>
              </a:r>
            </a:p>
          </p:txBody>
        </p:sp>
        <p:sp>
          <p:nvSpPr>
            <p:cNvPr id="49" name="TextBox 49"/>
            <p:cNvSpPr txBox="1"/>
            <p:nvPr/>
          </p:nvSpPr>
          <p:spPr>
            <a:xfrm>
              <a:off x="448221" y="2413159"/>
              <a:ext cx="375691" cy="133350"/>
            </a:xfrm>
            <a:prstGeom prst="rect">
              <a:avLst/>
            </a:prstGeom>
            <a:noFill/>
            <a:ln>
              <a:noFill/>
            </a:ln>
          </p:spPr>
          <p:txBody>
            <a:bodyPr wrap="none" lIns="0" tIns="0" rIns="0" bIns="0" anchor="t" anchorCtr="0">
              <a:spAutoFit/>
            </a:bodyPr>
            <a:lstStyle/>
            <a:p>
              <a:pPr algn="r"/>
              <a:r>
                <a:rPr lang="zh-CN" sz="680" b="1" dirty="0">
                  <a:solidFill>
                    <a:srgbClr val="453633"/>
                  </a:solidFill>
                  <a:latin typeface="+mn-lt"/>
                  <a:ea typeface="+mn-ea"/>
                  <a:cs typeface="+mn-cs"/>
                </a:rPr>
                <a:t>创新学习</a:t>
              </a:r>
            </a:p>
          </p:txBody>
        </p:sp>
        <p:sp>
          <p:nvSpPr>
            <p:cNvPr id="50" name="TextBox 50"/>
            <p:cNvSpPr txBox="1"/>
            <p:nvPr/>
          </p:nvSpPr>
          <p:spPr>
            <a:xfrm>
              <a:off x="695871" y="1755934"/>
              <a:ext cx="375691" cy="133350"/>
            </a:xfrm>
            <a:prstGeom prst="rect">
              <a:avLst/>
            </a:prstGeom>
            <a:noFill/>
            <a:ln>
              <a:noFill/>
            </a:ln>
          </p:spPr>
          <p:txBody>
            <a:bodyPr wrap="none" lIns="0" tIns="0" rIns="0" bIns="0" anchor="t" anchorCtr="0">
              <a:spAutoFit/>
            </a:bodyPr>
            <a:lstStyle/>
            <a:p>
              <a:pPr algn="r"/>
              <a:r>
                <a:rPr lang="zh-CN" sz="680" b="1" dirty="0">
                  <a:solidFill>
                    <a:srgbClr val="453633"/>
                  </a:solidFill>
                  <a:latin typeface="+mn-lt"/>
                  <a:ea typeface="+mn-ea"/>
                  <a:cs typeface="+mn-cs"/>
                </a:rPr>
                <a:t>外部导向</a:t>
              </a:r>
            </a:p>
          </p:txBody>
        </p:sp>
      </p:grpSp>
      <p:grpSp>
        <p:nvGrpSpPr>
          <p:cNvPr id="81" name="health-matrix"/>
          <p:cNvGrpSpPr/>
          <p:nvPr/>
        </p:nvGrpSpPr>
        <p:grpSpPr>
          <a:xfrm>
            <a:off x="3352800" y="762000"/>
            <a:ext cx="3810000" cy="3038476"/>
            <a:chOff x="3352800" y="762000"/>
            <a:chExt cx="3810000" cy="3038476"/>
          </a:xfrm>
        </p:grpSpPr>
        <p:sp>
          <p:nvSpPr>
            <p:cNvPr id="52" name="Rectangle 52"/>
            <p:cNvSpPr/>
            <p:nvPr/>
          </p:nvSpPr>
          <p:spPr>
            <a:xfrm>
              <a:off x="3352800" y="762000"/>
              <a:ext cx="3810000" cy="247650"/>
            </a:xfrm>
            <a:prstGeom prst="rect">
              <a:avLst/>
            </a:prstGeom>
            <a:solidFill>
              <a:srgbClr val="4E0D00"/>
            </a:solidFill>
            <a:ln>
              <a:noFill/>
            </a:ln>
          </p:spPr>
        </p:sp>
        <p:sp>
          <p:nvSpPr>
            <p:cNvPr id="53" name="TextBox 53"/>
            <p:cNvSpPr txBox="1"/>
            <p:nvPr/>
          </p:nvSpPr>
          <p:spPr>
            <a:xfrm>
              <a:off x="4645901" y="844391"/>
              <a:ext cx="122379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组织健康与经营绩效矩阵</a:t>
              </a:r>
            </a:p>
          </p:txBody>
        </p:sp>
        <p:sp>
          <p:nvSpPr>
            <p:cNvPr id="54" name="Line 54"/>
            <p:cNvSpPr/>
            <p:nvPr/>
          </p:nvSpPr>
          <p:spPr>
            <a:xfrm flipV="1">
              <a:off x="3676650" y="952500"/>
              <a:ext cx="1" cy="2590800"/>
            </a:xfrm>
            <a:prstGeom prst="line">
              <a:avLst/>
            </a:prstGeom>
            <a:noFill/>
            <a:ln w="14288">
              <a:solidFill>
                <a:srgbClr val="944130"/>
              </a:solidFill>
              <a:tailEnd type="triangle" w="lg" len="lg"/>
            </a:ln>
          </p:spPr>
        </p:sp>
        <p:sp>
          <p:nvSpPr>
            <p:cNvPr id="55" name="Line 55"/>
            <p:cNvSpPr/>
            <p:nvPr/>
          </p:nvSpPr>
          <p:spPr>
            <a:xfrm>
              <a:off x="3676650" y="3543300"/>
              <a:ext cx="3390900" cy="1"/>
            </a:xfrm>
            <a:prstGeom prst="line">
              <a:avLst/>
            </a:prstGeom>
            <a:noFill/>
            <a:ln w="14288">
              <a:solidFill>
                <a:srgbClr val="944130"/>
              </a:solidFill>
              <a:tailEnd type="triangle" w="lg" len="lg"/>
            </a:ln>
          </p:spPr>
        </p:sp>
        <p:sp>
          <p:nvSpPr>
            <p:cNvPr id="56" name="Rectangle 56"/>
            <p:cNvSpPr/>
            <p:nvPr/>
          </p:nvSpPr>
          <p:spPr>
            <a:xfrm>
              <a:off x="3771900" y="1009650"/>
              <a:ext cx="1619250" cy="1238250"/>
            </a:xfrm>
            <a:prstGeom prst="rect">
              <a:avLst/>
            </a:prstGeom>
            <a:solidFill>
              <a:srgbClr val="EFF3FA"/>
            </a:solidFill>
            <a:ln w="9525">
              <a:solidFill>
                <a:srgbClr val="C7D2E4"/>
              </a:solidFill>
            </a:ln>
          </p:spPr>
        </p:sp>
        <p:sp>
          <p:nvSpPr>
            <p:cNvPr id="57" name="TextBox 57"/>
            <p:cNvSpPr txBox="1"/>
            <p:nvPr/>
          </p:nvSpPr>
          <p:spPr>
            <a:xfrm>
              <a:off x="4345216" y="1240393"/>
              <a:ext cx="472618" cy="169069"/>
            </a:xfrm>
            <a:prstGeom prst="rect">
              <a:avLst/>
            </a:prstGeom>
            <a:noFill/>
            <a:ln>
              <a:noFill/>
            </a:ln>
          </p:spPr>
          <p:txBody>
            <a:bodyPr wrap="none" lIns="0" tIns="0" rIns="0" bIns="0" anchor="t" anchorCtr="0">
              <a:spAutoFit/>
            </a:bodyPr>
            <a:lstStyle/>
            <a:p>
              <a:pPr algn="ctr"/>
              <a:r>
                <a:rPr lang="zh-CN" sz="860" b="1" dirty="0">
                  <a:solidFill>
                    <a:srgbClr val="4E0D00"/>
                  </a:solidFill>
                  <a:latin typeface="+mn-lt"/>
                  <a:ea typeface="+mn-ea"/>
                  <a:cs typeface="+mn-cs"/>
                </a:rPr>
                <a:t>透支增长</a:t>
              </a:r>
            </a:p>
          </p:txBody>
        </p:sp>
        <p:sp>
          <p:nvSpPr>
            <p:cNvPr id="58" name="TextBox 58"/>
            <p:cNvSpPr txBox="1"/>
            <p:nvPr/>
          </p:nvSpPr>
          <p:spPr>
            <a:xfrm>
              <a:off x="4011358" y="1516380"/>
              <a:ext cx="114033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短期业绩较好，但健康度不足，</a:t>
              </a:r>
            </a:p>
          </p:txBody>
        </p:sp>
        <p:sp>
          <p:nvSpPr>
            <p:cNvPr id="59" name="TextBox 59"/>
            <p:cNvSpPr txBox="1"/>
            <p:nvPr/>
          </p:nvSpPr>
          <p:spPr>
            <a:xfrm>
              <a:off x="4294060" y="166878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可持续性风险高</a:t>
              </a:r>
            </a:p>
          </p:txBody>
        </p:sp>
        <p:sp>
          <p:nvSpPr>
            <p:cNvPr id="60" name="Rectangle 60"/>
            <p:cNvSpPr/>
            <p:nvPr/>
          </p:nvSpPr>
          <p:spPr>
            <a:xfrm>
              <a:off x="5391150" y="1009650"/>
              <a:ext cx="1619250" cy="1238250"/>
            </a:xfrm>
            <a:prstGeom prst="rect">
              <a:avLst/>
            </a:prstGeom>
            <a:solidFill>
              <a:srgbClr val="4E0D00"/>
            </a:solidFill>
            <a:ln>
              <a:noFill/>
            </a:ln>
          </p:spPr>
        </p:sp>
        <p:sp>
          <p:nvSpPr>
            <p:cNvPr id="61" name="TextBox 61"/>
            <p:cNvSpPr txBox="1"/>
            <p:nvPr/>
          </p:nvSpPr>
          <p:spPr>
            <a:xfrm>
              <a:off x="5906580" y="1240393"/>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可持续领先</a:t>
              </a:r>
            </a:p>
          </p:txBody>
        </p:sp>
        <p:sp>
          <p:nvSpPr>
            <p:cNvPr id="62" name="TextBox 62"/>
            <p:cNvSpPr txBox="1"/>
            <p:nvPr/>
          </p:nvSpPr>
          <p:spPr>
            <a:xfrm>
              <a:off x="5832538" y="1516380"/>
              <a:ext cx="736473"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绩效与健康度均高，</a:t>
              </a:r>
            </a:p>
          </p:txBody>
        </p:sp>
        <p:sp>
          <p:nvSpPr>
            <p:cNvPr id="63" name="TextBox 63"/>
            <p:cNvSpPr txBox="1"/>
            <p:nvPr/>
          </p:nvSpPr>
          <p:spPr>
            <a:xfrm>
              <a:off x="5751766" y="1668780"/>
              <a:ext cx="898017"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具备持续创造价值的能力</a:t>
              </a:r>
            </a:p>
          </p:txBody>
        </p:sp>
        <p:sp>
          <p:nvSpPr>
            <p:cNvPr id="64" name="Rectangle 64"/>
            <p:cNvSpPr/>
            <p:nvPr/>
          </p:nvSpPr>
          <p:spPr>
            <a:xfrm>
              <a:off x="3771900" y="2247900"/>
              <a:ext cx="1619250" cy="1238250"/>
            </a:xfrm>
            <a:prstGeom prst="rect">
              <a:avLst/>
            </a:prstGeom>
            <a:solidFill>
              <a:srgbClr val="DCE5F2"/>
            </a:solidFill>
            <a:ln>
              <a:noFill/>
            </a:ln>
          </p:spPr>
        </p:sp>
        <p:sp>
          <p:nvSpPr>
            <p:cNvPr id="65" name="TextBox 65"/>
            <p:cNvSpPr txBox="1"/>
            <p:nvPr/>
          </p:nvSpPr>
          <p:spPr>
            <a:xfrm>
              <a:off x="4287330" y="2478643"/>
              <a:ext cx="588391" cy="169069"/>
            </a:xfrm>
            <a:prstGeom prst="rect">
              <a:avLst/>
            </a:prstGeom>
            <a:noFill/>
            <a:ln>
              <a:noFill/>
            </a:ln>
          </p:spPr>
          <p:txBody>
            <a:bodyPr wrap="none" lIns="0" tIns="0" rIns="0" bIns="0" anchor="t" anchorCtr="0">
              <a:spAutoFit/>
            </a:bodyPr>
            <a:lstStyle/>
            <a:p>
              <a:pPr algn="ctr"/>
              <a:r>
                <a:rPr lang="zh-CN" sz="860" b="1" dirty="0">
                  <a:solidFill>
                    <a:srgbClr val="4E0D00"/>
                  </a:solidFill>
                  <a:latin typeface="+mn-lt"/>
                  <a:ea typeface="+mn-ea"/>
                  <a:cs typeface="+mn-cs"/>
                </a:rPr>
                <a:t>潜力待释放</a:t>
              </a:r>
            </a:p>
          </p:txBody>
        </p:sp>
        <p:sp>
          <p:nvSpPr>
            <p:cNvPr id="66" name="TextBox 66"/>
            <p:cNvSpPr txBox="1"/>
            <p:nvPr/>
          </p:nvSpPr>
          <p:spPr>
            <a:xfrm>
              <a:off x="4011358" y="2754630"/>
              <a:ext cx="114033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健康度较好，但绩效未达预期，</a:t>
              </a:r>
            </a:p>
          </p:txBody>
        </p:sp>
        <p:sp>
          <p:nvSpPr>
            <p:cNvPr id="67" name="TextBox 67"/>
            <p:cNvSpPr txBox="1"/>
            <p:nvPr/>
          </p:nvSpPr>
          <p:spPr>
            <a:xfrm>
              <a:off x="4334446" y="29070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存在释放空间</a:t>
              </a:r>
            </a:p>
          </p:txBody>
        </p:sp>
        <p:sp>
          <p:nvSpPr>
            <p:cNvPr id="68" name="Rectangle 68"/>
            <p:cNvSpPr/>
            <p:nvPr/>
          </p:nvSpPr>
          <p:spPr>
            <a:xfrm>
              <a:off x="5391150" y="2247900"/>
              <a:ext cx="1619250" cy="1238250"/>
            </a:xfrm>
            <a:prstGeom prst="rect">
              <a:avLst/>
            </a:prstGeom>
            <a:solidFill>
              <a:srgbClr val="FFFFFF"/>
            </a:solidFill>
            <a:ln w="9525">
              <a:solidFill>
                <a:srgbClr val="C7D2E4"/>
              </a:solidFill>
            </a:ln>
          </p:spPr>
        </p:sp>
        <p:sp>
          <p:nvSpPr>
            <p:cNvPr id="69" name="TextBox 69"/>
            <p:cNvSpPr txBox="1"/>
            <p:nvPr/>
          </p:nvSpPr>
          <p:spPr>
            <a:xfrm>
              <a:off x="5906580" y="2478643"/>
              <a:ext cx="588391" cy="169069"/>
            </a:xfrm>
            <a:prstGeom prst="rect">
              <a:avLst/>
            </a:prstGeom>
            <a:noFill/>
            <a:ln>
              <a:noFill/>
            </a:ln>
          </p:spPr>
          <p:txBody>
            <a:bodyPr wrap="none" lIns="0" tIns="0" rIns="0" bIns="0" anchor="t" anchorCtr="0">
              <a:spAutoFit/>
            </a:bodyPr>
            <a:lstStyle/>
            <a:p>
              <a:pPr algn="ctr"/>
              <a:r>
                <a:rPr lang="zh-CN" sz="860" b="1" dirty="0">
                  <a:solidFill>
                    <a:srgbClr val="4E0D00"/>
                  </a:solidFill>
                  <a:latin typeface="+mn-lt"/>
                  <a:ea typeface="+mn-ea"/>
                  <a:cs typeface="+mn-cs"/>
                </a:rPr>
                <a:t>系统性重塑</a:t>
              </a:r>
            </a:p>
          </p:txBody>
        </p:sp>
        <p:sp>
          <p:nvSpPr>
            <p:cNvPr id="70" name="TextBox 70"/>
            <p:cNvSpPr txBox="1"/>
            <p:nvPr/>
          </p:nvSpPr>
          <p:spPr>
            <a:xfrm>
              <a:off x="5832538" y="2754630"/>
              <a:ext cx="73647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绩效与健康度均低，</a:t>
              </a:r>
            </a:p>
          </p:txBody>
        </p:sp>
        <p:sp>
          <p:nvSpPr>
            <p:cNvPr id="71" name="TextBox 71"/>
            <p:cNvSpPr txBox="1"/>
            <p:nvPr/>
          </p:nvSpPr>
          <p:spPr>
            <a:xfrm>
              <a:off x="5751766" y="2907030"/>
              <a:ext cx="89801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需系统性变革与能力重建</a:t>
              </a:r>
            </a:p>
          </p:txBody>
        </p:sp>
        <p:sp>
          <p:nvSpPr>
            <p:cNvPr id="72" name="TextBox 72"/>
            <p:cNvSpPr txBox="1"/>
            <p:nvPr/>
          </p:nvSpPr>
          <p:spPr>
            <a:xfrm>
              <a:off x="3549917" y="97488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高</a:t>
              </a:r>
            </a:p>
          </p:txBody>
        </p:sp>
        <p:sp>
          <p:nvSpPr>
            <p:cNvPr id="73" name="TextBox 73"/>
            <p:cNvSpPr txBox="1"/>
            <p:nvPr/>
          </p:nvSpPr>
          <p:spPr>
            <a:xfrm>
              <a:off x="3549917" y="343233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低</a:t>
              </a:r>
            </a:p>
          </p:txBody>
        </p:sp>
        <p:sp>
          <p:nvSpPr>
            <p:cNvPr id="74" name="TextBox 74"/>
            <p:cNvSpPr txBox="1"/>
            <p:nvPr/>
          </p:nvSpPr>
          <p:spPr>
            <a:xfrm>
              <a:off x="3447263" y="1781889"/>
              <a:ext cx="11587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经</a:t>
              </a:r>
            </a:p>
          </p:txBody>
        </p:sp>
        <p:sp>
          <p:nvSpPr>
            <p:cNvPr id="75" name="TextBox 75"/>
            <p:cNvSpPr txBox="1"/>
            <p:nvPr/>
          </p:nvSpPr>
          <p:spPr>
            <a:xfrm>
              <a:off x="3447263" y="1991439"/>
              <a:ext cx="11587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营</a:t>
              </a:r>
            </a:p>
          </p:txBody>
        </p:sp>
        <p:sp>
          <p:nvSpPr>
            <p:cNvPr id="76" name="TextBox 76"/>
            <p:cNvSpPr txBox="1"/>
            <p:nvPr/>
          </p:nvSpPr>
          <p:spPr>
            <a:xfrm>
              <a:off x="3447263" y="2200989"/>
              <a:ext cx="11587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绩</a:t>
              </a:r>
            </a:p>
          </p:txBody>
        </p:sp>
        <p:sp>
          <p:nvSpPr>
            <p:cNvPr id="77" name="TextBox 77"/>
            <p:cNvSpPr txBox="1"/>
            <p:nvPr/>
          </p:nvSpPr>
          <p:spPr>
            <a:xfrm>
              <a:off x="3447263" y="2410539"/>
              <a:ext cx="115875" cy="154781"/>
            </a:xfrm>
            <a:prstGeom prst="rect">
              <a:avLst/>
            </a:prstGeom>
            <a:noFill/>
            <a:ln>
              <a:noFill/>
            </a:ln>
          </p:spPr>
          <p:txBody>
            <a:bodyPr wrap="none" lIns="0" tIns="0" rIns="0" bIns="0" anchor="t" anchorCtr="0">
              <a:spAutoFit/>
            </a:bodyPr>
            <a:lstStyle/>
            <a:p>
              <a:pPr algn="ctr"/>
              <a:r>
                <a:rPr lang="zh-CN" sz="790" b="1" dirty="0">
                  <a:solidFill>
                    <a:srgbClr val="4E0D00"/>
                  </a:solidFill>
                  <a:latin typeface="+mn-lt"/>
                  <a:ea typeface="+mn-ea"/>
                  <a:cs typeface="+mn-cs"/>
                </a:rPr>
                <a:t>效</a:t>
              </a:r>
            </a:p>
          </p:txBody>
        </p:sp>
        <p:sp>
          <p:nvSpPr>
            <p:cNvPr id="78" name="TextBox 78"/>
            <p:cNvSpPr txBox="1"/>
            <p:nvPr/>
          </p:nvSpPr>
          <p:spPr>
            <a:xfrm>
              <a:off x="3797567" y="364188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低</a:t>
              </a:r>
            </a:p>
          </p:txBody>
        </p:sp>
        <p:sp>
          <p:nvSpPr>
            <p:cNvPr id="79" name="TextBox 79"/>
            <p:cNvSpPr txBox="1"/>
            <p:nvPr/>
          </p:nvSpPr>
          <p:spPr>
            <a:xfrm>
              <a:off x="6864617" y="3641884"/>
              <a:ext cx="101067" cy="133350"/>
            </a:xfrm>
            <a:prstGeom prst="rect">
              <a:avLst/>
            </a:prstGeom>
            <a:noFill/>
            <a:ln>
              <a:noFill/>
            </a:ln>
          </p:spPr>
          <p:txBody>
            <a:bodyPr wrap="none" lIns="0" tIns="0" rIns="0" bIns="0" anchor="t" anchorCtr="0">
              <a:spAutoFit/>
            </a:bodyPr>
            <a:lstStyle/>
            <a:p>
              <a:pPr algn="ctr"/>
              <a:r>
                <a:rPr lang="zh-CN" sz="680" dirty="0">
                  <a:solidFill>
                    <a:srgbClr val="6E5955"/>
                  </a:solidFill>
                  <a:latin typeface="+mn-lt"/>
                  <a:ea typeface="+mn-ea"/>
                  <a:cs typeface="+mn-cs"/>
                </a:rPr>
                <a:t>高</a:t>
              </a:r>
            </a:p>
          </p:txBody>
        </p:sp>
        <p:sp>
          <p:nvSpPr>
            <p:cNvPr id="80" name="TextBox 80"/>
            <p:cNvSpPr txBox="1"/>
            <p:nvPr/>
          </p:nvSpPr>
          <p:spPr>
            <a:xfrm>
              <a:off x="5184458" y="3652838"/>
              <a:ext cx="413385" cy="147638"/>
            </a:xfrm>
            <a:prstGeom prst="rect">
              <a:avLst/>
            </a:prstGeom>
            <a:noFill/>
            <a:ln>
              <a:noFill/>
            </a:ln>
          </p:spPr>
          <p:txBody>
            <a:bodyPr wrap="none" lIns="0" tIns="0" rIns="0" bIns="0" anchor="t" anchorCtr="0">
              <a:spAutoFit/>
            </a:bodyPr>
            <a:lstStyle/>
            <a:p>
              <a:pPr algn="ctr"/>
              <a:r>
                <a:rPr lang="zh-CN" sz="750" b="1" dirty="0">
                  <a:solidFill>
                    <a:srgbClr val="4E0D00"/>
                  </a:solidFill>
                  <a:latin typeface="+mn-lt"/>
                  <a:ea typeface="+mn-ea"/>
                  <a:cs typeface="+mn-cs"/>
                </a:rPr>
                <a:t>组织健康</a:t>
              </a:r>
            </a:p>
          </p:txBody>
        </p:sp>
      </p:grpSp>
      <p:grpSp>
        <p:nvGrpSpPr>
          <p:cNvPr id="176" name="score-table"/>
          <p:cNvGrpSpPr/>
          <p:nvPr/>
        </p:nvGrpSpPr>
        <p:grpSpPr>
          <a:xfrm>
            <a:off x="7239000" y="762000"/>
            <a:ext cx="4724400" cy="2952750"/>
            <a:chOff x="7239000" y="762000"/>
            <a:chExt cx="4724400" cy="2952750"/>
          </a:xfrm>
        </p:grpSpPr>
        <p:sp>
          <p:nvSpPr>
            <p:cNvPr id="82" name="Rectangle 82"/>
            <p:cNvSpPr/>
            <p:nvPr/>
          </p:nvSpPr>
          <p:spPr>
            <a:xfrm>
              <a:off x="7239000" y="762000"/>
              <a:ext cx="4724400" cy="247650"/>
            </a:xfrm>
            <a:prstGeom prst="rect">
              <a:avLst/>
            </a:prstGeom>
            <a:solidFill>
              <a:srgbClr val="4E0D00"/>
            </a:solidFill>
            <a:ln>
              <a:noFill/>
            </a:ln>
          </p:spPr>
        </p:sp>
        <p:sp>
          <p:nvSpPr>
            <p:cNvPr id="83" name="TextBox 83"/>
            <p:cNvSpPr txBox="1"/>
            <p:nvPr/>
          </p:nvSpPr>
          <p:spPr>
            <a:xfrm>
              <a:off x="9044496" y="844391"/>
              <a:ext cx="111340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八大维度评分与优先级</a:t>
              </a:r>
            </a:p>
          </p:txBody>
        </p:sp>
        <p:sp>
          <p:nvSpPr>
            <p:cNvPr id="84" name="Rectangle 84"/>
            <p:cNvSpPr/>
            <p:nvPr/>
          </p:nvSpPr>
          <p:spPr>
            <a:xfrm>
              <a:off x="7239000" y="1047750"/>
              <a:ext cx="1428750" cy="228600"/>
            </a:xfrm>
            <a:prstGeom prst="rect">
              <a:avLst/>
            </a:prstGeom>
            <a:solidFill>
              <a:srgbClr val="711E0D"/>
            </a:solidFill>
            <a:ln>
              <a:noFill/>
            </a:ln>
          </p:spPr>
        </p:sp>
        <p:sp>
          <p:nvSpPr>
            <p:cNvPr id="85" name="TextBox 85"/>
            <p:cNvSpPr txBox="1"/>
            <p:nvPr/>
          </p:nvSpPr>
          <p:spPr>
            <a:xfrm>
              <a:off x="7862456" y="1131332"/>
              <a:ext cx="181839"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维度</a:t>
              </a:r>
            </a:p>
          </p:txBody>
        </p:sp>
        <p:sp>
          <p:nvSpPr>
            <p:cNvPr id="86" name="Rectangle 86"/>
            <p:cNvSpPr/>
            <p:nvPr/>
          </p:nvSpPr>
          <p:spPr>
            <a:xfrm>
              <a:off x="8667750" y="1047750"/>
              <a:ext cx="1143000" cy="228600"/>
            </a:xfrm>
            <a:prstGeom prst="rect">
              <a:avLst/>
            </a:prstGeom>
            <a:solidFill>
              <a:srgbClr val="4E0D00"/>
            </a:solidFill>
            <a:ln>
              <a:noFill/>
            </a:ln>
          </p:spPr>
        </p:sp>
        <p:sp>
          <p:nvSpPr>
            <p:cNvPr id="87" name="TextBox 87"/>
            <p:cNvSpPr txBox="1"/>
            <p:nvPr/>
          </p:nvSpPr>
          <p:spPr>
            <a:xfrm>
              <a:off x="9072944" y="1078230"/>
              <a:ext cx="332613"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当前得分</a:t>
              </a:r>
            </a:p>
          </p:txBody>
        </p:sp>
        <p:sp>
          <p:nvSpPr>
            <p:cNvPr id="88" name="TextBox 88"/>
            <p:cNvSpPr txBox="1"/>
            <p:nvPr/>
          </p:nvSpPr>
          <p:spPr>
            <a:xfrm>
              <a:off x="9055443" y="1177528"/>
              <a:ext cx="367614" cy="111919"/>
            </a:xfrm>
            <a:prstGeom prst="rect">
              <a:avLst/>
            </a:prstGeom>
            <a:noFill/>
            <a:ln>
              <a:noFill/>
            </a:ln>
          </p:spPr>
          <p:txBody>
            <a:bodyPr wrap="none" lIns="0" tIns="0" rIns="0" bIns="0" anchor="t" anchorCtr="0">
              <a:spAutoFit/>
            </a:bodyPr>
            <a:lstStyle/>
            <a:p>
              <a:pPr algn="ctr"/>
              <a:r>
                <a:rPr lang="zh-CN" sz="560" dirty="0">
                  <a:solidFill>
                    <a:srgbClr val="C9D3E4"/>
                  </a:solidFill>
                  <a:latin typeface="+mn-lt"/>
                  <a:ea typeface="+mn-ea"/>
                  <a:cs typeface="+mn-cs"/>
                </a:rPr>
                <a:t>（0–100）</a:t>
              </a:r>
            </a:p>
          </p:txBody>
        </p:sp>
        <p:sp>
          <p:nvSpPr>
            <p:cNvPr id="89" name="Rectangle 89"/>
            <p:cNvSpPr/>
            <p:nvPr/>
          </p:nvSpPr>
          <p:spPr>
            <a:xfrm>
              <a:off x="9810750" y="1047750"/>
              <a:ext cx="1143000" cy="228600"/>
            </a:xfrm>
            <a:prstGeom prst="rect">
              <a:avLst/>
            </a:prstGeom>
            <a:solidFill>
              <a:srgbClr val="4E0D00"/>
            </a:solidFill>
            <a:ln>
              <a:noFill/>
            </a:ln>
          </p:spPr>
        </p:sp>
        <p:sp>
          <p:nvSpPr>
            <p:cNvPr id="90" name="TextBox 90"/>
            <p:cNvSpPr txBox="1"/>
            <p:nvPr/>
          </p:nvSpPr>
          <p:spPr>
            <a:xfrm>
              <a:off x="10296716" y="1078230"/>
              <a:ext cx="171069" cy="119062"/>
            </a:xfrm>
            <a:prstGeom prst="rect">
              <a:avLst/>
            </a:prstGeom>
            <a:noFill/>
            <a:ln>
              <a:noFill/>
            </a:ln>
          </p:spPr>
          <p:txBody>
            <a:bodyPr wrap="none" lIns="0" tIns="0" rIns="0" bIns="0" anchor="t" anchorCtr="0">
              <a:spAutoFit/>
            </a:bodyPr>
            <a:lstStyle/>
            <a:p>
              <a:pPr algn="ctr"/>
              <a:r>
                <a:rPr lang="zh-CN" sz="600" b="1" dirty="0">
                  <a:solidFill>
                    <a:srgbClr val="FFFFFF"/>
                  </a:solidFill>
                  <a:latin typeface="+mn-lt"/>
                  <a:ea typeface="+mn-ea"/>
                  <a:cs typeface="+mn-cs"/>
                </a:rPr>
                <a:t>差距</a:t>
              </a:r>
            </a:p>
          </p:txBody>
        </p:sp>
        <p:sp>
          <p:nvSpPr>
            <p:cNvPr id="91" name="TextBox 91"/>
            <p:cNvSpPr txBox="1"/>
            <p:nvPr/>
          </p:nvSpPr>
          <p:spPr>
            <a:xfrm>
              <a:off x="10130594" y="1177528"/>
              <a:ext cx="503311" cy="111919"/>
            </a:xfrm>
            <a:prstGeom prst="rect">
              <a:avLst/>
            </a:prstGeom>
            <a:noFill/>
            <a:ln>
              <a:noFill/>
            </a:ln>
          </p:spPr>
          <p:txBody>
            <a:bodyPr wrap="none" lIns="0" tIns="0" rIns="0" bIns="0" anchor="t" anchorCtr="0">
              <a:spAutoFit/>
            </a:bodyPr>
            <a:lstStyle/>
            <a:p>
              <a:pPr algn="ctr"/>
              <a:r>
                <a:rPr lang="zh-CN" sz="560" dirty="0">
                  <a:solidFill>
                    <a:srgbClr val="C9D3E4"/>
                  </a:solidFill>
                  <a:latin typeface="+mn-lt"/>
                  <a:ea typeface="+mn-ea"/>
                  <a:cs typeface="+mn-cs"/>
                </a:rPr>
                <a:t>（标杆-当前）</a:t>
              </a:r>
            </a:p>
          </p:txBody>
        </p:sp>
        <p:sp>
          <p:nvSpPr>
            <p:cNvPr id="92" name="Rectangle 92"/>
            <p:cNvSpPr/>
            <p:nvPr/>
          </p:nvSpPr>
          <p:spPr>
            <a:xfrm>
              <a:off x="10953750" y="1047750"/>
              <a:ext cx="1009650" cy="228600"/>
            </a:xfrm>
            <a:prstGeom prst="rect">
              <a:avLst/>
            </a:prstGeom>
            <a:solidFill>
              <a:srgbClr val="4E0D00"/>
            </a:solidFill>
            <a:ln>
              <a:noFill/>
            </a:ln>
          </p:spPr>
        </p:sp>
        <p:sp>
          <p:nvSpPr>
            <p:cNvPr id="93" name="TextBox 93"/>
            <p:cNvSpPr txBox="1"/>
            <p:nvPr/>
          </p:nvSpPr>
          <p:spPr>
            <a:xfrm>
              <a:off x="11324577" y="1131332"/>
              <a:ext cx="267995"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优先级</a:t>
              </a:r>
            </a:p>
          </p:txBody>
        </p:sp>
        <p:grpSp>
          <p:nvGrpSpPr>
            <p:cNvPr id="107" name="st-dir"/>
            <p:cNvGrpSpPr/>
            <p:nvPr/>
          </p:nvGrpSpPr>
          <p:grpSpPr>
            <a:xfrm>
              <a:off x="7239000" y="1276350"/>
              <a:ext cx="4724400" cy="304800"/>
              <a:chOff x="7239000" y="1276350"/>
              <a:chExt cx="4724400" cy="304800"/>
            </a:xfrm>
          </p:grpSpPr>
          <p:sp>
            <p:nvSpPr>
              <p:cNvPr id="94" name="Rectangle 94"/>
              <p:cNvSpPr/>
              <p:nvPr/>
            </p:nvSpPr>
            <p:spPr>
              <a:xfrm>
                <a:off x="7239000" y="1276350"/>
                <a:ext cx="4724400" cy="304800"/>
              </a:xfrm>
              <a:prstGeom prst="rect">
                <a:avLst/>
              </a:prstGeom>
              <a:solidFill>
                <a:srgbClr val="FFFFFF"/>
              </a:solidFill>
              <a:ln w="9525">
                <a:solidFill>
                  <a:srgbClr val="E2E8F2"/>
                </a:solidFill>
              </a:ln>
            </p:spPr>
          </p:sp>
          <p:grpSp>
            <p:nvGrpSpPr>
              <p:cNvPr id="101" name="Group 101"/>
              <p:cNvGrpSpPr/>
              <p:nvPr/>
            </p:nvGrpSpPr>
            <p:grpSpPr>
              <a:xfrm>
                <a:off x="7408069" y="1378744"/>
                <a:ext cx="100012" cy="100012"/>
                <a:chOff x="7408069" y="1378744"/>
                <a:chExt cx="100012" cy="100012"/>
              </a:xfrm>
            </p:grpSpPr>
            <p:sp>
              <p:nvSpPr>
                <p:cNvPr id="95" name="Freeform 95"/>
                <p:cNvSpPr/>
                <p:nvPr/>
              </p:nvSpPr>
              <p:spPr>
                <a:xfrm>
                  <a:off x="7435850" y="1406525"/>
                  <a:ext cx="44450" cy="44450"/>
                </a:xfrm>
                <a:custGeom>
                  <a:avLst/>
                  <a:gdLst/>
                  <a:ahLst/>
                  <a:cxnLst/>
                  <a:rect l="l" t="t" r="r" b="b"/>
                  <a:pathLst>
                    <a:path w="44450" h="44450">
                      <a:moveTo>
                        <a:pt x="0" y="44450"/>
                      </a:moveTo>
                      <a:lnTo>
                        <a:pt x="11112" y="11112"/>
                      </a:lnTo>
                      <a:lnTo>
                        <a:pt x="44450" y="0"/>
                      </a:lnTo>
                      <a:lnTo>
                        <a:pt x="33337" y="33337"/>
                      </a:lnTo>
                      <a:lnTo>
                        <a:pt x="0" y="44450"/>
                      </a:lnTo>
                    </a:path>
                  </a:pathLst>
                </a:custGeom>
                <a:noFill/>
                <a:ln w="11112">
                  <a:solidFill>
                    <a:srgbClr val="4E0D00"/>
                  </a:solidFill>
                </a:ln>
              </p:spPr>
            </p:sp>
            <p:sp>
              <p:nvSpPr>
                <p:cNvPr id="96" name="Freeform 96"/>
                <p:cNvSpPr/>
                <p:nvPr/>
              </p:nvSpPr>
              <p:spPr>
                <a:xfrm>
                  <a:off x="7408069" y="137874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4E0D00"/>
                  </a:solidFill>
                </a:ln>
              </p:spPr>
            </p:sp>
            <p:sp>
              <p:nvSpPr>
                <p:cNvPr id="97" name="Freeform 97"/>
                <p:cNvSpPr/>
                <p:nvPr/>
              </p:nvSpPr>
              <p:spPr>
                <a:xfrm>
                  <a:off x="7458075" y="1378744"/>
                  <a:ext cx="9525" cy="11112"/>
                </a:xfrm>
                <a:custGeom>
                  <a:avLst/>
                  <a:gdLst/>
                  <a:ahLst/>
                  <a:cxnLst/>
                  <a:rect l="l" t="t" r="r" b="b"/>
                  <a:pathLst>
                    <a:path w="9525" h="11112">
                      <a:moveTo>
                        <a:pt x="0" y="0"/>
                      </a:moveTo>
                      <a:lnTo>
                        <a:pt x="0" y="11112"/>
                      </a:lnTo>
                    </a:path>
                  </a:pathLst>
                </a:custGeom>
                <a:noFill/>
                <a:ln w="11112">
                  <a:solidFill>
                    <a:srgbClr val="4E0D00"/>
                  </a:solidFill>
                </a:ln>
              </p:spPr>
            </p:sp>
            <p:sp>
              <p:nvSpPr>
                <p:cNvPr id="98" name="Freeform 98"/>
                <p:cNvSpPr/>
                <p:nvPr/>
              </p:nvSpPr>
              <p:spPr>
                <a:xfrm>
                  <a:off x="7458075" y="1467644"/>
                  <a:ext cx="9525" cy="11112"/>
                </a:xfrm>
                <a:custGeom>
                  <a:avLst/>
                  <a:gdLst/>
                  <a:ahLst/>
                  <a:cxnLst/>
                  <a:rect l="l" t="t" r="r" b="b"/>
                  <a:pathLst>
                    <a:path w="9525" h="11112">
                      <a:moveTo>
                        <a:pt x="0" y="0"/>
                      </a:moveTo>
                      <a:lnTo>
                        <a:pt x="0" y="11112"/>
                      </a:lnTo>
                    </a:path>
                  </a:pathLst>
                </a:custGeom>
                <a:noFill/>
                <a:ln w="11112">
                  <a:solidFill>
                    <a:srgbClr val="4E0D00"/>
                  </a:solidFill>
                </a:ln>
              </p:spPr>
            </p:sp>
            <p:sp>
              <p:nvSpPr>
                <p:cNvPr id="99" name="Freeform 99"/>
                <p:cNvSpPr/>
                <p:nvPr/>
              </p:nvSpPr>
              <p:spPr>
                <a:xfrm>
                  <a:off x="7408069" y="1428750"/>
                  <a:ext cx="11112" cy="9525"/>
                </a:xfrm>
                <a:custGeom>
                  <a:avLst/>
                  <a:gdLst/>
                  <a:ahLst/>
                  <a:cxnLst/>
                  <a:rect l="l" t="t" r="r" b="b"/>
                  <a:pathLst>
                    <a:path w="11112" h="9525">
                      <a:moveTo>
                        <a:pt x="0" y="0"/>
                      </a:moveTo>
                      <a:lnTo>
                        <a:pt x="11112" y="0"/>
                      </a:lnTo>
                    </a:path>
                  </a:pathLst>
                </a:custGeom>
                <a:noFill/>
                <a:ln w="11112">
                  <a:solidFill>
                    <a:srgbClr val="4E0D00"/>
                  </a:solidFill>
                </a:ln>
              </p:spPr>
            </p:sp>
            <p:sp>
              <p:nvSpPr>
                <p:cNvPr id="100" name="Freeform 100"/>
                <p:cNvSpPr/>
                <p:nvPr/>
              </p:nvSpPr>
              <p:spPr>
                <a:xfrm>
                  <a:off x="7496969" y="1428750"/>
                  <a:ext cx="11112" cy="9525"/>
                </a:xfrm>
                <a:custGeom>
                  <a:avLst/>
                  <a:gdLst/>
                  <a:ahLst/>
                  <a:cxnLst/>
                  <a:rect l="l" t="t" r="r" b="b"/>
                  <a:pathLst>
                    <a:path w="11112" h="9525">
                      <a:moveTo>
                        <a:pt x="0" y="0"/>
                      </a:moveTo>
                      <a:lnTo>
                        <a:pt x="11112" y="0"/>
                      </a:lnTo>
                    </a:path>
                  </a:pathLst>
                </a:custGeom>
                <a:noFill/>
                <a:ln w="11112">
                  <a:solidFill>
                    <a:srgbClr val="4E0D00"/>
                  </a:solidFill>
                </a:ln>
              </p:spPr>
            </p:sp>
          </p:grpSp>
          <p:sp>
            <p:nvSpPr>
              <p:cNvPr id="102" name="TextBox 102"/>
              <p:cNvSpPr txBox="1"/>
              <p:nvPr/>
            </p:nvSpPr>
            <p:spPr>
              <a:xfrm>
                <a:off x="7596188" y="1399461"/>
                <a:ext cx="200685"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方向</a:t>
                </a:r>
              </a:p>
            </p:txBody>
          </p:sp>
          <p:sp>
            <p:nvSpPr>
              <p:cNvPr id="103" name="TextBox 103"/>
              <p:cNvSpPr txBox="1"/>
              <p:nvPr/>
            </p:nvSpPr>
            <p:spPr>
              <a:xfrm>
                <a:off x="9176180" y="1395412"/>
                <a:ext cx="126140" cy="147638"/>
              </a:xfrm>
              <a:prstGeom prst="rect">
                <a:avLst/>
              </a:prstGeom>
              <a:noFill/>
              <a:ln>
                <a:noFill/>
              </a:ln>
            </p:spPr>
            <p:txBody>
              <a:bodyPr wrap="none" lIns="0" tIns="0" rIns="0" bIns="0" anchor="t" anchorCtr="0">
                <a:spAutoFit/>
              </a:bodyPr>
              <a:lstStyle/>
              <a:p>
                <a:pPr algn="ctr"/>
                <a:r>
                  <a:rPr lang="zh-CN" sz="750" b="1" dirty="0">
                    <a:solidFill>
                      <a:srgbClr val="55251B"/>
                    </a:solidFill>
                    <a:latin typeface="+mn-lt"/>
                    <a:ea typeface="+mn-ea"/>
                    <a:cs typeface="+mn-cs"/>
                  </a:rPr>
                  <a:t>62</a:t>
                </a:r>
              </a:p>
            </p:txBody>
          </p:sp>
          <p:sp>
            <p:nvSpPr>
              <p:cNvPr id="104" name="TextBox 104"/>
              <p:cNvSpPr txBox="1"/>
              <p:nvPr/>
            </p:nvSpPr>
            <p:spPr>
              <a:xfrm>
                <a:off x="10321957" y="1395412"/>
                <a:ext cx="120586" cy="147638"/>
              </a:xfrm>
              <a:prstGeom prst="rect">
                <a:avLst/>
              </a:prstGeom>
              <a:noFill/>
              <a:ln>
                <a:noFill/>
              </a:ln>
            </p:spPr>
            <p:txBody>
              <a:bodyPr wrap="none" lIns="0" tIns="0" rIns="0" bIns="0" anchor="t" anchorCtr="0">
                <a:spAutoFit/>
              </a:bodyPr>
              <a:lstStyle/>
              <a:p>
                <a:pPr algn="ctr"/>
                <a:r>
                  <a:rPr lang="zh-CN" sz="750" dirty="0">
                    <a:solidFill>
                      <a:srgbClr val="453633"/>
                    </a:solidFill>
                    <a:latin typeface="+mn-lt"/>
                    <a:ea typeface="+mn-ea"/>
                    <a:cs typeface="+mn-cs"/>
                  </a:rPr>
                  <a:t>23</a:t>
                </a:r>
              </a:p>
            </p:txBody>
          </p:sp>
          <p:sp>
            <p:nvSpPr>
              <p:cNvPr id="105" name="Rectangle 105"/>
              <p:cNvSpPr/>
              <p:nvPr/>
            </p:nvSpPr>
            <p:spPr>
              <a:xfrm>
                <a:off x="11144250" y="1347788"/>
                <a:ext cx="628650" cy="161925"/>
              </a:xfrm>
              <a:prstGeom prst="roundRect">
                <a:avLst>
                  <a:gd name="adj" fmla="val 50000"/>
                </a:avLst>
              </a:prstGeom>
              <a:solidFill>
                <a:srgbClr val="4E0D00"/>
              </a:solidFill>
              <a:ln>
                <a:noFill/>
              </a:ln>
            </p:spPr>
          </p:sp>
          <p:sp>
            <p:nvSpPr>
              <p:cNvPr id="106" name="TextBox 106"/>
              <p:cNvSpPr txBox="1"/>
              <p:nvPr/>
            </p:nvSpPr>
            <p:spPr>
              <a:xfrm>
                <a:off x="11410734" y="1393269"/>
                <a:ext cx="9568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高</a:t>
                </a:r>
              </a:p>
            </p:txBody>
          </p:sp>
        </p:grpSp>
        <p:grpSp>
          <p:nvGrpSpPr>
            <p:cNvPr id="115" name="st-lead"/>
            <p:cNvGrpSpPr/>
            <p:nvPr/>
          </p:nvGrpSpPr>
          <p:grpSpPr>
            <a:xfrm>
              <a:off x="7239000" y="1581150"/>
              <a:ext cx="4724400" cy="304800"/>
              <a:chOff x="7239000" y="1581150"/>
              <a:chExt cx="4724400" cy="304800"/>
            </a:xfrm>
          </p:grpSpPr>
          <p:sp>
            <p:nvSpPr>
              <p:cNvPr id="108" name="Rectangle 108"/>
              <p:cNvSpPr/>
              <p:nvPr/>
            </p:nvSpPr>
            <p:spPr>
              <a:xfrm>
                <a:off x="7239000" y="1581150"/>
                <a:ext cx="4724400" cy="304800"/>
              </a:xfrm>
              <a:prstGeom prst="rect">
                <a:avLst/>
              </a:prstGeom>
              <a:solidFill>
                <a:srgbClr val="F7F9FC"/>
              </a:solidFill>
              <a:ln w="9525">
                <a:solidFill>
                  <a:srgbClr val="E2E8F2"/>
                </a:solidFill>
              </a:ln>
            </p:spPr>
          </p:sp>
          <p:sp>
            <p:nvSpPr>
              <p:cNvPr id="109" name="Freeform 109"/>
              <p:cNvSpPr/>
              <p:nvPr/>
            </p:nvSpPr>
            <p:spPr>
              <a:xfrm>
                <a:off x="7408069" y="1700212"/>
                <a:ext cx="100012" cy="66675"/>
              </a:xfrm>
              <a:custGeom>
                <a:avLst/>
                <a:gdLst/>
                <a:ahLst/>
                <a:cxnLst/>
                <a:rect l="l" t="t" r="r" b="b"/>
                <a:pathLst>
                  <a:path w="100012" h="66675">
                    <a:moveTo>
                      <a:pt x="50006" y="0"/>
                    </a:moveTo>
                    <a:lnTo>
                      <a:pt x="72231" y="33337"/>
                    </a:lnTo>
                    <a:lnTo>
                      <a:pt x="100012" y="11112"/>
                    </a:lnTo>
                    <a:lnTo>
                      <a:pt x="88900" y="66675"/>
                    </a:lnTo>
                    <a:lnTo>
                      <a:pt x="11112" y="66675"/>
                    </a:lnTo>
                    <a:lnTo>
                      <a:pt x="0" y="11112"/>
                    </a:lnTo>
                    <a:lnTo>
                      <a:pt x="27781" y="33337"/>
                    </a:lnTo>
                    <a:lnTo>
                      <a:pt x="50006" y="0"/>
                    </a:lnTo>
                  </a:path>
                </a:pathLst>
              </a:custGeom>
              <a:noFill/>
              <a:ln w="11112">
                <a:solidFill>
                  <a:srgbClr val="4E0D00"/>
                </a:solidFill>
              </a:ln>
            </p:spPr>
          </p:sp>
          <p:sp>
            <p:nvSpPr>
              <p:cNvPr id="110" name="TextBox 110"/>
              <p:cNvSpPr txBox="1"/>
              <p:nvPr/>
            </p:nvSpPr>
            <p:spPr>
              <a:xfrm>
                <a:off x="7596188" y="1704261"/>
                <a:ext cx="296266"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领导力</a:t>
                </a:r>
              </a:p>
            </p:txBody>
          </p:sp>
          <p:sp>
            <p:nvSpPr>
              <p:cNvPr id="111" name="TextBox 111"/>
              <p:cNvSpPr txBox="1"/>
              <p:nvPr/>
            </p:nvSpPr>
            <p:spPr>
              <a:xfrm>
                <a:off x="9176180" y="1700212"/>
                <a:ext cx="126140" cy="147638"/>
              </a:xfrm>
              <a:prstGeom prst="rect">
                <a:avLst/>
              </a:prstGeom>
              <a:noFill/>
              <a:ln>
                <a:noFill/>
              </a:ln>
            </p:spPr>
            <p:txBody>
              <a:bodyPr wrap="none" lIns="0" tIns="0" rIns="0" bIns="0" anchor="t" anchorCtr="0">
                <a:spAutoFit/>
              </a:bodyPr>
              <a:lstStyle/>
              <a:p>
                <a:pPr algn="ctr"/>
                <a:r>
                  <a:rPr lang="zh-CN" sz="750" b="1" dirty="0">
                    <a:solidFill>
                      <a:srgbClr val="55251B"/>
                    </a:solidFill>
                    <a:latin typeface="+mn-lt"/>
                    <a:ea typeface="+mn-ea"/>
                    <a:cs typeface="+mn-cs"/>
                  </a:rPr>
                  <a:t>58</a:t>
                </a:r>
              </a:p>
            </p:txBody>
          </p:sp>
          <p:sp>
            <p:nvSpPr>
              <p:cNvPr id="112" name="TextBox 112"/>
              <p:cNvSpPr txBox="1"/>
              <p:nvPr/>
            </p:nvSpPr>
            <p:spPr>
              <a:xfrm>
                <a:off x="10321957" y="1700212"/>
                <a:ext cx="120586" cy="147638"/>
              </a:xfrm>
              <a:prstGeom prst="rect">
                <a:avLst/>
              </a:prstGeom>
              <a:noFill/>
              <a:ln>
                <a:noFill/>
              </a:ln>
            </p:spPr>
            <p:txBody>
              <a:bodyPr wrap="none" lIns="0" tIns="0" rIns="0" bIns="0" anchor="t" anchorCtr="0">
                <a:spAutoFit/>
              </a:bodyPr>
              <a:lstStyle/>
              <a:p>
                <a:pPr algn="ctr"/>
                <a:r>
                  <a:rPr lang="zh-CN" sz="750" dirty="0">
                    <a:solidFill>
                      <a:srgbClr val="453633"/>
                    </a:solidFill>
                    <a:latin typeface="+mn-lt"/>
                    <a:ea typeface="+mn-ea"/>
                    <a:cs typeface="+mn-cs"/>
                  </a:rPr>
                  <a:t>27</a:t>
                </a:r>
              </a:p>
            </p:txBody>
          </p:sp>
          <p:sp>
            <p:nvSpPr>
              <p:cNvPr id="113" name="Rectangle 113"/>
              <p:cNvSpPr/>
              <p:nvPr/>
            </p:nvSpPr>
            <p:spPr>
              <a:xfrm>
                <a:off x="11144250" y="1652588"/>
                <a:ext cx="628650" cy="161925"/>
              </a:xfrm>
              <a:prstGeom prst="roundRect">
                <a:avLst>
                  <a:gd name="adj" fmla="val 50000"/>
                </a:avLst>
              </a:prstGeom>
              <a:solidFill>
                <a:srgbClr val="4E0D00"/>
              </a:solidFill>
              <a:ln>
                <a:noFill/>
              </a:ln>
            </p:spPr>
          </p:sp>
          <p:sp>
            <p:nvSpPr>
              <p:cNvPr id="114" name="TextBox 114"/>
              <p:cNvSpPr txBox="1"/>
              <p:nvPr/>
            </p:nvSpPr>
            <p:spPr>
              <a:xfrm>
                <a:off x="11410734" y="1698069"/>
                <a:ext cx="9568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高</a:t>
                </a:r>
              </a:p>
            </p:txBody>
          </p:sp>
        </p:grpSp>
        <p:grpSp>
          <p:nvGrpSpPr>
            <p:cNvPr id="123" name="st-culture"/>
            <p:cNvGrpSpPr/>
            <p:nvPr/>
          </p:nvGrpSpPr>
          <p:grpSpPr>
            <a:xfrm>
              <a:off x="7239000" y="1885950"/>
              <a:ext cx="4724400" cy="304800"/>
              <a:chOff x="7239000" y="1885950"/>
              <a:chExt cx="4724400" cy="304800"/>
            </a:xfrm>
          </p:grpSpPr>
          <p:sp>
            <p:nvSpPr>
              <p:cNvPr id="116" name="Rectangle 116"/>
              <p:cNvSpPr/>
              <p:nvPr/>
            </p:nvSpPr>
            <p:spPr>
              <a:xfrm>
                <a:off x="7239000" y="1885950"/>
                <a:ext cx="4724400" cy="304800"/>
              </a:xfrm>
              <a:prstGeom prst="rect">
                <a:avLst/>
              </a:prstGeom>
              <a:solidFill>
                <a:srgbClr val="FFFFFF"/>
              </a:solidFill>
              <a:ln w="9525">
                <a:solidFill>
                  <a:srgbClr val="E2E8F2"/>
                </a:solidFill>
              </a:ln>
            </p:spPr>
          </p:sp>
          <p:sp>
            <p:nvSpPr>
              <p:cNvPr id="117" name="Freeform 117"/>
              <p:cNvSpPr/>
              <p:nvPr/>
            </p:nvSpPr>
            <p:spPr>
              <a:xfrm>
                <a:off x="7406145" y="1992475"/>
                <a:ext cx="103760" cy="90325"/>
              </a:xfrm>
              <a:custGeom>
                <a:avLst/>
                <a:gdLst/>
                <a:ahLst/>
                <a:cxnLst/>
                <a:rect l="l" t="t" r="r" b="b"/>
                <a:pathLst>
                  <a:path w="103760" h="90325">
                    <a:moveTo>
                      <a:pt x="93602" y="49054"/>
                    </a:moveTo>
                    <a:lnTo>
                      <a:pt x="51930" y="90325"/>
                    </a:lnTo>
                    <a:lnTo>
                      <a:pt x="10258" y="49054"/>
                    </a:lnTo>
                    <a:cubicBezTo>
                      <a:pt x="2765" y="41761"/>
                      <a:pt x="0" y="30879"/>
                      <a:pt x="3105" y="20895"/>
                    </a:cubicBezTo>
                    <a:cubicBezTo>
                      <a:pt x="6209" y="10910"/>
                      <a:pt x="14657" y="3514"/>
                      <a:pt x="24964" y="1757"/>
                    </a:cubicBezTo>
                    <a:cubicBezTo>
                      <a:pt x="35272" y="0"/>
                      <a:pt x="45693" y="4179"/>
                      <a:pt x="51930" y="12571"/>
                    </a:cubicBezTo>
                    <a:cubicBezTo>
                      <a:pt x="58194" y="4241"/>
                      <a:pt x="68592" y="118"/>
                      <a:pt x="78862" y="1891"/>
                    </a:cubicBezTo>
                    <a:cubicBezTo>
                      <a:pt x="89132" y="3665"/>
                      <a:pt x="97546" y="11037"/>
                      <a:pt x="100653" y="20985"/>
                    </a:cubicBezTo>
                    <a:cubicBezTo>
                      <a:pt x="103760" y="30934"/>
                      <a:pt x="101037" y="41784"/>
                      <a:pt x="93602" y="49087"/>
                    </a:cubicBezTo>
                  </a:path>
                </a:pathLst>
              </a:custGeom>
              <a:noFill/>
              <a:ln w="11112">
                <a:solidFill>
                  <a:srgbClr val="4E0D00"/>
                </a:solidFill>
              </a:ln>
            </p:spPr>
          </p:sp>
          <p:sp>
            <p:nvSpPr>
              <p:cNvPr id="118" name="TextBox 118"/>
              <p:cNvSpPr txBox="1"/>
              <p:nvPr/>
            </p:nvSpPr>
            <p:spPr>
              <a:xfrm>
                <a:off x="7596188" y="2009061"/>
                <a:ext cx="391846"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文化氛围</a:t>
                </a:r>
              </a:p>
            </p:txBody>
          </p:sp>
          <p:sp>
            <p:nvSpPr>
              <p:cNvPr id="119" name="TextBox 119"/>
              <p:cNvSpPr txBox="1"/>
              <p:nvPr/>
            </p:nvSpPr>
            <p:spPr>
              <a:xfrm>
                <a:off x="9176180" y="2005012"/>
                <a:ext cx="126140" cy="147638"/>
              </a:xfrm>
              <a:prstGeom prst="rect">
                <a:avLst/>
              </a:prstGeom>
              <a:noFill/>
              <a:ln>
                <a:noFill/>
              </a:ln>
            </p:spPr>
            <p:txBody>
              <a:bodyPr wrap="none" lIns="0" tIns="0" rIns="0" bIns="0" anchor="t" anchorCtr="0">
                <a:spAutoFit/>
              </a:bodyPr>
              <a:lstStyle/>
              <a:p>
                <a:pPr algn="ctr"/>
                <a:r>
                  <a:rPr lang="zh-CN" sz="750" b="1" dirty="0">
                    <a:solidFill>
                      <a:srgbClr val="55251B"/>
                    </a:solidFill>
                    <a:latin typeface="+mn-lt"/>
                    <a:ea typeface="+mn-ea"/>
                    <a:cs typeface="+mn-cs"/>
                  </a:rPr>
                  <a:t>65</a:t>
                </a:r>
              </a:p>
            </p:txBody>
          </p:sp>
          <p:sp>
            <p:nvSpPr>
              <p:cNvPr id="120" name="TextBox 120"/>
              <p:cNvSpPr txBox="1"/>
              <p:nvPr/>
            </p:nvSpPr>
            <p:spPr>
              <a:xfrm>
                <a:off x="10321957" y="2005012"/>
                <a:ext cx="120586" cy="147638"/>
              </a:xfrm>
              <a:prstGeom prst="rect">
                <a:avLst/>
              </a:prstGeom>
              <a:noFill/>
              <a:ln>
                <a:noFill/>
              </a:ln>
            </p:spPr>
            <p:txBody>
              <a:bodyPr wrap="none" lIns="0" tIns="0" rIns="0" bIns="0" anchor="t" anchorCtr="0">
                <a:spAutoFit/>
              </a:bodyPr>
              <a:lstStyle/>
              <a:p>
                <a:pPr algn="ctr"/>
                <a:r>
                  <a:rPr lang="zh-CN" sz="750" dirty="0">
                    <a:solidFill>
                      <a:srgbClr val="453633"/>
                    </a:solidFill>
                    <a:latin typeface="+mn-lt"/>
                    <a:ea typeface="+mn-ea"/>
                    <a:cs typeface="+mn-cs"/>
                  </a:rPr>
                  <a:t>20</a:t>
                </a:r>
              </a:p>
            </p:txBody>
          </p:sp>
          <p:sp>
            <p:nvSpPr>
              <p:cNvPr id="121" name="Rectangle 121"/>
              <p:cNvSpPr/>
              <p:nvPr/>
            </p:nvSpPr>
            <p:spPr>
              <a:xfrm>
                <a:off x="11144250" y="1957388"/>
                <a:ext cx="628650" cy="161925"/>
              </a:xfrm>
              <a:prstGeom prst="roundRect">
                <a:avLst>
                  <a:gd name="adj" fmla="val 50000"/>
                </a:avLst>
              </a:prstGeom>
              <a:solidFill>
                <a:srgbClr val="DCE5F2"/>
              </a:solidFill>
              <a:ln>
                <a:noFill/>
              </a:ln>
            </p:spPr>
          </p:sp>
          <p:sp>
            <p:nvSpPr>
              <p:cNvPr id="122" name="TextBox 122"/>
              <p:cNvSpPr txBox="1"/>
              <p:nvPr/>
            </p:nvSpPr>
            <p:spPr>
              <a:xfrm>
                <a:off x="11410734" y="2002869"/>
                <a:ext cx="95682" cy="126206"/>
              </a:xfrm>
              <a:prstGeom prst="rect">
                <a:avLst/>
              </a:prstGeom>
              <a:noFill/>
              <a:ln>
                <a:noFill/>
              </a:ln>
            </p:spPr>
            <p:txBody>
              <a:bodyPr wrap="none" lIns="0" tIns="0" rIns="0" bIns="0" anchor="t" anchorCtr="0">
                <a:spAutoFit/>
              </a:bodyPr>
              <a:lstStyle/>
              <a:p>
                <a:pPr algn="ctr"/>
                <a:r>
                  <a:rPr lang="zh-CN" sz="640" b="1" dirty="0">
                    <a:solidFill>
                      <a:srgbClr val="4E0D00"/>
                    </a:solidFill>
                    <a:latin typeface="+mn-lt"/>
                    <a:ea typeface="+mn-ea"/>
                    <a:cs typeface="+mn-cs"/>
                  </a:rPr>
                  <a:t>中</a:t>
                </a:r>
              </a:p>
            </p:txBody>
          </p:sp>
        </p:grpSp>
        <p:grpSp>
          <p:nvGrpSpPr>
            <p:cNvPr id="133" name="st-control"/>
            <p:cNvGrpSpPr/>
            <p:nvPr/>
          </p:nvGrpSpPr>
          <p:grpSpPr>
            <a:xfrm>
              <a:off x="7239000" y="2190750"/>
              <a:ext cx="4724400" cy="304800"/>
              <a:chOff x="7239000" y="2190750"/>
              <a:chExt cx="4724400" cy="304800"/>
            </a:xfrm>
          </p:grpSpPr>
          <p:sp>
            <p:nvSpPr>
              <p:cNvPr id="124" name="Rectangle 124"/>
              <p:cNvSpPr/>
              <p:nvPr/>
            </p:nvSpPr>
            <p:spPr>
              <a:xfrm>
                <a:off x="7239000" y="2190750"/>
                <a:ext cx="4724400" cy="304800"/>
              </a:xfrm>
              <a:prstGeom prst="rect">
                <a:avLst/>
              </a:prstGeom>
              <a:solidFill>
                <a:srgbClr val="F7F9FC"/>
              </a:solidFill>
              <a:ln w="9525">
                <a:solidFill>
                  <a:srgbClr val="E2E8F2"/>
                </a:solidFill>
              </a:ln>
            </p:spPr>
          </p:sp>
          <p:grpSp>
            <p:nvGrpSpPr>
              <p:cNvPr id="127" name="Group 127"/>
              <p:cNvGrpSpPr/>
              <p:nvPr/>
            </p:nvGrpSpPr>
            <p:grpSpPr>
              <a:xfrm>
                <a:off x="7405630" y="2290705"/>
                <a:ext cx="104891" cy="104891"/>
                <a:chOff x="7405630" y="2290705"/>
                <a:chExt cx="104891" cy="104891"/>
              </a:xfrm>
            </p:grpSpPr>
            <p:sp>
              <p:nvSpPr>
                <p:cNvPr id="125" name="Freeform 125"/>
                <p:cNvSpPr/>
                <p:nvPr/>
              </p:nvSpPr>
              <p:spPr>
                <a:xfrm>
                  <a:off x="7405630" y="2290705"/>
                  <a:ext cx="104891" cy="104891"/>
                </a:xfrm>
                <a:custGeom>
                  <a:avLst/>
                  <a:gdLst/>
                  <a:ahLst/>
                  <a:cxnLst/>
                  <a:rect l="l" t="t" r="r" b="b"/>
                  <a:pathLst>
                    <a:path w="104891" h="104891">
                      <a:moveTo>
                        <a:pt x="43139" y="9757"/>
                      </a:moveTo>
                      <a:cubicBezTo>
                        <a:pt x="45506" y="0"/>
                        <a:pt x="59385" y="0"/>
                        <a:pt x="61752" y="9757"/>
                      </a:cubicBezTo>
                      <a:cubicBezTo>
                        <a:pt x="62472" y="12730"/>
                        <a:pt x="64569" y="15180"/>
                        <a:pt x="67395" y="16351"/>
                      </a:cubicBezTo>
                      <a:cubicBezTo>
                        <a:pt x="70221" y="17521"/>
                        <a:pt x="73437" y="17272"/>
                        <a:pt x="76048" y="15680"/>
                      </a:cubicBezTo>
                      <a:cubicBezTo>
                        <a:pt x="84622" y="10457"/>
                        <a:pt x="94440" y="20269"/>
                        <a:pt x="89217" y="28848"/>
                      </a:cubicBezTo>
                      <a:cubicBezTo>
                        <a:pt x="87627" y="31459"/>
                        <a:pt x="87378" y="34671"/>
                        <a:pt x="88547" y="37496"/>
                      </a:cubicBezTo>
                      <a:cubicBezTo>
                        <a:pt x="89717" y="40320"/>
                        <a:pt x="92164" y="42416"/>
                        <a:pt x="95134" y="43139"/>
                      </a:cubicBezTo>
                      <a:cubicBezTo>
                        <a:pt x="104891" y="45506"/>
                        <a:pt x="104891" y="59385"/>
                        <a:pt x="95134" y="61752"/>
                      </a:cubicBezTo>
                      <a:cubicBezTo>
                        <a:pt x="92161" y="62472"/>
                        <a:pt x="89711" y="64569"/>
                        <a:pt x="88540" y="67395"/>
                      </a:cubicBezTo>
                      <a:cubicBezTo>
                        <a:pt x="87369" y="70221"/>
                        <a:pt x="87619" y="73437"/>
                        <a:pt x="89211" y="76048"/>
                      </a:cubicBezTo>
                      <a:cubicBezTo>
                        <a:pt x="94434" y="84622"/>
                        <a:pt x="84622" y="94440"/>
                        <a:pt x="76043" y="89217"/>
                      </a:cubicBezTo>
                      <a:cubicBezTo>
                        <a:pt x="73432" y="87627"/>
                        <a:pt x="70219" y="87378"/>
                        <a:pt x="67395" y="88547"/>
                      </a:cubicBezTo>
                      <a:cubicBezTo>
                        <a:pt x="64571" y="89717"/>
                        <a:pt x="62474" y="92164"/>
                        <a:pt x="61752" y="95134"/>
                      </a:cubicBezTo>
                      <a:cubicBezTo>
                        <a:pt x="59385" y="104891"/>
                        <a:pt x="45506" y="104891"/>
                        <a:pt x="43139" y="95134"/>
                      </a:cubicBezTo>
                      <a:cubicBezTo>
                        <a:pt x="42418" y="92161"/>
                        <a:pt x="40321" y="89711"/>
                        <a:pt x="37495" y="88540"/>
                      </a:cubicBezTo>
                      <a:cubicBezTo>
                        <a:pt x="34669" y="87369"/>
                        <a:pt x="31454" y="87619"/>
                        <a:pt x="28842" y="89211"/>
                      </a:cubicBezTo>
                      <a:cubicBezTo>
                        <a:pt x="20269" y="94434"/>
                        <a:pt x="10451" y="84622"/>
                        <a:pt x="15674" y="76043"/>
                      </a:cubicBezTo>
                      <a:cubicBezTo>
                        <a:pt x="17264" y="73432"/>
                        <a:pt x="17513" y="70219"/>
                        <a:pt x="16344" y="67395"/>
                      </a:cubicBezTo>
                      <a:cubicBezTo>
                        <a:pt x="15174" y="64571"/>
                        <a:pt x="12727" y="62474"/>
                        <a:pt x="9757" y="61752"/>
                      </a:cubicBezTo>
                      <a:cubicBezTo>
                        <a:pt x="0" y="59385"/>
                        <a:pt x="0" y="45506"/>
                        <a:pt x="9757" y="43139"/>
                      </a:cubicBezTo>
                      <a:cubicBezTo>
                        <a:pt x="12730" y="42418"/>
                        <a:pt x="15180" y="40321"/>
                        <a:pt x="16351" y="37495"/>
                      </a:cubicBezTo>
                      <a:cubicBezTo>
                        <a:pt x="17521" y="34669"/>
                        <a:pt x="17272" y="31454"/>
                        <a:pt x="15680" y="28842"/>
                      </a:cubicBezTo>
                      <a:cubicBezTo>
                        <a:pt x="10457" y="20269"/>
                        <a:pt x="20269" y="10451"/>
                        <a:pt x="28848" y="15674"/>
                      </a:cubicBezTo>
                      <a:cubicBezTo>
                        <a:pt x="34404" y="19052"/>
                        <a:pt x="41605" y="16063"/>
                        <a:pt x="43139" y="9757"/>
                      </a:cubicBezTo>
                    </a:path>
                  </a:pathLst>
                </a:custGeom>
                <a:noFill/>
                <a:ln w="11112">
                  <a:solidFill>
                    <a:srgbClr val="4E0D00"/>
                  </a:solidFill>
                </a:ln>
              </p:spPr>
            </p:sp>
            <p:sp>
              <p:nvSpPr>
                <p:cNvPr id="126" name="Freeform 126"/>
                <p:cNvSpPr/>
                <p:nvPr/>
              </p:nvSpPr>
              <p:spPr>
                <a:xfrm>
                  <a:off x="7441406" y="2326481"/>
                  <a:ext cx="33337" cy="33337"/>
                </a:xfrm>
                <a:custGeom>
                  <a:avLst/>
                  <a:gdLst/>
                  <a:ahLst/>
                  <a:cxnLst/>
                  <a:rect l="l" t="t" r="r" b="b"/>
                  <a:pathLst>
                    <a:path w="33337" h="33337">
                      <a:moveTo>
                        <a:pt x="0" y="16669"/>
                      </a:moveTo>
                      <a:cubicBezTo>
                        <a:pt x="0" y="25875"/>
                        <a:pt x="7463" y="33337"/>
                        <a:pt x="16669" y="33337"/>
                      </a:cubicBezTo>
                      <a:cubicBezTo>
                        <a:pt x="25875" y="33337"/>
                        <a:pt x="33337" y="25875"/>
                        <a:pt x="33337" y="16669"/>
                      </a:cubicBezTo>
                      <a:cubicBezTo>
                        <a:pt x="33337" y="7463"/>
                        <a:pt x="25875" y="0"/>
                        <a:pt x="16669" y="0"/>
                      </a:cubicBezTo>
                      <a:cubicBezTo>
                        <a:pt x="7463" y="0"/>
                        <a:pt x="0" y="7463"/>
                        <a:pt x="0" y="16669"/>
                      </a:cubicBezTo>
                    </a:path>
                  </a:pathLst>
                </a:custGeom>
                <a:noFill/>
                <a:ln w="11112">
                  <a:solidFill>
                    <a:srgbClr val="4E0D00"/>
                  </a:solidFill>
                </a:ln>
              </p:spPr>
            </p:sp>
          </p:grpSp>
          <p:sp>
            <p:nvSpPr>
              <p:cNvPr id="128" name="TextBox 128"/>
              <p:cNvSpPr txBox="1"/>
              <p:nvPr/>
            </p:nvSpPr>
            <p:spPr>
              <a:xfrm>
                <a:off x="7596188" y="2313861"/>
                <a:ext cx="391846"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协调控制</a:t>
                </a:r>
              </a:p>
            </p:txBody>
          </p:sp>
          <p:sp>
            <p:nvSpPr>
              <p:cNvPr id="129" name="TextBox 129"/>
              <p:cNvSpPr txBox="1"/>
              <p:nvPr/>
            </p:nvSpPr>
            <p:spPr>
              <a:xfrm>
                <a:off x="9176180" y="2309812"/>
                <a:ext cx="126140" cy="147638"/>
              </a:xfrm>
              <a:prstGeom prst="rect">
                <a:avLst/>
              </a:prstGeom>
              <a:noFill/>
              <a:ln>
                <a:noFill/>
              </a:ln>
            </p:spPr>
            <p:txBody>
              <a:bodyPr wrap="none" lIns="0" tIns="0" rIns="0" bIns="0" anchor="t" anchorCtr="0">
                <a:spAutoFit/>
              </a:bodyPr>
              <a:lstStyle/>
              <a:p>
                <a:pPr algn="ctr"/>
                <a:r>
                  <a:rPr lang="zh-CN" sz="750" b="1" dirty="0">
                    <a:solidFill>
                      <a:srgbClr val="55251B"/>
                    </a:solidFill>
                    <a:latin typeface="+mn-lt"/>
                    <a:ea typeface="+mn-ea"/>
                    <a:cs typeface="+mn-cs"/>
                  </a:rPr>
                  <a:t>52</a:t>
                </a:r>
              </a:p>
            </p:txBody>
          </p:sp>
          <p:sp>
            <p:nvSpPr>
              <p:cNvPr id="130" name="TextBox 130"/>
              <p:cNvSpPr txBox="1"/>
              <p:nvPr/>
            </p:nvSpPr>
            <p:spPr>
              <a:xfrm>
                <a:off x="10321957" y="2309812"/>
                <a:ext cx="120586" cy="147638"/>
              </a:xfrm>
              <a:prstGeom prst="rect">
                <a:avLst/>
              </a:prstGeom>
              <a:noFill/>
              <a:ln>
                <a:noFill/>
              </a:ln>
            </p:spPr>
            <p:txBody>
              <a:bodyPr wrap="none" lIns="0" tIns="0" rIns="0" bIns="0" anchor="t" anchorCtr="0">
                <a:spAutoFit/>
              </a:bodyPr>
              <a:lstStyle/>
              <a:p>
                <a:pPr algn="ctr"/>
                <a:r>
                  <a:rPr lang="zh-CN" sz="750" dirty="0">
                    <a:solidFill>
                      <a:srgbClr val="453633"/>
                    </a:solidFill>
                    <a:latin typeface="+mn-lt"/>
                    <a:ea typeface="+mn-ea"/>
                    <a:cs typeface="+mn-cs"/>
                  </a:rPr>
                  <a:t>28</a:t>
                </a:r>
              </a:p>
            </p:txBody>
          </p:sp>
          <p:sp>
            <p:nvSpPr>
              <p:cNvPr id="131" name="Rectangle 131"/>
              <p:cNvSpPr/>
              <p:nvPr/>
            </p:nvSpPr>
            <p:spPr>
              <a:xfrm>
                <a:off x="11144250" y="2262188"/>
                <a:ext cx="628650" cy="161925"/>
              </a:xfrm>
              <a:prstGeom prst="roundRect">
                <a:avLst>
                  <a:gd name="adj" fmla="val 50000"/>
                </a:avLst>
              </a:prstGeom>
              <a:solidFill>
                <a:srgbClr val="4E0D00"/>
              </a:solidFill>
              <a:ln>
                <a:noFill/>
              </a:ln>
            </p:spPr>
          </p:sp>
          <p:sp>
            <p:nvSpPr>
              <p:cNvPr id="132" name="TextBox 132"/>
              <p:cNvSpPr txBox="1"/>
              <p:nvPr/>
            </p:nvSpPr>
            <p:spPr>
              <a:xfrm>
                <a:off x="11410734" y="2307669"/>
                <a:ext cx="9568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高</a:t>
                </a:r>
              </a:p>
            </p:txBody>
          </p:sp>
        </p:grpSp>
        <p:grpSp>
          <p:nvGrpSpPr>
            <p:cNvPr id="143" name="st-capability"/>
            <p:cNvGrpSpPr/>
            <p:nvPr/>
          </p:nvGrpSpPr>
          <p:grpSpPr>
            <a:xfrm>
              <a:off x="7239000" y="2495550"/>
              <a:ext cx="4724400" cy="304800"/>
              <a:chOff x="7239000" y="2495550"/>
              <a:chExt cx="4724400" cy="304800"/>
            </a:xfrm>
          </p:grpSpPr>
          <p:sp>
            <p:nvSpPr>
              <p:cNvPr id="134" name="Rectangle 134"/>
              <p:cNvSpPr/>
              <p:nvPr/>
            </p:nvSpPr>
            <p:spPr>
              <a:xfrm>
                <a:off x="7239000" y="2495550"/>
                <a:ext cx="4724400" cy="304800"/>
              </a:xfrm>
              <a:prstGeom prst="rect">
                <a:avLst/>
              </a:prstGeom>
              <a:solidFill>
                <a:srgbClr val="FFFFFF"/>
              </a:solidFill>
              <a:ln w="9525">
                <a:solidFill>
                  <a:srgbClr val="E2E8F2"/>
                </a:solidFill>
              </a:ln>
            </p:spPr>
          </p:sp>
          <p:grpSp>
            <p:nvGrpSpPr>
              <p:cNvPr id="137" name="Group 137"/>
              <p:cNvGrpSpPr/>
              <p:nvPr/>
            </p:nvGrpSpPr>
            <p:grpSpPr>
              <a:xfrm>
                <a:off x="7402512" y="2609056"/>
                <a:ext cx="111125" cy="77787"/>
                <a:chOff x="7402512" y="2609056"/>
                <a:chExt cx="111125" cy="77787"/>
              </a:xfrm>
            </p:grpSpPr>
            <p:sp>
              <p:nvSpPr>
                <p:cNvPr id="135" name="Freeform 135"/>
                <p:cNvSpPr/>
                <p:nvPr/>
              </p:nvSpPr>
              <p:spPr>
                <a:xfrm>
                  <a:off x="7402512" y="2609056"/>
                  <a:ext cx="111125" cy="55562"/>
                </a:xfrm>
                <a:custGeom>
                  <a:avLst/>
                  <a:gdLst/>
                  <a:ahLst/>
                  <a:cxnLst/>
                  <a:rect l="l" t="t" r="r" b="b"/>
                  <a:pathLst>
                    <a:path w="111125" h="55562">
                      <a:moveTo>
                        <a:pt x="111125" y="22225"/>
                      </a:moveTo>
                      <a:lnTo>
                        <a:pt x="55562" y="0"/>
                      </a:lnTo>
                      <a:lnTo>
                        <a:pt x="0" y="22225"/>
                      </a:lnTo>
                      <a:lnTo>
                        <a:pt x="55562" y="44450"/>
                      </a:lnTo>
                      <a:lnTo>
                        <a:pt x="111125" y="22225"/>
                      </a:lnTo>
                      <a:lnTo>
                        <a:pt x="111125" y="55562"/>
                      </a:lnTo>
                    </a:path>
                  </a:pathLst>
                </a:custGeom>
                <a:noFill/>
                <a:ln w="11112">
                  <a:solidFill>
                    <a:srgbClr val="4E0D00"/>
                  </a:solidFill>
                </a:ln>
              </p:spPr>
            </p:sp>
            <p:sp>
              <p:nvSpPr>
                <p:cNvPr id="136" name="Freeform 136"/>
                <p:cNvSpPr/>
                <p:nvPr/>
              </p:nvSpPr>
              <p:spPr>
                <a:xfrm>
                  <a:off x="7424737" y="2640171"/>
                  <a:ext cx="66675" cy="46672"/>
                </a:xfrm>
                <a:custGeom>
                  <a:avLst/>
                  <a:gdLst/>
                  <a:ahLst/>
                  <a:cxnLst/>
                  <a:rect l="l" t="t" r="r" b="b"/>
                  <a:pathLst>
                    <a:path w="66675" h="46672">
                      <a:moveTo>
                        <a:pt x="0" y="0"/>
                      </a:moveTo>
                      <a:lnTo>
                        <a:pt x="0" y="30004"/>
                      </a:lnTo>
                      <a:cubicBezTo>
                        <a:pt x="0" y="39210"/>
                        <a:pt x="14926" y="46672"/>
                        <a:pt x="33337" y="46672"/>
                      </a:cubicBezTo>
                      <a:cubicBezTo>
                        <a:pt x="51749" y="46672"/>
                        <a:pt x="66675" y="39210"/>
                        <a:pt x="66675" y="30004"/>
                      </a:cubicBezTo>
                      <a:lnTo>
                        <a:pt x="66675" y="0"/>
                      </a:lnTo>
                    </a:path>
                  </a:pathLst>
                </a:custGeom>
                <a:noFill/>
                <a:ln w="11112">
                  <a:solidFill>
                    <a:srgbClr val="4E0D00"/>
                  </a:solidFill>
                </a:ln>
              </p:spPr>
            </p:sp>
          </p:grpSp>
          <p:sp>
            <p:nvSpPr>
              <p:cNvPr id="138" name="TextBox 138"/>
              <p:cNvSpPr txBox="1"/>
              <p:nvPr/>
            </p:nvSpPr>
            <p:spPr>
              <a:xfrm>
                <a:off x="7596188" y="2618661"/>
                <a:ext cx="200685"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能力</a:t>
                </a:r>
              </a:p>
            </p:txBody>
          </p:sp>
          <p:sp>
            <p:nvSpPr>
              <p:cNvPr id="139" name="TextBox 139"/>
              <p:cNvSpPr txBox="1"/>
              <p:nvPr/>
            </p:nvSpPr>
            <p:spPr>
              <a:xfrm>
                <a:off x="9176180" y="2614612"/>
                <a:ext cx="126140" cy="147638"/>
              </a:xfrm>
              <a:prstGeom prst="rect">
                <a:avLst/>
              </a:prstGeom>
              <a:noFill/>
              <a:ln>
                <a:noFill/>
              </a:ln>
            </p:spPr>
            <p:txBody>
              <a:bodyPr wrap="none" lIns="0" tIns="0" rIns="0" bIns="0" anchor="t" anchorCtr="0">
                <a:spAutoFit/>
              </a:bodyPr>
              <a:lstStyle/>
              <a:p>
                <a:pPr algn="ctr"/>
                <a:r>
                  <a:rPr lang="zh-CN" sz="750" b="1" dirty="0">
                    <a:solidFill>
                      <a:srgbClr val="55251B"/>
                    </a:solidFill>
                    <a:latin typeface="+mn-lt"/>
                    <a:ea typeface="+mn-ea"/>
                    <a:cs typeface="+mn-cs"/>
                  </a:rPr>
                  <a:t>60</a:t>
                </a:r>
              </a:p>
            </p:txBody>
          </p:sp>
          <p:sp>
            <p:nvSpPr>
              <p:cNvPr id="140" name="TextBox 140"/>
              <p:cNvSpPr txBox="1"/>
              <p:nvPr/>
            </p:nvSpPr>
            <p:spPr>
              <a:xfrm>
                <a:off x="10321957" y="2614612"/>
                <a:ext cx="120586" cy="147638"/>
              </a:xfrm>
              <a:prstGeom prst="rect">
                <a:avLst/>
              </a:prstGeom>
              <a:noFill/>
              <a:ln>
                <a:noFill/>
              </a:ln>
            </p:spPr>
            <p:txBody>
              <a:bodyPr wrap="none" lIns="0" tIns="0" rIns="0" bIns="0" anchor="t" anchorCtr="0">
                <a:spAutoFit/>
              </a:bodyPr>
              <a:lstStyle/>
              <a:p>
                <a:pPr algn="ctr"/>
                <a:r>
                  <a:rPr lang="zh-CN" sz="750" dirty="0">
                    <a:solidFill>
                      <a:srgbClr val="453633"/>
                    </a:solidFill>
                    <a:latin typeface="+mn-lt"/>
                    <a:ea typeface="+mn-ea"/>
                    <a:cs typeface="+mn-cs"/>
                  </a:rPr>
                  <a:t>21</a:t>
                </a:r>
              </a:p>
            </p:txBody>
          </p:sp>
          <p:sp>
            <p:nvSpPr>
              <p:cNvPr id="141" name="Rectangle 141"/>
              <p:cNvSpPr/>
              <p:nvPr/>
            </p:nvSpPr>
            <p:spPr>
              <a:xfrm>
                <a:off x="11144250" y="2566988"/>
                <a:ext cx="628650" cy="161925"/>
              </a:xfrm>
              <a:prstGeom prst="roundRect">
                <a:avLst>
                  <a:gd name="adj" fmla="val 50000"/>
                </a:avLst>
              </a:prstGeom>
              <a:solidFill>
                <a:srgbClr val="DCE5F2"/>
              </a:solidFill>
              <a:ln>
                <a:noFill/>
              </a:ln>
            </p:spPr>
          </p:sp>
          <p:sp>
            <p:nvSpPr>
              <p:cNvPr id="142" name="TextBox 142"/>
              <p:cNvSpPr txBox="1"/>
              <p:nvPr/>
            </p:nvSpPr>
            <p:spPr>
              <a:xfrm>
                <a:off x="11410734" y="2612469"/>
                <a:ext cx="95682" cy="126206"/>
              </a:xfrm>
              <a:prstGeom prst="rect">
                <a:avLst/>
              </a:prstGeom>
              <a:noFill/>
              <a:ln>
                <a:noFill/>
              </a:ln>
            </p:spPr>
            <p:txBody>
              <a:bodyPr wrap="none" lIns="0" tIns="0" rIns="0" bIns="0" anchor="t" anchorCtr="0">
                <a:spAutoFit/>
              </a:bodyPr>
              <a:lstStyle/>
              <a:p>
                <a:pPr algn="ctr"/>
                <a:r>
                  <a:rPr lang="zh-CN" sz="640" b="1" dirty="0">
                    <a:solidFill>
                      <a:srgbClr val="4E0D00"/>
                    </a:solidFill>
                    <a:latin typeface="+mn-lt"/>
                    <a:ea typeface="+mn-ea"/>
                    <a:cs typeface="+mn-cs"/>
                  </a:rPr>
                  <a:t>中</a:t>
                </a:r>
              </a:p>
            </p:txBody>
          </p:sp>
        </p:grpSp>
        <p:grpSp>
          <p:nvGrpSpPr>
            <p:cNvPr id="151" name="st-motivation"/>
            <p:cNvGrpSpPr/>
            <p:nvPr/>
          </p:nvGrpSpPr>
          <p:grpSpPr>
            <a:xfrm>
              <a:off x="7239000" y="2800350"/>
              <a:ext cx="4724400" cy="304800"/>
              <a:chOff x="7239000" y="2800350"/>
              <a:chExt cx="4724400" cy="304800"/>
            </a:xfrm>
          </p:grpSpPr>
          <p:sp>
            <p:nvSpPr>
              <p:cNvPr id="144" name="Rectangle 144"/>
              <p:cNvSpPr/>
              <p:nvPr/>
            </p:nvSpPr>
            <p:spPr>
              <a:xfrm>
                <a:off x="7239000" y="2800350"/>
                <a:ext cx="4724400" cy="304800"/>
              </a:xfrm>
              <a:prstGeom prst="rect">
                <a:avLst/>
              </a:prstGeom>
              <a:solidFill>
                <a:srgbClr val="F7F9FC"/>
              </a:solidFill>
              <a:ln w="9525">
                <a:solidFill>
                  <a:srgbClr val="E2E8F2"/>
                </a:solidFill>
              </a:ln>
            </p:spPr>
          </p:sp>
          <p:sp>
            <p:nvSpPr>
              <p:cNvPr id="145" name="Freeform 145"/>
              <p:cNvSpPr/>
              <p:nvPr/>
            </p:nvSpPr>
            <p:spPr>
              <a:xfrm>
                <a:off x="7408069" y="2908300"/>
                <a:ext cx="94456" cy="89320"/>
              </a:xfrm>
              <a:custGeom>
                <a:avLst/>
                <a:gdLst/>
                <a:ahLst/>
                <a:cxnLst/>
                <a:rect l="l" t="t" r="r" b="b"/>
                <a:pathLst>
                  <a:path w="94456" h="89320">
                    <a:moveTo>
                      <a:pt x="22225" y="38894"/>
                    </a:moveTo>
                    <a:lnTo>
                      <a:pt x="22225" y="83344"/>
                    </a:lnTo>
                    <a:cubicBezTo>
                      <a:pt x="22225" y="86412"/>
                      <a:pt x="19737" y="88900"/>
                      <a:pt x="16669" y="88900"/>
                    </a:cubicBezTo>
                    <a:lnTo>
                      <a:pt x="5556" y="88900"/>
                    </a:lnTo>
                    <a:cubicBezTo>
                      <a:pt x="2488" y="88900"/>
                      <a:pt x="0" y="86412"/>
                      <a:pt x="0" y="83344"/>
                    </a:cubicBezTo>
                    <a:lnTo>
                      <a:pt x="0" y="44450"/>
                    </a:lnTo>
                    <a:cubicBezTo>
                      <a:pt x="0" y="41381"/>
                      <a:pt x="2488" y="38894"/>
                      <a:pt x="5556" y="38894"/>
                    </a:cubicBezTo>
                    <a:lnTo>
                      <a:pt x="22225" y="38894"/>
                    </a:lnTo>
                    <a:cubicBezTo>
                      <a:pt x="34500" y="38894"/>
                      <a:pt x="44450" y="28943"/>
                      <a:pt x="44450" y="16669"/>
                    </a:cubicBezTo>
                    <a:lnTo>
                      <a:pt x="44450" y="11112"/>
                    </a:lnTo>
                    <a:cubicBezTo>
                      <a:pt x="44450" y="4975"/>
                      <a:pt x="49425" y="0"/>
                      <a:pt x="55562" y="0"/>
                    </a:cubicBezTo>
                    <a:cubicBezTo>
                      <a:pt x="61700" y="0"/>
                      <a:pt x="66675" y="4975"/>
                      <a:pt x="66675" y="11112"/>
                    </a:cubicBezTo>
                    <a:lnTo>
                      <a:pt x="66675" y="38894"/>
                    </a:lnTo>
                    <a:lnTo>
                      <a:pt x="83344" y="38894"/>
                    </a:lnTo>
                    <a:cubicBezTo>
                      <a:pt x="89481" y="38894"/>
                      <a:pt x="94456" y="43869"/>
                      <a:pt x="94456" y="50006"/>
                    </a:cubicBezTo>
                    <a:lnTo>
                      <a:pt x="88900" y="77787"/>
                    </a:lnTo>
                    <a:cubicBezTo>
                      <a:pt x="87258" y="84790"/>
                      <a:pt x="82728" y="89320"/>
                      <a:pt x="77787" y="88900"/>
                    </a:cubicBezTo>
                    <a:lnTo>
                      <a:pt x="38894" y="88900"/>
                    </a:lnTo>
                    <a:cubicBezTo>
                      <a:pt x="29688" y="88900"/>
                      <a:pt x="22225" y="81437"/>
                      <a:pt x="22225" y="72231"/>
                    </a:cubicBezTo>
                  </a:path>
                </a:pathLst>
              </a:custGeom>
              <a:noFill/>
              <a:ln w="11112">
                <a:solidFill>
                  <a:srgbClr val="4E0D00"/>
                </a:solidFill>
              </a:ln>
            </p:spPr>
          </p:sp>
          <p:sp>
            <p:nvSpPr>
              <p:cNvPr id="146" name="TextBox 146"/>
              <p:cNvSpPr txBox="1"/>
              <p:nvPr/>
            </p:nvSpPr>
            <p:spPr>
              <a:xfrm>
                <a:off x="7596188" y="2923461"/>
                <a:ext cx="200685"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激励</a:t>
                </a:r>
              </a:p>
            </p:txBody>
          </p:sp>
          <p:sp>
            <p:nvSpPr>
              <p:cNvPr id="147" name="TextBox 147"/>
              <p:cNvSpPr txBox="1"/>
              <p:nvPr/>
            </p:nvSpPr>
            <p:spPr>
              <a:xfrm>
                <a:off x="9176180" y="2919412"/>
                <a:ext cx="126140" cy="147638"/>
              </a:xfrm>
              <a:prstGeom prst="rect">
                <a:avLst/>
              </a:prstGeom>
              <a:noFill/>
              <a:ln>
                <a:noFill/>
              </a:ln>
            </p:spPr>
            <p:txBody>
              <a:bodyPr wrap="none" lIns="0" tIns="0" rIns="0" bIns="0" anchor="t" anchorCtr="0">
                <a:spAutoFit/>
              </a:bodyPr>
              <a:lstStyle/>
              <a:p>
                <a:pPr algn="ctr"/>
                <a:r>
                  <a:rPr lang="zh-CN" sz="750" b="1" dirty="0">
                    <a:solidFill>
                      <a:srgbClr val="55251B"/>
                    </a:solidFill>
                    <a:latin typeface="+mn-lt"/>
                    <a:ea typeface="+mn-ea"/>
                    <a:cs typeface="+mn-cs"/>
                  </a:rPr>
                  <a:t>48</a:t>
                </a:r>
              </a:p>
            </p:txBody>
          </p:sp>
          <p:sp>
            <p:nvSpPr>
              <p:cNvPr id="148" name="TextBox 148"/>
              <p:cNvSpPr txBox="1"/>
              <p:nvPr/>
            </p:nvSpPr>
            <p:spPr>
              <a:xfrm>
                <a:off x="10321957" y="2919412"/>
                <a:ext cx="120586" cy="147638"/>
              </a:xfrm>
              <a:prstGeom prst="rect">
                <a:avLst/>
              </a:prstGeom>
              <a:noFill/>
              <a:ln>
                <a:noFill/>
              </a:ln>
            </p:spPr>
            <p:txBody>
              <a:bodyPr wrap="none" lIns="0" tIns="0" rIns="0" bIns="0" anchor="t" anchorCtr="0">
                <a:spAutoFit/>
              </a:bodyPr>
              <a:lstStyle/>
              <a:p>
                <a:pPr algn="ctr"/>
                <a:r>
                  <a:rPr lang="zh-CN" sz="750" dirty="0">
                    <a:solidFill>
                      <a:srgbClr val="453633"/>
                    </a:solidFill>
                    <a:latin typeface="+mn-lt"/>
                    <a:ea typeface="+mn-ea"/>
                    <a:cs typeface="+mn-cs"/>
                  </a:rPr>
                  <a:t>29</a:t>
                </a:r>
              </a:p>
            </p:txBody>
          </p:sp>
          <p:sp>
            <p:nvSpPr>
              <p:cNvPr id="149" name="Rectangle 149"/>
              <p:cNvSpPr/>
              <p:nvPr/>
            </p:nvSpPr>
            <p:spPr>
              <a:xfrm>
                <a:off x="11144250" y="2871788"/>
                <a:ext cx="628650" cy="161925"/>
              </a:xfrm>
              <a:prstGeom prst="roundRect">
                <a:avLst>
                  <a:gd name="adj" fmla="val 50000"/>
                </a:avLst>
              </a:prstGeom>
              <a:solidFill>
                <a:srgbClr val="4E0D00"/>
              </a:solidFill>
              <a:ln>
                <a:noFill/>
              </a:ln>
            </p:spPr>
          </p:sp>
          <p:sp>
            <p:nvSpPr>
              <p:cNvPr id="150" name="TextBox 150"/>
              <p:cNvSpPr txBox="1"/>
              <p:nvPr/>
            </p:nvSpPr>
            <p:spPr>
              <a:xfrm>
                <a:off x="11410734" y="2917269"/>
                <a:ext cx="95682" cy="126206"/>
              </a:xfrm>
              <a:prstGeom prst="rect">
                <a:avLst/>
              </a:prstGeom>
              <a:noFill/>
              <a:ln>
                <a:noFill/>
              </a:ln>
            </p:spPr>
            <p:txBody>
              <a:bodyPr wrap="none" lIns="0" tIns="0" rIns="0" bIns="0" anchor="t" anchorCtr="0">
                <a:spAutoFit/>
              </a:bodyPr>
              <a:lstStyle/>
              <a:p>
                <a:pPr algn="ctr"/>
                <a:r>
                  <a:rPr lang="zh-CN" sz="640" b="1" dirty="0">
                    <a:solidFill>
                      <a:srgbClr val="FFFFFF"/>
                    </a:solidFill>
                    <a:latin typeface="+mn-lt"/>
                    <a:ea typeface="+mn-ea"/>
                    <a:cs typeface="+mn-cs"/>
                  </a:rPr>
                  <a:t>高</a:t>
                </a:r>
              </a:p>
            </p:txBody>
          </p:sp>
        </p:grpSp>
        <p:grpSp>
          <p:nvGrpSpPr>
            <p:cNvPr id="162" name="st-learning"/>
            <p:cNvGrpSpPr/>
            <p:nvPr/>
          </p:nvGrpSpPr>
          <p:grpSpPr>
            <a:xfrm>
              <a:off x="7239000" y="3105150"/>
              <a:ext cx="4724400" cy="304800"/>
              <a:chOff x="7239000" y="3105150"/>
              <a:chExt cx="4724400" cy="304800"/>
            </a:xfrm>
          </p:grpSpPr>
          <p:sp>
            <p:nvSpPr>
              <p:cNvPr id="152" name="Rectangle 152"/>
              <p:cNvSpPr/>
              <p:nvPr/>
            </p:nvSpPr>
            <p:spPr>
              <a:xfrm>
                <a:off x="7239000" y="3105150"/>
                <a:ext cx="4724400" cy="304800"/>
              </a:xfrm>
              <a:prstGeom prst="rect">
                <a:avLst/>
              </a:prstGeom>
              <a:solidFill>
                <a:srgbClr val="FFFFFF"/>
              </a:solidFill>
              <a:ln w="9525">
                <a:solidFill>
                  <a:srgbClr val="E2E8F2"/>
                </a:solidFill>
              </a:ln>
            </p:spPr>
          </p:sp>
          <p:grpSp>
            <p:nvGrpSpPr>
              <p:cNvPr id="156" name="Group 156"/>
              <p:cNvGrpSpPr/>
              <p:nvPr/>
            </p:nvGrpSpPr>
            <p:grpSpPr>
              <a:xfrm>
                <a:off x="7408069" y="3207544"/>
                <a:ext cx="100012" cy="100012"/>
                <a:chOff x="7408069" y="3207544"/>
                <a:chExt cx="100012" cy="100012"/>
              </a:xfrm>
            </p:grpSpPr>
            <p:sp>
              <p:nvSpPr>
                <p:cNvPr id="153" name="Freeform 153"/>
                <p:cNvSpPr/>
                <p:nvPr/>
              </p:nvSpPr>
              <p:spPr>
                <a:xfrm>
                  <a:off x="7408069" y="3207544"/>
                  <a:ext cx="100012" cy="50006"/>
                </a:xfrm>
                <a:custGeom>
                  <a:avLst/>
                  <a:gdLst/>
                  <a:ahLst/>
                  <a:cxnLst/>
                  <a:rect l="l" t="t" r="r" b="b"/>
                  <a:pathLst>
                    <a:path w="100012" h="50006">
                      <a:moveTo>
                        <a:pt x="0" y="50006"/>
                      </a:moveTo>
                      <a:lnTo>
                        <a:pt x="5556" y="50006"/>
                      </a:lnTo>
                      <a:moveTo>
                        <a:pt x="50006" y="0"/>
                      </a:moveTo>
                      <a:lnTo>
                        <a:pt x="50006" y="5556"/>
                      </a:lnTo>
                      <a:moveTo>
                        <a:pt x="94456" y="50006"/>
                      </a:moveTo>
                      <a:lnTo>
                        <a:pt x="100012" y="50006"/>
                      </a:lnTo>
                      <a:moveTo>
                        <a:pt x="14446" y="14446"/>
                      </a:moveTo>
                      <a:lnTo>
                        <a:pt x="18336" y="18336"/>
                      </a:lnTo>
                      <a:moveTo>
                        <a:pt x="85566" y="14446"/>
                      </a:moveTo>
                      <a:lnTo>
                        <a:pt x="81677" y="18336"/>
                      </a:lnTo>
                    </a:path>
                  </a:pathLst>
                </a:custGeom>
                <a:noFill/>
                <a:ln w="11112">
                  <a:solidFill>
                    <a:srgbClr val="4E0D00"/>
                  </a:solidFill>
                </a:ln>
              </p:spPr>
            </p:sp>
            <p:sp>
              <p:nvSpPr>
                <p:cNvPr id="154" name="Freeform 154"/>
                <p:cNvSpPr/>
                <p:nvPr/>
              </p:nvSpPr>
              <p:spPr>
                <a:xfrm>
                  <a:off x="7427938" y="3229769"/>
                  <a:ext cx="60274" cy="77787"/>
                </a:xfrm>
                <a:custGeom>
                  <a:avLst/>
                  <a:gdLst/>
                  <a:ahLst/>
                  <a:cxnLst/>
                  <a:rect l="l" t="t" r="r" b="b"/>
                  <a:pathLst>
                    <a:path w="60274" h="77787">
                      <a:moveTo>
                        <a:pt x="13468" y="50006"/>
                      </a:moveTo>
                      <a:cubicBezTo>
                        <a:pt x="3902" y="42831"/>
                        <a:pt x="0" y="30340"/>
                        <a:pt x="3781" y="18996"/>
                      </a:cubicBezTo>
                      <a:cubicBezTo>
                        <a:pt x="7563" y="7652"/>
                        <a:pt x="18179" y="0"/>
                        <a:pt x="30137" y="0"/>
                      </a:cubicBezTo>
                      <a:cubicBezTo>
                        <a:pt x="42095" y="0"/>
                        <a:pt x="52711" y="7652"/>
                        <a:pt x="56493" y="18996"/>
                      </a:cubicBezTo>
                      <a:cubicBezTo>
                        <a:pt x="60274" y="30340"/>
                        <a:pt x="56372" y="42831"/>
                        <a:pt x="46806" y="50006"/>
                      </a:cubicBezTo>
                      <a:cubicBezTo>
                        <a:pt x="42406" y="54361"/>
                        <a:pt x="40343" y="60551"/>
                        <a:pt x="41250" y="66675"/>
                      </a:cubicBezTo>
                      <a:cubicBezTo>
                        <a:pt x="41250" y="72812"/>
                        <a:pt x="36274" y="77787"/>
                        <a:pt x="30137" y="77787"/>
                      </a:cubicBezTo>
                      <a:cubicBezTo>
                        <a:pt x="24000" y="77787"/>
                        <a:pt x="19025" y="72812"/>
                        <a:pt x="19025" y="66675"/>
                      </a:cubicBezTo>
                      <a:cubicBezTo>
                        <a:pt x="19931" y="60551"/>
                        <a:pt x="17868" y="54361"/>
                        <a:pt x="13468" y="50006"/>
                      </a:cubicBezTo>
                    </a:path>
                  </a:pathLst>
                </a:custGeom>
                <a:noFill/>
                <a:ln w="11112">
                  <a:solidFill>
                    <a:srgbClr val="4E0D00"/>
                  </a:solidFill>
                </a:ln>
              </p:spPr>
            </p:sp>
            <p:sp>
              <p:nvSpPr>
                <p:cNvPr id="155" name="Freeform 155"/>
                <p:cNvSpPr/>
                <p:nvPr/>
              </p:nvSpPr>
              <p:spPr>
                <a:xfrm>
                  <a:off x="7445296" y="3285331"/>
                  <a:ext cx="25559" cy="9525"/>
                </a:xfrm>
                <a:custGeom>
                  <a:avLst/>
                  <a:gdLst/>
                  <a:ahLst/>
                  <a:cxnLst/>
                  <a:rect l="l" t="t" r="r" b="b"/>
                  <a:pathLst>
                    <a:path w="25559" h="9525">
                      <a:moveTo>
                        <a:pt x="0" y="0"/>
                      </a:moveTo>
                      <a:lnTo>
                        <a:pt x="25559" y="0"/>
                      </a:lnTo>
                    </a:path>
                  </a:pathLst>
                </a:custGeom>
                <a:noFill/>
                <a:ln w="11112">
                  <a:solidFill>
                    <a:srgbClr val="4E0D00"/>
                  </a:solidFill>
                </a:ln>
              </p:spPr>
            </p:sp>
          </p:grpSp>
          <p:sp>
            <p:nvSpPr>
              <p:cNvPr id="157" name="TextBox 157"/>
              <p:cNvSpPr txBox="1"/>
              <p:nvPr/>
            </p:nvSpPr>
            <p:spPr>
              <a:xfrm>
                <a:off x="7596188" y="3228261"/>
                <a:ext cx="391846"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创新学习</a:t>
                </a:r>
              </a:p>
            </p:txBody>
          </p:sp>
          <p:sp>
            <p:nvSpPr>
              <p:cNvPr id="158" name="TextBox 158"/>
              <p:cNvSpPr txBox="1"/>
              <p:nvPr/>
            </p:nvSpPr>
            <p:spPr>
              <a:xfrm>
                <a:off x="9176180" y="3224212"/>
                <a:ext cx="126140" cy="147638"/>
              </a:xfrm>
              <a:prstGeom prst="rect">
                <a:avLst/>
              </a:prstGeom>
              <a:noFill/>
              <a:ln>
                <a:noFill/>
              </a:ln>
            </p:spPr>
            <p:txBody>
              <a:bodyPr wrap="none" lIns="0" tIns="0" rIns="0" bIns="0" anchor="t" anchorCtr="0">
                <a:spAutoFit/>
              </a:bodyPr>
              <a:lstStyle/>
              <a:p>
                <a:pPr algn="ctr"/>
                <a:r>
                  <a:rPr lang="zh-CN" sz="750" b="1" dirty="0">
                    <a:solidFill>
                      <a:srgbClr val="55251B"/>
                    </a:solidFill>
                    <a:latin typeface="+mn-lt"/>
                    <a:ea typeface="+mn-ea"/>
                    <a:cs typeface="+mn-cs"/>
                  </a:rPr>
                  <a:t>55</a:t>
                </a:r>
              </a:p>
            </p:txBody>
          </p:sp>
          <p:sp>
            <p:nvSpPr>
              <p:cNvPr id="159" name="TextBox 159"/>
              <p:cNvSpPr txBox="1"/>
              <p:nvPr/>
            </p:nvSpPr>
            <p:spPr>
              <a:xfrm>
                <a:off x="10321957" y="3224212"/>
                <a:ext cx="120586" cy="147638"/>
              </a:xfrm>
              <a:prstGeom prst="rect">
                <a:avLst/>
              </a:prstGeom>
              <a:noFill/>
              <a:ln>
                <a:noFill/>
              </a:ln>
            </p:spPr>
            <p:txBody>
              <a:bodyPr wrap="none" lIns="0" tIns="0" rIns="0" bIns="0" anchor="t" anchorCtr="0">
                <a:spAutoFit/>
              </a:bodyPr>
              <a:lstStyle/>
              <a:p>
                <a:pPr algn="ctr"/>
                <a:r>
                  <a:rPr lang="zh-CN" sz="750" dirty="0">
                    <a:solidFill>
                      <a:srgbClr val="453633"/>
                    </a:solidFill>
                    <a:latin typeface="+mn-lt"/>
                    <a:ea typeface="+mn-ea"/>
                    <a:cs typeface="+mn-cs"/>
                  </a:rPr>
                  <a:t>24</a:t>
                </a:r>
              </a:p>
            </p:txBody>
          </p:sp>
          <p:sp>
            <p:nvSpPr>
              <p:cNvPr id="160" name="Rectangle 160"/>
              <p:cNvSpPr/>
              <p:nvPr/>
            </p:nvSpPr>
            <p:spPr>
              <a:xfrm>
                <a:off x="11144250" y="3176588"/>
                <a:ext cx="628650" cy="161925"/>
              </a:xfrm>
              <a:prstGeom prst="roundRect">
                <a:avLst>
                  <a:gd name="adj" fmla="val 50000"/>
                </a:avLst>
              </a:prstGeom>
              <a:solidFill>
                <a:srgbClr val="DCE5F2"/>
              </a:solidFill>
              <a:ln>
                <a:noFill/>
              </a:ln>
            </p:spPr>
          </p:sp>
          <p:sp>
            <p:nvSpPr>
              <p:cNvPr id="161" name="TextBox 161"/>
              <p:cNvSpPr txBox="1"/>
              <p:nvPr/>
            </p:nvSpPr>
            <p:spPr>
              <a:xfrm>
                <a:off x="11410734" y="3222069"/>
                <a:ext cx="95682" cy="126206"/>
              </a:xfrm>
              <a:prstGeom prst="rect">
                <a:avLst/>
              </a:prstGeom>
              <a:noFill/>
              <a:ln>
                <a:noFill/>
              </a:ln>
            </p:spPr>
            <p:txBody>
              <a:bodyPr wrap="none" lIns="0" tIns="0" rIns="0" bIns="0" anchor="t" anchorCtr="0">
                <a:spAutoFit/>
              </a:bodyPr>
              <a:lstStyle/>
              <a:p>
                <a:pPr algn="ctr"/>
                <a:r>
                  <a:rPr lang="zh-CN" sz="640" b="1" dirty="0">
                    <a:solidFill>
                      <a:srgbClr val="4E0D00"/>
                    </a:solidFill>
                    <a:latin typeface="+mn-lt"/>
                    <a:ea typeface="+mn-ea"/>
                    <a:cs typeface="+mn-cs"/>
                  </a:rPr>
                  <a:t>中</a:t>
                </a:r>
              </a:p>
            </p:txBody>
          </p:sp>
        </p:grpSp>
        <p:grpSp>
          <p:nvGrpSpPr>
            <p:cNvPr id="175" name="st-external"/>
            <p:cNvGrpSpPr/>
            <p:nvPr/>
          </p:nvGrpSpPr>
          <p:grpSpPr>
            <a:xfrm>
              <a:off x="7239000" y="3409950"/>
              <a:ext cx="4724400" cy="304800"/>
              <a:chOff x="7239000" y="3409950"/>
              <a:chExt cx="4724400" cy="304800"/>
            </a:xfrm>
          </p:grpSpPr>
          <p:sp>
            <p:nvSpPr>
              <p:cNvPr id="163" name="Rectangle 163"/>
              <p:cNvSpPr/>
              <p:nvPr/>
            </p:nvSpPr>
            <p:spPr>
              <a:xfrm>
                <a:off x="7239000" y="3409950"/>
                <a:ext cx="4724400" cy="304800"/>
              </a:xfrm>
              <a:prstGeom prst="rect">
                <a:avLst/>
              </a:prstGeom>
              <a:solidFill>
                <a:srgbClr val="F7F9FC"/>
              </a:solidFill>
              <a:ln w="9525">
                <a:solidFill>
                  <a:srgbClr val="E2E8F2"/>
                </a:solidFill>
              </a:ln>
            </p:spPr>
          </p:sp>
          <p:grpSp>
            <p:nvGrpSpPr>
              <p:cNvPr id="169" name="Group 169"/>
              <p:cNvGrpSpPr/>
              <p:nvPr/>
            </p:nvGrpSpPr>
            <p:grpSpPr>
              <a:xfrm>
                <a:off x="7408069" y="3512344"/>
                <a:ext cx="100012" cy="100012"/>
                <a:chOff x="7408069" y="3512344"/>
                <a:chExt cx="100012" cy="100012"/>
              </a:xfrm>
            </p:grpSpPr>
            <p:sp>
              <p:nvSpPr>
                <p:cNvPr id="164" name="Freeform 164"/>
                <p:cNvSpPr/>
                <p:nvPr/>
              </p:nvSpPr>
              <p:spPr>
                <a:xfrm>
                  <a:off x="7408069" y="351234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4E0D00"/>
                  </a:solidFill>
                </a:ln>
              </p:spPr>
            </p:sp>
            <p:sp>
              <p:nvSpPr>
                <p:cNvPr id="165" name="Freeform 165"/>
                <p:cNvSpPr/>
                <p:nvPr/>
              </p:nvSpPr>
              <p:spPr>
                <a:xfrm>
                  <a:off x="7411402" y="3545681"/>
                  <a:ext cx="93345" cy="9525"/>
                </a:xfrm>
                <a:custGeom>
                  <a:avLst/>
                  <a:gdLst/>
                  <a:ahLst/>
                  <a:cxnLst/>
                  <a:rect l="l" t="t" r="r" b="b"/>
                  <a:pathLst>
                    <a:path w="93345" h="9525">
                      <a:moveTo>
                        <a:pt x="0" y="0"/>
                      </a:moveTo>
                      <a:lnTo>
                        <a:pt x="93345" y="0"/>
                      </a:lnTo>
                    </a:path>
                  </a:pathLst>
                </a:custGeom>
                <a:noFill/>
                <a:ln w="11112">
                  <a:solidFill>
                    <a:srgbClr val="4E0D00"/>
                  </a:solidFill>
                </a:ln>
              </p:spPr>
            </p:sp>
            <p:sp>
              <p:nvSpPr>
                <p:cNvPr id="166" name="Freeform 166"/>
                <p:cNvSpPr/>
                <p:nvPr/>
              </p:nvSpPr>
              <p:spPr>
                <a:xfrm>
                  <a:off x="7411402" y="3579019"/>
                  <a:ext cx="93345" cy="9525"/>
                </a:xfrm>
                <a:custGeom>
                  <a:avLst/>
                  <a:gdLst/>
                  <a:ahLst/>
                  <a:cxnLst/>
                  <a:rect l="l" t="t" r="r" b="b"/>
                  <a:pathLst>
                    <a:path w="93345" h="9525">
                      <a:moveTo>
                        <a:pt x="0" y="0"/>
                      </a:moveTo>
                      <a:lnTo>
                        <a:pt x="93345" y="0"/>
                      </a:lnTo>
                    </a:path>
                  </a:pathLst>
                </a:custGeom>
                <a:noFill/>
                <a:ln w="11112">
                  <a:solidFill>
                    <a:srgbClr val="4E0D00"/>
                  </a:solidFill>
                </a:ln>
              </p:spPr>
            </p:sp>
            <p:sp>
              <p:nvSpPr>
                <p:cNvPr id="167" name="Freeform 167"/>
                <p:cNvSpPr/>
                <p:nvPr/>
              </p:nvSpPr>
              <p:spPr>
                <a:xfrm>
                  <a:off x="7436200" y="3512344"/>
                  <a:ext cx="19097" cy="100012"/>
                </a:xfrm>
                <a:custGeom>
                  <a:avLst/>
                  <a:gdLst/>
                  <a:ahLst/>
                  <a:cxnLst/>
                  <a:rect l="l" t="t" r="r" b="b"/>
                  <a:pathLst>
                    <a:path w="19097" h="100012">
                      <a:moveTo>
                        <a:pt x="19097" y="0"/>
                      </a:moveTo>
                      <a:cubicBezTo>
                        <a:pt x="0" y="30603"/>
                        <a:pt x="0" y="69410"/>
                        <a:pt x="19097" y="100012"/>
                      </a:cubicBezTo>
                    </a:path>
                  </a:pathLst>
                </a:custGeom>
                <a:noFill/>
                <a:ln w="11112">
                  <a:solidFill>
                    <a:srgbClr val="4E0D00"/>
                  </a:solidFill>
                </a:ln>
              </p:spPr>
            </p:sp>
            <p:sp>
              <p:nvSpPr>
                <p:cNvPr id="168" name="Freeform 168"/>
                <p:cNvSpPr/>
                <p:nvPr/>
              </p:nvSpPr>
              <p:spPr>
                <a:xfrm>
                  <a:off x="7460853" y="3512344"/>
                  <a:ext cx="19097" cy="100012"/>
                </a:xfrm>
                <a:custGeom>
                  <a:avLst/>
                  <a:gdLst/>
                  <a:ahLst/>
                  <a:cxnLst/>
                  <a:rect l="l" t="t" r="r" b="b"/>
                  <a:pathLst>
                    <a:path w="19097" h="100012">
                      <a:moveTo>
                        <a:pt x="0" y="0"/>
                      </a:moveTo>
                      <a:cubicBezTo>
                        <a:pt x="19097" y="30603"/>
                        <a:pt x="19097" y="69410"/>
                        <a:pt x="0" y="100012"/>
                      </a:cubicBezTo>
                    </a:path>
                  </a:pathLst>
                </a:custGeom>
                <a:noFill/>
                <a:ln w="11112">
                  <a:solidFill>
                    <a:srgbClr val="4E0D00"/>
                  </a:solidFill>
                </a:ln>
              </p:spPr>
            </p:sp>
          </p:grpSp>
          <p:sp>
            <p:nvSpPr>
              <p:cNvPr id="170" name="TextBox 170"/>
              <p:cNvSpPr txBox="1"/>
              <p:nvPr/>
            </p:nvSpPr>
            <p:spPr>
              <a:xfrm>
                <a:off x="7596188" y="3533061"/>
                <a:ext cx="391846" cy="140494"/>
              </a:xfrm>
              <a:prstGeom prst="rect">
                <a:avLst/>
              </a:prstGeom>
              <a:noFill/>
              <a:ln>
                <a:noFill/>
              </a:ln>
            </p:spPr>
            <p:txBody>
              <a:bodyPr wrap="none" lIns="0" tIns="0" rIns="0" bIns="0" anchor="t" anchorCtr="0">
                <a:spAutoFit/>
              </a:bodyPr>
              <a:lstStyle/>
              <a:p>
                <a:pPr algn="l"/>
                <a:r>
                  <a:rPr lang="zh-CN" sz="710" b="1" dirty="0">
                    <a:solidFill>
                      <a:srgbClr val="4E0D00"/>
                    </a:solidFill>
                    <a:latin typeface="+mn-lt"/>
                    <a:ea typeface="+mn-ea"/>
                    <a:cs typeface="+mn-cs"/>
                  </a:rPr>
                  <a:t>外部导向</a:t>
                </a:r>
              </a:p>
            </p:txBody>
          </p:sp>
          <p:sp>
            <p:nvSpPr>
              <p:cNvPr id="171" name="TextBox 171"/>
              <p:cNvSpPr txBox="1"/>
              <p:nvPr/>
            </p:nvSpPr>
            <p:spPr>
              <a:xfrm>
                <a:off x="9176180" y="3529012"/>
                <a:ext cx="126140" cy="147638"/>
              </a:xfrm>
              <a:prstGeom prst="rect">
                <a:avLst/>
              </a:prstGeom>
              <a:noFill/>
              <a:ln>
                <a:noFill/>
              </a:ln>
            </p:spPr>
            <p:txBody>
              <a:bodyPr wrap="none" lIns="0" tIns="0" rIns="0" bIns="0" anchor="t" anchorCtr="0">
                <a:spAutoFit/>
              </a:bodyPr>
              <a:lstStyle/>
              <a:p>
                <a:pPr algn="ctr"/>
                <a:r>
                  <a:rPr lang="zh-CN" sz="750" b="1" dirty="0">
                    <a:solidFill>
                      <a:srgbClr val="55251B"/>
                    </a:solidFill>
                    <a:latin typeface="+mn-lt"/>
                    <a:ea typeface="+mn-ea"/>
                    <a:cs typeface="+mn-cs"/>
                  </a:rPr>
                  <a:t>63</a:t>
                </a:r>
              </a:p>
            </p:txBody>
          </p:sp>
          <p:sp>
            <p:nvSpPr>
              <p:cNvPr id="172" name="TextBox 172"/>
              <p:cNvSpPr txBox="1"/>
              <p:nvPr/>
            </p:nvSpPr>
            <p:spPr>
              <a:xfrm>
                <a:off x="10321957" y="3529012"/>
                <a:ext cx="120586" cy="147638"/>
              </a:xfrm>
              <a:prstGeom prst="rect">
                <a:avLst/>
              </a:prstGeom>
              <a:noFill/>
              <a:ln>
                <a:noFill/>
              </a:ln>
            </p:spPr>
            <p:txBody>
              <a:bodyPr wrap="none" lIns="0" tIns="0" rIns="0" bIns="0" anchor="t" anchorCtr="0">
                <a:spAutoFit/>
              </a:bodyPr>
              <a:lstStyle/>
              <a:p>
                <a:pPr algn="ctr"/>
                <a:r>
                  <a:rPr lang="zh-CN" sz="750" dirty="0">
                    <a:solidFill>
                      <a:srgbClr val="453633"/>
                    </a:solidFill>
                    <a:latin typeface="+mn-lt"/>
                    <a:ea typeface="+mn-ea"/>
                    <a:cs typeface="+mn-cs"/>
                  </a:rPr>
                  <a:t>22</a:t>
                </a:r>
              </a:p>
            </p:txBody>
          </p:sp>
          <p:sp>
            <p:nvSpPr>
              <p:cNvPr id="173" name="Rectangle 173"/>
              <p:cNvSpPr/>
              <p:nvPr/>
            </p:nvSpPr>
            <p:spPr>
              <a:xfrm>
                <a:off x="11144250" y="3481388"/>
                <a:ext cx="628650" cy="161925"/>
              </a:xfrm>
              <a:prstGeom prst="roundRect">
                <a:avLst>
                  <a:gd name="adj" fmla="val 50000"/>
                </a:avLst>
              </a:prstGeom>
              <a:solidFill>
                <a:srgbClr val="DCE5F2"/>
              </a:solidFill>
              <a:ln>
                <a:noFill/>
              </a:ln>
            </p:spPr>
          </p:sp>
          <p:sp>
            <p:nvSpPr>
              <p:cNvPr id="174" name="TextBox 174"/>
              <p:cNvSpPr txBox="1"/>
              <p:nvPr/>
            </p:nvSpPr>
            <p:spPr>
              <a:xfrm>
                <a:off x="11410734" y="3526869"/>
                <a:ext cx="95682" cy="126206"/>
              </a:xfrm>
              <a:prstGeom prst="rect">
                <a:avLst/>
              </a:prstGeom>
              <a:noFill/>
              <a:ln>
                <a:noFill/>
              </a:ln>
            </p:spPr>
            <p:txBody>
              <a:bodyPr wrap="none" lIns="0" tIns="0" rIns="0" bIns="0" anchor="t" anchorCtr="0">
                <a:spAutoFit/>
              </a:bodyPr>
              <a:lstStyle/>
              <a:p>
                <a:pPr algn="ctr"/>
                <a:r>
                  <a:rPr lang="zh-CN" sz="640" b="1" dirty="0">
                    <a:solidFill>
                      <a:srgbClr val="4E0D00"/>
                    </a:solidFill>
                    <a:latin typeface="+mn-lt"/>
                    <a:ea typeface="+mn-ea"/>
                    <a:cs typeface="+mn-cs"/>
                  </a:rPr>
                  <a:t>中</a:t>
                </a:r>
              </a:p>
            </p:txBody>
          </p:sp>
        </p:grpSp>
      </p:grpSp>
      <p:grpSp>
        <p:nvGrpSpPr>
          <p:cNvPr id="208" name="health-chain"/>
          <p:cNvGrpSpPr/>
          <p:nvPr/>
        </p:nvGrpSpPr>
        <p:grpSpPr>
          <a:xfrm>
            <a:off x="228600" y="3886200"/>
            <a:ext cx="11239500" cy="419100"/>
            <a:chOff x="228600" y="3886200"/>
            <a:chExt cx="11239500" cy="419100"/>
          </a:xfrm>
        </p:grpSpPr>
        <p:sp>
          <p:nvSpPr>
            <p:cNvPr id="177" name="Rectangle 177"/>
            <p:cNvSpPr/>
            <p:nvPr/>
          </p:nvSpPr>
          <p:spPr>
            <a:xfrm>
              <a:off x="228600" y="3886200"/>
              <a:ext cx="1219200" cy="419100"/>
            </a:xfrm>
            <a:prstGeom prst="rect">
              <a:avLst/>
            </a:prstGeom>
            <a:solidFill>
              <a:srgbClr val="4E0D00"/>
            </a:solidFill>
            <a:ln>
              <a:noFill/>
            </a:ln>
          </p:spPr>
        </p:sp>
        <p:sp>
          <p:nvSpPr>
            <p:cNvPr id="178" name="TextBox 178"/>
            <p:cNvSpPr txBox="1"/>
            <p:nvPr/>
          </p:nvSpPr>
          <p:spPr>
            <a:xfrm>
              <a:off x="408038" y="4058364"/>
              <a:ext cx="86032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健康驱动的价值链</a:t>
              </a:r>
            </a:p>
          </p:txBody>
        </p:sp>
        <p:sp>
          <p:nvSpPr>
            <p:cNvPr id="179" name="Freeform 179"/>
            <p:cNvSpPr/>
            <p:nvPr/>
          </p:nvSpPr>
          <p:spPr>
            <a:xfrm>
              <a:off x="1504950" y="3886200"/>
              <a:ext cx="2647950" cy="419100"/>
            </a:xfrm>
            <a:prstGeom prst="homePlate">
              <a:avLst/>
            </a:prstGeom>
            <a:solidFill>
              <a:srgbClr val="832D1B"/>
            </a:solidFill>
            <a:ln>
              <a:noFill/>
            </a:ln>
          </p:spPr>
        </p:sp>
        <p:sp>
          <p:nvSpPr>
            <p:cNvPr id="180" name="Freeform 180"/>
            <p:cNvSpPr/>
            <p:nvPr/>
          </p:nvSpPr>
          <p:spPr>
            <a:xfrm>
              <a:off x="3943350" y="3886200"/>
              <a:ext cx="2647950" cy="419100"/>
            </a:xfrm>
            <a:prstGeom prst="chevron">
              <a:avLst/>
            </a:prstGeom>
            <a:solidFill>
              <a:srgbClr val="8C3827"/>
            </a:solidFill>
            <a:ln>
              <a:noFill/>
            </a:ln>
          </p:spPr>
        </p:sp>
        <p:sp>
          <p:nvSpPr>
            <p:cNvPr id="181" name="Freeform 181"/>
            <p:cNvSpPr/>
            <p:nvPr/>
          </p:nvSpPr>
          <p:spPr>
            <a:xfrm>
              <a:off x="6381750" y="3886200"/>
              <a:ext cx="2647950" cy="419100"/>
            </a:xfrm>
            <a:prstGeom prst="chevron">
              <a:avLst/>
            </a:prstGeom>
            <a:solidFill>
              <a:srgbClr val="964433"/>
            </a:solidFill>
            <a:ln>
              <a:noFill/>
            </a:ln>
          </p:spPr>
        </p:sp>
        <p:sp>
          <p:nvSpPr>
            <p:cNvPr id="182" name="Freeform 182"/>
            <p:cNvSpPr/>
            <p:nvPr/>
          </p:nvSpPr>
          <p:spPr>
            <a:xfrm>
              <a:off x="8820150" y="3886200"/>
              <a:ext cx="2647950" cy="419100"/>
            </a:xfrm>
            <a:prstGeom prst="chevron">
              <a:avLst/>
            </a:prstGeom>
            <a:solidFill>
              <a:srgbClr val="A04F3F"/>
            </a:solidFill>
            <a:ln>
              <a:noFill/>
            </a:ln>
          </p:spPr>
        </p:sp>
        <p:sp>
          <p:nvSpPr>
            <p:cNvPr id="183" name="Freeform 183"/>
            <p:cNvSpPr/>
            <p:nvPr/>
          </p:nvSpPr>
          <p:spPr>
            <a:xfrm>
              <a:off x="2188106" y="3981450"/>
              <a:ext cx="119589" cy="114300"/>
            </a:xfrm>
            <a:custGeom>
              <a:avLst/>
              <a:gdLst/>
              <a:ahLst/>
              <a:cxnLst/>
              <a:rect l="l" t="t" r="r" b="b"/>
              <a:pathLst>
                <a:path w="119589" h="114300">
                  <a:moveTo>
                    <a:pt x="59794" y="0"/>
                  </a:moveTo>
                  <a:cubicBezTo>
                    <a:pt x="74627" y="13123"/>
                    <a:pt x="93986" y="19955"/>
                    <a:pt x="113769" y="19050"/>
                  </a:cubicBezTo>
                  <a:cubicBezTo>
                    <a:pt x="119589" y="38846"/>
                    <a:pt x="117131" y="60156"/>
                    <a:pt x="106958" y="78108"/>
                  </a:cubicBezTo>
                  <a:cubicBezTo>
                    <a:pt x="96786" y="96060"/>
                    <a:pt x="79767" y="109119"/>
                    <a:pt x="59794" y="114300"/>
                  </a:cubicBezTo>
                  <a:cubicBezTo>
                    <a:pt x="39821" y="109119"/>
                    <a:pt x="22803" y="96060"/>
                    <a:pt x="12630" y="78108"/>
                  </a:cubicBezTo>
                  <a:cubicBezTo>
                    <a:pt x="2458" y="60156"/>
                    <a:pt x="0" y="38846"/>
                    <a:pt x="5819" y="19050"/>
                  </a:cubicBezTo>
                  <a:cubicBezTo>
                    <a:pt x="25603" y="19955"/>
                    <a:pt x="44962" y="13123"/>
                    <a:pt x="59794" y="0"/>
                  </a:cubicBezTo>
                </a:path>
              </a:pathLst>
            </a:custGeom>
            <a:noFill/>
            <a:ln w="12700">
              <a:solidFill>
                <a:srgbClr val="FFFFFF"/>
              </a:solidFill>
            </a:ln>
          </p:spPr>
        </p:sp>
        <p:sp>
          <p:nvSpPr>
            <p:cNvPr id="184" name="TextBox 184"/>
            <p:cNvSpPr txBox="1"/>
            <p:nvPr/>
          </p:nvSpPr>
          <p:spPr>
            <a:xfrm>
              <a:off x="2621191" y="39835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健康实践</a:t>
              </a:r>
            </a:p>
          </p:txBody>
        </p:sp>
        <p:sp>
          <p:nvSpPr>
            <p:cNvPr id="185" name="TextBox 185"/>
            <p:cNvSpPr txBox="1"/>
            <p:nvPr/>
          </p:nvSpPr>
          <p:spPr>
            <a:xfrm>
              <a:off x="2489263" y="4164330"/>
              <a:ext cx="736473"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管理机制与制度设计</a:t>
              </a:r>
            </a:p>
          </p:txBody>
        </p:sp>
        <p:grpSp>
          <p:nvGrpSpPr>
            <p:cNvPr id="192" name="Group 192"/>
            <p:cNvGrpSpPr/>
            <p:nvPr/>
          </p:nvGrpSpPr>
          <p:grpSpPr>
            <a:xfrm>
              <a:off x="4629150" y="3981450"/>
              <a:ext cx="114300" cy="114300"/>
              <a:chOff x="4629150" y="3981450"/>
              <a:chExt cx="114300" cy="114300"/>
            </a:xfrm>
          </p:grpSpPr>
          <p:sp>
            <p:nvSpPr>
              <p:cNvPr id="186" name="Freeform 186"/>
              <p:cNvSpPr/>
              <p:nvPr/>
            </p:nvSpPr>
            <p:spPr>
              <a:xfrm>
                <a:off x="4673600" y="4032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87" name="Freeform 187"/>
              <p:cNvSpPr/>
              <p:nvPr/>
            </p:nvSpPr>
            <p:spPr>
              <a:xfrm>
                <a:off x="4660900" y="40767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FFFFFF"/>
                </a:solidFill>
              </a:ln>
            </p:spPr>
          </p:sp>
          <p:sp>
            <p:nvSpPr>
              <p:cNvPr id="188" name="Freeform 188"/>
              <p:cNvSpPr/>
              <p:nvPr/>
            </p:nvSpPr>
            <p:spPr>
              <a:xfrm>
                <a:off x="4705350" y="39814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89" name="Freeform 189"/>
              <p:cNvSpPr/>
              <p:nvPr/>
            </p:nvSpPr>
            <p:spPr>
              <a:xfrm>
                <a:off x="4718050" y="40259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FFFFFF"/>
                </a:solidFill>
              </a:ln>
            </p:spPr>
          </p:sp>
          <p:sp>
            <p:nvSpPr>
              <p:cNvPr id="190" name="Freeform 190"/>
              <p:cNvSpPr/>
              <p:nvPr/>
            </p:nvSpPr>
            <p:spPr>
              <a:xfrm>
                <a:off x="4641850" y="39814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91" name="Freeform 191"/>
              <p:cNvSpPr/>
              <p:nvPr/>
            </p:nvSpPr>
            <p:spPr>
              <a:xfrm>
                <a:off x="4629150" y="40259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FFFFFF"/>
                </a:solidFill>
              </a:ln>
            </p:spPr>
          </p:sp>
        </p:grpSp>
        <p:sp>
          <p:nvSpPr>
            <p:cNvPr id="193" name="TextBox 193"/>
            <p:cNvSpPr txBox="1"/>
            <p:nvPr/>
          </p:nvSpPr>
          <p:spPr>
            <a:xfrm>
              <a:off x="5192941" y="39835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员工行为</a:t>
              </a:r>
            </a:p>
          </p:txBody>
        </p:sp>
        <p:sp>
          <p:nvSpPr>
            <p:cNvPr id="194" name="TextBox 194"/>
            <p:cNvSpPr txBox="1"/>
            <p:nvPr/>
          </p:nvSpPr>
          <p:spPr>
            <a:xfrm>
              <a:off x="5137747" y="4164330"/>
              <a:ext cx="583006"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认知·态度·行动</a:t>
              </a:r>
            </a:p>
          </p:txBody>
        </p:sp>
        <p:grpSp>
          <p:nvGrpSpPr>
            <p:cNvPr id="200" name="Group 200"/>
            <p:cNvGrpSpPr/>
            <p:nvPr/>
          </p:nvGrpSpPr>
          <p:grpSpPr>
            <a:xfrm>
              <a:off x="7067550" y="3981450"/>
              <a:ext cx="114300" cy="114300"/>
              <a:chOff x="7067550" y="3981450"/>
              <a:chExt cx="114300" cy="114300"/>
            </a:xfrm>
          </p:grpSpPr>
          <p:sp>
            <p:nvSpPr>
              <p:cNvPr id="195" name="Freeform 195"/>
              <p:cNvSpPr/>
              <p:nvPr/>
            </p:nvSpPr>
            <p:spPr>
              <a:xfrm>
                <a:off x="7112000" y="39814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96" name="Freeform 196"/>
              <p:cNvSpPr/>
              <p:nvPr/>
            </p:nvSpPr>
            <p:spPr>
              <a:xfrm>
                <a:off x="7067550" y="4070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97" name="Freeform 197"/>
              <p:cNvSpPr/>
              <p:nvPr/>
            </p:nvSpPr>
            <p:spPr>
              <a:xfrm>
                <a:off x="7156450" y="4070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98" name="Freeform 198"/>
              <p:cNvSpPr/>
              <p:nvPr/>
            </p:nvSpPr>
            <p:spPr>
              <a:xfrm>
                <a:off x="7089775" y="4044950"/>
                <a:ext cx="69850" cy="28575"/>
              </a:xfrm>
              <a:custGeom>
                <a:avLst/>
                <a:gdLst/>
                <a:ahLst/>
                <a:cxnLst/>
                <a:rect l="l" t="t" r="r" b="b"/>
                <a:pathLst>
                  <a:path w="69850" h="28575">
                    <a:moveTo>
                      <a:pt x="0" y="28575"/>
                    </a:moveTo>
                    <a:lnTo>
                      <a:pt x="34925" y="0"/>
                    </a:lnTo>
                    <a:lnTo>
                      <a:pt x="69850" y="28575"/>
                    </a:lnTo>
                  </a:path>
                </a:pathLst>
              </a:custGeom>
              <a:noFill/>
              <a:ln w="12700">
                <a:solidFill>
                  <a:srgbClr val="FFFFFF"/>
                </a:solidFill>
              </a:ln>
            </p:spPr>
          </p:sp>
          <p:sp>
            <p:nvSpPr>
              <p:cNvPr id="199" name="Freeform 199"/>
              <p:cNvSpPr/>
              <p:nvPr/>
            </p:nvSpPr>
            <p:spPr>
              <a:xfrm>
                <a:off x="7124700" y="4006850"/>
                <a:ext cx="9525" cy="38100"/>
              </a:xfrm>
              <a:custGeom>
                <a:avLst/>
                <a:gdLst/>
                <a:ahLst/>
                <a:cxnLst/>
                <a:rect l="l" t="t" r="r" b="b"/>
                <a:pathLst>
                  <a:path w="9525" h="38100">
                    <a:moveTo>
                      <a:pt x="0" y="0"/>
                    </a:moveTo>
                    <a:lnTo>
                      <a:pt x="0" y="38100"/>
                    </a:lnTo>
                  </a:path>
                </a:pathLst>
              </a:custGeom>
              <a:noFill/>
              <a:ln w="12700">
                <a:solidFill>
                  <a:srgbClr val="FFFFFF"/>
                </a:solidFill>
              </a:ln>
            </p:spPr>
          </p:sp>
        </p:grpSp>
        <p:sp>
          <p:nvSpPr>
            <p:cNvPr id="201" name="TextBox 201"/>
            <p:cNvSpPr txBox="1"/>
            <p:nvPr/>
          </p:nvSpPr>
          <p:spPr>
            <a:xfrm>
              <a:off x="7631341" y="39835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组织能力</a:t>
              </a:r>
            </a:p>
          </p:txBody>
        </p:sp>
        <p:sp>
          <p:nvSpPr>
            <p:cNvPr id="202" name="TextBox 202"/>
            <p:cNvSpPr txBox="1"/>
            <p:nvPr/>
          </p:nvSpPr>
          <p:spPr>
            <a:xfrm>
              <a:off x="7576147" y="4164330"/>
              <a:ext cx="583006"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流程·协同·能力</a:t>
              </a:r>
            </a:p>
          </p:txBody>
        </p:sp>
        <p:grpSp>
          <p:nvGrpSpPr>
            <p:cNvPr id="205" name="Group 205"/>
            <p:cNvGrpSpPr/>
            <p:nvPr/>
          </p:nvGrpSpPr>
          <p:grpSpPr>
            <a:xfrm>
              <a:off x="9505950" y="4006850"/>
              <a:ext cx="114300" cy="63500"/>
              <a:chOff x="9505950" y="4006850"/>
              <a:chExt cx="114300" cy="63500"/>
            </a:xfrm>
          </p:grpSpPr>
          <p:sp>
            <p:nvSpPr>
              <p:cNvPr id="203" name="Freeform 203"/>
              <p:cNvSpPr/>
              <p:nvPr/>
            </p:nvSpPr>
            <p:spPr>
              <a:xfrm>
                <a:off x="9505950" y="4006850"/>
                <a:ext cx="114300" cy="63500"/>
              </a:xfrm>
              <a:custGeom>
                <a:avLst/>
                <a:gdLst/>
                <a:ahLst/>
                <a:cxnLst/>
                <a:rect l="l" t="t" r="r" b="b"/>
                <a:pathLst>
                  <a:path w="114300" h="63500">
                    <a:moveTo>
                      <a:pt x="0" y="63500"/>
                    </a:moveTo>
                    <a:lnTo>
                      <a:pt x="38100" y="25400"/>
                    </a:lnTo>
                    <a:lnTo>
                      <a:pt x="63500" y="50800"/>
                    </a:lnTo>
                    <a:lnTo>
                      <a:pt x="114300" y="0"/>
                    </a:lnTo>
                  </a:path>
                </a:pathLst>
              </a:custGeom>
              <a:noFill/>
              <a:ln w="12700">
                <a:solidFill>
                  <a:srgbClr val="FFFFFF"/>
                </a:solidFill>
              </a:ln>
            </p:spPr>
          </p:sp>
          <p:sp>
            <p:nvSpPr>
              <p:cNvPr id="204" name="Freeform 204"/>
              <p:cNvSpPr/>
              <p:nvPr/>
            </p:nvSpPr>
            <p:spPr>
              <a:xfrm>
                <a:off x="9575800" y="4006850"/>
                <a:ext cx="44450" cy="44450"/>
              </a:xfrm>
              <a:custGeom>
                <a:avLst/>
                <a:gdLst/>
                <a:ahLst/>
                <a:cxnLst/>
                <a:rect l="l" t="t" r="r" b="b"/>
                <a:pathLst>
                  <a:path w="44450" h="44450">
                    <a:moveTo>
                      <a:pt x="0" y="0"/>
                    </a:moveTo>
                    <a:lnTo>
                      <a:pt x="44450" y="0"/>
                    </a:lnTo>
                    <a:lnTo>
                      <a:pt x="44450" y="44450"/>
                    </a:lnTo>
                  </a:path>
                </a:pathLst>
              </a:custGeom>
              <a:noFill/>
              <a:ln w="12700">
                <a:solidFill>
                  <a:srgbClr val="FFFFFF"/>
                </a:solidFill>
              </a:ln>
            </p:spPr>
          </p:sp>
        </p:grpSp>
        <p:sp>
          <p:nvSpPr>
            <p:cNvPr id="206" name="TextBox 206"/>
            <p:cNvSpPr txBox="1"/>
            <p:nvPr/>
          </p:nvSpPr>
          <p:spPr>
            <a:xfrm>
              <a:off x="10069741" y="3983593"/>
              <a:ext cx="472618"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经营结果</a:t>
              </a:r>
            </a:p>
          </p:txBody>
        </p:sp>
        <p:sp>
          <p:nvSpPr>
            <p:cNvPr id="207" name="TextBox 207"/>
            <p:cNvSpPr txBox="1"/>
            <p:nvPr/>
          </p:nvSpPr>
          <p:spPr>
            <a:xfrm>
              <a:off x="10014547" y="4164330"/>
              <a:ext cx="583006" cy="119062"/>
            </a:xfrm>
            <a:prstGeom prst="rect">
              <a:avLst/>
            </a:prstGeom>
            <a:noFill/>
            <a:ln>
              <a:noFill/>
            </a:ln>
          </p:spPr>
          <p:txBody>
            <a:bodyPr wrap="none" lIns="0" tIns="0" rIns="0" bIns="0" anchor="t" anchorCtr="0">
              <a:spAutoFit/>
            </a:bodyPr>
            <a:lstStyle/>
            <a:p>
              <a:pPr algn="ctr"/>
              <a:r>
                <a:rPr lang="zh-CN" sz="600" dirty="0">
                  <a:solidFill>
                    <a:srgbClr val="DCE5F2"/>
                  </a:solidFill>
                  <a:latin typeface="+mn-lt"/>
                  <a:ea typeface="+mn-ea"/>
                  <a:cs typeface="+mn-cs"/>
                </a:rPr>
                <a:t>绩效·增长·价值</a:t>
              </a:r>
            </a:p>
          </p:txBody>
        </p:sp>
      </p:grpSp>
      <p:grpSp>
        <p:nvGrpSpPr>
          <p:cNvPr id="304" name="indicators"/>
          <p:cNvGrpSpPr/>
          <p:nvPr/>
        </p:nvGrpSpPr>
        <p:grpSpPr>
          <a:xfrm>
            <a:off x="228600" y="4572000"/>
            <a:ext cx="11734800" cy="1905000"/>
            <a:chOff x="228600" y="4572000"/>
            <a:chExt cx="11734800" cy="1905000"/>
          </a:xfrm>
        </p:grpSpPr>
        <p:sp>
          <p:nvSpPr>
            <p:cNvPr id="209" name="Rectangle 209"/>
            <p:cNvSpPr/>
            <p:nvPr/>
          </p:nvSpPr>
          <p:spPr>
            <a:xfrm>
              <a:off x="228600" y="4610100"/>
              <a:ext cx="952500" cy="1866900"/>
            </a:xfrm>
            <a:prstGeom prst="rect">
              <a:avLst/>
            </a:prstGeom>
            <a:solidFill>
              <a:srgbClr val="4E0D00"/>
            </a:solidFill>
            <a:ln>
              <a:noFill/>
            </a:ln>
          </p:spPr>
        </p:sp>
        <p:sp>
          <p:nvSpPr>
            <p:cNvPr id="210" name="TextBox 210"/>
            <p:cNvSpPr txBox="1"/>
            <p:nvPr/>
          </p:nvSpPr>
          <p:spPr>
            <a:xfrm>
              <a:off x="479311" y="53020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指标体系</a:t>
              </a:r>
            </a:p>
          </p:txBody>
        </p:sp>
        <p:sp>
          <p:nvSpPr>
            <p:cNvPr id="211" name="TextBox 211"/>
            <p:cNvSpPr txBox="1"/>
            <p:nvPr/>
          </p:nvSpPr>
          <p:spPr>
            <a:xfrm>
              <a:off x="498158" y="5500688"/>
              <a:ext cx="413385" cy="147638"/>
            </a:xfrm>
            <a:prstGeom prst="rect">
              <a:avLst/>
            </a:prstGeom>
            <a:noFill/>
            <a:ln>
              <a:noFill/>
            </a:ln>
          </p:spPr>
          <p:txBody>
            <a:bodyPr wrap="none" lIns="0" tIns="0" rIns="0" bIns="0" anchor="t" anchorCtr="0">
              <a:spAutoFit/>
            </a:bodyPr>
            <a:lstStyle/>
            <a:p>
              <a:pPr algn="ctr"/>
              <a:r>
                <a:rPr lang="zh-CN" sz="750" dirty="0">
                  <a:solidFill>
                    <a:srgbClr val="C9D3E4"/>
                  </a:solidFill>
                  <a:latin typeface="+mn-lt"/>
                  <a:ea typeface="+mn-ea"/>
                  <a:cs typeface="+mn-cs"/>
                </a:rPr>
                <a:t>（示例）</a:t>
              </a:r>
            </a:p>
          </p:txBody>
        </p:sp>
        <p:sp>
          <p:nvSpPr>
            <p:cNvPr id="212" name="Rectangle 212"/>
            <p:cNvSpPr/>
            <p:nvPr/>
          </p:nvSpPr>
          <p:spPr>
            <a:xfrm>
              <a:off x="1333500" y="4572000"/>
              <a:ext cx="6667500" cy="1905000"/>
            </a:xfrm>
            <a:prstGeom prst="rect">
              <a:avLst/>
            </a:prstGeom>
            <a:solidFill>
              <a:srgbClr val="FBFCFE"/>
            </a:solidFill>
            <a:ln w="9525">
              <a:solidFill>
                <a:srgbClr val="C7D2E4"/>
              </a:solidFill>
            </a:ln>
          </p:spPr>
        </p:sp>
        <p:sp>
          <p:nvSpPr>
            <p:cNvPr id="213" name="Rectangle 213"/>
            <p:cNvSpPr/>
            <p:nvPr/>
          </p:nvSpPr>
          <p:spPr>
            <a:xfrm>
              <a:off x="1333500" y="4572000"/>
              <a:ext cx="6667500" cy="228600"/>
            </a:xfrm>
            <a:prstGeom prst="rect">
              <a:avLst/>
            </a:prstGeom>
            <a:solidFill>
              <a:srgbClr val="711E0D"/>
            </a:solidFill>
            <a:ln>
              <a:noFill/>
            </a:ln>
          </p:spPr>
        </p:sp>
        <p:sp>
          <p:nvSpPr>
            <p:cNvPr id="214" name="TextBox 214"/>
            <p:cNvSpPr txBox="1"/>
            <p:nvPr/>
          </p:nvSpPr>
          <p:spPr>
            <a:xfrm>
              <a:off x="1443038" y="4652962"/>
              <a:ext cx="2227278"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健康指标（Leading）——预测未来绩效的先行信号</a:t>
              </a:r>
            </a:p>
          </p:txBody>
        </p:sp>
        <p:grpSp>
          <p:nvGrpSpPr>
            <p:cNvPr id="223" name="lg-engage"/>
            <p:cNvGrpSpPr/>
            <p:nvPr/>
          </p:nvGrpSpPr>
          <p:grpSpPr>
            <a:xfrm>
              <a:off x="1409700" y="4876800"/>
              <a:ext cx="1238250" cy="1524000"/>
              <a:chOff x="1409700" y="4876800"/>
              <a:chExt cx="1238250" cy="1524000"/>
            </a:xfrm>
          </p:grpSpPr>
          <p:sp>
            <p:nvSpPr>
              <p:cNvPr id="215" name="Rectangle 215"/>
              <p:cNvSpPr/>
              <p:nvPr/>
            </p:nvSpPr>
            <p:spPr>
              <a:xfrm>
                <a:off x="1409700" y="4876800"/>
                <a:ext cx="1238250" cy="1524000"/>
              </a:xfrm>
              <a:prstGeom prst="rect">
                <a:avLst/>
              </a:prstGeom>
              <a:solidFill>
                <a:srgbClr val="FFFFFF"/>
              </a:solidFill>
              <a:ln w="9525">
                <a:solidFill>
                  <a:srgbClr val="E2E8F2"/>
                </a:solidFill>
              </a:ln>
            </p:spPr>
          </p:sp>
          <p:sp>
            <p:nvSpPr>
              <p:cNvPr id="216" name="Ellipse 216"/>
              <p:cNvSpPr/>
              <p:nvPr/>
            </p:nvSpPr>
            <p:spPr>
              <a:xfrm>
                <a:off x="1895475" y="5010150"/>
                <a:ext cx="266700" cy="266700"/>
              </a:xfrm>
              <a:prstGeom prst="ellipse">
                <a:avLst/>
              </a:prstGeom>
              <a:solidFill>
                <a:srgbClr val="EFF3FA"/>
              </a:solidFill>
              <a:ln>
                <a:noFill/>
              </a:ln>
            </p:spPr>
          </p:sp>
          <p:grpSp>
            <p:nvGrpSpPr>
              <p:cNvPr id="220" name="Group 220"/>
              <p:cNvGrpSpPr/>
              <p:nvPr/>
            </p:nvGrpSpPr>
            <p:grpSpPr>
              <a:xfrm>
                <a:off x="1990725" y="5086350"/>
                <a:ext cx="95250" cy="114300"/>
                <a:chOff x="1990725" y="5086350"/>
                <a:chExt cx="95250" cy="114300"/>
              </a:xfrm>
            </p:grpSpPr>
            <p:sp>
              <p:nvSpPr>
                <p:cNvPr id="217" name="Freeform 217"/>
                <p:cNvSpPr/>
                <p:nvPr/>
              </p:nvSpPr>
              <p:spPr>
                <a:xfrm>
                  <a:off x="2003425" y="5086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4E0D00"/>
                  </a:solidFill>
                </a:ln>
              </p:spPr>
            </p:sp>
            <p:sp>
              <p:nvSpPr>
                <p:cNvPr id="218" name="Freeform 218"/>
                <p:cNvSpPr/>
                <p:nvPr/>
              </p:nvSpPr>
              <p:spPr>
                <a:xfrm>
                  <a:off x="1990725" y="5162550"/>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12700">
                  <a:solidFill>
                    <a:srgbClr val="4E0D00"/>
                  </a:solidFill>
                </a:ln>
              </p:spPr>
            </p:sp>
            <p:sp>
              <p:nvSpPr>
                <p:cNvPr id="219" name="Freeform 219"/>
                <p:cNvSpPr/>
                <p:nvPr/>
              </p:nvSpPr>
              <p:spPr>
                <a:xfrm>
                  <a:off x="2047875" y="5175250"/>
                  <a:ext cx="38100" cy="25400"/>
                </a:xfrm>
                <a:custGeom>
                  <a:avLst/>
                  <a:gdLst/>
                  <a:ahLst/>
                  <a:cxnLst/>
                  <a:rect l="l" t="t" r="r" b="b"/>
                  <a:pathLst>
                    <a:path w="38100" h="25400">
                      <a:moveTo>
                        <a:pt x="0" y="12700"/>
                      </a:moveTo>
                      <a:lnTo>
                        <a:pt x="12700" y="25400"/>
                      </a:lnTo>
                      <a:lnTo>
                        <a:pt x="38100" y="0"/>
                      </a:lnTo>
                    </a:path>
                  </a:pathLst>
                </a:custGeom>
                <a:noFill/>
                <a:ln w="12700">
                  <a:solidFill>
                    <a:srgbClr val="4E0D00"/>
                  </a:solidFill>
                </a:ln>
              </p:spPr>
            </p:sp>
          </p:grpSp>
          <p:sp>
            <p:nvSpPr>
              <p:cNvPr id="221" name="TextBox 221"/>
              <p:cNvSpPr txBox="1"/>
              <p:nvPr/>
            </p:nvSpPr>
            <p:spPr>
              <a:xfrm>
                <a:off x="1822132" y="5440680"/>
                <a:ext cx="413385"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员工敬业度</a:t>
                </a:r>
              </a:p>
            </p:txBody>
          </p:sp>
          <p:sp>
            <p:nvSpPr>
              <p:cNvPr id="222" name="TextBox 222"/>
              <p:cNvSpPr txBox="1"/>
              <p:nvPr/>
            </p:nvSpPr>
            <p:spPr>
              <a:xfrm>
                <a:off x="1845455" y="5950268"/>
                <a:ext cx="366740" cy="264033"/>
              </a:xfrm>
              <a:prstGeom prst="rect">
                <a:avLst/>
              </a:prstGeom>
              <a:noFill/>
              <a:ln>
                <a:noFill/>
              </a:ln>
            </p:spPr>
            <p:txBody>
              <a:bodyPr wrap="none" lIns="0" tIns="0" rIns="0" bIns="0" anchor="t" anchorCtr="0">
                <a:spAutoFit/>
              </a:bodyPr>
              <a:lstStyle/>
              <a:p>
                <a:pPr algn="ctr"/>
                <a:r>
                  <a:rPr lang="zh-CN" sz="1350" b="1" dirty="0">
                    <a:solidFill>
                      <a:srgbClr val="4E0D00"/>
                    </a:solidFill>
                    <a:latin typeface="+mn-lt"/>
                    <a:ea typeface="+mn-ea"/>
                    <a:cs typeface="+mn-cs"/>
                  </a:rPr>
                  <a:t>72%</a:t>
                </a:r>
              </a:p>
            </p:txBody>
          </p:sp>
        </p:grpSp>
        <p:grpSp>
          <p:nvGrpSpPr>
            <p:cNvPr id="233" name="lg-learn"/>
            <p:cNvGrpSpPr/>
            <p:nvPr/>
          </p:nvGrpSpPr>
          <p:grpSpPr>
            <a:xfrm>
              <a:off x="2724150" y="4876800"/>
              <a:ext cx="1238250" cy="1524000"/>
              <a:chOff x="2724150" y="4876800"/>
              <a:chExt cx="1238250" cy="1524000"/>
            </a:xfrm>
          </p:grpSpPr>
          <p:sp>
            <p:nvSpPr>
              <p:cNvPr id="224" name="Rectangle 224"/>
              <p:cNvSpPr/>
              <p:nvPr/>
            </p:nvSpPr>
            <p:spPr>
              <a:xfrm>
                <a:off x="2724150" y="4876800"/>
                <a:ext cx="1238250" cy="1524000"/>
              </a:xfrm>
              <a:prstGeom prst="rect">
                <a:avLst/>
              </a:prstGeom>
              <a:solidFill>
                <a:srgbClr val="FFFFFF"/>
              </a:solidFill>
              <a:ln w="9525">
                <a:solidFill>
                  <a:srgbClr val="E2E8F2"/>
                </a:solidFill>
              </a:ln>
            </p:spPr>
          </p:sp>
          <p:sp>
            <p:nvSpPr>
              <p:cNvPr id="225" name="Ellipse 225"/>
              <p:cNvSpPr/>
              <p:nvPr/>
            </p:nvSpPr>
            <p:spPr>
              <a:xfrm>
                <a:off x="3209925" y="5010150"/>
                <a:ext cx="266700" cy="266700"/>
              </a:xfrm>
              <a:prstGeom prst="ellipse">
                <a:avLst/>
              </a:prstGeom>
              <a:solidFill>
                <a:srgbClr val="EFF3FA"/>
              </a:solidFill>
              <a:ln>
                <a:noFill/>
              </a:ln>
            </p:spPr>
          </p:sp>
          <p:grpSp>
            <p:nvGrpSpPr>
              <p:cNvPr id="230" name="Group 230"/>
              <p:cNvGrpSpPr/>
              <p:nvPr/>
            </p:nvGrpSpPr>
            <p:grpSpPr>
              <a:xfrm>
                <a:off x="3286125" y="5086350"/>
                <a:ext cx="114300" cy="114300"/>
                <a:chOff x="3286125" y="5086350"/>
                <a:chExt cx="114300" cy="114300"/>
              </a:xfrm>
            </p:grpSpPr>
            <p:sp>
              <p:nvSpPr>
                <p:cNvPr id="226" name="Freeform 226"/>
                <p:cNvSpPr/>
                <p:nvPr/>
              </p:nvSpPr>
              <p:spPr>
                <a:xfrm>
                  <a:off x="3311525" y="5162550"/>
                  <a:ext cx="63500" cy="38100"/>
                </a:xfrm>
                <a:custGeom>
                  <a:avLst/>
                  <a:gdLst/>
                  <a:ahLst/>
                  <a:cxnLst/>
                  <a:rect l="l" t="t" r="r" b="b"/>
                  <a:pathLst>
                    <a:path w="63500" h="38100">
                      <a:moveTo>
                        <a:pt x="0" y="0"/>
                      </a:moveTo>
                      <a:lnTo>
                        <a:pt x="63500" y="0"/>
                      </a:lnTo>
                      <a:lnTo>
                        <a:pt x="63500" y="25400"/>
                      </a:lnTo>
                      <a:cubicBezTo>
                        <a:pt x="63500" y="32414"/>
                        <a:pt x="57814" y="38100"/>
                        <a:pt x="50800" y="38100"/>
                      </a:cubicBezTo>
                      <a:lnTo>
                        <a:pt x="12700" y="38100"/>
                      </a:lnTo>
                      <a:cubicBezTo>
                        <a:pt x="5686" y="38100"/>
                        <a:pt x="0" y="32414"/>
                        <a:pt x="0" y="25400"/>
                      </a:cubicBezTo>
                      <a:lnTo>
                        <a:pt x="0" y="0"/>
                      </a:lnTo>
                    </a:path>
                  </a:pathLst>
                </a:custGeom>
                <a:noFill/>
                <a:ln w="12700">
                  <a:solidFill>
                    <a:srgbClr val="4E0D00"/>
                  </a:solidFill>
                </a:ln>
              </p:spPr>
            </p:sp>
            <p:sp>
              <p:nvSpPr>
                <p:cNvPr id="227" name="Freeform 227"/>
                <p:cNvSpPr/>
                <p:nvPr/>
              </p:nvSpPr>
              <p:spPr>
                <a:xfrm>
                  <a:off x="3286125" y="5086350"/>
                  <a:ext cx="57150" cy="50800"/>
                </a:xfrm>
                <a:custGeom>
                  <a:avLst/>
                  <a:gdLst/>
                  <a:ahLst/>
                  <a:cxnLst/>
                  <a:rect l="l" t="t" r="r" b="b"/>
                  <a:pathLst>
                    <a:path w="57150" h="50800">
                      <a:moveTo>
                        <a:pt x="57150" y="38100"/>
                      </a:moveTo>
                      <a:cubicBezTo>
                        <a:pt x="57150" y="17058"/>
                        <a:pt x="40092" y="0"/>
                        <a:pt x="19050" y="0"/>
                      </a:cubicBezTo>
                      <a:lnTo>
                        <a:pt x="0" y="0"/>
                      </a:lnTo>
                      <a:lnTo>
                        <a:pt x="0" y="12700"/>
                      </a:lnTo>
                      <a:cubicBezTo>
                        <a:pt x="0" y="33742"/>
                        <a:pt x="17058" y="50800"/>
                        <a:pt x="38100" y="50800"/>
                      </a:cubicBezTo>
                      <a:lnTo>
                        <a:pt x="57150" y="50800"/>
                      </a:lnTo>
                    </a:path>
                  </a:pathLst>
                </a:custGeom>
                <a:noFill/>
                <a:ln w="12700">
                  <a:solidFill>
                    <a:srgbClr val="4E0D00"/>
                  </a:solidFill>
                </a:ln>
              </p:spPr>
            </p:sp>
            <p:sp>
              <p:nvSpPr>
                <p:cNvPr id="228" name="Freeform 228"/>
                <p:cNvSpPr/>
                <p:nvPr/>
              </p:nvSpPr>
              <p:spPr>
                <a:xfrm>
                  <a:off x="3343275" y="5099050"/>
                  <a:ext cx="57150" cy="44450"/>
                </a:xfrm>
                <a:custGeom>
                  <a:avLst/>
                  <a:gdLst/>
                  <a:ahLst/>
                  <a:cxnLst/>
                  <a:rect l="l" t="t" r="r" b="b"/>
                  <a:pathLst>
                    <a:path w="57150" h="44450">
                      <a:moveTo>
                        <a:pt x="0" y="38100"/>
                      </a:moveTo>
                      <a:cubicBezTo>
                        <a:pt x="0" y="17058"/>
                        <a:pt x="17058" y="0"/>
                        <a:pt x="38100" y="0"/>
                      </a:cubicBezTo>
                      <a:lnTo>
                        <a:pt x="57150" y="0"/>
                      </a:lnTo>
                      <a:lnTo>
                        <a:pt x="57150" y="6350"/>
                      </a:lnTo>
                      <a:cubicBezTo>
                        <a:pt x="57150" y="27392"/>
                        <a:pt x="40092" y="44450"/>
                        <a:pt x="19050" y="44450"/>
                      </a:cubicBezTo>
                      <a:lnTo>
                        <a:pt x="0" y="44450"/>
                      </a:lnTo>
                    </a:path>
                  </a:pathLst>
                </a:custGeom>
                <a:noFill/>
                <a:ln w="12700">
                  <a:solidFill>
                    <a:srgbClr val="4E0D00"/>
                  </a:solidFill>
                </a:ln>
              </p:spPr>
            </p:sp>
            <p:sp>
              <p:nvSpPr>
                <p:cNvPr id="229" name="Freeform 229"/>
                <p:cNvSpPr/>
                <p:nvPr/>
              </p:nvSpPr>
              <p:spPr>
                <a:xfrm>
                  <a:off x="3343275" y="5124450"/>
                  <a:ext cx="9525" cy="38100"/>
                </a:xfrm>
                <a:custGeom>
                  <a:avLst/>
                  <a:gdLst/>
                  <a:ahLst/>
                  <a:cxnLst/>
                  <a:rect l="l" t="t" r="r" b="b"/>
                  <a:pathLst>
                    <a:path w="9525" h="38100">
                      <a:moveTo>
                        <a:pt x="0" y="38100"/>
                      </a:moveTo>
                      <a:lnTo>
                        <a:pt x="0" y="0"/>
                      </a:lnTo>
                    </a:path>
                  </a:pathLst>
                </a:custGeom>
                <a:noFill/>
                <a:ln w="12700">
                  <a:solidFill>
                    <a:srgbClr val="4E0D00"/>
                  </a:solidFill>
                </a:ln>
              </p:spPr>
            </p:sp>
          </p:grpSp>
          <p:sp>
            <p:nvSpPr>
              <p:cNvPr id="231" name="TextBox 231"/>
              <p:cNvSpPr txBox="1"/>
              <p:nvPr/>
            </p:nvSpPr>
            <p:spPr>
              <a:xfrm>
                <a:off x="3096196" y="544068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学习成长指数</a:t>
                </a:r>
              </a:p>
            </p:txBody>
          </p:sp>
          <p:sp>
            <p:nvSpPr>
              <p:cNvPr id="232" name="TextBox 232"/>
              <p:cNvSpPr txBox="1"/>
              <p:nvPr/>
            </p:nvSpPr>
            <p:spPr>
              <a:xfrm>
                <a:off x="3231464" y="5950268"/>
                <a:ext cx="223622" cy="264033"/>
              </a:xfrm>
              <a:prstGeom prst="rect">
                <a:avLst/>
              </a:prstGeom>
              <a:noFill/>
              <a:ln>
                <a:noFill/>
              </a:ln>
            </p:spPr>
            <p:txBody>
              <a:bodyPr wrap="none" lIns="0" tIns="0" rIns="0" bIns="0" anchor="t" anchorCtr="0">
                <a:spAutoFit/>
              </a:bodyPr>
              <a:lstStyle/>
              <a:p>
                <a:pPr algn="ctr"/>
                <a:r>
                  <a:rPr lang="zh-CN" sz="1350" b="1" dirty="0">
                    <a:solidFill>
                      <a:srgbClr val="4E0D00"/>
                    </a:solidFill>
                    <a:latin typeface="+mn-lt"/>
                    <a:ea typeface="+mn-ea"/>
                    <a:cs typeface="+mn-cs"/>
                  </a:rPr>
                  <a:t>68</a:t>
                </a:r>
              </a:p>
            </p:txBody>
          </p:sp>
        </p:grpSp>
        <p:grpSp>
          <p:nvGrpSpPr>
            <p:cNvPr id="245" name="lg-collab"/>
            <p:cNvGrpSpPr/>
            <p:nvPr/>
          </p:nvGrpSpPr>
          <p:grpSpPr>
            <a:xfrm>
              <a:off x="4038600" y="4876800"/>
              <a:ext cx="1238250" cy="1524000"/>
              <a:chOff x="4038600" y="4876800"/>
              <a:chExt cx="1238250" cy="1524000"/>
            </a:xfrm>
          </p:grpSpPr>
          <p:sp>
            <p:nvSpPr>
              <p:cNvPr id="234" name="Rectangle 234"/>
              <p:cNvSpPr/>
              <p:nvPr/>
            </p:nvSpPr>
            <p:spPr>
              <a:xfrm>
                <a:off x="4038600" y="4876800"/>
                <a:ext cx="1238250" cy="1524000"/>
              </a:xfrm>
              <a:prstGeom prst="rect">
                <a:avLst/>
              </a:prstGeom>
              <a:solidFill>
                <a:srgbClr val="FFFFFF"/>
              </a:solidFill>
              <a:ln w="9525">
                <a:solidFill>
                  <a:srgbClr val="E2E8F2"/>
                </a:solidFill>
              </a:ln>
            </p:spPr>
          </p:sp>
          <p:sp>
            <p:nvSpPr>
              <p:cNvPr id="235" name="Ellipse 235"/>
              <p:cNvSpPr/>
              <p:nvPr/>
            </p:nvSpPr>
            <p:spPr>
              <a:xfrm>
                <a:off x="4524375" y="5010150"/>
                <a:ext cx="266700" cy="266700"/>
              </a:xfrm>
              <a:prstGeom prst="ellipse">
                <a:avLst/>
              </a:prstGeom>
              <a:solidFill>
                <a:srgbClr val="EFF3FA"/>
              </a:solidFill>
              <a:ln>
                <a:noFill/>
              </a:ln>
            </p:spPr>
          </p:sp>
          <p:grpSp>
            <p:nvGrpSpPr>
              <p:cNvPr id="242" name="Group 242"/>
              <p:cNvGrpSpPr/>
              <p:nvPr/>
            </p:nvGrpSpPr>
            <p:grpSpPr>
              <a:xfrm>
                <a:off x="4600575" y="5086350"/>
                <a:ext cx="114300" cy="114300"/>
                <a:chOff x="4600575" y="5086350"/>
                <a:chExt cx="114300" cy="114300"/>
              </a:xfrm>
            </p:grpSpPr>
            <p:sp>
              <p:nvSpPr>
                <p:cNvPr id="236" name="Freeform 236"/>
                <p:cNvSpPr/>
                <p:nvPr/>
              </p:nvSpPr>
              <p:spPr>
                <a:xfrm>
                  <a:off x="4645025" y="51371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237" name="Freeform 237"/>
                <p:cNvSpPr/>
                <p:nvPr/>
              </p:nvSpPr>
              <p:spPr>
                <a:xfrm>
                  <a:off x="4632325" y="51816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4E0D00"/>
                  </a:solidFill>
                </a:ln>
              </p:spPr>
            </p:sp>
            <p:sp>
              <p:nvSpPr>
                <p:cNvPr id="238" name="Freeform 238"/>
                <p:cNvSpPr/>
                <p:nvPr/>
              </p:nvSpPr>
              <p:spPr>
                <a:xfrm>
                  <a:off x="4676775" y="5086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239" name="Freeform 239"/>
                <p:cNvSpPr/>
                <p:nvPr/>
              </p:nvSpPr>
              <p:spPr>
                <a:xfrm>
                  <a:off x="4689475" y="51308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4E0D00"/>
                  </a:solidFill>
                </a:ln>
              </p:spPr>
            </p:sp>
            <p:sp>
              <p:nvSpPr>
                <p:cNvPr id="240" name="Freeform 240"/>
                <p:cNvSpPr/>
                <p:nvPr/>
              </p:nvSpPr>
              <p:spPr>
                <a:xfrm>
                  <a:off x="4613275" y="50863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4E0D00"/>
                  </a:solidFill>
                </a:ln>
              </p:spPr>
            </p:sp>
            <p:sp>
              <p:nvSpPr>
                <p:cNvPr id="241" name="Freeform 241"/>
                <p:cNvSpPr/>
                <p:nvPr/>
              </p:nvSpPr>
              <p:spPr>
                <a:xfrm>
                  <a:off x="4600575" y="51308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4E0D00"/>
                  </a:solidFill>
                </a:ln>
              </p:spPr>
            </p:sp>
          </p:grpSp>
          <p:sp>
            <p:nvSpPr>
              <p:cNvPr id="243" name="TextBox 243"/>
              <p:cNvSpPr txBox="1"/>
              <p:nvPr/>
            </p:nvSpPr>
            <p:spPr>
              <a:xfrm>
                <a:off x="4370260" y="544068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跨部门协作指数</a:t>
                </a:r>
              </a:p>
            </p:txBody>
          </p:sp>
          <p:sp>
            <p:nvSpPr>
              <p:cNvPr id="244" name="TextBox 244"/>
              <p:cNvSpPr txBox="1"/>
              <p:nvPr/>
            </p:nvSpPr>
            <p:spPr>
              <a:xfrm>
                <a:off x="4545914" y="5950268"/>
                <a:ext cx="223622" cy="264033"/>
              </a:xfrm>
              <a:prstGeom prst="rect">
                <a:avLst/>
              </a:prstGeom>
              <a:noFill/>
              <a:ln>
                <a:noFill/>
              </a:ln>
            </p:spPr>
            <p:txBody>
              <a:bodyPr wrap="none" lIns="0" tIns="0" rIns="0" bIns="0" anchor="t" anchorCtr="0">
                <a:spAutoFit/>
              </a:bodyPr>
              <a:lstStyle/>
              <a:p>
                <a:pPr algn="ctr"/>
                <a:r>
                  <a:rPr lang="zh-CN" sz="1350" b="1" dirty="0">
                    <a:solidFill>
                      <a:srgbClr val="4E0D00"/>
                    </a:solidFill>
                    <a:latin typeface="+mn-lt"/>
                    <a:ea typeface="+mn-ea"/>
                    <a:cs typeface="+mn-cs"/>
                  </a:rPr>
                  <a:t>64</a:t>
                </a:r>
              </a:p>
            </p:txBody>
          </p:sp>
        </p:grpSp>
        <p:grpSp>
          <p:nvGrpSpPr>
            <p:cNvPr id="254" name="lg-innov"/>
            <p:cNvGrpSpPr/>
            <p:nvPr/>
          </p:nvGrpSpPr>
          <p:grpSpPr>
            <a:xfrm>
              <a:off x="5353050" y="4876800"/>
              <a:ext cx="1238250" cy="1524000"/>
              <a:chOff x="5353050" y="4876800"/>
              <a:chExt cx="1238250" cy="1524000"/>
            </a:xfrm>
          </p:grpSpPr>
          <p:sp>
            <p:nvSpPr>
              <p:cNvPr id="246" name="Rectangle 246"/>
              <p:cNvSpPr/>
              <p:nvPr/>
            </p:nvSpPr>
            <p:spPr>
              <a:xfrm>
                <a:off x="5353050" y="4876800"/>
                <a:ext cx="1238250" cy="1524000"/>
              </a:xfrm>
              <a:prstGeom prst="rect">
                <a:avLst/>
              </a:prstGeom>
              <a:solidFill>
                <a:srgbClr val="FFFFFF"/>
              </a:solidFill>
              <a:ln w="9525">
                <a:solidFill>
                  <a:srgbClr val="E2E8F2"/>
                </a:solidFill>
              </a:ln>
            </p:spPr>
          </p:sp>
          <p:sp>
            <p:nvSpPr>
              <p:cNvPr id="247" name="Ellipse 247"/>
              <p:cNvSpPr/>
              <p:nvPr/>
            </p:nvSpPr>
            <p:spPr>
              <a:xfrm>
                <a:off x="5838825" y="5010150"/>
                <a:ext cx="266700" cy="266700"/>
              </a:xfrm>
              <a:prstGeom prst="ellipse">
                <a:avLst/>
              </a:prstGeom>
              <a:solidFill>
                <a:srgbClr val="EFF3FA"/>
              </a:solidFill>
              <a:ln>
                <a:noFill/>
              </a:ln>
            </p:spPr>
          </p:sp>
          <p:grpSp>
            <p:nvGrpSpPr>
              <p:cNvPr id="251" name="Group 251"/>
              <p:cNvGrpSpPr/>
              <p:nvPr/>
            </p:nvGrpSpPr>
            <p:grpSpPr>
              <a:xfrm>
                <a:off x="5915025" y="5086350"/>
                <a:ext cx="114300" cy="114300"/>
                <a:chOff x="5915025" y="5086350"/>
                <a:chExt cx="114300" cy="114300"/>
              </a:xfrm>
            </p:grpSpPr>
            <p:sp>
              <p:nvSpPr>
                <p:cNvPr id="248" name="Freeform 248"/>
                <p:cNvSpPr/>
                <p:nvPr/>
              </p:nvSpPr>
              <p:spPr>
                <a:xfrm>
                  <a:off x="5915025" y="5086350"/>
                  <a:ext cx="114300" cy="57150"/>
                </a:xfrm>
                <a:custGeom>
                  <a:avLst/>
                  <a:gdLst/>
                  <a:ahLst/>
                  <a:cxnLst/>
                  <a:rect l="l" t="t" r="r" b="b"/>
                  <a:pathLst>
                    <a:path w="114300" h="57150">
                      <a:moveTo>
                        <a:pt x="0" y="57150"/>
                      </a:moveTo>
                      <a:lnTo>
                        <a:pt x="6350" y="57150"/>
                      </a:lnTo>
                      <a:moveTo>
                        <a:pt x="57150" y="0"/>
                      </a:moveTo>
                      <a:lnTo>
                        <a:pt x="57150" y="6350"/>
                      </a:lnTo>
                      <a:moveTo>
                        <a:pt x="107950" y="57150"/>
                      </a:moveTo>
                      <a:lnTo>
                        <a:pt x="114300" y="57150"/>
                      </a:lnTo>
                      <a:moveTo>
                        <a:pt x="16510" y="16510"/>
                      </a:moveTo>
                      <a:lnTo>
                        <a:pt x="20955" y="20955"/>
                      </a:lnTo>
                      <a:moveTo>
                        <a:pt x="97790" y="16510"/>
                      </a:moveTo>
                      <a:lnTo>
                        <a:pt x="93345" y="20955"/>
                      </a:lnTo>
                    </a:path>
                  </a:pathLst>
                </a:custGeom>
                <a:noFill/>
                <a:ln w="12700">
                  <a:solidFill>
                    <a:srgbClr val="4E0D00"/>
                  </a:solidFill>
                </a:ln>
              </p:spPr>
            </p:sp>
            <p:sp>
              <p:nvSpPr>
                <p:cNvPr id="249" name="Freeform 249"/>
                <p:cNvSpPr/>
                <p:nvPr/>
              </p:nvSpPr>
              <p:spPr>
                <a:xfrm>
                  <a:off x="5937733" y="5111750"/>
                  <a:ext cx="68885" cy="88900"/>
                </a:xfrm>
                <a:custGeom>
                  <a:avLst/>
                  <a:gdLst/>
                  <a:ahLst/>
                  <a:cxnLst/>
                  <a:rect l="l" t="t" r="r" b="b"/>
                  <a:pathLst>
                    <a:path w="68885" h="88900">
                      <a:moveTo>
                        <a:pt x="15392" y="57150"/>
                      </a:moveTo>
                      <a:cubicBezTo>
                        <a:pt x="4459" y="48950"/>
                        <a:pt x="0" y="34675"/>
                        <a:pt x="4322" y="21710"/>
                      </a:cubicBezTo>
                      <a:cubicBezTo>
                        <a:pt x="8643" y="8745"/>
                        <a:pt x="20776" y="0"/>
                        <a:pt x="34442" y="0"/>
                      </a:cubicBezTo>
                      <a:cubicBezTo>
                        <a:pt x="48109" y="0"/>
                        <a:pt x="60241" y="8745"/>
                        <a:pt x="64563" y="21710"/>
                      </a:cubicBezTo>
                      <a:cubicBezTo>
                        <a:pt x="68885" y="34675"/>
                        <a:pt x="64425" y="48950"/>
                        <a:pt x="53492" y="57150"/>
                      </a:cubicBezTo>
                      <a:cubicBezTo>
                        <a:pt x="48464" y="62127"/>
                        <a:pt x="46106" y="69201"/>
                        <a:pt x="47142" y="76200"/>
                      </a:cubicBezTo>
                      <a:cubicBezTo>
                        <a:pt x="47142" y="83214"/>
                        <a:pt x="41456" y="88900"/>
                        <a:pt x="34442" y="88900"/>
                      </a:cubicBezTo>
                      <a:cubicBezTo>
                        <a:pt x="27428" y="88900"/>
                        <a:pt x="21742" y="83214"/>
                        <a:pt x="21742" y="76200"/>
                      </a:cubicBezTo>
                      <a:cubicBezTo>
                        <a:pt x="22778" y="69201"/>
                        <a:pt x="20420" y="62127"/>
                        <a:pt x="15392" y="57150"/>
                      </a:cubicBezTo>
                    </a:path>
                  </a:pathLst>
                </a:custGeom>
                <a:noFill/>
                <a:ln w="12700">
                  <a:solidFill>
                    <a:srgbClr val="4E0D00"/>
                  </a:solidFill>
                </a:ln>
              </p:spPr>
            </p:sp>
            <p:sp>
              <p:nvSpPr>
                <p:cNvPr id="250" name="Freeform 250"/>
                <p:cNvSpPr/>
                <p:nvPr/>
              </p:nvSpPr>
              <p:spPr>
                <a:xfrm>
                  <a:off x="5957570" y="5175250"/>
                  <a:ext cx="29210" cy="9525"/>
                </a:xfrm>
                <a:custGeom>
                  <a:avLst/>
                  <a:gdLst/>
                  <a:ahLst/>
                  <a:cxnLst/>
                  <a:rect l="l" t="t" r="r" b="b"/>
                  <a:pathLst>
                    <a:path w="29210" h="9525">
                      <a:moveTo>
                        <a:pt x="0" y="0"/>
                      </a:moveTo>
                      <a:lnTo>
                        <a:pt x="29210" y="0"/>
                      </a:lnTo>
                    </a:path>
                  </a:pathLst>
                </a:custGeom>
                <a:noFill/>
                <a:ln w="12700">
                  <a:solidFill>
                    <a:srgbClr val="4E0D00"/>
                  </a:solidFill>
                </a:ln>
              </p:spPr>
            </p:sp>
          </p:grpSp>
          <p:sp>
            <p:nvSpPr>
              <p:cNvPr id="252" name="TextBox 252"/>
              <p:cNvSpPr txBox="1"/>
              <p:nvPr/>
            </p:nvSpPr>
            <p:spPr>
              <a:xfrm>
                <a:off x="5684711" y="544068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创新提案采纳率</a:t>
                </a:r>
              </a:p>
            </p:txBody>
          </p:sp>
          <p:sp>
            <p:nvSpPr>
              <p:cNvPr id="253" name="TextBox 253"/>
              <p:cNvSpPr txBox="1"/>
              <p:nvPr/>
            </p:nvSpPr>
            <p:spPr>
              <a:xfrm>
                <a:off x="5788805" y="5950268"/>
                <a:ext cx="366740" cy="264033"/>
              </a:xfrm>
              <a:prstGeom prst="rect">
                <a:avLst/>
              </a:prstGeom>
              <a:noFill/>
              <a:ln>
                <a:noFill/>
              </a:ln>
            </p:spPr>
            <p:txBody>
              <a:bodyPr wrap="none" lIns="0" tIns="0" rIns="0" bIns="0" anchor="t" anchorCtr="0">
                <a:spAutoFit/>
              </a:bodyPr>
              <a:lstStyle/>
              <a:p>
                <a:pPr algn="ctr"/>
                <a:r>
                  <a:rPr lang="zh-CN" sz="1350" b="1" dirty="0">
                    <a:solidFill>
                      <a:srgbClr val="4E0D00"/>
                    </a:solidFill>
                    <a:latin typeface="+mn-lt"/>
                    <a:ea typeface="+mn-ea"/>
                    <a:cs typeface="+mn-cs"/>
                  </a:rPr>
                  <a:t>28%</a:t>
                </a:r>
              </a:p>
            </p:txBody>
          </p:sp>
        </p:grpSp>
        <p:grpSp>
          <p:nvGrpSpPr>
            <p:cNvPr id="263" name="lg-retain"/>
            <p:cNvGrpSpPr/>
            <p:nvPr/>
          </p:nvGrpSpPr>
          <p:grpSpPr>
            <a:xfrm>
              <a:off x="6667500" y="4876800"/>
              <a:ext cx="1238250" cy="1524000"/>
              <a:chOff x="6667500" y="4876800"/>
              <a:chExt cx="1238250" cy="1524000"/>
            </a:xfrm>
          </p:grpSpPr>
          <p:sp>
            <p:nvSpPr>
              <p:cNvPr id="255" name="Rectangle 255"/>
              <p:cNvSpPr/>
              <p:nvPr/>
            </p:nvSpPr>
            <p:spPr>
              <a:xfrm>
                <a:off x="6667500" y="4876800"/>
                <a:ext cx="1238250" cy="1524000"/>
              </a:xfrm>
              <a:prstGeom prst="rect">
                <a:avLst/>
              </a:prstGeom>
              <a:solidFill>
                <a:srgbClr val="FFFFFF"/>
              </a:solidFill>
              <a:ln w="9525">
                <a:solidFill>
                  <a:srgbClr val="E2E8F2"/>
                </a:solidFill>
              </a:ln>
            </p:spPr>
          </p:sp>
          <p:sp>
            <p:nvSpPr>
              <p:cNvPr id="256" name="Ellipse 256"/>
              <p:cNvSpPr/>
              <p:nvPr/>
            </p:nvSpPr>
            <p:spPr>
              <a:xfrm>
                <a:off x="7153275" y="5010150"/>
                <a:ext cx="266700" cy="266700"/>
              </a:xfrm>
              <a:prstGeom prst="ellipse">
                <a:avLst/>
              </a:prstGeom>
              <a:solidFill>
                <a:srgbClr val="EFF3FA"/>
              </a:solidFill>
              <a:ln>
                <a:noFill/>
              </a:ln>
            </p:spPr>
          </p:sp>
          <p:grpSp>
            <p:nvGrpSpPr>
              <p:cNvPr id="259" name="Group 259"/>
              <p:cNvGrpSpPr/>
              <p:nvPr/>
            </p:nvGrpSpPr>
            <p:grpSpPr>
              <a:xfrm>
                <a:off x="7220905" y="5086350"/>
                <a:ext cx="124004" cy="114300"/>
                <a:chOff x="7220905" y="5086350"/>
                <a:chExt cx="124004" cy="114300"/>
              </a:xfrm>
            </p:grpSpPr>
            <p:sp>
              <p:nvSpPr>
                <p:cNvPr id="257" name="Freeform 257"/>
                <p:cNvSpPr/>
                <p:nvPr/>
              </p:nvSpPr>
              <p:spPr>
                <a:xfrm>
                  <a:off x="7220905" y="5086350"/>
                  <a:ext cx="124004" cy="113322"/>
                </a:xfrm>
                <a:custGeom>
                  <a:avLst/>
                  <a:gdLst/>
                  <a:ahLst/>
                  <a:cxnLst/>
                  <a:rect l="l" t="t" r="r" b="b"/>
                  <a:pathLst>
                    <a:path w="124004" h="113322">
                      <a:moveTo>
                        <a:pt x="62291" y="113322"/>
                      </a:moveTo>
                      <a:cubicBezTo>
                        <a:pt x="22511" y="100991"/>
                        <a:pt x="0" y="59007"/>
                        <a:pt x="11745" y="19050"/>
                      </a:cubicBezTo>
                      <a:cubicBezTo>
                        <a:pt x="31528" y="19955"/>
                        <a:pt x="50887" y="13123"/>
                        <a:pt x="65720" y="0"/>
                      </a:cubicBezTo>
                      <a:cubicBezTo>
                        <a:pt x="80552" y="13123"/>
                        <a:pt x="99911" y="19955"/>
                        <a:pt x="119695" y="19050"/>
                      </a:cubicBezTo>
                      <a:cubicBezTo>
                        <a:pt x="124004" y="33713"/>
                        <a:pt x="123805" y="49333"/>
                        <a:pt x="119123" y="63881"/>
                      </a:cubicBezTo>
                    </a:path>
                  </a:pathLst>
                </a:custGeom>
                <a:noFill/>
                <a:ln w="12700">
                  <a:solidFill>
                    <a:srgbClr val="4E0D00"/>
                  </a:solidFill>
                </a:ln>
              </p:spPr>
            </p:sp>
            <p:sp>
              <p:nvSpPr>
                <p:cNvPr id="258" name="Freeform 258"/>
                <p:cNvSpPr/>
                <p:nvPr/>
              </p:nvSpPr>
              <p:spPr>
                <a:xfrm>
                  <a:off x="7305675" y="5175250"/>
                  <a:ext cx="38100" cy="25400"/>
                </a:xfrm>
                <a:custGeom>
                  <a:avLst/>
                  <a:gdLst/>
                  <a:ahLst/>
                  <a:cxnLst/>
                  <a:rect l="l" t="t" r="r" b="b"/>
                  <a:pathLst>
                    <a:path w="38100" h="25400">
                      <a:moveTo>
                        <a:pt x="0" y="12700"/>
                      </a:moveTo>
                      <a:lnTo>
                        <a:pt x="12700" y="25400"/>
                      </a:lnTo>
                      <a:lnTo>
                        <a:pt x="38100" y="0"/>
                      </a:lnTo>
                    </a:path>
                  </a:pathLst>
                </a:custGeom>
                <a:noFill/>
                <a:ln w="12700">
                  <a:solidFill>
                    <a:srgbClr val="4E0D00"/>
                  </a:solidFill>
                </a:ln>
              </p:spPr>
            </p:sp>
          </p:grpSp>
          <p:sp>
            <p:nvSpPr>
              <p:cNvPr id="260" name="TextBox 260"/>
              <p:cNvSpPr txBox="1"/>
              <p:nvPr/>
            </p:nvSpPr>
            <p:spPr>
              <a:xfrm>
                <a:off x="7120318" y="5383530"/>
                <a:ext cx="33261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人才保留</a:t>
                </a:r>
              </a:p>
            </p:txBody>
          </p:sp>
          <p:sp>
            <p:nvSpPr>
              <p:cNvPr id="261" name="TextBox 261"/>
              <p:cNvSpPr txBox="1"/>
              <p:nvPr/>
            </p:nvSpPr>
            <p:spPr>
              <a:xfrm>
                <a:off x="6999161" y="5516880"/>
                <a:ext cx="574929"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关键岗位保留率</a:t>
                </a:r>
              </a:p>
            </p:txBody>
          </p:sp>
          <p:sp>
            <p:nvSpPr>
              <p:cNvPr id="262" name="TextBox 262"/>
              <p:cNvSpPr txBox="1"/>
              <p:nvPr/>
            </p:nvSpPr>
            <p:spPr>
              <a:xfrm>
                <a:off x="7103255" y="5950268"/>
                <a:ext cx="366740" cy="264033"/>
              </a:xfrm>
              <a:prstGeom prst="rect">
                <a:avLst/>
              </a:prstGeom>
              <a:noFill/>
              <a:ln>
                <a:noFill/>
              </a:ln>
            </p:spPr>
            <p:txBody>
              <a:bodyPr wrap="none" lIns="0" tIns="0" rIns="0" bIns="0" anchor="t" anchorCtr="0">
                <a:spAutoFit/>
              </a:bodyPr>
              <a:lstStyle/>
              <a:p>
                <a:pPr algn="ctr"/>
                <a:r>
                  <a:rPr lang="zh-CN" sz="1350" b="1" dirty="0">
                    <a:solidFill>
                      <a:srgbClr val="4E0D00"/>
                    </a:solidFill>
                    <a:latin typeface="+mn-lt"/>
                    <a:ea typeface="+mn-ea"/>
                    <a:cs typeface="+mn-cs"/>
                  </a:rPr>
                  <a:t>85%</a:t>
                </a:r>
              </a:p>
            </p:txBody>
          </p:sp>
        </p:grpSp>
        <p:sp>
          <p:nvSpPr>
            <p:cNvPr id="264" name="Line 264"/>
            <p:cNvSpPr/>
            <p:nvPr/>
          </p:nvSpPr>
          <p:spPr>
            <a:xfrm>
              <a:off x="8039100" y="5524500"/>
              <a:ext cx="171450" cy="1"/>
            </a:xfrm>
            <a:prstGeom prst="line">
              <a:avLst/>
            </a:prstGeom>
            <a:noFill/>
            <a:ln w="23812">
              <a:solidFill>
                <a:srgbClr val="944130"/>
              </a:solidFill>
              <a:tailEnd type="triangle" w="lg" len="lg"/>
            </a:ln>
          </p:spPr>
        </p:sp>
        <p:sp>
          <p:nvSpPr>
            <p:cNvPr id="265" name="Rectangle 265"/>
            <p:cNvSpPr/>
            <p:nvPr/>
          </p:nvSpPr>
          <p:spPr>
            <a:xfrm>
              <a:off x="8305800" y="4572000"/>
              <a:ext cx="3657600" cy="1905000"/>
            </a:xfrm>
            <a:prstGeom prst="rect">
              <a:avLst/>
            </a:prstGeom>
            <a:solidFill>
              <a:srgbClr val="FBFCFE"/>
            </a:solidFill>
            <a:ln w="9525">
              <a:solidFill>
                <a:srgbClr val="C7D2E4"/>
              </a:solidFill>
            </a:ln>
          </p:spPr>
        </p:sp>
        <p:sp>
          <p:nvSpPr>
            <p:cNvPr id="266" name="Rectangle 266"/>
            <p:cNvSpPr/>
            <p:nvPr/>
          </p:nvSpPr>
          <p:spPr>
            <a:xfrm>
              <a:off x="8305800" y="4572000"/>
              <a:ext cx="3657600" cy="228600"/>
            </a:xfrm>
            <a:prstGeom prst="rect">
              <a:avLst/>
            </a:prstGeom>
            <a:solidFill>
              <a:srgbClr val="A04431"/>
            </a:solidFill>
            <a:ln>
              <a:noFill/>
            </a:ln>
          </p:spPr>
        </p:sp>
        <p:sp>
          <p:nvSpPr>
            <p:cNvPr id="267" name="TextBox 267"/>
            <p:cNvSpPr txBox="1"/>
            <p:nvPr/>
          </p:nvSpPr>
          <p:spPr>
            <a:xfrm>
              <a:off x="8415338" y="4652962"/>
              <a:ext cx="2126313" cy="147638"/>
            </a:xfrm>
            <a:prstGeom prst="rect">
              <a:avLst/>
            </a:prstGeom>
            <a:noFill/>
            <a:ln>
              <a:noFill/>
            </a:ln>
          </p:spPr>
          <p:txBody>
            <a:bodyPr wrap="none" lIns="0" tIns="0" rIns="0" bIns="0" anchor="t" anchorCtr="0">
              <a:spAutoFit/>
            </a:bodyPr>
            <a:lstStyle/>
            <a:p>
              <a:pPr algn="l"/>
              <a:r>
                <a:rPr lang="zh-CN" sz="750" b="1" dirty="0">
                  <a:solidFill>
                    <a:srgbClr val="FFFFFF"/>
                  </a:solidFill>
                  <a:latin typeface="+mn-lt"/>
                  <a:ea typeface="+mn-ea"/>
                  <a:cs typeface="+mn-cs"/>
                </a:rPr>
                <a:t>滞后指标（Lagging）——反映已实现的经营结果</a:t>
              </a:r>
            </a:p>
          </p:txBody>
        </p:sp>
        <p:grpSp>
          <p:nvGrpSpPr>
            <p:cNvPr id="277" name="lag-rev"/>
            <p:cNvGrpSpPr/>
            <p:nvPr/>
          </p:nvGrpSpPr>
          <p:grpSpPr>
            <a:xfrm>
              <a:off x="8382000" y="4876800"/>
              <a:ext cx="819150" cy="1524000"/>
              <a:chOff x="8382000" y="4876800"/>
              <a:chExt cx="819150" cy="1524000"/>
            </a:xfrm>
          </p:grpSpPr>
          <p:sp>
            <p:nvSpPr>
              <p:cNvPr id="268" name="Rectangle 268"/>
              <p:cNvSpPr/>
              <p:nvPr/>
            </p:nvSpPr>
            <p:spPr>
              <a:xfrm>
                <a:off x="8382000" y="4876800"/>
                <a:ext cx="819150" cy="1524000"/>
              </a:xfrm>
              <a:prstGeom prst="rect">
                <a:avLst/>
              </a:prstGeom>
              <a:solidFill>
                <a:srgbClr val="FFFFFF"/>
              </a:solidFill>
              <a:ln w="9525">
                <a:solidFill>
                  <a:srgbClr val="E2E8F2"/>
                </a:solidFill>
              </a:ln>
            </p:spPr>
          </p:sp>
          <p:sp>
            <p:nvSpPr>
              <p:cNvPr id="269" name="Ellipse 269"/>
              <p:cNvSpPr/>
              <p:nvPr/>
            </p:nvSpPr>
            <p:spPr>
              <a:xfrm>
                <a:off x="8667750" y="5019675"/>
                <a:ext cx="247650" cy="247650"/>
              </a:xfrm>
              <a:prstGeom prst="ellipse">
                <a:avLst/>
              </a:prstGeom>
              <a:solidFill>
                <a:srgbClr val="EFF3FA"/>
              </a:solidFill>
              <a:ln>
                <a:noFill/>
              </a:ln>
            </p:spPr>
          </p:sp>
          <p:grpSp>
            <p:nvGrpSpPr>
              <p:cNvPr id="273" name="Group 273"/>
              <p:cNvGrpSpPr/>
              <p:nvPr/>
            </p:nvGrpSpPr>
            <p:grpSpPr>
              <a:xfrm>
                <a:off x="8741569" y="5104606"/>
                <a:ext cx="100012" cy="77787"/>
                <a:chOff x="8741569" y="5104606"/>
                <a:chExt cx="100012" cy="77787"/>
              </a:xfrm>
            </p:grpSpPr>
            <p:sp>
              <p:nvSpPr>
                <p:cNvPr id="270" name="Freeform 270"/>
                <p:cNvSpPr/>
                <p:nvPr/>
              </p:nvSpPr>
              <p:spPr>
                <a:xfrm>
                  <a:off x="8741569" y="5104606"/>
                  <a:ext cx="77787" cy="55562"/>
                </a:xfrm>
                <a:custGeom>
                  <a:avLst/>
                  <a:gdLst/>
                  <a:ahLst/>
                  <a:cxnLst/>
                  <a:rect l="l" t="t" r="r" b="b"/>
                  <a:pathLst>
                    <a:path w="77787" h="55562">
                      <a:moveTo>
                        <a:pt x="22225" y="55562"/>
                      </a:moveTo>
                      <a:lnTo>
                        <a:pt x="5556" y="55562"/>
                      </a:lnTo>
                      <a:cubicBezTo>
                        <a:pt x="2488" y="55562"/>
                        <a:pt x="0" y="53075"/>
                        <a:pt x="0" y="50006"/>
                      </a:cubicBezTo>
                      <a:lnTo>
                        <a:pt x="0" y="5556"/>
                      </a:lnTo>
                      <a:cubicBezTo>
                        <a:pt x="0" y="2488"/>
                        <a:pt x="2488" y="0"/>
                        <a:pt x="5556" y="0"/>
                      </a:cubicBezTo>
                      <a:lnTo>
                        <a:pt x="72231" y="0"/>
                      </a:lnTo>
                      <a:cubicBezTo>
                        <a:pt x="75300" y="0"/>
                        <a:pt x="77787" y="2488"/>
                        <a:pt x="77787" y="5556"/>
                      </a:cubicBezTo>
                      <a:lnTo>
                        <a:pt x="77787" y="22225"/>
                      </a:lnTo>
                    </a:path>
                  </a:pathLst>
                </a:custGeom>
                <a:noFill/>
                <a:ln w="11112">
                  <a:solidFill>
                    <a:srgbClr val="4E0D00"/>
                  </a:solidFill>
                </a:ln>
              </p:spPr>
            </p:sp>
            <p:sp>
              <p:nvSpPr>
                <p:cNvPr id="271" name="Freeform 271"/>
                <p:cNvSpPr/>
                <p:nvPr/>
              </p:nvSpPr>
              <p:spPr>
                <a:xfrm>
                  <a:off x="8763794" y="5126831"/>
                  <a:ext cx="77787" cy="55562"/>
                </a:xfrm>
                <a:custGeom>
                  <a:avLst/>
                  <a:gdLst/>
                  <a:ahLst/>
                  <a:cxnLst/>
                  <a:rect l="l" t="t" r="r" b="b"/>
                  <a:pathLst>
                    <a:path w="77787" h="55562">
                      <a:moveTo>
                        <a:pt x="0" y="5556"/>
                      </a:moveTo>
                      <a:cubicBezTo>
                        <a:pt x="0" y="2488"/>
                        <a:pt x="2488" y="0"/>
                        <a:pt x="5556" y="0"/>
                      </a:cubicBezTo>
                      <a:lnTo>
                        <a:pt x="72231" y="0"/>
                      </a:lnTo>
                      <a:cubicBezTo>
                        <a:pt x="75300" y="0"/>
                        <a:pt x="77787" y="2488"/>
                        <a:pt x="77787" y="5556"/>
                      </a:cubicBezTo>
                      <a:lnTo>
                        <a:pt x="77787" y="50006"/>
                      </a:lnTo>
                      <a:cubicBezTo>
                        <a:pt x="77787" y="53075"/>
                        <a:pt x="75300" y="55562"/>
                        <a:pt x="72231" y="55562"/>
                      </a:cubicBezTo>
                      <a:lnTo>
                        <a:pt x="5556" y="55562"/>
                      </a:lnTo>
                      <a:cubicBezTo>
                        <a:pt x="2488" y="55562"/>
                        <a:pt x="0" y="53075"/>
                        <a:pt x="0" y="50006"/>
                      </a:cubicBezTo>
                      <a:lnTo>
                        <a:pt x="0" y="5556"/>
                      </a:lnTo>
                    </a:path>
                  </a:pathLst>
                </a:custGeom>
                <a:noFill/>
                <a:ln w="11112">
                  <a:solidFill>
                    <a:srgbClr val="4E0D00"/>
                  </a:solidFill>
                </a:ln>
              </p:spPr>
            </p:sp>
            <p:sp>
              <p:nvSpPr>
                <p:cNvPr id="272" name="Freeform 272"/>
                <p:cNvSpPr/>
                <p:nvPr/>
              </p:nvSpPr>
              <p:spPr>
                <a:xfrm>
                  <a:off x="8791575" y="5143500"/>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4E0D00"/>
                  </a:solidFill>
                </a:ln>
              </p:spPr>
            </p:sp>
          </p:grpSp>
          <p:sp>
            <p:nvSpPr>
              <p:cNvPr id="274" name="TextBox 274"/>
              <p:cNvSpPr txBox="1"/>
              <p:nvPr/>
            </p:nvSpPr>
            <p:spPr>
              <a:xfrm>
                <a:off x="8625268" y="5383530"/>
                <a:ext cx="33261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营业收入</a:t>
                </a:r>
              </a:p>
            </p:txBody>
          </p:sp>
          <p:sp>
            <p:nvSpPr>
              <p:cNvPr id="275" name="TextBox 275"/>
              <p:cNvSpPr txBox="1"/>
              <p:nvPr/>
            </p:nvSpPr>
            <p:spPr>
              <a:xfrm>
                <a:off x="8625268" y="5516880"/>
                <a:ext cx="332613"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同比增长</a:t>
                </a:r>
              </a:p>
            </p:txBody>
          </p:sp>
          <p:sp>
            <p:nvSpPr>
              <p:cNvPr id="276" name="TextBox 276"/>
              <p:cNvSpPr txBox="1"/>
              <p:nvPr/>
            </p:nvSpPr>
            <p:spPr>
              <a:xfrm>
                <a:off x="8617738" y="5958364"/>
                <a:ext cx="347673" cy="249364"/>
              </a:xfrm>
              <a:prstGeom prst="rect">
                <a:avLst/>
              </a:prstGeom>
              <a:noFill/>
              <a:ln>
                <a:noFill/>
              </a:ln>
            </p:spPr>
            <p:txBody>
              <a:bodyPr wrap="none" lIns="0" tIns="0" rIns="0" bIns="0" anchor="t" anchorCtr="0">
                <a:spAutoFit/>
              </a:bodyPr>
              <a:lstStyle/>
              <a:p>
                <a:pPr algn="ctr"/>
                <a:r>
                  <a:rPr lang="zh-CN" sz="1280" b="1" dirty="0">
                    <a:solidFill>
                      <a:srgbClr val="4E0D00"/>
                    </a:solidFill>
                    <a:latin typeface="+mn-lt"/>
                    <a:ea typeface="+mn-ea"/>
                    <a:cs typeface="+mn-cs"/>
                  </a:rPr>
                  <a:t>12%</a:t>
                </a:r>
              </a:p>
            </p:txBody>
          </p:sp>
        </p:grpSp>
        <p:grpSp>
          <p:nvGrpSpPr>
            <p:cNvPr id="285" name="lag-ebit"/>
            <p:cNvGrpSpPr/>
            <p:nvPr/>
          </p:nvGrpSpPr>
          <p:grpSpPr>
            <a:xfrm>
              <a:off x="9277350" y="4876800"/>
              <a:ext cx="819150" cy="1524000"/>
              <a:chOff x="9277350" y="4876800"/>
              <a:chExt cx="819150" cy="1524000"/>
            </a:xfrm>
          </p:grpSpPr>
          <p:sp>
            <p:nvSpPr>
              <p:cNvPr id="278" name="Rectangle 278"/>
              <p:cNvSpPr/>
              <p:nvPr/>
            </p:nvSpPr>
            <p:spPr>
              <a:xfrm>
                <a:off x="9277350" y="4876800"/>
                <a:ext cx="819150" cy="1524000"/>
              </a:xfrm>
              <a:prstGeom prst="rect">
                <a:avLst/>
              </a:prstGeom>
              <a:solidFill>
                <a:srgbClr val="FFFFFF"/>
              </a:solidFill>
              <a:ln w="9525">
                <a:solidFill>
                  <a:srgbClr val="E2E8F2"/>
                </a:solidFill>
              </a:ln>
            </p:spPr>
          </p:sp>
          <p:sp>
            <p:nvSpPr>
              <p:cNvPr id="279" name="Ellipse 279"/>
              <p:cNvSpPr/>
              <p:nvPr/>
            </p:nvSpPr>
            <p:spPr>
              <a:xfrm>
                <a:off x="9563100" y="5019675"/>
                <a:ext cx="247650" cy="247650"/>
              </a:xfrm>
              <a:prstGeom prst="ellipse">
                <a:avLst/>
              </a:prstGeom>
              <a:solidFill>
                <a:srgbClr val="EFF3FA"/>
              </a:solidFill>
              <a:ln>
                <a:noFill/>
              </a:ln>
            </p:spPr>
          </p:sp>
          <p:grpSp>
            <p:nvGrpSpPr>
              <p:cNvPr id="282" name="Group 282"/>
              <p:cNvGrpSpPr/>
              <p:nvPr/>
            </p:nvGrpSpPr>
            <p:grpSpPr>
              <a:xfrm>
                <a:off x="9635370" y="5094449"/>
                <a:ext cx="100450" cy="100606"/>
                <a:chOff x="9635370" y="5094449"/>
                <a:chExt cx="100450" cy="100606"/>
              </a:xfrm>
            </p:grpSpPr>
            <p:sp>
              <p:nvSpPr>
                <p:cNvPr id="280" name="Freeform 280"/>
                <p:cNvSpPr/>
                <p:nvPr/>
              </p:nvSpPr>
              <p:spPr>
                <a:xfrm>
                  <a:off x="9635370" y="5094449"/>
                  <a:ext cx="100450" cy="100606"/>
                </a:xfrm>
                <a:custGeom>
                  <a:avLst/>
                  <a:gdLst/>
                  <a:ahLst/>
                  <a:cxnLst/>
                  <a:rect l="l" t="t" r="r" b="b"/>
                  <a:pathLst>
                    <a:path w="100450" h="100606">
                      <a:moveTo>
                        <a:pt x="40442" y="156"/>
                      </a:moveTo>
                      <a:cubicBezTo>
                        <a:pt x="16384" y="5733"/>
                        <a:pt x="0" y="28038"/>
                        <a:pt x="1873" y="52664"/>
                      </a:cubicBezTo>
                      <a:cubicBezTo>
                        <a:pt x="3747" y="77289"/>
                        <a:pt x="23317" y="96859"/>
                        <a:pt x="47942" y="98732"/>
                      </a:cubicBezTo>
                      <a:cubicBezTo>
                        <a:pt x="72567" y="100606"/>
                        <a:pt x="94873" y="84222"/>
                        <a:pt x="100450" y="60163"/>
                      </a:cubicBezTo>
                      <a:cubicBezTo>
                        <a:pt x="100450" y="57095"/>
                        <a:pt x="97962" y="54607"/>
                        <a:pt x="94894" y="54607"/>
                      </a:cubicBezTo>
                      <a:lnTo>
                        <a:pt x="57111" y="54607"/>
                      </a:lnTo>
                      <a:cubicBezTo>
                        <a:pt x="50974" y="54607"/>
                        <a:pt x="45999" y="49632"/>
                        <a:pt x="45999" y="43495"/>
                      </a:cubicBezTo>
                      <a:lnTo>
                        <a:pt x="45999" y="4601"/>
                      </a:lnTo>
                      <a:cubicBezTo>
                        <a:pt x="45859" y="3271"/>
                        <a:pt x="45193" y="2053"/>
                        <a:pt x="44149" y="1218"/>
                      </a:cubicBezTo>
                      <a:cubicBezTo>
                        <a:pt x="43105" y="382"/>
                        <a:pt x="41770" y="0"/>
                        <a:pt x="40442" y="156"/>
                      </a:cubicBezTo>
                    </a:path>
                  </a:pathLst>
                </a:custGeom>
                <a:noFill/>
                <a:ln w="11112">
                  <a:solidFill>
                    <a:srgbClr val="4E0D00"/>
                  </a:solidFill>
                </a:ln>
              </p:spPr>
            </p:sp>
            <p:sp>
              <p:nvSpPr>
                <p:cNvPr id="281" name="Freeform 281"/>
                <p:cNvSpPr/>
                <p:nvPr/>
              </p:nvSpPr>
              <p:spPr>
                <a:xfrm>
                  <a:off x="9703594" y="5096272"/>
                  <a:ext cx="30559" cy="30559"/>
                </a:xfrm>
                <a:custGeom>
                  <a:avLst/>
                  <a:gdLst/>
                  <a:ahLst/>
                  <a:cxnLst/>
                  <a:rect l="l" t="t" r="r" b="b"/>
                  <a:pathLst>
                    <a:path w="30559" h="30559">
                      <a:moveTo>
                        <a:pt x="0" y="0"/>
                      </a:moveTo>
                      <a:cubicBezTo>
                        <a:pt x="14290" y="5032"/>
                        <a:pt x="25528" y="16270"/>
                        <a:pt x="30559" y="30559"/>
                      </a:cubicBezTo>
                      <a:lnTo>
                        <a:pt x="5556" y="30559"/>
                      </a:lnTo>
                      <a:cubicBezTo>
                        <a:pt x="2488" y="30559"/>
                        <a:pt x="0" y="28072"/>
                        <a:pt x="0" y="25003"/>
                      </a:cubicBezTo>
                      <a:lnTo>
                        <a:pt x="0" y="0"/>
                      </a:lnTo>
                    </a:path>
                  </a:pathLst>
                </a:custGeom>
                <a:noFill/>
                <a:ln w="11112">
                  <a:solidFill>
                    <a:srgbClr val="4E0D00"/>
                  </a:solidFill>
                </a:ln>
              </p:spPr>
            </p:sp>
          </p:grpSp>
          <p:sp>
            <p:nvSpPr>
              <p:cNvPr id="283" name="TextBox 283"/>
              <p:cNvSpPr txBox="1"/>
              <p:nvPr/>
            </p:nvSpPr>
            <p:spPr>
              <a:xfrm>
                <a:off x="9455582" y="5383530"/>
                <a:ext cx="462686"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EBIT利润率​</a:t>
                </a:r>
              </a:p>
            </p:txBody>
          </p:sp>
          <p:sp>
            <p:nvSpPr>
              <p:cNvPr id="284" name="TextBox 284"/>
              <p:cNvSpPr txBox="1"/>
              <p:nvPr/>
            </p:nvSpPr>
            <p:spPr>
              <a:xfrm>
                <a:off x="9413577" y="5958364"/>
                <a:ext cx="546695" cy="249364"/>
              </a:xfrm>
              <a:prstGeom prst="rect">
                <a:avLst/>
              </a:prstGeom>
              <a:noFill/>
              <a:ln>
                <a:noFill/>
              </a:ln>
            </p:spPr>
            <p:txBody>
              <a:bodyPr wrap="none" lIns="0" tIns="0" rIns="0" bIns="0" anchor="t" anchorCtr="0">
                <a:spAutoFit/>
              </a:bodyPr>
              <a:lstStyle/>
              <a:p>
                <a:pPr algn="ctr"/>
                <a:r>
                  <a:rPr lang="zh-CN" sz="1280" b="1" dirty="0">
                    <a:solidFill>
                      <a:srgbClr val="4E0D00"/>
                    </a:solidFill>
                    <a:latin typeface="+mn-lt"/>
                    <a:ea typeface="+mn-ea"/>
                    <a:cs typeface="+mn-cs"/>
                  </a:rPr>
                  <a:t>13.6%</a:t>
                </a:r>
              </a:p>
            </p:txBody>
          </p:sp>
        </p:grpSp>
        <p:grpSp>
          <p:nvGrpSpPr>
            <p:cNvPr id="296" name="lag-roic"/>
            <p:cNvGrpSpPr/>
            <p:nvPr/>
          </p:nvGrpSpPr>
          <p:grpSpPr>
            <a:xfrm>
              <a:off x="10172700" y="4876800"/>
              <a:ext cx="819150" cy="1524000"/>
              <a:chOff x="10172700" y="4876800"/>
              <a:chExt cx="819150" cy="1524000"/>
            </a:xfrm>
          </p:grpSpPr>
          <p:sp>
            <p:nvSpPr>
              <p:cNvPr id="286" name="Rectangle 286"/>
              <p:cNvSpPr/>
              <p:nvPr/>
            </p:nvSpPr>
            <p:spPr>
              <a:xfrm>
                <a:off x="10172700" y="4876800"/>
                <a:ext cx="819150" cy="1524000"/>
              </a:xfrm>
              <a:prstGeom prst="rect">
                <a:avLst/>
              </a:prstGeom>
              <a:solidFill>
                <a:srgbClr val="FFFFFF"/>
              </a:solidFill>
              <a:ln w="9525">
                <a:solidFill>
                  <a:srgbClr val="E2E8F2"/>
                </a:solidFill>
              </a:ln>
            </p:spPr>
          </p:sp>
          <p:sp>
            <p:nvSpPr>
              <p:cNvPr id="287" name="Ellipse 287"/>
              <p:cNvSpPr/>
              <p:nvPr/>
            </p:nvSpPr>
            <p:spPr>
              <a:xfrm>
                <a:off x="10458450" y="5019675"/>
                <a:ext cx="247650" cy="247650"/>
              </a:xfrm>
              <a:prstGeom prst="ellipse">
                <a:avLst/>
              </a:prstGeom>
              <a:solidFill>
                <a:srgbClr val="EFF3FA"/>
              </a:solidFill>
              <a:ln>
                <a:noFill/>
              </a:ln>
            </p:spPr>
          </p:sp>
          <p:grpSp>
            <p:nvGrpSpPr>
              <p:cNvPr id="293" name="Group 293"/>
              <p:cNvGrpSpPr/>
              <p:nvPr/>
            </p:nvGrpSpPr>
            <p:grpSpPr>
              <a:xfrm>
                <a:off x="10532269" y="5092749"/>
                <a:ext cx="100012" cy="100757"/>
                <a:chOff x="10532269" y="5092749"/>
                <a:chExt cx="100012" cy="100757"/>
              </a:xfrm>
            </p:grpSpPr>
            <p:sp>
              <p:nvSpPr>
                <p:cNvPr id="288" name="Freeform 288"/>
                <p:cNvSpPr/>
                <p:nvPr/>
              </p:nvSpPr>
              <p:spPr>
                <a:xfrm>
                  <a:off x="10565606" y="5137944"/>
                  <a:ext cx="66675" cy="33337"/>
                </a:xfrm>
                <a:custGeom>
                  <a:avLst/>
                  <a:gdLst/>
                  <a:ahLst/>
                  <a:cxnLst/>
                  <a:rect l="l" t="t" r="r" b="b"/>
                  <a:pathLst>
                    <a:path w="66675" h="33337">
                      <a:moveTo>
                        <a:pt x="0" y="16669"/>
                      </a:moveTo>
                      <a:cubicBezTo>
                        <a:pt x="0" y="25875"/>
                        <a:pt x="14924" y="33337"/>
                        <a:pt x="33337" y="33337"/>
                      </a:cubicBezTo>
                      <a:cubicBezTo>
                        <a:pt x="51751" y="33337"/>
                        <a:pt x="66675" y="25875"/>
                        <a:pt x="66675" y="16669"/>
                      </a:cubicBezTo>
                      <a:cubicBezTo>
                        <a:pt x="66675" y="7462"/>
                        <a:pt x="51751" y="0"/>
                        <a:pt x="33337" y="0"/>
                      </a:cubicBezTo>
                      <a:cubicBezTo>
                        <a:pt x="14924" y="0"/>
                        <a:pt x="0" y="7462"/>
                        <a:pt x="0" y="16669"/>
                      </a:cubicBezTo>
                    </a:path>
                  </a:pathLst>
                </a:custGeom>
                <a:noFill/>
                <a:ln w="11112">
                  <a:solidFill>
                    <a:srgbClr val="4E0D00"/>
                  </a:solidFill>
                </a:ln>
              </p:spPr>
            </p:sp>
            <p:sp>
              <p:nvSpPr>
                <p:cNvPr id="289" name="Freeform 289"/>
                <p:cNvSpPr/>
                <p:nvPr/>
              </p:nvSpPr>
              <p:spPr>
                <a:xfrm>
                  <a:off x="10565606" y="5154612"/>
                  <a:ext cx="66675" cy="38894"/>
                </a:xfrm>
                <a:custGeom>
                  <a:avLst/>
                  <a:gdLst/>
                  <a:ahLst/>
                  <a:cxnLst/>
                  <a:rect l="l" t="t" r="r" b="b"/>
                  <a:pathLst>
                    <a:path w="66675" h="38894">
                      <a:moveTo>
                        <a:pt x="0" y="0"/>
                      </a:moveTo>
                      <a:lnTo>
                        <a:pt x="0" y="22225"/>
                      </a:lnTo>
                      <a:cubicBezTo>
                        <a:pt x="0" y="31426"/>
                        <a:pt x="14924" y="38894"/>
                        <a:pt x="33337" y="38894"/>
                      </a:cubicBezTo>
                      <a:cubicBezTo>
                        <a:pt x="51751" y="38894"/>
                        <a:pt x="66675" y="31426"/>
                        <a:pt x="66675" y="22225"/>
                      </a:cubicBezTo>
                      <a:lnTo>
                        <a:pt x="66675" y="0"/>
                      </a:lnTo>
                    </a:path>
                  </a:pathLst>
                </a:custGeom>
                <a:noFill/>
                <a:ln w="11112">
                  <a:solidFill>
                    <a:srgbClr val="4E0D00"/>
                  </a:solidFill>
                </a:ln>
              </p:spPr>
            </p:sp>
            <p:sp>
              <p:nvSpPr>
                <p:cNvPr id="290" name="Freeform 290"/>
                <p:cNvSpPr/>
                <p:nvPr/>
              </p:nvSpPr>
              <p:spPr>
                <a:xfrm>
                  <a:off x="10532269" y="5092749"/>
                  <a:ext cx="66675" cy="34827"/>
                </a:xfrm>
                <a:custGeom>
                  <a:avLst/>
                  <a:gdLst/>
                  <a:ahLst/>
                  <a:cxnLst/>
                  <a:rect l="l" t="t" r="r" b="b"/>
                  <a:pathLst>
                    <a:path w="66675" h="34827">
                      <a:moveTo>
                        <a:pt x="0" y="17413"/>
                      </a:moveTo>
                      <a:cubicBezTo>
                        <a:pt x="0" y="23370"/>
                        <a:pt x="6356" y="28870"/>
                        <a:pt x="16669" y="31848"/>
                      </a:cubicBezTo>
                      <a:cubicBezTo>
                        <a:pt x="26981" y="34827"/>
                        <a:pt x="39694" y="34827"/>
                        <a:pt x="50006" y="31848"/>
                      </a:cubicBezTo>
                      <a:cubicBezTo>
                        <a:pt x="60319" y="28870"/>
                        <a:pt x="66675" y="23370"/>
                        <a:pt x="66675" y="17413"/>
                      </a:cubicBezTo>
                      <a:cubicBezTo>
                        <a:pt x="66675" y="11457"/>
                        <a:pt x="60319" y="5956"/>
                        <a:pt x="50006" y="2978"/>
                      </a:cubicBezTo>
                      <a:cubicBezTo>
                        <a:pt x="39694" y="0"/>
                        <a:pt x="26981" y="0"/>
                        <a:pt x="16669" y="2978"/>
                      </a:cubicBezTo>
                      <a:cubicBezTo>
                        <a:pt x="6356" y="5956"/>
                        <a:pt x="0" y="11457"/>
                        <a:pt x="0" y="17413"/>
                      </a:cubicBezTo>
                    </a:path>
                  </a:pathLst>
                </a:custGeom>
                <a:noFill/>
                <a:ln w="11112">
                  <a:solidFill>
                    <a:srgbClr val="4E0D00"/>
                  </a:solidFill>
                </a:ln>
              </p:spPr>
            </p:sp>
            <p:sp>
              <p:nvSpPr>
                <p:cNvPr id="291" name="Freeform 291"/>
                <p:cNvSpPr/>
                <p:nvPr/>
              </p:nvSpPr>
              <p:spPr>
                <a:xfrm>
                  <a:off x="10532269" y="5110162"/>
                  <a:ext cx="11112" cy="66675"/>
                </a:xfrm>
                <a:custGeom>
                  <a:avLst/>
                  <a:gdLst/>
                  <a:ahLst/>
                  <a:cxnLst/>
                  <a:rect l="l" t="t" r="r" b="b"/>
                  <a:pathLst>
                    <a:path w="11112" h="66675">
                      <a:moveTo>
                        <a:pt x="0" y="0"/>
                      </a:moveTo>
                      <a:lnTo>
                        <a:pt x="0" y="55562"/>
                      </a:lnTo>
                      <a:cubicBezTo>
                        <a:pt x="0" y="60496"/>
                        <a:pt x="4289" y="63619"/>
                        <a:pt x="11112" y="66675"/>
                      </a:cubicBezTo>
                    </a:path>
                  </a:pathLst>
                </a:custGeom>
                <a:noFill/>
                <a:ln w="11112">
                  <a:solidFill>
                    <a:srgbClr val="4E0D00"/>
                  </a:solidFill>
                </a:ln>
              </p:spPr>
            </p:sp>
            <p:sp>
              <p:nvSpPr>
                <p:cNvPr id="292" name="Freeform 292"/>
                <p:cNvSpPr/>
                <p:nvPr/>
              </p:nvSpPr>
              <p:spPr>
                <a:xfrm>
                  <a:off x="10532269" y="5137944"/>
                  <a:ext cx="11112" cy="11112"/>
                </a:xfrm>
                <a:custGeom>
                  <a:avLst/>
                  <a:gdLst/>
                  <a:ahLst/>
                  <a:cxnLst/>
                  <a:rect l="l" t="t" r="r" b="b"/>
                  <a:pathLst>
                    <a:path w="11112" h="11112">
                      <a:moveTo>
                        <a:pt x="0" y="0"/>
                      </a:moveTo>
                      <a:cubicBezTo>
                        <a:pt x="0" y="4934"/>
                        <a:pt x="4289" y="8057"/>
                        <a:pt x="11112" y="11112"/>
                      </a:cubicBezTo>
                    </a:path>
                  </a:pathLst>
                </a:custGeom>
                <a:noFill/>
                <a:ln w="11112">
                  <a:solidFill>
                    <a:srgbClr val="4E0D00"/>
                  </a:solidFill>
                </a:ln>
              </p:spPr>
            </p:sp>
          </p:grpSp>
          <p:sp>
            <p:nvSpPr>
              <p:cNvPr id="294" name="TextBox 294"/>
              <p:cNvSpPr txBox="1"/>
              <p:nvPr/>
            </p:nvSpPr>
            <p:spPr>
              <a:xfrm>
                <a:off x="10462298" y="5383530"/>
                <a:ext cx="239954" cy="119062"/>
              </a:xfrm>
              <a:prstGeom prst="rect">
                <a:avLst/>
              </a:prstGeom>
              <a:noFill/>
              <a:ln>
                <a:noFill/>
              </a:ln>
            </p:spPr>
            <p:txBody>
              <a:bodyPr wrap="none" lIns="0" tIns="0" rIns="0" bIns="0" anchor="t" anchorCtr="0">
                <a:spAutoFit/>
              </a:bodyPr>
              <a:lstStyle/>
              <a:p>
                <a:pPr algn="ctr"/>
                <a:r>
                  <a:rPr lang="en-US" sz="600" dirty="0">
                    <a:solidFill>
                      <a:srgbClr val="453633"/>
                    </a:solidFill>
                    <a:latin typeface="+mn-lt"/>
                    <a:ea typeface="+mn-ea"/>
                    <a:cs typeface="+mn-cs"/>
                  </a:rPr>
                  <a:t>ROIC​</a:t>
                </a:r>
              </a:p>
            </p:txBody>
          </p:sp>
          <p:sp>
            <p:nvSpPr>
              <p:cNvPr id="295" name="TextBox 295"/>
              <p:cNvSpPr txBox="1"/>
              <p:nvPr/>
            </p:nvSpPr>
            <p:spPr>
              <a:xfrm>
                <a:off x="10308927" y="5958364"/>
                <a:ext cx="546695" cy="249364"/>
              </a:xfrm>
              <a:prstGeom prst="rect">
                <a:avLst/>
              </a:prstGeom>
              <a:noFill/>
              <a:ln>
                <a:noFill/>
              </a:ln>
            </p:spPr>
            <p:txBody>
              <a:bodyPr wrap="none" lIns="0" tIns="0" rIns="0" bIns="0" anchor="t" anchorCtr="0">
                <a:spAutoFit/>
              </a:bodyPr>
              <a:lstStyle/>
              <a:p>
                <a:pPr algn="ctr"/>
                <a:r>
                  <a:rPr lang="zh-CN" sz="1280" b="1" dirty="0">
                    <a:solidFill>
                      <a:srgbClr val="4E0D00"/>
                    </a:solidFill>
                    <a:latin typeface="+mn-lt"/>
                    <a:ea typeface="+mn-ea"/>
                    <a:cs typeface="+mn-cs"/>
                  </a:rPr>
                  <a:t>16.2%</a:t>
                </a:r>
              </a:p>
            </p:txBody>
          </p:sp>
        </p:grpSp>
        <p:grpSp>
          <p:nvGrpSpPr>
            <p:cNvPr id="303" name="lag-nps"/>
            <p:cNvGrpSpPr/>
            <p:nvPr/>
          </p:nvGrpSpPr>
          <p:grpSpPr>
            <a:xfrm>
              <a:off x="11068050" y="4876800"/>
              <a:ext cx="819150" cy="1524000"/>
              <a:chOff x="11068050" y="4876800"/>
              <a:chExt cx="819150" cy="1524000"/>
            </a:xfrm>
          </p:grpSpPr>
          <p:sp>
            <p:nvSpPr>
              <p:cNvPr id="297" name="Rectangle 297"/>
              <p:cNvSpPr/>
              <p:nvPr/>
            </p:nvSpPr>
            <p:spPr>
              <a:xfrm>
                <a:off x="11068050" y="4876800"/>
                <a:ext cx="819150" cy="1524000"/>
              </a:xfrm>
              <a:prstGeom prst="rect">
                <a:avLst/>
              </a:prstGeom>
              <a:solidFill>
                <a:srgbClr val="FFFFFF"/>
              </a:solidFill>
              <a:ln w="9525">
                <a:solidFill>
                  <a:srgbClr val="E2E8F2"/>
                </a:solidFill>
              </a:ln>
            </p:spPr>
          </p:sp>
          <p:sp>
            <p:nvSpPr>
              <p:cNvPr id="298" name="Ellipse 298"/>
              <p:cNvSpPr/>
              <p:nvPr/>
            </p:nvSpPr>
            <p:spPr>
              <a:xfrm>
                <a:off x="11353800" y="5019675"/>
                <a:ext cx="247650" cy="247650"/>
              </a:xfrm>
              <a:prstGeom prst="ellipse">
                <a:avLst/>
              </a:prstGeom>
              <a:solidFill>
                <a:srgbClr val="EFF3FA"/>
              </a:solidFill>
              <a:ln>
                <a:noFill/>
              </a:ln>
            </p:spPr>
          </p:sp>
          <p:sp>
            <p:nvSpPr>
              <p:cNvPr id="299" name="Freeform 299"/>
              <p:cNvSpPr/>
              <p:nvPr/>
            </p:nvSpPr>
            <p:spPr>
              <a:xfrm>
                <a:off x="11425695" y="5097625"/>
                <a:ext cx="103760" cy="90325"/>
              </a:xfrm>
              <a:custGeom>
                <a:avLst/>
                <a:gdLst/>
                <a:ahLst/>
                <a:cxnLst/>
                <a:rect l="l" t="t" r="r" b="b"/>
                <a:pathLst>
                  <a:path w="103760" h="90325">
                    <a:moveTo>
                      <a:pt x="93602" y="49054"/>
                    </a:moveTo>
                    <a:lnTo>
                      <a:pt x="51930" y="90325"/>
                    </a:lnTo>
                    <a:lnTo>
                      <a:pt x="10258" y="49054"/>
                    </a:lnTo>
                    <a:cubicBezTo>
                      <a:pt x="2765" y="41761"/>
                      <a:pt x="0" y="30879"/>
                      <a:pt x="3105" y="20895"/>
                    </a:cubicBezTo>
                    <a:cubicBezTo>
                      <a:pt x="6209" y="10910"/>
                      <a:pt x="14657" y="3514"/>
                      <a:pt x="24964" y="1757"/>
                    </a:cubicBezTo>
                    <a:cubicBezTo>
                      <a:pt x="35272" y="0"/>
                      <a:pt x="45693" y="4179"/>
                      <a:pt x="51930" y="12571"/>
                    </a:cubicBezTo>
                    <a:cubicBezTo>
                      <a:pt x="58194" y="4241"/>
                      <a:pt x="68592" y="118"/>
                      <a:pt x="78862" y="1891"/>
                    </a:cubicBezTo>
                    <a:cubicBezTo>
                      <a:pt x="89132" y="3665"/>
                      <a:pt x="97546" y="11037"/>
                      <a:pt x="100653" y="20985"/>
                    </a:cubicBezTo>
                    <a:cubicBezTo>
                      <a:pt x="103760" y="30934"/>
                      <a:pt x="101037" y="41784"/>
                      <a:pt x="93602" y="49087"/>
                    </a:cubicBezTo>
                  </a:path>
                </a:pathLst>
              </a:custGeom>
              <a:noFill/>
              <a:ln w="11112">
                <a:solidFill>
                  <a:srgbClr val="4E0D00"/>
                </a:solidFill>
              </a:ln>
            </p:spPr>
          </p:sp>
          <p:sp>
            <p:nvSpPr>
              <p:cNvPr id="300" name="TextBox 300"/>
              <p:cNvSpPr txBox="1"/>
              <p:nvPr/>
            </p:nvSpPr>
            <p:spPr>
              <a:xfrm>
                <a:off x="11230546" y="5383530"/>
                <a:ext cx="49415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客户净推荐值</a:t>
                </a:r>
              </a:p>
            </p:txBody>
          </p:sp>
          <p:sp>
            <p:nvSpPr>
              <p:cNvPr id="301" name="TextBox 301"/>
              <p:cNvSpPr txBox="1"/>
              <p:nvPr/>
            </p:nvSpPr>
            <p:spPr>
              <a:xfrm>
                <a:off x="11321682" y="5516880"/>
                <a:ext cx="311887" cy="119062"/>
              </a:xfrm>
              <a:prstGeom prst="rect">
                <a:avLst/>
              </a:prstGeom>
              <a:noFill/>
              <a:ln>
                <a:noFill/>
              </a:ln>
            </p:spPr>
            <p:txBody>
              <a:bodyPr wrap="none" lIns="0" tIns="0" rIns="0" bIns="0" anchor="t" anchorCtr="0">
                <a:spAutoFit/>
              </a:bodyPr>
              <a:lstStyle/>
              <a:p>
                <a:pPr algn="ctr"/>
                <a:r>
                  <a:rPr lang="zh-CN" sz="600" dirty="0">
                    <a:solidFill>
                      <a:srgbClr val="453633"/>
                    </a:solidFill>
                    <a:latin typeface="+mn-lt"/>
                    <a:ea typeface="+mn-ea"/>
                    <a:cs typeface="+mn-cs"/>
                  </a:rPr>
                  <a:t>（NPS）</a:t>
                </a:r>
              </a:p>
            </p:txBody>
          </p:sp>
          <p:sp>
            <p:nvSpPr>
              <p:cNvPr id="302" name="TextBox 302"/>
              <p:cNvSpPr txBox="1"/>
              <p:nvPr/>
            </p:nvSpPr>
            <p:spPr>
              <a:xfrm>
                <a:off x="11371637" y="5958364"/>
                <a:ext cx="211976" cy="249364"/>
              </a:xfrm>
              <a:prstGeom prst="rect">
                <a:avLst/>
              </a:prstGeom>
              <a:noFill/>
              <a:ln>
                <a:noFill/>
              </a:ln>
            </p:spPr>
            <p:txBody>
              <a:bodyPr wrap="none" lIns="0" tIns="0" rIns="0" bIns="0" anchor="t" anchorCtr="0">
                <a:spAutoFit/>
              </a:bodyPr>
              <a:lstStyle/>
              <a:p>
                <a:pPr algn="ctr"/>
                <a:r>
                  <a:rPr lang="zh-CN" sz="1280" b="1" dirty="0">
                    <a:solidFill>
                      <a:srgbClr val="4E0D00"/>
                    </a:solidFill>
                    <a:latin typeface="+mn-lt"/>
                    <a:ea typeface="+mn-ea"/>
                    <a:cs typeface="+mn-cs"/>
                  </a:rPr>
                  <a:t>42</a:t>
                </a:r>
              </a:p>
            </p:txBody>
          </p:sp>
        </p:grpSp>
      </p:gr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 name="page-header"/>
          <p:cNvGrpSpPr/>
          <p:nvPr/>
        </p:nvGrpSpPr>
        <p:grpSpPr>
          <a:xfrm>
            <a:off x="369570" y="195262"/>
            <a:ext cx="11441430" cy="440055"/>
            <a:chOff x="369570" y="195262"/>
            <a:chExt cx="11441430" cy="440055"/>
          </a:xfrm>
        </p:grpSpPr>
        <p:sp>
          <p:nvSpPr>
            <p:cNvPr id="2" name="TextBox 2"/>
            <p:cNvSpPr txBox="1"/>
            <p:nvPr/>
          </p:nvSpPr>
          <p:spPr>
            <a:xfrm>
              <a:off x="369570" y="195262"/>
              <a:ext cx="6423660" cy="440055"/>
            </a:xfrm>
            <a:prstGeom prst="rect">
              <a:avLst/>
            </a:prstGeom>
            <a:noFill/>
            <a:ln>
              <a:noFill/>
            </a:ln>
          </p:spPr>
          <p:txBody>
            <a:bodyPr wrap="none" lIns="0" tIns="0" rIns="0" bIns="0" anchor="t" anchorCtr="0">
              <a:spAutoFit/>
            </a:bodyPr>
            <a:lstStyle/>
            <a:p>
              <a:pPr algn="l"/>
              <a:r>
                <a:rPr lang="zh-CN" sz="2250" b="1" dirty="0">
                  <a:solidFill>
                    <a:srgbClr val="55251B"/>
                  </a:solidFill>
                  <a:latin typeface="+mj-lt"/>
                  <a:ea typeface="+mj-ea"/>
                  <a:cs typeface="+mj-cs"/>
                </a:rPr>
                <a:t>问题解决七步法｜把复杂问题转化为组织影响</a:t>
              </a:r>
            </a:p>
          </p:txBody>
        </p:sp>
        <p:sp>
          <p:nvSpPr>
            <p:cNvPr id="3" name="Line 3"/>
            <p:cNvSpPr/>
            <p:nvPr/>
          </p:nvSpPr>
          <p:spPr>
            <a:xfrm>
              <a:off x="381000" y="581025"/>
              <a:ext cx="11430000" cy="9525"/>
            </a:xfrm>
            <a:custGeom>
              <a:avLst/>
              <a:gdLst/>
              <a:ahLst/>
              <a:cxnLst/>
              <a:rect l="l" t="t" r="r" b="b"/>
              <a:pathLst>
                <a:path w="11430000" h="9525">
                  <a:moveTo>
                    <a:pt x="0" y="0"/>
                  </a:moveTo>
                  <a:lnTo>
                    <a:pt x="11430000" y="0"/>
                  </a:lnTo>
                </a:path>
              </a:pathLst>
            </a:custGeom>
            <a:noFill/>
            <a:ln w="11430">
              <a:solidFill>
                <a:srgbClr val="C9D3E4"/>
              </a:solidFill>
            </a:ln>
          </p:spPr>
        </p:sp>
        <p:sp>
          <p:nvSpPr>
            <p:cNvPr id="4" name="Rectangle 4"/>
            <p:cNvSpPr/>
            <p:nvPr/>
          </p:nvSpPr>
          <p:spPr>
            <a:xfrm>
              <a:off x="381000" y="566738"/>
              <a:ext cx="762000" cy="28575"/>
            </a:xfrm>
            <a:prstGeom prst="rect">
              <a:avLst/>
            </a:prstGeom>
            <a:solidFill>
              <a:srgbClr val="4E0D00"/>
            </a:solidFill>
            <a:ln>
              <a:noFill/>
            </a:ln>
          </p:spPr>
        </p:sp>
      </p:grpSp>
      <p:grpSp>
        <p:nvGrpSpPr>
          <p:cNvPr id="121" name="steps"/>
          <p:cNvGrpSpPr/>
          <p:nvPr/>
        </p:nvGrpSpPr>
        <p:grpSpPr>
          <a:xfrm>
            <a:off x="228600" y="809625"/>
            <a:ext cx="11734800" cy="1590675"/>
            <a:chOff x="228600" y="809625"/>
            <a:chExt cx="11734800" cy="1590675"/>
          </a:xfrm>
        </p:grpSpPr>
        <p:sp>
          <p:nvSpPr>
            <p:cNvPr id="6" name="Ellipse 6"/>
            <p:cNvSpPr/>
            <p:nvPr/>
          </p:nvSpPr>
          <p:spPr>
            <a:xfrm>
              <a:off x="923925" y="809625"/>
              <a:ext cx="209550" cy="209550"/>
            </a:xfrm>
            <a:prstGeom prst="ellipse">
              <a:avLst/>
            </a:prstGeom>
            <a:solidFill>
              <a:srgbClr val="4E0D00"/>
            </a:solidFill>
            <a:ln>
              <a:noFill/>
            </a:ln>
          </p:spPr>
        </p:sp>
        <p:sp>
          <p:nvSpPr>
            <p:cNvPr id="7" name="TextBox 7"/>
            <p:cNvSpPr txBox="1"/>
            <p:nvPr/>
          </p:nvSpPr>
          <p:spPr>
            <a:xfrm>
              <a:off x="993229" y="867489"/>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1</a:t>
              </a:r>
            </a:p>
          </p:txBody>
        </p:sp>
        <p:sp>
          <p:nvSpPr>
            <p:cNvPr id="8" name="Rectangle 8"/>
            <p:cNvSpPr/>
            <p:nvPr/>
          </p:nvSpPr>
          <p:spPr>
            <a:xfrm>
              <a:off x="228600" y="1066800"/>
              <a:ext cx="1600200" cy="247650"/>
            </a:xfrm>
            <a:prstGeom prst="rect">
              <a:avLst/>
            </a:prstGeom>
            <a:solidFill>
              <a:srgbClr val="4E0D00"/>
            </a:solidFill>
            <a:ln>
              <a:noFill/>
            </a:ln>
          </p:spPr>
        </p:sp>
        <p:sp>
          <p:nvSpPr>
            <p:cNvPr id="9" name="TextBox 9"/>
            <p:cNvSpPr txBox="1"/>
            <p:nvPr/>
          </p:nvSpPr>
          <p:spPr>
            <a:xfrm>
              <a:off x="803161" y="11491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定义问题</a:t>
              </a:r>
            </a:p>
          </p:txBody>
        </p:sp>
        <p:sp>
          <p:nvSpPr>
            <p:cNvPr id="10" name="Rectangle 10"/>
            <p:cNvSpPr/>
            <p:nvPr/>
          </p:nvSpPr>
          <p:spPr>
            <a:xfrm>
              <a:off x="228600" y="1314450"/>
              <a:ext cx="1600200" cy="1085850"/>
            </a:xfrm>
            <a:prstGeom prst="rect">
              <a:avLst/>
            </a:prstGeom>
            <a:solidFill>
              <a:srgbClr val="FFFFFF"/>
            </a:solidFill>
            <a:ln w="9525">
              <a:solidFill>
                <a:srgbClr val="C7D2E4"/>
              </a:solidFill>
            </a:ln>
          </p:spPr>
        </p:sp>
        <p:grpSp>
          <p:nvGrpSpPr>
            <p:cNvPr id="13" name="Group 13"/>
            <p:cNvGrpSpPr/>
            <p:nvPr/>
          </p:nvGrpSpPr>
          <p:grpSpPr>
            <a:xfrm>
              <a:off x="907256" y="1450181"/>
              <a:ext cx="242889" cy="242889"/>
              <a:chOff x="907256" y="1450181"/>
              <a:chExt cx="242889" cy="242889"/>
            </a:xfrm>
          </p:grpSpPr>
          <p:sp>
            <p:nvSpPr>
              <p:cNvPr id="11" name="Freeform 11"/>
              <p:cNvSpPr/>
              <p:nvPr/>
            </p:nvSpPr>
            <p:spPr>
              <a:xfrm>
                <a:off x="907256" y="1450181"/>
                <a:ext cx="188913" cy="188913"/>
              </a:xfrm>
              <a:custGeom>
                <a:avLst/>
                <a:gdLst/>
                <a:ahLst/>
                <a:cxnLst/>
                <a:rect l="l" t="t" r="r" b="b"/>
                <a:pathLst>
                  <a:path w="188913" h="188913">
                    <a:moveTo>
                      <a:pt x="0" y="94456"/>
                    </a:moveTo>
                    <a:cubicBezTo>
                      <a:pt x="0" y="146623"/>
                      <a:pt x="42290" y="188913"/>
                      <a:pt x="94456" y="188913"/>
                    </a:cubicBezTo>
                    <a:cubicBezTo>
                      <a:pt x="146623" y="188913"/>
                      <a:pt x="188913" y="146623"/>
                      <a:pt x="188913" y="94456"/>
                    </a:cubicBezTo>
                    <a:cubicBezTo>
                      <a:pt x="188913" y="42290"/>
                      <a:pt x="146623" y="0"/>
                      <a:pt x="94456" y="0"/>
                    </a:cubicBezTo>
                    <a:cubicBezTo>
                      <a:pt x="42290" y="0"/>
                      <a:pt x="0" y="42290"/>
                      <a:pt x="0" y="94456"/>
                    </a:cubicBezTo>
                  </a:path>
                </a:pathLst>
              </a:custGeom>
              <a:noFill/>
              <a:ln w="26988">
                <a:solidFill>
                  <a:srgbClr val="4E0D00"/>
                </a:solidFill>
              </a:ln>
            </p:spPr>
          </p:sp>
          <p:sp>
            <p:nvSpPr>
              <p:cNvPr id="12" name="Freeform 12"/>
              <p:cNvSpPr/>
              <p:nvPr/>
            </p:nvSpPr>
            <p:spPr>
              <a:xfrm>
                <a:off x="1069182" y="1612107"/>
                <a:ext cx="80963" cy="80963"/>
              </a:xfrm>
              <a:custGeom>
                <a:avLst/>
                <a:gdLst/>
                <a:ahLst/>
                <a:cxnLst/>
                <a:rect l="l" t="t" r="r" b="b"/>
                <a:pathLst>
                  <a:path w="80963" h="80963">
                    <a:moveTo>
                      <a:pt x="80963" y="80963"/>
                    </a:moveTo>
                    <a:lnTo>
                      <a:pt x="0" y="0"/>
                    </a:lnTo>
                  </a:path>
                </a:pathLst>
              </a:custGeom>
              <a:noFill/>
              <a:ln w="26988">
                <a:solidFill>
                  <a:srgbClr val="4E0D00"/>
                </a:solidFill>
              </a:ln>
            </p:spPr>
          </p:sp>
        </p:grpSp>
        <p:sp>
          <p:nvSpPr>
            <p:cNvPr id="14" name="Ellipse 14"/>
            <p:cNvSpPr/>
            <p:nvPr/>
          </p:nvSpPr>
          <p:spPr>
            <a:xfrm>
              <a:off x="382905" y="1773555"/>
              <a:ext cx="34290" cy="34290"/>
            </a:xfrm>
            <a:prstGeom prst="ellipse">
              <a:avLst/>
            </a:prstGeom>
            <a:solidFill>
              <a:srgbClr val="711E0D"/>
            </a:solidFill>
            <a:ln>
              <a:noFill/>
            </a:ln>
          </p:spPr>
        </p:sp>
        <p:sp>
          <p:nvSpPr>
            <p:cNvPr id="15" name="TextBox 15"/>
            <p:cNvSpPr txBox="1"/>
            <p:nvPr/>
          </p:nvSpPr>
          <p:spPr>
            <a:xfrm>
              <a:off x="471488" y="1755219"/>
              <a:ext cx="104340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问题陈述（清晰、可行动）</a:t>
              </a:r>
            </a:p>
          </p:txBody>
        </p:sp>
        <p:sp>
          <p:nvSpPr>
            <p:cNvPr id="16" name="Ellipse 16"/>
            <p:cNvSpPr/>
            <p:nvPr/>
          </p:nvSpPr>
          <p:spPr>
            <a:xfrm>
              <a:off x="382905" y="1964055"/>
              <a:ext cx="34290" cy="34290"/>
            </a:xfrm>
            <a:prstGeom prst="ellipse">
              <a:avLst/>
            </a:prstGeom>
            <a:solidFill>
              <a:srgbClr val="711E0D"/>
            </a:solidFill>
            <a:ln>
              <a:noFill/>
            </a:ln>
          </p:spPr>
        </p:sp>
        <p:sp>
          <p:nvSpPr>
            <p:cNvPr id="17" name="TextBox 17"/>
            <p:cNvSpPr txBox="1"/>
            <p:nvPr/>
          </p:nvSpPr>
          <p:spPr>
            <a:xfrm>
              <a:off x="471488" y="1945719"/>
              <a:ext cx="61262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决策背景与目标</a:t>
              </a:r>
            </a:p>
          </p:txBody>
        </p:sp>
        <p:sp>
          <p:nvSpPr>
            <p:cNvPr id="18" name="Ellipse 18"/>
            <p:cNvSpPr/>
            <p:nvPr/>
          </p:nvSpPr>
          <p:spPr>
            <a:xfrm>
              <a:off x="382905" y="2154555"/>
              <a:ext cx="34290" cy="34290"/>
            </a:xfrm>
            <a:prstGeom prst="ellipse">
              <a:avLst/>
            </a:prstGeom>
            <a:solidFill>
              <a:srgbClr val="711E0D"/>
            </a:solidFill>
            <a:ln>
              <a:noFill/>
            </a:ln>
          </p:spPr>
        </p:sp>
        <p:sp>
          <p:nvSpPr>
            <p:cNvPr id="19" name="TextBox 19"/>
            <p:cNvSpPr txBox="1"/>
            <p:nvPr/>
          </p:nvSpPr>
          <p:spPr>
            <a:xfrm>
              <a:off x="471488" y="2136219"/>
              <a:ext cx="957250"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范围与边界（不做什么）</a:t>
              </a:r>
            </a:p>
          </p:txBody>
        </p:sp>
        <p:sp>
          <p:nvSpPr>
            <p:cNvPr id="20" name="Line 20"/>
            <p:cNvSpPr/>
            <p:nvPr/>
          </p:nvSpPr>
          <p:spPr>
            <a:xfrm>
              <a:off x="1847850" y="1190625"/>
              <a:ext cx="66675" cy="1"/>
            </a:xfrm>
            <a:prstGeom prst="line">
              <a:avLst/>
            </a:prstGeom>
            <a:noFill/>
            <a:ln w="19050">
              <a:solidFill>
                <a:srgbClr val="944130"/>
              </a:solidFill>
              <a:tailEnd type="triangle" w="lg" len="lg"/>
            </a:ln>
          </p:spPr>
        </p:sp>
        <p:sp>
          <p:nvSpPr>
            <p:cNvPr id="21" name="Ellipse 21"/>
            <p:cNvSpPr/>
            <p:nvPr/>
          </p:nvSpPr>
          <p:spPr>
            <a:xfrm>
              <a:off x="2638425" y="809625"/>
              <a:ext cx="209550" cy="209550"/>
            </a:xfrm>
            <a:prstGeom prst="ellipse">
              <a:avLst/>
            </a:prstGeom>
            <a:solidFill>
              <a:srgbClr val="4E0D00"/>
            </a:solidFill>
            <a:ln>
              <a:noFill/>
            </a:ln>
          </p:spPr>
        </p:sp>
        <p:sp>
          <p:nvSpPr>
            <p:cNvPr id="22" name="TextBox 22"/>
            <p:cNvSpPr txBox="1"/>
            <p:nvPr/>
          </p:nvSpPr>
          <p:spPr>
            <a:xfrm>
              <a:off x="2707729" y="867489"/>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2</a:t>
              </a:r>
            </a:p>
          </p:txBody>
        </p:sp>
        <p:sp>
          <p:nvSpPr>
            <p:cNvPr id="23" name="Rectangle 23"/>
            <p:cNvSpPr/>
            <p:nvPr/>
          </p:nvSpPr>
          <p:spPr>
            <a:xfrm>
              <a:off x="1943100" y="1066800"/>
              <a:ext cx="1600200" cy="247650"/>
            </a:xfrm>
            <a:prstGeom prst="rect">
              <a:avLst/>
            </a:prstGeom>
            <a:solidFill>
              <a:srgbClr val="4E0D00"/>
            </a:solidFill>
            <a:ln>
              <a:noFill/>
            </a:ln>
          </p:spPr>
        </p:sp>
        <p:sp>
          <p:nvSpPr>
            <p:cNvPr id="24" name="TextBox 24"/>
            <p:cNvSpPr txBox="1"/>
            <p:nvPr/>
          </p:nvSpPr>
          <p:spPr>
            <a:xfrm>
              <a:off x="2462466" y="1149191"/>
              <a:ext cx="56146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结构化拆解</a:t>
              </a:r>
            </a:p>
          </p:txBody>
        </p:sp>
        <p:sp>
          <p:nvSpPr>
            <p:cNvPr id="25" name="Rectangle 25"/>
            <p:cNvSpPr/>
            <p:nvPr/>
          </p:nvSpPr>
          <p:spPr>
            <a:xfrm>
              <a:off x="1943100" y="1314450"/>
              <a:ext cx="1600200" cy="1085850"/>
            </a:xfrm>
            <a:prstGeom prst="rect">
              <a:avLst/>
            </a:prstGeom>
            <a:solidFill>
              <a:srgbClr val="FFFFFF"/>
            </a:solidFill>
            <a:ln w="9525">
              <a:solidFill>
                <a:srgbClr val="C7D2E4"/>
              </a:solidFill>
            </a:ln>
          </p:spPr>
        </p:sp>
        <p:grpSp>
          <p:nvGrpSpPr>
            <p:cNvPr id="31" name="Group 31"/>
            <p:cNvGrpSpPr/>
            <p:nvPr/>
          </p:nvGrpSpPr>
          <p:grpSpPr>
            <a:xfrm>
              <a:off x="2621756" y="1450181"/>
              <a:ext cx="242889" cy="242889"/>
              <a:chOff x="2621756" y="1450181"/>
              <a:chExt cx="242889" cy="242889"/>
            </a:xfrm>
          </p:grpSpPr>
          <p:sp>
            <p:nvSpPr>
              <p:cNvPr id="26" name="Freeform 26"/>
              <p:cNvSpPr/>
              <p:nvPr/>
            </p:nvSpPr>
            <p:spPr>
              <a:xfrm>
                <a:off x="2621756" y="1612107"/>
                <a:ext cx="80963" cy="80963"/>
              </a:xfrm>
              <a:custGeom>
                <a:avLst/>
                <a:gdLst/>
                <a:ahLst/>
                <a:cxnLst/>
                <a:rect l="l" t="t" r="r" b="b"/>
                <a:pathLst>
                  <a:path w="80963" h="80963">
                    <a:moveTo>
                      <a:pt x="0" y="26988"/>
                    </a:moveTo>
                    <a:cubicBezTo>
                      <a:pt x="0" y="12083"/>
                      <a:pt x="12083" y="0"/>
                      <a:pt x="26988" y="0"/>
                    </a:cubicBezTo>
                    <a:lnTo>
                      <a:pt x="53975" y="0"/>
                    </a:lnTo>
                    <a:cubicBezTo>
                      <a:pt x="68880" y="0"/>
                      <a:pt x="80963" y="12083"/>
                      <a:pt x="80963" y="26988"/>
                    </a:cubicBezTo>
                    <a:lnTo>
                      <a:pt x="80963" y="53975"/>
                    </a:lnTo>
                    <a:cubicBezTo>
                      <a:pt x="80963" y="68880"/>
                      <a:pt x="68880" y="80963"/>
                      <a:pt x="53975" y="80963"/>
                    </a:cubicBezTo>
                    <a:lnTo>
                      <a:pt x="26988" y="80963"/>
                    </a:lnTo>
                    <a:cubicBezTo>
                      <a:pt x="12083" y="80963"/>
                      <a:pt x="0" y="68880"/>
                      <a:pt x="0" y="53975"/>
                    </a:cubicBezTo>
                    <a:lnTo>
                      <a:pt x="0" y="26988"/>
                    </a:lnTo>
                  </a:path>
                </a:pathLst>
              </a:custGeom>
              <a:noFill/>
              <a:ln w="26988">
                <a:solidFill>
                  <a:srgbClr val="4E0D00"/>
                </a:solidFill>
              </a:ln>
            </p:spPr>
          </p:sp>
          <p:sp>
            <p:nvSpPr>
              <p:cNvPr id="27" name="Freeform 27"/>
              <p:cNvSpPr/>
              <p:nvPr/>
            </p:nvSpPr>
            <p:spPr>
              <a:xfrm>
                <a:off x="2783682" y="1612107"/>
                <a:ext cx="80963" cy="80963"/>
              </a:xfrm>
              <a:custGeom>
                <a:avLst/>
                <a:gdLst/>
                <a:ahLst/>
                <a:cxnLst/>
                <a:rect l="l" t="t" r="r" b="b"/>
                <a:pathLst>
                  <a:path w="80963" h="80963">
                    <a:moveTo>
                      <a:pt x="0" y="26988"/>
                    </a:moveTo>
                    <a:cubicBezTo>
                      <a:pt x="0" y="12083"/>
                      <a:pt x="12083" y="0"/>
                      <a:pt x="26988" y="0"/>
                    </a:cubicBezTo>
                    <a:lnTo>
                      <a:pt x="53975" y="0"/>
                    </a:lnTo>
                    <a:cubicBezTo>
                      <a:pt x="68880" y="0"/>
                      <a:pt x="80963" y="12083"/>
                      <a:pt x="80963" y="26988"/>
                    </a:cubicBezTo>
                    <a:lnTo>
                      <a:pt x="80963" y="53975"/>
                    </a:lnTo>
                    <a:cubicBezTo>
                      <a:pt x="80963" y="68880"/>
                      <a:pt x="68880" y="80963"/>
                      <a:pt x="53975" y="80963"/>
                    </a:cubicBezTo>
                    <a:lnTo>
                      <a:pt x="26988" y="80963"/>
                    </a:lnTo>
                    <a:cubicBezTo>
                      <a:pt x="12083" y="80963"/>
                      <a:pt x="0" y="68880"/>
                      <a:pt x="0" y="53975"/>
                    </a:cubicBezTo>
                    <a:lnTo>
                      <a:pt x="0" y="26988"/>
                    </a:lnTo>
                  </a:path>
                </a:pathLst>
              </a:custGeom>
              <a:noFill/>
              <a:ln w="26988">
                <a:solidFill>
                  <a:srgbClr val="4E0D00"/>
                </a:solidFill>
              </a:ln>
            </p:spPr>
          </p:sp>
          <p:sp>
            <p:nvSpPr>
              <p:cNvPr id="28" name="Freeform 28"/>
              <p:cNvSpPr/>
              <p:nvPr/>
            </p:nvSpPr>
            <p:spPr>
              <a:xfrm>
                <a:off x="2702719" y="1450181"/>
                <a:ext cx="80963" cy="80963"/>
              </a:xfrm>
              <a:custGeom>
                <a:avLst/>
                <a:gdLst/>
                <a:ahLst/>
                <a:cxnLst/>
                <a:rect l="l" t="t" r="r" b="b"/>
                <a:pathLst>
                  <a:path w="80963" h="80963">
                    <a:moveTo>
                      <a:pt x="0" y="26988"/>
                    </a:moveTo>
                    <a:cubicBezTo>
                      <a:pt x="0" y="12083"/>
                      <a:pt x="12083" y="0"/>
                      <a:pt x="26988" y="0"/>
                    </a:cubicBezTo>
                    <a:lnTo>
                      <a:pt x="53975" y="0"/>
                    </a:lnTo>
                    <a:cubicBezTo>
                      <a:pt x="68880" y="0"/>
                      <a:pt x="80963" y="12083"/>
                      <a:pt x="80963" y="26988"/>
                    </a:cubicBezTo>
                    <a:lnTo>
                      <a:pt x="80963" y="53975"/>
                    </a:lnTo>
                    <a:cubicBezTo>
                      <a:pt x="80963" y="68880"/>
                      <a:pt x="68880" y="80963"/>
                      <a:pt x="53975" y="80963"/>
                    </a:cubicBezTo>
                    <a:lnTo>
                      <a:pt x="26988" y="80963"/>
                    </a:lnTo>
                    <a:cubicBezTo>
                      <a:pt x="12083" y="80963"/>
                      <a:pt x="0" y="68880"/>
                      <a:pt x="0" y="53975"/>
                    </a:cubicBezTo>
                    <a:lnTo>
                      <a:pt x="0" y="26988"/>
                    </a:lnTo>
                  </a:path>
                </a:pathLst>
              </a:custGeom>
              <a:noFill/>
              <a:ln w="26988">
                <a:solidFill>
                  <a:srgbClr val="4E0D00"/>
                </a:solidFill>
              </a:ln>
            </p:spPr>
          </p:sp>
          <p:sp>
            <p:nvSpPr>
              <p:cNvPr id="29" name="Freeform 29"/>
              <p:cNvSpPr/>
              <p:nvPr/>
            </p:nvSpPr>
            <p:spPr>
              <a:xfrm>
                <a:off x="2662238" y="1571625"/>
                <a:ext cx="161925" cy="40481"/>
              </a:xfrm>
              <a:custGeom>
                <a:avLst/>
                <a:gdLst/>
                <a:ahLst/>
                <a:cxnLst/>
                <a:rect l="l" t="t" r="r" b="b"/>
                <a:pathLst>
                  <a:path w="161925" h="40481">
                    <a:moveTo>
                      <a:pt x="0" y="40481"/>
                    </a:moveTo>
                    <a:lnTo>
                      <a:pt x="0" y="26988"/>
                    </a:lnTo>
                    <a:cubicBezTo>
                      <a:pt x="0" y="12083"/>
                      <a:pt x="12083" y="0"/>
                      <a:pt x="26988" y="0"/>
                    </a:cubicBezTo>
                    <a:lnTo>
                      <a:pt x="134938" y="0"/>
                    </a:lnTo>
                    <a:cubicBezTo>
                      <a:pt x="149843" y="0"/>
                      <a:pt x="161925" y="12083"/>
                      <a:pt x="161925" y="26988"/>
                    </a:cubicBezTo>
                    <a:lnTo>
                      <a:pt x="161925" y="40481"/>
                    </a:lnTo>
                  </a:path>
                </a:pathLst>
              </a:custGeom>
              <a:noFill/>
              <a:ln w="26988">
                <a:solidFill>
                  <a:srgbClr val="4E0D00"/>
                </a:solidFill>
              </a:ln>
            </p:spPr>
          </p:sp>
          <p:sp>
            <p:nvSpPr>
              <p:cNvPr id="30" name="Freeform 30"/>
              <p:cNvSpPr/>
              <p:nvPr/>
            </p:nvSpPr>
            <p:spPr>
              <a:xfrm>
                <a:off x="2743200" y="1531144"/>
                <a:ext cx="9525" cy="40481"/>
              </a:xfrm>
              <a:custGeom>
                <a:avLst/>
                <a:gdLst/>
                <a:ahLst/>
                <a:cxnLst/>
                <a:rect l="l" t="t" r="r" b="b"/>
                <a:pathLst>
                  <a:path w="9525" h="40481">
                    <a:moveTo>
                      <a:pt x="0" y="0"/>
                    </a:moveTo>
                    <a:lnTo>
                      <a:pt x="0" y="40481"/>
                    </a:lnTo>
                  </a:path>
                </a:pathLst>
              </a:custGeom>
              <a:noFill/>
              <a:ln w="26988">
                <a:solidFill>
                  <a:srgbClr val="4E0D00"/>
                </a:solidFill>
              </a:ln>
            </p:spPr>
          </p:sp>
        </p:grpSp>
        <p:sp>
          <p:nvSpPr>
            <p:cNvPr id="32" name="Ellipse 32"/>
            <p:cNvSpPr/>
            <p:nvPr/>
          </p:nvSpPr>
          <p:spPr>
            <a:xfrm>
              <a:off x="2097405" y="1773555"/>
              <a:ext cx="34290" cy="34290"/>
            </a:xfrm>
            <a:prstGeom prst="ellipse">
              <a:avLst/>
            </a:prstGeom>
            <a:solidFill>
              <a:srgbClr val="711E0D"/>
            </a:solidFill>
            <a:ln>
              <a:noFill/>
            </a:ln>
          </p:spPr>
        </p:sp>
        <p:sp>
          <p:nvSpPr>
            <p:cNvPr id="33" name="TextBox 33"/>
            <p:cNvSpPr txBox="1"/>
            <p:nvPr/>
          </p:nvSpPr>
          <p:spPr>
            <a:xfrm>
              <a:off x="2185988" y="1755219"/>
              <a:ext cx="75908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问题树 / 议题框架​</a:t>
              </a:r>
            </a:p>
          </p:txBody>
        </p:sp>
        <p:sp>
          <p:nvSpPr>
            <p:cNvPr id="34" name="Ellipse 34"/>
            <p:cNvSpPr/>
            <p:nvPr/>
          </p:nvSpPr>
          <p:spPr>
            <a:xfrm>
              <a:off x="2097405" y="1964055"/>
              <a:ext cx="34290" cy="34290"/>
            </a:xfrm>
            <a:prstGeom prst="ellipse">
              <a:avLst/>
            </a:prstGeom>
            <a:solidFill>
              <a:srgbClr val="711E0D"/>
            </a:solidFill>
            <a:ln>
              <a:noFill/>
            </a:ln>
          </p:spPr>
        </p:sp>
        <p:sp>
          <p:nvSpPr>
            <p:cNvPr id="35" name="TextBox 35"/>
            <p:cNvSpPr txBox="1"/>
            <p:nvPr/>
          </p:nvSpPr>
          <p:spPr>
            <a:xfrm>
              <a:off x="2185988" y="19457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关键维度与逻辑关系</a:t>
              </a:r>
            </a:p>
          </p:txBody>
        </p:sp>
        <p:sp>
          <p:nvSpPr>
            <p:cNvPr id="36" name="Ellipse 36"/>
            <p:cNvSpPr/>
            <p:nvPr/>
          </p:nvSpPr>
          <p:spPr>
            <a:xfrm>
              <a:off x="2097405" y="2154555"/>
              <a:ext cx="34290" cy="34290"/>
            </a:xfrm>
            <a:prstGeom prst="ellipse">
              <a:avLst/>
            </a:prstGeom>
            <a:solidFill>
              <a:srgbClr val="711E0D"/>
            </a:solidFill>
            <a:ln>
              <a:noFill/>
            </a:ln>
          </p:spPr>
        </p:sp>
        <p:sp>
          <p:nvSpPr>
            <p:cNvPr id="37" name="TextBox 37"/>
            <p:cNvSpPr txBox="1"/>
            <p:nvPr/>
          </p:nvSpPr>
          <p:spPr>
            <a:xfrm>
              <a:off x="2185988" y="21362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分解后的子问题清单</a:t>
              </a:r>
            </a:p>
          </p:txBody>
        </p:sp>
        <p:sp>
          <p:nvSpPr>
            <p:cNvPr id="38" name="Line 38"/>
            <p:cNvSpPr/>
            <p:nvPr/>
          </p:nvSpPr>
          <p:spPr>
            <a:xfrm>
              <a:off x="3562350" y="1190625"/>
              <a:ext cx="66675" cy="1"/>
            </a:xfrm>
            <a:prstGeom prst="line">
              <a:avLst/>
            </a:prstGeom>
            <a:noFill/>
            <a:ln w="19050">
              <a:solidFill>
                <a:srgbClr val="944130"/>
              </a:solidFill>
              <a:tailEnd type="triangle" w="lg" len="lg"/>
            </a:ln>
          </p:spPr>
        </p:sp>
        <p:sp>
          <p:nvSpPr>
            <p:cNvPr id="39" name="Ellipse 39"/>
            <p:cNvSpPr/>
            <p:nvPr/>
          </p:nvSpPr>
          <p:spPr>
            <a:xfrm>
              <a:off x="4352925" y="809625"/>
              <a:ext cx="209550" cy="209550"/>
            </a:xfrm>
            <a:prstGeom prst="ellipse">
              <a:avLst/>
            </a:prstGeom>
            <a:solidFill>
              <a:srgbClr val="4E0D00"/>
            </a:solidFill>
            <a:ln>
              <a:noFill/>
            </a:ln>
          </p:spPr>
        </p:sp>
        <p:sp>
          <p:nvSpPr>
            <p:cNvPr id="40" name="TextBox 40"/>
            <p:cNvSpPr txBox="1"/>
            <p:nvPr/>
          </p:nvSpPr>
          <p:spPr>
            <a:xfrm>
              <a:off x="4422229" y="867489"/>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3</a:t>
              </a:r>
            </a:p>
          </p:txBody>
        </p:sp>
        <p:sp>
          <p:nvSpPr>
            <p:cNvPr id="41" name="Rectangle 41"/>
            <p:cNvSpPr/>
            <p:nvPr/>
          </p:nvSpPr>
          <p:spPr>
            <a:xfrm>
              <a:off x="3657600" y="1066800"/>
              <a:ext cx="1600200" cy="247650"/>
            </a:xfrm>
            <a:prstGeom prst="rect">
              <a:avLst/>
            </a:prstGeom>
            <a:solidFill>
              <a:srgbClr val="4E0D00"/>
            </a:solidFill>
            <a:ln>
              <a:noFill/>
            </a:ln>
          </p:spPr>
        </p:sp>
        <p:sp>
          <p:nvSpPr>
            <p:cNvPr id="42" name="TextBox 42"/>
            <p:cNvSpPr txBox="1"/>
            <p:nvPr/>
          </p:nvSpPr>
          <p:spPr>
            <a:xfrm>
              <a:off x="4232161" y="1149191"/>
              <a:ext cx="451079"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提出假设</a:t>
              </a:r>
            </a:p>
          </p:txBody>
        </p:sp>
        <p:sp>
          <p:nvSpPr>
            <p:cNvPr id="43" name="Rectangle 43"/>
            <p:cNvSpPr/>
            <p:nvPr/>
          </p:nvSpPr>
          <p:spPr>
            <a:xfrm>
              <a:off x="3657600" y="1314450"/>
              <a:ext cx="1600200" cy="1085850"/>
            </a:xfrm>
            <a:prstGeom prst="rect">
              <a:avLst/>
            </a:prstGeom>
            <a:solidFill>
              <a:srgbClr val="FFFFFF"/>
            </a:solidFill>
            <a:ln w="9525">
              <a:solidFill>
                <a:srgbClr val="C7D2E4"/>
              </a:solidFill>
            </a:ln>
          </p:spPr>
        </p:sp>
        <p:grpSp>
          <p:nvGrpSpPr>
            <p:cNvPr id="47" name="Group 47"/>
            <p:cNvGrpSpPr/>
            <p:nvPr/>
          </p:nvGrpSpPr>
          <p:grpSpPr>
            <a:xfrm>
              <a:off x="4336256" y="1450181"/>
              <a:ext cx="242888" cy="242888"/>
              <a:chOff x="4336256" y="1450181"/>
              <a:chExt cx="242888" cy="242888"/>
            </a:xfrm>
          </p:grpSpPr>
          <p:sp>
            <p:nvSpPr>
              <p:cNvPr id="44" name="Freeform 44"/>
              <p:cNvSpPr/>
              <p:nvPr/>
            </p:nvSpPr>
            <p:spPr>
              <a:xfrm>
                <a:off x="4336256" y="1450181"/>
                <a:ext cx="242888" cy="121444"/>
              </a:xfrm>
              <a:custGeom>
                <a:avLst/>
                <a:gdLst/>
                <a:ahLst/>
                <a:cxnLst/>
                <a:rect l="l" t="t" r="r" b="b"/>
                <a:pathLst>
                  <a:path w="242888" h="121444">
                    <a:moveTo>
                      <a:pt x="0" y="121444"/>
                    </a:moveTo>
                    <a:lnTo>
                      <a:pt x="13494" y="121444"/>
                    </a:lnTo>
                    <a:moveTo>
                      <a:pt x="121444" y="0"/>
                    </a:moveTo>
                    <a:lnTo>
                      <a:pt x="121444" y="13494"/>
                    </a:lnTo>
                    <a:moveTo>
                      <a:pt x="229394" y="121444"/>
                    </a:moveTo>
                    <a:lnTo>
                      <a:pt x="242888" y="121444"/>
                    </a:lnTo>
                    <a:moveTo>
                      <a:pt x="35084" y="35084"/>
                    </a:moveTo>
                    <a:lnTo>
                      <a:pt x="44529" y="44529"/>
                    </a:lnTo>
                    <a:moveTo>
                      <a:pt x="207804" y="35084"/>
                    </a:moveTo>
                    <a:lnTo>
                      <a:pt x="198359" y="44529"/>
                    </a:lnTo>
                  </a:path>
                </a:pathLst>
              </a:custGeom>
              <a:noFill/>
              <a:ln w="26988">
                <a:solidFill>
                  <a:srgbClr val="4E0D00"/>
                </a:solidFill>
              </a:ln>
            </p:spPr>
          </p:sp>
          <p:sp>
            <p:nvSpPr>
              <p:cNvPr id="45" name="Freeform 45"/>
              <p:cNvSpPr/>
              <p:nvPr/>
            </p:nvSpPr>
            <p:spPr>
              <a:xfrm>
                <a:off x="4384510" y="1504156"/>
                <a:ext cx="146380" cy="188913"/>
              </a:xfrm>
              <a:custGeom>
                <a:avLst/>
                <a:gdLst/>
                <a:ahLst/>
                <a:cxnLst/>
                <a:rect l="l" t="t" r="r" b="b"/>
                <a:pathLst>
                  <a:path w="146380" h="188913">
                    <a:moveTo>
                      <a:pt x="32709" y="121444"/>
                    </a:moveTo>
                    <a:cubicBezTo>
                      <a:pt x="9476" y="104020"/>
                      <a:pt x="0" y="73684"/>
                      <a:pt x="9183" y="46133"/>
                    </a:cubicBezTo>
                    <a:cubicBezTo>
                      <a:pt x="18367" y="18583"/>
                      <a:pt x="44149" y="0"/>
                      <a:pt x="73190" y="0"/>
                    </a:cubicBezTo>
                    <a:cubicBezTo>
                      <a:pt x="102231" y="0"/>
                      <a:pt x="128013" y="18583"/>
                      <a:pt x="137197" y="46133"/>
                    </a:cubicBezTo>
                    <a:cubicBezTo>
                      <a:pt x="146380" y="73684"/>
                      <a:pt x="136904" y="104020"/>
                      <a:pt x="113671" y="121444"/>
                    </a:cubicBezTo>
                    <a:cubicBezTo>
                      <a:pt x="102987" y="132021"/>
                      <a:pt x="97976" y="147053"/>
                      <a:pt x="100178" y="161925"/>
                    </a:cubicBezTo>
                    <a:cubicBezTo>
                      <a:pt x="100178" y="176830"/>
                      <a:pt x="88095" y="188913"/>
                      <a:pt x="73190" y="188913"/>
                    </a:cubicBezTo>
                    <a:cubicBezTo>
                      <a:pt x="58285" y="188913"/>
                      <a:pt x="46203" y="176830"/>
                      <a:pt x="46203" y="161925"/>
                    </a:cubicBezTo>
                    <a:cubicBezTo>
                      <a:pt x="48404" y="147053"/>
                      <a:pt x="43394" y="132021"/>
                      <a:pt x="32709" y="121444"/>
                    </a:cubicBezTo>
                  </a:path>
                </a:pathLst>
              </a:custGeom>
              <a:noFill/>
              <a:ln w="26988">
                <a:solidFill>
                  <a:srgbClr val="4E0D00"/>
                </a:solidFill>
              </a:ln>
            </p:spPr>
          </p:sp>
          <p:sp>
            <p:nvSpPr>
              <p:cNvPr id="46" name="Freeform 46"/>
              <p:cNvSpPr/>
              <p:nvPr/>
            </p:nvSpPr>
            <p:spPr>
              <a:xfrm>
                <a:off x="4426665" y="1639094"/>
                <a:ext cx="62071" cy="9525"/>
              </a:xfrm>
              <a:custGeom>
                <a:avLst/>
                <a:gdLst/>
                <a:ahLst/>
                <a:cxnLst/>
                <a:rect l="l" t="t" r="r" b="b"/>
                <a:pathLst>
                  <a:path w="62071" h="9525">
                    <a:moveTo>
                      <a:pt x="0" y="0"/>
                    </a:moveTo>
                    <a:lnTo>
                      <a:pt x="62071" y="0"/>
                    </a:lnTo>
                  </a:path>
                </a:pathLst>
              </a:custGeom>
              <a:noFill/>
              <a:ln w="26988">
                <a:solidFill>
                  <a:srgbClr val="4E0D00"/>
                </a:solidFill>
              </a:ln>
            </p:spPr>
          </p:sp>
        </p:grpSp>
        <p:sp>
          <p:nvSpPr>
            <p:cNvPr id="48" name="Ellipse 48"/>
            <p:cNvSpPr/>
            <p:nvPr/>
          </p:nvSpPr>
          <p:spPr>
            <a:xfrm>
              <a:off x="3811905" y="1773555"/>
              <a:ext cx="34290" cy="34290"/>
            </a:xfrm>
            <a:prstGeom prst="ellipse">
              <a:avLst/>
            </a:prstGeom>
            <a:solidFill>
              <a:srgbClr val="711E0D"/>
            </a:solidFill>
            <a:ln>
              <a:noFill/>
            </a:ln>
          </p:spPr>
        </p:sp>
        <p:sp>
          <p:nvSpPr>
            <p:cNvPr id="49" name="TextBox 49"/>
            <p:cNvSpPr txBox="1"/>
            <p:nvPr/>
          </p:nvSpPr>
          <p:spPr>
            <a:xfrm>
              <a:off x="3900488" y="1755219"/>
              <a:ext cx="52646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关键假设清单</a:t>
              </a:r>
            </a:p>
          </p:txBody>
        </p:sp>
        <p:sp>
          <p:nvSpPr>
            <p:cNvPr id="50" name="Ellipse 50"/>
            <p:cNvSpPr/>
            <p:nvPr/>
          </p:nvSpPr>
          <p:spPr>
            <a:xfrm>
              <a:off x="3811905" y="1964055"/>
              <a:ext cx="34290" cy="34290"/>
            </a:xfrm>
            <a:prstGeom prst="ellipse">
              <a:avLst/>
            </a:prstGeom>
            <a:solidFill>
              <a:srgbClr val="711E0D"/>
            </a:solidFill>
            <a:ln>
              <a:noFill/>
            </a:ln>
          </p:spPr>
        </p:sp>
        <p:sp>
          <p:nvSpPr>
            <p:cNvPr id="51" name="TextBox 51"/>
            <p:cNvSpPr txBox="1"/>
            <p:nvPr/>
          </p:nvSpPr>
          <p:spPr>
            <a:xfrm>
              <a:off x="3900488" y="19457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假设背后的逻辑依据</a:t>
              </a:r>
            </a:p>
          </p:txBody>
        </p:sp>
        <p:sp>
          <p:nvSpPr>
            <p:cNvPr id="52" name="Ellipse 52"/>
            <p:cNvSpPr/>
            <p:nvPr/>
          </p:nvSpPr>
          <p:spPr>
            <a:xfrm>
              <a:off x="3811905" y="2154555"/>
              <a:ext cx="34290" cy="34290"/>
            </a:xfrm>
            <a:prstGeom prst="ellipse">
              <a:avLst/>
            </a:prstGeom>
            <a:solidFill>
              <a:srgbClr val="711E0D"/>
            </a:solidFill>
            <a:ln>
              <a:noFill/>
            </a:ln>
          </p:spPr>
        </p:sp>
        <p:sp>
          <p:nvSpPr>
            <p:cNvPr id="53" name="TextBox 53"/>
            <p:cNvSpPr txBox="1"/>
            <p:nvPr/>
          </p:nvSpPr>
          <p:spPr>
            <a:xfrm>
              <a:off x="3900488" y="21362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验证标准与成功指标</a:t>
              </a:r>
            </a:p>
          </p:txBody>
        </p:sp>
        <p:sp>
          <p:nvSpPr>
            <p:cNvPr id="54" name="Line 54"/>
            <p:cNvSpPr/>
            <p:nvPr/>
          </p:nvSpPr>
          <p:spPr>
            <a:xfrm>
              <a:off x="5276850" y="1190625"/>
              <a:ext cx="66675" cy="1"/>
            </a:xfrm>
            <a:prstGeom prst="line">
              <a:avLst/>
            </a:prstGeom>
            <a:noFill/>
            <a:ln w="19050">
              <a:solidFill>
                <a:srgbClr val="944130"/>
              </a:solidFill>
              <a:tailEnd type="triangle" w="lg" len="lg"/>
            </a:ln>
          </p:spPr>
        </p:sp>
        <p:sp>
          <p:nvSpPr>
            <p:cNvPr id="55" name="Ellipse 55"/>
            <p:cNvSpPr/>
            <p:nvPr/>
          </p:nvSpPr>
          <p:spPr>
            <a:xfrm>
              <a:off x="6067425" y="809625"/>
              <a:ext cx="209550" cy="209550"/>
            </a:xfrm>
            <a:prstGeom prst="ellipse">
              <a:avLst/>
            </a:prstGeom>
            <a:solidFill>
              <a:srgbClr val="4E0D00"/>
            </a:solidFill>
            <a:ln>
              <a:noFill/>
            </a:ln>
          </p:spPr>
        </p:sp>
        <p:sp>
          <p:nvSpPr>
            <p:cNvPr id="56" name="TextBox 56"/>
            <p:cNvSpPr txBox="1"/>
            <p:nvPr/>
          </p:nvSpPr>
          <p:spPr>
            <a:xfrm>
              <a:off x="6136729" y="867489"/>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4</a:t>
              </a:r>
            </a:p>
          </p:txBody>
        </p:sp>
        <p:sp>
          <p:nvSpPr>
            <p:cNvPr id="57" name="Rectangle 57"/>
            <p:cNvSpPr/>
            <p:nvPr/>
          </p:nvSpPr>
          <p:spPr>
            <a:xfrm>
              <a:off x="5372100" y="1066800"/>
              <a:ext cx="1600200" cy="247650"/>
            </a:xfrm>
            <a:prstGeom prst="rect">
              <a:avLst/>
            </a:prstGeom>
            <a:solidFill>
              <a:srgbClr val="4E0D00"/>
            </a:solidFill>
            <a:ln>
              <a:noFill/>
            </a:ln>
          </p:spPr>
        </p:sp>
        <p:sp>
          <p:nvSpPr>
            <p:cNvPr id="58" name="TextBox 58"/>
            <p:cNvSpPr txBox="1"/>
            <p:nvPr/>
          </p:nvSpPr>
          <p:spPr>
            <a:xfrm>
              <a:off x="5891466" y="1149191"/>
              <a:ext cx="561467"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确定优先级</a:t>
              </a:r>
            </a:p>
          </p:txBody>
        </p:sp>
        <p:sp>
          <p:nvSpPr>
            <p:cNvPr id="59" name="Rectangle 59"/>
            <p:cNvSpPr/>
            <p:nvPr/>
          </p:nvSpPr>
          <p:spPr>
            <a:xfrm>
              <a:off x="5372100" y="1314450"/>
              <a:ext cx="1600200" cy="1085850"/>
            </a:xfrm>
            <a:prstGeom prst="rect">
              <a:avLst/>
            </a:prstGeom>
            <a:solidFill>
              <a:srgbClr val="FFFFFF"/>
            </a:solidFill>
            <a:ln w="9525">
              <a:solidFill>
                <a:srgbClr val="C7D2E4"/>
              </a:solidFill>
            </a:ln>
          </p:spPr>
        </p:sp>
        <p:grpSp>
          <p:nvGrpSpPr>
            <p:cNvPr id="64" name="Group 64"/>
            <p:cNvGrpSpPr/>
            <p:nvPr/>
          </p:nvGrpSpPr>
          <p:grpSpPr>
            <a:xfrm>
              <a:off x="6064250" y="1463675"/>
              <a:ext cx="215901" cy="215901"/>
              <a:chOff x="6064250" y="1463675"/>
              <a:chExt cx="215901" cy="215901"/>
            </a:xfrm>
          </p:grpSpPr>
          <p:sp>
            <p:nvSpPr>
              <p:cNvPr id="60" name="Freeform 60"/>
              <p:cNvSpPr/>
              <p:nvPr/>
            </p:nvSpPr>
            <p:spPr>
              <a:xfrm>
                <a:off x="6064250" y="1463675"/>
                <a:ext cx="80963" cy="80963"/>
              </a:xfrm>
              <a:custGeom>
                <a:avLst/>
                <a:gdLst/>
                <a:ahLst/>
                <a:cxnLst/>
                <a:rect l="l" t="t" r="r" b="b"/>
                <a:pathLst>
                  <a:path w="80963" h="80963">
                    <a:moveTo>
                      <a:pt x="0" y="13494"/>
                    </a:moveTo>
                    <a:cubicBezTo>
                      <a:pt x="0" y="6041"/>
                      <a:pt x="6041" y="0"/>
                      <a:pt x="13494" y="0"/>
                    </a:cubicBezTo>
                    <a:lnTo>
                      <a:pt x="67469" y="0"/>
                    </a:lnTo>
                    <a:cubicBezTo>
                      <a:pt x="74921" y="0"/>
                      <a:pt x="80963" y="6041"/>
                      <a:pt x="80963" y="13494"/>
                    </a:cubicBezTo>
                    <a:lnTo>
                      <a:pt x="80963" y="67469"/>
                    </a:lnTo>
                    <a:cubicBezTo>
                      <a:pt x="80963" y="74921"/>
                      <a:pt x="74921" y="80963"/>
                      <a:pt x="67469" y="80963"/>
                    </a:cubicBezTo>
                    <a:lnTo>
                      <a:pt x="13494" y="80963"/>
                    </a:lnTo>
                    <a:cubicBezTo>
                      <a:pt x="6041" y="80963"/>
                      <a:pt x="0" y="74921"/>
                      <a:pt x="0" y="67469"/>
                    </a:cubicBezTo>
                    <a:lnTo>
                      <a:pt x="0" y="13494"/>
                    </a:lnTo>
                  </a:path>
                </a:pathLst>
              </a:custGeom>
              <a:noFill/>
              <a:ln w="26988">
                <a:solidFill>
                  <a:srgbClr val="4E0D00"/>
                </a:solidFill>
              </a:ln>
            </p:spPr>
          </p:sp>
          <p:sp>
            <p:nvSpPr>
              <p:cNvPr id="61" name="Freeform 61"/>
              <p:cNvSpPr/>
              <p:nvPr/>
            </p:nvSpPr>
            <p:spPr>
              <a:xfrm>
                <a:off x="6199188" y="1463675"/>
                <a:ext cx="80963" cy="80963"/>
              </a:xfrm>
              <a:custGeom>
                <a:avLst/>
                <a:gdLst/>
                <a:ahLst/>
                <a:cxnLst/>
                <a:rect l="l" t="t" r="r" b="b"/>
                <a:pathLst>
                  <a:path w="80963" h="80963">
                    <a:moveTo>
                      <a:pt x="0" y="13494"/>
                    </a:moveTo>
                    <a:cubicBezTo>
                      <a:pt x="0" y="6041"/>
                      <a:pt x="6041" y="0"/>
                      <a:pt x="13494" y="0"/>
                    </a:cubicBezTo>
                    <a:lnTo>
                      <a:pt x="67469" y="0"/>
                    </a:lnTo>
                    <a:cubicBezTo>
                      <a:pt x="74921" y="0"/>
                      <a:pt x="80963" y="6041"/>
                      <a:pt x="80963" y="13494"/>
                    </a:cubicBezTo>
                    <a:lnTo>
                      <a:pt x="80963" y="67469"/>
                    </a:lnTo>
                    <a:cubicBezTo>
                      <a:pt x="80963" y="74921"/>
                      <a:pt x="74921" y="80963"/>
                      <a:pt x="67469" y="80963"/>
                    </a:cubicBezTo>
                    <a:lnTo>
                      <a:pt x="13494" y="80963"/>
                    </a:lnTo>
                    <a:cubicBezTo>
                      <a:pt x="6041" y="80963"/>
                      <a:pt x="0" y="74921"/>
                      <a:pt x="0" y="67469"/>
                    </a:cubicBezTo>
                    <a:lnTo>
                      <a:pt x="0" y="13494"/>
                    </a:lnTo>
                  </a:path>
                </a:pathLst>
              </a:custGeom>
              <a:noFill/>
              <a:ln w="26988">
                <a:solidFill>
                  <a:srgbClr val="4E0D00"/>
                </a:solidFill>
              </a:ln>
            </p:spPr>
          </p:sp>
          <p:sp>
            <p:nvSpPr>
              <p:cNvPr id="62" name="Freeform 62"/>
              <p:cNvSpPr/>
              <p:nvPr/>
            </p:nvSpPr>
            <p:spPr>
              <a:xfrm>
                <a:off x="6064250" y="1598613"/>
                <a:ext cx="80963" cy="80963"/>
              </a:xfrm>
              <a:custGeom>
                <a:avLst/>
                <a:gdLst/>
                <a:ahLst/>
                <a:cxnLst/>
                <a:rect l="l" t="t" r="r" b="b"/>
                <a:pathLst>
                  <a:path w="80963" h="80963">
                    <a:moveTo>
                      <a:pt x="0" y="13494"/>
                    </a:moveTo>
                    <a:cubicBezTo>
                      <a:pt x="0" y="6041"/>
                      <a:pt x="6041" y="0"/>
                      <a:pt x="13494" y="0"/>
                    </a:cubicBezTo>
                    <a:lnTo>
                      <a:pt x="67469" y="0"/>
                    </a:lnTo>
                    <a:cubicBezTo>
                      <a:pt x="74921" y="0"/>
                      <a:pt x="80963" y="6041"/>
                      <a:pt x="80963" y="13494"/>
                    </a:cubicBezTo>
                    <a:lnTo>
                      <a:pt x="80963" y="67469"/>
                    </a:lnTo>
                    <a:cubicBezTo>
                      <a:pt x="80963" y="74921"/>
                      <a:pt x="74921" y="80963"/>
                      <a:pt x="67469" y="80963"/>
                    </a:cubicBezTo>
                    <a:lnTo>
                      <a:pt x="13494" y="80963"/>
                    </a:lnTo>
                    <a:cubicBezTo>
                      <a:pt x="6041" y="80963"/>
                      <a:pt x="0" y="74921"/>
                      <a:pt x="0" y="67469"/>
                    </a:cubicBezTo>
                    <a:lnTo>
                      <a:pt x="0" y="13494"/>
                    </a:lnTo>
                  </a:path>
                </a:pathLst>
              </a:custGeom>
              <a:noFill/>
              <a:ln w="26988">
                <a:solidFill>
                  <a:srgbClr val="4E0D00"/>
                </a:solidFill>
              </a:ln>
            </p:spPr>
          </p:sp>
          <p:sp>
            <p:nvSpPr>
              <p:cNvPr id="63" name="Freeform 63"/>
              <p:cNvSpPr/>
              <p:nvPr/>
            </p:nvSpPr>
            <p:spPr>
              <a:xfrm>
                <a:off x="6199188" y="1598613"/>
                <a:ext cx="80963" cy="80963"/>
              </a:xfrm>
              <a:custGeom>
                <a:avLst/>
                <a:gdLst/>
                <a:ahLst/>
                <a:cxnLst/>
                <a:rect l="l" t="t" r="r" b="b"/>
                <a:pathLst>
                  <a:path w="80963" h="80963">
                    <a:moveTo>
                      <a:pt x="0" y="13494"/>
                    </a:moveTo>
                    <a:cubicBezTo>
                      <a:pt x="0" y="6041"/>
                      <a:pt x="6041" y="0"/>
                      <a:pt x="13494" y="0"/>
                    </a:cubicBezTo>
                    <a:lnTo>
                      <a:pt x="67469" y="0"/>
                    </a:lnTo>
                    <a:cubicBezTo>
                      <a:pt x="74921" y="0"/>
                      <a:pt x="80963" y="6041"/>
                      <a:pt x="80963" y="13494"/>
                    </a:cubicBezTo>
                    <a:lnTo>
                      <a:pt x="80963" y="67469"/>
                    </a:lnTo>
                    <a:cubicBezTo>
                      <a:pt x="80963" y="74921"/>
                      <a:pt x="74921" y="80963"/>
                      <a:pt x="67469" y="80963"/>
                    </a:cubicBezTo>
                    <a:lnTo>
                      <a:pt x="13494" y="80963"/>
                    </a:lnTo>
                    <a:cubicBezTo>
                      <a:pt x="6041" y="80963"/>
                      <a:pt x="0" y="74921"/>
                      <a:pt x="0" y="67469"/>
                    </a:cubicBezTo>
                    <a:lnTo>
                      <a:pt x="0" y="13494"/>
                    </a:lnTo>
                  </a:path>
                </a:pathLst>
              </a:custGeom>
              <a:noFill/>
              <a:ln w="26988">
                <a:solidFill>
                  <a:srgbClr val="4E0D00"/>
                </a:solidFill>
              </a:ln>
            </p:spPr>
          </p:sp>
        </p:grpSp>
        <p:sp>
          <p:nvSpPr>
            <p:cNvPr id="65" name="Ellipse 65"/>
            <p:cNvSpPr/>
            <p:nvPr/>
          </p:nvSpPr>
          <p:spPr>
            <a:xfrm>
              <a:off x="5526405" y="1773555"/>
              <a:ext cx="34290" cy="34290"/>
            </a:xfrm>
            <a:prstGeom prst="ellipse">
              <a:avLst/>
            </a:prstGeom>
            <a:solidFill>
              <a:srgbClr val="711E0D"/>
            </a:solidFill>
            <a:ln>
              <a:noFill/>
            </a:ln>
          </p:spPr>
        </p:sp>
        <p:sp>
          <p:nvSpPr>
            <p:cNvPr id="66" name="TextBox 66"/>
            <p:cNvSpPr txBox="1"/>
            <p:nvPr/>
          </p:nvSpPr>
          <p:spPr>
            <a:xfrm>
              <a:off x="5614988" y="17552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关键假设优先级排序</a:t>
              </a:r>
            </a:p>
          </p:txBody>
        </p:sp>
        <p:sp>
          <p:nvSpPr>
            <p:cNvPr id="67" name="Ellipse 67"/>
            <p:cNvSpPr/>
            <p:nvPr/>
          </p:nvSpPr>
          <p:spPr>
            <a:xfrm>
              <a:off x="5526405" y="1964055"/>
              <a:ext cx="34290" cy="34290"/>
            </a:xfrm>
            <a:prstGeom prst="ellipse">
              <a:avLst/>
            </a:prstGeom>
            <a:solidFill>
              <a:srgbClr val="711E0D"/>
            </a:solidFill>
            <a:ln>
              <a:noFill/>
            </a:ln>
          </p:spPr>
        </p:sp>
        <p:sp>
          <p:nvSpPr>
            <p:cNvPr id="68" name="TextBox 68"/>
            <p:cNvSpPr txBox="1"/>
            <p:nvPr/>
          </p:nvSpPr>
          <p:spPr>
            <a:xfrm>
              <a:off x="5614988" y="1945719"/>
              <a:ext cx="664317"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80/20 聚焦识别​</a:t>
              </a:r>
            </a:p>
          </p:txBody>
        </p:sp>
        <p:sp>
          <p:nvSpPr>
            <p:cNvPr id="69" name="Ellipse 69"/>
            <p:cNvSpPr/>
            <p:nvPr/>
          </p:nvSpPr>
          <p:spPr>
            <a:xfrm>
              <a:off x="5526405" y="2154555"/>
              <a:ext cx="34290" cy="34290"/>
            </a:xfrm>
            <a:prstGeom prst="ellipse">
              <a:avLst/>
            </a:prstGeom>
            <a:solidFill>
              <a:srgbClr val="711E0D"/>
            </a:solidFill>
            <a:ln>
              <a:noFill/>
            </a:ln>
          </p:spPr>
        </p:sp>
        <p:sp>
          <p:nvSpPr>
            <p:cNvPr id="70" name="TextBox 70"/>
            <p:cNvSpPr txBox="1"/>
            <p:nvPr/>
          </p:nvSpPr>
          <p:spPr>
            <a:xfrm>
              <a:off x="5614988" y="21362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资源与时间分配建议</a:t>
              </a:r>
            </a:p>
          </p:txBody>
        </p:sp>
        <p:sp>
          <p:nvSpPr>
            <p:cNvPr id="71" name="Line 71"/>
            <p:cNvSpPr/>
            <p:nvPr/>
          </p:nvSpPr>
          <p:spPr>
            <a:xfrm>
              <a:off x="6991350" y="1190625"/>
              <a:ext cx="66675" cy="1"/>
            </a:xfrm>
            <a:prstGeom prst="line">
              <a:avLst/>
            </a:prstGeom>
            <a:noFill/>
            <a:ln w="19050">
              <a:solidFill>
                <a:srgbClr val="944130"/>
              </a:solidFill>
              <a:tailEnd type="triangle" w="lg" len="lg"/>
            </a:ln>
          </p:spPr>
        </p:sp>
        <p:sp>
          <p:nvSpPr>
            <p:cNvPr id="72" name="Ellipse 72"/>
            <p:cNvSpPr/>
            <p:nvPr/>
          </p:nvSpPr>
          <p:spPr>
            <a:xfrm>
              <a:off x="7781925" y="809625"/>
              <a:ext cx="209550" cy="209550"/>
            </a:xfrm>
            <a:prstGeom prst="ellipse">
              <a:avLst/>
            </a:prstGeom>
            <a:solidFill>
              <a:srgbClr val="4E0D00"/>
            </a:solidFill>
            <a:ln>
              <a:noFill/>
            </a:ln>
          </p:spPr>
        </p:sp>
        <p:sp>
          <p:nvSpPr>
            <p:cNvPr id="73" name="TextBox 73"/>
            <p:cNvSpPr txBox="1"/>
            <p:nvPr/>
          </p:nvSpPr>
          <p:spPr>
            <a:xfrm>
              <a:off x="7851229" y="867489"/>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5</a:t>
              </a:r>
            </a:p>
          </p:txBody>
        </p:sp>
        <p:sp>
          <p:nvSpPr>
            <p:cNvPr id="74" name="Rectangle 74"/>
            <p:cNvSpPr/>
            <p:nvPr/>
          </p:nvSpPr>
          <p:spPr>
            <a:xfrm>
              <a:off x="7086600" y="1066800"/>
              <a:ext cx="1600200" cy="247650"/>
            </a:xfrm>
            <a:prstGeom prst="rect">
              <a:avLst/>
            </a:prstGeom>
            <a:solidFill>
              <a:srgbClr val="4E0D00"/>
            </a:solidFill>
            <a:ln>
              <a:noFill/>
            </a:ln>
          </p:spPr>
        </p:sp>
        <p:sp>
          <p:nvSpPr>
            <p:cNvPr id="75" name="TextBox 75"/>
            <p:cNvSpPr txBox="1"/>
            <p:nvPr/>
          </p:nvSpPr>
          <p:spPr>
            <a:xfrm>
              <a:off x="7550772" y="1149191"/>
              <a:ext cx="671855"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制定分析计划</a:t>
              </a:r>
            </a:p>
          </p:txBody>
        </p:sp>
        <p:sp>
          <p:nvSpPr>
            <p:cNvPr id="76" name="Rectangle 76"/>
            <p:cNvSpPr/>
            <p:nvPr/>
          </p:nvSpPr>
          <p:spPr>
            <a:xfrm>
              <a:off x="7086600" y="1314450"/>
              <a:ext cx="1600200" cy="1085850"/>
            </a:xfrm>
            <a:prstGeom prst="rect">
              <a:avLst/>
            </a:prstGeom>
            <a:solidFill>
              <a:srgbClr val="FFFFFF"/>
            </a:solidFill>
            <a:ln w="9525">
              <a:solidFill>
                <a:srgbClr val="C7D2E4"/>
              </a:solidFill>
            </a:ln>
          </p:spPr>
        </p:sp>
        <p:grpSp>
          <p:nvGrpSpPr>
            <p:cNvPr id="83" name="Group 83"/>
            <p:cNvGrpSpPr/>
            <p:nvPr/>
          </p:nvGrpSpPr>
          <p:grpSpPr>
            <a:xfrm>
              <a:off x="7792244" y="1450181"/>
              <a:ext cx="188913" cy="242889"/>
              <a:chOff x="7792244" y="1450181"/>
              <a:chExt cx="188913" cy="242889"/>
            </a:xfrm>
          </p:grpSpPr>
          <p:sp>
            <p:nvSpPr>
              <p:cNvPr id="77" name="Freeform 77"/>
              <p:cNvSpPr/>
              <p:nvPr/>
            </p:nvSpPr>
            <p:spPr>
              <a:xfrm>
                <a:off x="7792244" y="1477169"/>
                <a:ext cx="188913" cy="215901"/>
              </a:xfrm>
              <a:custGeom>
                <a:avLst/>
                <a:gdLst/>
                <a:ahLst/>
                <a:cxnLst/>
                <a:rect l="l" t="t" r="r" b="b"/>
                <a:pathLst>
                  <a:path w="188913" h="215901">
                    <a:moveTo>
                      <a:pt x="53975" y="0"/>
                    </a:moveTo>
                    <a:lnTo>
                      <a:pt x="26988" y="0"/>
                    </a:lnTo>
                    <a:cubicBezTo>
                      <a:pt x="12083" y="0"/>
                      <a:pt x="0" y="12083"/>
                      <a:pt x="0" y="26988"/>
                    </a:cubicBezTo>
                    <a:lnTo>
                      <a:pt x="0" y="188913"/>
                    </a:lnTo>
                    <a:cubicBezTo>
                      <a:pt x="0" y="203818"/>
                      <a:pt x="12083" y="215901"/>
                      <a:pt x="26988" y="215901"/>
                    </a:cubicBezTo>
                    <a:lnTo>
                      <a:pt x="161925" y="215901"/>
                    </a:lnTo>
                    <a:cubicBezTo>
                      <a:pt x="176830" y="215901"/>
                      <a:pt x="188913" y="203818"/>
                      <a:pt x="188913" y="188913"/>
                    </a:cubicBezTo>
                    <a:lnTo>
                      <a:pt x="188913" y="26988"/>
                    </a:lnTo>
                    <a:cubicBezTo>
                      <a:pt x="188913" y="12083"/>
                      <a:pt x="176830" y="0"/>
                      <a:pt x="161925" y="0"/>
                    </a:cubicBezTo>
                    <a:lnTo>
                      <a:pt x="134938" y="0"/>
                    </a:lnTo>
                  </a:path>
                </a:pathLst>
              </a:custGeom>
              <a:noFill/>
              <a:ln w="26988">
                <a:solidFill>
                  <a:srgbClr val="4E0D00"/>
                </a:solidFill>
              </a:ln>
            </p:spPr>
          </p:sp>
          <p:sp>
            <p:nvSpPr>
              <p:cNvPr id="78" name="Freeform 78"/>
              <p:cNvSpPr/>
              <p:nvPr/>
            </p:nvSpPr>
            <p:spPr>
              <a:xfrm>
                <a:off x="7846219" y="1450181"/>
                <a:ext cx="80963" cy="53975"/>
              </a:xfrm>
              <a:custGeom>
                <a:avLst/>
                <a:gdLst/>
                <a:ahLst/>
                <a:cxnLst/>
                <a:rect l="l" t="t" r="r" b="b"/>
                <a:pathLst>
                  <a:path w="80963" h="53975">
                    <a:moveTo>
                      <a:pt x="0" y="26988"/>
                    </a:moveTo>
                    <a:cubicBezTo>
                      <a:pt x="0" y="12083"/>
                      <a:pt x="12083" y="0"/>
                      <a:pt x="26988" y="0"/>
                    </a:cubicBezTo>
                    <a:lnTo>
                      <a:pt x="53975" y="0"/>
                    </a:lnTo>
                    <a:cubicBezTo>
                      <a:pt x="68880" y="0"/>
                      <a:pt x="80963" y="12083"/>
                      <a:pt x="80963" y="26988"/>
                    </a:cubicBezTo>
                    <a:cubicBezTo>
                      <a:pt x="80963" y="41892"/>
                      <a:pt x="68880" y="53975"/>
                      <a:pt x="53975" y="53975"/>
                    </a:cubicBezTo>
                    <a:lnTo>
                      <a:pt x="26988" y="53975"/>
                    </a:lnTo>
                    <a:cubicBezTo>
                      <a:pt x="12083" y="53975"/>
                      <a:pt x="0" y="41892"/>
                      <a:pt x="0" y="26988"/>
                    </a:cubicBezTo>
                  </a:path>
                </a:pathLst>
              </a:custGeom>
              <a:noFill/>
              <a:ln w="26988">
                <a:solidFill>
                  <a:srgbClr val="4E0D00"/>
                </a:solidFill>
              </a:ln>
            </p:spPr>
          </p:sp>
          <p:sp>
            <p:nvSpPr>
              <p:cNvPr id="79" name="Freeform 79"/>
              <p:cNvSpPr/>
              <p:nvPr/>
            </p:nvSpPr>
            <p:spPr>
              <a:xfrm>
                <a:off x="7846219" y="1571625"/>
                <a:ext cx="9525" cy="9525"/>
              </a:xfrm>
              <a:custGeom>
                <a:avLst/>
                <a:gdLst/>
                <a:ahLst/>
                <a:cxnLst/>
                <a:rect l="l" t="t" r="r" b="b"/>
                <a:pathLst>
                  <a:path w="9525" h="9525">
                    <a:moveTo>
                      <a:pt x="0" y="0"/>
                    </a:moveTo>
                    <a:lnTo>
                      <a:pt x="135" y="0"/>
                    </a:lnTo>
                  </a:path>
                </a:pathLst>
              </a:custGeom>
              <a:noFill/>
              <a:ln w="26988">
                <a:solidFill>
                  <a:srgbClr val="4E0D00"/>
                </a:solidFill>
              </a:ln>
            </p:spPr>
          </p:sp>
          <p:sp>
            <p:nvSpPr>
              <p:cNvPr id="80" name="Freeform 80"/>
              <p:cNvSpPr/>
              <p:nvPr/>
            </p:nvSpPr>
            <p:spPr>
              <a:xfrm>
                <a:off x="7900194" y="1571625"/>
                <a:ext cx="26988" cy="9525"/>
              </a:xfrm>
              <a:custGeom>
                <a:avLst/>
                <a:gdLst/>
                <a:ahLst/>
                <a:cxnLst/>
                <a:rect l="l" t="t" r="r" b="b"/>
                <a:pathLst>
                  <a:path w="26988" h="9525">
                    <a:moveTo>
                      <a:pt x="0" y="0"/>
                    </a:moveTo>
                    <a:lnTo>
                      <a:pt x="26988" y="0"/>
                    </a:lnTo>
                  </a:path>
                </a:pathLst>
              </a:custGeom>
              <a:noFill/>
              <a:ln w="26988">
                <a:solidFill>
                  <a:srgbClr val="4E0D00"/>
                </a:solidFill>
              </a:ln>
            </p:spPr>
          </p:sp>
          <p:sp>
            <p:nvSpPr>
              <p:cNvPr id="81" name="Freeform 81"/>
              <p:cNvSpPr/>
              <p:nvPr/>
            </p:nvSpPr>
            <p:spPr>
              <a:xfrm>
                <a:off x="7846219" y="1625601"/>
                <a:ext cx="9525" cy="9525"/>
              </a:xfrm>
              <a:custGeom>
                <a:avLst/>
                <a:gdLst/>
                <a:ahLst/>
                <a:cxnLst/>
                <a:rect l="l" t="t" r="r" b="b"/>
                <a:pathLst>
                  <a:path w="9525" h="9525">
                    <a:moveTo>
                      <a:pt x="0" y="0"/>
                    </a:moveTo>
                    <a:lnTo>
                      <a:pt x="135" y="0"/>
                    </a:lnTo>
                  </a:path>
                </a:pathLst>
              </a:custGeom>
              <a:noFill/>
              <a:ln w="26988">
                <a:solidFill>
                  <a:srgbClr val="4E0D00"/>
                </a:solidFill>
              </a:ln>
            </p:spPr>
          </p:sp>
          <p:sp>
            <p:nvSpPr>
              <p:cNvPr id="82" name="Freeform 82"/>
              <p:cNvSpPr/>
              <p:nvPr/>
            </p:nvSpPr>
            <p:spPr>
              <a:xfrm>
                <a:off x="7900194" y="1625601"/>
                <a:ext cx="26988" cy="9525"/>
              </a:xfrm>
              <a:custGeom>
                <a:avLst/>
                <a:gdLst/>
                <a:ahLst/>
                <a:cxnLst/>
                <a:rect l="l" t="t" r="r" b="b"/>
                <a:pathLst>
                  <a:path w="26988" h="9525">
                    <a:moveTo>
                      <a:pt x="0" y="0"/>
                    </a:moveTo>
                    <a:lnTo>
                      <a:pt x="26988" y="0"/>
                    </a:lnTo>
                  </a:path>
                </a:pathLst>
              </a:custGeom>
              <a:noFill/>
              <a:ln w="26988">
                <a:solidFill>
                  <a:srgbClr val="4E0D00"/>
                </a:solidFill>
              </a:ln>
            </p:spPr>
          </p:sp>
        </p:grpSp>
        <p:sp>
          <p:nvSpPr>
            <p:cNvPr id="84" name="Ellipse 84"/>
            <p:cNvSpPr/>
            <p:nvPr/>
          </p:nvSpPr>
          <p:spPr>
            <a:xfrm>
              <a:off x="7240905" y="1773555"/>
              <a:ext cx="34290" cy="34290"/>
            </a:xfrm>
            <a:prstGeom prst="ellipse">
              <a:avLst/>
            </a:prstGeom>
            <a:solidFill>
              <a:srgbClr val="711E0D"/>
            </a:solidFill>
            <a:ln>
              <a:noFill/>
            </a:ln>
          </p:spPr>
        </p:sp>
        <p:sp>
          <p:nvSpPr>
            <p:cNvPr id="85" name="TextBox 85"/>
            <p:cNvSpPr txBox="1"/>
            <p:nvPr/>
          </p:nvSpPr>
          <p:spPr>
            <a:xfrm>
              <a:off x="7329488" y="17552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分析路径与方法选择</a:t>
              </a:r>
            </a:p>
          </p:txBody>
        </p:sp>
        <p:sp>
          <p:nvSpPr>
            <p:cNvPr id="86" name="Ellipse 86"/>
            <p:cNvSpPr/>
            <p:nvPr/>
          </p:nvSpPr>
          <p:spPr>
            <a:xfrm>
              <a:off x="7240905" y="1964055"/>
              <a:ext cx="34290" cy="34290"/>
            </a:xfrm>
            <a:prstGeom prst="ellipse">
              <a:avLst/>
            </a:prstGeom>
            <a:solidFill>
              <a:srgbClr val="711E0D"/>
            </a:solidFill>
            <a:ln>
              <a:noFill/>
            </a:ln>
          </p:spPr>
        </p:sp>
        <p:sp>
          <p:nvSpPr>
            <p:cNvPr id="87" name="TextBox 87"/>
            <p:cNvSpPr txBox="1"/>
            <p:nvPr/>
          </p:nvSpPr>
          <p:spPr>
            <a:xfrm>
              <a:off x="7329488" y="19457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数据需求与来源清单</a:t>
              </a:r>
            </a:p>
          </p:txBody>
        </p:sp>
        <p:sp>
          <p:nvSpPr>
            <p:cNvPr id="88" name="Ellipse 88"/>
            <p:cNvSpPr/>
            <p:nvPr/>
          </p:nvSpPr>
          <p:spPr>
            <a:xfrm>
              <a:off x="7240905" y="2154555"/>
              <a:ext cx="34290" cy="34290"/>
            </a:xfrm>
            <a:prstGeom prst="ellipse">
              <a:avLst/>
            </a:prstGeom>
            <a:solidFill>
              <a:srgbClr val="711E0D"/>
            </a:solidFill>
            <a:ln>
              <a:noFill/>
            </a:ln>
          </p:spPr>
        </p:sp>
        <p:sp>
          <p:nvSpPr>
            <p:cNvPr id="89" name="TextBox 89"/>
            <p:cNvSpPr txBox="1"/>
            <p:nvPr/>
          </p:nvSpPr>
          <p:spPr>
            <a:xfrm>
              <a:off x="7329488" y="2136219"/>
              <a:ext cx="69877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工作计划与里程碑</a:t>
              </a:r>
            </a:p>
          </p:txBody>
        </p:sp>
        <p:sp>
          <p:nvSpPr>
            <p:cNvPr id="90" name="Line 90"/>
            <p:cNvSpPr/>
            <p:nvPr/>
          </p:nvSpPr>
          <p:spPr>
            <a:xfrm>
              <a:off x="8705850" y="1190625"/>
              <a:ext cx="66675" cy="1"/>
            </a:xfrm>
            <a:prstGeom prst="line">
              <a:avLst/>
            </a:prstGeom>
            <a:noFill/>
            <a:ln w="19050">
              <a:solidFill>
                <a:srgbClr val="944130"/>
              </a:solidFill>
              <a:tailEnd type="triangle" w="lg" len="lg"/>
            </a:ln>
          </p:spPr>
        </p:sp>
        <p:sp>
          <p:nvSpPr>
            <p:cNvPr id="91" name="Ellipse 91"/>
            <p:cNvSpPr/>
            <p:nvPr/>
          </p:nvSpPr>
          <p:spPr>
            <a:xfrm>
              <a:off x="9496425" y="809625"/>
              <a:ext cx="209550" cy="209550"/>
            </a:xfrm>
            <a:prstGeom prst="ellipse">
              <a:avLst/>
            </a:prstGeom>
            <a:solidFill>
              <a:srgbClr val="4E0D00"/>
            </a:solidFill>
            <a:ln>
              <a:noFill/>
            </a:ln>
          </p:spPr>
        </p:sp>
        <p:sp>
          <p:nvSpPr>
            <p:cNvPr id="92" name="TextBox 92"/>
            <p:cNvSpPr txBox="1"/>
            <p:nvPr/>
          </p:nvSpPr>
          <p:spPr>
            <a:xfrm>
              <a:off x="9565729" y="867489"/>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6</a:t>
              </a:r>
            </a:p>
          </p:txBody>
        </p:sp>
        <p:sp>
          <p:nvSpPr>
            <p:cNvPr id="93" name="Rectangle 93"/>
            <p:cNvSpPr/>
            <p:nvPr/>
          </p:nvSpPr>
          <p:spPr>
            <a:xfrm>
              <a:off x="8801100" y="1066800"/>
              <a:ext cx="1600200" cy="247650"/>
            </a:xfrm>
            <a:prstGeom prst="rect">
              <a:avLst/>
            </a:prstGeom>
            <a:solidFill>
              <a:srgbClr val="4E0D00"/>
            </a:solidFill>
            <a:ln>
              <a:noFill/>
            </a:ln>
          </p:spPr>
        </p:sp>
        <p:sp>
          <p:nvSpPr>
            <p:cNvPr id="94" name="TextBox 94"/>
            <p:cNvSpPr txBox="1"/>
            <p:nvPr/>
          </p:nvSpPr>
          <p:spPr>
            <a:xfrm>
              <a:off x="9210078" y="1149191"/>
              <a:ext cx="782244"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数据分析与洞察</a:t>
              </a:r>
            </a:p>
          </p:txBody>
        </p:sp>
        <p:sp>
          <p:nvSpPr>
            <p:cNvPr id="95" name="Rectangle 95"/>
            <p:cNvSpPr/>
            <p:nvPr/>
          </p:nvSpPr>
          <p:spPr>
            <a:xfrm>
              <a:off x="8801100" y="1314450"/>
              <a:ext cx="1600200" cy="1085850"/>
            </a:xfrm>
            <a:prstGeom prst="rect">
              <a:avLst/>
            </a:prstGeom>
            <a:solidFill>
              <a:srgbClr val="FFFFFF"/>
            </a:solidFill>
            <a:ln w="9525">
              <a:solidFill>
                <a:srgbClr val="C7D2E4"/>
              </a:solidFill>
            </a:ln>
          </p:spPr>
        </p:sp>
        <p:grpSp>
          <p:nvGrpSpPr>
            <p:cNvPr id="98" name="Group 98"/>
            <p:cNvGrpSpPr/>
            <p:nvPr/>
          </p:nvGrpSpPr>
          <p:grpSpPr>
            <a:xfrm>
              <a:off x="9493250" y="1490663"/>
              <a:ext cx="215901" cy="184944"/>
              <a:chOff x="9493250" y="1490663"/>
              <a:chExt cx="215901" cy="184944"/>
            </a:xfrm>
          </p:grpSpPr>
          <p:sp>
            <p:nvSpPr>
              <p:cNvPr id="96" name="Freeform 96"/>
              <p:cNvSpPr/>
              <p:nvPr/>
            </p:nvSpPr>
            <p:spPr>
              <a:xfrm>
                <a:off x="9493250" y="1666082"/>
                <a:ext cx="215901" cy="9525"/>
              </a:xfrm>
              <a:custGeom>
                <a:avLst/>
                <a:gdLst/>
                <a:ahLst/>
                <a:cxnLst/>
                <a:rect l="l" t="t" r="r" b="b"/>
                <a:pathLst>
                  <a:path w="215901" h="9525">
                    <a:moveTo>
                      <a:pt x="0" y="0"/>
                    </a:moveTo>
                    <a:lnTo>
                      <a:pt x="215901" y="0"/>
                    </a:lnTo>
                  </a:path>
                </a:pathLst>
              </a:custGeom>
              <a:noFill/>
              <a:ln w="26988">
                <a:solidFill>
                  <a:srgbClr val="4E0D00"/>
                </a:solidFill>
              </a:ln>
            </p:spPr>
          </p:sp>
          <p:sp>
            <p:nvSpPr>
              <p:cNvPr id="97" name="Freeform 97"/>
              <p:cNvSpPr/>
              <p:nvPr/>
            </p:nvSpPr>
            <p:spPr>
              <a:xfrm>
                <a:off x="9493250" y="1490663"/>
                <a:ext cx="215901" cy="121444"/>
              </a:xfrm>
              <a:custGeom>
                <a:avLst/>
                <a:gdLst/>
                <a:ahLst/>
                <a:cxnLst/>
                <a:rect l="l" t="t" r="r" b="b"/>
                <a:pathLst>
                  <a:path w="215901" h="121444">
                    <a:moveTo>
                      <a:pt x="0" y="121444"/>
                    </a:moveTo>
                    <a:lnTo>
                      <a:pt x="53975" y="40481"/>
                    </a:lnTo>
                    <a:lnTo>
                      <a:pt x="107950" y="67469"/>
                    </a:lnTo>
                    <a:lnTo>
                      <a:pt x="161925" y="0"/>
                    </a:lnTo>
                    <a:lnTo>
                      <a:pt x="215901" y="53975"/>
                    </a:lnTo>
                  </a:path>
                </a:pathLst>
              </a:custGeom>
              <a:noFill/>
              <a:ln w="26988">
                <a:solidFill>
                  <a:srgbClr val="4E0D00"/>
                </a:solidFill>
              </a:ln>
            </p:spPr>
          </p:sp>
        </p:grpSp>
        <p:sp>
          <p:nvSpPr>
            <p:cNvPr id="99" name="Ellipse 99"/>
            <p:cNvSpPr/>
            <p:nvPr/>
          </p:nvSpPr>
          <p:spPr>
            <a:xfrm>
              <a:off x="8955405" y="1773555"/>
              <a:ext cx="34290" cy="34290"/>
            </a:xfrm>
            <a:prstGeom prst="ellipse">
              <a:avLst/>
            </a:prstGeom>
            <a:solidFill>
              <a:srgbClr val="711E0D"/>
            </a:solidFill>
            <a:ln>
              <a:noFill/>
            </a:ln>
          </p:spPr>
        </p:sp>
        <p:sp>
          <p:nvSpPr>
            <p:cNvPr id="100" name="TextBox 100"/>
            <p:cNvSpPr txBox="1"/>
            <p:nvPr/>
          </p:nvSpPr>
          <p:spPr>
            <a:xfrm>
              <a:off x="9043988" y="1755219"/>
              <a:ext cx="61262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关键发现与洞察</a:t>
              </a:r>
            </a:p>
          </p:txBody>
        </p:sp>
        <p:sp>
          <p:nvSpPr>
            <p:cNvPr id="101" name="Ellipse 101"/>
            <p:cNvSpPr/>
            <p:nvPr/>
          </p:nvSpPr>
          <p:spPr>
            <a:xfrm>
              <a:off x="8955405" y="1964055"/>
              <a:ext cx="34290" cy="34290"/>
            </a:xfrm>
            <a:prstGeom prst="ellipse">
              <a:avLst/>
            </a:prstGeom>
            <a:solidFill>
              <a:srgbClr val="711E0D"/>
            </a:solidFill>
            <a:ln>
              <a:noFill/>
            </a:ln>
          </p:spPr>
        </p:sp>
        <p:sp>
          <p:nvSpPr>
            <p:cNvPr id="102" name="TextBox 102"/>
            <p:cNvSpPr txBox="1"/>
            <p:nvPr/>
          </p:nvSpPr>
          <p:spPr>
            <a:xfrm>
              <a:off x="9043988" y="1945719"/>
              <a:ext cx="52646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事实与证据链</a:t>
              </a:r>
            </a:p>
          </p:txBody>
        </p:sp>
        <p:sp>
          <p:nvSpPr>
            <p:cNvPr id="103" name="Ellipse 103"/>
            <p:cNvSpPr/>
            <p:nvPr/>
          </p:nvSpPr>
          <p:spPr>
            <a:xfrm>
              <a:off x="8955405" y="2154555"/>
              <a:ext cx="34290" cy="34290"/>
            </a:xfrm>
            <a:prstGeom prst="ellipse">
              <a:avLst/>
            </a:prstGeom>
            <a:solidFill>
              <a:srgbClr val="711E0D"/>
            </a:solidFill>
            <a:ln>
              <a:noFill/>
            </a:ln>
          </p:spPr>
        </p:sp>
        <p:sp>
          <p:nvSpPr>
            <p:cNvPr id="104" name="TextBox 104"/>
            <p:cNvSpPr txBox="1"/>
            <p:nvPr/>
          </p:nvSpPr>
          <p:spPr>
            <a:xfrm>
              <a:off x="9043988" y="2136219"/>
              <a:ext cx="61262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根因与影响机制</a:t>
              </a:r>
            </a:p>
          </p:txBody>
        </p:sp>
        <p:sp>
          <p:nvSpPr>
            <p:cNvPr id="105" name="Line 105"/>
            <p:cNvSpPr/>
            <p:nvPr/>
          </p:nvSpPr>
          <p:spPr>
            <a:xfrm>
              <a:off x="10420350" y="1190625"/>
              <a:ext cx="66675" cy="1"/>
            </a:xfrm>
            <a:prstGeom prst="line">
              <a:avLst/>
            </a:prstGeom>
            <a:noFill/>
            <a:ln w="19050">
              <a:solidFill>
                <a:srgbClr val="944130"/>
              </a:solidFill>
              <a:tailEnd type="triangle" w="lg" len="lg"/>
            </a:ln>
          </p:spPr>
        </p:sp>
        <p:sp>
          <p:nvSpPr>
            <p:cNvPr id="106" name="Ellipse 106"/>
            <p:cNvSpPr/>
            <p:nvPr/>
          </p:nvSpPr>
          <p:spPr>
            <a:xfrm>
              <a:off x="11210925" y="809625"/>
              <a:ext cx="209550" cy="209550"/>
            </a:xfrm>
            <a:prstGeom prst="ellipse">
              <a:avLst/>
            </a:prstGeom>
            <a:solidFill>
              <a:srgbClr val="4E0D00"/>
            </a:solidFill>
            <a:ln>
              <a:noFill/>
            </a:ln>
          </p:spPr>
        </p:sp>
        <p:sp>
          <p:nvSpPr>
            <p:cNvPr id="107" name="TextBox 107"/>
            <p:cNvSpPr txBox="1"/>
            <p:nvPr/>
          </p:nvSpPr>
          <p:spPr>
            <a:xfrm>
              <a:off x="11280229" y="867489"/>
              <a:ext cx="70942"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7</a:t>
              </a:r>
            </a:p>
          </p:txBody>
        </p:sp>
        <p:sp>
          <p:nvSpPr>
            <p:cNvPr id="108" name="Rectangle 108"/>
            <p:cNvSpPr/>
            <p:nvPr/>
          </p:nvSpPr>
          <p:spPr>
            <a:xfrm>
              <a:off x="10515600" y="1066800"/>
              <a:ext cx="1447800" cy="247650"/>
            </a:xfrm>
            <a:prstGeom prst="rect">
              <a:avLst/>
            </a:prstGeom>
            <a:solidFill>
              <a:srgbClr val="711E0D"/>
            </a:solidFill>
            <a:ln>
              <a:noFill/>
            </a:ln>
          </p:spPr>
        </p:sp>
        <p:sp>
          <p:nvSpPr>
            <p:cNvPr id="109" name="TextBox 109"/>
            <p:cNvSpPr txBox="1"/>
            <p:nvPr/>
          </p:nvSpPr>
          <p:spPr>
            <a:xfrm>
              <a:off x="10756163" y="1153239"/>
              <a:ext cx="966673"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综合结论并推动行动</a:t>
              </a:r>
            </a:p>
          </p:txBody>
        </p:sp>
        <p:sp>
          <p:nvSpPr>
            <p:cNvPr id="110" name="Rectangle 110"/>
            <p:cNvSpPr/>
            <p:nvPr/>
          </p:nvSpPr>
          <p:spPr>
            <a:xfrm>
              <a:off x="10515600" y="1314450"/>
              <a:ext cx="1447800" cy="1085850"/>
            </a:xfrm>
            <a:prstGeom prst="rect">
              <a:avLst/>
            </a:prstGeom>
            <a:solidFill>
              <a:srgbClr val="EFF3FA"/>
            </a:solidFill>
            <a:ln w="13335">
              <a:solidFill>
                <a:srgbClr val="4E0D00"/>
              </a:solidFill>
            </a:ln>
          </p:spPr>
        </p:sp>
        <p:grpSp>
          <p:nvGrpSpPr>
            <p:cNvPr id="114" name="Group 114"/>
            <p:cNvGrpSpPr/>
            <p:nvPr/>
          </p:nvGrpSpPr>
          <p:grpSpPr>
            <a:xfrm>
              <a:off x="11118056" y="1450181"/>
              <a:ext cx="242888" cy="242888"/>
              <a:chOff x="11118056" y="1450181"/>
              <a:chExt cx="242888" cy="242888"/>
            </a:xfrm>
          </p:grpSpPr>
          <p:sp>
            <p:nvSpPr>
              <p:cNvPr id="111" name="Freeform 111"/>
              <p:cNvSpPr/>
              <p:nvPr/>
            </p:nvSpPr>
            <p:spPr>
              <a:xfrm>
                <a:off x="11226007" y="1558132"/>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6988">
                <a:solidFill>
                  <a:srgbClr val="4E0D00"/>
                </a:solidFill>
              </a:ln>
            </p:spPr>
          </p:sp>
          <p:sp>
            <p:nvSpPr>
              <p:cNvPr id="112" name="Freeform 112"/>
              <p:cNvSpPr/>
              <p:nvPr/>
            </p:nvSpPr>
            <p:spPr>
              <a:xfrm>
                <a:off x="11172031" y="1504156"/>
                <a:ext cx="134938" cy="134938"/>
              </a:xfrm>
              <a:custGeom>
                <a:avLst/>
                <a:gdLst/>
                <a:ahLst/>
                <a:cxnLst/>
                <a:rect l="l" t="t" r="r" b="b"/>
                <a:pathLst>
                  <a:path w="134938" h="134938">
                    <a:moveTo>
                      <a:pt x="0" y="67469"/>
                    </a:moveTo>
                    <a:cubicBezTo>
                      <a:pt x="0" y="104731"/>
                      <a:pt x="30207" y="134938"/>
                      <a:pt x="67469" y="134938"/>
                    </a:cubicBezTo>
                    <a:cubicBezTo>
                      <a:pt x="104731" y="134938"/>
                      <a:pt x="134938" y="104731"/>
                      <a:pt x="134938" y="67469"/>
                    </a:cubicBezTo>
                    <a:cubicBezTo>
                      <a:pt x="134938" y="30207"/>
                      <a:pt x="104731" y="0"/>
                      <a:pt x="67469" y="0"/>
                    </a:cubicBezTo>
                    <a:cubicBezTo>
                      <a:pt x="30207" y="0"/>
                      <a:pt x="0" y="30207"/>
                      <a:pt x="0" y="67469"/>
                    </a:cubicBezTo>
                  </a:path>
                </a:pathLst>
              </a:custGeom>
              <a:noFill/>
              <a:ln w="26988">
                <a:solidFill>
                  <a:srgbClr val="4E0D00"/>
                </a:solidFill>
              </a:ln>
            </p:spPr>
          </p:sp>
          <p:sp>
            <p:nvSpPr>
              <p:cNvPr id="113" name="Freeform 113"/>
              <p:cNvSpPr/>
              <p:nvPr/>
            </p:nvSpPr>
            <p:spPr>
              <a:xfrm>
                <a:off x="11118056" y="1450181"/>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26988">
                <a:solidFill>
                  <a:srgbClr val="4E0D00"/>
                </a:solidFill>
              </a:ln>
            </p:spPr>
          </p:sp>
        </p:grpSp>
        <p:sp>
          <p:nvSpPr>
            <p:cNvPr id="115" name="Ellipse 115"/>
            <p:cNvSpPr/>
            <p:nvPr/>
          </p:nvSpPr>
          <p:spPr>
            <a:xfrm>
              <a:off x="10650855" y="1773555"/>
              <a:ext cx="34290" cy="34290"/>
            </a:xfrm>
            <a:prstGeom prst="ellipse">
              <a:avLst/>
            </a:prstGeom>
            <a:solidFill>
              <a:srgbClr val="711E0D"/>
            </a:solidFill>
            <a:ln>
              <a:noFill/>
            </a:ln>
          </p:spPr>
        </p:sp>
        <p:sp>
          <p:nvSpPr>
            <p:cNvPr id="116" name="TextBox 116"/>
            <p:cNvSpPr txBox="1"/>
            <p:nvPr/>
          </p:nvSpPr>
          <p:spPr>
            <a:xfrm>
              <a:off x="10739438" y="1755219"/>
              <a:ext cx="612623"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结论与关键建议</a:t>
              </a:r>
            </a:p>
          </p:txBody>
        </p:sp>
        <p:sp>
          <p:nvSpPr>
            <p:cNvPr id="117" name="Ellipse 117"/>
            <p:cNvSpPr/>
            <p:nvPr/>
          </p:nvSpPr>
          <p:spPr>
            <a:xfrm>
              <a:off x="10650855" y="1964055"/>
              <a:ext cx="34290" cy="34290"/>
            </a:xfrm>
            <a:prstGeom prst="ellipse">
              <a:avLst/>
            </a:prstGeom>
            <a:solidFill>
              <a:srgbClr val="711E0D"/>
            </a:solidFill>
            <a:ln>
              <a:noFill/>
            </a:ln>
          </p:spPr>
        </p:sp>
        <p:sp>
          <p:nvSpPr>
            <p:cNvPr id="118" name="TextBox 118"/>
            <p:cNvSpPr txBox="1"/>
            <p:nvPr/>
          </p:nvSpPr>
          <p:spPr>
            <a:xfrm>
              <a:off x="10739438" y="1945719"/>
              <a:ext cx="698779"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行动方案与负责人</a:t>
              </a:r>
            </a:p>
          </p:txBody>
        </p:sp>
        <p:sp>
          <p:nvSpPr>
            <p:cNvPr id="119" name="Ellipse 119"/>
            <p:cNvSpPr/>
            <p:nvPr/>
          </p:nvSpPr>
          <p:spPr>
            <a:xfrm>
              <a:off x="10650855" y="2154555"/>
              <a:ext cx="34290" cy="34290"/>
            </a:xfrm>
            <a:prstGeom prst="ellipse">
              <a:avLst/>
            </a:prstGeom>
            <a:solidFill>
              <a:srgbClr val="711E0D"/>
            </a:solidFill>
            <a:ln>
              <a:noFill/>
            </a:ln>
          </p:spPr>
        </p:sp>
        <p:sp>
          <p:nvSpPr>
            <p:cNvPr id="120" name="TextBox 120"/>
            <p:cNvSpPr txBox="1"/>
            <p:nvPr/>
          </p:nvSpPr>
          <p:spPr>
            <a:xfrm>
              <a:off x="10739438" y="2136219"/>
              <a:ext cx="784936" cy="126206"/>
            </a:xfrm>
            <a:prstGeom prst="rect">
              <a:avLst/>
            </a:prstGeom>
            <a:noFill/>
            <a:ln>
              <a:noFill/>
            </a:ln>
          </p:spPr>
          <p:txBody>
            <a:bodyPr wrap="none" lIns="0" tIns="0" rIns="0" bIns="0" anchor="t" anchorCtr="0">
              <a:spAutoFit/>
            </a:bodyPr>
            <a:lstStyle/>
            <a:p>
              <a:pPr algn="l"/>
              <a:r>
                <a:rPr lang="zh-CN" sz="640" dirty="0">
                  <a:solidFill>
                    <a:srgbClr val="453633"/>
                  </a:solidFill>
                  <a:latin typeface="+mn-lt"/>
                  <a:ea typeface="+mn-ea"/>
                  <a:cs typeface="+mn-cs"/>
                </a:rPr>
                <a:t>预期价值与影响指标</a:t>
              </a:r>
            </a:p>
          </p:txBody>
        </p:sp>
      </p:grpSp>
      <p:grpSp>
        <p:nvGrpSpPr>
          <p:cNvPr id="204" name="mapping"/>
          <p:cNvGrpSpPr/>
          <p:nvPr/>
        </p:nvGrpSpPr>
        <p:grpSpPr>
          <a:xfrm>
            <a:off x="228600" y="3200400"/>
            <a:ext cx="11734800" cy="2057400"/>
            <a:chOff x="228600" y="3200400"/>
            <a:chExt cx="11734800" cy="2057400"/>
          </a:xfrm>
        </p:grpSpPr>
        <p:sp>
          <p:nvSpPr>
            <p:cNvPr id="122" name="Rectangle 122"/>
            <p:cNvSpPr/>
            <p:nvPr/>
          </p:nvSpPr>
          <p:spPr>
            <a:xfrm>
              <a:off x="228600" y="3352800"/>
              <a:ext cx="838200" cy="1905000"/>
            </a:xfrm>
            <a:prstGeom prst="rect">
              <a:avLst/>
            </a:prstGeom>
            <a:solidFill>
              <a:srgbClr val="4E0D00"/>
            </a:solidFill>
            <a:ln>
              <a:noFill/>
            </a:ln>
          </p:spPr>
        </p:sp>
        <p:sp>
          <p:nvSpPr>
            <p:cNvPr id="123" name="TextBox 123"/>
            <p:cNvSpPr txBox="1"/>
            <p:nvPr/>
          </p:nvSpPr>
          <p:spPr>
            <a:xfrm>
              <a:off x="377063" y="3953589"/>
              <a:ext cx="541274" cy="154781"/>
            </a:xfrm>
            <a:prstGeom prst="rect">
              <a:avLst/>
            </a:prstGeom>
            <a:noFill/>
            <a:ln>
              <a:noFill/>
            </a:ln>
          </p:spPr>
          <p:txBody>
            <a:bodyPr wrap="none" lIns="0" tIns="0" rIns="0" bIns="0" anchor="t" anchorCtr="0">
              <a:spAutoFit/>
            </a:bodyPr>
            <a:lstStyle/>
            <a:p>
              <a:pPr algn="ctr"/>
              <a:r>
                <a:rPr lang="zh-CN" sz="790" b="1" dirty="0">
                  <a:solidFill>
                    <a:srgbClr val="FFFFFF"/>
                  </a:solidFill>
                  <a:latin typeface="+mn-lt"/>
                  <a:ea typeface="+mn-ea"/>
                  <a:cs typeface="+mn-cs"/>
                </a:rPr>
                <a:t>方法论映射</a:t>
              </a:r>
            </a:p>
          </p:txBody>
        </p:sp>
        <p:sp>
          <p:nvSpPr>
            <p:cNvPr id="124" name="TextBox 124"/>
            <p:cNvSpPr txBox="1"/>
            <p:nvPr/>
          </p:nvSpPr>
          <p:spPr>
            <a:xfrm>
              <a:off x="414084" y="4175284"/>
              <a:ext cx="467233" cy="133350"/>
            </a:xfrm>
            <a:prstGeom prst="rect">
              <a:avLst/>
            </a:prstGeom>
            <a:noFill/>
            <a:ln>
              <a:noFill/>
            </a:ln>
          </p:spPr>
          <p:txBody>
            <a:bodyPr wrap="none" lIns="0" tIns="0" rIns="0" bIns="0" anchor="t" anchorCtr="0">
              <a:spAutoFit/>
            </a:bodyPr>
            <a:lstStyle/>
            <a:p>
              <a:pPr algn="ctr"/>
              <a:r>
                <a:rPr lang="zh-CN" sz="680" dirty="0">
                  <a:solidFill>
                    <a:srgbClr val="C9D3E4"/>
                  </a:solidFill>
                  <a:latin typeface="+mn-lt"/>
                  <a:ea typeface="+mn-ea"/>
                  <a:cs typeface="+mn-cs"/>
                </a:rPr>
                <a:t>在七步法中</a:t>
              </a:r>
            </a:p>
          </p:txBody>
        </p:sp>
        <p:sp>
          <p:nvSpPr>
            <p:cNvPr id="125" name="TextBox 125"/>
            <p:cNvSpPr txBox="1"/>
            <p:nvPr/>
          </p:nvSpPr>
          <p:spPr>
            <a:xfrm>
              <a:off x="505625" y="4327684"/>
              <a:ext cx="284150" cy="133350"/>
            </a:xfrm>
            <a:prstGeom prst="rect">
              <a:avLst/>
            </a:prstGeom>
            <a:noFill/>
            <a:ln>
              <a:noFill/>
            </a:ln>
          </p:spPr>
          <p:txBody>
            <a:bodyPr wrap="none" lIns="0" tIns="0" rIns="0" bIns="0" anchor="t" anchorCtr="0">
              <a:spAutoFit/>
            </a:bodyPr>
            <a:lstStyle/>
            <a:p>
              <a:pPr algn="ctr"/>
              <a:r>
                <a:rPr lang="zh-CN" sz="680" dirty="0">
                  <a:solidFill>
                    <a:srgbClr val="C9D3E4"/>
                  </a:solidFill>
                  <a:latin typeface="+mn-lt"/>
                  <a:ea typeface="+mn-ea"/>
                  <a:cs typeface="+mn-cs"/>
                </a:rPr>
                <a:t>的作用</a:t>
              </a:r>
            </a:p>
          </p:txBody>
        </p:sp>
        <p:grpSp>
          <p:nvGrpSpPr>
            <p:cNvPr id="131" name="Group 131"/>
            <p:cNvGrpSpPr/>
            <p:nvPr/>
          </p:nvGrpSpPr>
          <p:grpSpPr>
            <a:xfrm>
              <a:off x="2038350" y="3200400"/>
              <a:ext cx="8934450" cy="152400"/>
              <a:chOff x="2038350" y="3200400"/>
              <a:chExt cx="8934450" cy="152400"/>
            </a:xfrm>
          </p:grpSpPr>
          <p:sp>
            <p:nvSpPr>
              <p:cNvPr id="126" name="Line 126"/>
              <p:cNvSpPr/>
              <p:nvPr/>
            </p:nvSpPr>
            <p:spPr>
              <a:xfrm>
                <a:off x="2038350" y="3200400"/>
                <a:ext cx="9525" cy="152400"/>
              </a:xfrm>
              <a:custGeom>
                <a:avLst/>
                <a:gdLst/>
                <a:ahLst/>
                <a:cxnLst/>
                <a:rect l="l" t="t" r="r" b="b"/>
                <a:pathLst>
                  <a:path w="9525" h="152400">
                    <a:moveTo>
                      <a:pt x="0" y="152400"/>
                    </a:moveTo>
                    <a:lnTo>
                      <a:pt x="0" y="0"/>
                    </a:lnTo>
                  </a:path>
                </a:pathLst>
              </a:custGeom>
              <a:noFill/>
              <a:ln w="11430">
                <a:solidFill>
                  <a:srgbClr val="C9D3E4"/>
                </a:solidFill>
              </a:ln>
            </p:spPr>
          </p:sp>
          <p:sp>
            <p:nvSpPr>
              <p:cNvPr id="127" name="Line 127"/>
              <p:cNvSpPr/>
              <p:nvPr/>
            </p:nvSpPr>
            <p:spPr>
              <a:xfrm>
                <a:off x="3924300" y="3200400"/>
                <a:ext cx="9525" cy="152400"/>
              </a:xfrm>
              <a:custGeom>
                <a:avLst/>
                <a:gdLst/>
                <a:ahLst/>
                <a:cxnLst/>
                <a:rect l="l" t="t" r="r" b="b"/>
                <a:pathLst>
                  <a:path w="9525" h="152400">
                    <a:moveTo>
                      <a:pt x="0" y="152400"/>
                    </a:moveTo>
                    <a:lnTo>
                      <a:pt x="0" y="0"/>
                    </a:lnTo>
                  </a:path>
                </a:pathLst>
              </a:custGeom>
              <a:noFill/>
              <a:ln w="11430">
                <a:solidFill>
                  <a:srgbClr val="C9D3E4"/>
                </a:solidFill>
              </a:ln>
            </p:spPr>
          </p:sp>
          <p:sp>
            <p:nvSpPr>
              <p:cNvPr id="128" name="Line 128"/>
              <p:cNvSpPr/>
              <p:nvPr/>
            </p:nvSpPr>
            <p:spPr>
              <a:xfrm>
                <a:off x="6524625" y="3200400"/>
                <a:ext cx="9525" cy="152400"/>
              </a:xfrm>
              <a:custGeom>
                <a:avLst/>
                <a:gdLst/>
                <a:ahLst/>
                <a:cxnLst/>
                <a:rect l="l" t="t" r="r" b="b"/>
                <a:pathLst>
                  <a:path w="9525" h="152400">
                    <a:moveTo>
                      <a:pt x="0" y="152400"/>
                    </a:moveTo>
                    <a:lnTo>
                      <a:pt x="0" y="0"/>
                    </a:lnTo>
                  </a:path>
                </a:pathLst>
              </a:custGeom>
              <a:noFill/>
              <a:ln w="11430">
                <a:solidFill>
                  <a:srgbClr val="C9D3E4"/>
                </a:solidFill>
              </a:ln>
            </p:spPr>
          </p:sp>
          <p:sp>
            <p:nvSpPr>
              <p:cNvPr id="129" name="Line 129"/>
              <p:cNvSpPr/>
              <p:nvPr/>
            </p:nvSpPr>
            <p:spPr>
              <a:xfrm>
                <a:off x="9029700" y="3200400"/>
                <a:ext cx="9525" cy="152400"/>
              </a:xfrm>
              <a:custGeom>
                <a:avLst/>
                <a:gdLst/>
                <a:ahLst/>
                <a:cxnLst/>
                <a:rect l="l" t="t" r="r" b="b"/>
                <a:pathLst>
                  <a:path w="9525" h="152400">
                    <a:moveTo>
                      <a:pt x="0" y="152400"/>
                    </a:moveTo>
                    <a:lnTo>
                      <a:pt x="0" y="0"/>
                    </a:lnTo>
                  </a:path>
                </a:pathLst>
              </a:custGeom>
              <a:noFill/>
              <a:ln w="11430">
                <a:solidFill>
                  <a:srgbClr val="C9D3E4"/>
                </a:solidFill>
              </a:ln>
            </p:spPr>
          </p:sp>
          <p:sp>
            <p:nvSpPr>
              <p:cNvPr id="130" name="Line 130"/>
              <p:cNvSpPr/>
              <p:nvPr/>
            </p:nvSpPr>
            <p:spPr>
              <a:xfrm>
                <a:off x="10963275" y="3200400"/>
                <a:ext cx="9525" cy="152400"/>
              </a:xfrm>
              <a:custGeom>
                <a:avLst/>
                <a:gdLst/>
                <a:ahLst/>
                <a:cxnLst/>
                <a:rect l="l" t="t" r="r" b="b"/>
                <a:pathLst>
                  <a:path w="9525" h="152400">
                    <a:moveTo>
                      <a:pt x="0" y="152400"/>
                    </a:moveTo>
                    <a:lnTo>
                      <a:pt x="0" y="0"/>
                    </a:lnTo>
                  </a:path>
                </a:pathLst>
              </a:custGeom>
              <a:noFill/>
              <a:ln w="11430">
                <a:solidFill>
                  <a:srgbClr val="C9D3E4"/>
                </a:solidFill>
              </a:ln>
            </p:spPr>
          </p:sp>
        </p:grpSp>
        <p:grpSp>
          <p:nvGrpSpPr>
            <p:cNvPr id="142" name="map-mece"/>
            <p:cNvGrpSpPr/>
            <p:nvPr/>
          </p:nvGrpSpPr>
          <p:grpSpPr>
            <a:xfrm>
              <a:off x="1181100" y="3352800"/>
              <a:ext cx="1714500" cy="1905000"/>
              <a:chOff x="1181100" y="3352800"/>
              <a:chExt cx="1714500" cy="1905000"/>
            </a:xfrm>
          </p:grpSpPr>
          <p:sp>
            <p:nvSpPr>
              <p:cNvPr id="132" name="Rectangle 132"/>
              <p:cNvSpPr/>
              <p:nvPr/>
            </p:nvSpPr>
            <p:spPr>
              <a:xfrm>
                <a:off x="1181100" y="3352800"/>
                <a:ext cx="1714500" cy="1905000"/>
              </a:xfrm>
              <a:prstGeom prst="rect">
                <a:avLst/>
              </a:prstGeom>
              <a:solidFill>
                <a:srgbClr val="FFFFFF"/>
              </a:solidFill>
              <a:ln w="9525">
                <a:solidFill>
                  <a:srgbClr val="C7D2E4"/>
                </a:solidFill>
              </a:ln>
            </p:spPr>
          </p:sp>
          <p:sp>
            <p:nvSpPr>
              <p:cNvPr id="133" name="TextBox 133"/>
              <p:cNvSpPr txBox="1"/>
              <p:nvPr/>
            </p:nvSpPr>
            <p:spPr>
              <a:xfrm>
                <a:off x="1492429" y="3511391"/>
                <a:ext cx="1091842" cy="161925"/>
              </a:xfrm>
              <a:prstGeom prst="rect">
                <a:avLst/>
              </a:prstGeom>
              <a:noFill/>
              <a:ln>
                <a:noFill/>
              </a:ln>
            </p:spPr>
            <p:txBody>
              <a:bodyPr wrap="none" lIns="0" tIns="0" rIns="0" bIns="0" anchor="t" anchorCtr="0">
                <a:spAutoFit/>
              </a:bodyPr>
              <a:lstStyle/>
              <a:p>
                <a:pPr algn="ctr"/>
                <a:r>
                  <a:rPr lang="en-US" sz="820" b="1" dirty="0">
                    <a:solidFill>
                      <a:srgbClr val="4E0D00"/>
                    </a:solidFill>
                    <a:latin typeface="+mn-lt"/>
                    <a:ea typeface="+mn-ea"/>
                    <a:cs typeface="+mn-cs"/>
                  </a:rPr>
                  <a:t>MECE / Issue Tree​</a:t>
                </a:r>
              </a:p>
            </p:txBody>
          </p:sp>
          <p:grpSp>
            <p:nvGrpSpPr>
              <p:cNvPr id="139" name="Group 139"/>
              <p:cNvGrpSpPr/>
              <p:nvPr/>
            </p:nvGrpSpPr>
            <p:grpSpPr>
              <a:xfrm>
                <a:off x="1881187" y="3843337"/>
                <a:ext cx="314325" cy="314325"/>
                <a:chOff x="1881187" y="3843337"/>
                <a:chExt cx="314325" cy="314325"/>
              </a:xfrm>
            </p:grpSpPr>
            <p:sp>
              <p:nvSpPr>
                <p:cNvPr id="134" name="Freeform 134"/>
                <p:cNvSpPr/>
                <p:nvPr/>
              </p:nvSpPr>
              <p:spPr>
                <a:xfrm>
                  <a:off x="1881187" y="4052887"/>
                  <a:ext cx="104775" cy="104775"/>
                </a:xfrm>
                <a:custGeom>
                  <a:avLst/>
                  <a:gdLst/>
                  <a:ahLst/>
                  <a:cxnLst/>
                  <a:rect l="l" t="t" r="r" b="b"/>
                  <a:pathLst>
                    <a:path w="104775" h="104775">
                      <a:moveTo>
                        <a:pt x="0" y="34925"/>
                      </a:moveTo>
                      <a:cubicBezTo>
                        <a:pt x="0" y="15636"/>
                        <a:pt x="15636" y="0"/>
                        <a:pt x="34925" y="0"/>
                      </a:cubicBezTo>
                      <a:lnTo>
                        <a:pt x="69850" y="0"/>
                      </a:lnTo>
                      <a:cubicBezTo>
                        <a:pt x="89138" y="0"/>
                        <a:pt x="104775" y="15636"/>
                        <a:pt x="104775" y="34925"/>
                      </a:cubicBezTo>
                      <a:lnTo>
                        <a:pt x="104775" y="69850"/>
                      </a:lnTo>
                      <a:cubicBezTo>
                        <a:pt x="104775" y="89138"/>
                        <a:pt x="89138" y="104775"/>
                        <a:pt x="69850" y="104775"/>
                      </a:cubicBezTo>
                      <a:lnTo>
                        <a:pt x="34925" y="104775"/>
                      </a:lnTo>
                      <a:cubicBezTo>
                        <a:pt x="15636" y="104775"/>
                        <a:pt x="0" y="89138"/>
                        <a:pt x="0" y="69850"/>
                      </a:cubicBezTo>
                      <a:lnTo>
                        <a:pt x="0" y="34925"/>
                      </a:lnTo>
                    </a:path>
                  </a:pathLst>
                </a:custGeom>
                <a:noFill/>
                <a:ln w="34925">
                  <a:solidFill>
                    <a:srgbClr val="4E0D00"/>
                  </a:solidFill>
                </a:ln>
              </p:spPr>
            </p:sp>
            <p:sp>
              <p:nvSpPr>
                <p:cNvPr id="135" name="Freeform 135"/>
                <p:cNvSpPr/>
                <p:nvPr/>
              </p:nvSpPr>
              <p:spPr>
                <a:xfrm>
                  <a:off x="2090737" y="4052887"/>
                  <a:ext cx="104775" cy="104775"/>
                </a:xfrm>
                <a:custGeom>
                  <a:avLst/>
                  <a:gdLst/>
                  <a:ahLst/>
                  <a:cxnLst/>
                  <a:rect l="l" t="t" r="r" b="b"/>
                  <a:pathLst>
                    <a:path w="104775" h="104775">
                      <a:moveTo>
                        <a:pt x="0" y="34925"/>
                      </a:moveTo>
                      <a:cubicBezTo>
                        <a:pt x="0" y="15636"/>
                        <a:pt x="15636" y="0"/>
                        <a:pt x="34925" y="0"/>
                      </a:cubicBezTo>
                      <a:lnTo>
                        <a:pt x="69850" y="0"/>
                      </a:lnTo>
                      <a:cubicBezTo>
                        <a:pt x="89138" y="0"/>
                        <a:pt x="104775" y="15636"/>
                        <a:pt x="104775" y="34925"/>
                      </a:cubicBezTo>
                      <a:lnTo>
                        <a:pt x="104775" y="69850"/>
                      </a:lnTo>
                      <a:cubicBezTo>
                        <a:pt x="104775" y="89138"/>
                        <a:pt x="89138" y="104775"/>
                        <a:pt x="69850" y="104775"/>
                      </a:cubicBezTo>
                      <a:lnTo>
                        <a:pt x="34925" y="104775"/>
                      </a:lnTo>
                      <a:cubicBezTo>
                        <a:pt x="15636" y="104775"/>
                        <a:pt x="0" y="89138"/>
                        <a:pt x="0" y="69850"/>
                      </a:cubicBezTo>
                      <a:lnTo>
                        <a:pt x="0" y="34925"/>
                      </a:lnTo>
                    </a:path>
                  </a:pathLst>
                </a:custGeom>
                <a:noFill/>
                <a:ln w="34925">
                  <a:solidFill>
                    <a:srgbClr val="4E0D00"/>
                  </a:solidFill>
                </a:ln>
              </p:spPr>
            </p:sp>
            <p:sp>
              <p:nvSpPr>
                <p:cNvPr id="136" name="Freeform 136"/>
                <p:cNvSpPr/>
                <p:nvPr/>
              </p:nvSpPr>
              <p:spPr>
                <a:xfrm>
                  <a:off x="1985962" y="3843337"/>
                  <a:ext cx="104775" cy="104775"/>
                </a:xfrm>
                <a:custGeom>
                  <a:avLst/>
                  <a:gdLst/>
                  <a:ahLst/>
                  <a:cxnLst/>
                  <a:rect l="l" t="t" r="r" b="b"/>
                  <a:pathLst>
                    <a:path w="104775" h="104775">
                      <a:moveTo>
                        <a:pt x="0" y="34925"/>
                      </a:moveTo>
                      <a:cubicBezTo>
                        <a:pt x="0" y="15636"/>
                        <a:pt x="15636" y="0"/>
                        <a:pt x="34925" y="0"/>
                      </a:cubicBezTo>
                      <a:lnTo>
                        <a:pt x="69850" y="0"/>
                      </a:lnTo>
                      <a:cubicBezTo>
                        <a:pt x="89138" y="0"/>
                        <a:pt x="104775" y="15636"/>
                        <a:pt x="104775" y="34925"/>
                      </a:cubicBezTo>
                      <a:lnTo>
                        <a:pt x="104775" y="69850"/>
                      </a:lnTo>
                      <a:cubicBezTo>
                        <a:pt x="104775" y="89138"/>
                        <a:pt x="89138" y="104775"/>
                        <a:pt x="69850" y="104775"/>
                      </a:cubicBezTo>
                      <a:lnTo>
                        <a:pt x="34925" y="104775"/>
                      </a:lnTo>
                      <a:cubicBezTo>
                        <a:pt x="15636" y="104775"/>
                        <a:pt x="0" y="89138"/>
                        <a:pt x="0" y="69850"/>
                      </a:cubicBezTo>
                      <a:lnTo>
                        <a:pt x="0" y="34925"/>
                      </a:lnTo>
                    </a:path>
                  </a:pathLst>
                </a:custGeom>
                <a:noFill/>
                <a:ln w="34925">
                  <a:solidFill>
                    <a:srgbClr val="4E0D00"/>
                  </a:solidFill>
                </a:ln>
              </p:spPr>
            </p:sp>
            <p:sp>
              <p:nvSpPr>
                <p:cNvPr id="137" name="Freeform 137"/>
                <p:cNvSpPr/>
                <p:nvPr/>
              </p:nvSpPr>
              <p:spPr>
                <a:xfrm>
                  <a:off x="1933575" y="4000500"/>
                  <a:ext cx="209550" cy="52387"/>
                </a:xfrm>
                <a:custGeom>
                  <a:avLst/>
                  <a:gdLst/>
                  <a:ahLst/>
                  <a:cxnLst/>
                  <a:rect l="l" t="t" r="r" b="b"/>
                  <a:pathLst>
                    <a:path w="209550" h="52387">
                      <a:moveTo>
                        <a:pt x="0" y="52387"/>
                      </a:moveTo>
                      <a:lnTo>
                        <a:pt x="0" y="34925"/>
                      </a:lnTo>
                      <a:cubicBezTo>
                        <a:pt x="0" y="15636"/>
                        <a:pt x="15636" y="0"/>
                        <a:pt x="34925" y="0"/>
                      </a:cubicBezTo>
                      <a:lnTo>
                        <a:pt x="174625" y="0"/>
                      </a:lnTo>
                      <a:cubicBezTo>
                        <a:pt x="193913" y="0"/>
                        <a:pt x="209550" y="15636"/>
                        <a:pt x="209550" y="34925"/>
                      </a:cubicBezTo>
                      <a:lnTo>
                        <a:pt x="209550" y="52387"/>
                      </a:lnTo>
                    </a:path>
                  </a:pathLst>
                </a:custGeom>
                <a:noFill/>
                <a:ln w="34925">
                  <a:solidFill>
                    <a:srgbClr val="4E0D00"/>
                  </a:solidFill>
                </a:ln>
              </p:spPr>
            </p:sp>
            <p:sp>
              <p:nvSpPr>
                <p:cNvPr id="138" name="Freeform 138"/>
                <p:cNvSpPr/>
                <p:nvPr/>
              </p:nvSpPr>
              <p:spPr>
                <a:xfrm>
                  <a:off x="2038350" y="3948112"/>
                  <a:ext cx="9525" cy="52387"/>
                </a:xfrm>
                <a:custGeom>
                  <a:avLst/>
                  <a:gdLst/>
                  <a:ahLst/>
                  <a:cxnLst/>
                  <a:rect l="l" t="t" r="r" b="b"/>
                  <a:pathLst>
                    <a:path w="9525" h="52387">
                      <a:moveTo>
                        <a:pt x="0" y="0"/>
                      </a:moveTo>
                      <a:lnTo>
                        <a:pt x="0" y="52387"/>
                      </a:lnTo>
                    </a:path>
                  </a:pathLst>
                </a:custGeom>
                <a:noFill/>
                <a:ln w="34925">
                  <a:solidFill>
                    <a:srgbClr val="4E0D00"/>
                  </a:solidFill>
                </a:ln>
              </p:spPr>
            </p:sp>
          </p:grpSp>
          <p:sp>
            <p:nvSpPr>
              <p:cNvPr id="140" name="TextBox 140"/>
              <p:cNvSpPr txBox="1"/>
              <p:nvPr/>
            </p:nvSpPr>
            <p:spPr>
              <a:xfrm>
                <a:off x="1645882" y="4560332"/>
                <a:ext cx="784936"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确保议题不重不漏，</a:t>
                </a:r>
              </a:p>
            </p:txBody>
          </p:sp>
          <p:sp>
            <p:nvSpPr>
              <p:cNvPr id="141" name="TextBox 141"/>
              <p:cNvSpPr txBox="1"/>
              <p:nvPr/>
            </p:nvSpPr>
            <p:spPr>
              <a:xfrm>
                <a:off x="1602804" y="4712732"/>
                <a:ext cx="871093"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结构化分解复杂问题。</a:t>
                </a:r>
              </a:p>
            </p:txBody>
          </p:sp>
        </p:grpSp>
        <p:grpSp>
          <p:nvGrpSpPr>
            <p:cNvPr id="150" name="map-8020"/>
            <p:cNvGrpSpPr/>
            <p:nvPr/>
          </p:nvGrpSpPr>
          <p:grpSpPr>
            <a:xfrm>
              <a:off x="2971800" y="3352800"/>
              <a:ext cx="1905000" cy="1905000"/>
              <a:chOff x="2971800" y="3352800"/>
              <a:chExt cx="1905000" cy="1905000"/>
            </a:xfrm>
          </p:grpSpPr>
          <p:sp>
            <p:nvSpPr>
              <p:cNvPr id="143" name="Rectangle 143"/>
              <p:cNvSpPr/>
              <p:nvPr/>
            </p:nvSpPr>
            <p:spPr>
              <a:xfrm>
                <a:off x="2971800" y="3352800"/>
                <a:ext cx="1905000" cy="1905000"/>
              </a:xfrm>
              <a:prstGeom prst="rect">
                <a:avLst/>
              </a:prstGeom>
              <a:solidFill>
                <a:srgbClr val="FFFFFF"/>
              </a:solidFill>
              <a:ln w="9525">
                <a:solidFill>
                  <a:srgbClr val="C7D2E4"/>
                </a:solidFill>
              </a:ln>
            </p:spPr>
          </p:sp>
          <p:sp>
            <p:nvSpPr>
              <p:cNvPr id="144" name="TextBox 144"/>
              <p:cNvSpPr txBox="1"/>
              <p:nvPr/>
            </p:nvSpPr>
            <p:spPr>
              <a:xfrm>
                <a:off x="3440866" y="3511391"/>
                <a:ext cx="966868"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80/20 / 假设驱动​</a:t>
                </a:r>
              </a:p>
            </p:txBody>
          </p:sp>
          <p:grpSp>
            <p:nvGrpSpPr>
              <p:cNvPr id="147" name="Group 147"/>
              <p:cNvGrpSpPr/>
              <p:nvPr/>
            </p:nvGrpSpPr>
            <p:grpSpPr>
              <a:xfrm>
                <a:off x="3762270" y="3846340"/>
                <a:ext cx="315699" cy="316189"/>
                <a:chOff x="3762270" y="3846340"/>
                <a:chExt cx="315699" cy="316189"/>
              </a:xfrm>
            </p:grpSpPr>
            <p:sp>
              <p:nvSpPr>
                <p:cNvPr id="145" name="Freeform 145"/>
                <p:cNvSpPr/>
                <p:nvPr/>
              </p:nvSpPr>
              <p:spPr>
                <a:xfrm>
                  <a:off x="3762270" y="3846340"/>
                  <a:ext cx="315699" cy="316189"/>
                </a:xfrm>
                <a:custGeom>
                  <a:avLst/>
                  <a:gdLst/>
                  <a:ahLst/>
                  <a:cxnLst/>
                  <a:rect l="l" t="t" r="r" b="b"/>
                  <a:pathLst>
                    <a:path w="315699" h="316189">
                      <a:moveTo>
                        <a:pt x="127105" y="490"/>
                      </a:moveTo>
                      <a:cubicBezTo>
                        <a:pt x="51493" y="18018"/>
                        <a:pt x="0" y="88120"/>
                        <a:pt x="5888" y="165514"/>
                      </a:cubicBezTo>
                      <a:cubicBezTo>
                        <a:pt x="11776" y="242908"/>
                        <a:pt x="73281" y="304413"/>
                        <a:pt x="150675" y="310301"/>
                      </a:cubicBezTo>
                      <a:cubicBezTo>
                        <a:pt x="228069" y="316189"/>
                        <a:pt x="298171" y="264697"/>
                        <a:pt x="315699" y="189084"/>
                      </a:cubicBezTo>
                      <a:cubicBezTo>
                        <a:pt x="315699" y="179440"/>
                        <a:pt x="307881" y="171622"/>
                        <a:pt x="298237" y="171622"/>
                      </a:cubicBezTo>
                      <a:lnTo>
                        <a:pt x="179492" y="171622"/>
                      </a:lnTo>
                      <a:cubicBezTo>
                        <a:pt x="160204" y="171622"/>
                        <a:pt x="144567" y="155986"/>
                        <a:pt x="144567" y="136697"/>
                      </a:cubicBezTo>
                      <a:lnTo>
                        <a:pt x="144567" y="14460"/>
                      </a:lnTo>
                      <a:cubicBezTo>
                        <a:pt x="144129" y="10281"/>
                        <a:pt x="142036" y="6451"/>
                        <a:pt x="138755" y="3827"/>
                      </a:cubicBezTo>
                      <a:cubicBezTo>
                        <a:pt x="135474" y="1202"/>
                        <a:pt x="131278" y="0"/>
                        <a:pt x="127105" y="490"/>
                      </a:cubicBezTo>
                    </a:path>
                  </a:pathLst>
                </a:custGeom>
                <a:noFill/>
                <a:ln w="34925">
                  <a:solidFill>
                    <a:srgbClr val="4E0D00"/>
                  </a:solidFill>
                </a:ln>
              </p:spPr>
            </p:sp>
            <p:sp>
              <p:nvSpPr>
                <p:cNvPr id="146" name="Freeform 146"/>
                <p:cNvSpPr/>
                <p:nvPr/>
              </p:nvSpPr>
              <p:spPr>
                <a:xfrm>
                  <a:off x="3976687" y="3852069"/>
                  <a:ext cx="96044" cy="96044"/>
                </a:xfrm>
                <a:custGeom>
                  <a:avLst/>
                  <a:gdLst/>
                  <a:ahLst/>
                  <a:cxnLst/>
                  <a:rect l="l" t="t" r="r" b="b"/>
                  <a:pathLst>
                    <a:path w="96044" h="96044">
                      <a:moveTo>
                        <a:pt x="0" y="0"/>
                      </a:moveTo>
                      <a:cubicBezTo>
                        <a:pt x="44910" y="15813"/>
                        <a:pt x="80230" y="51133"/>
                        <a:pt x="96044" y="96044"/>
                      </a:cubicBezTo>
                      <a:lnTo>
                        <a:pt x="17462" y="96044"/>
                      </a:lnTo>
                      <a:cubicBezTo>
                        <a:pt x="7818" y="96044"/>
                        <a:pt x="0" y="88225"/>
                        <a:pt x="0" y="78581"/>
                      </a:cubicBezTo>
                      <a:lnTo>
                        <a:pt x="0" y="0"/>
                      </a:lnTo>
                    </a:path>
                  </a:pathLst>
                </a:custGeom>
                <a:noFill/>
                <a:ln w="34925">
                  <a:solidFill>
                    <a:srgbClr val="4E0D00"/>
                  </a:solidFill>
                </a:ln>
              </p:spPr>
            </p:sp>
          </p:grpSp>
          <p:sp>
            <p:nvSpPr>
              <p:cNvPr id="148" name="TextBox 148"/>
              <p:cNvSpPr txBox="1"/>
              <p:nvPr/>
            </p:nvSpPr>
            <p:spPr>
              <a:xfrm>
                <a:off x="3402597" y="4560332"/>
                <a:ext cx="1043407"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聚焦主要矛盾，提出并验证</a:t>
                </a:r>
              </a:p>
            </p:txBody>
          </p:sp>
          <p:sp>
            <p:nvSpPr>
              <p:cNvPr id="149" name="TextBox 149"/>
              <p:cNvSpPr txBox="1"/>
              <p:nvPr/>
            </p:nvSpPr>
            <p:spPr>
              <a:xfrm>
                <a:off x="3402597" y="4712732"/>
                <a:ext cx="1043407"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关键假设，减少无效分析。</a:t>
                </a:r>
              </a:p>
            </p:txBody>
          </p:sp>
        </p:grpSp>
        <p:grpSp>
          <p:nvGrpSpPr>
            <p:cNvPr id="182" name="map-multi"/>
            <p:cNvGrpSpPr/>
            <p:nvPr/>
          </p:nvGrpSpPr>
          <p:grpSpPr>
            <a:xfrm>
              <a:off x="4953000" y="3352800"/>
              <a:ext cx="3143250" cy="1905000"/>
              <a:chOff x="4953000" y="3352800"/>
              <a:chExt cx="3143250" cy="1905000"/>
            </a:xfrm>
          </p:grpSpPr>
          <p:sp>
            <p:nvSpPr>
              <p:cNvPr id="151" name="Rectangle 151"/>
              <p:cNvSpPr/>
              <p:nvPr/>
            </p:nvSpPr>
            <p:spPr>
              <a:xfrm>
                <a:off x="4953000" y="3352800"/>
                <a:ext cx="3143250" cy="1905000"/>
              </a:xfrm>
              <a:prstGeom prst="rect">
                <a:avLst/>
              </a:prstGeom>
              <a:solidFill>
                <a:srgbClr val="FFFFFF"/>
              </a:solidFill>
              <a:ln w="9525">
                <a:solidFill>
                  <a:srgbClr val="C7D2E4"/>
                </a:solidFill>
              </a:ln>
            </p:spPr>
          </p:sp>
          <p:sp>
            <p:nvSpPr>
              <p:cNvPr id="152" name="TextBox 152"/>
              <p:cNvSpPr txBox="1"/>
              <p:nvPr/>
            </p:nvSpPr>
            <p:spPr>
              <a:xfrm>
                <a:off x="5377551" y="3511391"/>
                <a:ext cx="2294148"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7S / 增长 / 价值链 / 能力机会 / 价值驱动树​</a:t>
                </a:r>
              </a:p>
            </p:txBody>
          </p:sp>
          <p:grpSp>
            <p:nvGrpSpPr>
              <p:cNvPr id="157" name="Group 157"/>
              <p:cNvGrpSpPr/>
              <p:nvPr/>
            </p:nvGrpSpPr>
            <p:grpSpPr>
              <a:xfrm>
                <a:off x="5273675" y="3883025"/>
                <a:ext cx="139701" cy="139701"/>
                <a:chOff x="5273675" y="3883025"/>
                <a:chExt cx="139701" cy="139701"/>
              </a:xfrm>
            </p:grpSpPr>
            <p:sp>
              <p:nvSpPr>
                <p:cNvPr id="153" name="Freeform 153"/>
                <p:cNvSpPr/>
                <p:nvPr/>
              </p:nvSpPr>
              <p:spPr>
                <a:xfrm>
                  <a:off x="5273675" y="3883025"/>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4E0D00"/>
                  </a:solidFill>
                </a:ln>
              </p:spPr>
            </p:sp>
            <p:sp>
              <p:nvSpPr>
                <p:cNvPr id="154" name="Freeform 154"/>
                <p:cNvSpPr/>
                <p:nvPr/>
              </p:nvSpPr>
              <p:spPr>
                <a:xfrm>
                  <a:off x="5360988" y="3883025"/>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4E0D00"/>
                  </a:solidFill>
                </a:ln>
              </p:spPr>
            </p:sp>
            <p:sp>
              <p:nvSpPr>
                <p:cNvPr id="155" name="Freeform 155"/>
                <p:cNvSpPr/>
                <p:nvPr/>
              </p:nvSpPr>
              <p:spPr>
                <a:xfrm>
                  <a:off x="5273675" y="3970338"/>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4E0D00"/>
                  </a:solidFill>
                </a:ln>
              </p:spPr>
            </p:sp>
            <p:sp>
              <p:nvSpPr>
                <p:cNvPr id="156" name="Freeform 156"/>
                <p:cNvSpPr/>
                <p:nvPr/>
              </p:nvSpPr>
              <p:spPr>
                <a:xfrm>
                  <a:off x="5360988" y="3970338"/>
                  <a:ext cx="52388" cy="52388"/>
                </a:xfrm>
                <a:custGeom>
                  <a:avLst/>
                  <a:gdLst/>
                  <a:ahLst/>
                  <a:cxnLst/>
                  <a:rect l="l" t="t" r="r" b="b"/>
                  <a:pathLst>
                    <a:path w="52388" h="52388">
                      <a:moveTo>
                        <a:pt x="0" y="8731"/>
                      </a:moveTo>
                      <a:cubicBezTo>
                        <a:pt x="0" y="3909"/>
                        <a:pt x="3909" y="0"/>
                        <a:pt x="8731" y="0"/>
                      </a:cubicBezTo>
                      <a:lnTo>
                        <a:pt x="43656" y="0"/>
                      </a:lnTo>
                      <a:cubicBezTo>
                        <a:pt x="48478" y="0"/>
                        <a:pt x="52388" y="3909"/>
                        <a:pt x="52388" y="8731"/>
                      </a:cubicBezTo>
                      <a:lnTo>
                        <a:pt x="52388" y="43656"/>
                      </a:lnTo>
                      <a:cubicBezTo>
                        <a:pt x="52388" y="48478"/>
                        <a:pt x="48478" y="52388"/>
                        <a:pt x="43656" y="52388"/>
                      </a:cubicBezTo>
                      <a:lnTo>
                        <a:pt x="8731" y="52388"/>
                      </a:lnTo>
                      <a:cubicBezTo>
                        <a:pt x="3909" y="52388"/>
                        <a:pt x="0" y="48478"/>
                        <a:pt x="0" y="43656"/>
                      </a:cubicBezTo>
                      <a:lnTo>
                        <a:pt x="0" y="8731"/>
                      </a:lnTo>
                    </a:path>
                  </a:pathLst>
                </a:custGeom>
                <a:noFill/>
                <a:ln w="17463">
                  <a:solidFill>
                    <a:srgbClr val="4E0D00"/>
                  </a:solidFill>
                </a:ln>
              </p:spPr>
            </p:sp>
          </p:grpSp>
          <p:sp>
            <p:nvSpPr>
              <p:cNvPr id="158" name="TextBox 158"/>
              <p:cNvSpPr txBox="1"/>
              <p:nvPr/>
            </p:nvSpPr>
            <p:spPr>
              <a:xfrm>
                <a:off x="5273048" y="4168378"/>
                <a:ext cx="140955" cy="111919"/>
              </a:xfrm>
              <a:prstGeom prst="rect">
                <a:avLst/>
              </a:prstGeom>
              <a:noFill/>
              <a:ln>
                <a:noFill/>
              </a:ln>
            </p:spPr>
            <p:txBody>
              <a:bodyPr wrap="none" lIns="0" tIns="0" rIns="0" bIns="0" anchor="t" anchorCtr="0">
                <a:spAutoFit/>
              </a:bodyPr>
              <a:lstStyle/>
              <a:p>
                <a:pPr algn="ctr"/>
                <a:r>
                  <a:rPr lang="en-US" sz="560" dirty="0">
                    <a:solidFill>
                      <a:srgbClr val="6E5955"/>
                    </a:solidFill>
                    <a:latin typeface="+mn-lt"/>
                    <a:ea typeface="+mn-ea"/>
                    <a:cs typeface="+mn-cs"/>
                  </a:rPr>
                  <a:t>7S​</a:t>
                </a:r>
              </a:p>
            </p:txBody>
          </p:sp>
          <p:grpSp>
            <p:nvGrpSpPr>
              <p:cNvPr id="161" name="Group 161"/>
              <p:cNvGrpSpPr/>
              <p:nvPr/>
            </p:nvGrpSpPr>
            <p:grpSpPr>
              <a:xfrm>
                <a:off x="5855494" y="3909219"/>
                <a:ext cx="157163" cy="87313"/>
                <a:chOff x="5855494" y="3909219"/>
                <a:chExt cx="157163" cy="87313"/>
              </a:xfrm>
            </p:grpSpPr>
            <p:sp>
              <p:nvSpPr>
                <p:cNvPr id="159" name="Freeform 159"/>
                <p:cNvSpPr/>
                <p:nvPr/>
              </p:nvSpPr>
              <p:spPr>
                <a:xfrm>
                  <a:off x="5855494" y="3909219"/>
                  <a:ext cx="157163" cy="87313"/>
                </a:xfrm>
                <a:custGeom>
                  <a:avLst/>
                  <a:gdLst/>
                  <a:ahLst/>
                  <a:cxnLst/>
                  <a:rect l="l" t="t" r="r" b="b"/>
                  <a:pathLst>
                    <a:path w="157163" h="87313">
                      <a:moveTo>
                        <a:pt x="0" y="87313"/>
                      </a:moveTo>
                      <a:lnTo>
                        <a:pt x="52388" y="34925"/>
                      </a:lnTo>
                      <a:lnTo>
                        <a:pt x="87313" y="69850"/>
                      </a:lnTo>
                      <a:lnTo>
                        <a:pt x="157163" y="0"/>
                      </a:lnTo>
                    </a:path>
                  </a:pathLst>
                </a:custGeom>
                <a:noFill/>
                <a:ln w="17463">
                  <a:solidFill>
                    <a:srgbClr val="4E0D00"/>
                  </a:solidFill>
                </a:ln>
              </p:spPr>
            </p:sp>
            <p:sp>
              <p:nvSpPr>
                <p:cNvPr id="160" name="Freeform 160"/>
                <p:cNvSpPr/>
                <p:nvPr/>
              </p:nvSpPr>
              <p:spPr>
                <a:xfrm>
                  <a:off x="5951538" y="3909219"/>
                  <a:ext cx="61119" cy="61119"/>
                </a:xfrm>
                <a:custGeom>
                  <a:avLst/>
                  <a:gdLst/>
                  <a:ahLst/>
                  <a:cxnLst/>
                  <a:rect l="l" t="t" r="r" b="b"/>
                  <a:pathLst>
                    <a:path w="61119" h="61119">
                      <a:moveTo>
                        <a:pt x="0" y="0"/>
                      </a:moveTo>
                      <a:lnTo>
                        <a:pt x="61119" y="0"/>
                      </a:lnTo>
                      <a:lnTo>
                        <a:pt x="61119" y="61119"/>
                      </a:lnTo>
                    </a:path>
                  </a:pathLst>
                </a:custGeom>
                <a:noFill/>
                <a:ln w="17463">
                  <a:solidFill>
                    <a:srgbClr val="4E0D00"/>
                  </a:solidFill>
                </a:ln>
              </p:spPr>
            </p:sp>
          </p:grpSp>
          <p:sp>
            <p:nvSpPr>
              <p:cNvPr id="162" name="TextBox 162"/>
              <p:cNvSpPr txBox="1"/>
              <p:nvPr/>
            </p:nvSpPr>
            <p:spPr>
              <a:xfrm>
                <a:off x="5853925" y="4168378"/>
                <a:ext cx="160299" cy="111919"/>
              </a:xfrm>
              <a:prstGeom prst="rect">
                <a:avLst/>
              </a:prstGeom>
              <a:noFill/>
              <a:ln>
                <a:noFill/>
              </a:ln>
            </p:spPr>
            <p:txBody>
              <a:bodyPr wrap="none" lIns="0" tIns="0" rIns="0" bIns="0" anchor="t" anchorCtr="0">
                <a:spAutoFit/>
              </a:bodyPr>
              <a:lstStyle/>
              <a:p>
                <a:pPr algn="ctr"/>
                <a:r>
                  <a:rPr lang="zh-CN" sz="560" dirty="0">
                    <a:solidFill>
                      <a:srgbClr val="6E5955"/>
                    </a:solidFill>
                    <a:latin typeface="+mn-lt"/>
                    <a:ea typeface="+mn-ea"/>
                    <a:cs typeface="+mn-cs"/>
                  </a:rPr>
                  <a:t>增长</a:t>
                </a:r>
              </a:p>
            </p:txBody>
          </p:sp>
          <p:grpSp>
            <p:nvGrpSpPr>
              <p:cNvPr id="166" name="Group 166"/>
              <p:cNvGrpSpPr/>
              <p:nvPr/>
            </p:nvGrpSpPr>
            <p:grpSpPr>
              <a:xfrm>
                <a:off x="6454774" y="3878759"/>
                <a:ext cx="143954" cy="148214"/>
                <a:chOff x="6454774" y="3878759"/>
                <a:chExt cx="143954" cy="148214"/>
              </a:xfrm>
            </p:grpSpPr>
            <p:sp>
              <p:nvSpPr>
                <p:cNvPr id="163" name="Freeform 163"/>
                <p:cNvSpPr/>
                <p:nvPr/>
              </p:nvSpPr>
              <p:spPr>
                <a:xfrm>
                  <a:off x="6498431" y="3926681"/>
                  <a:ext cx="52388" cy="52388"/>
                </a:xfrm>
                <a:custGeom>
                  <a:avLst/>
                  <a:gdLst/>
                  <a:ahLst/>
                  <a:cxnLst/>
                  <a:rect l="l" t="t" r="r" b="b"/>
                  <a:pathLst>
                    <a:path w="52388" h="52388">
                      <a:moveTo>
                        <a:pt x="0" y="52388"/>
                      </a:moveTo>
                      <a:lnTo>
                        <a:pt x="52388" y="0"/>
                      </a:lnTo>
                    </a:path>
                  </a:pathLst>
                </a:custGeom>
                <a:noFill/>
                <a:ln w="17463">
                  <a:solidFill>
                    <a:srgbClr val="4E0D00"/>
                  </a:solidFill>
                </a:ln>
              </p:spPr>
            </p:sp>
            <p:sp>
              <p:nvSpPr>
                <p:cNvPr id="164" name="Freeform 164"/>
                <p:cNvSpPr/>
                <p:nvPr/>
              </p:nvSpPr>
              <p:spPr>
                <a:xfrm>
                  <a:off x="6515894" y="3878759"/>
                  <a:ext cx="82834" cy="82847"/>
                </a:xfrm>
                <a:custGeom>
                  <a:avLst/>
                  <a:gdLst/>
                  <a:ahLst/>
                  <a:cxnLst/>
                  <a:rect l="l" t="t" r="r" b="b"/>
                  <a:pathLst>
                    <a:path w="82834" h="82847">
                      <a:moveTo>
                        <a:pt x="0" y="21729"/>
                      </a:moveTo>
                      <a:lnTo>
                        <a:pt x="4043" y="17049"/>
                      </a:lnTo>
                      <a:cubicBezTo>
                        <a:pt x="21094" y="0"/>
                        <a:pt x="48737" y="2"/>
                        <a:pt x="65786" y="17053"/>
                      </a:cubicBezTo>
                      <a:cubicBezTo>
                        <a:pt x="82834" y="34104"/>
                        <a:pt x="82832" y="61747"/>
                        <a:pt x="65781" y="78796"/>
                      </a:cubicBezTo>
                      <a:lnTo>
                        <a:pt x="61119" y="82847"/>
                      </a:lnTo>
                    </a:path>
                  </a:pathLst>
                </a:custGeom>
                <a:noFill/>
                <a:ln w="17463">
                  <a:solidFill>
                    <a:srgbClr val="4E0D00"/>
                  </a:solidFill>
                </a:ln>
              </p:spPr>
            </p:sp>
            <p:sp>
              <p:nvSpPr>
                <p:cNvPr id="165" name="Freeform 165"/>
                <p:cNvSpPr/>
                <p:nvPr/>
              </p:nvSpPr>
              <p:spPr>
                <a:xfrm>
                  <a:off x="6454774" y="3944144"/>
                  <a:ext cx="78583" cy="82829"/>
                </a:xfrm>
                <a:custGeom>
                  <a:avLst/>
                  <a:gdLst/>
                  <a:ahLst/>
                  <a:cxnLst/>
                  <a:rect l="l" t="t" r="r" b="b"/>
                  <a:pathLst>
                    <a:path w="78583" h="82829">
                      <a:moveTo>
                        <a:pt x="78583" y="61119"/>
                      </a:moveTo>
                      <a:lnTo>
                        <a:pt x="75116" y="65781"/>
                      </a:lnTo>
                      <a:cubicBezTo>
                        <a:pt x="57876" y="82829"/>
                        <a:pt x="30128" y="82829"/>
                        <a:pt x="12889" y="65781"/>
                      </a:cubicBezTo>
                      <a:cubicBezTo>
                        <a:pt x="4641" y="57626"/>
                        <a:pt x="0" y="46510"/>
                        <a:pt x="0" y="34912"/>
                      </a:cubicBezTo>
                      <a:cubicBezTo>
                        <a:pt x="0" y="23314"/>
                        <a:pt x="4641" y="12197"/>
                        <a:pt x="12889" y="4043"/>
                      </a:cubicBezTo>
                      <a:lnTo>
                        <a:pt x="17464" y="0"/>
                      </a:lnTo>
                    </a:path>
                  </a:pathLst>
                </a:custGeom>
                <a:noFill/>
                <a:ln w="17463">
                  <a:solidFill>
                    <a:srgbClr val="4E0D00"/>
                  </a:solidFill>
                </a:ln>
              </p:spPr>
            </p:sp>
          </p:grpSp>
          <p:sp>
            <p:nvSpPr>
              <p:cNvPr id="167" name="TextBox 167"/>
              <p:cNvSpPr txBox="1"/>
              <p:nvPr/>
            </p:nvSpPr>
            <p:spPr>
              <a:xfrm>
                <a:off x="6406782" y="4168378"/>
                <a:ext cx="235687" cy="111919"/>
              </a:xfrm>
              <a:prstGeom prst="rect">
                <a:avLst/>
              </a:prstGeom>
              <a:noFill/>
              <a:ln>
                <a:noFill/>
              </a:ln>
            </p:spPr>
            <p:txBody>
              <a:bodyPr wrap="none" lIns="0" tIns="0" rIns="0" bIns="0" anchor="t" anchorCtr="0">
                <a:spAutoFit/>
              </a:bodyPr>
              <a:lstStyle/>
              <a:p>
                <a:pPr algn="ctr"/>
                <a:r>
                  <a:rPr lang="zh-CN" sz="560" dirty="0">
                    <a:solidFill>
                      <a:srgbClr val="6E5955"/>
                    </a:solidFill>
                    <a:latin typeface="+mn-lt"/>
                    <a:ea typeface="+mn-ea"/>
                    <a:cs typeface="+mn-cs"/>
                  </a:rPr>
                  <a:t>价值链</a:t>
                </a:r>
              </a:p>
            </p:txBody>
          </p:sp>
          <p:grpSp>
            <p:nvGrpSpPr>
              <p:cNvPr id="171" name="Group 171"/>
              <p:cNvGrpSpPr/>
              <p:nvPr/>
            </p:nvGrpSpPr>
            <p:grpSpPr>
              <a:xfrm>
                <a:off x="7036594" y="3874294"/>
                <a:ext cx="157163" cy="157163"/>
                <a:chOff x="7036594" y="3874294"/>
                <a:chExt cx="157163" cy="157163"/>
              </a:xfrm>
            </p:grpSpPr>
            <p:sp>
              <p:nvSpPr>
                <p:cNvPr id="168" name="Freeform 168"/>
                <p:cNvSpPr/>
                <p:nvPr/>
              </p:nvSpPr>
              <p:spPr>
                <a:xfrm>
                  <a:off x="7106444" y="394414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4E0D00"/>
                  </a:solidFill>
                </a:ln>
              </p:spPr>
            </p:sp>
            <p:sp>
              <p:nvSpPr>
                <p:cNvPr id="169" name="Freeform 169"/>
                <p:cNvSpPr/>
                <p:nvPr/>
              </p:nvSpPr>
              <p:spPr>
                <a:xfrm>
                  <a:off x="7071519" y="390921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4E0D00"/>
                  </a:solidFill>
                </a:ln>
              </p:spPr>
            </p:sp>
            <p:sp>
              <p:nvSpPr>
                <p:cNvPr id="170" name="Freeform 170"/>
                <p:cNvSpPr/>
                <p:nvPr/>
              </p:nvSpPr>
              <p:spPr>
                <a:xfrm>
                  <a:off x="7036594" y="387429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4E0D00"/>
                  </a:solidFill>
                </a:ln>
              </p:spPr>
            </p:sp>
          </p:grpSp>
          <p:sp>
            <p:nvSpPr>
              <p:cNvPr id="172" name="TextBox 172"/>
              <p:cNvSpPr txBox="1"/>
              <p:nvPr/>
            </p:nvSpPr>
            <p:spPr>
              <a:xfrm>
                <a:off x="6959638" y="4168378"/>
                <a:ext cx="311074" cy="111919"/>
              </a:xfrm>
              <a:prstGeom prst="rect">
                <a:avLst/>
              </a:prstGeom>
              <a:noFill/>
              <a:ln>
                <a:noFill/>
              </a:ln>
            </p:spPr>
            <p:txBody>
              <a:bodyPr wrap="none" lIns="0" tIns="0" rIns="0" bIns="0" anchor="t" anchorCtr="0">
                <a:spAutoFit/>
              </a:bodyPr>
              <a:lstStyle/>
              <a:p>
                <a:pPr algn="ctr"/>
                <a:r>
                  <a:rPr lang="zh-CN" sz="560" dirty="0">
                    <a:solidFill>
                      <a:srgbClr val="6E5955"/>
                    </a:solidFill>
                    <a:latin typeface="+mn-lt"/>
                    <a:ea typeface="+mn-ea"/>
                    <a:cs typeface="+mn-cs"/>
                  </a:rPr>
                  <a:t>能力机会</a:t>
                </a:r>
              </a:p>
            </p:txBody>
          </p:sp>
          <p:grpSp>
            <p:nvGrpSpPr>
              <p:cNvPr id="178" name="Group 178"/>
              <p:cNvGrpSpPr/>
              <p:nvPr/>
            </p:nvGrpSpPr>
            <p:grpSpPr>
              <a:xfrm>
                <a:off x="7627144" y="3874294"/>
                <a:ext cx="157162" cy="157162"/>
                <a:chOff x="7627144" y="3874294"/>
                <a:chExt cx="157162" cy="157162"/>
              </a:xfrm>
            </p:grpSpPr>
            <p:sp>
              <p:nvSpPr>
                <p:cNvPr id="173" name="Freeform 173"/>
                <p:cNvSpPr/>
                <p:nvPr/>
              </p:nvSpPr>
              <p:spPr>
                <a:xfrm>
                  <a:off x="7688263" y="3874294"/>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4E0D00"/>
                  </a:solidFill>
                </a:ln>
              </p:spPr>
            </p:sp>
            <p:sp>
              <p:nvSpPr>
                <p:cNvPr id="174" name="Freeform 174"/>
                <p:cNvSpPr/>
                <p:nvPr/>
              </p:nvSpPr>
              <p:spPr>
                <a:xfrm>
                  <a:off x="7627144" y="39965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4E0D00"/>
                  </a:solidFill>
                </a:ln>
              </p:spPr>
            </p:sp>
            <p:sp>
              <p:nvSpPr>
                <p:cNvPr id="175" name="Freeform 175"/>
                <p:cNvSpPr/>
                <p:nvPr/>
              </p:nvSpPr>
              <p:spPr>
                <a:xfrm>
                  <a:off x="7749381" y="3996531"/>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4E0D00"/>
                  </a:solidFill>
                </a:ln>
              </p:spPr>
            </p:sp>
            <p:sp>
              <p:nvSpPr>
                <p:cNvPr id="176" name="Freeform 176"/>
                <p:cNvSpPr/>
                <p:nvPr/>
              </p:nvSpPr>
              <p:spPr>
                <a:xfrm>
                  <a:off x="7657703" y="3961606"/>
                  <a:ext cx="96044" cy="39291"/>
                </a:xfrm>
                <a:custGeom>
                  <a:avLst/>
                  <a:gdLst/>
                  <a:ahLst/>
                  <a:cxnLst/>
                  <a:rect l="l" t="t" r="r" b="b"/>
                  <a:pathLst>
                    <a:path w="96044" h="39291">
                      <a:moveTo>
                        <a:pt x="0" y="39291"/>
                      </a:moveTo>
                      <a:lnTo>
                        <a:pt x="48022" y="0"/>
                      </a:lnTo>
                      <a:lnTo>
                        <a:pt x="96044" y="39291"/>
                      </a:lnTo>
                    </a:path>
                  </a:pathLst>
                </a:custGeom>
                <a:noFill/>
                <a:ln w="17463">
                  <a:solidFill>
                    <a:srgbClr val="4E0D00"/>
                  </a:solidFill>
                </a:ln>
              </p:spPr>
            </p:sp>
            <p:sp>
              <p:nvSpPr>
                <p:cNvPr id="177" name="Freeform 177"/>
                <p:cNvSpPr/>
                <p:nvPr/>
              </p:nvSpPr>
              <p:spPr>
                <a:xfrm>
                  <a:off x="7705725" y="3909219"/>
                  <a:ext cx="9525" cy="52388"/>
                </a:xfrm>
                <a:custGeom>
                  <a:avLst/>
                  <a:gdLst/>
                  <a:ahLst/>
                  <a:cxnLst/>
                  <a:rect l="l" t="t" r="r" b="b"/>
                  <a:pathLst>
                    <a:path w="9525" h="52388">
                      <a:moveTo>
                        <a:pt x="0" y="0"/>
                      </a:moveTo>
                      <a:lnTo>
                        <a:pt x="0" y="52388"/>
                      </a:lnTo>
                    </a:path>
                  </a:pathLst>
                </a:custGeom>
                <a:noFill/>
                <a:ln w="17463">
                  <a:solidFill>
                    <a:srgbClr val="4E0D00"/>
                  </a:solidFill>
                </a:ln>
              </p:spPr>
            </p:sp>
          </p:grpSp>
          <p:sp>
            <p:nvSpPr>
              <p:cNvPr id="179" name="TextBox 179"/>
              <p:cNvSpPr txBox="1"/>
              <p:nvPr/>
            </p:nvSpPr>
            <p:spPr>
              <a:xfrm>
                <a:off x="7512494" y="4168378"/>
                <a:ext cx="386461" cy="111919"/>
              </a:xfrm>
              <a:prstGeom prst="rect">
                <a:avLst/>
              </a:prstGeom>
              <a:noFill/>
              <a:ln>
                <a:noFill/>
              </a:ln>
            </p:spPr>
            <p:txBody>
              <a:bodyPr wrap="none" lIns="0" tIns="0" rIns="0" bIns="0" anchor="t" anchorCtr="0">
                <a:spAutoFit/>
              </a:bodyPr>
              <a:lstStyle/>
              <a:p>
                <a:pPr algn="ctr"/>
                <a:r>
                  <a:rPr lang="zh-CN" sz="560" dirty="0">
                    <a:solidFill>
                      <a:srgbClr val="6E5955"/>
                    </a:solidFill>
                    <a:latin typeface="+mn-lt"/>
                    <a:ea typeface="+mn-ea"/>
                    <a:cs typeface="+mn-cs"/>
                  </a:rPr>
                  <a:t>价值驱动树</a:t>
                </a:r>
              </a:p>
            </p:txBody>
          </p:sp>
          <p:sp>
            <p:nvSpPr>
              <p:cNvPr id="180" name="TextBox 180"/>
              <p:cNvSpPr txBox="1"/>
              <p:nvPr/>
            </p:nvSpPr>
            <p:spPr>
              <a:xfrm>
                <a:off x="5701373" y="4560332"/>
                <a:ext cx="1646504"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从多视角进行分析，定位根因，识别机会，</a:t>
                </a:r>
              </a:p>
            </p:txBody>
          </p:sp>
          <p:sp>
            <p:nvSpPr>
              <p:cNvPr id="181" name="TextBox 181"/>
              <p:cNvSpPr txBox="1"/>
              <p:nvPr/>
            </p:nvSpPr>
            <p:spPr>
              <a:xfrm>
                <a:off x="6175235" y="4712732"/>
                <a:ext cx="698779"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量化价值与影响。</a:t>
                </a:r>
              </a:p>
            </p:txBody>
          </p:sp>
        </p:grpSp>
        <p:grpSp>
          <p:nvGrpSpPr>
            <p:cNvPr id="191" name="map-pyramid"/>
            <p:cNvGrpSpPr/>
            <p:nvPr/>
          </p:nvGrpSpPr>
          <p:grpSpPr>
            <a:xfrm>
              <a:off x="8172450" y="3352800"/>
              <a:ext cx="1714500" cy="1905000"/>
              <a:chOff x="8172450" y="3352800"/>
              <a:chExt cx="1714500" cy="1905000"/>
            </a:xfrm>
          </p:grpSpPr>
          <p:sp>
            <p:nvSpPr>
              <p:cNvPr id="183" name="Rectangle 183"/>
              <p:cNvSpPr/>
              <p:nvPr/>
            </p:nvSpPr>
            <p:spPr>
              <a:xfrm>
                <a:off x="8172450" y="3352800"/>
                <a:ext cx="1714500" cy="1905000"/>
              </a:xfrm>
              <a:prstGeom prst="rect">
                <a:avLst/>
              </a:prstGeom>
              <a:solidFill>
                <a:srgbClr val="FFFFFF"/>
              </a:solidFill>
              <a:ln w="9525">
                <a:solidFill>
                  <a:srgbClr val="C7D2E4"/>
                </a:solidFill>
              </a:ln>
            </p:spPr>
          </p:sp>
          <p:sp>
            <p:nvSpPr>
              <p:cNvPr id="184" name="TextBox 184"/>
              <p:cNvSpPr txBox="1"/>
              <p:nvPr/>
            </p:nvSpPr>
            <p:spPr>
              <a:xfrm>
                <a:off x="8608294" y="3511391"/>
                <a:ext cx="842812"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金字塔 / SCQA​</a:t>
                </a:r>
              </a:p>
            </p:txBody>
          </p:sp>
          <p:sp>
            <p:nvSpPr>
              <p:cNvPr id="185" name="Freeform 185"/>
              <p:cNvSpPr/>
              <p:nvPr/>
            </p:nvSpPr>
            <p:spPr>
              <a:xfrm>
                <a:off x="8714159" y="3867166"/>
                <a:ext cx="288171" cy="247577"/>
              </a:xfrm>
              <a:custGeom>
                <a:avLst/>
                <a:gdLst/>
                <a:ahLst/>
                <a:cxnLst/>
                <a:rect l="l" t="t" r="r" b="b"/>
                <a:pathLst>
                  <a:path w="288171" h="247577">
                    <a:moveTo>
                      <a:pt x="120702" y="13191"/>
                    </a:moveTo>
                    <a:lnTo>
                      <a:pt x="4888" y="206558"/>
                    </a:lnTo>
                    <a:cubicBezTo>
                      <a:pt x="30" y="214971"/>
                      <a:pt x="0" y="225330"/>
                      <a:pt x="4810" y="233771"/>
                    </a:cubicBezTo>
                    <a:cubicBezTo>
                      <a:pt x="9620" y="242213"/>
                      <a:pt x="18548" y="247468"/>
                      <a:pt x="28262" y="247577"/>
                    </a:cubicBezTo>
                    <a:lnTo>
                      <a:pt x="259920" y="247577"/>
                    </a:lnTo>
                    <a:cubicBezTo>
                      <a:pt x="269630" y="247465"/>
                      <a:pt x="278553" y="242212"/>
                      <a:pt x="283362" y="233775"/>
                    </a:cubicBezTo>
                    <a:cubicBezTo>
                      <a:pt x="288171" y="225339"/>
                      <a:pt x="288145" y="214984"/>
                      <a:pt x="283294" y="206572"/>
                    </a:cubicBezTo>
                    <a:lnTo>
                      <a:pt x="167480" y="13176"/>
                    </a:lnTo>
                    <a:cubicBezTo>
                      <a:pt x="162524" y="4996"/>
                      <a:pt x="153655" y="0"/>
                      <a:pt x="144091" y="0"/>
                    </a:cubicBezTo>
                    <a:cubicBezTo>
                      <a:pt x="134527" y="0"/>
                      <a:pt x="125658" y="4996"/>
                      <a:pt x="120702" y="13176"/>
                    </a:cubicBezTo>
                  </a:path>
                </a:pathLst>
              </a:custGeom>
              <a:noFill/>
              <a:ln w="28575">
                <a:solidFill>
                  <a:srgbClr val="4E0D00"/>
                </a:solidFill>
              </a:ln>
            </p:spPr>
          </p:sp>
          <p:grpSp>
            <p:nvGrpSpPr>
              <p:cNvPr id="188" name="Group 188"/>
              <p:cNvGrpSpPr/>
              <p:nvPr/>
            </p:nvGrpSpPr>
            <p:grpSpPr>
              <a:xfrm>
                <a:off x="9072562" y="3871912"/>
                <a:ext cx="257175" cy="257175"/>
                <a:chOff x="9072562" y="3871912"/>
                <a:chExt cx="257175" cy="257175"/>
              </a:xfrm>
            </p:grpSpPr>
            <p:sp>
              <p:nvSpPr>
                <p:cNvPr id="186" name="Freeform 186"/>
                <p:cNvSpPr/>
                <p:nvPr/>
              </p:nvSpPr>
              <p:spPr>
                <a:xfrm>
                  <a:off x="9172575" y="3871912"/>
                  <a:ext cx="157162" cy="157162"/>
                </a:xfrm>
                <a:custGeom>
                  <a:avLst/>
                  <a:gdLst/>
                  <a:ahLst/>
                  <a:cxnLst/>
                  <a:rect l="l" t="t" r="r" b="b"/>
                  <a:pathLst>
                    <a:path w="157162" h="157162">
                      <a:moveTo>
                        <a:pt x="157162" y="157162"/>
                      </a:moveTo>
                      <a:lnTo>
                        <a:pt x="114300" y="114300"/>
                      </a:lnTo>
                      <a:lnTo>
                        <a:pt x="14288" y="114300"/>
                      </a:lnTo>
                      <a:cubicBezTo>
                        <a:pt x="6397" y="114300"/>
                        <a:pt x="0" y="107903"/>
                        <a:pt x="0" y="100012"/>
                      </a:cubicBezTo>
                      <a:lnTo>
                        <a:pt x="0" y="14288"/>
                      </a:lnTo>
                      <a:cubicBezTo>
                        <a:pt x="0" y="6397"/>
                        <a:pt x="6397" y="0"/>
                        <a:pt x="14288" y="0"/>
                      </a:cubicBezTo>
                      <a:lnTo>
                        <a:pt x="142875" y="0"/>
                      </a:lnTo>
                      <a:cubicBezTo>
                        <a:pt x="150766" y="0"/>
                        <a:pt x="157162" y="6397"/>
                        <a:pt x="157162" y="14288"/>
                      </a:cubicBezTo>
                      <a:lnTo>
                        <a:pt x="157162" y="157162"/>
                      </a:lnTo>
                    </a:path>
                  </a:pathLst>
                </a:custGeom>
                <a:noFill/>
                <a:ln w="28575">
                  <a:solidFill>
                    <a:srgbClr val="4E0D00"/>
                  </a:solidFill>
                </a:ln>
              </p:spPr>
            </p:sp>
            <p:sp>
              <p:nvSpPr>
                <p:cNvPr id="187" name="Freeform 187"/>
                <p:cNvSpPr/>
                <p:nvPr/>
              </p:nvSpPr>
              <p:spPr>
                <a:xfrm>
                  <a:off x="9072562" y="3971925"/>
                  <a:ext cx="157162" cy="157162"/>
                </a:xfrm>
                <a:custGeom>
                  <a:avLst/>
                  <a:gdLst/>
                  <a:ahLst/>
                  <a:cxnLst/>
                  <a:rect l="l" t="t" r="r" b="b"/>
                  <a:pathLst>
                    <a:path w="157162" h="157162">
                      <a:moveTo>
                        <a:pt x="157162" y="71438"/>
                      </a:moveTo>
                      <a:lnTo>
                        <a:pt x="157162" y="100012"/>
                      </a:lnTo>
                      <a:cubicBezTo>
                        <a:pt x="157162" y="107903"/>
                        <a:pt x="150766" y="114300"/>
                        <a:pt x="142875" y="114300"/>
                      </a:cubicBezTo>
                      <a:lnTo>
                        <a:pt x="42862" y="114300"/>
                      </a:lnTo>
                      <a:lnTo>
                        <a:pt x="0" y="157162"/>
                      </a:lnTo>
                      <a:lnTo>
                        <a:pt x="0" y="14288"/>
                      </a:lnTo>
                      <a:cubicBezTo>
                        <a:pt x="0" y="6397"/>
                        <a:pt x="6397" y="0"/>
                        <a:pt x="14288" y="0"/>
                      </a:cubicBezTo>
                      <a:lnTo>
                        <a:pt x="42862" y="0"/>
                      </a:lnTo>
                    </a:path>
                  </a:pathLst>
                </a:custGeom>
                <a:noFill/>
                <a:ln w="28575">
                  <a:solidFill>
                    <a:srgbClr val="4E0D00"/>
                  </a:solidFill>
                </a:ln>
              </p:spPr>
            </p:sp>
          </p:grpSp>
          <p:sp>
            <p:nvSpPr>
              <p:cNvPr id="189" name="TextBox 189"/>
              <p:cNvSpPr txBox="1"/>
              <p:nvPr/>
            </p:nvSpPr>
            <p:spPr>
              <a:xfrm>
                <a:off x="8464918" y="4560332"/>
                <a:ext cx="1129563"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结构化呈现结论，讲清逻辑，</a:t>
                </a:r>
              </a:p>
            </p:txBody>
          </p:sp>
          <p:sp>
            <p:nvSpPr>
              <p:cNvPr id="190" name="TextBox 190"/>
              <p:cNvSpPr txBox="1"/>
              <p:nvPr/>
            </p:nvSpPr>
            <p:spPr>
              <a:xfrm>
                <a:off x="8766467" y="4712732"/>
                <a:ext cx="526466"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打动决策者。</a:t>
                </a:r>
              </a:p>
            </p:txBody>
          </p:sp>
        </p:grpSp>
        <p:grpSp>
          <p:nvGrpSpPr>
            <p:cNvPr id="203" name="map-change"/>
            <p:cNvGrpSpPr/>
            <p:nvPr/>
          </p:nvGrpSpPr>
          <p:grpSpPr>
            <a:xfrm>
              <a:off x="9963150" y="3352800"/>
              <a:ext cx="2000250" cy="1905000"/>
              <a:chOff x="9963150" y="3352800"/>
              <a:chExt cx="2000250" cy="1905000"/>
            </a:xfrm>
          </p:grpSpPr>
          <p:sp>
            <p:nvSpPr>
              <p:cNvPr id="192" name="Rectangle 192"/>
              <p:cNvSpPr/>
              <p:nvPr/>
            </p:nvSpPr>
            <p:spPr>
              <a:xfrm>
                <a:off x="9963150" y="3352800"/>
                <a:ext cx="2000250" cy="1905000"/>
              </a:xfrm>
              <a:prstGeom prst="rect">
                <a:avLst/>
              </a:prstGeom>
              <a:solidFill>
                <a:srgbClr val="FFFFFF"/>
              </a:solidFill>
              <a:ln w="9525">
                <a:solidFill>
                  <a:srgbClr val="C7D2E4"/>
                </a:solidFill>
              </a:ln>
            </p:spPr>
          </p:sp>
          <p:sp>
            <p:nvSpPr>
              <p:cNvPr id="193" name="TextBox 193"/>
              <p:cNvSpPr txBox="1"/>
              <p:nvPr/>
            </p:nvSpPr>
            <p:spPr>
              <a:xfrm>
                <a:off x="10535662" y="3511391"/>
                <a:ext cx="855225" cy="161925"/>
              </a:xfrm>
              <a:prstGeom prst="rect">
                <a:avLst/>
              </a:prstGeom>
              <a:noFill/>
              <a:ln>
                <a:noFill/>
              </a:ln>
            </p:spPr>
            <p:txBody>
              <a:bodyPr wrap="none" lIns="0" tIns="0" rIns="0" bIns="0" anchor="t" anchorCtr="0">
                <a:spAutoFit/>
              </a:bodyPr>
              <a:lstStyle/>
              <a:p>
                <a:pPr algn="ctr"/>
                <a:r>
                  <a:rPr lang="zh-CN" sz="820" b="1" dirty="0">
                    <a:solidFill>
                      <a:srgbClr val="4E0D00"/>
                    </a:solidFill>
                    <a:latin typeface="+mn-lt"/>
                    <a:ea typeface="+mn-ea"/>
                    <a:cs typeface="+mn-cs"/>
                  </a:rPr>
                  <a:t>变革影响 / OHI​</a:t>
                </a:r>
              </a:p>
            </p:txBody>
          </p:sp>
          <p:grpSp>
            <p:nvGrpSpPr>
              <p:cNvPr id="200" name="Group 200"/>
              <p:cNvGrpSpPr/>
              <p:nvPr/>
            </p:nvGrpSpPr>
            <p:grpSpPr>
              <a:xfrm>
                <a:off x="10806112" y="3843337"/>
                <a:ext cx="314325" cy="314324"/>
                <a:chOff x="10806112" y="3843337"/>
                <a:chExt cx="314325" cy="314324"/>
              </a:xfrm>
            </p:grpSpPr>
            <p:sp>
              <p:nvSpPr>
                <p:cNvPr id="194" name="Freeform 194"/>
                <p:cNvSpPr/>
                <p:nvPr/>
              </p:nvSpPr>
              <p:spPr>
                <a:xfrm>
                  <a:off x="10928350" y="398303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4E0D00"/>
                  </a:solidFill>
                </a:ln>
              </p:spPr>
            </p:sp>
            <p:sp>
              <p:nvSpPr>
                <p:cNvPr id="195" name="Freeform 195"/>
                <p:cNvSpPr/>
                <p:nvPr/>
              </p:nvSpPr>
              <p:spPr>
                <a:xfrm>
                  <a:off x="10893425" y="4105274"/>
                  <a:ext cx="139700" cy="52387"/>
                </a:xfrm>
                <a:custGeom>
                  <a:avLst/>
                  <a:gdLst/>
                  <a:ahLst/>
                  <a:cxnLst/>
                  <a:rect l="l" t="t" r="r" b="b"/>
                  <a:pathLst>
                    <a:path w="139700" h="52387">
                      <a:moveTo>
                        <a:pt x="0" y="52387"/>
                      </a:moveTo>
                      <a:lnTo>
                        <a:pt x="0" y="34925"/>
                      </a:lnTo>
                      <a:cubicBezTo>
                        <a:pt x="0" y="15636"/>
                        <a:pt x="15636" y="0"/>
                        <a:pt x="34925" y="0"/>
                      </a:cubicBezTo>
                      <a:lnTo>
                        <a:pt x="104775" y="0"/>
                      </a:lnTo>
                      <a:cubicBezTo>
                        <a:pt x="124063" y="0"/>
                        <a:pt x="139700" y="15636"/>
                        <a:pt x="139700" y="34925"/>
                      </a:cubicBezTo>
                      <a:lnTo>
                        <a:pt x="139700" y="52387"/>
                      </a:lnTo>
                    </a:path>
                  </a:pathLst>
                </a:custGeom>
                <a:noFill/>
                <a:ln w="34925">
                  <a:solidFill>
                    <a:srgbClr val="4E0D00"/>
                  </a:solidFill>
                </a:ln>
              </p:spPr>
            </p:sp>
            <p:sp>
              <p:nvSpPr>
                <p:cNvPr id="196" name="Freeform 196"/>
                <p:cNvSpPr/>
                <p:nvPr/>
              </p:nvSpPr>
              <p:spPr>
                <a:xfrm>
                  <a:off x="11015662" y="384333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4E0D00"/>
                  </a:solidFill>
                </a:ln>
              </p:spPr>
            </p:sp>
            <p:sp>
              <p:nvSpPr>
                <p:cNvPr id="197" name="Freeform 197"/>
                <p:cNvSpPr/>
                <p:nvPr/>
              </p:nvSpPr>
              <p:spPr>
                <a:xfrm>
                  <a:off x="11050587" y="3965575"/>
                  <a:ext cx="69850" cy="52387"/>
                </a:xfrm>
                <a:custGeom>
                  <a:avLst/>
                  <a:gdLst/>
                  <a:ahLst/>
                  <a:cxnLst/>
                  <a:rect l="l" t="t" r="r" b="b"/>
                  <a:pathLst>
                    <a:path w="69850" h="52387">
                      <a:moveTo>
                        <a:pt x="0" y="0"/>
                      </a:moveTo>
                      <a:lnTo>
                        <a:pt x="34925" y="0"/>
                      </a:lnTo>
                      <a:cubicBezTo>
                        <a:pt x="54213" y="0"/>
                        <a:pt x="69850" y="15636"/>
                        <a:pt x="69850" y="34925"/>
                      </a:cubicBezTo>
                      <a:lnTo>
                        <a:pt x="69850" y="52387"/>
                      </a:lnTo>
                    </a:path>
                  </a:pathLst>
                </a:custGeom>
                <a:noFill/>
                <a:ln w="34925">
                  <a:solidFill>
                    <a:srgbClr val="4E0D00"/>
                  </a:solidFill>
                </a:ln>
              </p:spPr>
            </p:sp>
            <p:sp>
              <p:nvSpPr>
                <p:cNvPr id="198" name="Freeform 198"/>
                <p:cNvSpPr/>
                <p:nvPr/>
              </p:nvSpPr>
              <p:spPr>
                <a:xfrm>
                  <a:off x="10841037" y="3843337"/>
                  <a:ext cx="69850" cy="69850"/>
                </a:xfrm>
                <a:custGeom>
                  <a:avLst/>
                  <a:gdLst/>
                  <a:ahLst/>
                  <a:cxnLst/>
                  <a:rect l="l" t="t" r="r" b="b"/>
                  <a:pathLst>
                    <a:path w="69850" h="69850">
                      <a:moveTo>
                        <a:pt x="0" y="34925"/>
                      </a:moveTo>
                      <a:cubicBezTo>
                        <a:pt x="0" y="54213"/>
                        <a:pt x="15636" y="69850"/>
                        <a:pt x="34925" y="69850"/>
                      </a:cubicBezTo>
                      <a:cubicBezTo>
                        <a:pt x="54213" y="69850"/>
                        <a:pt x="69850" y="54213"/>
                        <a:pt x="69850" y="34925"/>
                      </a:cubicBezTo>
                      <a:cubicBezTo>
                        <a:pt x="69850" y="15636"/>
                        <a:pt x="54213" y="0"/>
                        <a:pt x="34925" y="0"/>
                      </a:cubicBezTo>
                      <a:cubicBezTo>
                        <a:pt x="15636" y="0"/>
                        <a:pt x="0" y="15636"/>
                        <a:pt x="0" y="34925"/>
                      </a:cubicBezTo>
                    </a:path>
                  </a:pathLst>
                </a:custGeom>
                <a:noFill/>
                <a:ln w="34925">
                  <a:solidFill>
                    <a:srgbClr val="4E0D00"/>
                  </a:solidFill>
                </a:ln>
              </p:spPr>
            </p:sp>
            <p:sp>
              <p:nvSpPr>
                <p:cNvPr id="199" name="Freeform 199"/>
                <p:cNvSpPr/>
                <p:nvPr/>
              </p:nvSpPr>
              <p:spPr>
                <a:xfrm>
                  <a:off x="10806112" y="3965575"/>
                  <a:ext cx="69850" cy="52387"/>
                </a:xfrm>
                <a:custGeom>
                  <a:avLst/>
                  <a:gdLst/>
                  <a:ahLst/>
                  <a:cxnLst/>
                  <a:rect l="l" t="t" r="r" b="b"/>
                  <a:pathLst>
                    <a:path w="69850" h="52387">
                      <a:moveTo>
                        <a:pt x="0" y="52387"/>
                      </a:moveTo>
                      <a:lnTo>
                        <a:pt x="0" y="34925"/>
                      </a:lnTo>
                      <a:cubicBezTo>
                        <a:pt x="0" y="15636"/>
                        <a:pt x="15636" y="0"/>
                        <a:pt x="34925" y="0"/>
                      </a:cubicBezTo>
                      <a:lnTo>
                        <a:pt x="69850" y="0"/>
                      </a:lnTo>
                    </a:path>
                  </a:pathLst>
                </a:custGeom>
                <a:noFill/>
                <a:ln w="34925">
                  <a:solidFill>
                    <a:srgbClr val="4E0D00"/>
                  </a:solidFill>
                </a:ln>
              </p:spPr>
            </p:sp>
          </p:grpSp>
          <p:sp>
            <p:nvSpPr>
              <p:cNvPr id="201" name="TextBox 201"/>
              <p:cNvSpPr txBox="1"/>
              <p:nvPr/>
            </p:nvSpPr>
            <p:spPr>
              <a:xfrm>
                <a:off x="10441572" y="4560332"/>
                <a:ext cx="1043407"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评估组织影响，管理变革，</a:t>
                </a:r>
              </a:p>
            </p:txBody>
          </p:sp>
          <p:sp>
            <p:nvSpPr>
              <p:cNvPr id="202" name="TextBox 202"/>
              <p:cNvSpPr txBox="1"/>
              <p:nvPr/>
            </p:nvSpPr>
            <p:spPr>
              <a:xfrm>
                <a:off x="10441572" y="4712732"/>
                <a:ext cx="1043407" cy="126206"/>
              </a:xfrm>
              <a:prstGeom prst="rect">
                <a:avLst/>
              </a:prstGeom>
              <a:noFill/>
              <a:ln>
                <a:noFill/>
              </a:ln>
            </p:spPr>
            <p:txBody>
              <a:bodyPr wrap="none" lIns="0" tIns="0" rIns="0" bIns="0" anchor="t" anchorCtr="0">
                <a:spAutoFit/>
              </a:bodyPr>
              <a:lstStyle/>
              <a:p>
                <a:pPr algn="ctr"/>
                <a:r>
                  <a:rPr lang="zh-CN" sz="640" dirty="0">
                    <a:solidFill>
                      <a:srgbClr val="453633"/>
                    </a:solidFill>
                    <a:latin typeface="+mn-lt"/>
                    <a:ea typeface="+mn-ea"/>
                    <a:cs typeface="+mn-cs"/>
                  </a:rPr>
                  <a:t>确保建议落地并创造价值。</a:t>
                </a:r>
              </a:p>
            </p:txBody>
          </p:sp>
        </p:grpSp>
      </p:grpSp>
      <p:grpSp>
        <p:nvGrpSpPr>
          <p:cNvPr id="257" name="en-flow"/>
          <p:cNvGrpSpPr/>
          <p:nvPr/>
        </p:nvGrpSpPr>
        <p:grpSpPr>
          <a:xfrm>
            <a:off x="228600" y="5600700"/>
            <a:ext cx="11410950" cy="533400"/>
            <a:chOff x="228600" y="5600700"/>
            <a:chExt cx="11410950" cy="533400"/>
          </a:xfrm>
        </p:grpSpPr>
        <p:sp>
          <p:nvSpPr>
            <p:cNvPr id="205" name="Rectangle 205"/>
            <p:cNvSpPr/>
            <p:nvPr/>
          </p:nvSpPr>
          <p:spPr>
            <a:xfrm>
              <a:off x="228600" y="5600700"/>
              <a:ext cx="819150" cy="533400"/>
            </a:xfrm>
            <a:prstGeom prst="rect">
              <a:avLst/>
            </a:prstGeom>
            <a:solidFill>
              <a:srgbClr val="4E0D00"/>
            </a:solidFill>
            <a:ln>
              <a:noFill/>
            </a:ln>
          </p:spPr>
        </p:sp>
        <p:sp>
          <p:nvSpPr>
            <p:cNvPr id="206" name="TextBox 206"/>
            <p:cNvSpPr txBox="1"/>
            <p:nvPr/>
          </p:nvSpPr>
          <p:spPr>
            <a:xfrm>
              <a:off x="442252" y="5752386"/>
              <a:ext cx="391846" cy="140494"/>
            </a:xfrm>
            <a:prstGeom prst="rect">
              <a:avLst/>
            </a:prstGeom>
            <a:noFill/>
            <a:ln>
              <a:noFill/>
            </a:ln>
          </p:spPr>
          <p:txBody>
            <a:bodyPr wrap="none" lIns="0" tIns="0" rIns="0" bIns="0" anchor="t" anchorCtr="0">
              <a:spAutoFit/>
            </a:bodyPr>
            <a:lstStyle/>
            <a:p>
              <a:pPr algn="ctr"/>
              <a:r>
                <a:rPr lang="zh-CN" sz="710" b="1" dirty="0">
                  <a:solidFill>
                    <a:srgbClr val="FFFFFF"/>
                  </a:solidFill>
                  <a:latin typeface="+mn-lt"/>
                  <a:ea typeface="+mn-ea"/>
                  <a:cs typeface="+mn-cs"/>
                </a:rPr>
                <a:t>英文流程</a:t>
              </a:r>
            </a:p>
          </p:txBody>
        </p:sp>
        <p:sp>
          <p:nvSpPr>
            <p:cNvPr id="207" name="TextBox 207"/>
            <p:cNvSpPr txBox="1"/>
            <p:nvPr/>
          </p:nvSpPr>
          <p:spPr>
            <a:xfrm>
              <a:off x="391096" y="5935980"/>
              <a:ext cx="494157" cy="119062"/>
            </a:xfrm>
            <a:prstGeom prst="rect">
              <a:avLst/>
            </a:prstGeom>
            <a:noFill/>
            <a:ln>
              <a:noFill/>
            </a:ln>
          </p:spPr>
          <p:txBody>
            <a:bodyPr wrap="none" lIns="0" tIns="0" rIns="0" bIns="0" anchor="t" anchorCtr="0">
              <a:spAutoFit/>
            </a:bodyPr>
            <a:lstStyle/>
            <a:p>
              <a:pPr algn="ctr"/>
              <a:r>
                <a:rPr lang="zh-CN" sz="600" dirty="0">
                  <a:solidFill>
                    <a:srgbClr val="C9D3E4"/>
                  </a:solidFill>
                  <a:latin typeface="+mn-lt"/>
                  <a:ea typeface="+mn-ea"/>
                  <a:cs typeface="+mn-cs"/>
                </a:rPr>
                <a:t>（统一视角）</a:t>
              </a:r>
            </a:p>
          </p:txBody>
        </p:sp>
        <p:sp>
          <p:nvSpPr>
            <p:cNvPr id="208" name="Freeform 208"/>
            <p:cNvSpPr/>
            <p:nvPr/>
          </p:nvSpPr>
          <p:spPr>
            <a:xfrm>
              <a:off x="1104900" y="5600700"/>
              <a:ext cx="1619250" cy="533400"/>
            </a:xfrm>
            <a:prstGeom prst="homePlate">
              <a:avLst/>
            </a:prstGeom>
            <a:solidFill>
              <a:srgbClr val="4E0D00"/>
            </a:solidFill>
            <a:ln>
              <a:noFill/>
            </a:ln>
          </p:spPr>
        </p:sp>
        <p:sp>
          <p:nvSpPr>
            <p:cNvPr id="209" name="Freeform 209"/>
            <p:cNvSpPr/>
            <p:nvPr/>
          </p:nvSpPr>
          <p:spPr>
            <a:xfrm>
              <a:off x="2590800" y="5600700"/>
              <a:ext cx="1619250" cy="533400"/>
            </a:xfrm>
            <a:prstGeom prst="chevron">
              <a:avLst/>
            </a:prstGeom>
            <a:solidFill>
              <a:srgbClr val="772F21"/>
            </a:solidFill>
            <a:ln>
              <a:noFill/>
            </a:ln>
          </p:spPr>
        </p:sp>
        <p:sp>
          <p:nvSpPr>
            <p:cNvPr id="210" name="Freeform 210"/>
            <p:cNvSpPr/>
            <p:nvPr/>
          </p:nvSpPr>
          <p:spPr>
            <a:xfrm>
              <a:off x="4076700" y="5600700"/>
              <a:ext cx="1619250" cy="533400"/>
            </a:xfrm>
            <a:prstGeom prst="chevron">
              <a:avLst/>
            </a:prstGeom>
            <a:solidFill>
              <a:srgbClr val="90483A"/>
            </a:solidFill>
            <a:ln>
              <a:noFill/>
            </a:ln>
          </p:spPr>
        </p:sp>
        <p:sp>
          <p:nvSpPr>
            <p:cNvPr id="211" name="Freeform 211"/>
            <p:cNvSpPr/>
            <p:nvPr/>
          </p:nvSpPr>
          <p:spPr>
            <a:xfrm>
              <a:off x="5562600" y="5600700"/>
              <a:ext cx="1619250" cy="533400"/>
            </a:xfrm>
            <a:prstGeom prst="chevron">
              <a:avLst/>
            </a:prstGeom>
            <a:solidFill>
              <a:srgbClr val="A96254"/>
            </a:solidFill>
            <a:ln>
              <a:noFill/>
            </a:ln>
          </p:spPr>
        </p:sp>
        <p:sp>
          <p:nvSpPr>
            <p:cNvPr id="212" name="Freeform 212"/>
            <p:cNvSpPr/>
            <p:nvPr/>
          </p:nvSpPr>
          <p:spPr>
            <a:xfrm>
              <a:off x="7048500" y="5600700"/>
              <a:ext cx="1619250" cy="533400"/>
            </a:xfrm>
            <a:prstGeom prst="chevron">
              <a:avLst/>
            </a:prstGeom>
            <a:solidFill>
              <a:srgbClr val="C27C6E"/>
            </a:solidFill>
            <a:ln>
              <a:noFill/>
            </a:ln>
          </p:spPr>
        </p:sp>
        <p:sp>
          <p:nvSpPr>
            <p:cNvPr id="213" name="Freeform 213"/>
            <p:cNvSpPr/>
            <p:nvPr/>
          </p:nvSpPr>
          <p:spPr>
            <a:xfrm>
              <a:off x="8534400" y="5600700"/>
              <a:ext cx="1619250" cy="533400"/>
            </a:xfrm>
            <a:prstGeom prst="chevron">
              <a:avLst/>
            </a:prstGeom>
            <a:solidFill>
              <a:srgbClr val="D4A298"/>
            </a:solidFill>
            <a:ln>
              <a:noFill/>
            </a:ln>
          </p:spPr>
        </p:sp>
        <p:sp>
          <p:nvSpPr>
            <p:cNvPr id="214" name="Freeform 214"/>
            <p:cNvSpPr/>
            <p:nvPr/>
          </p:nvSpPr>
          <p:spPr>
            <a:xfrm>
              <a:off x="10020300" y="5600700"/>
              <a:ext cx="1619250" cy="533400"/>
            </a:xfrm>
            <a:prstGeom prst="chevron">
              <a:avLst/>
            </a:prstGeom>
            <a:solidFill>
              <a:srgbClr val="C3D2E5"/>
            </a:solidFill>
            <a:ln>
              <a:noFill/>
            </a:ln>
          </p:spPr>
        </p:sp>
        <p:grpSp>
          <p:nvGrpSpPr>
            <p:cNvPr id="218" name="Group 218"/>
            <p:cNvGrpSpPr/>
            <p:nvPr/>
          </p:nvGrpSpPr>
          <p:grpSpPr>
            <a:xfrm>
              <a:off x="1578769" y="5817394"/>
              <a:ext cx="100012" cy="100012"/>
              <a:chOff x="1578769" y="5817394"/>
              <a:chExt cx="100012" cy="100012"/>
            </a:xfrm>
          </p:grpSpPr>
          <p:sp>
            <p:nvSpPr>
              <p:cNvPr id="215" name="Freeform 215"/>
              <p:cNvSpPr/>
              <p:nvPr/>
            </p:nvSpPr>
            <p:spPr>
              <a:xfrm>
                <a:off x="1623219" y="5861844"/>
                <a:ext cx="11112" cy="11112"/>
              </a:xfrm>
              <a:custGeom>
                <a:avLst/>
                <a:gdLst/>
                <a:ahLst/>
                <a:cxnLst/>
                <a:rect l="l" t="t" r="r" b="b"/>
                <a:pathLst>
                  <a:path w="11112" h="11112">
                    <a:moveTo>
                      <a:pt x="0" y="5556"/>
                    </a:moveTo>
                    <a:cubicBezTo>
                      <a:pt x="0" y="8625"/>
                      <a:pt x="2488" y="11112"/>
                      <a:pt x="5556" y="11112"/>
                    </a:cubicBezTo>
                    <a:cubicBezTo>
                      <a:pt x="8625" y="11112"/>
                      <a:pt x="11112" y="8625"/>
                      <a:pt x="11112" y="5556"/>
                    </a:cubicBezTo>
                    <a:cubicBezTo>
                      <a:pt x="11112" y="2488"/>
                      <a:pt x="8625" y="0"/>
                      <a:pt x="5556" y="0"/>
                    </a:cubicBezTo>
                    <a:cubicBezTo>
                      <a:pt x="2488" y="0"/>
                      <a:pt x="0" y="2488"/>
                      <a:pt x="0" y="5556"/>
                    </a:cubicBezTo>
                  </a:path>
                </a:pathLst>
              </a:custGeom>
              <a:noFill/>
              <a:ln w="11112">
                <a:solidFill>
                  <a:srgbClr val="FFFFFF"/>
                </a:solidFill>
              </a:ln>
            </p:spPr>
          </p:sp>
          <p:sp>
            <p:nvSpPr>
              <p:cNvPr id="216" name="Freeform 216"/>
              <p:cNvSpPr/>
              <p:nvPr/>
            </p:nvSpPr>
            <p:spPr>
              <a:xfrm>
                <a:off x="1600994" y="5839619"/>
                <a:ext cx="55562" cy="55562"/>
              </a:xfrm>
              <a:custGeom>
                <a:avLst/>
                <a:gdLst/>
                <a:ahLst/>
                <a:cxnLst/>
                <a:rect l="l" t="t" r="r" b="b"/>
                <a:pathLst>
                  <a:path w="55562" h="55562">
                    <a:moveTo>
                      <a:pt x="0" y="27781"/>
                    </a:moveTo>
                    <a:cubicBezTo>
                      <a:pt x="0" y="43124"/>
                      <a:pt x="12438" y="55562"/>
                      <a:pt x="27781" y="55562"/>
                    </a:cubicBezTo>
                    <a:cubicBezTo>
                      <a:pt x="43124" y="55562"/>
                      <a:pt x="55562" y="43124"/>
                      <a:pt x="55562" y="27781"/>
                    </a:cubicBezTo>
                    <a:cubicBezTo>
                      <a:pt x="55562" y="12438"/>
                      <a:pt x="43124" y="0"/>
                      <a:pt x="27781" y="0"/>
                    </a:cubicBezTo>
                    <a:cubicBezTo>
                      <a:pt x="12438" y="0"/>
                      <a:pt x="0" y="12438"/>
                      <a:pt x="0" y="27781"/>
                    </a:cubicBezTo>
                  </a:path>
                </a:pathLst>
              </a:custGeom>
              <a:noFill/>
              <a:ln w="11112">
                <a:solidFill>
                  <a:srgbClr val="FFFFFF"/>
                </a:solidFill>
              </a:ln>
            </p:spPr>
          </p:sp>
          <p:sp>
            <p:nvSpPr>
              <p:cNvPr id="217" name="Freeform 217"/>
              <p:cNvSpPr/>
              <p:nvPr/>
            </p:nvSpPr>
            <p:spPr>
              <a:xfrm>
                <a:off x="1578769" y="5817394"/>
                <a:ext cx="100012" cy="100012"/>
              </a:xfrm>
              <a:custGeom>
                <a:avLst/>
                <a:gdLst/>
                <a:ahLst/>
                <a:cxnLst/>
                <a:rect l="l" t="t" r="r" b="b"/>
                <a:pathLst>
                  <a:path w="100012" h="100012">
                    <a:moveTo>
                      <a:pt x="0" y="50006"/>
                    </a:moveTo>
                    <a:cubicBezTo>
                      <a:pt x="0" y="77624"/>
                      <a:pt x="22389" y="100012"/>
                      <a:pt x="50006" y="100012"/>
                    </a:cubicBezTo>
                    <a:cubicBezTo>
                      <a:pt x="77624" y="100012"/>
                      <a:pt x="100012" y="77624"/>
                      <a:pt x="100012" y="50006"/>
                    </a:cubicBezTo>
                    <a:cubicBezTo>
                      <a:pt x="100012" y="22389"/>
                      <a:pt x="77624" y="0"/>
                      <a:pt x="50006" y="0"/>
                    </a:cubicBezTo>
                    <a:cubicBezTo>
                      <a:pt x="22389" y="0"/>
                      <a:pt x="0" y="22389"/>
                      <a:pt x="0" y="50006"/>
                    </a:cubicBezTo>
                  </a:path>
                </a:pathLst>
              </a:custGeom>
              <a:noFill/>
              <a:ln w="11112">
                <a:solidFill>
                  <a:srgbClr val="FFFFFF"/>
                </a:solidFill>
              </a:ln>
            </p:spPr>
          </p:sp>
        </p:grpSp>
        <p:sp>
          <p:nvSpPr>
            <p:cNvPr id="219" name="TextBox 219"/>
            <p:cNvSpPr txBox="1"/>
            <p:nvPr/>
          </p:nvSpPr>
          <p:spPr>
            <a:xfrm>
              <a:off x="1782909" y="5834062"/>
              <a:ext cx="415633"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Problem</a:t>
              </a:r>
            </a:p>
          </p:txBody>
        </p:sp>
        <p:grpSp>
          <p:nvGrpSpPr>
            <p:cNvPr id="225" name="Group 225"/>
            <p:cNvGrpSpPr/>
            <p:nvPr/>
          </p:nvGrpSpPr>
          <p:grpSpPr>
            <a:xfrm>
              <a:off x="3064669" y="5817394"/>
              <a:ext cx="100012" cy="100012"/>
              <a:chOff x="3064669" y="5817394"/>
              <a:chExt cx="100012" cy="100012"/>
            </a:xfrm>
          </p:grpSpPr>
          <p:sp>
            <p:nvSpPr>
              <p:cNvPr id="220" name="Freeform 220"/>
              <p:cNvSpPr/>
              <p:nvPr/>
            </p:nvSpPr>
            <p:spPr>
              <a:xfrm>
                <a:off x="3064669" y="5884069"/>
                <a:ext cx="33337" cy="33337"/>
              </a:xfrm>
              <a:custGeom>
                <a:avLst/>
                <a:gdLst/>
                <a:ahLst/>
                <a:cxnLst/>
                <a:rect l="l" t="t" r="r" b="b"/>
                <a:pathLst>
                  <a:path w="33337" h="33337">
                    <a:moveTo>
                      <a:pt x="0" y="11112"/>
                    </a:moveTo>
                    <a:cubicBezTo>
                      <a:pt x="0" y="4975"/>
                      <a:pt x="4975" y="0"/>
                      <a:pt x="11112" y="0"/>
                    </a:cubicBezTo>
                    <a:lnTo>
                      <a:pt x="22225" y="0"/>
                    </a:lnTo>
                    <a:cubicBezTo>
                      <a:pt x="28362" y="0"/>
                      <a:pt x="33337" y="4975"/>
                      <a:pt x="33337" y="11112"/>
                    </a:cubicBezTo>
                    <a:lnTo>
                      <a:pt x="33337" y="22225"/>
                    </a:lnTo>
                    <a:cubicBezTo>
                      <a:pt x="33337" y="28362"/>
                      <a:pt x="28362" y="33337"/>
                      <a:pt x="22225" y="33337"/>
                    </a:cubicBezTo>
                    <a:lnTo>
                      <a:pt x="11112" y="33337"/>
                    </a:lnTo>
                    <a:cubicBezTo>
                      <a:pt x="4975" y="33337"/>
                      <a:pt x="0" y="28362"/>
                      <a:pt x="0" y="22225"/>
                    </a:cubicBezTo>
                    <a:lnTo>
                      <a:pt x="0" y="11112"/>
                    </a:lnTo>
                  </a:path>
                </a:pathLst>
              </a:custGeom>
              <a:noFill/>
              <a:ln w="11112">
                <a:solidFill>
                  <a:srgbClr val="FFFFFF"/>
                </a:solidFill>
              </a:ln>
            </p:spPr>
          </p:sp>
          <p:sp>
            <p:nvSpPr>
              <p:cNvPr id="221" name="Freeform 221"/>
              <p:cNvSpPr/>
              <p:nvPr/>
            </p:nvSpPr>
            <p:spPr>
              <a:xfrm>
                <a:off x="3131344" y="5884069"/>
                <a:ext cx="33337" cy="33337"/>
              </a:xfrm>
              <a:custGeom>
                <a:avLst/>
                <a:gdLst/>
                <a:ahLst/>
                <a:cxnLst/>
                <a:rect l="l" t="t" r="r" b="b"/>
                <a:pathLst>
                  <a:path w="33337" h="33337">
                    <a:moveTo>
                      <a:pt x="0" y="11112"/>
                    </a:moveTo>
                    <a:cubicBezTo>
                      <a:pt x="0" y="4975"/>
                      <a:pt x="4975" y="0"/>
                      <a:pt x="11112" y="0"/>
                    </a:cubicBezTo>
                    <a:lnTo>
                      <a:pt x="22225" y="0"/>
                    </a:lnTo>
                    <a:cubicBezTo>
                      <a:pt x="28362" y="0"/>
                      <a:pt x="33337" y="4975"/>
                      <a:pt x="33337" y="11112"/>
                    </a:cubicBezTo>
                    <a:lnTo>
                      <a:pt x="33337" y="22225"/>
                    </a:lnTo>
                    <a:cubicBezTo>
                      <a:pt x="33337" y="28362"/>
                      <a:pt x="28362" y="33337"/>
                      <a:pt x="22225" y="33337"/>
                    </a:cubicBezTo>
                    <a:lnTo>
                      <a:pt x="11112" y="33337"/>
                    </a:lnTo>
                    <a:cubicBezTo>
                      <a:pt x="4975" y="33337"/>
                      <a:pt x="0" y="28362"/>
                      <a:pt x="0" y="22225"/>
                    </a:cubicBezTo>
                    <a:lnTo>
                      <a:pt x="0" y="11112"/>
                    </a:lnTo>
                  </a:path>
                </a:pathLst>
              </a:custGeom>
              <a:noFill/>
              <a:ln w="11112">
                <a:solidFill>
                  <a:srgbClr val="FFFFFF"/>
                </a:solidFill>
              </a:ln>
            </p:spPr>
          </p:sp>
          <p:sp>
            <p:nvSpPr>
              <p:cNvPr id="222" name="Freeform 222"/>
              <p:cNvSpPr/>
              <p:nvPr/>
            </p:nvSpPr>
            <p:spPr>
              <a:xfrm>
                <a:off x="3098006" y="5817394"/>
                <a:ext cx="33337" cy="33337"/>
              </a:xfrm>
              <a:custGeom>
                <a:avLst/>
                <a:gdLst/>
                <a:ahLst/>
                <a:cxnLst/>
                <a:rect l="l" t="t" r="r" b="b"/>
                <a:pathLst>
                  <a:path w="33337" h="33337">
                    <a:moveTo>
                      <a:pt x="0" y="11112"/>
                    </a:moveTo>
                    <a:cubicBezTo>
                      <a:pt x="0" y="4975"/>
                      <a:pt x="4975" y="0"/>
                      <a:pt x="11112" y="0"/>
                    </a:cubicBezTo>
                    <a:lnTo>
                      <a:pt x="22225" y="0"/>
                    </a:lnTo>
                    <a:cubicBezTo>
                      <a:pt x="28362" y="0"/>
                      <a:pt x="33337" y="4975"/>
                      <a:pt x="33337" y="11112"/>
                    </a:cubicBezTo>
                    <a:lnTo>
                      <a:pt x="33337" y="22225"/>
                    </a:lnTo>
                    <a:cubicBezTo>
                      <a:pt x="33337" y="28362"/>
                      <a:pt x="28362" y="33337"/>
                      <a:pt x="22225" y="33337"/>
                    </a:cubicBezTo>
                    <a:lnTo>
                      <a:pt x="11112" y="33337"/>
                    </a:lnTo>
                    <a:cubicBezTo>
                      <a:pt x="4975" y="33337"/>
                      <a:pt x="0" y="28362"/>
                      <a:pt x="0" y="22225"/>
                    </a:cubicBezTo>
                    <a:lnTo>
                      <a:pt x="0" y="11112"/>
                    </a:lnTo>
                  </a:path>
                </a:pathLst>
              </a:custGeom>
              <a:noFill/>
              <a:ln w="11112">
                <a:solidFill>
                  <a:srgbClr val="FFFFFF"/>
                </a:solidFill>
              </a:ln>
            </p:spPr>
          </p:sp>
          <p:sp>
            <p:nvSpPr>
              <p:cNvPr id="223" name="Freeform 223"/>
              <p:cNvSpPr/>
              <p:nvPr/>
            </p:nvSpPr>
            <p:spPr>
              <a:xfrm>
                <a:off x="3081337" y="5867400"/>
                <a:ext cx="66675" cy="16669"/>
              </a:xfrm>
              <a:custGeom>
                <a:avLst/>
                <a:gdLst/>
                <a:ahLst/>
                <a:cxnLst/>
                <a:rect l="l" t="t" r="r" b="b"/>
                <a:pathLst>
                  <a:path w="66675" h="16669">
                    <a:moveTo>
                      <a:pt x="0" y="16669"/>
                    </a:moveTo>
                    <a:lnTo>
                      <a:pt x="0" y="11112"/>
                    </a:lnTo>
                    <a:cubicBezTo>
                      <a:pt x="0" y="4975"/>
                      <a:pt x="4975" y="0"/>
                      <a:pt x="11112" y="0"/>
                    </a:cubicBezTo>
                    <a:lnTo>
                      <a:pt x="55562" y="0"/>
                    </a:lnTo>
                    <a:cubicBezTo>
                      <a:pt x="61700" y="0"/>
                      <a:pt x="66675" y="4975"/>
                      <a:pt x="66675" y="11112"/>
                    </a:cubicBezTo>
                    <a:lnTo>
                      <a:pt x="66675" y="16669"/>
                    </a:lnTo>
                  </a:path>
                </a:pathLst>
              </a:custGeom>
              <a:noFill/>
              <a:ln w="11112">
                <a:solidFill>
                  <a:srgbClr val="FFFFFF"/>
                </a:solidFill>
              </a:ln>
            </p:spPr>
          </p:sp>
          <p:sp>
            <p:nvSpPr>
              <p:cNvPr id="224" name="Freeform 224"/>
              <p:cNvSpPr/>
              <p:nvPr/>
            </p:nvSpPr>
            <p:spPr>
              <a:xfrm>
                <a:off x="3114675" y="5850731"/>
                <a:ext cx="9525" cy="16669"/>
              </a:xfrm>
              <a:custGeom>
                <a:avLst/>
                <a:gdLst/>
                <a:ahLst/>
                <a:cxnLst/>
                <a:rect l="l" t="t" r="r" b="b"/>
                <a:pathLst>
                  <a:path w="9525" h="16669">
                    <a:moveTo>
                      <a:pt x="0" y="0"/>
                    </a:moveTo>
                    <a:lnTo>
                      <a:pt x="0" y="16669"/>
                    </a:lnTo>
                  </a:path>
                </a:pathLst>
              </a:custGeom>
              <a:noFill/>
              <a:ln w="11112">
                <a:solidFill>
                  <a:srgbClr val="FFFFFF"/>
                </a:solidFill>
              </a:ln>
            </p:spPr>
          </p:sp>
        </p:grpSp>
        <p:sp>
          <p:nvSpPr>
            <p:cNvPr id="226" name="TextBox 226"/>
            <p:cNvSpPr txBox="1"/>
            <p:nvPr/>
          </p:nvSpPr>
          <p:spPr>
            <a:xfrm>
              <a:off x="3207829" y="5834062"/>
              <a:ext cx="537591"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Structure</a:t>
              </a:r>
            </a:p>
          </p:txBody>
        </p:sp>
        <p:grpSp>
          <p:nvGrpSpPr>
            <p:cNvPr id="230" name="Group 230"/>
            <p:cNvGrpSpPr/>
            <p:nvPr/>
          </p:nvGrpSpPr>
          <p:grpSpPr>
            <a:xfrm>
              <a:off x="4550569" y="5817394"/>
              <a:ext cx="100012" cy="100012"/>
              <a:chOff x="4550569" y="5817394"/>
              <a:chExt cx="100012" cy="100012"/>
            </a:xfrm>
          </p:grpSpPr>
          <p:sp>
            <p:nvSpPr>
              <p:cNvPr id="227" name="Freeform 227"/>
              <p:cNvSpPr/>
              <p:nvPr/>
            </p:nvSpPr>
            <p:spPr>
              <a:xfrm>
                <a:off x="4550569" y="5817394"/>
                <a:ext cx="100012" cy="50006"/>
              </a:xfrm>
              <a:custGeom>
                <a:avLst/>
                <a:gdLst/>
                <a:ahLst/>
                <a:cxnLst/>
                <a:rect l="l" t="t" r="r" b="b"/>
                <a:pathLst>
                  <a:path w="100012" h="50006">
                    <a:moveTo>
                      <a:pt x="0" y="50006"/>
                    </a:moveTo>
                    <a:lnTo>
                      <a:pt x="5556" y="50006"/>
                    </a:lnTo>
                    <a:moveTo>
                      <a:pt x="50006" y="0"/>
                    </a:moveTo>
                    <a:lnTo>
                      <a:pt x="50006" y="5556"/>
                    </a:lnTo>
                    <a:moveTo>
                      <a:pt x="94456" y="50006"/>
                    </a:moveTo>
                    <a:lnTo>
                      <a:pt x="100012" y="50006"/>
                    </a:lnTo>
                    <a:moveTo>
                      <a:pt x="14446" y="14446"/>
                    </a:moveTo>
                    <a:lnTo>
                      <a:pt x="18336" y="18336"/>
                    </a:lnTo>
                    <a:moveTo>
                      <a:pt x="85566" y="14446"/>
                    </a:moveTo>
                    <a:lnTo>
                      <a:pt x="81677" y="18336"/>
                    </a:lnTo>
                  </a:path>
                </a:pathLst>
              </a:custGeom>
              <a:noFill/>
              <a:ln w="11112">
                <a:solidFill>
                  <a:srgbClr val="FFFFFF"/>
                </a:solidFill>
              </a:ln>
            </p:spPr>
          </p:sp>
          <p:sp>
            <p:nvSpPr>
              <p:cNvPr id="228" name="Freeform 228"/>
              <p:cNvSpPr/>
              <p:nvPr/>
            </p:nvSpPr>
            <p:spPr>
              <a:xfrm>
                <a:off x="4570438" y="5839619"/>
                <a:ext cx="60274" cy="77787"/>
              </a:xfrm>
              <a:custGeom>
                <a:avLst/>
                <a:gdLst/>
                <a:ahLst/>
                <a:cxnLst/>
                <a:rect l="l" t="t" r="r" b="b"/>
                <a:pathLst>
                  <a:path w="60274" h="77787">
                    <a:moveTo>
                      <a:pt x="13468" y="50006"/>
                    </a:moveTo>
                    <a:cubicBezTo>
                      <a:pt x="3902" y="42831"/>
                      <a:pt x="0" y="30340"/>
                      <a:pt x="3781" y="18996"/>
                    </a:cubicBezTo>
                    <a:cubicBezTo>
                      <a:pt x="7563" y="7652"/>
                      <a:pt x="18179" y="0"/>
                      <a:pt x="30137" y="0"/>
                    </a:cubicBezTo>
                    <a:cubicBezTo>
                      <a:pt x="42095" y="0"/>
                      <a:pt x="52711" y="7652"/>
                      <a:pt x="56493" y="18996"/>
                    </a:cubicBezTo>
                    <a:cubicBezTo>
                      <a:pt x="60274" y="30340"/>
                      <a:pt x="56372" y="42831"/>
                      <a:pt x="46806" y="50006"/>
                    </a:cubicBezTo>
                    <a:cubicBezTo>
                      <a:pt x="42406" y="54361"/>
                      <a:pt x="40343" y="60551"/>
                      <a:pt x="41250" y="66675"/>
                    </a:cubicBezTo>
                    <a:cubicBezTo>
                      <a:pt x="41250" y="72812"/>
                      <a:pt x="36274" y="77787"/>
                      <a:pt x="30137" y="77787"/>
                    </a:cubicBezTo>
                    <a:cubicBezTo>
                      <a:pt x="24000" y="77787"/>
                      <a:pt x="19025" y="72812"/>
                      <a:pt x="19025" y="66675"/>
                    </a:cubicBezTo>
                    <a:cubicBezTo>
                      <a:pt x="19931" y="60551"/>
                      <a:pt x="17868" y="54361"/>
                      <a:pt x="13468" y="50006"/>
                    </a:cubicBezTo>
                  </a:path>
                </a:pathLst>
              </a:custGeom>
              <a:noFill/>
              <a:ln w="11112">
                <a:solidFill>
                  <a:srgbClr val="FFFFFF"/>
                </a:solidFill>
              </a:ln>
            </p:spPr>
          </p:sp>
          <p:sp>
            <p:nvSpPr>
              <p:cNvPr id="229" name="Freeform 229"/>
              <p:cNvSpPr/>
              <p:nvPr/>
            </p:nvSpPr>
            <p:spPr>
              <a:xfrm>
                <a:off x="4587796" y="5895181"/>
                <a:ext cx="25559" cy="9525"/>
              </a:xfrm>
              <a:custGeom>
                <a:avLst/>
                <a:gdLst/>
                <a:ahLst/>
                <a:cxnLst/>
                <a:rect l="l" t="t" r="r" b="b"/>
                <a:pathLst>
                  <a:path w="25559" h="9525">
                    <a:moveTo>
                      <a:pt x="0" y="0"/>
                    </a:moveTo>
                    <a:lnTo>
                      <a:pt x="25559" y="0"/>
                    </a:lnTo>
                  </a:path>
                </a:pathLst>
              </a:custGeom>
              <a:noFill/>
              <a:ln w="11112">
                <a:solidFill>
                  <a:srgbClr val="FFFFFF"/>
                </a:solidFill>
              </a:ln>
            </p:spPr>
          </p:sp>
        </p:grpSp>
        <p:sp>
          <p:nvSpPr>
            <p:cNvPr id="231" name="TextBox 231"/>
            <p:cNvSpPr txBox="1"/>
            <p:nvPr/>
          </p:nvSpPr>
          <p:spPr>
            <a:xfrm>
              <a:off x="4677903" y="5834062"/>
              <a:ext cx="569245"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Hypothesis</a:t>
              </a:r>
            </a:p>
          </p:txBody>
        </p:sp>
        <p:grpSp>
          <p:nvGrpSpPr>
            <p:cNvPr id="234" name="Group 234"/>
            <p:cNvGrpSpPr/>
            <p:nvPr/>
          </p:nvGrpSpPr>
          <p:grpSpPr>
            <a:xfrm>
              <a:off x="6036469" y="5817394"/>
              <a:ext cx="100012" cy="100012"/>
              <a:chOff x="6036469" y="5817394"/>
              <a:chExt cx="100012" cy="100012"/>
            </a:xfrm>
          </p:grpSpPr>
          <p:sp>
            <p:nvSpPr>
              <p:cNvPr id="232" name="Freeform 232"/>
              <p:cNvSpPr/>
              <p:nvPr/>
            </p:nvSpPr>
            <p:spPr>
              <a:xfrm>
                <a:off x="6036469" y="5817394"/>
                <a:ext cx="77787" cy="77787"/>
              </a:xfrm>
              <a:custGeom>
                <a:avLst/>
                <a:gdLst/>
                <a:ahLst/>
                <a:cxnLst/>
                <a:rect l="l" t="t" r="r" b="b"/>
                <a:pathLst>
                  <a:path w="77787" h="77787">
                    <a:moveTo>
                      <a:pt x="0" y="38894"/>
                    </a:moveTo>
                    <a:cubicBezTo>
                      <a:pt x="0" y="60374"/>
                      <a:pt x="17413" y="77787"/>
                      <a:pt x="38894" y="77787"/>
                    </a:cubicBezTo>
                    <a:cubicBezTo>
                      <a:pt x="60374" y="77787"/>
                      <a:pt x="77787" y="60374"/>
                      <a:pt x="77787" y="38894"/>
                    </a:cubicBezTo>
                    <a:cubicBezTo>
                      <a:pt x="77787" y="17413"/>
                      <a:pt x="60374" y="0"/>
                      <a:pt x="38894" y="0"/>
                    </a:cubicBezTo>
                    <a:cubicBezTo>
                      <a:pt x="17413" y="0"/>
                      <a:pt x="0" y="17413"/>
                      <a:pt x="0" y="38894"/>
                    </a:cubicBezTo>
                  </a:path>
                </a:pathLst>
              </a:custGeom>
              <a:noFill/>
              <a:ln w="11112">
                <a:solidFill>
                  <a:srgbClr val="FFFFFF"/>
                </a:solidFill>
              </a:ln>
            </p:spPr>
          </p:sp>
          <p:sp>
            <p:nvSpPr>
              <p:cNvPr id="233" name="Freeform 233"/>
              <p:cNvSpPr/>
              <p:nvPr/>
            </p:nvSpPr>
            <p:spPr>
              <a:xfrm>
                <a:off x="6103144" y="5884069"/>
                <a:ext cx="33337" cy="33337"/>
              </a:xfrm>
              <a:custGeom>
                <a:avLst/>
                <a:gdLst/>
                <a:ahLst/>
                <a:cxnLst/>
                <a:rect l="l" t="t" r="r" b="b"/>
                <a:pathLst>
                  <a:path w="33337" h="33337">
                    <a:moveTo>
                      <a:pt x="33337" y="33337"/>
                    </a:moveTo>
                    <a:lnTo>
                      <a:pt x="0" y="0"/>
                    </a:lnTo>
                  </a:path>
                </a:pathLst>
              </a:custGeom>
              <a:noFill/>
              <a:ln w="11112">
                <a:solidFill>
                  <a:srgbClr val="FFFFFF"/>
                </a:solidFill>
              </a:ln>
            </p:spPr>
          </p:sp>
        </p:grpSp>
        <p:sp>
          <p:nvSpPr>
            <p:cNvPr id="235" name="TextBox 235"/>
            <p:cNvSpPr txBox="1"/>
            <p:nvPr/>
          </p:nvSpPr>
          <p:spPr>
            <a:xfrm>
              <a:off x="6222129" y="5834062"/>
              <a:ext cx="452593"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Evidence</a:t>
              </a:r>
            </a:p>
          </p:txBody>
        </p:sp>
        <p:grpSp>
          <p:nvGrpSpPr>
            <p:cNvPr id="240" name="Group 240"/>
            <p:cNvGrpSpPr/>
            <p:nvPr/>
          </p:nvGrpSpPr>
          <p:grpSpPr>
            <a:xfrm>
              <a:off x="7522369" y="5822950"/>
              <a:ext cx="100012" cy="98425"/>
              <a:chOff x="7522369" y="5822950"/>
              <a:chExt cx="100012" cy="98425"/>
            </a:xfrm>
          </p:grpSpPr>
          <p:sp>
            <p:nvSpPr>
              <p:cNvPr id="236" name="Freeform 236"/>
              <p:cNvSpPr/>
              <p:nvPr/>
            </p:nvSpPr>
            <p:spPr>
              <a:xfrm>
                <a:off x="7522369" y="5867400"/>
                <a:ext cx="33337" cy="44450"/>
              </a:xfrm>
              <a:custGeom>
                <a:avLst/>
                <a:gdLst/>
                <a:ahLst/>
                <a:cxnLst/>
                <a:rect l="l" t="t" r="r" b="b"/>
                <a:pathLst>
                  <a:path w="33337" h="44450">
                    <a:moveTo>
                      <a:pt x="0" y="5556"/>
                    </a:moveTo>
                    <a:cubicBezTo>
                      <a:pt x="0" y="2488"/>
                      <a:pt x="2488" y="0"/>
                      <a:pt x="5556" y="0"/>
                    </a:cubicBezTo>
                    <a:lnTo>
                      <a:pt x="27781" y="0"/>
                    </a:lnTo>
                    <a:cubicBezTo>
                      <a:pt x="30850" y="0"/>
                      <a:pt x="33337" y="2488"/>
                      <a:pt x="33337" y="5556"/>
                    </a:cubicBezTo>
                    <a:lnTo>
                      <a:pt x="33337" y="38894"/>
                    </a:lnTo>
                    <a:cubicBezTo>
                      <a:pt x="33337" y="41962"/>
                      <a:pt x="30850" y="44450"/>
                      <a:pt x="27781" y="44450"/>
                    </a:cubicBezTo>
                    <a:lnTo>
                      <a:pt x="5556" y="44450"/>
                    </a:lnTo>
                    <a:cubicBezTo>
                      <a:pt x="2488" y="44450"/>
                      <a:pt x="0" y="41962"/>
                      <a:pt x="0" y="38894"/>
                    </a:cubicBezTo>
                    <a:lnTo>
                      <a:pt x="0" y="5556"/>
                    </a:lnTo>
                  </a:path>
                </a:pathLst>
              </a:custGeom>
              <a:noFill/>
              <a:ln w="11112">
                <a:solidFill>
                  <a:srgbClr val="FFFFFF"/>
                </a:solidFill>
              </a:ln>
            </p:spPr>
          </p:sp>
          <p:sp>
            <p:nvSpPr>
              <p:cNvPr id="237" name="Freeform 237"/>
              <p:cNvSpPr/>
              <p:nvPr/>
            </p:nvSpPr>
            <p:spPr>
              <a:xfrm>
                <a:off x="7589044" y="5845175"/>
                <a:ext cx="33337" cy="66675"/>
              </a:xfrm>
              <a:custGeom>
                <a:avLst/>
                <a:gdLst/>
                <a:ahLst/>
                <a:cxnLst/>
                <a:rect l="l" t="t" r="r" b="b"/>
                <a:pathLst>
                  <a:path w="33337" h="66675">
                    <a:moveTo>
                      <a:pt x="0" y="5556"/>
                    </a:moveTo>
                    <a:cubicBezTo>
                      <a:pt x="0" y="2488"/>
                      <a:pt x="2488" y="0"/>
                      <a:pt x="5556" y="0"/>
                    </a:cubicBezTo>
                    <a:lnTo>
                      <a:pt x="27781" y="0"/>
                    </a:lnTo>
                    <a:cubicBezTo>
                      <a:pt x="30850" y="0"/>
                      <a:pt x="33337" y="2488"/>
                      <a:pt x="33337" y="5556"/>
                    </a:cubicBezTo>
                    <a:lnTo>
                      <a:pt x="33337" y="61119"/>
                    </a:lnTo>
                    <a:cubicBezTo>
                      <a:pt x="33337" y="64187"/>
                      <a:pt x="30850" y="66675"/>
                      <a:pt x="27781" y="66675"/>
                    </a:cubicBezTo>
                    <a:lnTo>
                      <a:pt x="5556" y="66675"/>
                    </a:lnTo>
                    <a:cubicBezTo>
                      <a:pt x="2488" y="66675"/>
                      <a:pt x="0" y="64187"/>
                      <a:pt x="0" y="61119"/>
                    </a:cubicBezTo>
                    <a:lnTo>
                      <a:pt x="0" y="5556"/>
                    </a:lnTo>
                  </a:path>
                </a:pathLst>
              </a:custGeom>
              <a:noFill/>
              <a:ln w="11112">
                <a:solidFill>
                  <a:srgbClr val="FFFFFF"/>
                </a:solidFill>
              </a:ln>
            </p:spPr>
          </p:sp>
          <p:sp>
            <p:nvSpPr>
              <p:cNvPr id="238" name="Freeform 238"/>
              <p:cNvSpPr/>
              <p:nvPr/>
            </p:nvSpPr>
            <p:spPr>
              <a:xfrm>
                <a:off x="7555706" y="5822950"/>
                <a:ext cx="33337" cy="88900"/>
              </a:xfrm>
              <a:custGeom>
                <a:avLst/>
                <a:gdLst/>
                <a:ahLst/>
                <a:cxnLst/>
                <a:rect l="l" t="t" r="r" b="b"/>
                <a:pathLst>
                  <a:path w="33337" h="88900">
                    <a:moveTo>
                      <a:pt x="0" y="5556"/>
                    </a:moveTo>
                    <a:cubicBezTo>
                      <a:pt x="0" y="2488"/>
                      <a:pt x="2488" y="0"/>
                      <a:pt x="5556" y="0"/>
                    </a:cubicBezTo>
                    <a:lnTo>
                      <a:pt x="27781" y="0"/>
                    </a:lnTo>
                    <a:cubicBezTo>
                      <a:pt x="30850" y="0"/>
                      <a:pt x="33337" y="2488"/>
                      <a:pt x="33337" y="5556"/>
                    </a:cubicBezTo>
                    <a:lnTo>
                      <a:pt x="33337" y="83344"/>
                    </a:lnTo>
                    <a:cubicBezTo>
                      <a:pt x="33337" y="86412"/>
                      <a:pt x="30850" y="88900"/>
                      <a:pt x="27781" y="88900"/>
                    </a:cubicBezTo>
                    <a:lnTo>
                      <a:pt x="5556" y="88900"/>
                    </a:lnTo>
                    <a:cubicBezTo>
                      <a:pt x="2488" y="88900"/>
                      <a:pt x="0" y="86412"/>
                      <a:pt x="0" y="83344"/>
                    </a:cubicBezTo>
                    <a:lnTo>
                      <a:pt x="0" y="5556"/>
                    </a:lnTo>
                  </a:path>
                </a:pathLst>
              </a:custGeom>
              <a:noFill/>
              <a:ln w="11112">
                <a:solidFill>
                  <a:srgbClr val="FFFFFF"/>
                </a:solidFill>
              </a:ln>
            </p:spPr>
          </p:sp>
          <p:sp>
            <p:nvSpPr>
              <p:cNvPr id="239" name="Freeform 239"/>
              <p:cNvSpPr/>
              <p:nvPr/>
            </p:nvSpPr>
            <p:spPr>
              <a:xfrm>
                <a:off x="7527925" y="5911850"/>
                <a:ext cx="77787" cy="9525"/>
              </a:xfrm>
              <a:custGeom>
                <a:avLst/>
                <a:gdLst/>
                <a:ahLst/>
                <a:cxnLst/>
                <a:rect l="l" t="t" r="r" b="b"/>
                <a:pathLst>
                  <a:path w="77787" h="9525">
                    <a:moveTo>
                      <a:pt x="0" y="0"/>
                    </a:moveTo>
                    <a:lnTo>
                      <a:pt x="77787" y="0"/>
                    </a:lnTo>
                  </a:path>
                </a:pathLst>
              </a:custGeom>
              <a:noFill/>
              <a:ln w="11112">
                <a:solidFill>
                  <a:srgbClr val="FFFFFF"/>
                </a:solidFill>
              </a:ln>
            </p:spPr>
          </p:sp>
        </p:grpSp>
        <p:sp>
          <p:nvSpPr>
            <p:cNvPr id="241" name="TextBox 241"/>
            <p:cNvSpPr txBox="1"/>
            <p:nvPr/>
          </p:nvSpPr>
          <p:spPr>
            <a:xfrm>
              <a:off x="7750554" y="5834062"/>
              <a:ext cx="367541"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Insight</a:t>
              </a:r>
            </a:p>
          </p:txBody>
        </p:sp>
        <p:grpSp>
          <p:nvGrpSpPr>
            <p:cNvPr id="247" name="Group 247"/>
            <p:cNvGrpSpPr/>
            <p:nvPr/>
          </p:nvGrpSpPr>
          <p:grpSpPr>
            <a:xfrm>
              <a:off x="8943181" y="5817394"/>
              <a:ext cx="77787" cy="100012"/>
              <a:chOff x="8943181" y="5817394"/>
              <a:chExt cx="77787" cy="100012"/>
            </a:xfrm>
          </p:grpSpPr>
          <p:sp>
            <p:nvSpPr>
              <p:cNvPr id="242" name="Freeform 242"/>
              <p:cNvSpPr/>
              <p:nvPr/>
            </p:nvSpPr>
            <p:spPr>
              <a:xfrm>
                <a:off x="8993187" y="5817394"/>
                <a:ext cx="27781" cy="27781"/>
              </a:xfrm>
              <a:custGeom>
                <a:avLst/>
                <a:gdLst/>
                <a:ahLst/>
                <a:cxnLst/>
                <a:rect l="l" t="t" r="r" b="b"/>
                <a:pathLst>
                  <a:path w="27781" h="27781">
                    <a:moveTo>
                      <a:pt x="0" y="0"/>
                    </a:moveTo>
                    <a:lnTo>
                      <a:pt x="0" y="22225"/>
                    </a:lnTo>
                    <a:cubicBezTo>
                      <a:pt x="0" y="25294"/>
                      <a:pt x="2488" y="27781"/>
                      <a:pt x="5556" y="27781"/>
                    </a:cubicBezTo>
                    <a:lnTo>
                      <a:pt x="27781" y="27781"/>
                    </a:lnTo>
                  </a:path>
                </a:pathLst>
              </a:custGeom>
              <a:noFill/>
              <a:ln w="11112">
                <a:solidFill>
                  <a:srgbClr val="FFFFFF"/>
                </a:solidFill>
              </a:ln>
            </p:spPr>
          </p:sp>
          <p:sp>
            <p:nvSpPr>
              <p:cNvPr id="243" name="Freeform 243"/>
              <p:cNvSpPr/>
              <p:nvPr/>
            </p:nvSpPr>
            <p:spPr>
              <a:xfrm>
                <a:off x="8943181" y="5817394"/>
                <a:ext cx="77787" cy="100012"/>
              </a:xfrm>
              <a:custGeom>
                <a:avLst/>
                <a:gdLst/>
                <a:ahLst/>
                <a:cxnLst/>
                <a:rect l="l" t="t" r="r" b="b"/>
                <a:pathLst>
                  <a:path w="77787" h="100012">
                    <a:moveTo>
                      <a:pt x="66675" y="100012"/>
                    </a:moveTo>
                    <a:lnTo>
                      <a:pt x="11112" y="100012"/>
                    </a:lnTo>
                    <a:cubicBezTo>
                      <a:pt x="4975" y="100012"/>
                      <a:pt x="0" y="95037"/>
                      <a:pt x="0" y="88900"/>
                    </a:cubicBezTo>
                    <a:lnTo>
                      <a:pt x="0" y="11112"/>
                    </a:lnTo>
                    <a:cubicBezTo>
                      <a:pt x="0" y="4975"/>
                      <a:pt x="4975" y="0"/>
                      <a:pt x="11112" y="0"/>
                    </a:cubicBezTo>
                    <a:lnTo>
                      <a:pt x="50006" y="0"/>
                    </a:lnTo>
                    <a:lnTo>
                      <a:pt x="77787" y="27781"/>
                    </a:lnTo>
                    <a:lnTo>
                      <a:pt x="77787" y="88900"/>
                    </a:lnTo>
                    <a:cubicBezTo>
                      <a:pt x="77787" y="95037"/>
                      <a:pt x="72812" y="100012"/>
                      <a:pt x="66675" y="100012"/>
                    </a:cubicBezTo>
                  </a:path>
                </a:pathLst>
              </a:custGeom>
              <a:noFill/>
              <a:ln w="11112">
                <a:solidFill>
                  <a:srgbClr val="FFFFFF"/>
                </a:solidFill>
              </a:ln>
            </p:spPr>
          </p:sp>
          <p:sp>
            <p:nvSpPr>
              <p:cNvPr id="244" name="Freeform 244"/>
              <p:cNvSpPr/>
              <p:nvPr/>
            </p:nvSpPr>
            <p:spPr>
              <a:xfrm>
                <a:off x="8965406" y="5850731"/>
                <a:ext cx="9525" cy="9525"/>
              </a:xfrm>
              <a:custGeom>
                <a:avLst/>
                <a:gdLst/>
                <a:ahLst/>
                <a:cxnLst/>
                <a:rect l="l" t="t" r="r" b="b"/>
                <a:pathLst>
                  <a:path w="9525" h="9525">
                    <a:moveTo>
                      <a:pt x="0" y="0"/>
                    </a:moveTo>
                    <a:lnTo>
                      <a:pt x="5556" y="0"/>
                    </a:lnTo>
                  </a:path>
                </a:pathLst>
              </a:custGeom>
              <a:noFill/>
              <a:ln w="11112">
                <a:solidFill>
                  <a:srgbClr val="FFFFFF"/>
                </a:solidFill>
              </a:ln>
            </p:spPr>
          </p:sp>
          <p:sp>
            <p:nvSpPr>
              <p:cNvPr id="245" name="Freeform 245"/>
              <p:cNvSpPr/>
              <p:nvPr/>
            </p:nvSpPr>
            <p:spPr>
              <a:xfrm>
                <a:off x="8965406" y="5872956"/>
                <a:ext cx="33337" cy="9525"/>
              </a:xfrm>
              <a:custGeom>
                <a:avLst/>
                <a:gdLst/>
                <a:ahLst/>
                <a:cxnLst/>
                <a:rect l="l" t="t" r="r" b="b"/>
                <a:pathLst>
                  <a:path w="33337" h="9525">
                    <a:moveTo>
                      <a:pt x="0" y="0"/>
                    </a:moveTo>
                    <a:lnTo>
                      <a:pt x="33337" y="0"/>
                    </a:lnTo>
                  </a:path>
                </a:pathLst>
              </a:custGeom>
              <a:noFill/>
              <a:ln w="11112">
                <a:solidFill>
                  <a:srgbClr val="FFFFFF"/>
                </a:solidFill>
              </a:ln>
            </p:spPr>
          </p:sp>
          <p:sp>
            <p:nvSpPr>
              <p:cNvPr id="246" name="Freeform 246"/>
              <p:cNvSpPr/>
              <p:nvPr/>
            </p:nvSpPr>
            <p:spPr>
              <a:xfrm>
                <a:off x="8965406" y="5895181"/>
                <a:ext cx="33337" cy="9525"/>
              </a:xfrm>
              <a:custGeom>
                <a:avLst/>
                <a:gdLst/>
                <a:ahLst/>
                <a:cxnLst/>
                <a:rect l="l" t="t" r="r" b="b"/>
                <a:pathLst>
                  <a:path w="33337" h="9525">
                    <a:moveTo>
                      <a:pt x="0" y="0"/>
                    </a:moveTo>
                    <a:lnTo>
                      <a:pt x="33337" y="0"/>
                    </a:lnTo>
                  </a:path>
                </a:pathLst>
              </a:custGeom>
              <a:noFill/>
              <a:ln w="11112">
                <a:solidFill>
                  <a:srgbClr val="FFFFFF"/>
                </a:solidFill>
              </a:ln>
            </p:spPr>
          </p:sp>
        </p:grpSp>
        <p:sp>
          <p:nvSpPr>
            <p:cNvPr id="248" name="TextBox 248"/>
            <p:cNvSpPr txBox="1"/>
            <p:nvPr/>
          </p:nvSpPr>
          <p:spPr>
            <a:xfrm>
              <a:off x="9054828" y="5834062"/>
              <a:ext cx="845094" cy="147638"/>
            </a:xfrm>
            <a:prstGeom prst="rect">
              <a:avLst/>
            </a:prstGeom>
            <a:noFill/>
            <a:ln>
              <a:noFill/>
            </a:ln>
          </p:spPr>
          <p:txBody>
            <a:bodyPr wrap="none" lIns="0" tIns="0" rIns="0" bIns="0" anchor="t" anchorCtr="0">
              <a:spAutoFit/>
            </a:bodyPr>
            <a:lstStyle/>
            <a:p>
              <a:pPr algn="ctr"/>
              <a:r>
                <a:rPr lang="en-US" sz="750" b="1" dirty="0">
                  <a:solidFill>
                    <a:srgbClr val="FFFFFF"/>
                  </a:solidFill>
                  <a:latin typeface="+mn-lt"/>
                  <a:ea typeface="+mn-ea"/>
                  <a:cs typeface="+mn-cs"/>
                </a:rPr>
                <a:t>Recommendation</a:t>
              </a:r>
            </a:p>
          </p:txBody>
        </p:sp>
        <p:grpSp>
          <p:nvGrpSpPr>
            <p:cNvPr id="255" name="Group 255"/>
            <p:cNvGrpSpPr/>
            <p:nvPr/>
          </p:nvGrpSpPr>
          <p:grpSpPr>
            <a:xfrm>
              <a:off x="10417969" y="5817394"/>
              <a:ext cx="100012" cy="100012"/>
              <a:chOff x="10417969" y="5817394"/>
              <a:chExt cx="100012" cy="100012"/>
            </a:xfrm>
          </p:grpSpPr>
          <p:sp>
            <p:nvSpPr>
              <p:cNvPr id="249" name="Freeform 249"/>
              <p:cNvSpPr/>
              <p:nvPr/>
            </p:nvSpPr>
            <p:spPr>
              <a:xfrm>
                <a:off x="10456862" y="586184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4E0D00"/>
                </a:solidFill>
              </a:ln>
            </p:spPr>
          </p:sp>
          <p:sp>
            <p:nvSpPr>
              <p:cNvPr id="250" name="Freeform 250"/>
              <p:cNvSpPr/>
              <p:nvPr/>
            </p:nvSpPr>
            <p:spPr>
              <a:xfrm>
                <a:off x="10445750" y="5900737"/>
                <a:ext cx="44450" cy="16669"/>
              </a:xfrm>
              <a:custGeom>
                <a:avLst/>
                <a:gdLst/>
                <a:ahLst/>
                <a:cxnLst/>
                <a:rect l="l" t="t" r="r" b="b"/>
                <a:pathLst>
                  <a:path w="44450" h="16669">
                    <a:moveTo>
                      <a:pt x="0" y="16669"/>
                    </a:moveTo>
                    <a:lnTo>
                      <a:pt x="0" y="11112"/>
                    </a:lnTo>
                    <a:cubicBezTo>
                      <a:pt x="0" y="4975"/>
                      <a:pt x="4975" y="0"/>
                      <a:pt x="11112" y="0"/>
                    </a:cubicBezTo>
                    <a:lnTo>
                      <a:pt x="33337" y="0"/>
                    </a:lnTo>
                    <a:cubicBezTo>
                      <a:pt x="39475" y="0"/>
                      <a:pt x="44450" y="4975"/>
                      <a:pt x="44450" y="11112"/>
                    </a:cubicBezTo>
                    <a:lnTo>
                      <a:pt x="44450" y="16669"/>
                    </a:lnTo>
                  </a:path>
                </a:pathLst>
              </a:custGeom>
              <a:noFill/>
              <a:ln w="11112">
                <a:solidFill>
                  <a:srgbClr val="4E0D00"/>
                </a:solidFill>
              </a:ln>
            </p:spPr>
          </p:sp>
          <p:sp>
            <p:nvSpPr>
              <p:cNvPr id="251" name="Freeform 251"/>
              <p:cNvSpPr/>
              <p:nvPr/>
            </p:nvSpPr>
            <p:spPr>
              <a:xfrm>
                <a:off x="10484644" y="581739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4E0D00"/>
                </a:solidFill>
              </a:ln>
            </p:spPr>
          </p:sp>
          <p:sp>
            <p:nvSpPr>
              <p:cNvPr id="252" name="Freeform 252"/>
              <p:cNvSpPr/>
              <p:nvPr/>
            </p:nvSpPr>
            <p:spPr>
              <a:xfrm>
                <a:off x="10495756" y="5856287"/>
                <a:ext cx="22225" cy="16669"/>
              </a:xfrm>
              <a:custGeom>
                <a:avLst/>
                <a:gdLst/>
                <a:ahLst/>
                <a:cxnLst/>
                <a:rect l="l" t="t" r="r" b="b"/>
                <a:pathLst>
                  <a:path w="22225" h="16669">
                    <a:moveTo>
                      <a:pt x="0" y="0"/>
                    </a:moveTo>
                    <a:lnTo>
                      <a:pt x="11112" y="0"/>
                    </a:lnTo>
                    <a:cubicBezTo>
                      <a:pt x="17250" y="0"/>
                      <a:pt x="22225" y="4975"/>
                      <a:pt x="22225" y="11112"/>
                    </a:cubicBezTo>
                    <a:lnTo>
                      <a:pt x="22225" y="16669"/>
                    </a:lnTo>
                  </a:path>
                </a:pathLst>
              </a:custGeom>
              <a:noFill/>
              <a:ln w="11112">
                <a:solidFill>
                  <a:srgbClr val="4E0D00"/>
                </a:solidFill>
              </a:ln>
            </p:spPr>
          </p:sp>
          <p:sp>
            <p:nvSpPr>
              <p:cNvPr id="253" name="Freeform 253"/>
              <p:cNvSpPr/>
              <p:nvPr/>
            </p:nvSpPr>
            <p:spPr>
              <a:xfrm>
                <a:off x="10429081" y="5817394"/>
                <a:ext cx="22225" cy="22225"/>
              </a:xfrm>
              <a:custGeom>
                <a:avLst/>
                <a:gdLst/>
                <a:ahLst/>
                <a:cxnLst/>
                <a:rect l="l" t="t" r="r" b="b"/>
                <a:pathLst>
                  <a:path w="22225" h="22225">
                    <a:moveTo>
                      <a:pt x="0" y="11112"/>
                    </a:moveTo>
                    <a:cubicBezTo>
                      <a:pt x="0" y="17250"/>
                      <a:pt x="4975" y="22225"/>
                      <a:pt x="11112" y="22225"/>
                    </a:cubicBezTo>
                    <a:cubicBezTo>
                      <a:pt x="17250" y="22225"/>
                      <a:pt x="22225" y="17250"/>
                      <a:pt x="22225" y="11112"/>
                    </a:cubicBezTo>
                    <a:cubicBezTo>
                      <a:pt x="22225" y="4975"/>
                      <a:pt x="17250" y="0"/>
                      <a:pt x="11112" y="0"/>
                    </a:cubicBezTo>
                    <a:cubicBezTo>
                      <a:pt x="4975" y="0"/>
                      <a:pt x="0" y="4975"/>
                      <a:pt x="0" y="11112"/>
                    </a:cubicBezTo>
                  </a:path>
                </a:pathLst>
              </a:custGeom>
              <a:noFill/>
              <a:ln w="11112">
                <a:solidFill>
                  <a:srgbClr val="4E0D00"/>
                </a:solidFill>
              </a:ln>
            </p:spPr>
          </p:sp>
          <p:sp>
            <p:nvSpPr>
              <p:cNvPr id="254" name="Freeform 254"/>
              <p:cNvSpPr/>
              <p:nvPr/>
            </p:nvSpPr>
            <p:spPr>
              <a:xfrm>
                <a:off x="10417969" y="5856287"/>
                <a:ext cx="22225" cy="16669"/>
              </a:xfrm>
              <a:custGeom>
                <a:avLst/>
                <a:gdLst/>
                <a:ahLst/>
                <a:cxnLst/>
                <a:rect l="l" t="t" r="r" b="b"/>
                <a:pathLst>
                  <a:path w="22225" h="16669">
                    <a:moveTo>
                      <a:pt x="0" y="16669"/>
                    </a:moveTo>
                    <a:lnTo>
                      <a:pt x="0" y="11112"/>
                    </a:lnTo>
                    <a:cubicBezTo>
                      <a:pt x="0" y="4975"/>
                      <a:pt x="4975" y="0"/>
                      <a:pt x="11112" y="0"/>
                    </a:cubicBezTo>
                    <a:lnTo>
                      <a:pt x="22225" y="0"/>
                    </a:lnTo>
                  </a:path>
                </a:pathLst>
              </a:custGeom>
              <a:noFill/>
              <a:ln w="11112">
                <a:solidFill>
                  <a:srgbClr val="4E0D00"/>
                </a:solidFill>
              </a:ln>
            </p:spPr>
          </p:sp>
        </p:grpSp>
        <p:sp>
          <p:nvSpPr>
            <p:cNvPr id="256" name="TextBox 256"/>
            <p:cNvSpPr txBox="1"/>
            <p:nvPr/>
          </p:nvSpPr>
          <p:spPr>
            <a:xfrm>
              <a:off x="10784616" y="5834062"/>
              <a:ext cx="357318" cy="147638"/>
            </a:xfrm>
            <a:prstGeom prst="rect">
              <a:avLst/>
            </a:prstGeom>
            <a:noFill/>
            <a:ln>
              <a:noFill/>
            </a:ln>
          </p:spPr>
          <p:txBody>
            <a:bodyPr wrap="none" lIns="0" tIns="0" rIns="0" bIns="0" anchor="t" anchorCtr="0">
              <a:spAutoFit/>
            </a:bodyPr>
            <a:lstStyle/>
            <a:p>
              <a:pPr algn="ctr"/>
              <a:r>
                <a:rPr lang="en-US" sz="750" b="1" dirty="0">
                  <a:solidFill>
                    <a:srgbClr val="4E0D00"/>
                  </a:solidFill>
                  <a:latin typeface="+mn-lt"/>
                  <a:ea typeface="+mn-ea"/>
                  <a:cs typeface="+mn-cs"/>
                </a:rPr>
                <a:t>Impact</a:t>
              </a:r>
            </a:p>
          </p:txBody>
        </p:sp>
      </p:gr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ver-side-bar"/>
          <p:cNvSpPr/>
          <p:nvPr/>
        </p:nvSpPr>
        <p:spPr>
          <a:xfrm>
            <a:off x="0" y="0"/>
            <a:ext cx="952500" cy="6858000"/>
          </a:xfrm>
          <a:prstGeom prst="rect">
            <a:avLst/>
          </a:prstGeom>
          <a:solidFill>
            <a:srgbClr val="8B321E"/>
          </a:solidFill>
          <a:ln>
            <a:noFill/>
          </a:ln>
        </p:spPr>
      </p:sp>
      <p:grpSp>
        <p:nvGrpSpPr>
          <p:cNvPr id="4" name="cover-title"/>
          <p:cNvGrpSpPr/>
          <p:nvPr/>
        </p:nvGrpSpPr>
        <p:grpSpPr>
          <a:xfrm>
            <a:off x="1602486" y="2234565"/>
            <a:ext cx="6537960" cy="1235964"/>
            <a:chOff x="1602486" y="2234565"/>
            <a:chExt cx="6537960" cy="1235964"/>
          </a:xfrm>
        </p:grpSpPr>
        <p:sp>
          <p:nvSpPr>
            <p:cNvPr id="3" name="TextBox 3"/>
            <p:cNvSpPr txBox="1"/>
            <p:nvPr/>
          </p:nvSpPr>
          <p:spPr>
            <a:xfrm>
              <a:off x="1602486" y="2234565"/>
              <a:ext cx="6537960" cy="1235964"/>
            </a:xfrm>
            <a:prstGeom prst="rect">
              <a:avLst/>
            </a:prstGeom>
            <a:noFill/>
            <a:ln>
              <a:noFill/>
            </a:ln>
          </p:spPr>
          <p:txBody>
            <a:bodyPr wrap="none" lIns="0" tIns="0" rIns="0" bIns="0" anchor="t" anchorCtr="0">
              <a:spAutoFit/>
            </a:bodyPr>
            <a:lstStyle/>
            <a:p>
              <a:pPr algn="l">
                <a:lnSpc>
                  <a:spcPts val="4650"/>
                </a:lnSpc>
              </a:pPr>
              <a:r>
                <a:rPr lang="zh-CN" sz="3300" b="1" dirty="0">
                  <a:solidFill>
                    <a:srgbClr val="1A1A1A"/>
                  </a:solidFill>
                  <a:latin typeface="+mn-lt"/>
                  <a:ea typeface="+mn-ea"/>
                  <a:cs typeface="+mn-cs"/>
                </a:rPr>
                <a:t>大客户销售怎么管：</a:t>
              </a:r>
              <a:br/>
              <a:r>
                <a:rPr lang="zh-CN" sz="3300" b="1" dirty="0">
                  <a:solidFill>
                    <a:srgbClr val="1A1A1A"/>
                  </a:solidFill>
                  <a:latin typeface="+mn-lt"/>
                  <a:ea typeface="+mn-ea"/>
                  <a:cs typeface="+mn-cs"/>
                </a:rPr>
                <a:t>TOP客户的分层打法和年度作战图​</a:t>
              </a:r>
            </a:p>
          </p:txBody>
        </p:sp>
      </p:grpSp>
      <p:grpSp>
        <p:nvGrpSpPr>
          <p:cNvPr id="6" name="cover-subtitle"/>
          <p:cNvGrpSpPr/>
          <p:nvPr/>
        </p:nvGrpSpPr>
        <p:grpSpPr>
          <a:xfrm>
            <a:off x="1631442" y="3702368"/>
            <a:ext cx="2803379" cy="264033"/>
            <a:chOff x="1631442" y="3702368"/>
            <a:chExt cx="2803379" cy="264033"/>
          </a:xfrm>
        </p:grpSpPr>
        <p:sp>
          <p:nvSpPr>
            <p:cNvPr id="5" name="TextBox 5"/>
            <p:cNvSpPr txBox="1"/>
            <p:nvPr/>
          </p:nvSpPr>
          <p:spPr>
            <a:xfrm>
              <a:off x="1631442" y="3702368"/>
              <a:ext cx="2803379" cy="264033"/>
            </a:xfrm>
            <a:prstGeom prst="rect">
              <a:avLst/>
            </a:prstGeom>
            <a:noFill/>
            <a:ln>
              <a:noFill/>
            </a:ln>
          </p:spPr>
          <p:txBody>
            <a:bodyPr wrap="none" lIns="0" tIns="0" rIns="0" bIns="0" anchor="t" anchorCtr="0">
              <a:spAutoFit/>
            </a:bodyPr>
            <a:lstStyle/>
            <a:p>
              <a:pPr algn="l"/>
              <a:r>
                <a:rPr lang="zh-CN" sz="1350" dirty="0">
                  <a:solidFill>
                    <a:srgbClr val="6A6A6A"/>
                  </a:solidFill>
                  <a:latin typeface="+mn-lt"/>
                  <a:ea typeface="+mn-ea"/>
                  <a:cs typeface="+mn-cs"/>
                </a:rPr>
                <a:t>2026年8月 ｜ 大客户管理专题研究</a:t>
              </a:r>
            </a:p>
          </p:txBody>
        </p:sp>
      </p:grpSp>
      <p:sp>
        <p:nvSpPr>
          <p:cNvPr id="7" name="TextBox 7"/>
          <p:cNvSpPr txBox="1"/>
          <p:nvPr/>
        </p:nvSpPr>
        <p:spPr>
          <a:xfrm>
            <a:off x="11620383" y="6565106"/>
            <a:ext cx="177282" cy="220028"/>
          </a:xfrm>
          <a:prstGeom prst="rect">
            <a:avLst/>
          </a:prstGeom>
          <a:noFill/>
          <a:ln>
            <a:noFill/>
          </a:ln>
        </p:spPr>
        <p:txBody>
          <a:bodyPr wrap="none" lIns="0" tIns="0" rIns="0" bIns="0" anchor="t" anchorCtr="0">
            <a:spAutoFit/>
          </a:bodyPr>
          <a:lstStyle/>
          <a:p>
            <a:pPr algn="r"/>
            <a:r>
              <a:rPr lang="zh-CN" sz="1120" dirty="0">
                <a:solidFill>
                  <a:srgbClr val="8A8A8A"/>
                </a:solidFill>
                <a:latin typeface="+mn-lt"/>
                <a:ea typeface="+mn-ea"/>
                <a:cs typeface="+mn-cs"/>
              </a:rPr>
              <a:t>01</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page-title"/>
          <p:cNvGrpSpPr/>
          <p:nvPr/>
        </p:nvGrpSpPr>
        <p:grpSpPr>
          <a:xfrm>
            <a:off x="367284" y="241935"/>
            <a:ext cx="5620131" cy="985266"/>
            <a:chOff x="367284" y="241935"/>
            <a:chExt cx="5620131" cy="985266"/>
          </a:xfrm>
        </p:grpSpPr>
        <p:sp>
          <p:nvSpPr>
            <p:cNvPr id="2" name="TextBox 2"/>
            <p:cNvSpPr txBox="1"/>
            <p:nvPr/>
          </p:nvSpPr>
          <p:spPr>
            <a:xfrm>
              <a:off x="367284" y="241935"/>
              <a:ext cx="5620131" cy="985266"/>
            </a:xfrm>
            <a:prstGeom prst="rect">
              <a:avLst/>
            </a:prstGeom>
            <a:noFill/>
            <a:ln>
              <a:noFill/>
            </a:ln>
          </p:spPr>
          <p:txBody>
            <a:bodyPr wrap="none" lIns="0" tIns="0" rIns="0" bIns="0" anchor="t" anchorCtr="0">
              <a:spAutoFit/>
            </a:bodyPr>
            <a:lstStyle/>
            <a:p>
              <a:pPr algn="l">
                <a:lnSpc>
                  <a:spcPts val="3600"/>
                </a:lnSpc>
              </a:pPr>
              <a:r>
                <a:rPr lang="zh-CN" sz="2700" b="1" dirty="0">
                  <a:solidFill>
                    <a:srgbClr val="1A1A1A"/>
                  </a:solidFill>
                  <a:latin typeface="+mn-lt"/>
                  <a:ea typeface="+mn-ea"/>
                  <a:cs typeface="+mn-cs"/>
                </a:rPr>
                <a:t>大客户管理失效的根本原因：</a:t>
              </a:r>
              <a:br/>
              <a:r>
                <a:rPr lang="zh-CN" sz="2700" b="1" dirty="0">
                  <a:solidFill>
                    <a:srgbClr val="1A1A1A"/>
                  </a:solidFill>
                  <a:latin typeface="+mn-lt"/>
                  <a:ea typeface="+mn-ea"/>
                  <a:cs typeface="+mn-cs"/>
                </a:rPr>
                <a:t>销售在“跑单”，而不是在“经营客户”</a:t>
              </a:r>
            </a:p>
          </p:txBody>
        </p:sp>
      </p:grpSp>
      <p:grpSp>
        <p:nvGrpSpPr>
          <p:cNvPr id="12" name="core-bar"/>
          <p:cNvGrpSpPr/>
          <p:nvPr/>
        </p:nvGrpSpPr>
        <p:grpSpPr>
          <a:xfrm>
            <a:off x="381000" y="1276350"/>
            <a:ext cx="11430000" cy="628650"/>
            <a:chOff x="381000" y="1276350"/>
            <a:chExt cx="11430000" cy="628650"/>
          </a:xfrm>
        </p:grpSpPr>
        <p:sp>
          <p:nvSpPr>
            <p:cNvPr id="4" name="Rectangle 4"/>
            <p:cNvSpPr/>
            <p:nvPr/>
          </p:nvSpPr>
          <p:spPr>
            <a:xfrm>
              <a:off x="381000" y="1276350"/>
              <a:ext cx="2019300" cy="628650"/>
            </a:xfrm>
            <a:prstGeom prst="roundRect">
              <a:avLst>
                <a:gd name="adj" fmla="val 12121"/>
              </a:avLst>
            </a:prstGeom>
            <a:solidFill>
              <a:srgbClr val="8B321E"/>
            </a:solidFill>
            <a:ln>
              <a:noFill/>
            </a:ln>
          </p:spPr>
        </p:sp>
        <p:grpSp>
          <p:nvGrpSpPr>
            <p:cNvPr id="8" name="Group 8"/>
            <p:cNvGrpSpPr/>
            <p:nvPr/>
          </p:nvGrpSpPr>
          <p:grpSpPr>
            <a:xfrm>
              <a:off x="626269" y="1483519"/>
              <a:ext cx="214312" cy="214312"/>
              <a:chOff x="626269" y="1483519"/>
              <a:chExt cx="214312" cy="214312"/>
            </a:xfrm>
          </p:grpSpPr>
          <p:sp>
            <p:nvSpPr>
              <p:cNvPr id="5" name="Freeform 5"/>
              <p:cNvSpPr/>
              <p:nvPr/>
            </p:nvSpPr>
            <p:spPr>
              <a:xfrm>
                <a:off x="721519" y="157876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FFFFFF"/>
                </a:solidFill>
              </a:ln>
            </p:spPr>
          </p:sp>
          <p:sp>
            <p:nvSpPr>
              <p:cNvPr id="6" name="Freeform 6"/>
              <p:cNvSpPr/>
              <p:nvPr/>
            </p:nvSpPr>
            <p:spPr>
              <a:xfrm>
                <a:off x="673894" y="1531144"/>
                <a:ext cx="119062" cy="119062"/>
              </a:xfrm>
              <a:custGeom>
                <a:avLst/>
                <a:gdLst/>
                <a:ahLst/>
                <a:cxnLst/>
                <a:rect l="l" t="t" r="r" b="b"/>
                <a:pathLst>
                  <a:path w="119062" h="119062">
                    <a:moveTo>
                      <a:pt x="0" y="59531"/>
                    </a:moveTo>
                    <a:cubicBezTo>
                      <a:pt x="0" y="92409"/>
                      <a:pt x="26653" y="119062"/>
                      <a:pt x="59531" y="119062"/>
                    </a:cubicBezTo>
                    <a:cubicBezTo>
                      <a:pt x="92409" y="119062"/>
                      <a:pt x="119062" y="92409"/>
                      <a:pt x="119062" y="59531"/>
                    </a:cubicBezTo>
                    <a:cubicBezTo>
                      <a:pt x="119062" y="26653"/>
                      <a:pt x="92409" y="0"/>
                      <a:pt x="59531" y="0"/>
                    </a:cubicBezTo>
                    <a:cubicBezTo>
                      <a:pt x="26653" y="0"/>
                      <a:pt x="0" y="26653"/>
                      <a:pt x="0" y="59531"/>
                    </a:cubicBezTo>
                  </a:path>
                </a:pathLst>
              </a:custGeom>
              <a:noFill/>
              <a:ln w="23812">
                <a:solidFill>
                  <a:srgbClr val="FFFFFF"/>
                </a:solidFill>
              </a:ln>
            </p:spPr>
          </p:sp>
          <p:sp>
            <p:nvSpPr>
              <p:cNvPr id="7" name="Freeform 7"/>
              <p:cNvSpPr/>
              <p:nvPr/>
            </p:nvSpPr>
            <p:spPr>
              <a:xfrm>
                <a:off x="626269" y="148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rgbClr val="FFFFFF"/>
                </a:solidFill>
              </a:ln>
            </p:spPr>
          </p:sp>
        </p:grpSp>
        <p:sp>
          <p:nvSpPr>
            <p:cNvPr id="9" name="TextBox 9"/>
            <p:cNvSpPr txBox="1"/>
            <p:nvPr/>
          </p:nvSpPr>
          <p:spPr>
            <a:xfrm>
              <a:off x="982980" y="1514475"/>
              <a:ext cx="82296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mn-lt"/>
                  <a:ea typeface="+mn-ea"/>
                  <a:cs typeface="+mn-cs"/>
                </a:rPr>
                <a:t>核心观点</a:t>
              </a:r>
            </a:p>
          </p:txBody>
        </p:sp>
        <p:sp>
          <p:nvSpPr>
            <p:cNvPr id="10" name="Rectangle 10"/>
            <p:cNvSpPr/>
            <p:nvPr/>
          </p:nvSpPr>
          <p:spPr>
            <a:xfrm>
              <a:off x="2495550" y="1276350"/>
              <a:ext cx="9315450" cy="628650"/>
            </a:xfrm>
            <a:prstGeom prst="roundRect">
              <a:avLst>
                <a:gd name="adj" fmla="val 12121"/>
              </a:avLst>
            </a:prstGeom>
            <a:solidFill>
              <a:srgbClr val="FFFFFF"/>
            </a:solidFill>
            <a:ln w="14288">
              <a:solidFill>
                <a:srgbClr val="D8C2C2"/>
              </a:solidFill>
            </a:ln>
          </p:spPr>
        </p:sp>
        <p:sp>
          <p:nvSpPr>
            <p:cNvPr id="11" name="TextBox 11"/>
            <p:cNvSpPr txBox="1"/>
            <p:nvPr/>
          </p:nvSpPr>
          <p:spPr>
            <a:xfrm>
              <a:off x="2736723" y="1386364"/>
              <a:ext cx="3751834" cy="497014"/>
            </a:xfrm>
            <a:prstGeom prst="rect">
              <a:avLst/>
            </a:prstGeom>
            <a:noFill/>
            <a:ln>
              <a:noFill/>
            </a:ln>
          </p:spPr>
          <p:txBody>
            <a:bodyPr wrap="none" lIns="0" tIns="0" rIns="0" bIns="0" anchor="t" anchorCtr="0">
              <a:spAutoFit/>
            </a:bodyPr>
            <a:lstStyle/>
            <a:p>
              <a:pPr algn="l">
                <a:lnSpc>
                  <a:spcPts val="1950"/>
                </a:lnSpc>
              </a:pPr>
              <a:r>
                <a:rPr lang="zh-CN" sz="1280" b="1" dirty="0">
                  <a:solidFill>
                    <a:srgbClr val="8B321E"/>
                  </a:solidFill>
                  <a:latin typeface="+mn-lt"/>
                  <a:ea typeface="+mn-ea"/>
                  <a:cs typeface="+mn-cs"/>
                </a:rPr>
                <a:t>大多数企业的大客户销售问题，不是销售能力不够，</a:t>
              </a:r>
              <a:br/>
              <a:r>
                <a:rPr lang="zh-CN" sz="1280" b="1" dirty="0">
                  <a:solidFill>
                    <a:srgbClr val="8B321E"/>
                  </a:solidFill>
                  <a:latin typeface="+mn-lt"/>
                  <a:ea typeface="+mn-ea"/>
                  <a:cs typeface="+mn-cs"/>
                </a:rPr>
                <a:t>而是把大客户当普通客户管，缺乏系统性经营思维。</a:t>
              </a:r>
            </a:p>
          </p:txBody>
        </p:sp>
      </p:grpSp>
      <p:grpSp>
        <p:nvGrpSpPr>
          <p:cNvPr id="42" name="failure-modes"/>
          <p:cNvGrpSpPr/>
          <p:nvPr/>
        </p:nvGrpSpPr>
        <p:grpSpPr>
          <a:xfrm>
            <a:off x="381000" y="2133600"/>
            <a:ext cx="6572250" cy="3524250"/>
            <a:chOff x="381000" y="2133600"/>
            <a:chExt cx="6572250" cy="3524250"/>
          </a:xfrm>
        </p:grpSpPr>
        <p:sp>
          <p:nvSpPr>
            <p:cNvPr id="13" name="Rectangle 13"/>
            <p:cNvSpPr/>
            <p:nvPr/>
          </p:nvSpPr>
          <p:spPr>
            <a:xfrm>
              <a:off x="381000" y="2133600"/>
              <a:ext cx="57150" cy="190500"/>
            </a:xfrm>
            <a:prstGeom prst="rect">
              <a:avLst/>
            </a:prstGeom>
            <a:solidFill>
              <a:srgbClr val="8B321E"/>
            </a:solidFill>
            <a:ln>
              <a:noFill/>
            </a:ln>
          </p:spPr>
        </p:sp>
        <p:sp>
          <p:nvSpPr>
            <p:cNvPr id="14" name="TextBox 14"/>
            <p:cNvSpPr txBox="1"/>
            <p:nvPr/>
          </p:nvSpPr>
          <p:spPr>
            <a:xfrm>
              <a:off x="527304" y="2165985"/>
              <a:ext cx="1304544"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三类典型失效模式</a:t>
              </a:r>
            </a:p>
          </p:txBody>
        </p:sp>
        <p:grpSp>
          <p:nvGrpSpPr>
            <p:cNvPr id="23" name="mode-1"/>
            <p:cNvGrpSpPr/>
            <p:nvPr/>
          </p:nvGrpSpPr>
          <p:grpSpPr>
            <a:xfrm>
              <a:off x="381000" y="2457450"/>
              <a:ext cx="6572250" cy="990600"/>
              <a:chOff x="381000" y="2457450"/>
              <a:chExt cx="6572250" cy="990600"/>
            </a:xfrm>
          </p:grpSpPr>
          <p:sp>
            <p:nvSpPr>
              <p:cNvPr id="15" name="Rectangle 15"/>
              <p:cNvSpPr/>
              <p:nvPr/>
            </p:nvSpPr>
            <p:spPr>
              <a:xfrm>
                <a:off x="381000" y="2457450"/>
                <a:ext cx="6572250" cy="990600"/>
              </a:xfrm>
              <a:prstGeom prst="roundRect">
                <a:avLst>
                  <a:gd name="adj" fmla="val 5769"/>
                </a:avLst>
              </a:prstGeom>
              <a:solidFill>
                <a:srgbClr val="8B321E"/>
              </a:solidFill>
              <a:ln>
                <a:noFill/>
              </a:ln>
            </p:spPr>
          </p:sp>
          <p:sp>
            <p:nvSpPr>
              <p:cNvPr id="16" name="Ellipse 16"/>
              <p:cNvSpPr/>
              <p:nvPr/>
            </p:nvSpPr>
            <p:spPr>
              <a:xfrm>
                <a:off x="695325" y="2695575"/>
                <a:ext cx="514350" cy="514350"/>
              </a:xfrm>
              <a:prstGeom prst="ellipse">
                <a:avLst/>
              </a:prstGeom>
              <a:noFill/>
              <a:ln w="19050">
                <a:solidFill>
                  <a:srgbClr val="FFFFFF"/>
                </a:solidFill>
              </a:ln>
            </p:spPr>
          </p:sp>
          <p:grpSp>
            <p:nvGrpSpPr>
              <p:cNvPr id="19" name="Group 19"/>
              <p:cNvGrpSpPr/>
              <p:nvPr/>
            </p:nvGrpSpPr>
            <p:grpSpPr>
              <a:xfrm>
                <a:off x="853648" y="2849562"/>
                <a:ext cx="198984" cy="207102"/>
                <a:chOff x="853648" y="2849562"/>
                <a:chExt cx="198984" cy="207102"/>
              </a:xfrm>
            </p:grpSpPr>
            <p:sp>
              <p:nvSpPr>
                <p:cNvPr id="17" name="Freeform 17"/>
                <p:cNvSpPr/>
                <p:nvPr/>
              </p:nvSpPr>
              <p:spPr>
                <a:xfrm>
                  <a:off x="853648" y="2849562"/>
                  <a:ext cx="198984" cy="207102"/>
                </a:xfrm>
                <a:custGeom>
                  <a:avLst/>
                  <a:gdLst/>
                  <a:ahLst/>
                  <a:cxnLst/>
                  <a:rect l="l" t="t" r="r" b="b"/>
                  <a:pathLst>
                    <a:path w="198984" h="207102">
                      <a:moveTo>
                        <a:pt x="89616" y="204187"/>
                      </a:moveTo>
                      <a:cubicBezTo>
                        <a:pt x="95424" y="207102"/>
                        <a:pt x="102268" y="207102"/>
                        <a:pt x="108076" y="204187"/>
                      </a:cubicBezTo>
                      <a:lnTo>
                        <a:pt x="191576" y="162355"/>
                      </a:lnTo>
                      <a:cubicBezTo>
                        <a:pt x="197127" y="159569"/>
                        <a:pt x="198984" y="152542"/>
                        <a:pt x="195548" y="147372"/>
                      </a:cubicBezTo>
                      <a:lnTo>
                        <a:pt x="107426" y="4602"/>
                      </a:lnTo>
                      <a:cubicBezTo>
                        <a:pt x="105516" y="1728"/>
                        <a:pt x="102293" y="0"/>
                        <a:pt x="98841" y="0"/>
                      </a:cubicBezTo>
                      <a:cubicBezTo>
                        <a:pt x="95389" y="0"/>
                        <a:pt x="92167" y="1728"/>
                        <a:pt x="90256" y="4602"/>
                      </a:cubicBezTo>
                      <a:lnTo>
                        <a:pt x="2134" y="147372"/>
                      </a:lnTo>
                      <a:cubicBezTo>
                        <a:pt x="500" y="149843"/>
                        <a:pt x="0" y="152895"/>
                        <a:pt x="761" y="155758"/>
                      </a:cubicBezTo>
                      <a:cubicBezTo>
                        <a:pt x="1522" y="158621"/>
                        <a:pt x="3472" y="161022"/>
                        <a:pt x="6117" y="162355"/>
                      </a:cubicBezTo>
                      <a:lnTo>
                        <a:pt x="89616" y="204187"/>
                      </a:lnTo>
                    </a:path>
                  </a:pathLst>
                </a:custGeom>
                <a:noFill/>
                <a:ln w="20637">
                  <a:solidFill>
                    <a:srgbClr val="FFFFFF"/>
                  </a:solidFill>
                </a:ln>
              </p:spPr>
            </p:sp>
            <p:sp>
              <p:nvSpPr>
                <p:cNvPr id="18" name="Freeform 18"/>
                <p:cNvSpPr/>
                <p:nvPr/>
              </p:nvSpPr>
              <p:spPr>
                <a:xfrm>
                  <a:off x="952500" y="2849562"/>
                  <a:ext cx="9525" cy="206374"/>
                </a:xfrm>
                <a:custGeom>
                  <a:avLst/>
                  <a:gdLst/>
                  <a:ahLst/>
                  <a:cxnLst/>
                  <a:rect l="l" t="t" r="r" b="b"/>
                  <a:pathLst>
                    <a:path w="9525" h="206374">
                      <a:moveTo>
                        <a:pt x="0" y="0"/>
                      </a:moveTo>
                      <a:lnTo>
                        <a:pt x="0" y="206374"/>
                      </a:lnTo>
                    </a:path>
                  </a:pathLst>
                </a:custGeom>
                <a:noFill/>
                <a:ln w="20637">
                  <a:solidFill>
                    <a:srgbClr val="FFFFFF"/>
                  </a:solidFill>
                </a:ln>
              </p:spPr>
            </p:sp>
          </p:grpSp>
          <p:sp>
            <p:nvSpPr>
              <p:cNvPr id="20" name="TextBox 20"/>
              <p:cNvSpPr txBox="1"/>
              <p:nvPr/>
            </p:nvSpPr>
            <p:spPr>
              <a:xfrm>
                <a:off x="1398270" y="2824162"/>
                <a:ext cx="372704"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n-lt"/>
                    <a:ea typeface="+mn-ea"/>
                    <a:cs typeface="+mn-cs"/>
                  </a:rPr>
                  <a:t>01</a:t>
                </a:r>
              </a:p>
            </p:txBody>
          </p:sp>
          <p:sp>
            <p:nvSpPr>
              <p:cNvPr id="21" name="TextBox 21"/>
              <p:cNvSpPr txBox="1"/>
              <p:nvPr/>
            </p:nvSpPr>
            <p:spPr>
              <a:xfrm>
                <a:off x="2042160" y="2688431"/>
                <a:ext cx="227304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失效模式一：客户分层形同虚设。</a:t>
                </a:r>
              </a:p>
            </p:txBody>
          </p:sp>
          <p:sp>
            <p:nvSpPr>
              <p:cNvPr id="22" name="TextBox 22"/>
              <p:cNvSpPr txBox="1"/>
              <p:nvPr/>
            </p:nvSpPr>
            <p:spPr>
              <a:xfrm>
                <a:off x="2043112" y="2946797"/>
                <a:ext cx="2594102" cy="373856"/>
              </a:xfrm>
              <a:prstGeom prst="rect">
                <a:avLst/>
              </a:prstGeom>
              <a:noFill/>
              <a:ln>
                <a:noFill/>
              </a:ln>
            </p:spPr>
            <p:txBody>
              <a:bodyPr wrap="none" lIns="0" tIns="0" rIns="0" bIns="0" anchor="t" anchorCtr="0">
                <a:spAutoFit/>
              </a:bodyPr>
              <a:lstStyle/>
              <a:p>
                <a:pPr algn="l">
                  <a:lnSpc>
                    <a:spcPts val="1500"/>
                  </a:lnSpc>
                </a:pPr>
                <a:r>
                  <a:rPr lang="zh-CN" sz="940" dirty="0">
                    <a:solidFill>
                      <a:srgbClr val="F0DBDE"/>
                    </a:solidFill>
                    <a:latin typeface="+mn-lt"/>
                    <a:ea typeface="+mn-ea"/>
                    <a:cs typeface="+mn-cs"/>
                  </a:rPr>
                  <a:t>表面ABC分级实质无差异，大客户感受不到重视，</a:t>
                </a:r>
                <a:br/>
                <a:r>
                  <a:rPr lang="zh-CN" sz="940" dirty="0">
                    <a:solidFill>
                      <a:srgbClr val="F0DBDE"/>
                    </a:solidFill>
                    <a:latin typeface="+mn-lt"/>
                    <a:ea typeface="+mn-ea"/>
                    <a:cs typeface="+mn-cs"/>
                  </a:rPr>
                  <a:t>流失率高。</a:t>
                </a:r>
              </a:p>
            </p:txBody>
          </p:sp>
        </p:grpSp>
        <p:grpSp>
          <p:nvGrpSpPr>
            <p:cNvPr id="30" name="mode-2"/>
            <p:cNvGrpSpPr/>
            <p:nvPr/>
          </p:nvGrpSpPr>
          <p:grpSpPr>
            <a:xfrm>
              <a:off x="381000" y="3562350"/>
              <a:ext cx="6572250" cy="990600"/>
              <a:chOff x="381000" y="3562350"/>
              <a:chExt cx="6572250" cy="990600"/>
            </a:xfrm>
          </p:grpSpPr>
          <p:sp>
            <p:nvSpPr>
              <p:cNvPr id="24" name="Rectangle 24"/>
              <p:cNvSpPr/>
              <p:nvPr/>
            </p:nvSpPr>
            <p:spPr>
              <a:xfrm>
                <a:off x="381000" y="3562350"/>
                <a:ext cx="6572250" cy="990600"/>
              </a:xfrm>
              <a:prstGeom prst="roundRect">
                <a:avLst>
                  <a:gd name="adj" fmla="val 5769"/>
                </a:avLst>
              </a:prstGeom>
              <a:solidFill>
                <a:srgbClr val="EFEFEF"/>
              </a:solidFill>
              <a:ln>
                <a:noFill/>
              </a:ln>
            </p:spPr>
          </p:sp>
          <p:sp>
            <p:nvSpPr>
              <p:cNvPr id="25" name="Ellipse 25"/>
              <p:cNvSpPr/>
              <p:nvPr/>
            </p:nvSpPr>
            <p:spPr>
              <a:xfrm>
                <a:off x="695325" y="3800475"/>
                <a:ext cx="514350" cy="514350"/>
              </a:xfrm>
              <a:prstGeom prst="ellipse">
                <a:avLst/>
              </a:prstGeom>
              <a:solidFill>
                <a:srgbClr val="FFFFFF"/>
              </a:solidFill>
              <a:ln>
                <a:noFill/>
              </a:ln>
            </p:spPr>
          </p:sp>
          <p:sp>
            <p:nvSpPr>
              <p:cNvPr id="26" name="Freeform 26"/>
              <p:cNvSpPr/>
              <p:nvPr/>
            </p:nvSpPr>
            <p:spPr>
              <a:xfrm>
                <a:off x="849065" y="3967103"/>
                <a:ext cx="206003" cy="182610"/>
              </a:xfrm>
              <a:custGeom>
                <a:avLst/>
                <a:gdLst/>
                <a:ahLst/>
                <a:cxnLst/>
                <a:rect l="l" t="t" r="r" b="b"/>
                <a:pathLst>
                  <a:path w="206003" h="182610">
                    <a:moveTo>
                      <a:pt x="10566" y="173096"/>
                    </a:moveTo>
                    <a:lnTo>
                      <a:pt x="23981" y="132853"/>
                    </a:lnTo>
                    <a:cubicBezTo>
                      <a:pt x="0" y="97388"/>
                      <a:pt x="9266" y="51625"/>
                      <a:pt x="45650" y="25807"/>
                    </a:cubicBezTo>
                    <a:cubicBezTo>
                      <a:pt x="82034" y="0"/>
                      <a:pt x="134288" y="2115"/>
                      <a:pt x="167875" y="30760"/>
                    </a:cubicBezTo>
                    <a:cubicBezTo>
                      <a:pt x="201463" y="59415"/>
                      <a:pt x="206003" y="105736"/>
                      <a:pt x="178493" y="139117"/>
                    </a:cubicBezTo>
                    <a:cubicBezTo>
                      <a:pt x="150983" y="172498"/>
                      <a:pt x="99916" y="182610"/>
                      <a:pt x="59064" y="162778"/>
                    </a:cubicBezTo>
                    <a:lnTo>
                      <a:pt x="10566" y="173096"/>
                    </a:lnTo>
                  </a:path>
                </a:pathLst>
              </a:custGeom>
              <a:noFill/>
              <a:ln w="20637">
                <a:solidFill>
                  <a:srgbClr val="1A1A1A"/>
                </a:solidFill>
              </a:ln>
            </p:spPr>
          </p:sp>
          <p:sp>
            <p:nvSpPr>
              <p:cNvPr id="27" name="TextBox 27"/>
              <p:cNvSpPr txBox="1"/>
              <p:nvPr/>
            </p:nvSpPr>
            <p:spPr>
              <a:xfrm>
                <a:off x="1398270" y="3929062"/>
                <a:ext cx="37270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mn-lt"/>
                    <a:ea typeface="+mn-ea"/>
                    <a:cs typeface="+mn-cs"/>
                  </a:rPr>
                  <a:t>02</a:t>
                </a:r>
              </a:p>
            </p:txBody>
          </p:sp>
          <p:sp>
            <p:nvSpPr>
              <p:cNvPr id="28" name="TextBox 28"/>
              <p:cNvSpPr txBox="1"/>
              <p:nvPr/>
            </p:nvSpPr>
            <p:spPr>
              <a:xfrm>
                <a:off x="2042160" y="3745706"/>
                <a:ext cx="2593797" cy="420052"/>
              </a:xfrm>
              <a:prstGeom prst="rect">
                <a:avLst/>
              </a:prstGeom>
              <a:noFill/>
              <a:ln>
                <a:noFill/>
              </a:ln>
            </p:spPr>
            <p:txBody>
              <a:bodyPr wrap="none" lIns="0" tIns="0" rIns="0" bIns="0" anchor="t" anchorCtr="0">
                <a:spAutoFit/>
              </a:bodyPr>
              <a:lstStyle/>
              <a:p>
                <a:pPr algn="l">
                  <a:lnSpc>
                    <a:spcPts val="1575"/>
                  </a:lnSpc>
                </a:pPr>
                <a:r>
                  <a:rPr lang="zh-CN" sz="1120" b="1" dirty="0">
                    <a:solidFill>
                      <a:srgbClr val="1A1A1A"/>
                    </a:solidFill>
                    <a:latin typeface="+mn-lt"/>
                    <a:ea typeface="+mn-ea"/>
                    <a:cs typeface="+mn-cs"/>
                  </a:rPr>
                  <a:t>失效模式二：销售行为停留在“维系关系”</a:t>
                </a:r>
                <a:br/>
                <a:r>
                  <a:rPr lang="zh-CN" sz="1120" b="1" dirty="0">
                    <a:solidFill>
                      <a:srgbClr val="1A1A1A"/>
                    </a:solidFill>
                    <a:latin typeface="+mn-lt"/>
                    <a:ea typeface="+mn-ea"/>
                    <a:cs typeface="+mn-cs"/>
                  </a:rPr>
                  <a:t>而非“创造价值”。</a:t>
                </a:r>
              </a:p>
            </p:txBody>
          </p:sp>
          <p:sp>
            <p:nvSpPr>
              <p:cNvPr id="29" name="TextBox 29"/>
              <p:cNvSpPr txBox="1"/>
              <p:nvPr/>
            </p:nvSpPr>
            <p:spPr>
              <a:xfrm>
                <a:off x="2043112" y="4193143"/>
                <a:ext cx="1429385" cy="340519"/>
              </a:xfrm>
              <a:prstGeom prst="rect">
                <a:avLst/>
              </a:prstGeom>
              <a:noFill/>
              <a:ln>
                <a:noFill/>
              </a:ln>
            </p:spPr>
            <p:txBody>
              <a:bodyPr wrap="none" lIns="0" tIns="0" rIns="0" bIns="0" anchor="t" anchorCtr="0">
                <a:spAutoFit/>
              </a:bodyPr>
              <a:lstStyle/>
              <a:p>
                <a:pPr algn="l">
                  <a:lnSpc>
                    <a:spcPts val="1350"/>
                  </a:lnSpc>
                </a:pPr>
                <a:r>
                  <a:rPr lang="zh-CN" sz="860" dirty="0">
                    <a:solidFill>
                      <a:srgbClr val="6A6A6A"/>
                    </a:solidFill>
                    <a:latin typeface="+mn-lt"/>
                    <a:ea typeface="+mn-ea"/>
                    <a:cs typeface="+mn-cs"/>
                  </a:rPr>
                  <a:t>仅靠吃饭送礼，无系统洞察，</a:t>
                </a:r>
                <a:br/>
                <a:r>
                  <a:rPr lang="zh-CN" sz="860" dirty="0">
                    <a:solidFill>
                      <a:srgbClr val="6A6A6A"/>
                    </a:solidFill>
                    <a:latin typeface="+mn-lt"/>
                    <a:ea typeface="+mn-ea"/>
                    <a:cs typeface="+mn-cs"/>
                  </a:rPr>
                  <a:t>销售离职即客户流失。</a:t>
                </a:r>
              </a:p>
            </p:txBody>
          </p:sp>
        </p:grpSp>
        <p:grpSp>
          <p:nvGrpSpPr>
            <p:cNvPr id="41" name="mode-3"/>
            <p:cNvGrpSpPr/>
            <p:nvPr/>
          </p:nvGrpSpPr>
          <p:grpSpPr>
            <a:xfrm>
              <a:off x="381000" y="4667250"/>
              <a:ext cx="6572250" cy="990600"/>
              <a:chOff x="381000" y="4667250"/>
              <a:chExt cx="6572250" cy="990600"/>
            </a:xfrm>
          </p:grpSpPr>
          <p:sp>
            <p:nvSpPr>
              <p:cNvPr id="31" name="Rectangle 31"/>
              <p:cNvSpPr/>
              <p:nvPr/>
            </p:nvSpPr>
            <p:spPr>
              <a:xfrm>
                <a:off x="381000" y="4667250"/>
                <a:ext cx="6572250" cy="990600"/>
              </a:xfrm>
              <a:prstGeom prst="roundRect">
                <a:avLst>
                  <a:gd name="adj" fmla="val 5769"/>
                </a:avLst>
              </a:prstGeom>
              <a:solidFill>
                <a:srgbClr val="8B321E"/>
              </a:solidFill>
              <a:ln>
                <a:noFill/>
              </a:ln>
            </p:spPr>
          </p:sp>
          <p:sp>
            <p:nvSpPr>
              <p:cNvPr id="32" name="Ellipse 32"/>
              <p:cNvSpPr/>
              <p:nvPr/>
            </p:nvSpPr>
            <p:spPr>
              <a:xfrm>
                <a:off x="695325" y="4905375"/>
                <a:ext cx="514350" cy="514350"/>
              </a:xfrm>
              <a:prstGeom prst="ellipse">
                <a:avLst/>
              </a:prstGeom>
              <a:noFill/>
              <a:ln w="19050">
                <a:solidFill>
                  <a:srgbClr val="FFFFFF"/>
                </a:solidFill>
              </a:ln>
            </p:spPr>
          </p:sp>
          <p:grpSp>
            <p:nvGrpSpPr>
              <p:cNvPr id="37" name="Group 37"/>
              <p:cNvGrpSpPr/>
              <p:nvPr/>
            </p:nvGrpSpPr>
            <p:grpSpPr>
              <a:xfrm>
                <a:off x="880269" y="5080000"/>
                <a:ext cx="154780" cy="175418"/>
                <a:chOff x="880269" y="5080000"/>
                <a:chExt cx="154780" cy="175418"/>
              </a:xfrm>
            </p:grpSpPr>
            <p:sp>
              <p:nvSpPr>
                <p:cNvPr id="33" name="Freeform 33"/>
                <p:cNvSpPr/>
                <p:nvPr/>
              </p:nvSpPr>
              <p:spPr>
                <a:xfrm>
                  <a:off x="880269" y="5080000"/>
                  <a:ext cx="123825" cy="165099"/>
                </a:xfrm>
                <a:custGeom>
                  <a:avLst/>
                  <a:gdLst/>
                  <a:ahLst/>
                  <a:cxnLst/>
                  <a:rect l="l" t="t" r="r" b="b"/>
                  <a:pathLst>
                    <a:path w="123825" h="165099">
                      <a:moveTo>
                        <a:pt x="47621" y="165099"/>
                      </a:moveTo>
                      <a:lnTo>
                        <a:pt x="20637" y="165099"/>
                      </a:lnTo>
                      <a:cubicBezTo>
                        <a:pt x="9240" y="165099"/>
                        <a:pt x="0" y="155860"/>
                        <a:pt x="0" y="144462"/>
                      </a:cubicBezTo>
                      <a:lnTo>
                        <a:pt x="0" y="20637"/>
                      </a:lnTo>
                      <a:cubicBezTo>
                        <a:pt x="0" y="9240"/>
                        <a:pt x="9240" y="0"/>
                        <a:pt x="20637" y="0"/>
                      </a:cubicBezTo>
                      <a:lnTo>
                        <a:pt x="103187" y="0"/>
                      </a:lnTo>
                      <a:cubicBezTo>
                        <a:pt x="114585" y="0"/>
                        <a:pt x="123825" y="9240"/>
                        <a:pt x="123825" y="20637"/>
                      </a:cubicBezTo>
                      <a:lnTo>
                        <a:pt x="123825" y="103187"/>
                      </a:lnTo>
                    </a:path>
                  </a:pathLst>
                </a:custGeom>
                <a:noFill/>
                <a:ln w="20637">
                  <a:solidFill>
                    <a:srgbClr val="FFFFFF"/>
                  </a:solidFill>
                </a:ln>
              </p:spPr>
            </p:sp>
            <p:sp>
              <p:nvSpPr>
                <p:cNvPr id="34" name="Freeform 34"/>
                <p:cNvSpPr/>
                <p:nvPr/>
              </p:nvSpPr>
              <p:spPr>
                <a:xfrm>
                  <a:off x="973137" y="5214143"/>
                  <a:ext cx="61912" cy="41275"/>
                </a:xfrm>
                <a:custGeom>
                  <a:avLst/>
                  <a:gdLst/>
                  <a:ahLst/>
                  <a:cxnLst/>
                  <a:rect l="l" t="t" r="r" b="b"/>
                  <a:pathLst>
                    <a:path w="61912" h="41275">
                      <a:moveTo>
                        <a:pt x="0" y="20637"/>
                      </a:moveTo>
                      <a:lnTo>
                        <a:pt x="20637" y="41275"/>
                      </a:lnTo>
                      <a:lnTo>
                        <a:pt x="61912" y="0"/>
                      </a:lnTo>
                    </a:path>
                  </a:pathLst>
                </a:custGeom>
                <a:noFill/>
                <a:ln w="20637">
                  <a:solidFill>
                    <a:srgbClr val="FFFFFF"/>
                  </a:solidFill>
                </a:ln>
              </p:spPr>
            </p:sp>
            <p:sp>
              <p:nvSpPr>
                <p:cNvPr id="35" name="Freeform 35"/>
                <p:cNvSpPr/>
                <p:nvPr/>
              </p:nvSpPr>
              <p:spPr>
                <a:xfrm>
                  <a:off x="921543" y="5121275"/>
                  <a:ext cx="41275" cy="9525"/>
                </a:xfrm>
                <a:custGeom>
                  <a:avLst/>
                  <a:gdLst/>
                  <a:ahLst/>
                  <a:cxnLst/>
                  <a:rect l="l" t="t" r="r" b="b"/>
                  <a:pathLst>
                    <a:path w="41275" h="9525">
                      <a:moveTo>
                        <a:pt x="0" y="0"/>
                      </a:moveTo>
                      <a:lnTo>
                        <a:pt x="41275" y="0"/>
                      </a:lnTo>
                    </a:path>
                  </a:pathLst>
                </a:custGeom>
                <a:noFill/>
                <a:ln w="20637">
                  <a:solidFill>
                    <a:srgbClr val="FFFFFF"/>
                  </a:solidFill>
                </a:ln>
              </p:spPr>
            </p:sp>
            <p:sp>
              <p:nvSpPr>
                <p:cNvPr id="36" name="Freeform 36"/>
                <p:cNvSpPr/>
                <p:nvPr/>
              </p:nvSpPr>
              <p:spPr>
                <a:xfrm>
                  <a:off x="921543" y="5162550"/>
                  <a:ext cx="20637" cy="9525"/>
                </a:xfrm>
                <a:custGeom>
                  <a:avLst/>
                  <a:gdLst/>
                  <a:ahLst/>
                  <a:cxnLst/>
                  <a:rect l="l" t="t" r="r" b="b"/>
                  <a:pathLst>
                    <a:path w="20637" h="9525">
                      <a:moveTo>
                        <a:pt x="0" y="0"/>
                      </a:moveTo>
                      <a:lnTo>
                        <a:pt x="20637" y="0"/>
                      </a:lnTo>
                    </a:path>
                  </a:pathLst>
                </a:custGeom>
                <a:noFill/>
                <a:ln w="20637">
                  <a:solidFill>
                    <a:srgbClr val="FFFFFF"/>
                  </a:solidFill>
                </a:ln>
              </p:spPr>
            </p:sp>
          </p:grpSp>
          <p:sp>
            <p:nvSpPr>
              <p:cNvPr id="38" name="TextBox 38"/>
              <p:cNvSpPr txBox="1"/>
              <p:nvPr/>
            </p:nvSpPr>
            <p:spPr>
              <a:xfrm>
                <a:off x="1398270" y="5033962"/>
                <a:ext cx="372704"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n-lt"/>
                    <a:ea typeface="+mn-ea"/>
                    <a:cs typeface="+mn-cs"/>
                  </a:rPr>
                  <a:t>03</a:t>
                </a:r>
              </a:p>
            </p:txBody>
          </p:sp>
          <p:sp>
            <p:nvSpPr>
              <p:cNvPr id="39" name="TextBox 39"/>
              <p:cNvSpPr txBox="1"/>
              <p:nvPr/>
            </p:nvSpPr>
            <p:spPr>
              <a:xfrm>
                <a:off x="2042160" y="4850606"/>
                <a:ext cx="2287270" cy="420052"/>
              </a:xfrm>
              <a:prstGeom prst="rect">
                <a:avLst/>
              </a:prstGeom>
              <a:noFill/>
              <a:ln>
                <a:noFill/>
              </a:ln>
            </p:spPr>
            <p:txBody>
              <a:bodyPr wrap="none" lIns="0" tIns="0" rIns="0" bIns="0" anchor="t" anchorCtr="0">
                <a:spAutoFit/>
              </a:bodyPr>
              <a:lstStyle/>
              <a:p>
                <a:pPr algn="l">
                  <a:lnSpc>
                    <a:spcPts val="1575"/>
                  </a:lnSpc>
                </a:pPr>
                <a:r>
                  <a:rPr lang="zh-CN" sz="1120" b="1" dirty="0">
                    <a:solidFill>
                      <a:srgbClr val="FFFFFF"/>
                    </a:solidFill>
                    <a:latin typeface="+mn-lt"/>
                    <a:ea typeface="+mn-ea"/>
                    <a:cs typeface="+mn-cs"/>
                  </a:rPr>
                  <a:t>失效模式三：年度计划是数字游戏，</a:t>
                </a:r>
                <a:br/>
                <a:r>
                  <a:rPr lang="zh-CN" sz="1120" b="1" dirty="0">
                    <a:solidFill>
                      <a:srgbClr val="FFFFFF"/>
                    </a:solidFill>
                    <a:latin typeface="+mn-lt"/>
                    <a:ea typeface="+mn-ea"/>
                    <a:cs typeface="+mn-cs"/>
                  </a:rPr>
                  <a:t>没有客户级行动计划。</a:t>
                </a:r>
              </a:p>
            </p:txBody>
          </p:sp>
          <p:sp>
            <p:nvSpPr>
              <p:cNvPr id="40" name="TextBox 40"/>
              <p:cNvSpPr txBox="1"/>
              <p:nvPr/>
            </p:nvSpPr>
            <p:spPr>
              <a:xfrm>
                <a:off x="2043112" y="5298043"/>
                <a:ext cx="2440762" cy="169069"/>
              </a:xfrm>
              <a:prstGeom prst="rect">
                <a:avLst/>
              </a:prstGeom>
              <a:noFill/>
              <a:ln>
                <a:noFill/>
              </a:ln>
            </p:spPr>
            <p:txBody>
              <a:bodyPr wrap="none" lIns="0" tIns="0" rIns="0" bIns="0" anchor="t" anchorCtr="0">
                <a:spAutoFit/>
              </a:bodyPr>
              <a:lstStyle/>
              <a:p>
                <a:pPr algn="l"/>
                <a:r>
                  <a:rPr lang="zh-CN" sz="860" dirty="0">
                    <a:solidFill>
                      <a:srgbClr val="F0DBDE"/>
                    </a:solidFill>
                    <a:latin typeface="+mn-lt"/>
                    <a:ea typeface="+mn-ea"/>
                    <a:cs typeface="+mn-cs"/>
                  </a:rPr>
                  <a:t>目标未分解到客户，年底复盘才发现严重缺口。</a:t>
                </a:r>
              </a:p>
            </p:txBody>
          </p:sp>
        </p:grpSp>
      </p:grpSp>
      <p:grpSp>
        <p:nvGrpSpPr>
          <p:cNvPr id="74" name="data-cards"/>
          <p:cNvGrpSpPr/>
          <p:nvPr/>
        </p:nvGrpSpPr>
        <p:grpSpPr>
          <a:xfrm>
            <a:off x="7239000" y="2133600"/>
            <a:ext cx="4572000" cy="3524250"/>
            <a:chOff x="7239000" y="2133600"/>
            <a:chExt cx="4572000" cy="3524250"/>
          </a:xfrm>
        </p:grpSpPr>
        <p:sp>
          <p:nvSpPr>
            <p:cNvPr id="43" name="Rectangle 43"/>
            <p:cNvSpPr/>
            <p:nvPr/>
          </p:nvSpPr>
          <p:spPr>
            <a:xfrm>
              <a:off x="7239000" y="2133600"/>
              <a:ext cx="57150" cy="190500"/>
            </a:xfrm>
            <a:prstGeom prst="rect">
              <a:avLst/>
            </a:prstGeom>
            <a:solidFill>
              <a:srgbClr val="8B321E"/>
            </a:solidFill>
            <a:ln>
              <a:noFill/>
            </a:ln>
          </p:spPr>
        </p:sp>
        <p:sp>
          <p:nvSpPr>
            <p:cNvPr id="44" name="TextBox 44"/>
            <p:cNvSpPr txBox="1"/>
            <p:nvPr/>
          </p:nvSpPr>
          <p:spPr>
            <a:xfrm>
              <a:off x="7385304" y="2165985"/>
              <a:ext cx="65836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数据支撑</a:t>
              </a:r>
            </a:p>
          </p:txBody>
        </p:sp>
        <p:grpSp>
          <p:nvGrpSpPr>
            <p:cNvPr id="53" name="data-card-1"/>
            <p:cNvGrpSpPr/>
            <p:nvPr/>
          </p:nvGrpSpPr>
          <p:grpSpPr>
            <a:xfrm>
              <a:off x="7239000" y="2457450"/>
              <a:ext cx="4572000" cy="1073467"/>
              <a:chOff x="7239000" y="2457450"/>
              <a:chExt cx="4572000" cy="1073467"/>
            </a:xfrm>
          </p:grpSpPr>
          <p:sp>
            <p:nvSpPr>
              <p:cNvPr id="45" name="Rectangle 45"/>
              <p:cNvSpPr/>
              <p:nvPr/>
            </p:nvSpPr>
            <p:spPr>
              <a:xfrm>
                <a:off x="7239000" y="2457450"/>
                <a:ext cx="4572000" cy="990600"/>
              </a:xfrm>
              <a:prstGeom prst="roundRect">
                <a:avLst>
                  <a:gd name="adj" fmla="val 5769"/>
                </a:avLst>
              </a:prstGeom>
              <a:solidFill>
                <a:srgbClr val="FFFFFF"/>
              </a:solidFill>
              <a:ln w="14288">
                <a:solidFill>
                  <a:srgbClr val="D9978C"/>
                </a:solidFill>
              </a:ln>
            </p:spPr>
          </p:sp>
          <p:sp>
            <p:nvSpPr>
              <p:cNvPr id="46" name="Ellipse 46"/>
              <p:cNvSpPr/>
              <p:nvPr/>
            </p:nvSpPr>
            <p:spPr>
              <a:xfrm>
                <a:off x="7458075" y="2676525"/>
                <a:ext cx="552450" cy="552450"/>
              </a:xfrm>
              <a:prstGeom prst="ellipse">
                <a:avLst/>
              </a:prstGeom>
              <a:solidFill>
                <a:srgbClr val="F3EFEA"/>
              </a:solidFill>
              <a:ln>
                <a:noFill/>
              </a:ln>
            </p:spPr>
          </p:sp>
          <p:grpSp>
            <p:nvGrpSpPr>
              <p:cNvPr id="49" name="Group 49"/>
              <p:cNvGrpSpPr/>
              <p:nvPr/>
            </p:nvGrpSpPr>
            <p:grpSpPr>
              <a:xfrm>
                <a:off x="7631190" y="2854648"/>
                <a:ext cx="200901" cy="201212"/>
                <a:chOff x="7631190" y="2854648"/>
                <a:chExt cx="200901" cy="201212"/>
              </a:xfrm>
            </p:grpSpPr>
            <p:sp>
              <p:nvSpPr>
                <p:cNvPr id="47" name="Freeform 47"/>
                <p:cNvSpPr/>
                <p:nvPr/>
              </p:nvSpPr>
              <p:spPr>
                <a:xfrm>
                  <a:off x="7631190" y="2854648"/>
                  <a:ext cx="200901" cy="201212"/>
                </a:xfrm>
                <a:custGeom>
                  <a:avLst/>
                  <a:gdLst/>
                  <a:ahLst/>
                  <a:cxnLst/>
                  <a:rect l="l" t="t" r="r" b="b"/>
                  <a:pathLst>
                    <a:path w="200901" h="201212">
                      <a:moveTo>
                        <a:pt x="80885" y="312"/>
                      </a:moveTo>
                      <a:cubicBezTo>
                        <a:pt x="32768" y="11466"/>
                        <a:pt x="0" y="56077"/>
                        <a:pt x="3747" y="105328"/>
                      </a:cubicBezTo>
                      <a:cubicBezTo>
                        <a:pt x="7494" y="154578"/>
                        <a:pt x="46634" y="193718"/>
                        <a:pt x="95885" y="197465"/>
                      </a:cubicBezTo>
                      <a:cubicBezTo>
                        <a:pt x="145135" y="201212"/>
                        <a:pt x="189746" y="168444"/>
                        <a:pt x="200901" y="120327"/>
                      </a:cubicBezTo>
                      <a:cubicBezTo>
                        <a:pt x="200901" y="114190"/>
                        <a:pt x="195925" y="109214"/>
                        <a:pt x="189788" y="109214"/>
                      </a:cubicBezTo>
                      <a:lnTo>
                        <a:pt x="114223" y="109214"/>
                      </a:lnTo>
                      <a:cubicBezTo>
                        <a:pt x="101948" y="109214"/>
                        <a:pt x="91998" y="99264"/>
                        <a:pt x="91998" y="86989"/>
                      </a:cubicBezTo>
                      <a:lnTo>
                        <a:pt x="91998" y="9202"/>
                      </a:lnTo>
                      <a:cubicBezTo>
                        <a:pt x="91719" y="6542"/>
                        <a:pt x="90387" y="4105"/>
                        <a:pt x="88299" y="2435"/>
                      </a:cubicBezTo>
                      <a:cubicBezTo>
                        <a:pt x="86211" y="765"/>
                        <a:pt x="83541" y="0"/>
                        <a:pt x="80885" y="312"/>
                      </a:cubicBezTo>
                    </a:path>
                  </a:pathLst>
                </a:custGeom>
                <a:noFill/>
                <a:ln w="22225">
                  <a:solidFill>
                    <a:srgbClr val="C97263"/>
                  </a:solidFill>
                </a:ln>
              </p:spPr>
            </p:sp>
            <p:sp>
              <p:nvSpPr>
                <p:cNvPr id="48" name="Freeform 48"/>
                <p:cNvSpPr/>
                <p:nvPr/>
              </p:nvSpPr>
              <p:spPr>
                <a:xfrm>
                  <a:off x="7767638" y="2858294"/>
                  <a:ext cx="61119" cy="61119"/>
                </a:xfrm>
                <a:custGeom>
                  <a:avLst/>
                  <a:gdLst/>
                  <a:ahLst/>
                  <a:cxnLst/>
                  <a:rect l="l" t="t" r="r" b="b"/>
                  <a:pathLst>
                    <a:path w="61119" h="61119">
                      <a:moveTo>
                        <a:pt x="0" y="0"/>
                      </a:moveTo>
                      <a:cubicBezTo>
                        <a:pt x="28579" y="10063"/>
                        <a:pt x="51056" y="32540"/>
                        <a:pt x="61119" y="61119"/>
                      </a:cubicBezTo>
                      <a:lnTo>
                        <a:pt x="11113" y="61119"/>
                      </a:lnTo>
                      <a:cubicBezTo>
                        <a:pt x="4975" y="61119"/>
                        <a:pt x="0" y="56144"/>
                        <a:pt x="0" y="50006"/>
                      </a:cubicBezTo>
                      <a:lnTo>
                        <a:pt x="0" y="0"/>
                      </a:lnTo>
                    </a:path>
                  </a:pathLst>
                </a:custGeom>
                <a:noFill/>
                <a:ln w="22225">
                  <a:solidFill>
                    <a:srgbClr val="C97263"/>
                  </a:solidFill>
                </a:ln>
              </p:spPr>
            </p:sp>
          </p:grpSp>
          <p:sp>
            <p:nvSpPr>
              <p:cNvPr id="50" name="TextBox 50"/>
              <p:cNvSpPr txBox="1"/>
              <p:nvPr/>
            </p:nvSpPr>
            <p:spPr>
              <a:xfrm>
                <a:off x="8204835" y="264080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营收贡献</a:t>
                </a:r>
              </a:p>
            </p:txBody>
          </p:sp>
          <p:sp>
            <p:nvSpPr>
              <p:cNvPr id="51" name="TextBox 51"/>
              <p:cNvSpPr txBox="1"/>
              <p:nvPr/>
            </p:nvSpPr>
            <p:spPr>
              <a:xfrm>
                <a:off x="8205788" y="2884170"/>
                <a:ext cx="1155611" cy="176212"/>
              </a:xfrm>
              <a:prstGeom prst="rect">
                <a:avLst/>
              </a:prstGeom>
              <a:noFill/>
              <a:ln>
                <a:noFill/>
              </a:ln>
            </p:spPr>
            <p:txBody>
              <a:bodyPr wrap="none" lIns="0" tIns="0" rIns="0" bIns="0" anchor="t" anchorCtr="0">
                <a:spAutoFit/>
              </a:bodyPr>
              <a:lstStyle/>
              <a:p>
                <a:pPr algn="l"/>
                <a:r>
                  <a:rPr lang="zh-CN" sz="900" dirty="0">
                    <a:solidFill>
                      <a:srgbClr val="6A6A6A"/>
                    </a:solidFill>
                    <a:latin typeface="+mn-lt"/>
                    <a:ea typeface="+mn-ea"/>
                    <a:cs typeface="+mn-cs"/>
                  </a:rPr>
                  <a:t>TOP20%客户贡献约​</a:t>
                </a:r>
              </a:p>
            </p:txBody>
          </p:sp>
          <p:sp>
            <p:nvSpPr>
              <p:cNvPr id="52" name="TextBox 52"/>
              <p:cNvSpPr txBox="1"/>
              <p:nvPr/>
            </p:nvSpPr>
            <p:spPr>
              <a:xfrm>
                <a:off x="8199120" y="3090862"/>
                <a:ext cx="1677962" cy="440055"/>
              </a:xfrm>
              <a:prstGeom prst="rect">
                <a:avLst/>
              </a:prstGeom>
              <a:noFill/>
              <a:ln>
                <a:noFill/>
              </a:ln>
            </p:spPr>
            <p:txBody>
              <a:bodyPr wrap="none" lIns="0" tIns="0" rIns="0" bIns="0" anchor="t" anchorCtr="0">
                <a:spAutoFit/>
              </a:bodyPr>
              <a:lstStyle/>
              <a:p>
                <a:pPr algn="l"/>
                <a:r>
                  <a:rPr lang="zh-CN" sz="2250" b="1" dirty="0">
                    <a:solidFill>
                      <a:srgbClr val="C97263"/>
                    </a:solidFill>
                    <a:latin typeface="+mn-lt"/>
                    <a:ea typeface="+mn-ea"/>
                    <a:cs typeface="+mn-cs"/>
                  </a:rPr>
                  <a:t>70%-80%</a:t>
                </a:r>
                <a:r>
                  <a:rPr lang="zh-CN" sz="980" dirty="0">
                    <a:solidFill>
                      <a:srgbClr val="6A6A6A"/>
                    </a:solidFill>
                    <a:latin typeface="+mn-lt"/>
                    <a:ea typeface="+mn-ea"/>
                    <a:cs typeface="+mn-cs"/>
                  </a:rPr>
                  <a:t xml:space="preserve"> 营收</a:t>
                </a:r>
              </a:p>
            </p:txBody>
          </p:sp>
        </p:grpSp>
        <p:grpSp>
          <p:nvGrpSpPr>
            <p:cNvPr id="62" name="data-card-2"/>
            <p:cNvGrpSpPr/>
            <p:nvPr/>
          </p:nvGrpSpPr>
          <p:grpSpPr>
            <a:xfrm>
              <a:off x="7239000" y="3562350"/>
              <a:ext cx="4572000" cy="1073467"/>
              <a:chOff x="7239000" y="3562350"/>
              <a:chExt cx="4572000" cy="1073467"/>
            </a:xfrm>
          </p:grpSpPr>
          <p:sp>
            <p:nvSpPr>
              <p:cNvPr id="54" name="Rectangle 54"/>
              <p:cNvSpPr/>
              <p:nvPr/>
            </p:nvSpPr>
            <p:spPr>
              <a:xfrm>
                <a:off x="7239000" y="3562350"/>
                <a:ext cx="4572000" cy="990600"/>
              </a:xfrm>
              <a:prstGeom prst="roundRect">
                <a:avLst>
                  <a:gd name="adj" fmla="val 5769"/>
                </a:avLst>
              </a:prstGeom>
              <a:solidFill>
                <a:srgbClr val="FFFFFF"/>
              </a:solidFill>
              <a:ln w="14288">
                <a:solidFill>
                  <a:srgbClr val="D9978C"/>
                </a:solidFill>
              </a:ln>
            </p:spPr>
          </p:sp>
          <p:sp>
            <p:nvSpPr>
              <p:cNvPr id="55" name="Ellipse 55"/>
              <p:cNvSpPr/>
              <p:nvPr/>
            </p:nvSpPr>
            <p:spPr>
              <a:xfrm>
                <a:off x="7458075" y="3781425"/>
                <a:ext cx="552450" cy="552450"/>
              </a:xfrm>
              <a:prstGeom prst="ellipse">
                <a:avLst/>
              </a:prstGeom>
              <a:solidFill>
                <a:srgbClr val="F3EFEA"/>
              </a:solidFill>
              <a:ln>
                <a:noFill/>
              </a:ln>
            </p:spPr>
          </p:sp>
          <p:grpSp>
            <p:nvGrpSpPr>
              <p:cNvPr id="58" name="Group 58"/>
              <p:cNvGrpSpPr/>
              <p:nvPr/>
            </p:nvGrpSpPr>
            <p:grpSpPr>
              <a:xfrm>
                <a:off x="7634288" y="4002088"/>
                <a:ext cx="200026" cy="111125"/>
                <a:chOff x="7634288" y="4002088"/>
                <a:chExt cx="200026" cy="111125"/>
              </a:xfrm>
            </p:grpSpPr>
            <p:sp>
              <p:nvSpPr>
                <p:cNvPr id="56" name="Freeform 56"/>
                <p:cNvSpPr/>
                <p:nvPr/>
              </p:nvSpPr>
              <p:spPr>
                <a:xfrm>
                  <a:off x="7634288" y="4002088"/>
                  <a:ext cx="200026" cy="111125"/>
                </a:xfrm>
                <a:custGeom>
                  <a:avLst/>
                  <a:gdLst/>
                  <a:ahLst/>
                  <a:cxnLst/>
                  <a:rect l="l" t="t" r="r" b="b"/>
                  <a:pathLst>
                    <a:path w="200026" h="111125">
                      <a:moveTo>
                        <a:pt x="0" y="0"/>
                      </a:moveTo>
                      <a:lnTo>
                        <a:pt x="66675" y="66675"/>
                      </a:lnTo>
                      <a:lnTo>
                        <a:pt x="111125" y="22225"/>
                      </a:lnTo>
                      <a:lnTo>
                        <a:pt x="200026" y="111125"/>
                      </a:lnTo>
                    </a:path>
                  </a:pathLst>
                </a:custGeom>
                <a:noFill/>
                <a:ln w="22225">
                  <a:solidFill>
                    <a:srgbClr val="8B321E"/>
                  </a:solidFill>
                </a:ln>
              </p:spPr>
            </p:sp>
            <p:sp>
              <p:nvSpPr>
                <p:cNvPr id="57" name="Freeform 57"/>
                <p:cNvSpPr/>
                <p:nvPr/>
              </p:nvSpPr>
              <p:spPr>
                <a:xfrm>
                  <a:off x="7756525" y="4035425"/>
                  <a:ext cx="77788" cy="77788"/>
                </a:xfrm>
                <a:custGeom>
                  <a:avLst/>
                  <a:gdLst/>
                  <a:ahLst/>
                  <a:cxnLst/>
                  <a:rect l="l" t="t" r="r" b="b"/>
                  <a:pathLst>
                    <a:path w="77788" h="77788">
                      <a:moveTo>
                        <a:pt x="77788" y="0"/>
                      </a:moveTo>
                      <a:lnTo>
                        <a:pt x="77788" y="77788"/>
                      </a:lnTo>
                      <a:lnTo>
                        <a:pt x="0" y="77788"/>
                      </a:lnTo>
                    </a:path>
                  </a:pathLst>
                </a:custGeom>
                <a:noFill/>
                <a:ln w="22225">
                  <a:solidFill>
                    <a:srgbClr val="8B321E"/>
                  </a:solidFill>
                </a:ln>
              </p:spPr>
            </p:sp>
          </p:grpSp>
          <p:sp>
            <p:nvSpPr>
              <p:cNvPr id="59" name="TextBox 59"/>
              <p:cNvSpPr txBox="1"/>
              <p:nvPr/>
            </p:nvSpPr>
            <p:spPr>
              <a:xfrm>
                <a:off x="8204835" y="374570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流失代价</a:t>
                </a:r>
              </a:p>
            </p:txBody>
          </p:sp>
          <p:sp>
            <p:nvSpPr>
              <p:cNvPr id="60" name="TextBox 60"/>
              <p:cNvSpPr txBox="1"/>
              <p:nvPr/>
            </p:nvSpPr>
            <p:spPr>
              <a:xfrm>
                <a:off x="8205788" y="3989070"/>
                <a:ext cx="2051037" cy="176212"/>
              </a:xfrm>
              <a:prstGeom prst="rect">
                <a:avLst/>
              </a:prstGeom>
              <a:noFill/>
              <a:ln>
                <a:noFill/>
              </a:ln>
            </p:spPr>
            <p:txBody>
              <a:bodyPr wrap="none" lIns="0" tIns="0" rIns="0" bIns="0" anchor="t" anchorCtr="0">
                <a:spAutoFit/>
              </a:bodyPr>
              <a:lstStyle/>
              <a:p>
                <a:pPr algn="l"/>
                <a:r>
                  <a:rPr lang="zh-CN" sz="900" dirty="0">
                    <a:solidFill>
                      <a:srgbClr val="6A6A6A"/>
                    </a:solidFill>
                    <a:latin typeface="+mn-lt"/>
                    <a:ea typeface="+mn-ea"/>
                    <a:cs typeface="+mn-cs"/>
                  </a:rPr>
                  <a:t>大客户年流失率每提高1%，需新增约​</a:t>
                </a:r>
              </a:p>
            </p:txBody>
          </p:sp>
          <p:sp>
            <p:nvSpPr>
              <p:cNvPr id="61" name="TextBox 61"/>
              <p:cNvSpPr txBox="1"/>
              <p:nvPr/>
            </p:nvSpPr>
            <p:spPr>
              <a:xfrm>
                <a:off x="8199120" y="4195762"/>
                <a:ext cx="1549737" cy="440055"/>
              </a:xfrm>
              <a:prstGeom prst="rect">
                <a:avLst/>
              </a:prstGeom>
              <a:noFill/>
              <a:ln>
                <a:noFill/>
              </a:ln>
            </p:spPr>
            <p:txBody>
              <a:bodyPr wrap="none" lIns="0" tIns="0" rIns="0" bIns="0" anchor="t" anchorCtr="0">
                <a:spAutoFit/>
              </a:bodyPr>
              <a:lstStyle/>
              <a:p>
                <a:pPr algn="l"/>
                <a:r>
                  <a:rPr lang="zh-CN" sz="2250" b="1" dirty="0">
                    <a:solidFill>
                      <a:srgbClr val="C97263"/>
                    </a:solidFill>
                    <a:latin typeface="+mn-lt"/>
                    <a:ea typeface="+mn-ea"/>
                    <a:cs typeface="+mn-cs"/>
                  </a:rPr>
                  <a:t>3-5个</a:t>
                </a:r>
                <a:r>
                  <a:rPr lang="zh-CN" sz="980" dirty="0">
                    <a:solidFill>
                      <a:srgbClr val="6A6A6A"/>
                    </a:solidFill>
                    <a:latin typeface="+mn-lt"/>
                    <a:ea typeface="+mn-ea"/>
                    <a:cs typeface="+mn-cs"/>
                  </a:rPr>
                  <a:t xml:space="preserve"> 新客户弥补</a:t>
                </a:r>
              </a:p>
            </p:txBody>
          </p:sp>
        </p:grpSp>
        <p:grpSp>
          <p:nvGrpSpPr>
            <p:cNvPr id="73" name="data-card-3"/>
            <p:cNvGrpSpPr/>
            <p:nvPr/>
          </p:nvGrpSpPr>
          <p:grpSpPr>
            <a:xfrm>
              <a:off x="7239000" y="4667250"/>
              <a:ext cx="4572000" cy="990600"/>
              <a:chOff x="7239000" y="4667250"/>
              <a:chExt cx="4572000" cy="990600"/>
            </a:xfrm>
          </p:grpSpPr>
          <p:sp>
            <p:nvSpPr>
              <p:cNvPr id="63" name="Rectangle 63"/>
              <p:cNvSpPr/>
              <p:nvPr/>
            </p:nvSpPr>
            <p:spPr>
              <a:xfrm>
                <a:off x="7239000" y="4667250"/>
                <a:ext cx="4572000" cy="990600"/>
              </a:xfrm>
              <a:prstGeom prst="roundRect">
                <a:avLst>
                  <a:gd name="adj" fmla="val 5769"/>
                </a:avLst>
              </a:prstGeom>
              <a:solidFill>
                <a:srgbClr val="FFFFFF"/>
              </a:solidFill>
              <a:ln w="14288">
                <a:solidFill>
                  <a:srgbClr val="D9978C"/>
                </a:solidFill>
              </a:ln>
            </p:spPr>
          </p:sp>
          <p:sp>
            <p:nvSpPr>
              <p:cNvPr id="64" name="Ellipse 64"/>
              <p:cNvSpPr/>
              <p:nvPr/>
            </p:nvSpPr>
            <p:spPr>
              <a:xfrm>
                <a:off x="7458075" y="4886325"/>
                <a:ext cx="552450" cy="552450"/>
              </a:xfrm>
              <a:prstGeom prst="ellipse">
                <a:avLst/>
              </a:prstGeom>
              <a:solidFill>
                <a:srgbClr val="F3EFEA"/>
              </a:solidFill>
              <a:ln>
                <a:noFill/>
              </a:ln>
            </p:spPr>
          </p:sp>
          <p:grpSp>
            <p:nvGrpSpPr>
              <p:cNvPr id="69" name="Group 69"/>
              <p:cNvGrpSpPr/>
              <p:nvPr/>
            </p:nvGrpSpPr>
            <p:grpSpPr>
              <a:xfrm>
                <a:off x="7634288" y="5062538"/>
                <a:ext cx="200026" cy="200025"/>
                <a:chOff x="7634288" y="5062538"/>
                <a:chExt cx="200026" cy="200025"/>
              </a:xfrm>
            </p:grpSpPr>
            <p:sp>
              <p:nvSpPr>
                <p:cNvPr id="65" name="Freeform 65"/>
                <p:cNvSpPr/>
                <p:nvPr/>
              </p:nvSpPr>
              <p:spPr>
                <a:xfrm>
                  <a:off x="7656513" y="50625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8B321E"/>
                  </a:solidFill>
                </a:ln>
              </p:spPr>
            </p:sp>
            <p:sp>
              <p:nvSpPr>
                <p:cNvPr id="66" name="Freeform 66"/>
                <p:cNvSpPr/>
                <p:nvPr/>
              </p:nvSpPr>
              <p:spPr>
                <a:xfrm>
                  <a:off x="7634288" y="51958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8B321E"/>
                  </a:solidFill>
                </a:ln>
              </p:spPr>
            </p:sp>
            <p:sp>
              <p:nvSpPr>
                <p:cNvPr id="67" name="Freeform 67"/>
                <p:cNvSpPr/>
                <p:nvPr/>
              </p:nvSpPr>
              <p:spPr>
                <a:xfrm>
                  <a:off x="7778751" y="50639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8B321E"/>
                  </a:solidFill>
                </a:ln>
              </p:spPr>
            </p:sp>
            <p:sp>
              <p:nvSpPr>
                <p:cNvPr id="68" name="Freeform 68"/>
                <p:cNvSpPr/>
                <p:nvPr/>
              </p:nvSpPr>
              <p:spPr>
                <a:xfrm>
                  <a:off x="7800976" y="51975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8B321E"/>
                  </a:solidFill>
                </a:ln>
              </p:spPr>
            </p:sp>
          </p:grpSp>
          <p:sp>
            <p:nvSpPr>
              <p:cNvPr id="70" name="TextBox 70"/>
              <p:cNvSpPr txBox="1"/>
              <p:nvPr/>
            </p:nvSpPr>
            <p:spPr>
              <a:xfrm>
                <a:off x="8204835" y="485060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管理带宽</a:t>
                </a:r>
              </a:p>
            </p:txBody>
          </p:sp>
          <p:sp>
            <p:nvSpPr>
              <p:cNvPr id="71" name="TextBox 71"/>
              <p:cNvSpPr txBox="1"/>
              <p:nvPr/>
            </p:nvSpPr>
            <p:spPr>
              <a:xfrm>
                <a:off x="8205788" y="5093970"/>
                <a:ext cx="1463421" cy="176212"/>
              </a:xfrm>
              <a:prstGeom prst="rect">
                <a:avLst/>
              </a:prstGeom>
              <a:noFill/>
              <a:ln>
                <a:noFill/>
              </a:ln>
            </p:spPr>
            <p:txBody>
              <a:bodyPr wrap="none" lIns="0" tIns="0" rIns="0" bIns="0" anchor="t" anchorCtr="0">
                <a:spAutoFit/>
              </a:bodyPr>
              <a:lstStyle/>
              <a:p>
                <a:pPr algn="l"/>
                <a:r>
                  <a:rPr lang="zh-CN" sz="900" dirty="0">
                    <a:solidFill>
                      <a:srgbClr val="6A6A6A"/>
                    </a:solidFill>
                    <a:latin typeface="+mn-lt"/>
                    <a:ea typeface="+mn-ea"/>
                    <a:cs typeface="+mn-cs"/>
                  </a:rPr>
                  <a:t>大客户销售平均管理客户数</a:t>
                </a:r>
              </a:p>
            </p:txBody>
          </p:sp>
          <p:sp>
            <p:nvSpPr>
              <p:cNvPr id="72" name="TextBox 72"/>
              <p:cNvSpPr txBox="1"/>
              <p:nvPr/>
            </p:nvSpPr>
            <p:spPr>
              <a:xfrm>
                <a:off x="8205788" y="5465445"/>
                <a:ext cx="3087241" cy="176212"/>
              </a:xfrm>
              <a:prstGeom prst="rect">
                <a:avLst/>
              </a:prstGeom>
              <a:noFill/>
              <a:ln>
                <a:noFill/>
              </a:ln>
            </p:spPr>
            <p:txBody>
              <a:bodyPr wrap="none" lIns="0" tIns="0" rIns="0" bIns="0" anchor="t" anchorCtr="0">
                <a:spAutoFit/>
              </a:bodyPr>
              <a:lstStyle/>
              <a:p>
                <a:pPr algn="l"/>
                <a:r>
                  <a:rPr lang="zh-CN" sz="900" dirty="0">
                    <a:solidFill>
                      <a:srgbClr val="6A6A6A"/>
                    </a:solidFill>
                    <a:latin typeface="+mn-lt"/>
                    <a:ea typeface="+mn-ea"/>
                    <a:cs typeface="+mn-cs"/>
                  </a:rPr>
                  <a:t xml:space="preserve">优秀企业 </a:t>
                </a:r>
                <a:r>
                  <a:rPr lang="zh-CN" sz="2100" b="1" dirty="0">
                    <a:solidFill>
                      <a:srgbClr val="C97263"/>
                    </a:solidFill>
                    <a:latin typeface="+mn-lt"/>
                    <a:ea typeface="+mn-ea"/>
                    <a:cs typeface="+mn-cs"/>
                  </a:rPr>
                  <a:t>8-12</a:t>
                </a:r>
                <a:r>
                  <a:rPr lang="zh-CN" sz="1050" dirty="0">
                    <a:solidFill>
                      <a:srgbClr val="6A6A6A"/>
                    </a:solidFill>
                    <a:latin typeface="+mn-lt"/>
                    <a:ea typeface="+mn-ea"/>
                    <a:cs typeface="+mn-cs"/>
                  </a:rPr>
                  <a:t>家</a:t>
                </a:r>
                <a:r>
                  <a:rPr lang="zh-CN" sz="900" dirty="0">
                    <a:solidFill>
                      <a:srgbClr val="6A6A6A"/>
                    </a:solidFill>
                    <a:latin typeface="+mn-lt"/>
                    <a:ea typeface="+mn-ea"/>
                    <a:cs typeface="+mn-cs"/>
                  </a:rPr>
                  <a:t xml:space="preserve"> vs 一般企业 </a:t>
                </a:r>
                <a:r>
                  <a:rPr lang="zh-CN" sz="2100" b="1" dirty="0">
                    <a:solidFill>
                      <a:srgbClr val="C97263"/>
                    </a:solidFill>
                    <a:latin typeface="+mn-lt"/>
                    <a:ea typeface="+mn-ea"/>
                    <a:cs typeface="+mn-cs"/>
                  </a:rPr>
                  <a:t>20-30</a:t>
                </a:r>
                <a:r>
                  <a:rPr lang="zh-CN" sz="1050" dirty="0">
                    <a:solidFill>
                      <a:srgbClr val="6A6A6A"/>
                    </a:solidFill>
                    <a:latin typeface="+mn-lt"/>
                    <a:ea typeface="+mn-ea"/>
                    <a:cs typeface="+mn-cs"/>
                  </a:rPr>
                  <a:t>家​</a:t>
                </a:r>
              </a:p>
            </p:txBody>
          </p:sp>
        </p:grpSp>
      </p:grpSp>
      <p:sp>
        <p:nvSpPr>
          <p:cNvPr id="75" name="TextBox 75"/>
          <p:cNvSpPr txBox="1"/>
          <p:nvPr/>
        </p:nvSpPr>
        <p:spPr>
          <a:xfrm>
            <a:off x="11620383" y="6565106"/>
            <a:ext cx="177282" cy="220028"/>
          </a:xfrm>
          <a:prstGeom prst="rect">
            <a:avLst/>
          </a:prstGeom>
          <a:noFill/>
          <a:ln>
            <a:noFill/>
          </a:ln>
        </p:spPr>
        <p:txBody>
          <a:bodyPr wrap="none" lIns="0" tIns="0" rIns="0" bIns="0" anchor="t" anchorCtr="0">
            <a:spAutoFit/>
          </a:bodyPr>
          <a:lstStyle/>
          <a:p>
            <a:pPr algn="r"/>
            <a:r>
              <a:rPr lang="zh-CN" sz="1120" dirty="0">
                <a:solidFill>
                  <a:srgbClr val="8A8A8A"/>
                </a:solidFill>
                <a:latin typeface="+mn-lt"/>
                <a:ea typeface="+mn-ea"/>
                <a:cs typeface="+mn-cs"/>
              </a:rPr>
              <a:t>02</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page-title"/>
          <p:cNvGrpSpPr/>
          <p:nvPr/>
        </p:nvGrpSpPr>
        <p:grpSpPr>
          <a:xfrm>
            <a:off x="367284" y="260985"/>
            <a:ext cx="9114282" cy="528066"/>
            <a:chOff x="367284" y="260985"/>
            <a:chExt cx="9114282" cy="528066"/>
          </a:xfrm>
        </p:grpSpPr>
        <p:sp>
          <p:nvSpPr>
            <p:cNvPr id="2" name="TextBox 2"/>
            <p:cNvSpPr txBox="1"/>
            <p:nvPr/>
          </p:nvSpPr>
          <p:spPr>
            <a:xfrm>
              <a:off x="367284" y="260985"/>
              <a:ext cx="9114282" cy="528066"/>
            </a:xfrm>
            <a:prstGeom prst="rect">
              <a:avLst/>
            </a:prstGeom>
            <a:noFill/>
            <a:ln>
              <a:noFill/>
            </a:ln>
          </p:spPr>
          <p:txBody>
            <a:bodyPr wrap="none" lIns="0" tIns="0" rIns="0" bIns="0" anchor="t" anchorCtr="0">
              <a:spAutoFit/>
            </a:bodyPr>
            <a:lstStyle/>
            <a:p>
              <a:pPr algn="l"/>
              <a:r>
                <a:rPr lang="zh-CN" sz="2700" b="1" dirty="0">
                  <a:solidFill>
                    <a:srgbClr val="1A1A1A"/>
                  </a:solidFill>
                  <a:latin typeface="+mn-lt"/>
                  <a:ea typeface="+mn-ea"/>
                  <a:cs typeface="+mn-cs"/>
                </a:rPr>
                <a:t>客户分层的底层逻辑：不是按规模分，而是按战略价值分</a:t>
              </a:r>
            </a:p>
          </p:txBody>
        </p:sp>
      </p:grpSp>
      <p:grpSp>
        <p:nvGrpSpPr>
          <p:cNvPr id="10" name="core-line"/>
          <p:cNvGrpSpPr/>
          <p:nvPr/>
        </p:nvGrpSpPr>
        <p:grpSpPr>
          <a:xfrm>
            <a:off x="381000" y="857250"/>
            <a:ext cx="8587443" cy="457200"/>
            <a:chOff x="381000" y="857250"/>
            <a:chExt cx="8587443" cy="457200"/>
          </a:xfrm>
        </p:grpSpPr>
        <p:sp>
          <p:nvSpPr>
            <p:cNvPr id="4" name="Ellipse 4"/>
            <p:cNvSpPr/>
            <p:nvPr/>
          </p:nvSpPr>
          <p:spPr>
            <a:xfrm>
              <a:off x="381000" y="857250"/>
              <a:ext cx="457200" cy="457200"/>
            </a:xfrm>
            <a:prstGeom prst="ellipse">
              <a:avLst/>
            </a:prstGeom>
            <a:solidFill>
              <a:srgbClr val="8B321E"/>
            </a:solidFill>
            <a:ln>
              <a:noFill/>
            </a:ln>
          </p:spPr>
        </p:sp>
        <p:grpSp>
          <p:nvGrpSpPr>
            <p:cNvPr id="8" name="Group 8"/>
            <p:cNvGrpSpPr/>
            <p:nvPr/>
          </p:nvGrpSpPr>
          <p:grpSpPr>
            <a:xfrm>
              <a:off x="523875" y="1000125"/>
              <a:ext cx="171450" cy="171450"/>
              <a:chOff x="523875" y="1000125"/>
              <a:chExt cx="171450" cy="171450"/>
            </a:xfrm>
          </p:grpSpPr>
          <p:sp>
            <p:nvSpPr>
              <p:cNvPr id="5" name="Freeform 5"/>
              <p:cNvSpPr/>
              <p:nvPr/>
            </p:nvSpPr>
            <p:spPr>
              <a:xfrm>
                <a:off x="600075" y="107632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6" name="Freeform 6"/>
              <p:cNvSpPr/>
              <p:nvPr/>
            </p:nvSpPr>
            <p:spPr>
              <a:xfrm>
                <a:off x="561975" y="103822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FFFFFF"/>
                </a:solidFill>
              </a:ln>
            </p:spPr>
          </p:sp>
          <p:sp>
            <p:nvSpPr>
              <p:cNvPr id="7" name="Freeform 7"/>
              <p:cNvSpPr/>
              <p:nvPr/>
            </p:nvSpPr>
            <p:spPr>
              <a:xfrm>
                <a:off x="523875" y="10001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grpSp>
        <p:sp>
          <p:nvSpPr>
            <p:cNvPr id="9" name="TextBox 9"/>
            <p:cNvSpPr txBox="1"/>
            <p:nvPr/>
          </p:nvSpPr>
          <p:spPr>
            <a:xfrm>
              <a:off x="983742" y="1006792"/>
              <a:ext cx="7984701"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mn-lt"/>
                  <a:ea typeface="+mn-ea"/>
                  <a:cs typeface="+mn-cs"/>
                </a:rPr>
                <a:t>核心观点：</a:t>
              </a:r>
              <a:r>
                <a:rPr lang="zh-CN" sz="1350" dirty="0">
                  <a:solidFill>
                    <a:srgbClr val="1A1A1A"/>
                  </a:solidFill>
                  <a:latin typeface="+mn-lt"/>
                  <a:ea typeface="+mn-ea"/>
                  <a:cs typeface="+mn-cs"/>
                </a:rPr>
                <a:t>客户分层的核心维度是</a:t>
              </a:r>
              <a:r>
                <a:rPr lang="zh-CN" sz="1350" b="1" dirty="0">
                  <a:solidFill>
                    <a:srgbClr val="C97263"/>
                  </a:solidFill>
                  <a:latin typeface="+mn-lt"/>
                  <a:ea typeface="+mn-ea"/>
                  <a:cs typeface="+mn-cs"/>
                </a:rPr>
                <a:t>“当前价值+未来潜力+战略匹配度”</a:t>
              </a:r>
              <a:r>
                <a:rPr lang="zh-CN" sz="1350" dirty="0">
                  <a:solidFill>
                    <a:srgbClr val="1A1A1A"/>
                  </a:solidFill>
                  <a:latin typeface="+mn-lt"/>
                  <a:ea typeface="+mn-ea"/>
                  <a:cs typeface="+mn-cs"/>
                </a:rPr>
                <a:t>，而非单纯的历史采购金额。​</a:t>
              </a:r>
            </a:p>
          </p:txBody>
        </p:sp>
      </p:grpSp>
      <p:grpSp>
        <p:nvGrpSpPr>
          <p:cNvPr id="66" name="dimension-cards"/>
          <p:cNvGrpSpPr/>
          <p:nvPr/>
        </p:nvGrpSpPr>
        <p:grpSpPr>
          <a:xfrm>
            <a:off x="381000" y="1600200"/>
            <a:ext cx="5238750" cy="4705350"/>
            <a:chOff x="381000" y="1600200"/>
            <a:chExt cx="5238750" cy="4705350"/>
          </a:xfrm>
        </p:grpSpPr>
        <p:grpSp>
          <p:nvGrpSpPr>
            <p:cNvPr id="30" name="dim-1"/>
            <p:cNvGrpSpPr/>
            <p:nvPr/>
          </p:nvGrpSpPr>
          <p:grpSpPr>
            <a:xfrm>
              <a:off x="381000" y="1600200"/>
              <a:ext cx="5238750" cy="1466850"/>
              <a:chOff x="381000" y="1600200"/>
              <a:chExt cx="5238750" cy="1466850"/>
            </a:xfrm>
          </p:grpSpPr>
          <p:sp>
            <p:nvSpPr>
              <p:cNvPr id="11" name="Rectangle 11"/>
              <p:cNvSpPr/>
              <p:nvPr/>
            </p:nvSpPr>
            <p:spPr>
              <a:xfrm>
                <a:off x="381000" y="1600200"/>
                <a:ext cx="5238750" cy="1466850"/>
              </a:xfrm>
              <a:prstGeom prst="roundRect">
                <a:avLst>
                  <a:gd name="adj" fmla="val 3896"/>
                </a:avLst>
              </a:prstGeom>
              <a:solidFill>
                <a:srgbClr val="8B321E"/>
              </a:solidFill>
              <a:ln>
                <a:noFill/>
              </a:ln>
            </p:spPr>
          </p:sp>
          <p:sp>
            <p:nvSpPr>
              <p:cNvPr id="12" name="Ellipse 12"/>
              <p:cNvSpPr/>
              <p:nvPr/>
            </p:nvSpPr>
            <p:spPr>
              <a:xfrm>
                <a:off x="581025" y="1800225"/>
                <a:ext cx="285750" cy="285750"/>
              </a:xfrm>
              <a:prstGeom prst="ellipse">
                <a:avLst/>
              </a:prstGeom>
              <a:noFill/>
              <a:ln w="19050">
                <a:solidFill>
                  <a:srgbClr val="FFFFFF"/>
                </a:solidFill>
              </a:ln>
            </p:spPr>
          </p:sp>
          <p:sp>
            <p:nvSpPr>
              <p:cNvPr id="13" name="TextBox 13"/>
              <p:cNvSpPr txBox="1"/>
              <p:nvPr/>
            </p:nvSpPr>
            <p:spPr>
              <a:xfrm>
                <a:off x="671158" y="18707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grpSp>
            <p:nvGrpSpPr>
              <p:cNvPr id="18" name="Group 18"/>
              <p:cNvGrpSpPr/>
              <p:nvPr/>
            </p:nvGrpSpPr>
            <p:grpSpPr>
              <a:xfrm>
                <a:off x="592931" y="2339975"/>
                <a:ext cx="242889" cy="225426"/>
                <a:chOff x="592931" y="2339975"/>
                <a:chExt cx="242889" cy="225426"/>
              </a:xfrm>
            </p:grpSpPr>
            <p:sp>
              <p:nvSpPr>
                <p:cNvPr id="14" name="Freeform 14"/>
                <p:cNvSpPr/>
                <p:nvPr/>
              </p:nvSpPr>
              <p:spPr>
                <a:xfrm>
                  <a:off x="592931" y="2447925"/>
                  <a:ext cx="80963" cy="107950"/>
                </a:xfrm>
                <a:custGeom>
                  <a:avLst/>
                  <a:gdLst/>
                  <a:ahLst/>
                  <a:cxnLst/>
                  <a:rect l="l" t="t" r="r" b="b"/>
                  <a:pathLst>
                    <a:path w="80963" h="107950">
                      <a:moveTo>
                        <a:pt x="0" y="13494"/>
                      </a:moveTo>
                      <a:cubicBezTo>
                        <a:pt x="0" y="6041"/>
                        <a:pt x="6041" y="0"/>
                        <a:pt x="13494" y="0"/>
                      </a:cubicBezTo>
                      <a:lnTo>
                        <a:pt x="67469" y="0"/>
                      </a:lnTo>
                      <a:cubicBezTo>
                        <a:pt x="74921" y="0"/>
                        <a:pt x="80963" y="6041"/>
                        <a:pt x="80963" y="13494"/>
                      </a:cubicBezTo>
                      <a:lnTo>
                        <a:pt x="80963" y="94456"/>
                      </a:lnTo>
                      <a:cubicBezTo>
                        <a:pt x="80963" y="101909"/>
                        <a:pt x="74921" y="107950"/>
                        <a:pt x="67469" y="107950"/>
                      </a:cubicBezTo>
                      <a:lnTo>
                        <a:pt x="13494" y="107950"/>
                      </a:lnTo>
                      <a:cubicBezTo>
                        <a:pt x="6041" y="107950"/>
                        <a:pt x="0" y="101909"/>
                        <a:pt x="0" y="94456"/>
                      </a:cubicBezTo>
                      <a:lnTo>
                        <a:pt x="0" y="13494"/>
                      </a:lnTo>
                    </a:path>
                  </a:pathLst>
                </a:custGeom>
                <a:noFill/>
                <a:ln w="26988">
                  <a:solidFill>
                    <a:srgbClr val="FFFFFF"/>
                  </a:solidFill>
                </a:ln>
              </p:spPr>
            </p:sp>
            <p:sp>
              <p:nvSpPr>
                <p:cNvPr id="15" name="Freeform 15"/>
                <p:cNvSpPr/>
                <p:nvPr/>
              </p:nvSpPr>
              <p:spPr>
                <a:xfrm>
                  <a:off x="754857" y="2393950"/>
                  <a:ext cx="80963" cy="161925"/>
                </a:xfrm>
                <a:custGeom>
                  <a:avLst/>
                  <a:gdLst/>
                  <a:ahLst/>
                  <a:cxnLst/>
                  <a:rect l="l" t="t" r="r" b="b"/>
                  <a:pathLst>
                    <a:path w="80963" h="161925">
                      <a:moveTo>
                        <a:pt x="0" y="13494"/>
                      </a:moveTo>
                      <a:cubicBezTo>
                        <a:pt x="0" y="6041"/>
                        <a:pt x="6041" y="0"/>
                        <a:pt x="13494" y="0"/>
                      </a:cubicBezTo>
                      <a:lnTo>
                        <a:pt x="67469" y="0"/>
                      </a:lnTo>
                      <a:cubicBezTo>
                        <a:pt x="74921" y="0"/>
                        <a:pt x="80963" y="6041"/>
                        <a:pt x="80963" y="13494"/>
                      </a:cubicBezTo>
                      <a:lnTo>
                        <a:pt x="80963" y="148432"/>
                      </a:lnTo>
                      <a:cubicBezTo>
                        <a:pt x="80963" y="155884"/>
                        <a:pt x="74921" y="161925"/>
                        <a:pt x="67469" y="161925"/>
                      </a:cubicBezTo>
                      <a:lnTo>
                        <a:pt x="13494" y="161925"/>
                      </a:lnTo>
                      <a:cubicBezTo>
                        <a:pt x="6041" y="161925"/>
                        <a:pt x="0" y="155884"/>
                        <a:pt x="0" y="148432"/>
                      </a:cubicBezTo>
                      <a:lnTo>
                        <a:pt x="0" y="13494"/>
                      </a:lnTo>
                    </a:path>
                  </a:pathLst>
                </a:custGeom>
                <a:noFill/>
                <a:ln w="26988">
                  <a:solidFill>
                    <a:srgbClr val="FFFFFF"/>
                  </a:solidFill>
                </a:ln>
              </p:spPr>
            </p:sp>
            <p:sp>
              <p:nvSpPr>
                <p:cNvPr id="16" name="Freeform 16"/>
                <p:cNvSpPr/>
                <p:nvPr/>
              </p:nvSpPr>
              <p:spPr>
                <a:xfrm>
                  <a:off x="673894" y="2339975"/>
                  <a:ext cx="80963" cy="215901"/>
                </a:xfrm>
                <a:custGeom>
                  <a:avLst/>
                  <a:gdLst/>
                  <a:ahLst/>
                  <a:cxnLst/>
                  <a:rect l="l" t="t" r="r" b="b"/>
                  <a:pathLst>
                    <a:path w="80963" h="215901">
                      <a:moveTo>
                        <a:pt x="0" y="13494"/>
                      </a:moveTo>
                      <a:cubicBezTo>
                        <a:pt x="0" y="6041"/>
                        <a:pt x="6041" y="0"/>
                        <a:pt x="13494" y="0"/>
                      </a:cubicBezTo>
                      <a:lnTo>
                        <a:pt x="67469" y="0"/>
                      </a:lnTo>
                      <a:cubicBezTo>
                        <a:pt x="74921" y="0"/>
                        <a:pt x="80963" y="6041"/>
                        <a:pt x="80963" y="13494"/>
                      </a:cubicBezTo>
                      <a:lnTo>
                        <a:pt x="80963" y="202407"/>
                      </a:lnTo>
                      <a:cubicBezTo>
                        <a:pt x="80963" y="209859"/>
                        <a:pt x="74921" y="215901"/>
                        <a:pt x="67469" y="215901"/>
                      </a:cubicBezTo>
                      <a:lnTo>
                        <a:pt x="13494" y="215901"/>
                      </a:lnTo>
                      <a:cubicBezTo>
                        <a:pt x="6041" y="215901"/>
                        <a:pt x="0" y="209859"/>
                        <a:pt x="0" y="202407"/>
                      </a:cubicBezTo>
                      <a:lnTo>
                        <a:pt x="0" y="13494"/>
                      </a:lnTo>
                    </a:path>
                  </a:pathLst>
                </a:custGeom>
                <a:noFill/>
                <a:ln w="26988">
                  <a:solidFill>
                    <a:srgbClr val="FFFFFF"/>
                  </a:solidFill>
                </a:ln>
              </p:spPr>
            </p:sp>
            <p:sp>
              <p:nvSpPr>
                <p:cNvPr id="17" name="Freeform 17"/>
                <p:cNvSpPr/>
                <p:nvPr/>
              </p:nvSpPr>
              <p:spPr>
                <a:xfrm>
                  <a:off x="606425" y="2555876"/>
                  <a:ext cx="188913" cy="9525"/>
                </a:xfrm>
                <a:custGeom>
                  <a:avLst/>
                  <a:gdLst/>
                  <a:ahLst/>
                  <a:cxnLst/>
                  <a:rect l="l" t="t" r="r" b="b"/>
                  <a:pathLst>
                    <a:path w="188913" h="9525">
                      <a:moveTo>
                        <a:pt x="0" y="0"/>
                      </a:moveTo>
                      <a:lnTo>
                        <a:pt x="188913" y="0"/>
                      </a:lnTo>
                    </a:path>
                  </a:pathLst>
                </a:custGeom>
                <a:noFill/>
                <a:ln w="26988">
                  <a:solidFill>
                    <a:srgbClr val="FFFFFF"/>
                  </a:solidFill>
                </a:ln>
              </p:spPr>
            </p:sp>
          </p:grpSp>
          <p:sp>
            <p:nvSpPr>
              <p:cNvPr id="19" name="TextBox 19"/>
              <p:cNvSpPr txBox="1"/>
              <p:nvPr/>
            </p:nvSpPr>
            <p:spPr>
              <a:xfrm>
                <a:off x="1060323" y="1862614"/>
                <a:ext cx="1391463"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维度一：当前价值</a:t>
                </a:r>
              </a:p>
            </p:txBody>
          </p:sp>
          <p:sp>
            <p:nvSpPr>
              <p:cNvPr id="20" name="TextBox 20"/>
              <p:cNvSpPr txBox="1"/>
              <p:nvPr/>
            </p:nvSpPr>
            <p:spPr>
              <a:xfrm>
                <a:off x="1062038" y="2127647"/>
                <a:ext cx="977577" cy="183356"/>
              </a:xfrm>
              <a:prstGeom prst="rect">
                <a:avLst/>
              </a:prstGeom>
              <a:noFill/>
              <a:ln>
                <a:noFill/>
              </a:ln>
            </p:spPr>
            <p:txBody>
              <a:bodyPr wrap="none" lIns="0" tIns="0" rIns="0" bIns="0" anchor="t" anchorCtr="0">
                <a:spAutoFit/>
              </a:bodyPr>
              <a:lstStyle/>
              <a:p>
                <a:pPr algn="l"/>
                <a:r>
                  <a:rPr lang="zh-CN" sz="940" dirty="0">
                    <a:solidFill>
                      <a:srgbClr val="F0DBDE"/>
                    </a:solidFill>
                    <a:latin typeface="+mn-lt"/>
                    <a:ea typeface="+mn-ea"/>
                    <a:cs typeface="+mn-cs"/>
                  </a:rPr>
                  <a:t>（过去12个月）​</a:t>
                </a:r>
              </a:p>
            </p:txBody>
          </p:sp>
          <p:sp>
            <p:nvSpPr>
              <p:cNvPr id="21" name="Line 21"/>
              <p:cNvSpPr/>
              <p:nvPr/>
            </p:nvSpPr>
            <p:spPr>
              <a:xfrm>
                <a:off x="2857500" y="1752600"/>
                <a:ext cx="9525" cy="1162050"/>
              </a:xfrm>
              <a:custGeom>
                <a:avLst/>
                <a:gdLst/>
                <a:ahLst/>
                <a:cxnLst/>
                <a:rect l="l" t="t" r="r" b="b"/>
                <a:pathLst>
                  <a:path w="9525" h="1162050">
                    <a:moveTo>
                      <a:pt x="0" y="0"/>
                    </a:moveTo>
                    <a:lnTo>
                      <a:pt x="0" y="1162050"/>
                    </a:lnTo>
                  </a:path>
                </a:pathLst>
              </a:custGeom>
              <a:noFill/>
              <a:ln w="9525">
                <a:solidFill>
                  <a:srgbClr val="FFFFFF">
                    <a:alpha val="35000"/>
                  </a:srgbClr>
                </a:solidFill>
              </a:ln>
            </p:spPr>
          </p:sp>
          <p:sp>
            <p:nvSpPr>
              <p:cNvPr id="22" name="Ellipse 22"/>
              <p:cNvSpPr/>
              <p:nvPr/>
            </p:nvSpPr>
            <p:spPr>
              <a:xfrm>
                <a:off x="3081338" y="1824038"/>
                <a:ext cx="47625" cy="47625"/>
              </a:xfrm>
              <a:prstGeom prst="ellipse">
                <a:avLst/>
              </a:prstGeom>
              <a:solidFill>
                <a:srgbClr val="FFFFFF"/>
              </a:solidFill>
              <a:ln>
                <a:noFill/>
              </a:ln>
            </p:spPr>
          </p:sp>
          <p:sp>
            <p:nvSpPr>
              <p:cNvPr id="23" name="TextBox 23"/>
              <p:cNvSpPr txBox="1"/>
              <p:nvPr/>
            </p:nvSpPr>
            <p:spPr>
              <a:xfrm>
                <a:off x="3233547" y="1790224"/>
                <a:ext cx="537616"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采购金额</a:t>
                </a:r>
              </a:p>
            </p:txBody>
          </p:sp>
          <p:sp>
            <p:nvSpPr>
              <p:cNvPr id="24" name="Ellipse 24"/>
              <p:cNvSpPr/>
              <p:nvPr/>
            </p:nvSpPr>
            <p:spPr>
              <a:xfrm>
                <a:off x="3081338" y="2109788"/>
                <a:ext cx="47625" cy="47625"/>
              </a:xfrm>
              <a:prstGeom prst="ellipse">
                <a:avLst/>
              </a:prstGeom>
              <a:solidFill>
                <a:srgbClr val="FFFFFF"/>
              </a:solidFill>
              <a:ln>
                <a:noFill/>
              </a:ln>
            </p:spPr>
          </p:sp>
          <p:sp>
            <p:nvSpPr>
              <p:cNvPr id="25" name="TextBox 25"/>
              <p:cNvSpPr txBox="1"/>
              <p:nvPr/>
            </p:nvSpPr>
            <p:spPr>
              <a:xfrm>
                <a:off x="3233547" y="2075974"/>
                <a:ext cx="1065327"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采购频次与稳定性</a:t>
                </a:r>
              </a:p>
            </p:txBody>
          </p:sp>
          <p:sp>
            <p:nvSpPr>
              <p:cNvPr id="26" name="Ellipse 26"/>
              <p:cNvSpPr/>
              <p:nvPr/>
            </p:nvSpPr>
            <p:spPr>
              <a:xfrm>
                <a:off x="3081338" y="2395538"/>
                <a:ext cx="47625" cy="47625"/>
              </a:xfrm>
              <a:prstGeom prst="ellipse">
                <a:avLst/>
              </a:prstGeom>
              <a:solidFill>
                <a:srgbClr val="FFFFFF"/>
              </a:solidFill>
              <a:ln>
                <a:noFill/>
              </a:ln>
            </p:spPr>
          </p:sp>
          <p:sp>
            <p:nvSpPr>
              <p:cNvPr id="27" name="TextBox 27"/>
              <p:cNvSpPr txBox="1"/>
              <p:nvPr/>
            </p:nvSpPr>
            <p:spPr>
              <a:xfrm>
                <a:off x="3233547" y="2361724"/>
                <a:ext cx="537616" cy="190690"/>
              </a:xfrm>
              <a:prstGeom prst="rect">
                <a:avLst/>
              </a:prstGeom>
              <a:noFill/>
              <a:ln>
                <a:noFill/>
              </a:ln>
            </p:spPr>
            <p:txBody>
              <a:bodyPr wrap="none" lIns="0" tIns="0" rIns="0" bIns="0" anchor="t" anchorCtr="0">
                <a:spAutoFit/>
              </a:bodyPr>
              <a:lstStyle/>
              <a:p>
                <a:pPr algn="l"/>
                <a:r>
                  <a:rPr lang="zh-CN" sz="980" b="1" dirty="0">
                    <a:solidFill>
                      <a:srgbClr val="C97263"/>
                    </a:solidFill>
                    <a:latin typeface="+mn-lt"/>
                    <a:ea typeface="+mn-ea"/>
                    <a:cs typeface="+mn-cs"/>
                  </a:rPr>
                  <a:t>毛利贡献</a:t>
                </a:r>
              </a:p>
            </p:txBody>
          </p:sp>
          <p:sp>
            <p:nvSpPr>
              <p:cNvPr id="28" name="Ellipse 28"/>
              <p:cNvSpPr/>
              <p:nvPr/>
            </p:nvSpPr>
            <p:spPr>
              <a:xfrm>
                <a:off x="3081338" y="2681288"/>
                <a:ext cx="47625" cy="47625"/>
              </a:xfrm>
              <a:prstGeom prst="ellipse">
                <a:avLst/>
              </a:prstGeom>
              <a:solidFill>
                <a:srgbClr val="FFFFFF"/>
              </a:solidFill>
              <a:ln>
                <a:noFill/>
              </a:ln>
            </p:spPr>
          </p:sp>
          <p:sp>
            <p:nvSpPr>
              <p:cNvPr id="29" name="TextBox 29"/>
              <p:cNvSpPr txBox="1"/>
              <p:nvPr/>
            </p:nvSpPr>
            <p:spPr>
              <a:xfrm>
                <a:off x="3233547" y="2647474"/>
                <a:ext cx="1197254"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付款周期与信用质量</a:t>
                </a:r>
              </a:p>
            </p:txBody>
          </p:sp>
        </p:grpSp>
        <p:grpSp>
          <p:nvGrpSpPr>
            <p:cNvPr id="50" name="dim-2"/>
            <p:cNvGrpSpPr/>
            <p:nvPr/>
          </p:nvGrpSpPr>
          <p:grpSpPr>
            <a:xfrm>
              <a:off x="381000" y="3219450"/>
              <a:ext cx="5238750" cy="1466850"/>
              <a:chOff x="381000" y="3219450"/>
              <a:chExt cx="5238750" cy="1466850"/>
            </a:xfrm>
          </p:grpSpPr>
          <p:sp>
            <p:nvSpPr>
              <p:cNvPr id="31" name="Rectangle 31"/>
              <p:cNvSpPr/>
              <p:nvPr/>
            </p:nvSpPr>
            <p:spPr>
              <a:xfrm>
                <a:off x="381000" y="3219450"/>
                <a:ext cx="5238750" cy="1466850"/>
              </a:xfrm>
              <a:prstGeom prst="roundRect">
                <a:avLst>
                  <a:gd name="adj" fmla="val 3896"/>
                </a:avLst>
              </a:prstGeom>
              <a:solidFill>
                <a:srgbClr val="6B6B6B"/>
              </a:solidFill>
              <a:ln>
                <a:noFill/>
              </a:ln>
            </p:spPr>
          </p:sp>
          <p:sp>
            <p:nvSpPr>
              <p:cNvPr id="32" name="Ellipse 32"/>
              <p:cNvSpPr/>
              <p:nvPr/>
            </p:nvSpPr>
            <p:spPr>
              <a:xfrm>
                <a:off x="581025" y="3419475"/>
                <a:ext cx="285750" cy="285750"/>
              </a:xfrm>
              <a:prstGeom prst="ellipse">
                <a:avLst/>
              </a:prstGeom>
              <a:noFill/>
              <a:ln w="19050">
                <a:solidFill>
                  <a:srgbClr val="FFFFFF"/>
                </a:solidFill>
              </a:ln>
            </p:spPr>
          </p:sp>
          <p:sp>
            <p:nvSpPr>
              <p:cNvPr id="33" name="TextBox 33"/>
              <p:cNvSpPr txBox="1"/>
              <p:nvPr/>
            </p:nvSpPr>
            <p:spPr>
              <a:xfrm>
                <a:off x="671158" y="348996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grpSp>
            <p:nvGrpSpPr>
              <p:cNvPr id="38" name="Group 38"/>
              <p:cNvGrpSpPr/>
              <p:nvPr/>
            </p:nvGrpSpPr>
            <p:grpSpPr>
              <a:xfrm>
                <a:off x="592931" y="3945731"/>
                <a:ext cx="242888" cy="242889"/>
                <a:chOff x="592931" y="3945731"/>
                <a:chExt cx="242888" cy="242889"/>
              </a:xfrm>
            </p:grpSpPr>
            <p:sp>
              <p:nvSpPr>
                <p:cNvPr id="34" name="Freeform 34"/>
                <p:cNvSpPr/>
                <p:nvPr/>
              </p:nvSpPr>
              <p:spPr>
                <a:xfrm>
                  <a:off x="646906" y="4107657"/>
                  <a:ext cx="134938" cy="80963"/>
                </a:xfrm>
                <a:custGeom>
                  <a:avLst/>
                  <a:gdLst/>
                  <a:ahLst/>
                  <a:cxnLst/>
                  <a:rect l="l" t="t" r="r" b="b"/>
                  <a:pathLst>
                    <a:path w="134938" h="80963">
                      <a:moveTo>
                        <a:pt x="0" y="0"/>
                      </a:moveTo>
                      <a:lnTo>
                        <a:pt x="134938" y="0"/>
                      </a:lnTo>
                      <a:lnTo>
                        <a:pt x="134938" y="53975"/>
                      </a:lnTo>
                      <a:cubicBezTo>
                        <a:pt x="134938" y="68880"/>
                        <a:pt x="122855" y="80963"/>
                        <a:pt x="107950" y="80963"/>
                      </a:cubicBezTo>
                      <a:lnTo>
                        <a:pt x="26988" y="80963"/>
                      </a:lnTo>
                      <a:cubicBezTo>
                        <a:pt x="12083" y="80963"/>
                        <a:pt x="0" y="68880"/>
                        <a:pt x="0" y="53975"/>
                      </a:cubicBezTo>
                      <a:lnTo>
                        <a:pt x="0" y="0"/>
                      </a:lnTo>
                    </a:path>
                  </a:pathLst>
                </a:custGeom>
                <a:noFill/>
                <a:ln w="26988">
                  <a:solidFill>
                    <a:srgbClr val="FFFFFF"/>
                  </a:solidFill>
                </a:ln>
              </p:spPr>
            </p:sp>
            <p:sp>
              <p:nvSpPr>
                <p:cNvPr id="35" name="Freeform 35"/>
                <p:cNvSpPr/>
                <p:nvPr/>
              </p:nvSpPr>
              <p:spPr>
                <a:xfrm>
                  <a:off x="592931" y="3945731"/>
                  <a:ext cx="121444" cy="107950"/>
                </a:xfrm>
                <a:custGeom>
                  <a:avLst/>
                  <a:gdLst/>
                  <a:ahLst/>
                  <a:cxnLst/>
                  <a:rect l="l" t="t" r="r" b="b"/>
                  <a:pathLst>
                    <a:path w="121444" h="107950">
                      <a:moveTo>
                        <a:pt x="121444" y="80963"/>
                      </a:moveTo>
                      <a:cubicBezTo>
                        <a:pt x="121444" y="36248"/>
                        <a:pt x="85196" y="0"/>
                        <a:pt x="40481" y="0"/>
                      </a:cubicBezTo>
                      <a:lnTo>
                        <a:pt x="0" y="0"/>
                      </a:lnTo>
                      <a:lnTo>
                        <a:pt x="0" y="26988"/>
                      </a:lnTo>
                      <a:cubicBezTo>
                        <a:pt x="0" y="71702"/>
                        <a:pt x="36248" y="107950"/>
                        <a:pt x="80963" y="107950"/>
                      </a:cubicBezTo>
                      <a:lnTo>
                        <a:pt x="121444" y="107950"/>
                      </a:lnTo>
                    </a:path>
                  </a:pathLst>
                </a:custGeom>
                <a:noFill/>
                <a:ln w="26988">
                  <a:solidFill>
                    <a:srgbClr val="FFFFFF"/>
                  </a:solidFill>
                </a:ln>
              </p:spPr>
            </p:sp>
            <p:sp>
              <p:nvSpPr>
                <p:cNvPr id="36" name="Freeform 36"/>
                <p:cNvSpPr/>
                <p:nvPr/>
              </p:nvSpPr>
              <p:spPr>
                <a:xfrm>
                  <a:off x="714375" y="3972719"/>
                  <a:ext cx="121444" cy="94456"/>
                </a:xfrm>
                <a:custGeom>
                  <a:avLst/>
                  <a:gdLst/>
                  <a:ahLst/>
                  <a:cxnLst/>
                  <a:rect l="l" t="t" r="r" b="b"/>
                  <a:pathLst>
                    <a:path w="121444" h="94456">
                      <a:moveTo>
                        <a:pt x="0" y="80963"/>
                      </a:moveTo>
                      <a:cubicBezTo>
                        <a:pt x="0" y="36248"/>
                        <a:pt x="36248" y="0"/>
                        <a:pt x="80963" y="0"/>
                      </a:cubicBezTo>
                      <a:lnTo>
                        <a:pt x="121444" y="0"/>
                      </a:lnTo>
                      <a:lnTo>
                        <a:pt x="121444" y="13494"/>
                      </a:lnTo>
                      <a:cubicBezTo>
                        <a:pt x="121444" y="58208"/>
                        <a:pt x="85196" y="94456"/>
                        <a:pt x="40481" y="94456"/>
                      </a:cubicBezTo>
                      <a:lnTo>
                        <a:pt x="0" y="94456"/>
                      </a:lnTo>
                    </a:path>
                  </a:pathLst>
                </a:custGeom>
                <a:noFill/>
                <a:ln w="26988">
                  <a:solidFill>
                    <a:srgbClr val="FFFFFF"/>
                  </a:solidFill>
                </a:ln>
              </p:spPr>
            </p:sp>
            <p:sp>
              <p:nvSpPr>
                <p:cNvPr id="37" name="Freeform 37"/>
                <p:cNvSpPr/>
                <p:nvPr/>
              </p:nvSpPr>
              <p:spPr>
                <a:xfrm>
                  <a:off x="714375" y="4026694"/>
                  <a:ext cx="9525" cy="80963"/>
                </a:xfrm>
                <a:custGeom>
                  <a:avLst/>
                  <a:gdLst/>
                  <a:ahLst/>
                  <a:cxnLst/>
                  <a:rect l="l" t="t" r="r" b="b"/>
                  <a:pathLst>
                    <a:path w="9525" h="80963">
                      <a:moveTo>
                        <a:pt x="0" y="80963"/>
                      </a:moveTo>
                      <a:lnTo>
                        <a:pt x="0" y="0"/>
                      </a:lnTo>
                    </a:path>
                  </a:pathLst>
                </a:custGeom>
                <a:noFill/>
                <a:ln w="26988">
                  <a:solidFill>
                    <a:srgbClr val="FFFFFF"/>
                  </a:solidFill>
                </a:ln>
              </p:spPr>
            </p:sp>
          </p:grpSp>
          <p:sp>
            <p:nvSpPr>
              <p:cNvPr id="39" name="TextBox 39"/>
              <p:cNvSpPr txBox="1"/>
              <p:nvPr/>
            </p:nvSpPr>
            <p:spPr>
              <a:xfrm>
                <a:off x="1060323" y="3481864"/>
                <a:ext cx="1391463"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维度二：未来潜力</a:t>
                </a:r>
              </a:p>
            </p:txBody>
          </p:sp>
          <p:sp>
            <p:nvSpPr>
              <p:cNvPr id="40" name="TextBox 40"/>
              <p:cNvSpPr txBox="1"/>
              <p:nvPr/>
            </p:nvSpPr>
            <p:spPr>
              <a:xfrm>
                <a:off x="1062038" y="3746897"/>
                <a:ext cx="781436" cy="183356"/>
              </a:xfrm>
              <a:prstGeom prst="rect">
                <a:avLst/>
              </a:prstGeom>
              <a:noFill/>
              <a:ln>
                <a:noFill/>
              </a:ln>
            </p:spPr>
            <p:txBody>
              <a:bodyPr wrap="none" lIns="0" tIns="0" rIns="0" bIns="0" anchor="t" anchorCtr="0">
                <a:spAutoFit/>
              </a:bodyPr>
              <a:lstStyle/>
              <a:p>
                <a:pPr algn="l"/>
                <a:r>
                  <a:rPr lang="zh-CN" sz="940" dirty="0">
                    <a:solidFill>
                      <a:srgbClr val="E8E8E8"/>
                    </a:solidFill>
                    <a:latin typeface="+mn-lt"/>
                    <a:ea typeface="+mn-ea"/>
                    <a:cs typeface="+mn-cs"/>
                  </a:rPr>
                  <a:t>（未来3年）​</a:t>
                </a:r>
              </a:p>
            </p:txBody>
          </p:sp>
          <p:sp>
            <p:nvSpPr>
              <p:cNvPr id="41" name="Line 41"/>
              <p:cNvSpPr/>
              <p:nvPr/>
            </p:nvSpPr>
            <p:spPr>
              <a:xfrm>
                <a:off x="2857500" y="3371850"/>
                <a:ext cx="9525" cy="1162050"/>
              </a:xfrm>
              <a:custGeom>
                <a:avLst/>
                <a:gdLst/>
                <a:ahLst/>
                <a:cxnLst/>
                <a:rect l="l" t="t" r="r" b="b"/>
                <a:pathLst>
                  <a:path w="9525" h="1162050">
                    <a:moveTo>
                      <a:pt x="0" y="0"/>
                    </a:moveTo>
                    <a:lnTo>
                      <a:pt x="0" y="1162050"/>
                    </a:lnTo>
                  </a:path>
                </a:pathLst>
              </a:custGeom>
              <a:noFill/>
              <a:ln w="9525">
                <a:solidFill>
                  <a:srgbClr val="FFFFFF">
                    <a:alpha val="35000"/>
                  </a:srgbClr>
                </a:solidFill>
              </a:ln>
            </p:spPr>
          </p:sp>
          <p:sp>
            <p:nvSpPr>
              <p:cNvPr id="42" name="Ellipse 42"/>
              <p:cNvSpPr/>
              <p:nvPr/>
            </p:nvSpPr>
            <p:spPr>
              <a:xfrm>
                <a:off x="3081338" y="3443288"/>
                <a:ext cx="47625" cy="47625"/>
              </a:xfrm>
              <a:prstGeom prst="ellipse">
                <a:avLst/>
              </a:prstGeom>
              <a:solidFill>
                <a:srgbClr val="FFFFFF"/>
              </a:solidFill>
              <a:ln>
                <a:noFill/>
              </a:ln>
            </p:spPr>
          </p:sp>
          <p:sp>
            <p:nvSpPr>
              <p:cNvPr id="43" name="TextBox 43"/>
              <p:cNvSpPr txBox="1"/>
              <p:nvPr/>
            </p:nvSpPr>
            <p:spPr>
              <a:xfrm>
                <a:off x="3233547" y="3409474"/>
                <a:ext cx="801472"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行业增长趋势</a:t>
                </a:r>
              </a:p>
            </p:txBody>
          </p:sp>
          <p:sp>
            <p:nvSpPr>
              <p:cNvPr id="44" name="Ellipse 44"/>
              <p:cNvSpPr/>
              <p:nvPr/>
            </p:nvSpPr>
            <p:spPr>
              <a:xfrm>
                <a:off x="3081338" y="3729038"/>
                <a:ext cx="47625" cy="47625"/>
              </a:xfrm>
              <a:prstGeom prst="ellipse">
                <a:avLst/>
              </a:prstGeom>
              <a:solidFill>
                <a:srgbClr val="FFFFFF"/>
              </a:solidFill>
              <a:ln>
                <a:noFill/>
              </a:ln>
            </p:spPr>
          </p:sp>
          <p:sp>
            <p:nvSpPr>
              <p:cNvPr id="45" name="TextBox 45"/>
              <p:cNvSpPr txBox="1"/>
              <p:nvPr/>
            </p:nvSpPr>
            <p:spPr>
              <a:xfrm>
                <a:off x="3233547" y="3695224"/>
                <a:ext cx="801472"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客户扩张计划</a:t>
                </a:r>
              </a:p>
            </p:txBody>
          </p:sp>
          <p:sp>
            <p:nvSpPr>
              <p:cNvPr id="46" name="Ellipse 46"/>
              <p:cNvSpPr/>
              <p:nvPr/>
            </p:nvSpPr>
            <p:spPr>
              <a:xfrm>
                <a:off x="3081338" y="4014788"/>
                <a:ext cx="47625" cy="47625"/>
              </a:xfrm>
              <a:prstGeom prst="ellipse">
                <a:avLst/>
              </a:prstGeom>
              <a:solidFill>
                <a:srgbClr val="FFFFFF"/>
              </a:solidFill>
              <a:ln>
                <a:noFill/>
              </a:ln>
            </p:spPr>
          </p:sp>
          <p:sp>
            <p:nvSpPr>
              <p:cNvPr id="47" name="TextBox 47"/>
              <p:cNvSpPr txBox="1"/>
              <p:nvPr/>
            </p:nvSpPr>
            <p:spPr>
              <a:xfrm>
                <a:off x="3233547" y="3980974"/>
                <a:ext cx="669544"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份额渗透率</a:t>
                </a:r>
              </a:p>
            </p:txBody>
          </p:sp>
          <p:sp>
            <p:nvSpPr>
              <p:cNvPr id="48" name="Ellipse 48"/>
              <p:cNvSpPr/>
              <p:nvPr/>
            </p:nvSpPr>
            <p:spPr>
              <a:xfrm>
                <a:off x="3081338" y="4300538"/>
                <a:ext cx="47625" cy="47625"/>
              </a:xfrm>
              <a:prstGeom prst="ellipse">
                <a:avLst/>
              </a:prstGeom>
              <a:solidFill>
                <a:srgbClr val="FFFFFF"/>
              </a:solidFill>
              <a:ln>
                <a:noFill/>
              </a:ln>
            </p:spPr>
          </p:sp>
          <p:sp>
            <p:nvSpPr>
              <p:cNvPr id="49" name="TextBox 49"/>
              <p:cNvSpPr txBox="1"/>
              <p:nvPr/>
            </p:nvSpPr>
            <p:spPr>
              <a:xfrm>
                <a:off x="3233547" y="4266724"/>
                <a:ext cx="669544"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战略认可度</a:t>
                </a:r>
              </a:p>
            </p:txBody>
          </p:sp>
        </p:grpSp>
        <p:grpSp>
          <p:nvGrpSpPr>
            <p:cNvPr id="65" name="dim-3"/>
            <p:cNvGrpSpPr/>
            <p:nvPr/>
          </p:nvGrpSpPr>
          <p:grpSpPr>
            <a:xfrm>
              <a:off x="381000" y="4838700"/>
              <a:ext cx="5238750" cy="1466850"/>
              <a:chOff x="381000" y="4838700"/>
              <a:chExt cx="5238750" cy="1466850"/>
            </a:xfrm>
          </p:grpSpPr>
          <p:sp>
            <p:nvSpPr>
              <p:cNvPr id="51" name="Rectangle 51"/>
              <p:cNvSpPr/>
              <p:nvPr/>
            </p:nvSpPr>
            <p:spPr>
              <a:xfrm>
                <a:off x="381000" y="4838700"/>
                <a:ext cx="5238750" cy="1466850"/>
              </a:xfrm>
              <a:prstGeom prst="roundRect">
                <a:avLst>
                  <a:gd name="adj" fmla="val 3896"/>
                </a:avLst>
              </a:prstGeom>
              <a:solidFill>
                <a:srgbClr val="8B321E"/>
              </a:solidFill>
              <a:ln>
                <a:noFill/>
              </a:ln>
            </p:spPr>
          </p:sp>
          <p:sp>
            <p:nvSpPr>
              <p:cNvPr id="52" name="Ellipse 52"/>
              <p:cNvSpPr/>
              <p:nvPr/>
            </p:nvSpPr>
            <p:spPr>
              <a:xfrm>
                <a:off x="581025" y="5038725"/>
                <a:ext cx="285750" cy="285750"/>
              </a:xfrm>
              <a:prstGeom prst="ellipse">
                <a:avLst/>
              </a:prstGeom>
              <a:noFill/>
              <a:ln w="19050">
                <a:solidFill>
                  <a:srgbClr val="FFFFFF"/>
                </a:solidFill>
              </a:ln>
            </p:spPr>
          </p:sp>
          <p:sp>
            <p:nvSpPr>
              <p:cNvPr id="53" name="TextBox 53"/>
              <p:cNvSpPr txBox="1"/>
              <p:nvPr/>
            </p:nvSpPr>
            <p:spPr>
              <a:xfrm>
                <a:off x="671158" y="51092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54" name="Freeform 54"/>
              <p:cNvSpPr/>
              <p:nvPr/>
            </p:nvSpPr>
            <p:spPr>
              <a:xfrm>
                <a:off x="592931" y="5564981"/>
                <a:ext cx="242888" cy="242888"/>
              </a:xfrm>
              <a:custGeom>
                <a:avLst/>
                <a:gdLst/>
                <a:ahLst/>
                <a:cxnLst/>
                <a:rect l="l" t="t" r="r" b="b"/>
                <a:pathLst>
                  <a:path w="242888" h="242888">
                    <a:moveTo>
                      <a:pt x="13494" y="53975"/>
                    </a:moveTo>
                    <a:lnTo>
                      <a:pt x="53975" y="53975"/>
                    </a:lnTo>
                    <a:cubicBezTo>
                      <a:pt x="61428" y="53975"/>
                      <a:pt x="67469" y="47934"/>
                      <a:pt x="67469" y="40481"/>
                    </a:cubicBezTo>
                    <a:lnTo>
                      <a:pt x="67469" y="26988"/>
                    </a:lnTo>
                    <a:cubicBezTo>
                      <a:pt x="67469" y="12083"/>
                      <a:pt x="79552" y="0"/>
                      <a:pt x="94456" y="0"/>
                    </a:cubicBezTo>
                    <a:cubicBezTo>
                      <a:pt x="109361" y="0"/>
                      <a:pt x="121444" y="12083"/>
                      <a:pt x="121444" y="26988"/>
                    </a:cubicBezTo>
                    <a:lnTo>
                      <a:pt x="121444" y="40481"/>
                    </a:lnTo>
                    <a:cubicBezTo>
                      <a:pt x="121444" y="47934"/>
                      <a:pt x="127485" y="53975"/>
                      <a:pt x="134938" y="53975"/>
                    </a:cubicBezTo>
                    <a:lnTo>
                      <a:pt x="175419" y="53975"/>
                    </a:lnTo>
                    <a:cubicBezTo>
                      <a:pt x="182872" y="53975"/>
                      <a:pt x="188913" y="60016"/>
                      <a:pt x="188913" y="67469"/>
                    </a:cubicBezTo>
                    <a:lnTo>
                      <a:pt x="188913" y="107950"/>
                    </a:lnTo>
                    <a:cubicBezTo>
                      <a:pt x="188913" y="115403"/>
                      <a:pt x="194954" y="121444"/>
                      <a:pt x="202407" y="121444"/>
                    </a:cubicBezTo>
                    <a:lnTo>
                      <a:pt x="215901" y="121444"/>
                    </a:lnTo>
                    <a:cubicBezTo>
                      <a:pt x="230805" y="121444"/>
                      <a:pt x="242888" y="133527"/>
                      <a:pt x="242888" y="148432"/>
                    </a:cubicBezTo>
                    <a:cubicBezTo>
                      <a:pt x="242888" y="163336"/>
                      <a:pt x="230805" y="175419"/>
                      <a:pt x="215901" y="175419"/>
                    </a:cubicBezTo>
                    <a:lnTo>
                      <a:pt x="202407" y="175419"/>
                    </a:lnTo>
                    <a:cubicBezTo>
                      <a:pt x="194954" y="175419"/>
                      <a:pt x="188913" y="181461"/>
                      <a:pt x="188913" y="188913"/>
                    </a:cubicBezTo>
                    <a:lnTo>
                      <a:pt x="188913" y="229394"/>
                    </a:lnTo>
                    <a:cubicBezTo>
                      <a:pt x="188913" y="236847"/>
                      <a:pt x="182872" y="242888"/>
                      <a:pt x="175419" y="242888"/>
                    </a:cubicBezTo>
                    <a:lnTo>
                      <a:pt x="134938" y="242888"/>
                    </a:lnTo>
                    <a:cubicBezTo>
                      <a:pt x="127485" y="242888"/>
                      <a:pt x="121444" y="236847"/>
                      <a:pt x="121444" y="229394"/>
                    </a:cubicBezTo>
                    <a:lnTo>
                      <a:pt x="121444" y="215901"/>
                    </a:lnTo>
                    <a:cubicBezTo>
                      <a:pt x="121444" y="200996"/>
                      <a:pt x="109361" y="188913"/>
                      <a:pt x="94456" y="188913"/>
                    </a:cubicBezTo>
                    <a:cubicBezTo>
                      <a:pt x="79552" y="188913"/>
                      <a:pt x="67469" y="200996"/>
                      <a:pt x="67469" y="215901"/>
                    </a:cubicBezTo>
                    <a:lnTo>
                      <a:pt x="67469" y="229394"/>
                    </a:lnTo>
                    <a:cubicBezTo>
                      <a:pt x="67469" y="236847"/>
                      <a:pt x="61428" y="242888"/>
                      <a:pt x="53975" y="242888"/>
                    </a:cubicBezTo>
                    <a:lnTo>
                      <a:pt x="13494" y="242888"/>
                    </a:lnTo>
                    <a:cubicBezTo>
                      <a:pt x="6041" y="242888"/>
                      <a:pt x="0" y="236847"/>
                      <a:pt x="0" y="229394"/>
                    </a:cubicBezTo>
                    <a:lnTo>
                      <a:pt x="0" y="188913"/>
                    </a:lnTo>
                    <a:cubicBezTo>
                      <a:pt x="0" y="181461"/>
                      <a:pt x="6041" y="175419"/>
                      <a:pt x="13494" y="175419"/>
                    </a:cubicBezTo>
                    <a:lnTo>
                      <a:pt x="26988" y="175419"/>
                    </a:lnTo>
                    <a:cubicBezTo>
                      <a:pt x="41892" y="175419"/>
                      <a:pt x="53975" y="163336"/>
                      <a:pt x="53975" y="148432"/>
                    </a:cubicBezTo>
                    <a:cubicBezTo>
                      <a:pt x="53975" y="133527"/>
                      <a:pt x="41892" y="121444"/>
                      <a:pt x="26988" y="121444"/>
                    </a:cubicBezTo>
                    <a:lnTo>
                      <a:pt x="13494" y="121444"/>
                    </a:lnTo>
                    <a:cubicBezTo>
                      <a:pt x="6041" y="121444"/>
                      <a:pt x="0" y="115403"/>
                      <a:pt x="0" y="107950"/>
                    </a:cubicBezTo>
                    <a:lnTo>
                      <a:pt x="0" y="67469"/>
                    </a:lnTo>
                    <a:cubicBezTo>
                      <a:pt x="0" y="60016"/>
                      <a:pt x="6041" y="53975"/>
                      <a:pt x="13494" y="53975"/>
                    </a:cubicBezTo>
                  </a:path>
                </a:pathLst>
              </a:custGeom>
              <a:noFill/>
              <a:ln w="26988">
                <a:solidFill>
                  <a:srgbClr val="FFFFFF"/>
                </a:solidFill>
              </a:ln>
            </p:spPr>
          </p:sp>
          <p:sp>
            <p:nvSpPr>
              <p:cNvPr id="55" name="TextBox 55"/>
              <p:cNvSpPr txBox="1"/>
              <p:nvPr/>
            </p:nvSpPr>
            <p:spPr>
              <a:xfrm>
                <a:off x="1060323" y="5101114"/>
                <a:ext cx="156377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维度三：战略匹配度</a:t>
                </a:r>
              </a:p>
            </p:txBody>
          </p:sp>
          <p:sp>
            <p:nvSpPr>
              <p:cNvPr id="56" name="Line 56"/>
              <p:cNvSpPr/>
              <p:nvPr/>
            </p:nvSpPr>
            <p:spPr>
              <a:xfrm>
                <a:off x="2857500" y="4991100"/>
                <a:ext cx="9525" cy="1162050"/>
              </a:xfrm>
              <a:custGeom>
                <a:avLst/>
                <a:gdLst/>
                <a:ahLst/>
                <a:cxnLst/>
                <a:rect l="l" t="t" r="r" b="b"/>
                <a:pathLst>
                  <a:path w="9525" h="1162050">
                    <a:moveTo>
                      <a:pt x="0" y="0"/>
                    </a:moveTo>
                    <a:lnTo>
                      <a:pt x="0" y="1162050"/>
                    </a:lnTo>
                  </a:path>
                </a:pathLst>
              </a:custGeom>
              <a:noFill/>
              <a:ln w="9525">
                <a:solidFill>
                  <a:srgbClr val="FFFFFF">
                    <a:alpha val="35000"/>
                  </a:srgbClr>
                </a:solidFill>
              </a:ln>
            </p:spPr>
          </p:sp>
          <p:sp>
            <p:nvSpPr>
              <p:cNvPr id="57" name="Ellipse 57"/>
              <p:cNvSpPr/>
              <p:nvPr/>
            </p:nvSpPr>
            <p:spPr>
              <a:xfrm>
                <a:off x="3081338" y="5062538"/>
                <a:ext cx="47625" cy="47625"/>
              </a:xfrm>
              <a:prstGeom prst="ellipse">
                <a:avLst/>
              </a:prstGeom>
              <a:solidFill>
                <a:srgbClr val="FFFFFF"/>
              </a:solidFill>
              <a:ln>
                <a:noFill/>
              </a:ln>
            </p:spPr>
          </p:sp>
          <p:sp>
            <p:nvSpPr>
              <p:cNvPr id="58" name="TextBox 58"/>
              <p:cNvSpPr txBox="1"/>
              <p:nvPr/>
            </p:nvSpPr>
            <p:spPr>
              <a:xfrm>
                <a:off x="3233547" y="5028724"/>
                <a:ext cx="537616"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品牌背书</a:t>
                </a:r>
              </a:p>
            </p:txBody>
          </p:sp>
          <p:sp>
            <p:nvSpPr>
              <p:cNvPr id="59" name="Ellipse 59"/>
              <p:cNvSpPr/>
              <p:nvPr/>
            </p:nvSpPr>
            <p:spPr>
              <a:xfrm>
                <a:off x="3081338" y="5348288"/>
                <a:ext cx="47625" cy="47625"/>
              </a:xfrm>
              <a:prstGeom prst="ellipse">
                <a:avLst/>
              </a:prstGeom>
              <a:solidFill>
                <a:srgbClr val="FFFFFF"/>
              </a:solidFill>
              <a:ln>
                <a:noFill/>
              </a:ln>
            </p:spPr>
          </p:sp>
          <p:sp>
            <p:nvSpPr>
              <p:cNvPr id="60" name="TextBox 60"/>
              <p:cNvSpPr txBox="1"/>
              <p:nvPr/>
            </p:nvSpPr>
            <p:spPr>
              <a:xfrm>
                <a:off x="3233547" y="5314474"/>
                <a:ext cx="801472"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行业标杆效应</a:t>
                </a:r>
              </a:p>
            </p:txBody>
          </p:sp>
          <p:sp>
            <p:nvSpPr>
              <p:cNvPr id="61" name="Ellipse 61"/>
              <p:cNvSpPr/>
              <p:nvPr/>
            </p:nvSpPr>
            <p:spPr>
              <a:xfrm>
                <a:off x="3081338" y="5634038"/>
                <a:ext cx="47625" cy="47625"/>
              </a:xfrm>
              <a:prstGeom prst="ellipse">
                <a:avLst/>
              </a:prstGeom>
              <a:solidFill>
                <a:srgbClr val="FFFFFF"/>
              </a:solidFill>
              <a:ln>
                <a:noFill/>
              </a:ln>
            </p:spPr>
          </p:sp>
          <p:sp>
            <p:nvSpPr>
              <p:cNvPr id="62" name="TextBox 62"/>
              <p:cNvSpPr txBox="1"/>
              <p:nvPr/>
            </p:nvSpPr>
            <p:spPr>
              <a:xfrm>
                <a:off x="3233547" y="5600224"/>
                <a:ext cx="801472"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共同开发机会</a:t>
                </a:r>
              </a:p>
            </p:txBody>
          </p:sp>
          <p:sp>
            <p:nvSpPr>
              <p:cNvPr id="63" name="Ellipse 63"/>
              <p:cNvSpPr/>
              <p:nvPr/>
            </p:nvSpPr>
            <p:spPr>
              <a:xfrm>
                <a:off x="3081338" y="5919788"/>
                <a:ext cx="47625" cy="47625"/>
              </a:xfrm>
              <a:prstGeom prst="ellipse">
                <a:avLst/>
              </a:prstGeom>
              <a:solidFill>
                <a:srgbClr val="FFFFFF"/>
              </a:solidFill>
              <a:ln>
                <a:noFill/>
              </a:ln>
            </p:spPr>
          </p:sp>
          <p:sp>
            <p:nvSpPr>
              <p:cNvPr id="64" name="TextBox 64"/>
              <p:cNvSpPr txBox="1"/>
              <p:nvPr/>
            </p:nvSpPr>
            <p:spPr>
              <a:xfrm>
                <a:off x="3233547" y="5885974"/>
                <a:ext cx="801472" cy="190690"/>
              </a:xfrm>
              <a:prstGeom prst="rect">
                <a:avLst/>
              </a:prstGeom>
              <a:noFill/>
              <a:ln>
                <a:noFill/>
              </a:ln>
            </p:spPr>
            <p:txBody>
              <a:bodyPr wrap="none" lIns="0" tIns="0" rIns="0" bIns="0" anchor="t" anchorCtr="0">
                <a:spAutoFit/>
              </a:bodyPr>
              <a:lstStyle/>
              <a:p>
                <a:pPr algn="l"/>
                <a:r>
                  <a:rPr lang="zh-CN" sz="980" dirty="0">
                    <a:solidFill>
                      <a:srgbClr val="FFFFFF"/>
                    </a:solidFill>
                    <a:latin typeface="+mn-lt"/>
                    <a:ea typeface="+mn-ea"/>
                    <a:cs typeface="+mn-cs"/>
                  </a:rPr>
                  <a:t>重点布局区域</a:t>
                </a:r>
              </a:p>
            </p:txBody>
          </p:sp>
        </p:grpSp>
      </p:grpSp>
      <p:grpSp>
        <p:nvGrpSpPr>
          <p:cNvPr id="95" name="value-matrix"/>
          <p:cNvGrpSpPr/>
          <p:nvPr/>
        </p:nvGrpSpPr>
        <p:grpSpPr>
          <a:xfrm>
            <a:off x="6065330" y="1535906"/>
            <a:ext cx="5631370" cy="4296728"/>
            <a:chOff x="6065330" y="1535906"/>
            <a:chExt cx="5631370" cy="4296728"/>
          </a:xfrm>
        </p:grpSpPr>
        <p:sp>
          <p:nvSpPr>
            <p:cNvPr id="67" name="TextBox 67"/>
            <p:cNvSpPr txBox="1"/>
            <p:nvPr/>
          </p:nvSpPr>
          <p:spPr>
            <a:xfrm>
              <a:off x="6131636" y="1535906"/>
              <a:ext cx="614528"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未来潜力</a:t>
              </a:r>
            </a:p>
          </p:txBody>
        </p:sp>
        <p:sp>
          <p:nvSpPr>
            <p:cNvPr id="68" name="TextBox 68"/>
            <p:cNvSpPr txBox="1"/>
            <p:nvPr/>
          </p:nvSpPr>
          <p:spPr>
            <a:xfrm>
              <a:off x="6065330" y="1922145"/>
              <a:ext cx="130683" cy="176212"/>
            </a:xfrm>
            <a:prstGeom prst="rect">
              <a:avLst/>
            </a:prstGeom>
            <a:noFill/>
            <a:ln>
              <a:noFill/>
            </a:ln>
          </p:spPr>
          <p:txBody>
            <a:bodyPr wrap="none" lIns="0" tIns="0" rIns="0" bIns="0" anchor="t" anchorCtr="0">
              <a:spAutoFit/>
            </a:bodyPr>
            <a:lstStyle/>
            <a:p>
              <a:pPr algn="r"/>
              <a:r>
                <a:rPr lang="zh-CN" sz="900" dirty="0">
                  <a:solidFill>
                    <a:srgbClr val="6A6A6A"/>
                  </a:solidFill>
                  <a:latin typeface="+mn-lt"/>
                  <a:ea typeface="+mn-ea"/>
                  <a:cs typeface="+mn-cs"/>
                </a:rPr>
                <a:t>高</a:t>
              </a:r>
            </a:p>
          </p:txBody>
        </p:sp>
        <p:sp>
          <p:nvSpPr>
            <p:cNvPr id="69" name="TextBox 69"/>
            <p:cNvSpPr txBox="1"/>
            <p:nvPr/>
          </p:nvSpPr>
          <p:spPr>
            <a:xfrm>
              <a:off x="6065330" y="5313045"/>
              <a:ext cx="130683" cy="176212"/>
            </a:xfrm>
            <a:prstGeom prst="rect">
              <a:avLst/>
            </a:prstGeom>
            <a:noFill/>
            <a:ln>
              <a:noFill/>
            </a:ln>
          </p:spPr>
          <p:txBody>
            <a:bodyPr wrap="none" lIns="0" tIns="0" rIns="0" bIns="0" anchor="t" anchorCtr="0">
              <a:spAutoFit/>
            </a:bodyPr>
            <a:lstStyle/>
            <a:p>
              <a:pPr algn="r"/>
              <a:r>
                <a:rPr lang="zh-CN" sz="900" dirty="0">
                  <a:solidFill>
                    <a:srgbClr val="6A6A6A"/>
                  </a:solidFill>
                  <a:latin typeface="+mn-lt"/>
                  <a:ea typeface="+mn-ea"/>
                  <a:cs typeface="+mn-cs"/>
                </a:rPr>
                <a:t>低</a:t>
              </a:r>
            </a:p>
          </p:txBody>
        </p:sp>
        <p:sp>
          <p:nvSpPr>
            <p:cNvPr id="70" name="Line 70"/>
            <p:cNvSpPr/>
            <p:nvPr/>
          </p:nvSpPr>
          <p:spPr>
            <a:xfrm flipV="1">
              <a:off x="6438900" y="1828800"/>
              <a:ext cx="1" cy="3619500"/>
            </a:xfrm>
            <a:prstGeom prst="line">
              <a:avLst/>
            </a:prstGeom>
            <a:noFill/>
            <a:ln w="14288">
              <a:solidFill>
                <a:srgbClr val="3A3A3A"/>
              </a:solidFill>
              <a:tailEnd type="triangle" w="lg" len="lg"/>
            </a:ln>
          </p:spPr>
        </p:sp>
        <p:sp>
          <p:nvSpPr>
            <p:cNvPr id="71" name="Line 71"/>
            <p:cNvSpPr/>
            <p:nvPr/>
          </p:nvSpPr>
          <p:spPr>
            <a:xfrm>
              <a:off x="6438900" y="5505450"/>
              <a:ext cx="5257800" cy="1"/>
            </a:xfrm>
            <a:prstGeom prst="line">
              <a:avLst/>
            </a:prstGeom>
            <a:noFill/>
            <a:ln w="14288">
              <a:solidFill>
                <a:srgbClr val="3A3A3A"/>
              </a:solidFill>
              <a:tailEnd type="triangle" w="lg" len="lg"/>
            </a:ln>
          </p:spPr>
        </p:sp>
        <p:sp>
          <p:nvSpPr>
            <p:cNvPr id="72" name="TextBox 72"/>
            <p:cNvSpPr txBox="1"/>
            <p:nvPr/>
          </p:nvSpPr>
          <p:spPr>
            <a:xfrm>
              <a:off x="6548438" y="5636895"/>
              <a:ext cx="130683" cy="176212"/>
            </a:xfrm>
            <a:prstGeom prst="rect">
              <a:avLst/>
            </a:prstGeom>
            <a:noFill/>
            <a:ln>
              <a:noFill/>
            </a:ln>
          </p:spPr>
          <p:txBody>
            <a:bodyPr wrap="none" lIns="0" tIns="0" rIns="0" bIns="0" anchor="t" anchorCtr="0">
              <a:spAutoFit/>
            </a:bodyPr>
            <a:lstStyle/>
            <a:p>
              <a:pPr algn="l"/>
              <a:r>
                <a:rPr lang="zh-CN" sz="900" dirty="0">
                  <a:solidFill>
                    <a:srgbClr val="6A6A6A"/>
                  </a:solidFill>
                  <a:latin typeface="+mn-lt"/>
                  <a:ea typeface="+mn-ea"/>
                  <a:cs typeface="+mn-cs"/>
                </a:rPr>
                <a:t>低</a:t>
              </a:r>
            </a:p>
          </p:txBody>
        </p:sp>
        <p:sp>
          <p:nvSpPr>
            <p:cNvPr id="73" name="TextBox 73"/>
            <p:cNvSpPr txBox="1"/>
            <p:nvPr/>
          </p:nvSpPr>
          <p:spPr>
            <a:xfrm>
              <a:off x="8798636" y="5612606"/>
              <a:ext cx="614528"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mn-lt"/>
                  <a:ea typeface="+mn-ea"/>
                  <a:cs typeface="+mn-cs"/>
                </a:rPr>
                <a:t>当前价值</a:t>
              </a:r>
            </a:p>
          </p:txBody>
        </p:sp>
        <p:sp>
          <p:nvSpPr>
            <p:cNvPr id="74" name="TextBox 74"/>
            <p:cNvSpPr txBox="1"/>
            <p:nvPr/>
          </p:nvSpPr>
          <p:spPr>
            <a:xfrm>
              <a:off x="11551730" y="5636895"/>
              <a:ext cx="130683" cy="176212"/>
            </a:xfrm>
            <a:prstGeom prst="rect">
              <a:avLst/>
            </a:prstGeom>
            <a:noFill/>
            <a:ln>
              <a:noFill/>
            </a:ln>
          </p:spPr>
          <p:txBody>
            <a:bodyPr wrap="none" lIns="0" tIns="0" rIns="0" bIns="0" anchor="t" anchorCtr="0">
              <a:spAutoFit/>
            </a:bodyPr>
            <a:lstStyle/>
            <a:p>
              <a:pPr algn="r"/>
              <a:r>
                <a:rPr lang="zh-CN" sz="900" dirty="0">
                  <a:solidFill>
                    <a:srgbClr val="6A6A6A"/>
                  </a:solidFill>
                  <a:latin typeface="+mn-lt"/>
                  <a:ea typeface="+mn-ea"/>
                  <a:cs typeface="+mn-cs"/>
                </a:rPr>
                <a:t>高</a:t>
              </a:r>
            </a:p>
          </p:txBody>
        </p:sp>
        <p:grpSp>
          <p:nvGrpSpPr>
            <p:cNvPr id="79" name="quad-grow"/>
            <p:cNvGrpSpPr/>
            <p:nvPr/>
          </p:nvGrpSpPr>
          <p:grpSpPr>
            <a:xfrm>
              <a:off x="6667500" y="1809750"/>
              <a:ext cx="2381250" cy="1695450"/>
              <a:chOff x="6667500" y="1809750"/>
              <a:chExt cx="2381250" cy="1695450"/>
            </a:xfrm>
          </p:grpSpPr>
          <p:sp>
            <p:nvSpPr>
              <p:cNvPr id="75" name="Rectangle 75"/>
              <p:cNvSpPr/>
              <p:nvPr/>
            </p:nvSpPr>
            <p:spPr>
              <a:xfrm>
                <a:off x="6667500" y="1809750"/>
                <a:ext cx="2381250" cy="1695450"/>
              </a:xfrm>
              <a:prstGeom prst="rect">
                <a:avLst/>
              </a:prstGeom>
              <a:solidFill>
                <a:srgbClr val="DDDBD9"/>
              </a:solidFill>
              <a:ln>
                <a:noFill/>
              </a:ln>
            </p:spPr>
          </p:sp>
          <p:sp>
            <p:nvSpPr>
              <p:cNvPr id="76" name="TextBox 76"/>
              <p:cNvSpPr txBox="1"/>
              <p:nvPr/>
            </p:nvSpPr>
            <p:spPr>
              <a:xfrm>
                <a:off x="7609713" y="2270760"/>
                <a:ext cx="496824"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象限二</a:t>
                </a:r>
              </a:p>
            </p:txBody>
          </p:sp>
          <p:sp>
            <p:nvSpPr>
              <p:cNvPr id="77" name="TextBox 77"/>
              <p:cNvSpPr txBox="1"/>
              <p:nvPr/>
            </p:nvSpPr>
            <p:spPr>
              <a:xfrm>
                <a:off x="7528941" y="2499360"/>
                <a:ext cx="658368"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成长客户</a:t>
                </a:r>
              </a:p>
            </p:txBody>
          </p:sp>
          <p:sp>
            <p:nvSpPr>
              <p:cNvPr id="78" name="TextBox 78"/>
              <p:cNvSpPr txBox="1"/>
              <p:nvPr/>
            </p:nvSpPr>
            <p:spPr>
              <a:xfrm>
                <a:off x="7396162" y="2836545"/>
                <a:ext cx="923925" cy="347662"/>
              </a:xfrm>
              <a:prstGeom prst="rect">
                <a:avLst/>
              </a:prstGeom>
              <a:noFill/>
              <a:ln>
                <a:noFill/>
              </a:ln>
            </p:spPr>
            <p:txBody>
              <a:bodyPr wrap="none" lIns="0" tIns="0" rIns="0" bIns="0" anchor="t" anchorCtr="0">
                <a:spAutoFit/>
              </a:bodyPr>
              <a:lstStyle/>
              <a:p>
                <a:pPr algn="ctr">
                  <a:lnSpc>
                    <a:spcPts val="1350"/>
                  </a:lnSpc>
                </a:pPr>
                <a:r>
                  <a:rPr lang="zh-CN" sz="900" dirty="0">
                    <a:solidFill>
                      <a:srgbClr val="4A4A4A"/>
                    </a:solidFill>
                    <a:latin typeface="+mn-lt"/>
                    <a:ea typeface="+mn-ea"/>
                    <a:cs typeface="+mn-cs"/>
                  </a:rPr>
                  <a:t>策略：重点培育，</a:t>
                </a:r>
                <a:br/>
                <a:r>
                  <a:rPr lang="zh-CN" sz="900" dirty="0">
                    <a:solidFill>
                      <a:srgbClr val="4A4A4A"/>
                    </a:solidFill>
                    <a:latin typeface="+mn-lt"/>
                    <a:ea typeface="+mn-ea"/>
                    <a:cs typeface="+mn-cs"/>
                  </a:rPr>
                  <a:t>提升份额</a:t>
                </a:r>
              </a:p>
            </p:txBody>
          </p:sp>
        </p:grpSp>
        <p:grpSp>
          <p:nvGrpSpPr>
            <p:cNvPr id="84" name="quad-strategic"/>
            <p:cNvGrpSpPr/>
            <p:nvPr/>
          </p:nvGrpSpPr>
          <p:grpSpPr>
            <a:xfrm>
              <a:off x="9163050" y="1809750"/>
              <a:ext cx="2381250" cy="1695450"/>
              <a:chOff x="9163050" y="1809750"/>
              <a:chExt cx="2381250" cy="1695450"/>
            </a:xfrm>
          </p:grpSpPr>
          <p:sp>
            <p:nvSpPr>
              <p:cNvPr id="80" name="Rectangle 80"/>
              <p:cNvSpPr/>
              <p:nvPr/>
            </p:nvSpPr>
            <p:spPr>
              <a:xfrm>
                <a:off x="9163050" y="1809750"/>
                <a:ext cx="2381250" cy="1695450"/>
              </a:xfrm>
              <a:prstGeom prst="rect">
                <a:avLst/>
              </a:prstGeom>
              <a:solidFill>
                <a:srgbClr val="8B321E"/>
              </a:solidFill>
              <a:ln>
                <a:noFill/>
              </a:ln>
            </p:spPr>
          </p:sp>
          <p:sp>
            <p:nvSpPr>
              <p:cNvPr id="81" name="TextBox 81"/>
              <p:cNvSpPr txBox="1"/>
              <p:nvPr/>
            </p:nvSpPr>
            <p:spPr>
              <a:xfrm>
                <a:off x="10105263" y="2194560"/>
                <a:ext cx="496824" cy="234696"/>
              </a:xfrm>
              <a:prstGeom prst="rect">
                <a:avLst/>
              </a:prstGeom>
              <a:noFill/>
              <a:ln>
                <a:noFill/>
              </a:ln>
            </p:spPr>
            <p:txBody>
              <a:bodyPr wrap="none" lIns="0" tIns="0" rIns="0" bIns="0" anchor="t" anchorCtr="0">
                <a:spAutoFit/>
              </a:bodyPr>
              <a:lstStyle/>
              <a:p>
                <a:pPr algn="ctr"/>
                <a:r>
                  <a:rPr lang="zh-CN" sz="1200" b="1" dirty="0">
                    <a:solidFill>
                      <a:srgbClr val="C97263"/>
                    </a:solidFill>
                    <a:latin typeface="+mn-lt"/>
                    <a:ea typeface="+mn-ea"/>
                    <a:cs typeface="+mn-cs"/>
                  </a:rPr>
                  <a:t>象限一</a:t>
                </a:r>
              </a:p>
            </p:txBody>
          </p:sp>
          <p:sp>
            <p:nvSpPr>
              <p:cNvPr id="82" name="TextBox 82"/>
              <p:cNvSpPr txBox="1"/>
              <p:nvPr/>
            </p:nvSpPr>
            <p:spPr>
              <a:xfrm>
                <a:off x="10002571" y="2434114"/>
                <a:ext cx="702208" cy="249364"/>
              </a:xfrm>
              <a:prstGeom prst="rect">
                <a:avLst/>
              </a:prstGeom>
              <a:noFill/>
              <a:ln>
                <a:noFill/>
              </a:ln>
            </p:spPr>
            <p:txBody>
              <a:bodyPr wrap="none" lIns="0" tIns="0" rIns="0" bIns="0" anchor="t" anchorCtr="0">
                <a:spAutoFit/>
              </a:bodyPr>
              <a:lstStyle/>
              <a:p>
                <a:pPr algn="ctr"/>
                <a:r>
                  <a:rPr lang="zh-CN" sz="1280" b="1" dirty="0">
                    <a:solidFill>
                      <a:srgbClr val="C97263"/>
                    </a:solidFill>
                    <a:latin typeface="+mn-lt"/>
                    <a:ea typeface="+mn-ea"/>
                    <a:cs typeface="+mn-cs"/>
                  </a:rPr>
                  <a:t>战略客户</a:t>
                </a:r>
              </a:p>
            </p:txBody>
          </p:sp>
          <p:sp>
            <p:nvSpPr>
              <p:cNvPr id="83" name="TextBox 83"/>
              <p:cNvSpPr txBox="1"/>
              <p:nvPr/>
            </p:nvSpPr>
            <p:spPr>
              <a:xfrm>
                <a:off x="9891712" y="2779395"/>
                <a:ext cx="923925" cy="347662"/>
              </a:xfrm>
              <a:prstGeom prst="rect">
                <a:avLst/>
              </a:prstGeom>
              <a:noFill/>
              <a:ln>
                <a:noFill/>
              </a:ln>
            </p:spPr>
            <p:txBody>
              <a:bodyPr wrap="none" lIns="0" tIns="0" rIns="0" bIns="0" anchor="t" anchorCtr="0">
                <a:spAutoFit/>
              </a:bodyPr>
              <a:lstStyle/>
              <a:p>
                <a:pPr algn="ctr">
                  <a:lnSpc>
                    <a:spcPts val="1350"/>
                  </a:lnSpc>
                </a:pPr>
                <a:r>
                  <a:rPr lang="zh-CN" sz="900" dirty="0">
                    <a:solidFill>
                      <a:srgbClr val="F0DBDE"/>
                    </a:solidFill>
                    <a:latin typeface="+mn-lt"/>
                    <a:ea typeface="+mn-ea"/>
                    <a:cs typeface="+mn-cs"/>
                  </a:rPr>
                  <a:t>策略：全力投入，</a:t>
                </a:r>
                <a:br/>
                <a:r>
                  <a:rPr lang="zh-CN" sz="900" dirty="0">
                    <a:solidFill>
                      <a:srgbClr val="F0DBDE"/>
                    </a:solidFill>
                    <a:latin typeface="+mn-lt"/>
                    <a:ea typeface="+mn-ea"/>
                    <a:cs typeface="+mn-cs"/>
                  </a:rPr>
                  <a:t>CEO级关系​</a:t>
                </a:r>
              </a:p>
            </p:txBody>
          </p:sp>
        </p:grpSp>
        <p:grpSp>
          <p:nvGrpSpPr>
            <p:cNvPr id="89" name="quad-observe"/>
            <p:cNvGrpSpPr/>
            <p:nvPr/>
          </p:nvGrpSpPr>
          <p:grpSpPr>
            <a:xfrm>
              <a:off x="6667500" y="3619500"/>
              <a:ext cx="2381250" cy="1695450"/>
              <a:chOff x="6667500" y="3619500"/>
              <a:chExt cx="2381250" cy="1695450"/>
            </a:xfrm>
          </p:grpSpPr>
          <p:sp>
            <p:nvSpPr>
              <p:cNvPr id="85" name="Rectangle 85"/>
              <p:cNvSpPr/>
              <p:nvPr/>
            </p:nvSpPr>
            <p:spPr>
              <a:xfrm>
                <a:off x="6667500" y="3619500"/>
                <a:ext cx="2381250" cy="1695450"/>
              </a:xfrm>
              <a:prstGeom prst="rect">
                <a:avLst/>
              </a:prstGeom>
              <a:solidFill>
                <a:srgbClr val="EDEBE9"/>
              </a:solidFill>
              <a:ln>
                <a:noFill/>
              </a:ln>
            </p:spPr>
          </p:sp>
          <p:sp>
            <p:nvSpPr>
              <p:cNvPr id="86" name="TextBox 86"/>
              <p:cNvSpPr txBox="1"/>
              <p:nvPr/>
            </p:nvSpPr>
            <p:spPr>
              <a:xfrm>
                <a:off x="7609713" y="4080510"/>
                <a:ext cx="496824"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象限四</a:t>
                </a:r>
              </a:p>
            </p:txBody>
          </p:sp>
          <p:sp>
            <p:nvSpPr>
              <p:cNvPr id="87" name="TextBox 87"/>
              <p:cNvSpPr txBox="1"/>
              <p:nvPr/>
            </p:nvSpPr>
            <p:spPr>
              <a:xfrm>
                <a:off x="7528941" y="4309110"/>
                <a:ext cx="658368"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观察客户</a:t>
                </a:r>
              </a:p>
            </p:txBody>
          </p:sp>
          <p:sp>
            <p:nvSpPr>
              <p:cNvPr id="88" name="TextBox 88"/>
              <p:cNvSpPr txBox="1"/>
              <p:nvPr/>
            </p:nvSpPr>
            <p:spPr>
              <a:xfrm>
                <a:off x="7396162" y="4646295"/>
                <a:ext cx="923925" cy="347662"/>
              </a:xfrm>
              <a:prstGeom prst="rect">
                <a:avLst/>
              </a:prstGeom>
              <a:noFill/>
              <a:ln>
                <a:noFill/>
              </a:ln>
            </p:spPr>
            <p:txBody>
              <a:bodyPr wrap="none" lIns="0" tIns="0" rIns="0" bIns="0" anchor="t" anchorCtr="0">
                <a:spAutoFit/>
              </a:bodyPr>
              <a:lstStyle/>
              <a:p>
                <a:pPr algn="ctr">
                  <a:lnSpc>
                    <a:spcPts val="1350"/>
                  </a:lnSpc>
                </a:pPr>
                <a:r>
                  <a:rPr lang="zh-CN" sz="900" dirty="0">
                    <a:solidFill>
                      <a:srgbClr val="4A4A4A"/>
                    </a:solidFill>
                    <a:latin typeface="+mn-lt"/>
                    <a:ea typeface="+mn-ea"/>
                    <a:cs typeface="+mn-cs"/>
                  </a:rPr>
                  <a:t>策略：标准服务，</a:t>
                </a:r>
                <a:br/>
                <a:r>
                  <a:rPr lang="zh-CN" sz="900" dirty="0">
                    <a:solidFill>
                      <a:srgbClr val="4A4A4A"/>
                    </a:solidFill>
                    <a:latin typeface="+mn-lt"/>
                    <a:ea typeface="+mn-ea"/>
                    <a:cs typeface="+mn-cs"/>
                  </a:rPr>
                  <a:t>机会性跟进</a:t>
                </a:r>
              </a:p>
            </p:txBody>
          </p:sp>
        </p:grpSp>
        <p:grpSp>
          <p:nvGrpSpPr>
            <p:cNvPr id="94" name="quad-maintain"/>
            <p:cNvGrpSpPr/>
            <p:nvPr/>
          </p:nvGrpSpPr>
          <p:grpSpPr>
            <a:xfrm>
              <a:off x="9163050" y="3619500"/>
              <a:ext cx="2381250" cy="1695450"/>
              <a:chOff x="9163050" y="3619500"/>
              <a:chExt cx="2381250" cy="1695450"/>
            </a:xfrm>
          </p:grpSpPr>
          <p:sp>
            <p:nvSpPr>
              <p:cNvPr id="90" name="Rectangle 90"/>
              <p:cNvSpPr/>
              <p:nvPr/>
            </p:nvSpPr>
            <p:spPr>
              <a:xfrm>
                <a:off x="9163050" y="3619500"/>
                <a:ext cx="2381250" cy="1695450"/>
              </a:xfrm>
              <a:prstGeom prst="rect">
                <a:avLst/>
              </a:prstGeom>
              <a:solidFill>
                <a:srgbClr val="E5E3E1"/>
              </a:solidFill>
              <a:ln>
                <a:noFill/>
              </a:ln>
            </p:spPr>
          </p:sp>
          <p:sp>
            <p:nvSpPr>
              <p:cNvPr id="91" name="TextBox 91"/>
              <p:cNvSpPr txBox="1"/>
              <p:nvPr/>
            </p:nvSpPr>
            <p:spPr>
              <a:xfrm>
                <a:off x="10105263" y="4080510"/>
                <a:ext cx="496824"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象限三</a:t>
                </a:r>
              </a:p>
            </p:txBody>
          </p:sp>
          <p:sp>
            <p:nvSpPr>
              <p:cNvPr id="92" name="TextBox 92"/>
              <p:cNvSpPr txBox="1"/>
              <p:nvPr/>
            </p:nvSpPr>
            <p:spPr>
              <a:xfrm>
                <a:off x="10024491" y="4309110"/>
                <a:ext cx="658368"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维持客户</a:t>
                </a:r>
              </a:p>
            </p:txBody>
          </p:sp>
          <p:sp>
            <p:nvSpPr>
              <p:cNvPr id="93" name="TextBox 93"/>
              <p:cNvSpPr txBox="1"/>
              <p:nvPr/>
            </p:nvSpPr>
            <p:spPr>
              <a:xfrm>
                <a:off x="9891712" y="4646295"/>
                <a:ext cx="923925" cy="347662"/>
              </a:xfrm>
              <a:prstGeom prst="rect">
                <a:avLst/>
              </a:prstGeom>
              <a:noFill/>
              <a:ln>
                <a:noFill/>
              </a:ln>
            </p:spPr>
            <p:txBody>
              <a:bodyPr wrap="none" lIns="0" tIns="0" rIns="0" bIns="0" anchor="t" anchorCtr="0">
                <a:spAutoFit/>
              </a:bodyPr>
              <a:lstStyle/>
              <a:p>
                <a:pPr algn="ctr">
                  <a:lnSpc>
                    <a:spcPts val="1350"/>
                  </a:lnSpc>
                </a:pPr>
                <a:r>
                  <a:rPr lang="zh-CN" sz="900" dirty="0">
                    <a:solidFill>
                      <a:srgbClr val="4A4A4A"/>
                    </a:solidFill>
                    <a:latin typeface="+mn-lt"/>
                    <a:ea typeface="+mn-ea"/>
                    <a:cs typeface="+mn-cs"/>
                  </a:rPr>
                  <a:t>策略：高效维护，</a:t>
                </a:r>
                <a:br/>
                <a:r>
                  <a:rPr lang="zh-CN" sz="900" dirty="0">
                    <a:solidFill>
                      <a:srgbClr val="4A4A4A"/>
                    </a:solidFill>
                    <a:latin typeface="+mn-lt"/>
                    <a:ea typeface="+mn-ea"/>
                    <a:cs typeface="+mn-cs"/>
                  </a:rPr>
                  <a:t>防止流失</a:t>
                </a:r>
              </a:p>
            </p:txBody>
          </p:sp>
        </p:grpSp>
      </p:grpSp>
      <p:sp>
        <p:nvSpPr>
          <p:cNvPr id="96" name="TextBox 96"/>
          <p:cNvSpPr txBox="1"/>
          <p:nvPr/>
        </p:nvSpPr>
        <p:spPr>
          <a:xfrm>
            <a:off x="11620383" y="6565106"/>
            <a:ext cx="177282" cy="220028"/>
          </a:xfrm>
          <a:prstGeom prst="rect">
            <a:avLst/>
          </a:prstGeom>
          <a:noFill/>
          <a:ln>
            <a:noFill/>
          </a:ln>
        </p:spPr>
        <p:txBody>
          <a:bodyPr wrap="none" lIns="0" tIns="0" rIns="0" bIns="0" anchor="t" anchorCtr="0">
            <a:spAutoFit/>
          </a:bodyPr>
          <a:lstStyle/>
          <a:p>
            <a:pPr algn="r"/>
            <a:r>
              <a:rPr lang="zh-CN" sz="1120" dirty="0">
                <a:solidFill>
                  <a:srgbClr val="8A8A8A"/>
                </a:solidFill>
                <a:latin typeface="+mn-lt"/>
                <a:ea typeface="+mn-ea"/>
                <a:cs typeface="+mn-cs"/>
              </a:rPr>
              <a:t>03</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title"/>
          <p:cNvGrpSpPr/>
          <p:nvPr/>
        </p:nvGrpSpPr>
        <p:grpSpPr>
          <a:xfrm>
            <a:off x="367284" y="260985"/>
            <a:ext cx="8714924" cy="528066"/>
            <a:chOff x="367284" y="260985"/>
            <a:chExt cx="8714924" cy="528066"/>
          </a:xfrm>
        </p:grpSpPr>
        <p:sp>
          <p:nvSpPr>
            <p:cNvPr id="2" name="TextBox 2"/>
            <p:cNvSpPr txBox="1"/>
            <p:nvPr/>
          </p:nvSpPr>
          <p:spPr>
            <a:xfrm>
              <a:off x="367284" y="260985"/>
              <a:ext cx="8714924" cy="528066"/>
            </a:xfrm>
            <a:prstGeom prst="rect">
              <a:avLst/>
            </a:prstGeom>
            <a:noFill/>
            <a:ln>
              <a:noFill/>
            </a:ln>
          </p:spPr>
          <p:txBody>
            <a:bodyPr wrap="none" lIns="0" tIns="0" rIns="0" bIns="0" anchor="t" anchorCtr="0">
              <a:spAutoFit/>
            </a:bodyPr>
            <a:lstStyle/>
            <a:p>
              <a:pPr algn="l"/>
              <a:r>
                <a:rPr lang="zh-CN" sz="2700" b="1" dirty="0">
                  <a:solidFill>
                    <a:srgbClr val="1A1A1A"/>
                  </a:solidFill>
                  <a:latin typeface="+mn-lt"/>
                  <a:ea typeface="+mn-ea"/>
                  <a:cs typeface="+mn-cs"/>
                </a:rPr>
                <a:t>TOP客户的分层标准：S/A/B/C四级体系的设计逻辑​</a:t>
              </a:r>
            </a:p>
          </p:txBody>
        </p:sp>
        <p:sp>
          <p:nvSpPr>
            <p:cNvPr id="3" name="Rectangle 3"/>
            <p:cNvSpPr/>
            <p:nvPr/>
          </p:nvSpPr>
          <p:spPr>
            <a:xfrm>
              <a:off x="381000" y="685800"/>
              <a:ext cx="1333500" cy="47625"/>
            </a:xfrm>
            <a:prstGeom prst="rect">
              <a:avLst/>
            </a:prstGeom>
            <a:solidFill>
              <a:srgbClr val="8B321E"/>
            </a:solidFill>
            <a:ln>
              <a:noFill/>
            </a:ln>
          </p:spPr>
        </p:sp>
      </p:grpSp>
      <p:grpSp>
        <p:nvGrpSpPr>
          <p:cNvPr id="11" name="core-line"/>
          <p:cNvGrpSpPr/>
          <p:nvPr/>
        </p:nvGrpSpPr>
        <p:grpSpPr>
          <a:xfrm>
            <a:off x="381000" y="914400"/>
            <a:ext cx="7522464" cy="457200"/>
            <a:chOff x="381000" y="914400"/>
            <a:chExt cx="7522464" cy="457200"/>
          </a:xfrm>
        </p:grpSpPr>
        <p:sp>
          <p:nvSpPr>
            <p:cNvPr id="5" name="Ellipse 5"/>
            <p:cNvSpPr/>
            <p:nvPr/>
          </p:nvSpPr>
          <p:spPr>
            <a:xfrm>
              <a:off x="381000" y="914400"/>
              <a:ext cx="457200" cy="457200"/>
            </a:xfrm>
            <a:prstGeom prst="ellipse">
              <a:avLst/>
            </a:prstGeom>
            <a:solidFill>
              <a:srgbClr val="8B321E"/>
            </a:solidFill>
            <a:ln>
              <a:noFill/>
            </a:ln>
          </p:spPr>
        </p:sp>
        <p:grpSp>
          <p:nvGrpSpPr>
            <p:cNvPr id="9" name="Group 9"/>
            <p:cNvGrpSpPr/>
            <p:nvPr/>
          </p:nvGrpSpPr>
          <p:grpSpPr>
            <a:xfrm>
              <a:off x="523875" y="1057275"/>
              <a:ext cx="171450" cy="171450"/>
              <a:chOff x="523875" y="1057275"/>
              <a:chExt cx="171450" cy="171450"/>
            </a:xfrm>
          </p:grpSpPr>
          <p:sp>
            <p:nvSpPr>
              <p:cNvPr id="6" name="Freeform 6"/>
              <p:cNvSpPr/>
              <p:nvPr/>
            </p:nvSpPr>
            <p:spPr>
              <a:xfrm>
                <a:off x="600075" y="11334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FFFFFF"/>
                </a:solidFill>
              </a:ln>
            </p:spPr>
          </p:sp>
          <p:sp>
            <p:nvSpPr>
              <p:cNvPr id="7" name="Freeform 7"/>
              <p:cNvSpPr/>
              <p:nvPr/>
            </p:nvSpPr>
            <p:spPr>
              <a:xfrm>
                <a:off x="561975" y="1095375"/>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FFFFFF"/>
                </a:solidFill>
              </a:ln>
            </p:spPr>
          </p:sp>
          <p:sp>
            <p:nvSpPr>
              <p:cNvPr id="8" name="Freeform 8"/>
              <p:cNvSpPr/>
              <p:nvPr/>
            </p:nvSpPr>
            <p:spPr>
              <a:xfrm>
                <a:off x="523875" y="10572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FFFFFF"/>
                </a:solidFill>
              </a:ln>
            </p:spPr>
          </p:sp>
        </p:grpSp>
        <p:sp>
          <p:nvSpPr>
            <p:cNvPr id="10" name="TextBox 10"/>
            <p:cNvSpPr txBox="1"/>
            <p:nvPr/>
          </p:nvSpPr>
          <p:spPr>
            <a:xfrm>
              <a:off x="983742" y="1063942"/>
              <a:ext cx="6919722"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mn-lt"/>
                  <a:ea typeface="+mn-ea"/>
                  <a:cs typeface="+mn-cs"/>
                </a:rPr>
                <a:t>核心观点：分层标准必须量化、可操作、与资源分配直接挂钩，否则分层只是贴标签。</a:t>
              </a:r>
            </a:p>
          </p:txBody>
        </p:sp>
      </p:grpSp>
      <p:sp>
        <p:nvSpPr>
          <p:cNvPr id="12" name="pink-backing"/>
          <p:cNvSpPr/>
          <p:nvPr/>
        </p:nvSpPr>
        <p:spPr>
          <a:xfrm>
            <a:off x="285750" y="1504950"/>
            <a:ext cx="11620500" cy="4876800"/>
          </a:xfrm>
          <a:prstGeom prst="roundRect">
            <a:avLst>
              <a:gd name="adj" fmla="val 1562"/>
            </a:avLst>
          </a:prstGeom>
          <a:solidFill>
            <a:srgbClr val="F8ECEC"/>
          </a:solidFill>
          <a:ln>
            <a:noFill/>
          </a:ln>
        </p:spPr>
      </p:sp>
      <p:grpSp>
        <p:nvGrpSpPr>
          <p:cNvPr id="141" name="tier-cards"/>
          <p:cNvGrpSpPr/>
          <p:nvPr/>
        </p:nvGrpSpPr>
        <p:grpSpPr>
          <a:xfrm>
            <a:off x="381000" y="1619250"/>
            <a:ext cx="8686800" cy="4648200"/>
            <a:chOff x="381000" y="1619250"/>
            <a:chExt cx="8686800" cy="4648200"/>
          </a:xfrm>
        </p:grpSpPr>
        <p:grpSp>
          <p:nvGrpSpPr>
            <p:cNvPr id="44" name="tier-s"/>
            <p:cNvGrpSpPr/>
            <p:nvPr/>
          </p:nvGrpSpPr>
          <p:grpSpPr>
            <a:xfrm>
              <a:off x="381000" y="1619250"/>
              <a:ext cx="2114550" cy="4648200"/>
              <a:chOff x="381000" y="1619250"/>
              <a:chExt cx="2114550" cy="4648200"/>
            </a:xfrm>
          </p:grpSpPr>
          <p:sp>
            <p:nvSpPr>
              <p:cNvPr id="13" name="Rectangle 13"/>
              <p:cNvSpPr/>
              <p:nvPr/>
            </p:nvSpPr>
            <p:spPr>
              <a:xfrm>
                <a:off x="381000" y="1619250"/>
                <a:ext cx="2114550" cy="4648200"/>
              </a:xfrm>
              <a:prstGeom prst="roundRect">
                <a:avLst>
                  <a:gd name="adj" fmla="val 2703"/>
                </a:avLst>
              </a:prstGeom>
              <a:solidFill>
                <a:srgbClr val="8B321E"/>
              </a:solidFill>
              <a:ln>
                <a:noFill/>
              </a:ln>
            </p:spPr>
          </p:sp>
          <p:sp>
            <p:nvSpPr>
              <p:cNvPr id="14" name="Ellipse 14"/>
              <p:cNvSpPr/>
              <p:nvPr/>
            </p:nvSpPr>
            <p:spPr>
              <a:xfrm>
                <a:off x="542925" y="1838325"/>
                <a:ext cx="361950" cy="361950"/>
              </a:xfrm>
              <a:prstGeom prst="ellipse">
                <a:avLst/>
              </a:prstGeom>
              <a:noFill/>
              <a:ln w="19050">
                <a:solidFill>
                  <a:srgbClr val="FFFFFF"/>
                </a:solidFill>
              </a:ln>
            </p:spPr>
          </p:sp>
          <p:sp>
            <p:nvSpPr>
              <p:cNvPr id="15" name="TextBox 15"/>
              <p:cNvSpPr txBox="1"/>
              <p:nvPr/>
            </p:nvSpPr>
            <p:spPr>
              <a:xfrm>
                <a:off x="654672" y="1924050"/>
                <a:ext cx="138455"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mn-lt"/>
                    <a:ea typeface="+mn-ea"/>
                    <a:cs typeface="+mn-cs"/>
                  </a:rPr>
                  <a:t>S</a:t>
                </a:r>
              </a:p>
            </p:txBody>
          </p:sp>
          <p:sp>
            <p:nvSpPr>
              <p:cNvPr id="16" name="TextBox 16"/>
              <p:cNvSpPr txBox="1"/>
              <p:nvPr/>
            </p:nvSpPr>
            <p:spPr>
              <a:xfrm>
                <a:off x="1002411" y="1827371"/>
                <a:ext cx="322282"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S级</a:t>
                </a:r>
              </a:p>
            </p:txBody>
          </p:sp>
          <p:sp>
            <p:nvSpPr>
              <p:cNvPr id="17" name="TextBox 17"/>
              <p:cNvSpPr txBox="1"/>
              <p:nvPr/>
            </p:nvSpPr>
            <p:spPr>
              <a:xfrm>
                <a:off x="1004888" y="2078593"/>
                <a:ext cx="704164" cy="169069"/>
              </a:xfrm>
              <a:prstGeom prst="rect">
                <a:avLst/>
              </a:prstGeom>
              <a:noFill/>
              <a:ln>
                <a:noFill/>
              </a:ln>
            </p:spPr>
            <p:txBody>
              <a:bodyPr wrap="none" lIns="0" tIns="0" rIns="0" bIns="0" anchor="t" anchorCtr="0">
                <a:spAutoFit/>
              </a:bodyPr>
              <a:lstStyle/>
              <a:p>
                <a:pPr algn="l"/>
                <a:r>
                  <a:rPr lang="zh-CN" sz="860" dirty="0">
                    <a:solidFill>
                      <a:srgbClr val="F0DBDE"/>
                    </a:solidFill>
                    <a:latin typeface="+mn-lt"/>
                    <a:ea typeface="+mn-ea"/>
                    <a:cs typeface="+mn-cs"/>
                  </a:rPr>
                  <a:t>（战略客户）</a:t>
                </a:r>
              </a:p>
            </p:txBody>
          </p:sp>
          <p:grpSp>
            <p:nvGrpSpPr>
              <p:cNvPr id="20" name="Group 20"/>
              <p:cNvGrpSpPr/>
              <p:nvPr/>
            </p:nvGrpSpPr>
            <p:grpSpPr>
              <a:xfrm>
                <a:off x="590550" y="2419350"/>
                <a:ext cx="76200" cy="114300"/>
                <a:chOff x="590550" y="2419350"/>
                <a:chExt cx="76200" cy="114300"/>
              </a:xfrm>
            </p:grpSpPr>
            <p:sp>
              <p:nvSpPr>
                <p:cNvPr id="18" name="Freeform 18"/>
                <p:cNvSpPr/>
                <p:nvPr/>
              </p:nvSpPr>
              <p:spPr>
                <a:xfrm>
                  <a:off x="603250" y="2419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9" name="Freeform 19"/>
                <p:cNvSpPr/>
                <p:nvPr/>
              </p:nvSpPr>
              <p:spPr>
                <a:xfrm>
                  <a:off x="590550" y="24955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grpSp>
          <p:sp>
            <p:nvSpPr>
              <p:cNvPr id="21" name="TextBox 21"/>
              <p:cNvSpPr txBox="1"/>
              <p:nvPr/>
            </p:nvSpPr>
            <p:spPr>
              <a:xfrm>
                <a:off x="794956" y="2414826"/>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准入：</a:t>
                </a:r>
              </a:p>
            </p:txBody>
          </p:sp>
          <p:sp>
            <p:nvSpPr>
              <p:cNvPr id="22" name="TextBox 22"/>
              <p:cNvSpPr txBox="1"/>
              <p:nvPr/>
            </p:nvSpPr>
            <p:spPr>
              <a:xfrm>
                <a:off x="795338" y="2636520"/>
                <a:ext cx="1281684" cy="176212"/>
              </a:xfrm>
              <a:prstGeom prst="rect">
                <a:avLst/>
              </a:prstGeom>
              <a:noFill/>
              <a:ln>
                <a:noFill/>
              </a:ln>
            </p:spPr>
            <p:txBody>
              <a:bodyPr wrap="none" lIns="0" tIns="0" rIns="0" bIns="0" anchor="t" anchorCtr="0">
                <a:spAutoFit/>
              </a:bodyPr>
              <a:lstStyle/>
              <a:p>
                <a:pPr algn="l"/>
                <a:r>
                  <a:rPr lang="zh-CN" sz="900" dirty="0">
                    <a:solidFill>
                      <a:srgbClr val="F0DBDE"/>
                    </a:solidFill>
                    <a:latin typeface="+mn-lt"/>
                    <a:ea typeface="+mn-ea"/>
                    <a:cs typeface="+mn-cs"/>
                  </a:rPr>
                  <a:t>≥500万或潜力≥2000万​</a:t>
                </a:r>
              </a:p>
            </p:txBody>
          </p:sp>
          <p:grpSp>
            <p:nvGrpSpPr>
              <p:cNvPr id="29" name="Group 29"/>
              <p:cNvGrpSpPr/>
              <p:nvPr/>
            </p:nvGrpSpPr>
            <p:grpSpPr>
              <a:xfrm>
                <a:off x="571500" y="3343275"/>
                <a:ext cx="114300" cy="114300"/>
                <a:chOff x="571500" y="3343275"/>
                <a:chExt cx="114300" cy="114300"/>
              </a:xfrm>
            </p:grpSpPr>
            <p:sp>
              <p:nvSpPr>
                <p:cNvPr id="23" name="Freeform 23"/>
                <p:cNvSpPr/>
                <p:nvPr/>
              </p:nvSpPr>
              <p:spPr>
                <a:xfrm>
                  <a:off x="615950" y="33940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24" name="Freeform 24"/>
                <p:cNvSpPr/>
                <p:nvPr/>
              </p:nvSpPr>
              <p:spPr>
                <a:xfrm>
                  <a:off x="603250" y="3438525"/>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FFFFFF"/>
                  </a:solidFill>
                </a:ln>
              </p:spPr>
            </p:sp>
            <p:sp>
              <p:nvSpPr>
                <p:cNvPr id="25" name="Freeform 25"/>
                <p:cNvSpPr/>
                <p:nvPr/>
              </p:nvSpPr>
              <p:spPr>
                <a:xfrm>
                  <a:off x="647700" y="33432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26" name="Freeform 26"/>
                <p:cNvSpPr/>
                <p:nvPr/>
              </p:nvSpPr>
              <p:spPr>
                <a:xfrm>
                  <a:off x="660400" y="3387725"/>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FFFFFF"/>
                  </a:solidFill>
                </a:ln>
              </p:spPr>
            </p:sp>
            <p:sp>
              <p:nvSpPr>
                <p:cNvPr id="27" name="Freeform 27"/>
                <p:cNvSpPr/>
                <p:nvPr/>
              </p:nvSpPr>
              <p:spPr>
                <a:xfrm>
                  <a:off x="584200" y="33432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28" name="Freeform 28"/>
                <p:cNvSpPr/>
                <p:nvPr/>
              </p:nvSpPr>
              <p:spPr>
                <a:xfrm>
                  <a:off x="571500" y="3387725"/>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FFFFFF"/>
                  </a:solidFill>
                </a:ln>
              </p:spPr>
            </p:sp>
          </p:grpSp>
          <p:sp>
            <p:nvSpPr>
              <p:cNvPr id="30" name="TextBox 30"/>
              <p:cNvSpPr txBox="1"/>
              <p:nvPr/>
            </p:nvSpPr>
            <p:spPr>
              <a:xfrm>
                <a:off x="794956" y="3338751"/>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数量：</a:t>
                </a:r>
              </a:p>
            </p:txBody>
          </p:sp>
          <p:sp>
            <p:nvSpPr>
              <p:cNvPr id="31" name="TextBox 31"/>
              <p:cNvSpPr txBox="1"/>
              <p:nvPr/>
            </p:nvSpPr>
            <p:spPr>
              <a:xfrm>
                <a:off x="793623" y="3558064"/>
                <a:ext cx="583312" cy="249364"/>
              </a:xfrm>
              <a:prstGeom prst="rect">
                <a:avLst/>
              </a:prstGeom>
              <a:noFill/>
              <a:ln>
                <a:noFill/>
              </a:ln>
            </p:spPr>
            <p:txBody>
              <a:bodyPr wrap="none" lIns="0" tIns="0" rIns="0" bIns="0" anchor="t" anchorCtr="0">
                <a:spAutoFit/>
              </a:bodyPr>
              <a:lstStyle/>
              <a:p>
                <a:pPr algn="l"/>
                <a:r>
                  <a:rPr lang="zh-CN" sz="1280" b="1" dirty="0">
                    <a:solidFill>
                      <a:srgbClr val="C97263"/>
                    </a:solidFill>
                    <a:latin typeface="+mn-lt"/>
                    <a:ea typeface="+mn-ea"/>
                    <a:cs typeface="+mn-cs"/>
                  </a:rPr>
                  <a:t>&lt;15家​</a:t>
                </a:r>
              </a:p>
            </p:txBody>
          </p:sp>
          <p:grpSp>
            <p:nvGrpSpPr>
              <p:cNvPr id="36" name="Group 36"/>
              <p:cNvGrpSpPr/>
              <p:nvPr/>
            </p:nvGrpSpPr>
            <p:grpSpPr>
              <a:xfrm>
                <a:off x="571500" y="4267200"/>
                <a:ext cx="114300" cy="107950"/>
                <a:chOff x="571500" y="4267200"/>
                <a:chExt cx="114300" cy="107950"/>
              </a:xfrm>
            </p:grpSpPr>
            <p:sp>
              <p:nvSpPr>
                <p:cNvPr id="32" name="Freeform 32"/>
                <p:cNvSpPr/>
                <p:nvPr/>
              </p:nvSpPr>
              <p:spPr>
                <a:xfrm>
                  <a:off x="571500" y="4292600"/>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FFFFFF"/>
                  </a:solidFill>
                </a:ln>
              </p:spPr>
            </p:sp>
            <p:sp>
              <p:nvSpPr>
                <p:cNvPr id="33" name="Freeform 33"/>
                <p:cNvSpPr/>
                <p:nvPr/>
              </p:nvSpPr>
              <p:spPr>
                <a:xfrm>
                  <a:off x="603250" y="4267200"/>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FFFFFF"/>
                  </a:solidFill>
                </a:ln>
              </p:spPr>
            </p:sp>
            <p:sp>
              <p:nvSpPr>
                <p:cNvPr id="34" name="Freeform 34"/>
                <p:cNvSpPr/>
                <p:nvPr/>
              </p:nvSpPr>
              <p:spPr>
                <a:xfrm>
                  <a:off x="628650" y="432435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35" name="Freeform 35"/>
                <p:cNvSpPr/>
                <p:nvPr/>
              </p:nvSpPr>
              <p:spPr>
                <a:xfrm>
                  <a:off x="571500" y="4330700"/>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FFFFFF"/>
                  </a:solidFill>
                </a:ln>
              </p:spPr>
            </p:sp>
          </p:grpSp>
          <p:sp>
            <p:nvSpPr>
              <p:cNvPr id="37" name="TextBox 37"/>
              <p:cNvSpPr txBox="1"/>
              <p:nvPr/>
            </p:nvSpPr>
            <p:spPr>
              <a:xfrm>
                <a:off x="794956" y="4262676"/>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资源：</a:t>
                </a:r>
              </a:p>
            </p:txBody>
          </p:sp>
          <p:sp>
            <p:nvSpPr>
              <p:cNvPr id="38" name="TextBox 38"/>
              <p:cNvSpPr txBox="1"/>
              <p:nvPr/>
            </p:nvSpPr>
            <p:spPr>
              <a:xfrm>
                <a:off x="795338" y="4484370"/>
                <a:ext cx="1110348" cy="176212"/>
              </a:xfrm>
              <a:prstGeom prst="rect">
                <a:avLst/>
              </a:prstGeom>
              <a:noFill/>
              <a:ln>
                <a:noFill/>
              </a:ln>
            </p:spPr>
            <p:txBody>
              <a:bodyPr wrap="none" lIns="0" tIns="0" rIns="0" bIns="0" anchor="t" anchorCtr="0">
                <a:spAutoFit/>
              </a:bodyPr>
              <a:lstStyle/>
              <a:p>
                <a:pPr algn="l"/>
                <a:r>
                  <a:rPr lang="zh-CN" sz="900" dirty="0">
                    <a:solidFill>
                      <a:srgbClr val="F0DBDE"/>
                    </a:solidFill>
                    <a:latin typeface="+mn-lt"/>
                    <a:ea typeface="+mn-ea"/>
                    <a:cs typeface="+mn-cs"/>
                  </a:rPr>
                  <a:t>专属KAM+高管季访​</a:t>
                </a:r>
              </a:p>
            </p:txBody>
          </p:sp>
          <p:grpSp>
            <p:nvGrpSpPr>
              <p:cNvPr id="41" name="Group 41"/>
              <p:cNvGrpSpPr/>
              <p:nvPr/>
            </p:nvGrpSpPr>
            <p:grpSpPr>
              <a:xfrm>
                <a:off x="584200" y="5191724"/>
                <a:ext cx="88900" cy="113701"/>
                <a:chOff x="584200" y="5191724"/>
                <a:chExt cx="88900" cy="113701"/>
              </a:xfrm>
            </p:grpSpPr>
            <p:sp>
              <p:nvSpPr>
                <p:cNvPr id="39" name="Freeform 39"/>
                <p:cNvSpPr/>
                <p:nvPr/>
              </p:nvSpPr>
              <p:spPr>
                <a:xfrm>
                  <a:off x="584200" y="5191724"/>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FFFFFF"/>
                  </a:solidFill>
                </a:ln>
              </p:spPr>
            </p:sp>
            <p:sp>
              <p:nvSpPr>
                <p:cNvPr id="40" name="Freeform 40"/>
                <p:cNvSpPr/>
                <p:nvPr/>
              </p:nvSpPr>
              <p:spPr>
                <a:xfrm>
                  <a:off x="584200" y="5260975"/>
                  <a:ext cx="9525" cy="44450"/>
                </a:xfrm>
                <a:custGeom>
                  <a:avLst/>
                  <a:gdLst/>
                  <a:ahLst/>
                  <a:cxnLst/>
                  <a:rect l="l" t="t" r="r" b="b"/>
                  <a:pathLst>
                    <a:path w="9525" h="44450">
                      <a:moveTo>
                        <a:pt x="0" y="44450"/>
                      </a:moveTo>
                      <a:lnTo>
                        <a:pt x="0" y="0"/>
                      </a:lnTo>
                    </a:path>
                  </a:pathLst>
                </a:custGeom>
                <a:noFill/>
                <a:ln w="12700">
                  <a:solidFill>
                    <a:srgbClr val="FFFFFF"/>
                  </a:solidFill>
                </a:ln>
              </p:spPr>
            </p:sp>
          </p:grpSp>
          <p:sp>
            <p:nvSpPr>
              <p:cNvPr id="42" name="TextBox 42"/>
              <p:cNvSpPr txBox="1"/>
              <p:nvPr/>
            </p:nvSpPr>
            <p:spPr>
              <a:xfrm>
                <a:off x="794956" y="5186601"/>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目标：</a:t>
                </a:r>
              </a:p>
            </p:txBody>
          </p:sp>
          <p:sp>
            <p:nvSpPr>
              <p:cNvPr id="43" name="TextBox 43"/>
              <p:cNvSpPr txBox="1"/>
              <p:nvPr/>
            </p:nvSpPr>
            <p:spPr>
              <a:xfrm>
                <a:off x="795338" y="5408295"/>
                <a:ext cx="494157" cy="176212"/>
              </a:xfrm>
              <a:prstGeom prst="rect">
                <a:avLst/>
              </a:prstGeom>
              <a:noFill/>
              <a:ln>
                <a:noFill/>
              </a:ln>
            </p:spPr>
            <p:txBody>
              <a:bodyPr wrap="none" lIns="0" tIns="0" rIns="0" bIns="0" anchor="t" anchorCtr="0">
                <a:spAutoFit/>
              </a:bodyPr>
              <a:lstStyle/>
              <a:p>
                <a:pPr algn="l"/>
                <a:r>
                  <a:rPr lang="zh-CN" sz="900" dirty="0">
                    <a:solidFill>
                      <a:srgbClr val="F0DBDE"/>
                    </a:solidFill>
                    <a:latin typeface="+mn-lt"/>
                    <a:ea typeface="+mn-ea"/>
                    <a:cs typeface="+mn-cs"/>
                  </a:rPr>
                  <a:t>深化关系</a:t>
                </a:r>
              </a:p>
            </p:txBody>
          </p:sp>
        </p:grpSp>
        <p:grpSp>
          <p:nvGrpSpPr>
            <p:cNvPr id="76" name="tier-a"/>
            <p:cNvGrpSpPr/>
            <p:nvPr/>
          </p:nvGrpSpPr>
          <p:grpSpPr>
            <a:xfrm>
              <a:off x="2571750" y="1619250"/>
              <a:ext cx="2114550" cy="4648200"/>
              <a:chOff x="2571750" y="1619250"/>
              <a:chExt cx="2114550" cy="4648200"/>
            </a:xfrm>
          </p:grpSpPr>
          <p:sp>
            <p:nvSpPr>
              <p:cNvPr id="45" name="Rectangle 45"/>
              <p:cNvSpPr/>
              <p:nvPr/>
            </p:nvSpPr>
            <p:spPr>
              <a:xfrm>
                <a:off x="2571750" y="1619250"/>
                <a:ext cx="2114550" cy="4648200"/>
              </a:xfrm>
              <a:prstGeom prst="roundRect">
                <a:avLst>
                  <a:gd name="adj" fmla="val 2703"/>
                </a:avLst>
              </a:prstGeom>
              <a:solidFill>
                <a:srgbClr val="6B6B6B"/>
              </a:solidFill>
              <a:ln>
                <a:noFill/>
              </a:ln>
            </p:spPr>
          </p:sp>
          <p:sp>
            <p:nvSpPr>
              <p:cNvPr id="46" name="Ellipse 46"/>
              <p:cNvSpPr/>
              <p:nvPr/>
            </p:nvSpPr>
            <p:spPr>
              <a:xfrm>
                <a:off x="2733675" y="1838325"/>
                <a:ext cx="361950" cy="361950"/>
              </a:xfrm>
              <a:prstGeom prst="ellipse">
                <a:avLst/>
              </a:prstGeom>
              <a:noFill/>
              <a:ln w="19050">
                <a:solidFill>
                  <a:srgbClr val="FFFFFF"/>
                </a:solidFill>
              </a:ln>
            </p:spPr>
          </p:sp>
          <p:sp>
            <p:nvSpPr>
              <p:cNvPr id="47" name="TextBox 47"/>
              <p:cNvSpPr txBox="1"/>
              <p:nvPr/>
            </p:nvSpPr>
            <p:spPr>
              <a:xfrm>
                <a:off x="2845422" y="1924050"/>
                <a:ext cx="138455"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mn-lt"/>
                    <a:ea typeface="+mn-ea"/>
                    <a:cs typeface="+mn-cs"/>
                  </a:rPr>
                  <a:t>A</a:t>
                </a:r>
              </a:p>
            </p:txBody>
          </p:sp>
          <p:sp>
            <p:nvSpPr>
              <p:cNvPr id="48" name="TextBox 48"/>
              <p:cNvSpPr txBox="1"/>
              <p:nvPr/>
            </p:nvSpPr>
            <p:spPr>
              <a:xfrm>
                <a:off x="3193161" y="1827371"/>
                <a:ext cx="322282"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A级</a:t>
                </a:r>
              </a:p>
            </p:txBody>
          </p:sp>
          <p:sp>
            <p:nvSpPr>
              <p:cNvPr id="49" name="TextBox 49"/>
              <p:cNvSpPr txBox="1"/>
              <p:nvPr/>
            </p:nvSpPr>
            <p:spPr>
              <a:xfrm>
                <a:off x="3195638" y="2078593"/>
                <a:ext cx="704164" cy="169069"/>
              </a:xfrm>
              <a:prstGeom prst="rect">
                <a:avLst/>
              </a:prstGeom>
              <a:noFill/>
              <a:ln>
                <a:noFill/>
              </a:ln>
            </p:spPr>
            <p:txBody>
              <a:bodyPr wrap="none" lIns="0" tIns="0" rIns="0" bIns="0" anchor="t" anchorCtr="0">
                <a:spAutoFit/>
              </a:bodyPr>
              <a:lstStyle/>
              <a:p>
                <a:pPr algn="l"/>
                <a:r>
                  <a:rPr lang="zh-CN" sz="860" dirty="0">
                    <a:solidFill>
                      <a:srgbClr val="E8E8E8"/>
                    </a:solidFill>
                    <a:latin typeface="+mn-lt"/>
                    <a:ea typeface="+mn-ea"/>
                    <a:cs typeface="+mn-cs"/>
                  </a:rPr>
                  <a:t>（核心客户）</a:t>
                </a:r>
              </a:p>
            </p:txBody>
          </p:sp>
          <p:grpSp>
            <p:nvGrpSpPr>
              <p:cNvPr id="52" name="Group 52"/>
              <p:cNvGrpSpPr/>
              <p:nvPr/>
            </p:nvGrpSpPr>
            <p:grpSpPr>
              <a:xfrm>
                <a:off x="2781300" y="2419350"/>
                <a:ext cx="76200" cy="114300"/>
                <a:chOff x="2781300" y="2419350"/>
                <a:chExt cx="76200" cy="114300"/>
              </a:xfrm>
            </p:grpSpPr>
            <p:sp>
              <p:nvSpPr>
                <p:cNvPr id="50" name="Freeform 50"/>
                <p:cNvSpPr/>
                <p:nvPr/>
              </p:nvSpPr>
              <p:spPr>
                <a:xfrm>
                  <a:off x="2794000" y="2419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51" name="Freeform 51"/>
                <p:cNvSpPr/>
                <p:nvPr/>
              </p:nvSpPr>
              <p:spPr>
                <a:xfrm>
                  <a:off x="2781300" y="24955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grpSp>
          <p:sp>
            <p:nvSpPr>
              <p:cNvPr id="53" name="TextBox 53"/>
              <p:cNvSpPr txBox="1"/>
              <p:nvPr/>
            </p:nvSpPr>
            <p:spPr>
              <a:xfrm>
                <a:off x="2985706" y="2414826"/>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准入：</a:t>
                </a:r>
              </a:p>
            </p:txBody>
          </p:sp>
          <p:sp>
            <p:nvSpPr>
              <p:cNvPr id="54" name="TextBox 54"/>
              <p:cNvSpPr txBox="1"/>
              <p:nvPr/>
            </p:nvSpPr>
            <p:spPr>
              <a:xfrm>
                <a:off x="2986088" y="2636520"/>
                <a:ext cx="906780"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E8E8E8"/>
                    </a:solidFill>
                    <a:latin typeface="+mn-lt"/>
                    <a:ea typeface="+mn-ea"/>
                    <a:cs typeface="+mn-cs"/>
                  </a:rPr>
                  <a:t>200-500万或潜力</a:t>
                </a:r>
                <a:br/>
                <a:r>
                  <a:rPr lang="zh-CN" sz="900" dirty="0">
                    <a:solidFill>
                      <a:srgbClr val="E8E8E8"/>
                    </a:solidFill>
                    <a:latin typeface="+mn-lt"/>
                    <a:ea typeface="+mn-ea"/>
                    <a:cs typeface="+mn-cs"/>
                  </a:rPr>
                  <a:t>500-2000万</a:t>
                </a:r>
              </a:p>
            </p:txBody>
          </p:sp>
          <p:grpSp>
            <p:nvGrpSpPr>
              <p:cNvPr id="61" name="Group 61"/>
              <p:cNvGrpSpPr/>
              <p:nvPr/>
            </p:nvGrpSpPr>
            <p:grpSpPr>
              <a:xfrm>
                <a:off x="2762250" y="3343275"/>
                <a:ext cx="114300" cy="114300"/>
                <a:chOff x="2762250" y="3343275"/>
                <a:chExt cx="114300" cy="114300"/>
              </a:xfrm>
            </p:grpSpPr>
            <p:sp>
              <p:nvSpPr>
                <p:cNvPr id="55" name="Freeform 55"/>
                <p:cNvSpPr/>
                <p:nvPr/>
              </p:nvSpPr>
              <p:spPr>
                <a:xfrm>
                  <a:off x="2806700" y="33940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56" name="Freeform 56"/>
                <p:cNvSpPr/>
                <p:nvPr/>
              </p:nvSpPr>
              <p:spPr>
                <a:xfrm>
                  <a:off x="2794000" y="3438525"/>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FFFFFF"/>
                  </a:solidFill>
                </a:ln>
              </p:spPr>
            </p:sp>
            <p:sp>
              <p:nvSpPr>
                <p:cNvPr id="57" name="Freeform 57"/>
                <p:cNvSpPr/>
                <p:nvPr/>
              </p:nvSpPr>
              <p:spPr>
                <a:xfrm>
                  <a:off x="2838450" y="33432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58" name="Freeform 58"/>
                <p:cNvSpPr/>
                <p:nvPr/>
              </p:nvSpPr>
              <p:spPr>
                <a:xfrm>
                  <a:off x="2851150" y="3387725"/>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FFFFFF"/>
                  </a:solidFill>
                </a:ln>
              </p:spPr>
            </p:sp>
            <p:sp>
              <p:nvSpPr>
                <p:cNvPr id="59" name="Freeform 59"/>
                <p:cNvSpPr/>
                <p:nvPr/>
              </p:nvSpPr>
              <p:spPr>
                <a:xfrm>
                  <a:off x="2774950" y="33432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60" name="Freeform 60"/>
                <p:cNvSpPr/>
                <p:nvPr/>
              </p:nvSpPr>
              <p:spPr>
                <a:xfrm>
                  <a:off x="2762250" y="3387725"/>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FFFFFF"/>
                  </a:solidFill>
                </a:ln>
              </p:spPr>
            </p:sp>
          </p:grpSp>
          <p:sp>
            <p:nvSpPr>
              <p:cNvPr id="62" name="TextBox 62"/>
              <p:cNvSpPr txBox="1"/>
              <p:nvPr/>
            </p:nvSpPr>
            <p:spPr>
              <a:xfrm>
                <a:off x="2985706" y="3338751"/>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数量：</a:t>
                </a:r>
              </a:p>
            </p:txBody>
          </p:sp>
          <p:sp>
            <p:nvSpPr>
              <p:cNvPr id="63" name="TextBox 63"/>
              <p:cNvSpPr txBox="1"/>
              <p:nvPr/>
            </p:nvSpPr>
            <p:spPr>
              <a:xfrm>
                <a:off x="2984373" y="3558064"/>
                <a:ext cx="782334" cy="249364"/>
              </a:xfrm>
              <a:prstGeom prst="rect">
                <a:avLst/>
              </a:prstGeom>
              <a:noFill/>
              <a:ln>
                <a:noFill/>
              </a:ln>
            </p:spPr>
            <p:txBody>
              <a:bodyPr wrap="none" lIns="0" tIns="0" rIns="0" bIns="0" anchor="t" anchorCtr="0">
                <a:spAutoFit/>
              </a:bodyPr>
              <a:lstStyle/>
              <a:p>
                <a:pPr algn="l"/>
                <a:r>
                  <a:rPr lang="zh-CN" sz="1280" b="1" dirty="0">
                    <a:solidFill>
                      <a:srgbClr val="C97263"/>
                    </a:solidFill>
                    <a:latin typeface="+mn-lt"/>
                    <a:ea typeface="+mn-ea"/>
                    <a:cs typeface="+mn-cs"/>
                  </a:rPr>
                  <a:t>30-50家​</a:t>
                </a:r>
              </a:p>
            </p:txBody>
          </p:sp>
          <p:grpSp>
            <p:nvGrpSpPr>
              <p:cNvPr id="68" name="Group 68"/>
              <p:cNvGrpSpPr/>
              <p:nvPr/>
            </p:nvGrpSpPr>
            <p:grpSpPr>
              <a:xfrm>
                <a:off x="2762250" y="4267200"/>
                <a:ext cx="114300" cy="107950"/>
                <a:chOff x="2762250" y="4267200"/>
                <a:chExt cx="114300" cy="107950"/>
              </a:xfrm>
            </p:grpSpPr>
            <p:sp>
              <p:nvSpPr>
                <p:cNvPr id="64" name="Freeform 64"/>
                <p:cNvSpPr/>
                <p:nvPr/>
              </p:nvSpPr>
              <p:spPr>
                <a:xfrm>
                  <a:off x="2762250" y="4292600"/>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FFFFFF"/>
                  </a:solidFill>
                </a:ln>
              </p:spPr>
            </p:sp>
            <p:sp>
              <p:nvSpPr>
                <p:cNvPr id="65" name="Freeform 65"/>
                <p:cNvSpPr/>
                <p:nvPr/>
              </p:nvSpPr>
              <p:spPr>
                <a:xfrm>
                  <a:off x="2794000" y="4267200"/>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FFFFFF"/>
                  </a:solidFill>
                </a:ln>
              </p:spPr>
            </p:sp>
            <p:sp>
              <p:nvSpPr>
                <p:cNvPr id="66" name="Freeform 66"/>
                <p:cNvSpPr/>
                <p:nvPr/>
              </p:nvSpPr>
              <p:spPr>
                <a:xfrm>
                  <a:off x="2819400" y="432435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67" name="Freeform 67"/>
                <p:cNvSpPr/>
                <p:nvPr/>
              </p:nvSpPr>
              <p:spPr>
                <a:xfrm>
                  <a:off x="2762250" y="4330700"/>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FFFFFF"/>
                  </a:solidFill>
                </a:ln>
              </p:spPr>
            </p:sp>
          </p:grpSp>
          <p:sp>
            <p:nvSpPr>
              <p:cNvPr id="69" name="TextBox 69"/>
              <p:cNvSpPr txBox="1"/>
              <p:nvPr/>
            </p:nvSpPr>
            <p:spPr>
              <a:xfrm>
                <a:off x="2985706" y="4262676"/>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资源：</a:t>
                </a:r>
              </a:p>
            </p:txBody>
          </p:sp>
          <p:sp>
            <p:nvSpPr>
              <p:cNvPr id="70" name="TextBox 70"/>
              <p:cNvSpPr txBox="1"/>
              <p:nvPr/>
            </p:nvSpPr>
            <p:spPr>
              <a:xfrm>
                <a:off x="2986088" y="4484370"/>
                <a:ext cx="868032" cy="176212"/>
              </a:xfrm>
              <a:prstGeom prst="rect">
                <a:avLst/>
              </a:prstGeom>
              <a:noFill/>
              <a:ln>
                <a:noFill/>
              </a:ln>
            </p:spPr>
            <p:txBody>
              <a:bodyPr wrap="none" lIns="0" tIns="0" rIns="0" bIns="0" anchor="t" anchorCtr="0">
                <a:spAutoFit/>
              </a:bodyPr>
              <a:lstStyle/>
              <a:p>
                <a:pPr algn="l"/>
                <a:r>
                  <a:rPr lang="zh-CN" sz="900" dirty="0">
                    <a:solidFill>
                      <a:srgbClr val="E8E8E8"/>
                    </a:solidFill>
                    <a:latin typeface="+mn-lt"/>
                    <a:ea typeface="+mn-ea"/>
                    <a:cs typeface="+mn-cs"/>
                  </a:rPr>
                  <a:t>专属KAM+月访​</a:t>
                </a:r>
              </a:p>
            </p:txBody>
          </p:sp>
          <p:grpSp>
            <p:nvGrpSpPr>
              <p:cNvPr id="73" name="Group 73"/>
              <p:cNvGrpSpPr/>
              <p:nvPr/>
            </p:nvGrpSpPr>
            <p:grpSpPr>
              <a:xfrm>
                <a:off x="2774950" y="5191724"/>
                <a:ext cx="88900" cy="113701"/>
                <a:chOff x="2774950" y="5191724"/>
                <a:chExt cx="88900" cy="113701"/>
              </a:xfrm>
            </p:grpSpPr>
            <p:sp>
              <p:nvSpPr>
                <p:cNvPr id="71" name="Freeform 71"/>
                <p:cNvSpPr/>
                <p:nvPr/>
              </p:nvSpPr>
              <p:spPr>
                <a:xfrm>
                  <a:off x="2774950" y="5191724"/>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FFFFFF"/>
                  </a:solidFill>
                </a:ln>
              </p:spPr>
            </p:sp>
            <p:sp>
              <p:nvSpPr>
                <p:cNvPr id="72" name="Freeform 72"/>
                <p:cNvSpPr/>
                <p:nvPr/>
              </p:nvSpPr>
              <p:spPr>
                <a:xfrm>
                  <a:off x="2774950" y="5260975"/>
                  <a:ext cx="9525" cy="44450"/>
                </a:xfrm>
                <a:custGeom>
                  <a:avLst/>
                  <a:gdLst/>
                  <a:ahLst/>
                  <a:cxnLst/>
                  <a:rect l="l" t="t" r="r" b="b"/>
                  <a:pathLst>
                    <a:path w="9525" h="44450">
                      <a:moveTo>
                        <a:pt x="0" y="44450"/>
                      </a:moveTo>
                      <a:lnTo>
                        <a:pt x="0" y="0"/>
                      </a:lnTo>
                    </a:path>
                  </a:pathLst>
                </a:custGeom>
                <a:noFill/>
                <a:ln w="12700">
                  <a:solidFill>
                    <a:srgbClr val="FFFFFF"/>
                  </a:solidFill>
                </a:ln>
              </p:spPr>
            </p:sp>
          </p:grpSp>
          <p:sp>
            <p:nvSpPr>
              <p:cNvPr id="74" name="TextBox 74"/>
              <p:cNvSpPr txBox="1"/>
              <p:nvPr/>
            </p:nvSpPr>
            <p:spPr>
              <a:xfrm>
                <a:off x="2985706" y="5186601"/>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目标：</a:t>
                </a:r>
              </a:p>
            </p:txBody>
          </p:sp>
          <p:sp>
            <p:nvSpPr>
              <p:cNvPr id="75" name="TextBox 75"/>
              <p:cNvSpPr txBox="1"/>
              <p:nvPr/>
            </p:nvSpPr>
            <p:spPr>
              <a:xfrm>
                <a:off x="2986088" y="5408295"/>
                <a:ext cx="494157" cy="176212"/>
              </a:xfrm>
              <a:prstGeom prst="rect">
                <a:avLst/>
              </a:prstGeom>
              <a:noFill/>
              <a:ln>
                <a:noFill/>
              </a:ln>
            </p:spPr>
            <p:txBody>
              <a:bodyPr wrap="none" lIns="0" tIns="0" rIns="0" bIns="0" anchor="t" anchorCtr="0">
                <a:spAutoFit/>
              </a:bodyPr>
              <a:lstStyle/>
              <a:p>
                <a:pPr algn="l"/>
                <a:r>
                  <a:rPr lang="zh-CN" sz="900" dirty="0">
                    <a:solidFill>
                      <a:srgbClr val="E8E8E8"/>
                    </a:solidFill>
                    <a:latin typeface="+mn-lt"/>
                    <a:ea typeface="+mn-ea"/>
                    <a:cs typeface="+mn-cs"/>
                  </a:rPr>
                  <a:t>稳定份额</a:t>
                </a:r>
              </a:p>
            </p:txBody>
          </p:sp>
        </p:grpSp>
        <p:grpSp>
          <p:nvGrpSpPr>
            <p:cNvPr id="108" name="tier-b"/>
            <p:cNvGrpSpPr/>
            <p:nvPr/>
          </p:nvGrpSpPr>
          <p:grpSpPr>
            <a:xfrm>
              <a:off x="4762500" y="1619250"/>
              <a:ext cx="2114550" cy="4648200"/>
              <a:chOff x="4762500" y="1619250"/>
              <a:chExt cx="2114550" cy="4648200"/>
            </a:xfrm>
          </p:grpSpPr>
          <p:sp>
            <p:nvSpPr>
              <p:cNvPr id="77" name="Rectangle 77"/>
              <p:cNvSpPr/>
              <p:nvPr/>
            </p:nvSpPr>
            <p:spPr>
              <a:xfrm>
                <a:off x="4762500" y="1619250"/>
                <a:ext cx="2114550" cy="4648200"/>
              </a:xfrm>
              <a:prstGeom prst="roundRect">
                <a:avLst>
                  <a:gd name="adj" fmla="val 2703"/>
                </a:avLst>
              </a:prstGeom>
              <a:solidFill>
                <a:srgbClr val="8B321E"/>
              </a:solidFill>
              <a:ln>
                <a:noFill/>
              </a:ln>
            </p:spPr>
          </p:sp>
          <p:sp>
            <p:nvSpPr>
              <p:cNvPr id="78" name="Ellipse 78"/>
              <p:cNvSpPr/>
              <p:nvPr/>
            </p:nvSpPr>
            <p:spPr>
              <a:xfrm>
                <a:off x="4924425" y="1838325"/>
                <a:ext cx="361950" cy="361950"/>
              </a:xfrm>
              <a:prstGeom prst="ellipse">
                <a:avLst/>
              </a:prstGeom>
              <a:noFill/>
              <a:ln w="19050">
                <a:solidFill>
                  <a:srgbClr val="FFFFFF"/>
                </a:solidFill>
              </a:ln>
            </p:spPr>
          </p:sp>
          <p:sp>
            <p:nvSpPr>
              <p:cNvPr id="79" name="TextBox 79"/>
              <p:cNvSpPr txBox="1"/>
              <p:nvPr/>
            </p:nvSpPr>
            <p:spPr>
              <a:xfrm>
                <a:off x="5036172" y="1924050"/>
                <a:ext cx="138455"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mn-lt"/>
                    <a:ea typeface="+mn-ea"/>
                    <a:cs typeface="+mn-cs"/>
                  </a:rPr>
                  <a:t>B</a:t>
                </a:r>
              </a:p>
            </p:txBody>
          </p:sp>
          <p:sp>
            <p:nvSpPr>
              <p:cNvPr id="80" name="TextBox 80"/>
              <p:cNvSpPr txBox="1"/>
              <p:nvPr/>
            </p:nvSpPr>
            <p:spPr>
              <a:xfrm>
                <a:off x="5383911" y="1827371"/>
                <a:ext cx="322282"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B级</a:t>
                </a:r>
              </a:p>
            </p:txBody>
          </p:sp>
          <p:sp>
            <p:nvSpPr>
              <p:cNvPr id="81" name="TextBox 81"/>
              <p:cNvSpPr txBox="1"/>
              <p:nvPr/>
            </p:nvSpPr>
            <p:spPr>
              <a:xfrm>
                <a:off x="5386388" y="2078593"/>
                <a:ext cx="704164" cy="169069"/>
              </a:xfrm>
              <a:prstGeom prst="rect">
                <a:avLst/>
              </a:prstGeom>
              <a:noFill/>
              <a:ln>
                <a:noFill/>
              </a:ln>
            </p:spPr>
            <p:txBody>
              <a:bodyPr wrap="none" lIns="0" tIns="0" rIns="0" bIns="0" anchor="t" anchorCtr="0">
                <a:spAutoFit/>
              </a:bodyPr>
              <a:lstStyle/>
              <a:p>
                <a:pPr algn="l"/>
                <a:r>
                  <a:rPr lang="zh-CN" sz="860" dirty="0">
                    <a:solidFill>
                      <a:srgbClr val="F0DBDE"/>
                    </a:solidFill>
                    <a:latin typeface="+mn-lt"/>
                    <a:ea typeface="+mn-ea"/>
                    <a:cs typeface="+mn-cs"/>
                  </a:rPr>
                  <a:t>（重要客户）</a:t>
                </a:r>
              </a:p>
            </p:txBody>
          </p:sp>
          <p:grpSp>
            <p:nvGrpSpPr>
              <p:cNvPr id="84" name="Group 84"/>
              <p:cNvGrpSpPr/>
              <p:nvPr/>
            </p:nvGrpSpPr>
            <p:grpSpPr>
              <a:xfrm>
                <a:off x="4972050" y="2419350"/>
                <a:ext cx="76200" cy="114300"/>
                <a:chOff x="4972050" y="2419350"/>
                <a:chExt cx="76200" cy="114300"/>
              </a:xfrm>
            </p:grpSpPr>
            <p:sp>
              <p:nvSpPr>
                <p:cNvPr id="82" name="Freeform 82"/>
                <p:cNvSpPr/>
                <p:nvPr/>
              </p:nvSpPr>
              <p:spPr>
                <a:xfrm>
                  <a:off x="4984750" y="2419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83" name="Freeform 83"/>
                <p:cNvSpPr/>
                <p:nvPr/>
              </p:nvSpPr>
              <p:spPr>
                <a:xfrm>
                  <a:off x="4972050" y="24955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grpSp>
          <p:sp>
            <p:nvSpPr>
              <p:cNvPr id="85" name="TextBox 85"/>
              <p:cNvSpPr txBox="1"/>
              <p:nvPr/>
            </p:nvSpPr>
            <p:spPr>
              <a:xfrm>
                <a:off x="5176456" y="2414826"/>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准入：</a:t>
                </a:r>
              </a:p>
            </p:txBody>
          </p:sp>
          <p:sp>
            <p:nvSpPr>
              <p:cNvPr id="86" name="TextBox 86"/>
              <p:cNvSpPr txBox="1"/>
              <p:nvPr/>
            </p:nvSpPr>
            <p:spPr>
              <a:xfrm>
                <a:off x="5176838" y="2636520"/>
                <a:ext cx="597141" cy="176212"/>
              </a:xfrm>
              <a:prstGeom prst="rect">
                <a:avLst/>
              </a:prstGeom>
              <a:noFill/>
              <a:ln>
                <a:noFill/>
              </a:ln>
            </p:spPr>
            <p:txBody>
              <a:bodyPr wrap="none" lIns="0" tIns="0" rIns="0" bIns="0" anchor="t" anchorCtr="0">
                <a:spAutoFit/>
              </a:bodyPr>
              <a:lstStyle/>
              <a:p>
                <a:pPr algn="l"/>
                <a:r>
                  <a:rPr lang="zh-CN" sz="900" dirty="0">
                    <a:solidFill>
                      <a:srgbClr val="F0DBDE"/>
                    </a:solidFill>
                    <a:latin typeface="+mn-lt"/>
                    <a:ea typeface="+mn-ea"/>
                    <a:cs typeface="+mn-cs"/>
                  </a:rPr>
                  <a:t>50-200万​</a:t>
                </a:r>
              </a:p>
            </p:txBody>
          </p:sp>
          <p:grpSp>
            <p:nvGrpSpPr>
              <p:cNvPr id="93" name="Group 93"/>
              <p:cNvGrpSpPr/>
              <p:nvPr/>
            </p:nvGrpSpPr>
            <p:grpSpPr>
              <a:xfrm>
                <a:off x="4953000" y="3343275"/>
                <a:ext cx="114300" cy="114300"/>
                <a:chOff x="4953000" y="3343275"/>
                <a:chExt cx="114300" cy="114300"/>
              </a:xfrm>
            </p:grpSpPr>
            <p:sp>
              <p:nvSpPr>
                <p:cNvPr id="87" name="Freeform 87"/>
                <p:cNvSpPr/>
                <p:nvPr/>
              </p:nvSpPr>
              <p:spPr>
                <a:xfrm>
                  <a:off x="4997450" y="33940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88" name="Freeform 88"/>
                <p:cNvSpPr/>
                <p:nvPr/>
              </p:nvSpPr>
              <p:spPr>
                <a:xfrm>
                  <a:off x="4984750" y="3438525"/>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FFFFFF"/>
                  </a:solidFill>
                </a:ln>
              </p:spPr>
            </p:sp>
            <p:sp>
              <p:nvSpPr>
                <p:cNvPr id="89" name="Freeform 89"/>
                <p:cNvSpPr/>
                <p:nvPr/>
              </p:nvSpPr>
              <p:spPr>
                <a:xfrm>
                  <a:off x="5029200" y="33432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90" name="Freeform 90"/>
                <p:cNvSpPr/>
                <p:nvPr/>
              </p:nvSpPr>
              <p:spPr>
                <a:xfrm>
                  <a:off x="5041900" y="3387725"/>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FFFFFF"/>
                  </a:solidFill>
                </a:ln>
              </p:spPr>
            </p:sp>
            <p:sp>
              <p:nvSpPr>
                <p:cNvPr id="91" name="Freeform 91"/>
                <p:cNvSpPr/>
                <p:nvPr/>
              </p:nvSpPr>
              <p:spPr>
                <a:xfrm>
                  <a:off x="4965700" y="33432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92" name="Freeform 92"/>
                <p:cNvSpPr/>
                <p:nvPr/>
              </p:nvSpPr>
              <p:spPr>
                <a:xfrm>
                  <a:off x="4953000" y="3387725"/>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FFFFFF"/>
                  </a:solidFill>
                </a:ln>
              </p:spPr>
            </p:sp>
          </p:grpSp>
          <p:sp>
            <p:nvSpPr>
              <p:cNvPr id="94" name="TextBox 94"/>
              <p:cNvSpPr txBox="1"/>
              <p:nvPr/>
            </p:nvSpPr>
            <p:spPr>
              <a:xfrm>
                <a:off x="5176456" y="3338751"/>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数量：</a:t>
                </a:r>
              </a:p>
            </p:txBody>
          </p:sp>
          <p:sp>
            <p:nvSpPr>
              <p:cNvPr id="95" name="TextBox 95"/>
              <p:cNvSpPr txBox="1"/>
              <p:nvPr/>
            </p:nvSpPr>
            <p:spPr>
              <a:xfrm>
                <a:off x="5175123" y="3558064"/>
                <a:ext cx="981356" cy="249364"/>
              </a:xfrm>
              <a:prstGeom prst="rect">
                <a:avLst/>
              </a:prstGeom>
              <a:noFill/>
              <a:ln>
                <a:noFill/>
              </a:ln>
            </p:spPr>
            <p:txBody>
              <a:bodyPr wrap="none" lIns="0" tIns="0" rIns="0" bIns="0" anchor="t" anchorCtr="0">
                <a:spAutoFit/>
              </a:bodyPr>
              <a:lstStyle/>
              <a:p>
                <a:pPr algn="l"/>
                <a:r>
                  <a:rPr lang="zh-CN" sz="1280" b="1" dirty="0">
                    <a:solidFill>
                      <a:srgbClr val="C97263"/>
                    </a:solidFill>
                    <a:latin typeface="+mn-lt"/>
                    <a:ea typeface="+mn-ea"/>
                    <a:cs typeface="+mn-cs"/>
                  </a:rPr>
                  <a:t>100-200家​</a:t>
                </a:r>
              </a:p>
            </p:txBody>
          </p:sp>
          <p:grpSp>
            <p:nvGrpSpPr>
              <p:cNvPr id="100" name="Group 100"/>
              <p:cNvGrpSpPr/>
              <p:nvPr/>
            </p:nvGrpSpPr>
            <p:grpSpPr>
              <a:xfrm>
                <a:off x="4953000" y="4267200"/>
                <a:ext cx="114300" cy="107950"/>
                <a:chOff x="4953000" y="4267200"/>
                <a:chExt cx="114300" cy="107950"/>
              </a:xfrm>
            </p:grpSpPr>
            <p:sp>
              <p:nvSpPr>
                <p:cNvPr id="96" name="Freeform 96"/>
                <p:cNvSpPr/>
                <p:nvPr/>
              </p:nvSpPr>
              <p:spPr>
                <a:xfrm>
                  <a:off x="4953000" y="4292600"/>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FFFFFF"/>
                  </a:solidFill>
                </a:ln>
              </p:spPr>
            </p:sp>
            <p:sp>
              <p:nvSpPr>
                <p:cNvPr id="97" name="Freeform 97"/>
                <p:cNvSpPr/>
                <p:nvPr/>
              </p:nvSpPr>
              <p:spPr>
                <a:xfrm>
                  <a:off x="4984750" y="4267200"/>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FFFFFF"/>
                  </a:solidFill>
                </a:ln>
              </p:spPr>
            </p:sp>
            <p:sp>
              <p:nvSpPr>
                <p:cNvPr id="98" name="Freeform 98"/>
                <p:cNvSpPr/>
                <p:nvPr/>
              </p:nvSpPr>
              <p:spPr>
                <a:xfrm>
                  <a:off x="5010150" y="432435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99" name="Freeform 99"/>
                <p:cNvSpPr/>
                <p:nvPr/>
              </p:nvSpPr>
              <p:spPr>
                <a:xfrm>
                  <a:off x="4953000" y="4330700"/>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FFFFFF"/>
                  </a:solidFill>
                </a:ln>
              </p:spPr>
            </p:sp>
          </p:grpSp>
          <p:sp>
            <p:nvSpPr>
              <p:cNvPr id="101" name="TextBox 101"/>
              <p:cNvSpPr txBox="1"/>
              <p:nvPr/>
            </p:nvSpPr>
            <p:spPr>
              <a:xfrm>
                <a:off x="5176456" y="4262676"/>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资源：</a:t>
                </a:r>
              </a:p>
            </p:txBody>
          </p:sp>
          <p:sp>
            <p:nvSpPr>
              <p:cNvPr id="102" name="TextBox 102"/>
              <p:cNvSpPr txBox="1"/>
              <p:nvPr/>
            </p:nvSpPr>
            <p:spPr>
              <a:xfrm>
                <a:off x="5176838" y="4484370"/>
                <a:ext cx="868032" cy="176212"/>
              </a:xfrm>
              <a:prstGeom prst="rect">
                <a:avLst/>
              </a:prstGeom>
              <a:noFill/>
              <a:ln>
                <a:noFill/>
              </a:ln>
            </p:spPr>
            <p:txBody>
              <a:bodyPr wrap="none" lIns="0" tIns="0" rIns="0" bIns="0" anchor="t" anchorCtr="0">
                <a:spAutoFit/>
              </a:bodyPr>
              <a:lstStyle/>
              <a:p>
                <a:pPr algn="l"/>
                <a:r>
                  <a:rPr lang="zh-CN" sz="900" dirty="0">
                    <a:solidFill>
                      <a:srgbClr val="F0DBDE"/>
                    </a:solidFill>
                    <a:latin typeface="+mn-lt"/>
                    <a:ea typeface="+mn-ea"/>
                    <a:cs typeface="+mn-cs"/>
                  </a:rPr>
                  <a:t>区域KAM+季访​</a:t>
                </a:r>
              </a:p>
            </p:txBody>
          </p:sp>
          <p:grpSp>
            <p:nvGrpSpPr>
              <p:cNvPr id="105" name="Group 105"/>
              <p:cNvGrpSpPr/>
              <p:nvPr/>
            </p:nvGrpSpPr>
            <p:grpSpPr>
              <a:xfrm>
                <a:off x="4965700" y="5191724"/>
                <a:ext cx="88900" cy="113701"/>
                <a:chOff x="4965700" y="5191724"/>
                <a:chExt cx="88900" cy="113701"/>
              </a:xfrm>
            </p:grpSpPr>
            <p:sp>
              <p:nvSpPr>
                <p:cNvPr id="103" name="Freeform 103"/>
                <p:cNvSpPr/>
                <p:nvPr/>
              </p:nvSpPr>
              <p:spPr>
                <a:xfrm>
                  <a:off x="4965700" y="5191724"/>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FFFFFF"/>
                  </a:solidFill>
                </a:ln>
              </p:spPr>
            </p:sp>
            <p:sp>
              <p:nvSpPr>
                <p:cNvPr id="104" name="Freeform 104"/>
                <p:cNvSpPr/>
                <p:nvPr/>
              </p:nvSpPr>
              <p:spPr>
                <a:xfrm>
                  <a:off x="4965700" y="5260975"/>
                  <a:ext cx="9525" cy="44450"/>
                </a:xfrm>
                <a:custGeom>
                  <a:avLst/>
                  <a:gdLst/>
                  <a:ahLst/>
                  <a:cxnLst/>
                  <a:rect l="l" t="t" r="r" b="b"/>
                  <a:pathLst>
                    <a:path w="9525" h="44450">
                      <a:moveTo>
                        <a:pt x="0" y="44450"/>
                      </a:moveTo>
                      <a:lnTo>
                        <a:pt x="0" y="0"/>
                      </a:lnTo>
                    </a:path>
                  </a:pathLst>
                </a:custGeom>
                <a:noFill/>
                <a:ln w="12700">
                  <a:solidFill>
                    <a:srgbClr val="FFFFFF"/>
                  </a:solidFill>
                </a:ln>
              </p:spPr>
            </p:sp>
          </p:grpSp>
          <p:sp>
            <p:nvSpPr>
              <p:cNvPr id="106" name="TextBox 106"/>
              <p:cNvSpPr txBox="1"/>
              <p:nvPr/>
            </p:nvSpPr>
            <p:spPr>
              <a:xfrm>
                <a:off x="5176456" y="5186601"/>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目标：</a:t>
                </a:r>
              </a:p>
            </p:txBody>
          </p:sp>
          <p:sp>
            <p:nvSpPr>
              <p:cNvPr id="107" name="TextBox 107"/>
              <p:cNvSpPr txBox="1"/>
              <p:nvPr/>
            </p:nvSpPr>
            <p:spPr>
              <a:xfrm>
                <a:off x="5176838" y="5408295"/>
                <a:ext cx="494157" cy="176212"/>
              </a:xfrm>
              <a:prstGeom prst="rect">
                <a:avLst/>
              </a:prstGeom>
              <a:noFill/>
              <a:ln>
                <a:noFill/>
              </a:ln>
            </p:spPr>
            <p:txBody>
              <a:bodyPr wrap="none" lIns="0" tIns="0" rIns="0" bIns="0" anchor="t" anchorCtr="0">
                <a:spAutoFit/>
              </a:bodyPr>
              <a:lstStyle/>
              <a:p>
                <a:pPr algn="l"/>
                <a:r>
                  <a:rPr lang="zh-CN" sz="900" dirty="0">
                    <a:solidFill>
                      <a:srgbClr val="F0DBDE"/>
                    </a:solidFill>
                    <a:latin typeface="+mn-lt"/>
                    <a:ea typeface="+mn-ea"/>
                    <a:cs typeface="+mn-cs"/>
                  </a:rPr>
                  <a:t>维持关系</a:t>
                </a:r>
              </a:p>
            </p:txBody>
          </p:sp>
        </p:grpSp>
        <p:grpSp>
          <p:nvGrpSpPr>
            <p:cNvPr id="140" name="tier-c"/>
            <p:cNvGrpSpPr/>
            <p:nvPr/>
          </p:nvGrpSpPr>
          <p:grpSpPr>
            <a:xfrm>
              <a:off x="6953250" y="1619250"/>
              <a:ext cx="2114550" cy="4648200"/>
              <a:chOff x="6953250" y="1619250"/>
              <a:chExt cx="2114550" cy="4648200"/>
            </a:xfrm>
          </p:grpSpPr>
          <p:sp>
            <p:nvSpPr>
              <p:cNvPr id="109" name="Rectangle 109"/>
              <p:cNvSpPr/>
              <p:nvPr/>
            </p:nvSpPr>
            <p:spPr>
              <a:xfrm>
                <a:off x="6953250" y="1619250"/>
                <a:ext cx="2114550" cy="4648200"/>
              </a:xfrm>
              <a:prstGeom prst="roundRect">
                <a:avLst>
                  <a:gd name="adj" fmla="val 2703"/>
                </a:avLst>
              </a:prstGeom>
              <a:solidFill>
                <a:srgbClr val="6B6B6B"/>
              </a:solidFill>
              <a:ln>
                <a:noFill/>
              </a:ln>
            </p:spPr>
          </p:sp>
          <p:sp>
            <p:nvSpPr>
              <p:cNvPr id="110" name="Ellipse 110"/>
              <p:cNvSpPr/>
              <p:nvPr/>
            </p:nvSpPr>
            <p:spPr>
              <a:xfrm>
                <a:off x="7115175" y="1838325"/>
                <a:ext cx="361950" cy="361950"/>
              </a:xfrm>
              <a:prstGeom prst="ellipse">
                <a:avLst/>
              </a:prstGeom>
              <a:noFill/>
              <a:ln w="19050">
                <a:solidFill>
                  <a:srgbClr val="FFFFFF"/>
                </a:solidFill>
              </a:ln>
            </p:spPr>
          </p:sp>
          <p:sp>
            <p:nvSpPr>
              <p:cNvPr id="111" name="TextBox 111"/>
              <p:cNvSpPr txBox="1"/>
              <p:nvPr/>
            </p:nvSpPr>
            <p:spPr>
              <a:xfrm>
                <a:off x="7226922" y="1924050"/>
                <a:ext cx="138455"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mn-lt"/>
                    <a:ea typeface="+mn-ea"/>
                    <a:cs typeface="+mn-cs"/>
                  </a:rPr>
                  <a:t>C</a:t>
                </a:r>
              </a:p>
            </p:txBody>
          </p:sp>
          <p:sp>
            <p:nvSpPr>
              <p:cNvPr id="112" name="TextBox 112"/>
              <p:cNvSpPr txBox="1"/>
              <p:nvPr/>
            </p:nvSpPr>
            <p:spPr>
              <a:xfrm>
                <a:off x="7574661" y="1827371"/>
                <a:ext cx="322282"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C级</a:t>
                </a:r>
              </a:p>
            </p:txBody>
          </p:sp>
          <p:sp>
            <p:nvSpPr>
              <p:cNvPr id="113" name="TextBox 113"/>
              <p:cNvSpPr txBox="1"/>
              <p:nvPr/>
            </p:nvSpPr>
            <p:spPr>
              <a:xfrm>
                <a:off x="7577138" y="2078593"/>
                <a:ext cx="704164" cy="169069"/>
              </a:xfrm>
              <a:prstGeom prst="rect">
                <a:avLst/>
              </a:prstGeom>
              <a:noFill/>
              <a:ln>
                <a:noFill/>
              </a:ln>
            </p:spPr>
            <p:txBody>
              <a:bodyPr wrap="none" lIns="0" tIns="0" rIns="0" bIns="0" anchor="t" anchorCtr="0">
                <a:spAutoFit/>
              </a:bodyPr>
              <a:lstStyle/>
              <a:p>
                <a:pPr algn="l"/>
                <a:r>
                  <a:rPr lang="zh-CN" sz="860" dirty="0">
                    <a:solidFill>
                      <a:srgbClr val="E8E8E8"/>
                    </a:solidFill>
                    <a:latin typeface="+mn-lt"/>
                    <a:ea typeface="+mn-ea"/>
                    <a:cs typeface="+mn-cs"/>
                  </a:rPr>
                  <a:t>（普通客户）</a:t>
                </a:r>
              </a:p>
            </p:txBody>
          </p:sp>
          <p:grpSp>
            <p:nvGrpSpPr>
              <p:cNvPr id="116" name="Group 116"/>
              <p:cNvGrpSpPr/>
              <p:nvPr/>
            </p:nvGrpSpPr>
            <p:grpSpPr>
              <a:xfrm>
                <a:off x="7162800" y="2419350"/>
                <a:ext cx="76200" cy="114300"/>
                <a:chOff x="7162800" y="2419350"/>
                <a:chExt cx="76200" cy="114300"/>
              </a:xfrm>
            </p:grpSpPr>
            <p:sp>
              <p:nvSpPr>
                <p:cNvPr id="114" name="Freeform 114"/>
                <p:cNvSpPr/>
                <p:nvPr/>
              </p:nvSpPr>
              <p:spPr>
                <a:xfrm>
                  <a:off x="7175500" y="24193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FFFFFF"/>
                  </a:solidFill>
                </a:ln>
              </p:spPr>
            </p:sp>
            <p:sp>
              <p:nvSpPr>
                <p:cNvPr id="115" name="Freeform 115"/>
                <p:cNvSpPr/>
                <p:nvPr/>
              </p:nvSpPr>
              <p:spPr>
                <a:xfrm>
                  <a:off x="7162800" y="24955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FFFFFF"/>
                  </a:solidFill>
                </a:ln>
              </p:spPr>
            </p:sp>
          </p:grpSp>
          <p:sp>
            <p:nvSpPr>
              <p:cNvPr id="117" name="TextBox 117"/>
              <p:cNvSpPr txBox="1"/>
              <p:nvPr/>
            </p:nvSpPr>
            <p:spPr>
              <a:xfrm>
                <a:off x="7367206" y="2414826"/>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准入：</a:t>
                </a:r>
              </a:p>
            </p:txBody>
          </p:sp>
          <p:sp>
            <p:nvSpPr>
              <p:cNvPr id="118" name="TextBox 118"/>
              <p:cNvSpPr txBox="1"/>
              <p:nvPr/>
            </p:nvSpPr>
            <p:spPr>
              <a:xfrm>
                <a:off x="7367588" y="2636520"/>
                <a:ext cx="397231" cy="176212"/>
              </a:xfrm>
              <a:prstGeom prst="rect">
                <a:avLst/>
              </a:prstGeom>
              <a:noFill/>
              <a:ln>
                <a:noFill/>
              </a:ln>
            </p:spPr>
            <p:txBody>
              <a:bodyPr wrap="none" lIns="0" tIns="0" rIns="0" bIns="0" anchor="t" anchorCtr="0">
                <a:spAutoFit/>
              </a:bodyPr>
              <a:lstStyle/>
              <a:p>
                <a:pPr algn="l"/>
                <a:r>
                  <a:rPr lang="zh-CN" sz="900" dirty="0">
                    <a:solidFill>
                      <a:srgbClr val="E8E8E8"/>
                    </a:solidFill>
                    <a:latin typeface="+mn-lt"/>
                    <a:ea typeface="+mn-ea"/>
                    <a:cs typeface="+mn-cs"/>
                  </a:rPr>
                  <a:t>&lt;50万​</a:t>
                </a:r>
              </a:p>
            </p:txBody>
          </p:sp>
          <p:grpSp>
            <p:nvGrpSpPr>
              <p:cNvPr id="125" name="Group 125"/>
              <p:cNvGrpSpPr/>
              <p:nvPr/>
            </p:nvGrpSpPr>
            <p:grpSpPr>
              <a:xfrm>
                <a:off x="7143750" y="3343275"/>
                <a:ext cx="114300" cy="114300"/>
                <a:chOff x="7143750" y="3343275"/>
                <a:chExt cx="114300" cy="114300"/>
              </a:xfrm>
            </p:grpSpPr>
            <p:sp>
              <p:nvSpPr>
                <p:cNvPr id="119" name="Freeform 119"/>
                <p:cNvSpPr/>
                <p:nvPr/>
              </p:nvSpPr>
              <p:spPr>
                <a:xfrm>
                  <a:off x="7188200" y="33940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20" name="Freeform 120"/>
                <p:cNvSpPr/>
                <p:nvPr/>
              </p:nvSpPr>
              <p:spPr>
                <a:xfrm>
                  <a:off x="7175500" y="3438525"/>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FFFFFF"/>
                  </a:solidFill>
                </a:ln>
              </p:spPr>
            </p:sp>
            <p:sp>
              <p:nvSpPr>
                <p:cNvPr id="121" name="Freeform 121"/>
                <p:cNvSpPr/>
                <p:nvPr/>
              </p:nvSpPr>
              <p:spPr>
                <a:xfrm>
                  <a:off x="7219950" y="33432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22" name="Freeform 122"/>
                <p:cNvSpPr/>
                <p:nvPr/>
              </p:nvSpPr>
              <p:spPr>
                <a:xfrm>
                  <a:off x="7232650" y="3387725"/>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FFFFFF"/>
                  </a:solidFill>
                </a:ln>
              </p:spPr>
            </p:sp>
            <p:sp>
              <p:nvSpPr>
                <p:cNvPr id="123" name="Freeform 123"/>
                <p:cNvSpPr/>
                <p:nvPr/>
              </p:nvSpPr>
              <p:spPr>
                <a:xfrm>
                  <a:off x="7156450" y="3343275"/>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FFFFFF"/>
                  </a:solidFill>
                </a:ln>
              </p:spPr>
            </p:sp>
            <p:sp>
              <p:nvSpPr>
                <p:cNvPr id="124" name="Freeform 124"/>
                <p:cNvSpPr/>
                <p:nvPr/>
              </p:nvSpPr>
              <p:spPr>
                <a:xfrm>
                  <a:off x="7143750" y="3387725"/>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FFFFFF"/>
                  </a:solidFill>
                </a:ln>
              </p:spPr>
            </p:sp>
          </p:grpSp>
          <p:sp>
            <p:nvSpPr>
              <p:cNvPr id="126" name="TextBox 126"/>
              <p:cNvSpPr txBox="1"/>
              <p:nvPr/>
            </p:nvSpPr>
            <p:spPr>
              <a:xfrm>
                <a:off x="7367206" y="3338751"/>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数量：</a:t>
                </a:r>
              </a:p>
            </p:txBody>
          </p:sp>
          <p:sp>
            <p:nvSpPr>
              <p:cNvPr id="127" name="TextBox 127"/>
              <p:cNvSpPr txBox="1"/>
              <p:nvPr/>
            </p:nvSpPr>
            <p:spPr>
              <a:xfrm>
                <a:off x="7365873" y="3558064"/>
                <a:ext cx="529895" cy="249364"/>
              </a:xfrm>
              <a:prstGeom prst="rect">
                <a:avLst/>
              </a:prstGeom>
              <a:noFill/>
              <a:ln>
                <a:noFill/>
              </a:ln>
            </p:spPr>
            <p:txBody>
              <a:bodyPr wrap="none" lIns="0" tIns="0" rIns="0" bIns="0" anchor="t" anchorCtr="0">
                <a:spAutoFit/>
              </a:bodyPr>
              <a:lstStyle/>
              <a:p>
                <a:pPr algn="l"/>
                <a:r>
                  <a:rPr lang="zh-CN" sz="1280" b="1" dirty="0">
                    <a:solidFill>
                      <a:srgbClr val="C97263"/>
                    </a:solidFill>
                    <a:latin typeface="+mn-lt"/>
                    <a:ea typeface="+mn-ea"/>
                    <a:cs typeface="+mn-cs"/>
                  </a:rPr>
                  <a:t>无限制</a:t>
                </a:r>
              </a:p>
            </p:txBody>
          </p:sp>
          <p:grpSp>
            <p:nvGrpSpPr>
              <p:cNvPr id="132" name="Group 132"/>
              <p:cNvGrpSpPr/>
              <p:nvPr/>
            </p:nvGrpSpPr>
            <p:grpSpPr>
              <a:xfrm>
                <a:off x="7143750" y="4267200"/>
                <a:ext cx="114300" cy="107950"/>
                <a:chOff x="7143750" y="4267200"/>
                <a:chExt cx="114300" cy="107950"/>
              </a:xfrm>
            </p:grpSpPr>
            <p:sp>
              <p:nvSpPr>
                <p:cNvPr id="128" name="Freeform 128"/>
                <p:cNvSpPr/>
                <p:nvPr/>
              </p:nvSpPr>
              <p:spPr>
                <a:xfrm>
                  <a:off x="7143750" y="4292600"/>
                  <a:ext cx="114300" cy="82550"/>
                </a:xfrm>
                <a:custGeom>
                  <a:avLst/>
                  <a:gdLst/>
                  <a:ahLst/>
                  <a:cxnLst/>
                  <a:rect l="l" t="t" r="r" b="b"/>
                  <a:pathLst>
                    <a:path w="114300" h="82550">
                      <a:moveTo>
                        <a:pt x="0" y="12700"/>
                      </a:moveTo>
                      <a:cubicBezTo>
                        <a:pt x="0" y="5686"/>
                        <a:pt x="5686" y="0"/>
                        <a:pt x="12700" y="0"/>
                      </a:cubicBezTo>
                      <a:lnTo>
                        <a:pt x="101600" y="0"/>
                      </a:lnTo>
                      <a:cubicBezTo>
                        <a:pt x="108614" y="0"/>
                        <a:pt x="114300" y="5686"/>
                        <a:pt x="114300" y="12700"/>
                      </a:cubicBezTo>
                      <a:lnTo>
                        <a:pt x="114300" y="69850"/>
                      </a:lnTo>
                      <a:cubicBezTo>
                        <a:pt x="114300" y="76864"/>
                        <a:pt x="108614" y="82550"/>
                        <a:pt x="101600" y="82550"/>
                      </a:cubicBezTo>
                      <a:lnTo>
                        <a:pt x="12700" y="82550"/>
                      </a:lnTo>
                      <a:cubicBezTo>
                        <a:pt x="5686" y="82550"/>
                        <a:pt x="0" y="76864"/>
                        <a:pt x="0" y="69850"/>
                      </a:cubicBezTo>
                      <a:lnTo>
                        <a:pt x="0" y="12700"/>
                      </a:lnTo>
                    </a:path>
                  </a:pathLst>
                </a:custGeom>
                <a:noFill/>
                <a:ln w="12700">
                  <a:solidFill>
                    <a:srgbClr val="FFFFFF"/>
                  </a:solidFill>
                </a:ln>
              </p:spPr>
            </p:sp>
            <p:sp>
              <p:nvSpPr>
                <p:cNvPr id="129" name="Freeform 129"/>
                <p:cNvSpPr/>
                <p:nvPr/>
              </p:nvSpPr>
              <p:spPr>
                <a:xfrm>
                  <a:off x="7175500" y="4267200"/>
                  <a:ext cx="50800" cy="25400"/>
                </a:xfrm>
                <a:custGeom>
                  <a:avLst/>
                  <a:gdLst/>
                  <a:ahLst/>
                  <a:cxnLst/>
                  <a:rect l="l" t="t" r="r" b="b"/>
                  <a:pathLst>
                    <a:path w="50800" h="25400">
                      <a:moveTo>
                        <a:pt x="0" y="25400"/>
                      </a:moveTo>
                      <a:lnTo>
                        <a:pt x="0" y="12700"/>
                      </a:lnTo>
                      <a:cubicBezTo>
                        <a:pt x="0" y="5686"/>
                        <a:pt x="5686" y="0"/>
                        <a:pt x="12700" y="0"/>
                      </a:cubicBezTo>
                      <a:lnTo>
                        <a:pt x="38100" y="0"/>
                      </a:lnTo>
                      <a:cubicBezTo>
                        <a:pt x="45114" y="0"/>
                        <a:pt x="50800" y="5686"/>
                        <a:pt x="50800" y="12700"/>
                      </a:cubicBezTo>
                      <a:lnTo>
                        <a:pt x="50800" y="25400"/>
                      </a:lnTo>
                    </a:path>
                  </a:pathLst>
                </a:custGeom>
                <a:noFill/>
                <a:ln w="12700">
                  <a:solidFill>
                    <a:srgbClr val="FFFFFF"/>
                  </a:solidFill>
                </a:ln>
              </p:spPr>
            </p:sp>
            <p:sp>
              <p:nvSpPr>
                <p:cNvPr id="130" name="Freeform 130"/>
                <p:cNvSpPr/>
                <p:nvPr/>
              </p:nvSpPr>
              <p:spPr>
                <a:xfrm>
                  <a:off x="7200900" y="4324350"/>
                  <a:ext cx="9525" cy="9525"/>
                </a:xfrm>
                <a:custGeom>
                  <a:avLst/>
                  <a:gdLst/>
                  <a:ahLst/>
                  <a:cxnLst/>
                  <a:rect l="l" t="t" r="r" b="b"/>
                  <a:pathLst>
                    <a:path w="9525" h="9525">
                      <a:moveTo>
                        <a:pt x="0" y="0"/>
                      </a:moveTo>
                      <a:lnTo>
                        <a:pt x="0" y="64"/>
                      </a:lnTo>
                    </a:path>
                  </a:pathLst>
                </a:custGeom>
                <a:noFill/>
                <a:ln w="12700">
                  <a:solidFill>
                    <a:srgbClr val="FFFFFF"/>
                  </a:solidFill>
                </a:ln>
              </p:spPr>
            </p:sp>
            <p:sp>
              <p:nvSpPr>
                <p:cNvPr id="131" name="Freeform 131"/>
                <p:cNvSpPr/>
                <p:nvPr/>
              </p:nvSpPr>
              <p:spPr>
                <a:xfrm>
                  <a:off x="7143750" y="4330700"/>
                  <a:ext cx="114300" cy="18114"/>
                </a:xfrm>
                <a:custGeom>
                  <a:avLst/>
                  <a:gdLst/>
                  <a:ahLst/>
                  <a:cxnLst/>
                  <a:rect l="l" t="t" r="r" b="b"/>
                  <a:pathLst>
                    <a:path w="114300" h="18114">
                      <a:moveTo>
                        <a:pt x="0" y="0"/>
                      </a:moveTo>
                      <a:cubicBezTo>
                        <a:pt x="35947" y="18114"/>
                        <a:pt x="78353" y="18114"/>
                        <a:pt x="114300" y="0"/>
                      </a:cubicBezTo>
                    </a:path>
                  </a:pathLst>
                </a:custGeom>
                <a:noFill/>
                <a:ln w="12700">
                  <a:solidFill>
                    <a:srgbClr val="FFFFFF"/>
                  </a:solidFill>
                </a:ln>
              </p:spPr>
            </p:sp>
          </p:grpSp>
          <p:sp>
            <p:nvSpPr>
              <p:cNvPr id="133" name="TextBox 133"/>
              <p:cNvSpPr txBox="1"/>
              <p:nvPr/>
            </p:nvSpPr>
            <p:spPr>
              <a:xfrm>
                <a:off x="7367206" y="4262676"/>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资源：</a:t>
                </a:r>
              </a:p>
            </p:txBody>
          </p:sp>
          <p:sp>
            <p:nvSpPr>
              <p:cNvPr id="134" name="TextBox 134"/>
              <p:cNvSpPr txBox="1"/>
              <p:nvPr/>
            </p:nvSpPr>
            <p:spPr>
              <a:xfrm>
                <a:off x="7367588" y="4484370"/>
                <a:ext cx="627431" cy="176212"/>
              </a:xfrm>
              <a:prstGeom prst="rect">
                <a:avLst/>
              </a:prstGeom>
              <a:noFill/>
              <a:ln>
                <a:noFill/>
              </a:ln>
            </p:spPr>
            <p:txBody>
              <a:bodyPr wrap="none" lIns="0" tIns="0" rIns="0" bIns="0" anchor="t" anchorCtr="0">
                <a:spAutoFit/>
              </a:bodyPr>
              <a:lstStyle/>
              <a:p>
                <a:pPr algn="l"/>
                <a:r>
                  <a:rPr lang="zh-CN" sz="900" dirty="0">
                    <a:solidFill>
                      <a:srgbClr val="E8E8E8"/>
                    </a:solidFill>
                    <a:latin typeface="+mn-lt"/>
                    <a:ea typeface="+mn-ea"/>
                    <a:cs typeface="+mn-cs"/>
                  </a:rPr>
                  <a:t>内勤+线上​</a:t>
                </a:r>
              </a:p>
            </p:txBody>
          </p:sp>
          <p:grpSp>
            <p:nvGrpSpPr>
              <p:cNvPr id="137" name="Group 137"/>
              <p:cNvGrpSpPr/>
              <p:nvPr/>
            </p:nvGrpSpPr>
            <p:grpSpPr>
              <a:xfrm>
                <a:off x="7156450" y="5191724"/>
                <a:ext cx="88900" cy="113701"/>
                <a:chOff x="7156450" y="5191724"/>
                <a:chExt cx="88900" cy="113701"/>
              </a:xfrm>
            </p:grpSpPr>
            <p:sp>
              <p:nvSpPr>
                <p:cNvPr id="135" name="Freeform 135"/>
                <p:cNvSpPr/>
                <p:nvPr/>
              </p:nvSpPr>
              <p:spPr>
                <a:xfrm>
                  <a:off x="7156450" y="5191724"/>
                  <a:ext cx="88900" cy="81353"/>
                </a:xfrm>
                <a:custGeom>
                  <a:avLst/>
                  <a:gdLst/>
                  <a:ahLst/>
                  <a:cxnLst/>
                  <a:rect l="l" t="t" r="r" b="b"/>
                  <a:pathLst>
                    <a:path w="88900" h="81353">
                      <a:moveTo>
                        <a:pt x="0" y="12101"/>
                      </a:moveTo>
                      <a:cubicBezTo>
                        <a:pt x="12346" y="0"/>
                        <a:pt x="32104" y="0"/>
                        <a:pt x="44450" y="12101"/>
                      </a:cubicBezTo>
                      <a:cubicBezTo>
                        <a:pt x="56796" y="24203"/>
                        <a:pt x="76554" y="24203"/>
                        <a:pt x="88900" y="12101"/>
                      </a:cubicBezTo>
                      <a:lnTo>
                        <a:pt x="88900" y="69251"/>
                      </a:lnTo>
                      <a:cubicBezTo>
                        <a:pt x="76554" y="81353"/>
                        <a:pt x="56796" y="81353"/>
                        <a:pt x="44450" y="69251"/>
                      </a:cubicBezTo>
                      <a:cubicBezTo>
                        <a:pt x="32104" y="57150"/>
                        <a:pt x="12346" y="57150"/>
                        <a:pt x="0" y="69251"/>
                      </a:cubicBezTo>
                      <a:lnTo>
                        <a:pt x="0" y="12101"/>
                      </a:lnTo>
                    </a:path>
                  </a:pathLst>
                </a:custGeom>
                <a:noFill/>
                <a:ln w="12700">
                  <a:solidFill>
                    <a:srgbClr val="FFFFFF"/>
                  </a:solidFill>
                </a:ln>
              </p:spPr>
            </p:sp>
            <p:sp>
              <p:nvSpPr>
                <p:cNvPr id="136" name="Freeform 136"/>
                <p:cNvSpPr/>
                <p:nvPr/>
              </p:nvSpPr>
              <p:spPr>
                <a:xfrm>
                  <a:off x="7156450" y="5260975"/>
                  <a:ext cx="9525" cy="44450"/>
                </a:xfrm>
                <a:custGeom>
                  <a:avLst/>
                  <a:gdLst/>
                  <a:ahLst/>
                  <a:cxnLst/>
                  <a:rect l="l" t="t" r="r" b="b"/>
                  <a:pathLst>
                    <a:path w="9525" h="44450">
                      <a:moveTo>
                        <a:pt x="0" y="44450"/>
                      </a:moveTo>
                      <a:lnTo>
                        <a:pt x="0" y="0"/>
                      </a:lnTo>
                    </a:path>
                  </a:pathLst>
                </a:custGeom>
                <a:noFill/>
                <a:ln w="12700">
                  <a:solidFill>
                    <a:srgbClr val="FFFFFF"/>
                  </a:solidFill>
                </a:ln>
              </p:spPr>
            </p:sp>
          </p:grpSp>
          <p:sp>
            <p:nvSpPr>
              <p:cNvPr id="138" name="TextBox 138"/>
              <p:cNvSpPr txBox="1"/>
              <p:nvPr/>
            </p:nvSpPr>
            <p:spPr>
              <a:xfrm>
                <a:off x="7367206" y="5186601"/>
                <a:ext cx="418186" cy="198025"/>
              </a:xfrm>
              <a:prstGeom prst="rect">
                <a:avLst/>
              </a:prstGeom>
              <a:noFill/>
              <a:ln>
                <a:noFill/>
              </a:ln>
            </p:spPr>
            <p:txBody>
              <a:bodyPr wrap="none" lIns="0" tIns="0" rIns="0" bIns="0" anchor="t" anchorCtr="0">
                <a:spAutoFit/>
              </a:bodyPr>
              <a:lstStyle/>
              <a:p>
                <a:pPr algn="l"/>
                <a:r>
                  <a:rPr lang="zh-CN" sz="1010" b="1" dirty="0">
                    <a:solidFill>
                      <a:srgbClr val="FFFFFF"/>
                    </a:solidFill>
                    <a:latin typeface="+mn-lt"/>
                    <a:ea typeface="+mn-ea"/>
                    <a:cs typeface="+mn-cs"/>
                  </a:rPr>
                  <a:t>目标：</a:t>
                </a:r>
              </a:p>
            </p:txBody>
          </p:sp>
          <p:sp>
            <p:nvSpPr>
              <p:cNvPr id="139" name="TextBox 139"/>
              <p:cNvSpPr txBox="1"/>
              <p:nvPr/>
            </p:nvSpPr>
            <p:spPr>
              <a:xfrm>
                <a:off x="7367588" y="5408295"/>
                <a:ext cx="615315" cy="176212"/>
              </a:xfrm>
              <a:prstGeom prst="rect">
                <a:avLst/>
              </a:prstGeom>
              <a:noFill/>
              <a:ln>
                <a:noFill/>
              </a:ln>
            </p:spPr>
            <p:txBody>
              <a:bodyPr wrap="none" lIns="0" tIns="0" rIns="0" bIns="0" anchor="t" anchorCtr="0">
                <a:spAutoFit/>
              </a:bodyPr>
              <a:lstStyle/>
              <a:p>
                <a:pPr algn="l"/>
                <a:r>
                  <a:rPr lang="zh-CN" sz="900" dirty="0">
                    <a:solidFill>
                      <a:srgbClr val="E8E8E8"/>
                    </a:solidFill>
                    <a:latin typeface="+mn-lt"/>
                    <a:ea typeface="+mn-ea"/>
                    <a:cs typeface="+mn-cs"/>
                  </a:rPr>
                  <a:t>标准化服务</a:t>
                </a:r>
              </a:p>
            </p:txBody>
          </p:sp>
        </p:grpSp>
      </p:grpSp>
      <p:grpSp>
        <p:nvGrpSpPr>
          <p:cNvPr id="175" name="adjust-panel"/>
          <p:cNvGrpSpPr/>
          <p:nvPr/>
        </p:nvGrpSpPr>
        <p:grpSpPr>
          <a:xfrm>
            <a:off x="9525000" y="1619250"/>
            <a:ext cx="2286000" cy="4648200"/>
            <a:chOff x="9525000" y="1619250"/>
            <a:chExt cx="2286000" cy="4648200"/>
          </a:xfrm>
        </p:grpSpPr>
        <p:sp>
          <p:nvSpPr>
            <p:cNvPr id="142" name="Rectangle 142"/>
            <p:cNvSpPr/>
            <p:nvPr/>
          </p:nvSpPr>
          <p:spPr>
            <a:xfrm>
              <a:off x="9525000" y="1619250"/>
              <a:ext cx="2286000" cy="4648200"/>
            </a:xfrm>
            <a:prstGeom prst="roundRect">
              <a:avLst>
                <a:gd name="adj" fmla="val 3333"/>
              </a:avLst>
            </a:prstGeom>
            <a:solidFill>
              <a:srgbClr val="FFFFFF"/>
            </a:solidFill>
            <a:ln w="19050">
              <a:solidFill>
                <a:srgbClr val="D9978C"/>
              </a:solidFill>
            </a:ln>
          </p:spPr>
        </p:sp>
        <p:sp>
          <p:nvSpPr>
            <p:cNvPr id="143" name="TextBox 143"/>
            <p:cNvSpPr txBox="1"/>
            <p:nvPr/>
          </p:nvSpPr>
          <p:spPr>
            <a:xfrm>
              <a:off x="10015728" y="1813560"/>
              <a:ext cx="1304544"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mn-lt"/>
                  <a:ea typeface="+mn-ea"/>
                  <a:cs typeface="+mn-cs"/>
                </a:rPr>
                <a:t>分层动态调整机制</a:t>
              </a:r>
            </a:p>
          </p:txBody>
        </p:sp>
        <p:sp>
          <p:nvSpPr>
            <p:cNvPr id="144" name="Line 144"/>
            <p:cNvSpPr/>
            <p:nvPr/>
          </p:nvSpPr>
          <p:spPr>
            <a:xfrm>
              <a:off x="9715500" y="2095500"/>
              <a:ext cx="1905000" cy="9525"/>
            </a:xfrm>
            <a:custGeom>
              <a:avLst/>
              <a:gdLst/>
              <a:ahLst/>
              <a:cxnLst/>
              <a:rect l="l" t="t" r="r" b="b"/>
              <a:pathLst>
                <a:path w="1905000" h="9525">
                  <a:moveTo>
                    <a:pt x="0" y="0"/>
                  </a:moveTo>
                  <a:lnTo>
                    <a:pt x="1905000" y="0"/>
                  </a:lnTo>
                </a:path>
              </a:pathLst>
            </a:custGeom>
            <a:noFill/>
            <a:ln w="9525">
              <a:solidFill>
                <a:srgbClr val="EAC3BC"/>
              </a:solidFill>
            </a:ln>
          </p:spPr>
        </p:sp>
        <p:grpSp>
          <p:nvGrpSpPr>
            <p:cNvPr id="155" name="adj-1"/>
            <p:cNvGrpSpPr/>
            <p:nvPr/>
          </p:nvGrpSpPr>
          <p:grpSpPr>
            <a:xfrm>
              <a:off x="9705975" y="2371725"/>
              <a:ext cx="1494397" cy="409337"/>
              <a:chOff x="9705975" y="2371725"/>
              <a:chExt cx="1494397" cy="409337"/>
            </a:xfrm>
          </p:grpSpPr>
          <p:sp>
            <p:nvSpPr>
              <p:cNvPr id="145" name="Ellipse 145"/>
              <p:cNvSpPr/>
              <p:nvPr/>
            </p:nvSpPr>
            <p:spPr>
              <a:xfrm>
                <a:off x="9705975" y="2371725"/>
                <a:ext cx="323850" cy="323850"/>
              </a:xfrm>
              <a:prstGeom prst="ellipse">
                <a:avLst/>
              </a:prstGeom>
              <a:noFill/>
              <a:ln w="14288">
                <a:solidFill>
                  <a:srgbClr val="C97263"/>
                </a:solidFill>
              </a:ln>
            </p:spPr>
          </p:sp>
          <p:grpSp>
            <p:nvGrpSpPr>
              <p:cNvPr id="152" name="Group 152"/>
              <p:cNvGrpSpPr/>
              <p:nvPr/>
            </p:nvGrpSpPr>
            <p:grpSpPr>
              <a:xfrm>
                <a:off x="9810750" y="2469356"/>
                <a:ext cx="114300" cy="128588"/>
                <a:chOff x="9810750" y="2469356"/>
                <a:chExt cx="114300" cy="128588"/>
              </a:xfrm>
            </p:grpSpPr>
            <p:sp>
              <p:nvSpPr>
                <p:cNvPr id="146" name="Freeform 146"/>
                <p:cNvSpPr/>
                <p:nvPr/>
              </p:nvSpPr>
              <p:spPr>
                <a:xfrm>
                  <a:off x="9810750" y="2483644"/>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C97263"/>
                  </a:solidFill>
                </a:ln>
              </p:spPr>
            </p:sp>
            <p:sp>
              <p:nvSpPr>
                <p:cNvPr id="147" name="Freeform 147"/>
                <p:cNvSpPr/>
                <p:nvPr/>
              </p:nvSpPr>
              <p:spPr>
                <a:xfrm>
                  <a:off x="9896475" y="2469356"/>
                  <a:ext cx="9525" cy="28575"/>
                </a:xfrm>
                <a:custGeom>
                  <a:avLst/>
                  <a:gdLst/>
                  <a:ahLst/>
                  <a:cxnLst/>
                  <a:rect l="l" t="t" r="r" b="b"/>
                  <a:pathLst>
                    <a:path w="9525" h="28575">
                      <a:moveTo>
                        <a:pt x="0" y="0"/>
                      </a:moveTo>
                      <a:lnTo>
                        <a:pt x="0" y="28575"/>
                      </a:lnTo>
                    </a:path>
                  </a:pathLst>
                </a:custGeom>
                <a:noFill/>
                <a:ln w="14288">
                  <a:solidFill>
                    <a:srgbClr val="C97263"/>
                  </a:solidFill>
                </a:ln>
              </p:spPr>
            </p:sp>
            <p:sp>
              <p:nvSpPr>
                <p:cNvPr id="148" name="Freeform 148"/>
                <p:cNvSpPr/>
                <p:nvPr/>
              </p:nvSpPr>
              <p:spPr>
                <a:xfrm>
                  <a:off x="9839325" y="2469356"/>
                  <a:ext cx="9525" cy="28575"/>
                </a:xfrm>
                <a:custGeom>
                  <a:avLst/>
                  <a:gdLst/>
                  <a:ahLst/>
                  <a:cxnLst/>
                  <a:rect l="l" t="t" r="r" b="b"/>
                  <a:pathLst>
                    <a:path w="9525" h="28575">
                      <a:moveTo>
                        <a:pt x="0" y="0"/>
                      </a:moveTo>
                      <a:lnTo>
                        <a:pt x="0" y="28575"/>
                      </a:lnTo>
                    </a:path>
                  </a:pathLst>
                </a:custGeom>
                <a:noFill/>
                <a:ln w="14288">
                  <a:solidFill>
                    <a:srgbClr val="C97263"/>
                  </a:solidFill>
                </a:ln>
              </p:spPr>
            </p:sp>
            <p:sp>
              <p:nvSpPr>
                <p:cNvPr id="149" name="Freeform 149"/>
                <p:cNvSpPr/>
                <p:nvPr/>
              </p:nvSpPr>
              <p:spPr>
                <a:xfrm>
                  <a:off x="9810750" y="2526506"/>
                  <a:ext cx="114300" cy="9525"/>
                </a:xfrm>
                <a:custGeom>
                  <a:avLst/>
                  <a:gdLst/>
                  <a:ahLst/>
                  <a:cxnLst/>
                  <a:rect l="l" t="t" r="r" b="b"/>
                  <a:pathLst>
                    <a:path w="114300" h="9525">
                      <a:moveTo>
                        <a:pt x="0" y="0"/>
                      </a:moveTo>
                      <a:lnTo>
                        <a:pt x="114300" y="0"/>
                      </a:lnTo>
                    </a:path>
                  </a:pathLst>
                </a:custGeom>
                <a:noFill/>
                <a:ln w="14288">
                  <a:solidFill>
                    <a:srgbClr val="C97263"/>
                  </a:solidFill>
                </a:ln>
              </p:spPr>
            </p:sp>
            <p:sp>
              <p:nvSpPr>
                <p:cNvPr id="150" name="Freeform 150"/>
                <p:cNvSpPr/>
                <p:nvPr/>
              </p:nvSpPr>
              <p:spPr>
                <a:xfrm>
                  <a:off x="9860756" y="2555081"/>
                  <a:ext cx="9525" cy="9525"/>
                </a:xfrm>
                <a:custGeom>
                  <a:avLst/>
                  <a:gdLst/>
                  <a:ahLst/>
                  <a:cxnLst/>
                  <a:rect l="l" t="t" r="r" b="b"/>
                  <a:pathLst>
                    <a:path w="9525" h="9525">
                      <a:moveTo>
                        <a:pt x="0" y="0"/>
                      </a:moveTo>
                      <a:lnTo>
                        <a:pt x="7144" y="0"/>
                      </a:lnTo>
                    </a:path>
                  </a:pathLst>
                </a:custGeom>
                <a:noFill/>
                <a:ln w="14288">
                  <a:solidFill>
                    <a:srgbClr val="C97263"/>
                  </a:solidFill>
                </a:ln>
              </p:spPr>
            </p:sp>
            <p:sp>
              <p:nvSpPr>
                <p:cNvPr id="151" name="Freeform 151"/>
                <p:cNvSpPr/>
                <p:nvPr/>
              </p:nvSpPr>
              <p:spPr>
                <a:xfrm>
                  <a:off x="9867900" y="2555081"/>
                  <a:ext cx="9525" cy="21431"/>
                </a:xfrm>
                <a:custGeom>
                  <a:avLst/>
                  <a:gdLst/>
                  <a:ahLst/>
                  <a:cxnLst/>
                  <a:rect l="l" t="t" r="r" b="b"/>
                  <a:pathLst>
                    <a:path w="9525" h="21431">
                      <a:moveTo>
                        <a:pt x="0" y="0"/>
                      </a:moveTo>
                      <a:lnTo>
                        <a:pt x="0" y="21431"/>
                      </a:lnTo>
                    </a:path>
                  </a:pathLst>
                </a:custGeom>
                <a:noFill/>
                <a:ln w="14288">
                  <a:solidFill>
                    <a:srgbClr val="C97263"/>
                  </a:solidFill>
                </a:ln>
              </p:spPr>
            </p:sp>
          </p:grpSp>
          <p:sp>
            <p:nvSpPr>
              <p:cNvPr id="153" name="TextBox 153"/>
              <p:cNvSpPr txBox="1"/>
              <p:nvPr/>
            </p:nvSpPr>
            <p:spPr>
              <a:xfrm>
                <a:off x="10148506" y="2386251"/>
                <a:ext cx="690118"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评估周期：</a:t>
                </a:r>
              </a:p>
            </p:txBody>
          </p:sp>
          <p:sp>
            <p:nvSpPr>
              <p:cNvPr id="154" name="TextBox 154"/>
              <p:cNvSpPr txBox="1"/>
              <p:nvPr/>
            </p:nvSpPr>
            <p:spPr>
              <a:xfrm>
                <a:off x="10148888" y="2611993"/>
                <a:ext cx="1051484" cy="169069"/>
              </a:xfrm>
              <a:prstGeom prst="rect">
                <a:avLst/>
              </a:prstGeom>
              <a:noFill/>
              <a:ln>
                <a:noFill/>
              </a:ln>
            </p:spPr>
            <p:txBody>
              <a:bodyPr wrap="none" lIns="0" tIns="0" rIns="0" bIns="0" anchor="t" anchorCtr="0">
                <a:spAutoFit/>
              </a:bodyPr>
              <a:lstStyle/>
              <a:p>
                <a:pPr algn="l"/>
                <a:r>
                  <a:rPr lang="zh-CN" sz="860" dirty="0">
                    <a:solidFill>
                      <a:srgbClr val="6A6A6A"/>
                    </a:solidFill>
                    <a:latin typeface="+mn-lt"/>
                    <a:ea typeface="+mn-ea"/>
                    <a:cs typeface="+mn-cs"/>
                  </a:rPr>
                  <a:t>每半年重新评估一次</a:t>
                </a:r>
              </a:p>
            </p:txBody>
          </p:sp>
        </p:grpSp>
        <p:grpSp>
          <p:nvGrpSpPr>
            <p:cNvPr id="162" name="adj-2"/>
            <p:cNvGrpSpPr/>
            <p:nvPr/>
          </p:nvGrpSpPr>
          <p:grpSpPr>
            <a:xfrm>
              <a:off x="9705975" y="3438525"/>
              <a:ext cx="1277049" cy="571262"/>
              <a:chOff x="9705975" y="3438525"/>
              <a:chExt cx="1277049" cy="571262"/>
            </a:xfrm>
          </p:grpSpPr>
          <p:sp>
            <p:nvSpPr>
              <p:cNvPr id="156" name="Ellipse 156"/>
              <p:cNvSpPr/>
              <p:nvPr/>
            </p:nvSpPr>
            <p:spPr>
              <a:xfrm>
                <a:off x="9705975" y="3438525"/>
                <a:ext cx="323850" cy="323850"/>
              </a:xfrm>
              <a:prstGeom prst="ellipse">
                <a:avLst/>
              </a:prstGeom>
              <a:noFill/>
              <a:ln w="14288">
                <a:solidFill>
                  <a:srgbClr val="C97263"/>
                </a:solidFill>
              </a:ln>
            </p:spPr>
          </p:sp>
          <p:grpSp>
            <p:nvGrpSpPr>
              <p:cNvPr id="159" name="Group 159"/>
              <p:cNvGrpSpPr/>
              <p:nvPr/>
            </p:nvGrpSpPr>
            <p:grpSpPr>
              <a:xfrm>
                <a:off x="9803606" y="3564731"/>
                <a:ext cx="128588" cy="71438"/>
                <a:chOff x="9803606" y="3564731"/>
                <a:chExt cx="128588" cy="71438"/>
              </a:xfrm>
            </p:grpSpPr>
            <p:sp>
              <p:nvSpPr>
                <p:cNvPr id="157" name="Freeform 157"/>
                <p:cNvSpPr/>
                <p:nvPr/>
              </p:nvSpPr>
              <p:spPr>
                <a:xfrm>
                  <a:off x="9803606" y="3564731"/>
                  <a:ext cx="128588" cy="71438"/>
                </a:xfrm>
                <a:custGeom>
                  <a:avLst/>
                  <a:gdLst/>
                  <a:ahLst/>
                  <a:cxnLst/>
                  <a:rect l="l" t="t" r="r" b="b"/>
                  <a:pathLst>
                    <a:path w="128588" h="71438">
                      <a:moveTo>
                        <a:pt x="0" y="71438"/>
                      </a:moveTo>
                      <a:lnTo>
                        <a:pt x="42862" y="28575"/>
                      </a:lnTo>
                      <a:lnTo>
                        <a:pt x="71438" y="57150"/>
                      </a:lnTo>
                      <a:lnTo>
                        <a:pt x="128588" y="0"/>
                      </a:lnTo>
                    </a:path>
                  </a:pathLst>
                </a:custGeom>
                <a:noFill/>
                <a:ln w="14288">
                  <a:solidFill>
                    <a:srgbClr val="C97263"/>
                  </a:solidFill>
                </a:ln>
              </p:spPr>
            </p:sp>
            <p:sp>
              <p:nvSpPr>
                <p:cNvPr id="158" name="Freeform 158"/>
                <p:cNvSpPr/>
                <p:nvPr/>
              </p:nvSpPr>
              <p:spPr>
                <a:xfrm>
                  <a:off x="9882188" y="3564731"/>
                  <a:ext cx="50006" cy="50006"/>
                </a:xfrm>
                <a:custGeom>
                  <a:avLst/>
                  <a:gdLst/>
                  <a:ahLst/>
                  <a:cxnLst/>
                  <a:rect l="l" t="t" r="r" b="b"/>
                  <a:pathLst>
                    <a:path w="50006" h="50006">
                      <a:moveTo>
                        <a:pt x="0" y="0"/>
                      </a:moveTo>
                      <a:lnTo>
                        <a:pt x="50006" y="0"/>
                      </a:lnTo>
                      <a:lnTo>
                        <a:pt x="50006" y="50006"/>
                      </a:lnTo>
                    </a:path>
                  </a:pathLst>
                </a:custGeom>
                <a:noFill/>
                <a:ln w="14288">
                  <a:solidFill>
                    <a:srgbClr val="C97263"/>
                  </a:solidFill>
                </a:ln>
              </p:spPr>
            </p:sp>
          </p:grpSp>
          <p:sp>
            <p:nvSpPr>
              <p:cNvPr id="160" name="TextBox 160"/>
              <p:cNvSpPr txBox="1"/>
              <p:nvPr/>
            </p:nvSpPr>
            <p:spPr>
              <a:xfrm>
                <a:off x="10148506" y="3453051"/>
                <a:ext cx="690118"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升级条件：</a:t>
                </a:r>
              </a:p>
            </p:txBody>
          </p:sp>
          <p:sp>
            <p:nvSpPr>
              <p:cNvPr id="161" name="TextBox 161"/>
              <p:cNvSpPr txBox="1"/>
              <p:nvPr/>
            </p:nvSpPr>
            <p:spPr>
              <a:xfrm>
                <a:off x="10148888" y="3678793"/>
                <a:ext cx="834136"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6A6A6A"/>
                    </a:solidFill>
                    <a:latin typeface="+mn-lt"/>
                    <a:ea typeface="+mn-ea"/>
                    <a:cs typeface="+mn-cs"/>
                  </a:rPr>
                  <a:t>连续2个季度超越</a:t>
                </a:r>
                <a:br/>
                <a:r>
                  <a:rPr lang="zh-CN" sz="860" dirty="0">
                    <a:solidFill>
                      <a:srgbClr val="6A6A6A"/>
                    </a:solidFill>
                    <a:latin typeface="+mn-lt"/>
                    <a:ea typeface="+mn-ea"/>
                    <a:cs typeface="+mn-cs"/>
                  </a:rPr>
                  <a:t>上一层级标准</a:t>
                </a:r>
              </a:p>
            </p:txBody>
          </p:sp>
        </p:grpSp>
        <p:grpSp>
          <p:nvGrpSpPr>
            <p:cNvPr id="169" name="adj-3"/>
            <p:cNvGrpSpPr/>
            <p:nvPr/>
          </p:nvGrpSpPr>
          <p:grpSpPr>
            <a:xfrm>
              <a:off x="9705975" y="4505325"/>
              <a:ext cx="1277049" cy="571262"/>
              <a:chOff x="9705975" y="4505325"/>
              <a:chExt cx="1277049" cy="571262"/>
            </a:xfrm>
          </p:grpSpPr>
          <p:sp>
            <p:nvSpPr>
              <p:cNvPr id="163" name="Ellipse 163"/>
              <p:cNvSpPr/>
              <p:nvPr/>
            </p:nvSpPr>
            <p:spPr>
              <a:xfrm>
                <a:off x="9705975" y="4505325"/>
                <a:ext cx="323850" cy="323850"/>
              </a:xfrm>
              <a:prstGeom prst="ellipse">
                <a:avLst/>
              </a:prstGeom>
              <a:noFill/>
              <a:ln w="14288">
                <a:solidFill>
                  <a:srgbClr val="C97263"/>
                </a:solidFill>
              </a:ln>
            </p:spPr>
          </p:sp>
          <p:grpSp>
            <p:nvGrpSpPr>
              <p:cNvPr id="166" name="Group 166"/>
              <p:cNvGrpSpPr/>
              <p:nvPr/>
            </p:nvGrpSpPr>
            <p:grpSpPr>
              <a:xfrm>
                <a:off x="9803606" y="4631531"/>
                <a:ext cx="128588" cy="71438"/>
                <a:chOff x="9803606" y="4631531"/>
                <a:chExt cx="128588" cy="71438"/>
              </a:xfrm>
            </p:grpSpPr>
            <p:sp>
              <p:nvSpPr>
                <p:cNvPr id="164" name="Freeform 164"/>
                <p:cNvSpPr/>
                <p:nvPr/>
              </p:nvSpPr>
              <p:spPr>
                <a:xfrm>
                  <a:off x="9803606" y="4631531"/>
                  <a:ext cx="128588" cy="71438"/>
                </a:xfrm>
                <a:custGeom>
                  <a:avLst/>
                  <a:gdLst/>
                  <a:ahLst/>
                  <a:cxnLst/>
                  <a:rect l="l" t="t" r="r" b="b"/>
                  <a:pathLst>
                    <a:path w="128588" h="71438">
                      <a:moveTo>
                        <a:pt x="0" y="0"/>
                      </a:moveTo>
                      <a:lnTo>
                        <a:pt x="42862" y="42862"/>
                      </a:lnTo>
                      <a:lnTo>
                        <a:pt x="71438" y="14288"/>
                      </a:lnTo>
                      <a:lnTo>
                        <a:pt x="128588" y="71438"/>
                      </a:lnTo>
                    </a:path>
                  </a:pathLst>
                </a:custGeom>
                <a:noFill/>
                <a:ln w="14288">
                  <a:solidFill>
                    <a:srgbClr val="C97263"/>
                  </a:solidFill>
                </a:ln>
              </p:spPr>
            </p:sp>
            <p:sp>
              <p:nvSpPr>
                <p:cNvPr id="165" name="Freeform 165"/>
                <p:cNvSpPr/>
                <p:nvPr/>
              </p:nvSpPr>
              <p:spPr>
                <a:xfrm>
                  <a:off x="9882188" y="4652962"/>
                  <a:ext cx="50006" cy="50006"/>
                </a:xfrm>
                <a:custGeom>
                  <a:avLst/>
                  <a:gdLst/>
                  <a:ahLst/>
                  <a:cxnLst/>
                  <a:rect l="l" t="t" r="r" b="b"/>
                  <a:pathLst>
                    <a:path w="50006" h="50006">
                      <a:moveTo>
                        <a:pt x="50006" y="0"/>
                      </a:moveTo>
                      <a:lnTo>
                        <a:pt x="50006" y="50006"/>
                      </a:lnTo>
                      <a:lnTo>
                        <a:pt x="0" y="50006"/>
                      </a:lnTo>
                    </a:path>
                  </a:pathLst>
                </a:custGeom>
                <a:noFill/>
                <a:ln w="14288">
                  <a:solidFill>
                    <a:srgbClr val="C97263"/>
                  </a:solidFill>
                </a:ln>
              </p:spPr>
            </p:sp>
          </p:grpSp>
          <p:sp>
            <p:nvSpPr>
              <p:cNvPr id="167" name="TextBox 167"/>
              <p:cNvSpPr txBox="1"/>
              <p:nvPr/>
            </p:nvSpPr>
            <p:spPr>
              <a:xfrm>
                <a:off x="10148506" y="4519851"/>
                <a:ext cx="690118"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降级条件：</a:t>
                </a:r>
              </a:p>
            </p:txBody>
          </p:sp>
          <p:sp>
            <p:nvSpPr>
              <p:cNvPr id="168" name="TextBox 168"/>
              <p:cNvSpPr txBox="1"/>
              <p:nvPr/>
            </p:nvSpPr>
            <p:spPr>
              <a:xfrm>
                <a:off x="10148888" y="4745593"/>
                <a:ext cx="834136"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6A6A6A"/>
                    </a:solidFill>
                    <a:latin typeface="+mn-lt"/>
                    <a:ea typeface="+mn-ea"/>
                    <a:cs typeface="+mn-cs"/>
                  </a:rPr>
                  <a:t>连续2个季度低于</a:t>
                </a:r>
                <a:br/>
                <a:r>
                  <a:rPr lang="zh-CN" sz="860" dirty="0">
                    <a:solidFill>
                      <a:srgbClr val="6A6A6A"/>
                    </a:solidFill>
                    <a:latin typeface="+mn-lt"/>
                    <a:ea typeface="+mn-ea"/>
                    <a:cs typeface="+mn-cs"/>
                  </a:rPr>
                  <a:t>本层级标准</a:t>
                </a:r>
              </a:p>
            </p:txBody>
          </p:sp>
        </p:grpSp>
        <p:grpSp>
          <p:nvGrpSpPr>
            <p:cNvPr id="174" name="adj-4"/>
            <p:cNvGrpSpPr/>
            <p:nvPr/>
          </p:nvGrpSpPr>
          <p:grpSpPr>
            <a:xfrm>
              <a:off x="9705975" y="5572125"/>
              <a:ext cx="1132649" cy="571262"/>
              <a:chOff x="9705975" y="5572125"/>
              <a:chExt cx="1132649" cy="571262"/>
            </a:xfrm>
          </p:grpSpPr>
          <p:sp>
            <p:nvSpPr>
              <p:cNvPr id="170" name="Ellipse 170"/>
              <p:cNvSpPr/>
              <p:nvPr/>
            </p:nvSpPr>
            <p:spPr>
              <a:xfrm>
                <a:off x="9705975" y="5572125"/>
                <a:ext cx="323850" cy="323850"/>
              </a:xfrm>
              <a:prstGeom prst="ellipse">
                <a:avLst/>
              </a:prstGeom>
              <a:noFill/>
              <a:ln w="14288">
                <a:solidFill>
                  <a:srgbClr val="C97263"/>
                </a:solidFill>
              </a:ln>
            </p:spPr>
          </p:sp>
          <p:sp>
            <p:nvSpPr>
              <p:cNvPr id="171" name="Freeform 171"/>
              <p:cNvSpPr/>
              <p:nvPr/>
            </p:nvSpPr>
            <p:spPr>
              <a:xfrm>
                <a:off x="9796513" y="5662627"/>
                <a:ext cx="142675" cy="135681"/>
              </a:xfrm>
              <a:custGeom>
                <a:avLst/>
                <a:gdLst/>
                <a:ahLst/>
                <a:cxnLst/>
                <a:rect l="l" t="t" r="r" b="b"/>
                <a:pathLst>
                  <a:path w="142675" h="135681">
                    <a:moveTo>
                      <a:pt x="71387" y="112500"/>
                    </a:moveTo>
                    <a:lnTo>
                      <a:pt x="27296" y="135681"/>
                    </a:lnTo>
                    <a:lnTo>
                      <a:pt x="35719" y="86582"/>
                    </a:lnTo>
                    <a:lnTo>
                      <a:pt x="0" y="51814"/>
                    </a:lnTo>
                    <a:lnTo>
                      <a:pt x="49292" y="44670"/>
                    </a:lnTo>
                    <a:lnTo>
                      <a:pt x="71337" y="0"/>
                    </a:lnTo>
                    <a:lnTo>
                      <a:pt x="93383" y="44670"/>
                    </a:lnTo>
                    <a:lnTo>
                      <a:pt x="142675" y="51814"/>
                    </a:lnTo>
                    <a:lnTo>
                      <a:pt x="106956" y="86582"/>
                    </a:lnTo>
                    <a:lnTo>
                      <a:pt x="115379" y="135681"/>
                    </a:lnTo>
                    <a:lnTo>
                      <a:pt x="71387" y="112500"/>
                    </a:lnTo>
                  </a:path>
                </a:pathLst>
              </a:custGeom>
              <a:noFill/>
              <a:ln w="14288">
                <a:solidFill>
                  <a:srgbClr val="C97263"/>
                </a:solidFill>
              </a:ln>
            </p:spPr>
          </p:sp>
          <p:sp>
            <p:nvSpPr>
              <p:cNvPr id="172" name="TextBox 172"/>
              <p:cNvSpPr txBox="1"/>
              <p:nvPr/>
            </p:nvSpPr>
            <p:spPr>
              <a:xfrm>
                <a:off x="10148506" y="5586651"/>
                <a:ext cx="690118"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特殊情况：</a:t>
                </a:r>
              </a:p>
            </p:txBody>
          </p:sp>
          <p:sp>
            <p:nvSpPr>
              <p:cNvPr id="173" name="TextBox 173"/>
              <p:cNvSpPr txBox="1"/>
              <p:nvPr/>
            </p:nvSpPr>
            <p:spPr>
              <a:xfrm>
                <a:off x="10148888" y="5812393"/>
                <a:ext cx="675767" cy="330994"/>
              </a:xfrm>
              <a:prstGeom prst="rect">
                <a:avLst/>
              </a:prstGeom>
              <a:noFill/>
              <a:ln>
                <a:noFill/>
              </a:ln>
            </p:spPr>
            <p:txBody>
              <a:bodyPr wrap="none" lIns="0" tIns="0" rIns="0" bIns="0" anchor="t" anchorCtr="0">
                <a:spAutoFit/>
              </a:bodyPr>
              <a:lstStyle/>
              <a:p>
                <a:pPr algn="l">
                  <a:lnSpc>
                    <a:spcPts val="1275"/>
                  </a:lnSpc>
                </a:pPr>
                <a:r>
                  <a:rPr lang="zh-CN" sz="860" dirty="0">
                    <a:solidFill>
                      <a:srgbClr val="6A6A6A"/>
                    </a:solidFill>
                    <a:latin typeface="+mn-lt"/>
                    <a:ea typeface="+mn-ea"/>
                    <a:cs typeface="+mn-cs"/>
                  </a:rPr>
                  <a:t>战略新客户可</a:t>
                </a:r>
                <a:br/>
                <a:r>
                  <a:rPr lang="zh-CN" sz="860" dirty="0">
                    <a:solidFill>
                      <a:srgbClr val="6A6A6A"/>
                    </a:solidFill>
                    <a:latin typeface="+mn-lt"/>
                    <a:ea typeface="+mn-ea"/>
                    <a:cs typeface="+mn-cs"/>
                  </a:rPr>
                  <a:t>直接进入A级​</a:t>
                </a:r>
              </a:p>
            </p:txBody>
          </p:sp>
        </p:grpSp>
      </p:grpSp>
      <p:sp>
        <p:nvSpPr>
          <p:cNvPr id="176" name="TextBox 176"/>
          <p:cNvSpPr txBox="1"/>
          <p:nvPr/>
        </p:nvSpPr>
        <p:spPr>
          <a:xfrm>
            <a:off x="11620383" y="6565106"/>
            <a:ext cx="177282" cy="220028"/>
          </a:xfrm>
          <a:prstGeom prst="rect">
            <a:avLst/>
          </a:prstGeom>
          <a:noFill/>
          <a:ln>
            <a:noFill/>
          </a:ln>
        </p:spPr>
        <p:txBody>
          <a:bodyPr wrap="none" lIns="0" tIns="0" rIns="0" bIns="0" anchor="t" anchorCtr="0">
            <a:spAutoFit/>
          </a:bodyPr>
          <a:lstStyle/>
          <a:p>
            <a:pPr algn="r"/>
            <a:r>
              <a:rPr lang="zh-CN" sz="1120" dirty="0">
                <a:solidFill>
                  <a:srgbClr val="8A8A8A"/>
                </a:solidFill>
                <a:latin typeface="+mn-lt"/>
                <a:ea typeface="+mn-ea"/>
                <a:cs typeface="+mn-cs"/>
              </a:rPr>
              <a:t>04</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page-title"/>
          <p:cNvGrpSpPr/>
          <p:nvPr/>
        </p:nvGrpSpPr>
        <p:grpSpPr>
          <a:xfrm>
            <a:off x="367284" y="260985"/>
            <a:ext cx="8875366" cy="528066"/>
            <a:chOff x="367284" y="260985"/>
            <a:chExt cx="8875366" cy="528066"/>
          </a:xfrm>
        </p:grpSpPr>
        <p:sp>
          <p:nvSpPr>
            <p:cNvPr id="2" name="TextBox 2"/>
            <p:cNvSpPr txBox="1"/>
            <p:nvPr/>
          </p:nvSpPr>
          <p:spPr>
            <a:xfrm>
              <a:off x="367284" y="260985"/>
              <a:ext cx="8875366" cy="528066"/>
            </a:xfrm>
            <a:prstGeom prst="rect">
              <a:avLst/>
            </a:prstGeom>
            <a:noFill/>
            <a:ln>
              <a:noFill/>
            </a:ln>
          </p:spPr>
          <p:txBody>
            <a:bodyPr wrap="none" lIns="0" tIns="0" rIns="0" bIns="0" anchor="t" anchorCtr="0">
              <a:spAutoFit/>
            </a:bodyPr>
            <a:lstStyle/>
            <a:p>
              <a:pPr algn="l"/>
              <a:r>
                <a:rPr lang="zh-CN" sz="2700" b="1" dirty="0">
                  <a:solidFill>
                    <a:srgbClr val="1A1A1A"/>
                  </a:solidFill>
                  <a:latin typeface="+mn-lt"/>
                  <a:ea typeface="+mn-ea"/>
                  <a:cs typeface="+mn-cs"/>
                </a:rPr>
                <a:t>S级战略客户的经营逻辑：不是销售，而是“共同成长”​</a:t>
              </a:r>
            </a:p>
          </p:txBody>
        </p:sp>
      </p:grpSp>
      <p:grpSp>
        <p:nvGrpSpPr>
          <p:cNvPr id="8" name="core-bar"/>
          <p:cNvGrpSpPr/>
          <p:nvPr/>
        </p:nvGrpSpPr>
        <p:grpSpPr>
          <a:xfrm>
            <a:off x="381000" y="800100"/>
            <a:ext cx="11430000" cy="495300"/>
            <a:chOff x="381000" y="800100"/>
            <a:chExt cx="11430000" cy="495300"/>
          </a:xfrm>
        </p:grpSpPr>
        <p:sp>
          <p:nvSpPr>
            <p:cNvPr id="4" name="Rectangle 4"/>
            <p:cNvSpPr/>
            <p:nvPr/>
          </p:nvSpPr>
          <p:spPr>
            <a:xfrm>
              <a:off x="381000" y="800100"/>
              <a:ext cx="1866900" cy="495300"/>
            </a:xfrm>
            <a:prstGeom prst="roundRect">
              <a:avLst>
                <a:gd name="adj" fmla="val 11538"/>
              </a:avLst>
            </a:prstGeom>
            <a:solidFill>
              <a:srgbClr val="8B321E"/>
            </a:solidFill>
            <a:ln>
              <a:noFill/>
            </a:ln>
          </p:spPr>
        </p:sp>
        <p:sp>
          <p:nvSpPr>
            <p:cNvPr id="5" name="TextBox 5"/>
            <p:cNvSpPr txBox="1"/>
            <p:nvPr/>
          </p:nvSpPr>
          <p:spPr>
            <a:xfrm>
              <a:off x="944118" y="96869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核心观点</a:t>
              </a:r>
            </a:p>
          </p:txBody>
        </p:sp>
        <p:sp>
          <p:nvSpPr>
            <p:cNvPr id="6" name="Rectangle 6"/>
            <p:cNvSpPr/>
            <p:nvPr/>
          </p:nvSpPr>
          <p:spPr>
            <a:xfrm>
              <a:off x="2343150" y="800100"/>
              <a:ext cx="9467850" cy="495300"/>
            </a:xfrm>
            <a:prstGeom prst="roundRect">
              <a:avLst>
                <a:gd name="adj" fmla="val 11538"/>
              </a:avLst>
            </a:prstGeom>
            <a:solidFill>
              <a:srgbClr val="FFFFFF"/>
            </a:solidFill>
            <a:ln w="14288">
              <a:solidFill>
                <a:srgbClr val="D8C2C2"/>
              </a:solidFill>
            </a:ln>
          </p:spPr>
        </p:sp>
        <p:sp>
          <p:nvSpPr>
            <p:cNvPr id="7" name="TextBox 7"/>
            <p:cNvSpPr txBox="1"/>
            <p:nvPr/>
          </p:nvSpPr>
          <p:spPr>
            <a:xfrm>
              <a:off x="2565463" y="980837"/>
              <a:ext cx="6580001" cy="242030"/>
            </a:xfrm>
            <a:prstGeom prst="rect">
              <a:avLst/>
            </a:prstGeom>
            <a:noFill/>
            <a:ln>
              <a:noFill/>
            </a:ln>
          </p:spPr>
          <p:txBody>
            <a:bodyPr wrap="none" lIns="0" tIns="0" rIns="0" bIns="0" anchor="t" anchorCtr="0">
              <a:spAutoFit/>
            </a:bodyPr>
            <a:lstStyle/>
            <a:p>
              <a:pPr algn="l"/>
              <a:r>
                <a:rPr lang="zh-CN" sz="1240" b="1" dirty="0">
                  <a:solidFill>
                    <a:srgbClr val="8B321E"/>
                  </a:solidFill>
                  <a:latin typeface="+mn-lt"/>
                  <a:ea typeface="+mn-ea"/>
                  <a:cs typeface="+mn-cs"/>
                </a:rPr>
                <a:t>S级战略客户的经营核心是“嵌入客户的业务规划”，让客户把你当战略伙伴而非供应商。​</a:t>
              </a:r>
            </a:p>
          </p:txBody>
        </p:sp>
      </p:grpSp>
      <p:grpSp>
        <p:nvGrpSpPr>
          <p:cNvPr id="64" name="depth-ladder"/>
          <p:cNvGrpSpPr/>
          <p:nvPr/>
        </p:nvGrpSpPr>
        <p:grpSpPr>
          <a:xfrm>
            <a:off x="381000" y="1526381"/>
            <a:ext cx="6858000" cy="4493419"/>
            <a:chOff x="381000" y="1526381"/>
            <a:chExt cx="6858000" cy="4493419"/>
          </a:xfrm>
        </p:grpSpPr>
        <p:sp>
          <p:nvSpPr>
            <p:cNvPr id="9" name="Rectangle 9"/>
            <p:cNvSpPr/>
            <p:nvPr/>
          </p:nvSpPr>
          <p:spPr>
            <a:xfrm>
              <a:off x="381000" y="1543050"/>
              <a:ext cx="104775" cy="104775"/>
            </a:xfrm>
            <a:prstGeom prst="rect">
              <a:avLst/>
            </a:prstGeom>
            <a:solidFill>
              <a:srgbClr val="8B321E"/>
            </a:solidFill>
            <a:ln>
              <a:noFill/>
            </a:ln>
          </p:spPr>
        </p:sp>
        <p:sp>
          <p:nvSpPr>
            <p:cNvPr id="10" name="TextBox 10"/>
            <p:cNvSpPr txBox="1"/>
            <p:nvPr/>
          </p:nvSpPr>
          <p:spPr>
            <a:xfrm>
              <a:off x="565785" y="1526381"/>
              <a:ext cx="2515821"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S级客户经营的五个层次（从浅到深）</a:t>
              </a:r>
            </a:p>
          </p:txBody>
        </p:sp>
        <p:sp>
          <p:nvSpPr>
            <p:cNvPr id="11" name="TextBox 11"/>
            <p:cNvSpPr txBox="1"/>
            <p:nvPr/>
          </p:nvSpPr>
          <p:spPr>
            <a:xfrm>
              <a:off x="4059695" y="1841897"/>
              <a:ext cx="262611"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特征</a:t>
              </a:r>
            </a:p>
          </p:txBody>
        </p:sp>
        <p:sp>
          <p:nvSpPr>
            <p:cNvPr id="12" name="TextBox 12"/>
            <p:cNvSpPr txBox="1"/>
            <p:nvPr/>
          </p:nvSpPr>
          <p:spPr>
            <a:xfrm>
              <a:off x="5076152" y="1841897"/>
              <a:ext cx="515696"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关系强度</a:t>
              </a:r>
            </a:p>
          </p:txBody>
        </p:sp>
        <p:sp>
          <p:nvSpPr>
            <p:cNvPr id="13" name="TextBox 13"/>
            <p:cNvSpPr txBox="1"/>
            <p:nvPr/>
          </p:nvSpPr>
          <p:spPr>
            <a:xfrm>
              <a:off x="6269495" y="1841897"/>
              <a:ext cx="262611" cy="183356"/>
            </a:xfrm>
            <a:prstGeom prst="rect">
              <a:avLst/>
            </a:prstGeom>
            <a:noFill/>
            <a:ln>
              <a:noFill/>
            </a:ln>
          </p:spPr>
          <p:txBody>
            <a:bodyPr wrap="none" lIns="0" tIns="0" rIns="0" bIns="0" anchor="t" anchorCtr="0">
              <a:spAutoFit/>
            </a:bodyPr>
            <a:lstStyle/>
            <a:p>
              <a:pPr algn="ctr"/>
              <a:r>
                <a:rPr lang="zh-CN" sz="940" b="1" dirty="0">
                  <a:solidFill>
                    <a:srgbClr val="1A1A1A"/>
                  </a:solidFill>
                  <a:latin typeface="+mn-lt"/>
                  <a:ea typeface="+mn-ea"/>
                  <a:cs typeface="+mn-cs"/>
                </a:rPr>
                <a:t>表现</a:t>
              </a:r>
            </a:p>
          </p:txBody>
        </p:sp>
        <p:grpSp>
          <p:nvGrpSpPr>
            <p:cNvPr id="23" name="ladder-1"/>
            <p:cNvGrpSpPr/>
            <p:nvPr/>
          </p:nvGrpSpPr>
          <p:grpSpPr>
            <a:xfrm>
              <a:off x="381000" y="2038350"/>
              <a:ext cx="6858000" cy="781050"/>
              <a:chOff x="381000" y="2038350"/>
              <a:chExt cx="6858000" cy="781050"/>
            </a:xfrm>
          </p:grpSpPr>
          <p:sp>
            <p:nvSpPr>
              <p:cNvPr id="14" name="Rectangle 14"/>
              <p:cNvSpPr/>
              <p:nvPr/>
            </p:nvSpPr>
            <p:spPr>
              <a:xfrm>
                <a:off x="381000" y="2038350"/>
                <a:ext cx="6858000" cy="781050"/>
              </a:xfrm>
              <a:prstGeom prst="roundRect">
                <a:avLst>
                  <a:gd name="adj" fmla="val 4878"/>
                </a:avLst>
              </a:prstGeom>
              <a:solidFill>
                <a:srgbClr val="8B321E"/>
              </a:solidFill>
              <a:ln>
                <a:noFill/>
              </a:ln>
            </p:spPr>
          </p:sp>
          <p:sp>
            <p:nvSpPr>
              <p:cNvPr id="15" name="TextBox 15"/>
              <p:cNvSpPr txBox="1"/>
              <p:nvPr/>
            </p:nvSpPr>
            <p:spPr>
              <a:xfrm>
                <a:off x="657606" y="2320290"/>
                <a:ext cx="298163"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mn-lt"/>
                    <a:ea typeface="+mn-ea"/>
                    <a:cs typeface="+mn-cs"/>
                  </a:rPr>
                  <a:t>01</a:t>
                </a:r>
              </a:p>
            </p:txBody>
          </p:sp>
          <p:sp>
            <p:nvSpPr>
              <p:cNvPr id="16" name="TextBox 16"/>
              <p:cNvSpPr txBox="1"/>
              <p:nvPr/>
            </p:nvSpPr>
            <p:spPr>
              <a:xfrm>
                <a:off x="1184910" y="2364581"/>
                <a:ext cx="121762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产品供应（最浅）</a:t>
                </a:r>
              </a:p>
            </p:txBody>
          </p:sp>
          <p:sp>
            <p:nvSpPr>
              <p:cNvPr id="17" name="TextBox 17"/>
              <p:cNvSpPr txBox="1"/>
              <p:nvPr/>
            </p:nvSpPr>
            <p:spPr>
              <a:xfrm>
                <a:off x="3896804" y="2383393"/>
                <a:ext cx="588391"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需要时下单</a:t>
                </a:r>
              </a:p>
            </p:txBody>
          </p:sp>
          <p:sp>
            <p:nvSpPr>
              <p:cNvPr id="18" name="TextBox 18"/>
              <p:cNvSpPr txBox="1"/>
              <p:nvPr/>
            </p:nvSpPr>
            <p:spPr>
              <a:xfrm>
                <a:off x="5263083" y="2380774"/>
                <a:ext cx="14183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弱</a:t>
                </a:r>
              </a:p>
            </p:txBody>
          </p:sp>
          <p:sp>
            <p:nvSpPr>
              <p:cNvPr id="19" name="TextBox 19"/>
              <p:cNvSpPr txBox="1"/>
              <p:nvPr/>
            </p:nvSpPr>
            <p:spPr>
              <a:xfrm>
                <a:off x="6135688" y="2292191"/>
                <a:ext cx="530225" cy="333375"/>
              </a:xfrm>
              <a:prstGeom prst="rect">
                <a:avLst/>
              </a:prstGeom>
              <a:noFill/>
              <a:ln>
                <a:noFill/>
              </a:ln>
            </p:spPr>
            <p:txBody>
              <a:bodyPr wrap="none" lIns="0" tIns="0" rIns="0" bIns="0" anchor="t" anchorCtr="0">
                <a:spAutoFit/>
              </a:bodyPr>
              <a:lstStyle/>
              <a:p>
                <a:pPr algn="ctr">
                  <a:lnSpc>
                    <a:spcPts val="1350"/>
                  </a:lnSpc>
                </a:pPr>
                <a:r>
                  <a:rPr lang="zh-CN" sz="820" dirty="0">
                    <a:solidFill>
                      <a:srgbClr val="FFFFFF"/>
                    </a:solidFill>
                    <a:latin typeface="+mn-lt"/>
                    <a:ea typeface="+mn-ea"/>
                    <a:cs typeface="+mn-cs"/>
                  </a:rPr>
                  <a:t>采购部门是</a:t>
                </a:r>
                <a:br/>
                <a:r>
                  <a:rPr lang="zh-CN" sz="820" dirty="0">
                    <a:solidFill>
                      <a:srgbClr val="FFFFFF"/>
                    </a:solidFill>
                    <a:latin typeface="+mn-lt"/>
                    <a:ea typeface="+mn-ea"/>
                    <a:cs typeface="+mn-cs"/>
                  </a:rPr>
                  <a:t>唯一联系人</a:t>
                </a:r>
              </a:p>
            </p:txBody>
          </p:sp>
          <p:sp>
            <p:nvSpPr>
              <p:cNvPr id="20" name="Line 20"/>
              <p:cNvSpPr/>
              <p:nvPr/>
            </p:nvSpPr>
            <p:spPr>
              <a:xfrm>
                <a:off x="3667125" y="21526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sp>
            <p:nvSpPr>
              <p:cNvPr id="21" name="Line 21"/>
              <p:cNvSpPr/>
              <p:nvPr/>
            </p:nvSpPr>
            <p:spPr>
              <a:xfrm>
                <a:off x="4762500" y="21526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sp>
            <p:nvSpPr>
              <p:cNvPr id="22" name="Line 22"/>
              <p:cNvSpPr/>
              <p:nvPr/>
            </p:nvSpPr>
            <p:spPr>
              <a:xfrm>
                <a:off x="5905500" y="21526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grpSp>
        <p:grpSp>
          <p:nvGrpSpPr>
            <p:cNvPr id="33" name="ladder-2"/>
            <p:cNvGrpSpPr/>
            <p:nvPr/>
          </p:nvGrpSpPr>
          <p:grpSpPr>
            <a:xfrm>
              <a:off x="609600" y="2838450"/>
              <a:ext cx="6629400" cy="781050"/>
              <a:chOff x="609600" y="2838450"/>
              <a:chExt cx="6629400" cy="781050"/>
            </a:xfrm>
          </p:grpSpPr>
          <p:sp>
            <p:nvSpPr>
              <p:cNvPr id="24" name="Rectangle 24"/>
              <p:cNvSpPr/>
              <p:nvPr/>
            </p:nvSpPr>
            <p:spPr>
              <a:xfrm>
                <a:off x="609600" y="2838450"/>
                <a:ext cx="6629400" cy="781050"/>
              </a:xfrm>
              <a:prstGeom prst="roundRect">
                <a:avLst>
                  <a:gd name="adj" fmla="val 4878"/>
                </a:avLst>
              </a:prstGeom>
              <a:solidFill>
                <a:srgbClr val="6B6B6B"/>
              </a:solidFill>
              <a:ln>
                <a:noFill/>
              </a:ln>
            </p:spPr>
          </p:sp>
          <p:sp>
            <p:nvSpPr>
              <p:cNvPr id="25" name="TextBox 25"/>
              <p:cNvSpPr txBox="1"/>
              <p:nvPr/>
            </p:nvSpPr>
            <p:spPr>
              <a:xfrm>
                <a:off x="886206" y="3120390"/>
                <a:ext cx="298163"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mn-lt"/>
                    <a:ea typeface="+mn-ea"/>
                    <a:cs typeface="+mn-cs"/>
                  </a:rPr>
                  <a:t>02</a:t>
                </a:r>
              </a:p>
            </p:txBody>
          </p:sp>
          <p:sp>
            <p:nvSpPr>
              <p:cNvPr id="26" name="TextBox 26"/>
              <p:cNvSpPr txBox="1"/>
              <p:nvPr/>
            </p:nvSpPr>
            <p:spPr>
              <a:xfrm>
                <a:off x="1413510" y="31646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解决方案供应</a:t>
                </a:r>
              </a:p>
            </p:txBody>
          </p:sp>
          <p:sp>
            <p:nvSpPr>
              <p:cNvPr id="27" name="TextBox 27"/>
              <p:cNvSpPr txBox="1"/>
              <p:nvPr/>
            </p:nvSpPr>
            <p:spPr>
              <a:xfrm>
                <a:off x="3858578" y="3088243"/>
                <a:ext cx="664845" cy="340519"/>
              </a:xfrm>
              <a:prstGeom prst="rect">
                <a:avLst/>
              </a:prstGeom>
              <a:noFill/>
              <a:ln>
                <a:noFill/>
              </a:ln>
            </p:spPr>
            <p:txBody>
              <a:bodyPr wrap="none" lIns="0" tIns="0" rIns="0" bIns="0" anchor="t" anchorCtr="0">
                <a:spAutoFit/>
              </a:bodyPr>
              <a:lstStyle/>
              <a:p>
                <a:pPr algn="ctr">
                  <a:lnSpc>
                    <a:spcPts val="1350"/>
                  </a:lnSpc>
                </a:pPr>
                <a:r>
                  <a:rPr lang="zh-CN" sz="860" dirty="0">
                    <a:solidFill>
                      <a:srgbClr val="FFFFFF"/>
                    </a:solidFill>
                    <a:latin typeface="+mn-lt"/>
                    <a:ea typeface="+mn-ea"/>
                    <a:cs typeface="+mn-cs"/>
                  </a:rPr>
                  <a:t>提供超出产品</a:t>
                </a:r>
                <a:br/>
                <a:r>
                  <a:rPr lang="zh-CN" sz="860" dirty="0">
                    <a:solidFill>
                      <a:srgbClr val="FFFFFF"/>
                    </a:solidFill>
                    <a:latin typeface="+mn-lt"/>
                    <a:ea typeface="+mn-ea"/>
                    <a:cs typeface="+mn-cs"/>
                  </a:rPr>
                  <a:t>的方案</a:t>
                </a:r>
              </a:p>
            </p:txBody>
          </p:sp>
          <p:sp>
            <p:nvSpPr>
              <p:cNvPr id="28" name="TextBox 28"/>
              <p:cNvSpPr txBox="1"/>
              <p:nvPr/>
            </p:nvSpPr>
            <p:spPr>
              <a:xfrm>
                <a:off x="5263083" y="3180874"/>
                <a:ext cx="14183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中</a:t>
                </a:r>
              </a:p>
            </p:txBody>
          </p:sp>
          <p:sp>
            <p:nvSpPr>
              <p:cNvPr id="29" name="TextBox 29"/>
              <p:cNvSpPr txBox="1"/>
              <p:nvPr/>
            </p:nvSpPr>
            <p:spPr>
              <a:xfrm>
                <a:off x="6135688" y="3092291"/>
                <a:ext cx="530225" cy="333375"/>
              </a:xfrm>
              <a:prstGeom prst="rect">
                <a:avLst/>
              </a:prstGeom>
              <a:noFill/>
              <a:ln>
                <a:noFill/>
              </a:ln>
            </p:spPr>
            <p:txBody>
              <a:bodyPr wrap="none" lIns="0" tIns="0" rIns="0" bIns="0" anchor="t" anchorCtr="0">
                <a:spAutoFit/>
              </a:bodyPr>
              <a:lstStyle/>
              <a:p>
                <a:pPr algn="ctr">
                  <a:lnSpc>
                    <a:spcPts val="1350"/>
                  </a:lnSpc>
                </a:pPr>
                <a:r>
                  <a:rPr lang="zh-CN" sz="820" dirty="0">
                    <a:solidFill>
                      <a:srgbClr val="FFFFFF"/>
                    </a:solidFill>
                    <a:latin typeface="+mn-lt"/>
                    <a:ea typeface="+mn-ea"/>
                    <a:cs typeface="+mn-cs"/>
                  </a:rPr>
                  <a:t>与技术部门</a:t>
                </a:r>
                <a:br/>
                <a:r>
                  <a:rPr lang="zh-CN" sz="820" dirty="0">
                    <a:solidFill>
                      <a:srgbClr val="FFFFFF"/>
                    </a:solidFill>
                    <a:latin typeface="+mn-lt"/>
                    <a:ea typeface="+mn-ea"/>
                    <a:cs typeface="+mn-cs"/>
                  </a:rPr>
                  <a:t>深度合作</a:t>
                </a:r>
              </a:p>
            </p:txBody>
          </p:sp>
          <p:sp>
            <p:nvSpPr>
              <p:cNvPr id="30" name="Line 30"/>
              <p:cNvSpPr/>
              <p:nvPr/>
            </p:nvSpPr>
            <p:spPr>
              <a:xfrm>
                <a:off x="3667125" y="29527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sp>
            <p:nvSpPr>
              <p:cNvPr id="31" name="Line 31"/>
              <p:cNvSpPr/>
              <p:nvPr/>
            </p:nvSpPr>
            <p:spPr>
              <a:xfrm>
                <a:off x="4762500" y="29527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sp>
            <p:nvSpPr>
              <p:cNvPr id="32" name="Line 32"/>
              <p:cNvSpPr/>
              <p:nvPr/>
            </p:nvSpPr>
            <p:spPr>
              <a:xfrm>
                <a:off x="5905500" y="29527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grpSp>
        <p:grpSp>
          <p:nvGrpSpPr>
            <p:cNvPr id="43" name="ladder-3"/>
            <p:cNvGrpSpPr/>
            <p:nvPr/>
          </p:nvGrpSpPr>
          <p:grpSpPr>
            <a:xfrm>
              <a:off x="838200" y="3638550"/>
              <a:ext cx="6400800" cy="781050"/>
              <a:chOff x="838200" y="3638550"/>
              <a:chExt cx="6400800" cy="781050"/>
            </a:xfrm>
          </p:grpSpPr>
          <p:sp>
            <p:nvSpPr>
              <p:cNvPr id="34" name="Rectangle 34"/>
              <p:cNvSpPr/>
              <p:nvPr/>
            </p:nvSpPr>
            <p:spPr>
              <a:xfrm>
                <a:off x="838200" y="3638550"/>
                <a:ext cx="6400800" cy="781050"/>
              </a:xfrm>
              <a:prstGeom prst="roundRect">
                <a:avLst>
                  <a:gd name="adj" fmla="val 4878"/>
                </a:avLst>
              </a:prstGeom>
              <a:solidFill>
                <a:srgbClr val="8B321E"/>
              </a:solidFill>
              <a:ln>
                <a:noFill/>
              </a:ln>
            </p:spPr>
          </p:sp>
          <p:sp>
            <p:nvSpPr>
              <p:cNvPr id="35" name="TextBox 35"/>
              <p:cNvSpPr txBox="1"/>
              <p:nvPr/>
            </p:nvSpPr>
            <p:spPr>
              <a:xfrm>
                <a:off x="1114806" y="3920490"/>
                <a:ext cx="298163"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mn-lt"/>
                    <a:ea typeface="+mn-ea"/>
                    <a:cs typeface="+mn-cs"/>
                  </a:rPr>
                  <a:t>03</a:t>
                </a:r>
              </a:p>
            </p:txBody>
          </p:sp>
          <p:sp>
            <p:nvSpPr>
              <p:cNvPr id="36" name="TextBox 36"/>
              <p:cNvSpPr txBox="1"/>
              <p:nvPr/>
            </p:nvSpPr>
            <p:spPr>
              <a:xfrm>
                <a:off x="1642110" y="3964781"/>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业务合作伙伴</a:t>
                </a:r>
              </a:p>
            </p:txBody>
          </p:sp>
          <p:sp>
            <p:nvSpPr>
              <p:cNvPr id="37" name="TextBox 37"/>
              <p:cNvSpPr txBox="1"/>
              <p:nvPr/>
            </p:nvSpPr>
            <p:spPr>
              <a:xfrm>
                <a:off x="3838918" y="3993118"/>
                <a:ext cx="704164" cy="169069"/>
              </a:xfrm>
              <a:prstGeom prst="rect">
                <a:avLst/>
              </a:prstGeom>
              <a:noFill/>
              <a:ln>
                <a:noFill/>
              </a:ln>
            </p:spPr>
            <p:txBody>
              <a:bodyPr wrap="none" lIns="0" tIns="0" rIns="0" bIns="0" anchor="t" anchorCtr="0">
                <a:spAutoFit/>
              </a:bodyPr>
              <a:lstStyle/>
              <a:p>
                <a:pPr algn="ctr"/>
                <a:r>
                  <a:rPr lang="zh-CN" sz="860" dirty="0">
                    <a:solidFill>
                      <a:srgbClr val="FFFFFF"/>
                    </a:solidFill>
                    <a:latin typeface="+mn-lt"/>
                    <a:ea typeface="+mn-ea"/>
                    <a:cs typeface="+mn-cs"/>
                  </a:rPr>
                  <a:t>参与业务规划</a:t>
                </a:r>
              </a:p>
            </p:txBody>
          </p:sp>
          <p:sp>
            <p:nvSpPr>
              <p:cNvPr id="38" name="TextBox 38"/>
              <p:cNvSpPr txBox="1"/>
              <p:nvPr/>
            </p:nvSpPr>
            <p:spPr>
              <a:xfrm>
                <a:off x="5263083" y="3980974"/>
                <a:ext cx="14183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强</a:t>
                </a:r>
              </a:p>
            </p:txBody>
          </p:sp>
          <p:sp>
            <p:nvSpPr>
              <p:cNvPr id="39" name="TextBox 39"/>
              <p:cNvSpPr txBox="1"/>
              <p:nvPr/>
            </p:nvSpPr>
            <p:spPr>
              <a:xfrm>
                <a:off x="6083618" y="3892391"/>
                <a:ext cx="634365" cy="333375"/>
              </a:xfrm>
              <a:prstGeom prst="rect">
                <a:avLst/>
              </a:prstGeom>
              <a:noFill/>
              <a:ln>
                <a:noFill/>
              </a:ln>
            </p:spPr>
            <p:txBody>
              <a:bodyPr wrap="none" lIns="0" tIns="0" rIns="0" bIns="0" anchor="t" anchorCtr="0">
                <a:spAutoFit/>
              </a:bodyPr>
              <a:lstStyle/>
              <a:p>
                <a:pPr algn="ctr">
                  <a:lnSpc>
                    <a:spcPts val="1350"/>
                  </a:lnSpc>
                </a:pPr>
                <a:r>
                  <a:rPr lang="zh-CN" sz="820" dirty="0">
                    <a:solidFill>
                      <a:srgbClr val="FFFFFF"/>
                    </a:solidFill>
                    <a:latin typeface="+mn-lt"/>
                    <a:ea typeface="+mn-ea"/>
                    <a:cs typeface="+mn-cs"/>
                  </a:rPr>
                  <a:t>与中高层定期</a:t>
                </a:r>
                <a:br/>
                <a:r>
                  <a:rPr lang="zh-CN" sz="820" dirty="0">
                    <a:solidFill>
                      <a:srgbClr val="FFFFFF"/>
                    </a:solidFill>
                    <a:latin typeface="+mn-lt"/>
                    <a:ea typeface="+mn-ea"/>
                    <a:cs typeface="+mn-cs"/>
                  </a:rPr>
                  <a:t>战略沟通</a:t>
                </a:r>
              </a:p>
            </p:txBody>
          </p:sp>
          <p:sp>
            <p:nvSpPr>
              <p:cNvPr id="40" name="Line 40"/>
              <p:cNvSpPr/>
              <p:nvPr/>
            </p:nvSpPr>
            <p:spPr>
              <a:xfrm>
                <a:off x="3667125" y="37528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sp>
            <p:nvSpPr>
              <p:cNvPr id="41" name="Line 41"/>
              <p:cNvSpPr/>
              <p:nvPr/>
            </p:nvSpPr>
            <p:spPr>
              <a:xfrm>
                <a:off x="4762500" y="37528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sp>
            <p:nvSpPr>
              <p:cNvPr id="42" name="Line 42"/>
              <p:cNvSpPr/>
              <p:nvPr/>
            </p:nvSpPr>
            <p:spPr>
              <a:xfrm>
                <a:off x="5905500" y="37528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grpSp>
        <p:grpSp>
          <p:nvGrpSpPr>
            <p:cNvPr id="53" name="ladder-4"/>
            <p:cNvGrpSpPr/>
            <p:nvPr/>
          </p:nvGrpSpPr>
          <p:grpSpPr>
            <a:xfrm>
              <a:off x="1066800" y="4438650"/>
              <a:ext cx="6172200" cy="781050"/>
              <a:chOff x="1066800" y="4438650"/>
              <a:chExt cx="6172200" cy="781050"/>
            </a:xfrm>
          </p:grpSpPr>
          <p:sp>
            <p:nvSpPr>
              <p:cNvPr id="44" name="Rectangle 44"/>
              <p:cNvSpPr/>
              <p:nvPr/>
            </p:nvSpPr>
            <p:spPr>
              <a:xfrm>
                <a:off x="1066800" y="4438650"/>
                <a:ext cx="6172200" cy="781050"/>
              </a:xfrm>
              <a:prstGeom prst="roundRect">
                <a:avLst>
                  <a:gd name="adj" fmla="val 4878"/>
                </a:avLst>
              </a:prstGeom>
              <a:solidFill>
                <a:srgbClr val="6B6B6B"/>
              </a:solidFill>
              <a:ln>
                <a:noFill/>
              </a:ln>
            </p:spPr>
          </p:sp>
          <p:sp>
            <p:nvSpPr>
              <p:cNvPr id="45" name="TextBox 45"/>
              <p:cNvSpPr txBox="1"/>
              <p:nvPr/>
            </p:nvSpPr>
            <p:spPr>
              <a:xfrm>
                <a:off x="1343406" y="4720590"/>
                <a:ext cx="298163"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mn-lt"/>
                    <a:ea typeface="+mn-ea"/>
                    <a:cs typeface="+mn-cs"/>
                  </a:rPr>
                  <a:t>04</a:t>
                </a:r>
              </a:p>
            </p:txBody>
          </p:sp>
          <p:sp>
            <p:nvSpPr>
              <p:cNvPr id="46" name="TextBox 46"/>
              <p:cNvSpPr txBox="1"/>
              <p:nvPr/>
            </p:nvSpPr>
            <p:spPr>
              <a:xfrm>
                <a:off x="1870710" y="4764881"/>
                <a:ext cx="61452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战略协同</a:t>
                </a:r>
              </a:p>
            </p:txBody>
          </p:sp>
          <p:sp>
            <p:nvSpPr>
              <p:cNvPr id="47" name="TextBox 47"/>
              <p:cNvSpPr txBox="1"/>
              <p:nvPr/>
            </p:nvSpPr>
            <p:spPr>
              <a:xfrm>
                <a:off x="3913188" y="4678918"/>
                <a:ext cx="555625" cy="340519"/>
              </a:xfrm>
              <a:prstGeom prst="rect">
                <a:avLst/>
              </a:prstGeom>
              <a:noFill/>
              <a:ln>
                <a:noFill/>
              </a:ln>
            </p:spPr>
            <p:txBody>
              <a:bodyPr wrap="none" lIns="0" tIns="0" rIns="0" bIns="0" anchor="t" anchorCtr="0">
                <a:spAutoFit/>
              </a:bodyPr>
              <a:lstStyle/>
              <a:p>
                <a:pPr algn="ctr">
                  <a:lnSpc>
                    <a:spcPts val="1350"/>
                  </a:lnSpc>
                </a:pPr>
                <a:r>
                  <a:rPr lang="zh-CN" sz="860" dirty="0">
                    <a:solidFill>
                      <a:srgbClr val="FFFFFF"/>
                    </a:solidFill>
                    <a:latin typeface="+mn-lt"/>
                    <a:ea typeface="+mn-ea"/>
                    <a:cs typeface="+mn-cs"/>
                  </a:rPr>
                  <a:t>联合项目、</a:t>
                </a:r>
                <a:br/>
                <a:r>
                  <a:rPr lang="zh-CN" sz="860" dirty="0">
                    <a:solidFill>
                      <a:srgbClr val="FFFFFF"/>
                    </a:solidFill>
                    <a:latin typeface="+mn-lt"/>
                    <a:ea typeface="+mn-ea"/>
                    <a:cs typeface="+mn-cs"/>
                  </a:rPr>
                  <a:t>共同开发</a:t>
                </a:r>
              </a:p>
            </p:txBody>
          </p:sp>
          <p:sp>
            <p:nvSpPr>
              <p:cNvPr id="48" name="TextBox 48"/>
              <p:cNvSpPr txBox="1"/>
              <p:nvPr/>
            </p:nvSpPr>
            <p:spPr>
              <a:xfrm>
                <a:off x="5197119" y="4781074"/>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极强</a:t>
                </a:r>
              </a:p>
            </p:txBody>
          </p:sp>
          <p:sp>
            <p:nvSpPr>
              <p:cNvPr id="49" name="TextBox 49"/>
              <p:cNvSpPr txBox="1"/>
              <p:nvPr/>
            </p:nvSpPr>
            <p:spPr>
              <a:xfrm>
                <a:off x="6135688" y="4692491"/>
                <a:ext cx="530225" cy="333375"/>
              </a:xfrm>
              <a:prstGeom prst="rect">
                <a:avLst/>
              </a:prstGeom>
              <a:noFill/>
              <a:ln>
                <a:noFill/>
              </a:ln>
            </p:spPr>
            <p:txBody>
              <a:bodyPr wrap="none" lIns="0" tIns="0" rIns="0" bIns="0" anchor="t" anchorCtr="0">
                <a:spAutoFit/>
              </a:bodyPr>
              <a:lstStyle/>
              <a:p>
                <a:pPr algn="ctr">
                  <a:lnSpc>
                    <a:spcPts val="1350"/>
                  </a:lnSpc>
                </a:pPr>
                <a:r>
                  <a:rPr lang="zh-CN" sz="820" dirty="0">
                    <a:solidFill>
                      <a:srgbClr val="FFFFFF"/>
                    </a:solidFill>
                    <a:latin typeface="+mn-lt"/>
                    <a:ea typeface="+mn-ea"/>
                    <a:cs typeface="+mn-cs"/>
                  </a:rPr>
                  <a:t>联合研发、</a:t>
                </a:r>
                <a:br/>
                <a:r>
                  <a:rPr lang="zh-CN" sz="820" dirty="0">
                    <a:solidFill>
                      <a:srgbClr val="FFFFFF"/>
                    </a:solidFill>
                    <a:latin typeface="+mn-lt"/>
                    <a:ea typeface="+mn-ea"/>
                    <a:cs typeface="+mn-cs"/>
                  </a:rPr>
                  <a:t>独家供应</a:t>
                </a:r>
              </a:p>
            </p:txBody>
          </p:sp>
          <p:sp>
            <p:nvSpPr>
              <p:cNvPr id="50" name="Line 50"/>
              <p:cNvSpPr/>
              <p:nvPr/>
            </p:nvSpPr>
            <p:spPr>
              <a:xfrm>
                <a:off x="3667125" y="45529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sp>
            <p:nvSpPr>
              <p:cNvPr id="51" name="Line 51"/>
              <p:cNvSpPr/>
              <p:nvPr/>
            </p:nvSpPr>
            <p:spPr>
              <a:xfrm>
                <a:off x="4762500" y="45529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sp>
            <p:nvSpPr>
              <p:cNvPr id="52" name="Line 52"/>
              <p:cNvSpPr/>
              <p:nvPr/>
            </p:nvSpPr>
            <p:spPr>
              <a:xfrm>
                <a:off x="5905500" y="4552950"/>
                <a:ext cx="9525" cy="552450"/>
              </a:xfrm>
              <a:custGeom>
                <a:avLst/>
                <a:gdLst/>
                <a:ahLst/>
                <a:cxnLst/>
                <a:rect l="l" t="t" r="r" b="b"/>
                <a:pathLst>
                  <a:path w="9525" h="552450">
                    <a:moveTo>
                      <a:pt x="0" y="0"/>
                    </a:moveTo>
                    <a:lnTo>
                      <a:pt x="0" y="552450"/>
                    </a:lnTo>
                  </a:path>
                </a:pathLst>
              </a:custGeom>
              <a:noFill/>
              <a:ln w="9525">
                <a:solidFill>
                  <a:srgbClr val="FFFFFF">
                    <a:alpha val="30000"/>
                  </a:srgbClr>
                </a:solidFill>
              </a:ln>
            </p:spPr>
          </p:sp>
        </p:grpSp>
        <p:grpSp>
          <p:nvGrpSpPr>
            <p:cNvPr id="63" name="ladder-5"/>
            <p:cNvGrpSpPr/>
            <p:nvPr/>
          </p:nvGrpSpPr>
          <p:grpSpPr>
            <a:xfrm>
              <a:off x="1295400" y="5238750"/>
              <a:ext cx="5943600" cy="781050"/>
              <a:chOff x="1295400" y="5238750"/>
              <a:chExt cx="5943600" cy="781050"/>
            </a:xfrm>
          </p:grpSpPr>
          <p:sp>
            <p:nvSpPr>
              <p:cNvPr id="54" name="Rectangle 54"/>
              <p:cNvSpPr/>
              <p:nvPr/>
            </p:nvSpPr>
            <p:spPr>
              <a:xfrm>
                <a:off x="1295400" y="5238750"/>
                <a:ext cx="5943600" cy="781050"/>
              </a:xfrm>
              <a:prstGeom prst="roundRect">
                <a:avLst>
                  <a:gd name="adj" fmla="val 4878"/>
                </a:avLst>
              </a:prstGeom>
              <a:solidFill>
                <a:srgbClr val="C97263"/>
              </a:solidFill>
              <a:ln>
                <a:noFill/>
              </a:ln>
            </p:spPr>
          </p:sp>
          <p:sp>
            <p:nvSpPr>
              <p:cNvPr id="55" name="TextBox 55"/>
              <p:cNvSpPr txBox="1"/>
              <p:nvPr/>
            </p:nvSpPr>
            <p:spPr>
              <a:xfrm>
                <a:off x="1572006" y="5520690"/>
                <a:ext cx="298163"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mn-lt"/>
                    <a:ea typeface="+mn-ea"/>
                    <a:cs typeface="+mn-cs"/>
                  </a:rPr>
                  <a:t>05</a:t>
                </a:r>
              </a:p>
            </p:txBody>
          </p:sp>
          <p:sp>
            <p:nvSpPr>
              <p:cNvPr id="56" name="TextBox 56"/>
              <p:cNvSpPr txBox="1"/>
              <p:nvPr/>
            </p:nvSpPr>
            <p:spPr>
              <a:xfrm>
                <a:off x="2099310" y="5564981"/>
                <a:ext cx="121762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生态共建（最深）</a:t>
                </a:r>
              </a:p>
            </p:txBody>
          </p:sp>
          <p:sp>
            <p:nvSpPr>
              <p:cNvPr id="57" name="TextBox 57"/>
              <p:cNvSpPr txBox="1"/>
              <p:nvPr/>
            </p:nvSpPr>
            <p:spPr>
              <a:xfrm>
                <a:off x="3858578" y="5479018"/>
                <a:ext cx="664845" cy="340519"/>
              </a:xfrm>
              <a:prstGeom prst="rect">
                <a:avLst/>
              </a:prstGeom>
              <a:noFill/>
              <a:ln>
                <a:noFill/>
              </a:ln>
            </p:spPr>
            <p:txBody>
              <a:bodyPr wrap="none" lIns="0" tIns="0" rIns="0" bIns="0" anchor="t" anchorCtr="0">
                <a:spAutoFit/>
              </a:bodyPr>
              <a:lstStyle/>
              <a:p>
                <a:pPr algn="ctr">
                  <a:lnSpc>
                    <a:spcPts val="1350"/>
                  </a:lnSpc>
                </a:pPr>
                <a:r>
                  <a:rPr lang="zh-CN" sz="860" dirty="0">
                    <a:solidFill>
                      <a:srgbClr val="FFFFFF"/>
                    </a:solidFill>
                    <a:latin typeface="+mn-lt"/>
                    <a:ea typeface="+mn-ea"/>
                    <a:cs typeface="+mn-cs"/>
                  </a:rPr>
                  <a:t>共同面向终端</a:t>
                </a:r>
                <a:br/>
                <a:r>
                  <a:rPr lang="zh-CN" sz="860" dirty="0">
                    <a:solidFill>
                      <a:srgbClr val="FFFFFF"/>
                    </a:solidFill>
                    <a:latin typeface="+mn-lt"/>
                    <a:ea typeface="+mn-ea"/>
                    <a:cs typeface="+mn-cs"/>
                  </a:rPr>
                  <a:t>市场</a:t>
                </a:r>
              </a:p>
            </p:txBody>
          </p:sp>
          <p:sp>
            <p:nvSpPr>
              <p:cNvPr id="58" name="TextBox 58"/>
              <p:cNvSpPr txBox="1"/>
              <p:nvPr/>
            </p:nvSpPr>
            <p:spPr>
              <a:xfrm>
                <a:off x="5131156" y="558117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战略级</a:t>
                </a:r>
              </a:p>
            </p:txBody>
          </p:sp>
          <p:sp>
            <p:nvSpPr>
              <p:cNvPr id="59" name="TextBox 59"/>
              <p:cNvSpPr txBox="1"/>
              <p:nvPr/>
            </p:nvSpPr>
            <p:spPr>
              <a:xfrm>
                <a:off x="6135688" y="5492591"/>
                <a:ext cx="530225" cy="333375"/>
              </a:xfrm>
              <a:prstGeom prst="rect">
                <a:avLst/>
              </a:prstGeom>
              <a:noFill/>
              <a:ln>
                <a:noFill/>
              </a:ln>
            </p:spPr>
            <p:txBody>
              <a:bodyPr wrap="none" lIns="0" tIns="0" rIns="0" bIns="0" anchor="t" anchorCtr="0">
                <a:spAutoFit/>
              </a:bodyPr>
              <a:lstStyle/>
              <a:p>
                <a:pPr algn="ctr">
                  <a:lnSpc>
                    <a:spcPts val="1350"/>
                  </a:lnSpc>
                </a:pPr>
                <a:r>
                  <a:rPr lang="zh-CN" sz="820" dirty="0">
                    <a:solidFill>
                      <a:srgbClr val="FFFFFF"/>
                    </a:solidFill>
                    <a:latin typeface="+mn-lt"/>
                    <a:ea typeface="+mn-ea"/>
                    <a:cs typeface="+mn-cs"/>
                  </a:rPr>
                  <a:t>合资公司、</a:t>
                </a:r>
                <a:br/>
                <a:r>
                  <a:rPr lang="zh-CN" sz="820" dirty="0">
                    <a:solidFill>
                      <a:srgbClr val="FFFFFF"/>
                    </a:solidFill>
                    <a:latin typeface="+mn-lt"/>
                    <a:ea typeface="+mn-ea"/>
                    <a:cs typeface="+mn-cs"/>
                  </a:rPr>
                  <a:t>战略投资</a:t>
                </a:r>
              </a:p>
            </p:txBody>
          </p:sp>
          <p:sp>
            <p:nvSpPr>
              <p:cNvPr id="60" name="Line 60"/>
              <p:cNvSpPr/>
              <p:nvPr/>
            </p:nvSpPr>
            <p:spPr>
              <a:xfrm>
                <a:off x="3667125" y="5353050"/>
                <a:ext cx="9525" cy="552450"/>
              </a:xfrm>
              <a:custGeom>
                <a:avLst/>
                <a:gdLst/>
                <a:ahLst/>
                <a:cxnLst/>
                <a:rect l="l" t="t" r="r" b="b"/>
                <a:pathLst>
                  <a:path w="9525" h="552450">
                    <a:moveTo>
                      <a:pt x="0" y="0"/>
                    </a:moveTo>
                    <a:lnTo>
                      <a:pt x="0" y="552450"/>
                    </a:lnTo>
                  </a:path>
                </a:pathLst>
              </a:custGeom>
              <a:noFill/>
              <a:ln w="9525">
                <a:solidFill>
                  <a:srgbClr val="FFFFFF">
                    <a:alpha val="35000"/>
                  </a:srgbClr>
                </a:solidFill>
              </a:ln>
            </p:spPr>
          </p:sp>
          <p:sp>
            <p:nvSpPr>
              <p:cNvPr id="61" name="Line 61"/>
              <p:cNvSpPr/>
              <p:nvPr/>
            </p:nvSpPr>
            <p:spPr>
              <a:xfrm>
                <a:off x="4762500" y="5353050"/>
                <a:ext cx="9525" cy="552450"/>
              </a:xfrm>
              <a:custGeom>
                <a:avLst/>
                <a:gdLst/>
                <a:ahLst/>
                <a:cxnLst/>
                <a:rect l="l" t="t" r="r" b="b"/>
                <a:pathLst>
                  <a:path w="9525" h="552450">
                    <a:moveTo>
                      <a:pt x="0" y="0"/>
                    </a:moveTo>
                    <a:lnTo>
                      <a:pt x="0" y="552450"/>
                    </a:lnTo>
                  </a:path>
                </a:pathLst>
              </a:custGeom>
              <a:noFill/>
              <a:ln w="9525">
                <a:solidFill>
                  <a:srgbClr val="FFFFFF">
                    <a:alpha val="35000"/>
                  </a:srgbClr>
                </a:solidFill>
              </a:ln>
            </p:spPr>
          </p:sp>
          <p:sp>
            <p:nvSpPr>
              <p:cNvPr id="62" name="Line 62"/>
              <p:cNvSpPr/>
              <p:nvPr/>
            </p:nvSpPr>
            <p:spPr>
              <a:xfrm>
                <a:off x="5905500" y="5353050"/>
                <a:ext cx="9525" cy="552450"/>
              </a:xfrm>
              <a:custGeom>
                <a:avLst/>
                <a:gdLst/>
                <a:ahLst/>
                <a:cxnLst/>
                <a:rect l="l" t="t" r="r" b="b"/>
                <a:pathLst>
                  <a:path w="9525" h="552450">
                    <a:moveTo>
                      <a:pt x="0" y="0"/>
                    </a:moveTo>
                    <a:lnTo>
                      <a:pt x="0" y="552450"/>
                    </a:lnTo>
                  </a:path>
                </a:pathLst>
              </a:custGeom>
              <a:noFill/>
              <a:ln w="9525">
                <a:solidFill>
                  <a:srgbClr val="FFFFFF">
                    <a:alpha val="35000"/>
                  </a:srgbClr>
                </a:solidFill>
              </a:ln>
            </p:spPr>
          </p:sp>
        </p:grpSp>
      </p:grpSp>
      <p:grpSp>
        <p:nvGrpSpPr>
          <p:cNvPr id="96" name="actions-card"/>
          <p:cNvGrpSpPr/>
          <p:nvPr/>
        </p:nvGrpSpPr>
        <p:grpSpPr>
          <a:xfrm>
            <a:off x="7524750" y="1543050"/>
            <a:ext cx="4286250" cy="4724400"/>
            <a:chOff x="7524750" y="1543050"/>
            <a:chExt cx="4286250" cy="4724400"/>
          </a:xfrm>
        </p:grpSpPr>
        <p:sp>
          <p:nvSpPr>
            <p:cNvPr id="65" name="Rectangle 65"/>
            <p:cNvSpPr/>
            <p:nvPr/>
          </p:nvSpPr>
          <p:spPr>
            <a:xfrm>
              <a:off x="7524750" y="1543050"/>
              <a:ext cx="4286250" cy="4724400"/>
            </a:xfrm>
            <a:prstGeom prst="roundRect">
              <a:avLst>
                <a:gd name="adj" fmla="val 1778"/>
              </a:avLst>
            </a:prstGeom>
            <a:solidFill>
              <a:srgbClr val="FFFFFF"/>
            </a:solidFill>
            <a:ln w="19050">
              <a:solidFill>
                <a:srgbClr val="D9978C"/>
              </a:solidFill>
            </a:ln>
          </p:spPr>
        </p:sp>
        <p:sp>
          <p:nvSpPr>
            <p:cNvPr id="66" name="TextBox 66"/>
            <p:cNvSpPr txBox="1"/>
            <p:nvPr/>
          </p:nvSpPr>
          <p:spPr>
            <a:xfrm>
              <a:off x="8747258" y="1748314"/>
              <a:ext cx="1841234" cy="249364"/>
            </a:xfrm>
            <a:prstGeom prst="rect">
              <a:avLst/>
            </a:prstGeom>
            <a:noFill/>
            <a:ln>
              <a:noFill/>
            </a:ln>
          </p:spPr>
          <p:txBody>
            <a:bodyPr wrap="none" lIns="0" tIns="0" rIns="0" bIns="0" anchor="t" anchorCtr="0">
              <a:spAutoFit/>
            </a:bodyPr>
            <a:lstStyle/>
            <a:p>
              <a:pPr algn="ctr"/>
              <a:r>
                <a:rPr lang="zh-CN" sz="1280" b="1" dirty="0">
                  <a:solidFill>
                    <a:srgbClr val="1A1A1A"/>
                  </a:solidFill>
                  <a:latin typeface="+mn-lt"/>
                  <a:ea typeface="+mn-ea"/>
                  <a:cs typeface="+mn-cs"/>
                </a:rPr>
                <a:t>S级客户经营的核心动作</a:t>
              </a:r>
            </a:p>
          </p:txBody>
        </p:sp>
        <p:sp>
          <p:nvSpPr>
            <p:cNvPr id="67" name="Line 67"/>
            <p:cNvSpPr/>
            <p:nvPr/>
          </p:nvSpPr>
          <p:spPr>
            <a:xfrm>
              <a:off x="7715250" y="2038350"/>
              <a:ext cx="3905250" cy="9525"/>
            </a:xfrm>
            <a:custGeom>
              <a:avLst/>
              <a:gdLst/>
              <a:ahLst/>
              <a:cxnLst/>
              <a:rect l="l" t="t" r="r" b="b"/>
              <a:pathLst>
                <a:path w="3905250" h="9525">
                  <a:moveTo>
                    <a:pt x="0" y="0"/>
                  </a:moveTo>
                  <a:lnTo>
                    <a:pt x="3905250" y="0"/>
                  </a:lnTo>
                </a:path>
              </a:pathLst>
            </a:custGeom>
            <a:noFill/>
            <a:ln w="9525">
              <a:solidFill>
                <a:srgbClr val="EAC3BC"/>
              </a:solidFill>
            </a:ln>
          </p:spPr>
        </p:sp>
        <p:grpSp>
          <p:nvGrpSpPr>
            <p:cNvPr id="74" name="action-1"/>
            <p:cNvGrpSpPr/>
            <p:nvPr/>
          </p:nvGrpSpPr>
          <p:grpSpPr>
            <a:xfrm>
              <a:off x="7686675" y="2276475"/>
              <a:ext cx="2763482" cy="451009"/>
              <a:chOff x="7686675" y="2276475"/>
              <a:chExt cx="2763482" cy="451009"/>
            </a:xfrm>
          </p:grpSpPr>
          <p:sp>
            <p:nvSpPr>
              <p:cNvPr id="68" name="Ellipse 68"/>
              <p:cNvSpPr/>
              <p:nvPr/>
            </p:nvSpPr>
            <p:spPr>
              <a:xfrm>
                <a:off x="7686675" y="2276475"/>
                <a:ext cx="438150" cy="438150"/>
              </a:xfrm>
              <a:prstGeom prst="ellipse">
                <a:avLst/>
              </a:prstGeom>
              <a:solidFill>
                <a:srgbClr val="8B321E"/>
              </a:solidFill>
              <a:ln>
                <a:noFill/>
              </a:ln>
            </p:spPr>
          </p:sp>
          <p:sp>
            <p:nvSpPr>
              <p:cNvPr id="69" name="TextBox 69"/>
              <p:cNvSpPr txBox="1"/>
              <p:nvPr/>
            </p:nvSpPr>
            <p:spPr>
              <a:xfrm>
                <a:off x="7805407" y="2390061"/>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动作</a:t>
                </a:r>
              </a:p>
            </p:txBody>
          </p:sp>
          <p:sp>
            <p:nvSpPr>
              <p:cNvPr id="70" name="TextBox 70"/>
              <p:cNvSpPr txBox="1"/>
              <p:nvPr/>
            </p:nvSpPr>
            <p:spPr>
              <a:xfrm>
                <a:off x="7856499" y="250745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71" name="TextBox 71"/>
              <p:cNvSpPr txBox="1"/>
              <p:nvPr/>
            </p:nvSpPr>
            <p:spPr>
              <a:xfrm>
                <a:off x="8223504" y="2423160"/>
                <a:ext cx="105484" cy="234696"/>
              </a:xfrm>
              <a:prstGeom prst="rect">
                <a:avLst/>
              </a:prstGeom>
              <a:noFill/>
              <a:ln>
                <a:noFill/>
              </a:ln>
            </p:spPr>
            <p:txBody>
              <a:bodyPr wrap="none" lIns="0" tIns="0" rIns="0" bIns="0" anchor="t" anchorCtr="0">
                <a:spAutoFit/>
              </a:bodyPr>
              <a:lstStyle/>
              <a:p>
                <a:pPr algn="l"/>
                <a:r>
                  <a:rPr lang="zh-CN" sz="1200" b="1" dirty="0">
                    <a:solidFill>
                      <a:srgbClr val="C97263"/>
                    </a:solidFill>
                    <a:latin typeface="+mn-lt"/>
                    <a:ea typeface="+mn-ea"/>
                    <a:cs typeface="+mn-cs"/>
                  </a:rPr>
                  <a:t>&gt;</a:t>
                </a:r>
              </a:p>
            </p:txBody>
          </p:sp>
          <p:sp>
            <p:nvSpPr>
              <p:cNvPr id="72" name="TextBox 72"/>
              <p:cNvSpPr txBox="1"/>
              <p:nvPr/>
            </p:nvSpPr>
            <p:spPr>
              <a:xfrm>
                <a:off x="8472106" y="2329101"/>
                <a:ext cx="1641881"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每年制定《客户经营计划》</a:t>
                </a:r>
              </a:p>
            </p:txBody>
          </p:sp>
          <p:sp>
            <p:nvSpPr>
              <p:cNvPr id="73" name="TextBox 73"/>
              <p:cNvSpPr txBox="1"/>
              <p:nvPr/>
            </p:nvSpPr>
            <p:spPr>
              <a:xfrm>
                <a:off x="8472488" y="2554843"/>
                <a:ext cx="1977669" cy="169069"/>
              </a:xfrm>
              <a:prstGeom prst="rect">
                <a:avLst/>
              </a:prstGeom>
              <a:noFill/>
              <a:ln>
                <a:noFill/>
              </a:ln>
            </p:spPr>
            <p:txBody>
              <a:bodyPr wrap="none" lIns="0" tIns="0" rIns="0" bIns="0" anchor="t" anchorCtr="0">
                <a:spAutoFit/>
              </a:bodyPr>
              <a:lstStyle/>
              <a:p>
                <a:pPr algn="l"/>
                <a:r>
                  <a:rPr lang="zh-CN" sz="860" dirty="0">
                    <a:solidFill>
                      <a:srgbClr val="6A6A6A"/>
                    </a:solidFill>
                    <a:latin typeface="+mn-lt"/>
                    <a:ea typeface="+mn-ea"/>
                    <a:cs typeface="+mn-cs"/>
                  </a:rPr>
                  <a:t>（含业务分析、机会点、目标、行动）</a:t>
                </a:r>
              </a:p>
            </p:txBody>
          </p:sp>
        </p:grpSp>
        <p:grpSp>
          <p:nvGrpSpPr>
            <p:cNvPr id="81" name="action-2"/>
            <p:cNvGrpSpPr/>
            <p:nvPr/>
          </p:nvGrpSpPr>
          <p:grpSpPr>
            <a:xfrm>
              <a:off x="7686675" y="3324225"/>
              <a:ext cx="2300390" cy="451009"/>
              <a:chOff x="7686675" y="3324225"/>
              <a:chExt cx="2300390" cy="451009"/>
            </a:xfrm>
          </p:grpSpPr>
          <p:sp>
            <p:nvSpPr>
              <p:cNvPr id="75" name="Ellipse 75"/>
              <p:cNvSpPr/>
              <p:nvPr/>
            </p:nvSpPr>
            <p:spPr>
              <a:xfrm>
                <a:off x="7686675" y="3324225"/>
                <a:ext cx="438150" cy="438150"/>
              </a:xfrm>
              <a:prstGeom prst="ellipse">
                <a:avLst/>
              </a:prstGeom>
              <a:solidFill>
                <a:srgbClr val="8B321E"/>
              </a:solidFill>
              <a:ln>
                <a:noFill/>
              </a:ln>
            </p:spPr>
          </p:sp>
          <p:sp>
            <p:nvSpPr>
              <p:cNvPr id="76" name="TextBox 76"/>
              <p:cNvSpPr txBox="1"/>
              <p:nvPr/>
            </p:nvSpPr>
            <p:spPr>
              <a:xfrm>
                <a:off x="7805407" y="3437811"/>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动作</a:t>
                </a:r>
              </a:p>
            </p:txBody>
          </p:sp>
          <p:sp>
            <p:nvSpPr>
              <p:cNvPr id="77" name="TextBox 77"/>
              <p:cNvSpPr txBox="1"/>
              <p:nvPr/>
            </p:nvSpPr>
            <p:spPr>
              <a:xfrm>
                <a:off x="7856499" y="35552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78" name="TextBox 78"/>
              <p:cNvSpPr txBox="1"/>
              <p:nvPr/>
            </p:nvSpPr>
            <p:spPr>
              <a:xfrm>
                <a:off x="8223504" y="3470910"/>
                <a:ext cx="105484" cy="234696"/>
              </a:xfrm>
              <a:prstGeom prst="rect">
                <a:avLst/>
              </a:prstGeom>
              <a:noFill/>
              <a:ln>
                <a:noFill/>
              </a:ln>
            </p:spPr>
            <p:txBody>
              <a:bodyPr wrap="none" lIns="0" tIns="0" rIns="0" bIns="0" anchor="t" anchorCtr="0">
                <a:spAutoFit/>
              </a:bodyPr>
              <a:lstStyle/>
              <a:p>
                <a:pPr algn="l"/>
                <a:r>
                  <a:rPr lang="zh-CN" sz="1200" b="1" dirty="0">
                    <a:solidFill>
                      <a:srgbClr val="C97263"/>
                    </a:solidFill>
                    <a:latin typeface="+mn-lt"/>
                    <a:ea typeface="+mn-ea"/>
                    <a:cs typeface="+mn-cs"/>
                  </a:rPr>
                  <a:t>&gt;</a:t>
                </a:r>
              </a:p>
            </p:txBody>
          </p:sp>
          <p:sp>
            <p:nvSpPr>
              <p:cNvPr id="79" name="TextBox 79"/>
              <p:cNvSpPr txBox="1"/>
              <p:nvPr/>
            </p:nvSpPr>
            <p:spPr>
              <a:xfrm>
                <a:off x="8472106" y="3376851"/>
                <a:ext cx="1369949"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建立客户内部关系图谱</a:t>
                </a:r>
              </a:p>
            </p:txBody>
          </p:sp>
          <p:sp>
            <p:nvSpPr>
              <p:cNvPr id="80" name="TextBox 80"/>
              <p:cNvSpPr txBox="1"/>
              <p:nvPr/>
            </p:nvSpPr>
            <p:spPr>
              <a:xfrm>
                <a:off x="8472488" y="3602593"/>
                <a:ext cx="1514577" cy="169069"/>
              </a:xfrm>
              <a:prstGeom prst="rect">
                <a:avLst/>
              </a:prstGeom>
              <a:noFill/>
              <a:ln>
                <a:noFill/>
              </a:ln>
            </p:spPr>
            <p:txBody>
              <a:bodyPr wrap="none" lIns="0" tIns="0" rIns="0" bIns="0" anchor="t" anchorCtr="0">
                <a:spAutoFit/>
              </a:bodyPr>
              <a:lstStyle/>
              <a:p>
                <a:pPr algn="l"/>
                <a:r>
                  <a:rPr lang="zh-CN" sz="860" dirty="0">
                    <a:solidFill>
                      <a:srgbClr val="6A6A6A"/>
                    </a:solidFill>
                    <a:latin typeface="+mn-lt"/>
                    <a:ea typeface="+mn-ea"/>
                    <a:cs typeface="+mn-cs"/>
                  </a:rPr>
                  <a:t>（决策链、影响链、执行链）</a:t>
                </a:r>
              </a:p>
            </p:txBody>
          </p:sp>
        </p:grpSp>
        <p:grpSp>
          <p:nvGrpSpPr>
            <p:cNvPr id="88" name="action-3"/>
            <p:cNvGrpSpPr/>
            <p:nvPr/>
          </p:nvGrpSpPr>
          <p:grpSpPr>
            <a:xfrm>
              <a:off x="7686675" y="4371975"/>
              <a:ext cx="2291346" cy="451009"/>
              <a:chOff x="7686675" y="4371975"/>
              <a:chExt cx="2291346" cy="451009"/>
            </a:xfrm>
          </p:grpSpPr>
          <p:sp>
            <p:nvSpPr>
              <p:cNvPr id="82" name="Ellipse 82"/>
              <p:cNvSpPr/>
              <p:nvPr/>
            </p:nvSpPr>
            <p:spPr>
              <a:xfrm>
                <a:off x="7686675" y="4371975"/>
                <a:ext cx="438150" cy="438150"/>
              </a:xfrm>
              <a:prstGeom prst="ellipse">
                <a:avLst/>
              </a:prstGeom>
              <a:solidFill>
                <a:srgbClr val="8B321E"/>
              </a:solidFill>
              <a:ln>
                <a:noFill/>
              </a:ln>
            </p:spPr>
          </p:sp>
          <p:sp>
            <p:nvSpPr>
              <p:cNvPr id="83" name="TextBox 83"/>
              <p:cNvSpPr txBox="1"/>
              <p:nvPr/>
            </p:nvSpPr>
            <p:spPr>
              <a:xfrm>
                <a:off x="7805407" y="4485561"/>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动作</a:t>
                </a:r>
              </a:p>
            </p:txBody>
          </p:sp>
          <p:sp>
            <p:nvSpPr>
              <p:cNvPr id="84" name="TextBox 84"/>
              <p:cNvSpPr txBox="1"/>
              <p:nvPr/>
            </p:nvSpPr>
            <p:spPr>
              <a:xfrm>
                <a:off x="7856499" y="460295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85" name="TextBox 85"/>
              <p:cNvSpPr txBox="1"/>
              <p:nvPr/>
            </p:nvSpPr>
            <p:spPr>
              <a:xfrm>
                <a:off x="8223504" y="4518660"/>
                <a:ext cx="105484" cy="234696"/>
              </a:xfrm>
              <a:prstGeom prst="rect">
                <a:avLst/>
              </a:prstGeom>
              <a:noFill/>
              <a:ln>
                <a:noFill/>
              </a:ln>
            </p:spPr>
            <p:txBody>
              <a:bodyPr wrap="none" lIns="0" tIns="0" rIns="0" bIns="0" anchor="t" anchorCtr="0">
                <a:spAutoFit/>
              </a:bodyPr>
              <a:lstStyle/>
              <a:p>
                <a:pPr algn="l"/>
                <a:r>
                  <a:rPr lang="zh-CN" sz="1200" b="1" dirty="0">
                    <a:solidFill>
                      <a:srgbClr val="C97263"/>
                    </a:solidFill>
                    <a:latin typeface="+mn-lt"/>
                    <a:ea typeface="+mn-ea"/>
                    <a:cs typeface="+mn-cs"/>
                  </a:rPr>
                  <a:t>&gt;</a:t>
                </a:r>
              </a:p>
            </p:txBody>
          </p:sp>
          <p:sp>
            <p:nvSpPr>
              <p:cNvPr id="86" name="TextBox 86"/>
              <p:cNvSpPr txBox="1"/>
              <p:nvPr/>
            </p:nvSpPr>
            <p:spPr>
              <a:xfrm>
                <a:off x="8472106" y="4424601"/>
                <a:ext cx="1505915"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高管定期拜访（季度），</a:t>
                </a:r>
              </a:p>
            </p:txBody>
          </p:sp>
          <p:sp>
            <p:nvSpPr>
              <p:cNvPr id="87" name="TextBox 87"/>
              <p:cNvSpPr txBox="1"/>
              <p:nvPr/>
            </p:nvSpPr>
            <p:spPr>
              <a:xfrm>
                <a:off x="8472488" y="4650343"/>
                <a:ext cx="1398803" cy="169069"/>
              </a:xfrm>
              <a:prstGeom prst="rect">
                <a:avLst/>
              </a:prstGeom>
              <a:noFill/>
              <a:ln>
                <a:noFill/>
              </a:ln>
            </p:spPr>
            <p:txBody>
              <a:bodyPr wrap="none" lIns="0" tIns="0" rIns="0" bIns="0" anchor="t" anchorCtr="0">
                <a:spAutoFit/>
              </a:bodyPr>
              <a:lstStyle/>
              <a:p>
                <a:pPr algn="l"/>
                <a:r>
                  <a:rPr lang="zh-CN" sz="860" dirty="0">
                    <a:solidFill>
                      <a:srgbClr val="6A6A6A"/>
                    </a:solidFill>
                    <a:latin typeface="+mn-lt"/>
                    <a:ea typeface="+mn-ea"/>
                    <a:cs typeface="+mn-cs"/>
                  </a:rPr>
                  <a:t>议题聚焦战略而非日常事务</a:t>
                </a:r>
              </a:p>
            </p:txBody>
          </p:sp>
        </p:grpSp>
        <p:grpSp>
          <p:nvGrpSpPr>
            <p:cNvPr id="95" name="action-4"/>
            <p:cNvGrpSpPr/>
            <p:nvPr/>
          </p:nvGrpSpPr>
          <p:grpSpPr>
            <a:xfrm>
              <a:off x="7686675" y="5419725"/>
              <a:ext cx="2291346" cy="451009"/>
              <a:chOff x="7686675" y="5419725"/>
              <a:chExt cx="2291346" cy="451009"/>
            </a:xfrm>
          </p:grpSpPr>
          <p:sp>
            <p:nvSpPr>
              <p:cNvPr id="89" name="Ellipse 89"/>
              <p:cNvSpPr/>
              <p:nvPr/>
            </p:nvSpPr>
            <p:spPr>
              <a:xfrm>
                <a:off x="7686675" y="5419725"/>
                <a:ext cx="438150" cy="438150"/>
              </a:xfrm>
              <a:prstGeom prst="ellipse">
                <a:avLst/>
              </a:prstGeom>
              <a:solidFill>
                <a:srgbClr val="8B321E"/>
              </a:solidFill>
              <a:ln>
                <a:noFill/>
              </a:ln>
            </p:spPr>
          </p:sp>
          <p:sp>
            <p:nvSpPr>
              <p:cNvPr id="90" name="TextBox 90"/>
              <p:cNvSpPr txBox="1"/>
              <p:nvPr/>
            </p:nvSpPr>
            <p:spPr>
              <a:xfrm>
                <a:off x="7805407" y="5533311"/>
                <a:ext cx="200685" cy="140494"/>
              </a:xfrm>
              <a:prstGeom prst="rect">
                <a:avLst/>
              </a:prstGeom>
              <a:noFill/>
              <a:ln>
                <a:noFill/>
              </a:ln>
            </p:spPr>
            <p:txBody>
              <a:bodyPr wrap="none" lIns="0" tIns="0" rIns="0" bIns="0" anchor="t" anchorCtr="0">
                <a:spAutoFit/>
              </a:bodyPr>
              <a:lstStyle/>
              <a:p>
                <a:pPr algn="ctr"/>
                <a:r>
                  <a:rPr lang="zh-CN" sz="710" dirty="0">
                    <a:solidFill>
                      <a:srgbClr val="FFFFFF"/>
                    </a:solidFill>
                    <a:latin typeface="+mn-lt"/>
                    <a:ea typeface="+mn-ea"/>
                    <a:cs typeface="+mn-cs"/>
                  </a:rPr>
                  <a:t>动作</a:t>
                </a:r>
              </a:p>
            </p:txBody>
          </p:sp>
          <p:sp>
            <p:nvSpPr>
              <p:cNvPr id="91" name="TextBox 91"/>
              <p:cNvSpPr txBox="1"/>
              <p:nvPr/>
            </p:nvSpPr>
            <p:spPr>
              <a:xfrm>
                <a:off x="7856499" y="56507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92" name="TextBox 92"/>
              <p:cNvSpPr txBox="1"/>
              <p:nvPr/>
            </p:nvSpPr>
            <p:spPr>
              <a:xfrm>
                <a:off x="8223504" y="5566410"/>
                <a:ext cx="105484" cy="234696"/>
              </a:xfrm>
              <a:prstGeom prst="rect">
                <a:avLst/>
              </a:prstGeom>
              <a:noFill/>
              <a:ln>
                <a:noFill/>
              </a:ln>
            </p:spPr>
            <p:txBody>
              <a:bodyPr wrap="none" lIns="0" tIns="0" rIns="0" bIns="0" anchor="t" anchorCtr="0">
                <a:spAutoFit/>
              </a:bodyPr>
              <a:lstStyle/>
              <a:p>
                <a:pPr algn="l"/>
                <a:r>
                  <a:rPr lang="zh-CN" sz="1200" b="1" dirty="0">
                    <a:solidFill>
                      <a:srgbClr val="C97263"/>
                    </a:solidFill>
                    <a:latin typeface="+mn-lt"/>
                    <a:ea typeface="+mn-ea"/>
                    <a:cs typeface="+mn-cs"/>
                  </a:rPr>
                  <a:t>&gt;</a:t>
                </a:r>
              </a:p>
            </p:txBody>
          </p:sp>
          <p:sp>
            <p:nvSpPr>
              <p:cNvPr id="93" name="TextBox 93"/>
              <p:cNvSpPr txBox="1"/>
              <p:nvPr/>
            </p:nvSpPr>
            <p:spPr>
              <a:xfrm>
                <a:off x="8472106" y="5472351"/>
                <a:ext cx="1505915"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联合业务评审（半年），</a:t>
                </a:r>
              </a:p>
            </p:txBody>
          </p:sp>
          <p:sp>
            <p:nvSpPr>
              <p:cNvPr id="94" name="TextBox 94"/>
              <p:cNvSpPr txBox="1"/>
              <p:nvPr/>
            </p:nvSpPr>
            <p:spPr>
              <a:xfrm>
                <a:off x="8472488" y="5698093"/>
                <a:ext cx="935711" cy="169069"/>
              </a:xfrm>
              <a:prstGeom prst="rect">
                <a:avLst/>
              </a:prstGeom>
              <a:noFill/>
              <a:ln>
                <a:noFill/>
              </a:ln>
            </p:spPr>
            <p:txBody>
              <a:bodyPr wrap="none" lIns="0" tIns="0" rIns="0" bIns="0" anchor="t" anchorCtr="0">
                <a:spAutoFit/>
              </a:bodyPr>
              <a:lstStyle/>
              <a:p>
                <a:pPr algn="l"/>
                <a:r>
                  <a:rPr lang="zh-CN" sz="860" dirty="0">
                    <a:solidFill>
                      <a:srgbClr val="6A6A6A"/>
                    </a:solidFill>
                    <a:latin typeface="+mn-lt"/>
                    <a:ea typeface="+mn-ea"/>
                    <a:cs typeface="+mn-cs"/>
                  </a:rPr>
                  <a:t>共同复盘合作成果</a:t>
                </a:r>
              </a:p>
            </p:txBody>
          </p:sp>
        </p:grpSp>
      </p:grpSp>
      <p:sp>
        <p:nvSpPr>
          <p:cNvPr id="97" name="TextBox 97"/>
          <p:cNvSpPr txBox="1"/>
          <p:nvPr/>
        </p:nvSpPr>
        <p:spPr>
          <a:xfrm>
            <a:off x="11620383" y="6565106"/>
            <a:ext cx="177282" cy="220028"/>
          </a:xfrm>
          <a:prstGeom prst="rect">
            <a:avLst/>
          </a:prstGeom>
          <a:noFill/>
          <a:ln>
            <a:noFill/>
          </a:ln>
        </p:spPr>
        <p:txBody>
          <a:bodyPr wrap="none" lIns="0" tIns="0" rIns="0" bIns="0" anchor="t" anchorCtr="0">
            <a:spAutoFit/>
          </a:bodyPr>
          <a:lstStyle/>
          <a:p>
            <a:pPr algn="r"/>
            <a:r>
              <a:rPr lang="zh-CN" sz="1120" dirty="0">
                <a:solidFill>
                  <a:srgbClr val="8A8A8A"/>
                </a:solidFill>
                <a:latin typeface="+mn-lt"/>
                <a:ea typeface="+mn-ea"/>
                <a:cs typeface="+mn-cs"/>
              </a:rPr>
              <a:t>05</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title"/>
          <p:cNvGrpSpPr/>
          <p:nvPr/>
        </p:nvGrpSpPr>
        <p:grpSpPr>
          <a:xfrm>
            <a:off x="381000" y="266700"/>
            <a:ext cx="7110222" cy="541401"/>
            <a:chOff x="381000" y="266700"/>
            <a:chExt cx="7110222" cy="541401"/>
          </a:xfrm>
        </p:grpSpPr>
        <p:sp>
          <p:nvSpPr>
            <p:cNvPr id="2" name="Rectangle 2"/>
            <p:cNvSpPr/>
            <p:nvPr/>
          </p:nvSpPr>
          <p:spPr>
            <a:xfrm>
              <a:off x="381000" y="266700"/>
              <a:ext cx="66675" cy="381000"/>
            </a:xfrm>
            <a:prstGeom prst="rect">
              <a:avLst/>
            </a:prstGeom>
            <a:solidFill>
              <a:srgbClr val="8B321E"/>
            </a:solidFill>
            <a:ln>
              <a:noFill/>
            </a:ln>
          </p:spPr>
        </p:sp>
        <p:sp>
          <p:nvSpPr>
            <p:cNvPr id="3" name="TextBox 3"/>
            <p:cNvSpPr txBox="1"/>
            <p:nvPr/>
          </p:nvSpPr>
          <p:spPr>
            <a:xfrm>
              <a:off x="557784" y="280035"/>
              <a:ext cx="6933438" cy="528066"/>
            </a:xfrm>
            <a:prstGeom prst="rect">
              <a:avLst/>
            </a:prstGeom>
            <a:noFill/>
            <a:ln>
              <a:noFill/>
            </a:ln>
          </p:spPr>
          <p:txBody>
            <a:bodyPr wrap="none" lIns="0" tIns="0" rIns="0" bIns="0" anchor="t" anchorCtr="0">
              <a:spAutoFit/>
            </a:bodyPr>
            <a:lstStyle/>
            <a:p>
              <a:pPr algn="l"/>
              <a:r>
                <a:rPr lang="zh-CN" sz="2700" b="1" dirty="0">
                  <a:solidFill>
                    <a:srgbClr val="1A1A1A"/>
                  </a:solidFill>
                  <a:latin typeface="+mn-lt"/>
                  <a:ea typeface="+mn-ea"/>
                  <a:cs typeface="+mn-cs"/>
                </a:rPr>
                <a:t>客户关系图谱：大客户内部的决策链怎么画</a:t>
              </a:r>
            </a:p>
          </p:txBody>
        </p:sp>
      </p:grpSp>
      <p:grpSp>
        <p:nvGrpSpPr>
          <p:cNvPr id="12" name="intro-statement"/>
          <p:cNvGrpSpPr/>
          <p:nvPr/>
        </p:nvGrpSpPr>
        <p:grpSpPr>
          <a:xfrm>
            <a:off x="457200" y="971550"/>
            <a:ext cx="5557393" cy="646462"/>
            <a:chOff x="457200" y="971550"/>
            <a:chExt cx="5557393" cy="646462"/>
          </a:xfrm>
        </p:grpSpPr>
        <p:sp>
          <p:nvSpPr>
            <p:cNvPr id="5" name="Ellipse 5"/>
            <p:cNvSpPr/>
            <p:nvPr/>
          </p:nvSpPr>
          <p:spPr>
            <a:xfrm>
              <a:off x="457200" y="971550"/>
              <a:ext cx="571500" cy="571500"/>
            </a:xfrm>
            <a:prstGeom prst="ellipse">
              <a:avLst/>
            </a:prstGeom>
            <a:solidFill>
              <a:srgbClr val="8B321E"/>
            </a:solidFill>
            <a:ln>
              <a:noFill/>
            </a:ln>
          </p:spPr>
        </p:sp>
        <p:grpSp>
          <p:nvGrpSpPr>
            <p:cNvPr id="10" name="Group 10"/>
            <p:cNvGrpSpPr/>
            <p:nvPr/>
          </p:nvGrpSpPr>
          <p:grpSpPr>
            <a:xfrm>
              <a:off x="671512" y="1150144"/>
              <a:ext cx="190500" cy="226218"/>
              <a:chOff x="671512" y="1150144"/>
              <a:chExt cx="190500" cy="226218"/>
            </a:xfrm>
          </p:grpSpPr>
          <p:sp>
            <p:nvSpPr>
              <p:cNvPr id="6" name="Freeform 6"/>
              <p:cNvSpPr/>
              <p:nvPr/>
            </p:nvSpPr>
            <p:spPr>
              <a:xfrm>
                <a:off x="695325" y="1150144"/>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FFFFFF"/>
                </a:solidFill>
              </a:ln>
            </p:spPr>
          </p:sp>
          <p:sp>
            <p:nvSpPr>
              <p:cNvPr id="7" name="Freeform 7"/>
              <p:cNvSpPr/>
              <p:nvPr/>
            </p:nvSpPr>
            <p:spPr>
              <a:xfrm>
                <a:off x="671512" y="1293019"/>
                <a:ext cx="65484" cy="71438"/>
              </a:xfrm>
              <a:custGeom>
                <a:avLst/>
                <a:gdLst/>
                <a:ahLst/>
                <a:cxnLst/>
                <a:rect l="l" t="t" r="r" b="b"/>
                <a:pathLst>
                  <a:path w="65484" h="71438">
                    <a:moveTo>
                      <a:pt x="0" y="71438"/>
                    </a:moveTo>
                    <a:lnTo>
                      <a:pt x="0" y="47625"/>
                    </a:lnTo>
                    <a:cubicBezTo>
                      <a:pt x="0" y="21322"/>
                      <a:pt x="21322" y="0"/>
                      <a:pt x="47625" y="0"/>
                    </a:cubicBezTo>
                    <a:lnTo>
                      <a:pt x="65484" y="0"/>
                    </a:lnTo>
                  </a:path>
                </a:pathLst>
              </a:custGeom>
              <a:noFill/>
              <a:ln w="23812">
                <a:solidFill>
                  <a:srgbClr val="FFFFFF"/>
                </a:solidFill>
              </a:ln>
            </p:spPr>
          </p:sp>
          <p:sp>
            <p:nvSpPr>
              <p:cNvPr id="8" name="Freeform 8"/>
              <p:cNvSpPr/>
              <p:nvPr/>
            </p:nvSpPr>
            <p:spPr>
              <a:xfrm>
                <a:off x="778669" y="1293019"/>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23812">
                <a:solidFill>
                  <a:srgbClr val="FFFFFF"/>
                </a:solidFill>
              </a:ln>
            </p:spPr>
          </p:sp>
          <p:sp>
            <p:nvSpPr>
              <p:cNvPr id="9" name="Freeform 9"/>
              <p:cNvSpPr/>
              <p:nvPr/>
            </p:nvSpPr>
            <p:spPr>
              <a:xfrm>
                <a:off x="840581" y="1354931"/>
                <a:ext cx="21431" cy="21431"/>
              </a:xfrm>
              <a:custGeom>
                <a:avLst/>
                <a:gdLst/>
                <a:ahLst/>
                <a:cxnLst/>
                <a:rect l="l" t="t" r="r" b="b"/>
                <a:pathLst>
                  <a:path w="21431" h="21431">
                    <a:moveTo>
                      <a:pt x="0" y="0"/>
                    </a:moveTo>
                    <a:lnTo>
                      <a:pt x="21431" y="21431"/>
                    </a:lnTo>
                  </a:path>
                </a:pathLst>
              </a:custGeom>
              <a:noFill/>
              <a:ln w="23812">
                <a:solidFill>
                  <a:srgbClr val="FFFFFF"/>
                </a:solidFill>
              </a:ln>
            </p:spPr>
          </p:sp>
        </p:grpSp>
        <p:sp>
          <p:nvSpPr>
            <p:cNvPr id="11" name="TextBox 11"/>
            <p:cNvSpPr txBox="1"/>
            <p:nvPr/>
          </p:nvSpPr>
          <p:spPr>
            <a:xfrm>
              <a:off x="1191387" y="975836"/>
              <a:ext cx="4823206" cy="642176"/>
            </a:xfrm>
            <a:prstGeom prst="rect">
              <a:avLst/>
            </a:prstGeom>
            <a:noFill/>
            <a:ln>
              <a:noFill/>
            </a:ln>
          </p:spPr>
          <p:txBody>
            <a:bodyPr wrap="none" lIns="0" tIns="0" rIns="0" bIns="0" anchor="t" anchorCtr="0">
              <a:spAutoFit/>
            </a:bodyPr>
            <a:lstStyle/>
            <a:p>
              <a:pPr algn="l">
                <a:lnSpc>
                  <a:spcPts val="2400"/>
                </a:lnSpc>
              </a:pPr>
              <a:r>
                <a:rPr lang="zh-CN" sz="1720" b="1" dirty="0">
                  <a:solidFill>
                    <a:srgbClr val="8B321E"/>
                  </a:solidFill>
                  <a:latin typeface="+mn-lt"/>
                  <a:ea typeface="+mn-ea"/>
                  <a:cs typeface="+mn-cs"/>
                </a:rPr>
                <a:t>大客户销售失败，80%的原因是</a:t>
              </a:r>
              <a:br/>
              <a:r>
                <a:rPr lang="zh-CN" sz="1720" b="1" dirty="0">
                  <a:solidFill>
                    <a:srgbClr val="8B321E"/>
                  </a:solidFill>
                  <a:latin typeface="+mn-lt"/>
                  <a:ea typeface="+mn-ea"/>
                  <a:cs typeface="+mn-cs"/>
                </a:rPr>
                <a:t>只搞定了采购，没有搞定真正的决策者和影响者。</a:t>
              </a:r>
            </a:p>
          </p:txBody>
        </p:sp>
      </p:grpSp>
      <p:grpSp>
        <p:nvGrpSpPr>
          <p:cNvPr id="64" name="role-cards"/>
          <p:cNvGrpSpPr/>
          <p:nvPr/>
        </p:nvGrpSpPr>
        <p:grpSpPr>
          <a:xfrm>
            <a:off x="381000" y="1866900"/>
            <a:ext cx="6058745" cy="4457700"/>
            <a:chOff x="381000" y="1866900"/>
            <a:chExt cx="6058745" cy="4457700"/>
          </a:xfrm>
        </p:grpSpPr>
        <p:grpSp>
          <p:nvGrpSpPr>
            <p:cNvPr id="24" name="role-eb"/>
            <p:cNvGrpSpPr/>
            <p:nvPr/>
          </p:nvGrpSpPr>
          <p:grpSpPr>
            <a:xfrm>
              <a:off x="381000" y="1866900"/>
              <a:ext cx="2952750" cy="2171700"/>
              <a:chOff x="381000" y="1866900"/>
              <a:chExt cx="2952750" cy="2171700"/>
            </a:xfrm>
          </p:grpSpPr>
          <p:sp>
            <p:nvSpPr>
              <p:cNvPr id="13" name="Rectangle 13"/>
              <p:cNvSpPr/>
              <p:nvPr/>
            </p:nvSpPr>
            <p:spPr>
              <a:xfrm>
                <a:off x="381000" y="1866900"/>
                <a:ext cx="2952750" cy="2171700"/>
              </a:xfrm>
              <a:prstGeom prst="roundRect">
                <a:avLst>
                  <a:gd name="adj" fmla="val 2632"/>
                </a:avLst>
              </a:prstGeom>
              <a:solidFill>
                <a:srgbClr val="8B321E"/>
              </a:solidFill>
              <a:ln>
                <a:noFill/>
              </a:ln>
            </p:spPr>
          </p:sp>
          <p:sp>
            <p:nvSpPr>
              <p:cNvPr id="14" name="Ellipse 14"/>
              <p:cNvSpPr/>
              <p:nvPr/>
            </p:nvSpPr>
            <p:spPr>
              <a:xfrm>
                <a:off x="590550" y="2038350"/>
                <a:ext cx="457200" cy="457200"/>
              </a:xfrm>
              <a:prstGeom prst="ellipse">
                <a:avLst/>
              </a:prstGeom>
              <a:solidFill>
                <a:srgbClr val="FFFFFF"/>
              </a:solidFill>
              <a:ln>
                <a:noFill/>
              </a:ln>
            </p:spPr>
          </p:sp>
          <p:grpSp>
            <p:nvGrpSpPr>
              <p:cNvPr id="17" name="Group 17"/>
              <p:cNvGrpSpPr/>
              <p:nvPr/>
            </p:nvGrpSpPr>
            <p:grpSpPr>
              <a:xfrm>
                <a:off x="762000" y="2181225"/>
                <a:ext cx="114300" cy="171450"/>
                <a:chOff x="762000" y="2181225"/>
                <a:chExt cx="114300" cy="171450"/>
              </a:xfrm>
            </p:grpSpPr>
            <p:sp>
              <p:nvSpPr>
                <p:cNvPr id="15" name="Freeform 15"/>
                <p:cNvSpPr/>
                <p:nvPr/>
              </p:nvSpPr>
              <p:spPr>
                <a:xfrm>
                  <a:off x="781050" y="21812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8B321E"/>
                  </a:solidFill>
                </a:ln>
              </p:spPr>
            </p:sp>
            <p:sp>
              <p:nvSpPr>
                <p:cNvPr id="16" name="Freeform 16"/>
                <p:cNvSpPr/>
                <p:nvPr/>
              </p:nvSpPr>
              <p:spPr>
                <a:xfrm>
                  <a:off x="762000" y="22955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8B321E"/>
                  </a:solidFill>
                </a:ln>
              </p:spPr>
            </p:sp>
          </p:grpSp>
          <p:sp>
            <p:nvSpPr>
              <p:cNvPr id="18" name="TextBox 18"/>
              <p:cNvSpPr txBox="1"/>
              <p:nvPr/>
            </p:nvSpPr>
            <p:spPr>
              <a:xfrm>
                <a:off x="1175385" y="2212181"/>
                <a:ext cx="179024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角色一：经济买家（EB）​</a:t>
                </a:r>
              </a:p>
            </p:txBody>
          </p:sp>
          <p:sp>
            <p:nvSpPr>
              <p:cNvPr id="19" name="TextBox 19"/>
              <p:cNvSpPr txBox="1"/>
              <p:nvPr/>
            </p:nvSpPr>
            <p:spPr>
              <a:xfrm>
                <a:off x="604838" y="2760345"/>
                <a:ext cx="2098358"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特征：</a:t>
                </a:r>
                <a:r>
                  <a:rPr lang="zh-CN" sz="900" dirty="0">
                    <a:solidFill>
                      <a:srgbClr val="F0DBDE"/>
                    </a:solidFill>
                    <a:latin typeface="+mn-lt"/>
                    <a:ea typeface="+mn-ea"/>
                    <a:cs typeface="+mn-cs"/>
                  </a:rPr>
                  <a:t>有最终预算审批权，关注ROI。​</a:t>
                </a:r>
              </a:p>
            </p:txBody>
          </p:sp>
          <p:sp>
            <p:nvSpPr>
              <p:cNvPr id="20" name="Line 20"/>
              <p:cNvSpPr/>
              <p:nvPr/>
            </p:nvSpPr>
            <p:spPr>
              <a:xfrm>
                <a:off x="609600" y="3009900"/>
                <a:ext cx="2495550" cy="9525"/>
              </a:xfrm>
              <a:custGeom>
                <a:avLst/>
                <a:gdLst/>
                <a:ahLst/>
                <a:cxnLst/>
                <a:rect l="l" t="t" r="r" b="b"/>
                <a:pathLst>
                  <a:path w="2495550" h="9525">
                    <a:moveTo>
                      <a:pt x="0" y="0"/>
                    </a:moveTo>
                    <a:lnTo>
                      <a:pt x="2495550" y="0"/>
                    </a:lnTo>
                  </a:path>
                </a:pathLst>
              </a:custGeom>
              <a:noFill/>
              <a:ln w="9525">
                <a:solidFill>
                  <a:srgbClr val="FFFFFF">
                    <a:alpha val="25000"/>
                  </a:srgbClr>
                </a:solidFill>
              </a:ln>
            </p:spPr>
          </p:sp>
          <p:sp>
            <p:nvSpPr>
              <p:cNvPr id="21" name="TextBox 21"/>
              <p:cNvSpPr txBox="1"/>
              <p:nvPr/>
            </p:nvSpPr>
            <p:spPr>
              <a:xfrm>
                <a:off x="604838" y="3179445"/>
                <a:ext cx="1114120"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职位：</a:t>
                </a:r>
                <a:r>
                  <a:rPr lang="zh-CN" sz="900" dirty="0">
                    <a:solidFill>
                      <a:srgbClr val="F0DBDE"/>
                    </a:solidFill>
                    <a:latin typeface="+mn-lt"/>
                    <a:ea typeface="+mn-ea"/>
                    <a:cs typeface="+mn-cs"/>
                  </a:rPr>
                  <a:t>总经理/CFO​</a:t>
                </a:r>
              </a:p>
            </p:txBody>
          </p:sp>
          <p:sp>
            <p:nvSpPr>
              <p:cNvPr id="22" name="Line 22"/>
              <p:cNvSpPr/>
              <p:nvPr/>
            </p:nvSpPr>
            <p:spPr>
              <a:xfrm>
                <a:off x="609600" y="3429000"/>
                <a:ext cx="2495550" cy="9525"/>
              </a:xfrm>
              <a:custGeom>
                <a:avLst/>
                <a:gdLst/>
                <a:ahLst/>
                <a:cxnLst/>
                <a:rect l="l" t="t" r="r" b="b"/>
                <a:pathLst>
                  <a:path w="2495550" h="9525">
                    <a:moveTo>
                      <a:pt x="0" y="0"/>
                    </a:moveTo>
                    <a:lnTo>
                      <a:pt x="2495550" y="0"/>
                    </a:lnTo>
                  </a:path>
                </a:pathLst>
              </a:custGeom>
              <a:noFill/>
              <a:ln w="9525">
                <a:solidFill>
                  <a:srgbClr val="FFFFFF">
                    <a:alpha val="25000"/>
                  </a:srgbClr>
                </a:solidFill>
              </a:ln>
            </p:spPr>
          </p:sp>
          <p:sp>
            <p:nvSpPr>
              <p:cNvPr id="23" name="TextBox 23"/>
              <p:cNvSpPr txBox="1"/>
              <p:nvPr/>
            </p:nvSpPr>
            <p:spPr>
              <a:xfrm>
                <a:off x="604838" y="3598545"/>
                <a:ext cx="231152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攻关策略：</a:t>
                </a:r>
                <a:r>
                  <a:rPr lang="zh-CN" sz="900" dirty="0">
                    <a:solidFill>
                      <a:srgbClr val="F0DBDE"/>
                    </a:solidFill>
                    <a:latin typeface="+mn-lt"/>
                    <a:ea typeface="+mn-ea"/>
                    <a:cs typeface="+mn-cs"/>
                  </a:rPr>
                  <a:t>聚焦业务价值，避免技术细节。</a:t>
                </a:r>
              </a:p>
            </p:txBody>
          </p:sp>
        </p:grpSp>
        <p:grpSp>
          <p:nvGrpSpPr>
            <p:cNvPr id="37" name="role-tb"/>
            <p:cNvGrpSpPr/>
            <p:nvPr/>
          </p:nvGrpSpPr>
          <p:grpSpPr>
            <a:xfrm>
              <a:off x="3448050" y="1866900"/>
              <a:ext cx="2952750" cy="2171700"/>
              <a:chOff x="3448050" y="1866900"/>
              <a:chExt cx="2952750" cy="2171700"/>
            </a:xfrm>
          </p:grpSpPr>
          <p:sp>
            <p:nvSpPr>
              <p:cNvPr id="25" name="Rectangle 25"/>
              <p:cNvSpPr/>
              <p:nvPr/>
            </p:nvSpPr>
            <p:spPr>
              <a:xfrm>
                <a:off x="3448050" y="1866900"/>
                <a:ext cx="2952750" cy="2171700"/>
              </a:xfrm>
              <a:prstGeom prst="roundRect">
                <a:avLst>
                  <a:gd name="adj" fmla="val 2632"/>
                </a:avLst>
              </a:prstGeom>
              <a:solidFill>
                <a:srgbClr val="6B6B6B"/>
              </a:solidFill>
              <a:ln>
                <a:noFill/>
              </a:ln>
            </p:spPr>
          </p:sp>
          <p:sp>
            <p:nvSpPr>
              <p:cNvPr id="26" name="Ellipse 26"/>
              <p:cNvSpPr/>
              <p:nvPr/>
            </p:nvSpPr>
            <p:spPr>
              <a:xfrm>
                <a:off x="3657600" y="2038350"/>
                <a:ext cx="457200" cy="457200"/>
              </a:xfrm>
              <a:prstGeom prst="ellipse">
                <a:avLst/>
              </a:prstGeom>
              <a:solidFill>
                <a:srgbClr val="FFFFFF"/>
              </a:solidFill>
              <a:ln>
                <a:noFill/>
              </a:ln>
            </p:spPr>
          </p:sp>
          <p:grpSp>
            <p:nvGrpSpPr>
              <p:cNvPr id="30" name="Group 30"/>
              <p:cNvGrpSpPr/>
              <p:nvPr/>
            </p:nvGrpSpPr>
            <p:grpSpPr>
              <a:xfrm>
                <a:off x="3800475" y="2190750"/>
                <a:ext cx="171450" cy="152400"/>
                <a:chOff x="3800475" y="2190750"/>
                <a:chExt cx="171450" cy="152400"/>
              </a:xfrm>
            </p:grpSpPr>
            <p:sp>
              <p:nvSpPr>
                <p:cNvPr id="27" name="Freeform 27"/>
                <p:cNvSpPr/>
                <p:nvPr/>
              </p:nvSpPr>
              <p:spPr>
                <a:xfrm>
                  <a:off x="3800475" y="2228850"/>
                  <a:ext cx="38100" cy="76200"/>
                </a:xfrm>
                <a:custGeom>
                  <a:avLst/>
                  <a:gdLst/>
                  <a:ahLst/>
                  <a:cxnLst/>
                  <a:rect l="l" t="t" r="r" b="b"/>
                  <a:pathLst>
                    <a:path w="38100" h="76200">
                      <a:moveTo>
                        <a:pt x="38100" y="0"/>
                      </a:moveTo>
                      <a:lnTo>
                        <a:pt x="0" y="38100"/>
                      </a:lnTo>
                      <a:lnTo>
                        <a:pt x="38100" y="76200"/>
                      </a:lnTo>
                    </a:path>
                  </a:pathLst>
                </a:custGeom>
                <a:noFill/>
                <a:ln w="19050">
                  <a:solidFill>
                    <a:srgbClr val="6B6B6B"/>
                  </a:solidFill>
                </a:ln>
              </p:spPr>
            </p:sp>
            <p:sp>
              <p:nvSpPr>
                <p:cNvPr id="28" name="Freeform 28"/>
                <p:cNvSpPr/>
                <p:nvPr/>
              </p:nvSpPr>
              <p:spPr>
                <a:xfrm>
                  <a:off x="3933825" y="2228850"/>
                  <a:ext cx="38100" cy="76200"/>
                </a:xfrm>
                <a:custGeom>
                  <a:avLst/>
                  <a:gdLst/>
                  <a:ahLst/>
                  <a:cxnLst/>
                  <a:rect l="l" t="t" r="r" b="b"/>
                  <a:pathLst>
                    <a:path w="38100" h="76200">
                      <a:moveTo>
                        <a:pt x="0" y="0"/>
                      </a:moveTo>
                      <a:lnTo>
                        <a:pt x="38100" y="38100"/>
                      </a:lnTo>
                      <a:lnTo>
                        <a:pt x="0" y="76200"/>
                      </a:lnTo>
                    </a:path>
                  </a:pathLst>
                </a:custGeom>
                <a:noFill/>
                <a:ln w="19050">
                  <a:solidFill>
                    <a:srgbClr val="6B6B6B"/>
                  </a:solidFill>
                </a:ln>
              </p:spPr>
            </p:sp>
            <p:sp>
              <p:nvSpPr>
                <p:cNvPr id="29" name="Freeform 29"/>
                <p:cNvSpPr/>
                <p:nvPr/>
              </p:nvSpPr>
              <p:spPr>
                <a:xfrm>
                  <a:off x="3867150" y="2190750"/>
                  <a:ext cx="38100" cy="152400"/>
                </a:xfrm>
                <a:custGeom>
                  <a:avLst/>
                  <a:gdLst/>
                  <a:ahLst/>
                  <a:cxnLst/>
                  <a:rect l="l" t="t" r="r" b="b"/>
                  <a:pathLst>
                    <a:path w="38100" h="152400">
                      <a:moveTo>
                        <a:pt x="38100" y="0"/>
                      </a:moveTo>
                      <a:lnTo>
                        <a:pt x="0" y="152400"/>
                      </a:lnTo>
                    </a:path>
                  </a:pathLst>
                </a:custGeom>
                <a:noFill/>
                <a:ln w="19050">
                  <a:solidFill>
                    <a:srgbClr val="6B6B6B"/>
                  </a:solidFill>
                </a:ln>
              </p:spPr>
            </p:sp>
          </p:grpSp>
          <p:sp>
            <p:nvSpPr>
              <p:cNvPr id="31" name="TextBox 31"/>
              <p:cNvSpPr txBox="1"/>
              <p:nvPr/>
            </p:nvSpPr>
            <p:spPr>
              <a:xfrm>
                <a:off x="4242435" y="2212181"/>
                <a:ext cx="1790248"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角色二：技术买家（TB）​</a:t>
                </a:r>
              </a:p>
            </p:txBody>
          </p:sp>
          <p:sp>
            <p:nvSpPr>
              <p:cNvPr id="32" name="TextBox 32"/>
              <p:cNvSpPr txBox="1"/>
              <p:nvPr/>
            </p:nvSpPr>
            <p:spPr>
              <a:xfrm>
                <a:off x="3671888" y="2760345"/>
                <a:ext cx="182689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特征：</a:t>
                </a:r>
                <a:r>
                  <a:rPr lang="zh-CN" sz="900" dirty="0">
                    <a:solidFill>
                      <a:srgbClr val="E8E8E8"/>
                    </a:solidFill>
                    <a:latin typeface="+mn-lt"/>
                    <a:ea typeface="+mn-ea"/>
                    <a:cs typeface="+mn-cs"/>
                  </a:rPr>
                  <a:t>有技术评估权，关注性能。</a:t>
                </a:r>
              </a:p>
            </p:txBody>
          </p:sp>
          <p:sp>
            <p:nvSpPr>
              <p:cNvPr id="33" name="Line 33"/>
              <p:cNvSpPr/>
              <p:nvPr/>
            </p:nvSpPr>
            <p:spPr>
              <a:xfrm>
                <a:off x="3676650" y="3009900"/>
                <a:ext cx="2495550" cy="9525"/>
              </a:xfrm>
              <a:custGeom>
                <a:avLst/>
                <a:gdLst/>
                <a:ahLst/>
                <a:cxnLst/>
                <a:rect l="l" t="t" r="r" b="b"/>
                <a:pathLst>
                  <a:path w="2495550" h="9525">
                    <a:moveTo>
                      <a:pt x="0" y="0"/>
                    </a:moveTo>
                    <a:lnTo>
                      <a:pt x="2495550" y="0"/>
                    </a:lnTo>
                  </a:path>
                </a:pathLst>
              </a:custGeom>
              <a:noFill/>
              <a:ln w="9525">
                <a:solidFill>
                  <a:srgbClr val="FFFFFF">
                    <a:alpha val="25000"/>
                  </a:srgbClr>
                </a:solidFill>
              </a:ln>
            </p:spPr>
          </p:sp>
          <p:sp>
            <p:nvSpPr>
              <p:cNvPr id="34" name="TextBox 34"/>
              <p:cNvSpPr txBox="1"/>
              <p:nvPr/>
            </p:nvSpPr>
            <p:spPr>
              <a:xfrm>
                <a:off x="3671888" y="3179445"/>
                <a:ext cx="135437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职位：</a:t>
                </a:r>
                <a:r>
                  <a:rPr lang="zh-CN" sz="900" dirty="0">
                    <a:solidFill>
                      <a:srgbClr val="E8E8E8"/>
                    </a:solidFill>
                    <a:latin typeface="+mn-lt"/>
                    <a:ea typeface="+mn-ea"/>
                    <a:cs typeface="+mn-cs"/>
                  </a:rPr>
                  <a:t>技术总监/工程师​</a:t>
                </a:r>
              </a:p>
            </p:txBody>
          </p:sp>
          <p:sp>
            <p:nvSpPr>
              <p:cNvPr id="35" name="Line 35"/>
              <p:cNvSpPr/>
              <p:nvPr/>
            </p:nvSpPr>
            <p:spPr>
              <a:xfrm>
                <a:off x="3676650" y="3429000"/>
                <a:ext cx="2495550" cy="9525"/>
              </a:xfrm>
              <a:custGeom>
                <a:avLst/>
                <a:gdLst/>
                <a:ahLst/>
                <a:cxnLst/>
                <a:rect l="l" t="t" r="r" b="b"/>
                <a:pathLst>
                  <a:path w="2495550" h="9525">
                    <a:moveTo>
                      <a:pt x="0" y="0"/>
                    </a:moveTo>
                    <a:lnTo>
                      <a:pt x="2495550" y="0"/>
                    </a:lnTo>
                  </a:path>
                </a:pathLst>
              </a:custGeom>
              <a:noFill/>
              <a:ln w="9525">
                <a:solidFill>
                  <a:srgbClr val="FFFFFF">
                    <a:alpha val="25000"/>
                  </a:srgbClr>
                </a:solidFill>
              </a:ln>
            </p:spPr>
          </p:sp>
          <p:sp>
            <p:nvSpPr>
              <p:cNvPr id="36" name="TextBox 36"/>
              <p:cNvSpPr txBox="1"/>
              <p:nvPr/>
            </p:nvSpPr>
            <p:spPr>
              <a:xfrm>
                <a:off x="3671888" y="3598545"/>
                <a:ext cx="1705737"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攻关策略：</a:t>
                </a:r>
                <a:r>
                  <a:rPr lang="zh-CN" sz="900" dirty="0">
                    <a:solidFill>
                      <a:srgbClr val="E8E8E8"/>
                    </a:solidFill>
                    <a:latin typeface="+mn-lt"/>
                    <a:ea typeface="+mn-ea"/>
                    <a:cs typeface="+mn-cs"/>
                  </a:rPr>
                  <a:t>提供详细技术方案。</a:t>
                </a:r>
              </a:p>
            </p:txBody>
          </p:sp>
        </p:grpSp>
        <p:grpSp>
          <p:nvGrpSpPr>
            <p:cNvPr id="49" name="role-user"/>
            <p:cNvGrpSpPr/>
            <p:nvPr/>
          </p:nvGrpSpPr>
          <p:grpSpPr>
            <a:xfrm>
              <a:off x="381000" y="4152900"/>
              <a:ext cx="2952750" cy="2171700"/>
              <a:chOff x="381000" y="4152900"/>
              <a:chExt cx="2952750" cy="2171700"/>
            </a:xfrm>
          </p:grpSpPr>
          <p:sp>
            <p:nvSpPr>
              <p:cNvPr id="38" name="Rectangle 38"/>
              <p:cNvSpPr/>
              <p:nvPr/>
            </p:nvSpPr>
            <p:spPr>
              <a:xfrm>
                <a:off x="381000" y="4152900"/>
                <a:ext cx="2952750" cy="2171700"/>
              </a:xfrm>
              <a:prstGeom prst="roundRect">
                <a:avLst>
                  <a:gd name="adj" fmla="val 2632"/>
                </a:avLst>
              </a:prstGeom>
              <a:solidFill>
                <a:srgbClr val="6B6B6B"/>
              </a:solidFill>
              <a:ln>
                <a:noFill/>
              </a:ln>
            </p:spPr>
          </p:sp>
          <p:sp>
            <p:nvSpPr>
              <p:cNvPr id="39" name="Ellipse 39"/>
              <p:cNvSpPr/>
              <p:nvPr/>
            </p:nvSpPr>
            <p:spPr>
              <a:xfrm>
                <a:off x="590550" y="4324350"/>
                <a:ext cx="457200" cy="457200"/>
              </a:xfrm>
              <a:prstGeom prst="ellipse">
                <a:avLst/>
              </a:prstGeom>
              <a:solidFill>
                <a:srgbClr val="FFFFFF"/>
              </a:solidFill>
              <a:ln>
                <a:noFill/>
              </a:ln>
            </p:spPr>
          </p:sp>
          <p:grpSp>
            <p:nvGrpSpPr>
              <p:cNvPr id="42" name="Group 42"/>
              <p:cNvGrpSpPr/>
              <p:nvPr/>
            </p:nvGrpSpPr>
            <p:grpSpPr>
              <a:xfrm>
                <a:off x="762000" y="4467225"/>
                <a:ext cx="114300" cy="171450"/>
                <a:chOff x="762000" y="4467225"/>
                <a:chExt cx="114300" cy="171450"/>
              </a:xfrm>
            </p:grpSpPr>
            <p:sp>
              <p:nvSpPr>
                <p:cNvPr id="40" name="Freeform 40"/>
                <p:cNvSpPr/>
                <p:nvPr/>
              </p:nvSpPr>
              <p:spPr>
                <a:xfrm>
                  <a:off x="781050" y="44672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6B6B6B"/>
                  </a:solidFill>
                </a:ln>
              </p:spPr>
            </p:sp>
            <p:sp>
              <p:nvSpPr>
                <p:cNvPr id="41" name="Freeform 41"/>
                <p:cNvSpPr/>
                <p:nvPr/>
              </p:nvSpPr>
              <p:spPr>
                <a:xfrm>
                  <a:off x="762000" y="45815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6B6B6B"/>
                  </a:solidFill>
                </a:ln>
              </p:spPr>
            </p:sp>
          </p:grpSp>
          <p:sp>
            <p:nvSpPr>
              <p:cNvPr id="43" name="TextBox 43"/>
              <p:cNvSpPr txBox="1"/>
              <p:nvPr/>
            </p:nvSpPr>
            <p:spPr>
              <a:xfrm>
                <a:off x="1175385" y="4498181"/>
                <a:ext cx="1808689"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角色三：使用者（User）​</a:t>
                </a:r>
              </a:p>
            </p:txBody>
          </p:sp>
          <p:sp>
            <p:nvSpPr>
              <p:cNvPr id="44" name="TextBox 44"/>
              <p:cNvSpPr txBox="1"/>
              <p:nvPr/>
            </p:nvSpPr>
            <p:spPr>
              <a:xfrm>
                <a:off x="604838" y="5046345"/>
                <a:ext cx="1948053"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特征：</a:t>
                </a:r>
                <a:r>
                  <a:rPr lang="zh-CN" sz="900" dirty="0">
                    <a:solidFill>
                      <a:srgbClr val="E8E8E8"/>
                    </a:solidFill>
                    <a:latin typeface="+mn-lt"/>
                    <a:ea typeface="+mn-ea"/>
                    <a:cs typeface="+mn-cs"/>
                  </a:rPr>
                  <a:t>实际使用产品，关注易用性。</a:t>
                </a:r>
              </a:p>
            </p:txBody>
          </p:sp>
          <p:sp>
            <p:nvSpPr>
              <p:cNvPr id="45" name="Line 45"/>
              <p:cNvSpPr/>
              <p:nvPr/>
            </p:nvSpPr>
            <p:spPr>
              <a:xfrm>
                <a:off x="609600" y="5295900"/>
                <a:ext cx="2495550" cy="9525"/>
              </a:xfrm>
              <a:custGeom>
                <a:avLst/>
                <a:gdLst/>
                <a:ahLst/>
                <a:cxnLst/>
                <a:rect l="l" t="t" r="r" b="b"/>
                <a:pathLst>
                  <a:path w="2495550" h="9525">
                    <a:moveTo>
                      <a:pt x="0" y="0"/>
                    </a:moveTo>
                    <a:lnTo>
                      <a:pt x="2495550" y="0"/>
                    </a:lnTo>
                  </a:path>
                </a:pathLst>
              </a:custGeom>
              <a:noFill/>
              <a:ln w="9525">
                <a:solidFill>
                  <a:srgbClr val="FFFFFF">
                    <a:alpha val="25000"/>
                  </a:srgbClr>
                </a:solidFill>
              </a:ln>
            </p:spPr>
          </p:sp>
          <p:sp>
            <p:nvSpPr>
              <p:cNvPr id="46" name="TextBox 46"/>
              <p:cNvSpPr txBox="1"/>
              <p:nvPr/>
            </p:nvSpPr>
            <p:spPr>
              <a:xfrm>
                <a:off x="604838" y="5465445"/>
                <a:ext cx="1354379"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职位：</a:t>
                </a:r>
                <a:r>
                  <a:rPr lang="zh-CN" sz="900" dirty="0">
                    <a:solidFill>
                      <a:srgbClr val="E8E8E8"/>
                    </a:solidFill>
                    <a:latin typeface="+mn-lt"/>
                    <a:ea typeface="+mn-ea"/>
                    <a:cs typeface="+mn-cs"/>
                  </a:rPr>
                  <a:t>生产主管/操作员​</a:t>
                </a:r>
              </a:p>
            </p:txBody>
          </p:sp>
          <p:sp>
            <p:nvSpPr>
              <p:cNvPr id="47" name="Line 47"/>
              <p:cNvSpPr/>
              <p:nvPr/>
            </p:nvSpPr>
            <p:spPr>
              <a:xfrm>
                <a:off x="609600" y="5715000"/>
                <a:ext cx="2495550" cy="9525"/>
              </a:xfrm>
              <a:custGeom>
                <a:avLst/>
                <a:gdLst/>
                <a:ahLst/>
                <a:cxnLst/>
                <a:rect l="l" t="t" r="r" b="b"/>
                <a:pathLst>
                  <a:path w="2495550" h="9525">
                    <a:moveTo>
                      <a:pt x="0" y="0"/>
                    </a:moveTo>
                    <a:lnTo>
                      <a:pt x="2495550" y="0"/>
                    </a:lnTo>
                  </a:path>
                </a:pathLst>
              </a:custGeom>
              <a:noFill/>
              <a:ln w="9525">
                <a:solidFill>
                  <a:srgbClr val="FFFFFF">
                    <a:alpha val="25000"/>
                  </a:srgbClr>
                </a:solidFill>
              </a:ln>
            </p:spPr>
          </p:sp>
          <p:sp>
            <p:nvSpPr>
              <p:cNvPr id="48" name="TextBox 48"/>
              <p:cNvSpPr txBox="1"/>
              <p:nvPr/>
            </p:nvSpPr>
            <p:spPr>
              <a:xfrm>
                <a:off x="604838" y="5884545"/>
                <a:ext cx="182689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攻关策略：</a:t>
                </a:r>
                <a:r>
                  <a:rPr lang="zh-CN" sz="900" dirty="0">
                    <a:solidFill>
                      <a:srgbClr val="E8E8E8"/>
                    </a:solidFill>
                    <a:latin typeface="+mn-lt"/>
                    <a:ea typeface="+mn-ea"/>
                    <a:cs typeface="+mn-cs"/>
                  </a:rPr>
                  <a:t>培训支持，快速响应。</a:t>
                </a:r>
              </a:p>
            </p:txBody>
          </p:sp>
        </p:grpSp>
        <p:grpSp>
          <p:nvGrpSpPr>
            <p:cNvPr id="63" name="role-coach"/>
            <p:cNvGrpSpPr/>
            <p:nvPr/>
          </p:nvGrpSpPr>
          <p:grpSpPr>
            <a:xfrm>
              <a:off x="3448050" y="4152900"/>
              <a:ext cx="2991695" cy="2171700"/>
              <a:chOff x="3448050" y="4152900"/>
              <a:chExt cx="2991695" cy="2171700"/>
            </a:xfrm>
          </p:grpSpPr>
          <p:sp>
            <p:nvSpPr>
              <p:cNvPr id="50" name="Rectangle 50"/>
              <p:cNvSpPr/>
              <p:nvPr/>
            </p:nvSpPr>
            <p:spPr>
              <a:xfrm>
                <a:off x="3448050" y="4152900"/>
                <a:ext cx="2952750" cy="2171700"/>
              </a:xfrm>
              <a:prstGeom prst="roundRect">
                <a:avLst>
                  <a:gd name="adj" fmla="val 2632"/>
                </a:avLst>
              </a:prstGeom>
              <a:solidFill>
                <a:srgbClr val="8B321E"/>
              </a:solidFill>
              <a:ln>
                <a:noFill/>
              </a:ln>
            </p:spPr>
          </p:sp>
          <p:sp>
            <p:nvSpPr>
              <p:cNvPr id="51" name="Ellipse 51"/>
              <p:cNvSpPr/>
              <p:nvPr/>
            </p:nvSpPr>
            <p:spPr>
              <a:xfrm>
                <a:off x="3657600" y="4324350"/>
                <a:ext cx="457200" cy="457200"/>
              </a:xfrm>
              <a:prstGeom prst="ellipse">
                <a:avLst/>
              </a:prstGeom>
              <a:solidFill>
                <a:srgbClr val="FFFFFF"/>
              </a:solidFill>
              <a:ln>
                <a:noFill/>
              </a:ln>
            </p:spPr>
          </p:sp>
          <p:grpSp>
            <p:nvGrpSpPr>
              <p:cNvPr id="56" name="Group 56"/>
              <p:cNvGrpSpPr/>
              <p:nvPr/>
            </p:nvGrpSpPr>
            <p:grpSpPr>
              <a:xfrm>
                <a:off x="3800475" y="4467225"/>
                <a:ext cx="171450" cy="171450"/>
                <a:chOff x="3800475" y="4467225"/>
                <a:chExt cx="171450" cy="171450"/>
              </a:xfrm>
            </p:grpSpPr>
            <p:sp>
              <p:nvSpPr>
                <p:cNvPr id="52" name="Freeform 52"/>
                <p:cNvSpPr/>
                <p:nvPr/>
              </p:nvSpPr>
              <p:spPr>
                <a:xfrm>
                  <a:off x="3819525" y="44672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8B321E"/>
                  </a:solidFill>
                </a:ln>
              </p:spPr>
            </p:sp>
            <p:sp>
              <p:nvSpPr>
                <p:cNvPr id="53" name="Freeform 53"/>
                <p:cNvSpPr/>
                <p:nvPr/>
              </p:nvSpPr>
              <p:spPr>
                <a:xfrm>
                  <a:off x="3800475" y="45815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8B321E"/>
                  </a:solidFill>
                </a:ln>
              </p:spPr>
            </p:sp>
            <p:sp>
              <p:nvSpPr>
                <p:cNvPr id="54" name="Freeform 54"/>
                <p:cNvSpPr/>
                <p:nvPr/>
              </p:nvSpPr>
              <p:spPr>
                <a:xfrm>
                  <a:off x="3924300" y="44684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8B321E"/>
                  </a:solidFill>
                </a:ln>
              </p:spPr>
            </p:sp>
            <p:sp>
              <p:nvSpPr>
                <p:cNvPr id="55" name="Freeform 55"/>
                <p:cNvSpPr/>
                <p:nvPr/>
              </p:nvSpPr>
              <p:spPr>
                <a:xfrm>
                  <a:off x="3943350" y="45829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8B321E"/>
                  </a:solidFill>
                </a:ln>
              </p:spPr>
            </p:sp>
          </p:grpSp>
          <p:sp>
            <p:nvSpPr>
              <p:cNvPr id="57" name="TextBox 57"/>
              <p:cNvSpPr txBox="1"/>
              <p:nvPr/>
            </p:nvSpPr>
            <p:spPr>
              <a:xfrm>
                <a:off x="4242435" y="4498181"/>
                <a:ext cx="2197310"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角色四：内部支持者（Coach）​</a:t>
                </a:r>
              </a:p>
            </p:txBody>
          </p:sp>
          <p:sp>
            <p:nvSpPr>
              <p:cNvPr id="58" name="TextBox 58"/>
              <p:cNvSpPr txBox="1"/>
              <p:nvPr/>
            </p:nvSpPr>
            <p:spPr>
              <a:xfrm>
                <a:off x="3671888" y="5046345"/>
                <a:ext cx="1717853"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特征：</a:t>
                </a:r>
                <a:r>
                  <a:rPr lang="zh-CN" sz="900" dirty="0">
                    <a:solidFill>
                      <a:srgbClr val="F0DBDE"/>
                    </a:solidFill>
                    <a:latin typeface="+mn-lt"/>
                    <a:ea typeface="+mn-ea"/>
                    <a:cs typeface="+mn-cs"/>
                  </a:rPr>
                  <a:t>内部“线人”，提供信息。</a:t>
                </a:r>
              </a:p>
            </p:txBody>
          </p:sp>
          <p:sp>
            <p:nvSpPr>
              <p:cNvPr id="59" name="Line 59"/>
              <p:cNvSpPr/>
              <p:nvPr/>
            </p:nvSpPr>
            <p:spPr>
              <a:xfrm>
                <a:off x="3676650" y="5295900"/>
                <a:ext cx="2495550" cy="9525"/>
              </a:xfrm>
              <a:custGeom>
                <a:avLst/>
                <a:gdLst/>
                <a:ahLst/>
                <a:cxnLst/>
                <a:rect l="l" t="t" r="r" b="b"/>
                <a:pathLst>
                  <a:path w="2495550" h="9525">
                    <a:moveTo>
                      <a:pt x="0" y="0"/>
                    </a:moveTo>
                    <a:lnTo>
                      <a:pt x="2495550" y="0"/>
                    </a:lnTo>
                  </a:path>
                </a:pathLst>
              </a:custGeom>
              <a:noFill/>
              <a:ln w="9525">
                <a:solidFill>
                  <a:srgbClr val="FFFFFF">
                    <a:alpha val="25000"/>
                  </a:srgbClr>
                </a:solidFill>
              </a:ln>
            </p:spPr>
          </p:sp>
          <p:sp>
            <p:nvSpPr>
              <p:cNvPr id="60" name="TextBox 60"/>
              <p:cNvSpPr txBox="1"/>
              <p:nvPr/>
            </p:nvSpPr>
            <p:spPr>
              <a:xfrm>
                <a:off x="3671888" y="5465445"/>
                <a:ext cx="857631"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职位：</a:t>
                </a:r>
                <a:r>
                  <a:rPr lang="zh-CN" sz="900" dirty="0">
                    <a:solidFill>
                      <a:srgbClr val="F0DBDE"/>
                    </a:solidFill>
                    <a:latin typeface="+mn-lt"/>
                    <a:ea typeface="+mn-ea"/>
                    <a:cs typeface="+mn-cs"/>
                  </a:rPr>
                  <a:t>任何层级</a:t>
                </a:r>
              </a:p>
            </p:txBody>
          </p:sp>
          <p:sp>
            <p:nvSpPr>
              <p:cNvPr id="61" name="Line 61"/>
              <p:cNvSpPr/>
              <p:nvPr/>
            </p:nvSpPr>
            <p:spPr>
              <a:xfrm>
                <a:off x="3676650" y="5715000"/>
                <a:ext cx="2495550" cy="9525"/>
              </a:xfrm>
              <a:custGeom>
                <a:avLst/>
                <a:gdLst/>
                <a:ahLst/>
                <a:cxnLst/>
                <a:rect l="l" t="t" r="r" b="b"/>
                <a:pathLst>
                  <a:path w="2495550" h="9525">
                    <a:moveTo>
                      <a:pt x="0" y="0"/>
                    </a:moveTo>
                    <a:lnTo>
                      <a:pt x="2495550" y="0"/>
                    </a:lnTo>
                  </a:path>
                </a:pathLst>
              </a:custGeom>
              <a:noFill/>
              <a:ln w="9525">
                <a:solidFill>
                  <a:srgbClr val="FFFFFF">
                    <a:alpha val="25000"/>
                  </a:srgbClr>
                </a:solidFill>
              </a:ln>
            </p:spPr>
          </p:sp>
          <p:sp>
            <p:nvSpPr>
              <p:cNvPr id="62" name="TextBox 62"/>
              <p:cNvSpPr txBox="1"/>
              <p:nvPr/>
            </p:nvSpPr>
            <p:spPr>
              <a:xfrm>
                <a:off x="3671888" y="5884545"/>
                <a:ext cx="182689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攻关策略：</a:t>
                </a:r>
                <a:r>
                  <a:rPr lang="zh-CN" sz="900" dirty="0">
                    <a:solidFill>
                      <a:srgbClr val="F0DBDE"/>
                    </a:solidFill>
                    <a:latin typeface="+mn-lt"/>
                    <a:ea typeface="+mn-ea"/>
                    <a:cs typeface="+mn-cs"/>
                  </a:rPr>
                  <a:t>建立信任，给予回报。</a:t>
                </a:r>
              </a:p>
            </p:txBody>
          </p:sp>
        </p:grpSp>
      </p:grpSp>
      <p:grpSp>
        <p:nvGrpSpPr>
          <p:cNvPr id="126" name="steps-column"/>
          <p:cNvGrpSpPr/>
          <p:nvPr/>
        </p:nvGrpSpPr>
        <p:grpSpPr>
          <a:xfrm>
            <a:off x="6667500" y="895350"/>
            <a:ext cx="5143500" cy="5372100"/>
            <a:chOff x="6667500" y="895350"/>
            <a:chExt cx="5143500" cy="5372100"/>
          </a:xfrm>
        </p:grpSpPr>
        <p:sp>
          <p:nvSpPr>
            <p:cNvPr id="65" name="Rectangle 65"/>
            <p:cNvSpPr/>
            <p:nvPr/>
          </p:nvSpPr>
          <p:spPr>
            <a:xfrm>
              <a:off x="6667500" y="895350"/>
              <a:ext cx="57150" cy="190500"/>
            </a:xfrm>
            <a:prstGeom prst="rect">
              <a:avLst/>
            </a:prstGeom>
            <a:solidFill>
              <a:srgbClr val="8B321E"/>
            </a:solidFill>
            <a:ln>
              <a:noFill/>
            </a:ln>
          </p:spPr>
        </p:sp>
        <p:sp>
          <p:nvSpPr>
            <p:cNvPr id="66" name="TextBox 66"/>
            <p:cNvSpPr txBox="1"/>
            <p:nvPr/>
          </p:nvSpPr>
          <p:spPr>
            <a:xfrm>
              <a:off x="6813804" y="927735"/>
              <a:ext cx="178917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关系图谱建立的三个步骤</a:t>
              </a:r>
            </a:p>
          </p:txBody>
        </p:sp>
        <p:grpSp>
          <p:nvGrpSpPr>
            <p:cNvPr id="77" name="step-1"/>
            <p:cNvGrpSpPr/>
            <p:nvPr/>
          </p:nvGrpSpPr>
          <p:grpSpPr>
            <a:xfrm>
              <a:off x="6667500" y="1181100"/>
              <a:ext cx="5143500" cy="533400"/>
              <a:chOff x="6667500" y="1181100"/>
              <a:chExt cx="5143500" cy="533400"/>
            </a:xfrm>
          </p:grpSpPr>
          <p:sp>
            <p:nvSpPr>
              <p:cNvPr id="67" name="Rectangle 67"/>
              <p:cNvSpPr/>
              <p:nvPr/>
            </p:nvSpPr>
            <p:spPr>
              <a:xfrm>
                <a:off x="6667500" y="1181100"/>
                <a:ext cx="5143500" cy="533400"/>
              </a:xfrm>
              <a:prstGeom prst="roundRect">
                <a:avLst>
                  <a:gd name="adj" fmla="val 10714"/>
                </a:avLst>
              </a:prstGeom>
              <a:solidFill>
                <a:srgbClr val="F1EFED"/>
              </a:solidFill>
              <a:ln>
                <a:noFill/>
              </a:ln>
            </p:spPr>
          </p:sp>
          <p:sp>
            <p:nvSpPr>
              <p:cNvPr id="68" name="Ellipse 68"/>
              <p:cNvSpPr/>
              <p:nvPr/>
            </p:nvSpPr>
            <p:spPr>
              <a:xfrm>
                <a:off x="6791325" y="1304925"/>
                <a:ext cx="285750" cy="285750"/>
              </a:xfrm>
              <a:prstGeom prst="ellipse">
                <a:avLst/>
              </a:prstGeom>
              <a:solidFill>
                <a:srgbClr val="8B321E"/>
              </a:solidFill>
              <a:ln>
                <a:noFill/>
              </a:ln>
            </p:spPr>
          </p:sp>
          <p:sp>
            <p:nvSpPr>
              <p:cNvPr id="69" name="TextBox 69"/>
              <p:cNvSpPr txBox="1"/>
              <p:nvPr/>
            </p:nvSpPr>
            <p:spPr>
              <a:xfrm>
                <a:off x="6888051" y="1382078"/>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1</a:t>
                </a:r>
              </a:p>
            </p:txBody>
          </p:sp>
          <p:grpSp>
            <p:nvGrpSpPr>
              <p:cNvPr id="74" name="Group 74"/>
              <p:cNvGrpSpPr/>
              <p:nvPr/>
            </p:nvGrpSpPr>
            <p:grpSpPr>
              <a:xfrm>
                <a:off x="7253288" y="1369219"/>
                <a:ext cx="139699" cy="165893"/>
                <a:chOff x="7253288" y="1369219"/>
                <a:chExt cx="139699" cy="165893"/>
              </a:xfrm>
            </p:grpSpPr>
            <p:sp>
              <p:nvSpPr>
                <p:cNvPr id="70" name="Freeform 70"/>
                <p:cNvSpPr/>
                <p:nvPr/>
              </p:nvSpPr>
              <p:spPr>
                <a:xfrm>
                  <a:off x="7270750" y="13692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1A1A1A"/>
                  </a:solidFill>
                </a:ln>
              </p:spPr>
            </p:sp>
            <p:sp>
              <p:nvSpPr>
                <p:cNvPr id="71" name="Freeform 71"/>
                <p:cNvSpPr/>
                <p:nvPr/>
              </p:nvSpPr>
              <p:spPr>
                <a:xfrm>
                  <a:off x="7253288" y="1473994"/>
                  <a:ext cx="48022" cy="52388"/>
                </a:xfrm>
                <a:custGeom>
                  <a:avLst/>
                  <a:gdLst/>
                  <a:ahLst/>
                  <a:cxnLst/>
                  <a:rect l="l" t="t" r="r" b="b"/>
                  <a:pathLst>
                    <a:path w="48022" h="52388">
                      <a:moveTo>
                        <a:pt x="0" y="52388"/>
                      </a:moveTo>
                      <a:lnTo>
                        <a:pt x="0" y="34925"/>
                      </a:lnTo>
                      <a:cubicBezTo>
                        <a:pt x="0" y="15636"/>
                        <a:pt x="15636" y="0"/>
                        <a:pt x="34925" y="0"/>
                      </a:cubicBezTo>
                      <a:lnTo>
                        <a:pt x="48022" y="0"/>
                      </a:lnTo>
                    </a:path>
                  </a:pathLst>
                </a:custGeom>
                <a:noFill/>
                <a:ln w="17463">
                  <a:solidFill>
                    <a:srgbClr val="1A1A1A"/>
                  </a:solidFill>
                </a:ln>
              </p:spPr>
            </p:sp>
            <p:sp>
              <p:nvSpPr>
                <p:cNvPr id="72" name="Freeform 72"/>
                <p:cNvSpPr/>
                <p:nvPr/>
              </p:nvSpPr>
              <p:spPr>
                <a:xfrm>
                  <a:off x="7331869" y="1473994"/>
                  <a:ext cx="52388" cy="52388"/>
                </a:xfrm>
                <a:custGeom>
                  <a:avLst/>
                  <a:gdLst/>
                  <a:ahLst/>
                  <a:cxnLst/>
                  <a:rect l="l" t="t" r="r" b="b"/>
                  <a:pathLst>
                    <a:path w="52388" h="52388">
                      <a:moveTo>
                        <a:pt x="0" y="26194"/>
                      </a:moveTo>
                      <a:cubicBezTo>
                        <a:pt x="0" y="40660"/>
                        <a:pt x="11727" y="52388"/>
                        <a:pt x="26194" y="52388"/>
                      </a:cubicBezTo>
                      <a:cubicBezTo>
                        <a:pt x="40660" y="52388"/>
                        <a:pt x="52388" y="40660"/>
                        <a:pt x="52388" y="26194"/>
                      </a:cubicBezTo>
                      <a:cubicBezTo>
                        <a:pt x="52388" y="11727"/>
                        <a:pt x="40660" y="0"/>
                        <a:pt x="26194" y="0"/>
                      </a:cubicBezTo>
                      <a:cubicBezTo>
                        <a:pt x="11727" y="0"/>
                        <a:pt x="0" y="11727"/>
                        <a:pt x="0" y="26194"/>
                      </a:cubicBezTo>
                    </a:path>
                  </a:pathLst>
                </a:custGeom>
                <a:noFill/>
                <a:ln w="17463">
                  <a:solidFill>
                    <a:srgbClr val="1A1A1A"/>
                  </a:solidFill>
                </a:ln>
              </p:spPr>
            </p:sp>
            <p:sp>
              <p:nvSpPr>
                <p:cNvPr id="73" name="Freeform 73"/>
                <p:cNvSpPr/>
                <p:nvPr/>
              </p:nvSpPr>
              <p:spPr>
                <a:xfrm>
                  <a:off x="7377271" y="1519396"/>
                  <a:ext cx="15716" cy="15716"/>
                </a:xfrm>
                <a:custGeom>
                  <a:avLst/>
                  <a:gdLst/>
                  <a:ahLst/>
                  <a:cxnLst/>
                  <a:rect l="l" t="t" r="r" b="b"/>
                  <a:pathLst>
                    <a:path w="15716" h="15716">
                      <a:moveTo>
                        <a:pt x="0" y="0"/>
                      </a:moveTo>
                      <a:lnTo>
                        <a:pt x="15716" y="15716"/>
                      </a:lnTo>
                    </a:path>
                  </a:pathLst>
                </a:custGeom>
                <a:noFill/>
                <a:ln w="17463">
                  <a:solidFill>
                    <a:srgbClr val="1A1A1A"/>
                  </a:solidFill>
                </a:ln>
              </p:spPr>
            </p:sp>
          </p:grpSp>
          <p:sp>
            <p:nvSpPr>
              <p:cNvPr id="75" name="TextBox 75"/>
              <p:cNvSpPr txBox="1"/>
              <p:nvPr/>
            </p:nvSpPr>
            <p:spPr>
              <a:xfrm>
                <a:off x="7557516" y="1305878"/>
                <a:ext cx="434721"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识别：</a:t>
                </a:r>
              </a:p>
            </p:txBody>
          </p:sp>
          <p:sp>
            <p:nvSpPr>
              <p:cNvPr id="76" name="TextBox 76"/>
              <p:cNvSpPr txBox="1"/>
              <p:nvPr/>
            </p:nvSpPr>
            <p:spPr>
              <a:xfrm>
                <a:off x="7558088" y="1511141"/>
                <a:ext cx="892632" cy="161925"/>
              </a:xfrm>
              <a:prstGeom prst="rect">
                <a:avLst/>
              </a:prstGeom>
              <a:noFill/>
              <a:ln>
                <a:noFill/>
              </a:ln>
            </p:spPr>
            <p:txBody>
              <a:bodyPr wrap="none" lIns="0" tIns="0" rIns="0" bIns="0" anchor="t" anchorCtr="0">
                <a:spAutoFit/>
              </a:bodyPr>
              <a:lstStyle/>
              <a:p>
                <a:pPr algn="l"/>
                <a:r>
                  <a:rPr lang="zh-CN" sz="820" dirty="0">
                    <a:solidFill>
                      <a:srgbClr val="6A6A6A"/>
                    </a:solidFill>
                    <a:latin typeface="+mn-lt"/>
                    <a:ea typeface="+mn-ea"/>
                    <a:cs typeface="+mn-cs"/>
                  </a:rPr>
                  <a:t>识别所有关键角色</a:t>
                </a:r>
              </a:p>
            </p:txBody>
          </p:sp>
        </p:grpSp>
        <p:grpSp>
          <p:nvGrpSpPr>
            <p:cNvPr id="87" name="step-2"/>
            <p:cNvGrpSpPr/>
            <p:nvPr/>
          </p:nvGrpSpPr>
          <p:grpSpPr>
            <a:xfrm>
              <a:off x="6667500" y="1790700"/>
              <a:ext cx="5143500" cy="533400"/>
              <a:chOff x="6667500" y="1790700"/>
              <a:chExt cx="5143500" cy="533400"/>
            </a:xfrm>
          </p:grpSpPr>
          <p:sp>
            <p:nvSpPr>
              <p:cNvPr id="78" name="Rectangle 78"/>
              <p:cNvSpPr/>
              <p:nvPr/>
            </p:nvSpPr>
            <p:spPr>
              <a:xfrm>
                <a:off x="6667500" y="1790700"/>
                <a:ext cx="5143500" cy="533400"/>
              </a:xfrm>
              <a:prstGeom prst="roundRect">
                <a:avLst>
                  <a:gd name="adj" fmla="val 10714"/>
                </a:avLst>
              </a:prstGeom>
              <a:solidFill>
                <a:srgbClr val="F1EFED"/>
              </a:solidFill>
              <a:ln>
                <a:noFill/>
              </a:ln>
            </p:spPr>
          </p:sp>
          <p:sp>
            <p:nvSpPr>
              <p:cNvPr id="79" name="Ellipse 79"/>
              <p:cNvSpPr/>
              <p:nvPr/>
            </p:nvSpPr>
            <p:spPr>
              <a:xfrm>
                <a:off x="6791325" y="1914525"/>
                <a:ext cx="285750" cy="285750"/>
              </a:xfrm>
              <a:prstGeom prst="ellipse">
                <a:avLst/>
              </a:prstGeom>
              <a:solidFill>
                <a:srgbClr val="8B321E"/>
              </a:solidFill>
              <a:ln>
                <a:noFill/>
              </a:ln>
            </p:spPr>
          </p:sp>
          <p:sp>
            <p:nvSpPr>
              <p:cNvPr id="80" name="TextBox 80"/>
              <p:cNvSpPr txBox="1"/>
              <p:nvPr/>
            </p:nvSpPr>
            <p:spPr>
              <a:xfrm>
                <a:off x="6888051" y="1991678"/>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2</a:t>
                </a:r>
              </a:p>
            </p:txBody>
          </p:sp>
          <p:grpSp>
            <p:nvGrpSpPr>
              <p:cNvPr id="84" name="Group 84"/>
              <p:cNvGrpSpPr/>
              <p:nvPr/>
            </p:nvGrpSpPr>
            <p:grpSpPr>
              <a:xfrm>
                <a:off x="7244556" y="1978819"/>
                <a:ext cx="122238" cy="157162"/>
                <a:chOff x="7244556" y="1978819"/>
                <a:chExt cx="122238" cy="157162"/>
              </a:xfrm>
            </p:grpSpPr>
            <p:sp>
              <p:nvSpPr>
                <p:cNvPr id="81" name="Freeform 81"/>
                <p:cNvSpPr/>
                <p:nvPr/>
              </p:nvSpPr>
              <p:spPr>
                <a:xfrm>
                  <a:off x="7244556" y="1996281"/>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rgbClr val="1A1A1A"/>
                  </a:solidFill>
                </a:ln>
              </p:spPr>
            </p:sp>
            <p:sp>
              <p:nvSpPr>
                <p:cNvPr id="82" name="Freeform 82"/>
                <p:cNvSpPr/>
                <p:nvPr/>
              </p:nvSpPr>
              <p:spPr>
                <a:xfrm>
                  <a:off x="7279481" y="1978819"/>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rgbClr val="1A1A1A"/>
                  </a:solidFill>
                </a:ln>
              </p:spPr>
            </p:sp>
            <p:sp>
              <p:nvSpPr>
                <p:cNvPr id="83" name="Freeform 83"/>
                <p:cNvSpPr/>
                <p:nvPr/>
              </p:nvSpPr>
              <p:spPr>
                <a:xfrm>
                  <a:off x="7279481" y="2057400"/>
                  <a:ext cx="52388" cy="34925"/>
                </a:xfrm>
                <a:custGeom>
                  <a:avLst/>
                  <a:gdLst/>
                  <a:ahLst/>
                  <a:cxnLst/>
                  <a:rect l="l" t="t" r="r" b="b"/>
                  <a:pathLst>
                    <a:path w="52388" h="34925">
                      <a:moveTo>
                        <a:pt x="0" y="17463"/>
                      </a:moveTo>
                      <a:lnTo>
                        <a:pt x="17463" y="34925"/>
                      </a:lnTo>
                      <a:lnTo>
                        <a:pt x="52388" y="0"/>
                      </a:lnTo>
                    </a:path>
                  </a:pathLst>
                </a:custGeom>
                <a:noFill/>
                <a:ln w="17463">
                  <a:solidFill>
                    <a:srgbClr val="1A1A1A"/>
                  </a:solidFill>
                </a:ln>
              </p:spPr>
            </p:sp>
          </p:grpSp>
          <p:sp>
            <p:nvSpPr>
              <p:cNvPr id="85" name="TextBox 85"/>
              <p:cNvSpPr txBox="1"/>
              <p:nvPr/>
            </p:nvSpPr>
            <p:spPr>
              <a:xfrm>
                <a:off x="7557516" y="1915478"/>
                <a:ext cx="434721"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评估：</a:t>
                </a:r>
              </a:p>
            </p:txBody>
          </p:sp>
          <p:sp>
            <p:nvSpPr>
              <p:cNvPr id="86" name="TextBox 86"/>
              <p:cNvSpPr txBox="1"/>
              <p:nvPr/>
            </p:nvSpPr>
            <p:spPr>
              <a:xfrm>
                <a:off x="7558088" y="2120741"/>
                <a:ext cx="1516327" cy="161925"/>
              </a:xfrm>
              <a:prstGeom prst="rect">
                <a:avLst/>
              </a:prstGeom>
              <a:noFill/>
              <a:ln>
                <a:noFill/>
              </a:ln>
            </p:spPr>
            <p:txBody>
              <a:bodyPr wrap="none" lIns="0" tIns="0" rIns="0" bIns="0" anchor="t" anchorCtr="0">
                <a:spAutoFit/>
              </a:bodyPr>
              <a:lstStyle/>
              <a:p>
                <a:pPr algn="l"/>
                <a:r>
                  <a:rPr lang="zh-CN" sz="820" dirty="0">
                    <a:solidFill>
                      <a:srgbClr val="6A6A6A"/>
                    </a:solidFill>
                    <a:latin typeface="+mn-lt"/>
                    <a:ea typeface="+mn-ea"/>
                    <a:cs typeface="+mn-cs"/>
                  </a:rPr>
                  <a:t>评估态度（支持/中立/反对）​</a:t>
                </a:r>
              </a:p>
            </p:txBody>
          </p:sp>
        </p:grpSp>
        <p:grpSp>
          <p:nvGrpSpPr>
            <p:cNvPr id="99" name="step-3"/>
            <p:cNvGrpSpPr/>
            <p:nvPr/>
          </p:nvGrpSpPr>
          <p:grpSpPr>
            <a:xfrm>
              <a:off x="6667500" y="2400300"/>
              <a:ext cx="5143500" cy="533400"/>
              <a:chOff x="6667500" y="2400300"/>
              <a:chExt cx="5143500" cy="533400"/>
            </a:xfrm>
          </p:grpSpPr>
          <p:sp>
            <p:nvSpPr>
              <p:cNvPr id="88" name="Rectangle 88"/>
              <p:cNvSpPr/>
              <p:nvPr/>
            </p:nvSpPr>
            <p:spPr>
              <a:xfrm>
                <a:off x="6667500" y="2400300"/>
                <a:ext cx="5143500" cy="533400"/>
              </a:xfrm>
              <a:prstGeom prst="roundRect">
                <a:avLst>
                  <a:gd name="adj" fmla="val 10714"/>
                </a:avLst>
              </a:prstGeom>
              <a:solidFill>
                <a:srgbClr val="F1EFED"/>
              </a:solidFill>
              <a:ln>
                <a:noFill/>
              </a:ln>
            </p:spPr>
          </p:sp>
          <p:sp>
            <p:nvSpPr>
              <p:cNvPr id="89" name="Ellipse 89"/>
              <p:cNvSpPr/>
              <p:nvPr/>
            </p:nvSpPr>
            <p:spPr>
              <a:xfrm>
                <a:off x="6791325" y="2524125"/>
                <a:ext cx="285750" cy="285750"/>
              </a:xfrm>
              <a:prstGeom prst="ellipse">
                <a:avLst/>
              </a:prstGeom>
              <a:solidFill>
                <a:srgbClr val="8B321E"/>
              </a:solidFill>
              <a:ln>
                <a:noFill/>
              </a:ln>
            </p:spPr>
          </p:sp>
          <p:sp>
            <p:nvSpPr>
              <p:cNvPr id="90" name="TextBox 90"/>
              <p:cNvSpPr txBox="1"/>
              <p:nvPr/>
            </p:nvSpPr>
            <p:spPr>
              <a:xfrm>
                <a:off x="6888051" y="2601278"/>
                <a:ext cx="9229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3</a:t>
                </a:r>
              </a:p>
            </p:txBody>
          </p:sp>
          <p:grpSp>
            <p:nvGrpSpPr>
              <p:cNvPr id="96" name="Group 96"/>
              <p:cNvGrpSpPr/>
              <p:nvPr/>
            </p:nvGrpSpPr>
            <p:grpSpPr>
              <a:xfrm>
                <a:off x="7220361" y="2585177"/>
                <a:ext cx="167086" cy="167100"/>
                <a:chOff x="7220361" y="2585177"/>
                <a:chExt cx="167086" cy="167100"/>
              </a:xfrm>
            </p:grpSpPr>
            <p:sp>
              <p:nvSpPr>
                <p:cNvPr id="91" name="Freeform 91"/>
                <p:cNvSpPr/>
                <p:nvPr/>
              </p:nvSpPr>
              <p:spPr>
                <a:xfrm>
                  <a:off x="7296944" y="265826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1A1A1A"/>
                  </a:solidFill>
                </a:ln>
              </p:spPr>
            </p:sp>
            <p:sp>
              <p:nvSpPr>
                <p:cNvPr id="92" name="Freeform 92"/>
                <p:cNvSpPr/>
                <p:nvPr/>
              </p:nvSpPr>
              <p:spPr>
                <a:xfrm>
                  <a:off x="7262019" y="2623344"/>
                  <a:ext cx="87313" cy="87313"/>
                </a:xfrm>
                <a:custGeom>
                  <a:avLst/>
                  <a:gdLst/>
                  <a:ahLst/>
                  <a:cxnLst/>
                  <a:rect l="l" t="t" r="r" b="b"/>
                  <a:pathLst>
                    <a:path w="87313" h="87313">
                      <a:moveTo>
                        <a:pt x="43656" y="0"/>
                      </a:moveTo>
                      <a:cubicBezTo>
                        <a:pt x="19546" y="0"/>
                        <a:pt x="0" y="19546"/>
                        <a:pt x="0" y="43656"/>
                      </a:cubicBezTo>
                      <a:cubicBezTo>
                        <a:pt x="0" y="67767"/>
                        <a:pt x="19546" y="87313"/>
                        <a:pt x="43656" y="87313"/>
                      </a:cubicBezTo>
                      <a:cubicBezTo>
                        <a:pt x="67767" y="87313"/>
                        <a:pt x="87313" y="67767"/>
                        <a:pt x="87313" y="43656"/>
                      </a:cubicBezTo>
                    </a:path>
                  </a:pathLst>
                </a:custGeom>
                <a:noFill/>
                <a:ln w="17463">
                  <a:solidFill>
                    <a:srgbClr val="1A1A1A"/>
                  </a:solidFill>
                </a:ln>
              </p:spPr>
            </p:sp>
            <p:sp>
              <p:nvSpPr>
                <p:cNvPr id="93" name="Freeform 93"/>
                <p:cNvSpPr/>
                <p:nvPr/>
              </p:nvSpPr>
              <p:spPr>
                <a:xfrm>
                  <a:off x="7220361" y="2585177"/>
                  <a:ext cx="167086" cy="167100"/>
                </a:xfrm>
                <a:custGeom>
                  <a:avLst/>
                  <a:gdLst/>
                  <a:ahLst/>
                  <a:cxnLst/>
                  <a:rect l="l" t="t" r="r" b="b"/>
                  <a:pathLst>
                    <a:path w="167086" h="167100">
                      <a:moveTo>
                        <a:pt x="94046" y="3722"/>
                      </a:moveTo>
                      <a:cubicBezTo>
                        <a:pt x="60869" y="0"/>
                        <a:pt x="28963" y="17646"/>
                        <a:pt x="14481" y="47726"/>
                      </a:cubicBezTo>
                      <a:cubicBezTo>
                        <a:pt x="0" y="77806"/>
                        <a:pt x="6105" y="113753"/>
                        <a:pt x="29705" y="137365"/>
                      </a:cubicBezTo>
                      <a:cubicBezTo>
                        <a:pt x="53306" y="160977"/>
                        <a:pt x="89249" y="167100"/>
                        <a:pt x="119336" y="152634"/>
                      </a:cubicBezTo>
                      <a:cubicBezTo>
                        <a:pt x="149423" y="138167"/>
                        <a:pt x="167086" y="106270"/>
                        <a:pt x="163380" y="73092"/>
                      </a:cubicBezTo>
                    </a:path>
                  </a:pathLst>
                </a:custGeom>
                <a:noFill/>
                <a:ln w="17463">
                  <a:solidFill>
                    <a:srgbClr val="1A1A1A"/>
                  </a:solidFill>
                </a:ln>
              </p:spPr>
            </p:sp>
            <p:sp>
              <p:nvSpPr>
                <p:cNvPr id="94" name="Freeform 94"/>
                <p:cNvSpPr/>
                <p:nvPr/>
              </p:nvSpPr>
              <p:spPr>
                <a:xfrm>
                  <a:off x="7331869" y="2588419"/>
                  <a:ext cx="52388" cy="52388"/>
                </a:xfrm>
                <a:custGeom>
                  <a:avLst/>
                  <a:gdLst/>
                  <a:ahLst/>
                  <a:cxnLst/>
                  <a:rect l="l" t="t" r="r" b="b"/>
                  <a:pathLst>
                    <a:path w="52388" h="52388">
                      <a:moveTo>
                        <a:pt x="0" y="26194"/>
                      </a:moveTo>
                      <a:lnTo>
                        <a:pt x="0" y="52388"/>
                      </a:lnTo>
                      <a:lnTo>
                        <a:pt x="26194" y="52388"/>
                      </a:lnTo>
                      <a:lnTo>
                        <a:pt x="52388" y="26194"/>
                      </a:lnTo>
                      <a:lnTo>
                        <a:pt x="26194" y="26194"/>
                      </a:lnTo>
                      <a:lnTo>
                        <a:pt x="26194" y="0"/>
                      </a:lnTo>
                      <a:lnTo>
                        <a:pt x="0" y="26194"/>
                      </a:lnTo>
                    </a:path>
                  </a:pathLst>
                </a:custGeom>
                <a:noFill/>
                <a:ln w="17463">
                  <a:solidFill>
                    <a:srgbClr val="1A1A1A"/>
                  </a:solidFill>
                </a:ln>
              </p:spPr>
            </p:sp>
            <p:sp>
              <p:nvSpPr>
                <p:cNvPr id="95" name="Freeform 95"/>
                <p:cNvSpPr/>
                <p:nvPr/>
              </p:nvSpPr>
              <p:spPr>
                <a:xfrm>
                  <a:off x="7305675" y="2640806"/>
                  <a:ext cx="26194" cy="26194"/>
                </a:xfrm>
                <a:custGeom>
                  <a:avLst/>
                  <a:gdLst/>
                  <a:ahLst/>
                  <a:cxnLst/>
                  <a:rect l="l" t="t" r="r" b="b"/>
                  <a:pathLst>
                    <a:path w="26194" h="26194">
                      <a:moveTo>
                        <a:pt x="26194" y="0"/>
                      </a:moveTo>
                      <a:lnTo>
                        <a:pt x="0" y="26194"/>
                      </a:lnTo>
                    </a:path>
                  </a:pathLst>
                </a:custGeom>
                <a:noFill/>
                <a:ln w="17463">
                  <a:solidFill>
                    <a:srgbClr val="1A1A1A"/>
                  </a:solidFill>
                </a:ln>
              </p:spPr>
            </p:sp>
          </p:grpSp>
          <p:sp>
            <p:nvSpPr>
              <p:cNvPr id="97" name="TextBox 97"/>
              <p:cNvSpPr txBox="1"/>
              <p:nvPr/>
            </p:nvSpPr>
            <p:spPr>
              <a:xfrm>
                <a:off x="7557516" y="2525078"/>
                <a:ext cx="717423"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制定策略：</a:t>
                </a:r>
              </a:p>
            </p:txBody>
          </p:sp>
          <p:sp>
            <p:nvSpPr>
              <p:cNvPr id="98" name="TextBox 98"/>
              <p:cNvSpPr txBox="1"/>
              <p:nvPr/>
            </p:nvSpPr>
            <p:spPr>
              <a:xfrm>
                <a:off x="7558088" y="2730341"/>
                <a:ext cx="561467" cy="161925"/>
              </a:xfrm>
              <a:prstGeom prst="rect">
                <a:avLst/>
              </a:prstGeom>
              <a:noFill/>
              <a:ln>
                <a:noFill/>
              </a:ln>
            </p:spPr>
            <p:txBody>
              <a:bodyPr wrap="none" lIns="0" tIns="0" rIns="0" bIns="0" anchor="t" anchorCtr="0">
                <a:spAutoFit/>
              </a:bodyPr>
              <a:lstStyle/>
              <a:p>
                <a:pPr algn="l"/>
                <a:r>
                  <a:rPr lang="zh-CN" sz="820" dirty="0">
                    <a:solidFill>
                      <a:srgbClr val="6A6A6A"/>
                    </a:solidFill>
                    <a:latin typeface="+mn-lt"/>
                    <a:ea typeface="+mn-ea"/>
                    <a:cs typeface="+mn-cs"/>
                  </a:rPr>
                  <a:t>差异化攻关</a:t>
                </a:r>
              </a:p>
            </p:txBody>
          </p:sp>
        </p:grpSp>
        <p:grpSp>
          <p:nvGrpSpPr>
            <p:cNvPr id="125" name="health-card"/>
            <p:cNvGrpSpPr/>
            <p:nvPr/>
          </p:nvGrpSpPr>
          <p:grpSpPr>
            <a:xfrm>
              <a:off x="6667500" y="3086100"/>
              <a:ext cx="5143500" cy="3181350"/>
              <a:chOff x="6667500" y="3086100"/>
              <a:chExt cx="5143500" cy="3181350"/>
            </a:xfrm>
          </p:grpSpPr>
          <p:sp>
            <p:nvSpPr>
              <p:cNvPr id="100" name="Rectangle 100"/>
              <p:cNvSpPr/>
              <p:nvPr/>
            </p:nvSpPr>
            <p:spPr>
              <a:xfrm>
                <a:off x="6667500" y="3086100"/>
                <a:ext cx="5143500" cy="3181350"/>
              </a:xfrm>
              <a:prstGeom prst="roundRect">
                <a:avLst>
                  <a:gd name="adj" fmla="val 2395"/>
                </a:avLst>
              </a:prstGeom>
              <a:solidFill>
                <a:srgbClr val="FFFFFF"/>
              </a:solidFill>
              <a:ln w="19050">
                <a:solidFill>
                  <a:srgbClr val="D9978C"/>
                </a:solidFill>
              </a:ln>
            </p:spPr>
          </p:sp>
          <p:grpSp>
            <p:nvGrpSpPr>
              <p:cNvPr id="103" name="Group 103"/>
              <p:cNvGrpSpPr/>
              <p:nvPr/>
            </p:nvGrpSpPr>
            <p:grpSpPr>
              <a:xfrm>
                <a:off x="6911821" y="3305175"/>
                <a:ext cx="186006" cy="171450"/>
                <a:chOff x="6911821" y="3305175"/>
                <a:chExt cx="186006" cy="171450"/>
              </a:xfrm>
            </p:grpSpPr>
            <p:sp>
              <p:nvSpPr>
                <p:cNvPr id="101" name="Freeform 101"/>
                <p:cNvSpPr/>
                <p:nvPr/>
              </p:nvSpPr>
              <p:spPr>
                <a:xfrm>
                  <a:off x="6911821" y="3305175"/>
                  <a:ext cx="186006" cy="169983"/>
                </a:xfrm>
                <a:custGeom>
                  <a:avLst/>
                  <a:gdLst/>
                  <a:ahLst/>
                  <a:cxnLst/>
                  <a:rect l="l" t="t" r="r" b="b"/>
                  <a:pathLst>
                    <a:path w="186006" h="169983">
                      <a:moveTo>
                        <a:pt x="93436" y="169983"/>
                      </a:moveTo>
                      <a:cubicBezTo>
                        <a:pt x="33766" y="151487"/>
                        <a:pt x="0" y="88510"/>
                        <a:pt x="17617" y="28575"/>
                      </a:cubicBezTo>
                      <a:cubicBezTo>
                        <a:pt x="47292" y="29933"/>
                        <a:pt x="76331" y="19684"/>
                        <a:pt x="98579" y="0"/>
                      </a:cubicBezTo>
                      <a:cubicBezTo>
                        <a:pt x="120828" y="19684"/>
                        <a:pt x="149867" y="29933"/>
                        <a:pt x="179542" y="28575"/>
                      </a:cubicBezTo>
                      <a:cubicBezTo>
                        <a:pt x="186006" y="50569"/>
                        <a:pt x="185708" y="73999"/>
                        <a:pt x="178685" y="95822"/>
                      </a:cubicBezTo>
                    </a:path>
                  </a:pathLst>
                </a:custGeom>
                <a:noFill/>
                <a:ln w="19050">
                  <a:solidFill>
                    <a:srgbClr val="C97263"/>
                  </a:solidFill>
                </a:ln>
              </p:spPr>
            </p:sp>
            <p:sp>
              <p:nvSpPr>
                <p:cNvPr id="102" name="Freeform 102"/>
                <p:cNvSpPr/>
                <p:nvPr/>
              </p:nvSpPr>
              <p:spPr>
                <a:xfrm>
                  <a:off x="7038975" y="3438525"/>
                  <a:ext cx="57150" cy="38100"/>
                </a:xfrm>
                <a:custGeom>
                  <a:avLst/>
                  <a:gdLst/>
                  <a:ahLst/>
                  <a:cxnLst/>
                  <a:rect l="l" t="t" r="r" b="b"/>
                  <a:pathLst>
                    <a:path w="57150" h="38100">
                      <a:moveTo>
                        <a:pt x="0" y="19050"/>
                      </a:moveTo>
                      <a:lnTo>
                        <a:pt x="19050" y="38100"/>
                      </a:lnTo>
                      <a:lnTo>
                        <a:pt x="57150" y="0"/>
                      </a:lnTo>
                    </a:path>
                  </a:pathLst>
                </a:custGeom>
                <a:noFill/>
                <a:ln w="19050">
                  <a:solidFill>
                    <a:srgbClr val="C97263"/>
                  </a:solidFill>
                </a:ln>
              </p:spPr>
            </p:sp>
          </p:grpSp>
          <p:sp>
            <p:nvSpPr>
              <p:cNvPr id="104" name="TextBox 104"/>
              <p:cNvSpPr txBox="1"/>
              <p:nvPr/>
            </p:nvSpPr>
            <p:spPr>
              <a:xfrm>
                <a:off x="7213854" y="3328035"/>
                <a:ext cx="1466088"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关系健康度评估指标</a:t>
                </a:r>
              </a:p>
            </p:txBody>
          </p:sp>
          <p:sp>
            <p:nvSpPr>
              <p:cNvPr id="105" name="Line 105"/>
              <p:cNvSpPr/>
              <p:nvPr/>
            </p:nvSpPr>
            <p:spPr>
              <a:xfrm>
                <a:off x="6858000" y="3657600"/>
                <a:ext cx="4762500" cy="9525"/>
              </a:xfrm>
              <a:custGeom>
                <a:avLst/>
                <a:gdLst/>
                <a:ahLst/>
                <a:cxnLst/>
                <a:rect l="l" t="t" r="r" b="b"/>
                <a:pathLst>
                  <a:path w="4762500" h="9525">
                    <a:moveTo>
                      <a:pt x="0" y="0"/>
                    </a:moveTo>
                    <a:lnTo>
                      <a:pt x="4762500" y="0"/>
                    </a:lnTo>
                  </a:path>
                </a:pathLst>
              </a:custGeom>
              <a:noFill/>
              <a:ln w="9525">
                <a:solidFill>
                  <a:srgbClr val="EAC3BC"/>
                </a:solidFill>
              </a:ln>
            </p:spPr>
          </p:sp>
          <p:grpSp>
            <p:nvGrpSpPr>
              <p:cNvPr id="110" name="Group 110"/>
              <p:cNvGrpSpPr/>
              <p:nvPr/>
            </p:nvGrpSpPr>
            <p:grpSpPr>
              <a:xfrm>
                <a:off x="6943725" y="4124325"/>
                <a:ext cx="171450" cy="171450"/>
                <a:chOff x="6943725" y="4124325"/>
                <a:chExt cx="171450" cy="171450"/>
              </a:xfrm>
            </p:grpSpPr>
            <p:sp>
              <p:nvSpPr>
                <p:cNvPr id="106" name="Freeform 106"/>
                <p:cNvSpPr/>
                <p:nvPr/>
              </p:nvSpPr>
              <p:spPr>
                <a:xfrm>
                  <a:off x="6962775" y="412432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97263"/>
                  </a:solidFill>
                </a:ln>
              </p:spPr>
            </p:sp>
            <p:sp>
              <p:nvSpPr>
                <p:cNvPr id="107" name="Freeform 107"/>
                <p:cNvSpPr/>
                <p:nvPr/>
              </p:nvSpPr>
              <p:spPr>
                <a:xfrm>
                  <a:off x="6943725" y="423862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97263"/>
                  </a:solidFill>
                </a:ln>
              </p:spPr>
            </p:sp>
            <p:sp>
              <p:nvSpPr>
                <p:cNvPr id="108" name="Freeform 108"/>
                <p:cNvSpPr/>
                <p:nvPr/>
              </p:nvSpPr>
              <p:spPr>
                <a:xfrm>
                  <a:off x="7067550" y="412556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97263"/>
                  </a:solidFill>
                </a:ln>
              </p:spPr>
            </p:sp>
            <p:sp>
              <p:nvSpPr>
                <p:cNvPr id="109" name="Freeform 109"/>
                <p:cNvSpPr/>
                <p:nvPr/>
              </p:nvSpPr>
              <p:spPr>
                <a:xfrm>
                  <a:off x="7086600" y="424005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97263"/>
                  </a:solidFill>
                </a:ln>
              </p:spPr>
            </p:sp>
          </p:grpSp>
          <p:sp>
            <p:nvSpPr>
              <p:cNvPr id="111" name="TextBox 111"/>
              <p:cNvSpPr txBox="1"/>
              <p:nvPr/>
            </p:nvSpPr>
            <p:spPr>
              <a:xfrm>
                <a:off x="7291197" y="4161949"/>
                <a:ext cx="1559184"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覆盖层级：</a:t>
                </a:r>
                <a:r>
                  <a:rPr lang="zh-CN" sz="980" dirty="0">
                    <a:solidFill>
                      <a:srgbClr val="6A6A6A"/>
                    </a:solidFill>
                    <a:latin typeface="+mn-lt"/>
                    <a:ea typeface="+mn-ea"/>
                    <a:cs typeface="+mn-cs"/>
                  </a:rPr>
                  <a:t>是否覆盖到EB​</a:t>
                </a:r>
              </a:p>
            </p:txBody>
          </p:sp>
          <p:grpSp>
            <p:nvGrpSpPr>
              <p:cNvPr id="116" name="Group 116"/>
              <p:cNvGrpSpPr/>
              <p:nvPr/>
            </p:nvGrpSpPr>
            <p:grpSpPr>
              <a:xfrm>
                <a:off x="6943725" y="4800600"/>
                <a:ext cx="171450" cy="161925"/>
                <a:chOff x="6943725" y="4800600"/>
                <a:chExt cx="171450" cy="161925"/>
              </a:xfrm>
            </p:grpSpPr>
            <p:sp>
              <p:nvSpPr>
                <p:cNvPr id="112" name="Freeform 112"/>
                <p:cNvSpPr/>
                <p:nvPr/>
              </p:nvSpPr>
              <p:spPr>
                <a:xfrm>
                  <a:off x="6943725" y="487680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C97263"/>
                  </a:solidFill>
                </a:ln>
              </p:spPr>
            </p:sp>
            <p:sp>
              <p:nvSpPr>
                <p:cNvPr id="113" name="Freeform 113"/>
                <p:cNvSpPr/>
                <p:nvPr/>
              </p:nvSpPr>
              <p:spPr>
                <a:xfrm>
                  <a:off x="7058025" y="483870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C97263"/>
                  </a:solidFill>
                </a:ln>
              </p:spPr>
            </p:sp>
            <p:sp>
              <p:nvSpPr>
                <p:cNvPr id="114" name="Freeform 114"/>
                <p:cNvSpPr/>
                <p:nvPr/>
              </p:nvSpPr>
              <p:spPr>
                <a:xfrm>
                  <a:off x="7000875" y="480060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C97263"/>
                  </a:solidFill>
                </a:ln>
              </p:spPr>
            </p:sp>
            <p:sp>
              <p:nvSpPr>
                <p:cNvPr id="115" name="Freeform 115"/>
                <p:cNvSpPr/>
                <p:nvPr/>
              </p:nvSpPr>
              <p:spPr>
                <a:xfrm>
                  <a:off x="6953250" y="4953000"/>
                  <a:ext cx="133350" cy="9525"/>
                </a:xfrm>
                <a:custGeom>
                  <a:avLst/>
                  <a:gdLst/>
                  <a:ahLst/>
                  <a:cxnLst/>
                  <a:rect l="l" t="t" r="r" b="b"/>
                  <a:pathLst>
                    <a:path w="133350" h="9525">
                      <a:moveTo>
                        <a:pt x="0" y="0"/>
                      </a:moveTo>
                      <a:lnTo>
                        <a:pt x="133350" y="0"/>
                      </a:lnTo>
                    </a:path>
                  </a:pathLst>
                </a:custGeom>
                <a:noFill/>
                <a:ln w="19050">
                  <a:solidFill>
                    <a:srgbClr val="C97263"/>
                  </a:solidFill>
                </a:ln>
              </p:spPr>
            </p:sp>
          </p:grpSp>
          <p:sp>
            <p:nvSpPr>
              <p:cNvPr id="117" name="TextBox 117"/>
              <p:cNvSpPr txBox="1"/>
              <p:nvPr/>
            </p:nvSpPr>
            <p:spPr>
              <a:xfrm>
                <a:off x="7291197" y="4828699"/>
                <a:ext cx="2001266" cy="381191"/>
              </a:xfrm>
              <a:prstGeom prst="rect">
                <a:avLst/>
              </a:prstGeom>
              <a:noFill/>
              <a:ln>
                <a:noFill/>
              </a:ln>
            </p:spPr>
            <p:txBody>
              <a:bodyPr wrap="none" lIns="0" tIns="0" rIns="0" bIns="0" anchor="t" anchorCtr="0">
                <a:spAutoFit/>
              </a:bodyPr>
              <a:lstStyle/>
              <a:p>
                <a:pPr algn="l">
                  <a:lnSpc>
                    <a:spcPts val="1500"/>
                  </a:lnSpc>
                </a:pPr>
                <a:r>
                  <a:rPr lang="zh-CN" sz="980" b="1" dirty="0">
                    <a:solidFill>
                      <a:srgbClr val="1A1A1A"/>
                    </a:solidFill>
                    <a:latin typeface="+mn-lt"/>
                    <a:ea typeface="+mn-ea"/>
                    <a:cs typeface="+mn-cs"/>
                  </a:rPr>
                  <a:t>关系深度：</a:t>
                </a:r>
                <a:r>
                  <a:rPr lang="zh-CN" sz="980" dirty="0">
                    <a:solidFill>
                      <a:srgbClr val="6A6A6A"/>
                    </a:solidFill>
                    <a:latin typeface="+mn-lt"/>
                    <a:ea typeface="+mn-ea"/>
                    <a:cs typeface="+mn-cs"/>
                  </a:rPr>
                  <a:t>每个关键角色的关系评分</a:t>
                </a:r>
                <a:br/>
                <a:r>
                  <a:rPr lang="zh-CN" sz="980" dirty="0">
                    <a:solidFill>
                      <a:srgbClr val="6A6A6A"/>
                    </a:solidFill>
                    <a:latin typeface="+mn-lt"/>
                    <a:ea typeface="+mn-ea"/>
                    <a:cs typeface="+mn-cs"/>
                  </a:rPr>
                  <a:t>（1-5分）​</a:t>
                </a:r>
              </a:p>
            </p:txBody>
          </p:sp>
          <p:grpSp>
            <p:nvGrpSpPr>
              <p:cNvPr id="123" name="Group 123"/>
              <p:cNvGrpSpPr/>
              <p:nvPr/>
            </p:nvGrpSpPr>
            <p:grpSpPr>
              <a:xfrm>
                <a:off x="6943725" y="5514975"/>
                <a:ext cx="171450" cy="171450"/>
                <a:chOff x="6943725" y="5514975"/>
                <a:chExt cx="171450" cy="171450"/>
              </a:xfrm>
            </p:grpSpPr>
            <p:sp>
              <p:nvSpPr>
                <p:cNvPr id="118" name="Freeform 118"/>
                <p:cNvSpPr/>
                <p:nvPr/>
              </p:nvSpPr>
              <p:spPr>
                <a:xfrm>
                  <a:off x="6943725" y="562927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C97263"/>
                  </a:solidFill>
                </a:ln>
              </p:spPr>
            </p:sp>
            <p:sp>
              <p:nvSpPr>
                <p:cNvPr id="119" name="Freeform 119"/>
                <p:cNvSpPr/>
                <p:nvPr/>
              </p:nvSpPr>
              <p:spPr>
                <a:xfrm>
                  <a:off x="7058025" y="562927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C97263"/>
                  </a:solidFill>
                </a:ln>
              </p:spPr>
            </p:sp>
            <p:sp>
              <p:nvSpPr>
                <p:cNvPr id="120" name="Freeform 120"/>
                <p:cNvSpPr/>
                <p:nvPr/>
              </p:nvSpPr>
              <p:spPr>
                <a:xfrm>
                  <a:off x="7000875" y="5514975"/>
                  <a:ext cx="57150" cy="57150"/>
                </a:xfrm>
                <a:custGeom>
                  <a:avLst/>
                  <a:gdLst/>
                  <a:ahLst/>
                  <a:cxnLst/>
                  <a:rect l="l" t="t" r="r" b="b"/>
                  <a:pathLst>
                    <a:path w="57150" h="57150">
                      <a:moveTo>
                        <a:pt x="0" y="19050"/>
                      </a:moveTo>
                      <a:cubicBezTo>
                        <a:pt x="0" y="8529"/>
                        <a:pt x="8529" y="0"/>
                        <a:pt x="19050" y="0"/>
                      </a:cubicBezTo>
                      <a:lnTo>
                        <a:pt x="38100" y="0"/>
                      </a:lnTo>
                      <a:cubicBezTo>
                        <a:pt x="48621" y="0"/>
                        <a:pt x="57150" y="8529"/>
                        <a:pt x="57150" y="19050"/>
                      </a:cubicBezTo>
                      <a:lnTo>
                        <a:pt x="57150" y="38100"/>
                      </a:lnTo>
                      <a:cubicBezTo>
                        <a:pt x="57150" y="48621"/>
                        <a:pt x="48621" y="57150"/>
                        <a:pt x="38100" y="57150"/>
                      </a:cubicBezTo>
                      <a:lnTo>
                        <a:pt x="19050" y="57150"/>
                      </a:lnTo>
                      <a:cubicBezTo>
                        <a:pt x="8529" y="57150"/>
                        <a:pt x="0" y="48621"/>
                        <a:pt x="0" y="38100"/>
                      </a:cubicBezTo>
                      <a:lnTo>
                        <a:pt x="0" y="19050"/>
                      </a:lnTo>
                    </a:path>
                  </a:pathLst>
                </a:custGeom>
                <a:noFill/>
                <a:ln w="19050">
                  <a:solidFill>
                    <a:srgbClr val="C97263"/>
                  </a:solidFill>
                </a:ln>
              </p:spPr>
            </p:sp>
            <p:sp>
              <p:nvSpPr>
                <p:cNvPr id="121" name="Freeform 121"/>
                <p:cNvSpPr/>
                <p:nvPr/>
              </p:nvSpPr>
              <p:spPr>
                <a:xfrm>
                  <a:off x="6972300" y="5600700"/>
                  <a:ext cx="114300" cy="28575"/>
                </a:xfrm>
                <a:custGeom>
                  <a:avLst/>
                  <a:gdLst/>
                  <a:ahLst/>
                  <a:cxnLst/>
                  <a:rect l="l" t="t" r="r" b="b"/>
                  <a:pathLst>
                    <a:path w="114300" h="28575">
                      <a:moveTo>
                        <a:pt x="0" y="28575"/>
                      </a:moveTo>
                      <a:lnTo>
                        <a:pt x="0" y="19050"/>
                      </a:lnTo>
                      <a:cubicBezTo>
                        <a:pt x="0" y="8529"/>
                        <a:pt x="8529" y="0"/>
                        <a:pt x="19050" y="0"/>
                      </a:cubicBezTo>
                      <a:lnTo>
                        <a:pt x="95250" y="0"/>
                      </a:lnTo>
                      <a:cubicBezTo>
                        <a:pt x="105771" y="0"/>
                        <a:pt x="114300" y="8529"/>
                        <a:pt x="114300" y="19050"/>
                      </a:cubicBezTo>
                      <a:lnTo>
                        <a:pt x="114300" y="28575"/>
                      </a:lnTo>
                    </a:path>
                  </a:pathLst>
                </a:custGeom>
                <a:noFill/>
                <a:ln w="19050">
                  <a:solidFill>
                    <a:srgbClr val="C97263"/>
                  </a:solidFill>
                </a:ln>
              </p:spPr>
            </p:sp>
            <p:sp>
              <p:nvSpPr>
                <p:cNvPr id="122" name="Freeform 122"/>
                <p:cNvSpPr/>
                <p:nvPr/>
              </p:nvSpPr>
              <p:spPr>
                <a:xfrm>
                  <a:off x="7029450" y="5572125"/>
                  <a:ext cx="9525" cy="28575"/>
                </a:xfrm>
                <a:custGeom>
                  <a:avLst/>
                  <a:gdLst/>
                  <a:ahLst/>
                  <a:cxnLst/>
                  <a:rect l="l" t="t" r="r" b="b"/>
                  <a:pathLst>
                    <a:path w="9525" h="28575">
                      <a:moveTo>
                        <a:pt x="0" y="0"/>
                      </a:moveTo>
                      <a:lnTo>
                        <a:pt x="0" y="28575"/>
                      </a:lnTo>
                    </a:path>
                  </a:pathLst>
                </a:custGeom>
                <a:noFill/>
                <a:ln w="19050">
                  <a:solidFill>
                    <a:srgbClr val="C97263"/>
                  </a:solidFill>
                </a:ln>
              </p:spPr>
            </p:sp>
          </p:grpSp>
          <p:sp>
            <p:nvSpPr>
              <p:cNvPr id="124" name="TextBox 124"/>
              <p:cNvSpPr txBox="1"/>
              <p:nvPr/>
            </p:nvSpPr>
            <p:spPr>
              <a:xfrm>
                <a:off x="7291197" y="5552599"/>
                <a:ext cx="1752346" cy="381191"/>
              </a:xfrm>
              <a:prstGeom prst="rect">
                <a:avLst/>
              </a:prstGeom>
              <a:noFill/>
              <a:ln>
                <a:noFill/>
              </a:ln>
            </p:spPr>
            <p:txBody>
              <a:bodyPr wrap="none" lIns="0" tIns="0" rIns="0" bIns="0" anchor="t" anchorCtr="0">
                <a:spAutoFit/>
              </a:bodyPr>
              <a:lstStyle/>
              <a:p>
                <a:pPr algn="l">
                  <a:lnSpc>
                    <a:spcPts val="1500"/>
                  </a:lnSpc>
                </a:pPr>
                <a:r>
                  <a:rPr lang="zh-CN" sz="980" b="1" dirty="0">
                    <a:solidFill>
                      <a:srgbClr val="1A1A1A"/>
                    </a:solidFill>
                    <a:latin typeface="+mn-lt"/>
                    <a:ea typeface="+mn-ea"/>
                    <a:cs typeface="+mn-cs"/>
                  </a:rPr>
                  <a:t>关系广度：</a:t>
                </a:r>
                <a:r>
                  <a:rPr lang="zh-CN" sz="980" dirty="0">
                    <a:solidFill>
                      <a:srgbClr val="6A6A6A"/>
                    </a:solidFill>
                    <a:latin typeface="+mn-lt"/>
                    <a:ea typeface="+mn-ea"/>
                    <a:cs typeface="+mn-cs"/>
                  </a:rPr>
                  <a:t>覆盖的关键角色数量</a:t>
                </a:r>
                <a:br/>
                <a:r>
                  <a:rPr lang="zh-CN" sz="980" dirty="0">
                    <a:solidFill>
                      <a:srgbClr val="6A6A6A"/>
                    </a:solidFill>
                    <a:latin typeface="+mn-lt"/>
                    <a:ea typeface="+mn-ea"/>
                    <a:cs typeface="+mn-cs"/>
                  </a:rPr>
                  <a:t>（目标：≥4个）​</a:t>
                </a:r>
              </a:p>
            </p:txBody>
          </p:sp>
        </p:grpSp>
      </p:grpSp>
      <p:sp>
        <p:nvSpPr>
          <p:cNvPr id="127" name="TextBox 127"/>
          <p:cNvSpPr txBox="1"/>
          <p:nvPr/>
        </p:nvSpPr>
        <p:spPr>
          <a:xfrm>
            <a:off x="11620383" y="6565106"/>
            <a:ext cx="177282" cy="220028"/>
          </a:xfrm>
          <a:prstGeom prst="rect">
            <a:avLst/>
          </a:prstGeom>
          <a:noFill/>
          <a:ln>
            <a:noFill/>
          </a:ln>
        </p:spPr>
        <p:txBody>
          <a:bodyPr wrap="none" lIns="0" tIns="0" rIns="0" bIns="0" anchor="t" anchorCtr="0">
            <a:spAutoFit/>
          </a:bodyPr>
          <a:lstStyle/>
          <a:p>
            <a:pPr algn="r"/>
            <a:r>
              <a:rPr lang="zh-CN" sz="1120" dirty="0">
                <a:solidFill>
                  <a:srgbClr val="8A8A8A"/>
                </a:solidFill>
                <a:latin typeface="+mn-lt"/>
                <a:ea typeface="+mn-ea"/>
                <a:cs typeface="+mn-cs"/>
              </a:rPr>
              <a:t>06</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title"/>
          <p:cNvGrpSpPr/>
          <p:nvPr/>
        </p:nvGrpSpPr>
        <p:grpSpPr>
          <a:xfrm>
            <a:off x="381000" y="266700"/>
            <a:ext cx="9403743" cy="541401"/>
            <a:chOff x="381000" y="266700"/>
            <a:chExt cx="9403743" cy="541401"/>
          </a:xfrm>
        </p:grpSpPr>
        <p:sp>
          <p:nvSpPr>
            <p:cNvPr id="2" name="Rectangle 2"/>
            <p:cNvSpPr/>
            <p:nvPr/>
          </p:nvSpPr>
          <p:spPr>
            <a:xfrm>
              <a:off x="381000" y="266700"/>
              <a:ext cx="66675" cy="381000"/>
            </a:xfrm>
            <a:prstGeom prst="rect">
              <a:avLst/>
            </a:prstGeom>
            <a:solidFill>
              <a:srgbClr val="8B321E"/>
            </a:solidFill>
            <a:ln>
              <a:noFill/>
            </a:ln>
          </p:spPr>
        </p:sp>
        <p:sp>
          <p:nvSpPr>
            <p:cNvPr id="3" name="TextBox 3"/>
            <p:cNvSpPr txBox="1"/>
            <p:nvPr/>
          </p:nvSpPr>
          <p:spPr>
            <a:xfrm>
              <a:off x="557784" y="280035"/>
              <a:ext cx="9226959" cy="528066"/>
            </a:xfrm>
            <a:prstGeom prst="rect">
              <a:avLst/>
            </a:prstGeom>
            <a:noFill/>
            <a:ln>
              <a:noFill/>
            </a:ln>
          </p:spPr>
          <p:txBody>
            <a:bodyPr wrap="none" lIns="0" tIns="0" rIns="0" bIns="0" anchor="t" anchorCtr="0">
              <a:spAutoFit/>
            </a:bodyPr>
            <a:lstStyle/>
            <a:p>
              <a:pPr algn="l"/>
              <a:r>
                <a:rPr lang="zh-CN" sz="2700" b="1" dirty="0">
                  <a:solidFill>
                    <a:srgbClr val="1A1A1A"/>
                  </a:solidFill>
                  <a:latin typeface="+mn-lt"/>
                  <a:ea typeface="+mn-ea"/>
                  <a:cs typeface="+mn-cs"/>
                </a:rPr>
                <a:t>年度作战图的设计逻辑：从“销售计划”到“客户经营计划”</a:t>
              </a:r>
            </a:p>
          </p:txBody>
        </p:sp>
      </p:grpSp>
      <p:grpSp>
        <p:nvGrpSpPr>
          <p:cNvPr id="11" name="manifesto"/>
          <p:cNvGrpSpPr/>
          <p:nvPr/>
        </p:nvGrpSpPr>
        <p:grpSpPr>
          <a:xfrm>
            <a:off x="438150" y="888682"/>
            <a:ext cx="4770882" cy="932307"/>
            <a:chOff x="438150" y="888682"/>
            <a:chExt cx="4770882" cy="932307"/>
          </a:xfrm>
        </p:grpSpPr>
        <p:sp>
          <p:nvSpPr>
            <p:cNvPr id="5" name="Ellipse 5"/>
            <p:cNvSpPr/>
            <p:nvPr/>
          </p:nvSpPr>
          <p:spPr>
            <a:xfrm>
              <a:off x="438150" y="1104900"/>
              <a:ext cx="609600" cy="609600"/>
            </a:xfrm>
            <a:prstGeom prst="ellipse">
              <a:avLst/>
            </a:prstGeom>
            <a:solidFill>
              <a:srgbClr val="8B321E"/>
            </a:solidFill>
            <a:ln>
              <a:noFill/>
            </a:ln>
          </p:spPr>
        </p:sp>
        <p:grpSp>
          <p:nvGrpSpPr>
            <p:cNvPr id="9" name="Group 9"/>
            <p:cNvGrpSpPr/>
            <p:nvPr/>
          </p:nvGrpSpPr>
          <p:grpSpPr>
            <a:xfrm>
              <a:off x="635794" y="1302544"/>
              <a:ext cx="214312" cy="214312"/>
              <a:chOff x="635794" y="1302544"/>
              <a:chExt cx="214312" cy="214312"/>
            </a:xfrm>
          </p:grpSpPr>
          <p:sp>
            <p:nvSpPr>
              <p:cNvPr id="6" name="Freeform 6"/>
              <p:cNvSpPr/>
              <p:nvPr/>
            </p:nvSpPr>
            <p:spPr>
              <a:xfrm>
                <a:off x="731044" y="139779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FFFFFF"/>
                </a:solidFill>
              </a:ln>
            </p:spPr>
          </p:sp>
          <p:sp>
            <p:nvSpPr>
              <p:cNvPr id="7" name="Freeform 7"/>
              <p:cNvSpPr/>
              <p:nvPr/>
            </p:nvSpPr>
            <p:spPr>
              <a:xfrm>
                <a:off x="683419" y="1350169"/>
                <a:ext cx="119062" cy="119062"/>
              </a:xfrm>
              <a:custGeom>
                <a:avLst/>
                <a:gdLst/>
                <a:ahLst/>
                <a:cxnLst/>
                <a:rect l="l" t="t" r="r" b="b"/>
                <a:pathLst>
                  <a:path w="119062" h="119062">
                    <a:moveTo>
                      <a:pt x="0" y="59531"/>
                    </a:moveTo>
                    <a:cubicBezTo>
                      <a:pt x="0" y="92409"/>
                      <a:pt x="26653" y="119062"/>
                      <a:pt x="59531" y="119062"/>
                    </a:cubicBezTo>
                    <a:cubicBezTo>
                      <a:pt x="92409" y="119062"/>
                      <a:pt x="119062" y="92409"/>
                      <a:pt x="119062" y="59531"/>
                    </a:cubicBezTo>
                    <a:cubicBezTo>
                      <a:pt x="119062" y="26653"/>
                      <a:pt x="92409" y="0"/>
                      <a:pt x="59531" y="0"/>
                    </a:cubicBezTo>
                    <a:cubicBezTo>
                      <a:pt x="26653" y="0"/>
                      <a:pt x="0" y="26653"/>
                      <a:pt x="0" y="59531"/>
                    </a:cubicBezTo>
                  </a:path>
                </a:pathLst>
              </a:custGeom>
              <a:noFill/>
              <a:ln w="23812">
                <a:solidFill>
                  <a:srgbClr val="FFFFFF"/>
                </a:solidFill>
              </a:ln>
            </p:spPr>
          </p:sp>
          <p:sp>
            <p:nvSpPr>
              <p:cNvPr id="8" name="Freeform 8"/>
              <p:cNvSpPr/>
              <p:nvPr/>
            </p:nvSpPr>
            <p:spPr>
              <a:xfrm>
                <a:off x="635794" y="1302544"/>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rgbClr val="FFFFFF"/>
                </a:solidFill>
              </a:ln>
            </p:spPr>
          </p:sp>
        </p:grpSp>
        <p:sp>
          <p:nvSpPr>
            <p:cNvPr id="10" name="TextBox 10"/>
            <p:cNvSpPr txBox="1"/>
            <p:nvPr/>
          </p:nvSpPr>
          <p:spPr>
            <a:xfrm>
              <a:off x="1210818" y="888682"/>
              <a:ext cx="3998214" cy="932307"/>
            </a:xfrm>
            <a:prstGeom prst="rect">
              <a:avLst/>
            </a:prstGeom>
            <a:noFill/>
            <a:ln>
              <a:noFill/>
            </a:ln>
          </p:spPr>
          <p:txBody>
            <a:bodyPr wrap="none" lIns="0" tIns="0" rIns="0" bIns="0" anchor="t" anchorCtr="0">
              <a:spAutoFit/>
            </a:bodyPr>
            <a:lstStyle/>
            <a:p>
              <a:pPr algn="l">
                <a:lnSpc>
                  <a:spcPts val="2400"/>
                </a:lnSpc>
              </a:pPr>
              <a:r>
                <a:rPr lang="zh-CN" sz="1650" b="1" dirty="0">
                  <a:solidFill>
                    <a:srgbClr val="8B321E"/>
                  </a:solidFill>
                  <a:latin typeface="+mn-lt"/>
                  <a:ea typeface="+mn-ea"/>
                  <a:cs typeface="+mn-cs"/>
                </a:rPr>
                <a:t>年度作战图不是销售预测表，</a:t>
              </a:r>
              <a:br/>
              <a:r>
                <a:rPr lang="zh-CN" sz="1650" b="1" dirty="0">
                  <a:solidFill>
                    <a:srgbClr val="8B321E"/>
                  </a:solidFill>
                  <a:latin typeface="+mn-lt"/>
                  <a:ea typeface="+mn-ea"/>
                  <a:cs typeface="+mn-cs"/>
                </a:rPr>
                <a:t>而是以客户为单位的全年经营行动路线图，</a:t>
              </a:r>
              <a:br/>
              <a:r>
                <a:rPr lang="zh-CN" sz="1650" b="1" dirty="0">
                  <a:solidFill>
                    <a:srgbClr val="8B321E"/>
                  </a:solidFill>
                  <a:latin typeface="+mn-lt"/>
                  <a:ea typeface="+mn-ea"/>
                  <a:cs typeface="+mn-cs"/>
                </a:rPr>
                <a:t>包含目标、策略、关键节点、资源需求。</a:t>
              </a:r>
            </a:p>
          </p:txBody>
        </p:sp>
      </p:grpSp>
      <p:grpSp>
        <p:nvGrpSpPr>
          <p:cNvPr id="120" name="elements-grid"/>
          <p:cNvGrpSpPr/>
          <p:nvPr/>
        </p:nvGrpSpPr>
        <p:grpSpPr>
          <a:xfrm>
            <a:off x="381000" y="2019300"/>
            <a:ext cx="6858000" cy="4343400"/>
            <a:chOff x="381000" y="2019300"/>
            <a:chExt cx="6858000" cy="4343400"/>
          </a:xfrm>
        </p:grpSpPr>
        <p:grpSp>
          <p:nvGrpSpPr>
            <p:cNvPr id="28" name="elem-1"/>
            <p:cNvGrpSpPr/>
            <p:nvPr/>
          </p:nvGrpSpPr>
          <p:grpSpPr>
            <a:xfrm>
              <a:off x="381000" y="2019300"/>
              <a:ext cx="2209800" cy="2114550"/>
              <a:chOff x="381000" y="2019300"/>
              <a:chExt cx="2209800" cy="2114550"/>
            </a:xfrm>
          </p:grpSpPr>
          <p:sp>
            <p:nvSpPr>
              <p:cNvPr id="12" name="Rectangle 12"/>
              <p:cNvSpPr/>
              <p:nvPr/>
            </p:nvSpPr>
            <p:spPr>
              <a:xfrm>
                <a:off x="381000" y="2019300"/>
                <a:ext cx="2209800" cy="2114550"/>
              </a:xfrm>
              <a:prstGeom prst="roundRect">
                <a:avLst>
                  <a:gd name="adj" fmla="val 2703"/>
                </a:avLst>
              </a:prstGeom>
              <a:solidFill>
                <a:srgbClr val="8B321E"/>
              </a:solidFill>
              <a:ln>
                <a:noFill/>
              </a:ln>
            </p:spPr>
          </p:sp>
          <p:sp>
            <p:nvSpPr>
              <p:cNvPr id="13" name="Ellipse 13"/>
              <p:cNvSpPr/>
              <p:nvPr/>
            </p:nvSpPr>
            <p:spPr>
              <a:xfrm>
                <a:off x="571500" y="2228850"/>
                <a:ext cx="266700" cy="266700"/>
              </a:xfrm>
              <a:prstGeom prst="ellipse">
                <a:avLst/>
              </a:prstGeom>
              <a:noFill/>
              <a:ln w="17145">
                <a:solidFill>
                  <a:srgbClr val="FFFFFF"/>
                </a:solidFill>
              </a:ln>
            </p:spPr>
          </p:sp>
          <p:sp>
            <p:nvSpPr>
              <p:cNvPr id="14" name="TextBox 14"/>
              <p:cNvSpPr txBox="1"/>
              <p:nvPr/>
            </p:nvSpPr>
            <p:spPr>
              <a:xfrm>
                <a:off x="655599" y="228838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5" name="TextBox 15"/>
              <p:cNvSpPr txBox="1"/>
              <p:nvPr/>
            </p:nvSpPr>
            <p:spPr>
              <a:xfrm>
                <a:off x="928116" y="220122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要素一：</a:t>
                </a:r>
              </a:p>
            </p:txBody>
          </p:sp>
          <p:sp>
            <p:nvSpPr>
              <p:cNvPr id="16" name="TextBox 16"/>
              <p:cNvSpPr txBox="1"/>
              <p:nvPr/>
            </p:nvSpPr>
            <p:spPr>
              <a:xfrm>
                <a:off x="928116" y="2401252"/>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客户现状诊断</a:t>
                </a:r>
              </a:p>
            </p:txBody>
          </p:sp>
          <p:grpSp>
            <p:nvGrpSpPr>
              <p:cNvPr id="19" name="Group 19"/>
              <p:cNvGrpSpPr/>
              <p:nvPr/>
            </p:nvGrpSpPr>
            <p:grpSpPr>
              <a:xfrm>
                <a:off x="2197894" y="2255044"/>
                <a:ext cx="157163" cy="157163"/>
                <a:chOff x="2197894" y="2255044"/>
                <a:chExt cx="157163" cy="157163"/>
              </a:xfrm>
            </p:grpSpPr>
            <p:sp>
              <p:nvSpPr>
                <p:cNvPr id="17" name="Freeform 17"/>
                <p:cNvSpPr/>
                <p:nvPr/>
              </p:nvSpPr>
              <p:spPr>
                <a:xfrm>
                  <a:off x="2197894" y="2255044"/>
                  <a:ext cx="122238" cy="122238"/>
                </a:xfrm>
                <a:custGeom>
                  <a:avLst/>
                  <a:gdLst/>
                  <a:ahLst/>
                  <a:cxnLst/>
                  <a:rect l="l" t="t" r="r" b="b"/>
                  <a:pathLst>
                    <a:path w="122238" h="122238">
                      <a:moveTo>
                        <a:pt x="0" y="61119"/>
                      </a:moveTo>
                      <a:cubicBezTo>
                        <a:pt x="0" y="94874"/>
                        <a:pt x="27364" y="122238"/>
                        <a:pt x="61119" y="122238"/>
                      </a:cubicBezTo>
                      <a:cubicBezTo>
                        <a:pt x="94874" y="122238"/>
                        <a:pt x="122238" y="94874"/>
                        <a:pt x="122238" y="61119"/>
                      </a:cubicBezTo>
                      <a:cubicBezTo>
                        <a:pt x="122238" y="27364"/>
                        <a:pt x="94874" y="0"/>
                        <a:pt x="61119" y="0"/>
                      </a:cubicBezTo>
                      <a:cubicBezTo>
                        <a:pt x="27364" y="0"/>
                        <a:pt x="0" y="27364"/>
                        <a:pt x="0" y="61119"/>
                      </a:cubicBezTo>
                    </a:path>
                  </a:pathLst>
                </a:custGeom>
                <a:noFill/>
                <a:ln w="17463">
                  <a:solidFill>
                    <a:srgbClr val="FFFFFF"/>
                  </a:solidFill>
                </a:ln>
              </p:spPr>
            </p:sp>
            <p:sp>
              <p:nvSpPr>
                <p:cNvPr id="18" name="Freeform 18"/>
                <p:cNvSpPr/>
                <p:nvPr/>
              </p:nvSpPr>
              <p:spPr>
                <a:xfrm>
                  <a:off x="2302669" y="2359819"/>
                  <a:ext cx="52388" cy="52388"/>
                </a:xfrm>
                <a:custGeom>
                  <a:avLst/>
                  <a:gdLst/>
                  <a:ahLst/>
                  <a:cxnLst/>
                  <a:rect l="l" t="t" r="r" b="b"/>
                  <a:pathLst>
                    <a:path w="52388" h="52388">
                      <a:moveTo>
                        <a:pt x="52388" y="52388"/>
                      </a:moveTo>
                      <a:lnTo>
                        <a:pt x="0" y="0"/>
                      </a:lnTo>
                    </a:path>
                  </a:pathLst>
                </a:custGeom>
                <a:noFill/>
                <a:ln w="17463">
                  <a:solidFill>
                    <a:srgbClr val="FFFFFF"/>
                  </a:solidFill>
                </a:ln>
              </p:spPr>
            </p:sp>
          </p:grpSp>
          <p:sp>
            <p:nvSpPr>
              <p:cNvPr id="20" name="Ellipse 20"/>
              <p:cNvSpPr/>
              <p:nvPr/>
            </p:nvSpPr>
            <p:spPr>
              <a:xfrm>
                <a:off x="609600" y="2876550"/>
                <a:ext cx="38100" cy="38100"/>
              </a:xfrm>
              <a:prstGeom prst="ellipse">
                <a:avLst/>
              </a:prstGeom>
              <a:solidFill>
                <a:srgbClr val="FFFFFF"/>
              </a:solidFill>
              <a:ln>
                <a:noFill/>
              </a:ln>
            </p:spPr>
          </p:sp>
          <p:sp>
            <p:nvSpPr>
              <p:cNvPr id="21" name="TextBox 21"/>
              <p:cNvSpPr txBox="1"/>
              <p:nvPr/>
            </p:nvSpPr>
            <p:spPr>
              <a:xfrm>
                <a:off x="738188" y="2850118"/>
                <a:ext cx="1063061"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当前采购金额/份额​</a:t>
                </a:r>
              </a:p>
            </p:txBody>
          </p:sp>
          <p:sp>
            <p:nvSpPr>
              <p:cNvPr id="22" name="Ellipse 22"/>
              <p:cNvSpPr/>
              <p:nvPr/>
            </p:nvSpPr>
            <p:spPr>
              <a:xfrm>
                <a:off x="609600" y="3162300"/>
                <a:ext cx="38100" cy="38100"/>
              </a:xfrm>
              <a:prstGeom prst="ellipse">
                <a:avLst/>
              </a:prstGeom>
              <a:solidFill>
                <a:srgbClr val="FFFFFF"/>
              </a:solidFill>
              <a:ln>
                <a:noFill/>
              </a:ln>
            </p:spPr>
          </p:sp>
          <p:sp>
            <p:nvSpPr>
              <p:cNvPr id="23" name="TextBox 23"/>
              <p:cNvSpPr txBox="1"/>
              <p:nvPr/>
            </p:nvSpPr>
            <p:spPr>
              <a:xfrm>
                <a:off x="738188" y="3135868"/>
                <a:ext cx="704164"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竞争对手渗透</a:t>
                </a:r>
              </a:p>
            </p:txBody>
          </p:sp>
          <p:sp>
            <p:nvSpPr>
              <p:cNvPr id="24" name="Ellipse 24"/>
              <p:cNvSpPr/>
              <p:nvPr/>
            </p:nvSpPr>
            <p:spPr>
              <a:xfrm>
                <a:off x="609600" y="3448050"/>
                <a:ext cx="38100" cy="38100"/>
              </a:xfrm>
              <a:prstGeom prst="ellipse">
                <a:avLst/>
              </a:prstGeom>
              <a:solidFill>
                <a:srgbClr val="FFFFFF"/>
              </a:solidFill>
              <a:ln>
                <a:noFill/>
              </a:ln>
            </p:spPr>
          </p:sp>
          <p:sp>
            <p:nvSpPr>
              <p:cNvPr id="25" name="TextBox 25"/>
              <p:cNvSpPr txBox="1"/>
              <p:nvPr/>
            </p:nvSpPr>
            <p:spPr>
              <a:xfrm>
                <a:off x="738188" y="3421618"/>
                <a:ext cx="472618"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关系现状</a:t>
                </a:r>
              </a:p>
            </p:txBody>
          </p:sp>
          <p:sp>
            <p:nvSpPr>
              <p:cNvPr id="26" name="Ellipse 26"/>
              <p:cNvSpPr/>
              <p:nvPr/>
            </p:nvSpPr>
            <p:spPr>
              <a:xfrm>
                <a:off x="609600" y="3733800"/>
                <a:ext cx="38100" cy="38100"/>
              </a:xfrm>
              <a:prstGeom prst="ellipse">
                <a:avLst/>
              </a:prstGeom>
              <a:solidFill>
                <a:srgbClr val="FFFFFF"/>
              </a:solidFill>
              <a:ln>
                <a:noFill/>
              </a:ln>
            </p:spPr>
          </p:sp>
          <p:sp>
            <p:nvSpPr>
              <p:cNvPr id="27" name="TextBox 27"/>
              <p:cNvSpPr txBox="1"/>
              <p:nvPr/>
            </p:nvSpPr>
            <p:spPr>
              <a:xfrm>
                <a:off x="738188" y="3707368"/>
                <a:ext cx="588391"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主要风险点</a:t>
                </a:r>
              </a:p>
            </p:txBody>
          </p:sp>
        </p:grpSp>
        <p:grpSp>
          <p:nvGrpSpPr>
            <p:cNvPr id="46" name="elem-2"/>
            <p:cNvGrpSpPr/>
            <p:nvPr/>
          </p:nvGrpSpPr>
          <p:grpSpPr>
            <a:xfrm>
              <a:off x="2705100" y="2019300"/>
              <a:ext cx="2209800" cy="2114550"/>
              <a:chOff x="2705100" y="2019300"/>
              <a:chExt cx="2209800" cy="2114550"/>
            </a:xfrm>
          </p:grpSpPr>
          <p:sp>
            <p:nvSpPr>
              <p:cNvPr id="29" name="Rectangle 29"/>
              <p:cNvSpPr/>
              <p:nvPr/>
            </p:nvSpPr>
            <p:spPr>
              <a:xfrm>
                <a:off x="2705100" y="2019300"/>
                <a:ext cx="2209800" cy="2114550"/>
              </a:xfrm>
              <a:prstGeom prst="roundRect">
                <a:avLst>
                  <a:gd name="adj" fmla="val 2703"/>
                </a:avLst>
              </a:prstGeom>
              <a:solidFill>
                <a:srgbClr val="6B6B6B"/>
              </a:solidFill>
              <a:ln>
                <a:noFill/>
              </a:ln>
            </p:spPr>
          </p:sp>
          <p:sp>
            <p:nvSpPr>
              <p:cNvPr id="30" name="Ellipse 30"/>
              <p:cNvSpPr/>
              <p:nvPr/>
            </p:nvSpPr>
            <p:spPr>
              <a:xfrm>
                <a:off x="2895600" y="2228850"/>
                <a:ext cx="266700" cy="266700"/>
              </a:xfrm>
              <a:prstGeom prst="ellipse">
                <a:avLst/>
              </a:prstGeom>
              <a:noFill/>
              <a:ln w="17145">
                <a:solidFill>
                  <a:srgbClr val="FFFFFF"/>
                </a:solidFill>
              </a:ln>
            </p:spPr>
          </p:sp>
          <p:sp>
            <p:nvSpPr>
              <p:cNvPr id="31" name="TextBox 31"/>
              <p:cNvSpPr txBox="1"/>
              <p:nvPr/>
            </p:nvSpPr>
            <p:spPr>
              <a:xfrm>
                <a:off x="2979699" y="228838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32" name="TextBox 32"/>
              <p:cNvSpPr txBox="1"/>
              <p:nvPr/>
            </p:nvSpPr>
            <p:spPr>
              <a:xfrm>
                <a:off x="3252216" y="220122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要素二：</a:t>
                </a:r>
              </a:p>
            </p:txBody>
          </p:sp>
          <p:sp>
            <p:nvSpPr>
              <p:cNvPr id="33" name="TextBox 33"/>
              <p:cNvSpPr txBox="1"/>
              <p:nvPr/>
            </p:nvSpPr>
            <p:spPr>
              <a:xfrm>
                <a:off x="3252216" y="2401252"/>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年度目标设定</a:t>
                </a:r>
              </a:p>
            </p:txBody>
          </p:sp>
          <p:grpSp>
            <p:nvGrpSpPr>
              <p:cNvPr id="37" name="Group 37"/>
              <p:cNvGrpSpPr/>
              <p:nvPr/>
            </p:nvGrpSpPr>
            <p:grpSpPr>
              <a:xfrm>
                <a:off x="4521994" y="2255044"/>
                <a:ext cx="157163" cy="157163"/>
                <a:chOff x="4521994" y="2255044"/>
                <a:chExt cx="157163" cy="157163"/>
              </a:xfrm>
            </p:grpSpPr>
            <p:sp>
              <p:nvSpPr>
                <p:cNvPr id="34" name="Freeform 34"/>
                <p:cNvSpPr/>
                <p:nvPr/>
              </p:nvSpPr>
              <p:spPr>
                <a:xfrm>
                  <a:off x="4591844" y="2324894"/>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FFFFFF"/>
                  </a:solidFill>
                </a:ln>
              </p:spPr>
            </p:sp>
            <p:sp>
              <p:nvSpPr>
                <p:cNvPr id="35" name="Freeform 35"/>
                <p:cNvSpPr/>
                <p:nvPr/>
              </p:nvSpPr>
              <p:spPr>
                <a:xfrm>
                  <a:off x="4556919" y="2289969"/>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FFFFFF"/>
                  </a:solidFill>
                </a:ln>
              </p:spPr>
            </p:sp>
            <p:sp>
              <p:nvSpPr>
                <p:cNvPr id="36" name="Freeform 36"/>
                <p:cNvSpPr/>
                <p:nvPr/>
              </p:nvSpPr>
              <p:spPr>
                <a:xfrm>
                  <a:off x="4521994" y="22550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FFFFFF"/>
                  </a:solidFill>
                </a:ln>
              </p:spPr>
            </p:sp>
          </p:grpSp>
          <p:sp>
            <p:nvSpPr>
              <p:cNvPr id="38" name="Ellipse 38"/>
              <p:cNvSpPr/>
              <p:nvPr/>
            </p:nvSpPr>
            <p:spPr>
              <a:xfrm>
                <a:off x="2933700" y="2876550"/>
                <a:ext cx="38100" cy="38100"/>
              </a:xfrm>
              <a:prstGeom prst="ellipse">
                <a:avLst/>
              </a:prstGeom>
              <a:solidFill>
                <a:srgbClr val="FFFFFF"/>
              </a:solidFill>
              <a:ln>
                <a:noFill/>
              </a:ln>
            </p:spPr>
          </p:sp>
          <p:sp>
            <p:nvSpPr>
              <p:cNvPr id="39" name="TextBox 39"/>
              <p:cNvSpPr txBox="1"/>
              <p:nvPr/>
            </p:nvSpPr>
            <p:spPr>
              <a:xfrm>
                <a:off x="3062288" y="2850118"/>
                <a:ext cx="472618"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营收目标</a:t>
                </a:r>
              </a:p>
            </p:txBody>
          </p:sp>
          <p:sp>
            <p:nvSpPr>
              <p:cNvPr id="40" name="Ellipse 40"/>
              <p:cNvSpPr/>
              <p:nvPr/>
            </p:nvSpPr>
            <p:spPr>
              <a:xfrm>
                <a:off x="2933700" y="3162300"/>
                <a:ext cx="38100" cy="38100"/>
              </a:xfrm>
              <a:prstGeom prst="ellipse">
                <a:avLst/>
              </a:prstGeom>
              <a:solidFill>
                <a:srgbClr val="FFFFFF"/>
              </a:solidFill>
              <a:ln>
                <a:noFill/>
              </a:ln>
            </p:spPr>
          </p:sp>
          <p:sp>
            <p:nvSpPr>
              <p:cNvPr id="41" name="TextBox 41"/>
              <p:cNvSpPr txBox="1"/>
              <p:nvPr/>
            </p:nvSpPr>
            <p:spPr>
              <a:xfrm>
                <a:off x="3062288" y="3135868"/>
                <a:ext cx="472618"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份额目标</a:t>
                </a:r>
              </a:p>
            </p:txBody>
          </p:sp>
          <p:sp>
            <p:nvSpPr>
              <p:cNvPr id="42" name="Ellipse 42"/>
              <p:cNvSpPr/>
              <p:nvPr/>
            </p:nvSpPr>
            <p:spPr>
              <a:xfrm>
                <a:off x="2933700" y="3448050"/>
                <a:ext cx="38100" cy="38100"/>
              </a:xfrm>
              <a:prstGeom prst="ellipse">
                <a:avLst/>
              </a:prstGeom>
              <a:solidFill>
                <a:srgbClr val="FFFFFF"/>
              </a:solidFill>
              <a:ln>
                <a:noFill/>
              </a:ln>
            </p:spPr>
          </p:sp>
          <p:sp>
            <p:nvSpPr>
              <p:cNvPr id="43" name="TextBox 43"/>
              <p:cNvSpPr txBox="1"/>
              <p:nvPr/>
            </p:nvSpPr>
            <p:spPr>
              <a:xfrm>
                <a:off x="3062288" y="3421618"/>
                <a:ext cx="472618"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关系目标</a:t>
                </a:r>
              </a:p>
            </p:txBody>
          </p:sp>
          <p:sp>
            <p:nvSpPr>
              <p:cNvPr id="44" name="Ellipse 44"/>
              <p:cNvSpPr/>
              <p:nvPr/>
            </p:nvSpPr>
            <p:spPr>
              <a:xfrm>
                <a:off x="2933700" y="3733800"/>
                <a:ext cx="38100" cy="38100"/>
              </a:xfrm>
              <a:prstGeom prst="ellipse">
                <a:avLst/>
              </a:prstGeom>
              <a:solidFill>
                <a:srgbClr val="FFFFFF"/>
              </a:solidFill>
              <a:ln>
                <a:noFill/>
              </a:ln>
            </p:spPr>
          </p:sp>
          <p:sp>
            <p:nvSpPr>
              <p:cNvPr id="45" name="TextBox 45"/>
              <p:cNvSpPr txBox="1"/>
              <p:nvPr/>
            </p:nvSpPr>
            <p:spPr>
              <a:xfrm>
                <a:off x="3062288" y="3707368"/>
                <a:ext cx="704164"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产品导入目标</a:t>
                </a:r>
              </a:p>
            </p:txBody>
          </p:sp>
        </p:grpSp>
        <p:grpSp>
          <p:nvGrpSpPr>
            <p:cNvPr id="65" name="elem-3"/>
            <p:cNvGrpSpPr/>
            <p:nvPr/>
          </p:nvGrpSpPr>
          <p:grpSpPr>
            <a:xfrm>
              <a:off x="5029200" y="2019300"/>
              <a:ext cx="2209800" cy="2114550"/>
              <a:chOff x="5029200" y="2019300"/>
              <a:chExt cx="2209800" cy="2114550"/>
            </a:xfrm>
          </p:grpSpPr>
          <p:sp>
            <p:nvSpPr>
              <p:cNvPr id="47" name="Rectangle 47"/>
              <p:cNvSpPr/>
              <p:nvPr/>
            </p:nvSpPr>
            <p:spPr>
              <a:xfrm>
                <a:off x="5029200" y="2019300"/>
                <a:ext cx="2209800" cy="2114550"/>
              </a:xfrm>
              <a:prstGeom prst="roundRect">
                <a:avLst>
                  <a:gd name="adj" fmla="val 2703"/>
                </a:avLst>
              </a:prstGeom>
              <a:solidFill>
                <a:srgbClr val="8B321E"/>
              </a:solidFill>
              <a:ln>
                <a:noFill/>
              </a:ln>
            </p:spPr>
          </p:sp>
          <p:sp>
            <p:nvSpPr>
              <p:cNvPr id="48" name="Ellipse 48"/>
              <p:cNvSpPr/>
              <p:nvPr/>
            </p:nvSpPr>
            <p:spPr>
              <a:xfrm>
                <a:off x="5219700" y="2228850"/>
                <a:ext cx="266700" cy="266700"/>
              </a:xfrm>
              <a:prstGeom prst="ellipse">
                <a:avLst/>
              </a:prstGeom>
              <a:noFill/>
              <a:ln w="17145">
                <a:solidFill>
                  <a:srgbClr val="FFFFFF"/>
                </a:solidFill>
              </a:ln>
            </p:spPr>
          </p:sp>
          <p:sp>
            <p:nvSpPr>
              <p:cNvPr id="49" name="TextBox 49"/>
              <p:cNvSpPr txBox="1"/>
              <p:nvPr/>
            </p:nvSpPr>
            <p:spPr>
              <a:xfrm>
                <a:off x="5303799" y="228838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50" name="TextBox 50"/>
              <p:cNvSpPr txBox="1"/>
              <p:nvPr/>
            </p:nvSpPr>
            <p:spPr>
              <a:xfrm>
                <a:off x="5576316" y="220122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要素三：</a:t>
                </a:r>
              </a:p>
            </p:txBody>
          </p:sp>
          <p:sp>
            <p:nvSpPr>
              <p:cNvPr id="51" name="TextBox 51"/>
              <p:cNvSpPr txBox="1"/>
              <p:nvPr/>
            </p:nvSpPr>
            <p:spPr>
              <a:xfrm>
                <a:off x="5576316" y="2401252"/>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增长策略选择</a:t>
                </a:r>
              </a:p>
            </p:txBody>
          </p:sp>
          <p:grpSp>
            <p:nvGrpSpPr>
              <p:cNvPr id="56" name="Group 56"/>
              <p:cNvGrpSpPr/>
              <p:nvPr/>
            </p:nvGrpSpPr>
            <p:grpSpPr>
              <a:xfrm>
                <a:off x="6846094" y="2263775"/>
                <a:ext cx="157163" cy="139701"/>
                <a:chOff x="6846094" y="2263775"/>
                <a:chExt cx="157163" cy="139701"/>
              </a:xfrm>
            </p:grpSpPr>
            <p:sp>
              <p:nvSpPr>
                <p:cNvPr id="52" name="Freeform 52"/>
                <p:cNvSpPr/>
                <p:nvPr/>
              </p:nvSpPr>
              <p:spPr>
                <a:xfrm>
                  <a:off x="6846094" y="2333625"/>
                  <a:ext cx="157163" cy="43656"/>
                </a:xfrm>
                <a:custGeom>
                  <a:avLst/>
                  <a:gdLst/>
                  <a:ahLst/>
                  <a:cxnLst/>
                  <a:rect l="l" t="t" r="r" b="b"/>
                  <a:pathLst>
                    <a:path w="157163" h="43656">
                      <a:moveTo>
                        <a:pt x="157163" y="43656"/>
                      </a:moveTo>
                      <a:lnTo>
                        <a:pt x="87313" y="43656"/>
                      </a:lnTo>
                      <a:lnTo>
                        <a:pt x="56753" y="0"/>
                      </a:lnTo>
                      <a:lnTo>
                        <a:pt x="0" y="0"/>
                      </a:lnTo>
                    </a:path>
                  </a:pathLst>
                </a:custGeom>
                <a:noFill/>
                <a:ln w="17463">
                  <a:solidFill>
                    <a:srgbClr val="FFFFFF"/>
                  </a:solidFill>
                </a:ln>
              </p:spPr>
            </p:sp>
            <p:sp>
              <p:nvSpPr>
                <p:cNvPr id="53" name="Freeform 53"/>
                <p:cNvSpPr/>
                <p:nvPr/>
              </p:nvSpPr>
              <p:spPr>
                <a:xfrm>
                  <a:off x="6902891" y="2289969"/>
                  <a:ext cx="100366" cy="43656"/>
                </a:xfrm>
                <a:custGeom>
                  <a:avLst/>
                  <a:gdLst/>
                  <a:ahLst/>
                  <a:cxnLst/>
                  <a:rect l="l" t="t" r="r" b="b"/>
                  <a:pathLst>
                    <a:path w="100366" h="43656">
                      <a:moveTo>
                        <a:pt x="100366" y="0"/>
                      </a:moveTo>
                      <a:lnTo>
                        <a:pt x="30516" y="0"/>
                      </a:lnTo>
                      <a:lnTo>
                        <a:pt x="0" y="43656"/>
                      </a:lnTo>
                    </a:path>
                  </a:pathLst>
                </a:custGeom>
                <a:noFill/>
                <a:ln w="17463">
                  <a:solidFill>
                    <a:srgbClr val="FFFFFF"/>
                  </a:solidFill>
                </a:ln>
              </p:spPr>
            </p:sp>
            <p:sp>
              <p:nvSpPr>
                <p:cNvPr id="54" name="Freeform 54"/>
                <p:cNvSpPr/>
                <p:nvPr/>
              </p:nvSpPr>
              <p:spPr>
                <a:xfrm>
                  <a:off x="6977063" y="2263775"/>
                  <a:ext cx="26194" cy="52388"/>
                </a:xfrm>
                <a:custGeom>
                  <a:avLst/>
                  <a:gdLst/>
                  <a:ahLst/>
                  <a:cxnLst/>
                  <a:rect l="l" t="t" r="r" b="b"/>
                  <a:pathLst>
                    <a:path w="26194" h="52388">
                      <a:moveTo>
                        <a:pt x="0" y="52388"/>
                      </a:moveTo>
                      <a:lnTo>
                        <a:pt x="26194" y="26194"/>
                      </a:lnTo>
                      <a:lnTo>
                        <a:pt x="0" y="0"/>
                      </a:lnTo>
                    </a:path>
                  </a:pathLst>
                </a:custGeom>
                <a:noFill/>
                <a:ln w="17463">
                  <a:solidFill>
                    <a:srgbClr val="FFFFFF"/>
                  </a:solidFill>
                </a:ln>
              </p:spPr>
            </p:sp>
            <p:sp>
              <p:nvSpPr>
                <p:cNvPr id="55" name="Freeform 55"/>
                <p:cNvSpPr/>
                <p:nvPr/>
              </p:nvSpPr>
              <p:spPr>
                <a:xfrm>
                  <a:off x="6977063" y="2351088"/>
                  <a:ext cx="26194" cy="52388"/>
                </a:xfrm>
                <a:custGeom>
                  <a:avLst/>
                  <a:gdLst/>
                  <a:ahLst/>
                  <a:cxnLst/>
                  <a:rect l="l" t="t" r="r" b="b"/>
                  <a:pathLst>
                    <a:path w="26194" h="52388">
                      <a:moveTo>
                        <a:pt x="0" y="52388"/>
                      </a:moveTo>
                      <a:lnTo>
                        <a:pt x="26194" y="26194"/>
                      </a:lnTo>
                      <a:lnTo>
                        <a:pt x="0" y="0"/>
                      </a:lnTo>
                    </a:path>
                  </a:pathLst>
                </a:custGeom>
                <a:noFill/>
                <a:ln w="17463">
                  <a:solidFill>
                    <a:srgbClr val="FFFFFF"/>
                  </a:solidFill>
                </a:ln>
              </p:spPr>
            </p:sp>
          </p:grpSp>
          <p:sp>
            <p:nvSpPr>
              <p:cNvPr id="57" name="Ellipse 57"/>
              <p:cNvSpPr/>
              <p:nvPr/>
            </p:nvSpPr>
            <p:spPr>
              <a:xfrm>
                <a:off x="5257800" y="2876550"/>
                <a:ext cx="38100" cy="38100"/>
              </a:xfrm>
              <a:prstGeom prst="ellipse">
                <a:avLst/>
              </a:prstGeom>
              <a:solidFill>
                <a:srgbClr val="FFFFFF"/>
              </a:solidFill>
              <a:ln>
                <a:noFill/>
              </a:ln>
            </p:spPr>
          </p:sp>
          <p:sp>
            <p:nvSpPr>
              <p:cNvPr id="58" name="TextBox 58"/>
              <p:cNvSpPr txBox="1"/>
              <p:nvPr/>
            </p:nvSpPr>
            <p:spPr>
              <a:xfrm>
                <a:off x="5386388" y="2850118"/>
                <a:ext cx="704164"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深挖现有品类</a:t>
                </a:r>
              </a:p>
            </p:txBody>
          </p:sp>
          <p:sp>
            <p:nvSpPr>
              <p:cNvPr id="59" name="Ellipse 59"/>
              <p:cNvSpPr/>
              <p:nvPr/>
            </p:nvSpPr>
            <p:spPr>
              <a:xfrm>
                <a:off x="5257800" y="3162300"/>
                <a:ext cx="38100" cy="38100"/>
              </a:xfrm>
              <a:prstGeom prst="ellipse">
                <a:avLst/>
              </a:prstGeom>
              <a:solidFill>
                <a:srgbClr val="FFFFFF"/>
              </a:solidFill>
              <a:ln>
                <a:noFill/>
              </a:ln>
            </p:spPr>
          </p:sp>
          <p:sp>
            <p:nvSpPr>
              <p:cNvPr id="60" name="TextBox 60"/>
              <p:cNvSpPr txBox="1"/>
              <p:nvPr/>
            </p:nvSpPr>
            <p:spPr>
              <a:xfrm>
                <a:off x="5386388" y="3135868"/>
                <a:ext cx="588391"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拓展新品类</a:t>
                </a:r>
              </a:p>
            </p:txBody>
          </p:sp>
          <p:sp>
            <p:nvSpPr>
              <p:cNvPr id="61" name="Ellipse 61"/>
              <p:cNvSpPr/>
              <p:nvPr/>
            </p:nvSpPr>
            <p:spPr>
              <a:xfrm>
                <a:off x="5257800" y="3448050"/>
                <a:ext cx="38100" cy="38100"/>
              </a:xfrm>
              <a:prstGeom prst="ellipse">
                <a:avLst/>
              </a:prstGeom>
              <a:solidFill>
                <a:srgbClr val="FFFFFF"/>
              </a:solidFill>
              <a:ln>
                <a:noFill/>
              </a:ln>
            </p:spPr>
          </p:sp>
          <p:sp>
            <p:nvSpPr>
              <p:cNvPr id="62" name="TextBox 62"/>
              <p:cNvSpPr txBox="1"/>
              <p:nvPr/>
            </p:nvSpPr>
            <p:spPr>
              <a:xfrm>
                <a:off x="5386388" y="3421618"/>
                <a:ext cx="704164"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跟随客户扩张</a:t>
                </a:r>
              </a:p>
            </p:txBody>
          </p:sp>
          <p:sp>
            <p:nvSpPr>
              <p:cNvPr id="63" name="Ellipse 63"/>
              <p:cNvSpPr/>
              <p:nvPr/>
            </p:nvSpPr>
            <p:spPr>
              <a:xfrm>
                <a:off x="5257800" y="3733800"/>
                <a:ext cx="38100" cy="38100"/>
              </a:xfrm>
              <a:prstGeom prst="ellipse">
                <a:avLst/>
              </a:prstGeom>
              <a:solidFill>
                <a:srgbClr val="FFFFFF"/>
              </a:solidFill>
              <a:ln>
                <a:noFill/>
              </a:ln>
            </p:spPr>
          </p:sp>
          <p:sp>
            <p:nvSpPr>
              <p:cNvPr id="64" name="TextBox 64"/>
              <p:cNvSpPr txBox="1"/>
              <p:nvPr/>
            </p:nvSpPr>
            <p:spPr>
              <a:xfrm>
                <a:off x="5386388" y="3707368"/>
                <a:ext cx="472618"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联合创新</a:t>
                </a:r>
              </a:p>
            </p:txBody>
          </p:sp>
        </p:grpSp>
        <p:grpSp>
          <p:nvGrpSpPr>
            <p:cNvPr id="86" name="elem-4"/>
            <p:cNvGrpSpPr/>
            <p:nvPr/>
          </p:nvGrpSpPr>
          <p:grpSpPr>
            <a:xfrm>
              <a:off x="381000" y="4248150"/>
              <a:ext cx="2209800" cy="2114550"/>
              <a:chOff x="381000" y="4248150"/>
              <a:chExt cx="2209800" cy="2114550"/>
            </a:xfrm>
          </p:grpSpPr>
          <p:sp>
            <p:nvSpPr>
              <p:cNvPr id="66" name="Rectangle 66"/>
              <p:cNvSpPr/>
              <p:nvPr/>
            </p:nvSpPr>
            <p:spPr>
              <a:xfrm>
                <a:off x="381000" y="4248150"/>
                <a:ext cx="2209800" cy="2114550"/>
              </a:xfrm>
              <a:prstGeom prst="roundRect">
                <a:avLst>
                  <a:gd name="adj" fmla="val 2703"/>
                </a:avLst>
              </a:prstGeom>
              <a:solidFill>
                <a:srgbClr val="6B6B6B"/>
              </a:solidFill>
              <a:ln>
                <a:noFill/>
              </a:ln>
            </p:spPr>
          </p:sp>
          <p:sp>
            <p:nvSpPr>
              <p:cNvPr id="67" name="Ellipse 67"/>
              <p:cNvSpPr/>
              <p:nvPr/>
            </p:nvSpPr>
            <p:spPr>
              <a:xfrm>
                <a:off x="571500" y="4457700"/>
                <a:ext cx="266700" cy="266700"/>
              </a:xfrm>
              <a:prstGeom prst="ellipse">
                <a:avLst/>
              </a:prstGeom>
              <a:noFill/>
              <a:ln w="17145">
                <a:solidFill>
                  <a:srgbClr val="FFFFFF"/>
                </a:solidFill>
              </a:ln>
            </p:spPr>
          </p:sp>
          <p:sp>
            <p:nvSpPr>
              <p:cNvPr id="68" name="TextBox 68"/>
              <p:cNvSpPr txBox="1"/>
              <p:nvPr/>
            </p:nvSpPr>
            <p:spPr>
              <a:xfrm>
                <a:off x="655599" y="451723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69" name="TextBox 69"/>
              <p:cNvSpPr txBox="1"/>
              <p:nvPr/>
            </p:nvSpPr>
            <p:spPr>
              <a:xfrm>
                <a:off x="928116" y="44300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要素四：</a:t>
                </a:r>
              </a:p>
            </p:txBody>
          </p:sp>
          <p:sp>
            <p:nvSpPr>
              <p:cNvPr id="70" name="TextBox 70"/>
              <p:cNvSpPr txBox="1"/>
              <p:nvPr/>
            </p:nvSpPr>
            <p:spPr>
              <a:xfrm>
                <a:off x="928116" y="4630102"/>
                <a:ext cx="858774"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关键行动节点</a:t>
                </a:r>
              </a:p>
            </p:txBody>
          </p:sp>
          <p:grpSp>
            <p:nvGrpSpPr>
              <p:cNvPr id="77" name="Group 77"/>
              <p:cNvGrpSpPr/>
              <p:nvPr/>
            </p:nvGrpSpPr>
            <p:grpSpPr>
              <a:xfrm>
                <a:off x="2206625" y="4483894"/>
                <a:ext cx="139700" cy="157162"/>
                <a:chOff x="2206625" y="4483894"/>
                <a:chExt cx="139700" cy="157162"/>
              </a:xfrm>
            </p:grpSpPr>
            <p:sp>
              <p:nvSpPr>
                <p:cNvPr id="71" name="Freeform 71"/>
                <p:cNvSpPr/>
                <p:nvPr/>
              </p:nvSpPr>
              <p:spPr>
                <a:xfrm>
                  <a:off x="2206625" y="4501356"/>
                  <a:ext cx="139700" cy="139700"/>
                </a:xfrm>
                <a:custGeom>
                  <a:avLst/>
                  <a:gdLst/>
                  <a:ahLst/>
                  <a:cxnLst/>
                  <a:rect l="l" t="t" r="r" b="b"/>
                  <a:pathLst>
                    <a:path w="139700" h="139700">
                      <a:moveTo>
                        <a:pt x="0" y="17463"/>
                      </a:moveTo>
                      <a:cubicBezTo>
                        <a:pt x="0" y="7818"/>
                        <a:pt x="7818" y="0"/>
                        <a:pt x="17463" y="0"/>
                      </a:cubicBezTo>
                      <a:lnTo>
                        <a:pt x="122238" y="0"/>
                      </a:lnTo>
                      <a:cubicBezTo>
                        <a:pt x="131882" y="0"/>
                        <a:pt x="139700" y="7818"/>
                        <a:pt x="139700" y="17463"/>
                      </a:cubicBezTo>
                      <a:lnTo>
                        <a:pt x="139700" y="122238"/>
                      </a:lnTo>
                      <a:cubicBezTo>
                        <a:pt x="139700" y="131882"/>
                        <a:pt x="131882" y="139700"/>
                        <a:pt x="122238" y="139700"/>
                      </a:cubicBezTo>
                      <a:lnTo>
                        <a:pt x="17463" y="139700"/>
                      </a:lnTo>
                      <a:cubicBezTo>
                        <a:pt x="7818" y="139700"/>
                        <a:pt x="0" y="131882"/>
                        <a:pt x="0" y="122238"/>
                      </a:cubicBezTo>
                      <a:lnTo>
                        <a:pt x="0" y="17463"/>
                      </a:lnTo>
                    </a:path>
                  </a:pathLst>
                </a:custGeom>
                <a:noFill/>
                <a:ln w="17463">
                  <a:solidFill>
                    <a:srgbClr val="FFFFFF"/>
                  </a:solidFill>
                </a:ln>
              </p:spPr>
            </p:sp>
            <p:sp>
              <p:nvSpPr>
                <p:cNvPr id="72" name="Freeform 72"/>
                <p:cNvSpPr/>
                <p:nvPr/>
              </p:nvSpPr>
              <p:spPr>
                <a:xfrm>
                  <a:off x="2311400" y="4483894"/>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73" name="Freeform 73"/>
                <p:cNvSpPr/>
                <p:nvPr/>
              </p:nvSpPr>
              <p:spPr>
                <a:xfrm>
                  <a:off x="2241550" y="4483894"/>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74" name="Freeform 74"/>
                <p:cNvSpPr/>
                <p:nvPr/>
              </p:nvSpPr>
              <p:spPr>
                <a:xfrm>
                  <a:off x="2206625" y="4553744"/>
                  <a:ext cx="139700" cy="9525"/>
                </a:xfrm>
                <a:custGeom>
                  <a:avLst/>
                  <a:gdLst/>
                  <a:ahLst/>
                  <a:cxnLst/>
                  <a:rect l="l" t="t" r="r" b="b"/>
                  <a:pathLst>
                    <a:path w="139700" h="9525">
                      <a:moveTo>
                        <a:pt x="0" y="0"/>
                      </a:moveTo>
                      <a:lnTo>
                        <a:pt x="139700" y="0"/>
                      </a:lnTo>
                    </a:path>
                  </a:pathLst>
                </a:custGeom>
                <a:noFill/>
                <a:ln w="17463">
                  <a:solidFill>
                    <a:srgbClr val="FFFFFF"/>
                  </a:solidFill>
                </a:ln>
              </p:spPr>
            </p:sp>
            <p:sp>
              <p:nvSpPr>
                <p:cNvPr id="75" name="Freeform 75"/>
                <p:cNvSpPr/>
                <p:nvPr/>
              </p:nvSpPr>
              <p:spPr>
                <a:xfrm>
                  <a:off x="2267744" y="4588669"/>
                  <a:ext cx="9525" cy="9525"/>
                </a:xfrm>
                <a:custGeom>
                  <a:avLst/>
                  <a:gdLst/>
                  <a:ahLst/>
                  <a:cxnLst/>
                  <a:rect l="l" t="t" r="r" b="b"/>
                  <a:pathLst>
                    <a:path w="9525" h="9525">
                      <a:moveTo>
                        <a:pt x="0" y="0"/>
                      </a:moveTo>
                      <a:lnTo>
                        <a:pt x="8731" y="0"/>
                      </a:lnTo>
                    </a:path>
                  </a:pathLst>
                </a:custGeom>
                <a:noFill/>
                <a:ln w="17463">
                  <a:solidFill>
                    <a:srgbClr val="FFFFFF"/>
                  </a:solidFill>
                </a:ln>
              </p:spPr>
            </p:sp>
            <p:sp>
              <p:nvSpPr>
                <p:cNvPr id="76" name="Freeform 76"/>
                <p:cNvSpPr/>
                <p:nvPr/>
              </p:nvSpPr>
              <p:spPr>
                <a:xfrm>
                  <a:off x="2276475" y="4588669"/>
                  <a:ext cx="9525" cy="26194"/>
                </a:xfrm>
                <a:custGeom>
                  <a:avLst/>
                  <a:gdLst/>
                  <a:ahLst/>
                  <a:cxnLst/>
                  <a:rect l="l" t="t" r="r" b="b"/>
                  <a:pathLst>
                    <a:path w="9525" h="26194">
                      <a:moveTo>
                        <a:pt x="0" y="0"/>
                      </a:moveTo>
                      <a:lnTo>
                        <a:pt x="0" y="26194"/>
                      </a:lnTo>
                    </a:path>
                  </a:pathLst>
                </a:custGeom>
                <a:noFill/>
                <a:ln w="17463">
                  <a:solidFill>
                    <a:srgbClr val="FFFFFF"/>
                  </a:solidFill>
                </a:ln>
              </p:spPr>
            </p:sp>
          </p:grpSp>
          <p:sp>
            <p:nvSpPr>
              <p:cNvPr id="78" name="Ellipse 78"/>
              <p:cNvSpPr/>
              <p:nvPr/>
            </p:nvSpPr>
            <p:spPr>
              <a:xfrm>
                <a:off x="609600" y="5105400"/>
                <a:ext cx="38100" cy="38100"/>
              </a:xfrm>
              <a:prstGeom prst="ellipse">
                <a:avLst/>
              </a:prstGeom>
              <a:solidFill>
                <a:srgbClr val="FFFFFF"/>
              </a:solidFill>
              <a:ln>
                <a:noFill/>
              </a:ln>
            </p:spPr>
          </p:sp>
          <p:sp>
            <p:nvSpPr>
              <p:cNvPr id="79" name="TextBox 79"/>
              <p:cNvSpPr txBox="1"/>
              <p:nvPr/>
            </p:nvSpPr>
            <p:spPr>
              <a:xfrm>
                <a:off x="738188" y="5078968"/>
                <a:ext cx="732015"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Q1 框架签署​</a:t>
                </a:r>
              </a:p>
            </p:txBody>
          </p:sp>
          <p:sp>
            <p:nvSpPr>
              <p:cNvPr id="80" name="Ellipse 80"/>
              <p:cNvSpPr/>
              <p:nvPr/>
            </p:nvSpPr>
            <p:spPr>
              <a:xfrm>
                <a:off x="609600" y="5391150"/>
                <a:ext cx="38100" cy="38100"/>
              </a:xfrm>
              <a:prstGeom prst="ellipse">
                <a:avLst/>
              </a:prstGeom>
              <a:solidFill>
                <a:srgbClr val="FFFFFF"/>
              </a:solidFill>
              <a:ln>
                <a:noFill/>
              </a:ln>
            </p:spPr>
          </p:sp>
          <p:sp>
            <p:nvSpPr>
              <p:cNvPr id="81" name="TextBox 81"/>
              <p:cNvSpPr txBox="1"/>
              <p:nvPr/>
            </p:nvSpPr>
            <p:spPr>
              <a:xfrm>
                <a:off x="738188" y="5364718"/>
                <a:ext cx="847789"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Q2 新产品验证​</a:t>
                </a:r>
              </a:p>
            </p:txBody>
          </p:sp>
          <p:sp>
            <p:nvSpPr>
              <p:cNvPr id="82" name="Ellipse 82"/>
              <p:cNvSpPr/>
              <p:nvPr/>
            </p:nvSpPr>
            <p:spPr>
              <a:xfrm>
                <a:off x="609600" y="5676900"/>
                <a:ext cx="38100" cy="38100"/>
              </a:xfrm>
              <a:prstGeom prst="ellipse">
                <a:avLst/>
              </a:prstGeom>
              <a:solidFill>
                <a:srgbClr val="FFFFFF"/>
              </a:solidFill>
              <a:ln>
                <a:noFill/>
              </a:ln>
            </p:spPr>
          </p:sp>
          <p:sp>
            <p:nvSpPr>
              <p:cNvPr id="83" name="TextBox 83"/>
              <p:cNvSpPr txBox="1"/>
              <p:nvPr/>
            </p:nvSpPr>
            <p:spPr>
              <a:xfrm>
                <a:off x="738188" y="5650468"/>
                <a:ext cx="732015"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Q3 项目跟进​</a:t>
                </a:r>
              </a:p>
            </p:txBody>
          </p:sp>
          <p:sp>
            <p:nvSpPr>
              <p:cNvPr id="84" name="Ellipse 84"/>
              <p:cNvSpPr/>
              <p:nvPr/>
            </p:nvSpPr>
            <p:spPr>
              <a:xfrm>
                <a:off x="609600" y="5962650"/>
                <a:ext cx="38100" cy="38100"/>
              </a:xfrm>
              <a:prstGeom prst="ellipse">
                <a:avLst/>
              </a:prstGeom>
              <a:solidFill>
                <a:srgbClr val="FFFFFF"/>
              </a:solidFill>
              <a:ln>
                <a:noFill/>
              </a:ln>
            </p:spPr>
          </p:sp>
          <p:sp>
            <p:nvSpPr>
              <p:cNvPr id="85" name="TextBox 85"/>
              <p:cNvSpPr txBox="1"/>
              <p:nvPr/>
            </p:nvSpPr>
            <p:spPr>
              <a:xfrm>
                <a:off x="738188" y="5936218"/>
                <a:ext cx="732015"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Q4 年度复盘​</a:t>
                </a:r>
              </a:p>
            </p:txBody>
          </p:sp>
        </p:grpSp>
        <p:grpSp>
          <p:nvGrpSpPr>
            <p:cNvPr id="103" name="elem-5"/>
            <p:cNvGrpSpPr/>
            <p:nvPr/>
          </p:nvGrpSpPr>
          <p:grpSpPr>
            <a:xfrm>
              <a:off x="2705100" y="4248150"/>
              <a:ext cx="2209800" cy="2114550"/>
              <a:chOff x="2705100" y="4248150"/>
              <a:chExt cx="2209800" cy="2114550"/>
            </a:xfrm>
          </p:grpSpPr>
          <p:sp>
            <p:nvSpPr>
              <p:cNvPr id="87" name="Rectangle 87"/>
              <p:cNvSpPr/>
              <p:nvPr/>
            </p:nvSpPr>
            <p:spPr>
              <a:xfrm>
                <a:off x="2705100" y="4248150"/>
                <a:ext cx="2209800" cy="2114550"/>
              </a:xfrm>
              <a:prstGeom prst="roundRect">
                <a:avLst>
                  <a:gd name="adj" fmla="val 2703"/>
                </a:avLst>
              </a:prstGeom>
              <a:solidFill>
                <a:srgbClr val="8B321E"/>
              </a:solidFill>
              <a:ln>
                <a:noFill/>
              </a:ln>
            </p:spPr>
          </p:sp>
          <p:sp>
            <p:nvSpPr>
              <p:cNvPr id="88" name="Ellipse 88"/>
              <p:cNvSpPr/>
              <p:nvPr/>
            </p:nvSpPr>
            <p:spPr>
              <a:xfrm>
                <a:off x="2895600" y="4457700"/>
                <a:ext cx="266700" cy="266700"/>
              </a:xfrm>
              <a:prstGeom prst="ellipse">
                <a:avLst/>
              </a:prstGeom>
              <a:noFill/>
              <a:ln w="17145">
                <a:solidFill>
                  <a:srgbClr val="FFFFFF"/>
                </a:solidFill>
              </a:ln>
            </p:spPr>
          </p:sp>
          <p:sp>
            <p:nvSpPr>
              <p:cNvPr id="89" name="TextBox 89"/>
              <p:cNvSpPr txBox="1"/>
              <p:nvPr/>
            </p:nvSpPr>
            <p:spPr>
              <a:xfrm>
                <a:off x="2979699" y="451723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5</a:t>
                </a:r>
              </a:p>
            </p:txBody>
          </p:sp>
          <p:sp>
            <p:nvSpPr>
              <p:cNvPr id="90" name="TextBox 90"/>
              <p:cNvSpPr txBox="1"/>
              <p:nvPr/>
            </p:nvSpPr>
            <p:spPr>
              <a:xfrm>
                <a:off x="3252216" y="44300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要素五：</a:t>
                </a:r>
              </a:p>
            </p:txBody>
          </p:sp>
          <p:sp>
            <p:nvSpPr>
              <p:cNvPr id="91" name="TextBox 91"/>
              <p:cNvSpPr txBox="1"/>
              <p:nvPr/>
            </p:nvSpPr>
            <p:spPr>
              <a:xfrm>
                <a:off x="3252216" y="463010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资源需求</a:t>
                </a:r>
              </a:p>
            </p:txBody>
          </p:sp>
          <p:grpSp>
            <p:nvGrpSpPr>
              <p:cNvPr id="96" name="Group 96"/>
              <p:cNvGrpSpPr/>
              <p:nvPr/>
            </p:nvGrpSpPr>
            <p:grpSpPr>
              <a:xfrm>
                <a:off x="4521994" y="4483894"/>
                <a:ext cx="157163" cy="157163"/>
                <a:chOff x="4521994" y="4483894"/>
                <a:chExt cx="157163" cy="157163"/>
              </a:xfrm>
            </p:grpSpPr>
            <p:sp>
              <p:nvSpPr>
                <p:cNvPr id="92" name="Freeform 92"/>
                <p:cNvSpPr/>
                <p:nvPr/>
              </p:nvSpPr>
              <p:spPr>
                <a:xfrm>
                  <a:off x="4539456" y="4483894"/>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FFFFFF"/>
                  </a:solidFill>
                </a:ln>
              </p:spPr>
            </p:sp>
            <p:sp>
              <p:nvSpPr>
                <p:cNvPr id="93" name="Freeform 93"/>
                <p:cNvSpPr/>
                <p:nvPr/>
              </p:nvSpPr>
              <p:spPr>
                <a:xfrm>
                  <a:off x="4521994" y="4588669"/>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FFFFFF"/>
                  </a:solidFill>
                </a:ln>
              </p:spPr>
            </p:sp>
            <p:sp>
              <p:nvSpPr>
                <p:cNvPr id="94" name="Freeform 94"/>
                <p:cNvSpPr/>
                <p:nvPr/>
              </p:nvSpPr>
              <p:spPr>
                <a:xfrm>
                  <a:off x="4635500" y="4485029"/>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FFFFFF"/>
                  </a:solidFill>
                </a:ln>
              </p:spPr>
            </p:sp>
            <p:sp>
              <p:nvSpPr>
                <p:cNvPr id="95" name="Freeform 95"/>
                <p:cNvSpPr/>
                <p:nvPr/>
              </p:nvSpPr>
              <p:spPr>
                <a:xfrm>
                  <a:off x="4652963" y="4589978"/>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FFFFFF"/>
                  </a:solidFill>
                </a:ln>
              </p:spPr>
            </p:sp>
          </p:grpSp>
          <p:sp>
            <p:nvSpPr>
              <p:cNvPr id="97" name="Ellipse 97"/>
              <p:cNvSpPr/>
              <p:nvPr/>
            </p:nvSpPr>
            <p:spPr>
              <a:xfrm>
                <a:off x="2933700" y="5105400"/>
                <a:ext cx="38100" cy="38100"/>
              </a:xfrm>
              <a:prstGeom prst="ellipse">
                <a:avLst/>
              </a:prstGeom>
              <a:solidFill>
                <a:srgbClr val="FFFFFF"/>
              </a:solidFill>
              <a:ln>
                <a:noFill/>
              </a:ln>
            </p:spPr>
          </p:sp>
          <p:sp>
            <p:nvSpPr>
              <p:cNvPr id="98" name="TextBox 98"/>
              <p:cNvSpPr txBox="1"/>
              <p:nvPr/>
            </p:nvSpPr>
            <p:spPr>
              <a:xfrm>
                <a:off x="3062288" y="5078968"/>
                <a:ext cx="472618"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人力资源</a:t>
                </a:r>
              </a:p>
            </p:txBody>
          </p:sp>
          <p:sp>
            <p:nvSpPr>
              <p:cNvPr id="99" name="Ellipse 99"/>
              <p:cNvSpPr/>
              <p:nvPr/>
            </p:nvSpPr>
            <p:spPr>
              <a:xfrm>
                <a:off x="2933700" y="5391150"/>
                <a:ext cx="38100" cy="38100"/>
              </a:xfrm>
              <a:prstGeom prst="ellipse">
                <a:avLst/>
              </a:prstGeom>
              <a:solidFill>
                <a:srgbClr val="FFFFFF"/>
              </a:solidFill>
              <a:ln>
                <a:noFill/>
              </a:ln>
            </p:spPr>
          </p:sp>
          <p:sp>
            <p:nvSpPr>
              <p:cNvPr id="100" name="TextBox 100"/>
              <p:cNvSpPr txBox="1"/>
              <p:nvPr/>
            </p:nvSpPr>
            <p:spPr>
              <a:xfrm>
                <a:off x="3062288" y="5364718"/>
                <a:ext cx="472618"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费用资源</a:t>
                </a:r>
              </a:p>
            </p:txBody>
          </p:sp>
          <p:sp>
            <p:nvSpPr>
              <p:cNvPr id="101" name="Ellipse 101"/>
              <p:cNvSpPr/>
              <p:nvPr/>
            </p:nvSpPr>
            <p:spPr>
              <a:xfrm>
                <a:off x="2933700" y="5676900"/>
                <a:ext cx="38100" cy="38100"/>
              </a:xfrm>
              <a:prstGeom prst="ellipse">
                <a:avLst/>
              </a:prstGeom>
              <a:solidFill>
                <a:srgbClr val="FFFFFF"/>
              </a:solidFill>
              <a:ln>
                <a:noFill/>
              </a:ln>
            </p:spPr>
          </p:sp>
          <p:sp>
            <p:nvSpPr>
              <p:cNvPr id="102" name="TextBox 102"/>
              <p:cNvSpPr txBox="1"/>
              <p:nvPr/>
            </p:nvSpPr>
            <p:spPr>
              <a:xfrm>
                <a:off x="3062288" y="5650468"/>
                <a:ext cx="1641927"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特殊资源（定制化/优先交货）​</a:t>
                </a:r>
              </a:p>
            </p:txBody>
          </p:sp>
        </p:grpSp>
        <p:grpSp>
          <p:nvGrpSpPr>
            <p:cNvPr id="119" name="elem-6"/>
            <p:cNvGrpSpPr/>
            <p:nvPr/>
          </p:nvGrpSpPr>
          <p:grpSpPr>
            <a:xfrm>
              <a:off x="5029200" y="4248150"/>
              <a:ext cx="2209800" cy="2114550"/>
              <a:chOff x="5029200" y="4248150"/>
              <a:chExt cx="2209800" cy="2114550"/>
            </a:xfrm>
          </p:grpSpPr>
          <p:sp>
            <p:nvSpPr>
              <p:cNvPr id="104" name="Rectangle 104"/>
              <p:cNvSpPr/>
              <p:nvPr/>
            </p:nvSpPr>
            <p:spPr>
              <a:xfrm>
                <a:off x="5029200" y="4248150"/>
                <a:ext cx="2209800" cy="2114550"/>
              </a:xfrm>
              <a:prstGeom prst="roundRect">
                <a:avLst>
                  <a:gd name="adj" fmla="val 2703"/>
                </a:avLst>
              </a:prstGeom>
              <a:solidFill>
                <a:srgbClr val="6B6B6B"/>
              </a:solidFill>
              <a:ln>
                <a:noFill/>
              </a:ln>
            </p:spPr>
          </p:sp>
          <p:sp>
            <p:nvSpPr>
              <p:cNvPr id="105" name="Ellipse 105"/>
              <p:cNvSpPr/>
              <p:nvPr/>
            </p:nvSpPr>
            <p:spPr>
              <a:xfrm>
                <a:off x="5219700" y="4457700"/>
                <a:ext cx="266700" cy="266700"/>
              </a:xfrm>
              <a:prstGeom prst="ellipse">
                <a:avLst/>
              </a:prstGeom>
              <a:noFill/>
              <a:ln w="17145">
                <a:solidFill>
                  <a:srgbClr val="FFFFFF"/>
                </a:solidFill>
              </a:ln>
            </p:spPr>
          </p:sp>
          <p:sp>
            <p:nvSpPr>
              <p:cNvPr id="106" name="TextBox 106"/>
              <p:cNvSpPr txBox="1"/>
              <p:nvPr/>
            </p:nvSpPr>
            <p:spPr>
              <a:xfrm>
                <a:off x="5303799" y="451723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6</a:t>
                </a:r>
              </a:p>
            </p:txBody>
          </p:sp>
          <p:sp>
            <p:nvSpPr>
              <p:cNvPr id="107" name="TextBox 107"/>
              <p:cNvSpPr txBox="1"/>
              <p:nvPr/>
            </p:nvSpPr>
            <p:spPr>
              <a:xfrm>
                <a:off x="5576316" y="4430078"/>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要素六：</a:t>
                </a:r>
              </a:p>
            </p:txBody>
          </p:sp>
          <p:sp>
            <p:nvSpPr>
              <p:cNvPr id="108" name="TextBox 108"/>
              <p:cNvSpPr txBox="1"/>
              <p:nvPr/>
            </p:nvSpPr>
            <p:spPr>
              <a:xfrm>
                <a:off x="5576316" y="4630102"/>
                <a:ext cx="576072"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风险预警</a:t>
                </a:r>
              </a:p>
            </p:txBody>
          </p:sp>
          <p:grpSp>
            <p:nvGrpSpPr>
              <p:cNvPr id="112" name="Group 112"/>
              <p:cNvGrpSpPr/>
              <p:nvPr/>
            </p:nvGrpSpPr>
            <p:grpSpPr>
              <a:xfrm>
                <a:off x="6836619" y="4480993"/>
                <a:ext cx="176105" cy="151297"/>
                <a:chOff x="6836619" y="4480993"/>
                <a:chExt cx="176105" cy="151297"/>
              </a:xfrm>
            </p:grpSpPr>
            <p:sp>
              <p:nvSpPr>
                <p:cNvPr id="109" name="Freeform 109"/>
                <p:cNvSpPr/>
                <p:nvPr/>
              </p:nvSpPr>
              <p:spPr>
                <a:xfrm>
                  <a:off x="6924675" y="4536281"/>
                  <a:ext cx="9525" cy="34925"/>
                </a:xfrm>
                <a:custGeom>
                  <a:avLst/>
                  <a:gdLst/>
                  <a:ahLst/>
                  <a:cxnLst/>
                  <a:rect l="l" t="t" r="r" b="b"/>
                  <a:pathLst>
                    <a:path w="9525" h="34925">
                      <a:moveTo>
                        <a:pt x="0" y="0"/>
                      </a:moveTo>
                      <a:lnTo>
                        <a:pt x="0" y="34925"/>
                      </a:lnTo>
                    </a:path>
                  </a:pathLst>
                </a:custGeom>
                <a:noFill/>
                <a:ln w="17463">
                  <a:solidFill>
                    <a:srgbClr val="FFFFFF"/>
                  </a:solidFill>
                </a:ln>
              </p:spPr>
            </p:sp>
            <p:sp>
              <p:nvSpPr>
                <p:cNvPr id="110" name="Freeform 110"/>
                <p:cNvSpPr/>
                <p:nvPr/>
              </p:nvSpPr>
              <p:spPr>
                <a:xfrm>
                  <a:off x="6836619" y="44809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FFFFFF"/>
                  </a:solidFill>
                </a:ln>
              </p:spPr>
            </p:sp>
            <p:sp>
              <p:nvSpPr>
                <p:cNvPr id="111" name="Freeform 111"/>
                <p:cNvSpPr/>
                <p:nvPr/>
              </p:nvSpPr>
              <p:spPr>
                <a:xfrm>
                  <a:off x="6924675" y="4597400"/>
                  <a:ext cx="9525" cy="9525"/>
                </a:xfrm>
                <a:custGeom>
                  <a:avLst/>
                  <a:gdLst/>
                  <a:ahLst/>
                  <a:cxnLst/>
                  <a:rect l="l" t="t" r="r" b="b"/>
                  <a:pathLst>
                    <a:path w="9525" h="9525">
                      <a:moveTo>
                        <a:pt x="0" y="0"/>
                      </a:moveTo>
                      <a:lnTo>
                        <a:pt x="87" y="0"/>
                      </a:lnTo>
                    </a:path>
                  </a:pathLst>
                </a:custGeom>
                <a:noFill/>
                <a:ln w="17463">
                  <a:solidFill>
                    <a:srgbClr val="FFFFFF"/>
                  </a:solidFill>
                </a:ln>
              </p:spPr>
            </p:sp>
          </p:grpSp>
          <p:sp>
            <p:nvSpPr>
              <p:cNvPr id="113" name="Ellipse 113"/>
              <p:cNvSpPr/>
              <p:nvPr/>
            </p:nvSpPr>
            <p:spPr>
              <a:xfrm>
                <a:off x="5257800" y="5105400"/>
                <a:ext cx="38100" cy="38100"/>
              </a:xfrm>
              <a:prstGeom prst="ellipse">
                <a:avLst/>
              </a:prstGeom>
              <a:solidFill>
                <a:srgbClr val="FFFFFF"/>
              </a:solidFill>
              <a:ln>
                <a:noFill/>
              </a:ln>
            </p:spPr>
          </p:sp>
          <p:sp>
            <p:nvSpPr>
              <p:cNvPr id="114" name="TextBox 114"/>
              <p:cNvSpPr txBox="1"/>
              <p:nvPr/>
            </p:nvSpPr>
            <p:spPr>
              <a:xfrm>
                <a:off x="5386388" y="5078968"/>
                <a:ext cx="819937"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竞争对手价格战</a:t>
                </a:r>
              </a:p>
            </p:txBody>
          </p:sp>
          <p:sp>
            <p:nvSpPr>
              <p:cNvPr id="115" name="Ellipse 115"/>
              <p:cNvSpPr/>
              <p:nvPr/>
            </p:nvSpPr>
            <p:spPr>
              <a:xfrm>
                <a:off x="5257800" y="5391150"/>
                <a:ext cx="38100" cy="38100"/>
              </a:xfrm>
              <a:prstGeom prst="ellipse">
                <a:avLst/>
              </a:prstGeom>
              <a:solidFill>
                <a:srgbClr val="FFFFFF"/>
              </a:solidFill>
              <a:ln>
                <a:noFill/>
              </a:ln>
            </p:spPr>
          </p:sp>
          <p:sp>
            <p:nvSpPr>
              <p:cNvPr id="116" name="TextBox 116"/>
              <p:cNvSpPr txBox="1"/>
              <p:nvPr/>
            </p:nvSpPr>
            <p:spPr>
              <a:xfrm>
                <a:off x="5386388" y="5364718"/>
                <a:ext cx="472618"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人事变动</a:t>
                </a:r>
              </a:p>
            </p:txBody>
          </p:sp>
          <p:sp>
            <p:nvSpPr>
              <p:cNvPr id="117" name="Ellipse 117"/>
              <p:cNvSpPr/>
              <p:nvPr/>
            </p:nvSpPr>
            <p:spPr>
              <a:xfrm>
                <a:off x="5257800" y="5676900"/>
                <a:ext cx="38100" cy="38100"/>
              </a:xfrm>
              <a:prstGeom prst="ellipse">
                <a:avLst/>
              </a:prstGeom>
              <a:solidFill>
                <a:srgbClr val="FFFFFF"/>
              </a:solidFill>
              <a:ln>
                <a:noFill/>
              </a:ln>
            </p:spPr>
          </p:sp>
          <p:sp>
            <p:nvSpPr>
              <p:cNvPr id="118" name="TextBox 118"/>
              <p:cNvSpPr txBox="1"/>
              <p:nvPr/>
            </p:nvSpPr>
            <p:spPr>
              <a:xfrm>
                <a:off x="5386388" y="5650468"/>
                <a:ext cx="1051484"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质量问题及应对预案</a:t>
                </a:r>
              </a:p>
            </p:txBody>
          </p:sp>
        </p:grpSp>
      </p:grpSp>
      <p:grpSp>
        <p:nvGrpSpPr>
          <p:cNvPr id="165" name="value-output"/>
          <p:cNvGrpSpPr/>
          <p:nvPr/>
        </p:nvGrpSpPr>
        <p:grpSpPr>
          <a:xfrm>
            <a:off x="7524750" y="957739"/>
            <a:ext cx="4296156" cy="4680490"/>
            <a:chOff x="7524750" y="957739"/>
            <a:chExt cx="4296156" cy="4680490"/>
          </a:xfrm>
        </p:grpSpPr>
        <p:grpSp>
          <p:nvGrpSpPr>
            <p:cNvPr id="123" name="Group 123"/>
            <p:cNvGrpSpPr/>
            <p:nvPr/>
          </p:nvGrpSpPr>
          <p:grpSpPr>
            <a:xfrm>
              <a:off x="7566025" y="976312"/>
              <a:ext cx="165099" cy="143669"/>
              <a:chOff x="7566025" y="976312"/>
              <a:chExt cx="165099" cy="143669"/>
            </a:xfrm>
          </p:grpSpPr>
          <p:sp>
            <p:nvSpPr>
              <p:cNvPr id="121" name="Freeform 121"/>
              <p:cNvSpPr/>
              <p:nvPr/>
            </p:nvSpPr>
            <p:spPr>
              <a:xfrm>
                <a:off x="7566025" y="1110456"/>
                <a:ext cx="165099" cy="9525"/>
              </a:xfrm>
              <a:custGeom>
                <a:avLst/>
                <a:gdLst/>
                <a:ahLst/>
                <a:cxnLst/>
                <a:rect l="l" t="t" r="r" b="b"/>
                <a:pathLst>
                  <a:path w="165099" h="9525">
                    <a:moveTo>
                      <a:pt x="0" y="0"/>
                    </a:moveTo>
                    <a:lnTo>
                      <a:pt x="165099" y="0"/>
                    </a:lnTo>
                  </a:path>
                </a:pathLst>
              </a:custGeom>
              <a:noFill/>
              <a:ln w="20637">
                <a:solidFill>
                  <a:srgbClr val="C97263"/>
                </a:solidFill>
              </a:ln>
            </p:spPr>
          </p:sp>
          <p:sp>
            <p:nvSpPr>
              <p:cNvPr id="122" name="Freeform 122"/>
              <p:cNvSpPr/>
              <p:nvPr/>
            </p:nvSpPr>
            <p:spPr>
              <a:xfrm>
                <a:off x="7566025" y="976312"/>
                <a:ext cx="165099" cy="92868"/>
              </a:xfrm>
              <a:custGeom>
                <a:avLst/>
                <a:gdLst/>
                <a:ahLst/>
                <a:cxnLst/>
                <a:rect l="l" t="t" r="r" b="b"/>
                <a:pathLst>
                  <a:path w="165099" h="92868">
                    <a:moveTo>
                      <a:pt x="0" y="92868"/>
                    </a:moveTo>
                    <a:lnTo>
                      <a:pt x="41275" y="30956"/>
                    </a:lnTo>
                    <a:lnTo>
                      <a:pt x="82550" y="51594"/>
                    </a:lnTo>
                    <a:lnTo>
                      <a:pt x="123825" y="0"/>
                    </a:lnTo>
                    <a:lnTo>
                      <a:pt x="165099" y="41275"/>
                    </a:lnTo>
                  </a:path>
                </a:pathLst>
              </a:custGeom>
              <a:noFill/>
              <a:ln w="20637">
                <a:solidFill>
                  <a:srgbClr val="C97263"/>
                </a:solidFill>
              </a:ln>
            </p:spPr>
          </p:sp>
        </p:grpSp>
        <p:sp>
          <p:nvSpPr>
            <p:cNvPr id="124" name="TextBox 124"/>
            <p:cNvSpPr txBox="1"/>
            <p:nvPr/>
          </p:nvSpPr>
          <p:spPr>
            <a:xfrm>
              <a:off x="7861173" y="957739"/>
              <a:ext cx="1736090"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mn-lt"/>
                  <a:ea typeface="+mn-ea"/>
                  <a:cs typeface="+mn-cs"/>
                </a:rPr>
                <a:t>年度作战图的价值输出</a:t>
              </a:r>
            </a:p>
          </p:txBody>
        </p:sp>
        <p:grpSp>
          <p:nvGrpSpPr>
            <p:cNvPr id="134" name="value-1"/>
            <p:cNvGrpSpPr/>
            <p:nvPr/>
          </p:nvGrpSpPr>
          <p:grpSpPr>
            <a:xfrm>
              <a:off x="7524750" y="1514475"/>
              <a:ext cx="4296156" cy="742950"/>
              <a:chOff x="7524750" y="1514475"/>
              <a:chExt cx="4296156" cy="742950"/>
            </a:xfrm>
          </p:grpSpPr>
          <p:sp>
            <p:nvSpPr>
              <p:cNvPr id="125" name="Ellipse 125"/>
              <p:cNvSpPr/>
              <p:nvPr/>
            </p:nvSpPr>
            <p:spPr>
              <a:xfrm>
                <a:off x="7572375" y="1514475"/>
                <a:ext cx="400050" cy="400050"/>
              </a:xfrm>
              <a:prstGeom prst="ellipse">
                <a:avLst/>
              </a:prstGeom>
              <a:solidFill>
                <a:srgbClr val="FFFFFF"/>
              </a:solidFill>
              <a:ln w="19050">
                <a:solidFill>
                  <a:srgbClr val="8B321E"/>
                </a:solidFill>
              </a:ln>
            </p:spPr>
          </p:sp>
          <p:grpSp>
            <p:nvGrpSpPr>
              <p:cNvPr id="129" name="Group 129"/>
              <p:cNvGrpSpPr/>
              <p:nvPr/>
            </p:nvGrpSpPr>
            <p:grpSpPr>
              <a:xfrm>
                <a:off x="7693819" y="1635919"/>
                <a:ext cx="157163" cy="157163"/>
                <a:chOff x="7693819" y="1635919"/>
                <a:chExt cx="157163" cy="157163"/>
              </a:xfrm>
            </p:grpSpPr>
            <p:sp>
              <p:nvSpPr>
                <p:cNvPr id="126" name="Freeform 126"/>
                <p:cNvSpPr/>
                <p:nvPr/>
              </p:nvSpPr>
              <p:spPr>
                <a:xfrm>
                  <a:off x="7763669" y="1705769"/>
                  <a:ext cx="17463" cy="17463"/>
                </a:xfrm>
                <a:custGeom>
                  <a:avLst/>
                  <a:gdLst/>
                  <a:ahLst/>
                  <a:cxnLst/>
                  <a:rect l="l" t="t" r="r" b="b"/>
                  <a:pathLst>
                    <a:path w="17463" h="17463">
                      <a:moveTo>
                        <a:pt x="0" y="8731"/>
                      </a:moveTo>
                      <a:cubicBezTo>
                        <a:pt x="0" y="13553"/>
                        <a:pt x="3909" y="17463"/>
                        <a:pt x="8731" y="17463"/>
                      </a:cubicBezTo>
                      <a:cubicBezTo>
                        <a:pt x="13553" y="17463"/>
                        <a:pt x="17463" y="13553"/>
                        <a:pt x="17463" y="8731"/>
                      </a:cubicBezTo>
                      <a:cubicBezTo>
                        <a:pt x="17463" y="3909"/>
                        <a:pt x="13553" y="0"/>
                        <a:pt x="8731" y="0"/>
                      </a:cubicBezTo>
                      <a:cubicBezTo>
                        <a:pt x="3909" y="0"/>
                        <a:pt x="0" y="3909"/>
                        <a:pt x="0" y="8731"/>
                      </a:cubicBezTo>
                    </a:path>
                  </a:pathLst>
                </a:custGeom>
                <a:noFill/>
                <a:ln w="17463">
                  <a:solidFill>
                    <a:srgbClr val="8B321E"/>
                  </a:solidFill>
                </a:ln>
              </p:spPr>
            </p:sp>
            <p:sp>
              <p:nvSpPr>
                <p:cNvPr id="127" name="Freeform 127"/>
                <p:cNvSpPr/>
                <p:nvPr/>
              </p:nvSpPr>
              <p:spPr>
                <a:xfrm>
                  <a:off x="7728744" y="1670844"/>
                  <a:ext cx="87313" cy="87313"/>
                </a:xfrm>
                <a:custGeom>
                  <a:avLst/>
                  <a:gdLst/>
                  <a:ahLst/>
                  <a:cxnLst/>
                  <a:rect l="l" t="t" r="r" b="b"/>
                  <a:pathLst>
                    <a:path w="87313" h="87313">
                      <a:moveTo>
                        <a:pt x="0" y="43656"/>
                      </a:moveTo>
                      <a:cubicBezTo>
                        <a:pt x="0" y="67767"/>
                        <a:pt x="19546" y="87313"/>
                        <a:pt x="43656" y="87313"/>
                      </a:cubicBezTo>
                      <a:cubicBezTo>
                        <a:pt x="67767" y="87313"/>
                        <a:pt x="87313" y="67767"/>
                        <a:pt x="87313" y="43656"/>
                      </a:cubicBezTo>
                      <a:cubicBezTo>
                        <a:pt x="87313" y="19546"/>
                        <a:pt x="67767" y="0"/>
                        <a:pt x="43656" y="0"/>
                      </a:cubicBezTo>
                      <a:cubicBezTo>
                        <a:pt x="19546" y="0"/>
                        <a:pt x="0" y="19546"/>
                        <a:pt x="0" y="43656"/>
                      </a:cubicBezTo>
                    </a:path>
                  </a:pathLst>
                </a:custGeom>
                <a:noFill/>
                <a:ln w="17463">
                  <a:solidFill>
                    <a:srgbClr val="8B321E"/>
                  </a:solidFill>
                </a:ln>
              </p:spPr>
            </p:sp>
            <p:sp>
              <p:nvSpPr>
                <p:cNvPr id="128" name="Freeform 128"/>
                <p:cNvSpPr/>
                <p:nvPr/>
              </p:nvSpPr>
              <p:spPr>
                <a:xfrm>
                  <a:off x="7693819" y="16359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8B321E"/>
                  </a:solidFill>
                </a:ln>
              </p:spPr>
            </p:sp>
          </p:grpSp>
          <p:sp>
            <p:nvSpPr>
              <p:cNvPr id="130" name="TextBox 130"/>
              <p:cNvSpPr txBox="1"/>
              <p:nvPr/>
            </p:nvSpPr>
            <p:spPr>
              <a:xfrm>
                <a:off x="8109585" y="151685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目标对齐</a:t>
                </a:r>
              </a:p>
            </p:txBody>
          </p:sp>
          <p:sp>
            <p:nvSpPr>
              <p:cNvPr id="131" name="TextBox 131"/>
              <p:cNvSpPr txBox="1"/>
              <p:nvPr/>
            </p:nvSpPr>
            <p:spPr>
              <a:xfrm>
                <a:off x="8110538" y="1754743"/>
                <a:ext cx="1283030" cy="169069"/>
              </a:xfrm>
              <a:prstGeom prst="rect">
                <a:avLst/>
              </a:prstGeom>
              <a:noFill/>
              <a:ln>
                <a:noFill/>
              </a:ln>
            </p:spPr>
            <p:txBody>
              <a:bodyPr wrap="none" lIns="0" tIns="0" rIns="0" bIns="0" anchor="t" anchorCtr="0">
                <a:spAutoFit/>
              </a:bodyPr>
              <a:lstStyle/>
              <a:p>
                <a:pPr algn="l"/>
                <a:r>
                  <a:rPr lang="zh-CN" sz="860" dirty="0">
                    <a:solidFill>
                      <a:srgbClr val="6A6A6A"/>
                    </a:solidFill>
                    <a:latin typeface="+mn-lt"/>
                    <a:ea typeface="+mn-ea"/>
                    <a:cs typeface="+mn-cs"/>
                  </a:rPr>
                  <a:t>统一团队方向与关键结果</a:t>
                </a:r>
              </a:p>
            </p:txBody>
          </p:sp>
          <p:sp>
            <p:nvSpPr>
              <p:cNvPr id="132" name="TextBox 132"/>
              <p:cNvSpPr txBox="1"/>
              <p:nvPr/>
            </p:nvSpPr>
            <p:spPr>
              <a:xfrm>
                <a:off x="11139571" y="1599248"/>
                <a:ext cx="681335" cy="381381"/>
              </a:xfrm>
              <a:prstGeom prst="rect">
                <a:avLst/>
              </a:prstGeom>
              <a:noFill/>
              <a:ln>
                <a:noFill/>
              </a:ln>
            </p:spPr>
            <p:txBody>
              <a:bodyPr wrap="none" lIns="0" tIns="0" rIns="0" bIns="0" anchor="t" anchorCtr="0">
                <a:spAutoFit/>
              </a:bodyPr>
              <a:lstStyle/>
              <a:p>
                <a:pPr algn="r"/>
                <a:r>
                  <a:rPr lang="zh-CN" sz="1950" b="1" dirty="0">
                    <a:solidFill>
                      <a:srgbClr val="C97263"/>
                    </a:solidFill>
                    <a:latin typeface="+mn-lt"/>
                    <a:ea typeface="+mn-ea"/>
                    <a:cs typeface="+mn-cs"/>
                  </a:rPr>
                  <a:t>100%</a:t>
                </a:r>
              </a:p>
            </p:txBody>
          </p:sp>
          <p:sp>
            <p:nvSpPr>
              <p:cNvPr id="133" name="Line 133"/>
              <p:cNvSpPr/>
              <p:nvPr/>
            </p:nvSpPr>
            <p:spPr>
              <a:xfrm>
                <a:off x="7524750" y="2247900"/>
                <a:ext cx="4286250" cy="9525"/>
              </a:xfrm>
              <a:custGeom>
                <a:avLst/>
                <a:gdLst/>
                <a:ahLst/>
                <a:cxnLst/>
                <a:rect l="l" t="t" r="r" b="b"/>
                <a:pathLst>
                  <a:path w="4286250" h="9525">
                    <a:moveTo>
                      <a:pt x="0" y="0"/>
                    </a:moveTo>
                    <a:lnTo>
                      <a:pt x="4286250" y="0"/>
                    </a:lnTo>
                  </a:path>
                </a:pathLst>
              </a:custGeom>
              <a:noFill/>
              <a:ln w="9525">
                <a:solidFill>
                  <a:srgbClr val="EEEAE6"/>
                </a:solidFill>
              </a:ln>
            </p:spPr>
          </p:sp>
        </p:grpSp>
        <p:grpSp>
          <p:nvGrpSpPr>
            <p:cNvPr id="145" name="value-2"/>
            <p:cNvGrpSpPr/>
            <p:nvPr/>
          </p:nvGrpSpPr>
          <p:grpSpPr>
            <a:xfrm>
              <a:off x="7524750" y="2733675"/>
              <a:ext cx="4296156" cy="742950"/>
              <a:chOff x="7524750" y="2733675"/>
              <a:chExt cx="4296156" cy="742950"/>
            </a:xfrm>
          </p:grpSpPr>
          <p:sp>
            <p:nvSpPr>
              <p:cNvPr id="135" name="Ellipse 135"/>
              <p:cNvSpPr/>
              <p:nvPr/>
            </p:nvSpPr>
            <p:spPr>
              <a:xfrm>
                <a:off x="7572375" y="2733675"/>
                <a:ext cx="400050" cy="400050"/>
              </a:xfrm>
              <a:prstGeom prst="ellipse">
                <a:avLst/>
              </a:prstGeom>
              <a:solidFill>
                <a:srgbClr val="FFFFFF"/>
              </a:solidFill>
              <a:ln w="19050">
                <a:solidFill>
                  <a:srgbClr val="8B321E"/>
                </a:solidFill>
              </a:ln>
            </p:spPr>
          </p:sp>
          <p:grpSp>
            <p:nvGrpSpPr>
              <p:cNvPr id="140" name="Group 140"/>
              <p:cNvGrpSpPr/>
              <p:nvPr/>
            </p:nvGrpSpPr>
            <p:grpSpPr>
              <a:xfrm>
                <a:off x="7702550" y="2855119"/>
                <a:ext cx="122238" cy="157162"/>
                <a:chOff x="7702550" y="2855119"/>
                <a:chExt cx="122238" cy="157162"/>
              </a:xfrm>
            </p:grpSpPr>
            <p:sp>
              <p:nvSpPr>
                <p:cNvPr id="136" name="Freeform 136"/>
                <p:cNvSpPr/>
                <p:nvPr/>
              </p:nvSpPr>
              <p:spPr>
                <a:xfrm>
                  <a:off x="7763730" y="2855119"/>
                  <a:ext cx="34925" cy="34925"/>
                </a:xfrm>
                <a:custGeom>
                  <a:avLst/>
                  <a:gdLst/>
                  <a:ahLst/>
                  <a:cxnLst/>
                  <a:rect l="l" t="t" r="r" b="b"/>
                  <a:pathLst>
                    <a:path w="34925" h="34925">
                      <a:moveTo>
                        <a:pt x="0" y="17463"/>
                      </a:moveTo>
                      <a:cubicBezTo>
                        <a:pt x="0" y="27107"/>
                        <a:pt x="7818" y="34925"/>
                        <a:pt x="17463" y="34925"/>
                      </a:cubicBezTo>
                      <a:cubicBezTo>
                        <a:pt x="27107" y="34925"/>
                        <a:pt x="34925" y="27107"/>
                        <a:pt x="34925" y="17463"/>
                      </a:cubicBezTo>
                      <a:cubicBezTo>
                        <a:pt x="34925" y="7818"/>
                        <a:pt x="27107" y="0"/>
                        <a:pt x="17463" y="0"/>
                      </a:cubicBezTo>
                      <a:cubicBezTo>
                        <a:pt x="7818" y="0"/>
                        <a:pt x="0" y="7818"/>
                        <a:pt x="0" y="17463"/>
                      </a:cubicBezTo>
                    </a:path>
                  </a:pathLst>
                </a:custGeom>
                <a:noFill/>
                <a:ln w="17463">
                  <a:solidFill>
                    <a:srgbClr val="8B321E"/>
                  </a:solidFill>
                </a:ln>
              </p:spPr>
            </p:sp>
            <p:sp>
              <p:nvSpPr>
                <p:cNvPr id="137" name="Freeform 137"/>
                <p:cNvSpPr/>
                <p:nvPr/>
              </p:nvSpPr>
              <p:spPr>
                <a:xfrm>
                  <a:off x="7702550" y="2972991"/>
                  <a:ext cx="50205" cy="13097"/>
                </a:xfrm>
                <a:custGeom>
                  <a:avLst/>
                  <a:gdLst/>
                  <a:ahLst/>
                  <a:cxnLst/>
                  <a:rect l="l" t="t" r="r" b="b"/>
                  <a:pathLst>
                    <a:path w="50205" h="13097">
                      <a:moveTo>
                        <a:pt x="0" y="4366"/>
                      </a:moveTo>
                      <a:lnTo>
                        <a:pt x="43656" y="13097"/>
                      </a:lnTo>
                      <a:lnTo>
                        <a:pt x="50205" y="0"/>
                      </a:lnTo>
                    </a:path>
                  </a:pathLst>
                </a:custGeom>
                <a:noFill/>
                <a:ln w="17463">
                  <a:solidFill>
                    <a:srgbClr val="8B321E"/>
                  </a:solidFill>
                </a:ln>
              </p:spPr>
            </p:sp>
            <p:sp>
              <p:nvSpPr>
                <p:cNvPr id="138" name="Freeform 138"/>
                <p:cNvSpPr/>
                <p:nvPr/>
              </p:nvSpPr>
              <p:spPr>
                <a:xfrm>
                  <a:off x="7763669" y="2898775"/>
                  <a:ext cx="34925" cy="113506"/>
                </a:xfrm>
                <a:custGeom>
                  <a:avLst/>
                  <a:gdLst/>
                  <a:ahLst/>
                  <a:cxnLst/>
                  <a:rect l="l" t="t" r="r" b="b"/>
                  <a:pathLst>
                    <a:path w="34925" h="113506">
                      <a:moveTo>
                        <a:pt x="34925" y="113506"/>
                      </a:moveTo>
                      <a:lnTo>
                        <a:pt x="34925" y="78581"/>
                      </a:lnTo>
                      <a:lnTo>
                        <a:pt x="0" y="52388"/>
                      </a:lnTo>
                      <a:lnTo>
                        <a:pt x="8731" y="0"/>
                      </a:lnTo>
                    </a:path>
                  </a:pathLst>
                </a:custGeom>
                <a:noFill/>
                <a:ln w="17463">
                  <a:solidFill>
                    <a:srgbClr val="8B321E"/>
                  </a:solidFill>
                </a:ln>
              </p:spPr>
            </p:sp>
            <p:sp>
              <p:nvSpPr>
                <p:cNvPr id="139" name="Freeform 139"/>
                <p:cNvSpPr/>
                <p:nvPr/>
              </p:nvSpPr>
              <p:spPr>
                <a:xfrm>
                  <a:off x="7728744" y="2898775"/>
                  <a:ext cx="96044" cy="34925"/>
                </a:xfrm>
                <a:custGeom>
                  <a:avLst/>
                  <a:gdLst/>
                  <a:ahLst/>
                  <a:cxnLst/>
                  <a:rect l="l" t="t" r="r" b="b"/>
                  <a:pathLst>
                    <a:path w="96044" h="34925">
                      <a:moveTo>
                        <a:pt x="0" y="34925"/>
                      </a:moveTo>
                      <a:lnTo>
                        <a:pt x="0" y="8731"/>
                      </a:lnTo>
                      <a:lnTo>
                        <a:pt x="43656" y="0"/>
                      </a:lnTo>
                      <a:lnTo>
                        <a:pt x="69850" y="26194"/>
                      </a:lnTo>
                      <a:lnTo>
                        <a:pt x="96044" y="34925"/>
                      </a:lnTo>
                    </a:path>
                  </a:pathLst>
                </a:custGeom>
                <a:noFill/>
                <a:ln w="17463">
                  <a:solidFill>
                    <a:srgbClr val="8B321E"/>
                  </a:solidFill>
                </a:ln>
              </p:spPr>
            </p:sp>
          </p:grpSp>
          <p:sp>
            <p:nvSpPr>
              <p:cNvPr id="141" name="TextBox 141"/>
              <p:cNvSpPr txBox="1"/>
              <p:nvPr/>
            </p:nvSpPr>
            <p:spPr>
              <a:xfrm>
                <a:off x="8109585" y="273605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行动聚焦</a:t>
                </a:r>
              </a:p>
            </p:txBody>
          </p:sp>
          <p:sp>
            <p:nvSpPr>
              <p:cNvPr id="142" name="TextBox 142"/>
              <p:cNvSpPr txBox="1"/>
              <p:nvPr/>
            </p:nvSpPr>
            <p:spPr>
              <a:xfrm>
                <a:off x="8110538" y="2973943"/>
                <a:ext cx="1167257" cy="169069"/>
              </a:xfrm>
              <a:prstGeom prst="rect">
                <a:avLst/>
              </a:prstGeom>
              <a:noFill/>
              <a:ln>
                <a:noFill/>
              </a:ln>
            </p:spPr>
            <p:txBody>
              <a:bodyPr wrap="none" lIns="0" tIns="0" rIns="0" bIns="0" anchor="t" anchorCtr="0">
                <a:spAutoFit/>
              </a:bodyPr>
              <a:lstStyle/>
              <a:p>
                <a:pPr algn="l"/>
                <a:r>
                  <a:rPr lang="zh-CN" sz="860" dirty="0">
                    <a:solidFill>
                      <a:srgbClr val="6A6A6A"/>
                    </a:solidFill>
                    <a:latin typeface="+mn-lt"/>
                    <a:ea typeface="+mn-ea"/>
                    <a:cs typeface="+mn-cs"/>
                  </a:rPr>
                  <a:t>明确关键动作与优先级</a:t>
                </a:r>
              </a:p>
            </p:txBody>
          </p:sp>
          <p:sp>
            <p:nvSpPr>
              <p:cNvPr id="143" name="TextBox 143"/>
              <p:cNvSpPr txBox="1"/>
              <p:nvPr/>
            </p:nvSpPr>
            <p:spPr>
              <a:xfrm>
                <a:off x="11139571" y="2818448"/>
                <a:ext cx="681335" cy="381381"/>
              </a:xfrm>
              <a:prstGeom prst="rect">
                <a:avLst/>
              </a:prstGeom>
              <a:noFill/>
              <a:ln>
                <a:noFill/>
              </a:ln>
            </p:spPr>
            <p:txBody>
              <a:bodyPr wrap="none" lIns="0" tIns="0" rIns="0" bIns="0" anchor="t" anchorCtr="0">
                <a:spAutoFit/>
              </a:bodyPr>
              <a:lstStyle/>
              <a:p>
                <a:pPr algn="r"/>
                <a:r>
                  <a:rPr lang="zh-CN" sz="1950" b="1" dirty="0">
                    <a:solidFill>
                      <a:srgbClr val="C97263"/>
                    </a:solidFill>
                    <a:latin typeface="+mn-lt"/>
                    <a:ea typeface="+mn-ea"/>
                    <a:cs typeface="+mn-cs"/>
                  </a:rPr>
                  <a:t>80%+</a:t>
                </a:r>
              </a:p>
            </p:txBody>
          </p:sp>
          <p:sp>
            <p:nvSpPr>
              <p:cNvPr id="144" name="Line 144"/>
              <p:cNvSpPr/>
              <p:nvPr/>
            </p:nvSpPr>
            <p:spPr>
              <a:xfrm>
                <a:off x="7524750" y="3467100"/>
                <a:ext cx="4286250" cy="9525"/>
              </a:xfrm>
              <a:custGeom>
                <a:avLst/>
                <a:gdLst/>
                <a:ahLst/>
                <a:cxnLst/>
                <a:rect l="l" t="t" r="r" b="b"/>
                <a:pathLst>
                  <a:path w="4286250" h="9525">
                    <a:moveTo>
                      <a:pt x="0" y="0"/>
                    </a:moveTo>
                    <a:lnTo>
                      <a:pt x="4286250" y="0"/>
                    </a:lnTo>
                  </a:path>
                </a:pathLst>
              </a:custGeom>
              <a:noFill/>
              <a:ln w="9525">
                <a:solidFill>
                  <a:srgbClr val="EEEAE6"/>
                </a:solidFill>
              </a:ln>
            </p:spPr>
          </p:sp>
        </p:grpSp>
        <p:grpSp>
          <p:nvGrpSpPr>
            <p:cNvPr id="156" name="value-3"/>
            <p:cNvGrpSpPr/>
            <p:nvPr/>
          </p:nvGrpSpPr>
          <p:grpSpPr>
            <a:xfrm>
              <a:off x="7524750" y="3952875"/>
              <a:ext cx="4296156" cy="742950"/>
              <a:chOff x="7524750" y="3952875"/>
              <a:chExt cx="4296156" cy="742950"/>
            </a:xfrm>
          </p:grpSpPr>
          <p:sp>
            <p:nvSpPr>
              <p:cNvPr id="146" name="Ellipse 146"/>
              <p:cNvSpPr/>
              <p:nvPr/>
            </p:nvSpPr>
            <p:spPr>
              <a:xfrm>
                <a:off x="7572375" y="3952875"/>
                <a:ext cx="400050" cy="400050"/>
              </a:xfrm>
              <a:prstGeom prst="ellipse">
                <a:avLst/>
              </a:prstGeom>
              <a:solidFill>
                <a:srgbClr val="FFFFFF"/>
              </a:solidFill>
              <a:ln w="19050">
                <a:solidFill>
                  <a:srgbClr val="8B321E"/>
                </a:solidFill>
              </a:ln>
            </p:spPr>
          </p:sp>
          <p:grpSp>
            <p:nvGrpSpPr>
              <p:cNvPr id="151" name="Group 151"/>
              <p:cNvGrpSpPr/>
              <p:nvPr/>
            </p:nvGrpSpPr>
            <p:grpSpPr>
              <a:xfrm>
                <a:off x="7693819" y="4074319"/>
                <a:ext cx="157163" cy="157163"/>
                <a:chOff x="7693819" y="4074319"/>
                <a:chExt cx="157163" cy="157163"/>
              </a:xfrm>
            </p:grpSpPr>
            <p:sp>
              <p:nvSpPr>
                <p:cNvPr id="147" name="Freeform 147"/>
                <p:cNvSpPr/>
                <p:nvPr/>
              </p:nvSpPr>
              <p:spPr>
                <a:xfrm>
                  <a:off x="7711281" y="4074319"/>
                  <a:ext cx="69850" cy="69850"/>
                </a:xfrm>
                <a:custGeom>
                  <a:avLst/>
                  <a:gdLst/>
                  <a:ahLst/>
                  <a:cxnLst/>
                  <a:rect l="l" t="t" r="r" b="b"/>
                  <a:pathLst>
                    <a:path w="69850" h="69850">
                      <a:moveTo>
                        <a:pt x="0" y="34925"/>
                      </a:moveTo>
                      <a:cubicBezTo>
                        <a:pt x="0" y="54214"/>
                        <a:pt x="15636" y="69850"/>
                        <a:pt x="34925" y="69850"/>
                      </a:cubicBezTo>
                      <a:cubicBezTo>
                        <a:pt x="54214" y="69850"/>
                        <a:pt x="69850" y="54214"/>
                        <a:pt x="69850" y="34925"/>
                      </a:cubicBezTo>
                      <a:cubicBezTo>
                        <a:pt x="69850" y="15636"/>
                        <a:pt x="54214" y="0"/>
                        <a:pt x="34925" y="0"/>
                      </a:cubicBezTo>
                      <a:cubicBezTo>
                        <a:pt x="15636" y="0"/>
                        <a:pt x="0" y="15636"/>
                        <a:pt x="0" y="34925"/>
                      </a:cubicBezTo>
                    </a:path>
                  </a:pathLst>
                </a:custGeom>
                <a:noFill/>
                <a:ln w="17463">
                  <a:solidFill>
                    <a:srgbClr val="8B321E"/>
                  </a:solidFill>
                </a:ln>
              </p:spPr>
            </p:sp>
            <p:sp>
              <p:nvSpPr>
                <p:cNvPr id="148" name="Freeform 148"/>
                <p:cNvSpPr/>
                <p:nvPr/>
              </p:nvSpPr>
              <p:spPr>
                <a:xfrm>
                  <a:off x="7693819" y="4179094"/>
                  <a:ext cx="104775" cy="52388"/>
                </a:xfrm>
                <a:custGeom>
                  <a:avLst/>
                  <a:gdLst/>
                  <a:ahLst/>
                  <a:cxnLst/>
                  <a:rect l="l" t="t" r="r" b="b"/>
                  <a:pathLst>
                    <a:path w="104775" h="52388">
                      <a:moveTo>
                        <a:pt x="0" y="52388"/>
                      </a:moveTo>
                      <a:lnTo>
                        <a:pt x="0" y="34925"/>
                      </a:lnTo>
                      <a:cubicBezTo>
                        <a:pt x="0" y="15636"/>
                        <a:pt x="15636" y="0"/>
                        <a:pt x="34925" y="0"/>
                      </a:cubicBezTo>
                      <a:lnTo>
                        <a:pt x="69850" y="0"/>
                      </a:lnTo>
                      <a:cubicBezTo>
                        <a:pt x="89139" y="0"/>
                        <a:pt x="104775" y="15636"/>
                        <a:pt x="104775" y="34925"/>
                      </a:cubicBezTo>
                      <a:lnTo>
                        <a:pt x="104775" y="52388"/>
                      </a:lnTo>
                    </a:path>
                  </a:pathLst>
                </a:custGeom>
                <a:noFill/>
                <a:ln w="17463">
                  <a:solidFill>
                    <a:srgbClr val="8B321E"/>
                  </a:solidFill>
                </a:ln>
              </p:spPr>
            </p:sp>
            <p:sp>
              <p:nvSpPr>
                <p:cNvPr id="149" name="Freeform 149"/>
                <p:cNvSpPr/>
                <p:nvPr/>
              </p:nvSpPr>
              <p:spPr>
                <a:xfrm>
                  <a:off x="7807325" y="4075454"/>
                  <a:ext cx="26262" cy="67667"/>
                </a:xfrm>
                <a:custGeom>
                  <a:avLst/>
                  <a:gdLst/>
                  <a:ahLst/>
                  <a:cxnLst/>
                  <a:rect l="l" t="t" r="r" b="b"/>
                  <a:pathLst>
                    <a:path w="26262" h="67667">
                      <a:moveTo>
                        <a:pt x="0" y="0"/>
                      </a:moveTo>
                      <a:cubicBezTo>
                        <a:pt x="15454" y="3957"/>
                        <a:pt x="26262" y="17882"/>
                        <a:pt x="26262" y="33834"/>
                      </a:cubicBezTo>
                      <a:cubicBezTo>
                        <a:pt x="26262" y="49786"/>
                        <a:pt x="15454" y="63710"/>
                        <a:pt x="0" y="67667"/>
                      </a:cubicBezTo>
                    </a:path>
                  </a:pathLst>
                </a:custGeom>
                <a:noFill/>
                <a:ln w="17463">
                  <a:solidFill>
                    <a:srgbClr val="8B321E"/>
                  </a:solidFill>
                </a:ln>
              </p:spPr>
            </p:sp>
            <p:sp>
              <p:nvSpPr>
                <p:cNvPr id="150" name="Freeform 150"/>
                <p:cNvSpPr/>
                <p:nvPr/>
              </p:nvSpPr>
              <p:spPr>
                <a:xfrm>
                  <a:off x="7824788" y="4180403"/>
                  <a:ext cx="26194" cy="51078"/>
                </a:xfrm>
                <a:custGeom>
                  <a:avLst/>
                  <a:gdLst/>
                  <a:ahLst/>
                  <a:cxnLst/>
                  <a:rect l="l" t="t" r="r" b="b"/>
                  <a:pathLst>
                    <a:path w="26194" h="51078">
                      <a:moveTo>
                        <a:pt x="26194" y="51078"/>
                      </a:moveTo>
                      <a:lnTo>
                        <a:pt x="26194" y="33615"/>
                      </a:lnTo>
                      <a:cubicBezTo>
                        <a:pt x="26103" y="17764"/>
                        <a:pt x="15348" y="3963"/>
                        <a:pt x="0" y="0"/>
                      </a:cubicBezTo>
                    </a:path>
                  </a:pathLst>
                </a:custGeom>
                <a:noFill/>
                <a:ln w="17463">
                  <a:solidFill>
                    <a:srgbClr val="8B321E"/>
                  </a:solidFill>
                </a:ln>
              </p:spPr>
            </p:sp>
          </p:grpSp>
          <p:sp>
            <p:nvSpPr>
              <p:cNvPr id="152" name="TextBox 152"/>
              <p:cNvSpPr txBox="1"/>
              <p:nvPr/>
            </p:nvSpPr>
            <p:spPr>
              <a:xfrm>
                <a:off x="8109585" y="395525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资源保障</a:t>
                </a:r>
              </a:p>
            </p:txBody>
          </p:sp>
          <p:sp>
            <p:nvSpPr>
              <p:cNvPr id="153" name="TextBox 153"/>
              <p:cNvSpPr txBox="1"/>
              <p:nvPr/>
            </p:nvSpPr>
            <p:spPr>
              <a:xfrm>
                <a:off x="8110538" y="4193143"/>
                <a:ext cx="1167257" cy="169069"/>
              </a:xfrm>
              <a:prstGeom prst="rect">
                <a:avLst/>
              </a:prstGeom>
              <a:noFill/>
              <a:ln>
                <a:noFill/>
              </a:ln>
            </p:spPr>
            <p:txBody>
              <a:bodyPr wrap="none" lIns="0" tIns="0" rIns="0" bIns="0" anchor="t" anchorCtr="0">
                <a:spAutoFit/>
              </a:bodyPr>
              <a:lstStyle/>
              <a:p>
                <a:pPr algn="l"/>
                <a:r>
                  <a:rPr lang="zh-CN" sz="860" dirty="0">
                    <a:solidFill>
                      <a:srgbClr val="6A6A6A"/>
                    </a:solidFill>
                    <a:latin typeface="+mn-lt"/>
                    <a:ea typeface="+mn-ea"/>
                    <a:cs typeface="+mn-cs"/>
                  </a:rPr>
                  <a:t>确保资源匹配关键动作</a:t>
                </a:r>
              </a:p>
            </p:txBody>
          </p:sp>
          <p:sp>
            <p:nvSpPr>
              <p:cNvPr id="154" name="TextBox 154"/>
              <p:cNvSpPr txBox="1"/>
              <p:nvPr/>
            </p:nvSpPr>
            <p:spPr>
              <a:xfrm>
                <a:off x="11139571" y="4037648"/>
                <a:ext cx="681335" cy="381381"/>
              </a:xfrm>
              <a:prstGeom prst="rect">
                <a:avLst/>
              </a:prstGeom>
              <a:noFill/>
              <a:ln>
                <a:noFill/>
              </a:ln>
            </p:spPr>
            <p:txBody>
              <a:bodyPr wrap="none" lIns="0" tIns="0" rIns="0" bIns="0" anchor="t" anchorCtr="0">
                <a:spAutoFit/>
              </a:bodyPr>
              <a:lstStyle/>
              <a:p>
                <a:pPr algn="r"/>
                <a:r>
                  <a:rPr lang="zh-CN" sz="1950" b="1" dirty="0">
                    <a:solidFill>
                      <a:srgbClr val="C97263"/>
                    </a:solidFill>
                    <a:latin typeface="+mn-lt"/>
                    <a:ea typeface="+mn-ea"/>
                    <a:cs typeface="+mn-cs"/>
                  </a:rPr>
                  <a:t>90%+</a:t>
                </a:r>
              </a:p>
            </p:txBody>
          </p:sp>
          <p:sp>
            <p:nvSpPr>
              <p:cNvPr id="155" name="Line 155"/>
              <p:cNvSpPr/>
              <p:nvPr/>
            </p:nvSpPr>
            <p:spPr>
              <a:xfrm>
                <a:off x="7524750" y="4686300"/>
                <a:ext cx="4286250" cy="9525"/>
              </a:xfrm>
              <a:custGeom>
                <a:avLst/>
                <a:gdLst/>
                <a:ahLst/>
                <a:cxnLst/>
                <a:rect l="l" t="t" r="r" b="b"/>
                <a:pathLst>
                  <a:path w="4286250" h="9525">
                    <a:moveTo>
                      <a:pt x="0" y="0"/>
                    </a:moveTo>
                    <a:lnTo>
                      <a:pt x="4286250" y="0"/>
                    </a:lnTo>
                  </a:path>
                </a:pathLst>
              </a:custGeom>
              <a:noFill/>
              <a:ln w="9525">
                <a:solidFill>
                  <a:srgbClr val="EEEAE6"/>
                </a:solidFill>
              </a:ln>
            </p:spPr>
          </p:sp>
        </p:grpSp>
        <p:grpSp>
          <p:nvGrpSpPr>
            <p:cNvPr id="164" name="value-4"/>
            <p:cNvGrpSpPr/>
            <p:nvPr/>
          </p:nvGrpSpPr>
          <p:grpSpPr>
            <a:xfrm>
              <a:off x="7572375" y="5172075"/>
              <a:ext cx="4248531" cy="466154"/>
              <a:chOff x="7572375" y="5172075"/>
              <a:chExt cx="4248531" cy="466154"/>
            </a:xfrm>
          </p:grpSpPr>
          <p:sp>
            <p:nvSpPr>
              <p:cNvPr id="157" name="Ellipse 157"/>
              <p:cNvSpPr/>
              <p:nvPr/>
            </p:nvSpPr>
            <p:spPr>
              <a:xfrm>
                <a:off x="7572375" y="5172075"/>
                <a:ext cx="400050" cy="400050"/>
              </a:xfrm>
              <a:prstGeom prst="ellipse">
                <a:avLst/>
              </a:prstGeom>
              <a:solidFill>
                <a:srgbClr val="FFFFFF"/>
              </a:solidFill>
              <a:ln w="19050">
                <a:solidFill>
                  <a:srgbClr val="8B321E"/>
                </a:solidFill>
              </a:ln>
            </p:spPr>
          </p:sp>
          <p:grpSp>
            <p:nvGrpSpPr>
              <p:cNvPr id="160" name="Group 160"/>
              <p:cNvGrpSpPr/>
              <p:nvPr/>
            </p:nvGrpSpPr>
            <p:grpSpPr>
              <a:xfrm>
                <a:off x="7682035" y="5293519"/>
                <a:ext cx="170506" cy="157162"/>
                <a:chOff x="7682035" y="5293519"/>
                <a:chExt cx="170506" cy="157162"/>
              </a:xfrm>
            </p:grpSpPr>
            <p:sp>
              <p:nvSpPr>
                <p:cNvPr id="158" name="Freeform 158"/>
                <p:cNvSpPr/>
                <p:nvPr/>
              </p:nvSpPr>
              <p:spPr>
                <a:xfrm>
                  <a:off x="7682035" y="5293519"/>
                  <a:ext cx="170506" cy="155818"/>
                </a:xfrm>
                <a:custGeom>
                  <a:avLst/>
                  <a:gdLst/>
                  <a:ahLst/>
                  <a:cxnLst/>
                  <a:rect l="l" t="t" r="r" b="b"/>
                  <a:pathLst>
                    <a:path w="170506" h="155818">
                      <a:moveTo>
                        <a:pt x="85650" y="155818"/>
                      </a:moveTo>
                      <a:cubicBezTo>
                        <a:pt x="30952" y="138863"/>
                        <a:pt x="0" y="81134"/>
                        <a:pt x="16149" y="26194"/>
                      </a:cubicBezTo>
                      <a:cubicBezTo>
                        <a:pt x="43351" y="27439"/>
                        <a:pt x="69970" y="18044"/>
                        <a:pt x="90365" y="0"/>
                      </a:cubicBezTo>
                      <a:cubicBezTo>
                        <a:pt x="110759" y="18044"/>
                        <a:pt x="137378" y="27439"/>
                        <a:pt x="164580" y="26194"/>
                      </a:cubicBezTo>
                      <a:cubicBezTo>
                        <a:pt x="170506" y="46355"/>
                        <a:pt x="170232" y="67833"/>
                        <a:pt x="163794" y="87836"/>
                      </a:cubicBezTo>
                    </a:path>
                  </a:pathLst>
                </a:custGeom>
                <a:noFill/>
                <a:ln w="17463">
                  <a:solidFill>
                    <a:srgbClr val="8B321E"/>
                  </a:solidFill>
                </a:ln>
              </p:spPr>
            </p:sp>
            <p:sp>
              <p:nvSpPr>
                <p:cNvPr id="159" name="Freeform 159"/>
                <p:cNvSpPr/>
                <p:nvPr/>
              </p:nvSpPr>
              <p:spPr>
                <a:xfrm>
                  <a:off x="7798594" y="5415756"/>
                  <a:ext cx="52388" cy="34925"/>
                </a:xfrm>
                <a:custGeom>
                  <a:avLst/>
                  <a:gdLst/>
                  <a:ahLst/>
                  <a:cxnLst/>
                  <a:rect l="l" t="t" r="r" b="b"/>
                  <a:pathLst>
                    <a:path w="52388" h="34925">
                      <a:moveTo>
                        <a:pt x="0" y="17463"/>
                      </a:moveTo>
                      <a:lnTo>
                        <a:pt x="17463" y="34925"/>
                      </a:lnTo>
                      <a:lnTo>
                        <a:pt x="52388" y="0"/>
                      </a:lnTo>
                    </a:path>
                  </a:pathLst>
                </a:custGeom>
                <a:noFill/>
                <a:ln w="17463">
                  <a:solidFill>
                    <a:srgbClr val="8B321E"/>
                  </a:solidFill>
                </a:ln>
              </p:spPr>
            </p:sp>
          </p:grpSp>
          <p:sp>
            <p:nvSpPr>
              <p:cNvPr id="161" name="TextBox 161"/>
              <p:cNvSpPr txBox="1"/>
              <p:nvPr/>
            </p:nvSpPr>
            <p:spPr>
              <a:xfrm>
                <a:off x="8109585" y="5174456"/>
                <a:ext cx="61452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mn-lt"/>
                    <a:ea typeface="+mn-ea"/>
                    <a:cs typeface="+mn-cs"/>
                  </a:rPr>
                  <a:t>风险可控</a:t>
                </a:r>
              </a:p>
            </p:txBody>
          </p:sp>
          <p:sp>
            <p:nvSpPr>
              <p:cNvPr id="162" name="TextBox 162"/>
              <p:cNvSpPr txBox="1"/>
              <p:nvPr/>
            </p:nvSpPr>
            <p:spPr>
              <a:xfrm>
                <a:off x="8110538" y="5412343"/>
                <a:ext cx="1514577" cy="169069"/>
              </a:xfrm>
              <a:prstGeom prst="rect">
                <a:avLst/>
              </a:prstGeom>
              <a:noFill/>
              <a:ln>
                <a:noFill/>
              </a:ln>
            </p:spPr>
            <p:txBody>
              <a:bodyPr wrap="none" lIns="0" tIns="0" rIns="0" bIns="0" anchor="t" anchorCtr="0">
                <a:spAutoFit/>
              </a:bodyPr>
              <a:lstStyle/>
              <a:p>
                <a:pPr algn="l"/>
                <a:r>
                  <a:rPr lang="zh-CN" sz="860" dirty="0">
                    <a:solidFill>
                      <a:srgbClr val="6A6A6A"/>
                    </a:solidFill>
                    <a:latin typeface="+mn-lt"/>
                    <a:ea typeface="+mn-ea"/>
                    <a:cs typeface="+mn-cs"/>
                  </a:rPr>
                  <a:t>提前识别风险，制定应对预案</a:t>
                </a:r>
              </a:p>
            </p:txBody>
          </p:sp>
          <p:sp>
            <p:nvSpPr>
              <p:cNvPr id="163" name="TextBox 163"/>
              <p:cNvSpPr txBox="1"/>
              <p:nvPr/>
            </p:nvSpPr>
            <p:spPr>
              <a:xfrm>
                <a:off x="11139571" y="5256848"/>
                <a:ext cx="681335" cy="381381"/>
              </a:xfrm>
              <a:prstGeom prst="rect">
                <a:avLst/>
              </a:prstGeom>
              <a:noFill/>
              <a:ln>
                <a:noFill/>
              </a:ln>
            </p:spPr>
            <p:txBody>
              <a:bodyPr wrap="none" lIns="0" tIns="0" rIns="0" bIns="0" anchor="t" anchorCtr="0">
                <a:spAutoFit/>
              </a:bodyPr>
              <a:lstStyle/>
              <a:p>
                <a:pPr algn="r"/>
                <a:r>
                  <a:rPr lang="zh-CN" sz="1950" b="1" dirty="0">
                    <a:solidFill>
                      <a:srgbClr val="C97263"/>
                    </a:solidFill>
                    <a:latin typeface="+mn-lt"/>
                    <a:ea typeface="+mn-ea"/>
                    <a:cs typeface="+mn-cs"/>
                  </a:rPr>
                  <a:t>70%+</a:t>
                </a:r>
              </a:p>
            </p:txBody>
          </p:sp>
        </p:grpSp>
      </p:grpSp>
      <p:sp>
        <p:nvSpPr>
          <p:cNvPr id="166" name="TextBox 166"/>
          <p:cNvSpPr txBox="1"/>
          <p:nvPr/>
        </p:nvSpPr>
        <p:spPr>
          <a:xfrm>
            <a:off x="11620383" y="6565106"/>
            <a:ext cx="177282" cy="220028"/>
          </a:xfrm>
          <a:prstGeom prst="rect">
            <a:avLst/>
          </a:prstGeom>
          <a:noFill/>
          <a:ln>
            <a:noFill/>
          </a:ln>
        </p:spPr>
        <p:txBody>
          <a:bodyPr wrap="none" lIns="0" tIns="0" rIns="0" bIns="0" anchor="t" anchorCtr="0">
            <a:spAutoFit/>
          </a:bodyPr>
          <a:lstStyle/>
          <a:p>
            <a:pPr algn="r"/>
            <a:r>
              <a:rPr lang="zh-CN" sz="1120" dirty="0">
                <a:solidFill>
                  <a:srgbClr val="8A8A8A"/>
                </a:solidFill>
                <a:latin typeface="+mn-lt"/>
                <a:ea typeface="+mn-ea"/>
                <a:cs typeface="+mn-cs"/>
              </a:rPr>
              <a:t>07</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page-title"/>
          <p:cNvGrpSpPr/>
          <p:nvPr/>
        </p:nvGrpSpPr>
        <p:grpSpPr>
          <a:xfrm>
            <a:off x="367284" y="222885"/>
            <a:ext cx="8696407" cy="528066"/>
            <a:chOff x="367284" y="222885"/>
            <a:chExt cx="8696407" cy="528066"/>
          </a:xfrm>
        </p:grpSpPr>
        <p:sp>
          <p:nvSpPr>
            <p:cNvPr id="2" name="TextBox 2"/>
            <p:cNvSpPr txBox="1"/>
            <p:nvPr/>
          </p:nvSpPr>
          <p:spPr>
            <a:xfrm>
              <a:off x="367284" y="222885"/>
              <a:ext cx="8696407" cy="528066"/>
            </a:xfrm>
            <a:prstGeom prst="rect">
              <a:avLst/>
            </a:prstGeom>
            <a:noFill/>
            <a:ln>
              <a:noFill/>
            </a:ln>
          </p:spPr>
          <p:txBody>
            <a:bodyPr wrap="none" lIns="0" tIns="0" rIns="0" bIns="0" anchor="t" anchorCtr="0">
              <a:spAutoFit/>
            </a:bodyPr>
            <a:lstStyle/>
            <a:p>
              <a:pPr algn="l"/>
              <a:r>
                <a:rPr lang="zh-CN" sz="2700" b="1" dirty="0">
                  <a:solidFill>
                    <a:srgbClr val="1A1A1A"/>
                  </a:solidFill>
                  <a:latin typeface="+mn-lt"/>
                  <a:ea typeface="+mn-ea"/>
                  <a:cs typeface="+mn-cs"/>
                </a:rPr>
                <a:t>TOP10客户的年度作战图模板：一页纸看清全年打法​</a:t>
              </a:r>
            </a:p>
          </p:txBody>
        </p:sp>
      </p:grpSp>
      <p:grpSp>
        <p:nvGrpSpPr>
          <p:cNvPr id="11" name="core-strip"/>
          <p:cNvGrpSpPr/>
          <p:nvPr/>
        </p:nvGrpSpPr>
        <p:grpSpPr>
          <a:xfrm>
            <a:off x="381000" y="704850"/>
            <a:ext cx="11430000" cy="361950"/>
            <a:chOff x="381000" y="704850"/>
            <a:chExt cx="11430000" cy="361950"/>
          </a:xfrm>
        </p:grpSpPr>
        <p:sp>
          <p:nvSpPr>
            <p:cNvPr id="4" name="Rectangle 4"/>
            <p:cNvSpPr/>
            <p:nvPr/>
          </p:nvSpPr>
          <p:spPr>
            <a:xfrm>
              <a:off x="381000" y="704850"/>
              <a:ext cx="11430000" cy="361950"/>
            </a:xfrm>
            <a:prstGeom prst="roundRect">
              <a:avLst>
                <a:gd name="adj" fmla="val 15789"/>
              </a:avLst>
            </a:prstGeom>
            <a:solidFill>
              <a:srgbClr val="FFFFFF"/>
            </a:solidFill>
            <a:ln w="14288">
              <a:solidFill>
                <a:srgbClr val="D8C2C2"/>
              </a:solidFill>
            </a:ln>
          </p:spPr>
          <p:txBody>
            <a:bodyPr/>
            <a:p/>
          </p:txBody>
        </p:sp>
        <p:sp>
          <p:nvSpPr>
            <p:cNvPr id="5" name="Ellipse 5"/>
            <p:cNvSpPr/>
            <p:nvPr/>
          </p:nvSpPr>
          <p:spPr>
            <a:xfrm>
              <a:off x="552450" y="733425"/>
              <a:ext cx="304800" cy="304800"/>
            </a:xfrm>
            <a:prstGeom prst="ellipse">
              <a:avLst/>
            </a:prstGeom>
            <a:solidFill>
              <a:srgbClr val="8B321E"/>
            </a:solidFill>
            <a:ln>
              <a:noFill/>
            </a:ln>
          </p:spPr>
          <p:txBody>
            <a:bodyPr/>
            <a:p/>
          </p:txBody>
        </p:sp>
        <p:grpSp>
          <p:nvGrpSpPr>
            <p:cNvPr id="9" name="Group 9"/>
            <p:cNvGrpSpPr/>
            <p:nvPr/>
          </p:nvGrpSpPr>
          <p:grpSpPr>
            <a:xfrm>
              <a:off x="633412" y="814387"/>
              <a:ext cx="142875" cy="142875"/>
              <a:chOff x="633412" y="814387"/>
              <a:chExt cx="142875" cy="142875"/>
            </a:xfrm>
          </p:grpSpPr>
          <p:sp>
            <p:nvSpPr>
              <p:cNvPr id="6" name="Freeform 6"/>
              <p:cNvSpPr/>
              <p:nvPr/>
            </p:nvSpPr>
            <p:spPr>
              <a:xfrm>
                <a:off x="696912" y="87788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txBody>
              <a:bodyPr/>
              <a:p/>
            </p:txBody>
          </p:sp>
          <p:sp>
            <p:nvSpPr>
              <p:cNvPr id="7" name="Freeform 7"/>
              <p:cNvSpPr/>
              <p:nvPr/>
            </p:nvSpPr>
            <p:spPr>
              <a:xfrm>
                <a:off x="665162" y="84613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txBody>
              <a:bodyPr/>
              <a:p/>
            </p:txBody>
          </p:sp>
          <p:sp>
            <p:nvSpPr>
              <p:cNvPr id="8" name="Freeform 8"/>
              <p:cNvSpPr/>
              <p:nvPr/>
            </p:nvSpPr>
            <p:spPr>
              <a:xfrm>
                <a:off x="633412" y="81438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txBody>
              <a:bodyPr/>
              <a:p/>
            </p:txBody>
          </p:sp>
        </p:grpSp>
        <p:sp>
          <p:nvSpPr>
            <p:cNvPr id="10" name="TextBox 10"/>
            <p:cNvSpPr txBox="1"/>
            <p:nvPr/>
          </p:nvSpPr>
          <p:spPr>
            <a:xfrm>
              <a:off x="985076" y="816054"/>
              <a:ext cx="6296830" cy="212693"/>
            </a:xfrm>
            <a:prstGeom prst="rect">
              <a:avLst/>
            </a:prstGeom>
            <a:noFill/>
            <a:ln>
              <a:noFill/>
            </a:ln>
          </p:spPr>
          <p:txBody>
            <a:bodyPr wrap="none" lIns="0" tIns="0" rIns="0" bIns="0" anchor="t" anchorCtr="0">
              <a:spAutoFit/>
            </a:bodyPr>
            <a:lstStyle/>
            <a:p>
              <a:pPr algn="l"/>
              <a:r>
                <a:rPr lang="zh-CN" sz="1090" b="1" dirty="0">
                  <a:solidFill>
                    <a:srgbClr val="8B321E"/>
                  </a:solidFill>
                  <a:latin typeface="+mn-lt"/>
                  <a:ea typeface="+mn-ea"/>
                  <a:cs typeface="+mn-cs"/>
                </a:rPr>
                <a:t>每个TOP客户都应该有一张“一页纸作战图”，让销售总监和CEO一眼看清这个客户的全年打法。​</a:t>
              </a:r>
            </a:p>
          </p:txBody>
        </p:sp>
      </p:grpSp>
      <p:grpSp>
        <p:nvGrpSpPr>
          <p:cNvPr id="36" name="info-bar"/>
          <p:cNvGrpSpPr/>
          <p:nvPr/>
        </p:nvGrpSpPr>
        <p:grpSpPr>
          <a:xfrm>
            <a:off x="381000" y="1162050"/>
            <a:ext cx="11430000" cy="467773"/>
            <a:chOff x="381000" y="1162050"/>
            <a:chExt cx="11430000" cy="467773"/>
          </a:xfrm>
        </p:grpSpPr>
        <p:sp>
          <p:nvSpPr>
            <p:cNvPr id="12" name="Rectangle 12"/>
            <p:cNvSpPr/>
            <p:nvPr/>
          </p:nvSpPr>
          <p:spPr>
            <a:xfrm>
              <a:off x="381000" y="1162050"/>
              <a:ext cx="11430000" cy="400050"/>
            </a:xfrm>
            <a:prstGeom prst="rect">
              <a:avLst/>
            </a:prstGeom>
            <a:solidFill>
              <a:srgbClr val="FFFFFF"/>
            </a:solidFill>
            <a:ln w="14288">
              <a:solidFill>
                <a:srgbClr val="E8E2DE"/>
              </a:solidFill>
            </a:ln>
          </p:spPr>
          <p:txBody>
            <a:bodyPr/>
            <a:p/>
          </p:txBody>
        </p:sp>
        <p:sp>
          <p:nvSpPr>
            <p:cNvPr id="13" name="TextBox 13"/>
            <p:cNvSpPr txBox="1"/>
            <p:nvPr/>
          </p:nvSpPr>
          <p:spPr>
            <a:xfrm>
              <a:off x="604838" y="1218486"/>
              <a:ext cx="391846"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客户名称</a:t>
              </a:r>
            </a:p>
          </p:txBody>
        </p:sp>
        <p:sp>
          <p:nvSpPr>
            <p:cNvPr id="14" name="TextBox 14"/>
            <p:cNvSpPr txBox="1"/>
            <p:nvPr/>
          </p:nvSpPr>
          <p:spPr>
            <a:xfrm>
              <a:off x="603504" y="1365885"/>
              <a:ext cx="77201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XX集团</a:t>
              </a:r>
            </a:p>
          </p:txBody>
        </p:sp>
        <p:sp>
          <p:nvSpPr>
            <p:cNvPr id="15" name="Line 15"/>
            <p:cNvSpPr/>
            <p:nvPr/>
          </p:nvSpPr>
          <p:spPr>
            <a:xfrm>
              <a:off x="2047875" y="1238250"/>
              <a:ext cx="9525" cy="247650"/>
            </a:xfrm>
            <a:custGeom>
              <a:avLst/>
              <a:gdLst/>
              <a:ahLst/>
              <a:cxnLst/>
              <a:rect l="l" t="t" r="r" b="b"/>
              <a:pathLst>
                <a:path w="9525" h="247650">
                  <a:moveTo>
                    <a:pt x="0" y="0"/>
                  </a:moveTo>
                  <a:lnTo>
                    <a:pt x="0" y="247650"/>
                  </a:lnTo>
                </a:path>
              </a:pathLst>
            </a:custGeom>
            <a:noFill/>
            <a:ln w="9525">
              <a:solidFill>
                <a:srgbClr val="E0DAD5"/>
              </a:solidFill>
            </a:ln>
          </p:spPr>
          <p:txBody>
            <a:bodyPr/>
            <a:p/>
          </p:txBody>
        </p:sp>
        <p:sp>
          <p:nvSpPr>
            <p:cNvPr id="16" name="TextBox 16"/>
            <p:cNvSpPr txBox="1"/>
            <p:nvPr/>
          </p:nvSpPr>
          <p:spPr>
            <a:xfrm>
              <a:off x="2233612" y="1218486"/>
              <a:ext cx="391846"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客户评级</a:t>
              </a:r>
            </a:p>
          </p:txBody>
        </p:sp>
        <p:grpSp>
          <p:nvGrpSpPr>
            <p:cNvPr id="19" name="Group 19"/>
            <p:cNvGrpSpPr/>
            <p:nvPr/>
          </p:nvGrpSpPr>
          <p:grpSpPr>
            <a:xfrm>
              <a:off x="2253755" y="1379934"/>
              <a:ext cx="112115" cy="107156"/>
              <a:chOff x="2253755" y="1379934"/>
              <a:chExt cx="112115" cy="107156"/>
            </a:xfrm>
          </p:grpSpPr>
          <p:sp>
            <p:nvSpPr>
              <p:cNvPr id="17" name="Freeform 17"/>
              <p:cNvSpPr/>
              <p:nvPr/>
            </p:nvSpPr>
            <p:spPr>
              <a:xfrm>
                <a:off x="2253755" y="1379934"/>
                <a:ext cx="112115" cy="107156"/>
              </a:xfrm>
              <a:custGeom>
                <a:avLst/>
                <a:gdLst/>
                <a:ahLst/>
                <a:cxnLst/>
                <a:rect l="l" t="t" r="r" b="b"/>
                <a:pathLst>
                  <a:path w="112115" h="107156">
                    <a:moveTo>
                      <a:pt x="56057" y="0"/>
                    </a:moveTo>
                    <a:cubicBezTo>
                      <a:pt x="69963" y="12303"/>
                      <a:pt x="88112" y="18708"/>
                      <a:pt x="106659" y="17859"/>
                    </a:cubicBezTo>
                    <a:cubicBezTo>
                      <a:pt x="112115" y="36418"/>
                      <a:pt x="109811" y="56397"/>
                      <a:pt x="100274" y="73227"/>
                    </a:cubicBezTo>
                    <a:cubicBezTo>
                      <a:pt x="90737" y="90057"/>
                      <a:pt x="74782" y="102299"/>
                      <a:pt x="56057" y="107156"/>
                    </a:cubicBezTo>
                    <a:cubicBezTo>
                      <a:pt x="37333" y="102299"/>
                      <a:pt x="21378" y="90057"/>
                      <a:pt x="11841" y="73227"/>
                    </a:cubicBezTo>
                    <a:cubicBezTo>
                      <a:pt x="2304" y="56397"/>
                      <a:pt x="0" y="36418"/>
                      <a:pt x="5456" y="17859"/>
                    </a:cubicBezTo>
                    <a:cubicBezTo>
                      <a:pt x="24003" y="18708"/>
                      <a:pt x="42152" y="12303"/>
                      <a:pt x="56057" y="0"/>
                    </a:cubicBezTo>
                  </a:path>
                </a:pathLst>
              </a:custGeom>
              <a:noFill/>
              <a:ln w="11906">
                <a:solidFill>
                  <a:srgbClr val="8B321E"/>
                </a:solidFill>
              </a:ln>
            </p:spPr>
            <p:txBody>
              <a:bodyPr/>
              <a:p/>
            </p:txBody>
          </p:sp>
          <p:sp>
            <p:nvSpPr>
              <p:cNvPr id="18" name="Freeform 18"/>
              <p:cNvSpPr/>
              <p:nvPr/>
            </p:nvSpPr>
            <p:spPr>
              <a:xfrm>
                <a:off x="2309812" y="1379934"/>
                <a:ext cx="9525" cy="107156"/>
              </a:xfrm>
              <a:custGeom>
                <a:avLst/>
                <a:gdLst/>
                <a:ahLst/>
                <a:cxnLst/>
                <a:rect l="l" t="t" r="r" b="b"/>
                <a:pathLst>
                  <a:path w="9525" h="107156">
                    <a:moveTo>
                      <a:pt x="0" y="0"/>
                    </a:moveTo>
                    <a:lnTo>
                      <a:pt x="0" y="107156"/>
                    </a:lnTo>
                  </a:path>
                </a:pathLst>
              </a:custGeom>
              <a:noFill/>
              <a:ln w="11906">
                <a:solidFill>
                  <a:srgbClr val="8B321E"/>
                </a:solidFill>
              </a:ln>
            </p:spPr>
            <p:txBody>
              <a:bodyPr/>
              <a:p/>
            </p:txBody>
          </p:sp>
        </p:grpSp>
        <p:sp>
          <p:nvSpPr>
            <p:cNvPr id="20" name="TextBox 20"/>
            <p:cNvSpPr txBox="1"/>
            <p:nvPr/>
          </p:nvSpPr>
          <p:spPr>
            <a:xfrm>
              <a:off x="2432304" y="1365885"/>
              <a:ext cx="394846" cy="234696"/>
            </a:xfrm>
            <a:prstGeom prst="rect">
              <a:avLst/>
            </a:prstGeom>
            <a:noFill/>
            <a:ln>
              <a:noFill/>
            </a:ln>
          </p:spPr>
          <p:txBody>
            <a:bodyPr wrap="none" lIns="0" tIns="0" rIns="0" bIns="0" anchor="t" anchorCtr="0">
              <a:spAutoFit/>
            </a:bodyPr>
            <a:lstStyle/>
            <a:p>
              <a:pPr algn="l"/>
              <a:r>
                <a:rPr lang="zh-CN" sz="1200" b="1" dirty="0">
                  <a:solidFill>
                    <a:srgbClr val="8B321E"/>
                  </a:solidFill>
                  <a:latin typeface="+mn-lt"/>
                  <a:ea typeface="+mn-ea"/>
                  <a:cs typeface="+mn-cs"/>
                </a:rPr>
                <a:t>S级</a:t>
              </a:r>
            </a:p>
          </p:txBody>
        </p:sp>
        <p:sp>
          <p:nvSpPr>
            <p:cNvPr id="21" name="Line 21"/>
            <p:cNvSpPr/>
            <p:nvPr/>
          </p:nvSpPr>
          <p:spPr>
            <a:xfrm>
              <a:off x="3429000" y="1238250"/>
              <a:ext cx="9525" cy="247650"/>
            </a:xfrm>
            <a:custGeom>
              <a:avLst/>
              <a:gdLst/>
              <a:ahLst/>
              <a:cxnLst/>
              <a:rect l="l" t="t" r="r" b="b"/>
              <a:pathLst>
                <a:path w="9525" h="247650">
                  <a:moveTo>
                    <a:pt x="0" y="0"/>
                  </a:moveTo>
                  <a:lnTo>
                    <a:pt x="0" y="247650"/>
                  </a:lnTo>
                </a:path>
              </a:pathLst>
            </a:custGeom>
            <a:noFill/>
            <a:ln w="9525">
              <a:solidFill>
                <a:srgbClr val="E0DAD5"/>
              </a:solidFill>
            </a:ln>
          </p:spPr>
          <p:txBody>
            <a:bodyPr/>
            <a:p/>
          </p:txBody>
        </p:sp>
        <p:sp>
          <p:nvSpPr>
            <p:cNvPr id="22" name="TextBox 22"/>
            <p:cNvSpPr txBox="1"/>
            <p:nvPr/>
          </p:nvSpPr>
          <p:spPr>
            <a:xfrm>
              <a:off x="3614738" y="1218486"/>
              <a:ext cx="196357" cy="140494"/>
            </a:xfrm>
            <a:prstGeom prst="rect">
              <a:avLst/>
            </a:prstGeom>
            <a:noFill/>
            <a:ln>
              <a:noFill/>
            </a:ln>
          </p:spPr>
          <p:txBody>
            <a:bodyPr wrap="none" lIns="0" tIns="0" rIns="0" bIns="0" anchor="t" anchorCtr="0">
              <a:spAutoFit/>
            </a:bodyPr>
            <a:lstStyle/>
            <a:p>
              <a:pPr algn="l"/>
              <a:r>
                <a:rPr lang="en-US" sz="710" dirty="0">
                  <a:solidFill>
                    <a:srgbClr val="8A8A8A"/>
                  </a:solidFill>
                  <a:latin typeface="+mn-lt"/>
                  <a:ea typeface="+mn-ea"/>
                  <a:cs typeface="+mn-cs"/>
                </a:rPr>
                <a:t>KAM</a:t>
              </a:r>
            </a:p>
          </p:txBody>
        </p:sp>
        <p:sp>
          <p:nvSpPr>
            <p:cNvPr id="23" name="TextBox 23"/>
            <p:cNvSpPr txBox="1"/>
            <p:nvPr/>
          </p:nvSpPr>
          <p:spPr>
            <a:xfrm>
              <a:off x="3613404" y="1365885"/>
              <a:ext cx="48615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张三</a:t>
              </a:r>
            </a:p>
          </p:txBody>
        </p:sp>
        <p:sp>
          <p:nvSpPr>
            <p:cNvPr id="24" name="Line 24"/>
            <p:cNvSpPr/>
            <p:nvPr/>
          </p:nvSpPr>
          <p:spPr>
            <a:xfrm>
              <a:off x="4524375" y="1238250"/>
              <a:ext cx="9525" cy="247650"/>
            </a:xfrm>
            <a:custGeom>
              <a:avLst/>
              <a:gdLst/>
              <a:ahLst/>
              <a:cxnLst/>
              <a:rect l="l" t="t" r="r" b="b"/>
              <a:pathLst>
                <a:path w="9525" h="247650">
                  <a:moveTo>
                    <a:pt x="0" y="0"/>
                  </a:moveTo>
                  <a:lnTo>
                    <a:pt x="0" y="247650"/>
                  </a:lnTo>
                </a:path>
              </a:pathLst>
            </a:custGeom>
            <a:noFill/>
            <a:ln w="9525">
              <a:solidFill>
                <a:srgbClr val="E0DAD5"/>
              </a:solidFill>
            </a:ln>
          </p:spPr>
          <p:txBody>
            <a:bodyPr/>
            <a:p/>
          </p:txBody>
        </p:sp>
        <p:sp>
          <p:nvSpPr>
            <p:cNvPr id="25" name="TextBox 25"/>
            <p:cNvSpPr txBox="1"/>
            <p:nvPr/>
          </p:nvSpPr>
          <p:spPr>
            <a:xfrm>
              <a:off x="4710112" y="1218486"/>
              <a:ext cx="391846"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年度目标</a:t>
              </a:r>
            </a:p>
          </p:txBody>
        </p:sp>
        <p:sp>
          <p:nvSpPr>
            <p:cNvPr id="26" name="TextBox 26"/>
            <p:cNvSpPr txBox="1"/>
            <p:nvPr/>
          </p:nvSpPr>
          <p:spPr>
            <a:xfrm>
              <a:off x="4707636" y="1351121"/>
              <a:ext cx="1570706" cy="278702"/>
            </a:xfrm>
            <a:prstGeom prst="rect">
              <a:avLst/>
            </a:prstGeom>
            <a:noFill/>
            <a:ln>
              <a:noFill/>
            </a:ln>
          </p:spPr>
          <p:txBody>
            <a:bodyPr wrap="none" lIns="0" tIns="0" rIns="0" bIns="0" anchor="t" anchorCtr="0">
              <a:spAutoFit/>
            </a:bodyPr>
            <a:lstStyle/>
            <a:p>
              <a:pPr algn="l"/>
              <a:r>
                <a:rPr lang="zh-CN" sz="1420" b="1" dirty="0">
                  <a:solidFill>
                    <a:srgbClr val="C97263"/>
                  </a:solidFill>
                  <a:latin typeface="+mn-lt"/>
                  <a:ea typeface="+mn-ea"/>
                  <a:cs typeface="+mn-cs"/>
                </a:rPr>
                <a:t>800万</a:t>
              </a:r>
              <a:r>
                <a:rPr lang="zh-CN" sz="820" dirty="0">
                  <a:solidFill>
                    <a:srgbClr val="C97263"/>
                  </a:solidFill>
                  <a:latin typeface="+mn-lt"/>
                  <a:ea typeface="+mn-ea"/>
                  <a:cs typeface="+mn-cs"/>
                </a:rPr>
                <a:t>（+25%）​</a:t>
              </a:r>
            </a:p>
          </p:txBody>
        </p:sp>
        <p:sp>
          <p:nvSpPr>
            <p:cNvPr id="27" name="Line 27"/>
            <p:cNvSpPr/>
            <p:nvPr/>
          </p:nvSpPr>
          <p:spPr>
            <a:xfrm>
              <a:off x="6524625" y="1238250"/>
              <a:ext cx="9525" cy="247650"/>
            </a:xfrm>
            <a:custGeom>
              <a:avLst/>
              <a:gdLst/>
              <a:ahLst/>
              <a:cxnLst/>
              <a:rect l="l" t="t" r="r" b="b"/>
              <a:pathLst>
                <a:path w="9525" h="247650">
                  <a:moveTo>
                    <a:pt x="0" y="0"/>
                  </a:moveTo>
                  <a:lnTo>
                    <a:pt x="0" y="247650"/>
                  </a:lnTo>
                </a:path>
              </a:pathLst>
            </a:custGeom>
            <a:noFill/>
            <a:ln w="9525">
              <a:solidFill>
                <a:srgbClr val="E0DAD5"/>
              </a:solidFill>
            </a:ln>
          </p:spPr>
          <p:txBody>
            <a:bodyPr/>
            <a:p/>
          </p:txBody>
        </p:sp>
        <p:sp>
          <p:nvSpPr>
            <p:cNvPr id="28" name="TextBox 28"/>
            <p:cNvSpPr txBox="1"/>
            <p:nvPr/>
          </p:nvSpPr>
          <p:spPr>
            <a:xfrm>
              <a:off x="6710362" y="1218486"/>
              <a:ext cx="391846"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当前份额</a:t>
              </a:r>
            </a:p>
          </p:txBody>
        </p:sp>
        <p:sp>
          <p:nvSpPr>
            <p:cNvPr id="29" name="TextBox 29"/>
            <p:cNvSpPr txBox="1"/>
            <p:nvPr/>
          </p:nvSpPr>
          <p:spPr>
            <a:xfrm>
              <a:off x="6709029" y="1365885"/>
              <a:ext cx="1359672"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35%</a:t>
              </a:r>
              <a:r>
                <a:rPr lang="zh-CN" sz="710" dirty="0">
                  <a:solidFill>
                    <a:srgbClr val="8A8A8A"/>
                  </a:solidFill>
                  <a:latin typeface="+mn-lt"/>
                  <a:ea typeface="+mn-ea"/>
                  <a:cs typeface="+mn-cs"/>
                </a:rPr>
                <a:t>（目标50%）​</a:t>
              </a:r>
            </a:p>
          </p:txBody>
        </p:sp>
        <p:sp>
          <p:nvSpPr>
            <p:cNvPr id="30" name="Line 30"/>
            <p:cNvSpPr/>
            <p:nvPr/>
          </p:nvSpPr>
          <p:spPr>
            <a:xfrm>
              <a:off x="8620125" y="1238250"/>
              <a:ext cx="9525" cy="247650"/>
            </a:xfrm>
            <a:custGeom>
              <a:avLst/>
              <a:gdLst/>
              <a:ahLst/>
              <a:cxnLst/>
              <a:rect l="l" t="t" r="r" b="b"/>
              <a:pathLst>
                <a:path w="9525" h="247650">
                  <a:moveTo>
                    <a:pt x="0" y="0"/>
                  </a:moveTo>
                  <a:lnTo>
                    <a:pt x="0" y="247650"/>
                  </a:lnTo>
                </a:path>
              </a:pathLst>
            </a:custGeom>
            <a:noFill/>
            <a:ln w="9525">
              <a:solidFill>
                <a:srgbClr val="E0DAD5"/>
              </a:solidFill>
            </a:ln>
          </p:spPr>
          <p:txBody>
            <a:bodyPr/>
            <a:p/>
          </p:txBody>
        </p:sp>
        <p:sp>
          <p:nvSpPr>
            <p:cNvPr id="31" name="TextBox 31"/>
            <p:cNvSpPr txBox="1"/>
            <p:nvPr/>
          </p:nvSpPr>
          <p:spPr>
            <a:xfrm>
              <a:off x="8805862" y="1218486"/>
              <a:ext cx="391846"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竞争对手</a:t>
              </a:r>
            </a:p>
          </p:txBody>
        </p:sp>
        <p:sp>
          <p:nvSpPr>
            <p:cNvPr id="32" name="TextBox 32"/>
            <p:cNvSpPr txBox="1"/>
            <p:nvPr/>
          </p:nvSpPr>
          <p:spPr>
            <a:xfrm>
              <a:off x="8804529" y="1365885"/>
              <a:ext cx="77201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mn-lt"/>
                  <a:ea typeface="+mn-ea"/>
                  <a:cs typeface="+mn-cs"/>
                </a:rPr>
                <a:t>XX公司</a:t>
              </a:r>
            </a:p>
          </p:txBody>
        </p:sp>
        <p:sp>
          <p:nvSpPr>
            <p:cNvPr id="33" name="Line 33"/>
            <p:cNvSpPr/>
            <p:nvPr/>
          </p:nvSpPr>
          <p:spPr>
            <a:xfrm>
              <a:off x="10620375" y="1238250"/>
              <a:ext cx="9525" cy="247650"/>
            </a:xfrm>
            <a:custGeom>
              <a:avLst/>
              <a:gdLst/>
              <a:ahLst/>
              <a:cxnLst/>
              <a:rect l="l" t="t" r="r" b="b"/>
              <a:pathLst>
                <a:path w="9525" h="247650">
                  <a:moveTo>
                    <a:pt x="0" y="0"/>
                  </a:moveTo>
                  <a:lnTo>
                    <a:pt x="0" y="247650"/>
                  </a:lnTo>
                </a:path>
              </a:pathLst>
            </a:custGeom>
            <a:noFill/>
            <a:ln w="9525">
              <a:solidFill>
                <a:srgbClr val="E0DAD5"/>
              </a:solidFill>
            </a:ln>
          </p:spPr>
          <p:txBody>
            <a:bodyPr/>
            <a:p/>
          </p:txBody>
        </p:sp>
        <p:sp>
          <p:nvSpPr>
            <p:cNvPr id="34" name="TextBox 34"/>
            <p:cNvSpPr txBox="1"/>
            <p:nvPr/>
          </p:nvSpPr>
          <p:spPr>
            <a:xfrm>
              <a:off x="10806112" y="1218486"/>
              <a:ext cx="200685" cy="140494"/>
            </a:xfrm>
            <a:prstGeom prst="rect">
              <a:avLst/>
            </a:prstGeom>
            <a:noFill/>
            <a:ln>
              <a:noFill/>
            </a:ln>
          </p:spPr>
          <p:txBody>
            <a:bodyPr wrap="none" lIns="0" tIns="0" rIns="0" bIns="0" anchor="t" anchorCtr="0">
              <a:spAutoFit/>
            </a:bodyPr>
            <a:lstStyle/>
            <a:p>
              <a:pPr algn="l"/>
              <a:r>
                <a:rPr lang="zh-CN" sz="710" dirty="0">
                  <a:solidFill>
                    <a:srgbClr val="8A8A8A"/>
                  </a:solidFill>
                  <a:latin typeface="+mn-lt"/>
                  <a:ea typeface="+mn-ea"/>
                  <a:cs typeface="+mn-cs"/>
                </a:rPr>
                <a:t>份额</a:t>
              </a:r>
            </a:p>
          </p:txBody>
        </p:sp>
        <p:sp>
          <p:nvSpPr>
            <p:cNvPr id="35" name="TextBox 35"/>
            <p:cNvSpPr txBox="1"/>
            <p:nvPr/>
          </p:nvSpPr>
          <p:spPr>
            <a:xfrm>
              <a:off x="10804779" y="1365885"/>
              <a:ext cx="472686" cy="234696"/>
            </a:xfrm>
            <a:prstGeom prst="rect">
              <a:avLst/>
            </a:prstGeom>
            <a:noFill/>
            <a:ln>
              <a:noFill/>
            </a:ln>
          </p:spPr>
          <p:txBody>
            <a:bodyPr wrap="none" lIns="0" tIns="0" rIns="0" bIns="0" anchor="t" anchorCtr="0">
              <a:spAutoFit/>
            </a:bodyPr>
            <a:lstStyle/>
            <a:p>
              <a:pPr algn="l"/>
              <a:r>
                <a:rPr lang="zh-CN" sz="1200" b="1" dirty="0">
                  <a:solidFill>
                    <a:srgbClr val="6A6A6A"/>
                  </a:solidFill>
                  <a:latin typeface="+mn-lt"/>
                  <a:ea typeface="+mn-ea"/>
                  <a:cs typeface="+mn-cs"/>
                </a:rPr>
                <a:t>40%</a:t>
              </a:r>
            </a:p>
          </p:txBody>
        </p:sp>
      </p:grpSp>
      <p:grpSp>
        <p:nvGrpSpPr>
          <p:cNvPr id="89" name="relation-panel"/>
          <p:cNvGrpSpPr/>
          <p:nvPr/>
        </p:nvGrpSpPr>
        <p:grpSpPr>
          <a:xfrm>
            <a:off x="381000" y="1638300"/>
            <a:ext cx="3810000" cy="1714500"/>
            <a:chOff x="381000" y="1638300"/>
            <a:chExt cx="3810000" cy="1714500"/>
          </a:xfrm>
        </p:grpSpPr>
        <p:sp>
          <p:nvSpPr>
            <p:cNvPr id="37" name="Rectangle 37"/>
            <p:cNvSpPr/>
            <p:nvPr/>
          </p:nvSpPr>
          <p:spPr>
            <a:xfrm>
              <a:off x="381000" y="1638300"/>
              <a:ext cx="3810000" cy="1714500"/>
            </a:xfrm>
            <a:prstGeom prst="roundRect">
              <a:avLst>
                <a:gd name="adj" fmla="val 3333"/>
              </a:avLst>
            </a:prstGeom>
            <a:solidFill>
              <a:srgbClr val="FFFFFF"/>
            </a:solidFill>
            <a:ln w="14288">
              <a:solidFill>
                <a:srgbClr val="E8E2DE"/>
              </a:solidFill>
            </a:ln>
          </p:spPr>
          <p:txBody>
            <a:bodyPr/>
            <a:p/>
          </p:txBody>
        </p:sp>
        <p:sp>
          <p:nvSpPr>
            <p:cNvPr id="38" name="Rectangle 38"/>
            <p:cNvSpPr/>
            <p:nvPr/>
          </p:nvSpPr>
          <p:spPr>
            <a:xfrm>
              <a:off x="533400" y="1752600"/>
              <a:ext cx="47625" cy="152400"/>
            </a:xfrm>
            <a:prstGeom prst="rect">
              <a:avLst/>
            </a:prstGeom>
            <a:solidFill>
              <a:srgbClr val="8B321E"/>
            </a:solidFill>
            <a:ln>
              <a:noFill/>
            </a:ln>
          </p:spPr>
          <p:txBody>
            <a:bodyPr/>
            <a:p/>
          </p:txBody>
        </p:sp>
        <p:grpSp>
          <p:nvGrpSpPr>
            <p:cNvPr id="45" name="Group 45"/>
            <p:cNvGrpSpPr/>
            <p:nvPr/>
          </p:nvGrpSpPr>
          <p:grpSpPr>
            <a:xfrm>
              <a:off x="657225" y="1771650"/>
              <a:ext cx="114300" cy="114300"/>
              <a:chOff x="657225" y="1771650"/>
              <a:chExt cx="114300" cy="114300"/>
            </a:xfrm>
          </p:grpSpPr>
          <p:sp>
            <p:nvSpPr>
              <p:cNvPr id="39" name="Freeform 39"/>
              <p:cNvSpPr/>
              <p:nvPr/>
            </p:nvSpPr>
            <p:spPr>
              <a:xfrm>
                <a:off x="701675" y="18224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8B321E"/>
                </a:solidFill>
              </a:ln>
            </p:spPr>
            <p:txBody>
              <a:bodyPr/>
              <a:p/>
            </p:txBody>
          </p:sp>
          <p:sp>
            <p:nvSpPr>
              <p:cNvPr id="40" name="Freeform 40"/>
              <p:cNvSpPr/>
              <p:nvPr/>
            </p:nvSpPr>
            <p:spPr>
              <a:xfrm>
                <a:off x="688975" y="1866900"/>
                <a:ext cx="50800" cy="19050"/>
              </a:xfrm>
              <a:custGeom>
                <a:avLst/>
                <a:gdLst/>
                <a:ahLst/>
                <a:cxnLst/>
                <a:rect l="l" t="t" r="r" b="b"/>
                <a:pathLst>
                  <a:path w="50800" h="19050">
                    <a:moveTo>
                      <a:pt x="0" y="19050"/>
                    </a:moveTo>
                    <a:lnTo>
                      <a:pt x="0" y="12700"/>
                    </a:lnTo>
                    <a:cubicBezTo>
                      <a:pt x="0" y="5686"/>
                      <a:pt x="5686" y="0"/>
                      <a:pt x="12700" y="0"/>
                    </a:cubicBezTo>
                    <a:lnTo>
                      <a:pt x="38100" y="0"/>
                    </a:lnTo>
                    <a:cubicBezTo>
                      <a:pt x="45114" y="0"/>
                      <a:pt x="50800" y="5686"/>
                      <a:pt x="50800" y="12700"/>
                    </a:cubicBezTo>
                    <a:lnTo>
                      <a:pt x="50800" y="19050"/>
                    </a:lnTo>
                  </a:path>
                </a:pathLst>
              </a:custGeom>
              <a:noFill/>
              <a:ln w="12700">
                <a:solidFill>
                  <a:srgbClr val="8B321E"/>
                </a:solidFill>
              </a:ln>
            </p:spPr>
            <p:txBody>
              <a:bodyPr/>
              <a:p/>
            </p:txBody>
          </p:sp>
          <p:sp>
            <p:nvSpPr>
              <p:cNvPr id="41" name="Freeform 41"/>
              <p:cNvSpPr/>
              <p:nvPr/>
            </p:nvSpPr>
            <p:spPr>
              <a:xfrm>
                <a:off x="733425" y="17716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8B321E"/>
                </a:solidFill>
              </a:ln>
            </p:spPr>
            <p:txBody>
              <a:bodyPr/>
              <a:p/>
            </p:txBody>
          </p:sp>
          <p:sp>
            <p:nvSpPr>
              <p:cNvPr id="42" name="Freeform 42"/>
              <p:cNvSpPr/>
              <p:nvPr/>
            </p:nvSpPr>
            <p:spPr>
              <a:xfrm>
                <a:off x="746125" y="1816100"/>
                <a:ext cx="25400" cy="19050"/>
              </a:xfrm>
              <a:custGeom>
                <a:avLst/>
                <a:gdLst/>
                <a:ahLst/>
                <a:cxnLst/>
                <a:rect l="l" t="t" r="r" b="b"/>
                <a:pathLst>
                  <a:path w="25400" h="19050">
                    <a:moveTo>
                      <a:pt x="0" y="0"/>
                    </a:moveTo>
                    <a:lnTo>
                      <a:pt x="12700" y="0"/>
                    </a:lnTo>
                    <a:cubicBezTo>
                      <a:pt x="19714" y="0"/>
                      <a:pt x="25400" y="5686"/>
                      <a:pt x="25400" y="12700"/>
                    </a:cubicBezTo>
                    <a:lnTo>
                      <a:pt x="25400" y="19050"/>
                    </a:lnTo>
                  </a:path>
                </a:pathLst>
              </a:custGeom>
              <a:noFill/>
              <a:ln w="12700">
                <a:solidFill>
                  <a:srgbClr val="8B321E"/>
                </a:solidFill>
              </a:ln>
            </p:spPr>
            <p:txBody>
              <a:bodyPr/>
              <a:p/>
            </p:txBody>
          </p:sp>
          <p:sp>
            <p:nvSpPr>
              <p:cNvPr id="43" name="Freeform 43"/>
              <p:cNvSpPr/>
              <p:nvPr/>
            </p:nvSpPr>
            <p:spPr>
              <a:xfrm>
                <a:off x="669925" y="17716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12700">
                <a:solidFill>
                  <a:srgbClr val="8B321E"/>
                </a:solidFill>
              </a:ln>
            </p:spPr>
            <p:txBody>
              <a:bodyPr/>
              <a:p/>
            </p:txBody>
          </p:sp>
          <p:sp>
            <p:nvSpPr>
              <p:cNvPr id="44" name="Freeform 44"/>
              <p:cNvSpPr/>
              <p:nvPr/>
            </p:nvSpPr>
            <p:spPr>
              <a:xfrm>
                <a:off x="657225" y="1816100"/>
                <a:ext cx="25400" cy="19050"/>
              </a:xfrm>
              <a:custGeom>
                <a:avLst/>
                <a:gdLst/>
                <a:ahLst/>
                <a:cxnLst/>
                <a:rect l="l" t="t" r="r" b="b"/>
                <a:pathLst>
                  <a:path w="25400" h="19050">
                    <a:moveTo>
                      <a:pt x="0" y="19050"/>
                    </a:moveTo>
                    <a:lnTo>
                      <a:pt x="0" y="12700"/>
                    </a:lnTo>
                    <a:cubicBezTo>
                      <a:pt x="0" y="5686"/>
                      <a:pt x="5686" y="0"/>
                      <a:pt x="12700" y="0"/>
                    </a:cubicBezTo>
                    <a:lnTo>
                      <a:pt x="25400" y="0"/>
                    </a:lnTo>
                  </a:path>
                </a:pathLst>
              </a:custGeom>
              <a:noFill/>
              <a:ln w="12700">
                <a:solidFill>
                  <a:srgbClr val="8B321E"/>
                </a:solidFill>
              </a:ln>
            </p:spPr>
            <p:txBody>
              <a:bodyPr/>
              <a:p/>
            </p:txBody>
          </p:sp>
        </p:grpSp>
        <p:sp>
          <p:nvSpPr>
            <p:cNvPr id="46" name="TextBox 46"/>
            <p:cNvSpPr txBox="1"/>
            <p:nvPr/>
          </p:nvSpPr>
          <p:spPr>
            <a:xfrm>
              <a:off x="842581" y="1767126"/>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关系图谱</a:t>
              </a:r>
            </a:p>
          </p:txBody>
        </p:sp>
        <p:sp>
          <p:nvSpPr>
            <p:cNvPr id="47" name="Line 47"/>
            <p:cNvSpPr/>
            <p:nvPr/>
          </p:nvSpPr>
          <p:spPr>
            <a:xfrm>
              <a:off x="1638300" y="2247900"/>
              <a:ext cx="333375" cy="180975"/>
            </a:xfrm>
            <a:custGeom>
              <a:avLst/>
              <a:gdLst/>
              <a:ahLst/>
              <a:cxnLst/>
              <a:rect l="l" t="t" r="r" b="b"/>
              <a:pathLst>
                <a:path w="333375" h="180975">
                  <a:moveTo>
                    <a:pt x="333375" y="180975"/>
                  </a:moveTo>
                  <a:lnTo>
                    <a:pt x="0" y="0"/>
                  </a:lnTo>
                </a:path>
              </a:pathLst>
            </a:custGeom>
            <a:noFill/>
            <a:ln w="9525">
              <a:solidFill>
                <a:srgbClr val="B9B3AE"/>
              </a:solidFill>
              <a:custDash>
                <a:ds d="400000" sp="300000"/>
              </a:custDash>
            </a:ln>
          </p:spPr>
          <p:txBody>
            <a:bodyPr/>
            <a:p/>
          </p:txBody>
        </p:sp>
        <p:sp>
          <p:nvSpPr>
            <p:cNvPr id="48" name="Line 48"/>
            <p:cNvSpPr/>
            <p:nvPr/>
          </p:nvSpPr>
          <p:spPr>
            <a:xfrm>
              <a:off x="2600325" y="2247900"/>
              <a:ext cx="333375" cy="180975"/>
            </a:xfrm>
            <a:custGeom>
              <a:avLst/>
              <a:gdLst/>
              <a:ahLst/>
              <a:cxnLst/>
              <a:rect l="l" t="t" r="r" b="b"/>
              <a:pathLst>
                <a:path w="333375" h="180975">
                  <a:moveTo>
                    <a:pt x="0" y="180975"/>
                  </a:moveTo>
                  <a:lnTo>
                    <a:pt x="333375" y="0"/>
                  </a:lnTo>
                </a:path>
              </a:pathLst>
            </a:custGeom>
            <a:noFill/>
            <a:ln w="9525">
              <a:solidFill>
                <a:srgbClr val="B9B3AE"/>
              </a:solidFill>
              <a:custDash>
                <a:ds d="400000" sp="300000"/>
              </a:custDash>
            </a:ln>
          </p:spPr>
          <p:txBody>
            <a:bodyPr/>
            <a:p/>
          </p:txBody>
        </p:sp>
        <p:sp>
          <p:nvSpPr>
            <p:cNvPr id="49" name="Line 49"/>
            <p:cNvSpPr/>
            <p:nvPr/>
          </p:nvSpPr>
          <p:spPr>
            <a:xfrm>
              <a:off x="1638300" y="2828925"/>
              <a:ext cx="333375" cy="180975"/>
            </a:xfrm>
            <a:custGeom>
              <a:avLst/>
              <a:gdLst/>
              <a:ahLst/>
              <a:cxnLst/>
              <a:rect l="l" t="t" r="r" b="b"/>
              <a:pathLst>
                <a:path w="333375" h="180975">
                  <a:moveTo>
                    <a:pt x="333375" y="0"/>
                  </a:moveTo>
                  <a:lnTo>
                    <a:pt x="0" y="180975"/>
                  </a:lnTo>
                </a:path>
              </a:pathLst>
            </a:custGeom>
            <a:noFill/>
            <a:ln w="9525">
              <a:solidFill>
                <a:srgbClr val="B9B3AE"/>
              </a:solidFill>
              <a:custDash>
                <a:ds d="400000" sp="300000"/>
              </a:custDash>
            </a:ln>
          </p:spPr>
          <p:txBody>
            <a:bodyPr/>
            <a:p/>
          </p:txBody>
        </p:sp>
        <p:sp>
          <p:nvSpPr>
            <p:cNvPr id="50" name="Line 50"/>
            <p:cNvSpPr/>
            <p:nvPr/>
          </p:nvSpPr>
          <p:spPr>
            <a:xfrm>
              <a:off x="2600325" y="2828925"/>
              <a:ext cx="333375" cy="180975"/>
            </a:xfrm>
            <a:custGeom>
              <a:avLst/>
              <a:gdLst/>
              <a:ahLst/>
              <a:cxnLst/>
              <a:rect l="l" t="t" r="r" b="b"/>
              <a:pathLst>
                <a:path w="333375" h="180975">
                  <a:moveTo>
                    <a:pt x="0" y="0"/>
                  </a:moveTo>
                  <a:lnTo>
                    <a:pt x="333375" y="180975"/>
                  </a:lnTo>
                </a:path>
              </a:pathLst>
            </a:custGeom>
            <a:noFill/>
            <a:ln w="9525">
              <a:solidFill>
                <a:srgbClr val="B9B3AE"/>
              </a:solidFill>
              <a:custDash>
                <a:ds d="400000" sp="300000"/>
              </a:custDash>
            </a:ln>
          </p:spPr>
          <p:txBody>
            <a:bodyPr/>
            <a:p/>
          </p:txBody>
        </p:sp>
        <p:sp>
          <p:nvSpPr>
            <p:cNvPr id="51" name="Ellipse 51"/>
            <p:cNvSpPr/>
            <p:nvPr/>
          </p:nvSpPr>
          <p:spPr>
            <a:xfrm>
              <a:off x="1943100" y="2286000"/>
              <a:ext cx="685800" cy="685800"/>
            </a:xfrm>
            <a:prstGeom prst="ellipse">
              <a:avLst/>
            </a:prstGeom>
            <a:solidFill>
              <a:srgbClr val="8B321E"/>
            </a:solidFill>
            <a:ln>
              <a:noFill/>
            </a:ln>
          </p:spPr>
          <p:txBody>
            <a:bodyPr/>
            <a:p/>
          </p:txBody>
        </p:sp>
        <p:sp>
          <p:nvSpPr>
            <p:cNvPr id="52" name="TextBox 52"/>
            <p:cNvSpPr txBox="1"/>
            <p:nvPr/>
          </p:nvSpPr>
          <p:spPr>
            <a:xfrm>
              <a:off x="1991804" y="2583418"/>
              <a:ext cx="588391" cy="169069"/>
            </a:xfrm>
            <a:prstGeom prst="rect">
              <a:avLst/>
            </a:prstGeom>
            <a:noFill/>
            <a:ln>
              <a:noFill/>
            </a:ln>
          </p:spPr>
          <p:txBody>
            <a:bodyPr wrap="none" lIns="0" tIns="0" rIns="0" bIns="0" anchor="t" anchorCtr="0">
              <a:spAutoFit/>
            </a:bodyPr>
            <a:lstStyle/>
            <a:p>
              <a:pPr algn="ctr"/>
              <a:r>
                <a:rPr lang="zh-CN" sz="860" b="1" dirty="0">
                  <a:solidFill>
                    <a:srgbClr val="FFFFFF"/>
                  </a:solidFill>
                  <a:latin typeface="+mn-lt"/>
                  <a:ea typeface="+mn-ea"/>
                  <a:cs typeface="+mn-cs"/>
                </a:rPr>
                <a:t>客户决策圈</a:t>
              </a:r>
            </a:p>
          </p:txBody>
        </p:sp>
        <p:grpSp>
          <p:nvGrpSpPr>
            <p:cNvPr id="61" name="rel-eb"/>
            <p:cNvGrpSpPr/>
            <p:nvPr/>
          </p:nvGrpSpPr>
          <p:grpSpPr>
            <a:xfrm>
              <a:off x="514350" y="1981200"/>
              <a:ext cx="1104900" cy="495300"/>
              <a:chOff x="514350" y="1981200"/>
              <a:chExt cx="1104900" cy="495300"/>
            </a:xfrm>
          </p:grpSpPr>
          <p:sp>
            <p:nvSpPr>
              <p:cNvPr id="53" name="Rectangle 53"/>
              <p:cNvSpPr/>
              <p:nvPr/>
            </p:nvSpPr>
            <p:spPr>
              <a:xfrm>
                <a:off x="514350" y="1981200"/>
                <a:ext cx="1104900" cy="495300"/>
              </a:xfrm>
              <a:prstGeom prst="roundRect">
                <a:avLst>
                  <a:gd name="adj" fmla="val 7692"/>
                </a:avLst>
              </a:prstGeom>
              <a:solidFill>
                <a:srgbClr val="FFFFFF"/>
              </a:solidFill>
              <a:ln w="9525">
                <a:solidFill>
                  <a:srgbClr val="E8E2DE"/>
                </a:solidFill>
              </a:ln>
            </p:spPr>
            <p:txBody>
              <a:bodyPr/>
              <a:p/>
            </p:txBody>
          </p:sp>
          <p:grpSp>
            <p:nvGrpSpPr>
              <p:cNvPr id="56" name="Group 56"/>
              <p:cNvGrpSpPr/>
              <p:nvPr/>
            </p:nvGrpSpPr>
            <p:grpSpPr>
              <a:xfrm>
                <a:off x="628650" y="2076450"/>
                <a:ext cx="76200" cy="114300"/>
                <a:chOff x="628650" y="2076450"/>
                <a:chExt cx="76200" cy="114300"/>
              </a:xfrm>
            </p:grpSpPr>
            <p:sp>
              <p:nvSpPr>
                <p:cNvPr id="54" name="Freeform 54"/>
                <p:cNvSpPr/>
                <p:nvPr/>
              </p:nvSpPr>
              <p:spPr>
                <a:xfrm>
                  <a:off x="641350" y="20764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8B321E"/>
                  </a:solidFill>
                </a:ln>
              </p:spPr>
              <p:txBody>
                <a:bodyPr/>
                <a:p/>
              </p:txBody>
            </p:sp>
            <p:sp>
              <p:nvSpPr>
                <p:cNvPr id="55" name="Freeform 55"/>
                <p:cNvSpPr/>
                <p:nvPr/>
              </p:nvSpPr>
              <p:spPr>
                <a:xfrm>
                  <a:off x="628650" y="21526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8B321E"/>
                  </a:solidFill>
                </a:ln>
              </p:spPr>
              <p:txBody>
                <a:bodyPr/>
                <a:p/>
              </p:txBody>
            </p:sp>
          </p:grpSp>
          <p:sp>
            <p:nvSpPr>
              <p:cNvPr id="57" name="TextBox 57"/>
              <p:cNvSpPr txBox="1"/>
              <p:nvPr/>
            </p:nvSpPr>
            <p:spPr>
              <a:xfrm>
                <a:off x="795338" y="2092166"/>
                <a:ext cx="401758"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EB 王总</a:t>
                </a:r>
              </a:p>
            </p:txBody>
          </p:sp>
          <p:sp>
            <p:nvSpPr>
              <p:cNvPr id="58" name="TextBox 58"/>
              <p:cNvSpPr txBox="1"/>
              <p:nvPr/>
            </p:nvSpPr>
            <p:spPr>
              <a:xfrm>
                <a:off x="604838" y="2309812"/>
                <a:ext cx="184447" cy="147638"/>
              </a:xfrm>
              <a:prstGeom prst="rect">
                <a:avLst/>
              </a:prstGeom>
              <a:noFill/>
              <a:ln>
                <a:noFill/>
              </a:ln>
            </p:spPr>
            <p:txBody>
              <a:bodyPr wrap="none" lIns="0" tIns="0" rIns="0" bIns="0" anchor="t" anchorCtr="0">
                <a:spAutoFit/>
              </a:bodyPr>
              <a:lstStyle/>
              <a:p>
                <a:pPr algn="l"/>
                <a:r>
                  <a:rPr lang="zh-CN" sz="750" b="1" dirty="0">
                    <a:solidFill>
                      <a:srgbClr val="8B321E"/>
                    </a:solidFill>
                    <a:latin typeface="+mn-lt"/>
                    <a:ea typeface="+mn-ea"/>
                    <a:cs typeface="+mn-cs"/>
                  </a:rPr>
                  <a:t>3/5</a:t>
                </a:r>
              </a:p>
            </p:txBody>
          </p:sp>
          <p:sp>
            <p:nvSpPr>
              <p:cNvPr id="59" name="Rectangle 59"/>
              <p:cNvSpPr/>
              <p:nvPr/>
            </p:nvSpPr>
            <p:spPr>
              <a:xfrm>
                <a:off x="895350" y="2314575"/>
                <a:ext cx="590550" cy="66675"/>
              </a:xfrm>
              <a:prstGeom prst="rect">
                <a:avLst/>
              </a:prstGeom>
              <a:solidFill>
                <a:srgbClr val="E8E2DE"/>
              </a:solidFill>
              <a:ln>
                <a:noFill/>
              </a:ln>
            </p:spPr>
            <p:txBody>
              <a:bodyPr/>
              <a:p/>
            </p:txBody>
          </p:sp>
          <p:sp>
            <p:nvSpPr>
              <p:cNvPr id="60" name="Rectangle 60"/>
              <p:cNvSpPr/>
              <p:nvPr/>
            </p:nvSpPr>
            <p:spPr>
              <a:xfrm>
                <a:off x="895350" y="2314575"/>
                <a:ext cx="352425" cy="66675"/>
              </a:xfrm>
              <a:prstGeom prst="rect">
                <a:avLst/>
              </a:prstGeom>
              <a:solidFill>
                <a:srgbClr val="8B321E"/>
              </a:solidFill>
              <a:ln>
                <a:noFill/>
              </a:ln>
            </p:spPr>
            <p:txBody>
              <a:bodyPr/>
              <a:p/>
            </p:txBody>
          </p:sp>
        </p:grpSp>
        <p:grpSp>
          <p:nvGrpSpPr>
            <p:cNvPr id="70" name="rel-tb"/>
            <p:cNvGrpSpPr/>
            <p:nvPr/>
          </p:nvGrpSpPr>
          <p:grpSpPr>
            <a:xfrm>
              <a:off x="2952750" y="1981200"/>
              <a:ext cx="1104900" cy="495300"/>
              <a:chOff x="2952750" y="1981200"/>
              <a:chExt cx="1104900" cy="495300"/>
            </a:xfrm>
          </p:grpSpPr>
          <p:sp>
            <p:nvSpPr>
              <p:cNvPr id="62" name="Rectangle 62"/>
              <p:cNvSpPr/>
              <p:nvPr/>
            </p:nvSpPr>
            <p:spPr>
              <a:xfrm>
                <a:off x="2952750" y="1981200"/>
                <a:ext cx="1104900" cy="495300"/>
              </a:xfrm>
              <a:prstGeom prst="roundRect">
                <a:avLst>
                  <a:gd name="adj" fmla="val 7692"/>
                </a:avLst>
              </a:prstGeom>
              <a:solidFill>
                <a:srgbClr val="FFFFFF"/>
              </a:solidFill>
              <a:ln w="9525">
                <a:solidFill>
                  <a:srgbClr val="E8E2DE"/>
                </a:solidFill>
              </a:ln>
            </p:spPr>
            <p:txBody>
              <a:bodyPr/>
              <a:p/>
            </p:txBody>
          </p:sp>
          <p:grpSp>
            <p:nvGrpSpPr>
              <p:cNvPr id="65" name="Group 65"/>
              <p:cNvGrpSpPr/>
              <p:nvPr/>
            </p:nvGrpSpPr>
            <p:grpSpPr>
              <a:xfrm>
                <a:off x="3067050" y="2076450"/>
                <a:ext cx="76200" cy="114300"/>
                <a:chOff x="3067050" y="2076450"/>
                <a:chExt cx="76200" cy="114300"/>
              </a:xfrm>
            </p:grpSpPr>
            <p:sp>
              <p:nvSpPr>
                <p:cNvPr id="63" name="Freeform 63"/>
                <p:cNvSpPr/>
                <p:nvPr/>
              </p:nvSpPr>
              <p:spPr>
                <a:xfrm>
                  <a:off x="3079750" y="20764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8B321E"/>
                  </a:solidFill>
                </a:ln>
              </p:spPr>
              <p:txBody>
                <a:bodyPr/>
                <a:p/>
              </p:txBody>
            </p:sp>
            <p:sp>
              <p:nvSpPr>
                <p:cNvPr id="64" name="Freeform 64"/>
                <p:cNvSpPr/>
                <p:nvPr/>
              </p:nvSpPr>
              <p:spPr>
                <a:xfrm>
                  <a:off x="3067050" y="21526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8B321E"/>
                  </a:solidFill>
                </a:ln>
              </p:spPr>
              <p:txBody>
                <a:bodyPr/>
                <a:p/>
              </p:txBody>
            </p:sp>
          </p:grpSp>
          <p:sp>
            <p:nvSpPr>
              <p:cNvPr id="66" name="TextBox 66"/>
              <p:cNvSpPr txBox="1"/>
              <p:nvPr/>
            </p:nvSpPr>
            <p:spPr>
              <a:xfrm>
                <a:off x="3233738" y="2092166"/>
                <a:ext cx="512146"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TB 李总监</a:t>
                </a:r>
              </a:p>
            </p:txBody>
          </p:sp>
          <p:sp>
            <p:nvSpPr>
              <p:cNvPr id="67" name="TextBox 67"/>
              <p:cNvSpPr txBox="1"/>
              <p:nvPr/>
            </p:nvSpPr>
            <p:spPr>
              <a:xfrm>
                <a:off x="3043238" y="2309812"/>
                <a:ext cx="184447" cy="147638"/>
              </a:xfrm>
              <a:prstGeom prst="rect">
                <a:avLst/>
              </a:prstGeom>
              <a:noFill/>
              <a:ln>
                <a:noFill/>
              </a:ln>
            </p:spPr>
            <p:txBody>
              <a:bodyPr wrap="none" lIns="0" tIns="0" rIns="0" bIns="0" anchor="t" anchorCtr="0">
                <a:spAutoFit/>
              </a:bodyPr>
              <a:lstStyle/>
              <a:p>
                <a:pPr algn="l"/>
                <a:r>
                  <a:rPr lang="zh-CN" sz="750" b="1" dirty="0">
                    <a:solidFill>
                      <a:srgbClr val="8B321E"/>
                    </a:solidFill>
                    <a:latin typeface="+mn-lt"/>
                    <a:ea typeface="+mn-ea"/>
                    <a:cs typeface="+mn-cs"/>
                  </a:rPr>
                  <a:t>4/5</a:t>
                </a:r>
              </a:p>
            </p:txBody>
          </p:sp>
          <p:sp>
            <p:nvSpPr>
              <p:cNvPr id="68" name="Rectangle 68"/>
              <p:cNvSpPr/>
              <p:nvPr/>
            </p:nvSpPr>
            <p:spPr>
              <a:xfrm>
                <a:off x="3333750" y="2314575"/>
                <a:ext cx="590550" cy="66675"/>
              </a:xfrm>
              <a:prstGeom prst="rect">
                <a:avLst/>
              </a:prstGeom>
              <a:solidFill>
                <a:srgbClr val="E8E2DE"/>
              </a:solidFill>
              <a:ln>
                <a:noFill/>
              </a:ln>
            </p:spPr>
            <p:txBody>
              <a:bodyPr/>
              <a:p/>
            </p:txBody>
          </p:sp>
          <p:sp>
            <p:nvSpPr>
              <p:cNvPr id="69" name="Rectangle 69"/>
              <p:cNvSpPr/>
              <p:nvPr/>
            </p:nvSpPr>
            <p:spPr>
              <a:xfrm>
                <a:off x="3333750" y="2314575"/>
                <a:ext cx="476250" cy="66675"/>
              </a:xfrm>
              <a:prstGeom prst="rect">
                <a:avLst/>
              </a:prstGeom>
              <a:solidFill>
                <a:srgbClr val="8B321E"/>
              </a:solidFill>
              <a:ln>
                <a:noFill/>
              </a:ln>
            </p:spPr>
            <p:txBody>
              <a:bodyPr/>
              <a:p/>
            </p:txBody>
          </p:sp>
        </p:grpSp>
        <p:grpSp>
          <p:nvGrpSpPr>
            <p:cNvPr id="79" name="rel-user"/>
            <p:cNvGrpSpPr/>
            <p:nvPr/>
          </p:nvGrpSpPr>
          <p:grpSpPr>
            <a:xfrm>
              <a:off x="514350" y="2819400"/>
              <a:ext cx="1104900" cy="495300"/>
              <a:chOff x="514350" y="2819400"/>
              <a:chExt cx="1104900" cy="495300"/>
            </a:xfrm>
          </p:grpSpPr>
          <p:sp>
            <p:nvSpPr>
              <p:cNvPr id="71" name="Rectangle 71"/>
              <p:cNvSpPr/>
              <p:nvPr/>
            </p:nvSpPr>
            <p:spPr>
              <a:xfrm>
                <a:off x="514350" y="2819400"/>
                <a:ext cx="1104900" cy="495300"/>
              </a:xfrm>
              <a:prstGeom prst="roundRect">
                <a:avLst>
                  <a:gd name="adj" fmla="val 7692"/>
                </a:avLst>
              </a:prstGeom>
              <a:solidFill>
                <a:srgbClr val="FFFFFF"/>
              </a:solidFill>
              <a:ln w="9525">
                <a:solidFill>
                  <a:srgbClr val="E8E2DE"/>
                </a:solidFill>
              </a:ln>
            </p:spPr>
            <p:txBody>
              <a:bodyPr/>
              <a:p/>
            </p:txBody>
          </p:sp>
          <p:grpSp>
            <p:nvGrpSpPr>
              <p:cNvPr id="74" name="Group 74"/>
              <p:cNvGrpSpPr/>
              <p:nvPr/>
            </p:nvGrpSpPr>
            <p:grpSpPr>
              <a:xfrm>
                <a:off x="628650" y="2914650"/>
                <a:ext cx="76200" cy="114300"/>
                <a:chOff x="628650" y="2914650"/>
                <a:chExt cx="76200" cy="114300"/>
              </a:xfrm>
            </p:grpSpPr>
            <p:sp>
              <p:nvSpPr>
                <p:cNvPr id="72" name="Freeform 72"/>
                <p:cNvSpPr/>
                <p:nvPr/>
              </p:nvSpPr>
              <p:spPr>
                <a:xfrm>
                  <a:off x="641350" y="29146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8B321E"/>
                  </a:solidFill>
                </a:ln>
              </p:spPr>
              <p:txBody>
                <a:bodyPr/>
                <a:p/>
              </p:txBody>
            </p:sp>
            <p:sp>
              <p:nvSpPr>
                <p:cNvPr id="73" name="Freeform 73"/>
                <p:cNvSpPr/>
                <p:nvPr/>
              </p:nvSpPr>
              <p:spPr>
                <a:xfrm>
                  <a:off x="628650" y="29908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8B321E"/>
                  </a:solidFill>
                </a:ln>
              </p:spPr>
              <p:txBody>
                <a:bodyPr/>
                <a:p/>
              </p:txBody>
            </p:sp>
          </p:grpSp>
          <p:sp>
            <p:nvSpPr>
              <p:cNvPr id="75" name="TextBox 75"/>
              <p:cNvSpPr txBox="1"/>
              <p:nvPr/>
            </p:nvSpPr>
            <p:spPr>
              <a:xfrm>
                <a:off x="795338" y="2930366"/>
                <a:ext cx="634560"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User 张主管</a:t>
                </a:r>
              </a:p>
            </p:txBody>
          </p:sp>
          <p:sp>
            <p:nvSpPr>
              <p:cNvPr id="76" name="TextBox 76"/>
              <p:cNvSpPr txBox="1"/>
              <p:nvPr/>
            </p:nvSpPr>
            <p:spPr>
              <a:xfrm>
                <a:off x="604838" y="3148012"/>
                <a:ext cx="184447" cy="147638"/>
              </a:xfrm>
              <a:prstGeom prst="rect">
                <a:avLst/>
              </a:prstGeom>
              <a:noFill/>
              <a:ln>
                <a:noFill/>
              </a:ln>
            </p:spPr>
            <p:txBody>
              <a:bodyPr wrap="none" lIns="0" tIns="0" rIns="0" bIns="0" anchor="t" anchorCtr="0">
                <a:spAutoFit/>
              </a:bodyPr>
              <a:lstStyle/>
              <a:p>
                <a:pPr algn="l"/>
                <a:r>
                  <a:rPr lang="zh-CN" sz="750" b="1" dirty="0">
                    <a:solidFill>
                      <a:srgbClr val="8B321E"/>
                    </a:solidFill>
                    <a:latin typeface="+mn-lt"/>
                    <a:ea typeface="+mn-ea"/>
                    <a:cs typeface="+mn-cs"/>
                  </a:rPr>
                  <a:t>5/5</a:t>
                </a:r>
              </a:p>
            </p:txBody>
          </p:sp>
          <p:sp>
            <p:nvSpPr>
              <p:cNvPr id="77" name="Rectangle 77"/>
              <p:cNvSpPr/>
              <p:nvPr/>
            </p:nvSpPr>
            <p:spPr>
              <a:xfrm>
                <a:off x="895350" y="3152775"/>
                <a:ext cx="590550" cy="66675"/>
              </a:xfrm>
              <a:prstGeom prst="rect">
                <a:avLst/>
              </a:prstGeom>
              <a:solidFill>
                <a:srgbClr val="E8E2DE"/>
              </a:solidFill>
              <a:ln>
                <a:noFill/>
              </a:ln>
            </p:spPr>
            <p:txBody>
              <a:bodyPr/>
              <a:p/>
            </p:txBody>
          </p:sp>
          <p:sp>
            <p:nvSpPr>
              <p:cNvPr id="78" name="Rectangle 78"/>
              <p:cNvSpPr/>
              <p:nvPr/>
            </p:nvSpPr>
            <p:spPr>
              <a:xfrm>
                <a:off x="895350" y="3152775"/>
                <a:ext cx="590550" cy="66675"/>
              </a:xfrm>
              <a:prstGeom prst="rect">
                <a:avLst/>
              </a:prstGeom>
              <a:solidFill>
                <a:srgbClr val="8B321E"/>
              </a:solidFill>
              <a:ln>
                <a:noFill/>
              </a:ln>
            </p:spPr>
            <p:txBody>
              <a:bodyPr/>
              <a:p/>
            </p:txBody>
          </p:sp>
        </p:grpSp>
        <p:grpSp>
          <p:nvGrpSpPr>
            <p:cNvPr id="88" name="rel-coach"/>
            <p:cNvGrpSpPr/>
            <p:nvPr/>
          </p:nvGrpSpPr>
          <p:grpSpPr>
            <a:xfrm>
              <a:off x="2952750" y="2819400"/>
              <a:ext cx="1104900" cy="495300"/>
              <a:chOff x="2952750" y="2819400"/>
              <a:chExt cx="1104900" cy="495300"/>
            </a:xfrm>
          </p:grpSpPr>
          <p:sp>
            <p:nvSpPr>
              <p:cNvPr id="80" name="Rectangle 80"/>
              <p:cNvSpPr/>
              <p:nvPr/>
            </p:nvSpPr>
            <p:spPr>
              <a:xfrm>
                <a:off x="2952750" y="2819400"/>
                <a:ext cx="1104900" cy="495300"/>
              </a:xfrm>
              <a:prstGeom prst="roundRect">
                <a:avLst>
                  <a:gd name="adj" fmla="val 7692"/>
                </a:avLst>
              </a:prstGeom>
              <a:solidFill>
                <a:srgbClr val="FFFFFF"/>
              </a:solidFill>
              <a:ln w="9525">
                <a:solidFill>
                  <a:srgbClr val="E8E2DE"/>
                </a:solidFill>
              </a:ln>
            </p:spPr>
            <p:txBody>
              <a:bodyPr/>
              <a:p/>
            </p:txBody>
          </p:sp>
          <p:grpSp>
            <p:nvGrpSpPr>
              <p:cNvPr id="83" name="Group 83"/>
              <p:cNvGrpSpPr/>
              <p:nvPr/>
            </p:nvGrpSpPr>
            <p:grpSpPr>
              <a:xfrm>
                <a:off x="3067050" y="2914650"/>
                <a:ext cx="76200" cy="114300"/>
                <a:chOff x="3067050" y="2914650"/>
                <a:chExt cx="76200" cy="114300"/>
              </a:xfrm>
            </p:grpSpPr>
            <p:sp>
              <p:nvSpPr>
                <p:cNvPr id="81" name="Freeform 81"/>
                <p:cNvSpPr/>
                <p:nvPr/>
              </p:nvSpPr>
              <p:spPr>
                <a:xfrm>
                  <a:off x="3079750" y="291465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2700">
                  <a:solidFill>
                    <a:srgbClr val="8B321E"/>
                  </a:solidFill>
                </a:ln>
              </p:spPr>
              <p:txBody>
                <a:bodyPr/>
                <a:p/>
              </p:txBody>
            </p:sp>
            <p:sp>
              <p:nvSpPr>
                <p:cNvPr id="82" name="Freeform 82"/>
                <p:cNvSpPr/>
                <p:nvPr/>
              </p:nvSpPr>
              <p:spPr>
                <a:xfrm>
                  <a:off x="3067050" y="2990850"/>
                  <a:ext cx="76200" cy="38100"/>
                </a:xfrm>
                <a:custGeom>
                  <a:avLst/>
                  <a:gdLst/>
                  <a:ahLst/>
                  <a:cxnLst/>
                  <a:rect l="l" t="t" r="r" b="b"/>
                  <a:pathLst>
                    <a:path w="76200" h="38100">
                      <a:moveTo>
                        <a:pt x="0" y="38100"/>
                      </a:moveTo>
                      <a:lnTo>
                        <a:pt x="0" y="25400"/>
                      </a:lnTo>
                      <a:cubicBezTo>
                        <a:pt x="0" y="11372"/>
                        <a:pt x="11372" y="0"/>
                        <a:pt x="25400" y="0"/>
                      </a:cubicBezTo>
                      <a:lnTo>
                        <a:pt x="50800" y="0"/>
                      </a:lnTo>
                      <a:cubicBezTo>
                        <a:pt x="64828" y="0"/>
                        <a:pt x="76200" y="11372"/>
                        <a:pt x="76200" y="25400"/>
                      </a:cubicBezTo>
                      <a:lnTo>
                        <a:pt x="76200" y="38100"/>
                      </a:lnTo>
                    </a:path>
                  </a:pathLst>
                </a:custGeom>
                <a:noFill/>
                <a:ln w="12700">
                  <a:solidFill>
                    <a:srgbClr val="8B321E"/>
                  </a:solidFill>
                </a:ln>
              </p:spPr>
              <p:txBody>
                <a:bodyPr/>
                <a:p/>
              </p:txBody>
            </p:sp>
          </p:grpSp>
          <p:sp>
            <p:nvSpPr>
              <p:cNvPr id="84" name="TextBox 84"/>
              <p:cNvSpPr txBox="1"/>
              <p:nvPr/>
            </p:nvSpPr>
            <p:spPr>
              <a:xfrm>
                <a:off x="3233738" y="2930366"/>
                <a:ext cx="698211" cy="161925"/>
              </a:xfrm>
              <a:prstGeom prst="rect">
                <a:avLst/>
              </a:prstGeom>
              <a:noFill/>
              <a:ln>
                <a:noFill/>
              </a:ln>
            </p:spPr>
            <p:txBody>
              <a:bodyPr wrap="none" lIns="0" tIns="0" rIns="0" bIns="0" anchor="t" anchorCtr="0">
                <a:spAutoFit/>
              </a:bodyPr>
              <a:lstStyle/>
              <a:p>
                <a:pPr algn="l"/>
                <a:r>
                  <a:rPr lang="zh-CN" sz="820" b="1" dirty="0">
                    <a:solidFill>
                      <a:srgbClr val="1A1A1A"/>
                    </a:solidFill>
                    <a:latin typeface="+mn-lt"/>
                    <a:ea typeface="+mn-ea"/>
                    <a:cs typeface="+mn-cs"/>
                  </a:rPr>
                  <a:t>Coach 陈经理</a:t>
                </a:r>
              </a:p>
            </p:txBody>
          </p:sp>
          <p:sp>
            <p:nvSpPr>
              <p:cNvPr id="85" name="TextBox 85"/>
              <p:cNvSpPr txBox="1"/>
              <p:nvPr/>
            </p:nvSpPr>
            <p:spPr>
              <a:xfrm>
                <a:off x="3043238" y="3148012"/>
                <a:ext cx="184447" cy="147638"/>
              </a:xfrm>
              <a:prstGeom prst="rect">
                <a:avLst/>
              </a:prstGeom>
              <a:noFill/>
              <a:ln>
                <a:noFill/>
              </a:ln>
            </p:spPr>
            <p:txBody>
              <a:bodyPr wrap="none" lIns="0" tIns="0" rIns="0" bIns="0" anchor="t" anchorCtr="0">
                <a:spAutoFit/>
              </a:bodyPr>
              <a:lstStyle/>
              <a:p>
                <a:pPr algn="l"/>
                <a:r>
                  <a:rPr lang="zh-CN" sz="750" b="1" dirty="0">
                    <a:solidFill>
                      <a:srgbClr val="8B321E"/>
                    </a:solidFill>
                    <a:latin typeface="+mn-lt"/>
                    <a:ea typeface="+mn-ea"/>
                    <a:cs typeface="+mn-cs"/>
                  </a:rPr>
                  <a:t>4/5</a:t>
                </a:r>
              </a:p>
            </p:txBody>
          </p:sp>
          <p:sp>
            <p:nvSpPr>
              <p:cNvPr id="86" name="Rectangle 86"/>
              <p:cNvSpPr/>
              <p:nvPr/>
            </p:nvSpPr>
            <p:spPr>
              <a:xfrm>
                <a:off x="3333750" y="3152775"/>
                <a:ext cx="590550" cy="66675"/>
              </a:xfrm>
              <a:prstGeom prst="rect">
                <a:avLst/>
              </a:prstGeom>
              <a:solidFill>
                <a:srgbClr val="E8E2DE"/>
              </a:solidFill>
              <a:ln>
                <a:noFill/>
              </a:ln>
            </p:spPr>
            <p:txBody>
              <a:bodyPr/>
              <a:p/>
            </p:txBody>
          </p:sp>
          <p:sp>
            <p:nvSpPr>
              <p:cNvPr id="87" name="Rectangle 87"/>
              <p:cNvSpPr/>
              <p:nvPr/>
            </p:nvSpPr>
            <p:spPr>
              <a:xfrm>
                <a:off x="3333750" y="3152775"/>
                <a:ext cx="476250" cy="66675"/>
              </a:xfrm>
              <a:prstGeom prst="rect">
                <a:avLst/>
              </a:prstGeom>
              <a:solidFill>
                <a:srgbClr val="8B321E"/>
              </a:solidFill>
              <a:ln>
                <a:noFill/>
              </a:ln>
            </p:spPr>
            <p:txBody>
              <a:bodyPr/>
              <a:p/>
            </p:txBody>
          </p:sp>
        </p:grpSp>
      </p:grpSp>
      <p:grpSp>
        <p:nvGrpSpPr>
          <p:cNvPr id="157" name="opportunities"/>
          <p:cNvGrpSpPr/>
          <p:nvPr/>
        </p:nvGrpSpPr>
        <p:grpSpPr>
          <a:xfrm>
            <a:off x="4438650" y="1752600"/>
            <a:ext cx="7372350" cy="1619250"/>
            <a:chOff x="4438650" y="1752600"/>
            <a:chExt cx="7372350" cy="1619250"/>
          </a:xfrm>
        </p:grpSpPr>
        <p:sp>
          <p:nvSpPr>
            <p:cNvPr id="90" name="Rectangle 90"/>
            <p:cNvSpPr/>
            <p:nvPr/>
          </p:nvSpPr>
          <p:spPr>
            <a:xfrm>
              <a:off x="4438650" y="1752600"/>
              <a:ext cx="47625" cy="152400"/>
            </a:xfrm>
            <a:prstGeom prst="rect">
              <a:avLst/>
            </a:prstGeom>
            <a:solidFill>
              <a:srgbClr val="8B321E"/>
            </a:solidFill>
            <a:ln>
              <a:noFill/>
            </a:ln>
          </p:spPr>
          <p:txBody>
            <a:bodyPr/>
            <a:p/>
          </p:txBody>
        </p:sp>
        <p:grpSp>
          <p:nvGrpSpPr>
            <p:cNvPr id="95" name="Group 95"/>
            <p:cNvGrpSpPr/>
            <p:nvPr/>
          </p:nvGrpSpPr>
          <p:grpSpPr>
            <a:xfrm>
              <a:off x="4562475" y="1778000"/>
              <a:ext cx="114300" cy="111125"/>
              <a:chOff x="4562475" y="1778000"/>
              <a:chExt cx="114300" cy="111125"/>
            </a:xfrm>
          </p:grpSpPr>
          <p:sp>
            <p:nvSpPr>
              <p:cNvPr id="91" name="Freeform 91"/>
              <p:cNvSpPr/>
              <p:nvPr/>
            </p:nvSpPr>
            <p:spPr>
              <a:xfrm>
                <a:off x="4562475" y="1828800"/>
                <a:ext cx="38100" cy="50800"/>
              </a:xfrm>
              <a:custGeom>
                <a:avLst/>
                <a:gdLst/>
                <a:ahLst/>
                <a:cxnLst/>
                <a:rect l="l" t="t" r="r" b="b"/>
                <a:pathLst>
                  <a:path w="38100" h="50800">
                    <a:moveTo>
                      <a:pt x="0" y="6350"/>
                    </a:moveTo>
                    <a:cubicBezTo>
                      <a:pt x="0" y="2843"/>
                      <a:pt x="2843" y="0"/>
                      <a:pt x="6350" y="0"/>
                    </a:cubicBezTo>
                    <a:lnTo>
                      <a:pt x="31750" y="0"/>
                    </a:lnTo>
                    <a:cubicBezTo>
                      <a:pt x="35257" y="0"/>
                      <a:pt x="38100" y="2843"/>
                      <a:pt x="38100" y="6350"/>
                    </a:cubicBezTo>
                    <a:lnTo>
                      <a:pt x="38100" y="44450"/>
                    </a:lnTo>
                    <a:cubicBezTo>
                      <a:pt x="38100" y="47957"/>
                      <a:pt x="35257" y="50800"/>
                      <a:pt x="31750" y="50800"/>
                    </a:cubicBezTo>
                    <a:lnTo>
                      <a:pt x="6350" y="50800"/>
                    </a:lnTo>
                    <a:cubicBezTo>
                      <a:pt x="2843" y="50800"/>
                      <a:pt x="0" y="47957"/>
                      <a:pt x="0" y="44450"/>
                    </a:cubicBezTo>
                    <a:lnTo>
                      <a:pt x="0" y="6350"/>
                    </a:lnTo>
                  </a:path>
                </a:pathLst>
              </a:custGeom>
              <a:noFill/>
              <a:ln w="12700">
                <a:solidFill>
                  <a:srgbClr val="8B321E"/>
                </a:solidFill>
              </a:ln>
            </p:spPr>
            <p:txBody>
              <a:bodyPr/>
              <a:p/>
            </p:txBody>
          </p:sp>
          <p:sp>
            <p:nvSpPr>
              <p:cNvPr id="92" name="Freeform 92"/>
              <p:cNvSpPr/>
              <p:nvPr/>
            </p:nvSpPr>
            <p:spPr>
              <a:xfrm>
                <a:off x="4638675" y="1803400"/>
                <a:ext cx="38100" cy="76200"/>
              </a:xfrm>
              <a:custGeom>
                <a:avLst/>
                <a:gdLst/>
                <a:ahLst/>
                <a:cxnLst/>
                <a:rect l="l" t="t" r="r" b="b"/>
                <a:pathLst>
                  <a:path w="38100" h="76200">
                    <a:moveTo>
                      <a:pt x="0" y="6350"/>
                    </a:moveTo>
                    <a:cubicBezTo>
                      <a:pt x="0" y="2843"/>
                      <a:pt x="2843" y="0"/>
                      <a:pt x="6350" y="0"/>
                    </a:cubicBezTo>
                    <a:lnTo>
                      <a:pt x="31750" y="0"/>
                    </a:lnTo>
                    <a:cubicBezTo>
                      <a:pt x="35257" y="0"/>
                      <a:pt x="38100" y="2843"/>
                      <a:pt x="38100" y="6350"/>
                    </a:cubicBezTo>
                    <a:lnTo>
                      <a:pt x="38100" y="69850"/>
                    </a:lnTo>
                    <a:cubicBezTo>
                      <a:pt x="38100" y="73357"/>
                      <a:pt x="35257" y="76200"/>
                      <a:pt x="31750" y="76200"/>
                    </a:cubicBezTo>
                    <a:lnTo>
                      <a:pt x="6350" y="76200"/>
                    </a:lnTo>
                    <a:cubicBezTo>
                      <a:pt x="2843" y="76200"/>
                      <a:pt x="0" y="73357"/>
                      <a:pt x="0" y="69850"/>
                    </a:cubicBezTo>
                    <a:lnTo>
                      <a:pt x="0" y="6350"/>
                    </a:lnTo>
                  </a:path>
                </a:pathLst>
              </a:custGeom>
              <a:noFill/>
              <a:ln w="12700">
                <a:solidFill>
                  <a:srgbClr val="8B321E"/>
                </a:solidFill>
              </a:ln>
            </p:spPr>
            <p:txBody>
              <a:bodyPr/>
              <a:p/>
            </p:txBody>
          </p:sp>
          <p:sp>
            <p:nvSpPr>
              <p:cNvPr id="93" name="Freeform 93"/>
              <p:cNvSpPr/>
              <p:nvPr/>
            </p:nvSpPr>
            <p:spPr>
              <a:xfrm>
                <a:off x="4600575" y="1778000"/>
                <a:ext cx="38100" cy="101600"/>
              </a:xfrm>
              <a:custGeom>
                <a:avLst/>
                <a:gdLst/>
                <a:ahLst/>
                <a:cxnLst/>
                <a:rect l="l" t="t" r="r" b="b"/>
                <a:pathLst>
                  <a:path w="38100" h="101600">
                    <a:moveTo>
                      <a:pt x="0" y="6350"/>
                    </a:moveTo>
                    <a:cubicBezTo>
                      <a:pt x="0" y="2843"/>
                      <a:pt x="2843" y="0"/>
                      <a:pt x="6350" y="0"/>
                    </a:cubicBezTo>
                    <a:lnTo>
                      <a:pt x="31750" y="0"/>
                    </a:lnTo>
                    <a:cubicBezTo>
                      <a:pt x="35257" y="0"/>
                      <a:pt x="38100" y="2843"/>
                      <a:pt x="38100" y="6350"/>
                    </a:cubicBezTo>
                    <a:lnTo>
                      <a:pt x="38100" y="95250"/>
                    </a:lnTo>
                    <a:cubicBezTo>
                      <a:pt x="38100" y="98757"/>
                      <a:pt x="35257" y="101600"/>
                      <a:pt x="31750" y="101600"/>
                    </a:cubicBezTo>
                    <a:lnTo>
                      <a:pt x="6350" y="101600"/>
                    </a:lnTo>
                    <a:cubicBezTo>
                      <a:pt x="2843" y="101600"/>
                      <a:pt x="0" y="98757"/>
                      <a:pt x="0" y="95250"/>
                    </a:cubicBezTo>
                    <a:lnTo>
                      <a:pt x="0" y="6350"/>
                    </a:lnTo>
                  </a:path>
                </a:pathLst>
              </a:custGeom>
              <a:noFill/>
              <a:ln w="12700">
                <a:solidFill>
                  <a:srgbClr val="8B321E"/>
                </a:solidFill>
              </a:ln>
            </p:spPr>
            <p:txBody>
              <a:bodyPr/>
              <a:p/>
            </p:txBody>
          </p:sp>
          <p:sp>
            <p:nvSpPr>
              <p:cNvPr id="94" name="Freeform 94"/>
              <p:cNvSpPr/>
              <p:nvPr/>
            </p:nvSpPr>
            <p:spPr>
              <a:xfrm>
                <a:off x="4568825" y="1879600"/>
                <a:ext cx="88900" cy="9525"/>
              </a:xfrm>
              <a:custGeom>
                <a:avLst/>
                <a:gdLst/>
                <a:ahLst/>
                <a:cxnLst/>
                <a:rect l="l" t="t" r="r" b="b"/>
                <a:pathLst>
                  <a:path w="88900" h="9525">
                    <a:moveTo>
                      <a:pt x="0" y="0"/>
                    </a:moveTo>
                    <a:lnTo>
                      <a:pt x="88900" y="0"/>
                    </a:lnTo>
                  </a:path>
                </a:pathLst>
              </a:custGeom>
              <a:noFill/>
              <a:ln w="12700">
                <a:solidFill>
                  <a:srgbClr val="8B321E"/>
                </a:solidFill>
              </a:ln>
            </p:spPr>
            <p:txBody>
              <a:bodyPr/>
              <a:p/>
            </p:txBody>
          </p:sp>
        </p:grpSp>
        <p:sp>
          <p:nvSpPr>
            <p:cNvPr id="96" name="TextBox 96"/>
            <p:cNvSpPr txBox="1"/>
            <p:nvPr/>
          </p:nvSpPr>
          <p:spPr>
            <a:xfrm>
              <a:off x="4747832" y="1767126"/>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增长机会</a:t>
              </a:r>
            </a:p>
          </p:txBody>
        </p:sp>
        <p:grpSp>
          <p:nvGrpSpPr>
            <p:cNvPr id="117" name="opp-1"/>
            <p:cNvGrpSpPr/>
            <p:nvPr/>
          </p:nvGrpSpPr>
          <p:grpSpPr>
            <a:xfrm>
              <a:off x="4438650" y="1962150"/>
              <a:ext cx="7372350" cy="419100"/>
              <a:chOff x="4438650" y="1962150"/>
              <a:chExt cx="7372350" cy="419100"/>
            </a:xfrm>
          </p:grpSpPr>
          <p:sp>
            <p:nvSpPr>
              <p:cNvPr id="97" name="Rectangle 97"/>
              <p:cNvSpPr/>
              <p:nvPr/>
            </p:nvSpPr>
            <p:spPr>
              <a:xfrm>
                <a:off x="4438650" y="1962150"/>
                <a:ext cx="7372350" cy="419100"/>
              </a:xfrm>
              <a:prstGeom prst="roundRect">
                <a:avLst>
                  <a:gd name="adj" fmla="val 9091"/>
                </a:avLst>
              </a:prstGeom>
              <a:solidFill>
                <a:srgbClr val="FFFFFF"/>
              </a:solidFill>
              <a:ln w="9525">
                <a:solidFill>
                  <a:srgbClr val="E8E2DE"/>
                </a:solidFill>
              </a:ln>
            </p:spPr>
            <p:txBody>
              <a:bodyPr/>
              <a:p/>
            </p:txBody>
          </p:sp>
          <p:sp>
            <p:nvSpPr>
              <p:cNvPr id="98" name="Rectangle 98"/>
              <p:cNvSpPr/>
              <p:nvPr/>
            </p:nvSpPr>
            <p:spPr>
              <a:xfrm>
                <a:off x="4533900" y="2038350"/>
                <a:ext cx="514350" cy="266700"/>
              </a:xfrm>
              <a:prstGeom prst="roundRect">
                <a:avLst>
                  <a:gd name="adj" fmla="val 10714"/>
                </a:avLst>
              </a:prstGeom>
              <a:solidFill>
                <a:srgbClr val="8B321E"/>
              </a:solidFill>
              <a:ln>
                <a:noFill/>
              </a:ln>
            </p:spPr>
            <p:txBody>
              <a:bodyPr/>
              <a:p/>
            </p:txBody>
          </p:sp>
          <p:sp>
            <p:nvSpPr>
              <p:cNvPr id="99" name="TextBox 99"/>
              <p:cNvSpPr txBox="1"/>
              <p:nvPr/>
            </p:nvSpPr>
            <p:spPr>
              <a:xfrm>
                <a:off x="4620730" y="212074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机会一</a:t>
                </a:r>
              </a:p>
            </p:txBody>
          </p:sp>
          <p:grpSp>
            <p:nvGrpSpPr>
              <p:cNvPr id="105" name="Group 105"/>
              <p:cNvGrpSpPr/>
              <p:nvPr/>
            </p:nvGrpSpPr>
            <p:grpSpPr>
              <a:xfrm>
                <a:off x="5224462" y="2100259"/>
                <a:ext cx="142875" cy="152403"/>
                <a:chOff x="5224462" y="2100259"/>
                <a:chExt cx="142875" cy="152403"/>
              </a:xfrm>
            </p:grpSpPr>
            <p:sp>
              <p:nvSpPr>
                <p:cNvPr id="100" name="Freeform 100"/>
                <p:cNvSpPr/>
                <p:nvPr/>
              </p:nvSpPr>
              <p:spPr>
                <a:xfrm>
                  <a:off x="5224462" y="2243137"/>
                  <a:ext cx="142875" cy="9525"/>
                </a:xfrm>
                <a:custGeom>
                  <a:avLst/>
                  <a:gdLst/>
                  <a:ahLst/>
                  <a:cxnLst/>
                  <a:rect l="l" t="t" r="r" b="b"/>
                  <a:pathLst>
                    <a:path w="142875" h="9525">
                      <a:moveTo>
                        <a:pt x="0" y="0"/>
                      </a:moveTo>
                      <a:lnTo>
                        <a:pt x="142875" y="0"/>
                      </a:lnTo>
                    </a:path>
                  </a:pathLst>
                </a:custGeom>
                <a:noFill/>
                <a:ln w="15875">
                  <a:solidFill>
                    <a:srgbClr val="8B321E"/>
                  </a:solidFill>
                </a:ln>
              </p:spPr>
              <p:txBody>
                <a:bodyPr/>
                <a:p/>
              </p:txBody>
            </p:sp>
            <p:sp>
              <p:nvSpPr>
                <p:cNvPr id="101" name="Freeform 101"/>
                <p:cNvSpPr/>
                <p:nvPr/>
              </p:nvSpPr>
              <p:spPr>
                <a:xfrm>
                  <a:off x="5240337" y="2147887"/>
                  <a:ext cx="111125" cy="95250"/>
                </a:xfrm>
                <a:custGeom>
                  <a:avLst/>
                  <a:gdLst/>
                  <a:ahLst/>
                  <a:cxnLst/>
                  <a:rect l="l" t="t" r="r" b="b"/>
                  <a:pathLst>
                    <a:path w="111125" h="95250">
                      <a:moveTo>
                        <a:pt x="0" y="95250"/>
                      </a:moveTo>
                      <a:lnTo>
                        <a:pt x="0" y="0"/>
                      </a:lnTo>
                      <a:lnTo>
                        <a:pt x="39687" y="31750"/>
                      </a:lnTo>
                      <a:lnTo>
                        <a:pt x="39687" y="0"/>
                      </a:lnTo>
                      <a:lnTo>
                        <a:pt x="79375" y="31750"/>
                      </a:lnTo>
                      <a:lnTo>
                        <a:pt x="111125" y="31750"/>
                      </a:lnTo>
                    </a:path>
                  </a:pathLst>
                </a:custGeom>
                <a:noFill/>
                <a:ln w="15875">
                  <a:solidFill>
                    <a:srgbClr val="8B321E"/>
                  </a:solidFill>
                </a:ln>
              </p:spPr>
              <p:txBody>
                <a:bodyPr/>
                <a:p/>
              </p:txBody>
            </p:sp>
            <p:sp>
              <p:nvSpPr>
                <p:cNvPr id="102" name="Freeform 102"/>
                <p:cNvSpPr/>
                <p:nvPr/>
              </p:nvSpPr>
              <p:spPr>
                <a:xfrm>
                  <a:off x="5311775" y="2100259"/>
                  <a:ext cx="39687" cy="142878"/>
                </a:xfrm>
                <a:custGeom>
                  <a:avLst/>
                  <a:gdLst/>
                  <a:ahLst/>
                  <a:cxnLst/>
                  <a:rect l="l" t="t" r="r" b="b"/>
                  <a:pathLst>
                    <a:path w="39687" h="142878">
                      <a:moveTo>
                        <a:pt x="39687" y="142878"/>
                      </a:moveTo>
                      <a:lnTo>
                        <a:pt x="39687" y="79378"/>
                      </a:lnTo>
                      <a:lnTo>
                        <a:pt x="28289" y="3384"/>
                      </a:lnTo>
                      <a:cubicBezTo>
                        <a:pt x="27998" y="1439"/>
                        <a:pt x="26327" y="1"/>
                        <a:pt x="24360" y="3"/>
                      </a:cubicBezTo>
                      <a:lnTo>
                        <a:pt x="15272" y="3"/>
                      </a:lnTo>
                      <a:cubicBezTo>
                        <a:pt x="13329" y="0"/>
                        <a:pt x="11669" y="1404"/>
                        <a:pt x="11351" y="3321"/>
                      </a:cubicBezTo>
                      <a:lnTo>
                        <a:pt x="0" y="71440"/>
                      </a:lnTo>
                    </a:path>
                  </a:pathLst>
                </a:custGeom>
                <a:noFill/>
                <a:ln w="15875">
                  <a:solidFill>
                    <a:srgbClr val="8B321E"/>
                  </a:solidFill>
                </a:ln>
              </p:spPr>
              <p:txBody>
                <a:bodyPr/>
                <a:p/>
              </p:txBody>
            </p:sp>
            <p:sp>
              <p:nvSpPr>
                <p:cNvPr id="103" name="Freeform 103"/>
                <p:cNvSpPr/>
                <p:nvPr/>
              </p:nvSpPr>
              <p:spPr>
                <a:xfrm>
                  <a:off x="5272087" y="2211387"/>
                  <a:ext cx="9525" cy="9525"/>
                </a:xfrm>
                <a:custGeom>
                  <a:avLst/>
                  <a:gdLst/>
                  <a:ahLst/>
                  <a:cxnLst/>
                  <a:rect l="l" t="t" r="r" b="b"/>
                  <a:pathLst>
                    <a:path w="9525" h="9525">
                      <a:moveTo>
                        <a:pt x="0" y="0"/>
                      </a:moveTo>
                      <a:lnTo>
                        <a:pt x="7937" y="0"/>
                      </a:lnTo>
                    </a:path>
                  </a:pathLst>
                </a:custGeom>
                <a:noFill/>
                <a:ln w="15875">
                  <a:solidFill>
                    <a:srgbClr val="8B321E"/>
                  </a:solidFill>
                </a:ln>
              </p:spPr>
              <p:txBody>
                <a:bodyPr/>
                <a:p/>
              </p:txBody>
            </p:sp>
            <p:sp>
              <p:nvSpPr>
                <p:cNvPr id="104" name="Freeform 104"/>
                <p:cNvSpPr/>
                <p:nvPr/>
              </p:nvSpPr>
              <p:spPr>
                <a:xfrm>
                  <a:off x="5311775" y="2211387"/>
                  <a:ext cx="9525" cy="9525"/>
                </a:xfrm>
                <a:custGeom>
                  <a:avLst/>
                  <a:gdLst/>
                  <a:ahLst/>
                  <a:cxnLst/>
                  <a:rect l="l" t="t" r="r" b="b"/>
                  <a:pathLst>
                    <a:path w="9525" h="9525">
                      <a:moveTo>
                        <a:pt x="0" y="0"/>
                      </a:moveTo>
                      <a:lnTo>
                        <a:pt x="7937" y="0"/>
                      </a:lnTo>
                    </a:path>
                  </a:pathLst>
                </a:custGeom>
                <a:noFill/>
                <a:ln w="15875">
                  <a:solidFill>
                    <a:srgbClr val="8B321E"/>
                  </a:solidFill>
                </a:ln>
              </p:spPr>
              <p:txBody>
                <a:bodyPr/>
                <a:p/>
              </p:txBody>
            </p:sp>
          </p:grpSp>
          <p:sp>
            <p:nvSpPr>
              <p:cNvPr id="106" name="TextBox 106"/>
              <p:cNvSpPr txBox="1"/>
              <p:nvPr/>
            </p:nvSpPr>
            <p:spPr>
              <a:xfrm>
                <a:off x="5462397" y="2114074"/>
                <a:ext cx="669544"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新工厂项目</a:t>
                </a:r>
              </a:p>
            </p:txBody>
          </p:sp>
          <p:sp>
            <p:nvSpPr>
              <p:cNvPr id="107" name="TextBox 107"/>
              <p:cNvSpPr txBox="1"/>
              <p:nvPr/>
            </p:nvSpPr>
            <p:spPr>
              <a:xfrm>
                <a:off x="7519035" y="2107406"/>
                <a:ext cx="423421" cy="220028"/>
              </a:xfrm>
              <a:prstGeom prst="rect">
                <a:avLst/>
              </a:prstGeom>
              <a:noFill/>
              <a:ln>
                <a:noFill/>
              </a:ln>
            </p:spPr>
            <p:txBody>
              <a:bodyPr wrap="none" lIns="0" tIns="0" rIns="0" bIns="0" anchor="t" anchorCtr="0">
                <a:spAutoFit/>
              </a:bodyPr>
              <a:lstStyle/>
              <a:p>
                <a:pPr algn="l"/>
                <a:r>
                  <a:rPr lang="zh-CN" sz="1120" b="1" dirty="0">
                    <a:solidFill>
                      <a:srgbClr val="C97263"/>
                    </a:solidFill>
                    <a:latin typeface="+mn-lt"/>
                    <a:ea typeface="+mn-ea"/>
                    <a:cs typeface="+mn-cs"/>
                  </a:rPr>
                  <a:t>200万</a:t>
                </a:r>
              </a:p>
            </p:txBody>
          </p:sp>
          <p:grpSp>
            <p:nvGrpSpPr>
              <p:cNvPr id="114" name="Group 114"/>
              <p:cNvGrpSpPr/>
              <p:nvPr/>
            </p:nvGrpSpPr>
            <p:grpSpPr>
              <a:xfrm>
                <a:off x="8331200" y="2114550"/>
                <a:ext cx="101600" cy="114300"/>
                <a:chOff x="8331200" y="2114550"/>
                <a:chExt cx="101600" cy="114300"/>
              </a:xfrm>
            </p:grpSpPr>
            <p:sp>
              <p:nvSpPr>
                <p:cNvPr id="108" name="Freeform 108"/>
                <p:cNvSpPr/>
                <p:nvPr/>
              </p:nvSpPr>
              <p:spPr>
                <a:xfrm>
                  <a:off x="8331200" y="2127250"/>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C97263"/>
                  </a:solidFill>
                </a:ln>
              </p:spPr>
              <p:txBody>
                <a:bodyPr/>
                <a:p/>
              </p:txBody>
            </p:sp>
            <p:sp>
              <p:nvSpPr>
                <p:cNvPr id="109" name="Freeform 109"/>
                <p:cNvSpPr/>
                <p:nvPr/>
              </p:nvSpPr>
              <p:spPr>
                <a:xfrm>
                  <a:off x="8407400" y="2114550"/>
                  <a:ext cx="9525" cy="25400"/>
                </a:xfrm>
                <a:custGeom>
                  <a:avLst/>
                  <a:gdLst/>
                  <a:ahLst/>
                  <a:cxnLst/>
                  <a:rect l="l" t="t" r="r" b="b"/>
                  <a:pathLst>
                    <a:path w="9525" h="25400">
                      <a:moveTo>
                        <a:pt x="0" y="0"/>
                      </a:moveTo>
                      <a:lnTo>
                        <a:pt x="0" y="25400"/>
                      </a:lnTo>
                    </a:path>
                  </a:pathLst>
                </a:custGeom>
                <a:noFill/>
                <a:ln w="12700">
                  <a:solidFill>
                    <a:srgbClr val="C97263"/>
                  </a:solidFill>
                </a:ln>
              </p:spPr>
              <p:txBody>
                <a:bodyPr/>
                <a:p/>
              </p:txBody>
            </p:sp>
            <p:sp>
              <p:nvSpPr>
                <p:cNvPr id="110" name="Freeform 110"/>
                <p:cNvSpPr/>
                <p:nvPr/>
              </p:nvSpPr>
              <p:spPr>
                <a:xfrm>
                  <a:off x="8356600" y="2114550"/>
                  <a:ext cx="9525" cy="25400"/>
                </a:xfrm>
                <a:custGeom>
                  <a:avLst/>
                  <a:gdLst/>
                  <a:ahLst/>
                  <a:cxnLst/>
                  <a:rect l="l" t="t" r="r" b="b"/>
                  <a:pathLst>
                    <a:path w="9525" h="25400">
                      <a:moveTo>
                        <a:pt x="0" y="0"/>
                      </a:moveTo>
                      <a:lnTo>
                        <a:pt x="0" y="25400"/>
                      </a:lnTo>
                    </a:path>
                  </a:pathLst>
                </a:custGeom>
                <a:noFill/>
                <a:ln w="12700">
                  <a:solidFill>
                    <a:srgbClr val="C97263"/>
                  </a:solidFill>
                </a:ln>
              </p:spPr>
              <p:txBody>
                <a:bodyPr/>
                <a:p/>
              </p:txBody>
            </p:sp>
            <p:sp>
              <p:nvSpPr>
                <p:cNvPr id="111" name="Freeform 111"/>
                <p:cNvSpPr/>
                <p:nvPr/>
              </p:nvSpPr>
              <p:spPr>
                <a:xfrm>
                  <a:off x="8331200" y="2165350"/>
                  <a:ext cx="101600" cy="9525"/>
                </a:xfrm>
                <a:custGeom>
                  <a:avLst/>
                  <a:gdLst/>
                  <a:ahLst/>
                  <a:cxnLst/>
                  <a:rect l="l" t="t" r="r" b="b"/>
                  <a:pathLst>
                    <a:path w="101600" h="9525">
                      <a:moveTo>
                        <a:pt x="0" y="0"/>
                      </a:moveTo>
                      <a:lnTo>
                        <a:pt x="101600" y="0"/>
                      </a:lnTo>
                    </a:path>
                  </a:pathLst>
                </a:custGeom>
                <a:noFill/>
                <a:ln w="12700">
                  <a:solidFill>
                    <a:srgbClr val="C97263"/>
                  </a:solidFill>
                </a:ln>
              </p:spPr>
              <p:txBody>
                <a:bodyPr/>
                <a:p/>
              </p:txBody>
            </p:sp>
            <p:sp>
              <p:nvSpPr>
                <p:cNvPr id="112" name="Freeform 112"/>
                <p:cNvSpPr/>
                <p:nvPr/>
              </p:nvSpPr>
              <p:spPr>
                <a:xfrm>
                  <a:off x="8375650" y="2190750"/>
                  <a:ext cx="9525" cy="9525"/>
                </a:xfrm>
                <a:custGeom>
                  <a:avLst/>
                  <a:gdLst/>
                  <a:ahLst/>
                  <a:cxnLst/>
                  <a:rect l="l" t="t" r="r" b="b"/>
                  <a:pathLst>
                    <a:path w="9525" h="9525">
                      <a:moveTo>
                        <a:pt x="0" y="0"/>
                      </a:moveTo>
                      <a:lnTo>
                        <a:pt x="6350" y="0"/>
                      </a:lnTo>
                    </a:path>
                  </a:pathLst>
                </a:custGeom>
                <a:noFill/>
                <a:ln w="12700">
                  <a:solidFill>
                    <a:srgbClr val="C97263"/>
                  </a:solidFill>
                </a:ln>
              </p:spPr>
              <p:txBody>
                <a:bodyPr/>
                <a:p/>
              </p:txBody>
            </p:sp>
            <p:sp>
              <p:nvSpPr>
                <p:cNvPr id="113" name="Freeform 113"/>
                <p:cNvSpPr/>
                <p:nvPr/>
              </p:nvSpPr>
              <p:spPr>
                <a:xfrm>
                  <a:off x="8382000" y="2190750"/>
                  <a:ext cx="9525" cy="19050"/>
                </a:xfrm>
                <a:custGeom>
                  <a:avLst/>
                  <a:gdLst/>
                  <a:ahLst/>
                  <a:cxnLst/>
                  <a:rect l="l" t="t" r="r" b="b"/>
                  <a:pathLst>
                    <a:path w="9525" h="19050">
                      <a:moveTo>
                        <a:pt x="0" y="0"/>
                      </a:moveTo>
                      <a:lnTo>
                        <a:pt x="0" y="19050"/>
                      </a:lnTo>
                    </a:path>
                  </a:pathLst>
                </a:custGeom>
                <a:noFill/>
                <a:ln w="12700">
                  <a:solidFill>
                    <a:srgbClr val="C97263"/>
                  </a:solidFill>
                </a:ln>
              </p:spPr>
              <p:txBody>
                <a:bodyPr/>
                <a:p/>
              </p:txBody>
            </p:sp>
          </p:grpSp>
          <p:sp>
            <p:nvSpPr>
              <p:cNvPr id="115" name="TextBox 115"/>
              <p:cNvSpPr txBox="1"/>
              <p:nvPr/>
            </p:nvSpPr>
            <p:spPr>
              <a:xfrm>
                <a:off x="8510397" y="2123599"/>
                <a:ext cx="200180" cy="190690"/>
              </a:xfrm>
              <a:prstGeom prst="rect">
                <a:avLst/>
              </a:prstGeom>
              <a:noFill/>
              <a:ln>
                <a:noFill/>
              </a:ln>
            </p:spPr>
            <p:txBody>
              <a:bodyPr wrap="none" lIns="0" tIns="0" rIns="0" bIns="0" anchor="t" anchorCtr="0">
                <a:spAutoFit/>
              </a:bodyPr>
              <a:lstStyle/>
              <a:p>
                <a:pPr algn="l"/>
                <a:r>
                  <a:rPr lang="en-US" sz="980" b="1" dirty="0">
                    <a:solidFill>
                      <a:srgbClr val="8B321E"/>
                    </a:solidFill>
                    <a:latin typeface="+mn-lt"/>
                    <a:ea typeface="+mn-ea"/>
                    <a:cs typeface="+mn-cs"/>
                  </a:rPr>
                  <a:t>Q3</a:t>
                </a:r>
              </a:p>
            </p:txBody>
          </p:sp>
          <p:sp>
            <p:nvSpPr>
              <p:cNvPr id="116" name="TextBox 116"/>
              <p:cNvSpPr txBox="1"/>
              <p:nvPr/>
            </p:nvSpPr>
            <p:spPr>
              <a:xfrm>
                <a:off x="9329738" y="2056686"/>
                <a:ext cx="91122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A6A6A"/>
                    </a:solidFill>
                    <a:latin typeface="+mn-lt"/>
                    <a:ea typeface="+mn-ea"/>
                    <a:cs typeface="+mn-cs"/>
                  </a:rPr>
                  <a:t>新工厂建设，核心产线</a:t>
                </a:r>
                <a:br/>
                <a:r>
                  <a:rPr lang="zh-CN" sz="710" dirty="0">
                    <a:solidFill>
                      <a:srgbClr val="6A6A6A"/>
                    </a:solidFill>
                    <a:latin typeface="+mn-lt"/>
                    <a:ea typeface="+mn-ea"/>
                    <a:cs typeface="+mn-cs"/>
                  </a:rPr>
                  <a:t>设备采购机会</a:t>
                </a:r>
              </a:p>
            </p:txBody>
          </p:sp>
        </p:grpSp>
        <p:grpSp>
          <p:nvGrpSpPr>
            <p:cNvPr id="138" name="opp-2"/>
            <p:cNvGrpSpPr/>
            <p:nvPr/>
          </p:nvGrpSpPr>
          <p:grpSpPr>
            <a:xfrm>
              <a:off x="4438650" y="2457450"/>
              <a:ext cx="7372350" cy="419100"/>
              <a:chOff x="4438650" y="2457450"/>
              <a:chExt cx="7372350" cy="419100"/>
            </a:xfrm>
          </p:grpSpPr>
          <p:sp>
            <p:nvSpPr>
              <p:cNvPr id="118" name="Rectangle 118"/>
              <p:cNvSpPr/>
              <p:nvPr/>
            </p:nvSpPr>
            <p:spPr>
              <a:xfrm>
                <a:off x="4438650" y="2457450"/>
                <a:ext cx="7372350" cy="419100"/>
              </a:xfrm>
              <a:prstGeom prst="roundRect">
                <a:avLst>
                  <a:gd name="adj" fmla="val 9091"/>
                </a:avLst>
              </a:prstGeom>
              <a:solidFill>
                <a:srgbClr val="FFFFFF"/>
              </a:solidFill>
              <a:ln w="9525">
                <a:solidFill>
                  <a:srgbClr val="E8E2DE"/>
                </a:solidFill>
              </a:ln>
            </p:spPr>
            <p:txBody>
              <a:bodyPr/>
              <a:p/>
            </p:txBody>
          </p:sp>
          <p:sp>
            <p:nvSpPr>
              <p:cNvPr id="119" name="Rectangle 119"/>
              <p:cNvSpPr/>
              <p:nvPr/>
            </p:nvSpPr>
            <p:spPr>
              <a:xfrm>
                <a:off x="4533900" y="2533650"/>
                <a:ext cx="514350" cy="266700"/>
              </a:xfrm>
              <a:prstGeom prst="roundRect">
                <a:avLst>
                  <a:gd name="adj" fmla="val 10714"/>
                </a:avLst>
              </a:prstGeom>
              <a:solidFill>
                <a:srgbClr val="8B321E"/>
              </a:solidFill>
              <a:ln>
                <a:noFill/>
              </a:ln>
            </p:spPr>
            <p:txBody>
              <a:bodyPr/>
              <a:p/>
            </p:txBody>
          </p:sp>
          <p:sp>
            <p:nvSpPr>
              <p:cNvPr id="120" name="TextBox 120"/>
              <p:cNvSpPr txBox="1"/>
              <p:nvPr/>
            </p:nvSpPr>
            <p:spPr>
              <a:xfrm>
                <a:off x="4620730" y="261604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机会二</a:t>
                </a:r>
              </a:p>
            </p:txBody>
          </p:sp>
          <p:grpSp>
            <p:nvGrpSpPr>
              <p:cNvPr id="126" name="Group 126"/>
              <p:cNvGrpSpPr/>
              <p:nvPr/>
            </p:nvGrpSpPr>
            <p:grpSpPr>
              <a:xfrm>
                <a:off x="5232400" y="2595562"/>
                <a:ext cx="127000" cy="142875"/>
                <a:chOff x="5232400" y="2595562"/>
                <a:chExt cx="127000" cy="142875"/>
              </a:xfrm>
            </p:grpSpPr>
            <p:sp>
              <p:nvSpPr>
                <p:cNvPr id="121" name="Freeform 121"/>
                <p:cNvSpPr/>
                <p:nvPr/>
              </p:nvSpPr>
              <p:spPr>
                <a:xfrm>
                  <a:off x="5232400" y="2595562"/>
                  <a:ext cx="127000" cy="142875"/>
                </a:xfrm>
                <a:custGeom>
                  <a:avLst/>
                  <a:gdLst/>
                  <a:ahLst/>
                  <a:cxnLst/>
                  <a:rect l="l" t="t" r="r" b="b"/>
                  <a:pathLst>
                    <a:path w="127000" h="142875">
                      <a:moveTo>
                        <a:pt x="63500" y="0"/>
                      </a:moveTo>
                      <a:lnTo>
                        <a:pt x="127000" y="35719"/>
                      </a:lnTo>
                      <a:lnTo>
                        <a:pt x="127000" y="107156"/>
                      </a:lnTo>
                      <a:lnTo>
                        <a:pt x="63500" y="142875"/>
                      </a:lnTo>
                      <a:lnTo>
                        <a:pt x="0" y="107156"/>
                      </a:lnTo>
                      <a:lnTo>
                        <a:pt x="0" y="35719"/>
                      </a:lnTo>
                      <a:lnTo>
                        <a:pt x="63500" y="0"/>
                      </a:lnTo>
                    </a:path>
                  </a:pathLst>
                </a:custGeom>
                <a:noFill/>
                <a:ln w="15875">
                  <a:solidFill>
                    <a:srgbClr val="8B321E"/>
                  </a:solidFill>
                </a:ln>
              </p:spPr>
              <p:txBody>
                <a:bodyPr/>
                <a:p/>
              </p:txBody>
            </p:sp>
            <p:sp>
              <p:nvSpPr>
                <p:cNvPr id="122" name="Freeform 122"/>
                <p:cNvSpPr/>
                <p:nvPr/>
              </p:nvSpPr>
              <p:spPr>
                <a:xfrm>
                  <a:off x="5295900" y="2631281"/>
                  <a:ext cx="63500" cy="35719"/>
                </a:xfrm>
                <a:custGeom>
                  <a:avLst/>
                  <a:gdLst/>
                  <a:ahLst/>
                  <a:cxnLst/>
                  <a:rect l="l" t="t" r="r" b="b"/>
                  <a:pathLst>
                    <a:path w="63500" h="35719">
                      <a:moveTo>
                        <a:pt x="0" y="35719"/>
                      </a:moveTo>
                      <a:lnTo>
                        <a:pt x="63500" y="0"/>
                      </a:lnTo>
                    </a:path>
                  </a:pathLst>
                </a:custGeom>
                <a:noFill/>
                <a:ln w="15875">
                  <a:solidFill>
                    <a:srgbClr val="8B321E"/>
                  </a:solidFill>
                </a:ln>
              </p:spPr>
              <p:txBody>
                <a:bodyPr/>
                <a:p/>
              </p:txBody>
            </p:sp>
            <p:sp>
              <p:nvSpPr>
                <p:cNvPr id="123" name="Freeform 123"/>
                <p:cNvSpPr/>
                <p:nvPr/>
              </p:nvSpPr>
              <p:spPr>
                <a:xfrm>
                  <a:off x="5295900" y="2667000"/>
                  <a:ext cx="9525" cy="71437"/>
                </a:xfrm>
                <a:custGeom>
                  <a:avLst/>
                  <a:gdLst/>
                  <a:ahLst/>
                  <a:cxnLst/>
                  <a:rect l="l" t="t" r="r" b="b"/>
                  <a:pathLst>
                    <a:path w="9525" h="71437">
                      <a:moveTo>
                        <a:pt x="0" y="0"/>
                      </a:moveTo>
                      <a:lnTo>
                        <a:pt x="0" y="71437"/>
                      </a:lnTo>
                    </a:path>
                  </a:pathLst>
                </a:custGeom>
                <a:noFill/>
                <a:ln w="15875">
                  <a:solidFill>
                    <a:srgbClr val="8B321E"/>
                  </a:solidFill>
                </a:ln>
              </p:spPr>
              <p:txBody>
                <a:bodyPr/>
                <a:p/>
              </p:txBody>
            </p:sp>
            <p:sp>
              <p:nvSpPr>
                <p:cNvPr id="124" name="Freeform 124"/>
                <p:cNvSpPr/>
                <p:nvPr/>
              </p:nvSpPr>
              <p:spPr>
                <a:xfrm>
                  <a:off x="5232400" y="2631281"/>
                  <a:ext cx="63500" cy="35719"/>
                </a:xfrm>
                <a:custGeom>
                  <a:avLst/>
                  <a:gdLst/>
                  <a:ahLst/>
                  <a:cxnLst/>
                  <a:rect l="l" t="t" r="r" b="b"/>
                  <a:pathLst>
                    <a:path w="63500" h="35719">
                      <a:moveTo>
                        <a:pt x="63500" y="35719"/>
                      </a:moveTo>
                      <a:lnTo>
                        <a:pt x="0" y="0"/>
                      </a:lnTo>
                    </a:path>
                  </a:pathLst>
                </a:custGeom>
                <a:noFill/>
                <a:ln w="15875">
                  <a:solidFill>
                    <a:srgbClr val="8B321E"/>
                  </a:solidFill>
                </a:ln>
              </p:spPr>
              <p:txBody>
                <a:bodyPr/>
                <a:p/>
              </p:txBody>
            </p:sp>
            <p:sp>
              <p:nvSpPr>
                <p:cNvPr id="125" name="Freeform 125"/>
                <p:cNvSpPr/>
                <p:nvPr/>
              </p:nvSpPr>
              <p:spPr>
                <a:xfrm>
                  <a:off x="5264150" y="2613422"/>
                  <a:ext cx="63500" cy="35719"/>
                </a:xfrm>
                <a:custGeom>
                  <a:avLst/>
                  <a:gdLst/>
                  <a:ahLst/>
                  <a:cxnLst/>
                  <a:rect l="l" t="t" r="r" b="b"/>
                  <a:pathLst>
                    <a:path w="63500" h="35719">
                      <a:moveTo>
                        <a:pt x="63500" y="0"/>
                      </a:moveTo>
                      <a:lnTo>
                        <a:pt x="0" y="35719"/>
                      </a:lnTo>
                    </a:path>
                  </a:pathLst>
                </a:custGeom>
                <a:noFill/>
                <a:ln w="15875">
                  <a:solidFill>
                    <a:srgbClr val="8B321E"/>
                  </a:solidFill>
                </a:ln>
              </p:spPr>
              <p:txBody>
                <a:bodyPr/>
                <a:p/>
              </p:txBody>
            </p:sp>
          </p:grpSp>
          <p:sp>
            <p:nvSpPr>
              <p:cNvPr id="127" name="TextBox 127"/>
              <p:cNvSpPr txBox="1"/>
              <p:nvPr/>
            </p:nvSpPr>
            <p:spPr>
              <a:xfrm>
                <a:off x="5462397" y="2609374"/>
                <a:ext cx="669544"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新产品导入</a:t>
                </a:r>
              </a:p>
            </p:txBody>
          </p:sp>
          <p:sp>
            <p:nvSpPr>
              <p:cNvPr id="128" name="TextBox 128"/>
              <p:cNvSpPr txBox="1"/>
              <p:nvPr/>
            </p:nvSpPr>
            <p:spPr>
              <a:xfrm>
                <a:off x="7519035" y="2602706"/>
                <a:ext cx="336349" cy="220028"/>
              </a:xfrm>
              <a:prstGeom prst="rect">
                <a:avLst/>
              </a:prstGeom>
              <a:noFill/>
              <a:ln>
                <a:noFill/>
              </a:ln>
            </p:spPr>
            <p:txBody>
              <a:bodyPr wrap="none" lIns="0" tIns="0" rIns="0" bIns="0" anchor="t" anchorCtr="0">
                <a:spAutoFit/>
              </a:bodyPr>
              <a:lstStyle/>
              <a:p>
                <a:pPr algn="l"/>
                <a:r>
                  <a:rPr lang="zh-CN" sz="1120" b="1" dirty="0">
                    <a:solidFill>
                      <a:srgbClr val="C97263"/>
                    </a:solidFill>
                    <a:latin typeface="+mn-lt"/>
                    <a:ea typeface="+mn-ea"/>
                    <a:cs typeface="+mn-cs"/>
                  </a:rPr>
                  <a:t>80万</a:t>
                </a:r>
              </a:p>
            </p:txBody>
          </p:sp>
          <p:grpSp>
            <p:nvGrpSpPr>
              <p:cNvPr id="135" name="Group 135"/>
              <p:cNvGrpSpPr/>
              <p:nvPr/>
            </p:nvGrpSpPr>
            <p:grpSpPr>
              <a:xfrm>
                <a:off x="8331200" y="2609850"/>
                <a:ext cx="101600" cy="114300"/>
                <a:chOff x="8331200" y="2609850"/>
                <a:chExt cx="101600" cy="114300"/>
              </a:xfrm>
            </p:grpSpPr>
            <p:sp>
              <p:nvSpPr>
                <p:cNvPr id="129" name="Freeform 129"/>
                <p:cNvSpPr/>
                <p:nvPr/>
              </p:nvSpPr>
              <p:spPr>
                <a:xfrm>
                  <a:off x="8331200" y="2622550"/>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C97263"/>
                  </a:solidFill>
                </a:ln>
              </p:spPr>
              <p:txBody>
                <a:bodyPr/>
                <a:p/>
              </p:txBody>
            </p:sp>
            <p:sp>
              <p:nvSpPr>
                <p:cNvPr id="130" name="Freeform 130"/>
                <p:cNvSpPr/>
                <p:nvPr/>
              </p:nvSpPr>
              <p:spPr>
                <a:xfrm>
                  <a:off x="8407400" y="2609850"/>
                  <a:ext cx="9525" cy="25400"/>
                </a:xfrm>
                <a:custGeom>
                  <a:avLst/>
                  <a:gdLst/>
                  <a:ahLst/>
                  <a:cxnLst/>
                  <a:rect l="l" t="t" r="r" b="b"/>
                  <a:pathLst>
                    <a:path w="9525" h="25400">
                      <a:moveTo>
                        <a:pt x="0" y="0"/>
                      </a:moveTo>
                      <a:lnTo>
                        <a:pt x="0" y="25400"/>
                      </a:lnTo>
                    </a:path>
                  </a:pathLst>
                </a:custGeom>
                <a:noFill/>
                <a:ln w="12700">
                  <a:solidFill>
                    <a:srgbClr val="C97263"/>
                  </a:solidFill>
                </a:ln>
              </p:spPr>
              <p:txBody>
                <a:bodyPr/>
                <a:p/>
              </p:txBody>
            </p:sp>
            <p:sp>
              <p:nvSpPr>
                <p:cNvPr id="131" name="Freeform 131"/>
                <p:cNvSpPr/>
                <p:nvPr/>
              </p:nvSpPr>
              <p:spPr>
                <a:xfrm>
                  <a:off x="8356600" y="2609850"/>
                  <a:ext cx="9525" cy="25400"/>
                </a:xfrm>
                <a:custGeom>
                  <a:avLst/>
                  <a:gdLst/>
                  <a:ahLst/>
                  <a:cxnLst/>
                  <a:rect l="l" t="t" r="r" b="b"/>
                  <a:pathLst>
                    <a:path w="9525" h="25400">
                      <a:moveTo>
                        <a:pt x="0" y="0"/>
                      </a:moveTo>
                      <a:lnTo>
                        <a:pt x="0" y="25400"/>
                      </a:lnTo>
                    </a:path>
                  </a:pathLst>
                </a:custGeom>
                <a:noFill/>
                <a:ln w="12700">
                  <a:solidFill>
                    <a:srgbClr val="C97263"/>
                  </a:solidFill>
                </a:ln>
              </p:spPr>
              <p:txBody>
                <a:bodyPr/>
                <a:p/>
              </p:txBody>
            </p:sp>
            <p:sp>
              <p:nvSpPr>
                <p:cNvPr id="132" name="Freeform 132"/>
                <p:cNvSpPr/>
                <p:nvPr/>
              </p:nvSpPr>
              <p:spPr>
                <a:xfrm>
                  <a:off x="8331200" y="2660650"/>
                  <a:ext cx="101600" cy="9525"/>
                </a:xfrm>
                <a:custGeom>
                  <a:avLst/>
                  <a:gdLst/>
                  <a:ahLst/>
                  <a:cxnLst/>
                  <a:rect l="l" t="t" r="r" b="b"/>
                  <a:pathLst>
                    <a:path w="101600" h="9525">
                      <a:moveTo>
                        <a:pt x="0" y="0"/>
                      </a:moveTo>
                      <a:lnTo>
                        <a:pt x="101600" y="0"/>
                      </a:lnTo>
                    </a:path>
                  </a:pathLst>
                </a:custGeom>
                <a:noFill/>
                <a:ln w="12700">
                  <a:solidFill>
                    <a:srgbClr val="C97263"/>
                  </a:solidFill>
                </a:ln>
              </p:spPr>
              <p:txBody>
                <a:bodyPr/>
                <a:p/>
              </p:txBody>
            </p:sp>
            <p:sp>
              <p:nvSpPr>
                <p:cNvPr id="133" name="Freeform 133"/>
                <p:cNvSpPr/>
                <p:nvPr/>
              </p:nvSpPr>
              <p:spPr>
                <a:xfrm>
                  <a:off x="8375650" y="2686050"/>
                  <a:ext cx="9525" cy="9525"/>
                </a:xfrm>
                <a:custGeom>
                  <a:avLst/>
                  <a:gdLst/>
                  <a:ahLst/>
                  <a:cxnLst/>
                  <a:rect l="l" t="t" r="r" b="b"/>
                  <a:pathLst>
                    <a:path w="9525" h="9525">
                      <a:moveTo>
                        <a:pt x="0" y="0"/>
                      </a:moveTo>
                      <a:lnTo>
                        <a:pt x="6350" y="0"/>
                      </a:lnTo>
                    </a:path>
                  </a:pathLst>
                </a:custGeom>
                <a:noFill/>
                <a:ln w="12700">
                  <a:solidFill>
                    <a:srgbClr val="C97263"/>
                  </a:solidFill>
                </a:ln>
              </p:spPr>
              <p:txBody>
                <a:bodyPr/>
                <a:p/>
              </p:txBody>
            </p:sp>
            <p:sp>
              <p:nvSpPr>
                <p:cNvPr id="134" name="Freeform 134"/>
                <p:cNvSpPr/>
                <p:nvPr/>
              </p:nvSpPr>
              <p:spPr>
                <a:xfrm>
                  <a:off x="8382000" y="2686050"/>
                  <a:ext cx="9525" cy="19050"/>
                </a:xfrm>
                <a:custGeom>
                  <a:avLst/>
                  <a:gdLst/>
                  <a:ahLst/>
                  <a:cxnLst/>
                  <a:rect l="l" t="t" r="r" b="b"/>
                  <a:pathLst>
                    <a:path w="9525" h="19050">
                      <a:moveTo>
                        <a:pt x="0" y="0"/>
                      </a:moveTo>
                      <a:lnTo>
                        <a:pt x="0" y="19050"/>
                      </a:lnTo>
                    </a:path>
                  </a:pathLst>
                </a:custGeom>
                <a:noFill/>
                <a:ln w="12700">
                  <a:solidFill>
                    <a:srgbClr val="C97263"/>
                  </a:solidFill>
                </a:ln>
              </p:spPr>
              <p:txBody>
                <a:bodyPr/>
                <a:p/>
              </p:txBody>
            </p:sp>
          </p:grpSp>
          <p:sp>
            <p:nvSpPr>
              <p:cNvPr id="136" name="TextBox 136"/>
              <p:cNvSpPr txBox="1"/>
              <p:nvPr/>
            </p:nvSpPr>
            <p:spPr>
              <a:xfrm>
                <a:off x="8510397" y="2618899"/>
                <a:ext cx="200180" cy="190690"/>
              </a:xfrm>
              <a:prstGeom prst="rect">
                <a:avLst/>
              </a:prstGeom>
              <a:noFill/>
              <a:ln>
                <a:noFill/>
              </a:ln>
            </p:spPr>
            <p:txBody>
              <a:bodyPr wrap="none" lIns="0" tIns="0" rIns="0" bIns="0" anchor="t" anchorCtr="0">
                <a:spAutoFit/>
              </a:bodyPr>
              <a:lstStyle/>
              <a:p>
                <a:pPr algn="l"/>
                <a:r>
                  <a:rPr lang="en-US" sz="980" b="1" dirty="0">
                    <a:solidFill>
                      <a:srgbClr val="8B321E"/>
                    </a:solidFill>
                    <a:latin typeface="+mn-lt"/>
                    <a:ea typeface="+mn-ea"/>
                    <a:cs typeface="+mn-cs"/>
                  </a:rPr>
                  <a:t>Q2</a:t>
                </a:r>
              </a:p>
            </p:txBody>
          </p:sp>
          <p:sp>
            <p:nvSpPr>
              <p:cNvPr id="137" name="TextBox 137"/>
              <p:cNvSpPr txBox="1"/>
              <p:nvPr/>
            </p:nvSpPr>
            <p:spPr>
              <a:xfrm>
                <a:off x="9329738" y="2551986"/>
                <a:ext cx="100139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A6A6A"/>
                    </a:solidFill>
                    <a:latin typeface="+mn-lt"/>
                    <a:ea typeface="+mn-ea"/>
                    <a:cs typeface="+mn-cs"/>
                  </a:rPr>
                  <a:t>新品上市，需要导入配套</a:t>
                </a:r>
                <a:br/>
                <a:r>
                  <a:rPr lang="zh-CN" sz="710" dirty="0">
                    <a:solidFill>
                      <a:srgbClr val="6A6A6A"/>
                    </a:solidFill>
                    <a:latin typeface="+mn-lt"/>
                    <a:ea typeface="+mn-ea"/>
                    <a:cs typeface="+mn-cs"/>
                  </a:rPr>
                  <a:t>解决方案</a:t>
                </a:r>
              </a:p>
            </p:txBody>
          </p:sp>
        </p:grpSp>
        <p:grpSp>
          <p:nvGrpSpPr>
            <p:cNvPr id="156" name="opp-3"/>
            <p:cNvGrpSpPr/>
            <p:nvPr/>
          </p:nvGrpSpPr>
          <p:grpSpPr>
            <a:xfrm>
              <a:off x="4438650" y="2952750"/>
              <a:ext cx="7372350" cy="419100"/>
              <a:chOff x="4438650" y="2952750"/>
              <a:chExt cx="7372350" cy="419100"/>
            </a:xfrm>
          </p:grpSpPr>
          <p:sp>
            <p:nvSpPr>
              <p:cNvPr id="139" name="Rectangle 139"/>
              <p:cNvSpPr/>
              <p:nvPr/>
            </p:nvSpPr>
            <p:spPr>
              <a:xfrm>
                <a:off x="4438650" y="2952750"/>
                <a:ext cx="7372350" cy="419100"/>
              </a:xfrm>
              <a:prstGeom prst="roundRect">
                <a:avLst>
                  <a:gd name="adj" fmla="val 9091"/>
                </a:avLst>
              </a:prstGeom>
              <a:solidFill>
                <a:srgbClr val="FFFFFF"/>
              </a:solidFill>
              <a:ln w="9525">
                <a:solidFill>
                  <a:srgbClr val="E8E2DE"/>
                </a:solidFill>
              </a:ln>
            </p:spPr>
            <p:txBody>
              <a:bodyPr/>
              <a:p/>
            </p:txBody>
          </p:sp>
          <p:sp>
            <p:nvSpPr>
              <p:cNvPr id="140" name="Rectangle 140"/>
              <p:cNvSpPr/>
              <p:nvPr/>
            </p:nvSpPr>
            <p:spPr>
              <a:xfrm>
                <a:off x="4533900" y="3028950"/>
                <a:ext cx="514350" cy="266700"/>
              </a:xfrm>
              <a:prstGeom prst="roundRect">
                <a:avLst>
                  <a:gd name="adj" fmla="val 10714"/>
                </a:avLst>
              </a:prstGeom>
              <a:solidFill>
                <a:srgbClr val="8B321E"/>
              </a:solidFill>
              <a:ln>
                <a:noFill/>
              </a:ln>
            </p:spPr>
            <p:txBody>
              <a:bodyPr/>
              <a:p/>
            </p:txBody>
          </p:sp>
          <p:sp>
            <p:nvSpPr>
              <p:cNvPr id="141" name="TextBox 141"/>
              <p:cNvSpPr txBox="1"/>
              <p:nvPr/>
            </p:nvSpPr>
            <p:spPr>
              <a:xfrm>
                <a:off x="4620730" y="3111341"/>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机会三</a:t>
                </a:r>
              </a:p>
            </p:txBody>
          </p:sp>
          <p:grpSp>
            <p:nvGrpSpPr>
              <p:cNvPr id="144" name="Group 144"/>
              <p:cNvGrpSpPr/>
              <p:nvPr/>
            </p:nvGrpSpPr>
            <p:grpSpPr>
              <a:xfrm>
                <a:off x="5224462" y="3122612"/>
                <a:ext cx="142875" cy="79375"/>
                <a:chOff x="5224462" y="3122612"/>
                <a:chExt cx="142875" cy="79375"/>
              </a:xfrm>
            </p:grpSpPr>
            <p:sp>
              <p:nvSpPr>
                <p:cNvPr id="142" name="Freeform 142"/>
                <p:cNvSpPr/>
                <p:nvPr/>
              </p:nvSpPr>
              <p:spPr>
                <a:xfrm>
                  <a:off x="5224462" y="3122612"/>
                  <a:ext cx="142875" cy="79375"/>
                </a:xfrm>
                <a:custGeom>
                  <a:avLst/>
                  <a:gdLst/>
                  <a:ahLst/>
                  <a:cxnLst/>
                  <a:rect l="l" t="t" r="r" b="b"/>
                  <a:pathLst>
                    <a:path w="142875" h="79375">
                      <a:moveTo>
                        <a:pt x="0" y="79375"/>
                      </a:moveTo>
                      <a:lnTo>
                        <a:pt x="47625" y="31750"/>
                      </a:lnTo>
                      <a:lnTo>
                        <a:pt x="79375" y="63500"/>
                      </a:lnTo>
                      <a:lnTo>
                        <a:pt x="142875" y="0"/>
                      </a:lnTo>
                    </a:path>
                  </a:pathLst>
                </a:custGeom>
                <a:noFill/>
                <a:ln w="15875">
                  <a:solidFill>
                    <a:srgbClr val="8B321E"/>
                  </a:solidFill>
                </a:ln>
              </p:spPr>
              <p:txBody>
                <a:bodyPr/>
                <a:p/>
              </p:txBody>
            </p:sp>
            <p:sp>
              <p:nvSpPr>
                <p:cNvPr id="143" name="Freeform 143"/>
                <p:cNvSpPr/>
                <p:nvPr/>
              </p:nvSpPr>
              <p:spPr>
                <a:xfrm>
                  <a:off x="5311775" y="3122612"/>
                  <a:ext cx="55562" cy="55562"/>
                </a:xfrm>
                <a:custGeom>
                  <a:avLst/>
                  <a:gdLst/>
                  <a:ahLst/>
                  <a:cxnLst/>
                  <a:rect l="l" t="t" r="r" b="b"/>
                  <a:pathLst>
                    <a:path w="55562" h="55562">
                      <a:moveTo>
                        <a:pt x="0" y="0"/>
                      </a:moveTo>
                      <a:lnTo>
                        <a:pt x="55562" y="0"/>
                      </a:lnTo>
                      <a:lnTo>
                        <a:pt x="55562" y="55562"/>
                      </a:lnTo>
                    </a:path>
                  </a:pathLst>
                </a:custGeom>
                <a:noFill/>
                <a:ln w="15875">
                  <a:solidFill>
                    <a:srgbClr val="8B321E"/>
                  </a:solidFill>
                </a:ln>
              </p:spPr>
              <p:txBody>
                <a:bodyPr/>
                <a:p/>
              </p:txBody>
            </p:sp>
          </p:grpSp>
          <p:sp>
            <p:nvSpPr>
              <p:cNvPr id="145" name="TextBox 145"/>
              <p:cNvSpPr txBox="1"/>
              <p:nvPr/>
            </p:nvSpPr>
            <p:spPr>
              <a:xfrm>
                <a:off x="5462397" y="3104674"/>
                <a:ext cx="1065327"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现有品类份额提升</a:t>
                </a:r>
              </a:p>
            </p:txBody>
          </p:sp>
          <p:sp>
            <p:nvSpPr>
              <p:cNvPr id="146" name="TextBox 146"/>
              <p:cNvSpPr txBox="1"/>
              <p:nvPr/>
            </p:nvSpPr>
            <p:spPr>
              <a:xfrm>
                <a:off x="7519035" y="3098006"/>
                <a:ext cx="98502" cy="220028"/>
              </a:xfrm>
              <a:prstGeom prst="rect">
                <a:avLst/>
              </a:prstGeom>
              <a:noFill/>
              <a:ln>
                <a:noFill/>
              </a:ln>
            </p:spPr>
            <p:txBody>
              <a:bodyPr wrap="none" lIns="0" tIns="0" rIns="0" bIns="0" anchor="t" anchorCtr="0">
                <a:spAutoFit/>
              </a:bodyPr>
              <a:lstStyle/>
              <a:p>
                <a:pPr algn="l"/>
                <a:r>
                  <a:rPr lang="zh-CN" sz="1120" b="1" dirty="0">
                    <a:solidFill>
                      <a:srgbClr val="C97263"/>
                    </a:solidFill>
                    <a:latin typeface="+mn-lt"/>
                    <a:ea typeface="+mn-ea"/>
                    <a:cs typeface="+mn-cs"/>
                  </a:rPr>
                  <a:t>—</a:t>
                </a:r>
              </a:p>
            </p:txBody>
          </p:sp>
          <p:grpSp>
            <p:nvGrpSpPr>
              <p:cNvPr id="153" name="Group 153"/>
              <p:cNvGrpSpPr/>
              <p:nvPr/>
            </p:nvGrpSpPr>
            <p:grpSpPr>
              <a:xfrm>
                <a:off x="8331200" y="3105150"/>
                <a:ext cx="101600" cy="114300"/>
                <a:chOff x="8331200" y="3105150"/>
                <a:chExt cx="101600" cy="114300"/>
              </a:xfrm>
            </p:grpSpPr>
            <p:sp>
              <p:nvSpPr>
                <p:cNvPr id="147" name="Freeform 147"/>
                <p:cNvSpPr/>
                <p:nvPr/>
              </p:nvSpPr>
              <p:spPr>
                <a:xfrm>
                  <a:off x="8331200" y="3117850"/>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C97263"/>
                  </a:solidFill>
                </a:ln>
              </p:spPr>
              <p:txBody>
                <a:bodyPr/>
                <a:p/>
              </p:txBody>
            </p:sp>
            <p:sp>
              <p:nvSpPr>
                <p:cNvPr id="148" name="Freeform 148"/>
                <p:cNvSpPr/>
                <p:nvPr/>
              </p:nvSpPr>
              <p:spPr>
                <a:xfrm>
                  <a:off x="8407400" y="3105150"/>
                  <a:ext cx="9525" cy="25400"/>
                </a:xfrm>
                <a:custGeom>
                  <a:avLst/>
                  <a:gdLst/>
                  <a:ahLst/>
                  <a:cxnLst/>
                  <a:rect l="l" t="t" r="r" b="b"/>
                  <a:pathLst>
                    <a:path w="9525" h="25400">
                      <a:moveTo>
                        <a:pt x="0" y="0"/>
                      </a:moveTo>
                      <a:lnTo>
                        <a:pt x="0" y="25400"/>
                      </a:lnTo>
                    </a:path>
                  </a:pathLst>
                </a:custGeom>
                <a:noFill/>
                <a:ln w="12700">
                  <a:solidFill>
                    <a:srgbClr val="C97263"/>
                  </a:solidFill>
                </a:ln>
              </p:spPr>
              <p:txBody>
                <a:bodyPr/>
                <a:p/>
              </p:txBody>
            </p:sp>
            <p:sp>
              <p:nvSpPr>
                <p:cNvPr id="149" name="Freeform 149"/>
                <p:cNvSpPr/>
                <p:nvPr/>
              </p:nvSpPr>
              <p:spPr>
                <a:xfrm>
                  <a:off x="8356600" y="3105150"/>
                  <a:ext cx="9525" cy="25400"/>
                </a:xfrm>
                <a:custGeom>
                  <a:avLst/>
                  <a:gdLst/>
                  <a:ahLst/>
                  <a:cxnLst/>
                  <a:rect l="l" t="t" r="r" b="b"/>
                  <a:pathLst>
                    <a:path w="9525" h="25400">
                      <a:moveTo>
                        <a:pt x="0" y="0"/>
                      </a:moveTo>
                      <a:lnTo>
                        <a:pt x="0" y="25400"/>
                      </a:lnTo>
                    </a:path>
                  </a:pathLst>
                </a:custGeom>
                <a:noFill/>
                <a:ln w="12700">
                  <a:solidFill>
                    <a:srgbClr val="C97263"/>
                  </a:solidFill>
                </a:ln>
              </p:spPr>
              <p:txBody>
                <a:bodyPr/>
                <a:p/>
              </p:txBody>
            </p:sp>
            <p:sp>
              <p:nvSpPr>
                <p:cNvPr id="150" name="Freeform 150"/>
                <p:cNvSpPr/>
                <p:nvPr/>
              </p:nvSpPr>
              <p:spPr>
                <a:xfrm>
                  <a:off x="8331200" y="3155950"/>
                  <a:ext cx="101600" cy="9525"/>
                </a:xfrm>
                <a:custGeom>
                  <a:avLst/>
                  <a:gdLst/>
                  <a:ahLst/>
                  <a:cxnLst/>
                  <a:rect l="l" t="t" r="r" b="b"/>
                  <a:pathLst>
                    <a:path w="101600" h="9525">
                      <a:moveTo>
                        <a:pt x="0" y="0"/>
                      </a:moveTo>
                      <a:lnTo>
                        <a:pt x="101600" y="0"/>
                      </a:lnTo>
                    </a:path>
                  </a:pathLst>
                </a:custGeom>
                <a:noFill/>
                <a:ln w="12700">
                  <a:solidFill>
                    <a:srgbClr val="C97263"/>
                  </a:solidFill>
                </a:ln>
              </p:spPr>
              <p:txBody>
                <a:bodyPr/>
                <a:p/>
              </p:txBody>
            </p:sp>
            <p:sp>
              <p:nvSpPr>
                <p:cNvPr id="151" name="Freeform 151"/>
                <p:cNvSpPr/>
                <p:nvPr/>
              </p:nvSpPr>
              <p:spPr>
                <a:xfrm>
                  <a:off x="8375650" y="3181350"/>
                  <a:ext cx="9525" cy="9525"/>
                </a:xfrm>
                <a:custGeom>
                  <a:avLst/>
                  <a:gdLst/>
                  <a:ahLst/>
                  <a:cxnLst/>
                  <a:rect l="l" t="t" r="r" b="b"/>
                  <a:pathLst>
                    <a:path w="9525" h="9525">
                      <a:moveTo>
                        <a:pt x="0" y="0"/>
                      </a:moveTo>
                      <a:lnTo>
                        <a:pt x="6350" y="0"/>
                      </a:lnTo>
                    </a:path>
                  </a:pathLst>
                </a:custGeom>
                <a:noFill/>
                <a:ln w="12700">
                  <a:solidFill>
                    <a:srgbClr val="C97263"/>
                  </a:solidFill>
                </a:ln>
              </p:spPr>
              <p:txBody>
                <a:bodyPr/>
                <a:p/>
              </p:txBody>
            </p:sp>
            <p:sp>
              <p:nvSpPr>
                <p:cNvPr id="152" name="Freeform 152"/>
                <p:cNvSpPr/>
                <p:nvPr/>
              </p:nvSpPr>
              <p:spPr>
                <a:xfrm>
                  <a:off x="8382000" y="3181350"/>
                  <a:ext cx="9525" cy="19050"/>
                </a:xfrm>
                <a:custGeom>
                  <a:avLst/>
                  <a:gdLst/>
                  <a:ahLst/>
                  <a:cxnLst/>
                  <a:rect l="l" t="t" r="r" b="b"/>
                  <a:pathLst>
                    <a:path w="9525" h="19050">
                      <a:moveTo>
                        <a:pt x="0" y="0"/>
                      </a:moveTo>
                      <a:lnTo>
                        <a:pt x="0" y="19050"/>
                      </a:lnTo>
                    </a:path>
                  </a:pathLst>
                </a:custGeom>
                <a:noFill/>
                <a:ln w="12700">
                  <a:solidFill>
                    <a:srgbClr val="C97263"/>
                  </a:solidFill>
                </a:ln>
              </p:spPr>
              <p:txBody>
                <a:bodyPr/>
                <a:p/>
              </p:txBody>
            </p:sp>
          </p:grpSp>
          <p:sp>
            <p:nvSpPr>
              <p:cNvPr id="154" name="TextBox 154"/>
              <p:cNvSpPr txBox="1"/>
              <p:nvPr/>
            </p:nvSpPr>
            <p:spPr>
              <a:xfrm>
                <a:off x="8510397" y="3114199"/>
                <a:ext cx="273761" cy="190690"/>
              </a:xfrm>
              <a:prstGeom prst="rect">
                <a:avLst/>
              </a:prstGeom>
              <a:noFill/>
              <a:ln>
                <a:noFill/>
              </a:ln>
            </p:spPr>
            <p:txBody>
              <a:bodyPr wrap="none" lIns="0" tIns="0" rIns="0" bIns="0" anchor="t" anchorCtr="0">
                <a:spAutoFit/>
              </a:bodyPr>
              <a:lstStyle/>
              <a:p>
                <a:pPr algn="l"/>
                <a:r>
                  <a:rPr lang="zh-CN" sz="980" b="1" dirty="0">
                    <a:solidFill>
                      <a:srgbClr val="8B321E"/>
                    </a:solidFill>
                    <a:latin typeface="+mn-lt"/>
                    <a:ea typeface="+mn-ea"/>
                    <a:cs typeface="+mn-cs"/>
                  </a:rPr>
                  <a:t>全年</a:t>
                </a:r>
              </a:p>
            </p:txBody>
          </p:sp>
          <p:sp>
            <p:nvSpPr>
              <p:cNvPr id="155" name="TextBox 155"/>
              <p:cNvSpPr txBox="1"/>
              <p:nvPr/>
            </p:nvSpPr>
            <p:spPr>
              <a:xfrm>
                <a:off x="9329738" y="3047286"/>
                <a:ext cx="821055" cy="273844"/>
              </a:xfrm>
              <a:prstGeom prst="rect">
                <a:avLst/>
              </a:prstGeom>
              <a:noFill/>
              <a:ln>
                <a:noFill/>
              </a:ln>
            </p:spPr>
            <p:txBody>
              <a:bodyPr wrap="none" lIns="0" tIns="0" rIns="0" bIns="0" anchor="t" anchorCtr="0">
                <a:spAutoFit/>
              </a:bodyPr>
              <a:lstStyle/>
              <a:p>
                <a:pPr algn="l">
                  <a:lnSpc>
                    <a:spcPts val="1050"/>
                  </a:lnSpc>
                </a:pPr>
                <a:r>
                  <a:rPr lang="zh-CN" sz="710" dirty="0">
                    <a:solidFill>
                      <a:srgbClr val="6A6A6A"/>
                    </a:solidFill>
                    <a:latin typeface="+mn-lt"/>
                    <a:ea typeface="+mn-ea"/>
                    <a:cs typeface="+mn-cs"/>
                  </a:rPr>
                  <a:t>提升核心品类份额，</a:t>
                </a:r>
                <a:br/>
                <a:r>
                  <a:rPr lang="zh-CN" sz="710" dirty="0">
                    <a:solidFill>
                      <a:srgbClr val="6A6A6A"/>
                    </a:solidFill>
                    <a:latin typeface="+mn-lt"/>
                    <a:ea typeface="+mn-ea"/>
                    <a:cs typeface="+mn-cs"/>
                  </a:rPr>
                  <a:t>向50%目标迈进</a:t>
                </a:r>
              </a:p>
            </p:txBody>
          </p:sp>
        </p:grpSp>
      </p:grpSp>
      <p:grpSp>
        <p:nvGrpSpPr>
          <p:cNvPr id="212" name="action-timeline"/>
          <p:cNvGrpSpPr/>
          <p:nvPr/>
        </p:nvGrpSpPr>
        <p:grpSpPr>
          <a:xfrm>
            <a:off x="409575" y="3507581"/>
            <a:ext cx="11268075" cy="1013699"/>
            <a:chOff x="409575" y="3507581"/>
            <a:chExt cx="11268075" cy="1013699"/>
          </a:xfrm>
        </p:grpSpPr>
        <p:grpSp>
          <p:nvGrpSpPr>
            <p:cNvPr id="164" name="Group 164"/>
            <p:cNvGrpSpPr/>
            <p:nvPr/>
          </p:nvGrpSpPr>
          <p:grpSpPr>
            <a:xfrm>
              <a:off x="409575" y="3507581"/>
              <a:ext cx="114300" cy="128588"/>
              <a:chOff x="409575" y="3507581"/>
              <a:chExt cx="114300" cy="128588"/>
            </a:xfrm>
          </p:grpSpPr>
          <p:sp>
            <p:nvSpPr>
              <p:cNvPr id="158" name="Freeform 158"/>
              <p:cNvSpPr/>
              <p:nvPr/>
            </p:nvSpPr>
            <p:spPr>
              <a:xfrm>
                <a:off x="409575" y="3521869"/>
                <a:ext cx="114300" cy="114300"/>
              </a:xfrm>
              <a:custGeom>
                <a:avLst/>
                <a:gdLst/>
                <a:ahLst/>
                <a:cxnLst/>
                <a:rect l="l" t="t" r="r" b="b"/>
                <a:pathLst>
                  <a:path w="114300" h="114300">
                    <a:moveTo>
                      <a:pt x="0" y="14288"/>
                    </a:moveTo>
                    <a:cubicBezTo>
                      <a:pt x="0" y="6397"/>
                      <a:pt x="6397" y="0"/>
                      <a:pt x="14288" y="0"/>
                    </a:cubicBezTo>
                    <a:lnTo>
                      <a:pt x="100012" y="0"/>
                    </a:lnTo>
                    <a:cubicBezTo>
                      <a:pt x="107903" y="0"/>
                      <a:pt x="114300" y="6397"/>
                      <a:pt x="114300" y="14288"/>
                    </a:cubicBezTo>
                    <a:lnTo>
                      <a:pt x="114300" y="100012"/>
                    </a:lnTo>
                    <a:cubicBezTo>
                      <a:pt x="114300" y="107903"/>
                      <a:pt x="107903" y="114300"/>
                      <a:pt x="100012" y="114300"/>
                    </a:cubicBezTo>
                    <a:lnTo>
                      <a:pt x="14288" y="114300"/>
                    </a:lnTo>
                    <a:cubicBezTo>
                      <a:pt x="6397" y="114300"/>
                      <a:pt x="0" y="107903"/>
                      <a:pt x="0" y="100012"/>
                    </a:cubicBezTo>
                    <a:lnTo>
                      <a:pt x="0" y="14288"/>
                    </a:lnTo>
                  </a:path>
                </a:pathLst>
              </a:custGeom>
              <a:noFill/>
              <a:ln w="14288">
                <a:solidFill>
                  <a:srgbClr val="8B321E"/>
                </a:solidFill>
              </a:ln>
            </p:spPr>
            <p:txBody>
              <a:bodyPr/>
              <a:p/>
            </p:txBody>
          </p:sp>
          <p:sp>
            <p:nvSpPr>
              <p:cNvPr id="159" name="Freeform 159"/>
              <p:cNvSpPr/>
              <p:nvPr/>
            </p:nvSpPr>
            <p:spPr>
              <a:xfrm>
                <a:off x="495300" y="3507581"/>
                <a:ext cx="9525" cy="28575"/>
              </a:xfrm>
              <a:custGeom>
                <a:avLst/>
                <a:gdLst/>
                <a:ahLst/>
                <a:cxnLst/>
                <a:rect l="l" t="t" r="r" b="b"/>
                <a:pathLst>
                  <a:path w="9525" h="28575">
                    <a:moveTo>
                      <a:pt x="0" y="0"/>
                    </a:moveTo>
                    <a:lnTo>
                      <a:pt x="0" y="28575"/>
                    </a:lnTo>
                  </a:path>
                </a:pathLst>
              </a:custGeom>
              <a:noFill/>
              <a:ln w="14288">
                <a:solidFill>
                  <a:srgbClr val="8B321E"/>
                </a:solidFill>
              </a:ln>
            </p:spPr>
            <p:txBody>
              <a:bodyPr/>
              <a:p/>
            </p:txBody>
          </p:sp>
          <p:sp>
            <p:nvSpPr>
              <p:cNvPr id="160" name="Freeform 160"/>
              <p:cNvSpPr/>
              <p:nvPr/>
            </p:nvSpPr>
            <p:spPr>
              <a:xfrm>
                <a:off x="438150" y="3507581"/>
                <a:ext cx="9525" cy="28575"/>
              </a:xfrm>
              <a:custGeom>
                <a:avLst/>
                <a:gdLst/>
                <a:ahLst/>
                <a:cxnLst/>
                <a:rect l="l" t="t" r="r" b="b"/>
                <a:pathLst>
                  <a:path w="9525" h="28575">
                    <a:moveTo>
                      <a:pt x="0" y="0"/>
                    </a:moveTo>
                    <a:lnTo>
                      <a:pt x="0" y="28575"/>
                    </a:lnTo>
                  </a:path>
                </a:pathLst>
              </a:custGeom>
              <a:noFill/>
              <a:ln w="14288">
                <a:solidFill>
                  <a:srgbClr val="8B321E"/>
                </a:solidFill>
              </a:ln>
            </p:spPr>
            <p:txBody>
              <a:bodyPr/>
              <a:p/>
            </p:txBody>
          </p:sp>
          <p:sp>
            <p:nvSpPr>
              <p:cNvPr id="161" name="Freeform 161"/>
              <p:cNvSpPr/>
              <p:nvPr/>
            </p:nvSpPr>
            <p:spPr>
              <a:xfrm>
                <a:off x="409575" y="3564731"/>
                <a:ext cx="114300" cy="9525"/>
              </a:xfrm>
              <a:custGeom>
                <a:avLst/>
                <a:gdLst/>
                <a:ahLst/>
                <a:cxnLst/>
                <a:rect l="l" t="t" r="r" b="b"/>
                <a:pathLst>
                  <a:path w="114300" h="9525">
                    <a:moveTo>
                      <a:pt x="0" y="0"/>
                    </a:moveTo>
                    <a:lnTo>
                      <a:pt x="114300" y="0"/>
                    </a:lnTo>
                  </a:path>
                </a:pathLst>
              </a:custGeom>
              <a:noFill/>
              <a:ln w="14288">
                <a:solidFill>
                  <a:srgbClr val="8B321E"/>
                </a:solidFill>
              </a:ln>
            </p:spPr>
            <p:txBody>
              <a:bodyPr/>
              <a:p/>
            </p:txBody>
          </p:sp>
          <p:sp>
            <p:nvSpPr>
              <p:cNvPr id="162" name="Freeform 162"/>
              <p:cNvSpPr/>
              <p:nvPr/>
            </p:nvSpPr>
            <p:spPr>
              <a:xfrm>
                <a:off x="459581" y="3593306"/>
                <a:ext cx="9525" cy="9525"/>
              </a:xfrm>
              <a:custGeom>
                <a:avLst/>
                <a:gdLst/>
                <a:ahLst/>
                <a:cxnLst/>
                <a:rect l="l" t="t" r="r" b="b"/>
                <a:pathLst>
                  <a:path w="9525" h="9525">
                    <a:moveTo>
                      <a:pt x="0" y="0"/>
                    </a:moveTo>
                    <a:lnTo>
                      <a:pt x="7144" y="0"/>
                    </a:lnTo>
                  </a:path>
                </a:pathLst>
              </a:custGeom>
              <a:noFill/>
              <a:ln w="14288">
                <a:solidFill>
                  <a:srgbClr val="8B321E"/>
                </a:solidFill>
              </a:ln>
            </p:spPr>
            <p:txBody>
              <a:bodyPr/>
              <a:p/>
            </p:txBody>
          </p:sp>
          <p:sp>
            <p:nvSpPr>
              <p:cNvPr id="163" name="Freeform 163"/>
              <p:cNvSpPr/>
              <p:nvPr/>
            </p:nvSpPr>
            <p:spPr>
              <a:xfrm>
                <a:off x="466725" y="3593306"/>
                <a:ext cx="9525" cy="21431"/>
              </a:xfrm>
              <a:custGeom>
                <a:avLst/>
                <a:gdLst/>
                <a:ahLst/>
                <a:cxnLst/>
                <a:rect l="l" t="t" r="r" b="b"/>
                <a:pathLst>
                  <a:path w="9525" h="21431">
                    <a:moveTo>
                      <a:pt x="0" y="0"/>
                    </a:moveTo>
                    <a:lnTo>
                      <a:pt x="0" y="21431"/>
                    </a:lnTo>
                  </a:path>
                </a:pathLst>
              </a:custGeom>
              <a:noFill/>
              <a:ln w="14288">
                <a:solidFill>
                  <a:srgbClr val="8B321E"/>
                </a:solidFill>
              </a:ln>
            </p:spPr>
            <p:txBody>
              <a:bodyPr/>
              <a:p/>
            </p:txBody>
          </p:sp>
        </p:grpSp>
        <p:sp>
          <p:nvSpPr>
            <p:cNvPr id="165" name="TextBox 165"/>
            <p:cNvSpPr txBox="1"/>
            <p:nvPr/>
          </p:nvSpPr>
          <p:spPr>
            <a:xfrm>
              <a:off x="623506" y="3510201"/>
              <a:ext cx="826084"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年度行动计划</a:t>
              </a:r>
            </a:p>
          </p:txBody>
        </p:sp>
        <p:sp>
          <p:nvSpPr>
            <p:cNvPr id="166" name="TextBox 166"/>
            <p:cNvSpPr txBox="1"/>
            <p:nvPr/>
          </p:nvSpPr>
          <p:spPr>
            <a:xfrm>
              <a:off x="623888" y="3709988"/>
              <a:ext cx="716280" cy="147638"/>
            </a:xfrm>
            <a:prstGeom prst="rect">
              <a:avLst/>
            </a:prstGeom>
            <a:noFill/>
            <a:ln>
              <a:noFill/>
            </a:ln>
          </p:spPr>
          <p:txBody>
            <a:bodyPr wrap="none" lIns="0" tIns="0" rIns="0" bIns="0" anchor="t" anchorCtr="0">
              <a:spAutoFit/>
            </a:bodyPr>
            <a:lstStyle/>
            <a:p>
              <a:pPr algn="l"/>
              <a:r>
                <a:rPr lang="zh-CN" sz="750" dirty="0">
                  <a:solidFill>
                    <a:srgbClr val="8A8A8A"/>
                  </a:solidFill>
                  <a:latin typeface="+mn-lt"/>
                  <a:ea typeface="+mn-ea"/>
                  <a:cs typeface="+mn-cs"/>
                </a:rPr>
                <a:t>（季度里程碑）</a:t>
              </a:r>
            </a:p>
          </p:txBody>
        </p:sp>
        <p:sp>
          <p:nvSpPr>
            <p:cNvPr id="167" name="Line 167"/>
            <p:cNvSpPr/>
            <p:nvPr/>
          </p:nvSpPr>
          <p:spPr>
            <a:xfrm>
              <a:off x="2000250" y="3619500"/>
              <a:ext cx="9677400" cy="1"/>
            </a:xfrm>
            <a:prstGeom prst="line">
              <a:avLst/>
            </a:prstGeom>
            <a:noFill/>
            <a:ln w="14288">
              <a:solidFill>
                <a:srgbClr val="8B321E"/>
              </a:solidFill>
              <a:tailEnd type="triangle" w="lg" len="lg"/>
            </a:ln>
          </p:spPr>
          <p:txBody>
            <a:bodyPr/>
            <a:p/>
          </p:txBody>
        </p:sp>
        <p:sp>
          <p:nvSpPr>
            <p:cNvPr id="168" name="Ellipse 168"/>
            <p:cNvSpPr/>
            <p:nvPr/>
          </p:nvSpPr>
          <p:spPr>
            <a:xfrm>
              <a:off x="2371725" y="3571875"/>
              <a:ext cx="95250" cy="95250"/>
            </a:xfrm>
            <a:prstGeom prst="ellipse">
              <a:avLst/>
            </a:prstGeom>
            <a:solidFill>
              <a:srgbClr val="FFFFFF"/>
            </a:solidFill>
            <a:ln w="19050">
              <a:solidFill>
                <a:srgbClr val="8B321E"/>
              </a:solidFill>
            </a:ln>
          </p:spPr>
          <p:txBody>
            <a:bodyPr/>
            <a:p/>
          </p:txBody>
        </p:sp>
        <p:sp>
          <p:nvSpPr>
            <p:cNvPr id="169" name="Ellipse 169"/>
            <p:cNvSpPr/>
            <p:nvPr/>
          </p:nvSpPr>
          <p:spPr>
            <a:xfrm>
              <a:off x="4657725" y="3571875"/>
              <a:ext cx="95250" cy="95250"/>
            </a:xfrm>
            <a:prstGeom prst="ellipse">
              <a:avLst/>
            </a:prstGeom>
            <a:solidFill>
              <a:srgbClr val="FFFFFF"/>
            </a:solidFill>
            <a:ln w="19050">
              <a:solidFill>
                <a:srgbClr val="8B321E"/>
              </a:solidFill>
            </a:ln>
          </p:spPr>
          <p:txBody>
            <a:bodyPr/>
            <a:p/>
          </p:txBody>
        </p:sp>
        <p:sp>
          <p:nvSpPr>
            <p:cNvPr id="170" name="Ellipse 170"/>
            <p:cNvSpPr/>
            <p:nvPr/>
          </p:nvSpPr>
          <p:spPr>
            <a:xfrm>
              <a:off x="6943725" y="3571875"/>
              <a:ext cx="95250" cy="95250"/>
            </a:xfrm>
            <a:prstGeom prst="ellipse">
              <a:avLst/>
            </a:prstGeom>
            <a:solidFill>
              <a:srgbClr val="FFFFFF"/>
            </a:solidFill>
            <a:ln w="19050">
              <a:solidFill>
                <a:srgbClr val="8B321E"/>
              </a:solidFill>
            </a:ln>
          </p:spPr>
          <p:txBody>
            <a:bodyPr/>
            <a:p/>
          </p:txBody>
        </p:sp>
        <p:sp>
          <p:nvSpPr>
            <p:cNvPr id="171" name="Ellipse 171"/>
            <p:cNvSpPr/>
            <p:nvPr/>
          </p:nvSpPr>
          <p:spPr>
            <a:xfrm>
              <a:off x="9229725" y="3571875"/>
              <a:ext cx="95250" cy="95250"/>
            </a:xfrm>
            <a:prstGeom prst="ellipse">
              <a:avLst/>
            </a:prstGeom>
            <a:solidFill>
              <a:srgbClr val="FFFFFF"/>
            </a:solidFill>
            <a:ln w="19050">
              <a:solidFill>
                <a:srgbClr val="8B321E"/>
              </a:solidFill>
            </a:ln>
          </p:spPr>
          <p:txBody>
            <a:bodyPr/>
            <a:p/>
          </p:txBody>
        </p:sp>
        <p:grpSp>
          <p:nvGrpSpPr>
            <p:cNvPr id="181" name="q1"/>
            <p:cNvGrpSpPr/>
            <p:nvPr/>
          </p:nvGrpSpPr>
          <p:grpSpPr>
            <a:xfrm>
              <a:off x="2247900" y="3790950"/>
              <a:ext cx="1455307" cy="730330"/>
              <a:chOff x="2247900" y="3790950"/>
              <a:chExt cx="1455307" cy="730330"/>
            </a:xfrm>
          </p:grpSpPr>
          <p:sp>
            <p:nvSpPr>
              <p:cNvPr id="172" name="Rectangle 172"/>
              <p:cNvSpPr/>
              <p:nvPr/>
            </p:nvSpPr>
            <p:spPr>
              <a:xfrm>
                <a:off x="2247900" y="3790950"/>
                <a:ext cx="323850" cy="190500"/>
              </a:xfrm>
              <a:prstGeom prst="roundRect">
                <a:avLst>
                  <a:gd name="adj" fmla="val 15000"/>
                </a:avLst>
              </a:prstGeom>
              <a:solidFill>
                <a:srgbClr val="8B321E"/>
              </a:solidFill>
              <a:ln>
                <a:noFill/>
              </a:ln>
            </p:spPr>
            <p:txBody>
              <a:bodyPr/>
              <a:p/>
            </p:txBody>
          </p:sp>
          <p:sp>
            <p:nvSpPr>
              <p:cNvPr id="173" name="TextBox 173"/>
              <p:cNvSpPr txBox="1"/>
              <p:nvPr/>
            </p:nvSpPr>
            <p:spPr>
              <a:xfrm>
                <a:off x="2321575" y="3831193"/>
                <a:ext cx="176501" cy="169069"/>
              </a:xfrm>
              <a:prstGeom prst="rect">
                <a:avLst/>
              </a:prstGeom>
              <a:noFill/>
              <a:ln>
                <a:noFill/>
              </a:ln>
            </p:spPr>
            <p:txBody>
              <a:bodyPr wrap="none" lIns="0" tIns="0" rIns="0" bIns="0" anchor="t" anchorCtr="0">
                <a:spAutoFit/>
              </a:bodyPr>
              <a:lstStyle/>
              <a:p>
                <a:pPr algn="ctr"/>
                <a:r>
                  <a:rPr lang="en-US" sz="860" b="1" dirty="0">
                    <a:solidFill>
                      <a:srgbClr val="FFFFFF"/>
                    </a:solidFill>
                    <a:latin typeface="+mn-lt"/>
                    <a:ea typeface="+mn-ea"/>
                    <a:cs typeface="+mn-cs"/>
                  </a:rPr>
                  <a:t>Q1</a:t>
                </a:r>
              </a:p>
            </p:txBody>
          </p:sp>
          <p:sp>
            <p:nvSpPr>
              <p:cNvPr id="174" name="TextBox 174"/>
              <p:cNvSpPr txBox="1"/>
              <p:nvPr/>
            </p:nvSpPr>
            <p:spPr>
              <a:xfrm>
                <a:off x="2643188" y="3840718"/>
                <a:ext cx="1060019"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拜访EB / 签署框架​</a:t>
                </a:r>
              </a:p>
            </p:txBody>
          </p:sp>
          <p:sp>
            <p:nvSpPr>
              <p:cNvPr id="175" name="Ellipse 175"/>
              <p:cNvSpPr/>
              <p:nvPr/>
            </p:nvSpPr>
            <p:spPr>
              <a:xfrm>
                <a:off x="2268855" y="4107180"/>
                <a:ext cx="34290" cy="34290"/>
              </a:xfrm>
              <a:prstGeom prst="ellipse">
                <a:avLst/>
              </a:prstGeom>
              <a:solidFill>
                <a:srgbClr val="8B321E"/>
              </a:solidFill>
              <a:ln>
                <a:noFill/>
              </a:ln>
            </p:spPr>
            <p:txBody>
              <a:bodyPr/>
              <a:p/>
            </p:txBody>
          </p:sp>
          <p:sp>
            <p:nvSpPr>
              <p:cNvPr id="176" name="TextBox 176"/>
              <p:cNvSpPr txBox="1"/>
              <p:nvPr/>
            </p:nvSpPr>
            <p:spPr>
              <a:xfrm>
                <a:off x="2376488" y="4075986"/>
                <a:ext cx="980836"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深入拜访EB，建立共识</a:t>
                </a:r>
              </a:p>
            </p:txBody>
          </p:sp>
          <p:sp>
            <p:nvSpPr>
              <p:cNvPr id="177" name="Ellipse 177"/>
              <p:cNvSpPr/>
              <p:nvPr/>
            </p:nvSpPr>
            <p:spPr>
              <a:xfrm>
                <a:off x="2268855" y="4259580"/>
                <a:ext cx="34290" cy="34290"/>
              </a:xfrm>
              <a:prstGeom prst="ellipse">
                <a:avLst/>
              </a:prstGeom>
              <a:solidFill>
                <a:srgbClr val="8B321E"/>
              </a:solidFill>
              <a:ln>
                <a:noFill/>
              </a:ln>
            </p:spPr>
            <p:txBody>
              <a:bodyPr/>
              <a:p/>
            </p:txBody>
          </p:sp>
          <p:sp>
            <p:nvSpPr>
              <p:cNvPr id="178" name="TextBox 178"/>
              <p:cNvSpPr txBox="1"/>
              <p:nvPr/>
            </p:nvSpPr>
            <p:spPr>
              <a:xfrm>
                <a:off x="2376488" y="4228386"/>
                <a:ext cx="77416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明确年度合作方向</a:t>
                </a:r>
              </a:p>
            </p:txBody>
          </p:sp>
          <p:sp>
            <p:nvSpPr>
              <p:cNvPr id="179" name="Ellipse 179"/>
              <p:cNvSpPr/>
              <p:nvPr/>
            </p:nvSpPr>
            <p:spPr>
              <a:xfrm>
                <a:off x="2268855" y="4411980"/>
                <a:ext cx="34290" cy="34290"/>
              </a:xfrm>
              <a:prstGeom prst="ellipse">
                <a:avLst/>
              </a:prstGeom>
              <a:solidFill>
                <a:srgbClr val="8B321E"/>
              </a:solidFill>
              <a:ln>
                <a:noFill/>
              </a:ln>
            </p:spPr>
            <p:txBody>
              <a:bodyPr/>
              <a:p/>
            </p:txBody>
          </p:sp>
          <p:sp>
            <p:nvSpPr>
              <p:cNvPr id="180" name="TextBox 180"/>
              <p:cNvSpPr txBox="1"/>
              <p:nvPr/>
            </p:nvSpPr>
            <p:spPr>
              <a:xfrm>
                <a:off x="2376488" y="4380786"/>
                <a:ext cx="77416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签署年度框架协议</a:t>
                </a:r>
              </a:p>
            </p:txBody>
          </p:sp>
        </p:grpSp>
        <p:grpSp>
          <p:nvGrpSpPr>
            <p:cNvPr id="191" name="q2"/>
            <p:cNvGrpSpPr/>
            <p:nvPr/>
          </p:nvGrpSpPr>
          <p:grpSpPr>
            <a:xfrm>
              <a:off x="4533900" y="3790950"/>
              <a:ext cx="1470795" cy="730330"/>
              <a:chOff x="4533900" y="3790950"/>
              <a:chExt cx="1470795" cy="730330"/>
            </a:xfrm>
          </p:grpSpPr>
          <p:sp>
            <p:nvSpPr>
              <p:cNvPr id="182" name="Rectangle 182"/>
              <p:cNvSpPr/>
              <p:nvPr/>
            </p:nvSpPr>
            <p:spPr>
              <a:xfrm>
                <a:off x="4533900" y="3790950"/>
                <a:ext cx="323850" cy="190500"/>
              </a:xfrm>
              <a:prstGeom prst="roundRect">
                <a:avLst>
                  <a:gd name="adj" fmla="val 15000"/>
                </a:avLst>
              </a:prstGeom>
              <a:solidFill>
                <a:srgbClr val="8B321E"/>
              </a:solidFill>
              <a:ln>
                <a:noFill/>
              </a:ln>
            </p:spPr>
            <p:txBody>
              <a:bodyPr/>
              <a:p/>
            </p:txBody>
          </p:sp>
          <p:sp>
            <p:nvSpPr>
              <p:cNvPr id="183" name="TextBox 183"/>
              <p:cNvSpPr txBox="1"/>
              <p:nvPr/>
            </p:nvSpPr>
            <p:spPr>
              <a:xfrm>
                <a:off x="4607575" y="3831193"/>
                <a:ext cx="176501" cy="169069"/>
              </a:xfrm>
              <a:prstGeom prst="rect">
                <a:avLst/>
              </a:prstGeom>
              <a:noFill/>
              <a:ln>
                <a:noFill/>
              </a:ln>
            </p:spPr>
            <p:txBody>
              <a:bodyPr wrap="none" lIns="0" tIns="0" rIns="0" bIns="0" anchor="t" anchorCtr="0">
                <a:spAutoFit/>
              </a:bodyPr>
              <a:lstStyle/>
              <a:p>
                <a:pPr algn="ctr"/>
                <a:r>
                  <a:rPr lang="en-US" sz="860" b="1" dirty="0">
                    <a:solidFill>
                      <a:srgbClr val="FFFFFF"/>
                    </a:solidFill>
                    <a:latin typeface="+mn-lt"/>
                    <a:ea typeface="+mn-ea"/>
                    <a:cs typeface="+mn-cs"/>
                  </a:rPr>
                  <a:t>Q2</a:t>
                </a:r>
              </a:p>
            </p:txBody>
          </p:sp>
          <p:sp>
            <p:nvSpPr>
              <p:cNvPr id="184" name="TextBox 184"/>
              <p:cNvSpPr txBox="1"/>
              <p:nvPr/>
            </p:nvSpPr>
            <p:spPr>
              <a:xfrm>
                <a:off x="4929188" y="3840718"/>
                <a:ext cx="1075507"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技术验证 / 项目方案</a:t>
                </a:r>
              </a:p>
            </p:txBody>
          </p:sp>
          <p:sp>
            <p:nvSpPr>
              <p:cNvPr id="185" name="Ellipse 185"/>
              <p:cNvSpPr/>
              <p:nvPr/>
            </p:nvSpPr>
            <p:spPr>
              <a:xfrm>
                <a:off x="4554855" y="4107180"/>
                <a:ext cx="34290" cy="34290"/>
              </a:xfrm>
              <a:prstGeom prst="ellipse">
                <a:avLst/>
              </a:prstGeom>
              <a:solidFill>
                <a:srgbClr val="8B321E"/>
              </a:solidFill>
              <a:ln>
                <a:noFill/>
              </a:ln>
            </p:spPr>
            <p:txBody>
              <a:bodyPr/>
              <a:p/>
            </p:txBody>
          </p:sp>
          <p:sp>
            <p:nvSpPr>
              <p:cNvPr id="186" name="TextBox 186"/>
              <p:cNvSpPr txBox="1"/>
              <p:nvPr/>
            </p:nvSpPr>
            <p:spPr>
              <a:xfrm>
                <a:off x="4662488" y="4075986"/>
                <a:ext cx="106090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完成技术验证，打消顾虑</a:t>
                </a:r>
              </a:p>
            </p:txBody>
          </p:sp>
          <p:sp>
            <p:nvSpPr>
              <p:cNvPr id="187" name="Ellipse 187"/>
              <p:cNvSpPr/>
              <p:nvPr/>
            </p:nvSpPr>
            <p:spPr>
              <a:xfrm>
                <a:off x="4554855" y="4259580"/>
                <a:ext cx="34290" cy="34290"/>
              </a:xfrm>
              <a:prstGeom prst="ellipse">
                <a:avLst/>
              </a:prstGeom>
              <a:solidFill>
                <a:srgbClr val="8B321E"/>
              </a:solidFill>
              <a:ln>
                <a:noFill/>
              </a:ln>
            </p:spPr>
            <p:txBody>
              <a:bodyPr/>
              <a:p/>
            </p:txBody>
          </p:sp>
          <p:sp>
            <p:nvSpPr>
              <p:cNvPr id="188" name="TextBox 188"/>
              <p:cNvSpPr txBox="1"/>
              <p:nvPr/>
            </p:nvSpPr>
            <p:spPr>
              <a:xfrm>
                <a:off x="4662488" y="4228386"/>
                <a:ext cx="106090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输出百日方案与实施计划</a:t>
                </a:r>
              </a:p>
            </p:txBody>
          </p:sp>
          <p:sp>
            <p:nvSpPr>
              <p:cNvPr id="189" name="Ellipse 189"/>
              <p:cNvSpPr/>
              <p:nvPr/>
            </p:nvSpPr>
            <p:spPr>
              <a:xfrm>
                <a:off x="4554855" y="4411980"/>
                <a:ext cx="34290" cy="34290"/>
              </a:xfrm>
              <a:prstGeom prst="ellipse">
                <a:avLst/>
              </a:prstGeom>
              <a:solidFill>
                <a:srgbClr val="8B321E"/>
              </a:solidFill>
              <a:ln>
                <a:noFill/>
              </a:ln>
            </p:spPr>
            <p:txBody>
              <a:bodyPr/>
              <a:p/>
            </p:txBody>
          </p:sp>
          <p:sp>
            <p:nvSpPr>
              <p:cNvPr id="190" name="TextBox 190"/>
              <p:cNvSpPr txBox="1"/>
              <p:nvPr/>
            </p:nvSpPr>
            <p:spPr>
              <a:xfrm>
                <a:off x="4662488" y="4380786"/>
                <a:ext cx="86974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锁定新产品导入机会</a:t>
                </a:r>
              </a:p>
            </p:txBody>
          </p:sp>
        </p:grpSp>
        <p:grpSp>
          <p:nvGrpSpPr>
            <p:cNvPr id="201" name="q3"/>
            <p:cNvGrpSpPr/>
            <p:nvPr/>
          </p:nvGrpSpPr>
          <p:grpSpPr>
            <a:xfrm>
              <a:off x="6819900" y="3790950"/>
              <a:ext cx="1470795" cy="730330"/>
              <a:chOff x="6819900" y="3790950"/>
              <a:chExt cx="1470795" cy="730330"/>
            </a:xfrm>
          </p:grpSpPr>
          <p:sp>
            <p:nvSpPr>
              <p:cNvPr id="192" name="Rectangle 192"/>
              <p:cNvSpPr/>
              <p:nvPr/>
            </p:nvSpPr>
            <p:spPr>
              <a:xfrm>
                <a:off x="6819900" y="3790950"/>
                <a:ext cx="323850" cy="190500"/>
              </a:xfrm>
              <a:prstGeom prst="roundRect">
                <a:avLst>
                  <a:gd name="adj" fmla="val 15000"/>
                </a:avLst>
              </a:prstGeom>
              <a:solidFill>
                <a:srgbClr val="8B321E"/>
              </a:solidFill>
              <a:ln>
                <a:noFill/>
              </a:ln>
            </p:spPr>
            <p:txBody>
              <a:bodyPr/>
              <a:p/>
            </p:txBody>
          </p:sp>
          <p:sp>
            <p:nvSpPr>
              <p:cNvPr id="193" name="TextBox 193"/>
              <p:cNvSpPr txBox="1"/>
              <p:nvPr/>
            </p:nvSpPr>
            <p:spPr>
              <a:xfrm>
                <a:off x="6893575" y="3831193"/>
                <a:ext cx="176501" cy="169069"/>
              </a:xfrm>
              <a:prstGeom prst="rect">
                <a:avLst/>
              </a:prstGeom>
              <a:noFill/>
              <a:ln>
                <a:noFill/>
              </a:ln>
            </p:spPr>
            <p:txBody>
              <a:bodyPr wrap="none" lIns="0" tIns="0" rIns="0" bIns="0" anchor="t" anchorCtr="0">
                <a:spAutoFit/>
              </a:bodyPr>
              <a:lstStyle/>
              <a:p>
                <a:pPr algn="ctr"/>
                <a:r>
                  <a:rPr lang="en-US" sz="860" b="1" dirty="0">
                    <a:solidFill>
                      <a:srgbClr val="FFFFFF"/>
                    </a:solidFill>
                    <a:latin typeface="+mn-lt"/>
                    <a:ea typeface="+mn-ea"/>
                    <a:cs typeface="+mn-cs"/>
                  </a:rPr>
                  <a:t>Q3</a:t>
                </a:r>
              </a:p>
            </p:txBody>
          </p:sp>
          <p:sp>
            <p:nvSpPr>
              <p:cNvPr id="194" name="TextBox 194"/>
              <p:cNvSpPr txBox="1"/>
              <p:nvPr/>
            </p:nvSpPr>
            <p:spPr>
              <a:xfrm>
                <a:off x="7215188" y="3840718"/>
                <a:ext cx="1075507"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跟进项目 / 价格谈判</a:t>
                </a:r>
              </a:p>
            </p:txBody>
          </p:sp>
          <p:sp>
            <p:nvSpPr>
              <p:cNvPr id="195" name="Ellipse 195"/>
              <p:cNvSpPr/>
              <p:nvPr/>
            </p:nvSpPr>
            <p:spPr>
              <a:xfrm>
                <a:off x="6840855" y="4107180"/>
                <a:ext cx="34290" cy="34290"/>
              </a:xfrm>
              <a:prstGeom prst="ellipse">
                <a:avLst/>
              </a:prstGeom>
              <a:solidFill>
                <a:srgbClr val="8B321E"/>
              </a:solidFill>
              <a:ln>
                <a:noFill/>
              </a:ln>
            </p:spPr>
            <p:txBody>
              <a:bodyPr/>
              <a:p/>
            </p:txBody>
          </p:sp>
          <p:sp>
            <p:nvSpPr>
              <p:cNvPr id="196" name="TextBox 196"/>
              <p:cNvSpPr txBox="1"/>
              <p:nvPr/>
            </p:nvSpPr>
            <p:spPr>
              <a:xfrm>
                <a:off x="6948488" y="4075986"/>
                <a:ext cx="86974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推进新工厂项目落地</a:t>
                </a:r>
              </a:p>
            </p:txBody>
          </p:sp>
          <p:sp>
            <p:nvSpPr>
              <p:cNvPr id="197" name="Ellipse 197"/>
              <p:cNvSpPr/>
              <p:nvPr/>
            </p:nvSpPr>
            <p:spPr>
              <a:xfrm>
                <a:off x="6840855" y="4259580"/>
                <a:ext cx="34290" cy="34290"/>
              </a:xfrm>
              <a:prstGeom prst="ellipse">
                <a:avLst/>
              </a:prstGeom>
              <a:solidFill>
                <a:srgbClr val="8B321E"/>
              </a:solidFill>
              <a:ln>
                <a:noFill/>
              </a:ln>
            </p:spPr>
            <p:txBody>
              <a:bodyPr/>
              <a:p/>
            </p:txBody>
          </p:sp>
          <p:sp>
            <p:nvSpPr>
              <p:cNvPr id="198" name="TextBox 198"/>
              <p:cNvSpPr txBox="1"/>
              <p:nvPr/>
            </p:nvSpPr>
            <p:spPr>
              <a:xfrm>
                <a:off x="6948488" y="4228386"/>
                <a:ext cx="106090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价格谈判与商务条款确认</a:t>
                </a:r>
              </a:p>
            </p:txBody>
          </p:sp>
          <p:sp>
            <p:nvSpPr>
              <p:cNvPr id="199" name="Ellipse 199"/>
              <p:cNvSpPr/>
              <p:nvPr/>
            </p:nvSpPr>
            <p:spPr>
              <a:xfrm>
                <a:off x="6840855" y="4411980"/>
                <a:ext cx="34290" cy="34290"/>
              </a:xfrm>
              <a:prstGeom prst="ellipse">
                <a:avLst/>
              </a:prstGeom>
              <a:solidFill>
                <a:srgbClr val="8B321E"/>
              </a:solidFill>
              <a:ln>
                <a:noFill/>
              </a:ln>
            </p:spPr>
            <p:txBody>
              <a:bodyPr/>
              <a:p/>
            </p:txBody>
          </p:sp>
          <p:sp>
            <p:nvSpPr>
              <p:cNvPr id="200" name="TextBox 200"/>
              <p:cNvSpPr txBox="1"/>
              <p:nvPr/>
            </p:nvSpPr>
            <p:spPr>
              <a:xfrm>
                <a:off x="6948488" y="4380786"/>
                <a:ext cx="77416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确保项目订单签署</a:t>
                </a:r>
              </a:p>
            </p:txBody>
          </p:sp>
        </p:grpSp>
        <p:grpSp>
          <p:nvGrpSpPr>
            <p:cNvPr id="211" name="q4"/>
            <p:cNvGrpSpPr/>
            <p:nvPr/>
          </p:nvGrpSpPr>
          <p:grpSpPr>
            <a:xfrm>
              <a:off x="9105900" y="3790950"/>
              <a:ext cx="1239248" cy="730330"/>
              <a:chOff x="9105900" y="3790950"/>
              <a:chExt cx="1239248" cy="730330"/>
            </a:xfrm>
          </p:grpSpPr>
          <p:sp>
            <p:nvSpPr>
              <p:cNvPr id="202" name="Rectangle 202"/>
              <p:cNvSpPr/>
              <p:nvPr/>
            </p:nvSpPr>
            <p:spPr>
              <a:xfrm>
                <a:off x="9105900" y="3790950"/>
                <a:ext cx="323850" cy="190500"/>
              </a:xfrm>
              <a:prstGeom prst="roundRect">
                <a:avLst>
                  <a:gd name="adj" fmla="val 15000"/>
                </a:avLst>
              </a:prstGeom>
              <a:solidFill>
                <a:srgbClr val="8B321E"/>
              </a:solidFill>
              <a:ln>
                <a:noFill/>
              </a:ln>
            </p:spPr>
            <p:txBody>
              <a:bodyPr/>
              <a:p/>
            </p:txBody>
          </p:sp>
          <p:sp>
            <p:nvSpPr>
              <p:cNvPr id="203" name="TextBox 203"/>
              <p:cNvSpPr txBox="1"/>
              <p:nvPr/>
            </p:nvSpPr>
            <p:spPr>
              <a:xfrm>
                <a:off x="9179575" y="3831193"/>
                <a:ext cx="176501" cy="169069"/>
              </a:xfrm>
              <a:prstGeom prst="rect">
                <a:avLst/>
              </a:prstGeom>
              <a:noFill/>
              <a:ln>
                <a:noFill/>
              </a:ln>
            </p:spPr>
            <p:txBody>
              <a:bodyPr wrap="none" lIns="0" tIns="0" rIns="0" bIns="0" anchor="t" anchorCtr="0">
                <a:spAutoFit/>
              </a:bodyPr>
              <a:lstStyle/>
              <a:p>
                <a:pPr algn="ctr"/>
                <a:r>
                  <a:rPr lang="en-US" sz="860" b="1" dirty="0">
                    <a:solidFill>
                      <a:srgbClr val="FFFFFF"/>
                    </a:solidFill>
                    <a:latin typeface="+mn-lt"/>
                    <a:ea typeface="+mn-ea"/>
                    <a:cs typeface="+mn-cs"/>
                  </a:rPr>
                  <a:t>Q4</a:t>
                </a:r>
              </a:p>
            </p:txBody>
          </p:sp>
          <p:sp>
            <p:nvSpPr>
              <p:cNvPr id="204" name="TextBox 204"/>
              <p:cNvSpPr txBox="1"/>
              <p:nvPr/>
            </p:nvSpPr>
            <p:spPr>
              <a:xfrm>
                <a:off x="9501188" y="3840718"/>
                <a:ext cx="843960" cy="169069"/>
              </a:xfrm>
              <a:prstGeom prst="rect">
                <a:avLst/>
              </a:prstGeom>
              <a:noFill/>
              <a:ln>
                <a:noFill/>
              </a:ln>
            </p:spPr>
            <p:txBody>
              <a:bodyPr wrap="none" lIns="0" tIns="0" rIns="0" bIns="0" anchor="t" anchorCtr="0">
                <a:spAutoFit/>
              </a:bodyPr>
              <a:lstStyle/>
              <a:p>
                <a:pPr algn="l"/>
                <a:r>
                  <a:rPr lang="zh-CN" sz="860" b="1" dirty="0">
                    <a:solidFill>
                      <a:srgbClr val="1A1A1A"/>
                    </a:solidFill>
                    <a:latin typeface="+mn-lt"/>
                    <a:ea typeface="+mn-ea"/>
                    <a:cs typeface="+mn-cs"/>
                  </a:rPr>
                  <a:t>复盘 / 明年规划</a:t>
                </a:r>
              </a:p>
            </p:txBody>
          </p:sp>
          <p:sp>
            <p:nvSpPr>
              <p:cNvPr id="205" name="Ellipse 205"/>
              <p:cNvSpPr/>
              <p:nvPr/>
            </p:nvSpPr>
            <p:spPr>
              <a:xfrm>
                <a:off x="9126855" y="4107180"/>
                <a:ext cx="34290" cy="34290"/>
              </a:xfrm>
              <a:prstGeom prst="ellipse">
                <a:avLst/>
              </a:prstGeom>
              <a:solidFill>
                <a:srgbClr val="8B321E"/>
              </a:solidFill>
              <a:ln>
                <a:noFill/>
              </a:ln>
            </p:spPr>
            <p:txBody>
              <a:bodyPr/>
              <a:p/>
            </p:txBody>
          </p:sp>
          <p:sp>
            <p:nvSpPr>
              <p:cNvPr id="206" name="TextBox 206"/>
              <p:cNvSpPr txBox="1"/>
              <p:nvPr/>
            </p:nvSpPr>
            <p:spPr>
              <a:xfrm>
                <a:off x="9234488" y="4075986"/>
                <a:ext cx="86974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年度复盘，达成目标</a:t>
                </a:r>
              </a:p>
            </p:txBody>
          </p:sp>
          <p:sp>
            <p:nvSpPr>
              <p:cNvPr id="207" name="Ellipse 207"/>
              <p:cNvSpPr/>
              <p:nvPr/>
            </p:nvSpPr>
            <p:spPr>
              <a:xfrm>
                <a:off x="9126855" y="4259580"/>
                <a:ext cx="34290" cy="34290"/>
              </a:xfrm>
              <a:prstGeom prst="ellipse">
                <a:avLst/>
              </a:prstGeom>
              <a:solidFill>
                <a:srgbClr val="8B321E"/>
              </a:solidFill>
              <a:ln>
                <a:noFill/>
              </a:ln>
            </p:spPr>
            <p:txBody>
              <a:bodyPr/>
              <a:p/>
            </p:txBody>
          </p:sp>
          <p:sp>
            <p:nvSpPr>
              <p:cNvPr id="208" name="TextBox 208"/>
              <p:cNvSpPr txBox="1"/>
              <p:nvPr/>
            </p:nvSpPr>
            <p:spPr>
              <a:xfrm>
                <a:off x="9234488" y="4228386"/>
                <a:ext cx="86974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总结经验，优化打法</a:t>
                </a:r>
              </a:p>
            </p:txBody>
          </p:sp>
          <p:sp>
            <p:nvSpPr>
              <p:cNvPr id="209" name="Ellipse 209"/>
              <p:cNvSpPr/>
              <p:nvPr/>
            </p:nvSpPr>
            <p:spPr>
              <a:xfrm>
                <a:off x="9126855" y="4411980"/>
                <a:ext cx="34290" cy="34290"/>
              </a:xfrm>
              <a:prstGeom prst="ellipse">
                <a:avLst/>
              </a:prstGeom>
              <a:solidFill>
                <a:srgbClr val="8B321E"/>
              </a:solidFill>
              <a:ln>
                <a:noFill/>
              </a:ln>
            </p:spPr>
            <p:txBody>
              <a:bodyPr/>
              <a:p/>
            </p:txBody>
          </p:sp>
          <p:sp>
            <p:nvSpPr>
              <p:cNvPr id="210" name="TextBox 210"/>
              <p:cNvSpPr txBox="1"/>
              <p:nvPr/>
            </p:nvSpPr>
            <p:spPr>
              <a:xfrm>
                <a:off x="9234488" y="4380786"/>
                <a:ext cx="774167" cy="140494"/>
              </a:xfrm>
              <a:prstGeom prst="rect">
                <a:avLst/>
              </a:prstGeom>
              <a:noFill/>
              <a:ln>
                <a:noFill/>
              </a:ln>
            </p:spPr>
            <p:txBody>
              <a:bodyPr wrap="none" lIns="0" tIns="0" rIns="0" bIns="0" anchor="t" anchorCtr="0">
                <a:spAutoFit/>
              </a:bodyPr>
              <a:lstStyle/>
              <a:p>
                <a:pPr algn="l"/>
                <a:r>
                  <a:rPr lang="zh-CN" sz="710" dirty="0">
                    <a:solidFill>
                      <a:srgbClr val="4A4A4A"/>
                    </a:solidFill>
                    <a:latin typeface="+mn-lt"/>
                    <a:ea typeface="+mn-ea"/>
                    <a:cs typeface="+mn-cs"/>
                  </a:rPr>
                  <a:t>制定明年增长计划</a:t>
                </a:r>
              </a:p>
            </p:txBody>
          </p:sp>
        </p:grpSp>
      </p:grpSp>
      <p:grpSp>
        <p:nvGrpSpPr>
          <p:cNvPr id="250" name="risk-warning"/>
          <p:cNvGrpSpPr/>
          <p:nvPr/>
        </p:nvGrpSpPr>
        <p:grpSpPr>
          <a:xfrm>
            <a:off x="381000" y="4895850"/>
            <a:ext cx="11430000" cy="914400"/>
            <a:chOff x="381000" y="4895850"/>
            <a:chExt cx="11430000" cy="914400"/>
          </a:xfrm>
        </p:grpSpPr>
        <p:sp>
          <p:nvSpPr>
            <p:cNvPr id="213" name="Freeform 213"/>
            <p:cNvSpPr/>
            <p:nvPr/>
          </p:nvSpPr>
          <p:spPr>
            <a:xfrm>
              <a:off x="399456" y="4955381"/>
              <a:ext cx="134537" cy="128588"/>
            </a:xfrm>
            <a:custGeom>
              <a:avLst/>
              <a:gdLst/>
              <a:ahLst/>
              <a:cxnLst/>
              <a:rect l="l" t="t" r="r" b="b"/>
              <a:pathLst>
                <a:path w="134537" h="128588">
                  <a:moveTo>
                    <a:pt x="67269" y="0"/>
                  </a:moveTo>
                  <a:cubicBezTo>
                    <a:pt x="83955" y="14763"/>
                    <a:pt x="105734" y="22450"/>
                    <a:pt x="127991" y="21431"/>
                  </a:cubicBezTo>
                  <a:cubicBezTo>
                    <a:pt x="134537" y="43702"/>
                    <a:pt x="131773" y="67676"/>
                    <a:pt x="120328" y="87872"/>
                  </a:cubicBezTo>
                  <a:cubicBezTo>
                    <a:pt x="108884" y="108068"/>
                    <a:pt x="89738" y="122759"/>
                    <a:pt x="67269" y="128588"/>
                  </a:cubicBezTo>
                  <a:cubicBezTo>
                    <a:pt x="44799" y="122759"/>
                    <a:pt x="25654" y="108068"/>
                    <a:pt x="14209" y="87872"/>
                  </a:cubicBezTo>
                  <a:cubicBezTo>
                    <a:pt x="2765" y="67676"/>
                    <a:pt x="0" y="43702"/>
                    <a:pt x="6547" y="21431"/>
                  </a:cubicBezTo>
                  <a:cubicBezTo>
                    <a:pt x="28803" y="22450"/>
                    <a:pt x="50582" y="14763"/>
                    <a:pt x="67269" y="0"/>
                  </a:cubicBezTo>
                </a:path>
              </a:pathLst>
            </a:custGeom>
            <a:noFill/>
            <a:ln w="14288">
              <a:solidFill>
                <a:srgbClr val="8B321E"/>
              </a:solidFill>
            </a:ln>
          </p:spPr>
          <p:txBody>
            <a:bodyPr/>
            <a:p/>
          </p:txBody>
        </p:sp>
        <p:sp>
          <p:nvSpPr>
            <p:cNvPr id="214" name="TextBox 214"/>
            <p:cNvSpPr txBox="1"/>
            <p:nvPr/>
          </p:nvSpPr>
          <p:spPr>
            <a:xfrm>
              <a:off x="623506" y="4958001"/>
              <a:ext cx="554152" cy="198025"/>
            </a:xfrm>
            <a:prstGeom prst="rect">
              <a:avLst/>
            </a:prstGeom>
            <a:noFill/>
            <a:ln>
              <a:noFill/>
            </a:ln>
          </p:spPr>
          <p:txBody>
            <a:bodyPr wrap="none" lIns="0" tIns="0" rIns="0" bIns="0" anchor="t" anchorCtr="0">
              <a:spAutoFit/>
            </a:bodyPr>
            <a:lstStyle/>
            <a:p>
              <a:pPr algn="l"/>
              <a:r>
                <a:rPr lang="zh-CN" sz="1010" b="1" dirty="0">
                  <a:solidFill>
                    <a:srgbClr val="1A1A1A"/>
                  </a:solidFill>
                  <a:latin typeface="+mn-lt"/>
                  <a:ea typeface="+mn-ea"/>
                  <a:cs typeface="+mn-cs"/>
                </a:rPr>
                <a:t>风险预警</a:t>
              </a:r>
            </a:p>
          </p:txBody>
        </p:sp>
        <p:grpSp>
          <p:nvGrpSpPr>
            <p:cNvPr id="232" name="risk-1"/>
            <p:cNvGrpSpPr/>
            <p:nvPr/>
          </p:nvGrpSpPr>
          <p:grpSpPr>
            <a:xfrm>
              <a:off x="381000" y="4895850"/>
              <a:ext cx="5562600" cy="914400"/>
              <a:chOff x="381000" y="4895850"/>
              <a:chExt cx="5562600" cy="914400"/>
            </a:xfrm>
          </p:grpSpPr>
          <p:sp>
            <p:nvSpPr>
              <p:cNvPr id="215" name="Rectangle 215"/>
              <p:cNvSpPr/>
              <p:nvPr/>
            </p:nvSpPr>
            <p:spPr>
              <a:xfrm>
                <a:off x="381000" y="4895850"/>
                <a:ext cx="5562600" cy="914400"/>
              </a:xfrm>
              <a:prstGeom prst="roundRect">
                <a:avLst>
                  <a:gd name="adj" fmla="val 6250"/>
                </a:avLst>
              </a:prstGeom>
              <a:solidFill>
                <a:srgbClr val="FFFFFF"/>
              </a:solidFill>
              <a:ln w="14288">
                <a:solidFill>
                  <a:srgbClr val="E8E2DE"/>
                </a:solidFill>
              </a:ln>
            </p:spPr>
            <p:txBody>
              <a:bodyPr/>
              <a:p/>
            </p:txBody>
          </p:sp>
          <p:sp>
            <p:nvSpPr>
              <p:cNvPr id="216" name="Rectangle 216"/>
              <p:cNvSpPr/>
              <p:nvPr/>
            </p:nvSpPr>
            <p:spPr>
              <a:xfrm>
                <a:off x="514350" y="5010150"/>
                <a:ext cx="533400" cy="209550"/>
              </a:xfrm>
              <a:prstGeom prst="roundRect">
                <a:avLst>
                  <a:gd name="adj" fmla="val 13636"/>
                </a:avLst>
              </a:prstGeom>
              <a:solidFill>
                <a:srgbClr val="8B321E"/>
              </a:solidFill>
              <a:ln>
                <a:noFill/>
              </a:ln>
            </p:spPr>
            <p:txBody>
              <a:bodyPr/>
              <a:p/>
            </p:txBody>
          </p:sp>
          <p:sp>
            <p:nvSpPr>
              <p:cNvPr id="217" name="TextBox 217"/>
              <p:cNvSpPr txBox="1"/>
              <p:nvPr/>
            </p:nvSpPr>
            <p:spPr>
              <a:xfrm>
                <a:off x="610705" y="5063966"/>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风险一</a:t>
                </a:r>
              </a:p>
            </p:txBody>
          </p:sp>
          <p:grpSp>
            <p:nvGrpSpPr>
              <p:cNvPr id="221" name="Group 221"/>
              <p:cNvGrpSpPr/>
              <p:nvPr/>
            </p:nvGrpSpPr>
            <p:grpSpPr>
              <a:xfrm>
                <a:off x="1185862" y="5051095"/>
                <a:ext cx="142875" cy="127330"/>
                <a:chOff x="1185862" y="5051095"/>
                <a:chExt cx="142875" cy="127330"/>
              </a:xfrm>
            </p:grpSpPr>
            <p:sp>
              <p:nvSpPr>
                <p:cNvPr id="218" name="Freeform 218"/>
                <p:cNvSpPr/>
                <p:nvPr/>
              </p:nvSpPr>
              <p:spPr>
                <a:xfrm>
                  <a:off x="1304925" y="5083175"/>
                  <a:ext cx="23812" cy="47625"/>
                </a:xfrm>
                <a:custGeom>
                  <a:avLst/>
                  <a:gdLst/>
                  <a:ahLst/>
                  <a:cxnLst/>
                  <a:rect l="l" t="t" r="r" b="b"/>
                  <a:pathLst>
                    <a:path w="23812" h="47625">
                      <a:moveTo>
                        <a:pt x="0" y="0"/>
                      </a:moveTo>
                      <a:cubicBezTo>
                        <a:pt x="13151" y="0"/>
                        <a:pt x="23812" y="10661"/>
                        <a:pt x="23812" y="23812"/>
                      </a:cubicBezTo>
                      <a:cubicBezTo>
                        <a:pt x="23812" y="36964"/>
                        <a:pt x="13151" y="47625"/>
                        <a:pt x="0" y="47625"/>
                      </a:cubicBezTo>
                    </a:path>
                  </a:pathLst>
                </a:custGeom>
                <a:noFill/>
                <a:ln w="15875">
                  <a:solidFill>
                    <a:srgbClr val="8B321E"/>
                  </a:solidFill>
                </a:ln>
              </p:spPr>
              <p:txBody>
                <a:bodyPr/>
                <a:p/>
              </p:txBody>
            </p:sp>
            <p:sp>
              <p:nvSpPr>
                <p:cNvPr id="219" name="Freeform 219"/>
                <p:cNvSpPr/>
                <p:nvPr/>
              </p:nvSpPr>
              <p:spPr>
                <a:xfrm>
                  <a:off x="1217612" y="5083175"/>
                  <a:ext cx="23812" cy="95250"/>
                </a:xfrm>
                <a:custGeom>
                  <a:avLst/>
                  <a:gdLst/>
                  <a:ahLst/>
                  <a:cxnLst/>
                  <a:rect l="l" t="t" r="r" b="b"/>
                  <a:pathLst>
                    <a:path w="23812" h="95250">
                      <a:moveTo>
                        <a:pt x="23812" y="0"/>
                      </a:moveTo>
                      <a:lnTo>
                        <a:pt x="23812" y="87312"/>
                      </a:lnTo>
                      <a:cubicBezTo>
                        <a:pt x="23812" y="91696"/>
                        <a:pt x="20259" y="95250"/>
                        <a:pt x="15875" y="95250"/>
                      </a:cubicBezTo>
                      <a:lnTo>
                        <a:pt x="7937" y="95250"/>
                      </a:lnTo>
                      <a:cubicBezTo>
                        <a:pt x="3554" y="95250"/>
                        <a:pt x="0" y="91696"/>
                        <a:pt x="0" y="87312"/>
                      </a:cubicBezTo>
                      <a:lnTo>
                        <a:pt x="0" y="47625"/>
                      </a:lnTo>
                    </a:path>
                  </a:pathLst>
                </a:custGeom>
                <a:noFill/>
                <a:ln w="15875">
                  <a:solidFill>
                    <a:srgbClr val="8B321E"/>
                  </a:solidFill>
                </a:ln>
              </p:spPr>
              <p:txBody>
                <a:bodyPr/>
                <a:p/>
              </p:txBody>
            </p:sp>
            <p:sp>
              <p:nvSpPr>
                <p:cNvPr id="220" name="Freeform 220"/>
                <p:cNvSpPr/>
                <p:nvPr/>
              </p:nvSpPr>
              <p:spPr>
                <a:xfrm>
                  <a:off x="1185862" y="5051095"/>
                  <a:ext cx="119064" cy="111786"/>
                </a:xfrm>
                <a:custGeom>
                  <a:avLst/>
                  <a:gdLst/>
                  <a:ahLst/>
                  <a:cxnLst/>
                  <a:rect l="l" t="t" r="r" b="b"/>
                  <a:pathLst>
                    <a:path w="119064" h="111786">
                      <a:moveTo>
                        <a:pt x="71437" y="32080"/>
                      </a:moveTo>
                      <a:lnTo>
                        <a:pt x="107347" y="2156"/>
                      </a:lnTo>
                      <a:cubicBezTo>
                        <a:pt x="109477" y="382"/>
                        <a:pt x="112441" y="0"/>
                        <a:pt x="114951" y="1177"/>
                      </a:cubicBezTo>
                      <a:cubicBezTo>
                        <a:pt x="117461" y="2354"/>
                        <a:pt x="119064" y="4876"/>
                        <a:pt x="119062" y="7649"/>
                      </a:cubicBezTo>
                      <a:lnTo>
                        <a:pt x="119062" y="104137"/>
                      </a:lnTo>
                      <a:cubicBezTo>
                        <a:pt x="119064" y="106909"/>
                        <a:pt x="117461" y="109432"/>
                        <a:pt x="114951" y="110609"/>
                      </a:cubicBezTo>
                      <a:cubicBezTo>
                        <a:pt x="112441" y="111786"/>
                        <a:pt x="109477" y="111404"/>
                        <a:pt x="107347" y="109630"/>
                      </a:cubicBezTo>
                      <a:lnTo>
                        <a:pt x="71437" y="79705"/>
                      </a:lnTo>
                      <a:lnTo>
                        <a:pt x="7937" y="79705"/>
                      </a:lnTo>
                      <a:cubicBezTo>
                        <a:pt x="3554" y="79705"/>
                        <a:pt x="0" y="76152"/>
                        <a:pt x="0" y="71768"/>
                      </a:cubicBezTo>
                      <a:lnTo>
                        <a:pt x="0" y="40018"/>
                      </a:lnTo>
                      <a:cubicBezTo>
                        <a:pt x="0" y="35634"/>
                        <a:pt x="3554" y="32080"/>
                        <a:pt x="7937" y="32080"/>
                      </a:cubicBezTo>
                      <a:lnTo>
                        <a:pt x="71437" y="32080"/>
                      </a:lnTo>
                    </a:path>
                  </a:pathLst>
                </a:custGeom>
                <a:noFill/>
                <a:ln w="15875">
                  <a:solidFill>
                    <a:srgbClr val="8B321E"/>
                  </a:solidFill>
                </a:ln>
              </p:spPr>
              <p:txBody>
                <a:bodyPr/>
                <a:p/>
              </p:txBody>
            </p:sp>
          </p:grpSp>
          <p:sp>
            <p:nvSpPr>
              <p:cNvPr id="222" name="TextBox 222"/>
              <p:cNvSpPr txBox="1"/>
              <p:nvPr/>
            </p:nvSpPr>
            <p:spPr>
              <a:xfrm>
                <a:off x="1423797" y="5066824"/>
                <a:ext cx="801472"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竞对新品发布</a:t>
                </a:r>
              </a:p>
            </p:txBody>
          </p:sp>
          <p:sp>
            <p:nvSpPr>
              <p:cNvPr id="223" name="TextBox 223"/>
              <p:cNvSpPr txBox="1"/>
              <p:nvPr/>
            </p:nvSpPr>
            <p:spPr>
              <a:xfrm>
                <a:off x="1157288" y="5314236"/>
                <a:ext cx="1091565"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6A6A6A"/>
                    </a:solidFill>
                    <a:latin typeface="+mn-lt"/>
                    <a:ea typeface="+mn-ea"/>
                    <a:cs typeface="+mn-cs"/>
                  </a:rPr>
                  <a:t>XX公司计划Q2发布竞品，</a:t>
                </a:r>
                <a:br/>
                <a:r>
                  <a:rPr lang="zh-CN" sz="710" dirty="0">
                    <a:solidFill>
                      <a:srgbClr val="6A6A6A"/>
                    </a:solidFill>
                    <a:latin typeface="+mn-lt"/>
                    <a:ea typeface="+mn-ea"/>
                    <a:cs typeface="+mn-cs"/>
                  </a:rPr>
                  <a:t>可能对我方份额造成冲击。</a:t>
                </a:r>
              </a:p>
            </p:txBody>
          </p:sp>
          <p:sp>
            <p:nvSpPr>
              <p:cNvPr id="224" name="Line 224"/>
              <p:cNvSpPr/>
              <p:nvPr/>
            </p:nvSpPr>
            <p:spPr>
              <a:xfrm>
                <a:off x="3238500" y="5029200"/>
                <a:ext cx="9525" cy="647700"/>
              </a:xfrm>
              <a:custGeom>
                <a:avLst/>
                <a:gdLst/>
                <a:ahLst/>
                <a:cxnLst/>
                <a:rect l="l" t="t" r="r" b="b"/>
                <a:pathLst>
                  <a:path w="9525" h="647700">
                    <a:moveTo>
                      <a:pt x="0" y="0"/>
                    </a:moveTo>
                    <a:lnTo>
                      <a:pt x="0" y="647700"/>
                    </a:lnTo>
                  </a:path>
                </a:pathLst>
              </a:custGeom>
              <a:noFill/>
              <a:ln w="9525">
                <a:solidFill>
                  <a:srgbClr val="E0DAD5"/>
                </a:solidFill>
              </a:ln>
            </p:spPr>
            <p:txBody>
              <a:bodyPr/>
              <a:p/>
            </p:txBody>
          </p:sp>
          <p:sp>
            <p:nvSpPr>
              <p:cNvPr id="225" name="TextBox 225"/>
              <p:cNvSpPr txBox="1"/>
              <p:nvPr/>
            </p:nvSpPr>
            <p:spPr>
              <a:xfrm>
                <a:off x="3386138" y="5069443"/>
                <a:ext cx="472618" cy="169069"/>
              </a:xfrm>
              <a:prstGeom prst="rect">
                <a:avLst/>
              </a:prstGeom>
              <a:noFill/>
              <a:ln>
                <a:noFill/>
              </a:ln>
            </p:spPr>
            <p:txBody>
              <a:bodyPr wrap="none" lIns="0" tIns="0" rIns="0" bIns="0" anchor="t" anchorCtr="0">
                <a:spAutoFit/>
              </a:bodyPr>
              <a:lstStyle/>
              <a:p>
                <a:pPr algn="l"/>
                <a:r>
                  <a:rPr lang="zh-CN" sz="860" b="1" dirty="0">
                    <a:solidFill>
                      <a:srgbClr val="C97263"/>
                    </a:solidFill>
                    <a:latin typeface="+mn-lt"/>
                    <a:ea typeface="+mn-ea"/>
                    <a:cs typeface="+mn-cs"/>
                  </a:rPr>
                  <a:t>应对策略</a:t>
                </a:r>
              </a:p>
            </p:txBody>
          </p:sp>
          <p:sp>
            <p:nvSpPr>
              <p:cNvPr id="226" name="Ellipse 226"/>
              <p:cNvSpPr/>
              <p:nvPr/>
            </p:nvSpPr>
            <p:spPr>
              <a:xfrm>
                <a:off x="3411855" y="5316855"/>
                <a:ext cx="34290" cy="34290"/>
              </a:xfrm>
              <a:prstGeom prst="ellipse">
                <a:avLst/>
              </a:prstGeom>
              <a:solidFill>
                <a:srgbClr val="C97263"/>
              </a:solidFill>
              <a:ln>
                <a:noFill/>
              </a:ln>
            </p:spPr>
            <p:txBody>
              <a:bodyPr/>
              <a:p/>
            </p:txBody>
          </p:sp>
          <p:sp>
            <p:nvSpPr>
              <p:cNvPr id="227" name="TextBox 227"/>
              <p:cNvSpPr txBox="1"/>
              <p:nvPr/>
            </p:nvSpPr>
            <p:spPr>
              <a:xfrm>
                <a:off x="3519488" y="5285661"/>
                <a:ext cx="77416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提前锁定客户需求</a:t>
                </a:r>
              </a:p>
            </p:txBody>
          </p:sp>
          <p:sp>
            <p:nvSpPr>
              <p:cNvPr id="228" name="Ellipse 228"/>
              <p:cNvSpPr/>
              <p:nvPr/>
            </p:nvSpPr>
            <p:spPr>
              <a:xfrm>
                <a:off x="3411855" y="5469255"/>
                <a:ext cx="34290" cy="34290"/>
              </a:xfrm>
              <a:prstGeom prst="ellipse">
                <a:avLst/>
              </a:prstGeom>
              <a:solidFill>
                <a:srgbClr val="C97263"/>
              </a:solidFill>
              <a:ln>
                <a:noFill/>
              </a:ln>
            </p:spPr>
            <p:txBody>
              <a:bodyPr/>
              <a:p/>
            </p:txBody>
          </p:sp>
          <p:sp>
            <p:nvSpPr>
              <p:cNvPr id="229" name="TextBox 229"/>
              <p:cNvSpPr txBox="1"/>
              <p:nvPr/>
            </p:nvSpPr>
            <p:spPr>
              <a:xfrm>
                <a:off x="3519488" y="5438061"/>
                <a:ext cx="86974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强化差异化价值沟通</a:t>
                </a:r>
              </a:p>
            </p:txBody>
          </p:sp>
          <p:sp>
            <p:nvSpPr>
              <p:cNvPr id="230" name="Ellipse 230"/>
              <p:cNvSpPr/>
              <p:nvPr/>
            </p:nvSpPr>
            <p:spPr>
              <a:xfrm>
                <a:off x="3411855" y="5621655"/>
                <a:ext cx="34290" cy="34290"/>
              </a:xfrm>
              <a:prstGeom prst="ellipse">
                <a:avLst/>
              </a:prstGeom>
              <a:solidFill>
                <a:srgbClr val="C97263"/>
              </a:solidFill>
              <a:ln>
                <a:noFill/>
              </a:ln>
            </p:spPr>
            <p:txBody>
              <a:bodyPr/>
              <a:p/>
            </p:txBody>
          </p:sp>
          <p:sp>
            <p:nvSpPr>
              <p:cNvPr id="231" name="TextBox 231"/>
              <p:cNvSpPr txBox="1"/>
              <p:nvPr/>
            </p:nvSpPr>
            <p:spPr>
              <a:xfrm>
                <a:off x="3519488" y="5590461"/>
                <a:ext cx="77416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加速项目推进节奏</a:t>
                </a:r>
              </a:p>
            </p:txBody>
          </p:sp>
        </p:grpSp>
        <p:grpSp>
          <p:nvGrpSpPr>
            <p:cNvPr id="249" name="risk-2"/>
            <p:cNvGrpSpPr/>
            <p:nvPr/>
          </p:nvGrpSpPr>
          <p:grpSpPr>
            <a:xfrm>
              <a:off x="6172200" y="4895850"/>
              <a:ext cx="5638800" cy="914400"/>
              <a:chOff x="6172200" y="4895850"/>
              <a:chExt cx="5638800" cy="914400"/>
            </a:xfrm>
          </p:grpSpPr>
          <p:sp>
            <p:nvSpPr>
              <p:cNvPr id="233" name="Rectangle 233"/>
              <p:cNvSpPr/>
              <p:nvPr/>
            </p:nvSpPr>
            <p:spPr>
              <a:xfrm>
                <a:off x="6172200" y="4895850"/>
                <a:ext cx="5638800" cy="914400"/>
              </a:xfrm>
              <a:prstGeom prst="roundRect">
                <a:avLst>
                  <a:gd name="adj" fmla="val 6250"/>
                </a:avLst>
              </a:prstGeom>
              <a:solidFill>
                <a:srgbClr val="FFFFFF"/>
              </a:solidFill>
              <a:ln w="14288">
                <a:solidFill>
                  <a:srgbClr val="E8E2DE"/>
                </a:solidFill>
              </a:ln>
            </p:spPr>
            <p:txBody>
              <a:bodyPr/>
              <a:p/>
            </p:txBody>
          </p:sp>
          <p:sp>
            <p:nvSpPr>
              <p:cNvPr id="234" name="Rectangle 234"/>
              <p:cNvSpPr/>
              <p:nvPr/>
            </p:nvSpPr>
            <p:spPr>
              <a:xfrm>
                <a:off x="6305550" y="5010150"/>
                <a:ext cx="533400" cy="209550"/>
              </a:xfrm>
              <a:prstGeom prst="roundRect">
                <a:avLst>
                  <a:gd name="adj" fmla="val 13636"/>
                </a:avLst>
              </a:prstGeom>
              <a:solidFill>
                <a:srgbClr val="8B321E"/>
              </a:solidFill>
              <a:ln>
                <a:noFill/>
              </a:ln>
            </p:spPr>
            <p:txBody>
              <a:bodyPr/>
              <a:p/>
            </p:txBody>
          </p:sp>
          <p:sp>
            <p:nvSpPr>
              <p:cNvPr id="235" name="TextBox 235"/>
              <p:cNvSpPr txBox="1"/>
              <p:nvPr/>
            </p:nvSpPr>
            <p:spPr>
              <a:xfrm>
                <a:off x="6401905" y="5063966"/>
                <a:ext cx="340690" cy="161925"/>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风险二</a:t>
                </a:r>
              </a:p>
            </p:txBody>
          </p:sp>
          <p:grpSp>
            <p:nvGrpSpPr>
              <p:cNvPr id="238" name="Group 238"/>
              <p:cNvGrpSpPr/>
              <p:nvPr/>
            </p:nvGrpSpPr>
            <p:grpSpPr>
              <a:xfrm>
                <a:off x="7000875" y="5043487"/>
                <a:ext cx="95250" cy="142875"/>
                <a:chOff x="7000875" y="5043487"/>
                <a:chExt cx="95250" cy="142875"/>
              </a:xfrm>
            </p:grpSpPr>
            <p:sp>
              <p:nvSpPr>
                <p:cNvPr id="236" name="Freeform 236"/>
                <p:cNvSpPr/>
                <p:nvPr/>
              </p:nvSpPr>
              <p:spPr>
                <a:xfrm>
                  <a:off x="7016750" y="5043487"/>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8B321E"/>
                  </a:solidFill>
                </a:ln>
              </p:spPr>
              <p:txBody>
                <a:bodyPr/>
                <a:p/>
              </p:txBody>
            </p:sp>
            <p:sp>
              <p:nvSpPr>
                <p:cNvPr id="237" name="Freeform 237"/>
                <p:cNvSpPr/>
                <p:nvPr/>
              </p:nvSpPr>
              <p:spPr>
                <a:xfrm>
                  <a:off x="7000875" y="5138737"/>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8B321E"/>
                  </a:solidFill>
                </a:ln>
              </p:spPr>
              <p:txBody>
                <a:bodyPr/>
                <a:p/>
              </p:txBody>
            </p:sp>
          </p:grpSp>
          <p:sp>
            <p:nvSpPr>
              <p:cNvPr id="239" name="TextBox 239"/>
              <p:cNvSpPr txBox="1"/>
              <p:nvPr/>
            </p:nvSpPr>
            <p:spPr>
              <a:xfrm>
                <a:off x="7214997" y="5066824"/>
                <a:ext cx="698618"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mn-lt"/>
                    <a:ea typeface="+mn-ea"/>
                    <a:cs typeface="+mn-cs"/>
                  </a:rPr>
                  <a:t>EB可能调岗</a:t>
                </a:r>
              </a:p>
            </p:txBody>
          </p:sp>
          <p:sp>
            <p:nvSpPr>
              <p:cNvPr id="240" name="TextBox 240"/>
              <p:cNvSpPr txBox="1"/>
              <p:nvPr/>
            </p:nvSpPr>
            <p:spPr>
              <a:xfrm>
                <a:off x="6948488" y="5314236"/>
                <a:ext cx="1127633" cy="283369"/>
              </a:xfrm>
              <a:prstGeom prst="rect">
                <a:avLst/>
              </a:prstGeom>
              <a:noFill/>
              <a:ln>
                <a:noFill/>
              </a:ln>
            </p:spPr>
            <p:txBody>
              <a:bodyPr wrap="none" lIns="0" tIns="0" rIns="0" bIns="0" anchor="t" anchorCtr="0">
                <a:spAutoFit/>
              </a:bodyPr>
              <a:lstStyle/>
              <a:p>
                <a:pPr algn="l">
                  <a:lnSpc>
                    <a:spcPts val="1125"/>
                  </a:lnSpc>
                </a:pPr>
                <a:r>
                  <a:rPr lang="zh-CN" sz="710" dirty="0">
                    <a:solidFill>
                      <a:srgbClr val="6A6A6A"/>
                    </a:solidFill>
                    <a:latin typeface="+mn-lt"/>
                    <a:ea typeface="+mn-ea"/>
                    <a:cs typeface="+mn-cs"/>
                  </a:rPr>
                  <a:t>EB可能在Q3调离，影响决策</a:t>
                </a:r>
                <a:br/>
                <a:r>
                  <a:rPr lang="zh-CN" sz="710" dirty="0">
                    <a:solidFill>
                      <a:srgbClr val="6A6A6A"/>
                    </a:solidFill>
                    <a:latin typeface="+mn-lt"/>
                    <a:ea typeface="+mn-ea"/>
                    <a:cs typeface="+mn-cs"/>
                  </a:rPr>
                  <a:t>推进与资源支持。</a:t>
                </a:r>
              </a:p>
            </p:txBody>
          </p:sp>
          <p:sp>
            <p:nvSpPr>
              <p:cNvPr id="241" name="Line 241"/>
              <p:cNvSpPr/>
              <p:nvPr/>
            </p:nvSpPr>
            <p:spPr>
              <a:xfrm>
                <a:off x="9029700" y="5029200"/>
                <a:ext cx="9525" cy="647700"/>
              </a:xfrm>
              <a:custGeom>
                <a:avLst/>
                <a:gdLst/>
                <a:ahLst/>
                <a:cxnLst/>
                <a:rect l="l" t="t" r="r" b="b"/>
                <a:pathLst>
                  <a:path w="9525" h="647700">
                    <a:moveTo>
                      <a:pt x="0" y="0"/>
                    </a:moveTo>
                    <a:lnTo>
                      <a:pt x="0" y="647700"/>
                    </a:lnTo>
                  </a:path>
                </a:pathLst>
              </a:custGeom>
              <a:noFill/>
              <a:ln w="9525">
                <a:solidFill>
                  <a:srgbClr val="E0DAD5"/>
                </a:solidFill>
              </a:ln>
            </p:spPr>
            <p:txBody>
              <a:bodyPr/>
              <a:p/>
            </p:txBody>
          </p:sp>
          <p:sp>
            <p:nvSpPr>
              <p:cNvPr id="242" name="TextBox 242"/>
              <p:cNvSpPr txBox="1"/>
              <p:nvPr/>
            </p:nvSpPr>
            <p:spPr>
              <a:xfrm>
                <a:off x="9177338" y="5069443"/>
                <a:ext cx="472618" cy="169069"/>
              </a:xfrm>
              <a:prstGeom prst="rect">
                <a:avLst/>
              </a:prstGeom>
              <a:noFill/>
              <a:ln>
                <a:noFill/>
              </a:ln>
            </p:spPr>
            <p:txBody>
              <a:bodyPr wrap="none" lIns="0" tIns="0" rIns="0" bIns="0" anchor="t" anchorCtr="0">
                <a:spAutoFit/>
              </a:bodyPr>
              <a:lstStyle/>
              <a:p>
                <a:pPr algn="l"/>
                <a:r>
                  <a:rPr lang="zh-CN" sz="860" b="1" dirty="0">
                    <a:solidFill>
                      <a:srgbClr val="C97263"/>
                    </a:solidFill>
                    <a:latin typeface="+mn-lt"/>
                    <a:ea typeface="+mn-ea"/>
                    <a:cs typeface="+mn-cs"/>
                  </a:rPr>
                  <a:t>应对策略</a:t>
                </a:r>
              </a:p>
            </p:txBody>
          </p:sp>
          <p:sp>
            <p:nvSpPr>
              <p:cNvPr id="243" name="Ellipse 243"/>
              <p:cNvSpPr/>
              <p:nvPr/>
            </p:nvSpPr>
            <p:spPr>
              <a:xfrm>
                <a:off x="9203055" y="5316855"/>
                <a:ext cx="34290" cy="34290"/>
              </a:xfrm>
              <a:prstGeom prst="ellipse">
                <a:avLst/>
              </a:prstGeom>
              <a:solidFill>
                <a:srgbClr val="C97263"/>
              </a:solidFill>
              <a:ln>
                <a:noFill/>
              </a:ln>
            </p:spPr>
            <p:txBody>
              <a:bodyPr/>
              <a:p/>
            </p:txBody>
          </p:sp>
          <p:sp>
            <p:nvSpPr>
              <p:cNvPr id="244" name="TextBox 244"/>
              <p:cNvSpPr txBox="1"/>
              <p:nvPr/>
            </p:nvSpPr>
            <p:spPr>
              <a:xfrm>
                <a:off x="9310688" y="5285661"/>
                <a:ext cx="980836"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培养TB作为备选决策人</a:t>
                </a:r>
              </a:p>
            </p:txBody>
          </p:sp>
          <p:sp>
            <p:nvSpPr>
              <p:cNvPr id="245" name="Ellipse 245"/>
              <p:cNvSpPr/>
              <p:nvPr/>
            </p:nvSpPr>
            <p:spPr>
              <a:xfrm>
                <a:off x="9203055" y="5469255"/>
                <a:ext cx="34290" cy="34290"/>
              </a:xfrm>
              <a:prstGeom prst="ellipse">
                <a:avLst/>
              </a:prstGeom>
              <a:solidFill>
                <a:srgbClr val="C97263"/>
              </a:solidFill>
              <a:ln>
                <a:noFill/>
              </a:ln>
            </p:spPr>
            <p:txBody>
              <a:bodyPr/>
              <a:p/>
            </p:txBody>
          </p:sp>
          <p:sp>
            <p:nvSpPr>
              <p:cNvPr id="246" name="TextBox 246"/>
              <p:cNvSpPr txBox="1"/>
              <p:nvPr/>
            </p:nvSpPr>
            <p:spPr>
              <a:xfrm>
                <a:off x="9310688" y="5438061"/>
                <a:ext cx="77416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确保多线关系稳固</a:t>
                </a:r>
              </a:p>
            </p:txBody>
          </p:sp>
          <p:sp>
            <p:nvSpPr>
              <p:cNvPr id="247" name="Ellipse 247"/>
              <p:cNvSpPr/>
              <p:nvPr/>
            </p:nvSpPr>
            <p:spPr>
              <a:xfrm>
                <a:off x="9203055" y="5621655"/>
                <a:ext cx="34290" cy="34290"/>
              </a:xfrm>
              <a:prstGeom prst="ellipse">
                <a:avLst/>
              </a:prstGeom>
              <a:solidFill>
                <a:srgbClr val="C97263"/>
              </a:solidFill>
              <a:ln>
                <a:noFill/>
              </a:ln>
            </p:spPr>
            <p:txBody>
              <a:bodyPr/>
              <a:p/>
            </p:txBody>
          </p:sp>
          <p:sp>
            <p:nvSpPr>
              <p:cNvPr id="248" name="TextBox 248"/>
              <p:cNvSpPr txBox="1"/>
              <p:nvPr/>
            </p:nvSpPr>
            <p:spPr>
              <a:xfrm>
                <a:off x="9310688" y="5590461"/>
                <a:ext cx="965327" cy="140494"/>
              </a:xfrm>
              <a:prstGeom prst="rect">
                <a:avLst/>
              </a:prstGeom>
              <a:noFill/>
              <a:ln>
                <a:noFill/>
              </a:ln>
            </p:spPr>
            <p:txBody>
              <a:bodyPr wrap="none" lIns="0" tIns="0" rIns="0" bIns="0" anchor="t" anchorCtr="0">
                <a:spAutoFit/>
              </a:bodyPr>
              <a:lstStyle/>
              <a:p>
                <a:pPr algn="l"/>
                <a:r>
                  <a:rPr lang="zh-CN" sz="710" dirty="0">
                    <a:solidFill>
                      <a:srgbClr val="3A3A3A"/>
                    </a:solidFill>
                    <a:latin typeface="+mn-lt"/>
                    <a:ea typeface="+mn-ea"/>
                    <a:cs typeface="+mn-cs"/>
                  </a:rPr>
                  <a:t>提前识别并影响继任者</a:t>
                </a:r>
              </a:p>
            </p:txBody>
          </p:sp>
        </p:grpSp>
      </p:grpSp>
      <p:sp>
        <p:nvSpPr>
          <p:cNvPr id="251" name="TextBox 251"/>
          <p:cNvSpPr txBox="1"/>
          <p:nvPr/>
        </p:nvSpPr>
        <p:spPr>
          <a:xfrm>
            <a:off x="11620383" y="6565106"/>
            <a:ext cx="177282" cy="220028"/>
          </a:xfrm>
          <a:prstGeom prst="rect">
            <a:avLst/>
          </a:prstGeom>
          <a:noFill/>
          <a:ln>
            <a:noFill/>
          </a:ln>
        </p:spPr>
        <p:txBody>
          <a:bodyPr wrap="none" lIns="0" tIns="0" rIns="0" bIns="0" anchor="t" anchorCtr="0">
            <a:spAutoFit/>
          </a:bodyPr>
          <a:lstStyle/>
          <a:p>
            <a:pPr algn="r"/>
            <a:r>
              <a:rPr lang="zh-CN" sz="1120" dirty="0">
                <a:solidFill>
                  <a:srgbClr val="8A8A8A"/>
                </a:solidFill>
                <a:latin typeface="+mn-lt"/>
                <a:ea typeface="+mn-ea"/>
                <a:cs typeface="+mn-cs"/>
              </a:rPr>
              <a:t>08</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page-title"/>
          <p:cNvGrpSpPr/>
          <p:nvPr/>
        </p:nvGrpSpPr>
        <p:grpSpPr>
          <a:xfrm>
            <a:off x="367284" y="222885"/>
            <a:ext cx="8387334" cy="528066"/>
            <a:chOff x="367284" y="222885"/>
            <a:chExt cx="8387334" cy="528066"/>
          </a:xfrm>
        </p:grpSpPr>
        <p:sp>
          <p:nvSpPr>
            <p:cNvPr id="2" name="TextBox 2"/>
            <p:cNvSpPr txBox="1"/>
            <p:nvPr/>
          </p:nvSpPr>
          <p:spPr>
            <a:xfrm>
              <a:off x="367284" y="222885"/>
              <a:ext cx="8387334" cy="528066"/>
            </a:xfrm>
            <a:prstGeom prst="rect">
              <a:avLst/>
            </a:prstGeom>
            <a:noFill/>
            <a:ln>
              <a:noFill/>
            </a:ln>
          </p:spPr>
          <p:txBody>
            <a:bodyPr wrap="none" lIns="0" tIns="0" rIns="0" bIns="0" anchor="t" anchorCtr="0">
              <a:spAutoFit/>
            </a:bodyPr>
            <a:lstStyle/>
            <a:p>
              <a:pPr algn="l"/>
              <a:r>
                <a:rPr lang="zh-CN" sz="2700" b="1" dirty="0">
                  <a:solidFill>
                    <a:srgbClr val="1A1A1A"/>
                  </a:solidFill>
                  <a:latin typeface="+mn-lt"/>
                  <a:ea typeface="+mn-ea"/>
                  <a:cs typeface="+mn-cs"/>
                </a:rPr>
                <a:t>大客户销售的拜访管理：拜访质量比拜访数量更重要</a:t>
              </a:r>
            </a:p>
          </p:txBody>
        </p:sp>
      </p:grpSp>
      <p:grpSp>
        <p:nvGrpSpPr>
          <p:cNvPr id="11" name="core-strip"/>
          <p:cNvGrpSpPr/>
          <p:nvPr/>
        </p:nvGrpSpPr>
        <p:grpSpPr>
          <a:xfrm>
            <a:off x="381000" y="704850"/>
            <a:ext cx="11430000" cy="400050"/>
            <a:chOff x="381000" y="704850"/>
            <a:chExt cx="11430000" cy="400050"/>
          </a:xfrm>
        </p:grpSpPr>
        <p:sp>
          <p:nvSpPr>
            <p:cNvPr id="4" name="Rectangle 4"/>
            <p:cNvSpPr/>
            <p:nvPr/>
          </p:nvSpPr>
          <p:spPr>
            <a:xfrm>
              <a:off x="381000" y="704850"/>
              <a:ext cx="11430000" cy="400050"/>
            </a:xfrm>
            <a:prstGeom prst="roundRect">
              <a:avLst>
                <a:gd name="adj" fmla="val 14286"/>
              </a:avLst>
            </a:prstGeom>
            <a:solidFill>
              <a:srgbClr val="FFFFFF"/>
            </a:solidFill>
            <a:ln w="14288">
              <a:solidFill>
                <a:srgbClr val="D8C2C2"/>
              </a:solidFill>
            </a:ln>
          </p:spPr>
        </p:sp>
        <p:sp>
          <p:nvSpPr>
            <p:cNvPr id="5" name="Ellipse 5"/>
            <p:cNvSpPr/>
            <p:nvPr/>
          </p:nvSpPr>
          <p:spPr>
            <a:xfrm>
              <a:off x="542925" y="742950"/>
              <a:ext cx="323850" cy="323850"/>
            </a:xfrm>
            <a:prstGeom prst="ellipse">
              <a:avLst/>
            </a:prstGeom>
            <a:solidFill>
              <a:srgbClr val="8B321E"/>
            </a:solidFill>
            <a:ln>
              <a:noFill/>
            </a:ln>
          </p:spPr>
        </p:sp>
        <p:grpSp>
          <p:nvGrpSpPr>
            <p:cNvPr id="9" name="Group 9"/>
            <p:cNvGrpSpPr/>
            <p:nvPr/>
          </p:nvGrpSpPr>
          <p:grpSpPr>
            <a:xfrm>
              <a:off x="633412" y="833437"/>
              <a:ext cx="142875" cy="142875"/>
              <a:chOff x="633412" y="833437"/>
              <a:chExt cx="142875" cy="142875"/>
            </a:xfrm>
          </p:grpSpPr>
          <p:sp>
            <p:nvSpPr>
              <p:cNvPr id="6" name="Freeform 6"/>
              <p:cNvSpPr/>
              <p:nvPr/>
            </p:nvSpPr>
            <p:spPr>
              <a:xfrm>
                <a:off x="696912" y="896937"/>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FFFFFF"/>
                </a:solidFill>
              </a:ln>
            </p:spPr>
          </p:sp>
          <p:sp>
            <p:nvSpPr>
              <p:cNvPr id="7" name="Freeform 7"/>
              <p:cNvSpPr/>
              <p:nvPr/>
            </p:nvSpPr>
            <p:spPr>
              <a:xfrm>
                <a:off x="665162" y="865187"/>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FFFFFF"/>
                </a:solidFill>
              </a:ln>
            </p:spPr>
          </p:sp>
          <p:sp>
            <p:nvSpPr>
              <p:cNvPr id="8" name="Freeform 8"/>
              <p:cNvSpPr/>
              <p:nvPr/>
            </p:nvSpPr>
            <p:spPr>
              <a:xfrm>
                <a:off x="633412" y="833437"/>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FFFFFF"/>
                </a:solidFill>
              </a:ln>
            </p:spPr>
          </p:sp>
        </p:grpSp>
        <p:sp>
          <p:nvSpPr>
            <p:cNvPr id="10" name="TextBox 10"/>
            <p:cNvSpPr txBox="1"/>
            <p:nvPr/>
          </p:nvSpPr>
          <p:spPr>
            <a:xfrm>
              <a:off x="984885" y="840581"/>
              <a:ext cx="5248202" cy="220028"/>
            </a:xfrm>
            <a:prstGeom prst="rect">
              <a:avLst/>
            </a:prstGeom>
            <a:noFill/>
            <a:ln>
              <a:noFill/>
            </a:ln>
          </p:spPr>
          <p:txBody>
            <a:bodyPr wrap="none" lIns="0" tIns="0" rIns="0" bIns="0" anchor="t" anchorCtr="0">
              <a:spAutoFit/>
            </a:bodyPr>
            <a:lstStyle/>
            <a:p>
              <a:pPr algn="l"/>
              <a:r>
                <a:rPr lang="zh-CN" sz="1120" b="1" dirty="0">
                  <a:solidFill>
                    <a:srgbClr val="8B321E"/>
                  </a:solidFill>
                  <a:latin typeface="+mn-lt"/>
                  <a:ea typeface="+mn-ea"/>
                  <a:cs typeface="+mn-cs"/>
                </a:rPr>
                <a:t>大客户销售的拜访不是“刷脸”，每次拜访都应该有明确的目的、准备和产出。​</a:t>
              </a:r>
            </a:p>
          </p:txBody>
        </p:sp>
      </p:grpSp>
      <p:grpSp>
        <p:nvGrpSpPr>
          <p:cNvPr id="62" name="visit-dimensions"/>
          <p:cNvGrpSpPr/>
          <p:nvPr/>
        </p:nvGrpSpPr>
        <p:grpSpPr>
          <a:xfrm>
            <a:off x="381000" y="1257300"/>
            <a:ext cx="4095750" cy="4781550"/>
            <a:chOff x="381000" y="1257300"/>
            <a:chExt cx="4095750" cy="4781550"/>
          </a:xfrm>
        </p:grpSpPr>
        <p:grpSp>
          <p:nvGrpSpPr>
            <p:cNvPr id="28" name="dim-before"/>
            <p:cNvGrpSpPr/>
            <p:nvPr/>
          </p:nvGrpSpPr>
          <p:grpSpPr>
            <a:xfrm>
              <a:off x="381000" y="1257300"/>
              <a:ext cx="4095750" cy="1504950"/>
              <a:chOff x="381000" y="1257300"/>
              <a:chExt cx="4095750" cy="1504950"/>
            </a:xfrm>
          </p:grpSpPr>
          <p:sp>
            <p:nvSpPr>
              <p:cNvPr id="12" name="Rectangle 12"/>
              <p:cNvSpPr/>
              <p:nvPr/>
            </p:nvSpPr>
            <p:spPr>
              <a:xfrm>
                <a:off x="381000" y="1257300"/>
                <a:ext cx="4095750" cy="1504950"/>
              </a:xfrm>
              <a:prstGeom prst="roundRect">
                <a:avLst>
                  <a:gd name="adj" fmla="val 3797"/>
                </a:avLst>
              </a:prstGeom>
              <a:solidFill>
                <a:srgbClr val="8B321E"/>
              </a:solidFill>
              <a:ln>
                <a:noFill/>
              </a:ln>
            </p:spPr>
          </p:sp>
          <p:sp>
            <p:nvSpPr>
              <p:cNvPr id="13" name="Ellipse 13"/>
              <p:cNvSpPr/>
              <p:nvPr/>
            </p:nvSpPr>
            <p:spPr>
              <a:xfrm>
                <a:off x="666750" y="1724025"/>
                <a:ext cx="571500" cy="571500"/>
              </a:xfrm>
              <a:prstGeom prst="ellipse">
                <a:avLst/>
              </a:prstGeom>
              <a:solidFill>
                <a:srgbClr val="FFFFFF"/>
              </a:solidFill>
              <a:ln>
                <a:noFill/>
              </a:ln>
            </p:spPr>
          </p:sp>
          <p:grpSp>
            <p:nvGrpSpPr>
              <p:cNvPr id="18" name="Group 18"/>
              <p:cNvGrpSpPr/>
              <p:nvPr/>
            </p:nvGrpSpPr>
            <p:grpSpPr>
              <a:xfrm>
                <a:off x="863600" y="1908175"/>
                <a:ext cx="190500" cy="215899"/>
                <a:chOff x="863600" y="1908175"/>
                <a:chExt cx="190500" cy="215899"/>
              </a:xfrm>
            </p:grpSpPr>
            <p:sp>
              <p:nvSpPr>
                <p:cNvPr id="14" name="Freeform 14"/>
                <p:cNvSpPr/>
                <p:nvPr/>
              </p:nvSpPr>
              <p:spPr>
                <a:xfrm>
                  <a:off x="863600" y="1908175"/>
                  <a:ext cx="152400" cy="203199"/>
                </a:xfrm>
                <a:custGeom>
                  <a:avLst/>
                  <a:gdLst/>
                  <a:ahLst/>
                  <a:cxnLst/>
                  <a:rect l="l" t="t" r="r" b="b"/>
                  <a:pathLst>
                    <a:path w="152400" h="203199">
                      <a:moveTo>
                        <a:pt x="58610" y="203199"/>
                      </a:moveTo>
                      <a:lnTo>
                        <a:pt x="25400" y="203199"/>
                      </a:lnTo>
                      <a:cubicBezTo>
                        <a:pt x="11372" y="203199"/>
                        <a:pt x="0" y="191828"/>
                        <a:pt x="0" y="177800"/>
                      </a:cubicBezTo>
                      <a:lnTo>
                        <a:pt x="0" y="25400"/>
                      </a:lnTo>
                      <a:cubicBezTo>
                        <a:pt x="0" y="11372"/>
                        <a:pt x="11372" y="0"/>
                        <a:pt x="25400" y="0"/>
                      </a:cubicBezTo>
                      <a:lnTo>
                        <a:pt x="127000" y="0"/>
                      </a:lnTo>
                      <a:cubicBezTo>
                        <a:pt x="141028" y="0"/>
                        <a:pt x="152400" y="11372"/>
                        <a:pt x="152400" y="25400"/>
                      </a:cubicBezTo>
                      <a:lnTo>
                        <a:pt x="152400" y="127000"/>
                      </a:lnTo>
                    </a:path>
                  </a:pathLst>
                </a:custGeom>
                <a:noFill/>
                <a:ln w="25400">
                  <a:solidFill>
                    <a:srgbClr val="8B321E"/>
                  </a:solidFill>
                </a:ln>
              </p:spPr>
            </p:sp>
            <p:sp>
              <p:nvSpPr>
                <p:cNvPr id="15" name="Freeform 15"/>
                <p:cNvSpPr/>
                <p:nvPr/>
              </p:nvSpPr>
              <p:spPr>
                <a:xfrm>
                  <a:off x="977900" y="2073274"/>
                  <a:ext cx="76200" cy="50800"/>
                </a:xfrm>
                <a:custGeom>
                  <a:avLst/>
                  <a:gdLst/>
                  <a:ahLst/>
                  <a:cxnLst/>
                  <a:rect l="l" t="t" r="r" b="b"/>
                  <a:pathLst>
                    <a:path w="76200" h="50800">
                      <a:moveTo>
                        <a:pt x="0" y="25400"/>
                      </a:moveTo>
                      <a:lnTo>
                        <a:pt x="25400" y="50800"/>
                      </a:lnTo>
                      <a:lnTo>
                        <a:pt x="76200" y="0"/>
                      </a:lnTo>
                    </a:path>
                  </a:pathLst>
                </a:custGeom>
                <a:noFill/>
                <a:ln w="25400">
                  <a:solidFill>
                    <a:srgbClr val="8B321E"/>
                  </a:solidFill>
                </a:ln>
              </p:spPr>
            </p:sp>
            <p:sp>
              <p:nvSpPr>
                <p:cNvPr id="16" name="Freeform 16"/>
                <p:cNvSpPr/>
                <p:nvPr/>
              </p:nvSpPr>
              <p:spPr>
                <a:xfrm>
                  <a:off x="914400" y="1958975"/>
                  <a:ext cx="50800" cy="9525"/>
                </a:xfrm>
                <a:custGeom>
                  <a:avLst/>
                  <a:gdLst/>
                  <a:ahLst/>
                  <a:cxnLst/>
                  <a:rect l="l" t="t" r="r" b="b"/>
                  <a:pathLst>
                    <a:path w="50800" h="9525">
                      <a:moveTo>
                        <a:pt x="0" y="0"/>
                      </a:moveTo>
                      <a:lnTo>
                        <a:pt x="50800" y="0"/>
                      </a:lnTo>
                    </a:path>
                  </a:pathLst>
                </a:custGeom>
                <a:noFill/>
                <a:ln w="25400">
                  <a:solidFill>
                    <a:srgbClr val="8B321E"/>
                  </a:solidFill>
                </a:ln>
              </p:spPr>
            </p:sp>
            <p:sp>
              <p:nvSpPr>
                <p:cNvPr id="17" name="Freeform 17"/>
                <p:cNvSpPr/>
                <p:nvPr/>
              </p:nvSpPr>
              <p:spPr>
                <a:xfrm>
                  <a:off x="914400" y="2009775"/>
                  <a:ext cx="25400" cy="9525"/>
                </a:xfrm>
                <a:custGeom>
                  <a:avLst/>
                  <a:gdLst/>
                  <a:ahLst/>
                  <a:cxnLst/>
                  <a:rect l="l" t="t" r="r" b="b"/>
                  <a:pathLst>
                    <a:path w="25400" h="9525">
                      <a:moveTo>
                        <a:pt x="0" y="0"/>
                      </a:moveTo>
                      <a:lnTo>
                        <a:pt x="25400" y="0"/>
                      </a:lnTo>
                    </a:path>
                  </a:pathLst>
                </a:custGeom>
                <a:noFill/>
                <a:ln w="25400">
                  <a:solidFill>
                    <a:srgbClr val="8B321E"/>
                  </a:solidFill>
                </a:ln>
              </p:spPr>
            </p:sp>
          </p:grpSp>
          <p:sp>
            <p:nvSpPr>
              <p:cNvPr id="19" name="TextBox 19"/>
              <p:cNvSpPr txBox="1"/>
              <p:nvPr/>
            </p:nvSpPr>
            <p:spPr>
              <a:xfrm>
                <a:off x="1422844" y="1627108"/>
                <a:ext cx="1417244" cy="227362"/>
              </a:xfrm>
              <a:prstGeom prst="rect">
                <a:avLst/>
              </a:prstGeom>
              <a:noFill/>
              <a:ln>
                <a:noFill/>
              </a:ln>
            </p:spPr>
            <p:txBody>
              <a:bodyPr wrap="none" lIns="0" tIns="0" rIns="0" bIns="0" anchor="t" anchorCtr="0">
                <a:spAutoFit/>
              </a:bodyPr>
              <a:lstStyle/>
              <a:p>
                <a:pPr algn="l"/>
                <a:r>
                  <a:rPr lang="zh-CN" sz="1160" b="1" dirty="0">
                    <a:solidFill>
                      <a:srgbClr val="FFFFFF"/>
                    </a:solidFill>
                    <a:latin typeface="+mn-lt"/>
                    <a:ea typeface="+mn-ea"/>
                    <a:cs typeface="+mn-cs"/>
                  </a:rPr>
                  <a:t>维度一：拜访前准备</a:t>
                </a:r>
              </a:p>
            </p:txBody>
          </p:sp>
          <p:sp>
            <p:nvSpPr>
              <p:cNvPr id="20" name="Ellipse 20"/>
              <p:cNvSpPr/>
              <p:nvPr/>
            </p:nvSpPr>
            <p:spPr>
              <a:xfrm>
                <a:off x="1447800" y="1943100"/>
                <a:ext cx="38100" cy="38100"/>
              </a:xfrm>
              <a:prstGeom prst="ellipse">
                <a:avLst/>
              </a:prstGeom>
              <a:solidFill>
                <a:srgbClr val="FFFFFF"/>
              </a:solidFill>
              <a:ln>
                <a:noFill/>
              </a:ln>
            </p:spPr>
          </p:sp>
          <p:sp>
            <p:nvSpPr>
              <p:cNvPr id="21" name="TextBox 21"/>
              <p:cNvSpPr txBox="1"/>
              <p:nvPr/>
            </p:nvSpPr>
            <p:spPr>
              <a:xfrm>
                <a:off x="1576388" y="1911191"/>
                <a:ext cx="451079"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明确目的</a:t>
                </a:r>
              </a:p>
            </p:txBody>
          </p:sp>
          <p:sp>
            <p:nvSpPr>
              <p:cNvPr id="22" name="Ellipse 22"/>
              <p:cNvSpPr/>
              <p:nvPr/>
            </p:nvSpPr>
            <p:spPr>
              <a:xfrm>
                <a:off x="1447800" y="2152650"/>
                <a:ext cx="38100" cy="38100"/>
              </a:xfrm>
              <a:prstGeom prst="ellipse">
                <a:avLst/>
              </a:prstGeom>
              <a:solidFill>
                <a:srgbClr val="FFFFFF"/>
              </a:solidFill>
              <a:ln>
                <a:noFill/>
              </a:ln>
            </p:spPr>
          </p:sp>
          <p:sp>
            <p:nvSpPr>
              <p:cNvPr id="23" name="TextBox 23"/>
              <p:cNvSpPr txBox="1"/>
              <p:nvPr/>
            </p:nvSpPr>
            <p:spPr>
              <a:xfrm>
                <a:off x="1576388" y="2120741"/>
                <a:ext cx="671855"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准备客户信息</a:t>
                </a:r>
              </a:p>
            </p:txBody>
          </p:sp>
          <p:sp>
            <p:nvSpPr>
              <p:cNvPr id="24" name="Ellipse 24"/>
              <p:cNvSpPr/>
              <p:nvPr/>
            </p:nvSpPr>
            <p:spPr>
              <a:xfrm>
                <a:off x="1447800" y="2362200"/>
                <a:ext cx="38100" cy="38100"/>
              </a:xfrm>
              <a:prstGeom prst="ellipse">
                <a:avLst/>
              </a:prstGeom>
              <a:solidFill>
                <a:srgbClr val="FFFFFF"/>
              </a:solidFill>
              <a:ln>
                <a:noFill/>
              </a:ln>
            </p:spPr>
          </p:sp>
          <p:sp>
            <p:nvSpPr>
              <p:cNvPr id="25" name="TextBox 25"/>
              <p:cNvSpPr txBox="1"/>
              <p:nvPr/>
            </p:nvSpPr>
            <p:spPr>
              <a:xfrm>
                <a:off x="1576388" y="2330291"/>
                <a:ext cx="451079"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拜访材料</a:t>
                </a:r>
              </a:p>
            </p:txBody>
          </p:sp>
          <p:sp>
            <p:nvSpPr>
              <p:cNvPr id="26" name="Ellipse 26"/>
              <p:cNvSpPr/>
              <p:nvPr/>
            </p:nvSpPr>
            <p:spPr>
              <a:xfrm>
                <a:off x="1447800" y="2571750"/>
                <a:ext cx="38100" cy="38100"/>
              </a:xfrm>
              <a:prstGeom prst="ellipse">
                <a:avLst/>
              </a:prstGeom>
              <a:solidFill>
                <a:srgbClr val="FFFFFF"/>
              </a:solidFill>
              <a:ln>
                <a:noFill/>
              </a:ln>
            </p:spPr>
          </p:sp>
          <p:sp>
            <p:nvSpPr>
              <p:cNvPr id="27" name="TextBox 27"/>
              <p:cNvSpPr txBox="1"/>
              <p:nvPr/>
            </p:nvSpPr>
            <p:spPr>
              <a:xfrm>
                <a:off x="1576388" y="2539841"/>
                <a:ext cx="671855"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设定成功标准</a:t>
                </a:r>
              </a:p>
            </p:txBody>
          </p:sp>
        </p:grpSp>
        <p:grpSp>
          <p:nvGrpSpPr>
            <p:cNvPr id="47" name="dim-during"/>
            <p:cNvGrpSpPr/>
            <p:nvPr/>
          </p:nvGrpSpPr>
          <p:grpSpPr>
            <a:xfrm>
              <a:off x="381000" y="2895600"/>
              <a:ext cx="4095750" cy="1504950"/>
              <a:chOff x="381000" y="2895600"/>
              <a:chExt cx="4095750" cy="1504950"/>
            </a:xfrm>
          </p:grpSpPr>
          <p:sp>
            <p:nvSpPr>
              <p:cNvPr id="29" name="Rectangle 29"/>
              <p:cNvSpPr/>
              <p:nvPr/>
            </p:nvSpPr>
            <p:spPr>
              <a:xfrm>
                <a:off x="381000" y="2895600"/>
                <a:ext cx="4095750" cy="1504950"/>
              </a:xfrm>
              <a:prstGeom prst="roundRect">
                <a:avLst>
                  <a:gd name="adj" fmla="val 3797"/>
                </a:avLst>
              </a:prstGeom>
              <a:solidFill>
                <a:srgbClr val="8B321E"/>
              </a:solidFill>
              <a:ln>
                <a:noFill/>
              </a:ln>
            </p:spPr>
          </p:sp>
          <p:sp>
            <p:nvSpPr>
              <p:cNvPr id="30" name="Ellipse 30"/>
              <p:cNvSpPr/>
              <p:nvPr/>
            </p:nvSpPr>
            <p:spPr>
              <a:xfrm>
                <a:off x="666750" y="3362325"/>
                <a:ext cx="571500" cy="571500"/>
              </a:xfrm>
              <a:prstGeom prst="ellipse">
                <a:avLst/>
              </a:prstGeom>
              <a:solidFill>
                <a:srgbClr val="FFFFFF"/>
              </a:solidFill>
              <a:ln>
                <a:noFill/>
              </a:ln>
            </p:spPr>
          </p:sp>
          <p:grpSp>
            <p:nvGrpSpPr>
              <p:cNvPr id="37" name="Group 37"/>
              <p:cNvGrpSpPr/>
              <p:nvPr/>
            </p:nvGrpSpPr>
            <p:grpSpPr>
              <a:xfrm>
                <a:off x="838200" y="3533775"/>
                <a:ext cx="228599" cy="228599"/>
                <a:chOff x="838200" y="3533775"/>
                <a:chExt cx="228599" cy="228599"/>
              </a:xfrm>
            </p:grpSpPr>
            <p:sp>
              <p:nvSpPr>
                <p:cNvPr id="31" name="Freeform 31"/>
                <p:cNvSpPr/>
                <p:nvPr/>
              </p:nvSpPr>
              <p:spPr>
                <a:xfrm>
                  <a:off x="927100" y="36353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8B321E"/>
                  </a:solidFill>
                </a:ln>
              </p:spPr>
            </p:sp>
            <p:sp>
              <p:nvSpPr>
                <p:cNvPr id="32" name="Freeform 32"/>
                <p:cNvSpPr/>
                <p:nvPr/>
              </p:nvSpPr>
              <p:spPr>
                <a:xfrm>
                  <a:off x="901700" y="3724274"/>
                  <a:ext cx="101600" cy="38100"/>
                </a:xfrm>
                <a:custGeom>
                  <a:avLst/>
                  <a:gdLst/>
                  <a:ahLst/>
                  <a:cxnLst/>
                  <a:rect l="l" t="t" r="r" b="b"/>
                  <a:pathLst>
                    <a:path w="101600" h="38100">
                      <a:moveTo>
                        <a:pt x="0" y="38100"/>
                      </a:moveTo>
                      <a:lnTo>
                        <a:pt x="0" y="25400"/>
                      </a:lnTo>
                      <a:cubicBezTo>
                        <a:pt x="0" y="11372"/>
                        <a:pt x="11372" y="0"/>
                        <a:pt x="25400" y="0"/>
                      </a:cubicBezTo>
                      <a:lnTo>
                        <a:pt x="76200" y="0"/>
                      </a:lnTo>
                      <a:cubicBezTo>
                        <a:pt x="90228" y="0"/>
                        <a:pt x="101600" y="11372"/>
                        <a:pt x="101600" y="25400"/>
                      </a:cubicBezTo>
                      <a:lnTo>
                        <a:pt x="101600" y="38100"/>
                      </a:lnTo>
                    </a:path>
                  </a:pathLst>
                </a:custGeom>
                <a:noFill/>
                <a:ln w="25400">
                  <a:solidFill>
                    <a:srgbClr val="8B321E"/>
                  </a:solidFill>
                </a:ln>
              </p:spPr>
            </p:sp>
            <p:sp>
              <p:nvSpPr>
                <p:cNvPr id="33" name="Freeform 33"/>
                <p:cNvSpPr/>
                <p:nvPr/>
              </p:nvSpPr>
              <p:spPr>
                <a:xfrm>
                  <a:off x="990600" y="35337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8B321E"/>
                  </a:solidFill>
                </a:ln>
              </p:spPr>
            </p:sp>
            <p:sp>
              <p:nvSpPr>
                <p:cNvPr id="34" name="Freeform 34"/>
                <p:cNvSpPr/>
                <p:nvPr/>
              </p:nvSpPr>
              <p:spPr>
                <a:xfrm>
                  <a:off x="1015999" y="3622675"/>
                  <a:ext cx="50800" cy="38100"/>
                </a:xfrm>
                <a:custGeom>
                  <a:avLst/>
                  <a:gdLst/>
                  <a:ahLst/>
                  <a:cxnLst/>
                  <a:rect l="l" t="t" r="r" b="b"/>
                  <a:pathLst>
                    <a:path w="50800" h="38100">
                      <a:moveTo>
                        <a:pt x="0" y="0"/>
                      </a:moveTo>
                      <a:lnTo>
                        <a:pt x="25400" y="0"/>
                      </a:lnTo>
                      <a:cubicBezTo>
                        <a:pt x="39428" y="0"/>
                        <a:pt x="50800" y="11372"/>
                        <a:pt x="50800" y="25400"/>
                      </a:cubicBezTo>
                      <a:lnTo>
                        <a:pt x="50800" y="38100"/>
                      </a:lnTo>
                    </a:path>
                  </a:pathLst>
                </a:custGeom>
                <a:noFill/>
                <a:ln w="25400">
                  <a:solidFill>
                    <a:srgbClr val="8B321E"/>
                  </a:solidFill>
                </a:ln>
              </p:spPr>
            </p:sp>
            <p:sp>
              <p:nvSpPr>
                <p:cNvPr id="35" name="Freeform 35"/>
                <p:cNvSpPr/>
                <p:nvPr/>
              </p:nvSpPr>
              <p:spPr>
                <a:xfrm>
                  <a:off x="863600" y="3533775"/>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8B321E"/>
                  </a:solidFill>
                </a:ln>
              </p:spPr>
            </p:sp>
            <p:sp>
              <p:nvSpPr>
                <p:cNvPr id="36" name="Freeform 36"/>
                <p:cNvSpPr/>
                <p:nvPr/>
              </p:nvSpPr>
              <p:spPr>
                <a:xfrm>
                  <a:off x="838200" y="3622675"/>
                  <a:ext cx="50800" cy="38100"/>
                </a:xfrm>
                <a:custGeom>
                  <a:avLst/>
                  <a:gdLst/>
                  <a:ahLst/>
                  <a:cxnLst/>
                  <a:rect l="l" t="t" r="r" b="b"/>
                  <a:pathLst>
                    <a:path w="50800" h="38100">
                      <a:moveTo>
                        <a:pt x="0" y="38100"/>
                      </a:moveTo>
                      <a:lnTo>
                        <a:pt x="0" y="25400"/>
                      </a:lnTo>
                      <a:cubicBezTo>
                        <a:pt x="0" y="11372"/>
                        <a:pt x="11372" y="0"/>
                        <a:pt x="25400" y="0"/>
                      </a:cubicBezTo>
                      <a:lnTo>
                        <a:pt x="50800" y="0"/>
                      </a:lnTo>
                    </a:path>
                  </a:pathLst>
                </a:custGeom>
                <a:noFill/>
                <a:ln w="25400">
                  <a:solidFill>
                    <a:srgbClr val="8B321E"/>
                  </a:solidFill>
                </a:ln>
              </p:spPr>
            </p:sp>
          </p:grpSp>
          <p:sp>
            <p:nvSpPr>
              <p:cNvPr id="38" name="TextBox 38"/>
              <p:cNvSpPr txBox="1"/>
              <p:nvPr/>
            </p:nvSpPr>
            <p:spPr>
              <a:xfrm>
                <a:off x="1422844" y="3265408"/>
                <a:ext cx="1573403" cy="227362"/>
              </a:xfrm>
              <a:prstGeom prst="rect">
                <a:avLst/>
              </a:prstGeom>
              <a:noFill/>
              <a:ln>
                <a:noFill/>
              </a:ln>
            </p:spPr>
            <p:txBody>
              <a:bodyPr wrap="none" lIns="0" tIns="0" rIns="0" bIns="0" anchor="t" anchorCtr="0">
                <a:spAutoFit/>
              </a:bodyPr>
              <a:lstStyle/>
              <a:p>
                <a:pPr algn="l"/>
                <a:r>
                  <a:rPr lang="zh-CN" sz="1160" b="1" dirty="0">
                    <a:solidFill>
                      <a:srgbClr val="FFFFFF"/>
                    </a:solidFill>
                    <a:latin typeface="+mn-lt"/>
                    <a:ea typeface="+mn-ea"/>
                    <a:cs typeface="+mn-cs"/>
                  </a:rPr>
                  <a:t>维度二：拜访过程管理</a:t>
                </a:r>
              </a:p>
            </p:txBody>
          </p:sp>
          <p:sp>
            <p:nvSpPr>
              <p:cNvPr id="39" name="Ellipse 39"/>
              <p:cNvSpPr/>
              <p:nvPr/>
            </p:nvSpPr>
            <p:spPr>
              <a:xfrm>
                <a:off x="1447800" y="3581400"/>
                <a:ext cx="38100" cy="38100"/>
              </a:xfrm>
              <a:prstGeom prst="ellipse">
                <a:avLst/>
              </a:prstGeom>
              <a:solidFill>
                <a:srgbClr val="FFFFFF"/>
              </a:solidFill>
              <a:ln>
                <a:noFill/>
              </a:ln>
            </p:spPr>
          </p:sp>
          <p:sp>
            <p:nvSpPr>
              <p:cNvPr id="40" name="TextBox 40"/>
              <p:cNvSpPr txBox="1"/>
              <p:nvPr/>
            </p:nvSpPr>
            <p:spPr>
              <a:xfrm>
                <a:off x="1576388" y="3549491"/>
                <a:ext cx="671855"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开场建立连接</a:t>
                </a:r>
              </a:p>
            </p:txBody>
          </p:sp>
          <p:sp>
            <p:nvSpPr>
              <p:cNvPr id="41" name="Ellipse 41"/>
              <p:cNvSpPr/>
              <p:nvPr/>
            </p:nvSpPr>
            <p:spPr>
              <a:xfrm>
                <a:off x="1447800" y="3790950"/>
                <a:ext cx="38100" cy="38100"/>
              </a:xfrm>
              <a:prstGeom prst="ellipse">
                <a:avLst/>
              </a:prstGeom>
              <a:solidFill>
                <a:srgbClr val="FFFFFF"/>
              </a:solidFill>
              <a:ln>
                <a:noFill/>
              </a:ln>
            </p:spPr>
          </p:sp>
          <p:sp>
            <p:nvSpPr>
              <p:cNvPr id="42" name="TextBox 42"/>
              <p:cNvSpPr txBox="1"/>
              <p:nvPr/>
            </p:nvSpPr>
            <p:spPr>
              <a:xfrm>
                <a:off x="1576388" y="3759041"/>
                <a:ext cx="671855"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探询真实需求</a:t>
                </a:r>
              </a:p>
            </p:txBody>
          </p:sp>
          <p:sp>
            <p:nvSpPr>
              <p:cNvPr id="43" name="Ellipse 43"/>
              <p:cNvSpPr/>
              <p:nvPr/>
            </p:nvSpPr>
            <p:spPr>
              <a:xfrm>
                <a:off x="1447800" y="4000500"/>
                <a:ext cx="38100" cy="38100"/>
              </a:xfrm>
              <a:prstGeom prst="ellipse">
                <a:avLst/>
              </a:prstGeom>
              <a:solidFill>
                <a:srgbClr val="FFFFFF"/>
              </a:solidFill>
              <a:ln>
                <a:noFill/>
              </a:ln>
            </p:spPr>
          </p:sp>
          <p:sp>
            <p:nvSpPr>
              <p:cNvPr id="44" name="TextBox 44"/>
              <p:cNvSpPr txBox="1"/>
              <p:nvPr/>
            </p:nvSpPr>
            <p:spPr>
              <a:xfrm>
                <a:off x="1576388" y="3968591"/>
                <a:ext cx="782244"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针对性呈现方案</a:t>
                </a:r>
              </a:p>
            </p:txBody>
          </p:sp>
          <p:sp>
            <p:nvSpPr>
              <p:cNvPr id="45" name="Ellipse 45"/>
              <p:cNvSpPr/>
              <p:nvPr/>
            </p:nvSpPr>
            <p:spPr>
              <a:xfrm>
                <a:off x="1447800" y="4210050"/>
                <a:ext cx="38100" cy="38100"/>
              </a:xfrm>
              <a:prstGeom prst="ellipse">
                <a:avLst/>
              </a:prstGeom>
              <a:solidFill>
                <a:srgbClr val="FFFFFF"/>
              </a:solidFill>
              <a:ln>
                <a:noFill/>
              </a:ln>
            </p:spPr>
          </p:sp>
          <p:sp>
            <p:nvSpPr>
              <p:cNvPr id="46" name="TextBox 46"/>
              <p:cNvSpPr txBox="1"/>
              <p:nvPr/>
            </p:nvSpPr>
            <p:spPr>
              <a:xfrm>
                <a:off x="1576388" y="4178141"/>
                <a:ext cx="782244"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明确下一步行动</a:t>
                </a:r>
              </a:p>
            </p:txBody>
          </p:sp>
        </p:grpSp>
        <p:grpSp>
          <p:nvGrpSpPr>
            <p:cNvPr id="61" name="dim-after"/>
            <p:cNvGrpSpPr/>
            <p:nvPr/>
          </p:nvGrpSpPr>
          <p:grpSpPr>
            <a:xfrm>
              <a:off x="381000" y="4533900"/>
              <a:ext cx="4095750" cy="1504950"/>
              <a:chOff x="381000" y="4533900"/>
              <a:chExt cx="4095750" cy="1504950"/>
            </a:xfrm>
          </p:grpSpPr>
          <p:sp>
            <p:nvSpPr>
              <p:cNvPr id="48" name="Rectangle 48"/>
              <p:cNvSpPr/>
              <p:nvPr/>
            </p:nvSpPr>
            <p:spPr>
              <a:xfrm>
                <a:off x="381000" y="4533900"/>
                <a:ext cx="4095750" cy="1504950"/>
              </a:xfrm>
              <a:prstGeom prst="roundRect">
                <a:avLst>
                  <a:gd name="adj" fmla="val 3797"/>
                </a:avLst>
              </a:prstGeom>
              <a:solidFill>
                <a:srgbClr val="8B321E"/>
              </a:solidFill>
              <a:ln>
                <a:noFill/>
              </a:ln>
            </p:spPr>
          </p:sp>
          <p:sp>
            <p:nvSpPr>
              <p:cNvPr id="49" name="Ellipse 49"/>
              <p:cNvSpPr/>
              <p:nvPr/>
            </p:nvSpPr>
            <p:spPr>
              <a:xfrm>
                <a:off x="666750" y="5000625"/>
                <a:ext cx="571500" cy="571500"/>
              </a:xfrm>
              <a:prstGeom prst="ellipse">
                <a:avLst/>
              </a:prstGeom>
              <a:solidFill>
                <a:srgbClr val="FFFFFF"/>
              </a:solidFill>
              <a:ln>
                <a:noFill/>
              </a:ln>
            </p:spPr>
          </p:sp>
          <p:grpSp>
            <p:nvGrpSpPr>
              <p:cNvPr id="53" name="Group 53"/>
              <p:cNvGrpSpPr/>
              <p:nvPr/>
            </p:nvGrpSpPr>
            <p:grpSpPr>
              <a:xfrm>
                <a:off x="863600" y="5172075"/>
                <a:ext cx="177800" cy="228599"/>
                <a:chOff x="863600" y="5172075"/>
                <a:chExt cx="177800" cy="228599"/>
              </a:xfrm>
            </p:grpSpPr>
            <p:sp>
              <p:nvSpPr>
                <p:cNvPr id="50" name="Freeform 50"/>
                <p:cNvSpPr/>
                <p:nvPr/>
              </p:nvSpPr>
              <p:spPr>
                <a:xfrm>
                  <a:off x="977900" y="5172075"/>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rgbClr val="8B321E"/>
                  </a:solidFill>
                </a:ln>
              </p:spPr>
            </p:sp>
            <p:sp>
              <p:nvSpPr>
                <p:cNvPr id="51" name="Freeform 51"/>
                <p:cNvSpPr/>
                <p:nvPr/>
              </p:nvSpPr>
              <p:spPr>
                <a:xfrm>
                  <a:off x="863600" y="5172075"/>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rgbClr val="8B321E"/>
                  </a:solidFill>
                </a:ln>
              </p:spPr>
            </p:sp>
            <p:sp>
              <p:nvSpPr>
                <p:cNvPr id="52" name="Freeform 52"/>
                <p:cNvSpPr/>
                <p:nvPr/>
              </p:nvSpPr>
              <p:spPr>
                <a:xfrm>
                  <a:off x="914400" y="5299075"/>
                  <a:ext cx="76200" cy="50800"/>
                </a:xfrm>
                <a:custGeom>
                  <a:avLst/>
                  <a:gdLst/>
                  <a:ahLst/>
                  <a:cxnLst/>
                  <a:rect l="l" t="t" r="r" b="b"/>
                  <a:pathLst>
                    <a:path w="76200" h="50800">
                      <a:moveTo>
                        <a:pt x="0" y="25400"/>
                      </a:moveTo>
                      <a:lnTo>
                        <a:pt x="25400" y="50800"/>
                      </a:lnTo>
                      <a:lnTo>
                        <a:pt x="76200" y="0"/>
                      </a:lnTo>
                    </a:path>
                  </a:pathLst>
                </a:custGeom>
                <a:noFill/>
                <a:ln w="25400">
                  <a:solidFill>
                    <a:srgbClr val="8B321E"/>
                  </a:solidFill>
                </a:ln>
              </p:spPr>
            </p:sp>
          </p:grpSp>
          <p:sp>
            <p:nvSpPr>
              <p:cNvPr id="54" name="TextBox 54"/>
              <p:cNvSpPr txBox="1"/>
              <p:nvPr/>
            </p:nvSpPr>
            <p:spPr>
              <a:xfrm>
                <a:off x="1422844" y="4903708"/>
                <a:ext cx="1417244" cy="227362"/>
              </a:xfrm>
              <a:prstGeom prst="rect">
                <a:avLst/>
              </a:prstGeom>
              <a:noFill/>
              <a:ln>
                <a:noFill/>
              </a:ln>
            </p:spPr>
            <p:txBody>
              <a:bodyPr wrap="none" lIns="0" tIns="0" rIns="0" bIns="0" anchor="t" anchorCtr="0">
                <a:spAutoFit/>
              </a:bodyPr>
              <a:lstStyle/>
              <a:p>
                <a:pPr algn="l"/>
                <a:r>
                  <a:rPr lang="zh-CN" sz="1160" b="1" dirty="0">
                    <a:solidFill>
                      <a:srgbClr val="FFFFFF"/>
                    </a:solidFill>
                    <a:latin typeface="+mn-lt"/>
                    <a:ea typeface="+mn-ea"/>
                    <a:cs typeface="+mn-cs"/>
                  </a:rPr>
                  <a:t>维度三：拜访后跟进</a:t>
                </a:r>
              </a:p>
            </p:txBody>
          </p:sp>
          <p:sp>
            <p:nvSpPr>
              <p:cNvPr id="55" name="Ellipse 55"/>
              <p:cNvSpPr/>
              <p:nvPr/>
            </p:nvSpPr>
            <p:spPr>
              <a:xfrm>
                <a:off x="1447800" y="5257800"/>
                <a:ext cx="38100" cy="38100"/>
              </a:xfrm>
              <a:prstGeom prst="ellipse">
                <a:avLst/>
              </a:prstGeom>
              <a:solidFill>
                <a:srgbClr val="FFFFFF"/>
              </a:solidFill>
              <a:ln>
                <a:noFill/>
              </a:ln>
            </p:spPr>
          </p:sp>
          <p:sp>
            <p:nvSpPr>
              <p:cNvPr id="56" name="TextBox 56"/>
              <p:cNvSpPr txBox="1"/>
              <p:nvPr/>
            </p:nvSpPr>
            <p:spPr>
              <a:xfrm>
                <a:off x="1576388" y="5225891"/>
                <a:ext cx="793283"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24小时内发纪要</a:t>
                </a:r>
              </a:p>
            </p:txBody>
          </p:sp>
          <p:sp>
            <p:nvSpPr>
              <p:cNvPr id="57" name="Ellipse 57"/>
              <p:cNvSpPr/>
              <p:nvPr/>
            </p:nvSpPr>
            <p:spPr>
              <a:xfrm>
                <a:off x="1447800" y="5486400"/>
                <a:ext cx="38100" cy="38100"/>
              </a:xfrm>
              <a:prstGeom prst="ellipse">
                <a:avLst/>
              </a:prstGeom>
              <a:solidFill>
                <a:srgbClr val="FFFFFF"/>
              </a:solidFill>
              <a:ln>
                <a:noFill/>
              </a:ln>
            </p:spPr>
          </p:sp>
          <p:sp>
            <p:nvSpPr>
              <p:cNvPr id="58" name="TextBox 58"/>
              <p:cNvSpPr txBox="1"/>
              <p:nvPr/>
            </p:nvSpPr>
            <p:spPr>
              <a:xfrm>
                <a:off x="1576388" y="5454491"/>
                <a:ext cx="727570"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CRM更新信息​</a:t>
                </a:r>
              </a:p>
            </p:txBody>
          </p:sp>
          <p:sp>
            <p:nvSpPr>
              <p:cNvPr id="59" name="Ellipse 59"/>
              <p:cNvSpPr/>
              <p:nvPr/>
            </p:nvSpPr>
            <p:spPr>
              <a:xfrm>
                <a:off x="1447800" y="5715000"/>
                <a:ext cx="38100" cy="38100"/>
              </a:xfrm>
              <a:prstGeom prst="ellipse">
                <a:avLst/>
              </a:prstGeom>
              <a:solidFill>
                <a:srgbClr val="FFFFFF"/>
              </a:solidFill>
              <a:ln>
                <a:noFill/>
              </a:ln>
            </p:spPr>
          </p:sp>
          <p:sp>
            <p:nvSpPr>
              <p:cNvPr id="60" name="TextBox 60"/>
              <p:cNvSpPr txBox="1"/>
              <p:nvPr/>
            </p:nvSpPr>
            <p:spPr>
              <a:xfrm>
                <a:off x="1576388" y="5683091"/>
                <a:ext cx="671855" cy="161925"/>
              </a:xfrm>
              <a:prstGeom prst="rect">
                <a:avLst/>
              </a:prstGeom>
              <a:noFill/>
              <a:ln>
                <a:noFill/>
              </a:ln>
            </p:spPr>
            <p:txBody>
              <a:bodyPr wrap="none" lIns="0" tIns="0" rIns="0" bIns="0" anchor="t" anchorCtr="0">
                <a:spAutoFit/>
              </a:bodyPr>
              <a:lstStyle/>
              <a:p>
                <a:pPr algn="l"/>
                <a:r>
                  <a:rPr lang="zh-CN" sz="820" dirty="0">
                    <a:solidFill>
                      <a:srgbClr val="FFFFFF"/>
                    </a:solidFill>
                    <a:latin typeface="+mn-lt"/>
                    <a:ea typeface="+mn-ea"/>
                    <a:cs typeface="+mn-cs"/>
                  </a:rPr>
                  <a:t>跟进承诺事项</a:t>
                </a:r>
              </a:p>
            </p:txBody>
          </p:sp>
        </p:grpSp>
      </p:grpSp>
      <p:grpSp>
        <p:nvGrpSpPr>
          <p:cNvPr id="94" name="freq-table"/>
          <p:cNvGrpSpPr/>
          <p:nvPr/>
        </p:nvGrpSpPr>
        <p:grpSpPr>
          <a:xfrm>
            <a:off x="4705350" y="1343978"/>
            <a:ext cx="7105650" cy="1646872"/>
            <a:chOff x="4705350" y="1343978"/>
            <a:chExt cx="7105650" cy="1646872"/>
          </a:xfrm>
        </p:grpSpPr>
        <p:grpSp>
          <p:nvGrpSpPr>
            <p:cNvPr id="69" name="Group 69"/>
            <p:cNvGrpSpPr/>
            <p:nvPr/>
          </p:nvGrpSpPr>
          <p:grpSpPr>
            <a:xfrm>
              <a:off x="4730750" y="1352550"/>
              <a:ext cx="101600" cy="114300"/>
              <a:chOff x="4730750" y="1352550"/>
              <a:chExt cx="101600" cy="114300"/>
            </a:xfrm>
          </p:grpSpPr>
          <p:sp>
            <p:nvSpPr>
              <p:cNvPr id="63" name="Freeform 63"/>
              <p:cNvSpPr/>
              <p:nvPr/>
            </p:nvSpPr>
            <p:spPr>
              <a:xfrm>
                <a:off x="4730750" y="1365250"/>
                <a:ext cx="101600" cy="101600"/>
              </a:xfrm>
              <a:custGeom>
                <a:avLst/>
                <a:gdLst/>
                <a:ahLst/>
                <a:cxnLst/>
                <a:rect l="l" t="t" r="r" b="b"/>
                <a:pathLst>
                  <a:path w="101600" h="101600">
                    <a:moveTo>
                      <a:pt x="0" y="12700"/>
                    </a:moveTo>
                    <a:cubicBezTo>
                      <a:pt x="0" y="5686"/>
                      <a:pt x="5686" y="0"/>
                      <a:pt x="12700" y="0"/>
                    </a:cubicBezTo>
                    <a:lnTo>
                      <a:pt x="88900" y="0"/>
                    </a:lnTo>
                    <a:cubicBezTo>
                      <a:pt x="95914" y="0"/>
                      <a:pt x="101600" y="5686"/>
                      <a:pt x="101600" y="12700"/>
                    </a:cubicBezTo>
                    <a:lnTo>
                      <a:pt x="101600" y="88900"/>
                    </a:lnTo>
                    <a:cubicBezTo>
                      <a:pt x="101600" y="95914"/>
                      <a:pt x="95914" y="101600"/>
                      <a:pt x="88900" y="101600"/>
                    </a:cubicBezTo>
                    <a:lnTo>
                      <a:pt x="12700" y="101600"/>
                    </a:lnTo>
                    <a:cubicBezTo>
                      <a:pt x="5686" y="101600"/>
                      <a:pt x="0" y="95914"/>
                      <a:pt x="0" y="88900"/>
                    </a:cubicBezTo>
                    <a:lnTo>
                      <a:pt x="0" y="12700"/>
                    </a:lnTo>
                  </a:path>
                </a:pathLst>
              </a:custGeom>
              <a:noFill/>
              <a:ln w="12700">
                <a:solidFill>
                  <a:srgbClr val="8B321E"/>
                </a:solidFill>
              </a:ln>
            </p:spPr>
          </p:sp>
          <p:sp>
            <p:nvSpPr>
              <p:cNvPr id="64" name="Freeform 64"/>
              <p:cNvSpPr/>
              <p:nvPr/>
            </p:nvSpPr>
            <p:spPr>
              <a:xfrm>
                <a:off x="4806950" y="1352550"/>
                <a:ext cx="9525" cy="25400"/>
              </a:xfrm>
              <a:custGeom>
                <a:avLst/>
                <a:gdLst/>
                <a:ahLst/>
                <a:cxnLst/>
                <a:rect l="l" t="t" r="r" b="b"/>
                <a:pathLst>
                  <a:path w="9525" h="25400">
                    <a:moveTo>
                      <a:pt x="0" y="0"/>
                    </a:moveTo>
                    <a:lnTo>
                      <a:pt x="0" y="25400"/>
                    </a:lnTo>
                  </a:path>
                </a:pathLst>
              </a:custGeom>
              <a:noFill/>
              <a:ln w="12700">
                <a:solidFill>
                  <a:srgbClr val="8B321E"/>
                </a:solidFill>
              </a:ln>
            </p:spPr>
          </p:sp>
          <p:sp>
            <p:nvSpPr>
              <p:cNvPr id="65" name="Freeform 65"/>
              <p:cNvSpPr/>
              <p:nvPr/>
            </p:nvSpPr>
            <p:spPr>
              <a:xfrm>
                <a:off x="4756150" y="1352550"/>
                <a:ext cx="9525" cy="25400"/>
              </a:xfrm>
              <a:custGeom>
                <a:avLst/>
                <a:gdLst/>
                <a:ahLst/>
                <a:cxnLst/>
                <a:rect l="l" t="t" r="r" b="b"/>
                <a:pathLst>
                  <a:path w="9525" h="25400">
                    <a:moveTo>
                      <a:pt x="0" y="0"/>
                    </a:moveTo>
                    <a:lnTo>
                      <a:pt x="0" y="25400"/>
                    </a:lnTo>
                  </a:path>
                </a:pathLst>
              </a:custGeom>
              <a:noFill/>
              <a:ln w="12700">
                <a:solidFill>
                  <a:srgbClr val="8B321E"/>
                </a:solidFill>
              </a:ln>
            </p:spPr>
          </p:sp>
          <p:sp>
            <p:nvSpPr>
              <p:cNvPr id="66" name="Freeform 66"/>
              <p:cNvSpPr/>
              <p:nvPr/>
            </p:nvSpPr>
            <p:spPr>
              <a:xfrm>
                <a:off x="4730750" y="1403350"/>
                <a:ext cx="101600" cy="9525"/>
              </a:xfrm>
              <a:custGeom>
                <a:avLst/>
                <a:gdLst/>
                <a:ahLst/>
                <a:cxnLst/>
                <a:rect l="l" t="t" r="r" b="b"/>
                <a:pathLst>
                  <a:path w="101600" h="9525">
                    <a:moveTo>
                      <a:pt x="0" y="0"/>
                    </a:moveTo>
                    <a:lnTo>
                      <a:pt x="101600" y="0"/>
                    </a:lnTo>
                  </a:path>
                </a:pathLst>
              </a:custGeom>
              <a:noFill/>
              <a:ln w="12700">
                <a:solidFill>
                  <a:srgbClr val="8B321E"/>
                </a:solidFill>
              </a:ln>
            </p:spPr>
          </p:sp>
          <p:sp>
            <p:nvSpPr>
              <p:cNvPr id="67" name="Freeform 67"/>
              <p:cNvSpPr/>
              <p:nvPr/>
            </p:nvSpPr>
            <p:spPr>
              <a:xfrm>
                <a:off x="4775200" y="1428750"/>
                <a:ext cx="9525" cy="9525"/>
              </a:xfrm>
              <a:custGeom>
                <a:avLst/>
                <a:gdLst/>
                <a:ahLst/>
                <a:cxnLst/>
                <a:rect l="l" t="t" r="r" b="b"/>
                <a:pathLst>
                  <a:path w="9525" h="9525">
                    <a:moveTo>
                      <a:pt x="0" y="0"/>
                    </a:moveTo>
                    <a:lnTo>
                      <a:pt x="6350" y="0"/>
                    </a:lnTo>
                  </a:path>
                </a:pathLst>
              </a:custGeom>
              <a:noFill/>
              <a:ln w="12700">
                <a:solidFill>
                  <a:srgbClr val="8B321E"/>
                </a:solidFill>
              </a:ln>
            </p:spPr>
          </p:sp>
          <p:sp>
            <p:nvSpPr>
              <p:cNvPr id="68" name="Freeform 68"/>
              <p:cNvSpPr/>
              <p:nvPr/>
            </p:nvSpPr>
            <p:spPr>
              <a:xfrm>
                <a:off x="4781550" y="1428750"/>
                <a:ext cx="9525" cy="19050"/>
              </a:xfrm>
              <a:custGeom>
                <a:avLst/>
                <a:gdLst/>
                <a:ahLst/>
                <a:cxnLst/>
                <a:rect l="l" t="t" r="r" b="b"/>
                <a:pathLst>
                  <a:path w="9525" h="19050">
                    <a:moveTo>
                      <a:pt x="0" y="0"/>
                    </a:moveTo>
                    <a:lnTo>
                      <a:pt x="0" y="19050"/>
                    </a:lnTo>
                  </a:path>
                </a:pathLst>
              </a:custGeom>
              <a:noFill/>
              <a:ln w="12700">
                <a:solidFill>
                  <a:srgbClr val="8B321E"/>
                </a:solidFill>
              </a:ln>
            </p:spPr>
          </p:sp>
        </p:grpSp>
        <p:sp>
          <p:nvSpPr>
            <p:cNvPr id="70" name="TextBox 70"/>
            <p:cNvSpPr txBox="1"/>
            <p:nvPr/>
          </p:nvSpPr>
          <p:spPr>
            <a:xfrm>
              <a:off x="4928616" y="1343978"/>
              <a:ext cx="858774"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mn-lt"/>
                  <a:ea typeface="+mn-ea"/>
                  <a:cs typeface="+mn-cs"/>
                </a:rPr>
                <a:t>拜访频次标准</a:t>
              </a:r>
            </a:p>
          </p:txBody>
        </p:sp>
        <p:sp>
          <p:nvSpPr>
            <p:cNvPr id="71" name="Rectangle 71"/>
            <p:cNvSpPr/>
            <p:nvPr/>
          </p:nvSpPr>
          <p:spPr>
            <a:xfrm>
              <a:off x="4705350" y="1524000"/>
              <a:ext cx="7105650" cy="323850"/>
            </a:xfrm>
            <a:prstGeom prst="rect">
              <a:avLst/>
            </a:prstGeom>
            <a:solidFill>
              <a:srgbClr val="8B321E"/>
            </a:solidFill>
            <a:ln>
              <a:noFill/>
            </a:ln>
          </p:spPr>
        </p:sp>
        <p:sp>
          <p:nvSpPr>
            <p:cNvPr id="72" name="TextBox 72"/>
            <p:cNvSpPr txBox="1"/>
            <p:nvPr/>
          </p:nvSpPr>
          <p:spPr>
            <a:xfrm>
              <a:off x="5125021" y="1626870"/>
              <a:ext cx="49415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客户等级</a:t>
              </a:r>
            </a:p>
          </p:txBody>
        </p:sp>
        <p:sp>
          <p:nvSpPr>
            <p:cNvPr id="73" name="TextBox 73"/>
            <p:cNvSpPr txBox="1"/>
            <p:nvPr/>
          </p:nvSpPr>
          <p:spPr>
            <a:xfrm>
              <a:off x="6674303" y="1626870"/>
              <a:ext cx="634094"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季度(高管)</a:t>
              </a:r>
            </a:p>
          </p:txBody>
        </p:sp>
        <p:sp>
          <p:nvSpPr>
            <p:cNvPr id="74" name="TextBox 74"/>
            <p:cNvSpPr txBox="1"/>
            <p:nvPr/>
          </p:nvSpPr>
          <p:spPr>
            <a:xfrm>
              <a:off x="8572165" y="1626870"/>
              <a:ext cx="648371"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月度(KAM)</a:t>
              </a:r>
            </a:p>
          </p:txBody>
        </p:sp>
        <p:sp>
          <p:nvSpPr>
            <p:cNvPr id="75" name="TextBox 75"/>
            <p:cNvSpPr txBox="1"/>
            <p:nvPr/>
          </p:nvSpPr>
          <p:spPr>
            <a:xfrm>
              <a:off x="10382330" y="1626870"/>
              <a:ext cx="895190"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mn-lt"/>
                  <a:ea typeface="+mn-ea"/>
                  <a:cs typeface="+mn-cs"/>
                </a:rPr>
                <a:t>月均1次(技术)​</a:t>
              </a:r>
            </a:p>
          </p:txBody>
        </p:sp>
        <p:grpSp>
          <p:nvGrpSpPr>
            <p:cNvPr id="81" name="freq-s"/>
            <p:cNvGrpSpPr/>
            <p:nvPr/>
          </p:nvGrpSpPr>
          <p:grpSpPr>
            <a:xfrm>
              <a:off x="4705350" y="1847850"/>
              <a:ext cx="7105650" cy="381000"/>
              <a:chOff x="4705350" y="1847850"/>
              <a:chExt cx="7105650" cy="381000"/>
            </a:xfrm>
          </p:grpSpPr>
          <p:sp>
            <p:nvSpPr>
              <p:cNvPr id="76" name="Rectangle 76"/>
              <p:cNvSpPr/>
              <p:nvPr/>
            </p:nvSpPr>
            <p:spPr>
              <a:xfrm>
                <a:off x="4705350" y="1847850"/>
                <a:ext cx="7105650" cy="381000"/>
              </a:xfrm>
              <a:prstGeom prst="rect">
                <a:avLst/>
              </a:prstGeom>
              <a:solidFill>
                <a:srgbClr val="FFFFFF"/>
              </a:solidFill>
              <a:ln w="9525">
                <a:solidFill>
                  <a:srgbClr val="E8E2DE"/>
                </a:solidFill>
              </a:ln>
            </p:spPr>
          </p:sp>
          <p:sp>
            <p:nvSpPr>
              <p:cNvPr id="77" name="TextBox 77"/>
              <p:cNvSpPr txBox="1"/>
              <p:nvPr/>
            </p:nvSpPr>
            <p:spPr>
              <a:xfrm>
                <a:off x="5260933" y="1980724"/>
                <a:ext cx="222334" cy="190690"/>
              </a:xfrm>
              <a:prstGeom prst="rect">
                <a:avLst/>
              </a:prstGeom>
              <a:noFill/>
              <a:ln>
                <a:noFill/>
              </a:ln>
            </p:spPr>
            <p:txBody>
              <a:bodyPr wrap="none" lIns="0" tIns="0" rIns="0" bIns="0" anchor="t" anchorCtr="0">
                <a:spAutoFit/>
              </a:bodyPr>
              <a:lstStyle/>
              <a:p>
                <a:pPr algn="ctr"/>
                <a:r>
                  <a:rPr lang="zh-CN" sz="980" b="1" dirty="0">
                    <a:solidFill>
                      <a:srgbClr val="8B321E"/>
                    </a:solidFill>
                    <a:latin typeface="+mn-lt"/>
                    <a:ea typeface="+mn-ea"/>
                    <a:cs typeface="+mn-cs"/>
                  </a:rPr>
                  <a:t>S级</a:t>
                </a:r>
              </a:p>
            </p:txBody>
          </p:sp>
          <p:sp>
            <p:nvSpPr>
              <p:cNvPr id="78" name="TextBox 78"/>
              <p:cNvSpPr txBox="1"/>
              <p:nvPr/>
            </p:nvSpPr>
            <p:spPr>
              <a:xfrm>
                <a:off x="6691366" y="1992868"/>
                <a:ext cx="59996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季度(高管)</a:t>
                </a:r>
              </a:p>
            </p:txBody>
          </p:sp>
          <p:sp>
            <p:nvSpPr>
              <p:cNvPr id="79" name="TextBox 79"/>
              <p:cNvSpPr txBox="1"/>
              <p:nvPr/>
            </p:nvSpPr>
            <p:spPr>
              <a:xfrm>
                <a:off x="8595383" y="1992868"/>
                <a:ext cx="601934"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月度(KAM)</a:t>
                </a:r>
              </a:p>
            </p:txBody>
          </p:sp>
          <p:sp>
            <p:nvSpPr>
              <p:cNvPr id="80" name="TextBox 80"/>
              <p:cNvSpPr txBox="1"/>
              <p:nvPr/>
            </p:nvSpPr>
            <p:spPr>
              <a:xfrm>
                <a:off x="10408379" y="1992868"/>
                <a:ext cx="843092"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月均1次(技术)​</a:t>
                </a:r>
              </a:p>
            </p:txBody>
          </p:sp>
        </p:grpSp>
        <p:grpSp>
          <p:nvGrpSpPr>
            <p:cNvPr id="87" name="freq-a"/>
            <p:cNvGrpSpPr/>
            <p:nvPr/>
          </p:nvGrpSpPr>
          <p:grpSpPr>
            <a:xfrm>
              <a:off x="4705350" y="2228850"/>
              <a:ext cx="7105650" cy="381000"/>
              <a:chOff x="4705350" y="2228850"/>
              <a:chExt cx="7105650" cy="381000"/>
            </a:xfrm>
          </p:grpSpPr>
          <p:sp>
            <p:nvSpPr>
              <p:cNvPr id="82" name="Rectangle 82"/>
              <p:cNvSpPr/>
              <p:nvPr/>
            </p:nvSpPr>
            <p:spPr>
              <a:xfrm>
                <a:off x="4705350" y="2228850"/>
                <a:ext cx="7105650" cy="381000"/>
              </a:xfrm>
              <a:prstGeom prst="rect">
                <a:avLst/>
              </a:prstGeom>
              <a:solidFill>
                <a:srgbClr val="F7F4F2"/>
              </a:solidFill>
              <a:ln w="9525">
                <a:solidFill>
                  <a:srgbClr val="E8E2DE"/>
                </a:solidFill>
              </a:ln>
            </p:spPr>
          </p:sp>
          <p:sp>
            <p:nvSpPr>
              <p:cNvPr id="83" name="TextBox 83"/>
              <p:cNvSpPr txBox="1"/>
              <p:nvPr/>
            </p:nvSpPr>
            <p:spPr>
              <a:xfrm>
                <a:off x="5260933" y="2361724"/>
                <a:ext cx="222334" cy="190690"/>
              </a:xfrm>
              <a:prstGeom prst="rect">
                <a:avLst/>
              </a:prstGeom>
              <a:noFill/>
              <a:ln>
                <a:noFill/>
              </a:ln>
            </p:spPr>
            <p:txBody>
              <a:bodyPr wrap="none" lIns="0" tIns="0" rIns="0" bIns="0" anchor="t" anchorCtr="0">
                <a:spAutoFit/>
              </a:bodyPr>
              <a:lstStyle/>
              <a:p>
                <a:pPr algn="ctr"/>
                <a:r>
                  <a:rPr lang="zh-CN" sz="980" b="1" dirty="0">
                    <a:solidFill>
                      <a:srgbClr val="8B321E"/>
                    </a:solidFill>
                    <a:latin typeface="+mn-lt"/>
                    <a:ea typeface="+mn-ea"/>
                    <a:cs typeface="+mn-cs"/>
                  </a:rPr>
                  <a:t>A级</a:t>
                </a:r>
              </a:p>
            </p:txBody>
          </p:sp>
          <p:sp>
            <p:nvSpPr>
              <p:cNvPr id="84" name="TextBox 84"/>
              <p:cNvSpPr txBox="1"/>
              <p:nvPr/>
            </p:nvSpPr>
            <p:spPr>
              <a:xfrm>
                <a:off x="6691366" y="2373868"/>
                <a:ext cx="59996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半年(高管)</a:t>
                </a:r>
              </a:p>
            </p:txBody>
          </p:sp>
          <p:sp>
            <p:nvSpPr>
              <p:cNvPr id="85" name="TextBox 85"/>
              <p:cNvSpPr txBox="1"/>
              <p:nvPr/>
            </p:nvSpPr>
            <p:spPr>
              <a:xfrm>
                <a:off x="8595383" y="2373868"/>
                <a:ext cx="601934"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双月(KAM)</a:t>
                </a:r>
              </a:p>
            </p:txBody>
          </p:sp>
          <p:sp>
            <p:nvSpPr>
              <p:cNvPr id="86" name="TextBox 86"/>
              <p:cNvSpPr txBox="1"/>
              <p:nvPr/>
            </p:nvSpPr>
            <p:spPr>
              <a:xfrm>
                <a:off x="10408379" y="2373868"/>
                <a:ext cx="843092"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季均1次(技术)​</a:t>
                </a:r>
              </a:p>
            </p:txBody>
          </p:sp>
        </p:grpSp>
        <p:grpSp>
          <p:nvGrpSpPr>
            <p:cNvPr id="93" name="freq-b"/>
            <p:cNvGrpSpPr/>
            <p:nvPr/>
          </p:nvGrpSpPr>
          <p:grpSpPr>
            <a:xfrm>
              <a:off x="4705350" y="2609850"/>
              <a:ext cx="7105650" cy="381000"/>
              <a:chOff x="4705350" y="2609850"/>
              <a:chExt cx="7105650" cy="381000"/>
            </a:xfrm>
          </p:grpSpPr>
          <p:sp>
            <p:nvSpPr>
              <p:cNvPr id="88" name="Rectangle 88"/>
              <p:cNvSpPr/>
              <p:nvPr/>
            </p:nvSpPr>
            <p:spPr>
              <a:xfrm>
                <a:off x="4705350" y="2609850"/>
                <a:ext cx="7105650" cy="381000"/>
              </a:xfrm>
              <a:prstGeom prst="rect">
                <a:avLst/>
              </a:prstGeom>
              <a:solidFill>
                <a:srgbClr val="FFFFFF"/>
              </a:solidFill>
              <a:ln w="9525">
                <a:solidFill>
                  <a:srgbClr val="E8E2DE"/>
                </a:solidFill>
              </a:ln>
            </p:spPr>
          </p:sp>
          <p:sp>
            <p:nvSpPr>
              <p:cNvPr id="89" name="TextBox 89"/>
              <p:cNvSpPr txBox="1"/>
              <p:nvPr/>
            </p:nvSpPr>
            <p:spPr>
              <a:xfrm>
                <a:off x="5260933" y="2742724"/>
                <a:ext cx="222334" cy="190690"/>
              </a:xfrm>
              <a:prstGeom prst="rect">
                <a:avLst/>
              </a:prstGeom>
              <a:noFill/>
              <a:ln>
                <a:noFill/>
              </a:ln>
            </p:spPr>
            <p:txBody>
              <a:bodyPr wrap="none" lIns="0" tIns="0" rIns="0" bIns="0" anchor="t" anchorCtr="0">
                <a:spAutoFit/>
              </a:bodyPr>
              <a:lstStyle/>
              <a:p>
                <a:pPr algn="ctr"/>
                <a:r>
                  <a:rPr lang="zh-CN" sz="980" b="1" dirty="0">
                    <a:solidFill>
                      <a:srgbClr val="8B321E"/>
                    </a:solidFill>
                    <a:latin typeface="+mn-lt"/>
                    <a:ea typeface="+mn-ea"/>
                    <a:cs typeface="+mn-cs"/>
                  </a:rPr>
                  <a:t>B级</a:t>
                </a:r>
              </a:p>
            </p:txBody>
          </p:sp>
          <p:sp>
            <p:nvSpPr>
              <p:cNvPr id="90" name="TextBox 90"/>
              <p:cNvSpPr txBox="1"/>
              <p:nvPr/>
            </p:nvSpPr>
            <p:spPr>
              <a:xfrm>
                <a:off x="6691366" y="2754868"/>
                <a:ext cx="59996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年度(高管)</a:t>
                </a:r>
              </a:p>
            </p:txBody>
          </p:sp>
          <p:sp>
            <p:nvSpPr>
              <p:cNvPr id="91" name="TextBox 91"/>
              <p:cNvSpPr txBox="1"/>
              <p:nvPr/>
            </p:nvSpPr>
            <p:spPr>
              <a:xfrm>
                <a:off x="8595383" y="2754868"/>
                <a:ext cx="601934"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季度(KAM)</a:t>
                </a:r>
              </a:p>
            </p:txBody>
          </p:sp>
          <p:sp>
            <p:nvSpPr>
              <p:cNvPr id="92" name="TextBox 92"/>
              <p:cNvSpPr txBox="1"/>
              <p:nvPr/>
            </p:nvSpPr>
            <p:spPr>
              <a:xfrm>
                <a:off x="10529941" y="2754868"/>
                <a:ext cx="599968" cy="169069"/>
              </a:xfrm>
              <a:prstGeom prst="rect">
                <a:avLst/>
              </a:prstGeom>
              <a:noFill/>
              <a:ln>
                <a:noFill/>
              </a:ln>
            </p:spPr>
            <p:txBody>
              <a:bodyPr wrap="none" lIns="0" tIns="0" rIns="0" bIns="0" anchor="t" anchorCtr="0">
                <a:spAutoFit/>
              </a:bodyPr>
              <a:lstStyle/>
              <a:p>
                <a:pPr algn="ctr"/>
                <a:r>
                  <a:rPr lang="zh-CN" sz="860" dirty="0">
                    <a:solidFill>
                      <a:srgbClr val="3A3A3A"/>
                    </a:solidFill>
                    <a:latin typeface="+mn-lt"/>
                    <a:ea typeface="+mn-ea"/>
                    <a:cs typeface="+mn-cs"/>
                  </a:rPr>
                  <a:t>按需(技术)</a:t>
                </a:r>
              </a:p>
            </p:txBody>
          </p:sp>
        </p:grpSp>
      </p:grpSp>
      <p:grpSp>
        <p:nvGrpSpPr>
          <p:cNvPr id="110" name="efficiency-card"/>
          <p:cNvGrpSpPr/>
          <p:nvPr/>
        </p:nvGrpSpPr>
        <p:grpSpPr>
          <a:xfrm>
            <a:off x="4705350" y="3162300"/>
            <a:ext cx="7105650" cy="2876550"/>
            <a:chOff x="4705350" y="3162300"/>
            <a:chExt cx="7105650" cy="2876550"/>
          </a:xfrm>
        </p:grpSpPr>
        <p:sp>
          <p:nvSpPr>
            <p:cNvPr id="95" name="Rectangle 95"/>
            <p:cNvSpPr/>
            <p:nvPr/>
          </p:nvSpPr>
          <p:spPr>
            <a:xfrm>
              <a:off x="4705350" y="3162300"/>
              <a:ext cx="7105650" cy="2876550"/>
            </a:xfrm>
            <a:prstGeom prst="roundRect">
              <a:avLst>
                <a:gd name="adj" fmla="val 2649"/>
              </a:avLst>
            </a:prstGeom>
            <a:solidFill>
              <a:srgbClr val="FFFFFF"/>
            </a:solidFill>
            <a:ln w="19050">
              <a:solidFill>
                <a:srgbClr val="D9978C"/>
              </a:solidFill>
            </a:ln>
          </p:spPr>
        </p:sp>
        <p:grpSp>
          <p:nvGrpSpPr>
            <p:cNvPr id="100" name="Group 100"/>
            <p:cNvGrpSpPr/>
            <p:nvPr/>
          </p:nvGrpSpPr>
          <p:grpSpPr>
            <a:xfrm>
              <a:off x="5033962" y="3384550"/>
              <a:ext cx="142875" cy="136525"/>
              <a:chOff x="5033962" y="3384550"/>
              <a:chExt cx="142875" cy="136525"/>
            </a:xfrm>
          </p:grpSpPr>
          <p:sp>
            <p:nvSpPr>
              <p:cNvPr id="96" name="Freeform 96"/>
              <p:cNvSpPr/>
              <p:nvPr/>
            </p:nvSpPr>
            <p:spPr>
              <a:xfrm>
                <a:off x="5033962" y="3448050"/>
                <a:ext cx="47625" cy="63500"/>
              </a:xfrm>
              <a:custGeom>
                <a:avLst/>
                <a:gdLst/>
                <a:ahLst/>
                <a:cxnLst/>
                <a:rect l="l" t="t" r="r" b="b"/>
                <a:pathLst>
                  <a:path w="47625" h="63500">
                    <a:moveTo>
                      <a:pt x="0" y="7937"/>
                    </a:moveTo>
                    <a:cubicBezTo>
                      <a:pt x="0" y="3554"/>
                      <a:pt x="3554" y="0"/>
                      <a:pt x="7937" y="0"/>
                    </a:cubicBezTo>
                    <a:lnTo>
                      <a:pt x="39687" y="0"/>
                    </a:lnTo>
                    <a:cubicBezTo>
                      <a:pt x="44071" y="0"/>
                      <a:pt x="47625" y="3554"/>
                      <a:pt x="47625" y="7937"/>
                    </a:cubicBezTo>
                    <a:lnTo>
                      <a:pt x="47625" y="55562"/>
                    </a:lnTo>
                    <a:cubicBezTo>
                      <a:pt x="47625" y="59946"/>
                      <a:pt x="44071" y="63500"/>
                      <a:pt x="39687" y="63500"/>
                    </a:cubicBezTo>
                    <a:lnTo>
                      <a:pt x="7937" y="63500"/>
                    </a:lnTo>
                    <a:cubicBezTo>
                      <a:pt x="3554" y="63500"/>
                      <a:pt x="0" y="59946"/>
                      <a:pt x="0" y="55562"/>
                    </a:cubicBezTo>
                    <a:lnTo>
                      <a:pt x="0" y="7937"/>
                    </a:lnTo>
                  </a:path>
                </a:pathLst>
              </a:custGeom>
              <a:noFill/>
              <a:ln w="15875">
                <a:solidFill>
                  <a:srgbClr val="C97263"/>
                </a:solidFill>
              </a:ln>
            </p:spPr>
          </p:sp>
          <p:sp>
            <p:nvSpPr>
              <p:cNvPr id="97" name="Freeform 97"/>
              <p:cNvSpPr/>
              <p:nvPr/>
            </p:nvSpPr>
            <p:spPr>
              <a:xfrm>
                <a:off x="5129212" y="3416300"/>
                <a:ext cx="47625" cy="95250"/>
              </a:xfrm>
              <a:custGeom>
                <a:avLst/>
                <a:gdLst/>
                <a:ahLst/>
                <a:cxnLst/>
                <a:rect l="l" t="t" r="r" b="b"/>
                <a:pathLst>
                  <a:path w="47625" h="95250">
                    <a:moveTo>
                      <a:pt x="0" y="7937"/>
                    </a:moveTo>
                    <a:cubicBezTo>
                      <a:pt x="0" y="3554"/>
                      <a:pt x="3554" y="0"/>
                      <a:pt x="7937" y="0"/>
                    </a:cubicBezTo>
                    <a:lnTo>
                      <a:pt x="39687" y="0"/>
                    </a:lnTo>
                    <a:cubicBezTo>
                      <a:pt x="44071" y="0"/>
                      <a:pt x="47625" y="3554"/>
                      <a:pt x="47625" y="7937"/>
                    </a:cubicBezTo>
                    <a:lnTo>
                      <a:pt x="47625" y="87312"/>
                    </a:lnTo>
                    <a:cubicBezTo>
                      <a:pt x="47625" y="91696"/>
                      <a:pt x="44071" y="95250"/>
                      <a:pt x="39687" y="95250"/>
                    </a:cubicBezTo>
                    <a:lnTo>
                      <a:pt x="7937" y="95250"/>
                    </a:lnTo>
                    <a:cubicBezTo>
                      <a:pt x="3554" y="95250"/>
                      <a:pt x="0" y="91696"/>
                      <a:pt x="0" y="87312"/>
                    </a:cubicBezTo>
                    <a:lnTo>
                      <a:pt x="0" y="7937"/>
                    </a:lnTo>
                  </a:path>
                </a:pathLst>
              </a:custGeom>
              <a:noFill/>
              <a:ln w="15875">
                <a:solidFill>
                  <a:srgbClr val="C97263"/>
                </a:solidFill>
              </a:ln>
            </p:spPr>
          </p:sp>
          <p:sp>
            <p:nvSpPr>
              <p:cNvPr id="98" name="Freeform 98"/>
              <p:cNvSpPr/>
              <p:nvPr/>
            </p:nvSpPr>
            <p:spPr>
              <a:xfrm>
                <a:off x="5081587" y="3384550"/>
                <a:ext cx="47625" cy="127000"/>
              </a:xfrm>
              <a:custGeom>
                <a:avLst/>
                <a:gdLst/>
                <a:ahLst/>
                <a:cxnLst/>
                <a:rect l="l" t="t" r="r" b="b"/>
                <a:pathLst>
                  <a:path w="47625" h="127000">
                    <a:moveTo>
                      <a:pt x="0" y="7937"/>
                    </a:moveTo>
                    <a:cubicBezTo>
                      <a:pt x="0" y="3554"/>
                      <a:pt x="3554" y="0"/>
                      <a:pt x="7937" y="0"/>
                    </a:cubicBezTo>
                    <a:lnTo>
                      <a:pt x="39687" y="0"/>
                    </a:lnTo>
                    <a:cubicBezTo>
                      <a:pt x="44071" y="0"/>
                      <a:pt x="47625" y="3554"/>
                      <a:pt x="47625" y="7937"/>
                    </a:cubicBezTo>
                    <a:lnTo>
                      <a:pt x="47625" y="119062"/>
                    </a:lnTo>
                    <a:cubicBezTo>
                      <a:pt x="47625" y="123446"/>
                      <a:pt x="44071" y="127000"/>
                      <a:pt x="39687" y="127000"/>
                    </a:cubicBezTo>
                    <a:lnTo>
                      <a:pt x="7937" y="127000"/>
                    </a:lnTo>
                    <a:cubicBezTo>
                      <a:pt x="3554" y="127000"/>
                      <a:pt x="0" y="123446"/>
                      <a:pt x="0" y="119062"/>
                    </a:cubicBezTo>
                    <a:lnTo>
                      <a:pt x="0" y="7937"/>
                    </a:lnTo>
                  </a:path>
                </a:pathLst>
              </a:custGeom>
              <a:noFill/>
              <a:ln w="15875">
                <a:solidFill>
                  <a:srgbClr val="C97263"/>
                </a:solidFill>
              </a:ln>
            </p:spPr>
          </p:sp>
          <p:sp>
            <p:nvSpPr>
              <p:cNvPr id="99" name="Freeform 99"/>
              <p:cNvSpPr/>
              <p:nvPr/>
            </p:nvSpPr>
            <p:spPr>
              <a:xfrm>
                <a:off x="5041900" y="3511550"/>
                <a:ext cx="111125" cy="9525"/>
              </a:xfrm>
              <a:custGeom>
                <a:avLst/>
                <a:gdLst/>
                <a:ahLst/>
                <a:cxnLst/>
                <a:rect l="l" t="t" r="r" b="b"/>
                <a:pathLst>
                  <a:path w="111125" h="9525">
                    <a:moveTo>
                      <a:pt x="0" y="0"/>
                    </a:moveTo>
                    <a:lnTo>
                      <a:pt x="111125" y="0"/>
                    </a:lnTo>
                  </a:path>
                </a:pathLst>
              </a:custGeom>
              <a:noFill/>
              <a:ln w="15875">
                <a:solidFill>
                  <a:srgbClr val="C97263"/>
                </a:solidFill>
              </a:ln>
            </p:spPr>
          </p:sp>
        </p:grpSp>
        <p:sp>
          <p:nvSpPr>
            <p:cNvPr id="101" name="TextBox 101"/>
            <p:cNvSpPr txBox="1"/>
            <p:nvPr/>
          </p:nvSpPr>
          <p:spPr>
            <a:xfrm>
              <a:off x="5289994" y="3379708"/>
              <a:ext cx="948766" cy="227362"/>
            </a:xfrm>
            <a:prstGeom prst="rect">
              <a:avLst/>
            </a:prstGeom>
            <a:noFill/>
            <a:ln>
              <a:noFill/>
            </a:ln>
          </p:spPr>
          <p:txBody>
            <a:bodyPr wrap="none" lIns="0" tIns="0" rIns="0" bIns="0" anchor="t" anchorCtr="0">
              <a:spAutoFit/>
            </a:bodyPr>
            <a:lstStyle/>
            <a:p>
              <a:pPr algn="l"/>
              <a:r>
                <a:rPr lang="zh-CN" sz="1160" b="1" dirty="0">
                  <a:solidFill>
                    <a:srgbClr val="1A1A1A"/>
                  </a:solidFill>
                  <a:latin typeface="+mn-lt"/>
                  <a:ea typeface="+mn-ea"/>
                  <a:cs typeface="+mn-cs"/>
                </a:rPr>
                <a:t>拜访效率指标</a:t>
              </a:r>
            </a:p>
          </p:txBody>
        </p:sp>
        <p:sp>
          <p:nvSpPr>
            <p:cNvPr id="102" name="Line 102"/>
            <p:cNvSpPr/>
            <p:nvPr/>
          </p:nvSpPr>
          <p:spPr>
            <a:xfrm>
              <a:off x="7067550" y="3943350"/>
              <a:ext cx="9525" cy="1390650"/>
            </a:xfrm>
            <a:custGeom>
              <a:avLst/>
              <a:gdLst/>
              <a:ahLst/>
              <a:cxnLst/>
              <a:rect l="l" t="t" r="r" b="b"/>
              <a:pathLst>
                <a:path w="9525" h="1390650">
                  <a:moveTo>
                    <a:pt x="0" y="0"/>
                  </a:moveTo>
                  <a:lnTo>
                    <a:pt x="0" y="1390650"/>
                  </a:lnTo>
                </a:path>
              </a:pathLst>
            </a:custGeom>
            <a:noFill/>
            <a:ln w="9525">
              <a:solidFill>
                <a:srgbClr val="E0DAD5"/>
              </a:solidFill>
              <a:custDash>
                <a:ds d="400000" sp="300000"/>
              </a:custDash>
            </a:ln>
          </p:spPr>
        </p:sp>
        <p:sp>
          <p:nvSpPr>
            <p:cNvPr id="103" name="Line 103"/>
            <p:cNvSpPr/>
            <p:nvPr/>
          </p:nvSpPr>
          <p:spPr>
            <a:xfrm>
              <a:off x="9439275" y="3943350"/>
              <a:ext cx="9525" cy="1390650"/>
            </a:xfrm>
            <a:custGeom>
              <a:avLst/>
              <a:gdLst/>
              <a:ahLst/>
              <a:cxnLst/>
              <a:rect l="l" t="t" r="r" b="b"/>
              <a:pathLst>
                <a:path w="9525" h="1390650">
                  <a:moveTo>
                    <a:pt x="0" y="0"/>
                  </a:moveTo>
                  <a:lnTo>
                    <a:pt x="0" y="1390650"/>
                  </a:lnTo>
                </a:path>
              </a:pathLst>
            </a:custGeom>
            <a:noFill/>
            <a:ln w="9525">
              <a:solidFill>
                <a:srgbClr val="E0DAD5"/>
              </a:solidFill>
              <a:custDash>
                <a:ds d="400000" sp="300000"/>
              </a:custDash>
            </a:ln>
          </p:spPr>
        </p:sp>
        <p:sp>
          <p:nvSpPr>
            <p:cNvPr id="104" name="TextBox 104"/>
            <p:cNvSpPr txBox="1"/>
            <p:nvPr/>
          </p:nvSpPr>
          <p:spPr>
            <a:xfrm>
              <a:off x="5522341" y="4157901"/>
              <a:ext cx="690118"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有效拜访率</a:t>
              </a:r>
            </a:p>
          </p:txBody>
        </p:sp>
        <p:sp>
          <p:nvSpPr>
            <p:cNvPr id="105" name="TextBox 105"/>
            <p:cNvSpPr txBox="1"/>
            <p:nvPr/>
          </p:nvSpPr>
          <p:spPr>
            <a:xfrm>
              <a:off x="5404387" y="4899660"/>
              <a:ext cx="926026" cy="234696"/>
            </a:xfrm>
            <a:prstGeom prst="rect">
              <a:avLst/>
            </a:prstGeom>
            <a:noFill/>
            <a:ln>
              <a:noFill/>
            </a:ln>
          </p:spPr>
          <p:txBody>
            <a:bodyPr wrap="none" lIns="0" tIns="0" rIns="0" bIns="0" anchor="t" anchorCtr="0">
              <a:spAutoFit/>
            </a:bodyPr>
            <a:lstStyle/>
            <a:p>
              <a:pPr algn="ctr"/>
              <a:r>
                <a:rPr lang="zh-CN" sz="1800" b="1" dirty="0">
                  <a:solidFill>
                    <a:srgbClr val="C97263"/>
                  </a:solidFill>
                  <a:latin typeface="+mn-lt"/>
                  <a:ea typeface="+mn-ea"/>
                  <a:cs typeface="+mn-cs"/>
                </a:rPr>
                <a:t>≥</a:t>
              </a:r>
              <a:r>
                <a:rPr lang="zh-CN" sz="3750" b="1" dirty="0">
                  <a:solidFill>
                    <a:srgbClr val="C97263"/>
                  </a:solidFill>
                  <a:latin typeface="+mn-lt"/>
                  <a:ea typeface="+mn-ea"/>
                  <a:cs typeface="+mn-cs"/>
                </a:rPr>
                <a:t>80</a:t>
              </a:r>
              <a:r>
                <a:rPr lang="zh-CN" sz="1800" b="1" dirty="0">
                  <a:solidFill>
                    <a:srgbClr val="C97263"/>
                  </a:solidFill>
                  <a:latin typeface="+mn-lt"/>
                  <a:ea typeface="+mn-ea"/>
                  <a:cs typeface="+mn-cs"/>
                </a:rPr>
                <a:t>%</a:t>
              </a:r>
            </a:p>
          </p:txBody>
        </p:sp>
        <p:sp>
          <p:nvSpPr>
            <p:cNvPr id="106" name="TextBox 106"/>
            <p:cNvSpPr txBox="1"/>
            <p:nvPr/>
          </p:nvSpPr>
          <p:spPr>
            <a:xfrm>
              <a:off x="7903591" y="4157901"/>
              <a:ext cx="690118"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拜访转化率</a:t>
              </a:r>
            </a:p>
          </p:txBody>
        </p:sp>
        <p:sp>
          <p:nvSpPr>
            <p:cNvPr id="107" name="TextBox 107"/>
            <p:cNvSpPr txBox="1"/>
            <p:nvPr/>
          </p:nvSpPr>
          <p:spPr>
            <a:xfrm>
              <a:off x="7785637" y="4899660"/>
              <a:ext cx="926026" cy="234696"/>
            </a:xfrm>
            <a:prstGeom prst="rect">
              <a:avLst/>
            </a:prstGeom>
            <a:noFill/>
            <a:ln>
              <a:noFill/>
            </a:ln>
          </p:spPr>
          <p:txBody>
            <a:bodyPr wrap="none" lIns="0" tIns="0" rIns="0" bIns="0" anchor="t" anchorCtr="0">
              <a:spAutoFit/>
            </a:bodyPr>
            <a:lstStyle/>
            <a:p>
              <a:pPr algn="ctr"/>
              <a:r>
                <a:rPr lang="zh-CN" sz="1800" b="1" dirty="0">
                  <a:solidFill>
                    <a:srgbClr val="C97263"/>
                  </a:solidFill>
                  <a:latin typeface="+mn-lt"/>
                  <a:ea typeface="+mn-ea"/>
                  <a:cs typeface="+mn-cs"/>
                </a:rPr>
                <a:t>≥</a:t>
              </a:r>
              <a:r>
                <a:rPr lang="zh-CN" sz="3750" b="1" dirty="0">
                  <a:solidFill>
                    <a:srgbClr val="C97263"/>
                  </a:solidFill>
                  <a:latin typeface="+mn-lt"/>
                  <a:ea typeface="+mn-ea"/>
                  <a:cs typeface="+mn-cs"/>
                </a:rPr>
                <a:t>60</a:t>
              </a:r>
              <a:r>
                <a:rPr lang="zh-CN" sz="1800" b="1" dirty="0">
                  <a:solidFill>
                    <a:srgbClr val="C97263"/>
                  </a:solidFill>
                  <a:latin typeface="+mn-lt"/>
                  <a:ea typeface="+mn-ea"/>
                  <a:cs typeface="+mn-cs"/>
                </a:rPr>
                <a:t>%</a:t>
              </a:r>
            </a:p>
          </p:txBody>
        </p:sp>
        <p:sp>
          <p:nvSpPr>
            <p:cNvPr id="108" name="TextBox 108"/>
            <p:cNvSpPr txBox="1"/>
            <p:nvPr/>
          </p:nvSpPr>
          <p:spPr>
            <a:xfrm>
              <a:off x="10284841" y="4157901"/>
              <a:ext cx="690118" cy="198025"/>
            </a:xfrm>
            <a:prstGeom prst="rect">
              <a:avLst/>
            </a:prstGeom>
            <a:noFill/>
            <a:ln>
              <a:noFill/>
            </a:ln>
          </p:spPr>
          <p:txBody>
            <a:bodyPr wrap="none" lIns="0" tIns="0" rIns="0" bIns="0" anchor="t" anchorCtr="0">
              <a:spAutoFit/>
            </a:bodyPr>
            <a:lstStyle/>
            <a:p>
              <a:pPr algn="ctr"/>
              <a:r>
                <a:rPr lang="zh-CN" sz="1010" b="1" dirty="0">
                  <a:solidFill>
                    <a:srgbClr val="1A1A1A"/>
                  </a:solidFill>
                  <a:latin typeface="+mn-lt"/>
                  <a:ea typeface="+mn-ea"/>
                  <a:cs typeface="+mn-cs"/>
                </a:rPr>
                <a:t>高层覆盖率</a:t>
              </a:r>
            </a:p>
          </p:txBody>
        </p:sp>
        <p:sp>
          <p:nvSpPr>
            <p:cNvPr id="109" name="TextBox 109"/>
            <p:cNvSpPr txBox="1"/>
            <p:nvPr/>
          </p:nvSpPr>
          <p:spPr>
            <a:xfrm>
              <a:off x="10091087" y="4899660"/>
              <a:ext cx="1077625" cy="234696"/>
            </a:xfrm>
            <a:prstGeom prst="rect">
              <a:avLst/>
            </a:prstGeom>
            <a:noFill/>
            <a:ln>
              <a:noFill/>
            </a:ln>
          </p:spPr>
          <p:txBody>
            <a:bodyPr wrap="none" lIns="0" tIns="0" rIns="0" bIns="0" anchor="t" anchorCtr="0">
              <a:spAutoFit/>
            </a:bodyPr>
            <a:lstStyle/>
            <a:p>
              <a:pPr algn="ctr"/>
              <a:r>
                <a:rPr lang="zh-CN" sz="3750" b="1" dirty="0">
                  <a:solidFill>
                    <a:srgbClr val="C97263"/>
                  </a:solidFill>
                  <a:latin typeface="+mn-lt"/>
                  <a:ea typeface="+mn-ea"/>
                  <a:cs typeface="+mn-cs"/>
                </a:rPr>
                <a:t>100</a:t>
              </a:r>
              <a:r>
                <a:rPr lang="zh-CN" sz="1800" b="1" dirty="0">
                  <a:solidFill>
                    <a:srgbClr val="C97263"/>
                  </a:solidFill>
                  <a:latin typeface="+mn-lt"/>
                  <a:ea typeface="+mn-ea"/>
                  <a:cs typeface="+mn-cs"/>
                </a:rPr>
                <a:t>%</a:t>
              </a:r>
            </a:p>
          </p:txBody>
        </p:sp>
      </p:grpSp>
      <p:sp>
        <p:nvSpPr>
          <p:cNvPr id="111" name="TextBox 111"/>
          <p:cNvSpPr txBox="1"/>
          <p:nvPr/>
        </p:nvSpPr>
        <p:spPr>
          <a:xfrm>
            <a:off x="11620383" y="6565106"/>
            <a:ext cx="177282" cy="220028"/>
          </a:xfrm>
          <a:prstGeom prst="rect">
            <a:avLst/>
          </a:prstGeom>
          <a:noFill/>
          <a:ln>
            <a:noFill/>
          </a:ln>
        </p:spPr>
        <p:txBody>
          <a:bodyPr wrap="none" lIns="0" tIns="0" rIns="0" bIns="0" anchor="t" anchorCtr="0">
            <a:spAutoFit/>
          </a:bodyPr>
          <a:lstStyle/>
          <a:p>
            <a:pPr algn="r"/>
            <a:r>
              <a:rPr lang="zh-CN" sz="1120" dirty="0">
                <a:solidFill>
                  <a:srgbClr val="8A8A8A"/>
                </a:solidFill>
                <a:latin typeface="+mn-lt"/>
                <a:ea typeface="+mn-ea"/>
                <a:cs typeface="+mn-cs"/>
              </a:rPr>
              <a:t>09</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a:xfrm>
            <a:off x="365760" y="190500"/>
            <a:ext cx="9319260" cy="586740"/>
          </a:xfrm>
          <a:prstGeom prst="rect">
            <a:avLst/>
          </a:prstGeom>
          <a:noFill/>
          <a:ln>
            <a:noFill/>
          </a:ln>
        </p:spPr>
        <p:txBody>
          <a:bodyPr wrap="none" lIns="0" tIns="0" rIns="0" bIns="0" anchor="t" anchorCtr="0">
            <a:spAutoFit/>
          </a:bodyPr>
          <a:lstStyle/>
          <a:p>
            <a:pPr algn="l"/>
            <a:r>
              <a:rPr lang="zh-CN" sz="3000" b="1" dirty="0">
                <a:solidFill>
                  <a:srgbClr val="1A1A1A"/>
                </a:solidFill>
                <a:latin typeface="+mn-lt"/>
                <a:ea typeface="+mn-ea"/>
                <a:cs typeface="+mn-cs"/>
              </a:rPr>
              <a:t>大客户的竞争情报管理：知己知彼才能制定精准策略</a:t>
            </a:r>
          </a:p>
        </p:txBody>
      </p:sp>
      <p:grpSp>
        <p:nvGrpSpPr>
          <p:cNvPr id="12" name="core-bar"/>
          <p:cNvGrpSpPr/>
          <p:nvPr/>
        </p:nvGrpSpPr>
        <p:grpSpPr>
          <a:xfrm>
            <a:off x="381000" y="781050"/>
            <a:ext cx="11430000" cy="628650"/>
            <a:chOff x="381000" y="781050"/>
            <a:chExt cx="11430000" cy="628650"/>
          </a:xfrm>
        </p:grpSpPr>
        <p:sp>
          <p:nvSpPr>
            <p:cNvPr id="3" name="Rectangle 3"/>
            <p:cNvSpPr/>
            <p:nvPr/>
          </p:nvSpPr>
          <p:spPr>
            <a:xfrm>
              <a:off x="381000" y="781050"/>
              <a:ext cx="11430000" cy="628650"/>
            </a:xfrm>
            <a:prstGeom prst="rect">
              <a:avLst/>
            </a:prstGeom>
            <a:solidFill>
              <a:srgbClr val="FFFFFF"/>
            </a:solidFill>
            <a:ln w="14288">
              <a:solidFill>
                <a:srgbClr val="8B321E"/>
              </a:solidFill>
            </a:ln>
          </p:spPr>
        </p:sp>
        <p:sp>
          <p:nvSpPr>
            <p:cNvPr id="4" name="Ellipse 4"/>
            <p:cNvSpPr/>
            <p:nvPr/>
          </p:nvSpPr>
          <p:spPr>
            <a:xfrm>
              <a:off x="628650" y="847725"/>
              <a:ext cx="495300" cy="495300"/>
            </a:xfrm>
            <a:prstGeom prst="ellipse">
              <a:avLst/>
            </a:prstGeom>
            <a:solidFill>
              <a:srgbClr val="8B321E"/>
            </a:solidFill>
            <a:ln>
              <a:noFill/>
            </a:ln>
          </p:spPr>
        </p:sp>
        <p:grpSp>
          <p:nvGrpSpPr>
            <p:cNvPr id="10" name="Group 10"/>
            <p:cNvGrpSpPr/>
            <p:nvPr/>
          </p:nvGrpSpPr>
          <p:grpSpPr>
            <a:xfrm>
              <a:off x="767718" y="991237"/>
              <a:ext cx="212655" cy="212673"/>
              <a:chOff x="767718" y="991237"/>
              <a:chExt cx="212655" cy="212673"/>
            </a:xfrm>
          </p:grpSpPr>
          <p:sp>
            <p:nvSpPr>
              <p:cNvPr id="5" name="Freeform 5"/>
              <p:cNvSpPr/>
              <p:nvPr/>
            </p:nvSpPr>
            <p:spPr>
              <a:xfrm>
                <a:off x="865188" y="1084263"/>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FFFFFF"/>
                </a:solidFill>
              </a:ln>
            </p:spPr>
          </p:sp>
          <p:sp>
            <p:nvSpPr>
              <p:cNvPr id="6" name="Freeform 6"/>
              <p:cNvSpPr/>
              <p:nvPr/>
            </p:nvSpPr>
            <p:spPr>
              <a:xfrm>
                <a:off x="820738" y="1039813"/>
                <a:ext cx="111125" cy="111125"/>
              </a:xfrm>
              <a:custGeom>
                <a:avLst/>
                <a:gdLst/>
                <a:ahLst/>
                <a:cxnLst/>
                <a:rect l="l" t="t" r="r" b="b"/>
                <a:pathLst>
                  <a:path w="111125" h="111125">
                    <a:moveTo>
                      <a:pt x="55563" y="0"/>
                    </a:moveTo>
                    <a:cubicBezTo>
                      <a:pt x="24876" y="0"/>
                      <a:pt x="0" y="24876"/>
                      <a:pt x="0" y="55563"/>
                    </a:cubicBezTo>
                    <a:cubicBezTo>
                      <a:pt x="0" y="86249"/>
                      <a:pt x="24876" y="111125"/>
                      <a:pt x="55563" y="111125"/>
                    </a:cubicBezTo>
                    <a:cubicBezTo>
                      <a:pt x="86249" y="111125"/>
                      <a:pt x="111125" y="86249"/>
                      <a:pt x="111125" y="55563"/>
                    </a:cubicBezTo>
                  </a:path>
                </a:pathLst>
              </a:custGeom>
              <a:noFill/>
              <a:ln w="22225">
                <a:solidFill>
                  <a:srgbClr val="FFFFFF"/>
                </a:solidFill>
              </a:ln>
            </p:spPr>
          </p:sp>
          <p:sp>
            <p:nvSpPr>
              <p:cNvPr id="7" name="Freeform 7"/>
              <p:cNvSpPr/>
              <p:nvPr/>
            </p:nvSpPr>
            <p:spPr>
              <a:xfrm>
                <a:off x="767718" y="991237"/>
                <a:ext cx="212655" cy="212673"/>
              </a:xfrm>
              <a:custGeom>
                <a:avLst/>
                <a:gdLst/>
                <a:ahLst/>
                <a:cxnLst/>
                <a:rect l="l" t="t" r="r" b="b"/>
                <a:pathLst>
                  <a:path w="212655" h="212673">
                    <a:moveTo>
                      <a:pt x="119695" y="4737"/>
                    </a:moveTo>
                    <a:cubicBezTo>
                      <a:pt x="77470" y="0"/>
                      <a:pt x="36862" y="22459"/>
                      <a:pt x="18431" y="60743"/>
                    </a:cubicBezTo>
                    <a:cubicBezTo>
                      <a:pt x="0" y="99026"/>
                      <a:pt x="7770" y="144776"/>
                      <a:pt x="37807" y="174828"/>
                    </a:cubicBezTo>
                    <a:cubicBezTo>
                      <a:pt x="67844" y="204880"/>
                      <a:pt x="113590" y="212673"/>
                      <a:pt x="151883" y="194262"/>
                    </a:cubicBezTo>
                    <a:cubicBezTo>
                      <a:pt x="190175" y="175850"/>
                      <a:pt x="212655" y="135253"/>
                      <a:pt x="207939" y="93026"/>
                    </a:cubicBezTo>
                  </a:path>
                </a:pathLst>
              </a:custGeom>
              <a:noFill/>
              <a:ln w="22225">
                <a:solidFill>
                  <a:srgbClr val="FFFFFF"/>
                </a:solidFill>
              </a:ln>
            </p:spPr>
          </p:sp>
          <p:sp>
            <p:nvSpPr>
              <p:cNvPr id="8" name="Freeform 8"/>
              <p:cNvSpPr/>
              <p:nvPr/>
            </p:nvSpPr>
            <p:spPr>
              <a:xfrm>
                <a:off x="909638" y="995363"/>
                <a:ext cx="66675" cy="66675"/>
              </a:xfrm>
              <a:custGeom>
                <a:avLst/>
                <a:gdLst/>
                <a:ahLst/>
                <a:cxnLst/>
                <a:rect l="l" t="t" r="r" b="b"/>
                <a:pathLst>
                  <a:path w="66675" h="66675">
                    <a:moveTo>
                      <a:pt x="0" y="33338"/>
                    </a:moveTo>
                    <a:lnTo>
                      <a:pt x="0" y="66675"/>
                    </a:lnTo>
                    <a:lnTo>
                      <a:pt x="33338" y="66675"/>
                    </a:lnTo>
                    <a:lnTo>
                      <a:pt x="66675" y="33338"/>
                    </a:lnTo>
                    <a:lnTo>
                      <a:pt x="33338" y="33338"/>
                    </a:lnTo>
                    <a:lnTo>
                      <a:pt x="33338" y="0"/>
                    </a:lnTo>
                    <a:lnTo>
                      <a:pt x="0" y="33338"/>
                    </a:lnTo>
                  </a:path>
                </a:pathLst>
              </a:custGeom>
              <a:noFill/>
              <a:ln w="22225">
                <a:solidFill>
                  <a:srgbClr val="FFFFFF"/>
                </a:solidFill>
              </a:ln>
            </p:spPr>
          </p:sp>
          <p:sp>
            <p:nvSpPr>
              <p:cNvPr id="9" name="Freeform 9"/>
              <p:cNvSpPr/>
              <p:nvPr/>
            </p:nvSpPr>
            <p:spPr>
              <a:xfrm>
                <a:off x="876300" y="1062038"/>
                <a:ext cx="33338" cy="33338"/>
              </a:xfrm>
              <a:custGeom>
                <a:avLst/>
                <a:gdLst/>
                <a:ahLst/>
                <a:cxnLst/>
                <a:rect l="l" t="t" r="r" b="b"/>
                <a:pathLst>
                  <a:path w="33338" h="33338">
                    <a:moveTo>
                      <a:pt x="33338" y="0"/>
                    </a:moveTo>
                    <a:lnTo>
                      <a:pt x="0" y="33338"/>
                    </a:lnTo>
                  </a:path>
                </a:pathLst>
              </a:custGeom>
              <a:noFill/>
              <a:ln w="22225">
                <a:solidFill>
                  <a:srgbClr val="FFFFFF"/>
                </a:solidFill>
              </a:ln>
            </p:spPr>
          </p:sp>
        </p:grpSp>
        <p:sp>
          <p:nvSpPr>
            <p:cNvPr id="11" name="TextBox 11"/>
            <p:cNvSpPr txBox="1"/>
            <p:nvPr/>
          </p:nvSpPr>
          <p:spPr>
            <a:xfrm>
              <a:off x="1419987" y="985361"/>
              <a:ext cx="8486914" cy="337376"/>
            </a:xfrm>
            <a:prstGeom prst="rect">
              <a:avLst/>
            </a:prstGeom>
            <a:noFill/>
            <a:ln>
              <a:noFill/>
            </a:ln>
          </p:spPr>
          <p:txBody>
            <a:bodyPr wrap="none" lIns="0" tIns="0" rIns="0" bIns="0" anchor="t" anchorCtr="0">
              <a:spAutoFit/>
            </a:bodyPr>
            <a:lstStyle/>
            <a:p>
              <a:pPr algn="l"/>
              <a:r>
                <a:rPr lang="zh-CN" sz="1720" b="1" dirty="0">
                  <a:solidFill>
                    <a:srgbClr val="8B321E"/>
                  </a:solidFill>
                  <a:latin typeface="+mn-lt"/>
                  <a:ea typeface="+mn-ea"/>
                  <a:cs typeface="+mn-cs"/>
                </a:rPr>
                <a:t>在大客户中赢得竞争，不是靠价格战，而是靠比竞争对手更了解客户的真实需求。​</a:t>
              </a:r>
            </a:p>
          </p:txBody>
        </p:sp>
      </p:grpSp>
      <p:grpSp>
        <p:nvGrpSpPr>
          <p:cNvPr id="56" name="sources"/>
          <p:cNvGrpSpPr/>
          <p:nvPr/>
        </p:nvGrpSpPr>
        <p:grpSpPr>
          <a:xfrm>
            <a:off x="381000" y="1636871"/>
            <a:ext cx="4762500" cy="4478179"/>
            <a:chOff x="381000" y="1636871"/>
            <a:chExt cx="4762500" cy="4478179"/>
          </a:xfrm>
        </p:grpSpPr>
        <p:sp>
          <p:nvSpPr>
            <p:cNvPr id="13" name="Rectangle 13"/>
            <p:cNvSpPr/>
            <p:nvPr/>
          </p:nvSpPr>
          <p:spPr>
            <a:xfrm>
              <a:off x="381000" y="1676400"/>
              <a:ext cx="152400" cy="38100"/>
            </a:xfrm>
            <a:prstGeom prst="rect">
              <a:avLst/>
            </a:prstGeom>
            <a:solidFill>
              <a:srgbClr val="8B321E"/>
            </a:solidFill>
            <a:ln>
              <a:noFill/>
            </a:ln>
          </p:spPr>
        </p:sp>
        <p:sp>
          <p:nvSpPr>
            <p:cNvPr id="14" name="TextBox 14"/>
            <p:cNvSpPr txBox="1"/>
            <p:nvPr/>
          </p:nvSpPr>
          <p:spPr>
            <a:xfrm>
              <a:off x="602361" y="1636871"/>
              <a:ext cx="1734922"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竞争情报的四个来源</a:t>
              </a:r>
            </a:p>
          </p:txBody>
        </p:sp>
        <p:grpSp>
          <p:nvGrpSpPr>
            <p:cNvPr id="22" name="source-card-1"/>
            <p:cNvGrpSpPr/>
            <p:nvPr/>
          </p:nvGrpSpPr>
          <p:grpSpPr>
            <a:xfrm>
              <a:off x="381000" y="1962150"/>
              <a:ext cx="4762500" cy="952500"/>
              <a:chOff x="381000" y="1962150"/>
              <a:chExt cx="4762500" cy="952500"/>
            </a:xfrm>
          </p:grpSpPr>
          <p:sp>
            <p:nvSpPr>
              <p:cNvPr id="15" name="Rectangle 15"/>
              <p:cNvSpPr/>
              <p:nvPr/>
            </p:nvSpPr>
            <p:spPr>
              <a:xfrm>
                <a:off x="381000" y="1962150"/>
                <a:ext cx="4762500" cy="952500"/>
              </a:xfrm>
              <a:prstGeom prst="roundRect">
                <a:avLst>
                  <a:gd name="adj" fmla="val 4000"/>
                </a:avLst>
              </a:prstGeom>
              <a:solidFill>
                <a:srgbClr val="8B321E"/>
              </a:solidFill>
              <a:ln>
                <a:noFill/>
              </a:ln>
            </p:spPr>
          </p:sp>
          <p:sp>
            <p:nvSpPr>
              <p:cNvPr id="16" name="Ellipse 16"/>
              <p:cNvSpPr/>
              <p:nvPr/>
            </p:nvSpPr>
            <p:spPr>
              <a:xfrm>
                <a:off x="523875" y="2181225"/>
                <a:ext cx="514350" cy="514350"/>
              </a:xfrm>
              <a:prstGeom prst="ellipse">
                <a:avLst/>
              </a:prstGeom>
              <a:solidFill>
                <a:srgbClr val="FFFFFF"/>
              </a:solidFill>
              <a:ln>
                <a:noFill/>
              </a:ln>
            </p:spPr>
          </p:sp>
          <p:grpSp>
            <p:nvGrpSpPr>
              <p:cNvPr id="19" name="Group 19"/>
              <p:cNvGrpSpPr/>
              <p:nvPr/>
            </p:nvGrpSpPr>
            <p:grpSpPr>
              <a:xfrm>
                <a:off x="714375" y="2338388"/>
                <a:ext cx="133350" cy="200025"/>
                <a:chOff x="714375" y="2338388"/>
                <a:chExt cx="133350" cy="200025"/>
              </a:xfrm>
            </p:grpSpPr>
            <p:sp>
              <p:nvSpPr>
                <p:cNvPr id="17" name="Freeform 17"/>
                <p:cNvSpPr/>
                <p:nvPr/>
              </p:nvSpPr>
              <p:spPr>
                <a:xfrm>
                  <a:off x="736600" y="23383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8B321E"/>
                  </a:solidFill>
                </a:ln>
              </p:spPr>
            </p:sp>
            <p:sp>
              <p:nvSpPr>
                <p:cNvPr id="18" name="Freeform 18"/>
                <p:cNvSpPr/>
                <p:nvPr/>
              </p:nvSpPr>
              <p:spPr>
                <a:xfrm>
                  <a:off x="714375" y="24717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8B321E"/>
                  </a:solidFill>
                </a:ln>
              </p:spPr>
            </p:sp>
          </p:grpSp>
          <p:sp>
            <p:nvSpPr>
              <p:cNvPr id="20" name="TextBox 20"/>
              <p:cNvSpPr txBox="1"/>
              <p:nvPr/>
            </p:nvSpPr>
            <p:spPr>
              <a:xfrm>
                <a:off x="1193673" y="2224564"/>
                <a:ext cx="1391463"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来源一：客户内部</a:t>
                </a:r>
              </a:p>
            </p:txBody>
          </p:sp>
          <p:sp>
            <p:nvSpPr>
              <p:cNvPr id="21" name="TextBox 21"/>
              <p:cNvSpPr txBox="1"/>
              <p:nvPr/>
            </p:nvSpPr>
            <p:spPr>
              <a:xfrm>
                <a:off x="1195388" y="2508647"/>
                <a:ext cx="1680845" cy="364331"/>
              </a:xfrm>
              <a:prstGeom prst="rect">
                <a:avLst/>
              </a:prstGeom>
              <a:noFill/>
              <a:ln>
                <a:noFill/>
              </a:ln>
            </p:spPr>
            <p:txBody>
              <a:bodyPr wrap="none" lIns="0" tIns="0" rIns="0" bIns="0" anchor="t" anchorCtr="0">
                <a:spAutoFit/>
              </a:bodyPr>
              <a:lstStyle/>
              <a:p>
                <a:pPr algn="l">
                  <a:lnSpc>
                    <a:spcPts val="1425"/>
                  </a:lnSpc>
                </a:pPr>
                <a:r>
                  <a:rPr lang="zh-CN" sz="940" dirty="0">
                    <a:solidFill>
                      <a:srgbClr val="FFFFFF"/>
                    </a:solidFill>
                    <a:latin typeface="+mn-lt"/>
                    <a:ea typeface="+mn-ea"/>
                    <a:cs typeface="+mn-cs"/>
                  </a:rPr>
                  <a:t>内部教练提供的竞争对手信息，</a:t>
                </a:r>
                <a:br/>
                <a:r>
                  <a:rPr lang="zh-CN" sz="940" dirty="0">
                    <a:solidFill>
                      <a:srgbClr val="FFFFFF"/>
                    </a:solidFill>
                    <a:latin typeface="+mn-lt"/>
                    <a:ea typeface="+mn-ea"/>
                    <a:cs typeface="+mn-cs"/>
                  </a:rPr>
                  <a:t>采购无意透露，技术评价。</a:t>
                </a:r>
              </a:p>
            </p:txBody>
          </p:sp>
        </p:grpSp>
        <p:grpSp>
          <p:nvGrpSpPr>
            <p:cNvPr id="33" name="source-card-2"/>
            <p:cNvGrpSpPr/>
            <p:nvPr/>
          </p:nvGrpSpPr>
          <p:grpSpPr>
            <a:xfrm>
              <a:off x="381000" y="3028950"/>
              <a:ext cx="4762500" cy="952500"/>
              <a:chOff x="381000" y="3028950"/>
              <a:chExt cx="4762500" cy="952500"/>
            </a:xfrm>
          </p:grpSpPr>
          <p:sp>
            <p:nvSpPr>
              <p:cNvPr id="23" name="Rectangle 23"/>
              <p:cNvSpPr/>
              <p:nvPr/>
            </p:nvSpPr>
            <p:spPr>
              <a:xfrm>
                <a:off x="381000" y="3028950"/>
                <a:ext cx="4762500" cy="952500"/>
              </a:xfrm>
              <a:prstGeom prst="roundRect">
                <a:avLst>
                  <a:gd name="adj" fmla="val 4000"/>
                </a:avLst>
              </a:prstGeom>
              <a:solidFill>
                <a:srgbClr val="55565A"/>
              </a:solidFill>
              <a:ln>
                <a:noFill/>
              </a:ln>
            </p:spPr>
          </p:sp>
          <p:sp>
            <p:nvSpPr>
              <p:cNvPr id="24" name="Ellipse 24"/>
              <p:cNvSpPr/>
              <p:nvPr/>
            </p:nvSpPr>
            <p:spPr>
              <a:xfrm>
                <a:off x="523875" y="3248025"/>
                <a:ext cx="514350" cy="514350"/>
              </a:xfrm>
              <a:prstGeom prst="ellipse">
                <a:avLst/>
              </a:prstGeom>
              <a:solidFill>
                <a:srgbClr val="FFFFFF"/>
              </a:solidFill>
              <a:ln>
                <a:noFill/>
              </a:ln>
            </p:spPr>
          </p:sp>
          <p:grpSp>
            <p:nvGrpSpPr>
              <p:cNvPr id="30" name="Group 30"/>
              <p:cNvGrpSpPr/>
              <p:nvPr/>
            </p:nvGrpSpPr>
            <p:grpSpPr>
              <a:xfrm>
                <a:off x="681038" y="3405188"/>
                <a:ext cx="200026" cy="200026"/>
                <a:chOff x="681038" y="3405188"/>
                <a:chExt cx="200026" cy="200026"/>
              </a:xfrm>
            </p:grpSpPr>
            <p:sp>
              <p:nvSpPr>
                <p:cNvPr id="25" name="Freeform 25"/>
                <p:cNvSpPr/>
                <p:nvPr/>
              </p:nvSpPr>
              <p:spPr>
                <a:xfrm>
                  <a:off x="681038" y="34051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55565A"/>
                  </a:solidFill>
                </a:ln>
              </p:spPr>
            </p:sp>
            <p:sp>
              <p:nvSpPr>
                <p:cNvPr id="26" name="Freeform 26"/>
                <p:cNvSpPr/>
                <p:nvPr/>
              </p:nvSpPr>
              <p:spPr>
                <a:xfrm>
                  <a:off x="687705" y="3471863"/>
                  <a:ext cx="186691" cy="9525"/>
                </a:xfrm>
                <a:custGeom>
                  <a:avLst/>
                  <a:gdLst/>
                  <a:ahLst/>
                  <a:cxnLst/>
                  <a:rect l="l" t="t" r="r" b="b"/>
                  <a:pathLst>
                    <a:path w="186691" h="9525">
                      <a:moveTo>
                        <a:pt x="0" y="0"/>
                      </a:moveTo>
                      <a:lnTo>
                        <a:pt x="186691" y="0"/>
                      </a:lnTo>
                    </a:path>
                  </a:pathLst>
                </a:custGeom>
                <a:noFill/>
                <a:ln w="22225">
                  <a:solidFill>
                    <a:srgbClr val="55565A"/>
                  </a:solidFill>
                </a:ln>
              </p:spPr>
            </p:sp>
            <p:sp>
              <p:nvSpPr>
                <p:cNvPr id="27" name="Freeform 27"/>
                <p:cNvSpPr/>
                <p:nvPr/>
              </p:nvSpPr>
              <p:spPr>
                <a:xfrm>
                  <a:off x="687705" y="3538538"/>
                  <a:ext cx="186691" cy="9525"/>
                </a:xfrm>
                <a:custGeom>
                  <a:avLst/>
                  <a:gdLst/>
                  <a:ahLst/>
                  <a:cxnLst/>
                  <a:rect l="l" t="t" r="r" b="b"/>
                  <a:pathLst>
                    <a:path w="186691" h="9525">
                      <a:moveTo>
                        <a:pt x="0" y="0"/>
                      </a:moveTo>
                      <a:lnTo>
                        <a:pt x="186691" y="0"/>
                      </a:lnTo>
                    </a:path>
                  </a:pathLst>
                </a:custGeom>
                <a:noFill/>
                <a:ln w="22225">
                  <a:solidFill>
                    <a:srgbClr val="55565A"/>
                  </a:solidFill>
                </a:ln>
              </p:spPr>
            </p:sp>
            <p:sp>
              <p:nvSpPr>
                <p:cNvPr id="28" name="Freeform 28"/>
                <p:cNvSpPr/>
                <p:nvPr/>
              </p:nvSpPr>
              <p:spPr>
                <a:xfrm>
                  <a:off x="737300" y="3405188"/>
                  <a:ext cx="38194" cy="200026"/>
                </a:xfrm>
                <a:custGeom>
                  <a:avLst/>
                  <a:gdLst/>
                  <a:ahLst/>
                  <a:cxnLst/>
                  <a:rect l="l" t="t" r="r" b="b"/>
                  <a:pathLst>
                    <a:path w="38194" h="200026">
                      <a:moveTo>
                        <a:pt x="38194" y="0"/>
                      </a:moveTo>
                      <a:cubicBezTo>
                        <a:pt x="0" y="61205"/>
                        <a:pt x="0" y="138820"/>
                        <a:pt x="38194" y="200026"/>
                      </a:cubicBezTo>
                    </a:path>
                  </a:pathLst>
                </a:custGeom>
                <a:noFill/>
                <a:ln w="22225">
                  <a:solidFill>
                    <a:srgbClr val="55565A"/>
                  </a:solidFill>
                </a:ln>
              </p:spPr>
            </p:sp>
            <p:sp>
              <p:nvSpPr>
                <p:cNvPr id="29" name="Freeform 29"/>
                <p:cNvSpPr/>
                <p:nvPr/>
              </p:nvSpPr>
              <p:spPr>
                <a:xfrm>
                  <a:off x="786607" y="3405188"/>
                  <a:ext cx="38194" cy="200026"/>
                </a:xfrm>
                <a:custGeom>
                  <a:avLst/>
                  <a:gdLst/>
                  <a:ahLst/>
                  <a:cxnLst/>
                  <a:rect l="l" t="t" r="r" b="b"/>
                  <a:pathLst>
                    <a:path w="38194" h="200026">
                      <a:moveTo>
                        <a:pt x="0" y="0"/>
                      </a:moveTo>
                      <a:cubicBezTo>
                        <a:pt x="38194" y="61205"/>
                        <a:pt x="38194" y="138820"/>
                        <a:pt x="0" y="200026"/>
                      </a:cubicBezTo>
                    </a:path>
                  </a:pathLst>
                </a:custGeom>
                <a:noFill/>
                <a:ln w="22225">
                  <a:solidFill>
                    <a:srgbClr val="55565A"/>
                  </a:solidFill>
                </a:ln>
              </p:spPr>
            </p:sp>
          </p:grpSp>
          <p:sp>
            <p:nvSpPr>
              <p:cNvPr id="31" name="TextBox 31"/>
              <p:cNvSpPr txBox="1"/>
              <p:nvPr/>
            </p:nvSpPr>
            <p:spPr>
              <a:xfrm>
                <a:off x="1193673" y="3291364"/>
                <a:ext cx="1736090"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来源二：市场公开信息</a:t>
                </a:r>
              </a:p>
            </p:txBody>
          </p:sp>
          <p:sp>
            <p:nvSpPr>
              <p:cNvPr id="32" name="TextBox 32"/>
              <p:cNvSpPr txBox="1"/>
              <p:nvPr/>
            </p:nvSpPr>
            <p:spPr>
              <a:xfrm>
                <a:off x="1195388" y="3575447"/>
                <a:ext cx="1322705" cy="364331"/>
              </a:xfrm>
              <a:prstGeom prst="rect">
                <a:avLst/>
              </a:prstGeom>
              <a:noFill/>
              <a:ln>
                <a:noFill/>
              </a:ln>
            </p:spPr>
            <p:txBody>
              <a:bodyPr wrap="none" lIns="0" tIns="0" rIns="0" bIns="0" anchor="t" anchorCtr="0">
                <a:spAutoFit/>
              </a:bodyPr>
              <a:lstStyle/>
              <a:p>
                <a:pPr algn="l">
                  <a:lnSpc>
                    <a:spcPts val="1425"/>
                  </a:lnSpc>
                </a:pPr>
                <a:r>
                  <a:rPr lang="zh-CN" sz="940" dirty="0">
                    <a:solidFill>
                      <a:srgbClr val="FFFFFF"/>
                    </a:solidFill>
                    <a:latin typeface="+mn-lt"/>
                    <a:ea typeface="+mn-ea"/>
                    <a:cs typeface="+mn-cs"/>
                  </a:rPr>
                  <a:t>官网手册、招聘、展会、</a:t>
                </a:r>
                <a:br/>
                <a:r>
                  <a:rPr lang="zh-CN" sz="940" dirty="0">
                    <a:solidFill>
                      <a:srgbClr val="FFFFFF"/>
                    </a:solidFill>
                    <a:latin typeface="+mn-lt"/>
                    <a:ea typeface="+mn-ea"/>
                    <a:cs typeface="+mn-cs"/>
                  </a:rPr>
                  <a:t>公开报道。</a:t>
                </a:r>
              </a:p>
            </p:txBody>
          </p:sp>
        </p:grpSp>
        <p:grpSp>
          <p:nvGrpSpPr>
            <p:cNvPr id="45" name="source-card-3"/>
            <p:cNvGrpSpPr/>
            <p:nvPr/>
          </p:nvGrpSpPr>
          <p:grpSpPr>
            <a:xfrm>
              <a:off x="381000" y="4095750"/>
              <a:ext cx="4762500" cy="952500"/>
              <a:chOff x="381000" y="4095750"/>
              <a:chExt cx="4762500" cy="952500"/>
            </a:xfrm>
          </p:grpSpPr>
          <p:sp>
            <p:nvSpPr>
              <p:cNvPr id="34" name="Rectangle 34"/>
              <p:cNvSpPr/>
              <p:nvPr/>
            </p:nvSpPr>
            <p:spPr>
              <a:xfrm>
                <a:off x="381000" y="4095750"/>
                <a:ext cx="4762500" cy="952500"/>
              </a:xfrm>
              <a:prstGeom prst="roundRect">
                <a:avLst>
                  <a:gd name="adj" fmla="val 4000"/>
                </a:avLst>
              </a:prstGeom>
              <a:solidFill>
                <a:srgbClr val="8B321E"/>
              </a:solidFill>
              <a:ln>
                <a:noFill/>
              </a:ln>
            </p:spPr>
          </p:sp>
          <p:sp>
            <p:nvSpPr>
              <p:cNvPr id="35" name="Ellipse 35"/>
              <p:cNvSpPr/>
              <p:nvPr/>
            </p:nvSpPr>
            <p:spPr>
              <a:xfrm>
                <a:off x="523875" y="4314825"/>
                <a:ext cx="514350" cy="514350"/>
              </a:xfrm>
              <a:prstGeom prst="ellipse">
                <a:avLst/>
              </a:prstGeom>
              <a:solidFill>
                <a:srgbClr val="FFFFFF"/>
              </a:solidFill>
              <a:ln>
                <a:noFill/>
              </a:ln>
            </p:spPr>
          </p:sp>
          <p:grpSp>
            <p:nvGrpSpPr>
              <p:cNvPr id="42" name="Group 42"/>
              <p:cNvGrpSpPr/>
              <p:nvPr/>
            </p:nvGrpSpPr>
            <p:grpSpPr>
              <a:xfrm>
                <a:off x="681038" y="4471988"/>
                <a:ext cx="200025" cy="200026"/>
                <a:chOff x="681038" y="4471988"/>
                <a:chExt cx="200025" cy="200026"/>
              </a:xfrm>
            </p:grpSpPr>
            <p:sp>
              <p:nvSpPr>
                <p:cNvPr id="36" name="Freeform 36"/>
                <p:cNvSpPr/>
                <p:nvPr/>
              </p:nvSpPr>
              <p:spPr>
                <a:xfrm>
                  <a:off x="758825" y="45608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8B321E"/>
                  </a:solidFill>
                </a:ln>
              </p:spPr>
            </p:sp>
            <p:sp>
              <p:nvSpPr>
                <p:cNvPr id="37" name="Freeform 37"/>
                <p:cNvSpPr/>
                <p:nvPr/>
              </p:nvSpPr>
              <p:spPr>
                <a:xfrm>
                  <a:off x="736600" y="4638676"/>
                  <a:ext cx="88900" cy="33338"/>
                </a:xfrm>
                <a:custGeom>
                  <a:avLst/>
                  <a:gdLst/>
                  <a:ahLst/>
                  <a:cxnLst/>
                  <a:rect l="l" t="t" r="r" b="b"/>
                  <a:pathLst>
                    <a:path w="88900" h="33338">
                      <a:moveTo>
                        <a:pt x="0" y="33338"/>
                      </a:moveTo>
                      <a:lnTo>
                        <a:pt x="0" y="22225"/>
                      </a:lnTo>
                      <a:cubicBezTo>
                        <a:pt x="0" y="9950"/>
                        <a:pt x="9950" y="0"/>
                        <a:pt x="22225" y="0"/>
                      </a:cubicBezTo>
                      <a:lnTo>
                        <a:pt x="66675" y="0"/>
                      </a:lnTo>
                      <a:cubicBezTo>
                        <a:pt x="78950" y="0"/>
                        <a:pt x="88900" y="9950"/>
                        <a:pt x="88900" y="22225"/>
                      </a:cubicBezTo>
                      <a:lnTo>
                        <a:pt x="88900" y="33338"/>
                      </a:lnTo>
                    </a:path>
                  </a:pathLst>
                </a:custGeom>
                <a:noFill/>
                <a:ln w="22225">
                  <a:solidFill>
                    <a:srgbClr val="8B321E"/>
                  </a:solidFill>
                </a:ln>
              </p:spPr>
            </p:sp>
            <p:sp>
              <p:nvSpPr>
                <p:cNvPr id="38" name="Freeform 38"/>
                <p:cNvSpPr/>
                <p:nvPr/>
              </p:nvSpPr>
              <p:spPr>
                <a:xfrm>
                  <a:off x="814388" y="44719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8B321E"/>
                  </a:solidFill>
                </a:ln>
              </p:spPr>
            </p:sp>
            <p:sp>
              <p:nvSpPr>
                <p:cNvPr id="39" name="Freeform 39"/>
                <p:cNvSpPr/>
                <p:nvPr/>
              </p:nvSpPr>
              <p:spPr>
                <a:xfrm>
                  <a:off x="836613" y="4549775"/>
                  <a:ext cx="44450" cy="33338"/>
                </a:xfrm>
                <a:custGeom>
                  <a:avLst/>
                  <a:gdLst/>
                  <a:ahLst/>
                  <a:cxnLst/>
                  <a:rect l="l" t="t" r="r" b="b"/>
                  <a:pathLst>
                    <a:path w="44450" h="33338">
                      <a:moveTo>
                        <a:pt x="0" y="0"/>
                      </a:moveTo>
                      <a:lnTo>
                        <a:pt x="22225" y="0"/>
                      </a:lnTo>
                      <a:cubicBezTo>
                        <a:pt x="34500" y="0"/>
                        <a:pt x="44450" y="9950"/>
                        <a:pt x="44450" y="22225"/>
                      </a:cubicBezTo>
                      <a:lnTo>
                        <a:pt x="44450" y="33338"/>
                      </a:lnTo>
                    </a:path>
                  </a:pathLst>
                </a:custGeom>
                <a:noFill/>
                <a:ln w="22225">
                  <a:solidFill>
                    <a:srgbClr val="8B321E"/>
                  </a:solidFill>
                </a:ln>
              </p:spPr>
            </p:sp>
            <p:sp>
              <p:nvSpPr>
                <p:cNvPr id="40" name="Freeform 40"/>
                <p:cNvSpPr/>
                <p:nvPr/>
              </p:nvSpPr>
              <p:spPr>
                <a:xfrm>
                  <a:off x="703263" y="44719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rgbClr val="8B321E"/>
                  </a:solidFill>
                </a:ln>
              </p:spPr>
            </p:sp>
            <p:sp>
              <p:nvSpPr>
                <p:cNvPr id="41" name="Freeform 41"/>
                <p:cNvSpPr/>
                <p:nvPr/>
              </p:nvSpPr>
              <p:spPr>
                <a:xfrm>
                  <a:off x="681038" y="4549775"/>
                  <a:ext cx="44450" cy="33338"/>
                </a:xfrm>
                <a:custGeom>
                  <a:avLst/>
                  <a:gdLst/>
                  <a:ahLst/>
                  <a:cxnLst/>
                  <a:rect l="l" t="t" r="r" b="b"/>
                  <a:pathLst>
                    <a:path w="44450" h="33338">
                      <a:moveTo>
                        <a:pt x="0" y="33338"/>
                      </a:moveTo>
                      <a:lnTo>
                        <a:pt x="0" y="22225"/>
                      </a:lnTo>
                      <a:cubicBezTo>
                        <a:pt x="0" y="9950"/>
                        <a:pt x="9950" y="0"/>
                        <a:pt x="22225" y="0"/>
                      </a:cubicBezTo>
                      <a:lnTo>
                        <a:pt x="44450" y="0"/>
                      </a:lnTo>
                    </a:path>
                  </a:pathLst>
                </a:custGeom>
                <a:noFill/>
                <a:ln w="22225">
                  <a:solidFill>
                    <a:srgbClr val="8B321E"/>
                  </a:solidFill>
                </a:ln>
              </p:spPr>
            </p:sp>
          </p:grpSp>
          <p:sp>
            <p:nvSpPr>
              <p:cNvPr id="43" name="TextBox 43"/>
              <p:cNvSpPr txBox="1"/>
              <p:nvPr/>
            </p:nvSpPr>
            <p:spPr>
              <a:xfrm>
                <a:off x="1193673" y="4358164"/>
                <a:ext cx="1391463"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来源三：行业渠道</a:t>
                </a:r>
              </a:p>
            </p:txBody>
          </p:sp>
          <p:sp>
            <p:nvSpPr>
              <p:cNvPr id="44" name="TextBox 44"/>
              <p:cNvSpPr txBox="1"/>
              <p:nvPr/>
            </p:nvSpPr>
            <p:spPr>
              <a:xfrm>
                <a:off x="1195388" y="4642247"/>
                <a:ext cx="1322705" cy="364331"/>
              </a:xfrm>
              <a:prstGeom prst="rect">
                <a:avLst/>
              </a:prstGeom>
              <a:noFill/>
              <a:ln>
                <a:noFill/>
              </a:ln>
            </p:spPr>
            <p:txBody>
              <a:bodyPr wrap="none" lIns="0" tIns="0" rIns="0" bIns="0" anchor="t" anchorCtr="0">
                <a:spAutoFit/>
              </a:bodyPr>
              <a:lstStyle/>
              <a:p>
                <a:pPr algn="l">
                  <a:lnSpc>
                    <a:spcPts val="1425"/>
                  </a:lnSpc>
                </a:pPr>
                <a:r>
                  <a:rPr lang="zh-CN" sz="940" dirty="0">
                    <a:solidFill>
                      <a:srgbClr val="FFFFFF"/>
                    </a:solidFill>
                    <a:latin typeface="+mn-lt"/>
                    <a:ea typeface="+mn-ea"/>
                    <a:cs typeface="+mn-cs"/>
                  </a:rPr>
                  <a:t>共同经销商、行业协会、</a:t>
                </a:r>
                <a:br/>
                <a:r>
                  <a:rPr lang="zh-CN" sz="940" dirty="0">
                    <a:solidFill>
                      <a:srgbClr val="FFFFFF"/>
                    </a:solidFill>
                    <a:latin typeface="+mn-lt"/>
                    <a:ea typeface="+mn-ea"/>
                    <a:cs typeface="+mn-cs"/>
                  </a:rPr>
                  <a:t>前竞争对手员工。</a:t>
                </a:r>
              </a:p>
            </p:txBody>
          </p:sp>
        </p:grpSp>
        <p:grpSp>
          <p:nvGrpSpPr>
            <p:cNvPr id="55" name="source-card-4"/>
            <p:cNvGrpSpPr/>
            <p:nvPr/>
          </p:nvGrpSpPr>
          <p:grpSpPr>
            <a:xfrm>
              <a:off x="381000" y="5162550"/>
              <a:ext cx="4762500" cy="952500"/>
              <a:chOff x="381000" y="5162550"/>
              <a:chExt cx="4762500" cy="952500"/>
            </a:xfrm>
          </p:grpSpPr>
          <p:sp>
            <p:nvSpPr>
              <p:cNvPr id="46" name="Rectangle 46"/>
              <p:cNvSpPr/>
              <p:nvPr/>
            </p:nvSpPr>
            <p:spPr>
              <a:xfrm>
                <a:off x="381000" y="5162550"/>
                <a:ext cx="4762500" cy="952500"/>
              </a:xfrm>
              <a:prstGeom prst="roundRect">
                <a:avLst>
                  <a:gd name="adj" fmla="val 4000"/>
                </a:avLst>
              </a:prstGeom>
              <a:solidFill>
                <a:srgbClr val="55565A"/>
              </a:solidFill>
              <a:ln>
                <a:noFill/>
              </a:ln>
            </p:spPr>
          </p:sp>
          <p:sp>
            <p:nvSpPr>
              <p:cNvPr id="47" name="Ellipse 47"/>
              <p:cNvSpPr/>
              <p:nvPr/>
            </p:nvSpPr>
            <p:spPr>
              <a:xfrm>
                <a:off x="523875" y="5381625"/>
                <a:ext cx="514350" cy="514350"/>
              </a:xfrm>
              <a:prstGeom prst="ellipse">
                <a:avLst/>
              </a:prstGeom>
              <a:solidFill>
                <a:srgbClr val="FFFFFF"/>
              </a:solidFill>
              <a:ln>
                <a:noFill/>
              </a:ln>
            </p:spPr>
          </p:sp>
          <p:grpSp>
            <p:nvGrpSpPr>
              <p:cNvPr id="52" name="Group 52"/>
              <p:cNvGrpSpPr/>
              <p:nvPr/>
            </p:nvGrpSpPr>
            <p:grpSpPr>
              <a:xfrm>
                <a:off x="681038" y="5549900"/>
                <a:ext cx="200025" cy="187326"/>
                <a:chOff x="681038" y="5549900"/>
                <a:chExt cx="200025" cy="187326"/>
              </a:xfrm>
            </p:grpSpPr>
            <p:sp>
              <p:nvSpPr>
                <p:cNvPr id="48" name="Freeform 48"/>
                <p:cNvSpPr/>
                <p:nvPr/>
              </p:nvSpPr>
              <p:spPr>
                <a:xfrm>
                  <a:off x="681038" y="5638800"/>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22225">
                  <a:solidFill>
                    <a:srgbClr val="55565A"/>
                  </a:solidFill>
                </a:ln>
              </p:spPr>
            </p:sp>
            <p:sp>
              <p:nvSpPr>
                <p:cNvPr id="49" name="Freeform 49"/>
                <p:cNvSpPr/>
                <p:nvPr/>
              </p:nvSpPr>
              <p:spPr>
                <a:xfrm>
                  <a:off x="814388" y="5594350"/>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22225">
                  <a:solidFill>
                    <a:srgbClr val="55565A"/>
                  </a:solidFill>
                </a:ln>
              </p:spPr>
            </p:sp>
            <p:sp>
              <p:nvSpPr>
                <p:cNvPr id="50" name="Freeform 50"/>
                <p:cNvSpPr/>
                <p:nvPr/>
              </p:nvSpPr>
              <p:spPr>
                <a:xfrm>
                  <a:off x="747713" y="5549900"/>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22225">
                  <a:solidFill>
                    <a:srgbClr val="55565A"/>
                  </a:solidFill>
                </a:ln>
              </p:spPr>
            </p:sp>
            <p:sp>
              <p:nvSpPr>
                <p:cNvPr id="51" name="Freeform 51"/>
                <p:cNvSpPr/>
                <p:nvPr/>
              </p:nvSpPr>
              <p:spPr>
                <a:xfrm>
                  <a:off x="692150" y="5727701"/>
                  <a:ext cx="155575" cy="9525"/>
                </a:xfrm>
                <a:custGeom>
                  <a:avLst/>
                  <a:gdLst/>
                  <a:ahLst/>
                  <a:cxnLst/>
                  <a:rect l="l" t="t" r="r" b="b"/>
                  <a:pathLst>
                    <a:path w="155575" h="9525">
                      <a:moveTo>
                        <a:pt x="0" y="0"/>
                      </a:moveTo>
                      <a:lnTo>
                        <a:pt x="155575" y="0"/>
                      </a:lnTo>
                    </a:path>
                  </a:pathLst>
                </a:custGeom>
                <a:noFill/>
                <a:ln w="22225">
                  <a:solidFill>
                    <a:srgbClr val="55565A"/>
                  </a:solidFill>
                </a:ln>
              </p:spPr>
            </p:sp>
          </p:grpSp>
          <p:sp>
            <p:nvSpPr>
              <p:cNvPr id="53" name="TextBox 53"/>
              <p:cNvSpPr txBox="1"/>
              <p:nvPr/>
            </p:nvSpPr>
            <p:spPr>
              <a:xfrm>
                <a:off x="1193673" y="5424964"/>
                <a:ext cx="1736090"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来源四：客户行为观察</a:t>
                </a:r>
              </a:p>
            </p:txBody>
          </p:sp>
          <p:sp>
            <p:nvSpPr>
              <p:cNvPr id="54" name="TextBox 54"/>
              <p:cNvSpPr txBox="1"/>
              <p:nvPr/>
            </p:nvSpPr>
            <p:spPr>
              <a:xfrm>
                <a:off x="1195388" y="5709047"/>
                <a:ext cx="1680845" cy="364331"/>
              </a:xfrm>
              <a:prstGeom prst="rect">
                <a:avLst/>
              </a:prstGeom>
              <a:noFill/>
              <a:ln>
                <a:noFill/>
              </a:ln>
            </p:spPr>
            <p:txBody>
              <a:bodyPr wrap="none" lIns="0" tIns="0" rIns="0" bIns="0" anchor="t" anchorCtr="0">
                <a:spAutoFit/>
              </a:bodyPr>
              <a:lstStyle/>
              <a:p>
                <a:pPr algn="l">
                  <a:lnSpc>
                    <a:spcPts val="1425"/>
                  </a:lnSpc>
                </a:pPr>
                <a:r>
                  <a:rPr lang="zh-CN" sz="940" dirty="0">
                    <a:solidFill>
                      <a:srgbClr val="FFFFFF"/>
                    </a:solidFill>
                    <a:latin typeface="+mn-lt"/>
                    <a:ea typeface="+mn-ea"/>
                    <a:cs typeface="+mn-cs"/>
                  </a:rPr>
                  <a:t>采购量变化、对我方报价反应、</a:t>
                </a:r>
                <a:br/>
                <a:r>
                  <a:rPr lang="zh-CN" sz="940" dirty="0">
                    <a:solidFill>
                      <a:srgbClr val="FFFFFF"/>
                    </a:solidFill>
                    <a:latin typeface="+mn-lt"/>
                    <a:ea typeface="+mn-ea"/>
                    <a:cs typeface="+mn-cs"/>
                  </a:rPr>
                  <a:t>拜访频次变化。</a:t>
                </a:r>
              </a:p>
            </p:txBody>
          </p:sp>
        </p:grpSp>
      </p:grpSp>
      <p:grpSp>
        <p:nvGrpSpPr>
          <p:cNvPr id="100" name="matrix-table"/>
          <p:cNvGrpSpPr/>
          <p:nvPr/>
        </p:nvGrpSpPr>
        <p:grpSpPr>
          <a:xfrm>
            <a:off x="5524500" y="1636871"/>
            <a:ext cx="6286500" cy="2744629"/>
            <a:chOff x="5524500" y="1636871"/>
            <a:chExt cx="6286500" cy="2744629"/>
          </a:xfrm>
        </p:grpSpPr>
        <p:sp>
          <p:nvSpPr>
            <p:cNvPr id="57" name="Rectangle 57"/>
            <p:cNvSpPr/>
            <p:nvPr/>
          </p:nvSpPr>
          <p:spPr>
            <a:xfrm>
              <a:off x="5524500" y="1676400"/>
              <a:ext cx="152400" cy="38100"/>
            </a:xfrm>
            <a:prstGeom prst="rect">
              <a:avLst/>
            </a:prstGeom>
            <a:solidFill>
              <a:srgbClr val="8B321E"/>
            </a:solidFill>
            <a:ln>
              <a:noFill/>
            </a:ln>
          </p:spPr>
        </p:sp>
        <p:sp>
          <p:nvSpPr>
            <p:cNvPr id="58" name="TextBox 58"/>
            <p:cNvSpPr txBox="1"/>
            <p:nvPr/>
          </p:nvSpPr>
          <p:spPr>
            <a:xfrm>
              <a:off x="5745861" y="1636871"/>
              <a:ext cx="1543761"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竞争态势分析框架</a:t>
              </a:r>
            </a:p>
          </p:txBody>
        </p:sp>
        <p:sp>
          <p:nvSpPr>
            <p:cNvPr id="59" name="Rectangle 59"/>
            <p:cNvSpPr/>
            <p:nvPr/>
          </p:nvSpPr>
          <p:spPr>
            <a:xfrm>
              <a:off x="5524500" y="1962150"/>
              <a:ext cx="6286500" cy="438150"/>
            </a:xfrm>
            <a:prstGeom prst="rect">
              <a:avLst/>
            </a:prstGeom>
            <a:solidFill>
              <a:srgbClr val="8B321E"/>
            </a:solidFill>
            <a:ln>
              <a:noFill/>
            </a:ln>
          </p:spPr>
        </p:sp>
        <p:sp>
          <p:nvSpPr>
            <p:cNvPr id="60" name="TextBox 60"/>
            <p:cNvSpPr txBox="1"/>
            <p:nvPr/>
          </p:nvSpPr>
          <p:spPr>
            <a:xfrm>
              <a:off x="6225261" y="211693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维度</a:t>
              </a:r>
            </a:p>
          </p:txBody>
        </p:sp>
        <p:sp>
          <p:nvSpPr>
            <p:cNvPr id="61" name="TextBox 61"/>
            <p:cNvSpPr txBox="1"/>
            <p:nvPr/>
          </p:nvSpPr>
          <p:spPr>
            <a:xfrm>
              <a:off x="7844511" y="211693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我方</a:t>
              </a:r>
            </a:p>
          </p:txBody>
        </p:sp>
        <p:sp>
          <p:nvSpPr>
            <p:cNvPr id="62" name="TextBox 62"/>
            <p:cNvSpPr txBox="1"/>
            <p:nvPr/>
          </p:nvSpPr>
          <p:spPr>
            <a:xfrm>
              <a:off x="9322510" y="2116931"/>
              <a:ext cx="40498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竞对A</a:t>
              </a:r>
            </a:p>
          </p:txBody>
        </p:sp>
        <p:sp>
          <p:nvSpPr>
            <p:cNvPr id="63" name="TextBox 63"/>
            <p:cNvSpPr txBox="1"/>
            <p:nvPr/>
          </p:nvSpPr>
          <p:spPr>
            <a:xfrm>
              <a:off x="10846510" y="2116931"/>
              <a:ext cx="40498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竞对B</a:t>
              </a:r>
            </a:p>
          </p:txBody>
        </p:sp>
        <p:grpSp>
          <p:nvGrpSpPr>
            <p:cNvPr id="72" name="table-row-1"/>
            <p:cNvGrpSpPr/>
            <p:nvPr/>
          </p:nvGrpSpPr>
          <p:grpSpPr>
            <a:xfrm>
              <a:off x="5524500" y="2400300"/>
              <a:ext cx="6286500" cy="495300"/>
              <a:chOff x="5524500" y="2400300"/>
              <a:chExt cx="6286500" cy="495300"/>
            </a:xfrm>
          </p:grpSpPr>
          <p:sp>
            <p:nvSpPr>
              <p:cNvPr id="64" name="Rectangle 64"/>
              <p:cNvSpPr/>
              <p:nvPr/>
            </p:nvSpPr>
            <p:spPr>
              <a:xfrm>
                <a:off x="5524500" y="2400300"/>
                <a:ext cx="6286500" cy="495300"/>
              </a:xfrm>
              <a:prstGeom prst="rect">
                <a:avLst/>
              </a:prstGeom>
              <a:solidFill>
                <a:srgbClr val="FFFFFF"/>
              </a:solidFill>
              <a:ln w="9525">
                <a:solidFill>
                  <a:srgbClr val="E8E2DE"/>
                </a:solidFill>
              </a:ln>
            </p:spPr>
          </p:sp>
          <p:sp>
            <p:nvSpPr>
              <p:cNvPr id="65" name="Line 65"/>
              <p:cNvSpPr/>
              <p:nvPr/>
            </p:nvSpPr>
            <p:spPr>
              <a:xfrm>
                <a:off x="7239000" y="24003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66" name="Line 66"/>
              <p:cNvSpPr/>
              <p:nvPr/>
            </p:nvSpPr>
            <p:spPr>
              <a:xfrm>
                <a:off x="8763000" y="24003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67" name="Line 67"/>
              <p:cNvSpPr/>
              <p:nvPr/>
            </p:nvSpPr>
            <p:spPr>
              <a:xfrm>
                <a:off x="10287000" y="24003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68" name="TextBox 68"/>
              <p:cNvSpPr txBox="1"/>
              <p:nvPr/>
            </p:nvSpPr>
            <p:spPr>
              <a:xfrm>
                <a:off x="6104674" y="2605326"/>
                <a:ext cx="554152" cy="198025"/>
              </a:xfrm>
              <a:prstGeom prst="rect">
                <a:avLst/>
              </a:prstGeom>
              <a:noFill/>
              <a:ln>
                <a:noFill/>
              </a:ln>
            </p:spPr>
            <p:txBody>
              <a:bodyPr wrap="none" lIns="0" tIns="0" rIns="0" bIns="0" anchor="t" anchorCtr="0">
                <a:spAutoFit/>
              </a:bodyPr>
              <a:lstStyle/>
              <a:p>
                <a:pPr algn="ctr"/>
                <a:r>
                  <a:rPr lang="zh-CN" sz="1010" dirty="0">
                    <a:solidFill>
                      <a:srgbClr val="2B2B2B"/>
                    </a:solidFill>
                    <a:latin typeface="+mn-lt"/>
                    <a:ea typeface="+mn-ea"/>
                    <a:cs typeface="+mn-cs"/>
                  </a:rPr>
                  <a:t>产品性能</a:t>
                </a:r>
              </a:p>
            </p:txBody>
          </p:sp>
          <p:sp>
            <p:nvSpPr>
              <p:cNvPr id="69" name="TextBox 69"/>
              <p:cNvSpPr txBox="1"/>
              <p:nvPr/>
            </p:nvSpPr>
            <p:spPr>
              <a:xfrm>
                <a:off x="7648302" y="2593181"/>
                <a:ext cx="705396" cy="220028"/>
              </a:xfrm>
              <a:prstGeom prst="rect">
                <a:avLst/>
              </a:prstGeom>
              <a:noFill/>
              <a:ln>
                <a:noFill/>
              </a:ln>
            </p:spPr>
            <p:txBody>
              <a:bodyPr wrap="none" lIns="0" tIns="0" rIns="0" bIns="0" anchor="t" anchorCtr="0">
                <a:spAutoFit/>
              </a:bodyPr>
              <a:lstStyle/>
              <a:p>
                <a:pPr algn="ctr"/>
                <a:r>
                  <a:rPr lang="zh-CN" sz="1120" spc="225" dirty="0">
                    <a:solidFill>
                      <a:srgbClr val="8B321E"/>
                    </a:solidFill>
                    <a:latin typeface="+mn-lt"/>
                    <a:ea typeface="+mn-ea"/>
                    <a:cs typeface="+mn-cs"/>
                  </a:rPr>
                  <a:t>★★★★</a:t>
                </a:r>
              </a:p>
            </p:txBody>
          </p:sp>
          <p:sp>
            <p:nvSpPr>
              <p:cNvPr id="70" name="TextBox 70"/>
              <p:cNvSpPr txBox="1"/>
              <p:nvPr/>
            </p:nvSpPr>
            <p:spPr>
              <a:xfrm>
                <a:off x="9081770" y="2593181"/>
                <a:ext cx="886460" cy="220028"/>
              </a:xfrm>
              <a:prstGeom prst="rect">
                <a:avLst/>
              </a:prstGeom>
              <a:noFill/>
              <a:ln>
                <a:noFill/>
              </a:ln>
            </p:spPr>
            <p:txBody>
              <a:bodyPr wrap="none" lIns="0" tIns="0" rIns="0" bIns="0" anchor="t" anchorCtr="0">
                <a:spAutoFit/>
              </a:bodyPr>
              <a:lstStyle/>
              <a:p>
                <a:pPr algn="ctr"/>
                <a:r>
                  <a:rPr lang="zh-CN" sz="1120" spc="225" dirty="0">
                    <a:solidFill>
                      <a:srgbClr val="C97263"/>
                    </a:solidFill>
                    <a:latin typeface="+mn-lt"/>
                    <a:ea typeface="+mn-ea"/>
                    <a:cs typeface="+mn-cs"/>
                  </a:rPr>
                  <a:t>★★★★★</a:t>
                </a:r>
              </a:p>
            </p:txBody>
          </p:sp>
          <p:sp>
            <p:nvSpPr>
              <p:cNvPr id="71" name="TextBox 71"/>
              <p:cNvSpPr txBox="1"/>
              <p:nvPr/>
            </p:nvSpPr>
            <p:spPr>
              <a:xfrm>
                <a:off x="10786834" y="2593181"/>
                <a:ext cx="524332" cy="220028"/>
              </a:xfrm>
              <a:prstGeom prst="rect">
                <a:avLst/>
              </a:prstGeom>
              <a:noFill/>
              <a:ln>
                <a:noFill/>
              </a:ln>
            </p:spPr>
            <p:txBody>
              <a:bodyPr wrap="none" lIns="0" tIns="0" rIns="0" bIns="0" anchor="t" anchorCtr="0">
                <a:spAutoFit/>
              </a:bodyPr>
              <a:lstStyle/>
              <a:p>
                <a:pPr algn="ctr"/>
                <a:r>
                  <a:rPr lang="zh-CN" sz="1120" spc="225" dirty="0">
                    <a:solidFill>
                      <a:srgbClr val="ABABAB"/>
                    </a:solidFill>
                    <a:latin typeface="+mn-lt"/>
                    <a:ea typeface="+mn-ea"/>
                    <a:cs typeface="+mn-cs"/>
                  </a:rPr>
                  <a:t>★★★</a:t>
                </a:r>
              </a:p>
            </p:txBody>
          </p:sp>
        </p:grpSp>
        <p:grpSp>
          <p:nvGrpSpPr>
            <p:cNvPr id="81" name="table-row-2"/>
            <p:cNvGrpSpPr/>
            <p:nvPr/>
          </p:nvGrpSpPr>
          <p:grpSpPr>
            <a:xfrm>
              <a:off x="5524500" y="2895600"/>
              <a:ext cx="6286500" cy="495300"/>
              <a:chOff x="5524500" y="2895600"/>
              <a:chExt cx="6286500" cy="495300"/>
            </a:xfrm>
          </p:grpSpPr>
          <p:sp>
            <p:nvSpPr>
              <p:cNvPr id="73" name="Rectangle 73"/>
              <p:cNvSpPr/>
              <p:nvPr/>
            </p:nvSpPr>
            <p:spPr>
              <a:xfrm>
                <a:off x="5524500" y="2895600"/>
                <a:ext cx="6286500" cy="495300"/>
              </a:xfrm>
              <a:prstGeom prst="rect">
                <a:avLst/>
              </a:prstGeom>
              <a:solidFill>
                <a:srgbClr val="FFFFFF"/>
              </a:solidFill>
              <a:ln w="9525">
                <a:solidFill>
                  <a:srgbClr val="E8E2DE"/>
                </a:solidFill>
              </a:ln>
            </p:spPr>
          </p:sp>
          <p:sp>
            <p:nvSpPr>
              <p:cNvPr id="74" name="Line 74"/>
              <p:cNvSpPr/>
              <p:nvPr/>
            </p:nvSpPr>
            <p:spPr>
              <a:xfrm>
                <a:off x="7239000" y="28956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75" name="Line 75"/>
              <p:cNvSpPr/>
              <p:nvPr/>
            </p:nvSpPr>
            <p:spPr>
              <a:xfrm>
                <a:off x="8763000" y="28956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76" name="Line 76"/>
              <p:cNvSpPr/>
              <p:nvPr/>
            </p:nvSpPr>
            <p:spPr>
              <a:xfrm>
                <a:off x="10287000" y="28956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77" name="TextBox 77"/>
              <p:cNvSpPr txBox="1"/>
              <p:nvPr/>
            </p:nvSpPr>
            <p:spPr>
              <a:xfrm>
                <a:off x="6036691" y="3100626"/>
                <a:ext cx="690118" cy="198025"/>
              </a:xfrm>
              <a:prstGeom prst="rect">
                <a:avLst/>
              </a:prstGeom>
              <a:noFill/>
              <a:ln>
                <a:noFill/>
              </a:ln>
            </p:spPr>
            <p:txBody>
              <a:bodyPr wrap="none" lIns="0" tIns="0" rIns="0" bIns="0" anchor="t" anchorCtr="0">
                <a:spAutoFit/>
              </a:bodyPr>
              <a:lstStyle/>
              <a:p>
                <a:pPr algn="ctr"/>
                <a:r>
                  <a:rPr lang="zh-CN" sz="1010" dirty="0">
                    <a:solidFill>
                      <a:srgbClr val="2B2B2B"/>
                    </a:solidFill>
                    <a:latin typeface="+mn-lt"/>
                    <a:ea typeface="+mn-ea"/>
                    <a:cs typeface="+mn-cs"/>
                  </a:rPr>
                  <a:t>价格竞争力</a:t>
                </a:r>
              </a:p>
            </p:txBody>
          </p:sp>
          <p:sp>
            <p:nvSpPr>
              <p:cNvPr id="78" name="TextBox 78"/>
              <p:cNvSpPr txBox="1"/>
              <p:nvPr/>
            </p:nvSpPr>
            <p:spPr>
              <a:xfrm>
                <a:off x="7738834" y="3088481"/>
                <a:ext cx="524332" cy="220028"/>
              </a:xfrm>
              <a:prstGeom prst="rect">
                <a:avLst/>
              </a:prstGeom>
              <a:noFill/>
              <a:ln>
                <a:noFill/>
              </a:ln>
            </p:spPr>
            <p:txBody>
              <a:bodyPr wrap="none" lIns="0" tIns="0" rIns="0" bIns="0" anchor="t" anchorCtr="0">
                <a:spAutoFit/>
              </a:bodyPr>
              <a:lstStyle/>
              <a:p>
                <a:pPr algn="ctr"/>
                <a:r>
                  <a:rPr lang="zh-CN" sz="1120" spc="225" dirty="0">
                    <a:solidFill>
                      <a:srgbClr val="8B321E"/>
                    </a:solidFill>
                    <a:latin typeface="+mn-lt"/>
                    <a:ea typeface="+mn-ea"/>
                    <a:cs typeface="+mn-cs"/>
                  </a:rPr>
                  <a:t>★★★</a:t>
                </a:r>
              </a:p>
            </p:txBody>
          </p:sp>
          <p:sp>
            <p:nvSpPr>
              <p:cNvPr id="79" name="TextBox 79"/>
              <p:cNvSpPr txBox="1"/>
              <p:nvPr/>
            </p:nvSpPr>
            <p:spPr>
              <a:xfrm>
                <a:off x="9172302" y="3088481"/>
                <a:ext cx="705396" cy="220028"/>
              </a:xfrm>
              <a:prstGeom prst="rect">
                <a:avLst/>
              </a:prstGeom>
              <a:noFill/>
              <a:ln>
                <a:noFill/>
              </a:ln>
            </p:spPr>
            <p:txBody>
              <a:bodyPr wrap="none" lIns="0" tIns="0" rIns="0" bIns="0" anchor="t" anchorCtr="0">
                <a:spAutoFit/>
              </a:bodyPr>
              <a:lstStyle/>
              <a:p>
                <a:pPr algn="ctr"/>
                <a:r>
                  <a:rPr lang="zh-CN" sz="1120" spc="225" dirty="0">
                    <a:solidFill>
                      <a:srgbClr val="C97263"/>
                    </a:solidFill>
                    <a:latin typeface="+mn-lt"/>
                    <a:ea typeface="+mn-ea"/>
                    <a:cs typeface="+mn-cs"/>
                  </a:rPr>
                  <a:t>★★★★</a:t>
                </a:r>
              </a:p>
            </p:txBody>
          </p:sp>
          <p:sp>
            <p:nvSpPr>
              <p:cNvPr id="80" name="TextBox 80"/>
              <p:cNvSpPr txBox="1"/>
              <p:nvPr/>
            </p:nvSpPr>
            <p:spPr>
              <a:xfrm>
                <a:off x="10605770" y="3088481"/>
                <a:ext cx="886460" cy="220028"/>
              </a:xfrm>
              <a:prstGeom prst="rect">
                <a:avLst/>
              </a:prstGeom>
              <a:noFill/>
              <a:ln>
                <a:noFill/>
              </a:ln>
            </p:spPr>
            <p:txBody>
              <a:bodyPr wrap="none" lIns="0" tIns="0" rIns="0" bIns="0" anchor="t" anchorCtr="0">
                <a:spAutoFit/>
              </a:bodyPr>
              <a:lstStyle/>
              <a:p>
                <a:pPr algn="ctr"/>
                <a:r>
                  <a:rPr lang="zh-CN" sz="1120" spc="225" dirty="0">
                    <a:solidFill>
                      <a:srgbClr val="ABABAB"/>
                    </a:solidFill>
                    <a:latin typeface="+mn-lt"/>
                    <a:ea typeface="+mn-ea"/>
                    <a:cs typeface="+mn-cs"/>
                  </a:rPr>
                  <a:t>★★★★★</a:t>
                </a:r>
              </a:p>
            </p:txBody>
          </p:sp>
        </p:grpSp>
        <p:grpSp>
          <p:nvGrpSpPr>
            <p:cNvPr id="90" name="table-row-3"/>
            <p:cNvGrpSpPr/>
            <p:nvPr/>
          </p:nvGrpSpPr>
          <p:grpSpPr>
            <a:xfrm>
              <a:off x="5524500" y="3390900"/>
              <a:ext cx="6286500" cy="495300"/>
              <a:chOff x="5524500" y="3390900"/>
              <a:chExt cx="6286500" cy="495300"/>
            </a:xfrm>
          </p:grpSpPr>
          <p:sp>
            <p:nvSpPr>
              <p:cNvPr id="82" name="Rectangle 82"/>
              <p:cNvSpPr/>
              <p:nvPr/>
            </p:nvSpPr>
            <p:spPr>
              <a:xfrm>
                <a:off x="5524500" y="3390900"/>
                <a:ext cx="6286500" cy="495300"/>
              </a:xfrm>
              <a:prstGeom prst="rect">
                <a:avLst/>
              </a:prstGeom>
              <a:solidFill>
                <a:srgbClr val="FFFFFF"/>
              </a:solidFill>
              <a:ln w="9525">
                <a:solidFill>
                  <a:srgbClr val="E8E2DE"/>
                </a:solidFill>
              </a:ln>
            </p:spPr>
          </p:sp>
          <p:sp>
            <p:nvSpPr>
              <p:cNvPr id="83" name="Line 83"/>
              <p:cNvSpPr/>
              <p:nvPr/>
            </p:nvSpPr>
            <p:spPr>
              <a:xfrm>
                <a:off x="7239000" y="33909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84" name="Line 84"/>
              <p:cNvSpPr/>
              <p:nvPr/>
            </p:nvSpPr>
            <p:spPr>
              <a:xfrm>
                <a:off x="8763000" y="33909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85" name="Line 85"/>
              <p:cNvSpPr/>
              <p:nvPr/>
            </p:nvSpPr>
            <p:spPr>
              <a:xfrm>
                <a:off x="10287000" y="33909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86" name="TextBox 86"/>
              <p:cNvSpPr txBox="1"/>
              <p:nvPr/>
            </p:nvSpPr>
            <p:spPr>
              <a:xfrm>
                <a:off x="6104674" y="3595926"/>
                <a:ext cx="554152" cy="198025"/>
              </a:xfrm>
              <a:prstGeom prst="rect">
                <a:avLst/>
              </a:prstGeom>
              <a:noFill/>
              <a:ln>
                <a:noFill/>
              </a:ln>
            </p:spPr>
            <p:txBody>
              <a:bodyPr wrap="none" lIns="0" tIns="0" rIns="0" bIns="0" anchor="t" anchorCtr="0">
                <a:spAutoFit/>
              </a:bodyPr>
              <a:lstStyle/>
              <a:p>
                <a:pPr algn="ctr"/>
                <a:r>
                  <a:rPr lang="zh-CN" sz="1010" dirty="0">
                    <a:solidFill>
                      <a:srgbClr val="2B2B2B"/>
                    </a:solidFill>
                    <a:latin typeface="+mn-lt"/>
                    <a:ea typeface="+mn-ea"/>
                    <a:cs typeface="+mn-cs"/>
                  </a:rPr>
                  <a:t>技术支持</a:t>
                </a:r>
              </a:p>
            </p:txBody>
          </p:sp>
          <p:sp>
            <p:nvSpPr>
              <p:cNvPr id="87" name="TextBox 87"/>
              <p:cNvSpPr txBox="1"/>
              <p:nvPr/>
            </p:nvSpPr>
            <p:spPr>
              <a:xfrm>
                <a:off x="7557770" y="3583781"/>
                <a:ext cx="886460" cy="220028"/>
              </a:xfrm>
              <a:prstGeom prst="rect">
                <a:avLst/>
              </a:prstGeom>
              <a:noFill/>
              <a:ln>
                <a:noFill/>
              </a:ln>
            </p:spPr>
            <p:txBody>
              <a:bodyPr wrap="none" lIns="0" tIns="0" rIns="0" bIns="0" anchor="t" anchorCtr="0">
                <a:spAutoFit/>
              </a:bodyPr>
              <a:lstStyle/>
              <a:p>
                <a:pPr algn="ctr"/>
                <a:r>
                  <a:rPr lang="zh-CN" sz="1120" spc="225" dirty="0">
                    <a:solidFill>
                      <a:srgbClr val="8B321E"/>
                    </a:solidFill>
                    <a:latin typeface="+mn-lt"/>
                    <a:ea typeface="+mn-ea"/>
                    <a:cs typeface="+mn-cs"/>
                  </a:rPr>
                  <a:t>★★★★★</a:t>
                </a:r>
              </a:p>
            </p:txBody>
          </p:sp>
          <p:sp>
            <p:nvSpPr>
              <p:cNvPr id="88" name="TextBox 88"/>
              <p:cNvSpPr txBox="1"/>
              <p:nvPr/>
            </p:nvSpPr>
            <p:spPr>
              <a:xfrm>
                <a:off x="9262834" y="3583781"/>
                <a:ext cx="524332" cy="220028"/>
              </a:xfrm>
              <a:prstGeom prst="rect">
                <a:avLst/>
              </a:prstGeom>
              <a:noFill/>
              <a:ln>
                <a:noFill/>
              </a:ln>
            </p:spPr>
            <p:txBody>
              <a:bodyPr wrap="none" lIns="0" tIns="0" rIns="0" bIns="0" anchor="t" anchorCtr="0">
                <a:spAutoFit/>
              </a:bodyPr>
              <a:lstStyle/>
              <a:p>
                <a:pPr algn="ctr"/>
                <a:r>
                  <a:rPr lang="zh-CN" sz="1120" spc="225" dirty="0">
                    <a:solidFill>
                      <a:srgbClr val="C97263"/>
                    </a:solidFill>
                    <a:latin typeface="+mn-lt"/>
                    <a:ea typeface="+mn-ea"/>
                    <a:cs typeface="+mn-cs"/>
                  </a:rPr>
                  <a:t>★★★</a:t>
                </a:r>
              </a:p>
            </p:txBody>
          </p:sp>
          <p:sp>
            <p:nvSpPr>
              <p:cNvPr id="89" name="TextBox 89"/>
              <p:cNvSpPr txBox="1"/>
              <p:nvPr/>
            </p:nvSpPr>
            <p:spPr>
              <a:xfrm>
                <a:off x="10877366" y="3583781"/>
                <a:ext cx="343268" cy="220028"/>
              </a:xfrm>
              <a:prstGeom prst="rect">
                <a:avLst/>
              </a:prstGeom>
              <a:noFill/>
              <a:ln>
                <a:noFill/>
              </a:ln>
            </p:spPr>
            <p:txBody>
              <a:bodyPr wrap="none" lIns="0" tIns="0" rIns="0" bIns="0" anchor="t" anchorCtr="0">
                <a:spAutoFit/>
              </a:bodyPr>
              <a:lstStyle/>
              <a:p>
                <a:pPr algn="ctr"/>
                <a:r>
                  <a:rPr lang="zh-CN" sz="1120" spc="225" dirty="0">
                    <a:solidFill>
                      <a:srgbClr val="ABABAB"/>
                    </a:solidFill>
                    <a:latin typeface="+mn-lt"/>
                    <a:ea typeface="+mn-ea"/>
                    <a:cs typeface="+mn-cs"/>
                  </a:rPr>
                  <a:t>★★</a:t>
                </a:r>
              </a:p>
            </p:txBody>
          </p:sp>
        </p:grpSp>
        <p:grpSp>
          <p:nvGrpSpPr>
            <p:cNvPr id="99" name="table-row-4"/>
            <p:cNvGrpSpPr/>
            <p:nvPr/>
          </p:nvGrpSpPr>
          <p:grpSpPr>
            <a:xfrm>
              <a:off x="5524500" y="3886200"/>
              <a:ext cx="6286500" cy="495300"/>
              <a:chOff x="5524500" y="3886200"/>
              <a:chExt cx="6286500" cy="495300"/>
            </a:xfrm>
          </p:grpSpPr>
          <p:sp>
            <p:nvSpPr>
              <p:cNvPr id="91" name="Rectangle 91"/>
              <p:cNvSpPr/>
              <p:nvPr/>
            </p:nvSpPr>
            <p:spPr>
              <a:xfrm>
                <a:off x="5524500" y="3886200"/>
                <a:ext cx="6286500" cy="495300"/>
              </a:xfrm>
              <a:prstGeom prst="rect">
                <a:avLst/>
              </a:prstGeom>
              <a:solidFill>
                <a:srgbClr val="FFFFFF"/>
              </a:solidFill>
              <a:ln w="9525">
                <a:solidFill>
                  <a:srgbClr val="E8E2DE"/>
                </a:solidFill>
              </a:ln>
            </p:spPr>
          </p:sp>
          <p:sp>
            <p:nvSpPr>
              <p:cNvPr id="92" name="Line 92"/>
              <p:cNvSpPr/>
              <p:nvPr/>
            </p:nvSpPr>
            <p:spPr>
              <a:xfrm>
                <a:off x="7239000" y="38862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93" name="Line 93"/>
              <p:cNvSpPr/>
              <p:nvPr/>
            </p:nvSpPr>
            <p:spPr>
              <a:xfrm>
                <a:off x="8763000" y="38862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94" name="Line 94"/>
              <p:cNvSpPr/>
              <p:nvPr/>
            </p:nvSpPr>
            <p:spPr>
              <a:xfrm>
                <a:off x="10287000" y="3886200"/>
                <a:ext cx="9525" cy="495300"/>
              </a:xfrm>
              <a:custGeom>
                <a:avLst/>
                <a:gdLst/>
                <a:ahLst/>
                <a:cxnLst/>
                <a:rect l="l" t="t" r="r" b="b"/>
                <a:pathLst>
                  <a:path w="9525" h="495300">
                    <a:moveTo>
                      <a:pt x="0" y="0"/>
                    </a:moveTo>
                    <a:lnTo>
                      <a:pt x="0" y="495300"/>
                    </a:lnTo>
                  </a:path>
                </a:pathLst>
              </a:custGeom>
              <a:noFill/>
              <a:ln w="9525">
                <a:solidFill>
                  <a:srgbClr val="E0DAD5"/>
                </a:solidFill>
              </a:ln>
            </p:spPr>
          </p:sp>
          <p:sp>
            <p:nvSpPr>
              <p:cNvPr id="95" name="TextBox 95"/>
              <p:cNvSpPr txBox="1"/>
              <p:nvPr/>
            </p:nvSpPr>
            <p:spPr>
              <a:xfrm>
                <a:off x="6104674" y="4091226"/>
                <a:ext cx="554152" cy="198025"/>
              </a:xfrm>
              <a:prstGeom prst="rect">
                <a:avLst/>
              </a:prstGeom>
              <a:noFill/>
              <a:ln>
                <a:noFill/>
              </a:ln>
            </p:spPr>
            <p:txBody>
              <a:bodyPr wrap="none" lIns="0" tIns="0" rIns="0" bIns="0" anchor="t" anchorCtr="0">
                <a:spAutoFit/>
              </a:bodyPr>
              <a:lstStyle/>
              <a:p>
                <a:pPr algn="ctr"/>
                <a:r>
                  <a:rPr lang="zh-CN" sz="1010" dirty="0">
                    <a:solidFill>
                      <a:srgbClr val="2B2B2B"/>
                    </a:solidFill>
                    <a:latin typeface="+mn-lt"/>
                    <a:ea typeface="+mn-ea"/>
                    <a:cs typeface="+mn-cs"/>
                  </a:rPr>
                  <a:t>关系深度</a:t>
                </a:r>
              </a:p>
            </p:txBody>
          </p:sp>
          <p:sp>
            <p:nvSpPr>
              <p:cNvPr id="96" name="TextBox 96"/>
              <p:cNvSpPr txBox="1"/>
              <p:nvPr/>
            </p:nvSpPr>
            <p:spPr>
              <a:xfrm>
                <a:off x="7738834" y="4079081"/>
                <a:ext cx="524332" cy="220028"/>
              </a:xfrm>
              <a:prstGeom prst="rect">
                <a:avLst/>
              </a:prstGeom>
              <a:noFill/>
              <a:ln>
                <a:noFill/>
              </a:ln>
            </p:spPr>
            <p:txBody>
              <a:bodyPr wrap="none" lIns="0" tIns="0" rIns="0" bIns="0" anchor="t" anchorCtr="0">
                <a:spAutoFit/>
              </a:bodyPr>
              <a:lstStyle/>
              <a:p>
                <a:pPr algn="ctr"/>
                <a:r>
                  <a:rPr lang="zh-CN" sz="1120" spc="225" dirty="0">
                    <a:solidFill>
                      <a:srgbClr val="8B321E"/>
                    </a:solidFill>
                    <a:latin typeface="+mn-lt"/>
                    <a:ea typeface="+mn-ea"/>
                    <a:cs typeface="+mn-cs"/>
                  </a:rPr>
                  <a:t>★★★</a:t>
                </a:r>
              </a:p>
            </p:txBody>
          </p:sp>
          <p:sp>
            <p:nvSpPr>
              <p:cNvPr id="97" name="TextBox 97"/>
              <p:cNvSpPr txBox="1"/>
              <p:nvPr/>
            </p:nvSpPr>
            <p:spPr>
              <a:xfrm>
                <a:off x="9172302" y="4079081"/>
                <a:ext cx="705396" cy="220028"/>
              </a:xfrm>
              <a:prstGeom prst="rect">
                <a:avLst/>
              </a:prstGeom>
              <a:noFill/>
              <a:ln>
                <a:noFill/>
              </a:ln>
            </p:spPr>
            <p:txBody>
              <a:bodyPr wrap="none" lIns="0" tIns="0" rIns="0" bIns="0" anchor="t" anchorCtr="0">
                <a:spAutoFit/>
              </a:bodyPr>
              <a:lstStyle/>
              <a:p>
                <a:pPr algn="ctr"/>
                <a:r>
                  <a:rPr lang="zh-CN" sz="1120" spc="225" dirty="0">
                    <a:solidFill>
                      <a:srgbClr val="C97263"/>
                    </a:solidFill>
                    <a:latin typeface="+mn-lt"/>
                    <a:ea typeface="+mn-ea"/>
                    <a:cs typeface="+mn-cs"/>
                  </a:rPr>
                  <a:t>★★★★</a:t>
                </a:r>
              </a:p>
            </p:txBody>
          </p:sp>
          <p:sp>
            <p:nvSpPr>
              <p:cNvPr id="98" name="TextBox 98"/>
              <p:cNvSpPr txBox="1"/>
              <p:nvPr/>
            </p:nvSpPr>
            <p:spPr>
              <a:xfrm>
                <a:off x="10877366" y="4079081"/>
                <a:ext cx="343268" cy="220028"/>
              </a:xfrm>
              <a:prstGeom prst="rect">
                <a:avLst/>
              </a:prstGeom>
              <a:noFill/>
              <a:ln>
                <a:noFill/>
              </a:ln>
            </p:spPr>
            <p:txBody>
              <a:bodyPr wrap="none" lIns="0" tIns="0" rIns="0" bIns="0" anchor="t" anchorCtr="0">
                <a:spAutoFit/>
              </a:bodyPr>
              <a:lstStyle/>
              <a:p>
                <a:pPr algn="ctr"/>
                <a:r>
                  <a:rPr lang="zh-CN" sz="1120" spc="225" dirty="0">
                    <a:solidFill>
                      <a:srgbClr val="ABABAB"/>
                    </a:solidFill>
                    <a:latin typeface="+mn-lt"/>
                    <a:ea typeface="+mn-ea"/>
                    <a:cs typeface="+mn-cs"/>
                  </a:rPr>
                  <a:t>★★</a:t>
                </a:r>
              </a:p>
            </p:txBody>
          </p:sp>
        </p:grpSp>
      </p:grpSp>
      <p:grpSp>
        <p:nvGrpSpPr>
          <p:cNvPr id="126" name="strategy"/>
          <p:cNvGrpSpPr/>
          <p:nvPr/>
        </p:nvGrpSpPr>
        <p:grpSpPr>
          <a:xfrm>
            <a:off x="5524500" y="4684871"/>
            <a:ext cx="6286500" cy="1487329"/>
            <a:chOff x="5524500" y="4684871"/>
            <a:chExt cx="6286500" cy="1487329"/>
          </a:xfrm>
        </p:grpSpPr>
        <p:sp>
          <p:nvSpPr>
            <p:cNvPr id="101" name="Rectangle 101"/>
            <p:cNvSpPr/>
            <p:nvPr/>
          </p:nvSpPr>
          <p:spPr>
            <a:xfrm>
              <a:off x="5524500" y="4724400"/>
              <a:ext cx="152400" cy="38100"/>
            </a:xfrm>
            <a:prstGeom prst="rect">
              <a:avLst/>
            </a:prstGeom>
            <a:solidFill>
              <a:srgbClr val="8B321E"/>
            </a:solidFill>
            <a:ln>
              <a:noFill/>
            </a:ln>
          </p:spPr>
        </p:sp>
        <p:sp>
          <p:nvSpPr>
            <p:cNvPr id="102" name="TextBox 102"/>
            <p:cNvSpPr txBox="1"/>
            <p:nvPr/>
          </p:nvSpPr>
          <p:spPr>
            <a:xfrm>
              <a:off x="5745861" y="4684871"/>
              <a:ext cx="1161440"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竞争策略选择</a:t>
              </a:r>
            </a:p>
          </p:txBody>
        </p:sp>
        <p:sp>
          <p:nvSpPr>
            <p:cNvPr id="103" name="Rectangle 103"/>
            <p:cNvSpPr/>
            <p:nvPr/>
          </p:nvSpPr>
          <p:spPr>
            <a:xfrm>
              <a:off x="5524500" y="4991100"/>
              <a:ext cx="6286500" cy="1181100"/>
            </a:xfrm>
            <a:prstGeom prst="roundRect">
              <a:avLst>
                <a:gd name="adj" fmla="val 3226"/>
              </a:avLst>
            </a:prstGeom>
            <a:solidFill>
              <a:srgbClr val="FFFFFF"/>
            </a:solidFill>
            <a:ln w="11430">
              <a:solidFill>
                <a:srgbClr val="C97263"/>
              </a:solidFill>
            </a:ln>
          </p:spPr>
        </p:sp>
        <p:sp>
          <p:nvSpPr>
            <p:cNvPr id="104" name="Line 104"/>
            <p:cNvSpPr/>
            <p:nvPr/>
          </p:nvSpPr>
          <p:spPr>
            <a:xfrm>
              <a:off x="7620000" y="4991100"/>
              <a:ext cx="9525" cy="1181100"/>
            </a:xfrm>
            <a:custGeom>
              <a:avLst/>
              <a:gdLst/>
              <a:ahLst/>
              <a:cxnLst/>
              <a:rect l="l" t="t" r="r" b="b"/>
              <a:pathLst>
                <a:path w="9525" h="1181100">
                  <a:moveTo>
                    <a:pt x="0" y="0"/>
                  </a:moveTo>
                  <a:lnTo>
                    <a:pt x="0" y="1181100"/>
                  </a:lnTo>
                </a:path>
              </a:pathLst>
            </a:custGeom>
            <a:noFill/>
            <a:ln w="9525">
              <a:solidFill>
                <a:srgbClr val="E5DFD9"/>
              </a:solidFill>
            </a:ln>
          </p:spPr>
        </p:sp>
        <p:sp>
          <p:nvSpPr>
            <p:cNvPr id="105" name="Line 105"/>
            <p:cNvSpPr/>
            <p:nvPr/>
          </p:nvSpPr>
          <p:spPr>
            <a:xfrm>
              <a:off x="9715500" y="4991100"/>
              <a:ext cx="9525" cy="1181100"/>
            </a:xfrm>
            <a:custGeom>
              <a:avLst/>
              <a:gdLst/>
              <a:ahLst/>
              <a:cxnLst/>
              <a:rect l="l" t="t" r="r" b="b"/>
              <a:pathLst>
                <a:path w="9525" h="1181100">
                  <a:moveTo>
                    <a:pt x="0" y="0"/>
                  </a:moveTo>
                  <a:lnTo>
                    <a:pt x="0" y="1181100"/>
                  </a:lnTo>
                </a:path>
              </a:pathLst>
            </a:custGeom>
            <a:noFill/>
            <a:ln w="9525">
              <a:solidFill>
                <a:srgbClr val="E5DFD9"/>
              </a:solidFill>
            </a:ln>
          </p:spPr>
        </p:sp>
        <p:grpSp>
          <p:nvGrpSpPr>
            <p:cNvPr id="112" name="strategy-attack"/>
            <p:cNvGrpSpPr/>
            <p:nvPr/>
          </p:nvGrpSpPr>
          <p:grpSpPr>
            <a:xfrm>
              <a:off x="5781675" y="5343525"/>
              <a:ext cx="1443926" cy="701278"/>
              <a:chOff x="5781675" y="5343525"/>
              <a:chExt cx="1443926" cy="701278"/>
            </a:xfrm>
          </p:grpSpPr>
          <p:sp>
            <p:nvSpPr>
              <p:cNvPr id="106" name="Ellipse 106"/>
              <p:cNvSpPr/>
              <p:nvPr/>
            </p:nvSpPr>
            <p:spPr>
              <a:xfrm>
                <a:off x="5781675" y="5343525"/>
                <a:ext cx="476250" cy="476250"/>
              </a:xfrm>
              <a:prstGeom prst="ellipse">
                <a:avLst/>
              </a:prstGeom>
              <a:solidFill>
                <a:srgbClr val="8B321E"/>
              </a:solidFill>
              <a:ln>
                <a:noFill/>
              </a:ln>
            </p:spPr>
          </p:sp>
          <p:grpSp>
            <p:nvGrpSpPr>
              <p:cNvPr id="109" name="Group 109"/>
              <p:cNvGrpSpPr/>
              <p:nvPr/>
            </p:nvGrpSpPr>
            <p:grpSpPr>
              <a:xfrm>
                <a:off x="5926931" y="5530056"/>
                <a:ext cx="185737" cy="103187"/>
                <a:chOff x="5926931" y="5530056"/>
                <a:chExt cx="185737" cy="103187"/>
              </a:xfrm>
            </p:grpSpPr>
            <p:sp>
              <p:nvSpPr>
                <p:cNvPr id="107" name="Freeform 107"/>
                <p:cNvSpPr/>
                <p:nvPr/>
              </p:nvSpPr>
              <p:spPr>
                <a:xfrm>
                  <a:off x="5926931" y="5530056"/>
                  <a:ext cx="185737" cy="103187"/>
                </a:xfrm>
                <a:custGeom>
                  <a:avLst/>
                  <a:gdLst/>
                  <a:ahLst/>
                  <a:cxnLst/>
                  <a:rect l="l" t="t" r="r" b="b"/>
                  <a:pathLst>
                    <a:path w="185737" h="103187">
                      <a:moveTo>
                        <a:pt x="0" y="103187"/>
                      </a:moveTo>
                      <a:lnTo>
                        <a:pt x="61912" y="41275"/>
                      </a:lnTo>
                      <a:lnTo>
                        <a:pt x="103187" y="82550"/>
                      </a:lnTo>
                      <a:lnTo>
                        <a:pt x="185737" y="0"/>
                      </a:lnTo>
                    </a:path>
                  </a:pathLst>
                </a:custGeom>
                <a:noFill/>
                <a:ln w="20637">
                  <a:solidFill>
                    <a:srgbClr val="FFFFFF"/>
                  </a:solidFill>
                </a:ln>
              </p:spPr>
            </p:sp>
            <p:sp>
              <p:nvSpPr>
                <p:cNvPr id="108" name="Freeform 108"/>
                <p:cNvSpPr/>
                <p:nvPr/>
              </p:nvSpPr>
              <p:spPr>
                <a:xfrm>
                  <a:off x="6040437" y="5530056"/>
                  <a:ext cx="72231" cy="72231"/>
                </a:xfrm>
                <a:custGeom>
                  <a:avLst/>
                  <a:gdLst/>
                  <a:ahLst/>
                  <a:cxnLst/>
                  <a:rect l="l" t="t" r="r" b="b"/>
                  <a:pathLst>
                    <a:path w="72231" h="72231">
                      <a:moveTo>
                        <a:pt x="0" y="0"/>
                      </a:moveTo>
                      <a:lnTo>
                        <a:pt x="72231" y="0"/>
                      </a:lnTo>
                      <a:lnTo>
                        <a:pt x="72231" y="72231"/>
                      </a:lnTo>
                    </a:path>
                  </a:pathLst>
                </a:custGeom>
                <a:noFill/>
                <a:ln w="20637">
                  <a:solidFill>
                    <a:srgbClr val="FFFFFF"/>
                  </a:solidFill>
                </a:ln>
              </p:spPr>
            </p:sp>
          </p:grpSp>
          <p:sp>
            <p:nvSpPr>
              <p:cNvPr id="110" name="TextBox 110"/>
              <p:cNvSpPr txBox="1"/>
              <p:nvPr/>
            </p:nvSpPr>
            <p:spPr>
              <a:xfrm>
                <a:off x="6432994" y="5379958"/>
                <a:ext cx="792607" cy="227362"/>
              </a:xfrm>
              <a:prstGeom prst="rect">
                <a:avLst/>
              </a:prstGeom>
              <a:noFill/>
              <a:ln>
                <a:noFill/>
              </a:ln>
            </p:spPr>
            <p:txBody>
              <a:bodyPr wrap="none" lIns="0" tIns="0" rIns="0" bIns="0" anchor="t" anchorCtr="0">
                <a:spAutoFit/>
              </a:bodyPr>
              <a:lstStyle/>
              <a:p>
                <a:pPr algn="l"/>
                <a:r>
                  <a:rPr lang="zh-CN" sz="1160" b="1" dirty="0">
                    <a:solidFill>
                      <a:srgbClr val="8B321E"/>
                    </a:solidFill>
                    <a:latin typeface="+mn-lt"/>
                    <a:ea typeface="+mn-ea"/>
                    <a:cs typeface="+mn-cs"/>
                  </a:rPr>
                  <a:t>优势明显：</a:t>
                </a:r>
              </a:p>
            </p:txBody>
          </p:sp>
          <p:sp>
            <p:nvSpPr>
              <p:cNvPr id="111" name="TextBox 111"/>
              <p:cNvSpPr txBox="1"/>
              <p:nvPr/>
            </p:nvSpPr>
            <p:spPr>
              <a:xfrm>
                <a:off x="6434138" y="5651897"/>
                <a:ext cx="606425" cy="392906"/>
              </a:xfrm>
              <a:prstGeom prst="rect">
                <a:avLst/>
              </a:prstGeom>
              <a:noFill/>
              <a:ln>
                <a:noFill/>
              </a:ln>
            </p:spPr>
            <p:txBody>
              <a:bodyPr wrap="none" lIns="0" tIns="0" rIns="0" bIns="0" anchor="t" anchorCtr="0">
                <a:spAutoFit/>
              </a:bodyPr>
              <a:lstStyle/>
              <a:p>
                <a:pPr algn="l">
                  <a:lnSpc>
                    <a:spcPts val="1650"/>
                  </a:lnSpc>
                </a:pPr>
                <a:r>
                  <a:rPr lang="zh-CN" sz="940" dirty="0">
                    <a:solidFill>
                      <a:srgbClr val="3A3A3A"/>
                    </a:solidFill>
                    <a:latin typeface="+mn-lt"/>
                    <a:ea typeface="+mn-ea"/>
                    <a:cs typeface="+mn-cs"/>
                  </a:rPr>
                  <a:t>主动出击，</a:t>
                </a:r>
                <a:br/>
                <a:r>
                  <a:rPr lang="zh-CN" sz="940" dirty="0">
                    <a:solidFill>
                      <a:srgbClr val="3A3A3A"/>
                    </a:solidFill>
                    <a:latin typeface="+mn-lt"/>
                    <a:ea typeface="+mn-ea"/>
                    <a:cs typeface="+mn-cs"/>
                  </a:rPr>
                  <a:t>争取主供。</a:t>
                </a:r>
              </a:p>
            </p:txBody>
          </p:sp>
        </p:grpSp>
        <p:grpSp>
          <p:nvGrpSpPr>
            <p:cNvPr id="120" name="strategy-differentiate"/>
            <p:cNvGrpSpPr/>
            <p:nvPr/>
          </p:nvGrpSpPr>
          <p:grpSpPr>
            <a:xfrm>
              <a:off x="7877175" y="5343525"/>
              <a:ext cx="1443926" cy="701278"/>
              <a:chOff x="7877175" y="5343525"/>
              <a:chExt cx="1443926" cy="701278"/>
            </a:xfrm>
          </p:grpSpPr>
          <p:sp>
            <p:nvSpPr>
              <p:cNvPr id="113" name="Ellipse 113"/>
              <p:cNvSpPr/>
              <p:nvPr/>
            </p:nvSpPr>
            <p:spPr>
              <a:xfrm>
                <a:off x="7877175" y="5343525"/>
                <a:ext cx="476250" cy="476250"/>
              </a:xfrm>
              <a:prstGeom prst="ellipse">
                <a:avLst/>
              </a:prstGeom>
              <a:solidFill>
                <a:srgbClr val="55565A"/>
              </a:solidFill>
              <a:ln>
                <a:noFill/>
              </a:ln>
            </p:spPr>
          </p:sp>
          <p:grpSp>
            <p:nvGrpSpPr>
              <p:cNvPr id="117" name="Group 117"/>
              <p:cNvGrpSpPr/>
              <p:nvPr/>
            </p:nvGrpSpPr>
            <p:grpSpPr>
              <a:xfrm>
                <a:off x="8022431" y="5488781"/>
                <a:ext cx="185737" cy="185737"/>
                <a:chOff x="8022431" y="5488781"/>
                <a:chExt cx="185737" cy="185737"/>
              </a:xfrm>
            </p:grpSpPr>
            <p:sp>
              <p:nvSpPr>
                <p:cNvPr id="114" name="Freeform 114"/>
                <p:cNvSpPr/>
                <p:nvPr/>
              </p:nvSpPr>
              <p:spPr>
                <a:xfrm>
                  <a:off x="8104981" y="5571331"/>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FFFFFF"/>
                  </a:solidFill>
                </a:ln>
              </p:spPr>
            </p:sp>
            <p:sp>
              <p:nvSpPr>
                <p:cNvPr id="115" name="Freeform 115"/>
                <p:cNvSpPr/>
                <p:nvPr/>
              </p:nvSpPr>
              <p:spPr>
                <a:xfrm>
                  <a:off x="8063706" y="5530056"/>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FFFFFF"/>
                  </a:solidFill>
                </a:ln>
              </p:spPr>
            </p:sp>
            <p:sp>
              <p:nvSpPr>
                <p:cNvPr id="116" name="Freeform 116"/>
                <p:cNvSpPr/>
                <p:nvPr/>
              </p:nvSpPr>
              <p:spPr>
                <a:xfrm>
                  <a:off x="8022431" y="548878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grpSp>
          <p:sp>
            <p:nvSpPr>
              <p:cNvPr id="118" name="TextBox 118"/>
              <p:cNvSpPr txBox="1"/>
              <p:nvPr/>
            </p:nvSpPr>
            <p:spPr>
              <a:xfrm>
                <a:off x="8528494" y="5379958"/>
                <a:ext cx="792607" cy="227362"/>
              </a:xfrm>
              <a:prstGeom prst="rect">
                <a:avLst/>
              </a:prstGeom>
              <a:noFill/>
              <a:ln>
                <a:noFill/>
              </a:ln>
            </p:spPr>
            <p:txBody>
              <a:bodyPr wrap="none" lIns="0" tIns="0" rIns="0" bIns="0" anchor="t" anchorCtr="0">
                <a:spAutoFit/>
              </a:bodyPr>
              <a:lstStyle/>
              <a:p>
                <a:pPr algn="l"/>
                <a:r>
                  <a:rPr lang="zh-CN" sz="1160" b="1" dirty="0">
                    <a:solidFill>
                      <a:srgbClr val="2B2B2B"/>
                    </a:solidFill>
                    <a:latin typeface="+mn-lt"/>
                    <a:ea typeface="+mn-ea"/>
                    <a:cs typeface="+mn-cs"/>
                  </a:rPr>
                  <a:t>竞对优势：</a:t>
                </a:r>
              </a:p>
            </p:txBody>
          </p:sp>
          <p:sp>
            <p:nvSpPr>
              <p:cNvPr id="119" name="TextBox 119"/>
              <p:cNvSpPr txBox="1"/>
              <p:nvPr/>
            </p:nvSpPr>
            <p:spPr>
              <a:xfrm>
                <a:off x="8529638" y="5651897"/>
                <a:ext cx="725805" cy="392906"/>
              </a:xfrm>
              <a:prstGeom prst="rect">
                <a:avLst/>
              </a:prstGeom>
              <a:noFill/>
              <a:ln>
                <a:noFill/>
              </a:ln>
            </p:spPr>
            <p:txBody>
              <a:bodyPr wrap="none" lIns="0" tIns="0" rIns="0" bIns="0" anchor="t" anchorCtr="0">
                <a:spAutoFit/>
              </a:bodyPr>
              <a:lstStyle/>
              <a:p>
                <a:pPr algn="l">
                  <a:lnSpc>
                    <a:spcPts val="1650"/>
                  </a:lnSpc>
                </a:pPr>
                <a:r>
                  <a:rPr lang="zh-CN" sz="940" dirty="0">
                    <a:solidFill>
                      <a:srgbClr val="3A3A3A"/>
                    </a:solidFill>
                    <a:latin typeface="+mn-lt"/>
                    <a:ea typeface="+mn-ea"/>
                    <a:cs typeface="+mn-cs"/>
                  </a:rPr>
                  <a:t>聚焦差异化，</a:t>
                </a:r>
                <a:br/>
                <a:r>
                  <a:rPr lang="zh-CN" sz="940" dirty="0">
                    <a:solidFill>
                      <a:srgbClr val="3A3A3A"/>
                    </a:solidFill>
                    <a:latin typeface="+mn-lt"/>
                    <a:ea typeface="+mn-ea"/>
                    <a:cs typeface="+mn-cs"/>
                  </a:rPr>
                  <a:t>避开正面。</a:t>
                </a:r>
              </a:p>
            </p:txBody>
          </p:sp>
        </p:grpSp>
        <p:grpSp>
          <p:nvGrpSpPr>
            <p:cNvPr id="125" name="strategy-barrier"/>
            <p:cNvGrpSpPr/>
            <p:nvPr/>
          </p:nvGrpSpPr>
          <p:grpSpPr>
            <a:xfrm>
              <a:off x="9972675" y="5343525"/>
              <a:ext cx="1736408" cy="701278"/>
              <a:chOff x="9972675" y="5343525"/>
              <a:chExt cx="1736408" cy="701278"/>
            </a:xfrm>
          </p:grpSpPr>
          <p:sp>
            <p:nvSpPr>
              <p:cNvPr id="121" name="Ellipse 121"/>
              <p:cNvSpPr/>
              <p:nvPr/>
            </p:nvSpPr>
            <p:spPr>
              <a:xfrm>
                <a:off x="9972675" y="5343525"/>
                <a:ext cx="476250" cy="476250"/>
              </a:xfrm>
              <a:prstGeom prst="ellipse">
                <a:avLst/>
              </a:prstGeom>
              <a:solidFill>
                <a:srgbClr val="C97263"/>
              </a:solidFill>
              <a:ln>
                <a:noFill/>
              </a:ln>
            </p:spPr>
          </p:sp>
          <p:sp>
            <p:nvSpPr>
              <p:cNvPr id="122" name="Freeform 122"/>
              <p:cNvSpPr/>
              <p:nvPr/>
            </p:nvSpPr>
            <p:spPr>
              <a:xfrm>
                <a:off x="10113634" y="5488781"/>
                <a:ext cx="194331" cy="185737"/>
              </a:xfrm>
              <a:custGeom>
                <a:avLst/>
                <a:gdLst/>
                <a:ahLst/>
                <a:cxnLst/>
                <a:rect l="l" t="t" r="r" b="b"/>
                <a:pathLst>
                  <a:path w="194331" h="185737">
                    <a:moveTo>
                      <a:pt x="97166" y="0"/>
                    </a:moveTo>
                    <a:cubicBezTo>
                      <a:pt x="121268" y="21324"/>
                      <a:pt x="152726" y="32427"/>
                      <a:pt x="184875" y="30956"/>
                    </a:cubicBezTo>
                    <a:cubicBezTo>
                      <a:pt x="194331" y="63125"/>
                      <a:pt x="190338" y="97754"/>
                      <a:pt x="173807" y="126926"/>
                    </a:cubicBezTo>
                    <a:cubicBezTo>
                      <a:pt x="157276" y="156098"/>
                      <a:pt x="129622" y="177318"/>
                      <a:pt x="97166" y="185737"/>
                    </a:cubicBezTo>
                    <a:cubicBezTo>
                      <a:pt x="64710" y="177318"/>
                      <a:pt x="37055" y="156098"/>
                      <a:pt x="20524" y="126926"/>
                    </a:cubicBezTo>
                    <a:cubicBezTo>
                      <a:pt x="3994" y="97754"/>
                      <a:pt x="0" y="63125"/>
                      <a:pt x="9457" y="30956"/>
                    </a:cubicBezTo>
                    <a:cubicBezTo>
                      <a:pt x="41605" y="32427"/>
                      <a:pt x="73063" y="21324"/>
                      <a:pt x="97166" y="0"/>
                    </a:cubicBezTo>
                  </a:path>
                </a:pathLst>
              </a:custGeom>
              <a:noFill/>
              <a:ln w="20637">
                <a:solidFill>
                  <a:srgbClr val="FFFFFF"/>
                </a:solidFill>
              </a:ln>
            </p:spPr>
          </p:sp>
          <p:sp>
            <p:nvSpPr>
              <p:cNvPr id="123" name="TextBox 123"/>
              <p:cNvSpPr txBox="1"/>
              <p:nvPr/>
            </p:nvSpPr>
            <p:spPr>
              <a:xfrm>
                <a:off x="10623995" y="5379958"/>
                <a:ext cx="792607" cy="227362"/>
              </a:xfrm>
              <a:prstGeom prst="rect">
                <a:avLst/>
              </a:prstGeom>
              <a:noFill/>
              <a:ln>
                <a:noFill/>
              </a:ln>
            </p:spPr>
            <p:txBody>
              <a:bodyPr wrap="none" lIns="0" tIns="0" rIns="0" bIns="0" anchor="t" anchorCtr="0">
                <a:spAutoFit/>
              </a:bodyPr>
              <a:lstStyle/>
              <a:p>
                <a:pPr algn="l"/>
                <a:r>
                  <a:rPr lang="zh-CN" sz="1160" b="1" dirty="0">
                    <a:solidFill>
                      <a:srgbClr val="C97263"/>
                    </a:solidFill>
                    <a:latin typeface="+mn-lt"/>
                    <a:ea typeface="+mn-ea"/>
                    <a:cs typeface="+mn-cs"/>
                  </a:rPr>
                  <a:t>势均力敌：</a:t>
                </a:r>
              </a:p>
            </p:txBody>
          </p:sp>
          <p:sp>
            <p:nvSpPr>
              <p:cNvPr id="124" name="TextBox 124"/>
              <p:cNvSpPr txBox="1"/>
              <p:nvPr/>
            </p:nvSpPr>
            <p:spPr>
              <a:xfrm>
                <a:off x="10625138" y="5651897"/>
                <a:ext cx="1083945" cy="392906"/>
              </a:xfrm>
              <a:prstGeom prst="rect">
                <a:avLst/>
              </a:prstGeom>
              <a:noFill/>
              <a:ln>
                <a:noFill/>
              </a:ln>
            </p:spPr>
            <p:txBody>
              <a:bodyPr wrap="none" lIns="0" tIns="0" rIns="0" bIns="0" anchor="t" anchorCtr="0">
                <a:spAutoFit/>
              </a:bodyPr>
              <a:lstStyle/>
              <a:p>
                <a:pPr algn="l">
                  <a:lnSpc>
                    <a:spcPts val="1650"/>
                  </a:lnSpc>
                </a:pPr>
                <a:r>
                  <a:rPr lang="zh-CN" sz="940" dirty="0">
                    <a:solidFill>
                      <a:srgbClr val="3A3A3A"/>
                    </a:solidFill>
                    <a:latin typeface="+mn-lt"/>
                    <a:ea typeface="+mn-ea"/>
                    <a:cs typeface="+mn-cs"/>
                  </a:rPr>
                  <a:t>以关系深度和</a:t>
                </a:r>
                <a:br/>
                <a:r>
                  <a:rPr lang="zh-CN" sz="940" dirty="0">
                    <a:solidFill>
                      <a:srgbClr val="3A3A3A"/>
                    </a:solidFill>
                    <a:latin typeface="+mn-lt"/>
                    <a:ea typeface="+mn-ea"/>
                    <a:cs typeface="+mn-cs"/>
                  </a:rPr>
                  <a:t>服务质量形成壁垒。</a:t>
                </a:r>
              </a:p>
            </p:txBody>
          </p:sp>
        </p:grpSp>
      </p:grpSp>
      <p:sp>
        <p:nvSpPr>
          <p:cNvPr id="127" name="page-num"/>
          <p:cNvSpPr txBox="1"/>
          <p:nvPr/>
        </p:nvSpPr>
        <p:spPr>
          <a:xfrm>
            <a:off x="11582971" y="6532721"/>
            <a:ext cx="235268" cy="278702"/>
          </a:xfrm>
          <a:prstGeom prst="rect">
            <a:avLst/>
          </a:prstGeom>
          <a:noFill/>
          <a:ln>
            <a:noFill/>
          </a:ln>
        </p:spPr>
        <p:txBody>
          <a:bodyPr wrap="none" lIns="0" tIns="0" rIns="0" bIns="0" anchor="t" anchorCtr="0">
            <a:spAutoFit/>
          </a:bodyPr>
          <a:lstStyle/>
          <a:p>
            <a:pPr algn="r"/>
            <a:r>
              <a:rPr lang="zh-CN" sz="1420" b="1" dirty="0">
                <a:solidFill>
                  <a:srgbClr val="3F3F3F"/>
                </a:solidFill>
                <a:latin typeface="+mn-lt"/>
                <a:ea typeface="+mn-ea"/>
                <a:cs typeface="+mn-cs"/>
              </a:rPr>
              <a:t>10</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a:xfrm>
            <a:off x="365760" y="190500"/>
            <a:ext cx="8511540" cy="586740"/>
          </a:xfrm>
          <a:prstGeom prst="rect">
            <a:avLst/>
          </a:prstGeom>
          <a:noFill/>
          <a:ln>
            <a:noFill/>
          </a:ln>
        </p:spPr>
        <p:txBody>
          <a:bodyPr wrap="none" lIns="0" tIns="0" rIns="0" bIns="0" anchor="t" anchorCtr="0">
            <a:spAutoFit/>
          </a:bodyPr>
          <a:lstStyle/>
          <a:p>
            <a:pPr algn="l"/>
            <a:r>
              <a:rPr lang="zh-CN" sz="3000" b="1" dirty="0">
                <a:solidFill>
                  <a:srgbClr val="1A1A1A"/>
                </a:solidFill>
                <a:latin typeface="+mn-lt"/>
                <a:ea typeface="+mn-ea"/>
                <a:cs typeface="+mn-cs"/>
              </a:rPr>
              <a:t>大客户的价格管理：不是最低价，而是最优价值</a:t>
            </a:r>
          </a:p>
        </p:txBody>
      </p:sp>
      <p:grpSp>
        <p:nvGrpSpPr>
          <p:cNvPr id="13" name="core-bar"/>
          <p:cNvGrpSpPr/>
          <p:nvPr/>
        </p:nvGrpSpPr>
        <p:grpSpPr>
          <a:xfrm>
            <a:off x="381000" y="781050"/>
            <a:ext cx="11430000" cy="741712"/>
            <a:chOff x="381000" y="781050"/>
            <a:chExt cx="11430000" cy="741712"/>
          </a:xfrm>
        </p:grpSpPr>
        <p:sp>
          <p:nvSpPr>
            <p:cNvPr id="3" name="Rectangle 3"/>
            <p:cNvSpPr/>
            <p:nvPr/>
          </p:nvSpPr>
          <p:spPr>
            <a:xfrm>
              <a:off x="381000" y="781050"/>
              <a:ext cx="11430000" cy="723900"/>
            </a:xfrm>
            <a:prstGeom prst="rect">
              <a:avLst/>
            </a:prstGeom>
            <a:solidFill>
              <a:srgbClr val="FFFFFF"/>
            </a:solidFill>
            <a:ln w="14288">
              <a:solidFill>
                <a:srgbClr val="8B321E"/>
              </a:solidFill>
            </a:ln>
          </p:spPr>
        </p:sp>
        <p:sp>
          <p:nvSpPr>
            <p:cNvPr id="4" name="Ellipse 4"/>
            <p:cNvSpPr/>
            <p:nvPr/>
          </p:nvSpPr>
          <p:spPr>
            <a:xfrm>
              <a:off x="619125" y="885825"/>
              <a:ext cx="514350" cy="514350"/>
            </a:xfrm>
            <a:prstGeom prst="ellipse">
              <a:avLst/>
            </a:prstGeom>
            <a:solidFill>
              <a:srgbClr val="8B321E"/>
            </a:solidFill>
            <a:ln>
              <a:noFill/>
            </a:ln>
          </p:spPr>
        </p:sp>
        <p:grpSp>
          <p:nvGrpSpPr>
            <p:cNvPr id="10" name="Group 10"/>
            <p:cNvGrpSpPr/>
            <p:nvPr/>
          </p:nvGrpSpPr>
          <p:grpSpPr>
            <a:xfrm>
              <a:off x="767718" y="1038862"/>
              <a:ext cx="212655" cy="212673"/>
              <a:chOff x="767718" y="1038862"/>
              <a:chExt cx="212655" cy="212673"/>
            </a:xfrm>
          </p:grpSpPr>
          <p:sp>
            <p:nvSpPr>
              <p:cNvPr id="5" name="Freeform 5"/>
              <p:cNvSpPr/>
              <p:nvPr/>
            </p:nvSpPr>
            <p:spPr>
              <a:xfrm>
                <a:off x="865188" y="1131888"/>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rgbClr val="FFFFFF"/>
                </a:solidFill>
              </a:ln>
            </p:spPr>
          </p:sp>
          <p:sp>
            <p:nvSpPr>
              <p:cNvPr id="6" name="Freeform 6"/>
              <p:cNvSpPr/>
              <p:nvPr/>
            </p:nvSpPr>
            <p:spPr>
              <a:xfrm>
                <a:off x="820738" y="1087438"/>
                <a:ext cx="111125" cy="111125"/>
              </a:xfrm>
              <a:custGeom>
                <a:avLst/>
                <a:gdLst/>
                <a:ahLst/>
                <a:cxnLst/>
                <a:rect l="l" t="t" r="r" b="b"/>
                <a:pathLst>
                  <a:path w="111125" h="111125">
                    <a:moveTo>
                      <a:pt x="55563" y="0"/>
                    </a:moveTo>
                    <a:cubicBezTo>
                      <a:pt x="24876" y="0"/>
                      <a:pt x="0" y="24876"/>
                      <a:pt x="0" y="55563"/>
                    </a:cubicBezTo>
                    <a:cubicBezTo>
                      <a:pt x="0" y="86249"/>
                      <a:pt x="24876" y="111125"/>
                      <a:pt x="55563" y="111125"/>
                    </a:cubicBezTo>
                    <a:cubicBezTo>
                      <a:pt x="86249" y="111125"/>
                      <a:pt x="111125" y="86249"/>
                      <a:pt x="111125" y="55563"/>
                    </a:cubicBezTo>
                  </a:path>
                </a:pathLst>
              </a:custGeom>
              <a:noFill/>
              <a:ln w="22225">
                <a:solidFill>
                  <a:srgbClr val="FFFFFF"/>
                </a:solidFill>
              </a:ln>
            </p:spPr>
          </p:sp>
          <p:sp>
            <p:nvSpPr>
              <p:cNvPr id="7" name="Freeform 7"/>
              <p:cNvSpPr/>
              <p:nvPr/>
            </p:nvSpPr>
            <p:spPr>
              <a:xfrm>
                <a:off x="767718" y="1038862"/>
                <a:ext cx="212655" cy="212673"/>
              </a:xfrm>
              <a:custGeom>
                <a:avLst/>
                <a:gdLst/>
                <a:ahLst/>
                <a:cxnLst/>
                <a:rect l="l" t="t" r="r" b="b"/>
                <a:pathLst>
                  <a:path w="212655" h="212673">
                    <a:moveTo>
                      <a:pt x="119695" y="4737"/>
                    </a:moveTo>
                    <a:cubicBezTo>
                      <a:pt x="77470" y="0"/>
                      <a:pt x="36862" y="22459"/>
                      <a:pt x="18431" y="60743"/>
                    </a:cubicBezTo>
                    <a:cubicBezTo>
                      <a:pt x="0" y="99026"/>
                      <a:pt x="7770" y="144776"/>
                      <a:pt x="37807" y="174828"/>
                    </a:cubicBezTo>
                    <a:cubicBezTo>
                      <a:pt x="67844" y="204880"/>
                      <a:pt x="113590" y="212673"/>
                      <a:pt x="151883" y="194262"/>
                    </a:cubicBezTo>
                    <a:cubicBezTo>
                      <a:pt x="190175" y="175850"/>
                      <a:pt x="212655" y="135253"/>
                      <a:pt x="207939" y="93026"/>
                    </a:cubicBezTo>
                  </a:path>
                </a:pathLst>
              </a:custGeom>
              <a:noFill/>
              <a:ln w="22225">
                <a:solidFill>
                  <a:srgbClr val="FFFFFF"/>
                </a:solidFill>
              </a:ln>
            </p:spPr>
          </p:sp>
          <p:sp>
            <p:nvSpPr>
              <p:cNvPr id="8" name="Freeform 8"/>
              <p:cNvSpPr/>
              <p:nvPr/>
            </p:nvSpPr>
            <p:spPr>
              <a:xfrm>
                <a:off x="909638" y="1042988"/>
                <a:ext cx="66675" cy="66675"/>
              </a:xfrm>
              <a:custGeom>
                <a:avLst/>
                <a:gdLst/>
                <a:ahLst/>
                <a:cxnLst/>
                <a:rect l="l" t="t" r="r" b="b"/>
                <a:pathLst>
                  <a:path w="66675" h="66675">
                    <a:moveTo>
                      <a:pt x="0" y="33338"/>
                    </a:moveTo>
                    <a:lnTo>
                      <a:pt x="0" y="66675"/>
                    </a:lnTo>
                    <a:lnTo>
                      <a:pt x="33338" y="66675"/>
                    </a:lnTo>
                    <a:lnTo>
                      <a:pt x="66675" y="33338"/>
                    </a:lnTo>
                    <a:lnTo>
                      <a:pt x="33338" y="33338"/>
                    </a:lnTo>
                    <a:lnTo>
                      <a:pt x="33338" y="0"/>
                    </a:lnTo>
                    <a:lnTo>
                      <a:pt x="0" y="33338"/>
                    </a:lnTo>
                  </a:path>
                </a:pathLst>
              </a:custGeom>
              <a:noFill/>
              <a:ln w="22225">
                <a:solidFill>
                  <a:srgbClr val="FFFFFF"/>
                </a:solidFill>
              </a:ln>
            </p:spPr>
          </p:sp>
          <p:sp>
            <p:nvSpPr>
              <p:cNvPr id="9" name="Freeform 9"/>
              <p:cNvSpPr/>
              <p:nvPr/>
            </p:nvSpPr>
            <p:spPr>
              <a:xfrm>
                <a:off x="876300" y="1109663"/>
                <a:ext cx="33338" cy="33338"/>
              </a:xfrm>
              <a:custGeom>
                <a:avLst/>
                <a:gdLst/>
                <a:ahLst/>
                <a:cxnLst/>
                <a:rect l="l" t="t" r="r" b="b"/>
                <a:pathLst>
                  <a:path w="33338" h="33338">
                    <a:moveTo>
                      <a:pt x="33338" y="0"/>
                    </a:moveTo>
                    <a:lnTo>
                      <a:pt x="0" y="33338"/>
                    </a:lnTo>
                  </a:path>
                </a:pathLst>
              </a:custGeom>
              <a:noFill/>
              <a:ln w="22225">
                <a:solidFill>
                  <a:srgbClr val="FFFFFF"/>
                </a:solidFill>
              </a:ln>
            </p:spPr>
          </p:sp>
        </p:grpSp>
        <p:sp>
          <p:nvSpPr>
            <p:cNvPr id="11" name="TextBox 11"/>
            <p:cNvSpPr txBox="1"/>
            <p:nvPr/>
          </p:nvSpPr>
          <p:spPr>
            <a:xfrm>
              <a:off x="3649923" y="880586"/>
              <a:ext cx="5939904" cy="337376"/>
            </a:xfrm>
            <a:prstGeom prst="rect">
              <a:avLst/>
            </a:prstGeom>
            <a:noFill/>
            <a:ln>
              <a:noFill/>
            </a:ln>
          </p:spPr>
          <p:txBody>
            <a:bodyPr wrap="none" lIns="0" tIns="0" rIns="0" bIns="0" anchor="t" anchorCtr="0">
              <a:spAutoFit/>
            </a:bodyPr>
            <a:lstStyle/>
            <a:p>
              <a:pPr algn="ctr"/>
              <a:r>
                <a:rPr lang="zh-CN" sz="1720" b="1" dirty="0">
                  <a:solidFill>
                    <a:srgbClr val="8B321E"/>
                  </a:solidFill>
                  <a:latin typeface="+mn-lt"/>
                  <a:ea typeface="+mn-ea"/>
                  <a:cs typeface="+mn-cs"/>
                </a:rPr>
                <a:t>大客户的价格谈判，核心不是让步，而是重新定义价值，​</a:t>
              </a:r>
            </a:p>
          </p:txBody>
        </p:sp>
        <p:sp>
          <p:nvSpPr>
            <p:cNvPr id="12" name="TextBox 12"/>
            <p:cNvSpPr txBox="1"/>
            <p:nvPr/>
          </p:nvSpPr>
          <p:spPr>
            <a:xfrm>
              <a:off x="4375532" y="1185386"/>
              <a:ext cx="4488687" cy="337376"/>
            </a:xfrm>
            <a:prstGeom prst="rect">
              <a:avLst/>
            </a:prstGeom>
            <a:noFill/>
            <a:ln>
              <a:noFill/>
            </a:ln>
          </p:spPr>
          <p:txBody>
            <a:bodyPr wrap="none" lIns="0" tIns="0" rIns="0" bIns="0" anchor="t" anchorCtr="0">
              <a:spAutoFit/>
            </a:bodyPr>
            <a:lstStyle/>
            <a:p>
              <a:pPr algn="ctr"/>
              <a:r>
                <a:rPr lang="zh-CN" sz="1720" b="1" dirty="0">
                  <a:solidFill>
                    <a:srgbClr val="8B321E"/>
                  </a:solidFill>
                  <a:latin typeface="+mn-lt"/>
                  <a:ea typeface="+mn-ea"/>
                  <a:cs typeface="+mn-cs"/>
                </a:rPr>
                <a:t>让客户看到"总拥有成本"而非"采购价格"。</a:t>
              </a:r>
            </a:p>
          </p:txBody>
        </p:sp>
      </p:grpSp>
      <p:grpSp>
        <p:nvGrpSpPr>
          <p:cNvPr id="54" name="layers"/>
          <p:cNvGrpSpPr/>
          <p:nvPr/>
        </p:nvGrpSpPr>
        <p:grpSpPr>
          <a:xfrm>
            <a:off x="381000" y="1714500"/>
            <a:ext cx="5524500" cy="4572000"/>
            <a:chOff x="381000" y="1714500"/>
            <a:chExt cx="5524500" cy="4572000"/>
          </a:xfrm>
        </p:grpSpPr>
        <p:grpSp>
          <p:nvGrpSpPr>
            <p:cNvPr id="24" name="layer-1"/>
            <p:cNvGrpSpPr/>
            <p:nvPr/>
          </p:nvGrpSpPr>
          <p:grpSpPr>
            <a:xfrm>
              <a:off x="381000" y="1714500"/>
              <a:ext cx="5524500" cy="1409700"/>
              <a:chOff x="381000" y="1714500"/>
              <a:chExt cx="5524500" cy="1409700"/>
            </a:xfrm>
          </p:grpSpPr>
          <p:sp>
            <p:nvSpPr>
              <p:cNvPr id="14" name="Rectangle 14"/>
              <p:cNvSpPr/>
              <p:nvPr/>
            </p:nvSpPr>
            <p:spPr>
              <a:xfrm>
                <a:off x="381000" y="1714500"/>
                <a:ext cx="5524500" cy="1409700"/>
              </a:xfrm>
              <a:prstGeom prst="roundRect">
                <a:avLst>
                  <a:gd name="adj" fmla="val 2703"/>
                </a:avLst>
              </a:prstGeom>
              <a:solidFill>
                <a:srgbClr val="8B321E"/>
              </a:solidFill>
              <a:ln>
                <a:noFill/>
              </a:ln>
            </p:spPr>
          </p:sp>
          <p:sp>
            <p:nvSpPr>
              <p:cNvPr id="15" name="Ellipse 15"/>
              <p:cNvSpPr/>
              <p:nvPr/>
            </p:nvSpPr>
            <p:spPr>
              <a:xfrm>
                <a:off x="533400" y="2133600"/>
                <a:ext cx="571500" cy="571500"/>
              </a:xfrm>
              <a:prstGeom prst="ellipse">
                <a:avLst/>
              </a:prstGeom>
              <a:solidFill>
                <a:srgbClr val="FFFFFF"/>
              </a:solidFill>
              <a:ln>
                <a:noFill/>
              </a:ln>
            </p:spPr>
          </p:sp>
          <p:sp>
            <p:nvSpPr>
              <p:cNvPr id="16" name="Freeform 16"/>
              <p:cNvSpPr/>
              <p:nvPr/>
            </p:nvSpPr>
            <p:spPr>
              <a:xfrm>
                <a:off x="707035" y="2312194"/>
                <a:ext cx="224229" cy="214312"/>
              </a:xfrm>
              <a:custGeom>
                <a:avLst/>
                <a:gdLst/>
                <a:ahLst/>
                <a:cxnLst/>
                <a:rect l="l" t="t" r="r" b="b"/>
                <a:pathLst>
                  <a:path w="224229" h="214312">
                    <a:moveTo>
                      <a:pt x="112115" y="0"/>
                    </a:moveTo>
                    <a:cubicBezTo>
                      <a:pt x="139926" y="24605"/>
                      <a:pt x="176223" y="37416"/>
                      <a:pt x="213318" y="35719"/>
                    </a:cubicBezTo>
                    <a:cubicBezTo>
                      <a:pt x="224229" y="72837"/>
                      <a:pt x="219621" y="112793"/>
                      <a:pt x="200547" y="146453"/>
                    </a:cubicBezTo>
                    <a:cubicBezTo>
                      <a:pt x="181473" y="180113"/>
                      <a:pt x="149564" y="204599"/>
                      <a:pt x="112115" y="214312"/>
                    </a:cubicBezTo>
                    <a:cubicBezTo>
                      <a:pt x="74665" y="204599"/>
                      <a:pt x="42756" y="180113"/>
                      <a:pt x="23682" y="146453"/>
                    </a:cubicBezTo>
                    <a:cubicBezTo>
                      <a:pt x="4608" y="112793"/>
                      <a:pt x="0" y="72837"/>
                      <a:pt x="10911" y="35719"/>
                    </a:cubicBezTo>
                    <a:cubicBezTo>
                      <a:pt x="48006" y="37416"/>
                      <a:pt x="84304" y="24605"/>
                      <a:pt x="112115" y="0"/>
                    </a:cubicBezTo>
                  </a:path>
                </a:pathLst>
              </a:custGeom>
              <a:noFill/>
              <a:ln w="23812">
                <a:solidFill>
                  <a:srgbClr val="8B321E"/>
                </a:solidFill>
              </a:ln>
            </p:spPr>
          </p:sp>
          <p:sp>
            <p:nvSpPr>
              <p:cNvPr id="17" name="TextBox 17"/>
              <p:cNvSpPr txBox="1"/>
              <p:nvPr/>
            </p:nvSpPr>
            <p:spPr>
              <a:xfrm>
                <a:off x="1269873" y="2015014"/>
                <a:ext cx="2080717"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第一层：价格防御（被动）</a:t>
                </a:r>
              </a:p>
            </p:txBody>
          </p:sp>
          <p:sp>
            <p:nvSpPr>
              <p:cNvPr id="18" name="Ellipse 18"/>
              <p:cNvSpPr/>
              <p:nvPr/>
            </p:nvSpPr>
            <p:spPr>
              <a:xfrm>
                <a:off x="1309688" y="2395538"/>
                <a:ext cx="47625" cy="47625"/>
              </a:xfrm>
              <a:prstGeom prst="ellipse">
                <a:avLst/>
              </a:prstGeom>
              <a:solidFill>
                <a:srgbClr val="FFFFFF"/>
              </a:solidFill>
              <a:ln>
                <a:noFill/>
              </a:ln>
            </p:spPr>
          </p:sp>
          <p:sp>
            <p:nvSpPr>
              <p:cNvPr id="19" name="TextBox 19"/>
              <p:cNvSpPr txBox="1"/>
              <p:nvPr/>
            </p:nvSpPr>
            <p:spPr>
              <a:xfrm>
                <a:off x="1423988" y="2356247"/>
                <a:ext cx="1148410" cy="183356"/>
              </a:xfrm>
              <a:prstGeom prst="rect">
                <a:avLst/>
              </a:prstGeom>
              <a:noFill/>
              <a:ln>
                <a:noFill/>
              </a:ln>
            </p:spPr>
            <p:txBody>
              <a:bodyPr wrap="none" lIns="0" tIns="0" rIns="0" bIns="0" anchor="t" anchorCtr="0">
                <a:spAutoFit/>
              </a:bodyPr>
              <a:lstStyle/>
              <a:p>
                <a:pPr algn="l"/>
                <a:r>
                  <a:rPr lang="zh-CN" sz="940" dirty="0">
                    <a:solidFill>
                      <a:srgbClr val="FFFFFF"/>
                    </a:solidFill>
                    <a:latin typeface="+mn-lt"/>
                    <a:ea typeface="+mn-ea"/>
                    <a:cs typeface="+mn-cs"/>
                  </a:rPr>
                  <a:t>场景：威胁换供应商</a:t>
                </a:r>
              </a:p>
            </p:txBody>
          </p:sp>
          <p:sp>
            <p:nvSpPr>
              <p:cNvPr id="20" name="Ellipse 20"/>
              <p:cNvSpPr/>
              <p:nvPr/>
            </p:nvSpPr>
            <p:spPr>
              <a:xfrm>
                <a:off x="1309688" y="2643188"/>
                <a:ext cx="47625" cy="47625"/>
              </a:xfrm>
              <a:prstGeom prst="ellipse">
                <a:avLst/>
              </a:prstGeom>
              <a:solidFill>
                <a:srgbClr val="FFFFFF"/>
              </a:solidFill>
              <a:ln>
                <a:noFill/>
              </a:ln>
            </p:spPr>
          </p:sp>
          <p:sp>
            <p:nvSpPr>
              <p:cNvPr id="21" name="TextBox 21"/>
              <p:cNvSpPr txBox="1"/>
              <p:nvPr/>
            </p:nvSpPr>
            <p:spPr>
              <a:xfrm>
                <a:off x="1423988" y="2603897"/>
                <a:ext cx="2749177" cy="183356"/>
              </a:xfrm>
              <a:prstGeom prst="rect">
                <a:avLst/>
              </a:prstGeom>
              <a:noFill/>
              <a:ln>
                <a:noFill/>
              </a:ln>
            </p:spPr>
            <p:txBody>
              <a:bodyPr wrap="none" lIns="0" tIns="0" rIns="0" bIns="0" anchor="t" anchorCtr="0">
                <a:spAutoFit/>
              </a:bodyPr>
              <a:lstStyle/>
              <a:p>
                <a:pPr algn="l"/>
                <a:r>
                  <a:rPr lang="zh-CN" sz="940" dirty="0">
                    <a:solidFill>
                      <a:srgbClr val="FFFFFF"/>
                    </a:solidFill>
                    <a:latin typeface="+mn-lt"/>
                    <a:ea typeface="+mn-ea"/>
                    <a:cs typeface="+mn-cs"/>
                  </a:rPr>
                  <a:t>做法：了解真实原因（预算/竞对报价/政策），​</a:t>
                </a:r>
              </a:p>
            </p:txBody>
          </p:sp>
          <p:sp>
            <p:nvSpPr>
              <p:cNvPr id="22" name="Ellipse 22"/>
              <p:cNvSpPr/>
              <p:nvPr/>
            </p:nvSpPr>
            <p:spPr>
              <a:xfrm>
                <a:off x="1309688" y="2890838"/>
                <a:ext cx="47625" cy="47625"/>
              </a:xfrm>
              <a:prstGeom prst="ellipse">
                <a:avLst/>
              </a:prstGeom>
              <a:solidFill>
                <a:srgbClr val="FFFFFF"/>
              </a:solidFill>
              <a:ln>
                <a:noFill/>
              </a:ln>
            </p:spPr>
          </p:sp>
          <p:sp>
            <p:nvSpPr>
              <p:cNvPr id="23" name="TextBox 23"/>
              <p:cNvSpPr txBox="1"/>
              <p:nvPr/>
            </p:nvSpPr>
            <p:spPr>
              <a:xfrm>
                <a:off x="1423988" y="2851547"/>
                <a:ext cx="895325" cy="183356"/>
              </a:xfrm>
              <a:prstGeom prst="rect">
                <a:avLst/>
              </a:prstGeom>
              <a:noFill/>
              <a:ln>
                <a:noFill/>
              </a:ln>
            </p:spPr>
            <p:txBody>
              <a:bodyPr wrap="none" lIns="0" tIns="0" rIns="0" bIns="0" anchor="t" anchorCtr="0">
                <a:spAutoFit/>
              </a:bodyPr>
              <a:lstStyle/>
              <a:p>
                <a:pPr algn="l"/>
                <a:r>
                  <a:rPr lang="zh-CN" sz="940" dirty="0">
                    <a:solidFill>
                      <a:srgbClr val="FFFFFF"/>
                    </a:solidFill>
                    <a:latin typeface="+mn-lt"/>
                    <a:ea typeface="+mn-ea"/>
                    <a:cs typeface="+mn-cs"/>
                  </a:rPr>
                  <a:t>避免直接降价。</a:t>
                </a:r>
              </a:p>
            </p:txBody>
          </p:sp>
        </p:grpSp>
        <p:grpSp>
          <p:nvGrpSpPr>
            <p:cNvPr id="37" name="layer-2"/>
            <p:cNvGrpSpPr/>
            <p:nvPr/>
          </p:nvGrpSpPr>
          <p:grpSpPr>
            <a:xfrm>
              <a:off x="381000" y="3295650"/>
              <a:ext cx="5524500" cy="1409700"/>
              <a:chOff x="381000" y="3295650"/>
              <a:chExt cx="5524500" cy="1409700"/>
            </a:xfrm>
          </p:grpSpPr>
          <p:sp>
            <p:nvSpPr>
              <p:cNvPr id="25" name="Rectangle 25"/>
              <p:cNvSpPr/>
              <p:nvPr/>
            </p:nvSpPr>
            <p:spPr>
              <a:xfrm>
                <a:off x="381000" y="3295650"/>
                <a:ext cx="5524500" cy="1409700"/>
              </a:xfrm>
              <a:prstGeom prst="roundRect">
                <a:avLst>
                  <a:gd name="adj" fmla="val 2703"/>
                </a:avLst>
              </a:prstGeom>
              <a:solidFill>
                <a:srgbClr val="55565A"/>
              </a:solidFill>
              <a:ln>
                <a:noFill/>
              </a:ln>
            </p:spPr>
          </p:sp>
          <p:sp>
            <p:nvSpPr>
              <p:cNvPr id="26" name="Ellipse 26"/>
              <p:cNvSpPr/>
              <p:nvPr/>
            </p:nvSpPr>
            <p:spPr>
              <a:xfrm>
                <a:off x="533400" y="3714750"/>
                <a:ext cx="571500" cy="571500"/>
              </a:xfrm>
              <a:prstGeom prst="ellipse">
                <a:avLst/>
              </a:prstGeom>
              <a:solidFill>
                <a:srgbClr val="FFFFFF"/>
              </a:solidFill>
              <a:ln>
                <a:noFill/>
              </a:ln>
            </p:spPr>
          </p:sp>
          <p:grpSp>
            <p:nvGrpSpPr>
              <p:cNvPr id="29" name="Group 29"/>
              <p:cNvGrpSpPr/>
              <p:nvPr/>
            </p:nvGrpSpPr>
            <p:grpSpPr>
              <a:xfrm>
                <a:off x="711994" y="3917156"/>
                <a:ext cx="214312" cy="175142"/>
                <a:chOff x="711994" y="3917156"/>
                <a:chExt cx="214312" cy="175142"/>
              </a:xfrm>
            </p:grpSpPr>
            <p:sp>
              <p:nvSpPr>
                <p:cNvPr id="27" name="Freeform 27"/>
                <p:cNvSpPr/>
                <p:nvPr/>
              </p:nvSpPr>
              <p:spPr>
                <a:xfrm>
                  <a:off x="711994" y="3917156"/>
                  <a:ext cx="214312" cy="175142"/>
                </a:xfrm>
                <a:custGeom>
                  <a:avLst/>
                  <a:gdLst/>
                  <a:ahLst/>
                  <a:cxnLst/>
                  <a:rect l="l" t="t" r="r" b="b"/>
                  <a:pathLst>
                    <a:path w="214312" h="175142">
                      <a:moveTo>
                        <a:pt x="35719" y="0"/>
                      </a:moveTo>
                      <a:lnTo>
                        <a:pt x="178594" y="0"/>
                      </a:lnTo>
                      <a:lnTo>
                        <a:pt x="214312" y="59531"/>
                      </a:lnTo>
                      <a:lnTo>
                        <a:pt x="113109" y="172641"/>
                      </a:lnTo>
                      <a:cubicBezTo>
                        <a:pt x="111542" y="174241"/>
                        <a:pt x="109396" y="175142"/>
                        <a:pt x="107156" y="175142"/>
                      </a:cubicBezTo>
                      <a:cubicBezTo>
                        <a:pt x="104916" y="175142"/>
                        <a:pt x="102771" y="174241"/>
                        <a:pt x="101203" y="172641"/>
                      </a:cubicBezTo>
                      <a:lnTo>
                        <a:pt x="0" y="59531"/>
                      </a:lnTo>
                      <a:lnTo>
                        <a:pt x="35719" y="0"/>
                      </a:lnTo>
                    </a:path>
                  </a:pathLst>
                </a:custGeom>
                <a:noFill/>
                <a:ln w="23812">
                  <a:solidFill>
                    <a:srgbClr val="55565A"/>
                  </a:solidFill>
                </a:ln>
              </p:spPr>
            </p:sp>
            <p:sp>
              <p:nvSpPr>
                <p:cNvPr id="28" name="Freeform 28"/>
                <p:cNvSpPr/>
                <p:nvPr/>
              </p:nvSpPr>
              <p:spPr>
                <a:xfrm>
                  <a:off x="771525" y="3962400"/>
                  <a:ext cx="23812" cy="38100"/>
                </a:xfrm>
                <a:custGeom>
                  <a:avLst/>
                  <a:gdLst/>
                  <a:ahLst/>
                  <a:cxnLst/>
                  <a:rect l="l" t="t" r="r" b="b"/>
                  <a:pathLst>
                    <a:path w="23812" h="38100">
                      <a:moveTo>
                        <a:pt x="23812" y="38100"/>
                      </a:moveTo>
                      <a:lnTo>
                        <a:pt x="0" y="11906"/>
                      </a:lnTo>
                      <a:lnTo>
                        <a:pt x="7144" y="0"/>
                      </a:lnTo>
                    </a:path>
                  </a:pathLst>
                </a:custGeom>
                <a:noFill/>
                <a:ln w="23812">
                  <a:solidFill>
                    <a:srgbClr val="55565A"/>
                  </a:solidFill>
                </a:ln>
              </p:spPr>
            </p:sp>
          </p:grpSp>
          <p:sp>
            <p:nvSpPr>
              <p:cNvPr id="30" name="TextBox 30"/>
              <p:cNvSpPr txBox="1"/>
              <p:nvPr/>
            </p:nvSpPr>
            <p:spPr>
              <a:xfrm>
                <a:off x="1269873" y="3596164"/>
                <a:ext cx="2080717"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第二层：价值重构（主动）</a:t>
                </a:r>
              </a:p>
            </p:txBody>
          </p:sp>
          <p:sp>
            <p:nvSpPr>
              <p:cNvPr id="31" name="Ellipse 31"/>
              <p:cNvSpPr/>
              <p:nvPr/>
            </p:nvSpPr>
            <p:spPr>
              <a:xfrm>
                <a:off x="1309688" y="3976688"/>
                <a:ext cx="47625" cy="47625"/>
              </a:xfrm>
              <a:prstGeom prst="ellipse">
                <a:avLst/>
              </a:prstGeom>
              <a:solidFill>
                <a:srgbClr val="FFFFFF"/>
              </a:solidFill>
              <a:ln>
                <a:noFill/>
              </a:ln>
            </p:spPr>
          </p:sp>
          <p:sp>
            <p:nvSpPr>
              <p:cNvPr id="32" name="TextBox 32"/>
              <p:cNvSpPr txBox="1"/>
              <p:nvPr/>
            </p:nvSpPr>
            <p:spPr>
              <a:xfrm>
                <a:off x="1423988" y="3937397"/>
                <a:ext cx="1781124" cy="183356"/>
              </a:xfrm>
              <a:prstGeom prst="rect">
                <a:avLst/>
              </a:prstGeom>
              <a:noFill/>
              <a:ln>
                <a:noFill/>
              </a:ln>
            </p:spPr>
            <p:txBody>
              <a:bodyPr wrap="none" lIns="0" tIns="0" rIns="0" bIns="0" anchor="t" anchorCtr="0">
                <a:spAutoFit/>
              </a:bodyPr>
              <a:lstStyle/>
              <a:p>
                <a:pPr algn="l"/>
                <a:r>
                  <a:rPr lang="zh-CN" sz="940" dirty="0">
                    <a:solidFill>
                      <a:srgbClr val="FFFFFF"/>
                    </a:solidFill>
                    <a:latin typeface="+mn-lt"/>
                    <a:ea typeface="+mn-ea"/>
                    <a:cs typeface="+mn-cs"/>
                  </a:rPr>
                  <a:t>核心：将价格对话转为价值对话</a:t>
                </a:r>
              </a:p>
            </p:txBody>
          </p:sp>
          <p:sp>
            <p:nvSpPr>
              <p:cNvPr id="33" name="Ellipse 33"/>
              <p:cNvSpPr/>
              <p:nvPr/>
            </p:nvSpPr>
            <p:spPr>
              <a:xfrm>
                <a:off x="1309688" y="4224338"/>
                <a:ext cx="47625" cy="47625"/>
              </a:xfrm>
              <a:prstGeom prst="ellipse">
                <a:avLst/>
              </a:prstGeom>
              <a:solidFill>
                <a:srgbClr val="FFFFFF"/>
              </a:solidFill>
              <a:ln>
                <a:noFill/>
              </a:ln>
            </p:spPr>
          </p:sp>
          <p:sp>
            <p:nvSpPr>
              <p:cNvPr id="34" name="TextBox 34"/>
              <p:cNvSpPr txBox="1"/>
              <p:nvPr/>
            </p:nvSpPr>
            <p:spPr>
              <a:xfrm>
                <a:off x="1423988" y="4185047"/>
                <a:ext cx="2857335" cy="183356"/>
              </a:xfrm>
              <a:prstGeom prst="rect">
                <a:avLst/>
              </a:prstGeom>
              <a:noFill/>
              <a:ln>
                <a:noFill/>
              </a:ln>
            </p:spPr>
            <p:txBody>
              <a:bodyPr wrap="none" lIns="0" tIns="0" rIns="0" bIns="0" anchor="t" anchorCtr="0">
                <a:spAutoFit/>
              </a:bodyPr>
              <a:lstStyle/>
              <a:p>
                <a:pPr algn="l"/>
                <a:r>
                  <a:rPr lang="zh-CN" sz="940" dirty="0">
                    <a:solidFill>
                      <a:srgbClr val="FFFFFF"/>
                    </a:solidFill>
                    <a:latin typeface="+mn-lt"/>
                    <a:ea typeface="+mn-ea"/>
                    <a:cs typeface="+mn-cs"/>
                  </a:rPr>
                  <a:t>工具：TCO分析（采购价、质量成本、物流成本、​</a:t>
                </a:r>
              </a:p>
            </p:txBody>
          </p:sp>
          <p:sp>
            <p:nvSpPr>
              <p:cNvPr id="35" name="Ellipse 35"/>
              <p:cNvSpPr/>
              <p:nvPr/>
            </p:nvSpPr>
            <p:spPr>
              <a:xfrm>
                <a:off x="1309688" y="4471988"/>
                <a:ext cx="47625" cy="47625"/>
              </a:xfrm>
              <a:prstGeom prst="ellipse">
                <a:avLst/>
              </a:prstGeom>
              <a:solidFill>
                <a:srgbClr val="FFFFFF"/>
              </a:solidFill>
              <a:ln>
                <a:noFill/>
              </a:ln>
            </p:spPr>
          </p:sp>
          <p:sp>
            <p:nvSpPr>
              <p:cNvPr id="36" name="TextBox 36"/>
              <p:cNvSpPr txBox="1"/>
              <p:nvPr/>
            </p:nvSpPr>
            <p:spPr>
              <a:xfrm>
                <a:off x="1423988" y="4432697"/>
                <a:ext cx="1274953" cy="183356"/>
              </a:xfrm>
              <a:prstGeom prst="rect">
                <a:avLst/>
              </a:prstGeom>
              <a:noFill/>
              <a:ln>
                <a:noFill/>
              </a:ln>
            </p:spPr>
            <p:txBody>
              <a:bodyPr wrap="none" lIns="0" tIns="0" rIns="0" bIns="0" anchor="t" anchorCtr="0">
                <a:spAutoFit/>
              </a:bodyPr>
              <a:lstStyle/>
              <a:p>
                <a:pPr algn="l"/>
                <a:r>
                  <a:rPr lang="zh-CN" sz="940" dirty="0">
                    <a:solidFill>
                      <a:srgbClr val="FFFFFF"/>
                    </a:solidFill>
                    <a:latin typeface="+mn-lt"/>
                    <a:ea typeface="+mn-ea"/>
                    <a:cs typeface="+mn-cs"/>
                  </a:rPr>
                  <a:t>服务成本、切换成本）</a:t>
                </a:r>
              </a:p>
            </p:txBody>
          </p:sp>
        </p:grpSp>
        <p:grpSp>
          <p:nvGrpSpPr>
            <p:cNvPr id="53" name="layer-3"/>
            <p:cNvGrpSpPr/>
            <p:nvPr/>
          </p:nvGrpSpPr>
          <p:grpSpPr>
            <a:xfrm>
              <a:off x="381000" y="4876800"/>
              <a:ext cx="5524500" cy="1409700"/>
              <a:chOff x="381000" y="4876800"/>
              <a:chExt cx="5524500" cy="1409700"/>
            </a:xfrm>
          </p:grpSpPr>
          <p:sp>
            <p:nvSpPr>
              <p:cNvPr id="38" name="Rectangle 38"/>
              <p:cNvSpPr/>
              <p:nvPr/>
            </p:nvSpPr>
            <p:spPr>
              <a:xfrm>
                <a:off x="381000" y="4876800"/>
                <a:ext cx="5524500" cy="1409700"/>
              </a:xfrm>
              <a:prstGeom prst="roundRect">
                <a:avLst>
                  <a:gd name="adj" fmla="val 2703"/>
                </a:avLst>
              </a:prstGeom>
              <a:solidFill>
                <a:srgbClr val="8B321E"/>
              </a:solidFill>
              <a:ln>
                <a:noFill/>
              </a:ln>
            </p:spPr>
          </p:sp>
          <p:sp>
            <p:nvSpPr>
              <p:cNvPr id="39" name="Ellipse 39"/>
              <p:cNvSpPr/>
              <p:nvPr/>
            </p:nvSpPr>
            <p:spPr>
              <a:xfrm>
                <a:off x="533400" y="5295900"/>
                <a:ext cx="571500" cy="571500"/>
              </a:xfrm>
              <a:prstGeom prst="ellipse">
                <a:avLst/>
              </a:prstGeom>
              <a:solidFill>
                <a:srgbClr val="FFFFFF"/>
              </a:solidFill>
              <a:ln>
                <a:noFill/>
              </a:ln>
            </p:spPr>
          </p:sp>
          <p:grpSp>
            <p:nvGrpSpPr>
              <p:cNvPr id="45" name="Group 45"/>
              <p:cNvGrpSpPr/>
              <p:nvPr/>
            </p:nvGrpSpPr>
            <p:grpSpPr>
              <a:xfrm>
                <a:off x="747712" y="5486400"/>
                <a:ext cx="142875" cy="190500"/>
                <a:chOff x="747712" y="5486400"/>
                <a:chExt cx="142875" cy="190500"/>
              </a:xfrm>
            </p:grpSpPr>
            <p:sp>
              <p:nvSpPr>
                <p:cNvPr id="40" name="Freeform 40"/>
                <p:cNvSpPr/>
                <p:nvPr/>
              </p:nvSpPr>
              <p:spPr>
                <a:xfrm>
                  <a:off x="747712" y="5629275"/>
                  <a:ext cx="142875" cy="47625"/>
                </a:xfrm>
                <a:custGeom>
                  <a:avLst/>
                  <a:gdLst/>
                  <a:ahLst/>
                  <a:cxnLst/>
                  <a:rect l="l" t="t" r="r" b="b"/>
                  <a:pathLst>
                    <a:path w="142875" h="47625">
                      <a:moveTo>
                        <a:pt x="23812" y="0"/>
                      </a:moveTo>
                      <a:lnTo>
                        <a:pt x="6584" y="8620"/>
                      </a:lnTo>
                      <a:cubicBezTo>
                        <a:pt x="2551" y="10635"/>
                        <a:pt x="2" y="14756"/>
                        <a:pt x="0" y="19264"/>
                      </a:cubicBezTo>
                      <a:lnTo>
                        <a:pt x="0" y="47625"/>
                      </a:lnTo>
                      <a:lnTo>
                        <a:pt x="142875" y="47625"/>
                      </a:lnTo>
                      <a:lnTo>
                        <a:pt x="142875" y="19264"/>
                      </a:lnTo>
                      <a:cubicBezTo>
                        <a:pt x="142873" y="14756"/>
                        <a:pt x="140324" y="10635"/>
                        <a:pt x="136291" y="8620"/>
                      </a:cubicBezTo>
                      <a:lnTo>
                        <a:pt x="119062" y="0"/>
                      </a:lnTo>
                      <a:lnTo>
                        <a:pt x="23812" y="0"/>
                      </a:lnTo>
                    </a:path>
                  </a:pathLst>
                </a:custGeom>
                <a:noFill/>
                <a:ln w="23812">
                  <a:solidFill>
                    <a:srgbClr val="8B321E"/>
                  </a:solidFill>
                </a:ln>
              </p:spPr>
            </p:sp>
            <p:sp>
              <p:nvSpPr>
                <p:cNvPr id="41" name="Freeform 41"/>
                <p:cNvSpPr/>
                <p:nvPr/>
              </p:nvSpPr>
              <p:spPr>
                <a:xfrm>
                  <a:off x="771525" y="5522119"/>
                  <a:ext cx="95250" cy="107156"/>
                </a:xfrm>
                <a:custGeom>
                  <a:avLst/>
                  <a:gdLst/>
                  <a:ahLst/>
                  <a:cxnLst/>
                  <a:rect l="l" t="t" r="r" b="b"/>
                  <a:pathLst>
                    <a:path w="95250" h="107156">
                      <a:moveTo>
                        <a:pt x="0" y="107156"/>
                      </a:moveTo>
                      <a:lnTo>
                        <a:pt x="11906" y="0"/>
                      </a:lnTo>
                      <a:lnTo>
                        <a:pt x="83344" y="0"/>
                      </a:lnTo>
                      <a:lnTo>
                        <a:pt x="95250" y="107156"/>
                      </a:lnTo>
                    </a:path>
                  </a:pathLst>
                </a:custGeom>
                <a:noFill/>
                <a:ln w="23812">
                  <a:solidFill>
                    <a:srgbClr val="8B321E"/>
                  </a:solidFill>
                </a:ln>
              </p:spPr>
            </p:sp>
            <p:sp>
              <p:nvSpPr>
                <p:cNvPr id="42" name="Freeform 42"/>
                <p:cNvSpPr/>
                <p:nvPr/>
              </p:nvSpPr>
              <p:spPr>
                <a:xfrm>
                  <a:off x="747712" y="5486400"/>
                  <a:ext cx="142875" cy="35719"/>
                </a:xfrm>
                <a:custGeom>
                  <a:avLst/>
                  <a:gdLst/>
                  <a:ahLst/>
                  <a:cxnLst/>
                  <a:rect l="l" t="t" r="r" b="b"/>
                  <a:pathLst>
                    <a:path w="142875" h="35719">
                      <a:moveTo>
                        <a:pt x="0" y="0"/>
                      </a:moveTo>
                      <a:lnTo>
                        <a:pt x="5953" y="35719"/>
                      </a:lnTo>
                      <a:lnTo>
                        <a:pt x="136922" y="35719"/>
                      </a:lnTo>
                      <a:lnTo>
                        <a:pt x="142875" y="0"/>
                      </a:lnTo>
                    </a:path>
                  </a:pathLst>
                </a:custGeom>
                <a:noFill/>
                <a:ln w="23812">
                  <a:solidFill>
                    <a:srgbClr val="8B321E"/>
                  </a:solidFill>
                </a:ln>
              </p:spPr>
            </p:sp>
            <p:sp>
              <p:nvSpPr>
                <p:cNvPr id="43" name="Freeform 43"/>
                <p:cNvSpPr/>
                <p:nvPr/>
              </p:nvSpPr>
              <p:spPr>
                <a:xfrm>
                  <a:off x="795338" y="5486400"/>
                  <a:ext cx="9525" cy="35719"/>
                </a:xfrm>
                <a:custGeom>
                  <a:avLst/>
                  <a:gdLst/>
                  <a:ahLst/>
                  <a:cxnLst/>
                  <a:rect l="l" t="t" r="r" b="b"/>
                  <a:pathLst>
                    <a:path w="9525" h="35719">
                      <a:moveTo>
                        <a:pt x="0" y="0"/>
                      </a:moveTo>
                      <a:lnTo>
                        <a:pt x="0" y="35719"/>
                      </a:lnTo>
                    </a:path>
                  </a:pathLst>
                </a:custGeom>
                <a:noFill/>
                <a:ln w="23812">
                  <a:solidFill>
                    <a:srgbClr val="8B321E"/>
                  </a:solidFill>
                </a:ln>
              </p:spPr>
            </p:sp>
            <p:sp>
              <p:nvSpPr>
                <p:cNvPr id="44" name="Freeform 44"/>
                <p:cNvSpPr/>
                <p:nvPr/>
              </p:nvSpPr>
              <p:spPr>
                <a:xfrm>
                  <a:off x="842962" y="5486400"/>
                  <a:ext cx="9525" cy="35719"/>
                </a:xfrm>
                <a:custGeom>
                  <a:avLst/>
                  <a:gdLst/>
                  <a:ahLst/>
                  <a:cxnLst/>
                  <a:rect l="l" t="t" r="r" b="b"/>
                  <a:pathLst>
                    <a:path w="9525" h="35719">
                      <a:moveTo>
                        <a:pt x="0" y="0"/>
                      </a:moveTo>
                      <a:lnTo>
                        <a:pt x="0" y="35719"/>
                      </a:lnTo>
                    </a:path>
                  </a:pathLst>
                </a:custGeom>
                <a:noFill/>
                <a:ln w="23812">
                  <a:solidFill>
                    <a:srgbClr val="8B321E"/>
                  </a:solidFill>
                </a:ln>
              </p:spPr>
            </p:sp>
          </p:grpSp>
          <p:sp>
            <p:nvSpPr>
              <p:cNvPr id="46" name="TextBox 46"/>
              <p:cNvSpPr txBox="1"/>
              <p:nvPr/>
            </p:nvSpPr>
            <p:spPr>
              <a:xfrm>
                <a:off x="1269873" y="5177314"/>
                <a:ext cx="2080717"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第三层：战略定价（前瞻）</a:t>
                </a:r>
              </a:p>
            </p:txBody>
          </p:sp>
          <p:sp>
            <p:nvSpPr>
              <p:cNvPr id="47" name="Ellipse 47"/>
              <p:cNvSpPr/>
              <p:nvPr/>
            </p:nvSpPr>
            <p:spPr>
              <a:xfrm>
                <a:off x="1309688" y="5557838"/>
                <a:ext cx="47625" cy="47625"/>
              </a:xfrm>
              <a:prstGeom prst="ellipse">
                <a:avLst/>
              </a:prstGeom>
              <a:solidFill>
                <a:srgbClr val="FFFFFF"/>
              </a:solidFill>
              <a:ln>
                <a:noFill/>
              </a:ln>
            </p:spPr>
          </p:sp>
          <p:sp>
            <p:nvSpPr>
              <p:cNvPr id="48" name="TextBox 48"/>
              <p:cNvSpPr txBox="1"/>
              <p:nvPr/>
            </p:nvSpPr>
            <p:spPr>
              <a:xfrm>
                <a:off x="1423988" y="5518547"/>
                <a:ext cx="1614231" cy="183356"/>
              </a:xfrm>
              <a:prstGeom prst="rect">
                <a:avLst/>
              </a:prstGeom>
              <a:noFill/>
              <a:ln>
                <a:noFill/>
              </a:ln>
            </p:spPr>
            <p:txBody>
              <a:bodyPr wrap="none" lIns="0" tIns="0" rIns="0" bIns="0" anchor="t" anchorCtr="0">
                <a:spAutoFit/>
              </a:bodyPr>
              <a:lstStyle/>
              <a:p>
                <a:pPr algn="l"/>
                <a:r>
                  <a:rPr lang="zh-CN" sz="940" dirty="0">
                    <a:solidFill>
                      <a:srgbClr val="FFFFFF"/>
                    </a:solidFill>
                    <a:latin typeface="+mn-lt"/>
                    <a:ea typeface="+mn-ea"/>
                    <a:cs typeface="+mn-cs"/>
                  </a:rPr>
                  <a:t>S级：接受让步换份额/绑定​</a:t>
                </a:r>
              </a:p>
            </p:txBody>
          </p:sp>
          <p:sp>
            <p:nvSpPr>
              <p:cNvPr id="49" name="Ellipse 49"/>
              <p:cNvSpPr/>
              <p:nvPr/>
            </p:nvSpPr>
            <p:spPr>
              <a:xfrm>
                <a:off x="1309688" y="5805488"/>
                <a:ext cx="47625" cy="47625"/>
              </a:xfrm>
              <a:prstGeom prst="ellipse">
                <a:avLst/>
              </a:prstGeom>
              <a:solidFill>
                <a:srgbClr val="FFFFFF"/>
              </a:solidFill>
              <a:ln>
                <a:noFill/>
              </a:ln>
            </p:spPr>
          </p:sp>
          <p:sp>
            <p:nvSpPr>
              <p:cNvPr id="50" name="TextBox 50"/>
              <p:cNvSpPr txBox="1"/>
              <p:nvPr/>
            </p:nvSpPr>
            <p:spPr>
              <a:xfrm>
                <a:off x="1423988" y="5766197"/>
                <a:ext cx="842320" cy="183356"/>
              </a:xfrm>
              <a:prstGeom prst="rect">
                <a:avLst/>
              </a:prstGeom>
              <a:noFill/>
              <a:ln>
                <a:noFill/>
              </a:ln>
            </p:spPr>
            <p:txBody>
              <a:bodyPr wrap="none" lIns="0" tIns="0" rIns="0" bIns="0" anchor="t" anchorCtr="0">
                <a:spAutoFit/>
              </a:bodyPr>
              <a:lstStyle/>
              <a:p>
                <a:pPr algn="l"/>
                <a:r>
                  <a:rPr lang="zh-CN" sz="940" dirty="0">
                    <a:solidFill>
                      <a:srgbClr val="FFFFFF"/>
                    </a:solidFill>
                    <a:latin typeface="+mn-lt"/>
                    <a:ea typeface="+mn-ea"/>
                    <a:cs typeface="+mn-cs"/>
                  </a:rPr>
                  <a:t>A级：量价协议</a:t>
                </a:r>
              </a:p>
            </p:txBody>
          </p:sp>
          <p:sp>
            <p:nvSpPr>
              <p:cNvPr id="51" name="Ellipse 51"/>
              <p:cNvSpPr/>
              <p:nvPr/>
            </p:nvSpPr>
            <p:spPr>
              <a:xfrm>
                <a:off x="1309688" y="6053138"/>
                <a:ext cx="47625" cy="47625"/>
              </a:xfrm>
              <a:prstGeom prst="ellipse">
                <a:avLst/>
              </a:prstGeom>
              <a:solidFill>
                <a:srgbClr val="FFFFFF"/>
              </a:solidFill>
              <a:ln>
                <a:noFill/>
              </a:ln>
            </p:spPr>
          </p:sp>
          <p:sp>
            <p:nvSpPr>
              <p:cNvPr id="52" name="TextBox 52"/>
              <p:cNvSpPr txBox="1"/>
              <p:nvPr/>
            </p:nvSpPr>
            <p:spPr>
              <a:xfrm>
                <a:off x="1423988" y="6013847"/>
                <a:ext cx="1058995" cy="183356"/>
              </a:xfrm>
              <a:prstGeom prst="rect">
                <a:avLst/>
              </a:prstGeom>
              <a:noFill/>
              <a:ln>
                <a:noFill/>
              </a:ln>
            </p:spPr>
            <p:txBody>
              <a:bodyPr wrap="none" lIns="0" tIns="0" rIns="0" bIns="0" anchor="t" anchorCtr="0">
                <a:spAutoFit/>
              </a:bodyPr>
              <a:lstStyle/>
              <a:p>
                <a:pPr algn="l"/>
                <a:r>
                  <a:rPr lang="zh-CN" sz="940" dirty="0">
                    <a:solidFill>
                      <a:srgbClr val="FFFFFF"/>
                    </a:solidFill>
                    <a:latin typeface="+mn-lt"/>
                    <a:ea typeface="+mn-ea"/>
                    <a:cs typeface="+mn-cs"/>
                  </a:rPr>
                  <a:t>B/C级：坚守底线​</a:t>
                </a:r>
              </a:p>
            </p:txBody>
          </p:sp>
        </p:grpSp>
      </p:grpSp>
      <p:grpSp>
        <p:nvGrpSpPr>
          <p:cNvPr id="86" name="principles"/>
          <p:cNvGrpSpPr/>
          <p:nvPr/>
        </p:nvGrpSpPr>
        <p:grpSpPr>
          <a:xfrm>
            <a:off x="6286500" y="1726406"/>
            <a:ext cx="5524500" cy="4407694"/>
            <a:chOff x="6286500" y="1726406"/>
            <a:chExt cx="5524500" cy="4407694"/>
          </a:xfrm>
        </p:grpSpPr>
        <p:grpSp>
          <p:nvGrpSpPr>
            <p:cNvPr id="60" name="Group 60"/>
            <p:cNvGrpSpPr/>
            <p:nvPr/>
          </p:nvGrpSpPr>
          <p:grpSpPr>
            <a:xfrm>
              <a:off x="6317456" y="1726406"/>
              <a:ext cx="185737" cy="184943"/>
              <a:chOff x="6317456" y="1726406"/>
              <a:chExt cx="185737" cy="184943"/>
            </a:xfrm>
          </p:grpSpPr>
          <p:sp>
            <p:nvSpPr>
              <p:cNvPr id="55" name="Freeform 55"/>
              <p:cNvSpPr/>
              <p:nvPr/>
            </p:nvSpPr>
            <p:spPr>
              <a:xfrm>
                <a:off x="6358731" y="1901824"/>
                <a:ext cx="103187" cy="9525"/>
              </a:xfrm>
              <a:custGeom>
                <a:avLst/>
                <a:gdLst/>
                <a:ahLst/>
                <a:cxnLst/>
                <a:rect l="l" t="t" r="r" b="b"/>
                <a:pathLst>
                  <a:path w="103187" h="9525">
                    <a:moveTo>
                      <a:pt x="0" y="0"/>
                    </a:moveTo>
                    <a:lnTo>
                      <a:pt x="103187" y="0"/>
                    </a:lnTo>
                  </a:path>
                </a:pathLst>
              </a:custGeom>
              <a:noFill/>
              <a:ln w="20637">
                <a:solidFill>
                  <a:srgbClr val="C97263"/>
                </a:solidFill>
              </a:ln>
            </p:spPr>
          </p:sp>
          <p:sp>
            <p:nvSpPr>
              <p:cNvPr id="56" name="Freeform 56"/>
              <p:cNvSpPr/>
              <p:nvPr/>
            </p:nvSpPr>
            <p:spPr>
              <a:xfrm>
                <a:off x="6348412" y="1747044"/>
                <a:ext cx="123825" cy="10319"/>
              </a:xfrm>
              <a:custGeom>
                <a:avLst/>
                <a:gdLst/>
                <a:ahLst/>
                <a:cxnLst/>
                <a:rect l="l" t="t" r="r" b="b"/>
                <a:pathLst>
                  <a:path w="123825" h="10319">
                    <a:moveTo>
                      <a:pt x="0" y="10319"/>
                    </a:moveTo>
                    <a:lnTo>
                      <a:pt x="61912" y="0"/>
                    </a:lnTo>
                    <a:lnTo>
                      <a:pt x="123825" y="10319"/>
                    </a:lnTo>
                  </a:path>
                </a:pathLst>
              </a:custGeom>
              <a:noFill/>
              <a:ln w="20637">
                <a:solidFill>
                  <a:srgbClr val="C97263"/>
                </a:solidFill>
              </a:ln>
            </p:spPr>
          </p:sp>
          <p:sp>
            <p:nvSpPr>
              <p:cNvPr id="57" name="Freeform 57"/>
              <p:cNvSpPr/>
              <p:nvPr/>
            </p:nvSpPr>
            <p:spPr>
              <a:xfrm>
                <a:off x="6410325" y="1726406"/>
                <a:ext cx="9525" cy="175418"/>
              </a:xfrm>
              <a:custGeom>
                <a:avLst/>
                <a:gdLst/>
                <a:ahLst/>
                <a:cxnLst/>
                <a:rect l="l" t="t" r="r" b="b"/>
                <a:pathLst>
                  <a:path w="9525" h="175418">
                    <a:moveTo>
                      <a:pt x="0" y="0"/>
                    </a:moveTo>
                    <a:lnTo>
                      <a:pt x="0" y="175418"/>
                    </a:lnTo>
                  </a:path>
                </a:pathLst>
              </a:custGeom>
              <a:noFill/>
              <a:ln w="20637">
                <a:solidFill>
                  <a:srgbClr val="C97263"/>
                </a:solidFill>
              </a:ln>
            </p:spPr>
          </p:sp>
          <p:sp>
            <p:nvSpPr>
              <p:cNvPr id="58" name="Freeform 58"/>
              <p:cNvSpPr/>
              <p:nvPr/>
            </p:nvSpPr>
            <p:spPr>
              <a:xfrm>
                <a:off x="6317456" y="1757362"/>
                <a:ext cx="61912" cy="92868"/>
              </a:xfrm>
              <a:custGeom>
                <a:avLst/>
                <a:gdLst/>
                <a:ahLst/>
                <a:cxnLst/>
                <a:rect l="l" t="t" r="r" b="b"/>
                <a:pathLst>
                  <a:path w="61912" h="92868">
                    <a:moveTo>
                      <a:pt x="61912" y="61912"/>
                    </a:moveTo>
                    <a:lnTo>
                      <a:pt x="30956" y="0"/>
                    </a:lnTo>
                    <a:lnTo>
                      <a:pt x="0" y="61912"/>
                    </a:lnTo>
                    <a:cubicBezTo>
                      <a:pt x="0" y="79009"/>
                      <a:pt x="13860" y="92868"/>
                      <a:pt x="30956" y="92868"/>
                    </a:cubicBezTo>
                    <a:cubicBezTo>
                      <a:pt x="48053" y="92868"/>
                      <a:pt x="61912" y="79009"/>
                      <a:pt x="61912" y="61912"/>
                    </a:cubicBezTo>
                  </a:path>
                </a:pathLst>
              </a:custGeom>
              <a:noFill/>
              <a:ln w="20637">
                <a:solidFill>
                  <a:srgbClr val="C97263"/>
                </a:solidFill>
              </a:ln>
            </p:spPr>
          </p:sp>
          <p:sp>
            <p:nvSpPr>
              <p:cNvPr id="59" name="Freeform 59"/>
              <p:cNvSpPr/>
              <p:nvPr/>
            </p:nvSpPr>
            <p:spPr>
              <a:xfrm>
                <a:off x="6441281" y="1757362"/>
                <a:ext cx="61912" cy="92868"/>
              </a:xfrm>
              <a:custGeom>
                <a:avLst/>
                <a:gdLst/>
                <a:ahLst/>
                <a:cxnLst/>
                <a:rect l="l" t="t" r="r" b="b"/>
                <a:pathLst>
                  <a:path w="61912" h="92868">
                    <a:moveTo>
                      <a:pt x="61912" y="61912"/>
                    </a:moveTo>
                    <a:lnTo>
                      <a:pt x="30956" y="0"/>
                    </a:lnTo>
                    <a:lnTo>
                      <a:pt x="0" y="61912"/>
                    </a:lnTo>
                    <a:cubicBezTo>
                      <a:pt x="0" y="79009"/>
                      <a:pt x="13860" y="92868"/>
                      <a:pt x="30956" y="92868"/>
                    </a:cubicBezTo>
                    <a:cubicBezTo>
                      <a:pt x="48053" y="92868"/>
                      <a:pt x="61912" y="79009"/>
                      <a:pt x="61912" y="61912"/>
                    </a:cubicBezTo>
                  </a:path>
                </a:pathLst>
              </a:custGeom>
              <a:noFill/>
              <a:ln w="20637">
                <a:solidFill>
                  <a:srgbClr val="C97263"/>
                </a:solidFill>
              </a:ln>
            </p:spPr>
          </p:sp>
        </p:grpSp>
        <p:sp>
          <p:nvSpPr>
            <p:cNvPr id="61" name="TextBox 61"/>
            <p:cNvSpPr txBox="1"/>
            <p:nvPr/>
          </p:nvSpPr>
          <p:spPr>
            <a:xfrm>
              <a:off x="6622161" y="1732121"/>
              <a:ext cx="1734922"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价格谈判的四个原则</a:t>
              </a:r>
            </a:p>
          </p:txBody>
        </p:sp>
        <p:grpSp>
          <p:nvGrpSpPr>
            <p:cNvPr id="67" name="principle-1"/>
            <p:cNvGrpSpPr/>
            <p:nvPr/>
          </p:nvGrpSpPr>
          <p:grpSpPr>
            <a:xfrm>
              <a:off x="6286500" y="2057400"/>
              <a:ext cx="5524500" cy="933450"/>
              <a:chOff x="6286500" y="2057400"/>
              <a:chExt cx="5524500" cy="933450"/>
            </a:xfrm>
          </p:grpSpPr>
          <p:sp>
            <p:nvSpPr>
              <p:cNvPr id="62" name="Rectangle 62"/>
              <p:cNvSpPr/>
              <p:nvPr/>
            </p:nvSpPr>
            <p:spPr>
              <a:xfrm>
                <a:off x="6286500" y="2057400"/>
                <a:ext cx="5524500" cy="933450"/>
              </a:xfrm>
              <a:prstGeom prst="roundRect">
                <a:avLst>
                  <a:gd name="adj" fmla="val 6122"/>
                </a:avLst>
              </a:prstGeom>
              <a:solidFill>
                <a:srgbClr val="FFFFFF"/>
              </a:solidFill>
              <a:ln w="11430">
                <a:solidFill>
                  <a:srgbClr val="C97263"/>
                </a:solidFill>
              </a:ln>
            </p:spPr>
          </p:sp>
          <p:sp>
            <p:nvSpPr>
              <p:cNvPr id="63" name="Ellipse 63"/>
              <p:cNvSpPr/>
              <p:nvPr/>
            </p:nvSpPr>
            <p:spPr>
              <a:xfrm>
                <a:off x="6515100" y="2314575"/>
                <a:ext cx="419100" cy="419100"/>
              </a:xfrm>
              <a:prstGeom prst="ellipse">
                <a:avLst/>
              </a:prstGeom>
              <a:solidFill>
                <a:srgbClr val="C97263"/>
              </a:solidFill>
              <a:ln>
                <a:noFill/>
              </a:ln>
            </p:spPr>
          </p:sp>
          <p:sp>
            <p:nvSpPr>
              <p:cNvPr id="64" name="TextBox 64"/>
              <p:cNvSpPr txBox="1"/>
              <p:nvPr/>
            </p:nvSpPr>
            <p:spPr>
              <a:xfrm>
                <a:off x="6665315" y="2435542"/>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1</a:t>
                </a:r>
              </a:p>
            </p:txBody>
          </p:sp>
          <p:sp>
            <p:nvSpPr>
              <p:cNvPr id="65" name="TextBox 65"/>
              <p:cNvSpPr txBox="1"/>
              <p:nvPr/>
            </p:nvSpPr>
            <p:spPr>
              <a:xfrm>
                <a:off x="7118604" y="2346960"/>
                <a:ext cx="1143000" cy="234696"/>
              </a:xfrm>
              <a:prstGeom prst="rect">
                <a:avLst/>
              </a:prstGeom>
              <a:noFill/>
              <a:ln>
                <a:noFill/>
              </a:ln>
            </p:spPr>
            <p:txBody>
              <a:bodyPr wrap="none" lIns="0" tIns="0" rIns="0" bIns="0" anchor="t" anchorCtr="0">
                <a:spAutoFit/>
              </a:bodyPr>
              <a:lstStyle/>
              <a:p>
                <a:pPr algn="l"/>
                <a:r>
                  <a:rPr lang="zh-CN" sz="1200" b="1" dirty="0">
                    <a:solidFill>
                      <a:srgbClr val="C97263"/>
                    </a:solidFill>
                    <a:latin typeface="+mn-lt"/>
                    <a:ea typeface="+mn-ea"/>
                    <a:cs typeface="+mn-cs"/>
                  </a:rPr>
                  <a:t>不单独谈价格，</a:t>
                </a:r>
              </a:p>
            </p:txBody>
          </p:sp>
          <p:sp>
            <p:nvSpPr>
              <p:cNvPr id="66" name="TextBox 66"/>
              <p:cNvSpPr txBox="1"/>
              <p:nvPr/>
            </p:nvSpPr>
            <p:spPr>
              <a:xfrm>
                <a:off x="7119938" y="2661047"/>
                <a:ext cx="1654581"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必须与数量、周期、服务捆绑</a:t>
                </a:r>
              </a:p>
            </p:txBody>
          </p:sp>
        </p:grpSp>
        <p:grpSp>
          <p:nvGrpSpPr>
            <p:cNvPr id="73" name="principle-2"/>
            <p:cNvGrpSpPr/>
            <p:nvPr/>
          </p:nvGrpSpPr>
          <p:grpSpPr>
            <a:xfrm>
              <a:off x="6286500" y="3105150"/>
              <a:ext cx="5524500" cy="933450"/>
              <a:chOff x="6286500" y="3105150"/>
              <a:chExt cx="5524500" cy="933450"/>
            </a:xfrm>
          </p:grpSpPr>
          <p:sp>
            <p:nvSpPr>
              <p:cNvPr id="68" name="Rectangle 68"/>
              <p:cNvSpPr/>
              <p:nvPr/>
            </p:nvSpPr>
            <p:spPr>
              <a:xfrm>
                <a:off x="6286500" y="3105150"/>
                <a:ext cx="5524500" cy="933450"/>
              </a:xfrm>
              <a:prstGeom prst="roundRect">
                <a:avLst>
                  <a:gd name="adj" fmla="val 6122"/>
                </a:avLst>
              </a:prstGeom>
              <a:solidFill>
                <a:srgbClr val="FFFFFF"/>
              </a:solidFill>
              <a:ln w="11430">
                <a:solidFill>
                  <a:srgbClr val="C97263"/>
                </a:solidFill>
              </a:ln>
            </p:spPr>
          </p:sp>
          <p:sp>
            <p:nvSpPr>
              <p:cNvPr id="69" name="Ellipse 69"/>
              <p:cNvSpPr/>
              <p:nvPr/>
            </p:nvSpPr>
            <p:spPr>
              <a:xfrm>
                <a:off x="6515100" y="3362325"/>
                <a:ext cx="419100" cy="419100"/>
              </a:xfrm>
              <a:prstGeom prst="ellipse">
                <a:avLst/>
              </a:prstGeom>
              <a:solidFill>
                <a:srgbClr val="C97263"/>
              </a:solidFill>
              <a:ln>
                <a:noFill/>
              </a:ln>
            </p:spPr>
          </p:sp>
          <p:sp>
            <p:nvSpPr>
              <p:cNvPr id="70" name="TextBox 70"/>
              <p:cNvSpPr txBox="1"/>
              <p:nvPr/>
            </p:nvSpPr>
            <p:spPr>
              <a:xfrm>
                <a:off x="6665315" y="3483292"/>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2</a:t>
                </a:r>
              </a:p>
            </p:txBody>
          </p:sp>
          <p:sp>
            <p:nvSpPr>
              <p:cNvPr id="71" name="TextBox 71"/>
              <p:cNvSpPr txBox="1"/>
              <p:nvPr/>
            </p:nvSpPr>
            <p:spPr>
              <a:xfrm>
                <a:off x="7118604" y="3394710"/>
                <a:ext cx="1143000" cy="234696"/>
              </a:xfrm>
              <a:prstGeom prst="rect">
                <a:avLst/>
              </a:prstGeom>
              <a:noFill/>
              <a:ln>
                <a:noFill/>
              </a:ln>
            </p:spPr>
            <p:txBody>
              <a:bodyPr wrap="none" lIns="0" tIns="0" rIns="0" bIns="0" anchor="t" anchorCtr="0">
                <a:spAutoFit/>
              </a:bodyPr>
              <a:lstStyle/>
              <a:p>
                <a:pPr algn="l"/>
                <a:r>
                  <a:rPr lang="zh-CN" sz="1200" b="1" dirty="0">
                    <a:solidFill>
                      <a:srgbClr val="2B2B2B"/>
                    </a:solidFill>
                    <a:latin typeface="+mn-lt"/>
                    <a:ea typeface="+mn-ea"/>
                    <a:cs typeface="+mn-cs"/>
                  </a:rPr>
                  <a:t>让步必须有条件</a:t>
                </a:r>
              </a:p>
            </p:txBody>
          </p:sp>
          <p:sp>
            <p:nvSpPr>
              <p:cNvPr id="72" name="TextBox 72"/>
              <p:cNvSpPr txBox="1"/>
              <p:nvPr/>
            </p:nvSpPr>
            <p:spPr>
              <a:xfrm>
                <a:off x="7119938" y="3708797"/>
                <a:ext cx="1989920" cy="183356"/>
              </a:xfrm>
              <a:prstGeom prst="rect">
                <a:avLst/>
              </a:prstGeom>
              <a:noFill/>
              <a:ln>
                <a:noFill/>
              </a:ln>
            </p:spPr>
            <p:txBody>
              <a:bodyPr wrap="none" lIns="0" tIns="0" rIns="0" bIns="0" anchor="t" anchorCtr="0">
                <a:spAutoFit/>
              </a:bodyPr>
              <a:lstStyle/>
              <a:p>
                <a:pPr algn="l"/>
                <a:r>
                  <a:rPr lang="zh-CN" sz="940" dirty="0">
                    <a:solidFill>
                      <a:srgbClr val="6A6A6A"/>
                    </a:solidFill>
                    <a:latin typeface="+mn-lt"/>
                    <a:ea typeface="+mn-ea"/>
                    <a:cs typeface="+mn-cs"/>
                  </a:rPr>
                  <a:t>（换取份额/长期协议/付款改善）​</a:t>
                </a:r>
              </a:p>
            </p:txBody>
          </p:sp>
        </p:grpSp>
        <p:grpSp>
          <p:nvGrpSpPr>
            <p:cNvPr id="79" name="principle-3"/>
            <p:cNvGrpSpPr/>
            <p:nvPr/>
          </p:nvGrpSpPr>
          <p:grpSpPr>
            <a:xfrm>
              <a:off x="6286500" y="4152900"/>
              <a:ext cx="5524500" cy="933450"/>
              <a:chOff x="6286500" y="4152900"/>
              <a:chExt cx="5524500" cy="933450"/>
            </a:xfrm>
          </p:grpSpPr>
          <p:sp>
            <p:nvSpPr>
              <p:cNvPr id="74" name="Rectangle 74"/>
              <p:cNvSpPr/>
              <p:nvPr/>
            </p:nvSpPr>
            <p:spPr>
              <a:xfrm>
                <a:off x="6286500" y="4152900"/>
                <a:ext cx="5524500" cy="933450"/>
              </a:xfrm>
              <a:prstGeom prst="roundRect">
                <a:avLst>
                  <a:gd name="adj" fmla="val 6122"/>
                </a:avLst>
              </a:prstGeom>
              <a:solidFill>
                <a:srgbClr val="FFFFFF"/>
              </a:solidFill>
              <a:ln w="11430">
                <a:solidFill>
                  <a:srgbClr val="C97263"/>
                </a:solidFill>
              </a:ln>
            </p:spPr>
          </p:sp>
          <p:sp>
            <p:nvSpPr>
              <p:cNvPr id="75" name="Ellipse 75"/>
              <p:cNvSpPr/>
              <p:nvPr/>
            </p:nvSpPr>
            <p:spPr>
              <a:xfrm>
                <a:off x="6515100" y="4410075"/>
                <a:ext cx="419100" cy="419100"/>
              </a:xfrm>
              <a:prstGeom prst="ellipse">
                <a:avLst/>
              </a:prstGeom>
              <a:solidFill>
                <a:srgbClr val="C97263"/>
              </a:solidFill>
              <a:ln>
                <a:noFill/>
              </a:ln>
            </p:spPr>
          </p:sp>
          <p:sp>
            <p:nvSpPr>
              <p:cNvPr id="76" name="TextBox 76"/>
              <p:cNvSpPr txBox="1"/>
              <p:nvPr/>
            </p:nvSpPr>
            <p:spPr>
              <a:xfrm>
                <a:off x="6665315" y="4531042"/>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3</a:t>
                </a:r>
              </a:p>
            </p:txBody>
          </p:sp>
          <p:sp>
            <p:nvSpPr>
              <p:cNvPr id="77" name="TextBox 77"/>
              <p:cNvSpPr txBox="1"/>
              <p:nvPr/>
            </p:nvSpPr>
            <p:spPr>
              <a:xfrm>
                <a:off x="7118604" y="4442460"/>
                <a:ext cx="981456" cy="234696"/>
              </a:xfrm>
              <a:prstGeom prst="rect">
                <a:avLst/>
              </a:prstGeom>
              <a:noFill/>
              <a:ln>
                <a:noFill/>
              </a:ln>
            </p:spPr>
            <p:txBody>
              <a:bodyPr wrap="none" lIns="0" tIns="0" rIns="0" bIns="0" anchor="t" anchorCtr="0">
                <a:spAutoFit/>
              </a:bodyPr>
              <a:lstStyle/>
              <a:p>
                <a:pPr algn="l"/>
                <a:r>
                  <a:rPr lang="zh-CN" sz="1200" b="1" dirty="0">
                    <a:solidFill>
                      <a:srgbClr val="2B2B2B"/>
                    </a:solidFill>
                    <a:latin typeface="+mn-lt"/>
                    <a:ea typeface="+mn-ea"/>
                    <a:cs typeface="+mn-cs"/>
                  </a:rPr>
                  <a:t>让步要有节奏</a:t>
                </a:r>
              </a:p>
            </p:txBody>
          </p:sp>
          <p:sp>
            <p:nvSpPr>
              <p:cNvPr id="78" name="TextBox 78"/>
              <p:cNvSpPr txBox="1"/>
              <p:nvPr/>
            </p:nvSpPr>
            <p:spPr>
              <a:xfrm>
                <a:off x="7119938" y="4756547"/>
                <a:ext cx="1021867" cy="183356"/>
              </a:xfrm>
              <a:prstGeom prst="rect">
                <a:avLst/>
              </a:prstGeom>
              <a:noFill/>
              <a:ln>
                <a:noFill/>
              </a:ln>
            </p:spPr>
            <p:txBody>
              <a:bodyPr wrap="none" lIns="0" tIns="0" rIns="0" bIns="0" anchor="t" anchorCtr="0">
                <a:spAutoFit/>
              </a:bodyPr>
              <a:lstStyle/>
              <a:p>
                <a:pPr algn="l"/>
                <a:r>
                  <a:rPr lang="zh-CN" sz="940" dirty="0">
                    <a:solidFill>
                      <a:srgbClr val="6A6A6A"/>
                    </a:solidFill>
                    <a:latin typeface="+mn-lt"/>
                    <a:ea typeface="+mn-ea"/>
                    <a:cs typeface="+mn-cs"/>
                  </a:rPr>
                  <a:t>（保留谈判空间）</a:t>
                </a:r>
              </a:p>
            </p:txBody>
          </p:sp>
        </p:grpSp>
        <p:grpSp>
          <p:nvGrpSpPr>
            <p:cNvPr id="85" name="principle-4"/>
            <p:cNvGrpSpPr/>
            <p:nvPr/>
          </p:nvGrpSpPr>
          <p:grpSpPr>
            <a:xfrm>
              <a:off x="6286500" y="5200650"/>
              <a:ext cx="5524500" cy="933450"/>
              <a:chOff x="6286500" y="5200650"/>
              <a:chExt cx="5524500" cy="933450"/>
            </a:xfrm>
          </p:grpSpPr>
          <p:sp>
            <p:nvSpPr>
              <p:cNvPr id="80" name="Rectangle 80"/>
              <p:cNvSpPr/>
              <p:nvPr/>
            </p:nvSpPr>
            <p:spPr>
              <a:xfrm>
                <a:off x="6286500" y="5200650"/>
                <a:ext cx="5524500" cy="933450"/>
              </a:xfrm>
              <a:prstGeom prst="roundRect">
                <a:avLst>
                  <a:gd name="adj" fmla="val 6122"/>
                </a:avLst>
              </a:prstGeom>
              <a:solidFill>
                <a:srgbClr val="FFFFFF"/>
              </a:solidFill>
              <a:ln w="11430">
                <a:solidFill>
                  <a:srgbClr val="C97263"/>
                </a:solidFill>
              </a:ln>
            </p:spPr>
          </p:sp>
          <p:sp>
            <p:nvSpPr>
              <p:cNvPr id="81" name="Ellipse 81"/>
              <p:cNvSpPr/>
              <p:nvPr/>
            </p:nvSpPr>
            <p:spPr>
              <a:xfrm>
                <a:off x="6515100" y="5457825"/>
                <a:ext cx="419100" cy="419100"/>
              </a:xfrm>
              <a:prstGeom prst="ellipse">
                <a:avLst/>
              </a:prstGeom>
              <a:solidFill>
                <a:srgbClr val="C97263"/>
              </a:solidFill>
              <a:ln>
                <a:noFill/>
              </a:ln>
            </p:spPr>
          </p:sp>
          <p:sp>
            <p:nvSpPr>
              <p:cNvPr id="82" name="TextBox 82"/>
              <p:cNvSpPr txBox="1"/>
              <p:nvPr/>
            </p:nvSpPr>
            <p:spPr>
              <a:xfrm>
                <a:off x="6665315" y="5578792"/>
                <a:ext cx="11866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4</a:t>
                </a:r>
              </a:p>
            </p:txBody>
          </p:sp>
          <p:sp>
            <p:nvSpPr>
              <p:cNvPr id="83" name="TextBox 83"/>
              <p:cNvSpPr txBox="1"/>
              <p:nvPr/>
            </p:nvSpPr>
            <p:spPr>
              <a:xfrm>
                <a:off x="7118604" y="5490210"/>
                <a:ext cx="1466088" cy="234696"/>
              </a:xfrm>
              <a:prstGeom prst="rect">
                <a:avLst/>
              </a:prstGeom>
              <a:noFill/>
              <a:ln>
                <a:noFill/>
              </a:ln>
            </p:spPr>
            <p:txBody>
              <a:bodyPr wrap="none" lIns="0" tIns="0" rIns="0" bIns="0" anchor="t" anchorCtr="0">
                <a:spAutoFit/>
              </a:bodyPr>
              <a:lstStyle/>
              <a:p>
                <a:pPr algn="l"/>
                <a:r>
                  <a:rPr lang="zh-CN" sz="1200" b="1" dirty="0">
                    <a:solidFill>
                      <a:srgbClr val="2B2B2B"/>
                    </a:solidFill>
                    <a:latin typeface="+mn-lt"/>
                    <a:ea typeface="+mn-ea"/>
                    <a:cs typeface="+mn-cs"/>
                  </a:rPr>
                  <a:t>价格底线提前设定，</a:t>
                </a:r>
              </a:p>
            </p:txBody>
          </p:sp>
          <p:sp>
            <p:nvSpPr>
              <p:cNvPr id="84" name="TextBox 84"/>
              <p:cNvSpPr txBox="1"/>
              <p:nvPr/>
            </p:nvSpPr>
            <p:spPr>
              <a:xfrm>
                <a:off x="7119938" y="5804297"/>
                <a:ext cx="1021867" cy="183356"/>
              </a:xfrm>
              <a:prstGeom prst="rect">
                <a:avLst/>
              </a:prstGeom>
              <a:noFill/>
              <a:ln>
                <a:noFill/>
              </a:ln>
            </p:spPr>
            <p:txBody>
              <a:bodyPr wrap="none" lIns="0" tIns="0" rIns="0" bIns="0" anchor="t" anchorCtr="0">
                <a:spAutoFit/>
              </a:bodyPr>
              <a:lstStyle/>
              <a:p>
                <a:pPr algn="l"/>
                <a:r>
                  <a:rPr lang="zh-CN" sz="940" dirty="0">
                    <a:solidFill>
                      <a:srgbClr val="6A6A6A"/>
                    </a:solidFill>
                    <a:latin typeface="+mn-lt"/>
                    <a:ea typeface="+mn-ea"/>
                    <a:cs typeface="+mn-cs"/>
                  </a:rPr>
                  <a:t>不在桌上临时决策</a:t>
                </a:r>
              </a:p>
            </p:txBody>
          </p:sp>
        </p:grpSp>
      </p:grpSp>
      <p:sp>
        <p:nvSpPr>
          <p:cNvPr id="87" name="page-num"/>
          <p:cNvSpPr txBox="1"/>
          <p:nvPr/>
        </p:nvSpPr>
        <p:spPr>
          <a:xfrm>
            <a:off x="11582971" y="6532721"/>
            <a:ext cx="235268" cy="278702"/>
          </a:xfrm>
          <a:prstGeom prst="rect">
            <a:avLst/>
          </a:prstGeom>
          <a:noFill/>
          <a:ln>
            <a:noFill/>
          </a:ln>
        </p:spPr>
        <p:txBody>
          <a:bodyPr wrap="none" lIns="0" tIns="0" rIns="0" bIns="0" anchor="t" anchorCtr="0">
            <a:spAutoFit/>
          </a:bodyPr>
          <a:lstStyle/>
          <a:p>
            <a:pPr algn="r"/>
            <a:r>
              <a:rPr lang="zh-CN" sz="1420" b="1" dirty="0">
                <a:solidFill>
                  <a:srgbClr val="3F3F3F"/>
                </a:solidFill>
                <a:latin typeface="+mn-lt"/>
                <a:ea typeface="+mn-ea"/>
                <a:cs typeface="+mn-cs"/>
              </a:rPr>
              <a:t>11</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a:xfrm>
            <a:off x="365760" y="190500"/>
            <a:ext cx="9319260" cy="586740"/>
          </a:xfrm>
          <a:prstGeom prst="rect">
            <a:avLst/>
          </a:prstGeom>
          <a:noFill/>
          <a:ln>
            <a:noFill/>
          </a:ln>
        </p:spPr>
        <p:txBody>
          <a:bodyPr wrap="none" lIns="0" tIns="0" rIns="0" bIns="0" anchor="t" anchorCtr="0">
            <a:spAutoFit/>
          </a:bodyPr>
          <a:lstStyle/>
          <a:p>
            <a:pPr algn="l"/>
            <a:r>
              <a:rPr lang="zh-CN" sz="3000" b="1" dirty="0">
                <a:solidFill>
                  <a:srgbClr val="1A1A1A"/>
                </a:solidFill>
                <a:latin typeface="+mn-lt"/>
                <a:ea typeface="+mn-ea"/>
                <a:cs typeface="+mn-cs"/>
              </a:rPr>
              <a:t>大客户的流失预警与挽救：问题暴露时往往已经晚了</a:t>
            </a:r>
          </a:p>
        </p:txBody>
      </p:sp>
      <p:grpSp>
        <p:nvGrpSpPr>
          <p:cNvPr id="6" name="core-statement"/>
          <p:cNvGrpSpPr/>
          <p:nvPr/>
        </p:nvGrpSpPr>
        <p:grpSpPr>
          <a:xfrm>
            <a:off x="381000" y="819150"/>
            <a:ext cx="5730748" cy="684562"/>
            <a:chOff x="381000" y="819150"/>
            <a:chExt cx="5730748" cy="684562"/>
          </a:xfrm>
        </p:grpSpPr>
        <p:sp>
          <p:nvSpPr>
            <p:cNvPr id="3" name="Rectangle 3"/>
            <p:cNvSpPr/>
            <p:nvPr/>
          </p:nvSpPr>
          <p:spPr>
            <a:xfrm>
              <a:off x="381000" y="819150"/>
              <a:ext cx="1314450" cy="495300"/>
            </a:xfrm>
            <a:prstGeom prst="roundRect">
              <a:avLst>
                <a:gd name="adj" fmla="val 7692"/>
              </a:avLst>
            </a:prstGeom>
            <a:solidFill>
              <a:srgbClr val="8B321E"/>
            </a:solidFill>
            <a:ln>
              <a:noFill/>
            </a:ln>
          </p:spPr>
        </p:sp>
        <p:sp>
          <p:nvSpPr>
            <p:cNvPr id="4" name="TextBox 4"/>
            <p:cNvSpPr txBox="1"/>
            <p:nvPr/>
          </p:nvSpPr>
          <p:spPr>
            <a:xfrm>
              <a:off x="678853" y="991791"/>
              <a:ext cx="718744" cy="256699"/>
            </a:xfrm>
            <a:prstGeom prst="rect">
              <a:avLst/>
            </a:prstGeom>
            <a:noFill/>
            <a:ln>
              <a:noFill/>
            </a:ln>
          </p:spPr>
          <p:txBody>
            <a:bodyPr wrap="none" lIns="0" tIns="0" rIns="0" bIns="0" anchor="t" anchorCtr="0">
              <a:spAutoFit/>
            </a:bodyPr>
            <a:lstStyle/>
            <a:p>
              <a:pPr algn="ctr"/>
              <a:r>
                <a:rPr lang="zh-CN" sz="1310" b="1" dirty="0">
                  <a:solidFill>
                    <a:srgbClr val="FFFFFF"/>
                  </a:solidFill>
                  <a:latin typeface="+mn-lt"/>
                  <a:ea typeface="+mn-ea"/>
                  <a:cs typeface="+mn-cs"/>
                </a:rPr>
                <a:t>核心观点</a:t>
              </a:r>
            </a:p>
          </p:txBody>
        </p:sp>
        <p:sp>
          <p:nvSpPr>
            <p:cNvPr id="5" name="TextBox 5"/>
            <p:cNvSpPr txBox="1"/>
            <p:nvPr/>
          </p:nvSpPr>
          <p:spPr>
            <a:xfrm>
              <a:off x="1943862" y="861536"/>
              <a:ext cx="4167886" cy="642176"/>
            </a:xfrm>
            <a:prstGeom prst="rect">
              <a:avLst/>
            </a:prstGeom>
            <a:noFill/>
            <a:ln>
              <a:noFill/>
            </a:ln>
          </p:spPr>
          <p:txBody>
            <a:bodyPr wrap="none" lIns="0" tIns="0" rIns="0" bIns="0" anchor="t" anchorCtr="0">
              <a:spAutoFit/>
            </a:bodyPr>
            <a:lstStyle/>
            <a:p>
              <a:pPr algn="l">
                <a:lnSpc>
                  <a:spcPts val="2400"/>
                </a:lnSpc>
              </a:pPr>
              <a:r>
                <a:rPr lang="zh-CN" sz="1720" b="1" dirty="0">
                  <a:solidFill>
                    <a:srgbClr val="8B321E"/>
                  </a:solidFill>
                  <a:latin typeface="+mn-lt"/>
                  <a:ea typeface="+mn-ea"/>
                  <a:cs typeface="+mn-cs"/>
                </a:rPr>
                <a:t>大客户流失是一个过程，不是一个事件，​</a:t>
              </a:r>
              <a:br/>
              <a:r>
                <a:rPr lang="zh-CN" sz="1720" b="1" dirty="0">
                  <a:solidFill>
                    <a:srgbClr val="8B321E"/>
                  </a:solidFill>
                  <a:latin typeface="+mn-lt"/>
                  <a:ea typeface="+mn-ea"/>
                  <a:cs typeface="+mn-cs"/>
                </a:rPr>
                <a:t>提前识别预警信号才能在流失前采取行动。</a:t>
              </a:r>
            </a:p>
          </p:txBody>
        </p:sp>
      </p:grpSp>
      <p:grpSp>
        <p:nvGrpSpPr>
          <p:cNvPr id="60" name="signals"/>
          <p:cNvGrpSpPr/>
          <p:nvPr/>
        </p:nvGrpSpPr>
        <p:grpSpPr>
          <a:xfrm>
            <a:off x="381000" y="1609725"/>
            <a:ext cx="4953000" cy="4448175"/>
            <a:chOff x="381000" y="1609725"/>
            <a:chExt cx="4953000" cy="4448175"/>
          </a:xfrm>
        </p:grpSpPr>
        <p:sp>
          <p:nvSpPr>
            <p:cNvPr id="7" name="Ellipse 7"/>
            <p:cNvSpPr/>
            <p:nvPr/>
          </p:nvSpPr>
          <p:spPr>
            <a:xfrm>
              <a:off x="390525" y="1609725"/>
              <a:ext cx="323850" cy="323850"/>
            </a:xfrm>
            <a:prstGeom prst="ellipse">
              <a:avLst/>
            </a:prstGeom>
            <a:solidFill>
              <a:srgbClr val="8B321E"/>
            </a:solidFill>
            <a:ln>
              <a:noFill/>
            </a:ln>
          </p:spPr>
        </p:sp>
        <p:grpSp>
          <p:nvGrpSpPr>
            <p:cNvPr id="10" name="Group 10"/>
            <p:cNvGrpSpPr/>
            <p:nvPr/>
          </p:nvGrpSpPr>
          <p:grpSpPr>
            <a:xfrm>
              <a:off x="495300" y="1707356"/>
              <a:ext cx="114300" cy="128588"/>
              <a:chOff x="495300" y="1707356"/>
              <a:chExt cx="114300" cy="128588"/>
            </a:xfrm>
          </p:grpSpPr>
          <p:sp>
            <p:nvSpPr>
              <p:cNvPr id="8" name="Freeform 8"/>
              <p:cNvSpPr/>
              <p:nvPr/>
            </p:nvSpPr>
            <p:spPr>
              <a:xfrm>
                <a:off x="495300" y="1707356"/>
                <a:ext cx="114300" cy="100012"/>
              </a:xfrm>
              <a:custGeom>
                <a:avLst/>
                <a:gdLst/>
                <a:ahLst/>
                <a:cxnLst/>
                <a:rect l="l" t="t" r="r" b="b"/>
                <a:pathLst>
                  <a:path w="114300" h="100012">
                    <a:moveTo>
                      <a:pt x="42862" y="14288"/>
                    </a:moveTo>
                    <a:cubicBezTo>
                      <a:pt x="42862" y="6397"/>
                      <a:pt x="49259" y="0"/>
                      <a:pt x="57150" y="0"/>
                    </a:cubicBezTo>
                    <a:cubicBezTo>
                      <a:pt x="65041" y="0"/>
                      <a:pt x="71438" y="6397"/>
                      <a:pt x="71438" y="14288"/>
                    </a:cubicBezTo>
                    <a:cubicBezTo>
                      <a:pt x="88155" y="22192"/>
                      <a:pt x="99145" y="38678"/>
                      <a:pt x="100012" y="57150"/>
                    </a:cubicBezTo>
                    <a:lnTo>
                      <a:pt x="100012" y="78581"/>
                    </a:lnTo>
                    <a:cubicBezTo>
                      <a:pt x="101103" y="87588"/>
                      <a:pt x="106405" y="95542"/>
                      <a:pt x="114300" y="100012"/>
                    </a:cubicBezTo>
                    <a:lnTo>
                      <a:pt x="0" y="100012"/>
                    </a:lnTo>
                    <a:cubicBezTo>
                      <a:pt x="7895" y="95542"/>
                      <a:pt x="13197" y="87588"/>
                      <a:pt x="14288" y="78581"/>
                    </a:cubicBezTo>
                    <a:lnTo>
                      <a:pt x="14288" y="57150"/>
                    </a:lnTo>
                    <a:cubicBezTo>
                      <a:pt x="15155" y="38678"/>
                      <a:pt x="26145" y="22192"/>
                      <a:pt x="42862" y="14288"/>
                    </a:cubicBezTo>
                  </a:path>
                </a:pathLst>
              </a:custGeom>
              <a:noFill/>
              <a:ln w="14288">
                <a:solidFill>
                  <a:srgbClr val="FFFFFF"/>
                </a:solidFill>
              </a:ln>
            </p:spPr>
          </p:sp>
          <p:sp>
            <p:nvSpPr>
              <p:cNvPr id="9" name="Freeform 9"/>
              <p:cNvSpPr/>
              <p:nvPr/>
            </p:nvSpPr>
            <p:spPr>
              <a:xfrm>
                <a:off x="531019" y="1807369"/>
                <a:ext cx="42862" cy="28575"/>
              </a:xfrm>
              <a:custGeom>
                <a:avLst/>
                <a:gdLst/>
                <a:ahLst/>
                <a:cxnLst/>
                <a:rect l="l" t="t" r="r" b="b"/>
                <a:pathLst>
                  <a:path w="42862" h="28575">
                    <a:moveTo>
                      <a:pt x="0" y="0"/>
                    </a:moveTo>
                    <a:lnTo>
                      <a:pt x="0" y="7144"/>
                    </a:lnTo>
                    <a:cubicBezTo>
                      <a:pt x="0" y="18980"/>
                      <a:pt x="9595" y="28575"/>
                      <a:pt x="21431" y="28575"/>
                    </a:cubicBezTo>
                    <a:cubicBezTo>
                      <a:pt x="33267" y="28575"/>
                      <a:pt x="42862" y="18980"/>
                      <a:pt x="42862" y="7144"/>
                    </a:cubicBezTo>
                    <a:lnTo>
                      <a:pt x="42862" y="0"/>
                    </a:lnTo>
                  </a:path>
                </a:pathLst>
              </a:custGeom>
              <a:noFill/>
              <a:ln w="14288">
                <a:solidFill>
                  <a:srgbClr val="FFFFFF"/>
                </a:solidFill>
              </a:ln>
            </p:spPr>
          </p:sp>
        </p:grpSp>
        <p:sp>
          <p:nvSpPr>
            <p:cNvPr id="11" name="TextBox 11"/>
            <p:cNvSpPr txBox="1"/>
            <p:nvPr/>
          </p:nvSpPr>
          <p:spPr>
            <a:xfrm>
              <a:off x="811911" y="1674971"/>
              <a:ext cx="2308403"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大客户流失的五类预警信号</a:t>
              </a:r>
            </a:p>
          </p:txBody>
        </p:sp>
        <p:sp>
          <p:nvSpPr>
            <p:cNvPr id="12" name="Line 12"/>
            <p:cNvSpPr/>
            <p:nvPr/>
          </p:nvSpPr>
          <p:spPr>
            <a:xfrm>
              <a:off x="381000" y="1924050"/>
              <a:ext cx="4953000" cy="9525"/>
            </a:xfrm>
            <a:custGeom>
              <a:avLst/>
              <a:gdLst/>
              <a:ahLst/>
              <a:cxnLst/>
              <a:rect l="l" t="t" r="r" b="b"/>
              <a:pathLst>
                <a:path w="4953000" h="9525">
                  <a:moveTo>
                    <a:pt x="0" y="0"/>
                  </a:moveTo>
                  <a:lnTo>
                    <a:pt x="4953000" y="0"/>
                  </a:lnTo>
                </a:path>
              </a:pathLst>
            </a:custGeom>
            <a:noFill/>
            <a:ln w="9525">
              <a:solidFill>
                <a:srgbClr val="8B321E"/>
              </a:solidFill>
            </a:ln>
          </p:spPr>
        </p:sp>
        <p:grpSp>
          <p:nvGrpSpPr>
            <p:cNvPr id="20" name="signal-1"/>
            <p:cNvGrpSpPr/>
            <p:nvPr/>
          </p:nvGrpSpPr>
          <p:grpSpPr>
            <a:xfrm>
              <a:off x="381000" y="2057400"/>
              <a:ext cx="4953000" cy="723900"/>
              <a:chOff x="381000" y="2057400"/>
              <a:chExt cx="4953000" cy="723900"/>
            </a:xfrm>
          </p:grpSpPr>
          <p:sp>
            <p:nvSpPr>
              <p:cNvPr id="13" name="Rectangle 13"/>
              <p:cNvSpPr/>
              <p:nvPr/>
            </p:nvSpPr>
            <p:spPr>
              <a:xfrm>
                <a:off x="381000" y="2057400"/>
                <a:ext cx="4953000" cy="723900"/>
              </a:xfrm>
              <a:prstGeom prst="roundRect">
                <a:avLst>
                  <a:gd name="adj" fmla="val 5263"/>
                </a:avLst>
              </a:prstGeom>
              <a:solidFill>
                <a:srgbClr val="8B321E"/>
              </a:solidFill>
              <a:ln>
                <a:noFill/>
              </a:ln>
            </p:spPr>
          </p:sp>
          <p:sp>
            <p:nvSpPr>
              <p:cNvPr id="14" name="Ellipse 14"/>
              <p:cNvSpPr/>
              <p:nvPr/>
            </p:nvSpPr>
            <p:spPr>
              <a:xfrm>
                <a:off x="533400" y="2190750"/>
                <a:ext cx="457200" cy="457200"/>
              </a:xfrm>
              <a:prstGeom prst="ellipse">
                <a:avLst/>
              </a:prstGeom>
              <a:solidFill>
                <a:srgbClr val="FFFFFF"/>
              </a:solidFill>
              <a:ln>
                <a:noFill/>
              </a:ln>
            </p:spPr>
          </p:sp>
          <p:grpSp>
            <p:nvGrpSpPr>
              <p:cNvPr id="17" name="Group 17"/>
              <p:cNvGrpSpPr/>
              <p:nvPr/>
            </p:nvGrpSpPr>
            <p:grpSpPr>
              <a:xfrm>
                <a:off x="676275" y="2371725"/>
                <a:ext cx="171450" cy="95250"/>
                <a:chOff x="676275" y="2371725"/>
                <a:chExt cx="171450" cy="95250"/>
              </a:xfrm>
            </p:grpSpPr>
            <p:sp>
              <p:nvSpPr>
                <p:cNvPr id="15" name="Freeform 15"/>
                <p:cNvSpPr/>
                <p:nvPr/>
              </p:nvSpPr>
              <p:spPr>
                <a:xfrm>
                  <a:off x="676275" y="2371725"/>
                  <a:ext cx="171450" cy="95250"/>
                </a:xfrm>
                <a:custGeom>
                  <a:avLst/>
                  <a:gdLst/>
                  <a:ahLst/>
                  <a:cxnLst/>
                  <a:rect l="l" t="t" r="r" b="b"/>
                  <a:pathLst>
                    <a:path w="171450" h="95250">
                      <a:moveTo>
                        <a:pt x="0" y="0"/>
                      </a:moveTo>
                      <a:lnTo>
                        <a:pt x="57150" y="57150"/>
                      </a:lnTo>
                      <a:lnTo>
                        <a:pt x="95250" y="19050"/>
                      </a:lnTo>
                      <a:lnTo>
                        <a:pt x="171450" y="95250"/>
                      </a:lnTo>
                    </a:path>
                  </a:pathLst>
                </a:custGeom>
                <a:noFill/>
                <a:ln w="19050">
                  <a:solidFill>
                    <a:srgbClr val="8B321E"/>
                  </a:solidFill>
                </a:ln>
              </p:spPr>
            </p:sp>
            <p:sp>
              <p:nvSpPr>
                <p:cNvPr id="16" name="Freeform 16"/>
                <p:cNvSpPr/>
                <p:nvPr/>
              </p:nvSpPr>
              <p:spPr>
                <a:xfrm>
                  <a:off x="781050" y="2400300"/>
                  <a:ext cx="66675" cy="66675"/>
                </a:xfrm>
                <a:custGeom>
                  <a:avLst/>
                  <a:gdLst/>
                  <a:ahLst/>
                  <a:cxnLst/>
                  <a:rect l="l" t="t" r="r" b="b"/>
                  <a:pathLst>
                    <a:path w="66675" h="66675">
                      <a:moveTo>
                        <a:pt x="66675" y="0"/>
                      </a:moveTo>
                      <a:lnTo>
                        <a:pt x="66675" y="66675"/>
                      </a:lnTo>
                      <a:lnTo>
                        <a:pt x="0" y="66675"/>
                      </a:lnTo>
                    </a:path>
                  </a:pathLst>
                </a:custGeom>
                <a:noFill/>
                <a:ln w="19050">
                  <a:solidFill>
                    <a:srgbClr val="8B321E"/>
                  </a:solidFill>
                </a:ln>
              </p:spPr>
            </p:sp>
          </p:grpSp>
          <p:sp>
            <p:nvSpPr>
              <p:cNvPr id="18" name="TextBox 18"/>
              <p:cNvSpPr txBox="1"/>
              <p:nvPr/>
            </p:nvSpPr>
            <p:spPr>
              <a:xfrm>
                <a:off x="1117854" y="2232660"/>
                <a:ext cx="162763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信号一：采购行为变化</a:t>
                </a:r>
              </a:p>
            </p:txBody>
          </p:sp>
          <p:sp>
            <p:nvSpPr>
              <p:cNvPr id="19" name="TextBox 19"/>
              <p:cNvSpPr txBox="1"/>
              <p:nvPr/>
            </p:nvSpPr>
            <p:spPr>
              <a:xfrm>
                <a:off x="1119188" y="2512695"/>
                <a:ext cx="2547785"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订单量下降&gt;20%，频次降低，开始分散采购。​</a:t>
                </a:r>
              </a:p>
            </p:txBody>
          </p:sp>
        </p:grpSp>
        <p:grpSp>
          <p:nvGrpSpPr>
            <p:cNvPr id="30" name="signal-2"/>
            <p:cNvGrpSpPr/>
            <p:nvPr/>
          </p:nvGrpSpPr>
          <p:grpSpPr>
            <a:xfrm>
              <a:off x="381000" y="2876550"/>
              <a:ext cx="4953000" cy="723900"/>
              <a:chOff x="381000" y="2876550"/>
              <a:chExt cx="4953000" cy="723900"/>
            </a:xfrm>
          </p:grpSpPr>
          <p:sp>
            <p:nvSpPr>
              <p:cNvPr id="21" name="Rectangle 21"/>
              <p:cNvSpPr/>
              <p:nvPr/>
            </p:nvSpPr>
            <p:spPr>
              <a:xfrm>
                <a:off x="381000" y="2876550"/>
                <a:ext cx="4953000" cy="723900"/>
              </a:xfrm>
              <a:prstGeom prst="roundRect">
                <a:avLst>
                  <a:gd name="adj" fmla="val 5263"/>
                </a:avLst>
              </a:prstGeom>
              <a:solidFill>
                <a:srgbClr val="55565A"/>
              </a:solidFill>
              <a:ln>
                <a:noFill/>
              </a:ln>
            </p:spPr>
          </p:sp>
          <p:sp>
            <p:nvSpPr>
              <p:cNvPr id="22" name="Ellipse 22"/>
              <p:cNvSpPr/>
              <p:nvPr/>
            </p:nvSpPr>
            <p:spPr>
              <a:xfrm>
                <a:off x="533400" y="3009900"/>
                <a:ext cx="457200" cy="457200"/>
              </a:xfrm>
              <a:prstGeom prst="ellipse">
                <a:avLst/>
              </a:prstGeom>
              <a:solidFill>
                <a:srgbClr val="FFFFFF"/>
              </a:solidFill>
              <a:ln>
                <a:noFill/>
              </a:ln>
            </p:spPr>
          </p:sp>
          <p:grpSp>
            <p:nvGrpSpPr>
              <p:cNvPr id="27" name="Group 27"/>
              <p:cNvGrpSpPr/>
              <p:nvPr/>
            </p:nvGrpSpPr>
            <p:grpSpPr>
              <a:xfrm>
                <a:off x="704850" y="3152775"/>
                <a:ext cx="133350" cy="190500"/>
                <a:chOff x="704850" y="3152775"/>
                <a:chExt cx="133350" cy="190500"/>
              </a:xfrm>
            </p:grpSpPr>
            <p:sp>
              <p:nvSpPr>
                <p:cNvPr id="23" name="Freeform 23"/>
                <p:cNvSpPr/>
                <p:nvPr/>
              </p:nvSpPr>
              <p:spPr>
                <a:xfrm>
                  <a:off x="723900" y="31527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55565A"/>
                  </a:solidFill>
                </a:ln>
              </p:spPr>
            </p:sp>
            <p:sp>
              <p:nvSpPr>
                <p:cNvPr id="24" name="Freeform 24"/>
                <p:cNvSpPr/>
                <p:nvPr/>
              </p:nvSpPr>
              <p:spPr>
                <a:xfrm>
                  <a:off x="704850" y="3267075"/>
                  <a:ext cx="85801" cy="57150"/>
                </a:xfrm>
                <a:custGeom>
                  <a:avLst/>
                  <a:gdLst/>
                  <a:ahLst/>
                  <a:cxnLst/>
                  <a:rect l="l" t="t" r="r" b="b"/>
                  <a:pathLst>
                    <a:path w="85801" h="57150">
                      <a:moveTo>
                        <a:pt x="0" y="57150"/>
                      </a:moveTo>
                      <a:lnTo>
                        <a:pt x="0" y="38100"/>
                      </a:lnTo>
                      <a:cubicBezTo>
                        <a:pt x="0" y="17058"/>
                        <a:pt x="17058" y="0"/>
                        <a:pt x="38100" y="0"/>
                      </a:cubicBezTo>
                      <a:lnTo>
                        <a:pt x="76200" y="0"/>
                      </a:lnTo>
                      <a:cubicBezTo>
                        <a:pt x="79515" y="0"/>
                        <a:pt x="82734" y="429"/>
                        <a:pt x="85801" y="1219"/>
                      </a:cubicBezTo>
                    </a:path>
                  </a:pathLst>
                </a:custGeom>
                <a:noFill/>
                <a:ln w="19050">
                  <a:solidFill>
                    <a:srgbClr val="55565A"/>
                  </a:solidFill>
                </a:ln>
              </p:spPr>
            </p:sp>
            <p:sp>
              <p:nvSpPr>
                <p:cNvPr id="25" name="Freeform 25"/>
                <p:cNvSpPr/>
                <p:nvPr/>
              </p:nvSpPr>
              <p:spPr>
                <a:xfrm>
                  <a:off x="828675" y="3276600"/>
                  <a:ext cx="9525" cy="28575"/>
                </a:xfrm>
                <a:custGeom>
                  <a:avLst/>
                  <a:gdLst/>
                  <a:ahLst/>
                  <a:cxnLst/>
                  <a:rect l="l" t="t" r="r" b="b"/>
                  <a:pathLst>
                    <a:path w="9525" h="28575">
                      <a:moveTo>
                        <a:pt x="0" y="0"/>
                      </a:moveTo>
                      <a:lnTo>
                        <a:pt x="0" y="28575"/>
                      </a:lnTo>
                    </a:path>
                  </a:pathLst>
                </a:custGeom>
                <a:noFill/>
                <a:ln w="19050">
                  <a:solidFill>
                    <a:srgbClr val="55565A"/>
                  </a:solidFill>
                </a:ln>
              </p:spPr>
            </p:sp>
            <p:sp>
              <p:nvSpPr>
                <p:cNvPr id="26" name="Freeform 26"/>
                <p:cNvSpPr/>
                <p:nvPr/>
              </p:nvSpPr>
              <p:spPr>
                <a:xfrm>
                  <a:off x="828675" y="3333750"/>
                  <a:ext cx="9525" cy="9525"/>
                </a:xfrm>
                <a:custGeom>
                  <a:avLst/>
                  <a:gdLst/>
                  <a:ahLst/>
                  <a:cxnLst/>
                  <a:rect l="l" t="t" r="r" b="b"/>
                  <a:pathLst>
                    <a:path w="9525" h="9525">
                      <a:moveTo>
                        <a:pt x="0" y="0"/>
                      </a:moveTo>
                      <a:lnTo>
                        <a:pt x="0" y="95"/>
                      </a:lnTo>
                    </a:path>
                  </a:pathLst>
                </a:custGeom>
                <a:noFill/>
                <a:ln w="19050">
                  <a:solidFill>
                    <a:srgbClr val="55565A"/>
                  </a:solidFill>
                </a:ln>
              </p:spPr>
            </p:sp>
          </p:grpSp>
          <p:sp>
            <p:nvSpPr>
              <p:cNvPr id="28" name="TextBox 28"/>
              <p:cNvSpPr txBox="1"/>
              <p:nvPr/>
            </p:nvSpPr>
            <p:spPr>
              <a:xfrm>
                <a:off x="1117854" y="3051810"/>
                <a:ext cx="162763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信号二：关系温度下降</a:t>
                </a:r>
              </a:p>
            </p:txBody>
          </p:sp>
          <p:sp>
            <p:nvSpPr>
              <p:cNvPr id="29" name="TextBox 29"/>
              <p:cNvSpPr txBox="1"/>
              <p:nvPr/>
            </p:nvSpPr>
            <p:spPr>
              <a:xfrm>
                <a:off x="1119188" y="3331845"/>
                <a:ext cx="2656827"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回复变慢(&gt;48h)，拜访被拒，高层不再见我方。​</a:t>
                </a:r>
              </a:p>
            </p:txBody>
          </p:sp>
        </p:grpSp>
        <p:grpSp>
          <p:nvGrpSpPr>
            <p:cNvPr id="41" name="signal-3"/>
            <p:cNvGrpSpPr/>
            <p:nvPr/>
          </p:nvGrpSpPr>
          <p:grpSpPr>
            <a:xfrm>
              <a:off x="381000" y="3695700"/>
              <a:ext cx="4953000" cy="723900"/>
              <a:chOff x="381000" y="3695700"/>
              <a:chExt cx="4953000" cy="723900"/>
            </a:xfrm>
          </p:grpSpPr>
          <p:sp>
            <p:nvSpPr>
              <p:cNvPr id="31" name="Rectangle 31"/>
              <p:cNvSpPr/>
              <p:nvPr/>
            </p:nvSpPr>
            <p:spPr>
              <a:xfrm>
                <a:off x="381000" y="3695700"/>
                <a:ext cx="4953000" cy="723900"/>
              </a:xfrm>
              <a:prstGeom prst="roundRect">
                <a:avLst>
                  <a:gd name="adj" fmla="val 5263"/>
                </a:avLst>
              </a:prstGeom>
              <a:solidFill>
                <a:srgbClr val="8B321E"/>
              </a:solidFill>
              <a:ln>
                <a:noFill/>
              </a:ln>
            </p:spPr>
          </p:sp>
          <p:sp>
            <p:nvSpPr>
              <p:cNvPr id="32" name="Ellipse 32"/>
              <p:cNvSpPr/>
              <p:nvPr/>
            </p:nvSpPr>
            <p:spPr>
              <a:xfrm>
                <a:off x="533400" y="3829050"/>
                <a:ext cx="457200" cy="457200"/>
              </a:xfrm>
              <a:prstGeom prst="ellipse">
                <a:avLst/>
              </a:prstGeom>
              <a:solidFill>
                <a:srgbClr val="FFFFFF"/>
              </a:solidFill>
              <a:ln>
                <a:noFill/>
              </a:ln>
            </p:spPr>
          </p:sp>
          <p:grpSp>
            <p:nvGrpSpPr>
              <p:cNvPr id="38" name="Group 38"/>
              <p:cNvGrpSpPr/>
              <p:nvPr/>
            </p:nvGrpSpPr>
            <p:grpSpPr>
              <a:xfrm>
                <a:off x="676275" y="3971925"/>
                <a:ext cx="171450" cy="171450"/>
                <a:chOff x="676275" y="3971925"/>
                <a:chExt cx="171450" cy="171450"/>
              </a:xfrm>
            </p:grpSpPr>
            <p:sp>
              <p:nvSpPr>
                <p:cNvPr id="33" name="Freeform 33"/>
                <p:cNvSpPr/>
                <p:nvPr/>
              </p:nvSpPr>
              <p:spPr>
                <a:xfrm>
                  <a:off x="742950" y="39719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8B321E"/>
                  </a:solidFill>
                </a:ln>
              </p:spPr>
            </p:sp>
            <p:sp>
              <p:nvSpPr>
                <p:cNvPr id="34" name="Freeform 34"/>
                <p:cNvSpPr/>
                <p:nvPr/>
              </p:nvSpPr>
              <p:spPr>
                <a:xfrm>
                  <a:off x="676275" y="41052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8B321E"/>
                  </a:solidFill>
                </a:ln>
              </p:spPr>
            </p:sp>
            <p:sp>
              <p:nvSpPr>
                <p:cNvPr id="35" name="Freeform 35"/>
                <p:cNvSpPr/>
                <p:nvPr/>
              </p:nvSpPr>
              <p:spPr>
                <a:xfrm>
                  <a:off x="809625" y="41052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8B321E"/>
                  </a:solidFill>
                </a:ln>
              </p:spPr>
            </p:sp>
            <p:sp>
              <p:nvSpPr>
                <p:cNvPr id="36" name="Freeform 36"/>
                <p:cNvSpPr/>
                <p:nvPr/>
              </p:nvSpPr>
              <p:spPr>
                <a:xfrm>
                  <a:off x="709612" y="4067175"/>
                  <a:ext cx="104775" cy="42862"/>
                </a:xfrm>
                <a:custGeom>
                  <a:avLst/>
                  <a:gdLst/>
                  <a:ahLst/>
                  <a:cxnLst/>
                  <a:rect l="l" t="t" r="r" b="b"/>
                  <a:pathLst>
                    <a:path w="104775" h="42862">
                      <a:moveTo>
                        <a:pt x="0" y="42862"/>
                      </a:moveTo>
                      <a:lnTo>
                        <a:pt x="52388" y="0"/>
                      </a:lnTo>
                      <a:lnTo>
                        <a:pt x="104775" y="42862"/>
                      </a:lnTo>
                    </a:path>
                  </a:pathLst>
                </a:custGeom>
                <a:noFill/>
                <a:ln w="19050">
                  <a:solidFill>
                    <a:srgbClr val="8B321E"/>
                  </a:solidFill>
                </a:ln>
              </p:spPr>
            </p:sp>
            <p:sp>
              <p:nvSpPr>
                <p:cNvPr id="37" name="Freeform 37"/>
                <p:cNvSpPr/>
                <p:nvPr/>
              </p:nvSpPr>
              <p:spPr>
                <a:xfrm>
                  <a:off x="762000" y="4010025"/>
                  <a:ext cx="9525" cy="57150"/>
                </a:xfrm>
                <a:custGeom>
                  <a:avLst/>
                  <a:gdLst/>
                  <a:ahLst/>
                  <a:cxnLst/>
                  <a:rect l="l" t="t" r="r" b="b"/>
                  <a:pathLst>
                    <a:path w="9525" h="57150">
                      <a:moveTo>
                        <a:pt x="0" y="0"/>
                      </a:moveTo>
                      <a:lnTo>
                        <a:pt x="0" y="57150"/>
                      </a:lnTo>
                    </a:path>
                  </a:pathLst>
                </a:custGeom>
                <a:noFill/>
                <a:ln w="19050">
                  <a:solidFill>
                    <a:srgbClr val="8B321E"/>
                  </a:solidFill>
                </a:ln>
              </p:spPr>
            </p:sp>
          </p:grpSp>
          <p:sp>
            <p:nvSpPr>
              <p:cNvPr id="39" name="TextBox 39"/>
              <p:cNvSpPr txBox="1"/>
              <p:nvPr/>
            </p:nvSpPr>
            <p:spPr>
              <a:xfrm>
                <a:off x="1117854" y="3870960"/>
                <a:ext cx="13045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信号三：内部信号</a:t>
                </a:r>
              </a:p>
            </p:txBody>
          </p:sp>
          <p:sp>
            <p:nvSpPr>
              <p:cNvPr id="40" name="TextBox 40"/>
              <p:cNvSpPr txBox="1"/>
              <p:nvPr/>
            </p:nvSpPr>
            <p:spPr>
              <a:xfrm>
                <a:off x="1119188" y="4150995"/>
                <a:ext cx="2432685"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教练透露竞对跟进，人事变动，未解决投诉。</a:t>
                </a:r>
              </a:p>
            </p:txBody>
          </p:sp>
        </p:grpSp>
        <p:grpSp>
          <p:nvGrpSpPr>
            <p:cNvPr id="50" name="signal-4"/>
            <p:cNvGrpSpPr/>
            <p:nvPr/>
          </p:nvGrpSpPr>
          <p:grpSpPr>
            <a:xfrm>
              <a:off x="381000" y="4514850"/>
              <a:ext cx="4953000" cy="723900"/>
              <a:chOff x="381000" y="4514850"/>
              <a:chExt cx="4953000" cy="723900"/>
            </a:xfrm>
          </p:grpSpPr>
          <p:sp>
            <p:nvSpPr>
              <p:cNvPr id="42" name="Rectangle 42"/>
              <p:cNvSpPr/>
              <p:nvPr/>
            </p:nvSpPr>
            <p:spPr>
              <a:xfrm>
                <a:off x="381000" y="4514850"/>
                <a:ext cx="4953000" cy="723900"/>
              </a:xfrm>
              <a:prstGeom prst="roundRect">
                <a:avLst>
                  <a:gd name="adj" fmla="val 5263"/>
                </a:avLst>
              </a:prstGeom>
              <a:solidFill>
                <a:srgbClr val="55565A"/>
              </a:solidFill>
              <a:ln>
                <a:noFill/>
              </a:ln>
            </p:spPr>
          </p:sp>
          <p:sp>
            <p:nvSpPr>
              <p:cNvPr id="43" name="Ellipse 43"/>
              <p:cNvSpPr/>
              <p:nvPr/>
            </p:nvSpPr>
            <p:spPr>
              <a:xfrm>
                <a:off x="533400" y="4648200"/>
                <a:ext cx="457200" cy="457200"/>
              </a:xfrm>
              <a:prstGeom prst="ellipse">
                <a:avLst/>
              </a:prstGeom>
              <a:solidFill>
                <a:srgbClr val="FFFFFF"/>
              </a:solidFill>
              <a:ln>
                <a:noFill/>
              </a:ln>
            </p:spPr>
          </p:sp>
          <p:grpSp>
            <p:nvGrpSpPr>
              <p:cNvPr id="47" name="Group 47"/>
              <p:cNvGrpSpPr/>
              <p:nvPr/>
            </p:nvGrpSpPr>
            <p:grpSpPr>
              <a:xfrm>
                <a:off x="676275" y="4800204"/>
                <a:ext cx="171450" cy="152796"/>
                <a:chOff x="676275" y="4800204"/>
                <a:chExt cx="171450" cy="152796"/>
              </a:xfrm>
            </p:grpSpPr>
            <p:sp>
              <p:nvSpPr>
                <p:cNvPr id="44" name="Freeform 44"/>
                <p:cNvSpPr/>
                <p:nvPr/>
              </p:nvSpPr>
              <p:spPr>
                <a:xfrm>
                  <a:off x="819150" y="4838700"/>
                  <a:ext cx="28575" cy="57150"/>
                </a:xfrm>
                <a:custGeom>
                  <a:avLst/>
                  <a:gdLst/>
                  <a:ahLst/>
                  <a:cxnLst/>
                  <a:rect l="l" t="t" r="r" b="b"/>
                  <a:pathLst>
                    <a:path w="28575" h="57150">
                      <a:moveTo>
                        <a:pt x="0" y="0"/>
                      </a:moveTo>
                      <a:cubicBezTo>
                        <a:pt x="15782" y="0"/>
                        <a:pt x="28575" y="12793"/>
                        <a:pt x="28575" y="28575"/>
                      </a:cubicBezTo>
                      <a:cubicBezTo>
                        <a:pt x="28575" y="44357"/>
                        <a:pt x="15782" y="57150"/>
                        <a:pt x="0" y="57150"/>
                      </a:cubicBezTo>
                    </a:path>
                  </a:pathLst>
                </a:custGeom>
                <a:noFill/>
                <a:ln w="19050">
                  <a:solidFill>
                    <a:srgbClr val="55565A"/>
                  </a:solidFill>
                </a:ln>
              </p:spPr>
            </p:sp>
            <p:sp>
              <p:nvSpPr>
                <p:cNvPr id="45" name="Freeform 45"/>
                <p:cNvSpPr/>
                <p:nvPr/>
              </p:nvSpPr>
              <p:spPr>
                <a:xfrm>
                  <a:off x="714375" y="4838700"/>
                  <a:ext cx="28575" cy="114300"/>
                </a:xfrm>
                <a:custGeom>
                  <a:avLst/>
                  <a:gdLst/>
                  <a:ahLst/>
                  <a:cxnLst/>
                  <a:rect l="l" t="t" r="r" b="b"/>
                  <a:pathLst>
                    <a:path w="28575" h="114300">
                      <a:moveTo>
                        <a:pt x="28575" y="0"/>
                      </a:moveTo>
                      <a:lnTo>
                        <a:pt x="28575" y="104775"/>
                      </a:lnTo>
                      <a:cubicBezTo>
                        <a:pt x="28575" y="110036"/>
                        <a:pt x="24311" y="114300"/>
                        <a:pt x="19050" y="114300"/>
                      </a:cubicBezTo>
                      <a:lnTo>
                        <a:pt x="9525" y="114300"/>
                      </a:lnTo>
                      <a:cubicBezTo>
                        <a:pt x="4264" y="114300"/>
                        <a:pt x="0" y="110036"/>
                        <a:pt x="0" y="104775"/>
                      </a:cubicBezTo>
                      <a:lnTo>
                        <a:pt x="0" y="57150"/>
                      </a:lnTo>
                    </a:path>
                  </a:pathLst>
                </a:custGeom>
                <a:noFill/>
                <a:ln w="19050">
                  <a:solidFill>
                    <a:srgbClr val="55565A"/>
                  </a:solidFill>
                </a:ln>
              </p:spPr>
            </p:sp>
            <p:sp>
              <p:nvSpPr>
                <p:cNvPr id="46" name="Freeform 46"/>
                <p:cNvSpPr/>
                <p:nvPr/>
              </p:nvSpPr>
              <p:spPr>
                <a:xfrm>
                  <a:off x="676275" y="4800204"/>
                  <a:ext cx="142877" cy="134143"/>
                </a:xfrm>
                <a:custGeom>
                  <a:avLst/>
                  <a:gdLst/>
                  <a:ahLst/>
                  <a:cxnLst/>
                  <a:rect l="l" t="t" r="r" b="b"/>
                  <a:pathLst>
                    <a:path w="142877" h="134143">
                      <a:moveTo>
                        <a:pt x="85725" y="38496"/>
                      </a:moveTo>
                      <a:lnTo>
                        <a:pt x="128816" y="2587"/>
                      </a:lnTo>
                      <a:cubicBezTo>
                        <a:pt x="131372" y="458"/>
                        <a:pt x="134929" y="0"/>
                        <a:pt x="137941" y="1412"/>
                      </a:cubicBezTo>
                      <a:cubicBezTo>
                        <a:pt x="140954" y="2824"/>
                        <a:pt x="142877" y="5852"/>
                        <a:pt x="142875" y="9178"/>
                      </a:cubicBezTo>
                      <a:lnTo>
                        <a:pt x="142875" y="124964"/>
                      </a:lnTo>
                      <a:cubicBezTo>
                        <a:pt x="142877" y="128291"/>
                        <a:pt x="140954" y="131318"/>
                        <a:pt x="137941" y="132730"/>
                      </a:cubicBezTo>
                      <a:cubicBezTo>
                        <a:pt x="134929" y="134143"/>
                        <a:pt x="131372" y="133685"/>
                        <a:pt x="128816" y="131556"/>
                      </a:cubicBezTo>
                      <a:lnTo>
                        <a:pt x="85725" y="95646"/>
                      </a:lnTo>
                      <a:lnTo>
                        <a:pt x="9525" y="95646"/>
                      </a:lnTo>
                      <a:cubicBezTo>
                        <a:pt x="4264" y="95646"/>
                        <a:pt x="0" y="91382"/>
                        <a:pt x="0" y="86121"/>
                      </a:cubicBezTo>
                      <a:lnTo>
                        <a:pt x="0" y="48021"/>
                      </a:lnTo>
                      <a:cubicBezTo>
                        <a:pt x="0" y="42761"/>
                        <a:pt x="4264" y="38496"/>
                        <a:pt x="9525" y="38496"/>
                      </a:cubicBezTo>
                      <a:lnTo>
                        <a:pt x="85725" y="38496"/>
                      </a:lnTo>
                    </a:path>
                  </a:pathLst>
                </a:custGeom>
                <a:noFill/>
                <a:ln w="19050">
                  <a:solidFill>
                    <a:srgbClr val="55565A"/>
                  </a:solidFill>
                </a:ln>
              </p:spPr>
            </p:sp>
          </p:grpSp>
          <p:sp>
            <p:nvSpPr>
              <p:cNvPr id="48" name="TextBox 48"/>
              <p:cNvSpPr txBox="1"/>
              <p:nvPr/>
            </p:nvSpPr>
            <p:spPr>
              <a:xfrm>
                <a:off x="1117854" y="4690110"/>
                <a:ext cx="13045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信号四：市场信号</a:t>
                </a:r>
              </a:p>
            </p:txBody>
          </p:sp>
          <p:sp>
            <p:nvSpPr>
              <p:cNvPr id="49" name="TextBox 49"/>
              <p:cNvSpPr txBox="1"/>
              <p:nvPr/>
            </p:nvSpPr>
            <p:spPr>
              <a:xfrm>
                <a:off x="1119188" y="4970145"/>
                <a:ext cx="194805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竞对动作明显，客户参加竞对活动。</a:t>
                </a:r>
              </a:p>
            </p:txBody>
          </p:sp>
        </p:grpSp>
        <p:grpSp>
          <p:nvGrpSpPr>
            <p:cNvPr id="59" name="signal-5"/>
            <p:cNvGrpSpPr/>
            <p:nvPr/>
          </p:nvGrpSpPr>
          <p:grpSpPr>
            <a:xfrm>
              <a:off x="381000" y="5334000"/>
              <a:ext cx="4953000" cy="723900"/>
              <a:chOff x="381000" y="5334000"/>
              <a:chExt cx="4953000" cy="723900"/>
            </a:xfrm>
          </p:grpSpPr>
          <p:sp>
            <p:nvSpPr>
              <p:cNvPr id="51" name="Rectangle 51"/>
              <p:cNvSpPr/>
              <p:nvPr/>
            </p:nvSpPr>
            <p:spPr>
              <a:xfrm>
                <a:off x="381000" y="5334000"/>
                <a:ext cx="4953000" cy="723900"/>
              </a:xfrm>
              <a:prstGeom prst="roundRect">
                <a:avLst>
                  <a:gd name="adj" fmla="val 5263"/>
                </a:avLst>
              </a:prstGeom>
              <a:solidFill>
                <a:srgbClr val="8B321E"/>
              </a:solidFill>
              <a:ln>
                <a:noFill/>
              </a:ln>
            </p:spPr>
          </p:sp>
          <p:sp>
            <p:nvSpPr>
              <p:cNvPr id="52" name="Ellipse 52"/>
              <p:cNvSpPr/>
              <p:nvPr/>
            </p:nvSpPr>
            <p:spPr>
              <a:xfrm>
                <a:off x="533400" y="5467350"/>
                <a:ext cx="457200" cy="457200"/>
              </a:xfrm>
              <a:prstGeom prst="ellipse">
                <a:avLst/>
              </a:prstGeom>
              <a:solidFill>
                <a:srgbClr val="FFFFFF"/>
              </a:solidFill>
              <a:ln>
                <a:noFill/>
              </a:ln>
            </p:spPr>
          </p:sp>
          <p:grpSp>
            <p:nvGrpSpPr>
              <p:cNvPr id="56" name="Group 56"/>
              <p:cNvGrpSpPr/>
              <p:nvPr/>
            </p:nvGrpSpPr>
            <p:grpSpPr>
              <a:xfrm>
                <a:off x="665939" y="5607061"/>
                <a:ext cx="192114" cy="165051"/>
                <a:chOff x="665939" y="5607061"/>
                <a:chExt cx="192114" cy="165051"/>
              </a:xfrm>
            </p:grpSpPr>
            <p:sp>
              <p:nvSpPr>
                <p:cNvPr id="53" name="Freeform 53"/>
                <p:cNvSpPr/>
                <p:nvPr/>
              </p:nvSpPr>
              <p:spPr>
                <a:xfrm>
                  <a:off x="762000" y="5667375"/>
                  <a:ext cx="9525" cy="38100"/>
                </a:xfrm>
                <a:custGeom>
                  <a:avLst/>
                  <a:gdLst/>
                  <a:ahLst/>
                  <a:cxnLst/>
                  <a:rect l="l" t="t" r="r" b="b"/>
                  <a:pathLst>
                    <a:path w="9525" h="38100">
                      <a:moveTo>
                        <a:pt x="0" y="0"/>
                      </a:moveTo>
                      <a:lnTo>
                        <a:pt x="0" y="38100"/>
                      </a:lnTo>
                    </a:path>
                  </a:pathLst>
                </a:custGeom>
                <a:noFill/>
                <a:ln w="19050">
                  <a:solidFill>
                    <a:srgbClr val="8B321E"/>
                  </a:solidFill>
                </a:ln>
              </p:spPr>
            </p:sp>
            <p:sp>
              <p:nvSpPr>
                <p:cNvPr id="54" name="Freeform 54"/>
                <p:cNvSpPr/>
                <p:nvPr/>
              </p:nvSpPr>
              <p:spPr>
                <a:xfrm>
                  <a:off x="665939" y="560706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8B321E"/>
                  </a:solidFill>
                </a:ln>
              </p:spPr>
            </p:sp>
            <p:sp>
              <p:nvSpPr>
                <p:cNvPr id="55" name="Freeform 55"/>
                <p:cNvSpPr/>
                <p:nvPr/>
              </p:nvSpPr>
              <p:spPr>
                <a:xfrm>
                  <a:off x="762000" y="5734050"/>
                  <a:ext cx="9525" cy="9525"/>
                </a:xfrm>
                <a:custGeom>
                  <a:avLst/>
                  <a:gdLst/>
                  <a:ahLst/>
                  <a:cxnLst/>
                  <a:rect l="l" t="t" r="r" b="b"/>
                  <a:pathLst>
                    <a:path w="9525" h="9525">
                      <a:moveTo>
                        <a:pt x="0" y="0"/>
                      </a:moveTo>
                      <a:lnTo>
                        <a:pt x="95" y="0"/>
                      </a:lnTo>
                    </a:path>
                  </a:pathLst>
                </a:custGeom>
                <a:noFill/>
                <a:ln w="19050">
                  <a:solidFill>
                    <a:srgbClr val="8B321E"/>
                  </a:solidFill>
                </a:ln>
              </p:spPr>
            </p:sp>
          </p:grpSp>
          <p:sp>
            <p:nvSpPr>
              <p:cNvPr id="57" name="TextBox 57"/>
              <p:cNvSpPr txBox="1"/>
              <p:nvPr/>
            </p:nvSpPr>
            <p:spPr>
              <a:xfrm>
                <a:off x="1117854" y="5509260"/>
                <a:ext cx="13045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信号五：直接信号</a:t>
                </a:r>
              </a:p>
            </p:txBody>
          </p:sp>
          <p:sp>
            <p:nvSpPr>
              <p:cNvPr id="58" name="TextBox 58"/>
              <p:cNvSpPr txBox="1"/>
              <p:nvPr/>
            </p:nvSpPr>
            <p:spPr>
              <a:xfrm>
                <a:off x="1119188" y="5789295"/>
                <a:ext cx="194805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提出更换供应商，合同到期不续签。</a:t>
                </a:r>
              </a:p>
            </p:txBody>
          </p:sp>
        </p:grpSp>
      </p:grpSp>
      <p:grpSp>
        <p:nvGrpSpPr>
          <p:cNvPr id="85" name="responses"/>
          <p:cNvGrpSpPr/>
          <p:nvPr/>
        </p:nvGrpSpPr>
        <p:grpSpPr>
          <a:xfrm>
            <a:off x="5524500" y="1609725"/>
            <a:ext cx="6286500" cy="4124325"/>
            <a:chOff x="5524500" y="1609725"/>
            <a:chExt cx="6286500" cy="4124325"/>
          </a:xfrm>
        </p:grpSpPr>
        <p:sp>
          <p:nvSpPr>
            <p:cNvPr id="61" name="Ellipse 61"/>
            <p:cNvSpPr/>
            <p:nvPr/>
          </p:nvSpPr>
          <p:spPr>
            <a:xfrm>
              <a:off x="5534025" y="1609725"/>
              <a:ext cx="323850" cy="323850"/>
            </a:xfrm>
            <a:prstGeom prst="ellipse">
              <a:avLst/>
            </a:prstGeom>
            <a:solidFill>
              <a:srgbClr val="8B321E"/>
            </a:solidFill>
            <a:ln>
              <a:noFill/>
            </a:ln>
          </p:spPr>
        </p:sp>
        <p:grpSp>
          <p:nvGrpSpPr>
            <p:cNvPr id="64" name="Group 64"/>
            <p:cNvGrpSpPr/>
            <p:nvPr/>
          </p:nvGrpSpPr>
          <p:grpSpPr>
            <a:xfrm>
              <a:off x="5622015" y="1707356"/>
              <a:ext cx="139505" cy="128588"/>
              <a:chOff x="5622015" y="1707356"/>
              <a:chExt cx="139505" cy="128588"/>
            </a:xfrm>
          </p:grpSpPr>
          <p:sp>
            <p:nvSpPr>
              <p:cNvPr id="62" name="Freeform 62"/>
              <p:cNvSpPr/>
              <p:nvPr/>
            </p:nvSpPr>
            <p:spPr>
              <a:xfrm>
                <a:off x="5622015" y="1707356"/>
                <a:ext cx="139505" cy="127487"/>
              </a:xfrm>
              <a:custGeom>
                <a:avLst/>
                <a:gdLst/>
                <a:ahLst/>
                <a:cxnLst/>
                <a:rect l="l" t="t" r="r" b="b"/>
                <a:pathLst>
                  <a:path w="139505" h="127487">
                    <a:moveTo>
                      <a:pt x="70077" y="127487"/>
                    </a:moveTo>
                    <a:cubicBezTo>
                      <a:pt x="25325" y="113615"/>
                      <a:pt x="0" y="66383"/>
                      <a:pt x="13213" y="21431"/>
                    </a:cubicBezTo>
                    <a:cubicBezTo>
                      <a:pt x="35469" y="22450"/>
                      <a:pt x="57248" y="14763"/>
                      <a:pt x="73935" y="0"/>
                    </a:cubicBezTo>
                    <a:cubicBezTo>
                      <a:pt x="90621" y="14763"/>
                      <a:pt x="112400" y="22450"/>
                      <a:pt x="134656" y="21431"/>
                    </a:cubicBezTo>
                    <a:cubicBezTo>
                      <a:pt x="139505" y="37927"/>
                      <a:pt x="139281" y="55499"/>
                      <a:pt x="134014" y="71866"/>
                    </a:cubicBezTo>
                  </a:path>
                </a:pathLst>
              </a:custGeom>
              <a:noFill/>
              <a:ln w="14288">
                <a:solidFill>
                  <a:srgbClr val="FFFFFF"/>
                </a:solidFill>
              </a:ln>
            </p:spPr>
          </p:sp>
          <p:sp>
            <p:nvSpPr>
              <p:cNvPr id="63" name="Freeform 63"/>
              <p:cNvSpPr/>
              <p:nvPr/>
            </p:nvSpPr>
            <p:spPr>
              <a:xfrm>
                <a:off x="5717381" y="1807369"/>
                <a:ext cx="42862" cy="28575"/>
              </a:xfrm>
              <a:custGeom>
                <a:avLst/>
                <a:gdLst/>
                <a:ahLst/>
                <a:cxnLst/>
                <a:rect l="l" t="t" r="r" b="b"/>
                <a:pathLst>
                  <a:path w="42862" h="28575">
                    <a:moveTo>
                      <a:pt x="0" y="14288"/>
                    </a:moveTo>
                    <a:lnTo>
                      <a:pt x="14288" y="28575"/>
                    </a:lnTo>
                    <a:lnTo>
                      <a:pt x="42862" y="0"/>
                    </a:lnTo>
                  </a:path>
                </a:pathLst>
              </a:custGeom>
              <a:noFill/>
              <a:ln w="14288">
                <a:solidFill>
                  <a:srgbClr val="FFFFFF"/>
                </a:solidFill>
              </a:ln>
            </p:spPr>
          </p:sp>
        </p:grpSp>
        <p:sp>
          <p:nvSpPr>
            <p:cNvPr id="65" name="TextBox 65"/>
            <p:cNvSpPr txBox="1"/>
            <p:nvPr/>
          </p:nvSpPr>
          <p:spPr>
            <a:xfrm>
              <a:off x="5955411" y="1674971"/>
              <a:ext cx="2117242"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客户挽救的三级响应机制</a:t>
              </a:r>
            </a:p>
          </p:txBody>
        </p:sp>
        <p:sp>
          <p:nvSpPr>
            <p:cNvPr id="66" name="Line 66"/>
            <p:cNvSpPr/>
            <p:nvPr/>
          </p:nvSpPr>
          <p:spPr>
            <a:xfrm>
              <a:off x="5524500" y="1924050"/>
              <a:ext cx="6286500" cy="9525"/>
            </a:xfrm>
            <a:custGeom>
              <a:avLst/>
              <a:gdLst/>
              <a:ahLst/>
              <a:cxnLst/>
              <a:rect l="l" t="t" r="r" b="b"/>
              <a:pathLst>
                <a:path w="6286500" h="9525">
                  <a:moveTo>
                    <a:pt x="0" y="0"/>
                  </a:moveTo>
                  <a:lnTo>
                    <a:pt x="6286500" y="0"/>
                  </a:lnTo>
                </a:path>
              </a:pathLst>
            </a:custGeom>
            <a:noFill/>
            <a:ln w="9525">
              <a:solidFill>
                <a:srgbClr val="8B321E"/>
              </a:solidFill>
            </a:ln>
          </p:spPr>
        </p:sp>
        <p:grpSp>
          <p:nvGrpSpPr>
            <p:cNvPr id="72" name="response-3"/>
            <p:cNvGrpSpPr/>
            <p:nvPr/>
          </p:nvGrpSpPr>
          <p:grpSpPr>
            <a:xfrm>
              <a:off x="7715250" y="2076450"/>
              <a:ext cx="4095750" cy="990600"/>
              <a:chOff x="7715250" y="2076450"/>
              <a:chExt cx="4095750" cy="990600"/>
            </a:xfrm>
          </p:grpSpPr>
          <p:sp>
            <p:nvSpPr>
              <p:cNvPr id="67" name="Freeform 67"/>
              <p:cNvSpPr/>
              <p:nvPr/>
            </p:nvSpPr>
            <p:spPr>
              <a:xfrm>
                <a:off x="7715250" y="2076450"/>
                <a:ext cx="1066800" cy="990600"/>
              </a:xfrm>
              <a:prstGeom prst="parallelogram">
                <a:avLst/>
              </a:prstGeom>
              <a:solidFill>
                <a:srgbClr val="8B321E"/>
              </a:solidFill>
              <a:ln>
                <a:noFill/>
              </a:ln>
            </p:spPr>
          </p:sp>
          <p:sp>
            <p:nvSpPr>
              <p:cNvPr id="68" name="Rectangle 68"/>
              <p:cNvSpPr/>
              <p:nvPr/>
            </p:nvSpPr>
            <p:spPr>
              <a:xfrm>
                <a:off x="8858250" y="2076450"/>
                <a:ext cx="2952750" cy="990600"/>
              </a:xfrm>
              <a:prstGeom prst="roundRect">
                <a:avLst>
                  <a:gd name="adj" fmla="val 1923"/>
                </a:avLst>
              </a:prstGeom>
              <a:solidFill>
                <a:srgbClr val="FFFFFF"/>
              </a:solidFill>
              <a:ln w="11430">
                <a:solidFill>
                  <a:srgbClr val="C97263"/>
                </a:solidFill>
              </a:ln>
            </p:spPr>
          </p:sp>
          <p:sp>
            <p:nvSpPr>
              <p:cNvPr id="69" name="TextBox 69"/>
              <p:cNvSpPr txBox="1"/>
              <p:nvPr/>
            </p:nvSpPr>
            <p:spPr>
              <a:xfrm>
                <a:off x="8071849" y="2418874"/>
                <a:ext cx="410752" cy="484060"/>
              </a:xfrm>
              <a:prstGeom prst="rect">
                <a:avLst/>
              </a:prstGeom>
              <a:noFill/>
              <a:ln>
                <a:noFill/>
              </a:ln>
            </p:spPr>
            <p:txBody>
              <a:bodyPr wrap="none" lIns="0" tIns="0" rIns="0" bIns="0" anchor="t" anchorCtr="0">
                <a:spAutoFit/>
              </a:bodyPr>
              <a:lstStyle/>
              <a:p>
                <a:pPr algn="ctr"/>
                <a:r>
                  <a:rPr lang="zh-CN" sz="2480" b="1" dirty="0">
                    <a:solidFill>
                      <a:srgbClr val="FFFFFF"/>
                    </a:solidFill>
                    <a:latin typeface="+mn-lt"/>
                    <a:ea typeface="+mn-ea"/>
                    <a:cs typeface="+mn-cs"/>
                  </a:rPr>
                  <a:t>03</a:t>
                </a:r>
              </a:p>
            </p:txBody>
          </p:sp>
          <p:sp>
            <p:nvSpPr>
              <p:cNvPr id="70" name="TextBox 70"/>
              <p:cNvSpPr txBox="1"/>
              <p:nvPr/>
            </p:nvSpPr>
            <p:spPr>
              <a:xfrm>
                <a:off x="9061704" y="2308860"/>
                <a:ext cx="1466088" cy="234696"/>
              </a:xfrm>
              <a:prstGeom prst="rect">
                <a:avLst/>
              </a:prstGeom>
              <a:noFill/>
              <a:ln>
                <a:noFill/>
              </a:ln>
            </p:spPr>
            <p:txBody>
              <a:bodyPr wrap="none" lIns="0" tIns="0" rIns="0" bIns="0" anchor="t" anchorCtr="0">
                <a:spAutoFit/>
              </a:bodyPr>
              <a:lstStyle/>
              <a:p>
                <a:pPr algn="l"/>
                <a:r>
                  <a:rPr lang="zh-CN" sz="1200" b="1" dirty="0">
                    <a:solidFill>
                      <a:srgbClr val="2B2B2B"/>
                    </a:solidFill>
                    <a:latin typeface="+mn-lt"/>
                    <a:ea typeface="+mn-ea"/>
                    <a:cs typeface="+mn-cs"/>
                  </a:rPr>
                  <a:t>三级响应（信号五）</a:t>
                </a:r>
              </a:p>
            </p:txBody>
          </p:sp>
          <p:sp>
            <p:nvSpPr>
              <p:cNvPr id="71" name="TextBox 71"/>
              <p:cNvSpPr txBox="1"/>
              <p:nvPr/>
            </p:nvSpPr>
            <p:spPr>
              <a:xfrm>
                <a:off x="9063038" y="2603897"/>
                <a:ext cx="1680845" cy="411956"/>
              </a:xfrm>
              <a:prstGeom prst="rect">
                <a:avLst/>
              </a:prstGeom>
              <a:noFill/>
              <a:ln>
                <a:noFill/>
              </a:ln>
            </p:spPr>
            <p:txBody>
              <a:bodyPr wrap="none" lIns="0" tIns="0" rIns="0" bIns="0" anchor="t" anchorCtr="0">
                <a:spAutoFit/>
              </a:bodyPr>
              <a:lstStyle/>
              <a:p>
                <a:pPr algn="l">
                  <a:lnSpc>
                    <a:spcPts val="1800"/>
                  </a:lnSpc>
                </a:pPr>
                <a:r>
                  <a:rPr lang="zh-CN" sz="940" dirty="0">
                    <a:solidFill>
                      <a:srgbClr val="3A3A3A"/>
                    </a:solidFill>
                    <a:latin typeface="+mn-lt"/>
                    <a:ea typeface="+mn-ea"/>
                    <a:cs typeface="+mn-cs"/>
                  </a:rPr>
                  <a:t>CEO级介入，​</a:t>
                </a:r>
                <a:br/>
                <a:r>
                  <a:rPr lang="zh-CN" sz="940" dirty="0">
                    <a:solidFill>
                      <a:srgbClr val="3A3A3A"/>
                    </a:solidFill>
                    <a:latin typeface="+mn-lt"/>
                    <a:ea typeface="+mn-ea"/>
                    <a:cs typeface="+mn-cs"/>
                  </a:rPr>
                  <a:t>战略层面解决，提供特殊资源。</a:t>
                </a:r>
              </a:p>
            </p:txBody>
          </p:sp>
        </p:grpSp>
        <p:grpSp>
          <p:nvGrpSpPr>
            <p:cNvPr id="78" name="response-2"/>
            <p:cNvGrpSpPr/>
            <p:nvPr/>
          </p:nvGrpSpPr>
          <p:grpSpPr>
            <a:xfrm>
              <a:off x="7191375" y="3409950"/>
              <a:ext cx="4619625" cy="990600"/>
              <a:chOff x="7191375" y="3409950"/>
              <a:chExt cx="4619625" cy="990600"/>
            </a:xfrm>
          </p:grpSpPr>
          <p:sp>
            <p:nvSpPr>
              <p:cNvPr id="73" name="Freeform 73"/>
              <p:cNvSpPr/>
              <p:nvPr/>
            </p:nvSpPr>
            <p:spPr>
              <a:xfrm>
                <a:off x="7191375" y="3409950"/>
                <a:ext cx="1066800" cy="990600"/>
              </a:xfrm>
              <a:prstGeom prst="parallelogram">
                <a:avLst/>
              </a:prstGeom>
              <a:solidFill>
                <a:srgbClr val="55565A"/>
              </a:solidFill>
              <a:ln>
                <a:noFill/>
              </a:ln>
            </p:spPr>
          </p:sp>
          <p:sp>
            <p:nvSpPr>
              <p:cNvPr id="74" name="Rectangle 74"/>
              <p:cNvSpPr/>
              <p:nvPr/>
            </p:nvSpPr>
            <p:spPr>
              <a:xfrm>
                <a:off x="8334375" y="3409950"/>
                <a:ext cx="3476625" cy="990600"/>
              </a:xfrm>
              <a:prstGeom prst="roundRect">
                <a:avLst>
                  <a:gd name="adj" fmla="val 1923"/>
                </a:avLst>
              </a:prstGeom>
              <a:solidFill>
                <a:srgbClr val="FFFFFF"/>
              </a:solidFill>
              <a:ln w="11430">
                <a:solidFill>
                  <a:srgbClr val="C97263"/>
                </a:solidFill>
              </a:ln>
            </p:spPr>
          </p:sp>
          <p:sp>
            <p:nvSpPr>
              <p:cNvPr id="75" name="TextBox 75"/>
              <p:cNvSpPr txBox="1"/>
              <p:nvPr/>
            </p:nvSpPr>
            <p:spPr>
              <a:xfrm>
                <a:off x="7547974" y="3752374"/>
                <a:ext cx="410752" cy="484060"/>
              </a:xfrm>
              <a:prstGeom prst="rect">
                <a:avLst/>
              </a:prstGeom>
              <a:noFill/>
              <a:ln>
                <a:noFill/>
              </a:ln>
            </p:spPr>
            <p:txBody>
              <a:bodyPr wrap="none" lIns="0" tIns="0" rIns="0" bIns="0" anchor="t" anchorCtr="0">
                <a:spAutoFit/>
              </a:bodyPr>
              <a:lstStyle/>
              <a:p>
                <a:pPr algn="ctr"/>
                <a:r>
                  <a:rPr lang="zh-CN" sz="2480" b="1" dirty="0">
                    <a:solidFill>
                      <a:srgbClr val="FFFFFF"/>
                    </a:solidFill>
                    <a:latin typeface="+mn-lt"/>
                    <a:ea typeface="+mn-ea"/>
                    <a:cs typeface="+mn-cs"/>
                  </a:rPr>
                  <a:t>02</a:t>
                </a:r>
              </a:p>
            </p:txBody>
          </p:sp>
          <p:sp>
            <p:nvSpPr>
              <p:cNvPr id="76" name="TextBox 76"/>
              <p:cNvSpPr txBox="1"/>
              <p:nvPr/>
            </p:nvSpPr>
            <p:spPr>
              <a:xfrm>
                <a:off x="8537829" y="3642360"/>
                <a:ext cx="1720924" cy="234696"/>
              </a:xfrm>
              <a:prstGeom prst="rect">
                <a:avLst/>
              </a:prstGeom>
              <a:noFill/>
              <a:ln>
                <a:noFill/>
              </a:ln>
            </p:spPr>
            <p:txBody>
              <a:bodyPr wrap="none" lIns="0" tIns="0" rIns="0" bIns="0" anchor="t" anchorCtr="0">
                <a:spAutoFit/>
              </a:bodyPr>
              <a:lstStyle/>
              <a:p>
                <a:pPr algn="l"/>
                <a:r>
                  <a:rPr lang="zh-CN" sz="1200" b="1" dirty="0">
                    <a:solidFill>
                      <a:srgbClr val="2B2B2B"/>
                    </a:solidFill>
                    <a:latin typeface="+mn-lt"/>
                    <a:ea typeface="+mn-ea"/>
                    <a:cs typeface="+mn-cs"/>
                  </a:rPr>
                  <a:t>二级响应（信号三/四）</a:t>
                </a:r>
              </a:p>
            </p:txBody>
          </p:sp>
          <p:sp>
            <p:nvSpPr>
              <p:cNvPr id="77" name="TextBox 77"/>
              <p:cNvSpPr txBox="1"/>
              <p:nvPr/>
            </p:nvSpPr>
            <p:spPr>
              <a:xfrm>
                <a:off x="8539162" y="3937397"/>
                <a:ext cx="1442085" cy="411956"/>
              </a:xfrm>
              <a:prstGeom prst="rect">
                <a:avLst/>
              </a:prstGeom>
              <a:noFill/>
              <a:ln>
                <a:noFill/>
              </a:ln>
            </p:spPr>
            <p:txBody>
              <a:bodyPr wrap="none" lIns="0" tIns="0" rIns="0" bIns="0" anchor="t" anchorCtr="0">
                <a:spAutoFit/>
              </a:bodyPr>
              <a:lstStyle/>
              <a:p>
                <a:pPr algn="l">
                  <a:lnSpc>
                    <a:spcPts val="1800"/>
                  </a:lnSpc>
                </a:pPr>
                <a:r>
                  <a:rPr lang="zh-CN" sz="940" dirty="0">
                    <a:solidFill>
                      <a:srgbClr val="3A3A3A"/>
                    </a:solidFill>
                    <a:latin typeface="+mn-lt"/>
                    <a:ea typeface="+mn-ea"/>
                    <a:cs typeface="+mn-cs"/>
                  </a:rPr>
                  <a:t>销售总监介入，</a:t>
                </a:r>
                <a:br/>
                <a:r>
                  <a:rPr lang="zh-CN" sz="940" dirty="0">
                    <a:solidFill>
                      <a:srgbClr val="3A3A3A"/>
                    </a:solidFill>
                    <a:latin typeface="+mn-lt"/>
                    <a:ea typeface="+mn-ea"/>
                    <a:cs typeface="+mn-cs"/>
                  </a:rPr>
                  <a:t>高层拜访，提出改善方案。</a:t>
                </a:r>
              </a:p>
            </p:txBody>
          </p:sp>
        </p:grpSp>
        <p:grpSp>
          <p:nvGrpSpPr>
            <p:cNvPr id="84" name="response-1"/>
            <p:cNvGrpSpPr/>
            <p:nvPr/>
          </p:nvGrpSpPr>
          <p:grpSpPr>
            <a:xfrm>
              <a:off x="6667500" y="4743450"/>
              <a:ext cx="5143500" cy="990600"/>
              <a:chOff x="6667500" y="4743450"/>
              <a:chExt cx="5143500" cy="990600"/>
            </a:xfrm>
          </p:grpSpPr>
          <p:sp>
            <p:nvSpPr>
              <p:cNvPr id="79" name="Freeform 79"/>
              <p:cNvSpPr/>
              <p:nvPr/>
            </p:nvSpPr>
            <p:spPr>
              <a:xfrm>
                <a:off x="6667500" y="4743450"/>
                <a:ext cx="1066800" cy="990600"/>
              </a:xfrm>
              <a:prstGeom prst="parallelogram">
                <a:avLst/>
              </a:prstGeom>
              <a:solidFill>
                <a:srgbClr val="C97263"/>
              </a:solidFill>
              <a:ln>
                <a:noFill/>
              </a:ln>
            </p:spPr>
          </p:sp>
          <p:sp>
            <p:nvSpPr>
              <p:cNvPr id="80" name="Rectangle 80"/>
              <p:cNvSpPr/>
              <p:nvPr/>
            </p:nvSpPr>
            <p:spPr>
              <a:xfrm>
                <a:off x="7810500" y="4743450"/>
                <a:ext cx="4000500" cy="990600"/>
              </a:xfrm>
              <a:prstGeom prst="roundRect">
                <a:avLst>
                  <a:gd name="adj" fmla="val 1923"/>
                </a:avLst>
              </a:prstGeom>
              <a:solidFill>
                <a:srgbClr val="FFFFFF"/>
              </a:solidFill>
              <a:ln w="11430">
                <a:solidFill>
                  <a:srgbClr val="C97263"/>
                </a:solidFill>
              </a:ln>
            </p:spPr>
          </p:sp>
          <p:sp>
            <p:nvSpPr>
              <p:cNvPr id="81" name="TextBox 81"/>
              <p:cNvSpPr txBox="1"/>
              <p:nvPr/>
            </p:nvSpPr>
            <p:spPr>
              <a:xfrm>
                <a:off x="7024099" y="5085874"/>
                <a:ext cx="410752" cy="484060"/>
              </a:xfrm>
              <a:prstGeom prst="rect">
                <a:avLst/>
              </a:prstGeom>
              <a:noFill/>
              <a:ln>
                <a:noFill/>
              </a:ln>
            </p:spPr>
            <p:txBody>
              <a:bodyPr wrap="none" lIns="0" tIns="0" rIns="0" bIns="0" anchor="t" anchorCtr="0">
                <a:spAutoFit/>
              </a:bodyPr>
              <a:lstStyle/>
              <a:p>
                <a:pPr algn="ctr"/>
                <a:r>
                  <a:rPr lang="zh-CN" sz="2480" b="1" dirty="0">
                    <a:solidFill>
                      <a:srgbClr val="FFFFFF"/>
                    </a:solidFill>
                    <a:latin typeface="+mn-lt"/>
                    <a:ea typeface="+mn-ea"/>
                    <a:cs typeface="+mn-cs"/>
                  </a:rPr>
                  <a:t>01</a:t>
                </a:r>
              </a:p>
            </p:txBody>
          </p:sp>
          <p:sp>
            <p:nvSpPr>
              <p:cNvPr id="82" name="TextBox 82"/>
              <p:cNvSpPr txBox="1"/>
              <p:nvPr/>
            </p:nvSpPr>
            <p:spPr>
              <a:xfrm>
                <a:off x="8013954" y="4975860"/>
                <a:ext cx="1720924" cy="234696"/>
              </a:xfrm>
              <a:prstGeom prst="rect">
                <a:avLst/>
              </a:prstGeom>
              <a:noFill/>
              <a:ln>
                <a:noFill/>
              </a:ln>
            </p:spPr>
            <p:txBody>
              <a:bodyPr wrap="none" lIns="0" tIns="0" rIns="0" bIns="0" anchor="t" anchorCtr="0">
                <a:spAutoFit/>
              </a:bodyPr>
              <a:lstStyle/>
              <a:p>
                <a:pPr algn="l"/>
                <a:r>
                  <a:rPr lang="zh-CN" sz="1200" b="1" dirty="0">
                    <a:solidFill>
                      <a:srgbClr val="C97263"/>
                    </a:solidFill>
                    <a:latin typeface="+mn-lt"/>
                    <a:ea typeface="+mn-ea"/>
                    <a:cs typeface="+mn-cs"/>
                  </a:rPr>
                  <a:t>一级响应（信号一/二）</a:t>
                </a:r>
              </a:p>
            </p:txBody>
          </p:sp>
          <p:sp>
            <p:nvSpPr>
              <p:cNvPr id="83" name="TextBox 83"/>
              <p:cNvSpPr txBox="1"/>
              <p:nvPr/>
            </p:nvSpPr>
            <p:spPr>
              <a:xfrm>
                <a:off x="8015288" y="5270897"/>
                <a:ext cx="1131697" cy="411956"/>
              </a:xfrm>
              <a:prstGeom prst="rect">
                <a:avLst/>
              </a:prstGeom>
              <a:noFill/>
              <a:ln>
                <a:noFill/>
              </a:ln>
            </p:spPr>
            <p:txBody>
              <a:bodyPr wrap="none" lIns="0" tIns="0" rIns="0" bIns="0" anchor="t" anchorCtr="0">
                <a:spAutoFit/>
              </a:bodyPr>
              <a:lstStyle/>
              <a:p>
                <a:pPr algn="l">
                  <a:lnSpc>
                    <a:spcPts val="1800"/>
                  </a:lnSpc>
                </a:pPr>
                <a:r>
                  <a:rPr lang="zh-CN" sz="940" dirty="0">
                    <a:solidFill>
                      <a:srgbClr val="3A3A3A"/>
                    </a:solidFill>
                    <a:latin typeface="+mn-lt"/>
                    <a:ea typeface="+mn-ea"/>
                    <a:cs typeface="+mn-cs"/>
                  </a:rPr>
                  <a:t>KAM升级拜访频次，​</a:t>
                </a:r>
                <a:br/>
                <a:r>
                  <a:rPr lang="zh-CN" sz="940" dirty="0">
                    <a:solidFill>
                      <a:srgbClr val="3A3A3A"/>
                    </a:solidFill>
                    <a:latin typeface="+mn-lt"/>
                    <a:ea typeface="+mn-ea"/>
                    <a:cs typeface="+mn-cs"/>
                  </a:rPr>
                  <a:t>深入了解问题。</a:t>
                </a:r>
              </a:p>
            </p:txBody>
          </p:sp>
        </p:grpSp>
      </p:grpSp>
      <p:sp>
        <p:nvSpPr>
          <p:cNvPr id="86" name="page-num"/>
          <p:cNvSpPr txBox="1"/>
          <p:nvPr/>
        </p:nvSpPr>
        <p:spPr>
          <a:xfrm>
            <a:off x="11582971" y="6532721"/>
            <a:ext cx="235268" cy="278702"/>
          </a:xfrm>
          <a:prstGeom prst="rect">
            <a:avLst/>
          </a:prstGeom>
          <a:noFill/>
          <a:ln>
            <a:noFill/>
          </a:ln>
        </p:spPr>
        <p:txBody>
          <a:bodyPr wrap="none" lIns="0" tIns="0" rIns="0" bIns="0" anchor="t" anchorCtr="0">
            <a:spAutoFit/>
          </a:bodyPr>
          <a:lstStyle/>
          <a:p>
            <a:pPr algn="r"/>
            <a:r>
              <a:rPr lang="zh-CN" sz="1420" b="1" dirty="0">
                <a:solidFill>
                  <a:srgbClr val="3F3F3F"/>
                </a:solidFill>
                <a:latin typeface="+mn-lt"/>
                <a:ea typeface="+mn-ea"/>
                <a:cs typeface="+mn-cs"/>
              </a:rPr>
              <a:t>12</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a:xfrm>
            <a:off x="365760" y="190500"/>
            <a:ext cx="8915400" cy="586740"/>
          </a:xfrm>
          <a:prstGeom prst="rect">
            <a:avLst/>
          </a:prstGeom>
          <a:noFill/>
          <a:ln>
            <a:noFill/>
          </a:ln>
        </p:spPr>
        <p:txBody>
          <a:bodyPr wrap="none" lIns="0" tIns="0" rIns="0" bIns="0" anchor="t" anchorCtr="0">
            <a:spAutoFit/>
          </a:bodyPr>
          <a:lstStyle/>
          <a:p>
            <a:pPr algn="l"/>
            <a:r>
              <a:rPr lang="zh-CN" sz="3000" b="1" dirty="0">
                <a:solidFill>
                  <a:srgbClr val="1A1A1A"/>
                </a:solidFill>
                <a:latin typeface="+mn-lt"/>
                <a:ea typeface="+mn-ea"/>
                <a:cs typeface="+mn-cs"/>
              </a:rPr>
              <a:t>大客户销售团队的配置与管理：人是最关键的变量</a:t>
            </a:r>
          </a:p>
        </p:txBody>
      </p:sp>
      <p:grpSp>
        <p:nvGrpSpPr>
          <p:cNvPr id="13" name="core-bar"/>
          <p:cNvGrpSpPr/>
          <p:nvPr/>
        </p:nvGrpSpPr>
        <p:grpSpPr>
          <a:xfrm>
            <a:off x="381000" y="781050"/>
            <a:ext cx="11430000" cy="609600"/>
            <a:chOff x="381000" y="781050"/>
            <a:chExt cx="11430000" cy="609600"/>
          </a:xfrm>
        </p:grpSpPr>
        <p:sp>
          <p:nvSpPr>
            <p:cNvPr id="3" name="Rectangle 3"/>
            <p:cNvSpPr/>
            <p:nvPr/>
          </p:nvSpPr>
          <p:spPr>
            <a:xfrm>
              <a:off x="381000" y="781050"/>
              <a:ext cx="11430000" cy="609600"/>
            </a:xfrm>
            <a:prstGeom prst="rect">
              <a:avLst/>
            </a:prstGeom>
            <a:solidFill>
              <a:srgbClr val="FFFFFF"/>
            </a:solidFill>
            <a:ln w="14288">
              <a:solidFill>
                <a:srgbClr val="8B321E"/>
              </a:solidFill>
            </a:ln>
          </p:spPr>
        </p:sp>
        <p:sp>
          <p:nvSpPr>
            <p:cNvPr id="4" name="Rectangle 4"/>
            <p:cNvSpPr/>
            <p:nvPr/>
          </p:nvSpPr>
          <p:spPr>
            <a:xfrm>
              <a:off x="533400" y="895350"/>
              <a:ext cx="457200" cy="381000"/>
            </a:xfrm>
            <a:prstGeom prst="roundRect">
              <a:avLst>
                <a:gd name="adj" fmla="val 10000"/>
              </a:avLst>
            </a:prstGeom>
            <a:solidFill>
              <a:srgbClr val="8B321E"/>
            </a:solidFill>
            <a:ln>
              <a:noFill/>
            </a:ln>
          </p:spPr>
        </p:sp>
        <p:grpSp>
          <p:nvGrpSpPr>
            <p:cNvPr id="11" name="Group 11"/>
            <p:cNvGrpSpPr/>
            <p:nvPr/>
          </p:nvGrpSpPr>
          <p:grpSpPr>
            <a:xfrm>
              <a:off x="669131" y="1003300"/>
              <a:ext cx="185737" cy="184943"/>
              <a:chOff x="669131" y="1003300"/>
              <a:chExt cx="185737" cy="184943"/>
            </a:xfrm>
          </p:grpSpPr>
          <p:sp>
            <p:nvSpPr>
              <p:cNvPr id="5" name="Freeform 5"/>
              <p:cNvSpPr/>
              <p:nvPr/>
            </p:nvSpPr>
            <p:spPr>
              <a:xfrm>
                <a:off x="720725" y="1178718"/>
                <a:ext cx="82550" cy="9525"/>
              </a:xfrm>
              <a:custGeom>
                <a:avLst/>
                <a:gdLst/>
                <a:ahLst/>
                <a:cxnLst/>
                <a:rect l="l" t="t" r="r" b="b"/>
                <a:pathLst>
                  <a:path w="82550" h="9525">
                    <a:moveTo>
                      <a:pt x="0" y="0"/>
                    </a:moveTo>
                    <a:lnTo>
                      <a:pt x="82550" y="0"/>
                    </a:lnTo>
                  </a:path>
                </a:pathLst>
              </a:custGeom>
              <a:noFill/>
              <a:ln w="20637">
                <a:solidFill>
                  <a:srgbClr val="FFFFFF"/>
                </a:solidFill>
              </a:ln>
            </p:spPr>
          </p:sp>
          <p:sp>
            <p:nvSpPr>
              <p:cNvPr id="6" name="Freeform 6"/>
              <p:cNvSpPr/>
              <p:nvPr/>
            </p:nvSpPr>
            <p:spPr>
              <a:xfrm>
                <a:off x="762000" y="1137443"/>
                <a:ext cx="9525" cy="41275"/>
              </a:xfrm>
              <a:custGeom>
                <a:avLst/>
                <a:gdLst/>
                <a:ahLst/>
                <a:cxnLst/>
                <a:rect l="l" t="t" r="r" b="b"/>
                <a:pathLst>
                  <a:path w="9525" h="41275">
                    <a:moveTo>
                      <a:pt x="0" y="0"/>
                    </a:moveTo>
                    <a:lnTo>
                      <a:pt x="0" y="41275"/>
                    </a:lnTo>
                  </a:path>
                </a:pathLst>
              </a:custGeom>
              <a:noFill/>
              <a:ln w="20637">
                <a:solidFill>
                  <a:srgbClr val="FFFFFF"/>
                </a:solidFill>
              </a:ln>
            </p:spPr>
          </p:sp>
          <p:sp>
            <p:nvSpPr>
              <p:cNvPr id="7" name="Freeform 7"/>
              <p:cNvSpPr/>
              <p:nvPr/>
            </p:nvSpPr>
            <p:spPr>
              <a:xfrm>
                <a:off x="710406" y="1003300"/>
                <a:ext cx="103187" cy="9525"/>
              </a:xfrm>
              <a:custGeom>
                <a:avLst/>
                <a:gdLst/>
                <a:ahLst/>
                <a:cxnLst/>
                <a:rect l="l" t="t" r="r" b="b"/>
                <a:pathLst>
                  <a:path w="103187" h="9525">
                    <a:moveTo>
                      <a:pt x="0" y="0"/>
                    </a:moveTo>
                    <a:lnTo>
                      <a:pt x="103187" y="0"/>
                    </a:lnTo>
                  </a:path>
                </a:pathLst>
              </a:custGeom>
              <a:noFill/>
              <a:ln w="20637">
                <a:solidFill>
                  <a:srgbClr val="FFFFFF"/>
                </a:solidFill>
              </a:ln>
            </p:spPr>
          </p:sp>
          <p:sp>
            <p:nvSpPr>
              <p:cNvPr id="8" name="Freeform 8"/>
              <p:cNvSpPr/>
              <p:nvPr/>
            </p:nvSpPr>
            <p:spPr>
              <a:xfrm>
                <a:off x="710406" y="1003300"/>
                <a:ext cx="103187" cy="134143"/>
              </a:xfrm>
              <a:custGeom>
                <a:avLst/>
                <a:gdLst/>
                <a:ahLst/>
                <a:cxnLst/>
                <a:rect l="l" t="t" r="r" b="b"/>
                <a:pathLst>
                  <a:path w="103187" h="134143">
                    <a:moveTo>
                      <a:pt x="103187" y="0"/>
                    </a:moveTo>
                    <a:lnTo>
                      <a:pt x="103187" y="82550"/>
                    </a:lnTo>
                    <a:cubicBezTo>
                      <a:pt x="103187" y="111044"/>
                      <a:pt x="80088" y="134143"/>
                      <a:pt x="51594" y="134143"/>
                    </a:cubicBezTo>
                    <a:cubicBezTo>
                      <a:pt x="23099" y="134143"/>
                      <a:pt x="0" y="111044"/>
                      <a:pt x="0" y="82550"/>
                    </a:cubicBezTo>
                    <a:lnTo>
                      <a:pt x="0" y="0"/>
                    </a:lnTo>
                  </a:path>
                </a:pathLst>
              </a:custGeom>
              <a:noFill/>
              <a:ln w="20637">
                <a:solidFill>
                  <a:srgbClr val="FFFFFF"/>
                </a:solidFill>
              </a:ln>
            </p:spPr>
          </p:sp>
          <p:sp>
            <p:nvSpPr>
              <p:cNvPr id="9" name="Freeform 9"/>
              <p:cNvSpPr/>
              <p:nvPr/>
            </p:nvSpPr>
            <p:spPr>
              <a:xfrm>
                <a:off x="669131" y="10342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sp>
            <p:nvSpPr>
              <p:cNvPr id="10" name="Freeform 10"/>
              <p:cNvSpPr/>
              <p:nvPr/>
            </p:nvSpPr>
            <p:spPr>
              <a:xfrm>
                <a:off x="813593" y="1034256"/>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FFFFFF"/>
                </a:solidFill>
              </a:ln>
            </p:spPr>
          </p:sp>
        </p:grpSp>
        <p:sp>
          <p:nvSpPr>
            <p:cNvPr id="12" name="TextBox 12"/>
            <p:cNvSpPr txBox="1"/>
            <p:nvPr/>
          </p:nvSpPr>
          <p:spPr>
            <a:xfrm>
              <a:off x="1210818" y="993458"/>
              <a:ext cx="8807837" cy="322707"/>
            </a:xfrm>
            <a:prstGeom prst="rect">
              <a:avLst/>
            </a:prstGeom>
            <a:noFill/>
            <a:ln>
              <a:noFill/>
            </a:ln>
          </p:spPr>
          <p:txBody>
            <a:bodyPr wrap="none" lIns="0" tIns="0" rIns="0" bIns="0" anchor="t" anchorCtr="0">
              <a:spAutoFit/>
            </a:bodyPr>
            <a:lstStyle/>
            <a:p>
              <a:pPr algn="l"/>
              <a:r>
                <a:rPr lang="zh-CN" sz="1650" b="1" dirty="0">
                  <a:solidFill>
                    <a:srgbClr val="8B321E"/>
                  </a:solidFill>
                  <a:latin typeface="+mn-lt"/>
                  <a:ea typeface="+mn-ea"/>
                  <a:cs typeface="+mn-cs"/>
                </a:rPr>
                <a:t>大客户销售不是一个人的战斗，而是一个团队的协同，客户经理是指挥官，而非独行侠。​</a:t>
              </a:r>
            </a:p>
          </p:txBody>
        </p:sp>
      </p:grpSp>
      <p:grpSp>
        <p:nvGrpSpPr>
          <p:cNvPr id="79" name="roles"/>
          <p:cNvGrpSpPr/>
          <p:nvPr/>
        </p:nvGrpSpPr>
        <p:grpSpPr>
          <a:xfrm>
            <a:off x="381000" y="1674971"/>
            <a:ext cx="5334000" cy="4535329"/>
            <a:chOff x="381000" y="1674971"/>
            <a:chExt cx="5334000" cy="4535329"/>
          </a:xfrm>
        </p:grpSpPr>
        <p:grpSp>
          <p:nvGrpSpPr>
            <p:cNvPr id="18" name="Group 18"/>
            <p:cNvGrpSpPr/>
            <p:nvPr/>
          </p:nvGrpSpPr>
          <p:grpSpPr>
            <a:xfrm>
              <a:off x="404812" y="1700212"/>
              <a:ext cx="142875" cy="142875"/>
              <a:chOff x="404812" y="1700212"/>
              <a:chExt cx="142875" cy="142875"/>
            </a:xfrm>
          </p:grpSpPr>
          <p:sp>
            <p:nvSpPr>
              <p:cNvPr id="14" name="Freeform 14"/>
              <p:cNvSpPr/>
              <p:nvPr/>
            </p:nvSpPr>
            <p:spPr>
              <a:xfrm>
                <a:off x="420687" y="1700212"/>
                <a:ext cx="63500" cy="63500"/>
              </a:xfrm>
              <a:custGeom>
                <a:avLst/>
                <a:gdLst/>
                <a:ahLst/>
                <a:cxnLst/>
                <a:rect l="l" t="t" r="r" b="b"/>
                <a:pathLst>
                  <a:path w="63500" h="63500">
                    <a:moveTo>
                      <a:pt x="0" y="31750"/>
                    </a:moveTo>
                    <a:cubicBezTo>
                      <a:pt x="0" y="49285"/>
                      <a:pt x="14215" y="63500"/>
                      <a:pt x="31750" y="63500"/>
                    </a:cubicBezTo>
                    <a:cubicBezTo>
                      <a:pt x="49285" y="63500"/>
                      <a:pt x="63500" y="49285"/>
                      <a:pt x="63500" y="31750"/>
                    </a:cubicBezTo>
                    <a:cubicBezTo>
                      <a:pt x="63500" y="14215"/>
                      <a:pt x="49285" y="0"/>
                      <a:pt x="31750" y="0"/>
                    </a:cubicBezTo>
                    <a:cubicBezTo>
                      <a:pt x="14215" y="0"/>
                      <a:pt x="0" y="14215"/>
                      <a:pt x="0" y="31750"/>
                    </a:cubicBezTo>
                  </a:path>
                </a:pathLst>
              </a:custGeom>
              <a:noFill/>
              <a:ln w="15875">
                <a:solidFill>
                  <a:srgbClr val="8B321E"/>
                </a:solidFill>
              </a:ln>
            </p:spPr>
          </p:sp>
          <p:sp>
            <p:nvSpPr>
              <p:cNvPr id="15" name="Freeform 15"/>
              <p:cNvSpPr/>
              <p:nvPr/>
            </p:nvSpPr>
            <p:spPr>
              <a:xfrm>
                <a:off x="404812" y="1795462"/>
                <a:ext cx="95250" cy="47625"/>
              </a:xfrm>
              <a:custGeom>
                <a:avLst/>
                <a:gdLst/>
                <a:ahLst/>
                <a:cxnLst/>
                <a:rect l="l" t="t" r="r" b="b"/>
                <a:pathLst>
                  <a:path w="95250" h="47625">
                    <a:moveTo>
                      <a:pt x="0" y="47625"/>
                    </a:moveTo>
                    <a:lnTo>
                      <a:pt x="0" y="31750"/>
                    </a:lnTo>
                    <a:cubicBezTo>
                      <a:pt x="0" y="14215"/>
                      <a:pt x="14215" y="0"/>
                      <a:pt x="31750" y="0"/>
                    </a:cubicBezTo>
                    <a:lnTo>
                      <a:pt x="63500" y="0"/>
                    </a:lnTo>
                    <a:cubicBezTo>
                      <a:pt x="81035" y="0"/>
                      <a:pt x="95250" y="14215"/>
                      <a:pt x="95250" y="31750"/>
                    </a:cubicBezTo>
                    <a:lnTo>
                      <a:pt x="95250" y="47625"/>
                    </a:lnTo>
                  </a:path>
                </a:pathLst>
              </a:custGeom>
              <a:noFill/>
              <a:ln w="15875">
                <a:solidFill>
                  <a:srgbClr val="8B321E"/>
                </a:solidFill>
              </a:ln>
            </p:spPr>
          </p:sp>
          <p:sp>
            <p:nvSpPr>
              <p:cNvPr id="16" name="Freeform 16"/>
              <p:cNvSpPr/>
              <p:nvPr/>
            </p:nvSpPr>
            <p:spPr>
              <a:xfrm>
                <a:off x="508000" y="1701244"/>
                <a:ext cx="23875" cy="61516"/>
              </a:xfrm>
              <a:custGeom>
                <a:avLst/>
                <a:gdLst/>
                <a:ahLst/>
                <a:cxnLst/>
                <a:rect l="l" t="t" r="r" b="b"/>
                <a:pathLst>
                  <a:path w="23875" h="61516">
                    <a:moveTo>
                      <a:pt x="0" y="0"/>
                    </a:moveTo>
                    <a:cubicBezTo>
                      <a:pt x="14049" y="3597"/>
                      <a:pt x="23875" y="16256"/>
                      <a:pt x="23875" y="30758"/>
                    </a:cubicBezTo>
                    <a:cubicBezTo>
                      <a:pt x="23875" y="45260"/>
                      <a:pt x="14049" y="57919"/>
                      <a:pt x="0" y="61516"/>
                    </a:cubicBezTo>
                  </a:path>
                </a:pathLst>
              </a:custGeom>
              <a:noFill/>
              <a:ln w="15875">
                <a:solidFill>
                  <a:srgbClr val="8B321E"/>
                </a:solidFill>
              </a:ln>
            </p:spPr>
          </p:sp>
          <p:sp>
            <p:nvSpPr>
              <p:cNvPr id="17" name="Freeform 17"/>
              <p:cNvSpPr/>
              <p:nvPr/>
            </p:nvSpPr>
            <p:spPr>
              <a:xfrm>
                <a:off x="523875" y="1796653"/>
                <a:ext cx="23812" cy="46434"/>
              </a:xfrm>
              <a:custGeom>
                <a:avLst/>
                <a:gdLst/>
                <a:ahLst/>
                <a:cxnLst/>
                <a:rect l="l" t="t" r="r" b="b"/>
                <a:pathLst>
                  <a:path w="23812" h="46434">
                    <a:moveTo>
                      <a:pt x="23812" y="46434"/>
                    </a:moveTo>
                    <a:lnTo>
                      <a:pt x="23812" y="30559"/>
                    </a:lnTo>
                    <a:cubicBezTo>
                      <a:pt x="23730" y="16149"/>
                      <a:pt x="13953" y="3602"/>
                      <a:pt x="0" y="0"/>
                    </a:cubicBezTo>
                  </a:path>
                </a:pathLst>
              </a:custGeom>
              <a:noFill/>
              <a:ln w="15875">
                <a:solidFill>
                  <a:srgbClr val="8B321E"/>
                </a:solidFill>
              </a:ln>
            </p:spPr>
          </p:sp>
        </p:grpSp>
        <p:sp>
          <p:nvSpPr>
            <p:cNvPr id="19" name="TextBox 19"/>
            <p:cNvSpPr txBox="1"/>
            <p:nvPr/>
          </p:nvSpPr>
          <p:spPr>
            <a:xfrm>
              <a:off x="640461" y="1674971"/>
              <a:ext cx="2308403"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大客户销售团队的标准配置</a:t>
              </a:r>
            </a:p>
          </p:txBody>
        </p:sp>
        <p:sp>
          <p:nvSpPr>
            <p:cNvPr id="20" name="Line 20"/>
            <p:cNvSpPr/>
            <p:nvPr/>
          </p:nvSpPr>
          <p:spPr>
            <a:xfrm>
              <a:off x="381000" y="1924050"/>
              <a:ext cx="5334000" cy="9525"/>
            </a:xfrm>
            <a:custGeom>
              <a:avLst/>
              <a:gdLst/>
              <a:ahLst/>
              <a:cxnLst/>
              <a:rect l="l" t="t" r="r" b="b"/>
              <a:pathLst>
                <a:path w="5334000" h="9525">
                  <a:moveTo>
                    <a:pt x="0" y="0"/>
                  </a:moveTo>
                  <a:lnTo>
                    <a:pt x="5334000" y="0"/>
                  </a:lnTo>
                </a:path>
              </a:pathLst>
            </a:custGeom>
            <a:noFill/>
            <a:ln w="9525">
              <a:solidFill>
                <a:srgbClr val="8B321E"/>
              </a:solidFill>
            </a:ln>
          </p:spPr>
        </p:sp>
        <p:grpSp>
          <p:nvGrpSpPr>
            <p:cNvPr id="33" name="role-kam"/>
            <p:cNvGrpSpPr/>
            <p:nvPr/>
          </p:nvGrpSpPr>
          <p:grpSpPr>
            <a:xfrm>
              <a:off x="381000" y="2057400"/>
              <a:ext cx="5334000" cy="952500"/>
              <a:chOff x="381000" y="2057400"/>
              <a:chExt cx="5334000" cy="952500"/>
            </a:xfrm>
          </p:grpSpPr>
          <p:sp>
            <p:nvSpPr>
              <p:cNvPr id="21" name="Rectangle 21"/>
              <p:cNvSpPr/>
              <p:nvPr/>
            </p:nvSpPr>
            <p:spPr>
              <a:xfrm>
                <a:off x="381000" y="2057400"/>
                <a:ext cx="5334000" cy="952500"/>
              </a:xfrm>
              <a:prstGeom prst="roundRect">
                <a:avLst>
                  <a:gd name="adj" fmla="val 4000"/>
                </a:avLst>
              </a:prstGeom>
              <a:solidFill>
                <a:srgbClr val="8B321E"/>
              </a:solidFill>
              <a:ln>
                <a:noFill/>
              </a:ln>
            </p:spPr>
          </p:sp>
          <p:sp>
            <p:nvSpPr>
              <p:cNvPr id="22" name="Ellipse 22"/>
              <p:cNvSpPr/>
              <p:nvPr/>
            </p:nvSpPr>
            <p:spPr>
              <a:xfrm>
                <a:off x="542925" y="2276475"/>
                <a:ext cx="514350" cy="514350"/>
              </a:xfrm>
              <a:prstGeom prst="ellipse">
                <a:avLst/>
              </a:prstGeom>
              <a:solidFill>
                <a:srgbClr val="FFFFFF"/>
              </a:solidFill>
              <a:ln>
                <a:noFill/>
              </a:ln>
            </p:spPr>
          </p:sp>
          <p:grpSp>
            <p:nvGrpSpPr>
              <p:cNvPr id="25" name="Group 25"/>
              <p:cNvGrpSpPr/>
              <p:nvPr/>
            </p:nvGrpSpPr>
            <p:grpSpPr>
              <a:xfrm>
                <a:off x="733425" y="2433638"/>
                <a:ext cx="133350" cy="200025"/>
                <a:chOff x="733425" y="2433638"/>
                <a:chExt cx="133350" cy="200025"/>
              </a:xfrm>
            </p:grpSpPr>
            <p:sp>
              <p:nvSpPr>
                <p:cNvPr id="23" name="Freeform 23"/>
                <p:cNvSpPr/>
                <p:nvPr/>
              </p:nvSpPr>
              <p:spPr>
                <a:xfrm>
                  <a:off x="755650" y="24336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8B321E"/>
                  </a:solidFill>
                </a:ln>
              </p:spPr>
            </p:sp>
            <p:sp>
              <p:nvSpPr>
                <p:cNvPr id="24" name="Freeform 24"/>
                <p:cNvSpPr/>
                <p:nvPr/>
              </p:nvSpPr>
              <p:spPr>
                <a:xfrm>
                  <a:off x="733425" y="25669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8B321E"/>
                  </a:solidFill>
                </a:ln>
              </p:spPr>
            </p:sp>
          </p:grpSp>
          <p:sp>
            <p:nvSpPr>
              <p:cNvPr id="26" name="TextBox 26"/>
              <p:cNvSpPr txBox="1"/>
              <p:nvPr/>
            </p:nvSpPr>
            <p:spPr>
              <a:xfrm>
                <a:off x="1195388" y="2311241"/>
                <a:ext cx="451079" cy="161925"/>
              </a:xfrm>
              <a:prstGeom prst="rect">
                <a:avLst/>
              </a:prstGeom>
              <a:noFill/>
              <a:ln>
                <a:noFill/>
              </a:ln>
            </p:spPr>
            <p:txBody>
              <a:bodyPr wrap="none" lIns="0" tIns="0" rIns="0" bIns="0" anchor="t" anchorCtr="0">
                <a:spAutoFit/>
              </a:bodyPr>
              <a:lstStyle/>
              <a:p>
                <a:pPr algn="l"/>
                <a:r>
                  <a:rPr lang="zh-CN" sz="820" dirty="0">
                    <a:solidFill>
                      <a:srgbClr val="FFFFFF">
                        <a:alphaMod val="75000"/>
                      </a:srgbClr>
                    </a:solidFill>
                    <a:latin typeface="+mn-lt"/>
                    <a:ea typeface="+mn-ea"/>
                    <a:cs typeface="+mn-cs"/>
                  </a:rPr>
                  <a:t>核心角色</a:t>
                </a:r>
              </a:p>
            </p:txBody>
          </p:sp>
          <p:sp>
            <p:nvSpPr>
              <p:cNvPr id="27" name="TextBox 27"/>
              <p:cNvSpPr txBox="1"/>
              <p:nvPr/>
            </p:nvSpPr>
            <p:spPr>
              <a:xfrm>
                <a:off x="1193864" y="2514362"/>
                <a:ext cx="1356759" cy="242030"/>
              </a:xfrm>
              <a:prstGeom prst="rect">
                <a:avLst/>
              </a:prstGeom>
              <a:noFill/>
              <a:ln>
                <a:noFill/>
              </a:ln>
            </p:spPr>
            <p:txBody>
              <a:bodyPr wrap="none" lIns="0" tIns="0" rIns="0" bIns="0" anchor="t" anchorCtr="0">
                <a:spAutoFit/>
              </a:bodyPr>
              <a:lstStyle/>
              <a:p>
                <a:pPr algn="l"/>
                <a:r>
                  <a:rPr lang="zh-CN" sz="1240" b="1" dirty="0">
                    <a:solidFill>
                      <a:srgbClr val="FFFFFF"/>
                    </a:solidFill>
                    <a:latin typeface="+mn-lt"/>
                    <a:ea typeface="+mn-ea"/>
                    <a:cs typeface="+mn-cs"/>
                  </a:rPr>
                  <a:t>客户经理（KAM）</a:t>
                </a:r>
              </a:p>
            </p:txBody>
          </p:sp>
          <p:sp>
            <p:nvSpPr>
              <p:cNvPr id="28" name="Line 28"/>
              <p:cNvSpPr/>
              <p:nvPr/>
            </p:nvSpPr>
            <p:spPr>
              <a:xfrm>
                <a:off x="2971800" y="2247900"/>
                <a:ext cx="9525" cy="571500"/>
              </a:xfrm>
              <a:custGeom>
                <a:avLst/>
                <a:gdLst/>
                <a:ahLst/>
                <a:cxnLst/>
                <a:rect l="l" t="t" r="r" b="b"/>
                <a:pathLst>
                  <a:path w="9525" h="571500">
                    <a:moveTo>
                      <a:pt x="0" y="0"/>
                    </a:moveTo>
                    <a:lnTo>
                      <a:pt x="0" y="571500"/>
                    </a:lnTo>
                  </a:path>
                </a:pathLst>
              </a:custGeom>
              <a:noFill/>
              <a:ln w="9525">
                <a:solidFill>
                  <a:srgbClr val="FFFFFF">
                    <a:alpha val="40000"/>
                  </a:srgbClr>
                </a:solidFill>
              </a:ln>
            </p:spPr>
          </p:sp>
          <p:sp>
            <p:nvSpPr>
              <p:cNvPr id="29" name="Ellipse 29"/>
              <p:cNvSpPr/>
              <p:nvPr/>
            </p:nvSpPr>
            <p:spPr>
              <a:xfrm>
                <a:off x="3100388" y="2395538"/>
                <a:ext cx="47625" cy="47625"/>
              </a:xfrm>
              <a:prstGeom prst="ellipse">
                <a:avLst/>
              </a:prstGeom>
              <a:solidFill>
                <a:srgbClr val="FFFFFF"/>
              </a:solidFill>
              <a:ln>
                <a:noFill/>
              </a:ln>
            </p:spPr>
          </p:sp>
          <p:sp>
            <p:nvSpPr>
              <p:cNvPr id="30" name="TextBox 30"/>
              <p:cNvSpPr txBox="1"/>
              <p:nvPr/>
            </p:nvSpPr>
            <p:spPr>
              <a:xfrm>
                <a:off x="3214688" y="2360295"/>
                <a:ext cx="1826895"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职责：关系管理、计划制定、谈判</a:t>
                </a:r>
              </a:p>
            </p:txBody>
          </p:sp>
          <p:sp>
            <p:nvSpPr>
              <p:cNvPr id="31" name="Ellipse 31"/>
              <p:cNvSpPr/>
              <p:nvPr/>
            </p:nvSpPr>
            <p:spPr>
              <a:xfrm>
                <a:off x="3100388" y="2643188"/>
                <a:ext cx="47625" cy="47625"/>
              </a:xfrm>
              <a:prstGeom prst="ellipse">
                <a:avLst/>
              </a:prstGeom>
              <a:solidFill>
                <a:srgbClr val="FFFFFF"/>
              </a:solidFill>
              <a:ln>
                <a:noFill/>
              </a:ln>
            </p:spPr>
          </p:sp>
          <p:sp>
            <p:nvSpPr>
              <p:cNvPr id="32" name="TextBox 32"/>
              <p:cNvSpPr txBox="1"/>
              <p:nvPr/>
            </p:nvSpPr>
            <p:spPr>
              <a:xfrm>
                <a:off x="3214688" y="2607945"/>
                <a:ext cx="1728546"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管理</a:t>
                </a:r>
                <a:r>
                  <a:rPr lang="zh-CN" sz="900" b="1" dirty="0">
                    <a:solidFill>
                      <a:srgbClr val="C97263"/>
                    </a:solidFill>
                    <a:latin typeface="+mn-lt"/>
                    <a:ea typeface="+mn-ea"/>
                    <a:cs typeface="+mn-cs"/>
                  </a:rPr>
                  <a:t>S级(1-3家)/A级(5-8家)</a:t>
                </a:r>
                <a:r>
                  <a:rPr lang="zh-CN" sz="900" dirty="0">
                    <a:solidFill>
                      <a:srgbClr val="FFFFFF"/>
                    </a:solidFill>
                    <a:latin typeface="+mn-lt"/>
                    <a:ea typeface="+mn-ea"/>
                    <a:cs typeface="+mn-cs"/>
                  </a:rPr>
                  <a:t>​</a:t>
                </a:r>
              </a:p>
            </p:txBody>
          </p:sp>
        </p:grpSp>
        <p:grpSp>
          <p:nvGrpSpPr>
            <p:cNvPr id="48" name="role-engineer"/>
            <p:cNvGrpSpPr/>
            <p:nvPr/>
          </p:nvGrpSpPr>
          <p:grpSpPr>
            <a:xfrm>
              <a:off x="381000" y="3124200"/>
              <a:ext cx="5334000" cy="952500"/>
              <a:chOff x="381000" y="3124200"/>
              <a:chExt cx="5334000" cy="952500"/>
            </a:xfrm>
          </p:grpSpPr>
          <p:sp>
            <p:nvSpPr>
              <p:cNvPr id="34" name="Rectangle 34"/>
              <p:cNvSpPr/>
              <p:nvPr/>
            </p:nvSpPr>
            <p:spPr>
              <a:xfrm>
                <a:off x="381000" y="3124200"/>
                <a:ext cx="5334000" cy="952500"/>
              </a:xfrm>
              <a:prstGeom prst="roundRect">
                <a:avLst>
                  <a:gd name="adj" fmla="val 4000"/>
                </a:avLst>
              </a:prstGeom>
              <a:solidFill>
                <a:srgbClr val="55565A"/>
              </a:solidFill>
              <a:ln>
                <a:noFill/>
              </a:ln>
            </p:spPr>
          </p:sp>
          <p:sp>
            <p:nvSpPr>
              <p:cNvPr id="35" name="Ellipse 35"/>
              <p:cNvSpPr/>
              <p:nvPr/>
            </p:nvSpPr>
            <p:spPr>
              <a:xfrm>
                <a:off x="542925" y="3343275"/>
                <a:ext cx="514350" cy="514350"/>
              </a:xfrm>
              <a:prstGeom prst="ellipse">
                <a:avLst/>
              </a:prstGeom>
              <a:solidFill>
                <a:srgbClr val="FFFFFF"/>
              </a:solidFill>
              <a:ln>
                <a:noFill/>
              </a:ln>
            </p:spPr>
          </p:sp>
          <p:grpSp>
            <p:nvGrpSpPr>
              <p:cNvPr id="38" name="Group 38"/>
              <p:cNvGrpSpPr/>
              <p:nvPr/>
            </p:nvGrpSpPr>
            <p:grpSpPr>
              <a:xfrm>
                <a:off x="700088" y="3533775"/>
                <a:ext cx="200026" cy="153988"/>
                <a:chOff x="700088" y="3533775"/>
                <a:chExt cx="200026" cy="153988"/>
              </a:xfrm>
            </p:grpSpPr>
            <p:sp>
              <p:nvSpPr>
                <p:cNvPr id="36" name="Freeform 36"/>
                <p:cNvSpPr/>
                <p:nvPr/>
              </p:nvSpPr>
              <p:spPr>
                <a:xfrm>
                  <a:off x="700088" y="3678238"/>
                  <a:ext cx="200026" cy="9525"/>
                </a:xfrm>
                <a:custGeom>
                  <a:avLst/>
                  <a:gdLst/>
                  <a:ahLst/>
                  <a:cxnLst/>
                  <a:rect l="l" t="t" r="r" b="b"/>
                  <a:pathLst>
                    <a:path w="200026" h="9525">
                      <a:moveTo>
                        <a:pt x="0" y="0"/>
                      </a:moveTo>
                      <a:lnTo>
                        <a:pt x="200026" y="0"/>
                      </a:lnTo>
                    </a:path>
                  </a:pathLst>
                </a:custGeom>
                <a:noFill/>
                <a:ln w="22225">
                  <a:solidFill>
                    <a:srgbClr val="55565A"/>
                  </a:solidFill>
                </a:ln>
              </p:spPr>
            </p:sp>
            <p:sp>
              <p:nvSpPr>
                <p:cNvPr id="37" name="Freeform 37"/>
                <p:cNvSpPr/>
                <p:nvPr/>
              </p:nvSpPr>
              <p:spPr>
                <a:xfrm>
                  <a:off x="722313" y="3533775"/>
                  <a:ext cx="155575" cy="111125"/>
                </a:xfrm>
                <a:custGeom>
                  <a:avLst/>
                  <a:gdLst/>
                  <a:ahLst/>
                  <a:cxnLst/>
                  <a:rect l="l" t="t" r="r" b="b"/>
                  <a:pathLst>
                    <a:path w="155575" h="111125">
                      <a:moveTo>
                        <a:pt x="0" y="11113"/>
                      </a:moveTo>
                      <a:cubicBezTo>
                        <a:pt x="0" y="4975"/>
                        <a:pt x="4975" y="0"/>
                        <a:pt x="11113" y="0"/>
                      </a:cubicBezTo>
                      <a:lnTo>
                        <a:pt x="144463" y="0"/>
                      </a:lnTo>
                      <a:cubicBezTo>
                        <a:pt x="150600" y="0"/>
                        <a:pt x="155575" y="4975"/>
                        <a:pt x="155575" y="11113"/>
                      </a:cubicBezTo>
                      <a:lnTo>
                        <a:pt x="155575" y="100013"/>
                      </a:lnTo>
                      <a:cubicBezTo>
                        <a:pt x="155575" y="106150"/>
                        <a:pt x="150600" y="111125"/>
                        <a:pt x="144463" y="111125"/>
                      </a:cubicBezTo>
                      <a:lnTo>
                        <a:pt x="11113" y="111125"/>
                      </a:lnTo>
                      <a:cubicBezTo>
                        <a:pt x="4975" y="111125"/>
                        <a:pt x="0" y="106150"/>
                        <a:pt x="0" y="100013"/>
                      </a:cubicBezTo>
                      <a:lnTo>
                        <a:pt x="0" y="11113"/>
                      </a:lnTo>
                    </a:path>
                  </a:pathLst>
                </a:custGeom>
                <a:noFill/>
                <a:ln w="22225">
                  <a:solidFill>
                    <a:srgbClr val="55565A"/>
                  </a:solidFill>
                </a:ln>
              </p:spPr>
            </p:sp>
          </p:grpSp>
          <p:sp>
            <p:nvSpPr>
              <p:cNvPr id="39" name="TextBox 39"/>
              <p:cNvSpPr txBox="1"/>
              <p:nvPr/>
            </p:nvSpPr>
            <p:spPr>
              <a:xfrm>
                <a:off x="1195388" y="3378041"/>
                <a:ext cx="561467" cy="161925"/>
              </a:xfrm>
              <a:prstGeom prst="rect">
                <a:avLst/>
              </a:prstGeom>
              <a:noFill/>
              <a:ln>
                <a:noFill/>
              </a:ln>
            </p:spPr>
            <p:txBody>
              <a:bodyPr wrap="none" lIns="0" tIns="0" rIns="0" bIns="0" anchor="t" anchorCtr="0">
                <a:spAutoFit/>
              </a:bodyPr>
              <a:lstStyle/>
              <a:p>
                <a:pPr algn="l"/>
                <a:r>
                  <a:rPr lang="zh-CN" sz="820" dirty="0">
                    <a:solidFill>
                      <a:srgbClr val="FFFFFF">
                        <a:alphaMod val="75000"/>
                      </a:srgbClr>
                    </a:solidFill>
                    <a:latin typeface="+mn-lt"/>
                    <a:ea typeface="+mn-ea"/>
                    <a:cs typeface="+mn-cs"/>
                  </a:rPr>
                  <a:t>支持角色一</a:t>
                </a:r>
              </a:p>
            </p:txBody>
          </p:sp>
          <p:sp>
            <p:nvSpPr>
              <p:cNvPr id="40" name="TextBox 40"/>
              <p:cNvSpPr txBox="1"/>
              <p:nvPr/>
            </p:nvSpPr>
            <p:spPr>
              <a:xfrm>
                <a:off x="1193864" y="3581162"/>
                <a:ext cx="1181075" cy="242030"/>
              </a:xfrm>
              <a:prstGeom prst="rect">
                <a:avLst/>
              </a:prstGeom>
              <a:noFill/>
              <a:ln>
                <a:noFill/>
              </a:ln>
            </p:spPr>
            <p:txBody>
              <a:bodyPr wrap="none" lIns="0" tIns="0" rIns="0" bIns="0" anchor="t" anchorCtr="0">
                <a:spAutoFit/>
              </a:bodyPr>
              <a:lstStyle/>
              <a:p>
                <a:pPr algn="l"/>
                <a:r>
                  <a:rPr lang="zh-CN" sz="1240" b="1" dirty="0">
                    <a:solidFill>
                      <a:srgbClr val="FFFFFF"/>
                    </a:solidFill>
                    <a:latin typeface="+mn-lt"/>
                    <a:ea typeface="+mn-ea"/>
                    <a:cs typeface="+mn-cs"/>
                  </a:rPr>
                  <a:t>技术支持工程师</a:t>
                </a:r>
              </a:p>
            </p:txBody>
          </p:sp>
          <p:sp>
            <p:nvSpPr>
              <p:cNvPr id="41" name="Line 41"/>
              <p:cNvSpPr/>
              <p:nvPr/>
            </p:nvSpPr>
            <p:spPr>
              <a:xfrm>
                <a:off x="2971800" y="3314700"/>
                <a:ext cx="9525" cy="571500"/>
              </a:xfrm>
              <a:custGeom>
                <a:avLst/>
                <a:gdLst/>
                <a:ahLst/>
                <a:cxnLst/>
                <a:rect l="l" t="t" r="r" b="b"/>
                <a:pathLst>
                  <a:path w="9525" h="571500">
                    <a:moveTo>
                      <a:pt x="0" y="0"/>
                    </a:moveTo>
                    <a:lnTo>
                      <a:pt x="0" y="571500"/>
                    </a:lnTo>
                  </a:path>
                </a:pathLst>
              </a:custGeom>
              <a:noFill/>
              <a:ln w="9525">
                <a:solidFill>
                  <a:srgbClr val="FFFFFF">
                    <a:alpha val="40000"/>
                  </a:srgbClr>
                </a:solidFill>
              </a:ln>
            </p:spPr>
          </p:sp>
          <p:sp>
            <p:nvSpPr>
              <p:cNvPr id="42" name="Ellipse 42"/>
              <p:cNvSpPr/>
              <p:nvPr/>
            </p:nvSpPr>
            <p:spPr>
              <a:xfrm>
                <a:off x="3100388" y="3462338"/>
                <a:ext cx="47625" cy="47625"/>
              </a:xfrm>
              <a:prstGeom prst="ellipse">
                <a:avLst/>
              </a:prstGeom>
              <a:solidFill>
                <a:srgbClr val="FFFFFF"/>
              </a:solidFill>
              <a:ln>
                <a:noFill/>
              </a:ln>
            </p:spPr>
          </p:sp>
          <p:sp>
            <p:nvSpPr>
              <p:cNvPr id="43" name="TextBox 43"/>
              <p:cNvSpPr txBox="1"/>
              <p:nvPr/>
            </p:nvSpPr>
            <p:spPr>
              <a:xfrm>
                <a:off x="3214688" y="3427095"/>
                <a:ext cx="134226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职责：方案设计、演示、</a:t>
                </a:r>
              </a:p>
            </p:txBody>
          </p:sp>
          <p:sp>
            <p:nvSpPr>
              <p:cNvPr id="44" name="Ellipse 44"/>
              <p:cNvSpPr/>
              <p:nvPr/>
            </p:nvSpPr>
            <p:spPr>
              <a:xfrm>
                <a:off x="3100388" y="3671888"/>
                <a:ext cx="47625" cy="47625"/>
              </a:xfrm>
              <a:prstGeom prst="ellipse">
                <a:avLst/>
              </a:prstGeom>
              <a:solidFill>
                <a:srgbClr val="FFFFFF"/>
              </a:solidFill>
              <a:ln>
                <a:noFill/>
              </a:ln>
            </p:spPr>
          </p:sp>
          <p:sp>
            <p:nvSpPr>
              <p:cNvPr id="45" name="TextBox 45"/>
              <p:cNvSpPr txBox="1"/>
              <p:nvPr/>
            </p:nvSpPr>
            <p:spPr>
              <a:xfrm>
                <a:off x="3214688" y="3636645"/>
                <a:ext cx="73647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解决技术问题</a:t>
                </a:r>
              </a:p>
            </p:txBody>
          </p:sp>
          <p:sp>
            <p:nvSpPr>
              <p:cNvPr id="46" name="Ellipse 46"/>
              <p:cNvSpPr/>
              <p:nvPr/>
            </p:nvSpPr>
            <p:spPr>
              <a:xfrm>
                <a:off x="3100388" y="3881438"/>
                <a:ext cx="47625" cy="47625"/>
              </a:xfrm>
              <a:prstGeom prst="ellipse">
                <a:avLst/>
              </a:prstGeom>
              <a:solidFill>
                <a:srgbClr val="FFFFFF"/>
              </a:solidFill>
              <a:ln>
                <a:noFill/>
              </a:ln>
            </p:spPr>
          </p:sp>
          <p:sp>
            <p:nvSpPr>
              <p:cNvPr id="47" name="TextBox 47"/>
              <p:cNvSpPr txBox="1"/>
              <p:nvPr/>
            </p:nvSpPr>
            <p:spPr>
              <a:xfrm>
                <a:off x="3214688" y="3846195"/>
                <a:ext cx="1074167"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每</a:t>
                </a:r>
                <a:r>
                  <a:rPr lang="zh-CN" sz="900" b="1" dirty="0">
                    <a:solidFill>
                      <a:srgbClr val="C97263"/>
                    </a:solidFill>
                    <a:latin typeface="+mn-lt"/>
                    <a:ea typeface="+mn-ea"/>
                    <a:cs typeface="+mn-cs"/>
                  </a:rPr>
                  <a:t>3-5</a:t>
                </a:r>
                <a:r>
                  <a:rPr lang="zh-CN" sz="900" dirty="0">
                    <a:solidFill>
                      <a:srgbClr val="FFFFFF"/>
                    </a:solidFill>
                    <a:latin typeface="+mn-lt"/>
                    <a:ea typeface="+mn-ea"/>
                    <a:cs typeface="+mn-cs"/>
                  </a:rPr>
                  <a:t>个KAM配1名​</a:t>
                </a:r>
              </a:p>
            </p:txBody>
          </p:sp>
        </p:grpSp>
        <p:grpSp>
          <p:nvGrpSpPr>
            <p:cNvPr id="63" name="role-csm"/>
            <p:cNvGrpSpPr/>
            <p:nvPr/>
          </p:nvGrpSpPr>
          <p:grpSpPr>
            <a:xfrm>
              <a:off x="381000" y="4191000"/>
              <a:ext cx="5334000" cy="952500"/>
              <a:chOff x="381000" y="4191000"/>
              <a:chExt cx="5334000" cy="952500"/>
            </a:xfrm>
          </p:grpSpPr>
          <p:sp>
            <p:nvSpPr>
              <p:cNvPr id="49" name="Rectangle 49"/>
              <p:cNvSpPr/>
              <p:nvPr/>
            </p:nvSpPr>
            <p:spPr>
              <a:xfrm>
                <a:off x="381000" y="4191000"/>
                <a:ext cx="5334000" cy="952500"/>
              </a:xfrm>
              <a:prstGeom prst="roundRect">
                <a:avLst>
                  <a:gd name="adj" fmla="val 4000"/>
                </a:avLst>
              </a:prstGeom>
              <a:solidFill>
                <a:srgbClr val="8B321E"/>
              </a:solidFill>
              <a:ln>
                <a:noFill/>
              </a:ln>
            </p:spPr>
          </p:sp>
          <p:sp>
            <p:nvSpPr>
              <p:cNvPr id="50" name="Ellipse 50"/>
              <p:cNvSpPr/>
              <p:nvPr/>
            </p:nvSpPr>
            <p:spPr>
              <a:xfrm>
                <a:off x="542925" y="4410075"/>
                <a:ext cx="514350" cy="514350"/>
              </a:xfrm>
              <a:prstGeom prst="ellipse">
                <a:avLst/>
              </a:prstGeom>
              <a:solidFill>
                <a:srgbClr val="FFFFFF"/>
              </a:solidFill>
              <a:ln>
                <a:noFill/>
              </a:ln>
            </p:spPr>
          </p:sp>
          <p:grpSp>
            <p:nvGrpSpPr>
              <p:cNvPr id="55" name="Group 55"/>
              <p:cNvGrpSpPr/>
              <p:nvPr/>
            </p:nvGrpSpPr>
            <p:grpSpPr>
              <a:xfrm>
                <a:off x="711200" y="4567238"/>
                <a:ext cx="177801" cy="211138"/>
                <a:chOff x="711200" y="4567238"/>
                <a:chExt cx="177801" cy="211138"/>
              </a:xfrm>
            </p:grpSpPr>
            <p:sp>
              <p:nvSpPr>
                <p:cNvPr id="51" name="Freeform 51"/>
                <p:cNvSpPr/>
                <p:nvPr/>
              </p:nvSpPr>
              <p:spPr>
                <a:xfrm>
                  <a:off x="711200" y="4567238"/>
                  <a:ext cx="177801" cy="122238"/>
                </a:xfrm>
                <a:custGeom>
                  <a:avLst/>
                  <a:gdLst/>
                  <a:ahLst/>
                  <a:cxnLst/>
                  <a:rect l="l" t="t" r="r" b="b"/>
                  <a:pathLst>
                    <a:path w="177801" h="122238">
                      <a:moveTo>
                        <a:pt x="0" y="122238"/>
                      </a:moveTo>
                      <a:lnTo>
                        <a:pt x="0" y="88900"/>
                      </a:lnTo>
                      <a:cubicBezTo>
                        <a:pt x="0" y="39802"/>
                        <a:pt x="39802" y="0"/>
                        <a:pt x="88900" y="0"/>
                      </a:cubicBezTo>
                      <a:cubicBezTo>
                        <a:pt x="137999" y="0"/>
                        <a:pt x="177801" y="39802"/>
                        <a:pt x="177801" y="88900"/>
                      </a:cubicBezTo>
                      <a:lnTo>
                        <a:pt x="177801" y="122238"/>
                      </a:lnTo>
                    </a:path>
                  </a:pathLst>
                </a:custGeom>
                <a:noFill/>
                <a:ln w="22225">
                  <a:solidFill>
                    <a:srgbClr val="8B321E"/>
                  </a:solidFill>
                </a:ln>
              </p:spPr>
            </p:sp>
            <p:sp>
              <p:nvSpPr>
                <p:cNvPr id="52" name="Freeform 52"/>
                <p:cNvSpPr/>
                <p:nvPr/>
              </p:nvSpPr>
              <p:spPr>
                <a:xfrm>
                  <a:off x="800100" y="4745038"/>
                  <a:ext cx="66675" cy="33338"/>
                </a:xfrm>
                <a:custGeom>
                  <a:avLst/>
                  <a:gdLst/>
                  <a:ahLst/>
                  <a:cxnLst/>
                  <a:rect l="l" t="t" r="r" b="b"/>
                  <a:pathLst>
                    <a:path w="66675" h="33338">
                      <a:moveTo>
                        <a:pt x="66675" y="0"/>
                      </a:moveTo>
                      <a:cubicBezTo>
                        <a:pt x="66675" y="18413"/>
                        <a:pt x="36827" y="33338"/>
                        <a:pt x="0" y="33338"/>
                      </a:cubicBezTo>
                    </a:path>
                  </a:pathLst>
                </a:custGeom>
                <a:noFill/>
                <a:ln w="22225">
                  <a:solidFill>
                    <a:srgbClr val="8B321E"/>
                  </a:solidFill>
                </a:ln>
              </p:spPr>
            </p:sp>
            <p:sp>
              <p:nvSpPr>
                <p:cNvPr id="53" name="Freeform 53"/>
                <p:cNvSpPr/>
                <p:nvPr/>
              </p:nvSpPr>
              <p:spPr>
                <a:xfrm>
                  <a:off x="711200" y="4667250"/>
                  <a:ext cx="55563" cy="77788"/>
                </a:xfrm>
                <a:custGeom>
                  <a:avLst/>
                  <a:gdLst/>
                  <a:ahLst/>
                  <a:cxnLst/>
                  <a:rect l="l" t="t" r="r" b="b"/>
                  <a:pathLst>
                    <a:path w="55563" h="77788">
                      <a:moveTo>
                        <a:pt x="0" y="22225"/>
                      </a:moveTo>
                      <a:cubicBezTo>
                        <a:pt x="0" y="9950"/>
                        <a:pt x="9950" y="0"/>
                        <a:pt x="22225" y="0"/>
                      </a:cubicBezTo>
                      <a:lnTo>
                        <a:pt x="33338" y="0"/>
                      </a:lnTo>
                      <a:cubicBezTo>
                        <a:pt x="45612" y="0"/>
                        <a:pt x="55563" y="9950"/>
                        <a:pt x="55563" y="22225"/>
                      </a:cubicBezTo>
                      <a:lnTo>
                        <a:pt x="55563" y="55563"/>
                      </a:lnTo>
                      <a:cubicBezTo>
                        <a:pt x="55563" y="67837"/>
                        <a:pt x="45612" y="77788"/>
                        <a:pt x="33338" y="77788"/>
                      </a:cubicBezTo>
                      <a:lnTo>
                        <a:pt x="22225" y="77788"/>
                      </a:lnTo>
                      <a:cubicBezTo>
                        <a:pt x="9950" y="77788"/>
                        <a:pt x="0" y="67837"/>
                        <a:pt x="0" y="55563"/>
                      </a:cubicBezTo>
                      <a:lnTo>
                        <a:pt x="0" y="22225"/>
                      </a:lnTo>
                    </a:path>
                  </a:pathLst>
                </a:custGeom>
                <a:noFill/>
                <a:ln w="22225">
                  <a:solidFill>
                    <a:srgbClr val="8B321E"/>
                  </a:solidFill>
                </a:ln>
              </p:spPr>
            </p:sp>
            <p:sp>
              <p:nvSpPr>
                <p:cNvPr id="54" name="Freeform 54"/>
                <p:cNvSpPr/>
                <p:nvPr/>
              </p:nvSpPr>
              <p:spPr>
                <a:xfrm>
                  <a:off x="833438" y="4667250"/>
                  <a:ext cx="55563" cy="77788"/>
                </a:xfrm>
                <a:custGeom>
                  <a:avLst/>
                  <a:gdLst/>
                  <a:ahLst/>
                  <a:cxnLst/>
                  <a:rect l="l" t="t" r="r" b="b"/>
                  <a:pathLst>
                    <a:path w="55563" h="77788">
                      <a:moveTo>
                        <a:pt x="0" y="22225"/>
                      </a:moveTo>
                      <a:cubicBezTo>
                        <a:pt x="0" y="9950"/>
                        <a:pt x="9950" y="0"/>
                        <a:pt x="22225" y="0"/>
                      </a:cubicBezTo>
                      <a:lnTo>
                        <a:pt x="33338" y="0"/>
                      </a:lnTo>
                      <a:cubicBezTo>
                        <a:pt x="45612" y="0"/>
                        <a:pt x="55563" y="9950"/>
                        <a:pt x="55563" y="22225"/>
                      </a:cubicBezTo>
                      <a:lnTo>
                        <a:pt x="55563" y="55563"/>
                      </a:lnTo>
                      <a:cubicBezTo>
                        <a:pt x="55563" y="67837"/>
                        <a:pt x="45612" y="77788"/>
                        <a:pt x="33338" y="77788"/>
                      </a:cubicBezTo>
                      <a:lnTo>
                        <a:pt x="22225" y="77788"/>
                      </a:lnTo>
                      <a:cubicBezTo>
                        <a:pt x="9950" y="77788"/>
                        <a:pt x="0" y="67837"/>
                        <a:pt x="0" y="55563"/>
                      </a:cubicBezTo>
                      <a:lnTo>
                        <a:pt x="0" y="22225"/>
                      </a:lnTo>
                    </a:path>
                  </a:pathLst>
                </a:custGeom>
                <a:noFill/>
                <a:ln w="22225">
                  <a:solidFill>
                    <a:srgbClr val="8B321E"/>
                  </a:solidFill>
                </a:ln>
              </p:spPr>
            </p:sp>
          </p:grpSp>
          <p:sp>
            <p:nvSpPr>
              <p:cNvPr id="56" name="TextBox 56"/>
              <p:cNvSpPr txBox="1"/>
              <p:nvPr/>
            </p:nvSpPr>
            <p:spPr>
              <a:xfrm>
                <a:off x="1195388" y="4444841"/>
                <a:ext cx="561467" cy="161925"/>
              </a:xfrm>
              <a:prstGeom prst="rect">
                <a:avLst/>
              </a:prstGeom>
              <a:noFill/>
              <a:ln>
                <a:noFill/>
              </a:ln>
            </p:spPr>
            <p:txBody>
              <a:bodyPr wrap="none" lIns="0" tIns="0" rIns="0" bIns="0" anchor="t" anchorCtr="0">
                <a:spAutoFit/>
              </a:bodyPr>
              <a:lstStyle/>
              <a:p>
                <a:pPr algn="l"/>
                <a:r>
                  <a:rPr lang="zh-CN" sz="820" dirty="0">
                    <a:solidFill>
                      <a:srgbClr val="FFFFFF">
                        <a:alphaMod val="75000"/>
                      </a:srgbClr>
                    </a:solidFill>
                    <a:latin typeface="+mn-lt"/>
                    <a:ea typeface="+mn-ea"/>
                    <a:cs typeface="+mn-cs"/>
                  </a:rPr>
                  <a:t>支持角色二</a:t>
                </a:r>
              </a:p>
            </p:txBody>
          </p:sp>
          <p:sp>
            <p:nvSpPr>
              <p:cNvPr id="57" name="TextBox 57"/>
              <p:cNvSpPr txBox="1"/>
              <p:nvPr/>
            </p:nvSpPr>
            <p:spPr>
              <a:xfrm>
                <a:off x="1193864" y="4647962"/>
                <a:ext cx="1690617" cy="242030"/>
              </a:xfrm>
              <a:prstGeom prst="rect">
                <a:avLst/>
              </a:prstGeom>
              <a:noFill/>
              <a:ln>
                <a:noFill/>
              </a:ln>
            </p:spPr>
            <p:txBody>
              <a:bodyPr wrap="none" lIns="0" tIns="0" rIns="0" bIns="0" anchor="t" anchorCtr="0">
                <a:spAutoFit/>
              </a:bodyPr>
              <a:lstStyle/>
              <a:p>
                <a:pPr algn="l"/>
                <a:r>
                  <a:rPr lang="zh-CN" sz="1240" b="1" dirty="0">
                    <a:solidFill>
                      <a:srgbClr val="FFFFFF"/>
                    </a:solidFill>
                    <a:latin typeface="+mn-lt"/>
                    <a:ea typeface="+mn-ea"/>
                    <a:cs typeface="+mn-cs"/>
                  </a:rPr>
                  <a:t>客户成功经理（CSM）</a:t>
                </a:r>
              </a:p>
            </p:txBody>
          </p:sp>
          <p:sp>
            <p:nvSpPr>
              <p:cNvPr id="58" name="Line 58"/>
              <p:cNvSpPr/>
              <p:nvPr/>
            </p:nvSpPr>
            <p:spPr>
              <a:xfrm>
                <a:off x="2971800" y="4381500"/>
                <a:ext cx="9525" cy="571500"/>
              </a:xfrm>
              <a:custGeom>
                <a:avLst/>
                <a:gdLst/>
                <a:ahLst/>
                <a:cxnLst/>
                <a:rect l="l" t="t" r="r" b="b"/>
                <a:pathLst>
                  <a:path w="9525" h="571500">
                    <a:moveTo>
                      <a:pt x="0" y="0"/>
                    </a:moveTo>
                    <a:lnTo>
                      <a:pt x="0" y="571500"/>
                    </a:lnTo>
                  </a:path>
                </a:pathLst>
              </a:custGeom>
              <a:noFill/>
              <a:ln w="9525">
                <a:solidFill>
                  <a:srgbClr val="FFFFFF">
                    <a:alpha val="40000"/>
                  </a:srgbClr>
                </a:solidFill>
              </a:ln>
            </p:spPr>
          </p:sp>
          <p:sp>
            <p:nvSpPr>
              <p:cNvPr id="59" name="Ellipse 59"/>
              <p:cNvSpPr/>
              <p:nvPr/>
            </p:nvSpPr>
            <p:spPr>
              <a:xfrm>
                <a:off x="3100388" y="4529138"/>
                <a:ext cx="47625" cy="47625"/>
              </a:xfrm>
              <a:prstGeom prst="ellipse">
                <a:avLst/>
              </a:prstGeom>
              <a:solidFill>
                <a:srgbClr val="FFFFFF"/>
              </a:solidFill>
              <a:ln>
                <a:noFill/>
              </a:ln>
            </p:spPr>
          </p:sp>
          <p:sp>
            <p:nvSpPr>
              <p:cNvPr id="60" name="TextBox 60"/>
              <p:cNvSpPr txBox="1"/>
              <p:nvPr/>
            </p:nvSpPr>
            <p:spPr>
              <a:xfrm>
                <a:off x="3214688" y="4493895"/>
                <a:ext cx="1463421"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职责：售后、满意度、复购</a:t>
                </a:r>
              </a:p>
            </p:txBody>
          </p:sp>
          <p:sp>
            <p:nvSpPr>
              <p:cNvPr id="61" name="Ellipse 61"/>
              <p:cNvSpPr/>
              <p:nvPr/>
            </p:nvSpPr>
            <p:spPr>
              <a:xfrm>
                <a:off x="3100388" y="4776788"/>
                <a:ext cx="47625" cy="47625"/>
              </a:xfrm>
              <a:prstGeom prst="ellipse">
                <a:avLst/>
              </a:prstGeom>
              <a:solidFill>
                <a:srgbClr val="FFFFFF"/>
              </a:solidFill>
              <a:ln>
                <a:noFill/>
              </a:ln>
            </p:spPr>
          </p:sp>
          <p:sp>
            <p:nvSpPr>
              <p:cNvPr id="62" name="TextBox 62"/>
              <p:cNvSpPr txBox="1"/>
              <p:nvPr/>
            </p:nvSpPr>
            <p:spPr>
              <a:xfrm>
                <a:off x="3214688" y="4741545"/>
                <a:ext cx="903740" cy="176212"/>
              </a:xfrm>
              <a:prstGeom prst="rect">
                <a:avLst/>
              </a:prstGeom>
              <a:noFill/>
              <a:ln>
                <a:noFill/>
              </a:ln>
            </p:spPr>
            <p:txBody>
              <a:bodyPr wrap="none" lIns="0" tIns="0" rIns="0" bIns="0" anchor="t" anchorCtr="0">
                <a:spAutoFit/>
              </a:bodyPr>
              <a:lstStyle/>
              <a:p>
                <a:pPr algn="l"/>
                <a:r>
                  <a:rPr lang="zh-CN" sz="900" b="1" dirty="0">
                    <a:solidFill>
                      <a:srgbClr val="C97263"/>
                    </a:solidFill>
                    <a:latin typeface="+mn-lt"/>
                    <a:ea typeface="+mn-ea"/>
                    <a:cs typeface="+mn-cs"/>
                  </a:rPr>
                  <a:t>S/A级</a:t>
                </a:r>
                <a:r>
                  <a:rPr lang="zh-CN" sz="900" dirty="0">
                    <a:solidFill>
                      <a:srgbClr val="FFFFFF"/>
                    </a:solidFill>
                    <a:latin typeface="+mn-lt"/>
                    <a:ea typeface="+mn-ea"/>
                    <a:cs typeface="+mn-cs"/>
                  </a:rPr>
                  <a:t>客户配置​</a:t>
                </a:r>
              </a:p>
            </p:txBody>
          </p:sp>
        </p:grpSp>
        <p:grpSp>
          <p:nvGrpSpPr>
            <p:cNvPr id="78" name="role-coordinator"/>
            <p:cNvGrpSpPr/>
            <p:nvPr/>
          </p:nvGrpSpPr>
          <p:grpSpPr>
            <a:xfrm>
              <a:off x="381000" y="5257800"/>
              <a:ext cx="5334000" cy="952500"/>
              <a:chOff x="381000" y="5257800"/>
              <a:chExt cx="5334000" cy="952500"/>
            </a:xfrm>
          </p:grpSpPr>
          <p:sp>
            <p:nvSpPr>
              <p:cNvPr id="64" name="Rectangle 64"/>
              <p:cNvSpPr/>
              <p:nvPr/>
            </p:nvSpPr>
            <p:spPr>
              <a:xfrm>
                <a:off x="381000" y="5257800"/>
                <a:ext cx="5334000" cy="952500"/>
              </a:xfrm>
              <a:prstGeom prst="roundRect">
                <a:avLst>
                  <a:gd name="adj" fmla="val 4000"/>
                </a:avLst>
              </a:prstGeom>
              <a:solidFill>
                <a:srgbClr val="55565A"/>
              </a:solidFill>
              <a:ln>
                <a:noFill/>
              </a:ln>
            </p:spPr>
          </p:sp>
          <p:sp>
            <p:nvSpPr>
              <p:cNvPr id="65" name="Ellipse 65"/>
              <p:cNvSpPr/>
              <p:nvPr/>
            </p:nvSpPr>
            <p:spPr>
              <a:xfrm>
                <a:off x="542925" y="5476875"/>
                <a:ext cx="514350" cy="514350"/>
              </a:xfrm>
              <a:prstGeom prst="ellipse">
                <a:avLst/>
              </a:prstGeom>
              <a:solidFill>
                <a:srgbClr val="FFFFFF"/>
              </a:solidFill>
              <a:ln>
                <a:noFill/>
              </a:ln>
            </p:spPr>
          </p:sp>
          <p:grpSp>
            <p:nvGrpSpPr>
              <p:cNvPr id="70" name="Group 70"/>
              <p:cNvGrpSpPr/>
              <p:nvPr/>
            </p:nvGrpSpPr>
            <p:grpSpPr>
              <a:xfrm>
                <a:off x="700088" y="5634038"/>
                <a:ext cx="200026" cy="200025"/>
                <a:chOff x="700088" y="5634038"/>
                <a:chExt cx="200026" cy="200025"/>
              </a:xfrm>
            </p:grpSpPr>
            <p:sp>
              <p:nvSpPr>
                <p:cNvPr id="66" name="Freeform 66"/>
                <p:cNvSpPr/>
                <p:nvPr/>
              </p:nvSpPr>
              <p:spPr>
                <a:xfrm>
                  <a:off x="722313" y="56340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55565A"/>
                  </a:solidFill>
                </a:ln>
              </p:spPr>
            </p:sp>
            <p:sp>
              <p:nvSpPr>
                <p:cNvPr id="67" name="Freeform 67"/>
                <p:cNvSpPr/>
                <p:nvPr/>
              </p:nvSpPr>
              <p:spPr>
                <a:xfrm>
                  <a:off x="700088" y="57673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55565A"/>
                  </a:solidFill>
                </a:ln>
              </p:spPr>
            </p:sp>
            <p:sp>
              <p:nvSpPr>
                <p:cNvPr id="68" name="Freeform 68"/>
                <p:cNvSpPr/>
                <p:nvPr/>
              </p:nvSpPr>
              <p:spPr>
                <a:xfrm>
                  <a:off x="844551" y="56354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55565A"/>
                  </a:solidFill>
                </a:ln>
              </p:spPr>
            </p:sp>
            <p:sp>
              <p:nvSpPr>
                <p:cNvPr id="69" name="Freeform 69"/>
                <p:cNvSpPr/>
                <p:nvPr/>
              </p:nvSpPr>
              <p:spPr>
                <a:xfrm>
                  <a:off x="866776" y="57690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55565A"/>
                  </a:solidFill>
                </a:ln>
              </p:spPr>
            </p:sp>
          </p:grpSp>
          <p:sp>
            <p:nvSpPr>
              <p:cNvPr id="71" name="TextBox 71"/>
              <p:cNvSpPr txBox="1"/>
              <p:nvPr/>
            </p:nvSpPr>
            <p:spPr>
              <a:xfrm>
                <a:off x="1195388" y="5511641"/>
                <a:ext cx="561467" cy="161925"/>
              </a:xfrm>
              <a:prstGeom prst="rect">
                <a:avLst/>
              </a:prstGeom>
              <a:noFill/>
              <a:ln>
                <a:noFill/>
              </a:ln>
            </p:spPr>
            <p:txBody>
              <a:bodyPr wrap="none" lIns="0" tIns="0" rIns="0" bIns="0" anchor="t" anchorCtr="0">
                <a:spAutoFit/>
              </a:bodyPr>
              <a:lstStyle/>
              <a:p>
                <a:pPr algn="l"/>
                <a:r>
                  <a:rPr lang="zh-CN" sz="820" dirty="0">
                    <a:solidFill>
                      <a:srgbClr val="FFFFFF">
                        <a:alphaMod val="75000"/>
                      </a:srgbClr>
                    </a:solidFill>
                    <a:latin typeface="+mn-lt"/>
                    <a:ea typeface="+mn-ea"/>
                    <a:cs typeface="+mn-cs"/>
                  </a:rPr>
                  <a:t>支持角色三</a:t>
                </a:r>
              </a:p>
            </p:txBody>
          </p:sp>
          <p:sp>
            <p:nvSpPr>
              <p:cNvPr id="72" name="TextBox 72"/>
              <p:cNvSpPr txBox="1"/>
              <p:nvPr/>
            </p:nvSpPr>
            <p:spPr>
              <a:xfrm>
                <a:off x="1193864" y="5714762"/>
                <a:ext cx="847217" cy="242030"/>
              </a:xfrm>
              <a:prstGeom prst="rect">
                <a:avLst/>
              </a:prstGeom>
              <a:noFill/>
              <a:ln>
                <a:noFill/>
              </a:ln>
            </p:spPr>
            <p:txBody>
              <a:bodyPr wrap="none" lIns="0" tIns="0" rIns="0" bIns="0" anchor="t" anchorCtr="0">
                <a:spAutoFit/>
              </a:bodyPr>
              <a:lstStyle/>
              <a:p>
                <a:pPr algn="l"/>
                <a:r>
                  <a:rPr lang="zh-CN" sz="1240" b="1" dirty="0">
                    <a:solidFill>
                      <a:srgbClr val="FFFFFF"/>
                    </a:solidFill>
                    <a:latin typeface="+mn-lt"/>
                    <a:ea typeface="+mn-ea"/>
                    <a:cs typeface="+mn-cs"/>
                  </a:rPr>
                  <a:t>内部协调员</a:t>
                </a:r>
              </a:p>
            </p:txBody>
          </p:sp>
          <p:sp>
            <p:nvSpPr>
              <p:cNvPr id="73" name="Line 73"/>
              <p:cNvSpPr/>
              <p:nvPr/>
            </p:nvSpPr>
            <p:spPr>
              <a:xfrm>
                <a:off x="2971800" y="5448300"/>
                <a:ext cx="9525" cy="571500"/>
              </a:xfrm>
              <a:custGeom>
                <a:avLst/>
                <a:gdLst/>
                <a:ahLst/>
                <a:cxnLst/>
                <a:rect l="l" t="t" r="r" b="b"/>
                <a:pathLst>
                  <a:path w="9525" h="571500">
                    <a:moveTo>
                      <a:pt x="0" y="0"/>
                    </a:moveTo>
                    <a:lnTo>
                      <a:pt x="0" y="571500"/>
                    </a:lnTo>
                  </a:path>
                </a:pathLst>
              </a:custGeom>
              <a:noFill/>
              <a:ln w="9525">
                <a:solidFill>
                  <a:srgbClr val="FFFFFF">
                    <a:alpha val="40000"/>
                  </a:srgbClr>
                </a:solidFill>
              </a:ln>
            </p:spPr>
          </p:sp>
          <p:sp>
            <p:nvSpPr>
              <p:cNvPr id="74" name="Ellipse 74"/>
              <p:cNvSpPr/>
              <p:nvPr/>
            </p:nvSpPr>
            <p:spPr>
              <a:xfrm>
                <a:off x="3100388" y="5595938"/>
                <a:ext cx="47625" cy="47625"/>
              </a:xfrm>
              <a:prstGeom prst="ellipse">
                <a:avLst/>
              </a:prstGeom>
              <a:solidFill>
                <a:srgbClr val="FFFFFF"/>
              </a:solidFill>
              <a:ln>
                <a:noFill/>
              </a:ln>
            </p:spPr>
          </p:sp>
          <p:sp>
            <p:nvSpPr>
              <p:cNvPr id="75" name="TextBox 75"/>
              <p:cNvSpPr txBox="1"/>
              <p:nvPr/>
            </p:nvSpPr>
            <p:spPr>
              <a:xfrm>
                <a:off x="3214688" y="5560695"/>
                <a:ext cx="1463421"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职责：订单处理、交货协调</a:t>
                </a:r>
              </a:p>
            </p:txBody>
          </p:sp>
          <p:sp>
            <p:nvSpPr>
              <p:cNvPr id="76" name="Ellipse 76"/>
              <p:cNvSpPr/>
              <p:nvPr/>
            </p:nvSpPr>
            <p:spPr>
              <a:xfrm>
                <a:off x="3100388" y="5843588"/>
                <a:ext cx="47625" cy="47625"/>
              </a:xfrm>
              <a:prstGeom prst="ellipse">
                <a:avLst/>
              </a:prstGeom>
              <a:solidFill>
                <a:srgbClr val="FFFFFF"/>
              </a:solidFill>
              <a:ln>
                <a:noFill/>
              </a:ln>
            </p:spPr>
          </p:sp>
          <p:sp>
            <p:nvSpPr>
              <p:cNvPr id="77" name="TextBox 77"/>
              <p:cNvSpPr txBox="1"/>
              <p:nvPr/>
            </p:nvSpPr>
            <p:spPr>
              <a:xfrm>
                <a:off x="3214688" y="5808345"/>
                <a:ext cx="1013016"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每个大区配</a:t>
                </a:r>
                <a:r>
                  <a:rPr lang="zh-CN" sz="900" b="1" dirty="0">
                    <a:solidFill>
                      <a:srgbClr val="C97263"/>
                    </a:solidFill>
                    <a:latin typeface="+mn-lt"/>
                    <a:ea typeface="+mn-ea"/>
                    <a:cs typeface="+mn-cs"/>
                  </a:rPr>
                  <a:t>1-2</a:t>
                </a:r>
                <a:r>
                  <a:rPr lang="zh-CN" sz="900" dirty="0">
                    <a:solidFill>
                      <a:srgbClr val="FFFFFF"/>
                    </a:solidFill>
                    <a:latin typeface="+mn-lt"/>
                    <a:ea typeface="+mn-ea"/>
                    <a:cs typeface="+mn-cs"/>
                  </a:rPr>
                  <a:t>名​</a:t>
                </a:r>
              </a:p>
            </p:txBody>
          </p:sp>
        </p:grpSp>
      </p:grpSp>
      <p:grpSp>
        <p:nvGrpSpPr>
          <p:cNvPr id="112" name="performance"/>
          <p:cNvGrpSpPr/>
          <p:nvPr/>
        </p:nvGrpSpPr>
        <p:grpSpPr>
          <a:xfrm>
            <a:off x="6096000" y="1674971"/>
            <a:ext cx="5715000" cy="4344829"/>
            <a:chOff x="6096000" y="1674971"/>
            <a:chExt cx="5715000" cy="4344829"/>
          </a:xfrm>
        </p:grpSpPr>
        <p:grpSp>
          <p:nvGrpSpPr>
            <p:cNvPr id="83" name="Group 83"/>
            <p:cNvGrpSpPr/>
            <p:nvPr/>
          </p:nvGrpSpPr>
          <p:grpSpPr>
            <a:xfrm>
              <a:off x="6119812" y="1700212"/>
              <a:ext cx="142875" cy="142875"/>
              <a:chOff x="6119812" y="1700212"/>
              <a:chExt cx="142875" cy="142875"/>
            </a:xfrm>
          </p:grpSpPr>
          <p:sp>
            <p:nvSpPr>
              <p:cNvPr id="80" name="Freeform 80"/>
              <p:cNvSpPr/>
              <p:nvPr/>
            </p:nvSpPr>
            <p:spPr>
              <a:xfrm>
                <a:off x="6183312" y="1763712"/>
                <a:ext cx="15875" cy="15875"/>
              </a:xfrm>
              <a:custGeom>
                <a:avLst/>
                <a:gdLst/>
                <a:ahLst/>
                <a:cxnLst/>
                <a:rect l="l" t="t" r="r" b="b"/>
                <a:pathLst>
                  <a:path w="15875" h="15875">
                    <a:moveTo>
                      <a:pt x="0" y="7937"/>
                    </a:moveTo>
                    <a:cubicBezTo>
                      <a:pt x="0" y="12321"/>
                      <a:pt x="3554" y="15875"/>
                      <a:pt x="7937" y="15875"/>
                    </a:cubicBezTo>
                    <a:cubicBezTo>
                      <a:pt x="12321" y="15875"/>
                      <a:pt x="15875" y="12321"/>
                      <a:pt x="15875" y="7937"/>
                    </a:cubicBezTo>
                    <a:cubicBezTo>
                      <a:pt x="15875" y="3554"/>
                      <a:pt x="12321" y="0"/>
                      <a:pt x="7937" y="0"/>
                    </a:cubicBezTo>
                    <a:cubicBezTo>
                      <a:pt x="3554" y="0"/>
                      <a:pt x="0" y="3554"/>
                      <a:pt x="0" y="7937"/>
                    </a:cubicBezTo>
                  </a:path>
                </a:pathLst>
              </a:custGeom>
              <a:noFill/>
              <a:ln w="15875">
                <a:solidFill>
                  <a:srgbClr val="8B321E"/>
                </a:solidFill>
              </a:ln>
            </p:spPr>
          </p:sp>
          <p:sp>
            <p:nvSpPr>
              <p:cNvPr id="81" name="Freeform 81"/>
              <p:cNvSpPr/>
              <p:nvPr/>
            </p:nvSpPr>
            <p:spPr>
              <a:xfrm>
                <a:off x="6151562" y="1731962"/>
                <a:ext cx="79375" cy="79375"/>
              </a:xfrm>
              <a:custGeom>
                <a:avLst/>
                <a:gdLst/>
                <a:ahLst/>
                <a:cxnLst/>
                <a:rect l="l" t="t" r="r" b="b"/>
                <a:pathLst>
                  <a:path w="79375" h="79375">
                    <a:moveTo>
                      <a:pt x="0" y="39687"/>
                    </a:moveTo>
                    <a:cubicBezTo>
                      <a:pt x="0" y="61606"/>
                      <a:pt x="17769" y="79375"/>
                      <a:pt x="39687" y="79375"/>
                    </a:cubicBezTo>
                    <a:cubicBezTo>
                      <a:pt x="61606" y="79375"/>
                      <a:pt x="79375" y="61606"/>
                      <a:pt x="79375" y="39687"/>
                    </a:cubicBezTo>
                    <a:cubicBezTo>
                      <a:pt x="79375" y="17769"/>
                      <a:pt x="61606" y="0"/>
                      <a:pt x="39687" y="0"/>
                    </a:cubicBezTo>
                    <a:cubicBezTo>
                      <a:pt x="17769" y="0"/>
                      <a:pt x="0" y="17769"/>
                      <a:pt x="0" y="39687"/>
                    </a:cubicBezTo>
                  </a:path>
                </a:pathLst>
              </a:custGeom>
              <a:noFill/>
              <a:ln w="15875">
                <a:solidFill>
                  <a:srgbClr val="8B321E"/>
                </a:solidFill>
              </a:ln>
            </p:spPr>
          </p:sp>
          <p:sp>
            <p:nvSpPr>
              <p:cNvPr id="82" name="Freeform 82"/>
              <p:cNvSpPr/>
              <p:nvPr/>
            </p:nvSpPr>
            <p:spPr>
              <a:xfrm>
                <a:off x="6119812" y="1700212"/>
                <a:ext cx="142875" cy="142875"/>
              </a:xfrm>
              <a:custGeom>
                <a:avLst/>
                <a:gdLst/>
                <a:ahLst/>
                <a:cxnLst/>
                <a:rect l="l" t="t" r="r" b="b"/>
                <a:pathLst>
                  <a:path w="142875" h="142875">
                    <a:moveTo>
                      <a:pt x="0" y="71437"/>
                    </a:moveTo>
                    <a:cubicBezTo>
                      <a:pt x="0" y="110891"/>
                      <a:pt x="31984" y="142875"/>
                      <a:pt x="71437" y="142875"/>
                    </a:cubicBezTo>
                    <a:cubicBezTo>
                      <a:pt x="110891" y="142875"/>
                      <a:pt x="142875" y="110891"/>
                      <a:pt x="142875" y="71437"/>
                    </a:cubicBezTo>
                    <a:cubicBezTo>
                      <a:pt x="142875" y="31984"/>
                      <a:pt x="110891" y="0"/>
                      <a:pt x="71437" y="0"/>
                    </a:cubicBezTo>
                    <a:cubicBezTo>
                      <a:pt x="31984" y="0"/>
                      <a:pt x="0" y="31984"/>
                      <a:pt x="0" y="71437"/>
                    </a:cubicBezTo>
                  </a:path>
                </a:pathLst>
              </a:custGeom>
              <a:noFill/>
              <a:ln w="15875">
                <a:solidFill>
                  <a:srgbClr val="8B321E"/>
                </a:solidFill>
              </a:ln>
            </p:spPr>
          </p:sp>
        </p:grpSp>
        <p:sp>
          <p:nvSpPr>
            <p:cNvPr id="84" name="TextBox 84"/>
            <p:cNvSpPr txBox="1"/>
            <p:nvPr/>
          </p:nvSpPr>
          <p:spPr>
            <a:xfrm>
              <a:off x="6355461" y="1674971"/>
              <a:ext cx="2308403"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大客户销售团队的绩效管理</a:t>
              </a:r>
            </a:p>
          </p:txBody>
        </p:sp>
        <p:sp>
          <p:nvSpPr>
            <p:cNvPr id="85" name="Line 85"/>
            <p:cNvSpPr/>
            <p:nvPr/>
          </p:nvSpPr>
          <p:spPr>
            <a:xfrm>
              <a:off x="6096000" y="1924050"/>
              <a:ext cx="5715000" cy="9525"/>
            </a:xfrm>
            <a:custGeom>
              <a:avLst/>
              <a:gdLst/>
              <a:ahLst/>
              <a:cxnLst/>
              <a:rect l="l" t="t" r="r" b="b"/>
              <a:pathLst>
                <a:path w="5715000" h="9525">
                  <a:moveTo>
                    <a:pt x="0" y="0"/>
                  </a:moveTo>
                  <a:lnTo>
                    <a:pt x="5715000" y="0"/>
                  </a:lnTo>
                </a:path>
              </a:pathLst>
            </a:custGeom>
            <a:noFill/>
            <a:ln w="9525">
              <a:solidFill>
                <a:srgbClr val="8B321E"/>
              </a:solidFill>
            </a:ln>
          </p:spPr>
        </p:sp>
        <p:grpSp>
          <p:nvGrpSpPr>
            <p:cNvPr id="93" name="perf-kpi"/>
            <p:cNvGrpSpPr/>
            <p:nvPr/>
          </p:nvGrpSpPr>
          <p:grpSpPr>
            <a:xfrm>
              <a:off x="6096000" y="2057400"/>
              <a:ext cx="5715000" cy="1219200"/>
              <a:chOff x="6096000" y="2057400"/>
              <a:chExt cx="5715000" cy="1219200"/>
            </a:xfrm>
          </p:grpSpPr>
          <p:sp>
            <p:nvSpPr>
              <p:cNvPr id="86" name="Rectangle 86"/>
              <p:cNvSpPr/>
              <p:nvPr/>
            </p:nvSpPr>
            <p:spPr>
              <a:xfrm>
                <a:off x="6096000" y="2057400"/>
                <a:ext cx="5715000" cy="1219200"/>
              </a:xfrm>
              <a:prstGeom prst="roundRect">
                <a:avLst>
                  <a:gd name="adj" fmla="val 4688"/>
                </a:avLst>
              </a:prstGeom>
              <a:solidFill>
                <a:srgbClr val="F7F4F2"/>
              </a:solidFill>
              <a:ln w="11430">
                <a:solidFill>
                  <a:srgbClr val="C97263"/>
                </a:solidFill>
              </a:ln>
            </p:spPr>
          </p:sp>
          <p:sp>
            <p:nvSpPr>
              <p:cNvPr id="87" name="Ellipse 87"/>
              <p:cNvSpPr/>
              <p:nvPr/>
            </p:nvSpPr>
            <p:spPr>
              <a:xfrm>
                <a:off x="6372225" y="2409825"/>
                <a:ext cx="514350" cy="514350"/>
              </a:xfrm>
              <a:prstGeom prst="ellipse">
                <a:avLst/>
              </a:prstGeom>
              <a:solidFill>
                <a:srgbClr val="FFFFFF"/>
              </a:solidFill>
              <a:ln w="19050">
                <a:solidFill>
                  <a:srgbClr val="C97263"/>
                </a:solidFill>
              </a:ln>
            </p:spPr>
          </p:sp>
          <p:grpSp>
            <p:nvGrpSpPr>
              <p:cNvPr id="90" name="Group 90"/>
              <p:cNvGrpSpPr/>
              <p:nvPr/>
            </p:nvGrpSpPr>
            <p:grpSpPr>
              <a:xfrm>
                <a:off x="6533655" y="2575905"/>
                <a:ext cx="186549" cy="186839"/>
                <a:chOff x="6533655" y="2575905"/>
                <a:chExt cx="186549" cy="186839"/>
              </a:xfrm>
            </p:grpSpPr>
            <p:sp>
              <p:nvSpPr>
                <p:cNvPr id="88" name="Freeform 88"/>
                <p:cNvSpPr/>
                <p:nvPr/>
              </p:nvSpPr>
              <p:spPr>
                <a:xfrm>
                  <a:off x="6533655" y="2575905"/>
                  <a:ext cx="186549" cy="186839"/>
                </a:xfrm>
                <a:custGeom>
                  <a:avLst/>
                  <a:gdLst/>
                  <a:ahLst/>
                  <a:cxnLst/>
                  <a:rect l="l" t="t" r="r" b="b"/>
                  <a:pathLst>
                    <a:path w="186549" h="186839">
                      <a:moveTo>
                        <a:pt x="75107" y="289"/>
                      </a:moveTo>
                      <a:cubicBezTo>
                        <a:pt x="30427" y="10647"/>
                        <a:pt x="0" y="52071"/>
                        <a:pt x="3479" y="97804"/>
                      </a:cubicBezTo>
                      <a:cubicBezTo>
                        <a:pt x="6959" y="143536"/>
                        <a:pt x="43303" y="179880"/>
                        <a:pt x="89035" y="183360"/>
                      </a:cubicBezTo>
                      <a:cubicBezTo>
                        <a:pt x="134768" y="186839"/>
                        <a:pt x="176192" y="156411"/>
                        <a:pt x="186549" y="111732"/>
                      </a:cubicBezTo>
                      <a:cubicBezTo>
                        <a:pt x="186549" y="106033"/>
                        <a:pt x="181930" y="101413"/>
                        <a:pt x="176231" y="101413"/>
                      </a:cubicBezTo>
                      <a:lnTo>
                        <a:pt x="106063" y="101413"/>
                      </a:lnTo>
                      <a:cubicBezTo>
                        <a:pt x="94666" y="101413"/>
                        <a:pt x="85426" y="92173"/>
                        <a:pt x="85426" y="80775"/>
                      </a:cubicBezTo>
                      <a:lnTo>
                        <a:pt x="85426" y="8544"/>
                      </a:lnTo>
                      <a:cubicBezTo>
                        <a:pt x="85167" y="6075"/>
                        <a:pt x="83930" y="3812"/>
                        <a:pt x="81991" y="2261"/>
                      </a:cubicBezTo>
                      <a:cubicBezTo>
                        <a:pt x="80052" y="710"/>
                        <a:pt x="77573" y="0"/>
                        <a:pt x="75107" y="289"/>
                      </a:cubicBezTo>
                    </a:path>
                  </a:pathLst>
                </a:custGeom>
                <a:noFill/>
                <a:ln w="20637">
                  <a:solidFill>
                    <a:srgbClr val="C97263"/>
                  </a:solidFill>
                </a:ln>
              </p:spPr>
            </p:sp>
            <p:sp>
              <p:nvSpPr>
                <p:cNvPr id="89" name="Freeform 89"/>
                <p:cNvSpPr/>
                <p:nvPr/>
              </p:nvSpPr>
              <p:spPr>
                <a:xfrm>
                  <a:off x="6660356" y="2579291"/>
                  <a:ext cx="56753" cy="56753"/>
                </a:xfrm>
                <a:custGeom>
                  <a:avLst/>
                  <a:gdLst/>
                  <a:ahLst/>
                  <a:cxnLst/>
                  <a:rect l="l" t="t" r="r" b="b"/>
                  <a:pathLst>
                    <a:path w="56753" h="56753">
                      <a:moveTo>
                        <a:pt x="0" y="0"/>
                      </a:moveTo>
                      <a:cubicBezTo>
                        <a:pt x="26538" y="9344"/>
                        <a:pt x="47409" y="30215"/>
                        <a:pt x="56753" y="56753"/>
                      </a:cubicBezTo>
                      <a:lnTo>
                        <a:pt x="10319" y="56753"/>
                      </a:lnTo>
                      <a:cubicBezTo>
                        <a:pt x="4620" y="56753"/>
                        <a:pt x="0" y="52133"/>
                        <a:pt x="0" y="46434"/>
                      </a:cubicBezTo>
                      <a:lnTo>
                        <a:pt x="0" y="0"/>
                      </a:lnTo>
                    </a:path>
                  </a:pathLst>
                </a:custGeom>
                <a:noFill/>
                <a:ln w="20637">
                  <a:solidFill>
                    <a:srgbClr val="C97263"/>
                  </a:solidFill>
                </a:ln>
              </p:spPr>
            </p:sp>
          </p:grpSp>
          <p:sp>
            <p:nvSpPr>
              <p:cNvPr id="91" name="TextBox 91"/>
              <p:cNvSpPr txBox="1"/>
              <p:nvPr/>
            </p:nvSpPr>
            <p:spPr>
              <a:xfrm>
                <a:off x="7118414" y="2419112"/>
                <a:ext cx="1119303" cy="242030"/>
              </a:xfrm>
              <a:prstGeom prst="rect">
                <a:avLst/>
              </a:prstGeom>
              <a:noFill/>
              <a:ln>
                <a:noFill/>
              </a:ln>
            </p:spPr>
            <p:txBody>
              <a:bodyPr wrap="none" lIns="0" tIns="0" rIns="0" bIns="0" anchor="t" anchorCtr="0">
                <a:spAutoFit/>
              </a:bodyPr>
              <a:lstStyle/>
              <a:p>
                <a:pPr algn="l"/>
                <a:r>
                  <a:rPr lang="zh-CN" sz="1240" b="1" dirty="0">
                    <a:solidFill>
                      <a:srgbClr val="2B2B2B"/>
                    </a:solidFill>
                    <a:latin typeface="+mn-lt"/>
                    <a:ea typeface="+mn-ea"/>
                    <a:cs typeface="+mn-cs"/>
                  </a:rPr>
                  <a:t>KAM绩效构成​</a:t>
                </a:r>
              </a:p>
            </p:txBody>
          </p:sp>
          <p:sp>
            <p:nvSpPr>
              <p:cNvPr id="92" name="TextBox 92"/>
              <p:cNvSpPr txBox="1"/>
              <p:nvPr/>
            </p:nvSpPr>
            <p:spPr>
              <a:xfrm>
                <a:off x="7119938" y="2756297"/>
                <a:ext cx="2868443"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营收</a:t>
                </a:r>
                <a:r>
                  <a:rPr lang="zh-CN" sz="940" b="1" dirty="0">
                    <a:solidFill>
                      <a:srgbClr val="C97263"/>
                    </a:solidFill>
                    <a:latin typeface="+mn-lt"/>
                    <a:ea typeface="+mn-ea"/>
                    <a:cs typeface="+mn-cs"/>
                  </a:rPr>
                  <a:t>(60%)</a:t>
                </a:r>
                <a:r>
                  <a:rPr lang="zh-CN" sz="940" dirty="0">
                    <a:solidFill>
                      <a:srgbClr val="3A3A3A"/>
                    </a:solidFill>
                    <a:latin typeface="+mn-lt"/>
                    <a:ea typeface="+mn-ea"/>
                    <a:cs typeface="+mn-cs"/>
                  </a:rPr>
                  <a:t xml:space="preserve"> + 份额提升</a:t>
                </a:r>
                <a:r>
                  <a:rPr lang="zh-CN" sz="940" b="1" dirty="0">
                    <a:solidFill>
                      <a:srgbClr val="C97263"/>
                    </a:solidFill>
                    <a:latin typeface="+mn-lt"/>
                    <a:ea typeface="+mn-ea"/>
                    <a:cs typeface="+mn-cs"/>
                  </a:rPr>
                  <a:t>(20%)</a:t>
                </a:r>
                <a:r>
                  <a:rPr lang="zh-CN" sz="940" dirty="0">
                    <a:solidFill>
                      <a:srgbClr val="3A3A3A"/>
                    </a:solidFill>
                    <a:latin typeface="+mn-lt"/>
                    <a:ea typeface="+mn-ea"/>
                    <a:cs typeface="+mn-cs"/>
                  </a:rPr>
                  <a:t xml:space="preserve"> + 关系健康度</a:t>
                </a:r>
                <a:r>
                  <a:rPr lang="zh-CN" sz="940" b="1" dirty="0">
                    <a:solidFill>
                      <a:srgbClr val="C97263"/>
                    </a:solidFill>
                    <a:latin typeface="+mn-lt"/>
                    <a:ea typeface="+mn-ea"/>
                    <a:cs typeface="+mn-cs"/>
                  </a:rPr>
                  <a:t>(20%)</a:t>
                </a:r>
              </a:p>
            </p:txBody>
          </p:sp>
        </p:grpSp>
        <p:grpSp>
          <p:nvGrpSpPr>
            <p:cNvPr id="103" name="perf-incentive"/>
            <p:cNvGrpSpPr/>
            <p:nvPr/>
          </p:nvGrpSpPr>
          <p:grpSpPr>
            <a:xfrm>
              <a:off x="6096000" y="3429000"/>
              <a:ext cx="5715000" cy="1219200"/>
              <a:chOff x="6096000" y="3429000"/>
              <a:chExt cx="5715000" cy="1219200"/>
            </a:xfrm>
          </p:grpSpPr>
          <p:sp>
            <p:nvSpPr>
              <p:cNvPr id="94" name="Rectangle 94"/>
              <p:cNvSpPr/>
              <p:nvPr/>
            </p:nvSpPr>
            <p:spPr>
              <a:xfrm>
                <a:off x="6096000" y="3429000"/>
                <a:ext cx="5715000" cy="1219200"/>
              </a:xfrm>
              <a:prstGeom prst="roundRect">
                <a:avLst>
                  <a:gd name="adj" fmla="val 4688"/>
                </a:avLst>
              </a:prstGeom>
              <a:solidFill>
                <a:srgbClr val="F7F4F2"/>
              </a:solidFill>
              <a:ln w="11430">
                <a:solidFill>
                  <a:srgbClr val="C97263"/>
                </a:solidFill>
              </a:ln>
            </p:spPr>
          </p:sp>
          <p:sp>
            <p:nvSpPr>
              <p:cNvPr id="95" name="Ellipse 95"/>
              <p:cNvSpPr/>
              <p:nvPr/>
            </p:nvSpPr>
            <p:spPr>
              <a:xfrm>
                <a:off x="6372225" y="3781425"/>
                <a:ext cx="514350" cy="514350"/>
              </a:xfrm>
              <a:prstGeom prst="ellipse">
                <a:avLst/>
              </a:prstGeom>
              <a:solidFill>
                <a:srgbClr val="FFFFFF"/>
              </a:solidFill>
              <a:ln w="19050">
                <a:solidFill>
                  <a:srgbClr val="C97263"/>
                </a:solidFill>
              </a:ln>
            </p:spPr>
          </p:sp>
          <p:grpSp>
            <p:nvGrpSpPr>
              <p:cNvPr id="100" name="Group 100"/>
              <p:cNvGrpSpPr/>
              <p:nvPr/>
            </p:nvGrpSpPr>
            <p:grpSpPr>
              <a:xfrm>
                <a:off x="6536531" y="3945376"/>
                <a:ext cx="185737" cy="186092"/>
                <a:chOff x="6536531" y="3945376"/>
                <a:chExt cx="185737" cy="186092"/>
              </a:xfrm>
            </p:grpSpPr>
            <p:sp>
              <p:nvSpPr>
                <p:cNvPr id="96" name="Freeform 96"/>
                <p:cNvSpPr/>
                <p:nvPr/>
              </p:nvSpPr>
              <p:spPr>
                <a:xfrm>
                  <a:off x="6536531" y="3997325"/>
                  <a:ext cx="185737" cy="41275"/>
                </a:xfrm>
                <a:custGeom>
                  <a:avLst/>
                  <a:gdLst/>
                  <a:ahLst/>
                  <a:cxnLst/>
                  <a:rect l="l" t="t" r="r" b="b"/>
                  <a:pathLst>
                    <a:path w="185737" h="41275">
                      <a:moveTo>
                        <a:pt x="0" y="10319"/>
                      </a:moveTo>
                      <a:cubicBezTo>
                        <a:pt x="0" y="4620"/>
                        <a:pt x="4620" y="0"/>
                        <a:pt x="10319" y="0"/>
                      </a:cubicBezTo>
                      <a:lnTo>
                        <a:pt x="175418" y="0"/>
                      </a:lnTo>
                      <a:cubicBezTo>
                        <a:pt x="181117" y="0"/>
                        <a:pt x="185737" y="4620"/>
                        <a:pt x="185737" y="10319"/>
                      </a:cubicBezTo>
                      <a:lnTo>
                        <a:pt x="185737" y="30956"/>
                      </a:lnTo>
                      <a:cubicBezTo>
                        <a:pt x="185737" y="36655"/>
                        <a:pt x="181117" y="41275"/>
                        <a:pt x="175418" y="41275"/>
                      </a:cubicBezTo>
                      <a:lnTo>
                        <a:pt x="10319" y="41275"/>
                      </a:lnTo>
                      <a:cubicBezTo>
                        <a:pt x="4620" y="41275"/>
                        <a:pt x="0" y="36655"/>
                        <a:pt x="0" y="30956"/>
                      </a:cubicBezTo>
                      <a:lnTo>
                        <a:pt x="0" y="10319"/>
                      </a:lnTo>
                    </a:path>
                  </a:pathLst>
                </a:custGeom>
                <a:noFill/>
                <a:ln w="20637">
                  <a:solidFill>
                    <a:srgbClr val="C97263"/>
                  </a:solidFill>
                </a:ln>
              </p:spPr>
            </p:sp>
            <p:sp>
              <p:nvSpPr>
                <p:cNvPr id="97" name="Freeform 97"/>
                <p:cNvSpPr/>
                <p:nvPr/>
              </p:nvSpPr>
              <p:spPr>
                <a:xfrm>
                  <a:off x="6629400" y="3997325"/>
                  <a:ext cx="9525" cy="134143"/>
                </a:xfrm>
                <a:custGeom>
                  <a:avLst/>
                  <a:gdLst/>
                  <a:ahLst/>
                  <a:cxnLst/>
                  <a:rect l="l" t="t" r="r" b="b"/>
                  <a:pathLst>
                    <a:path w="9525" h="134143">
                      <a:moveTo>
                        <a:pt x="0" y="0"/>
                      </a:moveTo>
                      <a:lnTo>
                        <a:pt x="0" y="134143"/>
                      </a:lnTo>
                    </a:path>
                  </a:pathLst>
                </a:custGeom>
                <a:noFill/>
                <a:ln w="20637">
                  <a:solidFill>
                    <a:srgbClr val="C97263"/>
                  </a:solidFill>
                </a:ln>
              </p:spPr>
            </p:sp>
            <p:sp>
              <p:nvSpPr>
                <p:cNvPr id="98" name="Freeform 98"/>
                <p:cNvSpPr/>
                <p:nvPr/>
              </p:nvSpPr>
              <p:spPr>
                <a:xfrm>
                  <a:off x="6557169" y="4038600"/>
                  <a:ext cx="144462" cy="92868"/>
                </a:xfrm>
                <a:custGeom>
                  <a:avLst/>
                  <a:gdLst/>
                  <a:ahLst/>
                  <a:cxnLst/>
                  <a:rect l="l" t="t" r="r" b="b"/>
                  <a:pathLst>
                    <a:path w="144462" h="92868">
                      <a:moveTo>
                        <a:pt x="144462" y="0"/>
                      </a:moveTo>
                      <a:lnTo>
                        <a:pt x="144462" y="72231"/>
                      </a:lnTo>
                      <a:cubicBezTo>
                        <a:pt x="144462" y="83629"/>
                        <a:pt x="135222" y="92868"/>
                        <a:pt x="123825" y="92868"/>
                      </a:cubicBezTo>
                      <a:lnTo>
                        <a:pt x="20637" y="92868"/>
                      </a:lnTo>
                      <a:cubicBezTo>
                        <a:pt x="9240" y="92868"/>
                        <a:pt x="0" y="83629"/>
                        <a:pt x="0" y="72231"/>
                      </a:cubicBezTo>
                      <a:lnTo>
                        <a:pt x="0" y="0"/>
                      </a:lnTo>
                    </a:path>
                  </a:pathLst>
                </a:custGeom>
                <a:noFill/>
                <a:ln w="20637">
                  <a:solidFill>
                    <a:srgbClr val="C97263"/>
                  </a:solidFill>
                </a:ln>
              </p:spPr>
            </p:sp>
            <p:sp>
              <p:nvSpPr>
                <p:cNvPr id="99" name="Freeform 99"/>
                <p:cNvSpPr/>
                <p:nvPr/>
              </p:nvSpPr>
              <p:spPr>
                <a:xfrm>
                  <a:off x="6557169" y="3945376"/>
                  <a:ext cx="144462" cy="51949"/>
                </a:xfrm>
                <a:custGeom>
                  <a:avLst/>
                  <a:gdLst/>
                  <a:ahLst/>
                  <a:cxnLst/>
                  <a:rect l="l" t="t" r="r" b="b"/>
                  <a:pathLst>
                    <a:path w="144462" h="51949">
                      <a:moveTo>
                        <a:pt x="25797" y="51949"/>
                      </a:moveTo>
                      <a:cubicBezTo>
                        <a:pt x="11550" y="51949"/>
                        <a:pt x="0" y="40399"/>
                        <a:pt x="0" y="26152"/>
                      </a:cubicBezTo>
                      <a:cubicBezTo>
                        <a:pt x="0" y="11905"/>
                        <a:pt x="11550" y="355"/>
                        <a:pt x="25797" y="355"/>
                      </a:cubicBezTo>
                      <a:cubicBezTo>
                        <a:pt x="46168" y="0"/>
                        <a:pt x="64592" y="20471"/>
                        <a:pt x="72231" y="51949"/>
                      </a:cubicBezTo>
                      <a:cubicBezTo>
                        <a:pt x="79870" y="20471"/>
                        <a:pt x="98294" y="0"/>
                        <a:pt x="118665" y="355"/>
                      </a:cubicBezTo>
                      <a:cubicBezTo>
                        <a:pt x="132912" y="355"/>
                        <a:pt x="144462" y="11905"/>
                        <a:pt x="144462" y="26152"/>
                      </a:cubicBezTo>
                      <a:cubicBezTo>
                        <a:pt x="144462" y="40399"/>
                        <a:pt x="132912" y="51949"/>
                        <a:pt x="118665" y="51949"/>
                      </a:cubicBezTo>
                    </a:path>
                  </a:pathLst>
                </a:custGeom>
                <a:noFill/>
                <a:ln w="20637">
                  <a:solidFill>
                    <a:srgbClr val="C97263"/>
                  </a:solidFill>
                </a:ln>
              </p:spPr>
            </p:sp>
          </p:grpSp>
          <p:sp>
            <p:nvSpPr>
              <p:cNvPr id="101" name="TextBox 101"/>
              <p:cNvSpPr txBox="1"/>
              <p:nvPr/>
            </p:nvSpPr>
            <p:spPr>
              <a:xfrm>
                <a:off x="7118414" y="3790712"/>
                <a:ext cx="680288" cy="242030"/>
              </a:xfrm>
              <a:prstGeom prst="rect">
                <a:avLst/>
              </a:prstGeom>
              <a:noFill/>
              <a:ln>
                <a:noFill/>
              </a:ln>
            </p:spPr>
            <p:txBody>
              <a:bodyPr wrap="none" lIns="0" tIns="0" rIns="0" bIns="0" anchor="t" anchorCtr="0">
                <a:spAutoFit/>
              </a:bodyPr>
              <a:lstStyle/>
              <a:p>
                <a:pPr algn="l"/>
                <a:r>
                  <a:rPr lang="zh-CN" sz="1240" b="1" dirty="0">
                    <a:solidFill>
                      <a:srgbClr val="2B2B2B"/>
                    </a:solidFill>
                    <a:latin typeface="+mn-lt"/>
                    <a:ea typeface="+mn-ea"/>
                    <a:cs typeface="+mn-cs"/>
                  </a:rPr>
                  <a:t>激励导向</a:t>
                </a:r>
              </a:p>
            </p:txBody>
          </p:sp>
          <p:sp>
            <p:nvSpPr>
              <p:cNvPr id="102" name="TextBox 102"/>
              <p:cNvSpPr txBox="1"/>
              <p:nvPr/>
            </p:nvSpPr>
            <p:spPr>
              <a:xfrm>
                <a:off x="7119938" y="4127897"/>
                <a:ext cx="1083945" cy="411956"/>
              </a:xfrm>
              <a:prstGeom prst="rect">
                <a:avLst/>
              </a:prstGeom>
              <a:noFill/>
              <a:ln>
                <a:noFill/>
              </a:ln>
            </p:spPr>
            <p:txBody>
              <a:bodyPr wrap="none" lIns="0" tIns="0" rIns="0" bIns="0" anchor="t" anchorCtr="0">
                <a:spAutoFit/>
              </a:bodyPr>
              <a:lstStyle/>
              <a:p>
                <a:pPr algn="l">
                  <a:lnSpc>
                    <a:spcPts val="1800"/>
                  </a:lnSpc>
                </a:pPr>
                <a:r>
                  <a:rPr lang="zh-CN" sz="940" dirty="0">
                    <a:solidFill>
                      <a:srgbClr val="3A3A3A"/>
                    </a:solidFill>
                    <a:latin typeface="+mn-lt"/>
                    <a:ea typeface="+mn-ea"/>
                    <a:cs typeface="+mn-cs"/>
                  </a:rPr>
                  <a:t>不建议纯佣金制，</a:t>
                </a:r>
                <a:br/>
                <a:r>
                  <a:rPr lang="zh-CN" sz="940" dirty="0">
                    <a:solidFill>
                      <a:srgbClr val="3A3A3A"/>
                    </a:solidFill>
                    <a:latin typeface="+mn-lt"/>
                    <a:ea typeface="+mn-ea"/>
                    <a:cs typeface="+mn-cs"/>
                  </a:rPr>
                  <a:t>避免忽视长期关系；</a:t>
                </a:r>
              </a:p>
            </p:txBody>
          </p:sp>
        </p:grpSp>
        <p:grpSp>
          <p:nvGrpSpPr>
            <p:cNvPr id="111" name="perf-retention"/>
            <p:cNvGrpSpPr/>
            <p:nvPr/>
          </p:nvGrpSpPr>
          <p:grpSpPr>
            <a:xfrm>
              <a:off x="6096000" y="4800600"/>
              <a:ext cx="5715000" cy="1219200"/>
              <a:chOff x="6096000" y="4800600"/>
              <a:chExt cx="5715000" cy="1219200"/>
            </a:xfrm>
          </p:grpSpPr>
          <p:sp>
            <p:nvSpPr>
              <p:cNvPr id="104" name="Rectangle 104"/>
              <p:cNvSpPr/>
              <p:nvPr/>
            </p:nvSpPr>
            <p:spPr>
              <a:xfrm>
                <a:off x="6096000" y="4800600"/>
                <a:ext cx="5715000" cy="1219200"/>
              </a:xfrm>
              <a:prstGeom prst="roundRect">
                <a:avLst>
                  <a:gd name="adj" fmla="val 4688"/>
                </a:avLst>
              </a:prstGeom>
              <a:solidFill>
                <a:srgbClr val="F7F4F2"/>
              </a:solidFill>
              <a:ln w="11430">
                <a:solidFill>
                  <a:srgbClr val="C97263"/>
                </a:solidFill>
              </a:ln>
            </p:spPr>
          </p:sp>
          <p:sp>
            <p:nvSpPr>
              <p:cNvPr id="105" name="Ellipse 105"/>
              <p:cNvSpPr/>
              <p:nvPr/>
            </p:nvSpPr>
            <p:spPr>
              <a:xfrm>
                <a:off x="6372225" y="5153025"/>
                <a:ext cx="514350" cy="514350"/>
              </a:xfrm>
              <a:prstGeom prst="ellipse">
                <a:avLst/>
              </a:prstGeom>
              <a:solidFill>
                <a:srgbClr val="FFFFFF"/>
              </a:solidFill>
              <a:ln w="19050">
                <a:solidFill>
                  <a:srgbClr val="C97263"/>
                </a:solidFill>
              </a:ln>
            </p:spPr>
          </p:sp>
          <p:grpSp>
            <p:nvGrpSpPr>
              <p:cNvPr id="108" name="Group 108"/>
              <p:cNvGrpSpPr/>
              <p:nvPr/>
            </p:nvGrpSpPr>
            <p:grpSpPr>
              <a:xfrm>
                <a:off x="6522606" y="5317331"/>
                <a:ext cx="201506" cy="185737"/>
                <a:chOff x="6522606" y="5317331"/>
                <a:chExt cx="201506" cy="185737"/>
              </a:xfrm>
            </p:grpSpPr>
            <p:sp>
              <p:nvSpPr>
                <p:cNvPr id="106" name="Freeform 106"/>
                <p:cNvSpPr/>
                <p:nvPr/>
              </p:nvSpPr>
              <p:spPr>
                <a:xfrm>
                  <a:off x="6522606" y="5317331"/>
                  <a:ext cx="201506" cy="184148"/>
                </a:xfrm>
                <a:custGeom>
                  <a:avLst/>
                  <a:gdLst/>
                  <a:ahLst/>
                  <a:cxnLst/>
                  <a:rect l="l" t="t" r="r" b="b"/>
                  <a:pathLst>
                    <a:path w="201506" h="184148">
                      <a:moveTo>
                        <a:pt x="101222" y="184148"/>
                      </a:moveTo>
                      <a:cubicBezTo>
                        <a:pt x="36580" y="164110"/>
                        <a:pt x="0" y="95886"/>
                        <a:pt x="19085" y="30956"/>
                      </a:cubicBezTo>
                      <a:cubicBezTo>
                        <a:pt x="51233" y="32427"/>
                        <a:pt x="82691" y="21324"/>
                        <a:pt x="106794" y="0"/>
                      </a:cubicBezTo>
                      <a:cubicBezTo>
                        <a:pt x="130897" y="21324"/>
                        <a:pt x="162355" y="32427"/>
                        <a:pt x="194503" y="30956"/>
                      </a:cubicBezTo>
                      <a:cubicBezTo>
                        <a:pt x="201506" y="54783"/>
                        <a:pt x="201183" y="80166"/>
                        <a:pt x="193575" y="103806"/>
                      </a:cubicBezTo>
                    </a:path>
                  </a:pathLst>
                </a:custGeom>
                <a:noFill/>
                <a:ln w="20637">
                  <a:solidFill>
                    <a:srgbClr val="C97263"/>
                  </a:solidFill>
                </a:ln>
              </p:spPr>
            </p:sp>
            <p:sp>
              <p:nvSpPr>
                <p:cNvPr id="107" name="Freeform 107"/>
                <p:cNvSpPr/>
                <p:nvPr/>
              </p:nvSpPr>
              <p:spPr>
                <a:xfrm>
                  <a:off x="6660356" y="5461793"/>
                  <a:ext cx="61912" cy="41275"/>
                </a:xfrm>
                <a:custGeom>
                  <a:avLst/>
                  <a:gdLst/>
                  <a:ahLst/>
                  <a:cxnLst/>
                  <a:rect l="l" t="t" r="r" b="b"/>
                  <a:pathLst>
                    <a:path w="61912" h="41275">
                      <a:moveTo>
                        <a:pt x="0" y="20637"/>
                      </a:moveTo>
                      <a:lnTo>
                        <a:pt x="20637" y="41275"/>
                      </a:lnTo>
                      <a:lnTo>
                        <a:pt x="61912" y="0"/>
                      </a:lnTo>
                    </a:path>
                  </a:pathLst>
                </a:custGeom>
                <a:noFill/>
                <a:ln w="20637">
                  <a:solidFill>
                    <a:srgbClr val="C97263"/>
                  </a:solidFill>
                </a:ln>
              </p:spPr>
            </p:sp>
          </p:grpSp>
          <p:sp>
            <p:nvSpPr>
              <p:cNvPr id="109" name="TextBox 109"/>
              <p:cNvSpPr txBox="1"/>
              <p:nvPr/>
            </p:nvSpPr>
            <p:spPr>
              <a:xfrm>
                <a:off x="7118414" y="5162312"/>
                <a:ext cx="1348003" cy="242030"/>
              </a:xfrm>
              <a:prstGeom prst="rect">
                <a:avLst/>
              </a:prstGeom>
              <a:noFill/>
              <a:ln>
                <a:noFill/>
              </a:ln>
            </p:spPr>
            <p:txBody>
              <a:bodyPr wrap="none" lIns="0" tIns="0" rIns="0" bIns="0" anchor="t" anchorCtr="0">
                <a:spAutoFit/>
              </a:bodyPr>
              <a:lstStyle/>
              <a:p>
                <a:pPr algn="l"/>
                <a:r>
                  <a:rPr lang="zh-CN" sz="1240" b="1" dirty="0">
                    <a:solidFill>
                      <a:srgbClr val="2B2B2B"/>
                    </a:solidFill>
                    <a:latin typeface="+mn-lt"/>
                    <a:ea typeface="+mn-ea"/>
                    <a:cs typeface="+mn-cs"/>
                  </a:rPr>
                  <a:t>设置客户保有奖励</a:t>
                </a:r>
              </a:p>
            </p:txBody>
          </p:sp>
          <p:sp>
            <p:nvSpPr>
              <p:cNvPr id="110" name="TextBox 110"/>
              <p:cNvSpPr txBox="1"/>
              <p:nvPr/>
            </p:nvSpPr>
            <p:spPr>
              <a:xfrm>
                <a:off x="7119938" y="5499497"/>
                <a:ext cx="2160753" cy="183356"/>
              </a:xfrm>
              <a:prstGeom prst="rect">
                <a:avLst/>
              </a:prstGeom>
              <a:noFill/>
              <a:ln>
                <a:noFill/>
              </a:ln>
            </p:spPr>
            <p:txBody>
              <a:bodyPr wrap="none" lIns="0" tIns="0" rIns="0" bIns="0" anchor="t" anchorCtr="0">
                <a:spAutoFit/>
              </a:bodyPr>
              <a:lstStyle/>
              <a:p>
                <a:pPr algn="l"/>
                <a:r>
                  <a:rPr lang="zh-CN" sz="940" dirty="0">
                    <a:solidFill>
                      <a:srgbClr val="3A3A3A"/>
                    </a:solidFill>
                    <a:latin typeface="+mn-lt"/>
                    <a:ea typeface="+mn-ea"/>
                    <a:cs typeface="+mn-cs"/>
                  </a:rPr>
                  <a:t>防止流失，促进长期合作与价值共创。</a:t>
                </a:r>
              </a:p>
            </p:txBody>
          </p:sp>
        </p:grpSp>
      </p:grpSp>
      <p:sp>
        <p:nvSpPr>
          <p:cNvPr id="113" name="page-num"/>
          <p:cNvSpPr txBox="1"/>
          <p:nvPr/>
        </p:nvSpPr>
        <p:spPr>
          <a:xfrm>
            <a:off x="11582971" y="6532721"/>
            <a:ext cx="235268" cy="278702"/>
          </a:xfrm>
          <a:prstGeom prst="rect">
            <a:avLst/>
          </a:prstGeom>
          <a:noFill/>
          <a:ln>
            <a:noFill/>
          </a:ln>
        </p:spPr>
        <p:txBody>
          <a:bodyPr wrap="none" lIns="0" tIns="0" rIns="0" bIns="0" anchor="t" anchorCtr="0">
            <a:spAutoFit/>
          </a:bodyPr>
          <a:lstStyle/>
          <a:p>
            <a:pPr algn="r"/>
            <a:r>
              <a:rPr lang="zh-CN" sz="1420" b="1" dirty="0">
                <a:solidFill>
                  <a:srgbClr val="3F3F3F"/>
                </a:solidFill>
                <a:latin typeface="+mn-lt"/>
                <a:ea typeface="+mn-ea"/>
                <a:cs typeface="+mn-cs"/>
              </a:rPr>
              <a:t>13</a:t>
            </a: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81000" y="190500"/>
            <a:ext cx="10603161" cy="573596"/>
            <a:chOff x="381000" y="190500"/>
            <a:chExt cx="10603161" cy="573596"/>
          </a:xfrm>
        </p:grpSpPr>
        <p:sp>
          <p:nvSpPr>
            <p:cNvPr id="2" name="Rectangle 2"/>
            <p:cNvSpPr/>
            <p:nvPr/>
          </p:nvSpPr>
          <p:spPr>
            <a:xfrm>
              <a:off x="381000" y="190500"/>
              <a:ext cx="76200" cy="400050"/>
            </a:xfrm>
            <a:prstGeom prst="rect">
              <a:avLst/>
            </a:prstGeom>
            <a:solidFill>
              <a:srgbClr val="8B321E"/>
            </a:solidFill>
            <a:ln>
              <a:noFill/>
            </a:ln>
          </p:spPr>
        </p:sp>
        <p:sp>
          <p:nvSpPr>
            <p:cNvPr id="3" name="TextBox 3"/>
            <p:cNvSpPr txBox="1"/>
            <p:nvPr/>
          </p:nvSpPr>
          <p:spPr>
            <a:xfrm>
              <a:off x="576072" y="206693"/>
              <a:ext cx="10408089" cy="557403"/>
            </a:xfrm>
            <a:prstGeom prst="rect">
              <a:avLst/>
            </a:prstGeom>
            <a:noFill/>
            <a:ln>
              <a:noFill/>
            </a:ln>
          </p:spPr>
          <p:txBody>
            <a:bodyPr wrap="none" lIns="0" tIns="0" rIns="0" bIns="0" anchor="t" anchorCtr="0">
              <a:spAutoFit/>
            </a:bodyPr>
            <a:lstStyle/>
            <a:p>
              <a:pPr algn="l"/>
              <a:r>
                <a:rPr lang="zh-CN" sz="2850" b="1" dirty="0">
                  <a:solidFill>
                    <a:srgbClr val="1A1A1A"/>
                  </a:solidFill>
                  <a:latin typeface="+mn-lt"/>
                  <a:ea typeface="+mn-ea"/>
                  <a:cs typeface="+mn-cs"/>
                </a:rPr>
                <a:t>大客户销售的数字化工具：CRM不是管理工具，而是作战工具</a:t>
              </a:r>
            </a:p>
          </p:txBody>
        </p:sp>
      </p:grpSp>
      <p:grpSp>
        <p:nvGrpSpPr>
          <p:cNvPr id="15" name="core-bar"/>
          <p:cNvGrpSpPr/>
          <p:nvPr/>
        </p:nvGrpSpPr>
        <p:grpSpPr>
          <a:xfrm>
            <a:off x="381000" y="781050"/>
            <a:ext cx="11430000" cy="876300"/>
            <a:chOff x="381000" y="781050"/>
            <a:chExt cx="11430000" cy="876300"/>
          </a:xfrm>
        </p:grpSpPr>
        <p:sp>
          <p:nvSpPr>
            <p:cNvPr id="5" name="Rectangle 5"/>
            <p:cNvSpPr/>
            <p:nvPr/>
          </p:nvSpPr>
          <p:spPr>
            <a:xfrm>
              <a:off x="381000" y="781050"/>
              <a:ext cx="1123950" cy="876300"/>
            </a:xfrm>
            <a:prstGeom prst="roundRect">
              <a:avLst>
                <a:gd name="adj" fmla="val 2174"/>
              </a:avLst>
            </a:prstGeom>
            <a:solidFill>
              <a:srgbClr val="8B321E"/>
            </a:solidFill>
            <a:ln>
              <a:noFill/>
            </a:ln>
          </p:spPr>
        </p:sp>
        <p:grpSp>
          <p:nvGrpSpPr>
            <p:cNvPr id="11" name="Group 11"/>
            <p:cNvGrpSpPr/>
            <p:nvPr/>
          </p:nvGrpSpPr>
          <p:grpSpPr>
            <a:xfrm>
              <a:off x="826637" y="964748"/>
              <a:ext cx="227844" cy="227864"/>
              <a:chOff x="826637" y="964748"/>
              <a:chExt cx="227844" cy="227864"/>
            </a:xfrm>
          </p:grpSpPr>
          <p:sp>
            <p:nvSpPr>
              <p:cNvPr id="6" name="Freeform 6"/>
              <p:cNvSpPr/>
              <p:nvPr/>
            </p:nvSpPr>
            <p:spPr>
              <a:xfrm>
                <a:off x="931069" y="1064419"/>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FFFFFF"/>
                </a:solidFill>
              </a:ln>
            </p:spPr>
          </p:sp>
          <p:sp>
            <p:nvSpPr>
              <p:cNvPr id="7" name="Freeform 7"/>
              <p:cNvSpPr/>
              <p:nvPr/>
            </p:nvSpPr>
            <p:spPr>
              <a:xfrm>
                <a:off x="883444" y="1016794"/>
                <a:ext cx="119062" cy="119062"/>
              </a:xfrm>
              <a:custGeom>
                <a:avLst/>
                <a:gdLst/>
                <a:ahLst/>
                <a:cxnLst/>
                <a:rect l="l" t="t" r="r" b="b"/>
                <a:pathLst>
                  <a:path w="119062" h="119062">
                    <a:moveTo>
                      <a:pt x="59531" y="0"/>
                    </a:moveTo>
                    <a:cubicBezTo>
                      <a:pt x="26653" y="0"/>
                      <a:pt x="0" y="26653"/>
                      <a:pt x="0" y="59531"/>
                    </a:cubicBezTo>
                    <a:cubicBezTo>
                      <a:pt x="0" y="92409"/>
                      <a:pt x="26653" y="119062"/>
                      <a:pt x="59531" y="119062"/>
                    </a:cubicBezTo>
                    <a:cubicBezTo>
                      <a:pt x="92409" y="119062"/>
                      <a:pt x="119062" y="92409"/>
                      <a:pt x="119062" y="59531"/>
                    </a:cubicBezTo>
                  </a:path>
                </a:pathLst>
              </a:custGeom>
              <a:noFill/>
              <a:ln w="23812">
                <a:solidFill>
                  <a:srgbClr val="FFFFFF"/>
                </a:solidFill>
              </a:ln>
            </p:spPr>
          </p:sp>
          <p:sp>
            <p:nvSpPr>
              <p:cNvPr id="8" name="Freeform 8"/>
              <p:cNvSpPr/>
              <p:nvPr/>
            </p:nvSpPr>
            <p:spPr>
              <a:xfrm>
                <a:off x="826637" y="964748"/>
                <a:ext cx="227844" cy="227864"/>
              </a:xfrm>
              <a:custGeom>
                <a:avLst/>
                <a:gdLst/>
                <a:ahLst/>
                <a:cxnLst/>
                <a:rect l="l" t="t" r="r" b="b"/>
                <a:pathLst>
                  <a:path w="227844" h="227864">
                    <a:moveTo>
                      <a:pt x="128244" y="5075"/>
                    </a:moveTo>
                    <a:cubicBezTo>
                      <a:pt x="83004" y="0"/>
                      <a:pt x="39495" y="24063"/>
                      <a:pt x="19747" y="65081"/>
                    </a:cubicBezTo>
                    <a:cubicBezTo>
                      <a:pt x="0" y="106099"/>
                      <a:pt x="8325" y="155117"/>
                      <a:pt x="40507" y="187315"/>
                    </a:cubicBezTo>
                    <a:cubicBezTo>
                      <a:pt x="72689" y="219514"/>
                      <a:pt x="121703" y="227864"/>
                      <a:pt x="162731" y="208137"/>
                    </a:cubicBezTo>
                    <a:cubicBezTo>
                      <a:pt x="203759" y="188410"/>
                      <a:pt x="227844" y="144913"/>
                      <a:pt x="222791" y="99671"/>
                    </a:cubicBezTo>
                  </a:path>
                </a:pathLst>
              </a:custGeom>
              <a:noFill/>
              <a:ln w="23812">
                <a:solidFill>
                  <a:srgbClr val="FFFFFF"/>
                </a:solidFill>
              </a:ln>
            </p:spPr>
          </p:sp>
          <p:sp>
            <p:nvSpPr>
              <p:cNvPr id="9" name="Freeform 9"/>
              <p:cNvSpPr/>
              <p:nvPr/>
            </p:nvSpPr>
            <p:spPr>
              <a:xfrm>
                <a:off x="978694" y="969169"/>
                <a:ext cx="71438" cy="71438"/>
              </a:xfrm>
              <a:custGeom>
                <a:avLst/>
                <a:gdLst/>
                <a:ahLst/>
                <a:cxnLst/>
                <a:rect l="l" t="t" r="r" b="b"/>
                <a:pathLst>
                  <a:path w="71438" h="71438">
                    <a:moveTo>
                      <a:pt x="0" y="35719"/>
                    </a:moveTo>
                    <a:lnTo>
                      <a:pt x="0" y="71438"/>
                    </a:lnTo>
                    <a:lnTo>
                      <a:pt x="35719" y="71438"/>
                    </a:lnTo>
                    <a:lnTo>
                      <a:pt x="71438" y="35719"/>
                    </a:lnTo>
                    <a:lnTo>
                      <a:pt x="35719" y="35719"/>
                    </a:lnTo>
                    <a:lnTo>
                      <a:pt x="35719" y="0"/>
                    </a:lnTo>
                    <a:lnTo>
                      <a:pt x="0" y="35719"/>
                    </a:lnTo>
                  </a:path>
                </a:pathLst>
              </a:custGeom>
              <a:noFill/>
              <a:ln w="23812">
                <a:solidFill>
                  <a:srgbClr val="FFFFFF"/>
                </a:solidFill>
              </a:ln>
            </p:spPr>
          </p:sp>
          <p:sp>
            <p:nvSpPr>
              <p:cNvPr id="10" name="Freeform 10"/>
              <p:cNvSpPr/>
              <p:nvPr/>
            </p:nvSpPr>
            <p:spPr>
              <a:xfrm>
                <a:off x="942975" y="1040606"/>
                <a:ext cx="35719" cy="35719"/>
              </a:xfrm>
              <a:custGeom>
                <a:avLst/>
                <a:gdLst/>
                <a:ahLst/>
                <a:cxnLst/>
                <a:rect l="l" t="t" r="r" b="b"/>
                <a:pathLst>
                  <a:path w="35719" h="35719">
                    <a:moveTo>
                      <a:pt x="35719" y="0"/>
                    </a:moveTo>
                    <a:lnTo>
                      <a:pt x="0" y="35719"/>
                    </a:lnTo>
                  </a:path>
                </a:pathLst>
              </a:custGeom>
              <a:noFill/>
              <a:ln w="23812">
                <a:solidFill>
                  <a:srgbClr val="FFFFFF"/>
                </a:solidFill>
              </a:ln>
            </p:spPr>
          </p:sp>
        </p:grpSp>
        <p:sp>
          <p:nvSpPr>
            <p:cNvPr id="12" name="TextBox 12"/>
            <p:cNvSpPr txBox="1"/>
            <p:nvPr/>
          </p:nvSpPr>
          <p:spPr>
            <a:xfrm>
              <a:off x="654939" y="14297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核心观点</a:t>
              </a:r>
            </a:p>
          </p:txBody>
        </p:sp>
        <p:sp>
          <p:nvSpPr>
            <p:cNvPr id="13" name="Rectangle 13"/>
            <p:cNvSpPr/>
            <p:nvPr/>
          </p:nvSpPr>
          <p:spPr>
            <a:xfrm>
              <a:off x="1581150" y="781050"/>
              <a:ext cx="10229850" cy="876300"/>
            </a:xfrm>
            <a:prstGeom prst="rect">
              <a:avLst/>
            </a:prstGeom>
            <a:solidFill>
              <a:srgbClr val="FFFFFF"/>
            </a:solidFill>
            <a:ln w="14288">
              <a:solidFill>
                <a:srgbClr val="8B321E"/>
              </a:solidFill>
            </a:ln>
          </p:spPr>
        </p:sp>
        <p:sp>
          <p:nvSpPr>
            <p:cNvPr id="14" name="TextBox 14"/>
            <p:cNvSpPr txBox="1"/>
            <p:nvPr/>
          </p:nvSpPr>
          <p:spPr>
            <a:xfrm>
              <a:off x="3699510" y="945832"/>
              <a:ext cx="5993130" cy="627507"/>
            </a:xfrm>
            <a:prstGeom prst="rect">
              <a:avLst/>
            </a:prstGeom>
            <a:noFill/>
            <a:ln>
              <a:noFill/>
            </a:ln>
          </p:spPr>
          <p:txBody>
            <a:bodyPr wrap="none" lIns="0" tIns="0" rIns="0" bIns="0" anchor="t" anchorCtr="0">
              <a:spAutoFit/>
            </a:bodyPr>
            <a:lstStyle/>
            <a:p>
              <a:pPr algn="ctr">
                <a:lnSpc>
                  <a:spcPts val="2400"/>
                </a:lnSpc>
              </a:pPr>
              <a:r>
                <a:rPr lang="zh-CN" sz="1650" b="1" dirty="0">
                  <a:solidFill>
                    <a:srgbClr val="8B321E"/>
                  </a:solidFill>
                  <a:latin typeface="+mn-lt"/>
                  <a:ea typeface="+mn-ea"/>
                  <a:cs typeface="+mn-cs"/>
                </a:rPr>
                <a:t>CRM系统的价值不在于记录历史，而在于指导未来的销售行动，​</a:t>
              </a:r>
              <a:br/>
              <a:r>
                <a:rPr lang="zh-CN" sz="1650" b="1" dirty="0">
                  <a:solidFill>
                    <a:srgbClr val="8B321E"/>
                  </a:solidFill>
                  <a:latin typeface="+mn-lt"/>
                  <a:ea typeface="+mn-ea"/>
                  <a:cs typeface="+mn-cs"/>
                </a:rPr>
                <a:t>让每个销售人员知道"</a:t>
              </a:r>
              <a:r>
                <a:rPr lang="zh-CN" sz="1650" b="1" dirty="0">
                  <a:solidFill>
                    <a:srgbClr val="C97263"/>
                  </a:solidFill>
                  <a:latin typeface="+mn-lt"/>
                  <a:ea typeface="+mn-ea"/>
                  <a:cs typeface="+mn-cs"/>
                </a:rPr>
                <a:t>下一步该做什么</a:t>
              </a:r>
              <a:r>
                <a:rPr lang="zh-CN" sz="1650" b="1" dirty="0">
                  <a:solidFill>
                    <a:srgbClr val="8B321E"/>
                  </a:solidFill>
                  <a:latin typeface="+mn-lt"/>
                  <a:ea typeface="+mn-ea"/>
                  <a:cs typeface="+mn-cs"/>
                </a:rPr>
                <a:t>"。</a:t>
              </a:r>
            </a:p>
          </p:txBody>
        </p:sp>
      </p:grpSp>
      <p:grpSp>
        <p:nvGrpSpPr>
          <p:cNvPr id="54" name="uses"/>
          <p:cNvGrpSpPr/>
          <p:nvPr/>
        </p:nvGrpSpPr>
        <p:grpSpPr>
          <a:xfrm>
            <a:off x="373761" y="1846421"/>
            <a:ext cx="5341239" cy="4401979"/>
            <a:chOff x="373761" y="1846421"/>
            <a:chExt cx="5341239" cy="4401979"/>
          </a:xfrm>
        </p:grpSpPr>
        <p:sp>
          <p:nvSpPr>
            <p:cNvPr id="16" name="TextBox 16"/>
            <p:cNvSpPr txBox="1"/>
            <p:nvPr/>
          </p:nvSpPr>
          <p:spPr>
            <a:xfrm>
              <a:off x="373761" y="1846421"/>
              <a:ext cx="3193466"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CRM在大客户管理中的四个核心用途​</a:t>
              </a:r>
            </a:p>
          </p:txBody>
        </p:sp>
        <p:sp>
          <p:nvSpPr>
            <p:cNvPr id="17" name="Line 17"/>
            <p:cNvSpPr/>
            <p:nvPr/>
          </p:nvSpPr>
          <p:spPr>
            <a:xfrm>
              <a:off x="381000" y="2095500"/>
              <a:ext cx="5334000" cy="9525"/>
            </a:xfrm>
            <a:custGeom>
              <a:avLst/>
              <a:gdLst/>
              <a:ahLst/>
              <a:cxnLst/>
              <a:rect l="l" t="t" r="r" b="b"/>
              <a:pathLst>
                <a:path w="5334000" h="9525">
                  <a:moveTo>
                    <a:pt x="0" y="0"/>
                  </a:moveTo>
                  <a:lnTo>
                    <a:pt x="5334000" y="0"/>
                  </a:lnTo>
                </a:path>
              </a:pathLst>
            </a:custGeom>
            <a:noFill/>
            <a:ln w="9525">
              <a:solidFill>
                <a:srgbClr val="8B321E"/>
              </a:solidFill>
            </a:ln>
          </p:spPr>
        </p:sp>
        <p:grpSp>
          <p:nvGrpSpPr>
            <p:cNvPr id="28" name="use-1"/>
            <p:cNvGrpSpPr/>
            <p:nvPr/>
          </p:nvGrpSpPr>
          <p:grpSpPr>
            <a:xfrm>
              <a:off x="381000" y="2247900"/>
              <a:ext cx="5334000" cy="914400"/>
              <a:chOff x="381000" y="2247900"/>
              <a:chExt cx="5334000" cy="914400"/>
            </a:xfrm>
          </p:grpSpPr>
          <p:sp>
            <p:nvSpPr>
              <p:cNvPr id="18" name="Rectangle 18"/>
              <p:cNvSpPr/>
              <p:nvPr/>
            </p:nvSpPr>
            <p:spPr>
              <a:xfrm>
                <a:off x="381000" y="2247900"/>
                <a:ext cx="5334000" cy="914400"/>
              </a:xfrm>
              <a:prstGeom prst="roundRect">
                <a:avLst>
                  <a:gd name="adj" fmla="val 4167"/>
                </a:avLst>
              </a:prstGeom>
              <a:solidFill>
                <a:srgbClr val="8B321E"/>
              </a:solidFill>
              <a:ln>
                <a:noFill/>
              </a:ln>
            </p:spPr>
          </p:sp>
          <p:sp>
            <p:nvSpPr>
              <p:cNvPr id="19" name="Ellipse 19"/>
              <p:cNvSpPr/>
              <p:nvPr/>
            </p:nvSpPr>
            <p:spPr>
              <a:xfrm>
                <a:off x="533400" y="2457450"/>
                <a:ext cx="495300" cy="495300"/>
              </a:xfrm>
              <a:prstGeom prst="ellipse">
                <a:avLst/>
              </a:prstGeom>
              <a:solidFill>
                <a:srgbClr val="FFFFFF"/>
              </a:solidFill>
              <a:ln>
                <a:noFill/>
              </a:ln>
            </p:spPr>
          </p:sp>
          <p:grpSp>
            <p:nvGrpSpPr>
              <p:cNvPr id="25" name="Group 25"/>
              <p:cNvGrpSpPr/>
              <p:nvPr/>
            </p:nvGrpSpPr>
            <p:grpSpPr>
              <a:xfrm>
                <a:off x="688181" y="2612231"/>
                <a:ext cx="185737" cy="185737"/>
                <a:chOff x="688181" y="2612231"/>
                <a:chExt cx="185737" cy="185737"/>
              </a:xfrm>
            </p:grpSpPr>
            <p:sp>
              <p:nvSpPr>
                <p:cNvPr id="20" name="Freeform 20"/>
                <p:cNvSpPr/>
                <p:nvPr/>
              </p:nvSpPr>
              <p:spPr>
                <a:xfrm>
                  <a:off x="760412" y="2612231"/>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8B321E"/>
                  </a:solidFill>
                </a:ln>
              </p:spPr>
            </p:sp>
            <p:sp>
              <p:nvSpPr>
                <p:cNvPr id="21" name="Freeform 21"/>
                <p:cNvSpPr/>
                <p:nvPr/>
              </p:nvSpPr>
              <p:spPr>
                <a:xfrm>
                  <a:off x="688181" y="275669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8B321E"/>
                  </a:solidFill>
                </a:ln>
              </p:spPr>
            </p:sp>
            <p:sp>
              <p:nvSpPr>
                <p:cNvPr id="22" name="Freeform 22"/>
                <p:cNvSpPr/>
                <p:nvPr/>
              </p:nvSpPr>
              <p:spPr>
                <a:xfrm>
                  <a:off x="832643" y="2756693"/>
                  <a:ext cx="41275" cy="41275"/>
                </a:xfrm>
                <a:custGeom>
                  <a:avLst/>
                  <a:gdLst/>
                  <a:ahLst/>
                  <a:cxnLst/>
                  <a:rect l="l" t="t" r="r" b="b"/>
                  <a:pathLst>
                    <a:path w="41275" h="41275">
                      <a:moveTo>
                        <a:pt x="0" y="20637"/>
                      </a:moveTo>
                      <a:cubicBezTo>
                        <a:pt x="0" y="32035"/>
                        <a:pt x="9240" y="41275"/>
                        <a:pt x="20637" y="41275"/>
                      </a:cubicBezTo>
                      <a:cubicBezTo>
                        <a:pt x="32035" y="41275"/>
                        <a:pt x="41275" y="32035"/>
                        <a:pt x="41275" y="20637"/>
                      </a:cubicBezTo>
                      <a:cubicBezTo>
                        <a:pt x="41275" y="9240"/>
                        <a:pt x="32035" y="0"/>
                        <a:pt x="20637" y="0"/>
                      </a:cubicBezTo>
                      <a:cubicBezTo>
                        <a:pt x="9240" y="0"/>
                        <a:pt x="0" y="9240"/>
                        <a:pt x="0" y="20637"/>
                      </a:cubicBezTo>
                    </a:path>
                  </a:pathLst>
                </a:custGeom>
                <a:noFill/>
                <a:ln w="20637">
                  <a:solidFill>
                    <a:srgbClr val="8B321E"/>
                  </a:solidFill>
                </a:ln>
              </p:spPr>
            </p:sp>
            <p:sp>
              <p:nvSpPr>
                <p:cNvPr id="23" name="Freeform 23"/>
                <p:cNvSpPr/>
                <p:nvPr/>
              </p:nvSpPr>
              <p:spPr>
                <a:xfrm>
                  <a:off x="724297" y="2715418"/>
                  <a:ext cx="113506" cy="46434"/>
                </a:xfrm>
                <a:custGeom>
                  <a:avLst/>
                  <a:gdLst/>
                  <a:ahLst/>
                  <a:cxnLst/>
                  <a:rect l="l" t="t" r="r" b="b"/>
                  <a:pathLst>
                    <a:path w="113506" h="46434">
                      <a:moveTo>
                        <a:pt x="0" y="46434"/>
                      </a:moveTo>
                      <a:lnTo>
                        <a:pt x="56753" y="0"/>
                      </a:lnTo>
                      <a:lnTo>
                        <a:pt x="113506" y="46434"/>
                      </a:lnTo>
                    </a:path>
                  </a:pathLst>
                </a:custGeom>
                <a:noFill/>
                <a:ln w="20637">
                  <a:solidFill>
                    <a:srgbClr val="8B321E"/>
                  </a:solidFill>
                </a:ln>
              </p:spPr>
            </p:sp>
            <p:sp>
              <p:nvSpPr>
                <p:cNvPr id="24" name="Freeform 24"/>
                <p:cNvSpPr/>
                <p:nvPr/>
              </p:nvSpPr>
              <p:spPr>
                <a:xfrm>
                  <a:off x="781050" y="2653506"/>
                  <a:ext cx="9525" cy="61912"/>
                </a:xfrm>
                <a:custGeom>
                  <a:avLst/>
                  <a:gdLst/>
                  <a:ahLst/>
                  <a:cxnLst/>
                  <a:rect l="l" t="t" r="r" b="b"/>
                  <a:pathLst>
                    <a:path w="9525" h="61912">
                      <a:moveTo>
                        <a:pt x="0" y="0"/>
                      </a:moveTo>
                      <a:lnTo>
                        <a:pt x="0" y="61912"/>
                      </a:lnTo>
                    </a:path>
                  </a:pathLst>
                </a:custGeom>
                <a:noFill/>
                <a:ln w="20637">
                  <a:solidFill>
                    <a:srgbClr val="8B321E"/>
                  </a:solidFill>
                </a:ln>
              </p:spPr>
            </p:sp>
          </p:grpSp>
          <p:sp>
            <p:nvSpPr>
              <p:cNvPr id="26" name="TextBox 26"/>
              <p:cNvSpPr txBox="1"/>
              <p:nvPr/>
            </p:nvSpPr>
            <p:spPr>
              <a:xfrm>
                <a:off x="1175004" y="2499360"/>
                <a:ext cx="162763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用途一：客户画像管理</a:t>
                </a:r>
              </a:p>
            </p:txBody>
          </p:sp>
          <p:sp>
            <p:nvSpPr>
              <p:cNvPr id="27" name="TextBox 27"/>
              <p:cNvSpPr txBox="1"/>
              <p:nvPr/>
            </p:nvSpPr>
            <p:spPr>
              <a:xfrm>
                <a:off x="1176338" y="2798445"/>
                <a:ext cx="255384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包含组织架构、关系图谱、竞争态势、历史交易</a:t>
                </a:r>
              </a:p>
            </p:txBody>
          </p:sp>
        </p:grpSp>
        <p:grpSp>
          <p:nvGrpSpPr>
            <p:cNvPr id="34" name="use-2"/>
            <p:cNvGrpSpPr/>
            <p:nvPr/>
          </p:nvGrpSpPr>
          <p:grpSpPr>
            <a:xfrm>
              <a:off x="381000" y="3276600"/>
              <a:ext cx="5334000" cy="914400"/>
              <a:chOff x="381000" y="3276600"/>
              <a:chExt cx="5334000" cy="914400"/>
            </a:xfrm>
          </p:grpSpPr>
          <p:sp>
            <p:nvSpPr>
              <p:cNvPr id="29" name="Rectangle 29"/>
              <p:cNvSpPr/>
              <p:nvPr/>
            </p:nvSpPr>
            <p:spPr>
              <a:xfrm>
                <a:off x="381000" y="3276600"/>
                <a:ext cx="5334000" cy="914400"/>
              </a:xfrm>
              <a:prstGeom prst="roundRect">
                <a:avLst>
                  <a:gd name="adj" fmla="val 4167"/>
                </a:avLst>
              </a:prstGeom>
              <a:solidFill>
                <a:srgbClr val="55565A"/>
              </a:solidFill>
              <a:ln>
                <a:noFill/>
              </a:ln>
            </p:spPr>
          </p:sp>
          <p:sp>
            <p:nvSpPr>
              <p:cNvPr id="30" name="Ellipse 30"/>
              <p:cNvSpPr/>
              <p:nvPr/>
            </p:nvSpPr>
            <p:spPr>
              <a:xfrm>
                <a:off x="533400" y="3486150"/>
                <a:ext cx="495300" cy="495300"/>
              </a:xfrm>
              <a:prstGeom prst="ellipse">
                <a:avLst/>
              </a:prstGeom>
              <a:solidFill>
                <a:srgbClr val="FFFFFF"/>
              </a:solidFill>
              <a:ln>
                <a:noFill/>
              </a:ln>
            </p:spPr>
          </p:sp>
          <p:sp>
            <p:nvSpPr>
              <p:cNvPr id="31" name="Freeform 31"/>
              <p:cNvSpPr/>
              <p:nvPr/>
            </p:nvSpPr>
            <p:spPr>
              <a:xfrm>
                <a:off x="698500" y="3651250"/>
                <a:ext cx="165099" cy="175418"/>
              </a:xfrm>
              <a:custGeom>
                <a:avLst/>
                <a:gdLst/>
                <a:ahLst/>
                <a:cxnLst/>
                <a:rect l="l" t="t" r="r" b="b"/>
                <a:pathLst>
                  <a:path w="165099" h="175418">
                    <a:moveTo>
                      <a:pt x="0" y="0"/>
                    </a:moveTo>
                    <a:lnTo>
                      <a:pt x="165099" y="0"/>
                    </a:lnTo>
                    <a:lnTo>
                      <a:pt x="165099" y="22412"/>
                    </a:lnTo>
                    <a:cubicBezTo>
                      <a:pt x="165098" y="27885"/>
                      <a:pt x="162923" y="33134"/>
                      <a:pt x="159053" y="37003"/>
                    </a:cubicBezTo>
                    <a:lnTo>
                      <a:pt x="113506" y="82550"/>
                    </a:lnTo>
                    <a:lnTo>
                      <a:pt x="113506" y="154781"/>
                    </a:lnTo>
                    <a:lnTo>
                      <a:pt x="51594" y="175418"/>
                    </a:lnTo>
                    <a:lnTo>
                      <a:pt x="51594" y="87709"/>
                    </a:lnTo>
                    <a:lnTo>
                      <a:pt x="5366" y="36858"/>
                    </a:lnTo>
                    <a:cubicBezTo>
                      <a:pt x="1914" y="33060"/>
                      <a:pt x="1" y="28112"/>
                      <a:pt x="0" y="22980"/>
                    </a:cubicBezTo>
                    <a:lnTo>
                      <a:pt x="0" y="0"/>
                    </a:lnTo>
                  </a:path>
                </a:pathLst>
              </a:custGeom>
              <a:noFill/>
              <a:ln w="20637">
                <a:solidFill>
                  <a:srgbClr val="55565A"/>
                </a:solidFill>
              </a:ln>
            </p:spPr>
          </p:sp>
          <p:sp>
            <p:nvSpPr>
              <p:cNvPr id="32" name="TextBox 32"/>
              <p:cNvSpPr txBox="1"/>
              <p:nvPr/>
            </p:nvSpPr>
            <p:spPr>
              <a:xfrm>
                <a:off x="1175004" y="3528060"/>
                <a:ext cx="13045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用途二：机会管理</a:t>
                </a:r>
              </a:p>
            </p:txBody>
          </p:sp>
          <p:sp>
            <p:nvSpPr>
              <p:cNvPr id="33" name="TextBox 33"/>
              <p:cNvSpPr txBox="1"/>
              <p:nvPr/>
            </p:nvSpPr>
            <p:spPr>
              <a:xfrm>
                <a:off x="1176338" y="3827145"/>
                <a:ext cx="2953664"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在途项目、阶段(识别/评估/方案/谈判)、赢输单分析​</a:t>
                </a:r>
              </a:p>
            </p:txBody>
          </p:sp>
        </p:grpSp>
        <p:grpSp>
          <p:nvGrpSpPr>
            <p:cNvPr id="43" name="use-3"/>
            <p:cNvGrpSpPr/>
            <p:nvPr/>
          </p:nvGrpSpPr>
          <p:grpSpPr>
            <a:xfrm>
              <a:off x="381000" y="4305300"/>
              <a:ext cx="5334000" cy="914400"/>
              <a:chOff x="381000" y="4305300"/>
              <a:chExt cx="5334000" cy="914400"/>
            </a:xfrm>
          </p:grpSpPr>
          <p:sp>
            <p:nvSpPr>
              <p:cNvPr id="35" name="Rectangle 35"/>
              <p:cNvSpPr/>
              <p:nvPr/>
            </p:nvSpPr>
            <p:spPr>
              <a:xfrm>
                <a:off x="381000" y="4305300"/>
                <a:ext cx="5334000" cy="914400"/>
              </a:xfrm>
              <a:prstGeom prst="roundRect">
                <a:avLst>
                  <a:gd name="adj" fmla="val 4167"/>
                </a:avLst>
              </a:prstGeom>
              <a:solidFill>
                <a:srgbClr val="8B321E"/>
              </a:solidFill>
              <a:ln>
                <a:noFill/>
              </a:ln>
            </p:spPr>
          </p:sp>
          <p:sp>
            <p:nvSpPr>
              <p:cNvPr id="36" name="Ellipse 36"/>
              <p:cNvSpPr/>
              <p:nvPr/>
            </p:nvSpPr>
            <p:spPr>
              <a:xfrm>
                <a:off x="533400" y="4514850"/>
                <a:ext cx="495300" cy="495300"/>
              </a:xfrm>
              <a:prstGeom prst="ellipse">
                <a:avLst/>
              </a:prstGeom>
              <a:solidFill>
                <a:srgbClr val="FFFFFF"/>
              </a:solidFill>
              <a:ln>
                <a:noFill/>
              </a:ln>
            </p:spPr>
          </p:sp>
          <p:grpSp>
            <p:nvGrpSpPr>
              <p:cNvPr id="40" name="Group 40"/>
              <p:cNvGrpSpPr/>
              <p:nvPr/>
            </p:nvGrpSpPr>
            <p:grpSpPr>
              <a:xfrm>
                <a:off x="708819" y="4669631"/>
                <a:ext cx="144462" cy="185737"/>
                <a:chOff x="708819" y="4669631"/>
                <a:chExt cx="144462" cy="185737"/>
              </a:xfrm>
            </p:grpSpPr>
            <p:sp>
              <p:nvSpPr>
                <p:cNvPr id="37" name="Freeform 37"/>
                <p:cNvSpPr/>
                <p:nvPr/>
              </p:nvSpPr>
              <p:spPr>
                <a:xfrm>
                  <a:off x="708819" y="4690269"/>
                  <a:ext cx="144462" cy="165099"/>
                </a:xfrm>
                <a:custGeom>
                  <a:avLst/>
                  <a:gdLst/>
                  <a:ahLst/>
                  <a:cxnLst/>
                  <a:rect l="l" t="t" r="r" b="b"/>
                  <a:pathLst>
                    <a:path w="144462" h="165099">
                      <a:moveTo>
                        <a:pt x="41275" y="0"/>
                      </a:moveTo>
                      <a:lnTo>
                        <a:pt x="20637" y="0"/>
                      </a:lnTo>
                      <a:cubicBezTo>
                        <a:pt x="9240" y="0"/>
                        <a:pt x="0" y="9240"/>
                        <a:pt x="0" y="20637"/>
                      </a:cubicBezTo>
                      <a:lnTo>
                        <a:pt x="0" y="144462"/>
                      </a:lnTo>
                      <a:cubicBezTo>
                        <a:pt x="0" y="155860"/>
                        <a:pt x="9240" y="165099"/>
                        <a:pt x="20637" y="165099"/>
                      </a:cubicBezTo>
                      <a:lnTo>
                        <a:pt x="123825" y="165099"/>
                      </a:lnTo>
                      <a:cubicBezTo>
                        <a:pt x="135222" y="165099"/>
                        <a:pt x="144462" y="155860"/>
                        <a:pt x="144462" y="144462"/>
                      </a:cubicBezTo>
                      <a:lnTo>
                        <a:pt x="144462" y="20637"/>
                      </a:lnTo>
                      <a:cubicBezTo>
                        <a:pt x="144462" y="9240"/>
                        <a:pt x="135222" y="0"/>
                        <a:pt x="123825" y="0"/>
                      </a:cubicBezTo>
                      <a:lnTo>
                        <a:pt x="103187" y="0"/>
                      </a:lnTo>
                    </a:path>
                  </a:pathLst>
                </a:custGeom>
                <a:noFill/>
                <a:ln w="20637">
                  <a:solidFill>
                    <a:srgbClr val="8B321E"/>
                  </a:solidFill>
                </a:ln>
              </p:spPr>
            </p:sp>
            <p:sp>
              <p:nvSpPr>
                <p:cNvPr id="38" name="Freeform 38"/>
                <p:cNvSpPr/>
                <p:nvPr/>
              </p:nvSpPr>
              <p:spPr>
                <a:xfrm>
                  <a:off x="750093" y="4669631"/>
                  <a:ext cx="61912" cy="41275"/>
                </a:xfrm>
                <a:custGeom>
                  <a:avLst/>
                  <a:gdLst/>
                  <a:ahLst/>
                  <a:cxnLst/>
                  <a:rect l="l" t="t" r="r" b="b"/>
                  <a:pathLst>
                    <a:path w="61912" h="41275">
                      <a:moveTo>
                        <a:pt x="0" y="20637"/>
                      </a:moveTo>
                      <a:cubicBezTo>
                        <a:pt x="0" y="9240"/>
                        <a:pt x="9240" y="0"/>
                        <a:pt x="20637" y="0"/>
                      </a:cubicBezTo>
                      <a:lnTo>
                        <a:pt x="41275" y="0"/>
                      </a:lnTo>
                      <a:cubicBezTo>
                        <a:pt x="52673" y="0"/>
                        <a:pt x="61912" y="9240"/>
                        <a:pt x="61912" y="20637"/>
                      </a:cubicBezTo>
                      <a:cubicBezTo>
                        <a:pt x="61912" y="32035"/>
                        <a:pt x="52673" y="41275"/>
                        <a:pt x="41275" y="41275"/>
                      </a:cubicBezTo>
                      <a:lnTo>
                        <a:pt x="20637" y="41275"/>
                      </a:lnTo>
                      <a:cubicBezTo>
                        <a:pt x="9240" y="41275"/>
                        <a:pt x="0" y="32035"/>
                        <a:pt x="0" y="20637"/>
                      </a:cubicBezTo>
                    </a:path>
                  </a:pathLst>
                </a:custGeom>
                <a:noFill/>
                <a:ln w="20637">
                  <a:solidFill>
                    <a:srgbClr val="8B321E"/>
                  </a:solidFill>
                </a:ln>
              </p:spPr>
            </p:sp>
            <p:sp>
              <p:nvSpPr>
                <p:cNvPr id="39" name="Freeform 39"/>
                <p:cNvSpPr/>
                <p:nvPr/>
              </p:nvSpPr>
              <p:spPr>
                <a:xfrm>
                  <a:off x="750093" y="4762500"/>
                  <a:ext cx="61912" cy="41275"/>
                </a:xfrm>
                <a:custGeom>
                  <a:avLst/>
                  <a:gdLst/>
                  <a:ahLst/>
                  <a:cxnLst/>
                  <a:rect l="l" t="t" r="r" b="b"/>
                  <a:pathLst>
                    <a:path w="61912" h="41275">
                      <a:moveTo>
                        <a:pt x="0" y="20637"/>
                      </a:moveTo>
                      <a:lnTo>
                        <a:pt x="20637" y="41275"/>
                      </a:lnTo>
                      <a:lnTo>
                        <a:pt x="61912" y="0"/>
                      </a:lnTo>
                    </a:path>
                  </a:pathLst>
                </a:custGeom>
                <a:noFill/>
                <a:ln w="20637">
                  <a:solidFill>
                    <a:srgbClr val="8B321E"/>
                  </a:solidFill>
                </a:ln>
              </p:spPr>
            </p:sp>
          </p:grpSp>
          <p:sp>
            <p:nvSpPr>
              <p:cNvPr id="41" name="TextBox 41"/>
              <p:cNvSpPr txBox="1"/>
              <p:nvPr/>
            </p:nvSpPr>
            <p:spPr>
              <a:xfrm>
                <a:off x="1175004" y="4556760"/>
                <a:ext cx="13045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用途三：行动管理</a:t>
                </a:r>
              </a:p>
            </p:txBody>
          </p:sp>
          <p:sp>
            <p:nvSpPr>
              <p:cNvPr id="42" name="TextBox 42"/>
              <p:cNvSpPr txBox="1"/>
              <p:nvPr/>
            </p:nvSpPr>
            <p:spPr>
              <a:xfrm>
                <a:off x="1176338" y="4855845"/>
                <a:ext cx="1705737" cy="176212"/>
              </a:xfrm>
              <a:prstGeom prst="rect">
                <a:avLst/>
              </a:prstGeom>
              <a:noFill/>
              <a:ln>
                <a:noFill/>
              </a:ln>
            </p:spPr>
            <p:txBody>
              <a:bodyPr wrap="none" lIns="0" tIns="0" rIns="0" bIns="0" anchor="t" anchorCtr="0">
                <a:spAutoFit/>
              </a:bodyPr>
              <a:lstStyle/>
              <a:p>
                <a:pPr algn="l"/>
                <a:r>
                  <a:rPr lang="zh-CN" sz="900" b="1" dirty="0">
                    <a:solidFill>
                      <a:srgbClr val="C97263"/>
                    </a:solidFill>
                    <a:latin typeface="+mn-lt"/>
                    <a:ea typeface="+mn-ea"/>
                    <a:cs typeface="+mn-cs"/>
                  </a:rPr>
                  <a:t>下一步行动提醒</a:t>
                </a:r>
                <a:r>
                  <a:rPr lang="zh-CN" sz="900" dirty="0">
                    <a:solidFill>
                      <a:srgbClr val="FFFFFF"/>
                    </a:solidFill>
                    <a:latin typeface="+mn-lt"/>
                    <a:ea typeface="+mn-ea"/>
                    <a:cs typeface="+mn-cs"/>
                  </a:rPr>
                  <a:t>、拜访计划安排</a:t>
                </a:r>
              </a:p>
            </p:txBody>
          </p:sp>
        </p:grpSp>
        <p:grpSp>
          <p:nvGrpSpPr>
            <p:cNvPr id="53" name="use-4"/>
            <p:cNvGrpSpPr/>
            <p:nvPr/>
          </p:nvGrpSpPr>
          <p:grpSpPr>
            <a:xfrm>
              <a:off x="381000" y="5334000"/>
              <a:ext cx="5334000" cy="914400"/>
              <a:chOff x="381000" y="5334000"/>
              <a:chExt cx="5334000" cy="914400"/>
            </a:xfrm>
          </p:grpSpPr>
          <p:sp>
            <p:nvSpPr>
              <p:cNvPr id="44" name="Rectangle 44"/>
              <p:cNvSpPr/>
              <p:nvPr/>
            </p:nvSpPr>
            <p:spPr>
              <a:xfrm>
                <a:off x="381000" y="5334000"/>
                <a:ext cx="5334000" cy="914400"/>
              </a:xfrm>
              <a:prstGeom prst="roundRect">
                <a:avLst>
                  <a:gd name="adj" fmla="val 4167"/>
                </a:avLst>
              </a:prstGeom>
              <a:solidFill>
                <a:srgbClr val="55565A"/>
              </a:solidFill>
              <a:ln>
                <a:noFill/>
              </a:ln>
            </p:spPr>
          </p:sp>
          <p:sp>
            <p:nvSpPr>
              <p:cNvPr id="45" name="Ellipse 45"/>
              <p:cNvSpPr/>
              <p:nvPr/>
            </p:nvSpPr>
            <p:spPr>
              <a:xfrm>
                <a:off x="533400" y="5543550"/>
                <a:ext cx="495300" cy="495300"/>
              </a:xfrm>
              <a:prstGeom prst="ellipse">
                <a:avLst/>
              </a:prstGeom>
              <a:solidFill>
                <a:srgbClr val="FFFFFF"/>
              </a:solidFill>
              <a:ln>
                <a:noFill/>
              </a:ln>
            </p:spPr>
          </p:sp>
          <p:grpSp>
            <p:nvGrpSpPr>
              <p:cNvPr id="50" name="Group 50"/>
              <p:cNvGrpSpPr/>
              <p:nvPr/>
            </p:nvGrpSpPr>
            <p:grpSpPr>
              <a:xfrm>
                <a:off x="688181" y="5708650"/>
                <a:ext cx="185737" cy="174624"/>
                <a:chOff x="688181" y="5708650"/>
                <a:chExt cx="185737" cy="174624"/>
              </a:xfrm>
            </p:grpSpPr>
            <p:sp>
              <p:nvSpPr>
                <p:cNvPr id="46" name="Freeform 46"/>
                <p:cNvSpPr/>
                <p:nvPr/>
              </p:nvSpPr>
              <p:spPr>
                <a:xfrm>
                  <a:off x="688181" y="5791200"/>
                  <a:ext cx="61912" cy="82550"/>
                </a:xfrm>
                <a:custGeom>
                  <a:avLst/>
                  <a:gdLst/>
                  <a:ahLst/>
                  <a:cxnLst/>
                  <a:rect l="l" t="t" r="r" b="b"/>
                  <a:pathLst>
                    <a:path w="61912" h="82550">
                      <a:moveTo>
                        <a:pt x="0" y="10319"/>
                      </a:moveTo>
                      <a:cubicBezTo>
                        <a:pt x="0" y="4620"/>
                        <a:pt x="4620" y="0"/>
                        <a:pt x="10319" y="0"/>
                      </a:cubicBezTo>
                      <a:lnTo>
                        <a:pt x="51594" y="0"/>
                      </a:lnTo>
                      <a:cubicBezTo>
                        <a:pt x="57292" y="0"/>
                        <a:pt x="61912" y="4620"/>
                        <a:pt x="61912" y="10319"/>
                      </a:cubicBezTo>
                      <a:lnTo>
                        <a:pt x="61912" y="72231"/>
                      </a:lnTo>
                      <a:cubicBezTo>
                        <a:pt x="61912" y="77930"/>
                        <a:pt x="57292" y="82550"/>
                        <a:pt x="51594" y="82550"/>
                      </a:cubicBezTo>
                      <a:lnTo>
                        <a:pt x="10319" y="82550"/>
                      </a:lnTo>
                      <a:cubicBezTo>
                        <a:pt x="4620" y="82550"/>
                        <a:pt x="0" y="77930"/>
                        <a:pt x="0" y="72231"/>
                      </a:cubicBezTo>
                      <a:lnTo>
                        <a:pt x="0" y="10319"/>
                      </a:lnTo>
                    </a:path>
                  </a:pathLst>
                </a:custGeom>
                <a:noFill/>
                <a:ln w="20637">
                  <a:solidFill>
                    <a:srgbClr val="55565A"/>
                  </a:solidFill>
                </a:ln>
              </p:spPr>
            </p:sp>
            <p:sp>
              <p:nvSpPr>
                <p:cNvPr id="47" name="Freeform 47"/>
                <p:cNvSpPr/>
                <p:nvPr/>
              </p:nvSpPr>
              <p:spPr>
                <a:xfrm>
                  <a:off x="812006" y="5749925"/>
                  <a:ext cx="61912" cy="123825"/>
                </a:xfrm>
                <a:custGeom>
                  <a:avLst/>
                  <a:gdLst/>
                  <a:ahLst/>
                  <a:cxnLst/>
                  <a:rect l="l" t="t" r="r" b="b"/>
                  <a:pathLst>
                    <a:path w="61912" h="123825">
                      <a:moveTo>
                        <a:pt x="0" y="10319"/>
                      </a:moveTo>
                      <a:cubicBezTo>
                        <a:pt x="0" y="4620"/>
                        <a:pt x="4620" y="0"/>
                        <a:pt x="10319" y="0"/>
                      </a:cubicBezTo>
                      <a:lnTo>
                        <a:pt x="51594" y="0"/>
                      </a:lnTo>
                      <a:cubicBezTo>
                        <a:pt x="57292" y="0"/>
                        <a:pt x="61912" y="4620"/>
                        <a:pt x="61912" y="10319"/>
                      </a:cubicBezTo>
                      <a:lnTo>
                        <a:pt x="61912" y="113506"/>
                      </a:lnTo>
                      <a:cubicBezTo>
                        <a:pt x="61912" y="119205"/>
                        <a:pt x="57292" y="123825"/>
                        <a:pt x="51594" y="123825"/>
                      </a:cubicBezTo>
                      <a:lnTo>
                        <a:pt x="10319" y="123825"/>
                      </a:lnTo>
                      <a:cubicBezTo>
                        <a:pt x="4620" y="123825"/>
                        <a:pt x="0" y="119205"/>
                        <a:pt x="0" y="113506"/>
                      </a:cubicBezTo>
                      <a:lnTo>
                        <a:pt x="0" y="10319"/>
                      </a:lnTo>
                    </a:path>
                  </a:pathLst>
                </a:custGeom>
                <a:noFill/>
                <a:ln w="20637">
                  <a:solidFill>
                    <a:srgbClr val="55565A"/>
                  </a:solidFill>
                </a:ln>
              </p:spPr>
            </p:sp>
            <p:sp>
              <p:nvSpPr>
                <p:cNvPr id="48" name="Freeform 48"/>
                <p:cNvSpPr/>
                <p:nvPr/>
              </p:nvSpPr>
              <p:spPr>
                <a:xfrm>
                  <a:off x="750093" y="5708650"/>
                  <a:ext cx="61912" cy="165099"/>
                </a:xfrm>
                <a:custGeom>
                  <a:avLst/>
                  <a:gdLst/>
                  <a:ahLst/>
                  <a:cxnLst/>
                  <a:rect l="l" t="t" r="r" b="b"/>
                  <a:pathLst>
                    <a:path w="61912" h="165099">
                      <a:moveTo>
                        <a:pt x="0" y="10319"/>
                      </a:moveTo>
                      <a:cubicBezTo>
                        <a:pt x="0" y="4620"/>
                        <a:pt x="4620" y="0"/>
                        <a:pt x="10319" y="0"/>
                      </a:cubicBezTo>
                      <a:lnTo>
                        <a:pt x="51594" y="0"/>
                      </a:lnTo>
                      <a:cubicBezTo>
                        <a:pt x="57292" y="0"/>
                        <a:pt x="61912" y="4620"/>
                        <a:pt x="61912" y="10319"/>
                      </a:cubicBezTo>
                      <a:lnTo>
                        <a:pt x="61912" y="154781"/>
                      </a:lnTo>
                      <a:cubicBezTo>
                        <a:pt x="61912" y="160480"/>
                        <a:pt x="57292" y="165099"/>
                        <a:pt x="51594" y="165099"/>
                      </a:cubicBezTo>
                      <a:lnTo>
                        <a:pt x="10319" y="165099"/>
                      </a:lnTo>
                      <a:cubicBezTo>
                        <a:pt x="4620" y="165099"/>
                        <a:pt x="0" y="160480"/>
                        <a:pt x="0" y="154781"/>
                      </a:cubicBezTo>
                      <a:lnTo>
                        <a:pt x="0" y="10319"/>
                      </a:lnTo>
                    </a:path>
                  </a:pathLst>
                </a:custGeom>
                <a:noFill/>
                <a:ln w="20637">
                  <a:solidFill>
                    <a:srgbClr val="55565A"/>
                  </a:solidFill>
                </a:ln>
              </p:spPr>
            </p:sp>
            <p:sp>
              <p:nvSpPr>
                <p:cNvPr id="49" name="Freeform 49"/>
                <p:cNvSpPr/>
                <p:nvPr/>
              </p:nvSpPr>
              <p:spPr>
                <a:xfrm>
                  <a:off x="698500" y="5873749"/>
                  <a:ext cx="144462" cy="9525"/>
                </a:xfrm>
                <a:custGeom>
                  <a:avLst/>
                  <a:gdLst/>
                  <a:ahLst/>
                  <a:cxnLst/>
                  <a:rect l="l" t="t" r="r" b="b"/>
                  <a:pathLst>
                    <a:path w="144462" h="9525">
                      <a:moveTo>
                        <a:pt x="0" y="0"/>
                      </a:moveTo>
                      <a:lnTo>
                        <a:pt x="144462" y="0"/>
                      </a:lnTo>
                    </a:path>
                  </a:pathLst>
                </a:custGeom>
                <a:noFill/>
                <a:ln w="20637">
                  <a:solidFill>
                    <a:srgbClr val="55565A"/>
                  </a:solidFill>
                </a:ln>
              </p:spPr>
            </p:sp>
          </p:grpSp>
          <p:sp>
            <p:nvSpPr>
              <p:cNvPr id="51" name="TextBox 51"/>
              <p:cNvSpPr txBox="1"/>
              <p:nvPr/>
            </p:nvSpPr>
            <p:spPr>
              <a:xfrm>
                <a:off x="1175004" y="5585460"/>
                <a:ext cx="146608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mn-lt"/>
                    <a:ea typeface="+mn-ea"/>
                    <a:cs typeface="+mn-cs"/>
                  </a:rPr>
                  <a:t>用途四：管理层看板</a:t>
                </a:r>
              </a:p>
            </p:txBody>
          </p:sp>
          <p:sp>
            <p:nvSpPr>
              <p:cNvPr id="52" name="TextBox 52"/>
              <p:cNvSpPr txBox="1"/>
              <p:nvPr/>
            </p:nvSpPr>
            <p:spPr>
              <a:xfrm>
                <a:off x="1176338" y="5884545"/>
                <a:ext cx="2796159"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销售漏斗、关系健康度趋势、预测准确率、流失预警</a:t>
                </a:r>
              </a:p>
            </p:txBody>
          </p:sp>
        </p:grpSp>
      </p:grpSp>
      <p:grpSp>
        <p:nvGrpSpPr>
          <p:cNvPr id="91" name="principles"/>
          <p:cNvGrpSpPr/>
          <p:nvPr/>
        </p:nvGrpSpPr>
        <p:grpSpPr>
          <a:xfrm>
            <a:off x="6088761" y="1846421"/>
            <a:ext cx="5722239" cy="4401979"/>
            <a:chOff x="6088761" y="1846421"/>
            <a:chExt cx="5722239" cy="4401979"/>
          </a:xfrm>
        </p:grpSpPr>
        <p:sp>
          <p:nvSpPr>
            <p:cNvPr id="55" name="TextBox 55"/>
            <p:cNvSpPr txBox="1"/>
            <p:nvPr/>
          </p:nvSpPr>
          <p:spPr>
            <a:xfrm>
              <a:off x="6088761" y="1846421"/>
              <a:ext cx="2237664"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CRM使用的三个关键原则​</a:t>
              </a:r>
            </a:p>
          </p:txBody>
        </p:sp>
        <p:sp>
          <p:nvSpPr>
            <p:cNvPr id="56" name="Line 56"/>
            <p:cNvSpPr/>
            <p:nvPr/>
          </p:nvSpPr>
          <p:spPr>
            <a:xfrm>
              <a:off x="6096000" y="2095500"/>
              <a:ext cx="5715000" cy="9525"/>
            </a:xfrm>
            <a:custGeom>
              <a:avLst/>
              <a:gdLst/>
              <a:ahLst/>
              <a:cxnLst/>
              <a:rect l="l" t="t" r="r" b="b"/>
              <a:pathLst>
                <a:path w="5715000" h="9525">
                  <a:moveTo>
                    <a:pt x="0" y="0"/>
                  </a:moveTo>
                  <a:lnTo>
                    <a:pt x="5715000" y="0"/>
                  </a:lnTo>
                </a:path>
              </a:pathLst>
            </a:custGeom>
            <a:noFill/>
            <a:ln w="9525">
              <a:solidFill>
                <a:srgbClr val="8B321E"/>
              </a:solidFill>
            </a:ln>
          </p:spPr>
        </p:sp>
        <p:grpSp>
          <p:nvGrpSpPr>
            <p:cNvPr id="66" name="principle-1"/>
            <p:cNvGrpSpPr/>
            <p:nvPr/>
          </p:nvGrpSpPr>
          <p:grpSpPr>
            <a:xfrm>
              <a:off x="6096000" y="2247900"/>
              <a:ext cx="5715000" cy="1219200"/>
              <a:chOff x="6096000" y="2247900"/>
              <a:chExt cx="5715000" cy="1219200"/>
            </a:xfrm>
          </p:grpSpPr>
          <p:sp>
            <p:nvSpPr>
              <p:cNvPr id="57" name="Rectangle 57"/>
              <p:cNvSpPr/>
              <p:nvPr/>
            </p:nvSpPr>
            <p:spPr>
              <a:xfrm>
                <a:off x="6096000" y="2247900"/>
                <a:ext cx="5715000" cy="1219200"/>
              </a:xfrm>
              <a:prstGeom prst="roundRect">
                <a:avLst>
                  <a:gd name="adj" fmla="val 4688"/>
                </a:avLst>
              </a:prstGeom>
              <a:solidFill>
                <a:srgbClr val="FFFFFF"/>
              </a:solidFill>
              <a:ln w="11430">
                <a:solidFill>
                  <a:srgbClr val="C97263"/>
                </a:solidFill>
              </a:ln>
            </p:spPr>
          </p:sp>
          <p:sp>
            <p:nvSpPr>
              <p:cNvPr id="58" name="Ellipse 58"/>
              <p:cNvSpPr/>
              <p:nvPr/>
            </p:nvSpPr>
            <p:spPr>
              <a:xfrm>
                <a:off x="6353175" y="2657475"/>
                <a:ext cx="400050" cy="400050"/>
              </a:xfrm>
              <a:prstGeom prst="ellipse">
                <a:avLst/>
              </a:prstGeom>
              <a:solidFill>
                <a:srgbClr val="C97263"/>
              </a:solidFill>
              <a:ln>
                <a:noFill/>
              </a:ln>
            </p:spPr>
          </p:sp>
          <p:sp>
            <p:nvSpPr>
              <p:cNvPr id="59" name="TextBox 59"/>
              <p:cNvSpPr txBox="1"/>
              <p:nvPr/>
            </p:nvSpPr>
            <p:spPr>
              <a:xfrm>
                <a:off x="6496967" y="2777014"/>
                <a:ext cx="11246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1</a:t>
                </a:r>
              </a:p>
            </p:txBody>
          </p:sp>
          <p:grpSp>
            <p:nvGrpSpPr>
              <p:cNvPr id="62" name="Group 62"/>
              <p:cNvGrpSpPr/>
              <p:nvPr/>
            </p:nvGrpSpPr>
            <p:grpSpPr>
              <a:xfrm>
                <a:off x="7062788" y="2757488"/>
                <a:ext cx="200026" cy="200026"/>
                <a:chOff x="7062788" y="2757488"/>
                <a:chExt cx="200026" cy="200026"/>
              </a:xfrm>
            </p:grpSpPr>
            <p:sp>
              <p:nvSpPr>
                <p:cNvPr id="60" name="Freeform 60"/>
                <p:cNvSpPr/>
                <p:nvPr/>
              </p:nvSpPr>
              <p:spPr>
                <a:xfrm>
                  <a:off x="7062788" y="27574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97263"/>
                  </a:solidFill>
                </a:ln>
              </p:spPr>
            </p:sp>
            <p:sp>
              <p:nvSpPr>
                <p:cNvPr id="61" name="Freeform 61"/>
                <p:cNvSpPr/>
                <p:nvPr/>
              </p:nvSpPr>
              <p:spPr>
                <a:xfrm>
                  <a:off x="7162800" y="2801938"/>
                  <a:ext cx="33338" cy="88900"/>
                </a:xfrm>
                <a:custGeom>
                  <a:avLst/>
                  <a:gdLst/>
                  <a:ahLst/>
                  <a:cxnLst/>
                  <a:rect l="l" t="t" r="r" b="b"/>
                  <a:pathLst>
                    <a:path w="33338" h="88900">
                      <a:moveTo>
                        <a:pt x="0" y="0"/>
                      </a:moveTo>
                      <a:lnTo>
                        <a:pt x="0" y="55563"/>
                      </a:lnTo>
                      <a:lnTo>
                        <a:pt x="33338" y="88900"/>
                      </a:lnTo>
                    </a:path>
                  </a:pathLst>
                </a:custGeom>
                <a:noFill/>
                <a:ln w="22225">
                  <a:solidFill>
                    <a:srgbClr val="C97263"/>
                  </a:solidFill>
                </a:ln>
              </p:spPr>
            </p:sp>
          </p:grpSp>
          <p:sp>
            <p:nvSpPr>
              <p:cNvPr id="63" name="Line 63"/>
              <p:cNvSpPr/>
              <p:nvPr/>
            </p:nvSpPr>
            <p:spPr>
              <a:xfrm>
                <a:off x="7677150" y="2476500"/>
                <a:ext cx="9525" cy="762000"/>
              </a:xfrm>
              <a:custGeom>
                <a:avLst/>
                <a:gdLst/>
                <a:ahLst/>
                <a:cxnLst/>
                <a:rect l="l" t="t" r="r" b="b"/>
                <a:pathLst>
                  <a:path w="9525" h="762000">
                    <a:moveTo>
                      <a:pt x="0" y="0"/>
                    </a:moveTo>
                    <a:lnTo>
                      <a:pt x="0" y="762000"/>
                    </a:lnTo>
                  </a:path>
                </a:pathLst>
              </a:custGeom>
              <a:noFill/>
              <a:ln w="9525">
                <a:solidFill>
                  <a:srgbClr val="E5DFD9"/>
                </a:solidFill>
              </a:ln>
            </p:spPr>
          </p:sp>
          <p:sp>
            <p:nvSpPr>
              <p:cNvPr id="64" name="TextBox 64"/>
              <p:cNvSpPr txBox="1"/>
              <p:nvPr/>
            </p:nvSpPr>
            <p:spPr>
              <a:xfrm>
                <a:off x="7880794" y="2617708"/>
                <a:ext cx="1261085" cy="227362"/>
              </a:xfrm>
              <a:prstGeom prst="rect">
                <a:avLst/>
              </a:prstGeom>
              <a:noFill/>
              <a:ln>
                <a:noFill/>
              </a:ln>
            </p:spPr>
            <p:txBody>
              <a:bodyPr wrap="none" lIns="0" tIns="0" rIns="0" bIns="0" anchor="t" anchorCtr="0">
                <a:spAutoFit/>
              </a:bodyPr>
              <a:lstStyle/>
              <a:p>
                <a:pPr algn="l"/>
                <a:r>
                  <a:rPr lang="zh-CN" sz="1160" b="1" dirty="0">
                    <a:solidFill>
                      <a:srgbClr val="2B2B2B"/>
                    </a:solidFill>
                    <a:latin typeface="+mn-lt"/>
                    <a:ea typeface="+mn-ea"/>
                    <a:cs typeface="+mn-cs"/>
                  </a:rPr>
                  <a:t>数据录入必须及时</a:t>
                </a:r>
              </a:p>
            </p:txBody>
          </p:sp>
          <p:sp>
            <p:nvSpPr>
              <p:cNvPr id="65" name="TextBox 65"/>
              <p:cNvSpPr txBox="1"/>
              <p:nvPr/>
            </p:nvSpPr>
            <p:spPr>
              <a:xfrm>
                <a:off x="7881938" y="2950845"/>
                <a:ext cx="1118726" cy="176212"/>
              </a:xfrm>
              <a:prstGeom prst="rect">
                <a:avLst/>
              </a:prstGeom>
              <a:noFill/>
              <a:ln>
                <a:noFill/>
              </a:ln>
            </p:spPr>
            <p:txBody>
              <a:bodyPr wrap="none" lIns="0" tIns="0" rIns="0" bIns="0" anchor="t" anchorCtr="0">
                <a:spAutoFit/>
              </a:bodyPr>
              <a:lstStyle/>
              <a:p>
                <a:pPr algn="l"/>
                <a:r>
                  <a:rPr lang="zh-CN" sz="900" dirty="0">
                    <a:solidFill>
                      <a:srgbClr val="6A6A6A"/>
                    </a:solidFill>
                    <a:latin typeface="+mn-lt"/>
                    <a:ea typeface="+mn-ea"/>
                    <a:cs typeface="+mn-cs"/>
                  </a:rPr>
                  <a:t>（拜访后</a:t>
                </a:r>
                <a:r>
                  <a:rPr lang="zh-CN" sz="900" b="1" dirty="0">
                    <a:solidFill>
                      <a:srgbClr val="C97263"/>
                    </a:solidFill>
                    <a:latin typeface="+mn-lt"/>
                    <a:ea typeface="+mn-ea"/>
                    <a:cs typeface="+mn-cs"/>
                  </a:rPr>
                  <a:t>24小时</a:t>
                </a:r>
                <a:r>
                  <a:rPr lang="zh-CN" sz="900" dirty="0">
                    <a:solidFill>
                      <a:srgbClr val="6A6A6A"/>
                    </a:solidFill>
                    <a:latin typeface="+mn-lt"/>
                    <a:ea typeface="+mn-ea"/>
                    <a:cs typeface="+mn-cs"/>
                  </a:rPr>
                  <a:t>内）</a:t>
                </a:r>
              </a:p>
            </p:txBody>
          </p:sp>
        </p:grpSp>
        <p:grpSp>
          <p:nvGrpSpPr>
            <p:cNvPr id="78" name="principle-2"/>
            <p:cNvGrpSpPr/>
            <p:nvPr/>
          </p:nvGrpSpPr>
          <p:grpSpPr>
            <a:xfrm>
              <a:off x="6096000" y="3638550"/>
              <a:ext cx="5715000" cy="1219200"/>
              <a:chOff x="6096000" y="3638550"/>
              <a:chExt cx="5715000" cy="1219200"/>
            </a:xfrm>
          </p:grpSpPr>
          <p:sp>
            <p:nvSpPr>
              <p:cNvPr id="67" name="Rectangle 67"/>
              <p:cNvSpPr/>
              <p:nvPr/>
            </p:nvSpPr>
            <p:spPr>
              <a:xfrm>
                <a:off x="6096000" y="3638550"/>
                <a:ext cx="5715000" cy="1219200"/>
              </a:xfrm>
              <a:prstGeom prst="roundRect">
                <a:avLst>
                  <a:gd name="adj" fmla="val 4688"/>
                </a:avLst>
              </a:prstGeom>
              <a:solidFill>
                <a:srgbClr val="FFFFFF"/>
              </a:solidFill>
              <a:ln w="11430">
                <a:solidFill>
                  <a:srgbClr val="C97263"/>
                </a:solidFill>
              </a:ln>
            </p:spPr>
          </p:sp>
          <p:sp>
            <p:nvSpPr>
              <p:cNvPr id="68" name="Ellipse 68"/>
              <p:cNvSpPr/>
              <p:nvPr/>
            </p:nvSpPr>
            <p:spPr>
              <a:xfrm>
                <a:off x="6353175" y="4048125"/>
                <a:ext cx="400050" cy="400050"/>
              </a:xfrm>
              <a:prstGeom prst="ellipse">
                <a:avLst/>
              </a:prstGeom>
              <a:solidFill>
                <a:srgbClr val="C97263"/>
              </a:solidFill>
              <a:ln>
                <a:noFill/>
              </a:ln>
            </p:spPr>
          </p:sp>
          <p:sp>
            <p:nvSpPr>
              <p:cNvPr id="69" name="TextBox 69"/>
              <p:cNvSpPr txBox="1"/>
              <p:nvPr/>
            </p:nvSpPr>
            <p:spPr>
              <a:xfrm>
                <a:off x="6496967" y="4167664"/>
                <a:ext cx="11246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2</a:t>
                </a:r>
              </a:p>
            </p:txBody>
          </p:sp>
          <p:grpSp>
            <p:nvGrpSpPr>
              <p:cNvPr id="74" name="Group 74"/>
              <p:cNvGrpSpPr/>
              <p:nvPr/>
            </p:nvGrpSpPr>
            <p:grpSpPr>
              <a:xfrm>
                <a:off x="7085013" y="4159250"/>
                <a:ext cx="166687" cy="188913"/>
                <a:chOff x="7085013" y="4159250"/>
                <a:chExt cx="166687" cy="188913"/>
              </a:xfrm>
            </p:grpSpPr>
            <p:sp>
              <p:nvSpPr>
                <p:cNvPr id="70" name="Freeform 70"/>
                <p:cNvSpPr/>
                <p:nvPr/>
              </p:nvSpPr>
              <p:spPr>
                <a:xfrm>
                  <a:off x="7085013" y="4159250"/>
                  <a:ext cx="133350" cy="177801"/>
                </a:xfrm>
                <a:custGeom>
                  <a:avLst/>
                  <a:gdLst/>
                  <a:ahLst/>
                  <a:cxnLst/>
                  <a:rect l="l" t="t" r="r" b="b"/>
                  <a:pathLst>
                    <a:path w="133350" h="177801">
                      <a:moveTo>
                        <a:pt x="51284" y="177801"/>
                      </a:moveTo>
                      <a:lnTo>
                        <a:pt x="22225" y="177801"/>
                      </a:lnTo>
                      <a:cubicBezTo>
                        <a:pt x="9950" y="177801"/>
                        <a:pt x="0" y="167850"/>
                        <a:pt x="0" y="155575"/>
                      </a:cubicBezTo>
                      <a:lnTo>
                        <a:pt x="0" y="22225"/>
                      </a:lnTo>
                      <a:cubicBezTo>
                        <a:pt x="0" y="9950"/>
                        <a:pt x="9950" y="0"/>
                        <a:pt x="22225" y="0"/>
                      </a:cubicBezTo>
                      <a:lnTo>
                        <a:pt x="111125" y="0"/>
                      </a:lnTo>
                      <a:cubicBezTo>
                        <a:pt x="123400" y="0"/>
                        <a:pt x="133350" y="9950"/>
                        <a:pt x="133350" y="22225"/>
                      </a:cubicBezTo>
                      <a:lnTo>
                        <a:pt x="133350" y="111125"/>
                      </a:lnTo>
                    </a:path>
                  </a:pathLst>
                </a:custGeom>
                <a:noFill/>
                <a:ln w="22225">
                  <a:solidFill>
                    <a:srgbClr val="C97263"/>
                  </a:solidFill>
                </a:ln>
              </p:spPr>
            </p:sp>
            <p:sp>
              <p:nvSpPr>
                <p:cNvPr id="71" name="Freeform 71"/>
                <p:cNvSpPr/>
                <p:nvPr/>
              </p:nvSpPr>
              <p:spPr>
                <a:xfrm>
                  <a:off x="7185025" y="4303713"/>
                  <a:ext cx="66675" cy="44450"/>
                </a:xfrm>
                <a:custGeom>
                  <a:avLst/>
                  <a:gdLst/>
                  <a:ahLst/>
                  <a:cxnLst/>
                  <a:rect l="l" t="t" r="r" b="b"/>
                  <a:pathLst>
                    <a:path w="66675" h="44450">
                      <a:moveTo>
                        <a:pt x="0" y="22225"/>
                      </a:moveTo>
                      <a:lnTo>
                        <a:pt x="22225" y="44450"/>
                      </a:lnTo>
                      <a:lnTo>
                        <a:pt x="66675" y="0"/>
                      </a:lnTo>
                    </a:path>
                  </a:pathLst>
                </a:custGeom>
                <a:noFill/>
                <a:ln w="22225">
                  <a:solidFill>
                    <a:srgbClr val="C97263"/>
                  </a:solidFill>
                </a:ln>
              </p:spPr>
            </p:sp>
            <p:sp>
              <p:nvSpPr>
                <p:cNvPr id="72" name="Freeform 72"/>
                <p:cNvSpPr/>
                <p:nvPr/>
              </p:nvSpPr>
              <p:spPr>
                <a:xfrm>
                  <a:off x="7129463" y="4203700"/>
                  <a:ext cx="44450" cy="9525"/>
                </a:xfrm>
                <a:custGeom>
                  <a:avLst/>
                  <a:gdLst/>
                  <a:ahLst/>
                  <a:cxnLst/>
                  <a:rect l="l" t="t" r="r" b="b"/>
                  <a:pathLst>
                    <a:path w="44450" h="9525">
                      <a:moveTo>
                        <a:pt x="0" y="0"/>
                      </a:moveTo>
                      <a:lnTo>
                        <a:pt x="44450" y="0"/>
                      </a:lnTo>
                    </a:path>
                  </a:pathLst>
                </a:custGeom>
                <a:noFill/>
                <a:ln w="22225">
                  <a:solidFill>
                    <a:srgbClr val="C97263"/>
                  </a:solidFill>
                </a:ln>
              </p:spPr>
            </p:sp>
            <p:sp>
              <p:nvSpPr>
                <p:cNvPr id="73" name="Freeform 73"/>
                <p:cNvSpPr/>
                <p:nvPr/>
              </p:nvSpPr>
              <p:spPr>
                <a:xfrm>
                  <a:off x="7129463" y="4248150"/>
                  <a:ext cx="22225" cy="9525"/>
                </a:xfrm>
                <a:custGeom>
                  <a:avLst/>
                  <a:gdLst/>
                  <a:ahLst/>
                  <a:cxnLst/>
                  <a:rect l="l" t="t" r="r" b="b"/>
                  <a:pathLst>
                    <a:path w="22225" h="9525">
                      <a:moveTo>
                        <a:pt x="0" y="0"/>
                      </a:moveTo>
                      <a:lnTo>
                        <a:pt x="22225" y="0"/>
                      </a:lnTo>
                    </a:path>
                  </a:pathLst>
                </a:custGeom>
                <a:noFill/>
                <a:ln w="22225">
                  <a:solidFill>
                    <a:srgbClr val="C97263"/>
                  </a:solidFill>
                </a:ln>
              </p:spPr>
            </p:sp>
          </p:grpSp>
          <p:sp>
            <p:nvSpPr>
              <p:cNvPr id="75" name="Line 75"/>
              <p:cNvSpPr/>
              <p:nvPr/>
            </p:nvSpPr>
            <p:spPr>
              <a:xfrm>
                <a:off x="7677150" y="3867150"/>
                <a:ext cx="9525" cy="762000"/>
              </a:xfrm>
              <a:custGeom>
                <a:avLst/>
                <a:gdLst/>
                <a:ahLst/>
                <a:cxnLst/>
                <a:rect l="l" t="t" r="r" b="b"/>
                <a:pathLst>
                  <a:path w="9525" h="762000">
                    <a:moveTo>
                      <a:pt x="0" y="0"/>
                    </a:moveTo>
                    <a:lnTo>
                      <a:pt x="0" y="762000"/>
                    </a:lnTo>
                  </a:path>
                </a:pathLst>
              </a:custGeom>
              <a:noFill/>
              <a:ln w="9525">
                <a:solidFill>
                  <a:srgbClr val="E5DFD9"/>
                </a:solidFill>
              </a:ln>
            </p:spPr>
          </p:sp>
          <p:sp>
            <p:nvSpPr>
              <p:cNvPr id="76" name="TextBox 76"/>
              <p:cNvSpPr txBox="1"/>
              <p:nvPr/>
            </p:nvSpPr>
            <p:spPr>
              <a:xfrm>
                <a:off x="7880794" y="4008358"/>
                <a:ext cx="1104925" cy="227362"/>
              </a:xfrm>
              <a:prstGeom prst="rect">
                <a:avLst/>
              </a:prstGeom>
              <a:noFill/>
              <a:ln>
                <a:noFill/>
              </a:ln>
            </p:spPr>
            <p:txBody>
              <a:bodyPr wrap="none" lIns="0" tIns="0" rIns="0" bIns="0" anchor="t" anchorCtr="0">
                <a:spAutoFit/>
              </a:bodyPr>
              <a:lstStyle/>
              <a:p>
                <a:pPr algn="l"/>
                <a:r>
                  <a:rPr lang="zh-CN" sz="1160" b="1" dirty="0">
                    <a:solidFill>
                      <a:srgbClr val="2B2B2B"/>
                    </a:solidFill>
                    <a:latin typeface="+mn-lt"/>
                    <a:ea typeface="+mn-ea"/>
                    <a:cs typeface="+mn-cs"/>
                  </a:rPr>
                  <a:t>数据质量有考核</a:t>
                </a:r>
              </a:p>
            </p:txBody>
          </p:sp>
          <p:sp>
            <p:nvSpPr>
              <p:cNvPr id="77" name="TextBox 77"/>
              <p:cNvSpPr txBox="1"/>
              <p:nvPr/>
            </p:nvSpPr>
            <p:spPr>
              <a:xfrm>
                <a:off x="7881938" y="4341495"/>
                <a:ext cx="1705737" cy="176212"/>
              </a:xfrm>
              <a:prstGeom prst="rect">
                <a:avLst/>
              </a:prstGeom>
              <a:noFill/>
              <a:ln>
                <a:noFill/>
              </a:ln>
            </p:spPr>
            <p:txBody>
              <a:bodyPr wrap="none" lIns="0" tIns="0" rIns="0" bIns="0" anchor="t" anchorCtr="0">
                <a:spAutoFit/>
              </a:bodyPr>
              <a:lstStyle/>
              <a:p>
                <a:pPr algn="l"/>
                <a:r>
                  <a:rPr lang="zh-CN" sz="900" dirty="0">
                    <a:solidFill>
                      <a:srgbClr val="6A6A6A"/>
                    </a:solidFill>
                    <a:latin typeface="+mn-lt"/>
                    <a:ea typeface="+mn-ea"/>
                    <a:cs typeface="+mn-cs"/>
                  </a:rPr>
                  <a:t>（管理层抽查，空白字段扣分）</a:t>
                </a:r>
              </a:p>
            </p:txBody>
          </p:sp>
        </p:grpSp>
        <p:grpSp>
          <p:nvGrpSpPr>
            <p:cNvPr id="90" name="principle-3"/>
            <p:cNvGrpSpPr/>
            <p:nvPr/>
          </p:nvGrpSpPr>
          <p:grpSpPr>
            <a:xfrm>
              <a:off x="6096000" y="5029200"/>
              <a:ext cx="5715000" cy="1219200"/>
              <a:chOff x="6096000" y="5029200"/>
              <a:chExt cx="5715000" cy="1219200"/>
            </a:xfrm>
          </p:grpSpPr>
          <p:sp>
            <p:nvSpPr>
              <p:cNvPr id="79" name="Rectangle 79"/>
              <p:cNvSpPr/>
              <p:nvPr/>
            </p:nvSpPr>
            <p:spPr>
              <a:xfrm>
                <a:off x="6096000" y="5029200"/>
                <a:ext cx="5715000" cy="1219200"/>
              </a:xfrm>
              <a:prstGeom prst="roundRect">
                <a:avLst>
                  <a:gd name="adj" fmla="val 4688"/>
                </a:avLst>
              </a:prstGeom>
              <a:solidFill>
                <a:srgbClr val="FFFFFF"/>
              </a:solidFill>
              <a:ln w="11430">
                <a:solidFill>
                  <a:srgbClr val="C97263"/>
                </a:solidFill>
              </a:ln>
            </p:spPr>
          </p:sp>
          <p:sp>
            <p:nvSpPr>
              <p:cNvPr id="80" name="Ellipse 80"/>
              <p:cNvSpPr/>
              <p:nvPr/>
            </p:nvSpPr>
            <p:spPr>
              <a:xfrm>
                <a:off x="6353175" y="5438775"/>
                <a:ext cx="400050" cy="400050"/>
              </a:xfrm>
              <a:prstGeom prst="ellipse">
                <a:avLst/>
              </a:prstGeom>
              <a:solidFill>
                <a:srgbClr val="C97263"/>
              </a:solidFill>
              <a:ln>
                <a:noFill/>
              </a:ln>
            </p:spPr>
          </p:sp>
          <p:sp>
            <p:nvSpPr>
              <p:cNvPr id="81" name="TextBox 81"/>
              <p:cNvSpPr txBox="1"/>
              <p:nvPr/>
            </p:nvSpPr>
            <p:spPr>
              <a:xfrm>
                <a:off x="6496967" y="5558314"/>
                <a:ext cx="11246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3</a:t>
                </a:r>
              </a:p>
            </p:txBody>
          </p:sp>
          <p:grpSp>
            <p:nvGrpSpPr>
              <p:cNvPr id="86" name="Group 86"/>
              <p:cNvGrpSpPr/>
              <p:nvPr/>
            </p:nvGrpSpPr>
            <p:grpSpPr>
              <a:xfrm>
                <a:off x="7062788" y="5538788"/>
                <a:ext cx="200026" cy="200025"/>
                <a:chOff x="7062788" y="5538788"/>
                <a:chExt cx="200026" cy="200025"/>
              </a:xfrm>
            </p:grpSpPr>
            <p:sp>
              <p:nvSpPr>
                <p:cNvPr id="82" name="Freeform 82"/>
                <p:cNvSpPr/>
                <p:nvPr/>
              </p:nvSpPr>
              <p:spPr>
                <a:xfrm>
                  <a:off x="7085013" y="55387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rgbClr val="C97263"/>
                  </a:solidFill>
                </a:ln>
              </p:spPr>
            </p:sp>
            <p:sp>
              <p:nvSpPr>
                <p:cNvPr id="83" name="Freeform 83"/>
                <p:cNvSpPr/>
                <p:nvPr/>
              </p:nvSpPr>
              <p:spPr>
                <a:xfrm>
                  <a:off x="7062788" y="56721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rgbClr val="C97263"/>
                  </a:solidFill>
                </a:ln>
              </p:spPr>
            </p:sp>
            <p:sp>
              <p:nvSpPr>
                <p:cNvPr id="84" name="Freeform 84"/>
                <p:cNvSpPr/>
                <p:nvPr/>
              </p:nvSpPr>
              <p:spPr>
                <a:xfrm>
                  <a:off x="7207251" y="554023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rgbClr val="C97263"/>
                  </a:solidFill>
                </a:ln>
              </p:spPr>
            </p:sp>
            <p:sp>
              <p:nvSpPr>
                <p:cNvPr id="85" name="Freeform 85"/>
                <p:cNvSpPr/>
                <p:nvPr/>
              </p:nvSpPr>
              <p:spPr>
                <a:xfrm>
                  <a:off x="7229476" y="567380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rgbClr val="C97263"/>
                  </a:solidFill>
                </a:ln>
              </p:spPr>
            </p:sp>
          </p:grpSp>
          <p:sp>
            <p:nvSpPr>
              <p:cNvPr id="87" name="Line 87"/>
              <p:cNvSpPr/>
              <p:nvPr/>
            </p:nvSpPr>
            <p:spPr>
              <a:xfrm>
                <a:off x="7677150" y="5257800"/>
                <a:ext cx="9525" cy="762000"/>
              </a:xfrm>
              <a:custGeom>
                <a:avLst/>
                <a:gdLst/>
                <a:ahLst/>
                <a:cxnLst/>
                <a:rect l="l" t="t" r="r" b="b"/>
                <a:pathLst>
                  <a:path w="9525" h="762000">
                    <a:moveTo>
                      <a:pt x="0" y="0"/>
                    </a:moveTo>
                    <a:lnTo>
                      <a:pt x="0" y="762000"/>
                    </a:lnTo>
                  </a:path>
                </a:pathLst>
              </a:custGeom>
              <a:noFill/>
              <a:ln w="9525">
                <a:solidFill>
                  <a:srgbClr val="E5DFD9"/>
                </a:solidFill>
              </a:ln>
            </p:spPr>
          </p:sp>
          <p:sp>
            <p:nvSpPr>
              <p:cNvPr id="88" name="TextBox 88"/>
              <p:cNvSpPr txBox="1"/>
              <p:nvPr/>
            </p:nvSpPr>
            <p:spPr>
              <a:xfrm>
                <a:off x="7880794" y="5399008"/>
                <a:ext cx="2041881" cy="227362"/>
              </a:xfrm>
              <a:prstGeom prst="rect">
                <a:avLst/>
              </a:prstGeom>
              <a:noFill/>
              <a:ln>
                <a:noFill/>
              </a:ln>
            </p:spPr>
            <p:txBody>
              <a:bodyPr wrap="none" lIns="0" tIns="0" rIns="0" bIns="0" anchor="t" anchorCtr="0">
                <a:spAutoFit/>
              </a:bodyPr>
              <a:lstStyle/>
              <a:p>
                <a:pPr algn="l"/>
                <a:r>
                  <a:rPr lang="zh-CN" sz="1160" b="1" dirty="0">
                    <a:solidFill>
                      <a:srgbClr val="2B2B2B"/>
                    </a:solidFill>
                    <a:latin typeface="+mn-lt"/>
                    <a:ea typeface="+mn-ea"/>
                    <a:cs typeface="+mn-cs"/>
                  </a:rPr>
                  <a:t>用于辅助决策，而非监控销售</a:t>
                </a:r>
              </a:p>
            </p:txBody>
          </p:sp>
          <p:sp>
            <p:nvSpPr>
              <p:cNvPr id="89" name="TextBox 89"/>
              <p:cNvSpPr txBox="1"/>
              <p:nvPr/>
            </p:nvSpPr>
            <p:spPr>
              <a:xfrm>
                <a:off x="7881938" y="5732145"/>
                <a:ext cx="978789" cy="176212"/>
              </a:xfrm>
              <a:prstGeom prst="rect">
                <a:avLst/>
              </a:prstGeom>
              <a:noFill/>
              <a:ln>
                <a:noFill/>
              </a:ln>
            </p:spPr>
            <p:txBody>
              <a:bodyPr wrap="none" lIns="0" tIns="0" rIns="0" bIns="0" anchor="t" anchorCtr="0">
                <a:spAutoFit/>
              </a:bodyPr>
              <a:lstStyle/>
              <a:p>
                <a:pPr algn="l"/>
                <a:r>
                  <a:rPr lang="zh-CN" sz="900" dirty="0">
                    <a:solidFill>
                      <a:srgbClr val="6A6A6A"/>
                    </a:solidFill>
                    <a:latin typeface="+mn-lt"/>
                    <a:ea typeface="+mn-ea"/>
                    <a:cs typeface="+mn-cs"/>
                  </a:rPr>
                  <a:t>（避免销售抵触）</a:t>
                </a:r>
              </a:p>
            </p:txBody>
          </p:sp>
        </p:grpSp>
      </p:grpSp>
      <p:sp>
        <p:nvSpPr>
          <p:cNvPr id="92" name="page-num"/>
          <p:cNvSpPr txBox="1"/>
          <p:nvPr/>
        </p:nvSpPr>
        <p:spPr>
          <a:xfrm>
            <a:off x="11582971" y="6532721"/>
            <a:ext cx="235268" cy="278702"/>
          </a:xfrm>
          <a:prstGeom prst="rect">
            <a:avLst/>
          </a:prstGeom>
          <a:noFill/>
          <a:ln>
            <a:noFill/>
          </a:ln>
        </p:spPr>
        <p:txBody>
          <a:bodyPr wrap="none" lIns="0" tIns="0" rIns="0" bIns="0" anchor="t" anchorCtr="0">
            <a:spAutoFit/>
          </a:bodyPr>
          <a:lstStyle/>
          <a:p>
            <a:pPr algn="r"/>
            <a:r>
              <a:rPr lang="zh-CN" sz="1420" b="1" dirty="0">
                <a:solidFill>
                  <a:srgbClr val="3F3F3F"/>
                </a:solidFill>
                <a:latin typeface="+mn-lt"/>
                <a:ea typeface="+mn-ea"/>
                <a:cs typeface="+mn-cs"/>
              </a:rPr>
              <a:t>14</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a:xfrm>
            <a:off x="365760" y="190500"/>
            <a:ext cx="10126980" cy="586740"/>
          </a:xfrm>
          <a:prstGeom prst="rect">
            <a:avLst/>
          </a:prstGeom>
          <a:noFill/>
          <a:ln>
            <a:noFill/>
          </a:ln>
        </p:spPr>
        <p:txBody>
          <a:bodyPr wrap="none" lIns="0" tIns="0" rIns="0" bIns="0" anchor="t" anchorCtr="0">
            <a:spAutoFit/>
          </a:bodyPr>
          <a:lstStyle/>
          <a:p>
            <a:pPr algn="l"/>
            <a:r>
              <a:rPr lang="zh-CN" sz="3000" b="1" dirty="0">
                <a:solidFill>
                  <a:srgbClr val="1A1A1A"/>
                </a:solidFill>
                <a:latin typeface="+mn-lt"/>
                <a:ea typeface="+mn-ea"/>
                <a:cs typeface="+mn-cs"/>
              </a:rPr>
              <a:t>大客户的年度复盘与下年规划：如何让客户经营形成闭环</a:t>
            </a:r>
          </a:p>
        </p:txBody>
      </p:sp>
      <p:grpSp>
        <p:nvGrpSpPr>
          <p:cNvPr id="12" name="core-bar"/>
          <p:cNvGrpSpPr/>
          <p:nvPr/>
        </p:nvGrpSpPr>
        <p:grpSpPr>
          <a:xfrm>
            <a:off x="381000" y="781050"/>
            <a:ext cx="11430000" cy="838200"/>
            <a:chOff x="381000" y="781050"/>
            <a:chExt cx="11430000" cy="838200"/>
          </a:xfrm>
        </p:grpSpPr>
        <p:sp>
          <p:nvSpPr>
            <p:cNvPr id="3" name="Rectangle 3"/>
            <p:cNvSpPr/>
            <p:nvPr/>
          </p:nvSpPr>
          <p:spPr>
            <a:xfrm>
              <a:off x="381000" y="781050"/>
              <a:ext cx="838200" cy="838200"/>
            </a:xfrm>
            <a:prstGeom prst="roundRect">
              <a:avLst>
                <a:gd name="adj" fmla="val 2273"/>
              </a:avLst>
            </a:prstGeom>
            <a:solidFill>
              <a:srgbClr val="8B321E"/>
            </a:solidFill>
            <a:ln>
              <a:noFill/>
            </a:ln>
          </p:spPr>
        </p:sp>
        <p:grpSp>
          <p:nvGrpSpPr>
            <p:cNvPr id="9" name="Group 9"/>
            <p:cNvGrpSpPr/>
            <p:nvPr/>
          </p:nvGrpSpPr>
          <p:grpSpPr>
            <a:xfrm>
              <a:off x="668251" y="1007021"/>
              <a:ext cx="258224" cy="258246"/>
              <a:chOff x="668251" y="1007021"/>
              <a:chExt cx="258224" cy="258246"/>
            </a:xfrm>
          </p:grpSpPr>
          <p:sp>
            <p:nvSpPr>
              <p:cNvPr id="4" name="Freeform 4"/>
              <p:cNvSpPr/>
              <p:nvPr/>
            </p:nvSpPr>
            <p:spPr>
              <a:xfrm>
                <a:off x="786607" y="1119982"/>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26988">
                <a:solidFill>
                  <a:srgbClr val="FFFFFF"/>
                </a:solidFill>
              </a:ln>
            </p:spPr>
          </p:sp>
          <p:sp>
            <p:nvSpPr>
              <p:cNvPr id="5" name="Freeform 5"/>
              <p:cNvSpPr/>
              <p:nvPr/>
            </p:nvSpPr>
            <p:spPr>
              <a:xfrm>
                <a:off x="732631" y="1066006"/>
                <a:ext cx="134938" cy="134938"/>
              </a:xfrm>
              <a:custGeom>
                <a:avLst/>
                <a:gdLst/>
                <a:ahLst/>
                <a:cxnLst/>
                <a:rect l="l" t="t" r="r" b="b"/>
                <a:pathLst>
                  <a:path w="134938" h="134938">
                    <a:moveTo>
                      <a:pt x="67469" y="0"/>
                    </a:moveTo>
                    <a:cubicBezTo>
                      <a:pt x="30207" y="0"/>
                      <a:pt x="0" y="30207"/>
                      <a:pt x="0" y="67469"/>
                    </a:cubicBezTo>
                    <a:cubicBezTo>
                      <a:pt x="0" y="104731"/>
                      <a:pt x="30207" y="134938"/>
                      <a:pt x="67469" y="134938"/>
                    </a:cubicBezTo>
                    <a:cubicBezTo>
                      <a:pt x="104731" y="134938"/>
                      <a:pt x="134938" y="104731"/>
                      <a:pt x="134938" y="67469"/>
                    </a:cubicBezTo>
                  </a:path>
                </a:pathLst>
              </a:custGeom>
              <a:noFill/>
              <a:ln w="26988">
                <a:solidFill>
                  <a:srgbClr val="FFFFFF"/>
                </a:solidFill>
              </a:ln>
            </p:spPr>
          </p:sp>
          <p:sp>
            <p:nvSpPr>
              <p:cNvPr id="6" name="Freeform 6"/>
              <p:cNvSpPr/>
              <p:nvPr/>
            </p:nvSpPr>
            <p:spPr>
              <a:xfrm>
                <a:off x="668251" y="1007021"/>
                <a:ext cx="258224" cy="258246"/>
              </a:xfrm>
              <a:custGeom>
                <a:avLst/>
                <a:gdLst/>
                <a:ahLst/>
                <a:cxnLst/>
                <a:rect l="l" t="t" r="r" b="b"/>
                <a:pathLst>
                  <a:path w="258224" h="258246">
                    <a:moveTo>
                      <a:pt x="145343" y="5752"/>
                    </a:moveTo>
                    <a:cubicBezTo>
                      <a:pt x="94071" y="0"/>
                      <a:pt x="44761" y="27272"/>
                      <a:pt x="22381" y="73759"/>
                    </a:cubicBezTo>
                    <a:cubicBezTo>
                      <a:pt x="0" y="120246"/>
                      <a:pt x="9435" y="175800"/>
                      <a:pt x="45908" y="212291"/>
                    </a:cubicBezTo>
                    <a:cubicBezTo>
                      <a:pt x="82382" y="248783"/>
                      <a:pt x="137930" y="258246"/>
                      <a:pt x="184429" y="235889"/>
                    </a:cubicBezTo>
                    <a:cubicBezTo>
                      <a:pt x="230927" y="213532"/>
                      <a:pt x="258224" y="164235"/>
                      <a:pt x="252498" y="112960"/>
                    </a:cubicBezTo>
                  </a:path>
                </a:pathLst>
              </a:custGeom>
              <a:noFill/>
              <a:ln w="26988">
                <a:solidFill>
                  <a:srgbClr val="FFFFFF"/>
                </a:solidFill>
              </a:ln>
            </p:spPr>
          </p:sp>
          <p:sp>
            <p:nvSpPr>
              <p:cNvPr id="7" name="Freeform 7"/>
              <p:cNvSpPr/>
              <p:nvPr/>
            </p:nvSpPr>
            <p:spPr>
              <a:xfrm>
                <a:off x="840582" y="1012031"/>
                <a:ext cx="80963" cy="80963"/>
              </a:xfrm>
              <a:custGeom>
                <a:avLst/>
                <a:gdLst/>
                <a:ahLst/>
                <a:cxnLst/>
                <a:rect l="l" t="t" r="r" b="b"/>
                <a:pathLst>
                  <a:path w="80963" h="80963">
                    <a:moveTo>
                      <a:pt x="0" y="40481"/>
                    </a:moveTo>
                    <a:lnTo>
                      <a:pt x="0" y="80963"/>
                    </a:lnTo>
                    <a:lnTo>
                      <a:pt x="40481" y="80963"/>
                    </a:lnTo>
                    <a:lnTo>
                      <a:pt x="80963" y="40481"/>
                    </a:lnTo>
                    <a:lnTo>
                      <a:pt x="40481" y="40481"/>
                    </a:lnTo>
                    <a:lnTo>
                      <a:pt x="40481" y="0"/>
                    </a:lnTo>
                    <a:lnTo>
                      <a:pt x="0" y="40481"/>
                    </a:lnTo>
                  </a:path>
                </a:pathLst>
              </a:custGeom>
              <a:noFill/>
              <a:ln w="26988">
                <a:solidFill>
                  <a:srgbClr val="FFFFFF"/>
                </a:solidFill>
              </a:ln>
            </p:spPr>
          </p:sp>
          <p:sp>
            <p:nvSpPr>
              <p:cNvPr id="8" name="Freeform 8"/>
              <p:cNvSpPr/>
              <p:nvPr/>
            </p:nvSpPr>
            <p:spPr>
              <a:xfrm>
                <a:off x="800100" y="1092994"/>
                <a:ext cx="40481" cy="40481"/>
              </a:xfrm>
              <a:custGeom>
                <a:avLst/>
                <a:gdLst/>
                <a:ahLst/>
                <a:cxnLst/>
                <a:rect l="l" t="t" r="r" b="b"/>
                <a:pathLst>
                  <a:path w="40481" h="40481">
                    <a:moveTo>
                      <a:pt x="40481" y="0"/>
                    </a:moveTo>
                    <a:lnTo>
                      <a:pt x="0" y="40481"/>
                    </a:lnTo>
                  </a:path>
                </a:pathLst>
              </a:custGeom>
              <a:noFill/>
              <a:ln w="26988">
                <a:solidFill>
                  <a:srgbClr val="FFFFFF"/>
                </a:solidFill>
              </a:ln>
            </p:spPr>
          </p:sp>
        </p:grpSp>
        <p:sp>
          <p:nvSpPr>
            <p:cNvPr id="10" name="Rectangle 10"/>
            <p:cNvSpPr/>
            <p:nvPr/>
          </p:nvSpPr>
          <p:spPr>
            <a:xfrm>
              <a:off x="1314450" y="781050"/>
              <a:ext cx="10496550" cy="838200"/>
            </a:xfrm>
            <a:prstGeom prst="rect">
              <a:avLst/>
            </a:prstGeom>
            <a:solidFill>
              <a:srgbClr val="FFFFFF"/>
            </a:solidFill>
            <a:ln w="14288">
              <a:solidFill>
                <a:srgbClr val="8B321E"/>
              </a:solidFill>
            </a:ln>
          </p:spPr>
        </p:sp>
        <p:sp>
          <p:nvSpPr>
            <p:cNvPr id="11" name="TextBox 11"/>
            <p:cNvSpPr txBox="1"/>
            <p:nvPr/>
          </p:nvSpPr>
          <p:spPr>
            <a:xfrm>
              <a:off x="4088863" y="992029"/>
              <a:ext cx="4947723" cy="593788"/>
            </a:xfrm>
            <a:prstGeom prst="rect">
              <a:avLst/>
            </a:prstGeom>
            <a:noFill/>
            <a:ln>
              <a:noFill/>
            </a:ln>
          </p:spPr>
          <p:txBody>
            <a:bodyPr wrap="none" lIns="0" tIns="0" rIns="0" bIns="0" anchor="t" anchorCtr="0">
              <a:spAutoFit/>
            </a:bodyPr>
            <a:lstStyle/>
            <a:p>
              <a:pPr algn="ctr">
                <a:lnSpc>
                  <a:spcPts val="2250"/>
                </a:lnSpc>
              </a:pPr>
              <a:r>
                <a:rPr lang="zh-CN" sz="1580" b="1" dirty="0">
                  <a:solidFill>
                    <a:srgbClr val="8B321E"/>
                  </a:solidFill>
                  <a:latin typeface="+mn-lt"/>
                  <a:ea typeface="+mn-ea"/>
                  <a:cs typeface="+mn-cs"/>
                </a:rPr>
                <a:t>年度复盘不是总结过去，而是为下一年的经营打基础，​</a:t>
              </a:r>
              <a:br/>
              <a:r>
                <a:rPr lang="zh-CN" sz="1580" b="1" dirty="0">
                  <a:solidFill>
                    <a:srgbClr val="8B321E"/>
                  </a:solidFill>
                  <a:latin typeface="+mn-lt"/>
                  <a:ea typeface="+mn-ea"/>
                  <a:cs typeface="+mn-cs"/>
                </a:rPr>
                <a:t>复盘的质量决定了下一年作战图的质量。</a:t>
              </a:r>
            </a:p>
          </p:txBody>
        </p:sp>
      </p:grpSp>
      <p:grpSp>
        <p:nvGrpSpPr>
          <p:cNvPr id="64" name="topics"/>
          <p:cNvGrpSpPr/>
          <p:nvPr/>
        </p:nvGrpSpPr>
        <p:grpSpPr>
          <a:xfrm>
            <a:off x="373761" y="1846421"/>
            <a:ext cx="5341239" cy="4401979"/>
            <a:chOff x="373761" y="1846421"/>
            <a:chExt cx="5341239" cy="4401979"/>
          </a:xfrm>
        </p:grpSpPr>
        <p:sp>
          <p:nvSpPr>
            <p:cNvPr id="13" name="TextBox 13"/>
            <p:cNvSpPr txBox="1"/>
            <p:nvPr/>
          </p:nvSpPr>
          <p:spPr>
            <a:xfrm>
              <a:off x="373761" y="1846421"/>
              <a:ext cx="2117242"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年度复盘的五个核心议题</a:t>
              </a:r>
            </a:p>
          </p:txBody>
        </p:sp>
        <p:sp>
          <p:nvSpPr>
            <p:cNvPr id="14" name="Line 14"/>
            <p:cNvSpPr/>
            <p:nvPr/>
          </p:nvSpPr>
          <p:spPr>
            <a:xfrm>
              <a:off x="381000" y="2095500"/>
              <a:ext cx="5334000" cy="9525"/>
            </a:xfrm>
            <a:custGeom>
              <a:avLst/>
              <a:gdLst/>
              <a:ahLst/>
              <a:cxnLst/>
              <a:rect l="l" t="t" r="r" b="b"/>
              <a:pathLst>
                <a:path w="5334000" h="9525">
                  <a:moveTo>
                    <a:pt x="0" y="0"/>
                  </a:moveTo>
                  <a:lnTo>
                    <a:pt x="5334000" y="0"/>
                  </a:lnTo>
                </a:path>
              </a:pathLst>
            </a:custGeom>
            <a:noFill/>
            <a:ln w="9525">
              <a:solidFill>
                <a:srgbClr val="8B321E"/>
              </a:solidFill>
            </a:ln>
          </p:spPr>
        </p:sp>
        <p:grpSp>
          <p:nvGrpSpPr>
            <p:cNvPr id="24" name="topic-1"/>
            <p:cNvGrpSpPr/>
            <p:nvPr/>
          </p:nvGrpSpPr>
          <p:grpSpPr>
            <a:xfrm>
              <a:off x="381000" y="2247900"/>
              <a:ext cx="5334000" cy="723900"/>
              <a:chOff x="381000" y="2247900"/>
              <a:chExt cx="5334000" cy="723900"/>
            </a:xfrm>
          </p:grpSpPr>
          <p:sp>
            <p:nvSpPr>
              <p:cNvPr id="15" name="Rectangle 15"/>
              <p:cNvSpPr/>
              <p:nvPr/>
            </p:nvSpPr>
            <p:spPr>
              <a:xfrm>
                <a:off x="381000" y="2247900"/>
                <a:ext cx="5334000" cy="723900"/>
              </a:xfrm>
              <a:prstGeom prst="roundRect">
                <a:avLst>
                  <a:gd name="adj" fmla="val 5263"/>
                </a:avLst>
              </a:prstGeom>
              <a:solidFill>
                <a:srgbClr val="8B321E"/>
              </a:solidFill>
              <a:ln>
                <a:noFill/>
              </a:ln>
            </p:spPr>
          </p:sp>
          <p:sp>
            <p:nvSpPr>
              <p:cNvPr id="16" name="Ellipse 16"/>
              <p:cNvSpPr/>
              <p:nvPr/>
            </p:nvSpPr>
            <p:spPr>
              <a:xfrm>
                <a:off x="533400" y="2381250"/>
                <a:ext cx="457200" cy="457200"/>
              </a:xfrm>
              <a:prstGeom prst="ellipse">
                <a:avLst/>
              </a:prstGeom>
              <a:solidFill>
                <a:srgbClr val="FFFFFF"/>
              </a:solidFill>
              <a:ln>
                <a:noFill/>
              </a:ln>
            </p:spPr>
          </p:sp>
          <p:grpSp>
            <p:nvGrpSpPr>
              <p:cNvPr id="21" name="Group 21"/>
              <p:cNvGrpSpPr/>
              <p:nvPr/>
            </p:nvGrpSpPr>
            <p:grpSpPr>
              <a:xfrm>
                <a:off x="676275" y="2533650"/>
                <a:ext cx="171450" cy="161925"/>
                <a:chOff x="676275" y="2533650"/>
                <a:chExt cx="171450" cy="161925"/>
              </a:xfrm>
            </p:grpSpPr>
            <p:sp>
              <p:nvSpPr>
                <p:cNvPr id="17" name="Freeform 17"/>
                <p:cNvSpPr/>
                <p:nvPr/>
              </p:nvSpPr>
              <p:spPr>
                <a:xfrm>
                  <a:off x="676275" y="2609850"/>
                  <a:ext cx="57150" cy="76200"/>
                </a:xfrm>
                <a:custGeom>
                  <a:avLst/>
                  <a:gdLst/>
                  <a:ahLst/>
                  <a:cxnLst/>
                  <a:rect l="l" t="t" r="r" b="b"/>
                  <a:pathLst>
                    <a:path w="57150" h="76200">
                      <a:moveTo>
                        <a:pt x="0" y="9525"/>
                      </a:moveTo>
                      <a:cubicBezTo>
                        <a:pt x="0" y="4264"/>
                        <a:pt x="4264" y="0"/>
                        <a:pt x="9525" y="0"/>
                      </a:cubicBezTo>
                      <a:lnTo>
                        <a:pt x="47625" y="0"/>
                      </a:lnTo>
                      <a:cubicBezTo>
                        <a:pt x="52886" y="0"/>
                        <a:pt x="57150" y="4264"/>
                        <a:pt x="57150" y="9525"/>
                      </a:cubicBezTo>
                      <a:lnTo>
                        <a:pt x="57150" y="66675"/>
                      </a:lnTo>
                      <a:cubicBezTo>
                        <a:pt x="57150" y="71936"/>
                        <a:pt x="52886" y="76200"/>
                        <a:pt x="47625" y="76200"/>
                      </a:cubicBezTo>
                      <a:lnTo>
                        <a:pt x="9525" y="76200"/>
                      </a:lnTo>
                      <a:cubicBezTo>
                        <a:pt x="4264" y="76200"/>
                        <a:pt x="0" y="71936"/>
                        <a:pt x="0" y="66675"/>
                      </a:cubicBezTo>
                      <a:lnTo>
                        <a:pt x="0" y="9525"/>
                      </a:lnTo>
                    </a:path>
                  </a:pathLst>
                </a:custGeom>
                <a:noFill/>
                <a:ln w="19050">
                  <a:solidFill>
                    <a:srgbClr val="8B321E"/>
                  </a:solidFill>
                </a:ln>
              </p:spPr>
            </p:sp>
            <p:sp>
              <p:nvSpPr>
                <p:cNvPr id="18" name="Freeform 18"/>
                <p:cNvSpPr/>
                <p:nvPr/>
              </p:nvSpPr>
              <p:spPr>
                <a:xfrm>
                  <a:off x="790575" y="2571750"/>
                  <a:ext cx="57150" cy="114300"/>
                </a:xfrm>
                <a:custGeom>
                  <a:avLst/>
                  <a:gdLst/>
                  <a:ahLst/>
                  <a:cxnLst/>
                  <a:rect l="l" t="t" r="r" b="b"/>
                  <a:pathLst>
                    <a:path w="57150" h="114300">
                      <a:moveTo>
                        <a:pt x="0" y="9525"/>
                      </a:moveTo>
                      <a:cubicBezTo>
                        <a:pt x="0" y="4264"/>
                        <a:pt x="4264" y="0"/>
                        <a:pt x="9525" y="0"/>
                      </a:cubicBezTo>
                      <a:lnTo>
                        <a:pt x="47625" y="0"/>
                      </a:lnTo>
                      <a:cubicBezTo>
                        <a:pt x="52886" y="0"/>
                        <a:pt x="57150" y="4264"/>
                        <a:pt x="57150" y="9525"/>
                      </a:cubicBezTo>
                      <a:lnTo>
                        <a:pt x="57150" y="104775"/>
                      </a:lnTo>
                      <a:cubicBezTo>
                        <a:pt x="57150" y="110036"/>
                        <a:pt x="52886" y="114300"/>
                        <a:pt x="47625" y="114300"/>
                      </a:cubicBezTo>
                      <a:lnTo>
                        <a:pt x="9525" y="114300"/>
                      </a:lnTo>
                      <a:cubicBezTo>
                        <a:pt x="4264" y="114300"/>
                        <a:pt x="0" y="110036"/>
                        <a:pt x="0" y="104775"/>
                      </a:cubicBezTo>
                      <a:lnTo>
                        <a:pt x="0" y="9525"/>
                      </a:lnTo>
                    </a:path>
                  </a:pathLst>
                </a:custGeom>
                <a:noFill/>
                <a:ln w="19050">
                  <a:solidFill>
                    <a:srgbClr val="8B321E"/>
                  </a:solidFill>
                </a:ln>
              </p:spPr>
            </p:sp>
            <p:sp>
              <p:nvSpPr>
                <p:cNvPr id="19" name="Freeform 19"/>
                <p:cNvSpPr/>
                <p:nvPr/>
              </p:nvSpPr>
              <p:spPr>
                <a:xfrm>
                  <a:off x="733425" y="2533650"/>
                  <a:ext cx="57150" cy="152400"/>
                </a:xfrm>
                <a:custGeom>
                  <a:avLst/>
                  <a:gdLst/>
                  <a:ahLst/>
                  <a:cxnLst/>
                  <a:rect l="l" t="t" r="r" b="b"/>
                  <a:pathLst>
                    <a:path w="57150" h="152400">
                      <a:moveTo>
                        <a:pt x="0" y="9525"/>
                      </a:moveTo>
                      <a:cubicBezTo>
                        <a:pt x="0" y="4264"/>
                        <a:pt x="4264" y="0"/>
                        <a:pt x="9525" y="0"/>
                      </a:cubicBezTo>
                      <a:lnTo>
                        <a:pt x="47625" y="0"/>
                      </a:lnTo>
                      <a:cubicBezTo>
                        <a:pt x="52886" y="0"/>
                        <a:pt x="57150" y="4264"/>
                        <a:pt x="57150" y="9525"/>
                      </a:cubicBezTo>
                      <a:lnTo>
                        <a:pt x="57150" y="142875"/>
                      </a:lnTo>
                      <a:cubicBezTo>
                        <a:pt x="57150" y="148136"/>
                        <a:pt x="52886" y="152400"/>
                        <a:pt x="47625" y="152400"/>
                      </a:cubicBezTo>
                      <a:lnTo>
                        <a:pt x="9525" y="152400"/>
                      </a:lnTo>
                      <a:cubicBezTo>
                        <a:pt x="4264" y="152400"/>
                        <a:pt x="0" y="148136"/>
                        <a:pt x="0" y="142875"/>
                      </a:cubicBezTo>
                      <a:lnTo>
                        <a:pt x="0" y="9525"/>
                      </a:lnTo>
                    </a:path>
                  </a:pathLst>
                </a:custGeom>
                <a:noFill/>
                <a:ln w="19050">
                  <a:solidFill>
                    <a:srgbClr val="8B321E"/>
                  </a:solidFill>
                </a:ln>
              </p:spPr>
            </p:sp>
            <p:sp>
              <p:nvSpPr>
                <p:cNvPr id="20" name="Freeform 20"/>
                <p:cNvSpPr/>
                <p:nvPr/>
              </p:nvSpPr>
              <p:spPr>
                <a:xfrm>
                  <a:off x="685800" y="2686050"/>
                  <a:ext cx="133350" cy="9525"/>
                </a:xfrm>
                <a:custGeom>
                  <a:avLst/>
                  <a:gdLst/>
                  <a:ahLst/>
                  <a:cxnLst/>
                  <a:rect l="l" t="t" r="r" b="b"/>
                  <a:pathLst>
                    <a:path w="133350" h="9525">
                      <a:moveTo>
                        <a:pt x="0" y="0"/>
                      </a:moveTo>
                      <a:lnTo>
                        <a:pt x="133350" y="0"/>
                      </a:lnTo>
                    </a:path>
                  </a:pathLst>
                </a:custGeom>
                <a:noFill/>
                <a:ln w="19050">
                  <a:solidFill>
                    <a:srgbClr val="8B321E"/>
                  </a:solidFill>
                </a:ln>
              </p:spPr>
            </p:sp>
          </p:grpSp>
          <p:sp>
            <p:nvSpPr>
              <p:cNvPr id="22" name="TextBox 22"/>
              <p:cNvSpPr txBox="1"/>
              <p:nvPr/>
            </p:nvSpPr>
            <p:spPr>
              <a:xfrm>
                <a:off x="1118044" y="2408158"/>
                <a:ext cx="1573403" cy="227362"/>
              </a:xfrm>
              <a:prstGeom prst="rect">
                <a:avLst/>
              </a:prstGeom>
              <a:noFill/>
              <a:ln>
                <a:noFill/>
              </a:ln>
            </p:spPr>
            <p:txBody>
              <a:bodyPr wrap="none" lIns="0" tIns="0" rIns="0" bIns="0" anchor="t" anchorCtr="0">
                <a:spAutoFit/>
              </a:bodyPr>
              <a:lstStyle/>
              <a:p>
                <a:pPr algn="l"/>
                <a:r>
                  <a:rPr lang="zh-CN" sz="1160" b="1" dirty="0">
                    <a:solidFill>
                      <a:srgbClr val="FFFFFF"/>
                    </a:solidFill>
                    <a:latin typeface="+mn-lt"/>
                    <a:ea typeface="+mn-ea"/>
                    <a:cs typeface="+mn-cs"/>
                  </a:rPr>
                  <a:t>议题一：目标达成情况</a:t>
                </a:r>
              </a:p>
            </p:txBody>
          </p:sp>
          <p:sp>
            <p:nvSpPr>
              <p:cNvPr id="23" name="TextBox 23"/>
              <p:cNvSpPr txBox="1"/>
              <p:nvPr/>
            </p:nvSpPr>
            <p:spPr>
              <a:xfrm>
                <a:off x="1119188" y="2684145"/>
                <a:ext cx="2069211"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营收达成率、份额变化、里程碑完成。</a:t>
                </a:r>
              </a:p>
            </p:txBody>
          </p:sp>
        </p:grpSp>
        <p:grpSp>
          <p:nvGrpSpPr>
            <p:cNvPr id="34" name="topic-2"/>
            <p:cNvGrpSpPr/>
            <p:nvPr/>
          </p:nvGrpSpPr>
          <p:grpSpPr>
            <a:xfrm>
              <a:off x="381000" y="3067050"/>
              <a:ext cx="5334000" cy="723900"/>
              <a:chOff x="381000" y="3067050"/>
              <a:chExt cx="5334000" cy="723900"/>
            </a:xfrm>
          </p:grpSpPr>
          <p:sp>
            <p:nvSpPr>
              <p:cNvPr id="25" name="Rectangle 25"/>
              <p:cNvSpPr/>
              <p:nvPr/>
            </p:nvSpPr>
            <p:spPr>
              <a:xfrm>
                <a:off x="381000" y="3067050"/>
                <a:ext cx="5334000" cy="723900"/>
              </a:xfrm>
              <a:prstGeom prst="roundRect">
                <a:avLst>
                  <a:gd name="adj" fmla="val 5263"/>
                </a:avLst>
              </a:prstGeom>
              <a:solidFill>
                <a:srgbClr val="55565A"/>
              </a:solidFill>
              <a:ln>
                <a:noFill/>
              </a:ln>
            </p:spPr>
          </p:sp>
          <p:sp>
            <p:nvSpPr>
              <p:cNvPr id="26" name="Ellipse 26"/>
              <p:cNvSpPr/>
              <p:nvPr/>
            </p:nvSpPr>
            <p:spPr>
              <a:xfrm>
                <a:off x="533400" y="3200400"/>
                <a:ext cx="457200" cy="457200"/>
              </a:xfrm>
              <a:prstGeom prst="ellipse">
                <a:avLst/>
              </a:prstGeom>
              <a:solidFill>
                <a:srgbClr val="FFFFFF"/>
              </a:solidFill>
              <a:ln>
                <a:noFill/>
              </a:ln>
            </p:spPr>
          </p:sp>
          <p:grpSp>
            <p:nvGrpSpPr>
              <p:cNvPr id="31" name="Group 31"/>
              <p:cNvGrpSpPr/>
              <p:nvPr/>
            </p:nvGrpSpPr>
            <p:grpSpPr>
              <a:xfrm>
                <a:off x="676275" y="3343275"/>
                <a:ext cx="171450" cy="171450"/>
                <a:chOff x="676275" y="3343275"/>
                <a:chExt cx="171450" cy="171450"/>
              </a:xfrm>
            </p:grpSpPr>
            <p:sp>
              <p:nvSpPr>
                <p:cNvPr id="27" name="Freeform 27"/>
                <p:cNvSpPr/>
                <p:nvPr/>
              </p:nvSpPr>
              <p:spPr>
                <a:xfrm>
                  <a:off x="695325" y="33432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55565A"/>
                  </a:solidFill>
                </a:ln>
              </p:spPr>
            </p:sp>
            <p:sp>
              <p:nvSpPr>
                <p:cNvPr id="28" name="Freeform 28"/>
                <p:cNvSpPr/>
                <p:nvPr/>
              </p:nvSpPr>
              <p:spPr>
                <a:xfrm>
                  <a:off x="676275" y="34575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55565A"/>
                  </a:solidFill>
                </a:ln>
              </p:spPr>
            </p:sp>
            <p:sp>
              <p:nvSpPr>
                <p:cNvPr id="29" name="Freeform 29"/>
                <p:cNvSpPr/>
                <p:nvPr/>
              </p:nvSpPr>
              <p:spPr>
                <a:xfrm>
                  <a:off x="800100" y="33445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55565A"/>
                  </a:solidFill>
                </a:ln>
              </p:spPr>
            </p:sp>
            <p:sp>
              <p:nvSpPr>
                <p:cNvPr id="30" name="Freeform 30"/>
                <p:cNvSpPr/>
                <p:nvPr/>
              </p:nvSpPr>
              <p:spPr>
                <a:xfrm>
                  <a:off x="819150" y="34590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55565A"/>
                  </a:solidFill>
                </a:ln>
              </p:spPr>
            </p:sp>
          </p:grpSp>
          <p:sp>
            <p:nvSpPr>
              <p:cNvPr id="32" name="TextBox 32"/>
              <p:cNvSpPr txBox="1"/>
              <p:nvPr/>
            </p:nvSpPr>
            <p:spPr>
              <a:xfrm>
                <a:off x="1118044" y="3227308"/>
                <a:ext cx="1573403" cy="227362"/>
              </a:xfrm>
              <a:prstGeom prst="rect">
                <a:avLst/>
              </a:prstGeom>
              <a:noFill/>
              <a:ln>
                <a:noFill/>
              </a:ln>
            </p:spPr>
            <p:txBody>
              <a:bodyPr wrap="none" lIns="0" tIns="0" rIns="0" bIns="0" anchor="t" anchorCtr="0">
                <a:spAutoFit/>
              </a:bodyPr>
              <a:lstStyle/>
              <a:p>
                <a:pPr algn="l"/>
                <a:r>
                  <a:rPr lang="zh-CN" sz="1160" b="1" dirty="0">
                    <a:solidFill>
                      <a:srgbClr val="FFFFFF"/>
                    </a:solidFill>
                    <a:latin typeface="+mn-lt"/>
                    <a:ea typeface="+mn-ea"/>
                    <a:cs typeface="+mn-cs"/>
                  </a:rPr>
                  <a:t>议题二：客户关系变化</a:t>
                </a:r>
              </a:p>
            </p:txBody>
          </p:sp>
          <p:sp>
            <p:nvSpPr>
              <p:cNvPr id="33" name="TextBox 33"/>
              <p:cNvSpPr txBox="1"/>
              <p:nvPr/>
            </p:nvSpPr>
            <p:spPr>
              <a:xfrm>
                <a:off x="1119188" y="3503295"/>
                <a:ext cx="292943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评分变化、新覆盖角色、关系风险（离职/态度转）。​</a:t>
                </a:r>
              </a:p>
            </p:txBody>
          </p:sp>
        </p:grpSp>
        <p:grpSp>
          <p:nvGrpSpPr>
            <p:cNvPr id="46" name="topic-3"/>
            <p:cNvGrpSpPr/>
            <p:nvPr/>
          </p:nvGrpSpPr>
          <p:grpSpPr>
            <a:xfrm>
              <a:off x="381000" y="3886200"/>
              <a:ext cx="5334000" cy="723900"/>
              <a:chOff x="381000" y="3886200"/>
              <a:chExt cx="5334000" cy="723900"/>
            </a:xfrm>
          </p:grpSpPr>
          <p:sp>
            <p:nvSpPr>
              <p:cNvPr id="35" name="Rectangle 35"/>
              <p:cNvSpPr/>
              <p:nvPr/>
            </p:nvSpPr>
            <p:spPr>
              <a:xfrm>
                <a:off x="381000" y="3886200"/>
                <a:ext cx="5334000" cy="723900"/>
              </a:xfrm>
              <a:prstGeom prst="roundRect">
                <a:avLst>
                  <a:gd name="adj" fmla="val 5263"/>
                </a:avLst>
              </a:prstGeom>
              <a:solidFill>
                <a:srgbClr val="8B321E"/>
              </a:solidFill>
              <a:ln>
                <a:noFill/>
              </a:ln>
            </p:spPr>
          </p:sp>
          <p:sp>
            <p:nvSpPr>
              <p:cNvPr id="36" name="Ellipse 36"/>
              <p:cNvSpPr/>
              <p:nvPr/>
            </p:nvSpPr>
            <p:spPr>
              <a:xfrm>
                <a:off x="533400" y="4019550"/>
                <a:ext cx="457200" cy="457200"/>
              </a:xfrm>
              <a:prstGeom prst="ellipse">
                <a:avLst/>
              </a:prstGeom>
              <a:solidFill>
                <a:srgbClr val="FFFFFF"/>
              </a:solidFill>
              <a:ln>
                <a:noFill/>
              </a:ln>
            </p:spPr>
          </p:sp>
          <p:grpSp>
            <p:nvGrpSpPr>
              <p:cNvPr id="43" name="Group 43"/>
              <p:cNvGrpSpPr/>
              <p:nvPr/>
            </p:nvGrpSpPr>
            <p:grpSpPr>
              <a:xfrm>
                <a:off x="676275" y="4171950"/>
                <a:ext cx="171450" cy="171450"/>
                <a:chOff x="676275" y="4171950"/>
                <a:chExt cx="171450" cy="171450"/>
              </a:xfrm>
            </p:grpSpPr>
            <p:sp>
              <p:nvSpPr>
                <p:cNvPr id="37" name="Freeform 37"/>
                <p:cNvSpPr/>
                <p:nvPr/>
              </p:nvSpPr>
              <p:spPr>
                <a:xfrm>
                  <a:off x="723900" y="4333875"/>
                  <a:ext cx="76200" cy="9525"/>
                </a:xfrm>
                <a:custGeom>
                  <a:avLst/>
                  <a:gdLst/>
                  <a:ahLst/>
                  <a:cxnLst/>
                  <a:rect l="l" t="t" r="r" b="b"/>
                  <a:pathLst>
                    <a:path w="76200" h="9525">
                      <a:moveTo>
                        <a:pt x="0" y="0"/>
                      </a:moveTo>
                      <a:lnTo>
                        <a:pt x="76200" y="0"/>
                      </a:lnTo>
                    </a:path>
                  </a:pathLst>
                </a:custGeom>
                <a:noFill/>
                <a:ln w="19050">
                  <a:solidFill>
                    <a:srgbClr val="8B321E"/>
                  </a:solidFill>
                </a:ln>
              </p:spPr>
            </p:sp>
            <p:sp>
              <p:nvSpPr>
                <p:cNvPr id="38" name="Freeform 38"/>
                <p:cNvSpPr/>
                <p:nvPr/>
              </p:nvSpPr>
              <p:spPr>
                <a:xfrm>
                  <a:off x="762000" y="4295775"/>
                  <a:ext cx="9525" cy="38100"/>
                </a:xfrm>
                <a:custGeom>
                  <a:avLst/>
                  <a:gdLst/>
                  <a:ahLst/>
                  <a:cxnLst/>
                  <a:rect l="l" t="t" r="r" b="b"/>
                  <a:pathLst>
                    <a:path w="9525" h="38100">
                      <a:moveTo>
                        <a:pt x="0" y="0"/>
                      </a:moveTo>
                      <a:lnTo>
                        <a:pt x="0" y="38100"/>
                      </a:lnTo>
                    </a:path>
                  </a:pathLst>
                </a:custGeom>
                <a:noFill/>
                <a:ln w="19050">
                  <a:solidFill>
                    <a:srgbClr val="8B321E"/>
                  </a:solidFill>
                </a:ln>
              </p:spPr>
            </p:sp>
            <p:sp>
              <p:nvSpPr>
                <p:cNvPr id="39" name="Freeform 39"/>
                <p:cNvSpPr/>
                <p:nvPr/>
              </p:nvSpPr>
              <p:spPr>
                <a:xfrm>
                  <a:off x="714375" y="4171950"/>
                  <a:ext cx="95250" cy="9525"/>
                </a:xfrm>
                <a:custGeom>
                  <a:avLst/>
                  <a:gdLst/>
                  <a:ahLst/>
                  <a:cxnLst/>
                  <a:rect l="l" t="t" r="r" b="b"/>
                  <a:pathLst>
                    <a:path w="95250" h="9525">
                      <a:moveTo>
                        <a:pt x="0" y="0"/>
                      </a:moveTo>
                      <a:lnTo>
                        <a:pt x="95250" y="0"/>
                      </a:lnTo>
                    </a:path>
                  </a:pathLst>
                </a:custGeom>
                <a:noFill/>
                <a:ln w="19050">
                  <a:solidFill>
                    <a:srgbClr val="8B321E"/>
                  </a:solidFill>
                </a:ln>
              </p:spPr>
            </p:sp>
            <p:sp>
              <p:nvSpPr>
                <p:cNvPr id="40" name="Freeform 40"/>
                <p:cNvSpPr/>
                <p:nvPr/>
              </p:nvSpPr>
              <p:spPr>
                <a:xfrm>
                  <a:off x="714375" y="4171950"/>
                  <a:ext cx="95250" cy="123825"/>
                </a:xfrm>
                <a:custGeom>
                  <a:avLst/>
                  <a:gdLst/>
                  <a:ahLst/>
                  <a:cxnLst/>
                  <a:rect l="l" t="t" r="r" b="b"/>
                  <a:pathLst>
                    <a:path w="95250" h="123825">
                      <a:moveTo>
                        <a:pt x="95250" y="0"/>
                      </a:moveTo>
                      <a:lnTo>
                        <a:pt x="95250" y="76200"/>
                      </a:lnTo>
                      <a:cubicBezTo>
                        <a:pt x="95250" y="102503"/>
                        <a:pt x="73928" y="123825"/>
                        <a:pt x="47625" y="123825"/>
                      </a:cubicBezTo>
                      <a:cubicBezTo>
                        <a:pt x="21322" y="123825"/>
                        <a:pt x="0" y="102503"/>
                        <a:pt x="0" y="76200"/>
                      </a:cubicBezTo>
                      <a:lnTo>
                        <a:pt x="0" y="0"/>
                      </a:lnTo>
                    </a:path>
                  </a:pathLst>
                </a:custGeom>
                <a:noFill/>
                <a:ln w="19050">
                  <a:solidFill>
                    <a:srgbClr val="8B321E"/>
                  </a:solidFill>
                </a:ln>
              </p:spPr>
            </p:sp>
            <p:sp>
              <p:nvSpPr>
                <p:cNvPr id="41" name="Freeform 41"/>
                <p:cNvSpPr/>
                <p:nvPr/>
              </p:nvSpPr>
              <p:spPr>
                <a:xfrm>
                  <a:off x="676275" y="42005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8B321E"/>
                  </a:solidFill>
                </a:ln>
              </p:spPr>
            </p:sp>
            <p:sp>
              <p:nvSpPr>
                <p:cNvPr id="42" name="Freeform 42"/>
                <p:cNvSpPr/>
                <p:nvPr/>
              </p:nvSpPr>
              <p:spPr>
                <a:xfrm>
                  <a:off x="809625" y="420052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8B321E"/>
                  </a:solidFill>
                </a:ln>
              </p:spPr>
            </p:sp>
          </p:grpSp>
          <p:sp>
            <p:nvSpPr>
              <p:cNvPr id="44" name="TextBox 44"/>
              <p:cNvSpPr txBox="1"/>
              <p:nvPr/>
            </p:nvSpPr>
            <p:spPr>
              <a:xfrm>
                <a:off x="1118044" y="4046458"/>
                <a:ext cx="1573403" cy="227362"/>
              </a:xfrm>
              <a:prstGeom prst="rect">
                <a:avLst/>
              </a:prstGeom>
              <a:noFill/>
              <a:ln>
                <a:noFill/>
              </a:ln>
            </p:spPr>
            <p:txBody>
              <a:bodyPr wrap="none" lIns="0" tIns="0" rIns="0" bIns="0" anchor="t" anchorCtr="0">
                <a:spAutoFit/>
              </a:bodyPr>
              <a:lstStyle/>
              <a:p>
                <a:pPr algn="l"/>
                <a:r>
                  <a:rPr lang="zh-CN" sz="1160" b="1" dirty="0">
                    <a:solidFill>
                      <a:srgbClr val="FFFFFF"/>
                    </a:solidFill>
                    <a:latin typeface="+mn-lt"/>
                    <a:ea typeface="+mn-ea"/>
                    <a:cs typeface="+mn-cs"/>
                  </a:rPr>
                  <a:t>议题三：竞争态势变化</a:t>
                </a:r>
              </a:p>
            </p:txBody>
          </p:sp>
          <p:sp>
            <p:nvSpPr>
              <p:cNvPr id="45" name="TextBox 45"/>
              <p:cNvSpPr txBox="1"/>
              <p:nvPr/>
            </p:nvSpPr>
            <p:spPr>
              <a:xfrm>
                <a:off x="1119188" y="4322445"/>
                <a:ext cx="2311527"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竞对份额变化、新动作、我方优劣势变化。</a:t>
                </a:r>
              </a:p>
            </p:txBody>
          </p:sp>
        </p:grpSp>
        <p:grpSp>
          <p:nvGrpSpPr>
            <p:cNvPr id="57" name="topic-4"/>
            <p:cNvGrpSpPr/>
            <p:nvPr/>
          </p:nvGrpSpPr>
          <p:grpSpPr>
            <a:xfrm>
              <a:off x="381000" y="4705350"/>
              <a:ext cx="5334000" cy="723900"/>
              <a:chOff x="381000" y="4705350"/>
              <a:chExt cx="5334000" cy="723900"/>
            </a:xfrm>
          </p:grpSpPr>
          <p:sp>
            <p:nvSpPr>
              <p:cNvPr id="47" name="Rectangle 47"/>
              <p:cNvSpPr/>
              <p:nvPr/>
            </p:nvSpPr>
            <p:spPr>
              <a:xfrm>
                <a:off x="381000" y="4705350"/>
                <a:ext cx="5334000" cy="723900"/>
              </a:xfrm>
              <a:prstGeom prst="roundRect">
                <a:avLst>
                  <a:gd name="adj" fmla="val 5263"/>
                </a:avLst>
              </a:prstGeom>
              <a:solidFill>
                <a:srgbClr val="55565A"/>
              </a:solidFill>
              <a:ln>
                <a:noFill/>
              </a:ln>
            </p:spPr>
          </p:sp>
          <p:sp>
            <p:nvSpPr>
              <p:cNvPr id="48" name="Ellipse 48"/>
              <p:cNvSpPr/>
              <p:nvPr/>
            </p:nvSpPr>
            <p:spPr>
              <a:xfrm>
                <a:off x="533400" y="4838700"/>
                <a:ext cx="457200" cy="457200"/>
              </a:xfrm>
              <a:prstGeom prst="ellipse">
                <a:avLst/>
              </a:prstGeom>
              <a:solidFill>
                <a:srgbClr val="FFFFFF"/>
              </a:solidFill>
              <a:ln>
                <a:noFill/>
              </a:ln>
            </p:spPr>
          </p:sp>
          <p:grpSp>
            <p:nvGrpSpPr>
              <p:cNvPr id="54" name="Group 54"/>
              <p:cNvGrpSpPr/>
              <p:nvPr/>
            </p:nvGrpSpPr>
            <p:grpSpPr>
              <a:xfrm>
                <a:off x="695325" y="4981575"/>
                <a:ext cx="133350" cy="171450"/>
                <a:chOff x="695325" y="4981575"/>
                <a:chExt cx="133350" cy="171450"/>
              </a:xfrm>
            </p:grpSpPr>
            <p:sp>
              <p:nvSpPr>
                <p:cNvPr id="49" name="Freeform 49"/>
                <p:cNvSpPr/>
                <p:nvPr/>
              </p:nvSpPr>
              <p:spPr>
                <a:xfrm>
                  <a:off x="781050" y="4981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55565A"/>
                  </a:solidFill>
                </a:ln>
              </p:spPr>
            </p:sp>
            <p:sp>
              <p:nvSpPr>
                <p:cNvPr id="50" name="Freeform 50"/>
                <p:cNvSpPr/>
                <p:nvPr/>
              </p:nvSpPr>
              <p:spPr>
                <a:xfrm>
                  <a:off x="695325" y="4981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55565A"/>
                  </a:solidFill>
                </a:ln>
              </p:spPr>
            </p:sp>
            <p:sp>
              <p:nvSpPr>
                <p:cNvPr id="51" name="Freeform 51"/>
                <p:cNvSpPr/>
                <p:nvPr/>
              </p:nvSpPr>
              <p:spPr>
                <a:xfrm>
                  <a:off x="733425" y="5038725"/>
                  <a:ext cx="9525" cy="9525"/>
                </a:xfrm>
                <a:custGeom>
                  <a:avLst/>
                  <a:gdLst/>
                  <a:ahLst/>
                  <a:cxnLst/>
                  <a:rect l="l" t="t" r="r" b="b"/>
                  <a:pathLst>
                    <a:path w="9525" h="9525">
                      <a:moveTo>
                        <a:pt x="0" y="0"/>
                      </a:moveTo>
                      <a:lnTo>
                        <a:pt x="9525" y="0"/>
                      </a:lnTo>
                    </a:path>
                  </a:pathLst>
                </a:custGeom>
                <a:noFill/>
                <a:ln w="19050">
                  <a:solidFill>
                    <a:srgbClr val="55565A"/>
                  </a:solidFill>
                </a:ln>
              </p:spPr>
            </p:sp>
            <p:sp>
              <p:nvSpPr>
                <p:cNvPr id="52" name="Freeform 52"/>
                <p:cNvSpPr/>
                <p:nvPr/>
              </p:nvSpPr>
              <p:spPr>
                <a:xfrm>
                  <a:off x="733425" y="5076825"/>
                  <a:ext cx="57150" cy="9525"/>
                </a:xfrm>
                <a:custGeom>
                  <a:avLst/>
                  <a:gdLst/>
                  <a:ahLst/>
                  <a:cxnLst/>
                  <a:rect l="l" t="t" r="r" b="b"/>
                  <a:pathLst>
                    <a:path w="57150" h="9525">
                      <a:moveTo>
                        <a:pt x="0" y="0"/>
                      </a:moveTo>
                      <a:lnTo>
                        <a:pt x="57150" y="0"/>
                      </a:lnTo>
                    </a:path>
                  </a:pathLst>
                </a:custGeom>
                <a:noFill/>
                <a:ln w="19050">
                  <a:solidFill>
                    <a:srgbClr val="55565A"/>
                  </a:solidFill>
                </a:ln>
              </p:spPr>
            </p:sp>
            <p:sp>
              <p:nvSpPr>
                <p:cNvPr id="53" name="Freeform 53"/>
                <p:cNvSpPr/>
                <p:nvPr/>
              </p:nvSpPr>
              <p:spPr>
                <a:xfrm>
                  <a:off x="733425" y="5114925"/>
                  <a:ext cx="57150" cy="9525"/>
                </a:xfrm>
                <a:custGeom>
                  <a:avLst/>
                  <a:gdLst/>
                  <a:ahLst/>
                  <a:cxnLst/>
                  <a:rect l="l" t="t" r="r" b="b"/>
                  <a:pathLst>
                    <a:path w="57150" h="9525">
                      <a:moveTo>
                        <a:pt x="0" y="0"/>
                      </a:moveTo>
                      <a:lnTo>
                        <a:pt x="57150" y="0"/>
                      </a:lnTo>
                    </a:path>
                  </a:pathLst>
                </a:custGeom>
                <a:noFill/>
                <a:ln w="19050">
                  <a:solidFill>
                    <a:srgbClr val="55565A"/>
                  </a:solidFill>
                </a:ln>
              </p:spPr>
            </p:sp>
          </p:grpSp>
          <p:sp>
            <p:nvSpPr>
              <p:cNvPr id="55" name="TextBox 55"/>
              <p:cNvSpPr txBox="1"/>
              <p:nvPr/>
            </p:nvSpPr>
            <p:spPr>
              <a:xfrm>
                <a:off x="1118044" y="4865608"/>
                <a:ext cx="1261085" cy="227362"/>
              </a:xfrm>
              <a:prstGeom prst="rect">
                <a:avLst/>
              </a:prstGeom>
              <a:noFill/>
              <a:ln>
                <a:noFill/>
              </a:ln>
            </p:spPr>
            <p:txBody>
              <a:bodyPr wrap="none" lIns="0" tIns="0" rIns="0" bIns="0" anchor="t" anchorCtr="0">
                <a:spAutoFit/>
              </a:bodyPr>
              <a:lstStyle/>
              <a:p>
                <a:pPr algn="l"/>
                <a:r>
                  <a:rPr lang="zh-CN" sz="1160" b="1" dirty="0">
                    <a:solidFill>
                      <a:srgbClr val="FFFFFF"/>
                    </a:solidFill>
                    <a:latin typeface="+mn-lt"/>
                    <a:ea typeface="+mn-ea"/>
                    <a:cs typeface="+mn-cs"/>
                  </a:rPr>
                  <a:t>议题四：经验总结</a:t>
                </a:r>
              </a:p>
            </p:txBody>
          </p:sp>
          <p:sp>
            <p:nvSpPr>
              <p:cNvPr id="56" name="TextBox 56"/>
              <p:cNvSpPr txBox="1"/>
              <p:nvPr/>
            </p:nvSpPr>
            <p:spPr>
              <a:xfrm>
                <a:off x="1119188" y="5141595"/>
                <a:ext cx="315963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最成功的动作（可复制）、最大失误（避免）、客户反馈。</a:t>
                </a:r>
              </a:p>
            </p:txBody>
          </p:sp>
        </p:grpSp>
        <p:grpSp>
          <p:nvGrpSpPr>
            <p:cNvPr id="63" name="topic-5"/>
            <p:cNvGrpSpPr/>
            <p:nvPr/>
          </p:nvGrpSpPr>
          <p:grpSpPr>
            <a:xfrm>
              <a:off x="381000" y="5524500"/>
              <a:ext cx="5334000" cy="723900"/>
              <a:chOff x="381000" y="5524500"/>
              <a:chExt cx="5334000" cy="723900"/>
            </a:xfrm>
          </p:grpSpPr>
          <p:sp>
            <p:nvSpPr>
              <p:cNvPr id="58" name="Rectangle 58"/>
              <p:cNvSpPr/>
              <p:nvPr/>
            </p:nvSpPr>
            <p:spPr>
              <a:xfrm>
                <a:off x="381000" y="5524500"/>
                <a:ext cx="5334000" cy="723900"/>
              </a:xfrm>
              <a:prstGeom prst="roundRect">
                <a:avLst>
                  <a:gd name="adj" fmla="val 5263"/>
                </a:avLst>
              </a:prstGeom>
              <a:solidFill>
                <a:srgbClr val="C97263"/>
              </a:solidFill>
              <a:ln>
                <a:noFill/>
              </a:ln>
            </p:spPr>
          </p:sp>
          <p:sp>
            <p:nvSpPr>
              <p:cNvPr id="59" name="Ellipse 59"/>
              <p:cNvSpPr/>
              <p:nvPr/>
            </p:nvSpPr>
            <p:spPr>
              <a:xfrm>
                <a:off x="533400" y="5657850"/>
                <a:ext cx="457200" cy="457200"/>
              </a:xfrm>
              <a:prstGeom prst="ellipse">
                <a:avLst/>
              </a:prstGeom>
              <a:solidFill>
                <a:srgbClr val="FFFFFF"/>
              </a:solidFill>
              <a:ln>
                <a:noFill/>
              </a:ln>
            </p:spPr>
          </p:sp>
          <p:sp>
            <p:nvSpPr>
              <p:cNvPr id="60" name="Freeform 60"/>
              <p:cNvSpPr/>
              <p:nvPr/>
            </p:nvSpPr>
            <p:spPr>
              <a:xfrm>
                <a:off x="666817" y="5791219"/>
                <a:ext cx="190233" cy="180908"/>
              </a:xfrm>
              <a:custGeom>
                <a:avLst/>
                <a:gdLst/>
                <a:ahLst/>
                <a:cxnLst/>
                <a:rect l="l" t="t" r="r" b="b"/>
                <a:pathLst>
                  <a:path w="190233" h="180908">
                    <a:moveTo>
                      <a:pt x="95183" y="150000"/>
                    </a:moveTo>
                    <a:lnTo>
                      <a:pt x="36395" y="180908"/>
                    </a:lnTo>
                    <a:lnTo>
                      <a:pt x="47625" y="115443"/>
                    </a:lnTo>
                    <a:lnTo>
                      <a:pt x="0" y="69085"/>
                    </a:lnTo>
                    <a:lnTo>
                      <a:pt x="65722" y="59560"/>
                    </a:lnTo>
                    <a:lnTo>
                      <a:pt x="95117" y="0"/>
                    </a:lnTo>
                    <a:lnTo>
                      <a:pt x="124511" y="59560"/>
                    </a:lnTo>
                    <a:lnTo>
                      <a:pt x="190233" y="69085"/>
                    </a:lnTo>
                    <a:lnTo>
                      <a:pt x="142608" y="115443"/>
                    </a:lnTo>
                    <a:lnTo>
                      <a:pt x="153838" y="180908"/>
                    </a:lnTo>
                    <a:lnTo>
                      <a:pt x="95183" y="150000"/>
                    </a:lnTo>
                  </a:path>
                </a:pathLst>
              </a:custGeom>
              <a:noFill/>
              <a:ln w="19050">
                <a:solidFill>
                  <a:srgbClr val="C97263"/>
                </a:solidFill>
              </a:ln>
            </p:spPr>
          </p:sp>
          <p:sp>
            <p:nvSpPr>
              <p:cNvPr id="61" name="TextBox 61"/>
              <p:cNvSpPr txBox="1"/>
              <p:nvPr/>
            </p:nvSpPr>
            <p:spPr>
              <a:xfrm>
                <a:off x="1118044" y="5684758"/>
                <a:ext cx="1417244" cy="227362"/>
              </a:xfrm>
              <a:prstGeom prst="rect">
                <a:avLst/>
              </a:prstGeom>
              <a:noFill/>
              <a:ln>
                <a:noFill/>
              </a:ln>
            </p:spPr>
            <p:txBody>
              <a:bodyPr wrap="none" lIns="0" tIns="0" rIns="0" bIns="0" anchor="t" anchorCtr="0">
                <a:spAutoFit/>
              </a:bodyPr>
              <a:lstStyle/>
              <a:p>
                <a:pPr algn="l"/>
                <a:r>
                  <a:rPr lang="zh-CN" sz="1160" b="1" dirty="0">
                    <a:solidFill>
                      <a:srgbClr val="FFFFFF"/>
                    </a:solidFill>
                    <a:latin typeface="+mn-lt"/>
                    <a:ea typeface="+mn-ea"/>
                    <a:cs typeface="+mn-cs"/>
                  </a:rPr>
                  <a:t>议题五：下年度规划</a:t>
                </a:r>
              </a:p>
            </p:txBody>
          </p:sp>
          <p:sp>
            <p:nvSpPr>
              <p:cNvPr id="62" name="TextBox 62"/>
              <p:cNvSpPr txBox="1"/>
              <p:nvPr/>
            </p:nvSpPr>
            <p:spPr>
              <a:xfrm>
                <a:off x="1119188" y="5960745"/>
                <a:ext cx="2432685"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下年目标、增长机会、主要风险、资源需求。</a:t>
                </a:r>
              </a:p>
            </p:txBody>
          </p:sp>
        </p:grpSp>
      </p:grpSp>
      <p:grpSp>
        <p:nvGrpSpPr>
          <p:cNvPr id="87" name="participants"/>
          <p:cNvGrpSpPr/>
          <p:nvPr/>
        </p:nvGrpSpPr>
        <p:grpSpPr>
          <a:xfrm>
            <a:off x="6088761" y="1846421"/>
            <a:ext cx="5722239" cy="4401979"/>
            <a:chOff x="6088761" y="1846421"/>
            <a:chExt cx="5722239" cy="4401979"/>
          </a:xfrm>
        </p:grpSpPr>
        <p:sp>
          <p:nvSpPr>
            <p:cNvPr id="65" name="TextBox 65"/>
            <p:cNvSpPr txBox="1"/>
            <p:nvPr/>
          </p:nvSpPr>
          <p:spPr>
            <a:xfrm>
              <a:off x="6088761" y="1846421"/>
              <a:ext cx="1543761" cy="278702"/>
            </a:xfrm>
            <a:prstGeom prst="rect">
              <a:avLst/>
            </a:prstGeom>
            <a:noFill/>
            <a:ln>
              <a:noFill/>
            </a:ln>
          </p:spPr>
          <p:txBody>
            <a:bodyPr wrap="none" lIns="0" tIns="0" rIns="0" bIns="0" anchor="t" anchorCtr="0">
              <a:spAutoFit/>
            </a:bodyPr>
            <a:lstStyle/>
            <a:p>
              <a:pPr algn="l"/>
              <a:r>
                <a:rPr lang="zh-CN" sz="1420" b="1" dirty="0">
                  <a:solidFill>
                    <a:srgbClr val="1A1A1A"/>
                  </a:solidFill>
                  <a:latin typeface="+mn-lt"/>
                  <a:ea typeface="+mn-ea"/>
                  <a:cs typeface="+mn-cs"/>
                </a:rPr>
                <a:t>年度复盘的参与者</a:t>
              </a:r>
            </a:p>
          </p:txBody>
        </p:sp>
        <p:sp>
          <p:nvSpPr>
            <p:cNvPr id="66" name="Line 66"/>
            <p:cNvSpPr/>
            <p:nvPr/>
          </p:nvSpPr>
          <p:spPr>
            <a:xfrm>
              <a:off x="6096000" y="2095500"/>
              <a:ext cx="5715000" cy="9525"/>
            </a:xfrm>
            <a:custGeom>
              <a:avLst/>
              <a:gdLst/>
              <a:ahLst/>
              <a:cxnLst/>
              <a:rect l="l" t="t" r="r" b="b"/>
              <a:pathLst>
                <a:path w="5715000" h="9525">
                  <a:moveTo>
                    <a:pt x="0" y="0"/>
                  </a:moveTo>
                  <a:lnTo>
                    <a:pt x="5715000" y="0"/>
                  </a:lnTo>
                </a:path>
              </a:pathLst>
            </a:custGeom>
            <a:noFill/>
            <a:ln w="9525">
              <a:solidFill>
                <a:srgbClr val="8B321E"/>
              </a:solidFill>
            </a:ln>
          </p:spPr>
        </p:sp>
        <p:sp>
          <p:nvSpPr>
            <p:cNvPr id="67" name="Rectangle 67"/>
            <p:cNvSpPr/>
            <p:nvPr/>
          </p:nvSpPr>
          <p:spPr>
            <a:xfrm>
              <a:off x="6096000" y="2247900"/>
              <a:ext cx="5715000" cy="4000500"/>
            </a:xfrm>
            <a:prstGeom prst="roundRect">
              <a:avLst>
                <a:gd name="adj" fmla="val 1429"/>
              </a:avLst>
            </a:prstGeom>
            <a:solidFill>
              <a:srgbClr val="F7F4F2"/>
            </a:solidFill>
            <a:ln w="11430">
              <a:solidFill>
                <a:srgbClr val="C97263"/>
              </a:solidFill>
            </a:ln>
          </p:spPr>
        </p:sp>
        <p:grpSp>
          <p:nvGrpSpPr>
            <p:cNvPr id="74" name="participant-client"/>
            <p:cNvGrpSpPr/>
            <p:nvPr/>
          </p:nvGrpSpPr>
          <p:grpSpPr>
            <a:xfrm>
              <a:off x="6610350" y="2857500"/>
              <a:ext cx="3057462" cy="787003"/>
              <a:chOff x="6610350" y="2857500"/>
              <a:chExt cx="3057462" cy="787003"/>
            </a:xfrm>
          </p:grpSpPr>
          <p:sp>
            <p:nvSpPr>
              <p:cNvPr id="68" name="Ellipse 68"/>
              <p:cNvSpPr/>
              <p:nvPr/>
            </p:nvSpPr>
            <p:spPr>
              <a:xfrm>
                <a:off x="6610350" y="2857500"/>
                <a:ext cx="571500" cy="571500"/>
              </a:xfrm>
              <a:prstGeom prst="ellipse">
                <a:avLst/>
              </a:prstGeom>
              <a:solidFill>
                <a:srgbClr val="FFFFFF"/>
              </a:solidFill>
              <a:ln w="19050">
                <a:solidFill>
                  <a:srgbClr val="C97263"/>
                </a:solidFill>
              </a:ln>
            </p:spPr>
          </p:sp>
          <p:grpSp>
            <p:nvGrpSpPr>
              <p:cNvPr id="71" name="Group 71"/>
              <p:cNvGrpSpPr/>
              <p:nvPr/>
            </p:nvGrpSpPr>
            <p:grpSpPr>
              <a:xfrm>
                <a:off x="6824662" y="3036094"/>
                <a:ext cx="142875" cy="214313"/>
                <a:chOff x="6824662" y="3036094"/>
                <a:chExt cx="142875" cy="214313"/>
              </a:xfrm>
            </p:grpSpPr>
            <p:sp>
              <p:nvSpPr>
                <p:cNvPr id="69" name="Freeform 69"/>
                <p:cNvSpPr/>
                <p:nvPr/>
              </p:nvSpPr>
              <p:spPr>
                <a:xfrm>
                  <a:off x="6848475" y="3036094"/>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23812">
                  <a:solidFill>
                    <a:srgbClr val="C97263"/>
                  </a:solidFill>
                </a:ln>
              </p:spPr>
            </p:sp>
            <p:sp>
              <p:nvSpPr>
                <p:cNvPr id="70" name="Freeform 70"/>
                <p:cNvSpPr/>
                <p:nvPr/>
              </p:nvSpPr>
              <p:spPr>
                <a:xfrm>
                  <a:off x="6824662" y="3178969"/>
                  <a:ext cx="142875" cy="71438"/>
                </a:xfrm>
                <a:custGeom>
                  <a:avLst/>
                  <a:gdLst/>
                  <a:ahLst/>
                  <a:cxnLst/>
                  <a:rect l="l" t="t" r="r" b="b"/>
                  <a:pathLst>
                    <a:path w="142875" h="71438">
                      <a:moveTo>
                        <a:pt x="0" y="71438"/>
                      </a:moveTo>
                      <a:lnTo>
                        <a:pt x="0" y="47625"/>
                      </a:lnTo>
                      <a:cubicBezTo>
                        <a:pt x="0" y="21322"/>
                        <a:pt x="21322" y="0"/>
                        <a:pt x="47625" y="0"/>
                      </a:cubicBezTo>
                      <a:lnTo>
                        <a:pt x="95250" y="0"/>
                      </a:lnTo>
                      <a:cubicBezTo>
                        <a:pt x="121553" y="0"/>
                        <a:pt x="142875" y="21322"/>
                        <a:pt x="142875" y="47625"/>
                      </a:cubicBezTo>
                      <a:lnTo>
                        <a:pt x="142875" y="71438"/>
                      </a:lnTo>
                    </a:path>
                  </a:pathLst>
                </a:custGeom>
                <a:noFill/>
                <a:ln w="23812">
                  <a:solidFill>
                    <a:srgbClr val="C97263"/>
                  </a:solidFill>
                </a:ln>
              </p:spPr>
            </p:sp>
          </p:grpSp>
          <p:sp>
            <p:nvSpPr>
              <p:cNvPr id="72" name="TextBox 72"/>
              <p:cNvSpPr txBox="1"/>
              <p:nvPr/>
            </p:nvSpPr>
            <p:spPr>
              <a:xfrm>
                <a:off x="7442073" y="2891314"/>
                <a:ext cx="702208" cy="249364"/>
              </a:xfrm>
              <a:prstGeom prst="rect">
                <a:avLst/>
              </a:prstGeom>
              <a:noFill/>
              <a:ln>
                <a:noFill/>
              </a:ln>
            </p:spPr>
            <p:txBody>
              <a:bodyPr wrap="none" lIns="0" tIns="0" rIns="0" bIns="0" anchor="t" anchorCtr="0">
                <a:spAutoFit/>
              </a:bodyPr>
              <a:lstStyle/>
              <a:p>
                <a:pPr algn="l"/>
                <a:r>
                  <a:rPr lang="zh-CN" sz="1280" b="1" dirty="0">
                    <a:solidFill>
                      <a:srgbClr val="C97263"/>
                    </a:solidFill>
                    <a:latin typeface="+mn-lt"/>
                    <a:ea typeface="+mn-ea"/>
                    <a:cs typeface="+mn-cs"/>
                  </a:rPr>
                  <a:t>客户侧：</a:t>
                </a:r>
              </a:p>
            </p:txBody>
          </p:sp>
          <p:sp>
            <p:nvSpPr>
              <p:cNvPr id="73" name="TextBox 73"/>
              <p:cNvSpPr txBox="1"/>
              <p:nvPr/>
            </p:nvSpPr>
            <p:spPr>
              <a:xfrm>
                <a:off x="7443788" y="3213497"/>
                <a:ext cx="2224024" cy="431006"/>
              </a:xfrm>
              <a:prstGeom prst="rect">
                <a:avLst/>
              </a:prstGeom>
              <a:noFill/>
              <a:ln>
                <a:noFill/>
              </a:ln>
            </p:spPr>
            <p:txBody>
              <a:bodyPr wrap="none" lIns="0" tIns="0" rIns="0" bIns="0" anchor="t" anchorCtr="0">
                <a:spAutoFit/>
              </a:bodyPr>
              <a:lstStyle/>
              <a:p>
                <a:pPr algn="l">
                  <a:lnSpc>
                    <a:spcPts val="1950"/>
                  </a:lnSpc>
                </a:pPr>
                <a:r>
                  <a:rPr lang="zh-CN" sz="940" dirty="0">
                    <a:solidFill>
                      <a:srgbClr val="3A3A3A"/>
                    </a:solidFill>
                    <a:latin typeface="+mn-lt"/>
                    <a:ea typeface="+mn-ea"/>
                    <a:cs typeface="+mn-cs"/>
                  </a:rPr>
                  <a:t>邀请客户关键联系人参与（联合复盘），​</a:t>
                </a:r>
                <a:br/>
                <a:r>
                  <a:rPr lang="zh-CN" sz="940" dirty="0">
                    <a:solidFill>
                      <a:srgbClr val="C97263"/>
                    </a:solidFill>
                    <a:latin typeface="+mn-lt"/>
                    <a:ea typeface="+mn-ea"/>
                    <a:cs typeface="+mn-cs"/>
                  </a:rPr>
                  <a:t>听取客户评价。</a:t>
                </a:r>
              </a:p>
            </p:txBody>
          </p:sp>
        </p:grpSp>
        <p:sp>
          <p:nvSpPr>
            <p:cNvPr id="75" name="Line 75"/>
            <p:cNvSpPr/>
            <p:nvPr/>
          </p:nvSpPr>
          <p:spPr>
            <a:xfrm>
              <a:off x="6400800" y="4248150"/>
              <a:ext cx="5105400" cy="9525"/>
            </a:xfrm>
            <a:custGeom>
              <a:avLst/>
              <a:gdLst/>
              <a:ahLst/>
              <a:cxnLst/>
              <a:rect l="l" t="t" r="r" b="b"/>
              <a:pathLst>
                <a:path w="5105400" h="9525">
                  <a:moveTo>
                    <a:pt x="0" y="0"/>
                  </a:moveTo>
                  <a:lnTo>
                    <a:pt x="5105400" y="0"/>
                  </a:lnTo>
                </a:path>
              </a:pathLst>
            </a:custGeom>
            <a:noFill/>
            <a:ln w="9525">
              <a:solidFill>
                <a:srgbClr val="C97263"/>
              </a:solidFill>
              <a:prstDash val="dash"/>
            </a:ln>
          </p:spPr>
        </p:sp>
        <p:grpSp>
          <p:nvGrpSpPr>
            <p:cNvPr id="86" name="participant-us"/>
            <p:cNvGrpSpPr/>
            <p:nvPr/>
          </p:nvGrpSpPr>
          <p:grpSpPr>
            <a:xfrm>
              <a:off x="6610350" y="4914900"/>
              <a:ext cx="2460562" cy="787003"/>
              <a:chOff x="6610350" y="4914900"/>
              <a:chExt cx="2460562" cy="787003"/>
            </a:xfrm>
          </p:grpSpPr>
          <p:sp>
            <p:nvSpPr>
              <p:cNvPr id="76" name="Ellipse 76"/>
              <p:cNvSpPr/>
              <p:nvPr/>
            </p:nvSpPr>
            <p:spPr>
              <a:xfrm>
                <a:off x="6610350" y="4914900"/>
                <a:ext cx="571500" cy="571500"/>
              </a:xfrm>
              <a:prstGeom prst="ellipse">
                <a:avLst/>
              </a:prstGeom>
              <a:solidFill>
                <a:srgbClr val="FFFFFF"/>
              </a:solidFill>
              <a:ln w="19050">
                <a:solidFill>
                  <a:srgbClr val="C97263"/>
                </a:solidFill>
              </a:ln>
            </p:spPr>
          </p:sp>
          <p:grpSp>
            <p:nvGrpSpPr>
              <p:cNvPr id="83" name="Group 83"/>
              <p:cNvGrpSpPr/>
              <p:nvPr/>
            </p:nvGrpSpPr>
            <p:grpSpPr>
              <a:xfrm>
                <a:off x="6788944" y="5093494"/>
                <a:ext cx="214312" cy="214313"/>
                <a:chOff x="6788944" y="5093494"/>
                <a:chExt cx="214312" cy="214313"/>
              </a:xfrm>
            </p:grpSpPr>
            <p:sp>
              <p:nvSpPr>
                <p:cNvPr id="77" name="Freeform 77"/>
                <p:cNvSpPr/>
                <p:nvPr/>
              </p:nvSpPr>
              <p:spPr>
                <a:xfrm>
                  <a:off x="6872288" y="518874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C97263"/>
                  </a:solidFill>
                </a:ln>
              </p:spPr>
            </p:sp>
            <p:sp>
              <p:nvSpPr>
                <p:cNvPr id="78" name="Freeform 78"/>
                <p:cNvSpPr/>
                <p:nvPr/>
              </p:nvSpPr>
              <p:spPr>
                <a:xfrm>
                  <a:off x="6848475" y="5272088"/>
                  <a:ext cx="95250" cy="35719"/>
                </a:xfrm>
                <a:custGeom>
                  <a:avLst/>
                  <a:gdLst/>
                  <a:ahLst/>
                  <a:cxnLst/>
                  <a:rect l="l" t="t" r="r" b="b"/>
                  <a:pathLst>
                    <a:path w="95250" h="35719">
                      <a:moveTo>
                        <a:pt x="0" y="35719"/>
                      </a:moveTo>
                      <a:lnTo>
                        <a:pt x="0" y="23812"/>
                      </a:lnTo>
                      <a:cubicBezTo>
                        <a:pt x="0" y="10661"/>
                        <a:pt x="10661" y="0"/>
                        <a:pt x="23812" y="0"/>
                      </a:cubicBezTo>
                      <a:lnTo>
                        <a:pt x="71438" y="0"/>
                      </a:lnTo>
                      <a:cubicBezTo>
                        <a:pt x="84589" y="0"/>
                        <a:pt x="95250" y="10661"/>
                        <a:pt x="95250" y="23812"/>
                      </a:cubicBezTo>
                      <a:lnTo>
                        <a:pt x="95250" y="35719"/>
                      </a:lnTo>
                    </a:path>
                  </a:pathLst>
                </a:custGeom>
                <a:noFill/>
                <a:ln w="23812">
                  <a:solidFill>
                    <a:srgbClr val="C97263"/>
                  </a:solidFill>
                </a:ln>
              </p:spPr>
            </p:sp>
            <p:sp>
              <p:nvSpPr>
                <p:cNvPr id="79" name="Freeform 79"/>
                <p:cNvSpPr/>
                <p:nvPr/>
              </p:nvSpPr>
              <p:spPr>
                <a:xfrm>
                  <a:off x="6931819" y="509349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C97263"/>
                  </a:solidFill>
                </a:ln>
              </p:spPr>
            </p:sp>
            <p:sp>
              <p:nvSpPr>
                <p:cNvPr id="80" name="Freeform 80"/>
                <p:cNvSpPr/>
                <p:nvPr/>
              </p:nvSpPr>
              <p:spPr>
                <a:xfrm>
                  <a:off x="6955631" y="5176838"/>
                  <a:ext cx="47625" cy="35719"/>
                </a:xfrm>
                <a:custGeom>
                  <a:avLst/>
                  <a:gdLst/>
                  <a:ahLst/>
                  <a:cxnLst/>
                  <a:rect l="l" t="t" r="r" b="b"/>
                  <a:pathLst>
                    <a:path w="47625" h="35719">
                      <a:moveTo>
                        <a:pt x="0" y="0"/>
                      </a:moveTo>
                      <a:lnTo>
                        <a:pt x="23812" y="0"/>
                      </a:lnTo>
                      <a:cubicBezTo>
                        <a:pt x="36964" y="0"/>
                        <a:pt x="47625" y="10661"/>
                        <a:pt x="47625" y="23812"/>
                      </a:cubicBezTo>
                      <a:lnTo>
                        <a:pt x="47625" y="35719"/>
                      </a:lnTo>
                    </a:path>
                  </a:pathLst>
                </a:custGeom>
                <a:noFill/>
                <a:ln w="23812">
                  <a:solidFill>
                    <a:srgbClr val="C97263"/>
                  </a:solidFill>
                </a:ln>
              </p:spPr>
            </p:sp>
            <p:sp>
              <p:nvSpPr>
                <p:cNvPr id="81" name="Freeform 81"/>
                <p:cNvSpPr/>
                <p:nvPr/>
              </p:nvSpPr>
              <p:spPr>
                <a:xfrm>
                  <a:off x="6812756" y="5093494"/>
                  <a:ext cx="47625" cy="47625"/>
                </a:xfrm>
                <a:custGeom>
                  <a:avLst/>
                  <a:gdLst/>
                  <a:ahLst/>
                  <a:cxnLst/>
                  <a:rect l="l" t="t" r="r" b="b"/>
                  <a:pathLst>
                    <a:path w="47625" h="47625">
                      <a:moveTo>
                        <a:pt x="0" y="23812"/>
                      </a:moveTo>
                      <a:cubicBezTo>
                        <a:pt x="0" y="36964"/>
                        <a:pt x="10661" y="47625"/>
                        <a:pt x="23812" y="47625"/>
                      </a:cubicBezTo>
                      <a:cubicBezTo>
                        <a:pt x="36964" y="47625"/>
                        <a:pt x="47625" y="36964"/>
                        <a:pt x="47625" y="23812"/>
                      </a:cubicBezTo>
                      <a:cubicBezTo>
                        <a:pt x="47625" y="10661"/>
                        <a:pt x="36964" y="0"/>
                        <a:pt x="23812" y="0"/>
                      </a:cubicBezTo>
                      <a:cubicBezTo>
                        <a:pt x="10661" y="0"/>
                        <a:pt x="0" y="10661"/>
                        <a:pt x="0" y="23812"/>
                      </a:cubicBezTo>
                    </a:path>
                  </a:pathLst>
                </a:custGeom>
                <a:noFill/>
                <a:ln w="23812">
                  <a:solidFill>
                    <a:srgbClr val="C97263"/>
                  </a:solidFill>
                </a:ln>
              </p:spPr>
            </p:sp>
            <p:sp>
              <p:nvSpPr>
                <p:cNvPr id="82" name="Freeform 82"/>
                <p:cNvSpPr/>
                <p:nvPr/>
              </p:nvSpPr>
              <p:spPr>
                <a:xfrm>
                  <a:off x="6788944" y="5176838"/>
                  <a:ext cx="47625" cy="35719"/>
                </a:xfrm>
                <a:custGeom>
                  <a:avLst/>
                  <a:gdLst/>
                  <a:ahLst/>
                  <a:cxnLst/>
                  <a:rect l="l" t="t" r="r" b="b"/>
                  <a:pathLst>
                    <a:path w="47625" h="35719">
                      <a:moveTo>
                        <a:pt x="0" y="35719"/>
                      </a:moveTo>
                      <a:lnTo>
                        <a:pt x="0" y="23812"/>
                      </a:lnTo>
                      <a:cubicBezTo>
                        <a:pt x="0" y="10661"/>
                        <a:pt x="10661" y="0"/>
                        <a:pt x="23812" y="0"/>
                      </a:cubicBezTo>
                      <a:lnTo>
                        <a:pt x="47625" y="0"/>
                      </a:lnTo>
                    </a:path>
                  </a:pathLst>
                </a:custGeom>
                <a:noFill/>
                <a:ln w="23812">
                  <a:solidFill>
                    <a:srgbClr val="C97263"/>
                  </a:solidFill>
                </a:ln>
              </p:spPr>
            </p:sp>
          </p:grpSp>
          <p:sp>
            <p:nvSpPr>
              <p:cNvPr id="84" name="TextBox 84"/>
              <p:cNvSpPr txBox="1"/>
              <p:nvPr/>
            </p:nvSpPr>
            <p:spPr>
              <a:xfrm>
                <a:off x="7442073" y="4948714"/>
                <a:ext cx="529895" cy="249364"/>
              </a:xfrm>
              <a:prstGeom prst="rect">
                <a:avLst/>
              </a:prstGeom>
              <a:noFill/>
              <a:ln>
                <a:noFill/>
              </a:ln>
            </p:spPr>
            <p:txBody>
              <a:bodyPr wrap="none" lIns="0" tIns="0" rIns="0" bIns="0" anchor="t" anchorCtr="0">
                <a:spAutoFit/>
              </a:bodyPr>
              <a:lstStyle/>
              <a:p>
                <a:pPr algn="l"/>
                <a:r>
                  <a:rPr lang="zh-CN" sz="1280" b="1" dirty="0">
                    <a:solidFill>
                      <a:srgbClr val="C97263"/>
                    </a:solidFill>
                    <a:latin typeface="+mn-lt"/>
                    <a:ea typeface="+mn-ea"/>
                    <a:cs typeface="+mn-cs"/>
                  </a:rPr>
                  <a:t>我方：</a:t>
                </a:r>
              </a:p>
            </p:txBody>
          </p:sp>
          <p:sp>
            <p:nvSpPr>
              <p:cNvPr id="85" name="TextBox 85"/>
              <p:cNvSpPr txBox="1"/>
              <p:nvPr/>
            </p:nvSpPr>
            <p:spPr>
              <a:xfrm>
                <a:off x="7443788" y="5270897"/>
                <a:ext cx="1627124" cy="431006"/>
              </a:xfrm>
              <a:prstGeom prst="rect">
                <a:avLst/>
              </a:prstGeom>
              <a:noFill/>
              <a:ln>
                <a:noFill/>
              </a:ln>
            </p:spPr>
            <p:txBody>
              <a:bodyPr wrap="none" lIns="0" tIns="0" rIns="0" bIns="0" anchor="t" anchorCtr="0">
                <a:spAutoFit/>
              </a:bodyPr>
              <a:lstStyle/>
              <a:p>
                <a:pPr algn="l">
                  <a:lnSpc>
                    <a:spcPts val="1950"/>
                  </a:lnSpc>
                </a:pPr>
                <a:r>
                  <a:rPr lang="zh-CN" sz="940" dirty="0">
                    <a:solidFill>
                      <a:srgbClr val="3A3A3A"/>
                    </a:solidFill>
                    <a:latin typeface="+mn-lt"/>
                    <a:ea typeface="+mn-ea"/>
                    <a:cs typeface="+mn-cs"/>
                  </a:rPr>
                  <a:t>KAM + 技术支持 + 销售总监 +​</a:t>
                </a:r>
                <a:br/>
                <a:r>
                  <a:rPr lang="zh-CN" sz="940" dirty="0">
                    <a:solidFill>
                      <a:srgbClr val="3A3A3A"/>
                    </a:solidFill>
                    <a:latin typeface="+mn-lt"/>
                    <a:ea typeface="+mn-ea"/>
                    <a:cs typeface="+mn-cs"/>
                  </a:rPr>
                  <a:t>相关职能负责人。</a:t>
                </a:r>
              </a:p>
            </p:txBody>
          </p:sp>
        </p:grpSp>
      </p:grpSp>
      <p:sp>
        <p:nvSpPr>
          <p:cNvPr id="88" name="page-num"/>
          <p:cNvSpPr txBox="1"/>
          <p:nvPr/>
        </p:nvSpPr>
        <p:spPr>
          <a:xfrm>
            <a:off x="11582971" y="6532721"/>
            <a:ext cx="235268" cy="278702"/>
          </a:xfrm>
          <a:prstGeom prst="rect">
            <a:avLst/>
          </a:prstGeom>
          <a:noFill/>
          <a:ln>
            <a:noFill/>
          </a:ln>
        </p:spPr>
        <p:txBody>
          <a:bodyPr wrap="none" lIns="0" tIns="0" rIns="0" bIns="0" anchor="t" anchorCtr="0">
            <a:spAutoFit/>
          </a:bodyPr>
          <a:lstStyle/>
          <a:p>
            <a:pPr algn="r"/>
            <a:r>
              <a:rPr lang="zh-CN" sz="1420" b="1" dirty="0">
                <a:solidFill>
                  <a:srgbClr val="3F3F3F"/>
                </a:solidFill>
                <a:latin typeface="+mn-lt"/>
                <a:ea typeface="+mn-ea"/>
                <a:cs typeface="+mn-cs"/>
              </a:rPr>
              <a:t>15</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81000" y="190500"/>
            <a:ext cx="9491504" cy="573596"/>
            <a:chOff x="381000" y="190500"/>
            <a:chExt cx="9491504" cy="573596"/>
          </a:xfrm>
        </p:grpSpPr>
        <p:sp>
          <p:nvSpPr>
            <p:cNvPr id="2" name="Rectangle 2"/>
            <p:cNvSpPr/>
            <p:nvPr/>
          </p:nvSpPr>
          <p:spPr>
            <a:xfrm>
              <a:off x="381000" y="190500"/>
              <a:ext cx="76200" cy="400050"/>
            </a:xfrm>
            <a:prstGeom prst="rect">
              <a:avLst/>
            </a:prstGeom>
            <a:solidFill>
              <a:srgbClr val="8B321E"/>
            </a:solidFill>
            <a:ln>
              <a:noFill/>
            </a:ln>
          </p:spPr>
        </p:sp>
        <p:sp>
          <p:nvSpPr>
            <p:cNvPr id="3" name="TextBox 3"/>
            <p:cNvSpPr txBox="1"/>
            <p:nvPr/>
          </p:nvSpPr>
          <p:spPr>
            <a:xfrm>
              <a:off x="576072" y="206693"/>
              <a:ext cx="9296432" cy="557403"/>
            </a:xfrm>
            <a:prstGeom prst="rect">
              <a:avLst/>
            </a:prstGeom>
            <a:noFill/>
            <a:ln>
              <a:noFill/>
            </a:ln>
          </p:spPr>
          <p:txBody>
            <a:bodyPr wrap="none" lIns="0" tIns="0" rIns="0" bIns="0" anchor="t" anchorCtr="0">
              <a:spAutoFit/>
            </a:bodyPr>
            <a:lstStyle/>
            <a:p>
              <a:pPr algn="l"/>
              <a:r>
                <a:rPr lang="zh-CN" sz="2850" b="1" dirty="0">
                  <a:solidFill>
                    <a:srgbClr val="1A1A1A"/>
                  </a:solidFill>
                  <a:latin typeface="+mn-lt"/>
                  <a:ea typeface="+mn-ea"/>
                  <a:cs typeface="+mn-cs"/>
                </a:rPr>
                <a:t>大客户管理体系的建设路径：从零到有的90天行动计划</a:t>
              </a:r>
            </a:p>
          </p:txBody>
        </p:sp>
      </p:grpSp>
      <p:grpSp>
        <p:nvGrpSpPr>
          <p:cNvPr id="8" name="core-statement"/>
          <p:cNvGrpSpPr/>
          <p:nvPr/>
        </p:nvGrpSpPr>
        <p:grpSpPr>
          <a:xfrm>
            <a:off x="381000" y="800100"/>
            <a:ext cx="9636402" cy="476250"/>
            <a:chOff x="381000" y="800100"/>
            <a:chExt cx="9636402" cy="476250"/>
          </a:xfrm>
        </p:grpSpPr>
        <p:sp>
          <p:nvSpPr>
            <p:cNvPr id="5" name="Freeform 5"/>
            <p:cNvSpPr/>
            <p:nvPr/>
          </p:nvSpPr>
          <p:spPr>
            <a:xfrm>
              <a:off x="381000" y="800100"/>
              <a:ext cx="1447800" cy="476250"/>
            </a:xfrm>
            <a:prstGeom prst="homePlate">
              <a:avLst/>
            </a:prstGeom>
            <a:solidFill>
              <a:srgbClr val="8B321E"/>
            </a:solidFill>
            <a:ln>
              <a:noFill/>
            </a:ln>
          </p:spPr>
        </p:sp>
        <p:sp>
          <p:nvSpPr>
            <p:cNvPr id="6" name="TextBox 6"/>
            <p:cNvSpPr txBox="1"/>
            <p:nvPr/>
          </p:nvSpPr>
          <p:spPr>
            <a:xfrm>
              <a:off x="640931" y="971312"/>
              <a:ext cx="680288" cy="242030"/>
            </a:xfrm>
            <a:prstGeom prst="rect">
              <a:avLst/>
            </a:prstGeom>
            <a:noFill/>
            <a:ln>
              <a:noFill/>
            </a:ln>
          </p:spPr>
          <p:txBody>
            <a:bodyPr wrap="none" lIns="0" tIns="0" rIns="0" bIns="0" anchor="t" anchorCtr="0">
              <a:spAutoFit/>
            </a:bodyPr>
            <a:lstStyle/>
            <a:p>
              <a:pPr algn="ctr"/>
              <a:r>
                <a:rPr lang="zh-CN" sz="1240" b="1" dirty="0">
                  <a:solidFill>
                    <a:srgbClr val="FFFFFF"/>
                  </a:solidFill>
                  <a:latin typeface="+mn-lt"/>
                  <a:ea typeface="+mn-ea"/>
                  <a:cs typeface="+mn-cs"/>
                </a:rPr>
                <a:t>核心观点</a:t>
              </a:r>
            </a:p>
          </p:txBody>
        </p:sp>
        <p:sp>
          <p:nvSpPr>
            <p:cNvPr id="7" name="TextBox 7"/>
            <p:cNvSpPr txBox="1"/>
            <p:nvPr/>
          </p:nvSpPr>
          <p:spPr>
            <a:xfrm>
              <a:off x="2039683" y="940356"/>
              <a:ext cx="7977719" cy="315373"/>
            </a:xfrm>
            <a:prstGeom prst="rect">
              <a:avLst/>
            </a:prstGeom>
            <a:noFill/>
            <a:ln>
              <a:noFill/>
            </a:ln>
          </p:spPr>
          <p:txBody>
            <a:bodyPr wrap="none" lIns="0" tIns="0" rIns="0" bIns="0" anchor="t" anchorCtr="0">
              <a:spAutoFit/>
            </a:bodyPr>
            <a:lstStyle/>
            <a:p>
              <a:pPr algn="l"/>
              <a:r>
                <a:rPr lang="zh-CN" sz="1610" b="1" dirty="0">
                  <a:solidFill>
                    <a:srgbClr val="8B321E"/>
                  </a:solidFill>
                  <a:latin typeface="+mn-lt"/>
                  <a:ea typeface="+mn-ea"/>
                  <a:cs typeface="+mn-cs"/>
                </a:rPr>
                <a:t>大客户管理体系建设不需要等到完美，90天内可以完成基础建设并开始产生效果。​</a:t>
              </a:r>
            </a:p>
          </p:txBody>
        </p:sp>
      </p:grpSp>
      <p:grpSp>
        <p:nvGrpSpPr>
          <p:cNvPr id="72" name="stages"/>
          <p:cNvGrpSpPr/>
          <p:nvPr/>
        </p:nvGrpSpPr>
        <p:grpSpPr>
          <a:xfrm>
            <a:off x="381000" y="1771650"/>
            <a:ext cx="11430000" cy="2428637"/>
            <a:chOff x="381000" y="1771650"/>
            <a:chExt cx="11430000" cy="2428637"/>
          </a:xfrm>
        </p:grpSpPr>
        <p:grpSp>
          <p:nvGrpSpPr>
            <p:cNvPr id="29" name="stage-1"/>
            <p:cNvGrpSpPr/>
            <p:nvPr/>
          </p:nvGrpSpPr>
          <p:grpSpPr>
            <a:xfrm>
              <a:off x="381000" y="2457450"/>
              <a:ext cx="3619500" cy="1742837"/>
              <a:chOff x="381000" y="2457450"/>
              <a:chExt cx="3619500" cy="1742837"/>
            </a:xfrm>
          </p:grpSpPr>
          <p:sp>
            <p:nvSpPr>
              <p:cNvPr id="9" name="Rectangle 9"/>
              <p:cNvSpPr/>
              <p:nvPr/>
            </p:nvSpPr>
            <p:spPr>
              <a:xfrm>
                <a:off x="381000" y="2457450"/>
                <a:ext cx="3619500" cy="1733550"/>
              </a:xfrm>
              <a:prstGeom prst="roundRect">
                <a:avLst>
                  <a:gd name="adj" fmla="val 1099"/>
                </a:avLst>
              </a:prstGeom>
              <a:solidFill>
                <a:srgbClr val="8B321E"/>
              </a:solidFill>
              <a:ln>
                <a:noFill/>
              </a:ln>
            </p:spPr>
          </p:sp>
          <p:sp>
            <p:nvSpPr>
              <p:cNvPr id="10" name="TextBox 10"/>
              <p:cNvSpPr txBox="1"/>
              <p:nvPr/>
            </p:nvSpPr>
            <p:spPr>
              <a:xfrm>
                <a:off x="633984" y="2699385"/>
                <a:ext cx="447244" cy="528066"/>
              </a:xfrm>
              <a:prstGeom prst="rect">
                <a:avLst/>
              </a:prstGeom>
              <a:noFill/>
              <a:ln>
                <a:noFill/>
              </a:ln>
            </p:spPr>
            <p:txBody>
              <a:bodyPr wrap="none" lIns="0" tIns="0" rIns="0" bIns="0" anchor="t" anchorCtr="0">
                <a:spAutoFit/>
              </a:bodyPr>
              <a:lstStyle/>
              <a:p>
                <a:pPr algn="l"/>
                <a:r>
                  <a:rPr lang="zh-CN" sz="2700" b="1" dirty="0">
                    <a:solidFill>
                      <a:srgbClr val="FFFFFF"/>
                    </a:solidFill>
                    <a:latin typeface="+mn-lt"/>
                    <a:ea typeface="+mn-ea"/>
                    <a:cs typeface="+mn-cs"/>
                  </a:rPr>
                  <a:t>01</a:t>
                </a:r>
              </a:p>
            </p:txBody>
          </p:sp>
          <p:sp>
            <p:nvSpPr>
              <p:cNvPr id="11" name="TextBox 11"/>
              <p:cNvSpPr txBox="1"/>
              <p:nvPr/>
            </p:nvSpPr>
            <p:spPr>
              <a:xfrm>
                <a:off x="642938" y="3137297"/>
                <a:ext cx="610603" cy="183356"/>
              </a:xfrm>
              <a:prstGeom prst="rect">
                <a:avLst/>
              </a:prstGeom>
              <a:noFill/>
              <a:ln>
                <a:noFill/>
              </a:ln>
            </p:spPr>
            <p:txBody>
              <a:bodyPr wrap="none" lIns="0" tIns="0" rIns="0" bIns="0" anchor="t" anchorCtr="0">
                <a:spAutoFit/>
              </a:bodyPr>
              <a:lstStyle/>
              <a:p>
                <a:pPr algn="l"/>
                <a:r>
                  <a:rPr lang="zh-CN" sz="940" dirty="0">
                    <a:solidFill>
                      <a:srgbClr val="FFFFFF">
                        <a:alphaMod val="90000"/>
                      </a:srgbClr>
                    </a:solidFill>
                    <a:latin typeface="+mn-lt"/>
                    <a:ea typeface="+mn-ea"/>
                    <a:cs typeface="+mn-cs"/>
                  </a:rPr>
                  <a:t>第1-30天​</a:t>
                </a:r>
              </a:p>
            </p:txBody>
          </p:sp>
          <p:sp>
            <p:nvSpPr>
              <p:cNvPr id="12" name="Line 12"/>
              <p:cNvSpPr/>
              <p:nvPr/>
            </p:nvSpPr>
            <p:spPr>
              <a:xfrm>
                <a:off x="1600200" y="2647950"/>
                <a:ext cx="9525" cy="1028700"/>
              </a:xfrm>
              <a:custGeom>
                <a:avLst/>
                <a:gdLst/>
                <a:ahLst/>
                <a:cxnLst/>
                <a:rect l="l" t="t" r="r" b="b"/>
                <a:pathLst>
                  <a:path w="9525" h="1028700">
                    <a:moveTo>
                      <a:pt x="0" y="0"/>
                    </a:moveTo>
                    <a:lnTo>
                      <a:pt x="0" y="1028700"/>
                    </a:lnTo>
                  </a:path>
                </a:pathLst>
              </a:custGeom>
              <a:noFill/>
              <a:ln w="9525">
                <a:solidFill>
                  <a:srgbClr val="FFFFFF">
                    <a:alpha val="45000"/>
                  </a:srgbClr>
                </a:solidFill>
              </a:ln>
            </p:spPr>
          </p:sp>
          <p:sp>
            <p:nvSpPr>
              <p:cNvPr id="13" name="TextBox 13"/>
              <p:cNvSpPr txBox="1"/>
              <p:nvPr/>
            </p:nvSpPr>
            <p:spPr>
              <a:xfrm>
                <a:off x="1764792" y="2635568"/>
                <a:ext cx="74066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摸清家底</a:t>
                </a:r>
              </a:p>
            </p:txBody>
          </p:sp>
          <p:sp>
            <p:nvSpPr>
              <p:cNvPr id="14" name="Ellipse 14"/>
              <p:cNvSpPr/>
              <p:nvPr/>
            </p:nvSpPr>
            <p:spPr>
              <a:xfrm>
                <a:off x="1695450" y="2952750"/>
                <a:ext cx="38100" cy="38100"/>
              </a:xfrm>
              <a:prstGeom prst="ellipse">
                <a:avLst/>
              </a:prstGeom>
              <a:solidFill>
                <a:srgbClr val="FFFFFF"/>
              </a:solidFill>
              <a:ln>
                <a:noFill/>
              </a:ln>
            </p:spPr>
          </p:sp>
          <p:sp>
            <p:nvSpPr>
              <p:cNvPr id="15" name="TextBox 15"/>
              <p:cNvSpPr txBox="1"/>
              <p:nvPr/>
            </p:nvSpPr>
            <p:spPr>
              <a:xfrm>
                <a:off x="1804988" y="2912745"/>
                <a:ext cx="73647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完成客户分层</a:t>
                </a:r>
              </a:p>
            </p:txBody>
          </p:sp>
          <p:sp>
            <p:nvSpPr>
              <p:cNvPr id="16" name="Ellipse 16"/>
              <p:cNvSpPr/>
              <p:nvPr/>
            </p:nvSpPr>
            <p:spPr>
              <a:xfrm>
                <a:off x="1695450" y="3133725"/>
                <a:ext cx="38100" cy="38100"/>
              </a:xfrm>
              <a:prstGeom prst="ellipse">
                <a:avLst/>
              </a:prstGeom>
              <a:solidFill>
                <a:srgbClr val="FFFFFF"/>
              </a:solidFill>
              <a:ln>
                <a:noFill/>
              </a:ln>
            </p:spPr>
          </p:sp>
          <p:sp>
            <p:nvSpPr>
              <p:cNvPr id="17" name="TextBox 17"/>
              <p:cNvSpPr txBox="1"/>
              <p:nvPr/>
            </p:nvSpPr>
            <p:spPr>
              <a:xfrm>
                <a:off x="1804988" y="3093720"/>
                <a:ext cx="696125"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TOP20诊断​</a:t>
                </a:r>
              </a:p>
            </p:txBody>
          </p:sp>
          <p:sp>
            <p:nvSpPr>
              <p:cNvPr id="18" name="Ellipse 18"/>
              <p:cNvSpPr/>
              <p:nvPr/>
            </p:nvSpPr>
            <p:spPr>
              <a:xfrm>
                <a:off x="1695450" y="3314700"/>
                <a:ext cx="38100" cy="38100"/>
              </a:xfrm>
              <a:prstGeom prst="ellipse">
                <a:avLst/>
              </a:prstGeom>
              <a:solidFill>
                <a:srgbClr val="FFFFFF"/>
              </a:solidFill>
              <a:ln>
                <a:noFill/>
              </a:ln>
            </p:spPr>
          </p:sp>
          <p:sp>
            <p:nvSpPr>
              <p:cNvPr id="19" name="TextBox 19"/>
              <p:cNvSpPr txBox="1"/>
              <p:nvPr/>
            </p:nvSpPr>
            <p:spPr>
              <a:xfrm>
                <a:off x="1804988" y="3274695"/>
                <a:ext cx="801395"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信息录入CRM​</a:t>
                </a:r>
              </a:p>
            </p:txBody>
          </p:sp>
          <p:sp>
            <p:nvSpPr>
              <p:cNvPr id="20" name="Ellipse 20"/>
              <p:cNvSpPr/>
              <p:nvPr/>
            </p:nvSpPr>
            <p:spPr>
              <a:xfrm>
                <a:off x="1695450" y="3495675"/>
                <a:ext cx="38100" cy="38100"/>
              </a:xfrm>
              <a:prstGeom prst="ellipse">
                <a:avLst/>
              </a:prstGeom>
              <a:solidFill>
                <a:srgbClr val="FFFFFF"/>
              </a:solidFill>
              <a:ln>
                <a:noFill/>
              </a:ln>
            </p:spPr>
          </p:sp>
          <p:sp>
            <p:nvSpPr>
              <p:cNvPr id="21" name="TextBox 21"/>
              <p:cNvSpPr txBox="1"/>
              <p:nvPr/>
            </p:nvSpPr>
            <p:spPr>
              <a:xfrm>
                <a:off x="1804988" y="3455670"/>
                <a:ext cx="797624"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KAM名单分配​</a:t>
                </a:r>
              </a:p>
            </p:txBody>
          </p:sp>
          <p:sp>
            <p:nvSpPr>
              <p:cNvPr id="22" name="Line 22"/>
              <p:cNvSpPr/>
              <p:nvPr/>
            </p:nvSpPr>
            <p:spPr>
              <a:xfrm>
                <a:off x="381000" y="3752850"/>
                <a:ext cx="3619500" cy="9525"/>
              </a:xfrm>
              <a:custGeom>
                <a:avLst/>
                <a:gdLst/>
                <a:ahLst/>
                <a:cxnLst/>
                <a:rect l="l" t="t" r="r" b="b"/>
                <a:pathLst>
                  <a:path w="3619500" h="9525">
                    <a:moveTo>
                      <a:pt x="0" y="0"/>
                    </a:moveTo>
                    <a:lnTo>
                      <a:pt x="3619500" y="0"/>
                    </a:lnTo>
                  </a:path>
                </a:pathLst>
              </a:custGeom>
              <a:noFill/>
              <a:ln w="9525">
                <a:solidFill>
                  <a:srgbClr val="FFFFFF">
                    <a:alpha val="40000"/>
                  </a:srgbClr>
                </a:solidFill>
              </a:ln>
            </p:spPr>
          </p:sp>
          <p:grpSp>
            <p:nvGrpSpPr>
              <p:cNvPr id="26" name="Group 26"/>
              <p:cNvGrpSpPr/>
              <p:nvPr/>
            </p:nvGrpSpPr>
            <p:grpSpPr>
              <a:xfrm>
                <a:off x="640556" y="3860006"/>
                <a:ext cx="185737" cy="185737"/>
                <a:chOff x="640556" y="3860006"/>
                <a:chExt cx="185737" cy="185737"/>
              </a:xfrm>
            </p:grpSpPr>
            <p:sp>
              <p:nvSpPr>
                <p:cNvPr id="23" name="Freeform 23"/>
                <p:cNvSpPr/>
                <p:nvPr/>
              </p:nvSpPr>
              <p:spPr>
                <a:xfrm>
                  <a:off x="723106" y="3942556"/>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FFFFFF"/>
                  </a:solidFill>
                </a:ln>
              </p:spPr>
            </p:sp>
            <p:sp>
              <p:nvSpPr>
                <p:cNvPr id="24" name="Freeform 24"/>
                <p:cNvSpPr/>
                <p:nvPr/>
              </p:nvSpPr>
              <p:spPr>
                <a:xfrm>
                  <a:off x="681831" y="3901281"/>
                  <a:ext cx="103187" cy="103187"/>
                </a:xfrm>
                <a:custGeom>
                  <a:avLst/>
                  <a:gdLst/>
                  <a:ahLst/>
                  <a:cxnLst/>
                  <a:rect l="l" t="t" r="r" b="b"/>
                  <a:pathLst>
                    <a:path w="103187" h="103187">
                      <a:moveTo>
                        <a:pt x="0" y="51594"/>
                      </a:moveTo>
                      <a:cubicBezTo>
                        <a:pt x="0" y="80088"/>
                        <a:pt x="23099" y="103187"/>
                        <a:pt x="51594" y="103187"/>
                      </a:cubicBezTo>
                      <a:cubicBezTo>
                        <a:pt x="80088" y="103187"/>
                        <a:pt x="103187" y="80088"/>
                        <a:pt x="103187" y="51594"/>
                      </a:cubicBezTo>
                      <a:cubicBezTo>
                        <a:pt x="103187" y="23099"/>
                        <a:pt x="80088" y="0"/>
                        <a:pt x="51594" y="0"/>
                      </a:cubicBezTo>
                      <a:cubicBezTo>
                        <a:pt x="23099" y="0"/>
                        <a:pt x="0" y="23099"/>
                        <a:pt x="0" y="51594"/>
                      </a:cubicBezTo>
                    </a:path>
                  </a:pathLst>
                </a:custGeom>
                <a:noFill/>
                <a:ln w="20637">
                  <a:solidFill>
                    <a:srgbClr val="FFFFFF"/>
                  </a:solidFill>
                </a:ln>
              </p:spPr>
            </p:sp>
            <p:sp>
              <p:nvSpPr>
                <p:cNvPr id="25" name="Freeform 25"/>
                <p:cNvSpPr/>
                <p:nvPr/>
              </p:nvSpPr>
              <p:spPr>
                <a:xfrm>
                  <a:off x="640556" y="38600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FFFFFF"/>
                  </a:solidFill>
                </a:ln>
              </p:spPr>
            </p:sp>
          </p:grpSp>
          <p:sp>
            <p:nvSpPr>
              <p:cNvPr id="27" name="TextBox 27"/>
              <p:cNvSpPr txBox="1"/>
              <p:nvPr/>
            </p:nvSpPr>
            <p:spPr>
              <a:xfrm>
                <a:off x="966788" y="3861197"/>
                <a:ext cx="6422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预期成果：</a:t>
                </a:r>
              </a:p>
            </p:txBody>
          </p:sp>
          <p:sp>
            <p:nvSpPr>
              <p:cNvPr id="28" name="TextBox 28"/>
              <p:cNvSpPr txBox="1"/>
              <p:nvPr/>
            </p:nvSpPr>
            <p:spPr>
              <a:xfrm>
                <a:off x="966788" y="4031218"/>
                <a:ext cx="1457236" cy="169069"/>
              </a:xfrm>
              <a:prstGeom prst="rect">
                <a:avLst/>
              </a:prstGeom>
              <a:noFill/>
              <a:ln>
                <a:noFill/>
              </a:ln>
            </p:spPr>
            <p:txBody>
              <a:bodyPr wrap="none" lIns="0" tIns="0" rIns="0" bIns="0" anchor="t" anchorCtr="0">
                <a:spAutoFit/>
              </a:bodyPr>
              <a:lstStyle/>
              <a:p>
                <a:pPr algn="l"/>
                <a:r>
                  <a:rPr lang="zh-CN" sz="860" dirty="0">
                    <a:solidFill>
                      <a:srgbClr val="FFFFFF"/>
                    </a:solidFill>
                    <a:latin typeface="+mn-lt"/>
                    <a:ea typeface="+mn-ea"/>
                    <a:cs typeface="+mn-cs"/>
                  </a:rPr>
                  <a:t>清楚知道每个TOP客户现状​</a:t>
                </a:r>
              </a:p>
            </p:txBody>
          </p:sp>
        </p:grpSp>
        <p:grpSp>
          <p:nvGrpSpPr>
            <p:cNvPr id="50" name="stage-2"/>
            <p:cNvGrpSpPr/>
            <p:nvPr/>
          </p:nvGrpSpPr>
          <p:grpSpPr>
            <a:xfrm>
              <a:off x="4286250" y="2114550"/>
              <a:ext cx="3619500" cy="2076450"/>
              <a:chOff x="4286250" y="2114550"/>
              <a:chExt cx="3619500" cy="2076450"/>
            </a:xfrm>
          </p:grpSpPr>
          <p:sp>
            <p:nvSpPr>
              <p:cNvPr id="30" name="Rectangle 30"/>
              <p:cNvSpPr/>
              <p:nvPr/>
            </p:nvSpPr>
            <p:spPr>
              <a:xfrm>
                <a:off x="4286250" y="2114550"/>
                <a:ext cx="3619500" cy="2076450"/>
              </a:xfrm>
              <a:prstGeom prst="roundRect">
                <a:avLst>
                  <a:gd name="adj" fmla="val 917"/>
                </a:avLst>
              </a:prstGeom>
              <a:solidFill>
                <a:srgbClr val="55565A"/>
              </a:solidFill>
              <a:ln>
                <a:noFill/>
              </a:ln>
            </p:spPr>
          </p:sp>
          <p:sp>
            <p:nvSpPr>
              <p:cNvPr id="31" name="TextBox 31"/>
              <p:cNvSpPr txBox="1"/>
              <p:nvPr/>
            </p:nvSpPr>
            <p:spPr>
              <a:xfrm>
                <a:off x="4539234" y="2356485"/>
                <a:ext cx="447244" cy="528066"/>
              </a:xfrm>
              <a:prstGeom prst="rect">
                <a:avLst/>
              </a:prstGeom>
              <a:noFill/>
              <a:ln>
                <a:noFill/>
              </a:ln>
            </p:spPr>
            <p:txBody>
              <a:bodyPr wrap="none" lIns="0" tIns="0" rIns="0" bIns="0" anchor="t" anchorCtr="0">
                <a:spAutoFit/>
              </a:bodyPr>
              <a:lstStyle/>
              <a:p>
                <a:pPr algn="l"/>
                <a:r>
                  <a:rPr lang="zh-CN" sz="2700" b="1" dirty="0">
                    <a:solidFill>
                      <a:srgbClr val="FFFFFF"/>
                    </a:solidFill>
                    <a:latin typeface="+mn-lt"/>
                    <a:ea typeface="+mn-ea"/>
                    <a:cs typeface="+mn-cs"/>
                  </a:rPr>
                  <a:t>02</a:t>
                </a:r>
              </a:p>
            </p:txBody>
          </p:sp>
          <p:sp>
            <p:nvSpPr>
              <p:cNvPr id="32" name="TextBox 32"/>
              <p:cNvSpPr txBox="1"/>
              <p:nvPr/>
            </p:nvSpPr>
            <p:spPr>
              <a:xfrm>
                <a:off x="4548188" y="2794397"/>
                <a:ext cx="680202" cy="183356"/>
              </a:xfrm>
              <a:prstGeom prst="rect">
                <a:avLst/>
              </a:prstGeom>
              <a:noFill/>
              <a:ln>
                <a:noFill/>
              </a:ln>
            </p:spPr>
            <p:txBody>
              <a:bodyPr wrap="none" lIns="0" tIns="0" rIns="0" bIns="0" anchor="t" anchorCtr="0">
                <a:spAutoFit/>
              </a:bodyPr>
              <a:lstStyle/>
              <a:p>
                <a:pPr algn="l"/>
                <a:r>
                  <a:rPr lang="zh-CN" sz="940" dirty="0">
                    <a:solidFill>
                      <a:srgbClr val="FFFFFF">
                        <a:alphaMod val="90000"/>
                      </a:srgbClr>
                    </a:solidFill>
                    <a:latin typeface="+mn-lt"/>
                    <a:ea typeface="+mn-ea"/>
                    <a:cs typeface="+mn-cs"/>
                  </a:rPr>
                  <a:t>第31-60天​</a:t>
                </a:r>
              </a:p>
            </p:txBody>
          </p:sp>
          <p:sp>
            <p:nvSpPr>
              <p:cNvPr id="33" name="Line 33"/>
              <p:cNvSpPr/>
              <p:nvPr/>
            </p:nvSpPr>
            <p:spPr>
              <a:xfrm>
                <a:off x="5505450" y="2305050"/>
                <a:ext cx="9525" cy="1123950"/>
              </a:xfrm>
              <a:custGeom>
                <a:avLst/>
                <a:gdLst/>
                <a:ahLst/>
                <a:cxnLst/>
                <a:rect l="l" t="t" r="r" b="b"/>
                <a:pathLst>
                  <a:path w="9525" h="1123950">
                    <a:moveTo>
                      <a:pt x="0" y="0"/>
                    </a:moveTo>
                    <a:lnTo>
                      <a:pt x="0" y="1123950"/>
                    </a:lnTo>
                  </a:path>
                </a:pathLst>
              </a:custGeom>
              <a:noFill/>
              <a:ln w="9525">
                <a:solidFill>
                  <a:srgbClr val="FFFFFF">
                    <a:alpha val="45000"/>
                  </a:srgbClr>
                </a:solidFill>
              </a:ln>
            </p:spPr>
          </p:sp>
          <p:sp>
            <p:nvSpPr>
              <p:cNvPr id="34" name="TextBox 34"/>
              <p:cNvSpPr txBox="1"/>
              <p:nvPr/>
            </p:nvSpPr>
            <p:spPr>
              <a:xfrm>
                <a:off x="5670042" y="2292668"/>
                <a:ext cx="922401"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制定作战图</a:t>
                </a:r>
              </a:p>
            </p:txBody>
          </p:sp>
          <p:sp>
            <p:nvSpPr>
              <p:cNvPr id="35" name="Ellipse 35"/>
              <p:cNvSpPr/>
              <p:nvPr/>
            </p:nvSpPr>
            <p:spPr>
              <a:xfrm>
                <a:off x="5657850" y="2609850"/>
                <a:ext cx="38100" cy="38100"/>
              </a:xfrm>
              <a:prstGeom prst="ellipse">
                <a:avLst/>
              </a:prstGeom>
              <a:solidFill>
                <a:srgbClr val="FFFFFF"/>
              </a:solidFill>
              <a:ln>
                <a:noFill/>
              </a:ln>
            </p:spPr>
          </p:sp>
          <p:sp>
            <p:nvSpPr>
              <p:cNvPr id="36" name="TextBox 36"/>
              <p:cNvSpPr txBox="1"/>
              <p:nvPr/>
            </p:nvSpPr>
            <p:spPr>
              <a:xfrm>
                <a:off x="5767388" y="2569845"/>
                <a:ext cx="1388372" cy="176212"/>
              </a:xfrm>
              <a:prstGeom prst="rect">
                <a:avLst/>
              </a:prstGeom>
              <a:noFill/>
              <a:ln>
                <a:noFill/>
              </a:ln>
            </p:spPr>
            <p:txBody>
              <a:bodyPr wrap="none" lIns="0" tIns="0" rIns="0" bIns="0" anchor="t" anchorCtr="0">
                <a:spAutoFit/>
              </a:bodyPr>
              <a:lstStyle/>
              <a:p>
                <a:pPr algn="l"/>
                <a:r>
                  <a:rPr lang="zh-CN" sz="900" b="1" dirty="0">
                    <a:solidFill>
                      <a:srgbClr val="C97263"/>
                    </a:solidFill>
                    <a:latin typeface="+mn-lt"/>
                    <a:ea typeface="+mn-ea"/>
                    <a:cs typeface="+mn-cs"/>
                  </a:rPr>
                  <a:t>制定S/A级一页纸作战图</a:t>
                </a:r>
                <a:r>
                  <a:rPr lang="zh-CN" sz="900" dirty="0">
                    <a:solidFill>
                      <a:srgbClr val="FFFFFF"/>
                    </a:solidFill>
                    <a:latin typeface="+mn-lt"/>
                    <a:ea typeface="+mn-ea"/>
                    <a:cs typeface="+mn-cs"/>
                  </a:rPr>
                  <a:t>​</a:t>
                </a:r>
              </a:p>
            </p:txBody>
          </p:sp>
          <p:sp>
            <p:nvSpPr>
              <p:cNvPr id="37" name="Ellipse 37"/>
              <p:cNvSpPr/>
              <p:nvPr/>
            </p:nvSpPr>
            <p:spPr>
              <a:xfrm>
                <a:off x="5657850" y="2790825"/>
                <a:ext cx="38100" cy="38100"/>
              </a:xfrm>
              <a:prstGeom prst="ellipse">
                <a:avLst/>
              </a:prstGeom>
              <a:solidFill>
                <a:srgbClr val="FFFFFF"/>
              </a:solidFill>
              <a:ln>
                <a:noFill/>
              </a:ln>
            </p:spPr>
          </p:sp>
          <p:sp>
            <p:nvSpPr>
              <p:cNvPr id="38" name="TextBox 38"/>
              <p:cNvSpPr txBox="1"/>
              <p:nvPr/>
            </p:nvSpPr>
            <p:spPr>
              <a:xfrm>
                <a:off x="5767388" y="2750820"/>
                <a:ext cx="978789"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建立月度例会机制</a:t>
                </a:r>
              </a:p>
            </p:txBody>
          </p:sp>
          <p:sp>
            <p:nvSpPr>
              <p:cNvPr id="39" name="Ellipse 39"/>
              <p:cNvSpPr/>
              <p:nvPr/>
            </p:nvSpPr>
            <p:spPr>
              <a:xfrm>
                <a:off x="5657850" y="2971800"/>
                <a:ext cx="38100" cy="38100"/>
              </a:xfrm>
              <a:prstGeom prst="ellipse">
                <a:avLst/>
              </a:prstGeom>
              <a:solidFill>
                <a:srgbClr val="FFFFFF"/>
              </a:solidFill>
              <a:ln>
                <a:noFill/>
              </a:ln>
            </p:spPr>
          </p:sp>
          <p:sp>
            <p:nvSpPr>
              <p:cNvPr id="40" name="TextBox 40"/>
              <p:cNvSpPr txBox="1"/>
              <p:nvPr/>
            </p:nvSpPr>
            <p:spPr>
              <a:xfrm>
                <a:off x="5767388" y="2931795"/>
                <a:ext cx="73647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制定拜访计划</a:t>
                </a:r>
              </a:p>
            </p:txBody>
          </p:sp>
          <p:sp>
            <p:nvSpPr>
              <p:cNvPr id="41" name="Ellipse 41"/>
              <p:cNvSpPr/>
              <p:nvPr/>
            </p:nvSpPr>
            <p:spPr>
              <a:xfrm>
                <a:off x="5657850" y="3152775"/>
                <a:ext cx="38100" cy="38100"/>
              </a:xfrm>
              <a:prstGeom prst="ellipse">
                <a:avLst/>
              </a:prstGeom>
              <a:solidFill>
                <a:srgbClr val="FFFFFF"/>
              </a:solidFill>
              <a:ln>
                <a:noFill/>
              </a:ln>
            </p:spPr>
          </p:sp>
          <p:sp>
            <p:nvSpPr>
              <p:cNvPr id="42" name="TextBox 42"/>
              <p:cNvSpPr txBox="1"/>
              <p:nvPr/>
            </p:nvSpPr>
            <p:spPr>
              <a:xfrm>
                <a:off x="5767388" y="3112770"/>
                <a:ext cx="1110348"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启动TOP3增长机会​</a:t>
                </a:r>
              </a:p>
            </p:txBody>
          </p:sp>
          <p:sp>
            <p:nvSpPr>
              <p:cNvPr id="43" name="Line 43"/>
              <p:cNvSpPr/>
              <p:nvPr/>
            </p:nvSpPr>
            <p:spPr>
              <a:xfrm>
                <a:off x="4286250" y="3505200"/>
                <a:ext cx="3619500" cy="9525"/>
              </a:xfrm>
              <a:custGeom>
                <a:avLst/>
                <a:gdLst/>
                <a:ahLst/>
                <a:cxnLst/>
                <a:rect l="l" t="t" r="r" b="b"/>
                <a:pathLst>
                  <a:path w="3619500" h="9525">
                    <a:moveTo>
                      <a:pt x="0" y="0"/>
                    </a:moveTo>
                    <a:lnTo>
                      <a:pt x="3619500" y="0"/>
                    </a:lnTo>
                  </a:path>
                </a:pathLst>
              </a:custGeom>
              <a:noFill/>
              <a:ln w="9525">
                <a:solidFill>
                  <a:srgbClr val="FFFFFF">
                    <a:alpha val="40000"/>
                  </a:srgbClr>
                </a:solidFill>
              </a:ln>
            </p:spPr>
          </p:sp>
          <p:grpSp>
            <p:nvGrpSpPr>
              <p:cNvPr id="47" name="Group 47"/>
              <p:cNvGrpSpPr/>
              <p:nvPr/>
            </p:nvGrpSpPr>
            <p:grpSpPr>
              <a:xfrm>
                <a:off x="4545806" y="3622675"/>
                <a:ext cx="185737" cy="165099"/>
                <a:chOff x="4545806" y="3622675"/>
                <a:chExt cx="185737" cy="165099"/>
              </a:xfrm>
            </p:grpSpPr>
            <p:sp>
              <p:nvSpPr>
                <p:cNvPr id="44" name="Freeform 44"/>
                <p:cNvSpPr/>
                <p:nvPr/>
              </p:nvSpPr>
              <p:spPr>
                <a:xfrm>
                  <a:off x="4545806" y="3622675"/>
                  <a:ext cx="185737" cy="165099"/>
                </a:xfrm>
                <a:custGeom>
                  <a:avLst/>
                  <a:gdLst/>
                  <a:ahLst/>
                  <a:cxnLst/>
                  <a:rect l="l" t="t" r="r" b="b"/>
                  <a:pathLst>
                    <a:path w="185737" h="165099">
                      <a:moveTo>
                        <a:pt x="0" y="30956"/>
                      </a:moveTo>
                      <a:lnTo>
                        <a:pt x="61912" y="0"/>
                      </a:lnTo>
                      <a:lnTo>
                        <a:pt x="123825" y="30956"/>
                      </a:lnTo>
                      <a:lnTo>
                        <a:pt x="185737" y="0"/>
                      </a:lnTo>
                      <a:lnTo>
                        <a:pt x="185737" y="134143"/>
                      </a:lnTo>
                      <a:lnTo>
                        <a:pt x="123825" y="165099"/>
                      </a:lnTo>
                      <a:lnTo>
                        <a:pt x="61912" y="134143"/>
                      </a:lnTo>
                      <a:lnTo>
                        <a:pt x="0" y="165099"/>
                      </a:lnTo>
                      <a:lnTo>
                        <a:pt x="0" y="30956"/>
                      </a:lnTo>
                    </a:path>
                  </a:pathLst>
                </a:custGeom>
                <a:noFill/>
                <a:ln w="20637">
                  <a:solidFill>
                    <a:srgbClr val="FFFFFF"/>
                  </a:solidFill>
                </a:ln>
              </p:spPr>
            </p:sp>
            <p:sp>
              <p:nvSpPr>
                <p:cNvPr id="45" name="Freeform 45"/>
                <p:cNvSpPr/>
                <p:nvPr/>
              </p:nvSpPr>
              <p:spPr>
                <a:xfrm>
                  <a:off x="4607718" y="3622675"/>
                  <a:ext cx="9525" cy="134143"/>
                </a:xfrm>
                <a:custGeom>
                  <a:avLst/>
                  <a:gdLst/>
                  <a:ahLst/>
                  <a:cxnLst/>
                  <a:rect l="l" t="t" r="r" b="b"/>
                  <a:pathLst>
                    <a:path w="9525" h="134143">
                      <a:moveTo>
                        <a:pt x="0" y="0"/>
                      </a:moveTo>
                      <a:lnTo>
                        <a:pt x="0" y="134143"/>
                      </a:lnTo>
                    </a:path>
                  </a:pathLst>
                </a:custGeom>
                <a:noFill/>
                <a:ln w="20637">
                  <a:solidFill>
                    <a:srgbClr val="FFFFFF"/>
                  </a:solidFill>
                </a:ln>
              </p:spPr>
            </p:sp>
            <p:sp>
              <p:nvSpPr>
                <p:cNvPr id="46" name="Freeform 46"/>
                <p:cNvSpPr/>
                <p:nvPr/>
              </p:nvSpPr>
              <p:spPr>
                <a:xfrm>
                  <a:off x="4669631" y="3653631"/>
                  <a:ext cx="9525" cy="134143"/>
                </a:xfrm>
                <a:custGeom>
                  <a:avLst/>
                  <a:gdLst/>
                  <a:ahLst/>
                  <a:cxnLst/>
                  <a:rect l="l" t="t" r="r" b="b"/>
                  <a:pathLst>
                    <a:path w="9525" h="134143">
                      <a:moveTo>
                        <a:pt x="0" y="0"/>
                      </a:moveTo>
                      <a:lnTo>
                        <a:pt x="0" y="134143"/>
                      </a:lnTo>
                    </a:path>
                  </a:pathLst>
                </a:custGeom>
                <a:noFill/>
                <a:ln w="20637">
                  <a:solidFill>
                    <a:srgbClr val="FFFFFF"/>
                  </a:solidFill>
                </a:ln>
              </p:spPr>
            </p:sp>
          </p:grpSp>
          <p:sp>
            <p:nvSpPr>
              <p:cNvPr id="48" name="TextBox 48"/>
              <p:cNvSpPr txBox="1"/>
              <p:nvPr/>
            </p:nvSpPr>
            <p:spPr>
              <a:xfrm>
                <a:off x="4872038" y="3613547"/>
                <a:ext cx="6422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预期成果：</a:t>
                </a:r>
              </a:p>
            </p:txBody>
          </p:sp>
          <p:sp>
            <p:nvSpPr>
              <p:cNvPr id="49" name="TextBox 49"/>
              <p:cNvSpPr txBox="1"/>
              <p:nvPr/>
            </p:nvSpPr>
            <p:spPr>
              <a:xfrm>
                <a:off x="4872038" y="3783568"/>
                <a:ext cx="1101725" cy="340519"/>
              </a:xfrm>
              <a:prstGeom prst="rect">
                <a:avLst/>
              </a:prstGeom>
              <a:noFill/>
              <a:ln>
                <a:noFill/>
              </a:ln>
            </p:spPr>
            <p:txBody>
              <a:bodyPr wrap="none" lIns="0" tIns="0" rIns="0" bIns="0" anchor="t" anchorCtr="0">
                <a:spAutoFit/>
              </a:bodyPr>
              <a:lstStyle/>
              <a:p>
                <a:pPr algn="l">
                  <a:lnSpc>
                    <a:spcPts val="1350"/>
                  </a:lnSpc>
                </a:pPr>
                <a:r>
                  <a:rPr lang="zh-CN" sz="860" dirty="0">
                    <a:solidFill>
                      <a:srgbClr val="FFFFFF"/>
                    </a:solidFill>
                    <a:latin typeface="+mn-lt"/>
                    <a:ea typeface="+mn-ea"/>
                    <a:cs typeface="+mn-cs"/>
                  </a:rPr>
                  <a:t>形成可执行的作战地图</a:t>
                </a:r>
                <a:br/>
                <a:r>
                  <a:rPr lang="zh-CN" sz="860" dirty="0">
                    <a:solidFill>
                      <a:srgbClr val="FFFFFF"/>
                    </a:solidFill>
                    <a:latin typeface="+mn-lt"/>
                    <a:ea typeface="+mn-ea"/>
                    <a:cs typeface="+mn-cs"/>
                  </a:rPr>
                  <a:t>并启动增长机会</a:t>
                </a:r>
              </a:p>
            </p:txBody>
          </p:sp>
        </p:grpSp>
        <p:grpSp>
          <p:nvGrpSpPr>
            <p:cNvPr id="71" name="stage-3"/>
            <p:cNvGrpSpPr/>
            <p:nvPr/>
          </p:nvGrpSpPr>
          <p:grpSpPr>
            <a:xfrm>
              <a:off x="8191500" y="1771650"/>
              <a:ext cx="3619500" cy="2419350"/>
              <a:chOff x="8191500" y="1771650"/>
              <a:chExt cx="3619500" cy="2419350"/>
            </a:xfrm>
          </p:grpSpPr>
          <p:sp>
            <p:nvSpPr>
              <p:cNvPr id="51" name="Rectangle 51"/>
              <p:cNvSpPr/>
              <p:nvPr/>
            </p:nvSpPr>
            <p:spPr>
              <a:xfrm>
                <a:off x="8191500" y="1771650"/>
                <a:ext cx="3619500" cy="2419350"/>
              </a:xfrm>
              <a:prstGeom prst="roundRect">
                <a:avLst>
                  <a:gd name="adj" fmla="val 787"/>
                </a:avLst>
              </a:prstGeom>
              <a:solidFill>
                <a:srgbClr val="8B321E"/>
              </a:solidFill>
              <a:ln>
                <a:noFill/>
              </a:ln>
            </p:spPr>
          </p:sp>
          <p:sp>
            <p:nvSpPr>
              <p:cNvPr id="52" name="TextBox 52"/>
              <p:cNvSpPr txBox="1"/>
              <p:nvPr/>
            </p:nvSpPr>
            <p:spPr>
              <a:xfrm>
                <a:off x="8444484" y="2013585"/>
                <a:ext cx="447244" cy="528066"/>
              </a:xfrm>
              <a:prstGeom prst="rect">
                <a:avLst/>
              </a:prstGeom>
              <a:noFill/>
              <a:ln>
                <a:noFill/>
              </a:ln>
            </p:spPr>
            <p:txBody>
              <a:bodyPr wrap="none" lIns="0" tIns="0" rIns="0" bIns="0" anchor="t" anchorCtr="0">
                <a:spAutoFit/>
              </a:bodyPr>
              <a:lstStyle/>
              <a:p>
                <a:pPr algn="l"/>
                <a:r>
                  <a:rPr lang="zh-CN" sz="2700" b="1" dirty="0">
                    <a:solidFill>
                      <a:srgbClr val="FFFFFF"/>
                    </a:solidFill>
                    <a:latin typeface="+mn-lt"/>
                    <a:ea typeface="+mn-ea"/>
                    <a:cs typeface="+mn-cs"/>
                  </a:rPr>
                  <a:t>03</a:t>
                </a:r>
              </a:p>
            </p:txBody>
          </p:sp>
          <p:sp>
            <p:nvSpPr>
              <p:cNvPr id="53" name="TextBox 53"/>
              <p:cNvSpPr txBox="1"/>
              <p:nvPr/>
            </p:nvSpPr>
            <p:spPr>
              <a:xfrm>
                <a:off x="8453438" y="2451497"/>
                <a:ext cx="680202" cy="183356"/>
              </a:xfrm>
              <a:prstGeom prst="rect">
                <a:avLst/>
              </a:prstGeom>
              <a:noFill/>
              <a:ln>
                <a:noFill/>
              </a:ln>
            </p:spPr>
            <p:txBody>
              <a:bodyPr wrap="none" lIns="0" tIns="0" rIns="0" bIns="0" anchor="t" anchorCtr="0">
                <a:spAutoFit/>
              </a:bodyPr>
              <a:lstStyle/>
              <a:p>
                <a:pPr algn="l"/>
                <a:r>
                  <a:rPr lang="zh-CN" sz="940" dirty="0">
                    <a:solidFill>
                      <a:srgbClr val="FFFFFF">
                        <a:alphaMod val="90000"/>
                      </a:srgbClr>
                    </a:solidFill>
                    <a:latin typeface="+mn-lt"/>
                    <a:ea typeface="+mn-ea"/>
                    <a:cs typeface="+mn-cs"/>
                  </a:rPr>
                  <a:t>第61-90天​</a:t>
                </a:r>
              </a:p>
            </p:txBody>
          </p:sp>
          <p:sp>
            <p:nvSpPr>
              <p:cNvPr id="54" name="Line 54"/>
              <p:cNvSpPr/>
              <p:nvPr/>
            </p:nvSpPr>
            <p:spPr>
              <a:xfrm>
                <a:off x="9410700" y="1962150"/>
                <a:ext cx="9525" cy="1085850"/>
              </a:xfrm>
              <a:custGeom>
                <a:avLst/>
                <a:gdLst/>
                <a:ahLst/>
                <a:cxnLst/>
                <a:rect l="l" t="t" r="r" b="b"/>
                <a:pathLst>
                  <a:path w="9525" h="1085850">
                    <a:moveTo>
                      <a:pt x="0" y="0"/>
                    </a:moveTo>
                    <a:lnTo>
                      <a:pt x="0" y="1085850"/>
                    </a:lnTo>
                  </a:path>
                </a:pathLst>
              </a:custGeom>
              <a:noFill/>
              <a:ln w="9525">
                <a:solidFill>
                  <a:srgbClr val="FFFFFF">
                    <a:alpha val="45000"/>
                  </a:srgbClr>
                </a:solidFill>
              </a:ln>
            </p:spPr>
          </p:sp>
          <p:sp>
            <p:nvSpPr>
              <p:cNvPr id="55" name="TextBox 55"/>
              <p:cNvSpPr txBox="1"/>
              <p:nvPr/>
            </p:nvSpPr>
            <p:spPr>
              <a:xfrm>
                <a:off x="9575292" y="1949768"/>
                <a:ext cx="74066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启动执行</a:t>
                </a:r>
              </a:p>
            </p:txBody>
          </p:sp>
          <p:sp>
            <p:nvSpPr>
              <p:cNvPr id="56" name="Ellipse 56"/>
              <p:cNvSpPr/>
              <p:nvPr/>
            </p:nvSpPr>
            <p:spPr>
              <a:xfrm>
                <a:off x="9563100" y="2266950"/>
                <a:ext cx="38100" cy="38100"/>
              </a:xfrm>
              <a:prstGeom prst="ellipse">
                <a:avLst/>
              </a:prstGeom>
              <a:solidFill>
                <a:srgbClr val="FFFFFF"/>
              </a:solidFill>
              <a:ln>
                <a:noFill/>
              </a:ln>
            </p:spPr>
          </p:sp>
          <p:sp>
            <p:nvSpPr>
              <p:cNvPr id="57" name="TextBox 57"/>
              <p:cNvSpPr txBox="1"/>
              <p:nvPr/>
            </p:nvSpPr>
            <p:spPr>
              <a:xfrm>
                <a:off x="9672638" y="2226945"/>
                <a:ext cx="736473"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按作战图行动</a:t>
                </a:r>
              </a:p>
            </p:txBody>
          </p:sp>
          <p:sp>
            <p:nvSpPr>
              <p:cNvPr id="58" name="Ellipse 58"/>
              <p:cNvSpPr/>
              <p:nvPr/>
            </p:nvSpPr>
            <p:spPr>
              <a:xfrm>
                <a:off x="9563100" y="2447925"/>
                <a:ext cx="38100" cy="38100"/>
              </a:xfrm>
              <a:prstGeom prst="ellipse">
                <a:avLst/>
              </a:prstGeom>
              <a:solidFill>
                <a:srgbClr val="FFFFFF"/>
              </a:solidFill>
              <a:ln>
                <a:noFill/>
              </a:ln>
            </p:spPr>
          </p:sp>
          <p:sp>
            <p:nvSpPr>
              <p:cNvPr id="59" name="TextBox 59"/>
              <p:cNvSpPr txBox="1"/>
              <p:nvPr/>
            </p:nvSpPr>
            <p:spPr>
              <a:xfrm>
                <a:off x="9672638" y="2407920"/>
                <a:ext cx="1475537"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（高层拜访/新产品导入）​</a:t>
                </a:r>
              </a:p>
            </p:txBody>
          </p:sp>
          <p:sp>
            <p:nvSpPr>
              <p:cNvPr id="60" name="Ellipse 60"/>
              <p:cNvSpPr/>
              <p:nvPr/>
            </p:nvSpPr>
            <p:spPr>
              <a:xfrm>
                <a:off x="9563100" y="2628900"/>
                <a:ext cx="38100" cy="38100"/>
              </a:xfrm>
              <a:prstGeom prst="ellipse">
                <a:avLst/>
              </a:prstGeom>
              <a:solidFill>
                <a:srgbClr val="FFFFFF"/>
              </a:solidFill>
              <a:ln>
                <a:noFill/>
              </a:ln>
            </p:spPr>
          </p:sp>
          <p:sp>
            <p:nvSpPr>
              <p:cNvPr id="61" name="TextBox 61"/>
              <p:cNvSpPr txBox="1"/>
              <p:nvPr/>
            </p:nvSpPr>
            <p:spPr>
              <a:xfrm>
                <a:off x="9672638" y="2588895"/>
                <a:ext cx="978789"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建立流失预警机制</a:t>
                </a:r>
              </a:p>
            </p:txBody>
          </p:sp>
          <p:sp>
            <p:nvSpPr>
              <p:cNvPr id="62" name="Ellipse 62"/>
              <p:cNvSpPr/>
              <p:nvPr/>
            </p:nvSpPr>
            <p:spPr>
              <a:xfrm>
                <a:off x="9563100" y="2809875"/>
                <a:ext cx="38100" cy="38100"/>
              </a:xfrm>
              <a:prstGeom prst="ellipse">
                <a:avLst/>
              </a:prstGeom>
              <a:solidFill>
                <a:srgbClr val="FFFFFF"/>
              </a:solidFill>
              <a:ln>
                <a:noFill/>
              </a:ln>
            </p:spPr>
          </p:sp>
          <p:sp>
            <p:nvSpPr>
              <p:cNvPr id="63" name="TextBox 63"/>
              <p:cNvSpPr txBox="1"/>
              <p:nvPr/>
            </p:nvSpPr>
            <p:spPr>
              <a:xfrm>
                <a:off x="9672638" y="2769870"/>
                <a:ext cx="978789"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首次月度例会复盘</a:t>
                </a:r>
              </a:p>
            </p:txBody>
          </p:sp>
          <p:sp>
            <p:nvSpPr>
              <p:cNvPr id="64" name="Line 64"/>
              <p:cNvSpPr/>
              <p:nvPr/>
            </p:nvSpPr>
            <p:spPr>
              <a:xfrm>
                <a:off x="8191500" y="3124200"/>
                <a:ext cx="3619500" cy="9525"/>
              </a:xfrm>
              <a:custGeom>
                <a:avLst/>
                <a:gdLst/>
                <a:ahLst/>
                <a:cxnLst/>
                <a:rect l="l" t="t" r="r" b="b"/>
                <a:pathLst>
                  <a:path w="3619500" h="9525">
                    <a:moveTo>
                      <a:pt x="0" y="0"/>
                    </a:moveTo>
                    <a:lnTo>
                      <a:pt x="3619500" y="0"/>
                    </a:lnTo>
                  </a:path>
                </a:pathLst>
              </a:custGeom>
              <a:noFill/>
              <a:ln w="9525">
                <a:solidFill>
                  <a:srgbClr val="FFFFFF">
                    <a:alpha val="40000"/>
                  </a:srgbClr>
                </a:solidFill>
              </a:ln>
            </p:spPr>
          </p:sp>
          <p:grpSp>
            <p:nvGrpSpPr>
              <p:cNvPr id="68" name="Group 68"/>
              <p:cNvGrpSpPr/>
              <p:nvPr/>
            </p:nvGrpSpPr>
            <p:grpSpPr>
              <a:xfrm>
                <a:off x="8458116" y="3241675"/>
                <a:ext cx="168358" cy="168359"/>
                <a:chOff x="8458116" y="3241675"/>
                <a:chExt cx="168358" cy="168359"/>
              </a:xfrm>
            </p:grpSpPr>
            <p:sp>
              <p:nvSpPr>
                <p:cNvPr id="65" name="Freeform 65"/>
                <p:cNvSpPr/>
                <p:nvPr/>
              </p:nvSpPr>
              <p:spPr>
                <a:xfrm>
                  <a:off x="8461375" y="3241675"/>
                  <a:ext cx="165099" cy="165099"/>
                </a:xfrm>
                <a:custGeom>
                  <a:avLst/>
                  <a:gdLst/>
                  <a:ahLst/>
                  <a:cxnLst/>
                  <a:rect l="l" t="t" r="r" b="b"/>
                  <a:pathLst>
                    <a:path w="165099" h="165099">
                      <a:moveTo>
                        <a:pt x="0" y="92868"/>
                      </a:moveTo>
                      <a:cubicBezTo>
                        <a:pt x="37872" y="97369"/>
                        <a:pt x="67730" y="127228"/>
                        <a:pt x="72231" y="165099"/>
                      </a:cubicBezTo>
                      <a:cubicBezTo>
                        <a:pt x="90774" y="154409"/>
                        <a:pt x="102481" y="134899"/>
                        <a:pt x="103187" y="113506"/>
                      </a:cubicBezTo>
                      <a:cubicBezTo>
                        <a:pt x="138619" y="101041"/>
                        <a:pt x="163055" y="68461"/>
                        <a:pt x="165099" y="30956"/>
                      </a:cubicBezTo>
                      <a:cubicBezTo>
                        <a:pt x="165099" y="13860"/>
                        <a:pt x="151240" y="0"/>
                        <a:pt x="134143" y="0"/>
                      </a:cubicBezTo>
                      <a:cubicBezTo>
                        <a:pt x="96638" y="2045"/>
                        <a:pt x="64058" y="26480"/>
                        <a:pt x="51594" y="61912"/>
                      </a:cubicBezTo>
                      <a:cubicBezTo>
                        <a:pt x="30201" y="62619"/>
                        <a:pt x="10691" y="74325"/>
                        <a:pt x="0" y="92868"/>
                      </a:cubicBezTo>
                    </a:path>
                  </a:pathLst>
                </a:custGeom>
                <a:noFill/>
                <a:ln w="20637">
                  <a:solidFill>
                    <a:srgbClr val="FFFFFF"/>
                  </a:solidFill>
                </a:ln>
              </p:spPr>
            </p:sp>
            <p:sp>
              <p:nvSpPr>
                <p:cNvPr id="66" name="Freeform 66"/>
                <p:cNvSpPr/>
                <p:nvPr/>
              </p:nvSpPr>
              <p:spPr>
                <a:xfrm>
                  <a:off x="8458116" y="3344862"/>
                  <a:ext cx="65172" cy="65172"/>
                </a:xfrm>
                <a:custGeom>
                  <a:avLst/>
                  <a:gdLst/>
                  <a:ahLst/>
                  <a:cxnLst/>
                  <a:rect l="l" t="t" r="r" b="b"/>
                  <a:pathLst>
                    <a:path w="65172" h="65172">
                      <a:moveTo>
                        <a:pt x="34215" y="0"/>
                      </a:moveTo>
                      <a:cubicBezTo>
                        <a:pt x="12246" y="12403"/>
                        <a:pt x="0" y="36895"/>
                        <a:pt x="3259" y="61912"/>
                      </a:cubicBezTo>
                      <a:cubicBezTo>
                        <a:pt x="28276" y="65172"/>
                        <a:pt x="52769" y="52925"/>
                        <a:pt x="65172" y="30956"/>
                      </a:cubicBezTo>
                    </a:path>
                  </a:pathLst>
                </a:custGeom>
                <a:noFill/>
                <a:ln w="20637">
                  <a:solidFill>
                    <a:srgbClr val="FFFFFF"/>
                  </a:solidFill>
                </a:ln>
              </p:spPr>
            </p:sp>
            <p:sp>
              <p:nvSpPr>
                <p:cNvPr id="67" name="Freeform 67"/>
                <p:cNvSpPr/>
                <p:nvPr/>
              </p:nvSpPr>
              <p:spPr>
                <a:xfrm>
                  <a:off x="8564562" y="3282950"/>
                  <a:ext cx="20637" cy="20637"/>
                </a:xfrm>
                <a:custGeom>
                  <a:avLst/>
                  <a:gdLst/>
                  <a:ahLst/>
                  <a:cxnLst/>
                  <a:rect l="l" t="t" r="r" b="b"/>
                  <a:pathLst>
                    <a:path w="20637" h="20637">
                      <a:moveTo>
                        <a:pt x="0" y="10319"/>
                      </a:moveTo>
                      <a:cubicBezTo>
                        <a:pt x="0" y="16018"/>
                        <a:pt x="4620" y="20637"/>
                        <a:pt x="10319" y="20637"/>
                      </a:cubicBezTo>
                      <a:cubicBezTo>
                        <a:pt x="16018" y="20637"/>
                        <a:pt x="20637" y="16018"/>
                        <a:pt x="20637" y="10319"/>
                      </a:cubicBezTo>
                      <a:cubicBezTo>
                        <a:pt x="20637" y="4620"/>
                        <a:pt x="16018" y="0"/>
                        <a:pt x="10319" y="0"/>
                      </a:cubicBezTo>
                      <a:cubicBezTo>
                        <a:pt x="4620" y="0"/>
                        <a:pt x="0" y="4620"/>
                        <a:pt x="0" y="10319"/>
                      </a:cubicBezTo>
                    </a:path>
                  </a:pathLst>
                </a:custGeom>
                <a:noFill/>
                <a:ln w="20637">
                  <a:solidFill>
                    <a:srgbClr val="FFFFFF"/>
                  </a:solidFill>
                </a:ln>
              </p:spPr>
            </p:sp>
          </p:grpSp>
          <p:sp>
            <p:nvSpPr>
              <p:cNvPr id="69" name="TextBox 69"/>
              <p:cNvSpPr txBox="1"/>
              <p:nvPr/>
            </p:nvSpPr>
            <p:spPr>
              <a:xfrm>
                <a:off x="8777288" y="3232547"/>
                <a:ext cx="642239" cy="183356"/>
              </a:xfrm>
              <a:prstGeom prst="rect">
                <a:avLst/>
              </a:prstGeom>
              <a:noFill/>
              <a:ln>
                <a:noFill/>
              </a:ln>
            </p:spPr>
            <p:txBody>
              <a:bodyPr wrap="none" lIns="0" tIns="0" rIns="0" bIns="0" anchor="t" anchorCtr="0">
                <a:spAutoFit/>
              </a:bodyPr>
              <a:lstStyle/>
              <a:p>
                <a:pPr algn="l"/>
                <a:r>
                  <a:rPr lang="zh-CN" sz="940" b="1" dirty="0">
                    <a:solidFill>
                      <a:srgbClr val="FFFFFF"/>
                    </a:solidFill>
                    <a:latin typeface="+mn-lt"/>
                    <a:ea typeface="+mn-ea"/>
                    <a:cs typeface="+mn-cs"/>
                  </a:rPr>
                  <a:t>预期成果：</a:t>
                </a:r>
              </a:p>
            </p:txBody>
          </p:sp>
          <p:sp>
            <p:nvSpPr>
              <p:cNvPr id="70" name="TextBox 70"/>
              <p:cNvSpPr txBox="1"/>
              <p:nvPr/>
            </p:nvSpPr>
            <p:spPr>
              <a:xfrm>
                <a:off x="8777288" y="3402568"/>
                <a:ext cx="992505" cy="340519"/>
              </a:xfrm>
              <a:prstGeom prst="rect">
                <a:avLst/>
              </a:prstGeom>
              <a:noFill/>
              <a:ln>
                <a:noFill/>
              </a:ln>
            </p:spPr>
            <p:txBody>
              <a:bodyPr wrap="none" lIns="0" tIns="0" rIns="0" bIns="0" anchor="t" anchorCtr="0">
                <a:spAutoFit/>
              </a:bodyPr>
              <a:lstStyle/>
              <a:p>
                <a:pPr algn="l">
                  <a:lnSpc>
                    <a:spcPts val="1350"/>
                  </a:lnSpc>
                </a:pPr>
                <a:r>
                  <a:rPr lang="zh-CN" sz="860" dirty="0">
                    <a:solidFill>
                      <a:srgbClr val="FFFFFF"/>
                    </a:solidFill>
                    <a:latin typeface="+mn-lt"/>
                    <a:ea typeface="+mn-ea"/>
                    <a:cs typeface="+mn-cs"/>
                  </a:rPr>
                  <a:t>体系开始运转，</a:t>
                </a:r>
                <a:br/>
                <a:r>
                  <a:rPr lang="zh-CN" sz="860" dirty="0">
                    <a:solidFill>
                      <a:srgbClr val="FFFFFF"/>
                    </a:solidFill>
                    <a:latin typeface="+mn-lt"/>
                    <a:ea typeface="+mn-ea"/>
                    <a:cs typeface="+mn-cs"/>
                  </a:rPr>
                  <a:t>风险可控，机会可见</a:t>
                </a:r>
              </a:p>
            </p:txBody>
          </p:sp>
        </p:grpSp>
      </p:grpSp>
      <p:grpSp>
        <p:nvGrpSpPr>
          <p:cNvPr id="111" name="results"/>
          <p:cNvGrpSpPr/>
          <p:nvPr/>
        </p:nvGrpSpPr>
        <p:grpSpPr>
          <a:xfrm>
            <a:off x="374142" y="4810125"/>
            <a:ext cx="11341608" cy="1057370"/>
            <a:chOff x="374142" y="4810125"/>
            <a:chExt cx="11341608" cy="1057370"/>
          </a:xfrm>
        </p:grpSpPr>
        <p:sp>
          <p:nvSpPr>
            <p:cNvPr id="73" name="TextBox 73"/>
            <p:cNvSpPr txBox="1"/>
            <p:nvPr/>
          </p:nvSpPr>
          <p:spPr>
            <a:xfrm>
              <a:off x="374142" y="5045392"/>
              <a:ext cx="825103" cy="530733"/>
            </a:xfrm>
            <a:prstGeom prst="rect">
              <a:avLst/>
            </a:prstGeom>
            <a:noFill/>
            <a:ln>
              <a:noFill/>
            </a:ln>
          </p:spPr>
          <p:txBody>
            <a:bodyPr wrap="none" lIns="0" tIns="0" rIns="0" bIns="0" anchor="t" anchorCtr="0">
              <a:spAutoFit/>
            </a:bodyPr>
            <a:lstStyle/>
            <a:p>
              <a:pPr algn="l">
                <a:lnSpc>
                  <a:spcPts val="2100"/>
                </a:lnSpc>
              </a:pPr>
              <a:r>
                <a:rPr lang="zh-CN" sz="1350" b="1" dirty="0">
                  <a:solidFill>
                    <a:srgbClr val="1A1A1A"/>
                  </a:solidFill>
                  <a:latin typeface="+mn-lt"/>
                  <a:ea typeface="+mn-ea"/>
                  <a:cs typeface="+mn-cs"/>
                </a:rPr>
                <a:t>90天后的​</a:t>
              </a:r>
              <a:br/>
              <a:r>
                <a:rPr lang="zh-CN" sz="1350" b="1" dirty="0">
                  <a:solidFill>
                    <a:srgbClr val="1A1A1A"/>
                  </a:solidFill>
                  <a:latin typeface="+mn-lt"/>
                  <a:ea typeface="+mn-ea"/>
                  <a:cs typeface="+mn-cs"/>
                </a:rPr>
                <a:t>预期成果</a:t>
              </a:r>
            </a:p>
          </p:txBody>
        </p:sp>
        <p:sp>
          <p:nvSpPr>
            <p:cNvPr id="74" name="Freeform 74"/>
            <p:cNvSpPr/>
            <p:nvPr/>
          </p:nvSpPr>
          <p:spPr>
            <a:xfrm rot="5400000">
              <a:off x="1219200" y="5048250"/>
              <a:ext cx="247650" cy="247650"/>
            </a:xfrm>
            <a:prstGeom prst="triangle">
              <a:avLst/>
            </a:prstGeom>
            <a:solidFill>
              <a:srgbClr val="C97263"/>
            </a:solidFill>
            <a:ln>
              <a:noFill/>
            </a:ln>
          </p:spPr>
        </p:sp>
        <p:grpSp>
          <p:nvGrpSpPr>
            <p:cNvPr id="84" name="metric-1"/>
            <p:cNvGrpSpPr/>
            <p:nvPr/>
          </p:nvGrpSpPr>
          <p:grpSpPr>
            <a:xfrm>
              <a:off x="1714500" y="4810125"/>
              <a:ext cx="2400300" cy="1057370"/>
              <a:chOff x="1714500" y="4810125"/>
              <a:chExt cx="2400300" cy="1057370"/>
            </a:xfrm>
          </p:grpSpPr>
          <p:sp>
            <p:nvSpPr>
              <p:cNvPr id="75" name="Rectangle 75"/>
              <p:cNvSpPr/>
              <p:nvPr/>
            </p:nvSpPr>
            <p:spPr>
              <a:xfrm>
                <a:off x="1714500" y="4810125"/>
                <a:ext cx="2400300" cy="1047750"/>
              </a:xfrm>
              <a:prstGeom prst="roundRect">
                <a:avLst>
                  <a:gd name="adj" fmla="val 5455"/>
                </a:avLst>
              </a:prstGeom>
              <a:solidFill>
                <a:srgbClr val="FFFFFF"/>
              </a:solidFill>
              <a:ln w="11430">
                <a:solidFill>
                  <a:srgbClr val="C97263"/>
                </a:solidFill>
              </a:ln>
            </p:spPr>
          </p:sp>
          <p:sp>
            <p:nvSpPr>
              <p:cNvPr id="76" name="Ellipse 76"/>
              <p:cNvSpPr/>
              <p:nvPr/>
            </p:nvSpPr>
            <p:spPr>
              <a:xfrm>
                <a:off x="1962150" y="5105400"/>
                <a:ext cx="457200" cy="457200"/>
              </a:xfrm>
              <a:prstGeom prst="ellipse">
                <a:avLst/>
              </a:prstGeom>
              <a:solidFill>
                <a:srgbClr val="F6EEDF"/>
              </a:solidFill>
              <a:ln>
                <a:noFill/>
              </a:ln>
            </p:spPr>
          </p:sp>
          <p:grpSp>
            <p:nvGrpSpPr>
              <p:cNvPr id="81" name="Group 81"/>
              <p:cNvGrpSpPr/>
              <p:nvPr/>
            </p:nvGrpSpPr>
            <p:grpSpPr>
              <a:xfrm>
                <a:off x="2105025" y="5248275"/>
                <a:ext cx="171450" cy="171450"/>
                <a:chOff x="2105025" y="5248275"/>
                <a:chExt cx="171450" cy="171450"/>
              </a:xfrm>
            </p:grpSpPr>
            <p:sp>
              <p:nvSpPr>
                <p:cNvPr id="77" name="Freeform 77"/>
                <p:cNvSpPr/>
                <p:nvPr/>
              </p:nvSpPr>
              <p:spPr>
                <a:xfrm>
                  <a:off x="2124075" y="52482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C97263"/>
                  </a:solidFill>
                </a:ln>
              </p:spPr>
            </p:sp>
            <p:sp>
              <p:nvSpPr>
                <p:cNvPr id="78" name="Freeform 78"/>
                <p:cNvSpPr/>
                <p:nvPr/>
              </p:nvSpPr>
              <p:spPr>
                <a:xfrm>
                  <a:off x="2105025" y="53625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C97263"/>
                  </a:solidFill>
                </a:ln>
              </p:spPr>
            </p:sp>
            <p:sp>
              <p:nvSpPr>
                <p:cNvPr id="79" name="Freeform 79"/>
                <p:cNvSpPr/>
                <p:nvPr/>
              </p:nvSpPr>
              <p:spPr>
                <a:xfrm>
                  <a:off x="2228850" y="5249513"/>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rgbClr val="C97263"/>
                  </a:solidFill>
                </a:ln>
              </p:spPr>
            </p:sp>
            <p:sp>
              <p:nvSpPr>
                <p:cNvPr id="80" name="Freeform 80"/>
                <p:cNvSpPr/>
                <p:nvPr/>
              </p:nvSpPr>
              <p:spPr>
                <a:xfrm>
                  <a:off x="2247900" y="5364004"/>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rgbClr val="C97263"/>
                  </a:solidFill>
                </a:ln>
              </p:spPr>
            </p:sp>
          </p:grpSp>
          <p:sp>
            <p:nvSpPr>
              <p:cNvPr id="82" name="TextBox 82"/>
              <p:cNvSpPr txBox="1"/>
              <p:nvPr/>
            </p:nvSpPr>
            <p:spPr>
              <a:xfrm>
                <a:off x="2566416" y="5144452"/>
                <a:ext cx="1199157" cy="205359"/>
              </a:xfrm>
              <a:prstGeom prst="rect">
                <a:avLst/>
              </a:prstGeom>
              <a:noFill/>
              <a:ln>
                <a:noFill/>
              </a:ln>
            </p:spPr>
            <p:txBody>
              <a:bodyPr wrap="none" lIns="0" tIns="0" rIns="0" bIns="0" anchor="t" anchorCtr="0">
                <a:spAutoFit/>
              </a:bodyPr>
              <a:lstStyle/>
              <a:p>
                <a:pPr algn="l"/>
                <a:r>
                  <a:rPr lang="zh-CN" sz="1050" b="1" dirty="0">
                    <a:solidFill>
                      <a:srgbClr val="2B2B2B"/>
                    </a:solidFill>
                    <a:latin typeface="+mn-lt"/>
                    <a:ea typeface="+mn-ea"/>
                    <a:cs typeface="+mn-cs"/>
                  </a:rPr>
                  <a:t>S/A级拜访覆盖率​</a:t>
                </a:r>
              </a:p>
            </p:txBody>
          </p:sp>
          <p:sp>
            <p:nvSpPr>
              <p:cNvPr id="83" name="TextBox 83"/>
              <p:cNvSpPr txBox="1"/>
              <p:nvPr/>
            </p:nvSpPr>
            <p:spPr>
              <a:xfrm>
                <a:off x="2560701" y="5442109"/>
                <a:ext cx="761646" cy="425386"/>
              </a:xfrm>
              <a:prstGeom prst="rect">
                <a:avLst/>
              </a:prstGeom>
              <a:noFill/>
              <a:ln>
                <a:noFill/>
              </a:ln>
            </p:spPr>
            <p:txBody>
              <a:bodyPr wrap="none" lIns="0" tIns="0" rIns="0" bIns="0" anchor="t" anchorCtr="0">
                <a:spAutoFit/>
              </a:bodyPr>
              <a:lstStyle/>
              <a:p>
                <a:pPr algn="l"/>
                <a:r>
                  <a:rPr lang="zh-CN" sz="2180" b="1" dirty="0">
                    <a:solidFill>
                      <a:srgbClr val="C97263"/>
                    </a:solidFill>
                    <a:latin typeface="+mn-lt"/>
                    <a:ea typeface="+mn-ea"/>
                    <a:cs typeface="+mn-cs"/>
                  </a:rPr>
                  <a:t>100%</a:t>
                </a:r>
              </a:p>
            </p:txBody>
          </p:sp>
        </p:grpSp>
        <p:grpSp>
          <p:nvGrpSpPr>
            <p:cNvPr id="93" name="metric-2"/>
            <p:cNvGrpSpPr/>
            <p:nvPr/>
          </p:nvGrpSpPr>
          <p:grpSpPr>
            <a:xfrm>
              <a:off x="4248150" y="4810125"/>
              <a:ext cx="2400300" cy="1057370"/>
              <a:chOff x="4248150" y="4810125"/>
              <a:chExt cx="2400300" cy="1057370"/>
            </a:xfrm>
          </p:grpSpPr>
          <p:sp>
            <p:nvSpPr>
              <p:cNvPr id="85" name="Rectangle 85"/>
              <p:cNvSpPr/>
              <p:nvPr/>
            </p:nvSpPr>
            <p:spPr>
              <a:xfrm>
                <a:off x="4248150" y="4810125"/>
                <a:ext cx="2400300" cy="1047750"/>
              </a:xfrm>
              <a:prstGeom prst="roundRect">
                <a:avLst>
                  <a:gd name="adj" fmla="val 5455"/>
                </a:avLst>
              </a:prstGeom>
              <a:solidFill>
                <a:srgbClr val="FFFFFF"/>
              </a:solidFill>
              <a:ln w="11430">
                <a:solidFill>
                  <a:srgbClr val="C97263"/>
                </a:solidFill>
              </a:ln>
            </p:spPr>
          </p:sp>
          <p:sp>
            <p:nvSpPr>
              <p:cNvPr id="86" name="Ellipse 86"/>
              <p:cNvSpPr/>
              <p:nvPr/>
            </p:nvSpPr>
            <p:spPr>
              <a:xfrm>
                <a:off x="4495800" y="5105400"/>
                <a:ext cx="457200" cy="457200"/>
              </a:xfrm>
              <a:prstGeom prst="ellipse">
                <a:avLst/>
              </a:prstGeom>
              <a:solidFill>
                <a:srgbClr val="F6EEDF"/>
              </a:solidFill>
              <a:ln>
                <a:noFill/>
              </a:ln>
            </p:spPr>
          </p:sp>
          <p:grpSp>
            <p:nvGrpSpPr>
              <p:cNvPr id="90" name="Group 90"/>
              <p:cNvGrpSpPr/>
              <p:nvPr/>
            </p:nvGrpSpPr>
            <p:grpSpPr>
              <a:xfrm>
                <a:off x="4657725" y="5248275"/>
                <a:ext cx="133350" cy="171450"/>
                <a:chOff x="4657725" y="5248275"/>
                <a:chExt cx="133350" cy="171450"/>
              </a:xfrm>
            </p:grpSpPr>
            <p:sp>
              <p:nvSpPr>
                <p:cNvPr id="87" name="Freeform 87"/>
                <p:cNvSpPr/>
                <p:nvPr/>
              </p:nvSpPr>
              <p:spPr>
                <a:xfrm>
                  <a:off x="4657725" y="5267325"/>
                  <a:ext cx="133350" cy="152400"/>
                </a:xfrm>
                <a:custGeom>
                  <a:avLst/>
                  <a:gdLst/>
                  <a:ahLst/>
                  <a:cxnLst/>
                  <a:rect l="l" t="t" r="r" b="b"/>
                  <a:pathLst>
                    <a:path w="133350" h="152400">
                      <a:moveTo>
                        <a:pt x="38100" y="0"/>
                      </a:moveTo>
                      <a:lnTo>
                        <a:pt x="19050" y="0"/>
                      </a:lnTo>
                      <a:cubicBezTo>
                        <a:pt x="8529" y="0"/>
                        <a:pt x="0" y="8529"/>
                        <a:pt x="0" y="19050"/>
                      </a:cubicBezTo>
                      <a:lnTo>
                        <a:pt x="0" y="133350"/>
                      </a:lnTo>
                      <a:cubicBezTo>
                        <a:pt x="0" y="143871"/>
                        <a:pt x="8529" y="152400"/>
                        <a:pt x="19050" y="152400"/>
                      </a:cubicBezTo>
                      <a:lnTo>
                        <a:pt x="114300" y="152400"/>
                      </a:lnTo>
                      <a:cubicBezTo>
                        <a:pt x="124821" y="152400"/>
                        <a:pt x="133350" y="143871"/>
                        <a:pt x="133350" y="133350"/>
                      </a:cubicBezTo>
                      <a:lnTo>
                        <a:pt x="133350" y="19050"/>
                      </a:lnTo>
                      <a:cubicBezTo>
                        <a:pt x="133350" y="8529"/>
                        <a:pt x="124821" y="0"/>
                        <a:pt x="114300" y="0"/>
                      </a:cubicBezTo>
                      <a:lnTo>
                        <a:pt x="95250" y="0"/>
                      </a:lnTo>
                    </a:path>
                  </a:pathLst>
                </a:custGeom>
                <a:noFill/>
                <a:ln w="19050">
                  <a:solidFill>
                    <a:srgbClr val="C97263"/>
                  </a:solidFill>
                </a:ln>
              </p:spPr>
            </p:sp>
            <p:sp>
              <p:nvSpPr>
                <p:cNvPr id="88" name="Freeform 88"/>
                <p:cNvSpPr/>
                <p:nvPr/>
              </p:nvSpPr>
              <p:spPr>
                <a:xfrm>
                  <a:off x="4695825" y="5248275"/>
                  <a:ext cx="57150" cy="38100"/>
                </a:xfrm>
                <a:custGeom>
                  <a:avLst/>
                  <a:gdLst/>
                  <a:ahLst/>
                  <a:cxnLst/>
                  <a:rect l="l" t="t" r="r" b="b"/>
                  <a:pathLst>
                    <a:path w="57150" h="38100">
                      <a:moveTo>
                        <a:pt x="0" y="19050"/>
                      </a:moveTo>
                      <a:cubicBezTo>
                        <a:pt x="0" y="8529"/>
                        <a:pt x="8529" y="0"/>
                        <a:pt x="19050" y="0"/>
                      </a:cubicBezTo>
                      <a:lnTo>
                        <a:pt x="38100" y="0"/>
                      </a:lnTo>
                      <a:cubicBezTo>
                        <a:pt x="48621" y="0"/>
                        <a:pt x="57150" y="8529"/>
                        <a:pt x="57150" y="19050"/>
                      </a:cubicBezTo>
                      <a:cubicBezTo>
                        <a:pt x="57150" y="29571"/>
                        <a:pt x="48621" y="38100"/>
                        <a:pt x="38100" y="38100"/>
                      </a:cubicBezTo>
                      <a:lnTo>
                        <a:pt x="19050" y="38100"/>
                      </a:lnTo>
                      <a:cubicBezTo>
                        <a:pt x="8529" y="38100"/>
                        <a:pt x="0" y="29571"/>
                        <a:pt x="0" y="19050"/>
                      </a:cubicBezTo>
                    </a:path>
                  </a:pathLst>
                </a:custGeom>
                <a:noFill/>
                <a:ln w="19050">
                  <a:solidFill>
                    <a:srgbClr val="C97263"/>
                  </a:solidFill>
                </a:ln>
              </p:spPr>
            </p:sp>
            <p:sp>
              <p:nvSpPr>
                <p:cNvPr id="89" name="Freeform 89"/>
                <p:cNvSpPr/>
                <p:nvPr/>
              </p:nvSpPr>
              <p:spPr>
                <a:xfrm>
                  <a:off x="4695825" y="5334000"/>
                  <a:ext cx="57150" cy="38100"/>
                </a:xfrm>
                <a:custGeom>
                  <a:avLst/>
                  <a:gdLst/>
                  <a:ahLst/>
                  <a:cxnLst/>
                  <a:rect l="l" t="t" r="r" b="b"/>
                  <a:pathLst>
                    <a:path w="57150" h="38100">
                      <a:moveTo>
                        <a:pt x="0" y="19050"/>
                      </a:moveTo>
                      <a:lnTo>
                        <a:pt x="19050" y="38100"/>
                      </a:lnTo>
                      <a:lnTo>
                        <a:pt x="57150" y="0"/>
                      </a:lnTo>
                    </a:path>
                  </a:pathLst>
                </a:custGeom>
                <a:noFill/>
                <a:ln w="19050">
                  <a:solidFill>
                    <a:srgbClr val="C97263"/>
                  </a:solidFill>
                </a:ln>
              </p:spPr>
            </p:sp>
          </p:grpSp>
          <p:sp>
            <p:nvSpPr>
              <p:cNvPr id="91" name="TextBox 91"/>
              <p:cNvSpPr txBox="1"/>
              <p:nvPr/>
            </p:nvSpPr>
            <p:spPr>
              <a:xfrm>
                <a:off x="5100066" y="5144452"/>
                <a:ext cx="1000125" cy="205359"/>
              </a:xfrm>
              <a:prstGeom prst="rect">
                <a:avLst/>
              </a:prstGeom>
              <a:noFill/>
              <a:ln>
                <a:noFill/>
              </a:ln>
            </p:spPr>
            <p:txBody>
              <a:bodyPr wrap="none" lIns="0" tIns="0" rIns="0" bIns="0" anchor="t" anchorCtr="0">
                <a:spAutoFit/>
              </a:bodyPr>
              <a:lstStyle/>
              <a:p>
                <a:pPr algn="l"/>
                <a:r>
                  <a:rPr lang="zh-CN" sz="1050" b="1" dirty="0">
                    <a:solidFill>
                      <a:srgbClr val="2B2B2B"/>
                    </a:solidFill>
                    <a:latin typeface="+mn-lt"/>
                    <a:ea typeface="+mn-ea"/>
                    <a:cs typeface="+mn-cs"/>
                  </a:rPr>
                  <a:t>客户信息完整率</a:t>
                </a:r>
              </a:p>
            </p:txBody>
          </p:sp>
          <p:sp>
            <p:nvSpPr>
              <p:cNvPr id="92" name="TextBox 92"/>
              <p:cNvSpPr txBox="1"/>
              <p:nvPr/>
            </p:nvSpPr>
            <p:spPr>
              <a:xfrm>
                <a:off x="5094351" y="5442109"/>
                <a:ext cx="761646" cy="425386"/>
              </a:xfrm>
              <a:prstGeom prst="rect">
                <a:avLst/>
              </a:prstGeom>
              <a:noFill/>
              <a:ln>
                <a:noFill/>
              </a:ln>
            </p:spPr>
            <p:txBody>
              <a:bodyPr wrap="none" lIns="0" tIns="0" rIns="0" bIns="0" anchor="t" anchorCtr="0">
                <a:spAutoFit/>
              </a:bodyPr>
              <a:lstStyle/>
              <a:p>
                <a:pPr algn="l"/>
                <a:r>
                  <a:rPr lang="zh-CN" sz="2180" b="1" dirty="0">
                    <a:solidFill>
                      <a:srgbClr val="C97263"/>
                    </a:solidFill>
                    <a:latin typeface="+mn-lt"/>
                    <a:ea typeface="+mn-ea"/>
                    <a:cs typeface="+mn-cs"/>
                  </a:rPr>
                  <a:t>≥90%</a:t>
                </a:r>
              </a:p>
            </p:txBody>
          </p:sp>
        </p:grpSp>
        <p:grpSp>
          <p:nvGrpSpPr>
            <p:cNvPr id="104" name="metric-3"/>
            <p:cNvGrpSpPr/>
            <p:nvPr/>
          </p:nvGrpSpPr>
          <p:grpSpPr>
            <a:xfrm>
              <a:off x="6781800" y="4810125"/>
              <a:ext cx="2400300" cy="1057370"/>
              <a:chOff x="6781800" y="4810125"/>
              <a:chExt cx="2400300" cy="1057370"/>
            </a:xfrm>
          </p:grpSpPr>
          <p:sp>
            <p:nvSpPr>
              <p:cNvPr id="94" name="Rectangle 94"/>
              <p:cNvSpPr/>
              <p:nvPr/>
            </p:nvSpPr>
            <p:spPr>
              <a:xfrm>
                <a:off x="6781800" y="4810125"/>
                <a:ext cx="2400300" cy="1047750"/>
              </a:xfrm>
              <a:prstGeom prst="roundRect">
                <a:avLst>
                  <a:gd name="adj" fmla="val 5455"/>
                </a:avLst>
              </a:prstGeom>
              <a:solidFill>
                <a:srgbClr val="FFFFFF"/>
              </a:solidFill>
              <a:ln w="11430">
                <a:solidFill>
                  <a:srgbClr val="C97263"/>
                </a:solidFill>
              </a:ln>
            </p:spPr>
          </p:sp>
          <p:sp>
            <p:nvSpPr>
              <p:cNvPr id="95" name="Ellipse 95"/>
              <p:cNvSpPr/>
              <p:nvPr/>
            </p:nvSpPr>
            <p:spPr>
              <a:xfrm>
                <a:off x="7029450" y="5105400"/>
                <a:ext cx="457200" cy="457200"/>
              </a:xfrm>
              <a:prstGeom prst="ellipse">
                <a:avLst/>
              </a:prstGeom>
              <a:solidFill>
                <a:srgbClr val="F6EEDF"/>
              </a:solidFill>
              <a:ln>
                <a:noFill/>
              </a:ln>
            </p:spPr>
          </p:sp>
          <p:grpSp>
            <p:nvGrpSpPr>
              <p:cNvPr id="101" name="Group 101"/>
              <p:cNvGrpSpPr/>
              <p:nvPr/>
            </p:nvGrpSpPr>
            <p:grpSpPr>
              <a:xfrm>
                <a:off x="7191375" y="5248275"/>
                <a:ext cx="133350" cy="171450"/>
                <a:chOff x="7191375" y="5248275"/>
                <a:chExt cx="133350" cy="171450"/>
              </a:xfrm>
            </p:grpSpPr>
            <p:sp>
              <p:nvSpPr>
                <p:cNvPr id="96" name="Freeform 96"/>
                <p:cNvSpPr/>
                <p:nvPr/>
              </p:nvSpPr>
              <p:spPr>
                <a:xfrm>
                  <a:off x="7277100" y="52482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C97263"/>
                  </a:solidFill>
                </a:ln>
              </p:spPr>
            </p:sp>
            <p:sp>
              <p:nvSpPr>
                <p:cNvPr id="97" name="Freeform 97"/>
                <p:cNvSpPr/>
                <p:nvPr/>
              </p:nvSpPr>
              <p:spPr>
                <a:xfrm>
                  <a:off x="7191375" y="52482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C97263"/>
                  </a:solidFill>
                </a:ln>
              </p:spPr>
            </p:sp>
            <p:sp>
              <p:nvSpPr>
                <p:cNvPr id="98" name="Freeform 98"/>
                <p:cNvSpPr/>
                <p:nvPr/>
              </p:nvSpPr>
              <p:spPr>
                <a:xfrm>
                  <a:off x="7229475" y="5305425"/>
                  <a:ext cx="9525" cy="9525"/>
                </a:xfrm>
                <a:custGeom>
                  <a:avLst/>
                  <a:gdLst/>
                  <a:ahLst/>
                  <a:cxnLst/>
                  <a:rect l="l" t="t" r="r" b="b"/>
                  <a:pathLst>
                    <a:path w="9525" h="9525">
                      <a:moveTo>
                        <a:pt x="0" y="0"/>
                      </a:moveTo>
                      <a:lnTo>
                        <a:pt x="9525" y="0"/>
                      </a:lnTo>
                    </a:path>
                  </a:pathLst>
                </a:custGeom>
                <a:noFill/>
                <a:ln w="19050">
                  <a:solidFill>
                    <a:srgbClr val="C97263"/>
                  </a:solidFill>
                </a:ln>
              </p:spPr>
            </p:sp>
            <p:sp>
              <p:nvSpPr>
                <p:cNvPr id="99" name="Freeform 99"/>
                <p:cNvSpPr/>
                <p:nvPr/>
              </p:nvSpPr>
              <p:spPr>
                <a:xfrm>
                  <a:off x="7229475" y="5343525"/>
                  <a:ext cx="57150" cy="9525"/>
                </a:xfrm>
                <a:custGeom>
                  <a:avLst/>
                  <a:gdLst/>
                  <a:ahLst/>
                  <a:cxnLst/>
                  <a:rect l="l" t="t" r="r" b="b"/>
                  <a:pathLst>
                    <a:path w="57150" h="9525">
                      <a:moveTo>
                        <a:pt x="0" y="0"/>
                      </a:moveTo>
                      <a:lnTo>
                        <a:pt x="57150" y="0"/>
                      </a:lnTo>
                    </a:path>
                  </a:pathLst>
                </a:custGeom>
                <a:noFill/>
                <a:ln w="19050">
                  <a:solidFill>
                    <a:srgbClr val="C97263"/>
                  </a:solidFill>
                </a:ln>
              </p:spPr>
            </p:sp>
            <p:sp>
              <p:nvSpPr>
                <p:cNvPr id="100" name="Freeform 100"/>
                <p:cNvSpPr/>
                <p:nvPr/>
              </p:nvSpPr>
              <p:spPr>
                <a:xfrm>
                  <a:off x="7229475" y="5381625"/>
                  <a:ext cx="57150" cy="9525"/>
                </a:xfrm>
                <a:custGeom>
                  <a:avLst/>
                  <a:gdLst/>
                  <a:ahLst/>
                  <a:cxnLst/>
                  <a:rect l="l" t="t" r="r" b="b"/>
                  <a:pathLst>
                    <a:path w="57150" h="9525">
                      <a:moveTo>
                        <a:pt x="0" y="0"/>
                      </a:moveTo>
                      <a:lnTo>
                        <a:pt x="57150" y="0"/>
                      </a:lnTo>
                    </a:path>
                  </a:pathLst>
                </a:custGeom>
                <a:noFill/>
                <a:ln w="19050">
                  <a:solidFill>
                    <a:srgbClr val="C97263"/>
                  </a:solidFill>
                </a:ln>
              </p:spPr>
            </p:sp>
          </p:grpSp>
          <p:sp>
            <p:nvSpPr>
              <p:cNvPr id="102" name="TextBox 102"/>
              <p:cNvSpPr txBox="1"/>
              <p:nvPr/>
            </p:nvSpPr>
            <p:spPr>
              <a:xfrm>
                <a:off x="7633716" y="5144452"/>
                <a:ext cx="1141476" cy="205359"/>
              </a:xfrm>
              <a:prstGeom prst="rect">
                <a:avLst/>
              </a:prstGeom>
              <a:noFill/>
              <a:ln>
                <a:noFill/>
              </a:ln>
            </p:spPr>
            <p:txBody>
              <a:bodyPr wrap="none" lIns="0" tIns="0" rIns="0" bIns="0" anchor="t" anchorCtr="0">
                <a:spAutoFit/>
              </a:bodyPr>
              <a:lstStyle/>
              <a:p>
                <a:pPr algn="l"/>
                <a:r>
                  <a:rPr lang="zh-CN" sz="1050" b="1" dirty="0">
                    <a:solidFill>
                      <a:srgbClr val="2B2B2B"/>
                    </a:solidFill>
                    <a:latin typeface="+mn-lt"/>
                    <a:ea typeface="+mn-ea"/>
                    <a:cs typeface="+mn-cs"/>
                  </a:rPr>
                  <a:t>年度作战图覆盖率</a:t>
                </a:r>
              </a:p>
            </p:txBody>
          </p:sp>
          <p:sp>
            <p:nvSpPr>
              <p:cNvPr id="103" name="TextBox 103"/>
              <p:cNvSpPr txBox="1"/>
              <p:nvPr/>
            </p:nvSpPr>
            <p:spPr>
              <a:xfrm>
                <a:off x="7628001" y="5442109"/>
                <a:ext cx="761646" cy="425386"/>
              </a:xfrm>
              <a:prstGeom prst="rect">
                <a:avLst/>
              </a:prstGeom>
              <a:noFill/>
              <a:ln>
                <a:noFill/>
              </a:ln>
            </p:spPr>
            <p:txBody>
              <a:bodyPr wrap="none" lIns="0" tIns="0" rIns="0" bIns="0" anchor="t" anchorCtr="0">
                <a:spAutoFit/>
              </a:bodyPr>
              <a:lstStyle/>
              <a:p>
                <a:pPr algn="l"/>
                <a:r>
                  <a:rPr lang="zh-CN" sz="2180" b="1" dirty="0">
                    <a:solidFill>
                      <a:srgbClr val="C97263"/>
                    </a:solidFill>
                    <a:latin typeface="+mn-lt"/>
                    <a:ea typeface="+mn-ea"/>
                    <a:cs typeface="+mn-cs"/>
                  </a:rPr>
                  <a:t>100%</a:t>
                </a:r>
              </a:p>
            </p:txBody>
          </p:sp>
        </p:grpSp>
        <p:grpSp>
          <p:nvGrpSpPr>
            <p:cNvPr id="110" name="metric-4"/>
            <p:cNvGrpSpPr/>
            <p:nvPr/>
          </p:nvGrpSpPr>
          <p:grpSpPr>
            <a:xfrm>
              <a:off x="9315450" y="4810125"/>
              <a:ext cx="2400300" cy="1057370"/>
              <a:chOff x="9315450" y="4810125"/>
              <a:chExt cx="2400300" cy="1057370"/>
            </a:xfrm>
          </p:grpSpPr>
          <p:sp>
            <p:nvSpPr>
              <p:cNvPr id="105" name="Rectangle 105"/>
              <p:cNvSpPr/>
              <p:nvPr/>
            </p:nvSpPr>
            <p:spPr>
              <a:xfrm>
                <a:off x="9315450" y="4810125"/>
                <a:ext cx="2400300" cy="1047750"/>
              </a:xfrm>
              <a:prstGeom prst="roundRect">
                <a:avLst>
                  <a:gd name="adj" fmla="val 5455"/>
                </a:avLst>
              </a:prstGeom>
              <a:solidFill>
                <a:srgbClr val="FFFFFF"/>
              </a:solidFill>
              <a:ln w="11430">
                <a:solidFill>
                  <a:srgbClr val="C97263"/>
                </a:solidFill>
              </a:ln>
            </p:spPr>
          </p:sp>
          <p:sp>
            <p:nvSpPr>
              <p:cNvPr id="106" name="Ellipse 106"/>
              <p:cNvSpPr/>
              <p:nvPr/>
            </p:nvSpPr>
            <p:spPr>
              <a:xfrm>
                <a:off x="9563100" y="5105400"/>
                <a:ext cx="457200" cy="457200"/>
              </a:xfrm>
              <a:prstGeom prst="ellipse">
                <a:avLst/>
              </a:prstGeom>
              <a:solidFill>
                <a:srgbClr val="F6EEDF"/>
              </a:solidFill>
              <a:ln>
                <a:noFill/>
              </a:ln>
            </p:spPr>
          </p:sp>
          <p:sp>
            <p:nvSpPr>
              <p:cNvPr id="107" name="Freeform 107"/>
              <p:cNvSpPr/>
              <p:nvPr/>
            </p:nvSpPr>
            <p:spPr>
              <a:xfrm>
                <a:off x="9702008" y="5248275"/>
                <a:ext cx="179383" cy="171450"/>
              </a:xfrm>
              <a:custGeom>
                <a:avLst/>
                <a:gdLst/>
                <a:ahLst/>
                <a:cxnLst/>
                <a:rect l="l" t="t" r="r" b="b"/>
                <a:pathLst>
                  <a:path w="179383" h="171450">
                    <a:moveTo>
                      <a:pt x="89692" y="0"/>
                    </a:moveTo>
                    <a:cubicBezTo>
                      <a:pt x="111940" y="19684"/>
                      <a:pt x="140979" y="29933"/>
                      <a:pt x="170654" y="28575"/>
                    </a:cubicBezTo>
                    <a:cubicBezTo>
                      <a:pt x="179383" y="58269"/>
                      <a:pt x="175697" y="90235"/>
                      <a:pt x="160438" y="117163"/>
                    </a:cubicBezTo>
                    <a:cubicBezTo>
                      <a:pt x="145178" y="144091"/>
                      <a:pt x="119651" y="163679"/>
                      <a:pt x="89692" y="171450"/>
                    </a:cubicBezTo>
                    <a:cubicBezTo>
                      <a:pt x="59732" y="163679"/>
                      <a:pt x="34205" y="144091"/>
                      <a:pt x="18946" y="117163"/>
                    </a:cubicBezTo>
                    <a:cubicBezTo>
                      <a:pt x="3686" y="90235"/>
                      <a:pt x="0" y="58269"/>
                      <a:pt x="8729" y="28575"/>
                    </a:cubicBezTo>
                    <a:cubicBezTo>
                      <a:pt x="38405" y="29933"/>
                      <a:pt x="67443" y="19684"/>
                      <a:pt x="89692" y="0"/>
                    </a:cubicBezTo>
                  </a:path>
                </a:pathLst>
              </a:custGeom>
              <a:noFill/>
              <a:ln w="19050">
                <a:solidFill>
                  <a:srgbClr val="C97263"/>
                </a:solidFill>
              </a:ln>
            </p:spPr>
          </p:sp>
          <p:sp>
            <p:nvSpPr>
              <p:cNvPr id="108" name="TextBox 108"/>
              <p:cNvSpPr txBox="1"/>
              <p:nvPr/>
            </p:nvSpPr>
            <p:spPr>
              <a:xfrm>
                <a:off x="10167366" y="5144452"/>
                <a:ext cx="858774" cy="205359"/>
              </a:xfrm>
              <a:prstGeom prst="rect">
                <a:avLst/>
              </a:prstGeom>
              <a:noFill/>
              <a:ln>
                <a:noFill/>
              </a:ln>
            </p:spPr>
            <p:txBody>
              <a:bodyPr wrap="none" lIns="0" tIns="0" rIns="0" bIns="0" anchor="t" anchorCtr="0">
                <a:spAutoFit/>
              </a:bodyPr>
              <a:lstStyle/>
              <a:p>
                <a:pPr algn="l"/>
                <a:r>
                  <a:rPr lang="zh-CN" sz="1050" b="1" dirty="0">
                    <a:solidFill>
                      <a:srgbClr val="2B2B2B"/>
                    </a:solidFill>
                    <a:latin typeface="+mn-lt"/>
                    <a:ea typeface="+mn-ea"/>
                    <a:cs typeface="+mn-cs"/>
                  </a:rPr>
                  <a:t>流失预警机制</a:t>
                </a:r>
              </a:p>
            </p:txBody>
          </p:sp>
          <p:sp>
            <p:nvSpPr>
              <p:cNvPr id="109" name="TextBox 109"/>
              <p:cNvSpPr txBox="1"/>
              <p:nvPr/>
            </p:nvSpPr>
            <p:spPr>
              <a:xfrm>
                <a:off x="10161651" y="5442109"/>
                <a:ext cx="902513" cy="425386"/>
              </a:xfrm>
              <a:prstGeom prst="rect">
                <a:avLst/>
              </a:prstGeom>
              <a:noFill/>
              <a:ln>
                <a:noFill/>
              </a:ln>
            </p:spPr>
            <p:txBody>
              <a:bodyPr wrap="none" lIns="0" tIns="0" rIns="0" bIns="0" anchor="t" anchorCtr="0">
                <a:spAutoFit/>
              </a:bodyPr>
              <a:lstStyle/>
              <a:p>
                <a:pPr algn="l"/>
                <a:r>
                  <a:rPr lang="zh-CN" sz="2180" b="1" dirty="0">
                    <a:solidFill>
                      <a:srgbClr val="C97263"/>
                    </a:solidFill>
                    <a:latin typeface="+mn-lt"/>
                    <a:ea typeface="+mn-ea"/>
                    <a:cs typeface="+mn-cs"/>
                  </a:rPr>
                  <a:t>运行中</a:t>
                </a:r>
              </a:p>
            </p:txBody>
          </p:sp>
        </p:grpSp>
      </p:grpSp>
      <p:sp>
        <p:nvSpPr>
          <p:cNvPr id="112" name="page-num"/>
          <p:cNvSpPr txBox="1"/>
          <p:nvPr/>
        </p:nvSpPr>
        <p:spPr>
          <a:xfrm>
            <a:off x="11582971" y="6532721"/>
            <a:ext cx="235268" cy="278702"/>
          </a:xfrm>
          <a:prstGeom prst="rect">
            <a:avLst/>
          </a:prstGeom>
          <a:noFill/>
          <a:ln>
            <a:noFill/>
          </a:ln>
        </p:spPr>
        <p:txBody>
          <a:bodyPr wrap="none" lIns="0" tIns="0" rIns="0" bIns="0" anchor="t" anchorCtr="0">
            <a:spAutoFit/>
          </a:bodyPr>
          <a:lstStyle/>
          <a:p>
            <a:pPr algn="r"/>
            <a:r>
              <a:rPr lang="zh-CN" sz="1420" b="1" dirty="0">
                <a:solidFill>
                  <a:srgbClr val="3F3F3F"/>
                </a:solidFill>
                <a:latin typeface="+mn-lt"/>
                <a:ea typeface="+mn-ea"/>
                <a:cs typeface="+mn-cs"/>
              </a:rPr>
              <a:t>16</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page-header"/>
          <p:cNvGrpSpPr/>
          <p:nvPr/>
        </p:nvGrpSpPr>
        <p:grpSpPr>
          <a:xfrm>
            <a:off x="381000" y="190500"/>
            <a:ext cx="9550973" cy="573596"/>
            <a:chOff x="381000" y="190500"/>
            <a:chExt cx="9550973" cy="573596"/>
          </a:xfrm>
        </p:grpSpPr>
        <p:sp>
          <p:nvSpPr>
            <p:cNvPr id="2" name="Rectangle 2"/>
            <p:cNvSpPr/>
            <p:nvPr/>
          </p:nvSpPr>
          <p:spPr>
            <a:xfrm>
              <a:off x="381000" y="190500"/>
              <a:ext cx="76200" cy="400050"/>
            </a:xfrm>
            <a:prstGeom prst="rect">
              <a:avLst/>
            </a:prstGeom>
            <a:solidFill>
              <a:srgbClr val="8B321E"/>
            </a:solidFill>
            <a:ln>
              <a:noFill/>
            </a:ln>
          </p:spPr>
        </p:sp>
        <p:sp>
          <p:nvSpPr>
            <p:cNvPr id="3" name="TextBox 3"/>
            <p:cNvSpPr txBox="1"/>
            <p:nvPr/>
          </p:nvSpPr>
          <p:spPr>
            <a:xfrm>
              <a:off x="576072" y="206693"/>
              <a:ext cx="9355901" cy="557403"/>
            </a:xfrm>
            <a:prstGeom prst="rect">
              <a:avLst/>
            </a:prstGeom>
            <a:noFill/>
            <a:ln>
              <a:noFill/>
            </a:ln>
          </p:spPr>
          <p:txBody>
            <a:bodyPr wrap="none" lIns="0" tIns="0" rIns="0" bIns="0" anchor="t" anchorCtr="0">
              <a:spAutoFit/>
            </a:bodyPr>
            <a:lstStyle/>
            <a:p>
              <a:pPr algn="l"/>
              <a:r>
                <a:rPr lang="zh-CN" sz="2850" b="1" dirty="0">
                  <a:solidFill>
                    <a:srgbClr val="1A1A1A"/>
                  </a:solidFill>
                  <a:latin typeface="+mn-lt"/>
                  <a:ea typeface="+mn-ea"/>
                  <a:cs typeface="+mn-cs"/>
                </a:rPr>
                <a:t>结论与建议：大客户管理的本质是"经营"，不是"销售"</a:t>
              </a:r>
            </a:p>
          </p:txBody>
        </p:sp>
      </p:grpSp>
      <p:grpSp>
        <p:nvGrpSpPr>
          <p:cNvPr id="8" name="core-statement"/>
          <p:cNvGrpSpPr/>
          <p:nvPr/>
        </p:nvGrpSpPr>
        <p:grpSpPr>
          <a:xfrm>
            <a:off x="381000" y="800100"/>
            <a:ext cx="7409237" cy="633317"/>
            <a:chOff x="381000" y="800100"/>
            <a:chExt cx="7409237" cy="633317"/>
          </a:xfrm>
        </p:grpSpPr>
        <p:sp>
          <p:nvSpPr>
            <p:cNvPr id="5" name="Freeform 5"/>
            <p:cNvSpPr/>
            <p:nvPr/>
          </p:nvSpPr>
          <p:spPr>
            <a:xfrm>
              <a:off x="381000" y="800100"/>
              <a:ext cx="1447800" cy="476250"/>
            </a:xfrm>
            <a:prstGeom prst="homePlate">
              <a:avLst/>
            </a:prstGeom>
            <a:solidFill>
              <a:srgbClr val="8B321E"/>
            </a:solidFill>
            <a:ln>
              <a:noFill/>
            </a:ln>
          </p:spPr>
        </p:sp>
        <p:sp>
          <p:nvSpPr>
            <p:cNvPr id="6" name="TextBox 6"/>
            <p:cNvSpPr txBox="1"/>
            <p:nvPr/>
          </p:nvSpPr>
          <p:spPr>
            <a:xfrm>
              <a:off x="640931" y="971312"/>
              <a:ext cx="680288" cy="242030"/>
            </a:xfrm>
            <a:prstGeom prst="rect">
              <a:avLst/>
            </a:prstGeom>
            <a:noFill/>
            <a:ln>
              <a:noFill/>
            </a:ln>
          </p:spPr>
          <p:txBody>
            <a:bodyPr wrap="none" lIns="0" tIns="0" rIns="0" bIns="0" anchor="t" anchorCtr="0">
              <a:spAutoFit/>
            </a:bodyPr>
            <a:lstStyle/>
            <a:p>
              <a:pPr algn="ctr"/>
              <a:r>
                <a:rPr lang="zh-CN" sz="1240" b="1" dirty="0">
                  <a:solidFill>
                    <a:srgbClr val="FFFFFF"/>
                  </a:solidFill>
                  <a:latin typeface="+mn-lt"/>
                  <a:ea typeface="+mn-ea"/>
                  <a:cs typeface="+mn-cs"/>
                </a:rPr>
                <a:t>核心观点</a:t>
              </a:r>
            </a:p>
          </p:txBody>
        </p:sp>
        <p:sp>
          <p:nvSpPr>
            <p:cNvPr id="7" name="TextBox 7"/>
            <p:cNvSpPr txBox="1"/>
            <p:nvPr/>
          </p:nvSpPr>
          <p:spPr>
            <a:xfrm>
              <a:off x="2039874" y="839629"/>
              <a:ext cx="5750363" cy="593788"/>
            </a:xfrm>
            <a:prstGeom prst="rect">
              <a:avLst/>
            </a:prstGeom>
            <a:noFill/>
            <a:ln>
              <a:noFill/>
            </a:ln>
          </p:spPr>
          <p:txBody>
            <a:bodyPr wrap="none" lIns="0" tIns="0" rIns="0" bIns="0" anchor="t" anchorCtr="0">
              <a:spAutoFit/>
            </a:bodyPr>
            <a:lstStyle/>
            <a:p>
              <a:pPr algn="l">
                <a:lnSpc>
                  <a:spcPts val="2250"/>
                </a:lnSpc>
              </a:pPr>
              <a:r>
                <a:rPr lang="zh-CN" sz="1580" b="1" dirty="0">
                  <a:solidFill>
                    <a:srgbClr val="8B321E"/>
                  </a:solidFill>
                  <a:latin typeface="+mn-lt"/>
                  <a:ea typeface="+mn-ea"/>
                  <a:cs typeface="+mn-cs"/>
                </a:rPr>
                <a:t>大客户管理的最高境界，是让客户把你当战略伙伴而非供应商，​</a:t>
              </a:r>
              <a:br/>
              <a:r>
                <a:rPr lang="zh-CN" sz="1580" b="1" dirty="0">
                  <a:solidFill>
                    <a:srgbClr val="8B321E"/>
                  </a:solidFill>
                  <a:latin typeface="+mn-lt"/>
                  <a:ea typeface="+mn-ea"/>
                  <a:cs typeface="+mn-cs"/>
                </a:rPr>
                <a:t>这需要系统性的经营思维和持续的价值创造。</a:t>
              </a:r>
            </a:p>
          </p:txBody>
        </p:sp>
      </p:grpSp>
      <p:grpSp>
        <p:nvGrpSpPr>
          <p:cNvPr id="58" name="recommendations"/>
          <p:cNvGrpSpPr/>
          <p:nvPr/>
        </p:nvGrpSpPr>
        <p:grpSpPr>
          <a:xfrm>
            <a:off x="381000" y="1695450"/>
            <a:ext cx="5524500" cy="4591050"/>
            <a:chOff x="381000" y="1695450"/>
            <a:chExt cx="5524500" cy="4591050"/>
          </a:xfrm>
        </p:grpSpPr>
        <p:grpSp>
          <p:nvGrpSpPr>
            <p:cNvPr id="26" name="rec-1"/>
            <p:cNvGrpSpPr/>
            <p:nvPr/>
          </p:nvGrpSpPr>
          <p:grpSpPr>
            <a:xfrm>
              <a:off x="381000" y="1695450"/>
              <a:ext cx="5524500" cy="1428750"/>
              <a:chOff x="381000" y="1695450"/>
              <a:chExt cx="5524500" cy="1428750"/>
            </a:xfrm>
          </p:grpSpPr>
          <p:sp>
            <p:nvSpPr>
              <p:cNvPr id="9" name="Rectangle 9"/>
              <p:cNvSpPr/>
              <p:nvPr/>
            </p:nvSpPr>
            <p:spPr>
              <a:xfrm>
                <a:off x="381000" y="1695450"/>
                <a:ext cx="5524500" cy="1428750"/>
              </a:xfrm>
              <a:prstGeom prst="roundRect">
                <a:avLst>
                  <a:gd name="adj" fmla="val 2667"/>
                </a:avLst>
              </a:prstGeom>
              <a:solidFill>
                <a:srgbClr val="8B321E"/>
              </a:solidFill>
              <a:ln>
                <a:noFill/>
              </a:ln>
            </p:spPr>
          </p:sp>
          <p:sp>
            <p:nvSpPr>
              <p:cNvPr id="10" name="Ellipse 10"/>
              <p:cNvSpPr/>
              <p:nvPr/>
            </p:nvSpPr>
            <p:spPr>
              <a:xfrm>
                <a:off x="571500" y="2143125"/>
                <a:ext cx="533400" cy="533400"/>
              </a:xfrm>
              <a:prstGeom prst="ellipse">
                <a:avLst/>
              </a:prstGeom>
              <a:noFill/>
              <a:ln w="19050">
                <a:solidFill>
                  <a:srgbClr val="FFFFFF"/>
                </a:solidFill>
              </a:ln>
            </p:spPr>
          </p:sp>
          <p:grpSp>
            <p:nvGrpSpPr>
              <p:cNvPr id="17" name="Group 17"/>
              <p:cNvGrpSpPr/>
              <p:nvPr/>
            </p:nvGrpSpPr>
            <p:grpSpPr>
              <a:xfrm>
                <a:off x="750491" y="2332434"/>
                <a:ext cx="170258" cy="149622"/>
                <a:chOff x="750491" y="2332434"/>
                <a:chExt cx="170258" cy="149622"/>
              </a:xfrm>
            </p:grpSpPr>
            <p:sp>
              <p:nvSpPr>
                <p:cNvPr id="11" name="Freeform 11"/>
                <p:cNvSpPr/>
                <p:nvPr/>
              </p:nvSpPr>
              <p:spPr>
                <a:xfrm>
                  <a:off x="750491" y="2332434"/>
                  <a:ext cx="41275" cy="25797"/>
                </a:xfrm>
                <a:custGeom>
                  <a:avLst/>
                  <a:gdLst/>
                  <a:ahLst/>
                  <a:cxnLst/>
                  <a:rect l="l" t="t" r="r" b="b"/>
                  <a:pathLst>
                    <a:path w="41275" h="25797">
                      <a:moveTo>
                        <a:pt x="0" y="10319"/>
                      </a:moveTo>
                      <a:lnTo>
                        <a:pt x="15478" y="25797"/>
                      </a:lnTo>
                      <a:lnTo>
                        <a:pt x="41275" y="0"/>
                      </a:lnTo>
                    </a:path>
                  </a:pathLst>
                </a:custGeom>
                <a:noFill/>
                <a:ln w="20637">
                  <a:solidFill>
                    <a:srgbClr val="FFFFFF"/>
                  </a:solidFill>
                </a:ln>
              </p:spPr>
            </p:sp>
            <p:sp>
              <p:nvSpPr>
                <p:cNvPr id="12" name="Freeform 12"/>
                <p:cNvSpPr/>
                <p:nvPr/>
              </p:nvSpPr>
              <p:spPr>
                <a:xfrm>
                  <a:off x="750491" y="2394347"/>
                  <a:ext cx="41275" cy="25797"/>
                </a:xfrm>
                <a:custGeom>
                  <a:avLst/>
                  <a:gdLst/>
                  <a:ahLst/>
                  <a:cxnLst/>
                  <a:rect l="l" t="t" r="r" b="b"/>
                  <a:pathLst>
                    <a:path w="41275" h="25797">
                      <a:moveTo>
                        <a:pt x="0" y="10319"/>
                      </a:moveTo>
                      <a:lnTo>
                        <a:pt x="15478" y="25797"/>
                      </a:lnTo>
                      <a:lnTo>
                        <a:pt x="41275" y="0"/>
                      </a:lnTo>
                    </a:path>
                  </a:pathLst>
                </a:custGeom>
                <a:noFill/>
                <a:ln w="20637">
                  <a:solidFill>
                    <a:srgbClr val="FFFFFF"/>
                  </a:solidFill>
                </a:ln>
              </p:spPr>
            </p:sp>
            <p:sp>
              <p:nvSpPr>
                <p:cNvPr id="13" name="Freeform 13"/>
                <p:cNvSpPr/>
                <p:nvPr/>
              </p:nvSpPr>
              <p:spPr>
                <a:xfrm>
                  <a:off x="750491" y="2456259"/>
                  <a:ext cx="41275" cy="25797"/>
                </a:xfrm>
                <a:custGeom>
                  <a:avLst/>
                  <a:gdLst/>
                  <a:ahLst/>
                  <a:cxnLst/>
                  <a:rect l="l" t="t" r="r" b="b"/>
                  <a:pathLst>
                    <a:path w="41275" h="25797">
                      <a:moveTo>
                        <a:pt x="0" y="10319"/>
                      </a:moveTo>
                      <a:lnTo>
                        <a:pt x="15478" y="25797"/>
                      </a:lnTo>
                      <a:lnTo>
                        <a:pt x="41275" y="0"/>
                      </a:lnTo>
                    </a:path>
                  </a:pathLst>
                </a:custGeom>
                <a:noFill/>
                <a:ln w="20637">
                  <a:solidFill>
                    <a:srgbClr val="FFFFFF"/>
                  </a:solidFill>
                </a:ln>
              </p:spPr>
            </p:sp>
            <p:sp>
              <p:nvSpPr>
                <p:cNvPr id="14" name="Freeform 14"/>
                <p:cNvSpPr/>
                <p:nvPr/>
              </p:nvSpPr>
              <p:spPr>
                <a:xfrm>
                  <a:off x="827881" y="2347912"/>
                  <a:ext cx="92868" cy="9525"/>
                </a:xfrm>
                <a:custGeom>
                  <a:avLst/>
                  <a:gdLst/>
                  <a:ahLst/>
                  <a:cxnLst/>
                  <a:rect l="l" t="t" r="r" b="b"/>
                  <a:pathLst>
                    <a:path w="92868" h="9525">
                      <a:moveTo>
                        <a:pt x="0" y="0"/>
                      </a:moveTo>
                      <a:lnTo>
                        <a:pt x="92868" y="0"/>
                      </a:lnTo>
                    </a:path>
                  </a:pathLst>
                </a:custGeom>
                <a:noFill/>
                <a:ln w="20637">
                  <a:solidFill>
                    <a:srgbClr val="FFFFFF"/>
                  </a:solidFill>
                </a:ln>
              </p:spPr>
            </p:sp>
            <p:sp>
              <p:nvSpPr>
                <p:cNvPr id="15" name="Freeform 15"/>
                <p:cNvSpPr/>
                <p:nvPr/>
              </p:nvSpPr>
              <p:spPr>
                <a:xfrm>
                  <a:off x="827881" y="2409825"/>
                  <a:ext cx="92868" cy="9525"/>
                </a:xfrm>
                <a:custGeom>
                  <a:avLst/>
                  <a:gdLst/>
                  <a:ahLst/>
                  <a:cxnLst/>
                  <a:rect l="l" t="t" r="r" b="b"/>
                  <a:pathLst>
                    <a:path w="92868" h="9525">
                      <a:moveTo>
                        <a:pt x="0" y="0"/>
                      </a:moveTo>
                      <a:lnTo>
                        <a:pt x="92868" y="0"/>
                      </a:lnTo>
                    </a:path>
                  </a:pathLst>
                </a:custGeom>
                <a:noFill/>
                <a:ln w="20637">
                  <a:solidFill>
                    <a:srgbClr val="FFFFFF"/>
                  </a:solidFill>
                </a:ln>
              </p:spPr>
            </p:sp>
            <p:sp>
              <p:nvSpPr>
                <p:cNvPr id="16" name="Freeform 16"/>
                <p:cNvSpPr/>
                <p:nvPr/>
              </p:nvSpPr>
              <p:spPr>
                <a:xfrm>
                  <a:off x="827881" y="2471737"/>
                  <a:ext cx="92868" cy="9525"/>
                </a:xfrm>
                <a:custGeom>
                  <a:avLst/>
                  <a:gdLst/>
                  <a:ahLst/>
                  <a:cxnLst/>
                  <a:rect l="l" t="t" r="r" b="b"/>
                  <a:pathLst>
                    <a:path w="92868" h="9525">
                      <a:moveTo>
                        <a:pt x="0" y="0"/>
                      </a:moveTo>
                      <a:lnTo>
                        <a:pt x="92868" y="0"/>
                      </a:lnTo>
                    </a:path>
                  </a:pathLst>
                </a:custGeom>
                <a:noFill/>
                <a:ln w="20637">
                  <a:solidFill>
                    <a:srgbClr val="FFFFFF"/>
                  </a:solidFill>
                </a:ln>
              </p:spPr>
            </p:sp>
          </p:grpSp>
          <p:sp>
            <p:nvSpPr>
              <p:cNvPr id="18" name="TextBox 18"/>
              <p:cNvSpPr txBox="1"/>
              <p:nvPr/>
            </p:nvSpPr>
            <p:spPr>
              <a:xfrm>
                <a:off x="1245108" y="2274570"/>
                <a:ext cx="397551"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01</a:t>
                </a:r>
              </a:p>
            </p:txBody>
          </p:sp>
          <p:sp>
            <p:nvSpPr>
              <p:cNvPr id="19" name="Line 19"/>
              <p:cNvSpPr/>
              <p:nvPr/>
            </p:nvSpPr>
            <p:spPr>
              <a:xfrm>
                <a:off x="1714500" y="1885950"/>
                <a:ext cx="9525" cy="1047750"/>
              </a:xfrm>
              <a:custGeom>
                <a:avLst/>
                <a:gdLst/>
                <a:ahLst/>
                <a:cxnLst/>
                <a:rect l="l" t="t" r="r" b="b"/>
                <a:pathLst>
                  <a:path w="9525" h="1047750">
                    <a:moveTo>
                      <a:pt x="0" y="0"/>
                    </a:moveTo>
                    <a:lnTo>
                      <a:pt x="0" y="1047750"/>
                    </a:lnTo>
                  </a:path>
                </a:pathLst>
              </a:custGeom>
              <a:noFill/>
              <a:ln w="9525">
                <a:solidFill>
                  <a:srgbClr val="FFFFFF">
                    <a:alpha val="45000"/>
                  </a:srgbClr>
                </a:solidFill>
              </a:ln>
            </p:spPr>
          </p:sp>
          <p:sp>
            <p:nvSpPr>
              <p:cNvPr id="20" name="TextBox 20"/>
              <p:cNvSpPr txBox="1"/>
              <p:nvPr/>
            </p:nvSpPr>
            <p:spPr>
              <a:xfrm>
                <a:off x="1899094" y="2008108"/>
                <a:ext cx="1885721" cy="227362"/>
              </a:xfrm>
              <a:prstGeom prst="rect">
                <a:avLst/>
              </a:prstGeom>
              <a:noFill/>
              <a:ln>
                <a:noFill/>
              </a:ln>
            </p:spPr>
            <p:txBody>
              <a:bodyPr wrap="none" lIns="0" tIns="0" rIns="0" bIns="0" anchor="t" anchorCtr="0">
                <a:spAutoFit/>
              </a:bodyPr>
              <a:lstStyle/>
              <a:p>
                <a:pPr algn="l"/>
                <a:r>
                  <a:rPr lang="zh-CN" sz="1160" b="1" dirty="0">
                    <a:solidFill>
                      <a:srgbClr val="FFFFFF"/>
                    </a:solidFill>
                    <a:latin typeface="+mn-lt"/>
                    <a:ea typeface="+mn-ea"/>
                    <a:cs typeface="+mn-cs"/>
                  </a:rPr>
                  <a:t>建议一：建立客户分层体系</a:t>
                </a:r>
              </a:p>
            </p:txBody>
          </p:sp>
          <p:sp>
            <p:nvSpPr>
              <p:cNvPr id="21" name="TextBox 21"/>
              <p:cNvSpPr txBox="1"/>
              <p:nvPr/>
            </p:nvSpPr>
            <p:spPr>
              <a:xfrm>
                <a:off x="1900238" y="2307193"/>
                <a:ext cx="1620520" cy="378619"/>
              </a:xfrm>
              <a:prstGeom prst="rect">
                <a:avLst/>
              </a:prstGeom>
              <a:noFill/>
              <a:ln>
                <a:noFill/>
              </a:ln>
            </p:spPr>
            <p:txBody>
              <a:bodyPr wrap="none" lIns="0" tIns="0" rIns="0" bIns="0" anchor="t" anchorCtr="0">
                <a:spAutoFit/>
              </a:bodyPr>
              <a:lstStyle/>
              <a:p>
                <a:pPr algn="l">
                  <a:lnSpc>
                    <a:spcPts val="1650"/>
                  </a:lnSpc>
                </a:pPr>
                <a:r>
                  <a:rPr lang="zh-CN" sz="860" dirty="0">
                    <a:solidFill>
                      <a:srgbClr val="FFFFFF"/>
                    </a:solidFill>
                    <a:latin typeface="+mn-lt"/>
                    <a:ea typeface="+mn-ea"/>
                    <a:cs typeface="+mn-cs"/>
                  </a:rPr>
                  <a:t>用"当前+未来+战略"三维评估，​</a:t>
                </a:r>
                <a:br/>
                <a:r>
                  <a:rPr lang="zh-CN" sz="860" dirty="0">
                    <a:solidFill>
                      <a:srgbClr val="FFFFFF"/>
                    </a:solidFill>
                    <a:latin typeface="+mn-lt"/>
                    <a:ea typeface="+mn-ea"/>
                    <a:cs typeface="+mn-cs"/>
                  </a:rPr>
                  <a:t>严控S级数量，动态调整。</a:t>
                </a:r>
              </a:p>
            </p:txBody>
          </p:sp>
          <p:sp>
            <p:nvSpPr>
              <p:cNvPr id="22" name="Line 22"/>
              <p:cNvSpPr/>
              <p:nvPr/>
            </p:nvSpPr>
            <p:spPr>
              <a:xfrm>
                <a:off x="4210050" y="1885950"/>
                <a:ext cx="9525" cy="1047750"/>
              </a:xfrm>
              <a:custGeom>
                <a:avLst/>
                <a:gdLst/>
                <a:ahLst/>
                <a:cxnLst/>
                <a:rect l="l" t="t" r="r" b="b"/>
                <a:pathLst>
                  <a:path w="9525" h="1047750">
                    <a:moveTo>
                      <a:pt x="0" y="0"/>
                    </a:moveTo>
                    <a:lnTo>
                      <a:pt x="0" y="1047750"/>
                    </a:lnTo>
                  </a:path>
                </a:pathLst>
              </a:custGeom>
              <a:noFill/>
              <a:ln w="9525">
                <a:solidFill>
                  <a:srgbClr val="FFFFFF">
                    <a:alpha val="45000"/>
                  </a:srgbClr>
                </a:solidFill>
              </a:ln>
            </p:spPr>
          </p:sp>
          <p:sp>
            <p:nvSpPr>
              <p:cNvPr id="23" name="TextBox 23"/>
              <p:cNvSpPr txBox="1"/>
              <p:nvPr/>
            </p:nvSpPr>
            <p:spPr>
              <a:xfrm>
                <a:off x="4395788" y="2112645"/>
                <a:ext cx="61531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预期效果：</a:t>
                </a:r>
              </a:p>
            </p:txBody>
          </p:sp>
          <p:sp>
            <p:nvSpPr>
              <p:cNvPr id="24" name="TextBox 24"/>
              <p:cNvSpPr txBox="1"/>
              <p:nvPr/>
            </p:nvSpPr>
            <p:spPr>
              <a:xfrm>
                <a:off x="4395788" y="2341245"/>
                <a:ext cx="615315"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流失率降低</a:t>
                </a:r>
              </a:p>
            </p:txBody>
          </p:sp>
          <p:sp>
            <p:nvSpPr>
              <p:cNvPr id="25" name="TextBox 25"/>
              <p:cNvSpPr txBox="1"/>
              <p:nvPr/>
            </p:nvSpPr>
            <p:spPr>
              <a:xfrm>
                <a:off x="4388358" y="2617470"/>
                <a:ext cx="651982" cy="469392"/>
              </a:xfrm>
              <a:prstGeom prst="rect">
                <a:avLst/>
              </a:prstGeom>
              <a:noFill/>
              <a:ln>
                <a:noFill/>
              </a:ln>
            </p:spPr>
            <p:txBody>
              <a:bodyPr wrap="none" lIns="0" tIns="0" rIns="0" bIns="0" anchor="t" anchorCtr="0">
                <a:spAutoFit/>
              </a:bodyPr>
              <a:lstStyle/>
              <a:p>
                <a:pPr algn="l"/>
                <a:r>
                  <a:rPr lang="zh-CN" sz="2400" b="1" dirty="0">
                    <a:solidFill>
                      <a:srgbClr val="C97263"/>
                    </a:solidFill>
                    <a:latin typeface="+mn-lt"/>
                    <a:ea typeface="+mn-ea"/>
                    <a:cs typeface="+mn-cs"/>
                  </a:rPr>
                  <a:t>30%</a:t>
                </a:r>
              </a:p>
            </p:txBody>
          </p:sp>
        </p:grpSp>
        <p:grpSp>
          <p:nvGrpSpPr>
            <p:cNvPr id="41" name="rec-2"/>
            <p:cNvGrpSpPr/>
            <p:nvPr/>
          </p:nvGrpSpPr>
          <p:grpSpPr>
            <a:xfrm>
              <a:off x="381000" y="3276600"/>
              <a:ext cx="5524500" cy="1428750"/>
              <a:chOff x="381000" y="3276600"/>
              <a:chExt cx="5524500" cy="1428750"/>
            </a:xfrm>
          </p:grpSpPr>
          <p:sp>
            <p:nvSpPr>
              <p:cNvPr id="27" name="Rectangle 27"/>
              <p:cNvSpPr/>
              <p:nvPr/>
            </p:nvSpPr>
            <p:spPr>
              <a:xfrm>
                <a:off x="381000" y="3276600"/>
                <a:ext cx="5524500" cy="1428750"/>
              </a:xfrm>
              <a:prstGeom prst="roundRect">
                <a:avLst>
                  <a:gd name="adj" fmla="val 2667"/>
                </a:avLst>
              </a:prstGeom>
              <a:solidFill>
                <a:srgbClr val="55565A"/>
              </a:solidFill>
              <a:ln>
                <a:noFill/>
              </a:ln>
            </p:spPr>
          </p:sp>
          <p:sp>
            <p:nvSpPr>
              <p:cNvPr id="28" name="Ellipse 28"/>
              <p:cNvSpPr/>
              <p:nvPr/>
            </p:nvSpPr>
            <p:spPr>
              <a:xfrm>
                <a:off x="571500" y="3724275"/>
                <a:ext cx="533400" cy="533400"/>
              </a:xfrm>
              <a:prstGeom prst="ellipse">
                <a:avLst/>
              </a:prstGeom>
              <a:noFill/>
              <a:ln w="19050">
                <a:solidFill>
                  <a:srgbClr val="FFFFFF"/>
                </a:solidFill>
              </a:ln>
            </p:spPr>
          </p:sp>
          <p:grpSp>
            <p:nvGrpSpPr>
              <p:cNvPr id="32" name="Group 32"/>
              <p:cNvGrpSpPr/>
              <p:nvPr/>
            </p:nvGrpSpPr>
            <p:grpSpPr>
              <a:xfrm>
                <a:off x="745331" y="3908425"/>
                <a:ext cx="185737" cy="165099"/>
                <a:chOff x="745331" y="3908425"/>
                <a:chExt cx="185737" cy="165099"/>
              </a:xfrm>
            </p:grpSpPr>
            <p:sp>
              <p:nvSpPr>
                <p:cNvPr id="29" name="Freeform 29"/>
                <p:cNvSpPr/>
                <p:nvPr/>
              </p:nvSpPr>
              <p:spPr>
                <a:xfrm>
                  <a:off x="745331" y="3908425"/>
                  <a:ext cx="185737" cy="165099"/>
                </a:xfrm>
                <a:custGeom>
                  <a:avLst/>
                  <a:gdLst/>
                  <a:ahLst/>
                  <a:cxnLst/>
                  <a:rect l="l" t="t" r="r" b="b"/>
                  <a:pathLst>
                    <a:path w="185737" h="165099">
                      <a:moveTo>
                        <a:pt x="0" y="30956"/>
                      </a:moveTo>
                      <a:lnTo>
                        <a:pt x="61912" y="0"/>
                      </a:lnTo>
                      <a:lnTo>
                        <a:pt x="123825" y="30956"/>
                      </a:lnTo>
                      <a:lnTo>
                        <a:pt x="185737" y="0"/>
                      </a:lnTo>
                      <a:lnTo>
                        <a:pt x="185737" y="134143"/>
                      </a:lnTo>
                      <a:lnTo>
                        <a:pt x="123825" y="165099"/>
                      </a:lnTo>
                      <a:lnTo>
                        <a:pt x="61912" y="134143"/>
                      </a:lnTo>
                      <a:lnTo>
                        <a:pt x="0" y="165099"/>
                      </a:lnTo>
                      <a:lnTo>
                        <a:pt x="0" y="30956"/>
                      </a:lnTo>
                    </a:path>
                  </a:pathLst>
                </a:custGeom>
                <a:noFill/>
                <a:ln w="20637">
                  <a:solidFill>
                    <a:srgbClr val="FFFFFF"/>
                  </a:solidFill>
                </a:ln>
              </p:spPr>
            </p:sp>
            <p:sp>
              <p:nvSpPr>
                <p:cNvPr id="30" name="Freeform 30"/>
                <p:cNvSpPr/>
                <p:nvPr/>
              </p:nvSpPr>
              <p:spPr>
                <a:xfrm>
                  <a:off x="807243" y="3908425"/>
                  <a:ext cx="9525" cy="134143"/>
                </a:xfrm>
                <a:custGeom>
                  <a:avLst/>
                  <a:gdLst/>
                  <a:ahLst/>
                  <a:cxnLst/>
                  <a:rect l="l" t="t" r="r" b="b"/>
                  <a:pathLst>
                    <a:path w="9525" h="134143">
                      <a:moveTo>
                        <a:pt x="0" y="0"/>
                      </a:moveTo>
                      <a:lnTo>
                        <a:pt x="0" y="134143"/>
                      </a:lnTo>
                    </a:path>
                  </a:pathLst>
                </a:custGeom>
                <a:noFill/>
                <a:ln w="20637">
                  <a:solidFill>
                    <a:srgbClr val="FFFFFF"/>
                  </a:solidFill>
                </a:ln>
              </p:spPr>
            </p:sp>
            <p:sp>
              <p:nvSpPr>
                <p:cNvPr id="31" name="Freeform 31"/>
                <p:cNvSpPr/>
                <p:nvPr/>
              </p:nvSpPr>
              <p:spPr>
                <a:xfrm>
                  <a:off x="869156" y="3939381"/>
                  <a:ext cx="9525" cy="134143"/>
                </a:xfrm>
                <a:custGeom>
                  <a:avLst/>
                  <a:gdLst/>
                  <a:ahLst/>
                  <a:cxnLst/>
                  <a:rect l="l" t="t" r="r" b="b"/>
                  <a:pathLst>
                    <a:path w="9525" h="134143">
                      <a:moveTo>
                        <a:pt x="0" y="0"/>
                      </a:moveTo>
                      <a:lnTo>
                        <a:pt x="0" y="134143"/>
                      </a:lnTo>
                    </a:path>
                  </a:pathLst>
                </a:custGeom>
                <a:noFill/>
                <a:ln w="20637">
                  <a:solidFill>
                    <a:srgbClr val="FFFFFF"/>
                  </a:solidFill>
                </a:ln>
              </p:spPr>
            </p:sp>
          </p:grpSp>
          <p:sp>
            <p:nvSpPr>
              <p:cNvPr id="33" name="TextBox 33"/>
              <p:cNvSpPr txBox="1"/>
              <p:nvPr/>
            </p:nvSpPr>
            <p:spPr>
              <a:xfrm>
                <a:off x="1245108" y="3855720"/>
                <a:ext cx="397551"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02</a:t>
                </a:r>
              </a:p>
            </p:txBody>
          </p:sp>
          <p:sp>
            <p:nvSpPr>
              <p:cNvPr id="34" name="Line 34"/>
              <p:cNvSpPr/>
              <p:nvPr/>
            </p:nvSpPr>
            <p:spPr>
              <a:xfrm>
                <a:off x="1714500" y="3467100"/>
                <a:ext cx="9525" cy="1047750"/>
              </a:xfrm>
              <a:custGeom>
                <a:avLst/>
                <a:gdLst/>
                <a:ahLst/>
                <a:cxnLst/>
                <a:rect l="l" t="t" r="r" b="b"/>
                <a:pathLst>
                  <a:path w="9525" h="1047750">
                    <a:moveTo>
                      <a:pt x="0" y="0"/>
                    </a:moveTo>
                    <a:lnTo>
                      <a:pt x="0" y="1047750"/>
                    </a:lnTo>
                  </a:path>
                </a:pathLst>
              </a:custGeom>
              <a:noFill/>
              <a:ln w="9525">
                <a:solidFill>
                  <a:srgbClr val="FFFFFF">
                    <a:alpha val="45000"/>
                  </a:srgbClr>
                </a:solidFill>
              </a:ln>
            </p:spPr>
          </p:sp>
          <p:sp>
            <p:nvSpPr>
              <p:cNvPr id="35" name="TextBox 35"/>
              <p:cNvSpPr txBox="1"/>
              <p:nvPr/>
            </p:nvSpPr>
            <p:spPr>
              <a:xfrm>
                <a:off x="1899094" y="3513058"/>
                <a:ext cx="1708937" cy="436912"/>
              </a:xfrm>
              <a:prstGeom prst="rect">
                <a:avLst/>
              </a:prstGeom>
              <a:noFill/>
              <a:ln>
                <a:noFill/>
              </a:ln>
            </p:spPr>
            <p:txBody>
              <a:bodyPr wrap="none" lIns="0" tIns="0" rIns="0" bIns="0" anchor="t" anchorCtr="0">
                <a:spAutoFit/>
              </a:bodyPr>
              <a:lstStyle/>
              <a:p>
                <a:pPr algn="l">
                  <a:lnSpc>
                    <a:spcPts val="1650"/>
                  </a:lnSpc>
                </a:pPr>
                <a:r>
                  <a:rPr lang="zh-CN" sz="1160" b="1" dirty="0">
                    <a:solidFill>
                      <a:srgbClr val="FFFFFF"/>
                    </a:solidFill>
                    <a:latin typeface="+mn-lt"/>
                    <a:ea typeface="+mn-ea"/>
                    <a:cs typeface="+mn-cs"/>
                  </a:rPr>
                  <a:t>建议二：为每个TOP客户​</a:t>
                </a:r>
                <a:br/>
                <a:r>
                  <a:rPr lang="zh-CN" sz="1160" b="1" dirty="0">
                    <a:solidFill>
                      <a:srgbClr val="FFFFFF"/>
                    </a:solidFill>
                    <a:latin typeface="+mn-lt"/>
                    <a:ea typeface="+mn-ea"/>
                    <a:cs typeface="+mn-cs"/>
                  </a:rPr>
                  <a:t>制定年度作战图</a:t>
                </a:r>
              </a:p>
            </p:txBody>
          </p:sp>
          <p:sp>
            <p:nvSpPr>
              <p:cNvPr id="36" name="TextBox 36"/>
              <p:cNvSpPr txBox="1"/>
              <p:nvPr/>
            </p:nvSpPr>
            <p:spPr>
              <a:xfrm>
                <a:off x="1900238" y="4021693"/>
                <a:ext cx="1538605" cy="378619"/>
              </a:xfrm>
              <a:prstGeom prst="rect">
                <a:avLst/>
              </a:prstGeom>
              <a:noFill/>
              <a:ln>
                <a:noFill/>
              </a:ln>
            </p:spPr>
            <p:txBody>
              <a:bodyPr wrap="none" lIns="0" tIns="0" rIns="0" bIns="0" anchor="t" anchorCtr="0">
                <a:spAutoFit/>
              </a:bodyPr>
              <a:lstStyle/>
              <a:p>
                <a:pPr algn="l">
                  <a:lnSpc>
                    <a:spcPts val="1650"/>
                  </a:lnSpc>
                </a:pPr>
                <a:r>
                  <a:rPr lang="zh-CN" sz="860" dirty="0">
                    <a:solidFill>
                      <a:srgbClr val="FFFFFF"/>
                    </a:solidFill>
                    <a:latin typeface="+mn-lt"/>
                    <a:ea typeface="+mn-ea"/>
                    <a:cs typeface="+mn-cs"/>
                  </a:rPr>
                  <a:t>包含目标、关系、机会、行动、</a:t>
                </a:r>
                <a:br/>
                <a:r>
                  <a:rPr lang="zh-CN" sz="860" dirty="0">
                    <a:solidFill>
                      <a:srgbClr val="FFFFFF"/>
                    </a:solidFill>
                    <a:latin typeface="+mn-lt"/>
                    <a:ea typeface="+mn-ea"/>
                    <a:cs typeface="+mn-cs"/>
                  </a:rPr>
                  <a:t>预警，月度复盘更新。</a:t>
                </a:r>
              </a:p>
            </p:txBody>
          </p:sp>
          <p:sp>
            <p:nvSpPr>
              <p:cNvPr id="37" name="Line 37"/>
              <p:cNvSpPr/>
              <p:nvPr/>
            </p:nvSpPr>
            <p:spPr>
              <a:xfrm>
                <a:off x="4210050" y="3467100"/>
                <a:ext cx="9525" cy="1047750"/>
              </a:xfrm>
              <a:custGeom>
                <a:avLst/>
                <a:gdLst/>
                <a:ahLst/>
                <a:cxnLst/>
                <a:rect l="l" t="t" r="r" b="b"/>
                <a:pathLst>
                  <a:path w="9525" h="1047750">
                    <a:moveTo>
                      <a:pt x="0" y="0"/>
                    </a:moveTo>
                    <a:lnTo>
                      <a:pt x="0" y="1047750"/>
                    </a:lnTo>
                  </a:path>
                </a:pathLst>
              </a:custGeom>
              <a:noFill/>
              <a:ln w="9525">
                <a:solidFill>
                  <a:srgbClr val="FFFFFF">
                    <a:alpha val="45000"/>
                  </a:srgbClr>
                </a:solidFill>
              </a:ln>
            </p:spPr>
          </p:sp>
          <p:sp>
            <p:nvSpPr>
              <p:cNvPr id="38" name="TextBox 38"/>
              <p:cNvSpPr txBox="1"/>
              <p:nvPr/>
            </p:nvSpPr>
            <p:spPr>
              <a:xfrm>
                <a:off x="4395788" y="3693795"/>
                <a:ext cx="61531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预期效果：</a:t>
                </a:r>
              </a:p>
            </p:txBody>
          </p:sp>
          <p:sp>
            <p:nvSpPr>
              <p:cNvPr id="39" name="TextBox 39"/>
              <p:cNvSpPr txBox="1"/>
              <p:nvPr/>
            </p:nvSpPr>
            <p:spPr>
              <a:xfrm>
                <a:off x="4395788" y="3922395"/>
                <a:ext cx="857631"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目标达成率提升</a:t>
                </a:r>
              </a:p>
            </p:txBody>
          </p:sp>
          <p:sp>
            <p:nvSpPr>
              <p:cNvPr id="40" name="TextBox 40"/>
              <p:cNvSpPr txBox="1"/>
              <p:nvPr/>
            </p:nvSpPr>
            <p:spPr>
              <a:xfrm>
                <a:off x="4388358" y="4198620"/>
                <a:ext cx="651982" cy="469392"/>
              </a:xfrm>
              <a:prstGeom prst="rect">
                <a:avLst/>
              </a:prstGeom>
              <a:noFill/>
              <a:ln>
                <a:noFill/>
              </a:ln>
            </p:spPr>
            <p:txBody>
              <a:bodyPr wrap="none" lIns="0" tIns="0" rIns="0" bIns="0" anchor="t" anchorCtr="0">
                <a:spAutoFit/>
              </a:bodyPr>
              <a:lstStyle/>
              <a:p>
                <a:pPr algn="l"/>
                <a:r>
                  <a:rPr lang="zh-CN" sz="2400" b="1" dirty="0">
                    <a:solidFill>
                      <a:srgbClr val="C97263"/>
                    </a:solidFill>
                    <a:latin typeface="+mn-lt"/>
                    <a:ea typeface="+mn-ea"/>
                    <a:cs typeface="+mn-cs"/>
                  </a:rPr>
                  <a:t>20%</a:t>
                </a:r>
              </a:p>
            </p:txBody>
          </p:sp>
        </p:grpSp>
        <p:grpSp>
          <p:nvGrpSpPr>
            <p:cNvPr id="57" name="rec-3"/>
            <p:cNvGrpSpPr/>
            <p:nvPr/>
          </p:nvGrpSpPr>
          <p:grpSpPr>
            <a:xfrm>
              <a:off x="381000" y="4857750"/>
              <a:ext cx="5524500" cy="1428750"/>
              <a:chOff x="381000" y="4857750"/>
              <a:chExt cx="5524500" cy="1428750"/>
            </a:xfrm>
          </p:grpSpPr>
          <p:sp>
            <p:nvSpPr>
              <p:cNvPr id="42" name="Rectangle 42"/>
              <p:cNvSpPr/>
              <p:nvPr/>
            </p:nvSpPr>
            <p:spPr>
              <a:xfrm>
                <a:off x="381000" y="4857750"/>
                <a:ext cx="5524500" cy="1428750"/>
              </a:xfrm>
              <a:prstGeom prst="roundRect">
                <a:avLst>
                  <a:gd name="adj" fmla="val 2667"/>
                </a:avLst>
              </a:prstGeom>
              <a:solidFill>
                <a:srgbClr val="8B321E"/>
              </a:solidFill>
              <a:ln>
                <a:noFill/>
              </a:ln>
            </p:spPr>
          </p:sp>
          <p:sp>
            <p:nvSpPr>
              <p:cNvPr id="43" name="Ellipse 43"/>
              <p:cNvSpPr/>
              <p:nvPr/>
            </p:nvSpPr>
            <p:spPr>
              <a:xfrm>
                <a:off x="571500" y="5305425"/>
                <a:ext cx="533400" cy="533400"/>
              </a:xfrm>
              <a:prstGeom prst="ellipse">
                <a:avLst/>
              </a:prstGeom>
              <a:noFill/>
              <a:ln w="19050">
                <a:solidFill>
                  <a:srgbClr val="FFFFFF"/>
                </a:solidFill>
              </a:ln>
            </p:spPr>
          </p:sp>
          <p:grpSp>
            <p:nvGrpSpPr>
              <p:cNvPr id="48" name="Group 48"/>
              <p:cNvGrpSpPr/>
              <p:nvPr/>
            </p:nvGrpSpPr>
            <p:grpSpPr>
              <a:xfrm>
                <a:off x="745331" y="5479256"/>
                <a:ext cx="185737" cy="185738"/>
                <a:chOff x="745331" y="5479256"/>
                <a:chExt cx="185737" cy="185738"/>
              </a:xfrm>
            </p:grpSpPr>
            <p:sp>
              <p:nvSpPr>
                <p:cNvPr id="44" name="Freeform 44"/>
                <p:cNvSpPr/>
                <p:nvPr/>
              </p:nvSpPr>
              <p:spPr>
                <a:xfrm>
                  <a:off x="765969" y="5479256"/>
                  <a:ext cx="82550" cy="82550"/>
                </a:xfrm>
                <a:custGeom>
                  <a:avLst/>
                  <a:gdLst/>
                  <a:ahLst/>
                  <a:cxnLst/>
                  <a:rect l="l" t="t" r="r" b="b"/>
                  <a:pathLst>
                    <a:path w="82550" h="82550">
                      <a:moveTo>
                        <a:pt x="0" y="41275"/>
                      </a:moveTo>
                      <a:cubicBezTo>
                        <a:pt x="0" y="64070"/>
                        <a:pt x="18479" y="82550"/>
                        <a:pt x="41275" y="82550"/>
                      </a:cubicBezTo>
                      <a:cubicBezTo>
                        <a:pt x="64070" y="82550"/>
                        <a:pt x="82550" y="64070"/>
                        <a:pt x="82550" y="41275"/>
                      </a:cubicBezTo>
                      <a:cubicBezTo>
                        <a:pt x="82550" y="18479"/>
                        <a:pt x="64070" y="0"/>
                        <a:pt x="41275" y="0"/>
                      </a:cubicBezTo>
                      <a:cubicBezTo>
                        <a:pt x="18479" y="0"/>
                        <a:pt x="0" y="18479"/>
                        <a:pt x="0" y="41275"/>
                      </a:cubicBezTo>
                    </a:path>
                  </a:pathLst>
                </a:custGeom>
                <a:noFill/>
                <a:ln w="20637">
                  <a:solidFill>
                    <a:srgbClr val="FFFFFF"/>
                  </a:solidFill>
                </a:ln>
              </p:spPr>
            </p:sp>
            <p:sp>
              <p:nvSpPr>
                <p:cNvPr id="45" name="Freeform 45"/>
                <p:cNvSpPr/>
                <p:nvPr/>
              </p:nvSpPr>
              <p:spPr>
                <a:xfrm>
                  <a:off x="745331" y="5603081"/>
                  <a:ext cx="123825" cy="61912"/>
                </a:xfrm>
                <a:custGeom>
                  <a:avLst/>
                  <a:gdLst/>
                  <a:ahLst/>
                  <a:cxnLst/>
                  <a:rect l="l" t="t" r="r" b="b"/>
                  <a:pathLst>
                    <a:path w="123825" h="61912">
                      <a:moveTo>
                        <a:pt x="0" y="61912"/>
                      </a:moveTo>
                      <a:lnTo>
                        <a:pt x="0" y="41275"/>
                      </a:lnTo>
                      <a:cubicBezTo>
                        <a:pt x="0" y="18479"/>
                        <a:pt x="18479" y="0"/>
                        <a:pt x="41275" y="0"/>
                      </a:cubicBezTo>
                      <a:lnTo>
                        <a:pt x="82550" y="0"/>
                      </a:lnTo>
                      <a:cubicBezTo>
                        <a:pt x="105345" y="0"/>
                        <a:pt x="123825" y="18479"/>
                        <a:pt x="123825" y="41275"/>
                      </a:cubicBezTo>
                      <a:lnTo>
                        <a:pt x="123825" y="61912"/>
                      </a:lnTo>
                    </a:path>
                  </a:pathLst>
                </a:custGeom>
                <a:noFill/>
                <a:ln w="20637">
                  <a:solidFill>
                    <a:srgbClr val="FFFFFF"/>
                  </a:solidFill>
                </a:ln>
              </p:spPr>
            </p:sp>
            <p:sp>
              <p:nvSpPr>
                <p:cNvPr id="46" name="Freeform 46"/>
                <p:cNvSpPr/>
                <p:nvPr/>
              </p:nvSpPr>
              <p:spPr>
                <a:xfrm>
                  <a:off x="879474" y="5480598"/>
                  <a:ext cx="31037" cy="79970"/>
                </a:xfrm>
                <a:custGeom>
                  <a:avLst/>
                  <a:gdLst/>
                  <a:ahLst/>
                  <a:cxnLst/>
                  <a:rect l="l" t="t" r="r" b="b"/>
                  <a:pathLst>
                    <a:path w="31037" h="79970">
                      <a:moveTo>
                        <a:pt x="0" y="0"/>
                      </a:moveTo>
                      <a:cubicBezTo>
                        <a:pt x="18263" y="4676"/>
                        <a:pt x="31037" y="21133"/>
                        <a:pt x="31037" y="39985"/>
                      </a:cubicBezTo>
                      <a:cubicBezTo>
                        <a:pt x="31037" y="58837"/>
                        <a:pt x="18263" y="75294"/>
                        <a:pt x="0" y="79970"/>
                      </a:cubicBezTo>
                    </a:path>
                  </a:pathLst>
                </a:custGeom>
                <a:noFill/>
                <a:ln w="20637">
                  <a:solidFill>
                    <a:srgbClr val="FFFFFF"/>
                  </a:solidFill>
                </a:ln>
              </p:spPr>
            </p:sp>
            <p:sp>
              <p:nvSpPr>
                <p:cNvPr id="47" name="Freeform 47"/>
                <p:cNvSpPr/>
                <p:nvPr/>
              </p:nvSpPr>
              <p:spPr>
                <a:xfrm>
                  <a:off x="900112" y="5604629"/>
                  <a:ext cx="30956" cy="60365"/>
                </a:xfrm>
                <a:custGeom>
                  <a:avLst/>
                  <a:gdLst/>
                  <a:ahLst/>
                  <a:cxnLst/>
                  <a:rect l="l" t="t" r="r" b="b"/>
                  <a:pathLst>
                    <a:path w="30956" h="60365">
                      <a:moveTo>
                        <a:pt x="30956" y="60365"/>
                      </a:moveTo>
                      <a:lnTo>
                        <a:pt x="30956" y="39727"/>
                      </a:lnTo>
                      <a:cubicBezTo>
                        <a:pt x="30848" y="20994"/>
                        <a:pt x="18138" y="4683"/>
                        <a:pt x="0" y="0"/>
                      </a:cubicBezTo>
                    </a:path>
                  </a:pathLst>
                </a:custGeom>
                <a:noFill/>
                <a:ln w="20637">
                  <a:solidFill>
                    <a:srgbClr val="FFFFFF"/>
                  </a:solidFill>
                </a:ln>
              </p:spPr>
            </p:sp>
          </p:grpSp>
          <p:sp>
            <p:nvSpPr>
              <p:cNvPr id="49" name="TextBox 49"/>
              <p:cNvSpPr txBox="1"/>
              <p:nvPr/>
            </p:nvSpPr>
            <p:spPr>
              <a:xfrm>
                <a:off x="1245108" y="5436870"/>
                <a:ext cx="397551" cy="469392"/>
              </a:xfrm>
              <a:prstGeom prst="rect">
                <a:avLst/>
              </a:prstGeom>
              <a:noFill/>
              <a:ln>
                <a:noFill/>
              </a:ln>
            </p:spPr>
            <p:txBody>
              <a:bodyPr wrap="none" lIns="0" tIns="0" rIns="0" bIns="0" anchor="t" anchorCtr="0">
                <a:spAutoFit/>
              </a:bodyPr>
              <a:lstStyle/>
              <a:p>
                <a:pPr algn="l"/>
                <a:r>
                  <a:rPr lang="zh-CN" sz="2400" b="1" dirty="0">
                    <a:solidFill>
                      <a:srgbClr val="FFFFFF"/>
                    </a:solidFill>
                    <a:latin typeface="+mn-lt"/>
                    <a:ea typeface="+mn-ea"/>
                    <a:cs typeface="+mn-cs"/>
                  </a:rPr>
                  <a:t>03</a:t>
                </a:r>
              </a:p>
            </p:txBody>
          </p:sp>
          <p:sp>
            <p:nvSpPr>
              <p:cNvPr id="50" name="Line 50"/>
              <p:cNvSpPr/>
              <p:nvPr/>
            </p:nvSpPr>
            <p:spPr>
              <a:xfrm>
                <a:off x="1714500" y="5048250"/>
                <a:ext cx="9525" cy="1047750"/>
              </a:xfrm>
              <a:custGeom>
                <a:avLst/>
                <a:gdLst/>
                <a:ahLst/>
                <a:cxnLst/>
                <a:rect l="l" t="t" r="r" b="b"/>
                <a:pathLst>
                  <a:path w="9525" h="1047750">
                    <a:moveTo>
                      <a:pt x="0" y="0"/>
                    </a:moveTo>
                    <a:lnTo>
                      <a:pt x="0" y="1047750"/>
                    </a:lnTo>
                  </a:path>
                </a:pathLst>
              </a:custGeom>
              <a:noFill/>
              <a:ln w="9525">
                <a:solidFill>
                  <a:srgbClr val="FFFFFF">
                    <a:alpha val="45000"/>
                  </a:srgbClr>
                </a:solidFill>
              </a:ln>
            </p:spPr>
          </p:sp>
          <p:sp>
            <p:nvSpPr>
              <p:cNvPr id="51" name="TextBox 51"/>
              <p:cNvSpPr txBox="1"/>
              <p:nvPr/>
            </p:nvSpPr>
            <p:spPr>
              <a:xfrm>
                <a:off x="1899094" y="5094208"/>
                <a:ext cx="1485011" cy="436912"/>
              </a:xfrm>
              <a:prstGeom prst="rect">
                <a:avLst/>
              </a:prstGeom>
              <a:noFill/>
              <a:ln>
                <a:noFill/>
              </a:ln>
            </p:spPr>
            <p:txBody>
              <a:bodyPr wrap="none" lIns="0" tIns="0" rIns="0" bIns="0" anchor="t" anchorCtr="0">
                <a:spAutoFit/>
              </a:bodyPr>
              <a:lstStyle/>
              <a:p>
                <a:pPr algn="l">
                  <a:lnSpc>
                    <a:spcPts val="1650"/>
                  </a:lnSpc>
                </a:pPr>
                <a:r>
                  <a:rPr lang="zh-CN" sz="1160" b="1" dirty="0">
                    <a:solidFill>
                      <a:srgbClr val="FFFFFF"/>
                    </a:solidFill>
                    <a:latin typeface="+mn-lt"/>
                    <a:ea typeface="+mn-ea"/>
                    <a:cs typeface="+mn-cs"/>
                  </a:rPr>
                  <a:t>建议三：把销售从个人</a:t>
                </a:r>
                <a:br/>
                <a:r>
                  <a:rPr lang="zh-CN" sz="1160" b="1" dirty="0">
                    <a:solidFill>
                      <a:srgbClr val="FFFFFF"/>
                    </a:solidFill>
                    <a:latin typeface="+mn-lt"/>
                    <a:ea typeface="+mn-ea"/>
                    <a:cs typeface="+mn-cs"/>
                  </a:rPr>
                  <a:t>转向团队协同</a:t>
                </a:r>
              </a:p>
            </p:txBody>
          </p:sp>
          <p:sp>
            <p:nvSpPr>
              <p:cNvPr id="52" name="TextBox 52"/>
              <p:cNvSpPr txBox="1"/>
              <p:nvPr/>
            </p:nvSpPr>
            <p:spPr>
              <a:xfrm>
                <a:off x="1900238" y="5602843"/>
                <a:ext cx="1429385" cy="378619"/>
              </a:xfrm>
              <a:prstGeom prst="rect">
                <a:avLst/>
              </a:prstGeom>
              <a:noFill/>
              <a:ln>
                <a:noFill/>
              </a:ln>
            </p:spPr>
            <p:txBody>
              <a:bodyPr wrap="none" lIns="0" tIns="0" rIns="0" bIns="0" anchor="t" anchorCtr="0">
                <a:spAutoFit/>
              </a:bodyPr>
              <a:lstStyle/>
              <a:p>
                <a:pPr algn="l">
                  <a:lnSpc>
                    <a:spcPts val="1650"/>
                  </a:lnSpc>
                </a:pPr>
                <a:r>
                  <a:rPr lang="zh-CN" sz="860" dirty="0">
                    <a:solidFill>
                      <a:srgbClr val="FFFFFF"/>
                    </a:solidFill>
                    <a:latin typeface="+mn-lt"/>
                    <a:ea typeface="+mn-ea"/>
                    <a:cs typeface="+mn-cs"/>
                  </a:rPr>
                  <a:t>建立铁三角团队，去个人化，</a:t>
                </a:r>
                <a:br/>
                <a:r>
                  <a:rPr lang="zh-CN" sz="860" dirty="0">
                    <a:solidFill>
                      <a:srgbClr val="FFFFFF"/>
                    </a:solidFill>
                    <a:latin typeface="+mn-lt"/>
                    <a:ea typeface="+mn-ea"/>
                    <a:cs typeface="+mn-cs"/>
                  </a:rPr>
                  <a:t>用CRM沉淀资产。​</a:t>
                </a:r>
              </a:p>
            </p:txBody>
          </p:sp>
          <p:sp>
            <p:nvSpPr>
              <p:cNvPr id="53" name="Line 53"/>
              <p:cNvSpPr/>
              <p:nvPr/>
            </p:nvSpPr>
            <p:spPr>
              <a:xfrm>
                <a:off x="4210050" y="5048250"/>
                <a:ext cx="9525" cy="1047750"/>
              </a:xfrm>
              <a:custGeom>
                <a:avLst/>
                <a:gdLst/>
                <a:ahLst/>
                <a:cxnLst/>
                <a:rect l="l" t="t" r="r" b="b"/>
                <a:pathLst>
                  <a:path w="9525" h="1047750">
                    <a:moveTo>
                      <a:pt x="0" y="0"/>
                    </a:moveTo>
                    <a:lnTo>
                      <a:pt x="0" y="1047750"/>
                    </a:lnTo>
                  </a:path>
                </a:pathLst>
              </a:custGeom>
              <a:noFill/>
              <a:ln w="9525">
                <a:solidFill>
                  <a:srgbClr val="FFFFFF">
                    <a:alpha val="45000"/>
                  </a:srgbClr>
                </a:solidFill>
              </a:ln>
            </p:spPr>
          </p:sp>
          <p:sp>
            <p:nvSpPr>
              <p:cNvPr id="54" name="TextBox 54"/>
              <p:cNvSpPr txBox="1"/>
              <p:nvPr/>
            </p:nvSpPr>
            <p:spPr>
              <a:xfrm>
                <a:off x="4395788" y="5274945"/>
                <a:ext cx="615315" cy="176212"/>
              </a:xfrm>
              <a:prstGeom prst="rect">
                <a:avLst/>
              </a:prstGeom>
              <a:noFill/>
              <a:ln>
                <a:noFill/>
              </a:ln>
            </p:spPr>
            <p:txBody>
              <a:bodyPr wrap="none" lIns="0" tIns="0" rIns="0" bIns="0" anchor="t" anchorCtr="0">
                <a:spAutoFit/>
              </a:bodyPr>
              <a:lstStyle/>
              <a:p>
                <a:pPr algn="l"/>
                <a:r>
                  <a:rPr lang="zh-CN" sz="900" b="1" dirty="0">
                    <a:solidFill>
                      <a:srgbClr val="FFFFFF"/>
                    </a:solidFill>
                    <a:latin typeface="+mn-lt"/>
                    <a:ea typeface="+mn-ea"/>
                    <a:cs typeface="+mn-cs"/>
                  </a:rPr>
                  <a:t>预期效果：</a:t>
                </a:r>
              </a:p>
            </p:txBody>
          </p:sp>
          <p:sp>
            <p:nvSpPr>
              <p:cNvPr id="55" name="TextBox 55"/>
              <p:cNvSpPr txBox="1"/>
              <p:nvPr/>
            </p:nvSpPr>
            <p:spPr>
              <a:xfrm>
                <a:off x="4395788" y="5503545"/>
                <a:ext cx="857631"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离职流失率降低</a:t>
                </a:r>
              </a:p>
            </p:txBody>
          </p:sp>
          <p:sp>
            <p:nvSpPr>
              <p:cNvPr id="56" name="TextBox 56"/>
              <p:cNvSpPr txBox="1"/>
              <p:nvPr/>
            </p:nvSpPr>
            <p:spPr>
              <a:xfrm>
                <a:off x="4388358" y="5779770"/>
                <a:ext cx="651982" cy="469392"/>
              </a:xfrm>
              <a:prstGeom prst="rect">
                <a:avLst/>
              </a:prstGeom>
              <a:noFill/>
              <a:ln>
                <a:noFill/>
              </a:ln>
            </p:spPr>
            <p:txBody>
              <a:bodyPr wrap="none" lIns="0" tIns="0" rIns="0" bIns="0" anchor="t" anchorCtr="0">
                <a:spAutoFit/>
              </a:bodyPr>
              <a:lstStyle/>
              <a:p>
                <a:pPr algn="l"/>
                <a:r>
                  <a:rPr lang="zh-CN" sz="2400" b="1" dirty="0">
                    <a:solidFill>
                      <a:srgbClr val="C97263"/>
                    </a:solidFill>
                    <a:latin typeface="+mn-lt"/>
                    <a:ea typeface="+mn-ea"/>
                    <a:cs typeface="+mn-cs"/>
                  </a:rPr>
                  <a:t>60%</a:t>
                </a:r>
              </a:p>
            </p:txBody>
          </p:sp>
        </p:grpSp>
      </p:grpSp>
      <p:grpSp>
        <p:nvGrpSpPr>
          <p:cNvPr id="136" name="roadmap"/>
          <p:cNvGrpSpPr/>
          <p:nvPr/>
        </p:nvGrpSpPr>
        <p:grpSpPr>
          <a:xfrm>
            <a:off x="6286500" y="1695450"/>
            <a:ext cx="5524500" cy="4457700"/>
            <a:chOff x="6286500" y="1695450"/>
            <a:chExt cx="5524500" cy="4457700"/>
          </a:xfrm>
        </p:grpSpPr>
        <p:sp>
          <p:nvSpPr>
            <p:cNvPr id="59" name="Rectangle 59"/>
            <p:cNvSpPr/>
            <p:nvPr/>
          </p:nvSpPr>
          <p:spPr>
            <a:xfrm>
              <a:off x="6286500" y="1695450"/>
              <a:ext cx="5524500" cy="400050"/>
            </a:xfrm>
            <a:prstGeom prst="rect">
              <a:avLst/>
            </a:prstGeom>
            <a:solidFill>
              <a:srgbClr val="8B321E"/>
            </a:solidFill>
            <a:ln>
              <a:noFill/>
            </a:ln>
          </p:spPr>
        </p:sp>
        <p:sp>
          <p:nvSpPr>
            <p:cNvPr id="60" name="TextBox 60"/>
            <p:cNvSpPr txBox="1"/>
            <p:nvPr/>
          </p:nvSpPr>
          <p:spPr>
            <a:xfrm>
              <a:off x="7475419" y="1828562"/>
              <a:ext cx="3146661" cy="242030"/>
            </a:xfrm>
            <a:prstGeom prst="rect">
              <a:avLst/>
            </a:prstGeom>
            <a:noFill/>
            <a:ln>
              <a:noFill/>
            </a:ln>
          </p:spPr>
          <p:txBody>
            <a:bodyPr wrap="none" lIns="0" tIns="0" rIns="0" bIns="0" anchor="t" anchorCtr="0">
              <a:spAutoFit/>
            </a:bodyPr>
            <a:lstStyle/>
            <a:p>
              <a:pPr algn="ctr"/>
              <a:r>
                <a:rPr lang="zh-CN" sz="1240" b="1" dirty="0">
                  <a:solidFill>
                    <a:srgbClr val="FFFFFF"/>
                  </a:solidFill>
                  <a:latin typeface="+mn-lt"/>
                  <a:ea typeface="+mn-ea"/>
                  <a:cs typeface="+mn-cs"/>
                </a:rPr>
                <a:t>2026-2027年大客户管理能力建设路线图​</a:t>
              </a:r>
            </a:p>
          </p:txBody>
        </p:sp>
        <p:sp>
          <p:nvSpPr>
            <p:cNvPr id="61" name="Freeform 61"/>
            <p:cNvSpPr/>
            <p:nvPr/>
          </p:nvSpPr>
          <p:spPr>
            <a:xfrm>
              <a:off x="6286500" y="2209800"/>
              <a:ext cx="1600200" cy="361950"/>
            </a:xfrm>
            <a:prstGeom prst="homePlate">
              <a:avLst/>
            </a:prstGeom>
            <a:solidFill>
              <a:srgbClr val="8B321E"/>
            </a:solidFill>
            <a:ln>
              <a:noFill/>
            </a:ln>
          </p:spPr>
        </p:sp>
        <p:sp>
          <p:nvSpPr>
            <p:cNvPr id="62" name="TextBox 62"/>
            <p:cNvSpPr txBox="1"/>
            <p:nvPr/>
          </p:nvSpPr>
          <p:spPr>
            <a:xfrm>
              <a:off x="6839090" y="2330529"/>
              <a:ext cx="304521"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阶段</a:t>
              </a:r>
            </a:p>
          </p:txBody>
        </p:sp>
        <p:sp>
          <p:nvSpPr>
            <p:cNvPr id="63" name="Freeform 63"/>
            <p:cNvSpPr/>
            <p:nvPr/>
          </p:nvSpPr>
          <p:spPr>
            <a:xfrm>
              <a:off x="8039100" y="2209800"/>
              <a:ext cx="1866900" cy="361950"/>
            </a:xfrm>
            <a:prstGeom prst="homePlate">
              <a:avLst/>
            </a:prstGeom>
            <a:solidFill>
              <a:srgbClr val="8B321E"/>
            </a:solidFill>
            <a:ln>
              <a:noFill/>
            </a:ln>
          </p:spPr>
        </p:sp>
        <p:sp>
          <p:nvSpPr>
            <p:cNvPr id="64" name="TextBox 64"/>
            <p:cNvSpPr txBox="1"/>
            <p:nvPr/>
          </p:nvSpPr>
          <p:spPr>
            <a:xfrm>
              <a:off x="8578304" y="2330529"/>
              <a:ext cx="597992"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关键举措</a:t>
              </a:r>
            </a:p>
          </p:txBody>
        </p:sp>
        <p:sp>
          <p:nvSpPr>
            <p:cNvPr id="65" name="Freeform 65"/>
            <p:cNvSpPr/>
            <p:nvPr/>
          </p:nvSpPr>
          <p:spPr>
            <a:xfrm>
              <a:off x="10058400" y="2209800"/>
              <a:ext cx="1752600" cy="361950"/>
            </a:xfrm>
            <a:prstGeom prst="homePlate">
              <a:avLst/>
            </a:prstGeom>
            <a:solidFill>
              <a:srgbClr val="8B321E"/>
            </a:solidFill>
            <a:ln>
              <a:noFill/>
            </a:ln>
          </p:spPr>
        </p:sp>
        <p:sp>
          <p:nvSpPr>
            <p:cNvPr id="66" name="TextBox 66"/>
            <p:cNvSpPr txBox="1"/>
            <p:nvPr/>
          </p:nvSpPr>
          <p:spPr>
            <a:xfrm>
              <a:off x="10540454" y="2330529"/>
              <a:ext cx="597992" cy="212693"/>
            </a:xfrm>
            <a:prstGeom prst="rect">
              <a:avLst/>
            </a:prstGeom>
            <a:noFill/>
            <a:ln>
              <a:noFill/>
            </a:ln>
          </p:spPr>
          <p:txBody>
            <a:bodyPr wrap="none" lIns="0" tIns="0" rIns="0" bIns="0" anchor="t" anchorCtr="0">
              <a:spAutoFit/>
            </a:bodyPr>
            <a:lstStyle/>
            <a:p>
              <a:pPr algn="ctr"/>
              <a:r>
                <a:rPr lang="zh-CN" sz="1090" b="1" dirty="0">
                  <a:solidFill>
                    <a:srgbClr val="FFFFFF"/>
                  </a:solidFill>
                  <a:latin typeface="+mn-lt"/>
                  <a:ea typeface="+mn-ea"/>
                  <a:cs typeface="+mn-cs"/>
                </a:rPr>
                <a:t>阶段目标</a:t>
              </a:r>
            </a:p>
          </p:txBody>
        </p:sp>
        <p:grpSp>
          <p:nvGrpSpPr>
            <p:cNvPr id="93" name="roadmap-row-1"/>
            <p:cNvGrpSpPr/>
            <p:nvPr/>
          </p:nvGrpSpPr>
          <p:grpSpPr>
            <a:xfrm>
              <a:off x="6286500" y="2667000"/>
              <a:ext cx="5524500" cy="1123950"/>
              <a:chOff x="6286500" y="2667000"/>
              <a:chExt cx="5524500" cy="1123950"/>
            </a:xfrm>
          </p:grpSpPr>
          <p:sp>
            <p:nvSpPr>
              <p:cNvPr id="67" name="Rectangle 67"/>
              <p:cNvSpPr/>
              <p:nvPr/>
            </p:nvSpPr>
            <p:spPr>
              <a:xfrm>
                <a:off x="6286500" y="2667000"/>
                <a:ext cx="5524500" cy="1123950"/>
              </a:xfrm>
              <a:prstGeom prst="rect">
                <a:avLst/>
              </a:prstGeom>
              <a:solidFill>
                <a:srgbClr val="FFFFFF"/>
              </a:solidFill>
              <a:ln w="9525">
                <a:solidFill>
                  <a:srgbClr val="E8E2DE"/>
                </a:solidFill>
              </a:ln>
            </p:spPr>
          </p:sp>
          <p:sp>
            <p:nvSpPr>
              <p:cNvPr id="68" name="Line 68"/>
              <p:cNvSpPr/>
              <p:nvPr/>
            </p:nvSpPr>
            <p:spPr>
              <a:xfrm>
                <a:off x="7962900" y="2667000"/>
                <a:ext cx="9525" cy="1123950"/>
              </a:xfrm>
              <a:custGeom>
                <a:avLst/>
                <a:gdLst/>
                <a:ahLst/>
                <a:cxnLst/>
                <a:rect l="l" t="t" r="r" b="b"/>
                <a:pathLst>
                  <a:path w="9525" h="1123950">
                    <a:moveTo>
                      <a:pt x="0" y="0"/>
                    </a:moveTo>
                    <a:lnTo>
                      <a:pt x="0" y="1123950"/>
                    </a:lnTo>
                  </a:path>
                </a:pathLst>
              </a:custGeom>
              <a:noFill/>
              <a:ln w="9525">
                <a:solidFill>
                  <a:srgbClr val="E8E2DE"/>
                </a:solidFill>
              </a:ln>
            </p:spPr>
          </p:sp>
          <p:sp>
            <p:nvSpPr>
              <p:cNvPr id="69" name="Line 69"/>
              <p:cNvSpPr/>
              <p:nvPr/>
            </p:nvSpPr>
            <p:spPr>
              <a:xfrm>
                <a:off x="9982200" y="2667000"/>
                <a:ext cx="9525" cy="1123950"/>
              </a:xfrm>
              <a:custGeom>
                <a:avLst/>
                <a:gdLst/>
                <a:ahLst/>
                <a:cxnLst/>
                <a:rect l="l" t="t" r="r" b="b"/>
                <a:pathLst>
                  <a:path w="9525" h="1123950">
                    <a:moveTo>
                      <a:pt x="0" y="0"/>
                    </a:moveTo>
                    <a:lnTo>
                      <a:pt x="0" y="1123950"/>
                    </a:lnTo>
                  </a:path>
                </a:pathLst>
              </a:custGeom>
              <a:noFill/>
              <a:ln w="9525">
                <a:solidFill>
                  <a:srgbClr val="E8E2DE"/>
                </a:solidFill>
              </a:ln>
            </p:spPr>
          </p:sp>
          <p:grpSp>
            <p:nvGrpSpPr>
              <p:cNvPr id="72" name="Group 72"/>
              <p:cNvGrpSpPr/>
              <p:nvPr/>
            </p:nvGrpSpPr>
            <p:grpSpPr>
              <a:xfrm>
                <a:off x="6477000" y="3035300"/>
                <a:ext cx="228599" cy="186818"/>
                <a:chOff x="6477000" y="3035300"/>
                <a:chExt cx="228599" cy="186818"/>
              </a:xfrm>
            </p:grpSpPr>
            <p:sp>
              <p:nvSpPr>
                <p:cNvPr id="70" name="Freeform 70"/>
                <p:cNvSpPr/>
                <p:nvPr/>
              </p:nvSpPr>
              <p:spPr>
                <a:xfrm>
                  <a:off x="6477000" y="3035300"/>
                  <a:ext cx="228599" cy="186818"/>
                </a:xfrm>
                <a:custGeom>
                  <a:avLst/>
                  <a:gdLst/>
                  <a:ahLst/>
                  <a:cxnLst/>
                  <a:rect l="l" t="t" r="r" b="b"/>
                  <a:pathLst>
                    <a:path w="228599" h="186818">
                      <a:moveTo>
                        <a:pt x="38100" y="0"/>
                      </a:moveTo>
                      <a:lnTo>
                        <a:pt x="190500" y="0"/>
                      </a:lnTo>
                      <a:lnTo>
                        <a:pt x="228599" y="63500"/>
                      </a:lnTo>
                      <a:lnTo>
                        <a:pt x="120650" y="184150"/>
                      </a:lnTo>
                      <a:cubicBezTo>
                        <a:pt x="118978" y="185856"/>
                        <a:pt x="116689" y="186818"/>
                        <a:pt x="114300" y="186818"/>
                      </a:cubicBezTo>
                      <a:cubicBezTo>
                        <a:pt x="111910" y="186818"/>
                        <a:pt x="109622" y="185856"/>
                        <a:pt x="107950" y="184150"/>
                      </a:cubicBezTo>
                      <a:lnTo>
                        <a:pt x="0" y="63500"/>
                      </a:lnTo>
                      <a:lnTo>
                        <a:pt x="38100" y="0"/>
                      </a:lnTo>
                    </a:path>
                  </a:pathLst>
                </a:custGeom>
                <a:noFill/>
                <a:ln w="25400">
                  <a:solidFill>
                    <a:srgbClr val="8B321E"/>
                  </a:solidFill>
                </a:ln>
              </p:spPr>
            </p:sp>
            <p:sp>
              <p:nvSpPr>
                <p:cNvPr id="71" name="Freeform 71"/>
                <p:cNvSpPr/>
                <p:nvPr/>
              </p:nvSpPr>
              <p:spPr>
                <a:xfrm>
                  <a:off x="6540500" y="3083560"/>
                  <a:ext cx="25400" cy="40640"/>
                </a:xfrm>
                <a:custGeom>
                  <a:avLst/>
                  <a:gdLst/>
                  <a:ahLst/>
                  <a:cxnLst/>
                  <a:rect l="l" t="t" r="r" b="b"/>
                  <a:pathLst>
                    <a:path w="25400" h="40640">
                      <a:moveTo>
                        <a:pt x="25400" y="40640"/>
                      </a:moveTo>
                      <a:lnTo>
                        <a:pt x="0" y="12700"/>
                      </a:lnTo>
                      <a:lnTo>
                        <a:pt x="7620" y="0"/>
                      </a:lnTo>
                    </a:path>
                  </a:pathLst>
                </a:custGeom>
                <a:noFill/>
                <a:ln w="25400">
                  <a:solidFill>
                    <a:srgbClr val="8B321E"/>
                  </a:solidFill>
                </a:ln>
              </p:spPr>
            </p:sp>
          </p:grpSp>
          <p:sp>
            <p:nvSpPr>
              <p:cNvPr id="73" name="TextBox 73"/>
              <p:cNvSpPr txBox="1"/>
              <p:nvPr/>
            </p:nvSpPr>
            <p:spPr>
              <a:xfrm>
                <a:off x="7004494" y="2941558"/>
                <a:ext cx="636448" cy="227362"/>
              </a:xfrm>
              <a:prstGeom prst="rect">
                <a:avLst/>
              </a:prstGeom>
              <a:noFill/>
              <a:ln>
                <a:noFill/>
              </a:ln>
            </p:spPr>
            <p:txBody>
              <a:bodyPr wrap="none" lIns="0" tIns="0" rIns="0" bIns="0" anchor="t" anchorCtr="0">
                <a:spAutoFit/>
              </a:bodyPr>
              <a:lstStyle/>
              <a:p>
                <a:pPr algn="l"/>
                <a:r>
                  <a:rPr lang="zh-CN" sz="1160" b="1" dirty="0">
                    <a:solidFill>
                      <a:srgbClr val="2B2B2B"/>
                    </a:solidFill>
                    <a:latin typeface="+mn-lt"/>
                    <a:ea typeface="+mn-ea"/>
                    <a:cs typeface="+mn-cs"/>
                  </a:rPr>
                  <a:t>基础建设</a:t>
                </a:r>
              </a:p>
            </p:txBody>
          </p:sp>
          <p:sp>
            <p:nvSpPr>
              <p:cNvPr id="74" name="TextBox 74"/>
              <p:cNvSpPr txBox="1"/>
              <p:nvPr/>
            </p:nvSpPr>
            <p:spPr>
              <a:xfrm>
                <a:off x="7005638" y="3206591"/>
                <a:ext cx="860974" cy="161925"/>
              </a:xfrm>
              <a:prstGeom prst="rect">
                <a:avLst/>
              </a:prstGeom>
              <a:noFill/>
              <a:ln>
                <a:noFill/>
              </a:ln>
            </p:spPr>
            <p:txBody>
              <a:bodyPr wrap="none" lIns="0" tIns="0" rIns="0" bIns="0" anchor="t" anchorCtr="0">
                <a:spAutoFit/>
              </a:bodyPr>
              <a:lstStyle/>
              <a:p>
                <a:pPr algn="l"/>
                <a:r>
                  <a:rPr lang="en-US" sz="820" dirty="0">
                    <a:solidFill>
                      <a:srgbClr val="8A8A8A"/>
                    </a:solidFill>
                    <a:latin typeface="+mn-lt"/>
                    <a:ea typeface="+mn-ea"/>
                    <a:cs typeface="+mn-cs"/>
                  </a:rPr>
                  <a:t>(2026 Q3-Q4)​</a:t>
                </a:r>
              </a:p>
            </p:txBody>
          </p:sp>
          <p:sp>
            <p:nvSpPr>
              <p:cNvPr id="75" name="Ellipse 75"/>
              <p:cNvSpPr/>
              <p:nvPr/>
            </p:nvSpPr>
            <p:spPr>
              <a:xfrm>
                <a:off x="8058150" y="2952750"/>
                <a:ext cx="38100" cy="38100"/>
              </a:xfrm>
              <a:prstGeom prst="ellipse">
                <a:avLst/>
              </a:prstGeom>
              <a:solidFill>
                <a:srgbClr val="8B321E"/>
              </a:solidFill>
              <a:ln>
                <a:noFill/>
              </a:ln>
            </p:spPr>
          </p:sp>
          <p:sp>
            <p:nvSpPr>
              <p:cNvPr id="76" name="TextBox 76"/>
              <p:cNvSpPr txBox="1"/>
              <p:nvPr/>
            </p:nvSpPr>
            <p:spPr>
              <a:xfrm>
                <a:off x="8148638" y="2912745"/>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客户分层</a:t>
                </a:r>
              </a:p>
            </p:txBody>
          </p:sp>
          <p:sp>
            <p:nvSpPr>
              <p:cNvPr id="77" name="Ellipse 77"/>
              <p:cNvSpPr/>
              <p:nvPr/>
            </p:nvSpPr>
            <p:spPr>
              <a:xfrm>
                <a:off x="8058150" y="3162300"/>
                <a:ext cx="38100" cy="38100"/>
              </a:xfrm>
              <a:prstGeom prst="ellipse">
                <a:avLst/>
              </a:prstGeom>
              <a:solidFill>
                <a:srgbClr val="8B321E"/>
              </a:solidFill>
              <a:ln>
                <a:noFill/>
              </a:ln>
            </p:spPr>
          </p:sp>
          <p:sp>
            <p:nvSpPr>
              <p:cNvPr id="78" name="TextBox 78"/>
              <p:cNvSpPr txBox="1"/>
              <p:nvPr/>
            </p:nvSpPr>
            <p:spPr>
              <a:xfrm>
                <a:off x="8148638" y="3122295"/>
                <a:ext cx="37299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作战图</a:t>
                </a:r>
              </a:p>
            </p:txBody>
          </p:sp>
          <p:sp>
            <p:nvSpPr>
              <p:cNvPr id="79" name="Ellipse 79"/>
              <p:cNvSpPr/>
              <p:nvPr/>
            </p:nvSpPr>
            <p:spPr>
              <a:xfrm>
                <a:off x="8058150" y="3371850"/>
                <a:ext cx="38100" cy="38100"/>
              </a:xfrm>
              <a:prstGeom prst="ellipse">
                <a:avLst/>
              </a:prstGeom>
              <a:solidFill>
                <a:srgbClr val="8B321E"/>
              </a:solidFill>
              <a:ln>
                <a:noFill/>
              </a:ln>
            </p:spPr>
          </p:sp>
          <p:sp>
            <p:nvSpPr>
              <p:cNvPr id="80" name="TextBox 80"/>
              <p:cNvSpPr txBox="1"/>
              <p:nvPr/>
            </p:nvSpPr>
            <p:spPr>
              <a:xfrm>
                <a:off x="8148638" y="3331845"/>
                <a:ext cx="797624"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CRM基础数据​</a:t>
                </a:r>
              </a:p>
            </p:txBody>
          </p:sp>
          <p:sp>
            <p:nvSpPr>
              <p:cNvPr id="81" name="Freeform 81"/>
              <p:cNvSpPr/>
              <p:nvPr/>
            </p:nvSpPr>
            <p:spPr>
              <a:xfrm>
                <a:off x="9677400" y="3124200"/>
                <a:ext cx="266700" cy="209550"/>
              </a:xfrm>
              <a:prstGeom prst="rightArrow">
                <a:avLst/>
              </a:prstGeom>
              <a:solidFill>
                <a:srgbClr val="C97263"/>
              </a:solidFill>
              <a:ln>
                <a:noFill/>
              </a:ln>
            </p:spPr>
          </p:sp>
          <p:sp>
            <p:nvSpPr>
              <p:cNvPr id="82" name="Ellipse 82"/>
              <p:cNvSpPr/>
              <p:nvPr/>
            </p:nvSpPr>
            <p:spPr>
              <a:xfrm>
                <a:off x="10248900" y="3000375"/>
                <a:ext cx="457200" cy="457200"/>
              </a:xfrm>
              <a:prstGeom prst="ellipse">
                <a:avLst/>
              </a:prstGeom>
              <a:solidFill>
                <a:srgbClr val="FFFFFF"/>
              </a:solidFill>
              <a:ln w="19050">
                <a:solidFill>
                  <a:srgbClr val="C97263"/>
                </a:solidFill>
              </a:ln>
            </p:spPr>
          </p:sp>
          <p:grpSp>
            <p:nvGrpSpPr>
              <p:cNvPr id="91" name="Group 91"/>
              <p:cNvGrpSpPr/>
              <p:nvPr/>
            </p:nvGrpSpPr>
            <p:grpSpPr>
              <a:xfrm>
                <a:off x="10391775" y="3143250"/>
                <a:ext cx="171450" cy="180975"/>
                <a:chOff x="10391775" y="3143250"/>
                <a:chExt cx="171450" cy="180975"/>
              </a:xfrm>
            </p:grpSpPr>
            <p:sp>
              <p:nvSpPr>
                <p:cNvPr id="83" name="Freeform 83"/>
                <p:cNvSpPr/>
                <p:nvPr/>
              </p:nvSpPr>
              <p:spPr>
                <a:xfrm>
                  <a:off x="10391775" y="3314700"/>
                  <a:ext cx="171450" cy="9525"/>
                </a:xfrm>
                <a:custGeom>
                  <a:avLst/>
                  <a:gdLst/>
                  <a:ahLst/>
                  <a:cxnLst/>
                  <a:rect l="l" t="t" r="r" b="b"/>
                  <a:pathLst>
                    <a:path w="171450" h="9525">
                      <a:moveTo>
                        <a:pt x="0" y="0"/>
                      </a:moveTo>
                      <a:lnTo>
                        <a:pt x="171450" y="0"/>
                      </a:lnTo>
                    </a:path>
                  </a:pathLst>
                </a:custGeom>
                <a:noFill/>
                <a:ln w="19050">
                  <a:solidFill>
                    <a:srgbClr val="C97263"/>
                  </a:solidFill>
                </a:ln>
              </p:spPr>
            </p:sp>
            <p:sp>
              <p:nvSpPr>
                <p:cNvPr id="84" name="Freeform 84"/>
                <p:cNvSpPr/>
                <p:nvPr/>
              </p:nvSpPr>
              <p:spPr>
                <a:xfrm>
                  <a:off x="10391775" y="3209925"/>
                  <a:ext cx="171450" cy="9525"/>
                </a:xfrm>
                <a:custGeom>
                  <a:avLst/>
                  <a:gdLst/>
                  <a:ahLst/>
                  <a:cxnLst/>
                  <a:rect l="l" t="t" r="r" b="b"/>
                  <a:pathLst>
                    <a:path w="171450" h="9525">
                      <a:moveTo>
                        <a:pt x="0" y="0"/>
                      </a:moveTo>
                      <a:lnTo>
                        <a:pt x="171450" y="0"/>
                      </a:lnTo>
                    </a:path>
                  </a:pathLst>
                </a:custGeom>
                <a:noFill/>
                <a:ln w="19050">
                  <a:solidFill>
                    <a:srgbClr val="C97263"/>
                  </a:solidFill>
                </a:ln>
              </p:spPr>
            </p:sp>
            <p:sp>
              <p:nvSpPr>
                <p:cNvPr id="85" name="Freeform 85"/>
                <p:cNvSpPr/>
                <p:nvPr/>
              </p:nvSpPr>
              <p:spPr>
                <a:xfrm>
                  <a:off x="10410825" y="3143250"/>
                  <a:ext cx="133350" cy="28575"/>
                </a:xfrm>
                <a:custGeom>
                  <a:avLst/>
                  <a:gdLst/>
                  <a:ahLst/>
                  <a:cxnLst/>
                  <a:rect l="l" t="t" r="r" b="b"/>
                  <a:pathLst>
                    <a:path w="133350" h="28575">
                      <a:moveTo>
                        <a:pt x="0" y="28575"/>
                      </a:moveTo>
                      <a:lnTo>
                        <a:pt x="66675" y="0"/>
                      </a:lnTo>
                      <a:lnTo>
                        <a:pt x="133350" y="28575"/>
                      </a:lnTo>
                    </a:path>
                  </a:pathLst>
                </a:custGeom>
                <a:noFill/>
                <a:ln w="19050">
                  <a:solidFill>
                    <a:srgbClr val="C97263"/>
                  </a:solidFill>
                </a:ln>
              </p:spPr>
            </p:sp>
            <p:sp>
              <p:nvSpPr>
                <p:cNvPr id="86" name="Freeform 86"/>
                <p:cNvSpPr/>
                <p:nvPr/>
              </p:nvSpPr>
              <p:spPr>
                <a:xfrm>
                  <a:off x="10401300" y="3209925"/>
                  <a:ext cx="9525" cy="104775"/>
                </a:xfrm>
                <a:custGeom>
                  <a:avLst/>
                  <a:gdLst/>
                  <a:ahLst/>
                  <a:cxnLst/>
                  <a:rect l="l" t="t" r="r" b="b"/>
                  <a:pathLst>
                    <a:path w="9525" h="104775">
                      <a:moveTo>
                        <a:pt x="0" y="0"/>
                      </a:moveTo>
                      <a:lnTo>
                        <a:pt x="0" y="104775"/>
                      </a:lnTo>
                    </a:path>
                  </a:pathLst>
                </a:custGeom>
                <a:noFill/>
                <a:ln w="19050">
                  <a:solidFill>
                    <a:srgbClr val="C97263"/>
                  </a:solidFill>
                </a:ln>
              </p:spPr>
            </p:sp>
            <p:sp>
              <p:nvSpPr>
                <p:cNvPr id="87" name="Freeform 87"/>
                <p:cNvSpPr/>
                <p:nvPr/>
              </p:nvSpPr>
              <p:spPr>
                <a:xfrm>
                  <a:off x="10553700" y="3209925"/>
                  <a:ext cx="9525" cy="104775"/>
                </a:xfrm>
                <a:custGeom>
                  <a:avLst/>
                  <a:gdLst/>
                  <a:ahLst/>
                  <a:cxnLst/>
                  <a:rect l="l" t="t" r="r" b="b"/>
                  <a:pathLst>
                    <a:path w="9525" h="104775">
                      <a:moveTo>
                        <a:pt x="0" y="0"/>
                      </a:moveTo>
                      <a:lnTo>
                        <a:pt x="0" y="104775"/>
                      </a:lnTo>
                    </a:path>
                  </a:pathLst>
                </a:custGeom>
                <a:noFill/>
                <a:ln w="19050">
                  <a:solidFill>
                    <a:srgbClr val="C97263"/>
                  </a:solidFill>
                </a:ln>
              </p:spPr>
            </p:sp>
            <p:sp>
              <p:nvSpPr>
                <p:cNvPr id="88" name="Freeform 88"/>
                <p:cNvSpPr/>
                <p:nvPr/>
              </p:nvSpPr>
              <p:spPr>
                <a:xfrm>
                  <a:off x="10439400" y="3248025"/>
                  <a:ext cx="9525" cy="28575"/>
                </a:xfrm>
                <a:custGeom>
                  <a:avLst/>
                  <a:gdLst/>
                  <a:ahLst/>
                  <a:cxnLst/>
                  <a:rect l="l" t="t" r="r" b="b"/>
                  <a:pathLst>
                    <a:path w="9525" h="28575">
                      <a:moveTo>
                        <a:pt x="0" y="0"/>
                      </a:moveTo>
                      <a:lnTo>
                        <a:pt x="0" y="28575"/>
                      </a:lnTo>
                    </a:path>
                  </a:pathLst>
                </a:custGeom>
                <a:noFill/>
                <a:ln w="19050">
                  <a:solidFill>
                    <a:srgbClr val="C97263"/>
                  </a:solidFill>
                </a:ln>
              </p:spPr>
            </p:sp>
            <p:sp>
              <p:nvSpPr>
                <p:cNvPr id="89" name="Freeform 89"/>
                <p:cNvSpPr/>
                <p:nvPr/>
              </p:nvSpPr>
              <p:spPr>
                <a:xfrm>
                  <a:off x="10477500" y="3248025"/>
                  <a:ext cx="9525" cy="28575"/>
                </a:xfrm>
                <a:custGeom>
                  <a:avLst/>
                  <a:gdLst/>
                  <a:ahLst/>
                  <a:cxnLst/>
                  <a:rect l="l" t="t" r="r" b="b"/>
                  <a:pathLst>
                    <a:path w="9525" h="28575">
                      <a:moveTo>
                        <a:pt x="0" y="0"/>
                      </a:moveTo>
                      <a:lnTo>
                        <a:pt x="0" y="28575"/>
                      </a:lnTo>
                    </a:path>
                  </a:pathLst>
                </a:custGeom>
                <a:noFill/>
                <a:ln w="19050">
                  <a:solidFill>
                    <a:srgbClr val="C97263"/>
                  </a:solidFill>
                </a:ln>
              </p:spPr>
            </p:sp>
            <p:sp>
              <p:nvSpPr>
                <p:cNvPr id="90" name="Freeform 90"/>
                <p:cNvSpPr/>
                <p:nvPr/>
              </p:nvSpPr>
              <p:spPr>
                <a:xfrm>
                  <a:off x="10515600" y="3248025"/>
                  <a:ext cx="9525" cy="28575"/>
                </a:xfrm>
                <a:custGeom>
                  <a:avLst/>
                  <a:gdLst/>
                  <a:ahLst/>
                  <a:cxnLst/>
                  <a:rect l="l" t="t" r="r" b="b"/>
                  <a:pathLst>
                    <a:path w="9525" h="28575">
                      <a:moveTo>
                        <a:pt x="0" y="0"/>
                      </a:moveTo>
                      <a:lnTo>
                        <a:pt x="0" y="28575"/>
                      </a:lnTo>
                    </a:path>
                  </a:pathLst>
                </a:custGeom>
                <a:noFill/>
                <a:ln w="19050">
                  <a:solidFill>
                    <a:srgbClr val="C97263"/>
                  </a:solidFill>
                </a:ln>
              </p:spPr>
            </p:sp>
          </p:grpSp>
          <p:sp>
            <p:nvSpPr>
              <p:cNvPr id="92" name="TextBox 92"/>
              <p:cNvSpPr txBox="1"/>
              <p:nvPr/>
            </p:nvSpPr>
            <p:spPr>
              <a:xfrm>
                <a:off x="10853356" y="3167301"/>
                <a:ext cx="554152" cy="198025"/>
              </a:xfrm>
              <a:prstGeom prst="rect">
                <a:avLst/>
              </a:prstGeom>
              <a:noFill/>
              <a:ln>
                <a:noFill/>
              </a:ln>
            </p:spPr>
            <p:txBody>
              <a:bodyPr wrap="none" lIns="0" tIns="0" rIns="0" bIns="0" anchor="t" anchorCtr="0">
                <a:spAutoFit/>
              </a:bodyPr>
              <a:lstStyle/>
              <a:p>
                <a:pPr algn="l"/>
                <a:r>
                  <a:rPr lang="zh-CN" sz="1010" b="1" dirty="0">
                    <a:solidFill>
                      <a:srgbClr val="2B2B2B"/>
                    </a:solidFill>
                    <a:latin typeface="+mn-lt"/>
                    <a:ea typeface="+mn-ea"/>
                    <a:cs typeface="+mn-cs"/>
                  </a:rPr>
                  <a:t>体系建立</a:t>
                </a:r>
              </a:p>
            </p:txBody>
          </p:sp>
        </p:grpSp>
        <p:grpSp>
          <p:nvGrpSpPr>
            <p:cNvPr id="115" name="roadmap-row-2"/>
            <p:cNvGrpSpPr/>
            <p:nvPr/>
          </p:nvGrpSpPr>
          <p:grpSpPr>
            <a:xfrm>
              <a:off x="6286500" y="3848100"/>
              <a:ext cx="5524500" cy="1123950"/>
              <a:chOff x="6286500" y="3848100"/>
              <a:chExt cx="5524500" cy="1123950"/>
            </a:xfrm>
          </p:grpSpPr>
          <p:sp>
            <p:nvSpPr>
              <p:cNvPr id="94" name="Rectangle 94"/>
              <p:cNvSpPr/>
              <p:nvPr/>
            </p:nvSpPr>
            <p:spPr>
              <a:xfrm>
                <a:off x="6286500" y="3848100"/>
                <a:ext cx="5524500" cy="1123950"/>
              </a:xfrm>
              <a:prstGeom prst="rect">
                <a:avLst/>
              </a:prstGeom>
              <a:solidFill>
                <a:srgbClr val="F7F5F3"/>
              </a:solidFill>
              <a:ln w="9525">
                <a:solidFill>
                  <a:srgbClr val="E8E2DE"/>
                </a:solidFill>
              </a:ln>
            </p:spPr>
          </p:sp>
          <p:sp>
            <p:nvSpPr>
              <p:cNvPr id="95" name="Line 95"/>
              <p:cNvSpPr/>
              <p:nvPr/>
            </p:nvSpPr>
            <p:spPr>
              <a:xfrm>
                <a:off x="7962900" y="3848100"/>
                <a:ext cx="9525" cy="1123950"/>
              </a:xfrm>
              <a:custGeom>
                <a:avLst/>
                <a:gdLst/>
                <a:ahLst/>
                <a:cxnLst/>
                <a:rect l="l" t="t" r="r" b="b"/>
                <a:pathLst>
                  <a:path w="9525" h="1123950">
                    <a:moveTo>
                      <a:pt x="0" y="0"/>
                    </a:moveTo>
                    <a:lnTo>
                      <a:pt x="0" y="1123950"/>
                    </a:lnTo>
                  </a:path>
                </a:pathLst>
              </a:custGeom>
              <a:noFill/>
              <a:ln w="9525">
                <a:solidFill>
                  <a:srgbClr val="E8E2DE"/>
                </a:solidFill>
              </a:ln>
            </p:spPr>
          </p:sp>
          <p:sp>
            <p:nvSpPr>
              <p:cNvPr id="96" name="Line 96"/>
              <p:cNvSpPr/>
              <p:nvPr/>
            </p:nvSpPr>
            <p:spPr>
              <a:xfrm>
                <a:off x="9982200" y="3848100"/>
                <a:ext cx="9525" cy="1123950"/>
              </a:xfrm>
              <a:custGeom>
                <a:avLst/>
                <a:gdLst/>
                <a:ahLst/>
                <a:cxnLst/>
                <a:rect l="l" t="t" r="r" b="b"/>
                <a:pathLst>
                  <a:path w="9525" h="1123950">
                    <a:moveTo>
                      <a:pt x="0" y="0"/>
                    </a:moveTo>
                    <a:lnTo>
                      <a:pt x="0" y="1123950"/>
                    </a:lnTo>
                  </a:path>
                </a:pathLst>
              </a:custGeom>
              <a:noFill/>
              <a:ln w="9525">
                <a:solidFill>
                  <a:srgbClr val="E8E2DE"/>
                </a:solidFill>
              </a:ln>
            </p:spPr>
          </p:sp>
          <p:sp>
            <p:nvSpPr>
              <p:cNvPr id="97" name="Ellipse 97"/>
              <p:cNvSpPr/>
              <p:nvPr/>
            </p:nvSpPr>
            <p:spPr>
              <a:xfrm>
                <a:off x="6457950" y="4095750"/>
                <a:ext cx="419100" cy="419100"/>
              </a:xfrm>
              <a:prstGeom prst="ellipse">
                <a:avLst/>
              </a:prstGeom>
              <a:solidFill>
                <a:srgbClr val="55565A"/>
              </a:solidFill>
              <a:ln>
                <a:noFill/>
              </a:ln>
            </p:spPr>
          </p:sp>
          <p:grpSp>
            <p:nvGrpSpPr>
              <p:cNvPr id="100" name="Group 100"/>
              <p:cNvGrpSpPr/>
              <p:nvPr/>
            </p:nvGrpSpPr>
            <p:grpSpPr>
              <a:xfrm>
                <a:off x="6591300" y="4248150"/>
                <a:ext cx="152400" cy="133350"/>
                <a:chOff x="6591300" y="4248150"/>
                <a:chExt cx="152400" cy="133350"/>
              </a:xfrm>
            </p:grpSpPr>
            <p:sp>
              <p:nvSpPr>
                <p:cNvPr id="98" name="Freeform 98"/>
                <p:cNvSpPr/>
                <p:nvPr/>
              </p:nvSpPr>
              <p:spPr>
                <a:xfrm>
                  <a:off x="6591300" y="4371975"/>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99" name="Freeform 99"/>
                <p:cNvSpPr/>
                <p:nvPr/>
              </p:nvSpPr>
              <p:spPr>
                <a:xfrm>
                  <a:off x="6591300" y="4248150"/>
                  <a:ext cx="152400" cy="85725"/>
                </a:xfrm>
                <a:custGeom>
                  <a:avLst/>
                  <a:gdLst/>
                  <a:ahLst/>
                  <a:cxnLst/>
                  <a:rect l="l" t="t" r="r" b="b"/>
                  <a:pathLst>
                    <a:path w="152400" h="85725">
                      <a:moveTo>
                        <a:pt x="0" y="85725"/>
                      </a:moveTo>
                      <a:lnTo>
                        <a:pt x="38100" y="28575"/>
                      </a:lnTo>
                      <a:lnTo>
                        <a:pt x="76200" y="47625"/>
                      </a:lnTo>
                      <a:lnTo>
                        <a:pt x="114300" y="0"/>
                      </a:lnTo>
                      <a:lnTo>
                        <a:pt x="152400" y="38100"/>
                      </a:lnTo>
                    </a:path>
                  </a:pathLst>
                </a:custGeom>
                <a:noFill/>
                <a:ln w="19050">
                  <a:solidFill>
                    <a:srgbClr val="FFFFFF"/>
                  </a:solidFill>
                </a:ln>
              </p:spPr>
            </p:sp>
          </p:grpSp>
          <p:sp>
            <p:nvSpPr>
              <p:cNvPr id="101" name="TextBox 101"/>
              <p:cNvSpPr txBox="1"/>
              <p:nvPr/>
            </p:nvSpPr>
            <p:spPr>
              <a:xfrm>
                <a:off x="7004494" y="4122658"/>
                <a:ext cx="636448" cy="227362"/>
              </a:xfrm>
              <a:prstGeom prst="rect">
                <a:avLst/>
              </a:prstGeom>
              <a:noFill/>
              <a:ln>
                <a:noFill/>
              </a:ln>
            </p:spPr>
            <p:txBody>
              <a:bodyPr wrap="none" lIns="0" tIns="0" rIns="0" bIns="0" anchor="t" anchorCtr="0">
                <a:spAutoFit/>
              </a:bodyPr>
              <a:lstStyle/>
              <a:p>
                <a:pPr algn="l"/>
                <a:r>
                  <a:rPr lang="zh-CN" sz="1160" b="1" dirty="0">
                    <a:solidFill>
                      <a:srgbClr val="2B2B2B"/>
                    </a:solidFill>
                    <a:latin typeface="+mn-lt"/>
                    <a:ea typeface="+mn-ea"/>
                    <a:cs typeface="+mn-cs"/>
                  </a:rPr>
                  <a:t>能力提升</a:t>
                </a:r>
              </a:p>
            </p:txBody>
          </p:sp>
          <p:sp>
            <p:nvSpPr>
              <p:cNvPr id="102" name="TextBox 102"/>
              <p:cNvSpPr txBox="1"/>
              <p:nvPr/>
            </p:nvSpPr>
            <p:spPr>
              <a:xfrm>
                <a:off x="7005638" y="4387691"/>
                <a:ext cx="860974" cy="161925"/>
              </a:xfrm>
              <a:prstGeom prst="rect">
                <a:avLst/>
              </a:prstGeom>
              <a:noFill/>
              <a:ln>
                <a:noFill/>
              </a:ln>
            </p:spPr>
            <p:txBody>
              <a:bodyPr wrap="none" lIns="0" tIns="0" rIns="0" bIns="0" anchor="t" anchorCtr="0">
                <a:spAutoFit/>
              </a:bodyPr>
              <a:lstStyle/>
              <a:p>
                <a:pPr algn="l"/>
                <a:r>
                  <a:rPr lang="en-US" sz="820" dirty="0">
                    <a:solidFill>
                      <a:srgbClr val="8A8A8A"/>
                    </a:solidFill>
                    <a:latin typeface="+mn-lt"/>
                    <a:ea typeface="+mn-ea"/>
                    <a:cs typeface="+mn-cs"/>
                  </a:rPr>
                  <a:t>(2027 Q1-Q2)​</a:t>
                </a:r>
              </a:p>
            </p:txBody>
          </p:sp>
          <p:sp>
            <p:nvSpPr>
              <p:cNvPr id="103" name="Ellipse 103"/>
              <p:cNvSpPr/>
              <p:nvPr/>
            </p:nvSpPr>
            <p:spPr>
              <a:xfrm>
                <a:off x="8058150" y="4133850"/>
                <a:ext cx="38100" cy="38100"/>
              </a:xfrm>
              <a:prstGeom prst="ellipse">
                <a:avLst/>
              </a:prstGeom>
              <a:solidFill>
                <a:srgbClr val="55565A"/>
              </a:solidFill>
              <a:ln>
                <a:noFill/>
              </a:ln>
            </p:spPr>
          </p:sp>
          <p:sp>
            <p:nvSpPr>
              <p:cNvPr id="104" name="TextBox 104"/>
              <p:cNvSpPr txBox="1"/>
              <p:nvPr/>
            </p:nvSpPr>
            <p:spPr>
              <a:xfrm>
                <a:off x="8148638" y="4093845"/>
                <a:ext cx="615315"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铁三角团队</a:t>
                </a:r>
              </a:p>
            </p:txBody>
          </p:sp>
          <p:sp>
            <p:nvSpPr>
              <p:cNvPr id="105" name="Ellipse 105"/>
              <p:cNvSpPr/>
              <p:nvPr/>
            </p:nvSpPr>
            <p:spPr>
              <a:xfrm>
                <a:off x="8058150" y="4343400"/>
                <a:ext cx="38100" cy="38100"/>
              </a:xfrm>
              <a:prstGeom prst="ellipse">
                <a:avLst/>
              </a:prstGeom>
              <a:solidFill>
                <a:srgbClr val="55565A"/>
              </a:solidFill>
              <a:ln>
                <a:noFill/>
              </a:ln>
            </p:spPr>
          </p:sp>
          <p:sp>
            <p:nvSpPr>
              <p:cNvPr id="106" name="TextBox 106"/>
              <p:cNvSpPr txBox="1"/>
              <p:nvPr/>
            </p:nvSpPr>
            <p:spPr>
              <a:xfrm>
                <a:off x="8148638" y="4303395"/>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月度例会</a:t>
                </a:r>
              </a:p>
            </p:txBody>
          </p:sp>
          <p:sp>
            <p:nvSpPr>
              <p:cNvPr id="107" name="Ellipse 107"/>
              <p:cNvSpPr/>
              <p:nvPr/>
            </p:nvSpPr>
            <p:spPr>
              <a:xfrm>
                <a:off x="8058150" y="4552950"/>
                <a:ext cx="38100" cy="38100"/>
              </a:xfrm>
              <a:prstGeom prst="ellipse">
                <a:avLst/>
              </a:prstGeom>
              <a:solidFill>
                <a:srgbClr val="55565A"/>
              </a:solidFill>
              <a:ln>
                <a:noFill/>
              </a:ln>
            </p:spPr>
          </p:sp>
          <p:sp>
            <p:nvSpPr>
              <p:cNvPr id="108" name="TextBox 108"/>
              <p:cNvSpPr txBox="1"/>
              <p:nvPr/>
            </p:nvSpPr>
            <p:spPr>
              <a:xfrm>
                <a:off x="8148638" y="4512945"/>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预警机制</a:t>
                </a:r>
              </a:p>
            </p:txBody>
          </p:sp>
          <p:sp>
            <p:nvSpPr>
              <p:cNvPr id="109" name="Freeform 109"/>
              <p:cNvSpPr/>
              <p:nvPr/>
            </p:nvSpPr>
            <p:spPr>
              <a:xfrm>
                <a:off x="9677400" y="4305300"/>
                <a:ext cx="266700" cy="209550"/>
              </a:xfrm>
              <a:prstGeom prst="rightArrow">
                <a:avLst/>
              </a:prstGeom>
              <a:solidFill>
                <a:srgbClr val="C97263"/>
              </a:solidFill>
              <a:ln>
                <a:noFill/>
              </a:ln>
            </p:spPr>
          </p:sp>
          <p:sp>
            <p:nvSpPr>
              <p:cNvPr id="110" name="Ellipse 110"/>
              <p:cNvSpPr/>
              <p:nvPr/>
            </p:nvSpPr>
            <p:spPr>
              <a:xfrm>
                <a:off x="10248900" y="4181475"/>
                <a:ext cx="457200" cy="457200"/>
              </a:xfrm>
              <a:prstGeom prst="ellipse">
                <a:avLst/>
              </a:prstGeom>
              <a:solidFill>
                <a:srgbClr val="FFFFFF"/>
              </a:solidFill>
              <a:ln w="19050">
                <a:solidFill>
                  <a:srgbClr val="C97263"/>
                </a:solidFill>
              </a:ln>
            </p:spPr>
          </p:sp>
          <p:grpSp>
            <p:nvGrpSpPr>
              <p:cNvPr id="113" name="Group 113"/>
              <p:cNvGrpSpPr/>
              <p:nvPr/>
            </p:nvGrpSpPr>
            <p:grpSpPr>
              <a:xfrm>
                <a:off x="10387594" y="4320169"/>
                <a:ext cx="179813" cy="179813"/>
                <a:chOff x="10387594" y="4320169"/>
                <a:chExt cx="179813" cy="179813"/>
              </a:xfrm>
            </p:grpSpPr>
            <p:sp>
              <p:nvSpPr>
                <p:cNvPr id="111" name="Freeform 111"/>
                <p:cNvSpPr/>
                <p:nvPr/>
              </p:nvSpPr>
              <p:spPr>
                <a:xfrm>
                  <a:off x="10387594" y="4320169"/>
                  <a:ext cx="179813" cy="179813"/>
                </a:xfrm>
                <a:custGeom>
                  <a:avLst/>
                  <a:gdLst/>
                  <a:ahLst/>
                  <a:cxnLst/>
                  <a:rect l="l" t="t" r="r" b="b"/>
                  <a:pathLst>
                    <a:path w="179813" h="179813">
                      <a:moveTo>
                        <a:pt x="73952" y="16726"/>
                      </a:moveTo>
                      <a:cubicBezTo>
                        <a:pt x="78010" y="0"/>
                        <a:pt x="101803" y="0"/>
                        <a:pt x="105861" y="16726"/>
                      </a:cubicBezTo>
                      <a:cubicBezTo>
                        <a:pt x="107096" y="21822"/>
                        <a:pt x="110690" y="26023"/>
                        <a:pt x="115535" y="28030"/>
                      </a:cubicBezTo>
                      <a:cubicBezTo>
                        <a:pt x="120380" y="30037"/>
                        <a:pt x="125891" y="29609"/>
                        <a:pt x="130369" y="26880"/>
                      </a:cubicBezTo>
                      <a:cubicBezTo>
                        <a:pt x="145066" y="17926"/>
                        <a:pt x="161896" y="34747"/>
                        <a:pt x="152943" y="49454"/>
                      </a:cubicBezTo>
                      <a:cubicBezTo>
                        <a:pt x="150217" y="53929"/>
                        <a:pt x="149791" y="59437"/>
                        <a:pt x="151795" y="64278"/>
                      </a:cubicBezTo>
                      <a:cubicBezTo>
                        <a:pt x="153800" y="69120"/>
                        <a:pt x="157995" y="72714"/>
                        <a:pt x="163087" y="73952"/>
                      </a:cubicBezTo>
                      <a:cubicBezTo>
                        <a:pt x="179813" y="78010"/>
                        <a:pt x="179813" y="101803"/>
                        <a:pt x="163087" y="105861"/>
                      </a:cubicBezTo>
                      <a:cubicBezTo>
                        <a:pt x="157991" y="107096"/>
                        <a:pt x="153790" y="110690"/>
                        <a:pt x="151783" y="115535"/>
                      </a:cubicBezTo>
                      <a:cubicBezTo>
                        <a:pt x="149776" y="120380"/>
                        <a:pt x="150204" y="125891"/>
                        <a:pt x="152933" y="130369"/>
                      </a:cubicBezTo>
                      <a:cubicBezTo>
                        <a:pt x="161887" y="145066"/>
                        <a:pt x="145066" y="161896"/>
                        <a:pt x="130359" y="152943"/>
                      </a:cubicBezTo>
                      <a:cubicBezTo>
                        <a:pt x="125884" y="150217"/>
                        <a:pt x="120376" y="149791"/>
                        <a:pt x="115535" y="151795"/>
                      </a:cubicBezTo>
                      <a:cubicBezTo>
                        <a:pt x="110693" y="153800"/>
                        <a:pt x="107099" y="157995"/>
                        <a:pt x="105861" y="163087"/>
                      </a:cubicBezTo>
                      <a:cubicBezTo>
                        <a:pt x="101803" y="179813"/>
                        <a:pt x="78010" y="179813"/>
                        <a:pt x="73952" y="163087"/>
                      </a:cubicBezTo>
                      <a:cubicBezTo>
                        <a:pt x="72717" y="157991"/>
                        <a:pt x="69123" y="153790"/>
                        <a:pt x="64278" y="151783"/>
                      </a:cubicBezTo>
                      <a:cubicBezTo>
                        <a:pt x="59433" y="149776"/>
                        <a:pt x="53922" y="150204"/>
                        <a:pt x="49444" y="152933"/>
                      </a:cubicBezTo>
                      <a:cubicBezTo>
                        <a:pt x="34747" y="161887"/>
                        <a:pt x="17917" y="145066"/>
                        <a:pt x="26870" y="130359"/>
                      </a:cubicBezTo>
                      <a:cubicBezTo>
                        <a:pt x="29596" y="125884"/>
                        <a:pt x="30022" y="120376"/>
                        <a:pt x="28018" y="115535"/>
                      </a:cubicBezTo>
                      <a:cubicBezTo>
                        <a:pt x="26013" y="110693"/>
                        <a:pt x="21818" y="107099"/>
                        <a:pt x="16726" y="105861"/>
                      </a:cubicBezTo>
                      <a:cubicBezTo>
                        <a:pt x="0" y="101803"/>
                        <a:pt x="0" y="78010"/>
                        <a:pt x="16726" y="73952"/>
                      </a:cubicBezTo>
                      <a:cubicBezTo>
                        <a:pt x="21822" y="72717"/>
                        <a:pt x="26023" y="69123"/>
                        <a:pt x="28030" y="64278"/>
                      </a:cubicBezTo>
                      <a:cubicBezTo>
                        <a:pt x="30037" y="59433"/>
                        <a:pt x="29609" y="53922"/>
                        <a:pt x="26880" y="49444"/>
                      </a:cubicBezTo>
                      <a:cubicBezTo>
                        <a:pt x="17926" y="34747"/>
                        <a:pt x="34747" y="17917"/>
                        <a:pt x="49454" y="26870"/>
                      </a:cubicBezTo>
                      <a:cubicBezTo>
                        <a:pt x="58979" y="32661"/>
                        <a:pt x="71323" y="27537"/>
                        <a:pt x="73952" y="16726"/>
                      </a:cubicBezTo>
                    </a:path>
                  </a:pathLst>
                </a:custGeom>
                <a:noFill/>
                <a:ln w="19050">
                  <a:solidFill>
                    <a:srgbClr val="C97263"/>
                  </a:solidFill>
                </a:ln>
              </p:spPr>
            </p:sp>
            <p:sp>
              <p:nvSpPr>
                <p:cNvPr id="112" name="Freeform 112"/>
                <p:cNvSpPr/>
                <p:nvPr/>
              </p:nvSpPr>
              <p:spPr>
                <a:xfrm>
                  <a:off x="10448925" y="4381500"/>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19050">
                  <a:solidFill>
                    <a:srgbClr val="C97263"/>
                  </a:solidFill>
                </a:ln>
              </p:spPr>
            </p:sp>
          </p:grpSp>
          <p:sp>
            <p:nvSpPr>
              <p:cNvPr id="114" name="TextBox 114"/>
              <p:cNvSpPr txBox="1"/>
              <p:nvPr/>
            </p:nvSpPr>
            <p:spPr>
              <a:xfrm>
                <a:off x="10853356" y="4348401"/>
                <a:ext cx="690118" cy="198025"/>
              </a:xfrm>
              <a:prstGeom prst="rect">
                <a:avLst/>
              </a:prstGeom>
              <a:noFill/>
              <a:ln>
                <a:noFill/>
              </a:ln>
            </p:spPr>
            <p:txBody>
              <a:bodyPr wrap="none" lIns="0" tIns="0" rIns="0" bIns="0" anchor="t" anchorCtr="0">
                <a:spAutoFit/>
              </a:bodyPr>
              <a:lstStyle/>
              <a:p>
                <a:pPr algn="l"/>
                <a:r>
                  <a:rPr lang="zh-CN" sz="1010" b="1" dirty="0">
                    <a:solidFill>
                      <a:srgbClr val="2B2B2B"/>
                    </a:solidFill>
                    <a:latin typeface="+mn-lt"/>
                    <a:ea typeface="+mn-ea"/>
                    <a:cs typeface="+mn-cs"/>
                  </a:rPr>
                  <a:t>系统化运转</a:t>
                </a:r>
              </a:p>
            </p:txBody>
          </p:sp>
        </p:grpSp>
        <p:grpSp>
          <p:nvGrpSpPr>
            <p:cNvPr id="135" name="roadmap-row-3"/>
            <p:cNvGrpSpPr/>
            <p:nvPr/>
          </p:nvGrpSpPr>
          <p:grpSpPr>
            <a:xfrm>
              <a:off x="6286500" y="5029200"/>
              <a:ext cx="5524500" cy="1123950"/>
              <a:chOff x="6286500" y="5029200"/>
              <a:chExt cx="5524500" cy="1123950"/>
            </a:xfrm>
          </p:grpSpPr>
          <p:sp>
            <p:nvSpPr>
              <p:cNvPr id="116" name="Rectangle 116"/>
              <p:cNvSpPr/>
              <p:nvPr/>
            </p:nvSpPr>
            <p:spPr>
              <a:xfrm>
                <a:off x="6286500" y="5029200"/>
                <a:ext cx="5524500" cy="1123950"/>
              </a:xfrm>
              <a:prstGeom prst="rect">
                <a:avLst/>
              </a:prstGeom>
              <a:solidFill>
                <a:srgbClr val="FFFFFF"/>
              </a:solidFill>
              <a:ln w="9525">
                <a:solidFill>
                  <a:srgbClr val="E8E2DE"/>
                </a:solidFill>
              </a:ln>
            </p:spPr>
          </p:sp>
          <p:sp>
            <p:nvSpPr>
              <p:cNvPr id="117" name="Line 117"/>
              <p:cNvSpPr/>
              <p:nvPr/>
            </p:nvSpPr>
            <p:spPr>
              <a:xfrm>
                <a:off x="7962900" y="5029200"/>
                <a:ext cx="9525" cy="1123950"/>
              </a:xfrm>
              <a:custGeom>
                <a:avLst/>
                <a:gdLst/>
                <a:ahLst/>
                <a:cxnLst/>
                <a:rect l="l" t="t" r="r" b="b"/>
                <a:pathLst>
                  <a:path w="9525" h="1123950">
                    <a:moveTo>
                      <a:pt x="0" y="0"/>
                    </a:moveTo>
                    <a:lnTo>
                      <a:pt x="0" y="1123950"/>
                    </a:lnTo>
                  </a:path>
                </a:pathLst>
              </a:custGeom>
              <a:noFill/>
              <a:ln w="9525">
                <a:solidFill>
                  <a:srgbClr val="E8E2DE"/>
                </a:solidFill>
              </a:ln>
            </p:spPr>
          </p:sp>
          <p:sp>
            <p:nvSpPr>
              <p:cNvPr id="118" name="Line 118"/>
              <p:cNvSpPr/>
              <p:nvPr/>
            </p:nvSpPr>
            <p:spPr>
              <a:xfrm>
                <a:off x="9982200" y="5029200"/>
                <a:ext cx="9525" cy="1123950"/>
              </a:xfrm>
              <a:custGeom>
                <a:avLst/>
                <a:gdLst/>
                <a:ahLst/>
                <a:cxnLst/>
                <a:rect l="l" t="t" r="r" b="b"/>
                <a:pathLst>
                  <a:path w="9525" h="1123950">
                    <a:moveTo>
                      <a:pt x="0" y="0"/>
                    </a:moveTo>
                    <a:lnTo>
                      <a:pt x="0" y="1123950"/>
                    </a:lnTo>
                  </a:path>
                </a:pathLst>
              </a:custGeom>
              <a:noFill/>
              <a:ln w="9525">
                <a:solidFill>
                  <a:srgbClr val="E8E2DE"/>
                </a:solidFill>
              </a:ln>
            </p:spPr>
          </p:sp>
          <p:grpSp>
            <p:nvGrpSpPr>
              <p:cNvPr id="121" name="Group 121"/>
              <p:cNvGrpSpPr/>
              <p:nvPr/>
            </p:nvGrpSpPr>
            <p:grpSpPr>
              <a:xfrm>
                <a:off x="6477000" y="5397500"/>
                <a:ext cx="228599" cy="186818"/>
                <a:chOff x="6477000" y="5397500"/>
                <a:chExt cx="228599" cy="186818"/>
              </a:xfrm>
            </p:grpSpPr>
            <p:sp>
              <p:nvSpPr>
                <p:cNvPr id="119" name="Freeform 119"/>
                <p:cNvSpPr/>
                <p:nvPr/>
              </p:nvSpPr>
              <p:spPr>
                <a:xfrm>
                  <a:off x="6477000" y="5397500"/>
                  <a:ext cx="228599" cy="186818"/>
                </a:xfrm>
                <a:custGeom>
                  <a:avLst/>
                  <a:gdLst/>
                  <a:ahLst/>
                  <a:cxnLst/>
                  <a:rect l="l" t="t" r="r" b="b"/>
                  <a:pathLst>
                    <a:path w="228599" h="186818">
                      <a:moveTo>
                        <a:pt x="38100" y="0"/>
                      </a:moveTo>
                      <a:lnTo>
                        <a:pt x="190500" y="0"/>
                      </a:lnTo>
                      <a:lnTo>
                        <a:pt x="228599" y="63500"/>
                      </a:lnTo>
                      <a:lnTo>
                        <a:pt x="120650" y="184150"/>
                      </a:lnTo>
                      <a:cubicBezTo>
                        <a:pt x="118978" y="185856"/>
                        <a:pt x="116689" y="186818"/>
                        <a:pt x="114300" y="186818"/>
                      </a:cubicBezTo>
                      <a:cubicBezTo>
                        <a:pt x="111910" y="186818"/>
                        <a:pt x="109622" y="185856"/>
                        <a:pt x="107950" y="184150"/>
                      </a:cubicBezTo>
                      <a:lnTo>
                        <a:pt x="0" y="63500"/>
                      </a:lnTo>
                      <a:lnTo>
                        <a:pt x="38100" y="0"/>
                      </a:lnTo>
                    </a:path>
                  </a:pathLst>
                </a:custGeom>
                <a:noFill/>
                <a:ln w="25400">
                  <a:solidFill>
                    <a:srgbClr val="8B321E"/>
                  </a:solidFill>
                </a:ln>
              </p:spPr>
            </p:sp>
            <p:sp>
              <p:nvSpPr>
                <p:cNvPr id="120" name="Freeform 120"/>
                <p:cNvSpPr/>
                <p:nvPr/>
              </p:nvSpPr>
              <p:spPr>
                <a:xfrm>
                  <a:off x="6540500" y="5445760"/>
                  <a:ext cx="25400" cy="40640"/>
                </a:xfrm>
                <a:custGeom>
                  <a:avLst/>
                  <a:gdLst/>
                  <a:ahLst/>
                  <a:cxnLst/>
                  <a:rect l="l" t="t" r="r" b="b"/>
                  <a:pathLst>
                    <a:path w="25400" h="40640">
                      <a:moveTo>
                        <a:pt x="25400" y="40640"/>
                      </a:moveTo>
                      <a:lnTo>
                        <a:pt x="0" y="12700"/>
                      </a:lnTo>
                      <a:lnTo>
                        <a:pt x="7620" y="0"/>
                      </a:lnTo>
                    </a:path>
                  </a:pathLst>
                </a:custGeom>
                <a:noFill/>
                <a:ln w="25400">
                  <a:solidFill>
                    <a:srgbClr val="8B321E"/>
                  </a:solidFill>
                </a:ln>
              </p:spPr>
            </p:sp>
          </p:grpSp>
          <p:sp>
            <p:nvSpPr>
              <p:cNvPr id="122" name="TextBox 122"/>
              <p:cNvSpPr txBox="1"/>
              <p:nvPr/>
            </p:nvSpPr>
            <p:spPr>
              <a:xfrm>
                <a:off x="7004494" y="5303758"/>
                <a:ext cx="636448" cy="227362"/>
              </a:xfrm>
              <a:prstGeom prst="rect">
                <a:avLst/>
              </a:prstGeom>
              <a:noFill/>
              <a:ln>
                <a:noFill/>
              </a:ln>
            </p:spPr>
            <p:txBody>
              <a:bodyPr wrap="none" lIns="0" tIns="0" rIns="0" bIns="0" anchor="t" anchorCtr="0">
                <a:spAutoFit/>
              </a:bodyPr>
              <a:lstStyle/>
              <a:p>
                <a:pPr algn="l"/>
                <a:r>
                  <a:rPr lang="zh-CN" sz="1160" b="1" dirty="0">
                    <a:solidFill>
                      <a:srgbClr val="2B2B2B"/>
                    </a:solidFill>
                    <a:latin typeface="+mn-lt"/>
                    <a:ea typeface="+mn-ea"/>
                    <a:cs typeface="+mn-cs"/>
                  </a:rPr>
                  <a:t>深化经营</a:t>
                </a:r>
              </a:p>
            </p:txBody>
          </p:sp>
          <p:sp>
            <p:nvSpPr>
              <p:cNvPr id="123" name="TextBox 123"/>
              <p:cNvSpPr txBox="1"/>
              <p:nvPr/>
            </p:nvSpPr>
            <p:spPr>
              <a:xfrm>
                <a:off x="7005638" y="5568791"/>
                <a:ext cx="860974" cy="161925"/>
              </a:xfrm>
              <a:prstGeom prst="rect">
                <a:avLst/>
              </a:prstGeom>
              <a:noFill/>
              <a:ln>
                <a:noFill/>
              </a:ln>
            </p:spPr>
            <p:txBody>
              <a:bodyPr wrap="none" lIns="0" tIns="0" rIns="0" bIns="0" anchor="t" anchorCtr="0">
                <a:spAutoFit/>
              </a:bodyPr>
              <a:lstStyle/>
              <a:p>
                <a:pPr algn="l"/>
                <a:r>
                  <a:rPr lang="en-US" sz="820" dirty="0">
                    <a:solidFill>
                      <a:srgbClr val="8A8A8A"/>
                    </a:solidFill>
                    <a:latin typeface="+mn-lt"/>
                    <a:ea typeface="+mn-ea"/>
                    <a:cs typeface="+mn-cs"/>
                  </a:rPr>
                  <a:t>(2027 Q3-Q4)​</a:t>
                </a:r>
              </a:p>
            </p:txBody>
          </p:sp>
          <p:sp>
            <p:nvSpPr>
              <p:cNvPr id="124" name="Ellipse 124"/>
              <p:cNvSpPr/>
              <p:nvPr/>
            </p:nvSpPr>
            <p:spPr>
              <a:xfrm>
                <a:off x="8058150" y="5314950"/>
                <a:ext cx="38100" cy="38100"/>
              </a:xfrm>
              <a:prstGeom prst="ellipse">
                <a:avLst/>
              </a:prstGeom>
              <a:solidFill>
                <a:srgbClr val="8B321E"/>
              </a:solidFill>
              <a:ln>
                <a:noFill/>
              </a:ln>
            </p:spPr>
          </p:sp>
          <p:sp>
            <p:nvSpPr>
              <p:cNvPr id="125" name="TextBox 125"/>
              <p:cNvSpPr txBox="1"/>
              <p:nvPr/>
            </p:nvSpPr>
            <p:spPr>
              <a:xfrm>
                <a:off x="8148638" y="5274945"/>
                <a:ext cx="978789"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战略客户共同规划</a:t>
                </a:r>
              </a:p>
            </p:txBody>
          </p:sp>
          <p:sp>
            <p:nvSpPr>
              <p:cNvPr id="126" name="Ellipse 126"/>
              <p:cNvSpPr/>
              <p:nvPr/>
            </p:nvSpPr>
            <p:spPr>
              <a:xfrm>
                <a:off x="8058150" y="5524500"/>
                <a:ext cx="38100" cy="38100"/>
              </a:xfrm>
              <a:prstGeom prst="ellipse">
                <a:avLst/>
              </a:prstGeom>
              <a:solidFill>
                <a:srgbClr val="8B321E"/>
              </a:solidFill>
              <a:ln>
                <a:noFill/>
              </a:ln>
            </p:spPr>
          </p:sp>
          <p:sp>
            <p:nvSpPr>
              <p:cNvPr id="127" name="TextBox 127"/>
              <p:cNvSpPr txBox="1"/>
              <p:nvPr/>
            </p:nvSpPr>
            <p:spPr>
              <a:xfrm>
                <a:off x="8148638" y="5484495"/>
                <a:ext cx="494157" cy="176212"/>
              </a:xfrm>
              <a:prstGeom prst="rect">
                <a:avLst/>
              </a:prstGeom>
              <a:noFill/>
              <a:ln>
                <a:noFill/>
              </a:ln>
            </p:spPr>
            <p:txBody>
              <a:bodyPr wrap="none" lIns="0" tIns="0" rIns="0" bIns="0" anchor="t" anchorCtr="0">
                <a:spAutoFit/>
              </a:bodyPr>
              <a:lstStyle/>
              <a:p>
                <a:pPr algn="l"/>
                <a:r>
                  <a:rPr lang="zh-CN" sz="900" dirty="0">
                    <a:solidFill>
                      <a:srgbClr val="3A3A3A"/>
                    </a:solidFill>
                    <a:latin typeface="+mn-lt"/>
                    <a:ea typeface="+mn-ea"/>
                    <a:cs typeface="+mn-cs"/>
                  </a:rPr>
                  <a:t>生态建设</a:t>
                </a:r>
              </a:p>
            </p:txBody>
          </p:sp>
          <p:sp>
            <p:nvSpPr>
              <p:cNvPr id="128" name="Freeform 128"/>
              <p:cNvSpPr/>
              <p:nvPr/>
            </p:nvSpPr>
            <p:spPr>
              <a:xfrm>
                <a:off x="9677400" y="5486400"/>
                <a:ext cx="266700" cy="209550"/>
              </a:xfrm>
              <a:prstGeom prst="rightArrow">
                <a:avLst/>
              </a:prstGeom>
              <a:solidFill>
                <a:srgbClr val="C97263"/>
              </a:solidFill>
              <a:ln>
                <a:noFill/>
              </a:ln>
            </p:spPr>
          </p:sp>
          <p:sp>
            <p:nvSpPr>
              <p:cNvPr id="129" name="Ellipse 129"/>
              <p:cNvSpPr/>
              <p:nvPr/>
            </p:nvSpPr>
            <p:spPr>
              <a:xfrm>
                <a:off x="10248900" y="5362575"/>
                <a:ext cx="457200" cy="457200"/>
              </a:xfrm>
              <a:prstGeom prst="ellipse">
                <a:avLst/>
              </a:prstGeom>
              <a:solidFill>
                <a:srgbClr val="FFFFFF"/>
              </a:solidFill>
              <a:ln w="19050">
                <a:solidFill>
                  <a:srgbClr val="C97263"/>
                </a:solidFill>
              </a:ln>
            </p:spPr>
          </p:sp>
          <p:grpSp>
            <p:nvGrpSpPr>
              <p:cNvPr id="133" name="Group 133"/>
              <p:cNvGrpSpPr/>
              <p:nvPr/>
            </p:nvGrpSpPr>
            <p:grpSpPr>
              <a:xfrm>
                <a:off x="10391775" y="5505450"/>
                <a:ext cx="171450" cy="171450"/>
                <a:chOff x="10391775" y="5505450"/>
                <a:chExt cx="171450" cy="171450"/>
              </a:xfrm>
            </p:grpSpPr>
            <p:sp>
              <p:nvSpPr>
                <p:cNvPr id="130" name="Freeform 130"/>
                <p:cNvSpPr/>
                <p:nvPr/>
              </p:nvSpPr>
              <p:spPr>
                <a:xfrm>
                  <a:off x="10467975" y="558165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C97263"/>
                  </a:solidFill>
                </a:ln>
              </p:spPr>
            </p:sp>
            <p:sp>
              <p:nvSpPr>
                <p:cNvPr id="131" name="Freeform 131"/>
                <p:cNvSpPr/>
                <p:nvPr/>
              </p:nvSpPr>
              <p:spPr>
                <a:xfrm>
                  <a:off x="10429875" y="554355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rgbClr val="C97263"/>
                  </a:solidFill>
                </a:ln>
              </p:spPr>
            </p:sp>
            <p:sp>
              <p:nvSpPr>
                <p:cNvPr id="132" name="Freeform 132"/>
                <p:cNvSpPr/>
                <p:nvPr/>
              </p:nvSpPr>
              <p:spPr>
                <a:xfrm>
                  <a:off x="10391775" y="55054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97263"/>
                  </a:solidFill>
                </a:ln>
              </p:spPr>
            </p:sp>
          </p:grpSp>
          <p:sp>
            <p:nvSpPr>
              <p:cNvPr id="134" name="TextBox 134"/>
              <p:cNvSpPr txBox="1"/>
              <p:nvPr/>
            </p:nvSpPr>
            <p:spPr>
              <a:xfrm>
                <a:off x="10853356" y="5434251"/>
                <a:ext cx="590067" cy="426625"/>
              </a:xfrm>
              <a:prstGeom prst="rect">
                <a:avLst/>
              </a:prstGeom>
              <a:noFill/>
              <a:ln>
                <a:noFill/>
              </a:ln>
            </p:spPr>
            <p:txBody>
              <a:bodyPr wrap="none" lIns="0" tIns="0" rIns="0" bIns="0" anchor="t" anchorCtr="0">
                <a:spAutoFit/>
              </a:bodyPr>
              <a:lstStyle/>
              <a:p>
                <a:pPr algn="l">
                  <a:lnSpc>
                    <a:spcPts val="1800"/>
                  </a:lnSpc>
                </a:pPr>
                <a:r>
                  <a:rPr lang="zh-CN" sz="1010" b="1" dirty="0">
                    <a:solidFill>
                      <a:srgbClr val="2B2B2B"/>
                    </a:solidFill>
                    <a:latin typeface="+mn-lt"/>
                    <a:ea typeface="+mn-ea"/>
                    <a:cs typeface="+mn-cs"/>
                  </a:rPr>
                  <a:t>S级份额​</a:t>
                </a:r>
                <a:br/>
                <a:r>
                  <a:rPr lang="zh-CN" sz="1010" b="1" dirty="0">
                    <a:solidFill>
                      <a:srgbClr val="C97263"/>
                    </a:solidFill>
                    <a:latin typeface="+mn-lt"/>
                    <a:ea typeface="+mn-ea"/>
                    <a:cs typeface="+mn-cs"/>
                  </a:rPr>
                  <a:t>提升≥20%</a:t>
                </a:r>
              </a:p>
            </p:txBody>
          </p:sp>
        </p:grpSp>
      </p:grpSp>
      <p:sp>
        <p:nvSpPr>
          <p:cNvPr id="137" name="page-num"/>
          <p:cNvSpPr txBox="1"/>
          <p:nvPr/>
        </p:nvSpPr>
        <p:spPr>
          <a:xfrm>
            <a:off x="11582971" y="6532721"/>
            <a:ext cx="235268" cy="278702"/>
          </a:xfrm>
          <a:prstGeom prst="rect">
            <a:avLst/>
          </a:prstGeom>
          <a:noFill/>
          <a:ln>
            <a:noFill/>
          </a:ln>
        </p:spPr>
        <p:txBody>
          <a:bodyPr wrap="none" lIns="0" tIns="0" rIns="0" bIns="0" anchor="t" anchorCtr="0">
            <a:spAutoFit/>
          </a:bodyPr>
          <a:lstStyle/>
          <a:p>
            <a:pPr algn="r"/>
            <a:r>
              <a:rPr lang="zh-CN" sz="1420" b="1" dirty="0">
                <a:solidFill>
                  <a:srgbClr val="3F3F3F"/>
                </a:solidFill>
                <a:latin typeface="+mn-lt"/>
                <a:ea typeface="+mn-ea"/>
                <a:cs typeface="+mn-cs"/>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